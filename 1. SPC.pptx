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tiff" ContentType="image/tiff"/>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25"/>
  </p:notesMasterIdLst>
  <p:sldIdLst>
    <p:sldId id="586" r:id="rId2"/>
    <p:sldId id="585" r:id="rId3"/>
    <p:sldId id="584" r:id="rId4"/>
    <p:sldId id="259" r:id="rId5"/>
    <p:sldId id="260" r:id="rId6"/>
    <p:sldId id="340" r:id="rId7"/>
    <p:sldId id="341" r:id="rId8"/>
    <p:sldId id="261" r:id="rId9"/>
    <p:sldId id="262" r:id="rId10"/>
    <p:sldId id="342" r:id="rId11"/>
    <p:sldId id="343" r:id="rId12"/>
    <p:sldId id="263" r:id="rId13"/>
    <p:sldId id="264" r:id="rId14"/>
    <p:sldId id="344" r:id="rId15"/>
    <p:sldId id="345" r:id="rId16"/>
    <p:sldId id="265" r:id="rId17"/>
    <p:sldId id="266" r:id="rId18"/>
    <p:sldId id="346" r:id="rId19"/>
    <p:sldId id="347" r:id="rId20"/>
    <p:sldId id="267" r:id="rId21"/>
    <p:sldId id="268" r:id="rId22"/>
    <p:sldId id="348" r:id="rId23"/>
    <p:sldId id="349" r:id="rId24"/>
    <p:sldId id="269" r:id="rId25"/>
    <p:sldId id="270" r:id="rId26"/>
    <p:sldId id="350" r:id="rId27"/>
    <p:sldId id="351" r:id="rId28"/>
    <p:sldId id="271" r:id="rId29"/>
    <p:sldId id="272" r:id="rId30"/>
    <p:sldId id="352" r:id="rId31"/>
    <p:sldId id="353" r:id="rId32"/>
    <p:sldId id="273" r:id="rId33"/>
    <p:sldId id="274" r:id="rId34"/>
    <p:sldId id="354" r:id="rId35"/>
    <p:sldId id="355" r:id="rId36"/>
    <p:sldId id="275" r:id="rId37"/>
    <p:sldId id="276" r:id="rId38"/>
    <p:sldId id="356" r:id="rId39"/>
    <p:sldId id="357" r:id="rId40"/>
    <p:sldId id="277" r:id="rId41"/>
    <p:sldId id="278" r:id="rId42"/>
    <p:sldId id="358" r:id="rId43"/>
    <p:sldId id="359" r:id="rId44"/>
    <p:sldId id="279" r:id="rId45"/>
    <p:sldId id="280" r:id="rId46"/>
    <p:sldId id="360" r:id="rId47"/>
    <p:sldId id="361" r:id="rId48"/>
    <p:sldId id="281" r:id="rId49"/>
    <p:sldId id="282" r:id="rId50"/>
    <p:sldId id="362" r:id="rId51"/>
    <p:sldId id="363" r:id="rId52"/>
    <p:sldId id="285" r:id="rId53"/>
    <p:sldId id="286" r:id="rId54"/>
    <p:sldId id="366" r:id="rId55"/>
    <p:sldId id="367" r:id="rId56"/>
    <p:sldId id="283" r:id="rId57"/>
    <p:sldId id="284" r:id="rId58"/>
    <p:sldId id="364" r:id="rId59"/>
    <p:sldId id="365" r:id="rId60"/>
    <p:sldId id="287" r:id="rId61"/>
    <p:sldId id="288" r:id="rId62"/>
    <p:sldId id="368" r:id="rId63"/>
    <p:sldId id="369" r:id="rId64"/>
    <p:sldId id="289" r:id="rId65"/>
    <p:sldId id="290" r:id="rId66"/>
    <p:sldId id="370" r:id="rId67"/>
    <p:sldId id="371" r:id="rId68"/>
    <p:sldId id="291" r:id="rId69"/>
    <p:sldId id="292" r:id="rId70"/>
    <p:sldId id="372" r:id="rId71"/>
    <p:sldId id="373" r:id="rId72"/>
    <p:sldId id="293" r:id="rId73"/>
    <p:sldId id="294" r:id="rId74"/>
    <p:sldId id="374" r:id="rId75"/>
    <p:sldId id="375" r:id="rId76"/>
    <p:sldId id="295" r:id="rId77"/>
    <p:sldId id="296" r:id="rId78"/>
    <p:sldId id="376" r:id="rId79"/>
    <p:sldId id="377" r:id="rId80"/>
    <p:sldId id="297" r:id="rId81"/>
    <p:sldId id="298" r:id="rId82"/>
    <p:sldId id="378" r:id="rId83"/>
    <p:sldId id="379" r:id="rId84"/>
    <p:sldId id="299" r:id="rId85"/>
    <p:sldId id="300" r:id="rId86"/>
    <p:sldId id="380" r:id="rId87"/>
    <p:sldId id="381" r:id="rId88"/>
    <p:sldId id="301" r:id="rId89"/>
    <p:sldId id="302" r:id="rId90"/>
    <p:sldId id="382" r:id="rId91"/>
    <p:sldId id="383" r:id="rId92"/>
    <p:sldId id="303" r:id="rId93"/>
    <p:sldId id="304" r:id="rId94"/>
    <p:sldId id="384" r:id="rId95"/>
    <p:sldId id="385" r:id="rId96"/>
    <p:sldId id="305" r:id="rId97"/>
    <p:sldId id="306" r:id="rId98"/>
    <p:sldId id="386" r:id="rId99"/>
    <p:sldId id="387" r:id="rId100"/>
    <p:sldId id="307" r:id="rId101"/>
    <p:sldId id="308" r:id="rId102"/>
    <p:sldId id="388" r:id="rId103"/>
    <p:sldId id="389" r:id="rId104"/>
    <p:sldId id="309" r:id="rId105"/>
    <p:sldId id="310" r:id="rId106"/>
    <p:sldId id="390" r:id="rId107"/>
    <p:sldId id="391" r:id="rId108"/>
    <p:sldId id="311" r:id="rId109"/>
    <p:sldId id="312" r:id="rId110"/>
    <p:sldId id="392" r:id="rId111"/>
    <p:sldId id="393" r:id="rId112"/>
    <p:sldId id="313" r:id="rId113"/>
    <p:sldId id="314" r:id="rId114"/>
    <p:sldId id="394" r:id="rId115"/>
    <p:sldId id="395" r:id="rId116"/>
    <p:sldId id="315" r:id="rId117"/>
    <p:sldId id="316" r:id="rId118"/>
    <p:sldId id="396" r:id="rId119"/>
    <p:sldId id="397" r:id="rId120"/>
    <p:sldId id="317" r:id="rId121"/>
    <p:sldId id="318" r:id="rId122"/>
    <p:sldId id="398" r:id="rId123"/>
    <p:sldId id="399" r:id="rId124"/>
    <p:sldId id="319" r:id="rId125"/>
    <p:sldId id="320" r:id="rId126"/>
    <p:sldId id="400" r:id="rId127"/>
    <p:sldId id="401" r:id="rId128"/>
    <p:sldId id="321" r:id="rId129"/>
    <p:sldId id="322" r:id="rId130"/>
    <p:sldId id="402" r:id="rId131"/>
    <p:sldId id="403" r:id="rId132"/>
    <p:sldId id="323" r:id="rId133"/>
    <p:sldId id="324" r:id="rId134"/>
    <p:sldId id="404" r:id="rId135"/>
    <p:sldId id="405" r:id="rId136"/>
    <p:sldId id="325" r:id="rId137"/>
    <p:sldId id="326" r:id="rId138"/>
    <p:sldId id="406" r:id="rId139"/>
    <p:sldId id="407" r:id="rId140"/>
    <p:sldId id="327" r:id="rId141"/>
    <p:sldId id="328" r:id="rId142"/>
    <p:sldId id="408" r:id="rId143"/>
    <p:sldId id="409" r:id="rId144"/>
    <p:sldId id="329" r:id="rId145"/>
    <p:sldId id="330" r:id="rId146"/>
    <p:sldId id="410" r:id="rId147"/>
    <p:sldId id="411" r:id="rId148"/>
    <p:sldId id="332" r:id="rId149"/>
    <p:sldId id="333" r:id="rId150"/>
    <p:sldId id="412" r:id="rId151"/>
    <p:sldId id="413" r:id="rId152"/>
    <p:sldId id="334" r:id="rId153"/>
    <p:sldId id="335" r:id="rId154"/>
    <p:sldId id="414" r:id="rId155"/>
    <p:sldId id="415" r:id="rId156"/>
    <p:sldId id="336" r:id="rId157"/>
    <p:sldId id="337" r:id="rId158"/>
    <p:sldId id="416" r:id="rId159"/>
    <p:sldId id="417" r:id="rId160"/>
    <p:sldId id="418" r:id="rId161"/>
    <p:sldId id="419" r:id="rId162"/>
    <p:sldId id="461" r:id="rId163"/>
    <p:sldId id="462" r:id="rId164"/>
    <p:sldId id="420" r:id="rId165"/>
    <p:sldId id="421" r:id="rId166"/>
    <p:sldId id="463" r:id="rId167"/>
    <p:sldId id="464" r:id="rId168"/>
    <p:sldId id="422" r:id="rId169"/>
    <p:sldId id="423" r:id="rId170"/>
    <p:sldId id="465" r:id="rId171"/>
    <p:sldId id="466" r:id="rId172"/>
    <p:sldId id="424" r:id="rId173"/>
    <p:sldId id="425" r:id="rId174"/>
    <p:sldId id="467" r:id="rId175"/>
    <p:sldId id="468" r:id="rId176"/>
    <p:sldId id="426" r:id="rId177"/>
    <p:sldId id="427" r:id="rId178"/>
    <p:sldId id="469" r:id="rId179"/>
    <p:sldId id="470" r:id="rId180"/>
    <p:sldId id="428" r:id="rId181"/>
    <p:sldId id="429" r:id="rId182"/>
    <p:sldId id="471" r:id="rId183"/>
    <p:sldId id="472" r:id="rId184"/>
    <p:sldId id="430" r:id="rId185"/>
    <p:sldId id="431" r:id="rId186"/>
    <p:sldId id="473" r:id="rId187"/>
    <p:sldId id="474" r:id="rId188"/>
    <p:sldId id="432" r:id="rId189"/>
    <p:sldId id="433" r:id="rId190"/>
    <p:sldId id="475" r:id="rId191"/>
    <p:sldId id="476" r:id="rId192"/>
    <p:sldId id="434" r:id="rId193"/>
    <p:sldId id="435" r:id="rId194"/>
    <p:sldId id="477" r:id="rId195"/>
    <p:sldId id="478" r:id="rId196"/>
    <p:sldId id="436" r:id="rId197"/>
    <p:sldId id="437" r:id="rId198"/>
    <p:sldId id="479" r:id="rId199"/>
    <p:sldId id="480" r:id="rId200"/>
    <p:sldId id="438" r:id="rId201"/>
    <p:sldId id="439" r:id="rId202"/>
    <p:sldId id="481" r:id="rId203"/>
    <p:sldId id="482" r:id="rId204"/>
    <p:sldId id="440" r:id="rId205"/>
    <p:sldId id="441" r:id="rId206"/>
    <p:sldId id="483" r:id="rId207"/>
    <p:sldId id="484" r:id="rId208"/>
    <p:sldId id="442" r:id="rId209"/>
    <p:sldId id="443" r:id="rId210"/>
    <p:sldId id="485" r:id="rId211"/>
    <p:sldId id="486" r:id="rId212"/>
    <p:sldId id="444" r:id="rId213"/>
    <p:sldId id="445" r:id="rId214"/>
    <p:sldId id="487" r:id="rId215"/>
    <p:sldId id="488" r:id="rId216"/>
    <p:sldId id="446" r:id="rId217"/>
    <p:sldId id="447" r:id="rId218"/>
    <p:sldId id="489" r:id="rId219"/>
    <p:sldId id="490" r:id="rId220"/>
    <p:sldId id="448" r:id="rId221"/>
    <p:sldId id="449" r:id="rId222"/>
    <p:sldId id="491" r:id="rId223"/>
    <p:sldId id="492" r:id="rId224"/>
    <p:sldId id="450" r:id="rId225"/>
    <p:sldId id="451" r:id="rId226"/>
    <p:sldId id="493" r:id="rId227"/>
    <p:sldId id="494" r:id="rId228"/>
    <p:sldId id="452" r:id="rId229"/>
    <p:sldId id="453" r:id="rId230"/>
    <p:sldId id="495" r:id="rId231"/>
    <p:sldId id="496" r:id="rId232"/>
    <p:sldId id="454" r:id="rId233"/>
    <p:sldId id="455" r:id="rId234"/>
    <p:sldId id="497" r:id="rId235"/>
    <p:sldId id="498" r:id="rId236"/>
    <p:sldId id="456" r:id="rId237"/>
    <p:sldId id="457" r:id="rId238"/>
    <p:sldId id="499" r:id="rId239"/>
    <p:sldId id="500" r:id="rId240"/>
    <p:sldId id="458" r:id="rId241"/>
    <p:sldId id="459" r:id="rId242"/>
    <p:sldId id="501" r:id="rId243"/>
    <p:sldId id="502" r:id="rId244"/>
    <p:sldId id="460" r:id="rId245"/>
    <p:sldId id="504" r:id="rId246"/>
    <p:sldId id="503" r:id="rId247"/>
    <p:sldId id="505" r:id="rId248"/>
    <p:sldId id="506" r:id="rId249"/>
    <p:sldId id="507" r:id="rId250"/>
    <p:sldId id="544" r:id="rId251"/>
    <p:sldId id="545" r:id="rId252"/>
    <p:sldId id="508" r:id="rId253"/>
    <p:sldId id="509" r:id="rId254"/>
    <p:sldId id="546" r:id="rId255"/>
    <p:sldId id="547" r:id="rId256"/>
    <p:sldId id="510" r:id="rId257"/>
    <p:sldId id="511" r:id="rId258"/>
    <p:sldId id="548" r:id="rId259"/>
    <p:sldId id="549" r:id="rId260"/>
    <p:sldId id="512" r:id="rId261"/>
    <p:sldId id="513" r:id="rId262"/>
    <p:sldId id="550" r:id="rId263"/>
    <p:sldId id="551" r:id="rId264"/>
    <p:sldId id="514" r:id="rId265"/>
    <p:sldId id="515" r:id="rId266"/>
    <p:sldId id="552" r:id="rId267"/>
    <p:sldId id="553" r:id="rId268"/>
    <p:sldId id="516" r:id="rId269"/>
    <p:sldId id="517" r:id="rId270"/>
    <p:sldId id="554" r:id="rId271"/>
    <p:sldId id="555" r:id="rId272"/>
    <p:sldId id="518" r:id="rId273"/>
    <p:sldId id="519" r:id="rId274"/>
    <p:sldId id="556" r:id="rId275"/>
    <p:sldId id="557" r:id="rId276"/>
    <p:sldId id="520" r:id="rId277"/>
    <p:sldId id="521" r:id="rId278"/>
    <p:sldId id="558" r:id="rId279"/>
    <p:sldId id="559" r:id="rId280"/>
    <p:sldId id="522" r:id="rId281"/>
    <p:sldId id="523" r:id="rId282"/>
    <p:sldId id="560" r:id="rId283"/>
    <p:sldId id="561" r:id="rId284"/>
    <p:sldId id="524" r:id="rId285"/>
    <p:sldId id="525" r:id="rId286"/>
    <p:sldId id="562" r:id="rId287"/>
    <p:sldId id="563" r:id="rId288"/>
    <p:sldId id="526" r:id="rId289"/>
    <p:sldId id="527" r:id="rId290"/>
    <p:sldId id="564" r:id="rId291"/>
    <p:sldId id="565" r:id="rId292"/>
    <p:sldId id="529" r:id="rId293"/>
    <p:sldId id="530" r:id="rId294"/>
    <p:sldId id="566" r:id="rId295"/>
    <p:sldId id="567" r:id="rId296"/>
    <p:sldId id="531" r:id="rId297"/>
    <p:sldId id="532" r:id="rId298"/>
    <p:sldId id="568" r:id="rId299"/>
    <p:sldId id="569" r:id="rId300"/>
    <p:sldId id="533" r:id="rId301"/>
    <p:sldId id="534" r:id="rId302"/>
    <p:sldId id="570" r:id="rId303"/>
    <p:sldId id="571" r:id="rId304"/>
    <p:sldId id="535" r:id="rId305"/>
    <p:sldId id="536" r:id="rId306"/>
    <p:sldId id="572" r:id="rId307"/>
    <p:sldId id="573" r:id="rId308"/>
    <p:sldId id="537" r:id="rId309"/>
    <p:sldId id="538" r:id="rId310"/>
    <p:sldId id="574" r:id="rId311"/>
    <p:sldId id="575" r:id="rId312"/>
    <p:sldId id="539" r:id="rId313"/>
    <p:sldId id="540" r:id="rId314"/>
    <p:sldId id="576" r:id="rId315"/>
    <p:sldId id="577" r:id="rId316"/>
    <p:sldId id="541" r:id="rId317"/>
    <p:sldId id="542" r:id="rId318"/>
    <p:sldId id="578" r:id="rId319"/>
    <p:sldId id="579" r:id="rId320"/>
    <p:sldId id="543" r:id="rId321"/>
    <p:sldId id="580" r:id="rId322"/>
    <p:sldId id="581" r:id="rId323"/>
    <p:sldId id="582" r:id="rId324"/>
  </p:sldIdLst>
  <p:sldSz cx="9144000" cy="6858000" type="screen4x3"/>
  <p:notesSz cx="6858000" cy="9144000"/>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4120" autoAdjust="0"/>
  </p:normalViewPr>
  <p:slideViewPr>
    <p:cSldViewPr>
      <p:cViewPr varScale="1">
        <p:scale>
          <a:sx n="98" d="100"/>
          <a:sy n="98" d="100"/>
        </p:scale>
        <p:origin x="1974" y="78"/>
      </p:cViewPr>
      <p:guideLst>
        <p:guide orient="horz" pos="2160"/>
        <p:guide pos="28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presProps" Target="presProps.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viewProps" Target="viewProps.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theme" Target="theme/theme1.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tableStyles" Target="tableStyles.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notesMaster" Target="notesMasters/notesMaster1.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162" Type="http://schemas.openxmlformats.org/officeDocument/2006/relationships/slide" Target="slides/slide161.xml"/><Relationship Id="rId218" Type="http://schemas.openxmlformats.org/officeDocument/2006/relationships/slide" Target="slides/slide2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ADBD1EBC-32B8-4574-A9D5-4AC141B45108}" type="datetimeFigureOut">
              <a:rPr lang="ko-KR" altLang="en-US" smtClean="0"/>
              <a:pPr/>
              <a:t>2026-04-02</a:t>
            </a:fld>
            <a:endParaRPr lang="ko-KR" altLang="en-US"/>
          </a:p>
        </p:txBody>
      </p:sp>
      <p:sp>
        <p:nvSpPr>
          <p:cNvPr id="4" name="슬라이드 이미지 개체 틀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12805DED-1084-405D-B2BA-F5B5C394CBD7}" type="slidenum">
              <a:rPr lang="ko-KR" altLang="en-US" smtClean="0"/>
              <a:pPr/>
              <a:t>‹#›</a:t>
            </a:fld>
            <a:endParaRPr lang="ko-KR" altLang="en-US"/>
          </a:p>
        </p:txBody>
      </p:sp>
    </p:spTree>
    <p:extLst>
      <p:ext uri="{BB962C8B-B14F-4D97-AF65-F5344CB8AC3E}">
        <p14:creationId xmlns:p14="http://schemas.microsoft.com/office/powerpoint/2010/main" val="2467552582"/>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902F35C-0657-493B-BFD8-52645026FB69}" type="slidenum">
              <a:rPr lang="ko-KR" altLang="en-US" smtClean="0"/>
              <a:pPr/>
              <a:t>22</a:t>
            </a:fld>
            <a:endParaRPr lang="ko-KR" altLang="en-US"/>
          </a:p>
        </p:txBody>
      </p:sp>
    </p:spTree>
    <p:extLst>
      <p:ext uri="{BB962C8B-B14F-4D97-AF65-F5344CB8AC3E}">
        <p14:creationId xmlns:p14="http://schemas.microsoft.com/office/powerpoint/2010/main" val="10315205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err="1"/>
              <a:t>Iệt</a:t>
            </a:r>
            <a:r>
              <a:rPr lang="en-US" dirty="0"/>
              <a:t> </a:t>
            </a:r>
          </a:p>
        </p:txBody>
      </p:sp>
      <p:sp>
        <p:nvSpPr>
          <p:cNvPr id="4" name="Slide Number Placeholder 3"/>
          <p:cNvSpPr>
            <a:spLocks noGrp="1"/>
          </p:cNvSpPr>
          <p:nvPr>
            <p:ph type="sldNum" sz="quarter" idx="10"/>
          </p:nvPr>
        </p:nvSpPr>
        <p:spPr/>
        <p:txBody>
          <a:bodyPr/>
          <a:lstStyle/>
          <a:p>
            <a:fld id="{A902F35C-0657-493B-BFD8-52645026FB69}" type="slidenum">
              <a:rPr lang="ko-KR" altLang="en-US" smtClean="0"/>
              <a:pPr/>
              <a:t>35</a:t>
            </a:fld>
            <a:endParaRPr lang="ko-KR" altLang="en-US"/>
          </a:p>
        </p:txBody>
      </p:sp>
    </p:spTree>
    <p:extLst>
      <p:ext uri="{BB962C8B-B14F-4D97-AF65-F5344CB8AC3E}">
        <p14:creationId xmlns:p14="http://schemas.microsoft.com/office/powerpoint/2010/main" val="352092586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Tài</a:t>
            </a:r>
            <a:r>
              <a:rPr lang="en-US" baseline="0" dirty="0"/>
              <a:t> </a:t>
            </a:r>
            <a:r>
              <a:rPr lang="en-US" baseline="0" dirty="0" err="1"/>
              <a:t>liệu</a:t>
            </a:r>
            <a:r>
              <a:rPr lang="en-US" baseline="0" dirty="0"/>
              <a:t> </a:t>
            </a:r>
            <a:r>
              <a:rPr lang="en-US" baseline="0" dirty="0" err="1"/>
              <a:t>này</a:t>
            </a:r>
            <a:r>
              <a:rPr lang="en-US" baseline="0" dirty="0"/>
              <a:t> </a:t>
            </a:r>
            <a:r>
              <a:rPr lang="en-US" baseline="0" dirty="0" err="1"/>
              <a:t>đc</a:t>
            </a:r>
            <a:r>
              <a:rPr lang="en-US" baseline="0" dirty="0"/>
              <a:t> </a:t>
            </a:r>
            <a:r>
              <a:rPr lang="en-US" baseline="0" dirty="0" err="1"/>
              <a:t>xây</a:t>
            </a:r>
            <a:r>
              <a:rPr lang="en-US" baseline="0" dirty="0"/>
              <a:t> </a:t>
            </a:r>
            <a:r>
              <a:rPr lang="en-US" baseline="0" dirty="0" err="1"/>
              <a:t>dựng</a:t>
            </a:r>
            <a:r>
              <a:rPr lang="en-US" baseline="0" dirty="0"/>
              <a:t> </a:t>
            </a:r>
            <a:r>
              <a:rPr lang="en-US" baseline="0" dirty="0" err="1"/>
              <a:t>dựa</a:t>
            </a:r>
            <a:r>
              <a:rPr lang="en-US" baseline="0" dirty="0"/>
              <a:t> </a:t>
            </a:r>
            <a:r>
              <a:rPr lang="en-US" baseline="0" dirty="0" err="1"/>
              <a:t>trên</a:t>
            </a:r>
            <a:r>
              <a:rPr lang="en-US" baseline="0" dirty="0"/>
              <a:t> </a:t>
            </a:r>
            <a:r>
              <a:rPr lang="en-US" baseline="0" dirty="0" err="1"/>
              <a:t>tài</a:t>
            </a:r>
            <a:r>
              <a:rPr lang="en-US" baseline="0" dirty="0"/>
              <a:t> lieu </a:t>
            </a:r>
            <a:r>
              <a:rPr lang="en-US" baseline="0" dirty="0" err="1"/>
              <a:t>của</a:t>
            </a:r>
            <a:r>
              <a:rPr lang="en-US" baseline="0" dirty="0"/>
              <a:t> Bosch</a:t>
            </a:r>
          </a:p>
          <a:p>
            <a:r>
              <a:rPr lang="en-US" baseline="0" dirty="0" err="1"/>
              <a:t>Để</a:t>
            </a:r>
            <a:r>
              <a:rPr lang="en-US" baseline="0" dirty="0"/>
              <a:t> </a:t>
            </a:r>
            <a:r>
              <a:rPr lang="en-US" baseline="0" dirty="0" err="1"/>
              <a:t>đánh</a:t>
            </a:r>
            <a:r>
              <a:rPr lang="en-US" baseline="0" dirty="0"/>
              <a:t> </a:t>
            </a:r>
            <a:r>
              <a:rPr lang="en-US" baseline="0" dirty="0" err="1"/>
              <a:t>giá</a:t>
            </a:r>
            <a:r>
              <a:rPr lang="en-US" baseline="0" dirty="0"/>
              <a:t> </a:t>
            </a:r>
            <a:r>
              <a:rPr lang="en-US" baseline="0" dirty="0" err="1"/>
              <a:t>đc</a:t>
            </a:r>
            <a:r>
              <a:rPr lang="en-US" baseline="0" dirty="0"/>
              <a:t> </a:t>
            </a:r>
            <a:r>
              <a:rPr lang="en-US" baseline="0" dirty="0" err="1"/>
              <a:t>hệ</a:t>
            </a:r>
            <a:r>
              <a:rPr lang="en-US" baseline="0" dirty="0"/>
              <a:t> </a:t>
            </a:r>
            <a:r>
              <a:rPr lang="en-US" baseline="0" dirty="0" err="1"/>
              <a:t>thống</a:t>
            </a:r>
            <a:r>
              <a:rPr lang="en-US" baseline="0" dirty="0"/>
              <a:t> </a:t>
            </a:r>
            <a:r>
              <a:rPr lang="en-US" baseline="0" dirty="0" err="1"/>
              <a:t>đo</a:t>
            </a:r>
            <a:r>
              <a:rPr lang="en-US" baseline="0" dirty="0"/>
              <a:t> </a:t>
            </a:r>
            <a:r>
              <a:rPr lang="en-US" baseline="0" dirty="0" err="1"/>
              <a:t>lương</a:t>
            </a:r>
            <a:r>
              <a:rPr lang="en-US" baseline="0" dirty="0"/>
              <a:t> </a:t>
            </a:r>
            <a:r>
              <a:rPr lang="en-US" baseline="0" dirty="0" err="1"/>
              <a:t>chính</a:t>
            </a:r>
            <a:r>
              <a:rPr lang="en-US" baseline="0" dirty="0"/>
              <a:t> </a:t>
            </a:r>
            <a:r>
              <a:rPr lang="en-US" baseline="0" dirty="0" err="1"/>
              <a:t>xác</a:t>
            </a:r>
            <a:r>
              <a:rPr lang="en-US" baseline="0" dirty="0"/>
              <a:t> hay </a:t>
            </a:r>
            <a:r>
              <a:rPr lang="en-US" baseline="0" dirty="0" err="1"/>
              <a:t>ko</a:t>
            </a:r>
            <a:r>
              <a:rPr lang="en-US" baseline="0" dirty="0"/>
              <a:t> </a:t>
            </a:r>
            <a:r>
              <a:rPr lang="en-US" baseline="0" dirty="0" err="1"/>
              <a:t>thì</a:t>
            </a:r>
            <a:r>
              <a:rPr lang="en-US" baseline="0" dirty="0"/>
              <a:t> </a:t>
            </a:r>
            <a:r>
              <a:rPr lang="en-US" baseline="0" dirty="0" err="1"/>
              <a:t>bước</a:t>
            </a:r>
            <a:r>
              <a:rPr lang="en-US" baseline="0" dirty="0"/>
              <a:t> 1 </a:t>
            </a:r>
            <a:r>
              <a:rPr lang="en-US" baseline="0" dirty="0" err="1"/>
              <a:t>fai</a:t>
            </a:r>
            <a:r>
              <a:rPr lang="en-US" baseline="0" dirty="0"/>
              <a:t> </a:t>
            </a:r>
            <a:r>
              <a:rPr lang="en-US" baseline="0" dirty="0" err="1"/>
              <a:t>ktra</a:t>
            </a:r>
            <a:r>
              <a:rPr lang="en-US" baseline="0" dirty="0"/>
              <a:t> resolution </a:t>
            </a:r>
            <a:r>
              <a:rPr lang="en-US" baseline="0" dirty="0" err="1"/>
              <a:t>xem</a:t>
            </a:r>
            <a:r>
              <a:rPr lang="en-US" baseline="0" dirty="0"/>
              <a:t> </a:t>
            </a:r>
            <a:r>
              <a:rPr lang="en-US" baseline="0" dirty="0" err="1"/>
              <a:t>đã</a:t>
            </a:r>
            <a:r>
              <a:rPr lang="en-US" baseline="0" dirty="0"/>
              <a:t> </a:t>
            </a:r>
            <a:r>
              <a:rPr lang="en-US" baseline="0" dirty="0" err="1"/>
              <a:t>thoa</a:t>
            </a:r>
            <a:r>
              <a:rPr lang="en-US" baseline="0" dirty="0"/>
              <a:t> man hay </a:t>
            </a:r>
            <a:r>
              <a:rPr lang="en-US" baseline="0" dirty="0" err="1"/>
              <a:t>chưa</a:t>
            </a:r>
            <a:r>
              <a:rPr lang="en-US" baseline="0" dirty="0"/>
              <a:t>, </a:t>
            </a:r>
            <a:r>
              <a:rPr lang="en-US" baseline="0" dirty="0" err="1"/>
              <a:t>nếu</a:t>
            </a:r>
            <a:r>
              <a:rPr lang="en-US" baseline="0" dirty="0"/>
              <a:t> </a:t>
            </a:r>
            <a:r>
              <a:rPr lang="en-US" baseline="0" dirty="0" err="1"/>
              <a:t>thoa</a:t>
            </a:r>
            <a:r>
              <a:rPr lang="en-US" baseline="0" dirty="0"/>
              <a:t> </a:t>
            </a:r>
            <a:r>
              <a:rPr lang="en-US" baseline="0" dirty="0" err="1"/>
              <a:t>mãn</a:t>
            </a:r>
            <a:r>
              <a:rPr lang="en-US" baseline="0" dirty="0"/>
              <a:t> </a:t>
            </a:r>
            <a:r>
              <a:rPr lang="en-US" baseline="0" dirty="0" err="1"/>
              <a:t>rôi</a:t>
            </a:r>
            <a:r>
              <a:rPr lang="en-US" baseline="0" dirty="0"/>
              <a:t> </a:t>
            </a:r>
            <a:r>
              <a:rPr lang="en-US" baseline="0" dirty="0" err="1"/>
              <a:t>thi</a:t>
            </a:r>
            <a:r>
              <a:rPr lang="en-US" baseline="0" dirty="0"/>
              <a:t> minh se </a:t>
            </a:r>
            <a:r>
              <a:rPr lang="en-US" baseline="0" dirty="0" err="1"/>
              <a:t>tiên</a:t>
            </a:r>
            <a:r>
              <a:rPr lang="en-US" baseline="0" dirty="0"/>
              <a:t> </a:t>
            </a:r>
            <a:r>
              <a:rPr lang="en-US" baseline="0" dirty="0" err="1"/>
              <a:t>hanh</a:t>
            </a:r>
            <a:r>
              <a:rPr lang="en-US" baseline="0" dirty="0"/>
              <a:t> type 1 study (gage type 1), </a:t>
            </a:r>
            <a:r>
              <a:rPr lang="en-US" baseline="0" dirty="0" err="1"/>
              <a:t>còn</a:t>
            </a:r>
            <a:r>
              <a:rPr lang="en-US" baseline="0" dirty="0"/>
              <a:t> </a:t>
            </a:r>
            <a:r>
              <a:rPr lang="en-US" baseline="0" dirty="0" err="1"/>
              <a:t>nếu</a:t>
            </a:r>
            <a:r>
              <a:rPr lang="en-US" baseline="0" dirty="0"/>
              <a:t> resolution </a:t>
            </a:r>
            <a:r>
              <a:rPr lang="en-US" baseline="0" dirty="0" err="1"/>
              <a:t>chưa</a:t>
            </a:r>
            <a:r>
              <a:rPr lang="en-US" baseline="0" dirty="0"/>
              <a:t> </a:t>
            </a:r>
            <a:r>
              <a:rPr lang="en-US" baseline="0" dirty="0" err="1"/>
              <a:t>thoa</a:t>
            </a:r>
            <a:r>
              <a:rPr lang="en-US" baseline="0" dirty="0"/>
              <a:t> man </a:t>
            </a:r>
            <a:r>
              <a:rPr lang="en-US" baseline="0" dirty="0" err="1"/>
              <a:t>thi</a:t>
            </a:r>
            <a:r>
              <a:rPr lang="en-US" baseline="0" dirty="0"/>
              <a:t> </a:t>
            </a:r>
            <a:r>
              <a:rPr lang="en-US" baseline="0" dirty="0" err="1"/>
              <a:t>cta</a:t>
            </a:r>
            <a:r>
              <a:rPr lang="en-US" baseline="0" dirty="0"/>
              <a:t> </a:t>
            </a:r>
            <a:r>
              <a:rPr lang="en-US" baseline="0" dirty="0" err="1"/>
              <a:t>sẽ</a:t>
            </a:r>
            <a:r>
              <a:rPr lang="en-US" baseline="0" dirty="0"/>
              <a:t> </a:t>
            </a:r>
            <a:r>
              <a:rPr lang="en-US" baseline="0" dirty="0" err="1"/>
              <a:t>fai</a:t>
            </a:r>
            <a:r>
              <a:rPr lang="en-US" baseline="0" dirty="0"/>
              <a:t> </a:t>
            </a:r>
            <a:r>
              <a:rPr lang="en-US" baseline="0" dirty="0" err="1"/>
              <a:t>đổi</a:t>
            </a:r>
            <a:r>
              <a:rPr lang="en-US" baseline="0" dirty="0"/>
              <a:t> </a:t>
            </a:r>
            <a:r>
              <a:rPr lang="en-US" baseline="0" dirty="0" err="1"/>
              <a:t>thước</a:t>
            </a:r>
            <a:endParaRPr lang="en-US" baseline="0" dirty="0"/>
          </a:p>
          <a:p>
            <a:r>
              <a:rPr lang="en-US" baseline="0" dirty="0" err="1"/>
              <a:t>Câu</a:t>
            </a:r>
            <a:r>
              <a:rPr lang="en-US" baseline="0" dirty="0"/>
              <a:t> </a:t>
            </a:r>
            <a:r>
              <a:rPr lang="en-US" baseline="0" dirty="0" err="1"/>
              <a:t>hỏi</a:t>
            </a:r>
            <a:r>
              <a:rPr lang="en-US" baseline="0" dirty="0"/>
              <a:t>: Re </a:t>
            </a:r>
            <a:r>
              <a:rPr lang="en-US" baseline="0" dirty="0" err="1"/>
              <a:t>ntn</a:t>
            </a:r>
            <a:r>
              <a:rPr lang="en-US" baseline="0" dirty="0"/>
              <a:t> </a:t>
            </a:r>
            <a:r>
              <a:rPr lang="en-US" baseline="0" dirty="0" err="1"/>
              <a:t>thi</a:t>
            </a:r>
            <a:r>
              <a:rPr lang="en-US" baseline="0" dirty="0"/>
              <a:t> </a:t>
            </a:r>
            <a:r>
              <a:rPr lang="en-US" baseline="0" dirty="0" err="1"/>
              <a:t>thoa</a:t>
            </a:r>
            <a:r>
              <a:rPr lang="en-US" baseline="0" dirty="0"/>
              <a:t> </a:t>
            </a:r>
            <a:r>
              <a:rPr lang="en-US" baseline="0" dirty="0" err="1"/>
              <a:t>mãn</a:t>
            </a:r>
            <a:r>
              <a:rPr lang="en-US" baseline="0" dirty="0"/>
              <a:t>? </a:t>
            </a:r>
            <a:r>
              <a:rPr lang="en-US" baseline="0" dirty="0">
                <a:sym typeface="Wingdings" panose="05000000000000000000" pitchFamily="2" charset="2"/>
              </a:rPr>
              <a:t> Re &lt;=5%, </a:t>
            </a:r>
            <a:r>
              <a:rPr lang="en-US" baseline="0" dirty="0" err="1">
                <a:sym typeface="Wingdings" panose="05000000000000000000" pitchFamily="2" charset="2"/>
              </a:rPr>
              <a:t>công</a:t>
            </a:r>
            <a:r>
              <a:rPr lang="en-US" baseline="0" dirty="0">
                <a:sym typeface="Wingdings" panose="05000000000000000000" pitchFamily="2" charset="2"/>
              </a:rPr>
              <a:t> </a:t>
            </a:r>
            <a:r>
              <a:rPr lang="en-US" baseline="0" dirty="0" err="1">
                <a:sym typeface="Wingdings" panose="05000000000000000000" pitchFamily="2" charset="2"/>
              </a:rPr>
              <a:t>thức</a:t>
            </a:r>
            <a:r>
              <a:rPr lang="en-US" baseline="0" dirty="0">
                <a:sym typeface="Wingdings" panose="05000000000000000000" pitchFamily="2" charset="2"/>
              </a:rPr>
              <a:t> = Re/</a:t>
            </a:r>
            <a:r>
              <a:rPr lang="en-US" baseline="0" dirty="0" err="1">
                <a:sym typeface="Wingdings" panose="05000000000000000000" pitchFamily="2" charset="2"/>
              </a:rPr>
              <a:t>tol</a:t>
            </a:r>
            <a:endParaRPr lang="en-US" baseline="0" dirty="0">
              <a:sym typeface="Wingdings" panose="05000000000000000000" pitchFamily="2" charset="2"/>
            </a:endParaRPr>
          </a:p>
          <a:p>
            <a:r>
              <a:rPr lang="en-US" baseline="0" dirty="0" err="1">
                <a:sym typeface="Wingdings" panose="05000000000000000000" pitchFamily="2" charset="2"/>
              </a:rPr>
              <a:t>Sau</a:t>
            </a:r>
            <a:r>
              <a:rPr lang="en-US" baseline="0" dirty="0">
                <a:sym typeface="Wingdings" panose="05000000000000000000" pitchFamily="2" charset="2"/>
              </a:rPr>
              <a:t> </a:t>
            </a:r>
            <a:r>
              <a:rPr lang="en-US" baseline="0" dirty="0" err="1">
                <a:sym typeface="Wingdings" panose="05000000000000000000" pitchFamily="2" charset="2"/>
              </a:rPr>
              <a:t>đó</a:t>
            </a:r>
            <a:r>
              <a:rPr lang="en-US" baseline="0" dirty="0">
                <a:sym typeface="Wingdings" panose="05000000000000000000" pitchFamily="2" charset="2"/>
              </a:rPr>
              <a:t> </a:t>
            </a:r>
            <a:r>
              <a:rPr lang="en-US" baseline="0" dirty="0" err="1">
                <a:sym typeface="Wingdings" panose="05000000000000000000" pitchFamily="2" charset="2"/>
              </a:rPr>
              <a:t>vào</a:t>
            </a:r>
            <a:r>
              <a:rPr lang="en-US" baseline="0" dirty="0">
                <a:sym typeface="Wingdings" panose="05000000000000000000" pitchFamily="2" charset="2"/>
              </a:rPr>
              <a:t> type 1 study </a:t>
            </a:r>
            <a:endParaRPr lang="en-US" dirty="0"/>
          </a:p>
        </p:txBody>
      </p:sp>
      <p:sp>
        <p:nvSpPr>
          <p:cNvPr id="4" name="Slide Number Placeholder 3"/>
          <p:cNvSpPr>
            <a:spLocks noGrp="1"/>
          </p:cNvSpPr>
          <p:nvPr>
            <p:ph type="sldNum" sz="quarter" idx="10"/>
          </p:nvPr>
        </p:nvSpPr>
        <p:spPr/>
        <p:txBody>
          <a:bodyPr/>
          <a:lstStyle/>
          <a:p>
            <a:fld id="{12805DED-1084-405D-B2BA-F5B5C394CBD7}" type="slidenum">
              <a:rPr lang="ko-KR" altLang="en-US" smtClean="0"/>
              <a:pPr/>
              <a:t>41</a:t>
            </a:fld>
            <a:endParaRPr lang="ko-KR" altLang="en-US"/>
          </a:p>
        </p:txBody>
      </p:sp>
    </p:spTree>
    <p:extLst>
      <p:ext uri="{BB962C8B-B14F-4D97-AF65-F5344CB8AC3E}">
        <p14:creationId xmlns:p14="http://schemas.microsoft.com/office/powerpoint/2010/main" val="32853312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902F35C-0657-493B-BFD8-52645026FB69}" type="slidenum">
              <a:rPr lang="ko-KR" altLang="en-US" smtClean="0"/>
              <a:pPr/>
              <a:t>42</a:t>
            </a:fld>
            <a:endParaRPr lang="ko-KR" altLang="en-US"/>
          </a:p>
        </p:txBody>
      </p:sp>
    </p:spTree>
    <p:extLst>
      <p:ext uri="{BB962C8B-B14F-4D97-AF65-F5344CB8AC3E}">
        <p14:creationId xmlns:p14="http://schemas.microsoft.com/office/powerpoint/2010/main" val="375951345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MSA </a:t>
            </a:r>
            <a:r>
              <a:rPr lang="en-US" dirty="0" err="1"/>
              <a:t>có</a:t>
            </a:r>
            <a:r>
              <a:rPr lang="en-US" baseline="0" dirty="0"/>
              <a:t> 3 </a:t>
            </a:r>
            <a:r>
              <a:rPr lang="en-US" baseline="0" dirty="0" err="1"/>
              <a:t>nhánh</a:t>
            </a:r>
            <a:r>
              <a:rPr lang="en-US" baseline="0" dirty="0"/>
              <a:t>: </a:t>
            </a:r>
          </a:p>
          <a:p>
            <a:pPr marL="228600" indent="-228600">
              <a:buAutoNum type="arabicPeriod"/>
            </a:pPr>
            <a:r>
              <a:rPr lang="en-US" baseline="0" dirty="0"/>
              <a:t>Validity: % re </a:t>
            </a:r>
            <a:r>
              <a:rPr lang="en-US" baseline="0" dirty="0" err="1"/>
              <a:t>thuộc</a:t>
            </a:r>
            <a:r>
              <a:rPr lang="en-US" baseline="0" dirty="0"/>
              <a:t> </a:t>
            </a:r>
            <a:r>
              <a:rPr lang="en-US" baseline="0" dirty="0" err="1"/>
              <a:t>vê</a:t>
            </a:r>
            <a:r>
              <a:rPr lang="en-US" baseline="0" dirty="0"/>
              <a:t> </a:t>
            </a:r>
            <a:r>
              <a:rPr lang="en-US" baseline="0" dirty="0" err="1"/>
              <a:t>cái</a:t>
            </a:r>
            <a:r>
              <a:rPr lang="en-US" baseline="0" dirty="0"/>
              <a:t> </a:t>
            </a:r>
            <a:r>
              <a:rPr lang="en-US" baseline="0" dirty="0" err="1"/>
              <a:t>này</a:t>
            </a:r>
            <a:endParaRPr lang="en-US" baseline="0" dirty="0"/>
          </a:p>
          <a:p>
            <a:pPr marL="228600" indent="-228600">
              <a:buAutoNum type="arabicPeriod"/>
            </a:pPr>
            <a:r>
              <a:rPr lang="en-US" baseline="0" dirty="0"/>
              <a:t>Accuracy</a:t>
            </a:r>
          </a:p>
          <a:p>
            <a:pPr marL="228600" indent="-228600">
              <a:buAutoNum type="arabicPeriod"/>
            </a:pPr>
            <a:r>
              <a:rPr lang="en-US" dirty="0" err="1"/>
              <a:t>Presision</a:t>
            </a:r>
            <a:endParaRPr lang="en-US" dirty="0"/>
          </a:p>
          <a:p>
            <a:pPr marL="0" indent="0">
              <a:buNone/>
            </a:pPr>
            <a:r>
              <a:rPr lang="en-US" dirty="0" err="1"/>
              <a:t>Mỗi</a:t>
            </a:r>
            <a:r>
              <a:rPr lang="en-US" baseline="0" dirty="0"/>
              <a:t> </a:t>
            </a:r>
            <a:r>
              <a:rPr lang="en-US" baseline="0" dirty="0" err="1"/>
              <a:t>loại</a:t>
            </a:r>
            <a:r>
              <a:rPr lang="en-US" baseline="0" dirty="0"/>
              <a:t> type </a:t>
            </a:r>
            <a:r>
              <a:rPr lang="en-US" baseline="0" dirty="0" err="1"/>
              <a:t>sẽ</a:t>
            </a:r>
            <a:r>
              <a:rPr lang="en-US" baseline="0" dirty="0"/>
              <a:t> </a:t>
            </a:r>
            <a:r>
              <a:rPr lang="en-US" baseline="0" dirty="0" err="1"/>
              <a:t>kiểm</a:t>
            </a:r>
            <a:r>
              <a:rPr lang="en-US" baseline="0" dirty="0"/>
              <a:t> </a:t>
            </a:r>
            <a:r>
              <a:rPr lang="en-US" baseline="0" dirty="0" err="1"/>
              <a:t>định</a:t>
            </a:r>
            <a:r>
              <a:rPr lang="en-US" baseline="0" dirty="0"/>
              <a:t> </a:t>
            </a:r>
            <a:r>
              <a:rPr lang="en-US" baseline="0" dirty="0" err="1"/>
              <a:t>đc</a:t>
            </a:r>
            <a:r>
              <a:rPr lang="en-US" baseline="0" dirty="0"/>
              <a:t> 1 hay </a:t>
            </a:r>
            <a:r>
              <a:rPr lang="en-US" baseline="0" dirty="0" err="1"/>
              <a:t>vài</a:t>
            </a:r>
            <a:r>
              <a:rPr lang="en-US" baseline="0" dirty="0"/>
              <a:t> item ở </a:t>
            </a:r>
            <a:r>
              <a:rPr lang="en-US" baseline="0" dirty="0" err="1"/>
              <a:t>trong</a:t>
            </a:r>
            <a:r>
              <a:rPr lang="en-US" baseline="0" dirty="0"/>
              <a:t> MSA</a:t>
            </a:r>
          </a:p>
          <a:p>
            <a:pPr marL="0" indent="0">
              <a:buNone/>
            </a:pPr>
            <a:r>
              <a:rPr lang="en-US" baseline="0" dirty="0" err="1"/>
              <a:t>Như</a:t>
            </a:r>
            <a:r>
              <a:rPr lang="en-US" baseline="0" dirty="0"/>
              <a:t> </a:t>
            </a:r>
            <a:r>
              <a:rPr lang="en-US" baseline="0" dirty="0" err="1"/>
              <a:t>vậy</a:t>
            </a:r>
            <a:r>
              <a:rPr lang="en-US" baseline="0" dirty="0"/>
              <a:t> type 1 </a:t>
            </a:r>
            <a:r>
              <a:rPr lang="en-US" baseline="0" dirty="0" err="1"/>
              <a:t>là</a:t>
            </a:r>
            <a:r>
              <a:rPr lang="en-US" baseline="0" dirty="0"/>
              <a:t> </a:t>
            </a:r>
            <a:r>
              <a:rPr lang="en-US" baseline="0" dirty="0" err="1"/>
              <a:t>trình</a:t>
            </a:r>
            <a:r>
              <a:rPr lang="en-US" baseline="0" dirty="0"/>
              <a:t> </a:t>
            </a:r>
            <a:r>
              <a:rPr lang="en-US" baseline="0" dirty="0" err="1"/>
              <a:t>tự</a:t>
            </a:r>
            <a:r>
              <a:rPr lang="en-US" baseline="0" dirty="0"/>
              <a:t>…. </a:t>
            </a:r>
            <a:r>
              <a:rPr lang="en-US" baseline="0" dirty="0">
                <a:sym typeface="Wingdings" panose="05000000000000000000" pitchFamily="2" charset="2"/>
              </a:rPr>
              <a:t> type 1 </a:t>
            </a:r>
            <a:r>
              <a:rPr lang="en-US" baseline="0" dirty="0" err="1">
                <a:sym typeface="Wingdings" panose="05000000000000000000" pitchFamily="2" charset="2"/>
              </a:rPr>
              <a:t>đánh</a:t>
            </a:r>
            <a:r>
              <a:rPr lang="en-US" baseline="0" dirty="0">
                <a:sym typeface="Wingdings" panose="05000000000000000000" pitchFamily="2" charset="2"/>
              </a:rPr>
              <a:t> </a:t>
            </a:r>
            <a:r>
              <a:rPr lang="en-US" baseline="0" dirty="0" err="1">
                <a:sym typeface="Wingdings" panose="05000000000000000000" pitchFamily="2" charset="2"/>
              </a:rPr>
              <a:t>giá</a:t>
            </a:r>
            <a:r>
              <a:rPr lang="en-US" baseline="0" dirty="0">
                <a:sym typeface="Wingdings" panose="05000000000000000000" pitchFamily="2" charset="2"/>
              </a:rPr>
              <a:t> </a:t>
            </a:r>
            <a:r>
              <a:rPr lang="en-US" baseline="0" dirty="0" err="1">
                <a:sym typeface="Wingdings" panose="05000000000000000000" pitchFamily="2" charset="2"/>
              </a:rPr>
              <a:t>đc</a:t>
            </a:r>
            <a:r>
              <a:rPr lang="en-US" baseline="0" dirty="0">
                <a:sym typeface="Wingdings" panose="05000000000000000000" pitchFamily="2" charset="2"/>
              </a:rPr>
              <a:t> repeatability </a:t>
            </a:r>
            <a:r>
              <a:rPr lang="en-US" baseline="0" dirty="0" err="1">
                <a:sym typeface="Wingdings" panose="05000000000000000000" pitchFamily="2" charset="2"/>
              </a:rPr>
              <a:t>và</a:t>
            </a:r>
            <a:r>
              <a:rPr lang="en-US" baseline="0" dirty="0">
                <a:sym typeface="Wingdings" panose="05000000000000000000" pitchFamily="2" charset="2"/>
              </a:rPr>
              <a:t> bias</a:t>
            </a:r>
          </a:p>
          <a:p>
            <a:pPr marL="0" indent="0">
              <a:buNone/>
            </a:pPr>
            <a:r>
              <a:rPr lang="en-US" baseline="0" dirty="0" err="1">
                <a:sym typeface="Wingdings" panose="05000000000000000000" pitchFamily="2" charset="2"/>
              </a:rPr>
              <a:t>Số</a:t>
            </a:r>
            <a:r>
              <a:rPr lang="en-US" baseline="0" dirty="0">
                <a:sym typeface="Wingdings" panose="05000000000000000000" pitchFamily="2" charset="2"/>
              </a:rPr>
              <a:t> </a:t>
            </a:r>
            <a:r>
              <a:rPr lang="en-US" baseline="0" dirty="0" err="1">
                <a:sym typeface="Wingdings" panose="05000000000000000000" pitchFamily="2" charset="2"/>
              </a:rPr>
              <a:t>lượng</a:t>
            </a:r>
            <a:r>
              <a:rPr lang="en-US" baseline="0" dirty="0">
                <a:sym typeface="Wingdings" panose="05000000000000000000" pitchFamily="2" charset="2"/>
              </a:rPr>
              <a:t> sample </a:t>
            </a:r>
            <a:r>
              <a:rPr lang="en-US" baseline="0" dirty="0" err="1">
                <a:sym typeface="Wingdings" panose="05000000000000000000" pitchFamily="2" charset="2"/>
              </a:rPr>
              <a:t>của</a:t>
            </a:r>
            <a:r>
              <a:rPr lang="en-US" baseline="0" dirty="0">
                <a:sym typeface="Wingdings" panose="05000000000000000000" pitchFamily="2" charset="2"/>
              </a:rPr>
              <a:t> type 1 </a:t>
            </a:r>
            <a:r>
              <a:rPr lang="en-US" baseline="0" dirty="0" err="1">
                <a:sym typeface="Wingdings" panose="05000000000000000000" pitchFamily="2" charset="2"/>
              </a:rPr>
              <a:t>chỉ</a:t>
            </a:r>
            <a:r>
              <a:rPr lang="en-US" baseline="0" dirty="0">
                <a:sym typeface="Wingdings" panose="05000000000000000000" pitchFamily="2" charset="2"/>
              </a:rPr>
              <a:t> </a:t>
            </a:r>
            <a:r>
              <a:rPr lang="en-US" baseline="0" dirty="0" err="1">
                <a:sym typeface="Wingdings" panose="05000000000000000000" pitchFamily="2" charset="2"/>
              </a:rPr>
              <a:t>là</a:t>
            </a:r>
            <a:r>
              <a:rPr lang="en-US" baseline="0" dirty="0">
                <a:sym typeface="Wingdings" panose="05000000000000000000" pitchFamily="2" charset="2"/>
              </a:rPr>
              <a:t> 1 </a:t>
            </a:r>
            <a:r>
              <a:rPr lang="en-US" baseline="0" dirty="0" err="1">
                <a:sym typeface="Wingdings" panose="05000000000000000000" pitchFamily="2" charset="2"/>
              </a:rPr>
              <a:t>thôi</a:t>
            </a:r>
            <a:r>
              <a:rPr lang="en-US" baseline="0" dirty="0">
                <a:sym typeface="Wingdings" panose="05000000000000000000" pitchFamily="2" charset="2"/>
              </a:rPr>
              <a:t>, </a:t>
            </a:r>
            <a:r>
              <a:rPr lang="en-US" baseline="0" dirty="0" err="1">
                <a:sym typeface="Wingdings" panose="05000000000000000000" pitchFamily="2" charset="2"/>
              </a:rPr>
              <a:t>nhưng</a:t>
            </a:r>
            <a:r>
              <a:rPr lang="en-US" baseline="0" dirty="0">
                <a:sym typeface="Wingdings" panose="05000000000000000000" pitchFamily="2" charset="2"/>
              </a:rPr>
              <a:t> </a:t>
            </a:r>
            <a:r>
              <a:rPr lang="en-US" baseline="0" dirty="0" err="1">
                <a:sym typeface="Wingdings" panose="05000000000000000000" pitchFamily="2" charset="2"/>
              </a:rPr>
              <a:t>đo</a:t>
            </a:r>
            <a:r>
              <a:rPr lang="en-US" baseline="0" dirty="0">
                <a:sym typeface="Wingdings" panose="05000000000000000000" pitchFamily="2" charset="2"/>
              </a:rPr>
              <a:t> </a:t>
            </a:r>
            <a:r>
              <a:rPr lang="en-US" baseline="0" dirty="0" err="1">
                <a:sym typeface="Wingdings" panose="05000000000000000000" pitchFamily="2" charset="2"/>
              </a:rPr>
              <a:t>lặp</a:t>
            </a:r>
            <a:r>
              <a:rPr lang="en-US" baseline="0" dirty="0">
                <a:sym typeface="Wingdings" panose="05000000000000000000" pitchFamily="2" charset="2"/>
              </a:rPr>
              <a:t> </a:t>
            </a:r>
            <a:r>
              <a:rPr lang="en-US" baseline="0" dirty="0" err="1">
                <a:sym typeface="Wingdings" panose="05000000000000000000" pitchFamily="2" charset="2"/>
              </a:rPr>
              <a:t>lại</a:t>
            </a:r>
            <a:r>
              <a:rPr lang="en-US" baseline="0" dirty="0">
                <a:sym typeface="Wingdings" panose="05000000000000000000" pitchFamily="2" charset="2"/>
              </a:rPr>
              <a:t> 30 </a:t>
            </a:r>
            <a:r>
              <a:rPr lang="en-US" baseline="0" dirty="0" err="1">
                <a:sym typeface="Wingdings" panose="05000000000000000000" pitchFamily="2" charset="2"/>
              </a:rPr>
              <a:t>lần</a:t>
            </a:r>
            <a:r>
              <a:rPr lang="en-US" baseline="0" dirty="0">
                <a:sym typeface="Wingdings" panose="05000000000000000000" pitchFamily="2" charset="2"/>
              </a:rPr>
              <a:t> (</a:t>
            </a:r>
            <a:r>
              <a:rPr lang="en-US" baseline="0" dirty="0" err="1">
                <a:sym typeface="Wingdings" panose="05000000000000000000" pitchFamily="2" charset="2"/>
              </a:rPr>
              <a:t>tối</a:t>
            </a:r>
            <a:r>
              <a:rPr lang="en-US" baseline="0" dirty="0">
                <a:sym typeface="Wingdings" panose="05000000000000000000" pitchFamily="2" charset="2"/>
              </a:rPr>
              <a:t> </a:t>
            </a:r>
            <a:r>
              <a:rPr lang="en-US" baseline="0" dirty="0" err="1">
                <a:sym typeface="Wingdings" panose="05000000000000000000" pitchFamily="2" charset="2"/>
              </a:rPr>
              <a:t>thiểu</a:t>
            </a:r>
            <a:r>
              <a:rPr lang="en-US" baseline="0" dirty="0">
                <a:sym typeface="Wingdings" panose="05000000000000000000" pitchFamily="2" charset="2"/>
              </a:rPr>
              <a:t>).</a:t>
            </a:r>
          </a:p>
          <a:p>
            <a:pPr marL="0" indent="0">
              <a:buNone/>
            </a:pPr>
            <a:r>
              <a:rPr lang="en-US" baseline="0" dirty="0" err="1">
                <a:sym typeface="Wingdings" panose="05000000000000000000" pitchFamily="2" charset="2"/>
              </a:rPr>
              <a:t>Đánh</a:t>
            </a:r>
            <a:r>
              <a:rPr lang="en-US" baseline="0" dirty="0">
                <a:sym typeface="Wingdings" panose="05000000000000000000" pitchFamily="2" charset="2"/>
              </a:rPr>
              <a:t> </a:t>
            </a:r>
            <a:r>
              <a:rPr lang="en-US" baseline="0" dirty="0" err="1">
                <a:sym typeface="Wingdings" panose="05000000000000000000" pitchFamily="2" charset="2"/>
              </a:rPr>
              <a:t>giá</a:t>
            </a:r>
            <a:r>
              <a:rPr lang="en-US" baseline="0" dirty="0">
                <a:sym typeface="Wingdings" panose="05000000000000000000" pitchFamily="2" charset="2"/>
              </a:rPr>
              <a:t> </a:t>
            </a:r>
            <a:r>
              <a:rPr lang="en-US" baseline="0" dirty="0" err="1">
                <a:sym typeface="Wingdings" panose="05000000000000000000" pitchFamily="2" charset="2"/>
              </a:rPr>
              <a:t>thông</a:t>
            </a:r>
            <a:r>
              <a:rPr lang="en-US" baseline="0" dirty="0">
                <a:sym typeface="Wingdings" panose="05000000000000000000" pitchFamily="2" charset="2"/>
              </a:rPr>
              <a:t> qua Cg </a:t>
            </a:r>
            <a:r>
              <a:rPr lang="en-US" baseline="0" dirty="0" err="1">
                <a:sym typeface="Wingdings" panose="05000000000000000000" pitchFamily="2" charset="2"/>
              </a:rPr>
              <a:t>và</a:t>
            </a:r>
            <a:r>
              <a:rPr lang="en-US" baseline="0" dirty="0">
                <a:sym typeface="Wingdings" panose="05000000000000000000" pitchFamily="2" charset="2"/>
              </a:rPr>
              <a:t> </a:t>
            </a:r>
            <a:r>
              <a:rPr lang="en-US" baseline="0" dirty="0" err="1">
                <a:sym typeface="Wingdings" panose="05000000000000000000" pitchFamily="2" charset="2"/>
              </a:rPr>
              <a:t>Cgk</a:t>
            </a:r>
            <a:r>
              <a:rPr lang="en-US" baseline="0" dirty="0">
                <a:sym typeface="Wingdings" panose="05000000000000000000" pitchFamily="2" charset="2"/>
              </a:rPr>
              <a:t>, Cg, </a:t>
            </a:r>
            <a:r>
              <a:rPr lang="en-US" baseline="0" dirty="0" err="1">
                <a:sym typeface="Wingdings" panose="05000000000000000000" pitchFamily="2" charset="2"/>
              </a:rPr>
              <a:t>Cgk</a:t>
            </a:r>
            <a:r>
              <a:rPr lang="en-US" baseline="0" dirty="0">
                <a:sym typeface="Wingdings" panose="05000000000000000000" pitchFamily="2" charset="2"/>
              </a:rPr>
              <a:t> </a:t>
            </a:r>
            <a:r>
              <a:rPr lang="en-US" baseline="0" dirty="0" err="1">
                <a:sym typeface="Wingdings" panose="05000000000000000000" pitchFamily="2" charset="2"/>
              </a:rPr>
              <a:t>càng</a:t>
            </a:r>
            <a:r>
              <a:rPr lang="en-US" baseline="0" dirty="0">
                <a:sym typeface="Wingdings" panose="05000000000000000000" pitchFamily="2" charset="2"/>
              </a:rPr>
              <a:t> </a:t>
            </a:r>
            <a:r>
              <a:rPr lang="en-US" baseline="0" dirty="0" err="1">
                <a:sym typeface="Wingdings" panose="05000000000000000000" pitchFamily="2" charset="2"/>
              </a:rPr>
              <a:t>lớn</a:t>
            </a:r>
            <a:r>
              <a:rPr lang="en-US" baseline="0" dirty="0">
                <a:sym typeface="Wingdings" panose="05000000000000000000" pitchFamily="2" charset="2"/>
              </a:rPr>
              <a:t> </a:t>
            </a:r>
            <a:r>
              <a:rPr lang="en-US" baseline="0" dirty="0" err="1">
                <a:sym typeface="Wingdings" panose="05000000000000000000" pitchFamily="2" charset="2"/>
              </a:rPr>
              <a:t>càng</a:t>
            </a:r>
            <a:r>
              <a:rPr lang="en-US" baseline="0" dirty="0">
                <a:sym typeface="Wingdings" panose="05000000000000000000" pitchFamily="2" charset="2"/>
              </a:rPr>
              <a:t> </a:t>
            </a:r>
            <a:r>
              <a:rPr lang="en-US" baseline="0" dirty="0" err="1">
                <a:sym typeface="Wingdings" panose="05000000000000000000" pitchFamily="2" charset="2"/>
              </a:rPr>
              <a:t>tốt</a:t>
            </a:r>
            <a:r>
              <a:rPr lang="en-US" baseline="0" dirty="0">
                <a:sym typeface="Wingdings" panose="05000000000000000000" pitchFamily="2" charset="2"/>
              </a:rPr>
              <a:t>.</a:t>
            </a:r>
          </a:p>
          <a:p>
            <a:pPr marL="0" indent="0">
              <a:buNone/>
            </a:pPr>
            <a:r>
              <a:rPr lang="en-US" baseline="0" dirty="0">
                <a:sym typeface="Wingdings" panose="05000000000000000000" pitchFamily="2" charset="2"/>
              </a:rPr>
              <a:t>Sigma ở </a:t>
            </a:r>
            <a:r>
              <a:rPr lang="en-US" baseline="0" dirty="0" err="1">
                <a:sym typeface="Wingdings" panose="05000000000000000000" pitchFamily="2" charset="2"/>
              </a:rPr>
              <a:t>dưới</a:t>
            </a:r>
            <a:r>
              <a:rPr lang="en-US" baseline="0" dirty="0">
                <a:sym typeface="Wingdings" panose="05000000000000000000" pitchFamily="2" charset="2"/>
              </a:rPr>
              <a:t> </a:t>
            </a:r>
            <a:r>
              <a:rPr lang="en-US" baseline="0" dirty="0" err="1">
                <a:sym typeface="Wingdings" panose="05000000000000000000" pitchFamily="2" charset="2"/>
              </a:rPr>
              <a:t>mẫu</a:t>
            </a:r>
            <a:r>
              <a:rPr lang="en-US" baseline="0" dirty="0">
                <a:sym typeface="Wingdings" panose="05000000000000000000" pitchFamily="2" charset="2"/>
              </a:rPr>
              <a:t> </a:t>
            </a:r>
            <a:r>
              <a:rPr lang="en-US" baseline="0" dirty="0" err="1">
                <a:sym typeface="Wingdings" panose="05000000000000000000" pitchFamily="2" charset="2"/>
              </a:rPr>
              <a:t>mà</a:t>
            </a:r>
            <a:r>
              <a:rPr lang="en-US" baseline="0" dirty="0">
                <a:sym typeface="Wingdings" panose="05000000000000000000" pitchFamily="2" charset="2"/>
              </a:rPr>
              <a:t> sigma </a:t>
            </a:r>
            <a:r>
              <a:rPr lang="en-US" baseline="0" dirty="0" err="1">
                <a:sym typeface="Wingdings" panose="05000000000000000000" pitchFamily="2" charset="2"/>
              </a:rPr>
              <a:t>càng</a:t>
            </a:r>
            <a:r>
              <a:rPr lang="en-US" baseline="0" dirty="0">
                <a:sym typeface="Wingdings" panose="05000000000000000000" pitchFamily="2" charset="2"/>
              </a:rPr>
              <a:t> </a:t>
            </a:r>
            <a:r>
              <a:rPr lang="en-US" baseline="0" dirty="0" err="1">
                <a:sym typeface="Wingdings" panose="05000000000000000000" pitchFamily="2" charset="2"/>
              </a:rPr>
              <a:t>lớn</a:t>
            </a:r>
            <a:r>
              <a:rPr lang="en-US" baseline="0" dirty="0">
                <a:sym typeface="Wingdings" panose="05000000000000000000" pitchFamily="2" charset="2"/>
              </a:rPr>
              <a:t> </a:t>
            </a:r>
            <a:r>
              <a:rPr lang="en-US" baseline="0" dirty="0" err="1">
                <a:sym typeface="Wingdings" panose="05000000000000000000" pitchFamily="2" charset="2"/>
              </a:rPr>
              <a:t>nhỏ</a:t>
            </a:r>
            <a:r>
              <a:rPr lang="en-US" baseline="0" dirty="0">
                <a:sym typeface="Wingdings" panose="05000000000000000000" pitchFamily="2" charset="2"/>
              </a:rPr>
              <a:t> </a:t>
            </a:r>
            <a:r>
              <a:rPr lang="en-US" baseline="0" dirty="0" err="1">
                <a:sym typeface="Wingdings" panose="05000000000000000000" pitchFamily="2" charset="2"/>
              </a:rPr>
              <a:t>càng</a:t>
            </a:r>
            <a:r>
              <a:rPr lang="en-US" baseline="0" dirty="0">
                <a:sym typeface="Wingdings" panose="05000000000000000000" pitchFamily="2" charset="2"/>
              </a:rPr>
              <a:t> </a:t>
            </a:r>
            <a:r>
              <a:rPr lang="en-US" baseline="0" dirty="0" err="1">
                <a:sym typeface="Wingdings" panose="05000000000000000000" pitchFamily="2" charset="2"/>
              </a:rPr>
              <a:t>tôt</a:t>
            </a:r>
            <a:r>
              <a:rPr lang="en-US" baseline="0" dirty="0">
                <a:sym typeface="Wingdings" panose="05000000000000000000" pitchFamily="2" charset="2"/>
              </a:rPr>
              <a:t> </a:t>
            </a:r>
            <a:r>
              <a:rPr lang="en-US" baseline="0" dirty="0" err="1">
                <a:sym typeface="Wingdings" panose="05000000000000000000" pitchFamily="2" charset="2"/>
              </a:rPr>
              <a:t>nên</a:t>
            </a:r>
            <a:r>
              <a:rPr lang="en-US" baseline="0" dirty="0">
                <a:sym typeface="Wingdings" panose="05000000000000000000" pitchFamily="2" charset="2"/>
              </a:rPr>
              <a:t> 2 </a:t>
            </a:r>
            <a:r>
              <a:rPr lang="en-US" baseline="0" dirty="0" err="1">
                <a:sym typeface="Wingdings" panose="05000000000000000000" pitchFamily="2" charset="2"/>
              </a:rPr>
              <a:t>cái</a:t>
            </a:r>
            <a:r>
              <a:rPr lang="en-US" baseline="0" dirty="0">
                <a:sym typeface="Wingdings" panose="05000000000000000000" pitchFamily="2" charset="2"/>
              </a:rPr>
              <a:t> </a:t>
            </a:r>
            <a:r>
              <a:rPr lang="en-US" baseline="0" dirty="0" err="1">
                <a:sym typeface="Wingdings" panose="05000000000000000000" pitchFamily="2" charset="2"/>
              </a:rPr>
              <a:t>kia</a:t>
            </a:r>
            <a:r>
              <a:rPr lang="en-US" baseline="0" dirty="0">
                <a:sym typeface="Wingdings" panose="05000000000000000000" pitchFamily="2" charset="2"/>
              </a:rPr>
              <a:t> </a:t>
            </a:r>
            <a:r>
              <a:rPr lang="en-US" baseline="0" dirty="0" err="1">
                <a:sym typeface="Wingdings" panose="05000000000000000000" pitchFamily="2" charset="2"/>
              </a:rPr>
              <a:t>càng</a:t>
            </a:r>
            <a:r>
              <a:rPr lang="en-US" baseline="0" dirty="0">
                <a:sym typeface="Wingdings" panose="05000000000000000000" pitchFamily="2" charset="2"/>
              </a:rPr>
              <a:t> </a:t>
            </a:r>
            <a:r>
              <a:rPr lang="en-US" baseline="0" dirty="0" err="1">
                <a:sym typeface="Wingdings" panose="05000000000000000000" pitchFamily="2" charset="2"/>
              </a:rPr>
              <a:t>lớn</a:t>
            </a:r>
            <a:r>
              <a:rPr lang="en-US" baseline="0" dirty="0">
                <a:sym typeface="Wingdings" panose="05000000000000000000" pitchFamily="2" charset="2"/>
              </a:rPr>
              <a:t> </a:t>
            </a:r>
            <a:r>
              <a:rPr lang="en-US" baseline="0" dirty="0" err="1">
                <a:sym typeface="Wingdings" panose="05000000000000000000" pitchFamily="2" charset="2"/>
              </a:rPr>
              <a:t>càng</a:t>
            </a:r>
            <a:r>
              <a:rPr lang="en-US" baseline="0" dirty="0">
                <a:sym typeface="Wingdings" panose="05000000000000000000" pitchFamily="2" charset="2"/>
              </a:rPr>
              <a:t> </a:t>
            </a:r>
            <a:r>
              <a:rPr lang="en-US" baseline="0" dirty="0" err="1">
                <a:sym typeface="Wingdings" panose="05000000000000000000" pitchFamily="2" charset="2"/>
              </a:rPr>
              <a:t>tôt</a:t>
            </a:r>
            <a:endParaRPr lang="en-US" baseline="0" dirty="0">
              <a:sym typeface="Wingdings" panose="05000000000000000000" pitchFamily="2" charset="2"/>
            </a:endParaRPr>
          </a:p>
          <a:p>
            <a:pPr marL="0" indent="0">
              <a:buNone/>
            </a:pPr>
            <a:r>
              <a:rPr lang="en-US" baseline="0" dirty="0">
                <a:sym typeface="Wingdings" panose="05000000000000000000" pitchFamily="2" charset="2"/>
              </a:rPr>
              <a:t>USL-LSL: </a:t>
            </a:r>
            <a:r>
              <a:rPr lang="en-US" baseline="0" dirty="0" err="1">
                <a:sym typeface="Wingdings" panose="05000000000000000000" pitchFamily="2" charset="2"/>
              </a:rPr>
              <a:t>tole</a:t>
            </a:r>
            <a:endParaRPr lang="en-US" baseline="0" dirty="0">
              <a:sym typeface="Wingdings" panose="05000000000000000000" pitchFamily="2" charset="2"/>
            </a:endParaRPr>
          </a:p>
          <a:p>
            <a:pPr marL="0" indent="0">
              <a:buNone/>
            </a:pPr>
            <a:r>
              <a:rPr lang="en-US" baseline="0" dirty="0" err="1">
                <a:sym typeface="Wingdings" panose="05000000000000000000" pitchFamily="2" charset="2"/>
              </a:rPr>
              <a:t>Cthuc</a:t>
            </a:r>
            <a:r>
              <a:rPr lang="en-US" baseline="0" dirty="0">
                <a:sym typeface="Wingdings" panose="05000000000000000000" pitchFamily="2" charset="2"/>
              </a:rPr>
              <a:t> nay </a:t>
            </a:r>
            <a:r>
              <a:rPr lang="en-US" baseline="0" dirty="0" err="1">
                <a:sym typeface="Wingdings" panose="05000000000000000000" pitchFamily="2" charset="2"/>
              </a:rPr>
              <a:t>chinh</a:t>
            </a:r>
            <a:r>
              <a:rPr lang="en-US" baseline="0" dirty="0">
                <a:sym typeface="Wingdings" panose="05000000000000000000" pitchFamily="2" charset="2"/>
              </a:rPr>
              <a:t> </a:t>
            </a:r>
            <a:r>
              <a:rPr lang="en-US" baseline="0" dirty="0" err="1">
                <a:sym typeface="Wingdings" panose="05000000000000000000" pitchFamily="2" charset="2"/>
              </a:rPr>
              <a:t>là</a:t>
            </a:r>
            <a:r>
              <a:rPr lang="en-US" baseline="0" dirty="0">
                <a:sym typeface="Wingdings" panose="05000000000000000000" pitchFamily="2" charset="2"/>
              </a:rPr>
              <a:t> 20% </a:t>
            </a:r>
            <a:r>
              <a:rPr lang="en-US" baseline="0" dirty="0" err="1">
                <a:sym typeface="Wingdings" panose="05000000000000000000" pitchFamily="2" charset="2"/>
              </a:rPr>
              <a:t>tole</a:t>
            </a:r>
            <a:r>
              <a:rPr lang="en-US" baseline="0" dirty="0">
                <a:sym typeface="Wingdings" panose="05000000000000000000" pitchFamily="2" charset="2"/>
              </a:rPr>
              <a:t> / 6 sigma. 6 sigma la </a:t>
            </a:r>
            <a:r>
              <a:rPr lang="en-US" baseline="0" dirty="0" err="1">
                <a:sym typeface="Wingdings" panose="05000000000000000000" pitchFamily="2" charset="2"/>
              </a:rPr>
              <a:t>từ</a:t>
            </a:r>
            <a:r>
              <a:rPr lang="en-US" baseline="0" dirty="0">
                <a:sym typeface="Wingdings" panose="05000000000000000000" pitchFamily="2" charset="2"/>
              </a:rPr>
              <a:t> </a:t>
            </a:r>
            <a:r>
              <a:rPr lang="en-US" baseline="0" dirty="0" err="1">
                <a:sym typeface="Wingdings" panose="05000000000000000000" pitchFamily="2" charset="2"/>
              </a:rPr>
              <a:t>khoảng</a:t>
            </a:r>
            <a:r>
              <a:rPr lang="en-US" baseline="0" dirty="0">
                <a:sym typeface="Wingdings" panose="05000000000000000000" pitchFamily="2" charset="2"/>
              </a:rPr>
              <a:t> -3 </a:t>
            </a:r>
            <a:r>
              <a:rPr lang="en-US" baseline="0" dirty="0" err="1">
                <a:sym typeface="Wingdings" panose="05000000000000000000" pitchFamily="2" charset="2"/>
              </a:rPr>
              <a:t>đên</a:t>
            </a:r>
            <a:r>
              <a:rPr lang="en-US" baseline="0" dirty="0">
                <a:sym typeface="Wingdings" panose="05000000000000000000" pitchFamily="2" charset="2"/>
              </a:rPr>
              <a:t> +3 sigma</a:t>
            </a:r>
          </a:p>
          <a:p>
            <a:pPr marL="0" indent="0">
              <a:buNone/>
            </a:pPr>
            <a:endParaRPr lang="en-US" baseline="0" dirty="0">
              <a:sym typeface="Wingdings" panose="05000000000000000000" pitchFamily="2" charset="2"/>
            </a:endParaRPr>
          </a:p>
          <a:p>
            <a:pPr marL="0" indent="0">
              <a:buNone/>
            </a:pPr>
            <a:r>
              <a:rPr lang="en-US" baseline="0" dirty="0" err="1">
                <a:sym typeface="Wingdings" panose="05000000000000000000" pitchFamily="2" charset="2"/>
              </a:rPr>
              <a:t>Cgk</a:t>
            </a:r>
            <a:r>
              <a:rPr lang="en-US" baseline="0" dirty="0">
                <a:sym typeface="Wingdings" panose="05000000000000000000" pitchFamily="2" charset="2"/>
              </a:rPr>
              <a:t> </a:t>
            </a:r>
            <a:r>
              <a:rPr lang="en-US" baseline="0" dirty="0" err="1">
                <a:sym typeface="Wingdings" panose="05000000000000000000" pitchFamily="2" charset="2"/>
              </a:rPr>
              <a:t>bị</a:t>
            </a:r>
            <a:r>
              <a:rPr lang="en-US" baseline="0" dirty="0">
                <a:sym typeface="Wingdings" panose="05000000000000000000" pitchFamily="2" charset="2"/>
              </a:rPr>
              <a:t> </a:t>
            </a:r>
            <a:r>
              <a:rPr lang="en-US" baseline="0" dirty="0" err="1">
                <a:sym typeface="Wingdings" panose="05000000000000000000" pitchFamily="2" charset="2"/>
              </a:rPr>
              <a:t>ảnh</a:t>
            </a:r>
            <a:r>
              <a:rPr lang="en-US" baseline="0" dirty="0">
                <a:sym typeface="Wingdings" panose="05000000000000000000" pitchFamily="2" charset="2"/>
              </a:rPr>
              <a:t> </a:t>
            </a:r>
            <a:r>
              <a:rPr lang="en-US" baseline="0" dirty="0" err="1">
                <a:sym typeface="Wingdings" panose="05000000000000000000" pitchFamily="2" charset="2"/>
              </a:rPr>
              <a:t>hưởng</a:t>
            </a:r>
            <a:r>
              <a:rPr lang="en-US" baseline="0" dirty="0">
                <a:sym typeface="Wingdings" panose="05000000000000000000" pitchFamily="2" charset="2"/>
              </a:rPr>
              <a:t> </a:t>
            </a:r>
            <a:r>
              <a:rPr lang="en-US" baseline="0" dirty="0" err="1">
                <a:sym typeface="Wingdings" panose="05000000000000000000" pitchFamily="2" charset="2"/>
              </a:rPr>
              <a:t>bửi</a:t>
            </a:r>
            <a:r>
              <a:rPr lang="en-US" baseline="0" dirty="0">
                <a:sym typeface="Wingdings" panose="05000000000000000000" pitchFamily="2" charset="2"/>
              </a:rPr>
              <a:t> </a:t>
            </a:r>
            <a:r>
              <a:rPr lang="en-US" baseline="0" dirty="0" err="1">
                <a:sym typeface="Wingdings" panose="05000000000000000000" pitchFamily="2" charset="2"/>
              </a:rPr>
              <a:t>vị</a:t>
            </a:r>
            <a:r>
              <a:rPr lang="en-US" baseline="0" dirty="0">
                <a:sym typeface="Wingdings" panose="05000000000000000000" pitchFamily="2" charset="2"/>
              </a:rPr>
              <a:t> tri </a:t>
            </a:r>
            <a:r>
              <a:rPr lang="en-US" baseline="0" dirty="0" err="1">
                <a:sym typeface="Wingdings" panose="05000000000000000000" pitchFamily="2" charset="2"/>
              </a:rPr>
              <a:t>cua</a:t>
            </a:r>
            <a:r>
              <a:rPr lang="en-US" baseline="0" dirty="0">
                <a:sym typeface="Wingdings" panose="05000000000000000000" pitchFamily="2" charset="2"/>
              </a:rPr>
              <a:t> </a:t>
            </a:r>
            <a:r>
              <a:rPr lang="en-US" baseline="0" dirty="0" err="1">
                <a:sym typeface="Wingdings" panose="05000000000000000000" pitchFamily="2" charset="2"/>
              </a:rPr>
              <a:t>đồ</a:t>
            </a:r>
            <a:r>
              <a:rPr lang="en-US" baseline="0" dirty="0">
                <a:sym typeface="Wingdings" panose="05000000000000000000" pitchFamily="2" charset="2"/>
              </a:rPr>
              <a:t> </a:t>
            </a:r>
            <a:r>
              <a:rPr lang="en-US" baseline="0" dirty="0" err="1">
                <a:sym typeface="Wingdings" panose="05000000000000000000" pitchFamily="2" charset="2"/>
              </a:rPr>
              <a:t>thi</a:t>
            </a:r>
            <a:r>
              <a:rPr lang="en-US" baseline="0" dirty="0">
                <a:sym typeface="Wingdings" panose="05000000000000000000" pitchFamily="2" charset="2"/>
              </a:rPr>
              <a:t>, </a:t>
            </a:r>
            <a:r>
              <a:rPr lang="en-US" baseline="0" dirty="0" err="1">
                <a:sym typeface="Wingdings" panose="05000000000000000000" pitchFamily="2" charset="2"/>
              </a:rPr>
              <a:t>đô</a:t>
            </a:r>
            <a:r>
              <a:rPr lang="en-US" baseline="0" dirty="0">
                <a:sym typeface="Wingdings" panose="05000000000000000000" pitchFamily="2" charset="2"/>
              </a:rPr>
              <a:t> </a:t>
            </a:r>
            <a:r>
              <a:rPr lang="en-US" baseline="0" dirty="0" err="1">
                <a:sym typeface="Wingdings" panose="05000000000000000000" pitchFamily="2" charset="2"/>
              </a:rPr>
              <a:t>thi</a:t>
            </a:r>
            <a:r>
              <a:rPr lang="en-US" baseline="0" dirty="0">
                <a:sym typeface="Wingdings" panose="05000000000000000000" pitchFamily="2" charset="2"/>
              </a:rPr>
              <a:t> </a:t>
            </a:r>
            <a:r>
              <a:rPr lang="en-US" baseline="0" dirty="0" err="1">
                <a:sym typeface="Wingdings" panose="05000000000000000000" pitchFamily="2" charset="2"/>
              </a:rPr>
              <a:t>cứ</a:t>
            </a:r>
            <a:r>
              <a:rPr lang="en-US" baseline="0" dirty="0">
                <a:sym typeface="Wingdings" panose="05000000000000000000" pitchFamily="2" charset="2"/>
              </a:rPr>
              <a:t> </a:t>
            </a:r>
            <a:r>
              <a:rPr lang="en-US" baseline="0" dirty="0" err="1">
                <a:sym typeface="Wingdings" panose="05000000000000000000" pitchFamily="2" charset="2"/>
              </a:rPr>
              <a:t>nằm</a:t>
            </a:r>
            <a:r>
              <a:rPr lang="en-US" baseline="0" dirty="0">
                <a:sym typeface="Wingdings" panose="05000000000000000000" pitchFamily="2" charset="2"/>
              </a:rPr>
              <a:t> </a:t>
            </a:r>
            <a:r>
              <a:rPr lang="en-US" baseline="0" dirty="0" err="1">
                <a:sym typeface="Wingdings" panose="05000000000000000000" pitchFamily="2" charset="2"/>
              </a:rPr>
              <a:t>lệch</a:t>
            </a:r>
            <a:r>
              <a:rPr lang="en-US" baseline="0" dirty="0">
                <a:sym typeface="Wingdings" panose="05000000000000000000" pitchFamily="2" charset="2"/>
              </a:rPr>
              <a:t> </a:t>
            </a:r>
            <a:r>
              <a:rPr lang="en-US" baseline="0" dirty="0" err="1">
                <a:sym typeface="Wingdings" panose="05000000000000000000" pitchFamily="2" charset="2"/>
              </a:rPr>
              <a:t>thi</a:t>
            </a:r>
            <a:r>
              <a:rPr lang="en-US" baseline="0" dirty="0">
                <a:sym typeface="Wingdings" panose="05000000000000000000" pitchFamily="2" charset="2"/>
              </a:rPr>
              <a:t> </a:t>
            </a:r>
            <a:r>
              <a:rPr lang="en-US" baseline="0" dirty="0" err="1">
                <a:sym typeface="Wingdings" panose="05000000000000000000" pitchFamily="2" charset="2"/>
              </a:rPr>
              <a:t>Cgk</a:t>
            </a:r>
            <a:r>
              <a:rPr lang="en-US" baseline="0" dirty="0">
                <a:sym typeface="Wingdings" panose="05000000000000000000" pitchFamily="2" charset="2"/>
              </a:rPr>
              <a:t> </a:t>
            </a:r>
            <a:r>
              <a:rPr lang="en-US" baseline="0" dirty="0" err="1">
                <a:sym typeface="Wingdings" panose="05000000000000000000" pitchFamily="2" charset="2"/>
              </a:rPr>
              <a:t>nhỏ</a:t>
            </a:r>
            <a:r>
              <a:rPr lang="en-US" baseline="0" dirty="0">
                <a:sym typeface="Wingdings" panose="05000000000000000000" pitchFamily="2" charset="2"/>
              </a:rPr>
              <a:t> </a:t>
            </a:r>
            <a:r>
              <a:rPr lang="en-US" baseline="0" dirty="0" err="1">
                <a:sym typeface="Wingdings" panose="05000000000000000000" pitchFamily="2" charset="2"/>
              </a:rPr>
              <a:t>đi</a:t>
            </a:r>
            <a:r>
              <a:rPr lang="en-US" baseline="0" dirty="0">
                <a:sym typeface="Wingdings" panose="05000000000000000000" pitchFamily="2" charset="2"/>
              </a:rPr>
              <a:t>, Cg </a:t>
            </a:r>
            <a:r>
              <a:rPr lang="en-US" baseline="0" dirty="0" err="1">
                <a:sym typeface="Wingdings" panose="05000000000000000000" pitchFamily="2" charset="2"/>
              </a:rPr>
              <a:t>thi</a:t>
            </a:r>
            <a:r>
              <a:rPr lang="en-US" baseline="0" dirty="0">
                <a:sym typeface="Wingdings" panose="05000000000000000000" pitchFamily="2" charset="2"/>
              </a:rPr>
              <a:t> </a:t>
            </a:r>
            <a:r>
              <a:rPr lang="en-US" baseline="0" dirty="0" err="1">
                <a:sym typeface="Wingdings" panose="05000000000000000000" pitchFamily="2" charset="2"/>
              </a:rPr>
              <a:t>ko</a:t>
            </a:r>
            <a:r>
              <a:rPr lang="en-US" baseline="0" dirty="0">
                <a:sym typeface="Wingdings" panose="05000000000000000000" pitchFamily="2" charset="2"/>
              </a:rPr>
              <a:t> </a:t>
            </a:r>
            <a:r>
              <a:rPr lang="en-US" baseline="0" dirty="0" err="1">
                <a:sym typeface="Wingdings" panose="05000000000000000000" pitchFamily="2" charset="2"/>
              </a:rPr>
              <a:t>bị</a:t>
            </a:r>
            <a:r>
              <a:rPr lang="en-US" baseline="0" dirty="0">
                <a:sym typeface="Wingdings" panose="05000000000000000000" pitchFamily="2" charset="2"/>
              </a:rPr>
              <a:t> </a:t>
            </a:r>
            <a:r>
              <a:rPr lang="en-US" baseline="0" dirty="0" err="1">
                <a:sym typeface="Wingdings" panose="05000000000000000000" pitchFamily="2" charset="2"/>
              </a:rPr>
              <a:t>ảnh</a:t>
            </a:r>
            <a:r>
              <a:rPr lang="en-US" baseline="0" dirty="0">
                <a:sym typeface="Wingdings" panose="05000000000000000000" pitchFamily="2" charset="2"/>
              </a:rPr>
              <a:t> </a:t>
            </a:r>
            <a:r>
              <a:rPr lang="en-US" baseline="0" dirty="0" err="1">
                <a:sym typeface="Wingdings" panose="05000000000000000000" pitchFamily="2" charset="2"/>
              </a:rPr>
              <a:t>hưởng</a:t>
            </a:r>
            <a:endParaRPr lang="en-US" dirty="0"/>
          </a:p>
        </p:txBody>
      </p:sp>
      <p:sp>
        <p:nvSpPr>
          <p:cNvPr id="4" name="Slide Number Placeholder 3"/>
          <p:cNvSpPr>
            <a:spLocks noGrp="1"/>
          </p:cNvSpPr>
          <p:nvPr>
            <p:ph type="sldNum" sz="quarter" idx="10"/>
          </p:nvPr>
        </p:nvSpPr>
        <p:spPr/>
        <p:txBody>
          <a:bodyPr/>
          <a:lstStyle/>
          <a:p>
            <a:fld id="{12805DED-1084-405D-B2BA-F5B5C394CBD7}" type="slidenum">
              <a:rPr lang="ko-KR" altLang="en-US" smtClean="0"/>
              <a:pPr/>
              <a:t>51</a:t>
            </a:fld>
            <a:endParaRPr lang="ko-KR" altLang="en-US"/>
          </a:p>
        </p:txBody>
      </p:sp>
    </p:spTree>
    <p:extLst>
      <p:ext uri="{BB962C8B-B14F-4D97-AF65-F5344CB8AC3E}">
        <p14:creationId xmlns:p14="http://schemas.microsoft.com/office/powerpoint/2010/main" val="19348467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Cgk</a:t>
            </a:r>
            <a:r>
              <a:rPr lang="en-US" dirty="0"/>
              <a:t>&lt;Cg&lt;1.33</a:t>
            </a:r>
            <a:r>
              <a:rPr lang="en-US" dirty="0">
                <a:sym typeface="Wingdings" panose="05000000000000000000" pitchFamily="2" charset="2"/>
              </a:rPr>
              <a:t>thước</a:t>
            </a:r>
            <a:r>
              <a:rPr lang="en-US" baseline="0" dirty="0">
                <a:sym typeface="Wingdings" panose="05000000000000000000" pitchFamily="2" charset="2"/>
              </a:rPr>
              <a:t> </a:t>
            </a:r>
            <a:r>
              <a:rPr lang="en-US" baseline="0" dirty="0" err="1">
                <a:sym typeface="Wingdings" panose="05000000000000000000" pitchFamily="2" charset="2"/>
              </a:rPr>
              <a:t>ko</a:t>
            </a:r>
            <a:r>
              <a:rPr lang="en-US" baseline="0" dirty="0">
                <a:sym typeface="Wingdings" panose="05000000000000000000" pitchFamily="2" charset="2"/>
              </a:rPr>
              <a:t> </a:t>
            </a:r>
            <a:r>
              <a:rPr lang="en-US" baseline="0" dirty="0" err="1">
                <a:sym typeface="Wingdings" panose="05000000000000000000" pitchFamily="2" charset="2"/>
              </a:rPr>
              <a:t>đạt</a:t>
            </a:r>
            <a:r>
              <a:rPr lang="en-US" baseline="0" dirty="0">
                <a:sym typeface="Wingdings" panose="05000000000000000000" pitchFamily="2" charset="2"/>
              </a:rPr>
              <a:t> </a:t>
            </a:r>
            <a:r>
              <a:rPr lang="en-US" baseline="0" dirty="0" err="1">
                <a:sym typeface="Wingdings" panose="05000000000000000000" pitchFamily="2" charset="2"/>
              </a:rPr>
              <a:t>yêu</a:t>
            </a:r>
            <a:r>
              <a:rPr lang="en-US" baseline="0" dirty="0">
                <a:sym typeface="Wingdings" panose="05000000000000000000" pitchFamily="2" charset="2"/>
              </a:rPr>
              <a:t> </a:t>
            </a:r>
            <a:r>
              <a:rPr lang="en-US" baseline="0" dirty="0" err="1">
                <a:sym typeface="Wingdings" panose="05000000000000000000" pitchFamily="2" charset="2"/>
              </a:rPr>
              <a:t>cầu</a:t>
            </a:r>
            <a:r>
              <a:rPr lang="en-US" baseline="0" dirty="0">
                <a:sym typeface="Wingdings" panose="05000000000000000000" pitchFamily="2" charset="2"/>
              </a:rPr>
              <a:t>, </a:t>
            </a:r>
            <a:r>
              <a:rPr lang="en-US" baseline="0" dirty="0" err="1">
                <a:sym typeface="Wingdings" panose="05000000000000000000" pitchFamily="2" charset="2"/>
              </a:rPr>
              <a:t>cần</a:t>
            </a:r>
            <a:r>
              <a:rPr lang="en-US" baseline="0" dirty="0">
                <a:sym typeface="Wingdings" panose="05000000000000000000" pitchFamily="2" charset="2"/>
              </a:rPr>
              <a:t> </a:t>
            </a:r>
            <a:r>
              <a:rPr lang="en-US" baseline="0" dirty="0" err="1">
                <a:sym typeface="Wingdings" panose="05000000000000000000" pitchFamily="2" charset="2"/>
              </a:rPr>
              <a:t>fai</a:t>
            </a:r>
            <a:r>
              <a:rPr lang="en-US" baseline="0" dirty="0">
                <a:sym typeface="Wingdings" panose="05000000000000000000" pitchFamily="2" charset="2"/>
              </a:rPr>
              <a:t> </a:t>
            </a:r>
            <a:r>
              <a:rPr lang="en-US" baseline="0" dirty="0" err="1">
                <a:sym typeface="Wingdings" panose="05000000000000000000" pitchFamily="2" charset="2"/>
              </a:rPr>
              <a:t>cải</a:t>
            </a:r>
            <a:r>
              <a:rPr lang="en-US" baseline="0" dirty="0">
                <a:sym typeface="Wingdings" panose="05000000000000000000" pitchFamily="2" charset="2"/>
              </a:rPr>
              <a:t> </a:t>
            </a:r>
            <a:r>
              <a:rPr lang="en-US" baseline="0" dirty="0" err="1">
                <a:sym typeface="Wingdings" panose="05000000000000000000" pitchFamily="2" charset="2"/>
              </a:rPr>
              <a:t>tiến</a:t>
            </a:r>
            <a:endParaRPr lang="en-US" baseline="0" dirty="0">
              <a:sym typeface="Wingdings" panose="05000000000000000000" pitchFamily="2" charset="2"/>
            </a:endParaRPr>
          </a:p>
          <a:p>
            <a:r>
              <a:rPr lang="en-US" baseline="0" dirty="0">
                <a:sym typeface="Wingdings" panose="05000000000000000000" pitchFamily="2" charset="2"/>
              </a:rPr>
              <a:t>Re &lt;5% </a:t>
            </a:r>
            <a:r>
              <a:rPr lang="en-US" baseline="0" dirty="0" err="1">
                <a:sym typeface="Wingdings" panose="05000000000000000000" pitchFamily="2" charset="2"/>
              </a:rPr>
              <a:t>là</a:t>
            </a:r>
            <a:r>
              <a:rPr lang="en-US" baseline="0" dirty="0">
                <a:sym typeface="Wingdings" panose="05000000000000000000" pitchFamily="2" charset="2"/>
              </a:rPr>
              <a:t> </a:t>
            </a:r>
            <a:r>
              <a:rPr lang="en-US" baseline="0" dirty="0" err="1">
                <a:sym typeface="Wingdings" panose="05000000000000000000" pitchFamily="2" charset="2"/>
              </a:rPr>
              <a:t>thoả</a:t>
            </a:r>
            <a:r>
              <a:rPr lang="en-US" baseline="0" dirty="0">
                <a:sym typeface="Wingdings" panose="05000000000000000000" pitchFamily="2" charset="2"/>
              </a:rPr>
              <a:t> </a:t>
            </a:r>
            <a:r>
              <a:rPr lang="en-US" baseline="0" dirty="0" err="1">
                <a:sym typeface="Wingdings" panose="05000000000000000000" pitchFamily="2" charset="2"/>
              </a:rPr>
              <a:t>mãn</a:t>
            </a:r>
            <a:endParaRPr lang="en-US" baseline="0" dirty="0">
              <a:sym typeface="Wingdings" panose="05000000000000000000" pitchFamily="2" charset="2"/>
            </a:endParaRPr>
          </a:p>
          <a:p>
            <a:r>
              <a:rPr lang="en-US" baseline="0" dirty="0">
                <a:sym typeface="Wingdings" panose="05000000000000000000" pitchFamily="2" charset="2"/>
              </a:rPr>
              <a:t>Calibration: </a:t>
            </a:r>
            <a:r>
              <a:rPr lang="en-US" baseline="0" dirty="0" err="1">
                <a:sym typeface="Wingdings" panose="05000000000000000000" pitchFamily="2" charset="2"/>
              </a:rPr>
              <a:t>hiệu</a:t>
            </a:r>
            <a:r>
              <a:rPr lang="en-US" baseline="0" dirty="0">
                <a:sym typeface="Wingdings" panose="05000000000000000000" pitchFamily="2" charset="2"/>
              </a:rPr>
              <a:t> </a:t>
            </a:r>
            <a:r>
              <a:rPr lang="en-US" baseline="0" dirty="0" err="1">
                <a:sym typeface="Wingdings" panose="05000000000000000000" pitchFamily="2" charset="2"/>
              </a:rPr>
              <a:t>chỉnh</a:t>
            </a:r>
            <a:r>
              <a:rPr lang="en-US" baseline="0" dirty="0">
                <a:sym typeface="Wingdings" panose="05000000000000000000" pitchFamily="2" charset="2"/>
              </a:rPr>
              <a:t> </a:t>
            </a:r>
            <a:r>
              <a:rPr lang="en-US" baseline="0" dirty="0" err="1">
                <a:sym typeface="Wingdings" panose="05000000000000000000" pitchFamily="2" charset="2"/>
              </a:rPr>
              <a:t>thước</a:t>
            </a:r>
            <a:endParaRPr lang="en-US" baseline="0" dirty="0">
              <a:sym typeface="Wingdings" panose="05000000000000000000" pitchFamily="2" charset="2"/>
            </a:endParaRPr>
          </a:p>
          <a:p>
            <a:r>
              <a:rPr lang="en-US" baseline="0" dirty="0">
                <a:sym typeface="Wingdings" panose="05000000000000000000" pitchFamily="2" charset="2"/>
              </a:rPr>
              <a:t>Calibration </a:t>
            </a:r>
            <a:r>
              <a:rPr lang="en-US" baseline="0" dirty="0" err="1">
                <a:sym typeface="Wingdings" panose="05000000000000000000" pitchFamily="2" charset="2"/>
              </a:rPr>
              <a:t>là</a:t>
            </a:r>
            <a:r>
              <a:rPr lang="en-US" baseline="0" dirty="0">
                <a:sym typeface="Wingdings" panose="05000000000000000000" pitchFamily="2" charset="2"/>
              </a:rPr>
              <a:t> </a:t>
            </a:r>
            <a:r>
              <a:rPr lang="en-US" baseline="0" dirty="0" err="1">
                <a:sym typeface="Wingdings" panose="05000000000000000000" pitchFamily="2" charset="2"/>
              </a:rPr>
              <a:t>bước</a:t>
            </a:r>
            <a:r>
              <a:rPr lang="en-US" baseline="0" dirty="0">
                <a:sym typeface="Wingdings" panose="05000000000000000000" pitchFamily="2" charset="2"/>
              </a:rPr>
              <a:t> </a:t>
            </a:r>
            <a:r>
              <a:rPr lang="en-US" baseline="0" dirty="0" err="1">
                <a:sym typeface="Wingdings" panose="05000000000000000000" pitchFamily="2" charset="2"/>
              </a:rPr>
              <a:t>để</a:t>
            </a:r>
            <a:r>
              <a:rPr lang="en-US" baseline="0" dirty="0">
                <a:sym typeface="Wingdings" panose="05000000000000000000" pitchFamily="2" charset="2"/>
              </a:rPr>
              <a:t> </a:t>
            </a:r>
            <a:r>
              <a:rPr lang="en-US" baseline="0" dirty="0" err="1">
                <a:sym typeface="Wingdings" panose="05000000000000000000" pitchFamily="2" charset="2"/>
              </a:rPr>
              <a:t>đảm</a:t>
            </a:r>
            <a:r>
              <a:rPr lang="en-US" baseline="0" dirty="0">
                <a:sym typeface="Wingdings" panose="05000000000000000000" pitchFamily="2" charset="2"/>
              </a:rPr>
              <a:t> </a:t>
            </a:r>
            <a:r>
              <a:rPr lang="en-US" baseline="0" dirty="0" err="1">
                <a:sym typeface="Wingdings" panose="05000000000000000000" pitchFamily="2" charset="2"/>
              </a:rPr>
              <a:t>bảo</a:t>
            </a:r>
            <a:r>
              <a:rPr lang="en-US" baseline="0" dirty="0">
                <a:sym typeface="Wingdings" panose="05000000000000000000" pitchFamily="2" charset="2"/>
              </a:rPr>
              <a:t> bias =0</a:t>
            </a:r>
            <a:endParaRPr lang="en-US" dirty="0"/>
          </a:p>
        </p:txBody>
      </p:sp>
      <p:sp>
        <p:nvSpPr>
          <p:cNvPr id="4" name="Slide Number Placeholder 3"/>
          <p:cNvSpPr>
            <a:spLocks noGrp="1"/>
          </p:cNvSpPr>
          <p:nvPr>
            <p:ph type="sldNum" sz="quarter" idx="10"/>
          </p:nvPr>
        </p:nvSpPr>
        <p:spPr/>
        <p:txBody>
          <a:bodyPr/>
          <a:lstStyle/>
          <a:p>
            <a:fld id="{12805DED-1084-405D-B2BA-F5B5C394CBD7}" type="slidenum">
              <a:rPr lang="ko-KR" altLang="en-US" smtClean="0"/>
              <a:pPr/>
              <a:t>54</a:t>
            </a:fld>
            <a:endParaRPr lang="ko-KR" altLang="en-US"/>
          </a:p>
        </p:txBody>
      </p:sp>
    </p:spTree>
    <p:extLst>
      <p:ext uri="{BB962C8B-B14F-4D97-AF65-F5344CB8AC3E}">
        <p14:creationId xmlns:p14="http://schemas.microsoft.com/office/powerpoint/2010/main" val="29965595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CEEF2B3D-1D56-4028-A5EB-9B428963DBAA}" type="slidenum">
              <a:rPr lang="en-US" altLang="ko-KR" sz="1200" baseline="0">
                <a:solidFill>
                  <a:prstClr val="black"/>
                </a:solidFill>
              </a:rPr>
              <a:pPr eaLnBrk="1" hangingPunct="1"/>
              <a:t>200</a:t>
            </a:fld>
            <a:endParaRPr lang="en-US" altLang="ko-KR" sz="1200" baseline="0" dirty="0">
              <a:solidFill>
                <a:prstClr val="black"/>
              </a:solidFill>
            </a:endParaRPr>
          </a:p>
        </p:txBody>
      </p:sp>
      <p:sp>
        <p:nvSpPr>
          <p:cNvPr id="102403" name="Rectangle 2"/>
          <p:cNvSpPr>
            <a:spLocks noGrp="1" noRot="1" noChangeAspect="1" noChangeArrowheads="1" noTextEdit="1"/>
          </p:cNvSpPr>
          <p:nvPr>
            <p:ph type="sldImg"/>
          </p:nvPr>
        </p:nvSpPr>
        <p:spPr>
          <a:xfrm>
            <a:off x="1146175" y="687388"/>
            <a:ext cx="4562475" cy="3422650"/>
          </a:xfrm>
          <a:ln w="12700" cap="flat"/>
        </p:spPr>
      </p:sp>
      <p:sp>
        <p:nvSpPr>
          <p:cNvPr id="102404"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136031083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5EAD6FC1-AAB2-4005-A862-67B7EBFD83DB}" type="slidenum">
              <a:rPr lang="en-US" altLang="ko-KR" sz="1200" baseline="0">
                <a:solidFill>
                  <a:prstClr val="black"/>
                </a:solidFill>
              </a:rPr>
              <a:pPr eaLnBrk="1" hangingPunct="1"/>
              <a:t>201</a:t>
            </a:fld>
            <a:endParaRPr lang="en-US" altLang="ko-KR" sz="1200" baseline="0" dirty="0">
              <a:solidFill>
                <a:prstClr val="black"/>
              </a:solidFill>
            </a:endParaRPr>
          </a:p>
        </p:txBody>
      </p:sp>
      <p:sp>
        <p:nvSpPr>
          <p:cNvPr id="103427" name="Rectangle 2"/>
          <p:cNvSpPr>
            <a:spLocks noGrp="1" noRot="1" noChangeAspect="1" noChangeArrowheads="1" noTextEdit="1"/>
          </p:cNvSpPr>
          <p:nvPr>
            <p:ph type="sldImg"/>
          </p:nvPr>
        </p:nvSpPr>
        <p:spPr>
          <a:xfrm>
            <a:off x="1146175" y="687388"/>
            <a:ext cx="4562475" cy="3422650"/>
          </a:xfrm>
          <a:ln w="12700" cap="flat"/>
        </p:spPr>
      </p:sp>
      <p:sp>
        <p:nvSpPr>
          <p:cNvPr id="103428"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207262995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CEEF2B3D-1D56-4028-A5EB-9B428963DBAA}" type="slidenum">
              <a:rPr lang="en-US" altLang="ko-KR" sz="1200" baseline="0">
                <a:solidFill>
                  <a:prstClr val="black"/>
                </a:solidFill>
              </a:rPr>
              <a:pPr eaLnBrk="1" hangingPunct="1"/>
              <a:t>202</a:t>
            </a:fld>
            <a:endParaRPr lang="en-US" altLang="ko-KR" sz="1200" baseline="0" dirty="0">
              <a:solidFill>
                <a:prstClr val="black"/>
              </a:solidFill>
            </a:endParaRPr>
          </a:p>
        </p:txBody>
      </p:sp>
      <p:sp>
        <p:nvSpPr>
          <p:cNvPr id="102403" name="Rectangle 2"/>
          <p:cNvSpPr>
            <a:spLocks noGrp="1" noRot="1" noChangeAspect="1" noChangeArrowheads="1" noTextEdit="1"/>
          </p:cNvSpPr>
          <p:nvPr>
            <p:ph type="sldImg"/>
          </p:nvPr>
        </p:nvSpPr>
        <p:spPr>
          <a:xfrm>
            <a:off x="1146175" y="687388"/>
            <a:ext cx="4562475" cy="3422650"/>
          </a:xfrm>
          <a:ln w="12700" cap="flat"/>
        </p:spPr>
      </p:sp>
      <p:sp>
        <p:nvSpPr>
          <p:cNvPr id="102404"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7037593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5EAD6FC1-AAB2-4005-A862-67B7EBFD83DB}" type="slidenum">
              <a:rPr lang="en-US" altLang="ko-KR" sz="1200" baseline="0">
                <a:solidFill>
                  <a:prstClr val="black"/>
                </a:solidFill>
              </a:rPr>
              <a:pPr eaLnBrk="1" hangingPunct="1"/>
              <a:t>203</a:t>
            </a:fld>
            <a:endParaRPr lang="en-US" altLang="ko-KR" sz="1200" baseline="0" dirty="0">
              <a:solidFill>
                <a:prstClr val="black"/>
              </a:solidFill>
            </a:endParaRPr>
          </a:p>
        </p:txBody>
      </p:sp>
      <p:sp>
        <p:nvSpPr>
          <p:cNvPr id="103427" name="Rectangle 2"/>
          <p:cNvSpPr>
            <a:spLocks noGrp="1" noRot="1" noChangeAspect="1" noChangeArrowheads="1" noTextEdit="1"/>
          </p:cNvSpPr>
          <p:nvPr>
            <p:ph type="sldImg"/>
          </p:nvPr>
        </p:nvSpPr>
        <p:spPr>
          <a:xfrm>
            <a:off x="1146175" y="687388"/>
            <a:ext cx="4562475" cy="3422650"/>
          </a:xfrm>
          <a:ln w="12700" cap="flat"/>
        </p:spPr>
      </p:sp>
      <p:sp>
        <p:nvSpPr>
          <p:cNvPr id="103428"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171870551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DA1B4917-3662-45D1-B551-94F9A0630187}" type="slidenum">
              <a:rPr lang="en-US" altLang="ko-KR" sz="1200" baseline="0">
                <a:solidFill>
                  <a:prstClr val="black"/>
                </a:solidFill>
              </a:rPr>
              <a:pPr eaLnBrk="1" hangingPunct="1"/>
              <a:t>204</a:t>
            </a:fld>
            <a:endParaRPr lang="en-US" altLang="ko-KR" sz="1200" baseline="0" dirty="0">
              <a:solidFill>
                <a:prstClr val="black"/>
              </a:solidFill>
            </a:endParaRPr>
          </a:p>
        </p:txBody>
      </p:sp>
      <p:sp>
        <p:nvSpPr>
          <p:cNvPr id="107523" name="Rectangle 2"/>
          <p:cNvSpPr>
            <a:spLocks noGrp="1" noRot="1" noChangeAspect="1" noChangeArrowheads="1" noTextEdit="1"/>
          </p:cNvSpPr>
          <p:nvPr>
            <p:ph type="sldImg"/>
          </p:nvPr>
        </p:nvSpPr>
        <p:spPr>
          <a:xfrm>
            <a:off x="1146175" y="687388"/>
            <a:ext cx="4562475" cy="3422650"/>
          </a:xfrm>
          <a:ln w="12700" cap="flat"/>
        </p:spPr>
      </p:sp>
      <p:sp>
        <p:nvSpPr>
          <p:cNvPr id="107524"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378579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DA1B4917-3662-45D1-B551-94F9A0630187}" type="slidenum">
              <a:rPr lang="en-US" altLang="ko-KR" sz="1200" baseline="0">
                <a:solidFill>
                  <a:prstClr val="black"/>
                </a:solidFill>
              </a:rPr>
              <a:pPr eaLnBrk="1" hangingPunct="1"/>
              <a:t>205</a:t>
            </a:fld>
            <a:endParaRPr lang="en-US" altLang="ko-KR" sz="1200" baseline="0" dirty="0">
              <a:solidFill>
                <a:prstClr val="black"/>
              </a:solidFill>
            </a:endParaRPr>
          </a:p>
        </p:txBody>
      </p:sp>
      <p:sp>
        <p:nvSpPr>
          <p:cNvPr id="107523" name="Rectangle 2"/>
          <p:cNvSpPr>
            <a:spLocks noGrp="1" noRot="1" noChangeAspect="1" noChangeArrowheads="1" noTextEdit="1"/>
          </p:cNvSpPr>
          <p:nvPr>
            <p:ph type="sldImg"/>
          </p:nvPr>
        </p:nvSpPr>
        <p:spPr>
          <a:xfrm>
            <a:off x="1146175" y="687388"/>
            <a:ext cx="4562475" cy="3422650"/>
          </a:xfrm>
          <a:ln w="12700" cap="flat"/>
        </p:spPr>
      </p:sp>
      <p:sp>
        <p:nvSpPr>
          <p:cNvPr id="107524"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320634406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DA1B4917-3662-45D1-B551-94F9A0630187}" type="slidenum">
              <a:rPr lang="en-US" altLang="ko-KR" sz="1200" baseline="0">
                <a:solidFill>
                  <a:prstClr val="black"/>
                </a:solidFill>
              </a:rPr>
              <a:pPr eaLnBrk="1" hangingPunct="1"/>
              <a:t>206</a:t>
            </a:fld>
            <a:endParaRPr lang="en-US" altLang="ko-KR" sz="1200" baseline="0" dirty="0">
              <a:solidFill>
                <a:prstClr val="black"/>
              </a:solidFill>
            </a:endParaRPr>
          </a:p>
        </p:txBody>
      </p:sp>
      <p:sp>
        <p:nvSpPr>
          <p:cNvPr id="107523" name="Rectangle 2"/>
          <p:cNvSpPr>
            <a:spLocks noGrp="1" noRot="1" noChangeAspect="1" noChangeArrowheads="1" noTextEdit="1"/>
          </p:cNvSpPr>
          <p:nvPr>
            <p:ph type="sldImg"/>
          </p:nvPr>
        </p:nvSpPr>
        <p:spPr>
          <a:xfrm>
            <a:off x="1146175" y="687388"/>
            <a:ext cx="4562475" cy="3422650"/>
          </a:xfrm>
          <a:ln w="12700" cap="flat"/>
        </p:spPr>
      </p:sp>
      <p:sp>
        <p:nvSpPr>
          <p:cNvPr id="107524"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338999594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fld id="{DA1B4917-3662-45D1-B551-94F9A0630187}" type="slidenum">
              <a:rPr lang="en-US" altLang="ko-KR" sz="1200" baseline="0">
                <a:solidFill>
                  <a:prstClr val="black"/>
                </a:solidFill>
              </a:rPr>
              <a:pPr eaLnBrk="1" hangingPunct="1"/>
              <a:t>207</a:t>
            </a:fld>
            <a:endParaRPr lang="en-US" altLang="ko-KR" sz="1200" baseline="0" dirty="0">
              <a:solidFill>
                <a:prstClr val="black"/>
              </a:solidFill>
            </a:endParaRPr>
          </a:p>
        </p:txBody>
      </p:sp>
      <p:sp>
        <p:nvSpPr>
          <p:cNvPr id="107523" name="Rectangle 2"/>
          <p:cNvSpPr>
            <a:spLocks noGrp="1" noRot="1" noChangeAspect="1" noChangeArrowheads="1" noTextEdit="1"/>
          </p:cNvSpPr>
          <p:nvPr>
            <p:ph type="sldImg"/>
          </p:nvPr>
        </p:nvSpPr>
        <p:spPr>
          <a:xfrm>
            <a:off x="1146175" y="687388"/>
            <a:ext cx="4562475" cy="3422650"/>
          </a:xfrm>
          <a:ln w="12700" cap="flat"/>
        </p:spPr>
      </p:sp>
      <p:sp>
        <p:nvSpPr>
          <p:cNvPr id="107524" name="Rectangle 3"/>
          <p:cNvSpPr>
            <a:spLocks noGrp="1" noChangeArrowheads="1"/>
          </p:cNvSpPr>
          <p:nvPr>
            <p:ph type="body" idx="1"/>
          </p:nvPr>
        </p:nvSpPr>
        <p:spPr>
          <a:xfrm>
            <a:off x="912814" y="4354514"/>
            <a:ext cx="5030787"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394" tIns="46197" rIns="92394" bIns="46197"/>
          <a:lstStyle/>
          <a:p>
            <a:pPr defTabSz="762000" eaLnBrk="1" hangingPunct="1"/>
            <a:r>
              <a:rPr lang="ko-KR" altLang="en-US" dirty="0"/>
              <a:t>개략적인 설명</a:t>
            </a:r>
          </a:p>
          <a:p>
            <a:pPr defTabSz="762000" eaLnBrk="1" hangingPunct="1"/>
            <a:endParaRPr lang="en-US" altLang="ko-KR" dirty="0"/>
          </a:p>
        </p:txBody>
      </p:sp>
    </p:spTree>
    <p:extLst>
      <p:ext uri="{BB962C8B-B14F-4D97-AF65-F5344CB8AC3E}">
        <p14:creationId xmlns:p14="http://schemas.microsoft.com/office/powerpoint/2010/main" val="309105966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14DF8584-0DC1-41AD-BCE1-59540F26C03C}" type="slidenum">
              <a:rPr lang="en-US" altLang="ko-KR" smtClean="0"/>
              <a:pPr eaLnBrk="1" hangingPunct="1">
                <a:spcBef>
                  <a:spcPct val="0"/>
                </a:spcBef>
              </a:pPr>
              <a:t>241</a:t>
            </a:fld>
            <a:endParaRPr lang="en-US" altLang="ko-KR" dirty="0"/>
          </a:p>
        </p:txBody>
      </p:sp>
      <p:sp>
        <p:nvSpPr>
          <p:cNvPr id="44035" name="Rectangle 2"/>
          <p:cNvSpPr>
            <a:spLocks noGrp="1" noRot="1" noChangeAspect="1" noChangeArrowheads="1" noTextEdit="1"/>
          </p:cNvSpPr>
          <p:nvPr>
            <p:ph type="sldImg"/>
          </p:nvPr>
        </p:nvSpPr>
        <p:spPr>
          <a:xfrm>
            <a:off x="893763" y="309563"/>
            <a:ext cx="5202237" cy="3900487"/>
          </a:xfrm>
          <a:ln/>
        </p:spPr>
      </p:sp>
      <p:sp>
        <p:nvSpPr>
          <p:cNvPr id="44036" name="Rectangle 3"/>
          <p:cNvSpPr>
            <a:spLocks noGrp="1" noChangeArrowheads="1"/>
          </p:cNvSpPr>
          <p:nvPr>
            <p:ph type="body" idx="1"/>
          </p:nvPr>
        </p:nvSpPr>
        <p:spPr>
          <a:xfrm>
            <a:off x="525463" y="4270376"/>
            <a:ext cx="5822950" cy="4187825"/>
          </a:xfrm>
          <a:noFill/>
        </p:spPr>
        <p:txBody>
          <a:bodyPr/>
          <a:lstStyle/>
          <a:p>
            <a:pPr eaLnBrk="1" hangingPunct="1"/>
            <a:r>
              <a:rPr lang="en-US" altLang="ko-KR" b="1" u="sng" dirty="0">
                <a:latin typeface="굴림" charset="-127"/>
                <a:ea typeface="굴림" charset="-127"/>
              </a:rPr>
              <a:t>Facilitator Notes:</a:t>
            </a:r>
          </a:p>
          <a:p>
            <a:pPr eaLnBrk="1" hangingPunct="1"/>
            <a:r>
              <a:rPr lang="en-US" altLang="ko-KR" i="1" dirty="0">
                <a:latin typeface="굴림" charset="-127"/>
                <a:ea typeface="굴림" charset="-127"/>
              </a:rPr>
              <a:t>A combination of these tactics may be required when the results of a process evaluation are unacceptable.</a:t>
            </a:r>
            <a:endParaRPr lang="en-US" altLang="ko-KR" dirty="0">
              <a:latin typeface="굴림" charset="-127"/>
              <a:ea typeface="굴림" charset="-127"/>
            </a:endParaRPr>
          </a:p>
          <a:p>
            <a:pPr eaLnBrk="1" hangingPunct="1"/>
            <a:r>
              <a:rPr lang="en-US" altLang="ko-KR" i="1" dirty="0">
                <a:latin typeface="굴림" charset="-127"/>
                <a:ea typeface="굴림" charset="-127"/>
              </a:rPr>
              <a:t>If the process is not stable to begin with, the first response should be to try to identify and remove the special causes which are the source of the instability.</a:t>
            </a:r>
          </a:p>
          <a:p>
            <a:pPr eaLnBrk="1" hangingPunct="1"/>
            <a:r>
              <a:rPr lang="en-US" altLang="ko-KR" i="1" dirty="0">
                <a:latin typeface="굴림" charset="-127"/>
                <a:ea typeface="굴림" charset="-127"/>
              </a:rPr>
              <a:t>Centering an incapable process will help minimize the proportion that is out-of-specification.   Sometimes it helps to know whether product out of specification in one direction is scrap, and out of spec in the other direction is only rework.   If the process dispersion is less than the specification width, but the process is poorly centered, centering it may make the results acceptable, even if the process should </a:t>
            </a:r>
            <a:r>
              <a:rPr lang="en-US" altLang="ko-KR" i="1" dirty="0">
                <a:latin typeface="Arial" charset="0"/>
                <a:ea typeface="굴림" charset="-127"/>
              </a:rPr>
              <a:t>“</a:t>
            </a:r>
            <a:r>
              <a:rPr lang="en-US" altLang="ko-KR" i="1" dirty="0">
                <a:latin typeface="굴림" charset="-127"/>
                <a:ea typeface="굴림" charset="-127"/>
              </a:rPr>
              <a:t>stray</a:t>
            </a:r>
            <a:r>
              <a:rPr lang="en-US" altLang="ko-KR" i="1" dirty="0">
                <a:latin typeface="Arial" charset="0"/>
                <a:ea typeface="굴림" charset="-127"/>
              </a:rPr>
              <a:t>”</a:t>
            </a:r>
            <a:r>
              <a:rPr lang="en-US" altLang="ko-KR" i="1" dirty="0">
                <a:latin typeface="굴림" charset="-127"/>
                <a:ea typeface="굴림" charset="-127"/>
              </a:rPr>
              <a:t> a bit later on.</a:t>
            </a:r>
          </a:p>
          <a:p>
            <a:pPr eaLnBrk="1" hangingPunct="1"/>
            <a:r>
              <a:rPr lang="en-US" altLang="ko-KR" i="1" dirty="0">
                <a:latin typeface="굴림" charset="-127"/>
                <a:ea typeface="굴림" charset="-127"/>
              </a:rPr>
              <a:t>Occasionally the specifications may be changed without harm to customer satisfaction.</a:t>
            </a:r>
          </a:p>
          <a:p>
            <a:pPr eaLnBrk="1" hangingPunct="1"/>
            <a:r>
              <a:rPr lang="en-US" altLang="ko-KR" i="1" dirty="0">
                <a:latin typeface="굴림" charset="-127"/>
                <a:ea typeface="굴림" charset="-127"/>
              </a:rPr>
              <a:t>Reducing process dispersion is generally more difficult than shifting its mean, and may amount essentially to the next option, which is changing the process by changing some major process element (buying a new machine, installing a new measurement system, procuring new raw materials).</a:t>
            </a:r>
          </a:p>
          <a:p>
            <a:pPr eaLnBrk="1" hangingPunct="1"/>
            <a:r>
              <a:rPr lang="en-US" altLang="ko-KR" i="1" dirty="0">
                <a:latin typeface="굴림" charset="-127"/>
                <a:ea typeface="굴림" charset="-127"/>
              </a:rPr>
              <a:t>Deming suggested that if, in the end, you cannot do it right, find someone who can and buy from them.   This would be the most extreme choice.</a:t>
            </a:r>
          </a:p>
        </p:txBody>
      </p:sp>
    </p:spTree>
    <p:extLst>
      <p:ext uri="{BB962C8B-B14F-4D97-AF65-F5344CB8AC3E}">
        <p14:creationId xmlns:p14="http://schemas.microsoft.com/office/powerpoint/2010/main" val="321456322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p:spPr>
        <p:txBody>
          <a:bodyPr/>
          <a:lstStyle>
            <a:lvl1pPr eaLnBrk="0" hangingPunct="0">
              <a:spcBef>
                <a:spcPct val="30000"/>
              </a:spcBef>
              <a:defRPr kumimoji="1" sz="1200">
                <a:solidFill>
                  <a:schemeClr val="tx1"/>
                </a:solidFill>
                <a:latin typeface="굴림" charset="-127"/>
                <a:ea typeface="굴림" charset="-127"/>
              </a:defRPr>
            </a:lvl1pPr>
            <a:lvl2pPr marL="742950" indent="-285750" eaLnBrk="0" hangingPunct="0">
              <a:spcBef>
                <a:spcPct val="30000"/>
              </a:spcBef>
              <a:defRPr kumimoji="1" sz="1200">
                <a:solidFill>
                  <a:schemeClr val="tx1"/>
                </a:solidFill>
                <a:latin typeface="굴림" charset="-127"/>
                <a:ea typeface="굴림" charset="-127"/>
              </a:defRPr>
            </a:lvl2pPr>
            <a:lvl3pPr marL="1143000" indent="-228600" eaLnBrk="0" hangingPunct="0">
              <a:spcBef>
                <a:spcPct val="30000"/>
              </a:spcBef>
              <a:defRPr kumimoji="1" sz="1200">
                <a:solidFill>
                  <a:schemeClr val="tx1"/>
                </a:solidFill>
                <a:latin typeface="굴림" charset="-127"/>
                <a:ea typeface="굴림" charset="-127"/>
              </a:defRPr>
            </a:lvl3pPr>
            <a:lvl4pPr marL="1600200" indent="-228600" eaLnBrk="0" hangingPunct="0">
              <a:spcBef>
                <a:spcPct val="30000"/>
              </a:spcBef>
              <a:defRPr kumimoji="1" sz="1200">
                <a:solidFill>
                  <a:schemeClr val="tx1"/>
                </a:solidFill>
                <a:latin typeface="굴림" charset="-127"/>
                <a:ea typeface="굴림" charset="-127"/>
              </a:defRPr>
            </a:lvl4pPr>
            <a:lvl5pPr marL="2057400" indent="-228600" eaLnBrk="0" hangingPunct="0">
              <a:spcBef>
                <a:spcPct val="30000"/>
              </a:spcBef>
              <a:defRPr kumimoji="1" sz="1200">
                <a:solidFill>
                  <a:schemeClr val="tx1"/>
                </a:solidFill>
                <a:latin typeface="굴림" charset="-127"/>
                <a:ea typeface="굴림" charset="-127"/>
              </a:defRPr>
            </a:lvl5pPr>
            <a:lvl6pPr marL="2514600" indent="-228600" eaLnBrk="0" fontAlgn="base" hangingPunct="0">
              <a:spcBef>
                <a:spcPct val="30000"/>
              </a:spcBef>
              <a:spcAft>
                <a:spcPct val="0"/>
              </a:spcAft>
              <a:defRPr kumimoji="1" sz="1200">
                <a:solidFill>
                  <a:schemeClr val="tx1"/>
                </a:solidFill>
                <a:latin typeface="굴림" charset="-127"/>
                <a:ea typeface="굴림" charset="-127"/>
              </a:defRPr>
            </a:lvl6pPr>
            <a:lvl7pPr marL="2971800" indent="-228600" eaLnBrk="0" fontAlgn="base" hangingPunct="0">
              <a:spcBef>
                <a:spcPct val="30000"/>
              </a:spcBef>
              <a:spcAft>
                <a:spcPct val="0"/>
              </a:spcAft>
              <a:defRPr kumimoji="1" sz="1200">
                <a:solidFill>
                  <a:schemeClr val="tx1"/>
                </a:solidFill>
                <a:latin typeface="굴림" charset="-127"/>
                <a:ea typeface="굴림" charset="-127"/>
              </a:defRPr>
            </a:lvl7pPr>
            <a:lvl8pPr marL="3429000" indent="-228600" eaLnBrk="0" fontAlgn="base" hangingPunct="0">
              <a:spcBef>
                <a:spcPct val="30000"/>
              </a:spcBef>
              <a:spcAft>
                <a:spcPct val="0"/>
              </a:spcAft>
              <a:defRPr kumimoji="1" sz="1200">
                <a:solidFill>
                  <a:schemeClr val="tx1"/>
                </a:solidFill>
                <a:latin typeface="굴림" charset="-127"/>
                <a:ea typeface="굴림" charset="-127"/>
              </a:defRPr>
            </a:lvl8pPr>
            <a:lvl9pPr marL="3886200" indent="-228600" eaLnBrk="0" fontAlgn="base" hangingPunct="0">
              <a:spcBef>
                <a:spcPct val="30000"/>
              </a:spcBef>
              <a:spcAft>
                <a:spcPct val="0"/>
              </a:spcAft>
              <a:defRPr kumimoji="1" sz="1200">
                <a:solidFill>
                  <a:schemeClr val="tx1"/>
                </a:solidFill>
                <a:latin typeface="굴림" charset="-127"/>
                <a:ea typeface="굴림" charset="-127"/>
              </a:defRPr>
            </a:lvl9pPr>
          </a:lstStyle>
          <a:p>
            <a:pPr eaLnBrk="1" hangingPunct="1">
              <a:spcBef>
                <a:spcPct val="0"/>
              </a:spcBef>
            </a:pPr>
            <a:fld id="{14DF8584-0DC1-41AD-BCE1-59540F26C03C}" type="slidenum">
              <a:rPr lang="en-US" altLang="ko-KR" smtClean="0"/>
              <a:pPr eaLnBrk="1" hangingPunct="1">
                <a:spcBef>
                  <a:spcPct val="0"/>
                </a:spcBef>
              </a:pPr>
              <a:t>243</a:t>
            </a:fld>
            <a:endParaRPr lang="en-US" altLang="ko-KR" dirty="0"/>
          </a:p>
        </p:txBody>
      </p:sp>
      <p:sp>
        <p:nvSpPr>
          <p:cNvPr id="44035" name="Rectangle 2"/>
          <p:cNvSpPr>
            <a:spLocks noGrp="1" noRot="1" noChangeAspect="1" noChangeArrowheads="1" noTextEdit="1"/>
          </p:cNvSpPr>
          <p:nvPr>
            <p:ph type="sldImg"/>
          </p:nvPr>
        </p:nvSpPr>
        <p:spPr>
          <a:xfrm>
            <a:off x="893763" y="309563"/>
            <a:ext cx="5202237" cy="3900487"/>
          </a:xfrm>
          <a:ln/>
        </p:spPr>
      </p:sp>
      <p:sp>
        <p:nvSpPr>
          <p:cNvPr id="44036" name="Rectangle 3"/>
          <p:cNvSpPr>
            <a:spLocks noGrp="1" noChangeArrowheads="1"/>
          </p:cNvSpPr>
          <p:nvPr>
            <p:ph type="body" idx="1"/>
          </p:nvPr>
        </p:nvSpPr>
        <p:spPr>
          <a:xfrm>
            <a:off x="525463" y="4270376"/>
            <a:ext cx="5822950" cy="4187825"/>
          </a:xfrm>
          <a:noFill/>
        </p:spPr>
        <p:txBody>
          <a:bodyPr/>
          <a:lstStyle/>
          <a:p>
            <a:pPr eaLnBrk="1" hangingPunct="1"/>
            <a:r>
              <a:rPr lang="en-US" altLang="ko-KR" b="1" u="sng" dirty="0">
                <a:latin typeface="굴림" charset="-127"/>
                <a:ea typeface="굴림" charset="-127"/>
              </a:rPr>
              <a:t>Facilitator Notes:</a:t>
            </a:r>
          </a:p>
          <a:p>
            <a:pPr eaLnBrk="1" hangingPunct="1"/>
            <a:r>
              <a:rPr lang="en-US" altLang="ko-KR" i="1" dirty="0">
                <a:latin typeface="굴림" charset="-127"/>
                <a:ea typeface="굴림" charset="-127"/>
              </a:rPr>
              <a:t>A combination of these tactics may be required when the results of a process evaluation are unacceptable.</a:t>
            </a:r>
            <a:endParaRPr lang="en-US" altLang="ko-KR" dirty="0">
              <a:latin typeface="굴림" charset="-127"/>
              <a:ea typeface="굴림" charset="-127"/>
            </a:endParaRPr>
          </a:p>
          <a:p>
            <a:pPr eaLnBrk="1" hangingPunct="1"/>
            <a:r>
              <a:rPr lang="en-US" altLang="ko-KR" i="1" dirty="0">
                <a:latin typeface="굴림" charset="-127"/>
                <a:ea typeface="굴림" charset="-127"/>
              </a:rPr>
              <a:t>If the process is not stable to begin with, the first response should be to try to identify and remove the special causes which are the source of the instability.</a:t>
            </a:r>
          </a:p>
          <a:p>
            <a:pPr eaLnBrk="1" hangingPunct="1"/>
            <a:r>
              <a:rPr lang="en-US" altLang="ko-KR" i="1" dirty="0">
                <a:latin typeface="굴림" charset="-127"/>
                <a:ea typeface="굴림" charset="-127"/>
              </a:rPr>
              <a:t>Centering an incapable process will help minimize the proportion that is out-of-specification.   Sometimes it helps to know whether product out of specification in one direction is scrap, and out of spec in the other direction is only rework.   If the process dispersion is less than the specification width, but the process is poorly centered, centering it may make the results acceptable, even if the process should </a:t>
            </a:r>
            <a:r>
              <a:rPr lang="en-US" altLang="ko-KR" i="1" dirty="0">
                <a:latin typeface="Arial" charset="0"/>
                <a:ea typeface="굴림" charset="-127"/>
              </a:rPr>
              <a:t>“</a:t>
            </a:r>
            <a:r>
              <a:rPr lang="en-US" altLang="ko-KR" i="1" dirty="0">
                <a:latin typeface="굴림" charset="-127"/>
                <a:ea typeface="굴림" charset="-127"/>
              </a:rPr>
              <a:t>stray</a:t>
            </a:r>
            <a:r>
              <a:rPr lang="en-US" altLang="ko-KR" i="1" dirty="0">
                <a:latin typeface="Arial" charset="0"/>
                <a:ea typeface="굴림" charset="-127"/>
              </a:rPr>
              <a:t>”</a:t>
            </a:r>
            <a:r>
              <a:rPr lang="en-US" altLang="ko-KR" i="1" dirty="0">
                <a:latin typeface="굴림" charset="-127"/>
                <a:ea typeface="굴림" charset="-127"/>
              </a:rPr>
              <a:t> a bit later on.</a:t>
            </a:r>
          </a:p>
          <a:p>
            <a:pPr eaLnBrk="1" hangingPunct="1"/>
            <a:r>
              <a:rPr lang="en-US" altLang="ko-KR" i="1" dirty="0">
                <a:latin typeface="굴림" charset="-127"/>
                <a:ea typeface="굴림" charset="-127"/>
              </a:rPr>
              <a:t>Occasionally the specifications may be changed without harm to customer satisfaction.</a:t>
            </a:r>
          </a:p>
          <a:p>
            <a:pPr eaLnBrk="1" hangingPunct="1"/>
            <a:r>
              <a:rPr lang="en-US" altLang="ko-KR" i="1" dirty="0">
                <a:latin typeface="굴림" charset="-127"/>
                <a:ea typeface="굴림" charset="-127"/>
              </a:rPr>
              <a:t>Reducing process dispersion is generally more difficult than shifting its mean, and may amount essentially to the next option, which is changing the process by changing some major process element (buying a new machine, installing a new measurement system, procuring new raw materials).</a:t>
            </a:r>
          </a:p>
          <a:p>
            <a:pPr eaLnBrk="1" hangingPunct="1"/>
            <a:r>
              <a:rPr lang="en-US" altLang="ko-KR" i="1" dirty="0">
                <a:latin typeface="굴림" charset="-127"/>
                <a:ea typeface="굴림" charset="-127"/>
              </a:rPr>
              <a:t>Deming suggested that if, in the end, you cannot do it right, find someone who can and buy from them.   This would be the most extreme choice.</a:t>
            </a:r>
          </a:p>
        </p:txBody>
      </p:sp>
    </p:spTree>
    <p:extLst>
      <p:ext uri="{BB962C8B-B14F-4D97-AF65-F5344CB8AC3E}">
        <p14:creationId xmlns:p14="http://schemas.microsoft.com/office/powerpoint/2010/main" val="31331058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249</a:t>
            </a:fld>
            <a:endParaRPr lang="ko-KR" altLang="en-US">
              <a:solidFill>
                <a:prstClr val="black"/>
              </a:solidFill>
            </a:endParaRPr>
          </a:p>
        </p:txBody>
      </p:sp>
    </p:spTree>
    <p:extLst>
      <p:ext uri="{BB962C8B-B14F-4D97-AF65-F5344CB8AC3E}">
        <p14:creationId xmlns:p14="http://schemas.microsoft.com/office/powerpoint/2010/main" val="15814226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251</a:t>
            </a:fld>
            <a:endParaRPr lang="ko-KR" altLang="en-US">
              <a:solidFill>
                <a:prstClr val="black"/>
              </a:solidFill>
            </a:endParaRPr>
          </a:p>
        </p:txBody>
      </p:sp>
    </p:spTree>
    <p:extLst>
      <p:ext uri="{BB962C8B-B14F-4D97-AF65-F5344CB8AC3E}">
        <p14:creationId xmlns:p14="http://schemas.microsoft.com/office/powerpoint/2010/main" val="17082969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252</a:t>
            </a:fld>
            <a:endParaRPr lang="ko-KR" altLang="en-US">
              <a:solidFill>
                <a:prstClr val="black"/>
              </a:solidFill>
            </a:endParaRPr>
          </a:p>
        </p:txBody>
      </p:sp>
    </p:spTree>
    <p:extLst>
      <p:ext uri="{BB962C8B-B14F-4D97-AF65-F5344CB8AC3E}">
        <p14:creationId xmlns:p14="http://schemas.microsoft.com/office/powerpoint/2010/main" val="111975747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253</a:t>
            </a:fld>
            <a:endParaRPr lang="ko-KR" altLang="en-US">
              <a:solidFill>
                <a:prstClr val="black"/>
              </a:solidFill>
            </a:endParaRPr>
          </a:p>
        </p:txBody>
      </p:sp>
    </p:spTree>
    <p:extLst>
      <p:ext uri="{BB962C8B-B14F-4D97-AF65-F5344CB8AC3E}">
        <p14:creationId xmlns:p14="http://schemas.microsoft.com/office/powerpoint/2010/main" val="312454657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254</a:t>
            </a:fld>
            <a:endParaRPr lang="ko-KR" altLang="en-US">
              <a:solidFill>
                <a:prstClr val="black"/>
              </a:solidFill>
            </a:endParaRPr>
          </a:p>
        </p:txBody>
      </p:sp>
    </p:spTree>
    <p:extLst>
      <p:ext uri="{BB962C8B-B14F-4D97-AF65-F5344CB8AC3E}">
        <p14:creationId xmlns:p14="http://schemas.microsoft.com/office/powerpoint/2010/main" val="40747543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255</a:t>
            </a:fld>
            <a:endParaRPr lang="ko-KR" altLang="en-US">
              <a:solidFill>
                <a:prstClr val="black"/>
              </a:solidFill>
            </a:endParaRPr>
          </a:p>
        </p:txBody>
      </p:sp>
    </p:spTree>
    <p:extLst>
      <p:ext uri="{BB962C8B-B14F-4D97-AF65-F5344CB8AC3E}">
        <p14:creationId xmlns:p14="http://schemas.microsoft.com/office/powerpoint/2010/main" val="53731348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256</a:t>
            </a:fld>
            <a:endParaRPr lang="ko-KR" altLang="en-US">
              <a:solidFill>
                <a:prstClr val="black"/>
              </a:solidFill>
            </a:endParaRPr>
          </a:p>
        </p:txBody>
      </p:sp>
    </p:spTree>
    <p:extLst>
      <p:ext uri="{BB962C8B-B14F-4D97-AF65-F5344CB8AC3E}">
        <p14:creationId xmlns:p14="http://schemas.microsoft.com/office/powerpoint/2010/main" val="383871587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2B9D14C7-3501-4DD6-8812-B6A1C4245CE1}" type="slidenum">
              <a:rPr lang="ko-KR" altLang="en-US" smtClean="0">
                <a:solidFill>
                  <a:prstClr val="black"/>
                </a:solidFill>
              </a:rPr>
              <a:pPr>
                <a:defRPr/>
              </a:pPr>
              <a:t>258</a:t>
            </a:fld>
            <a:endParaRPr lang="ko-KR" altLang="en-US">
              <a:solidFill>
                <a:prstClr val="black"/>
              </a:solidFill>
            </a:endParaRPr>
          </a:p>
        </p:txBody>
      </p:sp>
    </p:spTree>
    <p:extLst>
      <p:ext uri="{BB962C8B-B14F-4D97-AF65-F5344CB8AC3E}">
        <p14:creationId xmlns:p14="http://schemas.microsoft.com/office/powerpoint/2010/main" val="348457128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defRPr/>
            </a:pPr>
            <a:r>
              <a:rPr lang="en-US" altLang="ko-KR" dirty="0">
                <a:latin typeface="+mn-ea"/>
              </a:rPr>
              <a:t>.</a:t>
            </a: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F2E1689F-4B69-4E13-B87B-9DBDD3AEDDD8}" type="slidenum">
              <a:rPr lang="ko-KR" altLang="en-US" smtClean="0">
                <a:solidFill>
                  <a:prstClr val="black"/>
                </a:solidFill>
              </a:rPr>
              <a:pPr>
                <a:defRPr/>
              </a:pPr>
              <a:t>261</a:t>
            </a:fld>
            <a:endParaRPr lang="ko-KR" altLang="en-US" dirty="0">
              <a:solidFill>
                <a:prstClr val="black"/>
              </a:solidFill>
            </a:endParaRPr>
          </a:p>
        </p:txBody>
      </p:sp>
    </p:spTree>
    <p:extLst>
      <p:ext uri="{BB962C8B-B14F-4D97-AF65-F5344CB8AC3E}">
        <p14:creationId xmlns:p14="http://schemas.microsoft.com/office/powerpoint/2010/main" val="125143557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슬라이드 노트 개체 틀 2"/>
          <p:cNvSpPr>
            <a:spLocks noGrp="1"/>
          </p:cNvSpPr>
          <p:nvPr>
            <p:ph type="body" idx="1"/>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defRPr/>
            </a:pPr>
            <a:r>
              <a:rPr lang="en-US" altLang="ko-KR" dirty="0">
                <a:latin typeface="+mn-ea"/>
              </a:rPr>
              <a:t>.</a:t>
            </a:r>
            <a:endParaRPr lang="en-US" altLang="ko-KR"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F2E1689F-4B69-4E13-B87B-9DBDD3AEDDD8}" type="slidenum">
              <a:rPr lang="ko-KR" altLang="en-US" smtClean="0">
                <a:solidFill>
                  <a:prstClr val="black"/>
                </a:solidFill>
              </a:rPr>
              <a:pPr>
                <a:defRPr/>
              </a:pPr>
              <a:t>263</a:t>
            </a:fld>
            <a:endParaRPr lang="ko-KR" altLang="en-US" dirty="0">
              <a:solidFill>
                <a:prstClr val="black"/>
              </a:solidFill>
            </a:endParaRPr>
          </a:p>
        </p:txBody>
      </p:sp>
    </p:spTree>
    <p:extLst>
      <p:ext uri="{BB962C8B-B14F-4D97-AF65-F5344CB8AC3E}">
        <p14:creationId xmlns:p14="http://schemas.microsoft.com/office/powerpoint/2010/main" val="164088101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944764B6-CB72-43E4-994A-6400C6473EE7}" type="slidenum">
              <a:rPr lang="ko-KR" altLang="en-US" smtClean="0">
                <a:solidFill>
                  <a:prstClr val="black"/>
                </a:solidFill>
              </a:rPr>
              <a:pPr>
                <a:defRPr/>
              </a:pPr>
              <a:t>264</a:t>
            </a:fld>
            <a:endParaRPr lang="ko-KR" altLang="en-US" dirty="0">
              <a:solidFill>
                <a:prstClr val="black"/>
              </a:solidFill>
            </a:endParaRPr>
          </a:p>
        </p:txBody>
      </p:sp>
    </p:spTree>
    <p:extLst>
      <p:ext uri="{BB962C8B-B14F-4D97-AF65-F5344CB8AC3E}">
        <p14:creationId xmlns:p14="http://schemas.microsoft.com/office/powerpoint/2010/main" val="377303551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ko-KR" altLang="en-US" dirty="0"/>
          </a:p>
        </p:txBody>
      </p:sp>
      <p:sp>
        <p:nvSpPr>
          <p:cNvPr id="36868" name="슬라이드 번호 개체 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944764B6-CB72-43E4-994A-6400C6473EE7}" type="slidenum">
              <a:rPr lang="ko-KR" altLang="en-US" smtClean="0">
                <a:solidFill>
                  <a:prstClr val="black"/>
                </a:solidFill>
              </a:rPr>
              <a:pPr>
                <a:defRPr/>
              </a:pPr>
              <a:t>266</a:t>
            </a:fld>
            <a:endParaRPr lang="ko-KR" altLang="en-US" dirty="0">
              <a:solidFill>
                <a:prstClr val="black"/>
              </a:solidFill>
            </a:endParaRPr>
          </a:p>
        </p:txBody>
      </p:sp>
    </p:spTree>
    <p:extLst>
      <p:ext uri="{BB962C8B-B14F-4D97-AF65-F5344CB8AC3E}">
        <p14:creationId xmlns:p14="http://schemas.microsoft.com/office/powerpoint/2010/main" val="426653971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CE6B3985-E46E-4DF2-BDA7-5B7A6DFC3622}" type="slidenum">
              <a:rPr lang="ko-KR" altLang="en-US" smtClean="0">
                <a:solidFill>
                  <a:prstClr val="black"/>
                </a:solidFill>
              </a:rPr>
              <a:pPr>
                <a:defRPr/>
              </a:pPr>
              <a:t>292</a:t>
            </a:fld>
            <a:endParaRPr lang="ko-KR" altLang="en-US" dirty="0">
              <a:solidFill>
                <a:prstClr val="black"/>
              </a:solidFill>
            </a:endParaRPr>
          </a:p>
        </p:txBody>
      </p:sp>
    </p:spTree>
    <p:extLst>
      <p:ext uri="{BB962C8B-B14F-4D97-AF65-F5344CB8AC3E}">
        <p14:creationId xmlns:p14="http://schemas.microsoft.com/office/powerpoint/2010/main" val="289290232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CE6B3985-E46E-4DF2-BDA7-5B7A6DFC3622}" type="slidenum">
              <a:rPr lang="ko-KR" altLang="en-US" smtClean="0">
                <a:solidFill>
                  <a:prstClr val="black"/>
                </a:solidFill>
              </a:rPr>
              <a:pPr>
                <a:defRPr/>
              </a:pPr>
              <a:t>294</a:t>
            </a:fld>
            <a:endParaRPr lang="ko-KR" altLang="en-US" dirty="0">
              <a:solidFill>
                <a:prstClr val="black"/>
              </a:solidFill>
            </a:endParaRPr>
          </a:p>
        </p:txBody>
      </p:sp>
    </p:spTree>
    <p:extLst>
      <p:ext uri="{BB962C8B-B14F-4D97-AF65-F5344CB8AC3E}">
        <p14:creationId xmlns:p14="http://schemas.microsoft.com/office/powerpoint/2010/main" val="39960666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A02521E6-F07B-400F-968F-2EF69FDC9698}" type="slidenum">
              <a:rPr lang="ko-KR" altLang="en-US" smtClean="0">
                <a:solidFill>
                  <a:prstClr val="black"/>
                </a:solidFill>
              </a:rPr>
              <a:pPr>
                <a:defRPr/>
              </a:pPr>
              <a:t>296</a:t>
            </a:fld>
            <a:endParaRPr lang="ko-KR" altLang="en-US" dirty="0">
              <a:solidFill>
                <a:prstClr val="black"/>
              </a:solidFill>
            </a:endParaRPr>
          </a:p>
        </p:txBody>
      </p:sp>
    </p:spTree>
    <p:extLst>
      <p:ext uri="{BB962C8B-B14F-4D97-AF65-F5344CB8AC3E}">
        <p14:creationId xmlns:p14="http://schemas.microsoft.com/office/powerpoint/2010/main" val="219661775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82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B22D9792-2377-4AAD-AB10-2FE576E0702A}" type="slidenum">
              <a:rPr lang="ko-KR" altLang="en-US" smtClean="0">
                <a:solidFill>
                  <a:prstClr val="black"/>
                </a:solidFill>
              </a:rPr>
              <a:pPr>
                <a:defRPr/>
              </a:pPr>
              <a:t>297</a:t>
            </a:fld>
            <a:endParaRPr lang="ko-KR" altLang="en-US" dirty="0">
              <a:solidFill>
                <a:prstClr val="black"/>
              </a:solidFill>
            </a:endParaRPr>
          </a:p>
        </p:txBody>
      </p:sp>
    </p:spTree>
    <p:extLst>
      <p:ext uri="{BB962C8B-B14F-4D97-AF65-F5344CB8AC3E}">
        <p14:creationId xmlns:p14="http://schemas.microsoft.com/office/powerpoint/2010/main" val="23117604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A02521E6-F07B-400F-968F-2EF69FDC9698}" type="slidenum">
              <a:rPr lang="ko-KR" altLang="en-US" smtClean="0">
                <a:solidFill>
                  <a:prstClr val="black"/>
                </a:solidFill>
              </a:rPr>
              <a:pPr>
                <a:defRPr/>
              </a:pPr>
              <a:t>298</a:t>
            </a:fld>
            <a:endParaRPr lang="ko-KR" altLang="en-US" dirty="0">
              <a:solidFill>
                <a:prstClr val="black"/>
              </a:solidFill>
            </a:endParaRPr>
          </a:p>
        </p:txBody>
      </p:sp>
    </p:spTree>
    <p:extLst>
      <p:ext uri="{BB962C8B-B14F-4D97-AF65-F5344CB8AC3E}">
        <p14:creationId xmlns:p14="http://schemas.microsoft.com/office/powerpoint/2010/main" val="429329690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82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B22D9792-2377-4AAD-AB10-2FE576E0702A}" type="slidenum">
              <a:rPr lang="ko-KR" altLang="en-US" smtClean="0">
                <a:solidFill>
                  <a:prstClr val="black"/>
                </a:solidFill>
              </a:rPr>
              <a:pPr>
                <a:defRPr/>
              </a:pPr>
              <a:t>299</a:t>
            </a:fld>
            <a:endParaRPr lang="ko-KR" altLang="en-US" dirty="0">
              <a:solidFill>
                <a:prstClr val="black"/>
              </a:solidFill>
            </a:endParaRPr>
          </a:p>
        </p:txBody>
      </p:sp>
    </p:spTree>
    <p:extLst>
      <p:ext uri="{BB962C8B-B14F-4D97-AF65-F5344CB8AC3E}">
        <p14:creationId xmlns:p14="http://schemas.microsoft.com/office/powerpoint/2010/main" val="307253606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FAC3499A-9323-4D31-8867-5D3EA4DD629A}" type="slidenum">
              <a:rPr lang="ko-KR" altLang="en-US" smtClean="0">
                <a:solidFill>
                  <a:prstClr val="black"/>
                </a:solidFill>
              </a:rPr>
              <a:pPr>
                <a:defRPr/>
              </a:pPr>
              <a:t>300</a:t>
            </a:fld>
            <a:endParaRPr lang="ko-KR" altLang="en-US" dirty="0">
              <a:solidFill>
                <a:prstClr val="black"/>
              </a:solidFill>
            </a:endParaRPr>
          </a:p>
        </p:txBody>
      </p:sp>
    </p:spTree>
    <p:extLst>
      <p:ext uri="{BB962C8B-B14F-4D97-AF65-F5344CB8AC3E}">
        <p14:creationId xmlns:p14="http://schemas.microsoft.com/office/powerpoint/2010/main" val="206823552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98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151E2740-48A8-4F6A-81B9-A196E9257854}" type="slidenum">
              <a:rPr lang="ko-KR" altLang="en-US" smtClean="0">
                <a:solidFill>
                  <a:prstClr val="black"/>
                </a:solidFill>
              </a:rPr>
              <a:pPr>
                <a:defRPr/>
              </a:pPr>
              <a:t>301</a:t>
            </a:fld>
            <a:endParaRPr lang="ko-KR" altLang="en-US" dirty="0">
              <a:solidFill>
                <a:prstClr val="black"/>
              </a:solidFill>
            </a:endParaRPr>
          </a:p>
        </p:txBody>
      </p:sp>
    </p:spTree>
    <p:extLst>
      <p:ext uri="{BB962C8B-B14F-4D97-AF65-F5344CB8AC3E}">
        <p14:creationId xmlns:p14="http://schemas.microsoft.com/office/powerpoint/2010/main" val="318825095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1"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FAC3499A-9323-4D31-8867-5D3EA4DD629A}" type="slidenum">
              <a:rPr lang="ko-KR" altLang="en-US" smtClean="0">
                <a:solidFill>
                  <a:prstClr val="black"/>
                </a:solidFill>
              </a:rPr>
              <a:pPr>
                <a:defRPr/>
              </a:pPr>
              <a:t>302</a:t>
            </a:fld>
            <a:endParaRPr lang="ko-KR" altLang="en-US" dirty="0">
              <a:solidFill>
                <a:prstClr val="black"/>
              </a:solidFill>
            </a:endParaRPr>
          </a:p>
        </p:txBody>
      </p:sp>
    </p:spTree>
    <p:extLst>
      <p:ext uri="{BB962C8B-B14F-4D97-AF65-F5344CB8AC3E}">
        <p14:creationId xmlns:p14="http://schemas.microsoft.com/office/powerpoint/2010/main" val="296729305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987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151E2740-48A8-4F6A-81B9-A196E9257854}" type="slidenum">
              <a:rPr lang="ko-KR" altLang="en-US" smtClean="0">
                <a:solidFill>
                  <a:prstClr val="black"/>
                </a:solidFill>
              </a:rPr>
              <a:pPr>
                <a:defRPr/>
              </a:pPr>
              <a:t>303</a:t>
            </a:fld>
            <a:endParaRPr lang="ko-KR" altLang="en-US" dirty="0">
              <a:solidFill>
                <a:prstClr val="black"/>
              </a:solidFill>
            </a:endParaRPr>
          </a:p>
        </p:txBody>
      </p:sp>
    </p:spTree>
    <p:extLst>
      <p:ext uri="{BB962C8B-B14F-4D97-AF65-F5344CB8AC3E}">
        <p14:creationId xmlns:p14="http://schemas.microsoft.com/office/powerpoint/2010/main" val="218084427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45FD0B04-F443-4549-9BEC-261A047AC410}" type="slidenum">
              <a:rPr lang="ko-KR" altLang="en-US" smtClean="0">
                <a:solidFill>
                  <a:prstClr val="black"/>
                </a:solidFill>
              </a:rPr>
              <a:pPr>
                <a:defRPr/>
              </a:pPr>
              <a:t>304</a:t>
            </a:fld>
            <a:endParaRPr lang="ko-KR" altLang="en-US" dirty="0">
              <a:solidFill>
                <a:prstClr val="black"/>
              </a:solidFill>
            </a:endParaRPr>
          </a:p>
        </p:txBody>
      </p:sp>
    </p:spTree>
    <p:extLst>
      <p:ext uri="{BB962C8B-B14F-4D97-AF65-F5344CB8AC3E}">
        <p14:creationId xmlns:p14="http://schemas.microsoft.com/office/powerpoint/2010/main" val="142990538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8C291316-39C8-4D62-9786-2FD902C7B3BB}" type="slidenum">
              <a:rPr lang="ko-KR" altLang="en-US" smtClean="0">
                <a:solidFill>
                  <a:prstClr val="black"/>
                </a:solidFill>
              </a:rPr>
              <a:pPr>
                <a:defRPr/>
              </a:pPr>
              <a:t>305</a:t>
            </a:fld>
            <a:endParaRPr lang="ko-KR" altLang="en-US" dirty="0">
              <a:solidFill>
                <a:prstClr val="black"/>
              </a:solidFill>
            </a:endParaRPr>
          </a:p>
        </p:txBody>
      </p:sp>
    </p:spTree>
    <p:extLst>
      <p:ext uri="{BB962C8B-B14F-4D97-AF65-F5344CB8AC3E}">
        <p14:creationId xmlns:p14="http://schemas.microsoft.com/office/powerpoint/2010/main" val="409643336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9"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45FD0B04-F443-4549-9BEC-261A047AC410}" type="slidenum">
              <a:rPr lang="ko-KR" altLang="en-US" smtClean="0">
                <a:solidFill>
                  <a:prstClr val="black"/>
                </a:solidFill>
              </a:rPr>
              <a:pPr>
                <a:defRPr/>
              </a:pPr>
              <a:t>306</a:t>
            </a:fld>
            <a:endParaRPr lang="ko-KR" altLang="en-US" dirty="0">
              <a:solidFill>
                <a:prstClr val="black"/>
              </a:solidFill>
            </a:endParaRPr>
          </a:p>
        </p:txBody>
      </p:sp>
    </p:spTree>
    <p:extLst>
      <p:ext uri="{BB962C8B-B14F-4D97-AF65-F5344CB8AC3E}">
        <p14:creationId xmlns:p14="http://schemas.microsoft.com/office/powerpoint/2010/main" val="296944675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8C291316-39C8-4D62-9786-2FD902C7B3BB}" type="slidenum">
              <a:rPr lang="ko-KR" altLang="en-US" smtClean="0">
                <a:solidFill>
                  <a:prstClr val="black"/>
                </a:solidFill>
              </a:rPr>
              <a:pPr>
                <a:defRPr/>
              </a:pPr>
              <a:t>307</a:t>
            </a:fld>
            <a:endParaRPr lang="ko-KR" altLang="en-US" dirty="0">
              <a:solidFill>
                <a:prstClr val="black"/>
              </a:solidFill>
            </a:endParaRPr>
          </a:p>
        </p:txBody>
      </p:sp>
    </p:spTree>
    <p:extLst>
      <p:ext uri="{BB962C8B-B14F-4D97-AF65-F5344CB8AC3E}">
        <p14:creationId xmlns:p14="http://schemas.microsoft.com/office/powerpoint/2010/main" val="150728824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294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86C3F311-5543-4DBE-BD3C-86EBF08FEF77}" type="slidenum">
              <a:rPr lang="ko-KR" altLang="en-US" smtClean="0">
                <a:solidFill>
                  <a:prstClr val="black"/>
                </a:solidFill>
              </a:rPr>
              <a:pPr>
                <a:defRPr/>
              </a:pPr>
              <a:t>308</a:t>
            </a:fld>
            <a:endParaRPr lang="ko-KR" altLang="en-US" dirty="0">
              <a:solidFill>
                <a:prstClr val="black"/>
              </a:solidFill>
            </a:endParaRPr>
          </a:p>
        </p:txBody>
      </p:sp>
    </p:spTree>
    <p:extLst>
      <p:ext uri="{BB962C8B-B14F-4D97-AF65-F5344CB8AC3E}">
        <p14:creationId xmlns:p14="http://schemas.microsoft.com/office/powerpoint/2010/main" val="27861227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슬라이드 이미지 개체 틀 1"/>
          <p:cNvSpPr>
            <a:spLocks noGrp="1" noRot="1" noChangeAspect="1" noTextEdit="1"/>
          </p:cNvSpPr>
          <p:nvPr>
            <p:ph type="sldImg"/>
          </p:nvPr>
        </p:nvSpPr>
        <p:spPr bwMode="auto">
          <a:xfrm>
            <a:off x="1143000"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2947"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4" name="슬라이드 번호 개체 틀 3"/>
          <p:cNvSpPr>
            <a:spLocks noGrp="1"/>
          </p:cNvSpPr>
          <p:nvPr>
            <p:ph type="sldNum" sz="quarter" idx="5"/>
          </p:nvPr>
        </p:nvSpPr>
        <p:spPr/>
        <p:txBody>
          <a:bodyPr/>
          <a:lstStyle/>
          <a:p>
            <a:pPr>
              <a:defRPr/>
            </a:pPr>
            <a:fld id="{86C3F311-5543-4DBE-BD3C-86EBF08FEF77}" type="slidenum">
              <a:rPr lang="ko-KR" altLang="en-US" smtClean="0">
                <a:solidFill>
                  <a:prstClr val="black"/>
                </a:solidFill>
              </a:rPr>
              <a:pPr>
                <a:defRPr/>
              </a:pPr>
              <a:t>310</a:t>
            </a:fld>
            <a:endParaRPr lang="ko-KR" altLang="en-US" dirty="0">
              <a:solidFill>
                <a:prstClr val="black"/>
              </a:solidFill>
            </a:endParaRPr>
          </a:p>
        </p:txBody>
      </p:sp>
    </p:spTree>
    <p:extLst>
      <p:ext uri="{BB962C8B-B14F-4D97-AF65-F5344CB8AC3E}">
        <p14:creationId xmlns:p14="http://schemas.microsoft.com/office/powerpoint/2010/main" val="276791059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제목 슬라이드">
    <p:spTree>
      <p:nvGrpSpPr>
        <p:cNvPr id="1" name=""/>
        <p:cNvGrpSpPr/>
        <p:nvPr/>
      </p:nvGrpSpPr>
      <p:grpSpPr>
        <a:xfrm>
          <a:off x="0" y="0"/>
          <a:ext cx="0" cy="0"/>
          <a:chOff x="0" y="0"/>
          <a:chExt cx="0" cy="0"/>
        </a:xfrm>
      </p:grpSpPr>
      <p:pic>
        <p:nvPicPr>
          <p:cNvPr id="7"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cxnSp>
        <p:nvCxnSpPr>
          <p:cNvPr id="8" name="직선 연결선 7"/>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extLst>
      <p:ext uri="{BB962C8B-B14F-4D97-AF65-F5344CB8AC3E}">
        <p14:creationId xmlns:p14="http://schemas.microsoft.com/office/powerpoint/2010/main" val="257325923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6_제목 슬라이드">
    <p:spTree>
      <p:nvGrpSpPr>
        <p:cNvPr id="1" name=""/>
        <p:cNvGrpSpPr/>
        <p:nvPr/>
      </p:nvGrpSpPr>
      <p:grpSpPr>
        <a:xfrm>
          <a:off x="0" y="0"/>
          <a:ext cx="0" cy="0"/>
          <a:chOff x="0" y="0"/>
          <a:chExt cx="0" cy="0"/>
        </a:xfrm>
      </p:grpSpPr>
      <p:pic>
        <p:nvPicPr>
          <p:cNvPr id="7"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cxnSp>
        <p:nvCxnSpPr>
          <p:cNvPr id="8" name="직선 연결선 7"/>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extLst>
      <p:ext uri="{BB962C8B-B14F-4D97-AF65-F5344CB8AC3E}">
        <p14:creationId xmlns:p14="http://schemas.microsoft.com/office/powerpoint/2010/main" val="25732592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제목 슬라이드">
    <p:spTree>
      <p:nvGrpSpPr>
        <p:cNvPr id="1" name=""/>
        <p:cNvGrpSpPr/>
        <p:nvPr/>
      </p:nvGrpSpPr>
      <p:grpSpPr>
        <a:xfrm>
          <a:off x="0" y="0"/>
          <a:ext cx="0" cy="0"/>
          <a:chOff x="0" y="0"/>
          <a:chExt cx="0" cy="0"/>
        </a:xfrm>
      </p:grpSpPr>
      <p:pic>
        <p:nvPicPr>
          <p:cNvPr id="7"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cxnSp>
        <p:nvCxnSpPr>
          <p:cNvPr id="8" name="직선 연결선 7"/>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extLst>
      <p:ext uri="{BB962C8B-B14F-4D97-AF65-F5344CB8AC3E}">
        <p14:creationId xmlns:p14="http://schemas.microsoft.com/office/powerpoint/2010/main" val="257325923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_제목 슬라이드">
    <p:spTree>
      <p:nvGrpSpPr>
        <p:cNvPr id="1" name=""/>
        <p:cNvGrpSpPr/>
        <p:nvPr/>
      </p:nvGrpSpPr>
      <p:grpSpPr>
        <a:xfrm>
          <a:off x="0" y="0"/>
          <a:ext cx="0" cy="0"/>
          <a:chOff x="0" y="0"/>
          <a:chExt cx="0" cy="0"/>
        </a:xfrm>
      </p:grpSpPr>
      <p:pic>
        <p:nvPicPr>
          <p:cNvPr id="7"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cxnSp>
        <p:nvCxnSpPr>
          <p:cNvPr id="8" name="직선 연결선 7"/>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extLst>
      <p:ext uri="{BB962C8B-B14F-4D97-AF65-F5344CB8AC3E}">
        <p14:creationId xmlns:p14="http://schemas.microsoft.com/office/powerpoint/2010/main" val="257325923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5"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5_제목 슬라이드">
    <p:spTree>
      <p:nvGrpSpPr>
        <p:cNvPr id="1" name=""/>
        <p:cNvGrpSpPr/>
        <p:nvPr/>
      </p:nvGrpSpPr>
      <p:grpSpPr>
        <a:xfrm>
          <a:off x="0" y="0"/>
          <a:ext cx="0" cy="0"/>
          <a:chOff x="0" y="0"/>
          <a:chExt cx="0" cy="0"/>
        </a:xfrm>
      </p:grpSpPr>
      <p:pic>
        <p:nvPicPr>
          <p:cNvPr id="7"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cxnSp>
        <p:nvCxnSpPr>
          <p:cNvPr id="8" name="직선 연결선 7"/>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extLst>
      <p:ext uri="{BB962C8B-B14F-4D97-AF65-F5344CB8AC3E}">
        <p14:creationId xmlns:p14="http://schemas.microsoft.com/office/powerpoint/2010/main" val="257325923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본문 슬라이드">
    <p:spTree>
      <p:nvGrpSpPr>
        <p:cNvPr id="1" name=""/>
        <p:cNvGrpSpPr/>
        <p:nvPr/>
      </p:nvGrpSpPr>
      <p:grpSpPr>
        <a:xfrm>
          <a:off x="0" y="0"/>
          <a:ext cx="0" cy="0"/>
          <a:chOff x="0" y="0"/>
          <a:chExt cx="0" cy="0"/>
        </a:xfrm>
      </p:grpSpPr>
      <p:pic>
        <p:nvPicPr>
          <p:cNvPr id="2"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sp>
        <p:nvSpPr>
          <p:cNvPr id="6"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cxnSp>
        <p:nvCxnSpPr>
          <p:cNvPr id="5" name="직선 연결선 4"/>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65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2_본문 슬라이드">
    <p:spTree>
      <p:nvGrpSpPr>
        <p:cNvPr id="1" name=""/>
        <p:cNvGrpSpPr/>
        <p:nvPr/>
      </p:nvGrpSpPr>
      <p:grpSpPr>
        <a:xfrm>
          <a:off x="0" y="0"/>
          <a:ext cx="0" cy="0"/>
          <a:chOff x="0" y="0"/>
          <a:chExt cx="0" cy="0"/>
        </a:xfrm>
      </p:grpSpPr>
      <p:pic>
        <p:nvPicPr>
          <p:cNvPr id="2" name="그림 5" descr="백색바탕.png"/>
          <p:cNvPicPr>
            <a:picLocks noChangeAspect="1"/>
          </p:cNvPicPr>
          <p:nvPr userDrawn="1"/>
        </p:nvPicPr>
        <p:blipFill>
          <a:blip r:embed="rId2" cstate="print"/>
          <a:srcRect/>
          <a:stretch>
            <a:fillRect/>
          </a:stretch>
        </p:blipFill>
        <p:spPr bwMode="auto">
          <a:xfrm>
            <a:off x="126024" y="6453188"/>
            <a:ext cx="630115" cy="315912"/>
          </a:xfrm>
          <a:prstGeom prst="rect">
            <a:avLst/>
          </a:prstGeom>
          <a:noFill/>
          <a:ln w="9525">
            <a:noFill/>
            <a:miter lim="800000"/>
            <a:headEnd/>
            <a:tailEnd/>
          </a:ln>
        </p:spPr>
      </p:pic>
      <p:sp>
        <p:nvSpPr>
          <p:cNvPr id="6"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cxnSp>
        <p:nvCxnSpPr>
          <p:cNvPr id="5" name="직선 연결선 4"/>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75798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본문 슬라이드">
    <p:spTree>
      <p:nvGrpSpPr>
        <p:cNvPr id="1" name=""/>
        <p:cNvGrpSpPr/>
        <p:nvPr/>
      </p:nvGrpSpPr>
      <p:grpSpPr>
        <a:xfrm>
          <a:off x="0" y="0"/>
          <a:ext cx="0" cy="0"/>
          <a:chOff x="0" y="0"/>
          <a:chExt cx="0" cy="0"/>
        </a:xfrm>
      </p:grpSpPr>
      <p:pic>
        <p:nvPicPr>
          <p:cNvPr id="2" name="그림 5" descr="백색바탕.png"/>
          <p:cNvPicPr>
            <a:picLocks noChangeAspect="1"/>
          </p:cNvPicPr>
          <p:nvPr userDrawn="1"/>
        </p:nvPicPr>
        <p:blipFill>
          <a:blip r:embed="rId2" cstate="print"/>
          <a:srcRect/>
          <a:stretch>
            <a:fillRect/>
          </a:stretch>
        </p:blipFill>
        <p:spPr bwMode="auto">
          <a:xfrm>
            <a:off x="126033" y="6453188"/>
            <a:ext cx="630115" cy="315912"/>
          </a:xfrm>
          <a:prstGeom prst="rect">
            <a:avLst/>
          </a:prstGeom>
          <a:noFill/>
          <a:ln w="9525">
            <a:noFill/>
            <a:miter lim="800000"/>
            <a:headEnd/>
            <a:tailEnd/>
          </a:ln>
        </p:spPr>
      </p:pic>
      <p:sp>
        <p:nvSpPr>
          <p:cNvPr id="5" name="슬라이드 번호 개체 틀 1"/>
          <p:cNvSpPr>
            <a:spLocks noGrp="1"/>
          </p:cNvSpPr>
          <p:nvPr userDrawn="1">
            <p:ph type="sldNum" sz="quarter" idx="10"/>
          </p:nvPr>
        </p:nvSpPr>
        <p:spPr>
          <a:xfrm>
            <a:off x="8560139" y="6475432"/>
            <a:ext cx="504734" cy="365125"/>
          </a:xfrm>
          <a:prstGeom prst="rect">
            <a:avLst/>
          </a:prstGeom>
        </p:spPr>
        <p:txBody>
          <a:bodyPr/>
          <a:lstStyle/>
          <a:p>
            <a:pPr algn="ctr">
              <a:defRPr/>
            </a:pPr>
            <a:fld id="{77AFF0D9-6237-448D-85CB-09D9C41BCF72}" type="slidenum">
              <a:rPr lang="en-US" altLang="ko-KR" b="1">
                <a:solidFill>
                  <a:srgbClr val="FF0066"/>
                </a:solidFill>
                <a:latin typeface="맑은 고딕" pitchFamily="50" charset="-127"/>
                <a:ea typeface="맑은 고딕" pitchFamily="50" charset="-127"/>
              </a:rPr>
              <a:pPr algn="ctr">
                <a:defRPr/>
              </a:pPr>
              <a:t>‹#›</a:t>
            </a:fld>
            <a:endParaRPr lang="ko-KR" altLang="en-US" dirty="0">
              <a:solidFill>
                <a:prstClr val="black"/>
              </a:solidFill>
            </a:endParaRPr>
          </a:p>
        </p:txBody>
      </p:sp>
    </p:spTree>
    <p:extLst>
      <p:ext uri="{BB962C8B-B14F-4D97-AF65-F5344CB8AC3E}">
        <p14:creationId xmlns:p14="http://schemas.microsoft.com/office/powerpoint/2010/main" val="64488654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png"/><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8" name="그림 5" descr="백색바탕.png"/>
          <p:cNvPicPr>
            <a:picLocks noChangeAspect="1"/>
          </p:cNvPicPr>
          <p:nvPr userDrawn="1"/>
        </p:nvPicPr>
        <p:blipFill>
          <a:blip r:embed="rId11" cstate="print"/>
          <a:srcRect/>
          <a:stretch>
            <a:fillRect/>
          </a:stretch>
        </p:blipFill>
        <p:spPr bwMode="auto">
          <a:xfrm>
            <a:off x="126024" y="6453188"/>
            <a:ext cx="630115" cy="315912"/>
          </a:xfrm>
          <a:prstGeom prst="rect">
            <a:avLst/>
          </a:prstGeom>
          <a:noFill/>
          <a:ln w="9525">
            <a:noFill/>
            <a:miter lim="800000"/>
            <a:headEnd/>
            <a:tailEnd/>
          </a:ln>
        </p:spPr>
      </p:pic>
      <p:cxnSp>
        <p:nvCxnSpPr>
          <p:cNvPr id="9" name="직선 연결선 8"/>
          <p:cNvCxnSpPr/>
          <p:nvPr userDrawn="1"/>
        </p:nvCxnSpPr>
        <p:spPr>
          <a:xfrm>
            <a:off x="0" y="675167"/>
            <a:ext cx="91440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a:t>
            </a:fld>
            <a:endParaRPr lang="ko-KR" altLang="en-US" dirty="0"/>
          </a:p>
        </p:txBody>
      </p:sp>
    </p:spTree>
  </p:cSld>
  <p:clrMap bg1="lt1" tx1="dk1" bg2="lt2" tx2="dk2" accent1="accent1" accent2="accent2" accent3="accent3" accent4="accent4" accent5="accent5" accent6="accent6" hlink="hlink" folHlink="folHlink"/>
  <p:sldLayoutIdLst>
    <p:sldLayoutId id="2147483665" r:id="rId1"/>
    <p:sldLayoutId id="2147483669" r:id="rId2"/>
    <p:sldLayoutId id="2147483666" r:id="rId3"/>
    <p:sldLayoutId id="2147483660" r:id="rId4"/>
    <p:sldLayoutId id="2147483655" r:id="rId5"/>
    <p:sldLayoutId id="2147483667" r:id="rId6"/>
    <p:sldLayoutId id="2147483661" r:id="rId7"/>
    <p:sldLayoutId id="2147483662" r:id="rId8"/>
    <p:sldLayoutId id="2147483664" r:id="rId9"/>
  </p:sldLayoutIdLst>
  <p:txStyles>
    <p:titleStyle>
      <a:lvl1pPr algn="ctr" defTabSz="914400" rtl="0" eaLnBrk="1" latinLnBrk="1"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image" Target="../media/image3.tiff"/><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image" Target="../media/image3.tiff"/><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image" Target="../media/image3.tiff"/><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image" Target="../media/image3.tiff"/><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8" Type="http://schemas.openxmlformats.org/officeDocument/2006/relationships/oleObject" Target="../embeddings/oleObject4.bin"/><Relationship Id="rId13" Type="http://schemas.openxmlformats.org/officeDocument/2006/relationships/image" Target="../media/image15.wmf"/><Relationship Id="rId3" Type="http://schemas.openxmlformats.org/officeDocument/2006/relationships/image" Target="../media/image10.wmf"/><Relationship Id="rId7" Type="http://schemas.openxmlformats.org/officeDocument/2006/relationships/image" Target="../media/image12.wmf"/><Relationship Id="rId12" Type="http://schemas.openxmlformats.org/officeDocument/2006/relationships/oleObject" Target="../embeddings/oleObject6.bin"/><Relationship Id="rId2" Type="http://schemas.openxmlformats.org/officeDocument/2006/relationships/oleObject" Target="../embeddings/oleObject1.bin"/><Relationship Id="rId1" Type="http://schemas.openxmlformats.org/officeDocument/2006/relationships/slideLayout" Target="../slideLayouts/slideLayout5.xml"/><Relationship Id="rId6" Type="http://schemas.openxmlformats.org/officeDocument/2006/relationships/oleObject" Target="../embeddings/oleObject3.bin"/><Relationship Id="rId11" Type="http://schemas.openxmlformats.org/officeDocument/2006/relationships/image" Target="../media/image14.wmf"/><Relationship Id="rId5" Type="http://schemas.openxmlformats.org/officeDocument/2006/relationships/image" Target="../media/image11.wmf"/><Relationship Id="rId10" Type="http://schemas.openxmlformats.org/officeDocument/2006/relationships/oleObject" Target="../embeddings/oleObject5.bin"/><Relationship Id="rId4" Type="http://schemas.openxmlformats.org/officeDocument/2006/relationships/oleObject" Target="../embeddings/oleObject2.bin"/><Relationship Id="rId9" Type="http://schemas.openxmlformats.org/officeDocument/2006/relationships/image" Target="../media/image13.wmf"/></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8" Type="http://schemas.openxmlformats.org/officeDocument/2006/relationships/image" Target="../media/image12.wmf"/><Relationship Id="rId13" Type="http://schemas.openxmlformats.org/officeDocument/2006/relationships/oleObject" Target="../embeddings/oleObject12.bin"/><Relationship Id="rId3" Type="http://schemas.openxmlformats.org/officeDocument/2006/relationships/oleObject" Target="../embeddings/oleObject7.bin"/><Relationship Id="rId7" Type="http://schemas.openxmlformats.org/officeDocument/2006/relationships/oleObject" Target="../embeddings/oleObject9.bin"/><Relationship Id="rId12" Type="http://schemas.openxmlformats.org/officeDocument/2006/relationships/image" Target="../media/image14.wmf"/><Relationship Id="rId17" Type="http://schemas.openxmlformats.org/officeDocument/2006/relationships/image" Target="../media/image18.png"/><Relationship Id="rId2" Type="http://schemas.openxmlformats.org/officeDocument/2006/relationships/notesSlide" Target="../notesSlides/notesSlide5.xml"/><Relationship Id="rId16" Type="http://schemas.openxmlformats.org/officeDocument/2006/relationships/image" Target="../media/image17.png"/><Relationship Id="rId1" Type="http://schemas.openxmlformats.org/officeDocument/2006/relationships/slideLayout" Target="../slideLayouts/slideLayout5.xml"/><Relationship Id="rId6" Type="http://schemas.openxmlformats.org/officeDocument/2006/relationships/image" Target="../media/image11.wmf"/><Relationship Id="rId11" Type="http://schemas.openxmlformats.org/officeDocument/2006/relationships/oleObject" Target="../embeddings/oleObject11.bin"/><Relationship Id="rId5" Type="http://schemas.openxmlformats.org/officeDocument/2006/relationships/oleObject" Target="../embeddings/oleObject8.bin"/><Relationship Id="rId15" Type="http://schemas.openxmlformats.org/officeDocument/2006/relationships/image" Target="../media/image16.png"/><Relationship Id="rId10" Type="http://schemas.openxmlformats.org/officeDocument/2006/relationships/image" Target="../media/image13.wmf"/><Relationship Id="rId4" Type="http://schemas.openxmlformats.org/officeDocument/2006/relationships/image" Target="../media/image10.wmf"/><Relationship Id="rId9" Type="http://schemas.openxmlformats.org/officeDocument/2006/relationships/oleObject" Target="../embeddings/oleObject10.bin"/><Relationship Id="rId14" Type="http://schemas.openxmlformats.org/officeDocument/2006/relationships/image" Target="../media/image15.wmf"/></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8" Type="http://schemas.openxmlformats.org/officeDocument/2006/relationships/oleObject" Target="../embeddings/oleObject16.bin"/><Relationship Id="rId3" Type="http://schemas.openxmlformats.org/officeDocument/2006/relationships/image" Target="../media/image20.wmf"/><Relationship Id="rId7" Type="http://schemas.openxmlformats.org/officeDocument/2006/relationships/image" Target="../media/image22.wmf"/><Relationship Id="rId2" Type="http://schemas.openxmlformats.org/officeDocument/2006/relationships/oleObject" Target="../embeddings/oleObject13.bin"/><Relationship Id="rId1" Type="http://schemas.openxmlformats.org/officeDocument/2006/relationships/slideLayout" Target="../slideLayouts/slideLayout5.xml"/><Relationship Id="rId6" Type="http://schemas.openxmlformats.org/officeDocument/2006/relationships/oleObject" Target="../embeddings/oleObject15.bin"/><Relationship Id="rId5" Type="http://schemas.openxmlformats.org/officeDocument/2006/relationships/image" Target="../media/image21.wmf"/><Relationship Id="rId4" Type="http://schemas.openxmlformats.org/officeDocument/2006/relationships/oleObject" Target="../embeddings/oleObject14.bin"/><Relationship Id="rId9" Type="http://schemas.openxmlformats.org/officeDocument/2006/relationships/image" Target="../media/image23.wmf"/></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8" Type="http://schemas.openxmlformats.org/officeDocument/2006/relationships/oleObject" Target="../embeddings/oleObject20.bin"/><Relationship Id="rId3" Type="http://schemas.openxmlformats.org/officeDocument/2006/relationships/image" Target="../media/image24.wmf"/><Relationship Id="rId7" Type="http://schemas.openxmlformats.org/officeDocument/2006/relationships/image" Target="../media/image22.wmf"/><Relationship Id="rId2" Type="http://schemas.openxmlformats.org/officeDocument/2006/relationships/oleObject" Target="../embeddings/oleObject17.bin"/><Relationship Id="rId1" Type="http://schemas.openxmlformats.org/officeDocument/2006/relationships/slideLayout" Target="../slideLayouts/slideLayout5.xml"/><Relationship Id="rId6" Type="http://schemas.openxmlformats.org/officeDocument/2006/relationships/oleObject" Target="../embeddings/oleObject19.bin"/><Relationship Id="rId5" Type="http://schemas.openxmlformats.org/officeDocument/2006/relationships/image" Target="../media/image21.wmf"/><Relationship Id="rId4" Type="http://schemas.openxmlformats.org/officeDocument/2006/relationships/oleObject" Target="../embeddings/oleObject18.bin"/><Relationship Id="rId9" Type="http://schemas.openxmlformats.org/officeDocument/2006/relationships/image" Target="../media/image23.wmf"/></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5.xml"/></Relationships>
</file>

<file path=ppt/slides/_rels/slide6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5.xml"/><Relationship Id="rId4" Type="http://schemas.openxmlformats.org/officeDocument/2006/relationships/image" Target="../media/image34.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5.xml"/><Relationship Id="rId4" Type="http://schemas.openxmlformats.org/officeDocument/2006/relationships/image" Target="../media/image34.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7.xml"/><Relationship Id="rId4" Type="http://schemas.openxmlformats.org/officeDocument/2006/relationships/image" Target="../media/image41.png"/></Relationships>
</file>

<file path=ppt/slides/_rels/slide102.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7.xml"/><Relationship Id="rId4" Type="http://schemas.openxmlformats.org/officeDocument/2006/relationships/image" Target="../media/image41.png"/></Relationships>
</file>

<file path=ppt/slides/_rels/slide10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6.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5.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5.xml"/></Relationships>
</file>

<file path=ppt/slides/_rels/slide12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5.xml"/></Relationships>
</file>

<file path=ppt/slides/_rels/slide12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5.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7.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5.xml"/></Relationships>
</file>

<file path=ppt/slides/_rels/slide133.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5.xml"/></Relationships>
</file>

<file path=ppt/slides/_rels/slide134.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5.xml"/></Relationships>
</file>

<file path=ppt/slides/_rels/slide135.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5.xml"/><Relationship Id="rId4" Type="http://schemas.openxmlformats.org/officeDocument/2006/relationships/image" Target="../media/image58.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5.xml"/><Relationship Id="rId4" Type="http://schemas.openxmlformats.org/officeDocument/2006/relationships/image" Target="../media/image58.png"/></Relationships>
</file>

<file path=ppt/slides/_rels/slide14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5.xml"/></Relationships>
</file>

<file path=ppt/slides/_rels/slide14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7.xml"/><Relationship Id="rId4" Type="http://schemas.openxmlformats.org/officeDocument/2006/relationships/image" Target="../media/image65.png"/></Relationships>
</file>

<file path=ppt/slides/_rels/slide153.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7.xml"/><Relationship Id="rId4" Type="http://schemas.openxmlformats.org/officeDocument/2006/relationships/image" Target="../media/image65.png"/></Relationships>
</file>

<file path=ppt/slides/_rels/slide155.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5.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4.xml"/><Relationship Id="rId5" Type="http://schemas.openxmlformats.org/officeDocument/2006/relationships/image" Target="../media/image70.png"/><Relationship Id="rId4" Type="http://schemas.openxmlformats.org/officeDocument/2006/relationships/image" Target="../media/image69.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7.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4.xml"/><Relationship Id="rId5" Type="http://schemas.openxmlformats.org/officeDocument/2006/relationships/image" Target="../media/image70.png"/><Relationship Id="rId4" Type="http://schemas.openxmlformats.org/officeDocument/2006/relationships/image" Target="../media/image69.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slideLayout" Target="../slideLayouts/slideLayout5.xml"/><Relationship Id="rId6" Type="http://schemas.openxmlformats.org/officeDocument/2006/relationships/image" Target="../media/image4.png"/><Relationship Id="rId5" Type="http://schemas.openxmlformats.org/officeDocument/2006/relationships/image" Target="../media/image74.png"/><Relationship Id="rId4" Type="http://schemas.openxmlformats.org/officeDocument/2006/relationships/image" Target="../media/image73.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5.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slideLayout" Target="../slideLayouts/slideLayout5.xml"/><Relationship Id="rId6" Type="http://schemas.openxmlformats.org/officeDocument/2006/relationships/image" Target="../media/image4.png"/><Relationship Id="rId5" Type="http://schemas.openxmlformats.org/officeDocument/2006/relationships/image" Target="../media/image74.png"/><Relationship Id="rId4" Type="http://schemas.openxmlformats.org/officeDocument/2006/relationships/image" Target="../media/image73.png"/></Relationships>
</file>

<file path=ppt/slides/_rels/slide176.xml.rels><?xml version="1.0" encoding="UTF-8" standalone="yes"?>
<Relationships xmlns="http://schemas.openxmlformats.org/package/2006/relationships"><Relationship Id="rId13" Type="http://schemas.openxmlformats.org/officeDocument/2006/relationships/oleObject" Target="../embeddings/oleObject26.bin"/><Relationship Id="rId18" Type="http://schemas.openxmlformats.org/officeDocument/2006/relationships/image" Target="../media/image83.wmf"/><Relationship Id="rId26" Type="http://schemas.openxmlformats.org/officeDocument/2006/relationships/image" Target="../media/image87.wmf"/><Relationship Id="rId21" Type="http://schemas.openxmlformats.org/officeDocument/2006/relationships/oleObject" Target="../embeddings/oleObject30.bin"/><Relationship Id="rId34" Type="http://schemas.openxmlformats.org/officeDocument/2006/relationships/image" Target="../media/image91.wmf"/><Relationship Id="rId7" Type="http://schemas.openxmlformats.org/officeDocument/2006/relationships/oleObject" Target="../embeddings/oleObject23.bin"/><Relationship Id="rId12" Type="http://schemas.openxmlformats.org/officeDocument/2006/relationships/image" Target="../media/image80.wmf"/><Relationship Id="rId17" Type="http://schemas.openxmlformats.org/officeDocument/2006/relationships/oleObject" Target="../embeddings/oleObject28.bin"/><Relationship Id="rId25" Type="http://schemas.openxmlformats.org/officeDocument/2006/relationships/oleObject" Target="../embeddings/oleObject32.bin"/><Relationship Id="rId33" Type="http://schemas.openxmlformats.org/officeDocument/2006/relationships/oleObject" Target="../embeddings/oleObject36.bin"/><Relationship Id="rId2" Type="http://schemas.openxmlformats.org/officeDocument/2006/relationships/image" Target="../media/image75.png"/><Relationship Id="rId16" Type="http://schemas.openxmlformats.org/officeDocument/2006/relationships/image" Target="../media/image82.wmf"/><Relationship Id="rId20" Type="http://schemas.openxmlformats.org/officeDocument/2006/relationships/image" Target="../media/image84.wmf"/><Relationship Id="rId29" Type="http://schemas.openxmlformats.org/officeDocument/2006/relationships/oleObject" Target="../embeddings/oleObject34.bin"/><Relationship Id="rId1" Type="http://schemas.openxmlformats.org/officeDocument/2006/relationships/slideLayout" Target="../slideLayouts/slideLayout5.xml"/><Relationship Id="rId6" Type="http://schemas.openxmlformats.org/officeDocument/2006/relationships/image" Target="../media/image77.wmf"/><Relationship Id="rId11" Type="http://schemas.openxmlformats.org/officeDocument/2006/relationships/oleObject" Target="../embeddings/oleObject25.bin"/><Relationship Id="rId24" Type="http://schemas.openxmlformats.org/officeDocument/2006/relationships/image" Target="../media/image86.wmf"/><Relationship Id="rId32" Type="http://schemas.openxmlformats.org/officeDocument/2006/relationships/image" Target="../media/image90.wmf"/><Relationship Id="rId37" Type="http://schemas.openxmlformats.org/officeDocument/2006/relationships/image" Target="../media/image94.png"/><Relationship Id="rId5" Type="http://schemas.openxmlformats.org/officeDocument/2006/relationships/oleObject" Target="../embeddings/oleObject22.bin"/><Relationship Id="rId15" Type="http://schemas.openxmlformats.org/officeDocument/2006/relationships/oleObject" Target="../embeddings/oleObject27.bin"/><Relationship Id="rId23" Type="http://schemas.openxmlformats.org/officeDocument/2006/relationships/oleObject" Target="../embeddings/oleObject31.bin"/><Relationship Id="rId28" Type="http://schemas.openxmlformats.org/officeDocument/2006/relationships/image" Target="../media/image88.wmf"/><Relationship Id="rId36" Type="http://schemas.openxmlformats.org/officeDocument/2006/relationships/image" Target="../media/image93.png"/><Relationship Id="rId10" Type="http://schemas.openxmlformats.org/officeDocument/2006/relationships/image" Target="../media/image79.wmf"/><Relationship Id="rId19" Type="http://schemas.openxmlformats.org/officeDocument/2006/relationships/oleObject" Target="../embeddings/oleObject29.bin"/><Relationship Id="rId31" Type="http://schemas.openxmlformats.org/officeDocument/2006/relationships/oleObject" Target="../embeddings/oleObject35.bin"/><Relationship Id="rId4" Type="http://schemas.openxmlformats.org/officeDocument/2006/relationships/image" Target="../media/image76.wmf"/><Relationship Id="rId9" Type="http://schemas.openxmlformats.org/officeDocument/2006/relationships/oleObject" Target="../embeddings/oleObject24.bin"/><Relationship Id="rId14" Type="http://schemas.openxmlformats.org/officeDocument/2006/relationships/image" Target="../media/image81.wmf"/><Relationship Id="rId22" Type="http://schemas.openxmlformats.org/officeDocument/2006/relationships/image" Target="../media/image85.wmf"/><Relationship Id="rId27" Type="http://schemas.openxmlformats.org/officeDocument/2006/relationships/oleObject" Target="../embeddings/oleObject33.bin"/><Relationship Id="rId30" Type="http://schemas.openxmlformats.org/officeDocument/2006/relationships/image" Target="../media/image89.wmf"/><Relationship Id="rId35" Type="http://schemas.openxmlformats.org/officeDocument/2006/relationships/image" Target="../media/image92.png"/><Relationship Id="rId8" Type="http://schemas.openxmlformats.org/officeDocument/2006/relationships/image" Target="../media/image78.wmf"/><Relationship Id="rId3" Type="http://schemas.openxmlformats.org/officeDocument/2006/relationships/oleObject" Target="../embeddings/oleObject21.bin"/></Relationships>
</file>

<file path=ppt/slides/_rels/slide177.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image" Target="../media/image75.png"/><Relationship Id="rId1" Type="http://schemas.openxmlformats.org/officeDocument/2006/relationships/slideLayout" Target="../slideLayouts/slideLayout5.xml"/><Relationship Id="rId6" Type="http://schemas.openxmlformats.org/officeDocument/2006/relationships/image" Target="../media/image78.wmf"/><Relationship Id="rId5" Type="http://schemas.openxmlformats.org/officeDocument/2006/relationships/oleObject" Target="../embeddings/oleObject38.bin"/><Relationship Id="rId4" Type="http://schemas.openxmlformats.org/officeDocument/2006/relationships/image" Target="../media/image77.wmf"/></Relationships>
</file>

<file path=ppt/slides/_rels/slide178.xml.rels><?xml version="1.0" encoding="UTF-8" standalone="yes"?>
<Relationships xmlns="http://schemas.openxmlformats.org/package/2006/relationships"><Relationship Id="rId13" Type="http://schemas.openxmlformats.org/officeDocument/2006/relationships/oleObject" Target="../embeddings/oleObject44.bin"/><Relationship Id="rId18" Type="http://schemas.openxmlformats.org/officeDocument/2006/relationships/image" Target="../media/image83.wmf"/><Relationship Id="rId26" Type="http://schemas.openxmlformats.org/officeDocument/2006/relationships/image" Target="../media/image87.wmf"/><Relationship Id="rId21" Type="http://schemas.openxmlformats.org/officeDocument/2006/relationships/oleObject" Target="../embeddings/oleObject48.bin"/><Relationship Id="rId34" Type="http://schemas.openxmlformats.org/officeDocument/2006/relationships/image" Target="../media/image91.wmf"/><Relationship Id="rId7" Type="http://schemas.openxmlformats.org/officeDocument/2006/relationships/oleObject" Target="../embeddings/oleObject41.bin"/><Relationship Id="rId12" Type="http://schemas.openxmlformats.org/officeDocument/2006/relationships/image" Target="../media/image80.wmf"/><Relationship Id="rId17" Type="http://schemas.openxmlformats.org/officeDocument/2006/relationships/oleObject" Target="../embeddings/oleObject46.bin"/><Relationship Id="rId25" Type="http://schemas.openxmlformats.org/officeDocument/2006/relationships/oleObject" Target="../embeddings/oleObject50.bin"/><Relationship Id="rId33" Type="http://schemas.openxmlformats.org/officeDocument/2006/relationships/oleObject" Target="../embeddings/oleObject54.bin"/><Relationship Id="rId2" Type="http://schemas.openxmlformats.org/officeDocument/2006/relationships/image" Target="../media/image75.png"/><Relationship Id="rId16" Type="http://schemas.openxmlformats.org/officeDocument/2006/relationships/image" Target="../media/image82.wmf"/><Relationship Id="rId20" Type="http://schemas.openxmlformats.org/officeDocument/2006/relationships/image" Target="../media/image84.wmf"/><Relationship Id="rId29" Type="http://schemas.openxmlformats.org/officeDocument/2006/relationships/oleObject" Target="../embeddings/oleObject52.bin"/><Relationship Id="rId1" Type="http://schemas.openxmlformats.org/officeDocument/2006/relationships/slideLayout" Target="../slideLayouts/slideLayout5.xml"/><Relationship Id="rId6" Type="http://schemas.openxmlformats.org/officeDocument/2006/relationships/image" Target="../media/image77.wmf"/><Relationship Id="rId11" Type="http://schemas.openxmlformats.org/officeDocument/2006/relationships/oleObject" Target="../embeddings/oleObject43.bin"/><Relationship Id="rId24" Type="http://schemas.openxmlformats.org/officeDocument/2006/relationships/image" Target="../media/image86.wmf"/><Relationship Id="rId32" Type="http://schemas.openxmlformats.org/officeDocument/2006/relationships/image" Target="../media/image90.wmf"/><Relationship Id="rId37" Type="http://schemas.openxmlformats.org/officeDocument/2006/relationships/image" Target="../media/image94.png"/><Relationship Id="rId5" Type="http://schemas.openxmlformats.org/officeDocument/2006/relationships/oleObject" Target="../embeddings/oleObject40.bin"/><Relationship Id="rId15" Type="http://schemas.openxmlformats.org/officeDocument/2006/relationships/oleObject" Target="../embeddings/oleObject45.bin"/><Relationship Id="rId23" Type="http://schemas.openxmlformats.org/officeDocument/2006/relationships/oleObject" Target="../embeddings/oleObject49.bin"/><Relationship Id="rId28" Type="http://schemas.openxmlformats.org/officeDocument/2006/relationships/image" Target="../media/image88.wmf"/><Relationship Id="rId36" Type="http://schemas.openxmlformats.org/officeDocument/2006/relationships/image" Target="../media/image93.png"/><Relationship Id="rId10" Type="http://schemas.openxmlformats.org/officeDocument/2006/relationships/image" Target="../media/image79.wmf"/><Relationship Id="rId19" Type="http://schemas.openxmlformats.org/officeDocument/2006/relationships/oleObject" Target="../embeddings/oleObject47.bin"/><Relationship Id="rId31" Type="http://schemas.openxmlformats.org/officeDocument/2006/relationships/oleObject" Target="../embeddings/oleObject53.bin"/><Relationship Id="rId4" Type="http://schemas.openxmlformats.org/officeDocument/2006/relationships/image" Target="../media/image76.wmf"/><Relationship Id="rId9" Type="http://schemas.openxmlformats.org/officeDocument/2006/relationships/oleObject" Target="../embeddings/oleObject42.bin"/><Relationship Id="rId14" Type="http://schemas.openxmlformats.org/officeDocument/2006/relationships/image" Target="../media/image81.wmf"/><Relationship Id="rId22" Type="http://schemas.openxmlformats.org/officeDocument/2006/relationships/image" Target="../media/image85.wmf"/><Relationship Id="rId27" Type="http://schemas.openxmlformats.org/officeDocument/2006/relationships/oleObject" Target="../embeddings/oleObject51.bin"/><Relationship Id="rId30" Type="http://schemas.openxmlformats.org/officeDocument/2006/relationships/image" Target="../media/image89.wmf"/><Relationship Id="rId35" Type="http://schemas.openxmlformats.org/officeDocument/2006/relationships/image" Target="../media/image92.png"/><Relationship Id="rId8" Type="http://schemas.openxmlformats.org/officeDocument/2006/relationships/image" Target="../media/image78.wmf"/><Relationship Id="rId3" Type="http://schemas.openxmlformats.org/officeDocument/2006/relationships/oleObject" Target="../embeddings/oleObject39.bin"/></Relationships>
</file>

<file path=ppt/slides/_rels/slide179.xml.rels><?xml version="1.0" encoding="UTF-8" standalone="yes"?>
<Relationships xmlns="http://schemas.openxmlformats.org/package/2006/relationships"><Relationship Id="rId3" Type="http://schemas.openxmlformats.org/officeDocument/2006/relationships/oleObject" Target="../embeddings/oleObject55.bin"/><Relationship Id="rId2" Type="http://schemas.openxmlformats.org/officeDocument/2006/relationships/image" Target="../media/image75.png"/><Relationship Id="rId1" Type="http://schemas.openxmlformats.org/officeDocument/2006/relationships/slideLayout" Target="../slideLayouts/slideLayout5.xml"/><Relationship Id="rId6" Type="http://schemas.openxmlformats.org/officeDocument/2006/relationships/image" Target="../media/image78.wmf"/><Relationship Id="rId5" Type="http://schemas.openxmlformats.org/officeDocument/2006/relationships/oleObject" Target="../embeddings/oleObject56.bin"/><Relationship Id="rId4" Type="http://schemas.openxmlformats.org/officeDocument/2006/relationships/image" Target="../media/image77.wmf"/></Relationships>
</file>

<file path=ppt/slides/_rels/slide180.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95.wmf"/><Relationship Id="rId7" Type="http://schemas.openxmlformats.org/officeDocument/2006/relationships/image" Target="../media/image97.wmf"/><Relationship Id="rId2" Type="http://schemas.openxmlformats.org/officeDocument/2006/relationships/oleObject" Target="../embeddings/oleObject57.bin"/><Relationship Id="rId1" Type="http://schemas.openxmlformats.org/officeDocument/2006/relationships/slideLayout" Target="../slideLayouts/slideLayout5.xml"/><Relationship Id="rId6" Type="http://schemas.openxmlformats.org/officeDocument/2006/relationships/oleObject" Target="../embeddings/oleObject59.bin"/><Relationship Id="rId5" Type="http://schemas.openxmlformats.org/officeDocument/2006/relationships/image" Target="../media/image96.wmf"/><Relationship Id="rId4" Type="http://schemas.openxmlformats.org/officeDocument/2006/relationships/oleObject" Target="../embeddings/oleObject58.bin"/></Relationships>
</file>

<file path=ppt/slides/_rels/slide181.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5.xml"/></Relationships>
</file>

<file path=ppt/slides/_rels/slide182.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95.wmf"/><Relationship Id="rId7" Type="http://schemas.openxmlformats.org/officeDocument/2006/relationships/image" Target="../media/image97.wmf"/><Relationship Id="rId2" Type="http://schemas.openxmlformats.org/officeDocument/2006/relationships/oleObject" Target="../embeddings/oleObject60.bin"/><Relationship Id="rId1" Type="http://schemas.openxmlformats.org/officeDocument/2006/relationships/slideLayout" Target="../slideLayouts/slideLayout5.xml"/><Relationship Id="rId6" Type="http://schemas.openxmlformats.org/officeDocument/2006/relationships/oleObject" Target="../embeddings/oleObject62.bin"/><Relationship Id="rId5" Type="http://schemas.openxmlformats.org/officeDocument/2006/relationships/image" Target="../media/image96.wmf"/><Relationship Id="rId4" Type="http://schemas.openxmlformats.org/officeDocument/2006/relationships/oleObject" Target="../embeddings/oleObject61.bin"/></Relationships>
</file>

<file path=ppt/slides/_rels/slide183.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101.png"/><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5.xml"/></Relationships>
</file>

<file path=ppt/slides/_rels/slide186.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101.png"/><Relationship Id="rId1" Type="http://schemas.openxmlformats.org/officeDocument/2006/relationships/slideLayout" Target="../slideLayouts/slideLayout5.xml"/></Relationships>
</file>

<file path=ppt/slides/_rels/slide187.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3.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4.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5.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4.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7.xml.rels><?xml version="1.0" encoding="UTF-8" standalone="yes"?>
<Relationships xmlns="http://schemas.openxmlformats.org/package/2006/relationships"><Relationship Id="rId8" Type="http://schemas.openxmlformats.org/officeDocument/2006/relationships/oleObject" Target="../embeddings/oleObject66.bin"/><Relationship Id="rId3" Type="http://schemas.openxmlformats.org/officeDocument/2006/relationships/image" Target="../media/image104.wmf"/><Relationship Id="rId7" Type="http://schemas.openxmlformats.org/officeDocument/2006/relationships/image" Target="../media/image106.wmf"/><Relationship Id="rId2" Type="http://schemas.openxmlformats.org/officeDocument/2006/relationships/oleObject" Target="../embeddings/oleObject63.bin"/><Relationship Id="rId1" Type="http://schemas.openxmlformats.org/officeDocument/2006/relationships/slideLayout" Target="../slideLayouts/slideLayout4.xml"/><Relationship Id="rId6" Type="http://schemas.openxmlformats.org/officeDocument/2006/relationships/oleObject" Target="../embeddings/oleObject65.bin"/><Relationship Id="rId5" Type="http://schemas.openxmlformats.org/officeDocument/2006/relationships/image" Target="../media/image105.wmf"/><Relationship Id="rId4" Type="http://schemas.openxmlformats.org/officeDocument/2006/relationships/oleObject" Target="../embeddings/oleObject64.bin"/><Relationship Id="rId9" Type="http://schemas.openxmlformats.org/officeDocument/2006/relationships/image" Target="../media/image107.wmf"/></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9.xml.rels><?xml version="1.0" encoding="UTF-8" standalone="yes"?>
<Relationships xmlns="http://schemas.openxmlformats.org/package/2006/relationships"><Relationship Id="rId8" Type="http://schemas.openxmlformats.org/officeDocument/2006/relationships/oleObject" Target="../embeddings/oleObject70.bin"/><Relationship Id="rId3" Type="http://schemas.openxmlformats.org/officeDocument/2006/relationships/image" Target="../media/image104.wmf"/><Relationship Id="rId7" Type="http://schemas.openxmlformats.org/officeDocument/2006/relationships/image" Target="../media/image106.wmf"/><Relationship Id="rId2" Type="http://schemas.openxmlformats.org/officeDocument/2006/relationships/oleObject" Target="../embeddings/oleObject67.bin"/><Relationship Id="rId1" Type="http://schemas.openxmlformats.org/officeDocument/2006/relationships/slideLayout" Target="../slideLayouts/slideLayout4.xml"/><Relationship Id="rId6" Type="http://schemas.openxmlformats.org/officeDocument/2006/relationships/oleObject" Target="../embeddings/oleObject69.bin"/><Relationship Id="rId5" Type="http://schemas.openxmlformats.org/officeDocument/2006/relationships/image" Target="../media/image105.wmf"/><Relationship Id="rId4" Type="http://schemas.openxmlformats.org/officeDocument/2006/relationships/oleObject" Target="../embeddings/oleObject68.bin"/><Relationship Id="rId9" Type="http://schemas.openxmlformats.org/officeDocument/2006/relationships/image" Target="../media/image107.wmf"/></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204.xml.rels><?xml version="1.0" encoding="UTF-8" standalone="yes"?>
<Relationships xmlns="http://schemas.openxmlformats.org/package/2006/relationships"><Relationship Id="rId3" Type="http://schemas.openxmlformats.org/officeDocument/2006/relationships/oleObject" Target="../embeddings/oleObject71.bin"/><Relationship Id="rId2" Type="http://schemas.openxmlformats.org/officeDocument/2006/relationships/notesSlide" Target="../notesSlides/notesSlide11.xml"/><Relationship Id="rId1" Type="http://schemas.openxmlformats.org/officeDocument/2006/relationships/slideLayout" Target="../slideLayouts/slideLayout5.xml"/><Relationship Id="rId6" Type="http://schemas.openxmlformats.org/officeDocument/2006/relationships/image" Target="../media/image109.wmf"/><Relationship Id="rId5" Type="http://schemas.openxmlformats.org/officeDocument/2006/relationships/oleObject" Target="../embeddings/oleObject72.bin"/><Relationship Id="rId4" Type="http://schemas.openxmlformats.org/officeDocument/2006/relationships/image" Target="../media/image108.wmf"/></Relationships>
</file>

<file path=ppt/slides/_rels/slide205.xml.rels><?xml version="1.0" encoding="UTF-8" standalone="yes"?>
<Relationships xmlns="http://schemas.openxmlformats.org/package/2006/relationships"><Relationship Id="rId3" Type="http://schemas.openxmlformats.org/officeDocument/2006/relationships/oleObject" Target="../embeddings/oleObject73.bin"/><Relationship Id="rId2" Type="http://schemas.openxmlformats.org/officeDocument/2006/relationships/notesSlide" Target="../notesSlides/notesSlide12.xml"/><Relationship Id="rId1" Type="http://schemas.openxmlformats.org/officeDocument/2006/relationships/slideLayout" Target="../slideLayouts/slideLayout5.xml"/><Relationship Id="rId6" Type="http://schemas.openxmlformats.org/officeDocument/2006/relationships/image" Target="../media/image111.wmf"/><Relationship Id="rId5" Type="http://schemas.openxmlformats.org/officeDocument/2006/relationships/oleObject" Target="../embeddings/oleObject74.bin"/><Relationship Id="rId4" Type="http://schemas.openxmlformats.org/officeDocument/2006/relationships/image" Target="../media/image110.wmf"/></Relationships>
</file>

<file path=ppt/slides/_rels/slide206.xml.rels><?xml version="1.0" encoding="UTF-8" standalone="yes"?>
<Relationships xmlns="http://schemas.openxmlformats.org/package/2006/relationships"><Relationship Id="rId3" Type="http://schemas.openxmlformats.org/officeDocument/2006/relationships/oleObject" Target="../embeddings/oleObject75.bin"/><Relationship Id="rId2" Type="http://schemas.openxmlformats.org/officeDocument/2006/relationships/notesSlide" Target="../notesSlides/notesSlide13.xml"/><Relationship Id="rId1" Type="http://schemas.openxmlformats.org/officeDocument/2006/relationships/slideLayout" Target="../slideLayouts/slideLayout5.xml"/><Relationship Id="rId6" Type="http://schemas.openxmlformats.org/officeDocument/2006/relationships/image" Target="../media/image109.wmf"/><Relationship Id="rId5" Type="http://schemas.openxmlformats.org/officeDocument/2006/relationships/oleObject" Target="../embeddings/oleObject76.bin"/><Relationship Id="rId4" Type="http://schemas.openxmlformats.org/officeDocument/2006/relationships/image" Target="../media/image108.wmf"/></Relationships>
</file>

<file path=ppt/slides/_rels/slide207.xml.rels><?xml version="1.0" encoding="UTF-8" standalone="yes"?>
<Relationships xmlns="http://schemas.openxmlformats.org/package/2006/relationships"><Relationship Id="rId3" Type="http://schemas.openxmlformats.org/officeDocument/2006/relationships/oleObject" Target="../embeddings/oleObject77.bin"/><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111.wmf"/><Relationship Id="rId5" Type="http://schemas.openxmlformats.org/officeDocument/2006/relationships/oleObject" Target="../embeddings/oleObject78.bin"/><Relationship Id="rId4" Type="http://schemas.openxmlformats.org/officeDocument/2006/relationships/image" Target="../media/image110.wmf"/></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9.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112.png"/><Relationship Id="rId1" Type="http://schemas.openxmlformats.org/officeDocument/2006/relationships/slideLayout" Target="../slideLayouts/slideLayout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1.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112.png"/><Relationship Id="rId1" Type="http://schemas.openxmlformats.org/officeDocument/2006/relationships/slideLayout" Target="../slideLayouts/slideLayout5.xml"/></Relationships>
</file>

<file path=ppt/slides/_rels/slide212.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5.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4.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5.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7.xml.rels><?xml version="1.0" encoding="UTF-8" standalone="yes"?>
<Relationships xmlns="http://schemas.openxmlformats.org/package/2006/relationships"><Relationship Id="rId3" Type="http://schemas.openxmlformats.org/officeDocument/2006/relationships/image" Target="../media/image115.wmf"/><Relationship Id="rId2" Type="http://schemas.openxmlformats.org/officeDocument/2006/relationships/oleObject" Target="../embeddings/oleObject79.bin"/><Relationship Id="rId1" Type="http://schemas.openxmlformats.org/officeDocument/2006/relationships/slideLayout" Target="../slideLayouts/slideLayout5.xml"/><Relationship Id="rId5" Type="http://schemas.openxmlformats.org/officeDocument/2006/relationships/image" Target="../media/image116.wmf"/><Relationship Id="rId4" Type="http://schemas.openxmlformats.org/officeDocument/2006/relationships/oleObject" Target="../embeddings/oleObject80.bin"/></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9.xml.rels><?xml version="1.0" encoding="UTF-8" standalone="yes"?>
<Relationships xmlns="http://schemas.openxmlformats.org/package/2006/relationships"><Relationship Id="rId3" Type="http://schemas.openxmlformats.org/officeDocument/2006/relationships/image" Target="../media/image115.wmf"/><Relationship Id="rId2" Type="http://schemas.openxmlformats.org/officeDocument/2006/relationships/oleObject" Target="../embeddings/oleObject81.bin"/><Relationship Id="rId1" Type="http://schemas.openxmlformats.org/officeDocument/2006/relationships/slideLayout" Target="../slideLayouts/slideLayout5.xml"/><Relationship Id="rId5" Type="http://schemas.openxmlformats.org/officeDocument/2006/relationships/image" Target="../media/image116.wmf"/><Relationship Id="rId4" Type="http://schemas.openxmlformats.org/officeDocument/2006/relationships/oleObject" Target="../embeddings/oleObject82.bin"/></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1.xml.rels><?xml version="1.0" encoding="UTF-8" standalone="yes"?>
<Relationships xmlns="http://schemas.openxmlformats.org/package/2006/relationships"><Relationship Id="rId8" Type="http://schemas.openxmlformats.org/officeDocument/2006/relationships/oleObject" Target="../embeddings/oleObject86.bin"/><Relationship Id="rId13" Type="http://schemas.openxmlformats.org/officeDocument/2006/relationships/image" Target="../media/image122.wmf"/><Relationship Id="rId18" Type="http://schemas.openxmlformats.org/officeDocument/2006/relationships/oleObject" Target="../embeddings/oleObject91.bin"/><Relationship Id="rId3" Type="http://schemas.openxmlformats.org/officeDocument/2006/relationships/image" Target="../media/image117.wmf"/><Relationship Id="rId21" Type="http://schemas.openxmlformats.org/officeDocument/2006/relationships/image" Target="../media/image126.wmf"/><Relationship Id="rId7" Type="http://schemas.openxmlformats.org/officeDocument/2006/relationships/image" Target="../media/image119.wmf"/><Relationship Id="rId12" Type="http://schemas.openxmlformats.org/officeDocument/2006/relationships/oleObject" Target="../embeddings/oleObject88.bin"/><Relationship Id="rId17" Type="http://schemas.openxmlformats.org/officeDocument/2006/relationships/image" Target="../media/image124.wmf"/><Relationship Id="rId2" Type="http://schemas.openxmlformats.org/officeDocument/2006/relationships/oleObject" Target="../embeddings/oleObject83.bin"/><Relationship Id="rId16" Type="http://schemas.openxmlformats.org/officeDocument/2006/relationships/oleObject" Target="../embeddings/oleObject90.bin"/><Relationship Id="rId20" Type="http://schemas.openxmlformats.org/officeDocument/2006/relationships/oleObject" Target="../embeddings/oleObject92.bin"/><Relationship Id="rId1" Type="http://schemas.openxmlformats.org/officeDocument/2006/relationships/slideLayout" Target="../slideLayouts/slideLayout5.xml"/><Relationship Id="rId6" Type="http://schemas.openxmlformats.org/officeDocument/2006/relationships/oleObject" Target="../embeddings/oleObject85.bin"/><Relationship Id="rId11" Type="http://schemas.openxmlformats.org/officeDocument/2006/relationships/image" Target="../media/image121.wmf"/><Relationship Id="rId5" Type="http://schemas.openxmlformats.org/officeDocument/2006/relationships/image" Target="../media/image118.wmf"/><Relationship Id="rId15" Type="http://schemas.openxmlformats.org/officeDocument/2006/relationships/image" Target="../media/image123.wmf"/><Relationship Id="rId10" Type="http://schemas.openxmlformats.org/officeDocument/2006/relationships/oleObject" Target="../embeddings/oleObject87.bin"/><Relationship Id="rId19" Type="http://schemas.openxmlformats.org/officeDocument/2006/relationships/image" Target="../media/image125.wmf"/><Relationship Id="rId4" Type="http://schemas.openxmlformats.org/officeDocument/2006/relationships/oleObject" Target="../embeddings/oleObject84.bin"/><Relationship Id="rId9" Type="http://schemas.openxmlformats.org/officeDocument/2006/relationships/image" Target="../media/image120.wmf"/><Relationship Id="rId14" Type="http://schemas.openxmlformats.org/officeDocument/2006/relationships/oleObject" Target="../embeddings/oleObject89.bin"/></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3.xml.rels><?xml version="1.0" encoding="UTF-8" standalone="yes"?>
<Relationships xmlns="http://schemas.openxmlformats.org/package/2006/relationships"><Relationship Id="rId8" Type="http://schemas.openxmlformats.org/officeDocument/2006/relationships/oleObject" Target="../embeddings/oleObject96.bin"/><Relationship Id="rId13" Type="http://schemas.openxmlformats.org/officeDocument/2006/relationships/image" Target="../media/image122.wmf"/><Relationship Id="rId18" Type="http://schemas.openxmlformats.org/officeDocument/2006/relationships/oleObject" Target="../embeddings/oleObject101.bin"/><Relationship Id="rId3" Type="http://schemas.openxmlformats.org/officeDocument/2006/relationships/image" Target="../media/image117.wmf"/><Relationship Id="rId21" Type="http://schemas.openxmlformats.org/officeDocument/2006/relationships/image" Target="../media/image126.wmf"/><Relationship Id="rId7" Type="http://schemas.openxmlformats.org/officeDocument/2006/relationships/image" Target="../media/image119.wmf"/><Relationship Id="rId12" Type="http://schemas.openxmlformats.org/officeDocument/2006/relationships/oleObject" Target="../embeddings/oleObject98.bin"/><Relationship Id="rId17" Type="http://schemas.openxmlformats.org/officeDocument/2006/relationships/image" Target="../media/image124.wmf"/><Relationship Id="rId2" Type="http://schemas.openxmlformats.org/officeDocument/2006/relationships/oleObject" Target="../embeddings/oleObject93.bin"/><Relationship Id="rId16" Type="http://schemas.openxmlformats.org/officeDocument/2006/relationships/oleObject" Target="../embeddings/oleObject100.bin"/><Relationship Id="rId20" Type="http://schemas.openxmlformats.org/officeDocument/2006/relationships/oleObject" Target="../embeddings/oleObject102.bin"/><Relationship Id="rId1" Type="http://schemas.openxmlformats.org/officeDocument/2006/relationships/slideLayout" Target="../slideLayouts/slideLayout5.xml"/><Relationship Id="rId6" Type="http://schemas.openxmlformats.org/officeDocument/2006/relationships/oleObject" Target="../embeddings/oleObject95.bin"/><Relationship Id="rId11" Type="http://schemas.openxmlformats.org/officeDocument/2006/relationships/image" Target="../media/image121.wmf"/><Relationship Id="rId5" Type="http://schemas.openxmlformats.org/officeDocument/2006/relationships/image" Target="../media/image118.wmf"/><Relationship Id="rId15" Type="http://schemas.openxmlformats.org/officeDocument/2006/relationships/image" Target="../media/image123.wmf"/><Relationship Id="rId10" Type="http://schemas.openxmlformats.org/officeDocument/2006/relationships/oleObject" Target="../embeddings/oleObject97.bin"/><Relationship Id="rId19" Type="http://schemas.openxmlformats.org/officeDocument/2006/relationships/image" Target="../media/image125.wmf"/><Relationship Id="rId4" Type="http://schemas.openxmlformats.org/officeDocument/2006/relationships/oleObject" Target="../embeddings/oleObject94.bin"/><Relationship Id="rId9" Type="http://schemas.openxmlformats.org/officeDocument/2006/relationships/image" Target="../media/image120.wmf"/><Relationship Id="rId14" Type="http://schemas.openxmlformats.org/officeDocument/2006/relationships/oleObject" Target="../embeddings/oleObject99.bin"/></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5.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5.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7.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5.xml"/></Relationships>
</file>

<file path=ppt/slides/_rels/slide228.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31.png"/><Relationship Id="rId1" Type="http://schemas.openxmlformats.org/officeDocument/2006/relationships/slideLayout" Target="../slideLayouts/slideLayout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31.png"/><Relationship Id="rId1" Type="http://schemas.openxmlformats.org/officeDocument/2006/relationships/slideLayout" Target="../slideLayouts/slideLayout5.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1.xml.rels><?xml version="1.0" encoding="UTF-8" standalone="yes"?>
<Relationships xmlns="http://schemas.openxmlformats.org/package/2006/relationships"><Relationship Id="rId3" Type="http://schemas.openxmlformats.org/officeDocument/2006/relationships/oleObject" Target="../embeddings/oleObject103.bin"/><Relationship Id="rId2" Type="http://schemas.openxmlformats.org/officeDocument/2006/relationships/notesSlide" Target="../notesSlides/notesSlide15.xml"/><Relationship Id="rId1" Type="http://schemas.openxmlformats.org/officeDocument/2006/relationships/slideLayout" Target="../slideLayouts/slideLayout5.xml"/><Relationship Id="rId4" Type="http://schemas.openxmlformats.org/officeDocument/2006/relationships/image" Target="../media/image132.wmf"/></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3.xml.rels><?xml version="1.0" encoding="UTF-8" standalone="yes"?>
<Relationships xmlns="http://schemas.openxmlformats.org/package/2006/relationships"><Relationship Id="rId3" Type="http://schemas.openxmlformats.org/officeDocument/2006/relationships/oleObject" Target="../embeddings/oleObject104.bin"/><Relationship Id="rId2" Type="http://schemas.openxmlformats.org/officeDocument/2006/relationships/notesSlide" Target="../notesSlides/notesSlide16.xml"/><Relationship Id="rId1" Type="http://schemas.openxmlformats.org/officeDocument/2006/relationships/slideLayout" Target="../slideLayouts/slideLayout5.xml"/><Relationship Id="rId4" Type="http://schemas.openxmlformats.org/officeDocument/2006/relationships/image" Target="../media/image132.wmf"/></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49.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25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51.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256.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57.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259.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1.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3.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64.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65.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267.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2" Type="http://schemas.openxmlformats.org/officeDocument/2006/relationships/image" Target="../media/image138.emf"/><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2" Type="http://schemas.openxmlformats.org/officeDocument/2006/relationships/image" Target="../media/image138.emf"/><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emf"/><Relationship Id="rId1" Type="http://schemas.openxmlformats.org/officeDocument/2006/relationships/slideLayout" Target="../slideLayouts/slideLayout7.xml"/><Relationship Id="rId4" Type="http://schemas.openxmlformats.org/officeDocument/2006/relationships/image" Target="../media/image141.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emf"/><Relationship Id="rId1" Type="http://schemas.openxmlformats.org/officeDocument/2006/relationships/slideLayout" Target="../slideLayouts/slideLayout7.xml"/><Relationship Id="rId4" Type="http://schemas.openxmlformats.org/officeDocument/2006/relationships/image" Target="../media/image141.png"/></Relationships>
</file>

<file path=ppt/slides/_rels/slide280.xml.rels><?xml version="1.0" encoding="UTF-8" standalone="yes"?>
<Relationships xmlns="http://schemas.openxmlformats.org/package/2006/relationships"><Relationship Id="rId8" Type="http://schemas.openxmlformats.org/officeDocument/2006/relationships/image" Target="../media/image145.wmf"/><Relationship Id="rId3" Type="http://schemas.openxmlformats.org/officeDocument/2006/relationships/oleObject" Target="../embeddings/oleObject105.bin"/><Relationship Id="rId7" Type="http://schemas.openxmlformats.org/officeDocument/2006/relationships/oleObject" Target="../embeddings/oleObject107.bin"/><Relationship Id="rId2" Type="http://schemas.openxmlformats.org/officeDocument/2006/relationships/image" Target="../media/image142.png"/><Relationship Id="rId1" Type="http://schemas.openxmlformats.org/officeDocument/2006/relationships/slideLayout" Target="../slideLayouts/slideLayout7.xml"/><Relationship Id="rId6" Type="http://schemas.openxmlformats.org/officeDocument/2006/relationships/image" Target="../media/image144.wmf"/><Relationship Id="rId11" Type="http://schemas.openxmlformats.org/officeDocument/2006/relationships/image" Target="../media/image147.png"/><Relationship Id="rId5" Type="http://schemas.openxmlformats.org/officeDocument/2006/relationships/oleObject" Target="../embeddings/oleObject106.bin"/><Relationship Id="rId10" Type="http://schemas.openxmlformats.org/officeDocument/2006/relationships/image" Target="../media/image146.wmf"/><Relationship Id="rId4" Type="http://schemas.openxmlformats.org/officeDocument/2006/relationships/image" Target="../media/image143.wmf"/><Relationship Id="rId9" Type="http://schemas.openxmlformats.org/officeDocument/2006/relationships/oleObject" Target="../embeddings/oleObject108.bin"/></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8" Type="http://schemas.openxmlformats.org/officeDocument/2006/relationships/image" Target="../media/image145.wmf"/><Relationship Id="rId3" Type="http://schemas.openxmlformats.org/officeDocument/2006/relationships/oleObject" Target="../embeddings/oleObject109.bin"/><Relationship Id="rId7" Type="http://schemas.openxmlformats.org/officeDocument/2006/relationships/oleObject" Target="../embeddings/oleObject111.bin"/><Relationship Id="rId2" Type="http://schemas.openxmlformats.org/officeDocument/2006/relationships/image" Target="../media/image142.png"/><Relationship Id="rId1" Type="http://schemas.openxmlformats.org/officeDocument/2006/relationships/slideLayout" Target="../slideLayouts/slideLayout7.xml"/><Relationship Id="rId6" Type="http://schemas.openxmlformats.org/officeDocument/2006/relationships/image" Target="../media/image144.wmf"/><Relationship Id="rId11" Type="http://schemas.openxmlformats.org/officeDocument/2006/relationships/image" Target="../media/image147.png"/><Relationship Id="rId5" Type="http://schemas.openxmlformats.org/officeDocument/2006/relationships/oleObject" Target="../embeddings/oleObject110.bin"/><Relationship Id="rId10" Type="http://schemas.openxmlformats.org/officeDocument/2006/relationships/image" Target="../media/image146.wmf"/><Relationship Id="rId4" Type="http://schemas.openxmlformats.org/officeDocument/2006/relationships/image" Target="../media/image143.wmf"/><Relationship Id="rId9" Type="http://schemas.openxmlformats.org/officeDocument/2006/relationships/oleObject" Target="../embeddings/oleObject112.bin"/></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293.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295.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9.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9.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9.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9.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308.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openxmlformats.org/officeDocument/2006/relationships/notesSlide" Target="../notesSlides/notesSlide43.xml"/><Relationship Id="rId1" Type="http://schemas.openxmlformats.org/officeDocument/2006/relationships/slideLayout" Target="../slideLayouts/slideLayout9.xml"/><Relationship Id="rId4" Type="http://schemas.openxmlformats.org/officeDocument/2006/relationships/image" Target="../media/image148.wmf"/></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10.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openxmlformats.org/officeDocument/2006/relationships/notesSlide" Target="../notesSlides/notesSlide44.xml"/><Relationship Id="rId1" Type="http://schemas.openxmlformats.org/officeDocument/2006/relationships/slideLayout" Target="../slideLayouts/slideLayout9.xml"/><Relationship Id="rId4" Type="http://schemas.openxmlformats.org/officeDocument/2006/relationships/image" Target="../media/image148.wmf"/></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12.xml.rels><?xml version="1.0" encoding="UTF-8" standalone="yes"?>
<Relationships xmlns="http://schemas.openxmlformats.org/package/2006/relationships"><Relationship Id="rId2" Type="http://schemas.openxmlformats.org/officeDocument/2006/relationships/image" Target="../media/image149.emf"/><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2" Type="http://schemas.openxmlformats.org/officeDocument/2006/relationships/image" Target="../media/image149.emf"/><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2" Type="http://schemas.openxmlformats.org/officeDocument/2006/relationships/image" Target="../media/image149.emf"/><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2" Type="http://schemas.openxmlformats.org/officeDocument/2006/relationships/image" Target="../media/image149.emf"/><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2" Type="http://schemas.openxmlformats.org/officeDocument/2006/relationships/image" Target="../media/image149.emf"/><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3" Type="http://schemas.openxmlformats.org/officeDocument/2006/relationships/image" Target="../media/image149.emf"/><Relationship Id="rId2" Type="http://schemas.openxmlformats.org/officeDocument/2006/relationships/image" Target="../media/image150.png"/><Relationship Id="rId1" Type="http://schemas.openxmlformats.org/officeDocument/2006/relationships/slideLayout" Target="../slideLayouts/slideLayout7.xml"/><Relationship Id="rId4" Type="http://schemas.openxmlformats.org/officeDocument/2006/relationships/image" Target="../media/image151.png"/></Relationships>
</file>

<file path=ppt/slides/_rels/slide318.xml.rels><?xml version="1.0" encoding="UTF-8" standalone="yes"?>
<Relationships xmlns="http://schemas.openxmlformats.org/package/2006/relationships"><Relationship Id="rId2" Type="http://schemas.openxmlformats.org/officeDocument/2006/relationships/image" Target="../media/image149.emf"/><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3" Type="http://schemas.openxmlformats.org/officeDocument/2006/relationships/image" Target="../media/image149.emf"/><Relationship Id="rId2" Type="http://schemas.openxmlformats.org/officeDocument/2006/relationships/image" Target="../media/image150.png"/><Relationship Id="rId1" Type="http://schemas.openxmlformats.org/officeDocument/2006/relationships/slideLayout" Target="../slideLayouts/slideLayout7.xml"/><Relationship Id="rId4" Type="http://schemas.openxmlformats.org/officeDocument/2006/relationships/image" Target="../media/image151.png"/></Relationships>
</file>

<file path=ppt/slides/_rels/slide320.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image" Target="../media/image152.png"/><Relationship Id="rId1" Type="http://schemas.openxmlformats.org/officeDocument/2006/relationships/slideLayout" Target="../slideLayouts/slideLayout7.xml"/><Relationship Id="rId4" Type="http://schemas.openxmlformats.org/officeDocument/2006/relationships/image" Target="../media/image154.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image" Target="../media/image152.png"/><Relationship Id="rId1" Type="http://schemas.openxmlformats.org/officeDocument/2006/relationships/slideLayout" Target="../slideLayouts/slideLayout7.xml"/><Relationship Id="rId4" Type="http://schemas.openxmlformats.org/officeDocument/2006/relationships/image" Target="../media/image154.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제목 5"/>
          <p:cNvSpPr txBox="1">
            <a:spLocks/>
          </p:cNvSpPr>
          <p:nvPr/>
        </p:nvSpPr>
        <p:spPr bwMode="auto">
          <a:xfrm>
            <a:off x="659396" y="2643182"/>
            <a:ext cx="7913132" cy="706438"/>
          </a:xfrm>
          <a:prstGeom prst="rect">
            <a:avLst/>
          </a:prstGeom>
          <a:noFill/>
          <a:ln w="9525">
            <a:noFill/>
            <a:prstDash val="sysDash"/>
            <a:miter lim="800000"/>
            <a:headEnd/>
            <a:tailEnd/>
          </a:ln>
        </p:spPr>
        <p:txBody>
          <a:bodyPr anchor="ctr"/>
          <a:lstStyle/>
          <a:p>
            <a:pPr algn="ctr"/>
            <a:r>
              <a:rPr lang="en-US" altLang="ko-KR" sz="13800" b="1" dirty="0">
                <a:solidFill>
                  <a:srgbClr val="C5003D"/>
                </a:solidFill>
                <a:latin typeface="맑은 고딕" pitchFamily="50" charset="-127"/>
                <a:ea typeface="맑은 고딕" pitchFamily="50" charset="-127"/>
              </a:rPr>
              <a:t>6 sigma</a:t>
            </a:r>
            <a:endParaRPr lang="ko-KR" altLang="en-US" sz="13800" b="1" dirty="0">
              <a:solidFill>
                <a:srgbClr val="C5003D"/>
              </a:solidFill>
              <a:latin typeface="맑은 고딕" pitchFamily="50" charset="-127"/>
              <a:ea typeface="맑은 고딕" pitchFamily="50" charset="-127"/>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제목 5"/>
          <p:cNvSpPr txBox="1">
            <a:spLocks/>
          </p:cNvSpPr>
          <p:nvPr/>
        </p:nvSpPr>
        <p:spPr bwMode="auto">
          <a:xfrm>
            <a:off x="615434" y="1508116"/>
            <a:ext cx="7913132" cy="706438"/>
          </a:xfrm>
          <a:prstGeom prst="rect">
            <a:avLst/>
          </a:prstGeom>
          <a:noFill/>
          <a:ln w="9525">
            <a:noFill/>
            <a:prstDash val="sysDash"/>
            <a:miter lim="800000"/>
            <a:headEnd/>
            <a:tailEnd/>
          </a:ln>
        </p:spPr>
        <p:txBody>
          <a:bodyPr anchor="ctr"/>
          <a:lstStyle/>
          <a:p>
            <a:pPr algn="ctr"/>
            <a:r>
              <a:rPr lang="en-US" altLang="ko-KR" sz="3600" b="1" dirty="0">
                <a:solidFill>
                  <a:srgbClr val="C5003D"/>
                </a:solidFill>
                <a:latin typeface="맑은 고딕" pitchFamily="50" charset="-127"/>
                <a:ea typeface="맑은 고딕" pitchFamily="50" charset="-127"/>
              </a:rPr>
              <a:t>Chapter 1. Gage R&amp;R</a:t>
            </a:r>
            <a:endParaRPr lang="ko-KR" altLang="en-US" sz="3600" b="1" dirty="0">
              <a:solidFill>
                <a:srgbClr val="C5003D"/>
              </a:solidFill>
              <a:latin typeface="맑은 고딕" pitchFamily="50" charset="-127"/>
              <a:ea typeface="맑은 고딕" pitchFamily="50" charset="-127"/>
            </a:endParaRPr>
          </a:p>
        </p:txBody>
      </p:sp>
      <p:pic>
        <p:nvPicPr>
          <p:cNvPr id="2253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85852" y="3214686"/>
            <a:ext cx="678474" cy="679450"/>
          </a:xfrm>
          <a:prstGeom prst="rect">
            <a:avLst/>
          </a:prstGeom>
          <a:noFill/>
          <a:ln w="9525">
            <a:noFill/>
            <a:miter lim="800000"/>
            <a:headEnd/>
            <a:tailEnd/>
          </a:ln>
        </p:spPr>
      </p:pic>
      <p:sp>
        <p:nvSpPr>
          <p:cNvPr id="10" name="모서리가 둥근 직사각형 9"/>
          <p:cNvSpPr/>
          <p:nvPr/>
        </p:nvSpPr>
        <p:spPr>
          <a:xfrm>
            <a:off x="772652" y="2988942"/>
            <a:ext cx="7728438" cy="1940256"/>
          </a:xfrm>
          <a:prstGeom prst="roundRect">
            <a:avLst>
              <a:gd name="adj" fmla="val 8852"/>
            </a:avLst>
          </a:prstGeom>
          <a:noFill/>
          <a:ln>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p>
        </p:txBody>
      </p:sp>
      <p:sp>
        <p:nvSpPr>
          <p:cNvPr id="21" name="TextBox 20"/>
          <p:cNvSpPr txBox="1"/>
          <p:nvPr/>
        </p:nvSpPr>
        <p:spPr>
          <a:xfrm>
            <a:off x="2214546" y="3174141"/>
            <a:ext cx="6663104" cy="1592744"/>
          </a:xfrm>
          <a:prstGeom prst="rect">
            <a:avLst/>
          </a:prstGeom>
          <a:noFill/>
        </p:spPr>
        <p:txBody>
          <a:bodyPr>
            <a:spAutoFit/>
          </a:bodyPr>
          <a:lstStyle/>
          <a:p>
            <a:pPr marL="266700" indent="-266700">
              <a:lnSpc>
                <a:spcPct val="130000"/>
              </a:lnSpc>
              <a:buClr>
                <a:schemeClr val="bg1">
                  <a:lumMod val="50000"/>
                </a:schemeClr>
              </a:buClr>
              <a:buFont typeface="Wingdings" pitchFamily="2" charset="2"/>
              <a:buChar char="u"/>
              <a:defRPr/>
            </a:pPr>
            <a:r>
              <a:rPr kumimoji="0" lang="en-US" altLang="ko-KR" sz="2500" b="1" dirty="0">
                <a:latin typeface="+mn-ea"/>
                <a:ea typeface="+mn-ea"/>
              </a:rPr>
              <a:t> </a:t>
            </a:r>
            <a:r>
              <a:rPr lang="en-US" altLang="ko-KR" sz="2500" b="1" dirty="0">
                <a:latin typeface="+mn-ea"/>
              </a:rPr>
              <a:t>Understanding Variability</a:t>
            </a:r>
            <a:endParaRPr kumimoji="0" lang="en-US" altLang="ko-KR" sz="2500" b="1" dirty="0">
              <a:latin typeface="+mn-ea"/>
              <a:ea typeface="+mn-ea"/>
            </a:endParaRPr>
          </a:p>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2500" b="1" dirty="0">
                <a:latin typeface="+mn-ea"/>
                <a:ea typeface="+mn-ea"/>
              </a:rPr>
              <a:t> </a:t>
            </a:r>
            <a:r>
              <a:rPr lang="en-US" altLang="ko-KR" sz="2500" b="1" dirty="0">
                <a:latin typeface="+mn-ea"/>
              </a:rPr>
              <a:t>Learn about Gage R&amp;R</a:t>
            </a:r>
          </a:p>
          <a:p>
            <a:pPr marL="266700" indent="-266700">
              <a:lnSpc>
                <a:spcPct val="130000"/>
              </a:lnSpc>
              <a:buClr>
                <a:schemeClr val="bg1">
                  <a:lumMod val="50000"/>
                </a:schemeClr>
              </a:buClr>
              <a:buFont typeface="Wingdings" pitchFamily="2" charset="2"/>
              <a:buChar char="u"/>
              <a:defRPr/>
            </a:pPr>
            <a:r>
              <a:rPr lang="en-US" altLang="ko-KR" sz="2500" b="1" dirty="0">
                <a:latin typeface="+mn-ea"/>
              </a:rPr>
              <a:t> Measurement system analysis</a:t>
            </a:r>
            <a:endParaRPr kumimoji="0" lang="en-US" altLang="ko-KR" sz="2500" b="1" dirty="0">
              <a:latin typeface="+mn-ea"/>
              <a:ea typeface="+mn-ea"/>
            </a:endParaRPr>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a:t>
            </a:fld>
            <a:endParaRPr lang="ko-KR" altLang="en-US" dirty="0"/>
          </a:p>
        </p:txBody>
      </p:sp>
      <p:sp>
        <p:nvSpPr>
          <p:cNvPr id="34" name="TextBox 33"/>
          <p:cNvSpPr txBox="1"/>
          <p:nvPr/>
        </p:nvSpPr>
        <p:spPr>
          <a:xfrm>
            <a:off x="3857620" y="5548986"/>
            <a:ext cx="1402692" cy="523220"/>
          </a:xfrm>
          <a:prstGeom prst="rect">
            <a:avLst/>
          </a:prstGeom>
          <a:noFill/>
        </p:spPr>
        <p:txBody>
          <a:bodyPr wrap="none" rtlCol="0" anchor="ctr">
            <a:spAutoFit/>
          </a:bodyPr>
          <a:lstStyle/>
          <a:p>
            <a:pPr algn="ctr"/>
            <a:endParaRPr lang="en-US" altLang="ko-KR" sz="1400" dirty="0"/>
          </a:p>
          <a:p>
            <a:pPr algn="ctr"/>
            <a:r>
              <a:rPr lang="en-US" altLang="ko-KR" sz="1400" dirty="0"/>
              <a:t>HA BUMYONG</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58430" y="214290"/>
            <a:ext cx="4083169" cy="369332"/>
          </a:xfrm>
          <a:prstGeom prst="rect">
            <a:avLst/>
          </a:prstGeom>
          <a:noFill/>
        </p:spPr>
        <p:txBody>
          <a:bodyPr wrap="none" rtlCol="0">
            <a:spAutoFit/>
          </a:bodyPr>
          <a:lstStyle/>
          <a:p>
            <a:r>
              <a:rPr lang="en-US" altLang="ko-KR" b="1" dirty="0"/>
              <a:t>Do </a:t>
            </a:r>
            <a:r>
              <a:rPr lang="en-US" altLang="ko-KR" b="1" dirty="0" err="1"/>
              <a:t>có</a:t>
            </a:r>
            <a:r>
              <a:rPr lang="en-US" altLang="ko-KR" b="1" dirty="0"/>
              <a:t> </a:t>
            </a:r>
            <a:r>
              <a:rPr lang="en-US" altLang="ko-KR" b="1" dirty="0" err="1"/>
              <a:t>tài</a:t>
            </a:r>
            <a:r>
              <a:rPr lang="en-US" altLang="ko-KR" b="1" dirty="0"/>
              <a:t> </a:t>
            </a:r>
            <a:r>
              <a:rPr lang="en-US" altLang="ko-KR" b="1" dirty="0" err="1"/>
              <a:t>liệu</a:t>
            </a:r>
            <a:r>
              <a:rPr lang="en-US" altLang="ko-KR" b="1" dirty="0"/>
              <a:t> </a:t>
            </a:r>
            <a:r>
              <a:rPr lang="en-US" altLang="ko-KR" b="1" dirty="0" err="1"/>
              <a:t>bổ</a:t>
            </a:r>
            <a:r>
              <a:rPr lang="en-US" altLang="ko-KR" b="1" dirty="0"/>
              <a:t> sung Gage R&amp;R …</a:t>
            </a:r>
            <a:endParaRPr lang="ko-KR" altLang="en-US" b="1" dirty="0"/>
          </a:p>
        </p:txBody>
      </p:sp>
      <p:sp>
        <p:nvSpPr>
          <p:cNvPr id="3" name="TextBox 2"/>
          <p:cNvSpPr txBox="1"/>
          <p:nvPr/>
        </p:nvSpPr>
        <p:spPr>
          <a:xfrm>
            <a:off x="285720" y="1278799"/>
            <a:ext cx="8496944" cy="3293209"/>
          </a:xfrm>
          <a:prstGeom prst="rect">
            <a:avLst/>
          </a:prstGeom>
          <a:noFill/>
        </p:spPr>
        <p:txBody>
          <a:bodyPr wrap="square" rtlCol="0">
            <a:spAutoFit/>
          </a:bodyPr>
          <a:lstStyle/>
          <a:p>
            <a:r>
              <a:rPr lang="en-US" altLang="ko-KR" sz="1600" dirty="0" err="1"/>
              <a:t>Trước</a:t>
            </a:r>
            <a:r>
              <a:rPr lang="en-US" altLang="ko-KR" sz="1600" dirty="0"/>
              <a:t> </a:t>
            </a:r>
            <a:r>
              <a:rPr lang="en-US" altLang="ko-KR" sz="1600" dirty="0" err="1"/>
              <a:t>đây</a:t>
            </a:r>
            <a:r>
              <a:rPr lang="en-US" altLang="ko-KR" sz="1600" dirty="0"/>
              <a:t> </a:t>
            </a:r>
            <a:r>
              <a:rPr lang="en-US" altLang="ko-KR" sz="1600" dirty="0" err="1"/>
              <a:t>khi</a:t>
            </a:r>
            <a:r>
              <a:rPr lang="en-US" altLang="ko-KR" sz="1600" dirty="0"/>
              <a:t> </a:t>
            </a:r>
            <a:r>
              <a:rPr lang="en-US" altLang="ko-KR" sz="1600" dirty="0" err="1"/>
              <a:t>chia</a:t>
            </a:r>
            <a:r>
              <a:rPr lang="en-US" altLang="ko-KR" sz="1600" dirty="0"/>
              <a:t> </a:t>
            </a:r>
            <a:r>
              <a:rPr lang="en-US" altLang="ko-KR" sz="1600" dirty="0" err="1"/>
              <a:t>năm</a:t>
            </a:r>
            <a:r>
              <a:rPr lang="en-US" altLang="ko-KR" sz="1600" dirty="0"/>
              <a:t> </a:t>
            </a:r>
            <a:r>
              <a:rPr lang="en-US" altLang="ko-KR" sz="1600" dirty="0" err="1"/>
              <a:t>cấp</a:t>
            </a:r>
            <a:r>
              <a:rPr lang="en-US" altLang="ko-KR" sz="1600" dirty="0"/>
              <a:t> </a:t>
            </a:r>
            <a:r>
              <a:rPr lang="en-US" altLang="ko-KR" sz="1600" dirty="0" err="1"/>
              <a:t>bậc</a:t>
            </a:r>
            <a:r>
              <a:rPr lang="en-US" altLang="ko-KR" sz="1600" dirty="0"/>
              <a:t> MSA </a:t>
            </a:r>
            <a:r>
              <a:rPr lang="en-US" altLang="ko-KR" sz="1600" dirty="0" err="1"/>
              <a:t>độ</a:t>
            </a:r>
            <a:r>
              <a:rPr lang="en-US" altLang="ko-KR" sz="1600" dirty="0"/>
              <a:t> </a:t>
            </a:r>
            <a:r>
              <a:rPr lang="en-US" altLang="ko-KR" sz="1600" dirty="0" err="1"/>
              <a:t>chính</a:t>
            </a:r>
            <a:r>
              <a:rPr lang="en-US" altLang="ko-KR" sz="1600" dirty="0"/>
              <a:t> </a:t>
            </a:r>
            <a:r>
              <a:rPr lang="en-US" altLang="ko-KR" sz="1600" dirty="0" err="1"/>
              <a:t>xác</a:t>
            </a:r>
            <a:r>
              <a:rPr lang="en-US" altLang="ko-KR" sz="1600" dirty="0"/>
              <a:t> </a:t>
            </a:r>
            <a:r>
              <a:rPr lang="en-US" altLang="ko-KR" sz="1600" dirty="0" err="1"/>
              <a:t>và</a:t>
            </a:r>
            <a:r>
              <a:rPr lang="en-US" altLang="ko-KR" sz="1600" dirty="0"/>
              <a:t> </a:t>
            </a:r>
            <a:r>
              <a:rPr lang="en-US" altLang="ko-KR" sz="1600" dirty="0" err="1"/>
              <a:t>độ</a:t>
            </a:r>
            <a:r>
              <a:rPr lang="en-US" altLang="ko-KR" sz="1600" dirty="0"/>
              <a:t> </a:t>
            </a:r>
            <a:r>
              <a:rPr lang="en-US" altLang="ko-KR" sz="1600" dirty="0" err="1"/>
              <a:t>tỉ</a:t>
            </a:r>
            <a:r>
              <a:rPr lang="en-US" altLang="ko-KR" sz="1600" dirty="0"/>
              <a:t> </a:t>
            </a:r>
            <a:r>
              <a:rPr lang="en-US" altLang="ko-KR" sz="1600" dirty="0" err="1"/>
              <a:t>mỉ</a:t>
            </a:r>
            <a:r>
              <a:rPr lang="en-US" altLang="ko-KR" sz="1600" dirty="0"/>
              <a:t>, Gage R&amp;R </a:t>
            </a:r>
            <a:r>
              <a:rPr lang="en-US" altLang="ko-KR" sz="1600" dirty="0" err="1"/>
              <a:t>tương</a:t>
            </a:r>
            <a:endParaRPr lang="en-US" altLang="ko-KR" sz="1600" dirty="0"/>
          </a:p>
          <a:p>
            <a:r>
              <a:rPr lang="en-US" altLang="ko-KR" sz="1600" dirty="0" err="1"/>
              <a:t>ứng</a:t>
            </a:r>
            <a:r>
              <a:rPr lang="en-US" altLang="ko-KR" sz="1600" dirty="0"/>
              <a:t> </a:t>
            </a:r>
            <a:r>
              <a:rPr lang="en-US" altLang="ko-KR" sz="1600" dirty="0" err="1"/>
              <a:t>với</a:t>
            </a:r>
            <a:r>
              <a:rPr lang="en-US" altLang="ko-KR" sz="1600" dirty="0"/>
              <a:t> reproducibility </a:t>
            </a:r>
            <a:r>
              <a:rPr lang="en-US" altLang="ko-KR" sz="1600" dirty="0" err="1"/>
              <a:t>và</a:t>
            </a:r>
            <a:r>
              <a:rPr lang="en-US" altLang="ko-KR" sz="1600" dirty="0"/>
              <a:t> repeatability </a:t>
            </a:r>
            <a:r>
              <a:rPr lang="en-US" altLang="ko-KR" sz="1600" dirty="0" err="1"/>
              <a:t>của</a:t>
            </a:r>
            <a:r>
              <a:rPr lang="en-US" altLang="ko-KR" sz="1600" dirty="0"/>
              <a:t> </a:t>
            </a:r>
            <a:r>
              <a:rPr lang="en-US" altLang="ko-KR" sz="1600" dirty="0" err="1"/>
              <a:t>độ</a:t>
            </a:r>
            <a:r>
              <a:rPr lang="en-US" altLang="ko-KR" sz="1600" dirty="0"/>
              <a:t> </a:t>
            </a:r>
            <a:r>
              <a:rPr lang="en-US" altLang="ko-KR" sz="1600" dirty="0" err="1"/>
              <a:t>tỉ</a:t>
            </a:r>
            <a:r>
              <a:rPr lang="en-US" altLang="ko-KR" sz="1600" dirty="0"/>
              <a:t> </a:t>
            </a:r>
            <a:r>
              <a:rPr lang="en-US" altLang="ko-KR" sz="1600" dirty="0" err="1"/>
              <a:t>mỉ</a:t>
            </a:r>
            <a:r>
              <a:rPr lang="en-US" altLang="ko-KR" sz="1600" dirty="0"/>
              <a:t>. </a:t>
            </a:r>
            <a:r>
              <a:rPr lang="en-US" altLang="ko-KR" sz="1600" dirty="0" err="1"/>
              <a:t>Nhưng</a:t>
            </a:r>
            <a:r>
              <a:rPr lang="en-US" altLang="ko-KR" sz="1600" dirty="0"/>
              <a:t> </a:t>
            </a:r>
            <a:r>
              <a:rPr lang="en-US" altLang="ko-KR" sz="1600" dirty="0" err="1"/>
              <a:t>nếu</a:t>
            </a:r>
            <a:r>
              <a:rPr lang="en-US" altLang="ko-KR" sz="1600" dirty="0"/>
              <a:t> </a:t>
            </a:r>
            <a:r>
              <a:rPr lang="en-US" altLang="ko-KR" sz="1600" dirty="0" err="1"/>
              <a:t>nhìn</a:t>
            </a:r>
            <a:r>
              <a:rPr lang="en-US" altLang="ko-KR" sz="1600" dirty="0"/>
              <a:t> </a:t>
            </a:r>
            <a:r>
              <a:rPr lang="en-US" altLang="ko-KR" sz="1600" dirty="0" err="1"/>
              <a:t>vào</a:t>
            </a:r>
            <a:r>
              <a:rPr lang="en-US" altLang="ko-KR" sz="1600" dirty="0"/>
              <a:t> </a:t>
            </a:r>
            <a:r>
              <a:rPr lang="en-US" altLang="ko-KR" sz="1600" dirty="0" err="1"/>
              <a:t>xu</a:t>
            </a:r>
            <a:r>
              <a:rPr lang="en-US" altLang="ko-KR" sz="1600" dirty="0"/>
              <a:t> </a:t>
            </a:r>
            <a:r>
              <a:rPr lang="en-US" altLang="ko-KR" sz="1600" dirty="0" err="1"/>
              <a:t>hướng</a:t>
            </a:r>
            <a:endParaRPr lang="en-US" altLang="ko-KR" sz="1600" dirty="0"/>
          </a:p>
          <a:p>
            <a:r>
              <a:rPr lang="en-US" altLang="ko-KR" sz="1600" dirty="0" err="1"/>
              <a:t>tiêu</a:t>
            </a:r>
            <a:r>
              <a:rPr lang="en-US" altLang="ko-KR" sz="1600" dirty="0"/>
              <a:t> </a:t>
            </a:r>
            <a:r>
              <a:rPr lang="en-US" altLang="ko-KR" sz="1600" dirty="0" err="1"/>
              <a:t>chuẩn</a:t>
            </a:r>
            <a:r>
              <a:rPr lang="en-US" altLang="ko-KR" sz="1600" dirty="0"/>
              <a:t> </a:t>
            </a:r>
            <a:r>
              <a:rPr lang="en-US" altLang="ko-KR" sz="1600" dirty="0" err="1"/>
              <a:t>gần</a:t>
            </a:r>
            <a:r>
              <a:rPr lang="en-US" altLang="ko-KR" sz="1600" dirty="0"/>
              <a:t> </a:t>
            </a:r>
            <a:r>
              <a:rPr lang="en-US" altLang="ko-KR" sz="1600" dirty="0" err="1"/>
              <a:t>đây</a:t>
            </a:r>
            <a:r>
              <a:rPr lang="en-US" altLang="ko-KR" sz="1600" dirty="0"/>
              <a:t> MSA (Measurement System Analysis)</a:t>
            </a:r>
            <a:r>
              <a:rPr lang="ko-KR" altLang="en-US" sz="1600" dirty="0"/>
              <a:t> </a:t>
            </a:r>
            <a:r>
              <a:rPr lang="en-US" altLang="ko-KR" sz="1600" dirty="0" err="1"/>
              <a:t>và</a:t>
            </a:r>
            <a:r>
              <a:rPr lang="ko-KR" altLang="en-US" sz="1600" dirty="0"/>
              <a:t> </a:t>
            </a:r>
            <a:r>
              <a:rPr lang="en-US" altLang="ko-KR" sz="1600" dirty="0"/>
              <a:t>Gage R&amp;R </a:t>
            </a:r>
            <a:r>
              <a:rPr lang="en-US" altLang="ko-KR" sz="1600" dirty="0" err="1"/>
              <a:t>hiểu</a:t>
            </a:r>
            <a:r>
              <a:rPr lang="en-US" altLang="ko-KR" sz="1600" dirty="0"/>
              <a:t> </a:t>
            </a:r>
            <a:r>
              <a:rPr lang="en-US" altLang="ko-KR" sz="1600" dirty="0" err="1"/>
              <a:t>theo</a:t>
            </a:r>
            <a:endParaRPr lang="en-US" altLang="ko-KR" sz="1600" dirty="0"/>
          </a:p>
          <a:p>
            <a:r>
              <a:rPr lang="en-US" altLang="ko-KR" sz="1600" dirty="0" err="1"/>
              <a:t>khái</a:t>
            </a:r>
            <a:r>
              <a:rPr lang="en-US" altLang="ko-KR" sz="1600" dirty="0"/>
              <a:t> </a:t>
            </a:r>
            <a:r>
              <a:rPr lang="en-US" altLang="ko-KR" sz="1600" dirty="0" err="1"/>
              <a:t>niệm</a:t>
            </a:r>
            <a:r>
              <a:rPr lang="en-US" altLang="ko-KR" sz="1600" dirty="0"/>
              <a:t> </a:t>
            </a:r>
            <a:r>
              <a:rPr lang="en-US" altLang="ko-KR" sz="1600" dirty="0" err="1"/>
              <a:t>giống</a:t>
            </a:r>
            <a:r>
              <a:rPr lang="en-US" altLang="ko-KR" sz="1600" dirty="0"/>
              <a:t> </a:t>
            </a:r>
            <a:r>
              <a:rPr lang="en-US" altLang="ko-KR" sz="1600" dirty="0" err="1"/>
              <a:t>nhau</a:t>
            </a:r>
            <a:r>
              <a:rPr lang="en-US" altLang="ko-KR" sz="1600" dirty="0"/>
              <a:t>. </a:t>
            </a:r>
            <a:r>
              <a:rPr lang="en-US" altLang="ko-KR" sz="1600" dirty="0" err="1"/>
              <a:t>Nếu</a:t>
            </a:r>
            <a:r>
              <a:rPr lang="en-US" altLang="ko-KR" sz="1600" dirty="0"/>
              <a:t> </a:t>
            </a:r>
            <a:r>
              <a:rPr lang="en-US" altLang="ko-KR" sz="1600" dirty="0" err="1"/>
              <a:t>như</a:t>
            </a:r>
            <a:r>
              <a:rPr lang="en-US" altLang="ko-KR" sz="1600" dirty="0"/>
              <a:t> </a:t>
            </a:r>
            <a:r>
              <a:rPr lang="vi-VN" altLang="ko-KR" sz="1600" dirty="0"/>
              <a:t>kiểm tra độ chính xác trước đ</a:t>
            </a:r>
            <a:r>
              <a:rPr lang="en-US" altLang="ko-KR" sz="1600" dirty="0" err="1"/>
              <a:t>ây</a:t>
            </a:r>
            <a:r>
              <a:rPr lang="vi-VN" altLang="ko-KR" sz="1600" dirty="0"/>
              <a:t> trong </a:t>
            </a:r>
            <a:r>
              <a:rPr lang="en-US" altLang="ko-KR" sz="1600" dirty="0" err="1"/>
              <a:t>phòng</a:t>
            </a:r>
            <a:r>
              <a:rPr lang="en-US" altLang="ko-KR" sz="1600" dirty="0"/>
              <a:t> </a:t>
            </a:r>
            <a:r>
              <a:rPr lang="vi-VN" altLang="ko-KR" sz="1600" dirty="0"/>
              <a:t>tiêu </a:t>
            </a:r>
            <a:endParaRPr lang="en-US" altLang="ko-KR" sz="1600" dirty="0"/>
          </a:p>
          <a:p>
            <a:r>
              <a:rPr lang="vi-VN" altLang="ko-KR" sz="1600" dirty="0"/>
              <a:t>chuẩn, </a:t>
            </a:r>
            <a:r>
              <a:rPr lang="en-US" altLang="ko-KR" sz="1600" dirty="0" err="1"/>
              <a:t>thì</a:t>
            </a:r>
            <a:r>
              <a:rPr lang="en-US" altLang="ko-KR" sz="1600" dirty="0"/>
              <a:t> </a:t>
            </a:r>
            <a:r>
              <a:rPr lang="en-US" altLang="ko-KR" sz="1600" dirty="0" err="1"/>
              <a:t>bây</a:t>
            </a:r>
            <a:r>
              <a:rPr lang="en-US" altLang="ko-KR" sz="1600" dirty="0"/>
              <a:t> </a:t>
            </a:r>
            <a:r>
              <a:rPr lang="en-US" altLang="ko-KR" sz="1600" dirty="0" err="1"/>
              <a:t>giờ</a:t>
            </a:r>
            <a:r>
              <a:rPr lang="en-US" altLang="ko-KR" sz="1600" dirty="0"/>
              <a:t> </a:t>
            </a:r>
            <a:r>
              <a:rPr lang="en-US" altLang="ko-KR" sz="1600" dirty="0" err="1"/>
              <a:t>trong</a:t>
            </a:r>
            <a:r>
              <a:rPr lang="en-US" altLang="ko-KR" sz="1600" dirty="0"/>
              <a:t> </a:t>
            </a:r>
            <a:r>
              <a:rPr lang="en-US" altLang="ko-KR" sz="1600" dirty="0" err="1"/>
              <a:t>nội</a:t>
            </a:r>
            <a:r>
              <a:rPr lang="en-US" altLang="ko-KR" sz="1600" dirty="0"/>
              <a:t> dung </a:t>
            </a:r>
            <a:r>
              <a:rPr lang="en-US" altLang="ko-KR" sz="1600" dirty="0" err="1"/>
              <a:t>này</a:t>
            </a:r>
            <a:r>
              <a:rPr lang="en-US" altLang="ko-KR" sz="1600" dirty="0"/>
              <a:t> </a:t>
            </a:r>
            <a:r>
              <a:rPr lang="en-US" altLang="ko-KR" sz="1600" dirty="0" err="1"/>
              <a:t>ta</a:t>
            </a:r>
            <a:r>
              <a:rPr lang="en-US" altLang="ko-KR" sz="1600" dirty="0"/>
              <a:t> </a:t>
            </a:r>
            <a:r>
              <a:rPr lang="en-US" altLang="ko-KR" sz="1600" dirty="0" err="1"/>
              <a:t>kiểm</a:t>
            </a:r>
            <a:r>
              <a:rPr lang="en-US" altLang="ko-KR" sz="1600" dirty="0"/>
              <a:t> </a:t>
            </a:r>
            <a:r>
              <a:rPr lang="en-US" altLang="ko-KR" sz="1600" dirty="0" err="1"/>
              <a:t>tra</a:t>
            </a:r>
            <a:r>
              <a:rPr lang="en-US" altLang="ko-KR" sz="1600" dirty="0"/>
              <a:t> </a:t>
            </a:r>
            <a:r>
              <a:rPr lang="en-US" altLang="ko-KR" sz="1600" dirty="0" err="1"/>
              <a:t>cả</a:t>
            </a:r>
            <a:r>
              <a:rPr lang="en-US" altLang="ko-KR" sz="1600" dirty="0"/>
              <a:t> Gage R&amp;R</a:t>
            </a:r>
          </a:p>
          <a:p>
            <a:endParaRPr lang="en-US" altLang="ko-KR" sz="1600" dirty="0"/>
          </a:p>
          <a:p>
            <a:r>
              <a:rPr lang="en-US" altLang="ko-KR" sz="1600" dirty="0" err="1"/>
              <a:t>Có</a:t>
            </a:r>
            <a:r>
              <a:rPr lang="en-US" altLang="ko-KR" sz="1600" dirty="0"/>
              <a:t> </a:t>
            </a:r>
            <a:r>
              <a:rPr lang="en-US" altLang="ko-KR" sz="1600" dirty="0" err="1"/>
              <a:t>lẽ</a:t>
            </a:r>
            <a:r>
              <a:rPr lang="en-US" altLang="ko-KR" sz="1600" dirty="0"/>
              <a:t> </a:t>
            </a:r>
            <a:r>
              <a:rPr lang="en-US" altLang="ko-KR" sz="1600" dirty="0" err="1"/>
              <a:t>trước</a:t>
            </a:r>
            <a:r>
              <a:rPr lang="en-US" altLang="ko-KR" sz="1600" dirty="0"/>
              <a:t> </a:t>
            </a:r>
            <a:r>
              <a:rPr lang="en-US" altLang="ko-KR" sz="1600" dirty="0" err="1"/>
              <a:t>đây</a:t>
            </a:r>
            <a:r>
              <a:rPr lang="en-US" altLang="ko-KR" sz="1600" dirty="0"/>
              <a:t> </a:t>
            </a:r>
            <a:r>
              <a:rPr lang="en-US" altLang="ko-KR" sz="1600" dirty="0" err="1"/>
              <a:t>tất</a:t>
            </a:r>
            <a:r>
              <a:rPr lang="en-US" altLang="ko-KR" sz="1600" dirty="0"/>
              <a:t> </a:t>
            </a:r>
            <a:r>
              <a:rPr lang="en-US" altLang="ko-KR" sz="1600" dirty="0" err="1"/>
              <a:t>cả</a:t>
            </a:r>
            <a:r>
              <a:rPr lang="en-US" altLang="ko-KR" sz="1600" dirty="0"/>
              <a:t> </a:t>
            </a:r>
            <a:r>
              <a:rPr lang="en-US" altLang="ko-KR" sz="1600" dirty="0" err="1"/>
              <a:t>những</a:t>
            </a:r>
            <a:r>
              <a:rPr lang="en-US" altLang="ko-KR" sz="1600" dirty="0"/>
              <a:t> </a:t>
            </a:r>
            <a:r>
              <a:rPr lang="en-US" altLang="ko-KR" sz="1600" dirty="0" err="1"/>
              <a:t>dụng</a:t>
            </a:r>
            <a:r>
              <a:rPr lang="en-US" altLang="ko-KR" sz="1600" dirty="0"/>
              <a:t> </a:t>
            </a:r>
            <a:r>
              <a:rPr lang="en-US" altLang="ko-KR" sz="1600" dirty="0" err="1"/>
              <a:t>cụ</a:t>
            </a:r>
            <a:r>
              <a:rPr lang="en-US" altLang="ko-KR" sz="1600" dirty="0"/>
              <a:t> </a:t>
            </a:r>
            <a:r>
              <a:rPr lang="en-US" altLang="ko-KR" sz="1600" dirty="0" err="1"/>
              <a:t>đo</a:t>
            </a:r>
            <a:r>
              <a:rPr lang="en-US" altLang="ko-KR" sz="1600" dirty="0"/>
              <a:t> </a:t>
            </a:r>
            <a:r>
              <a:rPr lang="en-US" altLang="ko-KR" sz="1600" dirty="0" err="1"/>
              <a:t>đều</a:t>
            </a:r>
            <a:r>
              <a:rPr lang="en-US" altLang="ko-KR" sz="1600" dirty="0"/>
              <a:t> </a:t>
            </a:r>
            <a:r>
              <a:rPr lang="en-US" altLang="ko-KR" sz="1600" dirty="0" err="1"/>
              <a:t>tập</a:t>
            </a:r>
            <a:r>
              <a:rPr lang="en-US" altLang="ko-KR" sz="1600" dirty="0"/>
              <a:t> </a:t>
            </a:r>
            <a:r>
              <a:rPr lang="en-US" altLang="ko-KR" sz="1600" dirty="0" err="1"/>
              <a:t>trung</a:t>
            </a:r>
            <a:r>
              <a:rPr lang="en-US" altLang="ko-KR" sz="1600" dirty="0"/>
              <a:t> </a:t>
            </a:r>
            <a:r>
              <a:rPr lang="en-US" altLang="ko-KR" sz="1600" dirty="0" err="1"/>
              <a:t>vào</a:t>
            </a:r>
            <a:r>
              <a:rPr lang="en-US" altLang="ko-KR" sz="1600" dirty="0"/>
              <a:t> </a:t>
            </a:r>
            <a:r>
              <a:rPr lang="en-US" altLang="ko-KR" sz="1600" dirty="0" err="1"/>
              <a:t>đo</a:t>
            </a:r>
            <a:r>
              <a:rPr lang="en-US" altLang="ko-KR" sz="1600" dirty="0"/>
              <a:t> </a:t>
            </a:r>
            <a:r>
              <a:rPr lang="en-US" altLang="ko-KR" sz="1600" dirty="0" err="1"/>
              <a:t>đạc</a:t>
            </a:r>
            <a:r>
              <a:rPr lang="en-US" altLang="ko-KR" sz="1600" dirty="0"/>
              <a:t> </a:t>
            </a:r>
            <a:r>
              <a:rPr lang="en-US" altLang="ko-KR" sz="1600" dirty="0" err="1"/>
              <a:t>đơn</a:t>
            </a:r>
            <a:r>
              <a:rPr lang="en-US" altLang="ko-KR" sz="1600" dirty="0"/>
              <a:t> </a:t>
            </a:r>
            <a:r>
              <a:rPr lang="en-US" altLang="ko-KR" sz="1600" dirty="0" err="1"/>
              <a:t>giản</a:t>
            </a:r>
            <a:r>
              <a:rPr lang="en-US" altLang="ko-KR" sz="1600" dirty="0"/>
              <a:t> </a:t>
            </a:r>
            <a:r>
              <a:rPr lang="en-US" altLang="ko-KR" sz="1600" dirty="0" err="1"/>
              <a:t>tính</a:t>
            </a:r>
            <a:r>
              <a:rPr lang="en-US" altLang="ko-KR" sz="1600" dirty="0"/>
              <a:t> </a:t>
            </a:r>
          </a:p>
          <a:p>
            <a:r>
              <a:rPr lang="en-US" altLang="ko-KR" sz="1600" dirty="0" err="1"/>
              <a:t>năng</a:t>
            </a:r>
            <a:r>
              <a:rPr lang="en-US" altLang="ko-KR" sz="1600" dirty="0"/>
              <a:t> </a:t>
            </a:r>
            <a:r>
              <a:rPr lang="en-US" altLang="ko-KR" sz="1600" dirty="0" err="1"/>
              <a:t>của</a:t>
            </a:r>
            <a:r>
              <a:rPr lang="en-US" altLang="ko-KR" sz="1600" dirty="0"/>
              <a:t> </a:t>
            </a:r>
            <a:r>
              <a:rPr lang="en-US" altLang="ko-KR" sz="1600" dirty="0" err="1"/>
              <a:t>sản</a:t>
            </a:r>
            <a:r>
              <a:rPr lang="en-US" altLang="ko-KR" sz="1600" dirty="0"/>
              <a:t> </a:t>
            </a:r>
            <a:r>
              <a:rPr lang="en-US" altLang="ko-KR" sz="1600" dirty="0" err="1"/>
              <a:t>phẩm</a:t>
            </a:r>
            <a:r>
              <a:rPr lang="en-US" altLang="ko-KR" sz="1600" dirty="0"/>
              <a:t> </a:t>
            </a:r>
            <a:r>
              <a:rPr lang="en-US" altLang="ko-KR" sz="1600" dirty="0" err="1"/>
              <a:t>hoặc</a:t>
            </a:r>
            <a:r>
              <a:rPr lang="en-US" altLang="ko-KR" sz="1600" dirty="0"/>
              <a:t> </a:t>
            </a:r>
            <a:r>
              <a:rPr lang="en-US" altLang="ko-KR" sz="1600" dirty="0" err="1"/>
              <a:t>độ</a:t>
            </a:r>
            <a:r>
              <a:rPr lang="en-US" altLang="ko-KR" sz="1600" dirty="0"/>
              <a:t> </a:t>
            </a:r>
            <a:r>
              <a:rPr lang="en-US" altLang="ko-KR" sz="1600" dirty="0" err="1"/>
              <a:t>lớn</a:t>
            </a:r>
            <a:r>
              <a:rPr lang="en-US" altLang="ko-KR" sz="1600" dirty="0"/>
              <a:t>, </a:t>
            </a:r>
            <a:r>
              <a:rPr lang="en-US" altLang="ko-KR" sz="1600" dirty="0" err="1"/>
              <a:t>cường</a:t>
            </a:r>
            <a:r>
              <a:rPr lang="en-US" altLang="ko-KR" sz="1600" dirty="0"/>
              <a:t> </a:t>
            </a:r>
            <a:r>
              <a:rPr lang="en-US" altLang="ko-KR" sz="1600" dirty="0" err="1"/>
              <a:t>độ</a:t>
            </a:r>
            <a:r>
              <a:rPr lang="en-US" altLang="ko-KR" sz="1600" dirty="0"/>
              <a:t>.. </a:t>
            </a:r>
            <a:r>
              <a:rPr lang="en-US" altLang="ko-KR" sz="1600" dirty="0" err="1"/>
              <a:t>của</a:t>
            </a:r>
            <a:r>
              <a:rPr lang="en-US" altLang="ko-KR" sz="1600" dirty="0"/>
              <a:t> </a:t>
            </a:r>
            <a:r>
              <a:rPr lang="en-US" altLang="ko-KR" sz="1600" dirty="0" err="1"/>
              <a:t>linh</a:t>
            </a:r>
            <a:r>
              <a:rPr lang="en-US" altLang="ko-KR" sz="1600" dirty="0"/>
              <a:t> </a:t>
            </a:r>
            <a:r>
              <a:rPr lang="en-US" altLang="ko-KR" sz="1600" dirty="0" err="1"/>
              <a:t>kiện</a:t>
            </a:r>
            <a:r>
              <a:rPr lang="en-US" altLang="ko-KR" sz="1600" dirty="0"/>
              <a:t>, </a:t>
            </a:r>
            <a:r>
              <a:rPr lang="en-US" altLang="ko-KR" sz="1600" dirty="0" err="1"/>
              <a:t>thì</a:t>
            </a:r>
            <a:r>
              <a:rPr lang="en-US" altLang="ko-KR" sz="1600" dirty="0"/>
              <a:t> </a:t>
            </a:r>
            <a:r>
              <a:rPr lang="en-US" altLang="ko-KR" sz="1600" dirty="0" err="1"/>
              <a:t>bây</a:t>
            </a:r>
            <a:r>
              <a:rPr lang="en-US" altLang="ko-KR" sz="1600" dirty="0"/>
              <a:t> </a:t>
            </a:r>
            <a:r>
              <a:rPr lang="en-US" altLang="ko-KR" sz="1600" dirty="0" err="1"/>
              <a:t>giờ</a:t>
            </a:r>
            <a:r>
              <a:rPr lang="en-US" altLang="ko-KR" sz="1600" dirty="0"/>
              <a:t> </a:t>
            </a:r>
            <a:r>
              <a:rPr lang="en-US" altLang="ko-KR" sz="1600" dirty="0" err="1"/>
              <a:t>ta</a:t>
            </a:r>
            <a:r>
              <a:rPr lang="en-US" altLang="ko-KR" sz="1600" dirty="0"/>
              <a:t> </a:t>
            </a:r>
            <a:r>
              <a:rPr lang="en-US" altLang="ko-KR" sz="1600" dirty="0" err="1"/>
              <a:t>xây</a:t>
            </a:r>
            <a:r>
              <a:rPr lang="en-US" altLang="ko-KR" sz="1600" dirty="0"/>
              <a:t> </a:t>
            </a:r>
            <a:r>
              <a:rPr lang="en-US" altLang="ko-KR" sz="1600" dirty="0" err="1"/>
              <a:t>dựng</a:t>
            </a:r>
            <a:r>
              <a:rPr lang="en-US" altLang="ko-KR" sz="1600" dirty="0"/>
              <a:t> </a:t>
            </a:r>
          </a:p>
          <a:p>
            <a:r>
              <a:rPr lang="en-US" altLang="ko-KR" sz="1600" dirty="0" err="1"/>
              <a:t>đối</a:t>
            </a:r>
            <a:r>
              <a:rPr lang="en-US" altLang="ko-KR" sz="1600" dirty="0"/>
              <a:t> </a:t>
            </a:r>
            <a:r>
              <a:rPr lang="en-US" altLang="ko-KR" sz="1600" dirty="0" err="1"/>
              <a:t>tượng</a:t>
            </a:r>
            <a:r>
              <a:rPr lang="en-US" altLang="ko-KR" sz="1600" dirty="0"/>
              <a:t> </a:t>
            </a:r>
            <a:r>
              <a:rPr lang="en-US" altLang="ko-KR" sz="1600" dirty="0" err="1"/>
              <a:t>đo</a:t>
            </a:r>
            <a:r>
              <a:rPr lang="en-US" altLang="ko-KR" sz="1600" dirty="0"/>
              <a:t> </a:t>
            </a:r>
            <a:r>
              <a:rPr lang="en-US" altLang="ko-KR" sz="1600" dirty="0" err="1"/>
              <a:t>đạc</a:t>
            </a:r>
            <a:r>
              <a:rPr lang="en-US" altLang="ko-KR" sz="1600" dirty="0"/>
              <a:t>(Project Y) </a:t>
            </a:r>
            <a:r>
              <a:rPr lang="en-US" altLang="ko-KR" sz="1600" dirty="0" err="1"/>
              <a:t>mới</a:t>
            </a:r>
            <a:r>
              <a:rPr lang="en-US" altLang="ko-KR" sz="1600" dirty="0"/>
              <a:t> </a:t>
            </a:r>
            <a:r>
              <a:rPr lang="en-US" altLang="ko-KR" sz="1600" dirty="0" err="1"/>
              <a:t>theo</a:t>
            </a:r>
            <a:r>
              <a:rPr lang="en-US" altLang="ko-KR" sz="1600" dirty="0"/>
              <a:t> </a:t>
            </a:r>
            <a:r>
              <a:rPr lang="en-US" altLang="ko-KR" sz="1600" dirty="0" err="1"/>
              <a:t>những</a:t>
            </a:r>
            <a:r>
              <a:rPr lang="en-US" altLang="ko-KR" sz="1600" dirty="0"/>
              <a:t> </a:t>
            </a:r>
            <a:r>
              <a:rPr lang="en-US" altLang="ko-KR" sz="1600" dirty="0" err="1"/>
              <a:t>kỹ</a:t>
            </a:r>
            <a:r>
              <a:rPr lang="en-US" altLang="ko-KR" sz="1600" dirty="0"/>
              <a:t> </a:t>
            </a:r>
            <a:r>
              <a:rPr lang="en-US" altLang="ko-KR" sz="1600" dirty="0" err="1"/>
              <a:t>năng</a:t>
            </a:r>
            <a:r>
              <a:rPr lang="en-US" altLang="ko-KR" sz="1600" dirty="0"/>
              <a:t> </a:t>
            </a:r>
            <a:r>
              <a:rPr lang="en-US" altLang="ko-KR" sz="1600" dirty="0" err="1"/>
              <a:t>phát</a:t>
            </a:r>
            <a:r>
              <a:rPr lang="en-US" altLang="ko-KR" sz="1600" dirty="0"/>
              <a:t> </a:t>
            </a:r>
            <a:r>
              <a:rPr lang="en-US" altLang="ko-KR" sz="1600" dirty="0" err="1"/>
              <a:t>triển</a:t>
            </a:r>
            <a:r>
              <a:rPr lang="en-US" altLang="ko-KR" sz="1600" dirty="0"/>
              <a:t> </a:t>
            </a:r>
            <a:r>
              <a:rPr lang="en-US" altLang="ko-KR" sz="1600" dirty="0" err="1"/>
              <a:t>mới</a:t>
            </a:r>
            <a:r>
              <a:rPr lang="en-US" altLang="ko-KR" sz="1600" dirty="0"/>
              <a:t> </a:t>
            </a:r>
            <a:r>
              <a:rPr lang="en-US" altLang="ko-KR" sz="1600" dirty="0" err="1"/>
              <a:t>của</a:t>
            </a:r>
            <a:r>
              <a:rPr lang="en-US" altLang="ko-KR" sz="1600" dirty="0"/>
              <a:t> </a:t>
            </a:r>
            <a:r>
              <a:rPr lang="en-US" altLang="ko-KR" sz="1600" dirty="0" err="1"/>
              <a:t>sản</a:t>
            </a:r>
            <a:r>
              <a:rPr lang="en-US" altLang="ko-KR" sz="1600" dirty="0"/>
              <a:t> </a:t>
            </a:r>
            <a:r>
              <a:rPr lang="en-US" altLang="ko-KR" sz="1600" dirty="0" err="1"/>
              <a:t>phẩm</a:t>
            </a:r>
            <a:endParaRPr lang="en-US" altLang="ko-KR" sz="1600" dirty="0"/>
          </a:p>
          <a:p>
            <a:r>
              <a:rPr lang="en-US" altLang="ko-KR" sz="1600" dirty="0" err="1"/>
              <a:t>để</a:t>
            </a:r>
            <a:r>
              <a:rPr lang="en-US" altLang="ko-KR" sz="1600" dirty="0"/>
              <a:t> </a:t>
            </a:r>
            <a:r>
              <a:rPr lang="en-US" altLang="ko-KR" sz="1600" dirty="0" err="1"/>
              <a:t>làm</a:t>
            </a:r>
            <a:r>
              <a:rPr lang="en-US" altLang="ko-KR" sz="1600" dirty="0"/>
              <a:t> </a:t>
            </a:r>
            <a:r>
              <a:rPr lang="en-US" altLang="ko-KR" sz="1600" dirty="0" err="1"/>
              <a:t>được</a:t>
            </a:r>
            <a:r>
              <a:rPr lang="en-US" altLang="ko-KR" sz="1600" dirty="0"/>
              <a:t> </a:t>
            </a:r>
            <a:r>
              <a:rPr lang="en-US" altLang="ko-KR" sz="1600" dirty="0" err="1"/>
              <a:t>điều</a:t>
            </a:r>
            <a:r>
              <a:rPr lang="en-US" altLang="ko-KR" sz="1600" dirty="0"/>
              <a:t> </a:t>
            </a:r>
            <a:r>
              <a:rPr lang="en-US" altLang="ko-KR" sz="1600" dirty="0" err="1"/>
              <a:t>đó</a:t>
            </a:r>
            <a:r>
              <a:rPr lang="en-US" altLang="ko-KR" sz="1600" dirty="0"/>
              <a:t> </a:t>
            </a:r>
            <a:r>
              <a:rPr lang="en-US" altLang="ko-KR" sz="1600" dirty="0" err="1"/>
              <a:t>phải</a:t>
            </a:r>
            <a:r>
              <a:rPr lang="en-US" altLang="ko-KR" sz="1600" dirty="0"/>
              <a:t> </a:t>
            </a:r>
            <a:r>
              <a:rPr lang="en-US" altLang="ko-KR" sz="1600" dirty="0" err="1"/>
              <a:t>phát</a:t>
            </a:r>
            <a:r>
              <a:rPr lang="en-US" altLang="ko-KR" sz="1600" dirty="0"/>
              <a:t> </a:t>
            </a:r>
            <a:r>
              <a:rPr lang="en-US" altLang="ko-KR" sz="1600" dirty="0" err="1"/>
              <a:t>triển</a:t>
            </a:r>
            <a:r>
              <a:rPr lang="en-US" altLang="ko-KR" sz="1600" dirty="0"/>
              <a:t> </a:t>
            </a:r>
            <a:r>
              <a:rPr lang="en-US" altLang="ko-KR" sz="1600" dirty="0" err="1"/>
              <a:t>hệ</a:t>
            </a:r>
            <a:r>
              <a:rPr lang="en-US" altLang="ko-KR" sz="1600" dirty="0"/>
              <a:t> </a:t>
            </a:r>
            <a:r>
              <a:rPr lang="en-US" altLang="ko-KR" sz="1600" dirty="0" err="1"/>
              <a:t>thống</a:t>
            </a:r>
            <a:r>
              <a:rPr lang="en-US" altLang="ko-KR" sz="1600" dirty="0"/>
              <a:t> </a:t>
            </a:r>
            <a:r>
              <a:rPr lang="en-US" altLang="ko-KR" sz="1600" dirty="0" err="1"/>
              <a:t>đo</a:t>
            </a:r>
            <a:r>
              <a:rPr lang="en-US" altLang="ko-KR" sz="1600" dirty="0"/>
              <a:t>. </a:t>
            </a:r>
          </a:p>
          <a:p>
            <a:r>
              <a:rPr lang="vi-VN" altLang="ko-KR" sz="1600" dirty="0"/>
              <a:t>Vì vậy, trước tiên, </a:t>
            </a:r>
            <a:r>
              <a:rPr lang="en-US" altLang="ko-KR" sz="1600" dirty="0" err="1"/>
              <a:t>ta</a:t>
            </a:r>
            <a:r>
              <a:rPr lang="en-US" altLang="ko-KR" sz="1600" dirty="0"/>
              <a:t> </a:t>
            </a:r>
            <a:r>
              <a:rPr lang="en-US" altLang="ko-KR" sz="1600" dirty="0" err="1"/>
              <a:t>phải</a:t>
            </a:r>
            <a:r>
              <a:rPr lang="vi-VN" altLang="ko-KR" sz="1600" dirty="0"/>
              <a:t> </a:t>
            </a:r>
            <a:r>
              <a:rPr lang="en-US" altLang="ko-KR" sz="1600" dirty="0" err="1"/>
              <a:t>sắp</a:t>
            </a:r>
            <a:r>
              <a:rPr lang="en-US" altLang="ko-KR" sz="1600" dirty="0"/>
              <a:t> </a:t>
            </a:r>
            <a:r>
              <a:rPr lang="en-US" altLang="ko-KR" sz="1600" dirty="0" err="1"/>
              <a:t>xếp</a:t>
            </a:r>
            <a:r>
              <a:rPr lang="en-US" altLang="ko-KR" sz="1600" dirty="0"/>
              <a:t> </a:t>
            </a:r>
            <a:r>
              <a:rPr lang="en-US" altLang="ko-KR" sz="1600" dirty="0" err="1"/>
              <a:t>giản</a:t>
            </a:r>
            <a:r>
              <a:rPr lang="en-US" altLang="ko-KR" sz="1600" dirty="0"/>
              <a:t> </a:t>
            </a:r>
            <a:r>
              <a:rPr lang="en-US" altLang="ko-KR" sz="1600" dirty="0" err="1"/>
              <a:t>lược</a:t>
            </a:r>
            <a:r>
              <a:rPr lang="vi-VN" altLang="ko-KR" sz="1600" dirty="0"/>
              <a:t> các thuật ngữ, tiêu chuẩn </a:t>
            </a:r>
            <a:r>
              <a:rPr lang="en-US" altLang="ko-KR" sz="1600" dirty="0" err="1"/>
              <a:t>đánh</a:t>
            </a:r>
            <a:r>
              <a:rPr lang="en-US" altLang="ko-KR" sz="1600" dirty="0"/>
              <a:t> </a:t>
            </a:r>
            <a:r>
              <a:rPr lang="en-US" altLang="ko-KR" sz="1600" dirty="0" err="1"/>
              <a:t>giá</a:t>
            </a:r>
            <a:r>
              <a:rPr lang="vi-VN" altLang="ko-KR" sz="1600" dirty="0"/>
              <a:t>, các </a:t>
            </a:r>
            <a:endParaRPr lang="en-US" altLang="ko-KR" sz="1600" dirty="0"/>
          </a:p>
          <a:p>
            <a:r>
              <a:rPr lang="en-US" altLang="ko-KR" sz="1600" dirty="0" err="1"/>
              <a:t>nội</a:t>
            </a:r>
            <a:r>
              <a:rPr lang="en-US" altLang="ko-KR" sz="1600" dirty="0"/>
              <a:t> dung </a:t>
            </a:r>
            <a:r>
              <a:rPr lang="en-US" altLang="ko-KR" sz="1600" dirty="0" err="1"/>
              <a:t>cần</a:t>
            </a:r>
            <a:r>
              <a:rPr lang="en-US" altLang="ko-KR" sz="1600" dirty="0"/>
              <a:t> </a:t>
            </a:r>
            <a:r>
              <a:rPr lang="en-US" altLang="ko-KR" sz="1600" dirty="0" err="1"/>
              <a:t>chú</a:t>
            </a:r>
            <a:r>
              <a:rPr lang="en-US" altLang="ko-KR" sz="1600" dirty="0"/>
              <a:t> ý</a:t>
            </a:r>
            <a:r>
              <a:rPr lang="vi-VN" altLang="ko-KR" sz="1600" dirty="0"/>
              <a:t> và các phương pháp sử dụng</a:t>
            </a:r>
            <a:r>
              <a:rPr lang="en-US" altLang="ko-KR" sz="1600" dirty="0"/>
              <a:t>..</a:t>
            </a:r>
            <a:r>
              <a:rPr lang="vi-VN" altLang="ko-KR" sz="1600" dirty="0"/>
              <a:t> theo các tiêu chuẩn mới nhất (AIAG</a:t>
            </a:r>
            <a:endParaRPr lang="en-US" altLang="ko-KR" sz="1600" dirty="0"/>
          </a:p>
          <a:p>
            <a:r>
              <a:rPr lang="vi-VN" altLang="ko-KR" sz="1600" dirty="0"/>
              <a:t> 2010, VDA 5).</a:t>
            </a:r>
            <a:endParaRPr lang="en-US" altLang="ko-KR" sz="1600" dirty="0"/>
          </a:p>
        </p:txBody>
      </p:sp>
      <p:sp>
        <p:nvSpPr>
          <p:cNvPr id="4" name="슬라이드 번호 개체 틀 1"/>
          <p:cNvSpPr>
            <a:spLocks noGrp="1"/>
          </p:cNvSpPr>
          <p:nvPr>
            <p:ph type="sldNum" sz="quarter" idx="4294967295"/>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a:t>
            </a:fld>
            <a:endParaRPr lang="ko-KR" altLang="en-US"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57158" y="232926"/>
            <a:ext cx="1297150" cy="400110"/>
          </a:xfrm>
          <a:prstGeom prst="rect">
            <a:avLst/>
          </a:prstGeom>
          <a:noFill/>
        </p:spPr>
        <p:txBody>
          <a:bodyPr wrap="none" rtlCol="0">
            <a:spAutoFit/>
          </a:bodyPr>
          <a:lstStyle/>
          <a:p>
            <a:r>
              <a:rPr lang="en-US" altLang="ko-KR" sz="2000" b="1" dirty="0"/>
              <a:t>Contents</a:t>
            </a:r>
            <a:endParaRPr lang="ko-KR" altLang="en-US" sz="2000" b="1" dirty="0"/>
          </a:p>
        </p:txBody>
      </p:sp>
      <p:sp>
        <p:nvSpPr>
          <p:cNvPr id="3" name="TextBox 2"/>
          <p:cNvSpPr txBox="1"/>
          <p:nvPr/>
        </p:nvSpPr>
        <p:spPr>
          <a:xfrm>
            <a:off x="857224" y="1159683"/>
            <a:ext cx="3351238" cy="307777"/>
          </a:xfrm>
          <a:prstGeom prst="rect">
            <a:avLst/>
          </a:prstGeom>
          <a:noFill/>
        </p:spPr>
        <p:txBody>
          <a:bodyPr wrap="none" rtlCol="0">
            <a:spAutoFit/>
          </a:bodyPr>
          <a:lstStyle/>
          <a:p>
            <a:r>
              <a:rPr lang="en-US" altLang="ko-KR" sz="1400" dirty="0"/>
              <a:t>- If the measuring instrument is wrong…</a:t>
            </a:r>
            <a:endParaRPr lang="ko-KR" altLang="en-US" sz="1400" dirty="0"/>
          </a:p>
        </p:txBody>
      </p:sp>
      <p:sp>
        <p:nvSpPr>
          <p:cNvPr id="4" name="TextBox 3"/>
          <p:cNvSpPr txBox="1"/>
          <p:nvPr/>
        </p:nvSpPr>
        <p:spPr>
          <a:xfrm>
            <a:off x="857224" y="1768265"/>
            <a:ext cx="2254143" cy="307777"/>
          </a:xfrm>
          <a:prstGeom prst="rect">
            <a:avLst/>
          </a:prstGeom>
          <a:noFill/>
        </p:spPr>
        <p:txBody>
          <a:bodyPr wrap="none" rtlCol="0">
            <a:spAutoFit/>
          </a:bodyPr>
          <a:lstStyle/>
          <a:p>
            <a:r>
              <a:rPr lang="en-US" altLang="ko-KR" sz="1400" dirty="0"/>
              <a:t>- Understanding variability</a:t>
            </a:r>
            <a:endParaRPr lang="ko-KR" altLang="en-US" sz="1400" dirty="0"/>
          </a:p>
        </p:txBody>
      </p:sp>
      <p:sp>
        <p:nvSpPr>
          <p:cNvPr id="5" name="TextBox 4"/>
          <p:cNvSpPr txBox="1"/>
          <p:nvPr/>
        </p:nvSpPr>
        <p:spPr>
          <a:xfrm>
            <a:off x="860226" y="2148631"/>
            <a:ext cx="1497526" cy="307777"/>
          </a:xfrm>
          <a:prstGeom prst="rect">
            <a:avLst/>
          </a:prstGeom>
          <a:noFill/>
        </p:spPr>
        <p:txBody>
          <a:bodyPr wrap="none" rtlCol="0">
            <a:spAutoFit/>
          </a:bodyPr>
          <a:lstStyle/>
          <a:p>
            <a:r>
              <a:rPr lang="en-US" sz="1400" dirty="0"/>
              <a:t>- Gage accuracy</a:t>
            </a:r>
            <a:endParaRPr lang="ko-KR" altLang="en-US" sz="1400" dirty="0"/>
          </a:p>
        </p:txBody>
      </p:sp>
      <p:sp>
        <p:nvSpPr>
          <p:cNvPr id="6" name="TextBox 5"/>
          <p:cNvSpPr txBox="1"/>
          <p:nvPr/>
        </p:nvSpPr>
        <p:spPr>
          <a:xfrm>
            <a:off x="857224" y="3175907"/>
            <a:ext cx="1547218" cy="307777"/>
          </a:xfrm>
          <a:prstGeom prst="rect">
            <a:avLst/>
          </a:prstGeom>
          <a:noFill/>
        </p:spPr>
        <p:txBody>
          <a:bodyPr wrap="none" rtlCol="0">
            <a:spAutoFit/>
          </a:bodyPr>
          <a:lstStyle/>
          <a:p>
            <a:r>
              <a:rPr lang="en-US" altLang="ko-KR" sz="1400" dirty="0"/>
              <a:t>- Gage precision</a:t>
            </a:r>
            <a:r>
              <a:rPr lang="ko-KR" altLang="en-US" sz="1400" dirty="0"/>
              <a:t> </a:t>
            </a:r>
          </a:p>
        </p:txBody>
      </p:sp>
      <p:sp>
        <p:nvSpPr>
          <p:cNvPr id="8" name="TextBox 7"/>
          <p:cNvSpPr txBox="1"/>
          <p:nvPr/>
        </p:nvSpPr>
        <p:spPr>
          <a:xfrm>
            <a:off x="857224" y="1499978"/>
            <a:ext cx="1776448" cy="307777"/>
          </a:xfrm>
          <a:prstGeom prst="rect">
            <a:avLst/>
          </a:prstGeom>
          <a:noFill/>
        </p:spPr>
        <p:txBody>
          <a:bodyPr wrap="none" rtlCol="0">
            <a:spAutoFit/>
          </a:bodyPr>
          <a:lstStyle/>
          <a:p>
            <a:r>
              <a:rPr lang="en-US" altLang="ko-KR" sz="1400" dirty="0"/>
              <a:t>- What is measuring</a:t>
            </a:r>
            <a:endParaRPr lang="ko-KR" altLang="en-US" sz="1400" dirty="0"/>
          </a:p>
        </p:txBody>
      </p:sp>
      <p:sp>
        <p:nvSpPr>
          <p:cNvPr id="9" name="TextBox 8"/>
          <p:cNvSpPr txBox="1"/>
          <p:nvPr/>
        </p:nvSpPr>
        <p:spPr>
          <a:xfrm>
            <a:off x="1080511" y="2383819"/>
            <a:ext cx="1059906" cy="738664"/>
          </a:xfrm>
          <a:prstGeom prst="rect">
            <a:avLst/>
          </a:prstGeom>
          <a:noFill/>
        </p:spPr>
        <p:txBody>
          <a:bodyPr wrap="none" rtlCol="0">
            <a:spAutoFit/>
          </a:bodyPr>
          <a:lstStyle/>
          <a:p>
            <a:r>
              <a:rPr lang="en-US" altLang="ko-KR" sz="1400" dirty="0"/>
              <a:t>1. Bias</a:t>
            </a:r>
          </a:p>
          <a:p>
            <a:r>
              <a:rPr lang="en-US" sz="1400" dirty="0"/>
              <a:t>2. Linearity</a:t>
            </a:r>
          </a:p>
          <a:p>
            <a:r>
              <a:rPr lang="en-US" sz="1400" dirty="0"/>
              <a:t>3. Stability</a:t>
            </a:r>
            <a:endParaRPr lang="ko-KR" altLang="en-US" sz="1400" dirty="0"/>
          </a:p>
        </p:txBody>
      </p:sp>
      <p:sp>
        <p:nvSpPr>
          <p:cNvPr id="10" name="TextBox 9"/>
          <p:cNvSpPr txBox="1"/>
          <p:nvPr/>
        </p:nvSpPr>
        <p:spPr>
          <a:xfrm>
            <a:off x="1080511" y="3463939"/>
            <a:ext cx="2165978" cy="738664"/>
          </a:xfrm>
          <a:prstGeom prst="rect">
            <a:avLst/>
          </a:prstGeom>
          <a:noFill/>
        </p:spPr>
        <p:txBody>
          <a:bodyPr wrap="none" rtlCol="0">
            <a:spAutoFit/>
          </a:bodyPr>
          <a:lstStyle/>
          <a:p>
            <a:r>
              <a:rPr lang="en-US" altLang="ko-KR" sz="1400" dirty="0"/>
              <a:t>1. Gage R&amp;R </a:t>
            </a:r>
          </a:p>
          <a:p>
            <a:r>
              <a:rPr lang="en-US" altLang="ko-KR" sz="1400" dirty="0"/>
              <a:t>2. Gage R&amp;R Case</a:t>
            </a:r>
          </a:p>
          <a:p>
            <a:r>
              <a:rPr lang="en-US" altLang="ko-KR" sz="1400" dirty="0"/>
              <a:t>3. Gage R&amp;R Deepening</a:t>
            </a:r>
            <a:endParaRPr lang="ko-KR" altLang="en-US" sz="1400" dirty="0"/>
          </a:p>
        </p:txBody>
      </p:sp>
      <p:sp>
        <p:nvSpPr>
          <p:cNvPr id="11" name="TextBox 10"/>
          <p:cNvSpPr txBox="1"/>
          <p:nvPr/>
        </p:nvSpPr>
        <p:spPr>
          <a:xfrm>
            <a:off x="857224" y="5119542"/>
            <a:ext cx="2962671" cy="523220"/>
          </a:xfrm>
          <a:prstGeom prst="rect">
            <a:avLst/>
          </a:prstGeom>
          <a:noFill/>
        </p:spPr>
        <p:txBody>
          <a:bodyPr wrap="none" rtlCol="0">
            <a:spAutoFit/>
          </a:bodyPr>
          <a:lstStyle/>
          <a:p>
            <a:r>
              <a:rPr lang="en-US" altLang="ko-KR" sz="1400" dirty="0"/>
              <a:t>- Gage R&amp;R </a:t>
            </a:r>
            <a:r>
              <a:rPr lang="en-US" sz="1400" dirty="0"/>
              <a:t>Destructive inspection</a:t>
            </a:r>
          </a:p>
          <a:p>
            <a:endParaRPr lang="ko-KR" altLang="en-US" sz="1400" dirty="0"/>
          </a:p>
        </p:txBody>
      </p:sp>
      <p:sp>
        <p:nvSpPr>
          <p:cNvPr id="12" name="TextBox 11"/>
          <p:cNvSpPr txBox="1"/>
          <p:nvPr/>
        </p:nvSpPr>
        <p:spPr>
          <a:xfrm>
            <a:off x="857224" y="5551590"/>
            <a:ext cx="2165978" cy="307777"/>
          </a:xfrm>
          <a:prstGeom prst="rect">
            <a:avLst/>
          </a:prstGeom>
          <a:noFill/>
        </p:spPr>
        <p:txBody>
          <a:bodyPr wrap="none" rtlCol="0">
            <a:spAutoFit/>
          </a:bodyPr>
          <a:lstStyle/>
          <a:p>
            <a:r>
              <a:rPr lang="en-US" altLang="ko-KR" sz="1400" dirty="0"/>
              <a:t>- Categorical Gage R&amp;R </a:t>
            </a:r>
            <a:endParaRPr lang="ko-KR" altLang="en-US" sz="1400" dirty="0"/>
          </a:p>
        </p:txBody>
      </p:sp>
      <p:sp>
        <p:nvSpPr>
          <p:cNvPr id="13" name="TextBox 12"/>
          <p:cNvSpPr txBox="1"/>
          <p:nvPr/>
        </p:nvSpPr>
        <p:spPr>
          <a:xfrm>
            <a:off x="857224" y="6003383"/>
            <a:ext cx="1587294" cy="307777"/>
          </a:xfrm>
          <a:prstGeom prst="rect">
            <a:avLst/>
          </a:prstGeom>
          <a:noFill/>
        </p:spPr>
        <p:txBody>
          <a:bodyPr wrap="none" rtlCol="0">
            <a:spAutoFit/>
          </a:bodyPr>
          <a:lstStyle/>
          <a:p>
            <a:r>
              <a:rPr lang="en-US" altLang="ko-KR" sz="1400" dirty="0"/>
              <a:t>- Closing remarks</a:t>
            </a:r>
            <a:endParaRPr lang="ko-KR" altLang="en-US" sz="1400" dirty="0"/>
          </a:p>
        </p:txBody>
      </p:sp>
      <p:sp>
        <p:nvSpPr>
          <p:cNvPr id="14" name="TextBox 13"/>
          <p:cNvSpPr txBox="1"/>
          <p:nvPr/>
        </p:nvSpPr>
        <p:spPr>
          <a:xfrm>
            <a:off x="857224" y="4275772"/>
            <a:ext cx="2664512" cy="307777"/>
          </a:xfrm>
          <a:prstGeom prst="rect">
            <a:avLst/>
          </a:prstGeom>
          <a:noFill/>
        </p:spPr>
        <p:txBody>
          <a:bodyPr wrap="none" rtlCol="0">
            <a:spAutoFit/>
          </a:bodyPr>
          <a:lstStyle/>
          <a:p>
            <a:r>
              <a:rPr lang="en-US" altLang="ko-KR" sz="1400" dirty="0"/>
              <a:t>- GM Gage R&amp;R Guide Review</a:t>
            </a:r>
            <a:endParaRPr lang="ko-KR" altLang="en-US" sz="1400" dirty="0"/>
          </a:p>
        </p:txBody>
      </p:sp>
      <p:sp>
        <p:nvSpPr>
          <p:cNvPr id="15" name="TextBox 14"/>
          <p:cNvSpPr txBox="1"/>
          <p:nvPr/>
        </p:nvSpPr>
        <p:spPr>
          <a:xfrm>
            <a:off x="1080511" y="4563804"/>
            <a:ext cx="1883529" cy="523220"/>
          </a:xfrm>
          <a:prstGeom prst="rect">
            <a:avLst/>
          </a:prstGeom>
          <a:noFill/>
        </p:spPr>
        <p:txBody>
          <a:bodyPr wrap="none" rtlCol="0">
            <a:spAutoFit/>
          </a:bodyPr>
          <a:lstStyle/>
          <a:p>
            <a:r>
              <a:rPr lang="en-US" altLang="ko-KR" sz="1400" dirty="0"/>
              <a:t>1. Type 1 Gage R&amp;R </a:t>
            </a:r>
          </a:p>
          <a:p>
            <a:r>
              <a:rPr lang="en-US" altLang="ko-KR" sz="1400" dirty="0"/>
              <a:t>2. Type 3 Gage R&amp;R</a:t>
            </a:r>
            <a:endParaRPr lang="ko-KR" altLang="en-US" sz="1400" dirty="0"/>
          </a:p>
        </p:txBody>
      </p:sp>
      <p:sp>
        <p:nvSpPr>
          <p:cNvPr id="16" name="TextBox 15"/>
          <p:cNvSpPr txBox="1"/>
          <p:nvPr/>
        </p:nvSpPr>
        <p:spPr>
          <a:xfrm>
            <a:off x="3509371" y="2148631"/>
            <a:ext cx="2194832" cy="307777"/>
          </a:xfrm>
          <a:prstGeom prst="rect">
            <a:avLst/>
          </a:prstGeom>
          <a:noFill/>
        </p:spPr>
        <p:txBody>
          <a:bodyPr wrap="none" rtlCol="0">
            <a:spAutoFit/>
          </a:bodyPr>
          <a:lstStyle/>
          <a:p>
            <a:r>
              <a:rPr lang="en-US" altLang="ko-KR" sz="1400" dirty="0"/>
              <a:t>- Gage R&amp;R Introduction</a:t>
            </a:r>
            <a:r>
              <a:rPr lang="ko-KR" altLang="en-US" sz="1400" dirty="0"/>
              <a:t> </a:t>
            </a:r>
          </a:p>
        </p:txBody>
      </p:sp>
      <p:sp>
        <p:nvSpPr>
          <p:cNvPr id="17" name="TextBox 16"/>
          <p:cNvSpPr txBox="1"/>
          <p:nvPr/>
        </p:nvSpPr>
        <p:spPr>
          <a:xfrm>
            <a:off x="3653387" y="2436663"/>
            <a:ext cx="1598258" cy="307777"/>
          </a:xfrm>
          <a:prstGeom prst="rect">
            <a:avLst/>
          </a:prstGeom>
          <a:noFill/>
        </p:spPr>
        <p:txBody>
          <a:bodyPr wrap="none" rtlCol="0">
            <a:spAutoFit/>
          </a:bodyPr>
          <a:lstStyle/>
          <a:p>
            <a:r>
              <a:rPr lang="en-US" altLang="ko-KR" sz="1400" dirty="0"/>
              <a:t>1. Gage Accuracy</a:t>
            </a:r>
            <a:endParaRPr lang="ko-KR" altLang="en-US" sz="1400" dirty="0"/>
          </a:p>
        </p:txBody>
      </p:sp>
      <p:sp>
        <p:nvSpPr>
          <p:cNvPr id="18" name="TextBox 17"/>
          <p:cNvSpPr txBox="1"/>
          <p:nvPr/>
        </p:nvSpPr>
        <p:spPr>
          <a:xfrm>
            <a:off x="3653387" y="2724695"/>
            <a:ext cx="1657826" cy="307777"/>
          </a:xfrm>
          <a:prstGeom prst="rect">
            <a:avLst/>
          </a:prstGeom>
          <a:noFill/>
        </p:spPr>
        <p:txBody>
          <a:bodyPr wrap="none" rtlCol="0">
            <a:spAutoFit/>
          </a:bodyPr>
          <a:lstStyle/>
          <a:p>
            <a:r>
              <a:rPr lang="en-US" altLang="ko-KR" sz="1400" dirty="0"/>
              <a:t>2. Gage Precision</a:t>
            </a:r>
            <a:r>
              <a:rPr lang="ko-KR" altLang="en-US" sz="1400" dirty="0"/>
              <a:t> </a:t>
            </a:r>
          </a:p>
        </p:txBody>
      </p:sp>
      <p:sp>
        <p:nvSpPr>
          <p:cNvPr id="19" name="TextBox 18"/>
          <p:cNvSpPr txBox="1"/>
          <p:nvPr/>
        </p:nvSpPr>
        <p:spPr>
          <a:xfrm>
            <a:off x="3500430" y="3012727"/>
            <a:ext cx="4847703" cy="307777"/>
          </a:xfrm>
          <a:prstGeom prst="rect">
            <a:avLst/>
          </a:prstGeom>
          <a:noFill/>
        </p:spPr>
        <p:txBody>
          <a:bodyPr wrap="square" rtlCol="0">
            <a:spAutoFit/>
          </a:bodyPr>
          <a:lstStyle/>
          <a:p>
            <a:r>
              <a:rPr lang="en-US" sz="1400" dirty="0"/>
              <a:t>- Measurement system analysis procedure</a:t>
            </a:r>
            <a:endParaRPr lang="ko-KR" altLang="en-US" sz="1400" dirty="0"/>
          </a:p>
        </p:txBody>
      </p:sp>
      <p:sp>
        <p:nvSpPr>
          <p:cNvPr id="20" name="TextBox 19"/>
          <p:cNvSpPr txBox="1"/>
          <p:nvPr/>
        </p:nvSpPr>
        <p:spPr>
          <a:xfrm>
            <a:off x="3797403" y="3429000"/>
            <a:ext cx="1425070" cy="307777"/>
          </a:xfrm>
          <a:prstGeom prst="rect">
            <a:avLst/>
          </a:prstGeom>
          <a:noFill/>
        </p:spPr>
        <p:txBody>
          <a:bodyPr wrap="none" rtlCol="0">
            <a:spAutoFit/>
          </a:bodyPr>
          <a:lstStyle/>
          <a:p>
            <a:r>
              <a:rPr lang="en-US" altLang="ko-KR" sz="1400" dirty="0"/>
              <a:t>1. Type 1 Study</a:t>
            </a:r>
            <a:endParaRPr lang="ko-KR" altLang="en-US" sz="1400" dirty="0"/>
          </a:p>
        </p:txBody>
      </p:sp>
      <p:sp>
        <p:nvSpPr>
          <p:cNvPr id="21" name="TextBox 20"/>
          <p:cNvSpPr txBox="1"/>
          <p:nvPr/>
        </p:nvSpPr>
        <p:spPr>
          <a:xfrm>
            <a:off x="3797403" y="3717032"/>
            <a:ext cx="1425070" cy="307777"/>
          </a:xfrm>
          <a:prstGeom prst="rect">
            <a:avLst/>
          </a:prstGeom>
          <a:noFill/>
        </p:spPr>
        <p:txBody>
          <a:bodyPr wrap="none" rtlCol="0">
            <a:spAutoFit/>
          </a:bodyPr>
          <a:lstStyle/>
          <a:p>
            <a:r>
              <a:rPr lang="en-US" altLang="ko-KR" sz="1400" dirty="0"/>
              <a:t>2. Type 2 Study</a:t>
            </a:r>
            <a:endParaRPr lang="ko-KR" altLang="en-US" sz="1400" dirty="0"/>
          </a:p>
        </p:txBody>
      </p:sp>
      <p:sp>
        <p:nvSpPr>
          <p:cNvPr id="22" name="TextBox 21"/>
          <p:cNvSpPr txBox="1"/>
          <p:nvPr/>
        </p:nvSpPr>
        <p:spPr>
          <a:xfrm>
            <a:off x="3797403" y="4000504"/>
            <a:ext cx="1425070" cy="307777"/>
          </a:xfrm>
          <a:prstGeom prst="rect">
            <a:avLst/>
          </a:prstGeom>
          <a:noFill/>
        </p:spPr>
        <p:txBody>
          <a:bodyPr wrap="none" rtlCol="0">
            <a:spAutoFit/>
          </a:bodyPr>
          <a:lstStyle/>
          <a:p>
            <a:r>
              <a:rPr lang="en-US" altLang="ko-KR" sz="1400" dirty="0"/>
              <a:t>3. Type 3 Study</a:t>
            </a:r>
            <a:endParaRPr lang="ko-KR" altLang="en-US" sz="1400" dirty="0"/>
          </a:p>
        </p:txBody>
      </p:sp>
    </p:spTree>
    <p:extLst>
      <p:ext uri="{BB962C8B-B14F-4D97-AF65-F5344CB8AC3E}">
        <p14:creationId xmlns:p14="http://schemas.microsoft.com/office/powerpoint/2010/main" val="38512413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88640"/>
            <a:ext cx="5008359" cy="400110"/>
          </a:xfrm>
          <a:prstGeom prst="rect">
            <a:avLst/>
          </a:prstGeom>
          <a:noFill/>
        </p:spPr>
        <p:txBody>
          <a:bodyPr wrap="none" rtlCol="0">
            <a:spAutoFit/>
          </a:bodyPr>
          <a:lstStyle/>
          <a:p>
            <a:r>
              <a:rPr lang="en-US" altLang="ko-KR" sz="2000" b="1" dirty="0"/>
              <a:t>If the measuring instrument is wrong…</a:t>
            </a:r>
            <a:endParaRPr lang="ko-KR" altLang="en-US" sz="2000" b="1" dirty="0"/>
          </a:p>
        </p:txBody>
      </p:sp>
      <p:sp>
        <p:nvSpPr>
          <p:cNvPr id="3" name="TextBox 2"/>
          <p:cNvSpPr txBox="1"/>
          <p:nvPr/>
        </p:nvSpPr>
        <p:spPr>
          <a:xfrm>
            <a:off x="971600" y="1476067"/>
            <a:ext cx="7529490" cy="4401205"/>
          </a:xfrm>
          <a:prstGeom prst="rect">
            <a:avLst/>
          </a:prstGeom>
          <a:noFill/>
        </p:spPr>
        <p:txBody>
          <a:bodyPr wrap="square" rtlCol="0">
            <a:spAutoFit/>
          </a:bodyPr>
          <a:lstStyle/>
          <a:p>
            <a:pPr>
              <a:lnSpc>
                <a:spcPct val="80000"/>
              </a:lnSpc>
            </a:pPr>
            <a:r>
              <a:rPr lang="ko-KR" altLang="en-US" sz="1400" dirty="0"/>
              <a:t> </a:t>
            </a:r>
            <a:r>
              <a:rPr lang="en-US" altLang="ko-KR" sz="1400" dirty="0"/>
              <a:t>Let's say you bought a box of 10 Kg apples a few days ago from the Internet.</a:t>
            </a:r>
          </a:p>
          <a:p>
            <a:pPr>
              <a:lnSpc>
                <a:spcPct val="80000"/>
              </a:lnSpc>
            </a:pPr>
            <a:endParaRPr lang="en-US" altLang="ko-KR" sz="1400" dirty="0"/>
          </a:p>
          <a:p>
            <a:pPr>
              <a:lnSpc>
                <a:spcPct val="80000"/>
              </a:lnSpc>
            </a:pPr>
            <a:r>
              <a:rPr lang="en-US" altLang="ko-KR" sz="1400" dirty="0"/>
              <a:t>I opened the delivered apple box and found 20 fresh fruits.</a:t>
            </a:r>
          </a:p>
          <a:p>
            <a:pPr>
              <a:lnSpc>
                <a:spcPct val="80000"/>
              </a:lnSpc>
            </a:pPr>
            <a:endParaRPr lang="en-US" altLang="ko-KR" sz="1400" dirty="0"/>
          </a:p>
          <a:p>
            <a:pPr>
              <a:lnSpc>
                <a:spcPct val="80000"/>
              </a:lnSpc>
            </a:pPr>
            <a:r>
              <a:rPr lang="en-US" sz="1400" dirty="0"/>
              <a:t>I went to the supermarket in the neighborhood in the evening.</a:t>
            </a:r>
          </a:p>
          <a:p>
            <a:pPr>
              <a:lnSpc>
                <a:spcPct val="80000"/>
              </a:lnSpc>
            </a:pPr>
            <a:endParaRPr lang="en-US" sz="1400" dirty="0"/>
          </a:p>
          <a:p>
            <a:pPr>
              <a:lnSpc>
                <a:spcPct val="80000"/>
              </a:lnSpc>
            </a:pPr>
            <a:r>
              <a:rPr lang="en-US" sz="1400" dirty="0"/>
              <a:t>And I saw an apple selling in the neighborhood supermarket. I was just curios. I looked </a:t>
            </a:r>
          </a:p>
          <a:p>
            <a:pPr>
              <a:lnSpc>
                <a:spcPct val="80000"/>
              </a:lnSpc>
            </a:pPr>
            <a:endParaRPr lang="en-US" sz="1400" dirty="0"/>
          </a:p>
          <a:p>
            <a:pPr>
              <a:lnSpc>
                <a:spcPct val="80000"/>
              </a:lnSpc>
            </a:pPr>
            <a:r>
              <a:rPr lang="en-US" sz="1400" dirty="0"/>
              <a:t>for apples of the same size as the apple I bought during the day.</a:t>
            </a:r>
          </a:p>
          <a:p>
            <a:pPr>
              <a:lnSpc>
                <a:spcPct val="80000"/>
              </a:lnSpc>
            </a:pPr>
            <a:endParaRPr lang="en-US" sz="1400" dirty="0"/>
          </a:p>
          <a:p>
            <a:pPr>
              <a:lnSpc>
                <a:spcPct val="80000"/>
              </a:lnSpc>
            </a:pPr>
            <a:r>
              <a:rPr lang="en-US" sz="1400" dirty="0"/>
              <a:t>They put apples a bag and sell it. and six apples in one bag were exactly the same size,</a:t>
            </a:r>
          </a:p>
          <a:p>
            <a:pPr>
              <a:lnSpc>
                <a:spcPct val="80000"/>
              </a:lnSpc>
            </a:pPr>
            <a:endParaRPr lang="en-US" sz="1400" dirty="0"/>
          </a:p>
          <a:p>
            <a:pPr>
              <a:lnSpc>
                <a:spcPct val="80000"/>
              </a:lnSpc>
            </a:pPr>
            <a:r>
              <a:rPr lang="en-US" sz="1400" dirty="0"/>
              <a:t>but weighed 2.5 kg. I thought is was strange, I bought one bag and compared it.</a:t>
            </a:r>
          </a:p>
          <a:p>
            <a:pPr>
              <a:lnSpc>
                <a:spcPct val="80000"/>
              </a:lnSpc>
            </a:pPr>
            <a:endParaRPr lang="en-US" sz="1400" dirty="0"/>
          </a:p>
          <a:p>
            <a:pPr>
              <a:lnSpc>
                <a:spcPct val="80000"/>
              </a:lnSpc>
            </a:pPr>
            <a:r>
              <a:rPr lang="en-US" sz="1400" dirty="0"/>
              <a:t>Apparently it was the same apple size, and even the supermarket apples seems a little </a:t>
            </a:r>
          </a:p>
          <a:p>
            <a:pPr>
              <a:lnSpc>
                <a:spcPct val="80000"/>
              </a:lnSpc>
            </a:pPr>
            <a:endParaRPr lang="en-US" sz="1400" dirty="0"/>
          </a:p>
          <a:p>
            <a:pPr>
              <a:lnSpc>
                <a:spcPct val="80000"/>
              </a:lnSpc>
            </a:pPr>
            <a:r>
              <a:rPr lang="en-US" sz="1400" dirty="0"/>
              <a:t>bigger.</a:t>
            </a:r>
            <a:endParaRPr lang="en-US" altLang="ko-KR" sz="1400" dirty="0"/>
          </a:p>
          <a:p>
            <a:pPr>
              <a:lnSpc>
                <a:spcPct val="80000"/>
              </a:lnSpc>
            </a:pPr>
            <a:endParaRPr lang="en-US" altLang="ko-KR" sz="1400" dirty="0"/>
          </a:p>
          <a:p>
            <a:pPr>
              <a:lnSpc>
                <a:spcPct val="80000"/>
              </a:lnSpc>
            </a:pPr>
            <a:r>
              <a:rPr lang="en-US" sz="1400" dirty="0"/>
              <a:t>So I put the apple box on the weight again. Not exactly, but I thought it would be similar,</a:t>
            </a:r>
          </a:p>
          <a:p>
            <a:pPr>
              <a:lnSpc>
                <a:spcPct val="80000"/>
              </a:lnSpc>
            </a:pPr>
            <a:endParaRPr lang="en-US" sz="1400" dirty="0"/>
          </a:p>
          <a:p>
            <a:pPr>
              <a:lnSpc>
                <a:spcPct val="80000"/>
              </a:lnSpc>
            </a:pPr>
            <a:r>
              <a:rPr lang="en-US" sz="1400" dirty="0"/>
              <a:t>but it weighed 9.8Kg. And then the fact that this Box was 1.0 kg. I call the producer and </a:t>
            </a:r>
          </a:p>
          <a:p>
            <a:pPr>
              <a:lnSpc>
                <a:spcPct val="80000"/>
              </a:lnSpc>
            </a:pPr>
            <a:endParaRPr lang="en-US" sz="1400" dirty="0"/>
          </a:p>
          <a:p>
            <a:pPr>
              <a:lnSpc>
                <a:spcPct val="80000"/>
              </a:lnSpc>
            </a:pPr>
            <a:r>
              <a:rPr lang="en-US" sz="1400" dirty="0"/>
              <a:t>do not answer the call.</a:t>
            </a:r>
          </a:p>
          <a:p>
            <a:pPr>
              <a:lnSpc>
                <a:spcPct val="80000"/>
              </a:lnSpc>
            </a:pPr>
            <a:endParaRPr lang="en-US" altLang="ko-KR" sz="1400" dirty="0"/>
          </a:p>
          <a:p>
            <a:pPr>
              <a:lnSpc>
                <a:spcPct val="80000"/>
              </a:lnSpc>
            </a:pPr>
            <a:r>
              <a:rPr lang="en-US" altLang="ko-KR" sz="1400" dirty="0" err="1"/>
              <a:t>Haha</a:t>
            </a:r>
            <a:r>
              <a:rPr lang="en-US" altLang="ko-KR" sz="1400" dirty="0"/>
              <a:t>…</a:t>
            </a:r>
          </a:p>
        </p:txBody>
      </p:sp>
      <p:sp>
        <p:nvSpPr>
          <p:cNvPr id="4" name="TextBox 3"/>
          <p:cNvSpPr txBox="1"/>
          <p:nvPr/>
        </p:nvSpPr>
        <p:spPr>
          <a:xfrm>
            <a:off x="611560" y="972011"/>
            <a:ext cx="1079142" cy="369332"/>
          </a:xfrm>
          <a:prstGeom prst="rect">
            <a:avLst/>
          </a:prstGeom>
          <a:noFill/>
        </p:spPr>
        <p:txBody>
          <a:bodyPr wrap="none" rtlCol="0">
            <a:spAutoFit/>
          </a:bodyPr>
          <a:lstStyle/>
          <a:p>
            <a:r>
              <a:rPr lang="en-US" altLang="ko-KR" dirty="0"/>
              <a:t>Episode</a:t>
            </a:r>
            <a:r>
              <a:rPr lang="ko-KR" altLang="en-US" dirty="0"/>
              <a:t> </a:t>
            </a:r>
          </a:p>
        </p:txBody>
      </p:sp>
      <p:sp>
        <p:nvSpPr>
          <p:cNvPr id="5"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a:t>
            </a:fld>
            <a:endParaRPr lang="ko-KR" altLang="en-US" dirty="0"/>
          </a:p>
        </p:txBody>
      </p:sp>
    </p:spTree>
    <p:extLst>
      <p:ext uri="{BB962C8B-B14F-4D97-AF65-F5344CB8AC3E}">
        <p14:creationId xmlns:p14="http://schemas.microsoft.com/office/powerpoint/2010/main" val="12665120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28596" y="171370"/>
            <a:ext cx="1138453" cy="400110"/>
          </a:xfrm>
          <a:prstGeom prst="rect">
            <a:avLst/>
          </a:prstGeom>
          <a:noFill/>
        </p:spPr>
        <p:txBody>
          <a:bodyPr wrap="none" rtlCol="0">
            <a:spAutoFit/>
          </a:bodyPr>
          <a:lstStyle/>
          <a:p>
            <a:r>
              <a:rPr lang="en-US" altLang="ko-KR" sz="2000" b="1" dirty="0" err="1"/>
              <a:t>Mục</a:t>
            </a:r>
            <a:r>
              <a:rPr lang="en-US" altLang="ko-KR" sz="2000" b="1" dirty="0"/>
              <a:t> </a:t>
            </a:r>
            <a:r>
              <a:rPr lang="en-US" altLang="ko-KR" sz="2000" b="1" dirty="0" err="1"/>
              <a:t>lục</a:t>
            </a:r>
            <a:endParaRPr lang="ko-KR" altLang="en-US" sz="2000" b="1" dirty="0"/>
          </a:p>
        </p:txBody>
      </p:sp>
      <p:sp>
        <p:nvSpPr>
          <p:cNvPr id="3" name="TextBox 2"/>
          <p:cNvSpPr txBox="1"/>
          <p:nvPr/>
        </p:nvSpPr>
        <p:spPr>
          <a:xfrm>
            <a:off x="818706" y="1206481"/>
            <a:ext cx="2501006" cy="307777"/>
          </a:xfrm>
          <a:prstGeom prst="rect">
            <a:avLst/>
          </a:prstGeom>
          <a:noFill/>
        </p:spPr>
        <p:txBody>
          <a:bodyPr wrap="none" rtlCol="0">
            <a:spAutoFit/>
          </a:bodyPr>
          <a:lstStyle/>
          <a:p>
            <a:r>
              <a:rPr lang="en-US" altLang="ko-KR" sz="1400" dirty="0"/>
              <a:t>- </a:t>
            </a:r>
            <a:r>
              <a:rPr lang="en-US" altLang="ko-KR" sz="1400" dirty="0" err="1"/>
              <a:t>Nếu</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lường</a:t>
            </a:r>
            <a:r>
              <a:rPr lang="en-US" altLang="ko-KR" sz="1400" dirty="0"/>
              <a:t> </a:t>
            </a:r>
            <a:r>
              <a:rPr lang="en-US" altLang="ko-KR" sz="1400" dirty="0" err="1"/>
              <a:t>bị</a:t>
            </a:r>
            <a:r>
              <a:rPr lang="en-US" altLang="ko-KR" sz="1400" dirty="0"/>
              <a:t> </a:t>
            </a:r>
            <a:r>
              <a:rPr lang="en-US" altLang="ko-KR" sz="1400" dirty="0" err="1"/>
              <a:t>lỗi</a:t>
            </a:r>
            <a:endParaRPr lang="ko-KR" altLang="en-US" sz="1400" dirty="0"/>
          </a:p>
        </p:txBody>
      </p:sp>
      <p:sp>
        <p:nvSpPr>
          <p:cNvPr id="4" name="TextBox 3"/>
          <p:cNvSpPr txBox="1"/>
          <p:nvPr/>
        </p:nvSpPr>
        <p:spPr>
          <a:xfrm>
            <a:off x="818706" y="1815063"/>
            <a:ext cx="2444900" cy="307777"/>
          </a:xfrm>
          <a:prstGeom prst="rect">
            <a:avLst/>
          </a:prstGeom>
          <a:noFill/>
        </p:spPr>
        <p:txBody>
          <a:bodyPr wrap="none" rtlCol="0">
            <a:spAutoFit/>
          </a:bodyPr>
          <a:lstStyle/>
          <a:p>
            <a:r>
              <a:rPr lang="en-US" altLang="ko-KR" sz="1400" dirty="0"/>
              <a:t>- </a:t>
            </a:r>
            <a:r>
              <a:rPr lang="en-US" altLang="ko-KR" sz="1400" dirty="0" err="1"/>
              <a:t>Hiểu</a:t>
            </a:r>
            <a:r>
              <a:rPr lang="en-US" altLang="ko-KR" sz="1400" dirty="0"/>
              <a:t> </a:t>
            </a:r>
            <a:r>
              <a:rPr lang="en-US" altLang="ko-KR" sz="1400" dirty="0" err="1"/>
              <a:t>về</a:t>
            </a:r>
            <a:r>
              <a:rPr lang="en-US" altLang="ko-KR" sz="1400" dirty="0"/>
              <a:t> </a:t>
            </a:r>
            <a:r>
              <a:rPr lang="en-US" altLang="ko-KR" sz="1400" dirty="0" err="1"/>
              <a:t>biến</a:t>
            </a:r>
            <a:r>
              <a:rPr lang="en-US" altLang="ko-KR" sz="1400" dirty="0"/>
              <a:t> </a:t>
            </a:r>
            <a:r>
              <a:rPr lang="en-US" altLang="ko-KR" sz="1400" dirty="0" err="1"/>
              <a:t>động</a:t>
            </a:r>
            <a:r>
              <a:rPr lang="en-US" altLang="ko-KR" sz="1400" dirty="0"/>
              <a:t>/</a:t>
            </a:r>
            <a:r>
              <a:rPr lang="en-US" altLang="ko-KR" sz="1400" dirty="0" err="1"/>
              <a:t>thay</a:t>
            </a:r>
            <a:r>
              <a:rPr lang="en-US" altLang="ko-KR" sz="1400" dirty="0"/>
              <a:t> </a:t>
            </a:r>
            <a:r>
              <a:rPr lang="en-US" altLang="ko-KR" sz="1400" dirty="0" err="1"/>
              <a:t>đổi</a:t>
            </a:r>
            <a:endParaRPr lang="ko-KR" altLang="en-US" sz="1400" dirty="0"/>
          </a:p>
        </p:txBody>
      </p:sp>
      <p:sp>
        <p:nvSpPr>
          <p:cNvPr id="5" name="TextBox 4"/>
          <p:cNvSpPr txBox="1"/>
          <p:nvPr/>
        </p:nvSpPr>
        <p:spPr>
          <a:xfrm>
            <a:off x="821708" y="2195429"/>
            <a:ext cx="1826141" cy="307777"/>
          </a:xfrm>
          <a:prstGeom prst="rect">
            <a:avLst/>
          </a:prstGeom>
          <a:noFill/>
        </p:spPr>
        <p:txBody>
          <a:bodyPr wrap="none" rtlCol="0">
            <a:spAutoFit/>
          </a:bodyPr>
          <a:lstStyle/>
          <a:p>
            <a:r>
              <a:rPr lang="en-US" altLang="ko-KR" sz="1400" dirty="0"/>
              <a:t>- </a:t>
            </a:r>
            <a:r>
              <a:rPr lang="en-US" altLang="ko-KR" sz="1400" dirty="0" err="1"/>
              <a:t>Độ</a:t>
            </a:r>
            <a:r>
              <a:rPr lang="en-US" altLang="ko-KR" sz="1400" dirty="0"/>
              <a:t> </a:t>
            </a:r>
            <a:r>
              <a:rPr lang="en-US" altLang="ko-KR" sz="1400" dirty="0" err="1"/>
              <a:t>chính</a:t>
            </a:r>
            <a:r>
              <a:rPr lang="en-US" altLang="ko-KR" sz="1400" dirty="0"/>
              <a:t> </a:t>
            </a:r>
            <a:r>
              <a:rPr lang="en-US" altLang="ko-KR" sz="1400" dirty="0" err="1"/>
              <a:t>xác</a:t>
            </a:r>
            <a:r>
              <a:rPr lang="en-US" altLang="ko-KR" sz="1400" dirty="0"/>
              <a:t> Gage</a:t>
            </a:r>
            <a:endParaRPr lang="ko-KR" altLang="en-US" sz="1400" dirty="0"/>
          </a:p>
        </p:txBody>
      </p:sp>
      <p:sp>
        <p:nvSpPr>
          <p:cNvPr id="6" name="TextBox 5"/>
          <p:cNvSpPr txBox="1"/>
          <p:nvPr/>
        </p:nvSpPr>
        <p:spPr>
          <a:xfrm>
            <a:off x="818706" y="3222705"/>
            <a:ext cx="1438214" cy="307777"/>
          </a:xfrm>
          <a:prstGeom prst="rect">
            <a:avLst/>
          </a:prstGeom>
          <a:noFill/>
        </p:spPr>
        <p:txBody>
          <a:bodyPr wrap="none" rtlCol="0">
            <a:spAutoFit/>
          </a:bodyPr>
          <a:lstStyle/>
          <a:p>
            <a:r>
              <a:rPr lang="en-US" altLang="ko-KR" sz="1400" dirty="0"/>
              <a:t>- </a:t>
            </a:r>
            <a:r>
              <a:rPr lang="en-US" altLang="ko-KR" sz="1400" dirty="0" err="1"/>
              <a:t>Độ</a:t>
            </a:r>
            <a:r>
              <a:rPr lang="en-US" altLang="ko-KR" sz="1400" dirty="0"/>
              <a:t> </a:t>
            </a:r>
            <a:r>
              <a:rPr lang="en-US" altLang="ko-KR" sz="1400" dirty="0" err="1"/>
              <a:t>tỉ</a:t>
            </a:r>
            <a:r>
              <a:rPr lang="en-US" altLang="ko-KR" sz="1400" dirty="0"/>
              <a:t> </a:t>
            </a:r>
            <a:r>
              <a:rPr lang="en-US" altLang="ko-KR" sz="1400" dirty="0" err="1"/>
              <a:t>mỉ</a:t>
            </a:r>
            <a:r>
              <a:rPr lang="en-US" altLang="ko-KR" sz="1400" dirty="0"/>
              <a:t> Gage</a:t>
            </a:r>
            <a:r>
              <a:rPr lang="ko-KR" altLang="en-US" sz="1400" dirty="0"/>
              <a:t> </a:t>
            </a:r>
          </a:p>
        </p:txBody>
      </p:sp>
      <p:sp>
        <p:nvSpPr>
          <p:cNvPr id="8" name="TextBox 7"/>
          <p:cNvSpPr txBox="1"/>
          <p:nvPr/>
        </p:nvSpPr>
        <p:spPr>
          <a:xfrm>
            <a:off x="818706" y="1546776"/>
            <a:ext cx="1535998" cy="307777"/>
          </a:xfrm>
          <a:prstGeom prst="rect">
            <a:avLst/>
          </a:prstGeom>
          <a:noFill/>
        </p:spPr>
        <p:txBody>
          <a:bodyPr wrap="none" rtlCol="0">
            <a:spAutoFit/>
          </a:bodyPr>
          <a:lstStyle/>
          <a:p>
            <a:r>
              <a:rPr lang="en-US" altLang="ko-KR" sz="1400" dirty="0"/>
              <a:t>- </a:t>
            </a:r>
            <a:r>
              <a:rPr lang="en-US" altLang="ko-KR" sz="1400" dirty="0" err="1"/>
              <a:t>Đo</a:t>
            </a:r>
            <a:r>
              <a:rPr lang="en-US" altLang="ko-KR" sz="1400" dirty="0"/>
              <a:t> </a:t>
            </a:r>
            <a:r>
              <a:rPr lang="en-US" altLang="ko-KR" sz="1400" dirty="0" err="1"/>
              <a:t>lường</a:t>
            </a:r>
            <a:r>
              <a:rPr lang="en-US" altLang="ko-KR" sz="1400" dirty="0"/>
              <a:t> </a:t>
            </a:r>
            <a:r>
              <a:rPr lang="en-US" altLang="ko-KR" sz="1400" dirty="0" err="1"/>
              <a:t>là</a:t>
            </a:r>
            <a:r>
              <a:rPr lang="en-US" altLang="ko-KR" sz="1400" dirty="0"/>
              <a:t> </a:t>
            </a:r>
            <a:r>
              <a:rPr lang="en-US" altLang="ko-KR" sz="1400" dirty="0" err="1"/>
              <a:t>gì</a:t>
            </a:r>
            <a:r>
              <a:rPr lang="en-US" altLang="ko-KR" sz="1400" dirty="0"/>
              <a:t>?</a:t>
            </a:r>
            <a:endParaRPr lang="ko-KR" altLang="en-US" sz="1400" dirty="0"/>
          </a:p>
        </p:txBody>
      </p:sp>
      <p:sp>
        <p:nvSpPr>
          <p:cNvPr id="9" name="TextBox 8"/>
          <p:cNvSpPr txBox="1"/>
          <p:nvPr/>
        </p:nvSpPr>
        <p:spPr>
          <a:xfrm>
            <a:off x="1041993" y="2430617"/>
            <a:ext cx="1447832" cy="738664"/>
          </a:xfrm>
          <a:prstGeom prst="rect">
            <a:avLst/>
          </a:prstGeom>
          <a:noFill/>
        </p:spPr>
        <p:txBody>
          <a:bodyPr wrap="none" rtlCol="0">
            <a:spAutoFit/>
          </a:bodyPr>
          <a:lstStyle/>
          <a:p>
            <a:r>
              <a:rPr lang="en-US" altLang="ko-KR" sz="1400" dirty="0"/>
              <a:t>1. </a:t>
            </a:r>
            <a:r>
              <a:rPr lang="en-US" altLang="ko-KR" sz="1400" dirty="0" err="1"/>
              <a:t>Độ</a:t>
            </a:r>
            <a:r>
              <a:rPr lang="en-US" altLang="ko-KR" sz="1400" dirty="0"/>
              <a:t> </a:t>
            </a:r>
            <a:r>
              <a:rPr lang="en-US" altLang="ko-KR" sz="1400" dirty="0" err="1"/>
              <a:t>lệch</a:t>
            </a:r>
            <a:endParaRPr lang="en-US" altLang="ko-KR" sz="1400" dirty="0"/>
          </a:p>
          <a:p>
            <a:r>
              <a:rPr lang="en-US" altLang="ko-KR" sz="1400" dirty="0"/>
              <a:t>2. </a:t>
            </a:r>
            <a:r>
              <a:rPr lang="en-US" altLang="ko-KR" sz="1400" dirty="0" err="1"/>
              <a:t>Độ</a:t>
            </a:r>
            <a:r>
              <a:rPr lang="en-US" altLang="ko-KR" sz="1400" dirty="0"/>
              <a:t> </a:t>
            </a:r>
            <a:r>
              <a:rPr lang="en-US" altLang="ko-KR" sz="1400" dirty="0" err="1"/>
              <a:t>tuyến</a:t>
            </a:r>
            <a:r>
              <a:rPr lang="en-US" altLang="ko-KR" sz="1400" dirty="0"/>
              <a:t> </a:t>
            </a:r>
            <a:r>
              <a:rPr lang="en-US" altLang="ko-KR" sz="1400" dirty="0" err="1"/>
              <a:t>tính</a:t>
            </a:r>
            <a:endParaRPr lang="en-US" altLang="ko-KR" sz="1400" dirty="0"/>
          </a:p>
          <a:p>
            <a:r>
              <a:rPr lang="en-US" altLang="ko-KR" sz="1400" dirty="0"/>
              <a:t>3.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endParaRPr lang="ko-KR" altLang="en-US" sz="1400" dirty="0"/>
          </a:p>
        </p:txBody>
      </p:sp>
      <p:sp>
        <p:nvSpPr>
          <p:cNvPr id="10" name="TextBox 9"/>
          <p:cNvSpPr txBox="1"/>
          <p:nvPr/>
        </p:nvSpPr>
        <p:spPr>
          <a:xfrm>
            <a:off x="1041993" y="3510737"/>
            <a:ext cx="2345194" cy="738664"/>
          </a:xfrm>
          <a:prstGeom prst="rect">
            <a:avLst/>
          </a:prstGeom>
          <a:noFill/>
        </p:spPr>
        <p:txBody>
          <a:bodyPr wrap="none" rtlCol="0">
            <a:spAutoFit/>
          </a:bodyPr>
          <a:lstStyle/>
          <a:p>
            <a:r>
              <a:rPr lang="en-US" altLang="ko-KR" sz="1400" dirty="0"/>
              <a:t>1. Gage R&amp;R </a:t>
            </a:r>
          </a:p>
          <a:p>
            <a:r>
              <a:rPr lang="en-US" altLang="ko-KR" sz="1400" dirty="0"/>
              <a:t>2. </a:t>
            </a:r>
            <a:r>
              <a:rPr lang="en-US" altLang="ko-KR" sz="1400" dirty="0" err="1"/>
              <a:t>Tiền</a:t>
            </a:r>
            <a:r>
              <a:rPr lang="en-US" altLang="ko-KR" sz="1400" dirty="0"/>
              <a:t> </a:t>
            </a:r>
            <a:r>
              <a:rPr lang="en-US" altLang="ko-KR" sz="1400" dirty="0" err="1"/>
              <a:t>lệ</a:t>
            </a:r>
            <a:r>
              <a:rPr lang="en-US" altLang="ko-KR" sz="1400" dirty="0"/>
              <a:t>/</a:t>
            </a:r>
            <a:r>
              <a:rPr lang="en-US" altLang="ko-KR" sz="1400" dirty="0" err="1"/>
              <a:t>Ví</a:t>
            </a:r>
            <a:r>
              <a:rPr lang="en-US" altLang="ko-KR" sz="1400" dirty="0"/>
              <a:t> </a:t>
            </a:r>
            <a:r>
              <a:rPr lang="en-US" altLang="ko-KR" sz="1400" dirty="0" err="1"/>
              <a:t>dụ</a:t>
            </a:r>
            <a:r>
              <a:rPr lang="en-US" altLang="ko-KR" sz="1400" dirty="0"/>
              <a:t> Gage R&amp;R</a:t>
            </a:r>
            <a:r>
              <a:rPr lang="ko-KR" altLang="en-US" sz="1400" dirty="0"/>
              <a:t> </a:t>
            </a:r>
            <a:endParaRPr lang="en-US" altLang="ko-KR" sz="1400" dirty="0"/>
          </a:p>
          <a:p>
            <a:r>
              <a:rPr lang="en-US" altLang="ko-KR" sz="1400" dirty="0"/>
              <a:t>3. </a:t>
            </a:r>
            <a:r>
              <a:rPr lang="en-US" altLang="ko-KR" sz="1400" dirty="0" err="1"/>
              <a:t>Tăng</a:t>
            </a:r>
            <a:r>
              <a:rPr lang="en-US" altLang="ko-KR" sz="1400" dirty="0"/>
              <a:t> </a:t>
            </a:r>
            <a:r>
              <a:rPr lang="en-US" altLang="ko-KR" sz="1400" dirty="0" err="1"/>
              <a:t>cường</a:t>
            </a:r>
            <a:r>
              <a:rPr lang="en-US" altLang="ko-KR" sz="1400" dirty="0"/>
              <a:t> Gage R&amp;R</a:t>
            </a:r>
            <a:endParaRPr lang="ko-KR" altLang="en-US" sz="1400" dirty="0"/>
          </a:p>
        </p:txBody>
      </p:sp>
      <p:sp>
        <p:nvSpPr>
          <p:cNvPr id="11" name="TextBox 10"/>
          <p:cNvSpPr txBox="1"/>
          <p:nvPr/>
        </p:nvSpPr>
        <p:spPr>
          <a:xfrm>
            <a:off x="818706" y="5166340"/>
            <a:ext cx="2696572" cy="307777"/>
          </a:xfrm>
          <a:prstGeom prst="rect">
            <a:avLst/>
          </a:prstGeom>
          <a:noFill/>
        </p:spPr>
        <p:txBody>
          <a:bodyPr wrap="none" rtlCol="0">
            <a:spAutoFit/>
          </a:bodyPr>
          <a:lstStyle/>
          <a:p>
            <a:r>
              <a:rPr lang="en-US" altLang="ko-KR" sz="1400" dirty="0"/>
              <a:t>- </a:t>
            </a:r>
            <a:r>
              <a:rPr lang="en-US" altLang="ko-KR" sz="1400" dirty="0" err="1"/>
              <a:t>Kiểm</a:t>
            </a:r>
            <a:r>
              <a:rPr lang="en-US" altLang="ko-KR" sz="1400" dirty="0"/>
              <a:t> </a:t>
            </a:r>
            <a:r>
              <a:rPr lang="en-US" altLang="ko-KR" sz="1400" dirty="0" err="1"/>
              <a:t>tra</a:t>
            </a:r>
            <a:r>
              <a:rPr lang="en-US" altLang="ko-KR" sz="1400" dirty="0"/>
              <a:t> </a:t>
            </a:r>
            <a:r>
              <a:rPr lang="en-US" altLang="ko-KR" sz="1400" dirty="0" err="1"/>
              <a:t>phá</a:t>
            </a:r>
            <a:r>
              <a:rPr lang="en-US" altLang="ko-KR" sz="1400" dirty="0"/>
              <a:t> </a:t>
            </a:r>
            <a:r>
              <a:rPr lang="en-US" altLang="ko-KR" sz="1400" dirty="0" err="1"/>
              <a:t>hỏng</a:t>
            </a:r>
            <a:r>
              <a:rPr lang="en-US" altLang="ko-KR" sz="1400" dirty="0"/>
              <a:t> Gage R&amp;R </a:t>
            </a:r>
            <a:endParaRPr lang="ko-KR" altLang="en-US" sz="1400" dirty="0"/>
          </a:p>
        </p:txBody>
      </p:sp>
      <p:sp>
        <p:nvSpPr>
          <p:cNvPr id="12" name="TextBox 11"/>
          <p:cNvSpPr txBox="1"/>
          <p:nvPr/>
        </p:nvSpPr>
        <p:spPr>
          <a:xfrm>
            <a:off x="818706" y="5598388"/>
            <a:ext cx="1986441" cy="307777"/>
          </a:xfrm>
          <a:prstGeom prst="rect">
            <a:avLst/>
          </a:prstGeom>
          <a:noFill/>
        </p:spPr>
        <p:txBody>
          <a:bodyPr wrap="none" rtlCol="0">
            <a:spAutoFit/>
          </a:bodyPr>
          <a:lstStyle/>
          <a:p>
            <a:r>
              <a:rPr lang="en-US" altLang="ko-KR" sz="1400" dirty="0"/>
              <a:t>- </a:t>
            </a:r>
            <a:r>
              <a:rPr lang="en-US" altLang="ko-KR" sz="1400" dirty="0" err="1"/>
              <a:t>Phạm</a:t>
            </a:r>
            <a:r>
              <a:rPr lang="en-US" altLang="ko-KR" sz="1400" dirty="0"/>
              <a:t> </a:t>
            </a:r>
            <a:r>
              <a:rPr lang="en-US" altLang="ko-KR" sz="1400" dirty="0" err="1"/>
              <a:t>trù</a:t>
            </a:r>
            <a:r>
              <a:rPr lang="en-US" altLang="ko-KR" sz="1400" dirty="0"/>
              <a:t> Gage R&amp;R </a:t>
            </a:r>
            <a:endParaRPr lang="ko-KR" altLang="en-US" sz="1400" dirty="0"/>
          </a:p>
        </p:txBody>
      </p:sp>
      <p:sp>
        <p:nvSpPr>
          <p:cNvPr id="13" name="TextBox 12"/>
          <p:cNvSpPr txBox="1"/>
          <p:nvPr/>
        </p:nvSpPr>
        <p:spPr>
          <a:xfrm>
            <a:off x="818706" y="6050181"/>
            <a:ext cx="950901" cy="307777"/>
          </a:xfrm>
          <a:prstGeom prst="rect">
            <a:avLst/>
          </a:prstGeom>
          <a:noFill/>
        </p:spPr>
        <p:txBody>
          <a:bodyPr wrap="none" rtlCol="0">
            <a:spAutoFit/>
          </a:bodyPr>
          <a:lstStyle/>
          <a:p>
            <a:r>
              <a:rPr lang="en-US" altLang="ko-KR" sz="1400" dirty="0"/>
              <a:t>- </a:t>
            </a:r>
            <a:r>
              <a:rPr lang="en-US" altLang="ko-KR" sz="1400" dirty="0" err="1"/>
              <a:t>Kết</a:t>
            </a:r>
            <a:r>
              <a:rPr lang="en-US" altLang="ko-KR" sz="1400" dirty="0"/>
              <a:t> </a:t>
            </a:r>
            <a:r>
              <a:rPr lang="en-US" altLang="ko-KR" sz="1400" dirty="0" err="1"/>
              <a:t>luận</a:t>
            </a:r>
            <a:endParaRPr lang="ko-KR" altLang="en-US" sz="1400" dirty="0"/>
          </a:p>
        </p:txBody>
      </p:sp>
      <p:sp>
        <p:nvSpPr>
          <p:cNvPr id="14" name="TextBox 13"/>
          <p:cNvSpPr txBox="1"/>
          <p:nvPr/>
        </p:nvSpPr>
        <p:spPr>
          <a:xfrm>
            <a:off x="818706" y="4322570"/>
            <a:ext cx="2743059" cy="307777"/>
          </a:xfrm>
          <a:prstGeom prst="rect">
            <a:avLst/>
          </a:prstGeom>
          <a:noFill/>
        </p:spPr>
        <p:txBody>
          <a:bodyPr wrap="none" rtlCol="0">
            <a:spAutoFit/>
          </a:bodyPr>
          <a:lstStyle/>
          <a:p>
            <a:r>
              <a:rPr lang="en-US" altLang="ko-KR" sz="1400" dirty="0"/>
              <a:t>- GM Gage R&amp;R Guide </a:t>
            </a:r>
            <a:r>
              <a:rPr lang="en-US" altLang="ko-KR" sz="1400" dirty="0" err="1"/>
              <a:t>Kiểm</a:t>
            </a:r>
            <a:r>
              <a:rPr lang="en-US" altLang="ko-KR" sz="1400" dirty="0"/>
              <a:t> </a:t>
            </a:r>
            <a:r>
              <a:rPr lang="en-US" altLang="ko-KR" sz="1400" dirty="0" err="1"/>
              <a:t>tra</a:t>
            </a:r>
            <a:endParaRPr lang="ko-KR" altLang="en-US" sz="1400" dirty="0"/>
          </a:p>
        </p:txBody>
      </p:sp>
      <p:sp>
        <p:nvSpPr>
          <p:cNvPr id="15" name="TextBox 14"/>
          <p:cNvSpPr txBox="1"/>
          <p:nvPr/>
        </p:nvSpPr>
        <p:spPr>
          <a:xfrm>
            <a:off x="1041993" y="4610602"/>
            <a:ext cx="1883529" cy="523220"/>
          </a:xfrm>
          <a:prstGeom prst="rect">
            <a:avLst/>
          </a:prstGeom>
          <a:noFill/>
        </p:spPr>
        <p:txBody>
          <a:bodyPr wrap="none" rtlCol="0">
            <a:spAutoFit/>
          </a:bodyPr>
          <a:lstStyle/>
          <a:p>
            <a:r>
              <a:rPr lang="en-US" altLang="ko-KR" sz="1400" dirty="0"/>
              <a:t>1. Type 1 Gage R&amp;R </a:t>
            </a:r>
          </a:p>
          <a:p>
            <a:r>
              <a:rPr lang="en-US" altLang="ko-KR" sz="1400" dirty="0"/>
              <a:t>2. Type 3 Gage R&amp;R</a:t>
            </a:r>
            <a:endParaRPr lang="ko-KR" altLang="en-US" sz="1400" dirty="0"/>
          </a:p>
        </p:txBody>
      </p:sp>
      <p:sp>
        <p:nvSpPr>
          <p:cNvPr id="16" name="TextBox 15"/>
          <p:cNvSpPr txBox="1"/>
          <p:nvPr/>
        </p:nvSpPr>
        <p:spPr>
          <a:xfrm>
            <a:off x="3470853" y="2195429"/>
            <a:ext cx="2016899" cy="307777"/>
          </a:xfrm>
          <a:prstGeom prst="rect">
            <a:avLst/>
          </a:prstGeom>
          <a:noFill/>
        </p:spPr>
        <p:txBody>
          <a:bodyPr wrap="none" rtlCol="0">
            <a:spAutoFit/>
          </a:bodyPr>
          <a:lstStyle/>
          <a:p>
            <a:r>
              <a:rPr lang="en-US" altLang="ko-KR" sz="1400" dirty="0"/>
              <a:t>- </a:t>
            </a:r>
            <a:r>
              <a:rPr lang="en-US" altLang="ko-KR" sz="1400" dirty="0" err="1"/>
              <a:t>Khái</a:t>
            </a:r>
            <a:r>
              <a:rPr lang="en-US" altLang="ko-KR" sz="1400" dirty="0"/>
              <a:t> </a:t>
            </a:r>
            <a:r>
              <a:rPr lang="en-US" altLang="ko-KR" sz="1400" dirty="0" err="1"/>
              <a:t>quát</a:t>
            </a:r>
            <a:r>
              <a:rPr lang="en-US" altLang="ko-KR" sz="1400" dirty="0"/>
              <a:t> Gage R&amp;R</a:t>
            </a:r>
            <a:r>
              <a:rPr lang="ko-KR" altLang="en-US" sz="1400" dirty="0"/>
              <a:t> </a:t>
            </a:r>
          </a:p>
        </p:txBody>
      </p:sp>
      <p:sp>
        <p:nvSpPr>
          <p:cNvPr id="17" name="TextBox 16"/>
          <p:cNvSpPr txBox="1"/>
          <p:nvPr/>
        </p:nvSpPr>
        <p:spPr>
          <a:xfrm>
            <a:off x="3614869" y="2483461"/>
            <a:ext cx="1965603" cy="307777"/>
          </a:xfrm>
          <a:prstGeom prst="rect">
            <a:avLst/>
          </a:prstGeom>
          <a:noFill/>
        </p:spPr>
        <p:txBody>
          <a:bodyPr wrap="none" rtlCol="0">
            <a:spAutoFit/>
          </a:bodyPr>
          <a:lstStyle/>
          <a:p>
            <a:r>
              <a:rPr lang="en-US" altLang="ko-KR" sz="1400" dirty="0"/>
              <a:t>1. </a:t>
            </a:r>
            <a:r>
              <a:rPr lang="en-US" altLang="ko-KR" sz="1400" dirty="0" err="1"/>
              <a:t>Độ</a:t>
            </a:r>
            <a:r>
              <a:rPr lang="en-US" altLang="ko-KR" sz="1400" dirty="0"/>
              <a:t> </a:t>
            </a:r>
            <a:r>
              <a:rPr lang="en-US" altLang="ko-KR" sz="1400" dirty="0" err="1"/>
              <a:t>chính</a:t>
            </a:r>
            <a:r>
              <a:rPr lang="en-US" altLang="ko-KR" sz="1400" dirty="0"/>
              <a:t> </a:t>
            </a:r>
            <a:r>
              <a:rPr lang="en-US" altLang="ko-KR" sz="1400" dirty="0" err="1"/>
              <a:t>xác</a:t>
            </a:r>
            <a:r>
              <a:rPr lang="en-US" altLang="ko-KR" sz="1400" dirty="0"/>
              <a:t> Gage </a:t>
            </a:r>
            <a:endParaRPr lang="ko-KR" altLang="en-US" sz="1400" dirty="0"/>
          </a:p>
        </p:txBody>
      </p:sp>
      <p:sp>
        <p:nvSpPr>
          <p:cNvPr id="18" name="TextBox 17"/>
          <p:cNvSpPr txBox="1"/>
          <p:nvPr/>
        </p:nvSpPr>
        <p:spPr>
          <a:xfrm>
            <a:off x="3614869" y="2771493"/>
            <a:ext cx="1527982" cy="307777"/>
          </a:xfrm>
          <a:prstGeom prst="rect">
            <a:avLst/>
          </a:prstGeom>
          <a:noFill/>
        </p:spPr>
        <p:txBody>
          <a:bodyPr wrap="none" rtlCol="0">
            <a:spAutoFit/>
          </a:bodyPr>
          <a:lstStyle/>
          <a:p>
            <a:r>
              <a:rPr lang="en-US" altLang="ko-KR" sz="1400" dirty="0"/>
              <a:t>2. </a:t>
            </a:r>
            <a:r>
              <a:rPr lang="en-US" altLang="ko-KR" sz="1400" dirty="0" err="1"/>
              <a:t>Độ</a:t>
            </a:r>
            <a:r>
              <a:rPr lang="en-US" altLang="ko-KR" sz="1400" dirty="0"/>
              <a:t> </a:t>
            </a:r>
            <a:r>
              <a:rPr lang="en-US" altLang="ko-KR" sz="1400" dirty="0" err="1"/>
              <a:t>tỉ</a:t>
            </a:r>
            <a:r>
              <a:rPr lang="en-US" altLang="ko-KR" sz="1400" dirty="0"/>
              <a:t> </a:t>
            </a:r>
            <a:r>
              <a:rPr lang="en-US" altLang="ko-KR" sz="1400" dirty="0" err="1"/>
              <a:t>mỉ</a:t>
            </a:r>
            <a:r>
              <a:rPr lang="en-US" altLang="ko-KR" sz="1400" dirty="0"/>
              <a:t> Gage</a:t>
            </a:r>
            <a:r>
              <a:rPr lang="ko-KR" altLang="en-US" sz="1400" dirty="0"/>
              <a:t> </a:t>
            </a:r>
          </a:p>
        </p:txBody>
      </p:sp>
      <p:sp>
        <p:nvSpPr>
          <p:cNvPr id="19" name="TextBox 18"/>
          <p:cNvSpPr txBox="1"/>
          <p:nvPr/>
        </p:nvSpPr>
        <p:spPr>
          <a:xfrm>
            <a:off x="3500430" y="3059525"/>
            <a:ext cx="2740622" cy="307777"/>
          </a:xfrm>
          <a:prstGeom prst="rect">
            <a:avLst/>
          </a:prstGeom>
          <a:noFill/>
        </p:spPr>
        <p:txBody>
          <a:bodyPr wrap="none" rtlCol="0">
            <a:spAutoFit/>
          </a:bodyPr>
          <a:lstStyle/>
          <a:p>
            <a:r>
              <a:rPr lang="en-US" altLang="ko-KR" sz="1400" dirty="0"/>
              <a:t>- </a:t>
            </a:r>
            <a:r>
              <a:rPr lang="en-US" altLang="ko-KR" sz="1400" dirty="0" err="1"/>
              <a:t>Trình</a:t>
            </a:r>
            <a:r>
              <a:rPr lang="en-US" altLang="ko-KR" sz="1400" dirty="0"/>
              <a:t> </a:t>
            </a:r>
            <a:r>
              <a:rPr lang="en-US" altLang="ko-KR" sz="1400" dirty="0" err="1"/>
              <a:t>tự</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hệ</a:t>
            </a:r>
            <a:r>
              <a:rPr lang="en-US" altLang="ko-KR" sz="1400" dirty="0"/>
              <a:t> </a:t>
            </a:r>
            <a:r>
              <a:rPr lang="en-US" altLang="ko-KR" sz="1400" dirty="0" err="1"/>
              <a:t>thống</a:t>
            </a:r>
            <a:r>
              <a:rPr lang="en-US" altLang="ko-KR" sz="1400" dirty="0"/>
              <a:t> </a:t>
            </a:r>
            <a:r>
              <a:rPr lang="en-US" altLang="ko-KR" sz="1400" dirty="0" err="1"/>
              <a:t>đo</a:t>
            </a:r>
            <a:endParaRPr lang="ko-KR" altLang="en-US" sz="1400" dirty="0"/>
          </a:p>
        </p:txBody>
      </p:sp>
      <p:sp>
        <p:nvSpPr>
          <p:cNvPr id="20" name="TextBox 19"/>
          <p:cNvSpPr txBox="1"/>
          <p:nvPr/>
        </p:nvSpPr>
        <p:spPr>
          <a:xfrm>
            <a:off x="3758885" y="3347557"/>
            <a:ext cx="1425070" cy="307777"/>
          </a:xfrm>
          <a:prstGeom prst="rect">
            <a:avLst/>
          </a:prstGeom>
          <a:noFill/>
        </p:spPr>
        <p:txBody>
          <a:bodyPr wrap="none" rtlCol="0">
            <a:spAutoFit/>
          </a:bodyPr>
          <a:lstStyle/>
          <a:p>
            <a:r>
              <a:rPr lang="en-US" altLang="ko-KR" sz="1400" dirty="0"/>
              <a:t>1. Type 1 Study</a:t>
            </a:r>
            <a:endParaRPr lang="ko-KR" altLang="en-US" sz="1400" dirty="0"/>
          </a:p>
        </p:txBody>
      </p:sp>
      <p:sp>
        <p:nvSpPr>
          <p:cNvPr id="21" name="TextBox 20"/>
          <p:cNvSpPr txBox="1"/>
          <p:nvPr/>
        </p:nvSpPr>
        <p:spPr>
          <a:xfrm>
            <a:off x="3758885" y="3635589"/>
            <a:ext cx="1425070" cy="307777"/>
          </a:xfrm>
          <a:prstGeom prst="rect">
            <a:avLst/>
          </a:prstGeom>
          <a:noFill/>
        </p:spPr>
        <p:txBody>
          <a:bodyPr wrap="none" rtlCol="0">
            <a:spAutoFit/>
          </a:bodyPr>
          <a:lstStyle/>
          <a:p>
            <a:r>
              <a:rPr lang="en-US" altLang="ko-KR" sz="1400" dirty="0"/>
              <a:t>2. Type 2 Study</a:t>
            </a:r>
            <a:endParaRPr lang="ko-KR" altLang="en-US" sz="1400" dirty="0"/>
          </a:p>
        </p:txBody>
      </p:sp>
      <p:sp>
        <p:nvSpPr>
          <p:cNvPr id="22" name="TextBox 21"/>
          <p:cNvSpPr txBox="1"/>
          <p:nvPr/>
        </p:nvSpPr>
        <p:spPr>
          <a:xfrm>
            <a:off x="3758885" y="3929066"/>
            <a:ext cx="1425070" cy="307777"/>
          </a:xfrm>
          <a:prstGeom prst="rect">
            <a:avLst/>
          </a:prstGeom>
          <a:noFill/>
        </p:spPr>
        <p:txBody>
          <a:bodyPr wrap="none" rtlCol="0">
            <a:spAutoFit/>
          </a:bodyPr>
          <a:lstStyle/>
          <a:p>
            <a:r>
              <a:rPr lang="en-US" altLang="ko-KR" sz="1400" dirty="0"/>
              <a:t>3. Type 3 Study</a:t>
            </a:r>
            <a:endParaRPr lang="ko-KR" altLang="en-US" sz="1400" dirty="0"/>
          </a:p>
        </p:txBody>
      </p:sp>
      <p:sp>
        <p:nvSpPr>
          <p:cNvPr id="23" name="슬라이드 번호 개체 틀 1"/>
          <p:cNvSpPr txBox="1">
            <a:spLocks/>
          </p:cNvSpPr>
          <p:nvPr/>
        </p:nvSpPr>
        <p:spPr>
          <a:xfrm>
            <a:off x="8560136" y="6475414"/>
            <a:ext cx="504734" cy="365125"/>
          </a:xfrm>
          <a:prstGeom prst="rect">
            <a:avLst/>
          </a:prstGeom>
        </p:spPr>
        <p:txBody>
          <a:bodyPr vert="horz" lIns="91440" tIns="45720" rIns="91440" bIns="4572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fld id="{77AFF0D9-6237-448D-85CB-09D9C41BCF72}" type="slidenum">
              <a:rPr kumimoji="0" lang="en-US" altLang="ko-KR" sz="1200" b="1" i="0" u="none" strike="noStrike" kern="1200" cap="none" spc="0" normalizeH="0" baseline="0" noProof="0" smtClean="0">
                <a:ln>
                  <a:noFill/>
                </a:ln>
                <a:solidFill>
                  <a:srgbClr val="FF0066"/>
                </a:solidFill>
                <a:effectLst/>
                <a:uLnTx/>
                <a:uFillTx/>
                <a:latin typeface="맑은 고딕" pitchFamily="50" charset="-127"/>
                <a:ea typeface="맑은 고딕" pitchFamily="50" charset="-127"/>
                <a:cs typeface="+mn-cs"/>
              </a:rPr>
              <a:pPr marL="0" marR="0" lvl="0" indent="0" algn="ctr" defTabSz="914400" rtl="0" eaLnBrk="1" fontAlgn="auto" latinLnBrk="1" hangingPunct="1">
                <a:lnSpc>
                  <a:spcPct val="100000"/>
                </a:lnSpc>
                <a:spcBef>
                  <a:spcPts val="0"/>
                </a:spcBef>
                <a:spcAft>
                  <a:spcPts val="0"/>
                </a:spcAft>
                <a:buClrTx/>
                <a:buSzTx/>
                <a:buFontTx/>
                <a:buNone/>
                <a:tabLst/>
                <a:defRPr/>
              </a:pPr>
              <a:t>6</a:t>
            </a:fld>
            <a:endParaRPr kumimoji="0" lang="ko-KR" altLang="en-US" sz="1200" b="0" i="0" u="none" strike="noStrike" kern="1200" cap="none" spc="0" normalizeH="0" baseline="0" noProof="0" dirty="0">
              <a:ln>
                <a:noFill/>
              </a:ln>
              <a:solidFill>
                <a:schemeClr val="tx1">
                  <a:tint val="75000"/>
                </a:schemeClr>
              </a:solidFill>
              <a:effectLst/>
              <a:uLnTx/>
              <a:uFillTx/>
              <a:latin typeface="+mn-lt"/>
              <a:ea typeface="+mn-ea"/>
              <a:cs typeface="+mn-cs"/>
            </a:endParaRPr>
          </a:p>
        </p:txBody>
      </p:sp>
    </p:spTree>
    <p:extLst>
      <p:ext uri="{BB962C8B-B14F-4D97-AF65-F5344CB8AC3E}">
        <p14:creationId xmlns:p14="http://schemas.microsoft.com/office/powerpoint/2010/main" val="38512413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88640"/>
            <a:ext cx="3950120" cy="400110"/>
          </a:xfrm>
          <a:prstGeom prst="rect">
            <a:avLst/>
          </a:prstGeom>
          <a:noFill/>
        </p:spPr>
        <p:txBody>
          <a:bodyPr wrap="none" rtlCol="0">
            <a:spAutoFit/>
          </a:bodyPr>
          <a:lstStyle/>
          <a:p>
            <a:r>
              <a:rPr lang="en-US" altLang="ko-KR" sz="2000" b="1" dirty="0" err="1"/>
              <a:t>Nếu</a:t>
            </a:r>
            <a:r>
              <a:rPr lang="en-US" altLang="ko-KR" sz="2000" b="1" dirty="0"/>
              <a:t> </a:t>
            </a:r>
            <a:r>
              <a:rPr lang="en-US" altLang="ko-KR" sz="2000" b="1" dirty="0" err="1"/>
              <a:t>dụng</a:t>
            </a:r>
            <a:r>
              <a:rPr lang="en-US" altLang="ko-KR" sz="2000" b="1" dirty="0"/>
              <a:t> </a:t>
            </a:r>
            <a:r>
              <a:rPr lang="en-US" altLang="ko-KR" sz="2000" b="1" dirty="0" err="1"/>
              <a:t>cụ</a:t>
            </a:r>
            <a:r>
              <a:rPr lang="en-US" altLang="ko-KR" sz="2000" b="1" dirty="0"/>
              <a:t> </a:t>
            </a:r>
            <a:r>
              <a:rPr lang="en-US" altLang="ko-KR" sz="2000" b="1" dirty="0" err="1"/>
              <a:t>đo</a:t>
            </a:r>
            <a:r>
              <a:rPr lang="en-US" altLang="ko-KR" sz="2000" b="1" dirty="0"/>
              <a:t> </a:t>
            </a:r>
            <a:r>
              <a:rPr lang="en-US" altLang="ko-KR" sz="2000" b="1" dirty="0" err="1"/>
              <a:t>lường</a:t>
            </a:r>
            <a:r>
              <a:rPr lang="en-US" altLang="ko-KR" sz="2000" b="1" dirty="0"/>
              <a:t> </a:t>
            </a:r>
            <a:r>
              <a:rPr lang="en-US" altLang="ko-KR" sz="2000" b="1" dirty="0" err="1"/>
              <a:t>bị</a:t>
            </a:r>
            <a:r>
              <a:rPr lang="en-US" altLang="ko-KR" sz="2000" b="1" dirty="0"/>
              <a:t> </a:t>
            </a:r>
            <a:r>
              <a:rPr lang="en-US" altLang="ko-KR" sz="2000" b="1" dirty="0" err="1"/>
              <a:t>lỗi</a:t>
            </a:r>
            <a:r>
              <a:rPr lang="en-US" altLang="ko-KR" sz="2000" b="1" dirty="0"/>
              <a:t>…</a:t>
            </a:r>
            <a:endParaRPr lang="ko-KR" altLang="en-US" sz="2000" b="1" dirty="0"/>
          </a:p>
        </p:txBody>
      </p:sp>
      <p:sp>
        <p:nvSpPr>
          <p:cNvPr id="3" name="TextBox 2"/>
          <p:cNvSpPr txBox="1"/>
          <p:nvPr/>
        </p:nvSpPr>
        <p:spPr>
          <a:xfrm>
            <a:off x="971600" y="1476067"/>
            <a:ext cx="7344816" cy="3440942"/>
          </a:xfrm>
          <a:prstGeom prst="rect">
            <a:avLst/>
          </a:prstGeom>
          <a:noFill/>
        </p:spPr>
        <p:txBody>
          <a:bodyPr wrap="square" rtlCol="0">
            <a:spAutoFit/>
          </a:bodyPr>
          <a:lstStyle/>
          <a:p>
            <a:pPr>
              <a:lnSpc>
                <a:spcPct val="80000"/>
              </a:lnSpc>
            </a:pPr>
            <a:r>
              <a:rPr lang="en-US" altLang="ko-KR" sz="1600" dirty="0" err="1"/>
              <a:t>Giả</a:t>
            </a:r>
            <a:r>
              <a:rPr lang="en-US" altLang="ko-KR" sz="1600" dirty="0"/>
              <a:t> </a:t>
            </a:r>
            <a:r>
              <a:rPr lang="en-US" altLang="ko-KR" sz="1600" dirty="0" err="1"/>
              <a:t>định</a:t>
            </a:r>
            <a:r>
              <a:rPr lang="en-US" altLang="ko-KR" sz="1600" dirty="0"/>
              <a:t> </a:t>
            </a:r>
            <a:r>
              <a:rPr lang="en-US" altLang="ko-KR" sz="1600" dirty="0" err="1"/>
              <a:t>rằng</a:t>
            </a:r>
            <a:r>
              <a:rPr lang="en-US" altLang="ko-KR" sz="1600" dirty="0"/>
              <a:t> </a:t>
            </a:r>
            <a:r>
              <a:rPr lang="en-US" altLang="ko-KR" sz="1600" dirty="0" err="1"/>
              <a:t>vài</a:t>
            </a:r>
            <a:r>
              <a:rPr lang="en-US" altLang="ko-KR" sz="1600" dirty="0"/>
              <a:t> </a:t>
            </a:r>
            <a:r>
              <a:rPr lang="en-US" altLang="ko-KR" sz="1600" dirty="0" err="1"/>
              <a:t>ngày</a:t>
            </a:r>
            <a:r>
              <a:rPr lang="en-US" altLang="ko-KR" sz="1600" dirty="0"/>
              <a:t> </a:t>
            </a:r>
            <a:r>
              <a:rPr lang="en-US" altLang="ko-KR" sz="1600" dirty="0" err="1"/>
              <a:t>trước</a:t>
            </a:r>
            <a:r>
              <a:rPr lang="en-US" altLang="ko-KR" sz="1600" dirty="0"/>
              <a:t> </a:t>
            </a:r>
            <a:r>
              <a:rPr lang="en-US" altLang="ko-KR" sz="1600" dirty="0" err="1"/>
              <a:t>bạn</a:t>
            </a:r>
            <a:r>
              <a:rPr lang="en-US" altLang="ko-KR" sz="1600" dirty="0"/>
              <a:t> </a:t>
            </a:r>
            <a:r>
              <a:rPr lang="en-US" altLang="ko-KR" sz="1600" dirty="0" err="1"/>
              <a:t>đặt</a:t>
            </a:r>
            <a:r>
              <a:rPr lang="en-US" altLang="ko-KR" sz="1600" dirty="0"/>
              <a:t> </a:t>
            </a:r>
            <a:r>
              <a:rPr lang="en-US" altLang="ko-KR" sz="1600" dirty="0" err="1"/>
              <a:t>hàng</a:t>
            </a:r>
            <a:r>
              <a:rPr lang="en-US" altLang="ko-KR" sz="1600" dirty="0"/>
              <a:t> </a:t>
            </a:r>
            <a:r>
              <a:rPr lang="en-US" altLang="ko-KR" sz="1600" dirty="0" err="1"/>
              <a:t>mua</a:t>
            </a:r>
            <a:r>
              <a:rPr lang="en-US" altLang="ko-KR" sz="1600" dirty="0"/>
              <a:t> </a:t>
            </a:r>
            <a:r>
              <a:rPr lang="en-US" altLang="ko-KR" sz="1600" dirty="0" err="1"/>
              <a:t>một</a:t>
            </a:r>
            <a:r>
              <a:rPr lang="en-US" altLang="ko-KR" sz="1600" dirty="0"/>
              <a:t> </a:t>
            </a:r>
            <a:r>
              <a:rPr lang="en-US" altLang="ko-KR" sz="1600" dirty="0" err="1"/>
              <a:t>thùng</a:t>
            </a:r>
            <a:r>
              <a:rPr lang="en-US" altLang="ko-KR" sz="1600" dirty="0"/>
              <a:t> </a:t>
            </a:r>
            <a:r>
              <a:rPr lang="en-US" altLang="ko-KR" sz="1600" dirty="0" err="1"/>
              <a:t>táo</a:t>
            </a:r>
            <a:r>
              <a:rPr lang="en-US" altLang="ko-KR" sz="1600" dirty="0"/>
              <a:t> 10kg qua Internet, </a:t>
            </a:r>
            <a:r>
              <a:rPr lang="en-US" altLang="ko-KR" sz="1600" dirty="0" err="1"/>
              <a:t>khi</a:t>
            </a:r>
            <a:r>
              <a:rPr lang="en-US" altLang="ko-KR" sz="1600" dirty="0"/>
              <a:t> </a:t>
            </a:r>
            <a:r>
              <a:rPr lang="en-US" altLang="ko-KR" sz="1600" dirty="0" err="1"/>
              <a:t>nhận</a:t>
            </a:r>
            <a:r>
              <a:rPr lang="en-US" altLang="ko-KR" sz="1600" dirty="0"/>
              <a:t> </a:t>
            </a:r>
            <a:r>
              <a:rPr lang="en-US" altLang="ko-KR" sz="1600" dirty="0" err="1"/>
              <a:t>được</a:t>
            </a:r>
            <a:r>
              <a:rPr lang="en-US" altLang="ko-KR" sz="1600" dirty="0"/>
              <a:t> </a:t>
            </a:r>
            <a:r>
              <a:rPr lang="en-US" altLang="ko-KR" sz="1600" dirty="0" err="1"/>
              <a:t>thùng</a:t>
            </a:r>
            <a:r>
              <a:rPr lang="en-US" altLang="ko-KR" sz="1600" dirty="0"/>
              <a:t> </a:t>
            </a:r>
            <a:r>
              <a:rPr lang="en-US" altLang="ko-KR" sz="1600" dirty="0" err="1"/>
              <a:t>táo</a:t>
            </a:r>
            <a:r>
              <a:rPr lang="en-US" altLang="ko-KR" sz="1600" dirty="0"/>
              <a:t> </a:t>
            </a:r>
            <a:r>
              <a:rPr lang="en-US" altLang="ko-KR" sz="1600" dirty="0" err="1"/>
              <a:t>và</a:t>
            </a:r>
            <a:r>
              <a:rPr lang="en-US" altLang="ko-KR" sz="1600" dirty="0"/>
              <a:t> </a:t>
            </a:r>
            <a:r>
              <a:rPr lang="en-US" altLang="ko-KR" sz="1600" dirty="0" err="1"/>
              <a:t>mở</a:t>
            </a:r>
            <a:r>
              <a:rPr lang="en-US" altLang="ko-KR" sz="1600" dirty="0"/>
              <a:t> </a:t>
            </a:r>
            <a:r>
              <a:rPr lang="en-US" altLang="ko-KR" sz="1600" dirty="0" err="1"/>
              <a:t>ra</a:t>
            </a:r>
            <a:r>
              <a:rPr lang="en-US" altLang="ko-KR" sz="1600" dirty="0"/>
              <a:t> </a:t>
            </a:r>
            <a:r>
              <a:rPr lang="en-US" altLang="ko-KR" sz="1600" dirty="0" err="1"/>
              <a:t>bạn</a:t>
            </a:r>
            <a:r>
              <a:rPr lang="en-US" altLang="ko-KR" sz="1600" dirty="0"/>
              <a:t> </a:t>
            </a:r>
            <a:r>
              <a:rPr lang="en-US" altLang="ko-KR" sz="1600" dirty="0" err="1"/>
              <a:t>thấy</a:t>
            </a:r>
            <a:r>
              <a:rPr lang="en-US" altLang="ko-KR" sz="1600" dirty="0"/>
              <a:t> </a:t>
            </a:r>
            <a:r>
              <a:rPr lang="en-US" altLang="ko-KR" sz="1600" dirty="0" err="1"/>
              <a:t>có</a:t>
            </a:r>
            <a:r>
              <a:rPr lang="en-US" altLang="ko-KR" sz="1600" dirty="0"/>
              <a:t> 20 </a:t>
            </a:r>
            <a:r>
              <a:rPr lang="en-US" altLang="ko-KR" sz="1600" dirty="0" err="1"/>
              <a:t>quả</a:t>
            </a:r>
            <a:r>
              <a:rPr lang="en-US" altLang="ko-KR" sz="1600" dirty="0"/>
              <a:t> </a:t>
            </a:r>
            <a:r>
              <a:rPr lang="en-US" altLang="ko-KR" sz="1600" dirty="0" err="1"/>
              <a:t>táo</a:t>
            </a:r>
            <a:r>
              <a:rPr lang="en-US" altLang="ko-KR" sz="1600" dirty="0"/>
              <a:t> </a:t>
            </a:r>
            <a:r>
              <a:rPr lang="en-US" altLang="ko-KR" sz="1600" dirty="0" err="1"/>
              <a:t>bên</a:t>
            </a:r>
            <a:r>
              <a:rPr lang="en-US" altLang="ko-KR" sz="1600" dirty="0"/>
              <a:t> </a:t>
            </a:r>
            <a:r>
              <a:rPr lang="en-US" altLang="ko-KR" sz="1600" dirty="0" err="1"/>
              <a:t>trong</a:t>
            </a:r>
            <a:r>
              <a:rPr lang="en-US" altLang="ko-KR" sz="1600" dirty="0"/>
              <a:t> </a:t>
            </a:r>
            <a:r>
              <a:rPr lang="en-US" altLang="ko-KR" sz="1600" dirty="0" err="1"/>
              <a:t>rất</a:t>
            </a:r>
            <a:r>
              <a:rPr lang="en-US" altLang="ko-KR" sz="1600" dirty="0"/>
              <a:t> </a:t>
            </a:r>
            <a:r>
              <a:rPr lang="en-US" altLang="ko-KR" sz="1600" dirty="0" err="1"/>
              <a:t>tươi</a:t>
            </a:r>
            <a:r>
              <a:rPr lang="en-US" altLang="ko-KR" sz="1600" dirty="0"/>
              <a:t>. </a:t>
            </a:r>
            <a:r>
              <a:rPr lang="ko-KR" altLang="en-US" sz="1600" dirty="0"/>
              <a:t>  </a:t>
            </a:r>
            <a:endParaRPr lang="en-US" altLang="ko-KR" sz="1600" dirty="0"/>
          </a:p>
          <a:p>
            <a:pPr>
              <a:lnSpc>
                <a:spcPct val="80000"/>
              </a:lnSpc>
            </a:pPr>
            <a:endParaRPr lang="en-US" altLang="ko-KR" sz="1600" dirty="0"/>
          </a:p>
          <a:p>
            <a:pPr>
              <a:lnSpc>
                <a:spcPct val="80000"/>
              </a:lnSpc>
            </a:pPr>
            <a:r>
              <a:rPr lang="en-US" altLang="ko-KR" sz="1600" dirty="0" err="1"/>
              <a:t>Đến</a:t>
            </a:r>
            <a:r>
              <a:rPr lang="en-US" altLang="ko-KR" sz="1600" dirty="0"/>
              <a:t> </a:t>
            </a:r>
            <a:r>
              <a:rPr lang="en-US" altLang="ko-KR" sz="1600" dirty="0" err="1"/>
              <a:t>tối</a:t>
            </a:r>
            <a:r>
              <a:rPr lang="en-US" altLang="ko-KR" sz="1600" dirty="0"/>
              <a:t> </a:t>
            </a:r>
            <a:r>
              <a:rPr lang="en-US" altLang="ko-KR" sz="1600" dirty="0" err="1"/>
              <a:t>bạn</a:t>
            </a:r>
            <a:r>
              <a:rPr lang="en-US" altLang="ko-KR" sz="1600" dirty="0"/>
              <a:t> </a:t>
            </a:r>
            <a:r>
              <a:rPr lang="en-US" altLang="ko-KR" sz="1600" dirty="0" err="1"/>
              <a:t>đi</a:t>
            </a:r>
            <a:r>
              <a:rPr lang="en-US" altLang="ko-KR" sz="1600" dirty="0"/>
              <a:t> </a:t>
            </a:r>
            <a:r>
              <a:rPr lang="en-US" altLang="ko-KR" sz="1600" dirty="0" err="1"/>
              <a:t>tới</a:t>
            </a:r>
            <a:r>
              <a:rPr lang="en-US" altLang="ko-KR" sz="1600" dirty="0"/>
              <a:t> </a:t>
            </a:r>
            <a:r>
              <a:rPr lang="en-US" altLang="ko-KR" sz="1600" dirty="0" err="1"/>
              <a:t>một</a:t>
            </a:r>
            <a:r>
              <a:rPr lang="en-US" altLang="ko-KR" sz="1600" dirty="0"/>
              <a:t> </a:t>
            </a:r>
            <a:r>
              <a:rPr lang="en-US" altLang="ko-KR" sz="1600" dirty="0" err="1"/>
              <a:t>siêu</a:t>
            </a:r>
            <a:r>
              <a:rPr lang="en-US" altLang="ko-KR" sz="1600" dirty="0"/>
              <a:t> </a:t>
            </a:r>
            <a:r>
              <a:rPr lang="en-US" altLang="ko-KR" sz="1600" dirty="0" err="1"/>
              <a:t>thị</a:t>
            </a:r>
            <a:r>
              <a:rPr lang="en-US" altLang="ko-KR" sz="1600" dirty="0"/>
              <a:t> </a:t>
            </a:r>
            <a:r>
              <a:rPr lang="en-US" altLang="ko-KR" sz="1600" dirty="0" err="1"/>
              <a:t>gần</a:t>
            </a:r>
            <a:r>
              <a:rPr lang="en-US" altLang="ko-KR" sz="1600" dirty="0"/>
              <a:t> </a:t>
            </a:r>
            <a:r>
              <a:rPr lang="en-US" altLang="ko-KR" sz="1600" dirty="0" err="1"/>
              <a:t>nhà</a:t>
            </a:r>
            <a:r>
              <a:rPr lang="en-US" altLang="ko-KR" sz="1600" dirty="0"/>
              <a:t> </a:t>
            </a:r>
            <a:r>
              <a:rPr lang="en-US" altLang="ko-KR" sz="1600" dirty="0" err="1"/>
              <a:t>và</a:t>
            </a:r>
            <a:r>
              <a:rPr lang="en-US" altLang="ko-KR" sz="1600" dirty="0"/>
              <a:t> </a:t>
            </a:r>
            <a:r>
              <a:rPr lang="en-US" altLang="ko-KR" sz="1600" dirty="0" err="1"/>
              <a:t>tình</a:t>
            </a:r>
            <a:r>
              <a:rPr lang="en-US" altLang="ko-KR" sz="1600" dirty="0"/>
              <a:t> </a:t>
            </a:r>
            <a:r>
              <a:rPr lang="en-US" altLang="ko-KR" sz="1600" dirty="0" err="1"/>
              <a:t>cờ</a:t>
            </a:r>
            <a:r>
              <a:rPr lang="en-US" altLang="ko-KR" sz="1600" dirty="0"/>
              <a:t> </a:t>
            </a:r>
            <a:r>
              <a:rPr lang="en-US" altLang="ko-KR" sz="1600" dirty="0" err="1"/>
              <a:t>nhìn</a:t>
            </a:r>
            <a:r>
              <a:rPr lang="en-US" altLang="ko-KR" sz="1600" dirty="0"/>
              <a:t> </a:t>
            </a:r>
            <a:r>
              <a:rPr lang="en-US" altLang="ko-KR" sz="1600" dirty="0" err="1"/>
              <a:t>thấy</a:t>
            </a:r>
            <a:r>
              <a:rPr lang="en-US" altLang="ko-KR" sz="1600" dirty="0"/>
              <a:t> </a:t>
            </a:r>
            <a:r>
              <a:rPr lang="en-US" altLang="ko-KR" sz="1600" dirty="0" err="1"/>
              <a:t>siêu</a:t>
            </a:r>
            <a:r>
              <a:rPr lang="en-US" altLang="ko-KR" sz="1600" dirty="0"/>
              <a:t> </a:t>
            </a:r>
            <a:r>
              <a:rPr lang="en-US" altLang="ko-KR" sz="1600" dirty="0" err="1"/>
              <a:t>thị</a:t>
            </a:r>
            <a:r>
              <a:rPr lang="en-US" altLang="ko-KR" sz="1600" dirty="0"/>
              <a:t> </a:t>
            </a:r>
            <a:r>
              <a:rPr lang="en-US" altLang="ko-KR" sz="1600" dirty="0" err="1"/>
              <a:t>cũng</a:t>
            </a:r>
            <a:r>
              <a:rPr lang="en-US" altLang="ko-KR" sz="1600" dirty="0"/>
              <a:t> </a:t>
            </a:r>
            <a:r>
              <a:rPr lang="en-US" altLang="ko-KR" sz="1600" dirty="0" err="1"/>
              <a:t>bán</a:t>
            </a:r>
            <a:r>
              <a:rPr lang="en-US" altLang="ko-KR" sz="1600" dirty="0"/>
              <a:t> </a:t>
            </a:r>
            <a:r>
              <a:rPr lang="en-US" altLang="ko-KR" sz="1600" dirty="0" err="1"/>
              <a:t>táo</a:t>
            </a:r>
            <a:r>
              <a:rPr lang="en-US" altLang="ko-KR" sz="1600" dirty="0"/>
              <a:t>. </a:t>
            </a:r>
            <a:r>
              <a:rPr lang="en-US" altLang="ko-KR" sz="1600" dirty="0" err="1"/>
              <a:t>Và</a:t>
            </a:r>
            <a:r>
              <a:rPr lang="en-US" altLang="ko-KR" sz="1600" dirty="0"/>
              <a:t> do </a:t>
            </a:r>
            <a:r>
              <a:rPr lang="en-US" altLang="ko-KR" sz="1600" dirty="0" err="1"/>
              <a:t>tò</a:t>
            </a:r>
            <a:r>
              <a:rPr lang="en-US" altLang="ko-KR" sz="1600" dirty="0"/>
              <a:t> </a:t>
            </a:r>
            <a:r>
              <a:rPr lang="en-US" altLang="ko-KR" sz="1600" dirty="0" err="1"/>
              <a:t>mò</a:t>
            </a:r>
            <a:r>
              <a:rPr lang="en-US" altLang="ko-KR" sz="1600" dirty="0"/>
              <a:t> </a:t>
            </a:r>
            <a:r>
              <a:rPr lang="en-US" altLang="ko-KR" sz="1600" dirty="0" err="1"/>
              <a:t>bạn</a:t>
            </a:r>
            <a:r>
              <a:rPr lang="en-US" altLang="ko-KR" sz="1600" dirty="0"/>
              <a:t> </a:t>
            </a:r>
            <a:r>
              <a:rPr lang="en-US" altLang="ko-KR" sz="1600" dirty="0" err="1"/>
              <a:t>đi</a:t>
            </a:r>
            <a:r>
              <a:rPr lang="en-US" altLang="ko-KR" sz="1600" dirty="0"/>
              <a:t> </a:t>
            </a:r>
            <a:r>
              <a:rPr lang="en-US" altLang="ko-KR" sz="1600" dirty="0" err="1"/>
              <a:t>tìm</a:t>
            </a:r>
            <a:r>
              <a:rPr lang="en-US" altLang="ko-KR" sz="1600" dirty="0"/>
              <a:t> </a:t>
            </a:r>
            <a:r>
              <a:rPr lang="en-US" altLang="ko-KR" sz="1600" dirty="0" err="1"/>
              <a:t>những</a:t>
            </a:r>
            <a:r>
              <a:rPr lang="en-US" altLang="ko-KR" sz="1600" dirty="0"/>
              <a:t> </a:t>
            </a:r>
            <a:r>
              <a:rPr lang="en-US" altLang="ko-KR" sz="1600" dirty="0" err="1"/>
              <a:t>trái</a:t>
            </a:r>
            <a:r>
              <a:rPr lang="en-US" altLang="ko-KR" sz="1600" dirty="0"/>
              <a:t> </a:t>
            </a:r>
            <a:r>
              <a:rPr lang="en-US" altLang="ko-KR" sz="1600" dirty="0" err="1"/>
              <a:t>táo</a:t>
            </a:r>
            <a:r>
              <a:rPr lang="en-US" altLang="ko-KR" sz="1600" dirty="0"/>
              <a:t> to </a:t>
            </a:r>
            <a:r>
              <a:rPr lang="en-US" altLang="ko-KR" sz="1600" dirty="0" err="1"/>
              <a:t>giống</a:t>
            </a:r>
            <a:r>
              <a:rPr lang="en-US" altLang="ko-KR" sz="1600" dirty="0"/>
              <a:t> </a:t>
            </a:r>
            <a:r>
              <a:rPr lang="en-US" altLang="ko-KR" sz="1600" dirty="0" err="1"/>
              <a:t>như</a:t>
            </a:r>
            <a:r>
              <a:rPr lang="en-US" altLang="ko-KR" sz="1600" dirty="0"/>
              <a:t> </a:t>
            </a:r>
            <a:r>
              <a:rPr lang="en-US" altLang="ko-KR" sz="1600" dirty="0" err="1"/>
              <a:t>nhưng</a:t>
            </a:r>
            <a:r>
              <a:rPr lang="en-US" altLang="ko-KR" sz="1600" dirty="0"/>
              <a:t> </a:t>
            </a:r>
            <a:r>
              <a:rPr lang="en-US" altLang="ko-KR" sz="1600" dirty="0" err="1"/>
              <a:t>trái</a:t>
            </a:r>
            <a:r>
              <a:rPr lang="en-US" altLang="ko-KR" sz="1600" dirty="0"/>
              <a:t> </a:t>
            </a:r>
            <a:r>
              <a:rPr lang="en-US" altLang="ko-KR" sz="1600" dirty="0" err="1"/>
              <a:t>mà</a:t>
            </a:r>
            <a:r>
              <a:rPr lang="en-US" altLang="ko-KR" sz="1600" dirty="0"/>
              <a:t> </a:t>
            </a:r>
            <a:r>
              <a:rPr lang="en-US" altLang="ko-KR" sz="1600" dirty="0" err="1"/>
              <a:t>bạn</a:t>
            </a:r>
            <a:r>
              <a:rPr lang="en-US" altLang="ko-KR" sz="1600" dirty="0"/>
              <a:t> </a:t>
            </a:r>
            <a:r>
              <a:rPr lang="en-US" altLang="ko-KR" sz="1600" dirty="0" err="1"/>
              <a:t>mua</a:t>
            </a:r>
            <a:r>
              <a:rPr lang="en-US" altLang="ko-KR" sz="1600" dirty="0"/>
              <a:t> </a:t>
            </a:r>
            <a:r>
              <a:rPr lang="en-US" altLang="ko-KR" sz="1600" dirty="0" err="1"/>
              <a:t>lúc</a:t>
            </a:r>
            <a:r>
              <a:rPr lang="en-US" altLang="ko-KR" sz="1600" dirty="0"/>
              <a:t> </a:t>
            </a:r>
            <a:r>
              <a:rPr lang="en-US" altLang="ko-KR" sz="1600" dirty="0" err="1"/>
              <a:t>sáng</a:t>
            </a:r>
            <a:r>
              <a:rPr lang="en-US" altLang="ko-KR" sz="1600" dirty="0"/>
              <a:t>.</a:t>
            </a:r>
          </a:p>
          <a:p>
            <a:pPr>
              <a:lnSpc>
                <a:spcPct val="80000"/>
              </a:lnSpc>
            </a:pPr>
            <a:r>
              <a:rPr lang="en-US" altLang="ko-KR" sz="1600" dirty="0"/>
              <a:t> </a:t>
            </a:r>
          </a:p>
          <a:p>
            <a:pPr>
              <a:lnSpc>
                <a:spcPct val="80000"/>
              </a:lnSpc>
            </a:pPr>
            <a:r>
              <a:rPr lang="en-US" altLang="ko-KR" sz="1600" dirty="0" err="1"/>
              <a:t>Trong</a:t>
            </a:r>
            <a:r>
              <a:rPr lang="en-US" altLang="ko-KR" sz="1600" dirty="0"/>
              <a:t> </a:t>
            </a:r>
            <a:r>
              <a:rPr lang="en-US" altLang="ko-KR" sz="1600" dirty="0" err="1"/>
              <a:t>một</a:t>
            </a:r>
            <a:r>
              <a:rPr lang="en-US" altLang="ko-KR" sz="1600" dirty="0"/>
              <a:t> </a:t>
            </a:r>
            <a:r>
              <a:rPr lang="en-US" altLang="ko-KR" sz="1600" dirty="0" err="1"/>
              <a:t>túi</a:t>
            </a:r>
            <a:r>
              <a:rPr lang="en-US" altLang="ko-KR" sz="1600" dirty="0"/>
              <a:t> </a:t>
            </a:r>
            <a:r>
              <a:rPr lang="en-US" altLang="ko-KR" sz="1600" dirty="0" err="1"/>
              <a:t>có</a:t>
            </a:r>
            <a:r>
              <a:rPr lang="en-US" altLang="ko-KR" sz="1600" dirty="0"/>
              <a:t> 6 </a:t>
            </a:r>
            <a:r>
              <a:rPr lang="en-US" altLang="ko-KR" sz="1600" dirty="0" err="1"/>
              <a:t>trái</a:t>
            </a:r>
            <a:r>
              <a:rPr lang="en-US" altLang="ko-KR" sz="1600" dirty="0"/>
              <a:t> to </a:t>
            </a:r>
            <a:r>
              <a:rPr lang="en-US" altLang="ko-KR" sz="1600" dirty="0" err="1"/>
              <a:t>như</a:t>
            </a:r>
            <a:r>
              <a:rPr lang="en-US" altLang="ko-KR" sz="1600" dirty="0"/>
              <a:t> </a:t>
            </a:r>
            <a:r>
              <a:rPr lang="en-US" altLang="ko-KR" sz="1600" dirty="0" err="1"/>
              <a:t>nhau</a:t>
            </a:r>
            <a:r>
              <a:rPr lang="en-US" altLang="ko-KR" sz="1600" dirty="0"/>
              <a:t> </a:t>
            </a:r>
            <a:r>
              <a:rPr lang="en-US" altLang="ko-KR" sz="1600" dirty="0" err="1"/>
              <a:t>và</a:t>
            </a:r>
            <a:r>
              <a:rPr lang="en-US" altLang="ko-KR" sz="1600" dirty="0"/>
              <a:t> </a:t>
            </a:r>
            <a:r>
              <a:rPr lang="en-US" altLang="ko-KR" sz="1600" dirty="0" err="1"/>
              <a:t>trọng</a:t>
            </a:r>
            <a:r>
              <a:rPr lang="en-US" altLang="ko-KR" sz="1600" dirty="0"/>
              <a:t> </a:t>
            </a:r>
            <a:r>
              <a:rPr lang="en-US" altLang="ko-KR" sz="1600" dirty="0" err="1"/>
              <a:t>lượng</a:t>
            </a:r>
            <a:r>
              <a:rPr lang="en-US" altLang="ko-KR" sz="1600" dirty="0"/>
              <a:t> </a:t>
            </a:r>
            <a:r>
              <a:rPr lang="en-US" altLang="ko-KR" sz="1600" dirty="0" err="1"/>
              <a:t>bên</a:t>
            </a:r>
            <a:r>
              <a:rPr lang="en-US" altLang="ko-KR" sz="1600" dirty="0"/>
              <a:t> </a:t>
            </a:r>
            <a:r>
              <a:rPr lang="en-US" altLang="ko-KR" sz="1600" dirty="0" err="1"/>
              <a:t>ngoài</a:t>
            </a:r>
            <a:r>
              <a:rPr lang="en-US" altLang="ko-KR" sz="1600" dirty="0"/>
              <a:t> </a:t>
            </a:r>
            <a:r>
              <a:rPr lang="en-US" altLang="ko-KR" sz="1600" dirty="0" err="1"/>
              <a:t>ghi</a:t>
            </a:r>
            <a:r>
              <a:rPr lang="en-US" altLang="ko-KR" sz="1600" dirty="0"/>
              <a:t> 2.5kg. </a:t>
            </a:r>
            <a:r>
              <a:rPr lang="en-US" altLang="ko-KR" sz="1600" dirty="0" err="1"/>
              <a:t>Suy</a:t>
            </a:r>
            <a:r>
              <a:rPr lang="en-US" altLang="ko-KR" sz="1600" dirty="0"/>
              <a:t> </a:t>
            </a:r>
            <a:r>
              <a:rPr lang="en-US" altLang="ko-KR" sz="1600" dirty="0" err="1"/>
              <a:t>nghĩ</a:t>
            </a:r>
            <a:r>
              <a:rPr lang="en-US" altLang="ko-KR" sz="1600" dirty="0"/>
              <a:t> </a:t>
            </a:r>
            <a:r>
              <a:rPr lang="en-US" altLang="ko-KR" sz="1600" dirty="0" err="1"/>
              <a:t>lại</a:t>
            </a:r>
            <a:r>
              <a:rPr lang="en-US" altLang="ko-KR" sz="1600" dirty="0"/>
              <a:t> </a:t>
            </a:r>
            <a:r>
              <a:rPr lang="en-US" altLang="ko-KR" sz="1600" dirty="0" err="1"/>
              <a:t>thấy</a:t>
            </a:r>
            <a:r>
              <a:rPr lang="en-US" altLang="ko-KR" sz="1600" dirty="0"/>
              <a:t> </a:t>
            </a:r>
            <a:r>
              <a:rPr lang="en-US" altLang="ko-KR" sz="1600" dirty="0" err="1"/>
              <a:t>hơi</a:t>
            </a:r>
            <a:r>
              <a:rPr lang="en-US" altLang="ko-KR" sz="1600" dirty="0"/>
              <a:t> </a:t>
            </a:r>
            <a:r>
              <a:rPr lang="en-US" altLang="ko-KR" sz="1600" dirty="0" err="1"/>
              <a:t>kì</a:t>
            </a:r>
            <a:r>
              <a:rPr lang="en-US" altLang="ko-KR" sz="1600" dirty="0"/>
              <a:t> </a:t>
            </a:r>
            <a:r>
              <a:rPr lang="en-US" altLang="ko-KR" sz="1600" dirty="0" err="1"/>
              <a:t>lạ</a:t>
            </a:r>
            <a:r>
              <a:rPr lang="en-US" altLang="ko-KR" sz="1600" dirty="0"/>
              <a:t> </a:t>
            </a:r>
            <a:r>
              <a:rPr lang="en-US" altLang="ko-KR" sz="1600" dirty="0" err="1"/>
              <a:t>bạn</a:t>
            </a:r>
            <a:r>
              <a:rPr lang="en-US" altLang="ko-KR" sz="1600" dirty="0"/>
              <a:t> </a:t>
            </a:r>
            <a:r>
              <a:rPr lang="en-US" altLang="ko-KR" sz="1600" dirty="0" err="1"/>
              <a:t>mua</a:t>
            </a:r>
            <a:r>
              <a:rPr lang="en-US" altLang="ko-KR" sz="1600" dirty="0"/>
              <a:t> </a:t>
            </a:r>
            <a:r>
              <a:rPr lang="en-US" altLang="ko-KR" sz="1600" dirty="0" err="1"/>
              <a:t>một</a:t>
            </a:r>
            <a:r>
              <a:rPr lang="en-US" altLang="ko-KR" sz="1600" dirty="0"/>
              <a:t> </a:t>
            </a:r>
            <a:r>
              <a:rPr lang="en-US" altLang="ko-KR" sz="1600" dirty="0" err="1"/>
              <a:t>túi</a:t>
            </a:r>
            <a:r>
              <a:rPr lang="en-US" altLang="ko-KR" sz="1600" dirty="0"/>
              <a:t> </a:t>
            </a:r>
            <a:r>
              <a:rPr lang="en-US" altLang="ko-KR" sz="1600" dirty="0" err="1"/>
              <a:t>và</a:t>
            </a:r>
            <a:r>
              <a:rPr lang="en-US" altLang="ko-KR" sz="1600" dirty="0"/>
              <a:t> </a:t>
            </a:r>
            <a:r>
              <a:rPr lang="en-US" altLang="ko-KR" sz="1600" dirty="0" err="1"/>
              <a:t>mang</a:t>
            </a:r>
            <a:r>
              <a:rPr lang="en-US" altLang="ko-KR" sz="1600" dirty="0"/>
              <a:t> </a:t>
            </a:r>
            <a:r>
              <a:rPr lang="en-US" altLang="ko-KR" sz="1600" dirty="0" err="1"/>
              <a:t>về</a:t>
            </a:r>
            <a:r>
              <a:rPr lang="en-US" altLang="ko-KR" sz="1600" dirty="0"/>
              <a:t> so </a:t>
            </a:r>
            <a:r>
              <a:rPr lang="en-US" altLang="ko-KR" sz="1600" dirty="0" err="1"/>
              <a:t>sánh</a:t>
            </a:r>
            <a:r>
              <a:rPr lang="en-US" altLang="ko-KR" sz="1600" dirty="0"/>
              <a:t>, </a:t>
            </a:r>
            <a:r>
              <a:rPr lang="en-US" altLang="ko-KR" sz="1600" dirty="0" err="1"/>
              <a:t>kích</a:t>
            </a:r>
            <a:r>
              <a:rPr lang="en-US" altLang="ko-KR" sz="1600" dirty="0"/>
              <a:t> </a:t>
            </a:r>
            <a:r>
              <a:rPr lang="en-US" altLang="ko-KR" sz="1600" dirty="0" err="1"/>
              <a:t>thước</a:t>
            </a:r>
            <a:r>
              <a:rPr lang="en-US" altLang="ko-KR" sz="1600" dirty="0"/>
              <a:t> </a:t>
            </a:r>
            <a:r>
              <a:rPr lang="en-US" altLang="ko-KR" sz="1600" dirty="0" err="1"/>
              <a:t>trái</a:t>
            </a:r>
            <a:r>
              <a:rPr lang="en-US" altLang="ko-KR" sz="1600" dirty="0"/>
              <a:t> </a:t>
            </a:r>
            <a:r>
              <a:rPr lang="en-US" altLang="ko-KR" sz="1600" dirty="0" err="1"/>
              <a:t>táo</a:t>
            </a:r>
            <a:r>
              <a:rPr lang="en-US" altLang="ko-KR" sz="1600" dirty="0"/>
              <a:t> </a:t>
            </a:r>
            <a:r>
              <a:rPr lang="en-US" altLang="ko-KR" sz="1600" dirty="0" err="1"/>
              <a:t>tương</a:t>
            </a:r>
            <a:r>
              <a:rPr lang="en-US" altLang="ko-KR" sz="1600" dirty="0"/>
              <a:t> </a:t>
            </a:r>
            <a:r>
              <a:rPr lang="en-US" altLang="ko-KR" sz="1600" dirty="0" err="1"/>
              <a:t>tự</a:t>
            </a:r>
            <a:r>
              <a:rPr lang="en-US" altLang="ko-KR" sz="1600" dirty="0"/>
              <a:t> </a:t>
            </a:r>
            <a:r>
              <a:rPr lang="en-US" altLang="ko-KR" sz="1600" dirty="0" err="1"/>
              <a:t>nhau</a:t>
            </a:r>
            <a:r>
              <a:rPr lang="en-US" altLang="ko-KR" sz="1600" dirty="0"/>
              <a:t> </a:t>
            </a:r>
            <a:r>
              <a:rPr lang="en-US" altLang="ko-KR" sz="1600" dirty="0" err="1"/>
              <a:t>và</a:t>
            </a:r>
            <a:r>
              <a:rPr lang="en-US" altLang="ko-KR" sz="1600" dirty="0"/>
              <a:t> </a:t>
            </a:r>
            <a:r>
              <a:rPr lang="en-US" altLang="ko-KR" sz="1600" dirty="0" err="1"/>
              <a:t>thậm</a:t>
            </a:r>
            <a:r>
              <a:rPr lang="en-US" altLang="ko-KR" sz="1600" dirty="0"/>
              <a:t> </a:t>
            </a:r>
            <a:r>
              <a:rPr lang="en-US" altLang="ko-KR" sz="1600" dirty="0" err="1"/>
              <a:t>chí</a:t>
            </a:r>
            <a:r>
              <a:rPr lang="en-US" altLang="ko-KR" sz="1600" dirty="0"/>
              <a:t> </a:t>
            </a:r>
            <a:r>
              <a:rPr lang="en-US" altLang="ko-KR" sz="1600" dirty="0" err="1"/>
              <a:t>táo</a:t>
            </a:r>
            <a:r>
              <a:rPr lang="en-US" altLang="ko-KR" sz="1600" dirty="0"/>
              <a:t> </a:t>
            </a:r>
            <a:r>
              <a:rPr lang="en-US" altLang="ko-KR" sz="1600" dirty="0" err="1"/>
              <a:t>mua</a:t>
            </a:r>
            <a:r>
              <a:rPr lang="en-US" altLang="ko-KR" sz="1600" dirty="0"/>
              <a:t> ở </a:t>
            </a:r>
            <a:r>
              <a:rPr lang="en-US" altLang="ko-KR" sz="1600" dirty="0" err="1"/>
              <a:t>siêu</a:t>
            </a:r>
            <a:r>
              <a:rPr lang="en-US" altLang="ko-KR" sz="1600" dirty="0"/>
              <a:t> </a:t>
            </a:r>
            <a:r>
              <a:rPr lang="en-US" altLang="ko-KR" sz="1600" dirty="0" err="1"/>
              <a:t>thị</a:t>
            </a:r>
            <a:r>
              <a:rPr lang="en-US" altLang="ko-KR" sz="1600" dirty="0"/>
              <a:t> </a:t>
            </a:r>
            <a:r>
              <a:rPr lang="en-US" altLang="ko-KR" sz="1600" dirty="0" err="1"/>
              <a:t>trông</a:t>
            </a:r>
            <a:r>
              <a:rPr lang="en-US" altLang="ko-KR" sz="1600" dirty="0"/>
              <a:t> </a:t>
            </a:r>
            <a:r>
              <a:rPr lang="en-US" altLang="ko-KR" sz="1600" dirty="0" err="1"/>
              <a:t>còn</a:t>
            </a:r>
            <a:r>
              <a:rPr lang="en-US" altLang="ko-KR" sz="1600" dirty="0"/>
              <a:t> to </a:t>
            </a:r>
            <a:r>
              <a:rPr lang="en-US" altLang="ko-KR" sz="1600" dirty="0" err="1"/>
              <a:t>hơn</a:t>
            </a:r>
            <a:r>
              <a:rPr lang="en-US" altLang="ko-KR" sz="1600" dirty="0"/>
              <a:t>.  </a:t>
            </a:r>
          </a:p>
          <a:p>
            <a:pPr>
              <a:lnSpc>
                <a:spcPct val="80000"/>
              </a:lnSpc>
            </a:pPr>
            <a:endParaRPr lang="en-US" altLang="ko-KR" sz="1600" dirty="0"/>
          </a:p>
          <a:p>
            <a:pPr>
              <a:lnSpc>
                <a:spcPct val="80000"/>
              </a:lnSpc>
            </a:pPr>
            <a:r>
              <a:rPr lang="en-US" altLang="ko-KR" sz="1600" dirty="0" err="1"/>
              <a:t>Vì</a:t>
            </a:r>
            <a:r>
              <a:rPr lang="en-US" altLang="ko-KR" sz="1600" dirty="0"/>
              <a:t> </a:t>
            </a:r>
            <a:r>
              <a:rPr lang="en-US" altLang="ko-KR" sz="1600" dirty="0" err="1"/>
              <a:t>thế</a:t>
            </a:r>
            <a:r>
              <a:rPr lang="en-US" altLang="ko-KR" sz="1600" dirty="0"/>
              <a:t> </a:t>
            </a:r>
            <a:r>
              <a:rPr lang="en-US" altLang="ko-KR" sz="1600" dirty="0" err="1"/>
              <a:t>bạn</a:t>
            </a:r>
            <a:r>
              <a:rPr lang="en-US" altLang="ko-KR" sz="1600" dirty="0"/>
              <a:t> </a:t>
            </a:r>
            <a:r>
              <a:rPr lang="en-US" altLang="ko-KR" sz="1600" dirty="0" err="1"/>
              <a:t>mang</a:t>
            </a:r>
            <a:r>
              <a:rPr lang="en-US" altLang="ko-KR" sz="1600" dirty="0"/>
              <a:t> </a:t>
            </a:r>
            <a:r>
              <a:rPr lang="en-US" altLang="ko-KR" sz="1600" dirty="0" err="1"/>
              <a:t>cả</a:t>
            </a:r>
            <a:r>
              <a:rPr lang="en-US" altLang="ko-KR" sz="1600" dirty="0"/>
              <a:t> </a:t>
            </a:r>
            <a:r>
              <a:rPr lang="en-US" altLang="ko-KR" sz="1600" dirty="0" err="1"/>
              <a:t>thùng</a:t>
            </a:r>
            <a:r>
              <a:rPr lang="en-US" altLang="ko-KR" sz="1600" dirty="0"/>
              <a:t> </a:t>
            </a:r>
            <a:r>
              <a:rPr lang="en-US" altLang="ko-KR" sz="1600" dirty="0" err="1"/>
              <a:t>táo</a:t>
            </a:r>
            <a:r>
              <a:rPr lang="en-US" altLang="ko-KR" sz="1600" dirty="0"/>
              <a:t> </a:t>
            </a:r>
            <a:r>
              <a:rPr lang="en-US" altLang="ko-KR" sz="1600" dirty="0" err="1"/>
              <a:t>ra</a:t>
            </a:r>
            <a:r>
              <a:rPr lang="en-US" altLang="ko-KR" sz="1600" dirty="0"/>
              <a:t> </a:t>
            </a:r>
            <a:r>
              <a:rPr lang="en-US" altLang="ko-KR" sz="1600" dirty="0" err="1"/>
              <a:t>và</a:t>
            </a:r>
            <a:r>
              <a:rPr lang="en-US" altLang="ko-KR" sz="1600" dirty="0"/>
              <a:t> </a:t>
            </a:r>
            <a:r>
              <a:rPr lang="en-US" altLang="ko-KR" sz="1600" dirty="0" err="1"/>
              <a:t>cân</a:t>
            </a:r>
            <a:r>
              <a:rPr lang="en-US" altLang="ko-KR" sz="1600" dirty="0"/>
              <a:t> </a:t>
            </a:r>
            <a:r>
              <a:rPr lang="en-US" altLang="ko-KR" sz="1600" dirty="0" err="1"/>
              <a:t>lại</a:t>
            </a:r>
            <a:r>
              <a:rPr lang="en-US" altLang="ko-KR" sz="1600" dirty="0"/>
              <a:t>, </a:t>
            </a:r>
            <a:r>
              <a:rPr lang="en-US" altLang="ko-KR" sz="1600" dirty="0" err="1"/>
              <a:t>bạn</a:t>
            </a:r>
            <a:r>
              <a:rPr lang="en-US" altLang="ko-KR" sz="1600" dirty="0"/>
              <a:t> </a:t>
            </a:r>
            <a:r>
              <a:rPr lang="en-US" altLang="ko-KR" sz="1600" dirty="0" err="1"/>
              <a:t>tự</a:t>
            </a:r>
            <a:r>
              <a:rPr lang="en-US" altLang="ko-KR" sz="1600" dirty="0"/>
              <a:t> </a:t>
            </a:r>
            <a:r>
              <a:rPr lang="en-US" altLang="ko-KR" sz="1600" dirty="0" err="1"/>
              <a:t>nhủ</a:t>
            </a:r>
            <a:r>
              <a:rPr lang="en-US" altLang="ko-KR" sz="1600" dirty="0"/>
              <a:t> </a:t>
            </a:r>
            <a:r>
              <a:rPr lang="en-US" altLang="ko-KR" sz="1600" dirty="0" err="1"/>
              <a:t>rằng</a:t>
            </a:r>
            <a:r>
              <a:rPr lang="en-US" altLang="ko-KR" sz="1600" dirty="0"/>
              <a:t> </a:t>
            </a:r>
            <a:r>
              <a:rPr lang="en-US" altLang="ko-KR" sz="1600" dirty="0" err="1"/>
              <a:t>chắc</a:t>
            </a:r>
            <a:r>
              <a:rPr lang="en-US" altLang="ko-KR" sz="1600" dirty="0"/>
              <a:t> </a:t>
            </a:r>
            <a:r>
              <a:rPr lang="en-US" altLang="ko-KR" sz="1600" dirty="0" err="1"/>
              <a:t>cũng</a:t>
            </a:r>
            <a:r>
              <a:rPr lang="en-US" altLang="ko-KR" sz="1600" dirty="0"/>
              <a:t> </a:t>
            </a:r>
            <a:r>
              <a:rPr lang="en-US" altLang="ko-KR" sz="1600" dirty="0" err="1"/>
              <a:t>phải</a:t>
            </a:r>
            <a:r>
              <a:rPr lang="en-US" altLang="ko-KR" sz="1600" dirty="0"/>
              <a:t> </a:t>
            </a:r>
            <a:r>
              <a:rPr lang="en-US" altLang="ko-KR" sz="1600" dirty="0" err="1"/>
              <a:t>được</a:t>
            </a:r>
            <a:r>
              <a:rPr lang="en-US" altLang="ko-KR" sz="1600" dirty="0"/>
              <a:t> </a:t>
            </a:r>
            <a:r>
              <a:rPr lang="en-US" altLang="ko-KR" sz="1600" dirty="0" err="1"/>
              <a:t>gần</a:t>
            </a:r>
            <a:r>
              <a:rPr lang="en-US" altLang="ko-KR" sz="1600" dirty="0"/>
              <a:t> </a:t>
            </a:r>
            <a:r>
              <a:rPr lang="en-US" altLang="ko-KR" sz="1600" dirty="0" err="1"/>
              <a:t>đủ</a:t>
            </a:r>
            <a:r>
              <a:rPr lang="en-US" altLang="ko-KR" sz="1600" dirty="0"/>
              <a:t> 10kg, </a:t>
            </a:r>
            <a:r>
              <a:rPr lang="en-US" altLang="ko-KR" sz="1600" dirty="0" err="1"/>
              <a:t>và</a:t>
            </a:r>
            <a:r>
              <a:rPr lang="en-US" altLang="ko-KR" sz="1600" dirty="0"/>
              <a:t> </a:t>
            </a:r>
            <a:r>
              <a:rPr lang="en-US" altLang="ko-KR" sz="1600" dirty="0" err="1"/>
              <a:t>bạn</a:t>
            </a:r>
            <a:r>
              <a:rPr lang="en-US" altLang="ko-KR" sz="1600" dirty="0"/>
              <a:t> </a:t>
            </a:r>
            <a:r>
              <a:rPr lang="en-US" altLang="ko-KR" sz="1600" dirty="0" err="1"/>
              <a:t>cân</a:t>
            </a:r>
            <a:r>
              <a:rPr lang="en-US" altLang="ko-KR" sz="1600" dirty="0"/>
              <a:t> </a:t>
            </a:r>
            <a:r>
              <a:rPr lang="en-US" altLang="ko-KR" sz="1600" dirty="0" err="1"/>
              <a:t>ra</a:t>
            </a:r>
            <a:r>
              <a:rPr lang="en-US" altLang="ko-KR" sz="1600" dirty="0"/>
              <a:t> </a:t>
            </a:r>
            <a:r>
              <a:rPr lang="en-US" altLang="ko-KR" sz="1600" dirty="0" err="1"/>
              <a:t>được</a:t>
            </a:r>
            <a:r>
              <a:rPr lang="en-US" altLang="ko-KR" sz="1600" dirty="0"/>
              <a:t> 9.8kg. </a:t>
            </a:r>
            <a:r>
              <a:rPr lang="en-US" altLang="ko-KR" sz="1600" dirty="0" err="1"/>
              <a:t>Và</a:t>
            </a:r>
            <a:r>
              <a:rPr lang="en-US" altLang="ko-KR" sz="1600" dirty="0"/>
              <a:t> </a:t>
            </a:r>
            <a:r>
              <a:rPr lang="en-US" altLang="ko-KR" sz="1600" dirty="0" err="1"/>
              <a:t>sau</a:t>
            </a:r>
            <a:r>
              <a:rPr lang="en-US" altLang="ko-KR" sz="1600" dirty="0"/>
              <a:t> </a:t>
            </a:r>
            <a:r>
              <a:rPr lang="en-US" altLang="ko-KR" sz="1600" dirty="0" err="1"/>
              <a:t>đó</a:t>
            </a:r>
            <a:r>
              <a:rPr lang="en-US" altLang="ko-KR" sz="1600" dirty="0"/>
              <a:t> </a:t>
            </a:r>
            <a:r>
              <a:rPr lang="en-US" altLang="ko-KR" sz="1600" dirty="0" err="1"/>
              <a:t>bạn</a:t>
            </a:r>
            <a:r>
              <a:rPr lang="en-US" altLang="ko-KR" sz="1600" dirty="0"/>
              <a:t> </a:t>
            </a:r>
            <a:r>
              <a:rPr lang="en-US" altLang="ko-KR" sz="1600" dirty="0" err="1"/>
              <a:t>cân</a:t>
            </a:r>
            <a:r>
              <a:rPr lang="en-US" altLang="ko-KR" sz="1600" dirty="0"/>
              <a:t> Box </a:t>
            </a:r>
            <a:r>
              <a:rPr lang="en-US" altLang="ko-KR" sz="1600" dirty="0" err="1"/>
              <a:t>được</a:t>
            </a:r>
            <a:r>
              <a:rPr lang="en-US" altLang="ko-KR" sz="1600" dirty="0"/>
              <a:t> </a:t>
            </a:r>
            <a:r>
              <a:rPr lang="en-US" altLang="ko-KR" sz="1600" dirty="0" err="1"/>
              <a:t>trọng</a:t>
            </a:r>
            <a:r>
              <a:rPr lang="en-US" altLang="ko-KR" sz="1600" dirty="0"/>
              <a:t> </a:t>
            </a:r>
            <a:r>
              <a:rPr lang="en-US" altLang="ko-KR" sz="1600" dirty="0" err="1"/>
              <a:t>lượng</a:t>
            </a:r>
            <a:r>
              <a:rPr lang="en-US" altLang="ko-KR" sz="1600" dirty="0"/>
              <a:t> </a:t>
            </a:r>
            <a:r>
              <a:rPr lang="en-US" altLang="ko-KR" sz="1600" dirty="0" err="1"/>
              <a:t>là</a:t>
            </a:r>
            <a:r>
              <a:rPr lang="en-US" altLang="ko-KR" sz="1600" dirty="0"/>
              <a:t> 1kg. </a:t>
            </a:r>
          </a:p>
          <a:p>
            <a:pPr>
              <a:lnSpc>
                <a:spcPct val="80000"/>
              </a:lnSpc>
            </a:pPr>
            <a:endParaRPr lang="en-US" altLang="ko-KR" sz="1600" dirty="0"/>
          </a:p>
          <a:p>
            <a:pPr>
              <a:lnSpc>
                <a:spcPct val="80000"/>
              </a:lnSpc>
            </a:pPr>
            <a:r>
              <a:rPr lang="en-US" altLang="ko-KR" sz="1600" dirty="0" err="1"/>
              <a:t>Bạn</a:t>
            </a:r>
            <a:r>
              <a:rPr lang="en-US" altLang="ko-KR" sz="1600" dirty="0"/>
              <a:t> </a:t>
            </a:r>
            <a:r>
              <a:rPr lang="en-US" altLang="ko-KR" sz="1600" dirty="0" err="1"/>
              <a:t>gọi</a:t>
            </a:r>
            <a:r>
              <a:rPr lang="en-US" altLang="ko-KR" sz="1600" dirty="0"/>
              <a:t> </a:t>
            </a:r>
            <a:r>
              <a:rPr lang="en-US" altLang="ko-KR" sz="1600" dirty="0" err="1"/>
              <a:t>điện</a:t>
            </a:r>
            <a:r>
              <a:rPr lang="en-US" altLang="ko-KR" sz="1600" dirty="0"/>
              <a:t> </a:t>
            </a:r>
            <a:r>
              <a:rPr lang="en-US" altLang="ko-KR" sz="1600" dirty="0" err="1"/>
              <a:t>hỏi</a:t>
            </a:r>
            <a:r>
              <a:rPr lang="en-US" altLang="ko-KR" sz="1600" dirty="0"/>
              <a:t> </a:t>
            </a:r>
            <a:r>
              <a:rPr lang="en-US" altLang="ko-KR" sz="1600" dirty="0" err="1"/>
              <a:t>người</a:t>
            </a:r>
            <a:r>
              <a:rPr lang="en-US" altLang="ko-KR" sz="1600" dirty="0"/>
              <a:t> </a:t>
            </a:r>
            <a:r>
              <a:rPr lang="en-US" altLang="ko-KR" sz="1600" dirty="0" err="1"/>
              <a:t>bán</a:t>
            </a:r>
            <a:r>
              <a:rPr lang="en-US" altLang="ko-KR" sz="1600" dirty="0"/>
              <a:t> </a:t>
            </a:r>
            <a:r>
              <a:rPr lang="en-US" altLang="ko-KR" sz="1600" dirty="0" err="1"/>
              <a:t>hàng</a:t>
            </a:r>
            <a:r>
              <a:rPr lang="en-US" altLang="ko-KR" sz="1600" dirty="0"/>
              <a:t> </a:t>
            </a:r>
            <a:r>
              <a:rPr lang="en-US" altLang="ko-KR" sz="1600" dirty="0" err="1"/>
              <a:t>và</a:t>
            </a:r>
            <a:r>
              <a:rPr lang="en-US" altLang="ko-KR" sz="1600" dirty="0"/>
              <a:t> </a:t>
            </a:r>
            <a:r>
              <a:rPr lang="en-US" altLang="ko-KR" sz="1600" dirty="0" err="1"/>
              <a:t>họ</a:t>
            </a:r>
            <a:r>
              <a:rPr lang="en-US" altLang="ko-KR" sz="1600" dirty="0"/>
              <a:t> </a:t>
            </a:r>
            <a:r>
              <a:rPr lang="en-US" altLang="ko-KR" sz="1600" dirty="0" err="1"/>
              <a:t>không</a:t>
            </a:r>
            <a:r>
              <a:rPr lang="en-US" altLang="ko-KR" sz="1600" dirty="0"/>
              <a:t> </a:t>
            </a:r>
            <a:r>
              <a:rPr lang="en-US" altLang="ko-KR" sz="1600" dirty="0" err="1"/>
              <a:t>nghe</a:t>
            </a:r>
            <a:r>
              <a:rPr lang="en-US" altLang="ko-KR" sz="1600" dirty="0"/>
              <a:t> </a:t>
            </a:r>
            <a:r>
              <a:rPr lang="en-US" altLang="ko-KR" sz="1600" dirty="0" err="1"/>
              <a:t>máy</a:t>
            </a:r>
            <a:r>
              <a:rPr lang="en-US" altLang="ko-KR" sz="1600" dirty="0"/>
              <a:t>..</a:t>
            </a:r>
          </a:p>
        </p:txBody>
      </p:sp>
      <p:sp>
        <p:nvSpPr>
          <p:cNvPr id="4" name="TextBox 3"/>
          <p:cNvSpPr txBox="1"/>
          <p:nvPr/>
        </p:nvSpPr>
        <p:spPr>
          <a:xfrm>
            <a:off x="611560" y="972011"/>
            <a:ext cx="1165704" cy="369332"/>
          </a:xfrm>
          <a:prstGeom prst="rect">
            <a:avLst/>
          </a:prstGeom>
          <a:noFill/>
        </p:spPr>
        <p:txBody>
          <a:bodyPr wrap="none" rtlCol="0">
            <a:spAutoFit/>
          </a:bodyPr>
          <a:lstStyle/>
          <a:p>
            <a:r>
              <a:rPr lang="en-US" altLang="ko-KR" dirty="0"/>
              <a:t>Episode </a:t>
            </a:r>
            <a:r>
              <a:rPr lang="ko-KR" altLang="en-US" dirty="0"/>
              <a:t> </a:t>
            </a:r>
          </a:p>
        </p:txBody>
      </p:sp>
      <p:sp>
        <p:nvSpPr>
          <p:cNvPr id="5" name="슬라이드 번호 개체 틀 1"/>
          <p:cNvSpPr txBox="1">
            <a:spLocks/>
          </p:cNvSpPr>
          <p:nvPr/>
        </p:nvSpPr>
        <p:spPr>
          <a:xfrm>
            <a:off x="8560136" y="6475414"/>
            <a:ext cx="504734" cy="365125"/>
          </a:xfrm>
          <a:prstGeom prst="rect">
            <a:avLst/>
          </a:prstGeom>
        </p:spPr>
        <p:txBody>
          <a:bodyPr vert="horz" lIns="91440" tIns="45720" rIns="91440" bIns="4572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fld id="{77AFF0D9-6237-448D-85CB-09D9C41BCF72}" type="slidenum">
              <a:rPr kumimoji="0" lang="en-US" altLang="ko-KR" sz="1200" b="1" i="0" u="none" strike="noStrike" kern="1200" cap="none" spc="0" normalizeH="0" baseline="0" noProof="0" smtClean="0">
                <a:ln>
                  <a:noFill/>
                </a:ln>
                <a:solidFill>
                  <a:srgbClr val="FF0066"/>
                </a:solidFill>
                <a:effectLst/>
                <a:uLnTx/>
                <a:uFillTx/>
                <a:latin typeface="맑은 고딕" pitchFamily="50" charset="-127"/>
                <a:ea typeface="맑은 고딕" pitchFamily="50" charset="-127"/>
                <a:cs typeface="+mn-cs"/>
              </a:rPr>
              <a:pPr marL="0" marR="0" lvl="0" indent="0" algn="ctr" defTabSz="914400" rtl="0" eaLnBrk="1" fontAlgn="auto" latinLnBrk="1" hangingPunct="1">
                <a:lnSpc>
                  <a:spcPct val="100000"/>
                </a:lnSpc>
                <a:spcBef>
                  <a:spcPts val="0"/>
                </a:spcBef>
                <a:spcAft>
                  <a:spcPts val="0"/>
                </a:spcAft>
                <a:buClrTx/>
                <a:buSzTx/>
                <a:buFontTx/>
                <a:buNone/>
                <a:tabLst/>
                <a:defRPr/>
              </a:pPr>
              <a:t>7</a:t>
            </a:fld>
            <a:endParaRPr kumimoji="0" lang="ko-KR" altLang="en-US" sz="1200" b="0" i="0" u="none" strike="noStrike" kern="1200" cap="none" spc="0" normalizeH="0" baseline="0" noProof="0" dirty="0">
              <a:ln>
                <a:noFill/>
              </a:ln>
              <a:solidFill>
                <a:schemeClr val="tx1">
                  <a:tint val="75000"/>
                </a:schemeClr>
              </a:solidFill>
              <a:effectLst/>
              <a:uLnTx/>
              <a:uFillTx/>
              <a:latin typeface="+mn-lt"/>
              <a:ea typeface="+mn-ea"/>
              <a:cs typeface="+mn-cs"/>
            </a:endParaRPr>
          </a:p>
        </p:txBody>
      </p:sp>
    </p:spTree>
    <p:extLst>
      <p:ext uri="{BB962C8B-B14F-4D97-AF65-F5344CB8AC3E}">
        <p14:creationId xmlns:p14="http://schemas.microsoft.com/office/powerpoint/2010/main" val="12665120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115616" y="1688028"/>
            <a:ext cx="7344816" cy="2893100"/>
          </a:xfrm>
          <a:prstGeom prst="rect">
            <a:avLst/>
          </a:prstGeom>
          <a:noFill/>
        </p:spPr>
        <p:txBody>
          <a:bodyPr wrap="square" rtlCol="0">
            <a:spAutoFit/>
          </a:bodyPr>
          <a:lstStyle/>
          <a:p>
            <a:pPr marL="342900" indent="-342900">
              <a:buAutoNum type="arabicPeriod"/>
            </a:pPr>
            <a:r>
              <a:rPr lang="en-US" sz="1400" dirty="0"/>
              <a:t>Good products can be judged to be defective and defective to good products.</a:t>
            </a:r>
          </a:p>
          <a:p>
            <a:pPr marL="342900" indent="-342900">
              <a:buAutoNum type="arabicPeriod"/>
            </a:pPr>
            <a:endParaRPr lang="en-US" altLang="ko-KR" sz="1400" dirty="0"/>
          </a:p>
          <a:p>
            <a:pPr marL="342900" indent="-342900">
              <a:buAutoNum type="arabicPeriod"/>
            </a:pPr>
            <a:r>
              <a:rPr lang="en-US" sz="1400" dirty="0"/>
              <a:t>You will not be able to make the right decision.</a:t>
            </a:r>
          </a:p>
          <a:p>
            <a:pPr marL="342900" indent="-342900">
              <a:buAutoNum type="arabicPeriod"/>
            </a:pPr>
            <a:endParaRPr lang="en-US" altLang="ko-KR" sz="1400" dirty="0"/>
          </a:p>
          <a:p>
            <a:pPr marL="342900" indent="-342900">
              <a:buFontTx/>
              <a:buAutoNum type="arabicPeriod"/>
            </a:pPr>
            <a:r>
              <a:rPr lang="en-US" sz="1400" dirty="0"/>
              <a:t>You will not know the cause of the problem</a:t>
            </a:r>
            <a:r>
              <a:rPr lang="en-US" altLang="ko-KR" sz="1400" dirty="0"/>
              <a:t>  </a:t>
            </a:r>
          </a:p>
          <a:p>
            <a:pPr marL="342900" indent="-342900">
              <a:buAutoNum type="arabicPeriod"/>
            </a:pPr>
            <a:endParaRPr lang="en-US" altLang="ko-KR" sz="1400" dirty="0"/>
          </a:p>
          <a:p>
            <a:pPr marL="342900" indent="-342900">
              <a:buAutoNum type="arabicPeriod"/>
            </a:pPr>
            <a:r>
              <a:rPr lang="en-US" sz="1400" dirty="0"/>
              <a:t>It is difficult to evaluate accurately about the improved results</a:t>
            </a:r>
          </a:p>
          <a:p>
            <a:pPr marL="342900" indent="-342900">
              <a:buAutoNum type="arabicPeriod"/>
            </a:pPr>
            <a:endParaRPr lang="en-US" altLang="ko-KR" sz="1400" dirty="0"/>
          </a:p>
          <a:p>
            <a:pPr marL="342900" indent="-342900">
              <a:buAutoNum type="arabicPeriod"/>
            </a:pPr>
            <a:r>
              <a:rPr lang="en-US" sz="1400" dirty="0"/>
              <a:t>You will lose the chance of improvement.</a:t>
            </a:r>
          </a:p>
          <a:p>
            <a:pPr marL="342900" indent="-342900">
              <a:buAutoNum type="arabicPeriod"/>
            </a:pPr>
            <a:endParaRPr lang="en-US" altLang="ko-KR" sz="1400" dirty="0"/>
          </a:p>
          <a:p>
            <a:pPr marL="342900" indent="-342900">
              <a:buAutoNum type="arabicPeriod"/>
            </a:pPr>
            <a:r>
              <a:rPr lang="en-US" sz="1400" dirty="0"/>
              <a:t>It works as a normal barrier.</a:t>
            </a:r>
          </a:p>
          <a:p>
            <a:pPr marL="342900" indent="-342900">
              <a:buAutoNum type="arabicPeriod"/>
            </a:pPr>
            <a:endParaRPr lang="en-US" altLang="ko-KR" sz="1400" dirty="0"/>
          </a:p>
          <a:p>
            <a:pPr marL="342900" indent="-342900">
              <a:buAutoNum type="arabicPeriod"/>
            </a:pPr>
            <a:r>
              <a:rPr lang="en-US" altLang="ko-KR" sz="1400" dirty="0"/>
              <a:t>Etc.</a:t>
            </a:r>
          </a:p>
        </p:txBody>
      </p:sp>
      <p:sp>
        <p:nvSpPr>
          <p:cNvPr id="6" name="TextBox 5"/>
          <p:cNvSpPr txBox="1"/>
          <p:nvPr/>
        </p:nvSpPr>
        <p:spPr>
          <a:xfrm>
            <a:off x="1691681" y="4941168"/>
            <a:ext cx="6595096" cy="646331"/>
          </a:xfrm>
          <a:prstGeom prst="rect">
            <a:avLst/>
          </a:prstGeom>
          <a:noFill/>
        </p:spPr>
        <p:txBody>
          <a:bodyPr wrap="square" rtlCol="0">
            <a:spAutoFit/>
          </a:bodyPr>
          <a:lstStyle/>
          <a:p>
            <a:r>
              <a:rPr lang="en-US" dirty="0"/>
              <a:t>If the person who bought the apple in the previous case was GM, and the producer who produced the apple was LG ... .</a:t>
            </a:r>
            <a:endParaRPr lang="ko-KR" altLang="en-US" dirty="0"/>
          </a:p>
        </p:txBody>
      </p:sp>
      <p:sp>
        <p:nvSpPr>
          <p:cNvPr id="2" name="TextBox 1"/>
          <p:cNvSpPr txBox="1"/>
          <p:nvPr/>
        </p:nvSpPr>
        <p:spPr>
          <a:xfrm>
            <a:off x="899592" y="1196752"/>
            <a:ext cx="4265848" cy="369332"/>
          </a:xfrm>
          <a:prstGeom prst="rect">
            <a:avLst/>
          </a:prstGeom>
          <a:noFill/>
        </p:spPr>
        <p:txBody>
          <a:bodyPr wrap="none" rtlCol="0">
            <a:spAutoFit/>
          </a:bodyPr>
          <a:lstStyle/>
          <a:p>
            <a:r>
              <a:rPr lang="en-US" altLang="ko-KR" dirty="0"/>
              <a:t>If the measuring instrument is wrong…</a:t>
            </a:r>
            <a:endParaRPr lang="ko-KR" altLang="en-US" dirty="0"/>
          </a:p>
        </p:txBody>
      </p:sp>
      <p:sp>
        <p:nvSpPr>
          <p:cNvPr id="8" name="TextBox 7"/>
          <p:cNvSpPr txBox="1"/>
          <p:nvPr/>
        </p:nvSpPr>
        <p:spPr>
          <a:xfrm>
            <a:off x="179512" y="188640"/>
            <a:ext cx="5008359" cy="400110"/>
          </a:xfrm>
          <a:prstGeom prst="rect">
            <a:avLst/>
          </a:prstGeom>
          <a:noFill/>
        </p:spPr>
        <p:txBody>
          <a:bodyPr wrap="none" rtlCol="0">
            <a:spAutoFit/>
          </a:bodyPr>
          <a:lstStyle/>
          <a:p>
            <a:r>
              <a:rPr lang="en-US" altLang="ko-KR" sz="2000" b="1" dirty="0"/>
              <a:t>If the measuring instrument is wrong…</a:t>
            </a:r>
            <a:endParaRPr lang="ko-KR" altLang="en-US" sz="2000" b="1" dirty="0"/>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a:t>
            </a:fld>
            <a:endParaRPr lang="ko-KR" altLang="en-US" dirty="0"/>
          </a:p>
        </p:txBody>
      </p:sp>
    </p:spTree>
    <p:extLst>
      <p:ext uri="{BB962C8B-B14F-4D97-AF65-F5344CB8AC3E}">
        <p14:creationId xmlns:p14="http://schemas.microsoft.com/office/powerpoint/2010/main" val="303109009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79348"/>
            <a:ext cx="2974917" cy="400110"/>
          </a:xfrm>
          <a:prstGeom prst="rect">
            <a:avLst/>
          </a:prstGeom>
          <a:noFill/>
        </p:spPr>
        <p:txBody>
          <a:bodyPr wrap="none" rtlCol="0">
            <a:spAutoFit/>
          </a:bodyPr>
          <a:lstStyle/>
          <a:p>
            <a:r>
              <a:rPr lang="en-US" altLang="ko-KR" sz="2000" b="1" dirty="0"/>
              <a:t>What is measurement?</a:t>
            </a:r>
            <a:endParaRPr lang="ko-KR" altLang="en-US" sz="2000" b="1" dirty="0"/>
          </a:p>
        </p:txBody>
      </p:sp>
      <p:sp>
        <p:nvSpPr>
          <p:cNvPr id="3" name="TextBox 2"/>
          <p:cNvSpPr txBox="1"/>
          <p:nvPr/>
        </p:nvSpPr>
        <p:spPr>
          <a:xfrm>
            <a:off x="539553" y="889556"/>
            <a:ext cx="8104414" cy="523220"/>
          </a:xfrm>
          <a:prstGeom prst="rect">
            <a:avLst/>
          </a:prstGeom>
          <a:noFill/>
        </p:spPr>
        <p:txBody>
          <a:bodyPr wrap="square" rtlCol="0">
            <a:spAutoFit/>
          </a:bodyPr>
          <a:lstStyle/>
          <a:p>
            <a:r>
              <a:rPr lang="en-US" sz="1400" dirty="0"/>
              <a:t>A measurement is a numerical representation of the shape or dimensions of a product to know the length and weight about object by using a machine or device such as ruler and scales</a:t>
            </a:r>
            <a:endParaRPr lang="ko-KR" altLang="en-US" sz="1400" dirty="0"/>
          </a:p>
        </p:txBody>
      </p:sp>
      <p:sp>
        <p:nvSpPr>
          <p:cNvPr id="4" name="TextBox 3"/>
          <p:cNvSpPr txBox="1"/>
          <p:nvPr/>
        </p:nvSpPr>
        <p:spPr>
          <a:xfrm>
            <a:off x="539552" y="1556792"/>
            <a:ext cx="2773195" cy="307777"/>
          </a:xfrm>
          <a:prstGeom prst="rect">
            <a:avLst/>
          </a:prstGeom>
          <a:noFill/>
        </p:spPr>
        <p:txBody>
          <a:bodyPr wrap="none" rtlCol="0">
            <a:spAutoFit/>
          </a:bodyPr>
          <a:lstStyle/>
          <a:p>
            <a:r>
              <a:rPr lang="en-US" sz="1400" dirty="0"/>
              <a:t>Reliability of measurement data</a:t>
            </a:r>
            <a:endParaRPr lang="ko-KR" altLang="en-US" sz="1400" dirty="0"/>
          </a:p>
        </p:txBody>
      </p:sp>
      <p:sp>
        <p:nvSpPr>
          <p:cNvPr id="5" name="TextBox 4"/>
          <p:cNvSpPr txBox="1"/>
          <p:nvPr/>
        </p:nvSpPr>
        <p:spPr>
          <a:xfrm>
            <a:off x="539553" y="1988840"/>
            <a:ext cx="8032975" cy="738664"/>
          </a:xfrm>
          <a:prstGeom prst="rect">
            <a:avLst/>
          </a:prstGeom>
          <a:noFill/>
        </p:spPr>
        <p:txBody>
          <a:bodyPr wrap="square" rtlCol="0">
            <a:spAutoFit/>
          </a:bodyPr>
          <a:lstStyle/>
          <a:p>
            <a:r>
              <a:rPr lang="en-US" sz="1400" dirty="0"/>
              <a:t>If the measured result shows the same result according to the environment, time, and the measurer, it can say reliability is high if it shows the same result, and reliability is low if it does not show the same result.</a:t>
            </a:r>
            <a:r>
              <a:rPr lang="ko-KR" altLang="en-US" sz="1400" dirty="0"/>
              <a:t> </a:t>
            </a:r>
          </a:p>
        </p:txBody>
      </p:sp>
      <p:sp>
        <p:nvSpPr>
          <p:cNvPr id="8" name="TextBox 7"/>
          <p:cNvSpPr txBox="1"/>
          <p:nvPr/>
        </p:nvSpPr>
        <p:spPr>
          <a:xfrm>
            <a:off x="523095" y="2761183"/>
            <a:ext cx="4194097" cy="307777"/>
          </a:xfrm>
          <a:prstGeom prst="rect">
            <a:avLst/>
          </a:prstGeom>
          <a:noFill/>
        </p:spPr>
        <p:txBody>
          <a:bodyPr wrap="none" rtlCol="0">
            <a:spAutoFit/>
          </a:bodyPr>
          <a:lstStyle/>
          <a:p>
            <a:r>
              <a:rPr lang="en-US" sz="1400" dirty="0"/>
              <a:t>The length of the pencil was measured as below.</a:t>
            </a:r>
            <a:endParaRPr lang="ko-KR" altLang="en-US" sz="1400" dirty="0"/>
          </a:p>
        </p:txBody>
      </p:sp>
      <p:pic>
        <p:nvPicPr>
          <p:cNvPr id="10" name="그림 9"/>
          <p:cNvPicPr>
            <a:picLocks noChangeAspect="1"/>
          </p:cNvPicPr>
          <p:nvPr/>
        </p:nvPicPr>
        <p:blipFill rotWithShape="1">
          <a:blip r:embed="rId2" cstate="print">
            <a:extLst>
              <a:ext uri="{28A0092B-C50C-407E-A947-70E740481C1C}">
                <a14:useLocalDpi xmlns:a14="http://schemas.microsoft.com/office/drawing/2010/main" val="0"/>
              </a:ext>
            </a:extLst>
          </a:blip>
          <a:srcRect l="74957" t="54550" r="10402" b="21587"/>
          <a:stretch/>
        </p:blipFill>
        <p:spPr>
          <a:xfrm rot="5400000">
            <a:off x="1473731" y="2206789"/>
            <a:ext cx="1872209" cy="4316632"/>
          </a:xfrm>
          <a:prstGeom prst="rect">
            <a:avLst/>
          </a:prstGeom>
        </p:spPr>
      </p:pic>
      <p:sp>
        <p:nvSpPr>
          <p:cNvPr id="11" name="TextBox 10"/>
          <p:cNvSpPr txBox="1"/>
          <p:nvPr/>
        </p:nvSpPr>
        <p:spPr>
          <a:xfrm>
            <a:off x="4355976" y="3789040"/>
            <a:ext cx="4104456" cy="738664"/>
          </a:xfrm>
          <a:prstGeom prst="rect">
            <a:avLst/>
          </a:prstGeom>
          <a:noFill/>
        </p:spPr>
        <p:txBody>
          <a:bodyPr wrap="square" rtlCol="0">
            <a:spAutoFit/>
          </a:bodyPr>
          <a:lstStyle/>
          <a:p>
            <a:r>
              <a:rPr lang="en-US" altLang="ko-KR" sz="1400" dirty="0"/>
              <a:t>Longer than 35mm, shorter than 37mm</a:t>
            </a:r>
          </a:p>
          <a:p>
            <a:endParaRPr lang="en-US" altLang="ko-KR" sz="1400" dirty="0"/>
          </a:p>
          <a:p>
            <a:r>
              <a:rPr lang="en-US" altLang="ko-KR" sz="1400" dirty="0"/>
              <a:t>Between 35.5 ~ 36.5 </a:t>
            </a:r>
            <a:r>
              <a:rPr lang="ko-KR" altLang="en-US" sz="1400" dirty="0"/>
              <a:t> </a:t>
            </a:r>
          </a:p>
        </p:txBody>
      </p: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a:t>
            </a:fld>
            <a:endParaRPr lang="ko-KR" altLang="en-US" dirty="0"/>
          </a:p>
        </p:txBody>
      </p:sp>
    </p:spTree>
    <p:extLst>
      <p:ext uri="{BB962C8B-B14F-4D97-AF65-F5344CB8AC3E}">
        <p14:creationId xmlns:p14="http://schemas.microsoft.com/office/powerpoint/2010/main" val="276609200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115616" y="1688028"/>
            <a:ext cx="7344816" cy="2893100"/>
          </a:xfrm>
          <a:prstGeom prst="rect">
            <a:avLst/>
          </a:prstGeom>
          <a:noFill/>
        </p:spPr>
        <p:txBody>
          <a:bodyPr wrap="square" rtlCol="0">
            <a:spAutoFit/>
          </a:bodyPr>
          <a:lstStyle/>
          <a:p>
            <a:pPr marL="342900" indent="-342900">
              <a:buAutoNum type="arabicPeriod"/>
            </a:pPr>
            <a:r>
              <a:rPr lang="en-US" altLang="ko-KR" sz="1400" dirty="0" err="1"/>
              <a:t>Đánh</a:t>
            </a:r>
            <a:r>
              <a:rPr lang="en-US" altLang="ko-KR" sz="1400" dirty="0"/>
              <a:t> </a:t>
            </a:r>
            <a:r>
              <a:rPr lang="en-US" altLang="ko-KR" sz="1400" dirty="0" err="1"/>
              <a:t>giá</a:t>
            </a:r>
            <a:r>
              <a:rPr lang="en-US" altLang="ko-KR" sz="1400" dirty="0"/>
              <a:t> </a:t>
            </a:r>
            <a:r>
              <a:rPr lang="en-US" altLang="ko-KR" sz="1400" dirty="0" err="1"/>
              <a:t>sai</a:t>
            </a:r>
            <a:r>
              <a:rPr lang="en-US" altLang="ko-KR" sz="1400" dirty="0"/>
              <a:t> </a:t>
            </a:r>
            <a:r>
              <a:rPr lang="en-US" altLang="ko-KR" sz="1400" dirty="0" err="1"/>
              <a:t>hàng</a:t>
            </a:r>
            <a:r>
              <a:rPr lang="en-US" altLang="ko-KR" sz="1400" dirty="0"/>
              <a:t> </a:t>
            </a:r>
            <a:r>
              <a:rPr lang="en-US" altLang="ko-KR" sz="1400" dirty="0" err="1"/>
              <a:t>chất</a:t>
            </a:r>
            <a:r>
              <a:rPr lang="en-US" altLang="ko-KR" sz="1400" dirty="0"/>
              <a:t> </a:t>
            </a:r>
            <a:r>
              <a:rPr lang="en-US" altLang="ko-KR" sz="1400" dirty="0" err="1"/>
              <a:t>lượng</a:t>
            </a:r>
            <a:r>
              <a:rPr lang="en-US" altLang="ko-KR" sz="1400" dirty="0"/>
              <a:t> </a:t>
            </a:r>
            <a:r>
              <a:rPr lang="en-US" altLang="ko-KR" sz="1400" dirty="0" err="1"/>
              <a:t>tốt</a:t>
            </a:r>
            <a:r>
              <a:rPr lang="en-US" altLang="ko-KR" sz="1400" dirty="0"/>
              <a:t> </a:t>
            </a:r>
            <a:r>
              <a:rPr lang="en-US" altLang="ko-KR" sz="1400" dirty="0" err="1"/>
              <a:t>thành</a:t>
            </a:r>
            <a:r>
              <a:rPr lang="en-US" altLang="ko-KR" sz="1400" dirty="0"/>
              <a:t> </a:t>
            </a:r>
            <a:r>
              <a:rPr lang="en-US" altLang="ko-KR" sz="1400" dirty="0" err="1"/>
              <a:t>hàng</a:t>
            </a:r>
            <a:r>
              <a:rPr lang="en-US" altLang="ko-KR" sz="1400" dirty="0"/>
              <a:t> </a:t>
            </a:r>
            <a:r>
              <a:rPr lang="en-US" altLang="ko-KR" sz="1400" dirty="0" err="1"/>
              <a:t>chất</a:t>
            </a:r>
            <a:r>
              <a:rPr lang="en-US" altLang="ko-KR" sz="1400" dirty="0"/>
              <a:t> </a:t>
            </a:r>
            <a:r>
              <a:rPr lang="en-US" altLang="ko-KR" sz="1400" dirty="0" err="1"/>
              <a:t>lượng</a:t>
            </a:r>
            <a:r>
              <a:rPr lang="en-US" altLang="ko-KR" sz="1400" dirty="0"/>
              <a:t> </a:t>
            </a:r>
            <a:r>
              <a:rPr lang="en-US" altLang="ko-KR" sz="1400" dirty="0" err="1"/>
              <a:t>không</a:t>
            </a:r>
            <a:r>
              <a:rPr lang="en-US" altLang="ko-KR" sz="1400" dirty="0"/>
              <a:t> </a:t>
            </a:r>
            <a:r>
              <a:rPr lang="en-US" altLang="ko-KR" sz="1400" dirty="0" err="1"/>
              <a:t>tốt</a:t>
            </a:r>
            <a:r>
              <a:rPr lang="en-US" altLang="ko-KR" sz="1400" dirty="0"/>
              <a:t> </a:t>
            </a:r>
            <a:r>
              <a:rPr lang="en-US" altLang="ko-KR" sz="1400" dirty="0" err="1"/>
              <a:t>và</a:t>
            </a:r>
            <a:r>
              <a:rPr lang="en-US" altLang="ko-KR" sz="1400" dirty="0"/>
              <a:t> </a:t>
            </a:r>
            <a:r>
              <a:rPr lang="en-US" altLang="ko-KR" sz="1400" dirty="0" err="1"/>
              <a:t>ngược</a:t>
            </a:r>
            <a:r>
              <a:rPr lang="en-US" altLang="ko-KR" sz="1400" dirty="0"/>
              <a:t> </a:t>
            </a:r>
            <a:r>
              <a:rPr lang="en-US" altLang="ko-KR" sz="1400" dirty="0" err="1"/>
              <a:t>lại</a:t>
            </a:r>
            <a:r>
              <a:rPr lang="en-US" altLang="ko-KR" sz="1400" dirty="0"/>
              <a:t>. </a:t>
            </a:r>
          </a:p>
          <a:p>
            <a:pPr marL="342900" indent="-342900">
              <a:buAutoNum type="arabicPeriod"/>
            </a:pPr>
            <a:endParaRPr lang="en-US" altLang="ko-KR" sz="1400" dirty="0"/>
          </a:p>
          <a:p>
            <a:pPr marL="342900" indent="-342900">
              <a:buAutoNum type="arabicPeriod"/>
            </a:pPr>
            <a:r>
              <a:rPr lang="en-US" altLang="ko-KR" sz="1400" dirty="0" err="1"/>
              <a:t>Không</a:t>
            </a:r>
            <a:r>
              <a:rPr lang="en-US" altLang="ko-KR" sz="1400" dirty="0"/>
              <a:t> </a:t>
            </a:r>
            <a:r>
              <a:rPr lang="en-US" altLang="ko-KR" sz="1400" dirty="0" err="1"/>
              <a:t>đưa</a:t>
            </a:r>
            <a:r>
              <a:rPr lang="en-US" altLang="ko-KR" sz="1400" dirty="0"/>
              <a:t> </a:t>
            </a:r>
            <a:r>
              <a:rPr lang="en-US" altLang="ko-KR" sz="1400" dirty="0" err="1"/>
              <a:t>ra</a:t>
            </a:r>
            <a:r>
              <a:rPr lang="en-US" altLang="ko-KR" sz="1400" dirty="0"/>
              <a:t> </a:t>
            </a:r>
            <a:r>
              <a:rPr lang="en-US" altLang="ko-KR" sz="1400" dirty="0" err="1"/>
              <a:t>được</a:t>
            </a:r>
            <a:r>
              <a:rPr lang="en-US" altLang="ko-KR" sz="1400" dirty="0"/>
              <a:t> </a:t>
            </a:r>
            <a:r>
              <a:rPr lang="en-US" altLang="ko-KR" sz="1400" dirty="0" err="1"/>
              <a:t>quyết</a:t>
            </a:r>
            <a:r>
              <a:rPr lang="en-US" altLang="ko-KR" sz="1400" dirty="0"/>
              <a:t> </a:t>
            </a:r>
            <a:r>
              <a:rPr lang="en-US" altLang="ko-KR" sz="1400" dirty="0" err="1"/>
              <a:t>định</a:t>
            </a:r>
            <a:r>
              <a:rPr lang="en-US" altLang="ko-KR" sz="1400" dirty="0"/>
              <a:t> </a:t>
            </a:r>
            <a:r>
              <a:rPr lang="en-US" altLang="ko-KR" sz="1400" dirty="0" err="1"/>
              <a:t>xử</a:t>
            </a:r>
            <a:r>
              <a:rPr lang="en-US" altLang="ko-KR" sz="1400" dirty="0"/>
              <a:t> </a:t>
            </a:r>
            <a:r>
              <a:rPr lang="en-US" altLang="ko-KR" sz="1400" dirty="0" err="1"/>
              <a:t>lý</a:t>
            </a:r>
            <a:r>
              <a:rPr lang="en-US" altLang="ko-KR" sz="1400" dirty="0"/>
              <a:t> </a:t>
            </a:r>
            <a:r>
              <a:rPr lang="en-US" altLang="ko-KR" sz="1400" dirty="0" err="1"/>
              <a:t>hợp</a:t>
            </a:r>
            <a:r>
              <a:rPr lang="en-US" altLang="ko-KR" sz="1400" dirty="0"/>
              <a:t> </a:t>
            </a:r>
            <a:r>
              <a:rPr lang="en-US" altLang="ko-KR" sz="1400" dirty="0" err="1"/>
              <a:t>lý</a:t>
            </a:r>
            <a:endParaRPr lang="en-US" altLang="ko-KR" sz="1400" dirty="0"/>
          </a:p>
          <a:p>
            <a:pPr marL="342900" indent="-342900">
              <a:buAutoNum type="arabicPeriod"/>
            </a:pPr>
            <a:endParaRPr lang="en-US" altLang="ko-KR" sz="1400" dirty="0"/>
          </a:p>
          <a:p>
            <a:pPr marL="342900" indent="-342900">
              <a:buAutoNum type="arabicPeriod"/>
            </a:pPr>
            <a:r>
              <a:rPr lang="en-US" altLang="ko-KR" sz="1400" dirty="0" err="1"/>
              <a:t>Không</a:t>
            </a:r>
            <a:r>
              <a:rPr lang="en-US" altLang="ko-KR" sz="1400" dirty="0"/>
              <a:t> </a:t>
            </a:r>
            <a:r>
              <a:rPr lang="en-US" altLang="ko-KR" sz="1400" dirty="0" err="1"/>
              <a:t>tìm</a:t>
            </a:r>
            <a:r>
              <a:rPr lang="en-US" altLang="ko-KR" sz="1400" dirty="0"/>
              <a:t> </a:t>
            </a:r>
            <a:r>
              <a:rPr lang="en-US" altLang="ko-KR" sz="1400" dirty="0" err="1"/>
              <a:t>ra</a:t>
            </a:r>
            <a:r>
              <a:rPr lang="en-US" altLang="ko-KR" sz="1400" dirty="0"/>
              <a:t> </a:t>
            </a:r>
            <a:r>
              <a:rPr lang="en-US" altLang="ko-KR" sz="1400" dirty="0" err="1"/>
              <a:t>được</a:t>
            </a:r>
            <a:r>
              <a:rPr lang="en-US" altLang="ko-KR" sz="1400" dirty="0"/>
              <a:t> </a:t>
            </a:r>
            <a:r>
              <a:rPr lang="en-US" altLang="ko-KR" sz="1400" dirty="0" err="1"/>
              <a:t>nguyên</a:t>
            </a:r>
            <a:r>
              <a:rPr lang="en-US" altLang="ko-KR" sz="1400" dirty="0"/>
              <a:t> </a:t>
            </a:r>
            <a:r>
              <a:rPr lang="en-US" altLang="ko-KR" sz="1400" dirty="0" err="1"/>
              <a:t>nhân</a:t>
            </a:r>
            <a:r>
              <a:rPr lang="en-US" altLang="ko-KR" sz="1400" dirty="0"/>
              <a:t> </a:t>
            </a:r>
            <a:r>
              <a:rPr lang="en-US" altLang="ko-KR" sz="1400" dirty="0" err="1"/>
              <a:t>của</a:t>
            </a:r>
            <a:r>
              <a:rPr lang="en-US" altLang="ko-KR" sz="1400" dirty="0"/>
              <a:t> </a:t>
            </a:r>
            <a:r>
              <a:rPr lang="en-US" altLang="ko-KR" sz="1400" dirty="0" err="1"/>
              <a:t>vấn</a:t>
            </a:r>
            <a:r>
              <a:rPr lang="en-US" altLang="ko-KR" sz="1400" dirty="0"/>
              <a:t> </a:t>
            </a:r>
            <a:r>
              <a:rPr lang="en-US" altLang="ko-KR" sz="1400" dirty="0" err="1"/>
              <a:t>đề</a:t>
            </a:r>
            <a:endParaRPr lang="en-US" altLang="ko-KR" sz="1400" dirty="0"/>
          </a:p>
          <a:p>
            <a:pPr marL="342900" indent="-342900">
              <a:buAutoNum type="arabicPeriod"/>
            </a:pPr>
            <a:endParaRPr lang="en-US" altLang="ko-KR" sz="1400" dirty="0"/>
          </a:p>
          <a:p>
            <a:pPr marL="342900" indent="-342900">
              <a:buAutoNum type="arabicPeriod"/>
            </a:pPr>
            <a:r>
              <a:rPr lang="en-US" altLang="ko-KR" sz="1400" dirty="0" err="1"/>
              <a:t>Khó</a:t>
            </a:r>
            <a:r>
              <a:rPr lang="en-US" altLang="ko-KR" sz="1400" dirty="0"/>
              <a:t> </a:t>
            </a:r>
            <a:r>
              <a:rPr lang="en-US" altLang="ko-KR" sz="1400" dirty="0" err="1"/>
              <a:t>khăn</a:t>
            </a:r>
            <a:r>
              <a:rPr lang="en-US" altLang="ko-KR" sz="1400" dirty="0"/>
              <a:t> </a:t>
            </a:r>
            <a:r>
              <a:rPr lang="en-US" altLang="ko-KR" sz="1400" dirty="0" err="1"/>
              <a:t>trong</a:t>
            </a:r>
            <a:r>
              <a:rPr lang="en-US" altLang="ko-KR" sz="1400" dirty="0"/>
              <a:t> </a:t>
            </a:r>
            <a:r>
              <a:rPr lang="en-US" altLang="ko-KR" sz="1400" dirty="0" err="1"/>
              <a:t>việc</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chính</a:t>
            </a:r>
            <a:r>
              <a:rPr lang="en-US" altLang="ko-KR" sz="1400" dirty="0"/>
              <a:t> </a:t>
            </a:r>
            <a:r>
              <a:rPr lang="en-US" altLang="ko-KR" sz="1400" dirty="0" err="1"/>
              <a:t>xác</a:t>
            </a:r>
            <a:r>
              <a:rPr lang="en-US" altLang="ko-KR" sz="1400" dirty="0"/>
              <a:t> </a:t>
            </a:r>
            <a:r>
              <a:rPr lang="en-US" altLang="ko-KR" sz="1400" dirty="0" err="1"/>
              <a:t>những</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cải</a:t>
            </a:r>
            <a:r>
              <a:rPr lang="en-US" altLang="ko-KR" sz="1400" dirty="0"/>
              <a:t> </a:t>
            </a:r>
            <a:r>
              <a:rPr lang="en-US" altLang="ko-KR" sz="1400" dirty="0" err="1"/>
              <a:t>thiện</a:t>
            </a:r>
            <a:r>
              <a:rPr lang="en-US" altLang="ko-KR" sz="1400" dirty="0"/>
              <a:t> </a:t>
            </a:r>
          </a:p>
          <a:p>
            <a:pPr marL="342900" indent="-342900">
              <a:buAutoNum type="arabicPeriod"/>
            </a:pPr>
            <a:endParaRPr lang="en-US" altLang="ko-KR" sz="1400" dirty="0"/>
          </a:p>
          <a:p>
            <a:pPr marL="342900" indent="-342900">
              <a:buAutoNum type="arabicPeriod"/>
            </a:pPr>
            <a:r>
              <a:rPr lang="en-US" altLang="ko-KR" sz="1400" dirty="0" err="1"/>
              <a:t>Đánh</a:t>
            </a:r>
            <a:r>
              <a:rPr lang="en-US" altLang="ko-KR" sz="1400" dirty="0"/>
              <a:t> </a:t>
            </a:r>
            <a:r>
              <a:rPr lang="en-US" altLang="ko-KR" sz="1400" dirty="0" err="1"/>
              <a:t>mất</a:t>
            </a:r>
            <a:r>
              <a:rPr lang="en-US" altLang="ko-KR" sz="1400" dirty="0"/>
              <a:t> </a:t>
            </a:r>
            <a:r>
              <a:rPr lang="en-US" altLang="ko-KR" sz="1400" dirty="0" err="1"/>
              <a:t>cơ</a:t>
            </a:r>
            <a:r>
              <a:rPr lang="en-US" altLang="ko-KR" sz="1400" dirty="0"/>
              <a:t> </a:t>
            </a:r>
            <a:r>
              <a:rPr lang="en-US" altLang="ko-KR" sz="1400" dirty="0" err="1"/>
              <a:t>hội</a:t>
            </a:r>
            <a:r>
              <a:rPr lang="en-US" altLang="ko-KR" sz="1400" dirty="0"/>
              <a:t> </a:t>
            </a:r>
            <a:r>
              <a:rPr lang="en-US" altLang="ko-KR" sz="1400" dirty="0" err="1"/>
              <a:t>cải</a:t>
            </a:r>
            <a:r>
              <a:rPr lang="en-US" altLang="ko-KR" sz="1400" dirty="0"/>
              <a:t> </a:t>
            </a:r>
            <a:r>
              <a:rPr lang="en-US" altLang="ko-KR" sz="1400" dirty="0" err="1"/>
              <a:t>thiện</a:t>
            </a:r>
            <a:r>
              <a:rPr lang="en-US" altLang="ko-KR" sz="1400" dirty="0"/>
              <a:t>.</a:t>
            </a:r>
          </a:p>
          <a:p>
            <a:pPr marL="342900" indent="-342900">
              <a:buAutoNum type="arabicPeriod"/>
            </a:pPr>
            <a:endParaRPr lang="en-US" altLang="ko-KR" sz="1400" dirty="0"/>
          </a:p>
          <a:p>
            <a:pPr marL="342900" indent="-342900">
              <a:buAutoNum type="arabicPeriod"/>
            </a:pPr>
            <a:r>
              <a:rPr lang="en-US" altLang="ko-KR" sz="1400" dirty="0" err="1"/>
              <a:t>Hoạt</a:t>
            </a:r>
            <a:r>
              <a:rPr lang="en-US" altLang="ko-KR" sz="1400" dirty="0"/>
              <a:t> </a:t>
            </a:r>
            <a:r>
              <a:rPr lang="en-US" altLang="ko-KR" sz="1400" dirty="0" err="1"/>
              <a:t>động</a:t>
            </a:r>
            <a:r>
              <a:rPr lang="en-US" altLang="ko-KR" sz="1400" dirty="0"/>
              <a:t> </a:t>
            </a:r>
            <a:r>
              <a:rPr lang="en-US" altLang="ko-KR" sz="1400" dirty="0" err="1"/>
              <a:t>như</a:t>
            </a:r>
            <a:r>
              <a:rPr lang="en-US" altLang="ko-KR" sz="1400" dirty="0"/>
              <a:t> </a:t>
            </a:r>
            <a:r>
              <a:rPr lang="en-US" altLang="ko-KR" sz="1400" dirty="0" err="1"/>
              <a:t>một</a:t>
            </a:r>
            <a:r>
              <a:rPr lang="en-US" altLang="ko-KR" sz="1400" dirty="0"/>
              <a:t> Barrier </a:t>
            </a:r>
            <a:r>
              <a:rPr lang="en-US" altLang="ko-KR" sz="1400" dirty="0" err="1"/>
              <a:t>thông</a:t>
            </a:r>
            <a:r>
              <a:rPr lang="en-US" altLang="ko-KR" sz="1400" dirty="0"/>
              <a:t> </a:t>
            </a:r>
            <a:r>
              <a:rPr lang="en-US" altLang="ko-KR" sz="1400" dirty="0" err="1"/>
              <a:t>thường</a:t>
            </a:r>
            <a:r>
              <a:rPr lang="en-US" altLang="ko-KR" sz="1400" dirty="0"/>
              <a:t>  </a:t>
            </a:r>
          </a:p>
          <a:p>
            <a:pPr marL="342900" indent="-342900">
              <a:buAutoNum type="arabicPeriod"/>
            </a:pPr>
            <a:endParaRPr lang="en-US" altLang="ko-KR" sz="1400" dirty="0"/>
          </a:p>
          <a:p>
            <a:pPr marL="342900" indent="-342900">
              <a:buAutoNum type="arabicPeriod"/>
            </a:pPr>
            <a:r>
              <a:rPr lang="en-US" altLang="ko-KR" sz="1400" dirty="0" err="1"/>
              <a:t>Khác</a:t>
            </a:r>
            <a:endParaRPr lang="en-US" altLang="ko-KR" sz="1400" dirty="0"/>
          </a:p>
        </p:txBody>
      </p:sp>
      <p:sp>
        <p:nvSpPr>
          <p:cNvPr id="6" name="TextBox 5"/>
          <p:cNvSpPr txBox="1"/>
          <p:nvPr/>
        </p:nvSpPr>
        <p:spPr>
          <a:xfrm>
            <a:off x="1691680" y="4941168"/>
            <a:ext cx="5171544" cy="646331"/>
          </a:xfrm>
          <a:prstGeom prst="rect">
            <a:avLst/>
          </a:prstGeom>
          <a:noFill/>
        </p:spPr>
        <p:txBody>
          <a:bodyPr wrap="none" rtlCol="0">
            <a:spAutoFit/>
          </a:bodyPr>
          <a:lstStyle/>
          <a:p>
            <a:r>
              <a:rPr lang="en-US" altLang="ko-KR" dirty="0" err="1"/>
              <a:t>Nếu</a:t>
            </a:r>
            <a:r>
              <a:rPr lang="en-US" altLang="ko-KR" dirty="0"/>
              <a:t> </a:t>
            </a:r>
            <a:r>
              <a:rPr lang="en-US" altLang="ko-KR" dirty="0" err="1"/>
              <a:t>giả</a:t>
            </a:r>
            <a:r>
              <a:rPr lang="en-US" altLang="ko-KR" dirty="0"/>
              <a:t> </a:t>
            </a:r>
            <a:r>
              <a:rPr lang="en-US" altLang="ko-KR" dirty="0" err="1"/>
              <a:t>định</a:t>
            </a:r>
            <a:r>
              <a:rPr lang="en-US" altLang="ko-KR" dirty="0"/>
              <a:t> </a:t>
            </a:r>
            <a:r>
              <a:rPr lang="en-US" altLang="ko-KR" dirty="0" err="1"/>
              <a:t>người</a:t>
            </a:r>
            <a:r>
              <a:rPr lang="en-US" altLang="ko-KR" dirty="0"/>
              <a:t> </a:t>
            </a:r>
            <a:r>
              <a:rPr lang="en-US" altLang="ko-KR" dirty="0" err="1"/>
              <a:t>mua</a:t>
            </a:r>
            <a:r>
              <a:rPr lang="en-US" altLang="ko-KR" dirty="0"/>
              <a:t> </a:t>
            </a:r>
            <a:r>
              <a:rPr lang="en-US" altLang="ko-KR" dirty="0" err="1"/>
              <a:t>táo</a:t>
            </a:r>
            <a:r>
              <a:rPr lang="en-US" altLang="ko-KR" dirty="0"/>
              <a:t> </a:t>
            </a:r>
            <a:r>
              <a:rPr lang="en-US" altLang="ko-KR" dirty="0" err="1"/>
              <a:t>bên</a:t>
            </a:r>
            <a:r>
              <a:rPr lang="en-US" altLang="ko-KR" dirty="0"/>
              <a:t> </a:t>
            </a:r>
            <a:r>
              <a:rPr lang="en-US" altLang="ko-KR" dirty="0" err="1"/>
              <a:t>trên</a:t>
            </a:r>
            <a:r>
              <a:rPr lang="en-US" altLang="ko-KR" dirty="0"/>
              <a:t> </a:t>
            </a:r>
            <a:r>
              <a:rPr lang="en-US" altLang="ko-KR" dirty="0" err="1"/>
              <a:t>là</a:t>
            </a:r>
            <a:r>
              <a:rPr lang="en-US" altLang="ko-KR" dirty="0"/>
              <a:t> GM   </a:t>
            </a:r>
          </a:p>
          <a:p>
            <a:r>
              <a:rPr lang="en-US" altLang="ko-KR" dirty="0" err="1"/>
              <a:t>Và</a:t>
            </a:r>
            <a:r>
              <a:rPr lang="en-US" altLang="ko-KR" dirty="0"/>
              <a:t> </a:t>
            </a:r>
            <a:r>
              <a:rPr lang="en-US" altLang="ko-KR" dirty="0" err="1"/>
              <a:t>người</a:t>
            </a:r>
            <a:r>
              <a:rPr lang="en-US" altLang="ko-KR" dirty="0"/>
              <a:t> </a:t>
            </a:r>
            <a:r>
              <a:rPr lang="en-US" altLang="ko-KR" dirty="0" err="1"/>
              <a:t>bán</a:t>
            </a:r>
            <a:r>
              <a:rPr lang="en-US" altLang="ko-KR" dirty="0"/>
              <a:t> </a:t>
            </a:r>
            <a:r>
              <a:rPr lang="en-US" altLang="ko-KR" dirty="0" err="1"/>
              <a:t>táo</a:t>
            </a:r>
            <a:r>
              <a:rPr lang="en-US" altLang="ko-KR" dirty="0"/>
              <a:t> </a:t>
            </a:r>
            <a:r>
              <a:rPr lang="en-US" altLang="ko-KR" dirty="0" err="1"/>
              <a:t>bên</a:t>
            </a:r>
            <a:r>
              <a:rPr lang="en-US" altLang="ko-KR" dirty="0"/>
              <a:t> </a:t>
            </a:r>
            <a:r>
              <a:rPr lang="en-US" altLang="ko-KR" dirty="0" err="1"/>
              <a:t>trên</a:t>
            </a:r>
            <a:r>
              <a:rPr lang="en-US" altLang="ko-KR" dirty="0"/>
              <a:t> </a:t>
            </a:r>
            <a:r>
              <a:rPr lang="en-US" altLang="ko-KR" dirty="0" err="1"/>
              <a:t>là</a:t>
            </a:r>
            <a:r>
              <a:rPr lang="en-US" altLang="ko-KR" dirty="0"/>
              <a:t> LG</a:t>
            </a:r>
          </a:p>
        </p:txBody>
      </p:sp>
      <p:sp>
        <p:nvSpPr>
          <p:cNvPr id="5" name="TextBox 4"/>
          <p:cNvSpPr txBox="1"/>
          <p:nvPr/>
        </p:nvSpPr>
        <p:spPr>
          <a:xfrm>
            <a:off x="179512" y="188640"/>
            <a:ext cx="3974165" cy="400110"/>
          </a:xfrm>
          <a:prstGeom prst="rect">
            <a:avLst/>
          </a:prstGeom>
          <a:noFill/>
        </p:spPr>
        <p:txBody>
          <a:bodyPr wrap="none" rtlCol="0">
            <a:spAutoFit/>
          </a:bodyPr>
          <a:lstStyle/>
          <a:p>
            <a:r>
              <a:rPr lang="en-US" altLang="ko-KR" sz="2000" b="1" dirty="0" err="1"/>
              <a:t>Nếu</a:t>
            </a:r>
            <a:r>
              <a:rPr lang="en-US" altLang="ko-KR" sz="2000" b="1" dirty="0"/>
              <a:t> </a:t>
            </a:r>
            <a:r>
              <a:rPr lang="en-US" altLang="ko-KR" sz="2000" b="1" dirty="0" err="1"/>
              <a:t>dụng</a:t>
            </a:r>
            <a:r>
              <a:rPr lang="en-US" altLang="ko-KR" sz="2000" b="1" dirty="0"/>
              <a:t> </a:t>
            </a:r>
            <a:r>
              <a:rPr lang="en-US" altLang="ko-KR" sz="2000" b="1" dirty="0" err="1"/>
              <a:t>cụ</a:t>
            </a:r>
            <a:r>
              <a:rPr lang="en-US" altLang="ko-KR" sz="2000" b="1" dirty="0"/>
              <a:t> </a:t>
            </a:r>
            <a:r>
              <a:rPr lang="en-US" altLang="ko-KR" sz="2000" b="1" dirty="0" err="1"/>
              <a:t>đo</a:t>
            </a:r>
            <a:r>
              <a:rPr lang="en-US" altLang="ko-KR" sz="2000" b="1" dirty="0"/>
              <a:t> </a:t>
            </a:r>
            <a:r>
              <a:rPr lang="en-US" altLang="ko-KR" sz="2000" b="1" dirty="0" err="1"/>
              <a:t>lường</a:t>
            </a:r>
            <a:r>
              <a:rPr lang="en-US" altLang="ko-KR" sz="2000" b="1" dirty="0"/>
              <a:t> </a:t>
            </a:r>
            <a:r>
              <a:rPr lang="en-US" altLang="ko-KR" sz="2000" b="1" dirty="0" err="1"/>
              <a:t>bị</a:t>
            </a:r>
            <a:r>
              <a:rPr lang="en-US" altLang="ko-KR" sz="2000" b="1" dirty="0"/>
              <a:t> </a:t>
            </a:r>
            <a:r>
              <a:rPr lang="en-US" altLang="ko-KR" sz="2000" b="1" dirty="0" err="1"/>
              <a:t>lỗi</a:t>
            </a:r>
            <a:r>
              <a:rPr lang="en-US" altLang="ko-KR" sz="2000" b="1" dirty="0"/>
              <a:t>…</a:t>
            </a:r>
            <a:endParaRPr lang="ko-KR" altLang="en-US" sz="2000" b="1" dirty="0"/>
          </a:p>
        </p:txBody>
      </p:sp>
      <p:sp>
        <p:nvSpPr>
          <p:cNvPr id="2" name="TextBox 1"/>
          <p:cNvSpPr txBox="1"/>
          <p:nvPr/>
        </p:nvSpPr>
        <p:spPr>
          <a:xfrm>
            <a:off x="899592" y="1196752"/>
            <a:ext cx="3230372" cy="369332"/>
          </a:xfrm>
          <a:prstGeom prst="rect">
            <a:avLst/>
          </a:prstGeom>
          <a:noFill/>
        </p:spPr>
        <p:txBody>
          <a:bodyPr wrap="none" rtlCol="0">
            <a:spAutoFit/>
          </a:bodyPr>
          <a:lstStyle/>
          <a:p>
            <a:r>
              <a:rPr lang="en-US" altLang="ko-KR" dirty="0" err="1"/>
              <a:t>Nếu</a:t>
            </a:r>
            <a:r>
              <a:rPr lang="en-US" altLang="ko-KR" dirty="0"/>
              <a:t> </a:t>
            </a:r>
            <a:r>
              <a:rPr lang="en-US" altLang="ko-KR" dirty="0" err="1"/>
              <a:t>dụng</a:t>
            </a:r>
            <a:r>
              <a:rPr lang="en-US" altLang="ko-KR" dirty="0"/>
              <a:t> </a:t>
            </a:r>
            <a:r>
              <a:rPr lang="en-US" altLang="ko-KR" dirty="0" err="1"/>
              <a:t>cụ</a:t>
            </a:r>
            <a:r>
              <a:rPr lang="en-US" altLang="ko-KR" dirty="0"/>
              <a:t> </a:t>
            </a:r>
            <a:r>
              <a:rPr lang="en-US" altLang="ko-KR" dirty="0" err="1"/>
              <a:t>đo</a:t>
            </a:r>
            <a:r>
              <a:rPr lang="en-US" altLang="ko-KR" dirty="0"/>
              <a:t> </a:t>
            </a:r>
            <a:r>
              <a:rPr lang="en-US" altLang="ko-KR" dirty="0" err="1"/>
              <a:t>lường</a:t>
            </a:r>
            <a:r>
              <a:rPr lang="en-US" altLang="ko-KR" dirty="0"/>
              <a:t> </a:t>
            </a:r>
            <a:r>
              <a:rPr lang="en-US" altLang="ko-KR" dirty="0" err="1"/>
              <a:t>bị</a:t>
            </a:r>
            <a:r>
              <a:rPr lang="en-US" altLang="ko-KR" dirty="0"/>
              <a:t> </a:t>
            </a:r>
            <a:r>
              <a:rPr lang="en-US" altLang="ko-KR" dirty="0" err="1"/>
              <a:t>lỗi</a:t>
            </a:r>
            <a:endParaRPr lang="ko-KR" altLang="en-US" dirty="0"/>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a:t>
            </a:fld>
            <a:endParaRPr lang="ko-KR" altLang="en-US" dirty="0"/>
          </a:p>
        </p:txBody>
      </p:sp>
    </p:spTree>
    <p:extLst>
      <p:ext uri="{BB962C8B-B14F-4D97-AF65-F5344CB8AC3E}">
        <p14:creationId xmlns:p14="http://schemas.microsoft.com/office/powerpoint/2010/main" val="303109009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79348"/>
            <a:ext cx="2084225" cy="400110"/>
          </a:xfrm>
          <a:prstGeom prst="rect">
            <a:avLst/>
          </a:prstGeom>
          <a:noFill/>
        </p:spPr>
        <p:txBody>
          <a:bodyPr wrap="none" rtlCol="0">
            <a:spAutoFit/>
          </a:bodyPr>
          <a:lstStyle/>
          <a:p>
            <a:r>
              <a:rPr lang="en-US" altLang="ko-KR" sz="2000" b="1" dirty="0" err="1"/>
              <a:t>Đo</a:t>
            </a:r>
            <a:r>
              <a:rPr lang="en-US" altLang="ko-KR" sz="2000" b="1" dirty="0"/>
              <a:t> </a:t>
            </a:r>
            <a:r>
              <a:rPr lang="en-US" altLang="ko-KR" sz="2000" b="1" dirty="0" err="1"/>
              <a:t>lường</a:t>
            </a:r>
            <a:r>
              <a:rPr lang="en-US" altLang="ko-KR" sz="2000" b="1" dirty="0"/>
              <a:t> </a:t>
            </a:r>
            <a:r>
              <a:rPr lang="en-US" altLang="ko-KR" sz="2000" b="1" dirty="0" err="1"/>
              <a:t>là</a:t>
            </a:r>
            <a:r>
              <a:rPr lang="en-US" altLang="ko-KR" sz="2000" b="1" dirty="0"/>
              <a:t> </a:t>
            </a:r>
            <a:r>
              <a:rPr lang="en-US" altLang="ko-KR" sz="2000" b="1" dirty="0" err="1"/>
              <a:t>gì</a:t>
            </a:r>
            <a:r>
              <a:rPr lang="en-US" altLang="ko-KR" sz="2000" b="1" dirty="0"/>
              <a:t> </a:t>
            </a:r>
            <a:endParaRPr lang="ko-KR" altLang="en-US" sz="2000" b="1" dirty="0"/>
          </a:p>
        </p:txBody>
      </p:sp>
      <p:sp>
        <p:nvSpPr>
          <p:cNvPr id="3" name="TextBox 2"/>
          <p:cNvSpPr txBox="1"/>
          <p:nvPr/>
        </p:nvSpPr>
        <p:spPr>
          <a:xfrm>
            <a:off x="539553" y="889556"/>
            <a:ext cx="8064895" cy="738664"/>
          </a:xfrm>
          <a:prstGeom prst="rect">
            <a:avLst/>
          </a:prstGeom>
          <a:noFill/>
        </p:spPr>
        <p:txBody>
          <a:bodyPr wrap="square" rtlCol="0">
            <a:spAutoFit/>
          </a:bodyPr>
          <a:lstStyle/>
          <a:p>
            <a:r>
              <a:rPr lang="en-US" altLang="ko-KR" sz="1400" dirty="0" err="1"/>
              <a:t>Đo</a:t>
            </a:r>
            <a:r>
              <a:rPr lang="en-US" altLang="ko-KR" sz="1400" dirty="0"/>
              <a:t> </a:t>
            </a:r>
            <a:r>
              <a:rPr lang="en-US" altLang="ko-KR" sz="1400" dirty="0" err="1"/>
              <a:t>lường</a:t>
            </a:r>
            <a:r>
              <a:rPr lang="en-US" altLang="ko-KR" sz="1400" dirty="0"/>
              <a:t> </a:t>
            </a:r>
            <a:r>
              <a:rPr lang="en-US" altLang="ko-KR" sz="1400" dirty="0" err="1"/>
              <a:t>là</a:t>
            </a:r>
            <a:r>
              <a:rPr lang="en-US" altLang="ko-KR" sz="1400" dirty="0"/>
              <a:t> </a:t>
            </a:r>
            <a:r>
              <a:rPr lang="en-US" altLang="ko-KR" sz="1400" dirty="0" err="1"/>
              <a:t>khi</a:t>
            </a:r>
            <a:r>
              <a:rPr lang="en-US" altLang="ko-KR" sz="1400" dirty="0"/>
              <a:t> </a:t>
            </a:r>
            <a:r>
              <a:rPr lang="en-US" altLang="ko-KR" sz="1400" dirty="0" err="1"/>
              <a:t>muốn</a:t>
            </a:r>
            <a:r>
              <a:rPr lang="en-US" altLang="ko-KR" sz="1400" dirty="0"/>
              <a:t> </a:t>
            </a:r>
            <a:r>
              <a:rPr lang="en-US" altLang="ko-KR" sz="1400" dirty="0" err="1"/>
              <a:t>biết</a:t>
            </a:r>
            <a:r>
              <a:rPr lang="en-US" altLang="ko-KR" sz="1400" dirty="0"/>
              <a:t> </a:t>
            </a:r>
            <a:r>
              <a:rPr lang="en-US" altLang="ko-KR" sz="1400" dirty="0" err="1"/>
              <a:t>độ</a:t>
            </a:r>
            <a:r>
              <a:rPr lang="en-US" altLang="ko-KR" sz="1400" dirty="0"/>
              <a:t> </a:t>
            </a:r>
            <a:r>
              <a:rPr lang="en-US" altLang="ko-KR" sz="1400" dirty="0" err="1"/>
              <a:t>dài</a:t>
            </a:r>
            <a:r>
              <a:rPr lang="en-US" altLang="ko-KR" sz="1400" dirty="0"/>
              <a:t>, </a:t>
            </a:r>
            <a:r>
              <a:rPr lang="en-US" altLang="ko-KR" sz="1400" dirty="0" err="1"/>
              <a:t>cân</a:t>
            </a:r>
            <a:r>
              <a:rPr lang="en-US" altLang="ko-KR" sz="1400" dirty="0"/>
              <a:t> </a:t>
            </a:r>
            <a:r>
              <a:rPr lang="en-US" altLang="ko-KR" sz="1400" dirty="0" err="1"/>
              <a:t>nặng</a:t>
            </a:r>
            <a:r>
              <a:rPr lang="en-US" altLang="ko-KR" sz="1400" dirty="0"/>
              <a:t> … </a:t>
            </a:r>
            <a:r>
              <a:rPr lang="en-US" altLang="ko-KR" sz="1400" dirty="0" err="1"/>
              <a:t>của</a:t>
            </a:r>
            <a:r>
              <a:rPr lang="en-US" altLang="ko-KR" sz="1400" dirty="0"/>
              <a:t> </a:t>
            </a:r>
            <a:r>
              <a:rPr lang="en-US" altLang="ko-KR" sz="1400" dirty="0" err="1"/>
              <a:t>một</a:t>
            </a:r>
            <a:r>
              <a:rPr lang="en-US" altLang="ko-KR" sz="1400" dirty="0"/>
              <a:t> </a:t>
            </a:r>
            <a:r>
              <a:rPr lang="en-US" altLang="ko-KR" sz="1400" dirty="0" err="1"/>
              <a:t>vật</a:t>
            </a:r>
            <a:r>
              <a:rPr lang="en-US" altLang="ko-KR" sz="1400" dirty="0"/>
              <a:t> </a:t>
            </a:r>
            <a:r>
              <a:rPr lang="en-US" altLang="ko-KR" sz="1400" dirty="0" err="1"/>
              <a:t>nào</a:t>
            </a:r>
            <a:r>
              <a:rPr lang="en-US" altLang="ko-KR" sz="1400" dirty="0"/>
              <a:t> </a:t>
            </a:r>
            <a:r>
              <a:rPr lang="en-US" altLang="ko-KR" sz="1400" dirty="0" err="1"/>
              <a:t>đó</a:t>
            </a:r>
            <a:r>
              <a:rPr lang="en-US" altLang="ko-KR" sz="1400" dirty="0"/>
              <a:t> </a:t>
            </a:r>
            <a:r>
              <a:rPr lang="en-US" altLang="ko-KR" sz="1400" dirty="0" err="1"/>
              <a:t>ta</a:t>
            </a:r>
            <a:r>
              <a:rPr lang="en-US" altLang="ko-KR" sz="1400" dirty="0"/>
              <a:t> </a:t>
            </a:r>
            <a:r>
              <a:rPr lang="en-US" altLang="ko-KR" sz="1400" dirty="0" err="1"/>
              <a:t>sử</a:t>
            </a:r>
            <a:r>
              <a:rPr lang="en-US" altLang="ko-KR" sz="1400" dirty="0"/>
              <a:t> </a:t>
            </a:r>
            <a:r>
              <a:rPr lang="en-US" altLang="ko-KR" sz="1400" dirty="0" err="1"/>
              <a:t>dụng</a:t>
            </a:r>
            <a:r>
              <a:rPr lang="en-US" altLang="ko-KR" sz="1400" dirty="0"/>
              <a:t> </a:t>
            </a:r>
            <a:r>
              <a:rPr lang="en-US" altLang="ko-KR" sz="1400" dirty="0" err="1"/>
              <a:t>thước</a:t>
            </a:r>
            <a:r>
              <a:rPr lang="en-US" altLang="ko-KR" sz="1400" dirty="0"/>
              <a:t>, </a:t>
            </a:r>
            <a:r>
              <a:rPr lang="en-US" altLang="ko-KR" sz="1400" dirty="0" err="1"/>
              <a:t>cân</a:t>
            </a:r>
            <a:r>
              <a:rPr lang="en-US" altLang="ko-KR" sz="1400" dirty="0"/>
              <a:t>, </a:t>
            </a:r>
            <a:r>
              <a:rPr lang="en-US" altLang="ko-KR" sz="1400" dirty="0" err="1"/>
              <a:t>máy</a:t>
            </a:r>
            <a:r>
              <a:rPr lang="en-US" altLang="ko-KR" sz="1400" dirty="0"/>
              <a:t> </a:t>
            </a:r>
            <a:r>
              <a:rPr lang="en-US" altLang="ko-KR" sz="1400" dirty="0" err="1"/>
              <a:t>móc</a:t>
            </a:r>
            <a:r>
              <a:rPr lang="en-US" altLang="ko-KR" sz="1400" dirty="0"/>
              <a:t> </a:t>
            </a:r>
            <a:r>
              <a:rPr lang="en-US" altLang="ko-KR" sz="1400" dirty="0" err="1"/>
              <a:t>hoặc</a:t>
            </a:r>
            <a:r>
              <a:rPr lang="en-US" altLang="ko-KR" sz="1400" dirty="0"/>
              <a:t> </a:t>
            </a:r>
            <a:r>
              <a:rPr lang="en-US" altLang="ko-KR" sz="1400" dirty="0" err="1"/>
              <a:t>các</a:t>
            </a:r>
            <a:r>
              <a:rPr lang="en-US" altLang="ko-KR" sz="1400" dirty="0"/>
              <a:t> </a:t>
            </a:r>
            <a:r>
              <a:rPr lang="en-US" altLang="ko-KR" sz="1400" dirty="0" err="1"/>
              <a:t>trang</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cần</a:t>
            </a:r>
            <a:r>
              <a:rPr lang="en-US" altLang="ko-KR" sz="1400" dirty="0"/>
              <a:t> </a:t>
            </a:r>
            <a:r>
              <a:rPr lang="en-US" altLang="ko-KR" sz="1400" dirty="0" err="1"/>
              <a:t>thiết</a:t>
            </a:r>
            <a:r>
              <a:rPr lang="en-US" altLang="ko-KR" sz="1400" dirty="0"/>
              <a:t> </a:t>
            </a:r>
            <a:r>
              <a:rPr lang="en-US" altLang="ko-KR" sz="1400" dirty="0" err="1"/>
              <a:t>để</a:t>
            </a:r>
            <a:r>
              <a:rPr lang="en-US" altLang="ko-KR" sz="1400" dirty="0"/>
              <a:t> </a:t>
            </a:r>
            <a:r>
              <a:rPr lang="en-US" altLang="ko-KR" sz="1400" dirty="0" err="1"/>
              <a:t>biểu</a:t>
            </a:r>
            <a:r>
              <a:rPr lang="en-US" altLang="ko-KR" sz="1400" dirty="0"/>
              <a:t> </a:t>
            </a:r>
            <a:r>
              <a:rPr lang="en-US" altLang="ko-KR" sz="1400" dirty="0" err="1"/>
              <a:t>thị</a:t>
            </a:r>
            <a:r>
              <a:rPr lang="en-US" altLang="ko-KR" sz="1400" dirty="0"/>
              <a:t> </a:t>
            </a:r>
            <a:r>
              <a:rPr lang="en-US" altLang="ko-KR" sz="1400" dirty="0" err="1"/>
              <a:t>hình</a:t>
            </a:r>
            <a:r>
              <a:rPr lang="en-US" altLang="ko-KR" sz="1400" dirty="0"/>
              <a:t> </a:t>
            </a:r>
            <a:r>
              <a:rPr lang="en-US" altLang="ko-KR" sz="1400" dirty="0" err="1"/>
              <a:t>thái</a:t>
            </a:r>
            <a:r>
              <a:rPr lang="en-US" altLang="ko-KR" sz="1400" dirty="0"/>
              <a:t>/</a:t>
            </a:r>
            <a:r>
              <a:rPr lang="en-US" altLang="ko-KR" sz="1400" dirty="0" err="1"/>
              <a:t>hình</a:t>
            </a:r>
            <a:r>
              <a:rPr lang="en-US" altLang="ko-KR" sz="1400" dirty="0"/>
              <a:t> </a:t>
            </a:r>
            <a:r>
              <a:rPr lang="en-US" altLang="ko-KR" sz="1400" dirty="0" err="1"/>
              <a:t>thức</a:t>
            </a:r>
            <a:r>
              <a:rPr lang="en-US" altLang="ko-KR" sz="1400" dirty="0"/>
              <a:t> </a:t>
            </a:r>
            <a:r>
              <a:rPr lang="en-US" altLang="ko-KR" sz="1400" dirty="0" err="1"/>
              <a:t>hoặc</a:t>
            </a:r>
            <a:r>
              <a:rPr lang="en-US" altLang="ko-KR" sz="1400" dirty="0"/>
              <a:t> </a:t>
            </a:r>
            <a:r>
              <a:rPr lang="en-US" altLang="ko-KR" sz="1400" dirty="0" err="1"/>
              <a:t>các</a:t>
            </a:r>
            <a:r>
              <a:rPr lang="en-US" altLang="ko-KR" sz="1400" dirty="0"/>
              <a:t> </a:t>
            </a:r>
            <a:r>
              <a:rPr lang="en-US" altLang="ko-KR" sz="1400" dirty="0" err="1"/>
              <a:t>chỉ</a:t>
            </a:r>
            <a:r>
              <a:rPr lang="en-US" altLang="ko-KR" sz="1400" dirty="0"/>
              <a:t> </a:t>
            </a:r>
            <a:r>
              <a:rPr lang="en-US" altLang="ko-KR" sz="1400" dirty="0" err="1"/>
              <a:t>số</a:t>
            </a:r>
            <a:r>
              <a:rPr lang="en-US" altLang="ko-KR" sz="1400" dirty="0"/>
              <a:t> </a:t>
            </a:r>
            <a:r>
              <a:rPr lang="en-US" altLang="ko-KR" sz="1400" dirty="0" err="1"/>
              <a:t>của</a:t>
            </a:r>
            <a:r>
              <a:rPr lang="en-US" altLang="ko-KR" sz="1400" dirty="0"/>
              <a:t> </a:t>
            </a:r>
            <a:r>
              <a:rPr lang="en-US" altLang="ko-KR" sz="1400" dirty="0" err="1"/>
              <a:t>sản</a:t>
            </a:r>
            <a:r>
              <a:rPr lang="en-US" altLang="ko-KR" sz="1400" dirty="0"/>
              <a:t> </a:t>
            </a:r>
            <a:r>
              <a:rPr lang="en-US" altLang="ko-KR" sz="1400" dirty="0" err="1"/>
              <a:t>phẩm</a:t>
            </a:r>
            <a:r>
              <a:rPr lang="en-US" altLang="ko-KR" sz="1400" dirty="0"/>
              <a:t> </a:t>
            </a:r>
            <a:r>
              <a:rPr lang="en-US" altLang="ko-KR" sz="1400" dirty="0" err="1"/>
              <a:t>thông</a:t>
            </a:r>
            <a:r>
              <a:rPr lang="en-US" altLang="ko-KR" sz="1400" dirty="0"/>
              <a:t> qua </a:t>
            </a:r>
            <a:r>
              <a:rPr lang="en-US" altLang="ko-KR" sz="1400" dirty="0" err="1"/>
              <a:t>những</a:t>
            </a:r>
            <a:r>
              <a:rPr lang="en-US" altLang="ko-KR" sz="1400" dirty="0"/>
              <a:t> con </a:t>
            </a:r>
            <a:r>
              <a:rPr lang="en-US" altLang="ko-KR" sz="1400" dirty="0" err="1"/>
              <a:t>số</a:t>
            </a:r>
            <a:r>
              <a:rPr lang="en-US" altLang="ko-KR" sz="1400" dirty="0"/>
              <a:t> </a:t>
            </a:r>
          </a:p>
        </p:txBody>
      </p:sp>
      <p:sp>
        <p:nvSpPr>
          <p:cNvPr id="4" name="TextBox 3"/>
          <p:cNvSpPr txBox="1"/>
          <p:nvPr/>
        </p:nvSpPr>
        <p:spPr>
          <a:xfrm>
            <a:off x="539552" y="1700808"/>
            <a:ext cx="3491661" cy="307777"/>
          </a:xfrm>
          <a:prstGeom prst="rect">
            <a:avLst/>
          </a:prstGeom>
          <a:noFill/>
        </p:spPr>
        <p:txBody>
          <a:bodyPr wrap="none" rtlCol="0">
            <a:spAutoFit/>
          </a:bodyPr>
          <a:lstStyle/>
          <a:p>
            <a:r>
              <a:rPr lang="en-US" altLang="ko-KR" sz="1400" dirty="0" err="1"/>
              <a:t>Mức</a:t>
            </a:r>
            <a:r>
              <a:rPr lang="en-US" altLang="ko-KR" sz="1400" dirty="0"/>
              <a:t> </a:t>
            </a:r>
            <a:r>
              <a:rPr lang="en-US" altLang="ko-KR" sz="1400" dirty="0" err="1"/>
              <a:t>độ</a:t>
            </a:r>
            <a:r>
              <a:rPr lang="en-US" altLang="ko-KR" sz="1400" dirty="0"/>
              <a:t> tin </a:t>
            </a:r>
            <a:r>
              <a:rPr lang="en-US" altLang="ko-KR" sz="1400" dirty="0" err="1"/>
              <a:t>tưởng</a:t>
            </a:r>
            <a:r>
              <a:rPr lang="en-US" altLang="ko-KR" sz="1400" dirty="0"/>
              <a:t> </a:t>
            </a:r>
            <a:r>
              <a:rPr lang="en-US" altLang="ko-KR" sz="1400" dirty="0" err="1"/>
              <a:t>của</a:t>
            </a:r>
            <a:r>
              <a:rPr lang="en-US" altLang="ko-KR" sz="1400" dirty="0"/>
              <a:t> </a:t>
            </a:r>
            <a:r>
              <a:rPr lang="en-US" altLang="ko-KR" sz="1400" dirty="0" err="1"/>
              <a:t>dữ</a:t>
            </a:r>
            <a:r>
              <a:rPr lang="en-US" altLang="ko-KR" sz="1400" dirty="0"/>
              <a:t> </a:t>
            </a:r>
            <a:r>
              <a:rPr lang="en-US" altLang="ko-KR" sz="1400" dirty="0" err="1"/>
              <a:t>liệu</a:t>
            </a:r>
            <a:r>
              <a:rPr lang="en-US" altLang="ko-KR" sz="1400" dirty="0"/>
              <a:t> </a:t>
            </a:r>
            <a:r>
              <a:rPr lang="en-US" altLang="ko-KR" sz="1400" dirty="0" err="1"/>
              <a:t>đo</a:t>
            </a:r>
            <a:r>
              <a:rPr lang="en-US" altLang="ko-KR" sz="1400" dirty="0"/>
              <a:t> </a:t>
            </a:r>
            <a:r>
              <a:rPr lang="en-US" altLang="ko-KR" sz="1400" dirty="0" err="1"/>
              <a:t>lường</a:t>
            </a:r>
            <a:endParaRPr lang="ko-KR" altLang="en-US" sz="1400" dirty="0"/>
          </a:p>
        </p:txBody>
      </p:sp>
      <p:sp>
        <p:nvSpPr>
          <p:cNvPr id="5" name="TextBox 4"/>
          <p:cNvSpPr txBox="1"/>
          <p:nvPr/>
        </p:nvSpPr>
        <p:spPr>
          <a:xfrm>
            <a:off x="539552" y="1988840"/>
            <a:ext cx="8563563" cy="738664"/>
          </a:xfrm>
          <a:prstGeom prst="rect">
            <a:avLst/>
          </a:prstGeom>
          <a:noFill/>
        </p:spPr>
        <p:txBody>
          <a:bodyPr wrap="none" rtlCol="0">
            <a:spAutoFit/>
          </a:bodyPr>
          <a:lstStyle/>
          <a:p>
            <a:r>
              <a:rPr lang="en-US" altLang="ko-KR" sz="1400" dirty="0" err="1"/>
              <a:t>Nếu</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đo</a:t>
            </a:r>
            <a:r>
              <a:rPr lang="en-US" altLang="ko-KR" sz="1400" dirty="0"/>
              <a:t> </a:t>
            </a:r>
            <a:r>
              <a:rPr lang="en-US" altLang="ko-KR" sz="1400" dirty="0" err="1"/>
              <a:t>lường</a:t>
            </a:r>
            <a:r>
              <a:rPr lang="en-US" altLang="ko-KR" sz="1400" dirty="0"/>
              <a:t> </a:t>
            </a:r>
            <a:r>
              <a:rPr lang="en-US" altLang="ko-KR" sz="1400" dirty="0" err="1"/>
              <a:t>đồng</a:t>
            </a:r>
            <a:r>
              <a:rPr lang="en-US" altLang="ko-KR" sz="1400" dirty="0"/>
              <a:t> </a:t>
            </a:r>
            <a:r>
              <a:rPr lang="en-US" altLang="ko-KR" sz="1400" dirty="0" err="1"/>
              <a:t>nhất</a:t>
            </a:r>
            <a:r>
              <a:rPr lang="en-US" altLang="ko-KR" sz="1400" dirty="0"/>
              <a:t> </a:t>
            </a:r>
            <a:r>
              <a:rPr lang="en-US" altLang="ko-KR" sz="1400" dirty="0" err="1"/>
              <a:t>với</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theo</a:t>
            </a:r>
            <a:r>
              <a:rPr lang="en-US" altLang="ko-KR" sz="1400" dirty="0"/>
              <a:t> </a:t>
            </a:r>
            <a:r>
              <a:rPr lang="en-US" altLang="ko-KR" sz="1400" dirty="0" err="1"/>
              <a:t>như</a:t>
            </a:r>
            <a:r>
              <a:rPr lang="en-US" altLang="ko-KR" sz="1400" dirty="0"/>
              <a:t> </a:t>
            </a:r>
            <a:r>
              <a:rPr lang="en-US" altLang="ko-KR" sz="1400" dirty="0" err="1"/>
              <a:t>môi</a:t>
            </a:r>
            <a:r>
              <a:rPr lang="en-US" altLang="ko-KR" sz="1400" dirty="0"/>
              <a:t> </a:t>
            </a:r>
            <a:r>
              <a:rPr lang="en-US" altLang="ko-KR" sz="1400" dirty="0" err="1"/>
              <a:t>trường</a:t>
            </a:r>
            <a:r>
              <a:rPr lang="en-US" altLang="ko-KR" sz="1400" dirty="0"/>
              <a:t>, </a:t>
            </a:r>
            <a:r>
              <a:rPr lang="en-US" altLang="ko-KR" sz="1400" dirty="0" err="1"/>
              <a:t>thời</a:t>
            </a:r>
            <a:r>
              <a:rPr lang="en-US" altLang="ko-KR" sz="1400" dirty="0"/>
              <a:t> </a:t>
            </a:r>
            <a:r>
              <a:rPr lang="en-US" altLang="ko-KR" sz="1400" dirty="0" err="1"/>
              <a:t>gian</a:t>
            </a:r>
            <a:r>
              <a:rPr lang="en-US" altLang="ko-KR" sz="1400" dirty="0"/>
              <a:t> </a:t>
            </a:r>
            <a:r>
              <a:rPr lang="en-US" altLang="ko-KR" sz="1400" dirty="0" err="1"/>
              <a:t>và</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lường</a:t>
            </a:r>
            <a:r>
              <a:rPr lang="en-US" altLang="ko-KR" sz="1400" dirty="0"/>
              <a:t>;</a:t>
            </a:r>
          </a:p>
          <a:p>
            <a:r>
              <a:rPr lang="en-US" altLang="ko-KR" sz="1400" dirty="0" err="1"/>
              <a:t>ta</a:t>
            </a:r>
            <a:r>
              <a:rPr lang="en-US" altLang="ko-KR" sz="1400" dirty="0"/>
              <a:t> </a:t>
            </a:r>
            <a:r>
              <a:rPr lang="en-US" altLang="ko-KR" sz="1400" dirty="0" err="1"/>
              <a:t>có</a:t>
            </a:r>
            <a:r>
              <a:rPr lang="en-US" altLang="ko-KR" sz="1400" dirty="0"/>
              <a:t> </a:t>
            </a:r>
            <a:r>
              <a:rPr lang="en-US" altLang="ko-KR" sz="1400" dirty="0" err="1"/>
              <a:t>thể</a:t>
            </a:r>
            <a:r>
              <a:rPr lang="en-US" altLang="ko-KR" sz="1400" dirty="0"/>
              <a:t> </a:t>
            </a:r>
            <a:r>
              <a:rPr lang="en-US" altLang="ko-KR" sz="1400" dirty="0" err="1"/>
              <a:t>coi</a:t>
            </a:r>
            <a:r>
              <a:rPr lang="en-US" altLang="ko-KR" sz="1400" dirty="0"/>
              <a:t> </a:t>
            </a:r>
            <a:r>
              <a:rPr lang="en-US" altLang="ko-KR" sz="1400" dirty="0" err="1"/>
              <a:t>dữ</a:t>
            </a:r>
            <a:r>
              <a:rPr lang="en-US" altLang="ko-KR" sz="1400" dirty="0"/>
              <a:t> </a:t>
            </a:r>
            <a:r>
              <a:rPr lang="en-US" altLang="ko-KR" sz="1400" dirty="0" err="1"/>
              <a:t>liệu</a:t>
            </a:r>
            <a:r>
              <a:rPr lang="en-US" altLang="ko-KR" sz="1400" dirty="0"/>
              <a:t> </a:t>
            </a:r>
            <a:r>
              <a:rPr lang="en-US" altLang="ko-KR" sz="1400" dirty="0" err="1"/>
              <a:t>có</a:t>
            </a:r>
            <a:r>
              <a:rPr lang="en-US" altLang="ko-KR" sz="1400" dirty="0"/>
              <a:t> </a:t>
            </a:r>
            <a:r>
              <a:rPr lang="en-US" altLang="ko-KR" sz="1400" dirty="0" err="1"/>
              <a:t>độ</a:t>
            </a:r>
            <a:r>
              <a:rPr lang="en-US" altLang="ko-KR" sz="1400" dirty="0"/>
              <a:t> tin </a:t>
            </a:r>
            <a:r>
              <a:rPr lang="en-US" altLang="ko-KR" sz="1400" dirty="0" err="1"/>
              <a:t>cậy</a:t>
            </a:r>
            <a:r>
              <a:rPr lang="en-US" altLang="ko-KR" sz="1400" dirty="0"/>
              <a:t> </a:t>
            </a:r>
            <a:r>
              <a:rPr lang="en-US" altLang="ko-KR" sz="1400" dirty="0" err="1"/>
              <a:t>cao</a:t>
            </a:r>
            <a:r>
              <a:rPr lang="en-US" altLang="ko-KR" sz="1400" dirty="0"/>
              <a:t>; </a:t>
            </a:r>
            <a:r>
              <a:rPr lang="en-US" altLang="ko-KR" sz="1400" dirty="0" err="1"/>
              <a:t>nếu</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đo</a:t>
            </a:r>
            <a:r>
              <a:rPr lang="en-US" altLang="ko-KR" sz="1400" dirty="0"/>
              <a:t> </a:t>
            </a:r>
            <a:r>
              <a:rPr lang="en-US" altLang="ko-KR" sz="1400" dirty="0" err="1"/>
              <a:t>lường</a:t>
            </a:r>
            <a:r>
              <a:rPr lang="en-US" altLang="ko-KR" sz="1400" dirty="0"/>
              <a:t> </a:t>
            </a:r>
            <a:r>
              <a:rPr lang="en-US" altLang="ko-KR" sz="1400" dirty="0" err="1"/>
              <a:t>không</a:t>
            </a:r>
            <a:r>
              <a:rPr lang="en-US" altLang="ko-KR" sz="1400" dirty="0"/>
              <a:t> </a:t>
            </a:r>
            <a:r>
              <a:rPr lang="en-US" altLang="ko-KR" sz="1400" dirty="0" err="1"/>
              <a:t>đồng</a:t>
            </a:r>
            <a:r>
              <a:rPr lang="en-US" altLang="ko-KR" sz="1400" dirty="0"/>
              <a:t> </a:t>
            </a:r>
            <a:r>
              <a:rPr lang="en-US" altLang="ko-KR" sz="1400" dirty="0" err="1"/>
              <a:t>nhất</a:t>
            </a:r>
            <a:r>
              <a:rPr lang="en-US" altLang="ko-KR" sz="1400" dirty="0"/>
              <a:t> </a:t>
            </a:r>
            <a:r>
              <a:rPr lang="en-US" altLang="ko-KR" sz="1400" dirty="0" err="1"/>
              <a:t>thì</a:t>
            </a:r>
            <a:r>
              <a:rPr lang="en-US" altLang="ko-KR" sz="1400" dirty="0"/>
              <a:t> </a:t>
            </a:r>
            <a:r>
              <a:rPr lang="en-US" altLang="ko-KR" sz="1400" dirty="0" err="1"/>
              <a:t>độ</a:t>
            </a:r>
            <a:r>
              <a:rPr lang="en-US" altLang="ko-KR" sz="1400" dirty="0"/>
              <a:t> tin </a:t>
            </a:r>
            <a:r>
              <a:rPr lang="en-US" altLang="ko-KR" sz="1400" dirty="0" err="1"/>
              <a:t>cậy</a:t>
            </a:r>
            <a:r>
              <a:rPr lang="en-US" altLang="ko-KR" sz="1400" dirty="0"/>
              <a:t> </a:t>
            </a:r>
            <a:r>
              <a:rPr lang="en-US" altLang="ko-KR" sz="1400" dirty="0" err="1"/>
              <a:t>là</a:t>
            </a:r>
            <a:r>
              <a:rPr lang="en-US" altLang="ko-KR" sz="1400" dirty="0"/>
              <a:t> </a:t>
            </a:r>
            <a:r>
              <a:rPr lang="en-US" altLang="ko-KR" sz="1400" dirty="0" err="1"/>
              <a:t>thấp</a:t>
            </a:r>
            <a:r>
              <a:rPr lang="en-US" altLang="ko-KR" sz="1400" dirty="0"/>
              <a:t>.</a:t>
            </a:r>
          </a:p>
          <a:p>
            <a:r>
              <a:rPr lang="en-US" altLang="ko-KR" sz="1400" dirty="0"/>
              <a:t> </a:t>
            </a:r>
            <a:endParaRPr lang="ko-KR" altLang="en-US" sz="1400" dirty="0"/>
          </a:p>
        </p:txBody>
      </p:sp>
      <p:sp>
        <p:nvSpPr>
          <p:cNvPr id="8" name="TextBox 7"/>
          <p:cNvSpPr txBox="1"/>
          <p:nvPr/>
        </p:nvSpPr>
        <p:spPr>
          <a:xfrm>
            <a:off x="523095" y="2761183"/>
            <a:ext cx="4001416" cy="307777"/>
          </a:xfrm>
          <a:prstGeom prst="rect">
            <a:avLst/>
          </a:prstGeom>
          <a:noFill/>
        </p:spPr>
        <p:txBody>
          <a:bodyPr wrap="none" rtlCol="0">
            <a:spAutoFit/>
          </a:bodyPr>
          <a:lstStyle/>
          <a:p>
            <a:r>
              <a:rPr lang="en-US" altLang="ko-KR" sz="1400" dirty="0" err="1"/>
              <a:t>Đo</a:t>
            </a:r>
            <a:r>
              <a:rPr lang="en-US" altLang="ko-KR" sz="1400" dirty="0"/>
              <a:t> </a:t>
            </a:r>
            <a:r>
              <a:rPr lang="en-US" altLang="ko-KR" sz="1400" dirty="0" err="1"/>
              <a:t>độ</a:t>
            </a:r>
            <a:r>
              <a:rPr lang="en-US" altLang="ko-KR" sz="1400" dirty="0"/>
              <a:t> </a:t>
            </a:r>
            <a:r>
              <a:rPr lang="en-US" altLang="ko-KR" sz="1400" dirty="0" err="1"/>
              <a:t>dài</a:t>
            </a:r>
            <a:r>
              <a:rPr lang="en-US" altLang="ko-KR" sz="1400" dirty="0"/>
              <a:t> </a:t>
            </a:r>
            <a:r>
              <a:rPr lang="en-US" altLang="ko-KR" sz="1400" dirty="0" err="1"/>
              <a:t>của</a:t>
            </a:r>
            <a:r>
              <a:rPr lang="en-US" altLang="ko-KR" sz="1400" dirty="0"/>
              <a:t> </a:t>
            </a:r>
            <a:r>
              <a:rPr lang="en-US" altLang="ko-KR" sz="1400" dirty="0" err="1"/>
              <a:t>cây</a:t>
            </a:r>
            <a:r>
              <a:rPr lang="en-US" altLang="ko-KR" sz="1400" dirty="0"/>
              <a:t> </a:t>
            </a:r>
            <a:r>
              <a:rPr lang="en-US" altLang="ko-KR" sz="1400" dirty="0" err="1"/>
              <a:t>bút</a:t>
            </a:r>
            <a:r>
              <a:rPr lang="en-US" altLang="ko-KR" sz="1400" dirty="0"/>
              <a:t> </a:t>
            </a:r>
            <a:r>
              <a:rPr lang="en-US" altLang="ko-KR" sz="1400" dirty="0" err="1"/>
              <a:t>chì</a:t>
            </a:r>
            <a:r>
              <a:rPr lang="en-US" altLang="ko-KR" sz="1400" dirty="0"/>
              <a:t> </a:t>
            </a:r>
            <a:r>
              <a:rPr lang="en-US" altLang="ko-KR" sz="1400" dirty="0" err="1"/>
              <a:t>theo</a:t>
            </a:r>
            <a:r>
              <a:rPr lang="en-US" altLang="ko-KR" sz="1400" dirty="0"/>
              <a:t> </a:t>
            </a:r>
            <a:r>
              <a:rPr lang="en-US" altLang="ko-KR" sz="1400" dirty="0" err="1"/>
              <a:t>ví</a:t>
            </a:r>
            <a:r>
              <a:rPr lang="en-US" altLang="ko-KR" sz="1400" dirty="0"/>
              <a:t> </a:t>
            </a:r>
            <a:r>
              <a:rPr lang="en-US" altLang="ko-KR" sz="1400" dirty="0" err="1"/>
              <a:t>dụ</a:t>
            </a:r>
            <a:r>
              <a:rPr lang="en-US" altLang="ko-KR" sz="1400" dirty="0"/>
              <a:t> </a:t>
            </a:r>
            <a:r>
              <a:rPr lang="en-US" altLang="ko-KR" sz="1400" dirty="0" err="1"/>
              <a:t>dưới</a:t>
            </a:r>
            <a:r>
              <a:rPr lang="en-US" altLang="ko-KR" sz="1400" dirty="0"/>
              <a:t> </a:t>
            </a:r>
            <a:r>
              <a:rPr lang="en-US" altLang="ko-KR" sz="1400" dirty="0" err="1"/>
              <a:t>đây</a:t>
            </a:r>
            <a:endParaRPr lang="ko-KR" altLang="en-US" sz="1400" dirty="0"/>
          </a:p>
        </p:txBody>
      </p:sp>
      <p:pic>
        <p:nvPicPr>
          <p:cNvPr id="10" name="그림 9"/>
          <p:cNvPicPr>
            <a:picLocks noChangeAspect="1"/>
          </p:cNvPicPr>
          <p:nvPr/>
        </p:nvPicPr>
        <p:blipFill rotWithShape="1">
          <a:blip r:embed="rId2" cstate="print">
            <a:extLst>
              <a:ext uri="{28A0092B-C50C-407E-A947-70E740481C1C}">
                <a14:useLocalDpi xmlns:a14="http://schemas.microsoft.com/office/drawing/2010/main" val="0"/>
              </a:ext>
            </a:extLst>
          </a:blip>
          <a:srcRect l="74957" t="54550" r="10402" b="21587"/>
          <a:stretch/>
        </p:blipFill>
        <p:spPr>
          <a:xfrm rot="5400000">
            <a:off x="1473731" y="2206789"/>
            <a:ext cx="1872209" cy="4316632"/>
          </a:xfrm>
          <a:prstGeom prst="rect">
            <a:avLst/>
          </a:prstGeom>
        </p:spPr>
      </p:pic>
      <p:sp>
        <p:nvSpPr>
          <p:cNvPr id="11" name="TextBox 10"/>
          <p:cNvSpPr txBox="1"/>
          <p:nvPr/>
        </p:nvSpPr>
        <p:spPr>
          <a:xfrm>
            <a:off x="4355976" y="3789040"/>
            <a:ext cx="4104456" cy="738664"/>
          </a:xfrm>
          <a:prstGeom prst="rect">
            <a:avLst/>
          </a:prstGeom>
          <a:noFill/>
        </p:spPr>
        <p:txBody>
          <a:bodyPr wrap="square" rtlCol="0">
            <a:spAutoFit/>
          </a:bodyPr>
          <a:lstStyle/>
          <a:p>
            <a:r>
              <a:rPr lang="en-US" altLang="ko-KR" sz="1400" dirty="0" err="1"/>
              <a:t>Lớn</a:t>
            </a:r>
            <a:r>
              <a:rPr lang="en-US" altLang="ko-KR" sz="1400" dirty="0"/>
              <a:t> </a:t>
            </a:r>
            <a:r>
              <a:rPr lang="en-US" altLang="ko-KR" sz="1400" dirty="0" err="1"/>
              <a:t>hơn</a:t>
            </a:r>
            <a:r>
              <a:rPr lang="en-US" altLang="ko-KR" sz="1400" dirty="0"/>
              <a:t> 35mm </a:t>
            </a:r>
            <a:r>
              <a:rPr lang="en-US" altLang="ko-KR" sz="1400" dirty="0" err="1"/>
              <a:t>và</a:t>
            </a:r>
            <a:r>
              <a:rPr lang="en-US" altLang="ko-KR" sz="1400" dirty="0"/>
              <a:t> </a:t>
            </a:r>
            <a:r>
              <a:rPr lang="en-US" altLang="ko-KR" sz="1400" dirty="0" err="1"/>
              <a:t>nhỏ</a:t>
            </a:r>
            <a:r>
              <a:rPr lang="en-US" altLang="ko-KR" sz="1400" dirty="0"/>
              <a:t> </a:t>
            </a:r>
            <a:r>
              <a:rPr lang="en-US" altLang="ko-KR" sz="1400" dirty="0" err="1"/>
              <a:t>hơn</a:t>
            </a:r>
            <a:r>
              <a:rPr lang="en-US" altLang="ko-KR" sz="1400" dirty="0"/>
              <a:t> 37 mm</a:t>
            </a:r>
          </a:p>
          <a:p>
            <a:endParaRPr lang="en-US" altLang="ko-KR" sz="1400" dirty="0"/>
          </a:p>
          <a:p>
            <a:r>
              <a:rPr lang="en-US" altLang="ko-KR" sz="1400" dirty="0" err="1"/>
              <a:t>Khoảng</a:t>
            </a:r>
            <a:r>
              <a:rPr lang="en-US" altLang="ko-KR" sz="1400" dirty="0"/>
              <a:t> 35.5 ~ 36.5</a:t>
            </a:r>
            <a:endParaRPr lang="ko-KR" altLang="en-US" sz="1400" dirty="0"/>
          </a:p>
        </p:txBody>
      </p: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a:t>
            </a:fld>
            <a:endParaRPr lang="ko-KR" altLang="en-US" dirty="0"/>
          </a:p>
        </p:txBody>
      </p:sp>
    </p:spTree>
    <p:extLst>
      <p:ext uri="{BB962C8B-B14F-4D97-AF65-F5344CB8AC3E}">
        <p14:creationId xmlns:p14="http://schemas.microsoft.com/office/powerpoint/2010/main" val="276609200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467544" y="836712"/>
            <a:ext cx="2392386" cy="307777"/>
          </a:xfrm>
          <a:prstGeom prst="rect">
            <a:avLst/>
          </a:prstGeom>
          <a:noFill/>
        </p:spPr>
        <p:txBody>
          <a:bodyPr wrap="none" rtlCol="0">
            <a:spAutoFit/>
          </a:bodyPr>
          <a:lstStyle/>
          <a:p>
            <a:r>
              <a:rPr lang="en-US" altLang="ko-KR" sz="1400" dirty="0"/>
              <a:t>Read voltmeter’s gradation</a:t>
            </a:r>
            <a:endParaRPr lang="ko-KR" altLang="en-US" sz="1400" dirty="0"/>
          </a:p>
        </p:txBody>
      </p:sp>
      <p:sp>
        <p:nvSpPr>
          <p:cNvPr id="9" name="TextBox 8"/>
          <p:cNvSpPr txBox="1"/>
          <p:nvPr/>
        </p:nvSpPr>
        <p:spPr>
          <a:xfrm>
            <a:off x="4644008" y="2060848"/>
            <a:ext cx="4357148" cy="1169551"/>
          </a:xfrm>
          <a:prstGeom prst="rect">
            <a:avLst/>
          </a:prstGeom>
          <a:noFill/>
        </p:spPr>
        <p:txBody>
          <a:bodyPr wrap="square" rtlCol="0">
            <a:spAutoFit/>
          </a:bodyPr>
          <a:lstStyle/>
          <a:p>
            <a:endParaRPr lang="en-US" altLang="ko-KR" sz="1400" dirty="0"/>
          </a:p>
          <a:p>
            <a:r>
              <a:rPr lang="en-US" sz="1400" dirty="0"/>
              <a:t>Approximately, Base on 5.5 V and divide in half,</a:t>
            </a:r>
          </a:p>
          <a:p>
            <a:endParaRPr lang="en-US" sz="1400" dirty="0"/>
          </a:p>
          <a:p>
            <a:r>
              <a:rPr lang="en-US" sz="1400" dirty="0"/>
              <a:t>bigger than 5.2 V and less than 5.4 V</a:t>
            </a:r>
            <a:endParaRPr lang="en-US" altLang="ko-KR" sz="1400" dirty="0"/>
          </a:p>
          <a:p>
            <a:endParaRPr lang="ko-KR" altLang="en-US" sz="1400" dirty="0"/>
          </a:p>
        </p:txBody>
      </p:sp>
      <p:pic>
        <p:nvPicPr>
          <p:cNvPr id="10" name="그림 9"/>
          <p:cNvPicPr>
            <a:picLocks noChangeAspect="1"/>
          </p:cNvPicPr>
          <p:nvPr/>
        </p:nvPicPr>
        <p:blipFill rotWithShape="1">
          <a:blip r:embed="rId2" cstate="print">
            <a:extLst>
              <a:ext uri="{28A0092B-C50C-407E-A947-70E740481C1C}">
                <a14:useLocalDpi xmlns:a14="http://schemas.microsoft.com/office/drawing/2010/main" val="0"/>
              </a:ext>
            </a:extLst>
          </a:blip>
          <a:srcRect l="26552" t="9385" r="55678" b="63528"/>
          <a:stretch/>
        </p:blipFill>
        <p:spPr>
          <a:xfrm rot="5400000">
            <a:off x="935595" y="944726"/>
            <a:ext cx="2664297" cy="3744417"/>
          </a:xfrm>
          <a:prstGeom prst="rect">
            <a:avLst/>
          </a:prstGeom>
        </p:spPr>
      </p:pic>
      <p:sp>
        <p:nvSpPr>
          <p:cNvPr id="12" name="TextBox 11"/>
          <p:cNvSpPr txBox="1"/>
          <p:nvPr/>
        </p:nvSpPr>
        <p:spPr>
          <a:xfrm>
            <a:off x="4716016" y="3789040"/>
            <a:ext cx="4213702" cy="523220"/>
          </a:xfrm>
          <a:prstGeom prst="rect">
            <a:avLst/>
          </a:prstGeom>
          <a:noFill/>
        </p:spPr>
        <p:txBody>
          <a:bodyPr wrap="square" rtlCol="0">
            <a:spAutoFit/>
          </a:bodyPr>
          <a:lstStyle/>
          <a:p>
            <a:r>
              <a:rPr lang="en-US" altLang="ko-KR" sz="1400" dirty="0"/>
              <a:t>1. </a:t>
            </a:r>
            <a:r>
              <a:rPr lang="en-US" sz="1400" dirty="0"/>
              <a:t>What should I do to measure the voltage more accurately?</a:t>
            </a:r>
            <a:endParaRPr lang="ko-KR" altLang="en-US" sz="1400" dirty="0"/>
          </a:p>
        </p:txBody>
      </p:sp>
      <p:sp>
        <p:nvSpPr>
          <p:cNvPr id="7" name="TextBox 6"/>
          <p:cNvSpPr txBox="1"/>
          <p:nvPr/>
        </p:nvSpPr>
        <p:spPr>
          <a:xfrm>
            <a:off x="4644008" y="3284984"/>
            <a:ext cx="1061509" cy="338554"/>
          </a:xfrm>
          <a:prstGeom prst="rect">
            <a:avLst/>
          </a:prstGeom>
          <a:noFill/>
        </p:spPr>
        <p:txBody>
          <a:bodyPr wrap="none" rtlCol="0">
            <a:spAutoFit/>
          </a:bodyPr>
          <a:lstStyle/>
          <a:p>
            <a:r>
              <a:rPr lang="en-US" altLang="ko-KR" sz="1600" b="1" dirty="0"/>
              <a:t>Question</a:t>
            </a:r>
            <a:endParaRPr lang="ko-KR" altLang="en-US" sz="1600" b="1" dirty="0"/>
          </a:p>
        </p:txBody>
      </p:sp>
      <p:sp>
        <p:nvSpPr>
          <p:cNvPr id="14" name="TextBox 13"/>
          <p:cNvSpPr txBox="1"/>
          <p:nvPr/>
        </p:nvSpPr>
        <p:spPr>
          <a:xfrm>
            <a:off x="179512" y="179348"/>
            <a:ext cx="2974917" cy="400110"/>
          </a:xfrm>
          <a:prstGeom prst="rect">
            <a:avLst/>
          </a:prstGeom>
          <a:noFill/>
        </p:spPr>
        <p:txBody>
          <a:bodyPr wrap="none" rtlCol="0">
            <a:spAutoFit/>
          </a:bodyPr>
          <a:lstStyle/>
          <a:p>
            <a:r>
              <a:rPr lang="en-US" altLang="ko-KR" sz="2000" b="1" dirty="0"/>
              <a:t>What is measurement?</a:t>
            </a:r>
            <a:endParaRPr lang="ko-KR" altLang="en-US" sz="2000" b="1" dirty="0"/>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a:t>
            </a:fld>
            <a:endParaRPr lang="ko-KR" altLang="en-US" dirty="0"/>
          </a:p>
        </p:txBody>
      </p:sp>
    </p:spTree>
    <p:extLst>
      <p:ext uri="{BB962C8B-B14F-4D97-AF65-F5344CB8AC3E}">
        <p14:creationId xmlns:p14="http://schemas.microsoft.com/office/powerpoint/2010/main" val="40701531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7" name="Text Box 5"/>
          <p:cNvSpPr txBox="1">
            <a:spLocks noChangeArrowheads="1"/>
          </p:cNvSpPr>
          <p:nvPr/>
        </p:nvSpPr>
        <p:spPr bwMode="auto">
          <a:xfrm>
            <a:off x="3266361" y="2854351"/>
            <a:ext cx="2193681"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lvl="0" algn="ctr" fontAlgn="base">
              <a:spcBef>
                <a:spcPct val="0"/>
              </a:spcBef>
              <a:spcAft>
                <a:spcPct val="0"/>
              </a:spcAft>
            </a:pPr>
            <a:r>
              <a:rPr lang="en-US" sz="1200" u="sng" dirty="0">
                <a:solidFill>
                  <a:srgbClr val="FF0000"/>
                </a:solidFill>
                <a:latin typeface="굴림체" pitchFamily="49" charset="-127"/>
                <a:ea typeface="굴림체" pitchFamily="49" charset="-127"/>
              </a:rPr>
              <a:t>Observed</a:t>
            </a:r>
            <a:r>
              <a:rPr lang="en-US" sz="1200" dirty="0">
                <a:latin typeface="굴림체" pitchFamily="49" charset="-127"/>
                <a:ea typeface="굴림체" pitchFamily="49" charset="-127"/>
              </a:rPr>
              <a:t> fluctuation of the product/process</a:t>
            </a:r>
            <a:endParaRPr kumimoji="1" lang="ko-KR" sz="1200" b="0" i="0" u="none" strike="noStrike" cap="none" normalizeH="0" baseline="0" dirty="0">
              <a:ln>
                <a:noFill/>
              </a:ln>
              <a:solidFill>
                <a:schemeClr val="tx1"/>
              </a:solidFill>
              <a:effectLst/>
              <a:latin typeface="굴림체" pitchFamily="49" charset="-127"/>
              <a:ea typeface="굴림체" pitchFamily="49" charset="-127"/>
            </a:endParaRPr>
          </a:p>
        </p:txBody>
      </p:sp>
      <p:sp>
        <p:nvSpPr>
          <p:cNvPr id="499728" name="Text Box 6"/>
          <p:cNvSpPr txBox="1">
            <a:spLocks noChangeArrowheads="1"/>
          </p:cNvSpPr>
          <p:nvPr/>
        </p:nvSpPr>
        <p:spPr bwMode="auto">
          <a:xfrm>
            <a:off x="1800976" y="3875113"/>
            <a:ext cx="1978935" cy="431800"/>
          </a:xfrm>
          <a:prstGeom prst="rect">
            <a:avLst/>
          </a:prstGeom>
          <a:solidFill>
            <a:schemeClr val="bg1"/>
          </a:solidFill>
          <a:ln w="9525">
            <a:solidFill>
              <a:srgbClr val="292929"/>
            </a:solid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u="sng" dirty="0">
                <a:latin typeface="Times New Roman" pitchFamily="18" charset="0"/>
                <a:ea typeface="굴림체" pitchFamily="49" charset="-127"/>
              </a:rPr>
              <a:t>Actual</a:t>
            </a:r>
            <a:r>
              <a:rPr kumimoji="1" lang="en-US" altLang="ko-KR" sz="1200" b="1" dirty="0">
                <a:latin typeface="Times New Roman" pitchFamily="18" charset="0"/>
                <a:ea typeface="굴림체" pitchFamily="49" charset="-127"/>
              </a:rPr>
              <a:t> changes in process/product</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99729" name="Text Box 7"/>
          <p:cNvSpPr txBox="1">
            <a:spLocks noChangeArrowheads="1"/>
          </p:cNvSpPr>
          <p:nvPr/>
        </p:nvSpPr>
        <p:spPr bwMode="auto">
          <a:xfrm>
            <a:off x="4920782" y="3875113"/>
            <a:ext cx="2099490" cy="431800"/>
          </a:xfrm>
          <a:prstGeom prst="rect">
            <a:avLst/>
          </a:prstGeom>
          <a:solidFill>
            <a:schemeClr val="bg1"/>
          </a:solidFill>
          <a:ln w="9525">
            <a:solidFill>
              <a:srgbClr val="292929"/>
            </a:solid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sng" strike="noStrike" cap="none" normalizeH="0" baseline="0" dirty="0">
                <a:ln>
                  <a:noFill/>
                </a:ln>
                <a:solidFill>
                  <a:schemeClr val="tx1"/>
                </a:solidFill>
                <a:effectLst/>
                <a:latin typeface="Times New Roman" pitchFamily="18" charset="0"/>
                <a:ea typeface="굴림체" pitchFamily="49" charset="-127"/>
              </a:rPr>
              <a:t>Measurement</a:t>
            </a:r>
            <a:r>
              <a:rPr kumimoji="1" lang="en-US" altLang="ko-KR" sz="1200" b="0" i="0" u="none" strike="noStrike" cap="none" normalizeH="0" baseline="0" dirty="0">
                <a:ln>
                  <a:noFill/>
                </a:ln>
                <a:solidFill>
                  <a:schemeClr val="tx1"/>
                </a:solidFill>
                <a:effectLst/>
                <a:latin typeface="Times New Roman" pitchFamily="18" charset="0"/>
                <a:ea typeface="굴림체" pitchFamily="49" charset="-127"/>
              </a:rPr>
              <a:t> variation</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of process/product</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cxnSp>
        <p:nvCxnSpPr>
          <p:cNvPr id="499730" name="AutoShape 8"/>
          <p:cNvCxnSpPr>
            <a:cxnSpLocks noChangeShapeType="1"/>
          </p:cNvCxnSpPr>
          <p:nvPr/>
        </p:nvCxnSpPr>
        <p:spPr bwMode="auto">
          <a:xfrm rot="5400000">
            <a:off x="3262759" y="2773938"/>
            <a:ext cx="588962" cy="1613389"/>
          </a:xfrm>
          <a:prstGeom prst="bentConnector3">
            <a:avLst>
              <a:gd name="adj1" fmla="val 49866"/>
            </a:avLst>
          </a:prstGeom>
          <a:noFill/>
          <a:ln w="9525">
            <a:solidFill>
              <a:srgbClr val="292929"/>
            </a:solidFill>
            <a:miter lim="800000"/>
            <a:headEnd/>
            <a:tailEnd/>
          </a:ln>
        </p:spPr>
      </p:cxnSp>
      <p:cxnSp>
        <p:nvCxnSpPr>
          <p:cNvPr id="499731" name="AutoShape 9"/>
          <p:cNvCxnSpPr>
            <a:cxnSpLocks noChangeShapeType="1"/>
          </p:cNvCxnSpPr>
          <p:nvPr/>
        </p:nvCxnSpPr>
        <p:spPr bwMode="auto">
          <a:xfrm rot="16200000" flipH="1">
            <a:off x="4848305" y="2801781"/>
            <a:ext cx="588962" cy="1557703"/>
          </a:xfrm>
          <a:prstGeom prst="bentConnector3">
            <a:avLst>
              <a:gd name="adj1" fmla="val 49866"/>
            </a:avLst>
          </a:prstGeom>
          <a:noFill/>
          <a:ln w="9525">
            <a:solidFill>
              <a:srgbClr val="292929"/>
            </a:solidFill>
            <a:miter lim="800000"/>
            <a:headEnd/>
            <a:tailEnd/>
          </a:ln>
        </p:spPr>
      </p:cxnSp>
      <p:sp>
        <p:nvSpPr>
          <p:cNvPr id="187402" name="Text Box 10"/>
          <p:cNvSpPr txBox="1">
            <a:spLocks noChangeArrowheads="1"/>
          </p:cNvSpPr>
          <p:nvPr/>
        </p:nvSpPr>
        <p:spPr bwMode="auto">
          <a:xfrm>
            <a:off x="1643042" y="4738712"/>
            <a:ext cx="944847" cy="833428"/>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Times New Roman" pitchFamily="18" charset="0"/>
                <a:ea typeface="굴림체" pitchFamily="49" charset="-127"/>
              </a:rPr>
              <a:t> </a:t>
            </a:r>
            <a:r>
              <a:rPr kumimoji="1" lang="ko-KR" sz="1200" b="1" i="0" u="none" strike="noStrike" cap="none" normalizeH="0" baseline="0" dirty="0">
                <a:ln>
                  <a:noFill/>
                </a:ln>
                <a:solidFill>
                  <a:schemeClr val="tx1"/>
                </a:solidFill>
                <a:effectLst/>
                <a:latin typeface="Times New Roman" pitchFamily="18" charset="0"/>
                <a:ea typeface="굴림체" pitchFamily="49" charset="-127"/>
              </a:rPr>
              <a:t>군간 변동</a:t>
            </a:r>
            <a:endParaRPr kumimoji="1" lang="en-US" altLang="ko-KR" sz="1200" b="1" i="0" u="none" strike="noStrike" cap="none" normalizeH="0" baseline="0" dirty="0">
              <a:ln>
                <a:noFill/>
              </a:ln>
              <a:solidFill>
                <a:schemeClr val="tx1"/>
              </a:solidFill>
              <a:effectLst/>
              <a:latin typeface="Times New Roman" pitchFamily="18" charset="0"/>
              <a:ea typeface="굴림체" pitchFamily="49" charset="-127"/>
            </a:endParaRPr>
          </a:p>
          <a:p>
            <a:pPr lvl="0" algn="ctr" fontAlgn="base">
              <a:spcBef>
                <a:spcPct val="0"/>
              </a:spcBef>
              <a:spcAft>
                <a:spcPct val="0"/>
              </a:spcAft>
            </a:pPr>
            <a:r>
              <a:rPr kumimoji="1" lang="en-US" altLang="ko-KR" sz="1200" b="1" dirty="0">
                <a:latin typeface="Times New Roman" pitchFamily="18" charset="0"/>
                <a:ea typeface="굴림체" pitchFamily="49" charset="-127"/>
              </a:rPr>
              <a:t>(</a:t>
            </a:r>
            <a:r>
              <a:rPr kumimoji="1" lang="en-US" sz="1200" b="1" dirty="0">
                <a:latin typeface="Times New Roman" pitchFamily="18" charset="0"/>
                <a:ea typeface="굴림체" pitchFamily="49" charset="-127"/>
              </a:rPr>
              <a:t>Group variation)</a:t>
            </a:r>
            <a:endParaRPr kumimoji="1" lang="ko-KR" sz="1200" b="1" dirty="0">
              <a:latin typeface="Times New Roman" pitchFamily="18" charset="0"/>
              <a:ea typeface="굴림체" pitchFamily="49" charset="-127"/>
            </a:endParaRPr>
          </a:p>
        </p:txBody>
      </p:sp>
      <p:sp>
        <p:nvSpPr>
          <p:cNvPr id="187403" name="Text Box 11"/>
          <p:cNvSpPr txBox="1">
            <a:spLocks noChangeArrowheads="1"/>
          </p:cNvSpPr>
          <p:nvPr/>
        </p:nvSpPr>
        <p:spPr bwMode="auto">
          <a:xfrm>
            <a:off x="2928926" y="4738712"/>
            <a:ext cx="928694" cy="833428"/>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lvl="0" algn="ctr" fontAlgn="base">
              <a:spcBef>
                <a:spcPct val="0"/>
              </a:spcBef>
              <a:spcAft>
                <a:spcPct val="0"/>
              </a:spcAft>
            </a:pPr>
            <a:r>
              <a:rPr kumimoji="1" lang="en-US" altLang="ko-KR" sz="1200" b="1" i="0" u="none" strike="noStrike" cap="none" normalizeH="0" baseline="0" dirty="0">
                <a:ln>
                  <a:noFill/>
                </a:ln>
                <a:solidFill>
                  <a:schemeClr val="tx1"/>
                </a:solidFill>
                <a:effectLst/>
                <a:latin typeface="Times New Roman" pitchFamily="18" charset="0"/>
                <a:ea typeface="굴림체" pitchFamily="49" charset="-127"/>
              </a:rPr>
              <a:t> </a:t>
            </a:r>
            <a:r>
              <a:rPr kumimoji="1" lang="ko-KR" sz="1200" b="1" i="0" u="none" strike="noStrike" cap="none" normalizeH="0" baseline="0" dirty="0">
                <a:ln>
                  <a:noFill/>
                </a:ln>
                <a:solidFill>
                  <a:schemeClr val="tx1"/>
                </a:solidFill>
                <a:effectLst/>
                <a:latin typeface="Times New Roman" pitchFamily="18" charset="0"/>
                <a:ea typeface="굴림체" pitchFamily="49" charset="-127"/>
              </a:rPr>
              <a:t>군내 변동</a:t>
            </a:r>
            <a:r>
              <a:rPr kumimoji="1" lang="en-US" altLang="ko-KR" sz="1200" b="1" i="0" u="none" strike="noStrike" cap="none" normalizeH="0" baseline="0" dirty="0">
                <a:ln>
                  <a:noFill/>
                </a:ln>
                <a:solidFill>
                  <a:schemeClr val="tx1"/>
                </a:solidFill>
                <a:effectLst/>
                <a:latin typeface="굴림체" pitchFamily="49" charset="-127"/>
                <a:ea typeface="굴림체" pitchFamily="49" charset="-127"/>
              </a:rPr>
              <a:t>(</a:t>
            </a:r>
            <a:r>
              <a:rPr lang="en-US" sz="1200" b="1" dirty="0">
                <a:latin typeface="굴림체" pitchFamily="49" charset="-127"/>
                <a:ea typeface="굴림체" pitchFamily="49" charset="-127"/>
              </a:rPr>
              <a:t>Intra-group variation)</a:t>
            </a:r>
            <a:endParaRPr kumimoji="1" lang="ko-KR" sz="1800" b="1" i="0" u="none" strike="noStrike" cap="none" normalizeH="0" baseline="0" dirty="0">
              <a:ln>
                <a:noFill/>
              </a:ln>
              <a:solidFill>
                <a:schemeClr val="tx1"/>
              </a:solidFill>
              <a:effectLst/>
              <a:latin typeface="굴림체" pitchFamily="49" charset="-127"/>
              <a:ea typeface="굴림체" pitchFamily="49" charset="-127"/>
            </a:endParaRPr>
          </a:p>
        </p:txBody>
      </p:sp>
      <p:cxnSp>
        <p:nvCxnSpPr>
          <p:cNvPr id="499734" name="AutoShape 12"/>
          <p:cNvCxnSpPr>
            <a:cxnSpLocks noChangeShapeType="1"/>
          </p:cNvCxnSpPr>
          <p:nvPr/>
        </p:nvCxnSpPr>
        <p:spPr bwMode="auto">
          <a:xfrm rot="-5400000">
            <a:off x="2221054" y="4209221"/>
            <a:ext cx="431800" cy="627185"/>
          </a:xfrm>
          <a:prstGeom prst="bentConnector3">
            <a:avLst>
              <a:gd name="adj1" fmla="val 50000"/>
            </a:avLst>
          </a:prstGeom>
          <a:noFill/>
          <a:ln w="9525">
            <a:solidFill>
              <a:srgbClr val="292929"/>
            </a:solidFill>
            <a:miter lim="800000"/>
            <a:headEnd/>
            <a:tailEnd/>
          </a:ln>
        </p:spPr>
      </p:cxnSp>
      <p:cxnSp>
        <p:nvCxnSpPr>
          <p:cNvPr id="499735" name="AutoShape 13"/>
          <p:cNvCxnSpPr>
            <a:cxnSpLocks noChangeShapeType="1"/>
          </p:cNvCxnSpPr>
          <p:nvPr/>
        </p:nvCxnSpPr>
        <p:spPr bwMode="auto">
          <a:xfrm rot="5400000" flipH="1">
            <a:off x="2856298" y="4201161"/>
            <a:ext cx="431800" cy="643304"/>
          </a:xfrm>
          <a:prstGeom prst="bentConnector3">
            <a:avLst>
              <a:gd name="adj1" fmla="val 50000"/>
            </a:avLst>
          </a:prstGeom>
          <a:noFill/>
          <a:ln w="9525">
            <a:solidFill>
              <a:srgbClr val="292929"/>
            </a:solidFill>
            <a:miter lim="800000"/>
            <a:headEnd/>
            <a:tailEnd/>
          </a:ln>
        </p:spPr>
      </p:cxnSp>
      <p:sp>
        <p:nvSpPr>
          <p:cNvPr id="2" name="Text Box 14"/>
          <p:cNvSpPr txBox="1">
            <a:spLocks noChangeArrowheads="1"/>
          </p:cNvSpPr>
          <p:nvPr/>
        </p:nvSpPr>
        <p:spPr bwMode="auto">
          <a:xfrm>
            <a:off x="4572001" y="4667276"/>
            <a:ext cx="1143008"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lvl="0" algn="ctr" fontAlgn="base">
              <a:spcBef>
                <a:spcPct val="0"/>
              </a:spcBef>
              <a:spcAft>
                <a:spcPct val="0"/>
              </a:spcAft>
            </a:pPr>
            <a:r>
              <a:rPr lang="en-US" sz="1200" dirty="0"/>
              <a:t>Variation by measurer</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3" name="Text Box 15"/>
          <p:cNvSpPr txBox="1">
            <a:spLocks noChangeArrowheads="1"/>
          </p:cNvSpPr>
          <p:nvPr/>
        </p:nvSpPr>
        <p:spPr bwMode="auto">
          <a:xfrm>
            <a:off x="6143636" y="4667276"/>
            <a:ext cx="1071570"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Times New Roman" pitchFamily="18" charset="0"/>
                <a:ea typeface="굴림체" pitchFamily="49" charset="-127"/>
              </a:rPr>
              <a:t>Variations</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by Instrument</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cxnSp>
        <p:nvCxnSpPr>
          <p:cNvPr id="499738" name="AutoShape 16"/>
          <p:cNvCxnSpPr>
            <a:cxnSpLocks noChangeShapeType="1"/>
          </p:cNvCxnSpPr>
          <p:nvPr/>
        </p:nvCxnSpPr>
        <p:spPr bwMode="auto">
          <a:xfrm rot="-5400000">
            <a:off x="5356794" y="4102432"/>
            <a:ext cx="360363" cy="769326"/>
          </a:xfrm>
          <a:prstGeom prst="bentConnector3">
            <a:avLst>
              <a:gd name="adj1" fmla="val 49778"/>
            </a:avLst>
          </a:prstGeom>
          <a:noFill/>
          <a:ln w="9525">
            <a:solidFill>
              <a:srgbClr val="292929"/>
            </a:solidFill>
            <a:miter lim="800000"/>
            <a:headEnd/>
            <a:tailEnd/>
          </a:ln>
        </p:spPr>
      </p:cxnSp>
      <p:cxnSp>
        <p:nvCxnSpPr>
          <p:cNvPr id="499739" name="AutoShape 17"/>
          <p:cNvCxnSpPr>
            <a:cxnSpLocks noChangeShapeType="1"/>
          </p:cNvCxnSpPr>
          <p:nvPr/>
        </p:nvCxnSpPr>
        <p:spPr bwMode="auto">
          <a:xfrm rot="5400000" flipH="1">
            <a:off x="6121725" y="4106828"/>
            <a:ext cx="360363" cy="760535"/>
          </a:xfrm>
          <a:prstGeom prst="bentConnector3">
            <a:avLst>
              <a:gd name="adj1" fmla="val 49778"/>
            </a:avLst>
          </a:prstGeom>
          <a:noFill/>
          <a:ln w="9525">
            <a:solidFill>
              <a:srgbClr val="292929"/>
            </a:solidFill>
            <a:miter lim="800000"/>
            <a:headEnd/>
            <a:tailEnd/>
          </a:ln>
        </p:spPr>
      </p:cxnSp>
      <p:sp>
        <p:nvSpPr>
          <p:cNvPr id="499741" name="Text Box 19"/>
          <p:cNvSpPr txBox="1">
            <a:spLocks noChangeArrowheads="1"/>
          </p:cNvSpPr>
          <p:nvPr/>
        </p:nvSpPr>
        <p:spPr bwMode="auto">
          <a:xfrm>
            <a:off x="4492889" y="5304009"/>
            <a:ext cx="1329103" cy="461665"/>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굴림체" pitchFamily="49" charset="-127"/>
                <a:ea typeface="굴림체" pitchFamily="49" charset="-127"/>
              </a:rPr>
              <a:t>재현성</a:t>
            </a: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굴림체" pitchFamily="49" charset="-127"/>
              </a:rPr>
              <a:t>Reproducibility</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99742" name="Text Box 20"/>
          <p:cNvSpPr txBox="1">
            <a:spLocks noChangeArrowheads="1"/>
          </p:cNvSpPr>
          <p:nvPr/>
        </p:nvSpPr>
        <p:spPr bwMode="auto">
          <a:xfrm>
            <a:off x="6034408" y="5301208"/>
            <a:ext cx="1329103" cy="461665"/>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굴림체" pitchFamily="49" charset="-127"/>
                <a:ea typeface="굴림체" pitchFamily="49" charset="-127"/>
              </a:rPr>
              <a:t>반복성</a:t>
            </a:r>
            <a:r>
              <a:rPr kumimoji="1" lang="en-US" altLang="ko-KR" sz="1200" b="1" i="0" u="none" strike="noStrike" cap="none" normalizeH="0" baseline="0" dirty="0">
                <a:ln>
                  <a:noFill/>
                </a:ln>
                <a:solidFill>
                  <a:schemeClr val="tx1"/>
                </a:solidFill>
                <a:effectLst/>
                <a:latin typeface="Arial" pitchFamily="34" charset="0"/>
                <a:ea typeface="굴림체" pitchFamily="49" charset="-127"/>
              </a:rPr>
              <a:t>Repeatability</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pic>
        <p:nvPicPr>
          <p:cNvPr id="499750"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597789" y="2697189"/>
            <a:ext cx="987669" cy="593725"/>
          </a:xfrm>
          <a:prstGeom prst="rect">
            <a:avLst/>
          </a:prstGeom>
          <a:noFill/>
          <a:ln w="9525">
            <a:noFill/>
            <a:miter lim="800000"/>
            <a:headEnd/>
            <a:tailEnd/>
          </a:ln>
        </p:spPr>
      </p:pic>
      <p:cxnSp>
        <p:nvCxnSpPr>
          <p:cNvPr id="499756" name="AutoShape 34"/>
          <p:cNvCxnSpPr>
            <a:cxnSpLocks noChangeShapeType="1"/>
            <a:endCxn id="499741" idx="0"/>
          </p:cNvCxnSpPr>
          <p:nvPr/>
        </p:nvCxnSpPr>
        <p:spPr bwMode="auto">
          <a:xfrm rot="16200000" flipH="1">
            <a:off x="4968043" y="5114610"/>
            <a:ext cx="375865" cy="2932"/>
          </a:xfrm>
          <a:prstGeom prst="bentConnector3">
            <a:avLst>
              <a:gd name="adj1" fmla="val 50000"/>
            </a:avLst>
          </a:prstGeom>
          <a:noFill/>
          <a:ln w="9525">
            <a:solidFill>
              <a:schemeClr val="tx1"/>
            </a:solidFill>
            <a:miter lim="800000"/>
            <a:headEnd/>
            <a:tailEnd type="triangle" w="med" len="med"/>
          </a:ln>
        </p:spPr>
      </p:cxnSp>
      <p:sp>
        <p:nvSpPr>
          <p:cNvPr id="499758" name="Text Box 36"/>
          <p:cNvSpPr txBox="1">
            <a:spLocks noChangeArrowheads="1"/>
          </p:cNvSpPr>
          <p:nvPr/>
        </p:nvSpPr>
        <p:spPr bwMode="auto">
          <a:xfrm>
            <a:off x="6034407" y="5826985"/>
            <a:ext cx="1329104" cy="600164"/>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sz="1100" b="1" i="0" u="none" strike="noStrike" cap="none" normalizeH="0" baseline="0" dirty="0">
                <a:ln>
                  <a:noFill/>
                </a:ln>
                <a:solidFill>
                  <a:schemeClr val="tx1"/>
                </a:solidFill>
                <a:effectLst/>
                <a:latin typeface="Arial" pitchFamily="34" charset="0"/>
                <a:ea typeface="굴림체" pitchFamily="49" charset="-127"/>
              </a:rPr>
              <a:t>편의</a:t>
            </a:r>
            <a:r>
              <a:rPr kumimoji="1" lang="en-US" altLang="ko-KR" sz="1100" b="1" i="0" u="none" strike="noStrike" cap="none" normalizeH="0" baseline="0" dirty="0">
                <a:ln>
                  <a:noFill/>
                </a:ln>
                <a:solidFill>
                  <a:schemeClr val="tx1"/>
                </a:solidFill>
                <a:effectLst/>
                <a:latin typeface="Arial" pitchFamily="34" charset="0"/>
                <a:ea typeface="굴림체" pitchFamily="49" charset="-127"/>
              </a:rPr>
              <a:t>(Bias)</a:t>
            </a:r>
          </a:p>
          <a:p>
            <a:pPr algn="ctr"/>
            <a:r>
              <a:rPr lang="ko-KR" altLang="en-US" sz="1100" b="1" dirty="0">
                <a:latin typeface="Arial" pitchFamily="34" charset="0"/>
                <a:ea typeface="굴림체" pitchFamily="49" charset="-127"/>
              </a:rPr>
              <a:t>선형성</a:t>
            </a:r>
            <a:r>
              <a:rPr lang="en-US" altLang="ko-KR" sz="1100" b="1" dirty="0">
                <a:latin typeface="Arial" pitchFamily="34" charset="0"/>
                <a:ea typeface="굴림체" pitchFamily="49" charset="-127"/>
              </a:rPr>
              <a:t>(</a:t>
            </a:r>
            <a:r>
              <a:rPr lang="en-US" altLang="ko-KR" sz="1100" b="1" dirty="0">
                <a:latin typeface="굴림체" pitchFamily="49" charset="-127"/>
                <a:ea typeface="굴림체" pitchFamily="49" charset="-127"/>
              </a:rPr>
              <a:t>Linearity)</a:t>
            </a:r>
            <a:endParaRPr lang="ko-KR" altLang="ko-KR" sz="1100" dirty="0"/>
          </a:p>
          <a:p>
            <a:pPr lvl="0" algn="ctr"/>
            <a:r>
              <a:rPr lang="ko-KR" altLang="en-US" sz="1100" b="1" dirty="0">
                <a:latin typeface="굴림체" pitchFamily="49" charset="-127"/>
                <a:ea typeface="굴림체" pitchFamily="49" charset="-127"/>
              </a:rPr>
              <a:t>안정성</a:t>
            </a:r>
            <a:r>
              <a:rPr lang="en-US" altLang="ko-KR" sz="1100" b="1" dirty="0">
                <a:latin typeface="굴림체" pitchFamily="49" charset="-127"/>
                <a:ea typeface="굴림체" pitchFamily="49" charset="-127"/>
              </a:rPr>
              <a:t>(</a:t>
            </a:r>
            <a:r>
              <a:rPr lang="en-US" altLang="ko-KR" sz="1100" b="1" dirty="0">
                <a:latin typeface="Arial" pitchFamily="34" charset="0"/>
                <a:ea typeface="굴림체" pitchFamily="49" charset="-127"/>
              </a:rPr>
              <a:t>Stability)</a:t>
            </a:r>
            <a:endParaRPr kumimoji="1" lang="ko-KR" altLang="ko-KR" sz="1100" b="0" i="0" u="none" strike="noStrike" cap="none" normalizeH="0" baseline="0" dirty="0">
              <a:ln>
                <a:noFill/>
              </a:ln>
              <a:solidFill>
                <a:schemeClr val="tx1"/>
              </a:solidFill>
              <a:effectLst/>
              <a:latin typeface="굴림" pitchFamily="50" charset="-127"/>
              <a:ea typeface="굴림" pitchFamily="50" charset="-127"/>
            </a:endParaRPr>
          </a:p>
        </p:txBody>
      </p:sp>
      <p:cxnSp>
        <p:nvCxnSpPr>
          <p:cNvPr id="499760" name="AutoShape 38"/>
          <p:cNvCxnSpPr>
            <a:cxnSpLocks noChangeShapeType="1"/>
            <a:endCxn id="499742" idx="0"/>
          </p:cNvCxnSpPr>
          <p:nvPr/>
        </p:nvCxnSpPr>
        <p:spPr bwMode="auto">
          <a:xfrm rot="5400000">
            <a:off x="6598994" y="5199043"/>
            <a:ext cx="202131" cy="2198"/>
          </a:xfrm>
          <a:prstGeom prst="bentConnector3">
            <a:avLst>
              <a:gd name="adj1" fmla="val 50000"/>
            </a:avLst>
          </a:prstGeom>
          <a:noFill/>
          <a:ln w="9525">
            <a:solidFill>
              <a:schemeClr val="tx1"/>
            </a:solidFill>
            <a:miter lim="800000"/>
            <a:headEnd/>
            <a:tailEnd type="triangle" w="med" len="med"/>
          </a:ln>
        </p:spPr>
      </p:cxnSp>
      <p:sp>
        <p:nvSpPr>
          <p:cNvPr id="499763" name="Line 44"/>
          <p:cNvSpPr>
            <a:spLocks noChangeShapeType="1"/>
          </p:cNvSpPr>
          <p:nvPr/>
        </p:nvSpPr>
        <p:spPr bwMode="auto">
          <a:xfrm>
            <a:off x="5624165" y="3295676"/>
            <a:ext cx="930519" cy="0"/>
          </a:xfrm>
          <a:prstGeom prst="line">
            <a:avLst/>
          </a:prstGeom>
          <a:noFill/>
          <a:ln w="9525">
            <a:solidFill>
              <a:schemeClr val="tx1"/>
            </a:solidFill>
            <a:round/>
            <a:headEnd/>
            <a:tailEnd/>
          </a:ln>
        </p:spPr>
        <p:txBody>
          <a:bodyPr vert="horz" wrap="square" lIns="91440" tIns="45720" rIns="91440" bIns="45720" numCol="1" anchor="ctr" anchorCtr="0" compatLnSpc="1">
            <a:prstTxWarp prst="textNoShape">
              <a:avLst/>
            </a:prstTxWarp>
          </a:bodyPr>
          <a:lstStyle/>
          <a:p>
            <a:endParaRPr lang="ko-KR" altLang="en-US" dirty="0"/>
          </a:p>
        </p:txBody>
      </p:sp>
      <p:sp>
        <p:nvSpPr>
          <p:cNvPr id="52" name="TextBox 51"/>
          <p:cNvSpPr txBox="1"/>
          <p:nvPr/>
        </p:nvSpPr>
        <p:spPr>
          <a:xfrm>
            <a:off x="179512" y="827089"/>
            <a:ext cx="8712968" cy="1751249"/>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Data that we have</a:t>
            </a:r>
          </a:p>
          <a:p>
            <a:pPr marL="534988" indent="-169863" fontAlgn="auto" latinLnBrk="0">
              <a:lnSpc>
                <a:spcPct val="110000"/>
              </a:lnSpc>
              <a:spcBef>
                <a:spcPts val="0"/>
              </a:spcBef>
              <a:spcAft>
                <a:spcPts val="0"/>
              </a:spcAft>
              <a:buClr>
                <a:srgbClr val="595959"/>
              </a:buClr>
              <a:buFont typeface="Wingdings" pitchFamily="2" charset="2"/>
              <a:buChar char="§"/>
              <a:defRPr/>
            </a:pPr>
            <a:r>
              <a:rPr lang="en-US" sz="1400" dirty="0"/>
              <a:t>Variations in the processes or products we know, include actual variations due to processes or products and measurement variations due to measurement errors in the measurement process.</a:t>
            </a:r>
            <a:endParaRPr kumimoji="0" lang="en-US" altLang="ko-KR" sz="1400" kern="0" dirty="0">
              <a:solidFill>
                <a:sysClr val="windowText" lastClr="000000"/>
              </a:solidFill>
              <a:latin typeface="맑은 고딕" pitchFamily="50" charset="-127"/>
              <a:ea typeface="맑은 고딕" pitchFamily="50" charset="-127"/>
            </a:endParaRPr>
          </a:p>
          <a:p>
            <a:pPr marL="534988" indent="-169863" latinLnBrk="0">
              <a:lnSpc>
                <a:spcPct val="110000"/>
              </a:lnSpc>
              <a:buClr>
                <a:srgbClr val="595959"/>
              </a:buClr>
              <a:buFont typeface="Wingdings" pitchFamily="2" charset="2"/>
              <a:buChar char="§"/>
              <a:defRPr/>
            </a:pPr>
            <a:r>
              <a:rPr lang="en-US" sz="1400" dirty="0"/>
              <a:t>It is important to minimize fluctuations due to measurement errors in order to know the variability of the population (process or product).</a:t>
            </a:r>
          </a:p>
          <a:p>
            <a:pPr marL="534988" indent="-169863" fontAlgn="auto" latinLnBrk="0">
              <a:lnSpc>
                <a:spcPct val="110000"/>
              </a:lnSpc>
              <a:spcBef>
                <a:spcPts val="0"/>
              </a:spcBef>
              <a:spcAft>
                <a:spcPts val="0"/>
              </a:spcAft>
              <a:buClr>
                <a:srgbClr val="595959"/>
              </a:buClr>
              <a:buFont typeface="Wingdings" pitchFamily="2" charset="2"/>
              <a:buChar char="§"/>
              <a:defRPr/>
            </a:pPr>
            <a:r>
              <a:rPr lang="en-US" sz="1400" dirty="0"/>
              <a:t>It is the verification process of the measurement system (MSA *) that confirms the magnitude of the fluctuation caused by the error of the measurement system that we use and improves it.</a:t>
            </a:r>
            <a:endParaRPr kumimoji="0" lang="ko-KR" altLang="en-US" sz="1400" kern="0" dirty="0">
              <a:solidFill>
                <a:sysClr val="windowText" lastClr="000000"/>
              </a:solidFill>
              <a:latin typeface="맑은 고딕" pitchFamily="50" charset="-127"/>
              <a:ea typeface="맑은 고딕" pitchFamily="50" charset="-127"/>
            </a:endParaRPr>
          </a:p>
        </p:txBody>
      </p:sp>
      <p:sp>
        <p:nvSpPr>
          <p:cNvPr id="54" name="제목 8"/>
          <p:cNvSpPr txBox="1">
            <a:spLocks/>
          </p:cNvSpPr>
          <p:nvPr/>
        </p:nvSpPr>
        <p:spPr bwMode="auto">
          <a:xfrm>
            <a:off x="180243" y="188913"/>
            <a:ext cx="8135815" cy="488950"/>
          </a:xfrm>
          <a:prstGeom prst="rect">
            <a:avLst/>
          </a:prstGeom>
          <a:noFill/>
          <a:ln>
            <a:miter lim="800000"/>
            <a:headEnd/>
            <a:tailEnd/>
          </a:ln>
        </p:spPr>
        <p:txBody>
          <a:bodyPr/>
          <a:lstStyle/>
          <a:p>
            <a:r>
              <a:rPr lang="en-US" sz="2000" b="1" dirty="0"/>
              <a:t>Understanding Data Variation</a:t>
            </a:r>
          </a:p>
        </p:txBody>
      </p:sp>
      <p:sp>
        <p:nvSpPr>
          <p:cNvPr id="30" name="TextBox 29"/>
          <p:cNvSpPr txBox="1"/>
          <p:nvPr/>
        </p:nvSpPr>
        <p:spPr>
          <a:xfrm>
            <a:off x="517396" y="6237313"/>
            <a:ext cx="2888035" cy="276999"/>
          </a:xfrm>
          <a:prstGeom prst="rect">
            <a:avLst/>
          </a:prstGeom>
          <a:noFill/>
        </p:spPr>
        <p:txBody>
          <a:bodyPr wrap="none" rtlCol="0">
            <a:spAutoFit/>
          </a:bodyPr>
          <a:lstStyle/>
          <a:p>
            <a:pPr algn="l"/>
            <a:r>
              <a:rPr lang="en-US" altLang="ko-KR" sz="1200" dirty="0">
                <a:latin typeface="맑은 고딕" pitchFamily="50" charset="-127"/>
                <a:ea typeface="맑은 고딕" pitchFamily="50" charset="-127"/>
              </a:rPr>
              <a:t>* MSA (Measurement System Analysis)</a:t>
            </a:r>
            <a:endParaRPr lang="ko-KR" altLang="en-US" sz="1200" dirty="0">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a:t>
            </a:fld>
            <a:endParaRPr lang="ko-KR" altLang="en-US" dirty="0"/>
          </a:p>
        </p:txBody>
      </p:sp>
      <p:sp>
        <p:nvSpPr>
          <p:cNvPr id="31" name="Text Box 19"/>
          <p:cNvSpPr txBox="1">
            <a:spLocks noChangeArrowheads="1"/>
          </p:cNvSpPr>
          <p:nvPr/>
        </p:nvSpPr>
        <p:spPr bwMode="auto">
          <a:xfrm>
            <a:off x="4492889" y="5922364"/>
            <a:ext cx="1329103" cy="461665"/>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lvl="0" algn="ctr" fontAlgn="base">
              <a:spcBef>
                <a:spcPct val="0"/>
              </a:spcBef>
              <a:spcAft>
                <a:spcPct val="0"/>
              </a:spcAft>
            </a:pPr>
            <a:r>
              <a:rPr kumimoji="1" lang="ko-KR" altLang="en-US" sz="1200" b="1" i="0" u="none" strike="noStrike" cap="none" normalizeH="0" baseline="0" dirty="0">
                <a:ln>
                  <a:noFill/>
                </a:ln>
                <a:solidFill>
                  <a:schemeClr val="tx1"/>
                </a:solidFill>
                <a:effectLst/>
                <a:latin typeface="Arial" pitchFamily="34" charset="0"/>
                <a:ea typeface="굴림체" pitchFamily="49" charset="-127"/>
              </a:rPr>
              <a:t>반복성</a:t>
            </a:r>
            <a:r>
              <a:rPr kumimoji="1" lang="en-US" altLang="ko-KR" sz="1200" b="1" i="0" u="none" strike="noStrike" cap="none" normalizeH="0" baseline="0" dirty="0">
                <a:ln>
                  <a:noFill/>
                </a:ln>
                <a:solidFill>
                  <a:schemeClr val="tx1"/>
                </a:solidFill>
                <a:effectLst/>
                <a:latin typeface="Arial" pitchFamily="34" charset="0"/>
                <a:ea typeface="굴림체" pitchFamily="49" charset="-127"/>
              </a:rPr>
              <a:t>Repeatability</a:t>
            </a:r>
            <a:endParaRPr kumimoji="1" lang="ko-KR" altLang="ko-KR" dirty="0">
              <a:latin typeface="굴림" pitchFamily="50" charset="-127"/>
              <a:ea typeface="굴림" pitchFamily="50" charset="-127"/>
            </a:endParaRPr>
          </a:p>
        </p:txBody>
      </p:sp>
      <p:sp>
        <p:nvSpPr>
          <p:cNvPr id="6" name="직사각형 5"/>
          <p:cNvSpPr/>
          <p:nvPr/>
        </p:nvSpPr>
        <p:spPr>
          <a:xfrm>
            <a:off x="4355976" y="4581128"/>
            <a:ext cx="1512168" cy="2088232"/>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p:cNvSpPr/>
          <p:nvPr/>
        </p:nvSpPr>
        <p:spPr>
          <a:xfrm>
            <a:off x="5940152" y="4581128"/>
            <a:ext cx="1512168" cy="2088232"/>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6936293" y="4321089"/>
            <a:ext cx="1598386" cy="276999"/>
          </a:xfrm>
          <a:prstGeom prst="rect">
            <a:avLst/>
          </a:prstGeom>
          <a:noFill/>
        </p:spPr>
        <p:txBody>
          <a:bodyPr wrap="none" rtlCol="0">
            <a:spAutoFit/>
          </a:bodyPr>
          <a:lstStyle/>
          <a:p>
            <a:r>
              <a:rPr lang="en-US" altLang="ko-KR" sz="1200" b="1" dirty="0">
                <a:solidFill>
                  <a:srgbClr val="00B050"/>
                </a:solidFill>
              </a:rPr>
              <a:t>Degree of accuracy</a:t>
            </a:r>
            <a:endParaRPr lang="ko-KR" altLang="en-US" sz="1200" b="1" dirty="0">
              <a:solidFill>
                <a:srgbClr val="00B050"/>
              </a:solidFill>
            </a:endParaRPr>
          </a:p>
        </p:txBody>
      </p:sp>
      <p:sp>
        <p:nvSpPr>
          <p:cNvPr id="33" name="TextBox 32"/>
          <p:cNvSpPr txBox="1"/>
          <p:nvPr/>
        </p:nvSpPr>
        <p:spPr>
          <a:xfrm>
            <a:off x="3643306" y="4286256"/>
            <a:ext cx="1628074" cy="276999"/>
          </a:xfrm>
          <a:prstGeom prst="rect">
            <a:avLst/>
          </a:prstGeom>
          <a:noFill/>
        </p:spPr>
        <p:txBody>
          <a:bodyPr wrap="none" rtlCol="0">
            <a:spAutoFit/>
          </a:bodyPr>
          <a:lstStyle/>
          <a:p>
            <a:r>
              <a:rPr lang="en-US" altLang="ko-KR" sz="1200" b="1" dirty="0">
                <a:solidFill>
                  <a:srgbClr val="00B050"/>
                </a:solidFill>
              </a:rPr>
              <a:t>Degree of precision</a:t>
            </a:r>
            <a:endParaRPr lang="ko-KR" altLang="en-US" sz="1200" b="1" dirty="0">
              <a:solidFill>
                <a:srgbClr val="00B050"/>
              </a:solidFill>
            </a:endParaRPr>
          </a:p>
        </p:txBody>
      </p:sp>
    </p:spTree>
    <p:extLst>
      <p:ext uri="{BB962C8B-B14F-4D97-AF65-F5344CB8AC3E}">
        <p14:creationId xmlns:p14="http://schemas.microsoft.com/office/powerpoint/2010/main" val="251659856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467544" y="836712"/>
            <a:ext cx="3076483" cy="307777"/>
          </a:xfrm>
          <a:prstGeom prst="rect">
            <a:avLst/>
          </a:prstGeom>
          <a:noFill/>
        </p:spPr>
        <p:txBody>
          <a:bodyPr wrap="none" rtlCol="0">
            <a:spAutoFit/>
          </a:bodyPr>
          <a:lstStyle/>
          <a:p>
            <a:r>
              <a:rPr lang="en-US" altLang="ko-KR" sz="1400" dirty="0" err="1"/>
              <a:t>Đọc</a:t>
            </a:r>
            <a:r>
              <a:rPr lang="en-US" altLang="ko-KR" sz="1400" dirty="0"/>
              <a:t> </a:t>
            </a:r>
            <a:r>
              <a:rPr lang="en-US" altLang="ko-KR" sz="1400" dirty="0" err="1"/>
              <a:t>chỉ</a:t>
            </a:r>
            <a:r>
              <a:rPr lang="en-US" altLang="ko-KR" sz="1400" dirty="0"/>
              <a:t> </a:t>
            </a:r>
            <a:r>
              <a:rPr lang="en-US" altLang="ko-KR" sz="1400" dirty="0" err="1"/>
              <a:t>số</a:t>
            </a:r>
            <a:r>
              <a:rPr lang="en-US" altLang="ko-KR" sz="1400" dirty="0"/>
              <a:t> </a:t>
            </a:r>
            <a:r>
              <a:rPr lang="en-US" altLang="ko-KR" sz="1400" dirty="0" err="1"/>
              <a:t>của</a:t>
            </a:r>
            <a:r>
              <a:rPr lang="en-US" altLang="ko-KR" sz="1400" dirty="0"/>
              <a:t> </a:t>
            </a:r>
            <a:r>
              <a:rPr lang="en-US" altLang="ko-KR" sz="1400" dirty="0" err="1"/>
              <a:t>đồng</a:t>
            </a:r>
            <a:r>
              <a:rPr lang="en-US" altLang="ko-KR" sz="1400" dirty="0"/>
              <a:t> </a:t>
            </a:r>
            <a:r>
              <a:rPr lang="en-US" altLang="ko-KR" sz="1400" dirty="0" err="1"/>
              <a:t>hồ</a:t>
            </a:r>
            <a:r>
              <a:rPr lang="en-US" altLang="ko-KR" sz="1400" dirty="0"/>
              <a:t> </a:t>
            </a:r>
            <a:r>
              <a:rPr lang="en-US" altLang="ko-KR" sz="1400" dirty="0" err="1"/>
              <a:t>đo</a:t>
            </a:r>
            <a:r>
              <a:rPr lang="en-US" altLang="ko-KR" sz="1400" dirty="0"/>
              <a:t> </a:t>
            </a:r>
            <a:r>
              <a:rPr lang="en-US" altLang="ko-KR" sz="1400" dirty="0" err="1"/>
              <a:t>điện</a:t>
            </a:r>
            <a:r>
              <a:rPr lang="en-US" altLang="ko-KR" sz="1400" dirty="0"/>
              <a:t> </a:t>
            </a:r>
            <a:r>
              <a:rPr lang="en-US" altLang="ko-KR" sz="1400" dirty="0" err="1"/>
              <a:t>áp</a:t>
            </a:r>
            <a:endParaRPr lang="ko-KR" altLang="en-US" sz="1400" dirty="0"/>
          </a:p>
        </p:txBody>
      </p:sp>
      <p:sp>
        <p:nvSpPr>
          <p:cNvPr id="9" name="TextBox 8"/>
          <p:cNvSpPr txBox="1"/>
          <p:nvPr/>
        </p:nvSpPr>
        <p:spPr>
          <a:xfrm>
            <a:off x="4499992" y="2060848"/>
            <a:ext cx="3896901" cy="1169551"/>
          </a:xfrm>
          <a:prstGeom prst="rect">
            <a:avLst/>
          </a:prstGeom>
          <a:noFill/>
        </p:spPr>
        <p:txBody>
          <a:bodyPr wrap="none" rtlCol="0">
            <a:spAutoFit/>
          </a:bodyPr>
          <a:lstStyle/>
          <a:p>
            <a:r>
              <a:rPr lang="en-US" altLang="ko-KR" sz="1400" dirty="0" err="1"/>
              <a:t>Khoảng</a:t>
            </a:r>
            <a:r>
              <a:rPr lang="en-US" altLang="ko-KR" sz="1400" dirty="0"/>
              <a:t> </a:t>
            </a:r>
            <a:r>
              <a:rPr lang="en-US" altLang="ko-KR" sz="1400" dirty="0" err="1"/>
              <a:t>chừng</a:t>
            </a:r>
            <a:r>
              <a:rPr lang="en-US" altLang="ko-KR" sz="1400" dirty="0"/>
              <a:t> </a:t>
            </a:r>
            <a:r>
              <a:rPr lang="en-US" altLang="ko-KR" sz="1400" dirty="0" err="1"/>
              <a:t>tiêu</a:t>
            </a:r>
            <a:r>
              <a:rPr lang="en-US" altLang="ko-KR" sz="1400" dirty="0"/>
              <a:t> </a:t>
            </a:r>
            <a:r>
              <a:rPr lang="en-US" altLang="ko-KR" sz="1400" dirty="0" err="1"/>
              <a:t>chuẩn</a:t>
            </a:r>
            <a:r>
              <a:rPr lang="ko-KR" altLang="en-US" sz="1400" dirty="0"/>
              <a:t> </a:t>
            </a:r>
            <a:r>
              <a:rPr lang="en-US" altLang="ko-KR" sz="1400" dirty="0"/>
              <a:t>5.5 V </a:t>
            </a:r>
            <a:r>
              <a:rPr lang="en-US" altLang="ko-KR" sz="1400" dirty="0" err="1"/>
              <a:t>và</a:t>
            </a:r>
            <a:r>
              <a:rPr lang="en-US" altLang="ko-KR" sz="1400" dirty="0"/>
              <a:t> </a:t>
            </a:r>
            <a:r>
              <a:rPr lang="en-US" altLang="ko-KR" sz="1400" dirty="0" err="1"/>
              <a:t>chia</a:t>
            </a:r>
            <a:r>
              <a:rPr lang="en-US" altLang="ko-KR" sz="1400" dirty="0"/>
              <a:t> </a:t>
            </a:r>
            <a:r>
              <a:rPr lang="en-US" altLang="ko-KR" sz="1400" dirty="0" err="1"/>
              <a:t>đôi</a:t>
            </a:r>
            <a:r>
              <a:rPr lang="en-US" altLang="ko-KR" sz="1400" dirty="0"/>
              <a:t> </a:t>
            </a:r>
          </a:p>
          <a:p>
            <a:endParaRPr lang="en-US" altLang="ko-KR" sz="1400" dirty="0"/>
          </a:p>
          <a:p>
            <a:r>
              <a:rPr lang="en-US" altLang="ko-KR" sz="1400" dirty="0" err="1"/>
              <a:t>Lớn</a:t>
            </a:r>
            <a:r>
              <a:rPr lang="en-US" altLang="ko-KR" sz="1400" dirty="0"/>
              <a:t> </a:t>
            </a:r>
            <a:r>
              <a:rPr lang="en-US" altLang="ko-KR" sz="1400" dirty="0" err="1"/>
              <a:t>hơn</a:t>
            </a:r>
            <a:r>
              <a:rPr lang="en-US" altLang="ko-KR" sz="1400" dirty="0"/>
              <a:t> 5.2 V </a:t>
            </a:r>
            <a:r>
              <a:rPr lang="en-US" altLang="ko-KR" sz="1400" dirty="0" err="1"/>
              <a:t>và</a:t>
            </a:r>
            <a:r>
              <a:rPr lang="en-US" altLang="ko-KR" sz="1400" dirty="0"/>
              <a:t> </a:t>
            </a:r>
            <a:r>
              <a:rPr lang="en-US" altLang="ko-KR" sz="1400" dirty="0" err="1"/>
              <a:t>nhỏ</a:t>
            </a:r>
            <a:r>
              <a:rPr lang="en-US" altLang="ko-KR" sz="1400" dirty="0"/>
              <a:t> </a:t>
            </a:r>
            <a:r>
              <a:rPr lang="en-US" altLang="ko-KR" sz="1400" dirty="0" err="1"/>
              <a:t>hơn</a:t>
            </a:r>
            <a:r>
              <a:rPr lang="en-US" altLang="ko-KR" sz="1400" dirty="0"/>
              <a:t> 5.4 V</a:t>
            </a:r>
          </a:p>
          <a:p>
            <a:endParaRPr lang="en-US" altLang="ko-KR" sz="1400" dirty="0"/>
          </a:p>
          <a:p>
            <a:endParaRPr lang="ko-KR" altLang="en-US" sz="1400" dirty="0"/>
          </a:p>
        </p:txBody>
      </p:sp>
      <p:pic>
        <p:nvPicPr>
          <p:cNvPr id="10" name="그림 9"/>
          <p:cNvPicPr>
            <a:picLocks noChangeAspect="1"/>
          </p:cNvPicPr>
          <p:nvPr/>
        </p:nvPicPr>
        <p:blipFill rotWithShape="1">
          <a:blip r:embed="rId2" cstate="print">
            <a:extLst>
              <a:ext uri="{28A0092B-C50C-407E-A947-70E740481C1C}">
                <a14:useLocalDpi xmlns:a14="http://schemas.microsoft.com/office/drawing/2010/main" val="0"/>
              </a:ext>
            </a:extLst>
          </a:blip>
          <a:srcRect l="26552" t="9385" r="55678" b="63528"/>
          <a:stretch/>
        </p:blipFill>
        <p:spPr>
          <a:xfrm rot="5400000">
            <a:off x="935595" y="944726"/>
            <a:ext cx="2664297" cy="3744417"/>
          </a:xfrm>
          <a:prstGeom prst="rect">
            <a:avLst/>
          </a:prstGeom>
        </p:spPr>
      </p:pic>
      <p:sp>
        <p:nvSpPr>
          <p:cNvPr id="12" name="TextBox 11"/>
          <p:cNvSpPr txBox="1"/>
          <p:nvPr/>
        </p:nvSpPr>
        <p:spPr>
          <a:xfrm>
            <a:off x="3779912" y="3717032"/>
            <a:ext cx="5269391" cy="307777"/>
          </a:xfrm>
          <a:prstGeom prst="rect">
            <a:avLst/>
          </a:prstGeom>
          <a:noFill/>
        </p:spPr>
        <p:txBody>
          <a:bodyPr wrap="none" rtlCol="0">
            <a:spAutoFit/>
          </a:bodyPr>
          <a:lstStyle/>
          <a:p>
            <a:r>
              <a:rPr lang="en-US" altLang="ko-KR" sz="1400" dirty="0"/>
              <a:t>1.  </a:t>
            </a:r>
            <a:r>
              <a:rPr lang="en-US" altLang="ko-KR" sz="1400" dirty="0" err="1"/>
              <a:t>Nếu</a:t>
            </a:r>
            <a:r>
              <a:rPr lang="en-US" altLang="ko-KR" sz="1400" dirty="0"/>
              <a:t> </a:t>
            </a:r>
            <a:r>
              <a:rPr lang="en-US" altLang="ko-KR" sz="1400" dirty="0" err="1"/>
              <a:t>muốn</a:t>
            </a:r>
            <a:r>
              <a:rPr lang="en-US" altLang="ko-KR" sz="1400" dirty="0"/>
              <a:t> </a:t>
            </a:r>
            <a:r>
              <a:rPr lang="en-US" altLang="ko-KR" sz="1400" dirty="0" err="1"/>
              <a:t>đo</a:t>
            </a:r>
            <a:r>
              <a:rPr lang="en-US" altLang="ko-KR" sz="1400" dirty="0"/>
              <a:t> </a:t>
            </a:r>
            <a:r>
              <a:rPr lang="en-US" altLang="ko-KR" sz="1400" dirty="0" err="1"/>
              <a:t>điện</a:t>
            </a:r>
            <a:r>
              <a:rPr lang="en-US" altLang="ko-KR" sz="1400" dirty="0"/>
              <a:t> </a:t>
            </a:r>
            <a:r>
              <a:rPr lang="en-US" altLang="ko-KR" sz="1400" dirty="0" err="1"/>
              <a:t>áp</a:t>
            </a:r>
            <a:r>
              <a:rPr lang="en-US" altLang="ko-KR" sz="1400" dirty="0"/>
              <a:t> </a:t>
            </a:r>
            <a:r>
              <a:rPr lang="en-US" altLang="ko-KR" sz="1400" dirty="0" err="1"/>
              <a:t>chính</a:t>
            </a:r>
            <a:r>
              <a:rPr lang="en-US" altLang="ko-KR" sz="1400" dirty="0"/>
              <a:t> </a:t>
            </a:r>
            <a:r>
              <a:rPr lang="en-US" altLang="ko-KR" sz="1400" dirty="0" err="1"/>
              <a:t>xác</a:t>
            </a:r>
            <a:r>
              <a:rPr lang="en-US" altLang="ko-KR" sz="1400" dirty="0"/>
              <a:t> </a:t>
            </a:r>
            <a:r>
              <a:rPr lang="en-US" altLang="ko-KR" sz="1400" dirty="0" err="1"/>
              <a:t>hơn</a:t>
            </a:r>
            <a:r>
              <a:rPr lang="en-US" altLang="ko-KR" sz="1400" dirty="0"/>
              <a:t> </a:t>
            </a:r>
            <a:r>
              <a:rPr lang="en-US" altLang="ko-KR" sz="1400" dirty="0" err="1"/>
              <a:t>ta</a:t>
            </a:r>
            <a:r>
              <a:rPr lang="en-US" altLang="ko-KR" sz="1400" dirty="0"/>
              <a:t> </a:t>
            </a:r>
            <a:r>
              <a:rPr lang="en-US" altLang="ko-KR" sz="1400" dirty="0" err="1"/>
              <a:t>phải</a:t>
            </a:r>
            <a:r>
              <a:rPr lang="en-US" altLang="ko-KR" sz="1400" dirty="0"/>
              <a:t> </a:t>
            </a:r>
            <a:r>
              <a:rPr lang="en-US" altLang="ko-KR" sz="1400" dirty="0" err="1"/>
              <a:t>làm</a:t>
            </a:r>
            <a:r>
              <a:rPr lang="en-US" altLang="ko-KR" sz="1400" dirty="0"/>
              <a:t> </a:t>
            </a:r>
            <a:r>
              <a:rPr lang="en-US" altLang="ko-KR" sz="1400" dirty="0" err="1"/>
              <a:t>thế</a:t>
            </a:r>
            <a:r>
              <a:rPr lang="en-US" altLang="ko-KR" sz="1400" dirty="0"/>
              <a:t> </a:t>
            </a:r>
            <a:r>
              <a:rPr lang="en-US" altLang="ko-KR" sz="1400" dirty="0" err="1"/>
              <a:t>nào</a:t>
            </a:r>
            <a:r>
              <a:rPr lang="en-US" altLang="ko-KR" sz="1400" dirty="0"/>
              <a:t>?</a:t>
            </a:r>
            <a:endParaRPr lang="ko-KR" altLang="en-US" sz="1400" dirty="0"/>
          </a:p>
        </p:txBody>
      </p:sp>
      <p:sp>
        <p:nvSpPr>
          <p:cNvPr id="7" name="TextBox 6"/>
          <p:cNvSpPr txBox="1"/>
          <p:nvPr/>
        </p:nvSpPr>
        <p:spPr>
          <a:xfrm>
            <a:off x="4067944" y="3356992"/>
            <a:ext cx="931665" cy="338554"/>
          </a:xfrm>
          <a:prstGeom prst="rect">
            <a:avLst/>
          </a:prstGeom>
          <a:noFill/>
        </p:spPr>
        <p:txBody>
          <a:bodyPr wrap="none" rtlCol="0">
            <a:spAutoFit/>
          </a:bodyPr>
          <a:lstStyle/>
          <a:p>
            <a:r>
              <a:rPr lang="en-US" altLang="ko-KR" sz="1600" b="1" dirty="0" err="1"/>
              <a:t>Câu</a:t>
            </a:r>
            <a:r>
              <a:rPr lang="en-US" altLang="ko-KR" sz="1600" b="1" dirty="0"/>
              <a:t> </a:t>
            </a:r>
            <a:r>
              <a:rPr lang="en-US" altLang="ko-KR" sz="1600" b="1" dirty="0" err="1"/>
              <a:t>hỏi</a:t>
            </a:r>
            <a:endParaRPr lang="ko-KR" altLang="en-US" sz="1600" b="1" dirty="0"/>
          </a:p>
        </p:txBody>
      </p:sp>
      <p:sp>
        <p:nvSpPr>
          <p:cNvPr id="11" name="TextBox 10"/>
          <p:cNvSpPr txBox="1"/>
          <p:nvPr/>
        </p:nvSpPr>
        <p:spPr>
          <a:xfrm>
            <a:off x="179512" y="179348"/>
            <a:ext cx="2199641" cy="400110"/>
          </a:xfrm>
          <a:prstGeom prst="rect">
            <a:avLst/>
          </a:prstGeom>
          <a:noFill/>
        </p:spPr>
        <p:txBody>
          <a:bodyPr wrap="none" rtlCol="0">
            <a:spAutoFit/>
          </a:bodyPr>
          <a:lstStyle/>
          <a:p>
            <a:r>
              <a:rPr lang="en-US" altLang="ko-KR" sz="2000" b="1" dirty="0" err="1"/>
              <a:t>Đo</a:t>
            </a:r>
            <a:r>
              <a:rPr lang="en-US" altLang="ko-KR" sz="2000" b="1" dirty="0"/>
              <a:t> </a:t>
            </a:r>
            <a:r>
              <a:rPr lang="en-US" altLang="ko-KR" sz="2000" b="1" dirty="0" err="1"/>
              <a:t>lường</a:t>
            </a:r>
            <a:r>
              <a:rPr lang="en-US" altLang="ko-KR" sz="2000" b="1" dirty="0"/>
              <a:t> </a:t>
            </a:r>
            <a:r>
              <a:rPr lang="en-US" altLang="ko-KR" sz="2000" b="1" dirty="0" err="1"/>
              <a:t>là</a:t>
            </a:r>
            <a:r>
              <a:rPr lang="en-US" altLang="ko-KR" sz="2000" b="1" dirty="0"/>
              <a:t> </a:t>
            </a:r>
            <a:r>
              <a:rPr lang="en-US" altLang="ko-KR" sz="2000" b="1" dirty="0" err="1"/>
              <a:t>gì</a:t>
            </a:r>
            <a:r>
              <a:rPr lang="en-US" altLang="ko-KR" sz="2000" b="1" dirty="0"/>
              <a:t>? </a:t>
            </a:r>
            <a:endParaRPr lang="ko-KR" altLang="en-US" sz="2000" b="1" dirty="0"/>
          </a:p>
        </p:txBody>
      </p:sp>
    </p:spTree>
    <p:extLst>
      <p:ext uri="{BB962C8B-B14F-4D97-AF65-F5344CB8AC3E}">
        <p14:creationId xmlns:p14="http://schemas.microsoft.com/office/powerpoint/2010/main" val="407015313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7" name="Text Box 5"/>
          <p:cNvSpPr txBox="1">
            <a:spLocks noChangeArrowheads="1"/>
          </p:cNvSpPr>
          <p:nvPr/>
        </p:nvSpPr>
        <p:spPr bwMode="auto">
          <a:xfrm>
            <a:off x="3266361" y="2854351"/>
            <a:ext cx="2193681"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dirty="0" err="1">
                <a:latin typeface="Times New Roman" pitchFamily="18" charset="0"/>
                <a:ea typeface="굴림체" pitchFamily="49" charset="-127"/>
              </a:rPr>
              <a:t>Biến</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động</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quan</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sát</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được</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của</a:t>
            </a:r>
            <a:r>
              <a:rPr kumimoji="1" lang="en-US" altLang="ko-KR" sz="1200" dirty="0">
                <a:latin typeface="Times New Roman" pitchFamily="18" charset="0"/>
                <a:ea typeface="굴림체" pitchFamily="49" charset="-127"/>
              </a:rPr>
              <a:t> Product/process</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99728" name="Text Box 6"/>
          <p:cNvSpPr txBox="1">
            <a:spLocks noChangeArrowheads="1"/>
          </p:cNvSpPr>
          <p:nvPr/>
        </p:nvSpPr>
        <p:spPr bwMode="auto">
          <a:xfrm>
            <a:off x="1800976" y="3875113"/>
            <a:ext cx="1978935" cy="431800"/>
          </a:xfrm>
          <a:prstGeom prst="rect">
            <a:avLst/>
          </a:prstGeom>
          <a:solidFill>
            <a:schemeClr val="bg1"/>
          </a:solidFill>
          <a:ln w="9525">
            <a:solidFill>
              <a:srgbClr val="292929"/>
            </a:solid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dirty="0" err="1">
                <a:latin typeface="Times New Roman" pitchFamily="18" charset="0"/>
                <a:ea typeface="굴림체" pitchFamily="49" charset="-127"/>
              </a:rPr>
              <a:t>Biến</a:t>
            </a:r>
            <a:r>
              <a:rPr kumimoji="1" lang="en-US" altLang="ko-KR" sz="1200" b="1" dirty="0">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động</a:t>
            </a:r>
            <a:r>
              <a:rPr kumimoji="1" lang="en-US" altLang="ko-KR" sz="1200" b="1" dirty="0">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thực</a:t>
            </a:r>
            <a:r>
              <a:rPr kumimoji="1" lang="en-US" altLang="ko-KR" sz="1200" b="1" dirty="0">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tế</a:t>
            </a:r>
            <a:r>
              <a:rPr kumimoji="1" lang="en-US" altLang="ko-KR" sz="1200" b="1" dirty="0">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của</a:t>
            </a:r>
            <a:r>
              <a:rPr kumimoji="1" lang="en-US" altLang="ko-KR" sz="1200" b="1" dirty="0">
                <a:latin typeface="Times New Roman" pitchFamily="18" charset="0"/>
                <a:ea typeface="굴림체" pitchFamily="49" charset="-127"/>
              </a:rPr>
              <a:t> product/process</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99729" name="Text Box 7"/>
          <p:cNvSpPr txBox="1">
            <a:spLocks noChangeArrowheads="1"/>
          </p:cNvSpPr>
          <p:nvPr/>
        </p:nvSpPr>
        <p:spPr bwMode="auto">
          <a:xfrm>
            <a:off x="4920782" y="3875113"/>
            <a:ext cx="2099490" cy="431800"/>
          </a:xfrm>
          <a:prstGeom prst="rect">
            <a:avLst/>
          </a:prstGeom>
          <a:solidFill>
            <a:schemeClr val="bg1"/>
          </a:solidFill>
          <a:ln w="9525">
            <a:solidFill>
              <a:srgbClr val="292929"/>
            </a:solid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dirty="0" err="1">
                <a:latin typeface="Times New Roman" pitchFamily="18" charset="0"/>
                <a:ea typeface="굴림체" pitchFamily="49" charset="-127"/>
              </a:rPr>
              <a:t>Biến</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động</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đo</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lường</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của</a:t>
            </a:r>
            <a:r>
              <a:rPr kumimoji="1" lang="en-US" altLang="ko-KR" sz="1200" dirty="0">
                <a:latin typeface="Times New Roman" pitchFamily="18" charset="0"/>
                <a:ea typeface="굴림체" pitchFamily="49" charset="-127"/>
              </a:rPr>
              <a:t> product/process</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cxnSp>
        <p:nvCxnSpPr>
          <p:cNvPr id="499730" name="AutoShape 8"/>
          <p:cNvCxnSpPr>
            <a:cxnSpLocks noChangeShapeType="1"/>
          </p:cNvCxnSpPr>
          <p:nvPr/>
        </p:nvCxnSpPr>
        <p:spPr bwMode="auto">
          <a:xfrm rot="5400000">
            <a:off x="3262759" y="2773938"/>
            <a:ext cx="588962" cy="1613389"/>
          </a:xfrm>
          <a:prstGeom prst="bentConnector3">
            <a:avLst>
              <a:gd name="adj1" fmla="val 49866"/>
            </a:avLst>
          </a:prstGeom>
          <a:noFill/>
          <a:ln w="9525">
            <a:solidFill>
              <a:srgbClr val="292929"/>
            </a:solidFill>
            <a:miter lim="800000"/>
            <a:headEnd/>
            <a:tailEnd/>
          </a:ln>
        </p:spPr>
      </p:cxnSp>
      <p:cxnSp>
        <p:nvCxnSpPr>
          <p:cNvPr id="499731" name="AutoShape 9"/>
          <p:cNvCxnSpPr>
            <a:cxnSpLocks noChangeShapeType="1"/>
          </p:cNvCxnSpPr>
          <p:nvPr/>
        </p:nvCxnSpPr>
        <p:spPr bwMode="auto">
          <a:xfrm rot="16200000" flipH="1">
            <a:off x="4848305" y="2801781"/>
            <a:ext cx="588962" cy="1557703"/>
          </a:xfrm>
          <a:prstGeom prst="bentConnector3">
            <a:avLst>
              <a:gd name="adj1" fmla="val 49866"/>
            </a:avLst>
          </a:prstGeom>
          <a:noFill/>
          <a:ln w="9525">
            <a:solidFill>
              <a:srgbClr val="292929"/>
            </a:solidFill>
            <a:miter lim="800000"/>
            <a:headEnd/>
            <a:tailEnd/>
          </a:ln>
        </p:spPr>
      </p:cxnSp>
      <p:sp>
        <p:nvSpPr>
          <p:cNvPr id="187402" name="Text Box 10"/>
          <p:cNvSpPr txBox="1">
            <a:spLocks noChangeArrowheads="1"/>
          </p:cNvSpPr>
          <p:nvPr/>
        </p:nvSpPr>
        <p:spPr bwMode="auto">
          <a:xfrm>
            <a:off x="1657369" y="4738713"/>
            <a:ext cx="930520"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Biến</a:t>
            </a:r>
            <a:r>
              <a:rPr kumimoji="1" lang="en-US" altLang="ko-KR" sz="1200" b="1" dirty="0">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động</a:t>
            </a:r>
            <a:r>
              <a:rPr kumimoji="1" lang="en-US" altLang="ko-KR" sz="1200" b="1" dirty="0">
                <a:latin typeface="Times New Roman" pitchFamily="18" charset="0"/>
                <a:ea typeface="굴림체" pitchFamily="49" charset="-127"/>
              </a:rPr>
              <a:t> </a:t>
            </a:r>
            <a:r>
              <a:rPr kumimoji="1" lang="en-US" altLang="ko-KR" sz="1200" b="1" dirty="0" err="1">
                <a:latin typeface="Times New Roman" pitchFamily="18" charset="0"/>
                <a:ea typeface="굴림체" pitchFamily="49" charset="-127"/>
              </a:rPr>
              <a:t>nhóm</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187403" name="Text Box 11"/>
          <p:cNvSpPr txBox="1">
            <a:spLocks noChangeArrowheads="1"/>
          </p:cNvSpPr>
          <p:nvPr/>
        </p:nvSpPr>
        <p:spPr bwMode="auto">
          <a:xfrm>
            <a:off x="2927858" y="4738713"/>
            <a:ext cx="930519"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Times New Roman" pitchFamily="18" charset="0"/>
                <a:ea typeface="굴림체" pitchFamily="49" charset="-127"/>
              </a:rPr>
              <a:t> </a:t>
            </a:r>
            <a:r>
              <a:rPr kumimoji="1" lang="en-US" altLang="ko-KR" sz="1150" b="1" dirty="0" err="1">
                <a:latin typeface="Times New Roman" pitchFamily="18" charset="0"/>
                <a:ea typeface="굴림체" pitchFamily="49" charset="-127"/>
              </a:rPr>
              <a:t>Biến</a:t>
            </a:r>
            <a:r>
              <a:rPr kumimoji="1" lang="en-US" altLang="ko-KR" sz="1150" b="1" dirty="0">
                <a:latin typeface="Times New Roman" pitchFamily="18" charset="0"/>
                <a:ea typeface="굴림체" pitchFamily="49" charset="-127"/>
              </a:rPr>
              <a:t> </a:t>
            </a:r>
            <a:r>
              <a:rPr kumimoji="1" lang="en-US" altLang="ko-KR" sz="1150" b="1" dirty="0" err="1">
                <a:latin typeface="Times New Roman" pitchFamily="18" charset="0"/>
                <a:ea typeface="굴림체" pitchFamily="49" charset="-127"/>
              </a:rPr>
              <a:t>động</a:t>
            </a:r>
            <a:r>
              <a:rPr kumimoji="1" lang="en-US" altLang="ko-KR" sz="1150" b="1" dirty="0">
                <a:latin typeface="Times New Roman" pitchFamily="18" charset="0"/>
                <a:ea typeface="굴림체" pitchFamily="49" charset="-127"/>
              </a:rPr>
              <a:t> </a:t>
            </a:r>
            <a:r>
              <a:rPr kumimoji="1" lang="en-US" altLang="ko-KR" sz="1150" b="1" dirty="0" err="1">
                <a:latin typeface="Times New Roman" pitchFamily="18" charset="0"/>
                <a:ea typeface="굴림체" pitchFamily="49" charset="-127"/>
              </a:rPr>
              <a:t>trong</a:t>
            </a:r>
            <a:r>
              <a:rPr kumimoji="1" lang="en-US" altLang="ko-KR" sz="1150" b="1" dirty="0">
                <a:latin typeface="Times New Roman" pitchFamily="18" charset="0"/>
                <a:ea typeface="굴림체" pitchFamily="49" charset="-127"/>
              </a:rPr>
              <a:t> </a:t>
            </a:r>
            <a:r>
              <a:rPr kumimoji="1" lang="en-US" altLang="ko-KR" sz="1150" b="1" dirty="0" err="1">
                <a:latin typeface="Times New Roman" pitchFamily="18" charset="0"/>
                <a:ea typeface="굴림체" pitchFamily="49" charset="-127"/>
              </a:rPr>
              <a:t>nhóm</a:t>
            </a:r>
            <a:endParaRPr kumimoji="1" lang="ko-KR" sz="1150" b="0" i="0" u="none" strike="noStrike" cap="none" normalizeH="0" baseline="0" dirty="0">
              <a:ln>
                <a:noFill/>
              </a:ln>
              <a:solidFill>
                <a:schemeClr val="tx1"/>
              </a:solidFill>
              <a:effectLst/>
              <a:latin typeface="굴림" pitchFamily="50" charset="-127"/>
              <a:ea typeface="굴림" pitchFamily="50" charset="-127"/>
            </a:endParaRPr>
          </a:p>
        </p:txBody>
      </p:sp>
      <p:cxnSp>
        <p:nvCxnSpPr>
          <p:cNvPr id="499734" name="AutoShape 12"/>
          <p:cNvCxnSpPr>
            <a:cxnSpLocks noChangeShapeType="1"/>
          </p:cNvCxnSpPr>
          <p:nvPr/>
        </p:nvCxnSpPr>
        <p:spPr bwMode="auto">
          <a:xfrm rot="-5400000">
            <a:off x="2221054" y="4209221"/>
            <a:ext cx="431800" cy="627185"/>
          </a:xfrm>
          <a:prstGeom prst="bentConnector3">
            <a:avLst>
              <a:gd name="adj1" fmla="val 50000"/>
            </a:avLst>
          </a:prstGeom>
          <a:noFill/>
          <a:ln w="9525">
            <a:solidFill>
              <a:srgbClr val="292929"/>
            </a:solidFill>
            <a:miter lim="800000"/>
            <a:headEnd/>
            <a:tailEnd/>
          </a:ln>
        </p:spPr>
      </p:cxnSp>
      <p:cxnSp>
        <p:nvCxnSpPr>
          <p:cNvPr id="499735" name="AutoShape 13"/>
          <p:cNvCxnSpPr>
            <a:cxnSpLocks noChangeShapeType="1"/>
          </p:cNvCxnSpPr>
          <p:nvPr/>
        </p:nvCxnSpPr>
        <p:spPr bwMode="auto">
          <a:xfrm rot="5400000" flipH="1">
            <a:off x="2856298" y="4201161"/>
            <a:ext cx="431800" cy="643304"/>
          </a:xfrm>
          <a:prstGeom prst="bentConnector3">
            <a:avLst>
              <a:gd name="adj1" fmla="val 50000"/>
            </a:avLst>
          </a:prstGeom>
          <a:noFill/>
          <a:ln w="9525">
            <a:solidFill>
              <a:srgbClr val="292929"/>
            </a:solidFill>
            <a:miter lim="800000"/>
            <a:headEnd/>
            <a:tailEnd/>
          </a:ln>
        </p:spPr>
      </p:cxnSp>
      <p:sp>
        <p:nvSpPr>
          <p:cNvPr id="2" name="Text Box 14"/>
          <p:cNvSpPr txBox="1">
            <a:spLocks noChangeArrowheads="1"/>
          </p:cNvSpPr>
          <p:nvPr/>
        </p:nvSpPr>
        <p:spPr bwMode="auto">
          <a:xfrm>
            <a:off x="4427984" y="4725144"/>
            <a:ext cx="1368152" cy="489916"/>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dirty="0" err="1">
                <a:latin typeface="Times New Roman" pitchFamily="18" charset="0"/>
                <a:ea typeface="굴림체" pitchFamily="49" charset="-127"/>
              </a:rPr>
              <a:t>Những</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biến</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động</a:t>
            </a:r>
            <a:r>
              <a:rPr kumimoji="1" lang="en-US" altLang="ko-KR" sz="1200" dirty="0">
                <a:latin typeface="Times New Roman" pitchFamily="18" charset="0"/>
                <a:ea typeface="굴림체" pitchFamily="49" charset="-127"/>
              </a:rPr>
              <a:t> do </a:t>
            </a:r>
            <a:r>
              <a:rPr kumimoji="1" lang="en-US" altLang="ko-KR" sz="1200" dirty="0" err="1">
                <a:latin typeface="Times New Roman" pitchFamily="18" charset="0"/>
                <a:ea typeface="굴림체" pitchFamily="49" charset="-127"/>
              </a:rPr>
              <a:t>người</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đo</a:t>
            </a:r>
            <a:r>
              <a:rPr kumimoji="1" lang="en-US" altLang="ko-KR" sz="1200" dirty="0">
                <a:latin typeface="Times New Roman" pitchFamily="18" charset="0"/>
                <a:ea typeface="굴림체" pitchFamily="49" charset="-127"/>
              </a:rPr>
              <a:t> </a:t>
            </a:r>
            <a:r>
              <a:rPr kumimoji="1" lang="en-US" altLang="ko-KR" sz="1200" dirty="0" err="1">
                <a:latin typeface="Times New Roman" pitchFamily="18" charset="0"/>
                <a:ea typeface="굴림체" pitchFamily="49" charset="-127"/>
              </a:rPr>
              <a:t>lường</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3" name="Text Box 15"/>
          <p:cNvSpPr txBox="1">
            <a:spLocks noChangeArrowheads="1"/>
          </p:cNvSpPr>
          <p:nvPr/>
        </p:nvSpPr>
        <p:spPr bwMode="auto">
          <a:xfrm>
            <a:off x="6012160" y="4725144"/>
            <a:ext cx="1368152" cy="431800"/>
          </a:xfrm>
          <a:prstGeom prst="rect">
            <a:avLst/>
          </a:prstGeom>
          <a:solidFill>
            <a:schemeClr val="bg1"/>
          </a:solidFill>
          <a:ln w="9525">
            <a:solidFill>
              <a:srgbClr val="292929"/>
            </a:solidFill>
            <a:miter lim="800000"/>
            <a:headEnd/>
            <a:tailEnd/>
          </a:ln>
          <a:effectLst>
            <a:outerShdw dist="107763" dir="2700000" algn="ctr" rotWithShape="0">
              <a:schemeClr val="bg2">
                <a:alpha val="50000"/>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err="1">
                <a:ln>
                  <a:noFill/>
                </a:ln>
                <a:solidFill>
                  <a:schemeClr val="tx1"/>
                </a:solidFill>
                <a:effectLst/>
                <a:latin typeface="Times New Roman" pitchFamily="18" charset="0"/>
                <a:ea typeface="굴림체" pitchFamily="49" charset="-127"/>
              </a:rPr>
              <a:t>Biến</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a:t>
            </a:r>
            <a:r>
              <a:rPr kumimoji="1" lang="en-US" altLang="ko-KR" sz="1200" b="0" i="0" u="none" strike="noStrike" cap="none" normalizeH="0" dirty="0" err="1">
                <a:ln>
                  <a:noFill/>
                </a:ln>
                <a:solidFill>
                  <a:schemeClr val="tx1"/>
                </a:solidFill>
                <a:effectLst/>
                <a:latin typeface="Times New Roman" pitchFamily="18" charset="0"/>
                <a:ea typeface="굴림체" pitchFamily="49" charset="-127"/>
              </a:rPr>
              <a:t>động</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do </a:t>
            </a:r>
            <a:r>
              <a:rPr kumimoji="1" lang="en-US" altLang="ko-KR" sz="1200" b="0" i="0" u="none" strike="noStrike" cap="none" normalizeH="0" dirty="0" err="1">
                <a:ln>
                  <a:noFill/>
                </a:ln>
                <a:solidFill>
                  <a:schemeClr val="tx1"/>
                </a:solidFill>
                <a:effectLst/>
                <a:latin typeface="Times New Roman" pitchFamily="18" charset="0"/>
                <a:ea typeface="굴림체" pitchFamily="49" charset="-127"/>
              </a:rPr>
              <a:t>dụng</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a:t>
            </a:r>
            <a:r>
              <a:rPr kumimoji="1" lang="en-US" altLang="ko-KR" sz="1200" b="0" i="0" u="none" strike="noStrike" cap="none" normalizeH="0" dirty="0" err="1">
                <a:ln>
                  <a:noFill/>
                </a:ln>
                <a:solidFill>
                  <a:schemeClr val="tx1"/>
                </a:solidFill>
                <a:effectLst/>
                <a:latin typeface="Times New Roman" pitchFamily="18" charset="0"/>
                <a:ea typeface="굴림체" pitchFamily="49" charset="-127"/>
              </a:rPr>
              <a:t>cụ</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a:t>
            </a:r>
            <a:r>
              <a:rPr kumimoji="1" lang="en-US" altLang="ko-KR" sz="1200" b="0" i="0" u="none" strike="noStrike" cap="none" normalizeH="0" dirty="0" err="1">
                <a:ln>
                  <a:noFill/>
                </a:ln>
                <a:solidFill>
                  <a:schemeClr val="tx1"/>
                </a:solidFill>
                <a:effectLst/>
                <a:latin typeface="Times New Roman" pitchFamily="18" charset="0"/>
                <a:ea typeface="굴림체" pitchFamily="49" charset="-127"/>
              </a:rPr>
              <a:t>đo</a:t>
            </a:r>
            <a:r>
              <a:rPr kumimoji="1" lang="en-US" altLang="ko-KR" sz="1200" b="0" i="0" u="none" strike="noStrike" cap="none" normalizeH="0" dirty="0">
                <a:ln>
                  <a:noFill/>
                </a:ln>
                <a:solidFill>
                  <a:schemeClr val="tx1"/>
                </a:solidFill>
                <a:effectLst/>
                <a:latin typeface="Times New Roman" pitchFamily="18" charset="0"/>
                <a:ea typeface="굴림체" pitchFamily="49" charset="-127"/>
              </a:rPr>
              <a:t> </a:t>
            </a:r>
            <a:r>
              <a:rPr kumimoji="1" lang="en-US" altLang="ko-KR" sz="1200" b="0" i="0" u="none" strike="noStrike" cap="none" normalizeH="0" dirty="0" err="1">
                <a:ln>
                  <a:noFill/>
                </a:ln>
                <a:solidFill>
                  <a:schemeClr val="tx1"/>
                </a:solidFill>
                <a:effectLst/>
                <a:latin typeface="Times New Roman" pitchFamily="18" charset="0"/>
                <a:ea typeface="굴림체" pitchFamily="49" charset="-127"/>
              </a:rPr>
              <a:t>lường</a:t>
            </a:r>
            <a:endParaRPr kumimoji="1" lang="en-US" altLang="ko-KR" sz="1200" b="0" i="0" u="none" strike="noStrike" cap="none" normalizeH="0" baseline="0" dirty="0">
              <a:ln>
                <a:noFill/>
              </a:ln>
              <a:solidFill>
                <a:schemeClr val="tx1"/>
              </a:solidFill>
              <a:effectLst/>
              <a:latin typeface="Times New Roman" pitchFamily="18" charset="0"/>
              <a:ea typeface="굴림체" pitchFamily="49" charset="-127"/>
            </a:endParaRPr>
          </a:p>
        </p:txBody>
      </p:sp>
      <p:cxnSp>
        <p:nvCxnSpPr>
          <p:cNvPr id="499738" name="AutoShape 16"/>
          <p:cNvCxnSpPr>
            <a:cxnSpLocks noChangeShapeType="1"/>
          </p:cNvCxnSpPr>
          <p:nvPr/>
        </p:nvCxnSpPr>
        <p:spPr bwMode="auto">
          <a:xfrm rot="-5400000">
            <a:off x="5356794" y="4102432"/>
            <a:ext cx="360363" cy="769326"/>
          </a:xfrm>
          <a:prstGeom prst="bentConnector3">
            <a:avLst>
              <a:gd name="adj1" fmla="val 49778"/>
            </a:avLst>
          </a:prstGeom>
          <a:noFill/>
          <a:ln w="9525">
            <a:solidFill>
              <a:srgbClr val="292929"/>
            </a:solidFill>
            <a:miter lim="800000"/>
            <a:headEnd/>
            <a:tailEnd/>
          </a:ln>
        </p:spPr>
      </p:cxnSp>
      <p:cxnSp>
        <p:nvCxnSpPr>
          <p:cNvPr id="499739" name="AutoShape 17"/>
          <p:cNvCxnSpPr>
            <a:cxnSpLocks noChangeShapeType="1"/>
          </p:cNvCxnSpPr>
          <p:nvPr/>
        </p:nvCxnSpPr>
        <p:spPr bwMode="auto">
          <a:xfrm rot="5400000" flipH="1">
            <a:off x="6121725" y="4106828"/>
            <a:ext cx="360363" cy="760535"/>
          </a:xfrm>
          <a:prstGeom prst="bentConnector3">
            <a:avLst>
              <a:gd name="adj1" fmla="val 49778"/>
            </a:avLst>
          </a:prstGeom>
          <a:noFill/>
          <a:ln w="9525">
            <a:solidFill>
              <a:srgbClr val="292929"/>
            </a:solidFill>
            <a:miter lim="800000"/>
            <a:headEnd/>
            <a:tailEnd/>
          </a:ln>
        </p:spPr>
      </p:cxnSp>
      <p:sp>
        <p:nvSpPr>
          <p:cNvPr id="499741" name="Text Box 19"/>
          <p:cNvSpPr txBox="1">
            <a:spLocks noChangeArrowheads="1"/>
          </p:cNvSpPr>
          <p:nvPr/>
        </p:nvSpPr>
        <p:spPr bwMode="auto">
          <a:xfrm>
            <a:off x="4492889" y="5304009"/>
            <a:ext cx="1329103" cy="461665"/>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dirty="0" err="1">
                <a:latin typeface="굴림체" pitchFamily="49" charset="-127"/>
                <a:ea typeface="굴림체" pitchFamily="49" charset="-127"/>
              </a:rPr>
              <a:t>Tính</a:t>
            </a:r>
            <a:r>
              <a:rPr kumimoji="1" lang="en-US" altLang="ko-KR" sz="1200" b="1" dirty="0">
                <a:latin typeface="굴림체" pitchFamily="49" charset="-127"/>
                <a:ea typeface="굴림체" pitchFamily="49" charset="-127"/>
              </a:rPr>
              <a:t> </a:t>
            </a:r>
            <a:r>
              <a:rPr kumimoji="1" lang="en-US" altLang="ko-KR" sz="1200" b="1" dirty="0" err="1">
                <a:latin typeface="굴림체" pitchFamily="49" charset="-127"/>
                <a:ea typeface="굴림체" pitchFamily="49" charset="-127"/>
              </a:rPr>
              <a:t>tái</a:t>
            </a:r>
            <a:r>
              <a:rPr kumimoji="1" lang="en-US" altLang="ko-KR" sz="1200" b="1" dirty="0">
                <a:latin typeface="굴림체" pitchFamily="49" charset="-127"/>
                <a:ea typeface="굴림체" pitchFamily="49" charset="-127"/>
              </a:rPr>
              <a:t> </a:t>
            </a:r>
            <a:r>
              <a:rPr kumimoji="1" lang="en-US" altLang="ko-KR" sz="1200" b="1" dirty="0" err="1">
                <a:latin typeface="굴림체" pitchFamily="49" charset="-127"/>
                <a:ea typeface="굴림체" pitchFamily="49" charset="-127"/>
              </a:rPr>
              <a:t>hiện</a:t>
            </a:r>
            <a:endParaRPr kumimoji="1" lang="ko-KR" sz="1200" b="1" i="0" u="none" strike="noStrike" cap="none" normalizeH="0" baseline="0" dirty="0">
              <a:ln>
                <a:noFill/>
              </a:ln>
              <a:solidFill>
                <a:schemeClr val="tx1"/>
              </a:solidFill>
              <a:effectLst/>
              <a:latin typeface="굴림체" pitchFamily="49" charset="-127"/>
              <a:ea typeface="굴림체" pitchFamily="49" charset="-127"/>
            </a:endParaRP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굴림체" pitchFamily="49" charset="-127"/>
              </a:rPr>
              <a:t>Reproducibility</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99742" name="Text Box 20"/>
          <p:cNvSpPr txBox="1">
            <a:spLocks noChangeArrowheads="1"/>
          </p:cNvSpPr>
          <p:nvPr/>
        </p:nvSpPr>
        <p:spPr bwMode="auto">
          <a:xfrm>
            <a:off x="5940152" y="5301208"/>
            <a:ext cx="1512168" cy="461665"/>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dirty="0" err="1">
                <a:latin typeface="Arial" pitchFamily="34" charset="0"/>
                <a:ea typeface="굴림체" pitchFamily="49" charset="-127"/>
              </a:rPr>
              <a:t>Tính</a:t>
            </a:r>
            <a:r>
              <a:rPr kumimoji="1" lang="en-US" altLang="ko-KR" sz="1200" b="1" i="0" u="none" strike="noStrike" cap="none" normalizeH="0" dirty="0">
                <a:ln>
                  <a:noFill/>
                </a:ln>
                <a:solidFill>
                  <a:schemeClr val="tx1"/>
                </a:solidFill>
                <a:effectLst/>
                <a:latin typeface="Arial" pitchFamily="34" charset="0"/>
                <a:ea typeface="굴림체" pitchFamily="49" charset="-127"/>
              </a:rPr>
              <a:t> </a:t>
            </a:r>
            <a:r>
              <a:rPr kumimoji="1" lang="en-US" altLang="ko-KR" sz="1200" b="1" i="0" u="none" strike="noStrike" cap="none" normalizeH="0" dirty="0" err="1">
                <a:ln>
                  <a:noFill/>
                </a:ln>
                <a:solidFill>
                  <a:schemeClr val="tx1"/>
                </a:solidFill>
                <a:effectLst/>
                <a:latin typeface="Arial" pitchFamily="34" charset="0"/>
                <a:ea typeface="굴림체" pitchFamily="49" charset="-127"/>
              </a:rPr>
              <a:t>lặp</a:t>
            </a:r>
            <a:r>
              <a:rPr kumimoji="1" lang="en-US" altLang="ko-KR" sz="1200" b="1" i="0" u="none" strike="noStrike" cap="none" normalizeH="0" dirty="0">
                <a:ln>
                  <a:noFill/>
                </a:ln>
                <a:solidFill>
                  <a:schemeClr val="tx1"/>
                </a:solidFill>
                <a:effectLst/>
                <a:latin typeface="Arial" pitchFamily="34" charset="0"/>
                <a:ea typeface="굴림체" pitchFamily="49" charset="-127"/>
              </a:rPr>
              <a:t> </a:t>
            </a:r>
            <a:r>
              <a:rPr kumimoji="1" lang="en-US" altLang="ko-KR" sz="1200" b="1" i="0" u="none" strike="noStrike" cap="none" normalizeH="0" dirty="0" err="1">
                <a:ln>
                  <a:noFill/>
                </a:ln>
                <a:solidFill>
                  <a:schemeClr val="tx1"/>
                </a:solidFill>
                <a:effectLst/>
                <a:latin typeface="Arial" pitchFamily="34" charset="0"/>
                <a:ea typeface="굴림체" pitchFamily="49" charset="-127"/>
              </a:rPr>
              <a:t>lại</a:t>
            </a:r>
            <a:r>
              <a:rPr kumimoji="1" lang="en-US" altLang="ko-KR" sz="1200" b="1" i="0" u="none" strike="noStrike" cap="none" normalizeH="0" dirty="0">
                <a:ln>
                  <a:noFill/>
                </a:ln>
                <a:solidFill>
                  <a:schemeClr val="tx1"/>
                </a:solidFill>
                <a:effectLst/>
                <a:latin typeface="Arial" pitchFamily="34" charset="0"/>
                <a:ea typeface="굴림체" pitchFamily="49" charset="-127"/>
              </a:rPr>
              <a:t> </a:t>
            </a:r>
            <a:r>
              <a:rPr kumimoji="1" lang="en-US" altLang="ko-KR" sz="1200" b="1" i="0" u="none" strike="noStrike" cap="none" normalizeH="0" baseline="0" dirty="0">
                <a:ln>
                  <a:noFill/>
                </a:ln>
                <a:solidFill>
                  <a:schemeClr val="tx1"/>
                </a:solidFill>
                <a:effectLst/>
                <a:latin typeface="Arial" pitchFamily="34" charset="0"/>
                <a:ea typeface="굴림체" pitchFamily="49" charset="-127"/>
              </a:rPr>
              <a:t>Repeatability</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pic>
        <p:nvPicPr>
          <p:cNvPr id="499750"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597789" y="2697189"/>
            <a:ext cx="987669" cy="593725"/>
          </a:xfrm>
          <a:prstGeom prst="rect">
            <a:avLst/>
          </a:prstGeom>
          <a:noFill/>
          <a:ln w="9525">
            <a:noFill/>
            <a:miter lim="800000"/>
            <a:headEnd/>
            <a:tailEnd/>
          </a:ln>
        </p:spPr>
      </p:pic>
      <p:cxnSp>
        <p:nvCxnSpPr>
          <p:cNvPr id="499756" name="AutoShape 34"/>
          <p:cNvCxnSpPr>
            <a:cxnSpLocks noChangeShapeType="1"/>
            <a:endCxn id="499741" idx="0"/>
          </p:cNvCxnSpPr>
          <p:nvPr/>
        </p:nvCxnSpPr>
        <p:spPr bwMode="auto">
          <a:xfrm rot="16200000" flipH="1">
            <a:off x="5007337" y="5153905"/>
            <a:ext cx="290832" cy="9376"/>
          </a:xfrm>
          <a:prstGeom prst="bentConnector3">
            <a:avLst>
              <a:gd name="adj1" fmla="val 50000"/>
            </a:avLst>
          </a:prstGeom>
          <a:noFill/>
          <a:ln w="9525">
            <a:solidFill>
              <a:schemeClr val="tx1"/>
            </a:solidFill>
            <a:miter lim="800000"/>
            <a:headEnd/>
            <a:tailEnd type="triangle" w="med" len="med"/>
          </a:ln>
        </p:spPr>
      </p:cxnSp>
      <p:sp>
        <p:nvSpPr>
          <p:cNvPr id="499758" name="Text Box 36"/>
          <p:cNvSpPr txBox="1">
            <a:spLocks noChangeArrowheads="1"/>
          </p:cNvSpPr>
          <p:nvPr/>
        </p:nvSpPr>
        <p:spPr bwMode="auto">
          <a:xfrm>
            <a:off x="5940152" y="5805264"/>
            <a:ext cx="1512168" cy="938719"/>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100" b="1" dirty="0" err="1">
                <a:latin typeface="Arial" pitchFamily="34" charset="0"/>
                <a:ea typeface="굴림체" pitchFamily="49" charset="-127"/>
              </a:rPr>
              <a:t>Độ</a:t>
            </a:r>
            <a:r>
              <a:rPr kumimoji="1" lang="en-US" altLang="ko-KR" sz="1100" b="1" dirty="0">
                <a:latin typeface="Arial" pitchFamily="34" charset="0"/>
                <a:ea typeface="굴림체" pitchFamily="49" charset="-127"/>
              </a:rPr>
              <a:t> </a:t>
            </a:r>
            <a:r>
              <a:rPr kumimoji="1" lang="en-US" altLang="ko-KR" sz="1100" b="1" dirty="0" err="1">
                <a:latin typeface="Arial" pitchFamily="34" charset="0"/>
                <a:ea typeface="굴림체" pitchFamily="49" charset="-127"/>
              </a:rPr>
              <a:t>lệch</a:t>
            </a:r>
            <a:r>
              <a:rPr kumimoji="1" lang="en-US" altLang="ko-KR" sz="1100" b="1" dirty="0">
                <a:latin typeface="Arial" pitchFamily="34" charset="0"/>
                <a:ea typeface="굴림체" pitchFamily="49" charset="-127"/>
              </a:rPr>
              <a:t> </a:t>
            </a:r>
            <a:r>
              <a:rPr kumimoji="1" lang="en-US" altLang="ko-KR" sz="1100" b="1" i="0" u="none" strike="noStrike" cap="none" normalizeH="0" baseline="0" dirty="0">
                <a:ln>
                  <a:noFill/>
                </a:ln>
                <a:solidFill>
                  <a:schemeClr val="tx1"/>
                </a:solidFill>
                <a:effectLst/>
                <a:latin typeface="Arial" pitchFamily="34" charset="0"/>
                <a:ea typeface="굴림체" pitchFamily="49" charset="-127"/>
              </a:rPr>
              <a:t>(Bias)</a:t>
            </a:r>
          </a:p>
          <a:p>
            <a:pPr algn="ctr"/>
            <a:r>
              <a:rPr lang="en-US" altLang="ko-KR" sz="1100" b="1" dirty="0">
                <a:latin typeface="Arial" pitchFamily="34" charset="0"/>
                <a:ea typeface="굴림체" pitchFamily="49" charset="-127"/>
              </a:rPr>
              <a:t>Đ</a:t>
            </a:r>
            <a:r>
              <a:rPr lang="vi-VN" altLang="ko-KR" sz="1100" b="1" dirty="0">
                <a:latin typeface="Arial" pitchFamily="34" charset="0"/>
                <a:ea typeface="굴림체" pitchFamily="49" charset="-127"/>
              </a:rPr>
              <a:t>ộ tuyến tính</a:t>
            </a:r>
            <a:r>
              <a:rPr lang="en-US" altLang="ko-KR" sz="1100" b="1" dirty="0">
                <a:latin typeface="Arial" pitchFamily="34" charset="0"/>
                <a:ea typeface="굴림체" pitchFamily="49" charset="-127"/>
              </a:rPr>
              <a:t> (</a:t>
            </a:r>
            <a:r>
              <a:rPr lang="en-US" altLang="ko-KR" sz="1100" b="1" dirty="0">
                <a:latin typeface="굴림체" pitchFamily="49" charset="-127"/>
                <a:ea typeface="굴림체" pitchFamily="49" charset="-127"/>
              </a:rPr>
              <a:t>Linearity)</a:t>
            </a:r>
            <a:endParaRPr lang="ko-KR" altLang="ko-KR" sz="1100" dirty="0"/>
          </a:p>
          <a:p>
            <a:pPr lvl="0" algn="ctr"/>
            <a:r>
              <a:rPr lang="en-US" altLang="ko-KR" sz="1100" b="1" dirty="0" err="1">
                <a:latin typeface="굴림체" pitchFamily="49" charset="-127"/>
                <a:ea typeface="굴림체" pitchFamily="49" charset="-127"/>
              </a:rPr>
              <a:t>Tính</a:t>
            </a:r>
            <a:r>
              <a:rPr lang="en-US" altLang="ko-KR" sz="1100" b="1" dirty="0">
                <a:latin typeface="굴림체" pitchFamily="49" charset="-127"/>
                <a:ea typeface="굴림체" pitchFamily="49" charset="-127"/>
              </a:rPr>
              <a:t> </a:t>
            </a:r>
            <a:r>
              <a:rPr lang="en-US" altLang="ko-KR" sz="1100" b="1" dirty="0" err="1">
                <a:latin typeface="굴림체" pitchFamily="49" charset="-127"/>
                <a:ea typeface="굴림체" pitchFamily="49" charset="-127"/>
              </a:rPr>
              <a:t>ổn</a:t>
            </a:r>
            <a:r>
              <a:rPr lang="en-US" altLang="ko-KR" sz="1100" b="1" dirty="0">
                <a:latin typeface="굴림체" pitchFamily="49" charset="-127"/>
                <a:ea typeface="굴림체" pitchFamily="49" charset="-127"/>
              </a:rPr>
              <a:t> </a:t>
            </a:r>
            <a:r>
              <a:rPr lang="en-US" altLang="ko-KR" sz="1100" b="1" dirty="0" err="1">
                <a:latin typeface="굴림체" pitchFamily="49" charset="-127"/>
                <a:ea typeface="굴림체" pitchFamily="49" charset="-127"/>
              </a:rPr>
              <a:t>định</a:t>
            </a:r>
            <a:r>
              <a:rPr lang="en-US" altLang="ko-KR" sz="1100" b="1" dirty="0">
                <a:latin typeface="굴림체" pitchFamily="49" charset="-127"/>
                <a:ea typeface="굴림체" pitchFamily="49" charset="-127"/>
              </a:rPr>
              <a:t>(</a:t>
            </a:r>
            <a:r>
              <a:rPr lang="en-US" altLang="ko-KR" sz="1100" b="1" dirty="0">
                <a:latin typeface="Arial" pitchFamily="34" charset="0"/>
                <a:ea typeface="굴림체" pitchFamily="49" charset="-127"/>
              </a:rPr>
              <a:t>Stability)</a:t>
            </a:r>
            <a:endParaRPr kumimoji="1" lang="ko-KR" altLang="ko-KR" sz="1100" b="0" i="0" u="none" strike="noStrike" cap="none" normalizeH="0" baseline="0" dirty="0">
              <a:ln>
                <a:noFill/>
              </a:ln>
              <a:solidFill>
                <a:schemeClr val="tx1"/>
              </a:solidFill>
              <a:effectLst/>
              <a:latin typeface="굴림" pitchFamily="50" charset="-127"/>
              <a:ea typeface="굴림" pitchFamily="50" charset="-127"/>
            </a:endParaRPr>
          </a:p>
        </p:txBody>
      </p:sp>
      <p:cxnSp>
        <p:nvCxnSpPr>
          <p:cNvPr id="499760" name="AutoShape 38"/>
          <p:cNvCxnSpPr>
            <a:cxnSpLocks noChangeShapeType="1"/>
            <a:endCxn id="499742" idx="0"/>
          </p:cNvCxnSpPr>
          <p:nvPr/>
        </p:nvCxnSpPr>
        <p:spPr bwMode="auto">
          <a:xfrm rot="5400000">
            <a:off x="6597638" y="5197674"/>
            <a:ext cx="202132" cy="4936"/>
          </a:xfrm>
          <a:prstGeom prst="bentConnector3">
            <a:avLst>
              <a:gd name="adj1" fmla="val 50000"/>
            </a:avLst>
          </a:prstGeom>
          <a:noFill/>
          <a:ln w="9525">
            <a:solidFill>
              <a:schemeClr val="tx1"/>
            </a:solidFill>
            <a:miter lim="800000"/>
            <a:headEnd/>
            <a:tailEnd type="triangle" w="med" len="med"/>
          </a:ln>
        </p:spPr>
      </p:cxnSp>
      <p:sp>
        <p:nvSpPr>
          <p:cNvPr id="499763" name="Line 44"/>
          <p:cNvSpPr>
            <a:spLocks noChangeShapeType="1"/>
          </p:cNvSpPr>
          <p:nvPr/>
        </p:nvSpPr>
        <p:spPr bwMode="auto">
          <a:xfrm>
            <a:off x="5624165" y="3295676"/>
            <a:ext cx="930519" cy="0"/>
          </a:xfrm>
          <a:prstGeom prst="line">
            <a:avLst/>
          </a:prstGeom>
          <a:noFill/>
          <a:ln w="9525">
            <a:solidFill>
              <a:schemeClr val="tx1"/>
            </a:solidFill>
            <a:round/>
            <a:headEnd/>
            <a:tailEnd/>
          </a:ln>
        </p:spPr>
        <p:txBody>
          <a:bodyPr vert="horz" wrap="square" lIns="91440" tIns="45720" rIns="91440" bIns="45720" numCol="1" anchor="ctr" anchorCtr="0" compatLnSpc="1">
            <a:prstTxWarp prst="textNoShape">
              <a:avLst/>
            </a:prstTxWarp>
          </a:bodyPr>
          <a:lstStyle/>
          <a:p>
            <a:endParaRPr lang="ko-KR" altLang="en-US" dirty="0"/>
          </a:p>
        </p:txBody>
      </p:sp>
      <p:sp>
        <p:nvSpPr>
          <p:cNvPr id="52" name="TextBox 51"/>
          <p:cNvSpPr txBox="1"/>
          <p:nvPr/>
        </p:nvSpPr>
        <p:spPr>
          <a:xfrm>
            <a:off x="179512" y="764704"/>
            <a:ext cx="8712968" cy="2225225"/>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Những</a:t>
            </a:r>
            <a:r>
              <a:rPr kumimoji="0" lang="en-US" altLang="ko-KR" sz="1400" b="1" kern="0" dirty="0">
                <a:solidFill>
                  <a:sysClr val="windowText" lastClr="000000"/>
                </a:solidFill>
                <a:latin typeface="맑은 고딕" pitchFamily="50" charset="-127"/>
                <a:ea typeface="맑은 고딕" pitchFamily="50" charset="-127"/>
              </a:rPr>
              <a:t> Data </a:t>
            </a:r>
            <a:r>
              <a:rPr kumimoji="0" lang="en-US" altLang="ko-KR" sz="1400" b="1" kern="0" dirty="0" err="1">
                <a:solidFill>
                  <a:sysClr val="windowText" lastClr="000000"/>
                </a:solidFill>
                <a:latin typeface="맑은 고딕" pitchFamily="50" charset="-127"/>
                <a:ea typeface="맑은 고딕" pitchFamily="50" charset="-127"/>
              </a:rPr>
              <a:t>mà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chúng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ta</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có</a:t>
            </a:r>
            <a:endParaRPr kumimoji="0" lang="en-US" altLang="ko-KR" sz="1400" b="1" kern="0" dirty="0">
              <a:solidFill>
                <a:sysClr val="windowText" lastClr="000000"/>
              </a:solidFill>
              <a:latin typeface="맑은 고딕" pitchFamily="50" charset="-127"/>
              <a:ea typeface="맑은 고딕" pitchFamily="50" charset="-127"/>
            </a:endParaRPr>
          </a:p>
          <a:p>
            <a:pPr marL="534988" indent="-169863" fontAlgn="auto" latinLnBrk="0">
              <a:lnSpc>
                <a:spcPct val="110000"/>
              </a:lnSpc>
              <a:spcBef>
                <a:spcPts val="0"/>
              </a:spcBef>
              <a:spcAft>
                <a:spcPts val="0"/>
              </a:spcAft>
              <a:buClr>
                <a:srgbClr val="595959"/>
              </a:buClr>
              <a:buFont typeface="Wingdings" pitchFamily="2" charset="2"/>
              <a:buChar char="§"/>
              <a:defRPr/>
            </a:pP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về</a:t>
            </a:r>
            <a:r>
              <a:rPr lang="en-US" altLang="ko-KR" sz="1400" kern="0" dirty="0">
                <a:solidFill>
                  <a:sysClr val="windowText" lastClr="000000"/>
                </a:solidFill>
                <a:latin typeface="맑은 고딕" pitchFamily="50" charset="-127"/>
                <a:ea typeface="맑은 고딕" pitchFamily="50" charset="-127"/>
              </a:rPr>
              <a:t> Process hay Product </a:t>
            </a:r>
            <a:r>
              <a:rPr lang="en-US" altLang="ko-KR" sz="1400" kern="0" dirty="0" err="1">
                <a:solidFill>
                  <a:sysClr val="windowText" lastClr="000000"/>
                </a:solidFill>
                <a:latin typeface="맑은 고딕" pitchFamily="50" charset="-127"/>
                <a:ea typeface="맑은 고딕" pitchFamily="50" charset="-127"/>
              </a:rPr>
              <a:t>mà</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chúng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ta</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biết</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bao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gồm</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thực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tế</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trên</a:t>
            </a:r>
            <a:r>
              <a:rPr lang="en-US" altLang="ko-KR" sz="1400" kern="0" dirty="0">
                <a:solidFill>
                  <a:sysClr val="windowText" lastClr="000000"/>
                </a:solidFill>
                <a:latin typeface="맑은 고딕" pitchFamily="50" charset="-127"/>
                <a:ea typeface="맑은 고딕" pitchFamily="50" charset="-127"/>
              </a:rPr>
              <a:t> Process </a:t>
            </a:r>
            <a:r>
              <a:rPr lang="en-US" altLang="ko-KR" sz="1400" kern="0" dirty="0" err="1">
                <a:solidFill>
                  <a:sysClr val="windowText" lastClr="000000"/>
                </a:solidFill>
                <a:latin typeface="맑은 고딕" pitchFamily="50" charset="-127"/>
                <a:ea typeface="맑은 고딕" pitchFamily="50" charset="-127"/>
              </a:rPr>
              <a:t>hoặc</a:t>
            </a:r>
            <a:r>
              <a:rPr lang="en-US" altLang="ko-KR" sz="1400" kern="0" dirty="0">
                <a:solidFill>
                  <a:sysClr val="windowText" lastClr="000000"/>
                </a:solidFill>
                <a:latin typeface="맑은 고딕" pitchFamily="50" charset="-127"/>
                <a:ea typeface="맑은 고딕" pitchFamily="50" charset="-127"/>
              </a:rPr>
              <a:t> Product </a:t>
            </a:r>
            <a:r>
              <a:rPr lang="en-US" altLang="ko-KR" sz="1400" kern="0" dirty="0" err="1">
                <a:solidFill>
                  <a:sysClr val="windowText" lastClr="000000"/>
                </a:solidFill>
                <a:latin typeface="맑은 고딕" pitchFamily="50" charset="-127"/>
                <a:ea typeface="맑은 고딕" pitchFamily="50" charset="-127"/>
              </a:rPr>
              <a:t>và</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cả</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đạc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được</a:t>
            </a:r>
            <a:r>
              <a:rPr lang="en-US" altLang="ko-KR" sz="1400" kern="0" dirty="0">
                <a:solidFill>
                  <a:sysClr val="windowText" lastClr="000000"/>
                </a:solidFill>
                <a:latin typeface="맑은 고딕" pitchFamily="50" charset="-127"/>
                <a:ea typeface="맑은 고딕" pitchFamily="50" charset="-127"/>
              </a:rPr>
              <a:t> do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sai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số</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phát</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sinh</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trong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quá</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trình</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lường</a:t>
            </a:r>
            <a:r>
              <a:rPr lang="en-US" altLang="ko-KR" sz="1400" kern="0" dirty="0">
                <a:solidFill>
                  <a:sysClr val="windowText" lastClr="000000"/>
                </a:solidFill>
                <a:latin typeface="맑은 고딕" pitchFamily="50" charset="-127"/>
                <a:ea typeface="맑은 고딕" pitchFamily="50" charset="-127"/>
              </a:rPr>
              <a:t>.</a:t>
            </a:r>
            <a:endParaRPr kumimoji="0" lang="en-US" altLang="ko-KR" sz="1400" kern="0" dirty="0">
              <a:solidFill>
                <a:sysClr val="windowText" lastClr="000000"/>
              </a:solidFill>
              <a:latin typeface="맑은 고딕" pitchFamily="50" charset="-127"/>
              <a:ea typeface="맑은 고딕" pitchFamily="50" charset="-127"/>
            </a:endParaRPr>
          </a:p>
          <a:p>
            <a:pPr marL="534988" indent="-169863" fontAlgn="auto" latinLnBrk="0">
              <a:lnSpc>
                <a:spcPct val="110000"/>
              </a:lnSpc>
              <a:spcBef>
                <a:spcPts val="0"/>
              </a:spcBef>
              <a:spcAft>
                <a:spcPts val="0"/>
              </a:spcAft>
              <a:buClr>
                <a:srgbClr val="595959"/>
              </a:buClr>
              <a:buFont typeface="Wingdings" pitchFamily="2" charset="2"/>
              <a:buChar char="§"/>
              <a:defRPr/>
            </a:pPr>
            <a:r>
              <a:rPr lang="en-US" altLang="ko-KR" sz="1400" kern="0" dirty="0" err="1">
                <a:solidFill>
                  <a:sysClr val="windowText" lastClr="000000"/>
                </a:solidFill>
                <a:latin typeface="맑은 고딕" pitchFamily="50" charset="-127"/>
                <a:ea typeface="맑은 고딕" pitchFamily="50" charset="-127"/>
              </a:rPr>
              <a:t>Để</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biết</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được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a:t>
            </a:r>
            <a:r>
              <a:rPr lang="en-US" altLang="ko-KR" sz="1400" kern="0" dirty="0" err="1">
                <a:solidFill>
                  <a:sysClr val="windowText" lastClr="000000"/>
                </a:solidFill>
                <a:latin typeface="맑은 고딕" pitchFamily="50" charset="-127"/>
                <a:ea typeface="맑은 고딕" pitchFamily="50" charset="-127"/>
              </a:rPr>
              <a:t>thay</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đổi</a:t>
            </a:r>
            <a:r>
              <a:rPr lang="en-US" altLang="ko-KR" sz="1400" kern="0" dirty="0">
                <a:solidFill>
                  <a:sysClr val="windowText" lastClr="000000"/>
                </a:solidFill>
                <a:latin typeface="맑은 고딕" pitchFamily="50" charset="-127"/>
                <a:ea typeface="맑은 고딕" pitchFamily="50" charset="-127"/>
              </a:rPr>
              <a:t> (process or product) </a:t>
            </a:r>
            <a:r>
              <a:rPr lang="en-US" altLang="ko-KR" sz="1400" kern="0" dirty="0" err="1">
                <a:solidFill>
                  <a:sysClr val="windowText" lastClr="000000"/>
                </a:solidFill>
                <a:latin typeface="맑은 고딕" pitchFamily="50" charset="-127"/>
                <a:ea typeface="맑은 고딕" pitchFamily="50" charset="-127"/>
              </a:rPr>
              <a:t>thì</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việc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tối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thiểu</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hóa</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a:t>
            </a:r>
            <a:r>
              <a:rPr lang="en-US" altLang="ko-KR" sz="1400" kern="0" dirty="0" err="1">
                <a:solidFill>
                  <a:sysClr val="windowText" lastClr="000000"/>
                </a:solidFill>
                <a:latin typeface="맑은 고딕" pitchFamily="50" charset="-127"/>
                <a:ea typeface="맑은 고딕" pitchFamily="50" charset="-127"/>
              </a:rPr>
              <a:t>thay</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đổi</a:t>
            </a:r>
            <a:r>
              <a:rPr lang="en-US" altLang="ko-KR" sz="1400" kern="0" dirty="0">
                <a:solidFill>
                  <a:sysClr val="windowText" lastClr="000000"/>
                </a:solidFill>
                <a:latin typeface="맑은 고딕" pitchFamily="50" charset="-127"/>
                <a:ea typeface="맑은 고딕" pitchFamily="50" charset="-127"/>
              </a:rPr>
              <a:t> do </a:t>
            </a:r>
            <a:r>
              <a:rPr lang="en-US" altLang="ko-KR" sz="1400" kern="0" dirty="0" err="1">
                <a:solidFill>
                  <a:sysClr val="windowText" lastClr="000000"/>
                </a:solidFill>
                <a:latin typeface="맑은 고딕" pitchFamily="50" charset="-127"/>
                <a:ea typeface="맑은 고딕" pitchFamily="50" charset="-127"/>
              </a:rPr>
              <a:t>sai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số</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trong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đạc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là</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rất</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quan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trọng</a:t>
            </a:r>
            <a:endParaRPr kumimoji="0" lang="en-US" altLang="ko-KR" sz="1400" kern="0" dirty="0">
              <a:solidFill>
                <a:sysClr val="windowText" lastClr="000000"/>
              </a:solidFill>
              <a:latin typeface="맑은 고딕" pitchFamily="50" charset="-127"/>
              <a:ea typeface="맑은 고딕" pitchFamily="50" charset="-127"/>
            </a:endParaRPr>
          </a:p>
          <a:p>
            <a:pPr marL="534988" indent="-169863" fontAlgn="auto" latinLnBrk="0">
              <a:lnSpc>
                <a:spcPct val="110000"/>
              </a:lnSpc>
              <a:spcBef>
                <a:spcPts val="0"/>
              </a:spcBef>
              <a:spcAft>
                <a:spcPts val="0"/>
              </a:spcAft>
              <a:buClr>
                <a:srgbClr val="595959"/>
              </a:buClr>
              <a:buFont typeface="Wingdings" pitchFamily="2" charset="2"/>
              <a:buChar char="§"/>
              <a:defRPr/>
            </a:pPr>
            <a:r>
              <a:rPr lang="en-US" altLang="ko-KR" sz="1400" kern="0" dirty="0" err="1">
                <a:solidFill>
                  <a:sysClr val="windowText" lastClr="000000"/>
                </a:solidFill>
                <a:latin typeface="맑은 고딕" pitchFamily="50" charset="-127"/>
                <a:ea typeface="맑은 고딕" pitchFamily="50" charset="-127"/>
              </a:rPr>
              <a:t>Kiểm</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tra</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mức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phát</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sinh</a:t>
            </a:r>
            <a:r>
              <a:rPr lang="en-US" altLang="ko-KR" sz="1400" kern="0" dirty="0">
                <a:solidFill>
                  <a:sysClr val="windowText" lastClr="000000"/>
                </a:solidFill>
                <a:latin typeface="맑은 고딕" pitchFamily="50" charset="-127"/>
                <a:ea typeface="맑은 고딕" pitchFamily="50" charset="-127"/>
              </a:rPr>
              <a:t> do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sai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số</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của</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hệ</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thống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đạc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mà</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chúng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ta</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đang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sử</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dụng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quá</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trình</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kiểm</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chứng</a:t>
            </a:r>
            <a:r>
              <a:rPr kumimoji="0" lang="ko-KR" altLang="en-US" sz="1400" kern="0" dirty="0">
                <a:solidFill>
                  <a:sysClr val="windowText" lastClr="000000"/>
                </a:solidFill>
                <a:latin typeface="맑은 고딕" pitchFamily="50" charset="-127"/>
                <a:ea typeface="맑은 고딕" pitchFamily="50" charset="-127"/>
              </a:rPr>
              <a:t> </a:t>
            </a:r>
            <a:r>
              <a:rPr lang="en-US" altLang="ko-KR" sz="1400" kern="0" dirty="0">
                <a:solidFill>
                  <a:sysClr val="windowText" lastClr="000000"/>
                </a:solidFill>
                <a:latin typeface="맑은 고딕" pitchFamily="50" charset="-127"/>
                <a:ea typeface="맑은 고딕" pitchFamily="50" charset="-127"/>
              </a:rPr>
              <a:t>(MSA*) </a:t>
            </a:r>
            <a:r>
              <a:rPr lang="en-US" altLang="ko-KR" sz="1400" kern="0" dirty="0" err="1">
                <a:solidFill>
                  <a:sysClr val="windowText" lastClr="000000"/>
                </a:solidFill>
                <a:latin typeface="맑은 고딕" pitchFamily="50" charset="-127"/>
                <a:ea typeface="맑은 고딕" pitchFamily="50" charset="-127"/>
              </a:rPr>
              <a:t>của</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hệ</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thống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đạc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sẽ</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cải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thiện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những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biến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động</a:t>
            </a:r>
            <a:r>
              <a:rPr lang="en-US" altLang="ko-KR" sz="1400" kern="0" dirty="0">
                <a:solidFill>
                  <a:sysClr val="windowText" lastClr="000000"/>
                </a:solidFill>
                <a:latin typeface="맑은 고딕" pitchFamily="50" charset="-127"/>
                <a:ea typeface="맑은 고딕" pitchFamily="50" charset="-127"/>
              </a:rPr>
              <a:t>/</a:t>
            </a:r>
            <a:r>
              <a:rPr lang="en-US" altLang="ko-KR" sz="1400" kern="0" dirty="0" err="1">
                <a:solidFill>
                  <a:sysClr val="windowText" lastClr="000000"/>
                </a:solidFill>
                <a:latin typeface="맑은 고딕" pitchFamily="50" charset="-127"/>
                <a:ea typeface="맑은 고딕" pitchFamily="50" charset="-127"/>
              </a:rPr>
              <a:t>thay</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đổi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này</a:t>
            </a:r>
            <a:r>
              <a:rPr lang="en-US" altLang="ko-KR" sz="1400" kern="0" dirty="0">
                <a:solidFill>
                  <a:sysClr val="windowText" lastClr="000000"/>
                </a:solidFill>
                <a:latin typeface="맑은 고딕" pitchFamily="50" charset="-127"/>
                <a:ea typeface="맑은 고딕" pitchFamily="50" charset="-127"/>
              </a:rPr>
              <a:t> </a:t>
            </a:r>
            <a:endParaRPr kumimoji="0" lang="ko-KR" altLang="en-US" sz="1400" kern="0" dirty="0">
              <a:solidFill>
                <a:sysClr val="windowText" lastClr="000000"/>
              </a:solidFill>
              <a:latin typeface="맑은 고딕" pitchFamily="50" charset="-127"/>
              <a:ea typeface="맑은 고딕" pitchFamily="50" charset="-127"/>
            </a:endParaRPr>
          </a:p>
        </p:txBody>
      </p:sp>
      <p:sp>
        <p:nvSpPr>
          <p:cNvPr id="54"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Hiểu</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về</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sự</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biến</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động</a:t>
            </a:r>
            <a:r>
              <a:rPr lang="en-US" altLang="ko-KR" sz="2000" b="1" kern="0" dirty="0">
                <a:solidFill>
                  <a:sysClr val="windowText" lastClr="000000">
                    <a:lumMod val="75000"/>
                    <a:lumOff val="25000"/>
                  </a:sysClr>
                </a:solidFill>
                <a:latin typeface="맑은 고딕" pitchFamily="50" charset="-127"/>
                <a:ea typeface="맑은 고딕" pitchFamily="50" charset="-127"/>
              </a:rPr>
              <a:t>/</a:t>
            </a:r>
            <a:r>
              <a:rPr lang="en-US" altLang="ko-KR" sz="2000" b="1" kern="0" dirty="0" err="1">
                <a:solidFill>
                  <a:sysClr val="windowText" lastClr="000000">
                    <a:lumMod val="75000"/>
                    <a:lumOff val="25000"/>
                  </a:sysClr>
                </a:solidFill>
                <a:latin typeface="맑은 고딕" pitchFamily="50" charset="-127"/>
                <a:ea typeface="맑은 고딕" pitchFamily="50" charset="-127"/>
              </a:rPr>
              <a:t>thay</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đổi</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của</a:t>
            </a:r>
            <a:r>
              <a:rPr lang="en-US" altLang="ko-KR" sz="2000" b="1" kern="0" dirty="0">
                <a:solidFill>
                  <a:sysClr val="windowText" lastClr="000000">
                    <a:lumMod val="75000"/>
                    <a:lumOff val="25000"/>
                  </a:sysClr>
                </a:solidFill>
                <a:latin typeface="맑은 고딕" pitchFamily="50" charset="-127"/>
                <a:ea typeface="맑은 고딕" pitchFamily="50" charset="-127"/>
              </a:rPr>
              <a:t> Data</a:t>
            </a:r>
            <a:endParaRPr lang="ko-KR" altLang="en-US" sz="2000" b="1" kern="0" dirty="0">
              <a:solidFill>
                <a:srgbClr val="000000"/>
              </a:solidFill>
              <a:latin typeface="맑은 고딕"/>
              <a:ea typeface="맑은 고딕"/>
            </a:endParaRPr>
          </a:p>
        </p:txBody>
      </p:sp>
      <p:sp>
        <p:nvSpPr>
          <p:cNvPr id="30" name="TextBox 29"/>
          <p:cNvSpPr txBox="1"/>
          <p:nvPr/>
        </p:nvSpPr>
        <p:spPr>
          <a:xfrm>
            <a:off x="517396" y="6237313"/>
            <a:ext cx="2888035" cy="276999"/>
          </a:xfrm>
          <a:prstGeom prst="rect">
            <a:avLst/>
          </a:prstGeom>
          <a:noFill/>
        </p:spPr>
        <p:txBody>
          <a:bodyPr wrap="none" rtlCol="0">
            <a:spAutoFit/>
          </a:bodyPr>
          <a:lstStyle/>
          <a:p>
            <a:pPr algn="l"/>
            <a:r>
              <a:rPr lang="en-US" altLang="ko-KR" sz="1200" dirty="0">
                <a:latin typeface="맑은 고딕" pitchFamily="50" charset="-127"/>
                <a:ea typeface="맑은 고딕" pitchFamily="50" charset="-127"/>
              </a:rPr>
              <a:t>* MSA (Measurement System Analysis)</a:t>
            </a:r>
            <a:endParaRPr lang="ko-KR" altLang="en-US" sz="1200" dirty="0">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a:t>
            </a:fld>
            <a:endParaRPr lang="ko-KR" altLang="en-US" dirty="0"/>
          </a:p>
        </p:txBody>
      </p:sp>
      <p:sp>
        <p:nvSpPr>
          <p:cNvPr id="31" name="Text Box 19"/>
          <p:cNvSpPr txBox="1">
            <a:spLocks noChangeArrowheads="1"/>
          </p:cNvSpPr>
          <p:nvPr/>
        </p:nvSpPr>
        <p:spPr bwMode="auto">
          <a:xfrm>
            <a:off x="4427984" y="6021288"/>
            <a:ext cx="1401111" cy="461665"/>
          </a:xfrm>
          <a:prstGeom prst="rect">
            <a:avLst/>
          </a:prstGeom>
          <a:noFill/>
          <a:ln w="9525" algn="ctr">
            <a:solidFill>
              <a:srgbClr val="292929"/>
            </a:solidFill>
            <a:miter lim="800000"/>
            <a:headEnd/>
            <a:tailEnd/>
          </a:ln>
        </p:spPr>
        <p:txBody>
          <a:bodyPr vert="horz" wrap="square" lIns="91440" tIns="45720" rIns="91440" bIns="45720" numCol="1" anchor="t" anchorCtr="0" compatLnSpc="1">
            <a:prstTxWarp prst="textNoShape">
              <a:avLst/>
            </a:prstTxWarp>
            <a:spAutoFit/>
          </a:bodyPr>
          <a:lstStyle/>
          <a:p>
            <a:pPr lvl="0" algn="ctr" fontAlgn="base">
              <a:spcBef>
                <a:spcPct val="0"/>
              </a:spcBef>
              <a:spcAft>
                <a:spcPct val="0"/>
              </a:spcAft>
            </a:pPr>
            <a:r>
              <a:rPr kumimoji="1" lang="en-US" altLang="ko-KR" sz="1200" b="1" dirty="0" err="1">
                <a:latin typeface="Arial" pitchFamily="34" charset="0"/>
                <a:ea typeface="굴림체" pitchFamily="49" charset="-127"/>
              </a:rPr>
              <a:t>Tính</a:t>
            </a:r>
            <a:r>
              <a:rPr kumimoji="1" lang="en-US" altLang="ko-KR" sz="1200" b="1" i="0" u="none" strike="noStrike" cap="none" normalizeH="0" dirty="0">
                <a:ln>
                  <a:noFill/>
                </a:ln>
                <a:solidFill>
                  <a:schemeClr val="tx1"/>
                </a:solidFill>
                <a:effectLst/>
                <a:latin typeface="Arial" pitchFamily="34" charset="0"/>
                <a:ea typeface="굴림체" pitchFamily="49" charset="-127"/>
              </a:rPr>
              <a:t> </a:t>
            </a:r>
            <a:r>
              <a:rPr kumimoji="1" lang="en-US" altLang="ko-KR" sz="1200" b="1" i="0" u="none" strike="noStrike" cap="none" normalizeH="0" dirty="0" err="1">
                <a:ln>
                  <a:noFill/>
                </a:ln>
                <a:solidFill>
                  <a:schemeClr val="tx1"/>
                </a:solidFill>
                <a:effectLst/>
                <a:latin typeface="Arial" pitchFamily="34" charset="0"/>
                <a:ea typeface="굴림체" pitchFamily="49" charset="-127"/>
              </a:rPr>
              <a:t>lặp</a:t>
            </a:r>
            <a:r>
              <a:rPr kumimoji="1" lang="en-US" altLang="ko-KR" sz="1200" b="1" i="0" u="none" strike="noStrike" cap="none" normalizeH="0" dirty="0">
                <a:ln>
                  <a:noFill/>
                </a:ln>
                <a:solidFill>
                  <a:schemeClr val="tx1"/>
                </a:solidFill>
                <a:effectLst/>
                <a:latin typeface="Arial" pitchFamily="34" charset="0"/>
                <a:ea typeface="굴림체" pitchFamily="49" charset="-127"/>
              </a:rPr>
              <a:t> </a:t>
            </a:r>
            <a:r>
              <a:rPr kumimoji="1" lang="en-US" altLang="ko-KR" sz="1200" b="1" i="0" u="none" strike="noStrike" cap="none" normalizeH="0" dirty="0" err="1">
                <a:ln>
                  <a:noFill/>
                </a:ln>
                <a:solidFill>
                  <a:schemeClr val="tx1"/>
                </a:solidFill>
                <a:effectLst/>
                <a:latin typeface="Arial" pitchFamily="34" charset="0"/>
                <a:ea typeface="굴림체" pitchFamily="49" charset="-127"/>
              </a:rPr>
              <a:t>lại</a:t>
            </a:r>
            <a:r>
              <a:rPr kumimoji="1" lang="en-US" altLang="ko-KR" sz="1200" b="1" i="0" u="none" strike="noStrike" cap="none" normalizeH="0" dirty="0">
                <a:ln>
                  <a:noFill/>
                </a:ln>
                <a:solidFill>
                  <a:schemeClr val="tx1"/>
                </a:solidFill>
                <a:effectLst/>
                <a:latin typeface="Arial" pitchFamily="34" charset="0"/>
                <a:ea typeface="굴림체" pitchFamily="49" charset="-127"/>
              </a:rPr>
              <a:t>  </a:t>
            </a:r>
            <a:r>
              <a:rPr kumimoji="1" lang="en-US" altLang="ko-KR" sz="1200" b="1" i="0" u="none" strike="noStrike" cap="none" normalizeH="0" baseline="0" dirty="0">
                <a:ln>
                  <a:noFill/>
                </a:ln>
                <a:solidFill>
                  <a:schemeClr val="tx1"/>
                </a:solidFill>
                <a:effectLst/>
                <a:latin typeface="Arial" pitchFamily="34" charset="0"/>
                <a:ea typeface="굴림체" pitchFamily="49" charset="-127"/>
              </a:rPr>
              <a:t>Repeatability</a:t>
            </a:r>
            <a:endParaRPr kumimoji="1" lang="ko-KR" altLang="ko-KR" dirty="0">
              <a:latin typeface="굴림" pitchFamily="50" charset="-127"/>
              <a:ea typeface="굴림" pitchFamily="50" charset="-127"/>
            </a:endParaRPr>
          </a:p>
        </p:txBody>
      </p:sp>
      <p:sp>
        <p:nvSpPr>
          <p:cNvPr id="6" name="직사각형 5"/>
          <p:cNvSpPr/>
          <p:nvPr/>
        </p:nvSpPr>
        <p:spPr>
          <a:xfrm>
            <a:off x="4355976" y="4581128"/>
            <a:ext cx="1512168" cy="2088232"/>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p:cNvSpPr/>
          <p:nvPr/>
        </p:nvSpPr>
        <p:spPr>
          <a:xfrm>
            <a:off x="5940152" y="4581128"/>
            <a:ext cx="1512168" cy="2088232"/>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6660232" y="4365104"/>
            <a:ext cx="1136721" cy="276999"/>
          </a:xfrm>
          <a:prstGeom prst="rect">
            <a:avLst/>
          </a:prstGeom>
          <a:noFill/>
        </p:spPr>
        <p:txBody>
          <a:bodyPr wrap="none" rtlCol="0">
            <a:spAutoFit/>
          </a:bodyPr>
          <a:lstStyle/>
          <a:p>
            <a:r>
              <a:rPr lang="en-US" altLang="ko-KR" sz="1200" b="1" dirty="0" err="1">
                <a:solidFill>
                  <a:srgbClr val="00B050"/>
                </a:solidFill>
              </a:rPr>
              <a:t>Độ</a:t>
            </a:r>
            <a:r>
              <a:rPr lang="en-US" altLang="ko-KR" sz="1200" b="1" dirty="0">
                <a:solidFill>
                  <a:srgbClr val="00B050"/>
                </a:solidFill>
              </a:rPr>
              <a:t> </a:t>
            </a:r>
            <a:r>
              <a:rPr lang="en-US" altLang="ko-KR" sz="1200" b="1" dirty="0" err="1">
                <a:solidFill>
                  <a:srgbClr val="00B050"/>
                </a:solidFill>
              </a:rPr>
              <a:t>chính</a:t>
            </a:r>
            <a:r>
              <a:rPr lang="en-US" altLang="ko-KR" sz="1200" b="1" dirty="0">
                <a:solidFill>
                  <a:srgbClr val="00B050"/>
                </a:solidFill>
              </a:rPr>
              <a:t> </a:t>
            </a:r>
            <a:r>
              <a:rPr lang="en-US" altLang="ko-KR" sz="1200" b="1" dirty="0" err="1">
                <a:solidFill>
                  <a:srgbClr val="00B050"/>
                </a:solidFill>
              </a:rPr>
              <a:t>xác</a:t>
            </a:r>
            <a:endParaRPr lang="ko-KR" altLang="en-US" sz="1200" b="1" dirty="0">
              <a:solidFill>
                <a:srgbClr val="00B050"/>
              </a:solidFill>
            </a:endParaRPr>
          </a:p>
        </p:txBody>
      </p:sp>
      <p:sp>
        <p:nvSpPr>
          <p:cNvPr id="33" name="TextBox 32"/>
          <p:cNvSpPr txBox="1"/>
          <p:nvPr/>
        </p:nvSpPr>
        <p:spPr>
          <a:xfrm>
            <a:off x="4218651" y="4321089"/>
            <a:ext cx="787395" cy="276999"/>
          </a:xfrm>
          <a:prstGeom prst="rect">
            <a:avLst/>
          </a:prstGeom>
          <a:noFill/>
        </p:spPr>
        <p:txBody>
          <a:bodyPr wrap="none" rtlCol="0">
            <a:spAutoFit/>
          </a:bodyPr>
          <a:lstStyle/>
          <a:p>
            <a:r>
              <a:rPr lang="en-US" altLang="ko-KR" sz="1200" b="1" dirty="0" err="1">
                <a:solidFill>
                  <a:srgbClr val="00B050"/>
                </a:solidFill>
              </a:rPr>
              <a:t>Độ</a:t>
            </a:r>
            <a:r>
              <a:rPr lang="en-US" altLang="ko-KR" sz="1200" b="1" dirty="0">
                <a:solidFill>
                  <a:srgbClr val="00B050"/>
                </a:solidFill>
              </a:rPr>
              <a:t> </a:t>
            </a:r>
            <a:r>
              <a:rPr lang="en-US" altLang="ko-KR" sz="1200" b="1" dirty="0" err="1">
                <a:solidFill>
                  <a:srgbClr val="00B050"/>
                </a:solidFill>
              </a:rPr>
              <a:t>tỉ</a:t>
            </a:r>
            <a:r>
              <a:rPr lang="en-US" altLang="ko-KR" sz="1200" b="1" dirty="0">
                <a:solidFill>
                  <a:srgbClr val="00B050"/>
                </a:solidFill>
              </a:rPr>
              <a:t> </a:t>
            </a:r>
            <a:r>
              <a:rPr lang="en-US" altLang="ko-KR" sz="1200" b="1" dirty="0" err="1">
                <a:solidFill>
                  <a:srgbClr val="00B050"/>
                </a:solidFill>
              </a:rPr>
              <a:t>mỉ</a:t>
            </a:r>
            <a:endParaRPr lang="ko-KR" altLang="en-US" sz="1200" b="1" dirty="0">
              <a:solidFill>
                <a:srgbClr val="00B050"/>
              </a:solidFill>
            </a:endParaRPr>
          </a:p>
        </p:txBody>
      </p:sp>
    </p:spTree>
    <p:extLst>
      <p:ext uri="{BB962C8B-B14F-4D97-AF65-F5344CB8AC3E}">
        <p14:creationId xmlns:p14="http://schemas.microsoft.com/office/powerpoint/2010/main" val="251659856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sz="2000" b="1" dirty="0"/>
              <a:t>Gage accuracy verification</a:t>
            </a:r>
            <a:endParaRPr lang="ko-KR" altLang="en-US" sz="1600" b="1" kern="0" dirty="0">
              <a:latin typeface="맑은 고딕"/>
              <a:ea typeface="맑은 고딕"/>
              <a:cs typeface="+mj-cs"/>
            </a:endParaRPr>
          </a:p>
        </p:txBody>
      </p:sp>
      <p:sp>
        <p:nvSpPr>
          <p:cNvPr id="4" name="TextBox 3"/>
          <p:cNvSpPr txBox="1"/>
          <p:nvPr/>
        </p:nvSpPr>
        <p:spPr>
          <a:xfrm>
            <a:off x="251520" y="918475"/>
            <a:ext cx="8712850" cy="329321"/>
          </a:xfrm>
          <a:prstGeom prst="rect">
            <a:avLst/>
          </a:prstGeom>
          <a:noFill/>
        </p:spPr>
        <p:txBody>
          <a:bodyPr wrap="square">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Concept of accuracy and precision</a:t>
            </a:r>
            <a:endParaRPr kumimoji="0" lang="en-US" altLang="ko-KR" sz="1400" kern="0" dirty="0">
              <a:solidFill>
                <a:sysClr val="windowText" lastClr="000000"/>
              </a:solidFill>
              <a:latin typeface="맑은 고딕" pitchFamily="50" charset="-127"/>
              <a:ea typeface="맑은 고딕" pitchFamily="50" charset="-127"/>
            </a:endParaRPr>
          </a:p>
        </p:txBody>
      </p:sp>
      <p:grpSp>
        <p:nvGrpSpPr>
          <p:cNvPr id="3" name="Group 95"/>
          <p:cNvGrpSpPr>
            <a:grpSpLocks/>
          </p:cNvGrpSpPr>
          <p:nvPr/>
        </p:nvGrpSpPr>
        <p:grpSpPr bwMode="auto">
          <a:xfrm>
            <a:off x="827584" y="1628800"/>
            <a:ext cx="4144552" cy="4415573"/>
            <a:chOff x="4748" y="482"/>
            <a:chExt cx="1237" cy="1507"/>
          </a:xfrm>
        </p:grpSpPr>
        <p:sp>
          <p:nvSpPr>
            <p:cNvPr id="205851" name="Text Box 96"/>
            <p:cNvSpPr txBox="1">
              <a:spLocks noChangeArrowheads="1"/>
            </p:cNvSpPr>
            <p:nvPr/>
          </p:nvSpPr>
          <p:spPr bwMode="auto">
            <a:xfrm>
              <a:off x="4748" y="1008"/>
              <a:ext cx="316" cy="137"/>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Low precision, </a:t>
              </a:r>
            </a:p>
            <a:p>
              <a:r>
                <a:rPr lang="en-US" altLang="ko-KR" sz="1000" dirty="0">
                  <a:latin typeface="맑은 고딕" pitchFamily="50" charset="-127"/>
                  <a:ea typeface="맑은 고딕" pitchFamily="50" charset="-127"/>
                </a:rPr>
                <a:t>Low accuracy</a:t>
              </a:r>
              <a:endParaRPr lang="ko-KR" altLang="en-US" sz="1000" dirty="0">
                <a:latin typeface="맑은 고딕" pitchFamily="50" charset="-127"/>
                <a:ea typeface="맑은 고딕" pitchFamily="50" charset="-127"/>
              </a:endParaRPr>
            </a:p>
          </p:txBody>
        </p:sp>
        <p:grpSp>
          <p:nvGrpSpPr>
            <p:cNvPr id="5" name="Group 97"/>
            <p:cNvGrpSpPr>
              <a:grpSpLocks/>
            </p:cNvGrpSpPr>
            <p:nvPr/>
          </p:nvGrpSpPr>
          <p:grpSpPr bwMode="auto">
            <a:xfrm>
              <a:off x="4773" y="482"/>
              <a:ext cx="547" cy="525"/>
              <a:chOff x="4796" y="436"/>
              <a:chExt cx="547" cy="525"/>
            </a:xfrm>
          </p:grpSpPr>
          <p:grpSp>
            <p:nvGrpSpPr>
              <p:cNvPr id="6" name="Group 98"/>
              <p:cNvGrpSpPr>
                <a:grpSpLocks/>
              </p:cNvGrpSpPr>
              <p:nvPr/>
            </p:nvGrpSpPr>
            <p:grpSpPr bwMode="auto">
              <a:xfrm>
                <a:off x="4873" y="497"/>
                <a:ext cx="403" cy="386"/>
                <a:chOff x="920" y="2104"/>
                <a:chExt cx="520" cy="520"/>
              </a:xfrm>
            </p:grpSpPr>
            <p:sp>
              <p:nvSpPr>
                <p:cNvPr id="205907" name="Oval 99"/>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908" name="Oval 100"/>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909" name="Oval 101"/>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910" name="Oval 102"/>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sp>
            <p:nvSpPr>
              <p:cNvPr id="205900" name="Rectangle 103"/>
              <p:cNvSpPr>
                <a:spLocks noChangeArrowheads="1"/>
              </p:cNvSpPr>
              <p:nvPr/>
            </p:nvSpPr>
            <p:spPr bwMode="auto">
              <a:xfrm>
                <a:off x="4796" y="436"/>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5901" name="Oval 104"/>
              <p:cNvSpPr>
                <a:spLocks noChangeArrowheads="1"/>
              </p:cNvSpPr>
              <p:nvPr/>
            </p:nvSpPr>
            <p:spPr bwMode="auto">
              <a:xfrm>
                <a:off x="4988" y="536"/>
                <a:ext cx="24"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2" name="Oval 105"/>
              <p:cNvSpPr>
                <a:spLocks noChangeArrowheads="1"/>
              </p:cNvSpPr>
              <p:nvPr/>
            </p:nvSpPr>
            <p:spPr bwMode="auto">
              <a:xfrm>
                <a:off x="4962" y="585"/>
                <a:ext cx="24"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3" name="Oval 106"/>
              <p:cNvSpPr>
                <a:spLocks noChangeArrowheads="1"/>
              </p:cNvSpPr>
              <p:nvPr/>
            </p:nvSpPr>
            <p:spPr bwMode="auto">
              <a:xfrm>
                <a:off x="4885" y="734"/>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4" name="Oval 107"/>
              <p:cNvSpPr>
                <a:spLocks noChangeArrowheads="1"/>
              </p:cNvSpPr>
              <p:nvPr/>
            </p:nvSpPr>
            <p:spPr bwMode="auto">
              <a:xfrm>
                <a:off x="5065" y="784"/>
                <a:ext cx="25"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5" name="Oval 108"/>
              <p:cNvSpPr>
                <a:spLocks noChangeArrowheads="1"/>
              </p:cNvSpPr>
              <p:nvPr/>
            </p:nvSpPr>
            <p:spPr bwMode="auto">
              <a:xfrm>
                <a:off x="5193" y="808"/>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6" name="Oval 109"/>
              <p:cNvSpPr>
                <a:spLocks noChangeArrowheads="1"/>
              </p:cNvSpPr>
              <p:nvPr/>
            </p:nvSpPr>
            <p:spPr bwMode="auto">
              <a:xfrm>
                <a:off x="5193" y="610"/>
                <a:ext cx="25"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grpSp>
        <p:sp>
          <p:nvSpPr>
            <p:cNvPr id="205853" name="Text Box 110"/>
            <p:cNvSpPr txBox="1">
              <a:spLocks noChangeArrowheads="1"/>
            </p:cNvSpPr>
            <p:nvPr/>
          </p:nvSpPr>
          <p:spPr bwMode="auto">
            <a:xfrm>
              <a:off x="5413" y="1008"/>
              <a:ext cx="316" cy="137"/>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Low precision, </a:t>
              </a:r>
            </a:p>
            <a:p>
              <a:r>
                <a:rPr lang="en-US" altLang="ko-KR" sz="1000" dirty="0">
                  <a:latin typeface="맑은 고딕" pitchFamily="50" charset="-127"/>
                  <a:ea typeface="맑은 고딕" pitchFamily="50" charset="-127"/>
                </a:rPr>
                <a:t>High accuracy</a:t>
              </a:r>
              <a:endParaRPr lang="ko-KR" altLang="en-US" sz="1000" dirty="0">
                <a:latin typeface="맑은 고딕" pitchFamily="50" charset="-127"/>
                <a:ea typeface="맑은 고딕" pitchFamily="50" charset="-127"/>
              </a:endParaRPr>
            </a:p>
          </p:txBody>
        </p:sp>
        <p:sp>
          <p:nvSpPr>
            <p:cNvPr id="205854" name="Text Box 111"/>
            <p:cNvSpPr txBox="1">
              <a:spLocks noChangeArrowheads="1"/>
            </p:cNvSpPr>
            <p:nvPr/>
          </p:nvSpPr>
          <p:spPr bwMode="auto">
            <a:xfrm>
              <a:off x="4748" y="1852"/>
              <a:ext cx="329" cy="137"/>
            </a:xfrm>
            <a:prstGeom prst="rect">
              <a:avLst/>
            </a:prstGeom>
            <a:noFill/>
            <a:ln w="9525">
              <a:noFill/>
              <a:miter lim="800000"/>
              <a:headEnd/>
              <a:tailEnd/>
            </a:ln>
          </p:spPr>
          <p:txBody>
            <a:bodyPr wrap="none">
              <a:spAutoFit/>
            </a:bodyPr>
            <a:lstStyle/>
            <a:p>
              <a:r>
                <a:rPr lang="en-US" altLang="ko-KR" sz="1000" dirty="0" err="1">
                  <a:latin typeface="맑은 고딕" pitchFamily="50" charset="-127"/>
                  <a:ea typeface="맑은 고딕" pitchFamily="50" charset="-127"/>
                </a:rPr>
                <a:t>Hign</a:t>
              </a:r>
              <a:r>
                <a:rPr lang="en-US" altLang="ko-KR" sz="1000" dirty="0">
                  <a:latin typeface="맑은 고딕" pitchFamily="50" charset="-127"/>
                  <a:ea typeface="맑은 고딕" pitchFamily="50" charset="-127"/>
                </a:rPr>
                <a:t> precision, </a:t>
              </a:r>
            </a:p>
            <a:p>
              <a:r>
                <a:rPr lang="en-US" altLang="ko-KR" sz="1000" dirty="0">
                  <a:latin typeface="맑은 고딕" pitchFamily="50" charset="-127"/>
                  <a:ea typeface="맑은 고딕" pitchFamily="50" charset="-127"/>
                </a:rPr>
                <a:t>Low accuracy</a:t>
              </a:r>
              <a:endParaRPr lang="ko-KR" altLang="en-US" sz="1000" dirty="0">
                <a:latin typeface="맑은 고딕" pitchFamily="50" charset="-127"/>
                <a:ea typeface="맑은 고딕" pitchFamily="50" charset="-127"/>
              </a:endParaRPr>
            </a:p>
          </p:txBody>
        </p:sp>
        <p:sp>
          <p:nvSpPr>
            <p:cNvPr id="205855" name="Text Box 112"/>
            <p:cNvSpPr txBox="1">
              <a:spLocks noChangeArrowheads="1"/>
            </p:cNvSpPr>
            <p:nvPr/>
          </p:nvSpPr>
          <p:spPr bwMode="auto">
            <a:xfrm>
              <a:off x="5414" y="1852"/>
              <a:ext cx="329" cy="137"/>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High precision, </a:t>
              </a:r>
            </a:p>
            <a:p>
              <a:r>
                <a:rPr lang="en-US" altLang="ko-KR" sz="1000" dirty="0">
                  <a:latin typeface="맑은 고딕" pitchFamily="50" charset="-127"/>
                  <a:ea typeface="맑은 고딕" pitchFamily="50" charset="-127"/>
                </a:rPr>
                <a:t>High accuracy</a:t>
              </a:r>
              <a:endParaRPr lang="ko-KR" altLang="en-US" sz="1000" dirty="0">
                <a:latin typeface="맑은 고딕" pitchFamily="50" charset="-127"/>
                <a:ea typeface="맑은 고딕" pitchFamily="50" charset="-127"/>
              </a:endParaRPr>
            </a:p>
          </p:txBody>
        </p:sp>
        <p:grpSp>
          <p:nvGrpSpPr>
            <p:cNvPr id="7" name="Group 113"/>
            <p:cNvGrpSpPr>
              <a:grpSpLocks/>
            </p:cNvGrpSpPr>
            <p:nvPr/>
          </p:nvGrpSpPr>
          <p:grpSpPr bwMode="auto">
            <a:xfrm>
              <a:off x="5438" y="482"/>
              <a:ext cx="547" cy="525"/>
              <a:chOff x="5447" y="436"/>
              <a:chExt cx="547" cy="525"/>
            </a:xfrm>
          </p:grpSpPr>
          <p:sp>
            <p:nvSpPr>
              <p:cNvPr id="205885" name="Oval 114"/>
              <p:cNvSpPr>
                <a:spLocks noChangeArrowheads="1"/>
              </p:cNvSpPr>
              <p:nvPr/>
            </p:nvSpPr>
            <p:spPr bwMode="auto">
              <a:xfrm>
                <a:off x="5666" y="555"/>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6" name="Oval 115"/>
              <p:cNvSpPr>
                <a:spLocks noChangeArrowheads="1"/>
              </p:cNvSpPr>
              <p:nvPr/>
            </p:nvSpPr>
            <p:spPr bwMode="auto">
              <a:xfrm>
                <a:off x="5707" y="684"/>
                <a:ext cx="26" cy="26"/>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7" name="Oval 116"/>
              <p:cNvSpPr>
                <a:spLocks noChangeArrowheads="1"/>
              </p:cNvSpPr>
              <p:nvPr/>
            </p:nvSpPr>
            <p:spPr bwMode="auto">
              <a:xfrm>
                <a:off x="5719" y="603"/>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8" name="Oval 117"/>
              <p:cNvSpPr>
                <a:spLocks noChangeArrowheads="1"/>
              </p:cNvSpPr>
              <p:nvPr/>
            </p:nvSpPr>
            <p:spPr bwMode="auto">
              <a:xfrm>
                <a:off x="5782" y="737"/>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9" name="Oval 118"/>
              <p:cNvSpPr>
                <a:spLocks noChangeArrowheads="1"/>
              </p:cNvSpPr>
              <p:nvPr/>
            </p:nvSpPr>
            <p:spPr bwMode="auto">
              <a:xfrm>
                <a:off x="5844" y="710"/>
                <a:ext cx="25" cy="26"/>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0" name="Oval 119"/>
              <p:cNvSpPr>
                <a:spLocks noChangeArrowheads="1"/>
              </p:cNvSpPr>
              <p:nvPr/>
            </p:nvSpPr>
            <p:spPr bwMode="auto">
              <a:xfrm>
                <a:off x="5746" y="852"/>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1" name="Oval 120"/>
              <p:cNvSpPr>
                <a:spLocks noChangeArrowheads="1"/>
              </p:cNvSpPr>
              <p:nvPr/>
            </p:nvSpPr>
            <p:spPr bwMode="auto">
              <a:xfrm>
                <a:off x="5648" y="728"/>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2" name="Oval 121"/>
              <p:cNvSpPr>
                <a:spLocks noChangeArrowheads="1"/>
              </p:cNvSpPr>
              <p:nvPr/>
            </p:nvSpPr>
            <p:spPr bwMode="auto">
              <a:xfrm>
                <a:off x="5579" y="659"/>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3" name="Rectangle 122"/>
              <p:cNvSpPr>
                <a:spLocks noChangeArrowheads="1"/>
              </p:cNvSpPr>
              <p:nvPr/>
            </p:nvSpPr>
            <p:spPr bwMode="auto">
              <a:xfrm>
                <a:off x="5447" y="436"/>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grpSp>
            <p:nvGrpSpPr>
              <p:cNvPr id="8" name="Group 123"/>
              <p:cNvGrpSpPr>
                <a:grpSpLocks/>
              </p:cNvGrpSpPr>
              <p:nvPr/>
            </p:nvGrpSpPr>
            <p:grpSpPr bwMode="auto">
              <a:xfrm>
                <a:off x="5524" y="496"/>
                <a:ext cx="403" cy="386"/>
                <a:chOff x="920" y="2104"/>
                <a:chExt cx="520" cy="520"/>
              </a:xfrm>
            </p:grpSpPr>
            <p:sp>
              <p:nvSpPr>
                <p:cNvPr id="205895" name="Oval 124"/>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96" name="Oval 125"/>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97" name="Oval 126"/>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98" name="Oval 127"/>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grpSp>
        <p:grpSp>
          <p:nvGrpSpPr>
            <p:cNvPr id="9" name="Group 128"/>
            <p:cNvGrpSpPr>
              <a:grpSpLocks/>
            </p:cNvGrpSpPr>
            <p:nvPr/>
          </p:nvGrpSpPr>
          <p:grpSpPr bwMode="auto">
            <a:xfrm>
              <a:off x="4773" y="1323"/>
              <a:ext cx="547" cy="525"/>
              <a:chOff x="4796" y="1998"/>
              <a:chExt cx="547" cy="525"/>
            </a:xfrm>
          </p:grpSpPr>
          <p:sp>
            <p:nvSpPr>
              <p:cNvPr id="205872" name="Oval 129"/>
              <p:cNvSpPr>
                <a:spLocks noChangeArrowheads="1"/>
              </p:cNvSpPr>
              <p:nvPr/>
            </p:nvSpPr>
            <p:spPr bwMode="auto">
              <a:xfrm>
                <a:off x="4920" y="2115"/>
                <a:ext cx="49"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3" name="Oval 130"/>
              <p:cNvSpPr>
                <a:spLocks noChangeArrowheads="1"/>
              </p:cNvSpPr>
              <p:nvPr/>
            </p:nvSpPr>
            <p:spPr bwMode="auto">
              <a:xfrm>
                <a:off x="4952" y="2115"/>
                <a:ext cx="49"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4" name="Oval 131"/>
              <p:cNvSpPr>
                <a:spLocks noChangeArrowheads="1"/>
              </p:cNvSpPr>
              <p:nvPr/>
            </p:nvSpPr>
            <p:spPr bwMode="auto">
              <a:xfrm>
                <a:off x="4917" y="2141"/>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5" name="Oval 132"/>
              <p:cNvSpPr>
                <a:spLocks noChangeArrowheads="1"/>
              </p:cNvSpPr>
              <p:nvPr/>
            </p:nvSpPr>
            <p:spPr bwMode="auto">
              <a:xfrm>
                <a:off x="4938" y="2137"/>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6" name="Oval 133"/>
              <p:cNvSpPr>
                <a:spLocks noChangeArrowheads="1"/>
              </p:cNvSpPr>
              <p:nvPr/>
            </p:nvSpPr>
            <p:spPr bwMode="auto">
              <a:xfrm>
                <a:off x="4963" y="2137"/>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7" name="Oval 134"/>
              <p:cNvSpPr>
                <a:spLocks noChangeArrowheads="1"/>
              </p:cNvSpPr>
              <p:nvPr/>
            </p:nvSpPr>
            <p:spPr bwMode="auto">
              <a:xfrm>
                <a:off x="4931" y="2162"/>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8" name="Oval 135"/>
              <p:cNvSpPr>
                <a:spLocks noChangeArrowheads="1"/>
              </p:cNvSpPr>
              <p:nvPr/>
            </p:nvSpPr>
            <p:spPr bwMode="auto">
              <a:xfrm>
                <a:off x="4958" y="2165"/>
                <a:ext cx="49"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9" name="Rectangle 136"/>
              <p:cNvSpPr>
                <a:spLocks noChangeArrowheads="1"/>
              </p:cNvSpPr>
              <p:nvPr/>
            </p:nvSpPr>
            <p:spPr bwMode="auto">
              <a:xfrm>
                <a:off x="4796" y="1998"/>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grpSp>
            <p:nvGrpSpPr>
              <p:cNvPr id="10" name="Group 137"/>
              <p:cNvGrpSpPr>
                <a:grpSpLocks/>
              </p:cNvGrpSpPr>
              <p:nvPr/>
            </p:nvGrpSpPr>
            <p:grpSpPr bwMode="auto">
              <a:xfrm>
                <a:off x="4873" y="2059"/>
                <a:ext cx="403" cy="386"/>
                <a:chOff x="920" y="2104"/>
                <a:chExt cx="520" cy="520"/>
              </a:xfrm>
            </p:grpSpPr>
            <p:sp>
              <p:nvSpPr>
                <p:cNvPr id="205881" name="Oval 138"/>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82" name="Oval 139"/>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83" name="Oval 140"/>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84" name="Oval 141"/>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grpSp>
        <p:grpSp>
          <p:nvGrpSpPr>
            <p:cNvPr id="11" name="Group 142"/>
            <p:cNvGrpSpPr>
              <a:grpSpLocks/>
            </p:cNvGrpSpPr>
            <p:nvPr/>
          </p:nvGrpSpPr>
          <p:grpSpPr bwMode="auto">
            <a:xfrm>
              <a:off x="5438" y="1323"/>
              <a:ext cx="547" cy="525"/>
              <a:chOff x="4798" y="2750"/>
              <a:chExt cx="547" cy="525"/>
            </a:xfrm>
          </p:grpSpPr>
          <p:sp>
            <p:nvSpPr>
              <p:cNvPr id="205859" name="Oval 143"/>
              <p:cNvSpPr>
                <a:spLocks noChangeArrowheads="1"/>
              </p:cNvSpPr>
              <p:nvPr/>
            </p:nvSpPr>
            <p:spPr bwMode="auto">
              <a:xfrm>
                <a:off x="5034" y="2982"/>
                <a:ext cx="26"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0" name="Oval 144"/>
              <p:cNvSpPr>
                <a:spLocks noChangeArrowheads="1"/>
              </p:cNvSpPr>
              <p:nvPr/>
            </p:nvSpPr>
            <p:spPr bwMode="auto">
              <a:xfrm>
                <a:off x="5075" y="2982"/>
                <a:ext cx="24"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1" name="Oval 145"/>
              <p:cNvSpPr>
                <a:spLocks noChangeArrowheads="1"/>
              </p:cNvSpPr>
              <p:nvPr/>
            </p:nvSpPr>
            <p:spPr bwMode="auto">
              <a:xfrm>
                <a:off x="5030" y="3007"/>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2" name="Oval 146"/>
              <p:cNvSpPr>
                <a:spLocks noChangeArrowheads="1"/>
              </p:cNvSpPr>
              <p:nvPr/>
            </p:nvSpPr>
            <p:spPr bwMode="auto">
              <a:xfrm>
                <a:off x="5057" y="3003"/>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3" name="Oval 147"/>
              <p:cNvSpPr>
                <a:spLocks noChangeArrowheads="1"/>
              </p:cNvSpPr>
              <p:nvPr/>
            </p:nvSpPr>
            <p:spPr bwMode="auto">
              <a:xfrm>
                <a:off x="5088" y="3003"/>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4" name="Oval 148"/>
              <p:cNvSpPr>
                <a:spLocks noChangeArrowheads="1"/>
              </p:cNvSpPr>
              <p:nvPr/>
            </p:nvSpPr>
            <p:spPr bwMode="auto">
              <a:xfrm>
                <a:off x="5048" y="3028"/>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5" name="Oval 149"/>
              <p:cNvSpPr>
                <a:spLocks noChangeArrowheads="1"/>
              </p:cNvSpPr>
              <p:nvPr/>
            </p:nvSpPr>
            <p:spPr bwMode="auto">
              <a:xfrm>
                <a:off x="5082" y="3032"/>
                <a:ext cx="27"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6" name="Rectangle 150"/>
              <p:cNvSpPr>
                <a:spLocks noChangeArrowheads="1"/>
              </p:cNvSpPr>
              <p:nvPr/>
            </p:nvSpPr>
            <p:spPr bwMode="auto">
              <a:xfrm>
                <a:off x="4798" y="2750"/>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grpSp>
            <p:nvGrpSpPr>
              <p:cNvPr id="12" name="Group 151"/>
              <p:cNvGrpSpPr>
                <a:grpSpLocks/>
              </p:cNvGrpSpPr>
              <p:nvPr/>
            </p:nvGrpSpPr>
            <p:grpSpPr bwMode="auto">
              <a:xfrm>
                <a:off x="4875" y="2811"/>
                <a:ext cx="403" cy="386"/>
                <a:chOff x="920" y="2104"/>
                <a:chExt cx="520" cy="520"/>
              </a:xfrm>
            </p:grpSpPr>
            <p:sp>
              <p:nvSpPr>
                <p:cNvPr id="205868" name="Oval 152"/>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69" name="Oval 153"/>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70" name="Oval 154"/>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71" name="Oval 155"/>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grpSp>
      </p:grpSp>
      <p:sp>
        <p:nvSpPr>
          <p:cNvPr id="13" name="슬라이드 번호 개체 틀 1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a:t>
            </a:fld>
            <a:endParaRPr lang="ko-KR" altLang="en-US" dirty="0"/>
          </a:p>
        </p:txBody>
      </p:sp>
      <p:sp>
        <p:nvSpPr>
          <p:cNvPr id="15" name="오른쪽 화살표 14"/>
          <p:cNvSpPr/>
          <p:nvPr/>
        </p:nvSpPr>
        <p:spPr>
          <a:xfrm>
            <a:off x="5220072" y="1988840"/>
            <a:ext cx="360040" cy="648072"/>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오른쪽 화살표 89"/>
          <p:cNvSpPr/>
          <p:nvPr/>
        </p:nvSpPr>
        <p:spPr>
          <a:xfrm>
            <a:off x="5220072" y="4437112"/>
            <a:ext cx="360040" cy="648072"/>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TextBox 15"/>
          <p:cNvSpPr txBox="1"/>
          <p:nvPr/>
        </p:nvSpPr>
        <p:spPr>
          <a:xfrm>
            <a:off x="6012160" y="1844824"/>
            <a:ext cx="2490105" cy="369332"/>
          </a:xfrm>
          <a:prstGeom prst="rect">
            <a:avLst/>
          </a:prstGeom>
          <a:noFill/>
        </p:spPr>
        <p:txBody>
          <a:bodyPr wrap="none" rtlCol="0">
            <a:spAutoFit/>
          </a:bodyPr>
          <a:lstStyle/>
          <a:p>
            <a:r>
              <a:rPr lang="en-US" altLang="ko-KR" dirty="0"/>
              <a:t>Problem of dispersion</a:t>
            </a:r>
            <a:endParaRPr lang="ko-KR" altLang="en-US" dirty="0"/>
          </a:p>
        </p:txBody>
      </p:sp>
      <p:sp>
        <p:nvSpPr>
          <p:cNvPr id="92" name="TextBox 91"/>
          <p:cNvSpPr txBox="1"/>
          <p:nvPr/>
        </p:nvSpPr>
        <p:spPr>
          <a:xfrm>
            <a:off x="6012160" y="4221088"/>
            <a:ext cx="3107326" cy="369332"/>
          </a:xfrm>
          <a:prstGeom prst="rect">
            <a:avLst/>
          </a:prstGeom>
          <a:noFill/>
        </p:spPr>
        <p:txBody>
          <a:bodyPr wrap="none" rtlCol="0">
            <a:spAutoFit/>
          </a:bodyPr>
          <a:lstStyle/>
          <a:p>
            <a:r>
              <a:rPr lang="en-US" altLang="ko-KR" dirty="0"/>
              <a:t>Problem of moving average</a:t>
            </a:r>
            <a:endParaRPr lang="ko-KR" altLang="en-US" dirty="0"/>
          </a:p>
        </p:txBody>
      </p:sp>
      <p:sp>
        <p:nvSpPr>
          <p:cNvPr id="17" name="TextBox 16"/>
          <p:cNvSpPr txBox="1"/>
          <p:nvPr/>
        </p:nvSpPr>
        <p:spPr>
          <a:xfrm>
            <a:off x="6156176" y="2492896"/>
            <a:ext cx="2355325" cy="369332"/>
          </a:xfrm>
          <a:prstGeom prst="rect">
            <a:avLst/>
          </a:prstGeom>
          <a:noFill/>
        </p:spPr>
        <p:txBody>
          <a:bodyPr wrap="none" rtlCol="0">
            <a:spAutoFit/>
          </a:bodyPr>
          <a:lstStyle/>
          <a:p>
            <a:r>
              <a:rPr lang="en-US" altLang="ko-KR" dirty="0"/>
              <a:t>Problem of precision</a:t>
            </a:r>
            <a:endParaRPr lang="ko-KR" altLang="en-US" dirty="0"/>
          </a:p>
        </p:txBody>
      </p:sp>
      <p:sp>
        <p:nvSpPr>
          <p:cNvPr id="94" name="TextBox 93"/>
          <p:cNvSpPr txBox="1"/>
          <p:nvPr/>
        </p:nvSpPr>
        <p:spPr>
          <a:xfrm>
            <a:off x="6156176" y="4725144"/>
            <a:ext cx="2320122" cy="369332"/>
          </a:xfrm>
          <a:prstGeom prst="rect">
            <a:avLst/>
          </a:prstGeom>
          <a:noFill/>
        </p:spPr>
        <p:txBody>
          <a:bodyPr wrap="none" rtlCol="0">
            <a:spAutoFit/>
          </a:bodyPr>
          <a:lstStyle/>
          <a:p>
            <a:r>
              <a:rPr lang="en-US" altLang="ko-KR" dirty="0"/>
              <a:t>Problem of accuracy</a:t>
            </a:r>
            <a:endParaRPr lang="ko-KR" altLang="en-US" dirty="0"/>
          </a:p>
        </p:txBody>
      </p:sp>
    </p:spTree>
    <p:extLst>
      <p:ext uri="{BB962C8B-B14F-4D97-AF65-F5344CB8AC3E}">
        <p14:creationId xmlns:p14="http://schemas.microsoft.com/office/powerpoint/2010/main" val="14742926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MSA 5 Items</a:t>
            </a:r>
            <a:endParaRPr lang="ko-KR" altLang="en-US" sz="1600" b="1" kern="0" dirty="0">
              <a:latin typeface="맑은 고딕"/>
              <a:ea typeface="맑은 고딕"/>
              <a:cs typeface="+mj-cs"/>
            </a:endParaRPr>
          </a:p>
        </p:txBody>
      </p:sp>
      <p:sp>
        <p:nvSpPr>
          <p:cNvPr id="4" name="TextBox 3"/>
          <p:cNvSpPr txBox="1"/>
          <p:nvPr/>
        </p:nvSpPr>
        <p:spPr>
          <a:xfrm>
            <a:off x="251520" y="918475"/>
            <a:ext cx="8712850" cy="566309"/>
          </a:xfrm>
          <a:prstGeom prst="rect">
            <a:avLst/>
          </a:prstGeom>
          <a:noFill/>
        </p:spPr>
        <p:txBody>
          <a:bodyPr wrap="square">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a:t>
            </a:r>
            <a:r>
              <a:rPr lang="en-US" altLang="en-US" sz="1400" b="1" kern="0" dirty="0">
                <a:solidFill>
                  <a:sysClr val="windowText" lastClr="000000"/>
                </a:solidFill>
                <a:latin typeface="맑은 고딕" pitchFamily="50" charset="-127"/>
                <a:ea typeface="맑은 고딕" pitchFamily="50" charset="-127"/>
              </a:rPr>
              <a:t>The instrument assumes accuracy and gage R&amp;R as confirmation items</a:t>
            </a:r>
            <a:r>
              <a:rPr lang="en-US" altLang="ko-KR" sz="1400" b="1" kern="0" dirty="0">
                <a:solidFill>
                  <a:sysClr val="windowText" lastClr="000000"/>
                </a:solidFill>
                <a:latin typeface="맑은 고딕" pitchFamily="50" charset="-127"/>
                <a:ea typeface="맑은 고딕" pitchFamily="50" charset="-127"/>
              </a:rPr>
              <a:t>   </a:t>
            </a:r>
          </a:p>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In other words, Set all matters to zero and grasp degree of dispersion.</a:t>
            </a:r>
            <a:endParaRPr kumimoji="0" lang="en-US" altLang="ko-KR" sz="1400" kern="0" dirty="0">
              <a:solidFill>
                <a:sysClr val="windowText" lastClr="000000"/>
              </a:solidFill>
              <a:latin typeface="맑은 고딕" pitchFamily="50" charset="-127"/>
              <a:ea typeface="맑은 고딕" pitchFamily="50" charset="-127"/>
            </a:endParaRPr>
          </a:p>
        </p:txBody>
      </p:sp>
      <p:sp>
        <p:nvSpPr>
          <p:cNvPr id="205829" name="Text Box 82"/>
          <p:cNvSpPr txBox="1">
            <a:spLocks noChangeArrowheads="1"/>
          </p:cNvSpPr>
          <p:nvPr/>
        </p:nvSpPr>
        <p:spPr bwMode="auto">
          <a:xfrm>
            <a:off x="3256302" y="3524150"/>
            <a:ext cx="4686723" cy="276999"/>
          </a:xfrm>
          <a:prstGeom prst="rect">
            <a:avLst/>
          </a:prstGeom>
          <a:noFill/>
          <a:ln w="9525" algn="ctr">
            <a:noFill/>
            <a:miter lim="800000"/>
            <a:headEnd/>
            <a:tailEnd/>
          </a:ln>
        </p:spPr>
        <p:txBody>
          <a:bodyPr wrap="none" lIns="36000" rIns="36000">
            <a:spAutoFit/>
          </a:bodyPr>
          <a:lstStyle/>
          <a:p>
            <a:r>
              <a:rPr lang="en-US" altLang="ko-KR" sz="1200" b="1" dirty="0">
                <a:latin typeface="맑은 고딕" pitchFamily="50" charset="-127"/>
                <a:ea typeface="맑은 고딕" pitchFamily="50" charset="-127"/>
              </a:rPr>
              <a:t>Difference of mean values measured at different time or place</a:t>
            </a:r>
            <a:endParaRPr lang="ko-KR" altLang="en-US" sz="1200" b="1" dirty="0">
              <a:latin typeface="맑은 고딕" pitchFamily="50" charset="-127"/>
              <a:ea typeface="맑은 고딕" pitchFamily="50" charset="-127"/>
            </a:endParaRPr>
          </a:p>
        </p:txBody>
      </p:sp>
      <p:sp>
        <p:nvSpPr>
          <p:cNvPr id="69" name="Rectangle 76"/>
          <p:cNvSpPr>
            <a:spLocks noChangeArrowheads="1"/>
          </p:cNvSpPr>
          <p:nvPr/>
        </p:nvSpPr>
        <p:spPr bwMode="auto">
          <a:xfrm>
            <a:off x="1578438" y="2039837"/>
            <a:ext cx="1584080" cy="431800"/>
          </a:xfrm>
          <a:prstGeom prst="rect">
            <a:avLst/>
          </a:prstGeom>
          <a:solidFill>
            <a:schemeClr val="bg1">
              <a:lumMod val="65000"/>
            </a:schemeClr>
          </a:solidFill>
          <a:ln w="9525" algn="ctr">
            <a:noFill/>
            <a:miter lim="800000"/>
            <a:headEnd/>
            <a:tailEnd/>
          </a:ln>
          <a:effectLst/>
        </p:spPr>
        <p:txBody>
          <a:bodyPr wrap="none" anchor="ctr"/>
          <a:lstStyle/>
          <a:p>
            <a:pPr algn="ctr">
              <a:defRPr/>
            </a:pPr>
            <a:r>
              <a:rPr lang="ko-KR" altLang="en-US" sz="1200" b="1" dirty="0">
                <a:solidFill>
                  <a:schemeClr val="bg1"/>
                </a:solidFill>
                <a:latin typeface="맑은 고딕" pitchFamily="50" charset="-127"/>
                <a:ea typeface="맑은 고딕" pitchFamily="50" charset="-127"/>
              </a:rPr>
              <a:t>정확도</a:t>
            </a:r>
          </a:p>
          <a:p>
            <a:pPr algn="ctr">
              <a:defRPr/>
            </a:pPr>
            <a:r>
              <a:rPr lang="en-US" altLang="ko-KR" sz="1200" b="1" dirty="0">
                <a:solidFill>
                  <a:schemeClr val="bg1"/>
                </a:solidFill>
                <a:latin typeface="맑은 고딕" pitchFamily="50" charset="-127"/>
                <a:ea typeface="맑은 고딕" pitchFamily="50" charset="-127"/>
              </a:rPr>
              <a:t>(Accuracy)</a:t>
            </a:r>
          </a:p>
        </p:txBody>
      </p:sp>
      <p:sp>
        <p:nvSpPr>
          <p:cNvPr id="205831" name="Rectangle 77"/>
          <p:cNvSpPr>
            <a:spLocks noChangeArrowheads="1"/>
          </p:cNvSpPr>
          <p:nvPr/>
        </p:nvSpPr>
        <p:spPr bwMode="auto">
          <a:xfrm>
            <a:off x="1578438" y="2687537"/>
            <a:ext cx="1584080" cy="360362"/>
          </a:xfrm>
          <a:prstGeom prst="rect">
            <a:avLst/>
          </a:prstGeom>
          <a:noFill/>
          <a:ln w="9525" algn="ctr">
            <a:solidFill>
              <a:schemeClr val="bg1">
                <a:lumMod val="50000"/>
              </a:schemeClr>
            </a:solidFill>
            <a:miter lim="800000"/>
            <a:headEnd/>
            <a:tailEnd/>
          </a:ln>
        </p:spPr>
        <p:txBody>
          <a:bodyPr wrap="none" anchor="ctr"/>
          <a:lstStyle/>
          <a:p>
            <a:pPr algn="ctr"/>
            <a:r>
              <a:rPr lang="ko-KR" altLang="en-US" sz="1200" b="1" dirty="0">
                <a:solidFill>
                  <a:srgbClr val="4D4D4D"/>
                </a:solidFill>
                <a:latin typeface="맑은 고딕" pitchFamily="50" charset="-127"/>
                <a:ea typeface="맑은 고딕" pitchFamily="50" charset="-127"/>
              </a:rPr>
              <a:t>편의 </a:t>
            </a:r>
            <a:r>
              <a:rPr lang="en-US" altLang="ko-KR" sz="1200" b="1" dirty="0">
                <a:solidFill>
                  <a:srgbClr val="4D4D4D"/>
                </a:solidFill>
                <a:latin typeface="맑은 고딕" pitchFamily="50" charset="-127"/>
                <a:ea typeface="맑은 고딕" pitchFamily="50" charset="-127"/>
              </a:rPr>
              <a:t>(Bias)</a:t>
            </a:r>
          </a:p>
        </p:txBody>
      </p:sp>
      <p:sp>
        <p:nvSpPr>
          <p:cNvPr id="205832" name="Rectangle 78"/>
          <p:cNvSpPr>
            <a:spLocks noChangeArrowheads="1"/>
          </p:cNvSpPr>
          <p:nvPr/>
        </p:nvSpPr>
        <p:spPr bwMode="auto">
          <a:xfrm>
            <a:off x="1578438" y="3119337"/>
            <a:ext cx="1584080" cy="360362"/>
          </a:xfrm>
          <a:prstGeom prst="rect">
            <a:avLst/>
          </a:prstGeom>
          <a:noFill/>
          <a:ln w="9525" algn="ctr">
            <a:solidFill>
              <a:schemeClr val="bg1">
                <a:lumMod val="50000"/>
              </a:schemeClr>
            </a:solidFill>
            <a:miter lim="800000"/>
            <a:headEnd/>
            <a:tailEnd/>
          </a:ln>
        </p:spPr>
        <p:txBody>
          <a:bodyPr wrap="none" anchor="ctr"/>
          <a:lstStyle/>
          <a:p>
            <a:pPr algn="ctr"/>
            <a:r>
              <a:rPr lang="ko-KR" altLang="en-US" sz="1200" b="1" dirty="0">
                <a:solidFill>
                  <a:srgbClr val="4D4D4D"/>
                </a:solidFill>
                <a:latin typeface="맑은 고딕" pitchFamily="50" charset="-127"/>
                <a:ea typeface="맑은 고딕" pitchFamily="50" charset="-127"/>
              </a:rPr>
              <a:t>선형성</a:t>
            </a:r>
            <a:r>
              <a:rPr lang="en-US" altLang="ko-KR" sz="1200" b="1" dirty="0">
                <a:solidFill>
                  <a:srgbClr val="4D4D4D"/>
                </a:solidFill>
                <a:latin typeface="맑은 고딕" pitchFamily="50" charset="-127"/>
                <a:ea typeface="맑은 고딕" pitchFamily="50" charset="-127"/>
              </a:rPr>
              <a:t>(Linearity)</a:t>
            </a:r>
          </a:p>
        </p:txBody>
      </p:sp>
      <p:sp>
        <p:nvSpPr>
          <p:cNvPr id="205833" name="Rectangle 79"/>
          <p:cNvSpPr>
            <a:spLocks noChangeArrowheads="1"/>
          </p:cNvSpPr>
          <p:nvPr/>
        </p:nvSpPr>
        <p:spPr bwMode="auto">
          <a:xfrm>
            <a:off x="1578438" y="3540025"/>
            <a:ext cx="1584080" cy="360363"/>
          </a:xfrm>
          <a:prstGeom prst="rect">
            <a:avLst/>
          </a:prstGeom>
          <a:noFill/>
          <a:ln w="9525" algn="ctr">
            <a:solidFill>
              <a:schemeClr val="bg1">
                <a:lumMod val="50000"/>
              </a:schemeClr>
            </a:solidFill>
            <a:miter lim="800000"/>
            <a:headEnd/>
            <a:tailEnd/>
          </a:ln>
        </p:spPr>
        <p:txBody>
          <a:bodyPr wrap="none" anchor="ctr"/>
          <a:lstStyle/>
          <a:p>
            <a:pPr algn="ctr"/>
            <a:r>
              <a:rPr lang="ko-KR" altLang="en-US" sz="1200" b="1" dirty="0">
                <a:solidFill>
                  <a:srgbClr val="4D4D4D"/>
                </a:solidFill>
                <a:latin typeface="맑은 고딕" pitchFamily="50" charset="-127"/>
                <a:ea typeface="맑은 고딕" pitchFamily="50" charset="-127"/>
              </a:rPr>
              <a:t>안정성</a:t>
            </a:r>
            <a:r>
              <a:rPr lang="en-US" altLang="ko-KR" sz="1200" b="1" dirty="0">
                <a:solidFill>
                  <a:srgbClr val="4D4D4D"/>
                </a:solidFill>
                <a:latin typeface="맑은 고딕" pitchFamily="50" charset="-127"/>
                <a:ea typeface="맑은 고딕" pitchFamily="50" charset="-127"/>
              </a:rPr>
              <a:t>(Stability)</a:t>
            </a:r>
          </a:p>
        </p:txBody>
      </p:sp>
      <p:sp>
        <p:nvSpPr>
          <p:cNvPr id="205834" name="Text Box 80"/>
          <p:cNvSpPr txBox="1">
            <a:spLocks noChangeArrowheads="1"/>
          </p:cNvSpPr>
          <p:nvPr/>
        </p:nvSpPr>
        <p:spPr bwMode="auto">
          <a:xfrm>
            <a:off x="3240185" y="2639793"/>
            <a:ext cx="5618096" cy="646331"/>
          </a:xfrm>
          <a:prstGeom prst="rect">
            <a:avLst/>
          </a:prstGeom>
          <a:noFill/>
          <a:ln w="9525" algn="ctr">
            <a:noFill/>
            <a:miter lim="800000"/>
            <a:headEnd/>
            <a:tailEnd/>
          </a:ln>
        </p:spPr>
        <p:txBody>
          <a:bodyPr wrap="square" lIns="36000" rIns="36000">
            <a:spAutoFit/>
          </a:bodyPr>
          <a:lstStyle/>
          <a:p>
            <a:r>
              <a:rPr lang="en-US" altLang="ko-KR" sz="1200" b="1" dirty="0">
                <a:latin typeface="맑은 고딕" pitchFamily="50" charset="-127"/>
                <a:ea typeface="맑은 고딕" pitchFamily="50" charset="-127"/>
              </a:rPr>
              <a:t>The difference between the reference value (true value) and the average of the measured value</a:t>
            </a:r>
          </a:p>
          <a:p>
            <a:endParaRPr lang="ko-KR" altLang="en-US" sz="1200" b="1" dirty="0">
              <a:latin typeface="맑은 고딕" pitchFamily="50" charset="-127"/>
              <a:ea typeface="맑은 고딕" pitchFamily="50" charset="-127"/>
            </a:endParaRPr>
          </a:p>
        </p:txBody>
      </p:sp>
      <p:sp>
        <p:nvSpPr>
          <p:cNvPr id="205835" name="Text Box 81"/>
          <p:cNvSpPr txBox="1">
            <a:spLocks noChangeArrowheads="1"/>
          </p:cNvSpPr>
          <p:nvPr/>
        </p:nvSpPr>
        <p:spPr bwMode="auto">
          <a:xfrm>
            <a:off x="3240184" y="3155850"/>
            <a:ext cx="3431828" cy="276999"/>
          </a:xfrm>
          <a:prstGeom prst="rect">
            <a:avLst/>
          </a:prstGeom>
          <a:noFill/>
          <a:ln w="9525" algn="ctr">
            <a:noFill/>
            <a:miter lim="800000"/>
            <a:headEnd/>
            <a:tailEnd/>
          </a:ln>
        </p:spPr>
        <p:txBody>
          <a:bodyPr wrap="none" lIns="36000" rIns="36000">
            <a:spAutoFit/>
          </a:bodyPr>
          <a:lstStyle/>
          <a:p>
            <a:r>
              <a:rPr lang="en-US" altLang="ko-KR" sz="1200" b="1" dirty="0">
                <a:latin typeface="맑은 고딕" pitchFamily="50" charset="-127"/>
                <a:ea typeface="맑은 고딕" pitchFamily="50" charset="-127"/>
              </a:rPr>
              <a:t>Bias across Gage Range or</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Specification Limit</a:t>
            </a:r>
            <a:endParaRPr lang="ko-KR" altLang="en-US" sz="1200" b="1" dirty="0">
              <a:latin typeface="맑은 고딕" pitchFamily="50" charset="-127"/>
              <a:ea typeface="맑은 고딕" pitchFamily="50" charset="-127"/>
            </a:endParaRPr>
          </a:p>
        </p:txBody>
      </p:sp>
      <p:sp>
        <p:nvSpPr>
          <p:cNvPr id="205836" name="Text Box 83"/>
          <p:cNvSpPr txBox="1">
            <a:spLocks noChangeArrowheads="1"/>
          </p:cNvSpPr>
          <p:nvPr/>
        </p:nvSpPr>
        <p:spPr bwMode="auto">
          <a:xfrm>
            <a:off x="3240184" y="2111275"/>
            <a:ext cx="2504459" cy="276999"/>
          </a:xfrm>
          <a:prstGeom prst="rect">
            <a:avLst/>
          </a:prstGeom>
          <a:noFill/>
          <a:ln w="9525" algn="ctr">
            <a:noFill/>
            <a:miter lim="800000"/>
            <a:headEnd/>
            <a:tailEnd/>
          </a:ln>
        </p:spPr>
        <p:txBody>
          <a:bodyPr wrap="none" lIns="36000" rIns="36000">
            <a:spAutoFit/>
          </a:bodyPr>
          <a:lstStyle/>
          <a:p>
            <a:r>
              <a:rPr lang="en-US" altLang="ko-KR" sz="1200" b="1" dirty="0">
                <a:solidFill>
                  <a:srgbClr val="FF0000"/>
                </a:solidFill>
                <a:latin typeface="맑은 고딕" pitchFamily="50" charset="-127"/>
                <a:ea typeface="맑은 고딕" pitchFamily="50" charset="-127"/>
              </a:rPr>
              <a:t>Gage  Assessment &amp; Adjustment</a:t>
            </a:r>
          </a:p>
        </p:txBody>
      </p:sp>
      <p:cxnSp>
        <p:nvCxnSpPr>
          <p:cNvPr id="205837" name="AutoShape 84"/>
          <p:cNvCxnSpPr>
            <a:cxnSpLocks noChangeShapeType="1"/>
            <a:stCxn id="69" idx="2"/>
            <a:endCxn id="205831" idx="0"/>
          </p:cNvCxnSpPr>
          <p:nvPr/>
        </p:nvCxnSpPr>
        <p:spPr bwMode="auto">
          <a:xfrm rot="5400000">
            <a:off x="2263260" y="2579587"/>
            <a:ext cx="215900" cy="0"/>
          </a:xfrm>
          <a:prstGeom prst="straightConnector1">
            <a:avLst/>
          </a:prstGeom>
          <a:noFill/>
          <a:ln w="9525">
            <a:solidFill>
              <a:schemeClr val="bg1">
                <a:lumMod val="50000"/>
              </a:schemeClr>
            </a:solidFill>
            <a:round/>
            <a:headEnd/>
            <a:tailEnd type="triangle" w="med" len="med"/>
          </a:ln>
        </p:spPr>
      </p:cxnSp>
      <p:sp>
        <p:nvSpPr>
          <p:cNvPr id="77" name="Rectangle 85"/>
          <p:cNvSpPr>
            <a:spLocks noChangeArrowheads="1"/>
          </p:cNvSpPr>
          <p:nvPr/>
        </p:nvSpPr>
        <p:spPr bwMode="auto">
          <a:xfrm>
            <a:off x="1563784" y="4376637"/>
            <a:ext cx="1584080" cy="431800"/>
          </a:xfrm>
          <a:prstGeom prst="rect">
            <a:avLst/>
          </a:prstGeom>
          <a:solidFill>
            <a:schemeClr val="bg1">
              <a:lumMod val="65000"/>
            </a:schemeClr>
          </a:solidFill>
          <a:ln w="9525" algn="ctr">
            <a:solidFill>
              <a:schemeClr val="bg1">
                <a:lumMod val="50000"/>
              </a:schemeClr>
            </a:solidFill>
            <a:prstDash val="sysDash"/>
            <a:miter lim="800000"/>
            <a:headEnd/>
            <a:tailEnd/>
          </a:ln>
          <a:effectLst/>
        </p:spPr>
        <p:txBody>
          <a:bodyPr wrap="none" anchor="ctr"/>
          <a:lstStyle/>
          <a:p>
            <a:pPr algn="ctr">
              <a:defRPr/>
            </a:pPr>
            <a:r>
              <a:rPr lang="ko-KR" altLang="en-US" sz="1200" b="1" dirty="0">
                <a:solidFill>
                  <a:schemeClr val="bg1"/>
                </a:solidFill>
                <a:latin typeface="맑은 고딕" pitchFamily="50" charset="-127"/>
                <a:ea typeface="맑은 고딕" pitchFamily="50" charset="-127"/>
              </a:rPr>
              <a:t>정밀도</a:t>
            </a:r>
          </a:p>
          <a:p>
            <a:pPr algn="ctr">
              <a:defRPr/>
            </a:pPr>
            <a:r>
              <a:rPr lang="en-US" altLang="ko-KR" sz="1200" b="1" dirty="0">
                <a:solidFill>
                  <a:schemeClr val="bg1"/>
                </a:solidFill>
                <a:latin typeface="맑은 고딕" pitchFamily="50" charset="-127"/>
                <a:ea typeface="맑은 고딕" pitchFamily="50" charset="-127"/>
              </a:rPr>
              <a:t>(Precision)</a:t>
            </a:r>
          </a:p>
        </p:txBody>
      </p:sp>
      <p:sp>
        <p:nvSpPr>
          <p:cNvPr id="205839" name="Rectangle 86"/>
          <p:cNvSpPr>
            <a:spLocks noChangeArrowheads="1"/>
          </p:cNvSpPr>
          <p:nvPr/>
        </p:nvSpPr>
        <p:spPr bwMode="auto">
          <a:xfrm>
            <a:off x="3219669" y="4382987"/>
            <a:ext cx="1584080" cy="360362"/>
          </a:xfrm>
          <a:prstGeom prst="rect">
            <a:avLst/>
          </a:prstGeom>
          <a:noFill/>
          <a:ln w="9525" algn="ctr">
            <a:solidFill>
              <a:schemeClr val="bg1">
                <a:lumMod val="50000"/>
              </a:schemeClr>
            </a:solidFill>
            <a:prstDash val="solid"/>
            <a:miter lim="800000"/>
            <a:headEnd/>
            <a:tailEnd/>
          </a:ln>
        </p:spPr>
        <p:txBody>
          <a:bodyPr wrap="none" anchor="ctr"/>
          <a:lstStyle/>
          <a:p>
            <a:pPr algn="ctr"/>
            <a:r>
              <a:rPr lang="ko-KR" altLang="en-US" sz="1200" b="1" dirty="0">
                <a:solidFill>
                  <a:srgbClr val="4D4D4D"/>
                </a:solidFill>
                <a:latin typeface="맑은 고딕" pitchFamily="50" charset="-127"/>
                <a:ea typeface="맑은 고딕" pitchFamily="50" charset="-127"/>
              </a:rPr>
              <a:t>반복성</a:t>
            </a:r>
            <a:r>
              <a:rPr lang="en-US" altLang="ko-KR" sz="1200" b="1" dirty="0">
                <a:solidFill>
                  <a:srgbClr val="4D4D4D"/>
                </a:solidFill>
                <a:latin typeface="맑은 고딕" pitchFamily="50" charset="-127"/>
                <a:ea typeface="맑은 고딕" pitchFamily="50" charset="-127"/>
              </a:rPr>
              <a:t>(Repeatability)</a:t>
            </a:r>
          </a:p>
        </p:txBody>
      </p:sp>
      <p:sp>
        <p:nvSpPr>
          <p:cNvPr id="205840" name="Rectangle 87"/>
          <p:cNvSpPr>
            <a:spLocks noChangeArrowheads="1"/>
          </p:cNvSpPr>
          <p:nvPr/>
        </p:nvSpPr>
        <p:spPr bwMode="auto">
          <a:xfrm>
            <a:off x="5055795" y="4382987"/>
            <a:ext cx="1584081" cy="360362"/>
          </a:xfrm>
          <a:prstGeom prst="rect">
            <a:avLst/>
          </a:prstGeom>
          <a:noFill/>
          <a:ln w="9525" algn="ctr">
            <a:solidFill>
              <a:schemeClr val="bg1">
                <a:lumMod val="50000"/>
              </a:schemeClr>
            </a:solidFill>
            <a:prstDash val="solid"/>
            <a:miter lim="800000"/>
            <a:headEnd/>
            <a:tailEnd/>
          </a:ln>
        </p:spPr>
        <p:txBody>
          <a:bodyPr wrap="none" anchor="ctr"/>
          <a:lstStyle/>
          <a:p>
            <a:pPr algn="ctr"/>
            <a:r>
              <a:rPr lang="ko-KR" altLang="en-US" sz="1200" b="1" dirty="0">
                <a:solidFill>
                  <a:srgbClr val="4D4D4D"/>
                </a:solidFill>
                <a:latin typeface="맑은 고딕" pitchFamily="50" charset="-127"/>
                <a:ea typeface="맑은 고딕" pitchFamily="50" charset="-127"/>
              </a:rPr>
              <a:t>재현성</a:t>
            </a:r>
            <a:r>
              <a:rPr lang="en-US" altLang="ko-KR" sz="1200" b="1" dirty="0">
                <a:solidFill>
                  <a:srgbClr val="4D4D4D"/>
                </a:solidFill>
                <a:latin typeface="맑은 고딕" pitchFamily="50" charset="-127"/>
                <a:ea typeface="맑은 고딕" pitchFamily="50" charset="-127"/>
              </a:rPr>
              <a:t>(Reproducibility)</a:t>
            </a:r>
          </a:p>
        </p:txBody>
      </p:sp>
      <p:sp>
        <p:nvSpPr>
          <p:cNvPr id="205841" name="Text Box 88"/>
          <p:cNvSpPr txBox="1">
            <a:spLocks noChangeArrowheads="1"/>
          </p:cNvSpPr>
          <p:nvPr/>
        </p:nvSpPr>
        <p:spPr bwMode="auto">
          <a:xfrm>
            <a:off x="1547664" y="4833838"/>
            <a:ext cx="924658" cy="461665"/>
          </a:xfrm>
          <a:prstGeom prst="rect">
            <a:avLst/>
          </a:prstGeom>
          <a:noFill/>
          <a:ln w="9525" algn="ctr">
            <a:noFill/>
            <a:miter lim="800000"/>
            <a:headEnd/>
            <a:tailEnd/>
          </a:ln>
        </p:spPr>
        <p:txBody>
          <a:bodyPr>
            <a:spAutoFit/>
          </a:bodyPr>
          <a:lstStyle/>
          <a:p>
            <a:r>
              <a:rPr lang="en-US" altLang="ko-KR" sz="1200" b="1" dirty="0">
                <a:latin typeface="맑은 고딕" pitchFamily="50" charset="-127"/>
                <a:ea typeface="맑은 고딕" pitchFamily="50" charset="-127"/>
              </a:rPr>
              <a:t>Gage R&amp;R</a:t>
            </a:r>
          </a:p>
        </p:txBody>
      </p:sp>
      <p:cxnSp>
        <p:nvCxnSpPr>
          <p:cNvPr id="205845" name="AutoShape 156"/>
          <p:cNvCxnSpPr>
            <a:cxnSpLocks noChangeShapeType="1"/>
          </p:cNvCxnSpPr>
          <p:nvPr/>
        </p:nvCxnSpPr>
        <p:spPr bwMode="auto">
          <a:xfrm>
            <a:off x="4777418" y="4560117"/>
            <a:ext cx="252046" cy="0"/>
          </a:xfrm>
          <a:prstGeom prst="straightConnector1">
            <a:avLst/>
          </a:prstGeom>
          <a:noFill/>
          <a:ln w="12700">
            <a:solidFill>
              <a:schemeClr val="tx1"/>
            </a:solidFill>
            <a:round/>
            <a:headEnd type="triangle" w="med" len="med"/>
            <a:tailEnd type="triangle" w="med" len="med"/>
          </a:ln>
        </p:spPr>
      </p:cxnSp>
      <p:sp>
        <p:nvSpPr>
          <p:cNvPr id="205846" name="Text Box 157"/>
          <p:cNvSpPr txBox="1">
            <a:spLocks noChangeArrowheads="1"/>
          </p:cNvSpPr>
          <p:nvPr/>
        </p:nvSpPr>
        <p:spPr bwMode="auto">
          <a:xfrm>
            <a:off x="2185106" y="5368825"/>
            <a:ext cx="3979985" cy="276225"/>
          </a:xfrm>
          <a:prstGeom prst="rect">
            <a:avLst/>
          </a:prstGeom>
          <a:noFill/>
          <a:ln w="12700" algn="ctr">
            <a:noFill/>
            <a:miter lim="800000"/>
            <a:headEnd/>
            <a:tailEnd/>
          </a:ln>
        </p:spPr>
        <p:txBody>
          <a:bodyPr>
            <a:spAutoFit/>
          </a:bodyPr>
          <a:lstStyle/>
          <a:p>
            <a:r>
              <a:rPr lang="en-US" altLang="ko-KR" sz="1200" b="1" dirty="0">
                <a:latin typeface="맑은 고딕" pitchFamily="50" charset="-127"/>
                <a:ea typeface="맑은 고딕" pitchFamily="50" charset="-127"/>
              </a:rPr>
              <a:t>Continuous  : Crossed  vs. </a:t>
            </a:r>
            <a:r>
              <a:rPr lang="en-US" altLang="ko-KR" sz="1200" b="1" dirty="0">
                <a:solidFill>
                  <a:srgbClr val="FF0000"/>
                </a:solidFill>
                <a:latin typeface="맑은 고딕" pitchFamily="50" charset="-127"/>
                <a:ea typeface="맑은 고딕" pitchFamily="50" charset="-127"/>
              </a:rPr>
              <a:t>Nested</a:t>
            </a:r>
          </a:p>
        </p:txBody>
      </p:sp>
      <p:sp>
        <p:nvSpPr>
          <p:cNvPr id="205847" name="Text Box 158"/>
          <p:cNvSpPr txBox="1">
            <a:spLocks noChangeArrowheads="1"/>
          </p:cNvSpPr>
          <p:nvPr/>
        </p:nvSpPr>
        <p:spPr bwMode="auto">
          <a:xfrm>
            <a:off x="2251048" y="5745063"/>
            <a:ext cx="3176954" cy="276225"/>
          </a:xfrm>
          <a:prstGeom prst="rect">
            <a:avLst/>
          </a:prstGeom>
          <a:noFill/>
          <a:ln w="12700" algn="ctr">
            <a:noFill/>
            <a:miter lim="800000"/>
            <a:headEnd/>
            <a:tailEnd/>
          </a:ln>
        </p:spPr>
        <p:txBody>
          <a:bodyPr>
            <a:spAutoFit/>
          </a:bodyPr>
          <a:lstStyle/>
          <a:p>
            <a:r>
              <a:rPr lang="en-US" altLang="ko-KR" sz="1200" b="1" dirty="0">
                <a:latin typeface="맑은 고딕" pitchFamily="50" charset="-127"/>
                <a:ea typeface="맑은 고딕" pitchFamily="50" charset="-127"/>
              </a:rPr>
              <a:t>Attribute : </a:t>
            </a:r>
            <a:r>
              <a:rPr lang="en-US" altLang="ko-KR" sz="1200" b="1" dirty="0">
                <a:solidFill>
                  <a:srgbClr val="FF0000"/>
                </a:solidFill>
                <a:latin typeface="맑은 고딕" pitchFamily="50" charset="-127"/>
                <a:ea typeface="맑은 고딕" pitchFamily="50" charset="-127"/>
              </a:rPr>
              <a:t>Nominal(Binary)</a:t>
            </a:r>
            <a:r>
              <a:rPr lang="en-US" altLang="ko-KR" sz="1200" b="1" dirty="0">
                <a:latin typeface="맑은 고딕" pitchFamily="50" charset="-127"/>
                <a:ea typeface="맑은 고딕" pitchFamily="50" charset="-127"/>
              </a:rPr>
              <a:t> vs. Ordinal</a:t>
            </a:r>
          </a:p>
        </p:txBody>
      </p:sp>
      <p:sp>
        <p:nvSpPr>
          <p:cNvPr id="205848" name="Oval 159"/>
          <p:cNvSpPr>
            <a:spLocks noChangeArrowheads="1"/>
          </p:cNvSpPr>
          <p:nvPr/>
        </p:nvSpPr>
        <p:spPr bwMode="auto">
          <a:xfrm>
            <a:off x="1971161" y="5097363"/>
            <a:ext cx="65942" cy="71437"/>
          </a:xfrm>
          <a:prstGeom prst="ellipse">
            <a:avLst/>
          </a:prstGeom>
          <a:solidFill>
            <a:schemeClr val="bg2"/>
          </a:solidFill>
          <a:ln w="12700" algn="ctr">
            <a:solidFill>
              <a:schemeClr val="bg1">
                <a:lumMod val="50000"/>
              </a:schemeClr>
            </a:solidFill>
            <a:round/>
            <a:headEnd/>
            <a:tailEnd/>
          </a:ln>
        </p:spPr>
        <p:txBody>
          <a:bodyPr wrap="none" anchor="ctr"/>
          <a:lstStyle/>
          <a:p>
            <a:endParaRPr lang="ko-KR" altLang="en-US" sz="1200" b="1" dirty="0">
              <a:latin typeface="맑은 고딕" pitchFamily="50" charset="-127"/>
              <a:ea typeface="맑은 고딕" pitchFamily="50" charset="-127"/>
            </a:endParaRPr>
          </a:p>
        </p:txBody>
      </p:sp>
      <p:cxnSp>
        <p:nvCxnSpPr>
          <p:cNvPr id="205849" name="AutoShape 160"/>
          <p:cNvCxnSpPr>
            <a:cxnSpLocks noChangeShapeType="1"/>
            <a:stCxn id="205848" idx="4"/>
            <a:endCxn id="205846" idx="1"/>
          </p:cNvCxnSpPr>
          <p:nvPr/>
        </p:nvCxnSpPr>
        <p:spPr bwMode="auto">
          <a:xfrm rot="16200000" flipH="1">
            <a:off x="1925184" y="5247014"/>
            <a:ext cx="338138" cy="181708"/>
          </a:xfrm>
          <a:prstGeom prst="bentConnector2">
            <a:avLst/>
          </a:prstGeom>
          <a:noFill/>
          <a:ln w="12700">
            <a:solidFill>
              <a:schemeClr val="bg1">
                <a:lumMod val="50000"/>
              </a:schemeClr>
            </a:solidFill>
            <a:miter lim="800000"/>
            <a:headEnd/>
            <a:tailEnd type="triangle" w="med" len="med"/>
          </a:ln>
        </p:spPr>
      </p:cxnSp>
      <p:cxnSp>
        <p:nvCxnSpPr>
          <p:cNvPr id="205850" name="AutoShape 161"/>
          <p:cNvCxnSpPr>
            <a:cxnSpLocks noChangeShapeType="1"/>
            <a:stCxn id="205848" idx="4"/>
            <a:endCxn id="205847" idx="1"/>
          </p:cNvCxnSpPr>
          <p:nvPr/>
        </p:nvCxnSpPr>
        <p:spPr bwMode="auto">
          <a:xfrm rot="16200000" flipH="1">
            <a:off x="1770037" y="5402162"/>
            <a:ext cx="714375" cy="247650"/>
          </a:xfrm>
          <a:prstGeom prst="bentConnector2">
            <a:avLst/>
          </a:prstGeom>
          <a:noFill/>
          <a:ln w="12700">
            <a:solidFill>
              <a:schemeClr val="bg1">
                <a:lumMod val="50000"/>
              </a:schemeClr>
            </a:solidFill>
            <a:miter lim="800000"/>
            <a:headEnd/>
            <a:tailEnd type="triangle" w="med" len="med"/>
          </a:ln>
        </p:spPr>
      </p:cxnSp>
      <p:sp>
        <p:nvSpPr>
          <p:cNvPr id="13" name="슬라이드 번호 개체 틀 1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a:t>
            </a:fld>
            <a:endParaRPr lang="ko-KR" altLang="en-US" dirty="0"/>
          </a:p>
        </p:txBody>
      </p:sp>
    </p:spTree>
    <p:extLst>
      <p:ext uri="{BB962C8B-B14F-4D97-AF65-F5344CB8AC3E}">
        <p14:creationId xmlns:p14="http://schemas.microsoft.com/office/powerpoint/2010/main" val="171192544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Kiểm</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chứng</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chính</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xác</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Gage </a:t>
            </a:r>
            <a:endParaRPr lang="ko-KR" altLang="en-US" sz="1600" b="1" kern="0" dirty="0">
              <a:latin typeface="맑은 고딕"/>
              <a:ea typeface="맑은 고딕"/>
              <a:cs typeface="+mj-cs"/>
            </a:endParaRPr>
          </a:p>
        </p:txBody>
      </p:sp>
      <p:sp>
        <p:nvSpPr>
          <p:cNvPr id="4" name="TextBox 3"/>
          <p:cNvSpPr txBox="1"/>
          <p:nvPr/>
        </p:nvSpPr>
        <p:spPr>
          <a:xfrm>
            <a:off x="251520" y="918475"/>
            <a:ext cx="8712850" cy="329321"/>
          </a:xfrm>
          <a:prstGeom prst="rect">
            <a:avLst/>
          </a:prstGeom>
          <a:noFill/>
        </p:spPr>
        <p:txBody>
          <a:bodyPr wrap="square">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Khái</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niệm</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về</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chính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xác</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tỉ</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mỉ</a:t>
            </a:r>
            <a:r>
              <a:rPr lang="ko-KR" altLang="en-US" sz="1400" b="1" kern="0" dirty="0">
                <a:solidFill>
                  <a:sysClr val="windowText" lastClr="000000"/>
                </a:solidFill>
                <a:latin typeface="맑은 고딕" pitchFamily="50" charset="-127"/>
                <a:ea typeface="맑은 고딕" pitchFamily="50" charset="-127"/>
              </a:rPr>
              <a:t> </a:t>
            </a:r>
            <a:endParaRPr kumimoji="0" lang="en-US" altLang="ko-KR" sz="1400" kern="0" dirty="0">
              <a:solidFill>
                <a:sysClr val="windowText" lastClr="000000"/>
              </a:solidFill>
              <a:latin typeface="맑은 고딕" pitchFamily="50" charset="-127"/>
              <a:ea typeface="맑은 고딕" pitchFamily="50" charset="-127"/>
            </a:endParaRPr>
          </a:p>
        </p:txBody>
      </p:sp>
      <p:grpSp>
        <p:nvGrpSpPr>
          <p:cNvPr id="3" name="Group 95"/>
          <p:cNvGrpSpPr>
            <a:grpSpLocks/>
          </p:cNvGrpSpPr>
          <p:nvPr/>
        </p:nvGrpSpPr>
        <p:grpSpPr bwMode="auto">
          <a:xfrm>
            <a:off x="827584" y="1628800"/>
            <a:ext cx="4144552" cy="4415573"/>
            <a:chOff x="4748" y="482"/>
            <a:chExt cx="1237" cy="1507"/>
          </a:xfrm>
        </p:grpSpPr>
        <p:sp>
          <p:nvSpPr>
            <p:cNvPr id="205851" name="Text Box 96"/>
            <p:cNvSpPr txBox="1">
              <a:spLocks noChangeArrowheads="1"/>
            </p:cNvSpPr>
            <p:nvPr/>
          </p:nvSpPr>
          <p:spPr bwMode="auto">
            <a:xfrm>
              <a:off x="4748" y="1008"/>
              <a:ext cx="373" cy="137"/>
            </a:xfrm>
            <a:prstGeom prst="rect">
              <a:avLst/>
            </a:prstGeom>
            <a:noFill/>
            <a:ln w="9525">
              <a:noFill/>
              <a:miter lim="800000"/>
              <a:headEnd/>
              <a:tailEnd/>
            </a:ln>
          </p:spPr>
          <p:txBody>
            <a:bodyPr wrap="none">
              <a:spAutoFit/>
            </a:bodyPr>
            <a:lstStyle/>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mỉ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thấp</a:t>
              </a:r>
              <a:r>
                <a:rPr lang="en-US" altLang="ko-KR" sz="1000" dirty="0">
                  <a:latin typeface="맑은 고딕" pitchFamily="50" charset="-127"/>
                  <a:ea typeface="맑은 고딕" pitchFamily="50" charset="-127"/>
                </a:rPr>
                <a:t>, </a:t>
              </a:r>
            </a:p>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chính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xác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thấp</a:t>
              </a:r>
              <a:endParaRPr lang="ko-KR" altLang="en-US" sz="1000" dirty="0">
                <a:latin typeface="맑은 고딕" pitchFamily="50" charset="-127"/>
                <a:ea typeface="맑은 고딕" pitchFamily="50" charset="-127"/>
              </a:endParaRPr>
            </a:p>
          </p:txBody>
        </p:sp>
        <p:grpSp>
          <p:nvGrpSpPr>
            <p:cNvPr id="5" name="Group 97"/>
            <p:cNvGrpSpPr>
              <a:grpSpLocks/>
            </p:cNvGrpSpPr>
            <p:nvPr/>
          </p:nvGrpSpPr>
          <p:grpSpPr bwMode="auto">
            <a:xfrm>
              <a:off x="4773" y="482"/>
              <a:ext cx="547" cy="525"/>
              <a:chOff x="4796" y="436"/>
              <a:chExt cx="547" cy="525"/>
            </a:xfrm>
          </p:grpSpPr>
          <p:grpSp>
            <p:nvGrpSpPr>
              <p:cNvPr id="6" name="Group 98"/>
              <p:cNvGrpSpPr>
                <a:grpSpLocks/>
              </p:cNvGrpSpPr>
              <p:nvPr/>
            </p:nvGrpSpPr>
            <p:grpSpPr bwMode="auto">
              <a:xfrm>
                <a:off x="4873" y="497"/>
                <a:ext cx="403" cy="386"/>
                <a:chOff x="920" y="2104"/>
                <a:chExt cx="520" cy="520"/>
              </a:xfrm>
            </p:grpSpPr>
            <p:sp>
              <p:nvSpPr>
                <p:cNvPr id="205907" name="Oval 99"/>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908" name="Oval 100"/>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909" name="Oval 101"/>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910" name="Oval 102"/>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sp>
            <p:nvSpPr>
              <p:cNvPr id="205900" name="Rectangle 103"/>
              <p:cNvSpPr>
                <a:spLocks noChangeArrowheads="1"/>
              </p:cNvSpPr>
              <p:nvPr/>
            </p:nvSpPr>
            <p:spPr bwMode="auto">
              <a:xfrm>
                <a:off x="4796" y="436"/>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5901" name="Oval 104"/>
              <p:cNvSpPr>
                <a:spLocks noChangeArrowheads="1"/>
              </p:cNvSpPr>
              <p:nvPr/>
            </p:nvSpPr>
            <p:spPr bwMode="auto">
              <a:xfrm>
                <a:off x="4988" y="536"/>
                <a:ext cx="24"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2" name="Oval 105"/>
              <p:cNvSpPr>
                <a:spLocks noChangeArrowheads="1"/>
              </p:cNvSpPr>
              <p:nvPr/>
            </p:nvSpPr>
            <p:spPr bwMode="auto">
              <a:xfrm>
                <a:off x="4962" y="585"/>
                <a:ext cx="24"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3" name="Oval 106"/>
              <p:cNvSpPr>
                <a:spLocks noChangeArrowheads="1"/>
              </p:cNvSpPr>
              <p:nvPr/>
            </p:nvSpPr>
            <p:spPr bwMode="auto">
              <a:xfrm>
                <a:off x="4885" y="734"/>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4" name="Oval 107"/>
              <p:cNvSpPr>
                <a:spLocks noChangeArrowheads="1"/>
              </p:cNvSpPr>
              <p:nvPr/>
            </p:nvSpPr>
            <p:spPr bwMode="auto">
              <a:xfrm>
                <a:off x="5065" y="784"/>
                <a:ext cx="25"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5" name="Oval 108"/>
              <p:cNvSpPr>
                <a:spLocks noChangeArrowheads="1"/>
              </p:cNvSpPr>
              <p:nvPr/>
            </p:nvSpPr>
            <p:spPr bwMode="auto">
              <a:xfrm>
                <a:off x="5193" y="808"/>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906" name="Oval 109"/>
              <p:cNvSpPr>
                <a:spLocks noChangeArrowheads="1"/>
              </p:cNvSpPr>
              <p:nvPr/>
            </p:nvSpPr>
            <p:spPr bwMode="auto">
              <a:xfrm>
                <a:off x="5193" y="610"/>
                <a:ext cx="25"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grpSp>
        <p:sp>
          <p:nvSpPr>
            <p:cNvPr id="205853" name="Text Box 110"/>
            <p:cNvSpPr txBox="1">
              <a:spLocks noChangeArrowheads="1"/>
            </p:cNvSpPr>
            <p:nvPr/>
          </p:nvSpPr>
          <p:spPr bwMode="auto">
            <a:xfrm>
              <a:off x="5413" y="1008"/>
              <a:ext cx="355" cy="137"/>
            </a:xfrm>
            <a:prstGeom prst="rect">
              <a:avLst/>
            </a:prstGeom>
            <a:noFill/>
            <a:ln w="9525">
              <a:noFill/>
              <a:miter lim="800000"/>
              <a:headEnd/>
              <a:tailEnd/>
            </a:ln>
          </p:spPr>
          <p:txBody>
            <a:bodyPr wrap="none">
              <a:spAutoFit/>
            </a:bodyPr>
            <a:lstStyle/>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mỉ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thấp</a:t>
              </a:r>
              <a:r>
                <a:rPr lang="en-US" altLang="ko-KR" sz="1000" dirty="0">
                  <a:latin typeface="맑은 고딕" pitchFamily="50" charset="-127"/>
                  <a:ea typeface="맑은 고딕" pitchFamily="50" charset="-127"/>
                </a:rPr>
                <a:t> </a:t>
              </a:r>
            </a:p>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chính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xác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cao</a:t>
              </a:r>
              <a:endParaRPr lang="ko-KR" altLang="en-US" sz="1000" dirty="0">
                <a:latin typeface="맑은 고딕" pitchFamily="50" charset="-127"/>
                <a:ea typeface="맑은 고딕" pitchFamily="50" charset="-127"/>
              </a:endParaRPr>
            </a:p>
          </p:txBody>
        </p:sp>
        <p:sp>
          <p:nvSpPr>
            <p:cNvPr id="205854" name="Text Box 111"/>
            <p:cNvSpPr txBox="1">
              <a:spLocks noChangeArrowheads="1"/>
            </p:cNvSpPr>
            <p:nvPr/>
          </p:nvSpPr>
          <p:spPr bwMode="auto">
            <a:xfrm>
              <a:off x="4748" y="1852"/>
              <a:ext cx="373" cy="137"/>
            </a:xfrm>
            <a:prstGeom prst="rect">
              <a:avLst/>
            </a:prstGeom>
            <a:noFill/>
            <a:ln w="9525">
              <a:noFill/>
              <a:miter lim="800000"/>
              <a:headEnd/>
              <a:tailEnd/>
            </a:ln>
          </p:spPr>
          <p:txBody>
            <a:bodyPr wrap="none">
              <a:spAutoFit/>
            </a:bodyPr>
            <a:lstStyle/>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mỉ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cao</a:t>
              </a:r>
              <a:r>
                <a:rPr lang="en-US" altLang="ko-KR" sz="1000" dirty="0">
                  <a:latin typeface="맑은 고딕" pitchFamily="50" charset="-127"/>
                  <a:ea typeface="맑은 고딕" pitchFamily="50" charset="-127"/>
                </a:rPr>
                <a:t> </a:t>
              </a:r>
            </a:p>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chính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xác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thấp</a:t>
              </a:r>
              <a:endParaRPr lang="ko-KR" altLang="en-US" sz="1000" dirty="0">
                <a:latin typeface="맑은 고딕" pitchFamily="50" charset="-127"/>
                <a:ea typeface="맑은 고딕" pitchFamily="50" charset="-127"/>
              </a:endParaRPr>
            </a:p>
          </p:txBody>
        </p:sp>
        <p:sp>
          <p:nvSpPr>
            <p:cNvPr id="205855" name="Text Box 112"/>
            <p:cNvSpPr txBox="1">
              <a:spLocks noChangeArrowheads="1"/>
            </p:cNvSpPr>
            <p:nvPr/>
          </p:nvSpPr>
          <p:spPr bwMode="auto">
            <a:xfrm>
              <a:off x="5414" y="1852"/>
              <a:ext cx="355" cy="137"/>
            </a:xfrm>
            <a:prstGeom prst="rect">
              <a:avLst/>
            </a:prstGeom>
            <a:noFill/>
            <a:ln w="9525">
              <a:noFill/>
              <a:miter lim="800000"/>
              <a:headEnd/>
              <a:tailEnd/>
            </a:ln>
          </p:spPr>
          <p:txBody>
            <a:bodyPr wrap="none">
              <a:spAutoFit/>
            </a:bodyPr>
            <a:lstStyle/>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mỉ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cao</a:t>
              </a:r>
              <a:r>
                <a:rPr lang="en-US" altLang="ko-KR" sz="1000" dirty="0">
                  <a:latin typeface="맑은 고딕" pitchFamily="50" charset="-127"/>
                  <a:ea typeface="맑은 고딕" pitchFamily="50" charset="-127"/>
                </a:rPr>
                <a:t> </a:t>
              </a:r>
            </a:p>
            <a:p>
              <a:r>
                <a:rPr lang="en-US" altLang="ko-KR" sz="1000" dirty="0" err="1">
                  <a:latin typeface="맑은 고딕" pitchFamily="50" charset="-127"/>
                  <a:ea typeface="맑은 고딕" pitchFamily="50" charset="-127"/>
                </a:rPr>
                <a:t>Độ</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chính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xác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cao</a:t>
              </a:r>
              <a:endParaRPr lang="ko-KR" altLang="en-US" sz="1000" dirty="0">
                <a:latin typeface="맑은 고딕" pitchFamily="50" charset="-127"/>
                <a:ea typeface="맑은 고딕" pitchFamily="50" charset="-127"/>
              </a:endParaRPr>
            </a:p>
          </p:txBody>
        </p:sp>
        <p:grpSp>
          <p:nvGrpSpPr>
            <p:cNvPr id="7" name="Group 113"/>
            <p:cNvGrpSpPr>
              <a:grpSpLocks/>
            </p:cNvGrpSpPr>
            <p:nvPr/>
          </p:nvGrpSpPr>
          <p:grpSpPr bwMode="auto">
            <a:xfrm>
              <a:off x="5438" y="482"/>
              <a:ext cx="547" cy="525"/>
              <a:chOff x="5447" y="436"/>
              <a:chExt cx="547" cy="525"/>
            </a:xfrm>
          </p:grpSpPr>
          <p:sp>
            <p:nvSpPr>
              <p:cNvPr id="205885" name="Oval 114"/>
              <p:cNvSpPr>
                <a:spLocks noChangeArrowheads="1"/>
              </p:cNvSpPr>
              <p:nvPr/>
            </p:nvSpPr>
            <p:spPr bwMode="auto">
              <a:xfrm>
                <a:off x="5666" y="555"/>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6" name="Oval 115"/>
              <p:cNvSpPr>
                <a:spLocks noChangeArrowheads="1"/>
              </p:cNvSpPr>
              <p:nvPr/>
            </p:nvSpPr>
            <p:spPr bwMode="auto">
              <a:xfrm>
                <a:off x="5707" y="684"/>
                <a:ext cx="26" cy="26"/>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7" name="Oval 116"/>
              <p:cNvSpPr>
                <a:spLocks noChangeArrowheads="1"/>
              </p:cNvSpPr>
              <p:nvPr/>
            </p:nvSpPr>
            <p:spPr bwMode="auto">
              <a:xfrm>
                <a:off x="5719" y="603"/>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8" name="Oval 117"/>
              <p:cNvSpPr>
                <a:spLocks noChangeArrowheads="1"/>
              </p:cNvSpPr>
              <p:nvPr/>
            </p:nvSpPr>
            <p:spPr bwMode="auto">
              <a:xfrm>
                <a:off x="5782" y="737"/>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89" name="Oval 118"/>
              <p:cNvSpPr>
                <a:spLocks noChangeArrowheads="1"/>
              </p:cNvSpPr>
              <p:nvPr/>
            </p:nvSpPr>
            <p:spPr bwMode="auto">
              <a:xfrm>
                <a:off x="5844" y="710"/>
                <a:ext cx="25" cy="26"/>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0" name="Oval 119"/>
              <p:cNvSpPr>
                <a:spLocks noChangeArrowheads="1"/>
              </p:cNvSpPr>
              <p:nvPr/>
            </p:nvSpPr>
            <p:spPr bwMode="auto">
              <a:xfrm>
                <a:off x="5746" y="852"/>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1" name="Oval 120"/>
              <p:cNvSpPr>
                <a:spLocks noChangeArrowheads="1"/>
              </p:cNvSpPr>
              <p:nvPr/>
            </p:nvSpPr>
            <p:spPr bwMode="auto">
              <a:xfrm>
                <a:off x="5648" y="728"/>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2" name="Oval 121"/>
              <p:cNvSpPr>
                <a:spLocks noChangeArrowheads="1"/>
              </p:cNvSpPr>
              <p:nvPr/>
            </p:nvSpPr>
            <p:spPr bwMode="auto">
              <a:xfrm>
                <a:off x="5579" y="659"/>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93" name="Rectangle 122"/>
              <p:cNvSpPr>
                <a:spLocks noChangeArrowheads="1"/>
              </p:cNvSpPr>
              <p:nvPr/>
            </p:nvSpPr>
            <p:spPr bwMode="auto">
              <a:xfrm>
                <a:off x="5447" y="436"/>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grpSp>
            <p:nvGrpSpPr>
              <p:cNvPr id="8" name="Group 123"/>
              <p:cNvGrpSpPr>
                <a:grpSpLocks/>
              </p:cNvGrpSpPr>
              <p:nvPr/>
            </p:nvGrpSpPr>
            <p:grpSpPr bwMode="auto">
              <a:xfrm>
                <a:off x="5524" y="496"/>
                <a:ext cx="403" cy="386"/>
                <a:chOff x="920" y="2104"/>
                <a:chExt cx="520" cy="520"/>
              </a:xfrm>
            </p:grpSpPr>
            <p:sp>
              <p:nvSpPr>
                <p:cNvPr id="205895" name="Oval 124"/>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96" name="Oval 125"/>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97" name="Oval 126"/>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98" name="Oval 127"/>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grpSp>
        <p:grpSp>
          <p:nvGrpSpPr>
            <p:cNvPr id="9" name="Group 128"/>
            <p:cNvGrpSpPr>
              <a:grpSpLocks/>
            </p:cNvGrpSpPr>
            <p:nvPr/>
          </p:nvGrpSpPr>
          <p:grpSpPr bwMode="auto">
            <a:xfrm>
              <a:off x="4773" y="1323"/>
              <a:ext cx="547" cy="525"/>
              <a:chOff x="4796" y="1998"/>
              <a:chExt cx="547" cy="525"/>
            </a:xfrm>
          </p:grpSpPr>
          <p:sp>
            <p:nvSpPr>
              <p:cNvPr id="205872" name="Oval 129"/>
              <p:cNvSpPr>
                <a:spLocks noChangeArrowheads="1"/>
              </p:cNvSpPr>
              <p:nvPr/>
            </p:nvSpPr>
            <p:spPr bwMode="auto">
              <a:xfrm>
                <a:off x="4920" y="2115"/>
                <a:ext cx="49"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3" name="Oval 130"/>
              <p:cNvSpPr>
                <a:spLocks noChangeArrowheads="1"/>
              </p:cNvSpPr>
              <p:nvPr/>
            </p:nvSpPr>
            <p:spPr bwMode="auto">
              <a:xfrm>
                <a:off x="4952" y="2115"/>
                <a:ext cx="49"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4" name="Oval 131"/>
              <p:cNvSpPr>
                <a:spLocks noChangeArrowheads="1"/>
              </p:cNvSpPr>
              <p:nvPr/>
            </p:nvSpPr>
            <p:spPr bwMode="auto">
              <a:xfrm>
                <a:off x="4917" y="2141"/>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5" name="Oval 132"/>
              <p:cNvSpPr>
                <a:spLocks noChangeArrowheads="1"/>
              </p:cNvSpPr>
              <p:nvPr/>
            </p:nvSpPr>
            <p:spPr bwMode="auto">
              <a:xfrm>
                <a:off x="4938" y="2137"/>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6" name="Oval 133"/>
              <p:cNvSpPr>
                <a:spLocks noChangeArrowheads="1"/>
              </p:cNvSpPr>
              <p:nvPr/>
            </p:nvSpPr>
            <p:spPr bwMode="auto">
              <a:xfrm>
                <a:off x="4963" y="2137"/>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7" name="Oval 134"/>
              <p:cNvSpPr>
                <a:spLocks noChangeArrowheads="1"/>
              </p:cNvSpPr>
              <p:nvPr/>
            </p:nvSpPr>
            <p:spPr bwMode="auto">
              <a:xfrm>
                <a:off x="4931" y="2162"/>
                <a:ext cx="49"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8" name="Oval 135"/>
              <p:cNvSpPr>
                <a:spLocks noChangeArrowheads="1"/>
              </p:cNvSpPr>
              <p:nvPr/>
            </p:nvSpPr>
            <p:spPr bwMode="auto">
              <a:xfrm>
                <a:off x="4958" y="2165"/>
                <a:ext cx="49"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79" name="Rectangle 136"/>
              <p:cNvSpPr>
                <a:spLocks noChangeArrowheads="1"/>
              </p:cNvSpPr>
              <p:nvPr/>
            </p:nvSpPr>
            <p:spPr bwMode="auto">
              <a:xfrm>
                <a:off x="4796" y="1998"/>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grpSp>
            <p:nvGrpSpPr>
              <p:cNvPr id="10" name="Group 137"/>
              <p:cNvGrpSpPr>
                <a:grpSpLocks/>
              </p:cNvGrpSpPr>
              <p:nvPr/>
            </p:nvGrpSpPr>
            <p:grpSpPr bwMode="auto">
              <a:xfrm>
                <a:off x="4873" y="2059"/>
                <a:ext cx="403" cy="386"/>
                <a:chOff x="920" y="2104"/>
                <a:chExt cx="520" cy="520"/>
              </a:xfrm>
            </p:grpSpPr>
            <p:sp>
              <p:nvSpPr>
                <p:cNvPr id="205881" name="Oval 138"/>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82" name="Oval 139"/>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83" name="Oval 140"/>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84" name="Oval 141"/>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grpSp>
        <p:grpSp>
          <p:nvGrpSpPr>
            <p:cNvPr id="11" name="Group 142"/>
            <p:cNvGrpSpPr>
              <a:grpSpLocks/>
            </p:cNvGrpSpPr>
            <p:nvPr/>
          </p:nvGrpSpPr>
          <p:grpSpPr bwMode="auto">
            <a:xfrm>
              <a:off x="5438" y="1323"/>
              <a:ext cx="547" cy="525"/>
              <a:chOff x="4798" y="2750"/>
              <a:chExt cx="547" cy="525"/>
            </a:xfrm>
          </p:grpSpPr>
          <p:sp>
            <p:nvSpPr>
              <p:cNvPr id="205859" name="Oval 143"/>
              <p:cNvSpPr>
                <a:spLocks noChangeArrowheads="1"/>
              </p:cNvSpPr>
              <p:nvPr/>
            </p:nvSpPr>
            <p:spPr bwMode="auto">
              <a:xfrm>
                <a:off x="5034" y="2982"/>
                <a:ext cx="26"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0" name="Oval 144"/>
              <p:cNvSpPr>
                <a:spLocks noChangeArrowheads="1"/>
              </p:cNvSpPr>
              <p:nvPr/>
            </p:nvSpPr>
            <p:spPr bwMode="auto">
              <a:xfrm>
                <a:off x="5075" y="2982"/>
                <a:ext cx="24" cy="24"/>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1" name="Oval 145"/>
              <p:cNvSpPr>
                <a:spLocks noChangeArrowheads="1"/>
              </p:cNvSpPr>
              <p:nvPr/>
            </p:nvSpPr>
            <p:spPr bwMode="auto">
              <a:xfrm>
                <a:off x="5030" y="3007"/>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2" name="Oval 146"/>
              <p:cNvSpPr>
                <a:spLocks noChangeArrowheads="1"/>
              </p:cNvSpPr>
              <p:nvPr/>
            </p:nvSpPr>
            <p:spPr bwMode="auto">
              <a:xfrm>
                <a:off x="5057" y="3003"/>
                <a:ext cx="25"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3" name="Oval 147"/>
              <p:cNvSpPr>
                <a:spLocks noChangeArrowheads="1"/>
              </p:cNvSpPr>
              <p:nvPr/>
            </p:nvSpPr>
            <p:spPr bwMode="auto">
              <a:xfrm>
                <a:off x="5088" y="3003"/>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4" name="Oval 148"/>
              <p:cNvSpPr>
                <a:spLocks noChangeArrowheads="1"/>
              </p:cNvSpPr>
              <p:nvPr/>
            </p:nvSpPr>
            <p:spPr bwMode="auto">
              <a:xfrm>
                <a:off x="5048" y="3028"/>
                <a:ext cx="26"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5" name="Oval 149"/>
              <p:cNvSpPr>
                <a:spLocks noChangeArrowheads="1"/>
              </p:cNvSpPr>
              <p:nvPr/>
            </p:nvSpPr>
            <p:spPr bwMode="auto">
              <a:xfrm>
                <a:off x="5082" y="3032"/>
                <a:ext cx="27" cy="25"/>
              </a:xfrm>
              <a:prstGeom prst="ellipse">
                <a:avLst/>
              </a:prstGeom>
              <a:solidFill>
                <a:srgbClr val="A50021"/>
              </a:solidFill>
              <a:ln w="9525">
                <a:noFill/>
                <a:round/>
                <a:headEnd/>
                <a:tailEnd/>
              </a:ln>
            </p:spPr>
            <p:txBody>
              <a:bodyPr wrap="none" anchor="ctr"/>
              <a:lstStyle/>
              <a:p>
                <a:pPr algn="ctr"/>
                <a:endParaRPr lang="ko-KR" altLang="ko-KR" sz="1000" dirty="0">
                  <a:solidFill>
                    <a:srgbClr val="CC0000"/>
                  </a:solidFill>
                  <a:latin typeface="맑은 고딕" pitchFamily="50" charset="-127"/>
                  <a:ea typeface="맑은 고딕" pitchFamily="50" charset="-127"/>
                </a:endParaRPr>
              </a:p>
            </p:txBody>
          </p:sp>
          <p:sp>
            <p:nvSpPr>
              <p:cNvPr id="205866" name="Rectangle 150"/>
              <p:cNvSpPr>
                <a:spLocks noChangeArrowheads="1"/>
              </p:cNvSpPr>
              <p:nvPr/>
            </p:nvSpPr>
            <p:spPr bwMode="auto">
              <a:xfrm>
                <a:off x="4798" y="2750"/>
                <a:ext cx="547" cy="525"/>
              </a:xfrm>
              <a:prstGeom prst="rect">
                <a:avLst/>
              </a:prstGeom>
              <a:noFill/>
              <a:ln w="9525">
                <a:solidFill>
                  <a:schemeClr val="tx1"/>
                </a:solidFill>
                <a:miter lim="800000"/>
                <a:headEnd/>
                <a:tailEnd/>
              </a:ln>
            </p:spPr>
            <p:txBody>
              <a:bodyPr wrap="none" anchor="ctr"/>
              <a:lstStyle/>
              <a:p>
                <a:endParaRPr lang="ko-KR" altLang="en-US" dirty="0">
                  <a:latin typeface="맑은 고딕" pitchFamily="50" charset="-127"/>
                  <a:ea typeface="맑은 고딕" pitchFamily="50" charset="-127"/>
                </a:endParaRPr>
              </a:p>
            </p:txBody>
          </p:sp>
          <p:grpSp>
            <p:nvGrpSpPr>
              <p:cNvPr id="12" name="Group 151"/>
              <p:cNvGrpSpPr>
                <a:grpSpLocks/>
              </p:cNvGrpSpPr>
              <p:nvPr/>
            </p:nvGrpSpPr>
            <p:grpSpPr bwMode="auto">
              <a:xfrm>
                <a:off x="4875" y="2811"/>
                <a:ext cx="403" cy="386"/>
                <a:chOff x="920" y="2104"/>
                <a:chExt cx="520" cy="520"/>
              </a:xfrm>
            </p:grpSpPr>
            <p:sp>
              <p:nvSpPr>
                <p:cNvPr id="205868" name="Oval 152"/>
                <p:cNvSpPr>
                  <a:spLocks noChangeArrowheads="1"/>
                </p:cNvSpPr>
                <p:nvPr/>
              </p:nvSpPr>
              <p:spPr bwMode="auto">
                <a:xfrm>
                  <a:off x="1104" y="2288"/>
                  <a:ext cx="152" cy="152"/>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69" name="Oval 153"/>
                <p:cNvSpPr>
                  <a:spLocks noChangeArrowheads="1"/>
                </p:cNvSpPr>
                <p:nvPr/>
              </p:nvSpPr>
              <p:spPr bwMode="auto">
                <a:xfrm>
                  <a:off x="1040" y="2224"/>
                  <a:ext cx="280" cy="28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70" name="Oval 154"/>
                <p:cNvSpPr>
                  <a:spLocks noChangeArrowheads="1"/>
                </p:cNvSpPr>
                <p:nvPr/>
              </p:nvSpPr>
              <p:spPr bwMode="auto">
                <a:xfrm>
                  <a:off x="980" y="2164"/>
                  <a:ext cx="400" cy="40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5871" name="Oval 155"/>
                <p:cNvSpPr>
                  <a:spLocks noChangeArrowheads="1"/>
                </p:cNvSpPr>
                <p:nvPr/>
              </p:nvSpPr>
              <p:spPr bwMode="auto">
                <a:xfrm>
                  <a:off x="920" y="2104"/>
                  <a:ext cx="520" cy="520"/>
                </a:xfrm>
                <a:prstGeom prst="ellipse">
                  <a:avLst/>
                </a:prstGeom>
                <a:noFill/>
                <a:ln w="9525">
                  <a:solidFill>
                    <a:schemeClr val="tx1"/>
                  </a:solidFill>
                  <a:round/>
                  <a:headEnd/>
                  <a:tailEnd/>
                </a:ln>
              </p:spPr>
              <p:txBody>
                <a:bodyPr wrap="none" anchor="ctr"/>
                <a:lstStyle/>
                <a:p>
                  <a:endParaRPr lang="ko-KR" altLang="en-US" dirty="0">
                    <a:latin typeface="맑은 고딕" pitchFamily="50" charset="-127"/>
                    <a:ea typeface="맑은 고딕" pitchFamily="50" charset="-127"/>
                  </a:endParaRPr>
                </a:p>
              </p:txBody>
            </p:sp>
          </p:grpSp>
        </p:grpSp>
      </p:grpSp>
      <p:sp>
        <p:nvSpPr>
          <p:cNvPr id="13" name="슬라이드 번호 개체 틀 1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a:t>
            </a:fld>
            <a:endParaRPr lang="ko-KR" altLang="en-US" dirty="0"/>
          </a:p>
        </p:txBody>
      </p:sp>
      <p:sp>
        <p:nvSpPr>
          <p:cNvPr id="15" name="오른쪽 화살표 14"/>
          <p:cNvSpPr/>
          <p:nvPr/>
        </p:nvSpPr>
        <p:spPr>
          <a:xfrm>
            <a:off x="5220072" y="1988840"/>
            <a:ext cx="360040" cy="648072"/>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오른쪽 화살표 89"/>
          <p:cNvSpPr/>
          <p:nvPr/>
        </p:nvSpPr>
        <p:spPr>
          <a:xfrm>
            <a:off x="5220072" y="4437112"/>
            <a:ext cx="360040" cy="648072"/>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TextBox 15"/>
          <p:cNvSpPr txBox="1"/>
          <p:nvPr/>
        </p:nvSpPr>
        <p:spPr>
          <a:xfrm>
            <a:off x="5724128" y="1844824"/>
            <a:ext cx="2981907" cy="338554"/>
          </a:xfrm>
          <a:prstGeom prst="rect">
            <a:avLst/>
          </a:prstGeom>
          <a:noFill/>
        </p:spPr>
        <p:txBody>
          <a:bodyPr wrap="none" rtlCol="0">
            <a:spAutoFit/>
          </a:bodyPr>
          <a:lstStyle/>
          <a:p>
            <a:r>
              <a:rPr lang="en-US" altLang="ko-KR" sz="1600" dirty="0" err="1"/>
              <a:t>Vấn</a:t>
            </a:r>
            <a:r>
              <a:rPr lang="en-US" altLang="ko-KR" sz="1600" dirty="0"/>
              <a:t> </a:t>
            </a:r>
            <a:r>
              <a:rPr lang="en-US" altLang="ko-KR" sz="1600" dirty="0" err="1"/>
              <a:t>đề</a:t>
            </a:r>
            <a:r>
              <a:rPr lang="en-US" altLang="ko-KR" sz="1600" dirty="0"/>
              <a:t> </a:t>
            </a:r>
            <a:r>
              <a:rPr lang="en-US" altLang="ko-KR" sz="1600" dirty="0" err="1"/>
              <a:t>về</a:t>
            </a:r>
            <a:r>
              <a:rPr lang="en-US" altLang="ko-KR" sz="1600" dirty="0"/>
              <a:t> </a:t>
            </a:r>
            <a:r>
              <a:rPr lang="en-US" altLang="ko-KR" sz="1600" dirty="0" err="1"/>
              <a:t>phân</a:t>
            </a:r>
            <a:r>
              <a:rPr lang="en-US" altLang="ko-KR" sz="1600" dirty="0"/>
              <a:t> </a:t>
            </a:r>
            <a:r>
              <a:rPr lang="en-US" altLang="ko-KR" sz="1600" dirty="0" err="1"/>
              <a:t>tán</a:t>
            </a:r>
            <a:r>
              <a:rPr lang="en-US" altLang="ko-KR" sz="1600" dirty="0"/>
              <a:t>/</a:t>
            </a:r>
            <a:r>
              <a:rPr lang="en-US" altLang="ko-KR" sz="1600" dirty="0" err="1"/>
              <a:t>phân</a:t>
            </a:r>
            <a:r>
              <a:rPr lang="en-US" altLang="ko-KR" sz="1600" dirty="0"/>
              <a:t> </a:t>
            </a:r>
            <a:r>
              <a:rPr lang="en-US" altLang="ko-KR" sz="1600" dirty="0" err="1"/>
              <a:t>bổ</a:t>
            </a:r>
            <a:r>
              <a:rPr lang="ko-KR" altLang="en-US" sz="1600" dirty="0"/>
              <a:t> </a:t>
            </a:r>
          </a:p>
        </p:txBody>
      </p:sp>
      <p:sp>
        <p:nvSpPr>
          <p:cNvPr id="92" name="TextBox 91"/>
          <p:cNvSpPr txBox="1"/>
          <p:nvPr/>
        </p:nvSpPr>
        <p:spPr>
          <a:xfrm>
            <a:off x="5429256" y="4214818"/>
            <a:ext cx="3650358" cy="338554"/>
          </a:xfrm>
          <a:prstGeom prst="rect">
            <a:avLst/>
          </a:prstGeom>
          <a:noFill/>
        </p:spPr>
        <p:txBody>
          <a:bodyPr wrap="none" rtlCol="0">
            <a:spAutoFit/>
          </a:bodyPr>
          <a:lstStyle/>
          <a:p>
            <a:r>
              <a:rPr lang="en-US" altLang="ko-KR" sz="1600" dirty="0" err="1"/>
              <a:t>Vấn</a:t>
            </a:r>
            <a:r>
              <a:rPr lang="en-US" altLang="ko-KR" sz="1600" dirty="0"/>
              <a:t> </a:t>
            </a:r>
            <a:r>
              <a:rPr lang="en-US" altLang="ko-KR" sz="1600" dirty="0" err="1"/>
              <a:t>đề</a:t>
            </a:r>
            <a:r>
              <a:rPr lang="en-US" altLang="ko-KR" sz="1600" dirty="0"/>
              <a:t> </a:t>
            </a:r>
            <a:r>
              <a:rPr lang="en-US" altLang="ko-KR" sz="1600" dirty="0" err="1"/>
              <a:t>về</a:t>
            </a:r>
            <a:r>
              <a:rPr lang="en-US" altLang="ko-KR" sz="1600" dirty="0"/>
              <a:t> </a:t>
            </a:r>
            <a:r>
              <a:rPr lang="en-US" altLang="ko-KR" sz="1600" dirty="0" err="1"/>
              <a:t>di</a:t>
            </a:r>
            <a:r>
              <a:rPr lang="en-US" altLang="ko-KR" sz="1600" dirty="0"/>
              <a:t> </a:t>
            </a:r>
            <a:r>
              <a:rPr lang="en-US" altLang="ko-KR" sz="1600" dirty="0" err="1"/>
              <a:t>động</a:t>
            </a:r>
            <a:r>
              <a:rPr lang="en-US" altLang="ko-KR" sz="1600" dirty="0"/>
              <a:t> </a:t>
            </a:r>
            <a:r>
              <a:rPr lang="en-US" altLang="ko-KR" sz="1600" dirty="0" err="1"/>
              <a:t>giá</a:t>
            </a:r>
            <a:r>
              <a:rPr lang="en-US" altLang="ko-KR" sz="1600" dirty="0"/>
              <a:t> </a:t>
            </a:r>
            <a:r>
              <a:rPr lang="en-US" altLang="ko-KR" sz="1600" dirty="0" err="1"/>
              <a:t>trị</a:t>
            </a:r>
            <a:r>
              <a:rPr lang="en-US" altLang="ko-KR" sz="1600" dirty="0"/>
              <a:t> </a:t>
            </a:r>
            <a:r>
              <a:rPr lang="en-US" altLang="ko-KR" sz="1600" dirty="0" err="1"/>
              <a:t>bình</a:t>
            </a:r>
            <a:r>
              <a:rPr lang="en-US" altLang="ko-KR" sz="1600" dirty="0"/>
              <a:t> </a:t>
            </a:r>
            <a:r>
              <a:rPr lang="en-US" altLang="ko-KR" sz="1600" dirty="0" err="1"/>
              <a:t>quân</a:t>
            </a:r>
            <a:r>
              <a:rPr lang="ko-KR" altLang="en-US" sz="1600" dirty="0"/>
              <a:t> </a:t>
            </a:r>
          </a:p>
        </p:txBody>
      </p:sp>
      <p:sp>
        <p:nvSpPr>
          <p:cNvPr id="17" name="TextBox 16"/>
          <p:cNvSpPr txBox="1"/>
          <p:nvPr/>
        </p:nvSpPr>
        <p:spPr>
          <a:xfrm>
            <a:off x="5796136" y="2492896"/>
            <a:ext cx="1936749" cy="338554"/>
          </a:xfrm>
          <a:prstGeom prst="rect">
            <a:avLst/>
          </a:prstGeom>
          <a:noFill/>
        </p:spPr>
        <p:txBody>
          <a:bodyPr wrap="none" rtlCol="0">
            <a:spAutoFit/>
          </a:bodyPr>
          <a:lstStyle/>
          <a:p>
            <a:r>
              <a:rPr lang="en-US" altLang="ko-KR" sz="1600" dirty="0" err="1"/>
              <a:t>Vấn</a:t>
            </a:r>
            <a:r>
              <a:rPr lang="en-US" altLang="ko-KR" sz="1600" dirty="0"/>
              <a:t> </a:t>
            </a:r>
            <a:r>
              <a:rPr lang="en-US" altLang="ko-KR" sz="1600" dirty="0" err="1"/>
              <a:t>đề</a:t>
            </a:r>
            <a:r>
              <a:rPr lang="en-US" altLang="ko-KR" sz="1600" dirty="0"/>
              <a:t> </a:t>
            </a:r>
            <a:r>
              <a:rPr lang="en-US" altLang="ko-KR" sz="1600" dirty="0" err="1"/>
              <a:t>về</a:t>
            </a:r>
            <a:r>
              <a:rPr lang="en-US" altLang="ko-KR" sz="1600" dirty="0"/>
              <a:t> </a:t>
            </a:r>
            <a:r>
              <a:rPr lang="en-US" altLang="ko-KR" sz="1600" dirty="0" err="1"/>
              <a:t>độ</a:t>
            </a:r>
            <a:r>
              <a:rPr lang="en-US" altLang="ko-KR" sz="1600" dirty="0"/>
              <a:t> </a:t>
            </a:r>
            <a:r>
              <a:rPr lang="en-US" altLang="ko-KR" sz="1600" dirty="0" err="1"/>
              <a:t>tỉ</a:t>
            </a:r>
            <a:r>
              <a:rPr lang="en-US" altLang="ko-KR" sz="1600" dirty="0"/>
              <a:t> </a:t>
            </a:r>
            <a:r>
              <a:rPr lang="en-US" altLang="ko-KR" sz="1600" dirty="0" err="1"/>
              <a:t>mỉ</a:t>
            </a:r>
            <a:endParaRPr lang="ko-KR" altLang="en-US" sz="1600" dirty="0"/>
          </a:p>
        </p:txBody>
      </p:sp>
      <p:sp>
        <p:nvSpPr>
          <p:cNvPr id="94" name="TextBox 93"/>
          <p:cNvSpPr txBox="1"/>
          <p:nvPr/>
        </p:nvSpPr>
        <p:spPr>
          <a:xfrm>
            <a:off x="5724128" y="4725144"/>
            <a:ext cx="2401619" cy="338554"/>
          </a:xfrm>
          <a:prstGeom prst="rect">
            <a:avLst/>
          </a:prstGeom>
          <a:noFill/>
        </p:spPr>
        <p:txBody>
          <a:bodyPr wrap="none" rtlCol="0">
            <a:spAutoFit/>
          </a:bodyPr>
          <a:lstStyle/>
          <a:p>
            <a:r>
              <a:rPr lang="en-US" altLang="ko-KR" sz="1600" dirty="0" err="1"/>
              <a:t>Vấn</a:t>
            </a:r>
            <a:r>
              <a:rPr lang="en-US" altLang="ko-KR" sz="1600" dirty="0"/>
              <a:t> </a:t>
            </a:r>
            <a:r>
              <a:rPr lang="en-US" altLang="ko-KR" sz="1600" dirty="0" err="1"/>
              <a:t>đề</a:t>
            </a:r>
            <a:r>
              <a:rPr lang="en-US" altLang="ko-KR" sz="1600" dirty="0"/>
              <a:t> </a:t>
            </a:r>
            <a:r>
              <a:rPr lang="en-US" altLang="ko-KR" sz="1600" dirty="0" err="1"/>
              <a:t>về</a:t>
            </a:r>
            <a:r>
              <a:rPr lang="en-US" altLang="ko-KR" sz="1600" dirty="0"/>
              <a:t> </a:t>
            </a:r>
            <a:r>
              <a:rPr lang="en-US" altLang="ko-KR" sz="1600" dirty="0" err="1"/>
              <a:t>độ</a:t>
            </a:r>
            <a:r>
              <a:rPr lang="en-US" altLang="ko-KR" sz="1600" dirty="0"/>
              <a:t> </a:t>
            </a:r>
            <a:r>
              <a:rPr lang="en-US" altLang="ko-KR" sz="1600" dirty="0" err="1"/>
              <a:t>chính</a:t>
            </a:r>
            <a:r>
              <a:rPr lang="en-US" altLang="ko-KR" sz="1600" dirty="0"/>
              <a:t> </a:t>
            </a:r>
            <a:r>
              <a:rPr lang="en-US" altLang="ko-KR" sz="1600" dirty="0" err="1"/>
              <a:t>xác</a:t>
            </a:r>
            <a:endParaRPr lang="ko-KR" altLang="en-US" sz="1600" dirty="0"/>
          </a:p>
        </p:txBody>
      </p:sp>
    </p:spTree>
    <p:extLst>
      <p:ext uri="{BB962C8B-B14F-4D97-AF65-F5344CB8AC3E}">
        <p14:creationId xmlns:p14="http://schemas.microsoft.com/office/powerpoint/2010/main" val="147429265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Hạng</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mục</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MSA 5</a:t>
            </a:r>
            <a:endParaRPr lang="ko-KR" altLang="en-US" sz="1600" b="1" kern="0" dirty="0">
              <a:latin typeface="맑은 고딕"/>
              <a:ea typeface="맑은 고딕"/>
              <a:cs typeface="+mj-cs"/>
            </a:endParaRPr>
          </a:p>
        </p:txBody>
      </p:sp>
      <p:sp>
        <p:nvSpPr>
          <p:cNvPr id="4" name="TextBox 3"/>
          <p:cNvSpPr txBox="1"/>
          <p:nvPr/>
        </p:nvSpPr>
        <p:spPr>
          <a:xfrm>
            <a:off x="251520" y="918475"/>
            <a:ext cx="8712850" cy="566309"/>
          </a:xfrm>
          <a:prstGeom prst="rect">
            <a:avLst/>
          </a:prstGeom>
          <a:noFill/>
        </p:spPr>
        <p:txBody>
          <a:bodyPr wrap="square">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Dụng</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cụ</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đo</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lường</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sẽ</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giả</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định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về</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chính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xác</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Gage R$R </a:t>
            </a:r>
            <a:r>
              <a:rPr lang="en-US" altLang="ko-KR" sz="1400" b="1" kern="0" dirty="0" err="1">
                <a:solidFill>
                  <a:sysClr val="windowText" lastClr="000000"/>
                </a:solidFill>
                <a:latin typeface="맑은 고딕" pitchFamily="50" charset="-127"/>
                <a:ea typeface="맑은 고딕" pitchFamily="50" charset="-127"/>
              </a:rPr>
              <a:t>sẽ</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kiểm</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tra</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xác</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nhận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những</a:t>
            </a:r>
            <a:r>
              <a:rPr lang="en-US" altLang="ko-KR" sz="1400" b="1" kern="0" dirty="0">
                <a:solidFill>
                  <a:sysClr val="windowText" lastClr="000000"/>
                </a:solidFill>
                <a:latin typeface="맑은 고딕" pitchFamily="50" charset="-127"/>
                <a:ea typeface="맑은 고딕" pitchFamily="50" charset="-127"/>
              </a:rPr>
              <a:t> items</a:t>
            </a:r>
          </a:p>
          <a:p>
            <a:pPr latinLnBrk="0">
              <a:lnSpc>
                <a:spcPct val="110000"/>
              </a:lnSpc>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Nghĩa</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đặt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tất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cả</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những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hạng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mục</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về</a:t>
            </a:r>
            <a:r>
              <a:rPr kumimoji="0" lang="en-US" altLang="ko-KR" sz="1400" b="1" kern="0" dirty="0">
                <a:solidFill>
                  <a:sysClr val="windowText" lastClr="000000"/>
                </a:solidFill>
                <a:latin typeface="맑은 고딕" pitchFamily="50" charset="-127"/>
                <a:ea typeface="맑은 고딕" pitchFamily="50" charset="-127"/>
              </a:rPr>
              <a:t> 0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nắm</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bắt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mức</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độ</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phân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bổ</a:t>
            </a:r>
            <a:endParaRPr kumimoji="0" lang="en-US" altLang="ko-KR" sz="1400" kern="0" dirty="0">
              <a:solidFill>
                <a:sysClr val="windowText" lastClr="000000"/>
              </a:solidFill>
              <a:latin typeface="맑은 고딕" pitchFamily="50" charset="-127"/>
              <a:ea typeface="맑은 고딕" pitchFamily="50" charset="-127"/>
            </a:endParaRPr>
          </a:p>
        </p:txBody>
      </p:sp>
      <p:sp>
        <p:nvSpPr>
          <p:cNvPr id="205829" name="Text Box 82"/>
          <p:cNvSpPr txBox="1">
            <a:spLocks noChangeArrowheads="1"/>
          </p:cNvSpPr>
          <p:nvPr/>
        </p:nvSpPr>
        <p:spPr bwMode="auto">
          <a:xfrm>
            <a:off x="3256302" y="3524150"/>
            <a:ext cx="5531826" cy="461665"/>
          </a:xfrm>
          <a:prstGeom prst="rect">
            <a:avLst/>
          </a:prstGeom>
          <a:noFill/>
          <a:ln w="9525" algn="ctr">
            <a:noFill/>
            <a:miter lim="800000"/>
            <a:headEnd/>
            <a:tailEnd/>
          </a:ln>
        </p:spPr>
        <p:txBody>
          <a:bodyPr wrap="none" lIns="36000" rIns="36000">
            <a:spAutoFit/>
          </a:bodyPr>
          <a:lstStyle/>
          <a:p>
            <a:r>
              <a:rPr lang="en-US" altLang="ko-KR" sz="1200" b="1" dirty="0" err="1">
                <a:latin typeface="맑은 고딕" pitchFamily="50" charset="-127"/>
                <a:ea typeface="맑은 고딕" pitchFamily="50" charset="-127"/>
              </a:rPr>
              <a:t>Sự</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chênh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lệch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giữa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bình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lường</a:t>
            </a:r>
            <a:r>
              <a:rPr lang="en-US" altLang="ko-KR" sz="1200" b="1" dirty="0">
                <a:latin typeface="맑은 고딕" pitchFamily="50" charset="-127"/>
                <a:ea typeface="맑은 고딕" pitchFamily="50" charset="-127"/>
              </a:rPr>
              <a:t> ở </a:t>
            </a:r>
            <a:r>
              <a:rPr lang="en-US" altLang="ko-KR" sz="1200" b="1" dirty="0" err="1">
                <a:latin typeface="맑은 고딕" pitchFamily="50" charset="-127"/>
                <a:ea typeface="맑은 고딕" pitchFamily="50" charset="-127"/>
              </a:rPr>
              <a:t>những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gian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địa</a:t>
            </a:r>
            <a:r>
              <a:rPr lang="en-US" altLang="ko-KR" sz="1200" b="1" dirty="0">
                <a:latin typeface="맑은 고딕" pitchFamily="50" charset="-127"/>
                <a:ea typeface="맑은 고딕" pitchFamily="50" charset="-127"/>
              </a:rPr>
              <a:t> </a:t>
            </a:r>
          </a:p>
          <a:p>
            <a:r>
              <a:rPr lang="en-US" altLang="ko-KR" sz="1200" b="1" dirty="0" err="1">
                <a:latin typeface="맑은 고딕" pitchFamily="50" charset="-127"/>
                <a:ea typeface="맑은 고딕" pitchFamily="50" charset="-127"/>
              </a:rPr>
              <a:t>điểm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khác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nhau</a:t>
            </a:r>
            <a:endParaRPr lang="ko-KR" altLang="en-US" sz="1200" b="1" dirty="0">
              <a:latin typeface="맑은 고딕" pitchFamily="50" charset="-127"/>
              <a:ea typeface="맑은 고딕" pitchFamily="50" charset="-127"/>
            </a:endParaRPr>
          </a:p>
        </p:txBody>
      </p:sp>
      <p:sp>
        <p:nvSpPr>
          <p:cNvPr id="69" name="Rectangle 76"/>
          <p:cNvSpPr>
            <a:spLocks noChangeArrowheads="1"/>
          </p:cNvSpPr>
          <p:nvPr/>
        </p:nvSpPr>
        <p:spPr bwMode="auto">
          <a:xfrm>
            <a:off x="755576" y="2039837"/>
            <a:ext cx="2406942" cy="431800"/>
          </a:xfrm>
          <a:prstGeom prst="rect">
            <a:avLst/>
          </a:prstGeom>
          <a:solidFill>
            <a:schemeClr val="bg1">
              <a:lumMod val="65000"/>
            </a:schemeClr>
          </a:solidFill>
          <a:ln w="9525" algn="ctr">
            <a:noFill/>
            <a:miter lim="800000"/>
            <a:headEnd/>
            <a:tailEnd/>
          </a:ln>
          <a:effectLst/>
        </p:spPr>
        <p:txBody>
          <a:bodyPr wrap="none" anchor="ctr"/>
          <a:lstStyle/>
          <a:p>
            <a:pPr algn="ctr">
              <a:defRPr/>
            </a:pPr>
            <a:r>
              <a:rPr lang="en-US" altLang="ko-KR" sz="1200" b="1" dirty="0" err="1">
                <a:solidFill>
                  <a:schemeClr val="bg1"/>
                </a:solidFill>
                <a:latin typeface="맑은 고딕" pitchFamily="50" charset="-127"/>
                <a:ea typeface="맑은 고딕" pitchFamily="50" charset="-127"/>
              </a:rPr>
              <a:t>Độ</a:t>
            </a: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chính</a:t>
            </a: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xác</a:t>
            </a:r>
            <a:endParaRPr lang="ko-KR" altLang="en-US" sz="1200" b="1" dirty="0">
              <a:solidFill>
                <a:schemeClr val="bg1"/>
              </a:solidFill>
              <a:latin typeface="맑은 고딕" pitchFamily="50" charset="-127"/>
              <a:ea typeface="맑은 고딕" pitchFamily="50" charset="-127"/>
            </a:endParaRPr>
          </a:p>
          <a:p>
            <a:pPr algn="ctr">
              <a:defRPr/>
            </a:pPr>
            <a:r>
              <a:rPr lang="en-US" altLang="ko-KR" sz="1200" b="1" dirty="0">
                <a:solidFill>
                  <a:schemeClr val="bg1"/>
                </a:solidFill>
                <a:latin typeface="맑은 고딕" pitchFamily="50" charset="-127"/>
                <a:ea typeface="맑은 고딕" pitchFamily="50" charset="-127"/>
              </a:rPr>
              <a:t>(Accuracy)</a:t>
            </a:r>
          </a:p>
        </p:txBody>
      </p:sp>
      <p:sp>
        <p:nvSpPr>
          <p:cNvPr id="205831" name="Rectangle 77"/>
          <p:cNvSpPr>
            <a:spLocks noChangeArrowheads="1"/>
          </p:cNvSpPr>
          <p:nvPr/>
        </p:nvSpPr>
        <p:spPr bwMode="auto">
          <a:xfrm>
            <a:off x="755576" y="2687537"/>
            <a:ext cx="2406942" cy="360362"/>
          </a:xfrm>
          <a:prstGeom prst="rect">
            <a:avLst/>
          </a:prstGeom>
          <a:noFill/>
          <a:ln w="9525" algn="ctr">
            <a:solidFill>
              <a:schemeClr val="bg1">
                <a:lumMod val="50000"/>
              </a:schemeClr>
            </a:solidFill>
            <a:miter lim="800000"/>
            <a:headEnd/>
            <a:tailEnd/>
          </a:ln>
        </p:spPr>
        <p:txBody>
          <a:bodyPr wrap="none" anchor="ctr"/>
          <a:lstStyle/>
          <a:p>
            <a:pPr algn="ctr"/>
            <a:r>
              <a:rPr lang="en-US" altLang="ko-KR" sz="1200" b="1" dirty="0" err="1">
                <a:solidFill>
                  <a:srgbClr val="4D4D4D"/>
                </a:solidFill>
                <a:latin typeface="맑은 고딕" pitchFamily="50" charset="-127"/>
                <a:ea typeface="맑은 고딕" pitchFamily="50" charset="-127"/>
              </a:rPr>
              <a:t>Độ</a:t>
            </a:r>
            <a:r>
              <a:rPr lang="en-US" altLang="ko-KR" sz="1200" b="1" dirty="0">
                <a:solidFill>
                  <a:srgbClr val="4D4D4D"/>
                </a:solidFill>
                <a:latin typeface="맑은 고딕" pitchFamily="50" charset="-127"/>
                <a:ea typeface="맑은 고딕" pitchFamily="50" charset="-127"/>
              </a:rPr>
              <a:t> </a:t>
            </a:r>
            <a:r>
              <a:rPr lang="en-US" altLang="ko-KR" sz="1200" b="1" dirty="0" err="1">
                <a:solidFill>
                  <a:srgbClr val="4D4D4D"/>
                </a:solidFill>
                <a:latin typeface="맑은 고딕" pitchFamily="50" charset="-127"/>
                <a:ea typeface="맑은 고딕" pitchFamily="50" charset="-127"/>
              </a:rPr>
              <a:t>chênh</a:t>
            </a:r>
            <a:r>
              <a:rPr lang="en-US" altLang="ko-KR" sz="1200" b="1" dirty="0">
                <a:solidFill>
                  <a:srgbClr val="4D4D4D"/>
                </a:solidFill>
                <a:latin typeface="맑은 고딕" pitchFamily="50" charset="-127"/>
                <a:ea typeface="맑은 고딕" pitchFamily="50" charset="-127"/>
              </a:rPr>
              <a:t> </a:t>
            </a:r>
            <a:r>
              <a:rPr lang="en-US" altLang="ko-KR" sz="1200" b="1" dirty="0" err="1">
                <a:solidFill>
                  <a:srgbClr val="4D4D4D"/>
                </a:solidFill>
                <a:latin typeface="맑은 고딕" pitchFamily="50" charset="-127"/>
                <a:ea typeface="맑은 고딕" pitchFamily="50" charset="-127"/>
              </a:rPr>
              <a:t>lệch</a:t>
            </a:r>
            <a:r>
              <a:rPr lang="ko-KR" altLang="en-US" sz="1200" b="1" dirty="0">
                <a:solidFill>
                  <a:srgbClr val="4D4D4D"/>
                </a:solidFill>
                <a:latin typeface="맑은 고딕" pitchFamily="50" charset="-127"/>
                <a:ea typeface="맑은 고딕" pitchFamily="50" charset="-127"/>
              </a:rPr>
              <a:t> </a:t>
            </a:r>
            <a:r>
              <a:rPr lang="en-US" altLang="ko-KR" sz="1200" b="1" dirty="0">
                <a:solidFill>
                  <a:srgbClr val="4D4D4D"/>
                </a:solidFill>
                <a:latin typeface="맑은 고딕" pitchFamily="50" charset="-127"/>
                <a:ea typeface="맑은 고딕" pitchFamily="50" charset="-127"/>
              </a:rPr>
              <a:t>(Bias)</a:t>
            </a:r>
          </a:p>
        </p:txBody>
      </p:sp>
      <p:sp>
        <p:nvSpPr>
          <p:cNvPr id="205832" name="Rectangle 78"/>
          <p:cNvSpPr>
            <a:spLocks noChangeArrowheads="1"/>
          </p:cNvSpPr>
          <p:nvPr/>
        </p:nvSpPr>
        <p:spPr bwMode="auto">
          <a:xfrm>
            <a:off x="755576" y="3119337"/>
            <a:ext cx="2406942" cy="360362"/>
          </a:xfrm>
          <a:prstGeom prst="rect">
            <a:avLst/>
          </a:prstGeom>
          <a:noFill/>
          <a:ln w="9525" algn="ctr">
            <a:solidFill>
              <a:schemeClr val="bg1">
                <a:lumMod val="50000"/>
              </a:schemeClr>
            </a:solidFill>
            <a:miter lim="800000"/>
            <a:headEnd/>
            <a:tailEnd/>
          </a:ln>
        </p:spPr>
        <p:txBody>
          <a:bodyPr wrap="none" anchor="ctr"/>
          <a:lstStyle/>
          <a:p>
            <a:pPr algn="ctr"/>
            <a:r>
              <a:rPr lang="en-US" altLang="ko-KR" sz="1200" b="1" dirty="0">
                <a:solidFill>
                  <a:srgbClr val="4D4D4D"/>
                </a:solidFill>
                <a:latin typeface="맑은 고딕" pitchFamily="50" charset="-127"/>
                <a:ea typeface="맑은 고딕" pitchFamily="50" charset="-127"/>
              </a:rPr>
              <a:t>Đ</a:t>
            </a:r>
            <a:r>
              <a:rPr lang="vi-VN" altLang="ko-KR" sz="1200" b="1" dirty="0">
                <a:solidFill>
                  <a:srgbClr val="4D4D4D"/>
                </a:solidFill>
                <a:latin typeface="맑은 고딕" pitchFamily="50" charset="-127"/>
                <a:ea typeface="맑은 고딕" pitchFamily="50" charset="-127"/>
              </a:rPr>
              <a:t>ộ tuyến tính</a:t>
            </a:r>
            <a:r>
              <a:rPr lang="en-US" altLang="ko-KR" sz="1200" b="1" dirty="0">
                <a:solidFill>
                  <a:srgbClr val="4D4D4D"/>
                </a:solidFill>
                <a:latin typeface="맑은 고딕" pitchFamily="50" charset="-127"/>
                <a:ea typeface="맑은 고딕" pitchFamily="50" charset="-127"/>
              </a:rPr>
              <a:t>(Linearity)</a:t>
            </a:r>
          </a:p>
        </p:txBody>
      </p:sp>
      <p:sp>
        <p:nvSpPr>
          <p:cNvPr id="205833" name="Rectangle 79"/>
          <p:cNvSpPr>
            <a:spLocks noChangeArrowheads="1"/>
          </p:cNvSpPr>
          <p:nvPr/>
        </p:nvSpPr>
        <p:spPr bwMode="auto">
          <a:xfrm>
            <a:off x="755576" y="3540025"/>
            <a:ext cx="2406942" cy="360363"/>
          </a:xfrm>
          <a:prstGeom prst="rect">
            <a:avLst/>
          </a:prstGeom>
          <a:noFill/>
          <a:ln w="9525" algn="ctr">
            <a:solidFill>
              <a:schemeClr val="bg1">
                <a:lumMod val="50000"/>
              </a:schemeClr>
            </a:solidFill>
            <a:miter lim="800000"/>
            <a:headEnd/>
            <a:tailEnd/>
          </a:ln>
        </p:spPr>
        <p:txBody>
          <a:bodyPr wrap="none" anchor="ctr"/>
          <a:lstStyle/>
          <a:p>
            <a:pPr algn="ctr"/>
            <a:r>
              <a:rPr lang="en-US" altLang="ko-KR" sz="1200" b="1" dirty="0" err="1">
                <a:solidFill>
                  <a:srgbClr val="4D4D4D"/>
                </a:solidFill>
                <a:latin typeface="맑은 고딕" pitchFamily="50" charset="-127"/>
                <a:ea typeface="맑은 고딕" pitchFamily="50" charset="-127"/>
              </a:rPr>
              <a:t>Tính</a:t>
            </a:r>
            <a:r>
              <a:rPr lang="en-US" altLang="ko-KR" sz="1200" b="1" dirty="0">
                <a:solidFill>
                  <a:srgbClr val="4D4D4D"/>
                </a:solidFill>
                <a:latin typeface="맑은 고딕" pitchFamily="50" charset="-127"/>
                <a:ea typeface="맑은 고딕" pitchFamily="50" charset="-127"/>
              </a:rPr>
              <a:t> </a:t>
            </a:r>
            <a:r>
              <a:rPr lang="en-US" altLang="ko-KR" sz="1200" b="1" dirty="0" err="1">
                <a:solidFill>
                  <a:srgbClr val="4D4D4D"/>
                </a:solidFill>
                <a:latin typeface="맑은 고딕" pitchFamily="50" charset="-127"/>
                <a:ea typeface="맑은 고딕" pitchFamily="50" charset="-127"/>
              </a:rPr>
              <a:t>ổn</a:t>
            </a:r>
            <a:r>
              <a:rPr lang="en-US" altLang="ko-KR" sz="1200" b="1" dirty="0">
                <a:solidFill>
                  <a:srgbClr val="4D4D4D"/>
                </a:solidFill>
                <a:latin typeface="맑은 고딕" pitchFamily="50" charset="-127"/>
                <a:ea typeface="맑은 고딕" pitchFamily="50" charset="-127"/>
              </a:rPr>
              <a:t> </a:t>
            </a:r>
            <a:r>
              <a:rPr lang="en-US" altLang="ko-KR" sz="1200" b="1" dirty="0" err="1">
                <a:solidFill>
                  <a:srgbClr val="4D4D4D"/>
                </a:solidFill>
                <a:latin typeface="맑은 고딕" pitchFamily="50" charset="-127"/>
                <a:ea typeface="맑은 고딕" pitchFamily="50" charset="-127"/>
              </a:rPr>
              <a:t>định</a:t>
            </a:r>
            <a:r>
              <a:rPr lang="en-US" altLang="ko-KR" sz="1200" b="1" dirty="0">
                <a:solidFill>
                  <a:srgbClr val="4D4D4D"/>
                </a:solidFill>
                <a:latin typeface="맑은 고딕" pitchFamily="50" charset="-127"/>
                <a:ea typeface="맑은 고딕" pitchFamily="50" charset="-127"/>
              </a:rPr>
              <a:t>(Stability)</a:t>
            </a:r>
          </a:p>
        </p:txBody>
      </p:sp>
      <p:sp>
        <p:nvSpPr>
          <p:cNvPr id="205834" name="Text Box 80"/>
          <p:cNvSpPr txBox="1">
            <a:spLocks noChangeArrowheads="1"/>
          </p:cNvSpPr>
          <p:nvPr/>
        </p:nvSpPr>
        <p:spPr bwMode="auto">
          <a:xfrm>
            <a:off x="3240184" y="2735163"/>
            <a:ext cx="5916547" cy="276999"/>
          </a:xfrm>
          <a:prstGeom prst="rect">
            <a:avLst/>
          </a:prstGeom>
          <a:noFill/>
          <a:ln w="9525" algn="ctr">
            <a:noFill/>
            <a:miter lim="800000"/>
            <a:headEnd/>
            <a:tailEnd/>
          </a:ln>
        </p:spPr>
        <p:txBody>
          <a:bodyPr wrap="none" lIns="36000" rIns="36000">
            <a:spAutoFit/>
          </a:bodyPr>
          <a:lstStyle/>
          <a:p>
            <a:r>
              <a:rPr lang="en-US" altLang="ko-KR" sz="1200" b="1" dirty="0" err="1">
                <a:latin typeface="맑은 고딕" pitchFamily="50" charset="-127"/>
                <a:ea typeface="맑은 고딕" pitchFamily="50" charset="-127"/>
              </a:rPr>
              <a:t>Sự</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chênh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lệch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giữa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thật</a:t>
            </a:r>
            <a:r>
              <a:rPr lang="en-US" altLang="ko-KR" sz="1200" b="1" dirty="0">
                <a:latin typeface="맑은 고딕" pitchFamily="50" charset="-127"/>
                <a:ea typeface="맑은 고딕" pitchFamily="50" charset="-127"/>
              </a:rPr>
              <a:t>)</a:t>
            </a:r>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lường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bình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quân</a:t>
            </a:r>
            <a:r>
              <a:rPr lang="en-US" altLang="ko-KR" sz="1200" b="1" dirty="0">
                <a:latin typeface="맑은 고딕" pitchFamily="50" charset="-127"/>
                <a:ea typeface="맑은 고딕" pitchFamily="50" charset="-127"/>
              </a:rPr>
              <a:t> </a:t>
            </a:r>
            <a:endParaRPr lang="ko-KR" altLang="en-US" sz="1200" b="1" dirty="0">
              <a:latin typeface="맑은 고딕" pitchFamily="50" charset="-127"/>
              <a:ea typeface="맑은 고딕" pitchFamily="50" charset="-127"/>
            </a:endParaRPr>
          </a:p>
        </p:txBody>
      </p:sp>
      <p:sp>
        <p:nvSpPr>
          <p:cNvPr id="205835" name="Text Box 81"/>
          <p:cNvSpPr txBox="1">
            <a:spLocks noChangeArrowheads="1"/>
          </p:cNvSpPr>
          <p:nvPr/>
        </p:nvSpPr>
        <p:spPr bwMode="auto">
          <a:xfrm>
            <a:off x="3240184" y="3155850"/>
            <a:ext cx="4128622" cy="276999"/>
          </a:xfrm>
          <a:prstGeom prst="rect">
            <a:avLst/>
          </a:prstGeom>
          <a:noFill/>
          <a:ln w="9525" algn="ctr">
            <a:noFill/>
            <a:miter lim="800000"/>
            <a:headEnd/>
            <a:tailEnd/>
          </a:ln>
        </p:spPr>
        <p:txBody>
          <a:bodyPr wrap="none" lIns="36000" rIns="36000">
            <a:spAutoFit/>
          </a:bodyPr>
          <a:lstStyle/>
          <a:p>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lệch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của</a:t>
            </a:r>
            <a:r>
              <a:rPr lang="en-US" altLang="ko-KR" sz="1200" b="1" dirty="0">
                <a:latin typeface="맑은 고딕" pitchFamily="50" charset="-127"/>
                <a:ea typeface="맑은 고딕" pitchFamily="50" charset="-127"/>
              </a:rPr>
              <a:t> Gage Range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toàn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bộ</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Specification Limit</a:t>
            </a:r>
            <a:endParaRPr lang="ko-KR" altLang="en-US" sz="1200" b="1" dirty="0">
              <a:latin typeface="맑은 고딕" pitchFamily="50" charset="-127"/>
              <a:ea typeface="맑은 고딕" pitchFamily="50" charset="-127"/>
            </a:endParaRPr>
          </a:p>
        </p:txBody>
      </p:sp>
      <p:sp>
        <p:nvSpPr>
          <p:cNvPr id="205836" name="Text Box 83"/>
          <p:cNvSpPr txBox="1">
            <a:spLocks noChangeArrowheads="1"/>
          </p:cNvSpPr>
          <p:nvPr/>
        </p:nvSpPr>
        <p:spPr bwMode="auto">
          <a:xfrm>
            <a:off x="3240184" y="2111275"/>
            <a:ext cx="2504459" cy="276999"/>
          </a:xfrm>
          <a:prstGeom prst="rect">
            <a:avLst/>
          </a:prstGeom>
          <a:noFill/>
          <a:ln w="9525" algn="ctr">
            <a:noFill/>
            <a:miter lim="800000"/>
            <a:headEnd/>
            <a:tailEnd/>
          </a:ln>
        </p:spPr>
        <p:txBody>
          <a:bodyPr wrap="none" lIns="36000" rIns="36000">
            <a:spAutoFit/>
          </a:bodyPr>
          <a:lstStyle/>
          <a:p>
            <a:r>
              <a:rPr lang="en-US" altLang="ko-KR" sz="1200" b="1" dirty="0">
                <a:solidFill>
                  <a:srgbClr val="FF0000"/>
                </a:solidFill>
                <a:latin typeface="맑은 고딕" pitchFamily="50" charset="-127"/>
                <a:ea typeface="맑은 고딕" pitchFamily="50" charset="-127"/>
              </a:rPr>
              <a:t>Gage  Assessment &amp; Adjustment</a:t>
            </a:r>
          </a:p>
        </p:txBody>
      </p:sp>
      <p:cxnSp>
        <p:nvCxnSpPr>
          <p:cNvPr id="205837" name="AutoShape 84"/>
          <p:cNvCxnSpPr>
            <a:cxnSpLocks noChangeShapeType="1"/>
            <a:stCxn id="69" idx="2"/>
            <a:endCxn id="205831" idx="0"/>
          </p:cNvCxnSpPr>
          <p:nvPr/>
        </p:nvCxnSpPr>
        <p:spPr bwMode="auto">
          <a:xfrm>
            <a:off x="1959047" y="2471637"/>
            <a:ext cx="0" cy="215900"/>
          </a:xfrm>
          <a:prstGeom prst="straightConnector1">
            <a:avLst/>
          </a:prstGeom>
          <a:noFill/>
          <a:ln w="9525">
            <a:solidFill>
              <a:schemeClr val="bg1">
                <a:lumMod val="50000"/>
              </a:schemeClr>
            </a:solidFill>
            <a:round/>
            <a:headEnd/>
            <a:tailEnd type="triangle" w="med" len="med"/>
          </a:ln>
        </p:spPr>
      </p:cxnSp>
      <p:sp>
        <p:nvSpPr>
          <p:cNvPr id="77" name="Rectangle 85"/>
          <p:cNvSpPr>
            <a:spLocks noChangeArrowheads="1"/>
          </p:cNvSpPr>
          <p:nvPr/>
        </p:nvSpPr>
        <p:spPr bwMode="auto">
          <a:xfrm>
            <a:off x="755576" y="4376637"/>
            <a:ext cx="2392288" cy="431800"/>
          </a:xfrm>
          <a:prstGeom prst="rect">
            <a:avLst/>
          </a:prstGeom>
          <a:solidFill>
            <a:schemeClr val="bg1">
              <a:lumMod val="65000"/>
            </a:schemeClr>
          </a:solidFill>
          <a:ln w="9525" algn="ctr">
            <a:solidFill>
              <a:schemeClr val="bg1">
                <a:lumMod val="50000"/>
              </a:schemeClr>
            </a:solidFill>
            <a:prstDash val="sysDash"/>
            <a:miter lim="800000"/>
            <a:headEnd/>
            <a:tailEnd/>
          </a:ln>
          <a:effectLst/>
        </p:spPr>
        <p:txBody>
          <a:bodyPr wrap="none" anchor="ctr"/>
          <a:lstStyle/>
          <a:p>
            <a:pPr algn="ctr">
              <a:defRPr/>
            </a:pPr>
            <a:r>
              <a:rPr lang="en-US" altLang="ko-KR" sz="1200" b="1" dirty="0" err="1">
                <a:solidFill>
                  <a:schemeClr val="bg1"/>
                </a:solidFill>
                <a:latin typeface="맑은 고딕" pitchFamily="50" charset="-127"/>
                <a:ea typeface="맑은 고딕" pitchFamily="50" charset="-127"/>
              </a:rPr>
              <a:t>Độ</a:t>
            </a: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tỉ</a:t>
            </a: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mỉ</a:t>
            </a:r>
            <a:endParaRPr lang="ko-KR" altLang="en-US" sz="1200" b="1" dirty="0">
              <a:solidFill>
                <a:schemeClr val="bg1"/>
              </a:solidFill>
              <a:latin typeface="맑은 고딕" pitchFamily="50" charset="-127"/>
              <a:ea typeface="맑은 고딕" pitchFamily="50" charset="-127"/>
            </a:endParaRPr>
          </a:p>
          <a:p>
            <a:pPr algn="ctr">
              <a:defRPr/>
            </a:pPr>
            <a:r>
              <a:rPr lang="en-US" altLang="ko-KR" sz="1200" b="1" dirty="0">
                <a:solidFill>
                  <a:schemeClr val="bg1"/>
                </a:solidFill>
                <a:latin typeface="맑은 고딕" pitchFamily="50" charset="-127"/>
                <a:ea typeface="맑은 고딕" pitchFamily="50" charset="-127"/>
              </a:rPr>
              <a:t>(Precision)</a:t>
            </a:r>
          </a:p>
        </p:txBody>
      </p:sp>
      <p:sp>
        <p:nvSpPr>
          <p:cNvPr id="205839" name="Rectangle 86"/>
          <p:cNvSpPr>
            <a:spLocks noChangeArrowheads="1"/>
          </p:cNvSpPr>
          <p:nvPr/>
        </p:nvSpPr>
        <p:spPr bwMode="auto">
          <a:xfrm>
            <a:off x="3219668" y="4382987"/>
            <a:ext cx="2072411" cy="360362"/>
          </a:xfrm>
          <a:prstGeom prst="rect">
            <a:avLst/>
          </a:prstGeom>
          <a:noFill/>
          <a:ln w="9525" algn="ctr">
            <a:solidFill>
              <a:schemeClr val="bg1">
                <a:lumMod val="50000"/>
              </a:schemeClr>
            </a:solidFill>
            <a:prstDash val="solid"/>
            <a:miter lim="800000"/>
            <a:headEnd/>
            <a:tailEnd/>
          </a:ln>
        </p:spPr>
        <p:txBody>
          <a:bodyPr wrap="none" anchor="ctr"/>
          <a:lstStyle/>
          <a:p>
            <a:pPr algn="ctr"/>
            <a:r>
              <a:rPr lang="en-US" altLang="ko-KR" sz="1100" b="1" dirty="0" err="1">
                <a:solidFill>
                  <a:srgbClr val="4D4D4D"/>
                </a:solidFill>
                <a:latin typeface="맑은 고딕" pitchFamily="50" charset="-127"/>
                <a:ea typeface="맑은 고딕" pitchFamily="50" charset="-127"/>
              </a:rPr>
              <a:t>Tính</a:t>
            </a:r>
            <a:r>
              <a:rPr lang="en-US" altLang="ko-KR" sz="1100" b="1" dirty="0">
                <a:solidFill>
                  <a:srgbClr val="4D4D4D"/>
                </a:solidFill>
                <a:latin typeface="맑은 고딕" pitchFamily="50" charset="-127"/>
                <a:ea typeface="맑은 고딕" pitchFamily="50" charset="-127"/>
              </a:rPr>
              <a:t> </a:t>
            </a:r>
            <a:r>
              <a:rPr lang="en-US" altLang="ko-KR" sz="1100" b="1" dirty="0" err="1">
                <a:solidFill>
                  <a:srgbClr val="4D4D4D"/>
                </a:solidFill>
                <a:latin typeface="맑은 고딕" pitchFamily="50" charset="-127"/>
                <a:ea typeface="맑은 고딕" pitchFamily="50" charset="-127"/>
              </a:rPr>
              <a:t>lặp</a:t>
            </a:r>
            <a:r>
              <a:rPr lang="en-US" altLang="ko-KR" sz="1100" b="1" dirty="0">
                <a:solidFill>
                  <a:srgbClr val="4D4D4D"/>
                </a:solidFill>
                <a:latin typeface="맑은 고딕" pitchFamily="50" charset="-127"/>
                <a:ea typeface="맑은 고딕" pitchFamily="50" charset="-127"/>
              </a:rPr>
              <a:t> </a:t>
            </a:r>
            <a:r>
              <a:rPr lang="en-US" altLang="ko-KR" sz="1100" b="1" dirty="0" err="1">
                <a:solidFill>
                  <a:srgbClr val="4D4D4D"/>
                </a:solidFill>
                <a:latin typeface="맑은 고딕" pitchFamily="50" charset="-127"/>
                <a:ea typeface="맑은 고딕" pitchFamily="50" charset="-127"/>
              </a:rPr>
              <a:t>lại</a:t>
            </a:r>
            <a:r>
              <a:rPr lang="en-US" altLang="ko-KR" sz="1100" b="1" dirty="0">
                <a:solidFill>
                  <a:srgbClr val="4D4D4D"/>
                </a:solidFill>
                <a:latin typeface="맑은 고딕" pitchFamily="50" charset="-127"/>
                <a:ea typeface="맑은 고딕" pitchFamily="50" charset="-127"/>
              </a:rPr>
              <a:t> (Repeatability</a:t>
            </a:r>
            <a:r>
              <a:rPr lang="en-US" altLang="ko-KR" sz="1200" b="1" dirty="0">
                <a:solidFill>
                  <a:srgbClr val="4D4D4D"/>
                </a:solidFill>
                <a:latin typeface="맑은 고딕" pitchFamily="50" charset="-127"/>
                <a:ea typeface="맑은 고딕" pitchFamily="50" charset="-127"/>
              </a:rPr>
              <a:t>)</a:t>
            </a:r>
          </a:p>
        </p:txBody>
      </p:sp>
      <p:sp>
        <p:nvSpPr>
          <p:cNvPr id="205840" name="Rectangle 87"/>
          <p:cNvSpPr>
            <a:spLocks noChangeArrowheads="1"/>
          </p:cNvSpPr>
          <p:nvPr/>
        </p:nvSpPr>
        <p:spPr bwMode="auto">
          <a:xfrm>
            <a:off x="5580112" y="4365104"/>
            <a:ext cx="2520280" cy="360362"/>
          </a:xfrm>
          <a:prstGeom prst="rect">
            <a:avLst/>
          </a:prstGeom>
          <a:noFill/>
          <a:ln w="9525" algn="ctr">
            <a:solidFill>
              <a:schemeClr val="bg1">
                <a:lumMod val="50000"/>
              </a:schemeClr>
            </a:solidFill>
            <a:prstDash val="solid"/>
            <a:miter lim="800000"/>
            <a:headEnd/>
            <a:tailEnd/>
          </a:ln>
        </p:spPr>
        <p:txBody>
          <a:bodyPr wrap="none" anchor="ctr"/>
          <a:lstStyle/>
          <a:p>
            <a:pPr algn="ctr"/>
            <a:r>
              <a:rPr lang="en-US" altLang="ko-KR" sz="1100" b="1" dirty="0" err="1">
                <a:solidFill>
                  <a:srgbClr val="4D4D4D"/>
                </a:solidFill>
                <a:latin typeface="맑은 고딕" pitchFamily="50" charset="-127"/>
                <a:ea typeface="맑은 고딕" pitchFamily="50" charset="-127"/>
              </a:rPr>
              <a:t>Tính</a:t>
            </a:r>
            <a:r>
              <a:rPr lang="en-US" altLang="ko-KR" sz="1100" b="1" dirty="0">
                <a:solidFill>
                  <a:srgbClr val="4D4D4D"/>
                </a:solidFill>
                <a:latin typeface="맑은 고딕" pitchFamily="50" charset="-127"/>
                <a:ea typeface="맑은 고딕" pitchFamily="50" charset="-127"/>
              </a:rPr>
              <a:t> </a:t>
            </a:r>
            <a:r>
              <a:rPr lang="en-US" altLang="ko-KR" sz="1100" b="1" dirty="0" err="1">
                <a:solidFill>
                  <a:srgbClr val="4D4D4D"/>
                </a:solidFill>
                <a:latin typeface="맑은 고딕" pitchFamily="50" charset="-127"/>
                <a:ea typeface="맑은 고딕" pitchFamily="50" charset="-127"/>
              </a:rPr>
              <a:t>tái</a:t>
            </a:r>
            <a:r>
              <a:rPr lang="en-US" altLang="ko-KR" sz="1100" b="1" dirty="0">
                <a:solidFill>
                  <a:srgbClr val="4D4D4D"/>
                </a:solidFill>
                <a:latin typeface="맑은 고딕" pitchFamily="50" charset="-127"/>
                <a:ea typeface="맑은 고딕" pitchFamily="50" charset="-127"/>
              </a:rPr>
              <a:t> </a:t>
            </a:r>
            <a:r>
              <a:rPr lang="en-US" altLang="ko-KR" sz="1100" b="1" dirty="0" err="1">
                <a:solidFill>
                  <a:srgbClr val="4D4D4D"/>
                </a:solidFill>
                <a:latin typeface="맑은 고딕" pitchFamily="50" charset="-127"/>
                <a:ea typeface="맑은 고딕" pitchFamily="50" charset="-127"/>
              </a:rPr>
              <a:t>hiện</a:t>
            </a:r>
            <a:r>
              <a:rPr lang="en-US" altLang="ko-KR" sz="1100" b="1" dirty="0">
                <a:solidFill>
                  <a:srgbClr val="4D4D4D"/>
                </a:solidFill>
                <a:latin typeface="맑은 고딕" pitchFamily="50" charset="-127"/>
                <a:ea typeface="맑은 고딕" pitchFamily="50" charset="-127"/>
              </a:rPr>
              <a:t> </a:t>
            </a:r>
            <a:r>
              <a:rPr lang="en-US" altLang="ko-KR" sz="1200" b="1" dirty="0">
                <a:solidFill>
                  <a:srgbClr val="4D4D4D"/>
                </a:solidFill>
                <a:latin typeface="맑은 고딕" pitchFamily="50" charset="-127"/>
                <a:ea typeface="맑은 고딕" pitchFamily="50" charset="-127"/>
              </a:rPr>
              <a:t>(Reproducibility)</a:t>
            </a:r>
          </a:p>
        </p:txBody>
      </p:sp>
      <p:sp>
        <p:nvSpPr>
          <p:cNvPr id="205841" name="Text Box 88"/>
          <p:cNvSpPr txBox="1">
            <a:spLocks noChangeArrowheads="1"/>
          </p:cNvSpPr>
          <p:nvPr/>
        </p:nvSpPr>
        <p:spPr bwMode="auto">
          <a:xfrm>
            <a:off x="1547664" y="4833838"/>
            <a:ext cx="924658" cy="461665"/>
          </a:xfrm>
          <a:prstGeom prst="rect">
            <a:avLst/>
          </a:prstGeom>
          <a:noFill/>
          <a:ln w="9525" algn="ctr">
            <a:noFill/>
            <a:miter lim="800000"/>
            <a:headEnd/>
            <a:tailEnd/>
          </a:ln>
        </p:spPr>
        <p:txBody>
          <a:bodyPr>
            <a:spAutoFit/>
          </a:bodyPr>
          <a:lstStyle/>
          <a:p>
            <a:r>
              <a:rPr lang="en-US" altLang="ko-KR" sz="1200" b="1" dirty="0">
                <a:latin typeface="맑은 고딕" pitchFamily="50" charset="-127"/>
                <a:ea typeface="맑은 고딕" pitchFamily="50" charset="-127"/>
              </a:rPr>
              <a:t>Gage R&amp;R</a:t>
            </a:r>
          </a:p>
        </p:txBody>
      </p:sp>
      <p:cxnSp>
        <p:nvCxnSpPr>
          <p:cNvPr id="205845" name="AutoShape 156"/>
          <p:cNvCxnSpPr>
            <a:cxnSpLocks noChangeShapeType="1"/>
          </p:cNvCxnSpPr>
          <p:nvPr/>
        </p:nvCxnSpPr>
        <p:spPr bwMode="auto">
          <a:xfrm>
            <a:off x="5292080" y="4581128"/>
            <a:ext cx="252046" cy="0"/>
          </a:xfrm>
          <a:prstGeom prst="straightConnector1">
            <a:avLst/>
          </a:prstGeom>
          <a:noFill/>
          <a:ln w="12700">
            <a:solidFill>
              <a:schemeClr val="tx1"/>
            </a:solidFill>
            <a:round/>
            <a:headEnd type="triangle" w="med" len="med"/>
            <a:tailEnd type="triangle" w="med" len="med"/>
          </a:ln>
        </p:spPr>
      </p:cxnSp>
      <p:sp>
        <p:nvSpPr>
          <p:cNvPr id="205846" name="Text Box 157"/>
          <p:cNvSpPr txBox="1">
            <a:spLocks noChangeArrowheads="1"/>
          </p:cNvSpPr>
          <p:nvPr/>
        </p:nvSpPr>
        <p:spPr bwMode="auto">
          <a:xfrm>
            <a:off x="2185106" y="5368825"/>
            <a:ext cx="3979985" cy="276225"/>
          </a:xfrm>
          <a:prstGeom prst="rect">
            <a:avLst/>
          </a:prstGeom>
          <a:noFill/>
          <a:ln w="12700" algn="ctr">
            <a:noFill/>
            <a:miter lim="800000"/>
            <a:headEnd/>
            <a:tailEnd/>
          </a:ln>
        </p:spPr>
        <p:txBody>
          <a:bodyPr>
            <a:spAutoFit/>
          </a:bodyPr>
          <a:lstStyle/>
          <a:p>
            <a:r>
              <a:rPr lang="en-US" altLang="ko-KR" sz="1200" b="1" dirty="0">
                <a:latin typeface="맑은 고딕" pitchFamily="50" charset="-127"/>
                <a:ea typeface="맑은 고딕" pitchFamily="50" charset="-127"/>
              </a:rPr>
              <a:t>Continuous  : Crossed  vs. </a:t>
            </a:r>
            <a:r>
              <a:rPr lang="en-US" altLang="ko-KR" sz="1200" b="1" dirty="0">
                <a:solidFill>
                  <a:srgbClr val="FF0000"/>
                </a:solidFill>
                <a:latin typeface="맑은 고딕" pitchFamily="50" charset="-127"/>
                <a:ea typeface="맑은 고딕" pitchFamily="50" charset="-127"/>
              </a:rPr>
              <a:t>Nested</a:t>
            </a:r>
          </a:p>
        </p:txBody>
      </p:sp>
      <p:sp>
        <p:nvSpPr>
          <p:cNvPr id="205847" name="Text Box 158"/>
          <p:cNvSpPr txBox="1">
            <a:spLocks noChangeArrowheads="1"/>
          </p:cNvSpPr>
          <p:nvPr/>
        </p:nvSpPr>
        <p:spPr bwMode="auto">
          <a:xfrm>
            <a:off x="2251048" y="5745063"/>
            <a:ext cx="3176954" cy="276225"/>
          </a:xfrm>
          <a:prstGeom prst="rect">
            <a:avLst/>
          </a:prstGeom>
          <a:noFill/>
          <a:ln w="12700" algn="ctr">
            <a:noFill/>
            <a:miter lim="800000"/>
            <a:headEnd/>
            <a:tailEnd/>
          </a:ln>
        </p:spPr>
        <p:txBody>
          <a:bodyPr>
            <a:spAutoFit/>
          </a:bodyPr>
          <a:lstStyle/>
          <a:p>
            <a:r>
              <a:rPr lang="en-US" altLang="ko-KR" sz="1200" b="1" dirty="0">
                <a:latin typeface="맑은 고딕" pitchFamily="50" charset="-127"/>
                <a:ea typeface="맑은 고딕" pitchFamily="50" charset="-127"/>
              </a:rPr>
              <a:t>Attribute : </a:t>
            </a:r>
            <a:r>
              <a:rPr lang="en-US" altLang="ko-KR" sz="1200" b="1" dirty="0">
                <a:solidFill>
                  <a:srgbClr val="FF0000"/>
                </a:solidFill>
                <a:latin typeface="맑은 고딕" pitchFamily="50" charset="-127"/>
                <a:ea typeface="맑은 고딕" pitchFamily="50" charset="-127"/>
              </a:rPr>
              <a:t>Nominal(Binary)</a:t>
            </a:r>
            <a:r>
              <a:rPr lang="en-US" altLang="ko-KR" sz="1200" b="1" dirty="0">
                <a:latin typeface="맑은 고딕" pitchFamily="50" charset="-127"/>
                <a:ea typeface="맑은 고딕" pitchFamily="50" charset="-127"/>
              </a:rPr>
              <a:t> vs. Ordinal</a:t>
            </a:r>
          </a:p>
        </p:txBody>
      </p:sp>
      <p:sp>
        <p:nvSpPr>
          <p:cNvPr id="205848" name="Oval 159"/>
          <p:cNvSpPr>
            <a:spLocks noChangeArrowheads="1"/>
          </p:cNvSpPr>
          <p:nvPr/>
        </p:nvSpPr>
        <p:spPr bwMode="auto">
          <a:xfrm>
            <a:off x="1971161" y="5097363"/>
            <a:ext cx="65942" cy="71437"/>
          </a:xfrm>
          <a:prstGeom prst="ellipse">
            <a:avLst/>
          </a:prstGeom>
          <a:solidFill>
            <a:schemeClr val="bg2"/>
          </a:solidFill>
          <a:ln w="12700" algn="ctr">
            <a:solidFill>
              <a:schemeClr val="bg1">
                <a:lumMod val="50000"/>
              </a:schemeClr>
            </a:solidFill>
            <a:round/>
            <a:headEnd/>
            <a:tailEnd/>
          </a:ln>
        </p:spPr>
        <p:txBody>
          <a:bodyPr wrap="none" anchor="ctr"/>
          <a:lstStyle/>
          <a:p>
            <a:endParaRPr lang="ko-KR" altLang="en-US" sz="1200" b="1" dirty="0">
              <a:latin typeface="맑은 고딕" pitchFamily="50" charset="-127"/>
              <a:ea typeface="맑은 고딕" pitchFamily="50" charset="-127"/>
            </a:endParaRPr>
          </a:p>
        </p:txBody>
      </p:sp>
      <p:cxnSp>
        <p:nvCxnSpPr>
          <p:cNvPr id="205849" name="AutoShape 160"/>
          <p:cNvCxnSpPr>
            <a:cxnSpLocks noChangeShapeType="1"/>
            <a:stCxn id="205848" idx="4"/>
            <a:endCxn id="205846" idx="1"/>
          </p:cNvCxnSpPr>
          <p:nvPr/>
        </p:nvCxnSpPr>
        <p:spPr bwMode="auto">
          <a:xfrm rot="16200000" flipH="1">
            <a:off x="1925184" y="5247014"/>
            <a:ext cx="338138" cy="181708"/>
          </a:xfrm>
          <a:prstGeom prst="bentConnector2">
            <a:avLst/>
          </a:prstGeom>
          <a:noFill/>
          <a:ln w="12700">
            <a:solidFill>
              <a:schemeClr val="bg1">
                <a:lumMod val="50000"/>
              </a:schemeClr>
            </a:solidFill>
            <a:miter lim="800000"/>
            <a:headEnd/>
            <a:tailEnd type="triangle" w="med" len="med"/>
          </a:ln>
        </p:spPr>
      </p:cxnSp>
      <p:cxnSp>
        <p:nvCxnSpPr>
          <p:cNvPr id="205850" name="AutoShape 161"/>
          <p:cNvCxnSpPr>
            <a:cxnSpLocks noChangeShapeType="1"/>
            <a:stCxn id="205848" idx="4"/>
            <a:endCxn id="205847" idx="1"/>
          </p:cNvCxnSpPr>
          <p:nvPr/>
        </p:nvCxnSpPr>
        <p:spPr bwMode="auto">
          <a:xfrm rot="16200000" flipH="1">
            <a:off x="1770037" y="5402162"/>
            <a:ext cx="714375" cy="247650"/>
          </a:xfrm>
          <a:prstGeom prst="bentConnector2">
            <a:avLst/>
          </a:prstGeom>
          <a:noFill/>
          <a:ln w="12700">
            <a:solidFill>
              <a:schemeClr val="bg1">
                <a:lumMod val="50000"/>
              </a:schemeClr>
            </a:solidFill>
            <a:miter lim="800000"/>
            <a:headEnd/>
            <a:tailEnd type="triangle" w="med" len="med"/>
          </a:ln>
        </p:spPr>
      </p:cxnSp>
      <p:sp>
        <p:nvSpPr>
          <p:cNvPr id="13" name="슬라이드 번호 개체 틀 1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a:t>
            </a:fld>
            <a:endParaRPr lang="ko-KR" altLang="en-US" dirty="0"/>
          </a:p>
        </p:txBody>
      </p:sp>
    </p:spTree>
    <p:extLst>
      <p:ext uri="{BB962C8B-B14F-4D97-AF65-F5344CB8AC3E}">
        <p14:creationId xmlns:p14="http://schemas.microsoft.com/office/powerpoint/2010/main" val="171192544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Accuracy</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Bias</a:t>
            </a:r>
            <a:endParaRPr lang="ko-KR" altLang="en-US" sz="1600" b="1" kern="0" dirty="0">
              <a:solidFill>
                <a:srgbClr val="000000"/>
              </a:solidFill>
              <a:latin typeface="맑은 고딕"/>
              <a:ea typeface="맑은 고딕"/>
            </a:endParaRPr>
          </a:p>
        </p:txBody>
      </p:sp>
      <p:pic>
        <p:nvPicPr>
          <p:cNvPr id="206851" name="Picture 73"/>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39362" y="2071688"/>
            <a:ext cx="1948962" cy="1428750"/>
          </a:xfrm>
          <a:prstGeom prst="rect">
            <a:avLst/>
          </a:prstGeom>
          <a:noFill/>
          <a:ln w="9525">
            <a:noFill/>
            <a:miter lim="800000"/>
            <a:headEnd/>
            <a:tailEnd/>
          </a:ln>
        </p:spPr>
      </p:pic>
      <p:sp>
        <p:nvSpPr>
          <p:cNvPr id="206852" name="Line 74"/>
          <p:cNvSpPr>
            <a:spLocks noChangeShapeType="1"/>
          </p:cNvSpPr>
          <p:nvPr/>
        </p:nvSpPr>
        <p:spPr bwMode="auto">
          <a:xfrm>
            <a:off x="1206012" y="1835151"/>
            <a:ext cx="0" cy="1643063"/>
          </a:xfrm>
          <a:prstGeom prst="line">
            <a:avLst/>
          </a:prstGeom>
          <a:noFill/>
          <a:ln w="9525">
            <a:solidFill>
              <a:schemeClr val="bg1">
                <a:lumMod val="50000"/>
              </a:schemeClr>
            </a:solidFill>
            <a:round/>
            <a:headEnd/>
            <a:tailEnd/>
          </a:ln>
        </p:spPr>
        <p:txBody>
          <a:bodyPr wrap="none" anchor="ctr"/>
          <a:lstStyle/>
          <a:p>
            <a:endParaRPr lang="ko-KR" altLang="en-US" dirty="0"/>
          </a:p>
        </p:txBody>
      </p:sp>
      <p:sp>
        <p:nvSpPr>
          <p:cNvPr id="206853" name="Text Box 75"/>
          <p:cNvSpPr txBox="1">
            <a:spLocks noChangeArrowheads="1"/>
          </p:cNvSpPr>
          <p:nvPr/>
        </p:nvSpPr>
        <p:spPr bwMode="auto">
          <a:xfrm>
            <a:off x="500034" y="3500438"/>
            <a:ext cx="1355116" cy="461665"/>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Reference Value</a:t>
            </a:r>
          </a:p>
          <a:p>
            <a:pPr algn="ctr"/>
            <a:r>
              <a:rPr lang="en-US" altLang="ko-KR" sz="1200" b="1" dirty="0">
                <a:latin typeface="맑은 고딕" pitchFamily="50" charset="-127"/>
                <a:ea typeface="맑은 고딕" pitchFamily="50" charset="-127"/>
              </a:rPr>
              <a:t>(True Value)</a:t>
            </a:r>
            <a:endParaRPr lang="ko-KR" altLang="en-US" sz="1200" b="1" dirty="0">
              <a:latin typeface="맑은 고딕" pitchFamily="50" charset="-127"/>
              <a:ea typeface="맑은 고딕" pitchFamily="50" charset="-127"/>
            </a:endParaRPr>
          </a:p>
        </p:txBody>
      </p:sp>
      <p:sp>
        <p:nvSpPr>
          <p:cNvPr id="206854" name="Text Box 76"/>
          <p:cNvSpPr txBox="1">
            <a:spLocks noChangeArrowheads="1"/>
          </p:cNvSpPr>
          <p:nvPr/>
        </p:nvSpPr>
        <p:spPr bwMode="auto">
          <a:xfrm>
            <a:off x="1643042" y="3486150"/>
            <a:ext cx="1358817" cy="461665"/>
          </a:xfrm>
          <a:prstGeom prst="rect">
            <a:avLst/>
          </a:prstGeom>
          <a:noFill/>
          <a:ln w="9525" algn="ctr">
            <a:noFill/>
            <a:miter lim="800000"/>
            <a:headEnd/>
            <a:tailEnd/>
          </a:ln>
        </p:spPr>
        <p:txBody>
          <a:bodyPr wrap="square">
            <a:spAutoFit/>
          </a:bodyPr>
          <a:lstStyle/>
          <a:p>
            <a:pPr algn="ctr"/>
            <a:r>
              <a:rPr lang="en-US" altLang="ko-KR" sz="1200" b="1" dirty="0">
                <a:latin typeface="맑은 고딕" pitchFamily="50" charset="-127"/>
                <a:ea typeface="맑은 고딕" pitchFamily="50" charset="-127"/>
              </a:rPr>
              <a:t>Mean of measured value</a:t>
            </a:r>
            <a:endParaRPr lang="ko-KR" altLang="en-US" sz="1200" b="1" dirty="0">
              <a:latin typeface="맑은 고딕" pitchFamily="50" charset="-127"/>
              <a:ea typeface="맑은 고딕" pitchFamily="50" charset="-127"/>
            </a:endParaRPr>
          </a:p>
        </p:txBody>
      </p:sp>
      <p:sp>
        <p:nvSpPr>
          <p:cNvPr id="206855" name="Oval 77"/>
          <p:cNvSpPr>
            <a:spLocks noChangeArrowheads="1"/>
          </p:cNvSpPr>
          <p:nvPr/>
        </p:nvSpPr>
        <p:spPr bwMode="auto">
          <a:xfrm>
            <a:off x="1802424"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6" name="Oval 78"/>
          <p:cNvSpPr>
            <a:spLocks noChangeArrowheads="1"/>
          </p:cNvSpPr>
          <p:nvPr/>
        </p:nvSpPr>
        <p:spPr bwMode="auto">
          <a:xfrm>
            <a:off x="1970943" y="3338514"/>
            <a:ext cx="86457"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7" name="Oval 79"/>
          <p:cNvSpPr>
            <a:spLocks noChangeArrowheads="1"/>
          </p:cNvSpPr>
          <p:nvPr/>
        </p:nvSpPr>
        <p:spPr bwMode="auto">
          <a:xfrm>
            <a:off x="2236178"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8" name="Oval 80"/>
          <p:cNvSpPr>
            <a:spLocks noChangeArrowheads="1"/>
          </p:cNvSpPr>
          <p:nvPr/>
        </p:nvSpPr>
        <p:spPr bwMode="auto">
          <a:xfrm>
            <a:off x="2762251"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9" name="Oval 81"/>
          <p:cNvSpPr>
            <a:spLocks noChangeArrowheads="1"/>
          </p:cNvSpPr>
          <p:nvPr/>
        </p:nvSpPr>
        <p:spPr bwMode="auto">
          <a:xfrm>
            <a:off x="1802424" y="3200400"/>
            <a:ext cx="84992"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0" name="Oval 82"/>
          <p:cNvSpPr>
            <a:spLocks noChangeArrowheads="1"/>
          </p:cNvSpPr>
          <p:nvPr/>
        </p:nvSpPr>
        <p:spPr bwMode="auto">
          <a:xfrm>
            <a:off x="1970943" y="3200400"/>
            <a:ext cx="86457"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1" name="Oval 83"/>
          <p:cNvSpPr>
            <a:spLocks noChangeArrowheads="1"/>
          </p:cNvSpPr>
          <p:nvPr/>
        </p:nvSpPr>
        <p:spPr bwMode="auto">
          <a:xfrm>
            <a:off x="2236178" y="3200400"/>
            <a:ext cx="84992"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2" name="Oval 84"/>
          <p:cNvSpPr>
            <a:spLocks noChangeArrowheads="1"/>
          </p:cNvSpPr>
          <p:nvPr/>
        </p:nvSpPr>
        <p:spPr bwMode="auto">
          <a:xfrm>
            <a:off x="2762251" y="3200400"/>
            <a:ext cx="84992"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3" name="Oval 85"/>
          <p:cNvSpPr>
            <a:spLocks noChangeArrowheads="1"/>
          </p:cNvSpPr>
          <p:nvPr/>
        </p:nvSpPr>
        <p:spPr bwMode="auto">
          <a:xfrm>
            <a:off x="2242039" y="30622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4" name="Oval 86"/>
          <p:cNvSpPr>
            <a:spLocks noChangeArrowheads="1"/>
          </p:cNvSpPr>
          <p:nvPr/>
        </p:nvSpPr>
        <p:spPr bwMode="auto">
          <a:xfrm>
            <a:off x="2101362" y="3200400"/>
            <a:ext cx="84992" cy="109538"/>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5" name="Oval 87"/>
          <p:cNvSpPr>
            <a:spLocks noChangeArrowheads="1"/>
          </p:cNvSpPr>
          <p:nvPr/>
        </p:nvSpPr>
        <p:spPr bwMode="auto">
          <a:xfrm>
            <a:off x="1981201" y="30622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6" name="Oval 88"/>
          <p:cNvSpPr>
            <a:spLocks noChangeArrowheads="1"/>
          </p:cNvSpPr>
          <p:nvPr/>
        </p:nvSpPr>
        <p:spPr bwMode="auto">
          <a:xfrm>
            <a:off x="1883020" y="3262314"/>
            <a:ext cx="86457"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7" name="Oval 89"/>
          <p:cNvSpPr>
            <a:spLocks noChangeArrowheads="1"/>
          </p:cNvSpPr>
          <p:nvPr/>
        </p:nvSpPr>
        <p:spPr bwMode="auto">
          <a:xfrm>
            <a:off x="2101362"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8" name="Line 90"/>
          <p:cNvSpPr>
            <a:spLocks noChangeShapeType="1"/>
          </p:cNvSpPr>
          <p:nvPr/>
        </p:nvSpPr>
        <p:spPr bwMode="auto">
          <a:xfrm>
            <a:off x="1227992" y="2428875"/>
            <a:ext cx="1055077" cy="0"/>
          </a:xfrm>
          <a:prstGeom prst="line">
            <a:avLst/>
          </a:prstGeom>
          <a:noFill/>
          <a:ln w="9525">
            <a:solidFill>
              <a:srgbClr val="FF0000"/>
            </a:solidFill>
            <a:round/>
            <a:headEnd type="triangle" w="med" len="med"/>
            <a:tailEnd type="triangle" w="med" len="med"/>
          </a:ln>
        </p:spPr>
        <p:txBody>
          <a:bodyPr wrap="none" anchor="ctr"/>
          <a:lstStyle/>
          <a:p>
            <a:endParaRPr lang="ko-KR" altLang="en-US" dirty="0"/>
          </a:p>
        </p:txBody>
      </p:sp>
      <p:sp>
        <p:nvSpPr>
          <p:cNvPr id="206869" name="Text Box 91"/>
          <p:cNvSpPr txBox="1">
            <a:spLocks noChangeArrowheads="1"/>
          </p:cNvSpPr>
          <p:nvPr/>
        </p:nvSpPr>
        <p:spPr bwMode="auto">
          <a:xfrm>
            <a:off x="1357290" y="2143116"/>
            <a:ext cx="861133" cy="276999"/>
          </a:xfrm>
          <a:prstGeom prst="rect">
            <a:avLst/>
          </a:prstGeom>
          <a:noFill/>
          <a:ln w="9525" algn="ctr">
            <a:noFill/>
            <a:miter lim="800000"/>
            <a:headEnd/>
            <a:tailEnd/>
          </a:ln>
        </p:spPr>
        <p:txBody>
          <a:bodyPr wrap="none">
            <a:spAutoFit/>
          </a:bodyPr>
          <a:lstStyle/>
          <a:p>
            <a:r>
              <a:rPr lang="ko-KR" altLang="en-US" sz="1200" dirty="0">
                <a:solidFill>
                  <a:srgbClr val="FF0000"/>
                </a:solidFill>
                <a:latin typeface="맑은 고딕" pitchFamily="50" charset="-127"/>
                <a:ea typeface="맑은 고딕" pitchFamily="50" charset="-127"/>
              </a:rPr>
              <a:t>편의</a:t>
            </a:r>
            <a:r>
              <a:rPr lang="en-US" altLang="ko-KR" sz="1200" dirty="0">
                <a:solidFill>
                  <a:srgbClr val="FF0000"/>
                </a:solidFill>
                <a:latin typeface="맑은 고딕" pitchFamily="50" charset="-127"/>
                <a:ea typeface="맑은 고딕" pitchFamily="50" charset="-127"/>
              </a:rPr>
              <a:t>(Bias)</a:t>
            </a:r>
            <a:endParaRPr lang="ko-KR" altLang="en-US" sz="1200" dirty="0">
              <a:solidFill>
                <a:srgbClr val="FF0000"/>
              </a:solidFill>
              <a:latin typeface="맑은 고딕" pitchFamily="50" charset="-127"/>
              <a:ea typeface="맑은 고딕" pitchFamily="50" charset="-127"/>
            </a:endParaRPr>
          </a:p>
        </p:txBody>
      </p:sp>
      <p:sp>
        <p:nvSpPr>
          <p:cNvPr id="206870" name="Rectangle 92"/>
          <p:cNvSpPr>
            <a:spLocks noChangeArrowheads="1"/>
          </p:cNvSpPr>
          <p:nvPr/>
        </p:nvSpPr>
        <p:spPr bwMode="auto">
          <a:xfrm>
            <a:off x="602274" y="1571626"/>
            <a:ext cx="3046534" cy="2500313"/>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6871" name="Text Box 129"/>
          <p:cNvSpPr txBox="1">
            <a:spLocks noChangeArrowheads="1"/>
          </p:cNvSpPr>
          <p:nvPr/>
        </p:nvSpPr>
        <p:spPr bwMode="auto">
          <a:xfrm>
            <a:off x="3881804" y="3392489"/>
            <a:ext cx="4977003" cy="646331"/>
          </a:xfrm>
          <a:prstGeom prst="rect">
            <a:avLst/>
          </a:prstGeom>
          <a:noFill/>
          <a:ln w="9525" algn="ctr">
            <a:noFill/>
            <a:miter lim="800000"/>
            <a:headEnd/>
            <a:tailEnd/>
          </a:ln>
        </p:spPr>
        <p:txBody>
          <a:bodyPr wrap="square">
            <a:spAutoFit/>
          </a:bodyPr>
          <a:lstStyle/>
          <a:p>
            <a:pPr>
              <a:buFont typeface="Arial" pitchFamily="34" charset="0"/>
              <a:buChar char="•"/>
            </a:pP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Criteria for bias : (1) The hypothesis of Bias=0 is not significant</a:t>
            </a:r>
          </a:p>
          <a:p>
            <a:pPr lvl="4"/>
            <a:r>
              <a:rPr lang="en-US" altLang="ko-KR" sz="1200" b="1" dirty="0">
                <a:latin typeface="맑은 고딕" pitchFamily="50" charset="-127"/>
                <a:ea typeface="맑은 고딕" pitchFamily="50" charset="-127"/>
              </a:rPr>
              <a:t>under given significant level</a:t>
            </a:r>
            <a:endParaRPr lang="ko-KR" altLang="en-US" sz="1200" b="1" dirty="0">
              <a:latin typeface="맑은 고딕" pitchFamily="50" charset="-127"/>
              <a:ea typeface="맑은 고딕" pitchFamily="50" charset="-127"/>
            </a:endParaRPr>
          </a:p>
          <a:p>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(2)  %Bias &lt; 5(%)</a:t>
            </a:r>
          </a:p>
        </p:txBody>
      </p:sp>
      <p:sp>
        <p:nvSpPr>
          <p:cNvPr id="206872" name="직사각형 29"/>
          <p:cNvSpPr>
            <a:spLocks noChangeArrowheads="1"/>
          </p:cNvSpPr>
          <p:nvPr/>
        </p:nvSpPr>
        <p:spPr bwMode="auto">
          <a:xfrm>
            <a:off x="615462" y="4257675"/>
            <a:ext cx="5813926" cy="2246769"/>
          </a:xfrm>
          <a:prstGeom prst="rect">
            <a:avLst/>
          </a:prstGeom>
          <a:noFill/>
          <a:ln w="9525">
            <a:noFill/>
            <a:miter lim="800000"/>
            <a:headEnd/>
            <a:tailEnd/>
          </a:ln>
        </p:spPr>
        <p:txBody>
          <a:bodyPr wrap="square">
            <a:spAutoFit/>
          </a:bodyPr>
          <a:lstStyle/>
          <a:p>
            <a:pPr>
              <a:buFont typeface="Arial" pitchFamily="34" charset="0"/>
              <a:buChar char="•"/>
            </a:pPr>
            <a:r>
              <a:rPr lang="en-US" altLang="ko-KR" sz="1400" b="1" dirty="0">
                <a:latin typeface="맑은 고딕" pitchFamily="50" charset="-127"/>
                <a:ea typeface="맑은 고딕" pitchFamily="50" charset="-127"/>
              </a:rPr>
              <a:t>How to verify Bias</a:t>
            </a:r>
          </a:p>
          <a:p>
            <a:pPr>
              <a:buFont typeface="Arial" pitchFamily="34" charset="0"/>
              <a:buChar char="•"/>
            </a:pP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sz="1400" dirty="0"/>
              <a:t>One evaluator repeatedly measures a single part/product with                                                                                                                a clearly defined reference value After that compare the mean of the observed value with specified reference value</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least 16 measurements</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Execute One-sample t-test , verify that bias is not significant from ‘0’ </a:t>
            </a:r>
            <a:r>
              <a:rPr lang="en-US" sz="1400" dirty="0"/>
              <a:t>or that the average of the observations is not different from the reference value</a:t>
            </a:r>
            <a:r>
              <a:rPr lang="ko-KR" altLang="en-US" sz="1400" dirty="0">
                <a:latin typeface="맑은 고딕" pitchFamily="50" charset="-127"/>
                <a:ea typeface="맑은 고딕" pitchFamily="50" charset="-127"/>
              </a:rPr>
              <a:t> </a:t>
            </a: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%Bias &lt; 5(%)</a:t>
            </a:r>
          </a:p>
        </p:txBody>
      </p:sp>
      <p:sp>
        <p:nvSpPr>
          <p:cNvPr id="206873" name="Rectangle 77"/>
          <p:cNvSpPr>
            <a:spLocks noChangeArrowheads="1"/>
          </p:cNvSpPr>
          <p:nvPr/>
        </p:nvSpPr>
        <p:spPr bwMode="auto">
          <a:xfrm>
            <a:off x="351692" y="928688"/>
            <a:ext cx="1584081" cy="360362"/>
          </a:xfrm>
          <a:prstGeom prst="rect">
            <a:avLst/>
          </a:prstGeom>
          <a:noFill/>
          <a:ln w="9525" algn="ctr">
            <a:solidFill>
              <a:schemeClr val="bg1">
                <a:lumMod val="50000"/>
              </a:schemeClr>
            </a:solidFill>
            <a:miter lim="800000"/>
            <a:headEnd/>
            <a:tailEnd/>
          </a:ln>
        </p:spPr>
        <p:txBody>
          <a:bodyPr wrap="none" anchor="ctr"/>
          <a:lstStyle/>
          <a:p>
            <a:pPr algn="ctr"/>
            <a:r>
              <a:rPr lang="ko-KR" altLang="en-US" sz="1600" b="1" dirty="0">
                <a:solidFill>
                  <a:srgbClr val="4D4D4D"/>
                </a:solidFill>
                <a:latin typeface="맑은 고딕" pitchFamily="50" charset="-127"/>
                <a:ea typeface="맑은 고딕" pitchFamily="50" charset="-127"/>
              </a:rPr>
              <a:t>편의 </a:t>
            </a:r>
            <a:r>
              <a:rPr lang="en-US" altLang="ko-KR" sz="1600" b="1" dirty="0">
                <a:solidFill>
                  <a:srgbClr val="4D4D4D"/>
                </a:solidFill>
                <a:latin typeface="맑은 고딕" pitchFamily="50" charset="-127"/>
                <a:ea typeface="맑은 고딕" pitchFamily="50" charset="-127"/>
              </a:rPr>
              <a:t>(Bias)</a:t>
            </a:r>
          </a:p>
        </p:txBody>
      </p:sp>
      <p:sp>
        <p:nvSpPr>
          <p:cNvPr id="206874" name="Text Box 80"/>
          <p:cNvSpPr txBox="1">
            <a:spLocks noChangeArrowheads="1"/>
          </p:cNvSpPr>
          <p:nvPr/>
        </p:nvSpPr>
        <p:spPr bwMode="auto">
          <a:xfrm>
            <a:off x="2013439" y="928688"/>
            <a:ext cx="6916279" cy="584775"/>
          </a:xfrm>
          <a:prstGeom prst="rect">
            <a:avLst/>
          </a:prstGeom>
          <a:noFill/>
          <a:ln w="9525" algn="ctr">
            <a:noFill/>
            <a:miter lim="800000"/>
            <a:headEnd/>
            <a:tailEnd/>
          </a:ln>
        </p:spPr>
        <p:txBody>
          <a:bodyPr wrap="square" lIns="36000" rIns="36000">
            <a:spAutoFit/>
          </a:bodyPr>
          <a:lstStyle/>
          <a:p>
            <a:r>
              <a:rPr lang="en-US" altLang="ko-KR" sz="1600" b="1" dirty="0">
                <a:latin typeface="맑은 고딕" pitchFamily="50" charset="-127"/>
                <a:ea typeface="맑은 고딕" pitchFamily="50" charset="-127"/>
              </a:rPr>
              <a:t>The difference between the reference value (true value) and the average of the measured value</a:t>
            </a:r>
            <a:endParaRPr lang="ko-KR" altLang="en-US" sz="1600" b="1" dirty="0">
              <a:latin typeface="맑은 고딕" pitchFamily="50" charset="-127"/>
              <a:ea typeface="맑은 고딕" pitchFamily="50" charset="-127"/>
            </a:endParaRPr>
          </a:p>
        </p:txBody>
      </p:sp>
      <p:cxnSp>
        <p:nvCxnSpPr>
          <p:cNvPr id="206875" name="직선 화살표 연결선 33"/>
          <p:cNvCxnSpPr>
            <a:cxnSpLocks noChangeShapeType="1"/>
          </p:cNvCxnSpPr>
          <p:nvPr/>
        </p:nvCxnSpPr>
        <p:spPr bwMode="auto">
          <a:xfrm flipV="1">
            <a:off x="800101" y="3457576"/>
            <a:ext cx="2611315" cy="9525"/>
          </a:xfrm>
          <a:prstGeom prst="straightConnector1">
            <a:avLst/>
          </a:prstGeom>
          <a:noFill/>
          <a:ln w="12700" algn="ctr">
            <a:solidFill>
              <a:schemeClr val="tx1"/>
            </a:solidFill>
            <a:round/>
            <a:headEnd/>
            <a:tailEnd type="arrow" w="med" len="med"/>
          </a:ln>
        </p:spPr>
      </p:cxnSp>
      <p:sp>
        <p:nvSpPr>
          <p:cNvPr id="206876" name="Oval 85"/>
          <p:cNvSpPr>
            <a:spLocks noChangeArrowheads="1"/>
          </p:cNvSpPr>
          <p:nvPr/>
        </p:nvSpPr>
        <p:spPr bwMode="auto">
          <a:xfrm>
            <a:off x="2237643" y="2928939"/>
            <a:ext cx="86457"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77" name="Oval 85"/>
          <p:cNvSpPr>
            <a:spLocks noChangeArrowheads="1"/>
          </p:cNvSpPr>
          <p:nvPr/>
        </p:nvSpPr>
        <p:spPr bwMode="auto">
          <a:xfrm>
            <a:off x="2237643" y="2786064"/>
            <a:ext cx="86457"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78" name="Oval 86"/>
          <p:cNvSpPr>
            <a:spLocks noChangeArrowheads="1"/>
          </p:cNvSpPr>
          <p:nvPr/>
        </p:nvSpPr>
        <p:spPr bwMode="auto">
          <a:xfrm>
            <a:off x="2101362" y="3059114"/>
            <a:ext cx="84992"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79" name="Oval 85"/>
          <p:cNvSpPr>
            <a:spLocks noChangeArrowheads="1"/>
          </p:cNvSpPr>
          <p:nvPr/>
        </p:nvSpPr>
        <p:spPr bwMode="auto">
          <a:xfrm>
            <a:off x="2237643" y="2638425"/>
            <a:ext cx="86457" cy="109538"/>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0" name="Oval 87"/>
          <p:cNvSpPr>
            <a:spLocks noChangeArrowheads="1"/>
          </p:cNvSpPr>
          <p:nvPr/>
        </p:nvSpPr>
        <p:spPr bwMode="auto">
          <a:xfrm>
            <a:off x="2099897" y="2909889"/>
            <a:ext cx="86457"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1" name="Oval 86"/>
          <p:cNvSpPr>
            <a:spLocks noChangeArrowheads="1"/>
          </p:cNvSpPr>
          <p:nvPr/>
        </p:nvSpPr>
        <p:spPr bwMode="auto">
          <a:xfrm>
            <a:off x="2387113" y="3200400"/>
            <a:ext cx="84992" cy="109538"/>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2" name="Oval 89"/>
          <p:cNvSpPr>
            <a:spLocks noChangeArrowheads="1"/>
          </p:cNvSpPr>
          <p:nvPr/>
        </p:nvSpPr>
        <p:spPr bwMode="auto">
          <a:xfrm>
            <a:off x="2387113"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3" name="Oval 86"/>
          <p:cNvSpPr>
            <a:spLocks noChangeArrowheads="1"/>
          </p:cNvSpPr>
          <p:nvPr/>
        </p:nvSpPr>
        <p:spPr bwMode="auto">
          <a:xfrm>
            <a:off x="2387113" y="3059114"/>
            <a:ext cx="84992"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4" name="Oval 87"/>
          <p:cNvSpPr>
            <a:spLocks noChangeArrowheads="1"/>
          </p:cNvSpPr>
          <p:nvPr/>
        </p:nvSpPr>
        <p:spPr bwMode="auto">
          <a:xfrm>
            <a:off x="2385647" y="29098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5" name="Oval 78"/>
          <p:cNvSpPr>
            <a:spLocks noChangeArrowheads="1"/>
          </p:cNvSpPr>
          <p:nvPr/>
        </p:nvSpPr>
        <p:spPr bwMode="auto">
          <a:xfrm>
            <a:off x="2516066" y="3338514"/>
            <a:ext cx="86457"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6" name="Oval 82"/>
          <p:cNvSpPr>
            <a:spLocks noChangeArrowheads="1"/>
          </p:cNvSpPr>
          <p:nvPr/>
        </p:nvSpPr>
        <p:spPr bwMode="auto">
          <a:xfrm>
            <a:off x="2516066" y="3200400"/>
            <a:ext cx="86457"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7" name="Oval 87"/>
          <p:cNvSpPr>
            <a:spLocks noChangeArrowheads="1"/>
          </p:cNvSpPr>
          <p:nvPr/>
        </p:nvSpPr>
        <p:spPr bwMode="auto">
          <a:xfrm>
            <a:off x="2526324" y="30622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8" name="Oval 88"/>
          <p:cNvSpPr>
            <a:spLocks noChangeArrowheads="1"/>
          </p:cNvSpPr>
          <p:nvPr/>
        </p:nvSpPr>
        <p:spPr bwMode="auto">
          <a:xfrm>
            <a:off x="2634762" y="3262314"/>
            <a:ext cx="86458"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9" name="Rectangle 92"/>
          <p:cNvSpPr>
            <a:spLocks noChangeArrowheads="1"/>
          </p:cNvSpPr>
          <p:nvPr/>
        </p:nvSpPr>
        <p:spPr bwMode="auto">
          <a:xfrm>
            <a:off x="3780692" y="3371850"/>
            <a:ext cx="4813789" cy="700088"/>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6890" name="Rectangle 92"/>
          <p:cNvSpPr>
            <a:spLocks noChangeArrowheads="1"/>
          </p:cNvSpPr>
          <p:nvPr/>
        </p:nvSpPr>
        <p:spPr bwMode="auto">
          <a:xfrm>
            <a:off x="3780692" y="1560513"/>
            <a:ext cx="4813789" cy="1687512"/>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6891" name="Text Box 129"/>
          <p:cNvSpPr txBox="1">
            <a:spLocks noChangeArrowheads="1"/>
          </p:cNvSpPr>
          <p:nvPr/>
        </p:nvSpPr>
        <p:spPr bwMode="auto">
          <a:xfrm>
            <a:off x="3881804" y="1612901"/>
            <a:ext cx="4855816" cy="276999"/>
          </a:xfrm>
          <a:prstGeom prst="rect">
            <a:avLst/>
          </a:prstGeom>
          <a:noFill/>
          <a:ln w="9525" algn="ctr">
            <a:noFill/>
            <a:miter lim="800000"/>
            <a:headEnd/>
            <a:tailEnd/>
          </a:ln>
        </p:spPr>
        <p:txBody>
          <a:bodyPr wrap="none">
            <a:spAutoFit/>
          </a:bodyPr>
          <a:lstStyle/>
          <a:p>
            <a:pPr>
              <a:buFont typeface="Arial" pitchFamily="34" charset="0"/>
              <a:buChar char="•"/>
            </a:pPr>
            <a:r>
              <a:rPr lang="en-US" altLang="ko-KR" sz="1200" b="1" dirty="0">
                <a:latin typeface="맑은 고딕" pitchFamily="50" charset="-127"/>
                <a:ea typeface="맑은 고딕" pitchFamily="50" charset="-127"/>
              </a:rPr>
              <a:t> Bias = Measured  value mean</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 Reference Value(True value)</a:t>
            </a:r>
          </a:p>
        </p:txBody>
      </p:sp>
      <p:grpSp>
        <p:nvGrpSpPr>
          <p:cNvPr id="2" name="그룹 79"/>
          <p:cNvGrpSpPr>
            <a:grpSpLocks/>
          </p:cNvGrpSpPr>
          <p:nvPr/>
        </p:nvGrpSpPr>
        <p:grpSpPr bwMode="auto">
          <a:xfrm>
            <a:off x="3881805" y="1895477"/>
            <a:ext cx="4333950" cy="559146"/>
            <a:chOff x="4204624" y="1981190"/>
            <a:chExt cx="4695761" cy="559845"/>
          </a:xfrm>
        </p:grpSpPr>
        <p:sp>
          <p:nvSpPr>
            <p:cNvPr id="206905" name="Text Box 129"/>
            <p:cNvSpPr txBox="1">
              <a:spLocks noChangeArrowheads="1"/>
            </p:cNvSpPr>
            <p:nvPr/>
          </p:nvSpPr>
          <p:spPr bwMode="auto">
            <a:xfrm>
              <a:off x="4204624" y="2121091"/>
              <a:ext cx="1292546" cy="277345"/>
            </a:xfrm>
            <a:prstGeom prst="rect">
              <a:avLst/>
            </a:prstGeom>
            <a:noFill/>
            <a:ln w="9525" algn="ctr">
              <a:noFill/>
              <a:miter lim="800000"/>
              <a:headEnd/>
              <a:tailEnd/>
            </a:ln>
          </p:spPr>
          <p:txBody>
            <a:bodyPr wrap="none">
              <a:spAutoFit/>
            </a:bodyPr>
            <a:lstStyle/>
            <a:p>
              <a:pPr>
                <a:buFont typeface="Arial" pitchFamily="34" charset="0"/>
                <a:buChar char="•"/>
              </a:pPr>
              <a:r>
                <a:rPr lang="en-US" altLang="ko-KR" sz="1200" b="1" dirty="0">
                  <a:latin typeface="맑은 고딕" pitchFamily="50" charset="-127"/>
                  <a:ea typeface="맑은 고딕" pitchFamily="50" charset="-127"/>
                </a:rPr>
                <a:t> %Bias(PV) =</a:t>
              </a:r>
            </a:p>
          </p:txBody>
        </p:sp>
        <p:sp>
          <p:nvSpPr>
            <p:cNvPr id="206906" name="Text Box 129"/>
            <p:cNvSpPr txBox="1">
              <a:spLocks noChangeArrowheads="1"/>
            </p:cNvSpPr>
            <p:nvPr/>
          </p:nvSpPr>
          <p:spPr bwMode="auto">
            <a:xfrm>
              <a:off x="5316540" y="2263690"/>
              <a:ext cx="1558490"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Process Variation</a:t>
              </a:r>
            </a:p>
          </p:txBody>
        </p:sp>
        <p:sp>
          <p:nvSpPr>
            <p:cNvPr id="206907" name="Text Box 129"/>
            <p:cNvSpPr txBox="1">
              <a:spLocks noChangeArrowheads="1"/>
            </p:cNvSpPr>
            <p:nvPr/>
          </p:nvSpPr>
          <p:spPr bwMode="auto">
            <a:xfrm>
              <a:off x="5635774" y="1984909"/>
              <a:ext cx="85139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sp>
          <p:nvSpPr>
            <p:cNvPr id="206908" name="Text Box 129"/>
            <p:cNvSpPr txBox="1">
              <a:spLocks noChangeArrowheads="1"/>
            </p:cNvSpPr>
            <p:nvPr/>
          </p:nvSpPr>
          <p:spPr bwMode="auto">
            <a:xfrm>
              <a:off x="7104625" y="2117372"/>
              <a:ext cx="340766" cy="308162"/>
            </a:xfrm>
            <a:prstGeom prst="rect">
              <a:avLst/>
            </a:prstGeom>
            <a:noFill/>
            <a:ln w="9525" algn="ctr">
              <a:noFill/>
              <a:miter lim="800000"/>
              <a:headEnd/>
              <a:tailEnd/>
            </a:ln>
          </p:spPr>
          <p:txBody>
            <a:bodyPr wrap="none">
              <a:spAutoFit/>
            </a:bodyPr>
            <a:lstStyle/>
            <a:p>
              <a:r>
                <a:rPr lang="en-US" altLang="ko-KR" sz="1400" b="1" dirty="0">
                  <a:latin typeface="맑은 고딕" pitchFamily="50" charset="-127"/>
                  <a:ea typeface="맑은 고딕" pitchFamily="50" charset="-127"/>
                </a:rPr>
                <a:t>=</a:t>
              </a:r>
            </a:p>
          </p:txBody>
        </p:sp>
        <p:cxnSp>
          <p:nvCxnSpPr>
            <p:cNvPr id="206909" name="직선 연결선 67"/>
            <p:cNvCxnSpPr>
              <a:cxnSpLocks noChangeShapeType="1"/>
            </p:cNvCxnSpPr>
            <p:nvPr/>
          </p:nvCxnSpPr>
          <p:spPr bwMode="auto">
            <a:xfrm>
              <a:off x="7392936" y="2269574"/>
              <a:ext cx="873629" cy="801"/>
            </a:xfrm>
            <a:prstGeom prst="line">
              <a:avLst/>
            </a:prstGeom>
            <a:noFill/>
            <a:ln w="12700" algn="ctr">
              <a:solidFill>
                <a:schemeClr val="tx1"/>
              </a:solidFill>
              <a:round/>
              <a:headEnd/>
              <a:tailEnd/>
            </a:ln>
          </p:spPr>
        </p:cxnSp>
        <p:sp>
          <p:nvSpPr>
            <p:cNvPr id="206910" name="Text Box 129"/>
            <p:cNvSpPr txBox="1">
              <a:spLocks noChangeArrowheads="1"/>
            </p:cNvSpPr>
            <p:nvPr/>
          </p:nvSpPr>
          <p:spPr bwMode="auto">
            <a:xfrm>
              <a:off x="7337894" y="2240921"/>
              <a:ext cx="1038414"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6 × σ</a:t>
              </a:r>
              <a:r>
                <a:rPr lang="en-US" altLang="ko-KR" sz="1200" b="1" baseline="-25000" dirty="0">
                  <a:latin typeface="맑은 고딕" pitchFamily="50" charset="-127"/>
                  <a:ea typeface="맑은 고딕" pitchFamily="50" charset="-127"/>
                </a:rPr>
                <a:t>process</a:t>
              </a:r>
            </a:p>
          </p:txBody>
        </p:sp>
        <p:sp>
          <p:nvSpPr>
            <p:cNvPr id="206911" name="Text Box 129"/>
            <p:cNvSpPr txBox="1">
              <a:spLocks noChangeArrowheads="1"/>
            </p:cNvSpPr>
            <p:nvPr/>
          </p:nvSpPr>
          <p:spPr bwMode="auto">
            <a:xfrm>
              <a:off x="7411694" y="1981190"/>
              <a:ext cx="85139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cxnSp>
          <p:nvCxnSpPr>
            <p:cNvPr id="206912" name="직선 연결선 76"/>
            <p:cNvCxnSpPr>
              <a:cxnSpLocks noChangeShapeType="1"/>
            </p:cNvCxnSpPr>
            <p:nvPr/>
          </p:nvCxnSpPr>
          <p:spPr bwMode="auto">
            <a:xfrm rot="10800000">
              <a:off x="5345115" y="2268529"/>
              <a:ext cx="1357322" cy="1588"/>
            </a:xfrm>
            <a:prstGeom prst="line">
              <a:avLst/>
            </a:prstGeom>
            <a:noFill/>
            <a:ln w="12700" algn="ctr">
              <a:solidFill>
                <a:schemeClr val="tx1"/>
              </a:solidFill>
              <a:round/>
              <a:headEnd/>
              <a:tailEnd/>
            </a:ln>
          </p:spPr>
        </p:cxnSp>
        <p:sp>
          <p:nvSpPr>
            <p:cNvPr id="206913" name="Text Box 129"/>
            <p:cNvSpPr txBox="1">
              <a:spLocks noChangeArrowheads="1"/>
            </p:cNvSpPr>
            <p:nvPr/>
          </p:nvSpPr>
          <p:spPr bwMode="auto">
            <a:xfrm>
              <a:off x="6653225" y="2114541"/>
              <a:ext cx="670763"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sp>
          <p:nvSpPr>
            <p:cNvPr id="206914" name="Text Box 129"/>
            <p:cNvSpPr txBox="1">
              <a:spLocks noChangeArrowheads="1"/>
            </p:cNvSpPr>
            <p:nvPr/>
          </p:nvSpPr>
          <p:spPr bwMode="auto">
            <a:xfrm>
              <a:off x="8229622" y="2114541"/>
              <a:ext cx="670763"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grpSp>
      <p:grpSp>
        <p:nvGrpSpPr>
          <p:cNvPr id="4" name="그룹 95"/>
          <p:cNvGrpSpPr>
            <a:grpSpLocks/>
          </p:cNvGrpSpPr>
          <p:nvPr/>
        </p:nvGrpSpPr>
        <p:grpSpPr bwMode="auto">
          <a:xfrm>
            <a:off x="3881805" y="2619377"/>
            <a:ext cx="3847496" cy="559146"/>
            <a:chOff x="4204624" y="2619365"/>
            <a:chExt cx="4169088" cy="559845"/>
          </a:xfrm>
        </p:grpSpPr>
        <p:sp>
          <p:nvSpPr>
            <p:cNvPr id="206895" name="Text Box 129"/>
            <p:cNvSpPr txBox="1">
              <a:spLocks noChangeArrowheads="1"/>
            </p:cNvSpPr>
            <p:nvPr/>
          </p:nvSpPr>
          <p:spPr bwMode="auto">
            <a:xfrm>
              <a:off x="4204624" y="2759266"/>
              <a:ext cx="1176290" cy="277345"/>
            </a:xfrm>
            <a:prstGeom prst="rect">
              <a:avLst/>
            </a:prstGeom>
            <a:noFill/>
            <a:ln w="9525" algn="ctr">
              <a:noFill/>
              <a:miter lim="800000"/>
              <a:headEnd/>
              <a:tailEnd/>
            </a:ln>
          </p:spPr>
          <p:txBody>
            <a:bodyPr wrap="none">
              <a:spAutoFit/>
            </a:bodyPr>
            <a:lstStyle/>
            <a:p>
              <a:pPr>
                <a:buFont typeface="Arial" pitchFamily="34" charset="0"/>
                <a:buChar char="•"/>
              </a:pPr>
              <a:r>
                <a:rPr lang="en-US" altLang="ko-KR" sz="1200" b="1" dirty="0">
                  <a:latin typeface="맑은 고딕" pitchFamily="50" charset="-127"/>
                  <a:ea typeface="맑은 고딕" pitchFamily="50" charset="-127"/>
                </a:rPr>
                <a:t> %Bias(T) =</a:t>
              </a:r>
            </a:p>
          </p:txBody>
        </p:sp>
        <p:sp>
          <p:nvSpPr>
            <p:cNvPr id="206896" name="Text Box 129"/>
            <p:cNvSpPr txBox="1">
              <a:spLocks noChangeArrowheads="1"/>
            </p:cNvSpPr>
            <p:nvPr/>
          </p:nvSpPr>
          <p:spPr bwMode="auto">
            <a:xfrm>
              <a:off x="5245101" y="2901865"/>
              <a:ext cx="951384"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Tolerance</a:t>
              </a:r>
            </a:p>
          </p:txBody>
        </p:sp>
        <p:sp>
          <p:nvSpPr>
            <p:cNvPr id="206897" name="Text Box 129"/>
            <p:cNvSpPr txBox="1">
              <a:spLocks noChangeArrowheads="1"/>
            </p:cNvSpPr>
            <p:nvPr/>
          </p:nvSpPr>
          <p:spPr bwMode="auto">
            <a:xfrm>
              <a:off x="5267352" y="2623084"/>
              <a:ext cx="85147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sp>
          <p:nvSpPr>
            <p:cNvPr id="206898" name="Text Box 129"/>
            <p:cNvSpPr txBox="1">
              <a:spLocks noChangeArrowheads="1"/>
            </p:cNvSpPr>
            <p:nvPr/>
          </p:nvSpPr>
          <p:spPr bwMode="auto">
            <a:xfrm>
              <a:off x="6577888" y="2755547"/>
              <a:ext cx="340798" cy="308162"/>
            </a:xfrm>
            <a:prstGeom prst="rect">
              <a:avLst/>
            </a:prstGeom>
            <a:noFill/>
            <a:ln w="9525" algn="ctr">
              <a:noFill/>
              <a:miter lim="800000"/>
              <a:headEnd/>
              <a:tailEnd/>
            </a:ln>
          </p:spPr>
          <p:txBody>
            <a:bodyPr wrap="none">
              <a:spAutoFit/>
            </a:bodyPr>
            <a:lstStyle/>
            <a:p>
              <a:r>
                <a:rPr lang="en-US" altLang="ko-KR" sz="1400" b="1" dirty="0">
                  <a:latin typeface="맑은 고딕" pitchFamily="50" charset="-127"/>
                  <a:ea typeface="맑은 고딕" pitchFamily="50" charset="-127"/>
                </a:rPr>
                <a:t>=</a:t>
              </a:r>
            </a:p>
          </p:txBody>
        </p:sp>
        <p:cxnSp>
          <p:nvCxnSpPr>
            <p:cNvPr id="206899" name="직선 연결선 85"/>
            <p:cNvCxnSpPr>
              <a:cxnSpLocks noChangeShapeType="1"/>
            </p:cNvCxnSpPr>
            <p:nvPr/>
          </p:nvCxnSpPr>
          <p:spPr bwMode="auto">
            <a:xfrm>
              <a:off x="6866199" y="2907749"/>
              <a:ext cx="873629" cy="801"/>
            </a:xfrm>
            <a:prstGeom prst="line">
              <a:avLst/>
            </a:prstGeom>
            <a:noFill/>
            <a:ln w="12700" algn="ctr">
              <a:solidFill>
                <a:schemeClr val="tx1"/>
              </a:solidFill>
              <a:round/>
              <a:headEnd/>
              <a:tailEnd/>
            </a:ln>
          </p:spPr>
        </p:cxnSp>
        <p:sp>
          <p:nvSpPr>
            <p:cNvPr id="206900" name="Text Box 129"/>
            <p:cNvSpPr txBox="1">
              <a:spLocks noChangeArrowheads="1"/>
            </p:cNvSpPr>
            <p:nvPr/>
          </p:nvSpPr>
          <p:spPr bwMode="auto">
            <a:xfrm>
              <a:off x="6830207" y="2879096"/>
              <a:ext cx="952218"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USL - LSL</a:t>
              </a:r>
              <a:endParaRPr lang="en-US" altLang="ko-KR" sz="1200" b="1" baseline="-25000" dirty="0">
                <a:latin typeface="맑은 고딕" pitchFamily="50" charset="-127"/>
                <a:ea typeface="맑은 고딕" pitchFamily="50" charset="-127"/>
              </a:endParaRPr>
            </a:p>
          </p:txBody>
        </p:sp>
        <p:sp>
          <p:nvSpPr>
            <p:cNvPr id="206901" name="Text Box 129"/>
            <p:cNvSpPr txBox="1">
              <a:spLocks noChangeArrowheads="1"/>
            </p:cNvSpPr>
            <p:nvPr/>
          </p:nvSpPr>
          <p:spPr bwMode="auto">
            <a:xfrm>
              <a:off x="6884957" y="2619365"/>
              <a:ext cx="85147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sp>
          <p:nvSpPr>
            <p:cNvPr id="206902" name="Text Box 129"/>
            <p:cNvSpPr txBox="1">
              <a:spLocks noChangeArrowheads="1"/>
            </p:cNvSpPr>
            <p:nvPr/>
          </p:nvSpPr>
          <p:spPr bwMode="auto">
            <a:xfrm>
              <a:off x="6126488" y="2752716"/>
              <a:ext cx="670826"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sp>
          <p:nvSpPr>
            <p:cNvPr id="206903" name="Text Box 129"/>
            <p:cNvSpPr txBox="1">
              <a:spLocks noChangeArrowheads="1"/>
            </p:cNvSpPr>
            <p:nvPr/>
          </p:nvSpPr>
          <p:spPr bwMode="auto">
            <a:xfrm>
              <a:off x="7702886" y="2752716"/>
              <a:ext cx="670826"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cxnSp>
          <p:nvCxnSpPr>
            <p:cNvPr id="206904" name="직선 연결선 94"/>
            <p:cNvCxnSpPr>
              <a:cxnSpLocks noChangeShapeType="1"/>
            </p:cNvCxnSpPr>
            <p:nvPr/>
          </p:nvCxnSpPr>
          <p:spPr bwMode="auto">
            <a:xfrm>
              <a:off x="5238752" y="2905917"/>
              <a:ext cx="928694" cy="1588"/>
            </a:xfrm>
            <a:prstGeom prst="line">
              <a:avLst/>
            </a:prstGeom>
            <a:noFill/>
            <a:ln w="12700" algn="ctr">
              <a:solidFill>
                <a:schemeClr val="tx1"/>
              </a:solidFill>
              <a:round/>
              <a:headEnd/>
              <a:tailEnd/>
            </a:ln>
          </p:spPr>
        </p:cxnSp>
      </p:grpSp>
      <p:sp>
        <p:nvSpPr>
          <p:cNvPr id="206894" name="Rectangle 11"/>
          <p:cNvSpPr>
            <a:spLocks noChangeArrowheads="1"/>
          </p:cNvSpPr>
          <p:nvPr/>
        </p:nvSpPr>
        <p:spPr bwMode="auto">
          <a:xfrm>
            <a:off x="6372200" y="4464051"/>
            <a:ext cx="2628956" cy="2123658"/>
          </a:xfrm>
          <a:prstGeom prst="rect">
            <a:avLst/>
          </a:prstGeom>
          <a:noFill/>
          <a:ln w="12700" algn="ctr">
            <a:solidFill>
              <a:schemeClr val="bg1">
                <a:lumMod val="50000"/>
              </a:schemeClr>
            </a:solidFill>
            <a:prstDash val="sysDash"/>
            <a:miter lim="800000"/>
            <a:headEnd/>
            <a:tailEnd/>
          </a:ln>
        </p:spPr>
        <p:txBody>
          <a:bodyPr wrap="square">
            <a:spAutoFit/>
          </a:bodyPr>
          <a:lstStyle/>
          <a:p>
            <a:pPr>
              <a:lnSpc>
                <a:spcPct val="150000"/>
              </a:lnSpc>
            </a:pPr>
            <a:r>
              <a:rPr lang="en-US" altLang="ko-KR" sz="1100" b="1" dirty="0">
                <a:solidFill>
                  <a:srgbClr val="00B050"/>
                </a:solidFill>
                <a:latin typeface="맑은 고딕" pitchFamily="50" charset="-127"/>
                <a:ea typeface="맑은 고딕" pitchFamily="50" charset="-127"/>
              </a:rPr>
              <a:t>※Determination of reference value</a:t>
            </a:r>
            <a:endParaRPr lang="ko-KR" altLang="en-US" sz="1100" b="1" dirty="0">
              <a:solidFill>
                <a:srgbClr val="00B050"/>
              </a:solidFill>
              <a:latin typeface="맑은 고딕" pitchFamily="50" charset="-127"/>
              <a:ea typeface="맑은 고딕" pitchFamily="50" charset="-127"/>
            </a:endParaRPr>
          </a:p>
          <a:p>
            <a:pPr>
              <a:lnSpc>
                <a:spcPct val="150000"/>
              </a:lnSpc>
            </a:pPr>
            <a:r>
              <a:rPr lang="ko-KR" altLang="en-US" sz="1100" b="1" dirty="0">
                <a:solidFill>
                  <a:srgbClr val="00B050"/>
                </a:solidFill>
                <a:latin typeface="맑은 고딕" pitchFamily="50" charset="-127"/>
                <a:ea typeface="맑은 고딕" pitchFamily="50" charset="-127"/>
              </a:rPr>
              <a:t> </a:t>
            </a:r>
            <a:r>
              <a:rPr lang="en-US" altLang="ko-KR" sz="1100" b="1" dirty="0">
                <a:solidFill>
                  <a:srgbClr val="00B050"/>
                </a:solidFill>
                <a:latin typeface="맑은 고딕" pitchFamily="50" charset="-127"/>
                <a:ea typeface="맑은 고딕" pitchFamily="50" charset="-127"/>
              </a:rPr>
              <a:t>1.Measured through high level measuring instrument</a:t>
            </a:r>
            <a:endParaRPr lang="ko-KR" altLang="en-US" sz="1100" b="1" dirty="0">
              <a:solidFill>
                <a:srgbClr val="00B050"/>
              </a:solidFill>
              <a:latin typeface="맑은 고딕" pitchFamily="50" charset="-127"/>
              <a:ea typeface="맑은 고딕" pitchFamily="50" charset="-127"/>
            </a:endParaRPr>
          </a:p>
          <a:p>
            <a:pPr>
              <a:lnSpc>
                <a:spcPct val="150000"/>
              </a:lnSpc>
            </a:pPr>
            <a:r>
              <a:rPr lang="ko-KR" altLang="en-US" sz="1100" b="1" dirty="0">
                <a:solidFill>
                  <a:srgbClr val="00B050"/>
                </a:solidFill>
                <a:latin typeface="맑은 고딕" pitchFamily="50" charset="-127"/>
                <a:ea typeface="맑은 고딕" pitchFamily="50" charset="-127"/>
              </a:rPr>
              <a:t> </a:t>
            </a:r>
            <a:r>
              <a:rPr lang="en-US" altLang="ko-KR" sz="1100" b="1" dirty="0">
                <a:solidFill>
                  <a:srgbClr val="00B050"/>
                </a:solidFill>
                <a:latin typeface="맑은 고딕" pitchFamily="50" charset="-127"/>
                <a:ea typeface="맑은 고딕" pitchFamily="50" charset="-127"/>
              </a:rPr>
              <a:t>2.If there is no high level instrumentation, the skilled measurer repeatedly measures many times and then uses the average</a:t>
            </a:r>
            <a:endParaRPr lang="ko-KR" altLang="en-US" sz="1100" b="1" dirty="0">
              <a:solidFill>
                <a:srgbClr val="00B050"/>
              </a:solidFill>
              <a:latin typeface="맑은 고딕" pitchFamily="50" charset="-127"/>
              <a:ea typeface="맑은 고딕" pitchFamily="50" charset="-127"/>
            </a:endParaRPr>
          </a:p>
        </p:txBody>
      </p:sp>
      <p:sp>
        <p:nvSpPr>
          <p:cNvPr id="5" name="슬라이드 번호 개체 틀 4"/>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20</a:t>
            </a:fld>
            <a:endParaRPr lang="ko-KR" altLang="en-US" dirty="0"/>
          </a:p>
        </p:txBody>
      </p:sp>
    </p:spTree>
    <p:extLst>
      <p:ext uri="{BB962C8B-B14F-4D97-AF65-F5344CB8AC3E}">
        <p14:creationId xmlns:p14="http://schemas.microsoft.com/office/powerpoint/2010/main" val="406045391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Accuracy</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Linearity</a:t>
            </a:r>
            <a:endParaRPr lang="ko-KR" altLang="en-US" sz="1600" b="1" kern="0" dirty="0">
              <a:solidFill>
                <a:srgbClr val="000000"/>
              </a:solidFill>
              <a:latin typeface="맑은 고딕"/>
              <a:ea typeface="맑은 고딕"/>
            </a:endParaRPr>
          </a:p>
        </p:txBody>
      </p:sp>
      <p:sp>
        <p:nvSpPr>
          <p:cNvPr id="207875" name="Rectangle 77"/>
          <p:cNvSpPr>
            <a:spLocks noChangeArrowheads="1"/>
          </p:cNvSpPr>
          <p:nvPr/>
        </p:nvSpPr>
        <p:spPr bwMode="auto">
          <a:xfrm>
            <a:off x="351692" y="928688"/>
            <a:ext cx="1584081" cy="360362"/>
          </a:xfrm>
          <a:prstGeom prst="rect">
            <a:avLst/>
          </a:prstGeom>
          <a:noFill/>
          <a:ln w="9525" algn="ctr">
            <a:solidFill>
              <a:schemeClr val="bg1">
                <a:lumMod val="50000"/>
              </a:schemeClr>
            </a:solidFill>
            <a:miter lim="800000"/>
            <a:headEnd/>
            <a:tailEnd/>
          </a:ln>
        </p:spPr>
        <p:txBody>
          <a:bodyPr wrap="none" anchor="ctr"/>
          <a:lstStyle/>
          <a:p>
            <a:pPr algn="ctr"/>
            <a:r>
              <a:rPr lang="ko-KR" altLang="en-US" sz="1600" b="1" dirty="0">
                <a:solidFill>
                  <a:srgbClr val="4D4D4D"/>
                </a:solidFill>
                <a:latin typeface="맑은 고딕" pitchFamily="50" charset="-127"/>
                <a:ea typeface="맑은 고딕" pitchFamily="50" charset="-127"/>
              </a:rPr>
              <a:t>선형성</a:t>
            </a:r>
            <a:r>
              <a:rPr lang="en-US" altLang="ko-KR" sz="1600" b="1" dirty="0">
                <a:solidFill>
                  <a:srgbClr val="4D4D4D"/>
                </a:solidFill>
                <a:latin typeface="맑은 고딕" pitchFamily="50" charset="-127"/>
                <a:ea typeface="맑은 고딕" pitchFamily="50" charset="-127"/>
              </a:rPr>
              <a:t>(Linearity)</a:t>
            </a:r>
          </a:p>
        </p:txBody>
      </p:sp>
      <p:sp>
        <p:nvSpPr>
          <p:cNvPr id="207876" name="Text Box 80"/>
          <p:cNvSpPr txBox="1">
            <a:spLocks noChangeArrowheads="1"/>
          </p:cNvSpPr>
          <p:nvPr/>
        </p:nvSpPr>
        <p:spPr bwMode="auto">
          <a:xfrm>
            <a:off x="2013439" y="928689"/>
            <a:ext cx="4497569" cy="338554"/>
          </a:xfrm>
          <a:prstGeom prst="rect">
            <a:avLst/>
          </a:prstGeom>
          <a:noFill/>
          <a:ln w="9525" algn="ctr">
            <a:noFill/>
            <a:miter lim="800000"/>
            <a:headEnd/>
            <a:tailEnd/>
          </a:ln>
        </p:spPr>
        <p:txBody>
          <a:bodyPr wrap="none" lIns="36000" rIns="36000">
            <a:spAutoFit/>
          </a:bodyPr>
          <a:lstStyle/>
          <a:p>
            <a:r>
              <a:rPr lang="en-US" altLang="ko-KR" sz="1600" b="1" dirty="0">
                <a:latin typeface="맑은 고딕" pitchFamily="50" charset="-127"/>
                <a:ea typeface="맑은 고딕" pitchFamily="50" charset="-127"/>
              </a:rPr>
              <a:t>Bias across Gage Range or Specification </a:t>
            </a:r>
            <a:r>
              <a:rPr lang="en-US" altLang="ko-KR" sz="1600" b="1" dirty="0" err="1">
                <a:latin typeface="맑은 고딕" pitchFamily="50" charset="-127"/>
                <a:ea typeface="맑은 고딕" pitchFamily="50" charset="-127"/>
              </a:rPr>
              <a:t>Limt</a:t>
            </a:r>
            <a:endParaRPr lang="ko-KR" altLang="en-US" sz="1600" b="1" dirty="0">
              <a:latin typeface="맑은 고딕" pitchFamily="50" charset="-127"/>
              <a:ea typeface="맑은 고딕" pitchFamily="50" charset="-127"/>
            </a:endParaRPr>
          </a:p>
        </p:txBody>
      </p:sp>
      <p:sp>
        <p:nvSpPr>
          <p:cNvPr id="207877" name="Rectangle 92"/>
          <p:cNvSpPr>
            <a:spLocks noChangeArrowheads="1"/>
          </p:cNvSpPr>
          <p:nvPr/>
        </p:nvSpPr>
        <p:spPr bwMode="auto">
          <a:xfrm>
            <a:off x="602274" y="1571626"/>
            <a:ext cx="3046534" cy="2577454"/>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7878" name="Rectangle 92"/>
          <p:cNvSpPr>
            <a:spLocks noChangeArrowheads="1"/>
          </p:cNvSpPr>
          <p:nvPr/>
        </p:nvSpPr>
        <p:spPr bwMode="auto">
          <a:xfrm>
            <a:off x="3780692" y="3290342"/>
            <a:ext cx="5039780" cy="1138790"/>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7879" name="Text Box 95"/>
          <p:cNvSpPr txBox="1">
            <a:spLocks noChangeArrowheads="1"/>
          </p:cNvSpPr>
          <p:nvPr/>
        </p:nvSpPr>
        <p:spPr bwMode="auto">
          <a:xfrm>
            <a:off x="580977" y="1692276"/>
            <a:ext cx="1302280" cy="276999"/>
          </a:xfrm>
          <a:prstGeom prst="rect">
            <a:avLst/>
          </a:prstGeom>
          <a:noFill/>
          <a:ln w="9525" algn="ctr">
            <a:noFill/>
            <a:miter lim="800000"/>
            <a:headEnd/>
            <a:tailEnd/>
          </a:ln>
        </p:spPr>
        <p:txBody>
          <a:bodyPr wrap="none">
            <a:spAutoFit/>
          </a:bodyPr>
          <a:lstStyle/>
          <a:p>
            <a:pPr algn="ctr"/>
            <a:r>
              <a:rPr lang="en-US" altLang="ko-KR" sz="1200" dirty="0">
                <a:latin typeface="맑은 고딕" pitchFamily="50" charset="-127"/>
                <a:ea typeface="맑은 고딕" pitchFamily="50" charset="-127"/>
              </a:rPr>
              <a:t>Measured Value</a:t>
            </a:r>
            <a:endParaRPr lang="ko-KR" altLang="en-US" sz="1200" dirty="0">
              <a:latin typeface="맑은 고딕" pitchFamily="50" charset="-127"/>
              <a:ea typeface="맑은 고딕" pitchFamily="50" charset="-127"/>
            </a:endParaRPr>
          </a:p>
        </p:txBody>
      </p:sp>
      <p:sp>
        <p:nvSpPr>
          <p:cNvPr id="207880" name="Line 97"/>
          <p:cNvSpPr>
            <a:spLocks noChangeShapeType="1"/>
          </p:cNvSpPr>
          <p:nvPr/>
        </p:nvSpPr>
        <p:spPr bwMode="auto">
          <a:xfrm flipV="1">
            <a:off x="1021374" y="2000251"/>
            <a:ext cx="1836126" cy="1533525"/>
          </a:xfrm>
          <a:prstGeom prst="line">
            <a:avLst/>
          </a:prstGeom>
          <a:noFill/>
          <a:ln w="9525">
            <a:solidFill>
              <a:schemeClr val="accent2"/>
            </a:solidFill>
            <a:round/>
            <a:headEnd/>
            <a:tailEnd/>
          </a:ln>
        </p:spPr>
        <p:txBody>
          <a:bodyPr wrap="none" anchor="ctr"/>
          <a:lstStyle/>
          <a:p>
            <a:endParaRPr lang="ko-KR" altLang="en-US" dirty="0"/>
          </a:p>
        </p:txBody>
      </p:sp>
      <p:pic>
        <p:nvPicPr>
          <p:cNvPr id="207881" name="Picture 9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67962" y="3071813"/>
            <a:ext cx="296008" cy="482600"/>
          </a:xfrm>
          <a:prstGeom prst="rect">
            <a:avLst/>
          </a:prstGeom>
          <a:noFill/>
          <a:ln w="9525">
            <a:noFill/>
            <a:miter lim="800000"/>
            <a:headEnd/>
            <a:tailEnd/>
          </a:ln>
        </p:spPr>
      </p:pic>
      <p:pic>
        <p:nvPicPr>
          <p:cNvPr id="207882" name="Picture 99"/>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24151" y="2611438"/>
            <a:ext cx="296008" cy="482600"/>
          </a:xfrm>
          <a:prstGeom prst="rect">
            <a:avLst/>
          </a:prstGeom>
          <a:noFill/>
          <a:ln w="9525">
            <a:noFill/>
            <a:miter lim="800000"/>
            <a:headEnd/>
            <a:tailEnd/>
          </a:ln>
        </p:spPr>
      </p:pic>
      <p:sp>
        <p:nvSpPr>
          <p:cNvPr id="207883" name="Text Box 100"/>
          <p:cNvSpPr txBox="1">
            <a:spLocks noChangeArrowheads="1"/>
          </p:cNvSpPr>
          <p:nvPr/>
        </p:nvSpPr>
        <p:spPr bwMode="auto">
          <a:xfrm>
            <a:off x="2928926" y="3571877"/>
            <a:ext cx="857256" cy="461665"/>
          </a:xfrm>
          <a:prstGeom prst="rect">
            <a:avLst/>
          </a:prstGeom>
          <a:noFill/>
          <a:ln w="9525" algn="ctr">
            <a:noFill/>
            <a:miter lim="800000"/>
            <a:headEnd/>
            <a:tailEnd/>
          </a:ln>
        </p:spPr>
        <p:txBody>
          <a:bodyPr wrap="square">
            <a:spAutoFit/>
          </a:bodyPr>
          <a:lstStyle/>
          <a:p>
            <a:pPr algn="ctr"/>
            <a:r>
              <a:rPr lang="en-US" altLang="ko-KR" sz="1200" dirty="0">
                <a:latin typeface="맑은 고딕" pitchFamily="50" charset="-127"/>
                <a:ea typeface="맑은 고딕" pitchFamily="50" charset="-127"/>
              </a:rPr>
              <a:t>Reference Value</a:t>
            </a:r>
            <a:endParaRPr lang="ko-KR" altLang="en-US" sz="1200" dirty="0">
              <a:latin typeface="맑은 고딕" pitchFamily="50" charset="-127"/>
              <a:ea typeface="맑은 고딕" pitchFamily="50" charset="-127"/>
            </a:endParaRPr>
          </a:p>
        </p:txBody>
      </p:sp>
      <p:pic>
        <p:nvPicPr>
          <p:cNvPr id="207884" name="Picture 101"/>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130670" y="2841625"/>
            <a:ext cx="296008" cy="482600"/>
          </a:xfrm>
          <a:prstGeom prst="rect">
            <a:avLst/>
          </a:prstGeom>
          <a:noFill/>
          <a:ln w="9525">
            <a:noFill/>
            <a:miter lim="800000"/>
            <a:headEnd/>
            <a:tailEnd/>
          </a:ln>
        </p:spPr>
      </p:pic>
      <p:sp>
        <p:nvSpPr>
          <p:cNvPr id="207885" name="Line 102"/>
          <p:cNvSpPr>
            <a:spLocks noChangeShapeType="1"/>
          </p:cNvSpPr>
          <p:nvPr/>
        </p:nvSpPr>
        <p:spPr bwMode="auto">
          <a:xfrm>
            <a:off x="1601666" y="3665538"/>
            <a:ext cx="1312985" cy="635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86" name="Text Box 103"/>
          <p:cNvSpPr txBox="1">
            <a:spLocks noChangeArrowheads="1"/>
          </p:cNvSpPr>
          <p:nvPr/>
        </p:nvSpPr>
        <p:spPr bwMode="auto">
          <a:xfrm>
            <a:off x="1723293" y="3643314"/>
            <a:ext cx="1129812" cy="274637"/>
          </a:xfrm>
          <a:prstGeom prst="rect">
            <a:avLst/>
          </a:prstGeom>
          <a:noFill/>
          <a:ln w="9525" algn="ctr">
            <a:noFill/>
            <a:miter lim="800000"/>
            <a:headEnd/>
            <a:tailEnd/>
          </a:ln>
        </p:spPr>
        <p:txBody>
          <a:bodyPr>
            <a:spAutoFit/>
          </a:bodyPr>
          <a:lstStyle/>
          <a:p>
            <a:r>
              <a:rPr lang="en-US" altLang="ko-KR" sz="1200" dirty="0">
                <a:solidFill>
                  <a:srgbClr val="FF0000"/>
                </a:solidFill>
                <a:latin typeface="맑은 고딕" pitchFamily="50" charset="-127"/>
                <a:ea typeface="맑은 고딕" pitchFamily="50" charset="-127"/>
              </a:rPr>
              <a:t>Gage Range</a:t>
            </a:r>
          </a:p>
        </p:txBody>
      </p:sp>
      <p:sp>
        <p:nvSpPr>
          <p:cNvPr id="207887" name="Line 104"/>
          <p:cNvSpPr>
            <a:spLocks noChangeShapeType="1"/>
          </p:cNvSpPr>
          <p:nvPr/>
        </p:nvSpPr>
        <p:spPr bwMode="auto">
          <a:xfrm flipV="1">
            <a:off x="1021374" y="2714626"/>
            <a:ext cx="2099896" cy="835025"/>
          </a:xfrm>
          <a:prstGeom prst="line">
            <a:avLst/>
          </a:prstGeom>
          <a:noFill/>
          <a:ln w="9525">
            <a:solidFill>
              <a:schemeClr val="bg1">
                <a:lumMod val="50000"/>
              </a:schemeClr>
            </a:solidFill>
            <a:round/>
            <a:headEnd/>
            <a:tailEnd/>
          </a:ln>
        </p:spPr>
        <p:txBody>
          <a:bodyPr wrap="none" anchor="ctr"/>
          <a:lstStyle/>
          <a:p>
            <a:endParaRPr lang="ko-KR" altLang="en-US" dirty="0"/>
          </a:p>
        </p:txBody>
      </p:sp>
      <p:sp>
        <p:nvSpPr>
          <p:cNvPr id="207888" name="Line 105"/>
          <p:cNvSpPr>
            <a:spLocks noChangeShapeType="1"/>
          </p:cNvSpPr>
          <p:nvPr/>
        </p:nvSpPr>
        <p:spPr bwMode="auto">
          <a:xfrm>
            <a:off x="1652954" y="3009900"/>
            <a:ext cx="0" cy="287338"/>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89" name="Line 106"/>
          <p:cNvSpPr>
            <a:spLocks noChangeShapeType="1"/>
          </p:cNvSpPr>
          <p:nvPr/>
        </p:nvSpPr>
        <p:spPr bwMode="auto">
          <a:xfrm flipH="1">
            <a:off x="2198077" y="2566988"/>
            <a:ext cx="4397" cy="50800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90" name="Line 107"/>
          <p:cNvSpPr>
            <a:spLocks noChangeShapeType="1"/>
          </p:cNvSpPr>
          <p:nvPr/>
        </p:nvSpPr>
        <p:spPr bwMode="auto">
          <a:xfrm>
            <a:off x="2791558" y="2071688"/>
            <a:ext cx="0" cy="78105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91" name="Freeform 108"/>
          <p:cNvSpPr>
            <a:spLocks/>
          </p:cNvSpPr>
          <p:nvPr/>
        </p:nvSpPr>
        <p:spPr bwMode="auto">
          <a:xfrm>
            <a:off x="1011116" y="1928813"/>
            <a:ext cx="2253762" cy="1630362"/>
          </a:xfrm>
          <a:custGeom>
            <a:avLst/>
            <a:gdLst>
              <a:gd name="T0" fmla="*/ 0 w 1134"/>
              <a:gd name="T1" fmla="*/ 0 h 817"/>
              <a:gd name="T2" fmla="*/ 0 w 1134"/>
              <a:gd name="T3" fmla="*/ 817 h 817"/>
              <a:gd name="T4" fmla="*/ 1134 w 1134"/>
              <a:gd name="T5" fmla="*/ 817 h 817"/>
              <a:gd name="T6" fmla="*/ 0 60000 65536"/>
              <a:gd name="T7" fmla="*/ 0 60000 65536"/>
              <a:gd name="T8" fmla="*/ 0 60000 65536"/>
              <a:gd name="T9" fmla="*/ 0 w 1134"/>
              <a:gd name="T10" fmla="*/ 0 h 817"/>
              <a:gd name="T11" fmla="*/ 1134 w 1134"/>
              <a:gd name="T12" fmla="*/ 817 h 817"/>
            </a:gdLst>
            <a:ahLst/>
            <a:cxnLst>
              <a:cxn ang="T6">
                <a:pos x="T0" y="T1"/>
              </a:cxn>
              <a:cxn ang="T7">
                <a:pos x="T2" y="T3"/>
              </a:cxn>
              <a:cxn ang="T8">
                <a:pos x="T4" y="T5"/>
              </a:cxn>
            </a:cxnLst>
            <a:rect l="T9" t="T10" r="T11" b="T12"/>
            <a:pathLst>
              <a:path w="1134" h="817">
                <a:moveTo>
                  <a:pt x="0" y="0"/>
                </a:moveTo>
                <a:lnTo>
                  <a:pt x="0" y="817"/>
                </a:lnTo>
                <a:lnTo>
                  <a:pt x="1134" y="817"/>
                </a:lnTo>
              </a:path>
            </a:pathLst>
          </a:custGeom>
          <a:noFill/>
          <a:ln w="9525">
            <a:solidFill>
              <a:schemeClr val="bg1">
                <a:lumMod val="50000"/>
              </a:schemeClr>
            </a:solidFill>
            <a:round/>
            <a:headEnd type="triangle" w="med" len="med"/>
            <a:tailEnd type="triangle" w="med" len="med"/>
          </a:ln>
        </p:spPr>
        <p:txBody>
          <a:bodyPr wrap="none" anchor="ctr"/>
          <a:lstStyle/>
          <a:p>
            <a:endParaRPr lang="ko-KR" altLang="en-US" dirty="0"/>
          </a:p>
        </p:txBody>
      </p:sp>
      <p:sp>
        <p:nvSpPr>
          <p:cNvPr id="207892" name="Text Box 109"/>
          <p:cNvSpPr txBox="1">
            <a:spLocks noChangeArrowheads="1"/>
          </p:cNvSpPr>
          <p:nvPr/>
        </p:nvSpPr>
        <p:spPr bwMode="auto">
          <a:xfrm>
            <a:off x="2725616" y="2233614"/>
            <a:ext cx="861133" cy="276999"/>
          </a:xfrm>
          <a:prstGeom prst="rect">
            <a:avLst/>
          </a:prstGeom>
          <a:noFill/>
          <a:ln w="9525" algn="ctr">
            <a:noFill/>
            <a:miter lim="800000"/>
            <a:headEnd/>
            <a:tailEnd/>
          </a:ln>
        </p:spPr>
        <p:txBody>
          <a:bodyPr wrap="none">
            <a:spAutoFit/>
          </a:bodyPr>
          <a:lstStyle/>
          <a:p>
            <a:r>
              <a:rPr lang="ko-KR" altLang="en-US" sz="1200" dirty="0">
                <a:solidFill>
                  <a:srgbClr val="FF0000"/>
                </a:solidFill>
                <a:latin typeface="맑은 고딕" pitchFamily="50" charset="-127"/>
                <a:ea typeface="맑은 고딕" pitchFamily="50" charset="-127"/>
              </a:rPr>
              <a:t>편의</a:t>
            </a:r>
            <a:r>
              <a:rPr lang="en-US" altLang="ko-KR" sz="1200" dirty="0">
                <a:solidFill>
                  <a:srgbClr val="FF0000"/>
                </a:solidFill>
                <a:latin typeface="맑은 고딕" pitchFamily="50" charset="-127"/>
                <a:ea typeface="맑은 고딕" pitchFamily="50" charset="-127"/>
              </a:rPr>
              <a:t>(Bias)</a:t>
            </a:r>
            <a:endParaRPr lang="ko-KR" altLang="en-US" sz="1200" dirty="0">
              <a:solidFill>
                <a:srgbClr val="FF0000"/>
              </a:solidFill>
              <a:latin typeface="맑은 고딕" pitchFamily="50" charset="-127"/>
              <a:ea typeface="맑은 고딕" pitchFamily="50" charset="-127"/>
            </a:endParaRPr>
          </a:p>
        </p:txBody>
      </p:sp>
      <p:sp>
        <p:nvSpPr>
          <p:cNvPr id="207893" name="Text Box 110"/>
          <p:cNvSpPr txBox="1">
            <a:spLocks noChangeArrowheads="1"/>
          </p:cNvSpPr>
          <p:nvPr/>
        </p:nvSpPr>
        <p:spPr bwMode="auto">
          <a:xfrm>
            <a:off x="2143108" y="2610145"/>
            <a:ext cx="861133" cy="461665"/>
          </a:xfrm>
          <a:prstGeom prst="rect">
            <a:avLst/>
          </a:prstGeom>
          <a:noFill/>
          <a:ln w="9525" algn="ctr">
            <a:noFill/>
            <a:miter lim="800000"/>
            <a:headEnd/>
            <a:tailEnd/>
          </a:ln>
        </p:spPr>
        <p:txBody>
          <a:bodyPr wrap="none">
            <a:spAutoFit/>
          </a:bodyPr>
          <a:lstStyle/>
          <a:p>
            <a:r>
              <a:rPr lang="ko-KR" altLang="en-US" sz="1200" dirty="0">
                <a:solidFill>
                  <a:srgbClr val="FF0000"/>
                </a:solidFill>
                <a:latin typeface="맑은 고딕" pitchFamily="50" charset="-127"/>
                <a:ea typeface="맑은 고딕" pitchFamily="50" charset="-127"/>
              </a:rPr>
              <a:t>편의</a:t>
            </a:r>
            <a:r>
              <a:rPr lang="en-US" altLang="ko-KR" sz="1200" dirty="0">
                <a:solidFill>
                  <a:srgbClr val="FF0000"/>
                </a:solidFill>
                <a:latin typeface="맑은 고딕" pitchFamily="50" charset="-127"/>
                <a:ea typeface="맑은 고딕" pitchFamily="50" charset="-127"/>
              </a:rPr>
              <a:t>(Bias)</a:t>
            </a:r>
            <a:endParaRPr lang="ko-KR" altLang="en-US" sz="1200" dirty="0">
              <a:solidFill>
                <a:srgbClr val="FF0000"/>
              </a:solidFill>
              <a:latin typeface="맑은 고딕" pitchFamily="50" charset="-127"/>
              <a:ea typeface="맑은 고딕" pitchFamily="50" charset="-127"/>
            </a:endParaRPr>
          </a:p>
          <a:p>
            <a:endParaRPr lang="ko-KR" altLang="en-US" sz="1200" dirty="0">
              <a:solidFill>
                <a:srgbClr val="FF0000"/>
              </a:solidFill>
              <a:latin typeface="맑은 고딕" pitchFamily="50" charset="-127"/>
              <a:ea typeface="맑은 고딕" pitchFamily="50" charset="-127"/>
            </a:endParaRPr>
          </a:p>
        </p:txBody>
      </p:sp>
      <p:sp>
        <p:nvSpPr>
          <p:cNvPr id="207894" name="Text Box 111"/>
          <p:cNvSpPr txBox="1">
            <a:spLocks noChangeArrowheads="1"/>
          </p:cNvSpPr>
          <p:nvPr/>
        </p:nvSpPr>
        <p:spPr bwMode="auto">
          <a:xfrm>
            <a:off x="1604597" y="3080563"/>
            <a:ext cx="861133" cy="276999"/>
          </a:xfrm>
          <a:prstGeom prst="rect">
            <a:avLst/>
          </a:prstGeom>
          <a:noFill/>
          <a:ln w="9525" algn="ctr">
            <a:noFill/>
            <a:miter lim="800000"/>
            <a:headEnd/>
            <a:tailEnd/>
          </a:ln>
        </p:spPr>
        <p:txBody>
          <a:bodyPr wrap="none">
            <a:spAutoFit/>
          </a:bodyPr>
          <a:lstStyle/>
          <a:p>
            <a:r>
              <a:rPr lang="ko-KR" altLang="en-US" sz="1200" dirty="0">
                <a:solidFill>
                  <a:srgbClr val="FF0000"/>
                </a:solidFill>
                <a:latin typeface="맑은 고딕" pitchFamily="50" charset="-127"/>
                <a:ea typeface="맑은 고딕" pitchFamily="50" charset="-127"/>
              </a:rPr>
              <a:t>편의</a:t>
            </a:r>
            <a:r>
              <a:rPr lang="en-US" altLang="ko-KR" sz="1200" dirty="0">
                <a:solidFill>
                  <a:srgbClr val="FF0000"/>
                </a:solidFill>
                <a:latin typeface="맑은 고딕" pitchFamily="50" charset="-127"/>
                <a:ea typeface="맑은 고딕" pitchFamily="50" charset="-127"/>
              </a:rPr>
              <a:t>(Bias)</a:t>
            </a:r>
            <a:endParaRPr lang="ko-KR" altLang="en-US" sz="1200" dirty="0">
              <a:solidFill>
                <a:srgbClr val="FF0000"/>
              </a:solidFill>
              <a:latin typeface="맑은 고딕" pitchFamily="50" charset="-127"/>
              <a:ea typeface="맑은 고딕" pitchFamily="50" charset="-127"/>
            </a:endParaRPr>
          </a:p>
        </p:txBody>
      </p:sp>
      <p:pic>
        <p:nvPicPr>
          <p:cNvPr id="207895" name="Picture 132"/>
          <p:cNvPicPr>
            <a:picLocks noChangeAspect="1" noChangeArrowheads="1"/>
          </p:cNvPicPr>
          <p:nvPr/>
        </p:nvPicPr>
        <p:blipFill>
          <a:blip r:embed="rId3" cstate="print">
            <a:extLst>
              <a:ext uri="{28A0092B-C50C-407E-A947-70E740481C1C}">
                <a14:useLocalDpi xmlns:a14="http://schemas.microsoft.com/office/drawing/2010/main" val="0"/>
              </a:ext>
            </a:extLst>
          </a:blip>
          <a:srcRect l="1250" t="4059" r="6790" b="3961"/>
          <a:stretch>
            <a:fillRect/>
          </a:stretch>
        </p:blipFill>
        <p:spPr bwMode="auto">
          <a:xfrm>
            <a:off x="3774831" y="1556792"/>
            <a:ext cx="4907574" cy="1676400"/>
          </a:xfrm>
          <a:prstGeom prst="rect">
            <a:avLst/>
          </a:prstGeom>
          <a:noFill/>
          <a:ln w="9525" algn="ctr">
            <a:noFill/>
            <a:miter lim="800000"/>
            <a:headEnd/>
            <a:tailEnd/>
          </a:ln>
        </p:spPr>
      </p:pic>
      <p:sp>
        <p:nvSpPr>
          <p:cNvPr id="207896" name="Text Box 129"/>
          <p:cNvSpPr txBox="1">
            <a:spLocks noChangeArrowheads="1"/>
          </p:cNvSpPr>
          <p:nvPr/>
        </p:nvSpPr>
        <p:spPr bwMode="auto">
          <a:xfrm>
            <a:off x="3779912" y="3357562"/>
            <a:ext cx="5149806" cy="1015663"/>
          </a:xfrm>
          <a:prstGeom prst="rect">
            <a:avLst/>
          </a:prstGeom>
          <a:noFill/>
          <a:ln w="9525" algn="ctr">
            <a:noFill/>
            <a:miter lim="800000"/>
            <a:headEnd/>
            <a:tailEnd/>
          </a:ln>
        </p:spPr>
        <p:txBody>
          <a:bodyPr wrap="square">
            <a:spAutoFit/>
          </a:bodyPr>
          <a:lstStyle/>
          <a:p>
            <a:pPr>
              <a:buFont typeface="Arial" pitchFamily="34" charset="0"/>
              <a:buChar char="•"/>
            </a:pPr>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Criterion for judging of Linearity</a:t>
            </a:r>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a:t>
            </a:r>
          </a:p>
          <a:p>
            <a:r>
              <a:rPr lang="en-US" altLang="ko-KR" sz="1200" b="1" dirty="0">
                <a:solidFill>
                  <a:srgbClr val="00B050"/>
                </a:solidFill>
                <a:latin typeface="맑은 고딕" pitchFamily="50" charset="-127"/>
                <a:ea typeface="맑은 고딕" pitchFamily="50" charset="-127"/>
              </a:rPr>
              <a:t>   (1) Slope, under given significance level = 0 is not significant</a:t>
            </a:r>
          </a:p>
          <a:p>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(2) %Linearity &lt; 5(%)</a:t>
            </a:r>
          </a:p>
          <a:p>
            <a:r>
              <a:rPr lang="en-US" altLang="ko-KR" sz="1200" b="1" dirty="0">
                <a:solidFill>
                  <a:srgbClr val="00B050"/>
                </a:solidFill>
                <a:latin typeface="맑은 고딕" pitchFamily="50" charset="-127"/>
                <a:ea typeface="맑은 고딕" pitchFamily="50" charset="-127"/>
              </a:rPr>
              <a:t>   (3) Under the given significance level, the bias of individual                points is insignificant.</a:t>
            </a:r>
            <a:endParaRPr lang="ko-KR" altLang="en-US" sz="1200" b="1" dirty="0">
              <a:solidFill>
                <a:srgbClr val="00B050"/>
              </a:solidFill>
              <a:latin typeface="맑은 고딕" pitchFamily="50" charset="-127"/>
              <a:ea typeface="맑은 고딕" pitchFamily="50" charset="-127"/>
            </a:endParaRPr>
          </a:p>
        </p:txBody>
      </p:sp>
      <p:sp>
        <p:nvSpPr>
          <p:cNvPr id="207897" name="직사각형 29"/>
          <p:cNvSpPr>
            <a:spLocks noChangeArrowheads="1"/>
          </p:cNvSpPr>
          <p:nvPr/>
        </p:nvSpPr>
        <p:spPr bwMode="auto">
          <a:xfrm>
            <a:off x="615462" y="4543206"/>
            <a:ext cx="8170314" cy="1815882"/>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latin typeface="맑은 고딕" pitchFamily="50" charset="-127"/>
                <a:ea typeface="맑은 고딕" pitchFamily="50" charset="-127"/>
              </a:rPr>
              <a:t> </a:t>
            </a:r>
            <a:r>
              <a:rPr lang="en-US" altLang="ko-KR" sz="1400" b="1" dirty="0">
                <a:latin typeface="맑은 고딕" pitchFamily="50" charset="-127"/>
                <a:ea typeface="맑은 고딕" pitchFamily="50" charset="-127"/>
              </a:rPr>
              <a:t>Linearity verification method</a:t>
            </a:r>
          </a:p>
          <a:p>
            <a:pPr>
              <a:buFont typeface="Arial" pitchFamily="34" charset="0"/>
              <a:buChar char="•"/>
            </a:pP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One evaluator execute from a traceable reference sample </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sz="1400" dirty="0"/>
              <a:t>Select a measurable position in the Gage(at least 3 points, low, middle, high)</a:t>
            </a:r>
          </a:p>
          <a:p>
            <a:r>
              <a:rPr lang="en-US" sz="1400" dirty="0"/>
              <a:t>   from the general range of variability of the part / product that can be observed in the process,</a:t>
            </a:r>
          </a:p>
          <a:p>
            <a:r>
              <a:rPr lang="en-US" sz="1400" dirty="0"/>
              <a:t>   and measure it repeatedly(12 to 16 times).</a:t>
            </a:r>
            <a:endParaRPr lang="ko-KR" altLang="en-US" sz="1400" dirty="0"/>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sz="1400" b="1" dirty="0"/>
              <a:t>Regression analysis of bias showed that the slope was not statistically significant</a:t>
            </a: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sz="1400" dirty="0"/>
              <a:t>Verify that all% Bias = "0" at individual points are statistically insignificant</a:t>
            </a:r>
            <a:endParaRPr lang="ko-KR" altLang="en-US" sz="1400" dirty="0">
              <a:latin typeface="맑은 고딕" pitchFamily="50" charset="-127"/>
              <a:ea typeface="맑은 고딕" pitchFamily="50" charset="-127"/>
            </a:endParaRP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a:t>
            </a:fld>
            <a:endParaRPr lang="ko-KR" altLang="en-US" dirty="0"/>
          </a:p>
        </p:txBody>
      </p:sp>
    </p:spTree>
    <p:extLst>
      <p:ext uri="{BB962C8B-B14F-4D97-AF65-F5344CB8AC3E}">
        <p14:creationId xmlns:p14="http://schemas.microsoft.com/office/powerpoint/2010/main" val="332064599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chính</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xác</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Độ</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chênh</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lệch</a:t>
            </a:r>
            <a:r>
              <a:rPr lang="en-US" altLang="ko-KR" sz="1600" b="1" kern="0" dirty="0">
                <a:solidFill>
                  <a:sysClr val="windowText" lastClr="000000">
                    <a:lumMod val="75000"/>
                    <a:lumOff val="25000"/>
                  </a:sysClr>
                </a:solidFill>
                <a:latin typeface="맑은 고딕" pitchFamily="50" charset="-127"/>
                <a:ea typeface="맑은 고딕" pitchFamily="50" charset="-127"/>
              </a:rPr>
              <a:t>/</a:t>
            </a:r>
            <a:r>
              <a:rPr lang="en-US" altLang="ko-KR" sz="1600" b="1" kern="0" dirty="0" err="1">
                <a:solidFill>
                  <a:sysClr val="windowText" lastClr="000000">
                    <a:lumMod val="75000"/>
                    <a:lumOff val="25000"/>
                  </a:sysClr>
                </a:solidFill>
                <a:latin typeface="맑은 고딕" pitchFamily="50" charset="-127"/>
                <a:ea typeface="맑은 고딕" pitchFamily="50" charset="-127"/>
              </a:rPr>
              <a:t>Độ</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lệch</a:t>
            </a:r>
            <a:endParaRPr lang="ko-KR" altLang="en-US" sz="1600" b="1" kern="0" dirty="0">
              <a:solidFill>
                <a:srgbClr val="000000"/>
              </a:solidFill>
              <a:latin typeface="맑은 고딕"/>
              <a:ea typeface="맑은 고딕"/>
            </a:endParaRPr>
          </a:p>
        </p:txBody>
      </p:sp>
      <p:pic>
        <p:nvPicPr>
          <p:cNvPr id="206851" name="Picture 73"/>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39362" y="2071688"/>
            <a:ext cx="1948962" cy="1428750"/>
          </a:xfrm>
          <a:prstGeom prst="rect">
            <a:avLst/>
          </a:prstGeom>
          <a:noFill/>
          <a:ln w="9525">
            <a:noFill/>
            <a:miter lim="800000"/>
            <a:headEnd/>
            <a:tailEnd/>
          </a:ln>
        </p:spPr>
      </p:pic>
      <p:sp>
        <p:nvSpPr>
          <p:cNvPr id="206852" name="Line 74"/>
          <p:cNvSpPr>
            <a:spLocks noChangeShapeType="1"/>
          </p:cNvSpPr>
          <p:nvPr/>
        </p:nvSpPr>
        <p:spPr bwMode="auto">
          <a:xfrm>
            <a:off x="1206012" y="1835151"/>
            <a:ext cx="0" cy="1643063"/>
          </a:xfrm>
          <a:prstGeom prst="line">
            <a:avLst/>
          </a:prstGeom>
          <a:noFill/>
          <a:ln w="9525">
            <a:solidFill>
              <a:schemeClr val="bg1">
                <a:lumMod val="50000"/>
              </a:schemeClr>
            </a:solidFill>
            <a:round/>
            <a:headEnd/>
            <a:tailEnd/>
          </a:ln>
        </p:spPr>
        <p:txBody>
          <a:bodyPr wrap="none" anchor="ctr"/>
          <a:lstStyle/>
          <a:p>
            <a:endParaRPr lang="ko-KR" altLang="en-US" dirty="0"/>
          </a:p>
        </p:txBody>
      </p:sp>
      <p:sp>
        <p:nvSpPr>
          <p:cNvPr id="206853" name="Text Box 75"/>
          <p:cNvSpPr txBox="1">
            <a:spLocks noChangeArrowheads="1"/>
          </p:cNvSpPr>
          <p:nvPr/>
        </p:nvSpPr>
        <p:spPr bwMode="auto">
          <a:xfrm>
            <a:off x="539552" y="3501008"/>
            <a:ext cx="1253869" cy="400110"/>
          </a:xfrm>
          <a:prstGeom prst="rect">
            <a:avLst/>
          </a:prstGeom>
          <a:noFill/>
          <a:ln w="9525" algn="ctr">
            <a:noFill/>
            <a:miter lim="800000"/>
            <a:headEnd/>
            <a:tailEnd/>
          </a:ln>
        </p:spPr>
        <p:txBody>
          <a:bodyPr wrap="none">
            <a:spAutoFit/>
          </a:bodyPr>
          <a:lstStyle/>
          <a:p>
            <a:pPr algn="ctr"/>
            <a:r>
              <a:rPr lang="en-US" altLang="ko-KR" sz="1000" b="1" dirty="0" err="1">
                <a:latin typeface="맑은 고딕" pitchFamily="50" charset="-127"/>
                <a:ea typeface="맑은 고딕" pitchFamily="50" charset="-127"/>
              </a:rPr>
              <a:t>Giá</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trị</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tiêu</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chuẩn</a:t>
            </a:r>
            <a:endParaRPr lang="en-US" altLang="ko-KR" sz="1000" b="1" dirty="0">
              <a:latin typeface="맑은 고딕" pitchFamily="50" charset="-127"/>
              <a:ea typeface="맑은 고딕" pitchFamily="50" charset="-127"/>
            </a:endParaRPr>
          </a:p>
          <a:p>
            <a:pPr algn="ctr"/>
            <a:r>
              <a:rPr lang="en-US" altLang="ko-KR" sz="1000" b="1" dirty="0">
                <a:latin typeface="맑은 고딕" pitchFamily="50" charset="-127"/>
                <a:ea typeface="맑은 고딕" pitchFamily="50" charset="-127"/>
              </a:rPr>
              <a:t>(</a:t>
            </a:r>
            <a:r>
              <a:rPr lang="en-US" altLang="ko-KR" sz="1000" b="1" dirty="0" err="1">
                <a:latin typeface="맑은 고딕" pitchFamily="50" charset="-127"/>
                <a:ea typeface="맑은 고딕" pitchFamily="50" charset="-127"/>
              </a:rPr>
              <a:t>Giá</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trị</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thật</a:t>
            </a:r>
            <a:r>
              <a:rPr lang="en-US" altLang="ko-KR" sz="1000" b="1" dirty="0">
                <a:latin typeface="맑은 고딕" pitchFamily="50" charset="-127"/>
                <a:ea typeface="맑은 고딕" pitchFamily="50" charset="-127"/>
              </a:rPr>
              <a:t>)</a:t>
            </a:r>
            <a:endParaRPr lang="ko-KR" altLang="en-US" sz="1000" b="1" dirty="0">
              <a:latin typeface="맑은 고딕" pitchFamily="50" charset="-127"/>
              <a:ea typeface="맑은 고딕" pitchFamily="50" charset="-127"/>
            </a:endParaRPr>
          </a:p>
        </p:txBody>
      </p:sp>
      <p:sp>
        <p:nvSpPr>
          <p:cNvPr id="206854" name="Text Box 76"/>
          <p:cNvSpPr txBox="1">
            <a:spLocks noChangeArrowheads="1"/>
          </p:cNvSpPr>
          <p:nvPr/>
        </p:nvSpPr>
        <p:spPr bwMode="auto">
          <a:xfrm>
            <a:off x="1691680" y="3501008"/>
            <a:ext cx="1859803" cy="246221"/>
          </a:xfrm>
          <a:prstGeom prst="rect">
            <a:avLst/>
          </a:prstGeom>
          <a:noFill/>
          <a:ln w="9525" algn="ctr">
            <a:noFill/>
            <a:miter lim="800000"/>
            <a:headEnd/>
            <a:tailEnd/>
          </a:ln>
        </p:spPr>
        <p:txBody>
          <a:bodyPr wrap="none">
            <a:spAutoFit/>
          </a:bodyPr>
          <a:lstStyle/>
          <a:p>
            <a:pPr algn="ctr"/>
            <a:r>
              <a:rPr lang="en-US" altLang="ko-KR" sz="1000" b="1" dirty="0" err="1">
                <a:latin typeface="맑은 고딕" pitchFamily="50" charset="-127"/>
                <a:ea typeface="맑은 고딕" pitchFamily="50" charset="-127"/>
              </a:rPr>
              <a:t>Giá</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trị</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đo</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lường</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bình</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quân</a:t>
            </a:r>
            <a:endParaRPr lang="en-US" altLang="ko-KR" sz="1000" b="1" dirty="0">
              <a:latin typeface="맑은 고딕" pitchFamily="50" charset="-127"/>
              <a:ea typeface="맑은 고딕" pitchFamily="50" charset="-127"/>
            </a:endParaRPr>
          </a:p>
        </p:txBody>
      </p:sp>
      <p:sp>
        <p:nvSpPr>
          <p:cNvPr id="206855" name="Oval 77"/>
          <p:cNvSpPr>
            <a:spLocks noChangeArrowheads="1"/>
          </p:cNvSpPr>
          <p:nvPr/>
        </p:nvSpPr>
        <p:spPr bwMode="auto">
          <a:xfrm>
            <a:off x="1802424"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6" name="Oval 78"/>
          <p:cNvSpPr>
            <a:spLocks noChangeArrowheads="1"/>
          </p:cNvSpPr>
          <p:nvPr/>
        </p:nvSpPr>
        <p:spPr bwMode="auto">
          <a:xfrm>
            <a:off x="1970943" y="3338514"/>
            <a:ext cx="86457"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7" name="Oval 79"/>
          <p:cNvSpPr>
            <a:spLocks noChangeArrowheads="1"/>
          </p:cNvSpPr>
          <p:nvPr/>
        </p:nvSpPr>
        <p:spPr bwMode="auto">
          <a:xfrm>
            <a:off x="2236178"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8" name="Oval 80"/>
          <p:cNvSpPr>
            <a:spLocks noChangeArrowheads="1"/>
          </p:cNvSpPr>
          <p:nvPr/>
        </p:nvSpPr>
        <p:spPr bwMode="auto">
          <a:xfrm>
            <a:off x="2762251"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59" name="Oval 81"/>
          <p:cNvSpPr>
            <a:spLocks noChangeArrowheads="1"/>
          </p:cNvSpPr>
          <p:nvPr/>
        </p:nvSpPr>
        <p:spPr bwMode="auto">
          <a:xfrm>
            <a:off x="1802424" y="3200400"/>
            <a:ext cx="84992"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0" name="Oval 82"/>
          <p:cNvSpPr>
            <a:spLocks noChangeArrowheads="1"/>
          </p:cNvSpPr>
          <p:nvPr/>
        </p:nvSpPr>
        <p:spPr bwMode="auto">
          <a:xfrm>
            <a:off x="1970943" y="3200400"/>
            <a:ext cx="86457"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1" name="Oval 83"/>
          <p:cNvSpPr>
            <a:spLocks noChangeArrowheads="1"/>
          </p:cNvSpPr>
          <p:nvPr/>
        </p:nvSpPr>
        <p:spPr bwMode="auto">
          <a:xfrm>
            <a:off x="2236178" y="3200400"/>
            <a:ext cx="84992"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2" name="Oval 84"/>
          <p:cNvSpPr>
            <a:spLocks noChangeArrowheads="1"/>
          </p:cNvSpPr>
          <p:nvPr/>
        </p:nvSpPr>
        <p:spPr bwMode="auto">
          <a:xfrm>
            <a:off x="2762251" y="3200400"/>
            <a:ext cx="84992"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3" name="Oval 85"/>
          <p:cNvSpPr>
            <a:spLocks noChangeArrowheads="1"/>
          </p:cNvSpPr>
          <p:nvPr/>
        </p:nvSpPr>
        <p:spPr bwMode="auto">
          <a:xfrm>
            <a:off x="2242039" y="30622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4" name="Oval 86"/>
          <p:cNvSpPr>
            <a:spLocks noChangeArrowheads="1"/>
          </p:cNvSpPr>
          <p:nvPr/>
        </p:nvSpPr>
        <p:spPr bwMode="auto">
          <a:xfrm>
            <a:off x="2101362" y="3200400"/>
            <a:ext cx="84992" cy="109538"/>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5" name="Oval 87"/>
          <p:cNvSpPr>
            <a:spLocks noChangeArrowheads="1"/>
          </p:cNvSpPr>
          <p:nvPr/>
        </p:nvSpPr>
        <p:spPr bwMode="auto">
          <a:xfrm>
            <a:off x="1981201" y="30622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6" name="Oval 88"/>
          <p:cNvSpPr>
            <a:spLocks noChangeArrowheads="1"/>
          </p:cNvSpPr>
          <p:nvPr/>
        </p:nvSpPr>
        <p:spPr bwMode="auto">
          <a:xfrm>
            <a:off x="1883020" y="3262314"/>
            <a:ext cx="86457"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7" name="Oval 89"/>
          <p:cNvSpPr>
            <a:spLocks noChangeArrowheads="1"/>
          </p:cNvSpPr>
          <p:nvPr/>
        </p:nvSpPr>
        <p:spPr bwMode="auto">
          <a:xfrm>
            <a:off x="2101362"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68" name="Line 90"/>
          <p:cNvSpPr>
            <a:spLocks noChangeShapeType="1"/>
          </p:cNvSpPr>
          <p:nvPr/>
        </p:nvSpPr>
        <p:spPr bwMode="auto">
          <a:xfrm>
            <a:off x="1227992" y="2428875"/>
            <a:ext cx="1055077" cy="0"/>
          </a:xfrm>
          <a:prstGeom prst="line">
            <a:avLst/>
          </a:prstGeom>
          <a:noFill/>
          <a:ln w="9525">
            <a:solidFill>
              <a:srgbClr val="FF0000"/>
            </a:solidFill>
            <a:round/>
            <a:headEnd type="triangle" w="med" len="med"/>
            <a:tailEnd type="triangle" w="med" len="med"/>
          </a:ln>
        </p:spPr>
        <p:txBody>
          <a:bodyPr wrap="none" anchor="ctr"/>
          <a:lstStyle/>
          <a:p>
            <a:endParaRPr lang="ko-KR" altLang="en-US" dirty="0"/>
          </a:p>
        </p:txBody>
      </p:sp>
      <p:sp>
        <p:nvSpPr>
          <p:cNvPr id="206869" name="Text Box 91"/>
          <p:cNvSpPr txBox="1">
            <a:spLocks noChangeArrowheads="1"/>
          </p:cNvSpPr>
          <p:nvPr/>
        </p:nvSpPr>
        <p:spPr bwMode="auto">
          <a:xfrm>
            <a:off x="1513743" y="2130426"/>
            <a:ext cx="720069" cy="276999"/>
          </a:xfrm>
          <a:prstGeom prst="rect">
            <a:avLst/>
          </a:prstGeom>
          <a:noFill/>
          <a:ln w="9525" algn="ctr">
            <a:noFill/>
            <a:miter lim="800000"/>
            <a:headEnd/>
            <a:tailEnd/>
          </a:ln>
        </p:spPr>
        <p:txBody>
          <a:bodyPr wrap="none">
            <a:spAutoFit/>
          </a:bodyPr>
          <a:lstStyle/>
          <a:p>
            <a:r>
              <a:rPr lang="en-US" altLang="ko-KR" sz="1200" dirty="0" err="1">
                <a:solidFill>
                  <a:srgbClr val="FF0000"/>
                </a:solidFill>
                <a:latin typeface="맑은 고딕" pitchFamily="50" charset="-127"/>
                <a:ea typeface="맑은 고딕" pitchFamily="50" charset="-127"/>
              </a:rPr>
              <a:t>Độ</a:t>
            </a:r>
            <a:r>
              <a:rPr lang="en-US" altLang="ko-KR" sz="1200" dirty="0">
                <a:solidFill>
                  <a:srgbClr val="FF0000"/>
                </a:solidFill>
                <a:latin typeface="맑은 고딕" pitchFamily="50" charset="-127"/>
                <a:ea typeface="맑은 고딕" pitchFamily="50" charset="-127"/>
              </a:rPr>
              <a:t> </a:t>
            </a:r>
            <a:r>
              <a:rPr lang="en-US" altLang="ko-KR" sz="1200" dirty="0" err="1">
                <a:solidFill>
                  <a:srgbClr val="FF0000"/>
                </a:solidFill>
                <a:latin typeface="맑은 고딕" pitchFamily="50" charset="-127"/>
                <a:ea typeface="맑은 고딕" pitchFamily="50" charset="-127"/>
              </a:rPr>
              <a:t>lệch</a:t>
            </a:r>
            <a:endParaRPr lang="ko-KR" altLang="en-US" sz="1200" dirty="0">
              <a:solidFill>
                <a:srgbClr val="FF0000"/>
              </a:solidFill>
              <a:latin typeface="맑은 고딕" pitchFamily="50" charset="-127"/>
              <a:ea typeface="맑은 고딕" pitchFamily="50" charset="-127"/>
            </a:endParaRPr>
          </a:p>
        </p:txBody>
      </p:sp>
      <p:sp>
        <p:nvSpPr>
          <p:cNvPr id="206870" name="Rectangle 92"/>
          <p:cNvSpPr>
            <a:spLocks noChangeArrowheads="1"/>
          </p:cNvSpPr>
          <p:nvPr/>
        </p:nvSpPr>
        <p:spPr bwMode="auto">
          <a:xfrm>
            <a:off x="602274" y="1571626"/>
            <a:ext cx="3046534" cy="2500313"/>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6871" name="Text Box 129"/>
          <p:cNvSpPr txBox="1">
            <a:spLocks noChangeArrowheads="1"/>
          </p:cNvSpPr>
          <p:nvPr/>
        </p:nvSpPr>
        <p:spPr bwMode="auto">
          <a:xfrm>
            <a:off x="3703111" y="3392488"/>
            <a:ext cx="5261377" cy="646331"/>
          </a:xfrm>
          <a:prstGeom prst="rect">
            <a:avLst/>
          </a:prstGeom>
          <a:noFill/>
          <a:ln w="9525" algn="ctr">
            <a:noFill/>
            <a:miter lim="800000"/>
            <a:headEnd/>
            <a:tailEnd/>
          </a:ln>
        </p:spPr>
        <p:txBody>
          <a:bodyPr wrap="none">
            <a:spAutoFit/>
          </a:bodyPr>
          <a:lstStyle/>
          <a:p>
            <a:pPr>
              <a:buFont typeface="Arial" pitchFamily="34" charset="0"/>
              <a:buChar char="•"/>
            </a:pPr>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của</a:t>
            </a:r>
            <a:r>
              <a:rPr lang="en-US" altLang="ko-KR" sz="1200" b="1" dirty="0">
                <a:latin typeface="맑은 고딕" pitchFamily="50" charset="-127"/>
                <a:ea typeface="맑은 고딕" pitchFamily="50" charset="-127"/>
              </a:rPr>
              <a:t> Bias</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 (1) </a:t>
            </a:r>
            <a:r>
              <a:rPr lang="en-US" altLang="ko-KR" sz="1200" b="1" dirty="0" err="1">
                <a:latin typeface="맑은 고딕" pitchFamily="50" charset="-127"/>
                <a:ea typeface="맑은 고딕" pitchFamily="50" charset="-127"/>
              </a:rPr>
              <a:t>Dưới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lưu</a:t>
            </a:r>
            <a:r>
              <a:rPr lang="en-US" altLang="ko-KR" sz="1200" b="1" dirty="0">
                <a:latin typeface="맑은 고딕" pitchFamily="50" charset="-127"/>
                <a:ea typeface="맑은 고딕" pitchFamily="50" charset="-127"/>
              </a:rPr>
              <a:t> ý </a:t>
            </a:r>
            <a:r>
              <a:rPr lang="en-US" altLang="ko-KR" sz="1200" b="1" dirty="0" err="1">
                <a:latin typeface="맑은 고딕" pitchFamily="50" charset="-127"/>
                <a:ea typeface="맑은 고딕" pitchFamily="50" charset="-127"/>
              </a:rPr>
              <a:t>được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cho</a:t>
            </a:r>
            <a:endParaRPr lang="ko-KR" altLang="en-US" sz="1200" b="1" dirty="0">
              <a:latin typeface="맑은 고딕" pitchFamily="50" charset="-127"/>
              <a:ea typeface="맑은 고딕" pitchFamily="50" charset="-127"/>
            </a:endParaRPr>
          </a:p>
          <a:p>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Giả</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thuyết</a:t>
            </a:r>
            <a:r>
              <a:rPr lang="en-US" altLang="ko-KR" sz="1200" b="1" dirty="0">
                <a:latin typeface="맑은 고딕" pitchFamily="50" charset="-127"/>
                <a:ea typeface="맑은 고딕" pitchFamily="50" charset="-127"/>
              </a:rPr>
              <a:t> Bias=0</a:t>
            </a:r>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không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lưu</a:t>
            </a:r>
            <a:r>
              <a:rPr lang="en-US" altLang="ko-KR" sz="1200" b="1" dirty="0">
                <a:latin typeface="맑은 고딕" pitchFamily="50" charset="-127"/>
                <a:ea typeface="맑은 고딕" pitchFamily="50" charset="-127"/>
              </a:rPr>
              <a:t> ý</a:t>
            </a:r>
            <a:endParaRPr lang="ko-KR" altLang="en-US" sz="1200" b="1" dirty="0">
              <a:latin typeface="맑은 고딕" pitchFamily="50" charset="-127"/>
              <a:ea typeface="맑은 고딕" pitchFamily="50" charset="-127"/>
            </a:endParaRPr>
          </a:p>
          <a:p>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(2)  %Bias &lt; 5(%)</a:t>
            </a:r>
          </a:p>
        </p:txBody>
      </p:sp>
      <p:sp>
        <p:nvSpPr>
          <p:cNvPr id="206872" name="직사각형 29"/>
          <p:cNvSpPr>
            <a:spLocks noChangeArrowheads="1"/>
          </p:cNvSpPr>
          <p:nvPr/>
        </p:nvSpPr>
        <p:spPr bwMode="auto">
          <a:xfrm>
            <a:off x="615462" y="4257675"/>
            <a:ext cx="5684730" cy="2462213"/>
          </a:xfrm>
          <a:prstGeom prst="rect">
            <a:avLst/>
          </a:prstGeom>
          <a:noFill/>
          <a:ln w="9525">
            <a:noFill/>
            <a:miter lim="800000"/>
            <a:headEnd/>
            <a:tailEnd/>
          </a:ln>
        </p:spPr>
        <p:txBody>
          <a:bodyPr wrap="square">
            <a:spAutoFit/>
          </a:bodyPr>
          <a:lstStyle/>
          <a:p>
            <a:pPr>
              <a:buFont typeface="Arial" pitchFamily="34" charset="0"/>
              <a:buChar char="•"/>
            </a:pPr>
            <a:r>
              <a:rPr lang="en-US" altLang="ko-KR" sz="1400" b="1" dirty="0" err="1">
                <a:latin typeface="맑은 고딕" pitchFamily="50" charset="-127"/>
                <a:ea typeface="맑은 고딕" pitchFamily="50" charset="-127"/>
              </a:rPr>
              <a:t>Phương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pháp</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chứng</a:t>
            </a:r>
            <a:r>
              <a:rPr lang="en-US" altLang="ko-KR" sz="1400" b="1" dirty="0">
                <a:latin typeface="맑은 고딕" pitchFamily="50" charset="-127"/>
                <a:ea typeface="맑은 고딕" pitchFamily="50" charset="-127"/>
              </a:rPr>
              <a:t> Bias</a:t>
            </a: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Một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người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đánh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tiến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hành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lặp</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lại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nhiều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lần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linh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kiện</a:t>
            </a:r>
            <a:r>
              <a:rPr lang="en-US" altLang="ko-KR" sz="1400" dirty="0">
                <a:latin typeface="맑은 고딕" pitchFamily="50" charset="-127"/>
                <a:ea typeface="맑은 고딕" pitchFamily="50" charset="-127"/>
              </a:rPr>
              <a:t>/</a:t>
            </a:r>
            <a:r>
              <a:rPr lang="en-US" altLang="ko-KR" sz="1400" dirty="0" err="1">
                <a:latin typeface="맑은 고딕" pitchFamily="50" charset="-127"/>
                <a:ea typeface="맑은 고딕" pitchFamily="50" charset="-127"/>
              </a:rPr>
              <a:t>sản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phẩm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đơn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thuần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được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định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nghĩa</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chính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xác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về</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tiêu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chuẩn</a:t>
            </a:r>
            <a:endParaRPr lang="en-US" altLang="ko-KR" sz="1400" dirty="0">
              <a:latin typeface="맑은 고딕" pitchFamily="50" charset="-127"/>
              <a:ea typeface="맑은 고딕" pitchFamily="50" charset="-127"/>
            </a:endParaRPr>
          </a:p>
          <a:p>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Sau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so </a:t>
            </a:r>
            <a:r>
              <a:rPr lang="en-US" altLang="ko-KR" sz="1400" dirty="0" err="1">
                <a:latin typeface="맑은 고딕" pitchFamily="50" charset="-127"/>
                <a:ea typeface="맑은 고딕" pitchFamily="50" charset="-127"/>
              </a:rPr>
              <a:t>sánh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bình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quân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và</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trị</a:t>
            </a:r>
            <a:r>
              <a:rPr lang="ko-KR" altLang="en-US"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tiêu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chuẩn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đã</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được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xác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định</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tối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thiểu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trên</a:t>
            </a:r>
            <a:r>
              <a:rPr lang="en-US" altLang="ko-KR" sz="1400" dirty="0">
                <a:latin typeface="맑은 고딕" pitchFamily="50" charset="-127"/>
                <a:ea typeface="맑은 고딕" pitchFamily="50" charset="-127"/>
              </a:rPr>
              <a:t> 16 </a:t>
            </a:r>
            <a:r>
              <a:rPr lang="en-US" altLang="ko-KR" sz="1400" dirty="0" err="1">
                <a:latin typeface="맑은 고딕" pitchFamily="50" charset="-127"/>
                <a:ea typeface="맑은 고딕" pitchFamily="50" charset="-127"/>
              </a:rPr>
              <a:t>lần</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Tiến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hành</a:t>
            </a:r>
            <a:r>
              <a:rPr lang="en-US" altLang="ko-KR" sz="1400" dirty="0">
                <a:latin typeface="맑은 고딕" pitchFamily="50" charset="-127"/>
                <a:ea typeface="맑은 고딕" pitchFamily="50" charset="-127"/>
              </a:rPr>
              <a:t> One-sample t-test </a:t>
            </a:r>
            <a:r>
              <a:rPr lang="en-US" altLang="ko-KR" sz="1400" dirty="0" err="1">
                <a:latin typeface="맑은 고딕" pitchFamily="50" charset="-127"/>
                <a:ea typeface="맑은 고딕" pitchFamily="50" charset="-127"/>
              </a:rPr>
              <a:t>để</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kiểm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chứng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độ</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chênh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lệch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không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đáng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kể</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từ</a:t>
            </a:r>
            <a:r>
              <a:rPr lang="en-US" altLang="ko-KR" sz="1400" dirty="0">
                <a:latin typeface="맑은 고딕" pitchFamily="50" charset="-127"/>
                <a:ea typeface="맑은 고딕" pitchFamily="50" charset="-127"/>
              </a:rPr>
              <a:t> 0 </a:t>
            </a:r>
            <a:r>
              <a:rPr lang="en-US" altLang="ko-KR" sz="1400" dirty="0" err="1">
                <a:latin typeface="맑은 고딕" pitchFamily="50" charset="-127"/>
                <a:ea typeface="맑은 고딕" pitchFamily="50" charset="-127"/>
              </a:rPr>
              <a:t>hoặc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kiểm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chứng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trung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bình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không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với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tiêu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chuẩn</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%Bias &lt; 5(%)</a:t>
            </a:r>
          </a:p>
        </p:txBody>
      </p:sp>
      <p:sp>
        <p:nvSpPr>
          <p:cNvPr id="206873" name="Rectangle 77"/>
          <p:cNvSpPr>
            <a:spLocks noChangeArrowheads="1"/>
          </p:cNvSpPr>
          <p:nvPr/>
        </p:nvSpPr>
        <p:spPr bwMode="auto">
          <a:xfrm>
            <a:off x="179512" y="928688"/>
            <a:ext cx="1756261" cy="360362"/>
          </a:xfrm>
          <a:prstGeom prst="rect">
            <a:avLst/>
          </a:prstGeom>
          <a:noFill/>
          <a:ln w="9525" algn="ctr">
            <a:solidFill>
              <a:schemeClr val="bg1">
                <a:lumMod val="50000"/>
              </a:schemeClr>
            </a:solidFill>
            <a:miter lim="800000"/>
            <a:headEnd/>
            <a:tailEnd/>
          </a:ln>
        </p:spPr>
        <p:txBody>
          <a:bodyPr wrap="none" anchor="ctr"/>
          <a:lstStyle/>
          <a:p>
            <a:pPr algn="ctr"/>
            <a:r>
              <a:rPr lang="en-US" altLang="ko-KR" sz="1400" b="1" dirty="0" err="1">
                <a:solidFill>
                  <a:srgbClr val="4D4D4D"/>
                </a:solidFill>
                <a:latin typeface="맑은 고딕" pitchFamily="50" charset="-127"/>
                <a:ea typeface="맑은 고딕" pitchFamily="50" charset="-127"/>
              </a:rPr>
              <a:t>Độ</a:t>
            </a:r>
            <a:r>
              <a:rPr lang="en-US" altLang="ko-KR" sz="1400" b="1" dirty="0">
                <a:solidFill>
                  <a:srgbClr val="4D4D4D"/>
                </a:solidFill>
                <a:latin typeface="맑은 고딕" pitchFamily="50" charset="-127"/>
                <a:ea typeface="맑은 고딕" pitchFamily="50" charset="-127"/>
              </a:rPr>
              <a:t> </a:t>
            </a:r>
            <a:r>
              <a:rPr lang="en-US" altLang="ko-KR" sz="1400" b="1" dirty="0" err="1">
                <a:solidFill>
                  <a:srgbClr val="4D4D4D"/>
                </a:solidFill>
                <a:latin typeface="맑은 고딕" pitchFamily="50" charset="-127"/>
                <a:ea typeface="맑은 고딕" pitchFamily="50" charset="-127"/>
              </a:rPr>
              <a:t>chênh</a:t>
            </a:r>
            <a:r>
              <a:rPr lang="en-US" altLang="ko-KR" sz="1400" b="1" dirty="0">
                <a:solidFill>
                  <a:srgbClr val="4D4D4D"/>
                </a:solidFill>
                <a:latin typeface="맑은 고딕" pitchFamily="50" charset="-127"/>
                <a:ea typeface="맑은 고딕" pitchFamily="50" charset="-127"/>
              </a:rPr>
              <a:t> </a:t>
            </a:r>
            <a:r>
              <a:rPr lang="en-US" altLang="ko-KR" sz="1400" b="1" dirty="0" err="1">
                <a:solidFill>
                  <a:srgbClr val="4D4D4D"/>
                </a:solidFill>
                <a:latin typeface="맑은 고딕" pitchFamily="50" charset="-127"/>
                <a:ea typeface="맑은 고딕" pitchFamily="50" charset="-127"/>
              </a:rPr>
              <a:t>lệch</a:t>
            </a:r>
            <a:r>
              <a:rPr lang="en-US" altLang="ko-KR" sz="1400" b="1" dirty="0">
                <a:solidFill>
                  <a:srgbClr val="4D4D4D"/>
                </a:solidFill>
                <a:latin typeface="맑은 고딕" pitchFamily="50" charset="-127"/>
                <a:ea typeface="맑은 고딕" pitchFamily="50" charset="-127"/>
              </a:rPr>
              <a:t>(Bias</a:t>
            </a:r>
            <a:r>
              <a:rPr lang="en-US" altLang="ko-KR" sz="1600" b="1" dirty="0">
                <a:solidFill>
                  <a:srgbClr val="4D4D4D"/>
                </a:solidFill>
                <a:latin typeface="맑은 고딕" pitchFamily="50" charset="-127"/>
                <a:ea typeface="맑은 고딕" pitchFamily="50" charset="-127"/>
              </a:rPr>
              <a:t>)</a:t>
            </a:r>
          </a:p>
        </p:txBody>
      </p:sp>
      <p:sp>
        <p:nvSpPr>
          <p:cNvPr id="206874" name="Text Box 80"/>
          <p:cNvSpPr txBox="1">
            <a:spLocks noChangeArrowheads="1"/>
          </p:cNvSpPr>
          <p:nvPr/>
        </p:nvSpPr>
        <p:spPr bwMode="auto">
          <a:xfrm>
            <a:off x="2013439" y="928689"/>
            <a:ext cx="6704840" cy="307777"/>
          </a:xfrm>
          <a:prstGeom prst="rect">
            <a:avLst/>
          </a:prstGeom>
          <a:noFill/>
          <a:ln w="9525" algn="ctr">
            <a:noFill/>
            <a:miter lim="800000"/>
            <a:headEnd/>
            <a:tailEnd/>
          </a:ln>
        </p:spPr>
        <p:txBody>
          <a:bodyPr wrap="none" lIns="36000" rIns="36000">
            <a:spAutoFit/>
          </a:bodyPr>
          <a:lstStyle/>
          <a:p>
            <a:r>
              <a:rPr lang="en-US" altLang="ko-KR" sz="1400" b="1" dirty="0" err="1">
                <a:latin typeface="맑은 고딕" pitchFamily="50" charset="-127"/>
                <a:ea typeface="맑은 고딕" pitchFamily="50" charset="-127"/>
              </a:rPr>
              <a:t>Sự</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chênh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lệch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giữa</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giá</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trị</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chuẩn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giá</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trị</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thật</a:t>
            </a:r>
            <a:r>
              <a:rPr lang="en-US" altLang="ko-KR" sz="1400" b="1" dirty="0">
                <a:latin typeface="맑은 고딕" pitchFamily="50" charset="-127"/>
                <a:ea typeface="맑은 고딕" pitchFamily="50" charset="-127"/>
              </a:rPr>
              <a:t>)</a:t>
            </a:r>
            <a:r>
              <a:rPr lang="ko-KR" altLang="en-US"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và</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giá</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trị</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đo</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lường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bình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quân</a:t>
            </a:r>
            <a:r>
              <a:rPr lang="en-US" altLang="ko-KR" sz="1400" b="1" dirty="0">
                <a:latin typeface="맑은 고딕" pitchFamily="50" charset="-127"/>
                <a:ea typeface="맑은 고딕" pitchFamily="50" charset="-127"/>
              </a:rPr>
              <a:t> </a:t>
            </a:r>
            <a:endParaRPr lang="ko-KR" altLang="en-US" sz="1400" b="1" dirty="0">
              <a:latin typeface="맑은 고딕" pitchFamily="50" charset="-127"/>
              <a:ea typeface="맑은 고딕" pitchFamily="50" charset="-127"/>
            </a:endParaRPr>
          </a:p>
        </p:txBody>
      </p:sp>
      <p:cxnSp>
        <p:nvCxnSpPr>
          <p:cNvPr id="206875" name="직선 화살표 연결선 33"/>
          <p:cNvCxnSpPr>
            <a:cxnSpLocks noChangeShapeType="1"/>
          </p:cNvCxnSpPr>
          <p:nvPr/>
        </p:nvCxnSpPr>
        <p:spPr bwMode="auto">
          <a:xfrm flipV="1">
            <a:off x="800101" y="3457576"/>
            <a:ext cx="2611315" cy="9525"/>
          </a:xfrm>
          <a:prstGeom prst="straightConnector1">
            <a:avLst/>
          </a:prstGeom>
          <a:noFill/>
          <a:ln w="12700" algn="ctr">
            <a:solidFill>
              <a:schemeClr val="tx1"/>
            </a:solidFill>
            <a:round/>
            <a:headEnd/>
            <a:tailEnd type="arrow" w="med" len="med"/>
          </a:ln>
        </p:spPr>
      </p:cxnSp>
      <p:sp>
        <p:nvSpPr>
          <p:cNvPr id="206876" name="Oval 85"/>
          <p:cNvSpPr>
            <a:spLocks noChangeArrowheads="1"/>
          </p:cNvSpPr>
          <p:nvPr/>
        </p:nvSpPr>
        <p:spPr bwMode="auto">
          <a:xfrm>
            <a:off x="2237643" y="2928939"/>
            <a:ext cx="86457"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77" name="Oval 85"/>
          <p:cNvSpPr>
            <a:spLocks noChangeArrowheads="1"/>
          </p:cNvSpPr>
          <p:nvPr/>
        </p:nvSpPr>
        <p:spPr bwMode="auto">
          <a:xfrm>
            <a:off x="2237643" y="2786064"/>
            <a:ext cx="86457"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78" name="Oval 86"/>
          <p:cNvSpPr>
            <a:spLocks noChangeArrowheads="1"/>
          </p:cNvSpPr>
          <p:nvPr/>
        </p:nvSpPr>
        <p:spPr bwMode="auto">
          <a:xfrm>
            <a:off x="2101362" y="3059114"/>
            <a:ext cx="84992"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79" name="Oval 85"/>
          <p:cNvSpPr>
            <a:spLocks noChangeArrowheads="1"/>
          </p:cNvSpPr>
          <p:nvPr/>
        </p:nvSpPr>
        <p:spPr bwMode="auto">
          <a:xfrm>
            <a:off x="2237643" y="2638425"/>
            <a:ext cx="86457" cy="109538"/>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0" name="Oval 87"/>
          <p:cNvSpPr>
            <a:spLocks noChangeArrowheads="1"/>
          </p:cNvSpPr>
          <p:nvPr/>
        </p:nvSpPr>
        <p:spPr bwMode="auto">
          <a:xfrm>
            <a:off x="2099897" y="2909889"/>
            <a:ext cx="86457"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1" name="Oval 86"/>
          <p:cNvSpPr>
            <a:spLocks noChangeArrowheads="1"/>
          </p:cNvSpPr>
          <p:nvPr/>
        </p:nvSpPr>
        <p:spPr bwMode="auto">
          <a:xfrm>
            <a:off x="2387113" y="3200400"/>
            <a:ext cx="84992" cy="109538"/>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2" name="Oval 89"/>
          <p:cNvSpPr>
            <a:spLocks noChangeArrowheads="1"/>
          </p:cNvSpPr>
          <p:nvPr/>
        </p:nvSpPr>
        <p:spPr bwMode="auto">
          <a:xfrm>
            <a:off x="2387113" y="3338514"/>
            <a:ext cx="84992"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3" name="Oval 86"/>
          <p:cNvSpPr>
            <a:spLocks noChangeArrowheads="1"/>
          </p:cNvSpPr>
          <p:nvPr/>
        </p:nvSpPr>
        <p:spPr bwMode="auto">
          <a:xfrm>
            <a:off x="2387113" y="3059114"/>
            <a:ext cx="84992"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4" name="Oval 87"/>
          <p:cNvSpPr>
            <a:spLocks noChangeArrowheads="1"/>
          </p:cNvSpPr>
          <p:nvPr/>
        </p:nvSpPr>
        <p:spPr bwMode="auto">
          <a:xfrm>
            <a:off x="2385647" y="29098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5" name="Oval 78"/>
          <p:cNvSpPr>
            <a:spLocks noChangeArrowheads="1"/>
          </p:cNvSpPr>
          <p:nvPr/>
        </p:nvSpPr>
        <p:spPr bwMode="auto">
          <a:xfrm>
            <a:off x="2516066" y="3338514"/>
            <a:ext cx="86457"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6" name="Oval 82"/>
          <p:cNvSpPr>
            <a:spLocks noChangeArrowheads="1"/>
          </p:cNvSpPr>
          <p:nvPr/>
        </p:nvSpPr>
        <p:spPr bwMode="auto">
          <a:xfrm>
            <a:off x="2516066" y="3200400"/>
            <a:ext cx="86457" cy="107950"/>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7" name="Oval 87"/>
          <p:cNvSpPr>
            <a:spLocks noChangeArrowheads="1"/>
          </p:cNvSpPr>
          <p:nvPr/>
        </p:nvSpPr>
        <p:spPr bwMode="auto">
          <a:xfrm>
            <a:off x="2526324" y="3062289"/>
            <a:ext cx="86458" cy="109537"/>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8" name="Oval 88"/>
          <p:cNvSpPr>
            <a:spLocks noChangeArrowheads="1"/>
          </p:cNvSpPr>
          <p:nvPr/>
        </p:nvSpPr>
        <p:spPr bwMode="auto">
          <a:xfrm>
            <a:off x="2634762" y="3262314"/>
            <a:ext cx="86458" cy="111125"/>
          </a:xfrm>
          <a:prstGeom prst="ellipse">
            <a:avLst/>
          </a:prstGeom>
          <a:solidFill>
            <a:schemeClr val="tx1"/>
          </a:solidFill>
          <a:ln w="9525" algn="ctr">
            <a:solidFill>
              <a:srgbClr val="4D4D4D"/>
            </a:solidFill>
            <a:round/>
            <a:headEnd/>
            <a:tailEnd/>
          </a:ln>
        </p:spPr>
        <p:txBody>
          <a:bodyPr wrap="none" anchor="ctr"/>
          <a:lstStyle/>
          <a:p>
            <a:endParaRPr lang="ko-KR" altLang="en-US" dirty="0">
              <a:latin typeface="맑은 고딕" pitchFamily="50" charset="-127"/>
              <a:ea typeface="맑은 고딕" pitchFamily="50" charset="-127"/>
            </a:endParaRPr>
          </a:p>
        </p:txBody>
      </p:sp>
      <p:sp>
        <p:nvSpPr>
          <p:cNvPr id="206889" name="Rectangle 92"/>
          <p:cNvSpPr>
            <a:spLocks noChangeArrowheads="1"/>
          </p:cNvSpPr>
          <p:nvPr/>
        </p:nvSpPr>
        <p:spPr bwMode="auto">
          <a:xfrm>
            <a:off x="3707904" y="3371850"/>
            <a:ext cx="5183796" cy="700088"/>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6890" name="Rectangle 92"/>
          <p:cNvSpPr>
            <a:spLocks noChangeArrowheads="1"/>
          </p:cNvSpPr>
          <p:nvPr/>
        </p:nvSpPr>
        <p:spPr bwMode="auto">
          <a:xfrm>
            <a:off x="3708684" y="1560513"/>
            <a:ext cx="5183796" cy="1687512"/>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6891" name="Text Box 129"/>
          <p:cNvSpPr txBox="1">
            <a:spLocks noChangeArrowheads="1"/>
          </p:cNvSpPr>
          <p:nvPr/>
        </p:nvSpPr>
        <p:spPr bwMode="auto">
          <a:xfrm>
            <a:off x="3707904" y="1612901"/>
            <a:ext cx="5234125" cy="276999"/>
          </a:xfrm>
          <a:prstGeom prst="rect">
            <a:avLst/>
          </a:prstGeom>
          <a:noFill/>
          <a:ln w="9525" algn="ctr">
            <a:noFill/>
            <a:miter lim="800000"/>
            <a:headEnd/>
            <a:tailEnd/>
          </a:ln>
        </p:spPr>
        <p:txBody>
          <a:bodyPr wrap="none">
            <a:spAutoFit/>
          </a:bodyPr>
          <a:lstStyle/>
          <a:p>
            <a:pPr>
              <a:buFont typeface="Arial" pitchFamily="34" charset="0"/>
              <a:buChar char="•"/>
            </a:pPr>
            <a:r>
              <a:rPr lang="en-US" altLang="ko-KR" sz="1200" b="1" dirty="0">
                <a:latin typeface="맑은 고딕" pitchFamily="50" charset="-127"/>
                <a:ea typeface="맑은 고딕" pitchFamily="50" charset="-127"/>
              </a:rPr>
              <a:t> Bias =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lường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bình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quân</a:t>
            </a:r>
            <a:r>
              <a:rPr lang="en-US" altLang="ko-KR" sz="1200" b="1" dirty="0">
                <a:latin typeface="맑은 고딕" pitchFamily="50" charset="-127"/>
                <a:ea typeface="맑은 고딕" pitchFamily="50" charset="-127"/>
              </a:rPr>
              <a:t> –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thật</a:t>
            </a:r>
            <a:r>
              <a:rPr lang="en-US" altLang="ko-KR" sz="1200" b="1" dirty="0">
                <a:latin typeface="맑은 고딕" pitchFamily="50" charset="-127"/>
                <a:ea typeface="맑은 고딕" pitchFamily="50" charset="-127"/>
              </a:rPr>
              <a:t>)</a:t>
            </a:r>
          </a:p>
        </p:txBody>
      </p:sp>
      <p:grpSp>
        <p:nvGrpSpPr>
          <p:cNvPr id="2" name="그룹 79"/>
          <p:cNvGrpSpPr>
            <a:grpSpLocks/>
          </p:cNvGrpSpPr>
          <p:nvPr/>
        </p:nvGrpSpPr>
        <p:grpSpPr bwMode="auto">
          <a:xfrm>
            <a:off x="3881805" y="1895477"/>
            <a:ext cx="4333950" cy="559146"/>
            <a:chOff x="4204624" y="1981190"/>
            <a:chExt cx="4695761" cy="559845"/>
          </a:xfrm>
        </p:grpSpPr>
        <p:sp>
          <p:nvSpPr>
            <p:cNvPr id="206905" name="Text Box 129"/>
            <p:cNvSpPr txBox="1">
              <a:spLocks noChangeArrowheads="1"/>
            </p:cNvSpPr>
            <p:nvPr/>
          </p:nvSpPr>
          <p:spPr bwMode="auto">
            <a:xfrm>
              <a:off x="4204624" y="2121091"/>
              <a:ext cx="1292546" cy="277345"/>
            </a:xfrm>
            <a:prstGeom prst="rect">
              <a:avLst/>
            </a:prstGeom>
            <a:noFill/>
            <a:ln w="9525" algn="ctr">
              <a:noFill/>
              <a:miter lim="800000"/>
              <a:headEnd/>
              <a:tailEnd/>
            </a:ln>
          </p:spPr>
          <p:txBody>
            <a:bodyPr wrap="none">
              <a:spAutoFit/>
            </a:bodyPr>
            <a:lstStyle/>
            <a:p>
              <a:pPr>
                <a:buFont typeface="Arial" pitchFamily="34" charset="0"/>
                <a:buChar char="•"/>
              </a:pPr>
              <a:r>
                <a:rPr lang="en-US" altLang="ko-KR" sz="1200" b="1" dirty="0">
                  <a:latin typeface="맑은 고딕" pitchFamily="50" charset="-127"/>
                  <a:ea typeface="맑은 고딕" pitchFamily="50" charset="-127"/>
                </a:rPr>
                <a:t> %Bias(PV) =</a:t>
              </a:r>
            </a:p>
          </p:txBody>
        </p:sp>
        <p:sp>
          <p:nvSpPr>
            <p:cNvPr id="206906" name="Text Box 129"/>
            <p:cNvSpPr txBox="1">
              <a:spLocks noChangeArrowheads="1"/>
            </p:cNvSpPr>
            <p:nvPr/>
          </p:nvSpPr>
          <p:spPr bwMode="auto">
            <a:xfrm>
              <a:off x="5316540" y="2263690"/>
              <a:ext cx="1558490"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Process Variation</a:t>
              </a:r>
            </a:p>
          </p:txBody>
        </p:sp>
        <p:sp>
          <p:nvSpPr>
            <p:cNvPr id="206907" name="Text Box 129"/>
            <p:cNvSpPr txBox="1">
              <a:spLocks noChangeArrowheads="1"/>
            </p:cNvSpPr>
            <p:nvPr/>
          </p:nvSpPr>
          <p:spPr bwMode="auto">
            <a:xfrm>
              <a:off x="5635774" y="1984909"/>
              <a:ext cx="85139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sp>
          <p:nvSpPr>
            <p:cNvPr id="206908" name="Text Box 129"/>
            <p:cNvSpPr txBox="1">
              <a:spLocks noChangeArrowheads="1"/>
            </p:cNvSpPr>
            <p:nvPr/>
          </p:nvSpPr>
          <p:spPr bwMode="auto">
            <a:xfrm>
              <a:off x="7104625" y="2117372"/>
              <a:ext cx="340766" cy="308162"/>
            </a:xfrm>
            <a:prstGeom prst="rect">
              <a:avLst/>
            </a:prstGeom>
            <a:noFill/>
            <a:ln w="9525" algn="ctr">
              <a:noFill/>
              <a:miter lim="800000"/>
              <a:headEnd/>
              <a:tailEnd/>
            </a:ln>
          </p:spPr>
          <p:txBody>
            <a:bodyPr wrap="none">
              <a:spAutoFit/>
            </a:bodyPr>
            <a:lstStyle/>
            <a:p>
              <a:r>
                <a:rPr lang="en-US" altLang="ko-KR" sz="1400" b="1" dirty="0">
                  <a:latin typeface="맑은 고딕" pitchFamily="50" charset="-127"/>
                  <a:ea typeface="맑은 고딕" pitchFamily="50" charset="-127"/>
                </a:rPr>
                <a:t>=</a:t>
              </a:r>
            </a:p>
          </p:txBody>
        </p:sp>
        <p:cxnSp>
          <p:nvCxnSpPr>
            <p:cNvPr id="206909" name="직선 연결선 67"/>
            <p:cNvCxnSpPr>
              <a:cxnSpLocks noChangeShapeType="1"/>
            </p:cNvCxnSpPr>
            <p:nvPr/>
          </p:nvCxnSpPr>
          <p:spPr bwMode="auto">
            <a:xfrm>
              <a:off x="7392936" y="2269574"/>
              <a:ext cx="873629" cy="801"/>
            </a:xfrm>
            <a:prstGeom prst="line">
              <a:avLst/>
            </a:prstGeom>
            <a:noFill/>
            <a:ln w="12700" algn="ctr">
              <a:solidFill>
                <a:schemeClr val="tx1"/>
              </a:solidFill>
              <a:round/>
              <a:headEnd/>
              <a:tailEnd/>
            </a:ln>
          </p:spPr>
        </p:cxnSp>
        <p:sp>
          <p:nvSpPr>
            <p:cNvPr id="206910" name="Text Box 129"/>
            <p:cNvSpPr txBox="1">
              <a:spLocks noChangeArrowheads="1"/>
            </p:cNvSpPr>
            <p:nvPr/>
          </p:nvSpPr>
          <p:spPr bwMode="auto">
            <a:xfrm>
              <a:off x="7337894" y="2240921"/>
              <a:ext cx="1038414"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6 × σ</a:t>
              </a:r>
              <a:r>
                <a:rPr lang="en-US" altLang="ko-KR" sz="1200" b="1" baseline="-25000" dirty="0">
                  <a:latin typeface="맑은 고딕" pitchFamily="50" charset="-127"/>
                  <a:ea typeface="맑은 고딕" pitchFamily="50" charset="-127"/>
                </a:rPr>
                <a:t>process</a:t>
              </a:r>
            </a:p>
          </p:txBody>
        </p:sp>
        <p:sp>
          <p:nvSpPr>
            <p:cNvPr id="206911" name="Text Box 129"/>
            <p:cNvSpPr txBox="1">
              <a:spLocks noChangeArrowheads="1"/>
            </p:cNvSpPr>
            <p:nvPr/>
          </p:nvSpPr>
          <p:spPr bwMode="auto">
            <a:xfrm>
              <a:off x="7411694" y="1981190"/>
              <a:ext cx="85139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cxnSp>
          <p:nvCxnSpPr>
            <p:cNvPr id="206912" name="직선 연결선 76"/>
            <p:cNvCxnSpPr>
              <a:cxnSpLocks noChangeShapeType="1"/>
            </p:cNvCxnSpPr>
            <p:nvPr/>
          </p:nvCxnSpPr>
          <p:spPr bwMode="auto">
            <a:xfrm rot="10800000">
              <a:off x="5345115" y="2268529"/>
              <a:ext cx="1357322" cy="1588"/>
            </a:xfrm>
            <a:prstGeom prst="line">
              <a:avLst/>
            </a:prstGeom>
            <a:noFill/>
            <a:ln w="12700" algn="ctr">
              <a:solidFill>
                <a:schemeClr val="tx1"/>
              </a:solidFill>
              <a:round/>
              <a:headEnd/>
              <a:tailEnd/>
            </a:ln>
          </p:spPr>
        </p:cxnSp>
        <p:sp>
          <p:nvSpPr>
            <p:cNvPr id="206913" name="Text Box 129"/>
            <p:cNvSpPr txBox="1">
              <a:spLocks noChangeArrowheads="1"/>
            </p:cNvSpPr>
            <p:nvPr/>
          </p:nvSpPr>
          <p:spPr bwMode="auto">
            <a:xfrm>
              <a:off x="6653225" y="2114541"/>
              <a:ext cx="670763"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sp>
          <p:nvSpPr>
            <p:cNvPr id="206914" name="Text Box 129"/>
            <p:cNvSpPr txBox="1">
              <a:spLocks noChangeArrowheads="1"/>
            </p:cNvSpPr>
            <p:nvPr/>
          </p:nvSpPr>
          <p:spPr bwMode="auto">
            <a:xfrm>
              <a:off x="8229622" y="2114541"/>
              <a:ext cx="670763"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grpSp>
      <p:grpSp>
        <p:nvGrpSpPr>
          <p:cNvPr id="4" name="그룹 95"/>
          <p:cNvGrpSpPr>
            <a:grpSpLocks/>
          </p:cNvGrpSpPr>
          <p:nvPr/>
        </p:nvGrpSpPr>
        <p:grpSpPr bwMode="auto">
          <a:xfrm>
            <a:off x="3881805" y="2619377"/>
            <a:ext cx="3847496" cy="559146"/>
            <a:chOff x="4204624" y="2619365"/>
            <a:chExt cx="4169088" cy="559845"/>
          </a:xfrm>
        </p:grpSpPr>
        <p:sp>
          <p:nvSpPr>
            <p:cNvPr id="206895" name="Text Box 129"/>
            <p:cNvSpPr txBox="1">
              <a:spLocks noChangeArrowheads="1"/>
            </p:cNvSpPr>
            <p:nvPr/>
          </p:nvSpPr>
          <p:spPr bwMode="auto">
            <a:xfrm>
              <a:off x="4204624" y="2759266"/>
              <a:ext cx="1176290" cy="277345"/>
            </a:xfrm>
            <a:prstGeom prst="rect">
              <a:avLst/>
            </a:prstGeom>
            <a:noFill/>
            <a:ln w="9525" algn="ctr">
              <a:noFill/>
              <a:miter lim="800000"/>
              <a:headEnd/>
              <a:tailEnd/>
            </a:ln>
          </p:spPr>
          <p:txBody>
            <a:bodyPr wrap="none">
              <a:spAutoFit/>
            </a:bodyPr>
            <a:lstStyle/>
            <a:p>
              <a:pPr>
                <a:buFont typeface="Arial" pitchFamily="34" charset="0"/>
                <a:buChar char="•"/>
              </a:pPr>
              <a:r>
                <a:rPr lang="en-US" altLang="ko-KR" sz="1200" b="1" dirty="0">
                  <a:latin typeface="맑은 고딕" pitchFamily="50" charset="-127"/>
                  <a:ea typeface="맑은 고딕" pitchFamily="50" charset="-127"/>
                </a:rPr>
                <a:t> %Bias(T) =</a:t>
              </a:r>
            </a:p>
          </p:txBody>
        </p:sp>
        <p:sp>
          <p:nvSpPr>
            <p:cNvPr id="206896" name="Text Box 129"/>
            <p:cNvSpPr txBox="1">
              <a:spLocks noChangeArrowheads="1"/>
            </p:cNvSpPr>
            <p:nvPr/>
          </p:nvSpPr>
          <p:spPr bwMode="auto">
            <a:xfrm>
              <a:off x="5245101" y="2901865"/>
              <a:ext cx="951384"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Tolerance</a:t>
              </a:r>
            </a:p>
          </p:txBody>
        </p:sp>
        <p:sp>
          <p:nvSpPr>
            <p:cNvPr id="206897" name="Text Box 129"/>
            <p:cNvSpPr txBox="1">
              <a:spLocks noChangeArrowheads="1"/>
            </p:cNvSpPr>
            <p:nvPr/>
          </p:nvSpPr>
          <p:spPr bwMode="auto">
            <a:xfrm>
              <a:off x="5267352" y="2623084"/>
              <a:ext cx="85147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sp>
          <p:nvSpPr>
            <p:cNvPr id="206898" name="Text Box 129"/>
            <p:cNvSpPr txBox="1">
              <a:spLocks noChangeArrowheads="1"/>
            </p:cNvSpPr>
            <p:nvPr/>
          </p:nvSpPr>
          <p:spPr bwMode="auto">
            <a:xfrm>
              <a:off x="6577888" y="2755547"/>
              <a:ext cx="340798" cy="308162"/>
            </a:xfrm>
            <a:prstGeom prst="rect">
              <a:avLst/>
            </a:prstGeom>
            <a:noFill/>
            <a:ln w="9525" algn="ctr">
              <a:noFill/>
              <a:miter lim="800000"/>
              <a:headEnd/>
              <a:tailEnd/>
            </a:ln>
          </p:spPr>
          <p:txBody>
            <a:bodyPr wrap="none">
              <a:spAutoFit/>
            </a:bodyPr>
            <a:lstStyle/>
            <a:p>
              <a:r>
                <a:rPr lang="en-US" altLang="ko-KR" sz="1400" b="1" dirty="0">
                  <a:latin typeface="맑은 고딕" pitchFamily="50" charset="-127"/>
                  <a:ea typeface="맑은 고딕" pitchFamily="50" charset="-127"/>
                </a:rPr>
                <a:t>=</a:t>
              </a:r>
            </a:p>
          </p:txBody>
        </p:sp>
        <p:cxnSp>
          <p:nvCxnSpPr>
            <p:cNvPr id="206899" name="직선 연결선 85"/>
            <p:cNvCxnSpPr>
              <a:cxnSpLocks noChangeShapeType="1"/>
            </p:cNvCxnSpPr>
            <p:nvPr/>
          </p:nvCxnSpPr>
          <p:spPr bwMode="auto">
            <a:xfrm>
              <a:off x="6866199" y="2907749"/>
              <a:ext cx="873629" cy="801"/>
            </a:xfrm>
            <a:prstGeom prst="line">
              <a:avLst/>
            </a:prstGeom>
            <a:noFill/>
            <a:ln w="12700" algn="ctr">
              <a:solidFill>
                <a:schemeClr val="tx1"/>
              </a:solidFill>
              <a:round/>
              <a:headEnd/>
              <a:tailEnd/>
            </a:ln>
          </p:spPr>
        </p:cxnSp>
        <p:sp>
          <p:nvSpPr>
            <p:cNvPr id="206900" name="Text Box 129"/>
            <p:cNvSpPr txBox="1">
              <a:spLocks noChangeArrowheads="1"/>
            </p:cNvSpPr>
            <p:nvPr/>
          </p:nvSpPr>
          <p:spPr bwMode="auto">
            <a:xfrm>
              <a:off x="6830207" y="2879096"/>
              <a:ext cx="952218"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USL - LSL</a:t>
              </a:r>
              <a:endParaRPr lang="en-US" altLang="ko-KR" sz="1200" b="1" baseline="-25000" dirty="0">
                <a:latin typeface="맑은 고딕" pitchFamily="50" charset="-127"/>
                <a:ea typeface="맑은 고딕" pitchFamily="50" charset="-127"/>
              </a:endParaRPr>
            </a:p>
          </p:txBody>
        </p:sp>
        <p:sp>
          <p:nvSpPr>
            <p:cNvPr id="206901" name="Text Box 129"/>
            <p:cNvSpPr txBox="1">
              <a:spLocks noChangeArrowheads="1"/>
            </p:cNvSpPr>
            <p:nvPr/>
          </p:nvSpPr>
          <p:spPr bwMode="auto">
            <a:xfrm>
              <a:off x="6884957" y="2619365"/>
              <a:ext cx="851473" cy="277345"/>
            </a:xfrm>
            <a:prstGeom prst="rect">
              <a:avLst/>
            </a:prstGeom>
            <a:noFill/>
            <a:ln w="9525" algn="ctr">
              <a:noFill/>
              <a:miter lim="800000"/>
              <a:headEnd/>
              <a:tailEnd/>
            </a:ln>
          </p:spPr>
          <p:txBody>
            <a:bodyPr wrap="none">
              <a:spAutoFit/>
            </a:bodyPr>
            <a:lstStyle/>
            <a:p>
              <a:r>
                <a:rPr lang="ko-KR" altLang="en-US" sz="1200" b="1" dirty="0">
                  <a:latin typeface="맑은 고딕" pitchFamily="50" charset="-127"/>
                  <a:ea typeface="맑은 고딕" pitchFamily="50" charset="-127"/>
                </a:rPr>
                <a:t>│</a:t>
              </a:r>
              <a:r>
                <a:rPr lang="en-US" altLang="ko-KR" sz="1200" b="1" dirty="0">
                  <a:latin typeface="맑은 고딕" pitchFamily="50" charset="-127"/>
                  <a:ea typeface="맑은 고딕" pitchFamily="50" charset="-127"/>
                </a:rPr>
                <a:t>Bias</a:t>
              </a:r>
              <a:r>
                <a:rPr lang="ko-KR" altLang="en-US" sz="1200" b="1" dirty="0">
                  <a:latin typeface="맑은 고딕" pitchFamily="50" charset="-127"/>
                  <a:ea typeface="맑은 고딕" pitchFamily="50" charset="-127"/>
                </a:rPr>
                <a:t>│</a:t>
              </a:r>
              <a:endParaRPr lang="en-US" altLang="ko-KR" sz="1200" b="1" dirty="0">
                <a:latin typeface="맑은 고딕" pitchFamily="50" charset="-127"/>
                <a:ea typeface="맑은 고딕" pitchFamily="50" charset="-127"/>
              </a:endParaRPr>
            </a:p>
          </p:txBody>
        </p:sp>
        <p:sp>
          <p:nvSpPr>
            <p:cNvPr id="206902" name="Text Box 129"/>
            <p:cNvSpPr txBox="1">
              <a:spLocks noChangeArrowheads="1"/>
            </p:cNvSpPr>
            <p:nvPr/>
          </p:nvSpPr>
          <p:spPr bwMode="auto">
            <a:xfrm>
              <a:off x="6126488" y="2752716"/>
              <a:ext cx="670826"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sp>
          <p:nvSpPr>
            <p:cNvPr id="206903" name="Text Box 129"/>
            <p:cNvSpPr txBox="1">
              <a:spLocks noChangeArrowheads="1"/>
            </p:cNvSpPr>
            <p:nvPr/>
          </p:nvSpPr>
          <p:spPr bwMode="auto">
            <a:xfrm>
              <a:off x="7702886" y="2752716"/>
              <a:ext cx="670826" cy="277345"/>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 100</a:t>
              </a:r>
            </a:p>
          </p:txBody>
        </p:sp>
        <p:cxnSp>
          <p:nvCxnSpPr>
            <p:cNvPr id="206904" name="직선 연결선 94"/>
            <p:cNvCxnSpPr>
              <a:cxnSpLocks noChangeShapeType="1"/>
            </p:cNvCxnSpPr>
            <p:nvPr/>
          </p:nvCxnSpPr>
          <p:spPr bwMode="auto">
            <a:xfrm>
              <a:off x="5238752" y="2905917"/>
              <a:ext cx="928694" cy="1588"/>
            </a:xfrm>
            <a:prstGeom prst="line">
              <a:avLst/>
            </a:prstGeom>
            <a:noFill/>
            <a:ln w="12700" algn="ctr">
              <a:solidFill>
                <a:schemeClr val="tx1"/>
              </a:solidFill>
              <a:round/>
              <a:headEnd/>
              <a:tailEnd/>
            </a:ln>
          </p:spPr>
        </p:cxnSp>
      </p:grpSp>
      <p:sp>
        <p:nvSpPr>
          <p:cNvPr id="206894" name="Rectangle 11"/>
          <p:cNvSpPr>
            <a:spLocks noChangeArrowheads="1"/>
          </p:cNvSpPr>
          <p:nvPr/>
        </p:nvSpPr>
        <p:spPr bwMode="auto">
          <a:xfrm>
            <a:off x="6372200" y="4221088"/>
            <a:ext cx="2272309" cy="2377574"/>
          </a:xfrm>
          <a:prstGeom prst="rect">
            <a:avLst/>
          </a:prstGeom>
          <a:noFill/>
          <a:ln w="12700" algn="ctr">
            <a:solidFill>
              <a:schemeClr val="bg1">
                <a:lumMod val="50000"/>
              </a:schemeClr>
            </a:solidFill>
            <a:prstDash val="sysDash"/>
            <a:miter lim="800000"/>
            <a:headEnd/>
            <a:tailEnd/>
          </a:ln>
        </p:spPr>
        <p:txBody>
          <a:bodyPr wrap="square">
            <a:spAutoFit/>
          </a:bodyPr>
          <a:lstStyle/>
          <a:p>
            <a:pPr>
              <a:lnSpc>
                <a:spcPct val="150000"/>
              </a:lnSpc>
            </a:pPr>
            <a:r>
              <a:rPr lang="en-US" altLang="ko-KR" sz="1100" b="1" dirty="0">
                <a:solidFill>
                  <a:srgbClr val="00B050"/>
                </a:solidFill>
                <a:latin typeface="맑은 고딕" pitchFamily="50" charset="-127"/>
                <a:ea typeface="맑은 고딕" pitchFamily="50" charset="-127"/>
              </a:rPr>
              <a:t>※</a:t>
            </a:r>
            <a:r>
              <a:rPr lang="en-US" altLang="ko-KR" sz="1100" b="1" dirty="0" err="1">
                <a:solidFill>
                  <a:srgbClr val="00B050"/>
                </a:solidFill>
                <a:latin typeface="맑은 고딕" pitchFamily="50" charset="-127"/>
                <a:ea typeface="맑은 고딕" pitchFamily="50" charset="-127"/>
              </a:rPr>
              <a:t>Quyết</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định</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giá</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trị</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chuẩn</a:t>
            </a:r>
            <a:endParaRPr lang="ko-KR" altLang="en-US" sz="1100" b="1" dirty="0">
              <a:solidFill>
                <a:srgbClr val="00B050"/>
              </a:solidFill>
              <a:latin typeface="맑은 고딕" pitchFamily="50" charset="-127"/>
              <a:ea typeface="맑은 고딕" pitchFamily="50" charset="-127"/>
            </a:endParaRPr>
          </a:p>
          <a:p>
            <a:pPr>
              <a:lnSpc>
                <a:spcPct val="150000"/>
              </a:lnSpc>
            </a:pPr>
            <a:r>
              <a:rPr lang="ko-KR" altLang="en-US" sz="1100" b="1" dirty="0">
                <a:solidFill>
                  <a:srgbClr val="00B050"/>
                </a:solidFill>
                <a:latin typeface="맑은 고딕" pitchFamily="50" charset="-127"/>
                <a:ea typeface="맑은 고딕" pitchFamily="50" charset="-127"/>
              </a:rPr>
              <a:t> </a:t>
            </a:r>
            <a:r>
              <a:rPr lang="en-US" altLang="ko-KR" sz="1100" b="1" dirty="0">
                <a:solidFill>
                  <a:srgbClr val="00B050"/>
                </a:solidFill>
                <a:latin typeface="맑은 고딕" pitchFamily="50" charset="-127"/>
                <a:ea typeface="맑은 고딕" pitchFamily="50" charset="-127"/>
              </a:rPr>
              <a:t>1.Đo </a:t>
            </a:r>
            <a:r>
              <a:rPr lang="en-US" altLang="ko-KR" sz="1100" b="1" dirty="0" err="1">
                <a:solidFill>
                  <a:srgbClr val="00B050"/>
                </a:solidFill>
                <a:latin typeface="맑은 고딕" pitchFamily="50" charset="-127"/>
                <a:ea typeface="맑은 고딕" pitchFamily="50" charset="-127"/>
              </a:rPr>
              <a:t>đạc</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thông</a:t>
            </a:r>
            <a:r>
              <a:rPr lang="en-US" altLang="ko-KR" sz="1100" b="1" dirty="0">
                <a:solidFill>
                  <a:srgbClr val="00B050"/>
                </a:solidFill>
                <a:latin typeface="맑은 고딕" pitchFamily="50" charset="-127"/>
                <a:ea typeface="맑은 고딕" pitchFamily="50" charset="-127"/>
              </a:rPr>
              <a:t> qua </a:t>
            </a:r>
            <a:r>
              <a:rPr lang="en-US" altLang="ko-KR" sz="1100" b="1" dirty="0" err="1">
                <a:solidFill>
                  <a:srgbClr val="00B050"/>
                </a:solidFill>
                <a:latin typeface="맑은 고딕" pitchFamily="50" charset="-127"/>
                <a:ea typeface="맑은 고딕" pitchFamily="50" charset="-127"/>
              </a:rPr>
              <a:t>trang</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thiết</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bị</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đo</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tiên</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tiến</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hàng</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đầu</a:t>
            </a:r>
            <a:endParaRPr lang="ko-KR" altLang="en-US" sz="1100" b="1" dirty="0">
              <a:solidFill>
                <a:srgbClr val="00B050"/>
              </a:solidFill>
              <a:latin typeface="맑은 고딕" pitchFamily="50" charset="-127"/>
              <a:ea typeface="맑은 고딕" pitchFamily="50" charset="-127"/>
            </a:endParaRPr>
          </a:p>
          <a:p>
            <a:pPr>
              <a:lnSpc>
                <a:spcPct val="150000"/>
              </a:lnSpc>
            </a:pPr>
            <a:r>
              <a:rPr lang="ko-KR" altLang="en-US" sz="1100" b="1" dirty="0">
                <a:solidFill>
                  <a:srgbClr val="00B050"/>
                </a:solidFill>
                <a:latin typeface="맑은 고딕" pitchFamily="50" charset="-127"/>
                <a:ea typeface="맑은 고딕" pitchFamily="50" charset="-127"/>
              </a:rPr>
              <a:t> </a:t>
            </a:r>
            <a:r>
              <a:rPr lang="en-US" altLang="ko-KR" sz="1100" b="1" dirty="0">
                <a:solidFill>
                  <a:srgbClr val="00B050"/>
                </a:solidFill>
                <a:latin typeface="맑은 고딕" pitchFamily="50" charset="-127"/>
                <a:ea typeface="맑은 고딕" pitchFamily="50" charset="-127"/>
              </a:rPr>
              <a:t>2.Trường </a:t>
            </a:r>
            <a:r>
              <a:rPr lang="en-US" altLang="ko-KR" sz="1100" b="1" dirty="0" err="1">
                <a:solidFill>
                  <a:srgbClr val="00B050"/>
                </a:solidFill>
                <a:latin typeface="맑은 고딕" pitchFamily="50" charset="-127"/>
                <a:ea typeface="맑은 고딕" pitchFamily="50" charset="-127"/>
              </a:rPr>
              <a:t>hợp</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không</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có</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thiết</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bị</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đo</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tiên</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tiến</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những</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người</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đo</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đạc</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nhiều</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kinh</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nghiệm</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tiến</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hành</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đo</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đạc</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nhiều</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lần</a:t>
            </a:r>
            <a:r>
              <a:rPr lang="ko-KR" altLang="en-US"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và</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sử</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dụng</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giá</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trị</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trung</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bình</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của</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các</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lần</a:t>
            </a:r>
            <a:r>
              <a:rPr lang="en-US" altLang="ko-KR" sz="1100" b="1" dirty="0">
                <a:solidFill>
                  <a:srgbClr val="00B050"/>
                </a:solidFill>
                <a:latin typeface="맑은 고딕" pitchFamily="50" charset="-127"/>
                <a:ea typeface="맑은 고딕" pitchFamily="50" charset="-127"/>
              </a:rPr>
              <a:t> </a:t>
            </a:r>
            <a:r>
              <a:rPr lang="en-US" altLang="ko-KR" sz="1100" b="1" dirty="0" err="1">
                <a:solidFill>
                  <a:srgbClr val="00B050"/>
                </a:solidFill>
                <a:latin typeface="맑은 고딕" pitchFamily="50" charset="-127"/>
                <a:ea typeface="맑은 고딕" pitchFamily="50" charset="-127"/>
              </a:rPr>
              <a:t>đo</a:t>
            </a:r>
            <a:endParaRPr lang="en-US" altLang="ko-KR" sz="1100" b="1" dirty="0">
              <a:solidFill>
                <a:srgbClr val="00B050"/>
              </a:solidFill>
              <a:latin typeface="맑은 고딕" pitchFamily="50" charset="-127"/>
              <a:ea typeface="맑은 고딕" pitchFamily="50" charset="-127"/>
            </a:endParaRPr>
          </a:p>
        </p:txBody>
      </p:sp>
      <p:sp>
        <p:nvSpPr>
          <p:cNvPr id="5" name="슬라이드 번호 개체 틀 4"/>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a:t>
            </a:fld>
            <a:endParaRPr lang="ko-KR" altLang="en-US" dirty="0"/>
          </a:p>
        </p:txBody>
      </p:sp>
    </p:spTree>
    <p:extLst>
      <p:ext uri="{BB962C8B-B14F-4D97-AF65-F5344CB8AC3E}">
        <p14:creationId xmlns:p14="http://schemas.microsoft.com/office/powerpoint/2010/main" val="406045391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chính</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xác</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Đ</a:t>
            </a:r>
            <a:r>
              <a:rPr lang="vi-VN" altLang="ko-KR" sz="1600" b="1" kern="0" dirty="0">
                <a:solidFill>
                  <a:sysClr val="windowText" lastClr="000000">
                    <a:lumMod val="75000"/>
                    <a:lumOff val="25000"/>
                  </a:sysClr>
                </a:solidFill>
                <a:latin typeface="맑은 고딕" pitchFamily="50" charset="-127"/>
                <a:ea typeface="맑은 고딕" pitchFamily="50" charset="-127"/>
              </a:rPr>
              <a:t>ộ tuyến tính</a:t>
            </a:r>
            <a:endParaRPr lang="ko-KR" altLang="en-US" sz="1600" b="1" kern="0" dirty="0">
              <a:solidFill>
                <a:srgbClr val="000000"/>
              </a:solidFill>
              <a:latin typeface="맑은 고딕"/>
              <a:ea typeface="맑은 고딕"/>
            </a:endParaRPr>
          </a:p>
        </p:txBody>
      </p:sp>
      <p:sp>
        <p:nvSpPr>
          <p:cNvPr id="207875" name="Rectangle 77"/>
          <p:cNvSpPr>
            <a:spLocks noChangeArrowheads="1"/>
          </p:cNvSpPr>
          <p:nvPr/>
        </p:nvSpPr>
        <p:spPr bwMode="auto">
          <a:xfrm>
            <a:off x="351692" y="928688"/>
            <a:ext cx="2564124" cy="360362"/>
          </a:xfrm>
          <a:prstGeom prst="rect">
            <a:avLst/>
          </a:prstGeom>
          <a:noFill/>
          <a:ln w="9525" algn="ctr">
            <a:solidFill>
              <a:schemeClr val="bg1">
                <a:lumMod val="50000"/>
              </a:schemeClr>
            </a:solidFill>
            <a:miter lim="800000"/>
            <a:headEnd/>
            <a:tailEnd/>
          </a:ln>
        </p:spPr>
        <p:txBody>
          <a:bodyPr wrap="none" anchor="ctr"/>
          <a:lstStyle/>
          <a:p>
            <a:pPr algn="ctr"/>
            <a:r>
              <a:rPr lang="en-US" altLang="ko-KR" sz="1600" b="1" dirty="0">
                <a:solidFill>
                  <a:srgbClr val="4D4D4D"/>
                </a:solidFill>
                <a:latin typeface="맑은 고딕" pitchFamily="50" charset="-127"/>
                <a:ea typeface="맑은 고딕" pitchFamily="50" charset="-127"/>
              </a:rPr>
              <a:t>Đ</a:t>
            </a:r>
            <a:r>
              <a:rPr lang="vi-VN" altLang="ko-KR" sz="1600" b="1" dirty="0">
                <a:solidFill>
                  <a:srgbClr val="4D4D4D"/>
                </a:solidFill>
                <a:latin typeface="맑은 고딕" pitchFamily="50" charset="-127"/>
                <a:ea typeface="맑은 고딕" pitchFamily="50" charset="-127"/>
              </a:rPr>
              <a:t>ộ tuyến tính</a:t>
            </a:r>
            <a:r>
              <a:rPr lang="en-US" altLang="ko-KR" sz="1600" b="1" dirty="0">
                <a:solidFill>
                  <a:srgbClr val="4D4D4D"/>
                </a:solidFill>
                <a:latin typeface="맑은 고딕" pitchFamily="50" charset="-127"/>
                <a:ea typeface="맑은 고딕" pitchFamily="50" charset="-127"/>
              </a:rPr>
              <a:t> (Linearity)</a:t>
            </a:r>
          </a:p>
        </p:txBody>
      </p:sp>
      <p:sp>
        <p:nvSpPr>
          <p:cNvPr id="207876" name="Text Box 80"/>
          <p:cNvSpPr txBox="1">
            <a:spLocks noChangeArrowheads="1"/>
          </p:cNvSpPr>
          <p:nvPr/>
        </p:nvSpPr>
        <p:spPr bwMode="auto">
          <a:xfrm>
            <a:off x="2987824" y="980728"/>
            <a:ext cx="5009952" cy="292388"/>
          </a:xfrm>
          <a:prstGeom prst="rect">
            <a:avLst/>
          </a:prstGeom>
          <a:noFill/>
          <a:ln w="9525" algn="ctr">
            <a:noFill/>
            <a:miter lim="800000"/>
            <a:headEnd/>
            <a:tailEnd/>
          </a:ln>
        </p:spPr>
        <p:txBody>
          <a:bodyPr wrap="none" lIns="36000" rIns="36000">
            <a:spAutoFit/>
          </a:bodyPr>
          <a:lstStyle/>
          <a:p>
            <a:r>
              <a:rPr lang="en-US" altLang="ko-KR" sz="1300" b="1" dirty="0" err="1">
                <a:latin typeface="맑은 고딕" pitchFamily="50" charset="-127"/>
                <a:ea typeface="맑은 고딕" pitchFamily="50" charset="-127"/>
              </a:rPr>
              <a:t>Độ</a:t>
            </a:r>
            <a:r>
              <a:rPr lang="en-US" altLang="ko-KR" sz="1300" b="1" dirty="0">
                <a:latin typeface="맑은 고딕" pitchFamily="50" charset="-127"/>
                <a:ea typeface="맑은 고딕" pitchFamily="50" charset="-127"/>
              </a:rPr>
              <a:t> </a:t>
            </a:r>
            <a:r>
              <a:rPr lang="en-US" altLang="ko-KR" sz="1300" b="1" dirty="0" err="1">
                <a:latin typeface="맑은 고딕" pitchFamily="50" charset="-127"/>
                <a:ea typeface="맑은 고딕" pitchFamily="50" charset="-127"/>
              </a:rPr>
              <a:t>chênh</a:t>
            </a:r>
            <a:r>
              <a:rPr lang="en-US" altLang="ko-KR" sz="1300" b="1" dirty="0">
                <a:latin typeface="맑은 고딕" pitchFamily="50" charset="-127"/>
                <a:ea typeface="맑은 고딕" pitchFamily="50" charset="-127"/>
              </a:rPr>
              <a:t> </a:t>
            </a:r>
            <a:r>
              <a:rPr lang="en-US" altLang="ko-KR" sz="1300" b="1" dirty="0" err="1">
                <a:latin typeface="맑은 고딕" pitchFamily="50" charset="-127"/>
                <a:ea typeface="맑은 고딕" pitchFamily="50" charset="-127"/>
              </a:rPr>
              <a:t>lệch</a:t>
            </a:r>
            <a:r>
              <a:rPr lang="en-US" altLang="ko-KR" sz="1300" b="1" dirty="0">
                <a:latin typeface="맑은 고딕" pitchFamily="50" charset="-127"/>
                <a:ea typeface="맑은 고딕" pitchFamily="50" charset="-127"/>
              </a:rPr>
              <a:t> </a:t>
            </a:r>
            <a:r>
              <a:rPr lang="en-US" altLang="ko-KR" sz="1300" b="1" dirty="0" err="1">
                <a:latin typeface="맑은 고딕" pitchFamily="50" charset="-127"/>
                <a:ea typeface="맑은 고딕" pitchFamily="50" charset="-127"/>
              </a:rPr>
              <a:t>của</a:t>
            </a:r>
            <a:r>
              <a:rPr lang="en-US" altLang="ko-KR" sz="1300" b="1" dirty="0">
                <a:latin typeface="맑은 고딕" pitchFamily="50" charset="-127"/>
                <a:ea typeface="맑은 고딕" pitchFamily="50" charset="-127"/>
              </a:rPr>
              <a:t> Gage Range </a:t>
            </a:r>
            <a:r>
              <a:rPr lang="en-US" altLang="ko-KR" sz="1300" b="1" dirty="0" err="1">
                <a:latin typeface="맑은 고딕" pitchFamily="50" charset="-127"/>
                <a:ea typeface="맑은 고딕" pitchFamily="50" charset="-127"/>
              </a:rPr>
              <a:t>và</a:t>
            </a:r>
            <a:r>
              <a:rPr lang="en-US" altLang="ko-KR" sz="1300" b="1" dirty="0">
                <a:latin typeface="맑은 고딕" pitchFamily="50" charset="-127"/>
                <a:ea typeface="맑은 고딕" pitchFamily="50" charset="-127"/>
              </a:rPr>
              <a:t> </a:t>
            </a:r>
            <a:r>
              <a:rPr lang="en-US" altLang="ko-KR" sz="1300" b="1" dirty="0" err="1">
                <a:latin typeface="맑은 고딕" pitchFamily="50" charset="-127"/>
                <a:ea typeface="맑은 고딕" pitchFamily="50" charset="-127"/>
              </a:rPr>
              <a:t>toàn</a:t>
            </a:r>
            <a:r>
              <a:rPr lang="en-US" altLang="ko-KR" sz="1300" b="1" dirty="0">
                <a:latin typeface="맑은 고딕" pitchFamily="50" charset="-127"/>
                <a:ea typeface="맑은 고딕" pitchFamily="50" charset="-127"/>
              </a:rPr>
              <a:t> </a:t>
            </a:r>
            <a:r>
              <a:rPr lang="en-US" altLang="ko-KR" sz="1300" b="1" dirty="0" err="1">
                <a:latin typeface="맑은 고딕" pitchFamily="50" charset="-127"/>
                <a:ea typeface="맑은 고딕" pitchFamily="50" charset="-127"/>
              </a:rPr>
              <a:t>bộ</a:t>
            </a:r>
            <a:r>
              <a:rPr lang="en-US" altLang="ko-KR" sz="1300" b="1" dirty="0">
                <a:latin typeface="맑은 고딕" pitchFamily="50" charset="-127"/>
                <a:ea typeface="맑은 고딕" pitchFamily="50" charset="-127"/>
              </a:rPr>
              <a:t> Specification Limit</a:t>
            </a:r>
            <a:endParaRPr lang="ko-KR" altLang="en-US" sz="1300" b="1" dirty="0">
              <a:latin typeface="맑은 고딕" pitchFamily="50" charset="-127"/>
              <a:ea typeface="맑은 고딕" pitchFamily="50" charset="-127"/>
            </a:endParaRPr>
          </a:p>
        </p:txBody>
      </p:sp>
      <p:sp>
        <p:nvSpPr>
          <p:cNvPr id="207877" name="Rectangle 92"/>
          <p:cNvSpPr>
            <a:spLocks noChangeArrowheads="1"/>
          </p:cNvSpPr>
          <p:nvPr/>
        </p:nvSpPr>
        <p:spPr bwMode="auto">
          <a:xfrm>
            <a:off x="589362" y="1571626"/>
            <a:ext cx="3046534" cy="2577454"/>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7878" name="Rectangle 92"/>
          <p:cNvSpPr>
            <a:spLocks noChangeArrowheads="1"/>
          </p:cNvSpPr>
          <p:nvPr/>
        </p:nvSpPr>
        <p:spPr bwMode="auto">
          <a:xfrm>
            <a:off x="3780692" y="3290342"/>
            <a:ext cx="5039780" cy="1002754"/>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7879" name="Text Box 95"/>
          <p:cNvSpPr txBox="1">
            <a:spLocks noChangeArrowheads="1"/>
          </p:cNvSpPr>
          <p:nvPr/>
        </p:nvSpPr>
        <p:spPr bwMode="auto">
          <a:xfrm>
            <a:off x="628949" y="1692276"/>
            <a:ext cx="846707" cy="276999"/>
          </a:xfrm>
          <a:prstGeom prst="rect">
            <a:avLst/>
          </a:prstGeom>
          <a:noFill/>
          <a:ln w="9525" algn="ctr">
            <a:noFill/>
            <a:miter lim="800000"/>
            <a:headEnd/>
            <a:tailEnd/>
          </a:ln>
        </p:spPr>
        <p:txBody>
          <a:bodyPr wrap="none">
            <a:spAutoFit/>
          </a:bodyPr>
          <a:lstStyle/>
          <a:p>
            <a:pPr algn="ct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endParaRPr lang="ko-KR" altLang="en-US" sz="1200" dirty="0">
              <a:latin typeface="맑은 고딕" pitchFamily="50" charset="-127"/>
              <a:ea typeface="맑은 고딕" pitchFamily="50" charset="-127"/>
            </a:endParaRPr>
          </a:p>
        </p:txBody>
      </p:sp>
      <p:sp>
        <p:nvSpPr>
          <p:cNvPr id="207880" name="Line 97"/>
          <p:cNvSpPr>
            <a:spLocks noChangeShapeType="1"/>
          </p:cNvSpPr>
          <p:nvPr/>
        </p:nvSpPr>
        <p:spPr bwMode="auto">
          <a:xfrm flipV="1">
            <a:off x="1021374" y="2000251"/>
            <a:ext cx="1836126" cy="1533525"/>
          </a:xfrm>
          <a:prstGeom prst="line">
            <a:avLst/>
          </a:prstGeom>
          <a:noFill/>
          <a:ln w="9525">
            <a:solidFill>
              <a:schemeClr val="accent2"/>
            </a:solidFill>
            <a:round/>
            <a:headEnd/>
            <a:tailEnd/>
          </a:ln>
        </p:spPr>
        <p:txBody>
          <a:bodyPr wrap="none" anchor="ctr"/>
          <a:lstStyle/>
          <a:p>
            <a:endParaRPr lang="ko-KR" altLang="en-US" dirty="0"/>
          </a:p>
        </p:txBody>
      </p:sp>
      <p:pic>
        <p:nvPicPr>
          <p:cNvPr id="207881" name="Picture 9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67962" y="3071813"/>
            <a:ext cx="296008" cy="482600"/>
          </a:xfrm>
          <a:prstGeom prst="rect">
            <a:avLst/>
          </a:prstGeom>
          <a:noFill/>
          <a:ln w="9525">
            <a:noFill/>
            <a:miter lim="800000"/>
            <a:headEnd/>
            <a:tailEnd/>
          </a:ln>
        </p:spPr>
      </p:pic>
      <p:pic>
        <p:nvPicPr>
          <p:cNvPr id="207882" name="Picture 99"/>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24151" y="2611438"/>
            <a:ext cx="296008" cy="482600"/>
          </a:xfrm>
          <a:prstGeom prst="rect">
            <a:avLst/>
          </a:prstGeom>
          <a:noFill/>
          <a:ln w="9525">
            <a:noFill/>
            <a:miter lim="800000"/>
            <a:headEnd/>
            <a:tailEnd/>
          </a:ln>
        </p:spPr>
      </p:pic>
      <p:sp>
        <p:nvSpPr>
          <p:cNvPr id="207883" name="Text Box 100"/>
          <p:cNvSpPr txBox="1">
            <a:spLocks noChangeArrowheads="1"/>
          </p:cNvSpPr>
          <p:nvPr/>
        </p:nvSpPr>
        <p:spPr bwMode="auto">
          <a:xfrm>
            <a:off x="2915816" y="3573016"/>
            <a:ext cx="808112" cy="400110"/>
          </a:xfrm>
          <a:prstGeom prst="rect">
            <a:avLst/>
          </a:prstGeom>
          <a:noFill/>
          <a:ln w="9525" algn="ctr">
            <a:noFill/>
            <a:miter lim="800000"/>
            <a:headEnd/>
            <a:tailEnd/>
          </a:ln>
        </p:spPr>
        <p:txBody>
          <a:bodyPr wrap="square">
            <a:spAutoFit/>
          </a:bodyPr>
          <a:lstStyle/>
          <a:p>
            <a:pPr algn="ct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tiêu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chuẩn</a:t>
            </a:r>
            <a:endParaRPr lang="ko-KR" altLang="en-US" sz="1000" dirty="0">
              <a:latin typeface="맑은 고딕" pitchFamily="50" charset="-127"/>
              <a:ea typeface="맑은 고딕" pitchFamily="50" charset="-127"/>
            </a:endParaRPr>
          </a:p>
        </p:txBody>
      </p:sp>
      <p:pic>
        <p:nvPicPr>
          <p:cNvPr id="207884" name="Picture 101"/>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130670" y="2841625"/>
            <a:ext cx="296008" cy="482600"/>
          </a:xfrm>
          <a:prstGeom prst="rect">
            <a:avLst/>
          </a:prstGeom>
          <a:noFill/>
          <a:ln w="9525">
            <a:noFill/>
            <a:miter lim="800000"/>
            <a:headEnd/>
            <a:tailEnd/>
          </a:ln>
        </p:spPr>
      </p:pic>
      <p:sp>
        <p:nvSpPr>
          <p:cNvPr id="207885" name="Line 102"/>
          <p:cNvSpPr>
            <a:spLocks noChangeShapeType="1"/>
          </p:cNvSpPr>
          <p:nvPr/>
        </p:nvSpPr>
        <p:spPr bwMode="auto">
          <a:xfrm>
            <a:off x="1601666" y="3665538"/>
            <a:ext cx="1312985" cy="635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86" name="Text Box 103"/>
          <p:cNvSpPr txBox="1">
            <a:spLocks noChangeArrowheads="1"/>
          </p:cNvSpPr>
          <p:nvPr/>
        </p:nvSpPr>
        <p:spPr bwMode="auto">
          <a:xfrm>
            <a:off x="1723293" y="3643314"/>
            <a:ext cx="1129812" cy="274637"/>
          </a:xfrm>
          <a:prstGeom prst="rect">
            <a:avLst/>
          </a:prstGeom>
          <a:noFill/>
          <a:ln w="9525" algn="ctr">
            <a:noFill/>
            <a:miter lim="800000"/>
            <a:headEnd/>
            <a:tailEnd/>
          </a:ln>
        </p:spPr>
        <p:txBody>
          <a:bodyPr>
            <a:spAutoFit/>
          </a:bodyPr>
          <a:lstStyle/>
          <a:p>
            <a:r>
              <a:rPr lang="en-US" altLang="ko-KR" sz="1200" dirty="0">
                <a:solidFill>
                  <a:srgbClr val="FF0000"/>
                </a:solidFill>
                <a:latin typeface="맑은 고딕" pitchFamily="50" charset="-127"/>
                <a:ea typeface="맑은 고딕" pitchFamily="50" charset="-127"/>
              </a:rPr>
              <a:t>Gage Range</a:t>
            </a:r>
          </a:p>
        </p:txBody>
      </p:sp>
      <p:sp>
        <p:nvSpPr>
          <p:cNvPr id="207887" name="Line 104"/>
          <p:cNvSpPr>
            <a:spLocks noChangeShapeType="1"/>
          </p:cNvSpPr>
          <p:nvPr/>
        </p:nvSpPr>
        <p:spPr bwMode="auto">
          <a:xfrm flipV="1">
            <a:off x="1021374" y="2714626"/>
            <a:ext cx="2099896" cy="835025"/>
          </a:xfrm>
          <a:prstGeom prst="line">
            <a:avLst/>
          </a:prstGeom>
          <a:noFill/>
          <a:ln w="9525">
            <a:solidFill>
              <a:schemeClr val="bg1">
                <a:lumMod val="50000"/>
              </a:schemeClr>
            </a:solidFill>
            <a:round/>
            <a:headEnd/>
            <a:tailEnd/>
          </a:ln>
        </p:spPr>
        <p:txBody>
          <a:bodyPr wrap="none" anchor="ctr"/>
          <a:lstStyle/>
          <a:p>
            <a:endParaRPr lang="ko-KR" altLang="en-US" dirty="0"/>
          </a:p>
        </p:txBody>
      </p:sp>
      <p:sp>
        <p:nvSpPr>
          <p:cNvPr id="207888" name="Line 105"/>
          <p:cNvSpPr>
            <a:spLocks noChangeShapeType="1"/>
          </p:cNvSpPr>
          <p:nvPr/>
        </p:nvSpPr>
        <p:spPr bwMode="auto">
          <a:xfrm>
            <a:off x="1652954" y="3009900"/>
            <a:ext cx="0" cy="287338"/>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89" name="Line 106"/>
          <p:cNvSpPr>
            <a:spLocks noChangeShapeType="1"/>
          </p:cNvSpPr>
          <p:nvPr/>
        </p:nvSpPr>
        <p:spPr bwMode="auto">
          <a:xfrm flipH="1">
            <a:off x="2198077" y="2566988"/>
            <a:ext cx="4397" cy="50800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90" name="Line 107"/>
          <p:cNvSpPr>
            <a:spLocks noChangeShapeType="1"/>
          </p:cNvSpPr>
          <p:nvPr/>
        </p:nvSpPr>
        <p:spPr bwMode="auto">
          <a:xfrm>
            <a:off x="2791558" y="2071688"/>
            <a:ext cx="0" cy="78105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207891" name="Freeform 108"/>
          <p:cNvSpPr>
            <a:spLocks/>
          </p:cNvSpPr>
          <p:nvPr/>
        </p:nvSpPr>
        <p:spPr bwMode="auto">
          <a:xfrm>
            <a:off x="1011116" y="1928813"/>
            <a:ext cx="2253762" cy="1630362"/>
          </a:xfrm>
          <a:custGeom>
            <a:avLst/>
            <a:gdLst>
              <a:gd name="T0" fmla="*/ 0 w 1134"/>
              <a:gd name="T1" fmla="*/ 0 h 817"/>
              <a:gd name="T2" fmla="*/ 0 w 1134"/>
              <a:gd name="T3" fmla="*/ 817 h 817"/>
              <a:gd name="T4" fmla="*/ 1134 w 1134"/>
              <a:gd name="T5" fmla="*/ 817 h 817"/>
              <a:gd name="T6" fmla="*/ 0 60000 65536"/>
              <a:gd name="T7" fmla="*/ 0 60000 65536"/>
              <a:gd name="T8" fmla="*/ 0 60000 65536"/>
              <a:gd name="T9" fmla="*/ 0 w 1134"/>
              <a:gd name="T10" fmla="*/ 0 h 817"/>
              <a:gd name="T11" fmla="*/ 1134 w 1134"/>
              <a:gd name="T12" fmla="*/ 817 h 817"/>
            </a:gdLst>
            <a:ahLst/>
            <a:cxnLst>
              <a:cxn ang="T6">
                <a:pos x="T0" y="T1"/>
              </a:cxn>
              <a:cxn ang="T7">
                <a:pos x="T2" y="T3"/>
              </a:cxn>
              <a:cxn ang="T8">
                <a:pos x="T4" y="T5"/>
              </a:cxn>
            </a:cxnLst>
            <a:rect l="T9" t="T10" r="T11" b="T12"/>
            <a:pathLst>
              <a:path w="1134" h="817">
                <a:moveTo>
                  <a:pt x="0" y="0"/>
                </a:moveTo>
                <a:lnTo>
                  <a:pt x="0" y="817"/>
                </a:lnTo>
                <a:lnTo>
                  <a:pt x="1134" y="817"/>
                </a:lnTo>
              </a:path>
            </a:pathLst>
          </a:custGeom>
          <a:noFill/>
          <a:ln w="9525">
            <a:solidFill>
              <a:schemeClr val="bg1">
                <a:lumMod val="50000"/>
              </a:schemeClr>
            </a:solidFill>
            <a:round/>
            <a:headEnd type="triangle" w="med" len="med"/>
            <a:tailEnd type="triangle" w="med" len="med"/>
          </a:ln>
        </p:spPr>
        <p:txBody>
          <a:bodyPr wrap="none" anchor="ctr"/>
          <a:lstStyle/>
          <a:p>
            <a:endParaRPr lang="ko-KR" altLang="en-US" dirty="0"/>
          </a:p>
        </p:txBody>
      </p:sp>
      <p:sp>
        <p:nvSpPr>
          <p:cNvPr id="207892" name="Text Box 109"/>
          <p:cNvSpPr txBox="1">
            <a:spLocks noChangeArrowheads="1"/>
          </p:cNvSpPr>
          <p:nvPr/>
        </p:nvSpPr>
        <p:spPr bwMode="auto">
          <a:xfrm>
            <a:off x="2725616" y="2233614"/>
            <a:ext cx="630301" cy="246221"/>
          </a:xfrm>
          <a:prstGeom prst="rect">
            <a:avLst/>
          </a:prstGeom>
          <a:noFill/>
          <a:ln w="9525" algn="ctr">
            <a:noFill/>
            <a:miter lim="800000"/>
            <a:headEnd/>
            <a:tailEnd/>
          </a:ln>
        </p:spPr>
        <p:txBody>
          <a:bodyPr wrap="none">
            <a:spAutoFit/>
          </a:bodyPr>
          <a:lstStyle/>
          <a:p>
            <a:r>
              <a:rPr lang="en-US" altLang="ko-KR" sz="1000" dirty="0" err="1">
                <a:solidFill>
                  <a:srgbClr val="FF0000"/>
                </a:solidFill>
                <a:latin typeface="맑은 고딕" pitchFamily="50" charset="-127"/>
                <a:ea typeface="맑은 고딕" pitchFamily="50" charset="-127"/>
              </a:rPr>
              <a:t>Độ</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lệch</a:t>
            </a:r>
            <a:endParaRPr lang="ko-KR" altLang="en-US" sz="1000" dirty="0">
              <a:solidFill>
                <a:srgbClr val="FF0000"/>
              </a:solidFill>
              <a:latin typeface="맑은 고딕" pitchFamily="50" charset="-127"/>
              <a:ea typeface="맑은 고딕" pitchFamily="50" charset="-127"/>
            </a:endParaRPr>
          </a:p>
        </p:txBody>
      </p:sp>
      <p:sp>
        <p:nvSpPr>
          <p:cNvPr id="207893" name="Text Box 110"/>
          <p:cNvSpPr txBox="1">
            <a:spLocks noChangeArrowheads="1"/>
          </p:cNvSpPr>
          <p:nvPr/>
        </p:nvSpPr>
        <p:spPr bwMode="auto">
          <a:xfrm>
            <a:off x="2140928" y="2643189"/>
            <a:ext cx="630301" cy="246221"/>
          </a:xfrm>
          <a:prstGeom prst="rect">
            <a:avLst/>
          </a:prstGeom>
          <a:noFill/>
          <a:ln w="9525" algn="ctr">
            <a:noFill/>
            <a:miter lim="800000"/>
            <a:headEnd/>
            <a:tailEnd/>
          </a:ln>
        </p:spPr>
        <p:txBody>
          <a:bodyPr wrap="none">
            <a:spAutoFit/>
          </a:bodyPr>
          <a:lstStyle/>
          <a:p>
            <a:r>
              <a:rPr lang="en-US" altLang="ko-KR" sz="1000" dirty="0" err="1">
                <a:solidFill>
                  <a:srgbClr val="FF0000"/>
                </a:solidFill>
                <a:latin typeface="맑은 고딕" pitchFamily="50" charset="-127"/>
                <a:ea typeface="맑은 고딕" pitchFamily="50" charset="-127"/>
              </a:rPr>
              <a:t>Độ</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lệch</a:t>
            </a:r>
            <a:endParaRPr lang="ko-KR" altLang="en-US" sz="1000" dirty="0">
              <a:solidFill>
                <a:srgbClr val="FF0000"/>
              </a:solidFill>
              <a:latin typeface="맑은 고딕" pitchFamily="50" charset="-127"/>
              <a:ea typeface="맑은 고딕" pitchFamily="50" charset="-127"/>
            </a:endParaRPr>
          </a:p>
        </p:txBody>
      </p:sp>
      <p:sp>
        <p:nvSpPr>
          <p:cNvPr id="207894" name="Text Box 111"/>
          <p:cNvSpPr txBox="1">
            <a:spLocks noChangeArrowheads="1"/>
          </p:cNvSpPr>
          <p:nvPr/>
        </p:nvSpPr>
        <p:spPr bwMode="auto">
          <a:xfrm>
            <a:off x="1604597" y="2938464"/>
            <a:ext cx="630301" cy="246221"/>
          </a:xfrm>
          <a:prstGeom prst="rect">
            <a:avLst/>
          </a:prstGeom>
          <a:noFill/>
          <a:ln w="9525" algn="ctr">
            <a:noFill/>
            <a:miter lim="800000"/>
            <a:headEnd/>
            <a:tailEnd/>
          </a:ln>
        </p:spPr>
        <p:txBody>
          <a:bodyPr wrap="none">
            <a:spAutoFit/>
          </a:bodyPr>
          <a:lstStyle/>
          <a:p>
            <a:r>
              <a:rPr lang="en-US" altLang="ko-KR" sz="1000" dirty="0" err="1">
                <a:solidFill>
                  <a:srgbClr val="FF0000"/>
                </a:solidFill>
                <a:latin typeface="맑은 고딕" pitchFamily="50" charset="-127"/>
                <a:ea typeface="맑은 고딕" pitchFamily="50" charset="-127"/>
              </a:rPr>
              <a:t>Độ</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lệch</a:t>
            </a:r>
            <a:endParaRPr lang="ko-KR" altLang="en-US" sz="1000" dirty="0">
              <a:solidFill>
                <a:srgbClr val="FF0000"/>
              </a:solidFill>
              <a:latin typeface="맑은 고딕" pitchFamily="50" charset="-127"/>
              <a:ea typeface="맑은 고딕" pitchFamily="50" charset="-127"/>
            </a:endParaRPr>
          </a:p>
        </p:txBody>
      </p:sp>
      <p:pic>
        <p:nvPicPr>
          <p:cNvPr id="207895" name="Picture 132"/>
          <p:cNvPicPr>
            <a:picLocks noChangeAspect="1" noChangeArrowheads="1"/>
          </p:cNvPicPr>
          <p:nvPr/>
        </p:nvPicPr>
        <p:blipFill>
          <a:blip r:embed="rId3" cstate="print">
            <a:extLst>
              <a:ext uri="{28A0092B-C50C-407E-A947-70E740481C1C}">
                <a14:useLocalDpi xmlns:a14="http://schemas.microsoft.com/office/drawing/2010/main" val="0"/>
              </a:ext>
            </a:extLst>
          </a:blip>
          <a:srcRect l="1250" t="4059" r="6790" b="3961"/>
          <a:stretch>
            <a:fillRect/>
          </a:stretch>
        </p:blipFill>
        <p:spPr bwMode="auto">
          <a:xfrm>
            <a:off x="3774831" y="1484784"/>
            <a:ext cx="4907574" cy="1776983"/>
          </a:xfrm>
          <a:prstGeom prst="rect">
            <a:avLst/>
          </a:prstGeom>
          <a:noFill/>
          <a:ln w="9525" algn="ctr">
            <a:noFill/>
            <a:miter lim="800000"/>
            <a:headEnd/>
            <a:tailEnd/>
          </a:ln>
        </p:spPr>
      </p:pic>
      <p:sp>
        <p:nvSpPr>
          <p:cNvPr id="207896" name="Text Box 129"/>
          <p:cNvSpPr txBox="1">
            <a:spLocks noChangeArrowheads="1"/>
          </p:cNvSpPr>
          <p:nvPr/>
        </p:nvSpPr>
        <p:spPr bwMode="auto">
          <a:xfrm>
            <a:off x="3707904" y="3277433"/>
            <a:ext cx="5154691" cy="1015663"/>
          </a:xfrm>
          <a:prstGeom prst="rect">
            <a:avLst/>
          </a:prstGeom>
          <a:noFill/>
          <a:ln w="9525" algn="ctr">
            <a:noFill/>
            <a:miter lim="800000"/>
            <a:headEnd/>
            <a:tailEnd/>
          </a:ln>
        </p:spPr>
        <p:txBody>
          <a:bodyPr wrap="square">
            <a:spAutoFit/>
          </a:bodyPr>
          <a:lstStyle/>
          <a:p>
            <a:pPr>
              <a:buFont typeface="Arial" pitchFamily="34" charset="0"/>
              <a:buChar char="•"/>
            </a:pPr>
            <a:r>
              <a:rPr lang="ko-KR" altLang="en-US"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Tiêu</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chuẩn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đánh</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giá</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của</a:t>
            </a:r>
            <a:r>
              <a:rPr lang="en-US" altLang="ko-KR" sz="1200" b="1" dirty="0">
                <a:solidFill>
                  <a:srgbClr val="00B050"/>
                </a:solidFill>
                <a:latin typeface="맑은 고딕" pitchFamily="50" charset="-127"/>
                <a:ea typeface="맑은 고딕" pitchFamily="50" charset="-127"/>
              </a:rPr>
              <a:t> Linearity</a:t>
            </a:r>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a:t>
            </a:r>
          </a:p>
          <a:p>
            <a:r>
              <a:rPr lang="en-US" altLang="ko-KR" sz="1200" b="1" dirty="0">
                <a:solidFill>
                  <a:srgbClr val="00B050"/>
                </a:solidFill>
                <a:latin typeface="맑은 고딕" pitchFamily="50" charset="-127"/>
                <a:ea typeface="맑은 고딕" pitchFamily="50" charset="-127"/>
              </a:rPr>
              <a:t> (1) </a:t>
            </a:r>
            <a:r>
              <a:rPr lang="en-US" altLang="ko-KR" sz="1200" b="1" dirty="0" err="1">
                <a:solidFill>
                  <a:srgbClr val="00B050"/>
                </a:solidFill>
                <a:latin typeface="맑은 고딕" pitchFamily="50" charset="-127"/>
                <a:ea typeface="맑은 고딕" pitchFamily="50" charset="-127"/>
              </a:rPr>
              <a:t>Dưới</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tiêu</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chuẩn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lưu</a:t>
            </a:r>
            <a:r>
              <a:rPr lang="en-US" altLang="ko-KR" sz="1200" b="1" dirty="0">
                <a:solidFill>
                  <a:srgbClr val="00B050"/>
                </a:solidFill>
                <a:latin typeface="맑은 고딕" pitchFamily="50" charset="-127"/>
                <a:ea typeface="맑은 고딕" pitchFamily="50" charset="-127"/>
              </a:rPr>
              <a:t> ý </a:t>
            </a:r>
            <a:r>
              <a:rPr lang="en-US" altLang="ko-KR" sz="1200" b="1" dirty="0" err="1">
                <a:solidFill>
                  <a:srgbClr val="00B050"/>
                </a:solidFill>
                <a:latin typeface="맑은 고딕" pitchFamily="50" charset="-127"/>
                <a:ea typeface="맑은 고딕" pitchFamily="50" charset="-127"/>
              </a:rPr>
              <a:t>được</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cho</a:t>
            </a:r>
            <a:r>
              <a:rPr lang="en-US" altLang="ko-KR" sz="1200" b="1" dirty="0">
                <a:solidFill>
                  <a:srgbClr val="00B050"/>
                </a:solidFill>
                <a:latin typeface="맑은 고딕" pitchFamily="50" charset="-127"/>
                <a:ea typeface="맑은 고딕" pitchFamily="50" charset="-127"/>
              </a:rPr>
              <a:t> Slope = 0 </a:t>
            </a:r>
            <a:r>
              <a:rPr lang="en-US" altLang="ko-KR" sz="1200" b="1" dirty="0" err="1">
                <a:solidFill>
                  <a:srgbClr val="00B050"/>
                </a:solidFill>
                <a:latin typeface="맑은 고딕" pitchFamily="50" charset="-127"/>
                <a:ea typeface="맑은 고딕" pitchFamily="50" charset="-127"/>
              </a:rPr>
              <a:t>không</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lưu</a:t>
            </a:r>
            <a:r>
              <a:rPr lang="en-US" altLang="ko-KR" sz="1200" b="1" dirty="0">
                <a:solidFill>
                  <a:srgbClr val="00B050"/>
                </a:solidFill>
                <a:latin typeface="맑은 고딕" pitchFamily="50" charset="-127"/>
                <a:ea typeface="맑은 고딕" pitchFamily="50" charset="-127"/>
              </a:rPr>
              <a:t> ý</a:t>
            </a:r>
            <a:endParaRPr lang="ko-KR" altLang="en-US" sz="1200" b="1" dirty="0">
              <a:solidFill>
                <a:srgbClr val="00B050"/>
              </a:solidFill>
              <a:latin typeface="맑은 고딕" pitchFamily="50" charset="-127"/>
              <a:ea typeface="맑은 고딕" pitchFamily="50" charset="-127"/>
            </a:endParaRPr>
          </a:p>
          <a:p>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(2) %Linearity &lt; 5(%)</a:t>
            </a:r>
          </a:p>
          <a:p>
            <a:r>
              <a:rPr lang="en-US" altLang="ko-KR" sz="1200" b="1" dirty="0">
                <a:solidFill>
                  <a:srgbClr val="00B050"/>
                </a:solidFill>
                <a:latin typeface="맑은 고딕" pitchFamily="50" charset="-127"/>
                <a:ea typeface="맑은 고딕" pitchFamily="50" charset="-127"/>
              </a:rPr>
              <a:t> (3) </a:t>
            </a:r>
            <a:r>
              <a:rPr lang="en-US" altLang="ko-KR" sz="1200" b="1" dirty="0" err="1">
                <a:solidFill>
                  <a:srgbClr val="00B050"/>
                </a:solidFill>
                <a:latin typeface="맑은 고딕" pitchFamily="50" charset="-127"/>
                <a:ea typeface="맑은 고딕" pitchFamily="50" charset="-127"/>
              </a:rPr>
              <a:t>Dưới</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tiêu</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chuẩn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lưu</a:t>
            </a:r>
            <a:r>
              <a:rPr lang="en-US" altLang="ko-KR" sz="1200" b="1" dirty="0">
                <a:solidFill>
                  <a:srgbClr val="00B050"/>
                </a:solidFill>
                <a:latin typeface="맑은 고딕" pitchFamily="50" charset="-127"/>
                <a:ea typeface="맑은 고딕" pitchFamily="50" charset="-127"/>
              </a:rPr>
              <a:t> ý </a:t>
            </a:r>
            <a:r>
              <a:rPr lang="en-US" altLang="ko-KR" sz="1200" b="1" dirty="0" err="1">
                <a:solidFill>
                  <a:srgbClr val="00B050"/>
                </a:solidFill>
                <a:latin typeface="맑은 고딕" pitchFamily="50" charset="-127"/>
                <a:ea typeface="맑은 고딕" pitchFamily="50" charset="-127"/>
              </a:rPr>
              <a:t>được</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cho</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tất</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cả</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độ</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lệch</a:t>
            </a:r>
            <a:r>
              <a:rPr lang="en-US" altLang="ko-KR" sz="1200" b="1" dirty="0">
                <a:solidFill>
                  <a:srgbClr val="00B050"/>
                </a:solidFill>
                <a:latin typeface="맑은 고딕" pitchFamily="50" charset="-127"/>
                <a:ea typeface="맑은 고딕" pitchFamily="50" charset="-127"/>
              </a:rPr>
              <a:t> Bias </a:t>
            </a:r>
            <a:r>
              <a:rPr lang="en-US" altLang="ko-KR" sz="1200" b="1" dirty="0" err="1">
                <a:solidFill>
                  <a:srgbClr val="00B050"/>
                </a:solidFill>
                <a:latin typeface="맑은 고딕" pitchFamily="50" charset="-127"/>
                <a:ea typeface="맑은 고딕" pitchFamily="50" charset="-127"/>
              </a:rPr>
              <a:t>của</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điểm</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cá</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biệt</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đều</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không</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lưu</a:t>
            </a:r>
            <a:r>
              <a:rPr lang="en-US" altLang="ko-KR" sz="1200" b="1" dirty="0">
                <a:solidFill>
                  <a:srgbClr val="00B050"/>
                </a:solidFill>
                <a:latin typeface="맑은 고딕" pitchFamily="50" charset="-127"/>
                <a:ea typeface="맑은 고딕" pitchFamily="50" charset="-127"/>
              </a:rPr>
              <a:t> ý</a:t>
            </a:r>
            <a:endParaRPr lang="ko-KR" altLang="en-US" sz="1200" b="1" dirty="0">
              <a:solidFill>
                <a:srgbClr val="00B050"/>
              </a:solidFill>
              <a:latin typeface="맑은 고딕" pitchFamily="50" charset="-127"/>
              <a:ea typeface="맑은 고딕" pitchFamily="50" charset="-127"/>
            </a:endParaRPr>
          </a:p>
        </p:txBody>
      </p:sp>
      <p:sp>
        <p:nvSpPr>
          <p:cNvPr id="207897" name="직사각형 29"/>
          <p:cNvSpPr>
            <a:spLocks noChangeArrowheads="1"/>
          </p:cNvSpPr>
          <p:nvPr/>
        </p:nvSpPr>
        <p:spPr bwMode="auto">
          <a:xfrm>
            <a:off x="539552" y="4349422"/>
            <a:ext cx="8606330" cy="1815882"/>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Phương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pháp</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chứng</a:t>
            </a:r>
            <a:r>
              <a:rPr lang="en-US" altLang="ko-KR" sz="1400" b="1" dirty="0">
                <a:latin typeface="맑은 고딕" pitchFamily="50" charset="-127"/>
                <a:ea typeface="맑은 고딕" pitchFamily="50" charset="-127"/>
              </a:rPr>
              <a:t> Linearity</a:t>
            </a: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Một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người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đánh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tiến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hành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từ</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một</a:t>
            </a:r>
            <a:r>
              <a:rPr lang="en-US" altLang="ko-KR" sz="1400" dirty="0">
                <a:latin typeface="맑은 고딕" pitchFamily="50" charset="-127"/>
                <a:ea typeface="맑은 고딕" pitchFamily="50" charset="-127"/>
              </a:rPr>
              <a:t> sample </a:t>
            </a:r>
            <a:r>
              <a:rPr lang="en-US" altLang="ko-KR" sz="1400" dirty="0" err="1">
                <a:latin typeface="맑은 고딕" pitchFamily="50" charset="-127"/>
                <a:ea typeface="맑은 고딕" pitchFamily="50" charset="-127"/>
              </a:rPr>
              <a:t>tiêu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chuẩn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thể</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theo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dõi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được</a:t>
            </a:r>
            <a:r>
              <a:rPr lang="en-US" altLang="ko-KR" sz="1400" dirty="0">
                <a:latin typeface="맑은 고딕" pitchFamily="50" charset="-127"/>
                <a:ea typeface="맑은 고딕" pitchFamily="50" charset="-127"/>
              </a:rPr>
              <a:t> (traceable sample)</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Trên</a:t>
            </a:r>
            <a:r>
              <a:rPr lang="en-US" altLang="ko-KR" sz="1400" dirty="0">
                <a:latin typeface="맑은 고딕" pitchFamily="50" charset="-127"/>
                <a:ea typeface="맑은 고딕" pitchFamily="50" charset="-127"/>
              </a:rPr>
              <a:t> process </a:t>
            </a:r>
            <a:r>
              <a:rPr lang="en-US" altLang="ko-KR" sz="1400" dirty="0" err="1">
                <a:latin typeface="맑은 고딕" pitchFamily="50" charset="-127"/>
                <a:ea typeface="맑은 고딕" pitchFamily="50" charset="-127"/>
              </a:rPr>
              <a:t>trong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phạm</a:t>
            </a:r>
            <a:r>
              <a:rPr lang="en-US" altLang="ko-KR" sz="1400" dirty="0">
                <a:latin typeface="맑은 고딕" pitchFamily="50" charset="-127"/>
                <a:ea typeface="맑은 고딕" pitchFamily="50" charset="-127"/>
              </a:rPr>
              <a:t> vi </a:t>
            </a:r>
            <a:r>
              <a:rPr lang="en-US" altLang="ko-KR" sz="1400" dirty="0" err="1">
                <a:latin typeface="맑은 고딕" pitchFamily="50" charset="-127"/>
                <a:ea typeface="맑은 고딕" pitchFamily="50" charset="-127"/>
              </a:rPr>
              <a:t>biến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động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thông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thường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của</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linh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kiện</a:t>
            </a:r>
            <a:r>
              <a:rPr lang="en-US" altLang="ko-KR" sz="1400" dirty="0">
                <a:latin typeface="맑은 고딕" pitchFamily="50" charset="-127"/>
                <a:ea typeface="맑은 고딕" pitchFamily="50" charset="-127"/>
              </a:rPr>
              <a:t>/</a:t>
            </a:r>
            <a:r>
              <a:rPr lang="en-US" altLang="ko-KR" sz="1400" dirty="0" err="1">
                <a:latin typeface="맑은 고딕" pitchFamily="50" charset="-127"/>
                <a:ea typeface="맑은 고딕" pitchFamily="50" charset="-127"/>
              </a:rPr>
              <a:t>sản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phẩm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khả</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năng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quan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sát</a:t>
            </a:r>
            <a:endParaRPr lang="en-US" altLang="ko-KR" sz="1400" dirty="0">
              <a:latin typeface="맑은 고딕" pitchFamily="50" charset="-127"/>
              <a:ea typeface="맑은 고딕" pitchFamily="50" charset="-127"/>
            </a:endParaRPr>
          </a:p>
          <a:p>
            <a:r>
              <a:rPr lang="en-US" altLang="ko-KR" sz="1400" dirty="0" err="1">
                <a:latin typeface="맑은 고딕" pitchFamily="50" charset="-127"/>
                <a:ea typeface="맑은 고딕" pitchFamily="50" charset="-127"/>
              </a:rPr>
              <a:t>được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lựa</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chọn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trí</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thể</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trong</a:t>
            </a:r>
            <a:r>
              <a:rPr lang="en-US" altLang="ko-KR" sz="1400" dirty="0">
                <a:latin typeface="맑은 고딕" pitchFamily="50" charset="-127"/>
                <a:ea typeface="맑은 고딕" pitchFamily="50" charset="-127"/>
              </a:rPr>
              <a:t> Gage (</a:t>
            </a:r>
            <a:r>
              <a:rPr lang="en-US" altLang="ko-KR" sz="1400" dirty="0" err="1">
                <a:latin typeface="맑은 고딕" pitchFamily="50" charset="-127"/>
                <a:ea typeface="맑은 고딕" pitchFamily="50" charset="-127"/>
              </a:rPr>
              <a:t>tối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thiểu</a:t>
            </a:r>
            <a:r>
              <a:rPr lang="en-US" altLang="ko-KR" sz="1400" dirty="0">
                <a:latin typeface="맑은 고딕" pitchFamily="50" charset="-127"/>
                <a:ea typeface="맑은 고딕" pitchFamily="50" charset="-127"/>
              </a:rPr>
              <a:t> 3 </a:t>
            </a:r>
            <a:r>
              <a:rPr lang="en-US" altLang="ko-KR" sz="1400" dirty="0" err="1">
                <a:latin typeface="맑은 고딕" pitchFamily="50" charset="-127"/>
                <a:ea typeface="맑은 고딕" pitchFamily="50" charset="-127"/>
              </a:rPr>
              <a:t>điểm</a:t>
            </a:r>
            <a:r>
              <a:rPr lang="en-US" altLang="ko-KR" sz="1400" dirty="0">
                <a:latin typeface="맑은 고딕" pitchFamily="50" charset="-127"/>
                <a:ea typeface="맑은 고딕" pitchFamily="50" charset="-127"/>
              </a:rPr>
              <a:t>, low, middle, high) </a:t>
            </a:r>
            <a:r>
              <a:rPr lang="en-US" altLang="ko-KR" sz="1400" dirty="0" err="1">
                <a:latin typeface="맑은 고딕" pitchFamily="50" charset="-127"/>
                <a:ea typeface="맑은 고딕" pitchFamily="50" charset="-127"/>
              </a:rPr>
              <a:t>và</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tiến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hành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p>
          <a:p>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lặp</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lại</a:t>
            </a:r>
            <a:r>
              <a:rPr lang="en-US" altLang="ko-KR" sz="1400" dirty="0">
                <a:latin typeface="맑은 고딕" pitchFamily="50" charset="-127"/>
                <a:ea typeface="맑은 고딕" pitchFamily="50" charset="-127"/>
              </a:rPr>
              <a:t> (12~ 16lần)</a:t>
            </a:r>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Trong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kết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quả</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phân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tích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hồi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quy</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về</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độ</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lệch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kiểm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chứng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độ</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nghiêng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không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ý </a:t>
            </a:r>
            <a:r>
              <a:rPr lang="en-US" altLang="ko-KR" sz="1400" dirty="0" err="1">
                <a:latin typeface="맑은 고딕" pitchFamily="50" charset="-127"/>
                <a:ea typeface="맑은 고딕" pitchFamily="50" charset="-127"/>
              </a:rPr>
              <a:t>nghĩa</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về</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mặt</a:t>
            </a:r>
            <a:endParaRPr lang="en-US" altLang="ko-KR" sz="1400" dirty="0">
              <a:latin typeface="맑은 고딕" pitchFamily="50" charset="-127"/>
              <a:ea typeface="맑은 고딕" pitchFamily="50" charset="-127"/>
            </a:endParaRPr>
          </a:p>
          <a:p>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thống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kê</a:t>
            </a: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Kiểm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chứng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toàn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bộ</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điểm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biệt</a:t>
            </a:r>
            <a:r>
              <a:rPr lang="en-US" altLang="ko-KR" sz="1400" dirty="0">
                <a:latin typeface="맑은 고딕" pitchFamily="50" charset="-127"/>
                <a:ea typeface="맑은 고딕" pitchFamily="50" charset="-127"/>
              </a:rPr>
              <a:t>  %Bias = “0” </a:t>
            </a:r>
            <a:r>
              <a:rPr lang="en-US" altLang="ko-KR" sz="1400" dirty="0" err="1">
                <a:latin typeface="맑은 고딕" pitchFamily="50" charset="-127"/>
                <a:ea typeface="맑은 고딕" pitchFamily="50" charset="-127"/>
              </a:rPr>
              <a:t>không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ý </a:t>
            </a:r>
            <a:r>
              <a:rPr lang="en-US" altLang="ko-KR" sz="1400" dirty="0" err="1">
                <a:latin typeface="맑은 고딕" pitchFamily="50" charset="-127"/>
                <a:ea typeface="맑은 고딕" pitchFamily="50" charset="-127"/>
              </a:rPr>
              <a:t>nghĩa</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về</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mặt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thống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kê</a:t>
            </a:r>
            <a:endParaRPr lang="ko-KR" altLang="en-US" sz="1400" dirty="0">
              <a:latin typeface="맑은 고딕" pitchFamily="50" charset="-127"/>
              <a:ea typeface="맑은 고딕" pitchFamily="50" charset="-127"/>
            </a:endParaRP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a:t>
            </a:fld>
            <a:endParaRPr lang="ko-KR" altLang="en-US" dirty="0"/>
          </a:p>
        </p:txBody>
      </p:sp>
    </p:spTree>
    <p:extLst>
      <p:ext uri="{BB962C8B-B14F-4D97-AF65-F5344CB8AC3E}">
        <p14:creationId xmlns:p14="http://schemas.microsoft.com/office/powerpoint/2010/main" val="332064599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Accuracy</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Stability</a:t>
            </a:r>
            <a:endParaRPr lang="ko-KR" altLang="en-US" sz="1600" b="1" kern="0" dirty="0">
              <a:solidFill>
                <a:srgbClr val="000000"/>
              </a:solidFill>
              <a:latin typeface="맑은 고딕"/>
              <a:ea typeface="맑은 고딕"/>
            </a:endParaRPr>
          </a:p>
        </p:txBody>
      </p:sp>
      <p:sp>
        <p:nvSpPr>
          <p:cNvPr id="208899" name="Rectangle 77"/>
          <p:cNvSpPr>
            <a:spLocks noChangeArrowheads="1"/>
          </p:cNvSpPr>
          <p:nvPr/>
        </p:nvSpPr>
        <p:spPr bwMode="auto">
          <a:xfrm>
            <a:off x="351692" y="928688"/>
            <a:ext cx="1584081" cy="360362"/>
          </a:xfrm>
          <a:prstGeom prst="rect">
            <a:avLst/>
          </a:prstGeom>
          <a:noFill/>
          <a:ln w="9525" algn="ctr">
            <a:solidFill>
              <a:schemeClr val="bg2"/>
            </a:solidFill>
            <a:miter lim="800000"/>
            <a:headEnd/>
            <a:tailEnd/>
          </a:ln>
        </p:spPr>
        <p:txBody>
          <a:bodyPr wrap="none" anchor="ctr"/>
          <a:lstStyle/>
          <a:p>
            <a:pPr algn="ctr"/>
            <a:r>
              <a:rPr lang="ko-KR" altLang="en-US" sz="1600" b="1" dirty="0">
                <a:solidFill>
                  <a:srgbClr val="4D4D4D"/>
                </a:solidFill>
                <a:latin typeface="맑은 고딕" pitchFamily="50" charset="-127"/>
                <a:ea typeface="맑은 고딕" pitchFamily="50" charset="-127"/>
              </a:rPr>
              <a:t>안정성</a:t>
            </a:r>
            <a:r>
              <a:rPr lang="en-US" altLang="ko-KR" sz="1600" b="1" dirty="0">
                <a:solidFill>
                  <a:srgbClr val="4D4D4D"/>
                </a:solidFill>
                <a:latin typeface="맑은 고딕" pitchFamily="50" charset="-127"/>
                <a:ea typeface="맑은 고딕" pitchFamily="50" charset="-127"/>
              </a:rPr>
              <a:t>(Stability)</a:t>
            </a:r>
          </a:p>
        </p:txBody>
      </p:sp>
      <p:sp>
        <p:nvSpPr>
          <p:cNvPr id="208900" name="Text Box 80"/>
          <p:cNvSpPr txBox="1">
            <a:spLocks noChangeArrowheads="1"/>
          </p:cNvSpPr>
          <p:nvPr/>
        </p:nvSpPr>
        <p:spPr bwMode="auto">
          <a:xfrm>
            <a:off x="2013439" y="928688"/>
            <a:ext cx="6415530" cy="338554"/>
          </a:xfrm>
          <a:prstGeom prst="rect">
            <a:avLst/>
          </a:prstGeom>
          <a:noFill/>
          <a:ln w="9525" algn="ctr">
            <a:noFill/>
            <a:miter lim="800000"/>
            <a:headEnd/>
            <a:tailEnd/>
          </a:ln>
        </p:spPr>
        <p:txBody>
          <a:bodyPr wrap="none" lIns="36000" rIns="36000">
            <a:spAutoFit/>
          </a:bodyPr>
          <a:lstStyle/>
          <a:p>
            <a:r>
              <a:rPr lang="en-US" altLang="ko-KR" sz="1600" b="1" dirty="0">
                <a:latin typeface="맑은 고딕" pitchFamily="50" charset="-127"/>
                <a:ea typeface="맑은 고딕" pitchFamily="50" charset="-127"/>
              </a:rPr>
              <a:t>Difference of mean values measured at different time or place</a:t>
            </a:r>
            <a:endParaRPr lang="ko-KR" altLang="en-US" sz="1600" b="1" dirty="0">
              <a:latin typeface="맑은 고딕" pitchFamily="50" charset="-127"/>
              <a:ea typeface="맑은 고딕" pitchFamily="50" charset="-127"/>
            </a:endParaRPr>
          </a:p>
        </p:txBody>
      </p:sp>
      <p:sp>
        <p:nvSpPr>
          <p:cNvPr id="208901" name="Rectangle 92"/>
          <p:cNvSpPr>
            <a:spLocks noChangeArrowheads="1"/>
          </p:cNvSpPr>
          <p:nvPr/>
        </p:nvSpPr>
        <p:spPr bwMode="auto">
          <a:xfrm>
            <a:off x="602274" y="1571626"/>
            <a:ext cx="3046534" cy="2500313"/>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8902" name="Rectangle 92"/>
          <p:cNvSpPr>
            <a:spLocks noChangeArrowheads="1"/>
          </p:cNvSpPr>
          <p:nvPr/>
        </p:nvSpPr>
        <p:spPr bwMode="auto">
          <a:xfrm>
            <a:off x="3780692" y="2954338"/>
            <a:ext cx="4813789" cy="1117600"/>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8903" name="Text Box 129"/>
          <p:cNvSpPr txBox="1">
            <a:spLocks noChangeArrowheads="1"/>
          </p:cNvSpPr>
          <p:nvPr/>
        </p:nvSpPr>
        <p:spPr bwMode="auto">
          <a:xfrm>
            <a:off x="3881805" y="3255367"/>
            <a:ext cx="2949846" cy="646331"/>
          </a:xfrm>
          <a:prstGeom prst="rect">
            <a:avLst/>
          </a:prstGeom>
          <a:noFill/>
          <a:ln w="9525" algn="ctr">
            <a:noFill/>
            <a:miter lim="800000"/>
            <a:headEnd/>
            <a:tailEnd/>
          </a:ln>
        </p:spPr>
        <p:txBody>
          <a:bodyPr wrap="none">
            <a:spAutoFit/>
          </a:bodyPr>
          <a:lstStyle/>
          <a:p>
            <a:pPr>
              <a:buFont typeface="Arial" pitchFamily="34" charset="0"/>
              <a:buChar char="•"/>
            </a:pPr>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Stability criteria</a:t>
            </a:r>
          </a:p>
          <a:p>
            <a:r>
              <a:rPr lang="en-US" altLang="ko-KR" sz="1200" b="1" dirty="0">
                <a:solidFill>
                  <a:srgbClr val="00B050"/>
                </a:solidFill>
                <a:latin typeface="맑은 고딕" pitchFamily="50" charset="-127"/>
                <a:ea typeface="맑은 고딕" pitchFamily="50" charset="-127"/>
              </a:rPr>
              <a:t>  - There are no anomalies/patterns </a:t>
            </a:r>
          </a:p>
          <a:p>
            <a:r>
              <a:rPr lang="en-US" altLang="ko-KR" sz="1200" b="1" dirty="0">
                <a:solidFill>
                  <a:srgbClr val="00B050"/>
                </a:solidFill>
                <a:latin typeface="맑은 고딕" pitchFamily="50" charset="-127"/>
                <a:ea typeface="맑은 고딕" pitchFamily="50" charset="-127"/>
              </a:rPr>
              <a:t>    in the considered control charts.</a:t>
            </a:r>
          </a:p>
        </p:txBody>
      </p:sp>
      <p:sp>
        <p:nvSpPr>
          <p:cNvPr id="208904" name="직사각형 7"/>
          <p:cNvSpPr>
            <a:spLocks noChangeArrowheads="1"/>
          </p:cNvSpPr>
          <p:nvPr/>
        </p:nvSpPr>
        <p:spPr bwMode="auto">
          <a:xfrm>
            <a:off x="615461" y="4330700"/>
            <a:ext cx="6426246" cy="1815882"/>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latin typeface="맑은 고딕" pitchFamily="50" charset="-127"/>
                <a:ea typeface="맑은 고딕" pitchFamily="50" charset="-127"/>
              </a:rPr>
              <a:t> </a:t>
            </a:r>
            <a:r>
              <a:rPr lang="en-US" altLang="ko-KR" sz="1400" b="1" dirty="0">
                <a:latin typeface="맑은 고딕" pitchFamily="50" charset="-127"/>
                <a:ea typeface="맑은 고딕" pitchFamily="50" charset="-127"/>
              </a:rPr>
              <a:t>Stability verification method</a:t>
            </a:r>
          </a:p>
          <a:p>
            <a:pPr>
              <a:buFont typeface="Arial" pitchFamily="34" charset="0"/>
              <a:buChar char="•"/>
            </a:pP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a:t>
            </a:r>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Choose 1~2 traceable standard parts</a:t>
            </a: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Measure the parts </a:t>
            </a:r>
            <a:r>
              <a:rPr lang="en-US" altLang="ko-KR" sz="1400" b="1" dirty="0">
                <a:latin typeface="맑은 고딕" pitchFamily="50" charset="-127"/>
                <a:ea typeface="맑은 고딕" pitchFamily="50" charset="-127"/>
              </a:rPr>
              <a:t>at least once a day for 20 to 30 days.</a:t>
            </a:r>
          </a:p>
          <a:p>
            <a:r>
              <a:rPr lang="en-US" altLang="ko-KR" sz="1400" dirty="0">
                <a:latin typeface="맑은 고딕" pitchFamily="50" charset="-127"/>
                <a:ea typeface="맑은 고딕" pitchFamily="50" charset="-127"/>
              </a:rPr>
              <a:t>  </a:t>
            </a:r>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At this time, the number of minimum observations for stability evaluation</a:t>
            </a:r>
          </a:p>
          <a:p>
            <a:r>
              <a:rPr lang="en-US" altLang="ko-KR" sz="1400" b="1"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is considered to be about 20 to 30</a:t>
            </a:r>
            <a:endParaRPr lang="en-US" altLang="ko-KR" sz="1400" b="1" dirty="0">
              <a:latin typeface="맑은 고딕" pitchFamily="50" charset="-127"/>
              <a:ea typeface="맑은 고딕" pitchFamily="50" charset="-127"/>
            </a:endParaRPr>
          </a:p>
          <a:p>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b="1" dirty="0">
                <a:latin typeface="맑은 고딕" pitchFamily="50" charset="-127"/>
                <a:ea typeface="맑은 고딕" pitchFamily="50" charset="-127"/>
              </a:rPr>
              <a:t>Confirm that there is no abnormal pattern in the control chart</a:t>
            </a:r>
            <a:endParaRPr lang="ko-KR" altLang="en-US" sz="1400" b="1" dirty="0">
              <a:latin typeface="맑은 고딕" pitchFamily="50" charset="-127"/>
              <a:ea typeface="맑은 고딕" pitchFamily="50" charset="-127"/>
            </a:endParaRPr>
          </a:p>
        </p:txBody>
      </p:sp>
      <p:sp>
        <p:nvSpPr>
          <p:cNvPr id="208905" name="Rectangle 92"/>
          <p:cNvSpPr>
            <a:spLocks noChangeArrowheads="1"/>
          </p:cNvSpPr>
          <p:nvPr/>
        </p:nvSpPr>
        <p:spPr bwMode="auto">
          <a:xfrm>
            <a:off x="3780692" y="1587501"/>
            <a:ext cx="4813789" cy="1211263"/>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8906" name="Text Box 129"/>
          <p:cNvSpPr txBox="1">
            <a:spLocks noChangeArrowheads="1"/>
          </p:cNvSpPr>
          <p:nvPr/>
        </p:nvSpPr>
        <p:spPr bwMode="auto">
          <a:xfrm>
            <a:off x="3881804" y="1649414"/>
            <a:ext cx="3934860" cy="830997"/>
          </a:xfrm>
          <a:prstGeom prst="rect">
            <a:avLst/>
          </a:prstGeom>
          <a:noFill/>
          <a:ln w="9525" algn="ctr">
            <a:noFill/>
            <a:miter lim="800000"/>
            <a:headEnd/>
            <a:tailEnd/>
          </a:ln>
        </p:spPr>
        <p:txBody>
          <a:bodyPr wrap="none">
            <a:spAutoFit/>
          </a:bodyPr>
          <a:lstStyle/>
          <a:p>
            <a:pPr>
              <a:buFont typeface="Arial" pitchFamily="34" charset="0"/>
              <a:buChar char="•"/>
            </a:pP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Create X-Bar - R Chart or I-MR Chart using</a:t>
            </a:r>
          </a:p>
          <a:p>
            <a:r>
              <a:rPr lang="en-US" altLang="ko-KR" sz="1200" b="1" dirty="0">
                <a:latin typeface="맑은 고딕" pitchFamily="50" charset="-127"/>
                <a:ea typeface="맑은 고딕" pitchFamily="50" charset="-127"/>
              </a:rPr>
              <a:t> </a:t>
            </a:r>
          </a:p>
          <a:p>
            <a:r>
              <a:rPr lang="en-US" altLang="ko-KR" sz="1200" b="1" dirty="0">
                <a:latin typeface="맑은 고딕" pitchFamily="50" charset="-127"/>
                <a:ea typeface="맑은 고딕" pitchFamily="50" charset="-127"/>
              </a:rPr>
              <a:t>  measured values  collected at each point in time</a:t>
            </a:r>
          </a:p>
          <a:p>
            <a:endParaRPr lang="en-US" altLang="ko-KR" sz="1200" b="1" dirty="0">
              <a:latin typeface="맑은 고딕" pitchFamily="50" charset="-127"/>
              <a:ea typeface="맑은 고딕" pitchFamily="50" charset="-127"/>
            </a:endParaRPr>
          </a:p>
        </p:txBody>
      </p:sp>
      <p:pic>
        <p:nvPicPr>
          <p:cNvPr id="208907" name="Picture 115"/>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77058" y="2214564"/>
            <a:ext cx="496765" cy="809625"/>
          </a:xfrm>
          <a:prstGeom prst="rect">
            <a:avLst/>
          </a:prstGeom>
          <a:noFill/>
          <a:ln w="9525">
            <a:noFill/>
            <a:miter lim="800000"/>
            <a:headEnd/>
            <a:tailEnd/>
          </a:ln>
        </p:spPr>
      </p:pic>
      <p:pic>
        <p:nvPicPr>
          <p:cNvPr id="208908" name="Picture 116"/>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36481" y="2571751"/>
            <a:ext cx="496765" cy="809625"/>
          </a:xfrm>
          <a:prstGeom prst="rect">
            <a:avLst/>
          </a:prstGeom>
          <a:noFill/>
          <a:ln w="9525">
            <a:noFill/>
            <a:miter lim="800000"/>
            <a:headEnd/>
            <a:tailEnd/>
          </a:ln>
        </p:spPr>
      </p:pic>
      <p:sp>
        <p:nvSpPr>
          <p:cNvPr id="208909" name="Text Box 117"/>
          <p:cNvSpPr txBox="1">
            <a:spLocks noChangeArrowheads="1"/>
          </p:cNvSpPr>
          <p:nvPr/>
        </p:nvSpPr>
        <p:spPr bwMode="auto">
          <a:xfrm>
            <a:off x="3122698" y="3571875"/>
            <a:ext cx="521297" cy="276999"/>
          </a:xfrm>
          <a:prstGeom prst="rect">
            <a:avLst/>
          </a:prstGeom>
          <a:noFill/>
          <a:ln w="9525" algn="ctr">
            <a:noFill/>
            <a:miter lim="800000"/>
            <a:headEnd/>
            <a:tailEnd/>
          </a:ln>
        </p:spPr>
        <p:txBody>
          <a:bodyPr wrap="none">
            <a:spAutoFit/>
          </a:bodyPr>
          <a:lstStyle/>
          <a:p>
            <a:pPr algn="ctr"/>
            <a:r>
              <a:rPr lang="en-US" altLang="ko-KR" sz="1200" dirty="0">
                <a:latin typeface="맑은 고딕" pitchFamily="50" charset="-127"/>
                <a:ea typeface="맑은 고딕" pitchFamily="50" charset="-127"/>
              </a:rPr>
              <a:t>Time</a:t>
            </a:r>
            <a:endParaRPr lang="ko-KR" altLang="en-US" sz="1200" dirty="0">
              <a:latin typeface="맑은 고딕" pitchFamily="50" charset="-127"/>
              <a:ea typeface="맑은 고딕" pitchFamily="50" charset="-127"/>
            </a:endParaRPr>
          </a:p>
        </p:txBody>
      </p:sp>
      <p:sp>
        <p:nvSpPr>
          <p:cNvPr id="208910" name="Text Box 118"/>
          <p:cNvSpPr txBox="1">
            <a:spLocks noChangeArrowheads="1"/>
          </p:cNvSpPr>
          <p:nvPr/>
        </p:nvSpPr>
        <p:spPr bwMode="auto">
          <a:xfrm>
            <a:off x="565591" y="1692276"/>
            <a:ext cx="1288751" cy="276999"/>
          </a:xfrm>
          <a:prstGeom prst="rect">
            <a:avLst/>
          </a:prstGeom>
          <a:noFill/>
          <a:ln w="9525" algn="ctr">
            <a:noFill/>
            <a:miter lim="800000"/>
            <a:headEnd/>
            <a:tailEnd/>
          </a:ln>
        </p:spPr>
        <p:txBody>
          <a:bodyPr wrap="none">
            <a:spAutoFit/>
          </a:bodyPr>
          <a:lstStyle/>
          <a:p>
            <a:pPr algn="ctr"/>
            <a:r>
              <a:rPr lang="en-US" altLang="ko-KR" sz="1200" dirty="0">
                <a:latin typeface="맑은 고딕" pitchFamily="50" charset="-127"/>
                <a:ea typeface="맑은 고딕" pitchFamily="50" charset="-127"/>
              </a:rPr>
              <a:t>Measured value</a:t>
            </a:r>
            <a:endParaRPr lang="ko-KR" altLang="en-US" sz="1200" dirty="0">
              <a:latin typeface="맑은 고딕" pitchFamily="50" charset="-127"/>
              <a:ea typeface="맑은 고딕" pitchFamily="50" charset="-127"/>
            </a:endParaRPr>
          </a:p>
        </p:txBody>
      </p:sp>
      <p:pic>
        <p:nvPicPr>
          <p:cNvPr id="208911" name="Picture 120"/>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61847" y="2143126"/>
            <a:ext cx="496766" cy="809625"/>
          </a:xfrm>
          <a:prstGeom prst="rect">
            <a:avLst/>
          </a:prstGeom>
          <a:noFill/>
          <a:ln w="9525">
            <a:noFill/>
            <a:miter lim="800000"/>
            <a:headEnd/>
            <a:tailEnd/>
          </a:ln>
        </p:spPr>
      </p:pic>
      <p:sp>
        <p:nvSpPr>
          <p:cNvPr id="208912" name="Text Box 121"/>
          <p:cNvSpPr txBox="1">
            <a:spLocks noChangeArrowheads="1"/>
          </p:cNvSpPr>
          <p:nvPr/>
        </p:nvSpPr>
        <p:spPr bwMode="auto">
          <a:xfrm>
            <a:off x="2898483" y="2627313"/>
            <a:ext cx="1280863" cy="276999"/>
          </a:xfrm>
          <a:prstGeom prst="rect">
            <a:avLst/>
          </a:prstGeom>
          <a:noFill/>
          <a:ln w="9525" algn="ctr">
            <a:noFill/>
            <a:miter lim="800000"/>
            <a:headEnd/>
            <a:tailEnd/>
          </a:ln>
        </p:spPr>
        <p:txBody>
          <a:bodyPr wrap="none">
            <a:spAutoFit/>
          </a:bodyPr>
          <a:lstStyle/>
          <a:p>
            <a:pPr algn="ctr"/>
            <a:r>
              <a:rPr lang="en-US" altLang="ko-KR" sz="1200" dirty="0">
                <a:latin typeface="맑은 고딕" pitchFamily="50" charset="-127"/>
                <a:ea typeface="맑은 고딕" pitchFamily="50" charset="-127"/>
              </a:rPr>
              <a:t>Reference value</a:t>
            </a:r>
            <a:endParaRPr lang="ko-KR" altLang="en-US" sz="1200" dirty="0">
              <a:latin typeface="맑은 고딕" pitchFamily="50" charset="-127"/>
              <a:ea typeface="맑은 고딕" pitchFamily="50" charset="-127"/>
            </a:endParaRPr>
          </a:p>
        </p:txBody>
      </p:sp>
      <p:cxnSp>
        <p:nvCxnSpPr>
          <p:cNvPr id="208913" name="직선 연결선 26"/>
          <p:cNvCxnSpPr>
            <a:cxnSpLocks noChangeShapeType="1"/>
          </p:cNvCxnSpPr>
          <p:nvPr/>
        </p:nvCxnSpPr>
        <p:spPr bwMode="auto">
          <a:xfrm flipV="1">
            <a:off x="880697" y="2787650"/>
            <a:ext cx="2174631" cy="0"/>
          </a:xfrm>
          <a:prstGeom prst="line">
            <a:avLst/>
          </a:prstGeom>
          <a:noFill/>
          <a:ln w="12700" algn="ctr">
            <a:solidFill>
              <a:schemeClr val="tx1"/>
            </a:solidFill>
            <a:prstDash val="dash"/>
            <a:round/>
            <a:headEnd/>
            <a:tailEnd/>
          </a:ln>
        </p:spPr>
      </p:cxnSp>
      <p:cxnSp>
        <p:nvCxnSpPr>
          <p:cNvPr id="208914" name="직선 화살표 연결선 29"/>
          <p:cNvCxnSpPr>
            <a:cxnSpLocks noChangeShapeType="1"/>
          </p:cNvCxnSpPr>
          <p:nvPr/>
        </p:nvCxnSpPr>
        <p:spPr bwMode="auto">
          <a:xfrm rot="5400000" flipH="1" flipV="1">
            <a:off x="-15264" y="2821844"/>
            <a:ext cx="1787525" cy="1465"/>
          </a:xfrm>
          <a:prstGeom prst="straightConnector1">
            <a:avLst/>
          </a:prstGeom>
          <a:noFill/>
          <a:ln w="12700" algn="ctr">
            <a:solidFill>
              <a:schemeClr val="tx1"/>
            </a:solidFill>
            <a:round/>
            <a:headEnd/>
            <a:tailEnd type="arrow" w="med" len="med"/>
          </a:ln>
        </p:spPr>
      </p:cxnSp>
      <p:cxnSp>
        <p:nvCxnSpPr>
          <p:cNvPr id="208915" name="직선 화살표 연결선 31"/>
          <p:cNvCxnSpPr>
            <a:cxnSpLocks noChangeShapeType="1"/>
          </p:cNvCxnSpPr>
          <p:nvPr/>
        </p:nvCxnSpPr>
        <p:spPr bwMode="auto">
          <a:xfrm>
            <a:off x="879231" y="3714750"/>
            <a:ext cx="2307981" cy="1588"/>
          </a:xfrm>
          <a:prstGeom prst="straightConnector1">
            <a:avLst/>
          </a:prstGeom>
          <a:noFill/>
          <a:ln w="12700" algn="ctr">
            <a:solidFill>
              <a:schemeClr val="tx1"/>
            </a:solidFill>
            <a:round/>
            <a:headEnd/>
            <a:tailEnd type="arrow" w="med" len="med"/>
          </a:ln>
        </p:spPr>
      </p:cxn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a:t>
            </a:fld>
            <a:endParaRPr lang="ko-KR" altLang="en-US" dirty="0"/>
          </a:p>
        </p:txBody>
      </p:sp>
    </p:spTree>
    <p:extLst>
      <p:ext uri="{BB962C8B-B14F-4D97-AF65-F5344CB8AC3E}">
        <p14:creationId xmlns:p14="http://schemas.microsoft.com/office/powerpoint/2010/main" val="72373098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Accuracy</a:t>
            </a:r>
            <a:endParaRPr lang="ko-KR" altLang="en-US" sz="1600" b="1" kern="0" dirty="0">
              <a:solidFill>
                <a:srgbClr val="000000"/>
              </a:solidFill>
              <a:latin typeface="맑은 고딕"/>
              <a:ea typeface="맑은 고딕"/>
            </a:endParaRPr>
          </a:p>
        </p:txBody>
      </p:sp>
      <p:sp>
        <p:nvSpPr>
          <p:cNvPr id="3" name="TextBox 2"/>
          <p:cNvSpPr txBox="1"/>
          <p:nvPr/>
        </p:nvSpPr>
        <p:spPr>
          <a:xfrm>
            <a:off x="1043330" y="1463633"/>
            <a:ext cx="1125629" cy="369332"/>
          </a:xfrm>
          <a:prstGeom prst="rect">
            <a:avLst/>
          </a:prstGeom>
          <a:noFill/>
        </p:spPr>
        <p:txBody>
          <a:bodyPr wrap="none" rtlCol="0">
            <a:spAutoFit/>
          </a:bodyPr>
          <a:lstStyle/>
          <a:p>
            <a:r>
              <a:rPr lang="en-US" altLang="ko-KR" dirty="0"/>
              <a:t>Question</a:t>
            </a:r>
            <a:endParaRPr lang="ko-KR" altLang="en-US" dirty="0"/>
          </a:p>
        </p:txBody>
      </p:sp>
      <p:sp>
        <p:nvSpPr>
          <p:cNvPr id="4" name="TextBox 3"/>
          <p:cNvSpPr txBox="1"/>
          <p:nvPr/>
        </p:nvSpPr>
        <p:spPr>
          <a:xfrm>
            <a:off x="857224" y="2050986"/>
            <a:ext cx="5451621" cy="646331"/>
          </a:xfrm>
          <a:prstGeom prst="rect">
            <a:avLst/>
          </a:prstGeom>
          <a:noFill/>
        </p:spPr>
        <p:txBody>
          <a:bodyPr wrap="none" rtlCol="0">
            <a:spAutoFit/>
          </a:bodyPr>
          <a:lstStyle/>
          <a:p>
            <a:pPr marL="342900" indent="-342900">
              <a:buAutoNum type="arabicPeriod"/>
            </a:pPr>
            <a:r>
              <a:rPr lang="en-US" altLang="ko-KR" dirty="0"/>
              <a:t>What is the target of an instrument </a:t>
            </a:r>
          </a:p>
          <a:p>
            <a:pPr marL="342900" indent="-342900"/>
            <a:r>
              <a:rPr lang="en-US" altLang="ko-KR" dirty="0"/>
              <a:t>    that should be tested for accuracy verification?</a:t>
            </a:r>
            <a:endParaRPr lang="ko-KR" altLang="en-US" dirty="0"/>
          </a:p>
        </p:txBody>
      </p:sp>
      <p:sp>
        <p:nvSpPr>
          <p:cNvPr id="5" name="TextBox 4"/>
          <p:cNvSpPr txBox="1"/>
          <p:nvPr/>
        </p:nvSpPr>
        <p:spPr>
          <a:xfrm>
            <a:off x="857224" y="3131106"/>
            <a:ext cx="5966890" cy="369332"/>
          </a:xfrm>
          <a:prstGeom prst="rect">
            <a:avLst/>
          </a:prstGeom>
          <a:noFill/>
        </p:spPr>
        <p:txBody>
          <a:bodyPr wrap="none" rtlCol="0">
            <a:spAutoFit/>
          </a:bodyPr>
          <a:lstStyle/>
          <a:p>
            <a:r>
              <a:rPr lang="en-US" altLang="ko-KR" dirty="0"/>
              <a:t>2.  What if I have problems with accuracy verification? </a:t>
            </a:r>
            <a:endParaRPr lang="ko-KR" altLang="en-US" dirty="0"/>
          </a:p>
        </p:txBody>
      </p:sp>
      <p:sp>
        <p:nvSpPr>
          <p:cNvPr id="6" name="슬라이드 번호 개체 틀 1"/>
          <p:cNvSpPr>
            <a:spLocks noGrp="1"/>
          </p:cNvSpPr>
          <p:nvPr>
            <p:ph type="sldNum" sz="quarter" idx="4294967295"/>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25</a:t>
            </a:fld>
            <a:endParaRPr lang="ko-KR" altLang="en-US" dirty="0"/>
          </a:p>
        </p:txBody>
      </p:sp>
    </p:spTree>
    <p:extLst>
      <p:ext uri="{BB962C8B-B14F-4D97-AF65-F5344CB8AC3E}">
        <p14:creationId xmlns:p14="http://schemas.microsoft.com/office/powerpoint/2010/main" val="403332202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chính</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xác</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Tính</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ổn</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định</a:t>
            </a:r>
            <a:endParaRPr lang="ko-KR" altLang="en-US" sz="1600" b="1" kern="0" dirty="0">
              <a:solidFill>
                <a:srgbClr val="000000"/>
              </a:solidFill>
              <a:latin typeface="맑은 고딕"/>
              <a:ea typeface="맑은 고딕"/>
            </a:endParaRPr>
          </a:p>
        </p:txBody>
      </p:sp>
      <p:sp>
        <p:nvSpPr>
          <p:cNvPr id="208899" name="Rectangle 77"/>
          <p:cNvSpPr>
            <a:spLocks noChangeArrowheads="1"/>
          </p:cNvSpPr>
          <p:nvPr/>
        </p:nvSpPr>
        <p:spPr bwMode="auto">
          <a:xfrm>
            <a:off x="323528" y="908720"/>
            <a:ext cx="1584081" cy="360362"/>
          </a:xfrm>
          <a:prstGeom prst="rect">
            <a:avLst/>
          </a:prstGeom>
          <a:noFill/>
          <a:ln w="9525" algn="ctr">
            <a:solidFill>
              <a:schemeClr val="bg2"/>
            </a:solidFill>
            <a:miter lim="800000"/>
            <a:headEnd/>
            <a:tailEnd/>
          </a:ln>
        </p:spPr>
        <p:txBody>
          <a:bodyPr wrap="none" anchor="ctr"/>
          <a:lstStyle/>
          <a:p>
            <a:pPr algn="ctr"/>
            <a:r>
              <a:rPr lang="en-US" altLang="ko-KR" sz="1300" b="1" dirty="0" err="1">
                <a:solidFill>
                  <a:srgbClr val="4D4D4D"/>
                </a:solidFill>
                <a:latin typeface="맑은 고딕" pitchFamily="50" charset="-127"/>
                <a:ea typeface="맑은 고딕" pitchFamily="50" charset="-127"/>
              </a:rPr>
              <a:t>Tính</a:t>
            </a:r>
            <a:r>
              <a:rPr lang="en-US" altLang="ko-KR" sz="1300" b="1" dirty="0">
                <a:solidFill>
                  <a:srgbClr val="4D4D4D"/>
                </a:solidFill>
                <a:latin typeface="맑은 고딕" pitchFamily="50" charset="-127"/>
                <a:ea typeface="맑은 고딕" pitchFamily="50" charset="-127"/>
              </a:rPr>
              <a:t> </a:t>
            </a:r>
            <a:r>
              <a:rPr lang="en-US" altLang="ko-KR" sz="1300" b="1" dirty="0" err="1">
                <a:solidFill>
                  <a:srgbClr val="4D4D4D"/>
                </a:solidFill>
                <a:latin typeface="맑은 고딕" pitchFamily="50" charset="-127"/>
                <a:ea typeface="맑은 고딕" pitchFamily="50" charset="-127"/>
              </a:rPr>
              <a:t>ổn</a:t>
            </a:r>
            <a:r>
              <a:rPr lang="en-US" altLang="ko-KR" sz="1300" b="1" dirty="0">
                <a:solidFill>
                  <a:srgbClr val="4D4D4D"/>
                </a:solidFill>
                <a:latin typeface="맑은 고딕" pitchFamily="50" charset="-127"/>
                <a:ea typeface="맑은 고딕" pitchFamily="50" charset="-127"/>
              </a:rPr>
              <a:t> </a:t>
            </a:r>
            <a:r>
              <a:rPr lang="en-US" altLang="ko-KR" sz="1300" b="1" dirty="0" err="1">
                <a:solidFill>
                  <a:srgbClr val="4D4D4D"/>
                </a:solidFill>
                <a:latin typeface="맑은 고딕" pitchFamily="50" charset="-127"/>
                <a:ea typeface="맑은 고딕" pitchFamily="50" charset="-127"/>
              </a:rPr>
              <a:t>định</a:t>
            </a:r>
            <a:r>
              <a:rPr lang="en-US" altLang="ko-KR" sz="1300" b="1" dirty="0">
                <a:solidFill>
                  <a:srgbClr val="4D4D4D"/>
                </a:solidFill>
                <a:latin typeface="맑은 고딕" pitchFamily="50" charset="-127"/>
                <a:ea typeface="맑은 고딕" pitchFamily="50" charset="-127"/>
              </a:rPr>
              <a:t> (Stability</a:t>
            </a:r>
            <a:r>
              <a:rPr lang="en-US" altLang="ko-KR" sz="1400" b="1" dirty="0">
                <a:solidFill>
                  <a:srgbClr val="4D4D4D"/>
                </a:solidFill>
                <a:latin typeface="맑은 고딕" pitchFamily="50" charset="-127"/>
                <a:ea typeface="맑은 고딕" pitchFamily="50" charset="-127"/>
              </a:rPr>
              <a:t>)</a:t>
            </a:r>
          </a:p>
        </p:txBody>
      </p:sp>
      <p:sp>
        <p:nvSpPr>
          <p:cNvPr id="208900" name="Text Box 80"/>
          <p:cNvSpPr txBox="1">
            <a:spLocks noChangeArrowheads="1"/>
          </p:cNvSpPr>
          <p:nvPr/>
        </p:nvSpPr>
        <p:spPr bwMode="auto">
          <a:xfrm>
            <a:off x="2013439" y="928688"/>
            <a:ext cx="7168492" cy="276999"/>
          </a:xfrm>
          <a:prstGeom prst="rect">
            <a:avLst/>
          </a:prstGeom>
          <a:noFill/>
          <a:ln w="9525" algn="ctr">
            <a:noFill/>
            <a:miter lim="800000"/>
            <a:headEnd/>
            <a:tailEnd/>
          </a:ln>
        </p:spPr>
        <p:txBody>
          <a:bodyPr wrap="none" lIns="36000" rIns="36000">
            <a:spAutoFit/>
          </a:bodyPr>
          <a:lstStyle/>
          <a:p>
            <a:r>
              <a:rPr lang="en-US" altLang="ko-KR" sz="1200" b="1" dirty="0" err="1">
                <a:latin typeface="맑은 고딕" pitchFamily="50" charset="-127"/>
                <a:ea typeface="맑은 고딕" pitchFamily="50" charset="-127"/>
              </a:rPr>
              <a:t>Sự</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chênh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lệch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của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những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bình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lường</a:t>
            </a:r>
            <a:r>
              <a:rPr lang="en-US" altLang="ko-KR" sz="1200" b="1" dirty="0">
                <a:latin typeface="맑은 고딕" pitchFamily="50" charset="-127"/>
                <a:ea typeface="맑은 고딕" pitchFamily="50" charset="-127"/>
              </a:rPr>
              <a:t> ở </a:t>
            </a:r>
            <a:r>
              <a:rPr lang="en-US" altLang="ko-KR" sz="1200" b="1" dirty="0" err="1">
                <a:latin typeface="맑은 고딕" pitchFamily="50" charset="-127"/>
                <a:ea typeface="맑은 고딕" pitchFamily="50" charset="-127"/>
              </a:rPr>
              <a:t>những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gian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địa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khác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nhau</a:t>
            </a:r>
            <a:endParaRPr lang="ko-KR" altLang="en-US" sz="1200" b="1" dirty="0">
              <a:latin typeface="맑은 고딕" pitchFamily="50" charset="-127"/>
              <a:ea typeface="맑은 고딕" pitchFamily="50" charset="-127"/>
            </a:endParaRPr>
          </a:p>
        </p:txBody>
      </p:sp>
      <p:sp>
        <p:nvSpPr>
          <p:cNvPr id="208901" name="Rectangle 92"/>
          <p:cNvSpPr>
            <a:spLocks noChangeArrowheads="1"/>
          </p:cNvSpPr>
          <p:nvPr/>
        </p:nvSpPr>
        <p:spPr bwMode="auto">
          <a:xfrm>
            <a:off x="602274" y="1571626"/>
            <a:ext cx="3046534" cy="2500313"/>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8902" name="Rectangle 92"/>
          <p:cNvSpPr>
            <a:spLocks noChangeArrowheads="1"/>
          </p:cNvSpPr>
          <p:nvPr/>
        </p:nvSpPr>
        <p:spPr bwMode="auto">
          <a:xfrm>
            <a:off x="3780692" y="2954338"/>
            <a:ext cx="4813789" cy="1117600"/>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8903" name="Text Box 129"/>
          <p:cNvSpPr txBox="1">
            <a:spLocks noChangeArrowheads="1"/>
          </p:cNvSpPr>
          <p:nvPr/>
        </p:nvSpPr>
        <p:spPr bwMode="auto">
          <a:xfrm>
            <a:off x="3881804" y="3255367"/>
            <a:ext cx="4578628" cy="646331"/>
          </a:xfrm>
          <a:prstGeom prst="rect">
            <a:avLst/>
          </a:prstGeom>
          <a:noFill/>
          <a:ln w="9525" algn="ctr">
            <a:noFill/>
            <a:miter lim="800000"/>
            <a:headEnd/>
            <a:tailEnd/>
          </a:ln>
        </p:spPr>
        <p:txBody>
          <a:bodyPr wrap="square">
            <a:spAutoFit/>
          </a:bodyPr>
          <a:lstStyle/>
          <a:p>
            <a:pPr>
              <a:buFont typeface="Arial" pitchFamily="34" charset="0"/>
              <a:buChar char="•"/>
            </a:pPr>
            <a:r>
              <a:rPr lang="ko-KR" altLang="en-US"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Tiêu</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chuẩn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đánh</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giá</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của</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tính</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ổn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định</a:t>
            </a:r>
            <a:r>
              <a:rPr lang="ko-KR" altLang="en-US" sz="1200" b="1" dirty="0">
                <a:solidFill>
                  <a:srgbClr val="00B050"/>
                </a:solidFill>
                <a:latin typeface="맑은 고딕" pitchFamily="50" charset="-127"/>
                <a:ea typeface="맑은 고딕" pitchFamily="50" charset="-127"/>
              </a:rPr>
              <a:t> </a:t>
            </a:r>
            <a:r>
              <a:rPr lang="en-US" altLang="ko-KR" sz="1200" b="1" dirty="0">
                <a:solidFill>
                  <a:srgbClr val="00B050"/>
                </a:solidFill>
                <a:latin typeface="맑은 고딕" pitchFamily="50" charset="-127"/>
                <a:ea typeface="맑은 고딕" pitchFamily="50" charset="-127"/>
              </a:rPr>
              <a:t>:</a:t>
            </a:r>
          </a:p>
          <a:p>
            <a:pPr>
              <a:buFontTx/>
              <a:buChar char="-"/>
            </a:pPr>
            <a:r>
              <a:rPr lang="en-US" altLang="ko-KR" sz="1200" b="1" dirty="0" err="1">
                <a:solidFill>
                  <a:srgbClr val="00B050"/>
                </a:solidFill>
                <a:latin typeface="맑은 고딕" pitchFamily="50" charset="-127"/>
                <a:ea typeface="맑은 고딕" pitchFamily="50" charset="-127"/>
              </a:rPr>
              <a:t>Trên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đồ</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thị</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quản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lý</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đã</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xem</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xét</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không</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tồn</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tại</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điểm</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bất</a:t>
            </a:r>
            <a:r>
              <a:rPr lang="en-US" altLang="ko-KR" sz="1200" b="1" dirty="0">
                <a:solidFill>
                  <a:srgbClr val="00B050"/>
                </a:solidFill>
                <a:latin typeface="맑은 고딕" pitchFamily="50" charset="-127"/>
                <a:ea typeface="맑은 고딕" pitchFamily="50" charset="-127"/>
              </a:rPr>
              <a:t> </a:t>
            </a:r>
            <a:r>
              <a:rPr lang="en-US" altLang="ko-KR" sz="1200" b="1" dirty="0" err="1">
                <a:solidFill>
                  <a:srgbClr val="00B050"/>
                </a:solidFill>
                <a:latin typeface="맑은 고딕" pitchFamily="50" charset="-127"/>
                <a:ea typeface="맑은 고딕" pitchFamily="50" charset="-127"/>
              </a:rPr>
              <a:t>thường</a:t>
            </a:r>
            <a:r>
              <a:rPr lang="en-US" altLang="ko-KR" sz="1200" b="1" dirty="0">
                <a:solidFill>
                  <a:srgbClr val="00B050"/>
                </a:solidFill>
                <a:latin typeface="맑은 고딕" pitchFamily="50" charset="-127"/>
                <a:ea typeface="맑은 고딕" pitchFamily="50" charset="-127"/>
              </a:rPr>
              <a:t>/Pattern</a:t>
            </a:r>
          </a:p>
        </p:txBody>
      </p:sp>
      <p:sp>
        <p:nvSpPr>
          <p:cNvPr id="208904" name="직사각형 7"/>
          <p:cNvSpPr>
            <a:spLocks noChangeArrowheads="1"/>
          </p:cNvSpPr>
          <p:nvPr/>
        </p:nvSpPr>
        <p:spPr bwMode="auto">
          <a:xfrm>
            <a:off x="615461" y="4330700"/>
            <a:ext cx="7996869" cy="1815882"/>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Phương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pháp</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kiểm</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chứng</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tính</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ổn</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định</a:t>
            </a:r>
            <a:endParaRPr lang="en-US" altLang="ko-KR" sz="1400" b="1" dirty="0">
              <a:latin typeface="맑은 고딕" pitchFamily="50" charset="-127"/>
              <a:ea typeface="맑은 고딕" pitchFamily="50" charset="-127"/>
            </a:endParaRPr>
          </a:p>
          <a:p>
            <a:pPr>
              <a:buFont typeface="Arial" pitchFamily="34" charset="0"/>
              <a:buChar char="•"/>
            </a:pPr>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a:t>
            </a:r>
            <a:r>
              <a:rPr lang="ko-KR" altLang="en-US"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Lựa</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chọn</a:t>
            </a:r>
            <a:r>
              <a:rPr lang="en-US" altLang="ko-KR" sz="1400" dirty="0">
                <a:latin typeface="맑은 고딕" pitchFamily="50" charset="-127"/>
                <a:ea typeface="맑은 고딕" pitchFamily="50" charset="-127"/>
              </a:rPr>
              <a:t> 1~2 </a:t>
            </a:r>
            <a:r>
              <a:rPr lang="en-US" altLang="ko-KR" sz="1400" dirty="0" err="1">
                <a:latin typeface="맑은 고딕" pitchFamily="50" charset="-127"/>
                <a:ea typeface="맑은 고딕" pitchFamily="50" charset="-127"/>
              </a:rPr>
              <a:t>linh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kiện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tiêu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chuẩn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khả</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năng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đồ</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lại</a:t>
            </a:r>
            <a:endParaRPr lang="en-US" altLang="ko-KR" sz="1400" dirty="0">
              <a:latin typeface="맑은 고딕" pitchFamily="50" charset="-127"/>
              <a:ea typeface="맑은 고딕" pitchFamily="50" charset="-127"/>
            </a:endParaRPr>
          </a:p>
          <a:p>
            <a:endParaRPr lang="ko-KR" altLang="en-US" sz="1400"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Những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linh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kiện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áp</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dụng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tối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thiểu</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một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ngày</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đạc</a:t>
            </a:r>
            <a:r>
              <a:rPr lang="en-US" altLang="ko-KR" sz="1400" dirty="0">
                <a:latin typeface="맑은 고딕" pitchFamily="50" charset="-127"/>
                <a:ea typeface="맑은 고딕" pitchFamily="50" charset="-127"/>
              </a:rPr>
              <a:t> 1 </a:t>
            </a:r>
            <a:r>
              <a:rPr lang="en-US" altLang="ko-KR" sz="1400" dirty="0" err="1">
                <a:latin typeface="맑은 고딕" pitchFamily="50" charset="-127"/>
                <a:ea typeface="맑은 고딕" pitchFamily="50" charset="-127"/>
              </a:rPr>
              <a:t>lần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và</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trong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vòng</a:t>
            </a:r>
            <a:r>
              <a:rPr lang="en-US" altLang="ko-KR" sz="1400" dirty="0">
                <a:latin typeface="맑은 고딕" pitchFamily="50" charset="-127"/>
                <a:ea typeface="맑은 고딕" pitchFamily="50" charset="-127"/>
              </a:rPr>
              <a:t> 20 </a:t>
            </a:r>
            <a:r>
              <a:rPr lang="en-US" altLang="ko-KR" sz="1400" dirty="0" err="1">
                <a:latin typeface="맑은 고딕" pitchFamily="50" charset="-127"/>
                <a:ea typeface="맑은 고딕" pitchFamily="50" charset="-127"/>
              </a:rPr>
              <a:t>đến</a:t>
            </a:r>
            <a:r>
              <a:rPr lang="en-US" altLang="ko-KR" sz="1400" dirty="0">
                <a:latin typeface="맑은 고딕" pitchFamily="50" charset="-127"/>
                <a:ea typeface="맑은 고딕" pitchFamily="50" charset="-127"/>
              </a:rPr>
              <a:t> 30 </a:t>
            </a:r>
            <a:r>
              <a:rPr lang="en-US" altLang="ko-KR" sz="1400" dirty="0" err="1">
                <a:latin typeface="맑은 고딕" pitchFamily="50" charset="-127"/>
                <a:ea typeface="맑은 고딕" pitchFamily="50" charset="-127"/>
              </a:rPr>
              <a:t>ngày</a:t>
            </a:r>
            <a:endParaRPr lang="en-US" altLang="ko-KR" sz="1400" b="1" dirty="0">
              <a:latin typeface="맑은 고딕" pitchFamily="50" charset="-127"/>
              <a:ea typeface="맑은 고딕" pitchFamily="50" charset="-127"/>
            </a:endParaRPr>
          </a:p>
          <a:p>
            <a:r>
              <a:rPr lang="en-US" altLang="ko-KR" sz="1400" dirty="0">
                <a:latin typeface="맑은 고딕" pitchFamily="50" charset="-127"/>
                <a:ea typeface="맑은 고딕" pitchFamily="50" charset="-127"/>
              </a:rPr>
              <a:t>  </a:t>
            </a:r>
            <a:r>
              <a:rPr lang="ko-KR" altLang="en-US"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Lúc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này</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để</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đánh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độ</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ổn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định</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xem</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xét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khoảng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số</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lượng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tối</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thiểu</a:t>
            </a:r>
            <a:r>
              <a:rPr lang="en-US" altLang="ko-KR" sz="1400" dirty="0">
                <a:latin typeface="맑은 고딕" pitchFamily="50" charset="-127"/>
                <a:ea typeface="맑은 고딕" pitchFamily="50" charset="-127"/>
              </a:rPr>
              <a:t> 20~30 </a:t>
            </a:r>
            <a:r>
              <a:rPr lang="en-US" altLang="ko-KR" sz="1400" dirty="0" err="1">
                <a:latin typeface="맑은 고딕" pitchFamily="50" charset="-127"/>
                <a:ea typeface="맑은 고딕" pitchFamily="50" charset="-127"/>
              </a:rPr>
              <a:t>giá</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quan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sát</a:t>
            </a:r>
            <a:endParaRPr lang="en-US" altLang="ko-KR" sz="1400" b="1" dirty="0">
              <a:latin typeface="맑은 고딕" pitchFamily="50" charset="-127"/>
              <a:ea typeface="맑은 고딕" pitchFamily="50" charset="-127"/>
            </a:endParaRPr>
          </a:p>
          <a:p>
            <a:endParaRPr lang="ko-KR" altLang="en-US" sz="1400" b="1" dirty="0">
              <a:latin typeface="맑은 고딕" pitchFamily="50" charset="-127"/>
              <a:ea typeface="맑은 고딕" pitchFamily="50" charset="-127"/>
            </a:endParaRPr>
          </a:p>
          <a:p>
            <a:r>
              <a:rPr lang="ko-KR" altLang="en-US" sz="1400" dirty="0">
                <a:latin typeface="맑은 고딕" pitchFamily="50" charset="-127"/>
                <a:ea typeface="맑은 고딕" pitchFamily="50" charset="-127"/>
              </a:rPr>
              <a:t> </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Xác</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nhận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không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có</a:t>
            </a:r>
            <a:r>
              <a:rPr lang="en-US" altLang="ko-KR" sz="1400" dirty="0">
                <a:latin typeface="맑은 고딕" pitchFamily="50" charset="-127"/>
                <a:ea typeface="맑은 고딕" pitchFamily="50" charset="-127"/>
              </a:rPr>
              <a:t> patterns </a:t>
            </a:r>
            <a:r>
              <a:rPr lang="en-US" altLang="ko-KR" sz="1400" dirty="0" err="1">
                <a:latin typeface="맑은 고딕" pitchFamily="50" charset="-127"/>
                <a:ea typeface="맑은 고딕" pitchFamily="50" charset="-127"/>
              </a:rPr>
              <a:t>nào</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bất</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thường</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trên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đồ</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thị</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quản</a:t>
            </a:r>
            <a:r>
              <a:rPr lang="en-US" altLang="ko-KR" sz="1400" dirty="0">
                <a:latin typeface="맑은 고딕" pitchFamily="50" charset="-127"/>
                <a:ea typeface="맑은 고딕" pitchFamily="50" charset="-127"/>
              </a:rPr>
              <a:t> </a:t>
            </a:r>
            <a:r>
              <a:rPr lang="en-US" altLang="ko-KR" sz="1400" dirty="0" err="1">
                <a:latin typeface="맑은 고딕" pitchFamily="50" charset="-127"/>
                <a:ea typeface="맑은 고딕" pitchFamily="50" charset="-127"/>
              </a:rPr>
              <a:t>lý</a:t>
            </a:r>
            <a:endParaRPr lang="ko-KR" altLang="en-US" sz="1400" b="1" dirty="0">
              <a:latin typeface="맑은 고딕" pitchFamily="50" charset="-127"/>
              <a:ea typeface="맑은 고딕" pitchFamily="50" charset="-127"/>
            </a:endParaRPr>
          </a:p>
        </p:txBody>
      </p:sp>
      <p:sp>
        <p:nvSpPr>
          <p:cNvPr id="208905" name="Rectangle 92"/>
          <p:cNvSpPr>
            <a:spLocks noChangeArrowheads="1"/>
          </p:cNvSpPr>
          <p:nvPr/>
        </p:nvSpPr>
        <p:spPr bwMode="auto">
          <a:xfrm>
            <a:off x="3780692" y="1587501"/>
            <a:ext cx="4813789" cy="1211263"/>
          </a:xfrm>
          <a:prstGeom prst="rect">
            <a:avLst/>
          </a:prstGeom>
          <a:noFill/>
          <a:ln w="9525" algn="ctr">
            <a:solidFill>
              <a:srgbClr val="4D4D4D"/>
            </a:solidFill>
            <a:miter lim="800000"/>
            <a:headEnd/>
            <a:tailEnd/>
          </a:ln>
        </p:spPr>
        <p:txBody>
          <a:bodyPr wrap="none" anchor="ctr"/>
          <a:lstStyle/>
          <a:p>
            <a:endParaRPr lang="ko-KR" altLang="en-US" dirty="0">
              <a:latin typeface="맑은 고딕" pitchFamily="50" charset="-127"/>
              <a:ea typeface="맑은 고딕" pitchFamily="50" charset="-127"/>
            </a:endParaRPr>
          </a:p>
        </p:txBody>
      </p:sp>
      <p:sp>
        <p:nvSpPr>
          <p:cNvPr id="208906" name="Text Box 129"/>
          <p:cNvSpPr txBox="1">
            <a:spLocks noChangeArrowheads="1"/>
          </p:cNvSpPr>
          <p:nvPr/>
        </p:nvSpPr>
        <p:spPr bwMode="auto">
          <a:xfrm>
            <a:off x="3779912" y="1628800"/>
            <a:ext cx="4826193" cy="646331"/>
          </a:xfrm>
          <a:prstGeom prst="rect">
            <a:avLst/>
          </a:prstGeom>
          <a:noFill/>
          <a:ln w="9525" algn="ctr">
            <a:noFill/>
            <a:miter lim="800000"/>
            <a:headEnd/>
            <a:tailEnd/>
          </a:ln>
        </p:spPr>
        <p:txBody>
          <a:bodyPr wrap="none">
            <a:spAutoFit/>
          </a:bodyPr>
          <a:lstStyle/>
          <a:p>
            <a:pPr>
              <a:buFont typeface="Arial" pitchFamily="34" charset="0"/>
              <a:buChar char="•"/>
            </a:pPr>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Sử</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dụng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những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được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thập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trong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điểm</a:t>
            </a:r>
            <a:endParaRPr lang="en-US" altLang="ko-KR" sz="1200" b="1" dirty="0">
              <a:latin typeface="맑은 고딕" pitchFamily="50" charset="-127"/>
              <a:ea typeface="맑은 고딕" pitchFamily="50" charset="-127"/>
            </a:endParaRPr>
          </a:p>
          <a:p>
            <a:r>
              <a:rPr lang="en-US" altLang="ko-KR" sz="1200" b="1" dirty="0">
                <a:latin typeface="맑은 고딕" pitchFamily="50" charset="-127"/>
                <a:ea typeface="맑은 고딕" pitchFamily="50" charset="-127"/>
              </a:rPr>
              <a:t>  </a:t>
            </a:r>
          </a:p>
          <a:p>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Xây</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dựng</a:t>
            </a:r>
            <a:r>
              <a:rPr lang="en-US" altLang="ko-KR" sz="1200" b="1" dirty="0">
                <a:latin typeface="맑은 고딕" pitchFamily="50" charset="-127"/>
                <a:ea typeface="맑은 고딕" pitchFamily="50" charset="-127"/>
              </a:rPr>
              <a:t> </a:t>
            </a:r>
            <a:r>
              <a:rPr lang="vi-VN" altLang="ko-KR" sz="1200" b="1" dirty="0">
                <a:latin typeface="맑은 고딕" pitchFamily="50" charset="-127"/>
                <a:ea typeface="맑은 고딕" pitchFamily="50" charset="-127"/>
              </a:rPr>
              <a:t>đồ thị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quản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lý</a:t>
            </a:r>
            <a:r>
              <a:rPr lang="en-US" altLang="ko-KR" sz="1200" b="1" dirty="0">
                <a:latin typeface="맑은 고딕" pitchFamily="50" charset="-127"/>
                <a:ea typeface="맑은 고딕" pitchFamily="50" charset="-127"/>
              </a:rPr>
              <a:t> X-Bar – R Chart </a:t>
            </a:r>
            <a:r>
              <a:rPr lang="en-US" altLang="ko-KR" sz="1200" b="1" dirty="0" err="1">
                <a:latin typeface="맑은 고딕" pitchFamily="50" charset="-127"/>
                <a:ea typeface="맑은 고딕" pitchFamily="50" charset="-127"/>
              </a:rPr>
              <a:t>và</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I-MR</a:t>
            </a:r>
          </a:p>
        </p:txBody>
      </p:sp>
      <p:pic>
        <p:nvPicPr>
          <p:cNvPr id="208907" name="Picture 115"/>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77058" y="2214564"/>
            <a:ext cx="496765" cy="809625"/>
          </a:xfrm>
          <a:prstGeom prst="rect">
            <a:avLst/>
          </a:prstGeom>
          <a:noFill/>
          <a:ln w="9525">
            <a:noFill/>
            <a:miter lim="800000"/>
            <a:headEnd/>
            <a:tailEnd/>
          </a:ln>
        </p:spPr>
      </p:pic>
      <p:pic>
        <p:nvPicPr>
          <p:cNvPr id="208908" name="Picture 116"/>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36481" y="2571751"/>
            <a:ext cx="496765" cy="809625"/>
          </a:xfrm>
          <a:prstGeom prst="rect">
            <a:avLst/>
          </a:prstGeom>
          <a:noFill/>
          <a:ln w="9525">
            <a:noFill/>
            <a:miter lim="800000"/>
            <a:headEnd/>
            <a:tailEnd/>
          </a:ln>
        </p:spPr>
      </p:pic>
      <p:sp>
        <p:nvSpPr>
          <p:cNvPr id="208909" name="Text Box 117"/>
          <p:cNvSpPr txBox="1">
            <a:spLocks noChangeArrowheads="1"/>
          </p:cNvSpPr>
          <p:nvPr/>
        </p:nvSpPr>
        <p:spPr bwMode="auto">
          <a:xfrm>
            <a:off x="3059832" y="3573016"/>
            <a:ext cx="737702" cy="246221"/>
          </a:xfrm>
          <a:prstGeom prst="rect">
            <a:avLst/>
          </a:prstGeom>
          <a:noFill/>
          <a:ln w="9525" algn="ctr">
            <a:noFill/>
            <a:miter lim="800000"/>
            <a:headEnd/>
            <a:tailEnd/>
          </a:ln>
        </p:spPr>
        <p:txBody>
          <a:bodyPr wrap="none">
            <a:spAutoFit/>
          </a:bodyPr>
          <a:lstStyle/>
          <a:p>
            <a:pPr algn="ctr"/>
            <a:r>
              <a:rPr lang="en-US" altLang="ko-KR" sz="1000" dirty="0" err="1">
                <a:latin typeface="맑은 고딕" pitchFamily="50" charset="-127"/>
                <a:ea typeface="맑은 고딕" pitchFamily="50" charset="-127"/>
              </a:rPr>
              <a:t>Thời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gian</a:t>
            </a:r>
            <a:endParaRPr lang="ko-KR" altLang="en-US" sz="1000" dirty="0">
              <a:latin typeface="맑은 고딕" pitchFamily="50" charset="-127"/>
              <a:ea typeface="맑은 고딕" pitchFamily="50" charset="-127"/>
            </a:endParaRPr>
          </a:p>
        </p:txBody>
      </p:sp>
      <p:sp>
        <p:nvSpPr>
          <p:cNvPr id="208910" name="Text Box 118"/>
          <p:cNvSpPr txBox="1">
            <a:spLocks noChangeArrowheads="1"/>
          </p:cNvSpPr>
          <p:nvPr/>
        </p:nvSpPr>
        <p:spPr bwMode="auto">
          <a:xfrm>
            <a:off x="520708" y="1692276"/>
            <a:ext cx="736099" cy="246221"/>
          </a:xfrm>
          <a:prstGeom prst="rect">
            <a:avLst/>
          </a:prstGeom>
          <a:noFill/>
          <a:ln w="9525" algn="ctr">
            <a:noFill/>
            <a:miter lim="800000"/>
            <a:headEnd/>
            <a:tailEnd/>
          </a:ln>
        </p:spPr>
        <p:txBody>
          <a:bodyPr wrap="none">
            <a:spAutoFit/>
          </a:bodyPr>
          <a:lstStyle/>
          <a:p>
            <a:pPr algn="ct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đo</a:t>
            </a:r>
            <a:endParaRPr lang="ko-KR" altLang="en-US" sz="1000" dirty="0">
              <a:latin typeface="맑은 고딕" pitchFamily="50" charset="-127"/>
              <a:ea typeface="맑은 고딕" pitchFamily="50" charset="-127"/>
            </a:endParaRPr>
          </a:p>
        </p:txBody>
      </p:sp>
      <p:pic>
        <p:nvPicPr>
          <p:cNvPr id="208911" name="Picture 120"/>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61847" y="2143126"/>
            <a:ext cx="496766" cy="809625"/>
          </a:xfrm>
          <a:prstGeom prst="rect">
            <a:avLst/>
          </a:prstGeom>
          <a:noFill/>
          <a:ln w="9525">
            <a:noFill/>
            <a:miter lim="800000"/>
            <a:headEnd/>
            <a:tailEnd/>
          </a:ln>
        </p:spPr>
      </p:pic>
      <p:sp>
        <p:nvSpPr>
          <p:cNvPr id="208912" name="Text Box 121"/>
          <p:cNvSpPr txBox="1">
            <a:spLocks noChangeArrowheads="1"/>
          </p:cNvSpPr>
          <p:nvPr/>
        </p:nvSpPr>
        <p:spPr bwMode="auto">
          <a:xfrm>
            <a:off x="2621967" y="2627313"/>
            <a:ext cx="1199367" cy="246221"/>
          </a:xfrm>
          <a:prstGeom prst="rect">
            <a:avLst/>
          </a:prstGeom>
          <a:noFill/>
          <a:ln w="9525" algn="ctr">
            <a:noFill/>
            <a:miter lim="800000"/>
            <a:headEnd/>
            <a:tailEnd/>
          </a:ln>
        </p:spPr>
        <p:txBody>
          <a:bodyPr wrap="none">
            <a:spAutoFit/>
          </a:bodyPr>
          <a:lstStyle/>
          <a:p>
            <a:pPr algn="ct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tiêu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chuẩn</a:t>
            </a:r>
            <a:endParaRPr lang="ko-KR" altLang="en-US" sz="1000" dirty="0">
              <a:latin typeface="맑은 고딕" pitchFamily="50" charset="-127"/>
              <a:ea typeface="맑은 고딕" pitchFamily="50" charset="-127"/>
            </a:endParaRPr>
          </a:p>
        </p:txBody>
      </p:sp>
      <p:cxnSp>
        <p:nvCxnSpPr>
          <p:cNvPr id="208913" name="직선 연결선 26"/>
          <p:cNvCxnSpPr>
            <a:cxnSpLocks noChangeShapeType="1"/>
          </p:cNvCxnSpPr>
          <p:nvPr/>
        </p:nvCxnSpPr>
        <p:spPr bwMode="auto">
          <a:xfrm flipV="1">
            <a:off x="880697" y="2787650"/>
            <a:ext cx="2174631" cy="0"/>
          </a:xfrm>
          <a:prstGeom prst="line">
            <a:avLst/>
          </a:prstGeom>
          <a:noFill/>
          <a:ln w="12700" algn="ctr">
            <a:solidFill>
              <a:schemeClr val="tx1"/>
            </a:solidFill>
            <a:prstDash val="dash"/>
            <a:round/>
            <a:headEnd/>
            <a:tailEnd/>
          </a:ln>
        </p:spPr>
      </p:cxnSp>
      <p:cxnSp>
        <p:nvCxnSpPr>
          <p:cNvPr id="208914" name="직선 화살표 연결선 29"/>
          <p:cNvCxnSpPr>
            <a:cxnSpLocks noChangeShapeType="1"/>
          </p:cNvCxnSpPr>
          <p:nvPr/>
        </p:nvCxnSpPr>
        <p:spPr bwMode="auto">
          <a:xfrm rot="5400000" flipH="1" flipV="1">
            <a:off x="-15264" y="2821844"/>
            <a:ext cx="1787525" cy="1465"/>
          </a:xfrm>
          <a:prstGeom prst="straightConnector1">
            <a:avLst/>
          </a:prstGeom>
          <a:noFill/>
          <a:ln w="12700" algn="ctr">
            <a:solidFill>
              <a:schemeClr val="tx1"/>
            </a:solidFill>
            <a:round/>
            <a:headEnd/>
            <a:tailEnd type="arrow" w="med" len="med"/>
          </a:ln>
        </p:spPr>
      </p:cxnSp>
      <p:cxnSp>
        <p:nvCxnSpPr>
          <p:cNvPr id="208915" name="직선 화살표 연결선 31"/>
          <p:cNvCxnSpPr>
            <a:cxnSpLocks noChangeShapeType="1"/>
          </p:cNvCxnSpPr>
          <p:nvPr/>
        </p:nvCxnSpPr>
        <p:spPr bwMode="auto">
          <a:xfrm>
            <a:off x="879231" y="3714750"/>
            <a:ext cx="2307981" cy="1588"/>
          </a:xfrm>
          <a:prstGeom prst="straightConnector1">
            <a:avLst/>
          </a:prstGeom>
          <a:noFill/>
          <a:ln w="12700" algn="ctr">
            <a:solidFill>
              <a:schemeClr val="tx1"/>
            </a:solidFill>
            <a:round/>
            <a:headEnd/>
            <a:tailEnd type="arrow" w="med" len="med"/>
          </a:ln>
        </p:spPr>
      </p:cxn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26</a:t>
            </a:fld>
            <a:endParaRPr lang="ko-KR" altLang="en-US" dirty="0"/>
          </a:p>
        </p:txBody>
      </p:sp>
    </p:spTree>
    <p:extLst>
      <p:ext uri="{BB962C8B-B14F-4D97-AF65-F5344CB8AC3E}">
        <p14:creationId xmlns:p14="http://schemas.microsoft.com/office/powerpoint/2010/main" val="72373098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chính</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xác</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ko-KR" altLang="en-US" sz="1600" b="1" kern="0" dirty="0">
                <a:solidFill>
                  <a:sysClr val="windowText" lastClr="000000">
                    <a:lumMod val="75000"/>
                    <a:lumOff val="25000"/>
                  </a:sysClr>
                </a:solidFill>
                <a:latin typeface="맑은 고딕" pitchFamily="50" charset="-127"/>
                <a:ea typeface="맑은 고딕" pitchFamily="50" charset="-127"/>
              </a:rPr>
              <a:t> </a:t>
            </a:r>
            <a:endParaRPr lang="ko-KR" altLang="en-US" sz="1600" b="1" kern="0" dirty="0">
              <a:solidFill>
                <a:srgbClr val="000000"/>
              </a:solidFill>
              <a:latin typeface="맑은 고딕"/>
              <a:ea typeface="맑은 고딕"/>
            </a:endParaRPr>
          </a:p>
        </p:txBody>
      </p:sp>
      <p:sp>
        <p:nvSpPr>
          <p:cNvPr id="3" name="TextBox 2"/>
          <p:cNvSpPr txBox="1"/>
          <p:nvPr/>
        </p:nvSpPr>
        <p:spPr>
          <a:xfrm>
            <a:off x="539552" y="1196752"/>
            <a:ext cx="1064715" cy="369332"/>
          </a:xfrm>
          <a:prstGeom prst="rect">
            <a:avLst/>
          </a:prstGeom>
          <a:noFill/>
        </p:spPr>
        <p:txBody>
          <a:bodyPr wrap="none" rtlCol="0">
            <a:spAutoFit/>
          </a:bodyPr>
          <a:lstStyle/>
          <a:p>
            <a:r>
              <a:rPr lang="en-US" altLang="ko-KR" dirty="0" err="1"/>
              <a:t>Câu</a:t>
            </a:r>
            <a:r>
              <a:rPr lang="en-US" altLang="ko-KR" dirty="0"/>
              <a:t> </a:t>
            </a:r>
            <a:r>
              <a:rPr lang="en-US" altLang="ko-KR" dirty="0" err="1"/>
              <a:t>hỏi</a:t>
            </a:r>
            <a:r>
              <a:rPr lang="ko-KR" altLang="en-US" dirty="0"/>
              <a:t> </a:t>
            </a:r>
          </a:p>
        </p:txBody>
      </p:sp>
      <p:sp>
        <p:nvSpPr>
          <p:cNvPr id="4" name="TextBox 3"/>
          <p:cNvSpPr txBox="1"/>
          <p:nvPr/>
        </p:nvSpPr>
        <p:spPr>
          <a:xfrm>
            <a:off x="683568" y="1772816"/>
            <a:ext cx="8204490" cy="369332"/>
          </a:xfrm>
          <a:prstGeom prst="rect">
            <a:avLst/>
          </a:prstGeom>
          <a:noFill/>
        </p:spPr>
        <p:txBody>
          <a:bodyPr wrap="none" rtlCol="0">
            <a:spAutoFit/>
          </a:bodyPr>
          <a:lstStyle/>
          <a:p>
            <a:r>
              <a:rPr lang="en-US" altLang="ko-KR" dirty="0"/>
              <a:t>1.  </a:t>
            </a:r>
            <a:r>
              <a:rPr lang="en-US" altLang="ko-KR" dirty="0" err="1"/>
              <a:t>Đôi</a:t>
            </a:r>
            <a:r>
              <a:rPr lang="en-US" altLang="ko-KR" dirty="0"/>
              <a:t> </a:t>
            </a:r>
            <a:r>
              <a:rPr lang="en-US" altLang="ko-KR" dirty="0" err="1"/>
              <a:t>tượng</a:t>
            </a:r>
            <a:r>
              <a:rPr lang="en-US" altLang="ko-KR" dirty="0"/>
              <a:t> </a:t>
            </a:r>
            <a:r>
              <a:rPr lang="en-US" altLang="ko-KR" dirty="0" err="1"/>
              <a:t>của</a:t>
            </a:r>
            <a:r>
              <a:rPr lang="en-US" altLang="ko-KR" dirty="0"/>
              <a:t> </a:t>
            </a:r>
            <a:r>
              <a:rPr lang="en-US" altLang="ko-KR" dirty="0" err="1"/>
              <a:t>dụng</a:t>
            </a:r>
            <a:r>
              <a:rPr lang="en-US" altLang="ko-KR" dirty="0"/>
              <a:t> </a:t>
            </a:r>
            <a:r>
              <a:rPr lang="en-US" altLang="ko-KR" dirty="0" err="1"/>
              <a:t>cụ</a:t>
            </a:r>
            <a:r>
              <a:rPr lang="en-US" altLang="ko-KR" dirty="0"/>
              <a:t> </a:t>
            </a:r>
            <a:r>
              <a:rPr lang="en-US" altLang="ko-KR" dirty="0" err="1"/>
              <a:t>đo</a:t>
            </a:r>
            <a:r>
              <a:rPr lang="en-US" altLang="ko-KR" dirty="0"/>
              <a:t> </a:t>
            </a:r>
            <a:r>
              <a:rPr lang="en-US" altLang="ko-KR" dirty="0" err="1"/>
              <a:t>đạc</a:t>
            </a:r>
            <a:r>
              <a:rPr lang="en-US" altLang="ko-KR" dirty="0"/>
              <a:t> </a:t>
            </a:r>
            <a:r>
              <a:rPr lang="en-US" altLang="ko-KR" dirty="0" err="1"/>
              <a:t>cần</a:t>
            </a:r>
            <a:r>
              <a:rPr lang="en-US" altLang="ko-KR" dirty="0"/>
              <a:t> </a:t>
            </a:r>
            <a:r>
              <a:rPr lang="en-US" altLang="ko-KR" dirty="0" err="1"/>
              <a:t>phải</a:t>
            </a:r>
            <a:r>
              <a:rPr lang="en-US" altLang="ko-KR" dirty="0"/>
              <a:t> </a:t>
            </a:r>
            <a:r>
              <a:rPr lang="en-US" altLang="ko-KR" dirty="0" err="1"/>
              <a:t>kiểm</a:t>
            </a:r>
            <a:r>
              <a:rPr lang="en-US" altLang="ko-KR" dirty="0"/>
              <a:t> </a:t>
            </a:r>
            <a:r>
              <a:rPr lang="en-US" altLang="ko-KR" dirty="0" err="1"/>
              <a:t>chứng</a:t>
            </a:r>
            <a:r>
              <a:rPr lang="en-US" altLang="ko-KR" dirty="0"/>
              <a:t> </a:t>
            </a:r>
            <a:r>
              <a:rPr lang="en-US" altLang="ko-KR" dirty="0" err="1"/>
              <a:t>độ</a:t>
            </a:r>
            <a:r>
              <a:rPr lang="en-US" altLang="ko-KR" dirty="0"/>
              <a:t> </a:t>
            </a:r>
            <a:r>
              <a:rPr lang="en-US" altLang="ko-KR" dirty="0" err="1"/>
              <a:t>chính</a:t>
            </a:r>
            <a:r>
              <a:rPr lang="en-US" altLang="ko-KR" dirty="0"/>
              <a:t> </a:t>
            </a:r>
            <a:r>
              <a:rPr lang="en-US" altLang="ko-KR" dirty="0" err="1"/>
              <a:t>xác</a:t>
            </a:r>
            <a:r>
              <a:rPr lang="en-US" altLang="ko-KR" dirty="0"/>
              <a:t> </a:t>
            </a:r>
            <a:r>
              <a:rPr lang="en-US" altLang="ko-KR" dirty="0" err="1"/>
              <a:t>là</a:t>
            </a:r>
            <a:r>
              <a:rPr lang="en-US" altLang="ko-KR" dirty="0"/>
              <a:t> </a:t>
            </a:r>
            <a:r>
              <a:rPr lang="en-US" altLang="ko-KR" dirty="0" err="1"/>
              <a:t>gì</a:t>
            </a:r>
            <a:r>
              <a:rPr lang="en-US" altLang="ko-KR" dirty="0"/>
              <a:t>?</a:t>
            </a:r>
            <a:endParaRPr lang="ko-KR" altLang="en-US" dirty="0"/>
          </a:p>
        </p:txBody>
      </p:sp>
      <p:sp>
        <p:nvSpPr>
          <p:cNvPr id="5" name="TextBox 4"/>
          <p:cNvSpPr txBox="1"/>
          <p:nvPr/>
        </p:nvSpPr>
        <p:spPr>
          <a:xfrm>
            <a:off x="683568" y="2852936"/>
            <a:ext cx="8233344" cy="369332"/>
          </a:xfrm>
          <a:prstGeom prst="rect">
            <a:avLst/>
          </a:prstGeom>
          <a:noFill/>
        </p:spPr>
        <p:txBody>
          <a:bodyPr wrap="none" rtlCol="0">
            <a:spAutoFit/>
          </a:bodyPr>
          <a:lstStyle/>
          <a:p>
            <a:r>
              <a:rPr lang="en-US" altLang="ko-KR" dirty="0"/>
              <a:t>2. </a:t>
            </a:r>
            <a:r>
              <a:rPr lang="en-US" altLang="ko-KR" dirty="0" err="1"/>
              <a:t>Nếu</a:t>
            </a:r>
            <a:r>
              <a:rPr lang="en-US" altLang="ko-KR" dirty="0"/>
              <a:t> </a:t>
            </a:r>
            <a:r>
              <a:rPr lang="en-US" altLang="ko-KR" dirty="0" err="1"/>
              <a:t>phát</a:t>
            </a:r>
            <a:r>
              <a:rPr lang="en-US" altLang="ko-KR" dirty="0"/>
              <a:t> </a:t>
            </a:r>
            <a:r>
              <a:rPr lang="en-US" altLang="ko-KR" dirty="0" err="1"/>
              <a:t>sinh</a:t>
            </a:r>
            <a:r>
              <a:rPr lang="en-US" altLang="ko-KR" dirty="0"/>
              <a:t> </a:t>
            </a:r>
            <a:r>
              <a:rPr lang="en-US" altLang="ko-KR" dirty="0" err="1"/>
              <a:t>vấn</a:t>
            </a:r>
            <a:r>
              <a:rPr lang="en-US" altLang="ko-KR" dirty="0"/>
              <a:t> </a:t>
            </a:r>
            <a:r>
              <a:rPr lang="en-US" altLang="ko-KR" dirty="0" err="1"/>
              <a:t>đề</a:t>
            </a:r>
            <a:r>
              <a:rPr lang="en-US" altLang="ko-KR" dirty="0"/>
              <a:t> </a:t>
            </a:r>
            <a:r>
              <a:rPr lang="en-US" altLang="ko-KR" dirty="0" err="1"/>
              <a:t>khi</a:t>
            </a:r>
            <a:r>
              <a:rPr lang="en-US" altLang="ko-KR" dirty="0"/>
              <a:t> </a:t>
            </a:r>
            <a:r>
              <a:rPr lang="en-US" altLang="ko-KR" dirty="0" err="1"/>
              <a:t>kiểm</a:t>
            </a:r>
            <a:r>
              <a:rPr lang="en-US" altLang="ko-KR" dirty="0"/>
              <a:t> </a:t>
            </a:r>
            <a:r>
              <a:rPr lang="en-US" altLang="ko-KR" dirty="0" err="1"/>
              <a:t>chứng</a:t>
            </a:r>
            <a:r>
              <a:rPr lang="en-US" altLang="ko-KR" dirty="0"/>
              <a:t> </a:t>
            </a:r>
            <a:r>
              <a:rPr lang="en-US" altLang="ko-KR" dirty="0" err="1"/>
              <a:t>độ</a:t>
            </a:r>
            <a:r>
              <a:rPr lang="en-US" altLang="ko-KR" dirty="0"/>
              <a:t> </a:t>
            </a:r>
            <a:r>
              <a:rPr lang="en-US" altLang="ko-KR" dirty="0" err="1"/>
              <a:t>chính</a:t>
            </a:r>
            <a:r>
              <a:rPr lang="en-US" altLang="ko-KR" dirty="0"/>
              <a:t> </a:t>
            </a:r>
            <a:r>
              <a:rPr lang="en-US" altLang="ko-KR" dirty="0" err="1"/>
              <a:t>xác</a:t>
            </a:r>
            <a:r>
              <a:rPr lang="en-US" altLang="ko-KR" dirty="0"/>
              <a:t> </a:t>
            </a:r>
            <a:r>
              <a:rPr lang="en-US" altLang="ko-KR" dirty="0" err="1"/>
              <a:t>thì</a:t>
            </a:r>
            <a:r>
              <a:rPr lang="en-US" altLang="ko-KR" dirty="0"/>
              <a:t> </a:t>
            </a:r>
            <a:r>
              <a:rPr lang="en-US" altLang="ko-KR" dirty="0" err="1"/>
              <a:t>phải</a:t>
            </a:r>
            <a:r>
              <a:rPr lang="en-US" altLang="ko-KR" dirty="0"/>
              <a:t> </a:t>
            </a:r>
            <a:r>
              <a:rPr lang="en-US" altLang="ko-KR" dirty="0" err="1"/>
              <a:t>làm</a:t>
            </a:r>
            <a:r>
              <a:rPr lang="en-US" altLang="ko-KR" dirty="0"/>
              <a:t> </a:t>
            </a:r>
            <a:r>
              <a:rPr lang="en-US" altLang="ko-KR" dirty="0" err="1"/>
              <a:t>thế</a:t>
            </a:r>
            <a:r>
              <a:rPr lang="en-US" altLang="ko-KR" dirty="0"/>
              <a:t> </a:t>
            </a:r>
            <a:r>
              <a:rPr lang="en-US" altLang="ko-KR" dirty="0" err="1"/>
              <a:t>nào</a:t>
            </a:r>
            <a:r>
              <a:rPr lang="en-US" altLang="ko-KR" dirty="0"/>
              <a:t>?</a:t>
            </a:r>
            <a:endParaRPr lang="ko-KR" altLang="en-US" dirty="0"/>
          </a:p>
        </p:txBody>
      </p:sp>
      <p:sp>
        <p:nvSpPr>
          <p:cNvPr id="6" name="슬라이드 번호 개체 틀 1"/>
          <p:cNvSpPr>
            <a:spLocks noGrp="1"/>
          </p:cNvSpPr>
          <p:nvPr>
            <p:ph type="sldNum" sz="quarter" idx="4294967295"/>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27</a:t>
            </a:fld>
            <a:endParaRPr lang="ko-KR" altLang="en-US" dirty="0"/>
          </a:p>
        </p:txBody>
      </p:sp>
    </p:spTree>
    <p:extLst>
      <p:ext uri="{BB962C8B-B14F-4D97-AF65-F5344CB8AC3E}">
        <p14:creationId xmlns:p14="http://schemas.microsoft.com/office/powerpoint/2010/main" val="40333220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95654" y="827089"/>
            <a:ext cx="8462597" cy="1040285"/>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What is Gage R&amp;R</a:t>
            </a:r>
          </a:p>
          <a:p>
            <a:pPr marL="534988" indent="-169863" fontAlgn="auto" latinLnBrk="0">
              <a:lnSpc>
                <a:spcPct val="110000"/>
              </a:lnSpc>
              <a:spcBef>
                <a:spcPts val="0"/>
              </a:spcBef>
              <a:spcAft>
                <a:spcPts val="0"/>
              </a:spcAft>
              <a:buClr>
                <a:srgbClr val="595959"/>
              </a:buClr>
              <a:buFont typeface="Wingdings" pitchFamily="2" charset="2"/>
              <a:buChar char="§"/>
              <a:defRPr/>
            </a:pPr>
            <a:r>
              <a:rPr kumimoji="0" lang="en-US" altLang="ko-KR" sz="1400" kern="0" dirty="0">
                <a:solidFill>
                  <a:srgbClr val="000000"/>
                </a:solidFill>
                <a:latin typeface="맑은 고딕" pitchFamily="50" charset="-127"/>
                <a:ea typeface="맑은 고딕" pitchFamily="50" charset="-127"/>
              </a:rPr>
              <a:t>The measurement system includes not only an instrument but also a measurer.</a:t>
            </a:r>
          </a:p>
          <a:p>
            <a:pPr marL="534988" indent="-169863" fontAlgn="auto" latinLnBrk="0">
              <a:lnSpc>
                <a:spcPct val="110000"/>
              </a:lnSpc>
              <a:spcBef>
                <a:spcPts val="0"/>
              </a:spcBef>
              <a:spcAft>
                <a:spcPts val="0"/>
              </a:spcAft>
              <a:buClr>
                <a:srgbClr val="595959"/>
              </a:buClr>
              <a:buFont typeface="Wingdings" pitchFamily="2" charset="2"/>
              <a:buChar char="§"/>
              <a:defRPr/>
            </a:pPr>
            <a:r>
              <a:rPr lang="en-US" sz="1400" dirty="0"/>
              <a:t>Measurement system validation is to identify how reliable our measurement system is and to evaluate it in terms of </a:t>
            </a:r>
            <a:r>
              <a:rPr lang="en-US" sz="1400" b="1" dirty="0"/>
              <a:t>repeatability</a:t>
            </a:r>
            <a:r>
              <a:rPr lang="en-US" sz="1400" dirty="0"/>
              <a:t> and </a:t>
            </a:r>
            <a:r>
              <a:rPr lang="en-US" sz="1400" b="1" dirty="0"/>
              <a:t>reproducibility</a:t>
            </a:r>
            <a:r>
              <a:rPr lang="en-US" sz="1400" dirty="0"/>
              <a:t>, which we call </a:t>
            </a:r>
            <a:r>
              <a:rPr lang="en-US" sz="1400" b="1" dirty="0"/>
              <a:t>Gage R&amp;R</a:t>
            </a:r>
            <a:r>
              <a:rPr lang="en-US" sz="1400" dirty="0"/>
              <a:t>.</a:t>
            </a:r>
            <a:endParaRPr kumimoji="0" lang="ko-KR" altLang="en-US" sz="1400" kern="0" dirty="0">
              <a:solidFill>
                <a:srgbClr val="000000"/>
              </a:solidFill>
              <a:latin typeface="맑은 고딕" pitchFamily="50" charset="-127"/>
              <a:ea typeface="맑은 고딕" pitchFamily="50" charset="-127"/>
            </a:endParaRPr>
          </a:p>
        </p:txBody>
      </p:sp>
      <p:sp>
        <p:nvSpPr>
          <p:cNvPr id="167940" name="TextBox 4"/>
          <p:cNvSpPr txBox="1">
            <a:spLocks noChangeArrowheads="1"/>
          </p:cNvSpPr>
          <p:nvPr/>
        </p:nvSpPr>
        <p:spPr bwMode="auto">
          <a:xfrm>
            <a:off x="879231" y="2370139"/>
            <a:ext cx="2094612" cy="307777"/>
          </a:xfrm>
          <a:prstGeom prst="rect">
            <a:avLst/>
          </a:prstGeom>
          <a:noFill/>
          <a:ln w="9525">
            <a:noFill/>
            <a:miter lim="800000"/>
            <a:headEnd/>
            <a:tailEnd/>
          </a:ln>
        </p:spPr>
        <p:txBody>
          <a:bodyPr wrap="none">
            <a:spAutoFit/>
          </a:bodyPr>
          <a:lstStyle/>
          <a:p>
            <a:r>
              <a:rPr lang="en-US" altLang="ko-KR" sz="1400" b="1" dirty="0">
                <a:solidFill>
                  <a:srgbClr val="000000"/>
                </a:solidFill>
                <a:latin typeface="맑은 고딕" pitchFamily="50" charset="-127"/>
                <a:ea typeface="맑은 고딕" pitchFamily="50" charset="-127"/>
              </a:rPr>
              <a:t>What is Repeatability?</a:t>
            </a:r>
            <a:endParaRPr lang="ko-KR" altLang="en-US" sz="1400" b="1" dirty="0">
              <a:solidFill>
                <a:srgbClr val="000000"/>
              </a:solidFill>
              <a:latin typeface="맑은 고딕" pitchFamily="50" charset="-127"/>
              <a:ea typeface="맑은 고딕" pitchFamily="50" charset="-127"/>
            </a:endParaRPr>
          </a:p>
        </p:txBody>
      </p:sp>
      <p:sp>
        <p:nvSpPr>
          <p:cNvPr id="167941" name="TextBox 5"/>
          <p:cNvSpPr txBox="1">
            <a:spLocks noChangeArrowheads="1"/>
          </p:cNvSpPr>
          <p:nvPr/>
        </p:nvSpPr>
        <p:spPr bwMode="auto">
          <a:xfrm>
            <a:off x="879231" y="4214814"/>
            <a:ext cx="2253117" cy="307777"/>
          </a:xfrm>
          <a:prstGeom prst="rect">
            <a:avLst/>
          </a:prstGeom>
          <a:noFill/>
          <a:ln w="9525">
            <a:noFill/>
            <a:miter lim="800000"/>
            <a:headEnd/>
            <a:tailEnd/>
          </a:ln>
        </p:spPr>
        <p:txBody>
          <a:bodyPr wrap="none">
            <a:spAutoFit/>
          </a:bodyPr>
          <a:lstStyle/>
          <a:p>
            <a:r>
              <a:rPr lang="en-US" altLang="ko-KR" sz="1400" b="1" dirty="0">
                <a:solidFill>
                  <a:srgbClr val="000000"/>
                </a:solidFill>
                <a:latin typeface="맑은 고딕" pitchFamily="50" charset="-127"/>
                <a:ea typeface="맑은 고딕" pitchFamily="50" charset="-127"/>
              </a:rPr>
              <a:t>What is Reproducibility?</a:t>
            </a:r>
            <a:endParaRPr lang="ko-KR" altLang="en-US" sz="1400" b="1" dirty="0">
              <a:solidFill>
                <a:srgbClr val="000000"/>
              </a:solidFill>
              <a:latin typeface="맑은 고딕" pitchFamily="50" charset="-127"/>
              <a:ea typeface="맑은 고딕" pitchFamily="50" charset="-127"/>
            </a:endParaRPr>
          </a:p>
        </p:txBody>
      </p:sp>
      <p:sp>
        <p:nvSpPr>
          <p:cNvPr id="167942" name="TextBox 6"/>
          <p:cNvSpPr txBox="1">
            <a:spLocks noChangeArrowheads="1"/>
          </p:cNvSpPr>
          <p:nvPr/>
        </p:nvSpPr>
        <p:spPr bwMode="auto">
          <a:xfrm>
            <a:off x="1406770" y="2754313"/>
            <a:ext cx="3165230" cy="1015663"/>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This is a measurement error that occurs when one measurer measures the same characteristics of the same part several times in a comparatively short time using the same instrument.</a:t>
            </a:r>
            <a:endParaRPr lang="ko-KR" altLang="en-US" sz="1200" dirty="0">
              <a:solidFill>
                <a:srgbClr val="000000"/>
              </a:solidFill>
              <a:latin typeface="맑은 고딕" pitchFamily="50" charset="-127"/>
              <a:ea typeface="맑은 고딕" pitchFamily="50" charset="-127"/>
            </a:endParaRPr>
          </a:p>
        </p:txBody>
      </p:sp>
      <p:sp>
        <p:nvSpPr>
          <p:cNvPr id="167943" name="TextBox 7"/>
          <p:cNvSpPr txBox="1">
            <a:spLocks noChangeArrowheads="1"/>
          </p:cNvSpPr>
          <p:nvPr/>
        </p:nvSpPr>
        <p:spPr bwMode="auto">
          <a:xfrm>
            <a:off x="1406769" y="3794943"/>
            <a:ext cx="3232873"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Error variation by  measuring equipment.</a:t>
            </a:r>
            <a:endParaRPr lang="ko-KR" altLang="en-US" sz="1200" b="1" dirty="0">
              <a:solidFill>
                <a:srgbClr val="000000"/>
              </a:solidFill>
              <a:latin typeface="맑은 고딕" pitchFamily="50" charset="-127"/>
              <a:ea typeface="맑은 고딕" pitchFamily="50" charset="-127"/>
            </a:endParaRPr>
          </a:p>
        </p:txBody>
      </p:sp>
      <p:sp>
        <p:nvSpPr>
          <p:cNvPr id="167944" name="TextBox 8"/>
          <p:cNvSpPr txBox="1">
            <a:spLocks noChangeArrowheads="1"/>
          </p:cNvSpPr>
          <p:nvPr/>
        </p:nvSpPr>
        <p:spPr bwMode="auto">
          <a:xfrm>
            <a:off x="1406771" y="4619626"/>
            <a:ext cx="2950916" cy="1200329"/>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This is a measurement error when the same characteristics of the same part are measured by several measurers using the same instrument(the difference of the measured average value).</a:t>
            </a:r>
            <a:endParaRPr lang="ko-KR" altLang="en-US" sz="1200" dirty="0">
              <a:solidFill>
                <a:srgbClr val="000000"/>
              </a:solidFill>
              <a:latin typeface="맑은 고딕" pitchFamily="50" charset="-127"/>
              <a:ea typeface="맑은 고딕" pitchFamily="50" charset="-127"/>
            </a:endParaRPr>
          </a:p>
        </p:txBody>
      </p:sp>
      <p:sp>
        <p:nvSpPr>
          <p:cNvPr id="167945" name="TextBox 9"/>
          <p:cNvSpPr txBox="1">
            <a:spLocks noChangeArrowheads="1"/>
          </p:cNvSpPr>
          <p:nvPr/>
        </p:nvSpPr>
        <p:spPr bwMode="auto">
          <a:xfrm>
            <a:off x="1406770" y="5866645"/>
            <a:ext cx="2524217"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Error variation by the measurer.</a:t>
            </a:r>
            <a:endParaRPr lang="ko-KR" altLang="en-US" sz="1200" b="1" dirty="0">
              <a:solidFill>
                <a:srgbClr val="000000"/>
              </a:solidFill>
              <a:latin typeface="맑은 고딕" pitchFamily="50" charset="-127"/>
              <a:ea typeface="맑은 고딕" pitchFamily="50" charset="-127"/>
            </a:endParaRPr>
          </a:p>
        </p:txBody>
      </p:sp>
      <p:pic>
        <p:nvPicPr>
          <p:cNvPr id="167946" name="Picture 4"/>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413131" y="2681288"/>
            <a:ext cx="1528397" cy="927100"/>
          </a:xfrm>
          <a:prstGeom prst="rect">
            <a:avLst/>
          </a:prstGeom>
          <a:noFill/>
          <a:ln w="9525">
            <a:noFill/>
            <a:miter lim="800000"/>
            <a:headEnd/>
            <a:tailEnd/>
          </a:ln>
        </p:spPr>
      </p:pic>
      <p:sp>
        <p:nvSpPr>
          <p:cNvPr id="167947" name="Text Box 5"/>
          <p:cNvSpPr txBox="1">
            <a:spLocks noChangeArrowheads="1"/>
          </p:cNvSpPr>
          <p:nvPr/>
        </p:nvSpPr>
        <p:spPr bwMode="auto">
          <a:xfrm>
            <a:off x="6327161" y="2357430"/>
            <a:ext cx="1388111" cy="276999"/>
          </a:xfrm>
          <a:prstGeom prst="rect">
            <a:avLst/>
          </a:prstGeom>
          <a:noFill/>
          <a:ln w="9525" algn="ctr">
            <a:noFill/>
            <a:miter lim="800000"/>
            <a:headEnd/>
            <a:tailEnd/>
          </a:ln>
        </p:spPr>
        <p:txBody>
          <a:bodyPr wrap="square">
            <a:spAutoFit/>
          </a:bodyPr>
          <a:lstStyle/>
          <a:p>
            <a:pPr algn="ctr">
              <a:spcBef>
                <a:spcPct val="50000"/>
              </a:spcBef>
            </a:pPr>
            <a:r>
              <a:rPr lang="en-US" altLang="ko-KR" sz="1200" b="1" dirty="0">
                <a:solidFill>
                  <a:srgbClr val="0000FF"/>
                </a:solidFill>
                <a:latin typeface="Arial" pitchFamily="34" charset="0"/>
              </a:rPr>
              <a:t>Repeatability</a:t>
            </a:r>
            <a:endParaRPr lang="ko-KR" altLang="en-US" sz="1200" b="1" dirty="0">
              <a:solidFill>
                <a:srgbClr val="0000FF"/>
              </a:solidFill>
              <a:latin typeface="Arial" pitchFamily="34" charset="0"/>
            </a:endParaRPr>
          </a:p>
        </p:txBody>
      </p:sp>
      <p:sp>
        <p:nvSpPr>
          <p:cNvPr id="167948" name="Text Box 6"/>
          <p:cNvSpPr txBox="1">
            <a:spLocks noChangeArrowheads="1"/>
          </p:cNvSpPr>
          <p:nvPr/>
        </p:nvSpPr>
        <p:spPr bwMode="auto">
          <a:xfrm>
            <a:off x="6682154" y="3544889"/>
            <a:ext cx="890242" cy="400110"/>
          </a:xfrm>
          <a:prstGeom prst="rect">
            <a:avLst/>
          </a:prstGeom>
          <a:noFill/>
          <a:ln w="9525" algn="ctr">
            <a:noFill/>
            <a:miter lim="800000"/>
            <a:headEnd/>
            <a:tailEnd/>
          </a:ln>
        </p:spPr>
        <p:txBody>
          <a:bodyPr wrap="square">
            <a:spAutoFit/>
          </a:bodyPr>
          <a:lstStyle/>
          <a:p>
            <a:pPr algn="ctr">
              <a:spcBef>
                <a:spcPct val="50000"/>
              </a:spcBef>
            </a:pPr>
            <a:r>
              <a:rPr lang="en-US" altLang="ko-KR" sz="1000" b="1" dirty="0">
                <a:solidFill>
                  <a:srgbClr val="000000"/>
                </a:solidFill>
                <a:latin typeface="Times New Roman" pitchFamily="18" charset="0"/>
                <a:ea typeface="굴림체" pitchFamily="49" charset="-127"/>
              </a:rPr>
              <a:t>Measured value</a:t>
            </a:r>
            <a:endParaRPr lang="ko-KR" altLang="en-US" sz="1000" b="1" dirty="0">
              <a:solidFill>
                <a:srgbClr val="000000"/>
              </a:solidFill>
              <a:latin typeface="Times New Roman" pitchFamily="18" charset="0"/>
              <a:ea typeface="굴림체" pitchFamily="49" charset="-127"/>
            </a:endParaRPr>
          </a:p>
        </p:txBody>
      </p:sp>
      <p:sp>
        <p:nvSpPr>
          <p:cNvPr id="167949" name="Rectangle 7"/>
          <p:cNvSpPr>
            <a:spLocks noChangeArrowheads="1"/>
          </p:cNvSpPr>
          <p:nvPr/>
        </p:nvSpPr>
        <p:spPr bwMode="auto">
          <a:xfrm>
            <a:off x="5099539" y="2370139"/>
            <a:ext cx="2458915" cy="1563687"/>
          </a:xfrm>
          <a:prstGeom prst="rect">
            <a:avLst/>
          </a:prstGeom>
          <a:noFill/>
          <a:ln w="9525" algn="ctr">
            <a:solidFill>
              <a:schemeClr val="tx1"/>
            </a:solid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167950" name="Line 8"/>
          <p:cNvSpPr>
            <a:spLocks noChangeShapeType="1"/>
          </p:cNvSpPr>
          <p:nvPr/>
        </p:nvSpPr>
        <p:spPr bwMode="auto">
          <a:xfrm>
            <a:off x="5666643" y="3678238"/>
            <a:ext cx="798634"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grpSp>
        <p:nvGrpSpPr>
          <p:cNvPr id="3" name="Group 9"/>
          <p:cNvGrpSpPr>
            <a:grpSpLocks/>
          </p:cNvGrpSpPr>
          <p:nvPr/>
        </p:nvGrpSpPr>
        <p:grpSpPr bwMode="auto">
          <a:xfrm>
            <a:off x="5099539" y="4146551"/>
            <a:ext cx="2543907" cy="1606151"/>
            <a:chOff x="172" y="2069"/>
            <a:chExt cx="1736" cy="873"/>
          </a:xfrm>
        </p:grpSpPr>
        <p:pic>
          <p:nvPicPr>
            <p:cNvPr id="167957" name="Picture 10"/>
            <p:cNvPicPr>
              <a:picLocks noChangeAspect="1" noChangeArrowheads="1"/>
            </p:cNvPicPr>
            <p:nvPr/>
          </p:nvPicPr>
          <p:blipFill>
            <a:blip r:embed="rId2" cstate="print">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729" y="2348"/>
              <a:ext cx="730" cy="409"/>
            </a:xfrm>
            <a:prstGeom prst="rect">
              <a:avLst/>
            </a:prstGeom>
            <a:noFill/>
            <a:ln w="9525">
              <a:noFill/>
              <a:miter lim="800000"/>
              <a:headEnd/>
              <a:tailEnd/>
            </a:ln>
          </p:spPr>
        </p:pic>
        <p:pic>
          <p:nvPicPr>
            <p:cNvPr id="167958" name="Picture 11"/>
            <p:cNvPicPr>
              <a:picLocks noChangeAspect="1" noChangeArrowheads="1"/>
            </p:cNvPicPr>
            <p:nvPr/>
          </p:nvPicPr>
          <p:blipFill>
            <a:blip r:embed="rId2" cstate="print">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286" y="2355"/>
              <a:ext cx="730" cy="409"/>
            </a:xfrm>
            <a:prstGeom prst="rect">
              <a:avLst/>
            </a:prstGeom>
            <a:noFill/>
            <a:ln w="9525">
              <a:noFill/>
              <a:miter lim="800000"/>
              <a:headEnd/>
              <a:tailEnd/>
            </a:ln>
          </p:spPr>
        </p:pic>
        <p:sp>
          <p:nvSpPr>
            <p:cNvPr id="167959" name="Text Box 12"/>
            <p:cNvSpPr txBox="1">
              <a:spLocks noChangeArrowheads="1"/>
            </p:cNvSpPr>
            <p:nvPr/>
          </p:nvSpPr>
          <p:spPr bwMode="auto">
            <a:xfrm>
              <a:off x="961" y="2078"/>
              <a:ext cx="947" cy="151"/>
            </a:xfrm>
            <a:prstGeom prst="rect">
              <a:avLst/>
            </a:prstGeom>
            <a:noFill/>
            <a:ln w="9525" algn="ctr">
              <a:noFill/>
              <a:miter lim="800000"/>
              <a:headEnd/>
              <a:tailEnd/>
            </a:ln>
          </p:spPr>
          <p:txBody>
            <a:bodyPr wrap="square">
              <a:spAutoFit/>
            </a:bodyPr>
            <a:lstStyle/>
            <a:p>
              <a:pPr algn="ctr">
                <a:spcBef>
                  <a:spcPct val="50000"/>
                </a:spcBef>
              </a:pPr>
              <a:r>
                <a:rPr lang="en-US" altLang="ko-KR" sz="1200" b="1" dirty="0">
                  <a:solidFill>
                    <a:srgbClr val="0000FF"/>
                  </a:solidFill>
                  <a:latin typeface="Arial" pitchFamily="34" charset="0"/>
                </a:rPr>
                <a:t>Reproducibility</a:t>
              </a:r>
              <a:endParaRPr lang="ko-KR" altLang="en-US" sz="1200" b="1" dirty="0">
                <a:solidFill>
                  <a:srgbClr val="0000FF"/>
                </a:solidFill>
                <a:latin typeface="Arial" pitchFamily="34" charset="0"/>
              </a:endParaRPr>
            </a:p>
          </p:txBody>
        </p:sp>
        <p:sp>
          <p:nvSpPr>
            <p:cNvPr id="167960" name="Text Box 13"/>
            <p:cNvSpPr txBox="1">
              <a:spLocks noChangeArrowheads="1"/>
            </p:cNvSpPr>
            <p:nvPr/>
          </p:nvSpPr>
          <p:spPr bwMode="auto">
            <a:xfrm>
              <a:off x="1323" y="2725"/>
              <a:ext cx="517" cy="217"/>
            </a:xfrm>
            <a:prstGeom prst="rect">
              <a:avLst/>
            </a:prstGeom>
            <a:noFill/>
            <a:ln w="9525" algn="ctr">
              <a:noFill/>
              <a:miter lim="800000"/>
              <a:headEnd/>
              <a:tailEnd/>
            </a:ln>
          </p:spPr>
          <p:txBody>
            <a:bodyPr wrap="square">
              <a:spAutoFit/>
            </a:bodyPr>
            <a:lstStyle/>
            <a:p>
              <a:pPr algn="ctr">
                <a:spcBef>
                  <a:spcPct val="50000"/>
                </a:spcBef>
              </a:pPr>
              <a:r>
                <a:rPr lang="en-US" altLang="ko-KR" sz="1000" b="1" dirty="0">
                  <a:solidFill>
                    <a:srgbClr val="000000"/>
                  </a:solidFill>
                  <a:latin typeface="Times New Roman" pitchFamily="18" charset="0"/>
                  <a:ea typeface="굴림체" pitchFamily="49" charset="-127"/>
                </a:rPr>
                <a:t>Measured  value</a:t>
              </a:r>
              <a:endParaRPr lang="ko-KR" altLang="en-US" sz="1000" b="1" dirty="0">
                <a:solidFill>
                  <a:srgbClr val="000000"/>
                </a:solidFill>
                <a:latin typeface="Times New Roman" pitchFamily="18" charset="0"/>
                <a:ea typeface="굴림체" pitchFamily="49" charset="-127"/>
              </a:endParaRPr>
            </a:p>
          </p:txBody>
        </p:sp>
        <p:sp>
          <p:nvSpPr>
            <p:cNvPr id="167961" name="Rectangle 14"/>
            <p:cNvSpPr>
              <a:spLocks noChangeArrowheads="1"/>
            </p:cNvSpPr>
            <p:nvPr/>
          </p:nvSpPr>
          <p:spPr bwMode="auto">
            <a:xfrm>
              <a:off x="172" y="2069"/>
              <a:ext cx="1678" cy="862"/>
            </a:xfrm>
            <a:prstGeom prst="rect">
              <a:avLst/>
            </a:prstGeom>
            <a:noFill/>
            <a:ln w="9525" algn="ctr">
              <a:solidFill>
                <a:schemeClr val="tx1"/>
              </a:solidFill>
              <a:miter lim="800000"/>
              <a:headEnd/>
              <a:tailEnd/>
            </a:ln>
          </p:spPr>
          <p:txBody>
            <a:bodyPr wrap="none" anchor="ctr"/>
            <a:lstStyle/>
            <a:p>
              <a:pPr algn="ctr"/>
              <a:endParaRPr lang="ko-KR" altLang="en-US" sz="1000" dirty="0">
                <a:solidFill>
                  <a:srgbClr val="000000"/>
                </a:solidFill>
                <a:latin typeface="Arial" pitchFamily="34" charset="0"/>
              </a:endParaRPr>
            </a:p>
          </p:txBody>
        </p:sp>
        <p:pic>
          <p:nvPicPr>
            <p:cNvPr id="167962" name="Picture 15"/>
            <p:cNvPicPr>
              <a:picLocks noChangeAspect="1" noChangeArrowheads="1"/>
            </p:cNvPicPr>
            <p:nvPr/>
          </p:nvPicPr>
          <p:blipFill>
            <a:blip r:embed="rId2" cstate="print">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960" y="2355"/>
              <a:ext cx="730" cy="409"/>
            </a:xfrm>
            <a:prstGeom prst="rect">
              <a:avLst/>
            </a:prstGeom>
            <a:noFill/>
            <a:ln w="9525">
              <a:noFill/>
              <a:miter lim="800000"/>
              <a:headEnd/>
              <a:tailEnd/>
            </a:ln>
          </p:spPr>
        </p:pic>
        <p:sp>
          <p:nvSpPr>
            <p:cNvPr id="167963" name="Text Box 16"/>
            <p:cNvSpPr txBox="1">
              <a:spLocks noChangeArrowheads="1"/>
            </p:cNvSpPr>
            <p:nvPr/>
          </p:nvSpPr>
          <p:spPr bwMode="auto">
            <a:xfrm>
              <a:off x="559" y="2233"/>
              <a:ext cx="136" cy="134"/>
            </a:xfrm>
            <a:prstGeom prst="rect">
              <a:avLst/>
            </a:prstGeom>
            <a:noFill/>
            <a:ln w="9525" algn="ctr">
              <a:noFill/>
              <a:miter lim="800000"/>
              <a:headEnd/>
              <a:tailEnd/>
            </a:ln>
          </p:spPr>
          <p:txBody>
            <a:bodyPr>
              <a:spAutoFit/>
            </a:bodyPr>
            <a:lstStyle/>
            <a:p>
              <a:pPr>
                <a:spcBef>
                  <a:spcPct val="50000"/>
                </a:spcBef>
              </a:pPr>
              <a:r>
                <a:rPr lang="en-US" altLang="ko-KR" sz="1000" b="1" dirty="0">
                  <a:solidFill>
                    <a:srgbClr val="000000"/>
                  </a:solidFill>
                  <a:latin typeface="Arial" pitchFamily="34" charset="0"/>
                </a:rPr>
                <a:t>A</a:t>
              </a:r>
            </a:p>
          </p:txBody>
        </p:sp>
        <p:sp>
          <p:nvSpPr>
            <p:cNvPr id="167964" name="Text Box 17"/>
            <p:cNvSpPr txBox="1">
              <a:spLocks noChangeArrowheads="1"/>
            </p:cNvSpPr>
            <p:nvPr/>
          </p:nvSpPr>
          <p:spPr bwMode="auto">
            <a:xfrm>
              <a:off x="1009" y="2233"/>
              <a:ext cx="136" cy="134"/>
            </a:xfrm>
            <a:prstGeom prst="rect">
              <a:avLst/>
            </a:prstGeom>
            <a:noFill/>
            <a:ln w="9525" algn="ctr">
              <a:noFill/>
              <a:miter lim="800000"/>
              <a:headEnd/>
              <a:tailEnd/>
            </a:ln>
          </p:spPr>
          <p:txBody>
            <a:bodyPr>
              <a:spAutoFit/>
            </a:bodyPr>
            <a:lstStyle/>
            <a:p>
              <a:pPr>
                <a:spcBef>
                  <a:spcPct val="50000"/>
                </a:spcBef>
              </a:pPr>
              <a:r>
                <a:rPr lang="en-US" altLang="ko-KR" sz="1000" b="1" dirty="0">
                  <a:solidFill>
                    <a:srgbClr val="000000"/>
                  </a:solidFill>
                  <a:latin typeface="Arial" pitchFamily="34" charset="0"/>
                </a:rPr>
                <a:t>C</a:t>
              </a:r>
            </a:p>
          </p:txBody>
        </p:sp>
        <p:sp>
          <p:nvSpPr>
            <p:cNvPr id="167965" name="Text Box 18"/>
            <p:cNvSpPr txBox="1">
              <a:spLocks noChangeArrowheads="1"/>
            </p:cNvSpPr>
            <p:nvPr/>
          </p:nvSpPr>
          <p:spPr bwMode="auto">
            <a:xfrm>
              <a:off x="1257" y="2233"/>
              <a:ext cx="136" cy="134"/>
            </a:xfrm>
            <a:prstGeom prst="rect">
              <a:avLst/>
            </a:prstGeom>
            <a:noFill/>
            <a:ln w="9525" algn="ctr">
              <a:noFill/>
              <a:miter lim="800000"/>
              <a:headEnd/>
              <a:tailEnd/>
            </a:ln>
          </p:spPr>
          <p:txBody>
            <a:bodyPr>
              <a:spAutoFit/>
            </a:bodyPr>
            <a:lstStyle/>
            <a:p>
              <a:pPr>
                <a:spcBef>
                  <a:spcPct val="50000"/>
                </a:spcBef>
              </a:pPr>
              <a:r>
                <a:rPr lang="en-US" altLang="ko-KR" sz="1000" b="1" dirty="0">
                  <a:solidFill>
                    <a:srgbClr val="000000"/>
                  </a:solidFill>
                  <a:latin typeface="Arial" pitchFamily="34" charset="0"/>
                </a:rPr>
                <a:t>B</a:t>
              </a:r>
            </a:p>
          </p:txBody>
        </p:sp>
        <p:sp>
          <p:nvSpPr>
            <p:cNvPr id="167966" name="Line 19"/>
            <p:cNvSpPr>
              <a:spLocks noChangeShapeType="1"/>
            </p:cNvSpPr>
            <p:nvPr/>
          </p:nvSpPr>
          <p:spPr bwMode="auto">
            <a:xfrm>
              <a:off x="671" y="2491"/>
              <a:ext cx="408"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167967" name="Line 20"/>
            <p:cNvSpPr>
              <a:spLocks noChangeShapeType="1"/>
            </p:cNvSpPr>
            <p:nvPr/>
          </p:nvSpPr>
          <p:spPr bwMode="auto">
            <a:xfrm>
              <a:off x="1093" y="2568"/>
              <a:ext cx="227"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167968" name="Line 21"/>
            <p:cNvSpPr>
              <a:spLocks noChangeShapeType="1"/>
            </p:cNvSpPr>
            <p:nvPr/>
          </p:nvSpPr>
          <p:spPr bwMode="auto">
            <a:xfrm>
              <a:off x="671" y="2673"/>
              <a:ext cx="635"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grpSp>
      <p:cxnSp>
        <p:nvCxnSpPr>
          <p:cNvPr id="167952" name="AutoShape 22"/>
          <p:cNvCxnSpPr>
            <a:cxnSpLocks noChangeShapeType="1"/>
            <a:stCxn id="167949" idx="3"/>
          </p:cNvCxnSpPr>
          <p:nvPr/>
        </p:nvCxnSpPr>
        <p:spPr bwMode="auto">
          <a:xfrm>
            <a:off x="7558454" y="3151188"/>
            <a:ext cx="11723" cy="1789112"/>
          </a:xfrm>
          <a:prstGeom prst="bentConnector3">
            <a:avLst>
              <a:gd name="adj1" fmla="val 1800000"/>
            </a:avLst>
          </a:prstGeom>
          <a:noFill/>
          <a:ln w="9525">
            <a:solidFill>
              <a:schemeClr val="tx1"/>
            </a:solidFill>
            <a:miter lim="800000"/>
            <a:headEnd type="triangle" w="med" len="med"/>
            <a:tailEnd type="triangle" w="med" len="med"/>
          </a:ln>
        </p:spPr>
      </p:cxnSp>
      <p:sp>
        <p:nvSpPr>
          <p:cNvPr id="167953" name="Text Box 23"/>
          <p:cNvSpPr txBox="1">
            <a:spLocks noChangeArrowheads="1"/>
          </p:cNvSpPr>
          <p:nvPr/>
        </p:nvSpPr>
        <p:spPr bwMode="auto">
          <a:xfrm rot="5400000">
            <a:off x="7409709" y="3866334"/>
            <a:ext cx="1154113" cy="400110"/>
          </a:xfrm>
          <a:prstGeom prst="rect">
            <a:avLst/>
          </a:prstGeom>
          <a:solidFill>
            <a:schemeClr val="bg1"/>
          </a:solidFill>
          <a:ln w="9525" algn="ctr">
            <a:noFill/>
            <a:miter lim="800000"/>
            <a:headEnd/>
            <a:tailEnd/>
          </a:ln>
        </p:spPr>
        <p:txBody>
          <a:bodyPr>
            <a:spAutoFit/>
          </a:bodyPr>
          <a:lstStyle/>
          <a:p>
            <a:pPr algn="ctr">
              <a:spcBef>
                <a:spcPct val="50000"/>
              </a:spcBef>
            </a:pPr>
            <a:r>
              <a:rPr lang="en-US" altLang="ko-KR" sz="1000" b="1" dirty="0">
                <a:solidFill>
                  <a:srgbClr val="000000"/>
                </a:solidFill>
                <a:latin typeface="Arial" pitchFamily="34" charset="0"/>
              </a:rPr>
              <a:t>Gage R&amp;R fluctuation</a:t>
            </a:r>
            <a:endParaRPr lang="ko-KR" altLang="en-US" sz="1000" b="1" dirty="0">
              <a:solidFill>
                <a:srgbClr val="000000"/>
              </a:solidFill>
              <a:latin typeface="Arial" pitchFamily="34" charset="0"/>
            </a:endParaRPr>
          </a:p>
        </p:txBody>
      </p:sp>
      <p:pic>
        <p:nvPicPr>
          <p:cNvPr id="167954" name="Picture 4"/>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285643" y="2681288"/>
            <a:ext cx="1528396" cy="927100"/>
          </a:xfrm>
          <a:prstGeom prst="rect">
            <a:avLst/>
          </a:prstGeom>
          <a:noFill/>
          <a:ln w="9525">
            <a:noFill/>
            <a:miter lim="800000"/>
            <a:headEnd/>
            <a:tailEnd/>
          </a:ln>
        </p:spPr>
      </p:pic>
      <p:sp>
        <p:nvSpPr>
          <p:cNvPr id="167955" name="TextBox 43"/>
          <p:cNvSpPr txBox="1">
            <a:spLocks noChangeArrowheads="1"/>
          </p:cNvSpPr>
          <p:nvPr/>
        </p:nvSpPr>
        <p:spPr bwMode="auto">
          <a:xfrm>
            <a:off x="5388220" y="2779714"/>
            <a:ext cx="404278"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1st</a:t>
            </a:r>
          </a:p>
        </p:txBody>
      </p:sp>
      <p:sp>
        <p:nvSpPr>
          <p:cNvPr id="167956" name="TextBox 44"/>
          <p:cNvSpPr txBox="1">
            <a:spLocks noChangeArrowheads="1"/>
          </p:cNvSpPr>
          <p:nvPr/>
        </p:nvSpPr>
        <p:spPr bwMode="auto">
          <a:xfrm>
            <a:off x="6415454" y="2779714"/>
            <a:ext cx="463588"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2nd</a:t>
            </a:r>
          </a:p>
        </p:txBody>
      </p:sp>
      <p:sp>
        <p:nvSpPr>
          <p:cNvPr id="34"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28</a:t>
            </a:fld>
            <a:endParaRPr lang="ko-KR" altLang="en-US" dirty="0"/>
          </a:p>
        </p:txBody>
      </p:sp>
    </p:spTree>
    <p:extLst>
      <p:ext uri="{BB962C8B-B14F-4D97-AF65-F5344CB8AC3E}">
        <p14:creationId xmlns:p14="http://schemas.microsoft.com/office/powerpoint/2010/main" val="12250669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62"/>
          <p:cNvSpPr>
            <a:spLocks noChangeArrowheads="1"/>
          </p:cNvSpPr>
          <p:nvPr/>
        </p:nvSpPr>
        <p:spPr bwMode="auto">
          <a:xfrm>
            <a:off x="564174" y="1439864"/>
            <a:ext cx="1129811" cy="427037"/>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Type of Data</a:t>
            </a:r>
          </a:p>
        </p:txBody>
      </p:sp>
      <p:sp>
        <p:nvSpPr>
          <p:cNvPr id="4" name="Rectangle 63"/>
          <p:cNvSpPr>
            <a:spLocks noChangeArrowheads="1"/>
          </p:cNvSpPr>
          <p:nvPr/>
        </p:nvSpPr>
        <p:spPr bwMode="auto">
          <a:xfrm>
            <a:off x="1840524" y="1428751"/>
            <a:ext cx="3373315"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Continuous Data</a:t>
            </a:r>
          </a:p>
        </p:txBody>
      </p:sp>
      <p:sp>
        <p:nvSpPr>
          <p:cNvPr id="5" name="Rectangle 64"/>
          <p:cNvSpPr>
            <a:spLocks noChangeArrowheads="1"/>
          </p:cNvSpPr>
          <p:nvPr/>
        </p:nvSpPr>
        <p:spPr bwMode="auto">
          <a:xfrm>
            <a:off x="5301762" y="1428751"/>
            <a:ext cx="1129812"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Attribute</a:t>
            </a:r>
          </a:p>
          <a:p>
            <a:pPr algn="ctr">
              <a:lnSpc>
                <a:spcPct val="20000"/>
              </a:lnSpc>
              <a:spcBef>
                <a:spcPct val="50000"/>
              </a:spcBef>
              <a:defRPr/>
            </a:pPr>
            <a:r>
              <a:rPr lang="en-US" altLang="ko-KR" sz="1200" b="1" dirty="0">
                <a:solidFill>
                  <a:srgbClr val="000000"/>
                </a:solidFill>
                <a:latin typeface="맑은 고딕" pitchFamily="50" charset="-127"/>
                <a:ea typeface="맑은 고딕" pitchFamily="50" charset="-127"/>
              </a:rPr>
              <a:t>Data</a:t>
            </a:r>
          </a:p>
        </p:txBody>
      </p:sp>
      <p:sp>
        <p:nvSpPr>
          <p:cNvPr id="6" name="Rectangle 65"/>
          <p:cNvSpPr>
            <a:spLocks noChangeArrowheads="1"/>
          </p:cNvSpPr>
          <p:nvPr/>
        </p:nvSpPr>
        <p:spPr bwMode="auto">
          <a:xfrm>
            <a:off x="570035" y="2365376"/>
            <a:ext cx="1129811" cy="385763"/>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Possibility </a:t>
            </a:r>
          </a:p>
          <a:p>
            <a:pPr algn="ctr">
              <a:lnSpc>
                <a:spcPct val="20000"/>
              </a:lnSpc>
              <a:spcBef>
                <a:spcPct val="50000"/>
              </a:spcBef>
              <a:defRPr/>
            </a:pPr>
            <a:r>
              <a:rPr lang="en-US" altLang="ko-KR" sz="1200" b="1" dirty="0">
                <a:solidFill>
                  <a:srgbClr val="000000"/>
                </a:solidFill>
                <a:latin typeface="맑은 고딕" pitchFamily="50" charset="-127"/>
                <a:ea typeface="맑은 고딕" pitchFamily="50" charset="-127"/>
              </a:rPr>
              <a:t>of Replication</a:t>
            </a:r>
          </a:p>
        </p:txBody>
      </p:sp>
      <p:sp>
        <p:nvSpPr>
          <p:cNvPr id="7" name="Rectangle 66"/>
          <p:cNvSpPr>
            <a:spLocks noChangeArrowheads="1"/>
          </p:cNvSpPr>
          <p:nvPr/>
        </p:nvSpPr>
        <p:spPr bwMode="auto">
          <a:xfrm>
            <a:off x="1846385" y="2354264"/>
            <a:ext cx="1639766"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Crossed Studies</a:t>
            </a:r>
          </a:p>
        </p:txBody>
      </p:sp>
      <p:sp>
        <p:nvSpPr>
          <p:cNvPr id="8" name="Rectangle 67"/>
          <p:cNvSpPr>
            <a:spLocks noChangeArrowheads="1"/>
          </p:cNvSpPr>
          <p:nvPr/>
        </p:nvSpPr>
        <p:spPr bwMode="auto">
          <a:xfrm>
            <a:off x="5301762" y="2354264"/>
            <a:ext cx="1129812"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Crossed Studies</a:t>
            </a:r>
          </a:p>
        </p:txBody>
      </p:sp>
      <p:sp>
        <p:nvSpPr>
          <p:cNvPr id="9" name="Rectangle 68"/>
          <p:cNvSpPr>
            <a:spLocks noChangeArrowheads="1"/>
          </p:cNvSpPr>
          <p:nvPr/>
        </p:nvSpPr>
        <p:spPr bwMode="auto">
          <a:xfrm>
            <a:off x="3552093" y="2352676"/>
            <a:ext cx="1661746"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Nested Studies</a:t>
            </a:r>
          </a:p>
        </p:txBody>
      </p:sp>
      <p:sp>
        <p:nvSpPr>
          <p:cNvPr id="10" name="Rectangle 69"/>
          <p:cNvSpPr>
            <a:spLocks noChangeArrowheads="1"/>
          </p:cNvSpPr>
          <p:nvPr/>
        </p:nvSpPr>
        <p:spPr bwMode="auto">
          <a:xfrm>
            <a:off x="570035" y="3184526"/>
            <a:ext cx="1129811" cy="430213"/>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 Method</a:t>
            </a:r>
          </a:p>
          <a:p>
            <a:pPr algn="ctr">
              <a:lnSpc>
                <a:spcPct val="20000"/>
              </a:lnSpc>
              <a:spcBef>
                <a:spcPct val="50000"/>
              </a:spcBef>
              <a:defRPr/>
            </a:pPr>
            <a:r>
              <a:rPr lang="en-US" altLang="ko-KR" sz="1200" b="1" dirty="0">
                <a:solidFill>
                  <a:srgbClr val="000000"/>
                </a:solidFill>
                <a:latin typeface="맑은 고딕" pitchFamily="50" charset="-127"/>
                <a:ea typeface="맑은 고딕" pitchFamily="50" charset="-127"/>
              </a:rPr>
              <a:t> of Analysis</a:t>
            </a:r>
          </a:p>
        </p:txBody>
      </p:sp>
      <p:sp>
        <p:nvSpPr>
          <p:cNvPr id="11" name="Rectangle 70"/>
          <p:cNvSpPr>
            <a:spLocks noChangeArrowheads="1"/>
          </p:cNvSpPr>
          <p:nvPr/>
        </p:nvSpPr>
        <p:spPr bwMode="auto">
          <a:xfrm>
            <a:off x="1814146" y="3168651"/>
            <a:ext cx="798635"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ANOVA</a:t>
            </a:r>
          </a:p>
        </p:txBody>
      </p:sp>
      <p:sp>
        <p:nvSpPr>
          <p:cNvPr id="12" name="Rectangle 71"/>
          <p:cNvSpPr>
            <a:spLocks noChangeArrowheads="1"/>
          </p:cNvSpPr>
          <p:nvPr/>
        </p:nvSpPr>
        <p:spPr bwMode="auto">
          <a:xfrm>
            <a:off x="2672862" y="3167064"/>
            <a:ext cx="798635"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Xbar-R</a:t>
            </a:r>
          </a:p>
        </p:txBody>
      </p:sp>
      <p:sp>
        <p:nvSpPr>
          <p:cNvPr id="13" name="Rectangle 72"/>
          <p:cNvSpPr>
            <a:spLocks noChangeArrowheads="1"/>
          </p:cNvSpPr>
          <p:nvPr/>
        </p:nvSpPr>
        <p:spPr bwMode="auto">
          <a:xfrm>
            <a:off x="3552093" y="3144839"/>
            <a:ext cx="1661746"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ANOVA</a:t>
            </a:r>
          </a:p>
        </p:txBody>
      </p:sp>
      <p:sp>
        <p:nvSpPr>
          <p:cNvPr id="14" name="Rectangle 73"/>
          <p:cNvSpPr>
            <a:spLocks noChangeArrowheads="1"/>
          </p:cNvSpPr>
          <p:nvPr/>
        </p:nvSpPr>
        <p:spPr bwMode="auto">
          <a:xfrm>
            <a:off x="5309089" y="3149601"/>
            <a:ext cx="1119554"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Significant Test</a:t>
            </a:r>
          </a:p>
        </p:txBody>
      </p:sp>
      <p:cxnSp>
        <p:nvCxnSpPr>
          <p:cNvPr id="15" name="AutoShape 74"/>
          <p:cNvCxnSpPr>
            <a:cxnSpLocks noChangeShapeType="1"/>
            <a:stCxn id="4" idx="2"/>
            <a:endCxn id="7" idx="0"/>
          </p:cNvCxnSpPr>
          <p:nvPr/>
        </p:nvCxnSpPr>
        <p:spPr bwMode="auto">
          <a:xfrm rot="5400000">
            <a:off x="2813722" y="1640804"/>
            <a:ext cx="566738" cy="860181"/>
          </a:xfrm>
          <a:prstGeom prst="bentConnector3">
            <a:avLst>
              <a:gd name="adj1" fmla="val 49861"/>
            </a:avLst>
          </a:prstGeom>
          <a:noFill/>
          <a:ln w="9525">
            <a:solidFill>
              <a:schemeClr val="bg1">
                <a:lumMod val="65000"/>
              </a:schemeClr>
            </a:solidFill>
            <a:miter lim="800000"/>
            <a:headEnd/>
            <a:tailEnd type="triangle" w="med" len="med"/>
          </a:ln>
        </p:spPr>
      </p:cxnSp>
      <p:cxnSp>
        <p:nvCxnSpPr>
          <p:cNvPr id="16" name="AutoShape 75"/>
          <p:cNvCxnSpPr>
            <a:cxnSpLocks noChangeShapeType="1"/>
            <a:stCxn id="4" idx="2"/>
            <a:endCxn id="9" idx="0"/>
          </p:cNvCxnSpPr>
          <p:nvPr/>
        </p:nvCxnSpPr>
        <p:spPr bwMode="auto">
          <a:xfrm rot="16200000" flipH="1">
            <a:off x="3672499" y="1642208"/>
            <a:ext cx="565150" cy="855785"/>
          </a:xfrm>
          <a:prstGeom prst="bentConnector3">
            <a:avLst>
              <a:gd name="adj1" fmla="val 50000"/>
            </a:avLst>
          </a:prstGeom>
          <a:noFill/>
          <a:ln w="9525">
            <a:solidFill>
              <a:schemeClr val="bg1">
                <a:lumMod val="65000"/>
              </a:schemeClr>
            </a:solidFill>
            <a:miter lim="800000"/>
            <a:headEnd/>
            <a:tailEnd type="triangle" w="med" len="med"/>
          </a:ln>
        </p:spPr>
      </p:cxnSp>
      <p:cxnSp>
        <p:nvCxnSpPr>
          <p:cNvPr id="17" name="AutoShape 76"/>
          <p:cNvCxnSpPr>
            <a:cxnSpLocks noChangeShapeType="1"/>
            <a:stCxn id="5" idx="2"/>
            <a:endCxn id="8" idx="0"/>
          </p:cNvCxnSpPr>
          <p:nvPr/>
        </p:nvCxnSpPr>
        <p:spPr bwMode="auto">
          <a:xfrm rot="5400000">
            <a:off x="5584031" y="2070894"/>
            <a:ext cx="566738" cy="0"/>
          </a:xfrm>
          <a:prstGeom prst="straightConnector1">
            <a:avLst/>
          </a:prstGeom>
          <a:noFill/>
          <a:ln w="9525">
            <a:solidFill>
              <a:schemeClr val="bg1">
                <a:lumMod val="65000"/>
              </a:schemeClr>
            </a:solidFill>
            <a:round/>
            <a:headEnd/>
            <a:tailEnd type="triangle" w="med" len="med"/>
          </a:ln>
        </p:spPr>
      </p:cxnSp>
      <p:cxnSp>
        <p:nvCxnSpPr>
          <p:cNvPr id="18" name="AutoShape 77"/>
          <p:cNvCxnSpPr>
            <a:cxnSpLocks noChangeShapeType="1"/>
            <a:stCxn id="8" idx="2"/>
            <a:endCxn id="14" idx="0"/>
          </p:cNvCxnSpPr>
          <p:nvPr/>
        </p:nvCxnSpPr>
        <p:spPr bwMode="auto">
          <a:xfrm rot="16200000" flipH="1">
            <a:off x="5649852" y="2930586"/>
            <a:ext cx="436562" cy="1466"/>
          </a:xfrm>
          <a:prstGeom prst="bentConnector3">
            <a:avLst>
              <a:gd name="adj1" fmla="val 49819"/>
            </a:avLst>
          </a:prstGeom>
          <a:noFill/>
          <a:ln w="9525">
            <a:solidFill>
              <a:schemeClr val="bg1">
                <a:lumMod val="65000"/>
              </a:schemeClr>
            </a:solidFill>
            <a:miter lim="800000"/>
            <a:headEnd/>
            <a:tailEnd type="triangle" w="med" len="med"/>
          </a:ln>
        </p:spPr>
      </p:cxnSp>
      <p:cxnSp>
        <p:nvCxnSpPr>
          <p:cNvPr id="19" name="AutoShape 78"/>
          <p:cNvCxnSpPr>
            <a:cxnSpLocks noChangeShapeType="1"/>
            <a:stCxn id="7" idx="2"/>
            <a:endCxn id="11" idx="0"/>
          </p:cNvCxnSpPr>
          <p:nvPr/>
        </p:nvCxnSpPr>
        <p:spPr bwMode="auto">
          <a:xfrm rot="5400000">
            <a:off x="2212793" y="2714443"/>
            <a:ext cx="455612" cy="452803"/>
          </a:xfrm>
          <a:prstGeom prst="bentConnector3">
            <a:avLst>
              <a:gd name="adj1" fmla="val 49824"/>
            </a:avLst>
          </a:prstGeom>
          <a:noFill/>
          <a:ln w="9525">
            <a:solidFill>
              <a:schemeClr val="bg1">
                <a:lumMod val="65000"/>
              </a:schemeClr>
            </a:solidFill>
            <a:miter lim="800000"/>
            <a:headEnd/>
            <a:tailEnd type="triangle" w="med" len="med"/>
          </a:ln>
        </p:spPr>
      </p:cxnSp>
      <p:cxnSp>
        <p:nvCxnSpPr>
          <p:cNvPr id="20" name="AutoShape 79"/>
          <p:cNvCxnSpPr>
            <a:cxnSpLocks noChangeShapeType="1"/>
            <a:stCxn id="7" idx="2"/>
            <a:endCxn id="12" idx="0"/>
          </p:cNvCxnSpPr>
          <p:nvPr/>
        </p:nvCxnSpPr>
        <p:spPr bwMode="auto">
          <a:xfrm rot="16200000" flipH="1">
            <a:off x="2642944" y="2737095"/>
            <a:ext cx="454025" cy="405912"/>
          </a:xfrm>
          <a:prstGeom prst="bentConnector3">
            <a:avLst>
              <a:gd name="adj1" fmla="val 50000"/>
            </a:avLst>
          </a:prstGeom>
          <a:noFill/>
          <a:ln w="9525">
            <a:solidFill>
              <a:schemeClr val="bg1">
                <a:lumMod val="65000"/>
              </a:schemeClr>
            </a:solidFill>
            <a:miter lim="800000"/>
            <a:headEnd/>
            <a:tailEnd type="triangle" w="med" len="med"/>
          </a:ln>
        </p:spPr>
      </p:cxnSp>
      <p:cxnSp>
        <p:nvCxnSpPr>
          <p:cNvPr id="21" name="AutoShape 80"/>
          <p:cNvCxnSpPr>
            <a:cxnSpLocks noChangeShapeType="1"/>
            <a:stCxn id="9" idx="2"/>
            <a:endCxn id="13" idx="0"/>
          </p:cNvCxnSpPr>
          <p:nvPr/>
        </p:nvCxnSpPr>
        <p:spPr bwMode="auto">
          <a:xfrm rot="5400000">
            <a:off x="4166272" y="2928144"/>
            <a:ext cx="433388" cy="0"/>
          </a:xfrm>
          <a:prstGeom prst="straightConnector1">
            <a:avLst/>
          </a:prstGeom>
          <a:noFill/>
          <a:ln w="9525">
            <a:solidFill>
              <a:schemeClr val="bg1">
                <a:lumMod val="65000"/>
              </a:schemeClr>
            </a:solidFill>
            <a:round/>
            <a:headEnd/>
            <a:tailEnd type="triangle" w="med" len="med"/>
          </a:ln>
        </p:spPr>
      </p:cxnSp>
      <p:sp>
        <p:nvSpPr>
          <p:cNvPr id="22" name="Rectangle 81"/>
          <p:cNvSpPr>
            <a:spLocks noChangeArrowheads="1"/>
          </p:cNvSpPr>
          <p:nvPr/>
        </p:nvSpPr>
        <p:spPr bwMode="auto">
          <a:xfrm>
            <a:off x="570035" y="4108451"/>
            <a:ext cx="1129811" cy="358775"/>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Information</a:t>
            </a:r>
          </a:p>
        </p:txBody>
      </p:sp>
      <p:sp>
        <p:nvSpPr>
          <p:cNvPr id="168983" name="Text Box 82"/>
          <p:cNvSpPr txBox="1">
            <a:spLocks noChangeArrowheads="1"/>
          </p:cNvSpPr>
          <p:nvPr/>
        </p:nvSpPr>
        <p:spPr bwMode="auto">
          <a:xfrm>
            <a:off x="351693" y="4645025"/>
            <a:ext cx="1462454" cy="274638"/>
          </a:xfrm>
          <a:prstGeom prst="rect">
            <a:avLst/>
          </a:prstGeom>
          <a:noFill/>
          <a:ln w="9525" algn="ctr">
            <a:noFill/>
            <a:miter lim="800000"/>
            <a:headEnd/>
            <a:tailEnd/>
          </a:ln>
        </p:spPr>
        <p:txBody>
          <a:bodyPr>
            <a:spAutoFit/>
          </a:bodyPr>
          <a:lstStyle/>
          <a:p>
            <a:pPr algn="r">
              <a:spcBef>
                <a:spcPct val="50000"/>
              </a:spcBef>
            </a:pPr>
            <a:r>
              <a:rPr lang="en-US" altLang="ko-KR" sz="1200" b="1" dirty="0">
                <a:solidFill>
                  <a:srgbClr val="000000"/>
                </a:solidFill>
                <a:latin typeface="맑은 고딕" pitchFamily="50" charset="-127"/>
                <a:ea typeface="맑은 고딕" pitchFamily="50" charset="-127"/>
              </a:rPr>
              <a:t>Repeatability</a:t>
            </a:r>
          </a:p>
        </p:txBody>
      </p:sp>
      <p:sp>
        <p:nvSpPr>
          <p:cNvPr id="168984" name="Text Box 83"/>
          <p:cNvSpPr txBox="1">
            <a:spLocks noChangeArrowheads="1"/>
          </p:cNvSpPr>
          <p:nvPr/>
        </p:nvSpPr>
        <p:spPr bwMode="auto">
          <a:xfrm>
            <a:off x="356089" y="4913314"/>
            <a:ext cx="1462454" cy="960263"/>
          </a:xfrm>
          <a:prstGeom prst="rect">
            <a:avLst/>
          </a:prstGeom>
          <a:noFill/>
          <a:ln w="9525" algn="ctr">
            <a:noFill/>
            <a:miter lim="800000"/>
            <a:headEnd/>
            <a:tailEnd/>
          </a:ln>
        </p:spPr>
        <p:txBody>
          <a:bodyPr>
            <a:spAutoFit/>
          </a:bodyPr>
          <a:lstStyle/>
          <a:p>
            <a:pPr algn="r">
              <a:spcBef>
                <a:spcPct val="50000"/>
              </a:spcBef>
            </a:pPr>
            <a:r>
              <a:rPr lang="en-US" altLang="ko-KR" sz="1200" b="1" dirty="0">
                <a:solidFill>
                  <a:srgbClr val="000000"/>
                </a:solidFill>
                <a:latin typeface="맑은 고딕" pitchFamily="50" charset="-127"/>
                <a:ea typeface="맑은 고딕" pitchFamily="50" charset="-127"/>
              </a:rPr>
              <a:t>Reproducibility</a:t>
            </a:r>
          </a:p>
          <a:p>
            <a:pPr algn="r">
              <a:lnSpc>
                <a:spcPct val="70000"/>
              </a:lnSpc>
              <a:spcBef>
                <a:spcPct val="50000"/>
              </a:spcBef>
            </a:pPr>
            <a:r>
              <a:rPr lang="en-US" altLang="ko-KR" sz="1200" b="1" dirty="0">
                <a:solidFill>
                  <a:srgbClr val="008000"/>
                </a:solidFill>
                <a:latin typeface="맑은 고딕" pitchFamily="50" charset="-127"/>
                <a:ea typeface="맑은 고딕" pitchFamily="50" charset="-127"/>
              </a:rPr>
              <a:t>Operators</a:t>
            </a:r>
          </a:p>
          <a:p>
            <a:pPr algn="r">
              <a:spcBef>
                <a:spcPct val="50000"/>
              </a:spcBef>
            </a:pPr>
            <a:r>
              <a:rPr lang="en-US" altLang="ko-KR" sz="1200" b="1" dirty="0">
                <a:solidFill>
                  <a:srgbClr val="008000"/>
                </a:solidFill>
                <a:latin typeface="맑은 고딕" pitchFamily="50" charset="-127"/>
                <a:ea typeface="맑은 고딕" pitchFamily="50" charset="-127"/>
              </a:rPr>
              <a:t>Operators X Parts</a:t>
            </a:r>
            <a:endParaRPr lang="en-US" altLang="ko-KR" sz="1200" b="1" dirty="0">
              <a:solidFill>
                <a:srgbClr val="008000"/>
              </a:solidFill>
              <a:latin typeface="맑은 고딕" pitchFamily="50" charset="-127"/>
              <a:ea typeface="맑은 고딕" pitchFamily="50" charset="-127"/>
              <a:cs typeface="Arial" pitchFamily="34" charset="0"/>
            </a:endParaRPr>
          </a:p>
        </p:txBody>
      </p:sp>
      <p:sp>
        <p:nvSpPr>
          <p:cNvPr id="25" name="Rectangle 84"/>
          <p:cNvSpPr>
            <a:spLocks noChangeArrowheads="1"/>
          </p:cNvSpPr>
          <p:nvPr/>
        </p:nvSpPr>
        <p:spPr bwMode="auto">
          <a:xfrm>
            <a:off x="1822939" y="3603625"/>
            <a:ext cx="4586654" cy="43338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Graphical Summaries</a:t>
            </a:r>
          </a:p>
        </p:txBody>
      </p:sp>
      <p:sp>
        <p:nvSpPr>
          <p:cNvPr id="26" name="Rectangle 85"/>
          <p:cNvSpPr>
            <a:spLocks noChangeArrowheads="1"/>
          </p:cNvSpPr>
          <p:nvPr/>
        </p:nvSpPr>
        <p:spPr bwMode="auto">
          <a:xfrm>
            <a:off x="1859574" y="4624388"/>
            <a:ext cx="731226"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27" name="Rectangle 86"/>
          <p:cNvSpPr>
            <a:spLocks noChangeArrowheads="1"/>
          </p:cNvSpPr>
          <p:nvPr/>
        </p:nvSpPr>
        <p:spPr bwMode="auto">
          <a:xfrm>
            <a:off x="1859574" y="5167313"/>
            <a:ext cx="731226"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28" name="Rectangle 87"/>
          <p:cNvSpPr>
            <a:spLocks noChangeArrowheads="1"/>
          </p:cNvSpPr>
          <p:nvPr/>
        </p:nvSpPr>
        <p:spPr bwMode="auto">
          <a:xfrm>
            <a:off x="1859574" y="5454650"/>
            <a:ext cx="731226"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29" name="Rectangle 88"/>
          <p:cNvSpPr>
            <a:spLocks noChangeArrowheads="1"/>
          </p:cNvSpPr>
          <p:nvPr/>
        </p:nvSpPr>
        <p:spPr bwMode="auto">
          <a:xfrm>
            <a:off x="2662605" y="4624388"/>
            <a:ext cx="731226"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0" name="Rectangle 89"/>
          <p:cNvSpPr>
            <a:spLocks noChangeArrowheads="1"/>
          </p:cNvSpPr>
          <p:nvPr/>
        </p:nvSpPr>
        <p:spPr bwMode="auto">
          <a:xfrm>
            <a:off x="2662605" y="5167313"/>
            <a:ext cx="731226"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1" name="Rectangle 90"/>
          <p:cNvSpPr>
            <a:spLocks noChangeArrowheads="1"/>
          </p:cNvSpPr>
          <p:nvPr/>
        </p:nvSpPr>
        <p:spPr bwMode="auto">
          <a:xfrm>
            <a:off x="2662605" y="5454650"/>
            <a:ext cx="731226"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a:t>
            </a:r>
          </a:p>
        </p:txBody>
      </p:sp>
      <p:sp>
        <p:nvSpPr>
          <p:cNvPr id="32" name="Rectangle 91"/>
          <p:cNvSpPr>
            <a:spLocks noChangeArrowheads="1"/>
          </p:cNvSpPr>
          <p:nvPr/>
        </p:nvSpPr>
        <p:spPr bwMode="auto">
          <a:xfrm>
            <a:off x="3591658" y="4622800"/>
            <a:ext cx="1554773" cy="21113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3" name="Rectangle 92"/>
          <p:cNvSpPr>
            <a:spLocks noChangeArrowheads="1"/>
          </p:cNvSpPr>
          <p:nvPr/>
        </p:nvSpPr>
        <p:spPr bwMode="auto">
          <a:xfrm>
            <a:off x="3591658" y="5165725"/>
            <a:ext cx="1554773" cy="21113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4" name="Rectangle 93"/>
          <p:cNvSpPr>
            <a:spLocks noChangeArrowheads="1"/>
          </p:cNvSpPr>
          <p:nvPr/>
        </p:nvSpPr>
        <p:spPr bwMode="auto">
          <a:xfrm>
            <a:off x="3591658" y="5453064"/>
            <a:ext cx="1554773" cy="211137"/>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a:t>
            </a:r>
          </a:p>
        </p:txBody>
      </p:sp>
      <p:sp>
        <p:nvSpPr>
          <p:cNvPr id="35" name="Rectangle 94"/>
          <p:cNvSpPr>
            <a:spLocks noChangeArrowheads="1"/>
          </p:cNvSpPr>
          <p:nvPr/>
        </p:nvSpPr>
        <p:spPr bwMode="auto">
          <a:xfrm>
            <a:off x="5402874" y="4591050"/>
            <a:ext cx="961292"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6" name="Rectangle 95"/>
          <p:cNvSpPr>
            <a:spLocks noChangeArrowheads="1"/>
          </p:cNvSpPr>
          <p:nvPr/>
        </p:nvSpPr>
        <p:spPr bwMode="auto">
          <a:xfrm>
            <a:off x="5402874" y="5133975"/>
            <a:ext cx="961292"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7" name="Rectangle 96"/>
          <p:cNvSpPr>
            <a:spLocks noChangeArrowheads="1"/>
          </p:cNvSpPr>
          <p:nvPr/>
        </p:nvSpPr>
        <p:spPr bwMode="auto">
          <a:xfrm>
            <a:off x="5402874" y="5421313"/>
            <a:ext cx="961292"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a:t>
            </a:r>
          </a:p>
        </p:txBody>
      </p:sp>
      <p:sp>
        <p:nvSpPr>
          <p:cNvPr id="38" name="Line 97"/>
          <p:cNvSpPr>
            <a:spLocks noChangeShapeType="1"/>
          </p:cNvSpPr>
          <p:nvPr/>
        </p:nvSpPr>
        <p:spPr bwMode="auto">
          <a:xfrm>
            <a:off x="1732085" y="4918075"/>
            <a:ext cx="4652597" cy="0"/>
          </a:xfrm>
          <a:prstGeom prst="line">
            <a:avLst/>
          </a:prstGeom>
          <a:noFill/>
          <a:ln w="19050">
            <a:solidFill>
              <a:schemeClr val="bg1">
                <a:lumMod val="65000"/>
              </a:schemeClr>
            </a:solidFill>
            <a:prstDash val="sysDot"/>
            <a:round/>
            <a:headEnd/>
            <a:tailEnd/>
          </a:ln>
        </p:spPr>
        <p:txBody>
          <a:bodyPr anchor="ctr"/>
          <a:lstStyle/>
          <a:p>
            <a:pPr algn="ctr">
              <a:defRPr/>
            </a:pPr>
            <a:endParaRPr lang="ko-KR" altLang="en-US" sz="1000" dirty="0">
              <a:solidFill>
                <a:srgbClr val="000000"/>
              </a:solidFill>
              <a:latin typeface="맑은 고딕" pitchFamily="50" charset="-127"/>
              <a:ea typeface="맑은 고딕" pitchFamily="50" charset="-127"/>
            </a:endParaRPr>
          </a:p>
        </p:txBody>
      </p:sp>
      <p:cxnSp>
        <p:nvCxnSpPr>
          <p:cNvPr id="39" name="AutoShape 98"/>
          <p:cNvCxnSpPr>
            <a:cxnSpLocks noChangeShapeType="1"/>
            <a:stCxn id="3" idx="2"/>
            <a:endCxn id="6" idx="0"/>
          </p:cNvCxnSpPr>
          <p:nvPr/>
        </p:nvCxnSpPr>
        <p:spPr bwMode="auto">
          <a:xfrm>
            <a:off x="1129812" y="1866901"/>
            <a:ext cx="5862" cy="498475"/>
          </a:xfrm>
          <a:prstGeom prst="straightConnector1">
            <a:avLst/>
          </a:prstGeom>
          <a:noFill/>
          <a:ln w="9525">
            <a:solidFill>
              <a:schemeClr val="bg1">
                <a:lumMod val="65000"/>
              </a:schemeClr>
            </a:solidFill>
            <a:round/>
            <a:headEnd/>
            <a:tailEnd type="triangle" w="med" len="med"/>
          </a:ln>
        </p:spPr>
      </p:cxnSp>
      <p:cxnSp>
        <p:nvCxnSpPr>
          <p:cNvPr id="40" name="AutoShape 99"/>
          <p:cNvCxnSpPr>
            <a:cxnSpLocks noChangeShapeType="1"/>
            <a:stCxn id="6" idx="2"/>
            <a:endCxn id="10" idx="0"/>
          </p:cNvCxnSpPr>
          <p:nvPr/>
        </p:nvCxnSpPr>
        <p:spPr bwMode="auto">
          <a:xfrm rot="5400000">
            <a:off x="918980" y="2967832"/>
            <a:ext cx="433387" cy="0"/>
          </a:xfrm>
          <a:prstGeom prst="straightConnector1">
            <a:avLst/>
          </a:prstGeom>
          <a:noFill/>
          <a:ln w="9525">
            <a:solidFill>
              <a:schemeClr val="bg1">
                <a:lumMod val="65000"/>
              </a:schemeClr>
            </a:solidFill>
            <a:round/>
            <a:headEnd/>
            <a:tailEnd type="triangle" w="med" len="med"/>
          </a:ln>
        </p:spPr>
      </p:cxnSp>
      <p:cxnSp>
        <p:nvCxnSpPr>
          <p:cNvPr id="41" name="AutoShape 100"/>
          <p:cNvCxnSpPr>
            <a:cxnSpLocks noChangeShapeType="1"/>
            <a:stCxn id="10" idx="2"/>
            <a:endCxn id="22" idx="0"/>
          </p:cNvCxnSpPr>
          <p:nvPr/>
        </p:nvCxnSpPr>
        <p:spPr bwMode="auto">
          <a:xfrm rot="5400000">
            <a:off x="888818" y="3861594"/>
            <a:ext cx="493712" cy="0"/>
          </a:xfrm>
          <a:prstGeom prst="straightConnector1">
            <a:avLst/>
          </a:prstGeom>
          <a:noFill/>
          <a:ln w="9525">
            <a:solidFill>
              <a:schemeClr val="bg1">
                <a:lumMod val="65000"/>
              </a:schemeClr>
            </a:solidFill>
            <a:round/>
            <a:headEnd/>
            <a:tailEnd type="triangle" w="med" len="med"/>
          </a:ln>
        </p:spPr>
      </p:cxnSp>
      <p:sp>
        <p:nvSpPr>
          <p:cNvPr id="42" name="TextBox 41"/>
          <p:cNvSpPr txBox="1"/>
          <p:nvPr/>
        </p:nvSpPr>
        <p:spPr>
          <a:xfrm>
            <a:off x="251520" y="866552"/>
            <a:ext cx="8462597" cy="329321"/>
          </a:xfrm>
          <a:prstGeom prst="rect">
            <a:avLst/>
          </a:prstGeom>
          <a:noFill/>
        </p:spPr>
        <p:txBody>
          <a:bodyPr>
            <a:spAutoFit/>
          </a:bodyPr>
          <a:lstStyle/>
          <a:p>
            <a:pPr latinLnBrk="0">
              <a:lnSpc>
                <a:spcPct val="110000"/>
              </a:lnSpc>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a:t>
            </a:r>
            <a:r>
              <a:rPr lang="en-US" altLang="ko-KR" sz="1400" b="1" kern="0" dirty="0">
                <a:solidFill>
                  <a:srgbClr val="000000"/>
                </a:solidFill>
                <a:latin typeface="맑은 고딕" pitchFamily="50" charset="-127"/>
                <a:ea typeface="맑은 고딕" pitchFamily="50" charset="-127"/>
              </a:rPr>
              <a:t>Gage R&amp;R Method by Measurement Type and Data Design Method</a:t>
            </a:r>
            <a:endParaRPr kumimoji="0" lang="ko-KR" altLang="en-US" sz="1400" kern="0" dirty="0">
              <a:solidFill>
                <a:srgbClr val="000000"/>
              </a:solidFill>
              <a:latin typeface="맑은 고딕" pitchFamily="50" charset="-127"/>
              <a:ea typeface="맑은 고딕" pitchFamily="50" charset="-127"/>
            </a:endParaRPr>
          </a:p>
        </p:txBody>
      </p:sp>
      <p:sp>
        <p:nvSpPr>
          <p:cNvPr id="169003" name="Text Box 40"/>
          <p:cNvSpPr txBox="1">
            <a:spLocks noChangeArrowheads="1"/>
          </p:cNvSpPr>
          <p:nvPr/>
        </p:nvSpPr>
        <p:spPr bwMode="auto">
          <a:xfrm>
            <a:off x="6660233" y="1357313"/>
            <a:ext cx="2483768" cy="2800767"/>
          </a:xfrm>
          <a:prstGeom prst="rect">
            <a:avLst/>
          </a:prstGeom>
          <a:noFill/>
          <a:ln w="9525" algn="ctr">
            <a:noFill/>
            <a:miter lim="800000"/>
            <a:headEnd/>
            <a:tailEnd/>
          </a:ln>
        </p:spPr>
        <p:txBody>
          <a:bodyPr wrap="square">
            <a:spAutoFit/>
          </a:bodyPr>
          <a:lstStyle/>
          <a:p>
            <a:pPr algn="ctr">
              <a:lnSpc>
                <a:spcPct val="110000"/>
              </a:lnSpc>
            </a:pPr>
            <a:r>
              <a:rPr lang="en-US" altLang="ko-KR" sz="1000" b="1" dirty="0">
                <a:solidFill>
                  <a:srgbClr val="0000FF"/>
                </a:solidFill>
                <a:latin typeface="맑은 고딕" pitchFamily="50" charset="-127"/>
                <a:ea typeface="맑은 고딕" pitchFamily="50" charset="-127"/>
              </a:rPr>
              <a:t>Gage R&amp;R Studies</a:t>
            </a:r>
          </a:p>
          <a:p>
            <a:pPr>
              <a:lnSpc>
                <a:spcPct val="110000"/>
              </a:lnSpc>
            </a:pPr>
            <a:r>
              <a:rPr lang="en-US" altLang="ko-KR" sz="1000" dirty="0">
                <a:solidFill>
                  <a:srgbClr val="000000"/>
                </a:solidFill>
                <a:latin typeface="맑은 고딕" pitchFamily="50" charset="-127"/>
                <a:ea typeface="맑은 고딕" pitchFamily="50" charset="-127"/>
              </a:rPr>
              <a:t> - Gage R&amp;R Studies are experiments</a:t>
            </a:r>
          </a:p>
          <a:p>
            <a:pPr>
              <a:lnSpc>
                <a:spcPct val="110000"/>
              </a:lnSpc>
            </a:pPr>
            <a:r>
              <a:rPr lang="en-US" altLang="ko-KR" sz="1000" dirty="0">
                <a:solidFill>
                  <a:srgbClr val="000000"/>
                </a:solidFill>
                <a:latin typeface="맑은 고딕" pitchFamily="50" charset="-127"/>
                <a:ea typeface="맑은 고딕" pitchFamily="50" charset="-127"/>
              </a:rPr>
              <a:t> - Environmental control and</a:t>
            </a:r>
          </a:p>
          <a:p>
            <a:pPr>
              <a:lnSpc>
                <a:spcPct val="110000"/>
              </a:lnSpc>
            </a:pPr>
            <a:r>
              <a:rPr lang="en-US" altLang="ko-KR" sz="1000" dirty="0">
                <a:solidFill>
                  <a:srgbClr val="000000"/>
                </a:solidFill>
                <a:latin typeface="맑은 고딕" pitchFamily="50" charset="-127"/>
                <a:ea typeface="맑은 고딕" pitchFamily="50" charset="-127"/>
              </a:rPr>
              <a:t>    management are important</a:t>
            </a:r>
          </a:p>
          <a:p>
            <a:pPr>
              <a:lnSpc>
                <a:spcPct val="110000"/>
              </a:lnSpc>
            </a:pPr>
            <a:endParaRPr lang="ko-KR" altLang="en-US" sz="1000" dirty="0">
              <a:solidFill>
                <a:srgbClr val="000000"/>
              </a:solidFill>
              <a:latin typeface="맑은 고딕" pitchFamily="50" charset="-127"/>
              <a:ea typeface="맑은 고딕" pitchFamily="50" charset="-127"/>
            </a:endParaRPr>
          </a:p>
          <a:p>
            <a:pPr algn="ctr">
              <a:lnSpc>
                <a:spcPct val="110000"/>
              </a:lnSpc>
            </a:pPr>
            <a:r>
              <a:rPr lang="en-US" altLang="ko-KR" sz="1000" b="1" dirty="0">
                <a:solidFill>
                  <a:srgbClr val="0000FF"/>
                </a:solidFill>
                <a:latin typeface="맑은 고딕" pitchFamily="50" charset="-127"/>
                <a:ea typeface="맑은 고딕" pitchFamily="50" charset="-127"/>
              </a:rPr>
              <a:t>Crossed </a:t>
            </a:r>
          </a:p>
          <a:p>
            <a:pPr>
              <a:lnSpc>
                <a:spcPct val="110000"/>
              </a:lnSpc>
            </a:pPr>
            <a:r>
              <a:rPr lang="en-US" altLang="ko-KR" sz="1000" dirty="0">
                <a:solidFill>
                  <a:srgbClr val="000000"/>
                </a:solidFill>
                <a:latin typeface="맑은 고딕" pitchFamily="50" charset="-127"/>
                <a:ea typeface="맑은 고딕" pitchFamily="50" charset="-127"/>
              </a:rPr>
              <a:t> - If the same experiment (same part,</a:t>
            </a:r>
          </a:p>
          <a:p>
            <a:pPr>
              <a:lnSpc>
                <a:spcPct val="110000"/>
              </a:lnSpc>
            </a:pPr>
            <a:r>
              <a:rPr lang="en-US" altLang="ko-KR" sz="1000" dirty="0">
                <a:solidFill>
                  <a:srgbClr val="000000"/>
                </a:solidFill>
                <a:latin typeface="맑은 고딕" pitchFamily="50" charset="-127"/>
                <a:ea typeface="맑은 고딕" pitchFamily="50" charset="-127"/>
              </a:rPr>
              <a:t>   same instrument) can be repeatedly</a:t>
            </a:r>
          </a:p>
          <a:p>
            <a:pPr>
              <a:lnSpc>
                <a:spcPct val="110000"/>
              </a:lnSpc>
            </a:pPr>
            <a:r>
              <a:rPr lang="en-US" altLang="ko-KR" sz="1000" dirty="0">
                <a:solidFill>
                  <a:srgbClr val="000000"/>
                </a:solidFill>
                <a:latin typeface="맑은 고딕" pitchFamily="50" charset="-127"/>
                <a:ea typeface="맑은 고딕" pitchFamily="50" charset="-127"/>
              </a:rPr>
              <a:t>   measured by different evaluators</a:t>
            </a:r>
            <a:endParaRPr lang="ko-KR" altLang="en-US" sz="1000" dirty="0">
              <a:solidFill>
                <a:srgbClr val="000000"/>
              </a:solidFill>
              <a:latin typeface="맑은 고딕" pitchFamily="50" charset="-127"/>
              <a:ea typeface="맑은 고딕" pitchFamily="50" charset="-127"/>
            </a:endParaRPr>
          </a:p>
          <a:p>
            <a:pPr algn="ctr">
              <a:lnSpc>
                <a:spcPct val="110000"/>
              </a:lnSpc>
            </a:pPr>
            <a:r>
              <a:rPr lang="en-US" altLang="ko-KR" sz="1000" b="1" dirty="0">
                <a:solidFill>
                  <a:srgbClr val="0000FF"/>
                </a:solidFill>
                <a:latin typeface="맑은 고딕" pitchFamily="50" charset="-127"/>
                <a:ea typeface="맑은 고딕" pitchFamily="50" charset="-127"/>
              </a:rPr>
              <a:t>Nested </a:t>
            </a:r>
          </a:p>
          <a:p>
            <a:pPr>
              <a:lnSpc>
                <a:spcPct val="110000"/>
              </a:lnSpc>
            </a:pPr>
            <a:r>
              <a:rPr lang="en-US" altLang="ko-KR" sz="1000" dirty="0">
                <a:solidFill>
                  <a:srgbClr val="000000"/>
                </a:solidFill>
                <a:latin typeface="맑은 고딕" pitchFamily="50" charset="-127"/>
                <a:ea typeface="맑은 고딕" pitchFamily="50" charset="-127"/>
              </a:rPr>
              <a:t> - If the same experiment (same part,</a:t>
            </a:r>
          </a:p>
          <a:p>
            <a:pPr>
              <a:lnSpc>
                <a:spcPct val="110000"/>
              </a:lnSpc>
            </a:pPr>
            <a:r>
              <a:rPr lang="en-US" altLang="ko-KR" sz="1000" dirty="0">
                <a:solidFill>
                  <a:srgbClr val="000000"/>
                </a:solidFill>
                <a:latin typeface="맑은 고딕" pitchFamily="50" charset="-127"/>
                <a:ea typeface="맑은 고딕" pitchFamily="50" charset="-127"/>
              </a:rPr>
              <a:t>   same instrument) can not be</a:t>
            </a:r>
          </a:p>
          <a:p>
            <a:pPr>
              <a:lnSpc>
                <a:spcPct val="110000"/>
              </a:lnSpc>
            </a:pPr>
            <a:r>
              <a:rPr lang="en-US" altLang="ko-KR" sz="1000" dirty="0">
                <a:solidFill>
                  <a:srgbClr val="000000"/>
                </a:solidFill>
                <a:latin typeface="맑은 고딕" pitchFamily="50" charset="-127"/>
                <a:ea typeface="맑은 고딕" pitchFamily="50" charset="-127"/>
              </a:rPr>
              <a:t>   repeatedly measured by different</a:t>
            </a:r>
          </a:p>
          <a:p>
            <a:pPr>
              <a:lnSpc>
                <a:spcPct val="110000"/>
              </a:lnSpc>
            </a:pPr>
            <a:r>
              <a:rPr lang="en-US" altLang="ko-KR" sz="1000" dirty="0">
                <a:solidFill>
                  <a:srgbClr val="000000"/>
                </a:solidFill>
                <a:latin typeface="맑은 고딕" pitchFamily="50" charset="-127"/>
                <a:ea typeface="맑은 고딕" pitchFamily="50" charset="-127"/>
              </a:rPr>
              <a:t>   evaluators</a:t>
            </a:r>
            <a:endParaRPr lang="ko-KR" altLang="en-US"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(Ex) Destructive inspection, </a:t>
            </a:r>
            <a:r>
              <a:rPr lang="en-US" sz="1000" dirty="0"/>
              <a:t>If the</a:t>
            </a:r>
          </a:p>
          <a:p>
            <a:pPr>
              <a:lnSpc>
                <a:spcPct val="110000"/>
              </a:lnSpc>
            </a:pPr>
            <a:r>
              <a:rPr lang="en-US" sz="1000" dirty="0"/>
              <a:t>     same sample can not be obtained</a:t>
            </a:r>
            <a:endParaRPr lang="ko-KR" altLang="en-US" sz="1000" dirty="0">
              <a:solidFill>
                <a:srgbClr val="000000"/>
              </a:solidFill>
              <a:latin typeface="맑은 고딕" pitchFamily="50" charset="-127"/>
              <a:ea typeface="맑은 고딕" pitchFamily="50" charset="-127"/>
            </a:endParaRPr>
          </a:p>
        </p:txBody>
      </p:sp>
      <p:sp>
        <p:nvSpPr>
          <p:cNvPr id="44" name="자유형 43"/>
          <p:cNvSpPr/>
          <p:nvPr/>
        </p:nvSpPr>
        <p:spPr bwMode="auto">
          <a:xfrm>
            <a:off x="4003431" y="5727700"/>
            <a:ext cx="2045677" cy="166688"/>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sz="1000" dirty="0">
              <a:solidFill>
                <a:srgbClr val="000000"/>
              </a:solidFill>
              <a:latin typeface="Arial" charset="0"/>
              <a:ea typeface="굴림" charset="-127"/>
            </a:endParaRPr>
          </a:p>
        </p:txBody>
      </p:sp>
      <p:sp>
        <p:nvSpPr>
          <p:cNvPr id="169006" name="TextBox 45"/>
          <p:cNvSpPr txBox="1">
            <a:spLocks noChangeArrowheads="1"/>
          </p:cNvSpPr>
          <p:nvPr/>
        </p:nvSpPr>
        <p:spPr bwMode="auto">
          <a:xfrm>
            <a:off x="2643174" y="5897563"/>
            <a:ext cx="824585"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Exclusion</a:t>
            </a:r>
            <a:endParaRPr lang="ko-KR" altLang="en-US" sz="1200" dirty="0">
              <a:solidFill>
                <a:srgbClr val="000000"/>
              </a:solidFill>
              <a:latin typeface="맑은 고딕" pitchFamily="50" charset="-127"/>
              <a:ea typeface="맑은 고딕" pitchFamily="50" charset="-127"/>
            </a:endParaRPr>
          </a:p>
        </p:txBody>
      </p:sp>
      <p:sp>
        <p:nvSpPr>
          <p:cNvPr id="23" name="슬라이드 번호 개체 틀 22"/>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29</a:t>
            </a:fld>
            <a:endParaRPr lang="ko-KR" altLang="en-US" dirty="0"/>
          </a:p>
        </p:txBody>
      </p:sp>
      <p:sp>
        <p:nvSpPr>
          <p:cNvPr id="48"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1704264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95654" y="827089"/>
            <a:ext cx="8462597" cy="1277273"/>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Gage R&amp;R </a:t>
            </a:r>
            <a:r>
              <a:rPr kumimoji="0" lang="en-US" altLang="ko-KR" sz="1400" b="1" kern="0" dirty="0" err="1">
                <a:solidFill>
                  <a:srgbClr val="000000"/>
                </a:solidFill>
                <a:latin typeface="맑은 고딕" pitchFamily="50" charset="-127"/>
                <a:ea typeface="맑은 고딕" pitchFamily="50" charset="-127"/>
              </a:rPr>
              <a:t>Là</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gì</a:t>
            </a:r>
            <a:r>
              <a:rPr kumimoji="0" lang="en-US" altLang="ko-KR" sz="1400" b="1" kern="0" dirty="0">
                <a:solidFill>
                  <a:srgbClr val="000000"/>
                </a:solidFill>
                <a:latin typeface="맑은 고딕" pitchFamily="50" charset="-127"/>
                <a:ea typeface="맑은 고딕" pitchFamily="50" charset="-127"/>
              </a:rPr>
              <a:t>  </a:t>
            </a:r>
          </a:p>
          <a:p>
            <a:pPr marL="534988" indent="-169863" fontAlgn="auto" latinLnBrk="0">
              <a:lnSpc>
                <a:spcPct val="110000"/>
              </a:lnSpc>
              <a:spcBef>
                <a:spcPts val="0"/>
              </a:spcBef>
              <a:spcAft>
                <a:spcPts val="0"/>
              </a:spcAft>
              <a:buClr>
                <a:srgbClr val="595959"/>
              </a:buClr>
              <a:buFont typeface="Wingdings" pitchFamily="2" charset="2"/>
              <a:buChar char="§"/>
              <a:defRPr/>
            </a:pPr>
            <a:r>
              <a:rPr lang="en-US" altLang="ko-KR" sz="1400" kern="0" dirty="0" err="1">
                <a:solidFill>
                  <a:srgbClr val="000000"/>
                </a:solidFill>
                <a:latin typeface="맑은 고딕" pitchFamily="50" charset="-127"/>
                <a:ea typeface="맑은 고딕" pitchFamily="50" charset="-127"/>
              </a:rPr>
              <a:t>Hệ</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thống</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đo</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đạc</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không</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chỉ</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bao</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gồm</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những</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dụng</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cụ</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đo</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mà</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còn</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bao</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gồm</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cả</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người</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đo</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đạc</a:t>
            </a:r>
            <a:endParaRPr kumimoji="0" lang="en-US" altLang="ko-KR" sz="1400" kern="0" dirty="0">
              <a:solidFill>
                <a:srgbClr val="000000"/>
              </a:solidFill>
              <a:latin typeface="맑은 고딕" pitchFamily="50" charset="-127"/>
              <a:ea typeface="맑은 고딕" pitchFamily="50" charset="-127"/>
            </a:endParaRPr>
          </a:p>
          <a:p>
            <a:pPr marL="534988" indent="-169863" fontAlgn="auto" latinLnBrk="0">
              <a:lnSpc>
                <a:spcPct val="110000"/>
              </a:lnSpc>
              <a:spcBef>
                <a:spcPts val="0"/>
              </a:spcBef>
              <a:spcAft>
                <a:spcPts val="0"/>
              </a:spcAft>
              <a:buClr>
                <a:srgbClr val="595959"/>
              </a:buClr>
              <a:buFont typeface="Wingdings" pitchFamily="2" charset="2"/>
              <a:buChar char="§"/>
              <a:defRPr/>
            </a:pPr>
            <a:r>
              <a:rPr kumimoji="0" lang="en-US" altLang="ko-KR" sz="1400" kern="0" dirty="0" err="1">
                <a:solidFill>
                  <a:srgbClr val="000000"/>
                </a:solidFill>
                <a:latin typeface="맑은 고딕" pitchFamily="50" charset="-127"/>
                <a:ea typeface="맑은 고딕" pitchFamily="50" charset="-127"/>
              </a:rPr>
              <a:t>Việc</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kiểm</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chứng</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hệ</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thống</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đo</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lường</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có</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nghĩa</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là</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xác</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nhận</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kiểm</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tra</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xem</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hệ</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thống</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đo</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đạc</a:t>
            </a:r>
            <a:r>
              <a:rPr kumimoji="0"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của</a:t>
            </a:r>
            <a:r>
              <a:rPr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chúng</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ta</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có</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đáng</a:t>
            </a:r>
            <a:r>
              <a:rPr lang="en-US" altLang="ko-KR" sz="1400" kern="0" dirty="0">
                <a:solidFill>
                  <a:srgbClr val="000000"/>
                </a:solidFill>
                <a:latin typeface="맑은 고딕" pitchFamily="50" charset="-127"/>
                <a:ea typeface="맑은 고딕" pitchFamily="50" charset="-127"/>
              </a:rPr>
              <a:t> tin </a:t>
            </a:r>
            <a:r>
              <a:rPr lang="en-US" altLang="ko-KR" sz="1400" kern="0" dirty="0" err="1">
                <a:solidFill>
                  <a:srgbClr val="000000"/>
                </a:solidFill>
                <a:latin typeface="맑은 고딕" pitchFamily="50" charset="-127"/>
                <a:ea typeface="맑은 고딕" pitchFamily="50" charset="-127"/>
              </a:rPr>
              <a:t>cậy</a:t>
            </a:r>
            <a:r>
              <a:rPr lang="en-US" altLang="ko-KR" sz="1400" kern="0" dirty="0">
                <a:solidFill>
                  <a:srgbClr val="000000"/>
                </a:solidFill>
                <a:latin typeface="맑은 고딕" pitchFamily="50" charset="-127"/>
                <a:ea typeface="맑은 고딕" pitchFamily="50" charset="-127"/>
              </a:rPr>
              <a:t> hay </a:t>
            </a:r>
            <a:r>
              <a:rPr lang="en-US" altLang="ko-KR" sz="1400" kern="0" dirty="0" err="1">
                <a:solidFill>
                  <a:srgbClr val="000000"/>
                </a:solidFill>
                <a:latin typeface="맑은 고딕" pitchFamily="50" charset="-127"/>
                <a:ea typeface="맑은 고딕" pitchFamily="50" charset="-127"/>
              </a:rPr>
              <a:t>không</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đánh</a:t>
            </a:r>
            <a:r>
              <a:rPr kumimoji="0" lang="en-US" altLang="ko-KR" sz="1400" kern="0" dirty="0">
                <a:solidFill>
                  <a:srgbClr val="000000"/>
                </a:solidFill>
                <a:latin typeface="맑은 고딕" pitchFamily="50" charset="-127"/>
                <a:ea typeface="맑은 고딕" pitchFamily="50" charset="-127"/>
              </a:rPr>
              <a:t> </a:t>
            </a:r>
            <a:r>
              <a:rPr kumimoji="0" lang="en-US" altLang="ko-KR" sz="1400" kern="0" dirty="0" err="1">
                <a:solidFill>
                  <a:srgbClr val="000000"/>
                </a:solidFill>
                <a:latin typeface="맑은 고딕" pitchFamily="50" charset="-127"/>
                <a:ea typeface="맑은 고딕" pitchFamily="50" charset="-127"/>
              </a:rPr>
              <a:t>giá</a:t>
            </a:r>
            <a:r>
              <a:rPr kumimoji="0" lang="en-US" altLang="ko-KR" sz="1400"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độ</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lặp</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lại</a:t>
            </a:r>
            <a:r>
              <a:rPr lang="en-US" altLang="ko-KR" sz="1400" b="1" kern="0" dirty="0">
                <a:solidFill>
                  <a:srgbClr val="000000"/>
                </a:solidFill>
                <a:latin typeface="맑은 고딕" pitchFamily="50" charset="-127"/>
                <a:ea typeface="맑은 고딕" pitchFamily="50" charset="-127"/>
              </a:rPr>
              <a:t> </a:t>
            </a:r>
            <a:r>
              <a:rPr kumimoji="0" lang="en-US" altLang="ko-KR" sz="1400" b="1" kern="0" dirty="0">
                <a:solidFill>
                  <a:srgbClr val="000000"/>
                </a:solidFill>
                <a:latin typeface="맑은 고딕" pitchFamily="50" charset="-127"/>
                <a:ea typeface="맑은 고딕" pitchFamily="50" charset="-127"/>
              </a:rPr>
              <a:t>(Repeatability) </a:t>
            </a:r>
            <a:r>
              <a:rPr kumimoji="0" lang="en-US" altLang="ko-KR" sz="1400" b="1" kern="0" dirty="0" err="1">
                <a:solidFill>
                  <a:srgbClr val="000000"/>
                </a:solidFill>
                <a:latin typeface="맑은 고딕" pitchFamily="50" charset="-127"/>
                <a:ea typeface="맑은 고딕" pitchFamily="50" charset="-127"/>
              </a:rPr>
              <a:t>và</a:t>
            </a:r>
            <a:r>
              <a:rPr kumimoji="0" lang="ko-KR" altLang="en-US" sz="1400"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độ</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tái</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hiện</a:t>
            </a:r>
            <a:r>
              <a:rPr lang="en-US" altLang="ko-KR" sz="1400" b="1" kern="0" dirty="0">
                <a:solidFill>
                  <a:srgbClr val="000000"/>
                </a:solidFill>
                <a:latin typeface="맑은 고딕" pitchFamily="50" charset="-127"/>
                <a:ea typeface="맑은 고딕" pitchFamily="50" charset="-127"/>
              </a:rPr>
              <a:t> </a:t>
            </a:r>
            <a:r>
              <a:rPr kumimoji="0" lang="en-US" altLang="ko-KR" sz="1400" b="1" kern="0" dirty="0">
                <a:solidFill>
                  <a:srgbClr val="000000"/>
                </a:solidFill>
                <a:latin typeface="맑은 고딕" pitchFamily="50" charset="-127"/>
                <a:ea typeface="맑은 고딕" pitchFamily="50" charset="-127"/>
              </a:rPr>
              <a:t>(Reproducibility)</a:t>
            </a:r>
            <a:r>
              <a:rPr kumimoji="0" lang="en-US" altLang="ko-KR" sz="1400" kern="0" dirty="0">
                <a:solidFill>
                  <a:srgbClr val="000000"/>
                </a:solidFill>
                <a:latin typeface="맑은 고딕" pitchFamily="50" charset="-127"/>
                <a:ea typeface="맑은 고딕" pitchFamily="50" charset="-127"/>
              </a:rPr>
              <a:t>,</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đó</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chính</a:t>
            </a:r>
            <a:r>
              <a:rPr lang="en-US" altLang="ko-KR" sz="1400" kern="0" dirty="0">
                <a:solidFill>
                  <a:srgbClr val="000000"/>
                </a:solidFill>
                <a:latin typeface="맑은 고딕" pitchFamily="50" charset="-127"/>
                <a:ea typeface="맑은 고딕" pitchFamily="50" charset="-127"/>
              </a:rPr>
              <a:t> </a:t>
            </a:r>
            <a:r>
              <a:rPr lang="en-US" altLang="ko-KR" sz="1400" kern="0" dirty="0" err="1">
                <a:solidFill>
                  <a:srgbClr val="000000"/>
                </a:solidFill>
                <a:latin typeface="맑은 고딕" pitchFamily="50" charset="-127"/>
                <a:ea typeface="맑은 고딕" pitchFamily="50" charset="-127"/>
              </a:rPr>
              <a:t>là</a:t>
            </a:r>
            <a:r>
              <a:rPr lang="en-US" altLang="ko-KR" sz="1400" kern="0" dirty="0">
                <a:solidFill>
                  <a:srgbClr val="000000"/>
                </a:solidFill>
                <a:latin typeface="맑은 고딕" pitchFamily="50" charset="-127"/>
                <a:ea typeface="맑은 고딕" pitchFamily="50" charset="-127"/>
              </a:rPr>
              <a:t> </a:t>
            </a:r>
            <a:r>
              <a:rPr kumimoji="0" lang="en-US" altLang="ko-KR" sz="1400" b="1" kern="0" dirty="0">
                <a:solidFill>
                  <a:srgbClr val="000000"/>
                </a:solidFill>
                <a:latin typeface="맑은 고딕" pitchFamily="50" charset="-127"/>
                <a:ea typeface="맑은 고딕" pitchFamily="50" charset="-127"/>
              </a:rPr>
              <a:t>Gage R&amp;R</a:t>
            </a:r>
            <a:endParaRPr kumimoji="0" lang="ko-KR" altLang="en-US" sz="1400" kern="0" dirty="0">
              <a:solidFill>
                <a:srgbClr val="000000"/>
              </a:solidFill>
              <a:latin typeface="맑은 고딕" pitchFamily="50" charset="-127"/>
              <a:ea typeface="맑은 고딕" pitchFamily="50" charset="-127"/>
            </a:endParaRPr>
          </a:p>
        </p:txBody>
      </p:sp>
      <p:sp>
        <p:nvSpPr>
          <p:cNvPr id="167940" name="TextBox 4"/>
          <p:cNvSpPr txBox="1">
            <a:spLocks noChangeArrowheads="1"/>
          </p:cNvSpPr>
          <p:nvPr/>
        </p:nvSpPr>
        <p:spPr bwMode="auto">
          <a:xfrm>
            <a:off x="879231" y="2370139"/>
            <a:ext cx="2829493" cy="307777"/>
          </a:xfrm>
          <a:prstGeom prst="rect">
            <a:avLst/>
          </a:prstGeom>
          <a:noFill/>
          <a:ln w="9525">
            <a:noFill/>
            <a:miter lim="800000"/>
            <a:headEnd/>
            <a:tailEnd/>
          </a:ln>
        </p:spPr>
        <p:txBody>
          <a:bodyPr wrap="none">
            <a:spAutoFit/>
          </a:bodyPr>
          <a:lstStyle/>
          <a:p>
            <a:r>
              <a:rPr lang="en-US" altLang="ko-KR" sz="1400" b="1" dirty="0" err="1">
                <a:solidFill>
                  <a:srgbClr val="000000"/>
                </a:solidFill>
                <a:latin typeface="맑은 고딕" pitchFamily="50" charset="-127"/>
                <a:ea typeface="맑은 고딕" pitchFamily="50" charset="-127"/>
              </a:rPr>
              <a:t>Độ</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lặp</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lại</a:t>
            </a:r>
            <a:r>
              <a:rPr lang="en-US" altLang="ko-KR" sz="1400" b="1" dirty="0">
                <a:solidFill>
                  <a:srgbClr val="000000"/>
                </a:solidFill>
                <a:latin typeface="맑은 고딕" pitchFamily="50" charset="-127"/>
                <a:ea typeface="맑은 고딕" pitchFamily="50" charset="-127"/>
              </a:rPr>
              <a:t> (Repeatability) </a:t>
            </a:r>
            <a:r>
              <a:rPr lang="en-US" altLang="ko-KR" sz="1400" b="1" dirty="0" err="1">
                <a:solidFill>
                  <a:srgbClr val="000000"/>
                </a:solidFill>
                <a:latin typeface="맑은 고딕" pitchFamily="50" charset="-127"/>
                <a:ea typeface="맑은 고딕" pitchFamily="50" charset="-127"/>
              </a:rPr>
              <a:t>là</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gì</a:t>
            </a:r>
            <a:r>
              <a:rPr lang="en-US" altLang="ko-KR" sz="1400" b="1" dirty="0">
                <a:solidFill>
                  <a:srgbClr val="000000"/>
                </a:solidFill>
                <a:latin typeface="맑은 고딕" pitchFamily="50" charset="-127"/>
                <a:ea typeface="맑은 고딕" pitchFamily="50" charset="-127"/>
              </a:rPr>
              <a:t>?</a:t>
            </a:r>
            <a:endParaRPr lang="ko-KR" altLang="en-US" sz="1400" b="1" dirty="0">
              <a:solidFill>
                <a:srgbClr val="000000"/>
              </a:solidFill>
              <a:latin typeface="맑은 고딕" pitchFamily="50" charset="-127"/>
              <a:ea typeface="맑은 고딕" pitchFamily="50" charset="-127"/>
            </a:endParaRPr>
          </a:p>
        </p:txBody>
      </p:sp>
      <p:sp>
        <p:nvSpPr>
          <p:cNvPr id="167941" name="TextBox 5"/>
          <p:cNvSpPr txBox="1">
            <a:spLocks noChangeArrowheads="1"/>
          </p:cNvSpPr>
          <p:nvPr/>
        </p:nvSpPr>
        <p:spPr bwMode="auto">
          <a:xfrm>
            <a:off x="827584" y="4149080"/>
            <a:ext cx="3065583" cy="307777"/>
          </a:xfrm>
          <a:prstGeom prst="rect">
            <a:avLst/>
          </a:prstGeom>
          <a:noFill/>
          <a:ln w="9525">
            <a:noFill/>
            <a:miter lim="800000"/>
            <a:headEnd/>
            <a:tailEnd/>
          </a:ln>
        </p:spPr>
        <p:txBody>
          <a:bodyPr wrap="none">
            <a:spAutoFit/>
          </a:bodyPr>
          <a:lstStyle/>
          <a:p>
            <a:pPr algn="r"/>
            <a:r>
              <a:rPr lang="en-US" altLang="ko-KR" sz="1400" b="1" dirty="0" err="1">
                <a:solidFill>
                  <a:srgbClr val="000000"/>
                </a:solidFill>
                <a:latin typeface="맑은 고딕" pitchFamily="50" charset="-127"/>
                <a:ea typeface="맑은 고딕" pitchFamily="50" charset="-127"/>
              </a:rPr>
              <a:t>Độ</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tái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hiện</a:t>
            </a:r>
            <a:r>
              <a:rPr lang="en-US" altLang="ko-KR" sz="1400" b="1" dirty="0">
                <a:solidFill>
                  <a:srgbClr val="000000"/>
                </a:solidFill>
                <a:latin typeface="맑은 고딕" pitchFamily="50" charset="-127"/>
                <a:ea typeface="맑은 고딕" pitchFamily="50" charset="-127"/>
              </a:rPr>
              <a:t>(Reproducibility) </a:t>
            </a:r>
            <a:r>
              <a:rPr lang="en-US" altLang="ko-KR" sz="1400" b="1" dirty="0" err="1">
                <a:solidFill>
                  <a:srgbClr val="000000"/>
                </a:solidFill>
                <a:latin typeface="맑은 고딕" pitchFamily="50" charset="-127"/>
                <a:ea typeface="맑은 고딕" pitchFamily="50" charset="-127"/>
              </a:rPr>
              <a:t>là</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gì</a:t>
            </a:r>
            <a:r>
              <a:rPr lang="en-US" altLang="ko-KR" sz="1400" b="1" dirty="0">
                <a:solidFill>
                  <a:srgbClr val="000000"/>
                </a:solidFill>
                <a:latin typeface="맑은 고딕" pitchFamily="50" charset="-127"/>
                <a:ea typeface="맑은 고딕" pitchFamily="50" charset="-127"/>
              </a:rPr>
              <a:t>?</a:t>
            </a:r>
            <a:endParaRPr lang="ko-KR" altLang="en-US" sz="1400" b="1" dirty="0">
              <a:solidFill>
                <a:srgbClr val="000000"/>
              </a:solidFill>
              <a:latin typeface="맑은 고딕" pitchFamily="50" charset="-127"/>
              <a:ea typeface="맑은 고딕" pitchFamily="50" charset="-127"/>
            </a:endParaRPr>
          </a:p>
        </p:txBody>
      </p:sp>
      <p:sp>
        <p:nvSpPr>
          <p:cNvPr id="167942" name="TextBox 6"/>
          <p:cNvSpPr txBox="1">
            <a:spLocks noChangeArrowheads="1"/>
          </p:cNvSpPr>
          <p:nvPr/>
        </p:nvSpPr>
        <p:spPr bwMode="auto">
          <a:xfrm>
            <a:off x="1115616" y="2754313"/>
            <a:ext cx="3584043" cy="830997"/>
          </a:xfrm>
          <a:prstGeom prst="rect">
            <a:avLst/>
          </a:prstGeom>
          <a:noFill/>
          <a:ln w="9525">
            <a:noFill/>
            <a:miter lim="800000"/>
            <a:headEnd/>
            <a:tailEnd/>
          </a:ln>
        </p:spPr>
        <p:txBody>
          <a:bodyPr wrap="square">
            <a:spAutoFit/>
          </a:bodyPr>
          <a:lstStyle/>
          <a:p>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đặc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tính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khoảng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gian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hành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so </a:t>
            </a:r>
            <a:r>
              <a:rPr lang="en-US" altLang="ko-KR" sz="1200" dirty="0" err="1">
                <a:solidFill>
                  <a:srgbClr val="000000"/>
                </a:solidFill>
                <a:latin typeface="맑은 고딕" pitchFamily="50" charset="-127"/>
                <a:ea typeface="맑은 고딕" pitchFamily="50" charset="-127"/>
              </a:rPr>
              <a:t>sánh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nhiều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lần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những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sai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sinh</a:t>
            </a:r>
            <a:endParaRPr lang="ko-KR" altLang="en-US" sz="1200" dirty="0">
              <a:solidFill>
                <a:srgbClr val="000000"/>
              </a:solidFill>
              <a:latin typeface="맑은 고딕" pitchFamily="50" charset="-127"/>
              <a:ea typeface="맑은 고딕" pitchFamily="50" charset="-127"/>
            </a:endParaRPr>
          </a:p>
        </p:txBody>
      </p:sp>
      <p:sp>
        <p:nvSpPr>
          <p:cNvPr id="167943" name="TextBox 7"/>
          <p:cNvSpPr txBox="1">
            <a:spLocks noChangeArrowheads="1"/>
          </p:cNvSpPr>
          <p:nvPr/>
        </p:nvSpPr>
        <p:spPr bwMode="auto">
          <a:xfrm>
            <a:off x="1043608" y="3645024"/>
            <a:ext cx="4051109" cy="276999"/>
          </a:xfrm>
          <a:prstGeom prst="rect">
            <a:avLst/>
          </a:prstGeom>
          <a:no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Những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sai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số</a:t>
            </a:r>
            <a:r>
              <a:rPr lang="en-US" altLang="ko-KR" sz="1200" b="1" dirty="0">
                <a:solidFill>
                  <a:srgbClr val="000000"/>
                </a:solidFill>
                <a:latin typeface="맑은 고딕" pitchFamily="50" charset="-127"/>
                <a:ea typeface="맑은 고딕" pitchFamily="50" charset="-127"/>
              </a:rPr>
              <a:t> do </a:t>
            </a:r>
            <a:r>
              <a:rPr lang="en-US" altLang="ko-KR" sz="1200" b="1" dirty="0" err="1">
                <a:solidFill>
                  <a:srgbClr val="000000"/>
                </a:solidFill>
                <a:latin typeface="맑은 고딕" pitchFamily="50" charset="-127"/>
                <a:ea typeface="맑은 고딕" pitchFamily="50" charset="-127"/>
              </a:rPr>
              <a:t>trang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thiết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bị</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đo</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lường</a:t>
            </a:r>
            <a:r>
              <a:rPr lang="en-US" altLang="ko-KR" sz="1200" b="1" dirty="0">
                <a:solidFill>
                  <a:srgbClr val="000000"/>
                </a:solidFill>
                <a:latin typeface="맑은 고딕" pitchFamily="50" charset="-127"/>
                <a:ea typeface="맑은 고딕" pitchFamily="50" charset="-127"/>
              </a:rPr>
              <a:t>.</a:t>
            </a:r>
            <a:endParaRPr lang="ko-KR" altLang="en-US" sz="1200" b="1" dirty="0">
              <a:solidFill>
                <a:srgbClr val="000000"/>
              </a:solidFill>
              <a:latin typeface="맑은 고딕" pitchFamily="50" charset="-127"/>
              <a:ea typeface="맑은 고딕" pitchFamily="50" charset="-127"/>
            </a:endParaRPr>
          </a:p>
        </p:txBody>
      </p:sp>
      <p:sp>
        <p:nvSpPr>
          <p:cNvPr id="167944" name="TextBox 8"/>
          <p:cNvSpPr txBox="1">
            <a:spLocks noChangeArrowheads="1"/>
          </p:cNvSpPr>
          <p:nvPr/>
        </p:nvSpPr>
        <p:spPr bwMode="auto">
          <a:xfrm>
            <a:off x="1187624" y="4509120"/>
            <a:ext cx="3986989" cy="830997"/>
          </a:xfrm>
          <a:prstGeom prst="rect">
            <a:avLst/>
          </a:prstGeom>
          <a:noFill/>
          <a:ln w="9525">
            <a:noFill/>
            <a:miter lim="800000"/>
            <a:headEnd/>
            <a:tailEnd/>
          </a:ln>
        </p:spPr>
        <p:txBody>
          <a:bodyPr wrap="none">
            <a:spAutoFit/>
          </a:bodyPr>
          <a:lstStyle/>
          <a:p>
            <a:r>
              <a:rPr lang="en-US" altLang="ko-KR" sz="1200" dirty="0" err="1">
                <a:solidFill>
                  <a:srgbClr val="000000"/>
                </a:solidFill>
                <a:latin typeface="맑은 고딕" pitchFamily="50" charset="-127"/>
                <a:ea typeface="맑은 고딕" pitchFamily="50" charset="-127"/>
              </a:rPr>
              <a:t>Khi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nhiều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kiện</a:t>
            </a:r>
            <a:r>
              <a:rPr lang="en-US" altLang="ko-KR" sz="1200" dirty="0">
                <a:solidFill>
                  <a:srgbClr val="000000"/>
                </a:solidFill>
                <a:latin typeface="맑은 고딕" pitchFamily="50" charset="-127"/>
                <a:ea typeface="맑은 고딕" pitchFamily="50" charset="-127"/>
              </a:rPr>
              <a:t>, </a:t>
            </a:r>
          </a:p>
          <a:p>
            <a:r>
              <a:rPr lang="en-US" altLang="ko-KR" sz="1200" dirty="0" err="1">
                <a:solidFill>
                  <a:srgbClr val="000000"/>
                </a:solidFill>
                <a:latin typeface="맑은 고딕" pitchFamily="50" charset="-127"/>
                <a:ea typeface="맑은 고딕" pitchFamily="50" charset="-127"/>
              </a:rPr>
              <a:t>cùng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đặc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tính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p>
          <a:p>
            <a:r>
              <a:rPr lang="en-US" altLang="ko-KR" sz="1200" dirty="0" err="1">
                <a:solidFill>
                  <a:srgbClr val="000000"/>
                </a:solidFill>
                <a:latin typeface="맑은 고딕" pitchFamily="50" charset="-127"/>
                <a:ea typeface="맑은 고딕" pitchFamily="50" charset="-127"/>
              </a:rPr>
              <a:t>Sai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giữa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những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với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nhau</a:t>
            </a:r>
            <a:endParaRPr lang="en-US" altLang="ko-KR" sz="1200" dirty="0">
              <a:solidFill>
                <a:srgbClr val="000000"/>
              </a:solidFill>
              <a:latin typeface="맑은 고딕" pitchFamily="50" charset="-127"/>
              <a:ea typeface="맑은 고딕" pitchFamily="50" charset="-127"/>
            </a:endParaRPr>
          </a:p>
          <a:p>
            <a:r>
              <a:rPr lang="en-US" altLang="ko-KR" sz="1200" dirty="0">
                <a:solidFill>
                  <a:srgbClr val="000000"/>
                </a:solidFill>
                <a:latin typeface="맑은 고딕" pitchFamily="50" charset="-127"/>
                <a:ea typeface="맑은 고딕" pitchFamily="50" charset="-127"/>
              </a:rPr>
              <a:t>(</a:t>
            </a:r>
            <a:r>
              <a:rPr lang="en-US" altLang="ko-KR" sz="1200" dirty="0" err="1">
                <a:solidFill>
                  <a:srgbClr val="000000"/>
                </a:solidFill>
                <a:latin typeface="맑은 고딕" pitchFamily="50" charset="-127"/>
                <a:ea typeface="맑은 고딕" pitchFamily="50" charset="-127"/>
              </a:rPr>
              <a:t>Sự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chênh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lệch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trị</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bình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a:t>
            </a:r>
            <a:endParaRPr lang="ko-KR" altLang="en-US" sz="1200" dirty="0">
              <a:solidFill>
                <a:srgbClr val="000000"/>
              </a:solidFill>
              <a:latin typeface="맑은 고딕" pitchFamily="50" charset="-127"/>
              <a:ea typeface="맑은 고딕" pitchFamily="50" charset="-127"/>
            </a:endParaRPr>
          </a:p>
        </p:txBody>
      </p:sp>
      <p:sp>
        <p:nvSpPr>
          <p:cNvPr id="167945" name="TextBox 9"/>
          <p:cNvSpPr txBox="1">
            <a:spLocks noChangeArrowheads="1"/>
          </p:cNvSpPr>
          <p:nvPr/>
        </p:nvSpPr>
        <p:spPr bwMode="auto">
          <a:xfrm>
            <a:off x="1187624" y="5373216"/>
            <a:ext cx="2719014" cy="276999"/>
          </a:xfrm>
          <a:prstGeom prst="rect">
            <a:avLst/>
          </a:prstGeom>
          <a:no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sai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số</a:t>
            </a:r>
            <a:r>
              <a:rPr lang="en-US" altLang="ko-KR" sz="1200" b="1" dirty="0">
                <a:solidFill>
                  <a:srgbClr val="000000"/>
                </a:solidFill>
                <a:latin typeface="맑은 고딕" pitchFamily="50" charset="-127"/>
                <a:ea typeface="맑은 고딕" pitchFamily="50" charset="-127"/>
              </a:rPr>
              <a:t> do </a:t>
            </a:r>
            <a:r>
              <a:rPr lang="en-US" altLang="ko-KR" sz="1200" b="1" dirty="0" err="1">
                <a:solidFill>
                  <a:srgbClr val="000000"/>
                </a:solidFill>
                <a:latin typeface="맑은 고딕" pitchFamily="50" charset="-127"/>
                <a:ea typeface="맑은 고딕" pitchFamily="50" charset="-127"/>
              </a:rPr>
              <a:t>người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đo</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đạc</a:t>
            </a:r>
            <a:endParaRPr lang="ko-KR" altLang="en-US" sz="1200" b="1" dirty="0">
              <a:solidFill>
                <a:srgbClr val="000000"/>
              </a:solidFill>
              <a:latin typeface="맑은 고딕" pitchFamily="50" charset="-127"/>
              <a:ea typeface="맑은 고딕" pitchFamily="50" charset="-127"/>
            </a:endParaRPr>
          </a:p>
        </p:txBody>
      </p:sp>
      <p:pic>
        <p:nvPicPr>
          <p:cNvPr id="167946" name="Picture 4"/>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413131" y="2681288"/>
            <a:ext cx="1528397" cy="927100"/>
          </a:xfrm>
          <a:prstGeom prst="rect">
            <a:avLst/>
          </a:prstGeom>
          <a:noFill/>
          <a:ln w="9525">
            <a:noFill/>
            <a:miter lim="800000"/>
            <a:headEnd/>
            <a:tailEnd/>
          </a:ln>
        </p:spPr>
      </p:pic>
      <p:sp>
        <p:nvSpPr>
          <p:cNvPr id="167947" name="Text Box 5"/>
          <p:cNvSpPr txBox="1">
            <a:spLocks noChangeArrowheads="1"/>
          </p:cNvSpPr>
          <p:nvPr/>
        </p:nvSpPr>
        <p:spPr bwMode="auto">
          <a:xfrm>
            <a:off x="6827227" y="2671764"/>
            <a:ext cx="778119" cy="461665"/>
          </a:xfrm>
          <a:prstGeom prst="rect">
            <a:avLst/>
          </a:prstGeom>
          <a:noFill/>
          <a:ln w="9525" algn="ctr">
            <a:noFill/>
            <a:miter lim="800000"/>
            <a:headEnd/>
            <a:tailEnd/>
          </a:ln>
        </p:spPr>
        <p:txBody>
          <a:bodyPr>
            <a:spAutoFit/>
          </a:bodyPr>
          <a:lstStyle/>
          <a:p>
            <a:pPr algn="ctr">
              <a:spcBef>
                <a:spcPct val="50000"/>
              </a:spcBef>
            </a:pPr>
            <a:r>
              <a:rPr lang="en-US" altLang="ko-KR" sz="1200" b="1" dirty="0" err="1">
                <a:solidFill>
                  <a:srgbClr val="0000FF"/>
                </a:solidFill>
                <a:latin typeface="Arial" pitchFamily="34" charset="0"/>
              </a:rPr>
              <a:t>Độ</a:t>
            </a:r>
            <a:r>
              <a:rPr lang="en-US" altLang="ko-KR" sz="1200" b="1" dirty="0">
                <a:solidFill>
                  <a:srgbClr val="0000FF"/>
                </a:solidFill>
                <a:latin typeface="Arial" pitchFamily="34" charset="0"/>
              </a:rPr>
              <a:t> </a:t>
            </a:r>
            <a:r>
              <a:rPr lang="en-US" altLang="ko-KR" sz="1200" b="1" dirty="0" err="1">
                <a:solidFill>
                  <a:srgbClr val="0000FF"/>
                </a:solidFill>
                <a:latin typeface="Arial" pitchFamily="34" charset="0"/>
              </a:rPr>
              <a:t>lặp</a:t>
            </a:r>
            <a:r>
              <a:rPr lang="en-US" altLang="ko-KR" sz="1200" b="1" dirty="0">
                <a:solidFill>
                  <a:srgbClr val="0000FF"/>
                </a:solidFill>
                <a:latin typeface="Arial" pitchFamily="34" charset="0"/>
              </a:rPr>
              <a:t> </a:t>
            </a:r>
            <a:r>
              <a:rPr lang="en-US" altLang="ko-KR" sz="1200" b="1" dirty="0" err="1">
                <a:solidFill>
                  <a:srgbClr val="0000FF"/>
                </a:solidFill>
                <a:latin typeface="Arial" pitchFamily="34" charset="0"/>
              </a:rPr>
              <a:t>lại</a:t>
            </a:r>
            <a:endParaRPr lang="ko-KR" altLang="en-US" sz="1200" b="1" dirty="0">
              <a:solidFill>
                <a:srgbClr val="0000FF"/>
              </a:solidFill>
              <a:latin typeface="Arial" pitchFamily="34" charset="0"/>
            </a:endParaRPr>
          </a:p>
        </p:txBody>
      </p:sp>
      <p:sp>
        <p:nvSpPr>
          <p:cNvPr id="167948" name="Text Box 6"/>
          <p:cNvSpPr txBox="1">
            <a:spLocks noChangeArrowheads="1"/>
          </p:cNvSpPr>
          <p:nvPr/>
        </p:nvSpPr>
        <p:spPr bwMode="auto">
          <a:xfrm>
            <a:off x="6682154" y="3544889"/>
            <a:ext cx="677008" cy="400110"/>
          </a:xfrm>
          <a:prstGeom prst="rect">
            <a:avLst/>
          </a:prstGeom>
          <a:noFill/>
          <a:ln w="9525" algn="ctr">
            <a:noFill/>
            <a:miter lim="800000"/>
            <a:headEnd/>
            <a:tailEnd/>
          </a:ln>
        </p:spPr>
        <p:txBody>
          <a:bodyPr>
            <a:spAutoFit/>
          </a:bodyPr>
          <a:lstStyle/>
          <a:p>
            <a:pPr algn="ctr">
              <a:spcBef>
                <a:spcPct val="50000"/>
              </a:spcBef>
            </a:pPr>
            <a:r>
              <a:rPr lang="en-US" altLang="ko-KR" sz="1000" b="1" dirty="0" err="1">
                <a:solidFill>
                  <a:srgbClr val="000000"/>
                </a:solidFill>
                <a:latin typeface="Times New Roman" pitchFamily="18" charset="0"/>
                <a:ea typeface="굴림체" pitchFamily="49" charset="-127"/>
              </a:rPr>
              <a:t>Giá</a:t>
            </a:r>
            <a:r>
              <a:rPr lang="en-US" altLang="ko-KR" sz="1000" b="1" dirty="0">
                <a:solidFill>
                  <a:srgbClr val="000000"/>
                </a:solidFill>
                <a:latin typeface="Times New Roman" pitchFamily="18" charset="0"/>
                <a:ea typeface="굴림체" pitchFamily="49" charset="-127"/>
              </a:rPr>
              <a:t> </a:t>
            </a:r>
            <a:r>
              <a:rPr lang="en-US" altLang="ko-KR" sz="1000" b="1" dirty="0" err="1">
                <a:solidFill>
                  <a:srgbClr val="000000"/>
                </a:solidFill>
                <a:latin typeface="Times New Roman" pitchFamily="18" charset="0"/>
                <a:ea typeface="굴림체" pitchFamily="49" charset="-127"/>
              </a:rPr>
              <a:t>trị</a:t>
            </a:r>
            <a:r>
              <a:rPr lang="en-US" altLang="ko-KR" sz="1000" b="1" dirty="0">
                <a:solidFill>
                  <a:srgbClr val="000000"/>
                </a:solidFill>
                <a:latin typeface="Times New Roman" pitchFamily="18" charset="0"/>
                <a:ea typeface="굴림체" pitchFamily="49" charset="-127"/>
              </a:rPr>
              <a:t> </a:t>
            </a:r>
            <a:r>
              <a:rPr lang="en-US" altLang="ko-KR" sz="1000" b="1" dirty="0" err="1">
                <a:solidFill>
                  <a:srgbClr val="000000"/>
                </a:solidFill>
                <a:latin typeface="Times New Roman" pitchFamily="18" charset="0"/>
                <a:ea typeface="굴림체" pitchFamily="49" charset="-127"/>
              </a:rPr>
              <a:t>đo</a:t>
            </a:r>
            <a:r>
              <a:rPr lang="en-US" altLang="ko-KR" sz="1000" b="1" dirty="0">
                <a:solidFill>
                  <a:srgbClr val="000000"/>
                </a:solidFill>
                <a:latin typeface="Times New Roman" pitchFamily="18" charset="0"/>
                <a:ea typeface="굴림체" pitchFamily="49" charset="-127"/>
              </a:rPr>
              <a:t> </a:t>
            </a:r>
            <a:r>
              <a:rPr lang="en-US" altLang="ko-KR" sz="1000" b="1" dirty="0" err="1">
                <a:solidFill>
                  <a:srgbClr val="000000"/>
                </a:solidFill>
                <a:latin typeface="Times New Roman" pitchFamily="18" charset="0"/>
                <a:ea typeface="굴림체" pitchFamily="49" charset="-127"/>
              </a:rPr>
              <a:t>đạc</a:t>
            </a:r>
            <a:endParaRPr lang="ko-KR" altLang="en-US" sz="1000" b="1" dirty="0">
              <a:solidFill>
                <a:srgbClr val="000000"/>
              </a:solidFill>
              <a:latin typeface="Times New Roman" pitchFamily="18" charset="0"/>
              <a:ea typeface="굴림체" pitchFamily="49" charset="-127"/>
            </a:endParaRPr>
          </a:p>
        </p:txBody>
      </p:sp>
      <p:sp>
        <p:nvSpPr>
          <p:cNvPr id="167949" name="Rectangle 7"/>
          <p:cNvSpPr>
            <a:spLocks noChangeArrowheads="1"/>
          </p:cNvSpPr>
          <p:nvPr/>
        </p:nvSpPr>
        <p:spPr bwMode="auto">
          <a:xfrm>
            <a:off x="5099539" y="2370139"/>
            <a:ext cx="2458915" cy="1563687"/>
          </a:xfrm>
          <a:prstGeom prst="rect">
            <a:avLst/>
          </a:prstGeom>
          <a:noFill/>
          <a:ln w="9525" algn="ctr">
            <a:solidFill>
              <a:schemeClr val="tx1"/>
            </a:solid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167950" name="Line 8"/>
          <p:cNvSpPr>
            <a:spLocks noChangeShapeType="1"/>
          </p:cNvSpPr>
          <p:nvPr/>
        </p:nvSpPr>
        <p:spPr bwMode="auto">
          <a:xfrm>
            <a:off x="5666643" y="3678238"/>
            <a:ext cx="798634"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grpSp>
        <p:nvGrpSpPr>
          <p:cNvPr id="3" name="Group 9"/>
          <p:cNvGrpSpPr>
            <a:grpSpLocks/>
          </p:cNvGrpSpPr>
          <p:nvPr/>
        </p:nvGrpSpPr>
        <p:grpSpPr bwMode="auto">
          <a:xfrm>
            <a:off x="5099539" y="4146551"/>
            <a:ext cx="2535115" cy="1606151"/>
            <a:chOff x="172" y="2069"/>
            <a:chExt cx="1730" cy="873"/>
          </a:xfrm>
        </p:grpSpPr>
        <p:pic>
          <p:nvPicPr>
            <p:cNvPr id="167957" name="Picture 10"/>
            <p:cNvPicPr>
              <a:picLocks noChangeAspect="1" noChangeArrowheads="1"/>
            </p:cNvPicPr>
            <p:nvPr/>
          </p:nvPicPr>
          <p:blipFill>
            <a:blip r:embed="rId2" cstate="print">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729" y="2348"/>
              <a:ext cx="730" cy="409"/>
            </a:xfrm>
            <a:prstGeom prst="rect">
              <a:avLst/>
            </a:prstGeom>
            <a:noFill/>
            <a:ln w="9525">
              <a:noFill/>
              <a:miter lim="800000"/>
              <a:headEnd/>
              <a:tailEnd/>
            </a:ln>
          </p:spPr>
        </p:pic>
        <p:pic>
          <p:nvPicPr>
            <p:cNvPr id="167958" name="Picture 11"/>
            <p:cNvPicPr>
              <a:picLocks noChangeAspect="1" noChangeArrowheads="1"/>
            </p:cNvPicPr>
            <p:nvPr/>
          </p:nvPicPr>
          <p:blipFill>
            <a:blip r:embed="rId2" cstate="print">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286" y="2355"/>
              <a:ext cx="730" cy="409"/>
            </a:xfrm>
            <a:prstGeom prst="rect">
              <a:avLst/>
            </a:prstGeom>
            <a:noFill/>
            <a:ln w="9525">
              <a:noFill/>
              <a:miter lim="800000"/>
              <a:headEnd/>
              <a:tailEnd/>
            </a:ln>
          </p:spPr>
        </p:pic>
        <p:sp>
          <p:nvSpPr>
            <p:cNvPr id="167959" name="Text Box 12"/>
            <p:cNvSpPr txBox="1">
              <a:spLocks noChangeArrowheads="1"/>
            </p:cNvSpPr>
            <p:nvPr/>
          </p:nvSpPr>
          <p:spPr bwMode="auto">
            <a:xfrm>
              <a:off x="1351" y="2078"/>
              <a:ext cx="531" cy="401"/>
            </a:xfrm>
            <a:prstGeom prst="rect">
              <a:avLst/>
            </a:prstGeom>
            <a:noFill/>
            <a:ln w="9525" algn="ctr">
              <a:noFill/>
              <a:miter lim="800000"/>
              <a:headEnd/>
              <a:tailEnd/>
            </a:ln>
          </p:spPr>
          <p:txBody>
            <a:bodyPr>
              <a:spAutoFit/>
            </a:bodyPr>
            <a:lstStyle/>
            <a:p>
              <a:pPr algn="ctr">
                <a:spcBef>
                  <a:spcPct val="50000"/>
                </a:spcBef>
              </a:pPr>
              <a:r>
                <a:rPr lang="en-US" altLang="ko-KR" sz="1200" b="1" dirty="0" err="1">
                  <a:solidFill>
                    <a:srgbClr val="0000FF"/>
                  </a:solidFill>
                  <a:latin typeface="Arial" pitchFamily="34" charset="0"/>
                </a:rPr>
                <a:t>Độ</a:t>
              </a:r>
              <a:r>
                <a:rPr lang="en-US" altLang="ko-KR" sz="1200" b="1" dirty="0">
                  <a:solidFill>
                    <a:srgbClr val="0000FF"/>
                  </a:solidFill>
                  <a:latin typeface="Arial" pitchFamily="34" charset="0"/>
                </a:rPr>
                <a:t> </a:t>
              </a:r>
              <a:r>
                <a:rPr lang="en-US" altLang="ko-KR" sz="1200" b="1" dirty="0" err="1">
                  <a:solidFill>
                    <a:srgbClr val="0000FF"/>
                  </a:solidFill>
                  <a:latin typeface="Arial" pitchFamily="34" charset="0"/>
                </a:rPr>
                <a:t>tái</a:t>
              </a:r>
              <a:r>
                <a:rPr lang="en-US" altLang="ko-KR" sz="1200" b="1" dirty="0">
                  <a:solidFill>
                    <a:srgbClr val="0000FF"/>
                  </a:solidFill>
                  <a:latin typeface="Arial" pitchFamily="34" charset="0"/>
                </a:rPr>
                <a:t> </a:t>
              </a:r>
              <a:r>
                <a:rPr lang="en-US" altLang="ko-KR" sz="1200" b="1" dirty="0" err="1">
                  <a:solidFill>
                    <a:srgbClr val="0000FF"/>
                  </a:solidFill>
                  <a:latin typeface="Arial" pitchFamily="34" charset="0"/>
                </a:rPr>
                <a:t>hiện</a:t>
              </a:r>
              <a:endParaRPr lang="en-US" altLang="ko-KR" sz="1200" b="1" dirty="0">
                <a:solidFill>
                  <a:srgbClr val="0000FF"/>
                </a:solidFill>
                <a:latin typeface="Arial" pitchFamily="34" charset="0"/>
              </a:endParaRPr>
            </a:p>
            <a:p>
              <a:pPr algn="ctr">
                <a:spcBef>
                  <a:spcPct val="50000"/>
                </a:spcBef>
              </a:pPr>
              <a:r>
                <a:rPr lang="en-US" altLang="ko-KR" sz="1200" b="1">
                  <a:solidFill>
                    <a:srgbClr val="0000FF"/>
                  </a:solidFill>
                  <a:latin typeface="Arial" pitchFamily="34" charset="0"/>
                </a:rPr>
                <a:t>0</a:t>
              </a:r>
              <a:endParaRPr lang="ko-KR" altLang="en-US" sz="1200" b="1" dirty="0">
                <a:solidFill>
                  <a:srgbClr val="0000FF"/>
                </a:solidFill>
                <a:latin typeface="Arial" pitchFamily="34" charset="0"/>
              </a:endParaRPr>
            </a:p>
          </p:txBody>
        </p:sp>
        <p:sp>
          <p:nvSpPr>
            <p:cNvPr id="167960" name="Text Box 13"/>
            <p:cNvSpPr txBox="1">
              <a:spLocks noChangeArrowheads="1"/>
            </p:cNvSpPr>
            <p:nvPr/>
          </p:nvSpPr>
          <p:spPr bwMode="auto">
            <a:xfrm>
              <a:off x="1440" y="2725"/>
              <a:ext cx="462" cy="217"/>
            </a:xfrm>
            <a:prstGeom prst="rect">
              <a:avLst/>
            </a:prstGeom>
            <a:noFill/>
            <a:ln w="9525" algn="ctr">
              <a:noFill/>
              <a:miter lim="800000"/>
              <a:headEnd/>
              <a:tailEnd/>
            </a:ln>
          </p:spPr>
          <p:txBody>
            <a:bodyPr>
              <a:spAutoFit/>
            </a:bodyPr>
            <a:lstStyle/>
            <a:p>
              <a:pPr algn="ctr">
                <a:spcBef>
                  <a:spcPct val="50000"/>
                </a:spcBef>
              </a:pPr>
              <a:r>
                <a:rPr lang="en-US" altLang="ko-KR" sz="1000" b="1" dirty="0" err="1">
                  <a:solidFill>
                    <a:srgbClr val="000000"/>
                  </a:solidFill>
                  <a:latin typeface="Times New Roman" pitchFamily="18" charset="0"/>
                  <a:ea typeface="굴림체" pitchFamily="49" charset="-127"/>
                </a:rPr>
                <a:t>Giá</a:t>
              </a:r>
              <a:r>
                <a:rPr lang="en-US" altLang="ko-KR" sz="1000" b="1" dirty="0">
                  <a:solidFill>
                    <a:srgbClr val="000000"/>
                  </a:solidFill>
                  <a:latin typeface="Times New Roman" pitchFamily="18" charset="0"/>
                  <a:ea typeface="굴림체" pitchFamily="49" charset="-127"/>
                </a:rPr>
                <a:t> </a:t>
              </a:r>
              <a:r>
                <a:rPr lang="en-US" altLang="ko-KR" sz="1000" b="1" dirty="0" err="1">
                  <a:solidFill>
                    <a:srgbClr val="000000"/>
                  </a:solidFill>
                  <a:latin typeface="Times New Roman" pitchFamily="18" charset="0"/>
                  <a:ea typeface="굴림체" pitchFamily="49" charset="-127"/>
                </a:rPr>
                <a:t>trị</a:t>
              </a:r>
              <a:r>
                <a:rPr lang="en-US" altLang="ko-KR" sz="1000" b="1" dirty="0">
                  <a:solidFill>
                    <a:srgbClr val="000000"/>
                  </a:solidFill>
                  <a:latin typeface="Times New Roman" pitchFamily="18" charset="0"/>
                  <a:ea typeface="굴림체" pitchFamily="49" charset="-127"/>
                </a:rPr>
                <a:t> </a:t>
              </a:r>
              <a:r>
                <a:rPr lang="en-US" altLang="ko-KR" sz="1000" b="1" dirty="0" err="1">
                  <a:solidFill>
                    <a:srgbClr val="000000"/>
                  </a:solidFill>
                  <a:latin typeface="Times New Roman" pitchFamily="18" charset="0"/>
                  <a:ea typeface="굴림체" pitchFamily="49" charset="-127"/>
                </a:rPr>
                <a:t>đo</a:t>
              </a:r>
              <a:r>
                <a:rPr lang="en-US" altLang="ko-KR" sz="1000" b="1" dirty="0">
                  <a:solidFill>
                    <a:srgbClr val="000000"/>
                  </a:solidFill>
                  <a:latin typeface="Times New Roman" pitchFamily="18" charset="0"/>
                  <a:ea typeface="굴림체" pitchFamily="49" charset="-127"/>
                </a:rPr>
                <a:t> </a:t>
              </a:r>
              <a:r>
                <a:rPr lang="en-US" altLang="ko-KR" sz="1000" b="1" dirty="0" err="1">
                  <a:solidFill>
                    <a:srgbClr val="000000"/>
                  </a:solidFill>
                  <a:latin typeface="Times New Roman" pitchFamily="18" charset="0"/>
                  <a:ea typeface="굴림체" pitchFamily="49" charset="-127"/>
                </a:rPr>
                <a:t>đạc</a:t>
              </a:r>
              <a:endParaRPr lang="ko-KR" altLang="en-US" sz="1000" b="1" dirty="0">
                <a:solidFill>
                  <a:srgbClr val="000000"/>
                </a:solidFill>
                <a:latin typeface="Times New Roman" pitchFamily="18" charset="0"/>
                <a:ea typeface="굴림체" pitchFamily="49" charset="-127"/>
              </a:endParaRPr>
            </a:p>
          </p:txBody>
        </p:sp>
        <p:sp>
          <p:nvSpPr>
            <p:cNvPr id="167961" name="Rectangle 14"/>
            <p:cNvSpPr>
              <a:spLocks noChangeArrowheads="1"/>
            </p:cNvSpPr>
            <p:nvPr/>
          </p:nvSpPr>
          <p:spPr bwMode="auto">
            <a:xfrm>
              <a:off x="172" y="2069"/>
              <a:ext cx="1678" cy="862"/>
            </a:xfrm>
            <a:prstGeom prst="rect">
              <a:avLst/>
            </a:prstGeom>
            <a:noFill/>
            <a:ln w="9525" algn="ctr">
              <a:solidFill>
                <a:schemeClr val="tx1"/>
              </a:solidFill>
              <a:miter lim="800000"/>
              <a:headEnd/>
              <a:tailEnd/>
            </a:ln>
          </p:spPr>
          <p:txBody>
            <a:bodyPr wrap="none" anchor="ctr"/>
            <a:lstStyle/>
            <a:p>
              <a:pPr algn="ctr"/>
              <a:endParaRPr lang="ko-KR" altLang="en-US" sz="1000" dirty="0">
                <a:solidFill>
                  <a:srgbClr val="000000"/>
                </a:solidFill>
                <a:latin typeface="Arial" pitchFamily="34" charset="0"/>
              </a:endParaRPr>
            </a:p>
          </p:txBody>
        </p:sp>
        <p:pic>
          <p:nvPicPr>
            <p:cNvPr id="167962" name="Picture 15"/>
            <p:cNvPicPr>
              <a:picLocks noChangeAspect="1" noChangeArrowheads="1"/>
            </p:cNvPicPr>
            <p:nvPr/>
          </p:nvPicPr>
          <p:blipFill>
            <a:blip r:embed="rId2" cstate="print">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960" y="2355"/>
              <a:ext cx="730" cy="409"/>
            </a:xfrm>
            <a:prstGeom prst="rect">
              <a:avLst/>
            </a:prstGeom>
            <a:noFill/>
            <a:ln w="9525">
              <a:noFill/>
              <a:miter lim="800000"/>
              <a:headEnd/>
              <a:tailEnd/>
            </a:ln>
          </p:spPr>
        </p:pic>
        <p:sp>
          <p:nvSpPr>
            <p:cNvPr id="167963" name="Text Box 16"/>
            <p:cNvSpPr txBox="1">
              <a:spLocks noChangeArrowheads="1"/>
            </p:cNvSpPr>
            <p:nvPr/>
          </p:nvSpPr>
          <p:spPr bwMode="auto">
            <a:xfrm>
              <a:off x="559" y="2233"/>
              <a:ext cx="136" cy="134"/>
            </a:xfrm>
            <a:prstGeom prst="rect">
              <a:avLst/>
            </a:prstGeom>
            <a:noFill/>
            <a:ln w="9525" algn="ctr">
              <a:noFill/>
              <a:miter lim="800000"/>
              <a:headEnd/>
              <a:tailEnd/>
            </a:ln>
          </p:spPr>
          <p:txBody>
            <a:bodyPr>
              <a:spAutoFit/>
            </a:bodyPr>
            <a:lstStyle/>
            <a:p>
              <a:pPr>
                <a:spcBef>
                  <a:spcPct val="50000"/>
                </a:spcBef>
              </a:pPr>
              <a:r>
                <a:rPr lang="en-US" altLang="ko-KR" sz="1000" b="1" dirty="0">
                  <a:solidFill>
                    <a:srgbClr val="000000"/>
                  </a:solidFill>
                  <a:latin typeface="Arial" pitchFamily="34" charset="0"/>
                </a:rPr>
                <a:t>A</a:t>
              </a:r>
            </a:p>
          </p:txBody>
        </p:sp>
        <p:sp>
          <p:nvSpPr>
            <p:cNvPr id="167964" name="Text Box 17"/>
            <p:cNvSpPr txBox="1">
              <a:spLocks noChangeArrowheads="1"/>
            </p:cNvSpPr>
            <p:nvPr/>
          </p:nvSpPr>
          <p:spPr bwMode="auto">
            <a:xfrm>
              <a:off x="1009" y="2233"/>
              <a:ext cx="136" cy="134"/>
            </a:xfrm>
            <a:prstGeom prst="rect">
              <a:avLst/>
            </a:prstGeom>
            <a:noFill/>
            <a:ln w="9525" algn="ctr">
              <a:noFill/>
              <a:miter lim="800000"/>
              <a:headEnd/>
              <a:tailEnd/>
            </a:ln>
          </p:spPr>
          <p:txBody>
            <a:bodyPr>
              <a:spAutoFit/>
            </a:bodyPr>
            <a:lstStyle/>
            <a:p>
              <a:pPr>
                <a:spcBef>
                  <a:spcPct val="50000"/>
                </a:spcBef>
              </a:pPr>
              <a:r>
                <a:rPr lang="en-US" altLang="ko-KR" sz="1000" b="1" dirty="0">
                  <a:solidFill>
                    <a:srgbClr val="000000"/>
                  </a:solidFill>
                  <a:latin typeface="Arial" pitchFamily="34" charset="0"/>
                </a:rPr>
                <a:t>C</a:t>
              </a:r>
            </a:p>
          </p:txBody>
        </p:sp>
        <p:sp>
          <p:nvSpPr>
            <p:cNvPr id="167965" name="Text Box 18"/>
            <p:cNvSpPr txBox="1">
              <a:spLocks noChangeArrowheads="1"/>
            </p:cNvSpPr>
            <p:nvPr/>
          </p:nvSpPr>
          <p:spPr bwMode="auto">
            <a:xfrm>
              <a:off x="1257" y="2233"/>
              <a:ext cx="136" cy="134"/>
            </a:xfrm>
            <a:prstGeom prst="rect">
              <a:avLst/>
            </a:prstGeom>
            <a:noFill/>
            <a:ln w="9525" algn="ctr">
              <a:noFill/>
              <a:miter lim="800000"/>
              <a:headEnd/>
              <a:tailEnd/>
            </a:ln>
          </p:spPr>
          <p:txBody>
            <a:bodyPr>
              <a:spAutoFit/>
            </a:bodyPr>
            <a:lstStyle/>
            <a:p>
              <a:pPr>
                <a:spcBef>
                  <a:spcPct val="50000"/>
                </a:spcBef>
              </a:pPr>
              <a:r>
                <a:rPr lang="en-US" altLang="ko-KR" sz="1000" b="1" dirty="0">
                  <a:solidFill>
                    <a:srgbClr val="000000"/>
                  </a:solidFill>
                  <a:latin typeface="Arial" pitchFamily="34" charset="0"/>
                </a:rPr>
                <a:t>B</a:t>
              </a:r>
            </a:p>
          </p:txBody>
        </p:sp>
        <p:sp>
          <p:nvSpPr>
            <p:cNvPr id="167966" name="Line 19"/>
            <p:cNvSpPr>
              <a:spLocks noChangeShapeType="1"/>
            </p:cNvSpPr>
            <p:nvPr/>
          </p:nvSpPr>
          <p:spPr bwMode="auto">
            <a:xfrm>
              <a:off x="671" y="2491"/>
              <a:ext cx="408"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167967" name="Line 20"/>
            <p:cNvSpPr>
              <a:spLocks noChangeShapeType="1"/>
            </p:cNvSpPr>
            <p:nvPr/>
          </p:nvSpPr>
          <p:spPr bwMode="auto">
            <a:xfrm>
              <a:off x="1093" y="2568"/>
              <a:ext cx="227"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sp>
          <p:nvSpPr>
            <p:cNvPr id="167968" name="Line 21"/>
            <p:cNvSpPr>
              <a:spLocks noChangeShapeType="1"/>
            </p:cNvSpPr>
            <p:nvPr/>
          </p:nvSpPr>
          <p:spPr bwMode="auto">
            <a:xfrm>
              <a:off x="671" y="2673"/>
              <a:ext cx="635" cy="0"/>
            </a:xfrm>
            <a:prstGeom prst="line">
              <a:avLst/>
            </a:prstGeom>
            <a:noFill/>
            <a:ln w="9525">
              <a:solidFill>
                <a:srgbClr val="FF0000"/>
              </a:solidFill>
              <a:round/>
              <a:headEnd type="triangle" w="med" len="med"/>
              <a:tailEnd type="triangle" w="med" len="med"/>
            </a:ln>
          </p:spPr>
          <p:txBody>
            <a:bodyPr anchor="ctr"/>
            <a:lstStyle/>
            <a:p>
              <a:endParaRPr lang="ko-KR" altLang="en-US" dirty="0"/>
            </a:p>
          </p:txBody>
        </p:sp>
      </p:grpSp>
      <p:cxnSp>
        <p:nvCxnSpPr>
          <p:cNvPr id="167952" name="AutoShape 22"/>
          <p:cNvCxnSpPr>
            <a:cxnSpLocks noChangeShapeType="1"/>
            <a:stCxn id="167949" idx="3"/>
          </p:cNvCxnSpPr>
          <p:nvPr/>
        </p:nvCxnSpPr>
        <p:spPr bwMode="auto">
          <a:xfrm>
            <a:off x="7558454" y="3151188"/>
            <a:ext cx="11723" cy="1789112"/>
          </a:xfrm>
          <a:prstGeom prst="bentConnector3">
            <a:avLst>
              <a:gd name="adj1" fmla="val 1800000"/>
            </a:avLst>
          </a:prstGeom>
          <a:noFill/>
          <a:ln w="9525">
            <a:solidFill>
              <a:schemeClr val="tx1"/>
            </a:solidFill>
            <a:miter lim="800000"/>
            <a:headEnd type="triangle" w="med" len="med"/>
            <a:tailEnd type="triangle" w="med" len="med"/>
          </a:ln>
        </p:spPr>
      </p:cxnSp>
      <p:sp>
        <p:nvSpPr>
          <p:cNvPr id="167953" name="Text Box 23"/>
          <p:cNvSpPr txBox="1">
            <a:spLocks noChangeArrowheads="1"/>
          </p:cNvSpPr>
          <p:nvPr/>
        </p:nvSpPr>
        <p:spPr bwMode="auto">
          <a:xfrm rot="5400000">
            <a:off x="7358002" y="3815527"/>
            <a:ext cx="1154113" cy="400110"/>
          </a:xfrm>
          <a:prstGeom prst="rect">
            <a:avLst/>
          </a:prstGeom>
          <a:solidFill>
            <a:schemeClr val="bg1"/>
          </a:solidFill>
          <a:ln w="9525" algn="ctr">
            <a:noFill/>
            <a:miter lim="800000"/>
            <a:headEnd/>
            <a:tailEnd/>
          </a:ln>
        </p:spPr>
        <p:txBody>
          <a:bodyPr>
            <a:spAutoFit/>
          </a:bodyPr>
          <a:lstStyle/>
          <a:p>
            <a:pPr algn="ctr">
              <a:spcBef>
                <a:spcPct val="50000"/>
              </a:spcBef>
            </a:pPr>
            <a:r>
              <a:rPr lang="en-US" altLang="ko-KR" sz="1000" b="1" dirty="0" err="1">
                <a:solidFill>
                  <a:srgbClr val="000000"/>
                </a:solidFill>
                <a:latin typeface="Arial" pitchFamily="34" charset="0"/>
              </a:rPr>
              <a:t>Biến</a:t>
            </a:r>
            <a:r>
              <a:rPr lang="en-US" altLang="ko-KR" sz="1000" b="1" dirty="0">
                <a:solidFill>
                  <a:srgbClr val="000000"/>
                </a:solidFill>
                <a:latin typeface="Arial" pitchFamily="34" charset="0"/>
              </a:rPr>
              <a:t> </a:t>
            </a:r>
            <a:r>
              <a:rPr lang="en-US" altLang="ko-KR" sz="1000" b="1" dirty="0" err="1">
                <a:solidFill>
                  <a:srgbClr val="000000"/>
                </a:solidFill>
                <a:latin typeface="Arial" pitchFamily="34" charset="0"/>
              </a:rPr>
              <a:t>động</a:t>
            </a:r>
            <a:r>
              <a:rPr lang="en-US" altLang="ko-KR" sz="1000" b="1" dirty="0">
                <a:solidFill>
                  <a:srgbClr val="000000"/>
                </a:solidFill>
                <a:latin typeface="Arial" pitchFamily="34" charset="0"/>
              </a:rPr>
              <a:t> Gage R&amp;R </a:t>
            </a:r>
            <a:endParaRPr lang="ko-KR" altLang="en-US" sz="1000" b="1" dirty="0">
              <a:solidFill>
                <a:srgbClr val="000000"/>
              </a:solidFill>
              <a:latin typeface="Arial" pitchFamily="34" charset="0"/>
            </a:endParaRPr>
          </a:p>
        </p:txBody>
      </p:sp>
      <p:pic>
        <p:nvPicPr>
          <p:cNvPr id="167954" name="Picture 4"/>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285643" y="2681288"/>
            <a:ext cx="1528396" cy="927100"/>
          </a:xfrm>
          <a:prstGeom prst="rect">
            <a:avLst/>
          </a:prstGeom>
          <a:noFill/>
          <a:ln w="9525">
            <a:noFill/>
            <a:miter lim="800000"/>
            <a:headEnd/>
            <a:tailEnd/>
          </a:ln>
        </p:spPr>
      </p:pic>
      <p:sp>
        <p:nvSpPr>
          <p:cNvPr id="167955" name="TextBox 43"/>
          <p:cNvSpPr txBox="1">
            <a:spLocks noChangeArrowheads="1"/>
          </p:cNvSpPr>
          <p:nvPr/>
        </p:nvSpPr>
        <p:spPr bwMode="auto">
          <a:xfrm>
            <a:off x="5388220" y="2779714"/>
            <a:ext cx="404278"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1st</a:t>
            </a:r>
          </a:p>
        </p:txBody>
      </p:sp>
      <p:sp>
        <p:nvSpPr>
          <p:cNvPr id="167956" name="TextBox 44"/>
          <p:cNvSpPr txBox="1">
            <a:spLocks noChangeArrowheads="1"/>
          </p:cNvSpPr>
          <p:nvPr/>
        </p:nvSpPr>
        <p:spPr bwMode="auto">
          <a:xfrm>
            <a:off x="6415454" y="2779714"/>
            <a:ext cx="463588"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2nd</a:t>
            </a:r>
          </a:p>
        </p:txBody>
      </p:sp>
      <p:sp>
        <p:nvSpPr>
          <p:cNvPr id="34"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30</a:t>
            </a:fld>
            <a:endParaRPr lang="ko-KR" altLang="en-US" dirty="0"/>
          </a:p>
        </p:txBody>
      </p:sp>
    </p:spTree>
    <p:extLst>
      <p:ext uri="{BB962C8B-B14F-4D97-AF65-F5344CB8AC3E}">
        <p14:creationId xmlns:p14="http://schemas.microsoft.com/office/powerpoint/2010/main" val="122506698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62"/>
          <p:cNvSpPr>
            <a:spLocks noChangeArrowheads="1"/>
          </p:cNvSpPr>
          <p:nvPr/>
        </p:nvSpPr>
        <p:spPr bwMode="auto">
          <a:xfrm>
            <a:off x="564174" y="1439864"/>
            <a:ext cx="1129811" cy="427037"/>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Type of Data</a:t>
            </a:r>
          </a:p>
        </p:txBody>
      </p:sp>
      <p:sp>
        <p:nvSpPr>
          <p:cNvPr id="4" name="Rectangle 63"/>
          <p:cNvSpPr>
            <a:spLocks noChangeArrowheads="1"/>
          </p:cNvSpPr>
          <p:nvPr/>
        </p:nvSpPr>
        <p:spPr bwMode="auto">
          <a:xfrm>
            <a:off x="1840524" y="1428751"/>
            <a:ext cx="3373315"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Continuous Data</a:t>
            </a:r>
          </a:p>
        </p:txBody>
      </p:sp>
      <p:sp>
        <p:nvSpPr>
          <p:cNvPr id="5" name="Rectangle 64"/>
          <p:cNvSpPr>
            <a:spLocks noChangeArrowheads="1"/>
          </p:cNvSpPr>
          <p:nvPr/>
        </p:nvSpPr>
        <p:spPr bwMode="auto">
          <a:xfrm>
            <a:off x="5301762" y="1428751"/>
            <a:ext cx="1129812"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Attribute</a:t>
            </a:r>
          </a:p>
          <a:p>
            <a:pPr algn="ctr">
              <a:lnSpc>
                <a:spcPct val="20000"/>
              </a:lnSpc>
              <a:spcBef>
                <a:spcPct val="50000"/>
              </a:spcBef>
              <a:defRPr/>
            </a:pPr>
            <a:r>
              <a:rPr lang="en-US" altLang="ko-KR" sz="1200" b="1" dirty="0">
                <a:solidFill>
                  <a:srgbClr val="000000"/>
                </a:solidFill>
                <a:latin typeface="맑은 고딕" pitchFamily="50" charset="-127"/>
                <a:ea typeface="맑은 고딕" pitchFamily="50" charset="-127"/>
              </a:rPr>
              <a:t>Data</a:t>
            </a:r>
          </a:p>
        </p:txBody>
      </p:sp>
      <p:sp>
        <p:nvSpPr>
          <p:cNvPr id="6" name="Rectangle 65"/>
          <p:cNvSpPr>
            <a:spLocks noChangeArrowheads="1"/>
          </p:cNvSpPr>
          <p:nvPr/>
        </p:nvSpPr>
        <p:spPr bwMode="auto">
          <a:xfrm>
            <a:off x="570035" y="2365376"/>
            <a:ext cx="1129811" cy="385763"/>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Possibility </a:t>
            </a:r>
          </a:p>
          <a:p>
            <a:pPr algn="ctr">
              <a:lnSpc>
                <a:spcPct val="20000"/>
              </a:lnSpc>
              <a:spcBef>
                <a:spcPct val="50000"/>
              </a:spcBef>
              <a:defRPr/>
            </a:pPr>
            <a:r>
              <a:rPr lang="en-US" altLang="ko-KR" sz="1200" b="1" dirty="0">
                <a:solidFill>
                  <a:srgbClr val="000000"/>
                </a:solidFill>
                <a:latin typeface="맑은 고딕" pitchFamily="50" charset="-127"/>
                <a:ea typeface="맑은 고딕" pitchFamily="50" charset="-127"/>
              </a:rPr>
              <a:t>of Replication</a:t>
            </a:r>
          </a:p>
        </p:txBody>
      </p:sp>
      <p:sp>
        <p:nvSpPr>
          <p:cNvPr id="7" name="Rectangle 66"/>
          <p:cNvSpPr>
            <a:spLocks noChangeArrowheads="1"/>
          </p:cNvSpPr>
          <p:nvPr/>
        </p:nvSpPr>
        <p:spPr bwMode="auto">
          <a:xfrm>
            <a:off x="1846385" y="2354264"/>
            <a:ext cx="1639766"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Crossed Studies</a:t>
            </a:r>
          </a:p>
        </p:txBody>
      </p:sp>
      <p:sp>
        <p:nvSpPr>
          <p:cNvPr id="8" name="Rectangle 67"/>
          <p:cNvSpPr>
            <a:spLocks noChangeArrowheads="1"/>
          </p:cNvSpPr>
          <p:nvPr/>
        </p:nvSpPr>
        <p:spPr bwMode="auto">
          <a:xfrm>
            <a:off x="5301762" y="2354264"/>
            <a:ext cx="1129812"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Crossed Studies</a:t>
            </a:r>
          </a:p>
        </p:txBody>
      </p:sp>
      <p:sp>
        <p:nvSpPr>
          <p:cNvPr id="9" name="Rectangle 68"/>
          <p:cNvSpPr>
            <a:spLocks noChangeArrowheads="1"/>
          </p:cNvSpPr>
          <p:nvPr/>
        </p:nvSpPr>
        <p:spPr bwMode="auto">
          <a:xfrm>
            <a:off x="3552093" y="2352676"/>
            <a:ext cx="1661746"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Nested Studies</a:t>
            </a:r>
          </a:p>
        </p:txBody>
      </p:sp>
      <p:sp>
        <p:nvSpPr>
          <p:cNvPr id="10" name="Rectangle 69"/>
          <p:cNvSpPr>
            <a:spLocks noChangeArrowheads="1"/>
          </p:cNvSpPr>
          <p:nvPr/>
        </p:nvSpPr>
        <p:spPr bwMode="auto">
          <a:xfrm>
            <a:off x="570035" y="3184526"/>
            <a:ext cx="1129811" cy="430213"/>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 Method</a:t>
            </a:r>
          </a:p>
          <a:p>
            <a:pPr algn="ctr">
              <a:lnSpc>
                <a:spcPct val="20000"/>
              </a:lnSpc>
              <a:spcBef>
                <a:spcPct val="50000"/>
              </a:spcBef>
              <a:defRPr/>
            </a:pPr>
            <a:r>
              <a:rPr lang="en-US" altLang="ko-KR" sz="1200" b="1" dirty="0">
                <a:solidFill>
                  <a:srgbClr val="000000"/>
                </a:solidFill>
                <a:latin typeface="맑은 고딕" pitchFamily="50" charset="-127"/>
                <a:ea typeface="맑은 고딕" pitchFamily="50" charset="-127"/>
              </a:rPr>
              <a:t> of Analysis</a:t>
            </a:r>
          </a:p>
        </p:txBody>
      </p:sp>
      <p:sp>
        <p:nvSpPr>
          <p:cNvPr id="11" name="Rectangle 70"/>
          <p:cNvSpPr>
            <a:spLocks noChangeArrowheads="1"/>
          </p:cNvSpPr>
          <p:nvPr/>
        </p:nvSpPr>
        <p:spPr bwMode="auto">
          <a:xfrm>
            <a:off x="1814146" y="3168651"/>
            <a:ext cx="798635" cy="358775"/>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ANOVA</a:t>
            </a:r>
          </a:p>
        </p:txBody>
      </p:sp>
      <p:sp>
        <p:nvSpPr>
          <p:cNvPr id="12" name="Rectangle 71"/>
          <p:cNvSpPr>
            <a:spLocks noChangeArrowheads="1"/>
          </p:cNvSpPr>
          <p:nvPr/>
        </p:nvSpPr>
        <p:spPr bwMode="auto">
          <a:xfrm>
            <a:off x="2672862" y="3167064"/>
            <a:ext cx="798635"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Xbar-R</a:t>
            </a:r>
          </a:p>
        </p:txBody>
      </p:sp>
      <p:sp>
        <p:nvSpPr>
          <p:cNvPr id="13" name="Rectangle 72"/>
          <p:cNvSpPr>
            <a:spLocks noChangeArrowheads="1"/>
          </p:cNvSpPr>
          <p:nvPr/>
        </p:nvSpPr>
        <p:spPr bwMode="auto">
          <a:xfrm>
            <a:off x="3552093" y="3144839"/>
            <a:ext cx="1661746"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ANOVA</a:t>
            </a:r>
          </a:p>
        </p:txBody>
      </p:sp>
      <p:sp>
        <p:nvSpPr>
          <p:cNvPr id="14" name="Rectangle 73"/>
          <p:cNvSpPr>
            <a:spLocks noChangeArrowheads="1"/>
          </p:cNvSpPr>
          <p:nvPr/>
        </p:nvSpPr>
        <p:spPr bwMode="auto">
          <a:xfrm>
            <a:off x="5309089" y="3149601"/>
            <a:ext cx="1119554" cy="358775"/>
          </a:xfrm>
          <a:prstGeom prst="rect">
            <a:avLst/>
          </a:prstGeom>
          <a:no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Significant Test</a:t>
            </a:r>
          </a:p>
        </p:txBody>
      </p:sp>
      <p:cxnSp>
        <p:nvCxnSpPr>
          <p:cNvPr id="15" name="AutoShape 74"/>
          <p:cNvCxnSpPr>
            <a:cxnSpLocks noChangeShapeType="1"/>
            <a:stCxn id="4" idx="2"/>
            <a:endCxn id="7" idx="0"/>
          </p:cNvCxnSpPr>
          <p:nvPr/>
        </p:nvCxnSpPr>
        <p:spPr bwMode="auto">
          <a:xfrm rot="5400000">
            <a:off x="2813722" y="1640804"/>
            <a:ext cx="566738" cy="860181"/>
          </a:xfrm>
          <a:prstGeom prst="bentConnector3">
            <a:avLst>
              <a:gd name="adj1" fmla="val 49861"/>
            </a:avLst>
          </a:prstGeom>
          <a:noFill/>
          <a:ln w="9525">
            <a:solidFill>
              <a:schemeClr val="bg1">
                <a:lumMod val="65000"/>
              </a:schemeClr>
            </a:solidFill>
            <a:miter lim="800000"/>
            <a:headEnd/>
            <a:tailEnd type="triangle" w="med" len="med"/>
          </a:ln>
        </p:spPr>
      </p:cxnSp>
      <p:cxnSp>
        <p:nvCxnSpPr>
          <p:cNvPr id="16" name="AutoShape 75"/>
          <p:cNvCxnSpPr>
            <a:cxnSpLocks noChangeShapeType="1"/>
            <a:stCxn id="4" idx="2"/>
            <a:endCxn id="9" idx="0"/>
          </p:cNvCxnSpPr>
          <p:nvPr/>
        </p:nvCxnSpPr>
        <p:spPr bwMode="auto">
          <a:xfrm rot="16200000" flipH="1">
            <a:off x="3672499" y="1642208"/>
            <a:ext cx="565150" cy="855785"/>
          </a:xfrm>
          <a:prstGeom prst="bentConnector3">
            <a:avLst>
              <a:gd name="adj1" fmla="val 50000"/>
            </a:avLst>
          </a:prstGeom>
          <a:noFill/>
          <a:ln w="9525">
            <a:solidFill>
              <a:schemeClr val="bg1">
                <a:lumMod val="65000"/>
              </a:schemeClr>
            </a:solidFill>
            <a:miter lim="800000"/>
            <a:headEnd/>
            <a:tailEnd type="triangle" w="med" len="med"/>
          </a:ln>
        </p:spPr>
      </p:cxnSp>
      <p:cxnSp>
        <p:nvCxnSpPr>
          <p:cNvPr id="17" name="AutoShape 76"/>
          <p:cNvCxnSpPr>
            <a:cxnSpLocks noChangeShapeType="1"/>
            <a:stCxn id="5" idx="2"/>
            <a:endCxn id="8" idx="0"/>
          </p:cNvCxnSpPr>
          <p:nvPr/>
        </p:nvCxnSpPr>
        <p:spPr bwMode="auto">
          <a:xfrm rot="5400000">
            <a:off x="5584031" y="2070894"/>
            <a:ext cx="566738" cy="0"/>
          </a:xfrm>
          <a:prstGeom prst="straightConnector1">
            <a:avLst/>
          </a:prstGeom>
          <a:noFill/>
          <a:ln w="9525">
            <a:solidFill>
              <a:schemeClr val="bg1">
                <a:lumMod val="65000"/>
              </a:schemeClr>
            </a:solidFill>
            <a:round/>
            <a:headEnd/>
            <a:tailEnd type="triangle" w="med" len="med"/>
          </a:ln>
        </p:spPr>
      </p:cxnSp>
      <p:cxnSp>
        <p:nvCxnSpPr>
          <p:cNvPr id="18" name="AutoShape 77"/>
          <p:cNvCxnSpPr>
            <a:cxnSpLocks noChangeShapeType="1"/>
            <a:stCxn id="8" idx="2"/>
            <a:endCxn id="14" idx="0"/>
          </p:cNvCxnSpPr>
          <p:nvPr/>
        </p:nvCxnSpPr>
        <p:spPr bwMode="auto">
          <a:xfrm rot="16200000" flipH="1">
            <a:off x="5649852" y="2930586"/>
            <a:ext cx="436562" cy="1466"/>
          </a:xfrm>
          <a:prstGeom prst="bentConnector3">
            <a:avLst>
              <a:gd name="adj1" fmla="val 49819"/>
            </a:avLst>
          </a:prstGeom>
          <a:noFill/>
          <a:ln w="9525">
            <a:solidFill>
              <a:schemeClr val="bg1">
                <a:lumMod val="65000"/>
              </a:schemeClr>
            </a:solidFill>
            <a:miter lim="800000"/>
            <a:headEnd/>
            <a:tailEnd type="triangle" w="med" len="med"/>
          </a:ln>
        </p:spPr>
      </p:cxnSp>
      <p:cxnSp>
        <p:nvCxnSpPr>
          <p:cNvPr id="19" name="AutoShape 78"/>
          <p:cNvCxnSpPr>
            <a:cxnSpLocks noChangeShapeType="1"/>
            <a:stCxn id="7" idx="2"/>
            <a:endCxn id="11" idx="0"/>
          </p:cNvCxnSpPr>
          <p:nvPr/>
        </p:nvCxnSpPr>
        <p:spPr bwMode="auto">
          <a:xfrm rot="5400000">
            <a:off x="2212793" y="2714443"/>
            <a:ext cx="455612" cy="452803"/>
          </a:xfrm>
          <a:prstGeom prst="bentConnector3">
            <a:avLst>
              <a:gd name="adj1" fmla="val 49824"/>
            </a:avLst>
          </a:prstGeom>
          <a:noFill/>
          <a:ln w="9525">
            <a:solidFill>
              <a:schemeClr val="bg1">
                <a:lumMod val="65000"/>
              </a:schemeClr>
            </a:solidFill>
            <a:miter lim="800000"/>
            <a:headEnd/>
            <a:tailEnd type="triangle" w="med" len="med"/>
          </a:ln>
        </p:spPr>
      </p:cxnSp>
      <p:cxnSp>
        <p:nvCxnSpPr>
          <p:cNvPr id="20" name="AutoShape 79"/>
          <p:cNvCxnSpPr>
            <a:cxnSpLocks noChangeShapeType="1"/>
            <a:stCxn id="7" idx="2"/>
            <a:endCxn id="12" idx="0"/>
          </p:cNvCxnSpPr>
          <p:nvPr/>
        </p:nvCxnSpPr>
        <p:spPr bwMode="auto">
          <a:xfrm rot="16200000" flipH="1">
            <a:off x="2642944" y="2737095"/>
            <a:ext cx="454025" cy="405912"/>
          </a:xfrm>
          <a:prstGeom prst="bentConnector3">
            <a:avLst>
              <a:gd name="adj1" fmla="val 50000"/>
            </a:avLst>
          </a:prstGeom>
          <a:noFill/>
          <a:ln w="9525">
            <a:solidFill>
              <a:schemeClr val="bg1">
                <a:lumMod val="65000"/>
              </a:schemeClr>
            </a:solidFill>
            <a:miter lim="800000"/>
            <a:headEnd/>
            <a:tailEnd type="triangle" w="med" len="med"/>
          </a:ln>
        </p:spPr>
      </p:cxnSp>
      <p:cxnSp>
        <p:nvCxnSpPr>
          <p:cNvPr id="21" name="AutoShape 80"/>
          <p:cNvCxnSpPr>
            <a:cxnSpLocks noChangeShapeType="1"/>
            <a:stCxn id="9" idx="2"/>
            <a:endCxn id="13" idx="0"/>
          </p:cNvCxnSpPr>
          <p:nvPr/>
        </p:nvCxnSpPr>
        <p:spPr bwMode="auto">
          <a:xfrm rot="5400000">
            <a:off x="4166272" y="2928144"/>
            <a:ext cx="433388" cy="0"/>
          </a:xfrm>
          <a:prstGeom prst="straightConnector1">
            <a:avLst/>
          </a:prstGeom>
          <a:noFill/>
          <a:ln w="9525">
            <a:solidFill>
              <a:schemeClr val="bg1">
                <a:lumMod val="65000"/>
              </a:schemeClr>
            </a:solidFill>
            <a:round/>
            <a:headEnd/>
            <a:tailEnd type="triangle" w="med" len="med"/>
          </a:ln>
        </p:spPr>
      </p:cxnSp>
      <p:sp>
        <p:nvSpPr>
          <p:cNvPr id="22" name="Rectangle 81"/>
          <p:cNvSpPr>
            <a:spLocks noChangeArrowheads="1"/>
          </p:cNvSpPr>
          <p:nvPr/>
        </p:nvSpPr>
        <p:spPr bwMode="auto">
          <a:xfrm>
            <a:off x="570035" y="4108451"/>
            <a:ext cx="1129811" cy="358775"/>
          </a:xfrm>
          <a:prstGeom prst="rect">
            <a:avLst/>
          </a:prstGeom>
          <a:solidFill>
            <a:schemeClr val="bg1"/>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Information</a:t>
            </a:r>
          </a:p>
        </p:txBody>
      </p:sp>
      <p:sp>
        <p:nvSpPr>
          <p:cNvPr id="168983" name="Text Box 82"/>
          <p:cNvSpPr txBox="1">
            <a:spLocks noChangeArrowheads="1"/>
          </p:cNvSpPr>
          <p:nvPr/>
        </p:nvSpPr>
        <p:spPr bwMode="auto">
          <a:xfrm>
            <a:off x="351693" y="4645025"/>
            <a:ext cx="1462454" cy="274638"/>
          </a:xfrm>
          <a:prstGeom prst="rect">
            <a:avLst/>
          </a:prstGeom>
          <a:noFill/>
          <a:ln w="9525" algn="ctr">
            <a:noFill/>
            <a:miter lim="800000"/>
            <a:headEnd/>
            <a:tailEnd/>
          </a:ln>
        </p:spPr>
        <p:txBody>
          <a:bodyPr>
            <a:spAutoFit/>
          </a:bodyPr>
          <a:lstStyle/>
          <a:p>
            <a:pPr algn="r">
              <a:spcBef>
                <a:spcPct val="50000"/>
              </a:spcBef>
            </a:pPr>
            <a:r>
              <a:rPr lang="en-US" altLang="ko-KR" sz="1200" b="1" dirty="0">
                <a:solidFill>
                  <a:srgbClr val="000000"/>
                </a:solidFill>
                <a:latin typeface="맑은 고딕" pitchFamily="50" charset="-127"/>
                <a:ea typeface="맑은 고딕" pitchFamily="50" charset="-127"/>
              </a:rPr>
              <a:t>Repeatability</a:t>
            </a:r>
          </a:p>
        </p:txBody>
      </p:sp>
      <p:sp>
        <p:nvSpPr>
          <p:cNvPr id="168984" name="Text Box 83"/>
          <p:cNvSpPr txBox="1">
            <a:spLocks noChangeArrowheads="1"/>
          </p:cNvSpPr>
          <p:nvPr/>
        </p:nvSpPr>
        <p:spPr bwMode="auto">
          <a:xfrm>
            <a:off x="356089" y="4913314"/>
            <a:ext cx="1462454" cy="960263"/>
          </a:xfrm>
          <a:prstGeom prst="rect">
            <a:avLst/>
          </a:prstGeom>
          <a:noFill/>
          <a:ln w="9525" algn="ctr">
            <a:noFill/>
            <a:miter lim="800000"/>
            <a:headEnd/>
            <a:tailEnd/>
          </a:ln>
        </p:spPr>
        <p:txBody>
          <a:bodyPr>
            <a:spAutoFit/>
          </a:bodyPr>
          <a:lstStyle/>
          <a:p>
            <a:pPr algn="r">
              <a:spcBef>
                <a:spcPct val="50000"/>
              </a:spcBef>
            </a:pPr>
            <a:r>
              <a:rPr lang="en-US" altLang="ko-KR" sz="1200" b="1" dirty="0">
                <a:solidFill>
                  <a:srgbClr val="000000"/>
                </a:solidFill>
                <a:latin typeface="맑은 고딕" pitchFamily="50" charset="-127"/>
                <a:ea typeface="맑은 고딕" pitchFamily="50" charset="-127"/>
              </a:rPr>
              <a:t>Reproducibility</a:t>
            </a:r>
          </a:p>
          <a:p>
            <a:pPr algn="r">
              <a:lnSpc>
                <a:spcPct val="70000"/>
              </a:lnSpc>
              <a:spcBef>
                <a:spcPct val="50000"/>
              </a:spcBef>
            </a:pPr>
            <a:r>
              <a:rPr lang="en-US" altLang="ko-KR" sz="1200" b="1" dirty="0">
                <a:solidFill>
                  <a:srgbClr val="008000"/>
                </a:solidFill>
                <a:latin typeface="맑은 고딕" pitchFamily="50" charset="-127"/>
                <a:ea typeface="맑은 고딕" pitchFamily="50" charset="-127"/>
              </a:rPr>
              <a:t>Operators</a:t>
            </a:r>
          </a:p>
          <a:p>
            <a:pPr algn="r">
              <a:spcBef>
                <a:spcPct val="50000"/>
              </a:spcBef>
            </a:pPr>
            <a:r>
              <a:rPr lang="en-US" altLang="ko-KR" sz="1200" b="1" dirty="0">
                <a:solidFill>
                  <a:srgbClr val="008000"/>
                </a:solidFill>
                <a:latin typeface="맑은 고딕" pitchFamily="50" charset="-127"/>
                <a:ea typeface="맑은 고딕" pitchFamily="50" charset="-127"/>
              </a:rPr>
              <a:t>Operators X Parts</a:t>
            </a:r>
            <a:endParaRPr lang="en-US" altLang="ko-KR" sz="1200" b="1" dirty="0">
              <a:solidFill>
                <a:srgbClr val="008000"/>
              </a:solidFill>
              <a:latin typeface="맑은 고딕" pitchFamily="50" charset="-127"/>
              <a:ea typeface="맑은 고딕" pitchFamily="50" charset="-127"/>
              <a:cs typeface="Arial" pitchFamily="34" charset="0"/>
            </a:endParaRPr>
          </a:p>
        </p:txBody>
      </p:sp>
      <p:sp>
        <p:nvSpPr>
          <p:cNvPr id="25" name="Rectangle 84"/>
          <p:cNvSpPr>
            <a:spLocks noChangeArrowheads="1"/>
          </p:cNvSpPr>
          <p:nvPr/>
        </p:nvSpPr>
        <p:spPr bwMode="auto">
          <a:xfrm>
            <a:off x="1822939" y="3603625"/>
            <a:ext cx="4586654" cy="43338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Graphical Summaries</a:t>
            </a:r>
          </a:p>
        </p:txBody>
      </p:sp>
      <p:sp>
        <p:nvSpPr>
          <p:cNvPr id="26" name="Rectangle 85"/>
          <p:cNvSpPr>
            <a:spLocks noChangeArrowheads="1"/>
          </p:cNvSpPr>
          <p:nvPr/>
        </p:nvSpPr>
        <p:spPr bwMode="auto">
          <a:xfrm>
            <a:off x="1859574" y="4624388"/>
            <a:ext cx="731226"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27" name="Rectangle 86"/>
          <p:cNvSpPr>
            <a:spLocks noChangeArrowheads="1"/>
          </p:cNvSpPr>
          <p:nvPr/>
        </p:nvSpPr>
        <p:spPr bwMode="auto">
          <a:xfrm>
            <a:off x="1859574" y="5167313"/>
            <a:ext cx="731226"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28" name="Rectangle 87"/>
          <p:cNvSpPr>
            <a:spLocks noChangeArrowheads="1"/>
          </p:cNvSpPr>
          <p:nvPr/>
        </p:nvSpPr>
        <p:spPr bwMode="auto">
          <a:xfrm>
            <a:off x="1859574" y="5454650"/>
            <a:ext cx="731226" cy="215900"/>
          </a:xfrm>
          <a:prstGeom prst="rect">
            <a:avLst/>
          </a:prstGeom>
          <a:solidFill>
            <a:schemeClr val="bg1">
              <a:lumMod val="85000"/>
            </a:schemeClr>
          </a:solidFill>
          <a:ln w="12700" algn="ctr">
            <a:solidFill>
              <a:schemeClr val="bg1">
                <a:lumMod val="65000"/>
              </a:schemeClr>
            </a:solidFill>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29" name="Rectangle 88"/>
          <p:cNvSpPr>
            <a:spLocks noChangeArrowheads="1"/>
          </p:cNvSpPr>
          <p:nvPr/>
        </p:nvSpPr>
        <p:spPr bwMode="auto">
          <a:xfrm>
            <a:off x="2662605" y="4624388"/>
            <a:ext cx="731226"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0" name="Rectangle 89"/>
          <p:cNvSpPr>
            <a:spLocks noChangeArrowheads="1"/>
          </p:cNvSpPr>
          <p:nvPr/>
        </p:nvSpPr>
        <p:spPr bwMode="auto">
          <a:xfrm>
            <a:off x="2662605" y="5167313"/>
            <a:ext cx="731226"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1" name="Rectangle 90"/>
          <p:cNvSpPr>
            <a:spLocks noChangeArrowheads="1"/>
          </p:cNvSpPr>
          <p:nvPr/>
        </p:nvSpPr>
        <p:spPr bwMode="auto">
          <a:xfrm>
            <a:off x="2662605" y="5454650"/>
            <a:ext cx="731226" cy="21590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a:t>
            </a:r>
          </a:p>
        </p:txBody>
      </p:sp>
      <p:sp>
        <p:nvSpPr>
          <p:cNvPr id="32" name="Rectangle 91"/>
          <p:cNvSpPr>
            <a:spLocks noChangeArrowheads="1"/>
          </p:cNvSpPr>
          <p:nvPr/>
        </p:nvSpPr>
        <p:spPr bwMode="auto">
          <a:xfrm>
            <a:off x="3591658" y="4622800"/>
            <a:ext cx="1554773" cy="21113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3" name="Rectangle 92"/>
          <p:cNvSpPr>
            <a:spLocks noChangeArrowheads="1"/>
          </p:cNvSpPr>
          <p:nvPr/>
        </p:nvSpPr>
        <p:spPr bwMode="auto">
          <a:xfrm>
            <a:off x="3591658" y="5165725"/>
            <a:ext cx="1554773" cy="211138"/>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4" name="Rectangle 93"/>
          <p:cNvSpPr>
            <a:spLocks noChangeArrowheads="1"/>
          </p:cNvSpPr>
          <p:nvPr/>
        </p:nvSpPr>
        <p:spPr bwMode="auto">
          <a:xfrm>
            <a:off x="3591658" y="5453064"/>
            <a:ext cx="1554773" cy="211137"/>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a:t>
            </a:r>
          </a:p>
        </p:txBody>
      </p:sp>
      <p:sp>
        <p:nvSpPr>
          <p:cNvPr id="35" name="Rectangle 94"/>
          <p:cNvSpPr>
            <a:spLocks noChangeArrowheads="1"/>
          </p:cNvSpPr>
          <p:nvPr/>
        </p:nvSpPr>
        <p:spPr bwMode="auto">
          <a:xfrm>
            <a:off x="5402874" y="4591050"/>
            <a:ext cx="961292"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6" name="Rectangle 95"/>
          <p:cNvSpPr>
            <a:spLocks noChangeArrowheads="1"/>
          </p:cNvSpPr>
          <p:nvPr/>
        </p:nvSpPr>
        <p:spPr bwMode="auto">
          <a:xfrm>
            <a:off x="5402874" y="5133975"/>
            <a:ext cx="961292"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O</a:t>
            </a:r>
          </a:p>
        </p:txBody>
      </p:sp>
      <p:sp>
        <p:nvSpPr>
          <p:cNvPr id="37" name="Rectangle 96"/>
          <p:cNvSpPr>
            <a:spLocks noChangeArrowheads="1"/>
          </p:cNvSpPr>
          <p:nvPr/>
        </p:nvSpPr>
        <p:spPr bwMode="auto">
          <a:xfrm>
            <a:off x="5402874" y="5421313"/>
            <a:ext cx="961292" cy="209550"/>
          </a:xfrm>
          <a:prstGeom prst="rect">
            <a:avLst/>
          </a:prstGeom>
          <a:solidFill>
            <a:srgbClr val="FFFFFF"/>
          </a:solidFill>
          <a:ln w="12700" algn="ctr">
            <a:solidFill>
              <a:schemeClr val="bg1">
                <a:lumMod val="65000"/>
              </a:schemeClr>
            </a:solidFill>
            <a:prstDash val="dash"/>
            <a:miter lim="800000"/>
            <a:headEnd/>
            <a:tailEnd/>
          </a:ln>
        </p:spPr>
        <p:txBody>
          <a:bodyPr wrap="none" anchor="ctr"/>
          <a:lstStyle/>
          <a:p>
            <a:pPr algn="ctr">
              <a:spcBef>
                <a:spcPct val="50000"/>
              </a:spcBef>
              <a:defRPr/>
            </a:pPr>
            <a:r>
              <a:rPr lang="en-US" altLang="ko-KR" sz="1200" b="1" dirty="0">
                <a:solidFill>
                  <a:srgbClr val="000000"/>
                </a:solidFill>
                <a:latin typeface="맑은 고딕" pitchFamily="50" charset="-127"/>
                <a:ea typeface="맑은 고딕" pitchFamily="50" charset="-127"/>
              </a:rPr>
              <a:t>X</a:t>
            </a:r>
          </a:p>
        </p:txBody>
      </p:sp>
      <p:sp>
        <p:nvSpPr>
          <p:cNvPr id="38" name="Line 97"/>
          <p:cNvSpPr>
            <a:spLocks noChangeShapeType="1"/>
          </p:cNvSpPr>
          <p:nvPr/>
        </p:nvSpPr>
        <p:spPr bwMode="auto">
          <a:xfrm>
            <a:off x="1732085" y="4918075"/>
            <a:ext cx="4652597" cy="0"/>
          </a:xfrm>
          <a:prstGeom prst="line">
            <a:avLst/>
          </a:prstGeom>
          <a:noFill/>
          <a:ln w="19050">
            <a:solidFill>
              <a:schemeClr val="bg1">
                <a:lumMod val="65000"/>
              </a:schemeClr>
            </a:solidFill>
            <a:prstDash val="sysDot"/>
            <a:round/>
            <a:headEnd/>
            <a:tailEnd/>
          </a:ln>
        </p:spPr>
        <p:txBody>
          <a:bodyPr anchor="ctr"/>
          <a:lstStyle/>
          <a:p>
            <a:pPr algn="ctr">
              <a:defRPr/>
            </a:pPr>
            <a:endParaRPr lang="ko-KR" altLang="en-US" sz="1000" dirty="0">
              <a:solidFill>
                <a:srgbClr val="000000"/>
              </a:solidFill>
              <a:latin typeface="맑은 고딕" pitchFamily="50" charset="-127"/>
              <a:ea typeface="맑은 고딕" pitchFamily="50" charset="-127"/>
            </a:endParaRPr>
          </a:p>
        </p:txBody>
      </p:sp>
      <p:cxnSp>
        <p:nvCxnSpPr>
          <p:cNvPr id="39" name="AutoShape 98"/>
          <p:cNvCxnSpPr>
            <a:cxnSpLocks noChangeShapeType="1"/>
            <a:stCxn id="3" idx="2"/>
            <a:endCxn id="6" idx="0"/>
          </p:cNvCxnSpPr>
          <p:nvPr/>
        </p:nvCxnSpPr>
        <p:spPr bwMode="auto">
          <a:xfrm>
            <a:off x="1129812" y="1866901"/>
            <a:ext cx="5862" cy="498475"/>
          </a:xfrm>
          <a:prstGeom prst="straightConnector1">
            <a:avLst/>
          </a:prstGeom>
          <a:noFill/>
          <a:ln w="9525">
            <a:solidFill>
              <a:schemeClr val="bg1">
                <a:lumMod val="65000"/>
              </a:schemeClr>
            </a:solidFill>
            <a:round/>
            <a:headEnd/>
            <a:tailEnd type="triangle" w="med" len="med"/>
          </a:ln>
        </p:spPr>
      </p:cxnSp>
      <p:cxnSp>
        <p:nvCxnSpPr>
          <p:cNvPr id="40" name="AutoShape 99"/>
          <p:cNvCxnSpPr>
            <a:cxnSpLocks noChangeShapeType="1"/>
            <a:stCxn id="6" idx="2"/>
            <a:endCxn id="10" idx="0"/>
          </p:cNvCxnSpPr>
          <p:nvPr/>
        </p:nvCxnSpPr>
        <p:spPr bwMode="auto">
          <a:xfrm rot="5400000">
            <a:off x="918980" y="2967832"/>
            <a:ext cx="433387" cy="0"/>
          </a:xfrm>
          <a:prstGeom prst="straightConnector1">
            <a:avLst/>
          </a:prstGeom>
          <a:noFill/>
          <a:ln w="9525">
            <a:solidFill>
              <a:schemeClr val="bg1">
                <a:lumMod val="65000"/>
              </a:schemeClr>
            </a:solidFill>
            <a:round/>
            <a:headEnd/>
            <a:tailEnd type="triangle" w="med" len="med"/>
          </a:ln>
        </p:spPr>
      </p:cxnSp>
      <p:cxnSp>
        <p:nvCxnSpPr>
          <p:cNvPr id="41" name="AutoShape 100"/>
          <p:cNvCxnSpPr>
            <a:cxnSpLocks noChangeShapeType="1"/>
            <a:stCxn id="10" idx="2"/>
            <a:endCxn id="22" idx="0"/>
          </p:cNvCxnSpPr>
          <p:nvPr/>
        </p:nvCxnSpPr>
        <p:spPr bwMode="auto">
          <a:xfrm rot="5400000">
            <a:off x="888818" y="3861594"/>
            <a:ext cx="493712" cy="0"/>
          </a:xfrm>
          <a:prstGeom prst="straightConnector1">
            <a:avLst/>
          </a:prstGeom>
          <a:noFill/>
          <a:ln w="9525">
            <a:solidFill>
              <a:schemeClr val="bg1">
                <a:lumMod val="65000"/>
              </a:schemeClr>
            </a:solidFill>
            <a:round/>
            <a:headEnd/>
            <a:tailEnd type="triangle" w="med" len="med"/>
          </a:ln>
        </p:spPr>
      </p:cxnSp>
      <p:sp>
        <p:nvSpPr>
          <p:cNvPr id="42" name="TextBox 41"/>
          <p:cNvSpPr txBox="1"/>
          <p:nvPr/>
        </p:nvSpPr>
        <p:spPr>
          <a:xfrm>
            <a:off x="251520" y="866552"/>
            <a:ext cx="8462597" cy="329321"/>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Phương</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pháp</a:t>
            </a:r>
            <a:r>
              <a:rPr lang="en-US" altLang="ko-KR" sz="1400" b="1" kern="0" dirty="0">
                <a:solidFill>
                  <a:srgbClr val="000000"/>
                </a:solidFill>
                <a:latin typeface="맑은 고딕" pitchFamily="50" charset="-127"/>
                <a:ea typeface="맑은 고딕" pitchFamily="50" charset="-127"/>
              </a:rPr>
              <a:t> Gage R&amp;R </a:t>
            </a:r>
            <a:r>
              <a:rPr lang="en-US" altLang="ko-KR" sz="1400" b="1" kern="0" dirty="0" err="1">
                <a:solidFill>
                  <a:srgbClr val="000000"/>
                </a:solidFill>
                <a:latin typeface="맑은 고딕" pitchFamily="50" charset="-127"/>
                <a:ea typeface="맑은 고딕" pitchFamily="50" charset="-127"/>
              </a:rPr>
              <a:t>theo</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phương</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pháp</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thiết</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lập</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dữ</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liệu</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và</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hình</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thái</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đo</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đạc</a:t>
            </a:r>
            <a:endParaRPr kumimoji="0" lang="ko-KR" altLang="en-US" sz="1400" kern="0" dirty="0">
              <a:solidFill>
                <a:srgbClr val="000000"/>
              </a:solidFill>
              <a:latin typeface="맑은 고딕" pitchFamily="50" charset="-127"/>
              <a:ea typeface="맑은 고딕" pitchFamily="50" charset="-127"/>
            </a:endParaRPr>
          </a:p>
        </p:txBody>
      </p:sp>
      <p:sp>
        <p:nvSpPr>
          <p:cNvPr id="169003" name="Text Box 40"/>
          <p:cNvSpPr txBox="1">
            <a:spLocks noChangeArrowheads="1"/>
          </p:cNvSpPr>
          <p:nvPr/>
        </p:nvSpPr>
        <p:spPr bwMode="auto">
          <a:xfrm>
            <a:off x="6480720" y="1628800"/>
            <a:ext cx="2627784" cy="3308598"/>
          </a:xfrm>
          <a:prstGeom prst="rect">
            <a:avLst/>
          </a:prstGeom>
          <a:noFill/>
          <a:ln w="9525" algn="ctr">
            <a:noFill/>
            <a:miter lim="800000"/>
            <a:headEnd/>
            <a:tailEnd/>
          </a:ln>
        </p:spPr>
        <p:txBody>
          <a:bodyPr wrap="square">
            <a:spAutoFit/>
          </a:bodyPr>
          <a:lstStyle/>
          <a:p>
            <a:pPr algn="ctr">
              <a:lnSpc>
                <a:spcPct val="110000"/>
              </a:lnSpc>
            </a:pPr>
            <a:r>
              <a:rPr lang="en-US" altLang="ko-KR" sz="1000" b="1" dirty="0">
                <a:solidFill>
                  <a:srgbClr val="0000FF"/>
                </a:solidFill>
                <a:latin typeface="맑은 고딕" pitchFamily="50" charset="-127"/>
                <a:ea typeface="맑은 고딕" pitchFamily="50" charset="-127"/>
              </a:rPr>
              <a:t>Gage R&amp;R Studies</a:t>
            </a:r>
          </a:p>
          <a:p>
            <a:pPr>
              <a:lnSpc>
                <a:spcPct val="110000"/>
              </a:lnSpc>
            </a:pPr>
            <a:r>
              <a:rPr lang="en-US" altLang="ko-KR" sz="1000" dirty="0">
                <a:solidFill>
                  <a:srgbClr val="000000"/>
                </a:solidFill>
                <a:latin typeface="맑은 고딕" pitchFamily="50" charset="-127"/>
                <a:ea typeface="맑은 고딕" pitchFamily="50" charset="-127"/>
              </a:rPr>
              <a:t> - Gage R&amp;R Studies </a:t>
            </a:r>
            <a:r>
              <a:rPr lang="en-US" altLang="ko-KR" sz="1000" dirty="0" err="1">
                <a:solidFill>
                  <a:srgbClr val="000000"/>
                </a:solidFill>
                <a:latin typeface="맑은 고딕" pitchFamily="50" charset="-127"/>
                <a:ea typeface="맑은 고딕" pitchFamily="50" charset="-127"/>
              </a:rPr>
              <a:t>là</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cuộc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thử</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nghiệm</a:t>
            </a:r>
            <a:endParaRPr lang="en-US" altLang="ko-KR" sz="1000" dirty="0">
              <a:solidFill>
                <a:srgbClr val="000000"/>
              </a:solidFill>
              <a:latin typeface="맑은 고딕" pitchFamily="50" charset="-127"/>
              <a:ea typeface="맑은 고딕" pitchFamily="50" charset="-127"/>
            </a:endParaRPr>
          </a:p>
          <a:p>
            <a:pPr>
              <a:lnSpc>
                <a:spcPct val="110000"/>
              </a:lnSpc>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Việc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kiểm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soát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môi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trường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và</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quản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lý</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là</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điều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quan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trọng</a:t>
            </a:r>
            <a:endParaRPr lang="en-US" altLang="ko-KR" sz="1000" dirty="0">
              <a:solidFill>
                <a:srgbClr val="000000"/>
              </a:solidFill>
              <a:latin typeface="맑은 고딕" pitchFamily="50" charset="-127"/>
              <a:ea typeface="맑은 고딕" pitchFamily="50" charset="-127"/>
            </a:endParaRPr>
          </a:p>
          <a:p>
            <a:pPr>
              <a:lnSpc>
                <a:spcPct val="110000"/>
              </a:lnSpc>
            </a:pPr>
            <a:endParaRPr lang="ko-KR" altLang="en-US" sz="1000" dirty="0">
              <a:solidFill>
                <a:srgbClr val="000000"/>
              </a:solidFill>
              <a:latin typeface="맑은 고딕" pitchFamily="50" charset="-127"/>
              <a:ea typeface="맑은 고딕" pitchFamily="50" charset="-127"/>
            </a:endParaRPr>
          </a:p>
          <a:p>
            <a:pPr algn="ctr">
              <a:lnSpc>
                <a:spcPct val="110000"/>
              </a:lnSpc>
            </a:pPr>
            <a:r>
              <a:rPr lang="en-US" altLang="ko-KR" sz="1000" b="1" dirty="0">
                <a:solidFill>
                  <a:srgbClr val="0000FF"/>
                </a:solidFill>
                <a:latin typeface="맑은 고딕" pitchFamily="50" charset="-127"/>
                <a:ea typeface="맑은 고딕" pitchFamily="50" charset="-127"/>
              </a:rPr>
              <a:t>Crossed </a:t>
            </a:r>
          </a:p>
          <a:p>
            <a:pPr>
              <a:lnSpc>
                <a:spcPct val="110000"/>
              </a:lnSpc>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Trường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hợp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cùng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một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thử</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nghiệm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cùng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một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linh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kiện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cùng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dụng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cụ</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những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người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đánh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giá</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có</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thể</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tiến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hành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đạc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lặp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lại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nhiều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lần</a:t>
            </a:r>
            <a:endParaRPr lang="en-US" altLang="ko-KR" sz="1000" dirty="0">
              <a:solidFill>
                <a:srgbClr val="000000"/>
              </a:solidFill>
              <a:latin typeface="맑은 고딕" pitchFamily="50" charset="-127"/>
              <a:ea typeface="맑은 고딕" pitchFamily="50" charset="-127"/>
            </a:endParaRPr>
          </a:p>
          <a:p>
            <a:pPr>
              <a:lnSpc>
                <a:spcPct val="110000"/>
              </a:lnSpc>
            </a:pPr>
            <a:endParaRPr lang="ko-KR" altLang="en-US" sz="1000" dirty="0">
              <a:solidFill>
                <a:srgbClr val="000000"/>
              </a:solidFill>
              <a:latin typeface="맑은 고딕" pitchFamily="50" charset="-127"/>
              <a:ea typeface="맑은 고딕" pitchFamily="50" charset="-127"/>
            </a:endParaRPr>
          </a:p>
          <a:p>
            <a:pPr algn="ctr">
              <a:lnSpc>
                <a:spcPct val="110000"/>
              </a:lnSpc>
            </a:pPr>
            <a:r>
              <a:rPr lang="en-US" altLang="ko-KR" sz="1000" b="1" dirty="0">
                <a:solidFill>
                  <a:srgbClr val="0000FF"/>
                </a:solidFill>
                <a:latin typeface="맑은 고딕" pitchFamily="50" charset="-127"/>
                <a:ea typeface="맑은 고딕" pitchFamily="50" charset="-127"/>
              </a:rPr>
              <a:t>Nested </a:t>
            </a:r>
          </a:p>
          <a:p>
            <a:pPr>
              <a:lnSpc>
                <a:spcPct val="110000"/>
              </a:lnSpc>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Trường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hợp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cùng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một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thử</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nghiệm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cùng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một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linh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kiện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cùng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dụng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cụ</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Những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người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đánh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giá</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không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thể</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tiến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hành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đạc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lặp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lại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nhiều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lần</a:t>
            </a:r>
            <a:endParaRPr lang="en-US" altLang="ko-KR"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(VD) </a:t>
            </a:r>
            <a:r>
              <a:rPr lang="en-US" altLang="ko-KR" sz="1000" dirty="0" err="1">
                <a:solidFill>
                  <a:srgbClr val="000000"/>
                </a:solidFill>
                <a:latin typeface="맑은 고딕" pitchFamily="50" charset="-127"/>
                <a:ea typeface="맑은 고딕" pitchFamily="50" charset="-127"/>
              </a:rPr>
              <a:t>Kiểm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tra</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phá</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hỏng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trường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hợp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không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thể</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tìm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được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vật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thí</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nghiệm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đồng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nhất</a:t>
            </a:r>
            <a:endParaRPr lang="en-US" altLang="ko-KR" sz="1000" dirty="0">
              <a:solidFill>
                <a:srgbClr val="000000"/>
              </a:solidFill>
              <a:latin typeface="맑은 고딕" pitchFamily="50" charset="-127"/>
              <a:ea typeface="맑은 고딕" pitchFamily="50" charset="-127"/>
            </a:endParaRPr>
          </a:p>
        </p:txBody>
      </p:sp>
      <p:sp>
        <p:nvSpPr>
          <p:cNvPr id="44" name="자유형 43"/>
          <p:cNvSpPr/>
          <p:nvPr/>
        </p:nvSpPr>
        <p:spPr bwMode="auto">
          <a:xfrm>
            <a:off x="4003431" y="5727700"/>
            <a:ext cx="2045677" cy="166688"/>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sz="1000" dirty="0">
              <a:solidFill>
                <a:srgbClr val="000000"/>
              </a:solidFill>
              <a:latin typeface="Arial" charset="0"/>
              <a:ea typeface="굴림" charset="-127"/>
            </a:endParaRPr>
          </a:p>
        </p:txBody>
      </p:sp>
      <p:sp>
        <p:nvSpPr>
          <p:cNvPr id="169006" name="TextBox 45"/>
          <p:cNvSpPr txBox="1">
            <a:spLocks noChangeArrowheads="1"/>
          </p:cNvSpPr>
          <p:nvPr/>
        </p:nvSpPr>
        <p:spPr bwMode="auto">
          <a:xfrm>
            <a:off x="2812074" y="5897563"/>
            <a:ext cx="788999" cy="276999"/>
          </a:xfrm>
          <a:prstGeom prst="rect">
            <a:avLst/>
          </a:prstGeom>
          <a:noFill/>
          <a:ln w="9525">
            <a:noFill/>
            <a:miter lim="800000"/>
            <a:headEnd/>
            <a:tailEnd/>
          </a:ln>
        </p:spPr>
        <p:txBody>
          <a:bodyPr wrap="none">
            <a:spAutoFit/>
          </a:bodyPr>
          <a:lstStyle/>
          <a:p>
            <a:r>
              <a:rPr lang="en-US" altLang="ko-KR" sz="1200" dirty="0" err="1">
                <a:solidFill>
                  <a:srgbClr val="000000"/>
                </a:solidFill>
                <a:latin typeface="맑은 고딕" pitchFamily="50" charset="-127"/>
                <a:ea typeface="맑은 고딕" pitchFamily="50" charset="-127"/>
              </a:rPr>
              <a:t>Ngoại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lệ</a:t>
            </a:r>
            <a:endParaRPr lang="ko-KR" altLang="en-US" sz="1200" dirty="0">
              <a:solidFill>
                <a:srgbClr val="000000"/>
              </a:solidFill>
              <a:latin typeface="맑은 고딕" pitchFamily="50" charset="-127"/>
              <a:ea typeface="맑은 고딕" pitchFamily="50" charset="-127"/>
            </a:endParaRPr>
          </a:p>
        </p:txBody>
      </p:sp>
      <p:sp>
        <p:nvSpPr>
          <p:cNvPr id="23" name="슬라이드 번호 개체 틀 22"/>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31</a:t>
            </a:fld>
            <a:endParaRPr lang="ko-KR" altLang="en-US" dirty="0"/>
          </a:p>
        </p:txBody>
      </p:sp>
      <p:sp>
        <p:nvSpPr>
          <p:cNvPr id="47"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1704264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785794"/>
            <a:ext cx="8280889" cy="309252"/>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Gage R&amp;R Design Precautions and Measurement methods</a:t>
            </a:r>
            <a:endParaRPr kumimoji="0" lang="ko-KR" altLang="en-US" sz="1400" b="1" kern="0" dirty="0">
              <a:solidFill>
                <a:srgbClr val="000000"/>
              </a:solidFill>
              <a:latin typeface="맑은 고딕" pitchFamily="50" charset="-127"/>
              <a:ea typeface="맑은 고딕" pitchFamily="50" charset="-127"/>
            </a:endParaRPr>
          </a:p>
        </p:txBody>
      </p:sp>
      <p:sp>
        <p:nvSpPr>
          <p:cNvPr id="169988" name="TextBox 3"/>
          <p:cNvSpPr txBox="1">
            <a:spLocks noChangeArrowheads="1"/>
          </p:cNvSpPr>
          <p:nvPr/>
        </p:nvSpPr>
        <p:spPr bwMode="auto">
          <a:xfrm>
            <a:off x="681404" y="1049521"/>
            <a:ext cx="1403654" cy="307777"/>
          </a:xfrm>
          <a:prstGeom prst="rect">
            <a:avLst/>
          </a:prstGeom>
          <a:noFill/>
          <a:ln w="9525">
            <a:noFill/>
            <a:miter lim="800000"/>
            <a:headEnd/>
            <a:tailEnd/>
          </a:ln>
        </p:spPr>
        <p:txBody>
          <a:bodyPr wrap="none">
            <a:spAutoFit/>
          </a:bodyPr>
          <a:lstStyle/>
          <a:p>
            <a:pPr>
              <a:buFont typeface="Wingdings" pitchFamily="2" charset="2"/>
              <a:buChar char="v"/>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Precautions</a:t>
            </a:r>
            <a:endParaRPr lang="ko-KR" altLang="en-US" sz="1400" b="1" dirty="0">
              <a:solidFill>
                <a:srgbClr val="000000"/>
              </a:solidFill>
              <a:latin typeface="맑은 고딕" pitchFamily="50" charset="-127"/>
              <a:ea typeface="맑은 고딕" pitchFamily="50" charset="-127"/>
            </a:endParaRPr>
          </a:p>
        </p:txBody>
      </p:sp>
      <p:graphicFrame>
        <p:nvGraphicFramePr>
          <p:cNvPr id="5" name="표 4"/>
          <p:cNvGraphicFramePr>
            <a:graphicFrameLocks noGrp="1"/>
          </p:cNvGraphicFramePr>
          <p:nvPr>
            <p:extLst>
              <p:ext uri="{D42A27DB-BD31-4B8C-83A1-F6EECF244321}">
                <p14:modId xmlns:p14="http://schemas.microsoft.com/office/powerpoint/2010/main" val="4116250693"/>
              </p:ext>
            </p:extLst>
          </p:nvPr>
        </p:nvGraphicFramePr>
        <p:xfrm>
          <a:off x="785786" y="1428736"/>
          <a:ext cx="7936883" cy="4575369"/>
        </p:xfrm>
        <a:graphic>
          <a:graphicData uri="http://schemas.openxmlformats.org/drawingml/2006/table">
            <a:tbl>
              <a:tblPr firstRow="1" bandRow="1">
                <a:tableStyleId>{5C22544A-7EE6-4342-B048-85BDC9FD1C3A}</a:tableStyleId>
              </a:tblPr>
              <a:tblGrid>
                <a:gridCol w="1217149">
                  <a:extLst>
                    <a:ext uri="{9D8B030D-6E8A-4147-A177-3AD203B41FA5}">
                      <a16:colId xmlns:a16="http://schemas.microsoft.com/office/drawing/2014/main" val="20000"/>
                    </a:ext>
                  </a:extLst>
                </a:gridCol>
                <a:gridCol w="6719734">
                  <a:extLst>
                    <a:ext uri="{9D8B030D-6E8A-4147-A177-3AD203B41FA5}">
                      <a16:colId xmlns:a16="http://schemas.microsoft.com/office/drawing/2014/main" val="20001"/>
                    </a:ext>
                  </a:extLst>
                </a:gridCol>
              </a:tblGrid>
              <a:tr h="289208">
                <a:tc>
                  <a:txBody>
                    <a:bodyPr/>
                    <a:lstStyle/>
                    <a:p>
                      <a:pPr algn="ctr"/>
                      <a:r>
                        <a:rPr lang="en-US" altLang="ko-KR" sz="1400" b="1" dirty="0">
                          <a:solidFill>
                            <a:schemeClr val="tx1"/>
                          </a:solidFill>
                          <a:latin typeface="맑은 고딕" pitchFamily="50" charset="-127"/>
                          <a:ea typeface="맑은 고딕" pitchFamily="50" charset="-127"/>
                        </a:rPr>
                        <a:t>Item</a:t>
                      </a:r>
                      <a:endParaRPr lang="en-US" sz="14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b="1" dirty="0">
                          <a:solidFill>
                            <a:schemeClr val="tx1"/>
                          </a:solidFill>
                          <a:latin typeface="맑은 고딕" pitchFamily="50" charset="-127"/>
                          <a:ea typeface="맑은 고딕" pitchFamily="50" charset="-127"/>
                        </a:rPr>
                        <a:t>Detail</a:t>
                      </a: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203940">
                <a:tc>
                  <a:txBody>
                    <a:bodyPr/>
                    <a:lstStyle/>
                    <a:p>
                      <a:pPr algn="ctr"/>
                      <a:r>
                        <a:rPr lang="en-US" altLang="ko-KR" sz="1200" b="1" dirty="0">
                          <a:solidFill>
                            <a:schemeClr val="tx1"/>
                          </a:solidFill>
                          <a:latin typeface="맑은 고딕" pitchFamily="50" charset="-127"/>
                          <a:ea typeface="맑은 고딕" pitchFamily="50" charset="-127"/>
                        </a:rPr>
                        <a:t>Sample selection</a:t>
                      </a:r>
                      <a:endParaRPr lang="en-US" sz="12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28600" indent="-228600">
                        <a:buAutoNum type="arabicParenR"/>
                      </a:pPr>
                      <a:r>
                        <a:rPr lang="en-US" altLang="ko-KR" sz="1200" b="1" dirty="0">
                          <a:solidFill>
                            <a:schemeClr val="tx1"/>
                          </a:solidFill>
                          <a:latin typeface="맑은 고딕" pitchFamily="50" charset="-127"/>
                          <a:ea typeface="맑은 고딕" pitchFamily="50" charset="-127"/>
                        </a:rPr>
                        <a:t>A sample which</a:t>
                      </a:r>
                      <a:r>
                        <a:rPr lang="en-US" altLang="ko-KR" sz="1200" b="1" baseline="0" dirty="0">
                          <a:solidFill>
                            <a:schemeClr val="tx1"/>
                          </a:solidFill>
                          <a:latin typeface="맑은 고딕" pitchFamily="50" charset="-127"/>
                          <a:ea typeface="맑은 고딕" pitchFamily="50" charset="-127"/>
                        </a:rPr>
                        <a:t> contains the entire spec or the dispersion of the process should be selected</a:t>
                      </a:r>
                      <a:endParaRPr lang="en-US" altLang="ko-KR" sz="1200" b="1" dirty="0">
                        <a:solidFill>
                          <a:schemeClr val="tx1"/>
                        </a:solidFill>
                        <a:latin typeface="맑은 고딕" pitchFamily="50" charset="-127"/>
                        <a:ea typeface="맑은 고딕" pitchFamily="50" charset="-127"/>
                      </a:endParaRPr>
                    </a:p>
                    <a:p>
                      <a:pPr marL="228600" marR="0" indent="-228600" algn="l" defTabSz="914400" rtl="0" eaLnBrk="1" fontAlgn="auto" latinLnBrk="1" hangingPunct="1">
                        <a:lnSpc>
                          <a:spcPct val="100000"/>
                        </a:lnSpc>
                        <a:spcBef>
                          <a:spcPts val="0"/>
                        </a:spcBef>
                        <a:spcAft>
                          <a:spcPts val="0"/>
                        </a:spcAft>
                        <a:buClrTx/>
                        <a:buSzTx/>
                        <a:buFontTx/>
                        <a:buNone/>
                        <a:tabLst/>
                        <a:defRPr/>
                      </a:pPr>
                      <a:r>
                        <a:rPr kumimoji="0" lang="en-US" altLang="ko-KR" sz="1200" b="1" kern="0" dirty="0">
                          <a:solidFill>
                            <a:schemeClr val="tx1"/>
                          </a:solidFill>
                          <a:latin typeface="맑은 고딕" pitchFamily="50" charset="-127"/>
                          <a:ea typeface="맑은 고딕" pitchFamily="50" charset="-127"/>
                        </a:rPr>
                        <a:t>   </a:t>
                      </a:r>
                      <a:r>
                        <a:rPr kumimoji="0" lang="ko-KR" altLang="en-US" sz="1200" kern="0" dirty="0">
                          <a:solidFill>
                            <a:sysClr val="windowText" lastClr="000000"/>
                          </a:solidFill>
                          <a:latin typeface="맑은 고딕" pitchFamily="50" charset="-127"/>
                          <a:ea typeface="맑은 고딕" pitchFamily="50" charset="-127"/>
                        </a:rPr>
                        <a:t> </a:t>
                      </a:r>
                      <a:r>
                        <a:rPr kumimoji="0" lang="en-US" altLang="ko-KR" sz="1200" kern="0" dirty="0">
                          <a:solidFill>
                            <a:sysClr val="windowText" lastClr="000000"/>
                          </a:solidFill>
                          <a:latin typeface="맑은 고딕" pitchFamily="50" charset="-127"/>
                          <a:ea typeface="맑은 고딕" pitchFamily="50" charset="-127"/>
                        </a:rPr>
                        <a:t>-</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dirty="0">
                          <a:solidFill>
                            <a:sysClr val="windowText" lastClr="000000"/>
                          </a:solidFill>
                          <a:latin typeface="맑은 고딕" pitchFamily="50" charset="-127"/>
                          <a:ea typeface="맑은 고딕" pitchFamily="50" charset="-127"/>
                        </a:rPr>
                        <a:t>Normally ± 10 to 20% is recommended, but it should be selected considering      </a:t>
                      </a:r>
                    </a:p>
                    <a:p>
                      <a:pPr marL="228600" marR="0" indent="-228600" algn="l" defTabSz="914400" rtl="0" eaLnBrk="1" fontAlgn="auto" latinLnBrk="1" hangingPunct="1">
                        <a:lnSpc>
                          <a:spcPct val="100000"/>
                        </a:lnSpc>
                        <a:spcBef>
                          <a:spcPts val="0"/>
                        </a:spcBef>
                        <a:spcAft>
                          <a:spcPts val="0"/>
                        </a:spcAft>
                        <a:buClrTx/>
                        <a:buSzTx/>
                        <a:buFontTx/>
                        <a:buNone/>
                        <a:tabLst/>
                        <a:defRPr/>
                      </a:pPr>
                      <a:r>
                        <a:rPr kumimoji="0" lang="en-US" altLang="ko-KR" sz="1200" kern="0" dirty="0">
                          <a:solidFill>
                            <a:sysClr val="windowText" lastClr="000000"/>
                          </a:solidFill>
                          <a:latin typeface="맑은 고딕" pitchFamily="50" charset="-127"/>
                          <a:ea typeface="맑은 고딕" pitchFamily="50" charset="-127"/>
                        </a:rPr>
                        <a:t>      the current state of the goods in stock!</a:t>
                      </a:r>
                    </a:p>
                    <a:p>
                      <a:pPr marL="228600" indent="-228600">
                        <a:buNone/>
                      </a:pPr>
                      <a:r>
                        <a:rPr kumimoji="0" lang="en-US" altLang="ko-KR" sz="1200" kern="0" baseline="0" dirty="0">
                          <a:solidFill>
                            <a:sysClr val="windowText" lastClr="000000"/>
                          </a:solidFill>
                          <a:latin typeface="맑은 고딕" pitchFamily="50" charset="-127"/>
                          <a:ea typeface="맑은 고딕" pitchFamily="50" charset="-127"/>
                        </a:rPr>
                        <a:t>      </a:t>
                      </a:r>
                      <a:r>
                        <a:rPr lang="en-US" sz="1200" dirty="0"/>
                        <a:t>For example, if the stock is usually in the Spec ± 30% range, Spec ± 30%!</a:t>
                      </a:r>
                      <a:endParaRPr kumimoji="0" lang="en-US" altLang="ko-KR" sz="1200" kern="0" dirty="0">
                        <a:solidFill>
                          <a:sysClr val="windowText" lastClr="000000"/>
                        </a:solidFill>
                        <a:latin typeface="맑은 고딕" pitchFamily="50" charset="-127"/>
                        <a:ea typeface="맑은 고딕" pitchFamily="50" charset="-127"/>
                      </a:endParaRPr>
                    </a:p>
                    <a:p>
                      <a:pPr marL="228600" indent="-228600">
                        <a:buNone/>
                      </a:pPr>
                      <a:r>
                        <a:rPr kumimoji="0" lang="en-US" altLang="ko-KR" sz="1200" kern="0" dirty="0">
                          <a:solidFill>
                            <a:sysClr val="windowText" lastClr="000000"/>
                          </a:solidFill>
                          <a:latin typeface="맑은 고딕" pitchFamily="50" charset="-127"/>
                          <a:ea typeface="맑은 고딕" pitchFamily="50" charset="-127"/>
                        </a:rPr>
                        <a:t>     </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dirty="0">
                          <a:solidFill>
                            <a:sysClr val="windowText" lastClr="000000"/>
                          </a:solidFill>
                          <a:latin typeface="맑은 고딕" pitchFamily="50" charset="-127"/>
                          <a:ea typeface="맑은 고딕" pitchFamily="50" charset="-127"/>
                        </a:rPr>
                        <a:t> If the stock is usually in the </a:t>
                      </a:r>
                      <a:r>
                        <a:rPr lang="en-US" sz="1200" dirty="0"/>
                        <a:t>Spec ± 20%  range, Spec ± 20%! </a:t>
                      </a:r>
                      <a:endParaRPr kumimoji="0" lang="en-US" altLang="ko-KR" sz="1200" kern="0" dirty="0">
                        <a:solidFill>
                          <a:sysClr val="windowText" lastClr="000000"/>
                        </a:solidFill>
                        <a:latin typeface="맑은 고딕" pitchFamily="50" charset="-127"/>
                        <a:ea typeface="맑은 고딕" pitchFamily="50" charset="-127"/>
                      </a:endParaRPr>
                    </a:p>
                    <a:p>
                      <a:pPr marL="228600" indent="-228600">
                        <a:buNone/>
                      </a:pPr>
                      <a:r>
                        <a:rPr kumimoji="0" lang="en-US" altLang="ko-KR" sz="1200" kern="0" baseline="0" dirty="0">
                          <a:solidFill>
                            <a:sysClr val="windowText" lastClr="000000"/>
                          </a:solidFill>
                          <a:latin typeface="맑은 고딕" pitchFamily="50" charset="-127"/>
                          <a:ea typeface="맑은 고딕" pitchFamily="50" charset="-127"/>
                        </a:rPr>
                        <a:t>    - </a:t>
                      </a:r>
                      <a:r>
                        <a:rPr lang="en-US" sz="1200" dirty="0"/>
                        <a:t>The choice of sample should reflect the state of the process.</a:t>
                      </a:r>
                      <a:r>
                        <a:rPr kumimoji="0" lang="en-US" altLang="ko-KR" sz="1200" kern="0" baseline="0" dirty="0">
                          <a:solidFill>
                            <a:sysClr val="windowText" lastClr="000000"/>
                          </a:solidFill>
                          <a:latin typeface="맑은 고딕" pitchFamily="50" charset="-127"/>
                          <a:ea typeface="맑은 고딕" pitchFamily="50" charset="-127"/>
                        </a:rPr>
                        <a:t>.</a:t>
                      </a:r>
                      <a:endParaRPr lang="en-US" altLang="ko-KR" sz="1200" b="1" dirty="0">
                        <a:solidFill>
                          <a:schemeClr val="tx1"/>
                        </a:solidFill>
                        <a:latin typeface="맑은 고딕" pitchFamily="50" charset="-127"/>
                        <a:ea typeface="맑은 고딕" pitchFamily="50" charset="-127"/>
                      </a:endParaRPr>
                    </a:p>
                    <a:p>
                      <a:pPr marL="228600" marR="0" indent="-228600" algn="l"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맑은 고딕" pitchFamily="50" charset="-127"/>
                          <a:ea typeface="맑은 고딕" pitchFamily="50" charset="-127"/>
                        </a:rPr>
                        <a:t>2) Select randomly. Include SPEC out sample.</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401313">
                <a:tc>
                  <a:txBody>
                    <a:bodyPr/>
                    <a:lstStyle/>
                    <a:p>
                      <a:pPr algn="ctr"/>
                      <a:r>
                        <a:rPr lang="en-US" sz="1200" b="1" dirty="0">
                          <a:solidFill>
                            <a:schemeClr val="tx1"/>
                          </a:solidFill>
                          <a:latin typeface="맑은 고딕" pitchFamily="50" charset="-127"/>
                          <a:ea typeface="맑은 고딕" pitchFamily="50" charset="-127"/>
                        </a:rPr>
                        <a:t>Blind test</a:t>
                      </a: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altLang="ko-KR" sz="1200" b="1" dirty="0">
                          <a:solidFill>
                            <a:schemeClr val="tx1"/>
                          </a:solidFill>
                          <a:latin typeface="맑은 고딕" pitchFamily="50" charset="-127"/>
                          <a:ea typeface="맑은 고딕" pitchFamily="50" charset="-127"/>
                        </a:rPr>
                        <a:t>The measurer</a:t>
                      </a:r>
                      <a:r>
                        <a:rPr lang="en-US" altLang="ko-KR" sz="1200" b="1" baseline="0" dirty="0">
                          <a:solidFill>
                            <a:schemeClr val="tx1"/>
                          </a:solidFill>
                          <a:latin typeface="맑은 고딕" pitchFamily="50" charset="-127"/>
                          <a:ea typeface="맑은 고딕" pitchFamily="50" charset="-127"/>
                        </a:rPr>
                        <a:t> should not know the information of the sample to be measured.</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668856">
                <a:tc>
                  <a:txBody>
                    <a:bodyPr/>
                    <a:lstStyle/>
                    <a:p>
                      <a:pPr algn="ctr"/>
                      <a:r>
                        <a:rPr lang="en-US" sz="1200" b="1" dirty="0">
                          <a:solidFill>
                            <a:schemeClr val="tx1"/>
                          </a:solidFill>
                          <a:latin typeface="맑은 고딕" pitchFamily="50" charset="-127"/>
                          <a:ea typeface="맑은 고딕" pitchFamily="50" charset="-127"/>
                        </a:rPr>
                        <a:t>Random </a:t>
                      </a:r>
                    </a:p>
                    <a:p>
                      <a:pPr algn="ctr"/>
                      <a:r>
                        <a:rPr lang="en-US" sz="1200" b="1" dirty="0">
                          <a:solidFill>
                            <a:schemeClr val="tx1"/>
                          </a:solidFill>
                          <a:latin typeface="맑은 고딕" pitchFamily="50" charset="-127"/>
                          <a:ea typeface="맑은 고딕" pitchFamily="50" charset="-127"/>
                        </a:rPr>
                        <a:t>measurement</a:t>
                      </a: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altLang="ko-KR" sz="1200" b="1" dirty="0">
                          <a:solidFill>
                            <a:schemeClr val="tx1"/>
                          </a:solidFill>
                          <a:latin typeface="맑은 고딕" pitchFamily="50" charset="-127"/>
                          <a:ea typeface="맑은 고딕" pitchFamily="50" charset="-127"/>
                        </a:rPr>
                        <a:t>The measuring sequence of the measurer and the sample to be measured and the repetition are determined randomly</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01313">
                <a:tc>
                  <a:txBody>
                    <a:bodyPr/>
                    <a:lstStyle/>
                    <a:p>
                      <a:pPr algn="ctr"/>
                      <a:r>
                        <a:rPr lang="en-US" altLang="ko-KR" sz="1200" b="1" dirty="0">
                          <a:solidFill>
                            <a:schemeClr val="tx1"/>
                          </a:solidFill>
                          <a:latin typeface="맑은 고딕" pitchFamily="50" charset="-127"/>
                          <a:ea typeface="맑은 고딕" pitchFamily="50" charset="-127"/>
                        </a:rPr>
                        <a:t>Selection of instruments</a:t>
                      </a:r>
                      <a:endParaRPr lang="en-US" sz="12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sz="1200" b="1" dirty="0">
                          <a:solidFill>
                            <a:schemeClr val="tx1"/>
                          </a:solidFill>
                          <a:latin typeface="맑은 고딕" pitchFamily="50" charset="-127"/>
                          <a:ea typeface="맑은 고딕" pitchFamily="50" charset="-127"/>
                        </a:rPr>
                        <a:t>Gage should</a:t>
                      </a:r>
                      <a:r>
                        <a:rPr lang="en-US" sz="1200" b="1" baseline="0" dirty="0">
                          <a:solidFill>
                            <a:schemeClr val="tx1"/>
                          </a:solidFill>
                          <a:latin typeface="맑은 고딕" pitchFamily="50" charset="-127"/>
                          <a:ea typeface="맑은 고딕" pitchFamily="50" charset="-127"/>
                        </a:rPr>
                        <a:t> use variation of the process or 10% of the Spec tolerance or  smaller resolution of the process.</a:t>
                      </a:r>
                      <a:endParaRPr lang="en-US" sz="1200" b="1" dirty="0">
                        <a:solidFill>
                          <a:schemeClr val="tx1"/>
                        </a:solidFill>
                        <a:latin typeface="맑은 고딕" pitchFamily="50" charset="-127"/>
                        <a:ea typeface="맑은 고딕" pitchFamily="50" charset="-127"/>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sz="1200" b="1" dirty="0">
                          <a:solidFill>
                            <a:schemeClr val="tx1"/>
                          </a:solidFill>
                          <a:latin typeface="맑은 고딕" pitchFamily="50" charset="-127"/>
                          <a:ea typeface="맑은 고딕" pitchFamily="50" charset="-127"/>
                        </a:rPr>
                        <a:t> Ex</a:t>
                      </a:r>
                      <a:r>
                        <a:rPr lang="en-US" altLang="ko-KR" sz="1200" b="1" dirty="0">
                          <a:solidFill>
                            <a:schemeClr val="tx1"/>
                          </a:solidFill>
                          <a:latin typeface="맑은 고딕" pitchFamily="50" charset="-127"/>
                          <a:ea typeface="맑은 고딕" pitchFamily="50" charset="-127"/>
                        </a:rPr>
                        <a:t>) When items are managed with a length of 95.0 cm ± 0.1 cm</a:t>
                      </a:r>
                      <a:r>
                        <a:rPr lang="en-US" altLang="ko-KR" sz="1200" b="1" baseline="0" dirty="0">
                          <a:solidFill>
                            <a:schemeClr val="tx1"/>
                          </a:solidFill>
                          <a:latin typeface="맑은 고딕" pitchFamily="50" charset="-127"/>
                          <a:ea typeface="맑은 고딕" pitchFamily="50" charset="-127"/>
                        </a:rPr>
                        <a:t>,</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baseline="0" dirty="0">
                          <a:solidFill>
                            <a:schemeClr val="tx1"/>
                          </a:solidFill>
                          <a:latin typeface="맑은 고딕" pitchFamily="50" charset="-127"/>
                          <a:ea typeface="맑은 고딕" pitchFamily="50" charset="-127"/>
                        </a:rPr>
                        <a:t>      Gage resolution should be readable to 0.01 cm.</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668856">
                <a:tc>
                  <a:txBody>
                    <a:bodyPr/>
                    <a:lstStyle/>
                    <a:p>
                      <a:pPr algn="ctr"/>
                      <a:r>
                        <a:rPr lang="en-US" sz="1200" b="1" dirty="0">
                          <a:solidFill>
                            <a:schemeClr val="tx1"/>
                          </a:solidFill>
                          <a:latin typeface="맑은 고딕" pitchFamily="50" charset="-127"/>
                          <a:ea typeface="맑은 고딕" pitchFamily="50" charset="-127"/>
                        </a:rPr>
                        <a:t>Action</a:t>
                      </a:r>
                      <a:r>
                        <a:rPr lang="en-US" sz="1200" b="1" baseline="0" dirty="0">
                          <a:solidFill>
                            <a:schemeClr val="tx1"/>
                          </a:solidFill>
                          <a:latin typeface="맑은 고딕" pitchFamily="50" charset="-127"/>
                          <a:ea typeface="맑은 고딕" pitchFamily="50" charset="-127"/>
                        </a:rPr>
                        <a:t> during measurement</a:t>
                      </a:r>
                      <a:endParaRPr lang="en-US" sz="12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맑은 고딕" pitchFamily="50" charset="-127"/>
                          <a:ea typeface="맑은 고딕" pitchFamily="50" charset="-127"/>
                        </a:rPr>
                        <a:t>1) Do not modify the Gage during the measurement.</a:t>
                      </a:r>
                      <a:endParaRPr lang="en-US" sz="1200" b="1" dirty="0">
                        <a:solidFill>
                          <a:schemeClr val="tx1"/>
                        </a:solidFill>
                        <a:latin typeface="맑은 고딕" pitchFamily="50" charset="-127"/>
                        <a:ea typeface="맑은 고딕" pitchFamily="50" charset="-127"/>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맑은 고딕" pitchFamily="50" charset="-127"/>
                          <a:ea typeface="맑은 고딕" pitchFamily="50" charset="-127"/>
                        </a:rPr>
                        <a:t>2) List and list items that may affect measurement.</a:t>
                      </a:r>
                    </a:p>
                    <a:p>
                      <a:r>
                        <a:rPr lang="en-US" sz="1200" b="1" dirty="0">
                          <a:solidFill>
                            <a:schemeClr val="tx1"/>
                          </a:solidFill>
                          <a:latin typeface="맑은 고딕" pitchFamily="50" charset="-127"/>
                          <a:ea typeface="맑은 고딕" pitchFamily="50" charset="-127"/>
                        </a:rPr>
                        <a:t>3) </a:t>
                      </a:r>
                      <a:r>
                        <a:rPr lang="en-US" altLang="ko-KR" sz="1200" b="1" dirty="0">
                          <a:solidFill>
                            <a:schemeClr val="tx1"/>
                          </a:solidFill>
                          <a:latin typeface="맑은 고딕" pitchFamily="50" charset="-127"/>
                          <a:ea typeface="맑은 고딕" pitchFamily="50" charset="-127"/>
                        </a:rPr>
                        <a:t>If, during</a:t>
                      </a:r>
                      <a:r>
                        <a:rPr lang="en-US" altLang="ko-KR" sz="1200" b="1" baseline="0" dirty="0">
                          <a:solidFill>
                            <a:schemeClr val="tx1"/>
                          </a:solidFill>
                          <a:latin typeface="맑은 고딕" pitchFamily="50" charset="-127"/>
                          <a:ea typeface="맑은 고딕" pitchFamily="50" charset="-127"/>
                        </a:rPr>
                        <a:t> measurement, item 2) occurs</a:t>
                      </a:r>
                      <a:r>
                        <a:rPr lang="en-US" altLang="ko-KR" sz="1200" b="1" dirty="0">
                          <a:solidFill>
                            <a:schemeClr val="tx1"/>
                          </a:solidFill>
                          <a:latin typeface="맑은 고딕" pitchFamily="50" charset="-127"/>
                          <a:ea typeface="맑은 고딕" pitchFamily="50" charset="-127"/>
                        </a:rPr>
                        <a:t>, record them separately, and check them when </a:t>
                      </a:r>
                    </a:p>
                    <a:p>
                      <a:r>
                        <a:rPr lang="en-US" altLang="ko-KR" sz="1200" b="1" dirty="0">
                          <a:solidFill>
                            <a:schemeClr val="tx1"/>
                          </a:solidFill>
                          <a:latin typeface="맑은 고딕" pitchFamily="50" charset="-127"/>
                          <a:ea typeface="맑은 고딕" pitchFamily="50" charset="-127"/>
                        </a:rPr>
                        <a:t>   abnormal data is analyzed</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sp>
        <p:nvSpPr>
          <p:cNvPr id="170010" name="TextBox 5"/>
          <p:cNvSpPr txBox="1">
            <a:spLocks noChangeArrowheads="1"/>
          </p:cNvSpPr>
          <p:nvPr/>
        </p:nvSpPr>
        <p:spPr bwMode="auto">
          <a:xfrm>
            <a:off x="707388" y="6049052"/>
            <a:ext cx="5689058" cy="738664"/>
          </a:xfrm>
          <a:prstGeom prst="rect">
            <a:avLst/>
          </a:prstGeom>
          <a:noFill/>
          <a:ln w="9525">
            <a:noFill/>
            <a:miter lim="800000"/>
            <a:headEnd/>
            <a:tailEnd/>
          </a:ln>
        </p:spPr>
        <p:txBody>
          <a:bodyPr wrap="none">
            <a:spAutoFit/>
          </a:bodyPr>
          <a:lstStyle/>
          <a:p>
            <a:pPr>
              <a:buFont typeface="Wingdings" pitchFamily="2" charset="2"/>
              <a:buChar char="v"/>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How to measure</a:t>
            </a:r>
          </a:p>
          <a:p>
            <a:r>
              <a:rPr lang="en-US" altLang="ko-KR" sz="1400" b="1" dirty="0">
                <a:solidFill>
                  <a:srgbClr val="000000"/>
                </a:solidFill>
                <a:latin typeface="맑은 고딕" pitchFamily="50" charset="-127"/>
                <a:ea typeface="맑은 고딕" pitchFamily="50" charset="-127"/>
              </a:rPr>
              <a:t>    1) More than 2 measurers 2) More than 10 samples</a:t>
            </a:r>
          </a:p>
          <a:p>
            <a:r>
              <a:rPr lang="en-US" altLang="ko-KR" sz="1400" b="1" dirty="0">
                <a:solidFill>
                  <a:srgbClr val="000000"/>
                </a:solidFill>
                <a:latin typeface="맑은 고딕" pitchFamily="50" charset="-127"/>
                <a:ea typeface="맑은 고딕" pitchFamily="50" charset="-127"/>
              </a:rPr>
              <a:t>    3) Repeat measurement more than 2 times, </a:t>
            </a:r>
            <a:r>
              <a:rPr lang="en-US" altLang="ko-KR" sz="1400" b="1" dirty="0" err="1">
                <a:solidFill>
                  <a:srgbClr val="000000"/>
                </a:solidFill>
                <a:latin typeface="맑은 고딕" pitchFamily="50" charset="-127"/>
                <a:ea typeface="맑은 고딕" pitchFamily="50" charset="-127"/>
              </a:rPr>
              <a:t>Blind&amp;Randomly</a:t>
            </a:r>
            <a:endParaRPr lang="ko-KR" altLang="en-US" sz="1400" b="1" dirty="0">
              <a:solidFill>
                <a:srgbClr val="000000"/>
              </a:solidFill>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32</a:t>
            </a:fld>
            <a:endParaRPr lang="ko-KR" altLang="en-US" dirty="0"/>
          </a:p>
        </p:txBody>
      </p:sp>
      <p:cxnSp>
        <p:nvCxnSpPr>
          <p:cNvPr id="7" name="직선 연결선 6"/>
          <p:cNvCxnSpPr/>
          <p:nvPr/>
        </p:nvCxnSpPr>
        <p:spPr>
          <a:xfrm>
            <a:off x="1061214" y="2625532"/>
            <a:ext cx="720080" cy="0"/>
          </a:xfrm>
          <a:prstGeom prst="line">
            <a:avLst/>
          </a:prstGeom>
          <a:ln cmpd="dbl">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1061214" y="2650885"/>
            <a:ext cx="720080" cy="0"/>
          </a:xfrm>
          <a:prstGeom prst="line">
            <a:avLst/>
          </a:prstGeom>
          <a:ln cmpd="dbl">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714348" y="2671700"/>
            <a:ext cx="1417376" cy="400110"/>
          </a:xfrm>
          <a:prstGeom prst="rect">
            <a:avLst/>
          </a:prstGeom>
          <a:noFill/>
        </p:spPr>
        <p:txBody>
          <a:bodyPr wrap="none" rtlCol="0">
            <a:spAutoFit/>
          </a:bodyPr>
          <a:lstStyle/>
          <a:p>
            <a:pPr algn="ctr"/>
            <a:r>
              <a:rPr lang="en-US" altLang="ko-KR" sz="1000" dirty="0">
                <a:solidFill>
                  <a:srgbClr val="00B050"/>
                </a:solidFill>
              </a:rPr>
              <a:t>Obtain the intended </a:t>
            </a:r>
          </a:p>
          <a:p>
            <a:pPr algn="ctr"/>
            <a:r>
              <a:rPr lang="en-US" altLang="ko-KR" sz="1000" dirty="0">
                <a:solidFill>
                  <a:srgbClr val="00B050"/>
                </a:solidFill>
              </a:rPr>
              <a:t>sample</a:t>
            </a:r>
            <a:endParaRPr lang="ko-KR" altLang="en-US" sz="1000" dirty="0">
              <a:solidFill>
                <a:srgbClr val="00B050"/>
              </a:solidFill>
            </a:endParaRPr>
          </a:p>
        </p:txBody>
      </p:sp>
      <p:sp>
        <p:nvSpPr>
          <p:cNvPr id="13"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262475420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5" name="TextBox 2"/>
          <p:cNvSpPr txBox="1">
            <a:spLocks noChangeArrowheads="1"/>
          </p:cNvSpPr>
          <p:nvPr/>
        </p:nvSpPr>
        <p:spPr bwMode="auto">
          <a:xfrm>
            <a:off x="242212" y="1412876"/>
            <a:ext cx="1029962"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Criteria</a:t>
            </a:r>
            <a:endParaRPr lang="ko-KR" altLang="en-US" sz="1400" b="1" dirty="0">
              <a:solidFill>
                <a:srgbClr val="000000"/>
              </a:solidFill>
              <a:latin typeface="맑은 고딕" pitchFamily="50" charset="-127"/>
              <a:ea typeface="맑은 고딕" pitchFamily="50" charset="-127"/>
            </a:endParaRPr>
          </a:p>
        </p:txBody>
      </p:sp>
      <p:sp>
        <p:nvSpPr>
          <p:cNvPr id="172036" name="TextBox 4"/>
          <p:cNvSpPr txBox="1">
            <a:spLocks noChangeArrowheads="1"/>
          </p:cNvSpPr>
          <p:nvPr/>
        </p:nvSpPr>
        <p:spPr bwMode="auto">
          <a:xfrm>
            <a:off x="344788" y="1857376"/>
            <a:ext cx="1530291" cy="738664"/>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Check process</a:t>
            </a:r>
          </a:p>
          <a:p>
            <a:r>
              <a:rPr lang="en-US" altLang="ko-KR" sz="1400" b="1" dirty="0">
                <a:solidFill>
                  <a:srgbClr val="000000"/>
                </a:solidFill>
                <a:latin typeface="맑은 고딕" pitchFamily="50" charset="-127"/>
                <a:ea typeface="맑은 고딕" pitchFamily="50" charset="-127"/>
              </a:rPr>
              <a:t>     variations</a:t>
            </a:r>
          </a:p>
          <a:p>
            <a:r>
              <a:rPr lang="en-US" altLang="ko-KR" sz="1400" b="1" dirty="0">
                <a:solidFill>
                  <a:srgbClr val="000000"/>
                </a:solidFill>
                <a:latin typeface="맑은 고딕" pitchFamily="50" charset="-127"/>
                <a:ea typeface="맑은 고딕" pitchFamily="50" charset="-127"/>
              </a:rPr>
              <a:t>     (%R&amp;R)</a:t>
            </a:r>
            <a:endParaRPr lang="ko-KR" altLang="en-US" sz="1400" b="1" dirty="0">
              <a:solidFill>
                <a:srgbClr val="000000"/>
              </a:solidFill>
              <a:latin typeface="맑은 고딕" pitchFamily="50" charset="-127"/>
              <a:ea typeface="맑은 고딕" pitchFamily="50" charset="-127"/>
            </a:endParaRPr>
          </a:p>
        </p:txBody>
      </p:sp>
      <p:sp>
        <p:nvSpPr>
          <p:cNvPr id="172037" name="TextBox 5"/>
          <p:cNvSpPr txBox="1">
            <a:spLocks noChangeArrowheads="1"/>
          </p:cNvSpPr>
          <p:nvPr/>
        </p:nvSpPr>
        <p:spPr bwMode="auto">
          <a:xfrm>
            <a:off x="355928" y="3334408"/>
            <a:ext cx="1572866" cy="523220"/>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Spec Pass/Fail</a:t>
            </a:r>
          </a:p>
          <a:p>
            <a:r>
              <a:rPr lang="en-US" altLang="ko-KR" sz="1400" b="1" dirty="0">
                <a:solidFill>
                  <a:srgbClr val="000000"/>
                </a:solidFill>
                <a:latin typeface="맑은 고딕" pitchFamily="50" charset="-127"/>
                <a:ea typeface="맑은 고딕" pitchFamily="50" charset="-127"/>
              </a:rPr>
              <a:t>         judgment</a:t>
            </a:r>
            <a:endParaRPr lang="ko-KR" altLang="en-US" sz="1400" b="1" dirty="0">
              <a:solidFill>
                <a:srgbClr val="000000"/>
              </a:solidFill>
              <a:latin typeface="맑은 고딕" pitchFamily="50" charset="-127"/>
              <a:ea typeface="맑은 고딕" pitchFamily="50" charset="-127"/>
            </a:endParaRPr>
          </a:p>
        </p:txBody>
      </p:sp>
      <p:sp>
        <p:nvSpPr>
          <p:cNvPr id="172038" name="TextBox 6"/>
          <p:cNvSpPr txBox="1">
            <a:spLocks noChangeArrowheads="1"/>
          </p:cNvSpPr>
          <p:nvPr/>
        </p:nvSpPr>
        <p:spPr bwMode="auto">
          <a:xfrm>
            <a:off x="2147211" y="1966914"/>
            <a:ext cx="1203984"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 Study =</a:t>
            </a:r>
            <a:endParaRPr lang="ko-KR" altLang="en-US" sz="1400" b="1" dirty="0">
              <a:solidFill>
                <a:srgbClr val="000000"/>
              </a:solidFill>
              <a:latin typeface="맑은 고딕" pitchFamily="50" charset="-127"/>
              <a:ea typeface="맑은 고딕" pitchFamily="50" charset="-127"/>
            </a:endParaRPr>
          </a:p>
        </p:txBody>
      </p:sp>
      <p:sp>
        <p:nvSpPr>
          <p:cNvPr id="172039" name="TextBox 7"/>
          <p:cNvSpPr txBox="1">
            <a:spLocks noChangeArrowheads="1"/>
          </p:cNvSpPr>
          <p:nvPr/>
        </p:nvSpPr>
        <p:spPr bwMode="auto">
          <a:xfrm>
            <a:off x="2147212" y="2665414"/>
            <a:ext cx="1366784"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 Process =</a:t>
            </a:r>
            <a:endParaRPr lang="ko-KR" altLang="en-US" sz="1400" b="1" dirty="0">
              <a:solidFill>
                <a:srgbClr val="000000"/>
              </a:solidFill>
              <a:latin typeface="맑은 고딕" pitchFamily="50" charset="-127"/>
              <a:ea typeface="맑은 고딕" pitchFamily="50" charset="-127"/>
            </a:endParaRPr>
          </a:p>
        </p:txBody>
      </p:sp>
      <p:sp>
        <p:nvSpPr>
          <p:cNvPr id="172040" name="TextBox 8"/>
          <p:cNvSpPr txBox="1">
            <a:spLocks noChangeArrowheads="1"/>
          </p:cNvSpPr>
          <p:nvPr/>
        </p:nvSpPr>
        <p:spPr bwMode="auto">
          <a:xfrm>
            <a:off x="2147211" y="3430740"/>
            <a:ext cx="1532727"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 Tolerance =</a:t>
            </a:r>
            <a:endParaRPr lang="ko-KR" altLang="en-US" sz="1400" b="1" dirty="0">
              <a:solidFill>
                <a:srgbClr val="000000"/>
              </a:solidFill>
              <a:latin typeface="맑은 고딕" pitchFamily="50" charset="-127"/>
              <a:ea typeface="맑은 고딕" pitchFamily="50" charset="-127"/>
            </a:endParaRPr>
          </a:p>
        </p:txBody>
      </p:sp>
      <p:cxnSp>
        <p:nvCxnSpPr>
          <p:cNvPr id="172041" name="꺾인 연결선 10"/>
          <p:cNvCxnSpPr>
            <a:cxnSpLocks noChangeShapeType="1"/>
            <a:stCxn id="172036" idx="3"/>
            <a:endCxn id="172039" idx="1"/>
          </p:cNvCxnSpPr>
          <p:nvPr/>
        </p:nvCxnSpPr>
        <p:spPr bwMode="auto">
          <a:xfrm>
            <a:off x="1875079" y="2226708"/>
            <a:ext cx="272133" cy="592595"/>
          </a:xfrm>
          <a:prstGeom prst="bentConnector3">
            <a:avLst>
              <a:gd name="adj1" fmla="val 50000"/>
            </a:avLst>
          </a:prstGeom>
          <a:noFill/>
          <a:ln w="12700" algn="ctr">
            <a:solidFill>
              <a:schemeClr val="tx1"/>
            </a:solidFill>
            <a:round/>
            <a:headEnd/>
            <a:tailEnd/>
          </a:ln>
        </p:spPr>
      </p:cxnSp>
      <p:cxnSp>
        <p:nvCxnSpPr>
          <p:cNvPr id="172042" name="직선 연결선 12"/>
          <p:cNvCxnSpPr>
            <a:cxnSpLocks noChangeShapeType="1"/>
            <a:stCxn id="172036" idx="3"/>
            <a:endCxn id="172038" idx="1"/>
          </p:cNvCxnSpPr>
          <p:nvPr/>
        </p:nvCxnSpPr>
        <p:spPr bwMode="auto">
          <a:xfrm flipV="1">
            <a:off x="1875079" y="2120803"/>
            <a:ext cx="272132" cy="105905"/>
          </a:xfrm>
          <a:prstGeom prst="line">
            <a:avLst/>
          </a:prstGeom>
          <a:noFill/>
          <a:ln w="12700" algn="ctr">
            <a:solidFill>
              <a:schemeClr val="tx1"/>
            </a:solidFill>
            <a:round/>
            <a:headEnd/>
            <a:tailEnd/>
          </a:ln>
        </p:spPr>
      </p:cxnSp>
      <p:cxnSp>
        <p:nvCxnSpPr>
          <p:cNvPr id="172043" name="직선 연결선 14"/>
          <p:cNvCxnSpPr>
            <a:cxnSpLocks noChangeShapeType="1"/>
            <a:stCxn id="172037" idx="3"/>
            <a:endCxn id="172040" idx="1"/>
          </p:cNvCxnSpPr>
          <p:nvPr/>
        </p:nvCxnSpPr>
        <p:spPr bwMode="auto">
          <a:xfrm flipV="1">
            <a:off x="1928794" y="3584629"/>
            <a:ext cx="218417" cy="11389"/>
          </a:xfrm>
          <a:prstGeom prst="line">
            <a:avLst/>
          </a:prstGeom>
          <a:noFill/>
          <a:ln w="12700" algn="ctr">
            <a:solidFill>
              <a:schemeClr val="tx1"/>
            </a:solidFill>
            <a:round/>
            <a:headEnd/>
            <a:tailEnd/>
          </a:ln>
        </p:spPr>
      </p:cxnSp>
      <p:grpSp>
        <p:nvGrpSpPr>
          <p:cNvPr id="2" name="그룹 25"/>
          <p:cNvGrpSpPr>
            <a:grpSpLocks/>
          </p:cNvGrpSpPr>
          <p:nvPr/>
        </p:nvGrpSpPr>
        <p:grpSpPr bwMode="auto">
          <a:xfrm>
            <a:off x="3647765" y="1844675"/>
            <a:ext cx="1266359" cy="554018"/>
            <a:chOff x="5263219" y="2143889"/>
            <a:chExt cx="1373820" cy="553978"/>
          </a:xfrm>
        </p:grpSpPr>
        <p:sp>
          <p:nvSpPr>
            <p:cNvPr id="172075" name="TextBox 13"/>
            <p:cNvSpPr txBox="1">
              <a:spLocks noChangeArrowheads="1"/>
            </p:cNvSpPr>
            <p:nvPr/>
          </p:nvSpPr>
          <p:spPr bwMode="auto">
            <a:xfrm>
              <a:off x="5263219" y="2143889"/>
              <a:ext cx="1370009" cy="27697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Gage Variation</a:t>
              </a:r>
              <a:endParaRPr lang="en-US" sz="1200" b="1" dirty="0">
                <a:latin typeface="맑은 고딕" pitchFamily="50" charset="-127"/>
                <a:ea typeface="맑은 고딕" pitchFamily="50" charset="-127"/>
              </a:endParaRPr>
            </a:p>
          </p:txBody>
        </p:sp>
        <p:sp>
          <p:nvSpPr>
            <p:cNvPr id="172076" name="TextBox 15"/>
            <p:cNvSpPr txBox="1">
              <a:spLocks noChangeArrowheads="1"/>
            </p:cNvSpPr>
            <p:nvPr/>
          </p:nvSpPr>
          <p:spPr bwMode="auto">
            <a:xfrm>
              <a:off x="5290473" y="2420888"/>
              <a:ext cx="1346566" cy="27697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Total Variation</a:t>
              </a:r>
              <a:endParaRPr lang="en-US" sz="1200" b="1" dirty="0">
                <a:latin typeface="맑은 고딕" pitchFamily="50" charset="-127"/>
                <a:ea typeface="맑은 고딕" pitchFamily="50" charset="-127"/>
              </a:endParaRPr>
            </a:p>
          </p:txBody>
        </p:sp>
        <p:cxnSp>
          <p:nvCxnSpPr>
            <p:cNvPr id="172077" name="직선 연결선 17"/>
            <p:cNvCxnSpPr>
              <a:cxnSpLocks noChangeShapeType="1"/>
            </p:cNvCxnSpPr>
            <p:nvPr/>
          </p:nvCxnSpPr>
          <p:spPr bwMode="auto">
            <a:xfrm>
              <a:off x="5285789" y="2420888"/>
              <a:ext cx="864096" cy="0"/>
            </a:xfrm>
            <a:prstGeom prst="line">
              <a:avLst/>
            </a:prstGeom>
            <a:noFill/>
            <a:ln w="12700" algn="ctr">
              <a:solidFill>
                <a:schemeClr val="tx1"/>
              </a:solidFill>
              <a:round/>
              <a:headEnd/>
              <a:tailEnd/>
            </a:ln>
          </p:spPr>
        </p:cxnSp>
      </p:grpSp>
      <p:grpSp>
        <p:nvGrpSpPr>
          <p:cNvPr id="3" name="그룹 26"/>
          <p:cNvGrpSpPr>
            <a:grpSpLocks/>
          </p:cNvGrpSpPr>
          <p:nvPr/>
        </p:nvGrpSpPr>
        <p:grpSpPr bwMode="auto">
          <a:xfrm>
            <a:off x="3344430" y="2541589"/>
            <a:ext cx="1994649" cy="554018"/>
            <a:chOff x="5025009" y="2945850"/>
            <a:chExt cx="2162655" cy="553979"/>
          </a:xfrm>
        </p:grpSpPr>
        <p:sp>
          <p:nvSpPr>
            <p:cNvPr id="172072" name="TextBox 18"/>
            <p:cNvSpPr txBox="1">
              <a:spLocks noChangeArrowheads="1"/>
            </p:cNvSpPr>
            <p:nvPr/>
          </p:nvSpPr>
          <p:spPr bwMode="auto">
            <a:xfrm>
              <a:off x="5360036" y="2945850"/>
              <a:ext cx="1369213" cy="276980"/>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Gage Variation</a:t>
              </a:r>
              <a:endParaRPr lang="en-US" sz="1200" b="1" dirty="0">
                <a:solidFill>
                  <a:srgbClr val="000000"/>
                </a:solidFill>
                <a:latin typeface="맑은 고딕" pitchFamily="50" charset="-127"/>
                <a:ea typeface="맑은 고딕" pitchFamily="50" charset="-127"/>
              </a:endParaRPr>
            </a:p>
          </p:txBody>
        </p:sp>
        <p:sp>
          <p:nvSpPr>
            <p:cNvPr id="172073" name="TextBox 19"/>
            <p:cNvSpPr txBox="1">
              <a:spLocks noChangeArrowheads="1"/>
            </p:cNvSpPr>
            <p:nvPr/>
          </p:nvSpPr>
          <p:spPr bwMode="auto">
            <a:xfrm>
              <a:off x="5025009" y="3222849"/>
              <a:ext cx="2162655" cy="276980"/>
            </a:xfrm>
            <a:prstGeom prst="rect">
              <a:avLst/>
            </a:prstGeom>
            <a:noFill/>
            <a:ln w="9525">
              <a:noFill/>
              <a:miter lim="800000"/>
              <a:headEnd/>
              <a:tailEnd/>
            </a:ln>
          </p:spPr>
          <p:txBody>
            <a:bodyPr wrap="none">
              <a:spAutoFit/>
            </a:bodyPr>
            <a:lstStyle/>
            <a:p>
              <a:r>
                <a:rPr lang="en-US" sz="1200" b="1" dirty="0">
                  <a:solidFill>
                    <a:srgbClr val="000000"/>
                  </a:solidFill>
                  <a:latin typeface="맑은 고딕" pitchFamily="50" charset="-127"/>
                  <a:ea typeface="맑은 고딕" pitchFamily="50" charset="-127"/>
                </a:rPr>
                <a:t>Known Process Variation</a:t>
              </a:r>
            </a:p>
          </p:txBody>
        </p:sp>
        <p:cxnSp>
          <p:nvCxnSpPr>
            <p:cNvPr id="172074" name="직선 연결선 20"/>
            <p:cNvCxnSpPr>
              <a:cxnSpLocks noChangeShapeType="1"/>
            </p:cNvCxnSpPr>
            <p:nvPr/>
          </p:nvCxnSpPr>
          <p:spPr bwMode="auto">
            <a:xfrm>
              <a:off x="5382599" y="3222849"/>
              <a:ext cx="864096" cy="0"/>
            </a:xfrm>
            <a:prstGeom prst="line">
              <a:avLst/>
            </a:prstGeom>
            <a:noFill/>
            <a:ln w="12700" algn="ctr">
              <a:solidFill>
                <a:schemeClr val="tx1"/>
              </a:solidFill>
              <a:round/>
              <a:headEnd/>
              <a:tailEnd/>
            </a:ln>
          </p:spPr>
        </p:cxnSp>
      </p:grpSp>
      <p:sp>
        <p:nvSpPr>
          <p:cNvPr id="172046" name="TextBox 21"/>
          <p:cNvSpPr txBox="1">
            <a:spLocks noChangeArrowheads="1"/>
          </p:cNvSpPr>
          <p:nvPr/>
        </p:nvSpPr>
        <p:spPr bwMode="auto">
          <a:xfrm>
            <a:off x="3565704" y="3305328"/>
            <a:ext cx="1533753"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6*×Gage Variation</a:t>
            </a:r>
            <a:endParaRPr lang="en-US" sz="1200" b="1" dirty="0">
              <a:solidFill>
                <a:srgbClr val="000000"/>
              </a:solidFill>
              <a:latin typeface="맑은 고딕" pitchFamily="50" charset="-127"/>
              <a:ea typeface="맑은 고딕" pitchFamily="50" charset="-127"/>
            </a:endParaRPr>
          </a:p>
        </p:txBody>
      </p:sp>
      <p:sp>
        <p:nvSpPr>
          <p:cNvPr id="172047" name="TextBox 22"/>
          <p:cNvSpPr txBox="1">
            <a:spLocks noChangeArrowheads="1"/>
          </p:cNvSpPr>
          <p:nvPr/>
        </p:nvSpPr>
        <p:spPr bwMode="auto">
          <a:xfrm>
            <a:off x="3773789" y="3583140"/>
            <a:ext cx="115531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Product</a:t>
            </a:r>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Spec</a:t>
            </a:r>
          </a:p>
        </p:txBody>
      </p:sp>
      <p:cxnSp>
        <p:nvCxnSpPr>
          <p:cNvPr id="172048" name="직선 연결선 23"/>
          <p:cNvCxnSpPr>
            <a:cxnSpLocks noChangeShapeType="1"/>
          </p:cNvCxnSpPr>
          <p:nvPr/>
        </p:nvCxnSpPr>
        <p:spPr bwMode="auto">
          <a:xfrm>
            <a:off x="3786976" y="3583140"/>
            <a:ext cx="797169" cy="0"/>
          </a:xfrm>
          <a:prstGeom prst="line">
            <a:avLst/>
          </a:prstGeom>
          <a:noFill/>
          <a:ln w="12700" algn="ctr">
            <a:solidFill>
              <a:schemeClr val="tx1"/>
            </a:solidFill>
            <a:round/>
            <a:headEnd/>
            <a:tailEnd/>
          </a:ln>
        </p:spPr>
      </p:cxnSp>
      <p:sp>
        <p:nvSpPr>
          <p:cNvPr id="172049" name="TextBox 28"/>
          <p:cNvSpPr txBox="1">
            <a:spLocks noChangeArrowheads="1"/>
          </p:cNvSpPr>
          <p:nvPr/>
        </p:nvSpPr>
        <p:spPr bwMode="auto">
          <a:xfrm>
            <a:off x="4762923" y="1966914"/>
            <a:ext cx="742511" cy="307777"/>
          </a:xfrm>
          <a:prstGeom prst="rect">
            <a:avLst/>
          </a:prstGeom>
          <a:noFill/>
          <a:ln w="9525">
            <a:noFill/>
            <a:miter lim="800000"/>
            <a:headEnd/>
            <a:tailEnd/>
          </a:ln>
        </p:spPr>
        <p:txBody>
          <a:bodyPr wrap="none">
            <a:spAutoFit/>
          </a:bodyPr>
          <a:lstStyle/>
          <a:p>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10%</a:t>
            </a:r>
            <a:endParaRPr lang="ko-KR" altLang="en-US" sz="1400" b="1" dirty="0">
              <a:solidFill>
                <a:srgbClr val="000000"/>
              </a:solidFill>
              <a:latin typeface="맑은 고딕" pitchFamily="50" charset="-127"/>
              <a:ea typeface="맑은 고딕" pitchFamily="50" charset="-127"/>
            </a:endParaRPr>
          </a:p>
        </p:txBody>
      </p:sp>
      <p:sp>
        <p:nvSpPr>
          <p:cNvPr id="172050" name="TextBox 29"/>
          <p:cNvSpPr txBox="1">
            <a:spLocks noChangeArrowheads="1"/>
          </p:cNvSpPr>
          <p:nvPr/>
        </p:nvSpPr>
        <p:spPr bwMode="auto">
          <a:xfrm>
            <a:off x="4762923" y="2665414"/>
            <a:ext cx="742511" cy="307777"/>
          </a:xfrm>
          <a:prstGeom prst="rect">
            <a:avLst/>
          </a:prstGeom>
          <a:noFill/>
          <a:ln w="9525">
            <a:noFill/>
            <a:miter lim="800000"/>
            <a:headEnd/>
            <a:tailEnd/>
          </a:ln>
        </p:spPr>
        <p:txBody>
          <a:bodyPr wrap="none">
            <a:spAutoFit/>
          </a:bodyPr>
          <a:lstStyle/>
          <a:p>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10%</a:t>
            </a:r>
            <a:endParaRPr lang="ko-KR" altLang="en-US" sz="1400" b="1" dirty="0">
              <a:solidFill>
                <a:srgbClr val="000000"/>
              </a:solidFill>
              <a:latin typeface="맑은 고딕" pitchFamily="50" charset="-127"/>
              <a:ea typeface="맑은 고딕" pitchFamily="50" charset="-127"/>
            </a:endParaRPr>
          </a:p>
        </p:txBody>
      </p:sp>
      <p:sp>
        <p:nvSpPr>
          <p:cNvPr id="172051" name="TextBox 30"/>
          <p:cNvSpPr txBox="1">
            <a:spLocks noChangeArrowheads="1"/>
          </p:cNvSpPr>
          <p:nvPr/>
        </p:nvSpPr>
        <p:spPr bwMode="auto">
          <a:xfrm>
            <a:off x="4762923" y="3419629"/>
            <a:ext cx="742511" cy="307777"/>
          </a:xfrm>
          <a:prstGeom prst="rect">
            <a:avLst/>
          </a:prstGeom>
          <a:noFill/>
          <a:ln w="9525">
            <a:noFill/>
            <a:miter lim="800000"/>
            <a:headEnd/>
            <a:tailEnd/>
          </a:ln>
        </p:spPr>
        <p:txBody>
          <a:bodyPr wrap="none">
            <a:spAutoFit/>
          </a:bodyPr>
          <a:lstStyle/>
          <a:p>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10%</a:t>
            </a:r>
            <a:endParaRPr lang="ko-KR" altLang="en-US" sz="1400" b="1" dirty="0">
              <a:solidFill>
                <a:srgbClr val="000000"/>
              </a:solidFill>
              <a:latin typeface="맑은 고딕" pitchFamily="50" charset="-127"/>
              <a:ea typeface="맑은 고딕" pitchFamily="50" charset="-127"/>
            </a:endParaRPr>
          </a:p>
        </p:txBody>
      </p:sp>
      <p:sp>
        <p:nvSpPr>
          <p:cNvPr id="172052" name="TextBox 31"/>
          <p:cNvSpPr txBox="1">
            <a:spLocks noChangeArrowheads="1"/>
          </p:cNvSpPr>
          <p:nvPr/>
        </p:nvSpPr>
        <p:spPr bwMode="auto">
          <a:xfrm>
            <a:off x="5498796" y="1944689"/>
            <a:ext cx="3672408" cy="646331"/>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If the error occurring in the measuring system</a:t>
            </a:r>
          </a:p>
          <a:p>
            <a:r>
              <a:rPr lang="en-US" altLang="ko-KR" sz="1200" dirty="0">
                <a:solidFill>
                  <a:srgbClr val="000000"/>
                </a:solidFill>
                <a:latin typeface="맑은 고딕" pitchFamily="50" charset="-127"/>
                <a:ea typeface="맑은 고딕" pitchFamily="50" charset="-127"/>
              </a:rPr>
              <a:t> during the total variation is less than 10%, it can </a:t>
            </a:r>
          </a:p>
          <a:p>
            <a:r>
              <a:rPr lang="en-US" altLang="ko-KR" sz="1200" dirty="0">
                <a:solidFill>
                  <a:srgbClr val="000000"/>
                </a:solidFill>
                <a:latin typeface="맑은 고딕" pitchFamily="50" charset="-127"/>
                <a:ea typeface="맑은 고딕" pitchFamily="50" charset="-127"/>
              </a:rPr>
              <a:t> be used for confirming the process variation..</a:t>
            </a:r>
          </a:p>
        </p:txBody>
      </p:sp>
      <p:sp>
        <p:nvSpPr>
          <p:cNvPr id="172053" name="TextBox 32"/>
          <p:cNvSpPr txBox="1">
            <a:spLocks noChangeArrowheads="1"/>
          </p:cNvSpPr>
          <p:nvPr/>
        </p:nvSpPr>
        <p:spPr bwMode="auto">
          <a:xfrm>
            <a:off x="5501334" y="2654301"/>
            <a:ext cx="3642665" cy="830997"/>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a:t>
            </a:r>
            <a:r>
              <a:rPr lang="en-US" sz="1200" dirty="0"/>
              <a:t>If the error in the measurement system is less</a:t>
            </a:r>
          </a:p>
          <a:p>
            <a:r>
              <a:rPr lang="en-US" sz="1200" dirty="0"/>
              <a:t> than 10% compared to the dispersion (variation) </a:t>
            </a:r>
          </a:p>
          <a:p>
            <a:r>
              <a:rPr lang="en-US" sz="1200" dirty="0"/>
              <a:t> in the known process, it can be used for confirm</a:t>
            </a:r>
          </a:p>
          <a:p>
            <a:r>
              <a:rPr lang="en-US" sz="1200" dirty="0"/>
              <a:t> </a:t>
            </a:r>
            <a:r>
              <a:rPr lang="en-US" sz="1200" dirty="0" err="1"/>
              <a:t>ing</a:t>
            </a:r>
            <a:r>
              <a:rPr lang="en-US" sz="1200" dirty="0"/>
              <a:t> the process variation.</a:t>
            </a:r>
            <a:endParaRPr lang="en-US" altLang="ko-KR" sz="1200" dirty="0">
              <a:solidFill>
                <a:srgbClr val="000000"/>
              </a:solidFill>
              <a:latin typeface="맑은 고딕" pitchFamily="50" charset="-127"/>
              <a:ea typeface="맑은 고딕" pitchFamily="50" charset="-127"/>
            </a:endParaRPr>
          </a:p>
        </p:txBody>
      </p:sp>
      <p:sp>
        <p:nvSpPr>
          <p:cNvPr id="172054" name="TextBox 33"/>
          <p:cNvSpPr txBox="1">
            <a:spLocks noChangeArrowheads="1"/>
          </p:cNvSpPr>
          <p:nvPr/>
        </p:nvSpPr>
        <p:spPr bwMode="auto">
          <a:xfrm>
            <a:off x="5495974" y="3430741"/>
            <a:ext cx="3756546" cy="646331"/>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a:t>
            </a:r>
            <a:r>
              <a:rPr lang="en-US" sz="1200" dirty="0"/>
              <a:t>The tolerance of the product against the </a:t>
            </a:r>
            <a:r>
              <a:rPr lang="en-US" sz="1200" dirty="0" err="1"/>
              <a:t>specifica</a:t>
            </a:r>
            <a:endParaRPr lang="en-US" sz="1200" dirty="0"/>
          </a:p>
          <a:p>
            <a:r>
              <a:rPr lang="en-US" sz="1200" dirty="0"/>
              <a:t> </a:t>
            </a:r>
            <a:r>
              <a:rPr lang="en-US" sz="1200" dirty="0" err="1"/>
              <a:t>tion</a:t>
            </a:r>
            <a:r>
              <a:rPr lang="en-US" sz="1200" dirty="0"/>
              <a:t> (system tolerance) must be less than 10% to </a:t>
            </a:r>
          </a:p>
          <a:p>
            <a:r>
              <a:rPr lang="en-US" sz="1200" dirty="0"/>
              <a:t> be used for specification Pass/Fail judgment.</a:t>
            </a:r>
            <a:endParaRPr lang="en-US" altLang="ko-KR" sz="1200" dirty="0">
              <a:solidFill>
                <a:srgbClr val="000000"/>
              </a:solidFill>
              <a:latin typeface="맑은 고딕" pitchFamily="50" charset="-127"/>
              <a:ea typeface="맑은 고딕" pitchFamily="50" charset="-127"/>
            </a:endParaRPr>
          </a:p>
        </p:txBody>
      </p:sp>
      <p:sp>
        <p:nvSpPr>
          <p:cNvPr id="172055" name="TextBox 35"/>
          <p:cNvSpPr txBox="1">
            <a:spLocks noChangeArrowheads="1"/>
          </p:cNvSpPr>
          <p:nvPr/>
        </p:nvSpPr>
        <p:spPr bwMode="auto">
          <a:xfrm>
            <a:off x="344789" y="5308601"/>
            <a:ext cx="2012634" cy="954107"/>
          </a:xfrm>
          <a:prstGeom prst="rect">
            <a:avLst/>
          </a:prstGeom>
          <a:noFill/>
          <a:ln w="9525">
            <a:noFill/>
            <a:miter lim="800000"/>
            <a:headEnd/>
            <a:tailEnd/>
          </a:ln>
        </p:spPr>
        <p:txBody>
          <a:bodyPr wrap="squar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Identify the distinction(resolution) of the measuring system</a:t>
            </a:r>
          </a:p>
        </p:txBody>
      </p:sp>
      <p:sp>
        <p:nvSpPr>
          <p:cNvPr id="172056" name="TextBox 37"/>
          <p:cNvSpPr txBox="1">
            <a:spLocks noChangeArrowheads="1"/>
          </p:cNvSpPr>
          <p:nvPr/>
        </p:nvSpPr>
        <p:spPr bwMode="auto">
          <a:xfrm>
            <a:off x="2147212" y="5308601"/>
            <a:ext cx="3173433"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Number of distinct category  </a:t>
            </a:r>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5</a:t>
            </a:r>
            <a:endParaRPr lang="ko-KR" altLang="en-US" sz="1400" b="1" dirty="0">
              <a:solidFill>
                <a:srgbClr val="000000"/>
              </a:solidFill>
              <a:latin typeface="맑은 고딕" pitchFamily="50" charset="-127"/>
              <a:ea typeface="맑은 고딕" pitchFamily="50" charset="-127"/>
            </a:endParaRPr>
          </a:p>
        </p:txBody>
      </p:sp>
      <p:sp>
        <p:nvSpPr>
          <p:cNvPr id="172057" name="TextBox 39"/>
          <p:cNvSpPr txBox="1">
            <a:spLocks noChangeArrowheads="1"/>
          </p:cNvSpPr>
          <p:nvPr/>
        </p:nvSpPr>
        <p:spPr bwMode="auto">
          <a:xfrm>
            <a:off x="5502080" y="5294313"/>
            <a:ext cx="3574502" cy="1200329"/>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a:t>
            </a:r>
            <a:r>
              <a:rPr lang="en-US" sz="1200" dirty="0"/>
              <a:t>It is the number of distinct categories that the </a:t>
            </a:r>
          </a:p>
          <a:p>
            <a:r>
              <a:rPr lang="en-US" sz="1200" dirty="0"/>
              <a:t> measurement system can distinguish. And NDC  </a:t>
            </a:r>
          </a:p>
          <a:p>
            <a:r>
              <a:rPr lang="en-US" sz="1200" dirty="0"/>
              <a:t> = 5 means that the process can be divided into </a:t>
            </a:r>
          </a:p>
          <a:p>
            <a:r>
              <a:rPr lang="en-US" sz="1200" dirty="0"/>
              <a:t> 5 categories, and 1 means only pass or fail </a:t>
            </a:r>
            <a:r>
              <a:rPr lang="en-US" sz="1200" dirty="0" err="1"/>
              <a:t>jud</a:t>
            </a:r>
            <a:endParaRPr lang="en-US" sz="1200" dirty="0"/>
          </a:p>
          <a:p>
            <a:r>
              <a:rPr lang="en-US" sz="1200" dirty="0"/>
              <a:t> </a:t>
            </a:r>
            <a:r>
              <a:rPr lang="en-US" sz="1200" dirty="0" err="1"/>
              <a:t>gment</a:t>
            </a:r>
            <a:r>
              <a:rPr lang="en-US" sz="1200" dirty="0"/>
              <a:t>. Also, it should be 5 or more for use in </a:t>
            </a:r>
          </a:p>
          <a:p>
            <a:r>
              <a:rPr lang="en-US" sz="1200" dirty="0"/>
              <a:t> process control.</a:t>
            </a:r>
            <a:endParaRPr lang="en-US" altLang="ko-KR" sz="1200" dirty="0">
              <a:solidFill>
                <a:srgbClr val="000000"/>
              </a:solidFill>
              <a:latin typeface="맑은 고딕" pitchFamily="50" charset="-127"/>
              <a:ea typeface="맑은 고딕" pitchFamily="50" charset="-127"/>
            </a:endParaRPr>
          </a:p>
        </p:txBody>
      </p:sp>
      <p:cxnSp>
        <p:nvCxnSpPr>
          <p:cNvPr id="172058" name="직선 연결선 41"/>
          <p:cNvCxnSpPr>
            <a:cxnSpLocks noChangeShapeType="1"/>
          </p:cNvCxnSpPr>
          <p:nvPr/>
        </p:nvCxnSpPr>
        <p:spPr bwMode="auto">
          <a:xfrm>
            <a:off x="98927" y="5157788"/>
            <a:ext cx="8664819" cy="0"/>
          </a:xfrm>
          <a:prstGeom prst="line">
            <a:avLst/>
          </a:prstGeom>
          <a:noFill/>
          <a:ln w="12700" algn="ctr">
            <a:solidFill>
              <a:schemeClr val="bg2"/>
            </a:solidFill>
            <a:prstDash val="dash"/>
            <a:round/>
            <a:headEnd/>
            <a:tailEnd/>
          </a:ln>
        </p:spPr>
      </p:cxnSp>
      <p:sp>
        <p:nvSpPr>
          <p:cNvPr id="172059" name="TextBox 42"/>
          <p:cNvSpPr txBox="1">
            <a:spLocks noChangeArrowheads="1"/>
          </p:cNvSpPr>
          <p:nvPr/>
        </p:nvSpPr>
        <p:spPr bwMode="auto">
          <a:xfrm>
            <a:off x="467544" y="4005064"/>
            <a:ext cx="5033149" cy="1015663"/>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Why multiply 6? </a:t>
            </a:r>
          </a:p>
          <a:p>
            <a:endParaRPr lang="en-US" altLang="ko-KR" sz="1200" dirty="0">
              <a:solidFill>
                <a:srgbClr val="000000"/>
              </a:solidFill>
              <a:latin typeface="맑은 고딕" pitchFamily="50" charset="-127"/>
              <a:ea typeface="맑은 고딕" pitchFamily="50" charset="-127"/>
            </a:endParaRPr>
          </a:p>
          <a:p>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The product spec indicates USL LSL, </a:t>
            </a:r>
            <a:r>
              <a:rPr lang="en-US" altLang="ko-KR" sz="1200" dirty="0" err="1">
                <a:solidFill>
                  <a:srgbClr val="000000"/>
                </a:solidFill>
                <a:latin typeface="맑은 고딕" pitchFamily="50" charset="-127"/>
                <a:ea typeface="맑은 고딕" pitchFamily="50" charset="-127"/>
              </a:rPr>
              <a:t>ie</a:t>
            </a:r>
            <a:r>
              <a:rPr lang="en-US" altLang="ko-KR" sz="1200" dirty="0">
                <a:solidFill>
                  <a:srgbClr val="000000"/>
                </a:solidFill>
                <a:latin typeface="맑은 고딕" pitchFamily="50" charset="-127"/>
                <a:ea typeface="맑은 고딕" pitchFamily="50" charset="-127"/>
              </a:rPr>
              <a:t>, the interval to pass. Gage </a:t>
            </a:r>
          </a:p>
          <a:p>
            <a:r>
              <a:rPr lang="en-US" altLang="ko-KR" sz="1200" dirty="0">
                <a:solidFill>
                  <a:srgbClr val="000000"/>
                </a:solidFill>
                <a:latin typeface="맑은 고딕" pitchFamily="50" charset="-127"/>
                <a:ea typeface="맑은 고딕" pitchFamily="50" charset="-127"/>
              </a:rPr>
              <a:t>   fluctuation represents the standard deviation (σ), so multiply by 6 </a:t>
            </a:r>
          </a:p>
          <a:p>
            <a:r>
              <a:rPr lang="en-US" altLang="ko-KR" sz="1200" dirty="0">
                <a:solidFill>
                  <a:srgbClr val="000000"/>
                </a:solidFill>
                <a:latin typeface="맑은 고딕" pitchFamily="50" charset="-127"/>
                <a:ea typeface="맑은 고딕" pitchFamily="50" charset="-127"/>
              </a:rPr>
              <a:t>   to set the 99.73% area of variation of the gage</a:t>
            </a:r>
          </a:p>
        </p:txBody>
      </p:sp>
      <p:grpSp>
        <p:nvGrpSpPr>
          <p:cNvPr id="4" name="Group 17"/>
          <p:cNvGrpSpPr>
            <a:grpSpLocks/>
          </p:cNvGrpSpPr>
          <p:nvPr/>
        </p:nvGrpSpPr>
        <p:grpSpPr bwMode="auto">
          <a:xfrm>
            <a:off x="6966794" y="4064495"/>
            <a:ext cx="1364646" cy="1164705"/>
            <a:chOff x="4875" y="3301"/>
            <a:chExt cx="999" cy="765"/>
          </a:xfrm>
        </p:grpSpPr>
        <p:grpSp>
          <p:nvGrpSpPr>
            <p:cNvPr id="5" name="Group 18"/>
            <p:cNvGrpSpPr>
              <a:grpSpLocks/>
            </p:cNvGrpSpPr>
            <p:nvPr/>
          </p:nvGrpSpPr>
          <p:grpSpPr bwMode="auto">
            <a:xfrm>
              <a:off x="4875" y="3301"/>
              <a:ext cx="999" cy="596"/>
              <a:chOff x="4875" y="3329"/>
              <a:chExt cx="999" cy="596"/>
            </a:xfrm>
          </p:grpSpPr>
          <p:grpSp>
            <p:nvGrpSpPr>
              <p:cNvPr id="6" name="Group 19"/>
              <p:cNvGrpSpPr>
                <a:grpSpLocks/>
              </p:cNvGrpSpPr>
              <p:nvPr/>
            </p:nvGrpSpPr>
            <p:grpSpPr bwMode="auto">
              <a:xfrm>
                <a:off x="4980" y="3329"/>
                <a:ext cx="816" cy="464"/>
                <a:chOff x="4998" y="3427"/>
                <a:chExt cx="816" cy="464"/>
              </a:xfrm>
            </p:grpSpPr>
            <p:pic>
              <p:nvPicPr>
                <p:cNvPr id="172069" name="Picture 20"/>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998" y="3427"/>
                  <a:ext cx="816" cy="457"/>
                </a:xfrm>
                <a:prstGeom prst="rect">
                  <a:avLst/>
                </a:prstGeom>
                <a:noFill/>
                <a:ln w="9525">
                  <a:noFill/>
                  <a:miter lim="800000"/>
                  <a:headEnd/>
                  <a:tailEnd/>
                </a:ln>
              </p:spPr>
            </p:pic>
            <p:sp>
              <p:nvSpPr>
                <p:cNvPr id="172070" name="Line 21"/>
                <p:cNvSpPr>
                  <a:spLocks noChangeShapeType="1"/>
                </p:cNvSpPr>
                <p:nvPr/>
              </p:nvSpPr>
              <p:spPr bwMode="auto">
                <a:xfrm>
                  <a:off x="5109" y="3748"/>
                  <a:ext cx="0" cy="136"/>
                </a:xfrm>
                <a:prstGeom prst="line">
                  <a:avLst/>
                </a:prstGeom>
                <a:noFill/>
                <a:ln w="9525">
                  <a:solidFill>
                    <a:schemeClr val="tx1"/>
                  </a:solidFill>
                  <a:round/>
                  <a:headEnd/>
                  <a:tailEnd/>
                </a:ln>
              </p:spPr>
              <p:txBody>
                <a:bodyPr anchor="ctr"/>
                <a:lstStyle/>
                <a:p>
                  <a:endParaRPr lang="ko-KR" altLang="en-US" dirty="0"/>
                </a:p>
              </p:txBody>
            </p:sp>
            <p:sp>
              <p:nvSpPr>
                <p:cNvPr id="172071" name="Line 22"/>
                <p:cNvSpPr>
                  <a:spLocks noChangeShapeType="1"/>
                </p:cNvSpPr>
                <p:nvPr/>
              </p:nvSpPr>
              <p:spPr bwMode="auto">
                <a:xfrm>
                  <a:off x="5681" y="3755"/>
                  <a:ext cx="0" cy="136"/>
                </a:xfrm>
                <a:prstGeom prst="line">
                  <a:avLst/>
                </a:prstGeom>
                <a:noFill/>
                <a:ln w="9525">
                  <a:solidFill>
                    <a:schemeClr val="tx1"/>
                  </a:solidFill>
                  <a:round/>
                  <a:headEnd/>
                  <a:tailEnd/>
                </a:ln>
              </p:spPr>
              <p:txBody>
                <a:bodyPr anchor="ctr"/>
                <a:lstStyle/>
                <a:p>
                  <a:endParaRPr lang="ko-KR" altLang="en-US" dirty="0"/>
                </a:p>
              </p:txBody>
            </p:sp>
          </p:grpSp>
          <p:sp>
            <p:nvSpPr>
              <p:cNvPr id="172065" name="Text Box 23"/>
              <p:cNvSpPr txBox="1">
                <a:spLocks noChangeArrowheads="1"/>
              </p:cNvSpPr>
              <p:nvPr/>
            </p:nvSpPr>
            <p:spPr bwMode="auto">
              <a:xfrm>
                <a:off x="4875" y="3762"/>
                <a:ext cx="408" cy="162"/>
              </a:xfrm>
              <a:prstGeom prst="rect">
                <a:avLst/>
              </a:prstGeom>
              <a:noFill/>
              <a:ln w="9525" algn="ctr">
                <a:noFill/>
                <a:miter lim="800000"/>
                <a:headEnd/>
                <a:tailEnd/>
              </a:ln>
            </p:spPr>
            <p:txBody>
              <a:bodyPr>
                <a:spAutoFit/>
              </a:bodyPr>
              <a:lstStyle/>
              <a:p>
                <a:pPr algn="ctr">
                  <a:spcBef>
                    <a:spcPct val="50000"/>
                  </a:spcBef>
                </a:pPr>
                <a:r>
                  <a:rPr lang="en-US" altLang="ko-KR" sz="1000" dirty="0">
                    <a:solidFill>
                      <a:srgbClr val="000000"/>
                    </a:solidFill>
                    <a:latin typeface="Arial" pitchFamily="34" charset="0"/>
                  </a:rPr>
                  <a:t>-3</a:t>
                </a:r>
              </a:p>
            </p:txBody>
          </p:sp>
          <p:sp>
            <p:nvSpPr>
              <p:cNvPr id="172066" name="Text Box 24"/>
              <p:cNvSpPr txBox="1">
                <a:spLocks noChangeArrowheads="1"/>
              </p:cNvSpPr>
              <p:nvPr/>
            </p:nvSpPr>
            <p:spPr bwMode="auto">
              <a:xfrm>
                <a:off x="5466" y="3763"/>
                <a:ext cx="408" cy="162"/>
              </a:xfrm>
              <a:prstGeom prst="rect">
                <a:avLst/>
              </a:prstGeom>
              <a:noFill/>
              <a:ln w="9525" algn="ctr">
                <a:noFill/>
                <a:miter lim="800000"/>
                <a:headEnd/>
                <a:tailEnd/>
              </a:ln>
            </p:spPr>
            <p:txBody>
              <a:bodyPr>
                <a:spAutoFit/>
              </a:bodyPr>
              <a:lstStyle/>
              <a:p>
                <a:pPr algn="ctr">
                  <a:spcBef>
                    <a:spcPct val="50000"/>
                  </a:spcBef>
                </a:pPr>
                <a:r>
                  <a:rPr lang="en-US" altLang="ko-KR" sz="1000" dirty="0">
                    <a:solidFill>
                      <a:srgbClr val="000000"/>
                    </a:solidFill>
                    <a:latin typeface="Arial" pitchFamily="34" charset="0"/>
                  </a:rPr>
                  <a:t>3</a:t>
                </a:r>
              </a:p>
            </p:txBody>
          </p:sp>
          <p:sp>
            <p:nvSpPr>
              <p:cNvPr id="172067" name="Text Box 25"/>
              <p:cNvSpPr txBox="1">
                <a:spLocks noChangeArrowheads="1"/>
              </p:cNvSpPr>
              <p:nvPr/>
            </p:nvSpPr>
            <p:spPr bwMode="auto">
              <a:xfrm>
                <a:off x="5148" y="3607"/>
                <a:ext cx="458" cy="162"/>
              </a:xfrm>
              <a:prstGeom prst="rect">
                <a:avLst/>
              </a:prstGeom>
              <a:noFill/>
              <a:ln w="9525" algn="ctr">
                <a:noFill/>
                <a:miter lim="800000"/>
                <a:headEnd/>
                <a:tailEnd/>
              </a:ln>
            </p:spPr>
            <p:txBody>
              <a:bodyPr wrap="square">
                <a:spAutoFit/>
              </a:bodyPr>
              <a:lstStyle/>
              <a:p>
                <a:pPr algn="ctr">
                  <a:spcBef>
                    <a:spcPct val="50000"/>
                  </a:spcBef>
                </a:pPr>
                <a:r>
                  <a:rPr lang="en-US" altLang="ko-KR" sz="1000" dirty="0">
                    <a:solidFill>
                      <a:srgbClr val="000000"/>
                    </a:solidFill>
                    <a:latin typeface="Arial" pitchFamily="34" charset="0"/>
                  </a:rPr>
                  <a:t>0.9973</a:t>
                </a:r>
              </a:p>
            </p:txBody>
          </p:sp>
          <p:sp>
            <p:nvSpPr>
              <p:cNvPr id="172068" name="Line 26"/>
              <p:cNvSpPr>
                <a:spLocks noChangeShapeType="1"/>
              </p:cNvSpPr>
              <p:nvPr/>
            </p:nvSpPr>
            <p:spPr bwMode="auto">
              <a:xfrm>
                <a:off x="5091" y="3922"/>
                <a:ext cx="590" cy="0"/>
              </a:xfrm>
              <a:prstGeom prst="line">
                <a:avLst/>
              </a:prstGeom>
              <a:noFill/>
              <a:ln w="9525">
                <a:solidFill>
                  <a:srgbClr val="0000FF"/>
                </a:solidFill>
                <a:round/>
                <a:headEnd type="triangle" w="med" len="med"/>
                <a:tailEnd type="triangle" w="med" len="med"/>
              </a:ln>
            </p:spPr>
            <p:txBody>
              <a:bodyPr anchor="ctr"/>
              <a:lstStyle/>
              <a:p>
                <a:endParaRPr lang="ko-KR" altLang="en-US" dirty="0"/>
              </a:p>
            </p:txBody>
          </p:sp>
        </p:grpSp>
        <p:sp>
          <p:nvSpPr>
            <p:cNvPr id="172063" name="Text Box 27"/>
            <p:cNvSpPr txBox="1">
              <a:spLocks noChangeArrowheads="1"/>
            </p:cNvSpPr>
            <p:nvPr/>
          </p:nvSpPr>
          <p:spPr bwMode="auto">
            <a:xfrm>
              <a:off x="5186" y="3904"/>
              <a:ext cx="408" cy="162"/>
            </a:xfrm>
            <a:prstGeom prst="rect">
              <a:avLst/>
            </a:prstGeom>
            <a:noFill/>
            <a:ln w="9525" algn="ctr">
              <a:noFill/>
              <a:miter lim="800000"/>
              <a:headEnd/>
              <a:tailEnd/>
            </a:ln>
          </p:spPr>
          <p:txBody>
            <a:bodyPr>
              <a:spAutoFit/>
            </a:bodyPr>
            <a:lstStyle/>
            <a:p>
              <a:pPr algn="ctr">
                <a:spcBef>
                  <a:spcPct val="50000"/>
                </a:spcBef>
              </a:pPr>
              <a:r>
                <a:rPr lang="en-US" altLang="ko-KR" sz="1000" dirty="0">
                  <a:solidFill>
                    <a:srgbClr val="000000"/>
                  </a:solidFill>
                  <a:latin typeface="Arial" pitchFamily="34" charset="0"/>
                </a:rPr>
                <a:t>6</a:t>
              </a:r>
            </a:p>
          </p:txBody>
        </p:sp>
      </p:grpSp>
      <p:sp>
        <p:nvSpPr>
          <p:cNvPr id="47" name="TextBox 46"/>
          <p:cNvSpPr txBox="1"/>
          <p:nvPr/>
        </p:nvSpPr>
        <p:spPr>
          <a:xfrm>
            <a:off x="251520" y="764704"/>
            <a:ext cx="8678197" cy="566309"/>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Gage R&amp;R Criteria</a:t>
            </a:r>
          </a:p>
          <a:p>
            <a:pPr marL="534988" indent="-169863" latinLnBrk="0">
              <a:lnSpc>
                <a:spcPct val="110000"/>
              </a:lnSpc>
              <a:buClr>
                <a:srgbClr val="595959"/>
              </a:buClr>
              <a:buFont typeface="Wingdings" pitchFamily="2" charset="2"/>
              <a:buChar char="§"/>
              <a:defRPr/>
            </a:pPr>
            <a:r>
              <a:rPr lang="en-US" altLang="ko-KR" sz="1400" b="1" kern="0" dirty="0">
                <a:solidFill>
                  <a:srgbClr val="000000"/>
                </a:solidFill>
                <a:latin typeface="맑은 고딕" pitchFamily="50" charset="-127"/>
                <a:ea typeface="맑은 고딕" pitchFamily="50" charset="-127"/>
              </a:rPr>
              <a:t>The criteria for determining the reliability of Gage R &amp; R are as follows.</a:t>
            </a:r>
            <a:endParaRPr kumimoji="0" lang="ko-KR" altLang="en-US" sz="1400" b="1" kern="0" dirty="0">
              <a:solidFill>
                <a:srgbClr val="000000"/>
              </a:solidFill>
              <a:latin typeface="맑은 고딕" pitchFamily="50" charset="-127"/>
              <a:ea typeface="맑은 고딕" pitchFamily="50" charset="-127"/>
            </a:endParaRPr>
          </a:p>
        </p:txBody>
      </p:sp>
      <p:sp>
        <p:nvSpPr>
          <p:cNvPr id="8" name="슬라이드 번호 개체 틀 7"/>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33</a:t>
            </a:fld>
            <a:endParaRPr lang="ko-KR" altLang="en-US" dirty="0"/>
          </a:p>
        </p:txBody>
      </p:sp>
      <p:grpSp>
        <p:nvGrpSpPr>
          <p:cNvPr id="7" name="그룹 25"/>
          <p:cNvGrpSpPr>
            <a:grpSpLocks/>
          </p:cNvGrpSpPr>
          <p:nvPr/>
        </p:nvGrpSpPr>
        <p:grpSpPr bwMode="auto">
          <a:xfrm>
            <a:off x="3104266" y="5733256"/>
            <a:ext cx="1253420" cy="554018"/>
            <a:chOff x="4998950" y="2143889"/>
            <a:chExt cx="1359782" cy="553978"/>
          </a:xfrm>
        </p:grpSpPr>
        <p:sp>
          <p:nvSpPr>
            <p:cNvPr id="49" name="TextBox 13"/>
            <p:cNvSpPr txBox="1">
              <a:spLocks noChangeArrowheads="1"/>
            </p:cNvSpPr>
            <p:nvPr/>
          </p:nvSpPr>
          <p:spPr bwMode="auto">
            <a:xfrm>
              <a:off x="5041230" y="2143889"/>
              <a:ext cx="1276796" cy="27697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Part variation</a:t>
              </a:r>
              <a:endParaRPr lang="en-US" sz="1200" b="1" dirty="0">
                <a:solidFill>
                  <a:srgbClr val="000000"/>
                </a:solidFill>
                <a:latin typeface="맑은 고딕" pitchFamily="50" charset="-127"/>
                <a:ea typeface="맑은 고딕" pitchFamily="50" charset="-127"/>
              </a:endParaRPr>
            </a:p>
          </p:txBody>
        </p:sp>
        <p:sp>
          <p:nvSpPr>
            <p:cNvPr id="50" name="TextBox 15"/>
            <p:cNvSpPr txBox="1">
              <a:spLocks noChangeArrowheads="1"/>
            </p:cNvSpPr>
            <p:nvPr/>
          </p:nvSpPr>
          <p:spPr bwMode="auto">
            <a:xfrm>
              <a:off x="4998950" y="2420888"/>
              <a:ext cx="1359782" cy="27697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Gage</a:t>
              </a:r>
              <a:r>
                <a:rPr 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variation</a:t>
              </a:r>
              <a:endParaRPr lang="en-US" sz="1200" b="1" dirty="0">
                <a:solidFill>
                  <a:srgbClr val="000000"/>
                </a:solidFill>
                <a:latin typeface="맑은 고딕" pitchFamily="50" charset="-127"/>
                <a:ea typeface="맑은 고딕" pitchFamily="50" charset="-127"/>
              </a:endParaRPr>
            </a:p>
          </p:txBody>
        </p:sp>
        <p:cxnSp>
          <p:nvCxnSpPr>
            <p:cNvPr id="51" name="직선 연결선 17"/>
            <p:cNvCxnSpPr>
              <a:cxnSpLocks noChangeShapeType="1"/>
            </p:cNvCxnSpPr>
            <p:nvPr/>
          </p:nvCxnSpPr>
          <p:spPr bwMode="auto">
            <a:xfrm>
              <a:off x="5285789" y="2420888"/>
              <a:ext cx="864096" cy="0"/>
            </a:xfrm>
            <a:prstGeom prst="line">
              <a:avLst/>
            </a:prstGeom>
            <a:noFill/>
            <a:ln w="12700" algn="ctr">
              <a:solidFill>
                <a:schemeClr val="tx1"/>
              </a:solidFill>
              <a:round/>
              <a:headEnd/>
              <a:tailEnd/>
            </a:ln>
          </p:spPr>
        </p:cxnSp>
      </p:grpSp>
      <p:sp>
        <p:nvSpPr>
          <p:cNvPr id="9" name="TextBox 8"/>
          <p:cNvSpPr txBox="1"/>
          <p:nvPr/>
        </p:nvSpPr>
        <p:spPr>
          <a:xfrm>
            <a:off x="4200087" y="5877272"/>
            <a:ext cx="705642" cy="276999"/>
          </a:xfrm>
          <a:prstGeom prst="rect">
            <a:avLst/>
          </a:prstGeom>
          <a:noFill/>
        </p:spPr>
        <p:txBody>
          <a:bodyPr wrap="none" rtlCol="0">
            <a:spAutoFit/>
          </a:bodyPr>
          <a:lstStyle/>
          <a:p>
            <a:r>
              <a:rPr lang="en-US" altLang="ko-KR" sz="1200" dirty="0"/>
              <a:t>X 1.414</a:t>
            </a:r>
            <a:endParaRPr lang="ko-KR" altLang="en-US" sz="1200" dirty="0"/>
          </a:p>
        </p:txBody>
      </p:sp>
      <p:sp>
        <p:nvSpPr>
          <p:cNvPr id="52" name="TextBox 51"/>
          <p:cNvSpPr txBox="1"/>
          <p:nvPr/>
        </p:nvSpPr>
        <p:spPr>
          <a:xfrm>
            <a:off x="3059832" y="5877272"/>
            <a:ext cx="292068" cy="276999"/>
          </a:xfrm>
          <a:prstGeom prst="rect">
            <a:avLst/>
          </a:prstGeom>
          <a:noFill/>
        </p:spPr>
        <p:txBody>
          <a:bodyPr wrap="none" rtlCol="0">
            <a:spAutoFit/>
          </a:bodyPr>
          <a:lstStyle/>
          <a:p>
            <a:r>
              <a:rPr lang="en-US" altLang="ko-KR" sz="1200" dirty="0"/>
              <a:t>=</a:t>
            </a:r>
            <a:endParaRPr lang="ko-KR" altLang="en-US" sz="1200" dirty="0"/>
          </a:p>
        </p:txBody>
      </p:sp>
      <p:sp>
        <p:nvSpPr>
          <p:cNvPr id="54"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93381046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692696"/>
            <a:ext cx="8280889" cy="329321"/>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Hạng</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mục</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chú</a:t>
            </a:r>
            <a:r>
              <a:rPr kumimoji="0" lang="en-US" altLang="ko-KR" sz="1400" b="1" kern="0" dirty="0">
                <a:solidFill>
                  <a:srgbClr val="000000"/>
                </a:solidFill>
                <a:latin typeface="맑은 고딕" pitchFamily="50" charset="-127"/>
                <a:ea typeface="맑은 고딕" pitchFamily="50" charset="-127"/>
              </a:rPr>
              <a:t> ý </a:t>
            </a:r>
            <a:r>
              <a:rPr kumimoji="0" lang="en-US" altLang="ko-KR" sz="1400" b="1" kern="0" dirty="0" err="1">
                <a:solidFill>
                  <a:srgbClr val="000000"/>
                </a:solidFill>
                <a:latin typeface="맑은 고딕" pitchFamily="50" charset="-127"/>
                <a:ea typeface="맑은 고딕" pitchFamily="50" charset="-127"/>
              </a:rPr>
              <a:t>khi</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thiết</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lập</a:t>
            </a:r>
            <a:r>
              <a:rPr kumimoji="0" lang="en-US" altLang="ko-KR" sz="1400" b="1" kern="0" dirty="0">
                <a:solidFill>
                  <a:srgbClr val="000000"/>
                </a:solidFill>
                <a:latin typeface="맑은 고딕" pitchFamily="50" charset="-127"/>
                <a:ea typeface="맑은 고딕" pitchFamily="50" charset="-127"/>
              </a:rPr>
              <a:t> Gage R&amp;R </a:t>
            </a:r>
            <a:r>
              <a:rPr kumimoji="0" lang="en-US" altLang="ko-KR" sz="1400" b="1" kern="0" dirty="0" err="1">
                <a:solidFill>
                  <a:srgbClr val="000000"/>
                </a:solidFill>
                <a:latin typeface="맑은 고딕" pitchFamily="50" charset="-127"/>
                <a:ea typeface="맑은 고딕" pitchFamily="50" charset="-127"/>
              </a:rPr>
              <a:t>và</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biện</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pháp</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đo</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đạc</a:t>
            </a:r>
            <a:endParaRPr kumimoji="0" lang="ko-KR" altLang="en-US" sz="1400" b="1" kern="0" dirty="0">
              <a:solidFill>
                <a:srgbClr val="000000"/>
              </a:solidFill>
              <a:latin typeface="맑은 고딕" pitchFamily="50" charset="-127"/>
              <a:ea typeface="맑은 고딕" pitchFamily="50" charset="-127"/>
            </a:endParaRPr>
          </a:p>
        </p:txBody>
      </p:sp>
      <p:sp>
        <p:nvSpPr>
          <p:cNvPr id="169988" name="TextBox 3"/>
          <p:cNvSpPr txBox="1">
            <a:spLocks noChangeArrowheads="1"/>
          </p:cNvSpPr>
          <p:nvPr/>
        </p:nvSpPr>
        <p:spPr bwMode="auto">
          <a:xfrm>
            <a:off x="681404" y="980728"/>
            <a:ext cx="2100255" cy="307777"/>
          </a:xfrm>
          <a:prstGeom prst="rect">
            <a:avLst/>
          </a:prstGeom>
          <a:noFill/>
          <a:ln w="9525">
            <a:noFill/>
            <a:miter lim="800000"/>
            <a:headEnd/>
            <a:tailEnd/>
          </a:ln>
        </p:spPr>
        <p:txBody>
          <a:bodyPr wrap="none">
            <a:spAutoFit/>
          </a:bodyPr>
          <a:lstStyle/>
          <a:p>
            <a:pPr>
              <a:buFont typeface="Wingdings" pitchFamily="2" charset="2"/>
              <a:buChar char="v"/>
            </a:pPr>
            <a:r>
              <a:rPr lang="ko-KR" altLang="en-US"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Nội</a:t>
            </a:r>
            <a:r>
              <a:rPr lang="en-US" altLang="ko-KR" sz="1400" b="1" dirty="0">
                <a:solidFill>
                  <a:srgbClr val="000000"/>
                </a:solidFill>
                <a:latin typeface="맑은 고딕" pitchFamily="50" charset="-127"/>
                <a:ea typeface="맑은 고딕" pitchFamily="50" charset="-127"/>
              </a:rPr>
              <a:t> dung </a:t>
            </a:r>
            <a:r>
              <a:rPr lang="en-US" altLang="ko-KR" sz="1400" b="1" dirty="0" err="1">
                <a:solidFill>
                  <a:srgbClr val="000000"/>
                </a:solidFill>
                <a:latin typeface="맑은 고딕" pitchFamily="50" charset="-127"/>
                <a:ea typeface="맑은 고딕" pitchFamily="50" charset="-127"/>
              </a:rPr>
              <a:t>cần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chú</a:t>
            </a:r>
            <a:r>
              <a:rPr lang="en-US" altLang="ko-KR" sz="1400" b="1" dirty="0">
                <a:solidFill>
                  <a:srgbClr val="000000"/>
                </a:solidFill>
                <a:latin typeface="맑은 고딕" pitchFamily="50" charset="-127"/>
                <a:ea typeface="맑은 고딕" pitchFamily="50" charset="-127"/>
              </a:rPr>
              <a:t> ý</a:t>
            </a:r>
            <a:endParaRPr lang="ko-KR" altLang="en-US" sz="1400" b="1" dirty="0">
              <a:solidFill>
                <a:srgbClr val="000000"/>
              </a:solidFill>
              <a:latin typeface="맑은 고딕" pitchFamily="50" charset="-127"/>
              <a:ea typeface="맑은 고딕" pitchFamily="50" charset="-127"/>
            </a:endParaRPr>
          </a:p>
        </p:txBody>
      </p:sp>
      <p:graphicFrame>
        <p:nvGraphicFramePr>
          <p:cNvPr id="5" name="표 4"/>
          <p:cNvGraphicFramePr>
            <a:graphicFrameLocks noGrp="1"/>
          </p:cNvGraphicFramePr>
          <p:nvPr>
            <p:extLst>
              <p:ext uri="{D42A27DB-BD31-4B8C-83A1-F6EECF244321}">
                <p14:modId xmlns:p14="http://schemas.microsoft.com/office/powerpoint/2010/main" val="4116250693"/>
              </p:ext>
            </p:extLst>
          </p:nvPr>
        </p:nvGraphicFramePr>
        <p:xfrm>
          <a:off x="755576" y="1340768"/>
          <a:ext cx="7936883" cy="4575369"/>
        </p:xfrm>
        <a:graphic>
          <a:graphicData uri="http://schemas.openxmlformats.org/drawingml/2006/table">
            <a:tbl>
              <a:tblPr firstRow="1" bandRow="1">
                <a:tableStyleId>{5C22544A-7EE6-4342-B048-85BDC9FD1C3A}</a:tableStyleId>
              </a:tblPr>
              <a:tblGrid>
                <a:gridCol w="1080120">
                  <a:extLst>
                    <a:ext uri="{9D8B030D-6E8A-4147-A177-3AD203B41FA5}">
                      <a16:colId xmlns:a16="http://schemas.microsoft.com/office/drawing/2014/main" val="20000"/>
                    </a:ext>
                  </a:extLst>
                </a:gridCol>
                <a:gridCol w="6856763">
                  <a:extLst>
                    <a:ext uri="{9D8B030D-6E8A-4147-A177-3AD203B41FA5}">
                      <a16:colId xmlns:a16="http://schemas.microsoft.com/office/drawing/2014/main" val="20001"/>
                    </a:ext>
                  </a:extLst>
                </a:gridCol>
              </a:tblGrid>
              <a:tr h="289208">
                <a:tc>
                  <a:txBody>
                    <a:bodyPr/>
                    <a:lstStyle/>
                    <a:p>
                      <a:pPr algn="ctr"/>
                      <a:r>
                        <a:rPr lang="en-US" sz="1400" b="1" dirty="0" err="1">
                          <a:solidFill>
                            <a:schemeClr val="tx1"/>
                          </a:solidFill>
                          <a:latin typeface="맑은 고딕" pitchFamily="50" charset="-127"/>
                          <a:ea typeface="맑은 고딕" pitchFamily="50" charset="-127"/>
                        </a:rPr>
                        <a:t>Hạng</a:t>
                      </a:r>
                      <a:r>
                        <a:rPr lang="en-US" sz="1400" b="1" dirty="0">
                          <a:solidFill>
                            <a:schemeClr val="tx1"/>
                          </a:solidFill>
                          <a:latin typeface="맑은 고딕" pitchFamily="50" charset="-127"/>
                          <a:ea typeface="맑은 고딕" pitchFamily="50" charset="-127"/>
                        </a:rPr>
                        <a:t> </a:t>
                      </a:r>
                      <a:r>
                        <a:rPr lang="en-US" sz="1400" b="1" dirty="0" err="1">
                          <a:solidFill>
                            <a:schemeClr val="tx1"/>
                          </a:solidFill>
                          <a:latin typeface="맑은 고딕" pitchFamily="50" charset="-127"/>
                          <a:ea typeface="맑은 고딕" pitchFamily="50" charset="-127"/>
                        </a:rPr>
                        <a:t>mục</a:t>
                      </a:r>
                      <a:endParaRPr lang="en-US" sz="14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b="1" dirty="0" err="1">
                          <a:solidFill>
                            <a:schemeClr val="tx1"/>
                          </a:solidFill>
                          <a:latin typeface="맑은 고딕" pitchFamily="50" charset="-127"/>
                          <a:ea typeface="맑은 고딕" pitchFamily="50" charset="-127"/>
                        </a:rPr>
                        <a:t>Nội</a:t>
                      </a:r>
                      <a:r>
                        <a:rPr lang="en-US" sz="1400" b="1" baseline="0" dirty="0">
                          <a:solidFill>
                            <a:schemeClr val="tx1"/>
                          </a:solidFill>
                          <a:latin typeface="맑은 고딕" pitchFamily="50" charset="-127"/>
                          <a:ea typeface="맑은 고딕" pitchFamily="50" charset="-127"/>
                        </a:rPr>
                        <a:t> dung chi </a:t>
                      </a:r>
                      <a:r>
                        <a:rPr lang="en-US" sz="1400" b="1" baseline="0" dirty="0" err="1">
                          <a:solidFill>
                            <a:schemeClr val="tx1"/>
                          </a:solidFill>
                          <a:latin typeface="맑은 고딕" pitchFamily="50" charset="-127"/>
                          <a:ea typeface="맑은 고딕" pitchFamily="50" charset="-127"/>
                        </a:rPr>
                        <a:t>tiết</a:t>
                      </a:r>
                      <a:endParaRPr lang="en-US" sz="14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203940">
                <a:tc>
                  <a:txBody>
                    <a:bodyPr/>
                    <a:lstStyle/>
                    <a:p>
                      <a:pPr algn="ctr"/>
                      <a:r>
                        <a:rPr lang="en-US" sz="1100" b="1" dirty="0" err="1">
                          <a:solidFill>
                            <a:schemeClr val="tx1"/>
                          </a:solidFill>
                          <a:latin typeface="맑은 고딕" pitchFamily="50" charset="-127"/>
                          <a:ea typeface="맑은 고딕" pitchFamily="50" charset="-127"/>
                        </a:rPr>
                        <a:t>Lựa</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chọn</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vật</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thí</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nghiệm</a:t>
                      </a:r>
                      <a:endParaRPr lang="en-US" sz="11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28600" indent="-228600">
                        <a:buAutoNum type="arabicParenR"/>
                      </a:pPr>
                      <a:r>
                        <a:rPr lang="en-US" altLang="ko-KR" sz="1200" b="1" dirty="0" err="1">
                          <a:solidFill>
                            <a:schemeClr val="tx1"/>
                          </a:solidFill>
                          <a:latin typeface="맑은 고딕" pitchFamily="50" charset="-127"/>
                          <a:ea typeface="맑은 고딕" pitchFamily="50" charset="-127"/>
                        </a:rPr>
                        <a:t>Phải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lựa</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chọn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mẫu</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vật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có</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toàn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bộ</a:t>
                      </a:r>
                      <a:r>
                        <a:rPr lang="en-US" altLang="ko-KR" sz="1200" b="1" baseline="0" dirty="0">
                          <a:solidFill>
                            <a:schemeClr val="tx1"/>
                          </a:solidFill>
                          <a:latin typeface="맑은 고딕" pitchFamily="50" charset="-127"/>
                          <a:ea typeface="맑은 고딕" pitchFamily="50" charset="-127"/>
                        </a:rPr>
                        <a:t> Spec </a:t>
                      </a:r>
                      <a:r>
                        <a:rPr lang="en-US" altLang="ko-KR" sz="1200" b="1" baseline="0" dirty="0" err="1">
                          <a:solidFill>
                            <a:schemeClr val="tx1"/>
                          </a:solidFill>
                          <a:latin typeface="맑은 고딕" pitchFamily="50" charset="-127"/>
                          <a:ea typeface="맑은 고딕" pitchFamily="50" charset="-127"/>
                        </a:rPr>
                        <a:t>hoặc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bao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hàm</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sự</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phân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tán</a:t>
                      </a:r>
                      <a:r>
                        <a:rPr lang="en-US" altLang="ko-KR" sz="1200" b="1" baseline="0" dirty="0">
                          <a:solidFill>
                            <a:schemeClr val="tx1"/>
                          </a:solidFill>
                          <a:latin typeface="맑은 고딕" pitchFamily="50" charset="-127"/>
                          <a:ea typeface="맑은 고딕" pitchFamily="50" charset="-127"/>
                        </a:rPr>
                        <a:t>/</a:t>
                      </a:r>
                      <a:r>
                        <a:rPr lang="en-US" altLang="ko-KR" sz="1200" b="1" baseline="0" dirty="0" err="1">
                          <a:solidFill>
                            <a:schemeClr val="tx1"/>
                          </a:solidFill>
                          <a:latin typeface="맑은 고딕" pitchFamily="50" charset="-127"/>
                          <a:ea typeface="맑은 고딕" pitchFamily="50" charset="-127"/>
                        </a:rPr>
                        <a:t>phân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bố</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của</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quá</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trình</a:t>
                      </a:r>
                      <a:endParaRPr lang="en-US" altLang="ko-KR" sz="1200" b="1" dirty="0">
                        <a:solidFill>
                          <a:schemeClr val="tx1"/>
                        </a:solidFill>
                        <a:latin typeface="맑은 고딕" pitchFamily="50" charset="-127"/>
                        <a:ea typeface="맑은 고딕" pitchFamily="50" charset="-127"/>
                      </a:endParaRPr>
                    </a:p>
                    <a:p>
                      <a:pPr marL="228600" indent="-228600">
                        <a:buNone/>
                      </a:pPr>
                      <a:r>
                        <a:rPr kumimoji="0" lang="en-US" altLang="ko-KR" sz="1200" b="1" kern="0" dirty="0">
                          <a:solidFill>
                            <a:schemeClr val="tx1"/>
                          </a:solidFill>
                          <a:latin typeface="맑은 고딕" pitchFamily="50" charset="-127"/>
                          <a:ea typeface="맑은 고딕" pitchFamily="50" charset="-127"/>
                        </a:rPr>
                        <a:t>   </a:t>
                      </a:r>
                      <a:r>
                        <a:rPr kumimoji="0" lang="ko-KR" altLang="en-US" sz="1200" kern="0" dirty="0">
                          <a:solidFill>
                            <a:sysClr val="windowText" lastClr="000000"/>
                          </a:solidFill>
                          <a:latin typeface="맑은 고딕" pitchFamily="50" charset="-127"/>
                          <a:ea typeface="맑은 고딕" pitchFamily="50" charset="-127"/>
                        </a:rPr>
                        <a:t> </a:t>
                      </a:r>
                      <a:r>
                        <a:rPr kumimoji="0" lang="en-US" altLang="ko-KR" sz="1200" kern="0" dirty="0">
                          <a:solidFill>
                            <a:sysClr val="windowText" lastClr="000000"/>
                          </a:solidFill>
                          <a:latin typeface="맑은 고딕" pitchFamily="50" charset="-127"/>
                          <a:ea typeface="맑은 고딕" pitchFamily="50" charset="-127"/>
                        </a:rPr>
                        <a:t>-</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Thông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thường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được</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đề</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nghị</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từ</a:t>
                      </a:r>
                      <a:r>
                        <a:rPr kumimoji="0" lang="ko-KR" altLang="en-US" sz="1200" kern="0" dirty="0">
                          <a:solidFill>
                            <a:sysClr val="windowText" lastClr="000000"/>
                          </a:solidFill>
                          <a:latin typeface="맑은 고딕" pitchFamily="50" charset="-127"/>
                          <a:ea typeface="맑은 고딕" pitchFamily="50" charset="-127"/>
                        </a:rPr>
                        <a:t> </a:t>
                      </a:r>
                      <a:r>
                        <a:rPr kumimoji="0" lang="en-US" altLang="ko-KR" sz="1200" kern="0" dirty="0">
                          <a:solidFill>
                            <a:sysClr val="windowText" lastClr="000000"/>
                          </a:solidFill>
                          <a:latin typeface="맑은 고딕" pitchFamily="50" charset="-127"/>
                          <a:ea typeface="맑은 고딕" pitchFamily="50" charset="-127"/>
                        </a:rPr>
                        <a:t>±10~20% , </a:t>
                      </a:r>
                      <a:r>
                        <a:rPr kumimoji="0" lang="en-US" altLang="ko-KR" sz="1200" kern="0" dirty="0" err="1">
                          <a:solidFill>
                            <a:sysClr val="windowText" lastClr="000000"/>
                          </a:solidFill>
                          <a:latin typeface="맑은 고딕" pitchFamily="50" charset="-127"/>
                          <a:ea typeface="맑은 고딕" pitchFamily="50" charset="-127"/>
                        </a:rPr>
                        <a:t>Nhưng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cần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phải</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xem</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xét</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tình</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trạng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quản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lý</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tồn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kho</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hiện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tại</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để</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lựa</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chọn</a:t>
                      </a:r>
                      <a:endParaRPr kumimoji="0" lang="en-US" altLang="ko-KR" sz="1200" kern="0" dirty="0">
                        <a:solidFill>
                          <a:sysClr val="windowText" lastClr="000000"/>
                        </a:solidFill>
                        <a:latin typeface="맑은 고딕" pitchFamily="50" charset="-127"/>
                        <a:ea typeface="맑은 고딕" pitchFamily="50" charset="-127"/>
                      </a:endParaRPr>
                    </a:p>
                    <a:p>
                      <a:pPr marL="228600" indent="-228600">
                        <a:buNone/>
                      </a:pP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Ví</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dụ</a:t>
                      </a:r>
                      <a:r>
                        <a:rPr kumimoji="0" lang="en-US" altLang="ko-KR" sz="1200" kern="0" dirty="0">
                          <a:solidFill>
                            <a:sysClr val="windowText" lastClr="000000"/>
                          </a:solidFill>
                          <a:latin typeface="맑은 고딕" pitchFamily="50" charset="-127"/>
                          <a:ea typeface="맑은 고딕" pitchFamily="50" charset="-127"/>
                        </a:rPr>
                        <a:t>,</a:t>
                      </a:r>
                      <a:r>
                        <a:rPr kumimoji="0" lang="ko-KR" altLang="en-US" sz="1200" kern="0" dirty="0">
                          <a:solidFill>
                            <a:sysClr val="windowText" lastClr="000000"/>
                          </a:solidFill>
                          <a:latin typeface="맑은 고딕" pitchFamily="50" charset="-127"/>
                          <a:ea typeface="맑은 고딕" pitchFamily="50" charset="-127"/>
                        </a:rPr>
                        <a:t> </a:t>
                      </a:r>
                      <a:r>
                        <a:rPr kumimoji="0" lang="en-US" altLang="ko-KR" sz="1200" kern="0" dirty="0" err="1">
                          <a:solidFill>
                            <a:sysClr val="windowText" lastClr="000000"/>
                          </a:solidFill>
                          <a:latin typeface="맑은 고딕" pitchFamily="50" charset="-127"/>
                          <a:ea typeface="맑은 고딕" pitchFamily="50" charset="-127"/>
                        </a:rPr>
                        <a:t>Thông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thường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hàng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tồn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kho</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phạm</a:t>
                      </a:r>
                      <a:r>
                        <a:rPr kumimoji="0" lang="en-US" altLang="ko-KR" sz="1200" kern="0" baseline="0" dirty="0">
                          <a:solidFill>
                            <a:sysClr val="windowText" lastClr="000000"/>
                          </a:solidFill>
                          <a:latin typeface="맑은 고딕" pitchFamily="50" charset="-127"/>
                          <a:ea typeface="맑은 고딕" pitchFamily="50" charset="-127"/>
                        </a:rPr>
                        <a:t> vi </a:t>
                      </a:r>
                      <a:r>
                        <a:rPr kumimoji="0" lang="en-US" altLang="ko-KR" sz="1200" kern="0" dirty="0">
                          <a:solidFill>
                            <a:sysClr val="windowText" lastClr="000000"/>
                          </a:solidFill>
                          <a:latin typeface="맑은 고딕" pitchFamily="50" charset="-127"/>
                          <a:ea typeface="맑은 고딕" pitchFamily="50" charset="-127"/>
                        </a:rPr>
                        <a:t>Spec±30%, </a:t>
                      </a:r>
                      <a:r>
                        <a:rPr kumimoji="0" lang="en-US" altLang="ko-KR" sz="1200" kern="0" dirty="0" err="1">
                          <a:solidFill>
                            <a:sysClr val="windowText" lastClr="000000"/>
                          </a:solidFill>
                          <a:latin typeface="맑은 고딕" pitchFamily="50" charset="-127"/>
                          <a:ea typeface="맑은 고딕" pitchFamily="50" charset="-127"/>
                        </a:rPr>
                        <a:t>thì</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dirty="0">
                          <a:solidFill>
                            <a:sysClr val="windowText" lastClr="000000"/>
                          </a:solidFill>
                          <a:latin typeface="맑은 고딕" pitchFamily="50" charset="-127"/>
                          <a:ea typeface="맑은 고딕" pitchFamily="50" charset="-127"/>
                        </a:rPr>
                        <a:t>Spec ±30%!</a:t>
                      </a:r>
                    </a:p>
                    <a:p>
                      <a:pPr marL="228600" indent="-228600">
                        <a:buNone/>
                      </a:pPr>
                      <a:r>
                        <a:rPr kumimoji="0" lang="en-US" altLang="ko-KR" sz="1200" kern="0" dirty="0">
                          <a:solidFill>
                            <a:sysClr val="windowText" lastClr="000000"/>
                          </a:solidFill>
                          <a:latin typeface="맑은 고딕" pitchFamily="50" charset="-127"/>
                          <a:ea typeface="맑은 고딕" pitchFamily="50" charset="-127"/>
                        </a:rPr>
                        <a:t>                                 </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dirty="0" err="1">
                          <a:solidFill>
                            <a:sysClr val="windowText" lastClr="000000"/>
                          </a:solidFill>
                          <a:latin typeface="맑은 고딕" pitchFamily="50" charset="-127"/>
                          <a:ea typeface="맑은 고딕" pitchFamily="50" charset="-127"/>
                        </a:rPr>
                        <a:t>Hàng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tồn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kho</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phạm</a:t>
                      </a:r>
                      <a:r>
                        <a:rPr kumimoji="0" lang="en-US" altLang="ko-KR" sz="1200" kern="0" baseline="0" dirty="0">
                          <a:solidFill>
                            <a:sysClr val="windowText" lastClr="000000"/>
                          </a:solidFill>
                          <a:latin typeface="맑은 고딕" pitchFamily="50" charset="-127"/>
                          <a:ea typeface="맑은 고딕" pitchFamily="50" charset="-127"/>
                        </a:rPr>
                        <a:t> vi </a:t>
                      </a:r>
                      <a:r>
                        <a:rPr kumimoji="0" lang="en-US" altLang="ko-KR" sz="1200" kern="0" dirty="0">
                          <a:solidFill>
                            <a:sysClr val="windowText" lastClr="000000"/>
                          </a:solidFill>
                          <a:latin typeface="맑은 고딕" pitchFamily="50" charset="-127"/>
                          <a:ea typeface="맑은 고딕" pitchFamily="50" charset="-127"/>
                        </a:rPr>
                        <a:t>Spec±20%, </a:t>
                      </a:r>
                      <a:r>
                        <a:rPr kumimoji="0" lang="en-US" altLang="ko-KR" sz="1200" kern="0" dirty="0" err="1">
                          <a:solidFill>
                            <a:sysClr val="windowText" lastClr="000000"/>
                          </a:solidFill>
                          <a:latin typeface="맑은 고딕" pitchFamily="50" charset="-127"/>
                          <a:ea typeface="맑은 고딕" pitchFamily="50" charset="-127"/>
                        </a:rPr>
                        <a:t>thì</a:t>
                      </a:r>
                      <a:r>
                        <a:rPr kumimoji="0" lang="en-US" altLang="ko-KR" sz="1200" kern="0">
                          <a:solidFill>
                            <a:sysClr val="windowText" lastClr="000000"/>
                          </a:solidFill>
                          <a:latin typeface="맑은 고딕" pitchFamily="50" charset="-127"/>
                          <a:ea typeface="맑은 고딕" pitchFamily="50" charset="-127"/>
                        </a:rPr>
                        <a:t> Spec </a:t>
                      </a:r>
                      <a:r>
                        <a:rPr kumimoji="0" lang="en-US" altLang="ko-KR" sz="1200" kern="0" dirty="0">
                          <a:solidFill>
                            <a:sysClr val="windowText" lastClr="000000"/>
                          </a:solidFill>
                          <a:latin typeface="맑은 고딕" pitchFamily="50" charset="-127"/>
                          <a:ea typeface="맑은 고딕" pitchFamily="50" charset="-127"/>
                        </a:rPr>
                        <a:t>±20%!</a:t>
                      </a:r>
                    </a:p>
                    <a:p>
                      <a:pPr marL="228600" indent="-228600">
                        <a:buNone/>
                      </a:pPr>
                      <a:r>
                        <a:rPr kumimoji="0" lang="en-US" altLang="ko-KR" sz="1200" kern="0" baseline="0" dirty="0">
                          <a:solidFill>
                            <a:sysClr val="windowText" lastClr="000000"/>
                          </a:solidFill>
                          <a:latin typeface="맑은 고딕" pitchFamily="50" charset="-127"/>
                          <a:ea typeface="맑은 고딕" pitchFamily="50" charset="-127"/>
                        </a:rPr>
                        <a:t>    - </a:t>
                      </a:r>
                      <a:r>
                        <a:rPr kumimoji="0" lang="en-US" altLang="ko-KR" sz="1200" kern="0" baseline="0" dirty="0" err="1">
                          <a:solidFill>
                            <a:sysClr val="windowText" lastClr="000000"/>
                          </a:solidFill>
                          <a:latin typeface="맑은 고딕" pitchFamily="50" charset="-127"/>
                          <a:ea typeface="맑은 고딕" pitchFamily="50" charset="-127"/>
                        </a:rPr>
                        <a:t>Sự</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lựa</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chọn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mẫu</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thí</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nghiệm</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phải</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phản</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ánh</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trạng</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thái</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của</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quá</a:t>
                      </a:r>
                      <a:r>
                        <a:rPr kumimoji="0" lang="en-US" altLang="ko-KR" sz="1200" kern="0" baseline="0" dirty="0">
                          <a:solidFill>
                            <a:sysClr val="windowText" lastClr="000000"/>
                          </a:solidFill>
                          <a:latin typeface="맑은 고딕" pitchFamily="50" charset="-127"/>
                          <a:ea typeface="맑은 고딕" pitchFamily="50" charset="-127"/>
                        </a:rPr>
                        <a:t> </a:t>
                      </a:r>
                      <a:r>
                        <a:rPr kumimoji="0" lang="en-US" altLang="ko-KR" sz="1200" kern="0" baseline="0" dirty="0" err="1">
                          <a:solidFill>
                            <a:sysClr val="windowText" lastClr="000000"/>
                          </a:solidFill>
                          <a:latin typeface="맑은 고딕" pitchFamily="50" charset="-127"/>
                          <a:ea typeface="맑은 고딕" pitchFamily="50" charset="-127"/>
                        </a:rPr>
                        <a:t>trình</a:t>
                      </a:r>
                      <a:endParaRPr lang="en-US" altLang="ko-KR" sz="1200" b="1" dirty="0">
                        <a:solidFill>
                          <a:schemeClr val="tx1"/>
                        </a:solidFill>
                        <a:latin typeface="맑은 고딕" pitchFamily="50" charset="-127"/>
                        <a:ea typeface="맑은 고딕" pitchFamily="50" charset="-127"/>
                      </a:endParaRPr>
                    </a:p>
                    <a:p>
                      <a:pPr marL="228600" indent="-228600">
                        <a:buNone/>
                      </a:pPr>
                      <a:r>
                        <a:rPr lang="en-US" altLang="ko-KR" sz="1200" b="1" dirty="0">
                          <a:solidFill>
                            <a:schemeClr val="tx1"/>
                          </a:solidFill>
                          <a:latin typeface="맑은 고딕" pitchFamily="50" charset="-127"/>
                          <a:ea typeface="맑은 고딕" pitchFamily="50" charset="-127"/>
                        </a:rPr>
                        <a:t>2) </a:t>
                      </a:r>
                      <a:r>
                        <a:rPr lang="en-US" altLang="ko-KR" sz="1200" b="1" dirty="0" err="1">
                          <a:solidFill>
                            <a:schemeClr val="tx1"/>
                          </a:solidFill>
                          <a:latin typeface="맑은 고딕" pitchFamily="50" charset="-127"/>
                          <a:ea typeface="맑은 고딕" pitchFamily="50" charset="-127"/>
                        </a:rPr>
                        <a:t>Lựa</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chọn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ngẫu</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nhiên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bao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gồm</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cả</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mẫu</a:t>
                      </a:r>
                      <a:r>
                        <a:rPr lang="en-US" altLang="ko-KR" sz="1200" b="1" dirty="0">
                          <a:solidFill>
                            <a:schemeClr val="tx1"/>
                          </a:solidFill>
                          <a:latin typeface="맑은 고딕" pitchFamily="50" charset="-127"/>
                          <a:ea typeface="맑은 고딕" pitchFamily="50" charset="-127"/>
                        </a:rPr>
                        <a:t> SPEC</a:t>
                      </a:r>
                      <a:r>
                        <a:rPr lang="en-US" altLang="ko-KR" sz="1200" b="1" baseline="0" dirty="0">
                          <a:solidFill>
                            <a:schemeClr val="tx1"/>
                          </a:solidFill>
                          <a:latin typeface="맑은 고딕" pitchFamily="50" charset="-127"/>
                          <a:ea typeface="맑은 고딕" pitchFamily="50" charset="-127"/>
                        </a:rPr>
                        <a:t> out</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401313">
                <a:tc>
                  <a:txBody>
                    <a:bodyPr/>
                    <a:lstStyle/>
                    <a:p>
                      <a:pPr algn="ctr"/>
                      <a:r>
                        <a:rPr lang="en-US" sz="1200" b="1" dirty="0">
                          <a:solidFill>
                            <a:schemeClr val="tx1"/>
                          </a:solidFill>
                          <a:latin typeface="맑은 고딕" pitchFamily="50" charset="-127"/>
                          <a:ea typeface="맑은 고딕" pitchFamily="50" charset="-127"/>
                        </a:rPr>
                        <a:t>Blind test</a:t>
                      </a: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altLang="ko-KR" sz="1200" b="1" dirty="0" err="1">
                          <a:solidFill>
                            <a:schemeClr val="tx1"/>
                          </a:solidFill>
                          <a:latin typeface="맑은 고딕" pitchFamily="50" charset="-127"/>
                          <a:ea typeface="맑은 고딕" pitchFamily="50" charset="-127"/>
                        </a:rPr>
                        <a:t>Người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đạc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phải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không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được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biết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thông</a:t>
                      </a:r>
                      <a:r>
                        <a:rPr lang="en-US" altLang="ko-KR" sz="1200" b="1" baseline="0" dirty="0">
                          <a:solidFill>
                            <a:schemeClr val="tx1"/>
                          </a:solidFill>
                          <a:latin typeface="맑은 고딕" pitchFamily="50" charset="-127"/>
                          <a:ea typeface="맑은 고딕" pitchFamily="50" charset="-127"/>
                        </a:rPr>
                        <a:t> tin </a:t>
                      </a:r>
                      <a:r>
                        <a:rPr lang="en-US" altLang="ko-KR" sz="1200" b="1" baseline="0" dirty="0" err="1">
                          <a:solidFill>
                            <a:schemeClr val="tx1"/>
                          </a:solidFill>
                          <a:latin typeface="맑은 고딕" pitchFamily="50" charset="-127"/>
                          <a:ea typeface="맑은 고딕" pitchFamily="50" charset="-127"/>
                        </a:rPr>
                        <a:t>của</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vật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thí</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nghiệm</a:t>
                      </a:r>
                      <a:r>
                        <a:rPr lang="en-US" altLang="ko-KR" sz="1200" b="1" baseline="0" dirty="0">
                          <a:solidFill>
                            <a:schemeClr val="tx1"/>
                          </a:solidFill>
                          <a:latin typeface="맑은 고딕" pitchFamily="50" charset="-127"/>
                          <a:ea typeface="맑은 고딕" pitchFamily="50" charset="-127"/>
                        </a:rPr>
                        <a:t> </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668856">
                <a:tc>
                  <a:txBody>
                    <a:bodyPr/>
                    <a:lstStyle/>
                    <a:p>
                      <a:pPr algn="ctr"/>
                      <a:r>
                        <a:rPr lang="en-US" sz="1200" b="1" dirty="0" err="1">
                          <a:solidFill>
                            <a:schemeClr val="tx1"/>
                          </a:solidFill>
                          <a:latin typeface="맑은 고딕" pitchFamily="50" charset="-127"/>
                          <a:ea typeface="맑은 고딕" pitchFamily="50" charset="-127"/>
                        </a:rPr>
                        <a:t>Đo</a:t>
                      </a:r>
                      <a:r>
                        <a:rPr lang="en-US" sz="1200" b="1" baseline="0" dirty="0">
                          <a:solidFill>
                            <a:schemeClr val="tx1"/>
                          </a:solidFill>
                          <a:latin typeface="맑은 고딕" pitchFamily="50" charset="-127"/>
                          <a:ea typeface="맑은 고딕" pitchFamily="50" charset="-127"/>
                        </a:rPr>
                        <a:t> </a:t>
                      </a:r>
                      <a:r>
                        <a:rPr lang="en-US" sz="1200" b="1" baseline="0" dirty="0" err="1">
                          <a:solidFill>
                            <a:schemeClr val="tx1"/>
                          </a:solidFill>
                          <a:latin typeface="맑은 고딕" pitchFamily="50" charset="-127"/>
                          <a:ea typeface="맑은 고딕" pitchFamily="50" charset="-127"/>
                        </a:rPr>
                        <a:t>đạc</a:t>
                      </a:r>
                      <a:r>
                        <a:rPr lang="en-US" sz="1200" b="1" baseline="0" dirty="0">
                          <a:solidFill>
                            <a:schemeClr val="tx1"/>
                          </a:solidFill>
                          <a:latin typeface="맑은 고딕" pitchFamily="50" charset="-127"/>
                          <a:ea typeface="맑은 고딕" pitchFamily="50" charset="-127"/>
                        </a:rPr>
                        <a:t> </a:t>
                      </a:r>
                    </a:p>
                    <a:p>
                      <a:pPr algn="ctr"/>
                      <a:r>
                        <a:rPr lang="en-US" sz="1200" b="1" dirty="0">
                          <a:solidFill>
                            <a:schemeClr val="tx1"/>
                          </a:solidFill>
                          <a:latin typeface="맑은 고딕" pitchFamily="50" charset="-127"/>
                          <a:ea typeface="맑은 고딕" pitchFamily="50" charset="-127"/>
                        </a:rPr>
                        <a:t>Random </a:t>
                      </a: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altLang="ko-KR" sz="1200" b="1" dirty="0" err="1">
                          <a:solidFill>
                            <a:schemeClr val="tx1"/>
                          </a:solidFill>
                          <a:latin typeface="맑은 고딕" pitchFamily="50" charset="-127"/>
                          <a:ea typeface="맑은 고딕" pitchFamily="50" charset="-127"/>
                        </a:rPr>
                        <a:t>Quyết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định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một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cách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ngẫu</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nhiên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thứ</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tự</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đạc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của</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người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mẫu</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vật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và</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sự</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lặp</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lại</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01313">
                <a:tc>
                  <a:txBody>
                    <a:bodyPr/>
                    <a:lstStyle/>
                    <a:p>
                      <a:pPr algn="ctr"/>
                      <a:r>
                        <a:rPr lang="en-US" sz="1100" b="1" dirty="0" err="1">
                          <a:solidFill>
                            <a:schemeClr val="tx1"/>
                          </a:solidFill>
                          <a:latin typeface="맑은 고딕" pitchFamily="50" charset="-127"/>
                          <a:ea typeface="맑은 고딕" pitchFamily="50" charset="-127"/>
                        </a:rPr>
                        <a:t>Lựa</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chọn</a:t>
                      </a:r>
                      <a:r>
                        <a:rPr lang="en-US" sz="1100" b="1" baseline="0" dirty="0">
                          <a:solidFill>
                            <a:schemeClr val="tx1"/>
                          </a:solidFill>
                          <a:latin typeface="맑은 고딕" pitchFamily="50" charset="-127"/>
                          <a:ea typeface="맑은 고딕" pitchFamily="50" charset="-127"/>
                        </a:rPr>
                        <a:t> </a:t>
                      </a:r>
                    </a:p>
                    <a:p>
                      <a:pPr algn="ctr"/>
                      <a:r>
                        <a:rPr lang="en-US" sz="1100" b="1" baseline="0" dirty="0" err="1">
                          <a:solidFill>
                            <a:schemeClr val="tx1"/>
                          </a:solidFill>
                          <a:latin typeface="맑은 고딕" pitchFamily="50" charset="-127"/>
                          <a:ea typeface="맑은 고딕" pitchFamily="50" charset="-127"/>
                        </a:rPr>
                        <a:t>dụng</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cụ</a:t>
                      </a:r>
                      <a:r>
                        <a:rPr lang="en-US" sz="1100" b="1" baseline="0" dirty="0">
                          <a:solidFill>
                            <a:schemeClr val="tx1"/>
                          </a:solidFill>
                          <a:latin typeface="맑은 고딕" pitchFamily="50" charset="-127"/>
                          <a:ea typeface="맑은 고딕" pitchFamily="50" charset="-127"/>
                        </a:rPr>
                        <a:t> </a:t>
                      </a:r>
                      <a:r>
                        <a:rPr lang="en-US" sz="1100" b="1" baseline="0" dirty="0" err="1">
                          <a:solidFill>
                            <a:schemeClr val="tx1"/>
                          </a:solidFill>
                          <a:latin typeface="맑은 고딕" pitchFamily="50" charset="-127"/>
                          <a:ea typeface="맑은 고딕" pitchFamily="50" charset="-127"/>
                        </a:rPr>
                        <a:t>đo</a:t>
                      </a:r>
                      <a:endParaRPr lang="en-US" sz="11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맑은 고딕" pitchFamily="50" charset="-127"/>
                          <a:ea typeface="맑은 고딕" pitchFamily="50" charset="-127"/>
                        </a:rPr>
                        <a:t>Gage </a:t>
                      </a:r>
                      <a:r>
                        <a:rPr lang="en-US" altLang="ko-KR" sz="1200" b="1" dirty="0" err="1">
                          <a:solidFill>
                            <a:schemeClr val="tx1"/>
                          </a:solidFill>
                          <a:latin typeface="맑은 고딕" pitchFamily="50" charset="-127"/>
                          <a:ea typeface="맑은 고딕" pitchFamily="50" charset="-127"/>
                        </a:rPr>
                        <a:t>phải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sử</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dụng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dụng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cụ</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được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biến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động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của</a:t>
                      </a:r>
                      <a:r>
                        <a:rPr lang="ko-KR" altLang="en-US" sz="1200" b="1" dirty="0">
                          <a:solidFill>
                            <a:schemeClr val="tx1"/>
                          </a:solidFill>
                          <a:latin typeface="맑은 고딕" pitchFamily="50" charset="-127"/>
                          <a:ea typeface="맑은 고딕" pitchFamily="50" charset="-127"/>
                        </a:rPr>
                        <a:t> </a:t>
                      </a:r>
                      <a:r>
                        <a:rPr lang="en-US" altLang="ko-KR" sz="1200" b="1" dirty="0">
                          <a:solidFill>
                            <a:schemeClr val="tx1"/>
                          </a:solidFill>
                          <a:latin typeface="맑은 고딕" pitchFamily="50" charset="-127"/>
                          <a:ea typeface="맑은 고딕" pitchFamily="50" charset="-127"/>
                        </a:rPr>
                        <a:t>Process </a:t>
                      </a:r>
                      <a:r>
                        <a:rPr lang="en-US" altLang="ko-KR" sz="1200" b="1" dirty="0" err="1">
                          <a:solidFill>
                            <a:schemeClr val="tx1"/>
                          </a:solidFill>
                          <a:latin typeface="맑은 고딕" pitchFamily="50" charset="-127"/>
                          <a:ea typeface="맑은 고딕" pitchFamily="50" charset="-127"/>
                        </a:rPr>
                        <a:t>hoặc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sai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số</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cho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phép</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của</a:t>
                      </a:r>
                      <a:r>
                        <a:rPr lang="en-US" altLang="ko-KR" sz="1200" b="1" baseline="0" dirty="0">
                          <a:solidFill>
                            <a:schemeClr val="tx1"/>
                          </a:solidFill>
                          <a:latin typeface="맑은 고딕" pitchFamily="50" charset="-127"/>
                          <a:ea typeface="맑은 고딕" pitchFamily="50" charset="-127"/>
                        </a:rPr>
                        <a:t> Spec </a:t>
                      </a:r>
                      <a:r>
                        <a:rPr lang="en-US" altLang="ko-KR" sz="1200" b="1" baseline="0" dirty="0" err="1">
                          <a:solidFill>
                            <a:schemeClr val="tx1"/>
                          </a:solidFill>
                          <a:latin typeface="맑은 고딕" pitchFamily="50" charset="-127"/>
                          <a:ea typeface="맑은 고딕" pitchFamily="50" charset="-127"/>
                        </a:rPr>
                        <a:t>là</a:t>
                      </a:r>
                      <a:r>
                        <a:rPr lang="en-US" altLang="ko-KR" sz="1200" b="1" baseline="0" dirty="0">
                          <a:solidFill>
                            <a:schemeClr val="tx1"/>
                          </a:solidFill>
                          <a:latin typeface="맑은 고딕" pitchFamily="50" charset="-127"/>
                          <a:ea typeface="맑은 고딕" pitchFamily="50" charset="-127"/>
                        </a:rPr>
                        <a:t> 10% </a:t>
                      </a:r>
                      <a:r>
                        <a:rPr lang="en-US" altLang="ko-KR" sz="1200" b="1" baseline="0" dirty="0" err="1">
                          <a:solidFill>
                            <a:schemeClr val="tx1"/>
                          </a:solidFill>
                          <a:latin typeface="맑은 고딕" pitchFamily="50" charset="-127"/>
                          <a:ea typeface="맑은 고딕" pitchFamily="50" charset="-127"/>
                        </a:rPr>
                        <a:t>hoặc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khả</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năng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phân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giải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nhỏ</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hơn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thế</a:t>
                      </a:r>
                      <a:endParaRPr lang="en-US" altLang="ko-KR" sz="1200" b="1" dirty="0">
                        <a:solidFill>
                          <a:schemeClr val="tx1"/>
                        </a:solidFill>
                        <a:latin typeface="맑은 고딕" pitchFamily="50" charset="-127"/>
                        <a:ea typeface="맑은 고딕" pitchFamily="50" charset="-127"/>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sz="1200" b="1" dirty="0">
                          <a:solidFill>
                            <a:schemeClr val="tx1"/>
                          </a:solidFill>
                          <a:latin typeface="맑은 고딕" pitchFamily="50" charset="-127"/>
                          <a:ea typeface="맑은 고딕" pitchFamily="50" charset="-127"/>
                        </a:rPr>
                        <a:t> VD</a:t>
                      </a:r>
                      <a:r>
                        <a:rPr lang="en-US" altLang="ko-KR" sz="1200" b="1" dirty="0">
                          <a:solidFill>
                            <a:schemeClr val="tx1"/>
                          </a:solidFill>
                          <a:latin typeface="맑은 고딕" pitchFamily="50" charset="-127"/>
                          <a:ea typeface="맑은 고딕" pitchFamily="50" charset="-127"/>
                        </a:rPr>
                        <a:t>) </a:t>
                      </a:r>
                      <a:r>
                        <a:rPr lang="en-US" altLang="ko-KR" sz="1200" b="1" dirty="0" err="1">
                          <a:solidFill>
                            <a:schemeClr val="tx1"/>
                          </a:solidFill>
                          <a:latin typeface="맑은 고딕" pitchFamily="50" charset="-127"/>
                          <a:ea typeface="맑은 고딕" pitchFamily="50" charset="-127"/>
                        </a:rPr>
                        <a:t>Khi</a:t>
                      </a:r>
                      <a:r>
                        <a:rPr lang="en-US" altLang="ko-KR" sz="1200" b="1" dirty="0">
                          <a:solidFill>
                            <a:schemeClr val="tx1"/>
                          </a:solidFill>
                          <a:latin typeface="맑은 고딕" pitchFamily="50" charset="-127"/>
                          <a:ea typeface="맑은 고딕" pitchFamily="50" charset="-127"/>
                        </a:rPr>
                        <a:t> </a:t>
                      </a:r>
                      <a:r>
                        <a:rPr lang="en-US" altLang="ko-KR" sz="1200" b="1" dirty="0" err="1">
                          <a:solidFill>
                            <a:schemeClr val="tx1"/>
                          </a:solidFill>
                          <a:latin typeface="맑은 고딕" pitchFamily="50" charset="-127"/>
                          <a:ea typeface="맑은 고딕" pitchFamily="50" charset="-127"/>
                        </a:rPr>
                        <a:t>hạng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mục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quản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lý</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độ</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dài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là</a:t>
                      </a:r>
                      <a:r>
                        <a:rPr lang="en-US" altLang="ko-KR" sz="1200" b="1" baseline="0" dirty="0">
                          <a:solidFill>
                            <a:schemeClr val="tx1"/>
                          </a:solidFill>
                          <a:latin typeface="맑은 고딕" pitchFamily="50" charset="-127"/>
                          <a:ea typeface="맑은 고딕" pitchFamily="50" charset="-127"/>
                        </a:rPr>
                        <a:t> </a:t>
                      </a:r>
                      <a:r>
                        <a:rPr lang="en-US" altLang="ko-KR" sz="1200" b="1" dirty="0">
                          <a:solidFill>
                            <a:schemeClr val="tx1"/>
                          </a:solidFill>
                          <a:latin typeface="맑은 고딕" pitchFamily="50" charset="-127"/>
                          <a:ea typeface="맑은 고딕" pitchFamily="50" charset="-127"/>
                        </a:rPr>
                        <a:t>95.0cm</a:t>
                      </a:r>
                      <a:r>
                        <a:rPr lang="en-US" altLang="ko-KR" sz="1200" b="1" baseline="0" dirty="0">
                          <a:solidFill>
                            <a:schemeClr val="tx1"/>
                          </a:solidFill>
                          <a:latin typeface="맑은 고딕" pitchFamily="50" charset="-127"/>
                          <a:ea typeface="맑은 고딕" pitchFamily="50" charset="-127"/>
                        </a:rPr>
                        <a:t> ± 0.1cm</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Khả</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năng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phân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giải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của</a:t>
                      </a:r>
                      <a:r>
                        <a:rPr lang="en-US" altLang="ko-KR" sz="1200" b="1" baseline="0" dirty="0">
                          <a:solidFill>
                            <a:schemeClr val="tx1"/>
                          </a:solidFill>
                          <a:latin typeface="맑은 고딕" pitchFamily="50" charset="-127"/>
                          <a:ea typeface="맑은 고딕" pitchFamily="50" charset="-127"/>
                        </a:rPr>
                        <a:t> Gage </a:t>
                      </a:r>
                      <a:r>
                        <a:rPr lang="en-US" altLang="ko-KR" sz="1200" b="1" baseline="0" dirty="0" err="1">
                          <a:solidFill>
                            <a:schemeClr val="tx1"/>
                          </a:solidFill>
                          <a:latin typeface="맑은 고딕" pitchFamily="50" charset="-127"/>
                          <a:ea typeface="맑은 고딕" pitchFamily="50" charset="-127"/>
                        </a:rPr>
                        <a:t>phải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là</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dụng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cụ</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đọc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được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đến</a:t>
                      </a:r>
                      <a:r>
                        <a:rPr lang="en-US" altLang="ko-KR" sz="1200" b="1" baseline="0" dirty="0">
                          <a:solidFill>
                            <a:schemeClr val="tx1"/>
                          </a:solidFill>
                          <a:latin typeface="맑은 고딕" pitchFamily="50" charset="-127"/>
                          <a:ea typeface="맑은 고딕" pitchFamily="50" charset="-127"/>
                        </a:rPr>
                        <a:t> 0.01cm</a:t>
                      </a:r>
                      <a:endParaRPr lang="en-US" sz="1200" b="1"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668856">
                <a:tc>
                  <a:txBody>
                    <a:bodyPr/>
                    <a:lstStyle/>
                    <a:p>
                      <a:pPr algn="ctr"/>
                      <a:r>
                        <a:rPr lang="en-US" altLang="ko-KR" sz="1200" b="1" dirty="0" err="1">
                          <a:solidFill>
                            <a:schemeClr val="tx1"/>
                          </a:solidFill>
                          <a:latin typeface="맑은 고딕" pitchFamily="50" charset="-127"/>
                          <a:ea typeface="맑은 고딕" pitchFamily="50" charset="-127"/>
                        </a:rPr>
                        <a:t>Xử</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lí</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trong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quá</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trình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endParaRPr lang="en-US" altLang="ko-KR" sz="1200" b="1" dirty="0">
                        <a:solidFill>
                          <a:schemeClr val="tx1"/>
                        </a:solidFill>
                        <a:latin typeface="맑은 고딕" pitchFamily="50" charset="-127"/>
                        <a:ea typeface="맑은 고딕" pitchFamily="50" charset="-127"/>
                      </a:endParaRPr>
                    </a:p>
                  </a:txBody>
                  <a:tcPr marL="84406" marR="84406" anchor="ctr">
                    <a:lnL w="12700" cmpd="sng">
                      <a:noFill/>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맑은 고딕" pitchFamily="50" charset="-127"/>
                          <a:ea typeface="맑은 고딕" pitchFamily="50" charset="-127"/>
                        </a:rPr>
                        <a:t>1) </a:t>
                      </a:r>
                      <a:r>
                        <a:rPr lang="en-US" altLang="ko-KR" sz="1200" b="1" dirty="0" err="1">
                          <a:solidFill>
                            <a:schemeClr val="tx1"/>
                          </a:solidFill>
                          <a:latin typeface="맑은 고딕" pitchFamily="50" charset="-127"/>
                          <a:ea typeface="맑은 고딕" pitchFamily="50" charset="-127"/>
                        </a:rPr>
                        <a:t>Không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được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điều</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chỉnh</a:t>
                      </a:r>
                      <a:r>
                        <a:rPr lang="en-US" altLang="ko-KR" sz="1200" b="1" baseline="0" dirty="0">
                          <a:solidFill>
                            <a:schemeClr val="tx1"/>
                          </a:solidFill>
                          <a:latin typeface="맑은 고딕" pitchFamily="50" charset="-127"/>
                          <a:ea typeface="맑은 고딕" pitchFamily="50" charset="-127"/>
                        </a:rPr>
                        <a:t> Gage </a:t>
                      </a:r>
                      <a:r>
                        <a:rPr lang="en-US" altLang="ko-KR" sz="1200" b="1" baseline="0" dirty="0" err="1">
                          <a:solidFill>
                            <a:schemeClr val="tx1"/>
                          </a:solidFill>
                          <a:latin typeface="맑은 고딕" pitchFamily="50" charset="-127"/>
                          <a:ea typeface="맑은 고딕" pitchFamily="50" charset="-127"/>
                        </a:rPr>
                        <a:t>trong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quá</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trình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đạc</a:t>
                      </a:r>
                      <a:endParaRPr lang="en-US" sz="1200" b="1" dirty="0">
                        <a:solidFill>
                          <a:schemeClr val="tx1"/>
                        </a:solidFill>
                        <a:latin typeface="맑은 고딕" pitchFamily="50" charset="-127"/>
                        <a:ea typeface="맑은 고딕" pitchFamily="50" charset="-127"/>
                      </a:endParaRPr>
                    </a:p>
                    <a:p>
                      <a:r>
                        <a:rPr lang="en-US" altLang="ko-KR" sz="1200" b="1" dirty="0">
                          <a:solidFill>
                            <a:schemeClr val="tx1"/>
                          </a:solidFill>
                          <a:latin typeface="맑은 고딕" pitchFamily="50" charset="-127"/>
                          <a:ea typeface="맑은 고딕" pitchFamily="50" charset="-127"/>
                        </a:rPr>
                        <a:t>2) </a:t>
                      </a:r>
                      <a:r>
                        <a:rPr lang="en-US" altLang="ko-KR" sz="1200" b="1" dirty="0" err="1">
                          <a:solidFill>
                            <a:schemeClr val="tx1"/>
                          </a:solidFill>
                          <a:latin typeface="맑은 고딕" pitchFamily="50" charset="-127"/>
                          <a:ea typeface="맑은 고딕" pitchFamily="50" charset="-127"/>
                        </a:rPr>
                        <a:t>Ghi</a:t>
                      </a:r>
                      <a:r>
                        <a:rPr lang="en-US" altLang="ko-KR" sz="1200" b="1" dirty="0">
                          <a:solidFill>
                            <a:schemeClr val="tx1"/>
                          </a:solidFill>
                          <a:latin typeface="맑은 고딕" pitchFamily="50" charset="-127"/>
                          <a:ea typeface="맑은 고딕" pitchFamily="50" charset="-127"/>
                        </a:rPr>
                        <a:t> </a:t>
                      </a:r>
                      <a:r>
                        <a:rPr lang="en-US" altLang="ko-KR" sz="1200" b="1" dirty="0" err="1">
                          <a:solidFill>
                            <a:schemeClr val="tx1"/>
                          </a:solidFill>
                          <a:latin typeface="맑은 고딕" pitchFamily="50" charset="-127"/>
                          <a:ea typeface="맑은 고딕" pitchFamily="50" charset="-127"/>
                        </a:rPr>
                        <a:t>lại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và</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lập</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danh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sách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những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hạng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mục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có</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thể</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ảnh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hưởng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đến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việc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đạc</a:t>
                      </a:r>
                      <a:endParaRPr lang="en-US" altLang="ko-KR" sz="1200" b="1" dirty="0">
                        <a:solidFill>
                          <a:schemeClr val="tx1"/>
                        </a:solidFill>
                        <a:latin typeface="맑은 고딕" pitchFamily="50" charset="-127"/>
                        <a:ea typeface="맑은 고딕" pitchFamily="50" charset="-127"/>
                      </a:endParaRPr>
                    </a:p>
                    <a:p>
                      <a:r>
                        <a:rPr lang="en-US" sz="1200" b="1" dirty="0">
                          <a:solidFill>
                            <a:schemeClr val="tx1"/>
                          </a:solidFill>
                          <a:latin typeface="맑은 고딕" pitchFamily="50" charset="-127"/>
                          <a:ea typeface="맑은 고딕" pitchFamily="50" charset="-127"/>
                        </a:rPr>
                        <a:t>3) </a:t>
                      </a:r>
                      <a:r>
                        <a:rPr lang="en-US" sz="1200" b="1" dirty="0" err="1">
                          <a:solidFill>
                            <a:schemeClr val="tx1"/>
                          </a:solidFill>
                          <a:latin typeface="맑은 고딕" pitchFamily="50" charset="-127"/>
                          <a:ea typeface="맑은 고딕" pitchFamily="50" charset="-127"/>
                        </a:rPr>
                        <a:t>Nếu</a:t>
                      </a:r>
                      <a:r>
                        <a:rPr lang="en-US" altLang="ko-KR" sz="1200" b="1" dirty="0">
                          <a:solidFill>
                            <a:schemeClr val="tx1"/>
                          </a:solidFill>
                          <a:latin typeface="맑은 고딕" pitchFamily="50" charset="-127"/>
                          <a:ea typeface="맑은 고딕" pitchFamily="50" charset="-127"/>
                        </a:rPr>
                        <a:t>, </a:t>
                      </a:r>
                      <a:r>
                        <a:rPr lang="en-US" altLang="ko-KR" sz="1200" b="1" dirty="0" err="1">
                          <a:solidFill>
                            <a:schemeClr val="tx1"/>
                          </a:solidFill>
                          <a:latin typeface="맑은 고딕" pitchFamily="50" charset="-127"/>
                          <a:ea typeface="맑은 고딕" pitchFamily="50" charset="-127"/>
                        </a:rPr>
                        <a:t>trong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quá</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trình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đo</a:t>
                      </a:r>
                      <a:r>
                        <a:rPr lang="ko-KR" altLang="en-US" sz="1200" b="1" dirty="0">
                          <a:solidFill>
                            <a:schemeClr val="tx1"/>
                          </a:solidFill>
                          <a:latin typeface="맑은 고딕" pitchFamily="50" charset="-127"/>
                          <a:ea typeface="맑은 고딕" pitchFamily="50" charset="-127"/>
                        </a:rPr>
                        <a:t> </a:t>
                      </a:r>
                      <a:r>
                        <a:rPr lang="en-US" altLang="ko-KR" sz="1200" b="1" dirty="0" err="1">
                          <a:solidFill>
                            <a:schemeClr val="tx1"/>
                          </a:solidFill>
                          <a:latin typeface="맑은 고딕" pitchFamily="50" charset="-127"/>
                          <a:ea typeface="맑은 고딕" pitchFamily="50" charset="-127"/>
                        </a:rPr>
                        <a:t>phát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sinh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hạng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mục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thứ</a:t>
                      </a:r>
                      <a:r>
                        <a:rPr lang="en-US" altLang="ko-KR" sz="1200" b="1" baseline="0" dirty="0">
                          <a:solidFill>
                            <a:schemeClr val="tx1"/>
                          </a:solidFill>
                          <a:latin typeface="맑은 고딕" pitchFamily="50" charset="-127"/>
                          <a:ea typeface="맑은 고딕" pitchFamily="50" charset="-127"/>
                        </a:rPr>
                        <a:t> </a:t>
                      </a:r>
                      <a:r>
                        <a:rPr lang="en-US" altLang="ko-KR" sz="1200" b="1" dirty="0">
                          <a:solidFill>
                            <a:schemeClr val="tx1"/>
                          </a:solidFill>
                          <a:latin typeface="맑은 고딕" pitchFamily="50" charset="-127"/>
                          <a:ea typeface="맑은 고딕" pitchFamily="50" charset="-127"/>
                        </a:rPr>
                        <a:t>2)</a:t>
                      </a:r>
                      <a:r>
                        <a:rPr lang="ko-KR" altLang="en-US" sz="1200" b="1"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thì</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lưu</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lại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riêng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biệt</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và</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kiểm</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tra</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lại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khi</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phân</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tích</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trường</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hợp</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có</a:t>
                      </a:r>
                      <a:r>
                        <a:rPr lang="en-US" altLang="ko-KR" sz="1200" b="1" baseline="0" dirty="0">
                          <a:solidFill>
                            <a:schemeClr val="tx1"/>
                          </a:solidFill>
                          <a:latin typeface="맑은 고딕" pitchFamily="50" charset="-127"/>
                          <a:ea typeface="맑은 고딕" pitchFamily="50" charset="-127"/>
                        </a:rPr>
                        <a:t> Data </a:t>
                      </a:r>
                      <a:r>
                        <a:rPr lang="en-US" altLang="ko-KR" sz="1200" b="1" baseline="0" dirty="0" err="1">
                          <a:solidFill>
                            <a:schemeClr val="tx1"/>
                          </a:solidFill>
                          <a:latin typeface="맑은 고딕" pitchFamily="50" charset="-127"/>
                          <a:ea typeface="맑은 고딕" pitchFamily="50" charset="-127"/>
                        </a:rPr>
                        <a:t>khác</a:t>
                      </a:r>
                      <a:r>
                        <a:rPr lang="en-US" altLang="ko-KR" sz="1200" b="1" baseline="0" dirty="0">
                          <a:solidFill>
                            <a:schemeClr val="tx1"/>
                          </a:solidFill>
                          <a:latin typeface="맑은 고딕" pitchFamily="50" charset="-127"/>
                          <a:ea typeface="맑은 고딕" pitchFamily="50" charset="-127"/>
                        </a:rPr>
                        <a:t> </a:t>
                      </a:r>
                      <a:r>
                        <a:rPr lang="en-US" altLang="ko-KR" sz="1200" b="1" baseline="0" dirty="0" err="1">
                          <a:solidFill>
                            <a:schemeClr val="tx1"/>
                          </a:solidFill>
                          <a:latin typeface="맑은 고딕" pitchFamily="50" charset="-127"/>
                          <a:ea typeface="맑은 고딕" pitchFamily="50" charset="-127"/>
                        </a:rPr>
                        <a:t>thường</a:t>
                      </a:r>
                      <a:endParaRPr lang="en-US" altLang="ko-KR" sz="1200" b="1" baseline="0" dirty="0">
                        <a:solidFill>
                          <a:schemeClr val="tx1"/>
                        </a:solidFill>
                        <a:latin typeface="맑은 고딕" pitchFamily="50" charset="-127"/>
                        <a:ea typeface="맑은 고딕" pitchFamily="50" charset="-127"/>
                      </a:endParaRPr>
                    </a:p>
                  </a:txBody>
                  <a:tcPr marL="84406" marR="84406" anchor="ctr">
                    <a:lnL w="6350" cap="flat" cmpd="sng" algn="ctr">
                      <a:solidFill>
                        <a:schemeClr val="tx1">
                          <a:lumMod val="50000"/>
                          <a:lumOff val="50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sp>
        <p:nvSpPr>
          <p:cNvPr id="170010" name="TextBox 5"/>
          <p:cNvSpPr txBox="1">
            <a:spLocks noChangeArrowheads="1"/>
          </p:cNvSpPr>
          <p:nvPr/>
        </p:nvSpPr>
        <p:spPr bwMode="auto">
          <a:xfrm>
            <a:off x="755576" y="5949280"/>
            <a:ext cx="4576446" cy="738664"/>
          </a:xfrm>
          <a:prstGeom prst="rect">
            <a:avLst/>
          </a:prstGeom>
          <a:noFill/>
          <a:ln w="9525">
            <a:noFill/>
            <a:miter lim="800000"/>
            <a:headEnd/>
            <a:tailEnd/>
          </a:ln>
        </p:spPr>
        <p:txBody>
          <a:bodyPr wrap="none">
            <a:spAutoFit/>
          </a:bodyPr>
          <a:lstStyle/>
          <a:p>
            <a:pPr>
              <a:buFont typeface="Wingdings" pitchFamily="2" charset="2"/>
              <a:buChar char="v"/>
            </a:pPr>
            <a:r>
              <a:rPr lang="ko-KR" altLang="en-US"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Phương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pháp</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đo</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đạc</a:t>
            </a:r>
            <a:endParaRPr lang="en-US" altLang="ko-KR" sz="1400" b="1" dirty="0">
              <a:solidFill>
                <a:srgbClr val="000000"/>
              </a:solidFill>
              <a:latin typeface="맑은 고딕" pitchFamily="50" charset="-127"/>
              <a:ea typeface="맑은 고딕" pitchFamily="50" charset="-127"/>
            </a:endParaRPr>
          </a:p>
          <a:p>
            <a:r>
              <a:rPr lang="en-US" altLang="ko-KR" sz="1400" b="1" dirty="0">
                <a:solidFill>
                  <a:srgbClr val="000000"/>
                </a:solidFill>
                <a:latin typeface="맑은 고딕" pitchFamily="50" charset="-127"/>
                <a:ea typeface="맑은 고딕" pitchFamily="50" charset="-127"/>
              </a:rPr>
              <a:t>    1) </a:t>
            </a:r>
            <a:r>
              <a:rPr lang="en-US" altLang="ko-KR" sz="1400" b="1" dirty="0" err="1">
                <a:solidFill>
                  <a:srgbClr val="000000"/>
                </a:solidFill>
                <a:latin typeface="맑은 고딕" pitchFamily="50" charset="-127"/>
                <a:ea typeface="맑은 고딕" pitchFamily="50" charset="-127"/>
              </a:rPr>
              <a:t>Trên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hai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người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đo</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đạc</a:t>
            </a: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2) </a:t>
            </a:r>
            <a:r>
              <a:rPr lang="en-US" altLang="ko-KR" sz="1400" b="1" dirty="0" err="1">
                <a:solidFill>
                  <a:srgbClr val="000000"/>
                </a:solidFill>
                <a:latin typeface="맑은 고딕" pitchFamily="50" charset="-127"/>
                <a:ea typeface="맑은 고딕" pitchFamily="50" charset="-127"/>
              </a:rPr>
              <a:t>Trên</a:t>
            </a:r>
            <a:r>
              <a:rPr lang="en-US" altLang="ko-KR" sz="1400" b="1" dirty="0">
                <a:solidFill>
                  <a:srgbClr val="000000"/>
                </a:solidFill>
                <a:latin typeface="맑은 고딕" pitchFamily="50" charset="-127"/>
                <a:ea typeface="맑은 고딕" pitchFamily="50" charset="-127"/>
              </a:rPr>
              <a:t> 10 </a:t>
            </a:r>
            <a:r>
              <a:rPr lang="en-US" altLang="ko-KR" sz="1400" b="1" dirty="0" err="1">
                <a:solidFill>
                  <a:srgbClr val="000000"/>
                </a:solidFill>
                <a:latin typeface="맑은 고딕" pitchFamily="50" charset="-127"/>
                <a:ea typeface="맑은 고딕" pitchFamily="50" charset="-127"/>
              </a:rPr>
              <a:t>mẫu</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vật</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đo</a:t>
            </a:r>
            <a:endParaRPr lang="en-US" altLang="ko-KR" sz="1400" b="1" dirty="0">
              <a:solidFill>
                <a:srgbClr val="000000"/>
              </a:solidFill>
              <a:latin typeface="맑은 고딕" pitchFamily="50" charset="-127"/>
              <a:ea typeface="맑은 고딕" pitchFamily="50" charset="-127"/>
            </a:endParaRPr>
          </a:p>
          <a:p>
            <a:r>
              <a:rPr lang="en-US" altLang="ko-KR" sz="1400" b="1" dirty="0">
                <a:solidFill>
                  <a:srgbClr val="000000"/>
                </a:solidFill>
                <a:latin typeface="맑은 고딕" pitchFamily="50" charset="-127"/>
                <a:ea typeface="맑은 고딕" pitchFamily="50" charset="-127"/>
              </a:rPr>
              <a:t>   </a:t>
            </a: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3) </a:t>
            </a:r>
            <a:r>
              <a:rPr lang="en-US" altLang="ko-KR" sz="1400" b="1" dirty="0" err="1">
                <a:solidFill>
                  <a:srgbClr val="000000"/>
                </a:solidFill>
                <a:latin typeface="맑은 고딕" pitchFamily="50" charset="-127"/>
                <a:ea typeface="맑은 고딕" pitchFamily="50" charset="-127"/>
              </a:rPr>
              <a:t>Đo</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đạc</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lặp</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lại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trên</a:t>
            </a:r>
            <a:r>
              <a:rPr lang="en-US" altLang="ko-KR" sz="1400" b="1" dirty="0">
                <a:solidFill>
                  <a:srgbClr val="000000"/>
                </a:solidFill>
                <a:latin typeface="맑은 고딕" pitchFamily="50" charset="-127"/>
                <a:ea typeface="맑은 고딕" pitchFamily="50" charset="-127"/>
              </a:rPr>
              <a:t> 2 </a:t>
            </a:r>
            <a:r>
              <a:rPr lang="en-US" altLang="ko-KR" sz="1400" b="1" dirty="0" err="1">
                <a:solidFill>
                  <a:srgbClr val="000000"/>
                </a:solidFill>
                <a:latin typeface="맑은 고딕" pitchFamily="50" charset="-127"/>
                <a:ea typeface="맑은 고딕" pitchFamily="50" charset="-127"/>
              </a:rPr>
              <a:t>lần</a:t>
            </a:r>
            <a:r>
              <a:rPr lang="en-US" altLang="ko-KR" sz="1400" b="1" dirty="0">
                <a:solidFill>
                  <a:srgbClr val="000000"/>
                </a:solidFill>
                <a:latin typeface="맑은 고딕" pitchFamily="50" charset="-127"/>
                <a:ea typeface="맑은 고딕" pitchFamily="50" charset="-127"/>
              </a:rPr>
              <a:t> Blind &amp; Random</a:t>
            </a:r>
            <a:endParaRPr lang="ko-KR" altLang="en-US" sz="1400" b="1" dirty="0">
              <a:solidFill>
                <a:srgbClr val="000000"/>
              </a:solidFill>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34</a:t>
            </a:fld>
            <a:endParaRPr lang="ko-KR" altLang="en-US" dirty="0"/>
          </a:p>
        </p:txBody>
      </p:sp>
      <p:cxnSp>
        <p:nvCxnSpPr>
          <p:cNvPr id="7" name="직선 연결선 6"/>
          <p:cNvCxnSpPr/>
          <p:nvPr/>
        </p:nvCxnSpPr>
        <p:spPr>
          <a:xfrm>
            <a:off x="1061214" y="2625532"/>
            <a:ext cx="720080" cy="0"/>
          </a:xfrm>
          <a:prstGeom prst="line">
            <a:avLst/>
          </a:prstGeom>
          <a:ln cmpd="dbl">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1061214" y="2650885"/>
            <a:ext cx="720080" cy="0"/>
          </a:xfrm>
          <a:prstGeom prst="line">
            <a:avLst/>
          </a:prstGeom>
          <a:ln cmpd="dbl">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827584" y="2780928"/>
            <a:ext cx="946093" cy="400110"/>
          </a:xfrm>
          <a:prstGeom prst="rect">
            <a:avLst/>
          </a:prstGeom>
          <a:noFill/>
        </p:spPr>
        <p:txBody>
          <a:bodyPr wrap="none" rtlCol="0">
            <a:spAutoFit/>
          </a:bodyPr>
          <a:lstStyle/>
          <a:p>
            <a:r>
              <a:rPr lang="en-US" altLang="ko-KR" sz="1000" dirty="0" err="1">
                <a:solidFill>
                  <a:srgbClr val="00B050"/>
                </a:solidFill>
              </a:rPr>
              <a:t>Phải</a:t>
            </a:r>
            <a:r>
              <a:rPr lang="en-US" altLang="ko-KR" sz="1000" dirty="0">
                <a:solidFill>
                  <a:srgbClr val="00B050"/>
                </a:solidFill>
              </a:rPr>
              <a:t> </a:t>
            </a:r>
            <a:r>
              <a:rPr lang="en-US" altLang="ko-KR" sz="1000" dirty="0" err="1">
                <a:solidFill>
                  <a:srgbClr val="00B050"/>
                </a:solidFill>
              </a:rPr>
              <a:t>lấy</a:t>
            </a:r>
            <a:r>
              <a:rPr lang="en-US" altLang="ko-KR" sz="1000" dirty="0">
                <a:solidFill>
                  <a:srgbClr val="00B050"/>
                </a:solidFill>
              </a:rPr>
              <a:t> </a:t>
            </a:r>
            <a:r>
              <a:rPr lang="en-US" altLang="ko-KR" sz="1000" dirty="0" err="1">
                <a:solidFill>
                  <a:srgbClr val="00B050"/>
                </a:solidFill>
              </a:rPr>
              <a:t>mẫu</a:t>
            </a:r>
            <a:endParaRPr lang="en-US" altLang="ko-KR" sz="1000" dirty="0">
              <a:solidFill>
                <a:srgbClr val="00B050"/>
              </a:solidFill>
            </a:endParaRPr>
          </a:p>
          <a:p>
            <a:r>
              <a:rPr lang="en-US" altLang="ko-KR" sz="1000" dirty="0">
                <a:solidFill>
                  <a:srgbClr val="00B050"/>
                </a:solidFill>
              </a:rPr>
              <a:t> </a:t>
            </a:r>
            <a:r>
              <a:rPr lang="en-US" altLang="ko-KR" sz="1000" dirty="0" err="1">
                <a:solidFill>
                  <a:srgbClr val="00B050"/>
                </a:solidFill>
              </a:rPr>
              <a:t>vật</a:t>
            </a:r>
            <a:r>
              <a:rPr lang="en-US" altLang="ko-KR" sz="1000" dirty="0">
                <a:solidFill>
                  <a:srgbClr val="00B050"/>
                </a:solidFill>
              </a:rPr>
              <a:t> </a:t>
            </a:r>
            <a:r>
              <a:rPr lang="en-US" altLang="ko-KR" sz="1000" dirty="0" err="1">
                <a:solidFill>
                  <a:srgbClr val="00B050"/>
                </a:solidFill>
              </a:rPr>
              <a:t>dự</a:t>
            </a:r>
            <a:r>
              <a:rPr lang="en-US" altLang="ko-KR" sz="1000" dirty="0">
                <a:solidFill>
                  <a:srgbClr val="00B050"/>
                </a:solidFill>
              </a:rPr>
              <a:t> </a:t>
            </a:r>
            <a:r>
              <a:rPr lang="en-US" altLang="ko-KR" sz="1000" dirty="0" err="1">
                <a:solidFill>
                  <a:srgbClr val="00B050"/>
                </a:solidFill>
              </a:rPr>
              <a:t>định</a:t>
            </a:r>
            <a:endParaRPr lang="ko-KR" altLang="en-US" sz="1000" dirty="0">
              <a:solidFill>
                <a:srgbClr val="00B050"/>
              </a:solidFill>
            </a:endParaRPr>
          </a:p>
        </p:txBody>
      </p:sp>
      <p:sp>
        <p:nvSpPr>
          <p:cNvPr id="12"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262475420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5" name="TextBox 2"/>
          <p:cNvSpPr txBox="1">
            <a:spLocks noChangeArrowheads="1"/>
          </p:cNvSpPr>
          <p:nvPr/>
        </p:nvSpPr>
        <p:spPr bwMode="auto">
          <a:xfrm>
            <a:off x="242212" y="1412876"/>
            <a:ext cx="2161169"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Tiêu</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chuẩn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đánh</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giá</a:t>
            </a:r>
            <a:endParaRPr lang="ko-KR" altLang="en-US" sz="1400" b="1" dirty="0">
              <a:solidFill>
                <a:srgbClr val="000000"/>
              </a:solidFill>
              <a:latin typeface="맑은 고딕" pitchFamily="50" charset="-127"/>
              <a:ea typeface="맑은 고딕" pitchFamily="50" charset="-127"/>
            </a:endParaRPr>
          </a:p>
        </p:txBody>
      </p:sp>
      <p:sp>
        <p:nvSpPr>
          <p:cNvPr id="172036" name="TextBox 4"/>
          <p:cNvSpPr txBox="1">
            <a:spLocks noChangeArrowheads="1"/>
          </p:cNvSpPr>
          <p:nvPr/>
        </p:nvSpPr>
        <p:spPr bwMode="auto">
          <a:xfrm>
            <a:off x="344788" y="1857376"/>
            <a:ext cx="1345240" cy="646331"/>
          </a:xfrm>
          <a:prstGeom prst="rect">
            <a:avLst/>
          </a:prstGeom>
          <a:noFill/>
          <a:ln w="9525">
            <a:noFill/>
            <a:miter lim="800000"/>
            <a:headEnd/>
            <a:tailEnd/>
          </a:ln>
        </p:spPr>
        <p:txBody>
          <a:bodyPr wrap="none">
            <a:spAutoFit/>
          </a:bodyPr>
          <a:lstStyle/>
          <a:p>
            <a:pPr>
              <a:buFont typeface="Arial" pitchFamily="34" charset="0"/>
              <a:buChar char="•"/>
            </a:pPr>
            <a:r>
              <a:rPr lang="ko-KR" altLang="en-US"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Kiểm</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tra</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p>
          <a:p>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quá</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trình</a:t>
            </a:r>
            <a:endParaRPr lang="en-US" altLang="ko-KR" sz="1200" b="1" dirty="0">
              <a:solidFill>
                <a:srgbClr val="000000"/>
              </a:solidFill>
              <a:latin typeface="맑은 고딕" pitchFamily="50" charset="-127"/>
              <a:ea typeface="맑은 고딕" pitchFamily="50" charset="-127"/>
            </a:endParaRPr>
          </a:p>
          <a:p>
            <a:r>
              <a:rPr lang="en-US" altLang="ko-KR" sz="1200" b="1" dirty="0">
                <a:solidFill>
                  <a:srgbClr val="000000"/>
                </a:solidFill>
                <a:latin typeface="맑은 고딕" pitchFamily="50" charset="-127"/>
                <a:ea typeface="맑은 고딕" pitchFamily="50" charset="-127"/>
              </a:rPr>
              <a:t>     (%R&amp;R)</a:t>
            </a:r>
            <a:endParaRPr lang="ko-KR" altLang="en-US" sz="1200" b="1" dirty="0">
              <a:solidFill>
                <a:srgbClr val="000000"/>
              </a:solidFill>
              <a:latin typeface="맑은 고딕" pitchFamily="50" charset="-127"/>
              <a:ea typeface="맑은 고딕" pitchFamily="50" charset="-127"/>
            </a:endParaRPr>
          </a:p>
        </p:txBody>
      </p:sp>
      <p:sp>
        <p:nvSpPr>
          <p:cNvPr id="172037" name="TextBox 5"/>
          <p:cNvSpPr txBox="1">
            <a:spLocks noChangeArrowheads="1"/>
          </p:cNvSpPr>
          <p:nvPr/>
        </p:nvSpPr>
        <p:spPr bwMode="auto">
          <a:xfrm>
            <a:off x="344789" y="3430740"/>
            <a:ext cx="1346891" cy="461665"/>
          </a:xfrm>
          <a:prstGeom prst="rect">
            <a:avLst/>
          </a:prstGeom>
          <a:noFill/>
          <a:ln w="9525">
            <a:noFill/>
            <a:miter lim="800000"/>
            <a:headEnd/>
            <a:tailEnd/>
          </a:ln>
        </p:spPr>
        <p:txBody>
          <a:bodyPr wrap="square">
            <a:spAutoFit/>
          </a:bodyPr>
          <a:lstStyle/>
          <a:p>
            <a:pPr algn="ctr">
              <a:buFont typeface="Arial" pitchFamily="34" charset="0"/>
              <a:buChar char="•"/>
            </a:pPr>
            <a:r>
              <a:rPr lang="ko-KR" altLang="en-US"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Đánh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giá</a:t>
            </a:r>
            <a:r>
              <a:rPr lang="en-US" altLang="ko-KR" sz="1200" b="1" dirty="0">
                <a:solidFill>
                  <a:srgbClr val="000000"/>
                </a:solidFill>
                <a:latin typeface="맑은 고딕" pitchFamily="50" charset="-127"/>
                <a:ea typeface="맑은 고딕" pitchFamily="50" charset="-127"/>
              </a:rPr>
              <a:t> Spec         OK/NG</a:t>
            </a:r>
            <a:endParaRPr lang="ko-KR" altLang="en-US" sz="1200" b="1" dirty="0">
              <a:solidFill>
                <a:srgbClr val="000000"/>
              </a:solidFill>
              <a:latin typeface="맑은 고딕" pitchFamily="50" charset="-127"/>
              <a:ea typeface="맑은 고딕" pitchFamily="50" charset="-127"/>
            </a:endParaRPr>
          </a:p>
        </p:txBody>
      </p:sp>
      <p:sp>
        <p:nvSpPr>
          <p:cNvPr id="172038" name="TextBox 6"/>
          <p:cNvSpPr txBox="1">
            <a:spLocks noChangeArrowheads="1"/>
          </p:cNvSpPr>
          <p:nvPr/>
        </p:nvSpPr>
        <p:spPr bwMode="auto">
          <a:xfrm>
            <a:off x="2147211" y="1966914"/>
            <a:ext cx="1203984"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 Study =</a:t>
            </a:r>
            <a:endParaRPr lang="ko-KR" altLang="en-US" sz="1400" b="1" dirty="0">
              <a:solidFill>
                <a:srgbClr val="000000"/>
              </a:solidFill>
              <a:latin typeface="맑은 고딕" pitchFamily="50" charset="-127"/>
              <a:ea typeface="맑은 고딕" pitchFamily="50" charset="-127"/>
            </a:endParaRPr>
          </a:p>
        </p:txBody>
      </p:sp>
      <p:sp>
        <p:nvSpPr>
          <p:cNvPr id="172039" name="TextBox 7"/>
          <p:cNvSpPr txBox="1">
            <a:spLocks noChangeArrowheads="1"/>
          </p:cNvSpPr>
          <p:nvPr/>
        </p:nvSpPr>
        <p:spPr bwMode="auto">
          <a:xfrm>
            <a:off x="2147212" y="2665414"/>
            <a:ext cx="1366784"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 Process =</a:t>
            </a:r>
            <a:endParaRPr lang="ko-KR" altLang="en-US" sz="1400" b="1" dirty="0">
              <a:solidFill>
                <a:srgbClr val="000000"/>
              </a:solidFill>
              <a:latin typeface="맑은 고딕" pitchFamily="50" charset="-127"/>
              <a:ea typeface="맑은 고딕" pitchFamily="50" charset="-127"/>
            </a:endParaRPr>
          </a:p>
        </p:txBody>
      </p:sp>
      <p:sp>
        <p:nvSpPr>
          <p:cNvPr id="172040" name="TextBox 8"/>
          <p:cNvSpPr txBox="1">
            <a:spLocks noChangeArrowheads="1"/>
          </p:cNvSpPr>
          <p:nvPr/>
        </p:nvSpPr>
        <p:spPr bwMode="auto">
          <a:xfrm>
            <a:off x="2147211" y="3430740"/>
            <a:ext cx="1532727"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 Tolerance =</a:t>
            </a:r>
            <a:endParaRPr lang="ko-KR" altLang="en-US" sz="1400" b="1" dirty="0">
              <a:solidFill>
                <a:srgbClr val="000000"/>
              </a:solidFill>
              <a:latin typeface="맑은 고딕" pitchFamily="50" charset="-127"/>
              <a:ea typeface="맑은 고딕" pitchFamily="50" charset="-127"/>
            </a:endParaRPr>
          </a:p>
        </p:txBody>
      </p:sp>
      <p:cxnSp>
        <p:nvCxnSpPr>
          <p:cNvPr id="172041" name="꺾인 연결선 10"/>
          <p:cNvCxnSpPr>
            <a:cxnSpLocks noChangeShapeType="1"/>
            <a:endCxn id="172039" idx="1"/>
          </p:cNvCxnSpPr>
          <p:nvPr/>
        </p:nvCxnSpPr>
        <p:spPr bwMode="auto">
          <a:xfrm rot="16200000" flipH="1">
            <a:off x="1684235" y="2356325"/>
            <a:ext cx="686447" cy="239508"/>
          </a:xfrm>
          <a:prstGeom prst="bentConnector2">
            <a:avLst/>
          </a:prstGeom>
          <a:noFill/>
          <a:ln w="12700" algn="ctr">
            <a:solidFill>
              <a:schemeClr val="tx1"/>
            </a:solidFill>
            <a:round/>
            <a:headEnd/>
            <a:tailEnd/>
          </a:ln>
        </p:spPr>
      </p:cxnSp>
      <p:cxnSp>
        <p:nvCxnSpPr>
          <p:cNvPr id="172042" name="직선 연결선 12"/>
          <p:cNvCxnSpPr>
            <a:cxnSpLocks noChangeShapeType="1"/>
            <a:endCxn id="172038" idx="1"/>
          </p:cNvCxnSpPr>
          <p:nvPr/>
        </p:nvCxnSpPr>
        <p:spPr bwMode="auto">
          <a:xfrm flipV="1">
            <a:off x="1907704" y="2120803"/>
            <a:ext cx="239507" cy="12053"/>
          </a:xfrm>
          <a:prstGeom prst="line">
            <a:avLst/>
          </a:prstGeom>
          <a:noFill/>
          <a:ln w="12700" algn="ctr">
            <a:solidFill>
              <a:schemeClr val="tx1"/>
            </a:solidFill>
            <a:round/>
            <a:headEnd/>
            <a:tailEnd/>
          </a:ln>
        </p:spPr>
      </p:cxnSp>
      <p:cxnSp>
        <p:nvCxnSpPr>
          <p:cNvPr id="172043" name="직선 연결선 14"/>
          <p:cNvCxnSpPr>
            <a:cxnSpLocks noChangeShapeType="1"/>
            <a:endCxn id="172040" idx="1"/>
          </p:cNvCxnSpPr>
          <p:nvPr/>
        </p:nvCxnSpPr>
        <p:spPr bwMode="auto">
          <a:xfrm>
            <a:off x="1763688" y="3573016"/>
            <a:ext cx="383523" cy="11613"/>
          </a:xfrm>
          <a:prstGeom prst="line">
            <a:avLst/>
          </a:prstGeom>
          <a:noFill/>
          <a:ln w="12700" algn="ctr">
            <a:solidFill>
              <a:schemeClr val="tx1"/>
            </a:solidFill>
            <a:round/>
            <a:headEnd/>
            <a:tailEnd/>
          </a:ln>
        </p:spPr>
      </p:cxnSp>
      <p:grpSp>
        <p:nvGrpSpPr>
          <p:cNvPr id="2" name="그룹 25"/>
          <p:cNvGrpSpPr>
            <a:grpSpLocks/>
          </p:cNvGrpSpPr>
          <p:nvPr/>
        </p:nvGrpSpPr>
        <p:grpSpPr bwMode="auto">
          <a:xfrm>
            <a:off x="3275856" y="1844824"/>
            <a:ext cx="1612364" cy="565031"/>
            <a:chOff x="4859752" y="2144037"/>
            <a:chExt cx="1749190" cy="564990"/>
          </a:xfrm>
        </p:grpSpPr>
        <p:sp>
          <p:nvSpPr>
            <p:cNvPr id="172075" name="TextBox 13"/>
            <p:cNvSpPr txBox="1">
              <a:spLocks noChangeArrowheads="1"/>
            </p:cNvSpPr>
            <p:nvPr/>
          </p:nvSpPr>
          <p:spPr bwMode="auto">
            <a:xfrm>
              <a:off x="5015987" y="2144037"/>
              <a:ext cx="1542871" cy="276979"/>
            </a:xfrm>
            <a:prstGeom prst="rect">
              <a:avLst/>
            </a:prstGeom>
            <a:noFill/>
            <a:ln w="9525">
              <a:noFill/>
              <a:miter lim="800000"/>
              <a:headEnd/>
              <a:tailEnd/>
            </a:ln>
          </p:spPr>
          <p:txBody>
            <a:bodyPr wrap="none">
              <a:spAutoFit/>
            </a:bodyPr>
            <a:lstStyle/>
            <a:p>
              <a:r>
                <a:rPr lang="en-US" altLang="ko-KR" sz="1200" b="1" dirty="0" err="1">
                  <a:latin typeface="맑은 고딕" pitchFamily="50" charset="-127"/>
                  <a:ea typeface="맑은 고딕" pitchFamily="50" charset="-127"/>
                </a:rPr>
                <a:t>Biến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động</a:t>
              </a:r>
              <a:r>
                <a:rPr lang="en-US" altLang="ko-KR" sz="1200" b="1" dirty="0">
                  <a:latin typeface="맑은 고딕" pitchFamily="50" charset="-127"/>
                  <a:ea typeface="맑은 고딕" pitchFamily="50" charset="-127"/>
                </a:rPr>
                <a:t> Gage </a:t>
              </a:r>
              <a:endParaRPr lang="en-US" sz="1200" b="1" dirty="0">
                <a:latin typeface="맑은 고딕" pitchFamily="50" charset="-127"/>
                <a:ea typeface="맑은 고딕" pitchFamily="50" charset="-127"/>
              </a:endParaRPr>
            </a:p>
          </p:txBody>
        </p:sp>
        <p:sp>
          <p:nvSpPr>
            <p:cNvPr id="172076" name="TextBox 15"/>
            <p:cNvSpPr txBox="1">
              <a:spLocks noChangeArrowheads="1"/>
            </p:cNvSpPr>
            <p:nvPr/>
          </p:nvSpPr>
          <p:spPr bwMode="auto">
            <a:xfrm>
              <a:off x="4859752" y="2432048"/>
              <a:ext cx="1749190" cy="276979"/>
            </a:xfrm>
            <a:prstGeom prst="rect">
              <a:avLst/>
            </a:prstGeom>
            <a:noFill/>
            <a:ln w="9525">
              <a:noFill/>
              <a:miter lim="800000"/>
              <a:headEnd/>
              <a:tailEnd/>
            </a:ln>
          </p:spPr>
          <p:txBody>
            <a:bodyPr wrap="none">
              <a:spAutoFit/>
            </a:bodyPr>
            <a:lstStyle/>
            <a:p>
              <a:r>
                <a:rPr lang="en-US" sz="1200" b="1" dirty="0" err="1">
                  <a:latin typeface="맑은 고딕" pitchFamily="50" charset="-127"/>
                  <a:ea typeface="맑은 고딕" pitchFamily="50" charset="-127"/>
                </a:rPr>
                <a:t>Biến</a:t>
              </a:r>
              <a:r>
                <a:rPr lang="en-US" sz="1200" b="1" dirty="0">
                  <a:latin typeface="맑은 고딕" pitchFamily="50" charset="-127"/>
                  <a:ea typeface="맑은 고딕" pitchFamily="50" charset="-127"/>
                </a:rPr>
                <a:t> </a:t>
              </a:r>
              <a:r>
                <a:rPr lang="en-US" sz="1200" b="1" dirty="0" err="1">
                  <a:latin typeface="맑은 고딕" pitchFamily="50" charset="-127"/>
                  <a:ea typeface="맑은 고딕" pitchFamily="50" charset="-127"/>
                </a:rPr>
                <a:t>động</a:t>
              </a:r>
              <a:r>
                <a:rPr lang="en-US" sz="1200" b="1" dirty="0">
                  <a:latin typeface="맑은 고딕" pitchFamily="50" charset="-127"/>
                  <a:ea typeface="맑은 고딕" pitchFamily="50" charset="-127"/>
                </a:rPr>
                <a:t> </a:t>
              </a:r>
              <a:r>
                <a:rPr lang="en-US" sz="1200" b="1" dirty="0" err="1">
                  <a:latin typeface="맑은 고딕" pitchFamily="50" charset="-127"/>
                  <a:ea typeface="맑은 고딕" pitchFamily="50" charset="-127"/>
                </a:rPr>
                <a:t>toàn</a:t>
              </a:r>
              <a:r>
                <a:rPr lang="en-US" sz="1200" b="1" dirty="0">
                  <a:latin typeface="맑은 고딕" pitchFamily="50" charset="-127"/>
                  <a:ea typeface="맑은 고딕" pitchFamily="50" charset="-127"/>
                </a:rPr>
                <a:t> </a:t>
              </a:r>
              <a:r>
                <a:rPr lang="en-US" sz="1200" b="1" dirty="0" err="1">
                  <a:latin typeface="맑은 고딕" pitchFamily="50" charset="-127"/>
                  <a:ea typeface="맑은 고딕" pitchFamily="50" charset="-127"/>
                </a:rPr>
                <a:t>thể</a:t>
              </a:r>
              <a:endParaRPr lang="en-US" sz="1200" b="1" dirty="0">
                <a:latin typeface="맑은 고딕" pitchFamily="50" charset="-127"/>
                <a:ea typeface="맑은 고딕" pitchFamily="50" charset="-127"/>
              </a:endParaRPr>
            </a:p>
          </p:txBody>
        </p:sp>
        <p:cxnSp>
          <p:nvCxnSpPr>
            <p:cNvPr id="172077" name="직선 연결선 17"/>
            <p:cNvCxnSpPr>
              <a:cxnSpLocks noChangeShapeType="1"/>
            </p:cNvCxnSpPr>
            <p:nvPr/>
          </p:nvCxnSpPr>
          <p:spPr bwMode="auto">
            <a:xfrm>
              <a:off x="5285789" y="2420888"/>
              <a:ext cx="864096" cy="0"/>
            </a:xfrm>
            <a:prstGeom prst="line">
              <a:avLst/>
            </a:prstGeom>
            <a:noFill/>
            <a:ln w="12700" algn="ctr">
              <a:solidFill>
                <a:schemeClr val="tx1"/>
              </a:solidFill>
              <a:round/>
              <a:headEnd/>
              <a:tailEnd/>
            </a:ln>
          </p:spPr>
        </p:cxnSp>
      </p:grpSp>
      <p:grpSp>
        <p:nvGrpSpPr>
          <p:cNvPr id="3" name="그룹 26"/>
          <p:cNvGrpSpPr>
            <a:grpSpLocks/>
          </p:cNvGrpSpPr>
          <p:nvPr/>
        </p:nvGrpSpPr>
        <p:grpSpPr bwMode="auto">
          <a:xfrm>
            <a:off x="3131840" y="2564904"/>
            <a:ext cx="2483372" cy="565027"/>
            <a:chOff x="4794514" y="2969167"/>
            <a:chExt cx="2692543" cy="564988"/>
          </a:xfrm>
        </p:grpSpPr>
        <p:sp>
          <p:nvSpPr>
            <p:cNvPr id="172072" name="TextBox 18"/>
            <p:cNvSpPr txBox="1">
              <a:spLocks noChangeArrowheads="1"/>
            </p:cNvSpPr>
            <p:nvPr/>
          </p:nvSpPr>
          <p:spPr bwMode="auto">
            <a:xfrm>
              <a:off x="5106807" y="2969167"/>
              <a:ext cx="1541973" cy="276980"/>
            </a:xfrm>
            <a:prstGeom prst="rect">
              <a:avLst/>
            </a:prstGeom>
            <a:no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Gage </a:t>
              </a:r>
              <a:endParaRPr lang="en-US" sz="1200" b="1" dirty="0">
                <a:solidFill>
                  <a:srgbClr val="000000"/>
                </a:solidFill>
                <a:latin typeface="맑은 고딕" pitchFamily="50" charset="-127"/>
                <a:ea typeface="맑은 고딕" pitchFamily="50" charset="-127"/>
              </a:endParaRPr>
            </a:p>
          </p:txBody>
        </p:sp>
        <p:sp>
          <p:nvSpPr>
            <p:cNvPr id="172073" name="TextBox 19"/>
            <p:cNvSpPr txBox="1">
              <a:spLocks noChangeArrowheads="1"/>
            </p:cNvSpPr>
            <p:nvPr/>
          </p:nvSpPr>
          <p:spPr bwMode="auto">
            <a:xfrm>
              <a:off x="4794514" y="3257175"/>
              <a:ext cx="2692543" cy="276980"/>
            </a:xfrm>
            <a:prstGeom prst="rect">
              <a:avLst/>
            </a:prstGeom>
            <a:noFill/>
            <a:ln w="9525">
              <a:noFill/>
              <a:miter lim="800000"/>
              <a:headEnd/>
              <a:tailEnd/>
            </a:ln>
          </p:spPr>
          <p:txBody>
            <a:bodyPr wrap="none">
              <a:spAutoFit/>
            </a:bodyPr>
            <a:lstStyle/>
            <a:p>
              <a:r>
                <a:rPr lang="en-US" sz="1200" b="1" dirty="0" err="1">
                  <a:solidFill>
                    <a:srgbClr val="000000"/>
                  </a:solidFill>
                  <a:latin typeface="맑은 고딕" pitchFamily="50" charset="-127"/>
                  <a:ea typeface="맑은 고딕" pitchFamily="50" charset="-127"/>
                </a:rPr>
                <a:t>Biến</a:t>
              </a:r>
              <a:r>
                <a:rPr lang="en-US" sz="1200" b="1" dirty="0">
                  <a:solidFill>
                    <a:srgbClr val="000000"/>
                  </a:solidFill>
                  <a:latin typeface="맑은 고딕" pitchFamily="50" charset="-127"/>
                  <a:ea typeface="맑은 고딕" pitchFamily="50" charset="-127"/>
                </a:rPr>
                <a:t> </a:t>
              </a:r>
              <a:r>
                <a:rPr lang="en-US" sz="1200" b="1" dirty="0" err="1">
                  <a:solidFill>
                    <a:srgbClr val="000000"/>
                  </a:solidFill>
                  <a:latin typeface="맑은 고딕" pitchFamily="50" charset="-127"/>
                  <a:ea typeface="맑은 고딕" pitchFamily="50" charset="-127"/>
                </a:rPr>
                <a:t>động</a:t>
              </a:r>
              <a:r>
                <a:rPr lang="en-US" sz="1200" b="1" dirty="0">
                  <a:solidFill>
                    <a:srgbClr val="000000"/>
                  </a:solidFill>
                  <a:latin typeface="맑은 고딕" pitchFamily="50" charset="-127"/>
                  <a:ea typeface="맑은 고딕" pitchFamily="50" charset="-127"/>
                </a:rPr>
                <a:t> </a:t>
              </a:r>
              <a:r>
                <a:rPr lang="en-US" sz="1200" b="1" dirty="0" err="1">
                  <a:solidFill>
                    <a:srgbClr val="000000"/>
                  </a:solidFill>
                  <a:latin typeface="맑은 고딕" pitchFamily="50" charset="-127"/>
                  <a:ea typeface="맑은 고딕" pitchFamily="50" charset="-127"/>
                </a:rPr>
                <a:t>quá</a:t>
              </a:r>
              <a:r>
                <a:rPr lang="en-US" sz="1200" b="1" dirty="0">
                  <a:solidFill>
                    <a:srgbClr val="000000"/>
                  </a:solidFill>
                  <a:latin typeface="맑은 고딕" pitchFamily="50" charset="-127"/>
                  <a:ea typeface="맑은 고딕" pitchFamily="50" charset="-127"/>
                </a:rPr>
                <a:t> </a:t>
              </a:r>
              <a:r>
                <a:rPr lang="en-US" sz="1200" b="1" dirty="0" err="1">
                  <a:solidFill>
                    <a:srgbClr val="000000"/>
                  </a:solidFill>
                  <a:latin typeface="맑은 고딕" pitchFamily="50" charset="-127"/>
                  <a:ea typeface="맑은 고딕" pitchFamily="50" charset="-127"/>
                </a:rPr>
                <a:t>trình</a:t>
              </a:r>
              <a:r>
                <a:rPr lang="en-US" sz="1200" b="1" dirty="0">
                  <a:solidFill>
                    <a:srgbClr val="000000"/>
                  </a:solidFill>
                  <a:latin typeface="맑은 고딕" pitchFamily="50" charset="-127"/>
                  <a:ea typeface="맑은 고딕" pitchFamily="50" charset="-127"/>
                </a:rPr>
                <a:t> </a:t>
              </a:r>
              <a:r>
                <a:rPr lang="en-US" sz="1200" b="1" dirty="0" err="1">
                  <a:solidFill>
                    <a:srgbClr val="000000"/>
                  </a:solidFill>
                  <a:latin typeface="맑은 고딕" pitchFamily="50" charset="-127"/>
                  <a:ea typeface="맑은 고딕" pitchFamily="50" charset="-127"/>
                </a:rPr>
                <a:t>đang</a:t>
              </a:r>
              <a:r>
                <a:rPr lang="en-US" sz="1200" b="1" dirty="0">
                  <a:solidFill>
                    <a:srgbClr val="000000"/>
                  </a:solidFill>
                  <a:latin typeface="맑은 고딕" pitchFamily="50" charset="-127"/>
                  <a:ea typeface="맑은 고딕" pitchFamily="50" charset="-127"/>
                </a:rPr>
                <a:t> </a:t>
              </a:r>
              <a:r>
                <a:rPr lang="en-US" sz="1200" b="1" dirty="0" err="1">
                  <a:solidFill>
                    <a:srgbClr val="000000"/>
                  </a:solidFill>
                  <a:latin typeface="맑은 고딕" pitchFamily="50" charset="-127"/>
                  <a:ea typeface="맑은 고딕" pitchFamily="50" charset="-127"/>
                </a:rPr>
                <a:t>biết</a:t>
              </a:r>
              <a:r>
                <a:rPr lang="en-US" sz="1200" b="1" dirty="0">
                  <a:solidFill>
                    <a:srgbClr val="000000"/>
                  </a:solidFill>
                  <a:latin typeface="맑은 고딕" pitchFamily="50" charset="-127"/>
                  <a:ea typeface="맑은 고딕" pitchFamily="50" charset="-127"/>
                </a:rPr>
                <a:t> </a:t>
              </a:r>
            </a:p>
          </p:txBody>
        </p:sp>
        <p:cxnSp>
          <p:nvCxnSpPr>
            <p:cNvPr id="172074" name="직선 연결선 20"/>
            <p:cNvCxnSpPr>
              <a:cxnSpLocks noChangeShapeType="1"/>
            </p:cNvCxnSpPr>
            <p:nvPr/>
          </p:nvCxnSpPr>
          <p:spPr bwMode="auto">
            <a:xfrm>
              <a:off x="5382599" y="3222849"/>
              <a:ext cx="864096" cy="0"/>
            </a:xfrm>
            <a:prstGeom prst="line">
              <a:avLst/>
            </a:prstGeom>
            <a:noFill/>
            <a:ln w="12700" algn="ctr">
              <a:solidFill>
                <a:schemeClr val="tx1"/>
              </a:solidFill>
              <a:round/>
              <a:headEnd/>
              <a:tailEnd/>
            </a:ln>
          </p:spPr>
        </p:cxnSp>
      </p:grpSp>
      <p:sp>
        <p:nvSpPr>
          <p:cNvPr id="172046" name="TextBox 21"/>
          <p:cNvSpPr txBox="1">
            <a:spLocks noChangeArrowheads="1"/>
          </p:cNvSpPr>
          <p:nvPr/>
        </p:nvSpPr>
        <p:spPr bwMode="auto">
          <a:xfrm>
            <a:off x="3491880" y="3284984"/>
            <a:ext cx="1638590"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6*×Gage </a:t>
            </a:r>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endParaRPr lang="en-US" sz="1200" b="1" dirty="0">
              <a:solidFill>
                <a:srgbClr val="000000"/>
              </a:solidFill>
              <a:latin typeface="맑은 고딕" pitchFamily="50" charset="-127"/>
              <a:ea typeface="맑은 고딕" pitchFamily="50" charset="-127"/>
            </a:endParaRPr>
          </a:p>
        </p:txBody>
      </p:sp>
      <p:sp>
        <p:nvSpPr>
          <p:cNvPr id="172047" name="TextBox 22"/>
          <p:cNvSpPr txBox="1">
            <a:spLocks noChangeArrowheads="1"/>
          </p:cNvSpPr>
          <p:nvPr/>
        </p:nvSpPr>
        <p:spPr bwMode="auto">
          <a:xfrm>
            <a:off x="3563888" y="3573016"/>
            <a:ext cx="1356462" cy="276999"/>
          </a:xfrm>
          <a:prstGeom prst="rect">
            <a:avLst/>
          </a:prstGeom>
          <a:noFill/>
          <a:ln w="9525">
            <a:noFill/>
            <a:miter lim="800000"/>
            <a:headEnd/>
            <a:tailEnd/>
          </a:ln>
        </p:spPr>
        <p:txBody>
          <a:bodyPr wrap="none">
            <a:spAutoFit/>
          </a:bodyPr>
          <a:lstStyle/>
          <a:p>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Spec </a:t>
            </a:r>
            <a:r>
              <a:rPr lang="en-US" altLang="ko-KR" sz="1200" b="1" dirty="0" err="1">
                <a:solidFill>
                  <a:srgbClr val="000000"/>
                </a:solidFill>
                <a:latin typeface="맑은 고딕" pitchFamily="50" charset="-127"/>
                <a:ea typeface="맑은 고딕" pitchFamily="50" charset="-127"/>
              </a:rPr>
              <a:t>sản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phẩm</a:t>
            </a:r>
            <a:endParaRPr lang="en-US" altLang="ko-KR" sz="1200" b="1" dirty="0">
              <a:solidFill>
                <a:srgbClr val="000000"/>
              </a:solidFill>
              <a:latin typeface="맑은 고딕" pitchFamily="50" charset="-127"/>
              <a:ea typeface="맑은 고딕" pitchFamily="50" charset="-127"/>
            </a:endParaRPr>
          </a:p>
        </p:txBody>
      </p:sp>
      <p:cxnSp>
        <p:nvCxnSpPr>
          <p:cNvPr id="172048" name="직선 연결선 23"/>
          <p:cNvCxnSpPr>
            <a:cxnSpLocks noChangeShapeType="1"/>
          </p:cNvCxnSpPr>
          <p:nvPr/>
        </p:nvCxnSpPr>
        <p:spPr bwMode="auto">
          <a:xfrm>
            <a:off x="3786976" y="3583140"/>
            <a:ext cx="797169" cy="0"/>
          </a:xfrm>
          <a:prstGeom prst="line">
            <a:avLst/>
          </a:prstGeom>
          <a:noFill/>
          <a:ln w="12700" algn="ctr">
            <a:solidFill>
              <a:schemeClr val="tx1"/>
            </a:solidFill>
            <a:round/>
            <a:headEnd/>
            <a:tailEnd/>
          </a:ln>
        </p:spPr>
      </p:cxnSp>
      <p:sp>
        <p:nvSpPr>
          <p:cNvPr id="172049" name="TextBox 28"/>
          <p:cNvSpPr txBox="1">
            <a:spLocks noChangeArrowheads="1"/>
          </p:cNvSpPr>
          <p:nvPr/>
        </p:nvSpPr>
        <p:spPr bwMode="auto">
          <a:xfrm>
            <a:off x="4762923" y="1966914"/>
            <a:ext cx="742511" cy="307777"/>
          </a:xfrm>
          <a:prstGeom prst="rect">
            <a:avLst/>
          </a:prstGeom>
          <a:noFill/>
          <a:ln w="9525">
            <a:noFill/>
            <a:miter lim="800000"/>
            <a:headEnd/>
            <a:tailEnd/>
          </a:ln>
        </p:spPr>
        <p:txBody>
          <a:bodyPr wrap="none">
            <a:spAutoFit/>
          </a:bodyPr>
          <a:lstStyle/>
          <a:p>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10%</a:t>
            </a:r>
            <a:endParaRPr lang="ko-KR" altLang="en-US" sz="1400" b="1" dirty="0">
              <a:solidFill>
                <a:srgbClr val="000000"/>
              </a:solidFill>
              <a:latin typeface="맑은 고딕" pitchFamily="50" charset="-127"/>
              <a:ea typeface="맑은 고딕" pitchFamily="50" charset="-127"/>
            </a:endParaRPr>
          </a:p>
        </p:txBody>
      </p:sp>
      <p:sp>
        <p:nvSpPr>
          <p:cNvPr id="172050" name="TextBox 29"/>
          <p:cNvSpPr txBox="1">
            <a:spLocks noChangeArrowheads="1"/>
          </p:cNvSpPr>
          <p:nvPr/>
        </p:nvSpPr>
        <p:spPr bwMode="auto">
          <a:xfrm>
            <a:off x="4860032" y="2564904"/>
            <a:ext cx="742511" cy="307777"/>
          </a:xfrm>
          <a:prstGeom prst="rect">
            <a:avLst/>
          </a:prstGeom>
          <a:noFill/>
          <a:ln w="9525">
            <a:noFill/>
            <a:miter lim="800000"/>
            <a:headEnd/>
            <a:tailEnd/>
          </a:ln>
        </p:spPr>
        <p:txBody>
          <a:bodyPr wrap="none">
            <a:spAutoFit/>
          </a:bodyPr>
          <a:lstStyle/>
          <a:p>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10%</a:t>
            </a:r>
            <a:endParaRPr lang="ko-KR" altLang="en-US" sz="1400" b="1" dirty="0">
              <a:solidFill>
                <a:srgbClr val="000000"/>
              </a:solidFill>
              <a:latin typeface="맑은 고딕" pitchFamily="50" charset="-127"/>
              <a:ea typeface="맑은 고딕" pitchFamily="50" charset="-127"/>
            </a:endParaRPr>
          </a:p>
        </p:txBody>
      </p:sp>
      <p:sp>
        <p:nvSpPr>
          <p:cNvPr id="172051" name="TextBox 30"/>
          <p:cNvSpPr txBox="1">
            <a:spLocks noChangeArrowheads="1"/>
          </p:cNvSpPr>
          <p:nvPr/>
        </p:nvSpPr>
        <p:spPr bwMode="auto">
          <a:xfrm>
            <a:off x="4932040" y="3429000"/>
            <a:ext cx="742511" cy="307777"/>
          </a:xfrm>
          <a:prstGeom prst="rect">
            <a:avLst/>
          </a:prstGeom>
          <a:noFill/>
          <a:ln w="9525">
            <a:noFill/>
            <a:miter lim="800000"/>
            <a:headEnd/>
            <a:tailEnd/>
          </a:ln>
        </p:spPr>
        <p:txBody>
          <a:bodyPr wrap="none">
            <a:spAutoFit/>
          </a:bodyPr>
          <a:lstStyle/>
          <a:p>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10%</a:t>
            </a:r>
            <a:endParaRPr lang="ko-KR" altLang="en-US" sz="1400" b="1" dirty="0">
              <a:solidFill>
                <a:srgbClr val="000000"/>
              </a:solidFill>
              <a:latin typeface="맑은 고딕" pitchFamily="50" charset="-127"/>
              <a:ea typeface="맑은 고딕" pitchFamily="50" charset="-127"/>
            </a:endParaRPr>
          </a:p>
        </p:txBody>
      </p:sp>
      <p:sp>
        <p:nvSpPr>
          <p:cNvPr id="172052" name="TextBox 31"/>
          <p:cNvSpPr txBox="1">
            <a:spLocks noChangeArrowheads="1"/>
          </p:cNvSpPr>
          <p:nvPr/>
        </p:nvSpPr>
        <p:spPr bwMode="auto">
          <a:xfrm>
            <a:off x="5471592" y="1844824"/>
            <a:ext cx="3672408" cy="830997"/>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toàn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những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những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sai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hệ</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thống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nhỏ</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hơn</a:t>
            </a:r>
            <a:r>
              <a:rPr lang="en-US" altLang="ko-KR" sz="1200" dirty="0">
                <a:solidFill>
                  <a:srgbClr val="000000"/>
                </a:solidFill>
                <a:latin typeface="맑은 고딕" pitchFamily="50" charset="-127"/>
                <a:ea typeface="맑은 고딕" pitchFamily="50" charset="-127"/>
              </a:rPr>
              <a:t> 10% </a:t>
            </a:r>
            <a:r>
              <a:rPr lang="en-US" altLang="ko-KR" sz="1200" dirty="0" err="1">
                <a:solidFill>
                  <a:srgbClr val="000000"/>
                </a:solidFill>
                <a:latin typeface="맑은 고딕" pitchFamily="50" charset="-127"/>
                <a:ea typeface="맑은 고딕" pitchFamily="50" charset="-127"/>
              </a:rPr>
              <a:t>thì</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mới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kiểm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trình</a:t>
            </a:r>
            <a:endParaRPr lang="en-US" altLang="ko-KR" sz="1200" dirty="0">
              <a:solidFill>
                <a:srgbClr val="000000"/>
              </a:solidFill>
              <a:latin typeface="맑은 고딕" pitchFamily="50" charset="-127"/>
              <a:ea typeface="맑은 고딕" pitchFamily="50" charset="-127"/>
            </a:endParaRPr>
          </a:p>
        </p:txBody>
      </p:sp>
      <p:sp>
        <p:nvSpPr>
          <p:cNvPr id="172053" name="TextBox 32"/>
          <p:cNvSpPr txBox="1">
            <a:spLocks noChangeArrowheads="1"/>
          </p:cNvSpPr>
          <p:nvPr/>
        </p:nvSpPr>
        <p:spPr bwMode="auto">
          <a:xfrm>
            <a:off x="5508104" y="2708920"/>
            <a:ext cx="3596744" cy="830997"/>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So </a:t>
            </a:r>
            <a:r>
              <a:rPr lang="en-US" altLang="ko-KR" sz="1200" dirty="0" err="1">
                <a:solidFill>
                  <a:srgbClr val="000000"/>
                </a:solidFill>
                <a:latin typeface="맑은 고딕" pitchFamily="50" charset="-127"/>
                <a:ea typeface="맑은 고딕" pitchFamily="50" charset="-127"/>
              </a:rPr>
              <a:t>với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tán</a:t>
            </a:r>
            <a:r>
              <a:rPr lang="en-US" altLang="ko-KR" sz="1200" dirty="0">
                <a:solidFill>
                  <a:srgbClr val="000000"/>
                </a:solidFill>
                <a:latin typeface="맑은 고딕" pitchFamily="50" charset="-127"/>
                <a:ea typeface="맑은 고딕" pitchFamily="50" charset="-127"/>
              </a:rPr>
              <a:t>(</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trình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sai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hệ</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thống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nhỏ</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hơn</a:t>
            </a:r>
            <a:r>
              <a:rPr lang="en-US" altLang="ko-KR" sz="1200" dirty="0">
                <a:solidFill>
                  <a:srgbClr val="000000"/>
                </a:solidFill>
                <a:latin typeface="맑은 고딕" pitchFamily="50" charset="-127"/>
                <a:ea typeface="맑은 고딕" pitchFamily="50" charset="-127"/>
              </a:rPr>
              <a:t> 10% </a:t>
            </a:r>
            <a:r>
              <a:rPr lang="en-US" altLang="ko-KR" sz="1200" dirty="0" err="1">
                <a:solidFill>
                  <a:srgbClr val="000000"/>
                </a:solidFill>
                <a:latin typeface="맑은 고딕" pitchFamily="50" charset="-127"/>
                <a:ea typeface="맑은 고딕" pitchFamily="50" charset="-127"/>
              </a:rPr>
              <a:t>thì</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xác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nhận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trình</a:t>
            </a:r>
            <a:endParaRPr lang="en-US" altLang="ko-KR" sz="1200" dirty="0">
              <a:solidFill>
                <a:srgbClr val="000000"/>
              </a:solidFill>
              <a:latin typeface="맑은 고딕" pitchFamily="50" charset="-127"/>
              <a:ea typeface="맑은 고딕" pitchFamily="50" charset="-127"/>
            </a:endParaRPr>
          </a:p>
        </p:txBody>
      </p:sp>
      <p:sp>
        <p:nvSpPr>
          <p:cNvPr id="172054" name="TextBox 33"/>
          <p:cNvSpPr txBox="1">
            <a:spLocks noChangeArrowheads="1"/>
          </p:cNvSpPr>
          <p:nvPr/>
        </p:nvSpPr>
        <p:spPr bwMode="auto">
          <a:xfrm>
            <a:off x="5495974" y="3501008"/>
            <a:ext cx="3756546" cy="646331"/>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So </a:t>
            </a:r>
            <a:r>
              <a:rPr lang="en-US" altLang="ko-KR" sz="1200" dirty="0" err="1">
                <a:solidFill>
                  <a:srgbClr val="000000"/>
                </a:solidFill>
                <a:latin typeface="맑은 고딕" pitchFamily="50" charset="-127"/>
                <a:ea typeface="맑은 고딕" pitchFamily="50" charset="-127"/>
              </a:rPr>
              <a:t>với</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Spec(tolerance)</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phẩm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sai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hệ</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thống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nhỏ</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hơn</a:t>
            </a:r>
            <a:r>
              <a:rPr lang="en-US" altLang="ko-KR" sz="1200" dirty="0">
                <a:solidFill>
                  <a:srgbClr val="000000"/>
                </a:solidFill>
                <a:latin typeface="맑은 고딕" pitchFamily="50" charset="-127"/>
                <a:ea typeface="맑은 고딕" pitchFamily="50" charset="-127"/>
              </a:rPr>
              <a:t> 10% </a:t>
            </a:r>
            <a:r>
              <a:rPr lang="en-US" altLang="ko-KR" sz="1200" dirty="0" err="1">
                <a:solidFill>
                  <a:srgbClr val="000000"/>
                </a:solidFill>
                <a:latin typeface="맑은 고딕" pitchFamily="50" charset="-127"/>
                <a:ea typeface="맑은 고딕" pitchFamily="50" charset="-127"/>
              </a:rPr>
              <a:t>thì</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đánh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OK/NG</a:t>
            </a:r>
          </a:p>
        </p:txBody>
      </p:sp>
      <p:sp>
        <p:nvSpPr>
          <p:cNvPr id="172055" name="TextBox 35"/>
          <p:cNvSpPr txBox="1">
            <a:spLocks noChangeArrowheads="1"/>
          </p:cNvSpPr>
          <p:nvPr/>
        </p:nvSpPr>
        <p:spPr bwMode="auto">
          <a:xfrm>
            <a:off x="344788" y="5308601"/>
            <a:ext cx="2036135" cy="861774"/>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Xác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nhận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khả</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năng</a:t>
            </a:r>
            <a:r>
              <a:rPr lang="en-US" altLang="ko-KR" sz="1200" b="1" dirty="0">
                <a:solidFill>
                  <a:srgbClr val="000000"/>
                </a:solidFill>
                <a:latin typeface="맑은 고딕" pitchFamily="50" charset="-127"/>
                <a:ea typeface="맑은 고딕" pitchFamily="50" charset="-127"/>
              </a:rPr>
              <a:t> </a:t>
            </a:r>
          </a:p>
          <a:p>
            <a:r>
              <a:rPr lang="en-US" altLang="ko-KR" sz="1200" b="1" dirty="0" err="1">
                <a:solidFill>
                  <a:srgbClr val="000000"/>
                </a:solidFill>
                <a:latin typeface="맑은 고딕" pitchFamily="50" charset="-127"/>
                <a:ea typeface="맑은 고딕" pitchFamily="50" charset="-127"/>
              </a:rPr>
              <a:t>phân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biệt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phân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giải</a:t>
            </a:r>
            <a:r>
              <a:rPr lang="en-US" altLang="ko-KR" sz="1200" b="1" dirty="0">
                <a:solidFill>
                  <a:srgbClr val="000000"/>
                </a:solidFill>
                <a:latin typeface="맑은 고딕" pitchFamily="50" charset="-127"/>
                <a:ea typeface="맑은 고딕" pitchFamily="50" charset="-127"/>
              </a:rPr>
              <a:t>) </a:t>
            </a:r>
          </a:p>
          <a:p>
            <a:r>
              <a:rPr lang="en-US" altLang="ko-KR" sz="1200" b="1" dirty="0" err="1">
                <a:solidFill>
                  <a:srgbClr val="000000"/>
                </a:solidFill>
                <a:latin typeface="맑은 고딕" pitchFamily="50" charset="-127"/>
                <a:ea typeface="맑은 고딕" pitchFamily="50" charset="-127"/>
              </a:rPr>
              <a:t>của</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hệ</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thống</a:t>
            </a:r>
            <a:r>
              <a:rPr lang="en-US" altLang="ko-KR" sz="1200" b="1" dirty="0">
                <a:solidFill>
                  <a:srgbClr val="000000"/>
                </a:solidFill>
                <a:latin typeface="맑은 고딕" pitchFamily="50" charset="-127"/>
                <a:ea typeface="맑은 고딕" pitchFamily="50" charset="-127"/>
              </a:rPr>
              <a:t> </a:t>
            </a:r>
            <a:r>
              <a:rPr lang="vi-VN" altLang="ko-KR" sz="1200" b="1" dirty="0">
                <a:solidFill>
                  <a:srgbClr val="000000"/>
                </a:solidFill>
                <a:latin typeface="맑은 고딕" pitchFamily="50" charset="-127"/>
                <a:ea typeface="맑은 고딕" pitchFamily="50" charset="-127"/>
              </a:rPr>
              <a:t>đo</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đạc</a:t>
            </a:r>
            <a:endParaRPr lang="en-US" altLang="ko-KR" sz="1200" b="1" dirty="0">
              <a:solidFill>
                <a:srgbClr val="000000"/>
              </a:solidFill>
              <a:latin typeface="맑은 고딕" pitchFamily="50" charset="-127"/>
              <a:ea typeface="맑은 고딕" pitchFamily="50" charset="-127"/>
            </a:endParaRPr>
          </a:p>
          <a:p>
            <a:r>
              <a:rPr lang="en-US" altLang="ko-KR" sz="1200" b="1" dirty="0">
                <a:solidFill>
                  <a:srgbClr val="000000"/>
                </a:solidFill>
                <a:latin typeface="맑은 고딕" pitchFamily="50" charset="-127"/>
                <a:ea typeface="맑은 고딕" pitchFamily="50" charset="-127"/>
              </a:rPr>
              <a:t> </a:t>
            </a:r>
          </a:p>
        </p:txBody>
      </p:sp>
      <p:sp>
        <p:nvSpPr>
          <p:cNvPr id="172056" name="TextBox 37"/>
          <p:cNvSpPr txBox="1">
            <a:spLocks noChangeArrowheads="1"/>
          </p:cNvSpPr>
          <p:nvPr/>
        </p:nvSpPr>
        <p:spPr bwMode="auto">
          <a:xfrm>
            <a:off x="2147212" y="5308601"/>
            <a:ext cx="3173433" cy="307777"/>
          </a:xfrm>
          <a:prstGeom prst="rect">
            <a:avLst/>
          </a:prstGeom>
          <a:noFill/>
          <a:ln w="9525">
            <a:noFill/>
            <a:miter lim="800000"/>
            <a:headEnd/>
            <a:tailEnd/>
          </a:ln>
        </p:spPr>
        <p:txBody>
          <a:bodyPr wrap="none">
            <a:spAutoFit/>
          </a:bodyPr>
          <a:lstStyle/>
          <a:p>
            <a:pPr>
              <a:buFont typeface="Arial" pitchFamily="34" charset="0"/>
              <a:buChar char="•"/>
            </a:pP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Number of distinct category  </a:t>
            </a:r>
            <a:r>
              <a:rPr lang="ko-KR" altLang="en-US" sz="1400" b="1" dirty="0">
                <a:solidFill>
                  <a:srgbClr val="000000"/>
                </a:solidFill>
                <a:latin typeface="맑은 고딕" pitchFamily="50" charset="-127"/>
                <a:ea typeface="맑은 고딕" pitchFamily="50" charset="-127"/>
              </a:rPr>
              <a:t>≥</a:t>
            </a:r>
            <a:r>
              <a:rPr lang="en-US" altLang="ko-KR" sz="1400" b="1" dirty="0">
                <a:solidFill>
                  <a:srgbClr val="000000"/>
                </a:solidFill>
                <a:latin typeface="맑은 고딕" pitchFamily="50" charset="-127"/>
                <a:ea typeface="맑은 고딕" pitchFamily="50" charset="-127"/>
              </a:rPr>
              <a:t> 5</a:t>
            </a:r>
            <a:endParaRPr lang="ko-KR" altLang="en-US" sz="1400" b="1" dirty="0">
              <a:solidFill>
                <a:srgbClr val="000000"/>
              </a:solidFill>
              <a:latin typeface="맑은 고딕" pitchFamily="50" charset="-127"/>
              <a:ea typeface="맑은 고딕" pitchFamily="50" charset="-127"/>
            </a:endParaRPr>
          </a:p>
        </p:txBody>
      </p:sp>
      <p:sp>
        <p:nvSpPr>
          <p:cNvPr id="172057" name="TextBox 39"/>
          <p:cNvSpPr txBox="1">
            <a:spLocks noChangeArrowheads="1"/>
          </p:cNvSpPr>
          <p:nvPr/>
        </p:nvSpPr>
        <p:spPr bwMode="auto">
          <a:xfrm>
            <a:off x="5292080" y="5229200"/>
            <a:ext cx="3672408" cy="1200329"/>
          </a:xfrm>
          <a:prstGeom prst="rect">
            <a:avLst/>
          </a:prstGeom>
          <a:noFill/>
          <a:ln w="9525">
            <a:noFill/>
            <a:miter lim="800000"/>
            <a:headEnd/>
            <a:tailEnd/>
          </a:ln>
        </p:spPr>
        <p:txBody>
          <a:bodyPr wrap="square">
            <a:spAutoFit/>
          </a:bodyPr>
          <a:lstStyle/>
          <a:p>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Hệ</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thống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biệt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hạng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mục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phạm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biệt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thì</a:t>
            </a:r>
            <a:r>
              <a:rPr lang="en-US" altLang="ko-KR" sz="1200" dirty="0">
                <a:solidFill>
                  <a:srgbClr val="000000"/>
                </a:solidFill>
                <a:latin typeface="맑은 고딕" pitchFamily="50" charset="-127"/>
                <a:ea typeface="맑은 고딕" pitchFamily="50" charset="-127"/>
              </a:rPr>
              <a:t> NDC = 5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nghĩa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khả</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năng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biệt</a:t>
            </a:r>
            <a:r>
              <a:rPr lang="en-US" altLang="ko-KR" sz="1200" dirty="0">
                <a:solidFill>
                  <a:srgbClr val="000000"/>
                </a:solidFill>
                <a:latin typeface="맑은 고딕" pitchFamily="50" charset="-127"/>
                <a:ea typeface="맑은 고딕" pitchFamily="50" charset="-127"/>
              </a:rPr>
              <a:t> process </a:t>
            </a:r>
            <a:r>
              <a:rPr lang="en-US" altLang="ko-KR" sz="1200" dirty="0" err="1">
                <a:solidFill>
                  <a:srgbClr val="000000"/>
                </a:solidFill>
                <a:latin typeface="맑은 고딕" pitchFamily="50" charset="-127"/>
                <a:ea typeface="맑은 고딕" pitchFamily="50" charset="-127"/>
              </a:rPr>
              <a:t>thành</a:t>
            </a:r>
            <a:r>
              <a:rPr lang="en-US" altLang="ko-KR" sz="1200" dirty="0">
                <a:solidFill>
                  <a:srgbClr val="000000"/>
                </a:solidFill>
                <a:latin typeface="맑은 고딕" pitchFamily="50" charset="-127"/>
                <a:ea typeface="맑은 고딕" pitchFamily="50" charset="-127"/>
              </a:rPr>
              <a:t> 5 </a:t>
            </a:r>
            <a:r>
              <a:rPr lang="en-US" altLang="ko-KR" sz="1200" dirty="0" err="1">
                <a:solidFill>
                  <a:srgbClr val="000000"/>
                </a:solidFill>
                <a:latin typeface="맑은 고딕" pitchFamily="50" charset="-127"/>
                <a:ea typeface="맑은 고딕" pitchFamily="50" charset="-127"/>
              </a:rPr>
              <a:t>hạng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mục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phạm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1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nghĩa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chỉ</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đánh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Nếu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r>
              <a:rPr lang="en-US" altLang="ko-KR" sz="1200" dirty="0">
                <a:solidFill>
                  <a:srgbClr val="000000"/>
                </a:solidFill>
                <a:latin typeface="맑은 고딕" pitchFamily="50" charset="-127"/>
                <a:ea typeface="맑은 고딕" pitchFamily="50" charset="-127"/>
              </a:rPr>
              <a:t> process </a:t>
            </a:r>
            <a:r>
              <a:rPr lang="en-US" altLang="ko-KR" sz="1200" dirty="0" err="1">
                <a:solidFill>
                  <a:srgbClr val="000000"/>
                </a:solidFill>
                <a:latin typeface="맑은 고딕" pitchFamily="50" charset="-127"/>
                <a:ea typeface="맑은 고딕" pitchFamily="50" charset="-127"/>
              </a:rPr>
              <a:t>thì</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trên</a:t>
            </a:r>
            <a:r>
              <a:rPr lang="en-US" altLang="ko-KR" sz="1200" dirty="0">
                <a:solidFill>
                  <a:srgbClr val="000000"/>
                </a:solidFill>
                <a:latin typeface="맑은 고딕" pitchFamily="50" charset="-127"/>
                <a:ea typeface="맑은 고딕" pitchFamily="50" charset="-127"/>
              </a:rPr>
              <a:t> 5</a:t>
            </a:r>
          </a:p>
        </p:txBody>
      </p:sp>
      <p:cxnSp>
        <p:nvCxnSpPr>
          <p:cNvPr id="172058" name="직선 연결선 41"/>
          <p:cNvCxnSpPr>
            <a:cxnSpLocks noChangeShapeType="1"/>
          </p:cNvCxnSpPr>
          <p:nvPr/>
        </p:nvCxnSpPr>
        <p:spPr bwMode="auto">
          <a:xfrm>
            <a:off x="98927" y="5157788"/>
            <a:ext cx="8664819" cy="0"/>
          </a:xfrm>
          <a:prstGeom prst="line">
            <a:avLst/>
          </a:prstGeom>
          <a:noFill/>
          <a:ln w="12700" algn="ctr">
            <a:solidFill>
              <a:schemeClr val="bg2"/>
            </a:solidFill>
            <a:prstDash val="dash"/>
            <a:round/>
            <a:headEnd/>
            <a:tailEnd/>
          </a:ln>
        </p:spPr>
      </p:cxnSp>
      <p:sp>
        <p:nvSpPr>
          <p:cNvPr id="172059" name="TextBox 42"/>
          <p:cNvSpPr txBox="1">
            <a:spLocks noChangeArrowheads="1"/>
          </p:cNvSpPr>
          <p:nvPr/>
        </p:nvSpPr>
        <p:spPr bwMode="auto">
          <a:xfrm>
            <a:off x="179512" y="4005064"/>
            <a:ext cx="7955448" cy="646331"/>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Tại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sao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lại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với</a:t>
            </a:r>
            <a:r>
              <a:rPr lang="en-US" altLang="ko-KR" sz="1200" dirty="0">
                <a:solidFill>
                  <a:srgbClr val="000000"/>
                </a:solidFill>
                <a:latin typeface="맑은 고딕" pitchFamily="50" charset="-127"/>
                <a:ea typeface="맑은 고딕" pitchFamily="50" charset="-127"/>
              </a:rPr>
              <a:t> 6? </a:t>
            </a:r>
          </a:p>
          <a:p>
            <a:r>
              <a:rPr lang="en-US" altLang="ko-KR" sz="1200" dirty="0">
                <a:solidFill>
                  <a:srgbClr val="000000"/>
                </a:solidFill>
                <a:latin typeface="맑은 고딕" pitchFamily="50" charset="-127"/>
                <a:ea typeface="맑은 고딕" pitchFamily="50" charset="-127"/>
              </a:rPr>
              <a:t>Spec</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phẩm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USL, LSL, </a:t>
            </a:r>
            <a:r>
              <a:rPr lang="en-US" altLang="ko-KR" sz="1200" dirty="0" err="1">
                <a:solidFill>
                  <a:srgbClr val="000000"/>
                </a:solidFill>
                <a:latin typeface="맑은 고딕" pitchFamily="50" charset="-127"/>
                <a:ea typeface="맑은 고딕" pitchFamily="50" charset="-127"/>
              </a:rPr>
              <a:t>sẽ</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khoảng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Gage</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lệch</a:t>
            </a:r>
            <a:r>
              <a:rPr lang="en-US" altLang="ko-KR" sz="1200" dirty="0">
                <a:solidFill>
                  <a:srgbClr val="000000"/>
                </a:solidFill>
                <a:latin typeface="맑은 고딕" pitchFamily="50" charset="-127"/>
                <a:ea typeface="맑은 고딕" pitchFamily="50" charset="-127"/>
              </a:rPr>
              <a:t>/Bias</a:t>
            </a:r>
          </a:p>
          <a:p>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lựa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chọn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đơn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vị</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vùng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99,73% </a:t>
            </a:r>
            <a:r>
              <a:rPr lang="en-US" altLang="ko-KR" sz="1200" dirty="0" err="1">
                <a:solidFill>
                  <a:srgbClr val="000000"/>
                </a:solidFill>
                <a:latin typeface="맑은 고딕" pitchFamily="50" charset="-127"/>
                <a:ea typeface="맑은 고딕" pitchFamily="50" charset="-127"/>
              </a:rPr>
              <a:t>ta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với</a:t>
            </a:r>
            <a:r>
              <a:rPr lang="en-US" altLang="ko-KR" sz="1200" dirty="0">
                <a:solidFill>
                  <a:srgbClr val="000000"/>
                </a:solidFill>
                <a:latin typeface="맑은 고딕" pitchFamily="50" charset="-127"/>
                <a:ea typeface="맑은 고딕" pitchFamily="50" charset="-127"/>
              </a:rPr>
              <a:t> 6.</a:t>
            </a:r>
          </a:p>
        </p:txBody>
      </p:sp>
      <p:grpSp>
        <p:nvGrpSpPr>
          <p:cNvPr id="4" name="Group 17"/>
          <p:cNvGrpSpPr>
            <a:grpSpLocks/>
          </p:cNvGrpSpPr>
          <p:nvPr/>
        </p:nvGrpSpPr>
        <p:grpSpPr bwMode="auto">
          <a:xfrm>
            <a:off x="7815866" y="4136503"/>
            <a:ext cx="1364646" cy="1164705"/>
            <a:chOff x="4875" y="3301"/>
            <a:chExt cx="999" cy="765"/>
          </a:xfrm>
        </p:grpSpPr>
        <p:grpSp>
          <p:nvGrpSpPr>
            <p:cNvPr id="5" name="Group 18"/>
            <p:cNvGrpSpPr>
              <a:grpSpLocks/>
            </p:cNvGrpSpPr>
            <p:nvPr/>
          </p:nvGrpSpPr>
          <p:grpSpPr bwMode="auto">
            <a:xfrm>
              <a:off x="4875" y="3301"/>
              <a:ext cx="999" cy="596"/>
              <a:chOff x="4875" y="3329"/>
              <a:chExt cx="999" cy="596"/>
            </a:xfrm>
          </p:grpSpPr>
          <p:grpSp>
            <p:nvGrpSpPr>
              <p:cNvPr id="6" name="Group 19"/>
              <p:cNvGrpSpPr>
                <a:grpSpLocks/>
              </p:cNvGrpSpPr>
              <p:nvPr/>
            </p:nvGrpSpPr>
            <p:grpSpPr bwMode="auto">
              <a:xfrm>
                <a:off x="4980" y="3329"/>
                <a:ext cx="816" cy="464"/>
                <a:chOff x="4998" y="3427"/>
                <a:chExt cx="816" cy="464"/>
              </a:xfrm>
            </p:grpSpPr>
            <p:pic>
              <p:nvPicPr>
                <p:cNvPr id="172069" name="Picture 20"/>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998" y="3427"/>
                  <a:ext cx="816" cy="457"/>
                </a:xfrm>
                <a:prstGeom prst="rect">
                  <a:avLst/>
                </a:prstGeom>
                <a:noFill/>
                <a:ln w="9525">
                  <a:noFill/>
                  <a:miter lim="800000"/>
                  <a:headEnd/>
                  <a:tailEnd/>
                </a:ln>
              </p:spPr>
            </p:pic>
            <p:sp>
              <p:nvSpPr>
                <p:cNvPr id="172070" name="Line 21"/>
                <p:cNvSpPr>
                  <a:spLocks noChangeShapeType="1"/>
                </p:cNvSpPr>
                <p:nvPr/>
              </p:nvSpPr>
              <p:spPr bwMode="auto">
                <a:xfrm>
                  <a:off x="5109" y="3748"/>
                  <a:ext cx="0" cy="136"/>
                </a:xfrm>
                <a:prstGeom prst="line">
                  <a:avLst/>
                </a:prstGeom>
                <a:noFill/>
                <a:ln w="9525">
                  <a:solidFill>
                    <a:schemeClr val="tx1"/>
                  </a:solidFill>
                  <a:round/>
                  <a:headEnd/>
                  <a:tailEnd/>
                </a:ln>
              </p:spPr>
              <p:txBody>
                <a:bodyPr anchor="ctr"/>
                <a:lstStyle/>
                <a:p>
                  <a:endParaRPr lang="ko-KR" altLang="en-US" dirty="0"/>
                </a:p>
              </p:txBody>
            </p:sp>
            <p:sp>
              <p:nvSpPr>
                <p:cNvPr id="172071" name="Line 22"/>
                <p:cNvSpPr>
                  <a:spLocks noChangeShapeType="1"/>
                </p:cNvSpPr>
                <p:nvPr/>
              </p:nvSpPr>
              <p:spPr bwMode="auto">
                <a:xfrm>
                  <a:off x="5681" y="3755"/>
                  <a:ext cx="0" cy="136"/>
                </a:xfrm>
                <a:prstGeom prst="line">
                  <a:avLst/>
                </a:prstGeom>
                <a:noFill/>
                <a:ln w="9525">
                  <a:solidFill>
                    <a:schemeClr val="tx1"/>
                  </a:solidFill>
                  <a:round/>
                  <a:headEnd/>
                  <a:tailEnd/>
                </a:ln>
              </p:spPr>
              <p:txBody>
                <a:bodyPr anchor="ctr"/>
                <a:lstStyle/>
                <a:p>
                  <a:endParaRPr lang="ko-KR" altLang="en-US" dirty="0"/>
                </a:p>
              </p:txBody>
            </p:sp>
          </p:grpSp>
          <p:sp>
            <p:nvSpPr>
              <p:cNvPr id="172065" name="Text Box 23"/>
              <p:cNvSpPr txBox="1">
                <a:spLocks noChangeArrowheads="1"/>
              </p:cNvSpPr>
              <p:nvPr/>
            </p:nvSpPr>
            <p:spPr bwMode="auto">
              <a:xfrm>
                <a:off x="4875" y="3762"/>
                <a:ext cx="408" cy="162"/>
              </a:xfrm>
              <a:prstGeom prst="rect">
                <a:avLst/>
              </a:prstGeom>
              <a:noFill/>
              <a:ln w="9525" algn="ctr">
                <a:noFill/>
                <a:miter lim="800000"/>
                <a:headEnd/>
                <a:tailEnd/>
              </a:ln>
            </p:spPr>
            <p:txBody>
              <a:bodyPr>
                <a:spAutoFit/>
              </a:bodyPr>
              <a:lstStyle/>
              <a:p>
                <a:pPr algn="ctr">
                  <a:spcBef>
                    <a:spcPct val="50000"/>
                  </a:spcBef>
                </a:pPr>
                <a:r>
                  <a:rPr lang="en-US" altLang="ko-KR" sz="1000" dirty="0">
                    <a:solidFill>
                      <a:srgbClr val="000000"/>
                    </a:solidFill>
                    <a:latin typeface="Arial" pitchFamily="34" charset="0"/>
                  </a:rPr>
                  <a:t>-3</a:t>
                </a:r>
              </a:p>
            </p:txBody>
          </p:sp>
          <p:sp>
            <p:nvSpPr>
              <p:cNvPr id="172066" name="Text Box 24"/>
              <p:cNvSpPr txBox="1">
                <a:spLocks noChangeArrowheads="1"/>
              </p:cNvSpPr>
              <p:nvPr/>
            </p:nvSpPr>
            <p:spPr bwMode="auto">
              <a:xfrm>
                <a:off x="5466" y="3763"/>
                <a:ext cx="408" cy="162"/>
              </a:xfrm>
              <a:prstGeom prst="rect">
                <a:avLst/>
              </a:prstGeom>
              <a:noFill/>
              <a:ln w="9525" algn="ctr">
                <a:noFill/>
                <a:miter lim="800000"/>
                <a:headEnd/>
                <a:tailEnd/>
              </a:ln>
            </p:spPr>
            <p:txBody>
              <a:bodyPr>
                <a:spAutoFit/>
              </a:bodyPr>
              <a:lstStyle/>
              <a:p>
                <a:pPr algn="ctr">
                  <a:spcBef>
                    <a:spcPct val="50000"/>
                  </a:spcBef>
                </a:pPr>
                <a:r>
                  <a:rPr lang="en-US" altLang="ko-KR" sz="1000" dirty="0">
                    <a:solidFill>
                      <a:srgbClr val="000000"/>
                    </a:solidFill>
                    <a:latin typeface="Arial" pitchFamily="34" charset="0"/>
                  </a:rPr>
                  <a:t>3</a:t>
                </a:r>
              </a:p>
            </p:txBody>
          </p:sp>
          <p:sp>
            <p:nvSpPr>
              <p:cNvPr id="172067" name="Text Box 25"/>
              <p:cNvSpPr txBox="1">
                <a:spLocks noChangeArrowheads="1"/>
              </p:cNvSpPr>
              <p:nvPr/>
            </p:nvSpPr>
            <p:spPr bwMode="auto">
              <a:xfrm>
                <a:off x="5148" y="3607"/>
                <a:ext cx="458" cy="162"/>
              </a:xfrm>
              <a:prstGeom prst="rect">
                <a:avLst/>
              </a:prstGeom>
              <a:noFill/>
              <a:ln w="9525" algn="ctr">
                <a:noFill/>
                <a:miter lim="800000"/>
                <a:headEnd/>
                <a:tailEnd/>
              </a:ln>
            </p:spPr>
            <p:txBody>
              <a:bodyPr wrap="square">
                <a:spAutoFit/>
              </a:bodyPr>
              <a:lstStyle/>
              <a:p>
                <a:pPr algn="ctr">
                  <a:spcBef>
                    <a:spcPct val="50000"/>
                  </a:spcBef>
                </a:pPr>
                <a:r>
                  <a:rPr lang="en-US" altLang="ko-KR" sz="1000" dirty="0">
                    <a:solidFill>
                      <a:srgbClr val="000000"/>
                    </a:solidFill>
                    <a:latin typeface="Arial" pitchFamily="34" charset="0"/>
                  </a:rPr>
                  <a:t>0.9973</a:t>
                </a:r>
              </a:p>
            </p:txBody>
          </p:sp>
          <p:sp>
            <p:nvSpPr>
              <p:cNvPr id="172068" name="Line 26"/>
              <p:cNvSpPr>
                <a:spLocks noChangeShapeType="1"/>
              </p:cNvSpPr>
              <p:nvPr/>
            </p:nvSpPr>
            <p:spPr bwMode="auto">
              <a:xfrm>
                <a:off x="5091" y="3922"/>
                <a:ext cx="590" cy="0"/>
              </a:xfrm>
              <a:prstGeom prst="line">
                <a:avLst/>
              </a:prstGeom>
              <a:noFill/>
              <a:ln w="9525">
                <a:solidFill>
                  <a:srgbClr val="0000FF"/>
                </a:solidFill>
                <a:round/>
                <a:headEnd type="triangle" w="med" len="med"/>
                <a:tailEnd type="triangle" w="med" len="med"/>
              </a:ln>
            </p:spPr>
            <p:txBody>
              <a:bodyPr anchor="ctr"/>
              <a:lstStyle/>
              <a:p>
                <a:endParaRPr lang="ko-KR" altLang="en-US" dirty="0"/>
              </a:p>
            </p:txBody>
          </p:sp>
        </p:grpSp>
        <p:sp>
          <p:nvSpPr>
            <p:cNvPr id="172063" name="Text Box 27"/>
            <p:cNvSpPr txBox="1">
              <a:spLocks noChangeArrowheads="1"/>
            </p:cNvSpPr>
            <p:nvPr/>
          </p:nvSpPr>
          <p:spPr bwMode="auto">
            <a:xfrm>
              <a:off x="5186" y="3904"/>
              <a:ext cx="408" cy="162"/>
            </a:xfrm>
            <a:prstGeom prst="rect">
              <a:avLst/>
            </a:prstGeom>
            <a:noFill/>
            <a:ln w="9525" algn="ctr">
              <a:noFill/>
              <a:miter lim="800000"/>
              <a:headEnd/>
              <a:tailEnd/>
            </a:ln>
          </p:spPr>
          <p:txBody>
            <a:bodyPr>
              <a:spAutoFit/>
            </a:bodyPr>
            <a:lstStyle/>
            <a:p>
              <a:pPr algn="ctr">
                <a:spcBef>
                  <a:spcPct val="50000"/>
                </a:spcBef>
              </a:pPr>
              <a:r>
                <a:rPr lang="en-US" altLang="ko-KR" sz="1000" dirty="0">
                  <a:solidFill>
                    <a:srgbClr val="000000"/>
                  </a:solidFill>
                  <a:latin typeface="Arial" pitchFamily="34" charset="0"/>
                </a:rPr>
                <a:t>6</a:t>
              </a:r>
            </a:p>
          </p:txBody>
        </p:sp>
      </p:grpSp>
      <p:sp>
        <p:nvSpPr>
          <p:cNvPr id="47" name="TextBox 46"/>
          <p:cNvSpPr txBox="1"/>
          <p:nvPr/>
        </p:nvSpPr>
        <p:spPr>
          <a:xfrm>
            <a:off x="251520" y="764704"/>
            <a:ext cx="6552728" cy="566309"/>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Tiêu</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chuẩn</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đánh</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giá</a:t>
            </a:r>
            <a:r>
              <a:rPr kumimoji="0" lang="en-US" altLang="ko-KR" sz="1400" b="1" kern="0" dirty="0">
                <a:solidFill>
                  <a:srgbClr val="000000"/>
                </a:solidFill>
                <a:latin typeface="맑은 고딕" pitchFamily="50" charset="-127"/>
                <a:ea typeface="맑은 고딕" pitchFamily="50" charset="-127"/>
              </a:rPr>
              <a:t> Gage R&amp;R </a:t>
            </a:r>
          </a:p>
          <a:p>
            <a:pPr marL="534988" indent="-169863" fontAlgn="auto" latinLnBrk="0">
              <a:lnSpc>
                <a:spcPct val="110000"/>
              </a:lnSpc>
              <a:spcBef>
                <a:spcPts val="0"/>
              </a:spcBef>
              <a:spcAft>
                <a:spcPts val="0"/>
              </a:spcAft>
              <a:buClr>
                <a:srgbClr val="595959"/>
              </a:buClr>
              <a:buFont typeface="Wingdings" pitchFamily="2" charset="2"/>
              <a:buChar char="§"/>
              <a:defRPr/>
            </a:pPr>
            <a:r>
              <a:rPr kumimoji="0" lang="en-US" altLang="ko-KR" sz="1400" b="1" kern="0" dirty="0" err="1">
                <a:solidFill>
                  <a:srgbClr val="000000"/>
                </a:solidFill>
                <a:latin typeface="맑은 고딕" pitchFamily="50" charset="-127"/>
                <a:ea typeface="맑은 고딕" pitchFamily="50" charset="-127"/>
              </a:rPr>
              <a:t>Sau</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đây</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là</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tiêu</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chuẩn</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đánh</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giá</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mức</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độ</a:t>
            </a:r>
            <a:r>
              <a:rPr kumimoji="0" lang="en-US" altLang="ko-KR" sz="1400" b="1" kern="0" dirty="0">
                <a:solidFill>
                  <a:srgbClr val="000000"/>
                </a:solidFill>
                <a:latin typeface="맑은 고딕" pitchFamily="50" charset="-127"/>
                <a:ea typeface="맑은 고딕" pitchFamily="50" charset="-127"/>
              </a:rPr>
              <a:t> tin </a:t>
            </a:r>
            <a:r>
              <a:rPr kumimoji="0" lang="en-US" altLang="ko-KR" sz="1400" b="1" kern="0" dirty="0" err="1">
                <a:solidFill>
                  <a:srgbClr val="000000"/>
                </a:solidFill>
                <a:latin typeface="맑은 고딕" pitchFamily="50" charset="-127"/>
                <a:ea typeface="맑은 고딕" pitchFamily="50" charset="-127"/>
              </a:rPr>
              <a:t>cậy</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của</a:t>
            </a:r>
            <a:r>
              <a:rPr kumimoji="0" lang="en-US" altLang="ko-KR" sz="1400" b="1" kern="0" dirty="0">
                <a:solidFill>
                  <a:srgbClr val="000000"/>
                </a:solidFill>
                <a:latin typeface="맑은 고딕" pitchFamily="50" charset="-127"/>
                <a:ea typeface="맑은 고딕" pitchFamily="50" charset="-127"/>
              </a:rPr>
              <a:t> Gage R&amp;R</a:t>
            </a:r>
            <a:endParaRPr kumimoji="0" lang="ko-KR" altLang="en-US" sz="1400" b="1" kern="0" dirty="0">
              <a:solidFill>
                <a:srgbClr val="000000"/>
              </a:solidFill>
              <a:latin typeface="맑은 고딕" pitchFamily="50" charset="-127"/>
              <a:ea typeface="맑은 고딕" pitchFamily="50" charset="-127"/>
            </a:endParaRPr>
          </a:p>
        </p:txBody>
      </p:sp>
      <p:sp>
        <p:nvSpPr>
          <p:cNvPr id="8" name="슬라이드 번호 개체 틀 7"/>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35</a:t>
            </a:fld>
            <a:endParaRPr lang="ko-KR" altLang="en-US" dirty="0"/>
          </a:p>
        </p:txBody>
      </p:sp>
      <p:grpSp>
        <p:nvGrpSpPr>
          <p:cNvPr id="7" name="그룹 25"/>
          <p:cNvGrpSpPr>
            <a:grpSpLocks/>
          </p:cNvGrpSpPr>
          <p:nvPr/>
        </p:nvGrpSpPr>
        <p:grpSpPr bwMode="auto">
          <a:xfrm>
            <a:off x="3203846" y="5733256"/>
            <a:ext cx="1367681" cy="637039"/>
            <a:chOff x="5106988" y="2143889"/>
            <a:chExt cx="1483741" cy="636993"/>
          </a:xfrm>
        </p:grpSpPr>
        <p:sp>
          <p:nvSpPr>
            <p:cNvPr id="49" name="TextBox 13"/>
            <p:cNvSpPr txBox="1">
              <a:spLocks noChangeArrowheads="1"/>
            </p:cNvSpPr>
            <p:nvPr/>
          </p:nvSpPr>
          <p:spPr bwMode="auto">
            <a:xfrm>
              <a:off x="5106989" y="2143889"/>
              <a:ext cx="1459883" cy="276979"/>
            </a:xfrm>
            <a:prstGeom prst="rect">
              <a:avLst/>
            </a:prstGeom>
            <a:no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Part </a:t>
              </a:r>
              <a:endParaRPr lang="en-US" sz="1200" b="1" dirty="0">
                <a:solidFill>
                  <a:srgbClr val="000000"/>
                </a:solidFill>
                <a:latin typeface="맑은 고딕" pitchFamily="50" charset="-127"/>
                <a:ea typeface="맑은 고딕" pitchFamily="50" charset="-127"/>
              </a:endParaRPr>
            </a:p>
          </p:txBody>
        </p:sp>
        <p:sp>
          <p:nvSpPr>
            <p:cNvPr id="50" name="TextBox 15"/>
            <p:cNvSpPr txBox="1">
              <a:spLocks noChangeArrowheads="1"/>
            </p:cNvSpPr>
            <p:nvPr/>
          </p:nvSpPr>
          <p:spPr bwMode="auto">
            <a:xfrm>
              <a:off x="5106988" y="2503903"/>
              <a:ext cx="1483741" cy="276979"/>
            </a:xfrm>
            <a:prstGeom prst="rect">
              <a:avLst/>
            </a:prstGeom>
            <a:no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Gage</a:t>
              </a:r>
              <a:endParaRPr lang="en-US" sz="1200" b="1" dirty="0">
                <a:solidFill>
                  <a:srgbClr val="000000"/>
                </a:solidFill>
                <a:latin typeface="맑은 고딕" pitchFamily="50" charset="-127"/>
                <a:ea typeface="맑은 고딕" pitchFamily="50" charset="-127"/>
              </a:endParaRPr>
            </a:p>
          </p:txBody>
        </p:sp>
        <p:cxnSp>
          <p:nvCxnSpPr>
            <p:cNvPr id="51" name="직선 연결선 17"/>
            <p:cNvCxnSpPr>
              <a:cxnSpLocks noChangeShapeType="1"/>
            </p:cNvCxnSpPr>
            <p:nvPr/>
          </p:nvCxnSpPr>
          <p:spPr bwMode="auto">
            <a:xfrm>
              <a:off x="5285789" y="2420888"/>
              <a:ext cx="864096" cy="0"/>
            </a:xfrm>
            <a:prstGeom prst="line">
              <a:avLst/>
            </a:prstGeom>
            <a:noFill/>
            <a:ln w="12700" algn="ctr">
              <a:solidFill>
                <a:schemeClr val="tx1"/>
              </a:solidFill>
              <a:round/>
              <a:headEnd/>
              <a:tailEnd/>
            </a:ln>
          </p:spPr>
        </p:cxnSp>
      </p:grpSp>
      <p:sp>
        <p:nvSpPr>
          <p:cNvPr id="9" name="TextBox 8"/>
          <p:cNvSpPr txBox="1"/>
          <p:nvPr/>
        </p:nvSpPr>
        <p:spPr>
          <a:xfrm>
            <a:off x="4716016" y="5877272"/>
            <a:ext cx="705642" cy="276999"/>
          </a:xfrm>
          <a:prstGeom prst="rect">
            <a:avLst/>
          </a:prstGeom>
          <a:noFill/>
        </p:spPr>
        <p:txBody>
          <a:bodyPr wrap="none" rtlCol="0">
            <a:spAutoFit/>
          </a:bodyPr>
          <a:lstStyle/>
          <a:p>
            <a:r>
              <a:rPr lang="en-US" altLang="ko-KR" sz="1200" dirty="0"/>
              <a:t>X 1.414</a:t>
            </a:r>
            <a:endParaRPr lang="ko-KR" altLang="en-US" sz="1200" dirty="0"/>
          </a:p>
        </p:txBody>
      </p:sp>
      <p:sp>
        <p:nvSpPr>
          <p:cNvPr id="52" name="TextBox 51"/>
          <p:cNvSpPr txBox="1"/>
          <p:nvPr/>
        </p:nvSpPr>
        <p:spPr>
          <a:xfrm>
            <a:off x="3059832" y="5877272"/>
            <a:ext cx="292068" cy="276999"/>
          </a:xfrm>
          <a:prstGeom prst="rect">
            <a:avLst/>
          </a:prstGeom>
          <a:noFill/>
        </p:spPr>
        <p:txBody>
          <a:bodyPr wrap="none" rtlCol="0">
            <a:spAutoFit/>
          </a:bodyPr>
          <a:lstStyle/>
          <a:p>
            <a:r>
              <a:rPr lang="en-US" altLang="ko-KR" sz="1200" dirty="0"/>
              <a:t>=</a:t>
            </a:r>
            <a:endParaRPr lang="ko-KR" altLang="en-US" sz="1200" dirty="0"/>
          </a:p>
        </p:txBody>
      </p:sp>
      <p:sp>
        <p:nvSpPr>
          <p:cNvPr id="53"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93381046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1010"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71550" y="2129184"/>
            <a:ext cx="7688873" cy="1068388"/>
          </a:xfrm>
          <a:prstGeom prst="rect">
            <a:avLst/>
          </a:prstGeom>
          <a:noFill/>
          <a:ln w="9525">
            <a:noFill/>
            <a:miter lim="800000"/>
            <a:headEnd/>
            <a:tailEnd/>
          </a:ln>
        </p:spPr>
      </p:pic>
      <p:grpSp>
        <p:nvGrpSpPr>
          <p:cNvPr id="2" name="그룹 2"/>
          <p:cNvGrpSpPr>
            <a:grpSpLocks/>
          </p:cNvGrpSpPr>
          <p:nvPr/>
        </p:nvGrpSpPr>
        <p:grpSpPr bwMode="auto">
          <a:xfrm>
            <a:off x="1946031" y="1911697"/>
            <a:ext cx="5496658" cy="1795462"/>
            <a:chOff x="1817615" y="2754385"/>
            <a:chExt cx="5955579" cy="2286000"/>
          </a:xfrm>
        </p:grpSpPr>
        <p:cxnSp>
          <p:nvCxnSpPr>
            <p:cNvPr id="171084" name="직선 연결선 3"/>
            <p:cNvCxnSpPr>
              <a:cxnSpLocks noChangeShapeType="1"/>
            </p:cNvCxnSpPr>
            <p:nvPr/>
          </p:nvCxnSpPr>
          <p:spPr bwMode="auto">
            <a:xfrm rot="5400000">
              <a:off x="675409" y="3896591"/>
              <a:ext cx="2286000" cy="1588"/>
            </a:xfrm>
            <a:prstGeom prst="line">
              <a:avLst/>
            </a:prstGeom>
            <a:noFill/>
            <a:ln w="12700" algn="ctr">
              <a:solidFill>
                <a:schemeClr val="tx1"/>
              </a:solidFill>
              <a:round/>
              <a:headEnd/>
              <a:tailEnd/>
            </a:ln>
          </p:spPr>
        </p:cxnSp>
        <p:cxnSp>
          <p:nvCxnSpPr>
            <p:cNvPr id="171085" name="직선 연결선 4"/>
            <p:cNvCxnSpPr>
              <a:cxnSpLocks noChangeShapeType="1"/>
            </p:cNvCxnSpPr>
            <p:nvPr/>
          </p:nvCxnSpPr>
          <p:spPr bwMode="auto">
            <a:xfrm rot="5400000">
              <a:off x="6629400" y="3896591"/>
              <a:ext cx="2286000" cy="1588"/>
            </a:xfrm>
            <a:prstGeom prst="line">
              <a:avLst/>
            </a:prstGeom>
            <a:noFill/>
            <a:ln w="12700" algn="ctr">
              <a:solidFill>
                <a:schemeClr val="tx1"/>
              </a:solidFill>
              <a:round/>
              <a:headEnd/>
              <a:tailEnd/>
            </a:ln>
          </p:spPr>
        </p:cxnSp>
      </p:grpSp>
      <p:sp>
        <p:nvSpPr>
          <p:cNvPr id="171012" name="TextBox 5"/>
          <p:cNvSpPr txBox="1">
            <a:spLocks noChangeArrowheads="1"/>
          </p:cNvSpPr>
          <p:nvPr/>
        </p:nvSpPr>
        <p:spPr bwMode="auto">
          <a:xfrm>
            <a:off x="1740877" y="1625948"/>
            <a:ext cx="415498"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LSL</a:t>
            </a:r>
            <a:endParaRPr lang="ko-KR" altLang="en-US" sz="1200" dirty="0">
              <a:solidFill>
                <a:srgbClr val="000000"/>
              </a:solidFill>
              <a:latin typeface="맑은 고딕" pitchFamily="50" charset="-127"/>
              <a:ea typeface="맑은 고딕" pitchFamily="50" charset="-127"/>
            </a:endParaRPr>
          </a:p>
        </p:txBody>
      </p:sp>
      <p:sp>
        <p:nvSpPr>
          <p:cNvPr id="171013" name="TextBox 6"/>
          <p:cNvSpPr txBox="1">
            <a:spLocks noChangeArrowheads="1"/>
          </p:cNvSpPr>
          <p:nvPr/>
        </p:nvSpPr>
        <p:spPr bwMode="auto">
          <a:xfrm>
            <a:off x="7227278" y="1625948"/>
            <a:ext cx="449162"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USL</a:t>
            </a:r>
            <a:endParaRPr lang="ko-KR" altLang="en-US" sz="1200" dirty="0">
              <a:solidFill>
                <a:srgbClr val="000000"/>
              </a:solidFill>
              <a:latin typeface="맑은 고딕" pitchFamily="50" charset="-127"/>
              <a:ea typeface="맑은 고딕" pitchFamily="50" charset="-127"/>
            </a:endParaRPr>
          </a:p>
        </p:txBody>
      </p:sp>
      <p:cxnSp>
        <p:nvCxnSpPr>
          <p:cNvPr id="171014" name="직선 화살표 연결선 7"/>
          <p:cNvCxnSpPr>
            <a:cxnSpLocks noChangeShapeType="1"/>
          </p:cNvCxnSpPr>
          <p:nvPr/>
        </p:nvCxnSpPr>
        <p:spPr bwMode="auto">
          <a:xfrm>
            <a:off x="1956289" y="3437284"/>
            <a:ext cx="5486400" cy="1588"/>
          </a:xfrm>
          <a:prstGeom prst="straightConnector1">
            <a:avLst/>
          </a:prstGeom>
          <a:noFill/>
          <a:ln w="12700" algn="ctr">
            <a:solidFill>
              <a:schemeClr val="tx1"/>
            </a:solidFill>
            <a:round/>
            <a:headEnd type="arrow" w="med" len="med"/>
            <a:tailEnd type="arrow" w="med" len="med"/>
          </a:ln>
        </p:spPr>
      </p:cxnSp>
      <p:cxnSp>
        <p:nvCxnSpPr>
          <p:cNvPr id="171015" name="직선 화살표 연결선 8"/>
          <p:cNvCxnSpPr>
            <a:cxnSpLocks noChangeShapeType="1"/>
          </p:cNvCxnSpPr>
          <p:nvPr/>
        </p:nvCxnSpPr>
        <p:spPr bwMode="auto">
          <a:xfrm>
            <a:off x="7470531" y="3446809"/>
            <a:ext cx="1055077" cy="1588"/>
          </a:xfrm>
          <a:prstGeom prst="straightConnector1">
            <a:avLst/>
          </a:prstGeom>
          <a:noFill/>
          <a:ln w="12700" algn="ctr">
            <a:solidFill>
              <a:schemeClr val="tx1"/>
            </a:solidFill>
            <a:round/>
            <a:headEnd/>
            <a:tailEnd type="arrow" w="med" len="med"/>
          </a:ln>
        </p:spPr>
      </p:cxnSp>
      <p:cxnSp>
        <p:nvCxnSpPr>
          <p:cNvPr id="171016" name="직선 화살표 연결선 9"/>
          <p:cNvCxnSpPr>
            <a:cxnSpLocks noChangeShapeType="1"/>
          </p:cNvCxnSpPr>
          <p:nvPr/>
        </p:nvCxnSpPr>
        <p:spPr bwMode="auto">
          <a:xfrm rot="10800000">
            <a:off x="1112227" y="3437284"/>
            <a:ext cx="844062" cy="1588"/>
          </a:xfrm>
          <a:prstGeom prst="straightConnector1">
            <a:avLst/>
          </a:prstGeom>
          <a:noFill/>
          <a:ln w="12700" algn="ctr">
            <a:solidFill>
              <a:schemeClr val="tx1"/>
            </a:solidFill>
            <a:round/>
            <a:headEnd/>
            <a:tailEnd type="arrow" w="med" len="med"/>
          </a:ln>
        </p:spPr>
      </p:cxnSp>
      <p:sp>
        <p:nvSpPr>
          <p:cNvPr id="11" name="타원 10"/>
          <p:cNvSpPr/>
          <p:nvPr/>
        </p:nvSpPr>
        <p:spPr bwMode="auto">
          <a:xfrm>
            <a:off x="2524858"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2" name="타원 11"/>
          <p:cNvSpPr/>
          <p:nvPr/>
        </p:nvSpPr>
        <p:spPr bwMode="auto">
          <a:xfrm>
            <a:off x="26889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3" name="타원 12"/>
          <p:cNvSpPr/>
          <p:nvPr/>
        </p:nvSpPr>
        <p:spPr bwMode="auto">
          <a:xfrm>
            <a:off x="2835520"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4" name="타원 13"/>
          <p:cNvSpPr/>
          <p:nvPr/>
        </p:nvSpPr>
        <p:spPr bwMode="auto">
          <a:xfrm>
            <a:off x="29937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5" name="타원 14"/>
          <p:cNvSpPr/>
          <p:nvPr/>
        </p:nvSpPr>
        <p:spPr bwMode="auto">
          <a:xfrm>
            <a:off x="31461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6" name="타원 15"/>
          <p:cNvSpPr/>
          <p:nvPr/>
        </p:nvSpPr>
        <p:spPr bwMode="auto">
          <a:xfrm>
            <a:off x="3304443"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 name="타원 16"/>
          <p:cNvSpPr/>
          <p:nvPr/>
        </p:nvSpPr>
        <p:spPr bwMode="auto">
          <a:xfrm>
            <a:off x="34509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8" name="타원 17"/>
          <p:cNvSpPr/>
          <p:nvPr/>
        </p:nvSpPr>
        <p:spPr bwMode="auto">
          <a:xfrm>
            <a:off x="3597520"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9" name="타원 18"/>
          <p:cNvSpPr/>
          <p:nvPr/>
        </p:nvSpPr>
        <p:spPr bwMode="auto">
          <a:xfrm>
            <a:off x="3744058"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20" name="타원 19"/>
          <p:cNvSpPr/>
          <p:nvPr/>
        </p:nvSpPr>
        <p:spPr bwMode="auto">
          <a:xfrm>
            <a:off x="3919904"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1027" name="타원 20"/>
          <p:cNvSpPr>
            <a:spLocks noChangeArrowheads="1"/>
          </p:cNvSpPr>
          <p:nvPr/>
        </p:nvSpPr>
        <p:spPr bwMode="auto">
          <a:xfrm>
            <a:off x="1274885"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28" name="타원 21"/>
          <p:cNvSpPr>
            <a:spLocks noChangeArrowheads="1"/>
          </p:cNvSpPr>
          <p:nvPr/>
        </p:nvSpPr>
        <p:spPr bwMode="auto">
          <a:xfrm>
            <a:off x="2048608"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29" name="타원 22"/>
          <p:cNvSpPr>
            <a:spLocks noChangeArrowheads="1"/>
          </p:cNvSpPr>
          <p:nvPr/>
        </p:nvSpPr>
        <p:spPr bwMode="auto">
          <a:xfrm>
            <a:off x="2823797"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0" name="타원 23"/>
          <p:cNvSpPr>
            <a:spLocks noChangeArrowheads="1"/>
          </p:cNvSpPr>
          <p:nvPr/>
        </p:nvSpPr>
        <p:spPr bwMode="auto">
          <a:xfrm>
            <a:off x="3597520"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1" name="타원 24"/>
          <p:cNvSpPr>
            <a:spLocks noChangeArrowheads="1"/>
          </p:cNvSpPr>
          <p:nvPr/>
        </p:nvSpPr>
        <p:spPr bwMode="auto">
          <a:xfrm>
            <a:off x="4372708"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2" name="타원 25"/>
          <p:cNvSpPr>
            <a:spLocks noChangeArrowheads="1"/>
          </p:cNvSpPr>
          <p:nvPr/>
        </p:nvSpPr>
        <p:spPr bwMode="auto">
          <a:xfrm>
            <a:off x="5146431"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3" name="타원 26"/>
          <p:cNvSpPr>
            <a:spLocks noChangeArrowheads="1"/>
          </p:cNvSpPr>
          <p:nvPr/>
        </p:nvSpPr>
        <p:spPr bwMode="auto">
          <a:xfrm>
            <a:off x="5921620"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4" name="타원 27"/>
          <p:cNvSpPr>
            <a:spLocks noChangeArrowheads="1"/>
          </p:cNvSpPr>
          <p:nvPr/>
        </p:nvSpPr>
        <p:spPr bwMode="auto">
          <a:xfrm>
            <a:off x="6695343"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5" name="타원 28"/>
          <p:cNvSpPr>
            <a:spLocks noChangeArrowheads="1"/>
          </p:cNvSpPr>
          <p:nvPr/>
        </p:nvSpPr>
        <p:spPr bwMode="auto">
          <a:xfrm>
            <a:off x="7470531"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6" name="타원 29"/>
          <p:cNvSpPr>
            <a:spLocks noChangeArrowheads="1"/>
          </p:cNvSpPr>
          <p:nvPr/>
        </p:nvSpPr>
        <p:spPr bwMode="auto">
          <a:xfrm>
            <a:off x="8244254"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7" name="TextBox 30"/>
          <p:cNvSpPr txBox="1">
            <a:spLocks noChangeArrowheads="1"/>
          </p:cNvSpPr>
          <p:nvPr/>
        </p:nvSpPr>
        <p:spPr bwMode="auto">
          <a:xfrm>
            <a:off x="483577" y="1052736"/>
            <a:ext cx="2848857" cy="276999"/>
          </a:xfrm>
          <a:prstGeom prst="rect">
            <a:avLst/>
          </a:prstGeom>
          <a:noFill/>
          <a:ln w="9525">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1. When sampling on some sections</a:t>
            </a:r>
            <a:endParaRPr lang="ko-KR" altLang="en-US" sz="1200" b="1" dirty="0">
              <a:solidFill>
                <a:srgbClr val="FF0000"/>
              </a:solidFill>
              <a:latin typeface="맑은 고딕" pitchFamily="50" charset="-127"/>
              <a:ea typeface="맑은 고딕" pitchFamily="50" charset="-127"/>
            </a:endParaRPr>
          </a:p>
        </p:txBody>
      </p:sp>
      <p:sp>
        <p:nvSpPr>
          <p:cNvPr id="171038" name="TextBox 31"/>
          <p:cNvSpPr txBox="1">
            <a:spLocks noChangeArrowheads="1"/>
          </p:cNvSpPr>
          <p:nvPr/>
        </p:nvSpPr>
        <p:spPr bwMode="auto">
          <a:xfrm>
            <a:off x="483577" y="3872081"/>
            <a:ext cx="3516919" cy="461665"/>
          </a:xfrm>
          <a:prstGeom prst="rect">
            <a:avLst/>
          </a:prstGeom>
          <a:noFill/>
          <a:ln w="9525">
            <a:noFill/>
            <a:miter lim="800000"/>
            <a:headEnd/>
            <a:tailEnd/>
          </a:ln>
        </p:spPr>
        <p:txBody>
          <a:bodyPr wrap="square">
            <a:spAutoFit/>
          </a:bodyPr>
          <a:lstStyle/>
          <a:p>
            <a:r>
              <a:rPr lang="en-US" altLang="ko-KR" sz="1200" b="1" dirty="0">
                <a:solidFill>
                  <a:srgbClr val="FF0000"/>
                </a:solidFill>
                <a:latin typeface="맑은 고딕" pitchFamily="50" charset="-127"/>
                <a:ea typeface="맑은 고딕" pitchFamily="50" charset="-127"/>
              </a:rPr>
              <a:t>2. If the sample is sampled with too large section relative to the Spec</a:t>
            </a:r>
            <a:endParaRPr lang="ko-KR" altLang="en-US" sz="1200" b="1" dirty="0">
              <a:solidFill>
                <a:srgbClr val="FF0000"/>
              </a:solidFill>
              <a:latin typeface="맑은 고딕" pitchFamily="50" charset="-127"/>
              <a:ea typeface="맑은 고딕" pitchFamily="50" charset="-127"/>
            </a:endParaRPr>
          </a:p>
        </p:txBody>
      </p:sp>
      <p:pic>
        <p:nvPicPr>
          <p:cNvPr id="171039"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03735" y="5042048"/>
            <a:ext cx="2625969" cy="1068388"/>
          </a:xfrm>
          <a:prstGeom prst="rect">
            <a:avLst/>
          </a:prstGeom>
          <a:noFill/>
          <a:ln w="9525">
            <a:noFill/>
            <a:miter lim="800000"/>
            <a:headEnd/>
            <a:tailEnd/>
          </a:ln>
        </p:spPr>
      </p:pic>
      <p:cxnSp>
        <p:nvCxnSpPr>
          <p:cNvPr id="171040" name="직선 연결선 34"/>
          <p:cNvCxnSpPr>
            <a:cxnSpLocks noChangeShapeType="1"/>
          </p:cNvCxnSpPr>
          <p:nvPr/>
        </p:nvCxnSpPr>
        <p:spPr bwMode="auto">
          <a:xfrm>
            <a:off x="1160585" y="6080273"/>
            <a:ext cx="7290289" cy="1588"/>
          </a:xfrm>
          <a:prstGeom prst="line">
            <a:avLst/>
          </a:prstGeom>
          <a:noFill/>
          <a:ln w="12700" algn="ctr">
            <a:solidFill>
              <a:schemeClr val="tx1"/>
            </a:solidFill>
            <a:round/>
            <a:headEnd/>
            <a:tailEnd/>
          </a:ln>
        </p:spPr>
      </p:cxnSp>
      <p:grpSp>
        <p:nvGrpSpPr>
          <p:cNvPr id="3" name="그룹 35"/>
          <p:cNvGrpSpPr>
            <a:grpSpLocks/>
          </p:cNvGrpSpPr>
          <p:nvPr/>
        </p:nvGrpSpPr>
        <p:grpSpPr bwMode="auto">
          <a:xfrm>
            <a:off x="3711820" y="4948386"/>
            <a:ext cx="2179026" cy="1504950"/>
            <a:chOff x="1817615" y="2754385"/>
            <a:chExt cx="5955579" cy="2286000"/>
          </a:xfrm>
        </p:grpSpPr>
        <p:cxnSp>
          <p:nvCxnSpPr>
            <p:cNvPr id="171082" name="직선 연결선 36"/>
            <p:cNvCxnSpPr>
              <a:cxnSpLocks noChangeShapeType="1"/>
            </p:cNvCxnSpPr>
            <p:nvPr/>
          </p:nvCxnSpPr>
          <p:spPr bwMode="auto">
            <a:xfrm rot="5400000">
              <a:off x="675409" y="3896591"/>
              <a:ext cx="2286000" cy="1588"/>
            </a:xfrm>
            <a:prstGeom prst="line">
              <a:avLst/>
            </a:prstGeom>
            <a:noFill/>
            <a:ln w="12700" algn="ctr">
              <a:solidFill>
                <a:schemeClr val="tx1"/>
              </a:solidFill>
              <a:round/>
              <a:headEnd/>
              <a:tailEnd/>
            </a:ln>
          </p:spPr>
        </p:cxnSp>
        <p:cxnSp>
          <p:nvCxnSpPr>
            <p:cNvPr id="171083" name="직선 연결선 37"/>
            <p:cNvCxnSpPr>
              <a:cxnSpLocks noChangeShapeType="1"/>
            </p:cNvCxnSpPr>
            <p:nvPr/>
          </p:nvCxnSpPr>
          <p:spPr bwMode="auto">
            <a:xfrm rot="5400000">
              <a:off x="6629400" y="3896591"/>
              <a:ext cx="2286000" cy="1588"/>
            </a:xfrm>
            <a:prstGeom prst="line">
              <a:avLst/>
            </a:prstGeom>
            <a:noFill/>
            <a:ln w="12700" algn="ctr">
              <a:solidFill>
                <a:schemeClr val="tx1"/>
              </a:solidFill>
              <a:round/>
              <a:headEnd/>
              <a:tailEnd/>
            </a:ln>
          </p:spPr>
        </p:cxnSp>
      </p:grpSp>
      <p:sp>
        <p:nvSpPr>
          <p:cNvPr id="171042" name="TextBox 38"/>
          <p:cNvSpPr txBox="1">
            <a:spLocks noChangeArrowheads="1"/>
          </p:cNvSpPr>
          <p:nvPr/>
        </p:nvSpPr>
        <p:spPr bwMode="auto">
          <a:xfrm>
            <a:off x="3521320" y="4673749"/>
            <a:ext cx="415498"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LSL</a:t>
            </a:r>
            <a:endParaRPr lang="ko-KR" altLang="en-US" sz="1200" dirty="0">
              <a:solidFill>
                <a:srgbClr val="000000"/>
              </a:solidFill>
              <a:latin typeface="맑은 고딕" pitchFamily="50" charset="-127"/>
              <a:ea typeface="맑은 고딕" pitchFamily="50" charset="-127"/>
            </a:endParaRPr>
          </a:p>
        </p:txBody>
      </p:sp>
      <p:sp>
        <p:nvSpPr>
          <p:cNvPr id="171043" name="TextBox 39"/>
          <p:cNvSpPr txBox="1">
            <a:spLocks noChangeArrowheads="1"/>
          </p:cNvSpPr>
          <p:nvPr/>
        </p:nvSpPr>
        <p:spPr bwMode="auto">
          <a:xfrm>
            <a:off x="5672505" y="4673749"/>
            <a:ext cx="449162"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USL</a:t>
            </a:r>
            <a:endParaRPr lang="ko-KR" altLang="en-US" sz="1200" dirty="0">
              <a:solidFill>
                <a:srgbClr val="000000"/>
              </a:solidFill>
              <a:latin typeface="맑은 고딕" pitchFamily="50" charset="-127"/>
              <a:ea typeface="맑은 고딕" pitchFamily="50" charset="-127"/>
            </a:endParaRPr>
          </a:p>
        </p:txBody>
      </p:sp>
      <p:sp>
        <p:nvSpPr>
          <p:cNvPr id="41" name="타원 40"/>
          <p:cNvSpPr/>
          <p:nvPr/>
        </p:nvSpPr>
        <p:spPr bwMode="auto">
          <a:xfrm>
            <a:off x="6616212"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2" name="타원 41"/>
          <p:cNvSpPr/>
          <p:nvPr/>
        </p:nvSpPr>
        <p:spPr bwMode="auto">
          <a:xfrm>
            <a:off x="67803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3" name="타원 42"/>
          <p:cNvSpPr/>
          <p:nvPr/>
        </p:nvSpPr>
        <p:spPr bwMode="auto">
          <a:xfrm>
            <a:off x="6926874"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4" name="타원 43"/>
          <p:cNvSpPr/>
          <p:nvPr/>
        </p:nvSpPr>
        <p:spPr bwMode="auto">
          <a:xfrm>
            <a:off x="70851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5" name="타원 44"/>
          <p:cNvSpPr/>
          <p:nvPr/>
        </p:nvSpPr>
        <p:spPr bwMode="auto">
          <a:xfrm>
            <a:off x="72375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6" name="타원 45"/>
          <p:cNvSpPr/>
          <p:nvPr/>
        </p:nvSpPr>
        <p:spPr bwMode="auto">
          <a:xfrm>
            <a:off x="7395797"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7" name="타원 46"/>
          <p:cNvSpPr/>
          <p:nvPr/>
        </p:nvSpPr>
        <p:spPr bwMode="auto">
          <a:xfrm>
            <a:off x="75423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8" name="타원 47"/>
          <p:cNvSpPr/>
          <p:nvPr/>
        </p:nvSpPr>
        <p:spPr bwMode="auto">
          <a:xfrm>
            <a:off x="7688874"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9" name="타원 48"/>
          <p:cNvSpPr/>
          <p:nvPr/>
        </p:nvSpPr>
        <p:spPr bwMode="auto">
          <a:xfrm>
            <a:off x="7835412"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50" name="타원 49"/>
          <p:cNvSpPr/>
          <p:nvPr/>
        </p:nvSpPr>
        <p:spPr bwMode="auto">
          <a:xfrm>
            <a:off x="8011258"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1054" name="TextBox 50"/>
          <p:cNvSpPr txBox="1">
            <a:spLocks noChangeArrowheads="1"/>
          </p:cNvSpPr>
          <p:nvPr/>
        </p:nvSpPr>
        <p:spPr bwMode="auto">
          <a:xfrm>
            <a:off x="4617428" y="1406873"/>
            <a:ext cx="1167307"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Gage R&amp;R = </a:t>
            </a:r>
            <a:endParaRPr lang="ko-KR" altLang="en-US" sz="1200" b="1" dirty="0">
              <a:solidFill>
                <a:srgbClr val="000000"/>
              </a:solidFill>
              <a:latin typeface="맑은 고딕" pitchFamily="50" charset="-127"/>
              <a:ea typeface="맑은 고딕" pitchFamily="50" charset="-127"/>
            </a:endParaRPr>
          </a:p>
        </p:txBody>
      </p:sp>
      <p:cxnSp>
        <p:nvCxnSpPr>
          <p:cNvPr id="171055" name="직선 연결선 52"/>
          <p:cNvCxnSpPr>
            <a:cxnSpLocks noChangeShapeType="1"/>
          </p:cNvCxnSpPr>
          <p:nvPr/>
        </p:nvCxnSpPr>
        <p:spPr bwMode="auto">
          <a:xfrm>
            <a:off x="5606562" y="1554509"/>
            <a:ext cx="800100" cy="1588"/>
          </a:xfrm>
          <a:prstGeom prst="line">
            <a:avLst/>
          </a:prstGeom>
          <a:noFill/>
          <a:ln w="12700" algn="ctr">
            <a:solidFill>
              <a:schemeClr val="tx1"/>
            </a:solidFill>
            <a:round/>
            <a:headEnd/>
            <a:tailEnd/>
          </a:ln>
        </p:spPr>
      </p:cxnSp>
      <p:sp>
        <p:nvSpPr>
          <p:cNvPr id="171056" name="TextBox 53"/>
          <p:cNvSpPr txBox="1">
            <a:spLocks noChangeArrowheads="1"/>
          </p:cNvSpPr>
          <p:nvPr/>
        </p:nvSpPr>
        <p:spPr bwMode="auto">
          <a:xfrm>
            <a:off x="5767754" y="1506885"/>
            <a:ext cx="544893"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total</a:t>
            </a:r>
            <a:endParaRPr lang="ko-KR" altLang="en-US" sz="1200" b="1" baseline="-25000" dirty="0">
              <a:solidFill>
                <a:srgbClr val="000000"/>
              </a:solidFill>
              <a:latin typeface="맑은 고딕" pitchFamily="50" charset="-127"/>
              <a:ea typeface="맑은 고딕" pitchFamily="50" charset="-127"/>
            </a:endParaRPr>
          </a:p>
        </p:txBody>
      </p:sp>
      <p:sp>
        <p:nvSpPr>
          <p:cNvPr id="171057" name="TextBox 54"/>
          <p:cNvSpPr txBox="1">
            <a:spLocks noChangeArrowheads="1"/>
          </p:cNvSpPr>
          <p:nvPr/>
        </p:nvSpPr>
        <p:spPr bwMode="auto">
          <a:xfrm>
            <a:off x="5767754" y="1268760"/>
            <a:ext cx="538930"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R&amp;R</a:t>
            </a:r>
            <a:endParaRPr lang="ko-KR" altLang="en-US" sz="1200" b="1" baseline="-25000" dirty="0">
              <a:solidFill>
                <a:srgbClr val="000000"/>
              </a:solidFill>
              <a:latin typeface="맑은 고딕" pitchFamily="50" charset="-127"/>
              <a:ea typeface="맑은 고딕" pitchFamily="50" charset="-127"/>
            </a:endParaRPr>
          </a:p>
        </p:txBody>
      </p:sp>
      <p:pic>
        <p:nvPicPr>
          <p:cNvPr id="171058"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2461847" y="2014885"/>
            <a:ext cx="1633904" cy="1014413"/>
          </a:xfrm>
          <a:prstGeom prst="rect">
            <a:avLst/>
          </a:prstGeom>
          <a:noFill/>
          <a:ln w="9525">
            <a:noFill/>
            <a:miter lim="800000"/>
            <a:headEnd/>
            <a:tailEnd/>
          </a:ln>
        </p:spPr>
      </p:pic>
      <p:pic>
        <p:nvPicPr>
          <p:cNvPr id="171059"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1132743" y="5488137"/>
            <a:ext cx="7384073" cy="433387"/>
          </a:xfrm>
          <a:prstGeom prst="rect">
            <a:avLst/>
          </a:prstGeom>
          <a:noFill/>
          <a:ln w="9525">
            <a:noFill/>
            <a:miter lim="800000"/>
            <a:headEnd/>
            <a:tailEnd/>
          </a:ln>
        </p:spPr>
      </p:pic>
      <p:cxnSp>
        <p:nvCxnSpPr>
          <p:cNvPr id="171060" name="직선 화살표 연결선 65"/>
          <p:cNvCxnSpPr>
            <a:cxnSpLocks noChangeShapeType="1"/>
          </p:cNvCxnSpPr>
          <p:nvPr/>
        </p:nvCxnSpPr>
        <p:spPr bwMode="auto">
          <a:xfrm>
            <a:off x="4835770" y="2483198"/>
            <a:ext cx="725366" cy="1587"/>
          </a:xfrm>
          <a:prstGeom prst="straightConnector1">
            <a:avLst/>
          </a:prstGeom>
          <a:noFill/>
          <a:ln w="12700" algn="ctr">
            <a:solidFill>
              <a:schemeClr val="tx1"/>
            </a:solidFill>
            <a:round/>
            <a:headEnd type="arrow" w="med" len="med"/>
            <a:tailEnd type="arrow" w="med" len="med"/>
          </a:ln>
        </p:spPr>
      </p:cxnSp>
      <p:cxnSp>
        <p:nvCxnSpPr>
          <p:cNvPr id="171061" name="직선 화살표 연결선 66"/>
          <p:cNvCxnSpPr>
            <a:cxnSpLocks noChangeShapeType="1"/>
          </p:cNvCxnSpPr>
          <p:nvPr/>
        </p:nvCxnSpPr>
        <p:spPr bwMode="auto">
          <a:xfrm>
            <a:off x="3291254" y="2381597"/>
            <a:ext cx="159727" cy="0"/>
          </a:xfrm>
          <a:prstGeom prst="straightConnector1">
            <a:avLst/>
          </a:prstGeom>
          <a:noFill/>
          <a:ln w="12700" algn="ctr">
            <a:solidFill>
              <a:schemeClr val="tx1"/>
            </a:solidFill>
            <a:round/>
            <a:headEnd type="arrow" w="sm" len="sm"/>
            <a:tailEnd type="arrow" w="sm" len="sm"/>
          </a:ln>
        </p:spPr>
      </p:cxnSp>
      <p:sp>
        <p:nvSpPr>
          <p:cNvPr id="171062" name="TextBox 68"/>
          <p:cNvSpPr txBox="1">
            <a:spLocks noChangeArrowheads="1"/>
          </p:cNvSpPr>
          <p:nvPr/>
        </p:nvSpPr>
        <p:spPr bwMode="auto">
          <a:xfrm>
            <a:off x="4349262" y="5673874"/>
            <a:ext cx="51969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R&amp;R</a:t>
            </a:r>
            <a:endParaRPr lang="ko-KR" altLang="en-US" sz="1200" baseline="-25000" dirty="0">
              <a:solidFill>
                <a:srgbClr val="000000"/>
              </a:solidFill>
              <a:latin typeface="맑은 고딕" pitchFamily="50" charset="-127"/>
              <a:ea typeface="맑은 고딕" pitchFamily="50" charset="-127"/>
            </a:endParaRPr>
          </a:p>
        </p:txBody>
      </p:sp>
      <p:sp>
        <p:nvSpPr>
          <p:cNvPr id="171063" name="TextBox 69"/>
          <p:cNvSpPr txBox="1">
            <a:spLocks noChangeArrowheads="1"/>
          </p:cNvSpPr>
          <p:nvPr/>
        </p:nvSpPr>
        <p:spPr bwMode="auto">
          <a:xfrm>
            <a:off x="3102220" y="2333973"/>
            <a:ext cx="520463"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total</a:t>
            </a:r>
            <a:endParaRPr lang="ko-KR" altLang="en-US" sz="1200" baseline="-25000" dirty="0">
              <a:solidFill>
                <a:srgbClr val="000000"/>
              </a:solidFill>
              <a:latin typeface="맑은 고딕" pitchFamily="50" charset="-127"/>
              <a:ea typeface="맑은 고딕" pitchFamily="50" charset="-127"/>
            </a:endParaRPr>
          </a:p>
        </p:txBody>
      </p:sp>
      <p:sp>
        <p:nvSpPr>
          <p:cNvPr id="171064" name="TextBox 70"/>
          <p:cNvSpPr txBox="1">
            <a:spLocks noChangeArrowheads="1"/>
          </p:cNvSpPr>
          <p:nvPr/>
        </p:nvSpPr>
        <p:spPr bwMode="auto">
          <a:xfrm>
            <a:off x="4863613" y="2427635"/>
            <a:ext cx="74007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Historical</a:t>
            </a:r>
            <a:endParaRPr lang="ko-KR" altLang="en-US" sz="1200" baseline="-25000" dirty="0">
              <a:solidFill>
                <a:srgbClr val="000000"/>
              </a:solidFill>
              <a:latin typeface="맑은 고딕" pitchFamily="50" charset="-127"/>
              <a:ea typeface="맑은 고딕" pitchFamily="50" charset="-127"/>
            </a:endParaRPr>
          </a:p>
        </p:txBody>
      </p:sp>
      <p:pic>
        <p:nvPicPr>
          <p:cNvPr id="171065"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4349262" y="5838974"/>
            <a:ext cx="139212" cy="74613"/>
          </a:xfrm>
          <a:prstGeom prst="rect">
            <a:avLst/>
          </a:prstGeom>
          <a:noFill/>
          <a:ln w="9525">
            <a:noFill/>
            <a:miter lim="800000"/>
            <a:headEnd/>
            <a:tailEnd/>
          </a:ln>
        </p:spPr>
      </p:pic>
      <p:cxnSp>
        <p:nvCxnSpPr>
          <p:cNvPr id="171066" name="직선 화살표 연결선 75"/>
          <p:cNvCxnSpPr>
            <a:cxnSpLocks noChangeShapeType="1"/>
          </p:cNvCxnSpPr>
          <p:nvPr/>
        </p:nvCxnSpPr>
        <p:spPr bwMode="auto">
          <a:xfrm>
            <a:off x="4765431" y="5342087"/>
            <a:ext cx="278423" cy="3175"/>
          </a:xfrm>
          <a:prstGeom prst="straightConnector1">
            <a:avLst/>
          </a:prstGeom>
          <a:noFill/>
          <a:ln w="12700" algn="ctr">
            <a:solidFill>
              <a:schemeClr val="tx1"/>
            </a:solidFill>
            <a:round/>
            <a:headEnd type="arrow" w="med" len="med"/>
            <a:tailEnd type="arrow" w="med" len="med"/>
          </a:ln>
        </p:spPr>
      </p:cxnSp>
      <p:sp>
        <p:nvSpPr>
          <p:cNvPr id="171067" name="TextBox 76"/>
          <p:cNvSpPr txBox="1">
            <a:spLocks noChangeArrowheads="1"/>
          </p:cNvSpPr>
          <p:nvPr/>
        </p:nvSpPr>
        <p:spPr bwMode="auto">
          <a:xfrm>
            <a:off x="4793274" y="5286524"/>
            <a:ext cx="74007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Historical</a:t>
            </a:r>
            <a:endParaRPr lang="ko-KR" altLang="en-US" sz="1200" baseline="-25000" dirty="0">
              <a:solidFill>
                <a:srgbClr val="000000"/>
              </a:solidFill>
              <a:latin typeface="맑은 고딕" pitchFamily="50" charset="-127"/>
              <a:ea typeface="맑은 고딕" pitchFamily="50" charset="-127"/>
            </a:endParaRPr>
          </a:p>
        </p:txBody>
      </p:sp>
      <p:cxnSp>
        <p:nvCxnSpPr>
          <p:cNvPr id="171068" name="직선 화살표 연결선 79"/>
          <p:cNvCxnSpPr>
            <a:cxnSpLocks noChangeShapeType="1"/>
          </p:cNvCxnSpPr>
          <p:nvPr/>
        </p:nvCxnSpPr>
        <p:spPr bwMode="auto">
          <a:xfrm>
            <a:off x="4797669" y="5691337"/>
            <a:ext cx="961292" cy="1587"/>
          </a:xfrm>
          <a:prstGeom prst="straightConnector1">
            <a:avLst/>
          </a:prstGeom>
          <a:noFill/>
          <a:ln w="12700" algn="ctr">
            <a:solidFill>
              <a:schemeClr val="tx1"/>
            </a:solidFill>
            <a:round/>
            <a:headEnd type="arrow" w="med" len="med"/>
            <a:tailEnd type="arrow" w="med" len="med"/>
          </a:ln>
        </p:spPr>
      </p:cxnSp>
      <p:sp>
        <p:nvSpPr>
          <p:cNvPr id="171069" name="TextBox 80"/>
          <p:cNvSpPr txBox="1">
            <a:spLocks noChangeArrowheads="1"/>
          </p:cNvSpPr>
          <p:nvPr/>
        </p:nvSpPr>
        <p:spPr bwMode="auto">
          <a:xfrm>
            <a:off x="4882662" y="5596087"/>
            <a:ext cx="520463"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total</a:t>
            </a:r>
            <a:endParaRPr lang="ko-KR" altLang="en-US" sz="1200" baseline="-25000" dirty="0">
              <a:solidFill>
                <a:srgbClr val="000000"/>
              </a:solidFill>
              <a:latin typeface="맑은 고딕" pitchFamily="50" charset="-127"/>
              <a:ea typeface="맑은 고딕" pitchFamily="50" charset="-127"/>
            </a:endParaRPr>
          </a:p>
        </p:txBody>
      </p:sp>
      <p:sp>
        <p:nvSpPr>
          <p:cNvPr id="171070" name="TextBox 82"/>
          <p:cNvSpPr txBox="1">
            <a:spLocks noChangeArrowheads="1"/>
          </p:cNvSpPr>
          <p:nvPr/>
        </p:nvSpPr>
        <p:spPr bwMode="auto">
          <a:xfrm>
            <a:off x="3279531" y="2781648"/>
            <a:ext cx="51969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R&amp;R</a:t>
            </a:r>
            <a:endParaRPr lang="ko-KR" altLang="en-US" sz="1200" baseline="-25000" dirty="0">
              <a:solidFill>
                <a:srgbClr val="000000"/>
              </a:solidFill>
              <a:latin typeface="맑은 고딕" pitchFamily="50" charset="-127"/>
              <a:ea typeface="맑은 고딕" pitchFamily="50" charset="-127"/>
            </a:endParaRPr>
          </a:p>
        </p:txBody>
      </p:sp>
      <p:pic>
        <p:nvPicPr>
          <p:cNvPr id="171071"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3279531" y="2946747"/>
            <a:ext cx="139212" cy="74612"/>
          </a:xfrm>
          <a:prstGeom prst="rect">
            <a:avLst/>
          </a:prstGeom>
          <a:noFill/>
          <a:ln w="9525">
            <a:noFill/>
            <a:miter lim="800000"/>
            <a:headEnd/>
            <a:tailEnd/>
          </a:ln>
        </p:spPr>
      </p:pic>
      <p:sp>
        <p:nvSpPr>
          <p:cNvPr id="171072" name="TextBox 84"/>
          <p:cNvSpPr txBox="1">
            <a:spLocks noChangeArrowheads="1"/>
          </p:cNvSpPr>
          <p:nvPr/>
        </p:nvSpPr>
        <p:spPr bwMode="auto">
          <a:xfrm>
            <a:off x="2593197" y="1768822"/>
            <a:ext cx="3737754" cy="276999"/>
          </a:xfrm>
          <a:prstGeom prst="rect">
            <a:avLst/>
          </a:prstGeom>
          <a:noFill/>
          <a:ln w="9525">
            <a:noFill/>
            <a:miter lim="800000"/>
            <a:headEnd/>
            <a:tailEnd/>
          </a:ln>
        </p:spPr>
        <p:txBody>
          <a:bodyPr wrap="none">
            <a:spAutoFit/>
          </a:bodyPr>
          <a:lstStyle/>
          <a:p>
            <a:r>
              <a:rPr lang="ko-KR" altLang="en-US" sz="1200" b="1" dirty="0">
                <a:solidFill>
                  <a:srgbClr val="000000"/>
                </a:solidFill>
                <a:latin typeface="맑은 고딕" pitchFamily="50" charset="-127"/>
                <a:ea typeface="맑은 고딕" pitchFamily="50" charset="-127"/>
              </a:rPr>
              <a:t>① </a:t>
            </a:r>
            <a:r>
              <a:rPr lang="en-US" altLang="ko-KR" sz="1200" b="1" dirty="0">
                <a:solidFill>
                  <a:srgbClr val="000000"/>
                </a:solidFill>
                <a:latin typeface="맑은 고딕" pitchFamily="50" charset="-127"/>
                <a:ea typeface="맑은 고딕" pitchFamily="50" charset="-127"/>
              </a:rPr>
              <a:t>Spec within range, but  focus on some areas</a:t>
            </a:r>
            <a:endParaRPr lang="ko-KR" altLang="en-US" sz="1200" b="1" dirty="0">
              <a:solidFill>
                <a:srgbClr val="000000"/>
              </a:solidFill>
              <a:latin typeface="맑은 고딕" pitchFamily="50" charset="-127"/>
              <a:ea typeface="맑은 고딕" pitchFamily="50" charset="-127"/>
            </a:endParaRPr>
          </a:p>
        </p:txBody>
      </p:sp>
      <p:sp>
        <p:nvSpPr>
          <p:cNvPr id="171073" name="TextBox 85"/>
          <p:cNvSpPr txBox="1">
            <a:spLocks noChangeArrowheads="1"/>
          </p:cNvSpPr>
          <p:nvPr/>
        </p:nvSpPr>
        <p:spPr bwMode="auto">
          <a:xfrm>
            <a:off x="6305723" y="2492896"/>
            <a:ext cx="2838277" cy="461665"/>
          </a:xfrm>
          <a:prstGeom prst="rect">
            <a:avLst/>
          </a:prstGeom>
          <a:noFill/>
          <a:ln w="9525">
            <a:noFill/>
            <a:miter lim="800000"/>
            <a:headEnd/>
            <a:tailEnd/>
          </a:ln>
        </p:spPr>
        <p:txBody>
          <a:bodyPr wrap="square">
            <a:spAutoFit/>
          </a:bodyPr>
          <a:lstStyle/>
          <a:p>
            <a:r>
              <a:rPr lang="ko-KR" altLang="en-US" sz="1200" b="1" dirty="0">
                <a:solidFill>
                  <a:srgbClr val="000000"/>
                </a:solidFill>
                <a:latin typeface="맑은 고딕" pitchFamily="50" charset="-127"/>
                <a:ea typeface="맑은 고딕" pitchFamily="50" charset="-127"/>
              </a:rPr>
              <a:t>② </a:t>
            </a:r>
            <a:r>
              <a:rPr lang="en-US" altLang="ko-KR" sz="1200" b="1" dirty="0">
                <a:solidFill>
                  <a:srgbClr val="000000"/>
                </a:solidFill>
                <a:latin typeface="맑은 고딕" pitchFamily="50" charset="-127"/>
                <a:ea typeface="맑은 고딕" pitchFamily="50" charset="-127"/>
              </a:rPr>
              <a:t>Spec Out Cover, but focus on some areas</a:t>
            </a:r>
            <a:endParaRPr lang="ko-KR" altLang="en-US" sz="1200" b="1" dirty="0">
              <a:solidFill>
                <a:srgbClr val="000000"/>
              </a:solidFill>
              <a:latin typeface="맑은 고딕" pitchFamily="50" charset="-127"/>
              <a:ea typeface="맑은 고딕" pitchFamily="50" charset="-127"/>
            </a:endParaRPr>
          </a:p>
        </p:txBody>
      </p:sp>
      <p:sp>
        <p:nvSpPr>
          <p:cNvPr id="73" name="TextBox 72"/>
          <p:cNvSpPr txBox="1"/>
          <p:nvPr/>
        </p:nvSpPr>
        <p:spPr>
          <a:xfrm>
            <a:off x="179512" y="692696"/>
            <a:ext cx="5106868" cy="329321"/>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Problem, When you miss select Gage R&amp;R sample</a:t>
            </a:r>
            <a:endParaRPr kumimoji="0" lang="ko-KR" altLang="en-US" sz="1400" b="1" kern="0" dirty="0">
              <a:solidFill>
                <a:srgbClr val="000000"/>
              </a:solidFill>
              <a:latin typeface="맑은 고딕" pitchFamily="50" charset="-127"/>
              <a:ea typeface="맑은 고딕" pitchFamily="50" charset="-127"/>
            </a:endParaRPr>
          </a:p>
        </p:txBody>
      </p:sp>
      <p:sp>
        <p:nvSpPr>
          <p:cNvPr id="171076" name="TextBox 73"/>
          <p:cNvSpPr txBox="1">
            <a:spLocks noChangeArrowheads="1"/>
          </p:cNvSpPr>
          <p:nvPr/>
        </p:nvSpPr>
        <p:spPr bwMode="auto">
          <a:xfrm>
            <a:off x="6324600" y="4964262"/>
            <a:ext cx="1167307"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Gage R&amp;R = </a:t>
            </a:r>
            <a:endParaRPr lang="ko-KR" altLang="en-US" sz="1200" b="1" dirty="0">
              <a:solidFill>
                <a:srgbClr val="000000"/>
              </a:solidFill>
              <a:latin typeface="맑은 고딕" pitchFamily="50" charset="-127"/>
              <a:ea typeface="맑은 고딕" pitchFamily="50" charset="-127"/>
            </a:endParaRPr>
          </a:p>
        </p:txBody>
      </p:sp>
      <p:cxnSp>
        <p:nvCxnSpPr>
          <p:cNvPr id="171077" name="직선 연결선 74"/>
          <p:cNvCxnSpPr>
            <a:cxnSpLocks noChangeShapeType="1"/>
          </p:cNvCxnSpPr>
          <p:nvPr/>
        </p:nvCxnSpPr>
        <p:spPr bwMode="auto">
          <a:xfrm>
            <a:off x="7313736" y="5111898"/>
            <a:ext cx="800100" cy="1588"/>
          </a:xfrm>
          <a:prstGeom prst="line">
            <a:avLst/>
          </a:prstGeom>
          <a:noFill/>
          <a:ln w="12700" algn="ctr">
            <a:solidFill>
              <a:schemeClr val="tx1"/>
            </a:solidFill>
            <a:round/>
            <a:headEnd/>
            <a:tailEnd/>
          </a:ln>
        </p:spPr>
      </p:cxnSp>
      <p:sp>
        <p:nvSpPr>
          <p:cNvPr id="171078" name="TextBox 77"/>
          <p:cNvSpPr txBox="1">
            <a:spLocks noChangeArrowheads="1"/>
          </p:cNvSpPr>
          <p:nvPr/>
        </p:nvSpPr>
        <p:spPr bwMode="auto">
          <a:xfrm>
            <a:off x="7474927" y="5064274"/>
            <a:ext cx="544893"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total</a:t>
            </a:r>
            <a:endParaRPr lang="ko-KR" altLang="en-US" sz="1200" b="1" baseline="-25000" dirty="0">
              <a:solidFill>
                <a:srgbClr val="000000"/>
              </a:solidFill>
              <a:latin typeface="맑은 고딕" pitchFamily="50" charset="-127"/>
              <a:ea typeface="맑은 고딕" pitchFamily="50" charset="-127"/>
            </a:endParaRPr>
          </a:p>
        </p:txBody>
      </p:sp>
      <p:sp>
        <p:nvSpPr>
          <p:cNvPr id="171079" name="TextBox 78"/>
          <p:cNvSpPr txBox="1">
            <a:spLocks noChangeArrowheads="1"/>
          </p:cNvSpPr>
          <p:nvPr/>
        </p:nvSpPr>
        <p:spPr bwMode="auto">
          <a:xfrm>
            <a:off x="7474928" y="4824561"/>
            <a:ext cx="538930"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R&amp;R</a:t>
            </a:r>
            <a:endParaRPr lang="ko-KR" altLang="en-US" sz="1200" b="1" baseline="-25000" dirty="0">
              <a:solidFill>
                <a:srgbClr val="000000"/>
              </a:solidFill>
              <a:latin typeface="맑은 고딕" pitchFamily="50" charset="-127"/>
              <a:ea typeface="맑은 고딕" pitchFamily="50" charset="-127"/>
            </a:endParaRPr>
          </a:p>
        </p:txBody>
      </p:sp>
      <p:sp>
        <p:nvSpPr>
          <p:cNvPr id="171080" name="TextBox 81"/>
          <p:cNvSpPr txBox="1">
            <a:spLocks noChangeArrowheads="1"/>
          </p:cNvSpPr>
          <p:nvPr/>
        </p:nvSpPr>
        <p:spPr bwMode="auto">
          <a:xfrm>
            <a:off x="6446228" y="1398935"/>
            <a:ext cx="54213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 ?? </a:t>
            </a:r>
            <a:endParaRPr lang="ko-KR" altLang="en-US" sz="1200" b="1" dirty="0">
              <a:solidFill>
                <a:srgbClr val="000000"/>
              </a:solidFill>
              <a:latin typeface="맑은 고딕" pitchFamily="50" charset="-127"/>
              <a:ea typeface="맑은 고딕" pitchFamily="50" charset="-127"/>
            </a:endParaRPr>
          </a:p>
        </p:txBody>
      </p:sp>
      <p:sp>
        <p:nvSpPr>
          <p:cNvPr id="171081" name="TextBox 87"/>
          <p:cNvSpPr txBox="1">
            <a:spLocks noChangeArrowheads="1"/>
          </p:cNvSpPr>
          <p:nvPr/>
        </p:nvSpPr>
        <p:spPr bwMode="auto">
          <a:xfrm>
            <a:off x="8105043" y="4967437"/>
            <a:ext cx="54213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 ?? </a:t>
            </a:r>
            <a:endParaRPr lang="ko-KR" altLang="en-US" sz="1200" b="1" dirty="0">
              <a:solidFill>
                <a:srgbClr val="000000"/>
              </a:solidFill>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36</a:t>
            </a:fld>
            <a:endParaRPr lang="ko-KR" altLang="en-US" dirty="0"/>
          </a:p>
        </p:txBody>
      </p:sp>
      <p:sp>
        <p:nvSpPr>
          <p:cNvPr id="5" name="TextBox 4"/>
          <p:cNvSpPr txBox="1"/>
          <p:nvPr/>
        </p:nvSpPr>
        <p:spPr>
          <a:xfrm>
            <a:off x="3313094" y="1071786"/>
            <a:ext cx="5616624" cy="461665"/>
          </a:xfrm>
          <a:prstGeom prst="rect">
            <a:avLst/>
          </a:prstGeom>
          <a:noFill/>
        </p:spPr>
        <p:txBody>
          <a:bodyPr wrap="square" rtlCol="0">
            <a:spAutoFit/>
          </a:bodyPr>
          <a:lstStyle/>
          <a:p>
            <a:r>
              <a:rPr lang="en-US" altLang="ko-KR" sz="1200" b="1" dirty="0">
                <a:solidFill>
                  <a:srgbClr val="00B050"/>
                </a:solidFill>
              </a:rPr>
              <a:t>Gage R &amp; R was performed by randomly sampling 10 products in the mass production process</a:t>
            </a:r>
            <a:endParaRPr lang="ko-KR" altLang="en-US" sz="1200" b="1" dirty="0">
              <a:solidFill>
                <a:srgbClr val="00B050"/>
              </a:solidFill>
            </a:endParaRPr>
          </a:p>
        </p:txBody>
      </p:sp>
      <p:sp>
        <p:nvSpPr>
          <p:cNvPr id="81" name="TextBox 80"/>
          <p:cNvSpPr txBox="1"/>
          <p:nvPr/>
        </p:nvSpPr>
        <p:spPr>
          <a:xfrm>
            <a:off x="3995936" y="3800073"/>
            <a:ext cx="5148064" cy="830997"/>
          </a:xfrm>
          <a:prstGeom prst="rect">
            <a:avLst/>
          </a:prstGeom>
          <a:noFill/>
        </p:spPr>
        <p:txBody>
          <a:bodyPr wrap="square" rtlCol="0">
            <a:spAutoFit/>
          </a:bodyPr>
          <a:lstStyle/>
          <a:p>
            <a:r>
              <a:rPr lang="en-US" altLang="ko-KR" sz="1200" b="1" dirty="0">
                <a:solidFill>
                  <a:srgbClr val="00B050"/>
                </a:solidFill>
              </a:rPr>
              <a:t>I want to measure the outer diameter of a part with a </a:t>
            </a:r>
            <a:r>
              <a:rPr lang="en-US" altLang="ko-KR" sz="1200" b="1" dirty="0" err="1">
                <a:solidFill>
                  <a:srgbClr val="00B050"/>
                </a:solidFill>
              </a:rPr>
              <a:t>vernier</a:t>
            </a:r>
            <a:r>
              <a:rPr lang="en-US" altLang="ko-KR" sz="1200" b="1" dirty="0">
                <a:solidFill>
                  <a:srgbClr val="00B050"/>
                </a:solidFill>
              </a:rPr>
              <a:t> calipers. To measure the accuracy of the </a:t>
            </a:r>
            <a:r>
              <a:rPr lang="en-US" altLang="ko-KR" sz="1200" b="1" dirty="0" err="1">
                <a:solidFill>
                  <a:srgbClr val="00B050"/>
                </a:solidFill>
              </a:rPr>
              <a:t>vernier</a:t>
            </a:r>
            <a:r>
              <a:rPr lang="en-US" altLang="ko-KR" sz="1200" b="1" dirty="0">
                <a:solidFill>
                  <a:srgbClr val="00B050"/>
                </a:solidFill>
              </a:rPr>
              <a:t> calipers, the sample was selected from 0 to 300 mm, which is the full range of the instrument.</a:t>
            </a:r>
            <a:endParaRPr lang="ko-KR" altLang="en-US" sz="1200" b="1" dirty="0">
              <a:solidFill>
                <a:srgbClr val="00B050"/>
              </a:solidFill>
            </a:endParaRPr>
          </a:p>
        </p:txBody>
      </p:sp>
      <p:sp>
        <p:nvSpPr>
          <p:cNvPr id="82"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402105411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8"/>
            <a:ext cx="8280889" cy="309252"/>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How to respond if it doesn’t satisfy Gage R&amp;R </a:t>
            </a:r>
            <a:r>
              <a:rPr lang="en-US" altLang="ko-KR" sz="1400" b="1" kern="0" dirty="0">
                <a:solidFill>
                  <a:srgbClr val="000000"/>
                </a:solidFill>
                <a:latin typeface="맑은 고딕" pitchFamily="50" charset="-127"/>
                <a:ea typeface="맑은 고딕" pitchFamily="50" charset="-127"/>
              </a:rPr>
              <a:t>criteria</a:t>
            </a:r>
            <a:endParaRPr kumimoji="0" lang="ko-KR" altLang="en-US" sz="1400" b="1" kern="0" dirty="0">
              <a:solidFill>
                <a:srgbClr val="000000"/>
              </a:solidFill>
              <a:latin typeface="맑은 고딕" pitchFamily="50" charset="-127"/>
              <a:ea typeface="맑은 고딕" pitchFamily="50" charset="-127"/>
            </a:endParaRPr>
          </a:p>
        </p:txBody>
      </p:sp>
      <p:sp>
        <p:nvSpPr>
          <p:cNvPr id="173060" name="직사각형 4"/>
          <p:cNvSpPr>
            <a:spLocks noChangeArrowheads="1"/>
          </p:cNvSpPr>
          <p:nvPr/>
        </p:nvSpPr>
        <p:spPr bwMode="auto">
          <a:xfrm>
            <a:off x="1143000" y="1273175"/>
            <a:ext cx="7605464" cy="482600"/>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1" name="TextBox 5"/>
          <p:cNvSpPr txBox="1">
            <a:spLocks noChangeArrowheads="1"/>
          </p:cNvSpPr>
          <p:nvPr/>
        </p:nvSpPr>
        <p:spPr bwMode="auto">
          <a:xfrm>
            <a:off x="1142976" y="1374776"/>
            <a:ext cx="6413038"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1. Check % R&amp;R to determine whether repeatability or reproducibility is a problem.</a:t>
            </a:r>
            <a:endParaRPr lang="ko-KR" altLang="en-US" sz="1200" b="1" dirty="0">
              <a:solidFill>
                <a:srgbClr val="000000"/>
              </a:solidFill>
              <a:latin typeface="맑은 고딕" pitchFamily="50" charset="-127"/>
              <a:ea typeface="맑은 고딕" pitchFamily="50" charset="-127"/>
            </a:endParaRPr>
          </a:p>
        </p:txBody>
      </p:sp>
      <p:sp>
        <p:nvSpPr>
          <p:cNvPr id="173062" name="직사각형 6"/>
          <p:cNvSpPr>
            <a:spLocks noChangeArrowheads="1"/>
          </p:cNvSpPr>
          <p:nvPr/>
        </p:nvSpPr>
        <p:spPr bwMode="auto">
          <a:xfrm>
            <a:off x="1143000" y="1955334"/>
            <a:ext cx="7605464" cy="672033"/>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3" name="TextBox 7"/>
          <p:cNvSpPr txBox="1">
            <a:spLocks noChangeArrowheads="1"/>
          </p:cNvSpPr>
          <p:nvPr/>
        </p:nvSpPr>
        <p:spPr bwMode="auto">
          <a:xfrm>
            <a:off x="1142976" y="1923584"/>
            <a:ext cx="7803173" cy="646331"/>
          </a:xfrm>
          <a:prstGeom prst="rect">
            <a:avLst/>
          </a:prstGeom>
          <a:noFill/>
          <a:ln w="9525">
            <a:noFill/>
            <a:miter lim="800000"/>
            <a:headEnd/>
            <a:tailEnd/>
          </a:ln>
        </p:spPr>
        <p:txBody>
          <a:bodyPr wrap="square">
            <a:spAutoFit/>
          </a:bodyPr>
          <a:lstStyle/>
          <a:p>
            <a:r>
              <a:rPr lang="en-US" altLang="ko-KR" sz="1200" b="1" dirty="0">
                <a:solidFill>
                  <a:srgbClr val="000000"/>
                </a:solidFill>
                <a:latin typeface="맑은 고딕" pitchFamily="50" charset="-127"/>
                <a:ea typeface="맑은 고딕" pitchFamily="50" charset="-127"/>
              </a:rPr>
              <a:t>2. If reproducibility is an issue</a:t>
            </a:r>
            <a:endParaRPr lang="ko-KR" altLang="en-US" sz="1200" b="1" dirty="0">
              <a:solidFill>
                <a:srgbClr val="000000"/>
              </a:solidFill>
              <a:latin typeface="맑은 고딕" pitchFamily="50" charset="-127"/>
              <a:ea typeface="맑은 고딕" pitchFamily="50" charset="-127"/>
            </a:endParaRPr>
          </a:p>
          <a:p>
            <a:r>
              <a:rPr lang="en-US" altLang="ko-KR" sz="1200" dirty="0">
                <a:solidFill>
                  <a:srgbClr val="000000"/>
                </a:solidFill>
                <a:latin typeface="맑은 고딕" pitchFamily="50" charset="-127"/>
                <a:ea typeface="맑은 고딕" pitchFamily="50" charset="-127"/>
              </a:rPr>
              <a:t>Review the Standardization of measurement methods, the appropriateness of the standard and procedures and review the training degree for the measurer. and provide adequate training.</a:t>
            </a:r>
          </a:p>
        </p:txBody>
      </p:sp>
      <p:sp>
        <p:nvSpPr>
          <p:cNvPr id="173064" name="직사각형 8"/>
          <p:cNvSpPr>
            <a:spLocks noChangeArrowheads="1"/>
          </p:cNvSpPr>
          <p:nvPr/>
        </p:nvSpPr>
        <p:spPr bwMode="auto">
          <a:xfrm>
            <a:off x="1143000" y="2803525"/>
            <a:ext cx="7605464" cy="1385888"/>
          </a:xfrm>
          <a:prstGeom prst="rect">
            <a:avLst/>
          </a:prstGeom>
          <a:noFill/>
          <a:ln w="12700" algn="ctr">
            <a:solidFill>
              <a:schemeClr val="tx1"/>
            </a:solidFill>
            <a:round/>
            <a:headEnd/>
            <a:tailEnd/>
          </a:ln>
        </p:spPr>
        <p:txBody>
          <a:bodyPr/>
          <a:lstStyle/>
          <a:p>
            <a:pPr algn="ctr"/>
            <a:r>
              <a:rPr lang="en-US" altLang="ko-KR" sz="1200" dirty="0">
                <a:solidFill>
                  <a:srgbClr val="000000"/>
                </a:solidFill>
                <a:latin typeface="Arial" pitchFamily="34" charset="0"/>
              </a:rPr>
              <a:t>                          </a:t>
            </a:r>
            <a:endParaRPr lang="ko-KR" altLang="en-US" sz="1200" dirty="0">
              <a:solidFill>
                <a:srgbClr val="000000"/>
              </a:solidFill>
              <a:latin typeface="Arial" pitchFamily="34" charset="0"/>
            </a:endParaRPr>
          </a:p>
        </p:txBody>
      </p:sp>
      <p:sp>
        <p:nvSpPr>
          <p:cNvPr id="173065" name="TextBox 9"/>
          <p:cNvSpPr txBox="1">
            <a:spLocks noChangeArrowheads="1"/>
          </p:cNvSpPr>
          <p:nvPr/>
        </p:nvSpPr>
        <p:spPr bwMode="auto">
          <a:xfrm>
            <a:off x="1142976" y="2754314"/>
            <a:ext cx="7643866" cy="1477328"/>
          </a:xfrm>
          <a:prstGeom prst="rect">
            <a:avLst/>
          </a:prstGeom>
          <a:noFill/>
          <a:ln w="9525">
            <a:noFill/>
            <a:miter lim="800000"/>
            <a:headEnd/>
            <a:tailEnd/>
          </a:ln>
        </p:spPr>
        <p:txBody>
          <a:bodyPr wrap="square">
            <a:spAutoFit/>
          </a:bodyPr>
          <a:lstStyle/>
          <a:p>
            <a:pPr>
              <a:lnSpc>
                <a:spcPct val="150000"/>
              </a:lnSpc>
            </a:pPr>
            <a:r>
              <a:rPr lang="en-US" altLang="ko-KR" sz="1200" b="1" dirty="0">
                <a:solidFill>
                  <a:srgbClr val="000000"/>
                </a:solidFill>
                <a:latin typeface="맑은 고딕" pitchFamily="50" charset="-127"/>
                <a:ea typeface="맑은 고딕" pitchFamily="50" charset="-127"/>
              </a:rPr>
              <a:t>3. If the repeatability is an issue</a:t>
            </a:r>
            <a:endParaRPr lang="ko-KR" altLang="en-US" sz="1200" b="1"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 Ensure that you are using a suitable instrument, that the instrument is in good condition, and that there is no problem with the instrument fixation or location.</a:t>
            </a:r>
            <a:br>
              <a:rPr lang="en-US" altLang="ko-KR" sz="1200" dirty="0">
                <a:solidFill>
                  <a:srgbClr val="000000"/>
                </a:solidFill>
                <a:latin typeface="맑은 고딕" pitchFamily="50" charset="-127"/>
                <a:ea typeface="맑은 고딕" pitchFamily="50" charset="-127"/>
              </a:rPr>
            </a:br>
            <a:r>
              <a:rPr lang="en-US" altLang="ko-KR" sz="1200" dirty="0">
                <a:solidFill>
                  <a:srgbClr val="000000"/>
                </a:solidFill>
                <a:latin typeface="맑은 고딕" pitchFamily="50" charset="-127"/>
                <a:ea typeface="맑은 고딕" pitchFamily="50" charset="-127"/>
              </a:rPr>
              <a:t>   - If necessary, calibrate the instrument to ensure accuracy and replace it with a meter with sufficient resolution (10%).</a:t>
            </a:r>
          </a:p>
        </p:txBody>
      </p:sp>
      <p:sp>
        <p:nvSpPr>
          <p:cNvPr id="173066" name="직사각형 10"/>
          <p:cNvSpPr>
            <a:spLocks noChangeArrowheads="1"/>
          </p:cNvSpPr>
          <p:nvPr/>
        </p:nvSpPr>
        <p:spPr bwMode="auto">
          <a:xfrm>
            <a:off x="1143000" y="4310064"/>
            <a:ext cx="7605464" cy="471487"/>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7" name="TextBox 11"/>
          <p:cNvSpPr txBox="1">
            <a:spLocks noChangeArrowheads="1"/>
          </p:cNvSpPr>
          <p:nvPr/>
        </p:nvSpPr>
        <p:spPr bwMode="auto">
          <a:xfrm>
            <a:off x="1142976" y="4406901"/>
            <a:ext cx="6841938"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4. After Gage R&amp;R is executed again after 2 ~ 3 section, it is applied when less than 10%.</a:t>
            </a:r>
          </a:p>
        </p:txBody>
      </p:sp>
      <p:sp>
        <p:nvSpPr>
          <p:cNvPr id="173068" name="직사각형 12"/>
          <p:cNvSpPr>
            <a:spLocks noChangeArrowheads="1"/>
          </p:cNvSpPr>
          <p:nvPr/>
        </p:nvSpPr>
        <p:spPr bwMode="auto">
          <a:xfrm>
            <a:off x="1143000" y="4864101"/>
            <a:ext cx="7605464" cy="1425575"/>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9" name="TextBox 13"/>
          <p:cNvSpPr txBox="1">
            <a:spLocks noChangeArrowheads="1"/>
          </p:cNvSpPr>
          <p:nvPr/>
        </p:nvSpPr>
        <p:spPr bwMode="auto">
          <a:xfrm>
            <a:off x="1142977" y="4826001"/>
            <a:ext cx="7643865" cy="1477328"/>
          </a:xfrm>
          <a:prstGeom prst="rect">
            <a:avLst/>
          </a:prstGeom>
          <a:noFill/>
          <a:ln w="9525">
            <a:noFill/>
            <a:miter lim="800000"/>
            <a:headEnd/>
            <a:tailEnd/>
          </a:ln>
        </p:spPr>
        <p:txBody>
          <a:bodyPr wrap="square">
            <a:spAutoFit/>
          </a:bodyPr>
          <a:lstStyle/>
          <a:p>
            <a:pPr>
              <a:lnSpc>
                <a:spcPct val="150000"/>
              </a:lnSpc>
            </a:pPr>
            <a:r>
              <a:rPr lang="en-US" altLang="ko-KR" sz="1200" b="1" dirty="0">
                <a:solidFill>
                  <a:srgbClr val="000000"/>
                </a:solidFill>
                <a:latin typeface="맑은 고딕" pitchFamily="50" charset="-127"/>
                <a:ea typeface="맑은 고딕" pitchFamily="50" charset="-127"/>
              </a:rPr>
              <a:t>5. If the value is more than 10% continuously when re-running</a:t>
            </a:r>
          </a:p>
          <a:p>
            <a:r>
              <a:rPr lang="en-US" altLang="ko-KR" sz="1200" dirty="0">
                <a:solidFill>
                  <a:srgbClr val="000000"/>
                </a:solidFill>
                <a:latin typeface="맑은 고딕" pitchFamily="50" charset="-127"/>
                <a:ea typeface="맑은 고딕" pitchFamily="50" charset="-127"/>
              </a:rPr>
              <a:t>- If there is no problem with the measurer and measurement standard (method / procedure) / Errors in sample sampling</a:t>
            </a:r>
            <a:br>
              <a:rPr lang="en-US" altLang="ko-KR" sz="1200" dirty="0">
                <a:solidFill>
                  <a:srgbClr val="000000"/>
                </a:solidFill>
                <a:latin typeface="맑은 고딕" pitchFamily="50" charset="-127"/>
                <a:ea typeface="맑은 고딕" pitchFamily="50" charset="-127"/>
              </a:rPr>
            </a:br>
            <a:r>
              <a:rPr lang="en-US" altLang="ko-KR" sz="1200" dirty="0">
                <a:solidFill>
                  <a:srgbClr val="000000"/>
                </a:solidFill>
                <a:latin typeface="맑은 고딕" pitchFamily="50" charset="-127"/>
                <a:ea typeface="맑은 고딕" pitchFamily="50" charset="-127"/>
              </a:rPr>
              <a:t>    - It is likely to be a problem with the instrument, and should be applied by purchasing a new instrument.</a:t>
            </a:r>
            <a:br>
              <a:rPr lang="en-US" altLang="ko-KR" sz="1200" dirty="0">
                <a:solidFill>
                  <a:srgbClr val="000000"/>
                </a:solidFill>
                <a:latin typeface="맑은 고딕" pitchFamily="50" charset="-127"/>
                <a:ea typeface="맑은 고딕" pitchFamily="50" charset="-127"/>
              </a:rPr>
            </a:br>
            <a:r>
              <a:rPr lang="en-US" altLang="ko-KR" sz="1200" dirty="0">
                <a:solidFill>
                  <a:srgbClr val="000000"/>
                </a:solidFill>
                <a:latin typeface="맑은 고딕" pitchFamily="50" charset="-127"/>
                <a:ea typeface="맑은 고딕" pitchFamily="50" charset="-127"/>
              </a:rPr>
              <a:t>    - However, conditional acceptance (10% ~ 30%) is only allowed if the current technology does not allow further improvement (investment cost, length of time of purchase).</a:t>
            </a:r>
            <a:endParaRPr lang="ko-KR" altLang="en-US" sz="1200" dirty="0">
              <a:solidFill>
                <a:srgbClr val="000000"/>
              </a:solidFill>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37</a:t>
            </a:fld>
            <a:endParaRPr lang="ko-KR" altLang="en-US" dirty="0"/>
          </a:p>
        </p:txBody>
      </p:sp>
      <p:sp>
        <p:nvSpPr>
          <p:cNvPr id="16"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633066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1010"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71550" y="2129184"/>
            <a:ext cx="7688873" cy="1068388"/>
          </a:xfrm>
          <a:prstGeom prst="rect">
            <a:avLst/>
          </a:prstGeom>
          <a:noFill/>
          <a:ln w="9525">
            <a:noFill/>
            <a:miter lim="800000"/>
            <a:headEnd/>
            <a:tailEnd/>
          </a:ln>
        </p:spPr>
      </p:pic>
      <p:grpSp>
        <p:nvGrpSpPr>
          <p:cNvPr id="2" name="그룹 2"/>
          <p:cNvGrpSpPr>
            <a:grpSpLocks/>
          </p:cNvGrpSpPr>
          <p:nvPr/>
        </p:nvGrpSpPr>
        <p:grpSpPr bwMode="auto">
          <a:xfrm>
            <a:off x="1946031" y="1911697"/>
            <a:ext cx="5496658" cy="1795462"/>
            <a:chOff x="1817615" y="2754385"/>
            <a:chExt cx="5955579" cy="2286000"/>
          </a:xfrm>
        </p:grpSpPr>
        <p:cxnSp>
          <p:nvCxnSpPr>
            <p:cNvPr id="171084" name="직선 연결선 3"/>
            <p:cNvCxnSpPr>
              <a:cxnSpLocks noChangeShapeType="1"/>
            </p:cNvCxnSpPr>
            <p:nvPr/>
          </p:nvCxnSpPr>
          <p:spPr bwMode="auto">
            <a:xfrm rot="5400000">
              <a:off x="675409" y="3896591"/>
              <a:ext cx="2286000" cy="1588"/>
            </a:xfrm>
            <a:prstGeom prst="line">
              <a:avLst/>
            </a:prstGeom>
            <a:noFill/>
            <a:ln w="12700" algn="ctr">
              <a:solidFill>
                <a:schemeClr val="tx1"/>
              </a:solidFill>
              <a:round/>
              <a:headEnd/>
              <a:tailEnd/>
            </a:ln>
          </p:spPr>
        </p:cxnSp>
        <p:cxnSp>
          <p:nvCxnSpPr>
            <p:cNvPr id="171085" name="직선 연결선 4"/>
            <p:cNvCxnSpPr>
              <a:cxnSpLocks noChangeShapeType="1"/>
            </p:cNvCxnSpPr>
            <p:nvPr/>
          </p:nvCxnSpPr>
          <p:spPr bwMode="auto">
            <a:xfrm rot="5400000">
              <a:off x="6629400" y="3896591"/>
              <a:ext cx="2286000" cy="1588"/>
            </a:xfrm>
            <a:prstGeom prst="line">
              <a:avLst/>
            </a:prstGeom>
            <a:noFill/>
            <a:ln w="12700" algn="ctr">
              <a:solidFill>
                <a:schemeClr val="tx1"/>
              </a:solidFill>
              <a:round/>
              <a:headEnd/>
              <a:tailEnd/>
            </a:ln>
          </p:spPr>
        </p:cxnSp>
      </p:grpSp>
      <p:sp>
        <p:nvSpPr>
          <p:cNvPr id="171012" name="TextBox 5"/>
          <p:cNvSpPr txBox="1">
            <a:spLocks noChangeArrowheads="1"/>
          </p:cNvSpPr>
          <p:nvPr/>
        </p:nvSpPr>
        <p:spPr bwMode="auto">
          <a:xfrm>
            <a:off x="1740877" y="1625948"/>
            <a:ext cx="415498"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LSL</a:t>
            </a:r>
            <a:endParaRPr lang="ko-KR" altLang="en-US" sz="1200" dirty="0">
              <a:solidFill>
                <a:srgbClr val="000000"/>
              </a:solidFill>
              <a:latin typeface="맑은 고딕" pitchFamily="50" charset="-127"/>
              <a:ea typeface="맑은 고딕" pitchFamily="50" charset="-127"/>
            </a:endParaRPr>
          </a:p>
        </p:txBody>
      </p:sp>
      <p:sp>
        <p:nvSpPr>
          <p:cNvPr id="171013" name="TextBox 6"/>
          <p:cNvSpPr txBox="1">
            <a:spLocks noChangeArrowheads="1"/>
          </p:cNvSpPr>
          <p:nvPr/>
        </p:nvSpPr>
        <p:spPr bwMode="auto">
          <a:xfrm>
            <a:off x="7227278" y="1625948"/>
            <a:ext cx="449162"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USL</a:t>
            </a:r>
            <a:endParaRPr lang="ko-KR" altLang="en-US" sz="1200" dirty="0">
              <a:solidFill>
                <a:srgbClr val="000000"/>
              </a:solidFill>
              <a:latin typeface="맑은 고딕" pitchFamily="50" charset="-127"/>
              <a:ea typeface="맑은 고딕" pitchFamily="50" charset="-127"/>
            </a:endParaRPr>
          </a:p>
        </p:txBody>
      </p:sp>
      <p:cxnSp>
        <p:nvCxnSpPr>
          <p:cNvPr id="171014" name="직선 화살표 연결선 7"/>
          <p:cNvCxnSpPr>
            <a:cxnSpLocks noChangeShapeType="1"/>
          </p:cNvCxnSpPr>
          <p:nvPr/>
        </p:nvCxnSpPr>
        <p:spPr bwMode="auto">
          <a:xfrm>
            <a:off x="1956289" y="3437284"/>
            <a:ext cx="5486400" cy="1588"/>
          </a:xfrm>
          <a:prstGeom prst="straightConnector1">
            <a:avLst/>
          </a:prstGeom>
          <a:noFill/>
          <a:ln w="12700" algn="ctr">
            <a:solidFill>
              <a:schemeClr val="tx1"/>
            </a:solidFill>
            <a:round/>
            <a:headEnd type="arrow" w="med" len="med"/>
            <a:tailEnd type="arrow" w="med" len="med"/>
          </a:ln>
        </p:spPr>
      </p:cxnSp>
      <p:cxnSp>
        <p:nvCxnSpPr>
          <p:cNvPr id="171015" name="직선 화살표 연결선 8"/>
          <p:cNvCxnSpPr>
            <a:cxnSpLocks noChangeShapeType="1"/>
          </p:cNvCxnSpPr>
          <p:nvPr/>
        </p:nvCxnSpPr>
        <p:spPr bwMode="auto">
          <a:xfrm>
            <a:off x="7470531" y="3446809"/>
            <a:ext cx="1055077" cy="1588"/>
          </a:xfrm>
          <a:prstGeom prst="straightConnector1">
            <a:avLst/>
          </a:prstGeom>
          <a:noFill/>
          <a:ln w="12700" algn="ctr">
            <a:solidFill>
              <a:schemeClr val="tx1"/>
            </a:solidFill>
            <a:round/>
            <a:headEnd/>
            <a:tailEnd type="arrow" w="med" len="med"/>
          </a:ln>
        </p:spPr>
      </p:cxnSp>
      <p:cxnSp>
        <p:nvCxnSpPr>
          <p:cNvPr id="171016" name="직선 화살표 연결선 9"/>
          <p:cNvCxnSpPr>
            <a:cxnSpLocks noChangeShapeType="1"/>
          </p:cNvCxnSpPr>
          <p:nvPr/>
        </p:nvCxnSpPr>
        <p:spPr bwMode="auto">
          <a:xfrm rot="10800000">
            <a:off x="1112227" y="3437284"/>
            <a:ext cx="844062" cy="1588"/>
          </a:xfrm>
          <a:prstGeom prst="straightConnector1">
            <a:avLst/>
          </a:prstGeom>
          <a:noFill/>
          <a:ln w="12700" algn="ctr">
            <a:solidFill>
              <a:schemeClr val="tx1"/>
            </a:solidFill>
            <a:round/>
            <a:headEnd/>
            <a:tailEnd type="arrow" w="med" len="med"/>
          </a:ln>
        </p:spPr>
      </p:cxnSp>
      <p:sp>
        <p:nvSpPr>
          <p:cNvPr id="11" name="타원 10"/>
          <p:cNvSpPr/>
          <p:nvPr/>
        </p:nvSpPr>
        <p:spPr bwMode="auto">
          <a:xfrm>
            <a:off x="2524858"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2" name="타원 11"/>
          <p:cNvSpPr/>
          <p:nvPr/>
        </p:nvSpPr>
        <p:spPr bwMode="auto">
          <a:xfrm>
            <a:off x="26889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3" name="타원 12"/>
          <p:cNvSpPr/>
          <p:nvPr/>
        </p:nvSpPr>
        <p:spPr bwMode="auto">
          <a:xfrm>
            <a:off x="2835520"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4" name="타원 13"/>
          <p:cNvSpPr/>
          <p:nvPr/>
        </p:nvSpPr>
        <p:spPr bwMode="auto">
          <a:xfrm>
            <a:off x="29937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5" name="타원 14"/>
          <p:cNvSpPr/>
          <p:nvPr/>
        </p:nvSpPr>
        <p:spPr bwMode="auto">
          <a:xfrm>
            <a:off x="31461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6" name="타원 15"/>
          <p:cNvSpPr/>
          <p:nvPr/>
        </p:nvSpPr>
        <p:spPr bwMode="auto">
          <a:xfrm>
            <a:off x="3304443"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 name="타원 16"/>
          <p:cNvSpPr/>
          <p:nvPr/>
        </p:nvSpPr>
        <p:spPr bwMode="auto">
          <a:xfrm>
            <a:off x="3450981"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8" name="타원 17"/>
          <p:cNvSpPr/>
          <p:nvPr/>
        </p:nvSpPr>
        <p:spPr bwMode="auto">
          <a:xfrm>
            <a:off x="3597520"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9" name="타원 18"/>
          <p:cNvSpPr/>
          <p:nvPr/>
        </p:nvSpPr>
        <p:spPr bwMode="auto">
          <a:xfrm>
            <a:off x="3744058"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20" name="타원 19"/>
          <p:cNvSpPr/>
          <p:nvPr/>
        </p:nvSpPr>
        <p:spPr bwMode="auto">
          <a:xfrm>
            <a:off x="3919904"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1027" name="타원 20"/>
          <p:cNvSpPr>
            <a:spLocks noChangeArrowheads="1"/>
          </p:cNvSpPr>
          <p:nvPr/>
        </p:nvSpPr>
        <p:spPr bwMode="auto">
          <a:xfrm>
            <a:off x="1274885"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28" name="타원 21"/>
          <p:cNvSpPr>
            <a:spLocks noChangeArrowheads="1"/>
          </p:cNvSpPr>
          <p:nvPr/>
        </p:nvSpPr>
        <p:spPr bwMode="auto">
          <a:xfrm>
            <a:off x="2048608"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29" name="타원 22"/>
          <p:cNvSpPr>
            <a:spLocks noChangeArrowheads="1"/>
          </p:cNvSpPr>
          <p:nvPr/>
        </p:nvSpPr>
        <p:spPr bwMode="auto">
          <a:xfrm>
            <a:off x="2823797"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0" name="타원 23"/>
          <p:cNvSpPr>
            <a:spLocks noChangeArrowheads="1"/>
          </p:cNvSpPr>
          <p:nvPr/>
        </p:nvSpPr>
        <p:spPr bwMode="auto">
          <a:xfrm>
            <a:off x="3597520"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1" name="타원 24"/>
          <p:cNvSpPr>
            <a:spLocks noChangeArrowheads="1"/>
          </p:cNvSpPr>
          <p:nvPr/>
        </p:nvSpPr>
        <p:spPr bwMode="auto">
          <a:xfrm>
            <a:off x="4372708"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2" name="타원 25"/>
          <p:cNvSpPr>
            <a:spLocks noChangeArrowheads="1"/>
          </p:cNvSpPr>
          <p:nvPr/>
        </p:nvSpPr>
        <p:spPr bwMode="auto">
          <a:xfrm>
            <a:off x="5146431"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3" name="타원 26"/>
          <p:cNvSpPr>
            <a:spLocks noChangeArrowheads="1"/>
          </p:cNvSpPr>
          <p:nvPr/>
        </p:nvSpPr>
        <p:spPr bwMode="auto">
          <a:xfrm>
            <a:off x="5921620"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4" name="타원 27"/>
          <p:cNvSpPr>
            <a:spLocks noChangeArrowheads="1"/>
          </p:cNvSpPr>
          <p:nvPr/>
        </p:nvSpPr>
        <p:spPr bwMode="auto">
          <a:xfrm>
            <a:off x="6695343" y="5931049"/>
            <a:ext cx="86457"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5" name="타원 28"/>
          <p:cNvSpPr>
            <a:spLocks noChangeArrowheads="1"/>
          </p:cNvSpPr>
          <p:nvPr/>
        </p:nvSpPr>
        <p:spPr bwMode="auto">
          <a:xfrm>
            <a:off x="7470531"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6" name="타원 29"/>
          <p:cNvSpPr>
            <a:spLocks noChangeArrowheads="1"/>
          </p:cNvSpPr>
          <p:nvPr/>
        </p:nvSpPr>
        <p:spPr bwMode="auto">
          <a:xfrm>
            <a:off x="8244254" y="5931049"/>
            <a:ext cx="86458" cy="93663"/>
          </a:xfrm>
          <a:prstGeom prst="ellipse">
            <a:avLst/>
          </a:prstGeom>
          <a:solidFill>
            <a:srgbClr val="FF9966"/>
          </a:solidFill>
          <a:ln w="12700" algn="ctr">
            <a:solidFill>
              <a:schemeClr val="tx1"/>
            </a:solidFill>
            <a:round/>
            <a:headEnd/>
            <a:tailEnd/>
          </a:ln>
        </p:spPr>
        <p:txBody>
          <a:bodyPr/>
          <a:lstStyle/>
          <a:p>
            <a:pPr algn="ctr"/>
            <a:endParaRPr lang="ko-KR" altLang="en-US" sz="1000" dirty="0">
              <a:solidFill>
                <a:srgbClr val="000000"/>
              </a:solidFill>
              <a:latin typeface="Arial" pitchFamily="34" charset="0"/>
            </a:endParaRPr>
          </a:p>
        </p:txBody>
      </p:sp>
      <p:sp>
        <p:nvSpPr>
          <p:cNvPr id="171037" name="TextBox 30"/>
          <p:cNvSpPr txBox="1">
            <a:spLocks noChangeArrowheads="1"/>
          </p:cNvSpPr>
          <p:nvPr/>
        </p:nvSpPr>
        <p:spPr bwMode="auto">
          <a:xfrm>
            <a:off x="323528" y="980728"/>
            <a:ext cx="2816797" cy="261610"/>
          </a:xfrm>
          <a:prstGeom prst="rect">
            <a:avLst/>
          </a:prstGeom>
          <a:noFill/>
          <a:ln w="9525">
            <a:noFill/>
            <a:miter lim="800000"/>
            <a:headEnd/>
            <a:tailEnd/>
          </a:ln>
        </p:spPr>
        <p:txBody>
          <a:bodyPr wrap="none">
            <a:spAutoFit/>
          </a:bodyPr>
          <a:lstStyle/>
          <a:p>
            <a:r>
              <a:rPr lang="en-US" altLang="ko-KR" sz="1100" b="1" dirty="0">
                <a:solidFill>
                  <a:srgbClr val="FF0000"/>
                </a:solidFill>
                <a:latin typeface="맑은 고딕" pitchFamily="50" charset="-127"/>
                <a:ea typeface="맑은 고딕" pitchFamily="50" charset="-127"/>
              </a:rPr>
              <a:t>1. </a:t>
            </a:r>
            <a:r>
              <a:rPr lang="en-US" altLang="ko-KR" sz="1100" b="1" dirty="0" err="1">
                <a:solidFill>
                  <a:srgbClr val="FF0000"/>
                </a:solidFill>
                <a:latin typeface="맑은 고딕" pitchFamily="50" charset="-127"/>
                <a:ea typeface="맑은 고딕" pitchFamily="50" charset="-127"/>
              </a:rPr>
              <a:t>Trường</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hợp</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lấy</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mẫu</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trên</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một</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đoạn</a:t>
            </a:r>
            <a:endParaRPr lang="ko-KR" altLang="en-US" sz="1100" b="1" dirty="0">
              <a:solidFill>
                <a:srgbClr val="FF0000"/>
              </a:solidFill>
              <a:latin typeface="맑은 고딕" pitchFamily="50" charset="-127"/>
              <a:ea typeface="맑은 고딕" pitchFamily="50" charset="-127"/>
            </a:endParaRPr>
          </a:p>
        </p:txBody>
      </p:sp>
      <p:sp>
        <p:nvSpPr>
          <p:cNvPr id="171038" name="TextBox 31"/>
          <p:cNvSpPr txBox="1">
            <a:spLocks noChangeArrowheads="1"/>
          </p:cNvSpPr>
          <p:nvPr/>
        </p:nvSpPr>
        <p:spPr bwMode="auto">
          <a:xfrm>
            <a:off x="539552" y="3800073"/>
            <a:ext cx="5653471" cy="276999"/>
          </a:xfrm>
          <a:prstGeom prst="rect">
            <a:avLst/>
          </a:prstGeom>
          <a:noFill/>
          <a:ln w="9525">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2.Trường </a:t>
            </a:r>
            <a:r>
              <a:rPr lang="en-US" altLang="ko-KR" sz="1200" b="1" dirty="0" err="1">
                <a:solidFill>
                  <a:srgbClr val="FF0000"/>
                </a:solidFill>
                <a:latin typeface="맑은 고딕" pitchFamily="50" charset="-127"/>
                <a:ea typeface="맑은 고딕" pitchFamily="50" charset="-127"/>
              </a:rPr>
              <a:t>hợp</a:t>
            </a:r>
            <a:r>
              <a:rPr lang="en-US" altLang="ko-KR" sz="1200" b="1" dirty="0">
                <a:solidFill>
                  <a:srgbClr val="FF0000"/>
                </a:solidFill>
                <a:latin typeface="맑은 고딕" pitchFamily="50" charset="-127"/>
                <a:ea typeface="맑은 고딕" pitchFamily="50" charset="-127"/>
              </a:rPr>
              <a:t> so </a:t>
            </a:r>
            <a:r>
              <a:rPr lang="en-US" altLang="ko-KR" sz="1200" b="1" dirty="0" err="1">
                <a:solidFill>
                  <a:srgbClr val="FF0000"/>
                </a:solidFill>
                <a:latin typeface="맑은 고딕" pitchFamily="50" charset="-127"/>
                <a:ea typeface="맑은 고딕" pitchFamily="50" charset="-127"/>
              </a:rPr>
              <a:t>với</a:t>
            </a:r>
            <a:r>
              <a:rPr lang="en-US" altLang="ko-KR" sz="1200" b="1" dirty="0">
                <a:solidFill>
                  <a:srgbClr val="FF0000"/>
                </a:solidFill>
                <a:latin typeface="맑은 고딕" pitchFamily="50" charset="-127"/>
                <a:ea typeface="맑은 고딕" pitchFamily="50" charset="-127"/>
              </a:rPr>
              <a:t> Spec sample </a:t>
            </a:r>
            <a:r>
              <a:rPr lang="en-US" altLang="ko-KR" sz="1200" b="1" dirty="0" err="1">
                <a:solidFill>
                  <a:srgbClr val="FF0000"/>
                </a:solidFill>
                <a:latin typeface="맑은 고딕" pitchFamily="50" charset="-127"/>
                <a:ea typeface="맑은 고딕" pitchFamily="50" charset="-127"/>
              </a:rPr>
              <a:t>được</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lựa</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chọn</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trong</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khoảng</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rộng</a:t>
            </a:r>
            <a:r>
              <a:rPr lang="en-US" altLang="ko-KR" sz="1200" b="1" dirty="0">
                <a:solidFill>
                  <a:srgbClr val="FF0000"/>
                </a:solidFill>
                <a:latin typeface="맑은 고딕" pitchFamily="50" charset="-127"/>
                <a:ea typeface="맑은 고딕" pitchFamily="50" charset="-127"/>
              </a:rPr>
              <a:t> </a:t>
            </a:r>
            <a:r>
              <a:rPr lang="en-US" altLang="ko-KR" sz="1200" b="1" dirty="0" err="1">
                <a:solidFill>
                  <a:srgbClr val="FF0000"/>
                </a:solidFill>
                <a:latin typeface="맑은 고딕" pitchFamily="50" charset="-127"/>
                <a:ea typeface="맑은 고딕" pitchFamily="50" charset="-127"/>
              </a:rPr>
              <a:t>hơn</a:t>
            </a:r>
            <a:endParaRPr lang="ko-KR" altLang="en-US" sz="1200" b="1" dirty="0">
              <a:solidFill>
                <a:srgbClr val="FF0000"/>
              </a:solidFill>
              <a:latin typeface="맑은 고딕" pitchFamily="50" charset="-127"/>
              <a:ea typeface="맑은 고딕" pitchFamily="50" charset="-127"/>
            </a:endParaRPr>
          </a:p>
        </p:txBody>
      </p:sp>
      <p:pic>
        <p:nvPicPr>
          <p:cNvPr id="171039"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03735" y="5042048"/>
            <a:ext cx="2625969" cy="1068388"/>
          </a:xfrm>
          <a:prstGeom prst="rect">
            <a:avLst/>
          </a:prstGeom>
          <a:noFill/>
          <a:ln w="9525">
            <a:noFill/>
            <a:miter lim="800000"/>
            <a:headEnd/>
            <a:tailEnd/>
          </a:ln>
        </p:spPr>
      </p:pic>
      <p:cxnSp>
        <p:nvCxnSpPr>
          <p:cNvPr id="171040" name="직선 연결선 34"/>
          <p:cNvCxnSpPr>
            <a:cxnSpLocks noChangeShapeType="1"/>
          </p:cNvCxnSpPr>
          <p:nvPr/>
        </p:nvCxnSpPr>
        <p:spPr bwMode="auto">
          <a:xfrm>
            <a:off x="1160585" y="6080273"/>
            <a:ext cx="7290289" cy="1588"/>
          </a:xfrm>
          <a:prstGeom prst="line">
            <a:avLst/>
          </a:prstGeom>
          <a:noFill/>
          <a:ln w="12700" algn="ctr">
            <a:solidFill>
              <a:schemeClr val="tx1"/>
            </a:solidFill>
            <a:round/>
            <a:headEnd/>
            <a:tailEnd/>
          </a:ln>
        </p:spPr>
      </p:cxnSp>
      <p:grpSp>
        <p:nvGrpSpPr>
          <p:cNvPr id="3" name="그룹 35"/>
          <p:cNvGrpSpPr>
            <a:grpSpLocks/>
          </p:cNvGrpSpPr>
          <p:nvPr/>
        </p:nvGrpSpPr>
        <p:grpSpPr bwMode="auto">
          <a:xfrm>
            <a:off x="3711820" y="4948386"/>
            <a:ext cx="2179026" cy="1504950"/>
            <a:chOff x="1817615" y="2754385"/>
            <a:chExt cx="5955579" cy="2286000"/>
          </a:xfrm>
        </p:grpSpPr>
        <p:cxnSp>
          <p:nvCxnSpPr>
            <p:cNvPr id="171082" name="직선 연결선 36"/>
            <p:cNvCxnSpPr>
              <a:cxnSpLocks noChangeShapeType="1"/>
            </p:cNvCxnSpPr>
            <p:nvPr/>
          </p:nvCxnSpPr>
          <p:spPr bwMode="auto">
            <a:xfrm rot="5400000">
              <a:off x="675409" y="3896591"/>
              <a:ext cx="2286000" cy="1588"/>
            </a:xfrm>
            <a:prstGeom prst="line">
              <a:avLst/>
            </a:prstGeom>
            <a:noFill/>
            <a:ln w="12700" algn="ctr">
              <a:solidFill>
                <a:schemeClr val="tx1"/>
              </a:solidFill>
              <a:round/>
              <a:headEnd/>
              <a:tailEnd/>
            </a:ln>
          </p:spPr>
        </p:cxnSp>
        <p:cxnSp>
          <p:nvCxnSpPr>
            <p:cNvPr id="171083" name="직선 연결선 37"/>
            <p:cNvCxnSpPr>
              <a:cxnSpLocks noChangeShapeType="1"/>
            </p:cNvCxnSpPr>
            <p:nvPr/>
          </p:nvCxnSpPr>
          <p:spPr bwMode="auto">
            <a:xfrm rot="5400000">
              <a:off x="6629400" y="3896591"/>
              <a:ext cx="2286000" cy="1588"/>
            </a:xfrm>
            <a:prstGeom prst="line">
              <a:avLst/>
            </a:prstGeom>
            <a:noFill/>
            <a:ln w="12700" algn="ctr">
              <a:solidFill>
                <a:schemeClr val="tx1"/>
              </a:solidFill>
              <a:round/>
              <a:headEnd/>
              <a:tailEnd/>
            </a:ln>
          </p:spPr>
        </p:cxnSp>
      </p:grpSp>
      <p:sp>
        <p:nvSpPr>
          <p:cNvPr id="171042" name="TextBox 38"/>
          <p:cNvSpPr txBox="1">
            <a:spLocks noChangeArrowheads="1"/>
          </p:cNvSpPr>
          <p:nvPr/>
        </p:nvSpPr>
        <p:spPr bwMode="auto">
          <a:xfrm>
            <a:off x="3521320" y="4673749"/>
            <a:ext cx="415498"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LSL</a:t>
            </a:r>
            <a:endParaRPr lang="ko-KR" altLang="en-US" sz="1200" dirty="0">
              <a:solidFill>
                <a:srgbClr val="000000"/>
              </a:solidFill>
              <a:latin typeface="맑은 고딕" pitchFamily="50" charset="-127"/>
              <a:ea typeface="맑은 고딕" pitchFamily="50" charset="-127"/>
            </a:endParaRPr>
          </a:p>
        </p:txBody>
      </p:sp>
      <p:sp>
        <p:nvSpPr>
          <p:cNvPr id="171043" name="TextBox 39"/>
          <p:cNvSpPr txBox="1">
            <a:spLocks noChangeArrowheads="1"/>
          </p:cNvSpPr>
          <p:nvPr/>
        </p:nvSpPr>
        <p:spPr bwMode="auto">
          <a:xfrm>
            <a:off x="5672505" y="4673749"/>
            <a:ext cx="449162"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USL</a:t>
            </a:r>
            <a:endParaRPr lang="ko-KR" altLang="en-US" sz="1200" dirty="0">
              <a:solidFill>
                <a:srgbClr val="000000"/>
              </a:solidFill>
              <a:latin typeface="맑은 고딕" pitchFamily="50" charset="-127"/>
              <a:ea typeface="맑은 고딕" pitchFamily="50" charset="-127"/>
            </a:endParaRPr>
          </a:p>
        </p:txBody>
      </p:sp>
      <p:sp>
        <p:nvSpPr>
          <p:cNvPr id="41" name="타원 40"/>
          <p:cNvSpPr/>
          <p:nvPr/>
        </p:nvSpPr>
        <p:spPr bwMode="auto">
          <a:xfrm>
            <a:off x="6616212"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2" name="타원 41"/>
          <p:cNvSpPr/>
          <p:nvPr/>
        </p:nvSpPr>
        <p:spPr bwMode="auto">
          <a:xfrm>
            <a:off x="67803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3" name="타원 42"/>
          <p:cNvSpPr/>
          <p:nvPr/>
        </p:nvSpPr>
        <p:spPr bwMode="auto">
          <a:xfrm>
            <a:off x="6926874"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4" name="타원 43"/>
          <p:cNvSpPr/>
          <p:nvPr/>
        </p:nvSpPr>
        <p:spPr bwMode="auto">
          <a:xfrm>
            <a:off x="70851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5" name="타원 44"/>
          <p:cNvSpPr/>
          <p:nvPr/>
        </p:nvSpPr>
        <p:spPr bwMode="auto">
          <a:xfrm>
            <a:off x="72375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6" name="타원 45"/>
          <p:cNvSpPr/>
          <p:nvPr/>
        </p:nvSpPr>
        <p:spPr bwMode="auto">
          <a:xfrm>
            <a:off x="7395797"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7" name="타원 46"/>
          <p:cNvSpPr/>
          <p:nvPr/>
        </p:nvSpPr>
        <p:spPr bwMode="auto">
          <a:xfrm>
            <a:off x="7542335"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8" name="타원 47"/>
          <p:cNvSpPr/>
          <p:nvPr/>
        </p:nvSpPr>
        <p:spPr bwMode="auto">
          <a:xfrm>
            <a:off x="7688874"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49" name="타원 48"/>
          <p:cNvSpPr/>
          <p:nvPr/>
        </p:nvSpPr>
        <p:spPr bwMode="auto">
          <a:xfrm>
            <a:off x="7835412"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50" name="타원 49"/>
          <p:cNvSpPr/>
          <p:nvPr/>
        </p:nvSpPr>
        <p:spPr bwMode="auto">
          <a:xfrm>
            <a:off x="8011258" y="3049935"/>
            <a:ext cx="86457" cy="93663"/>
          </a:xfrm>
          <a:prstGeom prst="ellipse">
            <a:avLst/>
          </a:prstGeom>
          <a:solidFill>
            <a:schemeClr val="bg2">
              <a:lumMod val="20000"/>
              <a:lumOff val="80000"/>
            </a:schemeClr>
          </a:solidFill>
          <a:ln w="12700" cap="flat" cmpd="sng" algn="ctr">
            <a:solidFill>
              <a:schemeClr val="tx1"/>
            </a:solidFill>
            <a:prstDash val="solid"/>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1054" name="TextBox 50"/>
          <p:cNvSpPr txBox="1">
            <a:spLocks noChangeArrowheads="1"/>
          </p:cNvSpPr>
          <p:nvPr/>
        </p:nvSpPr>
        <p:spPr bwMode="auto">
          <a:xfrm>
            <a:off x="4617428" y="1406873"/>
            <a:ext cx="1167307"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Gage R&amp;R = </a:t>
            </a:r>
            <a:endParaRPr lang="ko-KR" altLang="en-US" sz="1200" b="1" dirty="0">
              <a:solidFill>
                <a:srgbClr val="000000"/>
              </a:solidFill>
              <a:latin typeface="맑은 고딕" pitchFamily="50" charset="-127"/>
              <a:ea typeface="맑은 고딕" pitchFamily="50" charset="-127"/>
            </a:endParaRPr>
          </a:p>
        </p:txBody>
      </p:sp>
      <p:cxnSp>
        <p:nvCxnSpPr>
          <p:cNvPr id="171055" name="직선 연결선 52"/>
          <p:cNvCxnSpPr>
            <a:cxnSpLocks noChangeShapeType="1"/>
          </p:cNvCxnSpPr>
          <p:nvPr/>
        </p:nvCxnSpPr>
        <p:spPr bwMode="auto">
          <a:xfrm>
            <a:off x="5606562" y="1554509"/>
            <a:ext cx="800100" cy="1588"/>
          </a:xfrm>
          <a:prstGeom prst="line">
            <a:avLst/>
          </a:prstGeom>
          <a:noFill/>
          <a:ln w="12700" algn="ctr">
            <a:solidFill>
              <a:schemeClr val="tx1"/>
            </a:solidFill>
            <a:round/>
            <a:headEnd/>
            <a:tailEnd/>
          </a:ln>
        </p:spPr>
      </p:cxnSp>
      <p:sp>
        <p:nvSpPr>
          <p:cNvPr id="171056" name="TextBox 53"/>
          <p:cNvSpPr txBox="1">
            <a:spLocks noChangeArrowheads="1"/>
          </p:cNvSpPr>
          <p:nvPr/>
        </p:nvSpPr>
        <p:spPr bwMode="auto">
          <a:xfrm>
            <a:off x="5767754" y="1506885"/>
            <a:ext cx="544893"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total</a:t>
            </a:r>
            <a:endParaRPr lang="ko-KR" altLang="en-US" sz="1200" b="1" baseline="-25000" dirty="0">
              <a:solidFill>
                <a:srgbClr val="000000"/>
              </a:solidFill>
              <a:latin typeface="맑은 고딕" pitchFamily="50" charset="-127"/>
              <a:ea typeface="맑은 고딕" pitchFamily="50" charset="-127"/>
            </a:endParaRPr>
          </a:p>
        </p:txBody>
      </p:sp>
      <p:sp>
        <p:nvSpPr>
          <p:cNvPr id="171057" name="TextBox 54"/>
          <p:cNvSpPr txBox="1">
            <a:spLocks noChangeArrowheads="1"/>
          </p:cNvSpPr>
          <p:nvPr/>
        </p:nvSpPr>
        <p:spPr bwMode="auto">
          <a:xfrm>
            <a:off x="5767754" y="1268760"/>
            <a:ext cx="538930"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R&amp;R</a:t>
            </a:r>
            <a:endParaRPr lang="ko-KR" altLang="en-US" sz="1200" b="1" baseline="-25000" dirty="0">
              <a:solidFill>
                <a:srgbClr val="000000"/>
              </a:solidFill>
              <a:latin typeface="맑은 고딕" pitchFamily="50" charset="-127"/>
              <a:ea typeface="맑은 고딕" pitchFamily="50" charset="-127"/>
            </a:endParaRPr>
          </a:p>
        </p:txBody>
      </p:sp>
      <p:pic>
        <p:nvPicPr>
          <p:cNvPr id="171058"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2461847" y="2014885"/>
            <a:ext cx="1633904" cy="1014413"/>
          </a:xfrm>
          <a:prstGeom prst="rect">
            <a:avLst/>
          </a:prstGeom>
          <a:noFill/>
          <a:ln w="9525">
            <a:noFill/>
            <a:miter lim="800000"/>
            <a:headEnd/>
            <a:tailEnd/>
          </a:ln>
        </p:spPr>
      </p:pic>
      <p:pic>
        <p:nvPicPr>
          <p:cNvPr id="171059"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1132743" y="5488137"/>
            <a:ext cx="7384073" cy="433387"/>
          </a:xfrm>
          <a:prstGeom prst="rect">
            <a:avLst/>
          </a:prstGeom>
          <a:noFill/>
          <a:ln w="9525">
            <a:noFill/>
            <a:miter lim="800000"/>
            <a:headEnd/>
            <a:tailEnd/>
          </a:ln>
        </p:spPr>
      </p:pic>
      <p:cxnSp>
        <p:nvCxnSpPr>
          <p:cNvPr id="171060" name="직선 화살표 연결선 65"/>
          <p:cNvCxnSpPr>
            <a:cxnSpLocks noChangeShapeType="1"/>
          </p:cNvCxnSpPr>
          <p:nvPr/>
        </p:nvCxnSpPr>
        <p:spPr bwMode="auto">
          <a:xfrm>
            <a:off x="4835770" y="2483198"/>
            <a:ext cx="725366" cy="1587"/>
          </a:xfrm>
          <a:prstGeom prst="straightConnector1">
            <a:avLst/>
          </a:prstGeom>
          <a:noFill/>
          <a:ln w="12700" algn="ctr">
            <a:solidFill>
              <a:schemeClr val="tx1"/>
            </a:solidFill>
            <a:round/>
            <a:headEnd type="arrow" w="med" len="med"/>
            <a:tailEnd type="arrow" w="med" len="med"/>
          </a:ln>
        </p:spPr>
      </p:cxnSp>
      <p:cxnSp>
        <p:nvCxnSpPr>
          <p:cNvPr id="171061" name="직선 화살표 연결선 66"/>
          <p:cNvCxnSpPr>
            <a:cxnSpLocks noChangeShapeType="1"/>
          </p:cNvCxnSpPr>
          <p:nvPr/>
        </p:nvCxnSpPr>
        <p:spPr bwMode="auto">
          <a:xfrm>
            <a:off x="3291254" y="2381597"/>
            <a:ext cx="159727" cy="0"/>
          </a:xfrm>
          <a:prstGeom prst="straightConnector1">
            <a:avLst/>
          </a:prstGeom>
          <a:noFill/>
          <a:ln w="12700" algn="ctr">
            <a:solidFill>
              <a:schemeClr val="tx1"/>
            </a:solidFill>
            <a:round/>
            <a:headEnd type="arrow" w="sm" len="sm"/>
            <a:tailEnd type="arrow" w="sm" len="sm"/>
          </a:ln>
        </p:spPr>
      </p:cxnSp>
      <p:sp>
        <p:nvSpPr>
          <p:cNvPr id="171062" name="TextBox 68"/>
          <p:cNvSpPr txBox="1">
            <a:spLocks noChangeArrowheads="1"/>
          </p:cNvSpPr>
          <p:nvPr/>
        </p:nvSpPr>
        <p:spPr bwMode="auto">
          <a:xfrm>
            <a:off x="4349262" y="5673874"/>
            <a:ext cx="51969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R&amp;R</a:t>
            </a:r>
            <a:endParaRPr lang="ko-KR" altLang="en-US" sz="1200" baseline="-25000" dirty="0">
              <a:solidFill>
                <a:srgbClr val="000000"/>
              </a:solidFill>
              <a:latin typeface="맑은 고딕" pitchFamily="50" charset="-127"/>
              <a:ea typeface="맑은 고딕" pitchFamily="50" charset="-127"/>
            </a:endParaRPr>
          </a:p>
        </p:txBody>
      </p:sp>
      <p:sp>
        <p:nvSpPr>
          <p:cNvPr id="171063" name="TextBox 69"/>
          <p:cNvSpPr txBox="1">
            <a:spLocks noChangeArrowheads="1"/>
          </p:cNvSpPr>
          <p:nvPr/>
        </p:nvSpPr>
        <p:spPr bwMode="auto">
          <a:xfrm>
            <a:off x="4572000" y="2924944"/>
            <a:ext cx="520463"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total</a:t>
            </a:r>
            <a:endParaRPr lang="ko-KR" altLang="en-US" sz="1200" baseline="-25000" dirty="0">
              <a:solidFill>
                <a:srgbClr val="000000"/>
              </a:solidFill>
              <a:latin typeface="맑은 고딕" pitchFamily="50" charset="-127"/>
              <a:ea typeface="맑은 고딕" pitchFamily="50" charset="-127"/>
            </a:endParaRPr>
          </a:p>
        </p:txBody>
      </p:sp>
      <p:sp>
        <p:nvSpPr>
          <p:cNvPr id="171064" name="TextBox 70"/>
          <p:cNvSpPr txBox="1">
            <a:spLocks noChangeArrowheads="1"/>
          </p:cNvSpPr>
          <p:nvPr/>
        </p:nvSpPr>
        <p:spPr bwMode="auto">
          <a:xfrm>
            <a:off x="4863613" y="2427635"/>
            <a:ext cx="74007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Historical</a:t>
            </a:r>
            <a:endParaRPr lang="ko-KR" altLang="en-US" sz="1200" baseline="-25000" dirty="0">
              <a:solidFill>
                <a:srgbClr val="000000"/>
              </a:solidFill>
              <a:latin typeface="맑은 고딕" pitchFamily="50" charset="-127"/>
              <a:ea typeface="맑은 고딕" pitchFamily="50" charset="-127"/>
            </a:endParaRPr>
          </a:p>
        </p:txBody>
      </p:sp>
      <p:pic>
        <p:nvPicPr>
          <p:cNvPr id="171065"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4349262" y="5838974"/>
            <a:ext cx="139212" cy="74613"/>
          </a:xfrm>
          <a:prstGeom prst="rect">
            <a:avLst/>
          </a:prstGeom>
          <a:noFill/>
          <a:ln w="9525">
            <a:noFill/>
            <a:miter lim="800000"/>
            <a:headEnd/>
            <a:tailEnd/>
          </a:ln>
        </p:spPr>
      </p:pic>
      <p:cxnSp>
        <p:nvCxnSpPr>
          <p:cNvPr id="171066" name="직선 화살표 연결선 75"/>
          <p:cNvCxnSpPr>
            <a:cxnSpLocks noChangeShapeType="1"/>
          </p:cNvCxnSpPr>
          <p:nvPr/>
        </p:nvCxnSpPr>
        <p:spPr bwMode="auto">
          <a:xfrm>
            <a:off x="4765431" y="5342087"/>
            <a:ext cx="278423" cy="3175"/>
          </a:xfrm>
          <a:prstGeom prst="straightConnector1">
            <a:avLst/>
          </a:prstGeom>
          <a:noFill/>
          <a:ln w="12700" algn="ctr">
            <a:solidFill>
              <a:schemeClr val="tx1"/>
            </a:solidFill>
            <a:round/>
            <a:headEnd type="arrow" w="med" len="med"/>
            <a:tailEnd type="arrow" w="med" len="med"/>
          </a:ln>
        </p:spPr>
      </p:cxnSp>
      <p:sp>
        <p:nvSpPr>
          <p:cNvPr id="171067" name="TextBox 76"/>
          <p:cNvSpPr txBox="1">
            <a:spLocks noChangeArrowheads="1"/>
          </p:cNvSpPr>
          <p:nvPr/>
        </p:nvSpPr>
        <p:spPr bwMode="auto">
          <a:xfrm>
            <a:off x="4793274" y="5286524"/>
            <a:ext cx="74007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Historical</a:t>
            </a:r>
            <a:endParaRPr lang="ko-KR" altLang="en-US" sz="1200" baseline="-25000" dirty="0">
              <a:solidFill>
                <a:srgbClr val="000000"/>
              </a:solidFill>
              <a:latin typeface="맑은 고딕" pitchFamily="50" charset="-127"/>
              <a:ea typeface="맑은 고딕" pitchFamily="50" charset="-127"/>
            </a:endParaRPr>
          </a:p>
        </p:txBody>
      </p:sp>
      <p:cxnSp>
        <p:nvCxnSpPr>
          <p:cNvPr id="171068" name="직선 화살표 연결선 79"/>
          <p:cNvCxnSpPr>
            <a:cxnSpLocks noChangeShapeType="1"/>
          </p:cNvCxnSpPr>
          <p:nvPr/>
        </p:nvCxnSpPr>
        <p:spPr bwMode="auto">
          <a:xfrm>
            <a:off x="4797669" y="5691337"/>
            <a:ext cx="961292" cy="1587"/>
          </a:xfrm>
          <a:prstGeom prst="straightConnector1">
            <a:avLst/>
          </a:prstGeom>
          <a:noFill/>
          <a:ln w="12700" algn="ctr">
            <a:solidFill>
              <a:schemeClr val="tx1"/>
            </a:solidFill>
            <a:round/>
            <a:headEnd type="arrow" w="med" len="med"/>
            <a:tailEnd type="arrow" w="med" len="med"/>
          </a:ln>
        </p:spPr>
      </p:cxnSp>
      <p:sp>
        <p:nvSpPr>
          <p:cNvPr id="171069" name="TextBox 80"/>
          <p:cNvSpPr txBox="1">
            <a:spLocks noChangeArrowheads="1"/>
          </p:cNvSpPr>
          <p:nvPr/>
        </p:nvSpPr>
        <p:spPr bwMode="auto">
          <a:xfrm>
            <a:off x="4882662" y="5596087"/>
            <a:ext cx="520463"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total</a:t>
            </a:r>
            <a:endParaRPr lang="ko-KR" altLang="en-US" sz="1200" baseline="-25000" dirty="0">
              <a:solidFill>
                <a:srgbClr val="000000"/>
              </a:solidFill>
              <a:latin typeface="맑은 고딕" pitchFamily="50" charset="-127"/>
              <a:ea typeface="맑은 고딕" pitchFamily="50" charset="-127"/>
            </a:endParaRPr>
          </a:p>
        </p:txBody>
      </p:sp>
      <p:sp>
        <p:nvSpPr>
          <p:cNvPr id="171070" name="TextBox 82"/>
          <p:cNvSpPr txBox="1">
            <a:spLocks noChangeArrowheads="1"/>
          </p:cNvSpPr>
          <p:nvPr/>
        </p:nvSpPr>
        <p:spPr bwMode="auto">
          <a:xfrm>
            <a:off x="3279531" y="2781648"/>
            <a:ext cx="519694"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σ</a:t>
            </a:r>
            <a:r>
              <a:rPr lang="en-US" altLang="ko-KR" sz="1200" baseline="-25000" dirty="0">
                <a:solidFill>
                  <a:srgbClr val="000000"/>
                </a:solidFill>
                <a:latin typeface="맑은 고딕" pitchFamily="50" charset="-127"/>
                <a:ea typeface="맑은 고딕" pitchFamily="50" charset="-127"/>
              </a:rPr>
              <a:t> R&amp;R</a:t>
            </a:r>
            <a:endParaRPr lang="ko-KR" altLang="en-US" sz="1200" baseline="-25000" dirty="0">
              <a:solidFill>
                <a:srgbClr val="000000"/>
              </a:solidFill>
              <a:latin typeface="맑은 고딕" pitchFamily="50" charset="-127"/>
              <a:ea typeface="맑은 고딕" pitchFamily="50" charset="-127"/>
            </a:endParaRPr>
          </a:p>
        </p:txBody>
      </p:sp>
      <p:pic>
        <p:nvPicPr>
          <p:cNvPr id="171071" name="Picture 2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b="5023"/>
          <a:stretch>
            <a:fillRect/>
          </a:stretch>
        </p:blipFill>
        <p:spPr bwMode="auto">
          <a:xfrm>
            <a:off x="3279531" y="2946747"/>
            <a:ext cx="139212" cy="74612"/>
          </a:xfrm>
          <a:prstGeom prst="rect">
            <a:avLst/>
          </a:prstGeom>
          <a:noFill/>
          <a:ln w="9525">
            <a:noFill/>
            <a:miter lim="800000"/>
            <a:headEnd/>
            <a:tailEnd/>
          </a:ln>
        </p:spPr>
      </p:pic>
      <p:sp>
        <p:nvSpPr>
          <p:cNvPr id="171072" name="TextBox 84"/>
          <p:cNvSpPr txBox="1">
            <a:spLocks noChangeArrowheads="1"/>
          </p:cNvSpPr>
          <p:nvPr/>
        </p:nvSpPr>
        <p:spPr bwMode="auto">
          <a:xfrm>
            <a:off x="2555776" y="1700808"/>
            <a:ext cx="4802853" cy="276999"/>
          </a:xfrm>
          <a:prstGeom prst="rect">
            <a:avLst/>
          </a:prstGeom>
          <a:noFill/>
          <a:ln w="9525">
            <a:noFill/>
            <a:miter lim="800000"/>
            <a:headEnd/>
            <a:tailEnd/>
          </a:ln>
        </p:spPr>
        <p:txBody>
          <a:bodyPr wrap="none">
            <a:spAutoFit/>
          </a:bodyPr>
          <a:lstStyle/>
          <a:p>
            <a:r>
              <a:rPr lang="ko-KR" altLang="en-US" sz="1200" b="1" dirty="0">
                <a:solidFill>
                  <a:srgbClr val="000000"/>
                </a:solidFill>
                <a:latin typeface="맑은 고딕" pitchFamily="50" charset="-127"/>
                <a:ea typeface="맑은 고딕" pitchFamily="50" charset="-127"/>
              </a:rPr>
              <a:t>① </a:t>
            </a:r>
            <a:r>
              <a:rPr lang="en-US" altLang="ko-KR" sz="1200" b="1" dirty="0" err="1">
                <a:solidFill>
                  <a:srgbClr val="000000"/>
                </a:solidFill>
                <a:latin typeface="맑은 고딕" pitchFamily="50" charset="-127"/>
                <a:ea typeface="맑은 고딕" pitchFamily="50" charset="-127"/>
              </a:rPr>
              <a:t>Trong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phạm</a:t>
            </a:r>
            <a:r>
              <a:rPr lang="en-US" altLang="ko-KR" sz="1200" b="1" dirty="0">
                <a:solidFill>
                  <a:srgbClr val="000000"/>
                </a:solidFill>
                <a:latin typeface="맑은 고딕" pitchFamily="50" charset="-127"/>
                <a:ea typeface="맑은 고딕" pitchFamily="50" charset="-127"/>
              </a:rPr>
              <a:t> vi Spec, </a:t>
            </a:r>
            <a:r>
              <a:rPr lang="en-US" altLang="ko-KR" sz="1200" b="1" dirty="0" err="1">
                <a:solidFill>
                  <a:srgbClr val="000000"/>
                </a:solidFill>
                <a:latin typeface="맑은 고딕" pitchFamily="50" charset="-127"/>
                <a:ea typeface="맑은 고딕" pitchFamily="50" charset="-127"/>
              </a:rPr>
              <a:t>Nhưng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tập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trung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vào</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một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vài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vực</a:t>
            </a:r>
            <a:endParaRPr lang="ko-KR" altLang="en-US" sz="1200" b="1" dirty="0">
              <a:solidFill>
                <a:srgbClr val="000000"/>
              </a:solidFill>
              <a:latin typeface="맑은 고딕" pitchFamily="50" charset="-127"/>
              <a:ea typeface="맑은 고딕" pitchFamily="50" charset="-127"/>
            </a:endParaRPr>
          </a:p>
        </p:txBody>
      </p:sp>
      <p:sp>
        <p:nvSpPr>
          <p:cNvPr id="171073" name="TextBox 85"/>
          <p:cNvSpPr txBox="1">
            <a:spLocks noChangeArrowheads="1"/>
          </p:cNvSpPr>
          <p:nvPr/>
        </p:nvSpPr>
        <p:spPr bwMode="auto">
          <a:xfrm>
            <a:off x="6386514" y="2348880"/>
            <a:ext cx="2757486" cy="400110"/>
          </a:xfrm>
          <a:prstGeom prst="rect">
            <a:avLst/>
          </a:prstGeom>
          <a:noFill/>
          <a:ln w="9525">
            <a:noFill/>
            <a:miter lim="800000"/>
            <a:headEnd/>
            <a:tailEnd/>
          </a:ln>
        </p:spPr>
        <p:txBody>
          <a:bodyPr wrap="none">
            <a:spAutoFit/>
          </a:bodyPr>
          <a:lstStyle/>
          <a:p>
            <a:r>
              <a:rPr lang="ko-KR" altLang="en-US" sz="1000" b="1" dirty="0">
                <a:solidFill>
                  <a:srgbClr val="000000"/>
                </a:solidFill>
                <a:latin typeface="맑은 고딕" pitchFamily="50" charset="-127"/>
                <a:ea typeface="맑은 고딕" pitchFamily="50" charset="-127"/>
              </a:rPr>
              <a:t>② </a:t>
            </a:r>
            <a:r>
              <a:rPr lang="en-US" altLang="ko-KR" sz="1000" b="1" dirty="0">
                <a:solidFill>
                  <a:srgbClr val="000000"/>
                </a:solidFill>
                <a:latin typeface="맑은 고딕" pitchFamily="50" charset="-127"/>
                <a:ea typeface="맑은 고딕" pitchFamily="50" charset="-127"/>
              </a:rPr>
              <a:t>Spec Out Cover, </a:t>
            </a:r>
            <a:r>
              <a:rPr lang="en-US" altLang="ko-KR" sz="1000" b="1" dirty="0" err="1">
                <a:solidFill>
                  <a:srgbClr val="000000"/>
                </a:solidFill>
                <a:latin typeface="맑은 고딕" pitchFamily="50" charset="-127"/>
                <a:ea typeface="맑은 고딕" pitchFamily="50" charset="-127"/>
              </a:rPr>
              <a:t>Nhưng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tập</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trung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vào</a:t>
            </a:r>
            <a:r>
              <a:rPr lang="en-US" altLang="ko-KR" sz="1000" b="1" dirty="0">
                <a:solidFill>
                  <a:srgbClr val="000000"/>
                </a:solidFill>
                <a:latin typeface="맑은 고딕" pitchFamily="50" charset="-127"/>
                <a:ea typeface="맑은 고딕" pitchFamily="50" charset="-127"/>
              </a:rPr>
              <a:t> </a:t>
            </a:r>
          </a:p>
          <a:p>
            <a:r>
              <a:rPr lang="en-US" altLang="ko-KR" sz="1000" b="1" dirty="0" err="1">
                <a:solidFill>
                  <a:srgbClr val="000000"/>
                </a:solidFill>
                <a:latin typeface="맑은 고딕" pitchFamily="50" charset="-127"/>
                <a:ea typeface="맑은 고딕" pitchFamily="50" charset="-127"/>
              </a:rPr>
              <a:t>một</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vài</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khu</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vực</a:t>
            </a:r>
            <a:endParaRPr lang="ko-KR" altLang="en-US" sz="1000" b="1" dirty="0">
              <a:solidFill>
                <a:srgbClr val="000000"/>
              </a:solidFill>
              <a:latin typeface="맑은 고딕" pitchFamily="50" charset="-127"/>
              <a:ea typeface="맑은 고딕" pitchFamily="50" charset="-127"/>
            </a:endParaRPr>
          </a:p>
        </p:txBody>
      </p:sp>
      <p:sp>
        <p:nvSpPr>
          <p:cNvPr id="73" name="TextBox 72"/>
          <p:cNvSpPr txBox="1"/>
          <p:nvPr/>
        </p:nvSpPr>
        <p:spPr>
          <a:xfrm>
            <a:off x="179512" y="692696"/>
            <a:ext cx="4104456" cy="329321"/>
          </a:xfrm>
          <a:prstGeom prst="rect">
            <a:avLst/>
          </a:prstGeom>
          <a:noFill/>
        </p:spPr>
        <p:txBody>
          <a:bodyPr wrap="square">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Vấn</a:t>
            </a:r>
            <a:r>
              <a:rPr kumimoji="0"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đề</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khi</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lựa</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chọn</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sai</a:t>
            </a:r>
            <a:r>
              <a:rPr lang="en-US" altLang="ko-KR" sz="1400" b="1" kern="0" dirty="0">
                <a:solidFill>
                  <a:srgbClr val="000000"/>
                </a:solidFill>
                <a:latin typeface="맑은 고딕" pitchFamily="50" charset="-127"/>
                <a:ea typeface="맑은 고딕" pitchFamily="50" charset="-127"/>
              </a:rPr>
              <a:t> sample </a:t>
            </a:r>
            <a:r>
              <a:rPr kumimoji="0" lang="en-US" altLang="ko-KR" sz="1400" b="1" kern="0" dirty="0">
                <a:solidFill>
                  <a:srgbClr val="000000"/>
                </a:solidFill>
                <a:latin typeface="맑은 고딕" pitchFamily="50" charset="-127"/>
                <a:ea typeface="맑은 고딕" pitchFamily="50" charset="-127"/>
              </a:rPr>
              <a:t>Gage R&amp;R </a:t>
            </a:r>
            <a:endParaRPr kumimoji="0" lang="ko-KR" altLang="en-US" sz="1400" b="1" kern="0" dirty="0">
              <a:solidFill>
                <a:srgbClr val="000000"/>
              </a:solidFill>
              <a:latin typeface="맑은 고딕" pitchFamily="50" charset="-127"/>
              <a:ea typeface="맑은 고딕" pitchFamily="50" charset="-127"/>
            </a:endParaRPr>
          </a:p>
        </p:txBody>
      </p:sp>
      <p:sp>
        <p:nvSpPr>
          <p:cNvPr id="171076" name="TextBox 73"/>
          <p:cNvSpPr txBox="1">
            <a:spLocks noChangeArrowheads="1"/>
          </p:cNvSpPr>
          <p:nvPr/>
        </p:nvSpPr>
        <p:spPr bwMode="auto">
          <a:xfrm>
            <a:off x="6324600" y="4964262"/>
            <a:ext cx="1167307"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Gage R&amp;R = </a:t>
            </a:r>
            <a:endParaRPr lang="ko-KR" altLang="en-US" sz="1200" b="1" dirty="0">
              <a:solidFill>
                <a:srgbClr val="000000"/>
              </a:solidFill>
              <a:latin typeface="맑은 고딕" pitchFamily="50" charset="-127"/>
              <a:ea typeface="맑은 고딕" pitchFamily="50" charset="-127"/>
            </a:endParaRPr>
          </a:p>
        </p:txBody>
      </p:sp>
      <p:cxnSp>
        <p:nvCxnSpPr>
          <p:cNvPr id="171077" name="직선 연결선 74"/>
          <p:cNvCxnSpPr>
            <a:cxnSpLocks noChangeShapeType="1"/>
          </p:cNvCxnSpPr>
          <p:nvPr/>
        </p:nvCxnSpPr>
        <p:spPr bwMode="auto">
          <a:xfrm>
            <a:off x="7313736" y="5111898"/>
            <a:ext cx="800100" cy="1588"/>
          </a:xfrm>
          <a:prstGeom prst="line">
            <a:avLst/>
          </a:prstGeom>
          <a:noFill/>
          <a:ln w="12700" algn="ctr">
            <a:solidFill>
              <a:schemeClr val="tx1"/>
            </a:solidFill>
            <a:round/>
            <a:headEnd/>
            <a:tailEnd/>
          </a:ln>
        </p:spPr>
      </p:cxnSp>
      <p:sp>
        <p:nvSpPr>
          <p:cNvPr id="171078" name="TextBox 77"/>
          <p:cNvSpPr txBox="1">
            <a:spLocks noChangeArrowheads="1"/>
          </p:cNvSpPr>
          <p:nvPr/>
        </p:nvSpPr>
        <p:spPr bwMode="auto">
          <a:xfrm>
            <a:off x="7474927" y="5064274"/>
            <a:ext cx="544893"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total</a:t>
            </a:r>
            <a:endParaRPr lang="ko-KR" altLang="en-US" sz="1200" b="1" baseline="-25000" dirty="0">
              <a:solidFill>
                <a:srgbClr val="000000"/>
              </a:solidFill>
              <a:latin typeface="맑은 고딕" pitchFamily="50" charset="-127"/>
              <a:ea typeface="맑은 고딕" pitchFamily="50" charset="-127"/>
            </a:endParaRPr>
          </a:p>
        </p:txBody>
      </p:sp>
      <p:sp>
        <p:nvSpPr>
          <p:cNvPr id="171079" name="TextBox 78"/>
          <p:cNvSpPr txBox="1">
            <a:spLocks noChangeArrowheads="1"/>
          </p:cNvSpPr>
          <p:nvPr/>
        </p:nvSpPr>
        <p:spPr bwMode="auto">
          <a:xfrm>
            <a:off x="7474928" y="4824561"/>
            <a:ext cx="538930"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σ</a:t>
            </a:r>
            <a:r>
              <a:rPr lang="en-US" altLang="ko-KR" sz="1200" b="1" baseline="-25000" dirty="0">
                <a:solidFill>
                  <a:srgbClr val="000000"/>
                </a:solidFill>
                <a:latin typeface="맑은 고딕" pitchFamily="50" charset="-127"/>
                <a:ea typeface="맑은 고딕" pitchFamily="50" charset="-127"/>
              </a:rPr>
              <a:t> R&amp;R</a:t>
            </a:r>
            <a:endParaRPr lang="ko-KR" altLang="en-US" sz="1200" b="1" baseline="-25000" dirty="0">
              <a:solidFill>
                <a:srgbClr val="000000"/>
              </a:solidFill>
              <a:latin typeface="맑은 고딕" pitchFamily="50" charset="-127"/>
              <a:ea typeface="맑은 고딕" pitchFamily="50" charset="-127"/>
            </a:endParaRPr>
          </a:p>
        </p:txBody>
      </p:sp>
      <p:sp>
        <p:nvSpPr>
          <p:cNvPr id="171080" name="TextBox 81"/>
          <p:cNvSpPr txBox="1">
            <a:spLocks noChangeArrowheads="1"/>
          </p:cNvSpPr>
          <p:nvPr/>
        </p:nvSpPr>
        <p:spPr bwMode="auto">
          <a:xfrm>
            <a:off x="6446228" y="1398935"/>
            <a:ext cx="54213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 ?? </a:t>
            </a:r>
            <a:endParaRPr lang="ko-KR" altLang="en-US" sz="1200" b="1" dirty="0">
              <a:solidFill>
                <a:srgbClr val="000000"/>
              </a:solidFill>
              <a:latin typeface="맑은 고딕" pitchFamily="50" charset="-127"/>
              <a:ea typeface="맑은 고딕" pitchFamily="50" charset="-127"/>
            </a:endParaRPr>
          </a:p>
        </p:txBody>
      </p:sp>
      <p:sp>
        <p:nvSpPr>
          <p:cNvPr id="171081" name="TextBox 87"/>
          <p:cNvSpPr txBox="1">
            <a:spLocks noChangeArrowheads="1"/>
          </p:cNvSpPr>
          <p:nvPr/>
        </p:nvSpPr>
        <p:spPr bwMode="auto">
          <a:xfrm>
            <a:off x="8105043" y="4967437"/>
            <a:ext cx="54213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 ?? </a:t>
            </a:r>
            <a:endParaRPr lang="ko-KR" altLang="en-US" sz="1200" b="1" dirty="0">
              <a:solidFill>
                <a:srgbClr val="000000"/>
              </a:solidFill>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38</a:t>
            </a:fld>
            <a:endParaRPr lang="ko-KR" altLang="en-US" dirty="0"/>
          </a:p>
        </p:txBody>
      </p:sp>
      <p:sp>
        <p:nvSpPr>
          <p:cNvPr id="5" name="TextBox 4"/>
          <p:cNvSpPr txBox="1"/>
          <p:nvPr/>
        </p:nvSpPr>
        <p:spPr>
          <a:xfrm>
            <a:off x="3707904" y="981889"/>
            <a:ext cx="3672408" cy="430887"/>
          </a:xfrm>
          <a:prstGeom prst="rect">
            <a:avLst/>
          </a:prstGeom>
          <a:noFill/>
        </p:spPr>
        <p:txBody>
          <a:bodyPr wrap="square" rtlCol="0">
            <a:spAutoFit/>
          </a:bodyPr>
          <a:lstStyle/>
          <a:p>
            <a:r>
              <a:rPr lang="en-US" altLang="ko-KR" sz="1100" b="1" dirty="0" err="1">
                <a:solidFill>
                  <a:srgbClr val="00B050"/>
                </a:solidFill>
              </a:rPr>
              <a:t>Lựa</a:t>
            </a:r>
            <a:r>
              <a:rPr lang="en-US" altLang="ko-KR" sz="1100" b="1" dirty="0">
                <a:solidFill>
                  <a:srgbClr val="00B050"/>
                </a:solidFill>
              </a:rPr>
              <a:t> </a:t>
            </a:r>
            <a:r>
              <a:rPr lang="en-US" altLang="ko-KR" sz="1100" b="1" dirty="0" err="1">
                <a:solidFill>
                  <a:srgbClr val="00B050"/>
                </a:solidFill>
              </a:rPr>
              <a:t>chọn</a:t>
            </a:r>
            <a:r>
              <a:rPr lang="en-US" altLang="ko-KR" sz="1100" b="1" dirty="0">
                <a:solidFill>
                  <a:srgbClr val="00B050"/>
                </a:solidFill>
              </a:rPr>
              <a:t> </a:t>
            </a:r>
            <a:r>
              <a:rPr lang="en-US" altLang="ko-KR" sz="1100" b="1" dirty="0" err="1">
                <a:solidFill>
                  <a:srgbClr val="00B050"/>
                </a:solidFill>
              </a:rPr>
              <a:t>ngẫu</a:t>
            </a:r>
            <a:r>
              <a:rPr lang="en-US" altLang="ko-KR" sz="1100" b="1" dirty="0">
                <a:solidFill>
                  <a:srgbClr val="00B050"/>
                </a:solidFill>
              </a:rPr>
              <a:t> </a:t>
            </a:r>
            <a:r>
              <a:rPr lang="en-US" altLang="ko-KR" sz="1100" b="1" dirty="0" err="1">
                <a:solidFill>
                  <a:srgbClr val="00B050"/>
                </a:solidFill>
              </a:rPr>
              <a:t>nhiên</a:t>
            </a:r>
            <a:r>
              <a:rPr lang="en-US" altLang="ko-KR" sz="1100" b="1" dirty="0">
                <a:solidFill>
                  <a:srgbClr val="00B050"/>
                </a:solidFill>
              </a:rPr>
              <a:t> 10 </a:t>
            </a:r>
            <a:r>
              <a:rPr lang="en-US" altLang="ko-KR" sz="1100" b="1" dirty="0" err="1">
                <a:solidFill>
                  <a:srgbClr val="00B050"/>
                </a:solidFill>
              </a:rPr>
              <a:t>sản</a:t>
            </a:r>
            <a:r>
              <a:rPr lang="en-US" altLang="ko-KR" sz="1100" b="1" dirty="0">
                <a:solidFill>
                  <a:srgbClr val="00B050"/>
                </a:solidFill>
              </a:rPr>
              <a:t> </a:t>
            </a:r>
            <a:r>
              <a:rPr lang="en-US" altLang="ko-KR" sz="1100" b="1" dirty="0" err="1">
                <a:solidFill>
                  <a:srgbClr val="00B050"/>
                </a:solidFill>
              </a:rPr>
              <a:t>phẩm</a:t>
            </a:r>
            <a:r>
              <a:rPr lang="en-US" altLang="ko-KR" sz="1100" b="1" dirty="0">
                <a:solidFill>
                  <a:srgbClr val="00B050"/>
                </a:solidFill>
              </a:rPr>
              <a:t> </a:t>
            </a:r>
            <a:r>
              <a:rPr lang="en-US" altLang="ko-KR" sz="1100" b="1" dirty="0" err="1">
                <a:solidFill>
                  <a:srgbClr val="00B050"/>
                </a:solidFill>
              </a:rPr>
              <a:t>trong</a:t>
            </a:r>
            <a:r>
              <a:rPr lang="en-US" altLang="ko-KR" sz="1100" b="1" dirty="0">
                <a:solidFill>
                  <a:srgbClr val="00B050"/>
                </a:solidFill>
              </a:rPr>
              <a:t> </a:t>
            </a:r>
            <a:r>
              <a:rPr lang="en-US" altLang="ko-KR" sz="1100" b="1" dirty="0" err="1">
                <a:solidFill>
                  <a:srgbClr val="00B050"/>
                </a:solidFill>
              </a:rPr>
              <a:t>quá</a:t>
            </a:r>
            <a:r>
              <a:rPr lang="en-US" altLang="ko-KR" sz="1100" b="1" dirty="0">
                <a:solidFill>
                  <a:srgbClr val="00B050"/>
                </a:solidFill>
              </a:rPr>
              <a:t> </a:t>
            </a:r>
            <a:r>
              <a:rPr lang="en-US" altLang="ko-KR" sz="1100" b="1" dirty="0" err="1">
                <a:solidFill>
                  <a:srgbClr val="00B050"/>
                </a:solidFill>
              </a:rPr>
              <a:t>trình</a:t>
            </a:r>
            <a:r>
              <a:rPr lang="en-US" altLang="ko-KR" sz="1100" b="1" dirty="0">
                <a:solidFill>
                  <a:srgbClr val="00B050"/>
                </a:solidFill>
              </a:rPr>
              <a:t> </a:t>
            </a:r>
          </a:p>
          <a:p>
            <a:r>
              <a:rPr lang="en-US" altLang="ko-KR" sz="1100" b="1" dirty="0" err="1">
                <a:solidFill>
                  <a:srgbClr val="00B050"/>
                </a:solidFill>
              </a:rPr>
              <a:t>sản</a:t>
            </a:r>
            <a:r>
              <a:rPr lang="en-US" altLang="ko-KR" sz="1100" b="1" dirty="0">
                <a:solidFill>
                  <a:srgbClr val="00B050"/>
                </a:solidFill>
              </a:rPr>
              <a:t> </a:t>
            </a:r>
            <a:r>
              <a:rPr lang="en-US" altLang="ko-KR" sz="1100" b="1" dirty="0" err="1">
                <a:solidFill>
                  <a:srgbClr val="00B050"/>
                </a:solidFill>
              </a:rPr>
              <a:t>xuất</a:t>
            </a:r>
            <a:r>
              <a:rPr lang="en-US" altLang="ko-KR" sz="1100" b="1" dirty="0">
                <a:solidFill>
                  <a:srgbClr val="00B050"/>
                </a:solidFill>
              </a:rPr>
              <a:t> </a:t>
            </a:r>
            <a:r>
              <a:rPr lang="en-US" altLang="ko-KR" sz="1100" b="1" dirty="0" err="1">
                <a:solidFill>
                  <a:srgbClr val="00B050"/>
                </a:solidFill>
              </a:rPr>
              <a:t>đại</a:t>
            </a:r>
            <a:r>
              <a:rPr lang="en-US" altLang="ko-KR" sz="1100" b="1" dirty="0">
                <a:solidFill>
                  <a:srgbClr val="00B050"/>
                </a:solidFill>
              </a:rPr>
              <a:t> </a:t>
            </a:r>
            <a:r>
              <a:rPr lang="en-US" altLang="ko-KR" sz="1100" b="1" dirty="0" err="1">
                <a:solidFill>
                  <a:srgbClr val="00B050"/>
                </a:solidFill>
              </a:rPr>
              <a:t>trà</a:t>
            </a:r>
            <a:r>
              <a:rPr lang="en-US" altLang="ko-KR" sz="1100" b="1" dirty="0">
                <a:solidFill>
                  <a:srgbClr val="00B050"/>
                </a:solidFill>
              </a:rPr>
              <a:t> </a:t>
            </a:r>
            <a:r>
              <a:rPr lang="en-US" altLang="ko-KR" sz="1100" b="1" dirty="0" err="1">
                <a:solidFill>
                  <a:srgbClr val="00B050"/>
                </a:solidFill>
              </a:rPr>
              <a:t>và</a:t>
            </a:r>
            <a:r>
              <a:rPr lang="en-US" altLang="ko-KR" sz="1100" b="1" dirty="0">
                <a:solidFill>
                  <a:srgbClr val="00B050"/>
                </a:solidFill>
              </a:rPr>
              <a:t> </a:t>
            </a:r>
            <a:r>
              <a:rPr lang="en-US" altLang="ko-KR" sz="1100" b="1" dirty="0" err="1">
                <a:solidFill>
                  <a:srgbClr val="00B050"/>
                </a:solidFill>
              </a:rPr>
              <a:t>thực</a:t>
            </a:r>
            <a:r>
              <a:rPr lang="en-US" altLang="ko-KR" sz="1100" b="1" dirty="0">
                <a:solidFill>
                  <a:srgbClr val="00B050"/>
                </a:solidFill>
              </a:rPr>
              <a:t> </a:t>
            </a:r>
            <a:r>
              <a:rPr lang="en-US" altLang="ko-KR" sz="1100" b="1" dirty="0" err="1">
                <a:solidFill>
                  <a:srgbClr val="00B050"/>
                </a:solidFill>
              </a:rPr>
              <a:t>hiện</a:t>
            </a:r>
            <a:r>
              <a:rPr lang="en-US" altLang="ko-KR" sz="1100" b="1" dirty="0">
                <a:solidFill>
                  <a:srgbClr val="00B050"/>
                </a:solidFill>
              </a:rPr>
              <a:t> Gage R&amp;R</a:t>
            </a:r>
            <a:endParaRPr lang="ko-KR" altLang="en-US" sz="1100" b="1" dirty="0">
              <a:solidFill>
                <a:srgbClr val="00B050"/>
              </a:solidFill>
            </a:endParaRPr>
          </a:p>
        </p:txBody>
      </p:sp>
      <p:sp>
        <p:nvSpPr>
          <p:cNvPr id="81" name="TextBox 80"/>
          <p:cNvSpPr txBox="1"/>
          <p:nvPr/>
        </p:nvSpPr>
        <p:spPr>
          <a:xfrm>
            <a:off x="2843808" y="4077072"/>
            <a:ext cx="5760640" cy="646331"/>
          </a:xfrm>
          <a:prstGeom prst="rect">
            <a:avLst/>
          </a:prstGeom>
          <a:noFill/>
        </p:spPr>
        <p:txBody>
          <a:bodyPr wrap="square" rtlCol="0">
            <a:spAutoFit/>
          </a:bodyPr>
          <a:lstStyle/>
          <a:p>
            <a:r>
              <a:rPr lang="en-US" altLang="ko-KR" sz="1200" b="1" dirty="0" err="1">
                <a:solidFill>
                  <a:srgbClr val="00B050"/>
                </a:solidFill>
              </a:rPr>
              <a:t>Giả</a:t>
            </a:r>
            <a:r>
              <a:rPr lang="en-US" altLang="ko-KR" sz="1200" b="1" dirty="0">
                <a:solidFill>
                  <a:srgbClr val="00B050"/>
                </a:solidFill>
              </a:rPr>
              <a:t> </a:t>
            </a:r>
            <a:r>
              <a:rPr lang="en-US" altLang="ko-KR" sz="1200" b="1" dirty="0" err="1">
                <a:solidFill>
                  <a:srgbClr val="00B050"/>
                </a:solidFill>
              </a:rPr>
              <a:t>sử</a:t>
            </a:r>
            <a:r>
              <a:rPr lang="en-US" altLang="ko-KR" sz="1200" b="1" dirty="0">
                <a:solidFill>
                  <a:srgbClr val="00B050"/>
                </a:solidFill>
              </a:rPr>
              <a:t> </a:t>
            </a:r>
            <a:r>
              <a:rPr lang="en-US" altLang="ko-KR" sz="1200" b="1" dirty="0" err="1">
                <a:solidFill>
                  <a:srgbClr val="00B050"/>
                </a:solidFill>
              </a:rPr>
              <a:t>đo</a:t>
            </a:r>
            <a:r>
              <a:rPr lang="en-US" altLang="ko-KR" sz="1200" b="1" dirty="0">
                <a:solidFill>
                  <a:srgbClr val="00B050"/>
                </a:solidFill>
              </a:rPr>
              <a:t> </a:t>
            </a:r>
            <a:r>
              <a:rPr lang="en-US" altLang="ko-KR" sz="1200" b="1" dirty="0" err="1">
                <a:solidFill>
                  <a:srgbClr val="00B050"/>
                </a:solidFill>
              </a:rPr>
              <a:t>bán</a:t>
            </a:r>
            <a:r>
              <a:rPr lang="en-US" altLang="ko-KR" sz="1200" b="1" dirty="0">
                <a:solidFill>
                  <a:srgbClr val="00B050"/>
                </a:solidFill>
              </a:rPr>
              <a:t> </a:t>
            </a:r>
            <a:r>
              <a:rPr lang="en-US" altLang="ko-KR" sz="1200" b="1" dirty="0" err="1">
                <a:solidFill>
                  <a:srgbClr val="00B050"/>
                </a:solidFill>
              </a:rPr>
              <a:t>kính</a:t>
            </a:r>
            <a:r>
              <a:rPr lang="en-US" altLang="ko-KR" sz="1200" b="1" dirty="0">
                <a:solidFill>
                  <a:srgbClr val="00B050"/>
                </a:solidFill>
              </a:rPr>
              <a:t> </a:t>
            </a:r>
            <a:r>
              <a:rPr lang="en-US" altLang="ko-KR" sz="1200" b="1" dirty="0" err="1">
                <a:solidFill>
                  <a:srgbClr val="00B050"/>
                </a:solidFill>
              </a:rPr>
              <a:t>ngoài</a:t>
            </a:r>
            <a:r>
              <a:rPr lang="en-US" altLang="ko-KR" sz="1200" b="1" dirty="0">
                <a:solidFill>
                  <a:srgbClr val="00B050"/>
                </a:solidFill>
              </a:rPr>
              <a:t> </a:t>
            </a:r>
            <a:r>
              <a:rPr lang="en-US" altLang="ko-KR" sz="1200" b="1" dirty="0" err="1">
                <a:solidFill>
                  <a:srgbClr val="00B050"/>
                </a:solidFill>
              </a:rPr>
              <a:t>của</a:t>
            </a:r>
            <a:r>
              <a:rPr lang="en-US" altLang="ko-KR" sz="1200" b="1" dirty="0">
                <a:solidFill>
                  <a:srgbClr val="00B050"/>
                </a:solidFill>
              </a:rPr>
              <a:t> </a:t>
            </a:r>
            <a:r>
              <a:rPr lang="en-US" altLang="ko-KR" sz="1200" b="1" dirty="0" err="1">
                <a:solidFill>
                  <a:srgbClr val="00B050"/>
                </a:solidFill>
              </a:rPr>
              <a:t>linh</a:t>
            </a:r>
            <a:r>
              <a:rPr lang="en-US" altLang="ko-KR" sz="1200" b="1" dirty="0">
                <a:solidFill>
                  <a:srgbClr val="00B050"/>
                </a:solidFill>
              </a:rPr>
              <a:t> </a:t>
            </a:r>
            <a:r>
              <a:rPr lang="en-US" altLang="ko-KR" sz="1200" b="1" dirty="0" err="1">
                <a:solidFill>
                  <a:srgbClr val="00B050"/>
                </a:solidFill>
              </a:rPr>
              <a:t>kiện</a:t>
            </a:r>
            <a:r>
              <a:rPr lang="en-US" altLang="ko-KR" sz="1200" b="1" dirty="0">
                <a:solidFill>
                  <a:srgbClr val="00B050"/>
                </a:solidFill>
              </a:rPr>
              <a:t> </a:t>
            </a:r>
            <a:r>
              <a:rPr lang="en-US" altLang="ko-KR" sz="1200" b="1" dirty="0" err="1">
                <a:solidFill>
                  <a:srgbClr val="00B050"/>
                </a:solidFill>
              </a:rPr>
              <a:t>bằng</a:t>
            </a:r>
            <a:r>
              <a:rPr lang="en-US" altLang="ko-KR" sz="1200" b="1" dirty="0">
                <a:solidFill>
                  <a:srgbClr val="00B050"/>
                </a:solidFill>
              </a:rPr>
              <a:t> </a:t>
            </a:r>
            <a:r>
              <a:rPr lang="en-US" altLang="ko-KR" sz="1200" b="1" dirty="0" err="1">
                <a:solidFill>
                  <a:srgbClr val="00B050"/>
                </a:solidFill>
              </a:rPr>
              <a:t>vernier</a:t>
            </a:r>
            <a:r>
              <a:rPr lang="en-US" altLang="ko-KR" sz="1200" b="1" dirty="0">
                <a:solidFill>
                  <a:srgbClr val="00B050"/>
                </a:solidFill>
              </a:rPr>
              <a:t> calipers. </a:t>
            </a:r>
            <a:r>
              <a:rPr lang="en-US" altLang="ko-KR" sz="1200" b="1" dirty="0" err="1">
                <a:solidFill>
                  <a:srgbClr val="00B050"/>
                </a:solidFill>
              </a:rPr>
              <a:t>Để</a:t>
            </a:r>
            <a:r>
              <a:rPr lang="en-US" altLang="ko-KR" sz="1200" b="1" dirty="0">
                <a:solidFill>
                  <a:srgbClr val="00B050"/>
                </a:solidFill>
              </a:rPr>
              <a:t> </a:t>
            </a:r>
            <a:r>
              <a:rPr lang="en-US" altLang="ko-KR" sz="1200" b="1" dirty="0" err="1">
                <a:solidFill>
                  <a:srgbClr val="00B050"/>
                </a:solidFill>
              </a:rPr>
              <a:t>đo</a:t>
            </a:r>
            <a:r>
              <a:rPr lang="en-US" altLang="ko-KR" sz="1200" b="1" dirty="0">
                <a:solidFill>
                  <a:srgbClr val="00B050"/>
                </a:solidFill>
              </a:rPr>
              <a:t> </a:t>
            </a:r>
            <a:r>
              <a:rPr lang="en-US" altLang="ko-KR" sz="1200" b="1" dirty="0" err="1">
                <a:solidFill>
                  <a:srgbClr val="00B050"/>
                </a:solidFill>
              </a:rPr>
              <a:t>độ</a:t>
            </a:r>
            <a:r>
              <a:rPr lang="en-US" altLang="ko-KR" sz="1200" b="1" dirty="0">
                <a:solidFill>
                  <a:srgbClr val="00B050"/>
                </a:solidFill>
              </a:rPr>
              <a:t> </a:t>
            </a:r>
            <a:r>
              <a:rPr lang="en-US" altLang="ko-KR" sz="1200" b="1" dirty="0" err="1">
                <a:solidFill>
                  <a:srgbClr val="00B050"/>
                </a:solidFill>
              </a:rPr>
              <a:t>tỉ</a:t>
            </a:r>
            <a:r>
              <a:rPr lang="en-US" altLang="ko-KR" sz="1200" b="1" dirty="0">
                <a:solidFill>
                  <a:srgbClr val="00B050"/>
                </a:solidFill>
              </a:rPr>
              <a:t> </a:t>
            </a:r>
            <a:r>
              <a:rPr lang="en-US" altLang="ko-KR" sz="1200" b="1" dirty="0" err="1">
                <a:solidFill>
                  <a:srgbClr val="00B050"/>
                </a:solidFill>
              </a:rPr>
              <a:t>mỉ</a:t>
            </a:r>
            <a:r>
              <a:rPr lang="en-US" altLang="ko-KR" sz="1200" b="1" dirty="0">
                <a:solidFill>
                  <a:srgbClr val="00B050"/>
                </a:solidFill>
              </a:rPr>
              <a:t> </a:t>
            </a:r>
            <a:r>
              <a:rPr lang="en-US" altLang="ko-KR" sz="1200" b="1" dirty="0" err="1">
                <a:solidFill>
                  <a:srgbClr val="00B050"/>
                </a:solidFill>
              </a:rPr>
              <a:t>của</a:t>
            </a:r>
            <a:r>
              <a:rPr lang="en-US" altLang="ko-KR" sz="1200" b="1" dirty="0">
                <a:solidFill>
                  <a:srgbClr val="00B050"/>
                </a:solidFill>
              </a:rPr>
              <a:t> </a:t>
            </a:r>
            <a:r>
              <a:rPr lang="en-US" altLang="ko-KR" sz="1200" b="1" dirty="0" err="1">
                <a:solidFill>
                  <a:srgbClr val="00B050"/>
                </a:solidFill>
              </a:rPr>
              <a:t>vernier</a:t>
            </a:r>
            <a:r>
              <a:rPr lang="en-US" altLang="ko-KR" sz="1200" b="1" dirty="0">
                <a:solidFill>
                  <a:srgbClr val="00B050"/>
                </a:solidFill>
              </a:rPr>
              <a:t> calipers </a:t>
            </a:r>
            <a:r>
              <a:rPr lang="en-US" altLang="ko-KR" sz="1200" b="1" dirty="0" err="1">
                <a:solidFill>
                  <a:srgbClr val="00B050"/>
                </a:solidFill>
              </a:rPr>
              <a:t>lựa</a:t>
            </a:r>
            <a:r>
              <a:rPr lang="en-US" altLang="ko-KR" sz="1200" b="1" dirty="0">
                <a:solidFill>
                  <a:srgbClr val="00B050"/>
                </a:solidFill>
              </a:rPr>
              <a:t> </a:t>
            </a:r>
            <a:r>
              <a:rPr lang="en-US" altLang="ko-KR" sz="1200" b="1" dirty="0" err="1">
                <a:solidFill>
                  <a:srgbClr val="00B050"/>
                </a:solidFill>
              </a:rPr>
              <a:t>chọn</a:t>
            </a:r>
            <a:r>
              <a:rPr lang="en-US" altLang="ko-KR" sz="1200" b="1" dirty="0">
                <a:solidFill>
                  <a:srgbClr val="00B050"/>
                </a:solidFill>
              </a:rPr>
              <a:t> sample </a:t>
            </a:r>
            <a:r>
              <a:rPr lang="en-US" altLang="ko-KR" sz="1200" b="1" dirty="0" err="1">
                <a:solidFill>
                  <a:srgbClr val="00B050"/>
                </a:solidFill>
              </a:rPr>
              <a:t>có</a:t>
            </a:r>
            <a:r>
              <a:rPr lang="en-US" altLang="ko-KR" sz="1200" b="1" dirty="0">
                <a:solidFill>
                  <a:srgbClr val="00B050"/>
                </a:solidFill>
              </a:rPr>
              <a:t> </a:t>
            </a:r>
            <a:r>
              <a:rPr lang="en-US" altLang="ko-KR" sz="1200" b="1" dirty="0" err="1">
                <a:solidFill>
                  <a:srgbClr val="00B050"/>
                </a:solidFill>
              </a:rPr>
              <a:t>toàn</a:t>
            </a:r>
            <a:r>
              <a:rPr lang="en-US" altLang="ko-KR" sz="1200" b="1" dirty="0">
                <a:solidFill>
                  <a:srgbClr val="00B050"/>
                </a:solidFill>
              </a:rPr>
              <a:t> </a:t>
            </a:r>
            <a:r>
              <a:rPr lang="en-US" altLang="ko-KR" sz="1200" b="1" dirty="0" err="1">
                <a:solidFill>
                  <a:srgbClr val="00B050"/>
                </a:solidFill>
              </a:rPr>
              <a:t>bộ</a:t>
            </a:r>
            <a:r>
              <a:rPr lang="en-US" altLang="ko-KR" sz="1200" b="1" dirty="0">
                <a:solidFill>
                  <a:srgbClr val="00B050"/>
                </a:solidFill>
              </a:rPr>
              <a:t> </a:t>
            </a:r>
            <a:r>
              <a:rPr lang="en-US" altLang="ko-KR" sz="1200" b="1" dirty="0" err="1">
                <a:solidFill>
                  <a:srgbClr val="00B050"/>
                </a:solidFill>
              </a:rPr>
              <a:t>phạm</a:t>
            </a:r>
            <a:r>
              <a:rPr lang="en-US" altLang="ko-KR" sz="1200" b="1" dirty="0">
                <a:solidFill>
                  <a:srgbClr val="00B050"/>
                </a:solidFill>
              </a:rPr>
              <a:t> vi </a:t>
            </a:r>
            <a:r>
              <a:rPr lang="en-US" altLang="ko-KR" sz="1200" b="1" dirty="0" err="1">
                <a:solidFill>
                  <a:srgbClr val="00B050"/>
                </a:solidFill>
              </a:rPr>
              <a:t>của</a:t>
            </a:r>
            <a:r>
              <a:rPr lang="en-US" altLang="ko-KR" sz="1200" b="1" dirty="0">
                <a:solidFill>
                  <a:srgbClr val="00B050"/>
                </a:solidFill>
              </a:rPr>
              <a:t> </a:t>
            </a:r>
            <a:r>
              <a:rPr lang="en-US" altLang="ko-KR" sz="1200" b="1" dirty="0" err="1">
                <a:solidFill>
                  <a:srgbClr val="00B050"/>
                </a:solidFill>
              </a:rPr>
              <a:t>dụng</a:t>
            </a:r>
            <a:r>
              <a:rPr lang="en-US" altLang="ko-KR" sz="1200" b="1" dirty="0">
                <a:solidFill>
                  <a:srgbClr val="00B050"/>
                </a:solidFill>
              </a:rPr>
              <a:t> </a:t>
            </a:r>
            <a:r>
              <a:rPr lang="en-US" altLang="ko-KR" sz="1200" b="1" dirty="0" err="1">
                <a:solidFill>
                  <a:srgbClr val="00B050"/>
                </a:solidFill>
              </a:rPr>
              <a:t>cụ</a:t>
            </a:r>
            <a:r>
              <a:rPr lang="en-US" altLang="ko-KR" sz="1200" b="1" dirty="0">
                <a:solidFill>
                  <a:srgbClr val="00B050"/>
                </a:solidFill>
              </a:rPr>
              <a:t> </a:t>
            </a:r>
            <a:r>
              <a:rPr lang="en-US" altLang="ko-KR" sz="1200" b="1" dirty="0" err="1">
                <a:solidFill>
                  <a:srgbClr val="00B050"/>
                </a:solidFill>
              </a:rPr>
              <a:t>đo</a:t>
            </a:r>
            <a:r>
              <a:rPr lang="en-US" altLang="ko-KR" sz="1200" b="1" dirty="0">
                <a:solidFill>
                  <a:srgbClr val="00B050"/>
                </a:solidFill>
              </a:rPr>
              <a:t> </a:t>
            </a:r>
            <a:r>
              <a:rPr lang="en-US" altLang="ko-KR" sz="1200" b="1" dirty="0" err="1">
                <a:solidFill>
                  <a:srgbClr val="00B050"/>
                </a:solidFill>
              </a:rPr>
              <a:t>từ</a:t>
            </a:r>
            <a:r>
              <a:rPr lang="en-US" altLang="ko-KR" sz="1200" b="1" dirty="0">
                <a:solidFill>
                  <a:srgbClr val="00B050"/>
                </a:solidFill>
              </a:rPr>
              <a:t> 0 ~300</a:t>
            </a:r>
            <a:endParaRPr lang="ko-KR" altLang="en-US" sz="1200" b="1" dirty="0">
              <a:solidFill>
                <a:srgbClr val="00B050"/>
              </a:solidFill>
            </a:endParaRPr>
          </a:p>
        </p:txBody>
      </p:sp>
      <p:sp>
        <p:nvSpPr>
          <p:cNvPr id="83"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402105411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8"/>
            <a:ext cx="8280889" cy="329321"/>
          </a:xfrm>
          <a:prstGeom prst="rect">
            <a:avLst/>
          </a:prstGeom>
          <a:noFill/>
        </p:spPr>
        <p:txBody>
          <a:bodyPr>
            <a:spAutoFit/>
          </a:bodyPr>
          <a:lstStyle/>
          <a:p>
            <a:pPr fontAlgn="auto" latinLnBrk="0">
              <a:lnSpc>
                <a:spcPct val="110000"/>
              </a:lnSpc>
              <a:spcBef>
                <a:spcPts val="0"/>
              </a:spcBef>
              <a:spcAft>
                <a:spcPts val="0"/>
              </a:spcAft>
              <a:buClr>
                <a:srgbClr val="595959"/>
              </a:buClr>
              <a:buFont typeface="Wingdings" pitchFamily="2" charset="2"/>
              <a:buChar char="u"/>
              <a:defRPr/>
            </a:pP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Biện</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pháp</a:t>
            </a:r>
            <a:r>
              <a:rPr kumimoji="0" lang="en-US" altLang="ko-KR" sz="1400" b="1" kern="0" dirty="0">
                <a:solidFill>
                  <a:srgbClr val="000000"/>
                </a:solidFill>
                <a:latin typeface="맑은 고딕" pitchFamily="50" charset="-127"/>
                <a:ea typeface="맑은 고딕" pitchFamily="50" charset="-127"/>
              </a:rPr>
              <a:t> </a:t>
            </a:r>
            <a:r>
              <a:rPr kumimoji="0" lang="en-US" altLang="ko-KR" sz="1400" b="1" kern="0" dirty="0" err="1">
                <a:solidFill>
                  <a:srgbClr val="000000"/>
                </a:solidFill>
                <a:latin typeface="맑은 고딕" pitchFamily="50" charset="-127"/>
                <a:ea typeface="맑은 고딕" pitchFamily="50" charset="-127"/>
              </a:rPr>
              <a:t>đối</a:t>
            </a:r>
            <a:r>
              <a:rPr kumimoji="0"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ứng</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trong</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trường</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hợp</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không</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hài</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lòng</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về</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tiêu</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chuẩn</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đánh</a:t>
            </a:r>
            <a:r>
              <a:rPr lang="en-US" altLang="ko-KR" sz="1400" b="1" kern="0" dirty="0">
                <a:solidFill>
                  <a:srgbClr val="000000"/>
                </a:solidFill>
                <a:latin typeface="맑은 고딕" pitchFamily="50" charset="-127"/>
                <a:ea typeface="맑은 고딕" pitchFamily="50" charset="-127"/>
              </a:rPr>
              <a:t> </a:t>
            </a:r>
            <a:r>
              <a:rPr lang="en-US" altLang="ko-KR" sz="1400" b="1" kern="0" dirty="0" err="1">
                <a:solidFill>
                  <a:srgbClr val="000000"/>
                </a:solidFill>
                <a:latin typeface="맑은 고딕" pitchFamily="50" charset="-127"/>
                <a:ea typeface="맑은 고딕" pitchFamily="50" charset="-127"/>
              </a:rPr>
              <a:t>giá</a:t>
            </a:r>
            <a:r>
              <a:rPr lang="en-US" altLang="ko-KR" sz="1400" b="1" kern="0" dirty="0">
                <a:solidFill>
                  <a:srgbClr val="000000"/>
                </a:solidFill>
                <a:latin typeface="맑은 고딕" pitchFamily="50" charset="-127"/>
                <a:ea typeface="맑은 고딕" pitchFamily="50" charset="-127"/>
              </a:rPr>
              <a:t> </a:t>
            </a:r>
            <a:r>
              <a:rPr kumimoji="0" lang="en-US" altLang="ko-KR" sz="1400" b="1" kern="0" dirty="0">
                <a:solidFill>
                  <a:srgbClr val="000000"/>
                </a:solidFill>
                <a:latin typeface="맑은 고딕" pitchFamily="50" charset="-127"/>
                <a:ea typeface="맑은 고딕" pitchFamily="50" charset="-127"/>
              </a:rPr>
              <a:t>Gage R&amp;R</a:t>
            </a:r>
            <a:endParaRPr kumimoji="0" lang="ko-KR" altLang="en-US" sz="1400" b="1" kern="0" dirty="0">
              <a:solidFill>
                <a:srgbClr val="000000"/>
              </a:solidFill>
              <a:latin typeface="맑은 고딕" pitchFamily="50" charset="-127"/>
              <a:ea typeface="맑은 고딕" pitchFamily="50" charset="-127"/>
            </a:endParaRPr>
          </a:p>
        </p:txBody>
      </p:sp>
      <p:sp>
        <p:nvSpPr>
          <p:cNvPr id="173060" name="직사각형 4"/>
          <p:cNvSpPr>
            <a:spLocks noChangeArrowheads="1"/>
          </p:cNvSpPr>
          <p:nvPr/>
        </p:nvSpPr>
        <p:spPr bwMode="auto">
          <a:xfrm>
            <a:off x="1143000" y="1196752"/>
            <a:ext cx="7605464" cy="482600"/>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1" name="TextBox 5"/>
          <p:cNvSpPr txBox="1">
            <a:spLocks noChangeArrowheads="1"/>
          </p:cNvSpPr>
          <p:nvPr/>
        </p:nvSpPr>
        <p:spPr bwMode="auto">
          <a:xfrm>
            <a:off x="1340828" y="1374776"/>
            <a:ext cx="5730800"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1. </a:t>
            </a:r>
            <a:r>
              <a:rPr lang="en-US" altLang="ko-KR" sz="1200" b="1" dirty="0" err="1">
                <a:solidFill>
                  <a:srgbClr val="000000"/>
                </a:solidFill>
                <a:latin typeface="맑은 고딕" pitchFamily="50" charset="-127"/>
                <a:ea typeface="맑은 고딕" pitchFamily="50" charset="-127"/>
              </a:rPr>
              <a:t>Kiểm</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tra</a:t>
            </a:r>
            <a:r>
              <a:rPr lang="en-US" altLang="ko-KR" sz="1200" b="1" dirty="0">
                <a:solidFill>
                  <a:srgbClr val="000000"/>
                </a:solidFill>
                <a:latin typeface="맑은 고딕" pitchFamily="50" charset="-127"/>
                <a:ea typeface="맑은 고딕" pitchFamily="50" charset="-127"/>
              </a:rPr>
              <a:t> % R&amp;R </a:t>
            </a:r>
            <a:r>
              <a:rPr lang="en-US" altLang="ko-KR" sz="1200" b="1" dirty="0" err="1">
                <a:solidFill>
                  <a:srgbClr val="000000"/>
                </a:solidFill>
                <a:latin typeface="맑은 고딕" pitchFamily="50" charset="-127"/>
                <a:ea typeface="맑은 고딕" pitchFamily="50" charset="-127"/>
              </a:rPr>
              <a:t>để</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nắm</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bắt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vấn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đề</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nằm</a:t>
            </a:r>
            <a:r>
              <a:rPr lang="en-US" altLang="ko-KR" sz="1200" b="1" dirty="0">
                <a:solidFill>
                  <a:srgbClr val="000000"/>
                </a:solidFill>
                <a:latin typeface="맑은 고딕" pitchFamily="50" charset="-127"/>
                <a:ea typeface="맑은 고딕" pitchFamily="50" charset="-127"/>
              </a:rPr>
              <a:t> ở </a:t>
            </a:r>
            <a:r>
              <a:rPr lang="en-US" altLang="ko-KR" sz="1200" b="1" dirty="0" err="1">
                <a:solidFill>
                  <a:srgbClr val="000000"/>
                </a:solidFill>
                <a:latin typeface="맑은 고딕" pitchFamily="50" charset="-127"/>
                <a:ea typeface="맑은 고딕" pitchFamily="50" charset="-127"/>
              </a:rPr>
              <a:t>độ</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lặp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lại</a:t>
            </a:r>
            <a:r>
              <a:rPr lang="en-US" altLang="ko-KR" sz="1200" b="1" dirty="0">
                <a:solidFill>
                  <a:srgbClr val="000000"/>
                </a:solidFill>
                <a:latin typeface="맑은 고딕" pitchFamily="50" charset="-127"/>
                <a:ea typeface="맑은 고딕" pitchFamily="50" charset="-127"/>
              </a:rPr>
              <a:t> hay </a:t>
            </a:r>
            <a:r>
              <a:rPr lang="en-US" altLang="ko-KR" sz="1200" b="1" dirty="0" err="1">
                <a:solidFill>
                  <a:srgbClr val="000000"/>
                </a:solidFill>
                <a:latin typeface="맑은 고딕" pitchFamily="50" charset="-127"/>
                <a:ea typeface="맑은 고딕" pitchFamily="50" charset="-127"/>
              </a:rPr>
              <a:t>độ</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tái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hiện</a:t>
            </a:r>
            <a:endParaRPr lang="ko-KR" altLang="en-US" sz="1200" b="1" dirty="0">
              <a:solidFill>
                <a:srgbClr val="000000"/>
              </a:solidFill>
              <a:latin typeface="맑은 고딕" pitchFamily="50" charset="-127"/>
              <a:ea typeface="맑은 고딕" pitchFamily="50" charset="-127"/>
            </a:endParaRPr>
          </a:p>
        </p:txBody>
      </p:sp>
      <p:sp>
        <p:nvSpPr>
          <p:cNvPr id="173062" name="직사각형 6"/>
          <p:cNvSpPr>
            <a:spLocks noChangeArrowheads="1"/>
          </p:cNvSpPr>
          <p:nvPr/>
        </p:nvSpPr>
        <p:spPr bwMode="auto">
          <a:xfrm>
            <a:off x="1143000" y="1772816"/>
            <a:ext cx="7605464" cy="936104"/>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3" name="TextBox 7"/>
          <p:cNvSpPr txBox="1">
            <a:spLocks noChangeArrowheads="1"/>
          </p:cNvSpPr>
          <p:nvPr/>
        </p:nvSpPr>
        <p:spPr bwMode="auto">
          <a:xfrm>
            <a:off x="1331640" y="1772816"/>
            <a:ext cx="7632848" cy="923330"/>
          </a:xfrm>
          <a:prstGeom prst="rect">
            <a:avLst/>
          </a:prstGeom>
          <a:noFill/>
          <a:ln w="9525">
            <a:noFill/>
            <a:miter lim="800000"/>
            <a:headEnd/>
            <a:tailEnd/>
          </a:ln>
        </p:spPr>
        <p:txBody>
          <a:bodyPr wrap="square">
            <a:spAutoFit/>
          </a:bodyPr>
          <a:lstStyle/>
          <a:p>
            <a:pPr>
              <a:lnSpc>
                <a:spcPct val="150000"/>
              </a:lnSpc>
            </a:pPr>
            <a:r>
              <a:rPr lang="en-US" altLang="ko-KR" sz="1200" b="1" dirty="0">
                <a:solidFill>
                  <a:srgbClr val="000000"/>
                </a:solidFill>
                <a:latin typeface="맑은 고딕" pitchFamily="50" charset="-127"/>
                <a:ea typeface="맑은 고딕" pitchFamily="50" charset="-127"/>
              </a:rPr>
              <a:t>2. </a:t>
            </a:r>
            <a:r>
              <a:rPr lang="en-US" altLang="ko-KR" sz="1200" b="1" dirty="0" err="1">
                <a:solidFill>
                  <a:srgbClr val="000000"/>
                </a:solidFill>
                <a:latin typeface="맑은 고딕" pitchFamily="50" charset="-127"/>
                <a:ea typeface="맑은 고딕" pitchFamily="50" charset="-127"/>
              </a:rPr>
              <a:t>Trường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hợp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vấn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đề</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là</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tái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hiện</a:t>
            </a:r>
            <a:endParaRPr lang="ko-KR" altLang="en-US" sz="1200" b="1"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hóa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phương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kiểm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tính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trình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kiểm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mức</a:t>
            </a:r>
            <a:endParaRPr lang="en-US" altLang="ko-KR" sz="1200"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huấn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luyện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thực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đào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tạo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đầy</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endParaRPr lang="en-US" altLang="ko-KR" sz="1200" dirty="0">
              <a:solidFill>
                <a:srgbClr val="000000"/>
              </a:solidFill>
              <a:latin typeface="맑은 고딕" pitchFamily="50" charset="-127"/>
              <a:ea typeface="맑은 고딕" pitchFamily="50" charset="-127"/>
            </a:endParaRPr>
          </a:p>
        </p:txBody>
      </p:sp>
      <p:sp>
        <p:nvSpPr>
          <p:cNvPr id="173064" name="직사각형 8"/>
          <p:cNvSpPr>
            <a:spLocks noChangeArrowheads="1"/>
          </p:cNvSpPr>
          <p:nvPr/>
        </p:nvSpPr>
        <p:spPr bwMode="auto">
          <a:xfrm>
            <a:off x="1143000" y="2803525"/>
            <a:ext cx="7605464" cy="1385888"/>
          </a:xfrm>
          <a:prstGeom prst="rect">
            <a:avLst/>
          </a:prstGeom>
          <a:noFill/>
          <a:ln w="12700" algn="ctr">
            <a:solidFill>
              <a:schemeClr val="tx1"/>
            </a:solidFill>
            <a:round/>
            <a:headEnd/>
            <a:tailEnd/>
          </a:ln>
        </p:spPr>
        <p:txBody>
          <a:bodyPr/>
          <a:lstStyle/>
          <a:p>
            <a:pPr algn="ctr"/>
            <a:r>
              <a:rPr lang="en-US" altLang="ko-KR" sz="1200" dirty="0">
                <a:solidFill>
                  <a:srgbClr val="000000"/>
                </a:solidFill>
                <a:latin typeface="Arial" pitchFamily="34" charset="0"/>
              </a:rPr>
              <a:t>                          </a:t>
            </a:r>
            <a:endParaRPr lang="ko-KR" altLang="en-US" sz="1200" dirty="0">
              <a:solidFill>
                <a:srgbClr val="000000"/>
              </a:solidFill>
              <a:latin typeface="Arial" pitchFamily="34" charset="0"/>
            </a:endParaRPr>
          </a:p>
        </p:txBody>
      </p:sp>
      <p:sp>
        <p:nvSpPr>
          <p:cNvPr id="173065" name="TextBox 9"/>
          <p:cNvSpPr txBox="1">
            <a:spLocks noChangeArrowheads="1"/>
          </p:cNvSpPr>
          <p:nvPr/>
        </p:nvSpPr>
        <p:spPr bwMode="auto">
          <a:xfrm>
            <a:off x="1259632" y="2754314"/>
            <a:ext cx="7579319" cy="1754326"/>
          </a:xfrm>
          <a:prstGeom prst="rect">
            <a:avLst/>
          </a:prstGeom>
          <a:noFill/>
          <a:ln w="9525">
            <a:noFill/>
            <a:miter lim="800000"/>
            <a:headEnd/>
            <a:tailEnd/>
          </a:ln>
        </p:spPr>
        <p:txBody>
          <a:bodyPr wrap="none">
            <a:spAutoFit/>
          </a:bodyPr>
          <a:lstStyle/>
          <a:p>
            <a:pPr>
              <a:lnSpc>
                <a:spcPct val="150000"/>
              </a:lnSpc>
            </a:pPr>
            <a:r>
              <a:rPr lang="en-US" altLang="ko-KR" sz="1200" b="1" dirty="0">
                <a:solidFill>
                  <a:srgbClr val="000000"/>
                </a:solidFill>
                <a:latin typeface="맑은 고딕" pitchFamily="50" charset="-127"/>
                <a:ea typeface="맑은 고딕" pitchFamily="50" charset="-127"/>
              </a:rPr>
              <a:t>3. </a:t>
            </a:r>
            <a:r>
              <a:rPr lang="en-US" altLang="ko-KR" sz="1200" b="1" dirty="0" err="1">
                <a:solidFill>
                  <a:srgbClr val="000000"/>
                </a:solidFill>
                <a:latin typeface="맑은 고딕" pitchFamily="50" charset="-127"/>
                <a:ea typeface="맑은 고딕" pitchFamily="50" charset="-127"/>
              </a:rPr>
              <a:t>Trường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hợp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vấn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đề</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là</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lặp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lại</a:t>
            </a:r>
            <a:endParaRPr lang="ko-KR" altLang="en-US" sz="1200" b="1"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 </a:t>
            </a:r>
            <a:r>
              <a:rPr lang="en-US" altLang="ko-KR" sz="1200" dirty="0" err="1">
                <a:solidFill>
                  <a:srgbClr val="000000"/>
                </a:solidFill>
                <a:latin typeface="맑은 고딕" pitchFamily="50" charset="-127"/>
                <a:ea typeface="맑은 고딕" pitchFamily="50" charset="-127"/>
              </a:rPr>
              <a:t>Kiểm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xem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hay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version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thích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hay</a:t>
            </a:r>
          </a:p>
          <a:p>
            <a:pPr>
              <a:lnSpc>
                <a:spcPct val="150000"/>
              </a:lnSpc>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phương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cố</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định</a:t>
            </a:r>
            <a:r>
              <a:rPr lang="en-US" altLang="ko-KR" sz="1200" dirty="0">
                <a:solidFill>
                  <a:srgbClr val="000000"/>
                </a:solidFill>
                <a:latin typeface="맑은 고딕" pitchFamily="50" charset="-127"/>
                <a:ea typeface="맑은 고딕" pitchFamily="50" charset="-127"/>
              </a:rPr>
              <a:t> hay </a:t>
            </a:r>
            <a:r>
              <a:rPr lang="en-US" altLang="ko-KR" sz="1200" dirty="0" err="1">
                <a:solidFill>
                  <a:srgbClr val="000000"/>
                </a:solidFill>
                <a:latin typeface="맑은 고딕" pitchFamily="50" charset="-127"/>
                <a:ea typeface="맑은 고딕" pitchFamily="50" charset="-127"/>
              </a:rPr>
              <a:t>vị</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trí</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vấn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đề</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gì</a:t>
            </a:r>
            <a:r>
              <a:rPr lang="en-US" altLang="ko-KR" sz="1200" dirty="0">
                <a:solidFill>
                  <a:srgbClr val="000000"/>
                </a:solidFill>
                <a:latin typeface="맑은 고딕" pitchFamily="50" charset="-127"/>
                <a:ea typeface="맑은 고딕" pitchFamily="50" charset="-127"/>
              </a:rPr>
              <a:t> hay </a:t>
            </a:r>
            <a:r>
              <a:rPr lang="en-US" altLang="ko-KR" sz="1200" dirty="0" err="1">
                <a:solidFill>
                  <a:srgbClr val="000000"/>
                </a:solidFill>
                <a:latin typeface="맑은 고딕" pitchFamily="50" charset="-127"/>
                <a:ea typeface="맑은 고딕" pitchFamily="50" charset="-127"/>
              </a:rPr>
              <a:t>không</a:t>
            </a:r>
            <a:endParaRPr lang="en-US" altLang="ko-KR" sz="1200"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 </a:t>
            </a:r>
            <a:r>
              <a:rPr lang="en-US" altLang="ko-KR" sz="1200" dirty="0" err="1">
                <a:solidFill>
                  <a:srgbClr val="000000"/>
                </a:solidFill>
                <a:latin typeface="맑은 고딕" pitchFamily="50" charset="-127"/>
                <a:ea typeface="맑은 고딕" pitchFamily="50" charset="-127"/>
              </a:rPr>
              <a:t>Khi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cần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thiết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thực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chỉnh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đảm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bảo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chính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xác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thay</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đổi</a:t>
            </a:r>
            <a:r>
              <a:rPr lang="en-US" altLang="ko-KR" sz="1200" dirty="0">
                <a:solidFill>
                  <a:srgbClr val="000000"/>
                </a:solidFill>
                <a:latin typeface="맑은 고딕" pitchFamily="50" charset="-127"/>
                <a:ea typeface="맑은 고딕" pitchFamily="50" charset="-127"/>
              </a:rPr>
              <a:t> sang </a:t>
            </a:r>
            <a:r>
              <a:rPr lang="en-US" altLang="ko-KR" sz="1200" dirty="0" err="1">
                <a:solidFill>
                  <a:srgbClr val="000000"/>
                </a:solidFill>
                <a:latin typeface="맑은 고딕" pitchFamily="50" charset="-127"/>
                <a:ea typeface="맑은 고딕" pitchFamily="50" charset="-127"/>
              </a:rPr>
              <a:t>dụng</a:t>
            </a:r>
            <a:endParaRPr lang="en-US" altLang="ko-KR" sz="1200"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đầy</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giải</a:t>
            </a:r>
            <a:r>
              <a:rPr lang="en-US" altLang="ko-KR" sz="1200" dirty="0">
                <a:solidFill>
                  <a:srgbClr val="000000"/>
                </a:solidFill>
                <a:latin typeface="맑은 고딕" pitchFamily="50" charset="-127"/>
                <a:ea typeface="맑은 고딕" pitchFamily="50" charset="-127"/>
              </a:rPr>
              <a:t> (10%)</a:t>
            </a:r>
          </a:p>
          <a:p>
            <a:pPr>
              <a:lnSpc>
                <a:spcPct val="150000"/>
              </a:lnSpc>
            </a:pPr>
            <a:r>
              <a:rPr lang="en-US" altLang="ko-KR" sz="1200" dirty="0">
                <a:solidFill>
                  <a:srgbClr val="000000"/>
                </a:solidFill>
                <a:latin typeface="맑은 고딕" pitchFamily="50" charset="-127"/>
                <a:ea typeface="맑은 고딕" pitchFamily="50" charset="-127"/>
              </a:rPr>
              <a:t>     </a:t>
            </a:r>
          </a:p>
        </p:txBody>
      </p:sp>
      <p:sp>
        <p:nvSpPr>
          <p:cNvPr id="173066" name="직사각형 10"/>
          <p:cNvSpPr>
            <a:spLocks noChangeArrowheads="1"/>
          </p:cNvSpPr>
          <p:nvPr/>
        </p:nvSpPr>
        <p:spPr bwMode="auto">
          <a:xfrm>
            <a:off x="1143000" y="4253657"/>
            <a:ext cx="7605464" cy="471487"/>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7" name="TextBox 11"/>
          <p:cNvSpPr txBox="1">
            <a:spLocks noChangeArrowheads="1"/>
          </p:cNvSpPr>
          <p:nvPr/>
        </p:nvSpPr>
        <p:spPr bwMode="auto">
          <a:xfrm>
            <a:off x="1259632" y="4365104"/>
            <a:ext cx="7656263" cy="269304"/>
          </a:xfrm>
          <a:prstGeom prst="rect">
            <a:avLst/>
          </a:prstGeom>
          <a:noFill/>
          <a:ln w="9525">
            <a:noFill/>
            <a:miter lim="800000"/>
            <a:headEnd/>
            <a:tailEnd/>
          </a:ln>
        </p:spPr>
        <p:txBody>
          <a:bodyPr wrap="none">
            <a:spAutoFit/>
          </a:bodyPr>
          <a:lstStyle/>
          <a:p>
            <a:r>
              <a:rPr lang="en-US" altLang="ko-KR" sz="1150" b="1" dirty="0">
                <a:solidFill>
                  <a:srgbClr val="000000"/>
                </a:solidFill>
                <a:latin typeface="맑은 고딕" pitchFamily="50" charset="-127"/>
                <a:ea typeface="맑은 고딕" pitchFamily="50" charset="-127"/>
              </a:rPr>
              <a:t>4. </a:t>
            </a:r>
            <a:r>
              <a:rPr lang="en-US" altLang="ko-KR" sz="1150" b="1" dirty="0" err="1">
                <a:solidFill>
                  <a:srgbClr val="000000"/>
                </a:solidFill>
                <a:latin typeface="맑은 고딕" pitchFamily="50" charset="-127"/>
                <a:ea typeface="맑은 고딕" pitchFamily="50" charset="-127"/>
              </a:rPr>
              <a:t>Sau</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khi</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thực</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hiện</a:t>
            </a:r>
            <a:r>
              <a:rPr lang="en-US" altLang="ko-KR" sz="1150" b="1" dirty="0">
                <a:solidFill>
                  <a:srgbClr val="000000"/>
                </a:solidFill>
                <a:latin typeface="맑은 고딕" pitchFamily="50" charset="-127"/>
                <a:ea typeface="맑은 고딕" pitchFamily="50" charset="-127"/>
              </a:rPr>
              <a:t> 2~3</a:t>
            </a:r>
            <a:r>
              <a:rPr lang="ko-KR" altLang="en-US"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hạng</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mục</a:t>
            </a:r>
            <a:r>
              <a:rPr lang="en-US" altLang="ko-KR" sz="1150" b="1" dirty="0">
                <a:solidFill>
                  <a:srgbClr val="000000"/>
                </a:solidFill>
                <a:latin typeface="맑은 고딕" pitchFamily="50" charset="-127"/>
                <a:ea typeface="맑은 고딕" pitchFamily="50" charset="-127"/>
              </a:rPr>
              <a:t>,</a:t>
            </a:r>
            <a:r>
              <a:rPr lang="ko-KR" altLang="en-US"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tái</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thực</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hiệnGage</a:t>
            </a:r>
            <a:r>
              <a:rPr lang="en-US" altLang="ko-KR" sz="1150" b="1" dirty="0">
                <a:solidFill>
                  <a:srgbClr val="000000"/>
                </a:solidFill>
                <a:latin typeface="맑은 고딕" pitchFamily="50" charset="-127"/>
                <a:ea typeface="맑은 고딕" pitchFamily="50" charset="-127"/>
              </a:rPr>
              <a:t> R&amp;R , </a:t>
            </a:r>
            <a:r>
              <a:rPr lang="en-US" altLang="ko-KR" sz="1150" b="1" dirty="0" err="1">
                <a:solidFill>
                  <a:srgbClr val="000000"/>
                </a:solidFill>
                <a:latin typeface="맑은 고딕" pitchFamily="50" charset="-127"/>
                <a:ea typeface="맑은 고딕" pitchFamily="50" charset="-127"/>
              </a:rPr>
              <a:t>được</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áp</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dụng</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trong</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trường</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hợp</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dưới</a:t>
            </a:r>
            <a:r>
              <a:rPr lang="en-US" altLang="ko-KR" sz="1150" b="1" dirty="0">
                <a:solidFill>
                  <a:srgbClr val="000000"/>
                </a:solidFill>
                <a:latin typeface="맑은 고딕" pitchFamily="50" charset="-127"/>
                <a:ea typeface="맑은 고딕" pitchFamily="50" charset="-127"/>
              </a:rPr>
              <a:t> 10%</a:t>
            </a:r>
          </a:p>
        </p:txBody>
      </p:sp>
      <p:sp>
        <p:nvSpPr>
          <p:cNvPr id="173068" name="직사각형 12"/>
          <p:cNvSpPr>
            <a:spLocks noChangeArrowheads="1"/>
          </p:cNvSpPr>
          <p:nvPr/>
        </p:nvSpPr>
        <p:spPr bwMode="auto">
          <a:xfrm>
            <a:off x="1143000" y="4869160"/>
            <a:ext cx="7605464" cy="1728192"/>
          </a:xfrm>
          <a:prstGeom prst="rect">
            <a:avLst/>
          </a:prstGeom>
          <a:noFill/>
          <a:ln w="12700" algn="ctr">
            <a:solidFill>
              <a:schemeClr val="tx1"/>
            </a:solidFill>
            <a:round/>
            <a:headEnd/>
            <a:tailEnd/>
          </a:ln>
        </p:spPr>
        <p:txBody>
          <a:bodyPr/>
          <a:lstStyle/>
          <a:p>
            <a:pPr algn="ctr"/>
            <a:endParaRPr lang="ko-KR" altLang="en-US" sz="1200" dirty="0">
              <a:solidFill>
                <a:srgbClr val="000000"/>
              </a:solidFill>
              <a:latin typeface="Arial" pitchFamily="34" charset="0"/>
            </a:endParaRPr>
          </a:p>
        </p:txBody>
      </p:sp>
      <p:sp>
        <p:nvSpPr>
          <p:cNvPr id="173069" name="TextBox 13"/>
          <p:cNvSpPr txBox="1">
            <a:spLocks noChangeArrowheads="1"/>
          </p:cNvSpPr>
          <p:nvPr/>
        </p:nvSpPr>
        <p:spPr bwMode="auto">
          <a:xfrm>
            <a:off x="1259632" y="4826001"/>
            <a:ext cx="7563289" cy="1754326"/>
          </a:xfrm>
          <a:prstGeom prst="rect">
            <a:avLst/>
          </a:prstGeom>
          <a:noFill/>
          <a:ln w="9525">
            <a:noFill/>
            <a:miter lim="800000"/>
            <a:headEnd/>
            <a:tailEnd/>
          </a:ln>
        </p:spPr>
        <p:txBody>
          <a:bodyPr wrap="none">
            <a:spAutoFit/>
          </a:bodyPr>
          <a:lstStyle/>
          <a:p>
            <a:pPr>
              <a:lnSpc>
                <a:spcPct val="150000"/>
              </a:lnSpc>
            </a:pPr>
            <a:r>
              <a:rPr lang="en-US" altLang="ko-KR" sz="1200" b="1" dirty="0">
                <a:solidFill>
                  <a:srgbClr val="000000"/>
                </a:solidFill>
                <a:latin typeface="맑은 고딕" pitchFamily="50" charset="-127"/>
                <a:ea typeface="맑은 고딕" pitchFamily="50" charset="-127"/>
              </a:rPr>
              <a:t>5. </a:t>
            </a:r>
            <a:r>
              <a:rPr lang="en-US" altLang="ko-KR" sz="1200" b="1" dirty="0" err="1">
                <a:solidFill>
                  <a:srgbClr val="000000"/>
                </a:solidFill>
                <a:latin typeface="맑은 고딕" pitchFamily="50" charset="-127"/>
                <a:ea typeface="맑은 고딕" pitchFamily="50" charset="-127"/>
              </a:rPr>
              <a:t>Trường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hợp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tái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thực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hiện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vẫn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tiếp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tục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phát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sinh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trên</a:t>
            </a:r>
            <a:r>
              <a:rPr lang="en-US" altLang="ko-KR" sz="1200" b="1" dirty="0">
                <a:solidFill>
                  <a:srgbClr val="000000"/>
                </a:solidFill>
                <a:latin typeface="맑은 고딕" pitchFamily="50" charset="-127"/>
                <a:ea typeface="맑은 고딕" pitchFamily="50" charset="-127"/>
              </a:rPr>
              <a:t> 10% </a:t>
            </a:r>
            <a:r>
              <a:rPr lang="en-US" altLang="ko-KR" sz="1200" b="1" dirty="0" err="1">
                <a:solidFill>
                  <a:srgbClr val="000000"/>
                </a:solidFill>
                <a:latin typeface="맑은 고딕" pitchFamily="50" charset="-127"/>
                <a:ea typeface="맑은 고딕" pitchFamily="50" charset="-127"/>
              </a:rPr>
              <a:t>giá</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trị</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khác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thường</a:t>
            </a:r>
            <a:endParaRPr lang="en-US" altLang="ko-KR" sz="1200" b="1"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 </a:t>
            </a:r>
            <a:r>
              <a:rPr lang="en-US" altLang="ko-KR" sz="1200" dirty="0" err="1">
                <a:solidFill>
                  <a:srgbClr val="000000"/>
                </a:solidFill>
                <a:latin typeface="맑은 고딕" pitchFamily="50" charset="-127"/>
                <a:ea typeface="맑은 고딕" pitchFamily="50" charset="-127"/>
              </a:rPr>
              <a:t>Trường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vấn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đề</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về</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a:t>
            </a:r>
            <a:r>
              <a:rPr lang="en-US" altLang="ko-KR" sz="1200" dirty="0" err="1">
                <a:solidFill>
                  <a:srgbClr val="000000"/>
                </a:solidFill>
                <a:latin typeface="맑은 고딕" pitchFamily="50" charset="-127"/>
                <a:ea typeface="맑은 고딕" pitchFamily="50" charset="-127"/>
              </a:rPr>
              <a:t>phương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pháp</a:t>
            </a:r>
            <a:r>
              <a:rPr lang="en-US" altLang="ko-KR" sz="1200" dirty="0">
                <a:solidFill>
                  <a:srgbClr val="000000"/>
                </a:solidFill>
                <a:latin typeface="맑은 고딕" pitchFamily="50" charset="-127"/>
                <a:ea typeface="맑은 고딕" pitchFamily="50" charset="-127"/>
              </a:rPr>
              <a:t>/</a:t>
            </a:r>
            <a:r>
              <a:rPr lang="en-US" altLang="ko-KR" sz="1200" dirty="0" err="1">
                <a:solidFill>
                  <a:srgbClr val="000000"/>
                </a:solidFill>
                <a:latin typeface="맑은 고딕" pitchFamily="50" charset="-127"/>
                <a:ea typeface="맑은 고딕" pitchFamily="50" charset="-127"/>
              </a:rPr>
              <a:t>trình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tự</a:t>
            </a:r>
            <a:r>
              <a:rPr lang="en-US" altLang="ko-KR" sz="1200" dirty="0">
                <a:solidFill>
                  <a:srgbClr val="000000"/>
                </a:solidFill>
                <a:latin typeface="맑은 고딕" pitchFamily="50" charset="-127"/>
                <a:ea typeface="맑은 고딕" pitchFamily="50" charset="-127"/>
              </a:rPr>
              <a:t>)/</a:t>
            </a:r>
            <a:r>
              <a:rPr lang="en-US" altLang="ko-KR" sz="1200" dirty="0" err="1">
                <a:solidFill>
                  <a:srgbClr val="000000"/>
                </a:solidFill>
                <a:latin typeface="맑은 고딕" pitchFamily="50" charset="-127"/>
                <a:ea typeface="맑은 고딕" pitchFamily="50" charset="-127"/>
              </a:rPr>
              <a:t>sai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sót</a:t>
            </a:r>
            <a:endParaRPr lang="en-US" altLang="ko-KR" sz="1200"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lựa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chọn</a:t>
            </a:r>
            <a:r>
              <a:rPr lang="en-US" altLang="ko-KR" sz="1200" dirty="0">
                <a:solidFill>
                  <a:srgbClr val="000000"/>
                </a:solidFill>
                <a:latin typeface="맑은 고딕" pitchFamily="50" charset="-127"/>
                <a:ea typeface="맑은 고딕" pitchFamily="50" charset="-127"/>
              </a:rPr>
              <a:t> sample.</a:t>
            </a:r>
          </a:p>
          <a:p>
            <a:pPr>
              <a:lnSpc>
                <a:spcPct val="150000"/>
              </a:lnSpc>
            </a:pPr>
            <a:r>
              <a:rPr lang="en-US" altLang="ko-KR" sz="1200" dirty="0">
                <a:solidFill>
                  <a:srgbClr val="000000"/>
                </a:solidFill>
                <a:latin typeface="맑은 고딕" pitchFamily="50" charset="-127"/>
                <a:ea typeface="맑은 고딕" pitchFamily="50" charset="-127"/>
              </a:rPr>
              <a:t>   - </a:t>
            </a:r>
            <a:r>
              <a:rPr lang="en-US" altLang="ko-KR" sz="1200" dirty="0" err="1">
                <a:solidFill>
                  <a:srgbClr val="000000"/>
                </a:solidFill>
                <a:latin typeface="맑은 고딕" pitchFamily="50" charset="-127"/>
                <a:ea typeface="맑은 고딕" pitchFamily="50" charset="-127"/>
              </a:rPr>
              <a:t>Nếu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khả</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năng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vấn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đề</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cao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thì</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mua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áp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mới</a:t>
            </a:r>
            <a:endParaRPr lang="en-US" altLang="ko-KR" sz="1200"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 </a:t>
            </a:r>
            <a:r>
              <a:rPr lang="en-US" altLang="ko-KR" sz="1200" dirty="0" err="1">
                <a:solidFill>
                  <a:srgbClr val="000000"/>
                </a:solidFill>
                <a:latin typeface="맑은 고딕" pitchFamily="50" charset="-127"/>
                <a:ea typeface="맑은 고딕" pitchFamily="50" charset="-127"/>
              </a:rPr>
              <a:t>Nhưng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trường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khả</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năng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thêm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về</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thuật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dụng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cụ</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tại</a:t>
            </a:r>
            <a:r>
              <a:rPr lang="en-US" altLang="ko-KR" sz="1200" dirty="0">
                <a:solidFill>
                  <a:srgbClr val="000000"/>
                </a:solidFill>
                <a:latin typeface="맑은 고딕" pitchFamily="50" charset="-127"/>
                <a:ea typeface="맑은 고딕" pitchFamily="50" charset="-127"/>
              </a:rPr>
              <a:t> (chi </a:t>
            </a:r>
            <a:r>
              <a:rPr lang="en-US" altLang="ko-KR" sz="1200" dirty="0" err="1">
                <a:solidFill>
                  <a:srgbClr val="000000"/>
                </a:solidFill>
                <a:latin typeface="맑은 고딕" pitchFamily="50" charset="-127"/>
                <a:ea typeface="맑은 고딕" pitchFamily="50" charset="-127"/>
              </a:rPr>
              <a:t>phí</a:t>
            </a:r>
            <a:endParaRPr lang="en-US" altLang="ko-KR" sz="1200" dirty="0">
              <a:solidFill>
                <a:srgbClr val="000000"/>
              </a:solidFill>
              <a:latin typeface="맑은 고딕" pitchFamily="50" charset="-127"/>
              <a:ea typeface="맑은 고딕" pitchFamily="50" charset="-127"/>
            </a:endParaRPr>
          </a:p>
          <a:p>
            <a:pPr>
              <a:lnSpc>
                <a:spcPct val="150000"/>
              </a:lnSpc>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đầu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tư</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cao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gian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mua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kéo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dài</a:t>
            </a:r>
            <a:r>
              <a:rPr lang="en-US" altLang="ko-KR" sz="1200" dirty="0">
                <a:solidFill>
                  <a:srgbClr val="000000"/>
                </a:solidFill>
                <a:latin typeface="맑은 고딕" pitchFamily="50" charset="-127"/>
                <a:ea typeface="맑은 고딕" pitchFamily="50" charset="-127"/>
              </a:rPr>
              <a:t>)</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giới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hạn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điều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kiện</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Accept (10%~30%).</a:t>
            </a:r>
            <a:endParaRPr lang="ko-KR" altLang="en-US" sz="1200" dirty="0">
              <a:solidFill>
                <a:srgbClr val="000000"/>
              </a:solidFill>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39</a:t>
            </a:fld>
            <a:endParaRPr lang="ko-KR" altLang="en-US" dirty="0"/>
          </a:p>
        </p:txBody>
      </p:sp>
      <p:sp>
        <p:nvSpPr>
          <p:cNvPr id="15" name="제목 8"/>
          <p:cNvSpPr txBox="1">
            <a:spLocks/>
          </p:cNvSpPr>
          <p:nvPr/>
        </p:nvSpPr>
        <p:spPr bwMode="auto">
          <a:xfrm>
            <a:off x="180243" y="188913"/>
            <a:ext cx="273557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R&amp;R</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6330661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9"/>
            <a:ext cx="8280889" cy="307777"/>
          </a:xfrm>
          <a:prstGeom prst="rect">
            <a:avLst/>
          </a:prstGeom>
          <a:noFill/>
        </p:spPr>
        <p:txBody>
          <a:bodyPr>
            <a:spAutoFit/>
          </a:bodyPr>
          <a:lstStyle/>
          <a:p>
            <a:pPr latinLnBrk="0">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Continuous Data Gage R&amp;R (Crossed) Case</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21" name="Rectangle 5"/>
          <p:cNvSpPr>
            <a:spLocks noChangeArrowheads="1"/>
          </p:cNvSpPr>
          <p:nvPr/>
        </p:nvSpPr>
        <p:spPr bwMode="auto">
          <a:xfrm>
            <a:off x="755576" y="1214439"/>
            <a:ext cx="8031266" cy="2000247"/>
          </a:xfrm>
          <a:prstGeom prst="rect">
            <a:avLst/>
          </a:prstGeom>
          <a:solidFill>
            <a:srgbClr val="FFFFFF"/>
          </a:solidFill>
          <a:ln w="9525" algn="ctr">
            <a:solidFill>
              <a:schemeClr val="bg1">
                <a:lumMod val="65000"/>
              </a:schemeClr>
            </a:solidFill>
            <a:miter lim="800000"/>
            <a:headEnd/>
            <a:tailEnd/>
          </a:ln>
        </p:spPr>
        <p:txBody>
          <a:bodyPr wrap="none"/>
          <a:lstStyle/>
          <a:p>
            <a:pPr>
              <a:lnSpc>
                <a:spcPct val="120000"/>
              </a:lnSpc>
              <a:defRPr/>
            </a:pPr>
            <a:r>
              <a:rPr lang="en-US" altLang="ko-KR" sz="1200" b="1" dirty="0">
                <a:solidFill>
                  <a:srgbClr val="000000"/>
                </a:solidFill>
                <a:latin typeface="맑은 고딕" pitchFamily="50" charset="-127"/>
                <a:ea typeface="맑은 고딕" pitchFamily="50" charset="-127"/>
              </a:rPr>
              <a:t>The following data were collected for Gage R &amp; R verification for project Y of the project target.</a:t>
            </a:r>
            <a:endParaRPr lang="en-US" altLang="ko-KR" sz="1200" dirty="0">
              <a:solidFill>
                <a:srgbClr val="000000"/>
              </a:solidFill>
              <a:latin typeface="맑은 고딕" pitchFamily="50" charset="-127"/>
              <a:ea typeface="맑은 고딕" pitchFamily="50" charset="-127"/>
            </a:endParaRPr>
          </a:p>
          <a:p>
            <a:pPr>
              <a:buFontTx/>
              <a:buChar char="-"/>
              <a:defRPr/>
            </a:pPr>
            <a:r>
              <a:rPr lang="en-US" altLang="ko-KR" sz="1200" dirty="0">
                <a:solidFill>
                  <a:srgbClr val="000000"/>
                </a:solidFill>
                <a:latin typeface="맑은 고딕" pitchFamily="50" charset="-127"/>
                <a:ea typeface="맑은 고딕" pitchFamily="50" charset="-127"/>
              </a:rPr>
              <a:t>Parts : </a:t>
            </a:r>
            <a:r>
              <a:rPr lang="en-US" altLang="ko-KR" sz="1200" b="1" dirty="0">
                <a:solidFill>
                  <a:srgbClr val="FF0000"/>
                </a:solidFill>
                <a:latin typeface="맑은 고딕" pitchFamily="50" charset="-127"/>
                <a:ea typeface="맑은 고딕" pitchFamily="50" charset="-127"/>
              </a:rPr>
              <a:t>The standard limit (16.5 ± 0.8 mm) is divided into 10 equally spaced parts </a:t>
            </a:r>
            <a:r>
              <a:rPr lang="en-US" altLang="ko-KR" sz="1200" dirty="0">
                <a:latin typeface="맑은 고딕" pitchFamily="50" charset="-127"/>
                <a:ea typeface="맑은 고딕" pitchFamily="50" charset="-127"/>
              </a:rPr>
              <a:t>and one part is extracted</a:t>
            </a:r>
          </a:p>
          <a:p>
            <a:pPr>
              <a:defRPr/>
            </a:pPr>
            <a:r>
              <a:rPr lang="en-US" altLang="ko-KR" sz="1200" dirty="0">
                <a:latin typeface="맑은 고딕" pitchFamily="50" charset="-127"/>
                <a:ea typeface="맑은 고딕" pitchFamily="50" charset="-127"/>
              </a:rPr>
              <a:t>          from each section.</a:t>
            </a:r>
            <a:endParaRPr lang="ko-KR" altLang="en-US" sz="1200" dirty="0">
              <a:latin typeface="맑은 고딕" pitchFamily="50" charset="-127"/>
              <a:ea typeface="맑은 고딕" pitchFamily="50" charset="-127"/>
            </a:endParaRPr>
          </a:p>
          <a:p>
            <a:pPr>
              <a:buFontTx/>
              <a:buChar char="-"/>
              <a:defRPr/>
            </a:pPr>
            <a:r>
              <a:rPr lang="en-US" altLang="ko-KR" sz="1200" dirty="0">
                <a:solidFill>
                  <a:srgbClr val="000000"/>
                </a:solidFill>
                <a:latin typeface="맑은 고딕" pitchFamily="50" charset="-127"/>
                <a:ea typeface="맑은 고딕" pitchFamily="50" charset="-127"/>
              </a:rPr>
              <a:t>Operators : </a:t>
            </a:r>
            <a:r>
              <a:rPr lang="en-US" altLang="ko-KR" sz="1200" b="1" dirty="0">
                <a:solidFill>
                  <a:srgbClr val="FF0000"/>
                </a:solidFill>
                <a:latin typeface="맑은 고딕" pitchFamily="50" charset="-127"/>
                <a:ea typeface="맑은 고딕" pitchFamily="50" charset="-127"/>
              </a:rPr>
              <a:t>Three people are selected randomly</a:t>
            </a:r>
            <a:r>
              <a:rPr lang="en-US" altLang="ko-KR" sz="1200" dirty="0">
                <a:solidFill>
                  <a:srgbClr val="000000"/>
                </a:solidFill>
                <a:latin typeface="맑은 고딕" pitchFamily="50" charset="-127"/>
                <a:ea typeface="맑은 고딕" pitchFamily="50" charset="-127"/>
              </a:rPr>
              <a:t> regardless of proficiency among the evaluators who make </a:t>
            </a:r>
          </a:p>
          <a:p>
            <a:pPr>
              <a:defRPr/>
            </a:pPr>
            <a:r>
              <a:rPr lang="en-US" altLang="ko-KR" sz="1200" dirty="0">
                <a:solidFill>
                  <a:srgbClr val="000000"/>
                </a:solidFill>
                <a:latin typeface="맑은 고딕" pitchFamily="50" charset="-127"/>
                <a:ea typeface="맑은 고딕" pitchFamily="50" charset="-127"/>
              </a:rPr>
              <a:t>                 measurements in the current process</a:t>
            </a:r>
            <a:endParaRPr lang="ko-KR" altLang="en-US" sz="1200" dirty="0">
              <a:solidFill>
                <a:srgbClr val="FF0000"/>
              </a:solidFill>
              <a:latin typeface="맑은 고딕" pitchFamily="50" charset="-127"/>
              <a:ea typeface="맑은 고딕" pitchFamily="50" charset="-127"/>
            </a:endParaRPr>
          </a:p>
          <a:p>
            <a:pPr>
              <a:defRPr/>
            </a:pPr>
            <a:r>
              <a:rPr lang="en-US" altLang="ko-KR" sz="1200" dirty="0">
                <a:solidFill>
                  <a:srgbClr val="000000"/>
                </a:solidFill>
                <a:latin typeface="맑은 고딕" pitchFamily="50" charset="-127"/>
                <a:ea typeface="맑은 고딕" pitchFamily="50" charset="-127"/>
              </a:rPr>
              <a:t>- Data Collection  </a:t>
            </a:r>
          </a:p>
          <a:p>
            <a:pPr>
              <a:defRPr/>
            </a:pPr>
            <a:r>
              <a:rPr lang="en-US" altLang="ko-KR" sz="1200" dirty="0">
                <a:solidFill>
                  <a:srgbClr val="000000"/>
                </a:solidFill>
                <a:latin typeface="맑은 고딕" pitchFamily="50" charset="-127"/>
                <a:ea typeface="맑은 고딕" pitchFamily="50" charset="-127"/>
              </a:rPr>
              <a:t>   : </a:t>
            </a:r>
            <a:r>
              <a:rPr lang="en-US" sz="1200" dirty="0"/>
              <a:t>The order of the evaluator and the order of the parts to be measured are determined at random, and repeat</a:t>
            </a:r>
          </a:p>
          <a:p>
            <a:pPr>
              <a:defRPr/>
            </a:pPr>
            <a:r>
              <a:rPr lang="en-US" sz="1200" dirty="0"/>
              <a:t>    measurement by Blind Test, Evaluators measure as much as possible using standard methods. However, please</a:t>
            </a:r>
          </a:p>
          <a:p>
            <a:pPr>
              <a:defRPr/>
            </a:pPr>
            <a:r>
              <a:rPr lang="en-US" sz="1200" dirty="0"/>
              <a:t>    be careful not to adjust Gage during measurement.</a:t>
            </a:r>
          </a:p>
          <a:p>
            <a:pPr>
              <a:lnSpc>
                <a:spcPct val="120000"/>
              </a:lnSpc>
              <a:defRPr/>
            </a:pPr>
            <a:r>
              <a:rPr lang="en-US" altLang="ko-KR" sz="1200" dirty="0">
                <a:solidFill>
                  <a:srgbClr val="000000"/>
                </a:solidFill>
                <a:latin typeface="맑은 고딕" pitchFamily="50" charset="-127"/>
                <a:ea typeface="맑은 고딕" pitchFamily="50" charset="-127"/>
              </a:rPr>
              <a:t>- Process Information : Dispersion(Standard deviation) of the current production process Historical Sigma=0.35(mm)</a:t>
            </a: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40</a:t>
            </a:fld>
            <a:endParaRPr lang="ko-KR" altLang="en-US" dirty="0"/>
          </a:p>
        </p:txBody>
      </p:sp>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284984"/>
            <a:ext cx="4176464" cy="3132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5292080" y="3735616"/>
            <a:ext cx="3333092" cy="307777"/>
          </a:xfrm>
          <a:prstGeom prst="rect">
            <a:avLst/>
          </a:prstGeom>
          <a:noFill/>
        </p:spPr>
        <p:txBody>
          <a:bodyPr wrap="none" rtlCol="0">
            <a:spAutoFit/>
          </a:bodyPr>
          <a:lstStyle/>
          <a:p>
            <a:r>
              <a:rPr lang="en-US" altLang="ko-KR" sz="1400" dirty="0"/>
              <a:t>1.  Do not have a normal distribution?</a:t>
            </a:r>
            <a:endParaRPr lang="ko-KR" altLang="en-US" sz="1400" dirty="0"/>
          </a:p>
        </p:txBody>
      </p:sp>
      <p:sp>
        <p:nvSpPr>
          <p:cNvPr id="32" name="TextBox 31"/>
          <p:cNvSpPr txBox="1"/>
          <p:nvPr/>
        </p:nvSpPr>
        <p:spPr>
          <a:xfrm>
            <a:off x="5148064" y="3284984"/>
            <a:ext cx="954107" cy="307777"/>
          </a:xfrm>
          <a:prstGeom prst="rect">
            <a:avLst/>
          </a:prstGeom>
          <a:noFill/>
        </p:spPr>
        <p:txBody>
          <a:bodyPr wrap="none" rtlCol="0">
            <a:spAutoFit/>
          </a:bodyPr>
          <a:lstStyle/>
          <a:p>
            <a:r>
              <a:rPr lang="en-US" altLang="ko-KR" sz="1400" b="1" dirty="0"/>
              <a:t>Question</a:t>
            </a:r>
            <a:endParaRPr lang="ko-KR" altLang="en-US" sz="1400" b="1" dirty="0"/>
          </a:p>
        </p:txBody>
      </p:sp>
      <p:sp>
        <p:nvSpPr>
          <p:cNvPr id="33" name="TextBox 32"/>
          <p:cNvSpPr txBox="1"/>
          <p:nvPr/>
        </p:nvSpPr>
        <p:spPr>
          <a:xfrm>
            <a:off x="5292080" y="4312841"/>
            <a:ext cx="3168352" cy="523220"/>
          </a:xfrm>
          <a:prstGeom prst="rect">
            <a:avLst/>
          </a:prstGeom>
          <a:noFill/>
        </p:spPr>
        <p:txBody>
          <a:bodyPr wrap="square" rtlCol="0">
            <a:spAutoFit/>
          </a:bodyPr>
          <a:lstStyle/>
          <a:p>
            <a:pPr marL="342900" indent="-342900">
              <a:buAutoNum type="arabicPeriod" startAt="2"/>
            </a:pPr>
            <a:r>
              <a:rPr lang="en-US" sz="1400" dirty="0"/>
              <a:t>Is it sampled in sufficient range to represent SPEC?</a:t>
            </a:r>
            <a:endParaRPr lang="ko-KR" altLang="en-US" sz="1400" dirty="0"/>
          </a:p>
        </p:txBody>
      </p:sp>
      <p:sp>
        <p:nvSpPr>
          <p:cNvPr id="34" name="TextBox 33"/>
          <p:cNvSpPr txBox="1"/>
          <p:nvPr/>
        </p:nvSpPr>
        <p:spPr>
          <a:xfrm>
            <a:off x="5292080" y="5103768"/>
            <a:ext cx="3168352" cy="307777"/>
          </a:xfrm>
          <a:prstGeom prst="rect">
            <a:avLst/>
          </a:prstGeom>
          <a:noFill/>
        </p:spPr>
        <p:txBody>
          <a:bodyPr wrap="square" rtlCol="0">
            <a:spAutoFit/>
          </a:bodyPr>
          <a:lstStyle/>
          <a:p>
            <a:r>
              <a:rPr lang="en-US" altLang="ko-KR" sz="1400" dirty="0"/>
              <a:t>3.  What do we expect?</a:t>
            </a:r>
            <a:endParaRPr lang="ko-KR" altLang="en-US" sz="1400" dirty="0"/>
          </a:p>
        </p:txBody>
      </p:sp>
      <p:sp>
        <p:nvSpPr>
          <p:cNvPr id="6" name="TextBox 5"/>
          <p:cNvSpPr txBox="1"/>
          <p:nvPr/>
        </p:nvSpPr>
        <p:spPr>
          <a:xfrm>
            <a:off x="5652120" y="5463808"/>
            <a:ext cx="3479927" cy="646331"/>
          </a:xfrm>
          <a:prstGeom prst="rect">
            <a:avLst/>
          </a:prstGeom>
          <a:noFill/>
        </p:spPr>
        <p:txBody>
          <a:bodyPr wrap="none" rtlCol="0">
            <a:spAutoFit/>
          </a:bodyPr>
          <a:lstStyle/>
          <a:p>
            <a:pPr marL="171450" indent="-171450">
              <a:buFontTx/>
              <a:buChar char="-"/>
            </a:pPr>
            <a:r>
              <a:rPr lang="en-US" altLang="ko-KR" sz="1200" dirty="0"/>
              <a:t>Dispersion between products</a:t>
            </a:r>
          </a:p>
          <a:p>
            <a:pPr marL="171450" indent="-171450">
              <a:buFontTx/>
              <a:buChar char="-"/>
            </a:pPr>
            <a:r>
              <a:rPr lang="en-US" altLang="ko-KR" sz="1200" dirty="0"/>
              <a:t>Dispersion between measurers</a:t>
            </a:r>
          </a:p>
          <a:p>
            <a:pPr marL="171450" indent="-171450">
              <a:buFontTx/>
              <a:buChar char="-"/>
            </a:pPr>
            <a:r>
              <a:rPr lang="en-US" altLang="ko-KR" sz="1200" dirty="0"/>
              <a:t>Dispersion between repeated measurements</a:t>
            </a:r>
            <a:endParaRPr lang="ko-KR" altLang="en-US" sz="1200" dirty="0"/>
          </a:p>
        </p:txBody>
      </p:sp>
      <p:sp>
        <p:nvSpPr>
          <p:cNvPr id="12" name="제목 8"/>
          <p:cNvSpPr txBox="1">
            <a:spLocks/>
          </p:cNvSpPr>
          <p:nvPr/>
        </p:nvSpPr>
        <p:spPr bwMode="auto">
          <a:xfrm>
            <a:off x="180243" y="188913"/>
            <a:ext cx="5820517"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a:t>
            </a:r>
            <a:r>
              <a:rPr lang="en-US" altLang="ko-KR" sz="2000" b="1" kern="0" dirty="0">
                <a:solidFill>
                  <a:sysClr val="windowText" lastClr="000000">
                    <a:lumMod val="75000"/>
                    <a:lumOff val="25000"/>
                  </a:sysClr>
                </a:solidFill>
                <a:latin typeface="맑은 고딕" pitchFamily="50" charset="-127"/>
                <a:ea typeface="맑은 고딕" pitchFamily="50" charset="-127"/>
              </a:rPr>
              <a:t>Precision</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Gage R&amp;R Case</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28151045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243290" y="188640"/>
            <a:ext cx="4785669" cy="400110"/>
          </a:xfrm>
          <a:prstGeom prst="rect">
            <a:avLst/>
          </a:prstGeom>
          <a:noFill/>
        </p:spPr>
        <p:txBody>
          <a:bodyPr wrap="none" rtlCol="0">
            <a:spAutoFit/>
          </a:bodyPr>
          <a:lstStyle/>
          <a:p>
            <a:r>
              <a:rPr lang="en-US" sz="2000" b="1" dirty="0"/>
              <a:t>Measuring system analysis procedure</a:t>
            </a:r>
            <a:endParaRPr lang="ko-KR" altLang="en-US" sz="2000" b="1" dirty="0"/>
          </a:p>
        </p:txBody>
      </p:sp>
      <p:sp>
        <p:nvSpPr>
          <p:cNvPr id="6" name="모서리가 둥근 직사각형 5"/>
          <p:cNvSpPr/>
          <p:nvPr/>
        </p:nvSpPr>
        <p:spPr>
          <a:xfrm>
            <a:off x="3095836" y="1052736"/>
            <a:ext cx="2952328" cy="288032"/>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Measurement system analysis</a:t>
            </a:r>
            <a:endParaRPr lang="ko-KR" altLang="en-US" sz="1200" dirty="0">
              <a:solidFill>
                <a:schemeClr val="tx1"/>
              </a:solidFill>
            </a:endParaRPr>
          </a:p>
        </p:txBody>
      </p:sp>
      <p:sp>
        <p:nvSpPr>
          <p:cNvPr id="7" name="순서도: 판단 6"/>
          <p:cNvSpPr/>
          <p:nvPr/>
        </p:nvSpPr>
        <p:spPr>
          <a:xfrm>
            <a:off x="3571868" y="1700808"/>
            <a:ext cx="1864228" cy="432048"/>
          </a:xfrm>
          <a:prstGeom prst="flowChartDecision">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Resolution Satisfied?</a:t>
            </a:r>
            <a:endParaRPr lang="ko-KR" altLang="en-US" sz="1200" dirty="0">
              <a:solidFill>
                <a:schemeClr val="tx1"/>
              </a:solidFill>
            </a:endParaRPr>
          </a:p>
        </p:txBody>
      </p:sp>
      <p:sp>
        <p:nvSpPr>
          <p:cNvPr id="8" name="직사각형 7"/>
          <p:cNvSpPr/>
          <p:nvPr/>
        </p:nvSpPr>
        <p:spPr>
          <a:xfrm>
            <a:off x="6372200" y="1700808"/>
            <a:ext cx="1872208"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Use better resolution instrument</a:t>
            </a:r>
            <a:endParaRPr lang="ko-KR" altLang="en-US" sz="1200" dirty="0">
              <a:solidFill>
                <a:schemeClr val="tx1"/>
              </a:solidFill>
            </a:endParaRPr>
          </a:p>
        </p:txBody>
      </p:sp>
      <p:sp>
        <p:nvSpPr>
          <p:cNvPr id="9" name="직사각형 8"/>
          <p:cNvSpPr/>
          <p:nvPr/>
        </p:nvSpPr>
        <p:spPr>
          <a:xfrm>
            <a:off x="3527884" y="2420888"/>
            <a:ext cx="2088232"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Conduct Type 1 Study</a:t>
            </a:r>
            <a:endParaRPr lang="ko-KR" altLang="en-US" sz="1200" dirty="0">
              <a:solidFill>
                <a:schemeClr val="tx1"/>
              </a:solidFill>
            </a:endParaRPr>
          </a:p>
        </p:txBody>
      </p:sp>
      <p:sp>
        <p:nvSpPr>
          <p:cNvPr id="10" name="순서도: 판단 9"/>
          <p:cNvSpPr/>
          <p:nvPr/>
        </p:nvSpPr>
        <p:spPr>
          <a:xfrm>
            <a:off x="3707904" y="3140968"/>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Type1 </a:t>
            </a:r>
          </a:p>
          <a:p>
            <a:pPr algn="ctr"/>
            <a:r>
              <a:rPr lang="en-US" altLang="ko-KR" sz="1200" dirty="0">
                <a:solidFill>
                  <a:schemeClr val="tx1"/>
                </a:solidFill>
              </a:rPr>
              <a:t>OK ?</a:t>
            </a:r>
            <a:endParaRPr lang="ko-KR" altLang="en-US" sz="1200" dirty="0">
              <a:solidFill>
                <a:schemeClr val="tx1"/>
              </a:solidFill>
            </a:endParaRPr>
          </a:p>
        </p:txBody>
      </p:sp>
      <p:sp>
        <p:nvSpPr>
          <p:cNvPr id="11" name="순서도: 판단 10"/>
          <p:cNvSpPr/>
          <p:nvPr/>
        </p:nvSpPr>
        <p:spPr>
          <a:xfrm>
            <a:off x="6357950" y="3140968"/>
            <a:ext cx="1814450"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Improving</a:t>
            </a:r>
            <a:endParaRPr lang="ko-KR" altLang="en-US" sz="1200" dirty="0">
              <a:solidFill>
                <a:schemeClr val="tx1"/>
              </a:solidFill>
            </a:endParaRPr>
          </a:p>
        </p:txBody>
      </p:sp>
      <p:sp>
        <p:nvSpPr>
          <p:cNvPr id="12" name="순서도: 판단 11"/>
          <p:cNvSpPr/>
          <p:nvPr/>
        </p:nvSpPr>
        <p:spPr>
          <a:xfrm>
            <a:off x="3707904" y="3789040"/>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Worker influence?</a:t>
            </a:r>
            <a:endParaRPr lang="ko-KR" altLang="en-US" sz="1200" dirty="0">
              <a:solidFill>
                <a:schemeClr val="tx1"/>
              </a:solidFill>
            </a:endParaRPr>
          </a:p>
        </p:txBody>
      </p:sp>
      <p:sp>
        <p:nvSpPr>
          <p:cNvPr id="13" name="순서도: 판단 12"/>
          <p:cNvSpPr/>
          <p:nvPr/>
        </p:nvSpPr>
        <p:spPr>
          <a:xfrm>
            <a:off x="2228015" y="5517232"/>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Type2</a:t>
            </a:r>
          </a:p>
          <a:p>
            <a:pPr algn="ctr"/>
            <a:r>
              <a:rPr lang="en-US" altLang="ko-KR" sz="1200" dirty="0">
                <a:solidFill>
                  <a:schemeClr val="tx1"/>
                </a:solidFill>
              </a:rPr>
              <a:t>OK ?</a:t>
            </a:r>
            <a:endParaRPr lang="ko-KR" altLang="en-US" sz="1200" dirty="0">
              <a:solidFill>
                <a:schemeClr val="tx1"/>
              </a:solidFill>
            </a:endParaRPr>
          </a:p>
        </p:txBody>
      </p:sp>
      <p:sp>
        <p:nvSpPr>
          <p:cNvPr id="14" name="순서도: 판단 13"/>
          <p:cNvSpPr/>
          <p:nvPr/>
        </p:nvSpPr>
        <p:spPr>
          <a:xfrm>
            <a:off x="5187792" y="5085184"/>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 3</a:t>
            </a:r>
          </a:p>
          <a:p>
            <a:pPr algn="ctr"/>
            <a:r>
              <a:rPr lang="en-US" altLang="ko-KR" sz="1200" dirty="0">
                <a:solidFill>
                  <a:schemeClr val="tx1"/>
                </a:solidFill>
              </a:rPr>
              <a:t>OK ?</a:t>
            </a:r>
            <a:endParaRPr lang="ko-KR" altLang="en-US" sz="1200" dirty="0">
              <a:solidFill>
                <a:schemeClr val="tx1"/>
              </a:solidFill>
            </a:endParaRPr>
          </a:p>
        </p:txBody>
      </p:sp>
      <p:sp>
        <p:nvSpPr>
          <p:cNvPr id="15" name="직사각형 14"/>
          <p:cNvSpPr/>
          <p:nvPr/>
        </p:nvSpPr>
        <p:spPr>
          <a:xfrm>
            <a:off x="5148064" y="4437112"/>
            <a:ext cx="1807649"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Conduct Type 3 Study </a:t>
            </a:r>
            <a:endParaRPr lang="ko-KR" altLang="en-US" sz="1200" dirty="0">
              <a:solidFill>
                <a:schemeClr val="tx1"/>
              </a:solidFill>
            </a:endParaRPr>
          </a:p>
        </p:txBody>
      </p:sp>
      <p:sp>
        <p:nvSpPr>
          <p:cNvPr id="16" name="직사각형 15"/>
          <p:cNvSpPr/>
          <p:nvPr/>
        </p:nvSpPr>
        <p:spPr>
          <a:xfrm>
            <a:off x="2188287" y="4437112"/>
            <a:ext cx="1807649"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Conduct Type 2 Study </a:t>
            </a:r>
            <a:endParaRPr lang="ko-KR" altLang="en-US" sz="1200" dirty="0">
              <a:solidFill>
                <a:schemeClr val="tx1"/>
              </a:solidFill>
            </a:endParaRPr>
          </a:p>
        </p:txBody>
      </p:sp>
      <p:cxnSp>
        <p:nvCxnSpPr>
          <p:cNvPr id="18" name="직선 화살표 연결선 17"/>
          <p:cNvCxnSpPr>
            <a:stCxn id="6" idx="2"/>
            <a:endCxn id="7" idx="0"/>
          </p:cNvCxnSpPr>
          <p:nvPr/>
        </p:nvCxnSpPr>
        <p:spPr>
          <a:xfrm rot="5400000">
            <a:off x="4357971" y="1486779"/>
            <a:ext cx="360040" cy="6801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a:stCxn id="7" idx="2"/>
            <a:endCxn id="9" idx="0"/>
          </p:cNvCxnSpPr>
          <p:nvPr/>
        </p:nvCxnSpPr>
        <p:spPr>
          <a:xfrm rot="16200000" flipH="1">
            <a:off x="4393975" y="2242863"/>
            <a:ext cx="288032" cy="6801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a:stCxn id="9" idx="2"/>
            <a:endCxn id="10" idx="0"/>
          </p:cNvCxnSpPr>
          <p:nvPr/>
        </p:nvCxnSpPr>
        <p:spPr>
          <a:xfrm>
            <a:off x="4572000" y="2852936"/>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직선 화살표 연결선 23"/>
          <p:cNvCxnSpPr>
            <a:stCxn id="10" idx="2"/>
            <a:endCxn id="12" idx="0"/>
          </p:cNvCxnSpPr>
          <p:nvPr/>
        </p:nvCxnSpPr>
        <p:spPr>
          <a:xfrm>
            <a:off x="4572000" y="3573016"/>
            <a:ext cx="0" cy="21602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6" name="직선 화살표 연결선 25"/>
          <p:cNvCxnSpPr>
            <a:stCxn id="10" idx="3"/>
            <a:endCxn id="11" idx="1"/>
          </p:cNvCxnSpPr>
          <p:nvPr/>
        </p:nvCxnSpPr>
        <p:spPr>
          <a:xfrm>
            <a:off x="5436096" y="3356992"/>
            <a:ext cx="921854" cy="15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직선 화살표 연결선 27"/>
          <p:cNvCxnSpPr>
            <a:stCxn id="7" idx="3"/>
            <a:endCxn id="8" idx="1"/>
          </p:cNvCxnSpPr>
          <p:nvPr/>
        </p:nvCxnSpPr>
        <p:spPr>
          <a:xfrm>
            <a:off x="5436096" y="1916832"/>
            <a:ext cx="936104" cy="15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타원 28"/>
          <p:cNvSpPr/>
          <p:nvPr/>
        </p:nvSpPr>
        <p:spPr>
          <a:xfrm>
            <a:off x="4250460" y="1436659"/>
            <a:ext cx="288032" cy="144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31" name="꺾인 연결선 30"/>
          <p:cNvCxnSpPr>
            <a:stCxn id="8" idx="0"/>
            <a:endCxn id="29" idx="6"/>
          </p:cNvCxnSpPr>
          <p:nvPr/>
        </p:nvCxnSpPr>
        <p:spPr>
          <a:xfrm rot="16200000" flipV="1">
            <a:off x="5827328" y="219832"/>
            <a:ext cx="192141" cy="276981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타원 31"/>
          <p:cNvSpPr/>
          <p:nvPr/>
        </p:nvSpPr>
        <p:spPr>
          <a:xfrm>
            <a:off x="4250460" y="2924943"/>
            <a:ext cx="288032" cy="144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33" name="꺾인 연결선 32"/>
          <p:cNvCxnSpPr>
            <a:stCxn id="11" idx="0"/>
            <a:endCxn id="32" idx="6"/>
          </p:cNvCxnSpPr>
          <p:nvPr/>
        </p:nvCxnSpPr>
        <p:spPr>
          <a:xfrm rot="16200000" flipV="1">
            <a:off x="5829826" y="1705618"/>
            <a:ext cx="144017" cy="2726683"/>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12" idx="1"/>
            <a:endCxn id="16" idx="0"/>
          </p:cNvCxnSpPr>
          <p:nvPr/>
        </p:nvCxnSpPr>
        <p:spPr>
          <a:xfrm rot="10800000" flipV="1">
            <a:off x="3092112" y="4005064"/>
            <a:ext cx="615792" cy="432048"/>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12" idx="3"/>
            <a:endCxn id="15" idx="0"/>
          </p:cNvCxnSpPr>
          <p:nvPr/>
        </p:nvCxnSpPr>
        <p:spPr>
          <a:xfrm>
            <a:off x="5436096" y="4005064"/>
            <a:ext cx="615793" cy="432048"/>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직선 화살표 연결선 39"/>
          <p:cNvCxnSpPr>
            <a:stCxn id="16" idx="2"/>
            <a:endCxn id="13" idx="0"/>
          </p:cNvCxnSpPr>
          <p:nvPr/>
        </p:nvCxnSpPr>
        <p:spPr>
          <a:xfrm flipH="1">
            <a:off x="3092111" y="4869160"/>
            <a:ext cx="1" cy="64807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직선 화살표 연결선 41"/>
          <p:cNvCxnSpPr>
            <a:endCxn id="14" idx="0"/>
          </p:cNvCxnSpPr>
          <p:nvPr/>
        </p:nvCxnSpPr>
        <p:spPr>
          <a:xfrm flipH="1">
            <a:off x="6051888" y="4869160"/>
            <a:ext cx="2" cy="21602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14" idx="3"/>
            <a:endCxn id="11" idx="2"/>
          </p:cNvCxnSpPr>
          <p:nvPr/>
        </p:nvCxnSpPr>
        <p:spPr>
          <a:xfrm flipV="1">
            <a:off x="6915984" y="3573016"/>
            <a:ext cx="349191" cy="172819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5599362" y="1590633"/>
            <a:ext cx="455574" cy="369332"/>
          </a:xfrm>
          <a:prstGeom prst="rect">
            <a:avLst/>
          </a:prstGeom>
          <a:noFill/>
        </p:spPr>
        <p:txBody>
          <a:bodyPr wrap="none" rtlCol="0">
            <a:spAutoFit/>
          </a:bodyPr>
          <a:lstStyle/>
          <a:p>
            <a:r>
              <a:rPr lang="en-US" altLang="ko-KR" dirty="0"/>
              <a:t>no</a:t>
            </a:r>
            <a:endParaRPr lang="ko-KR" altLang="en-US" dirty="0"/>
          </a:p>
        </p:txBody>
      </p:sp>
      <p:sp>
        <p:nvSpPr>
          <p:cNvPr id="46" name="TextBox 45"/>
          <p:cNvSpPr txBox="1"/>
          <p:nvPr/>
        </p:nvSpPr>
        <p:spPr>
          <a:xfrm>
            <a:off x="4572000" y="2051556"/>
            <a:ext cx="520079" cy="369332"/>
          </a:xfrm>
          <a:prstGeom prst="rect">
            <a:avLst/>
          </a:prstGeom>
          <a:noFill/>
        </p:spPr>
        <p:txBody>
          <a:bodyPr wrap="none" rtlCol="0">
            <a:spAutoFit/>
          </a:bodyPr>
          <a:lstStyle/>
          <a:p>
            <a:r>
              <a:rPr lang="en-US" altLang="ko-KR" dirty="0"/>
              <a:t>yes</a:t>
            </a:r>
            <a:endParaRPr lang="ko-KR" altLang="en-US" dirty="0"/>
          </a:p>
        </p:txBody>
      </p:sp>
      <p:sp>
        <p:nvSpPr>
          <p:cNvPr id="47" name="TextBox 46"/>
          <p:cNvSpPr txBox="1"/>
          <p:nvPr/>
        </p:nvSpPr>
        <p:spPr>
          <a:xfrm>
            <a:off x="5599362" y="3041293"/>
            <a:ext cx="455574" cy="369332"/>
          </a:xfrm>
          <a:prstGeom prst="rect">
            <a:avLst/>
          </a:prstGeom>
          <a:noFill/>
        </p:spPr>
        <p:txBody>
          <a:bodyPr wrap="none" rtlCol="0">
            <a:spAutoFit/>
          </a:bodyPr>
          <a:lstStyle/>
          <a:p>
            <a:r>
              <a:rPr lang="en-US" altLang="ko-KR" dirty="0"/>
              <a:t>no</a:t>
            </a:r>
            <a:endParaRPr lang="ko-KR" altLang="en-US" dirty="0"/>
          </a:p>
        </p:txBody>
      </p:sp>
      <p:sp>
        <p:nvSpPr>
          <p:cNvPr id="48" name="TextBox 47"/>
          <p:cNvSpPr txBox="1"/>
          <p:nvPr/>
        </p:nvSpPr>
        <p:spPr>
          <a:xfrm>
            <a:off x="4625008" y="3474504"/>
            <a:ext cx="520079" cy="369332"/>
          </a:xfrm>
          <a:prstGeom prst="rect">
            <a:avLst/>
          </a:prstGeom>
          <a:noFill/>
        </p:spPr>
        <p:txBody>
          <a:bodyPr wrap="none" rtlCol="0">
            <a:spAutoFit/>
          </a:bodyPr>
          <a:lstStyle/>
          <a:p>
            <a:r>
              <a:rPr lang="en-US" altLang="ko-KR" dirty="0"/>
              <a:t>yes</a:t>
            </a:r>
            <a:endParaRPr lang="ko-KR" altLang="en-US" dirty="0"/>
          </a:p>
        </p:txBody>
      </p:sp>
      <p:sp>
        <p:nvSpPr>
          <p:cNvPr id="49" name="TextBox 48"/>
          <p:cNvSpPr txBox="1"/>
          <p:nvPr/>
        </p:nvSpPr>
        <p:spPr>
          <a:xfrm>
            <a:off x="3059832" y="3645024"/>
            <a:ext cx="520079" cy="369332"/>
          </a:xfrm>
          <a:prstGeom prst="rect">
            <a:avLst/>
          </a:prstGeom>
          <a:noFill/>
        </p:spPr>
        <p:txBody>
          <a:bodyPr wrap="none" rtlCol="0">
            <a:spAutoFit/>
          </a:bodyPr>
          <a:lstStyle/>
          <a:p>
            <a:r>
              <a:rPr lang="en-US" altLang="ko-KR" dirty="0"/>
              <a:t>yes</a:t>
            </a:r>
            <a:endParaRPr lang="ko-KR" altLang="en-US" dirty="0"/>
          </a:p>
        </p:txBody>
      </p:sp>
      <p:sp>
        <p:nvSpPr>
          <p:cNvPr id="50" name="TextBox 49"/>
          <p:cNvSpPr txBox="1"/>
          <p:nvPr/>
        </p:nvSpPr>
        <p:spPr>
          <a:xfrm>
            <a:off x="5599362" y="3645024"/>
            <a:ext cx="455574" cy="369332"/>
          </a:xfrm>
          <a:prstGeom prst="rect">
            <a:avLst/>
          </a:prstGeom>
          <a:noFill/>
        </p:spPr>
        <p:txBody>
          <a:bodyPr wrap="none" rtlCol="0">
            <a:spAutoFit/>
          </a:bodyPr>
          <a:lstStyle/>
          <a:p>
            <a:r>
              <a:rPr lang="en-US" altLang="ko-KR" dirty="0"/>
              <a:t>no</a:t>
            </a:r>
            <a:endParaRPr lang="ko-KR" altLang="en-US" dirty="0"/>
          </a:p>
        </p:txBody>
      </p:sp>
      <p:cxnSp>
        <p:nvCxnSpPr>
          <p:cNvPr id="52" name="꺾인 연결선 51"/>
          <p:cNvCxnSpPr>
            <a:stCxn id="13" idx="3"/>
            <a:endCxn id="11" idx="2"/>
          </p:cNvCxnSpPr>
          <p:nvPr/>
        </p:nvCxnSpPr>
        <p:spPr>
          <a:xfrm flipV="1">
            <a:off x="3956207" y="3573016"/>
            <a:ext cx="3308968" cy="2160240"/>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5" name="타원 54"/>
          <p:cNvSpPr/>
          <p:nvPr/>
        </p:nvSpPr>
        <p:spPr>
          <a:xfrm>
            <a:off x="4427984" y="6021288"/>
            <a:ext cx="288032" cy="28803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57" name="꺾인 연결선 56"/>
          <p:cNvCxnSpPr>
            <a:stCxn id="14" idx="2"/>
            <a:endCxn id="55" idx="6"/>
          </p:cNvCxnSpPr>
          <p:nvPr/>
        </p:nvCxnSpPr>
        <p:spPr>
          <a:xfrm rot="5400000">
            <a:off x="5059916" y="5173332"/>
            <a:ext cx="648072" cy="133587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9" name="꺾인 연결선 58"/>
          <p:cNvCxnSpPr>
            <a:stCxn id="13" idx="2"/>
            <a:endCxn id="55" idx="2"/>
          </p:cNvCxnSpPr>
          <p:nvPr/>
        </p:nvCxnSpPr>
        <p:spPr>
          <a:xfrm rot="16200000" flipH="1">
            <a:off x="3652035" y="5389355"/>
            <a:ext cx="216024" cy="1335873"/>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6852730" y="4931876"/>
            <a:ext cx="455574" cy="369332"/>
          </a:xfrm>
          <a:prstGeom prst="rect">
            <a:avLst/>
          </a:prstGeom>
          <a:noFill/>
        </p:spPr>
        <p:txBody>
          <a:bodyPr wrap="none" rtlCol="0">
            <a:spAutoFit/>
          </a:bodyPr>
          <a:lstStyle/>
          <a:p>
            <a:r>
              <a:rPr lang="en-US" altLang="ko-KR" dirty="0"/>
              <a:t>no</a:t>
            </a:r>
            <a:endParaRPr lang="ko-KR" altLang="en-US" dirty="0"/>
          </a:p>
        </p:txBody>
      </p:sp>
      <p:sp>
        <p:nvSpPr>
          <p:cNvPr id="62" name="TextBox 61"/>
          <p:cNvSpPr txBox="1"/>
          <p:nvPr/>
        </p:nvSpPr>
        <p:spPr>
          <a:xfrm>
            <a:off x="3995936" y="5363924"/>
            <a:ext cx="455574" cy="369332"/>
          </a:xfrm>
          <a:prstGeom prst="rect">
            <a:avLst/>
          </a:prstGeom>
          <a:noFill/>
        </p:spPr>
        <p:txBody>
          <a:bodyPr wrap="none" rtlCol="0">
            <a:spAutoFit/>
          </a:bodyPr>
          <a:lstStyle/>
          <a:p>
            <a:r>
              <a:rPr lang="en-US" altLang="ko-KR" dirty="0"/>
              <a:t>no</a:t>
            </a:r>
            <a:endParaRPr lang="ko-KR" altLang="en-US" dirty="0"/>
          </a:p>
        </p:txBody>
      </p:sp>
      <p:sp>
        <p:nvSpPr>
          <p:cNvPr id="63" name="TextBox 62"/>
          <p:cNvSpPr txBox="1"/>
          <p:nvPr/>
        </p:nvSpPr>
        <p:spPr>
          <a:xfrm>
            <a:off x="3212232" y="5877272"/>
            <a:ext cx="520079" cy="369332"/>
          </a:xfrm>
          <a:prstGeom prst="rect">
            <a:avLst/>
          </a:prstGeom>
          <a:noFill/>
        </p:spPr>
        <p:txBody>
          <a:bodyPr wrap="none" rtlCol="0">
            <a:spAutoFit/>
          </a:bodyPr>
          <a:lstStyle/>
          <a:p>
            <a:r>
              <a:rPr lang="en-US" altLang="ko-KR" dirty="0"/>
              <a:t>yes</a:t>
            </a:r>
            <a:endParaRPr lang="ko-KR" altLang="en-US" dirty="0"/>
          </a:p>
        </p:txBody>
      </p:sp>
      <p:sp>
        <p:nvSpPr>
          <p:cNvPr id="64" name="TextBox 63"/>
          <p:cNvSpPr txBox="1"/>
          <p:nvPr/>
        </p:nvSpPr>
        <p:spPr>
          <a:xfrm>
            <a:off x="6068145" y="5733256"/>
            <a:ext cx="520079" cy="369332"/>
          </a:xfrm>
          <a:prstGeom prst="rect">
            <a:avLst/>
          </a:prstGeom>
          <a:noFill/>
        </p:spPr>
        <p:txBody>
          <a:bodyPr wrap="none" rtlCol="0">
            <a:spAutoFit/>
          </a:bodyPr>
          <a:lstStyle/>
          <a:p>
            <a:r>
              <a:rPr lang="en-US" altLang="ko-KR" dirty="0"/>
              <a:t>yes</a:t>
            </a:r>
            <a:endParaRPr lang="ko-KR" altLang="en-US" dirty="0"/>
          </a:p>
        </p:txBody>
      </p:sp>
      <p:cxnSp>
        <p:nvCxnSpPr>
          <p:cNvPr id="66" name="직선 화살표 연결선 65"/>
          <p:cNvCxnSpPr>
            <a:stCxn id="14" idx="2"/>
          </p:cNvCxnSpPr>
          <p:nvPr/>
        </p:nvCxnSpPr>
        <p:spPr>
          <a:xfrm flipH="1">
            <a:off x="6044665" y="5517232"/>
            <a:ext cx="7223" cy="57592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9" name="직선 연결선 68"/>
          <p:cNvCxnSpPr>
            <a:stCxn id="55" idx="4"/>
          </p:cNvCxnSpPr>
          <p:nvPr/>
        </p:nvCxnSpPr>
        <p:spPr>
          <a:xfrm>
            <a:off x="4572000" y="6309320"/>
            <a:ext cx="0" cy="216024"/>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1" name="타원 70"/>
          <p:cNvSpPr/>
          <p:nvPr/>
        </p:nvSpPr>
        <p:spPr>
          <a:xfrm>
            <a:off x="8604448" y="6263497"/>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73" name="꺾인 연결선 72"/>
          <p:cNvCxnSpPr>
            <a:stCxn id="71" idx="0"/>
            <a:endCxn id="11" idx="3"/>
          </p:cNvCxnSpPr>
          <p:nvPr/>
        </p:nvCxnSpPr>
        <p:spPr>
          <a:xfrm rot="16200000" flipV="1">
            <a:off x="7007180" y="4522213"/>
            <a:ext cx="2906505" cy="576064"/>
          </a:xfrm>
          <a:prstGeom prst="bentConnector2">
            <a:avLst/>
          </a:prstGeom>
          <a:ln>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타원 73"/>
          <p:cNvSpPr/>
          <p:nvPr/>
        </p:nvSpPr>
        <p:spPr>
          <a:xfrm>
            <a:off x="7177540" y="6263497"/>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76" name="직선 화살표 연결선 75"/>
          <p:cNvCxnSpPr>
            <a:stCxn id="74" idx="0"/>
            <a:endCxn id="11" idx="2"/>
          </p:cNvCxnSpPr>
          <p:nvPr/>
        </p:nvCxnSpPr>
        <p:spPr>
          <a:xfrm rot="16200000" flipV="1">
            <a:off x="5948126" y="4890066"/>
            <a:ext cx="2690481" cy="5638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7284778" y="5877272"/>
            <a:ext cx="455574" cy="369332"/>
          </a:xfrm>
          <a:prstGeom prst="rect">
            <a:avLst/>
          </a:prstGeom>
          <a:noFill/>
        </p:spPr>
        <p:txBody>
          <a:bodyPr wrap="none" rtlCol="0">
            <a:spAutoFit/>
          </a:bodyPr>
          <a:lstStyle/>
          <a:p>
            <a:r>
              <a:rPr lang="en-US" altLang="ko-KR" dirty="0"/>
              <a:t>no</a:t>
            </a:r>
            <a:endParaRPr lang="ko-KR" altLang="en-US" dirty="0"/>
          </a:p>
        </p:txBody>
      </p:sp>
      <p:sp>
        <p:nvSpPr>
          <p:cNvPr id="80" name="TextBox 79"/>
          <p:cNvSpPr txBox="1"/>
          <p:nvPr/>
        </p:nvSpPr>
        <p:spPr>
          <a:xfrm>
            <a:off x="8244408" y="2996952"/>
            <a:ext cx="455574" cy="369332"/>
          </a:xfrm>
          <a:prstGeom prst="rect">
            <a:avLst/>
          </a:prstGeom>
          <a:noFill/>
        </p:spPr>
        <p:txBody>
          <a:bodyPr wrap="none" rtlCol="0">
            <a:spAutoFit/>
          </a:bodyPr>
          <a:lstStyle/>
          <a:p>
            <a:r>
              <a:rPr lang="en-US" altLang="ko-KR" dirty="0"/>
              <a:t>no</a:t>
            </a:r>
            <a:endParaRPr lang="ko-KR" altLang="en-US" dirty="0"/>
          </a:p>
        </p:txBody>
      </p:sp>
      <p:sp>
        <p:nvSpPr>
          <p:cNvPr id="81" name="TextBox 80"/>
          <p:cNvSpPr txBox="1"/>
          <p:nvPr/>
        </p:nvSpPr>
        <p:spPr>
          <a:xfrm>
            <a:off x="6212161" y="2608620"/>
            <a:ext cx="520079" cy="369332"/>
          </a:xfrm>
          <a:prstGeom prst="rect">
            <a:avLst/>
          </a:prstGeom>
          <a:noFill/>
        </p:spPr>
        <p:txBody>
          <a:bodyPr wrap="none" rtlCol="0">
            <a:spAutoFit/>
          </a:bodyPr>
          <a:lstStyle/>
          <a:p>
            <a:r>
              <a:rPr lang="en-US" altLang="ko-KR" dirty="0"/>
              <a:t>yes</a:t>
            </a:r>
            <a:endParaRPr lang="ko-KR" altLang="en-US" dirty="0"/>
          </a:p>
        </p:txBody>
      </p:sp>
      <p:sp>
        <p:nvSpPr>
          <p:cNvPr id="82" name="TextBox 81"/>
          <p:cNvSpPr txBox="1"/>
          <p:nvPr/>
        </p:nvSpPr>
        <p:spPr>
          <a:xfrm>
            <a:off x="6065195" y="285728"/>
            <a:ext cx="2935961" cy="461665"/>
          </a:xfrm>
          <a:prstGeom prst="rect">
            <a:avLst/>
          </a:prstGeom>
          <a:noFill/>
        </p:spPr>
        <p:txBody>
          <a:bodyPr wrap="square" rtlCol="0">
            <a:spAutoFit/>
          </a:bodyPr>
          <a:lstStyle/>
          <a:p>
            <a:r>
              <a:rPr lang="en-US" altLang="ko-KR" sz="1200" dirty="0"/>
              <a:t>(Metric measurement system analysis procedure</a:t>
            </a:r>
            <a:r>
              <a:rPr lang="ko-KR" altLang="en-US" sz="1200" dirty="0"/>
              <a:t> </a:t>
            </a:r>
            <a:r>
              <a:rPr lang="en-US" altLang="ko-KR" sz="1200" dirty="0"/>
              <a:t>Bosch 2003 )</a:t>
            </a:r>
            <a:endParaRPr lang="ko-KR" altLang="en-US" sz="1200" dirty="0"/>
          </a:p>
        </p:txBody>
      </p:sp>
      <p:sp>
        <p:nvSpPr>
          <p:cNvPr id="53"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41</a:t>
            </a:fld>
            <a:endParaRPr lang="ko-KR" altLang="en-US" dirty="0"/>
          </a:p>
        </p:txBody>
      </p:sp>
    </p:spTree>
    <p:extLst>
      <p:ext uri="{BB962C8B-B14F-4D97-AF65-F5344CB8AC3E}">
        <p14:creationId xmlns:p14="http://schemas.microsoft.com/office/powerpoint/2010/main" val="244750473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Tiền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lệ</a:t>
            </a:r>
            <a:r>
              <a:rPr lang="en-US" altLang="ko-KR" sz="1400" b="1" kern="0" dirty="0">
                <a:solidFill>
                  <a:sysClr val="windowText" lastClr="000000"/>
                </a:solidFill>
                <a:latin typeface="맑은 고딕" pitchFamily="50" charset="-127"/>
                <a:ea typeface="맑은 고딕" pitchFamily="50" charset="-127"/>
              </a:rPr>
              <a:t>/</a:t>
            </a:r>
            <a:r>
              <a:rPr lang="en-US" altLang="ko-KR" sz="1400" b="1" kern="0" dirty="0" err="1">
                <a:solidFill>
                  <a:sysClr val="windowText" lastClr="000000"/>
                </a:solidFill>
                <a:latin typeface="맑은 고딕" pitchFamily="50" charset="-127"/>
                <a:ea typeface="맑은 고딕" pitchFamily="50" charset="-127"/>
              </a:rPr>
              <a:t>Ví</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dụ</a:t>
            </a:r>
            <a:r>
              <a:rPr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Data Gage R&amp;R (Crossed) </a:t>
            </a:r>
            <a:r>
              <a:rPr kumimoji="0" lang="en-US" altLang="ko-KR" sz="1400" b="1" kern="0" dirty="0" err="1">
                <a:solidFill>
                  <a:sysClr val="windowText" lastClr="000000"/>
                </a:solidFill>
                <a:latin typeface="맑은 고딕" pitchFamily="50" charset="-127"/>
                <a:ea typeface="맑은 고딕" pitchFamily="50" charset="-127"/>
              </a:rPr>
              <a:t>liên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tiếp</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21" name="Rectangle 5"/>
          <p:cNvSpPr>
            <a:spLocks noChangeArrowheads="1"/>
          </p:cNvSpPr>
          <p:nvPr/>
        </p:nvSpPr>
        <p:spPr bwMode="auto">
          <a:xfrm>
            <a:off x="467544" y="1214439"/>
            <a:ext cx="8352928" cy="1926529"/>
          </a:xfrm>
          <a:prstGeom prst="rect">
            <a:avLst/>
          </a:prstGeom>
          <a:solidFill>
            <a:srgbClr val="FFFFFF"/>
          </a:solidFill>
          <a:ln w="9525" algn="ctr">
            <a:solidFill>
              <a:schemeClr val="bg1">
                <a:lumMod val="65000"/>
              </a:schemeClr>
            </a:solidFill>
            <a:miter lim="800000"/>
            <a:headEnd/>
            <a:tailEnd/>
          </a:ln>
        </p:spPr>
        <p:txBody>
          <a:bodyPr wrap="none"/>
          <a:lstStyle/>
          <a:p>
            <a:pPr>
              <a:lnSpc>
                <a:spcPct val="120000"/>
              </a:lnSpc>
              <a:defRPr/>
            </a:pPr>
            <a:r>
              <a:rPr lang="en-US" altLang="ko-KR" sz="1150" b="1" dirty="0" err="1">
                <a:solidFill>
                  <a:srgbClr val="000000"/>
                </a:solidFill>
                <a:latin typeface="맑은 고딕" pitchFamily="50" charset="-127"/>
                <a:ea typeface="맑은 고딕" pitchFamily="50" charset="-127"/>
              </a:rPr>
              <a:t>Các</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dữ</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liệu</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sau</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đây</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được</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thu</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thập</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để</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kiểm</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chứng</a:t>
            </a:r>
            <a:r>
              <a:rPr lang="en-US" altLang="ko-KR" sz="1150" b="1" dirty="0">
                <a:solidFill>
                  <a:srgbClr val="000000"/>
                </a:solidFill>
                <a:latin typeface="맑은 고딕" pitchFamily="50" charset="-127"/>
                <a:ea typeface="맑은 고딕" pitchFamily="50" charset="-127"/>
              </a:rPr>
              <a:t> Gage R&amp;R </a:t>
            </a:r>
            <a:r>
              <a:rPr lang="en-US" altLang="ko-KR" sz="1150" b="1" dirty="0" err="1">
                <a:solidFill>
                  <a:srgbClr val="000000"/>
                </a:solidFill>
                <a:latin typeface="맑은 고딕" pitchFamily="50" charset="-127"/>
                <a:ea typeface="맑은 고딕" pitchFamily="50" charset="-127"/>
              </a:rPr>
              <a:t>liên</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quan</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đến</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dự</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án</a:t>
            </a:r>
            <a:r>
              <a:rPr lang="en-US" altLang="ko-KR" sz="1150" b="1" dirty="0">
                <a:solidFill>
                  <a:srgbClr val="000000"/>
                </a:solidFill>
                <a:latin typeface="맑은 고딕" pitchFamily="50" charset="-127"/>
                <a:ea typeface="맑은 고딕" pitchFamily="50" charset="-127"/>
              </a:rPr>
              <a:t> Y </a:t>
            </a:r>
            <a:r>
              <a:rPr lang="en-US" altLang="ko-KR" sz="1150" b="1" dirty="0" err="1">
                <a:solidFill>
                  <a:srgbClr val="000000"/>
                </a:solidFill>
                <a:latin typeface="맑은 고딕" pitchFamily="50" charset="-127"/>
                <a:ea typeface="맑은 고딕" pitchFamily="50" charset="-127"/>
              </a:rPr>
              <a:t>của</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đối</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tượng</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dự</a:t>
            </a:r>
            <a:r>
              <a:rPr lang="en-US" altLang="ko-KR" sz="1150" b="1" dirty="0">
                <a:solidFill>
                  <a:srgbClr val="000000"/>
                </a:solidFill>
                <a:latin typeface="맑은 고딕" pitchFamily="50" charset="-127"/>
                <a:ea typeface="맑은 고딕" pitchFamily="50" charset="-127"/>
              </a:rPr>
              <a:t> </a:t>
            </a:r>
            <a:r>
              <a:rPr lang="en-US" altLang="ko-KR" sz="1150" b="1" dirty="0" err="1">
                <a:solidFill>
                  <a:srgbClr val="000000"/>
                </a:solidFill>
                <a:latin typeface="맑은 고딕" pitchFamily="50" charset="-127"/>
                <a:ea typeface="맑은 고딕" pitchFamily="50" charset="-127"/>
              </a:rPr>
              <a:t>án</a:t>
            </a:r>
            <a:endParaRPr lang="en-US" altLang="ko-KR" sz="1150" b="1" dirty="0">
              <a:solidFill>
                <a:srgbClr val="000000"/>
              </a:solidFill>
              <a:latin typeface="맑은 고딕" pitchFamily="50" charset="-127"/>
              <a:ea typeface="맑은 고딕" pitchFamily="50" charset="-127"/>
            </a:endParaRPr>
          </a:p>
          <a:p>
            <a:pPr>
              <a:lnSpc>
                <a:spcPct val="120000"/>
              </a:lnSpc>
              <a:buFontTx/>
              <a:buChar char="-"/>
              <a:defRPr/>
            </a:pPr>
            <a:r>
              <a:rPr lang="en-US" altLang="ko-KR" sz="1150" dirty="0">
                <a:solidFill>
                  <a:srgbClr val="000000"/>
                </a:solidFill>
                <a:latin typeface="맑은 고딕" pitchFamily="50" charset="-127"/>
                <a:ea typeface="맑은 고딕" pitchFamily="50" charset="-127"/>
              </a:rPr>
              <a:t> Parts: </a:t>
            </a:r>
            <a:r>
              <a:rPr lang="en-US" altLang="ko-KR" sz="1150" b="1" dirty="0" err="1">
                <a:solidFill>
                  <a:srgbClr val="FF0000"/>
                </a:solidFill>
                <a:latin typeface="맑은 고딕" pitchFamily="50" charset="-127"/>
                <a:ea typeface="맑은 고딕" pitchFamily="50" charset="-127"/>
              </a:rPr>
              <a:t>Giới</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hạn</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tiêu</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chuẩn</a:t>
            </a:r>
            <a:r>
              <a:rPr lang="en-US" altLang="ko-KR" sz="1150" b="1" dirty="0">
                <a:solidFill>
                  <a:srgbClr val="FF0000"/>
                </a:solidFill>
                <a:latin typeface="맑은 고딕" pitchFamily="50" charset="-127"/>
                <a:ea typeface="맑은 고딕" pitchFamily="50" charset="-127"/>
              </a:rPr>
              <a:t> (16.5±0.8 mm)</a:t>
            </a:r>
            <a:r>
              <a:rPr lang="ko-KR" altLang="en-US"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được</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chia</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thành</a:t>
            </a:r>
            <a:r>
              <a:rPr lang="en-US" altLang="ko-KR" sz="1150" b="1" dirty="0">
                <a:solidFill>
                  <a:srgbClr val="FF0000"/>
                </a:solidFill>
                <a:latin typeface="맑은 고딕" pitchFamily="50" charset="-127"/>
                <a:ea typeface="맑은 고딕" pitchFamily="50" charset="-127"/>
              </a:rPr>
              <a:t> 10 </a:t>
            </a:r>
            <a:r>
              <a:rPr lang="en-US" altLang="ko-KR" sz="1150" b="1" dirty="0" err="1">
                <a:solidFill>
                  <a:srgbClr val="FF0000"/>
                </a:solidFill>
                <a:latin typeface="맑은 고딕" pitchFamily="50" charset="-127"/>
                <a:ea typeface="맑은 고딕" pitchFamily="50" charset="-127"/>
              </a:rPr>
              <a:t>phần</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cách</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đều</a:t>
            </a:r>
            <a:r>
              <a:rPr lang="en-US" altLang="ko-KR" sz="1150" b="1" dirty="0">
                <a:solidFill>
                  <a:srgbClr val="FF0000"/>
                </a:solidFill>
                <a:latin typeface="맑은 고딕" pitchFamily="50" charset="-127"/>
                <a:ea typeface="맑은 고딕" pitchFamily="50" charset="-127"/>
              </a:rPr>
              <a:t> </a:t>
            </a:r>
            <a:r>
              <a:rPr lang="en-US" altLang="ko-KR" sz="1150" b="1" dirty="0" err="1">
                <a:solidFill>
                  <a:srgbClr val="FF0000"/>
                </a:solidFill>
                <a:latin typeface="맑은 고딕" pitchFamily="50" charset="-127"/>
                <a:ea typeface="맑은 고딕" pitchFamily="50" charset="-127"/>
              </a:rPr>
              <a:t>nhau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và</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trong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mỗi</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phần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trích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ra</a:t>
            </a:r>
            <a:r>
              <a:rPr lang="en-US" altLang="ko-KR" sz="1150" dirty="0">
                <a:solidFill>
                  <a:srgbClr val="000000"/>
                </a:solidFill>
                <a:latin typeface="맑은 고딕" pitchFamily="50" charset="-127"/>
                <a:ea typeface="맑은 고딕" pitchFamily="50" charset="-127"/>
              </a:rPr>
              <a:t> 1 part</a:t>
            </a:r>
            <a:endParaRPr lang="ko-KR" altLang="en-US" sz="1150" dirty="0">
              <a:solidFill>
                <a:srgbClr val="000000"/>
              </a:solidFill>
              <a:latin typeface="맑은 고딕" pitchFamily="50" charset="-127"/>
              <a:ea typeface="맑은 고딕" pitchFamily="50" charset="-127"/>
            </a:endParaRPr>
          </a:p>
          <a:p>
            <a:pPr>
              <a:lnSpc>
                <a:spcPct val="120000"/>
              </a:lnSpc>
              <a:defRPr/>
            </a:pPr>
            <a:r>
              <a:rPr lang="en-US" altLang="ko-KR" sz="1150" dirty="0">
                <a:solidFill>
                  <a:srgbClr val="000000"/>
                </a:solidFill>
                <a:latin typeface="맑은 고딕" pitchFamily="50" charset="-127"/>
                <a:ea typeface="맑은 고딕" pitchFamily="50" charset="-127"/>
              </a:rPr>
              <a:t>- Operators : </a:t>
            </a:r>
            <a:r>
              <a:rPr lang="en-US" altLang="ko-KR" sz="1150" dirty="0" err="1">
                <a:solidFill>
                  <a:srgbClr val="000000"/>
                </a:solidFill>
                <a:latin typeface="맑은 고딕" pitchFamily="50" charset="-127"/>
                <a:ea typeface="맑은 고딕" pitchFamily="50" charset="-127"/>
              </a:rPr>
              <a:t>Trong</a:t>
            </a:r>
            <a:r>
              <a:rPr lang="en-US" altLang="ko-KR" sz="1150" dirty="0">
                <a:solidFill>
                  <a:srgbClr val="000000"/>
                </a:solidFill>
                <a:latin typeface="맑은 고딕" pitchFamily="50" charset="-127"/>
                <a:ea typeface="맑은 고딕" pitchFamily="50" charset="-127"/>
              </a:rPr>
              <a:t> process </a:t>
            </a:r>
            <a:r>
              <a:rPr lang="en-US" altLang="ko-KR" sz="1150" dirty="0" err="1">
                <a:solidFill>
                  <a:srgbClr val="000000"/>
                </a:solidFill>
                <a:latin typeface="맑은 고딕" pitchFamily="50" charset="-127"/>
                <a:ea typeface="맑은 고딕" pitchFamily="50" charset="-127"/>
              </a:rPr>
              <a:t>hiện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tại</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lựa</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chọn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ngẫu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nhiên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không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quan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tâm</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đến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độ</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thành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thạo</a:t>
            </a:r>
            <a:r>
              <a:rPr lang="en-US" altLang="ko-KR" sz="1150" dirty="0">
                <a:solidFill>
                  <a:srgbClr val="000000"/>
                </a:solidFill>
                <a:latin typeface="맑은 고딕" pitchFamily="50" charset="-127"/>
                <a:ea typeface="맑은 고딕" pitchFamily="50" charset="-127"/>
              </a:rPr>
              <a:t> 3 </a:t>
            </a:r>
            <a:r>
              <a:rPr lang="en-US" altLang="ko-KR" sz="1150" dirty="0" err="1">
                <a:solidFill>
                  <a:srgbClr val="000000"/>
                </a:solidFill>
                <a:latin typeface="맑은 고딕" pitchFamily="50" charset="-127"/>
                <a:ea typeface="맑은 고딕" pitchFamily="50" charset="-127"/>
              </a:rPr>
              <a:t>người</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đánh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giá</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đo</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đạc</a:t>
            </a:r>
            <a:endParaRPr lang="ko-KR" altLang="en-US" sz="1150" dirty="0">
              <a:solidFill>
                <a:srgbClr val="FF0000"/>
              </a:solidFill>
              <a:latin typeface="맑은 고딕" pitchFamily="50" charset="-127"/>
              <a:ea typeface="맑은 고딕" pitchFamily="50" charset="-127"/>
            </a:endParaRPr>
          </a:p>
          <a:p>
            <a:pPr>
              <a:lnSpc>
                <a:spcPct val="120000"/>
              </a:lnSpc>
              <a:defRPr/>
            </a:pPr>
            <a:r>
              <a:rPr lang="en-US" altLang="ko-KR" sz="1150" dirty="0">
                <a:solidFill>
                  <a:srgbClr val="000000"/>
                </a:solidFill>
                <a:latin typeface="맑은 고딕" pitchFamily="50" charset="-127"/>
                <a:ea typeface="맑은 고딕" pitchFamily="50" charset="-127"/>
              </a:rPr>
              <a:t>- Data Collection  </a:t>
            </a:r>
          </a:p>
          <a:p>
            <a:pPr>
              <a:lnSpc>
                <a:spcPct val="120000"/>
              </a:lnSpc>
              <a:defRPr/>
            </a:pPr>
            <a:r>
              <a:rPr lang="en-US" altLang="ko-KR" sz="1150" dirty="0">
                <a:solidFill>
                  <a:srgbClr val="000000"/>
                </a:solidFill>
                <a:latin typeface="맑은 고딕" pitchFamily="50" charset="-127"/>
                <a:ea typeface="맑은 고딕" pitchFamily="50" charset="-127"/>
              </a:rPr>
              <a:t>   : </a:t>
            </a:r>
            <a:r>
              <a:rPr lang="en-US" altLang="ko-KR" sz="1150" dirty="0" err="1">
                <a:solidFill>
                  <a:srgbClr val="000000"/>
                </a:solidFill>
                <a:latin typeface="맑은 고딕" pitchFamily="50" charset="-127"/>
                <a:ea typeface="맑은 고딕" pitchFamily="50" charset="-127"/>
              </a:rPr>
              <a:t>Quyết</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định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ngẫu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nhiên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thứ</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tự</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người</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đánh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giá</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và</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thứ</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tự</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linh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kiện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đo</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đạc</a:t>
            </a:r>
            <a:r>
              <a:rPr lang="en-US" altLang="ko-KR" sz="1150" dirty="0">
                <a:solidFill>
                  <a:srgbClr val="000000"/>
                </a:solidFill>
                <a:latin typeface="맑은 고딕" pitchFamily="50" charset="-127"/>
                <a:ea typeface="맑은 고딕" pitchFamily="50" charset="-127"/>
              </a:rPr>
              <a:t>,</a:t>
            </a:r>
            <a:r>
              <a:rPr lang="ko-KR" altLang="en-US"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tiến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hành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đo</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đạc</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lặp</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lại</a:t>
            </a:r>
            <a:r>
              <a:rPr lang="en-US" altLang="ko-KR" sz="1150" dirty="0">
                <a:solidFill>
                  <a:srgbClr val="000000"/>
                </a:solidFill>
                <a:latin typeface="맑은 고딕" pitchFamily="50" charset="-127"/>
                <a:ea typeface="맑은 고딕" pitchFamily="50" charset="-127"/>
              </a:rPr>
              <a:t> Blind Test</a:t>
            </a:r>
            <a:endParaRPr lang="en-US" altLang="ko-KR" sz="1150" b="1" dirty="0">
              <a:solidFill>
                <a:srgbClr val="FF0000"/>
              </a:solidFill>
              <a:latin typeface="맑은 고딕" pitchFamily="50" charset="-127"/>
              <a:ea typeface="맑은 고딕" pitchFamily="50" charset="-127"/>
            </a:endParaRPr>
          </a:p>
          <a:p>
            <a:pPr>
              <a:lnSpc>
                <a:spcPct val="120000"/>
              </a:lnSpc>
              <a:defRPr/>
            </a:pP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Những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người</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đánh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giá</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tiến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hành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đo</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đạc</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càng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nhiều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càng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tốt</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thông</a:t>
            </a:r>
            <a:r>
              <a:rPr lang="en-US" altLang="ko-KR" sz="1150" dirty="0">
                <a:solidFill>
                  <a:srgbClr val="000000"/>
                </a:solidFill>
                <a:latin typeface="맑은 고딕" pitchFamily="50" charset="-127"/>
                <a:ea typeface="맑은 고딕" pitchFamily="50" charset="-127"/>
              </a:rPr>
              <a:t> qua </a:t>
            </a:r>
            <a:r>
              <a:rPr lang="en-US" altLang="ko-KR" sz="1150" dirty="0" err="1">
                <a:solidFill>
                  <a:srgbClr val="000000"/>
                </a:solidFill>
                <a:latin typeface="맑은 고딕" pitchFamily="50" charset="-127"/>
                <a:ea typeface="맑은 고딕" pitchFamily="50" charset="-127"/>
              </a:rPr>
              <a:t>một</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phương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pháp</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tiêu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chuẩn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nhưng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trong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quá</a:t>
            </a:r>
            <a:endParaRPr lang="en-US" altLang="ko-KR" sz="1150" dirty="0">
              <a:solidFill>
                <a:srgbClr val="000000"/>
              </a:solidFill>
              <a:latin typeface="맑은 고딕" pitchFamily="50" charset="-127"/>
              <a:ea typeface="맑은 고딕" pitchFamily="50" charset="-127"/>
            </a:endParaRPr>
          </a:p>
          <a:p>
            <a:pPr>
              <a:lnSpc>
                <a:spcPct val="120000"/>
              </a:lnSpc>
              <a:defRPr/>
            </a:pP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trình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đo</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chú</a:t>
            </a:r>
            <a:r>
              <a:rPr lang="en-US" altLang="ko-KR" sz="1150" dirty="0">
                <a:solidFill>
                  <a:srgbClr val="000000"/>
                </a:solidFill>
                <a:latin typeface="맑은 고딕" pitchFamily="50" charset="-127"/>
                <a:ea typeface="맑은 고딕" pitchFamily="50" charset="-127"/>
              </a:rPr>
              <a:t> ý </a:t>
            </a:r>
            <a:r>
              <a:rPr lang="en-US" altLang="ko-KR" sz="1150" dirty="0" err="1">
                <a:solidFill>
                  <a:srgbClr val="000000"/>
                </a:solidFill>
                <a:latin typeface="맑은 고딕" pitchFamily="50" charset="-127"/>
                <a:ea typeface="맑은 고딕" pitchFamily="50" charset="-127"/>
              </a:rPr>
              <a:t>không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điều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chỉnh</a:t>
            </a:r>
            <a:r>
              <a:rPr lang="en-US" altLang="ko-KR" sz="1150" dirty="0">
                <a:solidFill>
                  <a:srgbClr val="000000"/>
                </a:solidFill>
                <a:latin typeface="맑은 고딕" pitchFamily="50" charset="-127"/>
                <a:ea typeface="맑은 고딕" pitchFamily="50" charset="-127"/>
              </a:rPr>
              <a:t> Gage.</a:t>
            </a:r>
            <a:endParaRPr lang="ko-KR" altLang="en-US" sz="1150" dirty="0">
              <a:solidFill>
                <a:srgbClr val="000000"/>
              </a:solidFill>
              <a:latin typeface="맑은 고딕" pitchFamily="50" charset="-127"/>
              <a:ea typeface="맑은 고딕" pitchFamily="50" charset="-127"/>
            </a:endParaRPr>
          </a:p>
          <a:p>
            <a:pPr>
              <a:lnSpc>
                <a:spcPct val="120000"/>
              </a:lnSpc>
              <a:defRPr/>
            </a:pPr>
            <a:r>
              <a:rPr lang="en-US" altLang="ko-KR" sz="1150" dirty="0">
                <a:solidFill>
                  <a:srgbClr val="000000"/>
                </a:solidFill>
                <a:latin typeface="맑은 고딕" pitchFamily="50" charset="-127"/>
                <a:ea typeface="맑은 고딕" pitchFamily="50" charset="-127"/>
              </a:rPr>
              <a:t>- Process Information : </a:t>
            </a:r>
            <a:r>
              <a:rPr lang="en-US" altLang="ko-KR" sz="1150" dirty="0" err="1">
                <a:solidFill>
                  <a:srgbClr val="000000"/>
                </a:solidFill>
                <a:latin typeface="맑은 고딕" pitchFamily="50" charset="-127"/>
                <a:ea typeface="맑은 고딕" pitchFamily="50" charset="-127"/>
              </a:rPr>
              <a:t>Phân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tán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công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đoạn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trong</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sản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xuất</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hiện</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tại</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Độ</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lệch</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tiêu</a:t>
            </a:r>
            <a:r>
              <a:rPr lang="en-US" altLang="ko-KR" sz="1150" dirty="0">
                <a:solidFill>
                  <a:srgbClr val="000000"/>
                </a:solidFill>
                <a:latin typeface="맑은 고딕" pitchFamily="50" charset="-127"/>
                <a:ea typeface="맑은 고딕" pitchFamily="50" charset="-127"/>
              </a:rPr>
              <a:t> </a:t>
            </a:r>
            <a:r>
              <a:rPr lang="en-US" altLang="ko-KR" sz="1150" dirty="0" err="1">
                <a:solidFill>
                  <a:srgbClr val="000000"/>
                </a:solidFill>
                <a:latin typeface="맑은 고딕" pitchFamily="50" charset="-127"/>
                <a:ea typeface="맑은 고딕" pitchFamily="50" charset="-127"/>
              </a:rPr>
              <a:t>chuẩn</a:t>
            </a:r>
            <a:r>
              <a:rPr lang="en-US" altLang="ko-KR" sz="1150" dirty="0">
                <a:solidFill>
                  <a:srgbClr val="000000"/>
                </a:solidFill>
                <a:latin typeface="맑은 고딕" pitchFamily="50" charset="-127"/>
                <a:ea typeface="맑은 고딕" pitchFamily="50" charset="-127"/>
              </a:rPr>
              <a:t>) Historical Sigma = 0.35(mm) </a:t>
            </a:r>
          </a:p>
        </p:txBody>
      </p: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42</a:t>
            </a:fld>
            <a:endParaRPr lang="ko-KR" altLang="en-US" dirty="0"/>
          </a:p>
        </p:txBody>
      </p:sp>
      <p:pic>
        <p:nvPicPr>
          <p:cNvPr id="102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5576" y="3284984"/>
            <a:ext cx="4176464" cy="3132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5292080" y="3735616"/>
            <a:ext cx="3581430" cy="307777"/>
          </a:xfrm>
          <a:prstGeom prst="rect">
            <a:avLst/>
          </a:prstGeom>
          <a:noFill/>
        </p:spPr>
        <p:txBody>
          <a:bodyPr wrap="none" rtlCol="0">
            <a:spAutoFit/>
          </a:bodyPr>
          <a:lstStyle/>
          <a:p>
            <a:r>
              <a:rPr lang="en-US" altLang="ko-KR" sz="1400" dirty="0"/>
              <a:t>1.  </a:t>
            </a:r>
            <a:r>
              <a:rPr lang="en-US" altLang="ko-KR" sz="1400" dirty="0" err="1"/>
              <a:t>Không</a:t>
            </a:r>
            <a:r>
              <a:rPr lang="en-US" altLang="ko-KR" sz="1400" dirty="0"/>
              <a:t> </a:t>
            </a:r>
            <a:r>
              <a:rPr lang="en-US" altLang="ko-KR" sz="1400" dirty="0" err="1"/>
              <a:t>thực</a:t>
            </a:r>
            <a:r>
              <a:rPr lang="en-US" altLang="ko-KR" sz="1400" dirty="0"/>
              <a:t> </a:t>
            </a:r>
            <a:r>
              <a:rPr lang="en-US" altLang="ko-KR" sz="1400" dirty="0" err="1"/>
              <a:t>hiện</a:t>
            </a:r>
            <a:r>
              <a:rPr lang="en-US" altLang="ko-KR" sz="1400" dirty="0"/>
              <a:t> </a:t>
            </a:r>
            <a:r>
              <a:rPr lang="en-US" altLang="ko-KR" sz="1400" dirty="0" err="1"/>
              <a:t>phân</a:t>
            </a:r>
            <a:r>
              <a:rPr lang="en-US" altLang="ko-KR" sz="1400" dirty="0"/>
              <a:t> </a:t>
            </a:r>
            <a:r>
              <a:rPr lang="en-US" altLang="ko-KR" sz="1400" dirty="0" err="1"/>
              <a:t>bố</a:t>
            </a:r>
            <a:r>
              <a:rPr lang="en-US" altLang="ko-KR" sz="1400" dirty="0"/>
              <a:t> </a:t>
            </a:r>
            <a:r>
              <a:rPr lang="en-US" altLang="ko-KR" sz="1400" dirty="0" err="1"/>
              <a:t>chính</a:t>
            </a:r>
            <a:r>
              <a:rPr lang="en-US" altLang="ko-KR" sz="1400" dirty="0"/>
              <a:t> </a:t>
            </a:r>
            <a:r>
              <a:rPr lang="en-US" altLang="ko-KR" sz="1400" dirty="0" err="1"/>
              <a:t>quy</a:t>
            </a:r>
            <a:r>
              <a:rPr lang="en-US" altLang="ko-KR" sz="1400" dirty="0"/>
              <a:t> ?</a:t>
            </a:r>
            <a:endParaRPr lang="ko-KR" altLang="en-US" sz="1400" dirty="0"/>
          </a:p>
        </p:txBody>
      </p:sp>
      <p:sp>
        <p:nvSpPr>
          <p:cNvPr id="32" name="TextBox 31"/>
          <p:cNvSpPr txBox="1"/>
          <p:nvPr/>
        </p:nvSpPr>
        <p:spPr>
          <a:xfrm>
            <a:off x="5148064" y="3284984"/>
            <a:ext cx="837089" cy="307777"/>
          </a:xfrm>
          <a:prstGeom prst="rect">
            <a:avLst/>
          </a:prstGeom>
          <a:noFill/>
        </p:spPr>
        <p:txBody>
          <a:bodyPr wrap="none" rtlCol="0">
            <a:spAutoFit/>
          </a:bodyPr>
          <a:lstStyle/>
          <a:p>
            <a:r>
              <a:rPr lang="en-US" altLang="ko-KR" sz="1400" b="1" dirty="0" err="1"/>
              <a:t>Câu</a:t>
            </a:r>
            <a:r>
              <a:rPr lang="en-US" altLang="ko-KR" sz="1400" b="1" dirty="0"/>
              <a:t> </a:t>
            </a:r>
            <a:r>
              <a:rPr lang="en-US" altLang="ko-KR" sz="1400" b="1" dirty="0" err="1"/>
              <a:t>hỏi</a:t>
            </a:r>
            <a:endParaRPr lang="ko-KR" altLang="en-US" sz="1400" b="1" dirty="0"/>
          </a:p>
        </p:txBody>
      </p:sp>
      <p:sp>
        <p:nvSpPr>
          <p:cNvPr id="33" name="TextBox 32"/>
          <p:cNvSpPr txBox="1"/>
          <p:nvPr/>
        </p:nvSpPr>
        <p:spPr>
          <a:xfrm>
            <a:off x="5292080" y="4202504"/>
            <a:ext cx="3168352" cy="738664"/>
          </a:xfrm>
          <a:prstGeom prst="rect">
            <a:avLst/>
          </a:prstGeom>
          <a:noFill/>
        </p:spPr>
        <p:txBody>
          <a:bodyPr wrap="square" rtlCol="0">
            <a:spAutoFit/>
          </a:bodyPr>
          <a:lstStyle/>
          <a:p>
            <a:pPr marL="342900" indent="-342900">
              <a:buAutoNum type="arabicPeriod" startAt="2"/>
            </a:pPr>
            <a:r>
              <a:rPr lang="en-US" altLang="ko-KR" sz="1400" dirty="0"/>
              <a:t>Sample </a:t>
            </a:r>
            <a:r>
              <a:rPr lang="en-US" altLang="ko-KR" sz="1400" dirty="0" err="1"/>
              <a:t>có</a:t>
            </a:r>
            <a:r>
              <a:rPr lang="en-US" altLang="ko-KR" sz="1400" dirty="0"/>
              <a:t> </a:t>
            </a:r>
            <a:r>
              <a:rPr lang="en-US" altLang="ko-KR" sz="1400" dirty="0" err="1"/>
              <a:t>được</a:t>
            </a:r>
            <a:r>
              <a:rPr lang="en-US" altLang="ko-KR" sz="1400" dirty="0"/>
              <a:t> </a:t>
            </a:r>
            <a:r>
              <a:rPr lang="en-US" altLang="ko-KR" sz="1400" dirty="0" err="1"/>
              <a:t>lựa</a:t>
            </a:r>
            <a:r>
              <a:rPr lang="en-US" altLang="ko-KR" sz="1400" dirty="0"/>
              <a:t> </a:t>
            </a:r>
            <a:r>
              <a:rPr lang="en-US" altLang="ko-KR" sz="1400" dirty="0" err="1"/>
              <a:t>chọn</a:t>
            </a:r>
            <a:r>
              <a:rPr lang="en-US" altLang="ko-KR" sz="1400" dirty="0"/>
              <a:t> </a:t>
            </a:r>
            <a:r>
              <a:rPr lang="en-US" altLang="ko-KR" sz="1400" dirty="0" err="1"/>
              <a:t>trong</a:t>
            </a:r>
            <a:r>
              <a:rPr lang="en-US" altLang="ko-KR" sz="1400" dirty="0"/>
              <a:t> </a:t>
            </a:r>
            <a:r>
              <a:rPr lang="en-US" altLang="ko-KR" sz="1400" dirty="0" err="1"/>
              <a:t>phạm</a:t>
            </a:r>
            <a:r>
              <a:rPr lang="en-US" altLang="ko-KR" sz="1400" dirty="0"/>
              <a:t> vi </a:t>
            </a:r>
            <a:r>
              <a:rPr lang="en-US" altLang="ko-KR" sz="1400" dirty="0" err="1"/>
              <a:t>đầy</a:t>
            </a:r>
            <a:r>
              <a:rPr lang="en-US" altLang="ko-KR" sz="1400" dirty="0"/>
              <a:t> </a:t>
            </a:r>
            <a:r>
              <a:rPr lang="en-US" altLang="ko-KR" sz="1400" dirty="0" err="1"/>
              <a:t>đủ</a:t>
            </a:r>
            <a:r>
              <a:rPr lang="en-US" altLang="ko-KR" sz="1400" dirty="0"/>
              <a:t> </a:t>
            </a:r>
            <a:r>
              <a:rPr lang="en-US" altLang="ko-KR" sz="1400" dirty="0" err="1"/>
              <a:t>có</a:t>
            </a:r>
            <a:r>
              <a:rPr lang="en-US" altLang="ko-KR" sz="1400" dirty="0"/>
              <a:t> </a:t>
            </a:r>
            <a:r>
              <a:rPr lang="en-US" altLang="ko-KR" sz="1400" dirty="0" err="1"/>
              <a:t>thể</a:t>
            </a:r>
            <a:r>
              <a:rPr lang="en-US" altLang="ko-KR" sz="1400" dirty="0"/>
              <a:t> </a:t>
            </a:r>
            <a:r>
              <a:rPr lang="en-US" altLang="ko-KR" sz="1400" dirty="0" err="1"/>
              <a:t>đại</a:t>
            </a:r>
            <a:r>
              <a:rPr lang="en-US" altLang="ko-KR" sz="1400" dirty="0"/>
              <a:t> </a:t>
            </a:r>
            <a:r>
              <a:rPr lang="en-US" altLang="ko-KR" sz="1400" dirty="0" err="1"/>
              <a:t>diện</a:t>
            </a:r>
            <a:r>
              <a:rPr lang="en-US" altLang="ko-KR" sz="1400" dirty="0"/>
              <a:t> </a:t>
            </a:r>
            <a:r>
              <a:rPr lang="en-US" altLang="ko-KR" sz="1400" dirty="0" err="1"/>
              <a:t>cho</a:t>
            </a:r>
            <a:r>
              <a:rPr lang="en-US" altLang="ko-KR" sz="1400" dirty="0"/>
              <a:t> SPEC hay </a:t>
            </a:r>
            <a:r>
              <a:rPr lang="en-US" altLang="ko-KR" sz="1400" dirty="0" err="1"/>
              <a:t>không</a:t>
            </a:r>
            <a:r>
              <a:rPr lang="en-US" altLang="ko-KR" sz="1400" dirty="0"/>
              <a:t>? </a:t>
            </a:r>
            <a:endParaRPr lang="ko-KR" altLang="en-US" sz="1400" dirty="0"/>
          </a:p>
        </p:txBody>
      </p:sp>
      <p:sp>
        <p:nvSpPr>
          <p:cNvPr id="34" name="TextBox 33"/>
          <p:cNvSpPr txBox="1"/>
          <p:nvPr/>
        </p:nvSpPr>
        <p:spPr>
          <a:xfrm>
            <a:off x="5292080" y="5103768"/>
            <a:ext cx="3168352" cy="307777"/>
          </a:xfrm>
          <a:prstGeom prst="rect">
            <a:avLst/>
          </a:prstGeom>
          <a:noFill/>
        </p:spPr>
        <p:txBody>
          <a:bodyPr wrap="square" rtlCol="0">
            <a:spAutoFit/>
          </a:bodyPr>
          <a:lstStyle/>
          <a:p>
            <a:r>
              <a:rPr lang="en-US" altLang="ko-KR" sz="1400" dirty="0"/>
              <a:t>3.  </a:t>
            </a:r>
            <a:r>
              <a:rPr lang="en-US" altLang="ko-KR" sz="1400" dirty="0" err="1"/>
              <a:t>Cái</a:t>
            </a:r>
            <a:r>
              <a:rPr lang="en-US" altLang="ko-KR" sz="1400" dirty="0"/>
              <a:t> </a:t>
            </a:r>
            <a:r>
              <a:rPr lang="en-US" altLang="ko-KR" sz="1400" dirty="0" err="1"/>
              <a:t>mà</a:t>
            </a:r>
            <a:r>
              <a:rPr lang="en-US" altLang="ko-KR" sz="1400" dirty="0"/>
              <a:t> </a:t>
            </a:r>
            <a:r>
              <a:rPr lang="en-US" altLang="ko-KR" sz="1400" dirty="0" err="1"/>
              <a:t>chúng</a:t>
            </a:r>
            <a:r>
              <a:rPr lang="en-US" altLang="ko-KR" sz="1400" dirty="0"/>
              <a:t> </a:t>
            </a:r>
            <a:r>
              <a:rPr lang="en-US" altLang="ko-KR" sz="1400" dirty="0" err="1"/>
              <a:t>ta</a:t>
            </a:r>
            <a:r>
              <a:rPr lang="en-US" altLang="ko-KR" sz="1400" dirty="0"/>
              <a:t> </a:t>
            </a:r>
            <a:r>
              <a:rPr lang="en-US" altLang="ko-KR" sz="1400" dirty="0" err="1"/>
              <a:t>mong</a:t>
            </a:r>
            <a:r>
              <a:rPr lang="en-US" altLang="ko-KR" sz="1400" dirty="0"/>
              <a:t> </a:t>
            </a:r>
            <a:r>
              <a:rPr lang="en-US" altLang="ko-KR" sz="1400" dirty="0" err="1"/>
              <a:t>đợi</a:t>
            </a:r>
            <a:r>
              <a:rPr lang="en-US" altLang="ko-KR" sz="1400" dirty="0"/>
              <a:t> </a:t>
            </a:r>
            <a:r>
              <a:rPr lang="en-US" altLang="ko-KR" sz="1400" dirty="0" err="1"/>
              <a:t>là</a:t>
            </a:r>
            <a:r>
              <a:rPr lang="en-US" altLang="ko-KR" sz="1400" dirty="0"/>
              <a:t> </a:t>
            </a:r>
            <a:r>
              <a:rPr lang="en-US" altLang="ko-KR" sz="1400" dirty="0" err="1"/>
              <a:t>gì</a:t>
            </a:r>
            <a:r>
              <a:rPr lang="en-US" altLang="ko-KR" sz="1400" dirty="0"/>
              <a:t>?</a:t>
            </a:r>
            <a:endParaRPr lang="ko-KR" altLang="en-US" sz="1400" dirty="0"/>
          </a:p>
        </p:txBody>
      </p:sp>
      <p:sp>
        <p:nvSpPr>
          <p:cNvPr id="6" name="TextBox 5"/>
          <p:cNvSpPr txBox="1"/>
          <p:nvPr/>
        </p:nvSpPr>
        <p:spPr>
          <a:xfrm>
            <a:off x="5652120" y="5463808"/>
            <a:ext cx="3416320" cy="646331"/>
          </a:xfrm>
          <a:prstGeom prst="rect">
            <a:avLst/>
          </a:prstGeom>
          <a:noFill/>
        </p:spPr>
        <p:txBody>
          <a:bodyPr wrap="none" rtlCol="0">
            <a:spAutoFit/>
          </a:bodyPr>
          <a:lstStyle/>
          <a:p>
            <a:pPr marL="171450" indent="-171450">
              <a:buFontTx/>
              <a:buChar char="-"/>
            </a:pPr>
            <a:r>
              <a:rPr lang="en-US" altLang="ko-KR" sz="1200" dirty="0" err="1"/>
              <a:t>Sự</a:t>
            </a:r>
            <a:r>
              <a:rPr lang="en-US" altLang="ko-KR" sz="1200" dirty="0"/>
              <a:t> </a:t>
            </a:r>
            <a:r>
              <a:rPr lang="en-US" altLang="ko-KR" sz="1200" dirty="0" err="1"/>
              <a:t>phân</a:t>
            </a:r>
            <a:r>
              <a:rPr lang="en-US" altLang="ko-KR" sz="1200" dirty="0"/>
              <a:t> </a:t>
            </a:r>
            <a:r>
              <a:rPr lang="en-US" altLang="ko-KR" sz="1200" dirty="0" err="1"/>
              <a:t>tán</a:t>
            </a:r>
            <a:r>
              <a:rPr lang="en-US" altLang="ko-KR" sz="1200" dirty="0"/>
              <a:t> </a:t>
            </a:r>
            <a:r>
              <a:rPr lang="en-US" altLang="ko-KR" sz="1200" dirty="0" err="1"/>
              <a:t>giữa</a:t>
            </a:r>
            <a:r>
              <a:rPr lang="en-US" altLang="ko-KR" sz="1200" dirty="0"/>
              <a:t> </a:t>
            </a:r>
            <a:r>
              <a:rPr lang="en-US" altLang="ko-KR" sz="1200" dirty="0" err="1"/>
              <a:t>các</a:t>
            </a:r>
            <a:r>
              <a:rPr lang="en-US" altLang="ko-KR" sz="1200" dirty="0"/>
              <a:t> </a:t>
            </a:r>
            <a:r>
              <a:rPr lang="en-US" altLang="ko-KR" sz="1200" dirty="0" err="1"/>
              <a:t>sản</a:t>
            </a:r>
            <a:r>
              <a:rPr lang="en-US" altLang="ko-KR" sz="1200" dirty="0"/>
              <a:t> </a:t>
            </a:r>
            <a:r>
              <a:rPr lang="en-US" altLang="ko-KR" sz="1200" dirty="0" err="1"/>
              <a:t>phẩm</a:t>
            </a:r>
            <a:endParaRPr lang="en-US" altLang="ko-KR" sz="1200" dirty="0"/>
          </a:p>
          <a:p>
            <a:pPr marL="171450" indent="-171450">
              <a:buFontTx/>
              <a:buChar char="-"/>
            </a:pPr>
            <a:r>
              <a:rPr lang="en-US" altLang="ko-KR" sz="1200" dirty="0" err="1"/>
              <a:t>Sự</a:t>
            </a:r>
            <a:r>
              <a:rPr lang="en-US" altLang="ko-KR" sz="1200" dirty="0"/>
              <a:t> </a:t>
            </a:r>
            <a:r>
              <a:rPr lang="en-US" altLang="ko-KR" sz="1200" dirty="0" err="1"/>
              <a:t>phân</a:t>
            </a:r>
            <a:r>
              <a:rPr lang="en-US" altLang="ko-KR" sz="1200" dirty="0"/>
              <a:t> </a:t>
            </a:r>
            <a:r>
              <a:rPr lang="en-US" altLang="ko-KR" sz="1200" dirty="0" err="1"/>
              <a:t>tán</a:t>
            </a:r>
            <a:r>
              <a:rPr lang="en-US" altLang="ko-KR" sz="1200" dirty="0"/>
              <a:t> </a:t>
            </a:r>
            <a:r>
              <a:rPr lang="en-US" altLang="ko-KR" sz="1200" dirty="0" err="1"/>
              <a:t>giữa</a:t>
            </a:r>
            <a:r>
              <a:rPr lang="en-US" altLang="ko-KR" sz="1200" dirty="0"/>
              <a:t> </a:t>
            </a:r>
            <a:r>
              <a:rPr lang="en-US" altLang="ko-KR" sz="1200" dirty="0" err="1"/>
              <a:t>những</a:t>
            </a:r>
            <a:r>
              <a:rPr lang="en-US" altLang="ko-KR" sz="1200" dirty="0"/>
              <a:t> </a:t>
            </a:r>
            <a:r>
              <a:rPr lang="en-US" altLang="ko-KR" sz="1200" dirty="0" err="1"/>
              <a:t>người</a:t>
            </a:r>
            <a:r>
              <a:rPr lang="en-US" altLang="ko-KR" sz="1200" dirty="0"/>
              <a:t> </a:t>
            </a:r>
            <a:r>
              <a:rPr lang="en-US" altLang="ko-KR" sz="1200" dirty="0" err="1"/>
              <a:t>đo</a:t>
            </a:r>
            <a:r>
              <a:rPr lang="en-US" altLang="ko-KR" sz="1200" dirty="0"/>
              <a:t> </a:t>
            </a:r>
            <a:r>
              <a:rPr lang="en-US" altLang="ko-KR" sz="1200" dirty="0" err="1"/>
              <a:t>đạc</a:t>
            </a:r>
            <a:endParaRPr lang="en-US" altLang="ko-KR" sz="1200" dirty="0"/>
          </a:p>
          <a:p>
            <a:pPr marL="171450" indent="-171450">
              <a:buFontTx/>
              <a:buChar char="-"/>
            </a:pPr>
            <a:r>
              <a:rPr lang="en-US" altLang="ko-KR" sz="1200" dirty="0" err="1"/>
              <a:t>Sự</a:t>
            </a:r>
            <a:r>
              <a:rPr lang="en-US" altLang="ko-KR" sz="1200" dirty="0"/>
              <a:t> </a:t>
            </a:r>
            <a:r>
              <a:rPr lang="en-US" altLang="ko-KR" sz="1200" dirty="0" err="1"/>
              <a:t>phân</a:t>
            </a:r>
            <a:r>
              <a:rPr lang="en-US" altLang="ko-KR" sz="1200" dirty="0"/>
              <a:t> </a:t>
            </a:r>
            <a:r>
              <a:rPr lang="en-US" altLang="ko-KR" sz="1200" dirty="0" err="1"/>
              <a:t>tán</a:t>
            </a:r>
            <a:r>
              <a:rPr lang="en-US" altLang="ko-KR" sz="1200" dirty="0"/>
              <a:t> </a:t>
            </a:r>
            <a:r>
              <a:rPr lang="en-US" altLang="ko-KR" sz="1200" dirty="0" err="1"/>
              <a:t>giữa</a:t>
            </a:r>
            <a:r>
              <a:rPr lang="en-US" altLang="ko-KR" sz="1200" dirty="0"/>
              <a:t> </a:t>
            </a:r>
            <a:r>
              <a:rPr lang="en-US" altLang="ko-KR" sz="1200" dirty="0" err="1"/>
              <a:t>những</a:t>
            </a:r>
            <a:r>
              <a:rPr lang="en-US" altLang="ko-KR" sz="1200" dirty="0"/>
              <a:t> </a:t>
            </a:r>
            <a:r>
              <a:rPr lang="en-US" altLang="ko-KR" sz="1200" dirty="0" err="1"/>
              <a:t>lần</a:t>
            </a:r>
            <a:r>
              <a:rPr lang="en-US" altLang="ko-KR" sz="1200" dirty="0"/>
              <a:t> </a:t>
            </a:r>
            <a:r>
              <a:rPr lang="en-US" altLang="ko-KR" sz="1200" dirty="0" err="1"/>
              <a:t>đo</a:t>
            </a:r>
            <a:r>
              <a:rPr lang="en-US" altLang="ko-KR" sz="1200" dirty="0"/>
              <a:t> </a:t>
            </a:r>
            <a:r>
              <a:rPr lang="en-US" altLang="ko-KR" sz="1200" dirty="0" err="1"/>
              <a:t>đạc</a:t>
            </a:r>
            <a:r>
              <a:rPr lang="en-US" altLang="ko-KR" sz="1200" dirty="0"/>
              <a:t> </a:t>
            </a:r>
            <a:r>
              <a:rPr lang="en-US" altLang="ko-KR" sz="1200" dirty="0" err="1"/>
              <a:t>lặp</a:t>
            </a:r>
            <a:r>
              <a:rPr lang="en-US" altLang="ko-KR" sz="1200" dirty="0"/>
              <a:t> </a:t>
            </a:r>
            <a:r>
              <a:rPr lang="en-US" altLang="ko-KR" sz="1200" dirty="0" err="1"/>
              <a:t>lại</a:t>
            </a:r>
            <a:endParaRPr lang="ko-KR" altLang="en-US" sz="1200" dirty="0"/>
          </a:p>
        </p:txBody>
      </p:sp>
      <p:sp>
        <p:nvSpPr>
          <p:cNvPr id="12" name="제목 8"/>
          <p:cNvSpPr txBox="1">
            <a:spLocks/>
          </p:cNvSpPr>
          <p:nvPr/>
        </p:nvSpPr>
        <p:spPr bwMode="auto">
          <a:xfrm>
            <a:off x="180243" y="188913"/>
            <a:ext cx="5615893"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Độ</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tỉ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mỉ</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a:t>
            </a:r>
            <a:r>
              <a:rPr lang="ko-KR" altLang="en-US"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Tiền</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lệ</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Ví</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dụ</a:t>
            </a:r>
            <a:r>
              <a:rPr lang="en-US" altLang="ko-KR" sz="1600" b="1" kern="0" dirty="0">
                <a:solidFill>
                  <a:sysClr val="windowText" lastClr="000000">
                    <a:lumMod val="75000"/>
                    <a:lumOff val="25000"/>
                  </a:sysClr>
                </a:solidFill>
                <a:latin typeface="맑은 고딕" pitchFamily="50" charset="-127"/>
                <a:ea typeface="맑은 고딕" pitchFamily="50" charset="-127"/>
              </a:rPr>
              <a:t> Gage R&amp;R </a:t>
            </a:r>
            <a:endParaRPr lang="ko-KR" altLang="en-US" sz="1600" b="1" kern="0" dirty="0">
              <a:solidFill>
                <a:srgbClr val="000000"/>
              </a:solidFill>
              <a:latin typeface="맑은 고딕"/>
              <a:ea typeface="맑은 고딕"/>
            </a:endParaRPr>
          </a:p>
        </p:txBody>
      </p:sp>
    </p:spTree>
    <p:extLst>
      <p:ext uri="{BB962C8B-B14F-4D97-AF65-F5344CB8AC3E}">
        <p14:creationId xmlns:p14="http://schemas.microsoft.com/office/powerpoint/2010/main" val="281510454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243290" y="188640"/>
            <a:ext cx="4023537" cy="400110"/>
          </a:xfrm>
          <a:prstGeom prst="rect">
            <a:avLst/>
          </a:prstGeom>
          <a:noFill/>
        </p:spPr>
        <p:txBody>
          <a:bodyPr wrap="none" rtlCol="0">
            <a:spAutoFit/>
          </a:bodyPr>
          <a:lstStyle/>
          <a:p>
            <a:r>
              <a:rPr lang="en-US" altLang="ko-KR" sz="2000" b="1" dirty="0" err="1"/>
              <a:t>Trình</a:t>
            </a:r>
            <a:r>
              <a:rPr lang="en-US" altLang="ko-KR" sz="2000" b="1" dirty="0"/>
              <a:t> </a:t>
            </a:r>
            <a:r>
              <a:rPr lang="en-US" altLang="ko-KR" sz="2000" b="1" dirty="0" err="1"/>
              <a:t>tự</a:t>
            </a:r>
            <a:r>
              <a:rPr lang="en-US" altLang="ko-KR" sz="2000" b="1" dirty="0"/>
              <a:t> </a:t>
            </a:r>
            <a:r>
              <a:rPr lang="en-US" altLang="ko-KR" sz="2000" b="1" dirty="0" err="1"/>
              <a:t>phân</a:t>
            </a:r>
            <a:r>
              <a:rPr lang="en-US" altLang="ko-KR" sz="2000" b="1" dirty="0"/>
              <a:t> </a:t>
            </a:r>
            <a:r>
              <a:rPr lang="en-US" altLang="ko-KR" sz="2000" b="1" dirty="0" err="1"/>
              <a:t>tích</a:t>
            </a:r>
            <a:r>
              <a:rPr lang="en-US" altLang="ko-KR" sz="2000" b="1" dirty="0"/>
              <a:t> </a:t>
            </a:r>
            <a:r>
              <a:rPr lang="en-US" altLang="ko-KR" sz="2000" b="1" dirty="0" err="1"/>
              <a:t>hệ</a:t>
            </a:r>
            <a:r>
              <a:rPr lang="en-US" altLang="ko-KR" sz="2000" b="1" dirty="0"/>
              <a:t> </a:t>
            </a:r>
            <a:r>
              <a:rPr lang="en-US" altLang="ko-KR" sz="2000" b="1" dirty="0" err="1"/>
              <a:t>thống</a:t>
            </a:r>
            <a:r>
              <a:rPr lang="en-US" altLang="ko-KR" sz="2000" b="1" dirty="0"/>
              <a:t> </a:t>
            </a:r>
            <a:r>
              <a:rPr lang="en-US" altLang="ko-KR" sz="2000" b="1" dirty="0" err="1"/>
              <a:t>đo</a:t>
            </a:r>
            <a:endParaRPr lang="ko-KR" altLang="en-US" sz="2000" b="1" dirty="0"/>
          </a:p>
        </p:txBody>
      </p:sp>
      <p:sp>
        <p:nvSpPr>
          <p:cNvPr id="6" name="모서리가 둥근 직사각형 5"/>
          <p:cNvSpPr/>
          <p:nvPr/>
        </p:nvSpPr>
        <p:spPr>
          <a:xfrm>
            <a:off x="3095836" y="1052736"/>
            <a:ext cx="2952328" cy="288032"/>
          </a:xfrm>
          <a:prstGeom prst="roundRect">
            <a:avLst>
              <a:gd name="adj" fmla="val 500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Phân</a:t>
            </a:r>
            <a:r>
              <a:rPr lang="en-US" altLang="ko-KR" sz="1200" dirty="0">
                <a:solidFill>
                  <a:schemeClr val="tx1"/>
                </a:solidFill>
              </a:rPr>
              <a:t> </a:t>
            </a:r>
            <a:r>
              <a:rPr lang="en-US" altLang="ko-KR" sz="1200" dirty="0" err="1">
                <a:solidFill>
                  <a:schemeClr val="tx1"/>
                </a:solidFill>
              </a:rPr>
              <a:t>tích</a:t>
            </a:r>
            <a:r>
              <a:rPr lang="en-US" altLang="ko-KR" sz="1200" dirty="0">
                <a:solidFill>
                  <a:schemeClr val="tx1"/>
                </a:solidFill>
              </a:rPr>
              <a:t> </a:t>
            </a:r>
            <a:r>
              <a:rPr lang="en-US" altLang="ko-KR" sz="1200" dirty="0" err="1">
                <a:solidFill>
                  <a:schemeClr val="tx1"/>
                </a:solidFill>
              </a:rPr>
              <a:t>hệ</a:t>
            </a:r>
            <a:r>
              <a:rPr lang="en-US" altLang="ko-KR" sz="1200" dirty="0">
                <a:solidFill>
                  <a:schemeClr val="tx1"/>
                </a:solidFill>
              </a:rPr>
              <a:t> </a:t>
            </a:r>
            <a:r>
              <a:rPr lang="en-US" altLang="ko-KR" sz="1200" dirty="0" err="1">
                <a:solidFill>
                  <a:schemeClr val="tx1"/>
                </a:solidFill>
              </a:rPr>
              <a:t>thống</a:t>
            </a:r>
            <a:r>
              <a:rPr lang="en-US" altLang="ko-KR" sz="1200" dirty="0">
                <a:solidFill>
                  <a:schemeClr val="tx1"/>
                </a:solidFill>
              </a:rPr>
              <a:t> </a:t>
            </a:r>
            <a:r>
              <a:rPr lang="en-US" altLang="ko-KR" sz="1200" dirty="0" err="1">
                <a:solidFill>
                  <a:schemeClr val="tx1"/>
                </a:solidFill>
              </a:rPr>
              <a:t>đo</a:t>
            </a:r>
            <a:endParaRPr lang="ko-KR" altLang="en-US" sz="1200" dirty="0">
              <a:solidFill>
                <a:schemeClr val="tx1"/>
              </a:solidFill>
            </a:endParaRPr>
          </a:p>
        </p:txBody>
      </p:sp>
      <p:sp>
        <p:nvSpPr>
          <p:cNvPr id="7" name="순서도: 판단 6"/>
          <p:cNvSpPr/>
          <p:nvPr/>
        </p:nvSpPr>
        <p:spPr>
          <a:xfrm>
            <a:off x="3707904" y="1700808"/>
            <a:ext cx="1728192" cy="432048"/>
          </a:xfrm>
          <a:prstGeom prst="flowChartDecision">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Độ</a:t>
            </a:r>
            <a:r>
              <a:rPr lang="en-US" altLang="ko-KR" sz="1200" dirty="0">
                <a:solidFill>
                  <a:schemeClr val="tx1"/>
                </a:solidFill>
              </a:rPr>
              <a:t> </a:t>
            </a:r>
            <a:r>
              <a:rPr lang="en-US" altLang="ko-KR" sz="1200" dirty="0" err="1">
                <a:solidFill>
                  <a:schemeClr val="tx1"/>
                </a:solidFill>
              </a:rPr>
              <a:t>phân</a:t>
            </a:r>
            <a:r>
              <a:rPr lang="en-US" altLang="ko-KR" sz="1200" dirty="0">
                <a:solidFill>
                  <a:schemeClr val="tx1"/>
                </a:solidFill>
              </a:rPr>
              <a:t> </a:t>
            </a:r>
            <a:r>
              <a:rPr lang="en-US" altLang="ko-KR" sz="1200" dirty="0" err="1">
                <a:solidFill>
                  <a:schemeClr val="tx1"/>
                </a:solidFill>
              </a:rPr>
              <a:t>giải</a:t>
            </a:r>
            <a:r>
              <a:rPr lang="en-US" altLang="ko-KR" sz="1200" dirty="0">
                <a:solidFill>
                  <a:schemeClr val="tx1"/>
                </a:solidFill>
              </a:rPr>
              <a:t> </a:t>
            </a:r>
            <a:r>
              <a:rPr lang="en-US" altLang="ko-KR" sz="1200" dirty="0" err="1">
                <a:solidFill>
                  <a:schemeClr val="tx1"/>
                </a:solidFill>
              </a:rPr>
              <a:t>thỏa</a:t>
            </a:r>
            <a:r>
              <a:rPr lang="en-US" altLang="ko-KR" sz="1200" dirty="0">
                <a:solidFill>
                  <a:schemeClr val="tx1"/>
                </a:solidFill>
              </a:rPr>
              <a:t> </a:t>
            </a:r>
            <a:r>
              <a:rPr lang="en-US" altLang="ko-KR" sz="1200" dirty="0" err="1">
                <a:solidFill>
                  <a:schemeClr val="tx1"/>
                </a:solidFill>
              </a:rPr>
              <a:t>mãn</a:t>
            </a:r>
            <a:endParaRPr lang="en-US" altLang="ko-KR" sz="1200" dirty="0">
              <a:solidFill>
                <a:schemeClr val="tx1"/>
              </a:solidFill>
            </a:endParaRPr>
          </a:p>
          <a:p>
            <a:pPr algn="ctr"/>
            <a:r>
              <a:rPr lang="en-US" altLang="ko-KR" sz="1200" dirty="0">
                <a:solidFill>
                  <a:schemeClr val="tx1"/>
                </a:solidFill>
              </a:rPr>
              <a:t>?</a:t>
            </a:r>
            <a:endParaRPr lang="ko-KR" altLang="en-US" sz="1200" dirty="0">
              <a:solidFill>
                <a:schemeClr val="tx1"/>
              </a:solidFill>
            </a:endParaRPr>
          </a:p>
        </p:txBody>
      </p:sp>
      <p:sp>
        <p:nvSpPr>
          <p:cNvPr id="8" name="직사각형 7"/>
          <p:cNvSpPr/>
          <p:nvPr/>
        </p:nvSpPr>
        <p:spPr>
          <a:xfrm>
            <a:off x="6372200" y="1700808"/>
            <a:ext cx="1872208"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Sử</a:t>
            </a:r>
            <a:r>
              <a:rPr lang="en-US" altLang="ko-KR" sz="1200" dirty="0">
                <a:solidFill>
                  <a:schemeClr val="tx1"/>
                </a:solidFill>
              </a:rPr>
              <a:t> </a:t>
            </a:r>
            <a:r>
              <a:rPr lang="en-US" altLang="ko-KR" sz="1200" dirty="0" err="1">
                <a:solidFill>
                  <a:schemeClr val="tx1"/>
                </a:solidFill>
              </a:rPr>
              <a:t>dụng</a:t>
            </a:r>
            <a:r>
              <a:rPr lang="en-US" altLang="ko-KR" sz="1200" dirty="0">
                <a:solidFill>
                  <a:schemeClr val="tx1"/>
                </a:solidFill>
              </a:rPr>
              <a:t> </a:t>
            </a:r>
            <a:r>
              <a:rPr lang="en-US" altLang="ko-KR" sz="1200" dirty="0" err="1">
                <a:solidFill>
                  <a:schemeClr val="tx1"/>
                </a:solidFill>
              </a:rPr>
              <a:t>dụng</a:t>
            </a:r>
            <a:r>
              <a:rPr lang="en-US" altLang="ko-KR" sz="1200" dirty="0">
                <a:solidFill>
                  <a:schemeClr val="tx1"/>
                </a:solidFill>
              </a:rPr>
              <a:t> </a:t>
            </a:r>
            <a:r>
              <a:rPr lang="en-US" altLang="ko-KR" sz="1200" dirty="0" err="1">
                <a:solidFill>
                  <a:schemeClr val="tx1"/>
                </a:solidFill>
              </a:rPr>
              <a:t>cụ</a:t>
            </a:r>
            <a:r>
              <a:rPr lang="en-US" altLang="ko-KR" sz="1200" dirty="0">
                <a:solidFill>
                  <a:schemeClr val="tx1"/>
                </a:solidFill>
              </a:rPr>
              <a:t> </a:t>
            </a:r>
            <a:r>
              <a:rPr lang="en-US" altLang="ko-KR" sz="1200" dirty="0" err="1">
                <a:solidFill>
                  <a:schemeClr val="tx1"/>
                </a:solidFill>
              </a:rPr>
              <a:t>đo</a:t>
            </a:r>
            <a:r>
              <a:rPr lang="en-US" altLang="ko-KR" sz="1200" dirty="0">
                <a:solidFill>
                  <a:schemeClr val="tx1"/>
                </a:solidFill>
              </a:rPr>
              <a:t> </a:t>
            </a:r>
            <a:r>
              <a:rPr lang="en-US" altLang="ko-KR" sz="1200" dirty="0" err="1">
                <a:solidFill>
                  <a:schemeClr val="tx1"/>
                </a:solidFill>
              </a:rPr>
              <a:t>có</a:t>
            </a:r>
            <a:r>
              <a:rPr lang="en-US" altLang="ko-KR" sz="1200" dirty="0">
                <a:solidFill>
                  <a:schemeClr val="tx1"/>
                </a:solidFill>
              </a:rPr>
              <a:t> </a:t>
            </a:r>
            <a:r>
              <a:rPr lang="en-US" altLang="ko-KR" sz="1200" dirty="0" err="1">
                <a:solidFill>
                  <a:schemeClr val="tx1"/>
                </a:solidFill>
              </a:rPr>
              <a:t>độ</a:t>
            </a:r>
            <a:r>
              <a:rPr lang="en-US" altLang="ko-KR" sz="1200" dirty="0">
                <a:solidFill>
                  <a:schemeClr val="tx1"/>
                </a:solidFill>
              </a:rPr>
              <a:t> </a:t>
            </a:r>
            <a:r>
              <a:rPr lang="en-US" altLang="ko-KR" sz="1200" dirty="0" err="1">
                <a:solidFill>
                  <a:schemeClr val="tx1"/>
                </a:solidFill>
              </a:rPr>
              <a:t>phân</a:t>
            </a:r>
            <a:r>
              <a:rPr lang="en-US" altLang="ko-KR" sz="1200" dirty="0">
                <a:solidFill>
                  <a:schemeClr val="tx1"/>
                </a:solidFill>
              </a:rPr>
              <a:t> </a:t>
            </a:r>
            <a:r>
              <a:rPr lang="en-US" altLang="ko-KR" sz="1200" dirty="0" err="1">
                <a:solidFill>
                  <a:schemeClr val="tx1"/>
                </a:solidFill>
              </a:rPr>
              <a:t>giải</a:t>
            </a:r>
            <a:r>
              <a:rPr lang="en-US" altLang="ko-KR" sz="1200" dirty="0">
                <a:solidFill>
                  <a:schemeClr val="tx1"/>
                </a:solidFill>
              </a:rPr>
              <a:t> </a:t>
            </a:r>
            <a:r>
              <a:rPr lang="en-US" altLang="ko-KR" sz="1200" dirty="0" err="1">
                <a:solidFill>
                  <a:schemeClr val="tx1"/>
                </a:solidFill>
              </a:rPr>
              <a:t>tốt</a:t>
            </a:r>
            <a:r>
              <a:rPr lang="en-US" altLang="ko-KR" sz="1200" dirty="0">
                <a:solidFill>
                  <a:schemeClr val="tx1"/>
                </a:solidFill>
              </a:rPr>
              <a:t> </a:t>
            </a:r>
            <a:r>
              <a:rPr lang="en-US" altLang="ko-KR" sz="1200" dirty="0" err="1">
                <a:solidFill>
                  <a:schemeClr val="tx1"/>
                </a:solidFill>
              </a:rPr>
              <a:t>hơn</a:t>
            </a:r>
            <a:endParaRPr lang="ko-KR" altLang="en-US" sz="1200" dirty="0">
              <a:solidFill>
                <a:schemeClr val="tx1"/>
              </a:solidFill>
            </a:endParaRPr>
          </a:p>
        </p:txBody>
      </p:sp>
      <p:sp>
        <p:nvSpPr>
          <p:cNvPr id="9" name="직사각형 8"/>
          <p:cNvSpPr/>
          <p:nvPr/>
        </p:nvSpPr>
        <p:spPr>
          <a:xfrm>
            <a:off x="3527884" y="2420888"/>
            <a:ext cx="2088232"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Tiến</a:t>
            </a:r>
            <a:r>
              <a:rPr lang="en-US" altLang="ko-KR" sz="1200" dirty="0">
                <a:solidFill>
                  <a:schemeClr val="tx1"/>
                </a:solidFill>
              </a:rPr>
              <a:t> </a:t>
            </a:r>
            <a:r>
              <a:rPr lang="en-US" altLang="ko-KR" sz="1200" dirty="0" err="1">
                <a:solidFill>
                  <a:schemeClr val="tx1"/>
                </a:solidFill>
              </a:rPr>
              <a:t>hành</a:t>
            </a:r>
            <a:r>
              <a:rPr lang="en-US" altLang="ko-KR" sz="1200" dirty="0">
                <a:solidFill>
                  <a:schemeClr val="tx1"/>
                </a:solidFill>
              </a:rPr>
              <a:t> Type 1 Study</a:t>
            </a:r>
            <a:endParaRPr lang="ko-KR" altLang="en-US" sz="1200" dirty="0">
              <a:solidFill>
                <a:schemeClr val="tx1"/>
              </a:solidFill>
            </a:endParaRPr>
          </a:p>
        </p:txBody>
      </p:sp>
      <p:sp>
        <p:nvSpPr>
          <p:cNvPr id="10" name="순서도: 판단 9"/>
          <p:cNvSpPr/>
          <p:nvPr/>
        </p:nvSpPr>
        <p:spPr>
          <a:xfrm>
            <a:off x="3707904" y="3140968"/>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Type1 </a:t>
            </a:r>
          </a:p>
          <a:p>
            <a:pPr algn="ctr"/>
            <a:r>
              <a:rPr lang="en-US" altLang="ko-KR" sz="1200" dirty="0">
                <a:solidFill>
                  <a:schemeClr val="tx1"/>
                </a:solidFill>
              </a:rPr>
              <a:t>OK ?</a:t>
            </a:r>
            <a:endParaRPr lang="ko-KR" altLang="en-US" sz="1200" dirty="0">
              <a:solidFill>
                <a:schemeClr val="tx1"/>
              </a:solidFill>
            </a:endParaRPr>
          </a:p>
        </p:txBody>
      </p:sp>
      <p:sp>
        <p:nvSpPr>
          <p:cNvPr id="11" name="순서도: 판단 10"/>
          <p:cNvSpPr/>
          <p:nvPr/>
        </p:nvSpPr>
        <p:spPr>
          <a:xfrm>
            <a:off x="6444208" y="3140968"/>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Cải</a:t>
            </a:r>
            <a:r>
              <a:rPr lang="en-US" altLang="ko-KR" sz="1200" dirty="0">
                <a:solidFill>
                  <a:schemeClr val="tx1"/>
                </a:solidFill>
              </a:rPr>
              <a:t> </a:t>
            </a:r>
            <a:r>
              <a:rPr lang="en-US" altLang="ko-KR" sz="1200" dirty="0" err="1">
                <a:solidFill>
                  <a:schemeClr val="tx1"/>
                </a:solidFill>
              </a:rPr>
              <a:t>thiện</a:t>
            </a:r>
            <a:endParaRPr lang="ko-KR" altLang="en-US" sz="1200" dirty="0">
              <a:solidFill>
                <a:schemeClr val="tx1"/>
              </a:solidFill>
            </a:endParaRPr>
          </a:p>
        </p:txBody>
      </p:sp>
      <p:sp>
        <p:nvSpPr>
          <p:cNvPr id="12" name="순서도: 판단 11"/>
          <p:cNvSpPr/>
          <p:nvPr/>
        </p:nvSpPr>
        <p:spPr>
          <a:xfrm>
            <a:off x="3707904" y="3789040"/>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rPr>
              <a:t>Ảnh</a:t>
            </a:r>
            <a:r>
              <a:rPr lang="en-US" altLang="ko-KR" sz="1000" dirty="0">
                <a:solidFill>
                  <a:schemeClr val="tx1"/>
                </a:solidFill>
              </a:rPr>
              <a:t> </a:t>
            </a:r>
            <a:r>
              <a:rPr lang="en-US" altLang="ko-KR" sz="1000" dirty="0" err="1">
                <a:solidFill>
                  <a:schemeClr val="tx1"/>
                </a:solidFill>
              </a:rPr>
              <a:t>hưởng</a:t>
            </a:r>
            <a:r>
              <a:rPr lang="en-US" altLang="ko-KR" sz="1000" dirty="0">
                <a:solidFill>
                  <a:schemeClr val="tx1"/>
                </a:solidFill>
              </a:rPr>
              <a:t> </a:t>
            </a:r>
            <a:r>
              <a:rPr lang="en-US" altLang="ko-KR" sz="1000" dirty="0" err="1">
                <a:solidFill>
                  <a:schemeClr val="tx1"/>
                </a:solidFill>
              </a:rPr>
              <a:t>của</a:t>
            </a:r>
            <a:r>
              <a:rPr lang="en-US" altLang="ko-KR" sz="1000" dirty="0">
                <a:solidFill>
                  <a:schemeClr val="tx1"/>
                </a:solidFill>
              </a:rPr>
              <a:t> </a:t>
            </a:r>
            <a:r>
              <a:rPr lang="en-US" altLang="ko-KR" sz="1000" dirty="0" err="1">
                <a:solidFill>
                  <a:schemeClr val="tx1"/>
                </a:solidFill>
              </a:rPr>
              <a:t>công</a:t>
            </a:r>
            <a:r>
              <a:rPr lang="en-US" altLang="ko-KR" sz="1000" dirty="0">
                <a:solidFill>
                  <a:schemeClr val="tx1"/>
                </a:solidFill>
              </a:rPr>
              <a:t> </a:t>
            </a:r>
            <a:r>
              <a:rPr lang="en-US" altLang="ko-KR" sz="1000" dirty="0" err="1">
                <a:solidFill>
                  <a:schemeClr val="tx1"/>
                </a:solidFill>
              </a:rPr>
              <a:t>nhân</a:t>
            </a:r>
            <a:r>
              <a:rPr lang="en-US" altLang="ko-KR" sz="1000" dirty="0">
                <a:solidFill>
                  <a:schemeClr val="tx1"/>
                </a:solidFill>
              </a:rPr>
              <a:t>?</a:t>
            </a:r>
            <a:endParaRPr lang="ko-KR" altLang="en-US" sz="1000" dirty="0">
              <a:solidFill>
                <a:schemeClr val="tx1"/>
              </a:solidFill>
            </a:endParaRPr>
          </a:p>
        </p:txBody>
      </p:sp>
      <p:sp>
        <p:nvSpPr>
          <p:cNvPr id="13" name="순서도: 판단 12"/>
          <p:cNvSpPr/>
          <p:nvPr/>
        </p:nvSpPr>
        <p:spPr>
          <a:xfrm>
            <a:off x="2228015" y="5517232"/>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Type2</a:t>
            </a:r>
          </a:p>
          <a:p>
            <a:pPr algn="ctr"/>
            <a:r>
              <a:rPr lang="en-US" altLang="ko-KR" sz="1200" dirty="0">
                <a:solidFill>
                  <a:schemeClr val="tx1"/>
                </a:solidFill>
              </a:rPr>
              <a:t>OK ?</a:t>
            </a:r>
            <a:endParaRPr lang="ko-KR" altLang="en-US" sz="1200" dirty="0">
              <a:solidFill>
                <a:schemeClr val="tx1"/>
              </a:solidFill>
            </a:endParaRPr>
          </a:p>
        </p:txBody>
      </p:sp>
      <p:sp>
        <p:nvSpPr>
          <p:cNvPr id="14" name="순서도: 판단 13"/>
          <p:cNvSpPr/>
          <p:nvPr/>
        </p:nvSpPr>
        <p:spPr>
          <a:xfrm>
            <a:off x="5187792" y="5085184"/>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 3</a:t>
            </a:r>
          </a:p>
          <a:p>
            <a:pPr algn="ctr"/>
            <a:r>
              <a:rPr lang="en-US" altLang="ko-KR" sz="1200" dirty="0">
                <a:solidFill>
                  <a:schemeClr val="tx1"/>
                </a:solidFill>
              </a:rPr>
              <a:t>OK ?</a:t>
            </a:r>
            <a:endParaRPr lang="ko-KR" altLang="en-US" sz="1200" dirty="0">
              <a:solidFill>
                <a:schemeClr val="tx1"/>
              </a:solidFill>
            </a:endParaRPr>
          </a:p>
        </p:txBody>
      </p:sp>
      <p:sp>
        <p:nvSpPr>
          <p:cNvPr id="15" name="직사각형 14"/>
          <p:cNvSpPr/>
          <p:nvPr/>
        </p:nvSpPr>
        <p:spPr>
          <a:xfrm>
            <a:off x="5148064" y="4437112"/>
            <a:ext cx="1807649"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Tiến</a:t>
            </a:r>
            <a:r>
              <a:rPr lang="en-US" altLang="ko-KR" sz="1200" dirty="0">
                <a:solidFill>
                  <a:schemeClr val="tx1"/>
                </a:solidFill>
              </a:rPr>
              <a:t> </a:t>
            </a:r>
            <a:r>
              <a:rPr lang="en-US" altLang="ko-KR" sz="1200" dirty="0" err="1">
                <a:solidFill>
                  <a:schemeClr val="tx1"/>
                </a:solidFill>
              </a:rPr>
              <a:t>hành</a:t>
            </a:r>
            <a:r>
              <a:rPr lang="en-US" altLang="ko-KR" sz="1200" dirty="0">
                <a:solidFill>
                  <a:schemeClr val="tx1"/>
                </a:solidFill>
              </a:rPr>
              <a:t> Type 3 Study</a:t>
            </a:r>
            <a:endParaRPr lang="ko-KR" altLang="en-US" sz="1200" dirty="0">
              <a:solidFill>
                <a:schemeClr val="tx1"/>
              </a:solidFill>
            </a:endParaRPr>
          </a:p>
        </p:txBody>
      </p:sp>
      <p:sp>
        <p:nvSpPr>
          <p:cNvPr id="16" name="직사각형 15"/>
          <p:cNvSpPr/>
          <p:nvPr/>
        </p:nvSpPr>
        <p:spPr>
          <a:xfrm>
            <a:off x="2188287" y="4437112"/>
            <a:ext cx="1807649"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Tiến</a:t>
            </a:r>
            <a:r>
              <a:rPr lang="en-US" altLang="ko-KR" sz="1200" dirty="0">
                <a:solidFill>
                  <a:schemeClr val="tx1"/>
                </a:solidFill>
              </a:rPr>
              <a:t> </a:t>
            </a:r>
            <a:r>
              <a:rPr lang="en-US" altLang="ko-KR" sz="1200" dirty="0" err="1">
                <a:solidFill>
                  <a:schemeClr val="tx1"/>
                </a:solidFill>
              </a:rPr>
              <a:t>hành</a:t>
            </a:r>
            <a:r>
              <a:rPr lang="en-US" altLang="ko-KR" sz="1200" dirty="0">
                <a:solidFill>
                  <a:schemeClr val="tx1"/>
                </a:solidFill>
              </a:rPr>
              <a:t> Type 2 Study</a:t>
            </a:r>
            <a:endParaRPr lang="ko-KR" altLang="en-US" sz="1200" dirty="0">
              <a:solidFill>
                <a:schemeClr val="tx1"/>
              </a:solidFill>
            </a:endParaRPr>
          </a:p>
        </p:txBody>
      </p:sp>
      <p:cxnSp>
        <p:nvCxnSpPr>
          <p:cNvPr id="18" name="직선 화살표 연결선 17"/>
          <p:cNvCxnSpPr>
            <a:stCxn id="6" idx="2"/>
            <a:endCxn id="7" idx="0"/>
          </p:cNvCxnSpPr>
          <p:nvPr/>
        </p:nvCxnSpPr>
        <p:spPr>
          <a:xfrm>
            <a:off x="4572000" y="1340768"/>
            <a:ext cx="0" cy="36004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a:stCxn id="7" idx="2"/>
            <a:endCxn id="9" idx="0"/>
          </p:cNvCxnSpPr>
          <p:nvPr/>
        </p:nvCxnSpPr>
        <p:spPr>
          <a:xfrm>
            <a:off x="4572000" y="2132856"/>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a:stCxn id="9" idx="2"/>
            <a:endCxn id="10" idx="0"/>
          </p:cNvCxnSpPr>
          <p:nvPr/>
        </p:nvCxnSpPr>
        <p:spPr>
          <a:xfrm>
            <a:off x="4572000" y="2852936"/>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직선 화살표 연결선 23"/>
          <p:cNvCxnSpPr>
            <a:stCxn id="10" idx="2"/>
            <a:endCxn id="12" idx="0"/>
          </p:cNvCxnSpPr>
          <p:nvPr/>
        </p:nvCxnSpPr>
        <p:spPr>
          <a:xfrm>
            <a:off x="4572000" y="3573016"/>
            <a:ext cx="0" cy="21602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6" name="직선 화살표 연결선 25"/>
          <p:cNvCxnSpPr>
            <a:stCxn id="10" idx="3"/>
            <a:endCxn id="11" idx="1"/>
          </p:cNvCxnSpPr>
          <p:nvPr/>
        </p:nvCxnSpPr>
        <p:spPr>
          <a:xfrm>
            <a:off x="5436096" y="3356992"/>
            <a:ext cx="10081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직선 화살표 연결선 27"/>
          <p:cNvCxnSpPr>
            <a:stCxn id="7" idx="3"/>
            <a:endCxn id="8" idx="1"/>
          </p:cNvCxnSpPr>
          <p:nvPr/>
        </p:nvCxnSpPr>
        <p:spPr>
          <a:xfrm>
            <a:off x="5436096" y="1916832"/>
            <a:ext cx="93610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타원 28"/>
          <p:cNvSpPr/>
          <p:nvPr/>
        </p:nvSpPr>
        <p:spPr>
          <a:xfrm>
            <a:off x="4250460" y="1436659"/>
            <a:ext cx="288032" cy="144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31" name="꺾인 연결선 30"/>
          <p:cNvCxnSpPr>
            <a:stCxn id="8" idx="0"/>
            <a:endCxn id="29" idx="6"/>
          </p:cNvCxnSpPr>
          <p:nvPr/>
        </p:nvCxnSpPr>
        <p:spPr>
          <a:xfrm rot="16200000" flipV="1">
            <a:off x="5827328" y="219832"/>
            <a:ext cx="192141" cy="276981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타원 31"/>
          <p:cNvSpPr/>
          <p:nvPr/>
        </p:nvSpPr>
        <p:spPr>
          <a:xfrm>
            <a:off x="4250460" y="2924943"/>
            <a:ext cx="288032" cy="144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33" name="꺾인 연결선 32"/>
          <p:cNvCxnSpPr>
            <a:stCxn id="11" idx="0"/>
            <a:endCxn id="32" idx="6"/>
          </p:cNvCxnSpPr>
          <p:nvPr/>
        </p:nvCxnSpPr>
        <p:spPr>
          <a:xfrm rot="16200000" flipV="1">
            <a:off x="5851390" y="1684054"/>
            <a:ext cx="144017" cy="276981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12" idx="1"/>
            <a:endCxn id="16" idx="0"/>
          </p:cNvCxnSpPr>
          <p:nvPr/>
        </p:nvCxnSpPr>
        <p:spPr>
          <a:xfrm rot="10800000" flipV="1">
            <a:off x="3092112" y="4005064"/>
            <a:ext cx="615792" cy="432048"/>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12" idx="3"/>
            <a:endCxn id="15" idx="0"/>
          </p:cNvCxnSpPr>
          <p:nvPr/>
        </p:nvCxnSpPr>
        <p:spPr>
          <a:xfrm>
            <a:off x="5436096" y="4005064"/>
            <a:ext cx="615793" cy="432048"/>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직선 화살표 연결선 39"/>
          <p:cNvCxnSpPr>
            <a:stCxn id="16" idx="2"/>
            <a:endCxn id="13" idx="0"/>
          </p:cNvCxnSpPr>
          <p:nvPr/>
        </p:nvCxnSpPr>
        <p:spPr>
          <a:xfrm flipH="1">
            <a:off x="3092111" y="4869160"/>
            <a:ext cx="1" cy="64807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직선 화살표 연결선 41"/>
          <p:cNvCxnSpPr>
            <a:endCxn id="14" idx="0"/>
          </p:cNvCxnSpPr>
          <p:nvPr/>
        </p:nvCxnSpPr>
        <p:spPr>
          <a:xfrm flipH="1">
            <a:off x="6051888" y="4869160"/>
            <a:ext cx="2" cy="21602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14" idx="3"/>
            <a:endCxn id="11" idx="2"/>
          </p:cNvCxnSpPr>
          <p:nvPr/>
        </p:nvCxnSpPr>
        <p:spPr>
          <a:xfrm flipV="1">
            <a:off x="6915984" y="3573016"/>
            <a:ext cx="392320" cy="172819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5599362" y="1590633"/>
            <a:ext cx="455574" cy="369332"/>
          </a:xfrm>
          <a:prstGeom prst="rect">
            <a:avLst/>
          </a:prstGeom>
          <a:noFill/>
        </p:spPr>
        <p:txBody>
          <a:bodyPr wrap="none" rtlCol="0">
            <a:spAutoFit/>
          </a:bodyPr>
          <a:lstStyle/>
          <a:p>
            <a:r>
              <a:rPr lang="en-US" altLang="ko-KR" dirty="0"/>
              <a:t>no</a:t>
            </a:r>
            <a:endParaRPr lang="ko-KR" altLang="en-US" dirty="0"/>
          </a:p>
        </p:txBody>
      </p:sp>
      <p:sp>
        <p:nvSpPr>
          <p:cNvPr id="46" name="TextBox 45"/>
          <p:cNvSpPr txBox="1"/>
          <p:nvPr/>
        </p:nvSpPr>
        <p:spPr>
          <a:xfrm>
            <a:off x="4572000" y="2051556"/>
            <a:ext cx="520079" cy="369332"/>
          </a:xfrm>
          <a:prstGeom prst="rect">
            <a:avLst/>
          </a:prstGeom>
          <a:noFill/>
        </p:spPr>
        <p:txBody>
          <a:bodyPr wrap="none" rtlCol="0">
            <a:spAutoFit/>
          </a:bodyPr>
          <a:lstStyle/>
          <a:p>
            <a:r>
              <a:rPr lang="en-US" altLang="ko-KR" dirty="0"/>
              <a:t>yes</a:t>
            </a:r>
            <a:endParaRPr lang="ko-KR" altLang="en-US" dirty="0"/>
          </a:p>
        </p:txBody>
      </p:sp>
      <p:sp>
        <p:nvSpPr>
          <p:cNvPr id="47" name="TextBox 46"/>
          <p:cNvSpPr txBox="1"/>
          <p:nvPr/>
        </p:nvSpPr>
        <p:spPr>
          <a:xfrm>
            <a:off x="5599362" y="3041293"/>
            <a:ext cx="455574" cy="369332"/>
          </a:xfrm>
          <a:prstGeom prst="rect">
            <a:avLst/>
          </a:prstGeom>
          <a:noFill/>
        </p:spPr>
        <p:txBody>
          <a:bodyPr wrap="none" rtlCol="0">
            <a:spAutoFit/>
          </a:bodyPr>
          <a:lstStyle/>
          <a:p>
            <a:r>
              <a:rPr lang="en-US" altLang="ko-KR" dirty="0"/>
              <a:t>no</a:t>
            </a:r>
            <a:endParaRPr lang="ko-KR" altLang="en-US" dirty="0"/>
          </a:p>
        </p:txBody>
      </p:sp>
      <p:sp>
        <p:nvSpPr>
          <p:cNvPr id="48" name="TextBox 47"/>
          <p:cNvSpPr txBox="1"/>
          <p:nvPr/>
        </p:nvSpPr>
        <p:spPr>
          <a:xfrm>
            <a:off x="4625008" y="3474504"/>
            <a:ext cx="520079" cy="369332"/>
          </a:xfrm>
          <a:prstGeom prst="rect">
            <a:avLst/>
          </a:prstGeom>
          <a:noFill/>
        </p:spPr>
        <p:txBody>
          <a:bodyPr wrap="none" rtlCol="0">
            <a:spAutoFit/>
          </a:bodyPr>
          <a:lstStyle/>
          <a:p>
            <a:r>
              <a:rPr lang="en-US" altLang="ko-KR" dirty="0"/>
              <a:t>yes</a:t>
            </a:r>
            <a:endParaRPr lang="ko-KR" altLang="en-US" dirty="0"/>
          </a:p>
        </p:txBody>
      </p:sp>
      <p:sp>
        <p:nvSpPr>
          <p:cNvPr id="49" name="TextBox 48"/>
          <p:cNvSpPr txBox="1"/>
          <p:nvPr/>
        </p:nvSpPr>
        <p:spPr>
          <a:xfrm>
            <a:off x="3059832" y="3645024"/>
            <a:ext cx="520079" cy="369332"/>
          </a:xfrm>
          <a:prstGeom prst="rect">
            <a:avLst/>
          </a:prstGeom>
          <a:noFill/>
        </p:spPr>
        <p:txBody>
          <a:bodyPr wrap="none" rtlCol="0">
            <a:spAutoFit/>
          </a:bodyPr>
          <a:lstStyle/>
          <a:p>
            <a:r>
              <a:rPr lang="en-US" altLang="ko-KR" dirty="0"/>
              <a:t>yes</a:t>
            </a:r>
            <a:endParaRPr lang="ko-KR" altLang="en-US" dirty="0"/>
          </a:p>
        </p:txBody>
      </p:sp>
      <p:sp>
        <p:nvSpPr>
          <p:cNvPr id="50" name="TextBox 49"/>
          <p:cNvSpPr txBox="1"/>
          <p:nvPr/>
        </p:nvSpPr>
        <p:spPr>
          <a:xfrm>
            <a:off x="5599362" y="3645024"/>
            <a:ext cx="455574" cy="369332"/>
          </a:xfrm>
          <a:prstGeom prst="rect">
            <a:avLst/>
          </a:prstGeom>
          <a:noFill/>
        </p:spPr>
        <p:txBody>
          <a:bodyPr wrap="none" rtlCol="0">
            <a:spAutoFit/>
          </a:bodyPr>
          <a:lstStyle/>
          <a:p>
            <a:r>
              <a:rPr lang="en-US" altLang="ko-KR" dirty="0"/>
              <a:t>no</a:t>
            </a:r>
            <a:endParaRPr lang="ko-KR" altLang="en-US" dirty="0"/>
          </a:p>
        </p:txBody>
      </p:sp>
      <p:cxnSp>
        <p:nvCxnSpPr>
          <p:cNvPr id="52" name="꺾인 연결선 51"/>
          <p:cNvCxnSpPr>
            <a:stCxn id="13" idx="3"/>
            <a:endCxn id="11" idx="2"/>
          </p:cNvCxnSpPr>
          <p:nvPr/>
        </p:nvCxnSpPr>
        <p:spPr>
          <a:xfrm flipV="1">
            <a:off x="3956207" y="3573016"/>
            <a:ext cx="3352097" cy="2160240"/>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5" name="타원 54"/>
          <p:cNvSpPr/>
          <p:nvPr/>
        </p:nvSpPr>
        <p:spPr>
          <a:xfrm>
            <a:off x="4427984" y="6021288"/>
            <a:ext cx="288032" cy="28803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57" name="꺾인 연결선 56"/>
          <p:cNvCxnSpPr>
            <a:stCxn id="14" idx="2"/>
            <a:endCxn id="55" idx="6"/>
          </p:cNvCxnSpPr>
          <p:nvPr/>
        </p:nvCxnSpPr>
        <p:spPr>
          <a:xfrm rot="5400000">
            <a:off x="5059916" y="5173332"/>
            <a:ext cx="648072" cy="1335872"/>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9" name="꺾인 연결선 58"/>
          <p:cNvCxnSpPr>
            <a:stCxn id="13" idx="2"/>
            <a:endCxn id="55" idx="2"/>
          </p:cNvCxnSpPr>
          <p:nvPr/>
        </p:nvCxnSpPr>
        <p:spPr>
          <a:xfrm rot="16200000" flipH="1">
            <a:off x="3652035" y="5389355"/>
            <a:ext cx="216024" cy="1335873"/>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6852730" y="4931876"/>
            <a:ext cx="455574" cy="369332"/>
          </a:xfrm>
          <a:prstGeom prst="rect">
            <a:avLst/>
          </a:prstGeom>
          <a:noFill/>
        </p:spPr>
        <p:txBody>
          <a:bodyPr wrap="none" rtlCol="0">
            <a:spAutoFit/>
          </a:bodyPr>
          <a:lstStyle/>
          <a:p>
            <a:r>
              <a:rPr lang="en-US" altLang="ko-KR" dirty="0"/>
              <a:t>no</a:t>
            </a:r>
            <a:endParaRPr lang="ko-KR" altLang="en-US" dirty="0"/>
          </a:p>
        </p:txBody>
      </p:sp>
      <p:sp>
        <p:nvSpPr>
          <p:cNvPr id="62" name="TextBox 61"/>
          <p:cNvSpPr txBox="1"/>
          <p:nvPr/>
        </p:nvSpPr>
        <p:spPr>
          <a:xfrm>
            <a:off x="3995936" y="5363924"/>
            <a:ext cx="455574" cy="369332"/>
          </a:xfrm>
          <a:prstGeom prst="rect">
            <a:avLst/>
          </a:prstGeom>
          <a:noFill/>
        </p:spPr>
        <p:txBody>
          <a:bodyPr wrap="none" rtlCol="0">
            <a:spAutoFit/>
          </a:bodyPr>
          <a:lstStyle/>
          <a:p>
            <a:r>
              <a:rPr lang="en-US" altLang="ko-KR" dirty="0"/>
              <a:t>no</a:t>
            </a:r>
            <a:endParaRPr lang="ko-KR" altLang="en-US" dirty="0"/>
          </a:p>
        </p:txBody>
      </p:sp>
      <p:sp>
        <p:nvSpPr>
          <p:cNvPr id="63" name="TextBox 62"/>
          <p:cNvSpPr txBox="1"/>
          <p:nvPr/>
        </p:nvSpPr>
        <p:spPr>
          <a:xfrm>
            <a:off x="3212232" y="5877272"/>
            <a:ext cx="520079" cy="369332"/>
          </a:xfrm>
          <a:prstGeom prst="rect">
            <a:avLst/>
          </a:prstGeom>
          <a:noFill/>
        </p:spPr>
        <p:txBody>
          <a:bodyPr wrap="none" rtlCol="0">
            <a:spAutoFit/>
          </a:bodyPr>
          <a:lstStyle/>
          <a:p>
            <a:r>
              <a:rPr lang="en-US" altLang="ko-KR" dirty="0"/>
              <a:t>yes</a:t>
            </a:r>
            <a:endParaRPr lang="ko-KR" altLang="en-US" dirty="0"/>
          </a:p>
        </p:txBody>
      </p:sp>
      <p:sp>
        <p:nvSpPr>
          <p:cNvPr id="64" name="TextBox 63"/>
          <p:cNvSpPr txBox="1"/>
          <p:nvPr/>
        </p:nvSpPr>
        <p:spPr>
          <a:xfrm>
            <a:off x="6068145" y="5733256"/>
            <a:ext cx="520079" cy="369332"/>
          </a:xfrm>
          <a:prstGeom prst="rect">
            <a:avLst/>
          </a:prstGeom>
          <a:noFill/>
        </p:spPr>
        <p:txBody>
          <a:bodyPr wrap="none" rtlCol="0">
            <a:spAutoFit/>
          </a:bodyPr>
          <a:lstStyle/>
          <a:p>
            <a:r>
              <a:rPr lang="en-US" altLang="ko-KR" dirty="0"/>
              <a:t>yes</a:t>
            </a:r>
            <a:endParaRPr lang="ko-KR" altLang="en-US" dirty="0"/>
          </a:p>
        </p:txBody>
      </p:sp>
      <p:cxnSp>
        <p:nvCxnSpPr>
          <p:cNvPr id="66" name="직선 화살표 연결선 65"/>
          <p:cNvCxnSpPr>
            <a:stCxn id="14" idx="2"/>
          </p:cNvCxnSpPr>
          <p:nvPr/>
        </p:nvCxnSpPr>
        <p:spPr>
          <a:xfrm flipH="1">
            <a:off x="6044665" y="5517232"/>
            <a:ext cx="7223" cy="57592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9" name="직선 연결선 68"/>
          <p:cNvCxnSpPr>
            <a:stCxn id="55" idx="4"/>
          </p:cNvCxnSpPr>
          <p:nvPr/>
        </p:nvCxnSpPr>
        <p:spPr>
          <a:xfrm>
            <a:off x="4572000" y="6309320"/>
            <a:ext cx="0" cy="216024"/>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1" name="타원 70"/>
          <p:cNvSpPr/>
          <p:nvPr/>
        </p:nvSpPr>
        <p:spPr>
          <a:xfrm>
            <a:off x="8604448" y="6263497"/>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73" name="꺾인 연결선 72"/>
          <p:cNvCxnSpPr>
            <a:stCxn id="71" idx="0"/>
            <a:endCxn id="11" idx="3"/>
          </p:cNvCxnSpPr>
          <p:nvPr/>
        </p:nvCxnSpPr>
        <p:spPr>
          <a:xfrm rot="16200000" flipV="1">
            <a:off x="7007180" y="4522213"/>
            <a:ext cx="2906505" cy="576064"/>
          </a:xfrm>
          <a:prstGeom prst="bentConnector2">
            <a:avLst/>
          </a:prstGeom>
          <a:ln>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타원 73"/>
          <p:cNvSpPr/>
          <p:nvPr/>
        </p:nvSpPr>
        <p:spPr>
          <a:xfrm>
            <a:off x="7177540" y="6263497"/>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76" name="직선 화살표 연결선 75"/>
          <p:cNvCxnSpPr>
            <a:stCxn id="74" idx="0"/>
            <a:endCxn id="11" idx="2"/>
          </p:cNvCxnSpPr>
          <p:nvPr/>
        </p:nvCxnSpPr>
        <p:spPr>
          <a:xfrm flipH="1" flipV="1">
            <a:off x="7308304" y="3573016"/>
            <a:ext cx="13252" cy="269048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7284778" y="5877272"/>
            <a:ext cx="455574" cy="369332"/>
          </a:xfrm>
          <a:prstGeom prst="rect">
            <a:avLst/>
          </a:prstGeom>
          <a:noFill/>
        </p:spPr>
        <p:txBody>
          <a:bodyPr wrap="none" rtlCol="0">
            <a:spAutoFit/>
          </a:bodyPr>
          <a:lstStyle/>
          <a:p>
            <a:r>
              <a:rPr lang="en-US" altLang="ko-KR" dirty="0"/>
              <a:t>no</a:t>
            </a:r>
            <a:endParaRPr lang="ko-KR" altLang="en-US" dirty="0"/>
          </a:p>
        </p:txBody>
      </p:sp>
      <p:sp>
        <p:nvSpPr>
          <p:cNvPr id="80" name="TextBox 79"/>
          <p:cNvSpPr txBox="1"/>
          <p:nvPr/>
        </p:nvSpPr>
        <p:spPr>
          <a:xfrm>
            <a:off x="8244408" y="2996952"/>
            <a:ext cx="455574" cy="369332"/>
          </a:xfrm>
          <a:prstGeom prst="rect">
            <a:avLst/>
          </a:prstGeom>
          <a:noFill/>
        </p:spPr>
        <p:txBody>
          <a:bodyPr wrap="none" rtlCol="0">
            <a:spAutoFit/>
          </a:bodyPr>
          <a:lstStyle/>
          <a:p>
            <a:r>
              <a:rPr lang="en-US" altLang="ko-KR" dirty="0"/>
              <a:t>no</a:t>
            </a:r>
            <a:endParaRPr lang="ko-KR" altLang="en-US" dirty="0"/>
          </a:p>
        </p:txBody>
      </p:sp>
      <p:sp>
        <p:nvSpPr>
          <p:cNvPr id="81" name="TextBox 80"/>
          <p:cNvSpPr txBox="1"/>
          <p:nvPr/>
        </p:nvSpPr>
        <p:spPr>
          <a:xfrm>
            <a:off x="6212161" y="2608620"/>
            <a:ext cx="520079" cy="369332"/>
          </a:xfrm>
          <a:prstGeom prst="rect">
            <a:avLst/>
          </a:prstGeom>
          <a:noFill/>
        </p:spPr>
        <p:txBody>
          <a:bodyPr wrap="none" rtlCol="0">
            <a:spAutoFit/>
          </a:bodyPr>
          <a:lstStyle/>
          <a:p>
            <a:r>
              <a:rPr lang="en-US" altLang="ko-KR" dirty="0"/>
              <a:t>yes</a:t>
            </a:r>
            <a:endParaRPr lang="ko-KR" altLang="en-US" dirty="0"/>
          </a:p>
        </p:txBody>
      </p:sp>
      <p:sp>
        <p:nvSpPr>
          <p:cNvPr id="82" name="TextBox 81"/>
          <p:cNvSpPr txBox="1"/>
          <p:nvPr/>
        </p:nvSpPr>
        <p:spPr>
          <a:xfrm>
            <a:off x="5076056" y="332656"/>
            <a:ext cx="3980577" cy="276999"/>
          </a:xfrm>
          <a:prstGeom prst="rect">
            <a:avLst/>
          </a:prstGeom>
          <a:noFill/>
        </p:spPr>
        <p:txBody>
          <a:bodyPr wrap="none" rtlCol="0">
            <a:spAutoFit/>
          </a:bodyPr>
          <a:lstStyle/>
          <a:p>
            <a:r>
              <a:rPr lang="en-US" altLang="ko-KR" sz="1200" dirty="0"/>
              <a:t>(</a:t>
            </a:r>
            <a:r>
              <a:rPr lang="en-US" altLang="ko-KR" sz="1200" dirty="0" err="1"/>
              <a:t>Trình</a:t>
            </a:r>
            <a:r>
              <a:rPr lang="en-US" altLang="ko-KR" sz="1200" dirty="0"/>
              <a:t> </a:t>
            </a:r>
            <a:r>
              <a:rPr lang="en-US" altLang="ko-KR" sz="1200" dirty="0" err="1"/>
              <a:t>tự</a:t>
            </a:r>
            <a:r>
              <a:rPr lang="en-US" altLang="ko-KR" sz="1200" dirty="0"/>
              <a:t> </a:t>
            </a:r>
            <a:r>
              <a:rPr lang="en-US" altLang="ko-KR" sz="1200" dirty="0" err="1"/>
              <a:t>phân</a:t>
            </a:r>
            <a:r>
              <a:rPr lang="en-US" altLang="ko-KR" sz="1200" dirty="0"/>
              <a:t> </a:t>
            </a:r>
            <a:r>
              <a:rPr lang="en-US" altLang="ko-KR" sz="1200" dirty="0" err="1"/>
              <a:t>tích</a:t>
            </a:r>
            <a:r>
              <a:rPr lang="en-US" altLang="ko-KR" sz="1200" dirty="0"/>
              <a:t> </a:t>
            </a:r>
            <a:r>
              <a:rPr lang="en-US" altLang="ko-KR" sz="1200" dirty="0" err="1"/>
              <a:t>hệ</a:t>
            </a:r>
            <a:r>
              <a:rPr lang="en-US" altLang="ko-KR" sz="1200" dirty="0"/>
              <a:t> </a:t>
            </a:r>
            <a:r>
              <a:rPr lang="en-US" altLang="ko-KR" sz="1200" dirty="0" err="1"/>
              <a:t>thống</a:t>
            </a:r>
            <a:r>
              <a:rPr lang="en-US" altLang="ko-KR" sz="1200" dirty="0"/>
              <a:t> </a:t>
            </a:r>
            <a:r>
              <a:rPr lang="en-US" altLang="ko-KR" sz="1200" dirty="0" err="1"/>
              <a:t>đo</a:t>
            </a:r>
            <a:r>
              <a:rPr lang="en-US" altLang="ko-KR" sz="1200" dirty="0"/>
              <a:t> </a:t>
            </a:r>
            <a:r>
              <a:rPr lang="en-US" altLang="ko-KR" sz="1200" dirty="0" err="1"/>
              <a:t>lường</a:t>
            </a:r>
            <a:r>
              <a:rPr lang="ko-KR" altLang="en-US" sz="1200" dirty="0"/>
              <a:t> </a:t>
            </a:r>
            <a:r>
              <a:rPr lang="en-US" altLang="ko-KR" sz="1200" dirty="0"/>
              <a:t>Bosch 2003 )</a:t>
            </a:r>
            <a:endParaRPr lang="ko-KR" altLang="en-US" sz="1200" dirty="0"/>
          </a:p>
        </p:txBody>
      </p:sp>
    </p:spTree>
    <p:extLst>
      <p:ext uri="{BB962C8B-B14F-4D97-AF65-F5344CB8AC3E}">
        <p14:creationId xmlns:p14="http://schemas.microsoft.com/office/powerpoint/2010/main" val="244750473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순서도: 판단 2"/>
          <p:cNvSpPr/>
          <p:nvPr/>
        </p:nvSpPr>
        <p:spPr>
          <a:xfrm>
            <a:off x="3707904" y="1412776"/>
            <a:ext cx="1935666"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Need Type 4?</a:t>
            </a:r>
          </a:p>
        </p:txBody>
      </p:sp>
      <p:sp>
        <p:nvSpPr>
          <p:cNvPr id="4" name="직사각형 3"/>
          <p:cNvSpPr/>
          <p:nvPr/>
        </p:nvSpPr>
        <p:spPr>
          <a:xfrm>
            <a:off x="539552" y="3573016"/>
            <a:ext cx="1728192"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Permit distributing Measurement system</a:t>
            </a:r>
            <a:endParaRPr lang="ko-KR" altLang="en-US" sz="1200" dirty="0">
              <a:solidFill>
                <a:schemeClr val="tx1"/>
              </a:solidFill>
            </a:endParaRPr>
          </a:p>
        </p:txBody>
      </p:sp>
      <p:sp>
        <p:nvSpPr>
          <p:cNvPr id="5" name="직사각형 4"/>
          <p:cNvSpPr/>
          <p:nvPr/>
        </p:nvSpPr>
        <p:spPr>
          <a:xfrm>
            <a:off x="3527884" y="2132856"/>
            <a:ext cx="2088232"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Conduct Type 4 Study </a:t>
            </a:r>
            <a:endParaRPr lang="ko-KR" altLang="en-US" sz="1200" dirty="0">
              <a:solidFill>
                <a:schemeClr val="tx1"/>
              </a:solidFill>
            </a:endParaRPr>
          </a:p>
        </p:txBody>
      </p:sp>
      <p:sp>
        <p:nvSpPr>
          <p:cNvPr id="6" name="순서도: 판단 5"/>
          <p:cNvSpPr/>
          <p:nvPr/>
        </p:nvSpPr>
        <p:spPr>
          <a:xfrm>
            <a:off x="3707904" y="285293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Type4 </a:t>
            </a:r>
          </a:p>
          <a:p>
            <a:pPr algn="ctr"/>
            <a:r>
              <a:rPr lang="en-US" altLang="ko-KR" sz="1200" dirty="0">
                <a:solidFill>
                  <a:schemeClr val="tx1"/>
                </a:solidFill>
              </a:rPr>
              <a:t>OK ?</a:t>
            </a:r>
            <a:endParaRPr lang="ko-KR" altLang="en-US" sz="1200" dirty="0">
              <a:solidFill>
                <a:schemeClr val="tx1"/>
              </a:solidFill>
            </a:endParaRPr>
          </a:p>
        </p:txBody>
      </p:sp>
      <p:sp>
        <p:nvSpPr>
          <p:cNvPr id="7" name="순서도: 판단 6"/>
          <p:cNvSpPr/>
          <p:nvPr/>
        </p:nvSpPr>
        <p:spPr>
          <a:xfrm>
            <a:off x="6804248" y="357301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 1</a:t>
            </a:r>
            <a:endParaRPr lang="ko-KR" altLang="en-US" sz="1200" dirty="0">
              <a:solidFill>
                <a:schemeClr val="tx1"/>
              </a:solidFill>
            </a:endParaRPr>
          </a:p>
        </p:txBody>
      </p:sp>
      <p:sp>
        <p:nvSpPr>
          <p:cNvPr id="8" name="순서도: 판단 7"/>
          <p:cNvSpPr/>
          <p:nvPr/>
        </p:nvSpPr>
        <p:spPr>
          <a:xfrm>
            <a:off x="2555776" y="357301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Secure stability?</a:t>
            </a:r>
            <a:endParaRPr lang="ko-KR" altLang="en-US" sz="1200" dirty="0">
              <a:solidFill>
                <a:schemeClr val="tx1"/>
              </a:solidFill>
            </a:endParaRPr>
          </a:p>
        </p:txBody>
      </p:sp>
      <p:sp>
        <p:nvSpPr>
          <p:cNvPr id="10" name="순서도: 판단 9"/>
          <p:cNvSpPr/>
          <p:nvPr/>
        </p:nvSpPr>
        <p:spPr>
          <a:xfrm>
            <a:off x="4788024" y="501317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 5</a:t>
            </a:r>
          </a:p>
          <a:p>
            <a:pPr algn="ctr"/>
            <a:r>
              <a:rPr lang="en-US" altLang="ko-KR" sz="1200" dirty="0">
                <a:solidFill>
                  <a:schemeClr val="tx1"/>
                </a:solidFill>
              </a:rPr>
              <a:t>OK ?</a:t>
            </a:r>
            <a:endParaRPr lang="ko-KR" altLang="en-US" sz="1200" dirty="0">
              <a:solidFill>
                <a:schemeClr val="tx1"/>
              </a:solidFill>
            </a:endParaRPr>
          </a:p>
        </p:txBody>
      </p:sp>
      <p:sp>
        <p:nvSpPr>
          <p:cNvPr id="12" name="직사각형 11"/>
          <p:cNvSpPr/>
          <p:nvPr/>
        </p:nvSpPr>
        <p:spPr>
          <a:xfrm>
            <a:off x="2555776" y="5589240"/>
            <a:ext cx="1728192" cy="554404"/>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b="1" dirty="0">
                <a:solidFill>
                  <a:schemeClr val="tx1"/>
                </a:solidFill>
              </a:rPr>
              <a:t>Continue to use measurement system</a:t>
            </a:r>
            <a:endParaRPr lang="ko-KR" altLang="en-US" sz="1200" b="1" dirty="0">
              <a:solidFill>
                <a:schemeClr val="tx1"/>
              </a:solidFill>
            </a:endParaRPr>
          </a:p>
        </p:txBody>
      </p:sp>
      <p:sp>
        <p:nvSpPr>
          <p:cNvPr id="13" name="직사각형 12"/>
          <p:cNvSpPr/>
          <p:nvPr/>
        </p:nvSpPr>
        <p:spPr>
          <a:xfrm>
            <a:off x="4932040" y="3573016"/>
            <a:ext cx="1512168"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Conduct Type 5 Study </a:t>
            </a:r>
            <a:endParaRPr lang="ko-KR" altLang="en-US" sz="1200" dirty="0">
              <a:solidFill>
                <a:schemeClr val="tx1"/>
              </a:solidFill>
            </a:endParaRPr>
          </a:p>
        </p:txBody>
      </p:sp>
      <p:sp>
        <p:nvSpPr>
          <p:cNvPr id="14" name="직사각형 13"/>
          <p:cNvSpPr/>
          <p:nvPr/>
        </p:nvSpPr>
        <p:spPr>
          <a:xfrm>
            <a:off x="6876256" y="5013176"/>
            <a:ext cx="1584176"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Cause analysis and improvement</a:t>
            </a:r>
            <a:endParaRPr lang="ko-KR" altLang="en-US" sz="1200" dirty="0">
              <a:solidFill>
                <a:schemeClr val="tx1"/>
              </a:solidFill>
            </a:endParaRPr>
          </a:p>
        </p:txBody>
      </p:sp>
      <p:sp>
        <p:nvSpPr>
          <p:cNvPr id="16" name="직사각형 15"/>
          <p:cNvSpPr/>
          <p:nvPr/>
        </p:nvSpPr>
        <p:spPr>
          <a:xfrm>
            <a:off x="6876256" y="4279844"/>
            <a:ext cx="1584176"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Conduct Type 1 Study</a:t>
            </a:r>
            <a:endParaRPr lang="ko-KR" altLang="en-US" sz="1200" dirty="0">
              <a:solidFill>
                <a:schemeClr val="tx1"/>
              </a:solidFill>
            </a:endParaRPr>
          </a:p>
        </p:txBody>
      </p:sp>
      <p:sp>
        <p:nvSpPr>
          <p:cNvPr id="17" name="타원 16"/>
          <p:cNvSpPr/>
          <p:nvPr/>
        </p:nvSpPr>
        <p:spPr>
          <a:xfrm>
            <a:off x="4427984" y="921813"/>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18" name="직선 연결선 17"/>
          <p:cNvCxnSpPr>
            <a:stCxn id="17" idx="4"/>
          </p:cNvCxnSpPr>
          <p:nvPr/>
        </p:nvCxnSpPr>
        <p:spPr>
          <a:xfrm>
            <a:off x="4572000" y="1194075"/>
            <a:ext cx="0" cy="208287"/>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a:stCxn id="3" idx="2"/>
            <a:endCxn id="5" idx="0"/>
          </p:cNvCxnSpPr>
          <p:nvPr/>
        </p:nvCxnSpPr>
        <p:spPr>
          <a:xfrm rot="5400000">
            <a:off x="4479853" y="1936972"/>
            <a:ext cx="288032" cy="10373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a:stCxn id="5" idx="2"/>
            <a:endCxn id="6" idx="0"/>
          </p:cNvCxnSpPr>
          <p:nvPr/>
        </p:nvCxnSpPr>
        <p:spPr>
          <a:xfrm>
            <a:off x="4572000" y="2564904"/>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3" idx="1"/>
            <a:endCxn id="4" idx="0"/>
          </p:cNvCxnSpPr>
          <p:nvPr/>
        </p:nvCxnSpPr>
        <p:spPr>
          <a:xfrm rot="10800000" flipV="1">
            <a:off x="1403648" y="1628800"/>
            <a:ext cx="2304256" cy="19442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2555776" y="1327516"/>
            <a:ext cx="455574" cy="369332"/>
          </a:xfrm>
          <a:prstGeom prst="rect">
            <a:avLst/>
          </a:prstGeom>
          <a:noFill/>
        </p:spPr>
        <p:txBody>
          <a:bodyPr wrap="none" rtlCol="0">
            <a:spAutoFit/>
          </a:bodyPr>
          <a:lstStyle/>
          <a:p>
            <a:r>
              <a:rPr lang="en-US" altLang="ko-KR" dirty="0"/>
              <a:t>no</a:t>
            </a:r>
            <a:endParaRPr lang="ko-KR" altLang="en-US" dirty="0"/>
          </a:p>
        </p:txBody>
      </p:sp>
      <p:sp>
        <p:nvSpPr>
          <p:cNvPr id="26" name="TextBox 25"/>
          <p:cNvSpPr txBox="1"/>
          <p:nvPr/>
        </p:nvSpPr>
        <p:spPr>
          <a:xfrm>
            <a:off x="4572000" y="1763524"/>
            <a:ext cx="520079" cy="369332"/>
          </a:xfrm>
          <a:prstGeom prst="rect">
            <a:avLst/>
          </a:prstGeom>
          <a:noFill/>
        </p:spPr>
        <p:txBody>
          <a:bodyPr wrap="none" rtlCol="0">
            <a:spAutoFit/>
          </a:bodyPr>
          <a:lstStyle/>
          <a:p>
            <a:r>
              <a:rPr lang="en-US" altLang="ko-KR" dirty="0"/>
              <a:t>yes</a:t>
            </a:r>
            <a:endParaRPr lang="ko-KR" altLang="en-US" dirty="0"/>
          </a:p>
        </p:txBody>
      </p:sp>
      <p:cxnSp>
        <p:nvCxnSpPr>
          <p:cNvPr id="30" name="직선 화살표 연결선 29"/>
          <p:cNvCxnSpPr>
            <a:stCxn id="4" idx="3"/>
            <a:endCxn id="8" idx="1"/>
          </p:cNvCxnSpPr>
          <p:nvPr/>
        </p:nvCxnSpPr>
        <p:spPr>
          <a:xfrm>
            <a:off x="2267744" y="3789040"/>
            <a:ext cx="28803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 name="직선 화살표 연결선 35"/>
          <p:cNvCxnSpPr>
            <a:endCxn id="12" idx="0"/>
          </p:cNvCxnSpPr>
          <p:nvPr/>
        </p:nvCxnSpPr>
        <p:spPr>
          <a:xfrm rot="5400000">
            <a:off x="2628578" y="4797152"/>
            <a:ext cx="1583382" cy="79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직선 화살표 연결선 39"/>
          <p:cNvCxnSpPr>
            <a:stCxn id="8" idx="3"/>
            <a:endCxn id="13" idx="1"/>
          </p:cNvCxnSpPr>
          <p:nvPr/>
        </p:nvCxnSpPr>
        <p:spPr>
          <a:xfrm>
            <a:off x="4283968" y="3789040"/>
            <a:ext cx="64807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4286946" y="3406456"/>
            <a:ext cx="455574" cy="369332"/>
          </a:xfrm>
          <a:prstGeom prst="rect">
            <a:avLst/>
          </a:prstGeom>
          <a:noFill/>
        </p:spPr>
        <p:txBody>
          <a:bodyPr wrap="none" rtlCol="0">
            <a:spAutoFit/>
          </a:bodyPr>
          <a:lstStyle/>
          <a:p>
            <a:r>
              <a:rPr lang="en-US" altLang="ko-KR" dirty="0"/>
              <a:t>no</a:t>
            </a:r>
            <a:endParaRPr lang="ko-KR" altLang="en-US" dirty="0"/>
          </a:p>
        </p:txBody>
      </p:sp>
      <p:cxnSp>
        <p:nvCxnSpPr>
          <p:cNvPr id="43" name="꺾인 연결선 42"/>
          <p:cNvCxnSpPr>
            <a:stCxn id="6" idx="1"/>
            <a:endCxn id="4" idx="0"/>
          </p:cNvCxnSpPr>
          <p:nvPr/>
        </p:nvCxnSpPr>
        <p:spPr>
          <a:xfrm rot="10800000" flipV="1">
            <a:off x="1403648" y="3068960"/>
            <a:ext cx="2304256" cy="50405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2539753" y="2708920"/>
            <a:ext cx="520079" cy="369332"/>
          </a:xfrm>
          <a:prstGeom prst="rect">
            <a:avLst/>
          </a:prstGeom>
          <a:noFill/>
        </p:spPr>
        <p:txBody>
          <a:bodyPr wrap="none" rtlCol="0">
            <a:spAutoFit/>
          </a:bodyPr>
          <a:lstStyle/>
          <a:p>
            <a:r>
              <a:rPr lang="en-US" altLang="ko-KR" dirty="0"/>
              <a:t>yes</a:t>
            </a:r>
            <a:endParaRPr lang="ko-KR" altLang="en-US" dirty="0"/>
          </a:p>
        </p:txBody>
      </p:sp>
      <p:sp>
        <p:nvSpPr>
          <p:cNvPr id="45" name="TextBox 44"/>
          <p:cNvSpPr txBox="1"/>
          <p:nvPr/>
        </p:nvSpPr>
        <p:spPr>
          <a:xfrm>
            <a:off x="3403849" y="3923764"/>
            <a:ext cx="520079" cy="369332"/>
          </a:xfrm>
          <a:prstGeom prst="rect">
            <a:avLst/>
          </a:prstGeom>
          <a:noFill/>
        </p:spPr>
        <p:txBody>
          <a:bodyPr wrap="none" rtlCol="0">
            <a:spAutoFit/>
          </a:bodyPr>
          <a:lstStyle/>
          <a:p>
            <a:r>
              <a:rPr lang="en-US" altLang="ko-KR" dirty="0"/>
              <a:t>yes</a:t>
            </a:r>
            <a:endParaRPr lang="ko-KR" altLang="en-US" dirty="0"/>
          </a:p>
        </p:txBody>
      </p:sp>
      <p:cxnSp>
        <p:nvCxnSpPr>
          <p:cNvPr id="47" name="꺾인 연결선 46"/>
          <p:cNvCxnSpPr>
            <a:stCxn id="10" idx="1"/>
            <a:endCxn id="12" idx="0"/>
          </p:cNvCxnSpPr>
          <p:nvPr/>
        </p:nvCxnSpPr>
        <p:spPr>
          <a:xfrm rot="10800000" flipV="1">
            <a:off x="3419872" y="5229200"/>
            <a:ext cx="1368152" cy="360040"/>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3923928" y="4859868"/>
            <a:ext cx="520079" cy="369332"/>
          </a:xfrm>
          <a:prstGeom prst="rect">
            <a:avLst/>
          </a:prstGeom>
          <a:noFill/>
        </p:spPr>
        <p:txBody>
          <a:bodyPr wrap="none" rtlCol="0">
            <a:spAutoFit/>
          </a:bodyPr>
          <a:lstStyle/>
          <a:p>
            <a:r>
              <a:rPr lang="en-US" altLang="ko-KR" dirty="0"/>
              <a:t>yes</a:t>
            </a:r>
            <a:endParaRPr lang="ko-KR" altLang="en-US" dirty="0"/>
          </a:p>
        </p:txBody>
      </p:sp>
      <p:cxnSp>
        <p:nvCxnSpPr>
          <p:cNvPr id="50" name="직선 화살표 연결선 49"/>
          <p:cNvCxnSpPr>
            <a:stCxn id="10" idx="3"/>
            <a:endCxn id="14" idx="1"/>
          </p:cNvCxnSpPr>
          <p:nvPr/>
        </p:nvCxnSpPr>
        <p:spPr>
          <a:xfrm>
            <a:off x="6516216" y="5229200"/>
            <a:ext cx="36004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6438667" y="4859868"/>
            <a:ext cx="455574" cy="369332"/>
          </a:xfrm>
          <a:prstGeom prst="rect">
            <a:avLst/>
          </a:prstGeom>
          <a:noFill/>
        </p:spPr>
        <p:txBody>
          <a:bodyPr wrap="none" rtlCol="0">
            <a:spAutoFit/>
          </a:bodyPr>
          <a:lstStyle/>
          <a:p>
            <a:r>
              <a:rPr lang="en-US" altLang="ko-KR" dirty="0"/>
              <a:t>no</a:t>
            </a:r>
            <a:endParaRPr lang="ko-KR" altLang="en-US" dirty="0"/>
          </a:p>
        </p:txBody>
      </p:sp>
      <p:cxnSp>
        <p:nvCxnSpPr>
          <p:cNvPr id="53" name="직선 화살표 연결선 52"/>
          <p:cNvCxnSpPr>
            <a:stCxn id="14" idx="0"/>
            <a:endCxn id="16" idx="2"/>
          </p:cNvCxnSpPr>
          <p:nvPr/>
        </p:nvCxnSpPr>
        <p:spPr>
          <a:xfrm flipV="1">
            <a:off x="7668344" y="4711892"/>
            <a:ext cx="0" cy="3012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a:stCxn id="16" idx="0"/>
            <a:endCxn id="7" idx="2"/>
          </p:cNvCxnSpPr>
          <p:nvPr/>
        </p:nvCxnSpPr>
        <p:spPr>
          <a:xfrm flipV="1">
            <a:off x="7668344" y="4005064"/>
            <a:ext cx="0" cy="274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3" name="직선 화살표 연결선 62"/>
          <p:cNvCxnSpPr>
            <a:stCxn id="7" idx="1"/>
            <a:endCxn id="13" idx="3"/>
          </p:cNvCxnSpPr>
          <p:nvPr/>
        </p:nvCxnSpPr>
        <p:spPr>
          <a:xfrm flipH="1">
            <a:off x="6444208" y="3789040"/>
            <a:ext cx="36004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6444208" y="3406456"/>
            <a:ext cx="520079" cy="369332"/>
          </a:xfrm>
          <a:prstGeom prst="rect">
            <a:avLst/>
          </a:prstGeom>
          <a:noFill/>
        </p:spPr>
        <p:txBody>
          <a:bodyPr wrap="none" rtlCol="0">
            <a:spAutoFit/>
          </a:bodyPr>
          <a:lstStyle/>
          <a:p>
            <a:r>
              <a:rPr lang="en-US" altLang="ko-KR" dirty="0"/>
              <a:t>yes</a:t>
            </a:r>
            <a:endParaRPr lang="ko-KR" altLang="en-US" dirty="0"/>
          </a:p>
        </p:txBody>
      </p:sp>
      <p:sp>
        <p:nvSpPr>
          <p:cNvPr id="80" name="타원 79"/>
          <p:cNvSpPr/>
          <p:nvPr/>
        </p:nvSpPr>
        <p:spPr>
          <a:xfrm>
            <a:off x="7164288" y="921813"/>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sp>
        <p:nvSpPr>
          <p:cNvPr id="82" name="타원 81"/>
          <p:cNvSpPr/>
          <p:nvPr/>
        </p:nvSpPr>
        <p:spPr>
          <a:xfrm>
            <a:off x="8604448" y="921813"/>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84" name="꺾인 연결선 83"/>
          <p:cNvCxnSpPr>
            <a:stCxn id="7" idx="3"/>
            <a:endCxn id="82" idx="4"/>
          </p:cNvCxnSpPr>
          <p:nvPr/>
        </p:nvCxnSpPr>
        <p:spPr>
          <a:xfrm flipV="1">
            <a:off x="8532440" y="1183660"/>
            <a:ext cx="216024" cy="260538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6" idx="3"/>
            <a:endCxn id="80" idx="4"/>
          </p:cNvCxnSpPr>
          <p:nvPr/>
        </p:nvCxnSpPr>
        <p:spPr>
          <a:xfrm flipV="1">
            <a:off x="5436096" y="1183660"/>
            <a:ext cx="1872208" cy="1885300"/>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5580112" y="2708920"/>
            <a:ext cx="455574" cy="369332"/>
          </a:xfrm>
          <a:prstGeom prst="rect">
            <a:avLst/>
          </a:prstGeom>
          <a:noFill/>
        </p:spPr>
        <p:txBody>
          <a:bodyPr wrap="none" rtlCol="0">
            <a:spAutoFit/>
          </a:bodyPr>
          <a:lstStyle/>
          <a:p>
            <a:r>
              <a:rPr lang="en-US" altLang="ko-KR" dirty="0"/>
              <a:t>no</a:t>
            </a:r>
            <a:endParaRPr lang="ko-KR" altLang="en-US" dirty="0"/>
          </a:p>
        </p:txBody>
      </p:sp>
      <p:sp>
        <p:nvSpPr>
          <p:cNvPr id="89" name="TextBox 88"/>
          <p:cNvSpPr txBox="1"/>
          <p:nvPr/>
        </p:nvSpPr>
        <p:spPr>
          <a:xfrm>
            <a:off x="8292890" y="3406456"/>
            <a:ext cx="455574" cy="369332"/>
          </a:xfrm>
          <a:prstGeom prst="rect">
            <a:avLst/>
          </a:prstGeom>
          <a:noFill/>
        </p:spPr>
        <p:txBody>
          <a:bodyPr wrap="none" rtlCol="0">
            <a:spAutoFit/>
          </a:bodyPr>
          <a:lstStyle/>
          <a:p>
            <a:r>
              <a:rPr lang="en-US" altLang="ko-KR" dirty="0"/>
              <a:t>no</a:t>
            </a:r>
            <a:endParaRPr lang="ko-KR" altLang="en-US" dirty="0"/>
          </a:p>
        </p:txBody>
      </p:sp>
      <p:sp>
        <p:nvSpPr>
          <p:cNvPr id="93" name="직사각형 92"/>
          <p:cNvSpPr/>
          <p:nvPr/>
        </p:nvSpPr>
        <p:spPr>
          <a:xfrm>
            <a:off x="5572132" y="5589240"/>
            <a:ext cx="2888300" cy="864096"/>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b="1" dirty="0">
                <a:solidFill>
                  <a:schemeClr val="tx1"/>
                </a:solidFill>
              </a:rPr>
              <a:t>Measurement system incompatibility</a:t>
            </a:r>
            <a:br>
              <a:rPr lang="en-US" altLang="ko-KR" sz="1200" b="1" dirty="0">
                <a:solidFill>
                  <a:schemeClr val="tx1"/>
                </a:solidFill>
              </a:rPr>
            </a:br>
            <a:r>
              <a:rPr lang="en-US" altLang="ko-KR" sz="1200" b="1" dirty="0">
                <a:solidFill>
                  <a:schemeClr val="tx1"/>
                </a:solidFill>
              </a:rPr>
              <a:t>Conditional authorization or</a:t>
            </a:r>
          </a:p>
          <a:p>
            <a:pPr algn="ctr"/>
            <a:r>
              <a:rPr lang="en-US" altLang="ko-KR" sz="1200" b="1" dirty="0">
                <a:solidFill>
                  <a:schemeClr val="tx1"/>
                </a:solidFill>
              </a:rPr>
              <a:t>Decision making to disapproval</a:t>
            </a:r>
            <a:br>
              <a:rPr lang="en-US" altLang="ko-KR" sz="1200" b="1" dirty="0">
                <a:solidFill>
                  <a:schemeClr val="tx1"/>
                </a:solidFill>
              </a:rPr>
            </a:br>
            <a:endParaRPr lang="ko-KR" altLang="en-US" sz="1200" b="1" dirty="0">
              <a:solidFill>
                <a:schemeClr val="tx1"/>
              </a:solidFill>
            </a:endParaRPr>
          </a:p>
        </p:txBody>
      </p:sp>
      <p:cxnSp>
        <p:nvCxnSpPr>
          <p:cNvPr id="95" name="꺾인 연결선 94"/>
          <p:cNvCxnSpPr>
            <a:stCxn id="7" idx="3"/>
            <a:endCxn id="93" idx="3"/>
          </p:cNvCxnSpPr>
          <p:nvPr/>
        </p:nvCxnSpPr>
        <p:spPr>
          <a:xfrm flipH="1">
            <a:off x="8460432" y="3789040"/>
            <a:ext cx="72008" cy="2232248"/>
          </a:xfrm>
          <a:prstGeom prst="bentConnector3">
            <a:avLst>
              <a:gd name="adj1" fmla="val -317465"/>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직선 화살표 연결선 96"/>
          <p:cNvCxnSpPr/>
          <p:nvPr/>
        </p:nvCxnSpPr>
        <p:spPr>
          <a:xfrm>
            <a:off x="8748464" y="1700808"/>
            <a:ext cx="0" cy="122413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8" name="TextBox 97"/>
          <p:cNvSpPr txBox="1"/>
          <p:nvPr/>
        </p:nvSpPr>
        <p:spPr>
          <a:xfrm>
            <a:off x="243290" y="188640"/>
            <a:ext cx="4785669" cy="400110"/>
          </a:xfrm>
          <a:prstGeom prst="rect">
            <a:avLst/>
          </a:prstGeom>
          <a:noFill/>
        </p:spPr>
        <p:txBody>
          <a:bodyPr wrap="none" rtlCol="0">
            <a:spAutoFit/>
          </a:bodyPr>
          <a:lstStyle/>
          <a:p>
            <a:r>
              <a:rPr lang="en-US" sz="2000" b="1" dirty="0"/>
              <a:t>Measuring system analysis procedure</a:t>
            </a:r>
            <a:endParaRPr lang="ko-KR" altLang="en-US" sz="2000" b="1" dirty="0"/>
          </a:p>
        </p:txBody>
      </p:sp>
      <p:sp>
        <p:nvSpPr>
          <p:cNvPr id="46"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44</a:t>
            </a:fld>
            <a:endParaRPr lang="ko-KR" altLang="en-US" dirty="0"/>
          </a:p>
        </p:txBody>
      </p:sp>
    </p:spTree>
    <p:extLst>
      <p:ext uri="{BB962C8B-B14F-4D97-AF65-F5344CB8AC3E}">
        <p14:creationId xmlns:p14="http://schemas.microsoft.com/office/powerpoint/2010/main" val="129616345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718326" cy="400110"/>
          </a:xfrm>
          <a:prstGeom prst="rect">
            <a:avLst/>
          </a:prstGeom>
          <a:noFill/>
        </p:spPr>
        <p:txBody>
          <a:bodyPr wrap="none" rtlCol="0">
            <a:spAutoFit/>
          </a:bodyPr>
          <a:lstStyle/>
          <a:p>
            <a:r>
              <a:rPr lang="en-US" altLang="ko-KR" sz="2000" b="1" dirty="0"/>
              <a:t>Resolution of the instrument</a:t>
            </a:r>
            <a:endParaRPr lang="ko-KR" altLang="en-US" sz="2000" b="1" dirty="0"/>
          </a:p>
        </p:txBody>
      </p:sp>
      <p:sp>
        <p:nvSpPr>
          <p:cNvPr id="3" name="TextBox 2"/>
          <p:cNvSpPr txBox="1"/>
          <p:nvPr/>
        </p:nvSpPr>
        <p:spPr>
          <a:xfrm>
            <a:off x="395536" y="980728"/>
            <a:ext cx="8863580" cy="923330"/>
          </a:xfrm>
          <a:prstGeom prst="rect">
            <a:avLst/>
          </a:prstGeom>
          <a:noFill/>
        </p:spPr>
        <p:txBody>
          <a:bodyPr wrap="none" rtlCol="0">
            <a:spAutoFit/>
          </a:bodyPr>
          <a:lstStyle/>
          <a:p>
            <a:pPr>
              <a:lnSpc>
                <a:spcPct val="150000"/>
              </a:lnSpc>
            </a:pPr>
            <a:r>
              <a:rPr lang="en-US" altLang="ko-KR" dirty="0"/>
              <a:t>The resolution of the instrument is the minimum scale unit for analog instruments</a:t>
            </a:r>
          </a:p>
          <a:p>
            <a:pPr>
              <a:lnSpc>
                <a:spcPct val="150000"/>
              </a:lnSpc>
            </a:pPr>
            <a:r>
              <a:rPr lang="en-US" altLang="ko-KR" dirty="0"/>
              <a:t>And digital instrument means a minimum number of measurable digits.  </a:t>
            </a:r>
            <a:endParaRPr lang="ko-KR" altLang="en-US" dirty="0"/>
          </a:p>
        </p:txBody>
      </p:sp>
      <p:sp>
        <p:nvSpPr>
          <p:cNvPr id="4" name="TextBox 3"/>
          <p:cNvSpPr txBox="1"/>
          <p:nvPr/>
        </p:nvSpPr>
        <p:spPr>
          <a:xfrm>
            <a:off x="1115616" y="2546320"/>
            <a:ext cx="1649811" cy="369332"/>
          </a:xfrm>
          <a:prstGeom prst="rect">
            <a:avLst/>
          </a:prstGeom>
          <a:noFill/>
        </p:spPr>
        <p:txBody>
          <a:bodyPr wrap="none" rtlCol="0">
            <a:spAutoFit/>
          </a:bodyPr>
          <a:lstStyle/>
          <a:p>
            <a:r>
              <a:rPr lang="en-US" altLang="ko-KR" dirty="0"/>
              <a:t>ISO 22514-7  </a:t>
            </a:r>
            <a:endParaRPr lang="ko-KR" altLang="en-US" dirty="0"/>
          </a:p>
        </p:txBody>
      </p:sp>
      <p:sp>
        <p:nvSpPr>
          <p:cNvPr id="5" name="TextBox 4"/>
          <p:cNvSpPr txBox="1"/>
          <p:nvPr/>
        </p:nvSpPr>
        <p:spPr>
          <a:xfrm>
            <a:off x="3302073" y="2978368"/>
            <a:ext cx="6056273" cy="646331"/>
          </a:xfrm>
          <a:prstGeom prst="rect">
            <a:avLst/>
          </a:prstGeom>
          <a:noFill/>
        </p:spPr>
        <p:txBody>
          <a:bodyPr wrap="none" rtlCol="0">
            <a:spAutoFit/>
          </a:bodyPr>
          <a:lstStyle/>
          <a:p>
            <a:r>
              <a:rPr lang="en-US" dirty="0"/>
              <a:t>Measuring instruments for process control are less than</a:t>
            </a:r>
          </a:p>
          <a:p>
            <a:r>
              <a:rPr lang="en-US" dirty="0"/>
              <a:t>1/5 of process fluctuation</a:t>
            </a:r>
            <a:endParaRPr lang="ko-KR" altLang="en-US" dirty="0"/>
          </a:p>
        </p:txBody>
      </p:sp>
      <p:sp>
        <p:nvSpPr>
          <p:cNvPr id="7" name="직사각형 6"/>
          <p:cNvSpPr/>
          <p:nvPr/>
        </p:nvSpPr>
        <p:spPr>
          <a:xfrm>
            <a:off x="3275856" y="2428868"/>
            <a:ext cx="5184576" cy="646331"/>
          </a:xfrm>
          <a:prstGeom prst="rect">
            <a:avLst/>
          </a:prstGeom>
        </p:spPr>
        <p:txBody>
          <a:bodyPr wrap="square">
            <a:spAutoFit/>
          </a:bodyPr>
          <a:lstStyle/>
          <a:p>
            <a:r>
              <a:rPr lang="en-US" dirty="0"/>
              <a:t>Acceptance or refusal Instrument has a tolerance of 1/20 or less</a:t>
            </a:r>
          </a:p>
        </p:txBody>
      </p:sp>
      <p:sp>
        <p:nvSpPr>
          <p:cNvPr id="8" name="TextBox 7"/>
          <p:cNvSpPr txBox="1"/>
          <p:nvPr/>
        </p:nvSpPr>
        <p:spPr>
          <a:xfrm>
            <a:off x="1115616" y="3738666"/>
            <a:ext cx="2024080" cy="369332"/>
          </a:xfrm>
          <a:prstGeom prst="rect">
            <a:avLst/>
          </a:prstGeom>
          <a:noFill/>
        </p:spPr>
        <p:txBody>
          <a:bodyPr wrap="none" rtlCol="0">
            <a:spAutoFit/>
          </a:bodyPr>
          <a:lstStyle/>
          <a:p>
            <a:r>
              <a:rPr lang="en-US" altLang="ko-KR" dirty="0"/>
              <a:t>GM, </a:t>
            </a:r>
            <a:r>
              <a:rPr lang="en-US" altLang="ko-KR" dirty="0" err="1"/>
              <a:t>Bosch,VDA</a:t>
            </a:r>
            <a:r>
              <a:rPr lang="en-US" altLang="ko-KR" dirty="0"/>
              <a:t> 5</a:t>
            </a:r>
            <a:endParaRPr lang="ko-KR" altLang="en-US" dirty="0"/>
          </a:p>
        </p:txBody>
      </p:sp>
      <p:sp>
        <p:nvSpPr>
          <p:cNvPr id="9" name="직사각형 8"/>
          <p:cNvSpPr/>
          <p:nvPr/>
        </p:nvSpPr>
        <p:spPr>
          <a:xfrm>
            <a:off x="3275856" y="3729374"/>
            <a:ext cx="5184576" cy="646331"/>
          </a:xfrm>
          <a:prstGeom prst="rect">
            <a:avLst/>
          </a:prstGeom>
        </p:spPr>
        <p:txBody>
          <a:bodyPr wrap="square">
            <a:spAutoFit/>
          </a:bodyPr>
          <a:lstStyle/>
          <a:p>
            <a:pPr lvl="0"/>
            <a:r>
              <a:rPr lang="en-US" altLang="ko-KR" dirty="0">
                <a:solidFill>
                  <a:prstClr val="black"/>
                </a:solidFill>
              </a:rPr>
              <a:t>Acceptance or refusal instrument shall not exceed 1/20(5%) of the tolerance</a:t>
            </a:r>
            <a:endParaRPr lang="ko-KR" altLang="en-US" dirty="0">
              <a:solidFill>
                <a:prstClr val="black"/>
              </a:solidFill>
            </a:endParaRPr>
          </a:p>
        </p:txBody>
      </p:sp>
      <p:sp>
        <p:nvSpPr>
          <p:cNvPr id="10" name="TextBox 9"/>
          <p:cNvSpPr txBox="1"/>
          <p:nvPr/>
        </p:nvSpPr>
        <p:spPr>
          <a:xfrm>
            <a:off x="1115616" y="4631304"/>
            <a:ext cx="792140" cy="369332"/>
          </a:xfrm>
          <a:prstGeom prst="rect">
            <a:avLst/>
          </a:prstGeom>
          <a:noFill/>
        </p:spPr>
        <p:txBody>
          <a:bodyPr wrap="none" rtlCol="0">
            <a:spAutoFit/>
          </a:bodyPr>
          <a:lstStyle/>
          <a:p>
            <a:r>
              <a:rPr lang="en-US" altLang="ko-KR" dirty="0"/>
              <a:t>AIAG </a:t>
            </a:r>
            <a:endParaRPr lang="ko-KR" altLang="en-US" dirty="0"/>
          </a:p>
        </p:txBody>
      </p:sp>
      <p:sp>
        <p:nvSpPr>
          <p:cNvPr id="11" name="직사각형 10"/>
          <p:cNvSpPr/>
          <p:nvPr/>
        </p:nvSpPr>
        <p:spPr>
          <a:xfrm>
            <a:off x="3275856" y="4622012"/>
            <a:ext cx="5184576" cy="646331"/>
          </a:xfrm>
          <a:prstGeom prst="rect">
            <a:avLst/>
          </a:prstGeom>
        </p:spPr>
        <p:txBody>
          <a:bodyPr wrap="square">
            <a:spAutoFit/>
          </a:bodyPr>
          <a:lstStyle/>
          <a:p>
            <a:pPr lvl="0"/>
            <a:r>
              <a:rPr lang="en-US" altLang="ko-KR" dirty="0">
                <a:solidFill>
                  <a:prstClr val="black"/>
                </a:solidFill>
              </a:rPr>
              <a:t>Acceptance or refusal instrument should less than 1/10 of the tolerance</a:t>
            </a:r>
            <a:endParaRPr lang="ko-KR" altLang="en-US" dirty="0">
              <a:solidFill>
                <a:prstClr val="black"/>
              </a:solidFill>
            </a:endParaRPr>
          </a:p>
        </p:txBody>
      </p:sp>
      <p:sp>
        <p:nvSpPr>
          <p:cNvPr id="1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45</a:t>
            </a:fld>
            <a:endParaRPr lang="ko-KR" altLang="en-US" dirty="0"/>
          </a:p>
        </p:txBody>
      </p:sp>
    </p:spTree>
    <p:extLst>
      <p:ext uri="{BB962C8B-B14F-4D97-AF65-F5344CB8AC3E}">
        <p14:creationId xmlns:p14="http://schemas.microsoft.com/office/powerpoint/2010/main" val="231326420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순서도: 판단 2"/>
          <p:cNvSpPr/>
          <p:nvPr/>
        </p:nvSpPr>
        <p:spPr>
          <a:xfrm>
            <a:off x="3707904" y="141277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Cần</a:t>
            </a:r>
            <a:r>
              <a:rPr lang="en-US" altLang="ko-KR" sz="1200" dirty="0">
                <a:solidFill>
                  <a:schemeClr val="tx1"/>
                </a:solidFill>
              </a:rPr>
              <a:t> Type 4?</a:t>
            </a:r>
          </a:p>
        </p:txBody>
      </p:sp>
      <p:sp>
        <p:nvSpPr>
          <p:cNvPr id="4" name="직사각형 3"/>
          <p:cNvSpPr/>
          <p:nvPr/>
        </p:nvSpPr>
        <p:spPr>
          <a:xfrm>
            <a:off x="539552" y="3573016"/>
            <a:ext cx="1728192"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a:solidFill>
                  <a:schemeClr val="tx1"/>
                </a:solidFill>
              </a:rPr>
              <a:t>Cho </a:t>
            </a:r>
            <a:r>
              <a:rPr lang="en-US" altLang="ko-KR" sz="1200" dirty="0" err="1">
                <a:solidFill>
                  <a:schemeClr val="tx1"/>
                </a:solidFill>
              </a:rPr>
              <a:t>phép</a:t>
            </a:r>
            <a:r>
              <a:rPr lang="en-US" altLang="ko-KR" sz="1200" dirty="0">
                <a:solidFill>
                  <a:schemeClr val="tx1"/>
                </a:solidFill>
              </a:rPr>
              <a:t> </a:t>
            </a:r>
            <a:r>
              <a:rPr lang="en-US" altLang="ko-KR" sz="1200" dirty="0" err="1">
                <a:solidFill>
                  <a:schemeClr val="tx1"/>
                </a:solidFill>
              </a:rPr>
              <a:t>phân</a:t>
            </a:r>
            <a:r>
              <a:rPr lang="en-US" altLang="ko-KR" sz="1200" dirty="0">
                <a:solidFill>
                  <a:schemeClr val="tx1"/>
                </a:solidFill>
              </a:rPr>
              <a:t> </a:t>
            </a:r>
            <a:r>
              <a:rPr lang="en-US" altLang="ko-KR" sz="1200" dirty="0" err="1">
                <a:solidFill>
                  <a:schemeClr val="tx1"/>
                </a:solidFill>
              </a:rPr>
              <a:t>bố</a:t>
            </a:r>
            <a:r>
              <a:rPr lang="en-US" altLang="ko-KR" sz="1200" dirty="0">
                <a:solidFill>
                  <a:schemeClr val="tx1"/>
                </a:solidFill>
              </a:rPr>
              <a:t> </a:t>
            </a:r>
            <a:r>
              <a:rPr lang="en-US" altLang="ko-KR" sz="1200" dirty="0" err="1">
                <a:solidFill>
                  <a:schemeClr val="tx1"/>
                </a:solidFill>
              </a:rPr>
              <a:t>hệ</a:t>
            </a:r>
            <a:r>
              <a:rPr lang="en-US" altLang="ko-KR" sz="1200" dirty="0">
                <a:solidFill>
                  <a:schemeClr val="tx1"/>
                </a:solidFill>
              </a:rPr>
              <a:t> </a:t>
            </a:r>
            <a:r>
              <a:rPr lang="en-US" altLang="ko-KR" sz="1200" dirty="0" err="1">
                <a:solidFill>
                  <a:schemeClr val="tx1"/>
                </a:solidFill>
              </a:rPr>
              <a:t>thống</a:t>
            </a:r>
            <a:r>
              <a:rPr lang="en-US" altLang="ko-KR" sz="1200" dirty="0">
                <a:solidFill>
                  <a:schemeClr val="tx1"/>
                </a:solidFill>
              </a:rPr>
              <a:t> </a:t>
            </a:r>
            <a:r>
              <a:rPr lang="en-US" altLang="ko-KR" sz="1200" dirty="0" err="1">
                <a:solidFill>
                  <a:schemeClr val="tx1"/>
                </a:solidFill>
              </a:rPr>
              <a:t>đo</a:t>
            </a:r>
            <a:r>
              <a:rPr lang="en-US" altLang="ko-KR" sz="1200" dirty="0">
                <a:solidFill>
                  <a:schemeClr val="tx1"/>
                </a:solidFill>
              </a:rPr>
              <a:t> </a:t>
            </a:r>
            <a:r>
              <a:rPr lang="en-US" altLang="ko-KR" sz="1200" dirty="0" err="1">
                <a:solidFill>
                  <a:schemeClr val="tx1"/>
                </a:solidFill>
              </a:rPr>
              <a:t>đạc</a:t>
            </a:r>
            <a:endParaRPr lang="ko-KR" altLang="en-US" sz="1200" dirty="0">
              <a:solidFill>
                <a:schemeClr val="tx1"/>
              </a:solidFill>
            </a:endParaRPr>
          </a:p>
        </p:txBody>
      </p:sp>
      <p:sp>
        <p:nvSpPr>
          <p:cNvPr id="5" name="직사각형 4"/>
          <p:cNvSpPr/>
          <p:nvPr/>
        </p:nvSpPr>
        <p:spPr>
          <a:xfrm>
            <a:off x="3527884" y="2132856"/>
            <a:ext cx="2088232"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Thực</a:t>
            </a:r>
            <a:r>
              <a:rPr lang="en-US" altLang="ko-KR" sz="1200" dirty="0">
                <a:solidFill>
                  <a:schemeClr val="tx1"/>
                </a:solidFill>
              </a:rPr>
              <a:t> </a:t>
            </a:r>
            <a:r>
              <a:rPr lang="en-US" altLang="ko-KR" sz="1200" dirty="0" err="1">
                <a:solidFill>
                  <a:schemeClr val="tx1"/>
                </a:solidFill>
              </a:rPr>
              <a:t>hiện</a:t>
            </a:r>
            <a:r>
              <a:rPr lang="en-US" altLang="ko-KR" sz="1200" dirty="0">
                <a:solidFill>
                  <a:schemeClr val="tx1"/>
                </a:solidFill>
              </a:rPr>
              <a:t> Type 4 Study </a:t>
            </a:r>
            <a:endParaRPr lang="ko-KR" altLang="en-US" sz="1200" dirty="0">
              <a:solidFill>
                <a:schemeClr val="tx1"/>
              </a:solidFill>
            </a:endParaRPr>
          </a:p>
        </p:txBody>
      </p:sp>
      <p:sp>
        <p:nvSpPr>
          <p:cNvPr id="6" name="순서도: 판단 5"/>
          <p:cNvSpPr/>
          <p:nvPr/>
        </p:nvSpPr>
        <p:spPr>
          <a:xfrm>
            <a:off x="3707904" y="285293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Type4 </a:t>
            </a:r>
          </a:p>
          <a:p>
            <a:pPr algn="ctr"/>
            <a:r>
              <a:rPr lang="en-US" altLang="ko-KR" sz="1200" dirty="0">
                <a:solidFill>
                  <a:schemeClr val="tx1"/>
                </a:solidFill>
              </a:rPr>
              <a:t>OK ?</a:t>
            </a:r>
            <a:endParaRPr lang="ko-KR" altLang="en-US" sz="1200" dirty="0">
              <a:solidFill>
                <a:schemeClr val="tx1"/>
              </a:solidFill>
            </a:endParaRPr>
          </a:p>
        </p:txBody>
      </p:sp>
      <p:sp>
        <p:nvSpPr>
          <p:cNvPr id="7" name="순서도: 판단 6"/>
          <p:cNvSpPr/>
          <p:nvPr/>
        </p:nvSpPr>
        <p:spPr>
          <a:xfrm>
            <a:off x="6804248" y="357301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 1</a:t>
            </a:r>
            <a:endParaRPr lang="ko-KR" altLang="en-US" sz="1200" dirty="0">
              <a:solidFill>
                <a:schemeClr val="tx1"/>
              </a:solidFill>
            </a:endParaRPr>
          </a:p>
        </p:txBody>
      </p:sp>
      <p:sp>
        <p:nvSpPr>
          <p:cNvPr id="8" name="순서도: 판단 7"/>
          <p:cNvSpPr/>
          <p:nvPr/>
        </p:nvSpPr>
        <p:spPr>
          <a:xfrm>
            <a:off x="2483768" y="3573016"/>
            <a:ext cx="2160240"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err="1">
                <a:solidFill>
                  <a:schemeClr val="tx1"/>
                </a:solidFill>
              </a:rPr>
              <a:t>Đảm</a:t>
            </a:r>
            <a:r>
              <a:rPr lang="en-US" altLang="ko-KR" sz="1100" dirty="0">
                <a:solidFill>
                  <a:schemeClr val="tx1"/>
                </a:solidFill>
              </a:rPr>
              <a:t> </a:t>
            </a:r>
            <a:r>
              <a:rPr lang="en-US" altLang="ko-KR" sz="1100" dirty="0" err="1">
                <a:solidFill>
                  <a:schemeClr val="tx1"/>
                </a:solidFill>
              </a:rPr>
              <a:t>bảo</a:t>
            </a:r>
            <a:r>
              <a:rPr lang="en-US" altLang="ko-KR" sz="1100" dirty="0">
                <a:solidFill>
                  <a:schemeClr val="tx1"/>
                </a:solidFill>
              </a:rPr>
              <a:t> </a:t>
            </a:r>
            <a:r>
              <a:rPr lang="en-US" altLang="ko-KR" sz="1100" dirty="0" err="1">
                <a:solidFill>
                  <a:schemeClr val="tx1"/>
                </a:solidFill>
              </a:rPr>
              <a:t>tính</a:t>
            </a:r>
            <a:r>
              <a:rPr lang="en-US" altLang="ko-KR" sz="1100" dirty="0">
                <a:solidFill>
                  <a:schemeClr val="tx1"/>
                </a:solidFill>
              </a:rPr>
              <a:t> </a:t>
            </a:r>
            <a:r>
              <a:rPr lang="en-US" altLang="ko-KR" sz="1100" dirty="0" err="1">
                <a:solidFill>
                  <a:schemeClr val="tx1"/>
                </a:solidFill>
              </a:rPr>
              <a:t>ổn</a:t>
            </a:r>
            <a:r>
              <a:rPr lang="en-US" altLang="ko-KR" sz="1100" dirty="0">
                <a:solidFill>
                  <a:schemeClr val="tx1"/>
                </a:solidFill>
              </a:rPr>
              <a:t> </a:t>
            </a:r>
            <a:r>
              <a:rPr lang="en-US" altLang="ko-KR" sz="1100" dirty="0" err="1">
                <a:solidFill>
                  <a:schemeClr val="tx1"/>
                </a:solidFill>
              </a:rPr>
              <a:t>định</a:t>
            </a:r>
            <a:r>
              <a:rPr lang="ko-KR" altLang="en-US" sz="1100" dirty="0">
                <a:solidFill>
                  <a:schemeClr val="tx1"/>
                </a:solidFill>
              </a:rPr>
              <a:t> </a:t>
            </a:r>
            <a:r>
              <a:rPr lang="en-US" altLang="ko-KR" sz="1100" dirty="0">
                <a:solidFill>
                  <a:schemeClr val="tx1"/>
                </a:solidFill>
              </a:rPr>
              <a:t>?</a:t>
            </a:r>
            <a:endParaRPr lang="ko-KR" altLang="en-US" sz="1100" dirty="0">
              <a:solidFill>
                <a:schemeClr val="tx1"/>
              </a:solidFill>
            </a:endParaRPr>
          </a:p>
        </p:txBody>
      </p:sp>
      <p:sp>
        <p:nvSpPr>
          <p:cNvPr id="10" name="순서도: 판단 9"/>
          <p:cNvSpPr/>
          <p:nvPr/>
        </p:nvSpPr>
        <p:spPr>
          <a:xfrm>
            <a:off x="4788024" y="5013176"/>
            <a:ext cx="1728192" cy="432048"/>
          </a:xfrm>
          <a:prstGeom prst="flowChartDecis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Type 5</a:t>
            </a:r>
          </a:p>
          <a:p>
            <a:pPr algn="ctr"/>
            <a:r>
              <a:rPr lang="en-US" altLang="ko-KR" sz="1200" dirty="0">
                <a:solidFill>
                  <a:schemeClr val="tx1"/>
                </a:solidFill>
              </a:rPr>
              <a:t>OK ?</a:t>
            </a:r>
            <a:endParaRPr lang="ko-KR" altLang="en-US" sz="1200" dirty="0">
              <a:solidFill>
                <a:schemeClr val="tx1"/>
              </a:solidFill>
            </a:endParaRPr>
          </a:p>
        </p:txBody>
      </p:sp>
      <p:sp>
        <p:nvSpPr>
          <p:cNvPr id="12" name="직사각형 11"/>
          <p:cNvSpPr/>
          <p:nvPr/>
        </p:nvSpPr>
        <p:spPr>
          <a:xfrm>
            <a:off x="2555776" y="5589240"/>
            <a:ext cx="1728192" cy="576064"/>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b="1" dirty="0" err="1">
                <a:solidFill>
                  <a:schemeClr val="tx1"/>
                </a:solidFill>
              </a:rPr>
              <a:t>Có</a:t>
            </a:r>
            <a:r>
              <a:rPr lang="en-US" altLang="ko-KR" sz="1200" b="1" dirty="0">
                <a:solidFill>
                  <a:schemeClr val="tx1"/>
                </a:solidFill>
              </a:rPr>
              <a:t> </a:t>
            </a:r>
            <a:r>
              <a:rPr lang="en-US" altLang="ko-KR" sz="1200" b="1" dirty="0" err="1">
                <a:solidFill>
                  <a:schemeClr val="tx1"/>
                </a:solidFill>
              </a:rPr>
              <a:t>thể</a:t>
            </a:r>
            <a:r>
              <a:rPr lang="en-US" altLang="ko-KR" sz="1200" b="1" dirty="0">
                <a:solidFill>
                  <a:schemeClr val="tx1"/>
                </a:solidFill>
              </a:rPr>
              <a:t> </a:t>
            </a:r>
            <a:r>
              <a:rPr lang="en-US" altLang="ko-KR" sz="1200" b="1" dirty="0" err="1">
                <a:solidFill>
                  <a:schemeClr val="tx1"/>
                </a:solidFill>
              </a:rPr>
              <a:t>liên</a:t>
            </a:r>
            <a:r>
              <a:rPr lang="en-US" altLang="ko-KR" sz="1200" b="1" dirty="0">
                <a:solidFill>
                  <a:schemeClr val="tx1"/>
                </a:solidFill>
              </a:rPr>
              <a:t> </a:t>
            </a:r>
            <a:r>
              <a:rPr lang="en-US" altLang="ko-KR" sz="1200" b="1" dirty="0" err="1">
                <a:solidFill>
                  <a:schemeClr val="tx1"/>
                </a:solidFill>
              </a:rPr>
              <a:t>tục</a:t>
            </a:r>
            <a:r>
              <a:rPr lang="en-US" altLang="ko-KR" sz="1200" b="1" dirty="0">
                <a:solidFill>
                  <a:schemeClr val="tx1"/>
                </a:solidFill>
              </a:rPr>
              <a:t> </a:t>
            </a:r>
            <a:r>
              <a:rPr lang="en-US" altLang="ko-KR" sz="1200" b="1" dirty="0" err="1">
                <a:solidFill>
                  <a:schemeClr val="tx1"/>
                </a:solidFill>
              </a:rPr>
              <a:t>sử</a:t>
            </a:r>
            <a:r>
              <a:rPr lang="en-US" altLang="ko-KR" sz="1200" b="1" dirty="0">
                <a:solidFill>
                  <a:schemeClr val="tx1"/>
                </a:solidFill>
              </a:rPr>
              <a:t> </a:t>
            </a:r>
            <a:r>
              <a:rPr lang="en-US" altLang="ko-KR" sz="1200" b="1" dirty="0" err="1">
                <a:solidFill>
                  <a:schemeClr val="tx1"/>
                </a:solidFill>
              </a:rPr>
              <a:t>dụng</a:t>
            </a:r>
            <a:r>
              <a:rPr lang="en-US" altLang="ko-KR" sz="1200" b="1" dirty="0">
                <a:solidFill>
                  <a:schemeClr val="tx1"/>
                </a:solidFill>
              </a:rPr>
              <a:t> </a:t>
            </a:r>
            <a:r>
              <a:rPr lang="en-US" altLang="ko-KR" sz="1200" b="1" dirty="0" err="1">
                <a:solidFill>
                  <a:schemeClr val="tx1"/>
                </a:solidFill>
              </a:rPr>
              <a:t>hệ</a:t>
            </a:r>
            <a:r>
              <a:rPr lang="en-US" altLang="ko-KR" sz="1200" b="1" dirty="0">
                <a:solidFill>
                  <a:schemeClr val="tx1"/>
                </a:solidFill>
              </a:rPr>
              <a:t> </a:t>
            </a:r>
            <a:r>
              <a:rPr lang="en-US" altLang="ko-KR" sz="1200" b="1" dirty="0" err="1">
                <a:solidFill>
                  <a:schemeClr val="tx1"/>
                </a:solidFill>
              </a:rPr>
              <a:t>thống</a:t>
            </a:r>
            <a:r>
              <a:rPr lang="en-US" altLang="ko-KR" sz="1200" b="1" dirty="0">
                <a:solidFill>
                  <a:schemeClr val="tx1"/>
                </a:solidFill>
              </a:rPr>
              <a:t> </a:t>
            </a:r>
            <a:r>
              <a:rPr lang="en-US" altLang="ko-KR" sz="1200" b="1" dirty="0" err="1">
                <a:solidFill>
                  <a:schemeClr val="tx1"/>
                </a:solidFill>
              </a:rPr>
              <a:t>đo</a:t>
            </a:r>
            <a:r>
              <a:rPr lang="en-US" altLang="ko-KR" sz="1200" b="1" dirty="0">
                <a:solidFill>
                  <a:schemeClr val="tx1"/>
                </a:solidFill>
              </a:rPr>
              <a:t> </a:t>
            </a:r>
            <a:r>
              <a:rPr lang="en-US" altLang="ko-KR" sz="1200" b="1" dirty="0" err="1">
                <a:solidFill>
                  <a:schemeClr val="tx1"/>
                </a:solidFill>
              </a:rPr>
              <a:t>đạc</a:t>
            </a:r>
            <a:endParaRPr lang="ko-KR" altLang="en-US" sz="1200" b="1" dirty="0">
              <a:solidFill>
                <a:schemeClr val="tx1"/>
              </a:solidFill>
            </a:endParaRPr>
          </a:p>
        </p:txBody>
      </p:sp>
      <p:sp>
        <p:nvSpPr>
          <p:cNvPr id="13" name="직사각형 12"/>
          <p:cNvSpPr/>
          <p:nvPr/>
        </p:nvSpPr>
        <p:spPr>
          <a:xfrm>
            <a:off x="4932040" y="3573016"/>
            <a:ext cx="1512168" cy="432048"/>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Tiến</a:t>
            </a:r>
            <a:r>
              <a:rPr lang="en-US" altLang="ko-KR" sz="1200" dirty="0">
                <a:solidFill>
                  <a:schemeClr val="tx1"/>
                </a:solidFill>
              </a:rPr>
              <a:t> </a:t>
            </a:r>
            <a:r>
              <a:rPr lang="en-US" altLang="ko-KR" sz="1200" dirty="0" err="1">
                <a:solidFill>
                  <a:schemeClr val="tx1"/>
                </a:solidFill>
              </a:rPr>
              <a:t>hành</a:t>
            </a:r>
            <a:r>
              <a:rPr lang="en-US" altLang="ko-KR" sz="1200" dirty="0">
                <a:solidFill>
                  <a:schemeClr val="tx1"/>
                </a:solidFill>
              </a:rPr>
              <a:t> Type 5 Study</a:t>
            </a:r>
            <a:endParaRPr lang="ko-KR" altLang="en-US" sz="1200" dirty="0">
              <a:solidFill>
                <a:schemeClr val="tx1"/>
              </a:solidFill>
            </a:endParaRPr>
          </a:p>
        </p:txBody>
      </p:sp>
      <p:sp>
        <p:nvSpPr>
          <p:cNvPr id="14" name="직사각형 13"/>
          <p:cNvSpPr/>
          <p:nvPr/>
        </p:nvSpPr>
        <p:spPr>
          <a:xfrm>
            <a:off x="6876256" y="5013176"/>
            <a:ext cx="1584176"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Phân</a:t>
            </a:r>
            <a:r>
              <a:rPr lang="en-US" altLang="ko-KR" sz="1200" dirty="0">
                <a:solidFill>
                  <a:schemeClr val="tx1"/>
                </a:solidFill>
              </a:rPr>
              <a:t> </a:t>
            </a:r>
            <a:r>
              <a:rPr lang="en-US" altLang="ko-KR" sz="1200" dirty="0" err="1">
                <a:solidFill>
                  <a:schemeClr val="tx1"/>
                </a:solidFill>
              </a:rPr>
              <a:t>tích</a:t>
            </a:r>
            <a:r>
              <a:rPr lang="en-US" altLang="ko-KR" sz="1200" dirty="0">
                <a:solidFill>
                  <a:schemeClr val="tx1"/>
                </a:solidFill>
              </a:rPr>
              <a:t> </a:t>
            </a:r>
            <a:r>
              <a:rPr lang="en-US" altLang="ko-KR" sz="1200" dirty="0" err="1">
                <a:solidFill>
                  <a:schemeClr val="tx1"/>
                </a:solidFill>
              </a:rPr>
              <a:t>nguyên</a:t>
            </a:r>
            <a:r>
              <a:rPr lang="en-US" altLang="ko-KR" sz="1200" dirty="0">
                <a:solidFill>
                  <a:schemeClr val="tx1"/>
                </a:solidFill>
              </a:rPr>
              <a:t> </a:t>
            </a:r>
            <a:r>
              <a:rPr lang="en-US" altLang="ko-KR" sz="1200" dirty="0" err="1">
                <a:solidFill>
                  <a:schemeClr val="tx1"/>
                </a:solidFill>
              </a:rPr>
              <a:t>nhân</a:t>
            </a:r>
            <a:r>
              <a:rPr lang="en-US" altLang="ko-KR" sz="1200" dirty="0">
                <a:solidFill>
                  <a:schemeClr val="tx1"/>
                </a:solidFill>
              </a:rPr>
              <a:t> </a:t>
            </a:r>
            <a:r>
              <a:rPr lang="en-US" altLang="ko-KR" sz="1200" dirty="0" err="1">
                <a:solidFill>
                  <a:schemeClr val="tx1"/>
                </a:solidFill>
              </a:rPr>
              <a:t>và</a:t>
            </a:r>
            <a:r>
              <a:rPr lang="en-US" altLang="ko-KR" sz="1200" dirty="0">
                <a:solidFill>
                  <a:schemeClr val="tx1"/>
                </a:solidFill>
              </a:rPr>
              <a:t> </a:t>
            </a:r>
            <a:r>
              <a:rPr lang="en-US" altLang="ko-KR" sz="1200" dirty="0" err="1">
                <a:solidFill>
                  <a:schemeClr val="tx1"/>
                </a:solidFill>
              </a:rPr>
              <a:t>cải</a:t>
            </a:r>
            <a:r>
              <a:rPr lang="en-US" altLang="ko-KR" sz="1200" dirty="0">
                <a:solidFill>
                  <a:schemeClr val="tx1"/>
                </a:solidFill>
              </a:rPr>
              <a:t> </a:t>
            </a:r>
            <a:r>
              <a:rPr lang="en-US" altLang="ko-KR" sz="1200" dirty="0" err="1">
                <a:solidFill>
                  <a:schemeClr val="tx1"/>
                </a:solidFill>
              </a:rPr>
              <a:t>thiện</a:t>
            </a:r>
            <a:endParaRPr lang="ko-KR" altLang="en-US" sz="1200" dirty="0">
              <a:solidFill>
                <a:schemeClr val="tx1"/>
              </a:solidFill>
            </a:endParaRPr>
          </a:p>
        </p:txBody>
      </p:sp>
      <p:sp>
        <p:nvSpPr>
          <p:cNvPr id="16" name="직사각형 15"/>
          <p:cNvSpPr/>
          <p:nvPr/>
        </p:nvSpPr>
        <p:spPr>
          <a:xfrm>
            <a:off x="6876256" y="4279844"/>
            <a:ext cx="1584176" cy="43204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dirty="0" err="1">
                <a:solidFill>
                  <a:schemeClr val="tx1"/>
                </a:solidFill>
              </a:rPr>
              <a:t>Tiến</a:t>
            </a:r>
            <a:r>
              <a:rPr lang="en-US" altLang="ko-KR" sz="1200" dirty="0">
                <a:solidFill>
                  <a:schemeClr val="tx1"/>
                </a:solidFill>
              </a:rPr>
              <a:t> </a:t>
            </a:r>
            <a:r>
              <a:rPr lang="en-US" altLang="ko-KR" sz="1200" dirty="0" err="1">
                <a:solidFill>
                  <a:schemeClr val="tx1"/>
                </a:solidFill>
              </a:rPr>
              <a:t>hành</a:t>
            </a:r>
            <a:r>
              <a:rPr lang="en-US" altLang="ko-KR" sz="1200" dirty="0">
                <a:solidFill>
                  <a:schemeClr val="tx1"/>
                </a:solidFill>
              </a:rPr>
              <a:t> Type 1 Study </a:t>
            </a:r>
            <a:endParaRPr lang="ko-KR" altLang="en-US" sz="1200" dirty="0">
              <a:solidFill>
                <a:schemeClr val="tx1"/>
              </a:solidFill>
            </a:endParaRPr>
          </a:p>
        </p:txBody>
      </p:sp>
      <p:sp>
        <p:nvSpPr>
          <p:cNvPr id="17" name="타원 16"/>
          <p:cNvSpPr/>
          <p:nvPr/>
        </p:nvSpPr>
        <p:spPr>
          <a:xfrm>
            <a:off x="4427984" y="921813"/>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18" name="직선 연결선 17"/>
          <p:cNvCxnSpPr>
            <a:stCxn id="17" idx="4"/>
          </p:cNvCxnSpPr>
          <p:nvPr/>
        </p:nvCxnSpPr>
        <p:spPr>
          <a:xfrm>
            <a:off x="4572000" y="1194075"/>
            <a:ext cx="0" cy="208287"/>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a:stCxn id="3" idx="2"/>
            <a:endCxn id="5" idx="0"/>
          </p:cNvCxnSpPr>
          <p:nvPr/>
        </p:nvCxnSpPr>
        <p:spPr>
          <a:xfrm>
            <a:off x="4572000" y="1844824"/>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a:stCxn id="5" idx="2"/>
            <a:endCxn id="6" idx="0"/>
          </p:cNvCxnSpPr>
          <p:nvPr/>
        </p:nvCxnSpPr>
        <p:spPr>
          <a:xfrm>
            <a:off x="4572000" y="2564904"/>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3" idx="1"/>
            <a:endCxn id="4" idx="0"/>
          </p:cNvCxnSpPr>
          <p:nvPr/>
        </p:nvCxnSpPr>
        <p:spPr>
          <a:xfrm rot="10800000" flipV="1">
            <a:off x="1403648" y="1628800"/>
            <a:ext cx="2304256" cy="19442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2555776" y="1327516"/>
            <a:ext cx="455574" cy="369332"/>
          </a:xfrm>
          <a:prstGeom prst="rect">
            <a:avLst/>
          </a:prstGeom>
          <a:noFill/>
        </p:spPr>
        <p:txBody>
          <a:bodyPr wrap="none" rtlCol="0">
            <a:spAutoFit/>
          </a:bodyPr>
          <a:lstStyle/>
          <a:p>
            <a:r>
              <a:rPr lang="en-US" altLang="ko-KR" dirty="0"/>
              <a:t>no</a:t>
            </a:r>
            <a:endParaRPr lang="ko-KR" altLang="en-US" dirty="0"/>
          </a:p>
        </p:txBody>
      </p:sp>
      <p:sp>
        <p:nvSpPr>
          <p:cNvPr id="26" name="TextBox 25"/>
          <p:cNvSpPr txBox="1"/>
          <p:nvPr/>
        </p:nvSpPr>
        <p:spPr>
          <a:xfrm>
            <a:off x="4572000" y="1763524"/>
            <a:ext cx="520079" cy="369332"/>
          </a:xfrm>
          <a:prstGeom prst="rect">
            <a:avLst/>
          </a:prstGeom>
          <a:noFill/>
        </p:spPr>
        <p:txBody>
          <a:bodyPr wrap="none" rtlCol="0">
            <a:spAutoFit/>
          </a:bodyPr>
          <a:lstStyle/>
          <a:p>
            <a:r>
              <a:rPr lang="en-US" altLang="ko-KR" dirty="0"/>
              <a:t>yes</a:t>
            </a:r>
            <a:endParaRPr lang="ko-KR" altLang="en-US" dirty="0"/>
          </a:p>
        </p:txBody>
      </p:sp>
      <p:cxnSp>
        <p:nvCxnSpPr>
          <p:cNvPr id="30" name="직선 화살표 연결선 29"/>
          <p:cNvCxnSpPr>
            <a:stCxn id="4" idx="3"/>
            <a:endCxn id="8" idx="1"/>
          </p:cNvCxnSpPr>
          <p:nvPr/>
        </p:nvCxnSpPr>
        <p:spPr>
          <a:xfrm>
            <a:off x="2267744" y="3789040"/>
            <a:ext cx="21602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 name="직선 화살표 연결선 35"/>
          <p:cNvCxnSpPr>
            <a:endCxn id="12" idx="0"/>
          </p:cNvCxnSpPr>
          <p:nvPr/>
        </p:nvCxnSpPr>
        <p:spPr>
          <a:xfrm>
            <a:off x="3419872" y="4005064"/>
            <a:ext cx="0" cy="158417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직선 화살표 연결선 39"/>
          <p:cNvCxnSpPr>
            <a:stCxn id="8" idx="3"/>
            <a:endCxn id="13" idx="1"/>
          </p:cNvCxnSpPr>
          <p:nvPr/>
        </p:nvCxnSpPr>
        <p:spPr>
          <a:xfrm>
            <a:off x="4644008" y="3789040"/>
            <a:ext cx="28803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4286946" y="3406456"/>
            <a:ext cx="455574" cy="369332"/>
          </a:xfrm>
          <a:prstGeom prst="rect">
            <a:avLst/>
          </a:prstGeom>
          <a:noFill/>
        </p:spPr>
        <p:txBody>
          <a:bodyPr wrap="none" rtlCol="0">
            <a:spAutoFit/>
          </a:bodyPr>
          <a:lstStyle/>
          <a:p>
            <a:r>
              <a:rPr lang="en-US" altLang="ko-KR" dirty="0"/>
              <a:t>no</a:t>
            </a:r>
            <a:endParaRPr lang="ko-KR" altLang="en-US" dirty="0"/>
          </a:p>
        </p:txBody>
      </p:sp>
      <p:cxnSp>
        <p:nvCxnSpPr>
          <p:cNvPr id="43" name="꺾인 연결선 42"/>
          <p:cNvCxnSpPr>
            <a:stCxn id="6" idx="1"/>
            <a:endCxn id="4" idx="0"/>
          </p:cNvCxnSpPr>
          <p:nvPr/>
        </p:nvCxnSpPr>
        <p:spPr>
          <a:xfrm rot="10800000" flipV="1">
            <a:off x="1403648" y="3068960"/>
            <a:ext cx="2304256" cy="50405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2539753" y="2708920"/>
            <a:ext cx="520079" cy="369332"/>
          </a:xfrm>
          <a:prstGeom prst="rect">
            <a:avLst/>
          </a:prstGeom>
          <a:noFill/>
        </p:spPr>
        <p:txBody>
          <a:bodyPr wrap="none" rtlCol="0">
            <a:spAutoFit/>
          </a:bodyPr>
          <a:lstStyle/>
          <a:p>
            <a:r>
              <a:rPr lang="en-US" altLang="ko-KR" dirty="0"/>
              <a:t>yes</a:t>
            </a:r>
            <a:endParaRPr lang="ko-KR" altLang="en-US" dirty="0"/>
          </a:p>
        </p:txBody>
      </p:sp>
      <p:sp>
        <p:nvSpPr>
          <p:cNvPr id="45" name="TextBox 44"/>
          <p:cNvSpPr txBox="1"/>
          <p:nvPr/>
        </p:nvSpPr>
        <p:spPr>
          <a:xfrm>
            <a:off x="3403849" y="3923764"/>
            <a:ext cx="520079" cy="369332"/>
          </a:xfrm>
          <a:prstGeom prst="rect">
            <a:avLst/>
          </a:prstGeom>
          <a:noFill/>
        </p:spPr>
        <p:txBody>
          <a:bodyPr wrap="none" rtlCol="0">
            <a:spAutoFit/>
          </a:bodyPr>
          <a:lstStyle/>
          <a:p>
            <a:r>
              <a:rPr lang="en-US" altLang="ko-KR" dirty="0"/>
              <a:t>yes</a:t>
            </a:r>
            <a:endParaRPr lang="ko-KR" altLang="en-US" dirty="0"/>
          </a:p>
        </p:txBody>
      </p:sp>
      <p:cxnSp>
        <p:nvCxnSpPr>
          <p:cNvPr id="47" name="꺾인 연결선 46"/>
          <p:cNvCxnSpPr>
            <a:stCxn id="10" idx="1"/>
            <a:endCxn id="12" idx="0"/>
          </p:cNvCxnSpPr>
          <p:nvPr/>
        </p:nvCxnSpPr>
        <p:spPr>
          <a:xfrm rot="10800000" flipV="1">
            <a:off x="3419872" y="5229200"/>
            <a:ext cx="1368152" cy="360040"/>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3923928" y="4859868"/>
            <a:ext cx="520079" cy="369332"/>
          </a:xfrm>
          <a:prstGeom prst="rect">
            <a:avLst/>
          </a:prstGeom>
          <a:noFill/>
        </p:spPr>
        <p:txBody>
          <a:bodyPr wrap="none" rtlCol="0">
            <a:spAutoFit/>
          </a:bodyPr>
          <a:lstStyle/>
          <a:p>
            <a:r>
              <a:rPr lang="en-US" altLang="ko-KR" dirty="0"/>
              <a:t>yes</a:t>
            </a:r>
            <a:endParaRPr lang="ko-KR" altLang="en-US" dirty="0"/>
          </a:p>
        </p:txBody>
      </p:sp>
      <p:cxnSp>
        <p:nvCxnSpPr>
          <p:cNvPr id="50" name="직선 화살표 연결선 49"/>
          <p:cNvCxnSpPr>
            <a:stCxn id="10" idx="3"/>
            <a:endCxn id="14" idx="1"/>
          </p:cNvCxnSpPr>
          <p:nvPr/>
        </p:nvCxnSpPr>
        <p:spPr>
          <a:xfrm>
            <a:off x="6516216" y="5229200"/>
            <a:ext cx="36004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6438667" y="4859868"/>
            <a:ext cx="455574" cy="369332"/>
          </a:xfrm>
          <a:prstGeom prst="rect">
            <a:avLst/>
          </a:prstGeom>
          <a:noFill/>
        </p:spPr>
        <p:txBody>
          <a:bodyPr wrap="none" rtlCol="0">
            <a:spAutoFit/>
          </a:bodyPr>
          <a:lstStyle/>
          <a:p>
            <a:r>
              <a:rPr lang="en-US" altLang="ko-KR" dirty="0"/>
              <a:t>no</a:t>
            </a:r>
            <a:endParaRPr lang="ko-KR" altLang="en-US" dirty="0"/>
          </a:p>
        </p:txBody>
      </p:sp>
      <p:cxnSp>
        <p:nvCxnSpPr>
          <p:cNvPr id="53" name="직선 화살표 연결선 52"/>
          <p:cNvCxnSpPr>
            <a:stCxn id="14" idx="0"/>
            <a:endCxn id="16" idx="2"/>
          </p:cNvCxnSpPr>
          <p:nvPr/>
        </p:nvCxnSpPr>
        <p:spPr>
          <a:xfrm flipV="1">
            <a:off x="7668344" y="4711892"/>
            <a:ext cx="0" cy="3012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a:stCxn id="16" idx="0"/>
            <a:endCxn id="7" idx="2"/>
          </p:cNvCxnSpPr>
          <p:nvPr/>
        </p:nvCxnSpPr>
        <p:spPr>
          <a:xfrm flipV="1">
            <a:off x="7668344" y="4005064"/>
            <a:ext cx="0" cy="274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3" name="직선 화살표 연결선 62"/>
          <p:cNvCxnSpPr>
            <a:stCxn id="7" idx="1"/>
            <a:endCxn id="13" idx="3"/>
          </p:cNvCxnSpPr>
          <p:nvPr/>
        </p:nvCxnSpPr>
        <p:spPr>
          <a:xfrm flipH="1">
            <a:off x="6444208" y="3789040"/>
            <a:ext cx="36004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6444208" y="3406456"/>
            <a:ext cx="520079" cy="369332"/>
          </a:xfrm>
          <a:prstGeom prst="rect">
            <a:avLst/>
          </a:prstGeom>
          <a:noFill/>
        </p:spPr>
        <p:txBody>
          <a:bodyPr wrap="none" rtlCol="0">
            <a:spAutoFit/>
          </a:bodyPr>
          <a:lstStyle/>
          <a:p>
            <a:r>
              <a:rPr lang="en-US" altLang="ko-KR" dirty="0"/>
              <a:t>yes</a:t>
            </a:r>
            <a:endParaRPr lang="ko-KR" altLang="en-US" dirty="0"/>
          </a:p>
        </p:txBody>
      </p:sp>
      <p:sp>
        <p:nvSpPr>
          <p:cNvPr id="80" name="타원 79"/>
          <p:cNvSpPr/>
          <p:nvPr/>
        </p:nvSpPr>
        <p:spPr>
          <a:xfrm>
            <a:off x="7164288" y="921813"/>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sp>
        <p:nvSpPr>
          <p:cNvPr id="82" name="타원 81"/>
          <p:cNvSpPr/>
          <p:nvPr/>
        </p:nvSpPr>
        <p:spPr>
          <a:xfrm>
            <a:off x="8604448" y="921813"/>
            <a:ext cx="288032" cy="2618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200">
              <a:solidFill>
                <a:schemeClr val="tx1"/>
              </a:solidFill>
            </a:endParaRPr>
          </a:p>
        </p:txBody>
      </p:sp>
      <p:cxnSp>
        <p:nvCxnSpPr>
          <p:cNvPr id="84" name="꺾인 연결선 83"/>
          <p:cNvCxnSpPr>
            <a:stCxn id="7" idx="3"/>
            <a:endCxn id="82" idx="4"/>
          </p:cNvCxnSpPr>
          <p:nvPr/>
        </p:nvCxnSpPr>
        <p:spPr>
          <a:xfrm flipV="1">
            <a:off x="8532440" y="1183660"/>
            <a:ext cx="216024" cy="260538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6" idx="3"/>
            <a:endCxn id="80" idx="4"/>
          </p:cNvCxnSpPr>
          <p:nvPr/>
        </p:nvCxnSpPr>
        <p:spPr>
          <a:xfrm flipV="1">
            <a:off x="5436096" y="1183660"/>
            <a:ext cx="1872208" cy="1885300"/>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5580112" y="2708920"/>
            <a:ext cx="455574" cy="369332"/>
          </a:xfrm>
          <a:prstGeom prst="rect">
            <a:avLst/>
          </a:prstGeom>
          <a:noFill/>
        </p:spPr>
        <p:txBody>
          <a:bodyPr wrap="none" rtlCol="0">
            <a:spAutoFit/>
          </a:bodyPr>
          <a:lstStyle/>
          <a:p>
            <a:r>
              <a:rPr lang="en-US" altLang="ko-KR" dirty="0"/>
              <a:t>no</a:t>
            </a:r>
            <a:endParaRPr lang="ko-KR" altLang="en-US" dirty="0"/>
          </a:p>
        </p:txBody>
      </p:sp>
      <p:sp>
        <p:nvSpPr>
          <p:cNvPr id="89" name="TextBox 88"/>
          <p:cNvSpPr txBox="1"/>
          <p:nvPr/>
        </p:nvSpPr>
        <p:spPr>
          <a:xfrm>
            <a:off x="8292890" y="3406456"/>
            <a:ext cx="455574" cy="369332"/>
          </a:xfrm>
          <a:prstGeom prst="rect">
            <a:avLst/>
          </a:prstGeom>
          <a:noFill/>
        </p:spPr>
        <p:txBody>
          <a:bodyPr wrap="none" rtlCol="0">
            <a:spAutoFit/>
          </a:bodyPr>
          <a:lstStyle/>
          <a:p>
            <a:r>
              <a:rPr lang="en-US" altLang="ko-KR" dirty="0"/>
              <a:t>no</a:t>
            </a:r>
            <a:endParaRPr lang="ko-KR" altLang="en-US" dirty="0"/>
          </a:p>
        </p:txBody>
      </p:sp>
      <p:sp>
        <p:nvSpPr>
          <p:cNvPr id="93" name="직사각형 92"/>
          <p:cNvSpPr/>
          <p:nvPr/>
        </p:nvSpPr>
        <p:spPr>
          <a:xfrm>
            <a:off x="6876256" y="5589240"/>
            <a:ext cx="1584176" cy="1152128"/>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b="1" dirty="0" err="1">
                <a:solidFill>
                  <a:schemeClr val="tx1"/>
                </a:solidFill>
              </a:rPr>
              <a:t>Hệ</a:t>
            </a:r>
            <a:r>
              <a:rPr lang="en-US" altLang="ko-KR" sz="1200" b="1" dirty="0">
                <a:solidFill>
                  <a:schemeClr val="tx1"/>
                </a:solidFill>
              </a:rPr>
              <a:t> </a:t>
            </a:r>
            <a:r>
              <a:rPr lang="en-US" altLang="ko-KR" sz="1200" b="1" dirty="0" err="1">
                <a:solidFill>
                  <a:schemeClr val="tx1"/>
                </a:solidFill>
              </a:rPr>
              <a:t>thống</a:t>
            </a:r>
            <a:r>
              <a:rPr lang="en-US" altLang="ko-KR" sz="1200" b="1" dirty="0">
                <a:solidFill>
                  <a:schemeClr val="tx1"/>
                </a:solidFill>
              </a:rPr>
              <a:t> </a:t>
            </a:r>
            <a:r>
              <a:rPr lang="en-US" altLang="ko-KR" sz="1200" b="1" dirty="0" err="1">
                <a:solidFill>
                  <a:schemeClr val="tx1"/>
                </a:solidFill>
              </a:rPr>
              <a:t>đo</a:t>
            </a:r>
            <a:r>
              <a:rPr lang="en-US" altLang="ko-KR" sz="1200" b="1" dirty="0">
                <a:solidFill>
                  <a:schemeClr val="tx1"/>
                </a:solidFill>
              </a:rPr>
              <a:t> </a:t>
            </a:r>
            <a:r>
              <a:rPr lang="en-US" altLang="ko-KR" sz="1200" b="1" dirty="0" err="1">
                <a:solidFill>
                  <a:schemeClr val="tx1"/>
                </a:solidFill>
              </a:rPr>
              <a:t>không</a:t>
            </a:r>
            <a:r>
              <a:rPr lang="en-US" altLang="ko-KR" sz="1200" b="1" dirty="0">
                <a:solidFill>
                  <a:schemeClr val="tx1"/>
                </a:solidFill>
              </a:rPr>
              <a:t> </a:t>
            </a:r>
            <a:r>
              <a:rPr lang="en-US" altLang="ko-KR" sz="1200" b="1" dirty="0" err="1">
                <a:solidFill>
                  <a:schemeClr val="tx1"/>
                </a:solidFill>
              </a:rPr>
              <a:t>thích</a:t>
            </a:r>
            <a:r>
              <a:rPr lang="en-US" altLang="ko-KR" sz="1200" b="1" dirty="0">
                <a:solidFill>
                  <a:schemeClr val="tx1"/>
                </a:solidFill>
              </a:rPr>
              <a:t> </a:t>
            </a:r>
            <a:r>
              <a:rPr lang="en-US" altLang="ko-KR" sz="1200" b="1" dirty="0" err="1">
                <a:solidFill>
                  <a:schemeClr val="tx1"/>
                </a:solidFill>
              </a:rPr>
              <a:t>hợp</a:t>
            </a:r>
            <a:r>
              <a:rPr lang="en-US" altLang="ko-KR" sz="1200" b="1" dirty="0">
                <a:solidFill>
                  <a:schemeClr val="tx1"/>
                </a:solidFill>
              </a:rPr>
              <a:t>  </a:t>
            </a:r>
            <a:r>
              <a:rPr lang="en-US" altLang="ko-KR" sz="1200" b="1" dirty="0" err="1">
                <a:solidFill>
                  <a:schemeClr val="tx1"/>
                </a:solidFill>
              </a:rPr>
              <a:t>cho</a:t>
            </a:r>
            <a:r>
              <a:rPr lang="en-US" altLang="ko-KR" sz="1200" b="1" dirty="0">
                <a:solidFill>
                  <a:schemeClr val="tx1"/>
                </a:solidFill>
              </a:rPr>
              <a:t> </a:t>
            </a:r>
            <a:r>
              <a:rPr lang="en-US" altLang="ko-KR" sz="1200" b="1" dirty="0" err="1">
                <a:solidFill>
                  <a:schemeClr val="tx1"/>
                </a:solidFill>
              </a:rPr>
              <a:t>phép</a:t>
            </a:r>
            <a:r>
              <a:rPr lang="en-US" altLang="ko-KR" sz="1200" b="1" dirty="0">
                <a:solidFill>
                  <a:schemeClr val="tx1"/>
                </a:solidFill>
              </a:rPr>
              <a:t> </a:t>
            </a:r>
            <a:r>
              <a:rPr lang="en-US" altLang="ko-KR" sz="1200" b="1" dirty="0" err="1">
                <a:solidFill>
                  <a:schemeClr val="tx1"/>
                </a:solidFill>
              </a:rPr>
              <a:t>có</a:t>
            </a:r>
            <a:r>
              <a:rPr lang="en-US" altLang="ko-KR" sz="1200" b="1" dirty="0">
                <a:solidFill>
                  <a:schemeClr val="tx1"/>
                </a:solidFill>
              </a:rPr>
              <a:t> </a:t>
            </a:r>
            <a:r>
              <a:rPr lang="en-US" altLang="ko-KR" sz="1200" b="1" dirty="0" err="1">
                <a:solidFill>
                  <a:schemeClr val="tx1"/>
                </a:solidFill>
              </a:rPr>
              <a:t>điều</a:t>
            </a:r>
            <a:r>
              <a:rPr lang="en-US" altLang="ko-KR" sz="1200" b="1" dirty="0">
                <a:solidFill>
                  <a:schemeClr val="tx1"/>
                </a:solidFill>
              </a:rPr>
              <a:t> </a:t>
            </a:r>
            <a:r>
              <a:rPr lang="en-US" altLang="ko-KR" sz="1200" b="1" dirty="0" err="1">
                <a:solidFill>
                  <a:schemeClr val="tx1"/>
                </a:solidFill>
              </a:rPr>
              <a:t>kiện</a:t>
            </a:r>
            <a:r>
              <a:rPr lang="en-US" altLang="ko-KR" sz="1200" b="1" dirty="0">
                <a:solidFill>
                  <a:schemeClr val="tx1"/>
                </a:solidFill>
              </a:rPr>
              <a:t> </a:t>
            </a:r>
            <a:r>
              <a:rPr lang="en-US" altLang="ko-KR" sz="1200" b="1" dirty="0" err="1">
                <a:solidFill>
                  <a:schemeClr val="tx1"/>
                </a:solidFill>
              </a:rPr>
              <a:t>hoặc</a:t>
            </a:r>
            <a:r>
              <a:rPr lang="en-US" altLang="ko-KR" sz="1200" b="1" dirty="0">
                <a:solidFill>
                  <a:schemeClr val="tx1"/>
                </a:solidFill>
              </a:rPr>
              <a:t> </a:t>
            </a:r>
            <a:r>
              <a:rPr lang="en-US" altLang="ko-KR" sz="1200" b="1" dirty="0" err="1">
                <a:solidFill>
                  <a:schemeClr val="tx1"/>
                </a:solidFill>
              </a:rPr>
              <a:t>ra</a:t>
            </a:r>
            <a:r>
              <a:rPr lang="en-US" altLang="ko-KR" sz="1200" b="1" dirty="0">
                <a:solidFill>
                  <a:schemeClr val="tx1"/>
                </a:solidFill>
              </a:rPr>
              <a:t> </a:t>
            </a:r>
            <a:r>
              <a:rPr lang="en-US" altLang="ko-KR" sz="1200" b="1" dirty="0" err="1">
                <a:solidFill>
                  <a:schemeClr val="tx1"/>
                </a:solidFill>
              </a:rPr>
              <a:t>quyết</a:t>
            </a:r>
            <a:r>
              <a:rPr lang="en-US" altLang="ko-KR" sz="1200" b="1" dirty="0">
                <a:solidFill>
                  <a:schemeClr val="tx1"/>
                </a:solidFill>
              </a:rPr>
              <a:t> </a:t>
            </a:r>
            <a:r>
              <a:rPr lang="en-US" altLang="ko-KR" sz="1200" b="1" dirty="0" err="1">
                <a:solidFill>
                  <a:schemeClr val="tx1"/>
                </a:solidFill>
              </a:rPr>
              <a:t>định</a:t>
            </a:r>
            <a:r>
              <a:rPr lang="en-US" altLang="ko-KR" sz="1200" b="1" dirty="0">
                <a:solidFill>
                  <a:schemeClr val="tx1"/>
                </a:solidFill>
              </a:rPr>
              <a:t> </a:t>
            </a:r>
            <a:r>
              <a:rPr lang="en-US" altLang="ko-KR" sz="1200" b="1" dirty="0" err="1">
                <a:solidFill>
                  <a:schemeClr val="tx1"/>
                </a:solidFill>
              </a:rPr>
              <a:t>không</a:t>
            </a:r>
            <a:r>
              <a:rPr lang="en-US" altLang="ko-KR" sz="1200" b="1" dirty="0">
                <a:solidFill>
                  <a:schemeClr val="tx1"/>
                </a:solidFill>
              </a:rPr>
              <a:t> </a:t>
            </a:r>
            <a:r>
              <a:rPr lang="en-US" altLang="ko-KR" sz="1200" b="1" dirty="0" err="1">
                <a:solidFill>
                  <a:schemeClr val="tx1"/>
                </a:solidFill>
              </a:rPr>
              <a:t>cho</a:t>
            </a:r>
            <a:r>
              <a:rPr lang="en-US" altLang="ko-KR" sz="1200" b="1" dirty="0">
                <a:solidFill>
                  <a:schemeClr val="tx1"/>
                </a:solidFill>
              </a:rPr>
              <a:t> </a:t>
            </a:r>
            <a:r>
              <a:rPr lang="en-US" altLang="ko-KR" sz="1200" b="1" dirty="0" err="1">
                <a:solidFill>
                  <a:schemeClr val="tx1"/>
                </a:solidFill>
              </a:rPr>
              <a:t>phép</a:t>
            </a:r>
            <a:endParaRPr lang="en-US" altLang="ko-KR" sz="1200" b="1" dirty="0">
              <a:solidFill>
                <a:schemeClr val="tx1"/>
              </a:solidFill>
            </a:endParaRPr>
          </a:p>
        </p:txBody>
      </p:sp>
      <p:cxnSp>
        <p:nvCxnSpPr>
          <p:cNvPr id="95" name="꺾인 연결선 94"/>
          <p:cNvCxnSpPr>
            <a:stCxn id="7" idx="3"/>
            <a:endCxn id="93" idx="3"/>
          </p:cNvCxnSpPr>
          <p:nvPr/>
        </p:nvCxnSpPr>
        <p:spPr>
          <a:xfrm flipH="1">
            <a:off x="8460432" y="3789040"/>
            <a:ext cx="72008" cy="2376264"/>
          </a:xfrm>
          <a:prstGeom prst="bentConnector3">
            <a:avLst>
              <a:gd name="adj1" fmla="val -317465"/>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직선 화살표 연결선 96"/>
          <p:cNvCxnSpPr/>
          <p:nvPr/>
        </p:nvCxnSpPr>
        <p:spPr>
          <a:xfrm>
            <a:off x="8748464" y="1700808"/>
            <a:ext cx="0" cy="122413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8" name="TextBox 97"/>
          <p:cNvSpPr txBox="1"/>
          <p:nvPr/>
        </p:nvSpPr>
        <p:spPr>
          <a:xfrm>
            <a:off x="243290" y="188640"/>
            <a:ext cx="4023537" cy="400110"/>
          </a:xfrm>
          <a:prstGeom prst="rect">
            <a:avLst/>
          </a:prstGeom>
          <a:noFill/>
        </p:spPr>
        <p:txBody>
          <a:bodyPr wrap="none" rtlCol="0">
            <a:spAutoFit/>
          </a:bodyPr>
          <a:lstStyle/>
          <a:p>
            <a:r>
              <a:rPr lang="en-US" altLang="ko-KR" sz="2000" b="1" dirty="0" err="1"/>
              <a:t>Trình</a:t>
            </a:r>
            <a:r>
              <a:rPr lang="en-US" altLang="ko-KR" sz="2000" b="1" dirty="0"/>
              <a:t> </a:t>
            </a:r>
            <a:r>
              <a:rPr lang="en-US" altLang="ko-KR" sz="2000" b="1" dirty="0" err="1"/>
              <a:t>tự</a:t>
            </a:r>
            <a:r>
              <a:rPr lang="en-US" altLang="ko-KR" sz="2000" b="1" dirty="0"/>
              <a:t> </a:t>
            </a:r>
            <a:r>
              <a:rPr lang="en-US" altLang="ko-KR" sz="2000" b="1" dirty="0" err="1"/>
              <a:t>phân</a:t>
            </a:r>
            <a:r>
              <a:rPr lang="en-US" altLang="ko-KR" sz="2000" b="1" dirty="0"/>
              <a:t> </a:t>
            </a:r>
            <a:r>
              <a:rPr lang="en-US" altLang="ko-KR" sz="2000" b="1" dirty="0" err="1"/>
              <a:t>tích</a:t>
            </a:r>
            <a:r>
              <a:rPr lang="en-US" altLang="ko-KR" sz="2000" b="1" dirty="0"/>
              <a:t> </a:t>
            </a:r>
            <a:r>
              <a:rPr lang="en-US" altLang="ko-KR" sz="2000" b="1" dirty="0" err="1"/>
              <a:t>hệ</a:t>
            </a:r>
            <a:r>
              <a:rPr lang="en-US" altLang="ko-KR" sz="2000" b="1" dirty="0"/>
              <a:t> </a:t>
            </a:r>
            <a:r>
              <a:rPr lang="en-US" altLang="ko-KR" sz="2000" b="1" dirty="0" err="1"/>
              <a:t>thống</a:t>
            </a:r>
            <a:r>
              <a:rPr lang="en-US" altLang="ko-KR" sz="2000" b="1" dirty="0"/>
              <a:t> </a:t>
            </a:r>
            <a:r>
              <a:rPr lang="en-US" altLang="ko-KR" sz="2000" b="1" dirty="0" err="1"/>
              <a:t>đo</a:t>
            </a:r>
            <a:endParaRPr lang="ko-KR" altLang="en-US" sz="2000" b="1" dirty="0"/>
          </a:p>
        </p:txBody>
      </p:sp>
    </p:spTree>
    <p:extLst>
      <p:ext uri="{BB962C8B-B14F-4D97-AF65-F5344CB8AC3E}">
        <p14:creationId xmlns:p14="http://schemas.microsoft.com/office/powerpoint/2010/main" val="129616345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869970" cy="400110"/>
          </a:xfrm>
          <a:prstGeom prst="rect">
            <a:avLst/>
          </a:prstGeom>
          <a:noFill/>
        </p:spPr>
        <p:txBody>
          <a:bodyPr wrap="none" rtlCol="0">
            <a:spAutoFit/>
          </a:bodyPr>
          <a:lstStyle/>
          <a:p>
            <a:r>
              <a:rPr lang="en-US" altLang="ko-KR" sz="2000" b="1" dirty="0" err="1"/>
              <a:t>Độ</a:t>
            </a:r>
            <a:r>
              <a:rPr lang="en-US" altLang="ko-KR" sz="2000" b="1" dirty="0"/>
              <a:t> </a:t>
            </a:r>
            <a:r>
              <a:rPr lang="en-US" altLang="ko-KR" sz="2000" b="1" dirty="0" err="1"/>
              <a:t>phân</a:t>
            </a:r>
            <a:r>
              <a:rPr lang="en-US" altLang="ko-KR" sz="2000" b="1" dirty="0"/>
              <a:t> </a:t>
            </a:r>
            <a:r>
              <a:rPr lang="en-US" altLang="ko-KR" sz="2000" b="1" dirty="0" err="1"/>
              <a:t>giải</a:t>
            </a:r>
            <a:r>
              <a:rPr lang="en-US" altLang="ko-KR" sz="2000" b="1" dirty="0"/>
              <a:t> </a:t>
            </a:r>
            <a:r>
              <a:rPr lang="en-US" altLang="ko-KR" sz="2000" b="1" dirty="0" err="1"/>
              <a:t>của</a:t>
            </a:r>
            <a:r>
              <a:rPr lang="en-US" altLang="ko-KR" sz="2000" b="1" dirty="0"/>
              <a:t> </a:t>
            </a:r>
            <a:r>
              <a:rPr lang="en-US" altLang="ko-KR" sz="2000" b="1" dirty="0" err="1"/>
              <a:t>dụng</a:t>
            </a:r>
            <a:r>
              <a:rPr lang="en-US" altLang="ko-KR" sz="2000" b="1" dirty="0"/>
              <a:t> </a:t>
            </a:r>
            <a:r>
              <a:rPr lang="en-US" altLang="ko-KR" sz="2000" b="1" dirty="0" err="1"/>
              <a:t>cụ</a:t>
            </a:r>
            <a:r>
              <a:rPr lang="en-US" altLang="ko-KR" sz="2000" b="1" dirty="0"/>
              <a:t> </a:t>
            </a:r>
            <a:r>
              <a:rPr lang="en-US" altLang="ko-KR" sz="2000" b="1" dirty="0" err="1"/>
              <a:t>đo</a:t>
            </a:r>
            <a:r>
              <a:rPr lang="ko-KR" altLang="en-US" sz="2000" b="1" dirty="0"/>
              <a:t> </a:t>
            </a:r>
          </a:p>
        </p:txBody>
      </p:sp>
      <p:sp>
        <p:nvSpPr>
          <p:cNvPr id="3" name="TextBox 2"/>
          <p:cNvSpPr txBox="1"/>
          <p:nvPr/>
        </p:nvSpPr>
        <p:spPr>
          <a:xfrm>
            <a:off x="395536" y="980728"/>
            <a:ext cx="8260595" cy="923330"/>
          </a:xfrm>
          <a:prstGeom prst="rect">
            <a:avLst/>
          </a:prstGeom>
          <a:noFill/>
        </p:spPr>
        <p:txBody>
          <a:bodyPr wrap="none" rtlCol="0">
            <a:spAutoFit/>
          </a:bodyPr>
          <a:lstStyle/>
          <a:p>
            <a:pPr>
              <a:lnSpc>
                <a:spcPct val="150000"/>
              </a:lnSpc>
            </a:pPr>
            <a:r>
              <a:rPr lang="en-US" altLang="ko-KR" dirty="0" err="1"/>
              <a:t>Nếu</a:t>
            </a:r>
            <a:r>
              <a:rPr lang="en-US" altLang="ko-KR" dirty="0"/>
              <a:t> </a:t>
            </a:r>
            <a:r>
              <a:rPr lang="en-US" altLang="ko-KR" dirty="0" err="1"/>
              <a:t>dụng</a:t>
            </a:r>
            <a:r>
              <a:rPr lang="en-US" altLang="ko-KR" dirty="0"/>
              <a:t> </a:t>
            </a:r>
            <a:r>
              <a:rPr lang="en-US" altLang="ko-KR" dirty="0" err="1"/>
              <a:t>cụ</a:t>
            </a:r>
            <a:r>
              <a:rPr lang="en-US" altLang="ko-KR" dirty="0"/>
              <a:t> </a:t>
            </a:r>
            <a:r>
              <a:rPr lang="en-US" altLang="ko-KR" dirty="0" err="1"/>
              <a:t>đo</a:t>
            </a:r>
            <a:r>
              <a:rPr lang="en-US" altLang="ko-KR" dirty="0"/>
              <a:t> </a:t>
            </a:r>
            <a:r>
              <a:rPr lang="en-US" altLang="ko-KR" dirty="0" err="1"/>
              <a:t>là</a:t>
            </a:r>
            <a:r>
              <a:rPr lang="en-US" altLang="ko-KR" dirty="0"/>
              <a:t> </a:t>
            </a:r>
            <a:r>
              <a:rPr lang="en-US" altLang="ko-KR" dirty="0" err="1"/>
              <a:t>dụng</a:t>
            </a:r>
            <a:r>
              <a:rPr lang="en-US" altLang="ko-KR" dirty="0"/>
              <a:t> </a:t>
            </a:r>
            <a:r>
              <a:rPr lang="en-US" altLang="ko-KR" dirty="0" err="1"/>
              <a:t>cụ</a:t>
            </a:r>
            <a:r>
              <a:rPr lang="en-US" altLang="ko-KR" dirty="0"/>
              <a:t> </a:t>
            </a:r>
            <a:r>
              <a:rPr lang="en-US" altLang="ko-KR" dirty="0" err="1"/>
              <a:t>analoge</a:t>
            </a:r>
            <a:r>
              <a:rPr lang="en-US" altLang="ko-KR" dirty="0"/>
              <a:t> </a:t>
            </a:r>
            <a:r>
              <a:rPr lang="en-US" altLang="ko-KR" dirty="0" err="1"/>
              <a:t>thì</a:t>
            </a:r>
            <a:r>
              <a:rPr lang="en-US" altLang="ko-KR" dirty="0"/>
              <a:t> </a:t>
            </a:r>
            <a:r>
              <a:rPr lang="en-US" altLang="ko-KR" dirty="0" err="1"/>
              <a:t>độ</a:t>
            </a:r>
            <a:r>
              <a:rPr lang="en-US" altLang="ko-KR" dirty="0"/>
              <a:t> </a:t>
            </a:r>
            <a:r>
              <a:rPr lang="en-US" altLang="ko-KR" dirty="0" err="1"/>
              <a:t>phân</a:t>
            </a:r>
            <a:r>
              <a:rPr lang="en-US" altLang="ko-KR" dirty="0"/>
              <a:t> </a:t>
            </a:r>
            <a:r>
              <a:rPr lang="en-US" altLang="ko-KR" dirty="0" err="1"/>
              <a:t>giải</a:t>
            </a:r>
            <a:r>
              <a:rPr lang="en-US" altLang="ko-KR" dirty="0"/>
              <a:t> </a:t>
            </a:r>
            <a:r>
              <a:rPr lang="en-US" altLang="ko-KR" dirty="0" err="1"/>
              <a:t>là</a:t>
            </a:r>
            <a:r>
              <a:rPr lang="en-US" altLang="ko-KR" dirty="0"/>
              <a:t> </a:t>
            </a:r>
            <a:r>
              <a:rPr lang="en-US" altLang="ko-KR" dirty="0" err="1"/>
              <a:t>đơn</a:t>
            </a:r>
            <a:r>
              <a:rPr lang="en-US" altLang="ko-KR" dirty="0"/>
              <a:t> </a:t>
            </a:r>
            <a:r>
              <a:rPr lang="en-US" altLang="ko-KR" dirty="0" err="1"/>
              <a:t>vị</a:t>
            </a:r>
            <a:r>
              <a:rPr lang="en-US" altLang="ko-KR" dirty="0"/>
              <a:t> </a:t>
            </a:r>
            <a:r>
              <a:rPr lang="en-US" altLang="ko-KR" dirty="0" err="1"/>
              <a:t>đo</a:t>
            </a:r>
            <a:r>
              <a:rPr lang="en-US" altLang="ko-KR" dirty="0"/>
              <a:t> </a:t>
            </a:r>
            <a:r>
              <a:rPr lang="en-US" altLang="ko-KR" dirty="0" err="1"/>
              <a:t>tối</a:t>
            </a:r>
            <a:r>
              <a:rPr lang="en-US" altLang="ko-KR" dirty="0"/>
              <a:t> </a:t>
            </a:r>
            <a:r>
              <a:rPr lang="en-US" altLang="ko-KR" dirty="0" err="1"/>
              <a:t>thiểu</a:t>
            </a:r>
            <a:r>
              <a:rPr lang="en-US" altLang="ko-KR" dirty="0"/>
              <a:t>, </a:t>
            </a:r>
          </a:p>
          <a:p>
            <a:pPr>
              <a:lnSpc>
                <a:spcPct val="150000"/>
              </a:lnSpc>
            </a:pPr>
            <a:r>
              <a:rPr lang="en-US" altLang="ko-KR" dirty="0" err="1"/>
              <a:t>Dụng</a:t>
            </a:r>
            <a:r>
              <a:rPr lang="en-US" altLang="ko-KR" dirty="0"/>
              <a:t> </a:t>
            </a:r>
            <a:r>
              <a:rPr lang="en-US" altLang="ko-KR" dirty="0" err="1"/>
              <a:t>cụ</a:t>
            </a:r>
            <a:r>
              <a:rPr lang="en-US" altLang="ko-KR" dirty="0"/>
              <a:t> </a:t>
            </a:r>
            <a:r>
              <a:rPr lang="en-US" altLang="ko-KR" dirty="0" err="1"/>
              <a:t>đo</a:t>
            </a:r>
            <a:r>
              <a:rPr lang="en-US" altLang="ko-KR" dirty="0"/>
              <a:t> digital </a:t>
            </a:r>
            <a:r>
              <a:rPr lang="en-US" altLang="ko-KR" dirty="0" err="1"/>
              <a:t>thì</a:t>
            </a:r>
            <a:r>
              <a:rPr lang="en-US" altLang="ko-KR" dirty="0"/>
              <a:t> </a:t>
            </a:r>
            <a:r>
              <a:rPr lang="en-US" altLang="ko-KR" dirty="0" err="1"/>
              <a:t>sẽ</a:t>
            </a:r>
            <a:r>
              <a:rPr lang="en-US" altLang="ko-KR" dirty="0"/>
              <a:t> </a:t>
            </a:r>
            <a:r>
              <a:rPr lang="en-US" altLang="ko-KR" dirty="0" err="1"/>
              <a:t>hiểu</a:t>
            </a:r>
            <a:r>
              <a:rPr lang="en-US" altLang="ko-KR" dirty="0"/>
              <a:t> </a:t>
            </a:r>
            <a:r>
              <a:rPr lang="en-US" altLang="ko-KR" dirty="0" err="1"/>
              <a:t>là</a:t>
            </a:r>
            <a:r>
              <a:rPr lang="en-US" altLang="ko-KR" dirty="0"/>
              <a:t> </a:t>
            </a:r>
            <a:r>
              <a:rPr lang="en-US" altLang="ko-KR" dirty="0" err="1"/>
              <a:t>số</a:t>
            </a:r>
            <a:r>
              <a:rPr lang="en-US" altLang="ko-KR" dirty="0"/>
              <a:t> </a:t>
            </a:r>
            <a:r>
              <a:rPr lang="en-US" altLang="ko-KR" dirty="0" err="1"/>
              <a:t>tối</a:t>
            </a:r>
            <a:r>
              <a:rPr lang="en-US" altLang="ko-KR" dirty="0"/>
              <a:t> </a:t>
            </a:r>
            <a:r>
              <a:rPr lang="en-US" altLang="ko-KR" dirty="0" err="1"/>
              <a:t>thiểu</a:t>
            </a:r>
            <a:r>
              <a:rPr lang="en-US" altLang="ko-KR" dirty="0"/>
              <a:t> </a:t>
            </a:r>
            <a:r>
              <a:rPr lang="en-US" altLang="ko-KR" dirty="0" err="1"/>
              <a:t>có</a:t>
            </a:r>
            <a:r>
              <a:rPr lang="en-US" altLang="ko-KR" dirty="0"/>
              <a:t> </a:t>
            </a:r>
            <a:r>
              <a:rPr lang="en-US" altLang="ko-KR" dirty="0" err="1"/>
              <a:t>thể</a:t>
            </a:r>
            <a:r>
              <a:rPr lang="en-US" altLang="ko-KR" dirty="0"/>
              <a:t> </a:t>
            </a:r>
            <a:r>
              <a:rPr lang="en-US" altLang="ko-KR" dirty="0" err="1"/>
              <a:t>đo</a:t>
            </a:r>
            <a:r>
              <a:rPr lang="en-US" altLang="ko-KR" dirty="0"/>
              <a:t> </a:t>
            </a:r>
            <a:r>
              <a:rPr lang="en-US" altLang="ko-KR" dirty="0" err="1"/>
              <a:t>đạc</a:t>
            </a:r>
            <a:r>
              <a:rPr lang="en-US" altLang="ko-KR" dirty="0"/>
              <a:t> </a:t>
            </a:r>
            <a:r>
              <a:rPr lang="en-US" altLang="ko-KR" dirty="0" err="1"/>
              <a:t>được</a:t>
            </a:r>
            <a:endParaRPr lang="ko-KR" altLang="en-US" dirty="0"/>
          </a:p>
        </p:txBody>
      </p:sp>
      <p:sp>
        <p:nvSpPr>
          <p:cNvPr id="4" name="TextBox 3"/>
          <p:cNvSpPr txBox="1"/>
          <p:nvPr/>
        </p:nvSpPr>
        <p:spPr>
          <a:xfrm>
            <a:off x="1115616" y="2546320"/>
            <a:ext cx="1649811" cy="369332"/>
          </a:xfrm>
          <a:prstGeom prst="rect">
            <a:avLst/>
          </a:prstGeom>
          <a:noFill/>
        </p:spPr>
        <p:txBody>
          <a:bodyPr wrap="none" rtlCol="0">
            <a:spAutoFit/>
          </a:bodyPr>
          <a:lstStyle/>
          <a:p>
            <a:r>
              <a:rPr lang="en-US" altLang="ko-KR" dirty="0"/>
              <a:t>ISO 22514-7  </a:t>
            </a:r>
            <a:endParaRPr lang="ko-KR" altLang="en-US" dirty="0"/>
          </a:p>
        </p:txBody>
      </p:sp>
      <p:sp>
        <p:nvSpPr>
          <p:cNvPr id="5" name="TextBox 4"/>
          <p:cNvSpPr txBox="1"/>
          <p:nvPr/>
        </p:nvSpPr>
        <p:spPr>
          <a:xfrm>
            <a:off x="2771800" y="3068960"/>
            <a:ext cx="6244017" cy="646331"/>
          </a:xfrm>
          <a:prstGeom prst="rect">
            <a:avLst/>
          </a:prstGeom>
          <a:noFill/>
        </p:spPr>
        <p:txBody>
          <a:bodyPr wrap="none" rtlCol="0">
            <a:spAutoFit/>
          </a:bodyPr>
          <a:lstStyle/>
          <a:p>
            <a:r>
              <a:rPr lang="en-US" altLang="ko-KR" dirty="0"/>
              <a:t> </a:t>
            </a:r>
            <a:r>
              <a:rPr lang="en-US" altLang="ko-KR" dirty="0" err="1"/>
              <a:t>Dụng</a:t>
            </a:r>
            <a:r>
              <a:rPr lang="en-US" altLang="ko-KR" dirty="0"/>
              <a:t> </a:t>
            </a:r>
            <a:r>
              <a:rPr lang="en-US" altLang="ko-KR" dirty="0" err="1"/>
              <a:t>cụ</a:t>
            </a:r>
            <a:r>
              <a:rPr lang="en-US" altLang="ko-KR" dirty="0"/>
              <a:t> </a:t>
            </a:r>
            <a:r>
              <a:rPr lang="en-US" altLang="ko-KR" dirty="0" err="1"/>
              <a:t>đo</a:t>
            </a:r>
            <a:r>
              <a:rPr lang="en-US" altLang="ko-KR" dirty="0"/>
              <a:t> </a:t>
            </a:r>
            <a:r>
              <a:rPr lang="en-US" altLang="ko-KR" dirty="0" err="1"/>
              <a:t>dùng</a:t>
            </a:r>
            <a:r>
              <a:rPr lang="en-US" altLang="ko-KR" dirty="0"/>
              <a:t> </a:t>
            </a:r>
            <a:r>
              <a:rPr lang="en-US" altLang="ko-KR" dirty="0" err="1"/>
              <a:t>quản</a:t>
            </a:r>
            <a:r>
              <a:rPr lang="en-US" altLang="ko-KR" dirty="0"/>
              <a:t> </a:t>
            </a:r>
            <a:r>
              <a:rPr lang="en-US" altLang="ko-KR" dirty="0" err="1"/>
              <a:t>lý</a:t>
            </a:r>
            <a:r>
              <a:rPr lang="en-US" altLang="ko-KR" dirty="0"/>
              <a:t> </a:t>
            </a:r>
            <a:r>
              <a:rPr lang="en-US" altLang="ko-KR" dirty="0" err="1"/>
              <a:t>quá</a:t>
            </a:r>
            <a:r>
              <a:rPr lang="en-US" altLang="ko-KR" dirty="0"/>
              <a:t> </a:t>
            </a:r>
            <a:r>
              <a:rPr lang="en-US" altLang="ko-KR" dirty="0" err="1"/>
              <a:t>trình</a:t>
            </a:r>
            <a:r>
              <a:rPr lang="en-US" altLang="ko-KR" dirty="0"/>
              <a:t> </a:t>
            </a:r>
            <a:r>
              <a:rPr lang="en-US" altLang="ko-KR" dirty="0" err="1"/>
              <a:t>quá</a:t>
            </a:r>
            <a:r>
              <a:rPr lang="en-US" altLang="ko-KR" dirty="0"/>
              <a:t> </a:t>
            </a:r>
            <a:r>
              <a:rPr lang="en-US" altLang="ko-KR" dirty="0" err="1"/>
              <a:t>trình</a:t>
            </a:r>
            <a:r>
              <a:rPr lang="en-US" altLang="ko-KR" dirty="0"/>
              <a:t> </a:t>
            </a:r>
            <a:r>
              <a:rPr lang="en-US" altLang="ko-KR" dirty="0" err="1"/>
              <a:t>biến</a:t>
            </a:r>
            <a:r>
              <a:rPr lang="en-US" altLang="ko-KR" dirty="0"/>
              <a:t> </a:t>
            </a:r>
            <a:r>
              <a:rPr lang="en-US" altLang="ko-KR" dirty="0" err="1"/>
              <a:t>động</a:t>
            </a:r>
            <a:endParaRPr lang="en-US" altLang="ko-KR" dirty="0"/>
          </a:p>
          <a:p>
            <a:r>
              <a:rPr lang="en-US" altLang="ko-KR" dirty="0"/>
              <a:t> </a:t>
            </a:r>
            <a:r>
              <a:rPr lang="en-US" altLang="ko-KR" dirty="0" err="1"/>
              <a:t>dưới</a:t>
            </a:r>
            <a:r>
              <a:rPr lang="en-US" altLang="ko-KR" dirty="0"/>
              <a:t> 1/5</a:t>
            </a:r>
            <a:endParaRPr lang="ko-KR" altLang="en-US" dirty="0"/>
          </a:p>
        </p:txBody>
      </p:sp>
      <p:sp>
        <p:nvSpPr>
          <p:cNvPr id="7" name="직사각형 6"/>
          <p:cNvSpPr/>
          <p:nvPr/>
        </p:nvSpPr>
        <p:spPr>
          <a:xfrm>
            <a:off x="2843808" y="2420888"/>
            <a:ext cx="5184576" cy="646331"/>
          </a:xfrm>
          <a:prstGeom prst="rect">
            <a:avLst/>
          </a:prstGeom>
        </p:spPr>
        <p:txBody>
          <a:bodyPr wrap="square">
            <a:spAutoFit/>
          </a:bodyPr>
          <a:lstStyle/>
          <a:p>
            <a:pPr lvl="0"/>
            <a:r>
              <a:rPr lang="en-US" altLang="ko-KR" dirty="0" err="1">
                <a:solidFill>
                  <a:prstClr val="black"/>
                </a:solidFill>
              </a:rPr>
              <a:t>Dụng</a:t>
            </a:r>
            <a:r>
              <a:rPr lang="en-US" altLang="ko-KR" dirty="0">
                <a:solidFill>
                  <a:prstClr val="black"/>
                </a:solidFill>
              </a:rPr>
              <a:t> </a:t>
            </a:r>
            <a:r>
              <a:rPr lang="en-US" altLang="ko-KR" dirty="0" err="1">
                <a:solidFill>
                  <a:prstClr val="black"/>
                </a:solidFill>
              </a:rPr>
              <a:t>cụ</a:t>
            </a:r>
            <a:r>
              <a:rPr lang="en-US" altLang="ko-KR" dirty="0">
                <a:solidFill>
                  <a:prstClr val="black"/>
                </a:solidFill>
              </a:rPr>
              <a:t> </a:t>
            </a:r>
            <a:r>
              <a:rPr lang="en-US" altLang="ko-KR" dirty="0" err="1">
                <a:solidFill>
                  <a:prstClr val="black"/>
                </a:solidFill>
              </a:rPr>
              <a:t>đo</a:t>
            </a:r>
            <a:r>
              <a:rPr lang="en-US" altLang="ko-KR" dirty="0">
                <a:solidFill>
                  <a:prstClr val="black"/>
                </a:solidFill>
              </a:rPr>
              <a:t> </a:t>
            </a:r>
            <a:r>
              <a:rPr lang="en-US" altLang="ko-KR" dirty="0" err="1">
                <a:solidFill>
                  <a:prstClr val="black"/>
                </a:solidFill>
              </a:rPr>
              <a:t>dùng</a:t>
            </a:r>
            <a:r>
              <a:rPr lang="en-US" altLang="ko-KR" dirty="0">
                <a:solidFill>
                  <a:prstClr val="black"/>
                </a:solidFill>
              </a:rPr>
              <a:t> </a:t>
            </a:r>
            <a:r>
              <a:rPr lang="en-US" altLang="ko-KR" dirty="0" err="1">
                <a:solidFill>
                  <a:prstClr val="black"/>
                </a:solidFill>
              </a:rPr>
              <a:t>đánh</a:t>
            </a:r>
            <a:r>
              <a:rPr lang="en-US" altLang="ko-KR" dirty="0">
                <a:solidFill>
                  <a:prstClr val="black"/>
                </a:solidFill>
              </a:rPr>
              <a:t> </a:t>
            </a:r>
            <a:r>
              <a:rPr lang="en-US" altLang="ko-KR" dirty="0" err="1">
                <a:solidFill>
                  <a:prstClr val="black"/>
                </a:solidFill>
              </a:rPr>
              <a:t>giá</a:t>
            </a:r>
            <a:r>
              <a:rPr lang="en-US" altLang="ko-KR" dirty="0">
                <a:solidFill>
                  <a:prstClr val="black"/>
                </a:solidFill>
              </a:rPr>
              <a:t> OK/NG </a:t>
            </a:r>
            <a:r>
              <a:rPr lang="en-US" altLang="ko-KR" dirty="0" err="1">
                <a:solidFill>
                  <a:prstClr val="black"/>
                </a:solidFill>
              </a:rPr>
              <a:t>sai</a:t>
            </a:r>
            <a:r>
              <a:rPr lang="en-US" altLang="ko-KR" dirty="0">
                <a:solidFill>
                  <a:prstClr val="black"/>
                </a:solidFill>
              </a:rPr>
              <a:t> </a:t>
            </a:r>
            <a:r>
              <a:rPr lang="en-US" altLang="ko-KR" dirty="0" err="1">
                <a:solidFill>
                  <a:prstClr val="black"/>
                </a:solidFill>
              </a:rPr>
              <a:t>số</a:t>
            </a:r>
            <a:r>
              <a:rPr lang="en-US" altLang="ko-KR" dirty="0">
                <a:solidFill>
                  <a:prstClr val="black"/>
                </a:solidFill>
              </a:rPr>
              <a:t> </a:t>
            </a:r>
            <a:r>
              <a:rPr lang="en-US" altLang="ko-KR" dirty="0" err="1">
                <a:solidFill>
                  <a:prstClr val="black"/>
                </a:solidFill>
              </a:rPr>
              <a:t>cho</a:t>
            </a:r>
            <a:r>
              <a:rPr lang="en-US" altLang="ko-KR" dirty="0">
                <a:solidFill>
                  <a:prstClr val="black"/>
                </a:solidFill>
              </a:rPr>
              <a:t> </a:t>
            </a:r>
            <a:r>
              <a:rPr lang="en-US" altLang="ko-KR" dirty="0" err="1">
                <a:solidFill>
                  <a:prstClr val="black"/>
                </a:solidFill>
              </a:rPr>
              <a:t>phép</a:t>
            </a:r>
            <a:r>
              <a:rPr lang="en-US" altLang="ko-KR" dirty="0">
                <a:solidFill>
                  <a:prstClr val="black"/>
                </a:solidFill>
              </a:rPr>
              <a:t> </a:t>
            </a:r>
            <a:r>
              <a:rPr lang="en-US" altLang="ko-KR" dirty="0" err="1">
                <a:solidFill>
                  <a:prstClr val="black"/>
                </a:solidFill>
              </a:rPr>
              <a:t>dưới</a:t>
            </a:r>
            <a:r>
              <a:rPr lang="en-US" altLang="ko-KR" dirty="0">
                <a:solidFill>
                  <a:prstClr val="black"/>
                </a:solidFill>
              </a:rPr>
              <a:t> 1/20</a:t>
            </a:r>
            <a:endParaRPr lang="ko-KR" altLang="en-US" dirty="0">
              <a:solidFill>
                <a:prstClr val="black"/>
              </a:solidFill>
            </a:endParaRPr>
          </a:p>
        </p:txBody>
      </p:sp>
      <p:sp>
        <p:nvSpPr>
          <p:cNvPr id="8" name="TextBox 7"/>
          <p:cNvSpPr txBox="1"/>
          <p:nvPr/>
        </p:nvSpPr>
        <p:spPr>
          <a:xfrm>
            <a:off x="899592" y="3779748"/>
            <a:ext cx="2024080" cy="369332"/>
          </a:xfrm>
          <a:prstGeom prst="rect">
            <a:avLst/>
          </a:prstGeom>
          <a:noFill/>
        </p:spPr>
        <p:txBody>
          <a:bodyPr wrap="none" rtlCol="0">
            <a:spAutoFit/>
          </a:bodyPr>
          <a:lstStyle/>
          <a:p>
            <a:r>
              <a:rPr lang="en-US" altLang="ko-KR" dirty="0"/>
              <a:t>GM, </a:t>
            </a:r>
            <a:r>
              <a:rPr lang="en-US" altLang="ko-KR" dirty="0" err="1"/>
              <a:t>Bosch,VDA</a:t>
            </a:r>
            <a:r>
              <a:rPr lang="en-US" altLang="ko-KR" dirty="0"/>
              <a:t> 5</a:t>
            </a:r>
            <a:endParaRPr lang="ko-KR" altLang="en-US" dirty="0"/>
          </a:p>
        </p:txBody>
      </p:sp>
      <p:sp>
        <p:nvSpPr>
          <p:cNvPr id="9" name="직사각형 8"/>
          <p:cNvSpPr/>
          <p:nvPr/>
        </p:nvSpPr>
        <p:spPr>
          <a:xfrm>
            <a:off x="2843808" y="3789040"/>
            <a:ext cx="5184576" cy="646331"/>
          </a:xfrm>
          <a:prstGeom prst="rect">
            <a:avLst/>
          </a:prstGeom>
        </p:spPr>
        <p:txBody>
          <a:bodyPr wrap="square">
            <a:spAutoFit/>
          </a:bodyPr>
          <a:lstStyle/>
          <a:p>
            <a:pPr lvl="0"/>
            <a:r>
              <a:rPr lang="en-US" altLang="ko-KR" dirty="0" err="1">
                <a:solidFill>
                  <a:prstClr val="black"/>
                </a:solidFill>
              </a:rPr>
              <a:t>Dụng</a:t>
            </a:r>
            <a:r>
              <a:rPr lang="en-US" altLang="ko-KR" dirty="0">
                <a:solidFill>
                  <a:prstClr val="black"/>
                </a:solidFill>
              </a:rPr>
              <a:t> </a:t>
            </a:r>
            <a:r>
              <a:rPr lang="en-US" altLang="ko-KR" dirty="0" err="1">
                <a:solidFill>
                  <a:prstClr val="black"/>
                </a:solidFill>
              </a:rPr>
              <a:t>cụ</a:t>
            </a:r>
            <a:r>
              <a:rPr lang="en-US" altLang="ko-KR" dirty="0">
                <a:solidFill>
                  <a:prstClr val="black"/>
                </a:solidFill>
              </a:rPr>
              <a:t> </a:t>
            </a:r>
            <a:r>
              <a:rPr lang="en-US" altLang="ko-KR" dirty="0" err="1">
                <a:solidFill>
                  <a:prstClr val="black"/>
                </a:solidFill>
              </a:rPr>
              <a:t>đo</a:t>
            </a:r>
            <a:r>
              <a:rPr lang="en-US" altLang="ko-KR" dirty="0">
                <a:solidFill>
                  <a:prstClr val="black"/>
                </a:solidFill>
              </a:rPr>
              <a:t> </a:t>
            </a:r>
            <a:r>
              <a:rPr lang="en-US" altLang="ko-KR" dirty="0" err="1">
                <a:solidFill>
                  <a:prstClr val="black"/>
                </a:solidFill>
              </a:rPr>
              <a:t>dùng</a:t>
            </a:r>
            <a:r>
              <a:rPr lang="en-US" altLang="ko-KR" dirty="0">
                <a:solidFill>
                  <a:prstClr val="black"/>
                </a:solidFill>
              </a:rPr>
              <a:t> </a:t>
            </a:r>
            <a:r>
              <a:rPr lang="en-US" altLang="ko-KR" dirty="0" err="1">
                <a:solidFill>
                  <a:prstClr val="black"/>
                </a:solidFill>
              </a:rPr>
              <a:t>đánh</a:t>
            </a:r>
            <a:r>
              <a:rPr lang="en-US" altLang="ko-KR" dirty="0">
                <a:solidFill>
                  <a:prstClr val="black"/>
                </a:solidFill>
              </a:rPr>
              <a:t> </a:t>
            </a:r>
            <a:r>
              <a:rPr lang="en-US" altLang="ko-KR" dirty="0" err="1">
                <a:solidFill>
                  <a:prstClr val="black"/>
                </a:solidFill>
              </a:rPr>
              <a:t>giá</a:t>
            </a:r>
            <a:r>
              <a:rPr lang="en-US" altLang="ko-KR" dirty="0">
                <a:solidFill>
                  <a:prstClr val="black"/>
                </a:solidFill>
              </a:rPr>
              <a:t> OK/NG</a:t>
            </a:r>
            <a:r>
              <a:rPr lang="ko-KR" altLang="en-US" dirty="0">
                <a:solidFill>
                  <a:prstClr val="black"/>
                </a:solidFill>
              </a:rPr>
              <a:t> </a:t>
            </a:r>
            <a:r>
              <a:rPr lang="en-US" altLang="ko-KR" dirty="0" err="1">
                <a:solidFill>
                  <a:prstClr val="black"/>
                </a:solidFill>
              </a:rPr>
              <a:t>sai</a:t>
            </a:r>
            <a:r>
              <a:rPr lang="en-US" altLang="ko-KR" dirty="0">
                <a:solidFill>
                  <a:prstClr val="black"/>
                </a:solidFill>
              </a:rPr>
              <a:t> </a:t>
            </a:r>
            <a:r>
              <a:rPr lang="en-US" altLang="ko-KR" dirty="0" err="1">
                <a:solidFill>
                  <a:prstClr val="black"/>
                </a:solidFill>
              </a:rPr>
              <a:t>số</a:t>
            </a:r>
            <a:r>
              <a:rPr lang="en-US" altLang="ko-KR" dirty="0">
                <a:solidFill>
                  <a:prstClr val="black"/>
                </a:solidFill>
              </a:rPr>
              <a:t> </a:t>
            </a:r>
            <a:r>
              <a:rPr lang="en-US" altLang="ko-KR" dirty="0" err="1">
                <a:solidFill>
                  <a:prstClr val="black"/>
                </a:solidFill>
              </a:rPr>
              <a:t>cho</a:t>
            </a:r>
            <a:r>
              <a:rPr lang="en-US" altLang="ko-KR" dirty="0">
                <a:solidFill>
                  <a:prstClr val="black"/>
                </a:solidFill>
              </a:rPr>
              <a:t> </a:t>
            </a:r>
            <a:r>
              <a:rPr lang="en-US" altLang="ko-KR" dirty="0" err="1">
                <a:solidFill>
                  <a:prstClr val="black"/>
                </a:solidFill>
              </a:rPr>
              <a:t>phép</a:t>
            </a:r>
            <a:r>
              <a:rPr lang="en-US" altLang="ko-KR" dirty="0">
                <a:solidFill>
                  <a:prstClr val="black"/>
                </a:solidFill>
              </a:rPr>
              <a:t> </a:t>
            </a:r>
            <a:r>
              <a:rPr lang="en-US" altLang="ko-KR" dirty="0" err="1">
                <a:solidFill>
                  <a:prstClr val="black"/>
                </a:solidFill>
              </a:rPr>
              <a:t>dưới</a:t>
            </a:r>
            <a:r>
              <a:rPr lang="en-US" altLang="ko-KR" dirty="0">
                <a:solidFill>
                  <a:prstClr val="black"/>
                </a:solidFill>
              </a:rPr>
              <a:t> 1/20 (5%)</a:t>
            </a:r>
            <a:endParaRPr lang="ko-KR" altLang="en-US" dirty="0">
              <a:solidFill>
                <a:prstClr val="black"/>
              </a:solidFill>
            </a:endParaRPr>
          </a:p>
        </p:txBody>
      </p:sp>
      <p:sp>
        <p:nvSpPr>
          <p:cNvPr id="10" name="TextBox 9"/>
          <p:cNvSpPr txBox="1"/>
          <p:nvPr/>
        </p:nvSpPr>
        <p:spPr>
          <a:xfrm>
            <a:off x="971600" y="4427820"/>
            <a:ext cx="792140" cy="369332"/>
          </a:xfrm>
          <a:prstGeom prst="rect">
            <a:avLst/>
          </a:prstGeom>
          <a:noFill/>
        </p:spPr>
        <p:txBody>
          <a:bodyPr wrap="none" rtlCol="0">
            <a:spAutoFit/>
          </a:bodyPr>
          <a:lstStyle/>
          <a:p>
            <a:r>
              <a:rPr lang="en-US" altLang="ko-KR" dirty="0"/>
              <a:t>AIAG </a:t>
            </a:r>
            <a:endParaRPr lang="ko-KR" altLang="en-US" dirty="0"/>
          </a:p>
        </p:txBody>
      </p:sp>
      <p:sp>
        <p:nvSpPr>
          <p:cNvPr id="11" name="직사각형 10"/>
          <p:cNvSpPr/>
          <p:nvPr/>
        </p:nvSpPr>
        <p:spPr>
          <a:xfrm>
            <a:off x="2843808" y="4427820"/>
            <a:ext cx="5184576" cy="646331"/>
          </a:xfrm>
          <a:prstGeom prst="rect">
            <a:avLst/>
          </a:prstGeom>
        </p:spPr>
        <p:txBody>
          <a:bodyPr wrap="square">
            <a:spAutoFit/>
          </a:bodyPr>
          <a:lstStyle/>
          <a:p>
            <a:pPr lvl="0"/>
            <a:r>
              <a:rPr lang="en-US" altLang="ko-KR" dirty="0" err="1">
                <a:solidFill>
                  <a:prstClr val="black"/>
                </a:solidFill>
              </a:rPr>
              <a:t>Dụng</a:t>
            </a:r>
            <a:r>
              <a:rPr lang="en-US" altLang="ko-KR" dirty="0">
                <a:solidFill>
                  <a:prstClr val="black"/>
                </a:solidFill>
              </a:rPr>
              <a:t> </a:t>
            </a:r>
            <a:r>
              <a:rPr lang="en-US" altLang="ko-KR" dirty="0" err="1">
                <a:solidFill>
                  <a:prstClr val="black"/>
                </a:solidFill>
              </a:rPr>
              <a:t>cụ</a:t>
            </a:r>
            <a:r>
              <a:rPr lang="en-US" altLang="ko-KR" dirty="0">
                <a:solidFill>
                  <a:prstClr val="black"/>
                </a:solidFill>
              </a:rPr>
              <a:t> </a:t>
            </a:r>
            <a:r>
              <a:rPr lang="en-US" altLang="ko-KR" dirty="0" err="1">
                <a:solidFill>
                  <a:prstClr val="black"/>
                </a:solidFill>
              </a:rPr>
              <a:t>đo</a:t>
            </a:r>
            <a:r>
              <a:rPr lang="en-US" altLang="ko-KR" dirty="0">
                <a:solidFill>
                  <a:prstClr val="black"/>
                </a:solidFill>
              </a:rPr>
              <a:t> </a:t>
            </a:r>
            <a:r>
              <a:rPr lang="en-US" altLang="ko-KR" dirty="0" err="1">
                <a:solidFill>
                  <a:prstClr val="black"/>
                </a:solidFill>
              </a:rPr>
              <a:t>dùng</a:t>
            </a:r>
            <a:r>
              <a:rPr lang="en-US" altLang="ko-KR" dirty="0">
                <a:solidFill>
                  <a:prstClr val="black"/>
                </a:solidFill>
              </a:rPr>
              <a:t> </a:t>
            </a:r>
            <a:r>
              <a:rPr lang="en-US" altLang="ko-KR" dirty="0" err="1">
                <a:solidFill>
                  <a:prstClr val="black"/>
                </a:solidFill>
              </a:rPr>
              <a:t>đánh</a:t>
            </a:r>
            <a:r>
              <a:rPr lang="en-US" altLang="ko-KR" dirty="0">
                <a:solidFill>
                  <a:prstClr val="black"/>
                </a:solidFill>
              </a:rPr>
              <a:t> </a:t>
            </a:r>
            <a:r>
              <a:rPr lang="en-US" altLang="ko-KR" dirty="0" err="1">
                <a:solidFill>
                  <a:prstClr val="black"/>
                </a:solidFill>
              </a:rPr>
              <a:t>giá</a:t>
            </a:r>
            <a:r>
              <a:rPr lang="en-US" altLang="ko-KR" dirty="0">
                <a:solidFill>
                  <a:prstClr val="black"/>
                </a:solidFill>
              </a:rPr>
              <a:t> OK/NG</a:t>
            </a:r>
            <a:r>
              <a:rPr lang="ko-KR" altLang="en-US" dirty="0">
                <a:solidFill>
                  <a:prstClr val="black"/>
                </a:solidFill>
              </a:rPr>
              <a:t> </a:t>
            </a:r>
            <a:r>
              <a:rPr lang="en-US" altLang="ko-KR" dirty="0" err="1">
                <a:solidFill>
                  <a:prstClr val="black"/>
                </a:solidFill>
              </a:rPr>
              <a:t>sai</a:t>
            </a:r>
            <a:r>
              <a:rPr lang="en-US" altLang="ko-KR" dirty="0">
                <a:solidFill>
                  <a:prstClr val="black"/>
                </a:solidFill>
              </a:rPr>
              <a:t> </a:t>
            </a:r>
            <a:r>
              <a:rPr lang="en-US" altLang="ko-KR" dirty="0" err="1">
                <a:solidFill>
                  <a:prstClr val="black"/>
                </a:solidFill>
              </a:rPr>
              <a:t>số</a:t>
            </a:r>
            <a:r>
              <a:rPr lang="en-US" altLang="ko-KR" dirty="0">
                <a:solidFill>
                  <a:prstClr val="black"/>
                </a:solidFill>
              </a:rPr>
              <a:t> </a:t>
            </a:r>
            <a:r>
              <a:rPr lang="en-US" altLang="ko-KR" dirty="0" err="1">
                <a:solidFill>
                  <a:prstClr val="black"/>
                </a:solidFill>
              </a:rPr>
              <a:t>cho</a:t>
            </a:r>
            <a:r>
              <a:rPr lang="en-US" altLang="ko-KR" dirty="0">
                <a:solidFill>
                  <a:prstClr val="black"/>
                </a:solidFill>
              </a:rPr>
              <a:t> </a:t>
            </a:r>
            <a:r>
              <a:rPr lang="en-US" altLang="ko-KR" dirty="0" err="1">
                <a:solidFill>
                  <a:prstClr val="black"/>
                </a:solidFill>
              </a:rPr>
              <a:t>phép</a:t>
            </a:r>
            <a:r>
              <a:rPr lang="en-US" altLang="ko-KR" dirty="0">
                <a:solidFill>
                  <a:prstClr val="black"/>
                </a:solidFill>
              </a:rPr>
              <a:t> 1/10</a:t>
            </a:r>
            <a:r>
              <a:rPr lang="ko-KR" altLang="en-US" dirty="0">
                <a:solidFill>
                  <a:prstClr val="black"/>
                </a:solidFill>
              </a:rPr>
              <a:t> </a:t>
            </a:r>
          </a:p>
        </p:txBody>
      </p:sp>
    </p:spTree>
    <p:extLst>
      <p:ext uri="{BB962C8B-B14F-4D97-AF65-F5344CB8AC3E}">
        <p14:creationId xmlns:p14="http://schemas.microsoft.com/office/powerpoint/2010/main" val="231326420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718326" cy="400110"/>
          </a:xfrm>
          <a:prstGeom prst="rect">
            <a:avLst/>
          </a:prstGeom>
          <a:noFill/>
        </p:spPr>
        <p:txBody>
          <a:bodyPr wrap="none" rtlCol="0">
            <a:spAutoFit/>
          </a:bodyPr>
          <a:lstStyle/>
          <a:p>
            <a:r>
              <a:rPr lang="en-US" altLang="ko-KR" sz="2000" b="1" dirty="0"/>
              <a:t>Resolution of the instrument</a:t>
            </a:r>
            <a:endParaRPr lang="ko-KR" altLang="en-US" sz="2000" b="1" dirty="0"/>
          </a:p>
        </p:txBody>
      </p:sp>
      <p:sp>
        <p:nvSpPr>
          <p:cNvPr id="3" name="TextBox 2"/>
          <p:cNvSpPr txBox="1"/>
          <p:nvPr/>
        </p:nvSpPr>
        <p:spPr>
          <a:xfrm>
            <a:off x="395536" y="1000108"/>
            <a:ext cx="1194558" cy="338554"/>
          </a:xfrm>
          <a:prstGeom prst="rect">
            <a:avLst/>
          </a:prstGeom>
          <a:noFill/>
        </p:spPr>
        <p:txBody>
          <a:bodyPr wrap="none" rtlCol="0">
            <a:spAutoFit/>
          </a:bodyPr>
          <a:lstStyle/>
          <a:p>
            <a:r>
              <a:rPr lang="en-US" altLang="ko-KR" sz="1600" dirty="0"/>
              <a:t>Case study</a:t>
            </a:r>
            <a:endParaRPr lang="ko-KR" altLang="en-US" sz="1600" dirty="0"/>
          </a:p>
        </p:txBody>
      </p:sp>
      <p:sp>
        <p:nvSpPr>
          <p:cNvPr id="4" name="TextBox 3"/>
          <p:cNvSpPr txBox="1"/>
          <p:nvPr/>
        </p:nvSpPr>
        <p:spPr>
          <a:xfrm>
            <a:off x="526662" y="1504164"/>
            <a:ext cx="8117304" cy="1200329"/>
          </a:xfrm>
          <a:prstGeom prst="rect">
            <a:avLst/>
          </a:prstGeom>
          <a:noFill/>
        </p:spPr>
        <p:txBody>
          <a:bodyPr wrap="square" rtlCol="0">
            <a:spAutoFit/>
          </a:bodyPr>
          <a:lstStyle/>
          <a:p>
            <a:pPr>
              <a:lnSpc>
                <a:spcPct val="150000"/>
              </a:lnSpc>
            </a:pPr>
            <a:r>
              <a:rPr lang="en-US" altLang="ko-KR" sz="1600" b="1" dirty="0"/>
              <a:t>A digital </a:t>
            </a:r>
            <a:r>
              <a:rPr lang="en-US" altLang="ko-KR" sz="1600" b="1" dirty="0" err="1"/>
              <a:t>vernier</a:t>
            </a:r>
            <a:r>
              <a:rPr lang="en-US" altLang="ko-KR" sz="1600" b="1" dirty="0"/>
              <a:t> calipers with a minimum measurable number of digits of 0.01 mm is used to measure a product with a standard 50 ± 0.2 mm. Does the resolution of the instrument meet the requirements?</a:t>
            </a:r>
          </a:p>
        </p:txBody>
      </p:sp>
      <p:sp>
        <p:nvSpPr>
          <p:cNvPr id="5" name="TextBox 4"/>
          <p:cNvSpPr txBox="1"/>
          <p:nvPr/>
        </p:nvSpPr>
        <p:spPr>
          <a:xfrm>
            <a:off x="611560" y="2708920"/>
            <a:ext cx="994183" cy="338554"/>
          </a:xfrm>
          <a:prstGeom prst="rect">
            <a:avLst/>
          </a:prstGeom>
          <a:noFill/>
        </p:spPr>
        <p:txBody>
          <a:bodyPr wrap="none" rtlCol="0">
            <a:spAutoFit/>
          </a:bodyPr>
          <a:lstStyle/>
          <a:p>
            <a:r>
              <a:rPr lang="en-US" altLang="ko-KR" sz="1600" b="1" dirty="0"/>
              <a:t>Solution</a:t>
            </a:r>
            <a:endParaRPr lang="ko-KR" altLang="en-US" sz="1600" b="1" dirty="0"/>
          </a:p>
        </p:txBody>
      </p:sp>
      <p:sp>
        <p:nvSpPr>
          <p:cNvPr id="6" name="TextBox 5"/>
          <p:cNvSpPr txBox="1"/>
          <p:nvPr/>
        </p:nvSpPr>
        <p:spPr>
          <a:xfrm>
            <a:off x="851844" y="3068960"/>
            <a:ext cx="4483407" cy="338554"/>
          </a:xfrm>
          <a:prstGeom prst="rect">
            <a:avLst/>
          </a:prstGeom>
          <a:noFill/>
        </p:spPr>
        <p:txBody>
          <a:bodyPr wrap="none" rtlCol="0">
            <a:spAutoFit/>
          </a:bodyPr>
          <a:lstStyle/>
          <a:p>
            <a:r>
              <a:rPr lang="en-US" altLang="ko-KR" sz="1600" b="1" dirty="0"/>
              <a:t>Instrument resolution</a:t>
            </a:r>
            <a:r>
              <a:rPr lang="ko-KR" altLang="en-US" sz="1600" b="1" dirty="0"/>
              <a:t>                </a:t>
            </a:r>
            <a:r>
              <a:rPr lang="en-US" altLang="ko-KR" sz="1600" b="1" dirty="0"/>
              <a:t>RE = 0.01</a:t>
            </a:r>
            <a:endParaRPr lang="ko-KR" altLang="en-US" sz="1600" b="1" dirty="0"/>
          </a:p>
        </p:txBody>
      </p:sp>
      <p:sp>
        <p:nvSpPr>
          <p:cNvPr id="7" name="TextBox 6"/>
          <p:cNvSpPr txBox="1"/>
          <p:nvPr/>
        </p:nvSpPr>
        <p:spPr>
          <a:xfrm>
            <a:off x="851844" y="3522494"/>
            <a:ext cx="6868162" cy="338554"/>
          </a:xfrm>
          <a:prstGeom prst="rect">
            <a:avLst/>
          </a:prstGeom>
          <a:noFill/>
        </p:spPr>
        <p:txBody>
          <a:bodyPr wrap="none" rtlCol="0">
            <a:spAutoFit/>
          </a:bodyPr>
          <a:lstStyle/>
          <a:p>
            <a:r>
              <a:rPr lang="en-US" altLang="ko-KR" sz="1600" b="1" dirty="0"/>
              <a:t>Tolerance</a:t>
            </a:r>
            <a:r>
              <a:rPr lang="ko-KR" altLang="en-US" sz="1600" b="1" dirty="0"/>
              <a:t>                                 </a:t>
            </a:r>
            <a:r>
              <a:rPr lang="en-US" altLang="ko-KR" sz="1600" b="1" dirty="0"/>
              <a:t>T = USL – LSL  = 50.2 – 49.8 = 0.4</a:t>
            </a:r>
            <a:endParaRPr lang="ko-KR" altLang="en-US" sz="1600" b="1" dirty="0"/>
          </a:p>
        </p:txBody>
      </p:sp>
      <p:sp>
        <p:nvSpPr>
          <p:cNvPr id="8" name="TextBox 7"/>
          <p:cNvSpPr txBox="1"/>
          <p:nvPr/>
        </p:nvSpPr>
        <p:spPr>
          <a:xfrm>
            <a:off x="851844" y="3933056"/>
            <a:ext cx="6724405" cy="338554"/>
          </a:xfrm>
          <a:prstGeom prst="rect">
            <a:avLst/>
          </a:prstGeom>
          <a:noFill/>
        </p:spPr>
        <p:txBody>
          <a:bodyPr wrap="none" rtlCol="0">
            <a:spAutoFit/>
          </a:bodyPr>
          <a:lstStyle/>
          <a:p>
            <a:r>
              <a:rPr lang="en-US" altLang="ko-KR" sz="1600" b="1" dirty="0"/>
              <a:t>Decomposition performance</a:t>
            </a:r>
            <a:r>
              <a:rPr lang="ko-KR" altLang="en-US" sz="1600" b="1" dirty="0"/>
              <a:t>       </a:t>
            </a:r>
            <a:r>
              <a:rPr lang="en-US" altLang="ko-KR" sz="1600" b="1" dirty="0"/>
              <a:t>%RE =</a:t>
            </a:r>
            <a:r>
              <a:rPr lang="ko-KR" altLang="en-US" sz="1600" b="1" dirty="0"/>
              <a:t>  </a:t>
            </a:r>
            <a:r>
              <a:rPr lang="en-US" altLang="ko-KR" sz="1600" b="1" dirty="0"/>
              <a:t>0.01 / 0.4 x 100 = 2.5 % </a:t>
            </a:r>
            <a:endParaRPr lang="ko-KR" altLang="en-US" sz="1600" b="1" dirty="0"/>
          </a:p>
        </p:txBody>
      </p:sp>
      <p:sp>
        <p:nvSpPr>
          <p:cNvPr id="9" name="TextBox 8"/>
          <p:cNvSpPr txBox="1"/>
          <p:nvPr/>
        </p:nvSpPr>
        <p:spPr>
          <a:xfrm>
            <a:off x="851844" y="4644424"/>
            <a:ext cx="7649246" cy="830997"/>
          </a:xfrm>
          <a:prstGeom prst="rect">
            <a:avLst/>
          </a:prstGeom>
          <a:noFill/>
        </p:spPr>
        <p:txBody>
          <a:bodyPr wrap="square" rtlCol="0">
            <a:spAutoFit/>
          </a:bodyPr>
          <a:lstStyle/>
          <a:p>
            <a:r>
              <a:rPr lang="en-US" altLang="ko-KR" sz="1600" b="1" dirty="0"/>
              <a:t>The acceptance criteria are less than 5% in ISO 22514-7, GM, Bosch, VDA 5 and less than 10% in AIAG (2010) MSA 4, so the resolution of the instrument is satisfactory</a:t>
            </a:r>
            <a:endParaRPr lang="ko-KR" altLang="en-US" sz="1600" b="1" dirty="0"/>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48</a:t>
            </a:fld>
            <a:endParaRPr lang="ko-KR" altLang="en-US" dirty="0"/>
          </a:p>
        </p:txBody>
      </p:sp>
    </p:spTree>
    <p:extLst>
      <p:ext uri="{BB962C8B-B14F-4D97-AF65-F5344CB8AC3E}">
        <p14:creationId xmlns:p14="http://schemas.microsoft.com/office/powerpoint/2010/main" val="78388669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1868910" cy="400110"/>
          </a:xfrm>
          <a:prstGeom prst="rect">
            <a:avLst/>
          </a:prstGeom>
          <a:noFill/>
        </p:spPr>
        <p:txBody>
          <a:bodyPr wrap="none" rtlCol="0">
            <a:spAutoFit/>
          </a:bodyPr>
          <a:lstStyle/>
          <a:p>
            <a:r>
              <a:rPr lang="en-US" altLang="ko-KR" sz="2000" b="1" dirty="0"/>
              <a:t>Type 1 Study </a:t>
            </a:r>
            <a:endParaRPr lang="ko-KR" altLang="en-US" sz="2000" b="1" dirty="0"/>
          </a:p>
        </p:txBody>
      </p:sp>
      <p:sp>
        <p:nvSpPr>
          <p:cNvPr id="3" name="TextBox 2"/>
          <p:cNvSpPr txBox="1"/>
          <p:nvPr/>
        </p:nvSpPr>
        <p:spPr>
          <a:xfrm>
            <a:off x="395537" y="980728"/>
            <a:ext cx="8534182" cy="590884"/>
          </a:xfrm>
          <a:prstGeom prst="rect">
            <a:avLst/>
          </a:prstGeom>
          <a:noFill/>
        </p:spPr>
        <p:txBody>
          <a:bodyPr wrap="square" rtlCol="0">
            <a:spAutoFit/>
          </a:bodyPr>
          <a:lstStyle/>
          <a:p>
            <a:r>
              <a:rPr lang="en-US" sz="1600" dirty="0"/>
              <a:t>The Type 1 Study is an analytical procedure that assesses the ability of a component to measure (LSL, USL) based on repeatability and bias of the instrument itself.</a:t>
            </a:r>
            <a:endParaRPr lang="ko-KR" altLang="en-US" sz="1600" dirty="0"/>
          </a:p>
        </p:txBody>
      </p:sp>
      <p:sp>
        <p:nvSpPr>
          <p:cNvPr id="4" name="TextBox 3"/>
          <p:cNvSpPr txBox="1"/>
          <p:nvPr/>
        </p:nvSpPr>
        <p:spPr>
          <a:xfrm>
            <a:off x="395536" y="1772816"/>
            <a:ext cx="8914235" cy="584775"/>
          </a:xfrm>
          <a:prstGeom prst="rect">
            <a:avLst/>
          </a:prstGeom>
          <a:noFill/>
        </p:spPr>
        <p:txBody>
          <a:bodyPr wrap="none" rtlCol="0">
            <a:spAutoFit/>
          </a:bodyPr>
          <a:lstStyle/>
          <a:p>
            <a:r>
              <a:rPr lang="en-US" altLang="ko-KR" sz="1600" dirty="0"/>
              <a:t>Measure 30 times for one sample which reference value(The central part of the specification)</a:t>
            </a:r>
          </a:p>
          <a:p>
            <a:r>
              <a:rPr lang="en-US" altLang="ko-KR" sz="1600" dirty="0"/>
              <a:t>is known</a:t>
            </a:r>
            <a:endParaRPr lang="ko-KR" altLang="en-US" sz="1600" dirty="0"/>
          </a:p>
        </p:txBody>
      </p:sp>
      <p:graphicFrame>
        <p:nvGraphicFramePr>
          <p:cNvPr id="5" name="표 4"/>
          <p:cNvGraphicFramePr>
            <a:graphicFrameLocks noGrp="1"/>
          </p:cNvGraphicFramePr>
          <p:nvPr>
            <p:extLst>
              <p:ext uri="{D42A27DB-BD31-4B8C-83A1-F6EECF244321}">
                <p14:modId xmlns:p14="http://schemas.microsoft.com/office/powerpoint/2010/main" val="507930444"/>
              </p:ext>
            </p:extLst>
          </p:nvPr>
        </p:nvGraphicFramePr>
        <p:xfrm>
          <a:off x="357157" y="2996952"/>
          <a:ext cx="8572561" cy="3450985"/>
        </p:xfrm>
        <a:graphic>
          <a:graphicData uri="http://schemas.openxmlformats.org/drawingml/2006/table">
            <a:tbl>
              <a:tblPr firstRow="1" bandRow="1">
                <a:tableStyleId>{5C22544A-7EE6-4342-B048-85BDC9FD1C3A}</a:tableStyleId>
              </a:tblPr>
              <a:tblGrid>
                <a:gridCol w="1285885">
                  <a:extLst>
                    <a:ext uri="{9D8B030D-6E8A-4147-A177-3AD203B41FA5}">
                      <a16:colId xmlns:a16="http://schemas.microsoft.com/office/drawing/2014/main" val="20000"/>
                    </a:ext>
                  </a:extLst>
                </a:gridCol>
                <a:gridCol w="2095952">
                  <a:extLst>
                    <a:ext uri="{9D8B030D-6E8A-4147-A177-3AD203B41FA5}">
                      <a16:colId xmlns:a16="http://schemas.microsoft.com/office/drawing/2014/main" val="20001"/>
                    </a:ext>
                  </a:extLst>
                </a:gridCol>
                <a:gridCol w="2595362">
                  <a:extLst>
                    <a:ext uri="{9D8B030D-6E8A-4147-A177-3AD203B41FA5}">
                      <a16:colId xmlns:a16="http://schemas.microsoft.com/office/drawing/2014/main" val="20002"/>
                    </a:ext>
                  </a:extLst>
                </a:gridCol>
                <a:gridCol w="2595362">
                  <a:extLst>
                    <a:ext uri="{9D8B030D-6E8A-4147-A177-3AD203B41FA5}">
                      <a16:colId xmlns:a16="http://schemas.microsoft.com/office/drawing/2014/main" val="20003"/>
                    </a:ext>
                  </a:extLst>
                </a:gridCol>
              </a:tblGrid>
              <a:tr h="806810">
                <a:tc>
                  <a:txBody>
                    <a:bodyPr/>
                    <a:lstStyle/>
                    <a:p>
                      <a:pPr algn="ctr" latinLnBrk="1"/>
                      <a:r>
                        <a:rPr lang="en-US" altLang="ko-KR" sz="1400" dirty="0">
                          <a:solidFill>
                            <a:schemeClr val="tx1"/>
                          </a:solidFill>
                        </a:rPr>
                        <a:t>Procedure</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GM, Bosch</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VDA 5, Q-DAS</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AIAG</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604343">
                <a:tc>
                  <a:txBody>
                    <a:bodyPr/>
                    <a:lstStyle/>
                    <a:p>
                      <a:pPr algn="ctr" latinLnBrk="1"/>
                      <a:r>
                        <a:rPr lang="en-US" altLang="ko-KR" sz="1400" dirty="0">
                          <a:solidFill>
                            <a:schemeClr val="tx1"/>
                          </a:solidFill>
                        </a:rPr>
                        <a:t>Repeat</a:t>
                      </a:r>
                      <a:r>
                        <a:rPr lang="en-US" altLang="ko-KR" sz="1400" baseline="0" dirty="0">
                          <a:solidFill>
                            <a:schemeClr val="tx1"/>
                          </a:solidFill>
                        </a:rPr>
                        <a:t> count</a:t>
                      </a:r>
                      <a:endParaRPr lang="en-US" altLang="ko-KR"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50</a:t>
                      </a:r>
                      <a:r>
                        <a:rPr lang="en-US" altLang="ko-KR" sz="1400" baseline="0" dirty="0">
                          <a:solidFill>
                            <a:schemeClr val="tx1"/>
                          </a:solidFill>
                        </a:rPr>
                        <a:t> times</a:t>
                      </a:r>
                      <a:r>
                        <a:rPr lang="ko-KR" altLang="en-US" sz="1400" dirty="0">
                          <a:solidFill>
                            <a:schemeClr val="tx1"/>
                          </a:solidFill>
                        </a:rPr>
                        <a:t> </a:t>
                      </a:r>
                      <a:r>
                        <a:rPr lang="en-US" altLang="ko-KR" sz="1400" dirty="0">
                          <a:solidFill>
                            <a:schemeClr val="tx1"/>
                          </a:solidFill>
                        </a:rPr>
                        <a:t>(at</a:t>
                      </a:r>
                      <a:r>
                        <a:rPr lang="en-US" altLang="ko-KR" sz="1400" baseline="0" dirty="0">
                          <a:solidFill>
                            <a:schemeClr val="tx1"/>
                          </a:solidFill>
                        </a:rPr>
                        <a:t> least</a:t>
                      </a:r>
                      <a:r>
                        <a:rPr lang="ko-KR" altLang="en-US" sz="1400" dirty="0">
                          <a:solidFill>
                            <a:schemeClr val="tx1"/>
                          </a:solidFill>
                        </a:rPr>
                        <a:t> </a:t>
                      </a:r>
                      <a:r>
                        <a:rPr lang="en-US" altLang="ko-KR" sz="1400" dirty="0">
                          <a:solidFill>
                            <a:schemeClr val="tx1"/>
                          </a:solidFill>
                        </a:rPr>
                        <a:t>30 times) GM</a:t>
                      </a:r>
                    </a:p>
                    <a:p>
                      <a:pPr algn="ctr" latinLnBrk="1"/>
                      <a:r>
                        <a:rPr lang="en-US" altLang="ko-KR" sz="1400" dirty="0">
                          <a:solidFill>
                            <a:schemeClr val="tx1"/>
                          </a:solidFill>
                        </a:rPr>
                        <a:t>25</a:t>
                      </a:r>
                      <a:r>
                        <a:rPr lang="ko-KR" altLang="en-US" sz="1400" baseline="0" dirty="0">
                          <a:solidFill>
                            <a:schemeClr val="tx1"/>
                          </a:solidFill>
                        </a:rPr>
                        <a:t> </a:t>
                      </a:r>
                      <a:r>
                        <a:rPr lang="en-US" altLang="ko-KR" sz="1400" baseline="0" dirty="0">
                          <a:solidFill>
                            <a:schemeClr val="tx1"/>
                          </a:solidFill>
                        </a:rPr>
                        <a:t>times</a:t>
                      </a:r>
                      <a:r>
                        <a:rPr lang="ko-KR" altLang="en-US" sz="1400" dirty="0">
                          <a:solidFill>
                            <a:schemeClr val="tx1"/>
                          </a:solidFill>
                        </a:rPr>
                        <a:t> </a:t>
                      </a:r>
                      <a:r>
                        <a:rPr lang="en-US" altLang="ko-KR" sz="1400" dirty="0">
                          <a:solidFill>
                            <a:schemeClr val="tx1"/>
                          </a:solidFill>
                        </a:rPr>
                        <a:t>(</a:t>
                      </a:r>
                      <a:r>
                        <a:rPr lang="en-US" altLang="ko-KR" sz="1400" dirty="0" err="1">
                          <a:solidFill>
                            <a:schemeClr val="tx1"/>
                          </a:solidFill>
                        </a:rPr>
                        <a:t>Boach</a:t>
                      </a:r>
                      <a:r>
                        <a:rPr lang="en-US" altLang="ko-KR" sz="1400" dirty="0">
                          <a:solidFill>
                            <a:schemeClr val="tx1"/>
                          </a:solidFill>
                        </a:rPr>
                        <a:t>)</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More than 25 times VDA 5</a:t>
                      </a:r>
                    </a:p>
                    <a:p>
                      <a:pPr algn="ctr" latinLnBrk="1"/>
                      <a:r>
                        <a:rPr lang="en-US" altLang="ko-KR" sz="1400" dirty="0">
                          <a:solidFill>
                            <a:schemeClr val="tx1"/>
                          </a:solidFill>
                        </a:rPr>
                        <a:t>50 times</a:t>
                      </a:r>
                      <a:r>
                        <a:rPr lang="ko-KR" altLang="en-US" sz="1400" dirty="0">
                          <a:solidFill>
                            <a:schemeClr val="tx1"/>
                          </a:solidFill>
                        </a:rPr>
                        <a:t> </a:t>
                      </a:r>
                      <a:r>
                        <a:rPr lang="en-US" altLang="ko-KR" sz="1400" dirty="0">
                          <a:solidFill>
                            <a:schemeClr val="tx1"/>
                          </a:solidFill>
                        </a:rPr>
                        <a:t>(at least</a:t>
                      </a:r>
                      <a:r>
                        <a:rPr lang="ko-KR" altLang="en-US" sz="1400" dirty="0">
                          <a:solidFill>
                            <a:schemeClr val="tx1"/>
                          </a:solidFill>
                        </a:rPr>
                        <a:t> </a:t>
                      </a:r>
                      <a:r>
                        <a:rPr lang="en-US" altLang="ko-KR" sz="1400" dirty="0">
                          <a:solidFill>
                            <a:schemeClr val="tx1"/>
                          </a:solidFill>
                        </a:rPr>
                        <a:t>20 times) Q-DAS</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More</a:t>
                      </a:r>
                      <a:r>
                        <a:rPr lang="en-US" altLang="ko-KR" sz="1400" baseline="0" dirty="0">
                          <a:solidFill>
                            <a:schemeClr val="tx1"/>
                          </a:solidFill>
                        </a:rPr>
                        <a:t> than 10 times</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181135">
                <a:tc>
                  <a:txBody>
                    <a:bodyPr/>
                    <a:lstStyle/>
                    <a:p>
                      <a:pPr algn="ctr" latinLnBrk="1"/>
                      <a:r>
                        <a:rPr lang="en-US" altLang="ko-KR" sz="1400" dirty="0">
                          <a:solidFill>
                            <a:schemeClr val="tx1"/>
                          </a:solidFill>
                        </a:rPr>
                        <a:t>Measurement</a:t>
                      </a:r>
                      <a:r>
                        <a:rPr lang="en-US" altLang="ko-KR" sz="1400" baseline="0" dirty="0">
                          <a:solidFill>
                            <a:schemeClr val="tx1"/>
                          </a:solidFill>
                        </a:rPr>
                        <a:t> capability index</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648072">
                <a:tc>
                  <a:txBody>
                    <a:bodyPr/>
                    <a:lstStyle/>
                    <a:p>
                      <a:pPr algn="ctr" latinLnBrk="1"/>
                      <a:r>
                        <a:rPr lang="en-US" altLang="ko-KR" sz="1400" dirty="0">
                          <a:solidFill>
                            <a:schemeClr val="tx1"/>
                          </a:solidFill>
                        </a:rPr>
                        <a:t>The acceptance criteria</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Cg, </a:t>
                      </a:r>
                      <a:r>
                        <a:rPr lang="en-US" altLang="ko-KR" sz="1400" dirty="0" err="1">
                          <a:solidFill>
                            <a:schemeClr val="tx1"/>
                          </a:solidFill>
                        </a:rPr>
                        <a:t>Cgk</a:t>
                      </a:r>
                      <a:r>
                        <a:rPr lang="en-US" altLang="ko-KR" sz="1400" baseline="0" dirty="0">
                          <a:solidFill>
                            <a:schemeClr val="tx1"/>
                          </a:solidFill>
                        </a:rPr>
                        <a:t> </a:t>
                      </a:r>
                      <a:r>
                        <a:rPr lang="ko-KR" altLang="en-US" sz="1400" baseline="0" dirty="0">
                          <a:solidFill>
                            <a:schemeClr val="tx1"/>
                          </a:solidFill>
                        </a:rPr>
                        <a:t>≥ </a:t>
                      </a:r>
                      <a:r>
                        <a:rPr lang="en-US" altLang="ko-KR" sz="1400" baseline="0" dirty="0">
                          <a:solidFill>
                            <a:schemeClr val="tx1"/>
                          </a:solidFill>
                        </a:rPr>
                        <a:t>1.33</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dirty="0">
                          <a:solidFill>
                            <a:schemeClr val="tx1"/>
                          </a:solidFill>
                        </a:rPr>
                        <a:t>Cg, </a:t>
                      </a:r>
                      <a:r>
                        <a:rPr lang="en-US" altLang="ko-KR" sz="1400" dirty="0" err="1">
                          <a:solidFill>
                            <a:schemeClr val="tx1"/>
                          </a:solidFill>
                        </a:rPr>
                        <a:t>Cgk</a:t>
                      </a:r>
                      <a:r>
                        <a:rPr lang="en-US" altLang="ko-KR" sz="1400" baseline="0" dirty="0">
                          <a:solidFill>
                            <a:schemeClr val="tx1"/>
                          </a:solidFill>
                        </a:rPr>
                        <a:t> </a:t>
                      </a:r>
                      <a:r>
                        <a:rPr lang="ko-KR" altLang="en-US" sz="1400" baseline="0" dirty="0">
                          <a:solidFill>
                            <a:schemeClr val="tx1"/>
                          </a:solidFill>
                        </a:rPr>
                        <a:t>≥ </a:t>
                      </a:r>
                      <a:r>
                        <a:rPr lang="en-US" altLang="ko-KR" sz="1400" baseline="0" dirty="0">
                          <a:solidFill>
                            <a:schemeClr val="tx1"/>
                          </a:solidFill>
                        </a:rPr>
                        <a:t>1.33</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%EV </a:t>
                      </a:r>
                      <a:r>
                        <a:rPr lang="ko-KR" altLang="en-US" sz="1400" dirty="0">
                          <a:solidFill>
                            <a:schemeClr val="tx1"/>
                          </a:solidFill>
                        </a:rPr>
                        <a:t>≤ </a:t>
                      </a:r>
                      <a:r>
                        <a:rPr lang="en-US" altLang="ko-KR" sz="1400" dirty="0">
                          <a:solidFill>
                            <a:schemeClr val="tx1"/>
                          </a:solidFill>
                        </a:rPr>
                        <a:t>30% </a:t>
                      </a:r>
                    </a:p>
                    <a:p>
                      <a:pPr algn="ctr" latinLnBrk="1"/>
                      <a:r>
                        <a:rPr lang="en-US" altLang="ko-KR" sz="1400" dirty="0">
                          <a:solidFill>
                            <a:schemeClr val="tx1"/>
                          </a:solidFill>
                        </a:rPr>
                        <a:t>Accept</a:t>
                      </a:r>
                      <a:r>
                        <a:rPr lang="en-US" altLang="ko-KR" sz="1400" baseline="0" dirty="0">
                          <a:solidFill>
                            <a:schemeClr val="tx1"/>
                          </a:solidFill>
                        </a:rPr>
                        <a:t> H0</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bl>
          </a:graphicData>
        </a:graphic>
      </p:graphicFrame>
      <p:sp>
        <p:nvSpPr>
          <p:cNvPr id="7" name="TextBox 6"/>
          <p:cNvSpPr txBox="1"/>
          <p:nvPr/>
        </p:nvSpPr>
        <p:spPr>
          <a:xfrm>
            <a:off x="3635896" y="2564904"/>
            <a:ext cx="2420021" cy="338554"/>
          </a:xfrm>
          <a:prstGeom prst="rect">
            <a:avLst/>
          </a:prstGeom>
          <a:noFill/>
        </p:spPr>
        <p:txBody>
          <a:bodyPr wrap="none" rtlCol="0">
            <a:spAutoFit/>
          </a:bodyPr>
          <a:lstStyle/>
          <a:p>
            <a:r>
              <a:rPr lang="en-US" altLang="ko-KR" sz="1600" dirty="0"/>
              <a:t>Summary Type 1 Study</a:t>
            </a:r>
            <a:endParaRPr lang="ko-KR" altLang="en-US" sz="1600" dirty="0"/>
          </a:p>
        </p:txBody>
      </p:sp>
      <p:graphicFrame>
        <p:nvGraphicFramePr>
          <p:cNvPr id="8" name="개체 7"/>
          <p:cNvGraphicFramePr>
            <a:graphicFrameLocks noChangeAspect="1"/>
          </p:cNvGraphicFramePr>
          <p:nvPr>
            <p:extLst>
              <p:ext uri="{D42A27DB-BD31-4B8C-83A1-F6EECF244321}">
                <p14:modId xmlns:p14="http://schemas.microsoft.com/office/powerpoint/2010/main" val="902009949"/>
              </p:ext>
            </p:extLst>
          </p:nvPr>
        </p:nvGraphicFramePr>
        <p:xfrm>
          <a:off x="1691679" y="5027590"/>
          <a:ext cx="2088233" cy="457389"/>
        </p:xfrm>
        <a:graphic>
          <a:graphicData uri="http://schemas.openxmlformats.org/presentationml/2006/ole">
            <mc:AlternateContent xmlns:mc="http://schemas.openxmlformats.org/markup-compatibility/2006">
              <mc:Choice xmlns:v="urn:schemas-microsoft-com:vml" Requires="v">
                <p:oleObj name="수식" r:id="rId2" imgW="2145960" imgH="444240" progId="Equation.3">
                  <p:embed/>
                </p:oleObj>
              </mc:Choice>
              <mc:Fallback>
                <p:oleObj name="수식" r:id="rId2" imgW="2145960" imgH="444240" progId="Equation.3">
                  <p:embed/>
                  <p:pic>
                    <p:nvPicPr>
                      <p:cNvPr id="8" name="개체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79" y="5027590"/>
                        <a:ext cx="2088233" cy="45738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개체 8"/>
          <p:cNvGraphicFramePr>
            <a:graphicFrameLocks noChangeAspect="1"/>
          </p:cNvGraphicFramePr>
          <p:nvPr>
            <p:extLst>
              <p:ext uri="{D42A27DB-BD31-4B8C-83A1-F6EECF244321}">
                <p14:modId xmlns:p14="http://schemas.microsoft.com/office/powerpoint/2010/main" val="826855300"/>
              </p:ext>
            </p:extLst>
          </p:nvPr>
        </p:nvGraphicFramePr>
        <p:xfrm>
          <a:off x="1907705" y="4581128"/>
          <a:ext cx="1525588" cy="416550"/>
        </p:xfrm>
        <a:graphic>
          <a:graphicData uri="http://schemas.openxmlformats.org/presentationml/2006/ole">
            <mc:AlternateContent xmlns:mc="http://schemas.openxmlformats.org/markup-compatibility/2006">
              <mc:Choice xmlns:v="urn:schemas-microsoft-com:vml" Requires="v">
                <p:oleObj name="수식" r:id="rId4" imgW="1447172" imgH="406224" progId="Equation.3">
                  <p:embed/>
                </p:oleObj>
              </mc:Choice>
              <mc:Fallback>
                <p:oleObj name="수식" r:id="rId4" imgW="1447172" imgH="406224" progId="Equation.3">
                  <p:embed/>
                  <p:pic>
                    <p:nvPicPr>
                      <p:cNvPr id="9" name="개체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7705" y="4581128"/>
                        <a:ext cx="1525588" cy="416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개체 9"/>
          <p:cNvGraphicFramePr>
            <a:graphicFrameLocks noChangeAspect="1"/>
          </p:cNvGraphicFramePr>
          <p:nvPr>
            <p:extLst>
              <p:ext uri="{D42A27DB-BD31-4B8C-83A1-F6EECF244321}">
                <p14:modId xmlns:p14="http://schemas.microsoft.com/office/powerpoint/2010/main" val="229517914"/>
              </p:ext>
            </p:extLst>
          </p:nvPr>
        </p:nvGraphicFramePr>
        <p:xfrm>
          <a:off x="4067944" y="5010178"/>
          <a:ext cx="2088233" cy="483614"/>
        </p:xfrm>
        <a:graphic>
          <a:graphicData uri="http://schemas.openxmlformats.org/presentationml/2006/ole">
            <mc:AlternateContent xmlns:mc="http://schemas.openxmlformats.org/markup-compatibility/2006">
              <mc:Choice xmlns:v="urn:schemas-microsoft-com:vml" Requires="v">
                <p:oleObj name="수식" r:id="rId6" imgW="2145960" imgH="444240" progId="Equation.3">
                  <p:embed/>
                </p:oleObj>
              </mc:Choice>
              <mc:Fallback>
                <p:oleObj name="수식" r:id="rId6" imgW="2145960" imgH="444240" progId="Equation.3">
                  <p:embed/>
                  <p:pic>
                    <p:nvPicPr>
                      <p:cNvPr id="10" name="개체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67944" y="5010178"/>
                        <a:ext cx="2088233" cy="4836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개체 10"/>
          <p:cNvGraphicFramePr>
            <a:graphicFrameLocks noChangeAspect="1"/>
          </p:cNvGraphicFramePr>
          <p:nvPr>
            <p:extLst>
              <p:ext uri="{D42A27DB-BD31-4B8C-83A1-F6EECF244321}">
                <p14:modId xmlns:p14="http://schemas.microsoft.com/office/powerpoint/2010/main" val="3299431489"/>
              </p:ext>
            </p:extLst>
          </p:nvPr>
        </p:nvGraphicFramePr>
        <p:xfrm>
          <a:off x="4139952" y="4509120"/>
          <a:ext cx="1525588" cy="440434"/>
        </p:xfrm>
        <a:graphic>
          <a:graphicData uri="http://schemas.openxmlformats.org/presentationml/2006/ole">
            <mc:AlternateContent xmlns:mc="http://schemas.openxmlformats.org/markup-compatibility/2006">
              <mc:Choice xmlns:v="urn:schemas-microsoft-com:vml" Requires="v">
                <p:oleObj name="수식" r:id="rId8" imgW="1447560" imgH="406080" progId="Equation.3">
                  <p:embed/>
                </p:oleObj>
              </mc:Choice>
              <mc:Fallback>
                <p:oleObj name="수식" r:id="rId8" imgW="1447560" imgH="406080" progId="Equation.3">
                  <p:embed/>
                  <p:pic>
                    <p:nvPicPr>
                      <p:cNvPr id="11" name="개체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39952" y="4509120"/>
                        <a:ext cx="1525588" cy="44043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TextBox 14"/>
          <p:cNvSpPr txBox="1"/>
          <p:nvPr/>
        </p:nvSpPr>
        <p:spPr>
          <a:xfrm>
            <a:off x="6565278" y="5110943"/>
            <a:ext cx="663002" cy="307777"/>
          </a:xfrm>
          <a:prstGeom prst="rect">
            <a:avLst/>
          </a:prstGeom>
          <a:noFill/>
        </p:spPr>
        <p:txBody>
          <a:bodyPr wrap="none" rtlCol="0">
            <a:spAutoFit/>
          </a:bodyPr>
          <a:lstStyle/>
          <a:p>
            <a:r>
              <a:rPr lang="en-US" altLang="ko-KR" sz="1200" dirty="0"/>
              <a:t> </a:t>
            </a:r>
            <a:r>
              <a:rPr lang="en-US" altLang="ko-KR" sz="1400" dirty="0"/>
              <a:t>t-test</a:t>
            </a:r>
            <a:endParaRPr lang="ko-KR" altLang="en-US" sz="1200" dirty="0"/>
          </a:p>
        </p:txBody>
      </p:sp>
      <p:graphicFrame>
        <p:nvGraphicFramePr>
          <p:cNvPr id="14" name="개체 13"/>
          <p:cNvGraphicFramePr>
            <a:graphicFrameLocks noChangeAspect="1"/>
          </p:cNvGraphicFramePr>
          <p:nvPr>
            <p:extLst>
              <p:ext uri="{D42A27DB-BD31-4B8C-83A1-F6EECF244321}">
                <p14:modId xmlns:p14="http://schemas.microsoft.com/office/powerpoint/2010/main" val="3153238450"/>
              </p:ext>
            </p:extLst>
          </p:nvPr>
        </p:nvGraphicFramePr>
        <p:xfrm>
          <a:off x="6800850" y="4508500"/>
          <a:ext cx="1217613" cy="441325"/>
        </p:xfrm>
        <a:graphic>
          <a:graphicData uri="http://schemas.openxmlformats.org/presentationml/2006/ole">
            <mc:AlternateContent xmlns:mc="http://schemas.openxmlformats.org/markup-compatibility/2006">
              <mc:Choice xmlns:v="urn:schemas-microsoft-com:vml" Requires="v">
                <p:oleObj name="수식" r:id="rId10" imgW="1155600" imgH="406080" progId="Equation.3">
                  <p:embed/>
                </p:oleObj>
              </mc:Choice>
              <mc:Fallback>
                <p:oleObj name="수식" r:id="rId10" imgW="1155600" imgH="406080" progId="Equation.3">
                  <p:embed/>
                  <p:pic>
                    <p:nvPicPr>
                      <p:cNvPr id="14" name="개체 1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0850" y="4508500"/>
                        <a:ext cx="1217613" cy="441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개체 16"/>
          <p:cNvGraphicFramePr>
            <a:graphicFrameLocks noChangeAspect="1"/>
          </p:cNvGraphicFramePr>
          <p:nvPr>
            <p:extLst>
              <p:ext uri="{D42A27DB-BD31-4B8C-83A1-F6EECF244321}">
                <p14:modId xmlns:p14="http://schemas.microsoft.com/office/powerpoint/2010/main" val="1635700439"/>
              </p:ext>
            </p:extLst>
          </p:nvPr>
        </p:nvGraphicFramePr>
        <p:xfrm>
          <a:off x="7380312" y="5130688"/>
          <a:ext cx="1042987" cy="247650"/>
        </p:xfrm>
        <a:graphic>
          <a:graphicData uri="http://schemas.openxmlformats.org/presentationml/2006/ole">
            <mc:AlternateContent xmlns:mc="http://schemas.openxmlformats.org/markup-compatibility/2006">
              <mc:Choice xmlns:v="urn:schemas-microsoft-com:vml" Requires="v">
                <p:oleObj name="수식" r:id="rId12" imgW="990360" imgH="228600" progId="Equation.3">
                  <p:embed/>
                </p:oleObj>
              </mc:Choice>
              <mc:Fallback>
                <p:oleObj name="수식" r:id="rId12" imgW="990360" imgH="228600" progId="Equation.3">
                  <p:embed/>
                  <p:pic>
                    <p:nvPicPr>
                      <p:cNvPr id="17" name="개체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80312" y="5130688"/>
                        <a:ext cx="1042987" cy="247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49</a:t>
            </a:fld>
            <a:endParaRPr lang="ko-KR" altLang="en-US" dirty="0"/>
          </a:p>
        </p:txBody>
      </p:sp>
    </p:spTree>
    <p:extLst>
      <p:ext uri="{BB962C8B-B14F-4D97-AF65-F5344CB8AC3E}">
        <p14:creationId xmlns:p14="http://schemas.microsoft.com/office/powerpoint/2010/main" val="194090190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869970" cy="400110"/>
          </a:xfrm>
          <a:prstGeom prst="rect">
            <a:avLst/>
          </a:prstGeom>
          <a:noFill/>
        </p:spPr>
        <p:txBody>
          <a:bodyPr wrap="none" rtlCol="0">
            <a:spAutoFit/>
          </a:bodyPr>
          <a:lstStyle/>
          <a:p>
            <a:r>
              <a:rPr lang="en-US" altLang="ko-KR" sz="2000" b="1" dirty="0" err="1"/>
              <a:t>Độ</a:t>
            </a:r>
            <a:r>
              <a:rPr lang="en-US" altLang="ko-KR" sz="2000" b="1" dirty="0"/>
              <a:t> </a:t>
            </a:r>
            <a:r>
              <a:rPr lang="en-US" altLang="ko-KR" sz="2000" b="1" dirty="0" err="1"/>
              <a:t>phân</a:t>
            </a:r>
            <a:r>
              <a:rPr lang="en-US" altLang="ko-KR" sz="2000" b="1" dirty="0"/>
              <a:t> </a:t>
            </a:r>
            <a:r>
              <a:rPr lang="en-US" altLang="ko-KR" sz="2000" b="1" dirty="0" err="1"/>
              <a:t>giải</a:t>
            </a:r>
            <a:r>
              <a:rPr lang="en-US" altLang="ko-KR" sz="2000" b="1" dirty="0"/>
              <a:t> </a:t>
            </a:r>
            <a:r>
              <a:rPr lang="en-US" altLang="ko-KR" sz="2000" b="1" dirty="0" err="1"/>
              <a:t>của</a:t>
            </a:r>
            <a:r>
              <a:rPr lang="en-US" altLang="ko-KR" sz="2000" b="1" dirty="0"/>
              <a:t> </a:t>
            </a:r>
            <a:r>
              <a:rPr lang="en-US" altLang="ko-KR" sz="2000" b="1" dirty="0" err="1"/>
              <a:t>dụng</a:t>
            </a:r>
            <a:r>
              <a:rPr lang="en-US" altLang="ko-KR" sz="2000" b="1" dirty="0"/>
              <a:t> </a:t>
            </a:r>
            <a:r>
              <a:rPr lang="en-US" altLang="ko-KR" sz="2000" b="1" dirty="0" err="1"/>
              <a:t>cụ</a:t>
            </a:r>
            <a:r>
              <a:rPr lang="en-US" altLang="ko-KR" sz="2000" b="1" dirty="0"/>
              <a:t> </a:t>
            </a:r>
            <a:r>
              <a:rPr lang="en-US" altLang="ko-KR" sz="2000" b="1" dirty="0" err="1"/>
              <a:t>đo</a:t>
            </a:r>
            <a:r>
              <a:rPr lang="ko-KR" altLang="en-US" sz="2000" b="1" dirty="0"/>
              <a:t> </a:t>
            </a:r>
          </a:p>
        </p:txBody>
      </p:sp>
      <p:sp>
        <p:nvSpPr>
          <p:cNvPr id="3" name="TextBox 2"/>
          <p:cNvSpPr txBox="1"/>
          <p:nvPr/>
        </p:nvSpPr>
        <p:spPr>
          <a:xfrm>
            <a:off x="395536" y="1124744"/>
            <a:ext cx="1895071" cy="338554"/>
          </a:xfrm>
          <a:prstGeom prst="rect">
            <a:avLst/>
          </a:prstGeom>
          <a:noFill/>
        </p:spPr>
        <p:txBody>
          <a:bodyPr wrap="none" rtlCol="0">
            <a:spAutoFit/>
          </a:bodyPr>
          <a:lstStyle/>
          <a:p>
            <a:r>
              <a:rPr lang="en-US" altLang="ko-KR" sz="1600" dirty="0" err="1"/>
              <a:t>Nghiên</a:t>
            </a:r>
            <a:r>
              <a:rPr lang="en-US" altLang="ko-KR" sz="1600" dirty="0"/>
              <a:t> </a:t>
            </a:r>
            <a:r>
              <a:rPr lang="en-US" altLang="ko-KR" sz="1600" dirty="0" err="1"/>
              <a:t>cứu</a:t>
            </a:r>
            <a:r>
              <a:rPr lang="en-US" altLang="ko-KR" sz="1600" dirty="0"/>
              <a:t> </a:t>
            </a:r>
            <a:r>
              <a:rPr lang="en-US" altLang="ko-KR" sz="1600" dirty="0" err="1"/>
              <a:t>ví</a:t>
            </a:r>
            <a:r>
              <a:rPr lang="en-US" altLang="ko-KR" sz="1600" dirty="0"/>
              <a:t> </a:t>
            </a:r>
            <a:r>
              <a:rPr lang="en-US" altLang="ko-KR" sz="1600" dirty="0" err="1"/>
              <a:t>dụ</a:t>
            </a:r>
            <a:r>
              <a:rPr lang="ko-KR" altLang="en-US" sz="1600" dirty="0"/>
              <a:t> </a:t>
            </a:r>
          </a:p>
        </p:txBody>
      </p:sp>
      <p:sp>
        <p:nvSpPr>
          <p:cNvPr id="4" name="TextBox 3"/>
          <p:cNvSpPr txBox="1"/>
          <p:nvPr/>
        </p:nvSpPr>
        <p:spPr>
          <a:xfrm>
            <a:off x="526662" y="1628800"/>
            <a:ext cx="8667757" cy="1200329"/>
          </a:xfrm>
          <a:prstGeom prst="rect">
            <a:avLst/>
          </a:prstGeom>
          <a:noFill/>
        </p:spPr>
        <p:txBody>
          <a:bodyPr wrap="none" rtlCol="0">
            <a:spAutoFit/>
          </a:bodyPr>
          <a:lstStyle/>
          <a:p>
            <a:pPr>
              <a:lnSpc>
                <a:spcPct val="150000"/>
              </a:lnSpc>
            </a:pPr>
            <a:r>
              <a:rPr lang="en-US" altLang="ko-KR" sz="1600" b="1" dirty="0" err="1"/>
              <a:t>Sử</a:t>
            </a:r>
            <a:r>
              <a:rPr lang="en-US" altLang="ko-KR" sz="1600" b="1" dirty="0"/>
              <a:t> </a:t>
            </a:r>
            <a:r>
              <a:rPr lang="en-US" altLang="ko-KR" sz="1600" b="1" dirty="0" err="1"/>
              <a:t>dụng</a:t>
            </a:r>
            <a:r>
              <a:rPr lang="en-US" altLang="ko-KR" sz="1600" b="1" dirty="0"/>
              <a:t> digital </a:t>
            </a:r>
            <a:r>
              <a:rPr lang="en-US" altLang="ko-KR" sz="1600" b="1" dirty="0" err="1"/>
              <a:t>vernier</a:t>
            </a:r>
            <a:r>
              <a:rPr lang="en-US" altLang="ko-KR" sz="1600" b="1" dirty="0"/>
              <a:t> </a:t>
            </a:r>
            <a:r>
              <a:rPr lang="en-US" altLang="ko-KR" sz="1600" b="1" dirty="0" err="1"/>
              <a:t>có</a:t>
            </a:r>
            <a:r>
              <a:rPr lang="en-US" altLang="ko-KR" sz="1600" b="1" dirty="0"/>
              <a:t> </a:t>
            </a:r>
            <a:r>
              <a:rPr lang="en-US" altLang="ko-KR" sz="1600" b="1" dirty="0" err="1"/>
              <a:t>khả</a:t>
            </a:r>
            <a:r>
              <a:rPr lang="en-US" altLang="ko-KR" sz="1600" b="1" dirty="0"/>
              <a:t> </a:t>
            </a:r>
            <a:r>
              <a:rPr lang="en-US" altLang="ko-KR" sz="1600" b="1" dirty="0" err="1"/>
              <a:t>năng</a:t>
            </a:r>
            <a:r>
              <a:rPr lang="en-US" altLang="ko-KR" sz="1600" b="1" dirty="0"/>
              <a:t> </a:t>
            </a:r>
            <a:r>
              <a:rPr lang="en-US" altLang="ko-KR" sz="1600" b="1" dirty="0" err="1"/>
              <a:t>đo</a:t>
            </a:r>
            <a:r>
              <a:rPr lang="en-US" altLang="ko-KR" sz="1600" b="1" dirty="0"/>
              <a:t> </a:t>
            </a:r>
            <a:r>
              <a:rPr lang="en-US" altLang="ko-KR" sz="1600" b="1" dirty="0" err="1"/>
              <a:t>giá</a:t>
            </a:r>
            <a:r>
              <a:rPr lang="en-US" altLang="ko-KR" sz="1600" b="1" dirty="0"/>
              <a:t> </a:t>
            </a:r>
            <a:r>
              <a:rPr lang="en-US" altLang="ko-KR" sz="1600" b="1" dirty="0" err="1"/>
              <a:t>trị</a:t>
            </a:r>
            <a:r>
              <a:rPr lang="en-US" altLang="ko-KR" sz="1600" b="1" dirty="0"/>
              <a:t> </a:t>
            </a:r>
            <a:r>
              <a:rPr lang="en-US" altLang="ko-KR" sz="1600" b="1" dirty="0" err="1"/>
              <a:t>tối</a:t>
            </a:r>
            <a:r>
              <a:rPr lang="en-US" altLang="ko-KR" sz="1600" b="1" dirty="0"/>
              <a:t> </a:t>
            </a:r>
            <a:r>
              <a:rPr lang="en-US" altLang="ko-KR" sz="1600" b="1" dirty="0" err="1"/>
              <a:t>thiểu</a:t>
            </a:r>
            <a:r>
              <a:rPr lang="en-US" altLang="ko-KR" sz="1600" b="1" dirty="0"/>
              <a:t> 0.01mm </a:t>
            </a:r>
            <a:r>
              <a:rPr lang="en-US" altLang="ko-KR" sz="1600" b="1" dirty="0" err="1"/>
              <a:t>để</a:t>
            </a:r>
            <a:r>
              <a:rPr lang="en-US" altLang="ko-KR" sz="1600" b="1" dirty="0"/>
              <a:t> </a:t>
            </a:r>
            <a:r>
              <a:rPr lang="en-US" altLang="ko-KR" sz="1600" b="1" dirty="0" err="1"/>
              <a:t>đo</a:t>
            </a:r>
            <a:r>
              <a:rPr lang="en-US" altLang="ko-KR" sz="1600" b="1" dirty="0"/>
              <a:t> </a:t>
            </a:r>
            <a:r>
              <a:rPr lang="en-US" altLang="ko-KR" sz="1600" b="1" dirty="0" err="1"/>
              <a:t>sản</a:t>
            </a:r>
            <a:r>
              <a:rPr lang="en-US" altLang="ko-KR" sz="1600" b="1" dirty="0"/>
              <a:t> </a:t>
            </a:r>
            <a:r>
              <a:rPr lang="en-US" altLang="ko-KR" sz="1600" b="1" dirty="0" err="1"/>
              <a:t>phẩm</a:t>
            </a:r>
            <a:r>
              <a:rPr lang="en-US" altLang="ko-KR" sz="1600" b="1" dirty="0"/>
              <a:t> </a:t>
            </a:r>
            <a:r>
              <a:rPr lang="en-US" altLang="ko-KR" sz="1600" b="1" dirty="0" err="1"/>
              <a:t>có</a:t>
            </a:r>
            <a:r>
              <a:rPr lang="en-US" altLang="ko-KR" sz="1600" b="1" dirty="0"/>
              <a:t> </a:t>
            </a:r>
          </a:p>
          <a:p>
            <a:pPr>
              <a:lnSpc>
                <a:spcPct val="150000"/>
              </a:lnSpc>
            </a:pPr>
            <a:r>
              <a:rPr lang="en-US" altLang="ko-KR" sz="1600" b="1" dirty="0" err="1"/>
              <a:t>tiêu</a:t>
            </a:r>
            <a:r>
              <a:rPr lang="en-US" altLang="ko-KR" sz="1600" b="1" dirty="0"/>
              <a:t> </a:t>
            </a:r>
            <a:r>
              <a:rPr lang="en-US" altLang="ko-KR" sz="1600" b="1" dirty="0" err="1"/>
              <a:t>chuẩn</a:t>
            </a:r>
            <a:r>
              <a:rPr lang="en-US" altLang="ko-KR" sz="1600" b="1" dirty="0"/>
              <a:t> 50±0.2</a:t>
            </a:r>
            <a:r>
              <a:rPr lang="ko-KR" altLang="en-US" sz="1600" b="1" dirty="0"/>
              <a:t>㎜</a:t>
            </a:r>
            <a:r>
              <a:rPr lang="en-US" altLang="ko-KR" sz="1600" b="1" dirty="0"/>
              <a:t>. </a:t>
            </a:r>
            <a:r>
              <a:rPr lang="en-US" altLang="ko-KR" sz="1600" b="1" dirty="0" err="1"/>
              <a:t>Khả</a:t>
            </a:r>
            <a:r>
              <a:rPr lang="en-US" altLang="ko-KR" sz="1600" b="1" dirty="0"/>
              <a:t> </a:t>
            </a:r>
            <a:r>
              <a:rPr lang="en-US" altLang="ko-KR" sz="1600" b="1" dirty="0" err="1"/>
              <a:t>năng</a:t>
            </a:r>
            <a:r>
              <a:rPr lang="en-US" altLang="ko-KR" sz="1600" b="1" dirty="0"/>
              <a:t> </a:t>
            </a:r>
            <a:r>
              <a:rPr lang="en-US" altLang="ko-KR" sz="1600" b="1" dirty="0" err="1"/>
              <a:t>phân</a:t>
            </a:r>
            <a:r>
              <a:rPr lang="en-US" altLang="ko-KR" sz="1600" b="1" dirty="0"/>
              <a:t> </a:t>
            </a:r>
            <a:r>
              <a:rPr lang="en-US" altLang="ko-KR" sz="1600" b="1" dirty="0" err="1"/>
              <a:t>giải</a:t>
            </a:r>
            <a:r>
              <a:rPr lang="en-US" altLang="ko-KR" sz="1600" b="1" dirty="0"/>
              <a:t> </a:t>
            </a:r>
            <a:r>
              <a:rPr lang="en-US" altLang="ko-KR" sz="1600" b="1" dirty="0" err="1"/>
              <a:t>của</a:t>
            </a:r>
            <a:r>
              <a:rPr lang="en-US" altLang="ko-KR" sz="1600" b="1" dirty="0"/>
              <a:t> </a:t>
            </a:r>
            <a:r>
              <a:rPr lang="en-US" altLang="ko-KR" sz="1600" b="1" dirty="0" err="1"/>
              <a:t>dụng</a:t>
            </a:r>
            <a:r>
              <a:rPr lang="en-US" altLang="ko-KR" sz="1600" b="1" dirty="0"/>
              <a:t> </a:t>
            </a:r>
            <a:r>
              <a:rPr lang="en-US" altLang="ko-KR" sz="1600" b="1" dirty="0" err="1"/>
              <a:t>cụ</a:t>
            </a:r>
            <a:r>
              <a:rPr lang="en-US" altLang="ko-KR" sz="1600" b="1" dirty="0"/>
              <a:t> </a:t>
            </a:r>
            <a:r>
              <a:rPr lang="en-US" altLang="ko-KR" sz="1600" b="1" dirty="0" err="1"/>
              <a:t>đo</a:t>
            </a:r>
            <a:r>
              <a:rPr lang="en-US" altLang="ko-KR" sz="1600" b="1" dirty="0"/>
              <a:t> </a:t>
            </a:r>
            <a:r>
              <a:rPr lang="en-US" altLang="ko-KR" sz="1600" b="1" dirty="0" err="1"/>
              <a:t>này</a:t>
            </a:r>
            <a:r>
              <a:rPr lang="en-US" altLang="ko-KR" sz="1600" b="1" dirty="0"/>
              <a:t> </a:t>
            </a:r>
            <a:r>
              <a:rPr lang="en-US" altLang="ko-KR" sz="1600" b="1" dirty="0" err="1"/>
              <a:t>có</a:t>
            </a:r>
            <a:r>
              <a:rPr lang="en-US" altLang="ko-KR" sz="1600" b="1" dirty="0"/>
              <a:t> </a:t>
            </a:r>
            <a:r>
              <a:rPr lang="en-US" altLang="ko-KR" sz="1600" b="1" dirty="0" err="1"/>
              <a:t>thỏa</a:t>
            </a:r>
            <a:r>
              <a:rPr lang="en-US" altLang="ko-KR" sz="1600" b="1" dirty="0"/>
              <a:t> </a:t>
            </a:r>
            <a:r>
              <a:rPr lang="en-US" altLang="ko-KR" sz="1600" b="1" dirty="0" err="1"/>
              <a:t>mãn</a:t>
            </a:r>
            <a:r>
              <a:rPr lang="en-US" altLang="ko-KR" sz="1600" b="1" dirty="0"/>
              <a:t> </a:t>
            </a:r>
            <a:r>
              <a:rPr lang="en-US" altLang="ko-KR" sz="1600" b="1" dirty="0" err="1"/>
              <a:t>những</a:t>
            </a:r>
            <a:r>
              <a:rPr lang="en-US" altLang="ko-KR" sz="1600" b="1" dirty="0"/>
              <a:t> </a:t>
            </a:r>
            <a:r>
              <a:rPr lang="en-US" altLang="ko-KR" sz="1600" b="1" dirty="0" err="1"/>
              <a:t>nội</a:t>
            </a:r>
            <a:endParaRPr lang="en-US" altLang="ko-KR" sz="1600" b="1" dirty="0"/>
          </a:p>
          <a:p>
            <a:pPr>
              <a:lnSpc>
                <a:spcPct val="150000"/>
              </a:lnSpc>
            </a:pPr>
            <a:r>
              <a:rPr lang="en-US" altLang="ko-KR" sz="1600" b="1" dirty="0"/>
              <a:t>dung </a:t>
            </a:r>
            <a:r>
              <a:rPr lang="en-US" altLang="ko-KR" sz="1600" b="1" dirty="0" err="1"/>
              <a:t>yêu</a:t>
            </a:r>
            <a:r>
              <a:rPr lang="en-US" altLang="ko-KR" sz="1600" b="1" dirty="0"/>
              <a:t> </a:t>
            </a:r>
            <a:r>
              <a:rPr lang="en-US" altLang="ko-KR" sz="1600" b="1" dirty="0" err="1"/>
              <a:t>cầu</a:t>
            </a:r>
            <a:r>
              <a:rPr lang="en-US" altLang="ko-KR" sz="1600" b="1" dirty="0"/>
              <a:t> hay </a:t>
            </a:r>
            <a:r>
              <a:rPr lang="en-US" altLang="ko-KR" sz="1600" b="1" dirty="0" err="1"/>
              <a:t>không</a:t>
            </a:r>
            <a:r>
              <a:rPr lang="en-US" altLang="ko-KR" sz="1600" b="1" dirty="0"/>
              <a:t>?</a:t>
            </a:r>
            <a:endParaRPr lang="ko-KR" altLang="en-US" sz="1600" b="1" dirty="0"/>
          </a:p>
        </p:txBody>
      </p:sp>
      <p:sp>
        <p:nvSpPr>
          <p:cNvPr id="5" name="TextBox 4"/>
          <p:cNvSpPr txBox="1"/>
          <p:nvPr/>
        </p:nvSpPr>
        <p:spPr>
          <a:xfrm>
            <a:off x="611560" y="2780928"/>
            <a:ext cx="1186543" cy="338554"/>
          </a:xfrm>
          <a:prstGeom prst="rect">
            <a:avLst/>
          </a:prstGeom>
          <a:noFill/>
        </p:spPr>
        <p:txBody>
          <a:bodyPr wrap="none" rtlCol="0">
            <a:spAutoFit/>
          </a:bodyPr>
          <a:lstStyle/>
          <a:p>
            <a:r>
              <a:rPr lang="en-US" altLang="ko-KR" sz="1600" b="1" dirty="0" err="1"/>
              <a:t>Giải</a:t>
            </a:r>
            <a:r>
              <a:rPr lang="en-US" altLang="ko-KR" sz="1600" b="1" dirty="0"/>
              <a:t> </a:t>
            </a:r>
            <a:r>
              <a:rPr lang="en-US" altLang="ko-KR" sz="1600" b="1" dirty="0" err="1"/>
              <a:t>thích</a:t>
            </a:r>
            <a:r>
              <a:rPr lang="ko-KR" altLang="en-US" sz="1600" b="1" dirty="0">
                <a:solidFill>
                  <a:srgbClr val="FFFF00"/>
                </a:solidFill>
              </a:rPr>
              <a:t> </a:t>
            </a:r>
          </a:p>
        </p:txBody>
      </p:sp>
      <p:sp>
        <p:nvSpPr>
          <p:cNvPr id="6" name="TextBox 5"/>
          <p:cNvSpPr txBox="1"/>
          <p:nvPr/>
        </p:nvSpPr>
        <p:spPr>
          <a:xfrm>
            <a:off x="851844" y="3068960"/>
            <a:ext cx="4294765" cy="338554"/>
          </a:xfrm>
          <a:prstGeom prst="rect">
            <a:avLst/>
          </a:prstGeom>
          <a:noFill/>
        </p:spPr>
        <p:txBody>
          <a:bodyPr wrap="none" rtlCol="0">
            <a:spAutoFit/>
          </a:bodyPr>
          <a:lstStyle/>
          <a:p>
            <a:r>
              <a:rPr lang="en-US" altLang="ko-KR" sz="1600" b="1" dirty="0" err="1"/>
              <a:t>Độ</a:t>
            </a:r>
            <a:r>
              <a:rPr lang="en-US" altLang="ko-KR" sz="1600" b="1" dirty="0"/>
              <a:t> </a:t>
            </a:r>
            <a:r>
              <a:rPr lang="en-US" altLang="ko-KR" sz="1600" b="1" dirty="0" err="1"/>
              <a:t>phân</a:t>
            </a:r>
            <a:r>
              <a:rPr lang="en-US" altLang="ko-KR" sz="1600" b="1" dirty="0"/>
              <a:t> </a:t>
            </a:r>
            <a:r>
              <a:rPr lang="en-US" altLang="ko-KR" sz="1600" b="1" dirty="0" err="1"/>
              <a:t>giải</a:t>
            </a:r>
            <a:r>
              <a:rPr lang="en-US" altLang="ko-KR" sz="1600" b="1" dirty="0"/>
              <a:t> </a:t>
            </a:r>
            <a:r>
              <a:rPr lang="en-US" altLang="ko-KR" sz="1600" b="1" dirty="0" err="1"/>
              <a:t>của</a:t>
            </a:r>
            <a:r>
              <a:rPr lang="en-US" altLang="ko-KR" sz="1600" b="1" dirty="0"/>
              <a:t> </a:t>
            </a:r>
            <a:r>
              <a:rPr lang="en-US" altLang="ko-KR" sz="1600" b="1" dirty="0" err="1"/>
              <a:t>dụng</a:t>
            </a:r>
            <a:r>
              <a:rPr lang="en-US" altLang="ko-KR" sz="1600" b="1" dirty="0"/>
              <a:t> </a:t>
            </a:r>
            <a:r>
              <a:rPr lang="en-US" altLang="ko-KR" sz="1600" b="1" dirty="0" err="1"/>
              <a:t>cụ</a:t>
            </a:r>
            <a:r>
              <a:rPr lang="en-US" altLang="ko-KR" sz="1600" b="1" dirty="0"/>
              <a:t> </a:t>
            </a:r>
            <a:r>
              <a:rPr lang="en-US" altLang="ko-KR" sz="1600" b="1" dirty="0" err="1"/>
              <a:t>đo</a:t>
            </a:r>
            <a:r>
              <a:rPr lang="ko-KR" altLang="en-US" sz="1600" b="1" dirty="0"/>
              <a:t>    </a:t>
            </a:r>
            <a:r>
              <a:rPr lang="en-US" altLang="ko-KR" sz="1600" b="1" dirty="0"/>
              <a:t>RE = 0.01</a:t>
            </a:r>
            <a:endParaRPr lang="ko-KR" altLang="en-US" sz="1600" b="1" dirty="0"/>
          </a:p>
        </p:txBody>
      </p:sp>
      <p:sp>
        <p:nvSpPr>
          <p:cNvPr id="7" name="TextBox 6"/>
          <p:cNvSpPr txBox="1"/>
          <p:nvPr/>
        </p:nvSpPr>
        <p:spPr>
          <a:xfrm>
            <a:off x="851844" y="3522494"/>
            <a:ext cx="6282489" cy="338554"/>
          </a:xfrm>
          <a:prstGeom prst="rect">
            <a:avLst/>
          </a:prstGeom>
          <a:noFill/>
        </p:spPr>
        <p:txBody>
          <a:bodyPr wrap="none" rtlCol="0">
            <a:spAutoFit/>
          </a:bodyPr>
          <a:lstStyle/>
          <a:p>
            <a:r>
              <a:rPr lang="en-US" altLang="ko-KR" sz="1600" b="1" dirty="0" err="1"/>
              <a:t>Sai</a:t>
            </a:r>
            <a:r>
              <a:rPr lang="en-US" altLang="ko-KR" sz="1600" b="1" dirty="0"/>
              <a:t> </a:t>
            </a:r>
            <a:r>
              <a:rPr lang="en-US" altLang="ko-KR" sz="1600" b="1" dirty="0" err="1"/>
              <a:t>số</a:t>
            </a:r>
            <a:r>
              <a:rPr lang="en-US" altLang="ko-KR" sz="1600" b="1" dirty="0"/>
              <a:t> </a:t>
            </a:r>
            <a:r>
              <a:rPr lang="en-US" altLang="ko-KR" sz="1600" b="1" dirty="0" err="1"/>
              <a:t>cho</a:t>
            </a:r>
            <a:r>
              <a:rPr lang="en-US" altLang="ko-KR" sz="1600" b="1" dirty="0"/>
              <a:t> </a:t>
            </a:r>
            <a:r>
              <a:rPr lang="en-US" altLang="ko-KR" sz="1600" b="1" dirty="0" err="1"/>
              <a:t>phép</a:t>
            </a:r>
            <a:r>
              <a:rPr lang="ko-KR" altLang="en-US" sz="1600" b="1" dirty="0"/>
              <a:t>                </a:t>
            </a:r>
            <a:r>
              <a:rPr lang="en-US" altLang="ko-KR" sz="1600" b="1" dirty="0"/>
              <a:t>T = USL – LSL  = 50.2 – 49.8 = 0.4</a:t>
            </a:r>
            <a:endParaRPr lang="ko-KR" altLang="en-US" sz="1600" b="1" dirty="0"/>
          </a:p>
        </p:txBody>
      </p:sp>
      <p:sp>
        <p:nvSpPr>
          <p:cNvPr id="8" name="TextBox 7"/>
          <p:cNvSpPr txBox="1"/>
          <p:nvPr/>
        </p:nvSpPr>
        <p:spPr>
          <a:xfrm>
            <a:off x="851844" y="3933056"/>
            <a:ext cx="5910592" cy="338554"/>
          </a:xfrm>
          <a:prstGeom prst="rect">
            <a:avLst/>
          </a:prstGeom>
          <a:noFill/>
        </p:spPr>
        <p:txBody>
          <a:bodyPr wrap="none" rtlCol="0">
            <a:spAutoFit/>
          </a:bodyPr>
          <a:lstStyle/>
          <a:p>
            <a:r>
              <a:rPr lang="en-US" altLang="ko-KR" sz="1600" b="1" dirty="0" err="1"/>
              <a:t>Tính</a:t>
            </a:r>
            <a:r>
              <a:rPr lang="en-US" altLang="ko-KR" sz="1600" b="1" dirty="0"/>
              <a:t> </a:t>
            </a:r>
            <a:r>
              <a:rPr lang="en-US" altLang="ko-KR" sz="1600" b="1" dirty="0" err="1"/>
              <a:t>năng</a:t>
            </a:r>
            <a:r>
              <a:rPr lang="en-US" altLang="ko-KR" sz="1600" b="1" dirty="0"/>
              <a:t> </a:t>
            </a:r>
            <a:r>
              <a:rPr lang="en-US" altLang="ko-KR" sz="1600" b="1" dirty="0" err="1"/>
              <a:t>phân</a:t>
            </a:r>
            <a:r>
              <a:rPr lang="en-US" altLang="ko-KR" sz="1600" b="1" dirty="0"/>
              <a:t> </a:t>
            </a:r>
            <a:r>
              <a:rPr lang="en-US" altLang="ko-KR" sz="1600" b="1" dirty="0" err="1"/>
              <a:t>giải</a:t>
            </a:r>
            <a:r>
              <a:rPr lang="ko-KR" altLang="en-US" sz="1600" b="1" dirty="0"/>
              <a:t>       </a:t>
            </a:r>
            <a:r>
              <a:rPr lang="en-US" altLang="ko-KR" sz="1600" b="1" dirty="0"/>
              <a:t>%RE =</a:t>
            </a:r>
            <a:r>
              <a:rPr lang="ko-KR" altLang="en-US" sz="1600" b="1" dirty="0"/>
              <a:t>  </a:t>
            </a:r>
            <a:r>
              <a:rPr lang="en-US" altLang="ko-KR" sz="1600" b="1" dirty="0"/>
              <a:t>0.01 / 0.4 x 100 = 2.5 % </a:t>
            </a:r>
            <a:endParaRPr lang="ko-KR" altLang="en-US" sz="1600" b="1" dirty="0"/>
          </a:p>
        </p:txBody>
      </p:sp>
      <p:sp>
        <p:nvSpPr>
          <p:cNvPr id="9" name="TextBox 8"/>
          <p:cNvSpPr txBox="1"/>
          <p:nvPr/>
        </p:nvSpPr>
        <p:spPr>
          <a:xfrm>
            <a:off x="851844" y="4644425"/>
            <a:ext cx="8139536" cy="584775"/>
          </a:xfrm>
          <a:prstGeom prst="rect">
            <a:avLst/>
          </a:prstGeom>
          <a:noFill/>
        </p:spPr>
        <p:txBody>
          <a:bodyPr wrap="none" rtlCol="0">
            <a:spAutoFit/>
          </a:bodyPr>
          <a:lstStyle/>
          <a:p>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đủ</a:t>
            </a:r>
            <a:r>
              <a:rPr lang="en-US" altLang="ko-KR" sz="1600" b="1" dirty="0"/>
              <a:t> </a:t>
            </a:r>
            <a:r>
              <a:rPr lang="en-US" altLang="ko-KR" sz="1600" b="1" dirty="0" err="1"/>
              <a:t>điều</a:t>
            </a:r>
            <a:r>
              <a:rPr lang="en-US" altLang="ko-KR" sz="1600" b="1" dirty="0"/>
              <a:t> </a:t>
            </a:r>
            <a:r>
              <a:rPr lang="en-US" altLang="ko-KR" sz="1600" b="1" dirty="0" err="1"/>
              <a:t>kiện</a:t>
            </a:r>
            <a:r>
              <a:rPr lang="en-US" altLang="ko-KR" sz="1600" b="1" dirty="0"/>
              <a:t>,</a:t>
            </a:r>
            <a:r>
              <a:rPr lang="ko-KR" altLang="en-US" sz="1600" b="1" dirty="0"/>
              <a:t> </a:t>
            </a:r>
            <a:r>
              <a:rPr lang="en-US" altLang="ko-KR" sz="1600" b="1" dirty="0" err="1"/>
              <a:t>với</a:t>
            </a:r>
            <a:r>
              <a:rPr lang="en-US" altLang="ko-KR" sz="1600" b="1" dirty="0"/>
              <a:t> ISO 22514-7, GM, Bosch, VDA </a:t>
            </a:r>
            <a:r>
              <a:rPr lang="en-US" altLang="ko-KR" sz="1600" b="1" dirty="0" err="1"/>
              <a:t>dưới</a:t>
            </a:r>
            <a:r>
              <a:rPr lang="ko-KR" altLang="en-US" sz="1600" b="1" dirty="0"/>
              <a:t> </a:t>
            </a:r>
            <a:r>
              <a:rPr lang="en-US" altLang="ko-KR" sz="1600" b="1" dirty="0"/>
              <a:t>5%</a:t>
            </a:r>
            <a:r>
              <a:rPr lang="ko-KR" altLang="en-US" sz="1600" b="1" dirty="0"/>
              <a:t> </a:t>
            </a:r>
            <a:endParaRPr lang="en-US" altLang="ko-KR" sz="1600" b="1" dirty="0"/>
          </a:p>
          <a:p>
            <a:r>
              <a:rPr lang="en-US" altLang="ko-KR" sz="1600" b="1" dirty="0" err="1"/>
              <a:t>Với</a:t>
            </a:r>
            <a:r>
              <a:rPr lang="en-US" altLang="ko-KR" sz="1600" b="1" dirty="0"/>
              <a:t> MSA </a:t>
            </a:r>
            <a:r>
              <a:rPr lang="en-US" altLang="ko-KR" sz="1600" b="1" dirty="0" err="1"/>
              <a:t>của</a:t>
            </a:r>
            <a:r>
              <a:rPr lang="en-US" altLang="ko-KR" sz="1600" b="1" dirty="0"/>
              <a:t> AIAG(2010) </a:t>
            </a:r>
            <a:r>
              <a:rPr lang="en-US" altLang="ko-KR" sz="1600" b="1" dirty="0" err="1"/>
              <a:t>dưới</a:t>
            </a:r>
            <a:r>
              <a:rPr lang="en-US" altLang="ko-KR" sz="1600" b="1" dirty="0"/>
              <a:t> 10% </a:t>
            </a:r>
            <a:r>
              <a:rPr lang="en-US" altLang="ko-KR" sz="1600" b="1" dirty="0" err="1"/>
              <a:t>thỏa</a:t>
            </a:r>
            <a:r>
              <a:rPr lang="en-US" altLang="ko-KR" sz="1600" b="1" dirty="0"/>
              <a:t> </a:t>
            </a:r>
            <a:r>
              <a:rPr lang="en-US" altLang="ko-KR" sz="1600" b="1" dirty="0" err="1"/>
              <a:t>mãn</a:t>
            </a:r>
            <a:r>
              <a:rPr lang="en-US" altLang="ko-KR" sz="1600" b="1" dirty="0"/>
              <a:t> </a:t>
            </a:r>
            <a:r>
              <a:rPr lang="en-US" altLang="ko-KR" sz="1600" b="1" dirty="0" err="1"/>
              <a:t>độ</a:t>
            </a:r>
            <a:r>
              <a:rPr lang="en-US" altLang="ko-KR" sz="1600" b="1" dirty="0"/>
              <a:t> </a:t>
            </a:r>
            <a:r>
              <a:rPr lang="en-US" altLang="ko-KR" sz="1600" b="1" dirty="0" err="1"/>
              <a:t>phân</a:t>
            </a:r>
            <a:r>
              <a:rPr lang="en-US" altLang="ko-KR" sz="1600" b="1" dirty="0"/>
              <a:t> </a:t>
            </a:r>
            <a:r>
              <a:rPr lang="en-US" altLang="ko-KR" sz="1600" b="1" dirty="0" err="1"/>
              <a:t>giải</a:t>
            </a:r>
            <a:r>
              <a:rPr lang="en-US" altLang="ko-KR" sz="1600" b="1" dirty="0"/>
              <a:t> </a:t>
            </a:r>
            <a:r>
              <a:rPr lang="en-US" altLang="ko-KR" sz="1600" b="1" dirty="0" err="1"/>
              <a:t>của</a:t>
            </a:r>
            <a:r>
              <a:rPr lang="en-US" altLang="ko-KR" sz="1600" b="1" dirty="0"/>
              <a:t> </a:t>
            </a:r>
            <a:r>
              <a:rPr lang="en-US" altLang="ko-KR" sz="1600" b="1" dirty="0" err="1"/>
              <a:t>hệ</a:t>
            </a:r>
            <a:r>
              <a:rPr lang="en-US" altLang="ko-KR" sz="1600" b="1" dirty="0"/>
              <a:t> </a:t>
            </a:r>
            <a:r>
              <a:rPr lang="en-US" altLang="ko-KR" sz="1600" b="1" dirty="0" err="1"/>
              <a:t>thống</a:t>
            </a:r>
            <a:r>
              <a:rPr lang="en-US" altLang="ko-KR" sz="1600" b="1" dirty="0"/>
              <a:t> </a:t>
            </a:r>
            <a:r>
              <a:rPr lang="en-US" altLang="ko-KR" sz="1600" b="1" dirty="0" err="1"/>
              <a:t>đo</a:t>
            </a:r>
            <a:r>
              <a:rPr lang="en-US" altLang="ko-KR" sz="1600" b="1" dirty="0"/>
              <a:t> </a:t>
            </a:r>
            <a:r>
              <a:rPr lang="en-US" altLang="ko-KR" sz="1600" b="1" dirty="0" err="1"/>
              <a:t>đạc</a:t>
            </a:r>
            <a:endParaRPr lang="ko-KR" altLang="en-US" sz="1600" b="1" dirty="0"/>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50</a:t>
            </a:fld>
            <a:endParaRPr lang="ko-KR" altLang="en-US" dirty="0"/>
          </a:p>
        </p:txBody>
      </p:sp>
    </p:spTree>
    <p:extLst>
      <p:ext uri="{BB962C8B-B14F-4D97-AF65-F5344CB8AC3E}">
        <p14:creationId xmlns:p14="http://schemas.microsoft.com/office/powerpoint/2010/main" val="78388669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1868910" cy="400110"/>
          </a:xfrm>
          <a:prstGeom prst="rect">
            <a:avLst/>
          </a:prstGeom>
          <a:noFill/>
        </p:spPr>
        <p:txBody>
          <a:bodyPr wrap="none" rtlCol="0">
            <a:spAutoFit/>
          </a:bodyPr>
          <a:lstStyle/>
          <a:p>
            <a:r>
              <a:rPr lang="en-US" altLang="ko-KR" sz="2000" b="1" dirty="0"/>
              <a:t>Type 1 Study </a:t>
            </a:r>
            <a:endParaRPr lang="ko-KR" altLang="en-US" sz="2000" b="1" dirty="0"/>
          </a:p>
        </p:txBody>
      </p:sp>
      <p:sp>
        <p:nvSpPr>
          <p:cNvPr id="3" name="TextBox 2"/>
          <p:cNvSpPr txBox="1"/>
          <p:nvPr/>
        </p:nvSpPr>
        <p:spPr>
          <a:xfrm>
            <a:off x="395536" y="797803"/>
            <a:ext cx="8352928" cy="1323439"/>
          </a:xfrm>
          <a:prstGeom prst="rect">
            <a:avLst/>
          </a:prstGeom>
          <a:noFill/>
        </p:spPr>
        <p:txBody>
          <a:bodyPr wrap="square" rtlCol="0">
            <a:spAutoFit/>
          </a:bodyPr>
          <a:lstStyle/>
          <a:p>
            <a:r>
              <a:rPr lang="en-US" altLang="ko-KR" sz="1600" dirty="0"/>
              <a:t>Type 1 Study </a:t>
            </a:r>
            <a:r>
              <a:rPr lang="vi-VN" sz="1600" dirty="0"/>
              <a:t>là </a:t>
            </a:r>
            <a:r>
              <a:rPr lang="en-US" sz="1600" dirty="0" err="1"/>
              <a:t>trình</a:t>
            </a:r>
            <a:r>
              <a:rPr lang="en-US" sz="1600" dirty="0"/>
              <a:t> </a:t>
            </a:r>
            <a:r>
              <a:rPr lang="en-US" sz="1600" dirty="0" err="1"/>
              <a:t>tự</a:t>
            </a:r>
            <a:r>
              <a:rPr lang="vi-VN" sz="1600" dirty="0"/>
              <a:t> phân tích để đánh giá</a:t>
            </a:r>
            <a:r>
              <a:rPr lang="en-US" sz="1600" dirty="0"/>
              <a:t> </a:t>
            </a:r>
            <a:r>
              <a:rPr lang="en-US" sz="1600" dirty="0" err="1"/>
              <a:t>tính</a:t>
            </a:r>
            <a:r>
              <a:rPr lang="en-US" sz="1600" dirty="0"/>
              <a:t> </a:t>
            </a:r>
            <a:r>
              <a:rPr lang="en-US" sz="1600" dirty="0" err="1"/>
              <a:t>lặp</a:t>
            </a:r>
            <a:r>
              <a:rPr lang="en-US" sz="1600" dirty="0"/>
              <a:t> </a:t>
            </a:r>
            <a:r>
              <a:rPr lang="en-US" sz="1600" dirty="0" err="1"/>
              <a:t>lại</a:t>
            </a:r>
            <a:r>
              <a:rPr lang="en-US" sz="1600" dirty="0"/>
              <a:t> </a:t>
            </a:r>
            <a:r>
              <a:rPr lang="en-US" sz="1600" dirty="0" err="1"/>
              <a:t>và</a:t>
            </a:r>
            <a:r>
              <a:rPr lang="en-US" sz="1600" dirty="0"/>
              <a:t> </a:t>
            </a:r>
            <a:r>
              <a:rPr lang="en-US" sz="1600" dirty="0" err="1"/>
              <a:t>độ</a:t>
            </a:r>
            <a:r>
              <a:rPr lang="en-US" sz="1600" dirty="0"/>
              <a:t> </a:t>
            </a:r>
            <a:r>
              <a:rPr lang="en-US" sz="1600" dirty="0" err="1"/>
              <a:t>lệch</a:t>
            </a:r>
            <a:r>
              <a:rPr lang="en-US" sz="1600" dirty="0"/>
              <a:t> bias </a:t>
            </a:r>
            <a:r>
              <a:rPr lang="en-US" sz="1600" dirty="0" err="1"/>
              <a:t>của</a:t>
            </a:r>
            <a:r>
              <a:rPr lang="en-US" sz="1600" dirty="0"/>
              <a:t> </a:t>
            </a:r>
            <a:r>
              <a:rPr lang="en-US" sz="1600" dirty="0" err="1"/>
              <a:t>bản</a:t>
            </a:r>
            <a:r>
              <a:rPr lang="en-US" sz="1600" dirty="0"/>
              <a:t> </a:t>
            </a:r>
            <a:r>
              <a:rPr lang="en-US" sz="1600" dirty="0" err="1"/>
              <a:t>thân</a:t>
            </a:r>
            <a:endParaRPr lang="en-US" sz="1600" dirty="0"/>
          </a:p>
          <a:p>
            <a:r>
              <a:rPr lang="en-US" sz="1600" dirty="0"/>
              <a:t> </a:t>
            </a:r>
            <a:r>
              <a:rPr lang="en-US" sz="1600" dirty="0" err="1"/>
              <a:t>dụng</a:t>
            </a:r>
            <a:r>
              <a:rPr lang="en-US" sz="1600" dirty="0"/>
              <a:t> </a:t>
            </a:r>
            <a:r>
              <a:rPr lang="en-US" sz="1600" dirty="0" err="1"/>
              <a:t>cụ</a:t>
            </a:r>
            <a:r>
              <a:rPr lang="en-US" sz="1600" dirty="0"/>
              <a:t> </a:t>
            </a:r>
            <a:r>
              <a:rPr lang="en-US" sz="1600" dirty="0" err="1"/>
              <a:t>đo</a:t>
            </a:r>
            <a:r>
              <a:rPr lang="en-US" sz="1600" dirty="0"/>
              <a:t> </a:t>
            </a:r>
            <a:r>
              <a:rPr lang="en-US" sz="1600" dirty="0" err="1"/>
              <a:t>có</a:t>
            </a:r>
            <a:r>
              <a:rPr lang="en-US" sz="1600" dirty="0"/>
              <a:t> </a:t>
            </a:r>
            <a:r>
              <a:rPr lang="vi-VN" sz="1600" dirty="0"/>
              <a:t>khả năng</a:t>
            </a:r>
            <a:r>
              <a:rPr lang="en-US" sz="1600" dirty="0"/>
              <a:t> </a:t>
            </a:r>
            <a:r>
              <a:rPr lang="en-US" sz="1600" dirty="0" err="1"/>
              <a:t>đo</a:t>
            </a:r>
            <a:r>
              <a:rPr lang="en-US" sz="1600" dirty="0"/>
              <a:t> </a:t>
            </a:r>
            <a:r>
              <a:rPr lang="en-US" sz="1600" dirty="0" err="1"/>
              <a:t>đạc</a:t>
            </a:r>
            <a:r>
              <a:rPr lang="en-US" sz="1600" dirty="0"/>
              <a:t> </a:t>
            </a:r>
            <a:r>
              <a:rPr lang="en-US" sz="1600" dirty="0" err="1"/>
              <a:t>được</a:t>
            </a:r>
            <a:r>
              <a:rPr lang="en-US" sz="1600" dirty="0"/>
              <a:t> </a:t>
            </a:r>
            <a:r>
              <a:rPr lang="en-US" sz="1600" dirty="0" err="1"/>
              <a:t>linh</a:t>
            </a:r>
            <a:r>
              <a:rPr lang="en-US" sz="1600" dirty="0"/>
              <a:t> </a:t>
            </a:r>
            <a:r>
              <a:rPr lang="en-US" sz="1600" dirty="0" err="1"/>
              <a:t>kiện</a:t>
            </a:r>
            <a:r>
              <a:rPr lang="en-US" sz="1600" dirty="0"/>
              <a:t> </a:t>
            </a:r>
            <a:r>
              <a:rPr lang="en-US" sz="1600" dirty="0" err="1"/>
              <a:t>tương</a:t>
            </a:r>
            <a:r>
              <a:rPr lang="en-US" sz="1600" dirty="0"/>
              <a:t> </a:t>
            </a:r>
            <a:r>
              <a:rPr lang="en-US" sz="1600" dirty="0" err="1"/>
              <a:t>ứng</a:t>
            </a:r>
            <a:r>
              <a:rPr lang="en-US" sz="1600" dirty="0"/>
              <a:t> </a:t>
            </a:r>
            <a:r>
              <a:rPr lang="en-US" sz="1600" dirty="0" err="1"/>
              <a:t>có</a:t>
            </a:r>
            <a:r>
              <a:rPr lang="en-US" sz="1600" dirty="0"/>
              <a:t> </a:t>
            </a:r>
            <a:r>
              <a:rPr lang="en-US" sz="1600" dirty="0" err="1"/>
              <a:t>quy</a:t>
            </a:r>
            <a:r>
              <a:rPr lang="en-US" sz="1600" dirty="0"/>
              <a:t> </a:t>
            </a:r>
            <a:r>
              <a:rPr lang="en-US" sz="1600" dirty="0" err="1"/>
              <a:t>cách</a:t>
            </a:r>
            <a:r>
              <a:rPr lang="en-US" sz="1600" dirty="0"/>
              <a:t> </a:t>
            </a:r>
            <a:r>
              <a:rPr lang="en-US" sz="1600" dirty="0" err="1"/>
              <a:t>tiêu</a:t>
            </a:r>
            <a:r>
              <a:rPr lang="en-US" sz="1600" dirty="0"/>
              <a:t> </a:t>
            </a:r>
            <a:r>
              <a:rPr lang="en-US" sz="1600" dirty="0" err="1"/>
              <a:t>chuẩn</a:t>
            </a:r>
            <a:r>
              <a:rPr lang="en-US" sz="1600" dirty="0"/>
              <a:t> (LSL,USL)</a:t>
            </a:r>
          </a:p>
          <a:p>
            <a:r>
              <a:rPr lang="en-US" sz="1600" dirty="0"/>
              <a:t> hay </a:t>
            </a:r>
            <a:r>
              <a:rPr lang="en-US" sz="1600" dirty="0" err="1"/>
              <a:t>không</a:t>
            </a:r>
            <a:endParaRPr lang="en-US" sz="1600" dirty="0"/>
          </a:p>
          <a:p>
            <a:endParaRPr lang="vi-VN" sz="1600" dirty="0"/>
          </a:p>
        </p:txBody>
      </p:sp>
      <p:sp>
        <p:nvSpPr>
          <p:cNvPr id="4" name="TextBox 3"/>
          <p:cNvSpPr txBox="1"/>
          <p:nvPr/>
        </p:nvSpPr>
        <p:spPr>
          <a:xfrm>
            <a:off x="479025" y="1908121"/>
            <a:ext cx="8603958" cy="584775"/>
          </a:xfrm>
          <a:prstGeom prst="rect">
            <a:avLst/>
          </a:prstGeom>
          <a:noFill/>
        </p:spPr>
        <p:txBody>
          <a:bodyPr wrap="none" rtlCol="0">
            <a:spAutoFit/>
          </a:bodyPr>
          <a:lstStyle/>
          <a:p>
            <a:r>
              <a:rPr lang="en-US" altLang="ko-KR" sz="1600" dirty="0" err="1"/>
              <a:t>Tiến</a:t>
            </a:r>
            <a:r>
              <a:rPr lang="en-US" altLang="ko-KR" sz="1600" dirty="0"/>
              <a:t> </a:t>
            </a:r>
            <a:r>
              <a:rPr lang="en-US" altLang="ko-KR" sz="1600" dirty="0" err="1"/>
              <a:t>hành</a:t>
            </a:r>
            <a:r>
              <a:rPr lang="en-US" altLang="ko-KR" sz="1600" dirty="0"/>
              <a:t> </a:t>
            </a:r>
            <a:r>
              <a:rPr lang="en-US" altLang="ko-KR" sz="1600" dirty="0" err="1"/>
              <a:t>đo</a:t>
            </a:r>
            <a:r>
              <a:rPr lang="en-US" altLang="ko-KR" sz="1600" dirty="0"/>
              <a:t> 30 </a:t>
            </a:r>
            <a:r>
              <a:rPr lang="en-US" altLang="ko-KR" sz="1600" dirty="0" err="1"/>
              <a:t>lần</a:t>
            </a:r>
            <a:r>
              <a:rPr lang="en-US" altLang="ko-KR" sz="1600" dirty="0"/>
              <a:t> </a:t>
            </a:r>
            <a:r>
              <a:rPr lang="en-US" altLang="ko-KR" sz="1600" dirty="0" err="1"/>
              <a:t>lặp</a:t>
            </a:r>
            <a:r>
              <a:rPr lang="en-US" altLang="ko-KR" sz="1600" dirty="0"/>
              <a:t> </a:t>
            </a:r>
            <a:r>
              <a:rPr lang="en-US" altLang="ko-KR" sz="1600" dirty="0" err="1"/>
              <a:t>lại</a:t>
            </a:r>
            <a:r>
              <a:rPr lang="en-US" altLang="ko-KR" sz="1600" dirty="0"/>
              <a:t> </a:t>
            </a:r>
            <a:r>
              <a:rPr lang="en-US" altLang="ko-KR" sz="1600" dirty="0" err="1"/>
              <a:t>trên</a:t>
            </a:r>
            <a:r>
              <a:rPr lang="en-US" altLang="ko-KR" sz="1600" dirty="0"/>
              <a:t> 1 sample </a:t>
            </a:r>
            <a:r>
              <a:rPr lang="en-US" altLang="ko-KR" sz="1600" dirty="0" err="1"/>
              <a:t>có</a:t>
            </a:r>
            <a:r>
              <a:rPr lang="en-US" altLang="ko-KR" sz="1600" dirty="0"/>
              <a:t> </a:t>
            </a:r>
            <a:r>
              <a:rPr lang="en-US" altLang="ko-KR" sz="1600" dirty="0" err="1"/>
              <a:t>cho</a:t>
            </a:r>
            <a:r>
              <a:rPr lang="en-US" altLang="ko-KR" sz="1600" dirty="0"/>
              <a:t> </a:t>
            </a:r>
            <a:r>
              <a:rPr lang="en-US" altLang="ko-KR" sz="1600" dirty="0" err="1"/>
              <a:t>trước</a:t>
            </a:r>
            <a:r>
              <a:rPr lang="en-US" altLang="ko-KR" sz="1600" dirty="0"/>
              <a:t> </a:t>
            </a:r>
            <a:r>
              <a:rPr lang="en-US" altLang="ko-KR" sz="1600" dirty="0" err="1"/>
              <a:t>giá</a:t>
            </a:r>
            <a:r>
              <a:rPr lang="en-US" altLang="ko-KR" sz="1600" dirty="0"/>
              <a:t> </a:t>
            </a:r>
            <a:r>
              <a:rPr lang="en-US" altLang="ko-KR" sz="1600" dirty="0" err="1"/>
              <a:t>trị</a:t>
            </a:r>
            <a:r>
              <a:rPr lang="en-US" altLang="ko-KR" sz="1600" dirty="0"/>
              <a:t> </a:t>
            </a:r>
            <a:r>
              <a:rPr lang="en-US" altLang="ko-KR" sz="1600" dirty="0" err="1"/>
              <a:t>tiêu</a:t>
            </a:r>
            <a:r>
              <a:rPr lang="en-US" altLang="ko-KR" sz="1600" dirty="0"/>
              <a:t> </a:t>
            </a:r>
            <a:r>
              <a:rPr lang="en-US" altLang="ko-KR" sz="1600" dirty="0" err="1"/>
              <a:t>chuẩn</a:t>
            </a:r>
            <a:r>
              <a:rPr lang="en-US" altLang="ko-KR" sz="1600" dirty="0"/>
              <a:t> </a:t>
            </a:r>
            <a:r>
              <a:rPr lang="en-US" altLang="ko-KR" sz="1600" dirty="0" err="1"/>
              <a:t>tương</a:t>
            </a:r>
            <a:r>
              <a:rPr lang="en-US" altLang="ko-KR" sz="1600" dirty="0"/>
              <a:t> </a:t>
            </a:r>
            <a:r>
              <a:rPr lang="en-US" altLang="ko-KR" sz="1600" dirty="0" err="1"/>
              <a:t>ứng</a:t>
            </a:r>
            <a:r>
              <a:rPr lang="en-US" altLang="ko-KR" sz="1600" dirty="0"/>
              <a:t> </a:t>
            </a:r>
            <a:r>
              <a:rPr lang="en-US" altLang="ko-KR" sz="1600" dirty="0" err="1"/>
              <a:t>với</a:t>
            </a:r>
            <a:r>
              <a:rPr lang="en-US" altLang="ko-KR" sz="1600" dirty="0"/>
              <a:t> </a:t>
            </a:r>
          </a:p>
          <a:p>
            <a:r>
              <a:rPr lang="en-US" altLang="ko-KR" sz="1600" dirty="0" err="1"/>
              <a:t>bộ</a:t>
            </a:r>
            <a:r>
              <a:rPr lang="en-US" altLang="ko-KR" sz="1600" dirty="0"/>
              <a:t> </a:t>
            </a:r>
            <a:r>
              <a:rPr lang="en-US" altLang="ko-KR" sz="1600" dirty="0" err="1"/>
              <a:t>phận</a:t>
            </a:r>
            <a:r>
              <a:rPr lang="en-US" altLang="ko-KR" sz="1600" dirty="0"/>
              <a:t> </a:t>
            </a:r>
            <a:r>
              <a:rPr lang="en-US" altLang="ko-KR" sz="1600" dirty="0" err="1"/>
              <a:t>trung</a:t>
            </a:r>
            <a:r>
              <a:rPr lang="en-US" altLang="ko-KR" sz="1600" dirty="0"/>
              <a:t> </a:t>
            </a:r>
            <a:r>
              <a:rPr lang="en-US" altLang="ko-KR" sz="1600" dirty="0" err="1"/>
              <a:t>gian</a:t>
            </a:r>
            <a:r>
              <a:rPr lang="en-US" altLang="ko-KR" sz="1600" dirty="0"/>
              <a:t> </a:t>
            </a:r>
            <a:r>
              <a:rPr lang="en-US" altLang="ko-KR" sz="1600" dirty="0" err="1"/>
              <a:t>của</a:t>
            </a:r>
            <a:r>
              <a:rPr lang="en-US" altLang="ko-KR" sz="1600" dirty="0"/>
              <a:t> </a:t>
            </a:r>
            <a:r>
              <a:rPr lang="en-US" altLang="ko-KR" sz="1600" dirty="0" err="1"/>
              <a:t>quy</a:t>
            </a:r>
            <a:r>
              <a:rPr lang="en-US" altLang="ko-KR" sz="1600" dirty="0"/>
              <a:t> </a:t>
            </a:r>
            <a:r>
              <a:rPr lang="en-US" altLang="ko-KR" sz="1600" dirty="0" err="1"/>
              <a:t>cách</a:t>
            </a:r>
            <a:r>
              <a:rPr lang="en-US" altLang="ko-KR" sz="1600" dirty="0"/>
              <a:t> </a:t>
            </a:r>
            <a:r>
              <a:rPr lang="en-US" altLang="ko-KR" sz="1600" dirty="0" err="1"/>
              <a:t>tiêu</a:t>
            </a:r>
            <a:r>
              <a:rPr lang="en-US" altLang="ko-KR" sz="1600" dirty="0"/>
              <a:t> </a:t>
            </a:r>
            <a:r>
              <a:rPr lang="en-US" altLang="ko-KR" sz="1600" dirty="0" err="1"/>
              <a:t>chuẩn</a:t>
            </a:r>
            <a:endParaRPr lang="en-US" altLang="ko-KR" sz="1600" dirty="0"/>
          </a:p>
        </p:txBody>
      </p:sp>
      <p:graphicFrame>
        <p:nvGraphicFramePr>
          <p:cNvPr id="5" name="표 4"/>
          <p:cNvGraphicFramePr>
            <a:graphicFrameLocks noGrp="1"/>
          </p:cNvGraphicFramePr>
          <p:nvPr>
            <p:extLst>
              <p:ext uri="{D42A27DB-BD31-4B8C-83A1-F6EECF244321}">
                <p14:modId xmlns:p14="http://schemas.microsoft.com/office/powerpoint/2010/main" val="4214555027"/>
              </p:ext>
            </p:extLst>
          </p:nvPr>
        </p:nvGraphicFramePr>
        <p:xfrm>
          <a:off x="755576" y="2996952"/>
          <a:ext cx="7848872" cy="3450985"/>
        </p:xfrm>
        <a:graphic>
          <a:graphicData uri="http://schemas.openxmlformats.org/drawingml/2006/table">
            <a:tbl>
              <a:tblPr firstRow="1" bandRow="1">
                <a:tableStyleId>{5C22544A-7EE6-4342-B048-85BDC9FD1C3A}</a:tableStyleId>
              </a:tblPr>
              <a:tblGrid>
                <a:gridCol w="720080">
                  <a:extLst>
                    <a:ext uri="{9D8B030D-6E8A-4147-A177-3AD203B41FA5}">
                      <a16:colId xmlns:a16="http://schemas.microsoft.com/office/drawing/2014/main" val="20000"/>
                    </a:ext>
                  </a:extLst>
                </a:gridCol>
                <a:gridCol w="2376264">
                  <a:extLst>
                    <a:ext uri="{9D8B030D-6E8A-4147-A177-3AD203B41FA5}">
                      <a16:colId xmlns:a16="http://schemas.microsoft.com/office/drawing/2014/main" val="20001"/>
                    </a:ext>
                  </a:extLst>
                </a:gridCol>
                <a:gridCol w="2376264">
                  <a:extLst>
                    <a:ext uri="{9D8B030D-6E8A-4147-A177-3AD203B41FA5}">
                      <a16:colId xmlns:a16="http://schemas.microsoft.com/office/drawing/2014/main" val="20002"/>
                    </a:ext>
                  </a:extLst>
                </a:gridCol>
                <a:gridCol w="2376264">
                  <a:extLst>
                    <a:ext uri="{9D8B030D-6E8A-4147-A177-3AD203B41FA5}">
                      <a16:colId xmlns:a16="http://schemas.microsoft.com/office/drawing/2014/main" val="20003"/>
                    </a:ext>
                  </a:extLst>
                </a:gridCol>
              </a:tblGrid>
              <a:tr h="806810">
                <a:tc>
                  <a:txBody>
                    <a:bodyPr/>
                    <a:lstStyle/>
                    <a:p>
                      <a:pPr algn="ctr" latinLnBrk="1"/>
                      <a:r>
                        <a:rPr lang="en-US" altLang="ko-KR" sz="1400" dirty="0" err="1">
                          <a:solidFill>
                            <a:schemeClr val="tx1"/>
                          </a:solidFill>
                        </a:rPr>
                        <a:t>Trình</a:t>
                      </a:r>
                      <a:r>
                        <a:rPr lang="en-US" altLang="ko-KR" sz="1400" baseline="0" dirty="0">
                          <a:solidFill>
                            <a:schemeClr val="tx1"/>
                          </a:solidFill>
                        </a:rPr>
                        <a:t> </a:t>
                      </a:r>
                      <a:r>
                        <a:rPr lang="en-US" altLang="ko-KR" sz="1400" baseline="0" dirty="0" err="1">
                          <a:solidFill>
                            <a:schemeClr val="tx1"/>
                          </a:solidFill>
                        </a:rPr>
                        <a:t>tự</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GM, Bosch</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VDA 5, Q-DAS</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AIAG</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604343">
                <a:tc>
                  <a:txBody>
                    <a:bodyPr/>
                    <a:lstStyle/>
                    <a:p>
                      <a:pPr algn="ctr" latinLnBrk="1"/>
                      <a:r>
                        <a:rPr lang="en-US" altLang="ko-KR" sz="1300" dirty="0" err="1">
                          <a:solidFill>
                            <a:schemeClr val="tx1"/>
                          </a:solidFill>
                        </a:rPr>
                        <a:t>Số</a:t>
                      </a:r>
                      <a:r>
                        <a:rPr lang="en-US" altLang="ko-KR" sz="1300" dirty="0">
                          <a:solidFill>
                            <a:schemeClr val="tx1"/>
                          </a:solidFill>
                        </a:rPr>
                        <a:t> </a:t>
                      </a:r>
                      <a:r>
                        <a:rPr lang="en-US" altLang="ko-KR" sz="1300" dirty="0" err="1">
                          <a:solidFill>
                            <a:schemeClr val="tx1"/>
                          </a:solidFill>
                        </a:rPr>
                        <a:t>vòng</a:t>
                      </a:r>
                      <a:r>
                        <a:rPr lang="en-US" altLang="ko-KR" sz="1300" baseline="0" dirty="0">
                          <a:solidFill>
                            <a:schemeClr val="tx1"/>
                          </a:solidFill>
                        </a:rPr>
                        <a:t> </a:t>
                      </a:r>
                      <a:r>
                        <a:rPr lang="en-US" altLang="ko-KR" sz="1300" baseline="0" dirty="0" err="1">
                          <a:solidFill>
                            <a:schemeClr val="tx1"/>
                          </a:solidFill>
                        </a:rPr>
                        <a:t>lặp</a:t>
                      </a:r>
                      <a:r>
                        <a:rPr lang="en-US" altLang="ko-KR" sz="1300" baseline="0" dirty="0">
                          <a:solidFill>
                            <a:schemeClr val="tx1"/>
                          </a:solidFill>
                        </a:rPr>
                        <a:t> </a:t>
                      </a:r>
                      <a:r>
                        <a:rPr lang="en-US" altLang="ko-KR" sz="1300" baseline="0" dirty="0" err="1">
                          <a:solidFill>
                            <a:schemeClr val="tx1"/>
                          </a:solidFill>
                        </a:rPr>
                        <a:t>lại</a:t>
                      </a:r>
                      <a:endParaRPr lang="en-US" altLang="ko-KR" sz="13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50lần</a:t>
                      </a:r>
                      <a:r>
                        <a:rPr lang="ko-KR" altLang="en-US" sz="1400" dirty="0">
                          <a:solidFill>
                            <a:schemeClr val="tx1"/>
                          </a:solidFill>
                        </a:rPr>
                        <a:t> </a:t>
                      </a:r>
                      <a:r>
                        <a:rPr lang="en-US" altLang="ko-KR" sz="1400" dirty="0">
                          <a:solidFill>
                            <a:schemeClr val="tx1"/>
                          </a:solidFill>
                        </a:rPr>
                        <a:t>(</a:t>
                      </a:r>
                      <a:r>
                        <a:rPr lang="en-US" altLang="ko-KR" sz="1400" dirty="0" err="1">
                          <a:solidFill>
                            <a:schemeClr val="tx1"/>
                          </a:solidFill>
                        </a:rPr>
                        <a:t>tối</a:t>
                      </a:r>
                      <a:r>
                        <a:rPr lang="en-US" altLang="ko-KR" sz="1400" baseline="0" dirty="0">
                          <a:solidFill>
                            <a:schemeClr val="tx1"/>
                          </a:solidFill>
                        </a:rPr>
                        <a:t> </a:t>
                      </a:r>
                      <a:r>
                        <a:rPr lang="en-US" altLang="ko-KR" sz="1400" baseline="0" dirty="0" err="1">
                          <a:solidFill>
                            <a:schemeClr val="tx1"/>
                          </a:solidFill>
                        </a:rPr>
                        <a:t>thiểu</a:t>
                      </a:r>
                      <a:r>
                        <a:rPr lang="en-US" altLang="ko-KR" sz="1400" baseline="0" dirty="0">
                          <a:solidFill>
                            <a:schemeClr val="tx1"/>
                          </a:solidFill>
                        </a:rPr>
                        <a:t> </a:t>
                      </a:r>
                      <a:r>
                        <a:rPr lang="en-US" altLang="ko-KR" sz="1400" dirty="0">
                          <a:solidFill>
                            <a:schemeClr val="tx1"/>
                          </a:solidFill>
                        </a:rPr>
                        <a:t>30lần) GM</a:t>
                      </a:r>
                    </a:p>
                    <a:p>
                      <a:pPr algn="ctr" latinLnBrk="1"/>
                      <a:r>
                        <a:rPr lang="en-US" altLang="ko-KR" sz="1400" dirty="0">
                          <a:solidFill>
                            <a:schemeClr val="tx1"/>
                          </a:solidFill>
                        </a:rPr>
                        <a:t>25lần</a:t>
                      </a:r>
                      <a:r>
                        <a:rPr lang="ko-KR" altLang="en-US" sz="1400" dirty="0">
                          <a:solidFill>
                            <a:schemeClr val="tx1"/>
                          </a:solidFill>
                        </a:rPr>
                        <a:t> </a:t>
                      </a:r>
                      <a:r>
                        <a:rPr lang="en-US" altLang="ko-KR" sz="1400" dirty="0">
                          <a:solidFill>
                            <a:schemeClr val="tx1"/>
                          </a:solidFill>
                        </a:rPr>
                        <a:t>(Bosch)</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err="1">
                          <a:solidFill>
                            <a:schemeClr val="tx1"/>
                          </a:solidFill>
                        </a:rPr>
                        <a:t>Trên</a:t>
                      </a:r>
                      <a:r>
                        <a:rPr lang="en-US" altLang="ko-KR" sz="1400" baseline="0" dirty="0">
                          <a:solidFill>
                            <a:schemeClr val="tx1"/>
                          </a:solidFill>
                        </a:rPr>
                        <a:t> </a:t>
                      </a:r>
                      <a:r>
                        <a:rPr lang="en-US" altLang="ko-KR" sz="1400" dirty="0">
                          <a:solidFill>
                            <a:schemeClr val="tx1"/>
                          </a:solidFill>
                        </a:rPr>
                        <a:t>25 </a:t>
                      </a:r>
                      <a:r>
                        <a:rPr lang="en-US" altLang="ko-KR" sz="1400" dirty="0" err="1">
                          <a:solidFill>
                            <a:schemeClr val="tx1"/>
                          </a:solidFill>
                        </a:rPr>
                        <a:t>lần</a:t>
                      </a:r>
                      <a:r>
                        <a:rPr lang="ko-KR" altLang="en-US" sz="1400" dirty="0">
                          <a:solidFill>
                            <a:schemeClr val="tx1"/>
                          </a:solidFill>
                        </a:rPr>
                        <a:t> </a:t>
                      </a:r>
                      <a:r>
                        <a:rPr lang="en-US" altLang="ko-KR" sz="1400" dirty="0">
                          <a:solidFill>
                            <a:schemeClr val="tx1"/>
                          </a:solidFill>
                        </a:rPr>
                        <a:t>VDA 5</a:t>
                      </a:r>
                    </a:p>
                    <a:p>
                      <a:pPr algn="ctr" latinLnBrk="1"/>
                      <a:r>
                        <a:rPr lang="en-US" altLang="ko-KR" sz="1400" dirty="0">
                          <a:solidFill>
                            <a:schemeClr val="tx1"/>
                          </a:solidFill>
                        </a:rPr>
                        <a:t>50lần</a:t>
                      </a:r>
                      <a:r>
                        <a:rPr lang="ko-KR" altLang="en-US" sz="1400" dirty="0">
                          <a:solidFill>
                            <a:schemeClr val="tx1"/>
                          </a:solidFill>
                        </a:rPr>
                        <a:t> </a:t>
                      </a:r>
                      <a:r>
                        <a:rPr lang="en-US" altLang="ko-KR" sz="1400" dirty="0">
                          <a:solidFill>
                            <a:schemeClr val="tx1"/>
                          </a:solidFill>
                        </a:rPr>
                        <a:t>(</a:t>
                      </a:r>
                      <a:r>
                        <a:rPr lang="en-US" altLang="ko-KR" sz="1400" dirty="0" err="1">
                          <a:solidFill>
                            <a:schemeClr val="tx1"/>
                          </a:solidFill>
                        </a:rPr>
                        <a:t>tối</a:t>
                      </a:r>
                      <a:r>
                        <a:rPr lang="en-US" altLang="ko-KR" sz="1400" baseline="0" dirty="0">
                          <a:solidFill>
                            <a:schemeClr val="tx1"/>
                          </a:solidFill>
                        </a:rPr>
                        <a:t> </a:t>
                      </a:r>
                      <a:r>
                        <a:rPr lang="en-US" altLang="ko-KR" sz="1400" baseline="0" dirty="0" err="1">
                          <a:solidFill>
                            <a:schemeClr val="tx1"/>
                          </a:solidFill>
                        </a:rPr>
                        <a:t>thiểu</a:t>
                      </a:r>
                      <a:r>
                        <a:rPr lang="ko-KR" altLang="en-US" sz="1400" dirty="0">
                          <a:solidFill>
                            <a:schemeClr val="tx1"/>
                          </a:solidFill>
                        </a:rPr>
                        <a:t> </a:t>
                      </a:r>
                      <a:r>
                        <a:rPr lang="en-US" altLang="ko-KR" sz="1400" dirty="0">
                          <a:solidFill>
                            <a:schemeClr val="tx1"/>
                          </a:solidFill>
                        </a:rPr>
                        <a:t>20lần) Q-DAS</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err="1">
                          <a:solidFill>
                            <a:schemeClr val="tx1"/>
                          </a:solidFill>
                        </a:rPr>
                        <a:t>Trên</a:t>
                      </a:r>
                      <a:r>
                        <a:rPr lang="en-US" altLang="ko-KR" sz="1400" baseline="0" dirty="0">
                          <a:solidFill>
                            <a:schemeClr val="tx1"/>
                          </a:solidFill>
                        </a:rPr>
                        <a:t> </a:t>
                      </a:r>
                      <a:r>
                        <a:rPr lang="en-US" altLang="ko-KR" sz="1400" dirty="0">
                          <a:solidFill>
                            <a:schemeClr val="tx1"/>
                          </a:solidFill>
                        </a:rPr>
                        <a:t>10</a:t>
                      </a:r>
                      <a:r>
                        <a:rPr lang="en-US" altLang="ko-KR" sz="1400" baseline="0" dirty="0">
                          <a:solidFill>
                            <a:schemeClr val="tx1"/>
                          </a:solidFill>
                        </a:rPr>
                        <a:t> </a:t>
                      </a:r>
                      <a:r>
                        <a:rPr lang="en-US" altLang="ko-KR" sz="1400" baseline="0" dirty="0" err="1">
                          <a:solidFill>
                            <a:schemeClr val="tx1"/>
                          </a:solidFill>
                        </a:rPr>
                        <a:t>lần</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181135">
                <a:tc>
                  <a:txBody>
                    <a:bodyPr/>
                    <a:lstStyle/>
                    <a:p>
                      <a:pPr algn="ctr" latinLnBrk="1"/>
                      <a:r>
                        <a:rPr lang="en-US" altLang="ko-KR" sz="1400" dirty="0" err="1">
                          <a:solidFill>
                            <a:schemeClr val="tx1"/>
                          </a:solidFill>
                        </a:rPr>
                        <a:t>Chỉ</a:t>
                      </a:r>
                      <a:r>
                        <a:rPr lang="en-US" altLang="ko-KR" sz="1400" dirty="0">
                          <a:solidFill>
                            <a:schemeClr val="tx1"/>
                          </a:solidFill>
                        </a:rPr>
                        <a:t> </a:t>
                      </a:r>
                      <a:r>
                        <a:rPr lang="en-US" altLang="ko-KR" sz="1400" dirty="0" err="1">
                          <a:solidFill>
                            <a:schemeClr val="tx1"/>
                          </a:solidFill>
                        </a:rPr>
                        <a:t>tiêu</a:t>
                      </a:r>
                      <a:r>
                        <a:rPr lang="en-US" altLang="ko-KR" sz="1400" baseline="0" dirty="0">
                          <a:solidFill>
                            <a:schemeClr val="tx1"/>
                          </a:solidFill>
                        </a:rPr>
                        <a:t> </a:t>
                      </a:r>
                      <a:r>
                        <a:rPr lang="en-US" altLang="ko-KR" sz="1400" baseline="0" dirty="0" err="1">
                          <a:solidFill>
                            <a:schemeClr val="tx1"/>
                          </a:solidFill>
                        </a:rPr>
                        <a:t>năng</a:t>
                      </a:r>
                      <a:r>
                        <a:rPr lang="en-US" altLang="ko-KR" sz="1400" baseline="0" dirty="0">
                          <a:solidFill>
                            <a:schemeClr val="tx1"/>
                          </a:solidFill>
                        </a:rPr>
                        <a:t> </a:t>
                      </a:r>
                      <a:r>
                        <a:rPr lang="en-US" altLang="ko-KR" sz="1400" baseline="0" dirty="0" err="1">
                          <a:solidFill>
                            <a:schemeClr val="tx1"/>
                          </a:solidFill>
                        </a:rPr>
                        <a:t>lực</a:t>
                      </a:r>
                      <a:r>
                        <a:rPr lang="en-US" altLang="ko-KR" sz="1400" baseline="0" dirty="0">
                          <a:solidFill>
                            <a:schemeClr val="tx1"/>
                          </a:solidFill>
                        </a:rPr>
                        <a:t> </a:t>
                      </a:r>
                      <a:r>
                        <a:rPr lang="en-US" altLang="ko-KR" sz="1400" baseline="0" dirty="0" err="1">
                          <a:solidFill>
                            <a:schemeClr val="tx1"/>
                          </a:solidFill>
                        </a:rPr>
                        <a:t>đo</a:t>
                      </a:r>
                      <a:r>
                        <a:rPr lang="en-US" altLang="ko-KR" sz="1400" baseline="0" dirty="0">
                          <a:solidFill>
                            <a:schemeClr val="tx1"/>
                          </a:solidFill>
                        </a:rPr>
                        <a:t> </a:t>
                      </a:r>
                      <a:r>
                        <a:rPr lang="en-US" altLang="ko-KR" sz="1400" baseline="0" dirty="0" err="1">
                          <a:solidFill>
                            <a:schemeClr val="tx1"/>
                          </a:solidFill>
                        </a:rPr>
                        <a:t>đạc</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648072">
                <a:tc>
                  <a:txBody>
                    <a:bodyPr/>
                    <a:lstStyle/>
                    <a:p>
                      <a:pPr algn="ctr" latinLnBrk="1"/>
                      <a:r>
                        <a:rPr lang="en-US" altLang="ko-KR" sz="1400" dirty="0" err="1">
                          <a:solidFill>
                            <a:schemeClr val="tx1"/>
                          </a:solidFill>
                        </a:rPr>
                        <a:t>Tiêu</a:t>
                      </a:r>
                      <a:r>
                        <a:rPr lang="en-US" altLang="ko-KR" sz="1400" baseline="0" dirty="0">
                          <a:solidFill>
                            <a:schemeClr val="tx1"/>
                          </a:solidFill>
                        </a:rPr>
                        <a:t> </a:t>
                      </a:r>
                      <a:r>
                        <a:rPr lang="en-US" altLang="ko-KR" sz="1400" baseline="0" dirty="0" err="1">
                          <a:solidFill>
                            <a:schemeClr val="tx1"/>
                          </a:solidFill>
                        </a:rPr>
                        <a:t>chuẩn</a:t>
                      </a:r>
                      <a:r>
                        <a:rPr lang="en-US" altLang="ko-KR" sz="1400" baseline="0" dirty="0">
                          <a:solidFill>
                            <a:schemeClr val="tx1"/>
                          </a:solidFill>
                        </a:rPr>
                        <a:t> </a:t>
                      </a:r>
                      <a:r>
                        <a:rPr lang="en-US" altLang="ko-KR" sz="1400" baseline="0" dirty="0" err="1">
                          <a:solidFill>
                            <a:schemeClr val="tx1"/>
                          </a:solidFill>
                        </a:rPr>
                        <a:t>đạt</a:t>
                      </a:r>
                      <a:endParaRPr lang="en-US" altLang="ko-KR"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Cg, </a:t>
                      </a:r>
                      <a:r>
                        <a:rPr lang="en-US" altLang="ko-KR" sz="1400" dirty="0" err="1">
                          <a:solidFill>
                            <a:schemeClr val="tx1"/>
                          </a:solidFill>
                        </a:rPr>
                        <a:t>Cgk</a:t>
                      </a:r>
                      <a:r>
                        <a:rPr lang="en-US" altLang="ko-KR" sz="1400" baseline="0" dirty="0">
                          <a:solidFill>
                            <a:schemeClr val="tx1"/>
                          </a:solidFill>
                        </a:rPr>
                        <a:t> </a:t>
                      </a:r>
                      <a:r>
                        <a:rPr lang="ko-KR" altLang="en-US" sz="1400" baseline="0" dirty="0">
                          <a:solidFill>
                            <a:schemeClr val="tx1"/>
                          </a:solidFill>
                        </a:rPr>
                        <a:t>≥ </a:t>
                      </a:r>
                      <a:r>
                        <a:rPr lang="en-US" altLang="ko-KR" sz="1400" baseline="0" dirty="0">
                          <a:solidFill>
                            <a:schemeClr val="tx1"/>
                          </a:solidFill>
                        </a:rPr>
                        <a:t>1.33</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dirty="0">
                          <a:solidFill>
                            <a:schemeClr val="tx1"/>
                          </a:solidFill>
                        </a:rPr>
                        <a:t>Cg, </a:t>
                      </a:r>
                      <a:r>
                        <a:rPr lang="en-US" altLang="ko-KR" sz="1400" dirty="0" err="1">
                          <a:solidFill>
                            <a:schemeClr val="tx1"/>
                          </a:solidFill>
                        </a:rPr>
                        <a:t>Cgk</a:t>
                      </a:r>
                      <a:r>
                        <a:rPr lang="en-US" altLang="ko-KR" sz="1400" baseline="0" dirty="0">
                          <a:solidFill>
                            <a:schemeClr val="tx1"/>
                          </a:solidFill>
                        </a:rPr>
                        <a:t> </a:t>
                      </a:r>
                      <a:r>
                        <a:rPr lang="ko-KR" altLang="en-US" sz="1400" baseline="0" dirty="0">
                          <a:solidFill>
                            <a:schemeClr val="tx1"/>
                          </a:solidFill>
                        </a:rPr>
                        <a:t>≥ </a:t>
                      </a:r>
                      <a:r>
                        <a:rPr lang="en-US" altLang="ko-KR" sz="1400" baseline="0" dirty="0">
                          <a:solidFill>
                            <a:schemeClr val="tx1"/>
                          </a:solidFill>
                        </a:rPr>
                        <a:t>1.33</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400" dirty="0">
                          <a:solidFill>
                            <a:schemeClr val="tx1"/>
                          </a:solidFill>
                        </a:rPr>
                        <a:t>%EV </a:t>
                      </a:r>
                      <a:r>
                        <a:rPr lang="ko-KR" altLang="en-US" sz="1400" dirty="0">
                          <a:solidFill>
                            <a:schemeClr val="tx1"/>
                          </a:solidFill>
                        </a:rPr>
                        <a:t>≤ </a:t>
                      </a:r>
                      <a:r>
                        <a:rPr lang="en-US" altLang="ko-KR" sz="1400" dirty="0">
                          <a:solidFill>
                            <a:schemeClr val="tx1"/>
                          </a:solidFill>
                        </a:rPr>
                        <a:t>30% </a:t>
                      </a:r>
                    </a:p>
                    <a:p>
                      <a:pPr algn="ctr" latinLnBrk="1"/>
                      <a:r>
                        <a:rPr lang="en-US" altLang="ko-KR" sz="1400" dirty="0">
                          <a:solidFill>
                            <a:schemeClr val="tx1"/>
                          </a:solidFill>
                        </a:rPr>
                        <a:t>Accept</a:t>
                      </a:r>
                      <a:r>
                        <a:rPr lang="en-US" altLang="ko-KR" sz="1400" baseline="0" dirty="0">
                          <a:solidFill>
                            <a:schemeClr val="tx1"/>
                          </a:solidFill>
                        </a:rPr>
                        <a:t> H0</a:t>
                      </a:r>
                      <a:endParaRPr lang="ko-KR" altLang="en-US" sz="14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bl>
          </a:graphicData>
        </a:graphic>
      </p:graphicFrame>
      <p:sp>
        <p:nvSpPr>
          <p:cNvPr id="7" name="TextBox 6"/>
          <p:cNvSpPr txBox="1"/>
          <p:nvPr/>
        </p:nvSpPr>
        <p:spPr>
          <a:xfrm>
            <a:off x="3635896" y="2564904"/>
            <a:ext cx="2165721" cy="338554"/>
          </a:xfrm>
          <a:prstGeom prst="rect">
            <a:avLst/>
          </a:prstGeom>
          <a:noFill/>
        </p:spPr>
        <p:txBody>
          <a:bodyPr wrap="none" rtlCol="0">
            <a:spAutoFit/>
          </a:bodyPr>
          <a:lstStyle/>
          <a:p>
            <a:r>
              <a:rPr lang="en-US" altLang="ko-KR" sz="1600" dirty="0"/>
              <a:t>Type 1 Study </a:t>
            </a:r>
            <a:r>
              <a:rPr lang="en-US" altLang="ko-KR" sz="1600" dirty="0" err="1"/>
              <a:t>tóm</a:t>
            </a:r>
            <a:r>
              <a:rPr lang="en-US" altLang="ko-KR" sz="1600" dirty="0"/>
              <a:t> </a:t>
            </a:r>
            <a:r>
              <a:rPr lang="en-US" altLang="ko-KR" sz="1600" dirty="0" err="1"/>
              <a:t>tắt</a:t>
            </a:r>
            <a:endParaRPr lang="ko-KR" altLang="en-US" sz="1600" dirty="0"/>
          </a:p>
        </p:txBody>
      </p:sp>
      <p:graphicFrame>
        <p:nvGraphicFramePr>
          <p:cNvPr id="8" name="개체 7"/>
          <p:cNvGraphicFramePr>
            <a:graphicFrameLocks noChangeAspect="1"/>
          </p:cNvGraphicFramePr>
          <p:nvPr>
            <p:extLst>
              <p:ext uri="{D42A27DB-BD31-4B8C-83A1-F6EECF244321}">
                <p14:modId xmlns:p14="http://schemas.microsoft.com/office/powerpoint/2010/main" val="902009949"/>
              </p:ext>
            </p:extLst>
          </p:nvPr>
        </p:nvGraphicFramePr>
        <p:xfrm>
          <a:off x="1691679" y="5027590"/>
          <a:ext cx="2088233" cy="457389"/>
        </p:xfrm>
        <a:graphic>
          <a:graphicData uri="http://schemas.openxmlformats.org/presentationml/2006/ole">
            <mc:AlternateContent xmlns:mc="http://schemas.openxmlformats.org/markup-compatibility/2006">
              <mc:Choice xmlns:v="urn:schemas-microsoft-com:vml" Requires="v">
                <p:oleObj name="수식" r:id="rId3" imgW="2145960" imgH="444240" progId="Equation.3">
                  <p:embed/>
                </p:oleObj>
              </mc:Choice>
              <mc:Fallback>
                <p:oleObj name="수식" r:id="rId3" imgW="2145960" imgH="444240" progId="Equation.3">
                  <p:embed/>
                  <p:pic>
                    <p:nvPicPr>
                      <p:cNvPr id="8" name="개체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1679" y="5027590"/>
                        <a:ext cx="2088233" cy="45738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개체 8"/>
          <p:cNvGraphicFramePr>
            <a:graphicFrameLocks noChangeAspect="1"/>
          </p:cNvGraphicFramePr>
          <p:nvPr>
            <p:extLst>
              <p:ext uri="{D42A27DB-BD31-4B8C-83A1-F6EECF244321}">
                <p14:modId xmlns:p14="http://schemas.microsoft.com/office/powerpoint/2010/main" val="826855300"/>
              </p:ext>
            </p:extLst>
          </p:nvPr>
        </p:nvGraphicFramePr>
        <p:xfrm>
          <a:off x="1907705" y="4581128"/>
          <a:ext cx="1525588" cy="416550"/>
        </p:xfrm>
        <a:graphic>
          <a:graphicData uri="http://schemas.openxmlformats.org/presentationml/2006/ole">
            <mc:AlternateContent xmlns:mc="http://schemas.openxmlformats.org/markup-compatibility/2006">
              <mc:Choice xmlns:v="urn:schemas-microsoft-com:vml" Requires="v">
                <p:oleObj name="수식" r:id="rId5" imgW="1447172" imgH="406224" progId="Equation.3">
                  <p:embed/>
                </p:oleObj>
              </mc:Choice>
              <mc:Fallback>
                <p:oleObj name="수식" r:id="rId5" imgW="1447172" imgH="406224" progId="Equation.3">
                  <p:embed/>
                  <p:pic>
                    <p:nvPicPr>
                      <p:cNvPr id="9" name="개체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7705" y="4581128"/>
                        <a:ext cx="1525588" cy="416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개체 9"/>
          <p:cNvGraphicFramePr>
            <a:graphicFrameLocks noChangeAspect="1"/>
          </p:cNvGraphicFramePr>
          <p:nvPr>
            <p:extLst>
              <p:ext uri="{D42A27DB-BD31-4B8C-83A1-F6EECF244321}">
                <p14:modId xmlns:p14="http://schemas.microsoft.com/office/powerpoint/2010/main" val="229517914"/>
              </p:ext>
            </p:extLst>
          </p:nvPr>
        </p:nvGraphicFramePr>
        <p:xfrm>
          <a:off x="4067944" y="5010178"/>
          <a:ext cx="2088233" cy="483614"/>
        </p:xfrm>
        <a:graphic>
          <a:graphicData uri="http://schemas.openxmlformats.org/presentationml/2006/ole">
            <mc:AlternateContent xmlns:mc="http://schemas.openxmlformats.org/markup-compatibility/2006">
              <mc:Choice xmlns:v="urn:schemas-microsoft-com:vml" Requires="v">
                <p:oleObj name="수식" r:id="rId7" imgW="2145960" imgH="444240" progId="Equation.3">
                  <p:embed/>
                </p:oleObj>
              </mc:Choice>
              <mc:Fallback>
                <p:oleObj name="수식" r:id="rId7" imgW="2145960" imgH="444240" progId="Equation.3">
                  <p:embed/>
                  <p:pic>
                    <p:nvPicPr>
                      <p:cNvPr id="10" name="개체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67944" y="5010178"/>
                        <a:ext cx="2088233" cy="4836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개체 10"/>
          <p:cNvGraphicFramePr>
            <a:graphicFrameLocks noChangeAspect="1"/>
          </p:cNvGraphicFramePr>
          <p:nvPr>
            <p:extLst>
              <p:ext uri="{D42A27DB-BD31-4B8C-83A1-F6EECF244321}">
                <p14:modId xmlns:p14="http://schemas.microsoft.com/office/powerpoint/2010/main" val="3299431489"/>
              </p:ext>
            </p:extLst>
          </p:nvPr>
        </p:nvGraphicFramePr>
        <p:xfrm>
          <a:off x="4139952" y="4509120"/>
          <a:ext cx="1525588" cy="440434"/>
        </p:xfrm>
        <a:graphic>
          <a:graphicData uri="http://schemas.openxmlformats.org/presentationml/2006/ole">
            <mc:AlternateContent xmlns:mc="http://schemas.openxmlformats.org/markup-compatibility/2006">
              <mc:Choice xmlns:v="urn:schemas-microsoft-com:vml" Requires="v">
                <p:oleObj name="수식" r:id="rId9" imgW="1447560" imgH="406080" progId="Equation.3">
                  <p:embed/>
                </p:oleObj>
              </mc:Choice>
              <mc:Fallback>
                <p:oleObj name="수식" r:id="rId9" imgW="1447560" imgH="406080" progId="Equation.3">
                  <p:embed/>
                  <p:pic>
                    <p:nvPicPr>
                      <p:cNvPr id="11" name="개체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39952" y="4509120"/>
                        <a:ext cx="1525588" cy="44043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TextBox 14"/>
          <p:cNvSpPr txBox="1"/>
          <p:nvPr/>
        </p:nvSpPr>
        <p:spPr>
          <a:xfrm>
            <a:off x="6565278" y="5110943"/>
            <a:ext cx="663002" cy="307777"/>
          </a:xfrm>
          <a:prstGeom prst="rect">
            <a:avLst/>
          </a:prstGeom>
          <a:noFill/>
        </p:spPr>
        <p:txBody>
          <a:bodyPr wrap="none" rtlCol="0">
            <a:spAutoFit/>
          </a:bodyPr>
          <a:lstStyle/>
          <a:p>
            <a:r>
              <a:rPr lang="en-US" altLang="ko-KR" sz="1200" dirty="0"/>
              <a:t> </a:t>
            </a:r>
            <a:r>
              <a:rPr lang="en-US" altLang="ko-KR" sz="1400" dirty="0"/>
              <a:t>t-test</a:t>
            </a:r>
            <a:endParaRPr lang="ko-KR" altLang="en-US" sz="1200" dirty="0"/>
          </a:p>
        </p:txBody>
      </p:sp>
      <p:graphicFrame>
        <p:nvGraphicFramePr>
          <p:cNvPr id="14" name="개체 13"/>
          <p:cNvGraphicFramePr>
            <a:graphicFrameLocks noChangeAspect="1"/>
          </p:cNvGraphicFramePr>
          <p:nvPr>
            <p:extLst>
              <p:ext uri="{D42A27DB-BD31-4B8C-83A1-F6EECF244321}">
                <p14:modId xmlns:p14="http://schemas.microsoft.com/office/powerpoint/2010/main" val="3153238450"/>
              </p:ext>
            </p:extLst>
          </p:nvPr>
        </p:nvGraphicFramePr>
        <p:xfrm>
          <a:off x="6800850" y="4508500"/>
          <a:ext cx="1217613" cy="441325"/>
        </p:xfrm>
        <a:graphic>
          <a:graphicData uri="http://schemas.openxmlformats.org/presentationml/2006/ole">
            <mc:AlternateContent xmlns:mc="http://schemas.openxmlformats.org/markup-compatibility/2006">
              <mc:Choice xmlns:v="urn:schemas-microsoft-com:vml" Requires="v">
                <p:oleObj name="수식" r:id="rId11" imgW="1155600" imgH="406080" progId="Equation.3">
                  <p:embed/>
                </p:oleObj>
              </mc:Choice>
              <mc:Fallback>
                <p:oleObj name="수식" r:id="rId11" imgW="1155600" imgH="406080" progId="Equation.3">
                  <p:embed/>
                  <p:pic>
                    <p:nvPicPr>
                      <p:cNvPr id="14" name="개체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800850" y="4508500"/>
                        <a:ext cx="1217613" cy="441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7" name="개체 16"/>
          <p:cNvGraphicFramePr>
            <a:graphicFrameLocks noChangeAspect="1"/>
          </p:cNvGraphicFramePr>
          <p:nvPr>
            <p:extLst>
              <p:ext uri="{D42A27DB-BD31-4B8C-83A1-F6EECF244321}">
                <p14:modId xmlns:p14="http://schemas.microsoft.com/office/powerpoint/2010/main" val="1635700439"/>
              </p:ext>
            </p:extLst>
          </p:nvPr>
        </p:nvGraphicFramePr>
        <p:xfrm>
          <a:off x="7380312" y="5130688"/>
          <a:ext cx="1042987" cy="247650"/>
        </p:xfrm>
        <a:graphic>
          <a:graphicData uri="http://schemas.openxmlformats.org/presentationml/2006/ole">
            <mc:AlternateContent xmlns:mc="http://schemas.openxmlformats.org/markup-compatibility/2006">
              <mc:Choice xmlns:v="urn:schemas-microsoft-com:vml" Requires="v">
                <p:oleObj name="수식" r:id="rId13" imgW="990360" imgH="228600" progId="Equation.3">
                  <p:embed/>
                </p:oleObj>
              </mc:Choice>
              <mc:Fallback>
                <p:oleObj name="수식" r:id="rId13" imgW="990360" imgH="228600" progId="Equation.3">
                  <p:embed/>
                  <p:pic>
                    <p:nvPicPr>
                      <p:cNvPr id="17" name="개체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380312" y="5130688"/>
                        <a:ext cx="1042987" cy="247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51</a:t>
            </a:fld>
            <a:endParaRPr lang="ko-KR" altLang="en-US" dirty="0"/>
          </a:p>
        </p:txBody>
      </p:sp>
      <p:pic>
        <p:nvPicPr>
          <p:cNvPr id="18" name="Picture 17"/>
          <p:cNvPicPr>
            <a:picLocks noChangeAspect="1"/>
          </p:cNvPicPr>
          <p:nvPr/>
        </p:nvPicPr>
        <p:blipFill>
          <a:blip r:embed="rId15" cstate="print">
            <a:extLst>
              <a:ext uri="{28A0092B-C50C-407E-A947-70E740481C1C}">
                <a14:useLocalDpi xmlns:a14="http://schemas.microsoft.com/office/drawing/2010/main"/>
              </a:ext>
            </a:extLst>
          </a:blip>
          <a:stretch>
            <a:fillRect/>
          </a:stretch>
        </p:blipFill>
        <p:spPr>
          <a:xfrm>
            <a:off x="9371015" y="1520466"/>
            <a:ext cx="2979995" cy="3973326"/>
          </a:xfrm>
          <a:prstGeom prst="rect">
            <a:avLst/>
          </a:prstGeom>
        </p:spPr>
      </p:pic>
      <p:pic>
        <p:nvPicPr>
          <p:cNvPr id="6" name="Picture 5"/>
          <p:cNvPicPr>
            <a:picLocks noChangeAspect="1"/>
          </p:cNvPicPr>
          <p:nvPr/>
        </p:nvPicPr>
        <p:blipFill>
          <a:blip r:embed="rId16"/>
          <a:stretch>
            <a:fillRect/>
          </a:stretch>
        </p:blipFill>
        <p:spPr>
          <a:xfrm>
            <a:off x="9352902" y="4757884"/>
            <a:ext cx="2864644" cy="2146238"/>
          </a:xfrm>
          <a:prstGeom prst="rect">
            <a:avLst/>
          </a:prstGeom>
        </p:spPr>
      </p:pic>
      <p:sp>
        <p:nvSpPr>
          <p:cNvPr id="12" name="Rectangle 11"/>
          <p:cNvSpPr/>
          <p:nvPr/>
        </p:nvSpPr>
        <p:spPr>
          <a:xfrm>
            <a:off x="1691679" y="4508500"/>
            <a:ext cx="3240361" cy="10807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t>Cần</a:t>
            </a:r>
            <a:r>
              <a:rPr lang="en-US" dirty="0"/>
              <a:t> </a:t>
            </a:r>
            <a:r>
              <a:rPr lang="en-US" dirty="0" err="1"/>
              <a:t>giai</a:t>
            </a:r>
            <a:r>
              <a:rPr lang="en-US" dirty="0"/>
              <a:t> </a:t>
            </a:r>
            <a:r>
              <a:rPr lang="en-US" dirty="0" err="1"/>
              <a:t>thích</a:t>
            </a:r>
            <a:r>
              <a:rPr lang="en-US" dirty="0"/>
              <a:t> </a:t>
            </a:r>
            <a:r>
              <a:rPr lang="en-US" dirty="0" err="1"/>
              <a:t>về</a:t>
            </a:r>
            <a:r>
              <a:rPr lang="en-US" dirty="0"/>
              <a:t> </a:t>
            </a:r>
            <a:r>
              <a:rPr lang="en-US" dirty="0" err="1"/>
              <a:t>cthuc</a:t>
            </a:r>
            <a:r>
              <a:rPr lang="en-US" dirty="0"/>
              <a:t> nay</a:t>
            </a:r>
          </a:p>
        </p:txBody>
      </p:sp>
      <p:pic>
        <p:nvPicPr>
          <p:cNvPr id="13" name="Picture 12"/>
          <p:cNvPicPr>
            <a:picLocks noChangeAspect="1"/>
          </p:cNvPicPr>
          <p:nvPr/>
        </p:nvPicPr>
        <p:blipFill>
          <a:blip r:embed="rId17"/>
          <a:stretch>
            <a:fillRect/>
          </a:stretch>
        </p:blipFill>
        <p:spPr>
          <a:xfrm>
            <a:off x="-2532671" y="3357562"/>
            <a:ext cx="2055250" cy="2743200"/>
          </a:xfrm>
          <a:prstGeom prst="rect">
            <a:avLst/>
          </a:prstGeom>
        </p:spPr>
      </p:pic>
    </p:spTree>
    <p:extLst>
      <p:ext uri="{BB962C8B-B14F-4D97-AF65-F5344CB8AC3E}">
        <p14:creationId xmlns:p14="http://schemas.microsoft.com/office/powerpoint/2010/main" val="19409019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p:cNvSpPr/>
          <p:nvPr/>
        </p:nvSpPr>
        <p:spPr>
          <a:xfrm>
            <a:off x="323528" y="980728"/>
            <a:ext cx="8568952" cy="209108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2" name="TextBox 1"/>
          <p:cNvSpPr txBox="1"/>
          <p:nvPr/>
        </p:nvSpPr>
        <p:spPr>
          <a:xfrm>
            <a:off x="179512" y="148570"/>
            <a:ext cx="3211520" cy="400110"/>
          </a:xfrm>
          <a:prstGeom prst="rect">
            <a:avLst/>
          </a:prstGeom>
          <a:noFill/>
        </p:spPr>
        <p:txBody>
          <a:bodyPr wrap="none" rtlCol="0">
            <a:spAutoFit/>
          </a:bodyPr>
          <a:lstStyle/>
          <a:p>
            <a:r>
              <a:rPr lang="en-US" altLang="ko-KR" sz="2000" b="1" dirty="0"/>
              <a:t>Type 1 Study Case Study</a:t>
            </a:r>
            <a:endParaRPr lang="ko-KR" altLang="en-US" sz="2000" b="1" dirty="0"/>
          </a:p>
        </p:txBody>
      </p:sp>
      <p:sp>
        <p:nvSpPr>
          <p:cNvPr id="3" name="TextBox 2"/>
          <p:cNvSpPr txBox="1"/>
          <p:nvPr/>
        </p:nvSpPr>
        <p:spPr>
          <a:xfrm>
            <a:off x="6572264" y="188640"/>
            <a:ext cx="2403158" cy="369332"/>
          </a:xfrm>
          <a:prstGeom prst="rect">
            <a:avLst/>
          </a:prstGeom>
          <a:noFill/>
        </p:spPr>
        <p:txBody>
          <a:bodyPr wrap="none" rtlCol="0">
            <a:spAutoFit/>
          </a:bodyPr>
          <a:lstStyle/>
          <a:p>
            <a:r>
              <a:rPr lang="en-US" altLang="ko-KR" dirty="0"/>
              <a:t>(Both sides standard)</a:t>
            </a:r>
            <a:endParaRPr lang="ko-KR" altLang="en-US" dirty="0"/>
          </a:p>
        </p:txBody>
      </p:sp>
      <p:sp>
        <p:nvSpPr>
          <p:cNvPr id="4" name="TextBox 3"/>
          <p:cNvSpPr txBox="1"/>
          <p:nvPr/>
        </p:nvSpPr>
        <p:spPr>
          <a:xfrm>
            <a:off x="422445" y="1052736"/>
            <a:ext cx="8364397" cy="2031325"/>
          </a:xfrm>
          <a:prstGeom prst="rect">
            <a:avLst/>
          </a:prstGeom>
          <a:noFill/>
        </p:spPr>
        <p:txBody>
          <a:bodyPr wrap="square" rtlCol="0">
            <a:spAutoFit/>
          </a:bodyPr>
          <a:lstStyle/>
          <a:p>
            <a:pPr>
              <a:lnSpc>
                <a:spcPct val="150000"/>
              </a:lnSpc>
            </a:pPr>
            <a:r>
              <a:rPr lang="en-US" sz="1400" dirty="0"/>
              <a:t>One electrode manufacturer will evaluate the measurement capability of a measuring instrument measuring the outer diameter of an electrode axis. The resolution of this instrument is 0.0001 mm digital </a:t>
            </a:r>
            <a:r>
              <a:rPr lang="en-US" sz="1400" dirty="0" err="1"/>
              <a:t>vernier</a:t>
            </a:r>
            <a:r>
              <a:rPr lang="en-US" sz="1400" dirty="0"/>
              <a:t> calipers. The specifications of this electrode are LSL 12.28 mm and USL 12.33 mm. For the Type 1 Gage Study, the reference value </a:t>
            </a:r>
            <a:r>
              <a:rPr lang="en-US" sz="1400" dirty="0" err="1"/>
              <a:t>xm</a:t>
            </a:r>
            <a:r>
              <a:rPr lang="en-US" sz="1400" dirty="0"/>
              <a:t> = 12.305 mm was repeatedly measured 50 times with the instrument and the following data were obtained. Type 1 Study to determine whether or not you have passed the Gage.</a:t>
            </a:r>
            <a:endParaRPr lang="ko-KR" altLang="en-US" sz="1400" dirty="0"/>
          </a:p>
        </p:txBody>
      </p:sp>
      <p:graphicFrame>
        <p:nvGraphicFramePr>
          <p:cNvPr id="7" name="표 6"/>
          <p:cNvGraphicFramePr>
            <a:graphicFrameLocks noGrp="1"/>
          </p:cNvGraphicFramePr>
          <p:nvPr>
            <p:extLst>
              <p:ext uri="{D42A27DB-BD31-4B8C-83A1-F6EECF244321}">
                <p14:modId xmlns:p14="http://schemas.microsoft.com/office/powerpoint/2010/main" val="24142068"/>
              </p:ext>
            </p:extLst>
          </p:nvPr>
        </p:nvGraphicFramePr>
        <p:xfrm>
          <a:off x="1016000" y="3790766"/>
          <a:ext cx="7112000" cy="1852812"/>
        </p:xfrm>
        <a:graphic>
          <a:graphicData uri="http://schemas.openxmlformats.org/drawingml/2006/table">
            <a:tbl>
              <a:tblPr/>
              <a:tblGrid>
                <a:gridCol w="711200">
                  <a:extLst>
                    <a:ext uri="{9D8B030D-6E8A-4147-A177-3AD203B41FA5}">
                      <a16:colId xmlns:a16="http://schemas.microsoft.com/office/drawing/2014/main" val="20000"/>
                    </a:ext>
                  </a:extLst>
                </a:gridCol>
                <a:gridCol w="71120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711200">
                  <a:extLst>
                    <a:ext uri="{9D8B030D-6E8A-4147-A177-3AD203B41FA5}">
                      <a16:colId xmlns:a16="http://schemas.microsoft.com/office/drawing/2014/main" val="20007"/>
                    </a:ext>
                  </a:extLst>
                </a:gridCol>
                <a:gridCol w="711200">
                  <a:extLst>
                    <a:ext uri="{9D8B030D-6E8A-4147-A177-3AD203B41FA5}">
                      <a16:colId xmlns:a16="http://schemas.microsoft.com/office/drawing/2014/main" val="20008"/>
                    </a:ext>
                  </a:extLst>
                </a:gridCol>
                <a:gridCol w="711200">
                  <a:extLst>
                    <a:ext uri="{9D8B030D-6E8A-4147-A177-3AD203B41FA5}">
                      <a16:colId xmlns:a16="http://schemas.microsoft.com/office/drawing/2014/main" val="20009"/>
                    </a:ext>
                  </a:extLst>
                </a:gridCol>
              </a:tblGrid>
              <a:tr h="368457">
                <a:tc>
                  <a:txBody>
                    <a:bodyPr/>
                    <a:lstStyle/>
                    <a:p>
                      <a:pPr algn="ctr" fontAlgn="ctr"/>
                      <a:r>
                        <a:rPr lang="en-US" altLang="ko-KR" sz="1200" b="0" i="0" u="none" strike="noStrike" dirty="0">
                          <a:solidFill>
                            <a:srgbClr val="000000"/>
                          </a:solidFill>
                          <a:effectLst/>
                          <a:latin typeface="맑은 고딕"/>
                        </a:rPr>
                        <a:t>12.3057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12.3009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12.2975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12.2965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12.2986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68457">
                <a:tc>
                  <a:txBody>
                    <a:bodyPr/>
                    <a:lstStyle/>
                    <a:p>
                      <a:pPr algn="ctr" fontAlgn="ctr"/>
                      <a:r>
                        <a:rPr lang="en-US" altLang="ko-KR" sz="1200" b="0" i="0" u="none" strike="noStrike">
                          <a:solidFill>
                            <a:srgbClr val="000000"/>
                          </a:solidFill>
                          <a:effectLst/>
                          <a:latin typeface="맑은 고딕"/>
                        </a:rPr>
                        <a:t>12.3051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12.3091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12.2977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12.3081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12.2944</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68457">
                <a:tc>
                  <a:txBody>
                    <a:bodyPr/>
                    <a:lstStyle/>
                    <a:p>
                      <a:pPr algn="ctr" fontAlgn="ctr"/>
                      <a:r>
                        <a:rPr lang="en-US" altLang="ko-KR" sz="1200" b="0" i="0" u="none" strike="noStrike">
                          <a:solidFill>
                            <a:srgbClr val="000000"/>
                          </a:solidFill>
                          <a:effectLst/>
                          <a:latin typeface="맑은 고딕"/>
                        </a:rPr>
                        <a:t>12.3046</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12.3045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12.3054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12.2953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12.2954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12.3047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12.3035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12.3003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68457">
                <a:tc>
                  <a:txBody>
                    <a:bodyPr/>
                    <a:lstStyle/>
                    <a:p>
                      <a:pPr algn="ctr" fontAlgn="ctr"/>
                      <a:r>
                        <a:rPr lang="en-US" altLang="ko-KR" sz="1200" b="0" i="0" u="none" strike="noStrike">
                          <a:solidFill>
                            <a:srgbClr val="000000"/>
                          </a:solidFill>
                          <a:effectLst/>
                          <a:latin typeface="맑은 고딕"/>
                        </a:rPr>
                        <a:t>12.3044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12.2998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12.3034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12.3045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12.3021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78984">
                <a:tc>
                  <a:txBody>
                    <a:bodyPr/>
                    <a:lstStyle/>
                    <a:p>
                      <a:pPr algn="ctr" fontAlgn="ctr"/>
                      <a:r>
                        <a:rPr lang="en-US" altLang="ko-KR" sz="1200" b="0" i="0" u="none" strike="noStrike">
                          <a:solidFill>
                            <a:srgbClr val="000000"/>
                          </a:solidFill>
                          <a:effectLst/>
                          <a:latin typeface="맑은 고딕"/>
                        </a:rPr>
                        <a:t>12.3037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12.2997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12.3038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12.3076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12.3063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12.2981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12.2965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12.3082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12.3034</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52</a:t>
            </a:fld>
            <a:endParaRPr lang="ko-KR" altLang="en-US" dirty="0"/>
          </a:p>
        </p:txBody>
      </p:sp>
    </p:spTree>
    <p:extLst>
      <p:ext uri="{BB962C8B-B14F-4D97-AF65-F5344CB8AC3E}">
        <p14:creationId xmlns:p14="http://schemas.microsoft.com/office/powerpoint/2010/main" val="114532434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81155" cy="400110"/>
          </a:xfrm>
          <a:prstGeom prst="rect">
            <a:avLst/>
          </a:prstGeom>
          <a:noFill/>
        </p:spPr>
        <p:txBody>
          <a:bodyPr wrap="none" rtlCol="0">
            <a:spAutoFit/>
          </a:bodyPr>
          <a:lstStyle/>
          <a:p>
            <a:r>
              <a:rPr lang="en-US" altLang="ko-KR" sz="2000" b="1" dirty="0"/>
              <a:t>Type 1 Study Case study</a:t>
            </a:r>
            <a:r>
              <a:rPr lang="ko-KR" altLang="en-US" sz="2000" b="1" dirty="0"/>
              <a:t> </a:t>
            </a:r>
          </a:p>
        </p:txBody>
      </p:sp>
      <p:sp>
        <p:nvSpPr>
          <p:cNvPr id="5" name="TextBox 4"/>
          <p:cNvSpPr txBox="1"/>
          <p:nvPr/>
        </p:nvSpPr>
        <p:spPr>
          <a:xfrm>
            <a:off x="683568" y="980728"/>
            <a:ext cx="6556347" cy="307777"/>
          </a:xfrm>
          <a:prstGeom prst="rect">
            <a:avLst/>
          </a:prstGeom>
          <a:noFill/>
        </p:spPr>
        <p:txBody>
          <a:bodyPr wrap="none" rtlCol="0">
            <a:spAutoFit/>
          </a:bodyPr>
          <a:lstStyle/>
          <a:p>
            <a:r>
              <a:rPr lang="en-US" altLang="ko-KR" sz="1400" dirty="0"/>
              <a:t>Type 1 study using Excel.   ( Gage R&amp;R Worksheet &gt; Both sides Type 1 Gage)</a:t>
            </a:r>
            <a:endParaRPr lang="ko-KR" altLang="en-US" sz="1400" dirty="0"/>
          </a:p>
        </p:txBody>
      </p:sp>
      <p:graphicFrame>
        <p:nvGraphicFramePr>
          <p:cNvPr id="6" name="표 5"/>
          <p:cNvGraphicFramePr>
            <a:graphicFrameLocks noGrp="1"/>
          </p:cNvGraphicFramePr>
          <p:nvPr>
            <p:extLst>
              <p:ext uri="{D42A27DB-BD31-4B8C-83A1-F6EECF244321}">
                <p14:modId xmlns:p14="http://schemas.microsoft.com/office/powerpoint/2010/main" val="3982360719"/>
              </p:ext>
            </p:extLst>
          </p:nvPr>
        </p:nvGraphicFramePr>
        <p:xfrm>
          <a:off x="448072" y="1729834"/>
          <a:ext cx="8588424" cy="4544060"/>
        </p:xfrm>
        <a:graphic>
          <a:graphicData uri="http://schemas.openxmlformats.org/drawingml/2006/table">
            <a:tbl>
              <a:tblPr/>
              <a:tblGrid>
                <a:gridCol w="713118">
                  <a:extLst>
                    <a:ext uri="{9D8B030D-6E8A-4147-A177-3AD203B41FA5}">
                      <a16:colId xmlns:a16="http://schemas.microsoft.com/office/drawing/2014/main" val="20000"/>
                    </a:ext>
                  </a:extLst>
                </a:gridCol>
                <a:gridCol w="713118">
                  <a:extLst>
                    <a:ext uri="{9D8B030D-6E8A-4147-A177-3AD203B41FA5}">
                      <a16:colId xmlns:a16="http://schemas.microsoft.com/office/drawing/2014/main" val="20001"/>
                    </a:ext>
                  </a:extLst>
                </a:gridCol>
                <a:gridCol w="713118">
                  <a:extLst>
                    <a:ext uri="{9D8B030D-6E8A-4147-A177-3AD203B41FA5}">
                      <a16:colId xmlns:a16="http://schemas.microsoft.com/office/drawing/2014/main" val="20002"/>
                    </a:ext>
                  </a:extLst>
                </a:gridCol>
                <a:gridCol w="1074845">
                  <a:extLst>
                    <a:ext uri="{9D8B030D-6E8A-4147-A177-3AD203B41FA5}">
                      <a16:colId xmlns:a16="http://schemas.microsoft.com/office/drawing/2014/main" val="20003"/>
                    </a:ext>
                  </a:extLst>
                </a:gridCol>
                <a:gridCol w="1074845">
                  <a:extLst>
                    <a:ext uri="{9D8B030D-6E8A-4147-A177-3AD203B41FA5}">
                      <a16:colId xmlns:a16="http://schemas.microsoft.com/office/drawing/2014/main" val="20004"/>
                    </a:ext>
                  </a:extLst>
                </a:gridCol>
                <a:gridCol w="1074845">
                  <a:extLst>
                    <a:ext uri="{9D8B030D-6E8A-4147-A177-3AD203B41FA5}">
                      <a16:colId xmlns:a16="http://schemas.microsoft.com/office/drawing/2014/main" val="20005"/>
                    </a:ext>
                  </a:extLst>
                </a:gridCol>
                <a:gridCol w="1074845">
                  <a:extLst>
                    <a:ext uri="{9D8B030D-6E8A-4147-A177-3AD203B41FA5}">
                      <a16:colId xmlns:a16="http://schemas.microsoft.com/office/drawing/2014/main" val="20006"/>
                    </a:ext>
                  </a:extLst>
                </a:gridCol>
                <a:gridCol w="1074845">
                  <a:extLst>
                    <a:ext uri="{9D8B030D-6E8A-4147-A177-3AD203B41FA5}">
                      <a16:colId xmlns:a16="http://schemas.microsoft.com/office/drawing/2014/main" val="20007"/>
                    </a:ext>
                  </a:extLst>
                </a:gridCol>
                <a:gridCol w="1074845">
                  <a:extLst>
                    <a:ext uri="{9D8B030D-6E8A-4147-A177-3AD203B41FA5}">
                      <a16:colId xmlns:a16="http://schemas.microsoft.com/office/drawing/2014/main" val="20008"/>
                    </a:ext>
                  </a:extLst>
                </a:gridCol>
              </a:tblGrid>
              <a:tr h="215900">
                <a:tc gridSpan="3">
                  <a:txBody>
                    <a:bodyPr/>
                    <a:lstStyle/>
                    <a:p>
                      <a:pPr marL="228600" indent="-228600" algn="l" fontAlgn="ctr">
                        <a:buAutoNum type="arabicPeriod"/>
                      </a:pPr>
                      <a:r>
                        <a:rPr lang="en-US" sz="1200" b="0" i="0" u="none" strike="noStrike" dirty="0">
                          <a:solidFill>
                            <a:srgbClr val="000000"/>
                          </a:solidFill>
                          <a:effectLst/>
                          <a:latin typeface="맑은 고딕"/>
                        </a:rPr>
                        <a:t>Resolution suitability</a:t>
                      </a:r>
                    </a:p>
                    <a:p>
                      <a:pPr marL="228600" indent="-228600" algn="l" fontAlgn="ctr">
                        <a:buNone/>
                      </a:pPr>
                      <a:r>
                        <a:rPr lang="en-US" sz="1200" b="0" i="0" u="none" strike="noStrike" baseline="0" dirty="0">
                          <a:solidFill>
                            <a:srgbClr val="000000"/>
                          </a:solidFill>
                          <a:effectLst/>
                          <a:latin typeface="맑은 고딕"/>
                        </a:rPr>
                        <a:t>    determination</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a:txBody>
                    <a:bodyPr/>
                    <a:lstStyle/>
                    <a:p>
                      <a:pPr algn="l" fontAlgn="ctr"/>
                      <a:r>
                        <a:rPr lang="en-US" altLang="ko-KR" sz="1200" b="0" i="0" u="none" strike="noStrike" dirty="0">
                          <a:solidFill>
                            <a:srgbClr val="000000"/>
                          </a:solidFill>
                          <a:effectLst/>
                          <a:latin typeface="맑은 고딕"/>
                        </a:rPr>
                        <a:t>Fine</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0"/>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%RE =</a:t>
                      </a:r>
                    </a:p>
                  </a:txBody>
                  <a:tcPr marL="6350" marR="6350" marT="6350" marB="0" anchor="ctr">
                    <a:lnL>
                      <a:noFill/>
                    </a:lnL>
                    <a:lnR>
                      <a:noFill/>
                    </a:lnR>
                    <a:lnT>
                      <a:noFill/>
                    </a:lnT>
                    <a:lnB>
                      <a:noFill/>
                    </a:lnB>
                  </a:tcPr>
                </a:tc>
                <a:tc gridSpan="2">
                  <a:txBody>
                    <a:bodyPr/>
                    <a:lstStyle/>
                    <a:p>
                      <a:pPr algn="l" fontAlgn="ctr"/>
                      <a:r>
                        <a:rPr lang="en-US" sz="1200" b="0" i="0" u="none" strike="noStrike">
                          <a:solidFill>
                            <a:srgbClr val="000000"/>
                          </a:solidFill>
                          <a:effectLst/>
                          <a:latin typeface="맑은 고딕"/>
                        </a:rPr>
                        <a:t>RE/Tole %</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0.2</a:t>
                      </a:r>
                    </a:p>
                  </a:txBody>
                  <a:tcPr marL="6350" marR="6350" marT="6350" marB="0" anchor="ctr">
                    <a:lnL>
                      <a:noFill/>
                    </a:lnL>
                    <a:lnR>
                      <a:noFill/>
                    </a:lnR>
                    <a:lnT>
                      <a:noFill/>
                    </a:lnT>
                    <a:lnB>
                      <a:noFill/>
                    </a:lnB>
                  </a:tcPr>
                </a:tc>
                <a:tc>
                  <a:txBody>
                    <a:bodyPr/>
                    <a:lstStyle/>
                    <a:p>
                      <a:pPr algn="l" fontAlgn="ctr"/>
                      <a:r>
                        <a:rPr lang="en-US" altLang="ko-KR" sz="1200" b="0" i="0" u="none" strike="noStrike">
                          <a:solidFill>
                            <a:srgbClr val="000000"/>
                          </a:solidFill>
                          <a:effectLst/>
                          <a:latin typeface="맑은 고딕"/>
                        </a:rPr>
                        <a:t>%</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Failure 5% or below</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1"/>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2"/>
                  </a:ext>
                </a:extLst>
              </a:tr>
              <a:tr h="215900">
                <a:tc gridSpan="2">
                  <a:txBody>
                    <a:bodyPr/>
                    <a:lstStyle/>
                    <a:p>
                      <a:pPr algn="l" fontAlgn="ctr"/>
                      <a:r>
                        <a:rPr lang="en-US" sz="1200" b="0" i="0" u="none" strike="noStrike" dirty="0">
                          <a:solidFill>
                            <a:srgbClr val="000000"/>
                          </a:solidFill>
                          <a:effectLst/>
                          <a:latin typeface="맑은 고딕"/>
                        </a:rPr>
                        <a:t>2. Cg/</a:t>
                      </a:r>
                      <a:r>
                        <a:rPr lang="en-US" sz="1200" b="0" i="0" u="none" strike="noStrike" dirty="0" err="1">
                          <a:solidFill>
                            <a:srgbClr val="000000"/>
                          </a:solidFill>
                          <a:effectLst/>
                          <a:latin typeface="맑은 고딕"/>
                        </a:rPr>
                        <a:t>Cgk</a:t>
                      </a:r>
                      <a:r>
                        <a:rPr lang="en-US" sz="1200" b="0" i="0" u="none" strike="noStrike" dirty="0">
                          <a:solidFill>
                            <a:srgbClr val="000000"/>
                          </a:solidFill>
                          <a:effectLst/>
                          <a:latin typeface="맑은 고딕"/>
                        </a:rPr>
                        <a:t> judgment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a:solidFill>
                            <a:srgbClr val="000000"/>
                          </a:solidFill>
                          <a:effectLst/>
                          <a:latin typeface="맑은 고딕"/>
                        </a:rPr>
                        <a:t>Fail</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3"/>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Cg  =</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0.2(Tolerance) / 6</a:t>
                      </a:r>
                      <a:r>
                        <a:rPr lang="en-US" sz="1200" b="0" i="0" u="none" strike="noStrike" dirty="0">
                          <a:solidFill>
                            <a:srgbClr val="000000"/>
                          </a:solidFill>
                          <a:effectLst/>
                          <a:latin typeface="맑은 고딕"/>
                        </a:rPr>
                        <a:t>s</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0.459069</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Pass</a:t>
                      </a:r>
                      <a:r>
                        <a:rPr lang="en-US" altLang="ko-KR" sz="1200" b="0" i="0" u="none" strike="noStrike" baseline="0" dirty="0">
                          <a:solidFill>
                            <a:srgbClr val="000000"/>
                          </a:solidFill>
                          <a:effectLst/>
                          <a:latin typeface="맑은 고딕"/>
                        </a:rPr>
                        <a:t> 1.33 or higher</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4"/>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Cgk =</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(0.1*(Tolerance)-Bias)/3</a:t>
                      </a:r>
                      <a:r>
                        <a:rPr lang="en-US" sz="1200" b="0" i="0" u="none" strike="noStrike" dirty="0">
                          <a:solidFill>
                            <a:srgbClr val="000000"/>
                          </a:solidFill>
                          <a:effectLst/>
                          <a:latin typeface="맑은 고딕"/>
                        </a:rPr>
                        <a:t>s</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0.246612</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mn-lt"/>
                        </a:rPr>
                        <a:t>Pass</a:t>
                      </a:r>
                      <a:r>
                        <a:rPr lang="en-US" altLang="ko-KR" sz="1200" b="0" i="0" u="none" strike="noStrike" baseline="0" dirty="0">
                          <a:solidFill>
                            <a:srgbClr val="000000"/>
                          </a:solidFill>
                          <a:effectLst/>
                          <a:latin typeface="+mn-lt"/>
                        </a:rPr>
                        <a:t> 1.33 or higher</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5"/>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6"/>
                  </a:ext>
                </a:extLst>
              </a:tr>
              <a:tr h="215900">
                <a:tc gridSpan="2">
                  <a:txBody>
                    <a:bodyPr/>
                    <a:lstStyle/>
                    <a:p>
                      <a:pPr algn="l" fontAlgn="ctr"/>
                      <a:r>
                        <a:rPr lang="en-US" sz="1200" b="0" i="0" u="none" strike="noStrike" dirty="0">
                          <a:solidFill>
                            <a:srgbClr val="000000"/>
                          </a:solidFill>
                          <a:effectLst/>
                          <a:latin typeface="맑은 고딕"/>
                        </a:rPr>
                        <a:t>3. AIAG analysis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7"/>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dirty="0">
                          <a:solidFill>
                            <a:srgbClr val="000000"/>
                          </a:solidFill>
                          <a:effectLst/>
                          <a:latin typeface="맑은 고딕"/>
                        </a:rPr>
                        <a:t>%EV Judgment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a:solidFill>
                            <a:srgbClr val="000000"/>
                          </a:solidFill>
                          <a:effectLst/>
                          <a:latin typeface="맑은 고딕"/>
                        </a:rPr>
                        <a:t>Fail</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8"/>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%EV = </a:t>
                      </a: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6s/Tolerance</a:t>
                      </a:r>
                      <a:r>
                        <a:rPr lang="ko-KR" altLang="en-US" sz="1200" b="0" i="0" u="none" strike="noStrike" dirty="0">
                          <a:solidFill>
                            <a:srgbClr val="000000"/>
                          </a:solidFill>
                          <a:effectLst/>
                          <a:latin typeface="맑은 고딕"/>
                        </a:rPr>
                        <a:t> </a:t>
                      </a:r>
                      <a:r>
                        <a:rPr lang="en-US" sz="1200" b="0" i="0" u="none" strike="noStrike" dirty="0">
                          <a:solidFill>
                            <a:srgbClr val="000000"/>
                          </a:solidFill>
                          <a:effectLst/>
                          <a:latin typeface="맑은 고딕"/>
                        </a:rPr>
                        <a:t>x 100</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43.56648</a:t>
                      </a:r>
                    </a:p>
                  </a:txBody>
                  <a:tcPr marL="6350" marR="6350" marT="6350" marB="0" anchor="ctr">
                    <a:lnL>
                      <a:noFill/>
                    </a:lnL>
                    <a:lnR>
                      <a:noFill/>
                    </a:lnR>
                    <a:lnT>
                      <a:noFill/>
                    </a:lnT>
                    <a:lnB>
                      <a:noFill/>
                    </a:lnB>
                  </a:tcPr>
                </a:tc>
                <a:tc>
                  <a:txBody>
                    <a:bodyPr/>
                    <a:lstStyle/>
                    <a:p>
                      <a:pPr algn="l" fontAlgn="ctr"/>
                      <a:r>
                        <a:rPr lang="en-US" altLang="ko-KR" sz="1200" b="0" i="0" u="none" strike="noStrike">
                          <a:solidFill>
                            <a:srgbClr val="000000"/>
                          </a:solidFill>
                          <a:effectLst/>
                          <a:latin typeface="맑은 고딕"/>
                        </a:rPr>
                        <a:t>%</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Pass 30% or below</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9"/>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0"/>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Bias hypothesis</a:t>
                      </a:r>
                      <a:r>
                        <a:rPr lang="en-US" altLang="ko-KR" sz="1200" b="0" i="0" u="none" strike="noStrike" baseline="0" dirty="0">
                          <a:solidFill>
                            <a:srgbClr val="000000"/>
                          </a:solidFill>
                          <a:effectLst/>
                          <a:latin typeface="맑은 고딕"/>
                        </a:rPr>
                        <a:t> test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r>
                        <a:rPr lang="en-US" altLang="ko-KR" sz="1200" b="0" i="0" u="none" strike="noStrike" dirty="0">
                          <a:solidFill>
                            <a:srgbClr val="000000"/>
                          </a:solidFill>
                          <a:effectLst/>
                          <a:latin typeface="맑은 고딕"/>
                        </a:rPr>
                        <a:t>Has Bias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1"/>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H0 :  Bias</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0 </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2"/>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Test</a:t>
                      </a:r>
                      <a:r>
                        <a:rPr lang="en-US" altLang="ko-KR" sz="1200" b="0" i="0" u="none" strike="noStrike" baseline="0" dirty="0">
                          <a:solidFill>
                            <a:srgbClr val="000000"/>
                          </a:solidFill>
                          <a:effectLst/>
                          <a:latin typeface="맑은 고딕"/>
                        </a:rPr>
                        <a:t> Statistic</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gridSpan="2">
                  <a:txBody>
                    <a:bodyPr/>
                    <a:lstStyle/>
                    <a:p>
                      <a:pPr algn="l" fontAlgn="ctr"/>
                      <a:r>
                        <a:rPr lang="en-US" altLang="ko-KR" sz="1200" b="0" i="0" u="none" strike="noStrike" dirty="0">
                          <a:solidFill>
                            <a:srgbClr val="000000"/>
                          </a:solidFill>
                          <a:effectLst/>
                          <a:latin typeface="맑은 고딕"/>
                        </a:rPr>
                        <a:t>Bias</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 Standard error</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4.506892</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3"/>
                  </a:ext>
                </a:extLst>
              </a:tr>
              <a:tr h="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Standard</a:t>
                      </a:r>
                      <a:r>
                        <a:rPr lang="en-US" altLang="ko-KR" sz="1200" b="0" i="0" u="none" strike="noStrike" baseline="0" dirty="0">
                          <a:solidFill>
                            <a:srgbClr val="000000"/>
                          </a:solidFill>
                          <a:effectLst/>
                          <a:latin typeface="맑은 고딕"/>
                        </a:rPr>
                        <a:t> error</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0.000513</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4"/>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a:solidFill>
                            <a:srgbClr val="000000"/>
                          </a:solidFill>
                          <a:effectLst/>
                          <a:latin typeface="맑은 고딕"/>
                        </a:rPr>
                        <a:t>Rejection</a:t>
                      </a:r>
                      <a:r>
                        <a:rPr lang="en-US" altLang="ko-KR" sz="1200" b="0" i="0" u="none" strike="noStrike" baseline="0" dirty="0">
                          <a:solidFill>
                            <a:srgbClr val="000000"/>
                          </a:solidFill>
                          <a:effectLst/>
                          <a:latin typeface="맑은 고딕"/>
                        </a:rPr>
                        <a:t> region</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t(0975,Degree</a:t>
                      </a:r>
                      <a:r>
                        <a:rPr lang="en-US" sz="1200" b="0" i="0" u="none" strike="noStrike" baseline="0" dirty="0">
                          <a:solidFill>
                            <a:srgbClr val="000000"/>
                          </a:solidFill>
                          <a:effectLst/>
                          <a:latin typeface="맑은 고딕"/>
                        </a:rPr>
                        <a:t> of freedom</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2.009575</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5"/>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6"/>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a:solidFill>
                            <a:srgbClr val="000000"/>
                          </a:solidFill>
                          <a:effectLst/>
                          <a:latin typeface="맑은 고딕"/>
                        </a:rPr>
                        <a:t>Synthesis</a:t>
                      </a:r>
                      <a:endParaRPr lang="ko-KR" altLang="en-US" sz="1200" b="0" i="0" u="none" strike="noStrike" dirty="0">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1200" b="0" i="0" u="none" strike="noStrike">
                          <a:solidFill>
                            <a:srgbClr val="000000"/>
                          </a:solidFill>
                          <a:effectLst/>
                          <a:latin typeface="맑은 고딕"/>
                        </a:rPr>
                        <a:t>%EV</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Bias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7"/>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altLang="ko-KR" sz="1200" b="0" i="0" u="none" strike="noStrike" dirty="0">
                          <a:solidFill>
                            <a:srgbClr val="000000"/>
                          </a:solidFill>
                          <a:effectLst/>
                          <a:latin typeface="맑은 고딕"/>
                        </a:rPr>
                        <a:t>Fail</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Has Bias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8"/>
                  </a:ext>
                </a:extLst>
              </a:tr>
            </a:tbl>
          </a:graphicData>
        </a:graphic>
      </p:graphicFrame>
      <p:sp>
        <p:nvSpPr>
          <p:cNvPr id="7" name="TextBox 6"/>
          <p:cNvSpPr txBox="1"/>
          <p:nvPr/>
        </p:nvSpPr>
        <p:spPr>
          <a:xfrm>
            <a:off x="6572264" y="188640"/>
            <a:ext cx="2403158" cy="369332"/>
          </a:xfrm>
          <a:prstGeom prst="rect">
            <a:avLst/>
          </a:prstGeom>
          <a:noFill/>
        </p:spPr>
        <p:txBody>
          <a:bodyPr wrap="none" rtlCol="0">
            <a:spAutoFit/>
          </a:bodyPr>
          <a:lstStyle/>
          <a:p>
            <a:r>
              <a:rPr lang="en-US" altLang="ko-KR" dirty="0"/>
              <a:t>(Both sides standard)</a:t>
            </a:r>
            <a:endParaRPr lang="ko-KR" altLang="en-US" dirty="0"/>
          </a:p>
        </p:txBody>
      </p:sp>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53</a:t>
            </a:fld>
            <a:endParaRPr lang="ko-KR" altLang="en-US" dirty="0"/>
          </a:p>
        </p:txBody>
      </p:sp>
    </p:spTree>
    <p:extLst>
      <p:ext uri="{BB962C8B-B14F-4D97-AF65-F5344CB8AC3E}">
        <p14:creationId xmlns:p14="http://schemas.microsoft.com/office/powerpoint/2010/main" val="253253731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직사각형 4"/>
          <p:cNvSpPr/>
          <p:nvPr/>
        </p:nvSpPr>
        <p:spPr>
          <a:xfrm>
            <a:off x="323528" y="836712"/>
            <a:ext cx="8568952" cy="165618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732240" y="188640"/>
            <a:ext cx="2400016" cy="369332"/>
          </a:xfrm>
          <a:prstGeom prst="rect">
            <a:avLst/>
          </a:prstGeom>
          <a:noFill/>
        </p:spPr>
        <p:txBody>
          <a:bodyPr wrap="none" rtlCol="0">
            <a:spAutoFit/>
          </a:bodyPr>
          <a:lstStyle/>
          <a:p>
            <a:r>
              <a:rPr lang="en-US" altLang="ko-KR" dirty="0"/>
              <a:t>(</a:t>
            </a:r>
            <a:r>
              <a:rPr lang="en-US" altLang="ko-KR" dirty="0" err="1"/>
              <a:t>Tiêu</a:t>
            </a:r>
            <a:r>
              <a:rPr lang="en-US" altLang="ko-KR" dirty="0"/>
              <a:t> </a:t>
            </a:r>
            <a:r>
              <a:rPr lang="en-US" altLang="ko-KR" dirty="0" err="1"/>
              <a:t>chuẩn</a:t>
            </a:r>
            <a:r>
              <a:rPr lang="en-US" altLang="ko-KR" dirty="0"/>
              <a:t> </a:t>
            </a:r>
            <a:r>
              <a:rPr lang="en-US" altLang="ko-KR" dirty="0" err="1"/>
              <a:t>hai</a:t>
            </a:r>
            <a:r>
              <a:rPr lang="en-US" altLang="ko-KR" dirty="0"/>
              <a:t> </a:t>
            </a:r>
            <a:r>
              <a:rPr lang="en-US" altLang="ko-KR" dirty="0" err="1"/>
              <a:t>phía</a:t>
            </a:r>
            <a:r>
              <a:rPr lang="en-US" altLang="ko-KR" dirty="0"/>
              <a:t>)</a:t>
            </a:r>
            <a:endParaRPr lang="ko-KR" altLang="en-US" dirty="0"/>
          </a:p>
        </p:txBody>
      </p:sp>
      <p:sp>
        <p:nvSpPr>
          <p:cNvPr id="4" name="TextBox 3"/>
          <p:cNvSpPr txBox="1"/>
          <p:nvPr/>
        </p:nvSpPr>
        <p:spPr>
          <a:xfrm>
            <a:off x="323528" y="764704"/>
            <a:ext cx="8680453" cy="1708160"/>
          </a:xfrm>
          <a:prstGeom prst="rect">
            <a:avLst/>
          </a:prstGeom>
          <a:noFill/>
        </p:spPr>
        <p:txBody>
          <a:bodyPr wrap="none" rtlCol="0">
            <a:spAutoFit/>
          </a:bodyPr>
          <a:lstStyle/>
          <a:p>
            <a:pPr>
              <a:lnSpc>
                <a:spcPct val="150000"/>
              </a:lnSpc>
            </a:pPr>
            <a:r>
              <a:rPr lang="en-US" altLang="ko-KR" sz="1400" dirty="0" err="1"/>
              <a:t>Tại</a:t>
            </a:r>
            <a:r>
              <a:rPr lang="en-US" altLang="ko-KR" sz="1400" dirty="0"/>
              <a:t> </a:t>
            </a:r>
            <a:r>
              <a:rPr lang="en-US" altLang="ko-KR" sz="1400" dirty="0" err="1"/>
              <a:t>một</a:t>
            </a:r>
            <a:r>
              <a:rPr lang="en-US" altLang="ko-KR" sz="1400" dirty="0"/>
              <a:t> </a:t>
            </a:r>
            <a:r>
              <a:rPr lang="en-US" altLang="ko-KR" sz="1400" dirty="0" err="1"/>
              <a:t>công</a:t>
            </a:r>
            <a:r>
              <a:rPr lang="en-US" altLang="ko-KR" sz="1400" dirty="0"/>
              <a:t> </a:t>
            </a:r>
            <a:r>
              <a:rPr lang="en-US" altLang="ko-KR" sz="1400" dirty="0" err="1"/>
              <a:t>ty</a:t>
            </a:r>
            <a:r>
              <a:rPr lang="en-US" altLang="ko-KR" sz="1400" dirty="0"/>
              <a:t> </a:t>
            </a:r>
            <a:r>
              <a:rPr lang="en-US" altLang="ko-KR" sz="1400" dirty="0" err="1"/>
              <a:t>chế</a:t>
            </a:r>
            <a:r>
              <a:rPr lang="en-US" altLang="ko-KR" sz="1400" dirty="0"/>
              <a:t> </a:t>
            </a:r>
            <a:r>
              <a:rPr lang="en-US" altLang="ko-KR" sz="1400" dirty="0" err="1"/>
              <a:t>tạo</a:t>
            </a:r>
            <a:r>
              <a:rPr lang="en-US" altLang="ko-KR" sz="1400" dirty="0"/>
              <a:t> </a:t>
            </a:r>
            <a:r>
              <a:rPr lang="en-US" altLang="ko-KR" sz="1400" dirty="0" err="1"/>
              <a:t>điện</a:t>
            </a:r>
            <a:r>
              <a:rPr lang="en-US" altLang="ko-KR" sz="1400" dirty="0"/>
              <a:t> </a:t>
            </a:r>
            <a:r>
              <a:rPr lang="en-US" altLang="ko-KR" sz="1400" dirty="0" err="1"/>
              <a:t>cực</a:t>
            </a:r>
            <a:r>
              <a:rPr lang="en-US" altLang="ko-KR" sz="1400" dirty="0"/>
              <a:t> </a:t>
            </a:r>
            <a:r>
              <a:rPr lang="en-US" altLang="ko-KR" sz="1400" dirty="0" err="1"/>
              <a:t>muốn</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năng</a:t>
            </a:r>
            <a:r>
              <a:rPr lang="en-US" altLang="ko-KR" sz="1400" dirty="0"/>
              <a:t> </a:t>
            </a:r>
            <a:r>
              <a:rPr lang="en-US" altLang="ko-KR" sz="1400" dirty="0" err="1"/>
              <a:t>lực</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của</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đường</a:t>
            </a:r>
            <a:r>
              <a:rPr lang="en-US" altLang="ko-KR" sz="1400" dirty="0"/>
              <a:t> </a:t>
            </a:r>
            <a:r>
              <a:rPr lang="en-US" altLang="ko-KR" sz="1400" dirty="0" err="1"/>
              <a:t>kính</a:t>
            </a:r>
            <a:r>
              <a:rPr lang="en-US" altLang="ko-KR" sz="1400" dirty="0"/>
              <a:t> </a:t>
            </a:r>
            <a:r>
              <a:rPr lang="en-US" altLang="ko-KR" sz="1400" dirty="0" err="1"/>
              <a:t>điện</a:t>
            </a:r>
            <a:endParaRPr lang="en-US" altLang="ko-KR" sz="1400" dirty="0"/>
          </a:p>
          <a:p>
            <a:pPr>
              <a:lnSpc>
                <a:spcPct val="150000"/>
              </a:lnSpc>
            </a:pPr>
            <a:r>
              <a:rPr lang="en-US" altLang="ko-KR" sz="1400" dirty="0"/>
              <a:t> </a:t>
            </a:r>
            <a:r>
              <a:rPr lang="en-US" altLang="ko-KR" sz="1400" dirty="0" err="1"/>
              <a:t>cực</a:t>
            </a:r>
            <a:r>
              <a:rPr lang="en-US" altLang="ko-KR" sz="1400" dirty="0"/>
              <a:t> </a:t>
            </a:r>
            <a:r>
              <a:rPr lang="en-US" altLang="ko-KR" sz="1400" dirty="0" err="1"/>
              <a:t>trục</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này</a:t>
            </a:r>
            <a:r>
              <a:rPr lang="en-US" altLang="ko-KR" sz="1400" dirty="0"/>
              <a:t> </a:t>
            </a:r>
            <a:r>
              <a:rPr lang="en-US" altLang="ko-KR" sz="1400" dirty="0" err="1"/>
              <a:t>có</a:t>
            </a:r>
            <a:r>
              <a:rPr lang="en-US" altLang="ko-KR" sz="1400" dirty="0"/>
              <a:t> </a:t>
            </a:r>
            <a:r>
              <a:rPr lang="en-US" altLang="ko-KR" sz="1400" dirty="0" err="1"/>
              <a:t>độ</a:t>
            </a:r>
            <a:r>
              <a:rPr lang="en-US" altLang="ko-KR" sz="1400" dirty="0"/>
              <a:t> </a:t>
            </a:r>
            <a:r>
              <a:rPr lang="en-US" altLang="ko-KR" sz="1400" dirty="0" err="1"/>
              <a:t>phân</a:t>
            </a:r>
            <a:r>
              <a:rPr lang="en-US" altLang="ko-KR" sz="1400" dirty="0"/>
              <a:t> </a:t>
            </a:r>
            <a:r>
              <a:rPr lang="en-US" altLang="ko-KR" sz="1400" dirty="0" err="1"/>
              <a:t>giải</a:t>
            </a:r>
            <a:r>
              <a:rPr lang="en-US" altLang="ko-KR" sz="1400" dirty="0"/>
              <a:t> </a:t>
            </a:r>
            <a:r>
              <a:rPr lang="en-US" altLang="ko-KR" sz="1400" dirty="0" err="1"/>
              <a:t>là</a:t>
            </a:r>
            <a:r>
              <a:rPr lang="en-US" altLang="ko-KR" sz="1400" dirty="0"/>
              <a:t> 0.0001</a:t>
            </a:r>
            <a:r>
              <a:rPr lang="ko-KR" altLang="en-US" sz="1400" dirty="0"/>
              <a:t>㎜ </a:t>
            </a:r>
            <a:r>
              <a:rPr lang="en-US" altLang="ko-KR" sz="1400" dirty="0" err="1"/>
              <a:t>vernier</a:t>
            </a:r>
            <a:r>
              <a:rPr lang="en-US" altLang="ko-KR" sz="1400" dirty="0"/>
              <a:t> calipers.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của</a:t>
            </a:r>
            <a:r>
              <a:rPr lang="en-US" altLang="ko-KR" sz="1400" dirty="0"/>
              <a:t> </a:t>
            </a:r>
            <a:r>
              <a:rPr lang="en-US" altLang="ko-KR" sz="1400" dirty="0" err="1"/>
              <a:t>điện</a:t>
            </a:r>
            <a:r>
              <a:rPr lang="en-US" altLang="ko-KR" sz="1400" dirty="0"/>
              <a:t> </a:t>
            </a:r>
            <a:r>
              <a:rPr lang="en-US" altLang="ko-KR" sz="1400" dirty="0" err="1"/>
              <a:t>cực</a:t>
            </a:r>
            <a:r>
              <a:rPr lang="en-US" altLang="ko-KR" sz="1400" dirty="0"/>
              <a:t> </a:t>
            </a:r>
            <a:r>
              <a:rPr lang="en-US" altLang="ko-KR" sz="1400" dirty="0" err="1"/>
              <a:t>này</a:t>
            </a:r>
            <a:r>
              <a:rPr lang="en-US" altLang="ko-KR" sz="1400" dirty="0"/>
              <a:t> </a:t>
            </a:r>
            <a:r>
              <a:rPr lang="en-US" altLang="ko-KR" sz="1400" dirty="0" err="1"/>
              <a:t>là</a:t>
            </a:r>
            <a:r>
              <a:rPr lang="en-US" altLang="ko-KR" sz="1400" dirty="0"/>
              <a:t> </a:t>
            </a:r>
          </a:p>
          <a:p>
            <a:pPr>
              <a:lnSpc>
                <a:spcPct val="150000"/>
              </a:lnSpc>
            </a:pPr>
            <a:r>
              <a:rPr lang="en-US" altLang="ko-KR" sz="1400" dirty="0"/>
              <a:t>LSL 12.28</a:t>
            </a:r>
            <a:r>
              <a:rPr lang="ko-KR" altLang="en-US" sz="1400" dirty="0"/>
              <a:t>㎜</a:t>
            </a:r>
            <a:r>
              <a:rPr lang="en-US" altLang="ko-KR" sz="1400" dirty="0"/>
              <a:t>, USL 12.33</a:t>
            </a:r>
            <a:r>
              <a:rPr lang="ko-KR" altLang="en-US" sz="1400" dirty="0"/>
              <a:t>㎜</a:t>
            </a:r>
            <a:r>
              <a:rPr lang="en-US" altLang="ko-KR" sz="1400" dirty="0"/>
              <a:t>. </a:t>
            </a:r>
            <a:r>
              <a:rPr lang="en-US" altLang="ko-KR" sz="1400" dirty="0" err="1"/>
              <a:t>Để</a:t>
            </a:r>
            <a:r>
              <a:rPr lang="en-US" altLang="ko-KR" sz="1400" dirty="0"/>
              <a:t> </a:t>
            </a:r>
            <a:r>
              <a:rPr lang="en-US" altLang="ko-KR" sz="1400" dirty="0" err="1"/>
              <a:t>tiến</a:t>
            </a:r>
            <a:r>
              <a:rPr lang="en-US" altLang="ko-KR" sz="1400" dirty="0"/>
              <a:t> </a:t>
            </a:r>
            <a:r>
              <a:rPr lang="en-US" altLang="ko-KR" sz="1400" dirty="0" err="1"/>
              <a:t>hành</a:t>
            </a:r>
            <a:r>
              <a:rPr lang="en-US" altLang="ko-KR" sz="1400" dirty="0"/>
              <a:t> Type 1 Gage Study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có</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tiêu</a:t>
            </a:r>
            <a:r>
              <a:rPr lang="en-US" altLang="ko-KR" sz="1400" dirty="0"/>
              <a:t> </a:t>
            </a:r>
          </a:p>
          <a:p>
            <a:pPr>
              <a:lnSpc>
                <a:spcPct val="150000"/>
              </a:lnSpc>
            </a:pPr>
            <a:r>
              <a:rPr lang="en-US" altLang="ko-KR" sz="1400" dirty="0" err="1"/>
              <a:t>chuẩn</a:t>
            </a:r>
            <a:r>
              <a:rPr lang="en-US" altLang="ko-KR" sz="1400" dirty="0"/>
              <a:t>  </a:t>
            </a:r>
            <a:r>
              <a:rPr lang="en-US" altLang="ko-KR" sz="1400" dirty="0" err="1"/>
              <a:t>xm</a:t>
            </a:r>
            <a:r>
              <a:rPr lang="en-US" altLang="ko-KR" sz="1400" dirty="0"/>
              <a:t> = 12.305</a:t>
            </a:r>
            <a:r>
              <a:rPr lang="ko-KR" altLang="en-US" sz="1400" dirty="0"/>
              <a:t>㎜ </a:t>
            </a:r>
            <a:r>
              <a:rPr lang="en-US" altLang="ko-KR" sz="1400" dirty="0" err="1"/>
              <a:t>trên</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này</a:t>
            </a:r>
            <a:r>
              <a:rPr lang="en-US" altLang="ko-KR" sz="1400" dirty="0"/>
              <a:t> </a:t>
            </a:r>
            <a:r>
              <a:rPr lang="en-US" altLang="ko-KR" sz="1400" dirty="0" err="1"/>
              <a:t>đo</a:t>
            </a:r>
            <a:r>
              <a:rPr lang="en-US" altLang="ko-KR" sz="1400" dirty="0"/>
              <a:t> 50 </a:t>
            </a:r>
            <a:r>
              <a:rPr lang="en-US" altLang="ko-KR" sz="1400" dirty="0" err="1"/>
              <a:t>lần</a:t>
            </a:r>
            <a:r>
              <a:rPr lang="en-US" altLang="ko-KR" sz="1400" dirty="0"/>
              <a:t> </a:t>
            </a:r>
            <a:r>
              <a:rPr lang="en-US" altLang="ko-KR" sz="1400" dirty="0" err="1"/>
              <a:t>lặp</a:t>
            </a:r>
            <a:r>
              <a:rPr lang="en-US" altLang="ko-KR" sz="1400" dirty="0"/>
              <a:t> </a:t>
            </a:r>
            <a:r>
              <a:rPr lang="en-US" altLang="ko-KR" sz="1400" dirty="0" err="1"/>
              <a:t>lại</a:t>
            </a:r>
            <a:r>
              <a:rPr lang="en-US" altLang="ko-KR" sz="1400" dirty="0"/>
              <a:t> </a:t>
            </a:r>
            <a:r>
              <a:rPr lang="en-US" altLang="ko-KR" sz="1400" dirty="0" err="1"/>
              <a:t>và</a:t>
            </a:r>
            <a:r>
              <a:rPr lang="en-US" altLang="ko-KR" sz="1400" dirty="0"/>
              <a:t> </a:t>
            </a:r>
            <a:r>
              <a:rPr lang="en-US" altLang="ko-KR" sz="1400" dirty="0" err="1"/>
              <a:t>thu</a:t>
            </a:r>
            <a:r>
              <a:rPr lang="en-US" altLang="ko-KR" sz="1400" dirty="0"/>
              <a:t> </a:t>
            </a:r>
            <a:r>
              <a:rPr lang="en-US" altLang="ko-KR" sz="1400" dirty="0" err="1"/>
              <a:t>được</a:t>
            </a:r>
            <a:r>
              <a:rPr lang="en-US" altLang="ko-KR" sz="1400" dirty="0"/>
              <a:t> data </a:t>
            </a:r>
            <a:r>
              <a:rPr lang="en-US" altLang="ko-KR" sz="1400" dirty="0" err="1"/>
              <a:t>như</a:t>
            </a:r>
            <a:r>
              <a:rPr lang="en-US" altLang="ko-KR" sz="1400" dirty="0"/>
              <a:t> </a:t>
            </a:r>
            <a:r>
              <a:rPr lang="en-US" altLang="ko-KR" sz="1400" dirty="0" err="1"/>
              <a:t>bên</a:t>
            </a:r>
            <a:r>
              <a:rPr lang="en-US" altLang="ko-KR" sz="1400" dirty="0"/>
              <a:t> </a:t>
            </a:r>
            <a:r>
              <a:rPr lang="en-US" altLang="ko-KR" sz="1400" dirty="0" err="1"/>
              <a:t>dưới</a:t>
            </a:r>
            <a:endParaRPr lang="en-US" altLang="ko-KR" sz="1400" dirty="0"/>
          </a:p>
          <a:p>
            <a:pPr>
              <a:lnSpc>
                <a:spcPct val="150000"/>
              </a:lnSpc>
            </a:pPr>
            <a:r>
              <a:rPr lang="en-US" altLang="ko-KR" sz="1400" dirty="0" err="1"/>
              <a:t>Thông</a:t>
            </a:r>
            <a:r>
              <a:rPr lang="en-US" altLang="ko-KR" sz="1400" dirty="0"/>
              <a:t> qua Type 1 Study </a:t>
            </a:r>
            <a:r>
              <a:rPr lang="en-US" altLang="ko-KR" sz="1400" dirty="0" err="1"/>
              <a:t>phán</a:t>
            </a:r>
            <a:r>
              <a:rPr lang="en-US" altLang="ko-KR" sz="1400" dirty="0"/>
              <a:t> </a:t>
            </a:r>
            <a:r>
              <a:rPr lang="en-US" altLang="ko-KR" sz="1400" dirty="0" err="1"/>
              <a:t>đoán</a:t>
            </a:r>
            <a:r>
              <a:rPr lang="en-US" altLang="ko-KR" sz="1400" dirty="0"/>
              <a:t> Gage </a:t>
            </a:r>
            <a:r>
              <a:rPr lang="en-US" altLang="ko-KR" sz="1400" dirty="0" err="1"/>
              <a:t>có</a:t>
            </a:r>
            <a:r>
              <a:rPr lang="en-US" altLang="ko-KR" sz="1400" dirty="0"/>
              <a:t> </a:t>
            </a:r>
            <a:r>
              <a:rPr lang="en-US" altLang="ko-KR" sz="1400" dirty="0" err="1"/>
              <a:t>đạt</a:t>
            </a:r>
            <a:r>
              <a:rPr lang="en-US" altLang="ko-KR" sz="1400" dirty="0"/>
              <a:t> hay </a:t>
            </a:r>
            <a:r>
              <a:rPr lang="en-US" altLang="ko-KR" sz="1400" dirty="0" err="1"/>
              <a:t>không</a:t>
            </a:r>
            <a:r>
              <a:rPr lang="en-US" altLang="ko-KR" sz="1400" dirty="0"/>
              <a:t>.  </a:t>
            </a:r>
            <a:endParaRPr lang="ko-KR" altLang="en-US" sz="1400" dirty="0"/>
          </a:p>
        </p:txBody>
      </p:sp>
      <p:graphicFrame>
        <p:nvGraphicFramePr>
          <p:cNvPr id="7" name="표 6"/>
          <p:cNvGraphicFramePr>
            <a:graphicFrameLocks noGrp="1"/>
          </p:cNvGraphicFramePr>
          <p:nvPr>
            <p:extLst>
              <p:ext uri="{D42A27DB-BD31-4B8C-83A1-F6EECF244321}">
                <p14:modId xmlns:p14="http://schemas.microsoft.com/office/powerpoint/2010/main" val="24142068"/>
              </p:ext>
            </p:extLst>
          </p:nvPr>
        </p:nvGraphicFramePr>
        <p:xfrm>
          <a:off x="1016000" y="3304379"/>
          <a:ext cx="7112000" cy="1852812"/>
        </p:xfrm>
        <a:graphic>
          <a:graphicData uri="http://schemas.openxmlformats.org/drawingml/2006/table">
            <a:tbl>
              <a:tblPr/>
              <a:tblGrid>
                <a:gridCol w="711200">
                  <a:extLst>
                    <a:ext uri="{9D8B030D-6E8A-4147-A177-3AD203B41FA5}">
                      <a16:colId xmlns:a16="http://schemas.microsoft.com/office/drawing/2014/main" val="20000"/>
                    </a:ext>
                  </a:extLst>
                </a:gridCol>
                <a:gridCol w="71120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711200">
                  <a:extLst>
                    <a:ext uri="{9D8B030D-6E8A-4147-A177-3AD203B41FA5}">
                      <a16:colId xmlns:a16="http://schemas.microsoft.com/office/drawing/2014/main" val="20007"/>
                    </a:ext>
                  </a:extLst>
                </a:gridCol>
                <a:gridCol w="711200">
                  <a:extLst>
                    <a:ext uri="{9D8B030D-6E8A-4147-A177-3AD203B41FA5}">
                      <a16:colId xmlns:a16="http://schemas.microsoft.com/office/drawing/2014/main" val="20008"/>
                    </a:ext>
                  </a:extLst>
                </a:gridCol>
                <a:gridCol w="711200">
                  <a:extLst>
                    <a:ext uri="{9D8B030D-6E8A-4147-A177-3AD203B41FA5}">
                      <a16:colId xmlns:a16="http://schemas.microsoft.com/office/drawing/2014/main" val="20009"/>
                    </a:ext>
                  </a:extLst>
                </a:gridCol>
              </a:tblGrid>
              <a:tr h="368457">
                <a:tc>
                  <a:txBody>
                    <a:bodyPr/>
                    <a:lstStyle/>
                    <a:p>
                      <a:pPr algn="ctr" fontAlgn="ctr"/>
                      <a:r>
                        <a:rPr lang="en-US" altLang="ko-KR" sz="1200" b="0" i="0" u="none" strike="noStrike" dirty="0">
                          <a:solidFill>
                            <a:srgbClr val="000000"/>
                          </a:solidFill>
                          <a:effectLst/>
                          <a:latin typeface="맑은 고딕"/>
                        </a:rPr>
                        <a:t>12.3057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12.3009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12.2975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12.2965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12.2986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68457">
                <a:tc>
                  <a:txBody>
                    <a:bodyPr/>
                    <a:lstStyle/>
                    <a:p>
                      <a:pPr algn="ctr" fontAlgn="ctr"/>
                      <a:r>
                        <a:rPr lang="en-US" altLang="ko-KR" sz="1200" b="0" i="0" u="none" strike="noStrike">
                          <a:solidFill>
                            <a:srgbClr val="000000"/>
                          </a:solidFill>
                          <a:effectLst/>
                          <a:latin typeface="맑은 고딕"/>
                        </a:rPr>
                        <a:t>12.3051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12.3091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12.2977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12.3081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12.2944</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68457">
                <a:tc>
                  <a:txBody>
                    <a:bodyPr/>
                    <a:lstStyle/>
                    <a:p>
                      <a:pPr algn="ctr" fontAlgn="ctr"/>
                      <a:r>
                        <a:rPr lang="en-US" altLang="ko-KR" sz="1200" b="0" i="0" u="none" strike="noStrike">
                          <a:solidFill>
                            <a:srgbClr val="000000"/>
                          </a:solidFill>
                          <a:effectLst/>
                          <a:latin typeface="맑은 고딕"/>
                        </a:rPr>
                        <a:t>12.3046</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12.3045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12.3054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12.2953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12.2954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12.3047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12.3035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12.3003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68457">
                <a:tc>
                  <a:txBody>
                    <a:bodyPr/>
                    <a:lstStyle/>
                    <a:p>
                      <a:pPr algn="ctr" fontAlgn="ctr"/>
                      <a:r>
                        <a:rPr lang="en-US" altLang="ko-KR" sz="1200" b="0" i="0" u="none" strike="noStrike">
                          <a:solidFill>
                            <a:srgbClr val="000000"/>
                          </a:solidFill>
                          <a:effectLst/>
                          <a:latin typeface="맑은 고딕"/>
                        </a:rPr>
                        <a:t>12.3044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12.2998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12.3034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12.3021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12.3045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12.3021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78984">
                <a:tc>
                  <a:txBody>
                    <a:bodyPr/>
                    <a:lstStyle/>
                    <a:p>
                      <a:pPr algn="ctr" fontAlgn="ctr"/>
                      <a:r>
                        <a:rPr lang="en-US" altLang="ko-KR" sz="1200" b="0" i="0" u="none" strike="noStrike">
                          <a:solidFill>
                            <a:srgbClr val="000000"/>
                          </a:solidFill>
                          <a:effectLst/>
                          <a:latin typeface="맑은 고딕"/>
                        </a:rPr>
                        <a:t>12.3037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12.2997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12.3038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12.3076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12.3063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12.2981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12.2965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12.3082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12.3034</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8"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54</a:t>
            </a:fld>
            <a:endParaRPr lang="ko-KR" altLang="en-US" dirty="0"/>
          </a:p>
        </p:txBody>
      </p:sp>
      <p:pic>
        <p:nvPicPr>
          <p:cNvPr id="6" name="Picture 5"/>
          <p:cNvPicPr>
            <a:picLocks noChangeAspect="1"/>
          </p:cNvPicPr>
          <p:nvPr/>
        </p:nvPicPr>
        <p:blipFill>
          <a:blip r:embed="rId3"/>
          <a:stretch>
            <a:fillRect/>
          </a:stretch>
        </p:blipFill>
        <p:spPr>
          <a:xfrm>
            <a:off x="9132256" y="1052736"/>
            <a:ext cx="5715000" cy="4038600"/>
          </a:xfrm>
          <a:prstGeom prst="rect">
            <a:avLst/>
          </a:prstGeom>
        </p:spPr>
      </p:pic>
    </p:spTree>
    <p:extLst>
      <p:ext uri="{BB962C8B-B14F-4D97-AF65-F5344CB8AC3E}">
        <p14:creationId xmlns:p14="http://schemas.microsoft.com/office/powerpoint/2010/main" val="114532434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516216" y="188640"/>
            <a:ext cx="2400016" cy="369332"/>
          </a:xfrm>
          <a:prstGeom prst="rect">
            <a:avLst/>
          </a:prstGeom>
          <a:noFill/>
        </p:spPr>
        <p:txBody>
          <a:bodyPr wrap="none" rtlCol="0">
            <a:spAutoFit/>
          </a:bodyPr>
          <a:lstStyle/>
          <a:p>
            <a:r>
              <a:rPr lang="en-US" altLang="ko-KR" dirty="0"/>
              <a:t>(</a:t>
            </a:r>
            <a:r>
              <a:rPr lang="en-US" altLang="ko-KR" dirty="0" err="1"/>
              <a:t>Tiêu</a:t>
            </a:r>
            <a:r>
              <a:rPr lang="en-US" altLang="ko-KR" dirty="0"/>
              <a:t> </a:t>
            </a:r>
            <a:r>
              <a:rPr lang="en-US" altLang="ko-KR" dirty="0" err="1"/>
              <a:t>chuẩn</a:t>
            </a:r>
            <a:r>
              <a:rPr lang="en-US" altLang="ko-KR" dirty="0"/>
              <a:t> </a:t>
            </a:r>
            <a:r>
              <a:rPr lang="en-US" altLang="ko-KR" dirty="0" err="1"/>
              <a:t>hai</a:t>
            </a:r>
            <a:r>
              <a:rPr lang="en-US" altLang="ko-KR" dirty="0"/>
              <a:t> </a:t>
            </a:r>
            <a:r>
              <a:rPr lang="en-US" altLang="ko-KR" dirty="0" err="1"/>
              <a:t>phía</a:t>
            </a:r>
            <a:r>
              <a:rPr lang="en-US" altLang="ko-KR" dirty="0"/>
              <a:t>)</a:t>
            </a:r>
            <a:endParaRPr lang="ko-KR" altLang="en-US" dirty="0"/>
          </a:p>
        </p:txBody>
      </p:sp>
      <p:sp>
        <p:nvSpPr>
          <p:cNvPr id="5" name="TextBox 4"/>
          <p:cNvSpPr txBox="1"/>
          <p:nvPr/>
        </p:nvSpPr>
        <p:spPr>
          <a:xfrm>
            <a:off x="539552" y="980728"/>
            <a:ext cx="8740663" cy="307777"/>
          </a:xfrm>
          <a:prstGeom prst="rect">
            <a:avLst/>
          </a:prstGeom>
          <a:noFill/>
        </p:spPr>
        <p:txBody>
          <a:bodyPr wrap="none" rtlCol="0">
            <a:spAutoFit/>
          </a:bodyPr>
          <a:lstStyle/>
          <a:p>
            <a:r>
              <a:rPr lang="en-US" altLang="ko-KR" sz="1400" dirty="0" err="1"/>
              <a:t>Thử</a:t>
            </a:r>
            <a:r>
              <a:rPr lang="en-US" altLang="ko-KR" sz="1400" dirty="0"/>
              <a:t> </a:t>
            </a:r>
            <a:r>
              <a:rPr lang="en-US" altLang="ko-KR" sz="1400" dirty="0" err="1"/>
              <a:t>sử</a:t>
            </a:r>
            <a:r>
              <a:rPr lang="en-US" altLang="ko-KR" sz="1400" dirty="0"/>
              <a:t> </a:t>
            </a:r>
            <a:r>
              <a:rPr lang="en-US" altLang="ko-KR" sz="1400" dirty="0" err="1"/>
              <a:t>dụng</a:t>
            </a:r>
            <a:r>
              <a:rPr lang="en-US" altLang="ko-KR" sz="1400" dirty="0"/>
              <a:t> Excel </a:t>
            </a:r>
            <a:r>
              <a:rPr lang="en-US" altLang="ko-KR" sz="1400" dirty="0" err="1"/>
              <a:t>để</a:t>
            </a:r>
            <a:r>
              <a:rPr lang="en-US" altLang="ko-KR" sz="1400" dirty="0"/>
              <a:t> </a:t>
            </a:r>
            <a:r>
              <a:rPr lang="en-US" altLang="ko-KR" sz="1400" dirty="0" err="1"/>
              <a:t>tiến</a:t>
            </a:r>
            <a:r>
              <a:rPr lang="en-US" altLang="ko-KR" sz="1400" dirty="0"/>
              <a:t> </a:t>
            </a:r>
            <a:r>
              <a:rPr lang="en-US" altLang="ko-KR" sz="1400" dirty="0" err="1"/>
              <a:t>hành</a:t>
            </a:r>
            <a:r>
              <a:rPr lang="en-US" altLang="ko-KR" sz="1400" dirty="0"/>
              <a:t>  Type 1 Study. ( Gage R&amp;R Worksheet &gt; Type 1 Gage </a:t>
            </a:r>
            <a:r>
              <a:rPr lang="en-US" altLang="ko-KR" sz="1400" dirty="0" err="1"/>
              <a:t>hai</a:t>
            </a:r>
            <a:r>
              <a:rPr lang="en-US" altLang="ko-KR" sz="1400" dirty="0"/>
              <a:t> </a:t>
            </a:r>
            <a:r>
              <a:rPr lang="en-US" altLang="ko-KR" sz="1400" dirty="0" err="1"/>
              <a:t>mặt</a:t>
            </a:r>
            <a:r>
              <a:rPr lang="en-US" altLang="ko-KR" sz="1400" dirty="0"/>
              <a:t>/</a:t>
            </a:r>
            <a:r>
              <a:rPr lang="en-US" altLang="ko-KR" sz="1400" dirty="0" err="1"/>
              <a:t>phía</a:t>
            </a:r>
            <a:r>
              <a:rPr lang="ko-KR" altLang="en-US" sz="1400" dirty="0"/>
              <a:t> </a:t>
            </a:r>
            <a:r>
              <a:rPr lang="en-US" altLang="ko-KR" sz="1400" dirty="0"/>
              <a:t>)  </a:t>
            </a:r>
            <a:endParaRPr lang="ko-KR" altLang="en-US" sz="1400" dirty="0"/>
          </a:p>
        </p:txBody>
      </p:sp>
      <p:graphicFrame>
        <p:nvGraphicFramePr>
          <p:cNvPr id="6" name="표 5"/>
          <p:cNvGraphicFramePr>
            <a:graphicFrameLocks noGrp="1"/>
          </p:cNvGraphicFramePr>
          <p:nvPr>
            <p:extLst>
              <p:ext uri="{D42A27DB-BD31-4B8C-83A1-F6EECF244321}">
                <p14:modId xmlns:p14="http://schemas.microsoft.com/office/powerpoint/2010/main" val="3982360719"/>
              </p:ext>
            </p:extLst>
          </p:nvPr>
        </p:nvGraphicFramePr>
        <p:xfrm>
          <a:off x="304056" y="1412776"/>
          <a:ext cx="8588424" cy="5351780"/>
        </p:xfrm>
        <a:graphic>
          <a:graphicData uri="http://schemas.openxmlformats.org/drawingml/2006/table">
            <a:tbl>
              <a:tblPr/>
              <a:tblGrid>
                <a:gridCol w="713118">
                  <a:extLst>
                    <a:ext uri="{9D8B030D-6E8A-4147-A177-3AD203B41FA5}">
                      <a16:colId xmlns:a16="http://schemas.microsoft.com/office/drawing/2014/main" val="20000"/>
                    </a:ext>
                  </a:extLst>
                </a:gridCol>
                <a:gridCol w="713118">
                  <a:extLst>
                    <a:ext uri="{9D8B030D-6E8A-4147-A177-3AD203B41FA5}">
                      <a16:colId xmlns:a16="http://schemas.microsoft.com/office/drawing/2014/main" val="20001"/>
                    </a:ext>
                  </a:extLst>
                </a:gridCol>
                <a:gridCol w="713118">
                  <a:extLst>
                    <a:ext uri="{9D8B030D-6E8A-4147-A177-3AD203B41FA5}">
                      <a16:colId xmlns:a16="http://schemas.microsoft.com/office/drawing/2014/main" val="20002"/>
                    </a:ext>
                  </a:extLst>
                </a:gridCol>
                <a:gridCol w="1074845">
                  <a:extLst>
                    <a:ext uri="{9D8B030D-6E8A-4147-A177-3AD203B41FA5}">
                      <a16:colId xmlns:a16="http://schemas.microsoft.com/office/drawing/2014/main" val="20003"/>
                    </a:ext>
                  </a:extLst>
                </a:gridCol>
                <a:gridCol w="1074845">
                  <a:extLst>
                    <a:ext uri="{9D8B030D-6E8A-4147-A177-3AD203B41FA5}">
                      <a16:colId xmlns:a16="http://schemas.microsoft.com/office/drawing/2014/main" val="20004"/>
                    </a:ext>
                  </a:extLst>
                </a:gridCol>
                <a:gridCol w="1074845">
                  <a:extLst>
                    <a:ext uri="{9D8B030D-6E8A-4147-A177-3AD203B41FA5}">
                      <a16:colId xmlns:a16="http://schemas.microsoft.com/office/drawing/2014/main" val="20005"/>
                    </a:ext>
                  </a:extLst>
                </a:gridCol>
                <a:gridCol w="992287">
                  <a:extLst>
                    <a:ext uri="{9D8B030D-6E8A-4147-A177-3AD203B41FA5}">
                      <a16:colId xmlns:a16="http://schemas.microsoft.com/office/drawing/2014/main" val="20006"/>
                    </a:ext>
                  </a:extLst>
                </a:gridCol>
                <a:gridCol w="1157403">
                  <a:extLst>
                    <a:ext uri="{9D8B030D-6E8A-4147-A177-3AD203B41FA5}">
                      <a16:colId xmlns:a16="http://schemas.microsoft.com/office/drawing/2014/main" val="20007"/>
                    </a:ext>
                  </a:extLst>
                </a:gridCol>
                <a:gridCol w="1074845">
                  <a:extLst>
                    <a:ext uri="{9D8B030D-6E8A-4147-A177-3AD203B41FA5}">
                      <a16:colId xmlns:a16="http://schemas.microsoft.com/office/drawing/2014/main" val="20008"/>
                    </a:ext>
                  </a:extLst>
                </a:gridCol>
              </a:tblGrid>
              <a:tr h="215900">
                <a:tc gridSpan="3">
                  <a:txBody>
                    <a:bodyPr/>
                    <a:lstStyle/>
                    <a:p>
                      <a:pPr marL="228600" indent="-228600" algn="l" fontAlgn="ctr">
                        <a:buAutoNum type="arabicPeriod"/>
                      </a:pPr>
                      <a:r>
                        <a:rPr lang="en-US" sz="1200" b="0" i="0" u="none" strike="noStrike" dirty="0">
                          <a:solidFill>
                            <a:srgbClr val="000000"/>
                          </a:solidFill>
                          <a:effectLst/>
                          <a:latin typeface="+mn-lt"/>
                        </a:rPr>
                        <a:t>Resolution</a:t>
                      </a:r>
                      <a:r>
                        <a:rPr lang="en-US" sz="1200" b="0" i="0" u="none" strike="noStrike" baseline="0" dirty="0">
                          <a:solidFill>
                            <a:srgbClr val="000000"/>
                          </a:solidFill>
                          <a:effectLst/>
                          <a:latin typeface="+mn-lt"/>
                        </a:rPr>
                        <a:t> </a:t>
                      </a:r>
                      <a:r>
                        <a:rPr lang="en-US" sz="1200" b="0" i="0" u="none" strike="noStrike" baseline="0" dirty="0" err="1">
                          <a:solidFill>
                            <a:srgbClr val="000000"/>
                          </a:solidFill>
                          <a:effectLst/>
                          <a:latin typeface="+mn-lt"/>
                        </a:rPr>
                        <a:t>đánh</a:t>
                      </a:r>
                      <a:r>
                        <a:rPr lang="en-US" sz="1200" b="0" i="0" u="none" strike="noStrike" baseline="0" dirty="0">
                          <a:solidFill>
                            <a:srgbClr val="000000"/>
                          </a:solidFill>
                          <a:effectLst/>
                          <a:latin typeface="+mn-lt"/>
                        </a:rPr>
                        <a:t> </a:t>
                      </a:r>
                      <a:r>
                        <a:rPr lang="en-US" sz="1200" b="0" i="0" u="none" strike="noStrike" baseline="0" dirty="0" err="1">
                          <a:solidFill>
                            <a:srgbClr val="000000"/>
                          </a:solidFill>
                          <a:effectLst/>
                          <a:latin typeface="+mn-lt"/>
                        </a:rPr>
                        <a:t>giá</a:t>
                      </a:r>
                      <a:r>
                        <a:rPr lang="en-US" sz="1200" b="0" i="0" u="none" strike="noStrike" baseline="0" dirty="0">
                          <a:solidFill>
                            <a:srgbClr val="000000"/>
                          </a:solidFill>
                          <a:effectLst/>
                          <a:latin typeface="+mn-lt"/>
                        </a:rPr>
                        <a:t> </a:t>
                      </a:r>
                      <a:r>
                        <a:rPr lang="en-US" sz="1200" b="0" i="0" u="none" strike="noStrike" baseline="0" dirty="0" err="1">
                          <a:solidFill>
                            <a:srgbClr val="000000"/>
                          </a:solidFill>
                          <a:effectLst/>
                          <a:latin typeface="+mn-lt"/>
                        </a:rPr>
                        <a:t>độ</a:t>
                      </a:r>
                      <a:r>
                        <a:rPr lang="en-US" sz="1200" b="0" i="0" u="none" strike="noStrike" baseline="0" dirty="0">
                          <a:solidFill>
                            <a:srgbClr val="000000"/>
                          </a:solidFill>
                          <a:effectLst/>
                          <a:latin typeface="+mn-lt"/>
                        </a:rPr>
                        <a:t> </a:t>
                      </a:r>
                    </a:p>
                    <a:p>
                      <a:pPr marL="228600" indent="-228600" algn="l" fontAlgn="ctr">
                        <a:buNone/>
                      </a:pPr>
                      <a:r>
                        <a:rPr lang="en-US" sz="1200" b="0" i="0" u="none" strike="noStrike" baseline="0" dirty="0" err="1">
                          <a:solidFill>
                            <a:srgbClr val="000000"/>
                          </a:solidFill>
                          <a:effectLst/>
                          <a:latin typeface="+mn-lt"/>
                        </a:rPr>
                        <a:t>thích</a:t>
                      </a:r>
                      <a:r>
                        <a:rPr lang="en-US" sz="1200" b="0" i="0" u="none" strike="noStrike" baseline="0" dirty="0">
                          <a:solidFill>
                            <a:srgbClr val="000000"/>
                          </a:solidFill>
                          <a:effectLst/>
                          <a:latin typeface="+mn-lt"/>
                        </a:rPr>
                        <a:t> </a:t>
                      </a:r>
                      <a:r>
                        <a:rPr lang="en-US" sz="1200" b="0" i="0" u="none" strike="noStrike" baseline="0" dirty="0" err="1">
                          <a:solidFill>
                            <a:srgbClr val="000000"/>
                          </a:solidFill>
                          <a:effectLst/>
                          <a:latin typeface="+mn-lt"/>
                        </a:rPr>
                        <a:t>hợp</a:t>
                      </a:r>
                      <a:endParaRPr lang="ko-KR" altLang="en-US" sz="1200" b="0" i="0" u="none" strike="noStrike" dirty="0">
                        <a:solidFill>
                          <a:srgbClr val="000000"/>
                        </a:solidFill>
                        <a:effectLst/>
                        <a:latin typeface="+mn-lt"/>
                      </a:endParaRPr>
                    </a:p>
                    <a:p>
                      <a:pPr marL="228600" indent="-228600" algn="l" fontAlgn="ctr">
                        <a:buAutoNum type="arabicPeriod"/>
                      </a:pP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a:txBody>
                    <a:bodyPr/>
                    <a:lstStyle/>
                    <a:p>
                      <a:pPr algn="l" fontAlgn="ctr"/>
                      <a:r>
                        <a:rPr lang="en-US" altLang="ko-KR" sz="1200" b="0" i="0" u="none" strike="noStrike" dirty="0" err="1">
                          <a:solidFill>
                            <a:srgbClr val="000000"/>
                          </a:solidFill>
                          <a:effectLst/>
                          <a:latin typeface="맑은 고딕"/>
                        </a:rPr>
                        <a:t>Rất</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tốt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0"/>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%RE =</a:t>
                      </a:r>
                    </a:p>
                  </a:txBody>
                  <a:tcPr marL="6350" marR="6350" marT="6350" marB="0" anchor="ctr">
                    <a:lnL>
                      <a:noFill/>
                    </a:lnL>
                    <a:lnR>
                      <a:noFill/>
                    </a:lnR>
                    <a:lnT>
                      <a:noFill/>
                    </a:lnT>
                    <a:lnB>
                      <a:noFill/>
                    </a:lnB>
                  </a:tcPr>
                </a:tc>
                <a:tc gridSpan="2">
                  <a:txBody>
                    <a:bodyPr/>
                    <a:lstStyle/>
                    <a:p>
                      <a:pPr algn="l" fontAlgn="ctr"/>
                      <a:r>
                        <a:rPr lang="en-US" sz="1200" b="0" i="0" u="none" strike="noStrike">
                          <a:solidFill>
                            <a:srgbClr val="000000"/>
                          </a:solidFill>
                          <a:effectLst/>
                          <a:latin typeface="맑은 고딕"/>
                        </a:rPr>
                        <a:t>RE/Tole %</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0.2</a:t>
                      </a:r>
                    </a:p>
                  </a:txBody>
                  <a:tcPr marL="6350" marR="6350" marT="6350" marB="0" anchor="ctr">
                    <a:lnL>
                      <a:noFill/>
                    </a:lnL>
                    <a:lnR>
                      <a:noFill/>
                    </a:lnR>
                    <a:lnT>
                      <a:noFill/>
                    </a:lnT>
                    <a:lnB>
                      <a:noFill/>
                    </a:lnB>
                  </a:tcPr>
                </a:tc>
                <a:tc>
                  <a:txBody>
                    <a:bodyPr/>
                    <a:lstStyle/>
                    <a:p>
                      <a:pPr algn="l" fontAlgn="ctr"/>
                      <a:r>
                        <a:rPr lang="en-US" altLang="ko-KR" sz="1200" b="0" i="0" u="none" strike="noStrike">
                          <a:solidFill>
                            <a:srgbClr val="000000"/>
                          </a:solidFill>
                          <a:effectLst/>
                          <a:latin typeface="맑은 고딕"/>
                        </a:rPr>
                        <a:t>%</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dưới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5% </a:t>
                      </a:r>
                      <a:r>
                        <a:rPr lang="en-US" altLang="ko-KR" sz="1200" b="0" i="0" u="none" strike="noStrike" dirty="0" err="1">
                          <a:solidFill>
                            <a:srgbClr val="000000"/>
                          </a:solidFill>
                          <a:effectLst/>
                          <a:latin typeface="맑은 고딕"/>
                        </a:rPr>
                        <a:t>không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1"/>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2"/>
                  </a:ext>
                </a:extLst>
              </a:tr>
              <a:tr h="215900">
                <a:tc gridSpan="2">
                  <a:txBody>
                    <a:bodyPr/>
                    <a:lstStyle/>
                    <a:p>
                      <a:pPr algn="l" fontAlgn="ctr"/>
                      <a:r>
                        <a:rPr lang="en-US" sz="1200" b="0" i="0" u="none" strike="noStrike" dirty="0">
                          <a:solidFill>
                            <a:srgbClr val="000000"/>
                          </a:solidFill>
                          <a:effectLst/>
                          <a:latin typeface="맑은 고딕"/>
                        </a:rPr>
                        <a:t>2. </a:t>
                      </a:r>
                      <a:r>
                        <a:rPr lang="en-US" sz="1200" b="0" i="0" u="none" strike="noStrike" dirty="0" err="1">
                          <a:solidFill>
                            <a:srgbClr val="000000"/>
                          </a:solidFill>
                          <a:effectLst/>
                          <a:latin typeface="맑은 고딕"/>
                        </a:rPr>
                        <a:t>Đánh</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giá</a:t>
                      </a:r>
                      <a:r>
                        <a:rPr lang="en-US" sz="1200" b="0" i="0" u="none" strike="noStrike" baseline="0" dirty="0">
                          <a:solidFill>
                            <a:srgbClr val="000000"/>
                          </a:solidFill>
                          <a:effectLst/>
                          <a:latin typeface="맑은 고딕"/>
                        </a:rPr>
                        <a:t> </a:t>
                      </a:r>
                      <a:r>
                        <a:rPr lang="en-US" sz="1200" b="0" i="0" u="none" strike="noStrike" dirty="0">
                          <a:solidFill>
                            <a:srgbClr val="000000"/>
                          </a:solidFill>
                          <a:effectLst/>
                          <a:latin typeface="맑은 고딕"/>
                        </a:rPr>
                        <a:t>Cg/</a:t>
                      </a:r>
                      <a:r>
                        <a:rPr lang="en-US" sz="1200" b="0" i="0" u="none" strike="noStrike" dirty="0" err="1">
                          <a:solidFill>
                            <a:srgbClr val="000000"/>
                          </a:solidFill>
                          <a:effectLst/>
                          <a:latin typeface="맑은 고딕"/>
                        </a:rPr>
                        <a:t>Cgk</a:t>
                      </a:r>
                      <a:r>
                        <a:rPr lang="en-US" sz="1200" b="0" i="0" u="none" strike="noStrike" dirty="0">
                          <a:solidFill>
                            <a:srgbClr val="000000"/>
                          </a:solidFill>
                          <a:effectLst/>
                          <a:latin typeface="맑은 고딕"/>
                        </a:rPr>
                        <a:t> </a:t>
                      </a:r>
                      <a:r>
                        <a:rPr lang="ko-KR" altLang="en-US" sz="1200" b="0" i="0" u="none" strike="noStrike" dirty="0">
                          <a:solidFill>
                            <a:srgbClr val="000000"/>
                          </a:solidFill>
                          <a:effectLst/>
                          <a:latin typeface="맑은 고딕"/>
                        </a:rPr>
                        <a:t> </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Không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3"/>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Cg  =</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0.2(</a:t>
                      </a:r>
                      <a:r>
                        <a:rPr lang="en-US" altLang="ko-KR" sz="1200" b="0" i="0" u="none" strike="noStrike" dirty="0" err="1">
                          <a:solidFill>
                            <a:srgbClr val="000000"/>
                          </a:solidFill>
                          <a:effectLst/>
                          <a:latin typeface="맑은 고딕"/>
                        </a:rPr>
                        <a:t>sai</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số</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cho</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phép</a:t>
                      </a:r>
                      <a:r>
                        <a:rPr lang="en-US" altLang="ko-KR" sz="1200" b="0" i="0" u="none" strike="noStrike" dirty="0">
                          <a:solidFill>
                            <a:srgbClr val="000000"/>
                          </a:solidFill>
                          <a:effectLst/>
                          <a:latin typeface="맑은 고딕"/>
                        </a:rPr>
                        <a:t>/ 6</a:t>
                      </a:r>
                      <a:r>
                        <a:rPr lang="en-US" sz="1200" b="0" i="0" u="none" strike="noStrike" dirty="0">
                          <a:solidFill>
                            <a:srgbClr val="000000"/>
                          </a:solidFill>
                          <a:effectLst/>
                          <a:latin typeface="맑은 고딕"/>
                        </a:rPr>
                        <a:t>s</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0.459069</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trên</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1.33 OK</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4"/>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Cgk =</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(0.1*(</a:t>
                      </a:r>
                      <a:r>
                        <a:rPr lang="en-US" altLang="ko-KR" sz="1200" b="0" i="0" u="none" strike="noStrike" dirty="0" err="1">
                          <a:solidFill>
                            <a:srgbClr val="000000"/>
                          </a:solidFill>
                          <a:effectLst/>
                          <a:latin typeface="맑은 고딕"/>
                        </a:rPr>
                        <a:t>sai</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số</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cho</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phép</a:t>
                      </a:r>
                      <a:r>
                        <a:rPr lang="en-US" altLang="ko-KR" sz="1200" b="0" i="0" u="none" strike="noStrike" dirty="0">
                          <a:solidFill>
                            <a:srgbClr val="000000"/>
                          </a:solidFill>
                          <a:effectLst/>
                          <a:latin typeface="맑은 고딕"/>
                        </a:rPr>
                        <a:t>)-</a:t>
                      </a:r>
                      <a:r>
                        <a:rPr lang="en-US" altLang="ko-KR" sz="1200" b="0" i="0" u="none" strike="noStrike" dirty="0" err="1">
                          <a:solidFill>
                            <a:srgbClr val="000000"/>
                          </a:solidFill>
                          <a:effectLst/>
                          <a:latin typeface="맑은 고딕"/>
                        </a:rPr>
                        <a:t>Độ</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lệch</a:t>
                      </a:r>
                      <a:r>
                        <a:rPr lang="en-US" altLang="ko-KR" sz="1200" b="0" i="0" u="none" strike="noStrike" dirty="0">
                          <a:solidFill>
                            <a:srgbClr val="000000"/>
                          </a:solidFill>
                          <a:effectLst/>
                          <a:latin typeface="맑은 고딕"/>
                        </a:rPr>
                        <a:t>)/3</a:t>
                      </a:r>
                      <a:r>
                        <a:rPr lang="en-US" sz="1200" b="0" i="0" u="none" strike="noStrike" dirty="0">
                          <a:solidFill>
                            <a:srgbClr val="000000"/>
                          </a:solidFill>
                          <a:effectLst/>
                          <a:latin typeface="맑은 고딕"/>
                        </a:rPr>
                        <a:t>s</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0.246612</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trên</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1.33 OK</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5"/>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6"/>
                  </a:ext>
                </a:extLst>
              </a:tr>
              <a:tr h="215900">
                <a:tc gridSpan="2">
                  <a:txBody>
                    <a:bodyPr/>
                    <a:lstStyle/>
                    <a:p>
                      <a:pPr algn="l" fontAlgn="ctr"/>
                      <a:r>
                        <a:rPr lang="en-US" sz="1200" b="0" i="0" u="none" strike="noStrike" dirty="0">
                          <a:solidFill>
                            <a:srgbClr val="000000"/>
                          </a:solidFill>
                          <a:effectLst/>
                          <a:latin typeface="맑은 고딕"/>
                        </a:rPr>
                        <a:t>3. </a:t>
                      </a:r>
                      <a:r>
                        <a:rPr lang="en-US" sz="1200" b="0" i="0" u="none" strike="noStrike" dirty="0" err="1">
                          <a:solidFill>
                            <a:srgbClr val="000000"/>
                          </a:solidFill>
                          <a:effectLst/>
                          <a:latin typeface="맑은 고딕"/>
                        </a:rPr>
                        <a:t>Phân</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tích</a:t>
                      </a:r>
                      <a:r>
                        <a:rPr lang="en-US" sz="1200" b="0" i="0" u="none" strike="noStrike" baseline="0" dirty="0">
                          <a:solidFill>
                            <a:srgbClr val="000000"/>
                          </a:solidFill>
                          <a:effectLst/>
                          <a:latin typeface="맑은 고딕"/>
                        </a:rPr>
                        <a:t> </a:t>
                      </a:r>
                      <a:r>
                        <a:rPr lang="en-US" sz="1200" b="0" i="0" u="none" strike="noStrike" dirty="0">
                          <a:solidFill>
                            <a:srgbClr val="000000"/>
                          </a:solidFill>
                          <a:effectLst/>
                          <a:latin typeface="맑은 고딕"/>
                        </a:rPr>
                        <a:t>AIAG </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7"/>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dirty="0" err="1">
                          <a:solidFill>
                            <a:srgbClr val="000000"/>
                          </a:solidFill>
                          <a:effectLst/>
                          <a:latin typeface="맑은 고딕"/>
                        </a:rPr>
                        <a:t>Đánh</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giá</a:t>
                      </a:r>
                      <a:r>
                        <a:rPr lang="en-US" sz="1200" b="0" i="0" u="none" strike="noStrike" dirty="0" err="1">
                          <a:solidFill>
                            <a:srgbClr val="000000"/>
                          </a:solidFill>
                          <a:effectLst/>
                          <a:latin typeface="맑은 고딕"/>
                        </a:rPr>
                        <a:t>%EV</a:t>
                      </a:r>
                      <a:r>
                        <a:rPr lang="en-US" sz="1200" b="0" i="0" u="none" strike="noStrike" dirty="0">
                          <a:solidFill>
                            <a:srgbClr val="000000"/>
                          </a:solidFill>
                          <a:effectLst/>
                          <a:latin typeface="맑은 고딕"/>
                        </a:rPr>
                        <a:t> </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Không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8"/>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%EV = </a:t>
                      </a: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6s/</a:t>
                      </a:r>
                      <a:r>
                        <a:rPr lang="en-US" sz="1200" b="0" i="0" u="none" strike="noStrike" dirty="0" err="1">
                          <a:solidFill>
                            <a:srgbClr val="000000"/>
                          </a:solidFill>
                          <a:effectLst/>
                          <a:latin typeface="맑은 고딕"/>
                        </a:rPr>
                        <a:t>sai</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số</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cho</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phép</a:t>
                      </a:r>
                      <a:r>
                        <a:rPr lang="ko-KR" altLang="en-US" sz="1200" b="0" i="0" u="none" strike="noStrike" dirty="0">
                          <a:solidFill>
                            <a:srgbClr val="000000"/>
                          </a:solidFill>
                          <a:effectLst/>
                          <a:latin typeface="맑은 고딕"/>
                        </a:rPr>
                        <a:t> </a:t>
                      </a:r>
                      <a:r>
                        <a:rPr lang="en-US" sz="1200" b="0" i="0" u="none" strike="noStrike" dirty="0">
                          <a:solidFill>
                            <a:srgbClr val="000000"/>
                          </a:solidFill>
                          <a:effectLst/>
                          <a:latin typeface="맑은 고딕"/>
                        </a:rPr>
                        <a:t>x 100</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43.56648</a:t>
                      </a:r>
                    </a:p>
                  </a:txBody>
                  <a:tcPr marL="6350" marR="6350" marT="6350" marB="0" anchor="ctr">
                    <a:lnL>
                      <a:noFill/>
                    </a:lnL>
                    <a:lnR>
                      <a:noFill/>
                    </a:lnR>
                    <a:lnT>
                      <a:noFill/>
                    </a:lnT>
                    <a:lnB>
                      <a:noFill/>
                    </a:lnB>
                  </a:tcPr>
                </a:tc>
                <a:tc>
                  <a:txBody>
                    <a:bodyPr/>
                    <a:lstStyle/>
                    <a:p>
                      <a:pPr algn="l" fontAlgn="ctr"/>
                      <a:r>
                        <a:rPr lang="en-US" altLang="ko-KR" sz="1200" b="0" i="0" u="none" strike="noStrike">
                          <a:solidFill>
                            <a:srgbClr val="000000"/>
                          </a:solidFill>
                          <a:effectLst/>
                          <a:latin typeface="맑은 고딕"/>
                        </a:rPr>
                        <a:t>%</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dưới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30%</a:t>
                      </a:r>
                      <a:r>
                        <a:rPr lang="en-US" altLang="ko-KR" sz="1200" b="0" i="0" u="none" strike="noStrike" baseline="0" dirty="0">
                          <a:solidFill>
                            <a:srgbClr val="000000"/>
                          </a:solidFill>
                          <a:effectLst/>
                          <a:latin typeface="맑은 고딕"/>
                        </a:rPr>
                        <a:t> OK</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extLst>
                  <a:ext uri="{0D108BD9-81ED-4DB2-BD59-A6C34878D82A}">
                    <a16:rowId xmlns:a16="http://schemas.microsoft.com/office/drawing/2014/main" val="10009"/>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0"/>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Kiểm</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định</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giả</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thuyết</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độ</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lệch</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r>
                        <a:rPr lang="en-US" altLang="ko-KR" sz="1200" b="0" i="0" u="none" strike="noStrike" dirty="0" err="1">
                          <a:solidFill>
                            <a:srgbClr val="000000"/>
                          </a:solidFill>
                          <a:effectLst/>
                          <a:latin typeface="맑은 고딕"/>
                        </a:rPr>
                        <a:t>Có</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độ</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lệch</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1"/>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H0 :  </a:t>
                      </a:r>
                      <a:r>
                        <a:rPr lang="en-US" sz="1200" b="0" i="0" u="none" strike="noStrike" dirty="0" err="1">
                          <a:solidFill>
                            <a:srgbClr val="000000"/>
                          </a:solidFill>
                          <a:effectLst/>
                          <a:latin typeface="맑은 고딕"/>
                        </a:rPr>
                        <a:t>độ</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lệch</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0 </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2"/>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Kiểm</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định</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lượng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thống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kê</a:t>
                      </a:r>
                      <a:r>
                        <a:rPr lang="en-US" altLang="ko-KR" sz="1200" b="0" i="0" u="none" strike="noStrike" baseline="0" dirty="0">
                          <a:solidFill>
                            <a:srgbClr val="000000"/>
                          </a:solidFill>
                          <a:effectLst/>
                          <a:latin typeface="맑은 고딕"/>
                        </a:rPr>
                        <a:t> </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 </a:t>
                      </a:r>
                    </a:p>
                  </a:txBody>
                  <a:tcPr marL="6350" marR="6350" marT="6350" marB="0" anchor="ctr">
                    <a:lnL>
                      <a:noFill/>
                    </a:lnL>
                    <a:lnR>
                      <a:noFill/>
                    </a:lnR>
                    <a:lnT>
                      <a:noFill/>
                    </a:lnT>
                    <a:lnB>
                      <a:noFill/>
                    </a:lnB>
                  </a:tcPr>
                </a:tc>
                <a:tc hMerge="1">
                  <a:txBody>
                    <a:bodyPr/>
                    <a:lstStyle/>
                    <a:p>
                      <a:pPr latinLnBrk="1"/>
                      <a:endParaRPr lang="ko-KR" altLang="en-US"/>
                    </a:p>
                  </a:txBody>
                  <a:tcPr/>
                </a:tc>
                <a:tc gridSpan="2">
                  <a:txBody>
                    <a:bodyPr/>
                    <a:lstStyle/>
                    <a:p>
                      <a:pPr algn="l" fontAlgn="ctr"/>
                      <a:r>
                        <a:rPr lang="en-US" altLang="ko-KR" sz="1200" b="0" i="0" u="none" strike="noStrike" dirty="0" err="1">
                          <a:solidFill>
                            <a:srgbClr val="000000"/>
                          </a:solidFill>
                          <a:effectLst/>
                          <a:latin typeface="맑은 고딕"/>
                        </a:rPr>
                        <a:t>Độ</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lệch</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sai</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số</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4.506892</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3"/>
                  </a:ext>
                </a:extLst>
              </a:tr>
              <a:tr h="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Sai</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số</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0.000513</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4"/>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a:solidFill>
                            <a:srgbClr val="000000"/>
                          </a:solidFill>
                          <a:effectLst/>
                          <a:latin typeface="맑은 고딕"/>
                        </a:rPr>
                        <a:t>rejection</a:t>
                      </a:r>
                      <a:r>
                        <a:rPr lang="en-US" altLang="ko-KR" sz="1200" b="0" i="0" u="none" strike="noStrike" baseline="0" dirty="0">
                          <a:solidFill>
                            <a:srgbClr val="000000"/>
                          </a:solidFill>
                          <a:effectLst/>
                          <a:latin typeface="맑은 고딕"/>
                        </a:rPr>
                        <a:t> region</a:t>
                      </a:r>
                      <a:r>
                        <a:rPr lang="ko-KR" altLang="en-US" sz="1200" b="0" i="0" u="none" strike="noStrike" dirty="0">
                          <a:solidFill>
                            <a:srgbClr val="000000"/>
                          </a:solidFill>
                          <a:effectLst/>
                          <a:latin typeface="맑은 고딕"/>
                        </a:rPr>
                        <a:t> </a:t>
                      </a: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t(0975,độ</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tự</a:t>
                      </a:r>
                      <a:r>
                        <a:rPr lang="en-US" sz="1200" b="0" i="0" u="none" strike="noStrike" baseline="0" dirty="0">
                          <a:solidFill>
                            <a:srgbClr val="000000"/>
                          </a:solidFill>
                          <a:effectLst/>
                          <a:latin typeface="맑은 고딕"/>
                        </a:rPr>
                        <a:t> do</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2.009575</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5"/>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6"/>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Tổng</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hợp</a:t>
                      </a:r>
                      <a:endParaRPr lang="ko-KR" altLang="en-US" sz="1200" b="0" i="0" u="none" strike="noStrike" dirty="0">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1200" b="0" i="0" u="none" strike="noStrike">
                          <a:solidFill>
                            <a:srgbClr val="000000"/>
                          </a:solidFill>
                          <a:effectLst/>
                          <a:latin typeface="맑은 고딕"/>
                        </a:rPr>
                        <a:t>%EV</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Độ</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lệch</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7"/>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altLang="ko-KR" sz="1200" b="0" i="0" u="none" strike="noStrike" dirty="0" err="1">
                          <a:solidFill>
                            <a:srgbClr val="000000"/>
                          </a:solidFill>
                          <a:effectLst/>
                          <a:latin typeface="맑은 고딕"/>
                        </a:rPr>
                        <a:t>Không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err="1">
                          <a:solidFill>
                            <a:srgbClr val="000000"/>
                          </a:solidFill>
                          <a:effectLst/>
                          <a:latin typeface="맑은 고딕"/>
                        </a:rPr>
                        <a:t>Có</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độ</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lệch</a:t>
                      </a:r>
                      <a:r>
                        <a:rPr lang="en-US" altLang="ko-KR" sz="1200" b="0" i="0" u="none" strike="noStrike" baseline="0" dirty="0">
                          <a:solidFill>
                            <a:srgbClr val="000000"/>
                          </a:solidFill>
                          <a:effectLst/>
                          <a:latin typeface="맑은 고딕"/>
                        </a:rPr>
                        <a:t> Bias </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8"/>
                  </a:ext>
                </a:extLst>
              </a:tr>
            </a:tbl>
          </a:graphicData>
        </a:graphic>
      </p:graphicFrame>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55</a:t>
            </a:fld>
            <a:endParaRPr lang="ko-KR" altLang="en-US" dirty="0"/>
          </a:p>
        </p:txBody>
      </p:sp>
    </p:spTree>
    <p:extLst>
      <p:ext uri="{BB962C8B-B14F-4D97-AF65-F5344CB8AC3E}">
        <p14:creationId xmlns:p14="http://schemas.microsoft.com/office/powerpoint/2010/main" val="253253731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1868910" cy="400110"/>
          </a:xfrm>
          <a:prstGeom prst="rect">
            <a:avLst/>
          </a:prstGeom>
          <a:noFill/>
        </p:spPr>
        <p:txBody>
          <a:bodyPr wrap="none" rtlCol="0">
            <a:spAutoFit/>
          </a:bodyPr>
          <a:lstStyle/>
          <a:p>
            <a:r>
              <a:rPr lang="en-US" altLang="ko-KR" sz="2000" b="1" dirty="0"/>
              <a:t>Type 2 Study </a:t>
            </a:r>
            <a:endParaRPr lang="ko-KR" altLang="en-US" sz="2000" b="1" dirty="0"/>
          </a:p>
        </p:txBody>
      </p:sp>
      <p:sp>
        <p:nvSpPr>
          <p:cNvPr id="3" name="TextBox 2"/>
          <p:cNvSpPr txBox="1"/>
          <p:nvPr/>
        </p:nvSpPr>
        <p:spPr>
          <a:xfrm>
            <a:off x="251521" y="764704"/>
            <a:ext cx="8749635" cy="738664"/>
          </a:xfrm>
          <a:prstGeom prst="rect">
            <a:avLst/>
          </a:prstGeom>
          <a:noFill/>
        </p:spPr>
        <p:txBody>
          <a:bodyPr wrap="square" rtlCol="0">
            <a:spAutoFit/>
          </a:bodyPr>
          <a:lstStyle/>
          <a:p>
            <a:r>
              <a:rPr lang="en-US" sz="1400" dirty="0"/>
              <a:t>Type 2 Study is usually called Gage R&amp;R. It is a method of evaluating the accuracy of a measurement system in consideration of reproducibility, which is not only the repeatability of the instrument itself, but also the dispersion among the measurement operators.</a:t>
            </a:r>
          </a:p>
        </p:txBody>
      </p:sp>
      <p:sp>
        <p:nvSpPr>
          <p:cNvPr id="4" name="TextBox 3"/>
          <p:cNvSpPr txBox="1"/>
          <p:nvPr/>
        </p:nvSpPr>
        <p:spPr>
          <a:xfrm>
            <a:off x="251520" y="1477020"/>
            <a:ext cx="8568952" cy="523220"/>
          </a:xfrm>
          <a:prstGeom prst="rect">
            <a:avLst/>
          </a:prstGeom>
          <a:noFill/>
        </p:spPr>
        <p:txBody>
          <a:bodyPr wrap="square" rtlCol="0">
            <a:spAutoFit/>
          </a:bodyPr>
          <a:lstStyle/>
          <a:p>
            <a:r>
              <a:rPr lang="en-US" sz="1400" dirty="0"/>
              <a:t>Normally, 10 samples are randomly extracted from the process, and three of the measurement workers using the corresponding instrument are selected and measured repeatedly 2-3 times in general.</a:t>
            </a:r>
            <a:endParaRPr lang="ko-KR" altLang="en-US" sz="1400" dirty="0"/>
          </a:p>
        </p:txBody>
      </p:sp>
      <p:graphicFrame>
        <p:nvGraphicFramePr>
          <p:cNvPr id="5" name="표 4"/>
          <p:cNvGraphicFramePr>
            <a:graphicFrameLocks noGrp="1"/>
          </p:cNvGraphicFramePr>
          <p:nvPr>
            <p:extLst>
              <p:ext uri="{D42A27DB-BD31-4B8C-83A1-F6EECF244321}">
                <p14:modId xmlns:p14="http://schemas.microsoft.com/office/powerpoint/2010/main" val="147356761"/>
              </p:ext>
            </p:extLst>
          </p:nvPr>
        </p:nvGraphicFramePr>
        <p:xfrm>
          <a:off x="755576" y="2348880"/>
          <a:ext cx="7848872" cy="4358502"/>
        </p:xfrm>
        <a:graphic>
          <a:graphicData uri="http://schemas.openxmlformats.org/drawingml/2006/table">
            <a:tbl>
              <a:tblPr firstRow="1" bandRow="1">
                <a:tableStyleId>{5C22544A-7EE6-4342-B048-85BDC9FD1C3A}</a:tableStyleId>
              </a:tblPr>
              <a:tblGrid>
                <a:gridCol w="720080">
                  <a:extLst>
                    <a:ext uri="{9D8B030D-6E8A-4147-A177-3AD203B41FA5}">
                      <a16:colId xmlns:a16="http://schemas.microsoft.com/office/drawing/2014/main" val="20000"/>
                    </a:ext>
                  </a:extLst>
                </a:gridCol>
                <a:gridCol w="2376264">
                  <a:extLst>
                    <a:ext uri="{9D8B030D-6E8A-4147-A177-3AD203B41FA5}">
                      <a16:colId xmlns:a16="http://schemas.microsoft.com/office/drawing/2014/main" val="20001"/>
                    </a:ext>
                  </a:extLst>
                </a:gridCol>
                <a:gridCol w="2376264">
                  <a:extLst>
                    <a:ext uri="{9D8B030D-6E8A-4147-A177-3AD203B41FA5}">
                      <a16:colId xmlns:a16="http://schemas.microsoft.com/office/drawing/2014/main" val="20002"/>
                    </a:ext>
                  </a:extLst>
                </a:gridCol>
                <a:gridCol w="2376264">
                  <a:extLst>
                    <a:ext uri="{9D8B030D-6E8A-4147-A177-3AD203B41FA5}">
                      <a16:colId xmlns:a16="http://schemas.microsoft.com/office/drawing/2014/main" val="20003"/>
                    </a:ext>
                  </a:extLst>
                </a:gridCol>
              </a:tblGrid>
              <a:tr h="342038">
                <a:tc>
                  <a:txBody>
                    <a:bodyPr/>
                    <a:lstStyle/>
                    <a:p>
                      <a:pPr algn="ctr" latinLnBrk="1"/>
                      <a:r>
                        <a:rPr lang="en-US" altLang="ko-KR" sz="1100" dirty="0">
                          <a:solidFill>
                            <a:schemeClr val="tx1"/>
                          </a:solidFill>
                        </a:rPr>
                        <a:t>Item</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Formula</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Evaluation index</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Evaluation guideline</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342038">
                <a:tc rowSpan="3">
                  <a:txBody>
                    <a:bodyPr/>
                    <a:lstStyle/>
                    <a:p>
                      <a:pPr algn="ctr" latinLnBrk="1"/>
                      <a:r>
                        <a:rPr lang="en-US" altLang="ko-KR" sz="1100" dirty="0">
                          <a:solidFill>
                            <a:schemeClr val="tx1"/>
                          </a:solidFill>
                        </a:rPr>
                        <a:t>%Contribution</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Under 1%</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1100" dirty="0">
                          <a:solidFill>
                            <a:schemeClr val="tx1"/>
                          </a:solidFill>
                        </a:rPr>
                        <a:t> </a:t>
                      </a:r>
                      <a:r>
                        <a:rPr lang="en-US" altLang="ko-KR" sz="1100" dirty="0">
                          <a:solidFill>
                            <a:schemeClr val="tx1"/>
                          </a:solidFill>
                        </a:rPr>
                        <a:t>Pass</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342038">
                <a:tc vMerge="1">
                  <a:txBody>
                    <a:bodyPr/>
                    <a:lstStyle/>
                    <a:p>
                      <a:pPr latinLnBrk="1"/>
                      <a:endParaRPr lang="ko-KR" altLang="en-US"/>
                    </a:p>
                  </a:txBody>
                  <a:tcPr/>
                </a:tc>
                <a:tc vMerge="1">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1% ~ 9%</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Pass conditional on the premise of improvement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9% or more</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Fail</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342038">
                <a:tc rowSpan="3">
                  <a:txBody>
                    <a:bodyPr/>
                    <a:lstStyle/>
                    <a:p>
                      <a:pPr algn="ctr" latinLnBrk="1"/>
                      <a:r>
                        <a:rPr lang="en-US" altLang="ko-KR" sz="1100" dirty="0">
                          <a:solidFill>
                            <a:schemeClr val="tx1"/>
                          </a:solidFill>
                        </a:rPr>
                        <a:t>%R%R</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Under 10%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Pass</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10%</a:t>
                      </a:r>
                      <a:r>
                        <a:rPr lang="en-US" altLang="ko-KR" sz="1100" baseline="0" dirty="0">
                          <a:solidFill>
                            <a:schemeClr val="tx1"/>
                          </a:solidFill>
                        </a:rPr>
                        <a:t> ~ 30%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Pass conditional on the premise</a:t>
                      </a:r>
                      <a:r>
                        <a:rPr lang="en-US" altLang="ko-KR" sz="1100" baseline="0" dirty="0">
                          <a:solidFill>
                            <a:schemeClr val="tx1"/>
                          </a:solidFill>
                        </a:rPr>
                        <a:t> of improvement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30% or</a:t>
                      </a:r>
                      <a:r>
                        <a:rPr lang="en-US" altLang="ko-KR" sz="1100" baseline="0" dirty="0">
                          <a:solidFill>
                            <a:schemeClr val="tx1"/>
                          </a:solidFill>
                        </a:rPr>
                        <a:t> more</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Fail</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342038">
                <a:tc rowSpan="3">
                  <a:txBody>
                    <a:bodyPr/>
                    <a:lstStyle/>
                    <a:p>
                      <a:pPr algn="ctr" latinLnBrk="1"/>
                      <a:r>
                        <a:rPr lang="en-US" altLang="ko-KR" sz="1100" dirty="0">
                          <a:solidFill>
                            <a:schemeClr val="tx1"/>
                          </a:solidFill>
                        </a:rPr>
                        <a:t>%PTR</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Under 10%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Pass</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10%</a:t>
                      </a:r>
                      <a:r>
                        <a:rPr lang="en-US" altLang="ko-KR" sz="1100" baseline="0" dirty="0">
                          <a:solidFill>
                            <a:schemeClr val="tx1"/>
                          </a:solidFill>
                        </a:rPr>
                        <a:t> ~ 30%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Pass conditional on the premise</a:t>
                      </a:r>
                      <a:r>
                        <a:rPr lang="en-US" altLang="ko-KR" sz="1100" baseline="0" dirty="0">
                          <a:solidFill>
                            <a:schemeClr val="tx1"/>
                          </a:solidFill>
                        </a:rPr>
                        <a:t> of improvement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30%</a:t>
                      </a:r>
                      <a:r>
                        <a:rPr lang="en-US" altLang="ko-KR" sz="1100" baseline="0" dirty="0">
                          <a:solidFill>
                            <a:schemeClr val="tx1"/>
                          </a:solidFill>
                        </a:rPr>
                        <a:t> or more</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Fail</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684076">
                <a:tc>
                  <a:txBody>
                    <a:bodyPr/>
                    <a:lstStyle/>
                    <a:p>
                      <a:pPr algn="ctr" latinLnBrk="1"/>
                      <a:r>
                        <a:rPr lang="en-US" altLang="ko-KR" sz="1100" dirty="0" err="1">
                          <a:solidFill>
                            <a:schemeClr val="tx1"/>
                          </a:solidFill>
                        </a:rPr>
                        <a:t>ndc</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100" dirty="0">
                          <a:solidFill>
                            <a:schemeClr val="tx1"/>
                          </a:solidFill>
                        </a:rPr>
                        <a:t>5</a:t>
                      </a:r>
                      <a:r>
                        <a:rPr lang="ko-KR" altLang="en-US" sz="1100" baseline="0" dirty="0">
                          <a:solidFill>
                            <a:schemeClr val="tx1"/>
                          </a:solidFill>
                        </a:rPr>
                        <a:t> </a:t>
                      </a:r>
                      <a:r>
                        <a:rPr lang="en-US" altLang="ko-KR" sz="1100" baseline="0" dirty="0">
                          <a:solidFill>
                            <a:schemeClr val="tx1"/>
                          </a:solidFill>
                        </a:rPr>
                        <a:t>or more</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Pass</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bl>
          </a:graphicData>
        </a:graphic>
      </p:graphicFrame>
      <p:sp>
        <p:nvSpPr>
          <p:cNvPr id="6" name="TextBox 5"/>
          <p:cNvSpPr txBox="1"/>
          <p:nvPr/>
        </p:nvSpPr>
        <p:spPr>
          <a:xfrm>
            <a:off x="2339183" y="1988840"/>
            <a:ext cx="4804585" cy="307777"/>
          </a:xfrm>
          <a:prstGeom prst="rect">
            <a:avLst/>
          </a:prstGeom>
          <a:noFill/>
        </p:spPr>
        <p:txBody>
          <a:bodyPr wrap="none" rtlCol="0">
            <a:spAutoFit/>
          </a:bodyPr>
          <a:lstStyle/>
          <a:p>
            <a:r>
              <a:rPr lang="en-US" altLang="ko-KR" sz="1400" u="sng" dirty="0"/>
              <a:t>Type 2 Study Evaluation index</a:t>
            </a:r>
            <a:r>
              <a:rPr lang="ko-KR" altLang="en-US" sz="1400" u="sng" dirty="0"/>
              <a:t> </a:t>
            </a:r>
            <a:r>
              <a:rPr lang="en-US" altLang="ko-KR" sz="1400" u="sng" dirty="0"/>
              <a:t>and</a:t>
            </a:r>
            <a:r>
              <a:rPr lang="ko-KR" altLang="en-US" sz="1400" u="sng" dirty="0"/>
              <a:t> </a:t>
            </a:r>
            <a:r>
              <a:rPr lang="en-US" altLang="ko-KR" sz="1400" u="sng" dirty="0"/>
              <a:t>Evaluation Guidelines</a:t>
            </a:r>
            <a:endParaRPr lang="ko-KR" altLang="en-US" sz="1400" u="sng" dirty="0"/>
          </a:p>
        </p:txBody>
      </p:sp>
      <p:graphicFrame>
        <p:nvGraphicFramePr>
          <p:cNvPr id="8" name="개체 7"/>
          <p:cNvGraphicFramePr>
            <a:graphicFrameLocks noChangeAspect="1"/>
          </p:cNvGraphicFramePr>
          <p:nvPr>
            <p:extLst>
              <p:ext uri="{D42A27DB-BD31-4B8C-83A1-F6EECF244321}">
                <p14:modId xmlns:p14="http://schemas.microsoft.com/office/powerpoint/2010/main" val="2824545041"/>
              </p:ext>
            </p:extLst>
          </p:nvPr>
        </p:nvGraphicFramePr>
        <p:xfrm>
          <a:off x="1895475" y="3032695"/>
          <a:ext cx="1404938" cy="468313"/>
        </p:xfrm>
        <a:graphic>
          <a:graphicData uri="http://schemas.openxmlformats.org/presentationml/2006/ole">
            <mc:AlternateContent xmlns:mc="http://schemas.openxmlformats.org/markup-compatibility/2006">
              <mc:Choice xmlns:v="urn:schemas-microsoft-com:vml" Requires="v">
                <p:oleObj name="수식" r:id="rId2" imgW="1333440" imgH="457200" progId="Equation.3">
                  <p:embed/>
                </p:oleObj>
              </mc:Choice>
              <mc:Fallback>
                <p:oleObj name="수식" r:id="rId2" imgW="1333440" imgH="457200" progId="Equation.3">
                  <p:embed/>
                  <p:pic>
                    <p:nvPicPr>
                      <p:cNvPr id="8" name="개체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95475" y="3032695"/>
                        <a:ext cx="1404938" cy="468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개체 13"/>
          <p:cNvGraphicFramePr>
            <a:graphicFrameLocks noChangeAspect="1"/>
          </p:cNvGraphicFramePr>
          <p:nvPr>
            <p:extLst>
              <p:ext uri="{D42A27DB-BD31-4B8C-83A1-F6EECF244321}">
                <p14:modId xmlns:p14="http://schemas.microsoft.com/office/powerpoint/2010/main" val="4110074466"/>
              </p:ext>
            </p:extLst>
          </p:nvPr>
        </p:nvGraphicFramePr>
        <p:xfrm>
          <a:off x="1912938" y="4005263"/>
          <a:ext cx="1538287" cy="468312"/>
        </p:xfrm>
        <a:graphic>
          <a:graphicData uri="http://schemas.openxmlformats.org/presentationml/2006/ole">
            <mc:AlternateContent xmlns:mc="http://schemas.openxmlformats.org/markup-compatibility/2006">
              <mc:Choice xmlns:v="urn:schemas-microsoft-com:vml" Requires="v">
                <p:oleObj name="수식" r:id="rId4" imgW="1460160" imgH="457200" progId="Equation.3">
                  <p:embed/>
                </p:oleObj>
              </mc:Choice>
              <mc:Fallback>
                <p:oleObj name="수식" r:id="rId4" imgW="1460160" imgH="457200" progId="Equation.3">
                  <p:embed/>
                  <p:pic>
                    <p:nvPicPr>
                      <p:cNvPr id="14" name="개체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12938" y="4005263"/>
                        <a:ext cx="1538287" cy="468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개체 14"/>
          <p:cNvGraphicFramePr>
            <a:graphicFrameLocks noChangeAspect="1"/>
          </p:cNvGraphicFramePr>
          <p:nvPr>
            <p:extLst>
              <p:ext uri="{D42A27DB-BD31-4B8C-83A1-F6EECF244321}">
                <p14:modId xmlns:p14="http://schemas.microsoft.com/office/powerpoint/2010/main" val="1626616042"/>
              </p:ext>
            </p:extLst>
          </p:nvPr>
        </p:nvGraphicFramePr>
        <p:xfrm>
          <a:off x="1681163" y="5103813"/>
          <a:ext cx="1833562" cy="430212"/>
        </p:xfrm>
        <a:graphic>
          <a:graphicData uri="http://schemas.openxmlformats.org/presentationml/2006/ole">
            <mc:AlternateContent xmlns:mc="http://schemas.openxmlformats.org/markup-compatibility/2006">
              <mc:Choice xmlns:v="urn:schemas-microsoft-com:vml" Requires="v">
                <p:oleObj name="수식" r:id="rId6" imgW="1739880" imgH="419040" progId="Equation.3">
                  <p:embed/>
                </p:oleObj>
              </mc:Choice>
              <mc:Fallback>
                <p:oleObj name="수식" r:id="rId6" imgW="1739880" imgH="419040" progId="Equation.3">
                  <p:embed/>
                  <p:pic>
                    <p:nvPicPr>
                      <p:cNvPr id="15" name="개체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81163" y="5103813"/>
                        <a:ext cx="1833562" cy="4302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개체 17"/>
          <p:cNvGraphicFramePr>
            <a:graphicFrameLocks noChangeAspect="1"/>
          </p:cNvGraphicFramePr>
          <p:nvPr>
            <p:extLst>
              <p:ext uri="{D42A27DB-BD31-4B8C-83A1-F6EECF244321}">
                <p14:modId xmlns:p14="http://schemas.microsoft.com/office/powerpoint/2010/main" val="1197594398"/>
              </p:ext>
            </p:extLst>
          </p:nvPr>
        </p:nvGraphicFramePr>
        <p:xfrm>
          <a:off x="1928794" y="6072206"/>
          <a:ext cx="1323975" cy="468313"/>
        </p:xfrm>
        <a:graphic>
          <a:graphicData uri="http://schemas.openxmlformats.org/presentationml/2006/ole">
            <mc:AlternateContent xmlns:mc="http://schemas.openxmlformats.org/markup-compatibility/2006">
              <mc:Choice xmlns:v="urn:schemas-microsoft-com:vml" Requires="v">
                <p:oleObj name="수식" r:id="rId8" imgW="1257120" imgH="457200" progId="Equation.3">
                  <p:embed/>
                </p:oleObj>
              </mc:Choice>
              <mc:Fallback>
                <p:oleObj name="수식" r:id="rId8" imgW="1257120" imgH="457200" progId="Equation.3">
                  <p:embed/>
                  <p:pic>
                    <p:nvPicPr>
                      <p:cNvPr id="18" name="개체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28794" y="6072206"/>
                        <a:ext cx="1323975" cy="468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56</a:t>
            </a:fld>
            <a:endParaRPr lang="ko-KR" altLang="en-US" dirty="0"/>
          </a:p>
        </p:txBody>
      </p:sp>
    </p:spTree>
    <p:extLst>
      <p:ext uri="{BB962C8B-B14F-4D97-AF65-F5344CB8AC3E}">
        <p14:creationId xmlns:p14="http://schemas.microsoft.com/office/powerpoint/2010/main" val="134660515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2481257" cy="400110"/>
          </a:xfrm>
          <a:prstGeom prst="rect">
            <a:avLst/>
          </a:prstGeom>
          <a:noFill/>
        </p:spPr>
        <p:txBody>
          <a:bodyPr wrap="none" rtlCol="0">
            <a:spAutoFit/>
          </a:bodyPr>
          <a:lstStyle/>
          <a:p>
            <a:r>
              <a:rPr lang="en-US" altLang="ko-KR" sz="2000" b="1" dirty="0"/>
              <a:t>Type 3, 4, 5 Study </a:t>
            </a:r>
            <a:endParaRPr lang="ko-KR" altLang="en-US" sz="2000" b="1" dirty="0"/>
          </a:p>
        </p:txBody>
      </p:sp>
      <p:sp>
        <p:nvSpPr>
          <p:cNvPr id="3" name="TextBox 2"/>
          <p:cNvSpPr txBox="1"/>
          <p:nvPr/>
        </p:nvSpPr>
        <p:spPr>
          <a:xfrm>
            <a:off x="251520" y="818128"/>
            <a:ext cx="8749636" cy="738664"/>
          </a:xfrm>
          <a:prstGeom prst="rect">
            <a:avLst/>
          </a:prstGeom>
          <a:noFill/>
        </p:spPr>
        <p:txBody>
          <a:bodyPr wrap="square" rtlCol="0">
            <a:spAutoFit/>
          </a:bodyPr>
          <a:lstStyle/>
          <a:p>
            <a:r>
              <a:rPr lang="en-US" sz="1400" dirty="0"/>
              <a:t>Type 3 Study is the Gage R &amp; R Study for the case that there is no influence of the measurement worker. When using automatic measuring equipment, there is no influence of the measuring person. In this case, there is no reproducibility and repeatability only between the measurers.</a:t>
            </a:r>
            <a:endParaRPr lang="ko-KR" altLang="en-US" sz="1400" dirty="0"/>
          </a:p>
        </p:txBody>
      </p:sp>
      <p:sp>
        <p:nvSpPr>
          <p:cNvPr id="4" name="TextBox 3"/>
          <p:cNvSpPr txBox="1"/>
          <p:nvPr/>
        </p:nvSpPr>
        <p:spPr>
          <a:xfrm>
            <a:off x="251521" y="1618766"/>
            <a:ext cx="8678198" cy="738664"/>
          </a:xfrm>
          <a:prstGeom prst="rect">
            <a:avLst/>
          </a:prstGeom>
          <a:noFill/>
        </p:spPr>
        <p:txBody>
          <a:bodyPr wrap="square" rtlCol="0">
            <a:spAutoFit/>
          </a:bodyPr>
          <a:lstStyle/>
          <a:p>
            <a:r>
              <a:rPr lang="en-US" sz="1400" dirty="0"/>
              <a:t>The Type 3 Study randomly selects p parts in the production process and measures the repeat r times. At least 5 parts should be selected for GM and p x r = 50 or more. Type 2 Study becomes Type 3 if </a:t>
            </a:r>
          </a:p>
          <a:p>
            <a:r>
              <a:rPr lang="en-US" sz="1400" dirty="0"/>
              <a:t>there is no distinction of person</a:t>
            </a:r>
            <a:endParaRPr lang="ko-KR" altLang="en-US" sz="1400" dirty="0"/>
          </a:p>
        </p:txBody>
      </p:sp>
      <p:sp>
        <p:nvSpPr>
          <p:cNvPr id="5" name="TextBox 4"/>
          <p:cNvSpPr txBox="1"/>
          <p:nvPr/>
        </p:nvSpPr>
        <p:spPr>
          <a:xfrm>
            <a:off x="251521" y="2453722"/>
            <a:ext cx="8678197" cy="760964"/>
          </a:xfrm>
          <a:prstGeom prst="rect">
            <a:avLst/>
          </a:prstGeom>
          <a:noFill/>
        </p:spPr>
        <p:txBody>
          <a:bodyPr wrap="square" rtlCol="0">
            <a:spAutoFit/>
          </a:bodyPr>
          <a:lstStyle/>
          <a:p>
            <a:r>
              <a:rPr lang="en-US" sz="1400" dirty="0"/>
              <a:t>The Type 4 Study evaluates the consistency of measurements within the measurement range of the instrument. That is, if the bias value is constant throughout the measurement range of the meter, it is said that the linearity is good. This follows AIAG's linearity determination guidelines.</a:t>
            </a:r>
            <a:endParaRPr lang="ko-KR" altLang="en-US" sz="1400" dirty="0"/>
          </a:p>
        </p:txBody>
      </p:sp>
      <p:sp>
        <p:nvSpPr>
          <p:cNvPr id="6" name="TextBox 5"/>
          <p:cNvSpPr txBox="1"/>
          <p:nvPr/>
        </p:nvSpPr>
        <p:spPr>
          <a:xfrm>
            <a:off x="251520" y="3275346"/>
            <a:ext cx="5612114" cy="307777"/>
          </a:xfrm>
          <a:prstGeom prst="rect">
            <a:avLst/>
          </a:prstGeom>
          <a:noFill/>
        </p:spPr>
        <p:txBody>
          <a:bodyPr wrap="none" rtlCol="0">
            <a:spAutoFit/>
          </a:bodyPr>
          <a:lstStyle/>
          <a:p>
            <a:r>
              <a:rPr lang="en-US" sz="1400" dirty="0"/>
              <a:t>The measurement experiments for linearity analysis are as follows.</a:t>
            </a:r>
            <a:endParaRPr lang="ko-KR" altLang="en-US" sz="1400" dirty="0"/>
          </a:p>
        </p:txBody>
      </p:sp>
      <p:sp>
        <p:nvSpPr>
          <p:cNvPr id="7" name="TextBox 6"/>
          <p:cNvSpPr txBox="1"/>
          <p:nvPr/>
        </p:nvSpPr>
        <p:spPr>
          <a:xfrm>
            <a:off x="444383" y="3615641"/>
            <a:ext cx="8413897" cy="1384995"/>
          </a:xfrm>
          <a:prstGeom prst="rect">
            <a:avLst/>
          </a:prstGeom>
          <a:noFill/>
        </p:spPr>
        <p:txBody>
          <a:bodyPr wrap="square" rtlCol="0">
            <a:spAutoFit/>
          </a:bodyPr>
          <a:lstStyle/>
          <a:p>
            <a:pPr marL="342900" indent="-342900">
              <a:buAutoNum type="circleNumDbPlain"/>
            </a:pPr>
            <a:r>
              <a:rPr lang="en-US" sz="1400" dirty="0"/>
              <a:t>Based on the amount of process variation, select g (5 or more) parts including the operating range of the instrument.</a:t>
            </a:r>
          </a:p>
          <a:p>
            <a:pPr marL="342900" indent="-342900">
              <a:buAutoNum type="circleNumDbPlain"/>
            </a:pPr>
            <a:r>
              <a:rPr lang="en-US" sz="1400" dirty="0"/>
              <a:t>Determine the reference value </a:t>
            </a:r>
            <a:r>
              <a:rPr lang="en-US" sz="1400" dirty="0" err="1"/>
              <a:t>xm</a:t>
            </a:r>
            <a:r>
              <a:rPr lang="en-US" sz="1400" dirty="0"/>
              <a:t> for this g part, and from this value, verify that the selected part contains the operating range of the instrument.</a:t>
            </a:r>
          </a:p>
          <a:p>
            <a:pPr marL="342900" indent="-342900">
              <a:buAutoNum type="circleNumDbPlain"/>
            </a:pPr>
            <a:r>
              <a:rPr lang="en-US" sz="1400" dirty="0"/>
              <a:t>One measurement worker measures each part n times (more than 10 times) as an instrument to be evaluated to obtain measurement data.</a:t>
            </a:r>
            <a:endParaRPr lang="ko-KR" altLang="en-US" sz="1400" dirty="0"/>
          </a:p>
        </p:txBody>
      </p:sp>
      <p:sp>
        <p:nvSpPr>
          <p:cNvPr id="8" name="TextBox 7"/>
          <p:cNvSpPr txBox="1"/>
          <p:nvPr/>
        </p:nvSpPr>
        <p:spPr>
          <a:xfrm>
            <a:off x="251521" y="5833608"/>
            <a:ext cx="8749636" cy="738664"/>
          </a:xfrm>
          <a:prstGeom prst="rect">
            <a:avLst/>
          </a:prstGeom>
          <a:noFill/>
        </p:spPr>
        <p:txBody>
          <a:bodyPr wrap="square" rtlCol="0">
            <a:spAutoFit/>
          </a:bodyPr>
          <a:lstStyle/>
          <a:p>
            <a:r>
              <a:rPr lang="en-US" sz="1400" dirty="0"/>
              <a:t>The Type 5 Study is a procedure related to the stability analysis of the measurement system. The stability of the measurement system means the degree of variation of the measurement results for the same part over time. If the measured results differ over time, the measurement system says it lacks stability.</a:t>
            </a:r>
          </a:p>
        </p:txBody>
      </p:sp>
      <p:sp>
        <p:nvSpPr>
          <p:cNvPr id="9" name="TextBox 8"/>
          <p:cNvSpPr txBox="1"/>
          <p:nvPr/>
        </p:nvSpPr>
        <p:spPr>
          <a:xfrm>
            <a:off x="251521" y="5040950"/>
            <a:ext cx="8678197" cy="745504"/>
          </a:xfrm>
          <a:prstGeom prst="rect">
            <a:avLst/>
          </a:prstGeom>
          <a:noFill/>
        </p:spPr>
        <p:txBody>
          <a:bodyPr wrap="square" rtlCol="0">
            <a:spAutoFit/>
          </a:bodyPr>
          <a:lstStyle/>
          <a:p>
            <a:r>
              <a:rPr lang="en-US" sz="1400" dirty="0"/>
              <a:t>In the procedure of AIAG (2010), a regression line between the bias value (Y) and the reference value (X) is obtained from the measurement data obtained as described above. Then, it is verified whether the slope and intercept of regression line is "0" by statistical hypothesis test.</a:t>
            </a:r>
            <a:endParaRPr lang="en-US" altLang="ko-KR" sz="1400" dirty="0"/>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57</a:t>
            </a:fld>
            <a:endParaRPr lang="ko-KR" altLang="en-US" dirty="0"/>
          </a:p>
        </p:txBody>
      </p:sp>
    </p:spTree>
    <p:extLst>
      <p:ext uri="{BB962C8B-B14F-4D97-AF65-F5344CB8AC3E}">
        <p14:creationId xmlns:p14="http://schemas.microsoft.com/office/powerpoint/2010/main" val="136561159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1868910" cy="400110"/>
          </a:xfrm>
          <a:prstGeom prst="rect">
            <a:avLst/>
          </a:prstGeom>
          <a:noFill/>
        </p:spPr>
        <p:txBody>
          <a:bodyPr wrap="none" rtlCol="0">
            <a:spAutoFit/>
          </a:bodyPr>
          <a:lstStyle/>
          <a:p>
            <a:r>
              <a:rPr lang="en-US" altLang="ko-KR" sz="2000" b="1" dirty="0"/>
              <a:t>Type 2 Study </a:t>
            </a:r>
            <a:endParaRPr lang="ko-KR" altLang="en-US" sz="2000" b="1" dirty="0"/>
          </a:p>
        </p:txBody>
      </p:sp>
      <p:sp>
        <p:nvSpPr>
          <p:cNvPr id="3" name="TextBox 2"/>
          <p:cNvSpPr txBox="1"/>
          <p:nvPr/>
        </p:nvSpPr>
        <p:spPr>
          <a:xfrm>
            <a:off x="208953" y="746120"/>
            <a:ext cx="8971559" cy="738664"/>
          </a:xfrm>
          <a:prstGeom prst="rect">
            <a:avLst/>
          </a:prstGeom>
          <a:noFill/>
        </p:spPr>
        <p:txBody>
          <a:bodyPr wrap="none" rtlCol="0">
            <a:spAutoFit/>
          </a:bodyPr>
          <a:lstStyle/>
          <a:p>
            <a:r>
              <a:rPr lang="en-US" altLang="ko-KR" sz="1400" dirty="0"/>
              <a:t>Type 2 Study </a:t>
            </a:r>
            <a:r>
              <a:rPr lang="en-US" altLang="ko-KR" sz="1400" dirty="0" err="1"/>
              <a:t>thường</a:t>
            </a:r>
            <a:r>
              <a:rPr lang="en-US" altLang="ko-KR" sz="1400" dirty="0"/>
              <a:t> </a:t>
            </a:r>
            <a:r>
              <a:rPr lang="en-US" altLang="ko-KR" sz="1400" dirty="0" err="1"/>
              <a:t>được</a:t>
            </a:r>
            <a:r>
              <a:rPr lang="en-US" altLang="ko-KR" sz="1400" dirty="0"/>
              <a:t> </a:t>
            </a:r>
            <a:r>
              <a:rPr lang="en-US" altLang="ko-KR" sz="1400" dirty="0" err="1"/>
              <a:t>gọi</a:t>
            </a:r>
            <a:r>
              <a:rPr lang="en-US" altLang="ko-KR" sz="1400" dirty="0"/>
              <a:t> </a:t>
            </a:r>
            <a:r>
              <a:rPr lang="en-US" altLang="ko-KR" sz="1400" dirty="0" err="1"/>
              <a:t>là</a:t>
            </a:r>
            <a:r>
              <a:rPr lang="en-US" altLang="ko-KR" sz="1400" dirty="0"/>
              <a:t> Gage R&amp;R. </a:t>
            </a:r>
            <a:r>
              <a:rPr lang="en-US" altLang="ko-KR" sz="1400" dirty="0" err="1"/>
              <a:t>Phương</a:t>
            </a:r>
            <a:r>
              <a:rPr lang="en-US" altLang="ko-KR" sz="1400" dirty="0"/>
              <a:t> </a:t>
            </a:r>
            <a:r>
              <a:rPr lang="en-US" altLang="ko-KR" sz="1400" dirty="0" err="1"/>
              <a:t>pháp</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độ</a:t>
            </a:r>
            <a:r>
              <a:rPr lang="en-US" altLang="ko-KR" sz="1400" dirty="0"/>
              <a:t> </a:t>
            </a:r>
            <a:r>
              <a:rPr lang="en-US" altLang="ko-KR" sz="1400" dirty="0" err="1"/>
              <a:t>tỉ</a:t>
            </a:r>
            <a:r>
              <a:rPr lang="en-US" altLang="ko-KR" sz="1400" dirty="0"/>
              <a:t> </a:t>
            </a:r>
            <a:r>
              <a:rPr lang="en-US" altLang="ko-KR" sz="1400" dirty="0" err="1"/>
              <a:t>mỉ</a:t>
            </a:r>
            <a:r>
              <a:rPr lang="en-US" altLang="ko-KR" sz="1400" dirty="0"/>
              <a:t> </a:t>
            </a:r>
            <a:r>
              <a:rPr lang="en-US" altLang="ko-KR" sz="1400" dirty="0" err="1"/>
              <a:t>của</a:t>
            </a:r>
            <a:r>
              <a:rPr lang="en-US" altLang="ko-KR" sz="1400" dirty="0"/>
              <a:t> </a:t>
            </a:r>
            <a:r>
              <a:rPr lang="en-US" altLang="ko-KR" sz="1400" dirty="0" err="1"/>
              <a:t>hệ</a:t>
            </a:r>
            <a:r>
              <a:rPr lang="en-US" altLang="ko-KR" sz="1400" dirty="0"/>
              <a:t> </a:t>
            </a:r>
            <a:r>
              <a:rPr lang="en-US" altLang="ko-KR" sz="1400" dirty="0" err="1"/>
              <a:t>thống</a:t>
            </a:r>
            <a:r>
              <a:rPr lang="en-US" altLang="ko-KR" sz="1400" dirty="0"/>
              <a:t> </a:t>
            </a:r>
            <a:r>
              <a:rPr lang="en-US" altLang="ko-KR" sz="1400" dirty="0" err="1"/>
              <a:t>không</a:t>
            </a:r>
            <a:r>
              <a:rPr lang="en-US" altLang="ko-KR" sz="1400" dirty="0"/>
              <a:t> </a:t>
            </a:r>
            <a:r>
              <a:rPr lang="en-US" altLang="ko-KR" sz="1400" dirty="0" err="1"/>
              <a:t>chỉ</a:t>
            </a:r>
            <a:r>
              <a:rPr lang="en-US" altLang="ko-KR" sz="1400" dirty="0"/>
              <a:t> </a:t>
            </a:r>
            <a:r>
              <a:rPr lang="en-US" altLang="ko-KR" sz="1400" dirty="0" err="1"/>
              <a:t>xem</a:t>
            </a:r>
            <a:endParaRPr lang="en-US" altLang="ko-KR" sz="1400" dirty="0"/>
          </a:p>
          <a:p>
            <a:r>
              <a:rPr lang="en-US" altLang="ko-KR" sz="1400" dirty="0"/>
              <a:t> </a:t>
            </a:r>
            <a:r>
              <a:rPr lang="en-US" altLang="ko-KR" sz="1400" dirty="0" err="1"/>
              <a:t>xét</a:t>
            </a:r>
            <a:r>
              <a:rPr lang="en-US" altLang="ko-KR" sz="1400" dirty="0"/>
              <a:t> </a:t>
            </a:r>
            <a:r>
              <a:rPr lang="en-US" altLang="ko-KR" sz="1400" dirty="0" err="1"/>
              <a:t>độ</a:t>
            </a:r>
            <a:r>
              <a:rPr lang="en-US" altLang="ko-KR" sz="1400" dirty="0"/>
              <a:t> </a:t>
            </a:r>
            <a:r>
              <a:rPr lang="en-US" altLang="ko-KR" sz="1400" dirty="0" err="1"/>
              <a:t>lặp</a:t>
            </a:r>
            <a:r>
              <a:rPr lang="en-US" altLang="ko-KR" sz="1400" dirty="0"/>
              <a:t> </a:t>
            </a:r>
            <a:r>
              <a:rPr lang="en-US" altLang="ko-KR" sz="1400" dirty="0" err="1"/>
              <a:t>lại</a:t>
            </a:r>
            <a:r>
              <a:rPr lang="en-US" altLang="ko-KR" sz="1400" dirty="0"/>
              <a:t> </a:t>
            </a:r>
            <a:r>
              <a:rPr lang="en-US" altLang="ko-KR" sz="1400" dirty="0" err="1"/>
              <a:t>phân</a:t>
            </a:r>
            <a:r>
              <a:rPr lang="en-US" altLang="ko-KR" sz="1400" dirty="0"/>
              <a:t> </a:t>
            </a:r>
            <a:r>
              <a:rPr lang="en-US" altLang="ko-KR" sz="1400" dirty="0" err="1"/>
              <a:t>tán</a:t>
            </a:r>
            <a:r>
              <a:rPr lang="en-US" altLang="ko-KR" sz="1400" dirty="0"/>
              <a:t> (repeatability) </a:t>
            </a:r>
            <a:r>
              <a:rPr lang="en-US" altLang="ko-KR" sz="1400" dirty="0" err="1"/>
              <a:t>của</a:t>
            </a:r>
            <a:r>
              <a:rPr lang="en-US" altLang="ko-KR" sz="1400" dirty="0"/>
              <a:t> </a:t>
            </a:r>
            <a:r>
              <a:rPr lang="en-US" altLang="ko-KR" sz="1400" dirty="0" err="1"/>
              <a:t>bản</a:t>
            </a:r>
            <a:r>
              <a:rPr lang="en-US" altLang="ko-KR" sz="1400" dirty="0"/>
              <a:t> </a:t>
            </a:r>
            <a:r>
              <a:rPr lang="en-US" altLang="ko-KR" sz="1400" dirty="0" err="1"/>
              <a:t>thân</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mà</a:t>
            </a:r>
            <a:r>
              <a:rPr lang="en-US" altLang="ko-KR" sz="1400" dirty="0"/>
              <a:t> </a:t>
            </a:r>
            <a:r>
              <a:rPr lang="en-US" altLang="ko-KR" sz="1400" dirty="0" err="1"/>
              <a:t>phải</a:t>
            </a:r>
            <a:r>
              <a:rPr lang="en-US" altLang="ko-KR" sz="1400" dirty="0"/>
              <a:t> </a:t>
            </a:r>
            <a:r>
              <a:rPr lang="en-US" altLang="ko-KR" sz="1400" dirty="0" err="1"/>
              <a:t>xem</a:t>
            </a:r>
            <a:r>
              <a:rPr lang="en-US" altLang="ko-KR" sz="1400" dirty="0"/>
              <a:t> </a:t>
            </a:r>
            <a:r>
              <a:rPr lang="en-US" altLang="ko-KR" sz="1400" dirty="0" err="1"/>
              <a:t>xét</a:t>
            </a:r>
            <a:r>
              <a:rPr lang="en-US" altLang="ko-KR" sz="1400" dirty="0"/>
              <a:t> </a:t>
            </a:r>
            <a:r>
              <a:rPr lang="en-US" altLang="ko-KR" sz="1400" dirty="0" err="1"/>
              <a:t>cả</a:t>
            </a:r>
            <a:r>
              <a:rPr lang="en-US" altLang="ko-KR" sz="1400" dirty="0"/>
              <a:t> </a:t>
            </a:r>
            <a:r>
              <a:rPr lang="en-US" altLang="ko-KR" sz="1400" dirty="0" err="1"/>
              <a:t>tính</a:t>
            </a:r>
            <a:r>
              <a:rPr lang="en-US" altLang="ko-KR" sz="1400" dirty="0"/>
              <a:t> </a:t>
            </a:r>
            <a:r>
              <a:rPr lang="en-US" altLang="ko-KR" sz="1400" dirty="0" err="1"/>
              <a:t>tái</a:t>
            </a:r>
            <a:r>
              <a:rPr lang="en-US" altLang="ko-KR" sz="1400" dirty="0"/>
              <a:t> </a:t>
            </a:r>
            <a:r>
              <a:rPr lang="en-US" altLang="ko-KR" sz="1400" dirty="0" err="1"/>
              <a:t>hiện</a:t>
            </a:r>
            <a:endParaRPr lang="en-US" altLang="ko-KR" sz="1400" dirty="0"/>
          </a:p>
          <a:p>
            <a:r>
              <a:rPr lang="en-US" altLang="ko-KR" sz="1400" dirty="0"/>
              <a:t> (reproducibility) </a:t>
            </a:r>
            <a:r>
              <a:rPr lang="en-US" altLang="ko-KR" sz="1400" dirty="0" err="1"/>
              <a:t>phân</a:t>
            </a:r>
            <a:r>
              <a:rPr lang="en-US" altLang="ko-KR" sz="1400" dirty="0"/>
              <a:t> </a:t>
            </a:r>
            <a:r>
              <a:rPr lang="en-US" altLang="ko-KR" sz="1400" dirty="0" err="1"/>
              <a:t>tán</a:t>
            </a:r>
            <a:r>
              <a:rPr lang="en-US" altLang="ko-KR" sz="1400" dirty="0"/>
              <a:t> </a:t>
            </a:r>
            <a:r>
              <a:rPr lang="en-US" altLang="ko-KR" sz="1400" dirty="0" err="1"/>
              <a:t>giữa</a:t>
            </a:r>
            <a:r>
              <a:rPr lang="en-US" altLang="ko-KR" sz="1400" dirty="0"/>
              <a:t> </a:t>
            </a:r>
            <a:r>
              <a:rPr lang="en-US" altLang="ko-KR" sz="1400" dirty="0" err="1"/>
              <a:t>những</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endParaRPr lang="ko-KR" altLang="en-US" sz="1400" dirty="0"/>
          </a:p>
        </p:txBody>
      </p:sp>
      <p:sp>
        <p:nvSpPr>
          <p:cNvPr id="4" name="TextBox 3"/>
          <p:cNvSpPr txBox="1"/>
          <p:nvPr/>
        </p:nvSpPr>
        <p:spPr>
          <a:xfrm>
            <a:off x="251520" y="1465620"/>
            <a:ext cx="8568952" cy="523220"/>
          </a:xfrm>
          <a:prstGeom prst="rect">
            <a:avLst/>
          </a:prstGeom>
          <a:noFill/>
        </p:spPr>
        <p:txBody>
          <a:bodyPr wrap="square" rtlCol="0">
            <a:spAutoFit/>
          </a:bodyPr>
          <a:lstStyle/>
          <a:p>
            <a:r>
              <a:rPr lang="en-US" altLang="ko-KR" sz="1400" dirty="0" err="1"/>
              <a:t>Chọn</a:t>
            </a:r>
            <a:r>
              <a:rPr lang="en-US" altLang="ko-KR" sz="1400" dirty="0"/>
              <a:t> </a:t>
            </a:r>
            <a:r>
              <a:rPr lang="en-US" altLang="ko-KR" sz="1400" dirty="0" err="1"/>
              <a:t>ra</a:t>
            </a:r>
            <a:r>
              <a:rPr lang="en-US" altLang="ko-KR" sz="1400" dirty="0"/>
              <a:t> 10 sample </a:t>
            </a:r>
            <a:r>
              <a:rPr lang="en-US" altLang="ko-KR" sz="1400" dirty="0" err="1"/>
              <a:t>ngẫu</a:t>
            </a:r>
            <a:r>
              <a:rPr lang="en-US" altLang="ko-KR" sz="1400" dirty="0"/>
              <a:t> </a:t>
            </a:r>
            <a:r>
              <a:rPr lang="en-US" altLang="ko-KR" sz="1400" dirty="0" err="1"/>
              <a:t>nhiên</a:t>
            </a:r>
            <a:r>
              <a:rPr lang="en-US" altLang="ko-KR" sz="1400" dirty="0"/>
              <a:t> </a:t>
            </a:r>
            <a:r>
              <a:rPr lang="en-US" altLang="ko-KR" sz="1400" dirty="0" err="1"/>
              <a:t>trong</a:t>
            </a:r>
            <a:r>
              <a:rPr lang="en-US" altLang="ko-KR" sz="1400" dirty="0"/>
              <a:t> process, </a:t>
            </a:r>
            <a:r>
              <a:rPr lang="en-US" altLang="ko-KR" sz="1400" dirty="0" err="1"/>
              <a:t>trong</a:t>
            </a:r>
            <a:r>
              <a:rPr lang="en-US" altLang="ko-KR" sz="1400" dirty="0"/>
              <a:t> </a:t>
            </a:r>
            <a:r>
              <a:rPr lang="en-US" altLang="ko-KR" sz="1400" dirty="0" err="1"/>
              <a:t>những</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sử</a:t>
            </a:r>
            <a:r>
              <a:rPr lang="en-US" altLang="ko-KR" sz="1400" dirty="0"/>
              <a:t> </a:t>
            </a:r>
            <a:r>
              <a:rPr lang="en-US" altLang="ko-KR" sz="1400" dirty="0" err="1"/>
              <a:t>dụng</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tương</a:t>
            </a:r>
            <a:r>
              <a:rPr lang="en-US" altLang="ko-KR" sz="1400" dirty="0"/>
              <a:t> </a:t>
            </a:r>
            <a:r>
              <a:rPr lang="en-US" altLang="ko-KR" sz="1400" dirty="0" err="1"/>
              <a:t>ứng</a:t>
            </a:r>
            <a:r>
              <a:rPr lang="en-US" altLang="ko-KR" sz="1400" dirty="0"/>
              <a:t> </a:t>
            </a:r>
            <a:r>
              <a:rPr lang="en-US" altLang="ko-KR" sz="1400" dirty="0" err="1"/>
              <a:t>chọn</a:t>
            </a:r>
            <a:r>
              <a:rPr lang="en-US" altLang="ko-KR" sz="1400" dirty="0"/>
              <a:t> </a:t>
            </a:r>
            <a:r>
              <a:rPr lang="en-US" altLang="ko-KR" sz="1400" dirty="0" err="1"/>
              <a:t>ra</a:t>
            </a:r>
            <a:r>
              <a:rPr lang="en-US" altLang="ko-KR" sz="1400" dirty="0"/>
              <a:t> 3 </a:t>
            </a:r>
            <a:r>
              <a:rPr lang="en-US" altLang="ko-KR" sz="1400" dirty="0" err="1"/>
              <a:t>người</a:t>
            </a:r>
            <a:r>
              <a:rPr lang="en-US" altLang="ko-KR" sz="1400" dirty="0"/>
              <a:t> </a:t>
            </a:r>
            <a:r>
              <a:rPr lang="en-US" altLang="ko-KR" sz="1400" dirty="0" err="1"/>
              <a:t>và</a:t>
            </a:r>
            <a:r>
              <a:rPr lang="en-US" altLang="ko-KR" sz="1400" dirty="0"/>
              <a:t> </a:t>
            </a:r>
            <a:r>
              <a:rPr lang="en-US" altLang="ko-KR" sz="1400" dirty="0" err="1"/>
              <a:t>thông</a:t>
            </a:r>
            <a:r>
              <a:rPr lang="en-US" altLang="ko-KR" sz="1400" dirty="0"/>
              <a:t> </a:t>
            </a:r>
            <a:r>
              <a:rPr lang="en-US" altLang="ko-KR" sz="1400" dirty="0" err="1"/>
              <a:t>thường</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lặp</a:t>
            </a:r>
            <a:r>
              <a:rPr lang="en-US" altLang="ko-KR" sz="1400" dirty="0"/>
              <a:t> </a:t>
            </a:r>
            <a:r>
              <a:rPr lang="en-US" altLang="ko-KR" sz="1400" dirty="0" err="1"/>
              <a:t>lại</a:t>
            </a:r>
            <a:r>
              <a:rPr lang="en-US" altLang="ko-KR" sz="1400" dirty="0"/>
              <a:t> 2~3 </a:t>
            </a:r>
            <a:r>
              <a:rPr lang="en-US" altLang="ko-KR" sz="1400" dirty="0" err="1"/>
              <a:t>lần</a:t>
            </a:r>
            <a:endParaRPr lang="ko-KR" altLang="en-US" sz="1400" dirty="0"/>
          </a:p>
        </p:txBody>
      </p:sp>
      <p:graphicFrame>
        <p:nvGraphicFramePr>
          <p:cNvPr id="5" name="표 4"/>
          <p:cNvGraphicFramePr>
            <a:graphicFrameLocks noGrp="1"/>
          </p:cNvGraphicFramePr>
          <p:nvPr>
            <p:extLst>
              <p:ext uri="{D42A27DB-BD31-4B8C-83A1-F6EECF244321}">
                <p14:modId xmlns:p14="http://schemas.microsoft.com/office/powerpoint/2010/main" val="147356761"/>
              </p:ext>
            </p:extLst>
          </p:nvPr>
        </p:nvGraphicFramePr>
        <p:xfrm>
          <a:off x="755576" y="2348880"/>
          <a:ext cx="7848872" cy="4443184"/>
        </p:xfrm>
        <a:graphic>
          <a:graphicData uri="http://schemas.openxmlformats.org/drawingml/2006/table">
            <a:tbl>
              <a:tblPr firstRow="1" bandRow="1">
                <a:tableStyleId>{5C22544A-7EE6-4342-B048-85BDC9FD1C3A}</a:tableStyleId>
              </a:tblPr>
              <a:tblGrid>
                <a:gridCol w="720080">
                  <a:extLst>
                    <a:ext uri="{9D8B030D-6E8A-4147-A177-3AD203B41FA5}">
                      <a16:colId xmlns:a16="http://schemas.microsoft.com/office/drawing/2014/main" val="20000"/>
                    </a:ext>
                  </a:extLst>
                </a:gridCol>
                <a:gridCol w="2376264">
                  <a:extLst>
                    <a:ext uri="{9D8B030D-6E8A-4147-A177-3AD203B41FA5}">
                      <a16:colId xmlns:a16="http://schemas.microsoft.com/office/drawing/2014/main" val="20001"/>
                    </a:ext>
                  </a:extLst>
                </a:gridCol>
                <a:gridCol w="2376264">
                  <a:extLst>
                    <a:ext uri="{9D8B030D-6E8A-4147-A177-3AD203B41FA5}">
                      <a16:colId xmlns:a16="http://schemas.microsoft.com/office/drawing/2014/main" val="20002"/>
                    </a:ext>
                  </a:extLst>
                </a:gridCol>
                <a:gridCol w="2376264">
                  <a:extLst>
                    <a:ext uri="{9D8B030D-6E8A-4147-A177-3AD203B41FA5}">
                      <a16:colId xmlns:a16="http://schemas.microsoft.com/office/drawing/2014/main" val="20003"/>
                    </a:ext>
                  </a:extLst>
                </a:gridCol>
              </a:tblGrid>
              <a:tr h="342038">
                <a:tc>
                  <a:txBody>
                    <a:bodyPr/>
                    <a:lstStyle/>
                    <a:p>
                      <a:pPr algn="ctr" latinLnBrk="1"/>
                      <a:r>
                        <a:rPr lang="en-US" altLang="ko-KR" sz="1100" dirty="0" err="1">
                          <a:solidFill>
                            <a:schemeClr val="tx1"/>
                          </a:solidFill>
                        </a:rPr>
                        <a:t>Hạng</a:t>
                      </a:r>
                      <a:r>
                        <a:rPr lang="en-US" altLang="ko-KR" sz="1100" dirty="0">
                          <a:solidFill>
                            <a:schemeClr val="tx1"/>
                          </a:solidFill>
                        </a:rPr>
                        <a:t> </a:t>
                      </a:r>
                      <a:r>
                        <a:rPr lang="en-US" altLang="ko-KR" sz="1100" dirty="0" err="1">
                          <a:solidFill>
                            <a:schemeClr val="tx1"/>
                          </a:solidFill>
                        </a:rPr>
                        <a:t>mục</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Công</a:t>
                      </a:r>
                      <a:r>
                        <a:rPr lang="en-US" altLang="ko-KR" sz="1100" baseline="0" dirty="0">
                          <a:solidFill>
                            <a:schemeClr val="tx1"/>
                          </a:solidFill>
                        </a:rPr>
                        <a:t> </a:t>
                      </a:r>
                      <a:r>
                        <a:rPr lang="en-US" altLang="ko-KR" sz="1100" baseline="0" dirty="0" err="1">
                          <a:solidFill>
                            <a:schemeClr val="tx1"/>
                          </a:solidFill>
                        </a:rPr>
                        <a:t>thức</a:t>
                      </a:r>
                      <a:r>
                        <a:rPr lang="en-US" altLang="ko-KR" sz="1100" baseline="0" dirty="0">
                          <a:solidFill>
                            <a:schemeClr val="tx1"/>
                          </a:solidFill>
                        </a:rPr>
                        <a:t> </a:t>
                      </a:r>
                      <a:r>
                        <a:rPr lang="en-US" altLang="ko-KR" sz="1100" baseline="0" dirty="0" err="1">
                          <a:solidFill>
                            <a:schemeClr val="tx1"/>
                          </a:solidFill>
                        </a:rPr>
                        <a:t>tính</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Tiêu</a:t>
                      </a:r>
                      <a:r>
                        <a:rPr lang="en-US" altLang="ko-KR" sz="1100" baseline="0" dirty="0">
                          <a:solidFill>
                            <a:schemeClr val="tx1"/>
                          </a:solidFill>
                        </a:rPr>
                        <a:t> </a:t>
                      </a:r>
                      <a:r>
                        <a:rPr lang="en-US" altLang="ko-KR" sz="1100" baseline="0" dirty="0" err="1">
                          <a:solidFill>
                            <a:schemeClr val="tx1"/>
                          </a:solidFill>
                        </a:rPr>
                        <a:t>chuẩn</a:t>
                      </a:r>
                      <a:r>
                        <a:rPr lang="en-US" altLang="ko-KR" sz="1100" baseline="0" dirty="0">
                          <a:solidFill>
                            <a:schemeClr val="tx1"/>
                          </a:solidFill>
                        </a:rPr>
                        <a:t> </a:t>
                      </a:r>
                      <a:r>
                        <a:rPr lang="en-US" altLang="ko-KR" sz="1100" baseline="0" dirty="0" err="1">
                          <a:solidFill>
                            <a:schemeClr val="tx1"/>
                          </a:solidFill>
                        </a:rPr>
                        <a:t>đánh</a:t>
                      </a:r>
                      <a:r>
                        <a:rPr lang="en-US" altLang="ko-KR" sz="1100" baseline="0" dirty="0">
                          <a:solidFill>
                            <a:schemeClr val="tx1"/>
                          </a:solidFill>
                        </a:rPr>
                        <a:t> </a:t>
                      </a:r>
                      <a:r>
                        <a:rPr lang="en-US" altLang="ko-KR" sz="1100" baseline="0" dirty="0" err="1">
                          <a:solidFill>
                            <a:schemeClr val="tx1"/>
                          </a:solidFill>
                        </a:rPr>
                        <a:t>giá</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Hướng</a:t>
                      </a:r>
                      <a:r>
                        <a:rPr lang="en-US" altLang="ko-KR" sz="1100" dirty="0">
                          <a:solidFill>
                            <a:schemeClr val="tx1"/>
                          </a:solidFill>
                        </a:rPr>
                        <a:t> </a:t>
                      </a:r>
                      <a:r>
                        <a:rPr lang="en-US" altLang="ko-KR" sz="1100" dirty="0" err="1">
                          <a:solidFill>
                            <a:schemeClr val="tx1"/>
                          </a:solidFill>
                        </a:rPr>
                        <a:t>dẫn</a:t>
                      </a:r>
                      <a:r>
                        <a:rPr lang="en-US" altLang="ko-KR" sz="1100" baseline="0" dirty="0">
                          <a:solidFill>
                            <a:schemeClr val="tx1"/>
                          </a:solidFill>
                        </a:rPr>
                        <a:t> </a:t>
                      </a:r>
                      <a:r>
                        <a:rPr lang="en-US" altLang="ko-KR" sz="1100" baseline="0" dirty="0" err="1">
                          <a:solidFill>
                            <a:schemeClr val="tx1"/>
                          </a:solidFill>
                        </a:rPr>
                        <a:t>đánh</a:t>
                      </a:r>
                      <a:r>
                        <a:rPr lang="en-US" altLang="ko-KR" sz="1100" baseline="0" dirty="0">
                          <a:solidFill>
                            <a:schemeClr val="tx1"/>
                          </a:solidFill>
                        </a:rPr>
                        <a:t> </a:t>
                      </a:r>
                      <a:r>
                        <a:rPr lang="en-US" altLang="ko-KR" sz="1100" baseline="0" dirty="0" err="1">
                          <a:solidFill>
                            <a:schemeClr val="tx1"/>
                          </a:solidFill>
                        </a:rPr>
                        <a:t>giá</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342038">
                <a:tc rowSpan="3">
                  <a:txBody>
                    <a:bodyPr/>
                    <a:lstStyle/>
                    <a:p>
                      <a:pPr algn="ctr" latinLnBrk="1"/>
                      <a:r>
                        <a:rPr lang="en-US" altLang="ko-KR" sz="1100" dirty="0">
                          <a:solidFill>
                            <a:schemeClr val="tx1"/>
                          </a:solidFill>
                        </a:rPr>
                        <a:t>%</a:t>
                      </a:r>
                      <a:r>
                        <a:rPr lang="en-US" altLang="ko-KR" sz="1100" dirty="0" err="1">
                          <a:solidFill>
                            <a:schemeClr val="tx1"/>
                          </a:solidFill>
                        </a:rPr>
                        <a:t>đóng</a:t>
                      </a:r>
                      <a:r>
                        <a:rPr lang="en-US" altLang="ko-KR" sz="1100" baseline="0" dirty="0">
                          <a:solidFill>
                            <a:schemeClr val="tx1"/>
                          </a:solidFill>
                        </a:rPr>
                        <a:t> </a:t>
                      </a:r>
                      <a:r>
                        <a:rPr lang="en-US" altLang="ko-KR" sz="1100" baseline="0" dirty="0" err="1">
                          <a:solidFill>
                            <a:schemeClr val="tx1"/>
                          </a:solidFill>
                        </a:rPr>
                        <a:t>góp</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Dưới</a:t>
                      </a:r>
                      <a:r>
                        <a:rPr lang="en-US" altLang="ko-KR" sz="1100" dirty="0">
                          <a:solidFill>
                            <a:schemeClr val="tx1"/>
                          </a:solidFill>
                        </a:rPr>
                        <a:t> 1% </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342038">
                <a:tc vMerge="1">
                  <a:txBody>
                    <a:bodyPr/>
                    <a:lstStyle/>
                    <a:p>
                      <a:pPr latinLnBrk="1"/>
                      <a:endParaRPr lang="ko-KR" altLang="en-US"/>
                    </a:p>
                  </a:txBody>
                  <a:tcPr/>
                </a:tc>
                <a:tc vMerge="1">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a:solidFill>
                            <a:schemeClr val="tx1"/>
                          </a:solidFill>
                        </a:rPr>
                        <a:t>1% ~ 9%</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r>
                        <a:rPr lang="en-US" altLang="ko-KR" sz="1100" dirty="0">
                          <a:solidFill>
                            <a:schemeClr val="tx1"/>
                          </a:solidFill>
                        </a:rPr>
                        <a:t> </a:t>
                      </a:r>
                      <a:r>
                        <a:rPr lang="en-US" altLang="ko-KR" sz="1100" dirty="0" err="1">
                          <a:solidFill>
                            <a:schemeClr val="tx1"/>
                          </a:solidFill>
                        </a:rPr>
                        <a:t>có</a:t>
                      </a:r>
                      <a:r>
                        <a:rPr lang="en-US" altLang="ko-KR" sz="1100" baseline="0" dirty="0">
                          <a:solidFill>
                            <a:schemeClr val="tx1"/>
                          </a:solidFill>
                        </a:rPr>
                        <a:t> </a:t>
                      </a:r>
                      <a:r>
                        <a:rPr lang="en-US" altLang="ko-KR" sz="1100" baseline="0" dirty="0" err="1">
                          <a:solidFill>
                            <a:schemeClr val="tx1"/>
                          </a:solidFill>
                        </a:rPr>
                        <a:t>điều</a:t>
                      </a:r>
                      <a:r>
                        <a:rPr lang="en-US" altLang="ko-KR" sz="1100" baseline="0" dirty="0">
                          <a:solidFill>
                            <a:schemeClr val="tx1"/>
                          </a:solidFill>
                        </a:rPr>
                        <a:t> </a:t>
                      </a:r>
                      <a:r>
                        <a:rPr lang="en-US" altLang="ko-KR" sz="1100" baseline="0" dirty="0" err="1">
                          <a:solidFill>
                            <a:schemeClr val="tx1"/>
                          </a:solidFill>
                        </a:rPr>
                        <a:t>kiện</a:t>
                      </a:r>
                      <a:r>
                        <a:rPr lang="en-US" altLang="ko-KR" sz="1100" baseline="0" dirty="0">
                          <a:solidFill>
                            <a:schemeClr val="tx1"/>
                          </a:solidFill>
                        </a:rPr>
                        <a:t> </a:t>
                      </a:r>
                      <a:r>
                        <a:rPr lang="en-US" altLang="ko-KR" sz="1100" baseline="0" dirty="0" err="1">
                          <a:solidFill>
                            <a:schemeClr val="tx1"/>
                          </a:solidFill>
                        </a:rPr>
                        <a:t>trong</a:t>
                      </a:r>
                      <a:r>
                        <a:rPr lang="en-US" altLang="ko-KR" sz="1100" baseline="0" dirty="0">
                          <a:solidFill>
                            <a:schemeClr val="tx1"/>
                          </a:solidFill>
                        </a:rPr>
                        <a:t> </a:t>
                      </a:r>
                      <a:r>
                        <a:rPr lang="en-US" altLang="ko-KR" sz="1100" baseline="0" dirty="0" err="1">
                          <a:solidFill>
                            <a:schemeClr val="tx1"/>
                          </a:solidFill>
                        </a:rPr>
                        <a:t>cải</a:t>
                      </a:r>
                      <a:r>
                        <a:rPr lang="en-US" altLang="ko-KR" sz="1100" baseline="0" dirty="0">
                          <a:solidFill>
                            <a:schemeClr val="tx1"/>
                          </a:solidFill>
                        </a:rPr>
                        <a:t> </a:t>
                      </a:r>
                      <a:r>
                        <a:rPr lang="en-US" altLang="ko-KR" sz="1100" baseline="0" dirty="0" err="1">
                          <a:solidFill>
                            <a:schemeClr val="tx1"/>
                          </a:solidFill>
                        </a:rPr>
                        <a:t>thiện</a:t>
                      </a:r>
                      <a:r>
                        <a:rPr lang="en-US" altLang="ko-KR" sz="1100" baseline="0" dirty="0">
                          <a:solidFill>
                            <a:schemeClr val="tx1"/>
                          </a:solidFill>
                        </a:rPr>
                        <a:t> </a:t>
                      </a:r>
                      <a:r>
                        <a:rPr lang="en-US" altLang="ko-KR" sz="1100" baseline="0" dirty="0" err="1">
                          <a:solidFill>
                            <a:schemeClr val="tx1"/>
                          </a:solidFill>
                        </a:rPr>
                        <a:t>toàn</a:t>
                      </a:r>
                      <a:r>
                        <a:rPr lang="en-US" altLang="ko-KR" sz="1100" baseline="0" dirty="0">
                          <a:solidFill>
                            <a:schemeClr val="tx1"/>
                          </a:solidFill>
                        </a:rPr>
                        <a:t> </a:t>
                      </a:r>
                      <a:r>
                        <a:rPr lang="en-US" altLang="ko-KR" sz="1100" baseline="0" dirty="0" err="1">
                          <a:solidFill>
                            <a:schemeClr val="tx1"/>
                          </a:solidFill>
                        </a:rPr>
                        <a:t>bộ</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err="1">
                          <a:solidFill>
                            <a:schemeClr val="tx1"/>
                          </a:solidFill>
                        </a:rPr>
                        <a:t>Trên</a:t>
                      </a:r>
                      <a:r>
                        <a:rPr lang="en-US" altLang="ko-KR" sz="1100" baseline="0" dirty="0">
                          <a:solidFill>
                            <a:schemeClr val="tx1"/>
                          </a:solidFill>
                        </a:rPr>
                        <a:t> </a:t>
                      </a:r>
                      <a:r>
                        <a:rPr lang="en-US" altLang="ko-KR" sz="1100" dirty="0">
                          <a:solidFill>
                            <a:schemeClr val="tx1"/>
                          </a:solidFill>
                        </a:rPr>
                        <a:t>9% </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Không</a:t>
                      </a:r>
                      <a:r>
                        <a:rPr lang="en-US" altLang="ko-KR" sz="1100" baseline="0" dirty="0">
                          <a:solidFill>
                            <a:schemeClr val="tx1"/>
                          </a:solidFill>
                        </a:rPr>
                        <a:t> </a:t>
                      </a:r>
                      <a:r>
                        <a:rPr lang="en-US" altLang="ko-KR" sz="1100" baseline="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342038">
                <a:tc rowSpan="3">
                  <a:txBody>
                    <a:bodyPr/>
                    <a:lstStyle/>
                    <a:p>
                      <a:pPr algn="ctr" latinLnBrk="1"/>
                      <a:r>
                        <a:rPr lang="en-US" altLang="ko-KR" sz="1100" dirty="0">
                          <a:solidFill>
                            <a:schemeClr val="tx1"/>
                          </a:solidFill>
                        </a:rPr>
                        <a:t>%R%R</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Dưới</a:t>
                      </a:r>
                      <a:r>
                        <a:rPr lang="en-US" altLang="ko-KR" sz="1100" dirty="0">
                          <a:solidFill>
                            <a:schemeClr val="tx1"/>
                          </a:solidFill>
                        </a:rPr>
                        <a:t> 10% </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10%</a:t>
                      </a:r>
                      <a:r>
                        <a:rPr lang="en-US" altLang="ko-KR" sz="1100" baseline="0" dirty="0">
                          <a:solidFill>
                            <a:schemeClr val="tx1"/>
                          </a:solidFill>
                        </a:rPr>
                        <a:t> ~ 30%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r>
                        <a:rPr lang="en-US" altLang="ko-KR" sz="1100" dirty="0">
                          <a:solidFill>
                            <a:schemeClr val="tx1"/>
                          </a:solidFill>
                        </a:rPr>
                        <a:t> </a:t>
                      </a:r>
                      <a:r>
                        <a:rPr lang="en-US" altLang="ko-KR" sz="1100" dirty="0" err="1">
                          <a:solidFill>
                            <a:schemeClr val="tx1"/>
                          </a:solidFill>
                        </a:rPr>
                        <a:t>có</a:t>
                      </a:r>
                      <a:r>
                        <a:rPr lang="en-US" altLang="ko-KR" sz="1100" baseline="0" dirty="0">
                          <a:solidFill>
                            <a:schemeClr val="tx1"/>
                          </a:solidFill>
                        </a:rPr>
                        <a:t> </a:t>
                      </a:r>
                      <a:r>
                        <a:rPr lang="en-US" altLang="ko-KR" sz="1100" baseline="0" dirty="0" err="1">
                          <a:solidFill>
                            <a:schemeClr val="tx1"/>
                          </a:solidFill>
                        </a:rPr>
                        <a:t>điều</a:t>
                      </a:r>
                      <a:r>
                        <a:rPr lang="en-US" altLang="ko-KR" sz="1100" baseline="0" dirty="0">
                          <a:solidFill>
                            <a:schemeClr val="tx1"/>
                          </a:solidFill>
                        </a:rPr>
                        <a:t> </a:t>
                      </a:r>
                      <a:r>
                        <a:rPr lang="en-US" altLang="ko-KR" sz="1100" baseline="0" dirty="0" err="1">
                          <a:solidFill>
                            <a:schemeClr val="tx1"/>
                          </a:solidFill>
                        </a:rPr>
                        <a:t>kiện</a:t>
                      </a:r>
                      <a:r>
                        <a:rPr lang="en-US" altLang="ko-KR" sz="1100" baseline="0" dirty="0">
                          <a:solidFill>
                            <a:schemeClr val="tx1"/>
                          </a:solidFill>
                        </a:rPr>
                        <a:t> </a:t>
                      </a:r>
                      <a:r>
                        <a:rPr lang="en-US" altLang="ko-KR" sz="1100" baseline="0" dirty="0" err="1">
                          <a:solidFill>
                            <a:schemeClr val="tx1"/>
                          </a:solidFill>
                        </a:rPr>
                        <a:t>trong</a:t>
                      </a:r>
                      <a:r>
                        <a:rPr lang="en-US" altLang="ko-KR" sz="1100" baseline="0" dirty="0">
                          <a:solidFill>
                            <a:schemeClr val="tx1"/>
                          </a:solidFill>
                        </a:rPr>
                        <a:t> </a:t>
                      </a:r>
                      <a:r>
                        <a:rPr lang="en-US" altLang="ko-KR" sz="1100" baseline="0" dirty="0" err="1">
                          <a:solidFill>
                            <a:schemeClr val="tx1"/>
                          </a:solidFill>
                        </a:rPr>
                        <a:t>cải</a:t>
                      </a:r>
                      <a:r>
                        <a:rPr lang="en-US" altLang="ko-KR" sz="1100" baseline="0" dirty="0">
                          <a:solidFill>
                            <a:schemeClr val="tx1"/>
                          </a:solidFill>
                        </a:rPr>
                        <a:t> </a:t>
                      </a:r>
                      <a:r>
                        <a:rPr lang="en-US" altLang="ko-KR" sz="1100" baseline="0" dirty="0" err="1">
                          <a:solidFill>
                            <a:schemeClr val="tx1"/>
                          </a:solidFill>
                        </a:rPr>
                        <a:t>thiện</a:t>
                      </a:r>
                      <a:r>
                        <a:rPr lang="en-US" altLang="ko-KR" sz="1100" baseline="0" dirty="0">
                          <a:solidFill>
                            <a:schemeClr val="tx1"/>
                          </a:solidFill>
                        </a:rPr>
                        <a:t> </a:t>
                      </a:r>
                      <a:r>
                        <a:rPr lang="en-US" altLang="ko-KR" sz="1100" baseline="0" dirty="0" err="1">
                          <a:solidFill>
                            <a:schemeClr val="tx1"/>
                          </a:solidFill>
                        </a:rPr>
                        <a:t>toàn</a:t>
                      </a:r>
                      <a:r>
                        <a:rPr lang="en-US" altLang="ko-KR" sz="1100" baseline="0" dirty="0">
                          <a:solidFill>
                            <a:schemeClr val="tx1"/>
                          </a:solidFill>
                        </a:rPr>
                        <a:t> </a:t>
                      </a:r>
                      <a:r>
                        <a:rPr lang="en-US" altLang="ko-KR" sz="1100" baseline="0" dirty="0" err="1">
                          <a:solidFill>
                            <a:schemeClr val="tx1"/>
                          </a:solidFill>
                        </a:rPr>
                        <a:t>bộ</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err="1">
                          <a:solidFill>
                            <a:schemeClr val="tx1"/>
                          </a:solidFill>
                        </a:rPr>
                        <a:t>Trên</a:t>
                      </a:r>
                      <a:r>
                        <a:rPr lang="en-US" altLang="ko-KR" sz="1100" baseline="0" dirty="0">
                          <a:solidFill>
                            <a:schemeClr val="tx1"/>
                          </a:solidFill>
                        </a:rPr>
                        <a:t> </a:t>
                      </a:r>
                      <a:r>
                        <a:rPr lang="en-US" altLang="ko-KR" sz="1100" dirty="0">
                          <a:solidFill>
                            <a:schemeClr val="tx1"/>
                          </a:solidFill>
                        </a:rPr>
                        <a:t>30%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Không</a:t>
                      </a:r>
                      <a:r>
                        <a:rPr lang="en-US" altLang="ko-KR" sz="1100" baseline="0" dirty="0">
                          <a:solidFill>
                            <a:schemeClr val="tx1"/>
                          </a:solidFill>
                        </a:rPr>
                        <a:t> </a:t>
                      </a:r>
                      <a:r>
                        <a:rPr lang="en-US" altLang="ko-KR" sz="1100" baseline="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342038">
                <a:tc rowSpan="3">
                  <a:txBody>
                    <a:bodyPr/>
                    <a:lstStyle/>
                    <a:p>
                      <a:pPr algn="ctr" latinLnBrk="1"/>
                      <a:r>
                        <a:rPr lang="en-US" altLang="ko-KR" sz="1100" dirty="0">
                          <a:solidFill>
                            <a:schemeClr val="tx1"/>
                          </a:solidFill>
                        </a:rPr>
                        <a:t>%PTR</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Dưới</a:t>
                      </a:r>
                      <a:r>
                        <a:rPr lang="en-US" altLang="ko-KR" sz="1100" dirty="0">
                          <a:solidFill>
                            <a:schemeClr val="tx1"/>
                          </a:solidFill>
                        </a:rPr>
                        <a:t> 10% </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a:solidFill>
                            <a:schemeClr val="tx1"/>
                          </a:solidFill>
                        </a:rPr>
                        <a:t>10%</a:t>
                      </a:r>
                      <a:r>
                        <a:rPr lang="en-US" altLang="ko-KR" sz="1100" baseline="0" dirty="0">
                          <a:solidFill>
                            <a:schemeClr val="tx1"/>
                          </a:solidFill>
                        </a:rPr>
                        <a:t> ~ 30%</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r>
                        <a:rPr lang="en-US" altLang="ko-KR" sz="1100" dirty="0">
                          <a:solidFill>
                            <a:schemeClr val="tx1"/>
                          </a:solidFill>
                        </a:rPr>
                        <a:t> </a:t>
                      </a:r>
                      <a:r>
                        <a:rPr lang="en-US" altLang="ko-KR" sz="1100" dirty="0" err="1">
                          <a:solidFill>
                            <a:schemeClr val="tx1"/>
                          </a:solidFill>
                        </a:rPr>
                        <a:t>có</a:t>
                      </a:r>
                      <a:r>
                        <a:rPr lang="en-US" altLang="ko-KR" sz="1100" baseline="0" dirty="0">
                          <a:solidFill>
                            <a:schemeClr val="tx1"/>
                          </a:solidFill>
                        </a:rPr>
                        <a:t> </a:t>
                      </a:r>
                      <a:r>
                        <a:rPr lang="en-US" altLang="ko-KR" sz="1100" baseline="0" dirty="0" err="1">
                          <a:solidFill>
                            <a:schemeClr val="tx1"/>
                          </a:solidFill>
                        </a:rPr>
                        <a:t>điều</a:t>
                      </a:r>
                      <a:r>
                        <a:rPr lang="en-US" altLang="ko-KR" sz="1100" baseline="0" dirty="0">
                          <a:solidFill>
                            <a:schemeClr val="tx1"/>
                          </a:solidFill>
                        </a:rPr>
                        <a:t> </a:t>
                      </a:r>
                      <a:r>
                        <a:rPr lang="en-US" altLang="ko-KR" sz="1100" baseline="0" dirty="0" err="1">
                          <a:solidFill>
                            <a:schemeClr val="tx1"/>
                          </a:solidFill>
                        </a:rPr>
                        <a:t>kiện</a:t>
                      </a:r>
                      <a:r>
                        <a:rPr lang="en-US" altLang="ko-KR" sz="1100" baseline="0" dirty="0">
                          <a:solidFill>
                            <a:schemeClr val="tx1"/>
                          </a:solidFill>
                        </a:rPr>
                        <a:t> </a:t>
                      </a:r>
                      <a:r>
                        <a:rPr lang="en-US" altLang="ko-KR" sz="1100" baseline="0" dirty="0" err="1">
                          <a:solidFill>
                            <a:schemeClr val="tx1"/>
                          </a:solidFill>
                        </a:rPr>
                        <a:t>trong</a:t>
                      </a:r>
                      <a:r>
                        <a:rPr lang="en-US" altLang="ko-KR" sz="1100" baseline="0" dirty="0">
                          <a:solidFill>
                            <a:schemeClr val="tx1"/>
                          </a:solidFill>
                        </a:rPr>
                        <a:t> </a:t>
                      </a:r>
                      <a:r>
                        <a:rPr lang="en-US" altLang="ko-KR" sz="1100" baseline="0" dirty="0" err="1">
                          <a:solidFill>
                            <a:schemeClr val="tx1"/>
                          </a:solidFill>
                        </a:rPr>
                        <a:t>cải</a:t>
                      </a:r>
                      <a:r>
                        <a:rPr lang="en-US" altLang="ko-KR" sz="1100" baseline="0" dirty="0">
                          <a:solidFill>
                            <a:schemeClr val="tx1"/>
                          </a:solidFill>
                        </a:rPr>
                        <a:t> </a:t>
                      </a:r>
                      <a:r>
                        <a:rPr lang="en-US" altLang="ko-KR" sz="1100" baseline="0" dirty="0" err="1">
                          <a:solidFill>
                            <a:schemeClr val="tx1"/>
                          </a:solidFill>
                        </a:rPr>
                        <a:t>thiện</a:t>
                      </a:r>
                      <a:r>
                        <a:rPr lang="en-US" altLang="ko-KR" sz="1100" baseline="0" dirty="0">
                          <a:solidFill>
                            <a:schemeClr val="tx1"/>
                          </a:solidFill>
                        </a:rPr>
                        <a:t> </a:t>
                      </a:r>
                      <a:r>
                        <a:rPr lang="en-US" altLang="ko-KR" sz="1100" baseline="0" dirty="0" err="1">
                          <a:solidFill>
                            <a:schemeClr val="tx1"/>
                          </a:solidFill>
                        </a:rPr>
                        <a:t>toàn</a:t>
                      </a:r>
                      <a:r>
                        <a:rPr lang="en-US" altLang="ko-KR" sz="1100" baseline="0" dirty="0">
                          <a:solidFill>
                            <a:schemeClr val="tx1"/>
                          </a:solidFill>
                        </a:rPr>
                        <a:t> </a:t>
                      </a:r>
                      <a:r>
                        <a:rPr lang="en-US" altLang="ko-KR" sz="1100" baseline="0" dirty="0" err="1">
                          <a:solidFill>
                            <a:schemeClr val="tx1"/>
                          </a:solidFill>
                        </a:rPr>
                        <a:t>bộ</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342038">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1100" dirty="0" err="1">
                          <a:solidFill>
                            <a:schemeClr val="tx1"/>
                          </a:solidFill>
                        </a:rPr>
                        <a:t>Trên</a:t>
                      </a:r>
                      <a:r>
                        <a:rPr lang="en-US" altLang="ko-KR" sz="1100" baseline="0" dirty="0">
                          <a:solidFill>
                            <a:schemeClr val="tx1"/>
                          </a:solidFill>
                        </a:rPr>
                        <a:t> </a:t>
                      </a:r>
                      <a:r>
                        <a:rPr lang="en-US" altLang="ko-KR" sz="1100" dirty="0">
                          <a:solidFill>
                            <a:schemeClr val="tx1"/>
                          </a:solidFill>
                        </a:rPr>
                        <a:t>30% </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Không</a:t>
                      </a:r>
                      <a:r>
                        <a:rPr lang="en-US" altLang="ko-KR" sz="1100" baseline="0" dirty="0">
                          <a:solidFill>
                            <a:schemeClr val="tx1"/>
                          </a:solidFill>
                        </a:rPr>
                        <a:t> </a:t>
                      </a:r>
                      <a:r>
                        <a:rPr lang="en-US" altLang="ko-KR" sz="1100" baseline="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684076">
                <a:tc>
                  <a:txBody>
                    <a:bodyPr/>
                    <a:lstStyle/>
                    <a:p>
                      <a:pPr algn="ctr" latinLnBrk="1"/>
                      <a:r>
                        <a:rPr lang="en-US" altLang="ko-KR" sz="1100" dirty="0" err="1">
                          <a:solidFill>
                            <a:schemeClr val="tx1"/>
                          </a:solidFill>
                        </a:rPr>
                        <a:t>ndc</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100" dirty="0">
                          <a:solidFill>
                            <a:schemeClr val="tx1"/>
                          </a:solidFill>
                        </a:rPr>
                        <a:t>5</a:t>
                      </a:r>
                      <a:r>
                        <a:rPr lang="ko-KR" altLang="en-US" sz="1100" dirty="0">
                          <a:solidFill>
                            <a:schemeClr val="tx1"/>
                          </a:solidFill>
                        </a:rPr>
                        <a:t>이상</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100" dirty="0" err="1">
                          <a:solidFill>
                            <a:schemeClr val="tx1"/>
                          </a:solidFill>
                        </a:rPr>
                        <a:t>Đạt</a:t>
                      </a:r>
                      <a:endParaRPr lang="ko-KR" alt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bl>
          </a:graphicData>
        </a:graphic>
      </p:graphicFrame>
      <p:sp>
        <p:nvSpPr>
          <p:cNvPr id="6" name="TextBox 5"/>
          <p:cNvSpPr txBox="1"/>
          <p:nvPr/>
        </p:nvSpPr>
        <p:spPr>
          <a:xfrm>
            <a:off x="2123728" y="1988840"/>
            <a:ext cx="4689489" cy="307777"/>
          </a:xfrm>
          <a:prstGeom prst="rect">
            <a:avLst/>
          </a:prstGeom>
          <a:noFill/>
        </p:spPr>
        <p:txBody>
          <a:bodyPr wrap="none" rtlCol="0">
            <a:spAutoFit/>
          </a:bodyPr>
          <a:lstStyle/>
          <a:p>
            <a:r>
              <a:rPr lang="en-US" altLang="ko-KR" sz="1400" u="sng" dirty="0"/>
              <a:t>Type 2 Study </a:t>
            </a:r>
            <a:r>
              <a:rPr lang="en-US" altLang="ko-KR" sz="1400" u="sng" dirty="0" err="1"/>
              <a:t>chỉ</a:t>
            </a:r>
            <a:r>
              <a:rPr lang="en-US" altLang="ko-KR" sz="1400" u="sng" dirty="0"/>
              <a:t> </a:t>
            </a:r>
            <a:r>
              <a:rPr lang="en-US" altLang="ko-KR" sz="1400" u="sng" dirty="0" err="1"/>
              <a:t>tiêu</a:t>
            </a:r>
            <a:r>
              <a:rPr lang="en-US" altLang="ko-KR" sz="1400" u="sng" dirty="0"/>
              <a:t> </a:t>
            </a:r>
            <a:r>
              <a:rPr lang="en-US" altLang="ko-KR" sz="1400" u="sng" dirty="0" err="1"/>
              <a:t>đánh</a:t>
            </a:r>
            <a:r>
              <a:rPr lang="en-US" altLang="ko-KR" sz="1400" u="sng" dirty="0"/>
              <a:t> </a:t>
            </a:r>
            <a:r>
              <a:rPr lang="en-US" altLang="ko-KR" sz="1400" u="sng" dirty="0" err="1"/>
              <a:t>giá</a:t>
            </a:r>
            <a:r>
              <a:rPr lang="en-US" altLang="ko-KR" sz="1400" u="sng" dirty="0"/>
              <a:t> </a:t>
            </a:r>
            <a:r>
              <a:rPr lang="en-US" altLang="ko-KR" sz="1400" u="sng" dirty="0" err="1"/>
              <a:t>và</a:t>
            </a:r>
            <a:r>
              <a:rPr lang="en-US" altLang="ko-KR" sz="1400" u="sng" dirty="0"/>
              <a:t> </a:t>
            </a:r>
            <a:r>
              <a:rPr lang="en-US" altLang="ko-KR" sz="1400" u="sng" dirty="0" err="1"/>
              <a:t>hướng</a:t>
            </a:r>
            <a:r>
              <a:rPr lang="en-US" altLang="ko-KR" sz="1400" u="sng" dirty="0"/>
              <a:t> </a:t>
            </a:r>
            <a:r>
              <a:rPr lang="en-US" altLang="ko-KR" sz="1400" u="sng" dirty="0" err="1"/>
              <a:t>dẫn</a:t>
            </a:r>
            <a:r>
              <a:rPr lang="en-US" altLang="ko-KR" sz="1400" u="sng" dirty="0"/>
              <a:t> </a:t>
            </a:r>
            <a:r>
              <a:rPr lang="en-US" altLang="ko-KR" sz="1400" u="sng" dirty="0" err="1"/>
              <a:t>đánh</a:t>
            </a:r>
            <a:r>
              <a:rPr lang="en-US" altLang="ko-KR" sz="1400" u="sng" dirty="0"/>
              <a:t> </a:t>
            </a:r>
            <a:r>
              <a:rPr lang="en-US" altLang="ko-KR" sz="1400" u="sng" dirty="0" err="1"/>
              <a:t>giá</a:t>
            </a:r>
            <a:endParaRPr lang="ko-KR" altLang="en-US" sz="1400" u="sng" dirty="0"/>
          </a:p>
        </p:txBody>
      </p:sp>
      <p:graphicFrame>
        <p:nvGraphicFramePr>
          <p:cNvPr id="8" name="개체 7"/>
          <p:cNvGraphicFramePr>
            <a:graphicFrameLocks noChangeAspect="1"/>
          </p:cNvGraphicFramePr>
          <p:nvPr>
            <p:extLst>
              <p:ext uri="{D42A27DB-BD31-4B8C-83A1-F6EECF244321}">
                <p14:modId xmlns:p14="http://schemas.microsoft.com/office/powerpoint/2010/main" val="2824545041"/>
              </p:ext>
            </p:extLst>
          </p:nvPr>
        </p:nvGraphicFramePr>
        <p:xfrm>
          <a:off x="1865313" y="3022600"/>
          <a:ext cx="1450975" cy="457200"/>
        </p:xfrm>
        <a:graphic>
          <a:graphicData uri="http://schemas.openxmlformats.org/presentationml/2006/ole">
            <mc:AlternateContent xmlns:mc="http://schemas.openxmlformats.org/markup-compatibility/2006">
              <mc:Choice xmlns:v="urn:schemas-microsoft-com:vml" Requires="v">
                <p:oleObj name="Equation" r:id="rId2" imgW="1384200" imgH="457200" progId="Equation.3">
                  <p:embed/>
                </p:oleObj>
              </mc:Choice>
              <mc:Fallback>
                <p:oleObj name="Equation" r:id="rId2" imgW="1384200" imgH="457200" progId="Equation.3">
                  <p:embed/>
                  <p:pic>
                    <p:nvPicPr>
                      <p:cNvPr id="8" name="개체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5313" y="3022600"/>
                        <a:ext cx="1450975"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개체 13"/>
          <p:cNvGraphicFramePr>
            <a:graphicFrameLocks noChangeAspect="1"/>
          </p:cNvGraphicFramePr>
          <p:nvPr>
            <p:extLst>
              <p:ext uri="{D42A27DB-BD31-4B8C-83A1-F6EECF244321}">
                <p14:modId xmlns:p14="http://schemas.microsoft.com/office/powerpoint/2010/main" val="4110074466"/>
              </p:ext>
            </p:extLst>
          </p:nvPr>
        </p:nvGraphicFramePr>
        <p:xfrm>
          <a:off x="1912938" y="4005263"/>
          <a:ext cx="1538287" cy="468312"/>
        </p:xfrm>
        <a:graphic>
          <a:graphicData uri="http://schemas.openxmlformats.org/presentationml/2006/ole">
            <mc:AlternateContent xmlns:mc="http://schemas.openxmlformats.org/markup-compatibility/2006">
              <mc:Choice xmlns:v="urn:schemas-microsoft-com:vml" Requires="v">
                <p:oleObj name="수식" r:id="rId4" imgW="1460160" imgH="457200" progId="Equation.3">
                  <p:embed/>
                </p:oleObj>
              </mc:Choice>
              <mc:Fallback>
                <p:oleObj name="수식" r:id="rId4" imgW="1460160" imgH="457200" progId="Equation.3">
                  <p:embed/>
                  <p:pic>
                    <p:nvPicPr>
                      <p:cNvPr id="14" name="개체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12938" y="4005263"/>
                        <a:ext cx="1538287" cy="468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개체 14"/>
          <p:cNvGraphicFramePr>
            <a:graphicFrameLocks noChangeAspect="1"/>
          </p:cNvGraphicFramePr>
          <p:nvPr>
            <p:extLst>
              <p:ext uri="{D42A27DB-BD31-4B8C-83A1-F6EECF244321}">
                <p14:modId xmlns:p14="http://schemas.microsoft.com/office/powerpoint/2010/main" val="1626616042"/>
              </p:ext>
            </p:extLst>
          </p:nvPr>
        </p:nvGraphicFramePr>
        <p:xfrm>
          <a:off x="1681163" y="5103813"/>
          <a:ext cx="1833562" cy="430212"/>
        </p:xfrm>
        <a:graphic>
          <a:graphicData uri="http://schemas.openxmlformats.org/presentationml/2006/ole">
            <mc:AlternateContent xmlns:mc="http://schemas.openxmlformats.org/markup-compatibility/2006">
              <mc:Choice xmlns:v="urn:schemas-microsoft-com:vml" Requires="v">
                <p:oleObj name="수식" r:id="rId6" imgW="1739880" imgH="419040" progId="Equation.3">
                  <p:embed/>
                </p:oleObj>
              </mc:Choice>
              <mc:Fallback>
                <p:oleObj name="수식" r:id="rId6" imgW="1739880" imgH="419040" progId="Equation.3">
                  <p:embed/>
                  <p:pic>
                    <p:nvPicPr>
                      <p:cNvPr id="15" name="개체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81163" y="5103813"/>
                        <a:ext cx="1833562" cy="4302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개체 17"/>
          <p:cNvGraphicFramePr>
            <a:graphicFrameLocks noChangeAspect="1"/>
          </p:cNvGraphicFramePr>
          <p:nvPr>
            <p:extLst>
              <p:ext uri="{D42A27DB-BD31-4B8C-83A1-F6EECF244321}">
                <p14:modId xmlns:p14="http://schemas.microsoft.com/office/powerpoint/2010/main" val="1197594398"/>
              </p:ext>
            </p:extLst>
          </p:nvPr>
        </p:nvGraphicFramePr>
        <p:xfrm>
          <a:off x="1935163" y="6273055"/>
          <a:ext cx="1323975" cy="468313"/>
        </p:xfrm>
        <a:graphic>
          <a:graphicData uri="http://schemas.openxmlformats.org/presentationml/2006/ole">
            <mc:AlternateContent xmlns:mc="http://schemas.openxmlformats.org/markup-compatibility/2006">
              <mc:Choice xmlns:v="urn:schemas-microsoft-com:vml" Requires="v">
                <p:oleObj name="수식" r:id="rId8" imgW="1257120" imgH="457200" progId="Equation.3">
                  <p:embed/>
                </p:oleObj>
              </mc:Choice>
              <mc:Fallback>
                <p:oleObj name="수식" r:id="rId8" imgW="1257120" imgH="457200" progId="Equation.3">
                  <p:embed/>
                  <p:pic>
                    <p:nvPicPr>
                      <p:cNvPr id="18" name="개체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5163" y="6273055"/>
                        <a:ext cx="1323975" cy="468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58</a:t>
            </a:fld>
            <a:endParaRPr lang="ko-KR" altLang="en-US" dirty="0"/>
          </a:p>
        </p:txBody>
      </p:sp>
    </p:spTree>
    <p:extLst>
      <p:ext uri="{BB962C8B-B14F-4D97-AF65-F5344CB8AC3E}">
        <p14:creationId xmlns:p14="http://schemas.microsoft.com/office/powerpoint/2010/main" val="134660515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2481257" cy="400110"/>
          </a:xfrm>
          <a:prstGeom prst="rect">
            <a:avLst/>
          </a:prstGeom>
          <a:noFill/>
        </p:spPr>
        <p:txBody>
          <a:bodyPr wrap="none" rtlCol="0">
            <a:spAutoFit/>
          </a:bodyPr>
          <a:lstStyle/>
          <a:p>
            <a:r>
              <a:rPr lang="en-US" altLang="ko-KR" sz="2000" b="1" dirty="0"/>
              <a:t>Type 3, 4, 5 Study </a:t>
            </a:r>
            <a:endParaRPr lang="ko-KR" altLang="en-US" sz="2000" b="1" dirty="0"/>
          </a:p>
        </p:txBody>
      </p:sp>
      <p:sp>
        <p:nvSpPr>
          <p:cNvPr id="3" name="TextBox 2"/>
          <p:cNvSpPr txBox="1"/>
          <p:nvPr/>
        </p:nvSpPr>
        <p:spPr>
          <a:xfrm>
            <a:off x="179512" y="673532"/>
            <a:ext cx="8969443" cy="738664"/>
          </a:xfrm>
          <a:prstGeom prst="rect">
            <a:avLst/>
          </a:prstGeom>
          <a:noFill/>
        </p:spPr>
        <p:txBody>
          <a:bodyPr wrap="none" rtlCol="0">
            <a:spAutoFit/>
          </a:bodyPr>
          <a:lstStyle/>
          <a:p>
            <a:r>
              <a:rPr lang="en-US" altLang="ko-KR" sz="1400" dirty="0"/>
              <a:t>Type 3 Study </a:t>
            </a:r>
            <a:r>
              <a:rPr lang="en-US" altLang="ko-KR" sz="1400" dirty="0" err="1"/>
              <a:t>là</a:t>
            </a:r>
            <a:r>
              <a:rPr lang="en-US" altLang="ko-KR" sz="1400" dirty="0"/>
              <a:t> Gage R&amp;R </a:t>
            </a:r>
            <a:r>
              <a:rPr lang="en-US" altLang="ko-KR" sz="1400" dirty="0" err="1"/>
              <a:t>về</a:t>
            </a:r>
            <a:r>
              <a:rPr lang="en-US" altLang="ko-KR" sz="1400" dirty="0"/>
              <a:t> </a:t>
            </a:r>
            <a:r>
              <a:rPr lang="en-US" altLang="ko-KR" sz="1400" dirty="0" err="1"/>
              <a:t>trường</a:t>
            </a:r>
            <a:r>
              <a:rPr lang="en-US" altLang="ko-KR" sz="1400" dirty="0"/>
              <a:t> </a:t>
            </a:r>
            <a:r>
              <a:rPr lang="en-US" altLang="ko-KR" sz="1400" dirty="0" err="1"/>
              <a:t>hợp</a:t>
            </a:r>
            <a:r>
              <a:rPr lang="en-US" altLang="ko-KR" sz="1400" dirty="0"/>
              <a:t> </a:t>
            </a:r>
            <a:r>
              <a:rPr lang="en-US" altLang="ko-KR" sz="1400" dirty="0" err="1"/>
              <a:t>không</a:t>
            </a:r>
            <a:r>
              <a:rPr lang="en-US" altLang="ko-KR" sz="1400" dirty="0"/>
              <a:t> </a:t>
            </a:r>
            <a:r>
              <a:rPr lang="en-US" altLang="ko-KR" sz="1400" dirty="0" err="1"/>
              <a:t>có</a:t>
            </a:r>
            <a:r>
              <a:rPr lang="en-US" altLang="ko-KR" sz="1400" dirty="0"/>
              <a:t> </a:t>
            </a:r>
            <a:r>
              <a:rPr lang="en-US" altLang="ko-KR" sz="1400" dirty="0" err="1"/>
              <a:t>ảnh</a:t>
            </a:r>
            <a:r>
              <a:rPr lang="en-US" altLang="ko-KR" sz="1400" dirty="0"/>
              <a:t> </a:t>
            </a:r>
            <a:r>
              <a:rPr lang="en-US" altLang="ko-KR" sz="1400" dirty="0" err="1"/>
              <a:t>hưởng</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Trường</a:t>
            </a:r>
            <a:r>
              <a:rPr lang="en-US" altLang="ko-KR" sz="1400" dirty="0"/>
              <a:t> </a:t>
            </a:r>
            <a:r>
              <a:rPr lang="en-US" altLang="ko-KR" sz="1400" dirty="0" err="1"/>
              <a:t>hợp</a:t>
            </a:r>
            <a:r>
              <a:rPr lang="en-US" altLang="ko-KR" sz="1400" dirty="0"/>
              <a:t> </a:t>
            </a:r>
            <a:r>
              <a:rPr lang="en-US" altLang="ko-KR" sz="1400" dirty="0" err="1"/>
              <a:t>sử</a:t>
            </a:r>
            <a:r>
              <a:rPr lang="en-US" altLang="ko-KR" sz="1400" dirty="0"/>
              <a:t> </a:t>
            </a:r>
            <a:r>
              <a:rPr lang="en-US" altLang="ko-KR" sz="1400" dirty="0" err="1"/>
              <a:t>dụng</a:t>
            </a:r>
            <a:r>
              <a:rPr lang="en-US" altLang="ko-KR" sz="1400" dirty="0"/>
              <a:t> </a:t>
            </a:r>
          </a:p>
          <a:p>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tự</a:t>
            </a:r>
            <a:r>
              <a:rPr lang="en-US" altLang="ko-KR" sz="1400" dirty="0"/>
              <a:t> </a:t>
            </a:r>
            <a:r>
              <a:rPr lang="en-US" altLang="ko-KR" sz="1400" dirty="0" err="1"/>
              <a:t>động</a:t>
            </a:r>
            <a:r>
              <a:rPr lang="en-US" altLang="ko-KR" sz="1400" dirty="0"/>
              <a:t> </a:t>
            </a:r>
            <a:r>
              <a:rPr lang="en-US" altLang="ko-KR" sz="1400" dirty="0" err="1"/>
              <a:t>không</a:t>
            </a:r>
            <a:r>
              <a:rPr lang="en-US" altLang="ko-KR" sz="1400" dirty="0"/>
              <a:t> </a:t>
            </a:r>
            <a:r>
              <a:rPr lang="en-US" altLang="ko-KR" sz="1400" dirty="0" err="1"/>
              <a:t>có</a:t>
            </a:r>
            <a:r>
              <a:rPr lang="en-US" altLang="ko-KR" sz="1400" dirty="0"/>
              <a:t> </a:t>
            </a:r>
            <a:r>
              <a:rPr lang="en-US" altLang="ko-KR" sz="1400" dirty="0" err="1"/>
              <a:t>ảnh</a:t>
            </a:r>
            <a:r>
              <a:rPr lang="en-US" altLang="ko-KR" sz="1400" dirty="0"/>
              <a:t> </a:t>
            </a:r>
            <a:r>
              <a:rPr lang="en-US" altLang="ko-KR" sz="1400" dirty="0" err="1"/>
              <a:t>hưởng</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Trường</a:t>
            </a:r>
            <a:r>
              <a:rPr lang="en-US" altLang="ko-KR" sz="1400" dirty="0"/>
              <a:t> </a:t>
            </a:r>
            <a:r>
              <a:rPr lang="en-US" altLang="ko-KR" sz="1400" dirty="0" err="1"/>
              <a:t>hợp</a:t>
            </a:r>
            <a:r>
              <a:rPr lang="en-US" altLang="ko-KR" sz="1400" dirty="0"/>
              <a:t> </a:t>
            </a:r>
            <a:r>
              <a:rPr lang="en-US" altLang="ko-KR" sz="1400" dirty="0" err="1"/>
              <a:t>này</a:t>
            </a:r>
            <a:r>
              <a:rPr lang="en-US" altLang="ko-KR" sz="1400" dirty="0"/>
              <a:t> </a:t>
            </a:r>
            <a:r>
              <a:rPr lang="en-US" altLang="ko-KR" sz="1400" dirty="0" err="1"/>
              <a:t>không</a:t>
            </a:r>
            <a:r>
              <a:rPr lang="en-US" altLang="ko-KR" sz="1400" dirty="0"/>
              <a:t> </a:t>
            </a:r>
            <a:r>
              <a:rPr lang="en-US" altLang="ko-KR" sz="1400" dirty="0" err="1"/>
              <a:t>có</a:t>
            </a:r>
            <a:r>
              <a:rPr lang="en-US" altLang="ko-KR" sz="1400" dirty="0"/>
              <a:t> </a:t>
            </a:r>
            <a:r>
              <a:rPr lang="en-US" altLang="ko-KR" sz="1400" dirty="0" err="1"/>
              <a:t>biến</a:t>
            </a:r>
            <a:r>
              <a:rPr lang="en-US" altLang="ko-KR" sz="1400" dirty="0"/>
              <a:t> </a:t>
            </a:r>
            <a:r>
              <a:rPr lang="en-US" altLang="ko-KR" sz="1400" dirty="0" err="1"/>
              <a:t>động</a:t>
            </a:r>
            <a:endParaRPr lang="en-US" altLang="ko-KR" sz="1400" dirty="0"/>
          </a:p>
          <a:p>
            <a:r>
              <a:rPr lang="en-US" altLang="ko-KR" sz="1400" dirty="0" err="1"/>
              <a:t>tính</a:t>
            </a:r>
            <a:r>
              <a:rPr lang="en-US" altLang="ko-KR" sz="1400" dirty="0"/>
              <a:t> </a:t>
            </a:r>
            <a:r>
              <a:rPr lang="en-US" altLang="ko-KR" sz="1400" dirty="0" err="1"/>
              <a:t>tái</a:t>
            </a:r>
            <a:r>
              <a:rPr lang="en-US" altLang="ko-KR" sz="1400" dirty="0"/>
              <a:t> </a:t>
            </a:r>
            <a:r>
              <a:rPr lang="en-US" altLang="ko-KR" sz="1400" dirty="0" err="1"/>
              <a:t>hiện</a:t>
            </a:r>
            <a:r>
              <a:rPr lang="en-US" altLang="ko-KR" sz="1400" dirty="0"/>
              <a:t> </a:t>
            </a:r>
            <a:r>
              <a:rPr lang="en-US" altLang="ko-KR" sz="1400" dirty="0" err="1"/>
              <a:t>giữa</a:t>
            </a:r>
            <a:r>
              <a:rPr lang="en-US" altLang="ko-KR" sz="1400" dirty="0"/>
              <a:t> </a:t>
            </a:r>
            <a:r>
              <a:rPr lang="en-US" altLang="ko-KR" sz="1400" dirty="0" err="1"/>
              <a:t>những</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và</a:t>
            </a:r>
            <a:r>
              <a:rPr lang="en-US" altLang="ko-KR" sz="1400" dirty="0"/>
              <a:t> </a:t>
            </a:r>
            <a:r>
              <a:rPr lang="en-US" altLang="ko-KR" sz="1400" dirty="0" err="1"/>
              <a:t>chỉ</a:t>
            </a:r>
            <a:r>
              <a:rPr lang="en-US" altLang="ko-KR" sz="1400" dirty="0"/>
              <a:t> </a:t>
            </a:r>
            <a:r>
              <a:rPr lang="en-US" altLang="ko-KR" sz="1400" dirty="0" err="1"/>
              <a:t>tồn</a:t>
            </a:r>
            <a:r>
              <a:rPr lang="en-US" altLang="ko-KR" sz="1400" dirty="0"/>
              <a:t> </a:t>
            </a:r>
            <a:r>
              <a:rPr lang="en-US" altLang="ko-KR" sz="1400" dirty="0" err="1"/>
              <a:t>tại</a:t>
            </a:r>
            <a:r>
              <a:rPr lang="en-US" altLang="ko-KR" sz="1400" dirty="0"/>
              <a:t> </a:t>
            </a:r>
            <a:r>
              <a:rPr lang="en-US" altLang="ko-KR" sz="1400" dirty="0" err="1"/>
              <a:t>tính</a:t>
            </a:r>
            <a:r>
              <a:rPr lang="en-US" altLang="ko-KR" sz="1400" dirty="0"/>
              <a:t> </a:t>
            </a:r>
            <a:r>
              <a:rPr lang="en-US" altLang="ko-KR" sz="1400" dirty="0" err="1"/>
              <a:t>lặp</a:t>
            </a:r>
            <a:r>
              <a:rPr lang="en-US" altLang="ko-KR" sz="1400" dirty="0"/>
              <a:t> </a:t>
            </a:r>
            <a:r>
              <a:rPr lang="en-US" altLang="ko-KR" sz="1400" dirty="0" err="1"/>
              <a:t>lại</a:t>
            </a:r>
            <a:r>
              <a:rPr lang="en-US" altLang="ko-KR" sz="1400" dirty="0"/>
              <a:t>. </a:t>
            </a:r>
            <a:endParaRPr lang="ko-KR" altLang="en-US" sz="1400" dirty="0"/>
          </a:p>
        </p:txBody>
      </p:sp>
      <p:sp>
        <p:nvSpPr>
          <p:cNvPr id="4" name="TextBox 3"/>
          <p:cNvSpPr txBox="1"/>
          <p:nvPr/>
        </p:nvSpPr>
        <p:spPr>
          <a:xfrm>
            <a:off x="179512" y="1394192"/>
            <a:ext cx="8889613" cy="738664"/>
          </a:xfrm>
          <a:prstGeom prst="rect">
            <a:avLst/>
          </a:prstGeom>
          <a:noFill/>
        </p:spPr>
        <p:txBody>
          <a:bodyPr wrap="none" rtlCol="0">
            <a:spAutoFit/>
          </a:bodyPr>
          <a:lstStyle/>
          <a:p>
            <a:r>
              <a:rPr lang="en-US" altLang="ko-KR" sz="1400" dirty="0"/>
              <a:t>Type 3 Study</a:t>
            </a:r>
            <a:r>
              <a:rPr lang="ko-KR" altLang="en-US" sz="1400" dirty="0"/>
              <a:t> </a:t>
            </a:r>
            <a:r>
              <a:rPr lang="en-US" altLang="ko-KR" sz="1400" dirty="0" err="1"/>
              <a:t>là</a:t>
            </a:r>
            <a:r>
              <a:rPr lang="en-US" altLang="ko-KR" sz="1400" dirty="0"/>
              <a:t> </a:t>
            </a:r>
            <a:r>
              <a:rPr lang="en-US" altLang="ko-KR" sz="1400" dirty="0" err="1"/>
              <a:t>trong</a:t>
            </a:r>
            <a:r>
              <a:rPr lang="en-US" altLang="ko-KR" sz="1400" dirty="0"/>
              <a:t> process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lựa</a:t>
            </a:r>
            <a:r>
              <a:rPr lang="en-US" altLang="ko-KR" sz="1400" dirty="0"/>
              <a:t> </a:t>
            </a:r>
            <a:r>
              <a:rPr lang="en-US" altLang="ko-KR" sz="1400" dirty="0" err="1"/>
              <a:t>chọn</a:t>
            </a:r>
            <a:r>
              <a:rPr lang="en-US" altLang="ko-KR" sz="1400" dirty="0"/>
              <a:t> </a:t>
            </a:r>
            <a:r>
              <a:rPr lang="en-US" altLang="ko-KR" sz="1400" dirty="0" err="1"/>
              <a:t>ngẫu</a:t>
            </a:r>
            <a:r>
              <a:rPr lang="en-US" altLang="ko-KR" sz="1400" dirty="0"/>
              <a:t> </a:t>
            </a:r>
            <a:r>
              <a:rPr lang="en-US" altLang="ko-KR" sz="1400" dirty="0" err="1"/>
              <a:t>nhiên</a:t>
            </a:r>
            <a:r>
              <a:rPr lang="en-US" altLang="ko-KR" sz="1400" dirty="0"/>
              <a:t> p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và</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lặp</a:t>
            </a:r>
            <a:r>
              <a:rPr lang="en-US" altLang="ko-KR" sz="1400" dirty="0"/>
              <a:t> </a:t>
            </a:r>
            <a:r>
              <a:rPr lang="en-US" altLang="ko-KR" sz="1400" dirty="0" err="1"/>
              <a:t>lại</a:t>
            </a:r>
            <a:r>
              <a:rPr lang="en-US" altLang="ko-KR" sz="1400" dirty="0"/>
              <a:t> r </a:t>
            </a:r>
            <a:r>
              <a:rPr lang="en-US" altLang="ko-KR" sz="1400" dirty="0" err="1"/>
              <a:t>lần</a:t>
            </a:r>
            <a:r>
              <a:rPr lang="en-US" altLang="ko-KR" sz="1400" dirty="0"/>
              <a:t>.  </a:t>
            </a:r>
          </a:p>
          <a:p>
            <a:r>
              <a:rPr lang="en-US" altLang="ko-KR" sz="1400" dirty="0"/>
              <a:t> </a:t>
            </a:r>
            <a:r>
              <a:rPr lang="en-US" altLang="ko-KR" sz="1400" dirty="0" err="1"/>
              <a:t>Trong</a:t>
            </a:r>
            <a:r>
              <a:rPr lang="en-US" altLang="ko-KR" sz="1400" dirty="0"/>
              <a:t> GM </a:t>
            </a:r>
            <a:r>
              <a:rPr lang="en-US" altLang="ko-KR" sz="1400" dirty="0" err="1"/>
              <a:t>chọn</a:t>
            </a:r>
            <a:r>
              <a:rPr lang="en-US" altLang="ko-KR" sz="1400" dirty="0"/>
              <a:t> </a:t>
            </a:r>
            <a:r>
              <a:rPr lang="en-US" altLang="ko-KR" sz="1400" dirty="0" err="1"/>
              <a:t>tối</a:t>
            </a:r>
            <a:r>
              <a:rPr lang="en-US" altLang="ko-KR" sz="1400" dirty="0"/>
              <a:t> </a:t>
            </a:r>
            <a:r>
              <a:rPr lang="en-US" altLang="ko-KR" sz="1400" dirty="0" err="1"/>
              <a:t>thiểu</a:t>
            </a:r>
            <a:r>
              <a:rPr lang="en-US" altLang="ko-KR" sz="1400" dirty="0"/>
              <a:t> </a:t>
            </a:r>
            <a:r>
              <a:rPr lang="en-US" altLang="ko-KR" sz="1400" dirty="0" err="1"/>
              <a:t>trên</a:t>
            </a:r>
            <a:r>
              <a:rPr lang="en-US" altLang="ko-KR" sz="1400" dirty="0"/>
              <a:t> 5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và</a:t>
            </a:r>
            <a:r>
              <a:rPr lang="en-US" altLang="ko-KR" sz="1400" dirty="0"/>
              <a:t> p x r = 50 </a:t>
            </a:r>
            <a:r>
              <a:rPr lang="en-US" altLang="ko-KR" sz="1400" dirty="0" err="1"/>
              <a:t>hoặc</a:t>
            </a:r>
            <a:r>
              <a:rPr lang="en-US" altLang="ko-KR" sz="1400" dirty="0"/>
              <a:t> </a:t>
            </a:r>
            <a:r>
              <a:rPr lang="en-US" altLang="ko-KR" sz="1400" dirty="0" err="1"/>
              <a:t>lớn</a:t>
            </a:r>
            <a:r>
              <a:rPr lang="en-US" altLang="ko-KR" sz="1400" dirty="0"/>
              <a:t> </a:t>
            </a:r>
            <a:r>
              <a:rPr lang="en-US" altLang="ko-KR" sz="1400" dirty="0" err="1"/>
              <a:t>hơn</a:t>
            </a:r>
            <a:r>
              <a:rPr lang="en-US" altLang="ko-KR" sz="1400" dirty="0"/>
              <a:t> . </a:t>
            </a:r>
            <a:r>
              <a:rPr lang="en-US" altLang="ko-KR" sz="1400" dirty="0" err="1"/>
              <a:t>Trong</a:t>
            </a:r>
            <a:r>
              <a:rPr lang="en-US" altLang="ko-KR" sz="1400" dirty="0"/>
              <a:t> Type 2 Study </a:t>
            </a:r>
            <a:r>
              <a:rPr lang="en-US" altLang="ko-KR" sz="1400" dirty="0" err="1"/>
              <a:t>nếu</a:t>
            </a:r>
            <a:r>
              <a:rPr lang="en-US" altLang="ko-KR" sz="1400" dirty="0"/>
              <a:t> </a:t>
            </a:r>
            <a:r>
              <a:rPr lang="en-US" altLang="ko-KR" sz="1400" dirty="0" err="1"/>
              <a:t>không</a:t>
            </a:r>
            <a:r>
              <a:rPr lang="en-US" altLang="ko-KR" sz="1400" dirty="0"/>
              <a:t> </a:t>
            </a:r>
            <a:r>
              <a:rPr lang="en-US" altLang="ko-KR" sz="1400" dirty="0" err="1"/>
              <a:t>có</a:t>
            </a:r>
            <a:r>
              <a:rPr lang="en-US" altLang="ko-KR" sz="1400" dirty="0"/>
              <a:t> </a:t>
            </a:r>
          </a:p>
          <a:p>
            <a:r>
              <a:rPr lang="en-US" altLang="ko-KR" sz="1400" dirty="0" err="1"/>
              <a:t>sự</a:t>
            </a:r>
            <a:r>
              <a:rPr lang="en-US" altLang="ko-KR" sz="1400" dirty="0"/>
              <a:t> </a:t>
            </a:r>
            <a:r>
              <a:rPr lang="en-US" altLang="ko-KR" sz="1400" dirty="0" err="1"/>
              <a:t>phân</a:t>
            </a:r>
            <a:r>
              <a:rPr lang="en-US" altLang="ko-KR" sz="1400" dirty="0"/>
              <a:t> </a:t>
            </a:r>
            <a:r>
              <a:rPr lang="en-US" altLang="ko-KR" sz="1400" dirty="0" err="1"/>
              <a:t>biệt</a:t>
            </a:r>
            <a:r>
              <a:rPr lang="en-US" altLang="ko-KR" sz="1400" dirty="0"/>
              <a:t> </a:t>
            </a:r>
            <a:r>
              <a:rPr lang="en-US" altLang="ko-KR" sz="1400" dirty="0" err="1"/>
              <a:t>của</a:t>
            </a:r>
            <a:r>
              <a:rPr lang="en-US" altLang="ko-KR" sz="1400" dirty="0"/>
              <a:t> con </a:t>
            </a:r>
            <a:r>
              <a:rPr lang="en-US" altLang="ko-KR" sz="1400" dirty="0" err="1"/>
              <a:t>người</a:t>
            </a:r>
            <a:r>
              <a:rPr lang="en-US" altLang="ko-KR" sz="1400" dirty="0"/>
              <a:t> </a:t>
            </a:r>
            <a:r>
              <a:rPr lang="en-US" altLang="ko-KR" sz="1400" dirty="0" err="1"/>
              <a:t>thì</a:t>
            </a:r>
            <a:r>
              <a:rPr lang="en-US" altLang="ko-KR" sz="1400" dirty="0"/>
              <a:t> </a:t>
            </a:r>
            <a:r>
              <a:rPr lang="en-US" altLang="ko-KR" sz="1400" dirty="0" err="1"/>
              <a:t>sẽ</a:t>
            </a:r>
            <a:r>
              <a:rPr lang="en-US" altLang="ko-KR" sz="1400" dirty="0"/>
              <a:t> </a:t>
            </a:r>
            <a:r>
              <a:rPr lang="en-US" altLang="ko-KR" sz="1400" dirty="0" err="1"/>
              <a:t>trở</a:t>
            </a:r>
            <a:r>
              <a:rPr lang="en-US" altLang="ko-KR" sz="1400" dirty="0"/>
              <a:t> </a:t>
            </a:r>
            <a:r>
              <a:rPr lang="en-US" altLang="ko-KR" sz="1400" dirty="0" err="1"/>
              <a:t>thành</a:t>
            </a:r>
            <a:r>
              <a:rPr lang="en-US" altLang="ko-KR" sz="1400" dirty="0"/>
              <a:t> Type 3</a:t>
            </a:r>
            <a:endParaRPr lang="ko-KR" altLang="en-US" sz="1400" dirty="0"/>
          </a:p>
        </p:txBody>
      </p:sp>
      <p:sp>
        <p:nvSpPr>
          <p:cNvPr id="5" name="TextBox 4"/>
          <p:cNvSpPr txBox="1"/>
          <p:nvPr/>
        </p:nvSpPr>
        <p:spPr>
          <a:xfrm>
            <a:off x="179512" y="2114272"/>
            <a:ext cx="9056325" cy="738664"/>
          </a:xfrm>
          <a:prstGeom prst="rect">
            <a:avLst/>
          </a:prstGeom>
          <a:noFill/>
        </p:spPr>
        <p:txBody>
          <a:bodyPr wrap="none" rtlCol="0">
            <a:spAutoFit/>
          </a:bodyPr>
          <a:lstStyle/>
          <a:p>
            <a:r>
              <a:rPr lang="en-US" altLang="ko-KR" sz="1400" dirty="0"/>
              <a:t>Type 4 Study </a:t>
            </a:r>
            <a:r>
              <a:rPr lang="en-US" altLang="ko-KR" sz="1400" dirty="0" err="1"/>
              <a:t>là</a:t>
            </a:r>
            <a:r>
              <a:rPr lang="ko-KR" altLang="en-US" sz="1400" dirty="0"/>
              <a:t> </a:t>
            </a:r>
            <a:r>
              <a:rPr lang="en-US" altLang="ko-KR" sz="1400" dirty="0" err="1"/>
              <a:t>trong</a:t>
            </a:r>
            <a:r>
              <a:rPr lang="en-US" altLang="ko-KR" sz="1400" dirty="0"/>
              <a:t> </a:t>
            </a:r>
            <a:r>
              <a:rPr lang="en-US" altLang="ko-KR" sz="1400" dirty="0" err="1"/>
              <a:t>phạm</a:t>
            </a:r>
            <a:r>
              <a:rPr lang="en-US" altLang="ko-KR" sz="1400" dirty="0"/>
              <a:t> vi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của</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tính</a:t>
            </a:r>
            <a:r>
              <a:rPr lang="en-US" altLang="ko-KR" sz="1400" dirty="0"/>
              <a:t> </a:t>
            </a:r>
            <a:r>
              <a:rPr lang="en-US" altLang="ko-KR" sz="1400" dirty="0" err="1"/>
              <a:t>nhất</a:t>
            </a:r>
            <a:r>
              <a:rPr lang="en-US" altLang="ko-KR" sz="1400" dirty="0"/>
              <a:t> </a:t>
            </a:r>
            <a:r>
              <a:rPr lang="en-US" altLang="ko-KR" sz="1400" dirty="0" err="1"/>
              <a:t>quán</a:t>
            </a:r>
            <a:r>
              <a:rPr lang="en-US" altLang="ko-KR" sz="1400" dirty="0"/>
              <a:t> </a:t>
            </a:r>
            <a:r>
              <a:rPr lang="en-US" altLang="ko-KR" sz="1400" dirty="0" err="1"/>
              <a:t>của</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Tức</a:t>
            </a:r>
            <a:r>
              <a:rPr lang="en-US" altLang="ko-KR" sz="1400" dirty="0"/>
              <a:t> </a:t>
            </a:r>
            <a:r>
              <a:rPr lang="en-US" altLang="ko-KR" sz="1400" dirty="0" err="1"/>
              <a:t>là</a:t>
            </a:r>
            <a:r>
              <a:rPr lang="en-US" altLang="ko-KR" sz="1400" dirty="0"/>
              <a:t> </a:t>
            </a:r>
            <a:r>
              <a:rPr lang="en-US" altLang="ko-KR" sz="1400" dirty="0" err="1"/>
              <a:t>trong</a:t>
            </a:r>
            <a:r>
              <a:rPr lang="en-US" altLang="ko-KR" sz="1400" dirty="0"/>
              <a:t> </a:t>
            </a:r>
            <a:r>
              <a:rPr lang="en-US" altLang="ko-KR" sz="1400" dirty="0" err="1"/>
              <a:t>toàn</a:t>
            </a:r>
            <a:endParaRPr lang="en-US" altLang="ko-KR" sz="1400" dirty="0"/>
          </a:p>
          <a:p>
            <a:r>
              <a:rPr lang="en-US" altLang="ko-KR" sz="1400" dirty="0"/>
              <a:t> </a:t>
            </a:r>
            <a:r>
              <a:rPr lang="en-US" altLang="ko-KR" sz="1400" dirty="0" err="1"/>
              <a:t>thể</a:t>
            </a:r>
            <a:r>
              <a:rPr lang="en-US" altLang="ko-KR" sz="1400" dirty="0"/>
              <a:t> </a:t>
            </a:r>
            <a:r>
              <a:rPr lang="en-US" altLang="ko-KR" sz="1400" dirty="0" err="1"/>
              <a:t>phạm</a:t>
            </a:r>
            <a:r>
              <a:rPr lang="en-US" altLang="ko-KR" sz="1400" dirty="0"/>
              <a:t> vi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của</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nếu</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độ</a:t>
            </a:r>
            <a:r>
              <a:rPr lang="en-US" altLang="ko-KR" sz="1400" dirty="0"/>
              <a:t> </a:t>
            </a:r>
            <a:r>
              <a:rPr lang="en-US" altLang="ko-KR" sz="1400" dirty="0" err="1"/>
              <a:t>lệch</a:t>
            </a:r>
            <a:r>
              <a:rPr lang="en-US" altLang="ko-KR" sz="1400" dirty="0"/>
              <a:t> Bias </a:t>
            </a:r>
            <a:r>
              <a:rPr lang="en-US" altLang="ko-KR" sz="1400" dirty="0" err="1"/>
              <a:t>mà</a:t>
            </a:r>
            <a:r>
              <a:rPr lang="en-US" altLang="ko-KR" sz="1400" dirty="0"/>
              <a:t> </a:t>
            </a:r>
            <a:r>
              <a:rPr lang="en-US" altLang="ko-KR" sz="1400" dirty="0" err="1"/>
              <a:t>nhất</a:t>
            </a:r>
            <a:r>
              <a:rPr lang="en-US" altLang="ko-KR" sz="1400" dirty="0"/>
              <a:t> </a:t>
            </a:r>
            <a:r>
              <a:rPr lang="en-US" altLang="ko-KR" sz="1400" dirty="0" err="1"/>
              <a:t>định</a:t>
            </a:r>
            <a:r>
              <a:rPr lang="en-US" altLang="ko-KR" sz="1400" dirty="0"/>
              <a:t>/</a:t>
            </a:r>
            <a:r>
              <a:rPr lang="en-US" altLang="ko-KR" sz="1400" dirty="0" err="1"/>
              <a:t>không</a:t>
            </a:r>
            <a:r>
              <a:rPr lang="en-US" altLang="ko-KR" sz="1400" dirty="0"/>
              <a:t> </a:t>
            </a:r>
            <a:r>
              <a:rPr lang="en-US" altLang="ko-KR" sz="1400" dirty="0" err="1"/>
              <a:t>thay</a:t>
            </a:r>
            <a:r>
              <a:rPr lang="en-US" altLang="ko-KR" sz="1400" dirty="0"/>
              <a:t> </a:t>
            </a:r>
            <a:r>
              <a:rPr lang="en-US" altLang="ko-KR" sz="1400" dirty="0" err="1"/>
              <a:t>đổi</a:t>
            </a:r>
            <a:r>
              <a:rPr lang="en-US" altLang="ko-KR" sz="1400" dirty="0"/>
              <a:t> </a:t>
            </a:r>
            <a:r>
              <a:rPr lang="en-US" altLang="ko-KR" sz="1400" dirty="0" err="1"/>
              <a:t>thì</a:t>
            </a:r>
            <a:r>
              <a:rPr lang="en-US" altLang="ko-KR" sz="1400" dirty="0"/>
              <a:t> </a:t>
            </a:r>
            <a:r>
              <a:rPr lang="en-US" altLang="ko-KR" sz="1400" dirty="0" err="1"/>
              <a:t>độ</a:t>
            </a:r>
            <a:r>
              <a:rPr lang="en-US" altLang="ko-KR" sz="1400" dirty="0"/>
              <a:t> </a:t>
            </a:r>
            <a:r>
              <a:rPr lang="en-US" altLang="ko-KR" sz="1400" dirty="0" err="1"/>
              <a:t>tuyến</a:t>
            </a:r>
            <a:r>
              <a:rPr lang="en-US" altLang="ko-KR" sz="1400" dirty="0"/>
              <a:t> </a:t>
            </a:r>
          </a:p>
          <a:p>
            <a:r>
              <a:rPr lang="en-US" altLang="ko-KR" sz="1400" dirty="0"/>
              <a:t> </a:t>
            </a:r>
            <a:r>
              <a:rPr lang="en-US" altLang="ko-KR" sz="1400" dirty="0" err="1"/>
              <a:t>tính</a:t>
            </a:r>
            <a:r>
              <a:rPr lang="en-US" altLang="ko-KR" sz="1400" dirty="0"/>
              <a:t> </a:t>
            </a:r>
            <a:r>
              <a:rPr lang="en-US" altLang="ko-KR" sz="1400" dirty="0" err="1"/>
              <a:t>là</a:t>
            </a:r>
            <a:r>
              <a:rPr lang="en-US" altLang="ko-KR" sz="1400" dirty="0"/>
              <a:t> </a:t>
            </a:r>
            <a:r>
              <a:rPr lang="en-US" altLang="ko-KR" sz="1400" dirty="0" err="1"/>
              <a:t>tốt</a:t>
            </a:r>
            <a:r>
              <a:rPr lang="en-US" altLang="ko-KR" sz="1400" dirty="0"/>
              <a:t>. </a:t>
            </a:r>
            <a:r>
              <a:rPr lang="en-US" altLang="ko-KR" sz="1400" dirty="0" err="1"/>
              <a:t>Đây</a:t>
            </a:r>
            <a:r>
              <a:rPr lang="en-US" altLang="ko-KR" sz="1400" dirty="0"/>
              <a:t> </a:t>
            </a:r>
            <a:r>
              <a:rPr lang="en-US" altLang="ko-KR" sz="1400" dirty="0" err="1"/>
              <a:t>là</a:t>
            </a:r>
            <a:r>
              <a:rPr lang="en-US" altLang="ko-KR" sz="1400" dirty="0"/>
              <a:t> </a:t>
            </a:r>
            <a:r>
              <a:rPr lang="en-US" altLang="ko-KR" sz="1400" dirty="0" err="1"/>
              <a:t>theo</a:t>
            </a:r>
            <a:r>
              <a:rPr lang="en-US" altLang="ko-KR" sz="1400" dirty="0"/>
              <a:t> </a:t>
            </a:r>
            <a:r>
              <a:rPr lang="en-US" altLang="ko-KR" sz="1400" dirty="0" err="1"/>
              <a:t>hướng</a:t>
            </a:r>
            <a:r>
              <a:rPr lang="en-US" altLang="ko-KR" sz="1400" dirty="0"/>
              <a:t> </a:t>
            </a:r>
            <a:r>
              <a:rPr lang="en-US" altLang="ko-KR" sz="1400" dirty="0" err="1"/>
              <a:t>dẫn</a:t>
            </a:r>
            <a:r>
              <a:rPr lang="en-US" altLang="ko-KR" sz="1400" dirty="0"/>
              <a:t> </a:t>
            </a:r>
            <a:r>
              <a:rPr lang="en-US" altLang="ko-KR" sz="1400" dirty="0" err="1"/>
              <a:t>quyết</a:t>
            </a:r>
            <a:r>
              <a:rPr lang="en-US" altLang="ko-KR" sz="1400" dirty="0"/>
              <a:t> </a:t>
            </a:r>
            <a:r>
              <a:rPr lang="en-US" altLang="ko-KR" sz="1400" dirty="0" err="1"/>
              <a:t>định</a:t>
            </a:r>
            <a:r>
              <a:rPr lang="en-US" altLang="ko-KR" sz="1400" dirty="0"/>
              <a:t> </a:t>
            </a:r>
            <a:r>
              <a:rPr lang="en-US" altLang="ko-KR" sz="1400" dirty="0" err="1"/>
              <a:t>độ</a:t>
            </a:r>
            <a:r>
              <a:rPr lang="en-US" altLang="ko-KR" sz="1400" dirty="0"/>
              <a:t> </a:t>
            </a:r>
            <a:r>
              <a:rPr lang="en-US" altLang="ko-KR" sz="1400" dirty="0" err="1"/>
              <a:t>tuyến</a:t>
            </a:r>
            <a:r>
              <a:rPr lang="en-US" altLang="ko-KR" sz="1400" dirty="0"/>
              <a:t> </a:t>
            </a:r>
            <a:r>
              <a:rPr lang="en-US" altLang="ko-KR" sz="1400" dirty="0" err="1"/>
              <a:t>tính</a:t>
            </a:r>
            <a:r>
              <a:rPr lang="en-US" altLang="ko-KR" sz="1400" dirty="0"/>
              <a:t> </a:t>
            </a:r>
            <a:r>
              <a:rPr lang="en-US" altLang="ko-KR" sz="1400" dirty="0" err="1"/>
              <a:t>của</a:t>
            </a:r>
            <a:r>
              <a:rPr lang="en-US" altLang="ko-KR" sz="1400" dirty="0"/>
              <a:t> AIAG.   </a:t>
            </a:r>
            <a:endParaRPr lang="ko-KR" altLang="en-US" sz="1400" dirty="0"/>
          </a:p>
        </p:txBody>
      </p:sp>
      <p:sp>
        <p:nvSpPr>
          <p:cNvPr id="6" name="TextBox 5"/>
          <p:cNvSpPr txBox="1"/>
          <p:nvPr/>
        </p:nvSpPr>
        <p:spPr>
          <a:xfrm>
            <a:off x="251520" y="2780928"/>
            <a:ext cx="5646097" cy="307777"/>
          </a:xfrm>
          <a:prstGeom prst="rect">
            <a:avLst/>
          </a:prstGeom>
          <a:noFill/>
        </p:spPr>
        <p:txBody>
          <a:bodyPr wrap="none" rtlCol="0">
            <a:spAutoFit/>
          </a:bodyPr>
          <a:lstStyle/>
          <a:p>
            <a:r>
              <a:rPr lang="en-US" altLang="ko-KR" sz="1400" dirty="0" err="1"/>
              <a:t>Để</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độ</a:t>
            </a:r>
            <a:r>
              <a:rPr lang="en-US" altLang="ko-KR" sz="1400" dirty="0"/>
              <a:t> </a:t>
            </a:r>
            <a:r>
              <a:rPr lang="en-US" altLang="ko-KR" sz="1400" dirty="0" err="1"/>
              <a:t>tuyến</a:t>
            </a:r>
            <a:r>
              <a:rPr lang="en-US" altLang="ko-KR" sz="1400" dirty="0"/>
              <a:t> </a:t>
            </a:r>
            <a:r>
              <a:rPr lang="en-US" altLang="ko-KR" sz="1400" dirty="0" err="1"/>
              <a:t>tính</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thử</a:t>
            </a:r>
            <a:r>
              <a:rPr lang="en-US" altLang="ko-KR" sz="1400" dirty="0"/>
              <a:t> </a:t>
            </a:r>
            <a:r>
              <a:rPr lang="en-US" altLang="ko-KR" sz="1400" dirty="0" err="1"/>
              <a:t>nghiệm</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như</a:t>
            </a:r>
            <a:r>
              <a:rPr lang="en-US" altLang="ko-KR" sz="1400" dirty="0"/>
              <a:t> </a:t>
            </a:r>
            <a:r>
              <a:rPr lang="en-US" altLang="ko-KR" sz="1400" dirty="0" err="1"/>
              <a:t>sau</a:t>
            </a:r>
            <a:endParaRPr lang="ko-KR" altLang="en-US" sz="1400" dirty="0"/>
          </a:p>
        </p:txBody>
      </p:sp>
      <p:sp>
        <p:nvSpPr>
          <p:cNvPr id="7" name="TextBox 6"/>
          <p:cNvSpPr txBox="1"/>
          <p:nvPr/>
        </p:nvSpPr>
        <p:spPr>
          <a:xfrm>
            <a:off x="251520" y="2996952"/>
            <a:ext cx="8928085" cy="1600438"/>
          </a:xfrm>
          <a:prstGeom prst="rect">
            <a:avLst/>
          </a:prstGeom>
          <a:noFill/>
        </p:spPr>
        <p:txBody>
          <a:bodyPr wrap="none" rtlCol="0">
            <a:spAutoFit/>
          </a:bodyPr>
          <a:lstStyle/>
          <a:p>
            <a:pPr marL="342900" indent="-342900">
              <a:buAutoNum type="circleNumDbPlain"/>
            </a:pPr>
            <a:r>
              <a:rPr lang="en-US" altLang="ko-KR" sz="1400" dirty="0" err="1"/>
              <a:t>Căn</a:t>
            </a:r>
            <a:r>
              <a:rPr lang="en-US" altLang="ko-KR" sz="1400" dirty="0"/>
              <a:t> </a:t>
            </a:r>
            <a:r>
              <a:rPr lang="en-US" altLang="ko-KR" sz="1400" dirty="0" err="1"/>
              <a:t>cứ</a:t>
            </a:r>
            <a:r>
              <a:rPr lang="en-US" altLang="ko-KR" sz="1400" dirty="0"/>
              <a:t> </a:t>
            </a:r>
            <a:r>
              <a:rPr lang="en-US" altLang="ko-KR" sz="1400" dirty="0" err="1"/>
              <a:t>vào</a:t>
            </a:r>
            <a:r>
              <a:rPr lang="en-US" altLang="ko-KR" sz="1400" dirty="0"/>
              <a:t> </a:t>
            </a:r>
            <a:r>
              <a:rPr lang="en-US" altLang="ko-KR" sz="1400" dirty="0" err="1"/>
              <a:t>lượng</a:t>
            </a:r>
            <a:r>
              <a:rPr lang="en-US" altLang="ko-KR" sz="1400" dirty="0"/>
              <a:t> </a:t>
            </a:r>
            <a:r>
              <a:rPr lang="en-US" altLang="ko-KR" sz="1400" dirty="0" err="1"/>
              <a:t>biến</a:t>
            </a:r>
            <a:r>
              <a:rPr lang="en-US" altLang="ko-KR" sz="1400" dirty="0"/>
              <a:t> </a:t>
            </a:r>
            <a:r>
              <a:rPr lang="en-US" altLang="ko-KR" sz="1400" dirty="0" err="1"/>
              <a:t>động</a:t>
            </a:r>
            <a:r>
              <a:rPr lang="en-US" altLang="ko-KR" sz="1400" dirty="0"/>
              <a:t> process </a:t>
            </a:r>
            <a:r>
              <a:rPr lang="en-US" altLang="ko-KR" sz="1400" dirty="0" err="1"/>
              <a:t>lựa</a:t>
            </a:r>
            <a:r>
              <a:rPr lang="en-US" altLang="ko-KR" sz="1400" dirty="0"/>
              <a:t> </a:t>
            </a:r>
            <a:r>
              <a:rPr lang="en-US" altLang="ko-KR" sz="1400" dirty="0" err="1"/>
              <a:t>chọn</a:t>
            </a:r>
            <a:r>
              <a:rPr lang="en-US" altLang="ko-KR" sz="1400" dirty="0"/>
              <a:t> g sample (</a:t>
            </a:r>
            <a:r>
              <a:rPr lang="en-US" altLang="ko-KR" sz="1400" dirty="0" err="1"/>
              <a:t>trên</a:t>
            </a:r>
            <a:r>
              <a:rPr lang="en-US" altLang="ko-KR" sz="1400" dirty="0"/>
              <a:t> 5 </a:t>
            </a:r>
            <a:r>
              <a:rPr lang="en-US" altLang="ko-KR" sz="1400" dirty="0" err="1"/>
              <a:t>cái</a:t>
            </a:r>
            <a:r>
              <a:rPr lang="en-US" altLang="ko-KR" sz="1400" dirty="0"/>
              <a:t>) </a:t>
            </a:r>
            <a:r>
              <a:rPr lang="en-US" altLang="ko-KR" sz="1400" dirty="0" err="1"/>
              <a:t>bao</a:t>
            </a:r>
            <a:r>
              <a:rPr lang="en-US" altLang="ko-KR" sz="1400" dirty="0"/>
              <a:t> </a:t>
            </a:r>
            <a:r>
              <a:rPr lang="en-US" altLang="ko-KR" sz="1400" dirty="0" err="1"/>
              <a:t>hàm</a:t>
            </a:r>
            <a:r>
              <a:rPr lang="en-US" altLang="ko-KR" sz="1400" dirty="0"/>
              <a:t> </a:t>
            </a:r>
            <a:r>
              <a:rPr lang="en-US" altLang="ko-KR" sz="1400" dirty="0" err="1"/>
              <a:t>trong</a:t>
            </a:r>
            <a:r>
              <a:rPr lang="en-US" altLang="ko-KR" sz="1400" dirty="0"/>
              <a:t> </a:t>
            </a:r>
            <a:r>
              <a:rPr lang="en-US" altLang="ko-KR" sz="1400" dirty="0" err="1"/>
              <a:t>phạm</a:t>
            </a:r>
            <a:r>
              <a:rPr lang="en-US" altLang="ko-KR" sz="1400" dirty="0"/>
              <a:t> vi </a:t>
            </a:r>
            <a:r>
              <a:rPr lang="en-US" altLang="ko-KR" sz="1400" dirty="0" err="1"/>
              <a:t>vận</a:t>
            </a:r>
            <a:r>
              <a:rPr lang="en-US" altLang="ko-KR" sz="1400" dirty="0"/>
              <a:t> </a:t>
            </a:r>
          </a:p>
          <a:p>
            <a:pPr marL="342900" indent="-342900"/>
            <a:r>
              <a:rPr lang="en-US" altLang="ko-KR" sz="1400" dirty="0" err="1"/>
              <a:t>hành</a:t>
            </a:r>
            <a:r>
              <a:rPr lang="en-US" altLang="ko-KR" sz="1400" dirty="0"/>
              <a:t> </a:t>
            </a:r>
            <a:r>
              <a:rPr lang="en-US" altLang="ko-KR" sz="1400" dirty="0" err="1"/>
              <a:t>của</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endParaRPr lang="en-US" altLang="ko-KR" sz="1400" dirty="0"/>
          </a:p>
          <a:p>
            <a:pPr marL="342900" indent="-342900">
              <a:buAutoNum type="circleNumDbPlain"/>
            </a:pPr>
            <a:r>
              <a:rPr lang="en-US" altLang="ko-KR" sz="1400" dirty="0" err="1"/>
              <a:t>Quyết</a:t>
            </a:r>
            <a:r>
              <a:rPr lang="en-US" altLang="ko-KR" sz="1400" dirty="0"/>
              <a:t> </a:t>
            </a:r>
            <a:r>
              <a:rPr lang="en-US" altLang="ko-KR" sz="1400" dirty="0" err="1"/>
              <a:t>định</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của</a:t>
            </a:r>
            <a:r>
              <a:rPr lang="en-US" altLang="ko-KR" sz="1400" dirty="0"/>
              <a:t> g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này</a:t>
            </a:r>
            <a:r>
              <a:rPr lang="en-US" altLang="ko-KR" sz="1400" dirty="0"/>
              <a:t> </a:t>
            </a:r>
            <a:r>
              <a:rPr lang="en-US" altLang="ko-KR" sz="1400" dirty="0" err="1"/>
              <a:t>là</a:t>
            </a:r>
            <a:r>
              <a:rPr lang="en-US" altLang="ko-KR" sz="1400" dirty="0"/>
              <a:t> </a:t>
            </a:r>
            <a:r>
              <a:rPr lang="en-US" altLang="ko-KR" sz="1400" dirty="0" err="1"/>
              <a:t>xm</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kiểm</a:t>
            </a:r>
            <a:r>
              <a:rPr lang="en-US" altLang="ko-KR" sz="1400" dirty="0"/>
              <a:t> </a:t>
            </a:r>
            <a:r>
              <a:rPr lang="en-US" altLang="ko-KR" sz="1400" dirty="0" err="1"/>
              <a:t>tra</a:t>
            </a:r>
            <a:r>
              <a:rPr lang="en-US" altLang="ko-KR" sz="1400" dirty="0"/>
              <a:t> </a:t>
            </a:r>
            <a:r>
              <a:rPr lang="en-US" altLang="ko-KR" sz="1400" dirty="0" err="1"/>
              <a:t>xem</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được</a:t>
            </a:r>
            <a:r>
              <a:rPr lang="en-US" altLang="ko-KR" sz="1400" dirty="0"/>
              <a:t> </a:t>
            </a:r>
            <a:r>
              <a:rPr lang="en-US" altLang="ko-KR" sz="1400" dirty="0" err="1"/>
              <a:t>lựa</a:t>
            </a:r>
            <a:endParaRPr lang="en-US" altLang="ko-KR" sz="1400" dirty="0"/>
          </a:p>
          <a:p>
            <a:pPr marL="342900" indent="-342900"/>
            <a:r>
              <a:rPr lang="en-US" altLang="ko-KR" sz="1400" dirty="0" err="1"/>
              <a:t>chọn</a:t>
            </a:r>
            <a:r>
              <a:rPr lang="en-US" altLang="ko-KR" sz="1400" dirty="0"/>
              <a:t> </a:t>
            </a:r>
            <a:r>
              <a:rPr lang="en-US" altLang="ko-KR" sz="1400" dirty="0" err="1"/>
              <a:t>với</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này</a:t>
            </a:r>
            <a:r>
              <a:rPr lang="en-US" altLang="ko-KR" sz="1400" dirty="0"/>
              <a:t> </a:t>
            </a:r>
            <a:r>
              <a:rPr lang="en-US" altLang="ko-KR" sz="1400" dirty="0" err="1"/>
              <a:t>có</a:t>
            </a:r>
            <a:r>
              <a:rPr lang="en-US" altLang="ko-KR" sz="1400" dirty="0"/>
              <a:t> </a:t>
            </a:r>
            <a:r>
              <a:rPr lang="en-US" altLang="ko-KR" sz="1400" dirty="0" err="1"/>
              <a:t>bao</a:t>
            </a:r>
            <a:r>
              <a:rPr lang="en-US" altLang="ko-KR" sz="1400" dirty="0"/>
              <a:t> </a:t>
            </a:r>
            <a:r>
              <a:rPr lang="en-US" altLang="ko-KR" sz="1400" dirty="0" err="1"/>
              <a:t>hàm</a:t>
            </a:r>
            <a:r>
              <a:rPr lang="en-US" altLang="ko-KR" sz="1400" dirty="0"/>
              <a:t> </a:t>
            </a:r>
            <a:r>
              <a:rPr lang="en-US" altLang="ko-KR" sz="1400" dirty="0" err="1"/>
              <a:t>trong</a:t>
            </a:r>
            <a:r>
              <a:rPr lang="en-US" altLang="ko-KR" sz="1400" dirty="0"/>
              <a:t> </a:t>
            </a:r>
            <a:r>
              <a:rPr lang="en-US" altLang="ko-KR" sz="1400" dirty="0" err="1"/>
              <a:t>phạm</a:t>
            </a:r>
            <a:r>
              <a:rPr lang="en-US" altLang="ko-KR" sz="1400" dirty="0"/>
              <a:t> vi </a:t>
            </a:r>
            <a:r>
              <a:rPr lang="en-US" altLang="ko-KR" sz="1400" dirty="0" err="1"/>
              <a:t>vận</a:t>
            </a:r>
            <a:r>
              <a:rPr lang="en-US" altLang="ko-KR" sz="1400" dirty="0"/>
              <a:t> </a:t>
            </a:r>
            <a:r>
              <a:rPr lang="en-US" altLang="ko-KR" sz="1400" dirty="0" err="1"/>
              <a:t>hành</a:t>
            </a:r>
            <a:r>
              <a:rPr lang="en-US" altLang="ko-KR" sz="1400" dirty="0"/>
              <a:t> </a:t>
            </a:r>
            <a:r>
              <a:rPr lang="en-US" altLang="ko-KR" sz="1400" dirty="0" err="1"/>
              <a:t>của</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hay </a:t>
            </a:r>
            <a:r>
              <a:rPr lang="en-US" altLang="ko-KR" sz="1400" dirty="0" err="1"/>
              <a:t>không</a:t>
            </a:r>
            <a:endParaRPr lang="en-US" altLang="ko-KR" sz="1400" dirty="0"/>
          </a:p>
          <a:p>
            <a:pPr marL="342900" indent="-342900">
              <a:buAutoNum type="circleNumDbPlain" startAt="3"/>
            </a:pPr>
            <a:r>
              <a:rPr lang="en-US" altLang="ko-KR" sz="1400" dirty="0" err="1"/>
              <a:t>Một</a:t>
            </a:r>
            <a:r>
              <a:rPr lang="en-US" altLang="ko-KR" sz="1400" dirty="0"/>
              <a:t> </a:t>
            </a:r>
            <a:r>
              <a:rPr lang="en-US" altLang="ko-KR" sz="1400" dirty="0" err="1"/>
              <a:t>người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bắt</a:t>
            </a:r>
            <a:r>
              <a:rPr lang="en-US" altLang="ko-KR" sz="1400" dirty="0"/>
              <a:t> </a:t>
            </a:r>
            <a:r>
              <a:rPr lang="en-US" altLang="ko-KR" sz="1400" dirty="0" err="1"/>
              <a:t>buộc</a:t>
            </a:r>
            <a:r>
              <a:rPr lang="en-US" altLang="ko-KR" sz="1400" dirty="0"/>
              <a:t> </a:t>
            </a:r>
            <a:r>
              <a:rPr lang="en-US" altLang="ko-KR" sz="1400" dirty="0" err="1"/>
              <a:t>phải</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với</a:t>
            </a:r>
            <a:r>
              <a:rPr lang="en-US" altLang="ko-KR" sz="1400" dirty="0"/>
              <a:t> </a:t>
            </a:r>
            <a:r>
              <a:rPr lang="en-US" altLang="ko-KR" sz="1400" dirty="0" err="1"/>
              <a:t>từng</a:t>
            </a:r>
            <a:r>
              <a:rPr lang="en-US" altLang="ko-KR" sz="1400" dirty="0"/>
              <a:t> </a:t>
            </a:r>
            <a:r>
              <a:rPr lang="en-US" altLang="ko-KR" sz="1400" dirty="0" err="1"/>
              <a:t>đối</a:t>
            </a:r>
            <a:r>
              <a:rPr lang="en-US" altLang="ko-KR" sz="1400" dirty="0"/>
              <a:t> </a:t>
            </a:r>
            <a:r>
              <a:rPr lang="en-US" altLang="ko-KR" sz="1400" dirty="0" err="1"/>
              <a:t>tượng</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linh</a:t>
            </a:r>
            <a:r>
              <a:rPr lang="en-US" altLang="ko-KR" sz="1400" dirty="0"/>
              <a:t> </a:t>
            </a:r>
            <a:r>
              <a:rPr lang="en-US" altLang="ko-KR" sz="1400" dirty="0" err="1"/>
              <a:t>kiện</a:t>
            </a:r>
            <a:r>
              <a:rPr lang="en-US" altLang="ko-KR" sz="1400" dirty="0"/>
              <a:t> n </a:t>
            </a:r>
            <a:r>
              <a:rPr lang="en-US" altLang="ko-KR" sz="1400" dirty="0" err="1"/>
              <a:t>lần</a:t>
            </a:r>
            <a:r>
              <a:rPr lang="en-US" altLang="ko-KR" sz="1400" dirty="0"/>
              <a:t> </a:t>
            </a:r>
            <a:r>
              <a:rPr lang="en-US" altLang="ko-KR" sz="1400" dirty="0" err="1"/>
              <a:t>một</a:t>
            </a:r>
            <a:endParaRPr lang="en-US" altLang="ko-KR" sz="1400" dirty="0"/>
          </a:p>
          <a:p>
            <a:pPr marL="342900" indent="-342900"/>
            <a:r>
              <a:rPr lang="en-US" altLang="ko-KR" sz="1400" dirty="0"/>
              <a:t> (</a:t>
            </a:r>
            <a:r>
              <a:rPr lang="en-US" altLang="ko-KR" sz="1400" dirty="0" err="1"/>
              <a:t>trên</a:t>
            </a:r>
            <a:r>
              <a:rPr lang="en-US" altLang="ko-KR" sz="1400" dirty="0"/>
              <a:t> 10 </a:t>
            </a:r>
            <a:r>
              <a:rPr lang="en-US" altLang="ko-KR" sz="1400" dirty="0" err="1"/>
              <a:t>lần</a:t>
            </a:r>
            <a:r>
              <a:rPr lang="en-US" altLang="ko-KR" sz="1400" dirty="0"/>
              <a:t>) </a:t>
            </a:r>
            <a:r>
              <a:rPr lang="en-US" altLang="ko-KR" sz="1400" dirty="0" err="1"/>
              <a:t>và</a:t>
            </a:r>
            <a:r>
              <a:rPr lang="en-US" altLang="ko-KR" sz="1400" dirty="0"/>
              <a:t> </a:t>
            </a:r>
            <a:r>
              <a:rPr lang="en-US" altLang="ko-KR" sz="1400" dirty="0" err="1"/>
              <a:t>thu</a:t>
            </a:r>
            <a:r>
              <a:rPr lang="en-US" altLang="ko-KR" sz="1400" dirty="0"/>
              <a:t> data </a:t>
            </a:r>
            <a:r>
              <a:rPr lang="en-US" altLang="ko-KR" sz="1400" dirty="0" err="1"/>
              <a:t>đo</a:t>
            </a:r>
            <a:r>
              <a:rPr lang="en-US" altLang="ko-KR" sz="1400" dirty="0"/>
              <a:t> </a:t>
            </a:r>
            <a:r>
              <a:rPr lang="en-US" altLang="ko-KR" sz="1400" dirty="0" err="1"/>
              <a:t>đạc</a:t>
            </a:r>
            <a:endParaRPr lang="en-US" altLang="ko-KR" sz="1400" dirty="0"/>
          </a:p>
          <a:p>
            <a:r>
              <a:rPr lang="en-US" altLang="ko-KR" sz="1400" dirty="0"/>
              <a:t>.   </a:t>
            </a:r>
            <a:endParaRPr lang="ko-KR" altLang="en-US" sz="1400" dirty="0"/>
          </a:p>
        </p:txBody>
      </p:sp>
      <p:sp>
        <p:nvSpPr>
          <p:cNvPr id="8" name="TextBox 7"/>
          <p:cNvSpPr txBox="1"/>
          <p:nvPr/>
        </p:nvSpPr>
        <p:spPr>
          <a:xfrm>
            <a:off x="142844" y="5426640"/>
            <a:ext cx="8944243" cy="954107"/>
          </a:xfrm>
          <a:prstGeom prst="rect">
            <a:avLst/>
          </a:prstGeom>
          <a:noFill/>
        </p:spPr>
        <p:txBody>
          <a:bodyPr wrap="none" rtlCol="0">
            <a:spAutoFit/>
          </a:bodyPr>
          <a:lstStyle/>
          <a:p>
            <a:r>
              <a:rPr lang="en-US" altLang="ko-KR" sz="1400" dirty="0"/>
              <a:t>Type 5 Study </a:t>
            </a:r>
            <a:r>
              <a:rPr lang="en-US" altLang="ko-KR" sz="1400" dirty="0" err="1"/>
              <a:t>là</a:t>
            </a:r>
            <a:r>
              <a:rPr lang="en-US" altLang="ko-KR" sz="1400" dirty="0"/>
              <a:t> </a:t>
            </a:r>
            <a:r>
              <a:rPr lang="en-US" altLang="ko-KR" sz="1400" dirty="0" err="1"/>
              <a:t>trình</a:t>
            </a:r>
            <a:r>
              <a:rPr lang="en-US" altLang="ko-KR" sz="1400" dirty="0"/>
              <a:t> </a:t>
            </a:r>
            <a:r>
              <a:rPr lang="en-US" altLang="ko-KR" sz="1400" dirty="0" err="1"/>
              <a:t>tự</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liên</a:t>
            </a:r>
            <a:r>
              <a:rPr lang="en-US" altLang="ko-KR" sz="1400" dirty="0"/>
              <a:t> </a:t>
            </a:r>
            <a:r>
              <a:rPr lang="en-US" altLang="ko-KR" sz="1400" dirty="0" err="1"/>
              <a:t>quan</a:t>
            </a:r>
            <a:r>
              <a:rPr lang="en-US" altLang="ko-KR" sz="1400" dirty="0"/>
              <a:t> </a:t>
            </a:r>
            <a:r>
              <a:rPr lang="en-US" altLang="ko-KR" sz="1400" dirty="0" err="1"/>
              <a:t>đến</a:t>
            </a:r>
            <a:r>
              <a:rPr lang="en-US" altLang="ko-KR" sz="1400" dirty="0"/>
              <a:t>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r>
              <a:rPr lang="en-US" altLang="ko-KR" sz="1400" dirty="0"/>
              <a:t> </a:t>
            </a:r>
            <a:r>
              <a:rPr lang="en-US" altLang="ko-KR" sz="1400" dirty="0" err="1"/>
              <a:t>của</a:t>
            </a:r>
            <a:r>
              <a:rPr lang="en-US" altLang="ko-KR" sz="1400" dirty="0"/>
              <a:t> </a:t>
            </a:r>
            <a:r>
              <a:rPr lang="en-US" altLang="ko-KR" sz="1400" dirty="0" err="1"/>
              <a:t>hệ</a:t>
            </a:r>
            <a:r>
              <a:rPr lang="en-US" altLang="ko-KR" sz="1400" dirty="0"/>
              <a:t> </a:t>
            </a:r>
            <a:r>
              <a:rPr lang="en-US" altLang="ko-KR" sz="1400" dirty="0" err="1"/>
              <a:t>thống</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r>
              <a:rPr lang="en-US" altLang="ko-KR" sz="1400" dirty="0"/>
              <a:t> </a:t>
            </a:r>
            <a:r>
              <a:rPr lang="en-US" altLang="ko-KR" sz="1400" dirty="0" err="1"/>
              <a:t>của</a:t>
            </a:r>
            <a:r>
              <a:rPr lang="en-US" altLang="ko-KR" sz="1400" dirty="0"/>
              <a:t> </a:t>
            </a:r>
            <a:r>
              <a:rPr lang="en-US" altLang="ko-KR" sz="1400" dirty="0" err="1"/>
              <a:t>hệ</a:t>
            </a:r>
            <a:r>
              <a:rPr lang="en-US" altLang="ko-KR" sz="1400" dirty="0"/>
              <a:t> </a:t>
            </a:r>
          </a:p>
          <a:p>
            <a:r>
              <a:rPr lang="en-US" altLang="ko-KR" sz="1400" dirty="0" err="1"/>
              <a:t>thống</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nghĩa</a:t>
            </a:r>
            <a:r>
              <a:rPr lang="en-US" altLang="ko-KR" sz="1400" dirty="0"/>
              <a:t> </a:t>
            </a:r>
            <a:r>
              <a:rPr lang="en-US" altLang="ko-KR" sz="1400" dirty="0" err="1"/>
              <a:t>là</a:t>
            </a:r>
            <a:r>
              <a:rPr lang="en-US" altLang="ko-KR" sz="1400" dirty="0"/>
              <a:t> </a:t>
            </a:r>
            <a:r>
              <a:rPr lang="en-US" altLang="ko-KR" sz="1400" dirty="0" err="1"/>
              <a:t>mức</a:t>
            </a:r>
            <a:r>
              <a:rPr lang="en-US" altLang="ko-KR" sz="1400" dirty="0"/>
              <a:t> </a:t>
            </a:r>
            <a:r>
              <a:rPr lang="en-US" altLang="ko-KR" sz="1400" dirty="0" err="1"/>
              <a:t>độ</a:t>
            </a:r>
            <a:r>
              <a:rPr lang="en-US" altLang="ko-KR" sz="1400" dirty="0"/>
              <a:t> </a:t>
            </a:r>
            <a:r>
              <a:rPr lang="en-US" altLang="ko-KR" sz="1400" dirty="0" err="1"/>
              <a:t>biến</a:t>
            </a:r>
            <a:r>
              <a:rPr lang="en-US" altLang="ko-KR" sz="1400" dirty="0"/>
              <a:t> </a:t>
            </a:r>
            <a:r>
              <a:rPr lang="en-US" altLang="ko-KR" sz="1400" dirty="0" err="1"/>
              <a:t>động</a:t>
            </a:r>
            <a:r>
              <a:rPr lang="en-US" altLang="ko-KR" sz="1400" dirty="0"/>
              <a:t> </a:t>
            </a:r>
            <a:r>
              <a:rPr lang="en-US" altLang="ko-KR" sz="1400" dirty="0" err="1"/>
              <a:t>về</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với</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tương</a:t>
            </a:r>
            <a:r>
              <a:rPr lang="en-US" altLang="ko-KR" sz="1400" dirty="0"/>
              <a:t> </a:t>
            </a:r>
            <a:r>
              <a:rPr lang="en-US" altLang="ko-KR" sz="1400" dirty="0" err="1"/>
              <a:t>tự</a:t>
            </a:r>
            <a:r>
              <a:rPr lang="en-US" altLang="ko-KR" sz="1400" dirty="0"/>
              <a:t> </a:t>
            </a:r>
            <a:r>
              <a:rPr lang="en-US" altLang="ko-KR" sz="1400" dirty="0" err="1"/>
              <a:t>theo</a:t>
            </a:r>
            <a:r>
              <a:rPr lang="en-US" altLang="ko-KR" sz="1400" dirty="0"/>
              <a:t> </a:t>
            </a:r>
            <a:r>
              <a:rPr lang="en-US" altLang="ko-KR" sz="1400" dirty="0" err="1"/>
              <a:t>thời</a:t>
            </a:r>
            <a:r>
              <a:rPr lang="en-US" altLang="ko-KR" sz="1400" dirty="0"/>
              <a:t> </a:t>
            </a:r>
            <a:r>
              <a:rPr lang="en-US" altLang="ko-KR" sz="1400" dirty="0" err="1"/>
              <a:t>gian.Trường</a:t>
            </a:r>
            <a:endParaRPr lang="en-US" altLang="ko-KR" sz="1400" dirty="0"/>
          </a:p>
          <a:p>
            <a:r>
              <a:rPr lang="en-US" altLang="ko-KR" sz="1400" dirty="0" err="1"/>
              <a:t>hợp</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khác</a:t>
            </a:r>
            <a:r>
              <a:rPr lang="en-US" altLang="ko-KR" sz="1400" dirty="0"/>
              <a:t> </a:t>
            </a:r>
            <a:r>
              <a:rPr lang="en-US" altLang="ko-KR" sz="1400" dirty="0" err="1"/>
              <a:t>nhau</a:t>
            </a:r>
            <a:r>
              <a:rPr lang="en-US" altLang="ko-KR" sz="1400" dirty="0"/>
              <a:t> </a:t>
            </a:r>
            <a:r>
              <a:rPr lang="en-US" altLang="ko-KR" sz="1400" dirty="0" err="1"/>
              <a:t>theo</a:t>
            </a:r>
            <a:r>
              <a:rPr lang="en-US" altLang="ko-KR" sz="1400" dirty="0"/>
              <a:t> </a:t>
            </a:r>
            <a:r>
              <a:rPr lang="en-US" altLang="ko-KR" sz="1400" dirty="0" err="1"/>
              <a:t>thời</a:t>
            </a:r>
            <a:r>
              <a:rPr lang="en-US" altLang="ko-KR" sz="1400" dirty="0"/>
              <a:t> </a:t>
            </a:r>
            <a:r>
              <a:rPr lang="en-US" altLang="ko-KR" sz="1400" dirty="0" err="1"/>
              <a:t>gian</a:t>
            </a:r>
            <a:r>
              <a:rPr lang="en-US" altLang="ko-KR" sz="1400" dirty="0"/>
              <a:t> </a:t>
            </a:r>
            <a:r>
              <a:rPr lang="en-US" altLang="ko-KR" sz="1400" dirty="0" err="1"/>
              <a:t>thì</a:t>
            </a:r>
            <a:r>
              <a:rPr lang="en-US" altLang="ko-KR" sz="1400" dirty="0"/>
              <a:t> </a:t>
            </a:r>
            <a:r>
              <a:rPr lang="en-US" altLang="ko-KR" sz="1400" dirty="0" err="1"/>
              <a:t>ta</a:t>
            </a:r>
            <a:r>
              <a:rPr lang="en-US" altLang="ko-KR" sz="1400" dirty="0"/>
              <a:t> </a:t>
            </a:r>
            <a:r>
              <a:rPr lang="en-US" altLang="ko-KR" sz="1400" dirty="0" err="1"/>
              <a:t>nói</a:t>
            </a:r>
            <a:r>
              <a:rPr lang="en-US" altLang="ko-KR" sz="1400" dirty="0"/>
              <a:t> </a:t>
            </a:r>
            <a:r>
              <a:rPr lang="en-US" altLang="ko-KR" sz="1400" dirty="0" err="1"/>
              <a:t>rằng</a:t>
            </a:r>
            <a:r>
              <a:rPr lang="en-US" altLang="ko-KR" sz="1400" dirty="0"/>
              <a:t>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r>
              <a:rPr lang="en-US" altLang="ko-KR" sz="1400" dirty="0"/>
              <a:t> </a:t>
            </a:r>
            <a:r>
              <a:rPr lang="en-US" altLang="ko-KR" sz="1400" dirty="0" err="1"/>
              <a:t>của</a:t>
            </a:r>
            <a:r>
              <a:rPr lang="en-US" altLang="ko-KR" sz="1400" dirty="0"/>
              <a:t> </a:t>
            </a:r>
            <a:r>
              <a:rPr lang="en-US" altLang="ko-KR" sz="1400" dirty="0" err="1"/>
              <a:t>hệ</a:t>
            </a:r>
            <a:r>
              <a:rPr lang="en-US" altLang="ko-KR" sz="1400" dirty="0"/>
              <a:t> </a:t>
            </a:r>
            <a:r>
              <a:rPr lang="en-US" altLang="ko-KR" sz="1400" dirty="0" err="1"/>
              <a:t>thống</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đó</a:t>
            </a:r>
            <a:r>
              <a:rPr lang="en-US" altLang="ko-KR" sz="1400" dirty="0"/>
              <a:t> </a:t>
            </a:r>
            <a:r>
              <a:rPr lang="en-US" altLang="ko-KR" sz="1400" dirty="0" err="1"/>
              <a:t>có</a:t>
            </a:r>
            <a:r>
              <a:rPr lang="en-US" altLang="ko-KR" sz="1400" dirty="0"/>
              <a:t> </a:t>
            </a:r>
          </a:p>
          <a:p>
            <a:r>
              <a:rPr lang="en-US" altLang="ko-KR" sz="1400" dirty="0" err="1"/>
              <a:t>thiếu</a:t>
            </a:r>
            <a:r>
              <a:rPr lang="en-US" altLang="ko-KR" sz="1400" dirty="0"/>
              <a:t> </a:t>
            </a:r>
            <a:r>
              <a:rPr lang="en-US" altLang="ko-KR" sz="1400" dirty="0" err="1"/>
              <a:t>sót</a:t>
            </a:r>
            <a:r>
              <a:rPr lang="en-US" altLang="ko-KR" sz="1400" dirty="0"/>
              <a:t>.</a:t>
            </a:r>
          </a:p>
        </p:txBody>
      </p:sp>
      <p:sp>
        <p:nvSpPr>
          <p:cNvPr id="9" name="TextBox 8"/>
          <p:cNvSpPr txBox="1"/>
          <p:nvPr/>
        </p:nvSpPr>
        <p:spPr>
          <a:xfrm>
            <a:off x="142844" y="4365104"/>
            <a:ext cx="8920199" cy="954107"/>
          </a:xfrm>
          <a:prstGeom prst="rect">
            <a:avLst/>
          </a:prstGeom>
          <a:noFill/>
        </p:spPr>
        <p:txBody>
          <a:bodyPr wrap="none" rtlCol="0">
            <a:spAutoFit/>
          </a:bodyPr>
          <a:lstStyle/>
          <a:p>
            <a:r>
              <a:rPr lang="en-US" altLang="ko-KR" sz="1400" dirty="0" err="1"/>
              <a:t>Trong</a:t>
            </a:r>
            <a:r>
              <a:rPr lang="en-US" altLang="ko-KR" sz="1400" dirty="0"/>
              <a:t> </a:t>
            </a:r>
            <a:r>
              <a:rPr lang="en-US" altLang="ko-KR" sz="1400" dirty="0" err="1"/>
              <a:t>trình</a:t>
            </a:r>
            <a:r>
              <a:rPr lang="en-US" altLang="ko-KR" sz="1400" dirty="0"/>
              <a:t> </a:t>
            </a:r>
            <a:r>
              <a:rPr lang="en-US" altLang="ko-KR" sz="1400" dirty="0" err="1"/>
              <a:t>tự</a:t>
            </a:r>
            <a:r>
              <a:rPr lang="en-US" altLang="ko-KR" sz="1400" dirty="0"/>
              <a:t> </a:t>
            </a:r>
            <a:r>
              <a:rPr lang="en-US" altLang="ko-KR" sz="1400" dirty="0" err="1"/>
              <a:t>của</a:t>
            </a:r>
            <a:r>
              <a:rPr lang="en-US" altLang="ko-KR" sz="1400" dirty="0"/>
              <a:t> AIAG(2010) </a:t>
            </a:r>
            <a:r>
              <a:rPr lang="en-US" altLang="ko-KR" sz="1400" dirty="0" err="1"/>
              <a:t>bắt</a:t>
            </a:r>
            <a:r>
              <a:rPr lang="en-US" altLang="ko-KR" sz="1400" dirty="0"/>
              <a:t> </a:t>
            </a:r>
            <a:r>
              <a:rPr lang="en-US" altLang="ko-KR" sz="1400" dirty="0" err="1"/>
              <a:t>đầu</a:t>
            </a:r>
            <a:r>
              <a:rPr lang="en-US" altLang="ko-KR" sz="1400" dirty="0"/>
              <a:t> </a:t>
            </a:r>
            <a:r>
              <a:rPr lang="en-US" altLang="ko-KR" sz="1400" dirty="0" err="1"/>
              <a:t>với</a:t>
            </a:r>
            <a:r>
              <a:rPr lang="en-US" altLang="ko-KR" sz="1400" dirty="0"/>
              <a:t> data </a:t>
            </a:r>
            <a:r>
              <a:rPr lang="en-US" altLang="ko-KR" sz="1400" dirty="0" err="1"/>
              <a:t>thu</a:t>
            </a:r>
            <a:r>
              <a:rPr lang="en-US" altLang="ko-KR" sz="1400" dirty="0"/>
              <a:t> </a:t>
            </a:r>
            <a:r>
              <a:rPr lang="en-US" altLang="ko-KR" sz="1400" dirty="0" err="1"/>
              <a:t>được</a:t>
            </a:r>
            <a:r>
              <a:rPr lang="en-US" altLang="ko-KR" sz="1400" dirty="0"/>
              <a:t> </a:t>
            </a:r>
            <a:r>
              <a:rPr lang="en-US" altLang="ko-KR" sz="1400" dirty="0" err="1"/>
              <a:t>bên</a:t>
            </a:r>
            <a:r>
              <a:rPr lang="en-US" altLang="ko-KR" sz="1400" dirty="0"/>
              <a:t> </a:t>
            </a:r>
            <a:r>
              <a:rPr lang="en-US" altLang="ko-KR" sz="1400" dirty="0" err="1"/>
              <a:t>trên</a:t>
            </a:r>
            <a:r>
              <a:rPr lang="ko-KR" altLang="en-US" sz="1400" dirty="0"/>
              <a:t> </a:t>
            </a:r>
            <a:r>
              <a:rPr lang="en-US" altLang="ko-KR" sz="1400" dirty="0" err="1"/>
              <a:t>sau</a:t>
            </a:r>
            <a:r>
              <a:rPr lang="en-US" altLang="ko-KR" sz="1400" dirty="0"/>
              <a:t> </a:t>
            </a:r>
            <a:r>
              <a:rPr lang="en-US" altLang="ko-KR" sz="1400" dirty="0" err="1"/>
              <a:t>khi</a:t>
            </a:r>
            <a:r>
              <a:rPr lang="en-US" altLang="ko-KR" sz="1400" dirty="0"/>
              <a:t> </a:t>
            </a:r>
            <a:r>
              <a:rPr lang="en-US" altLang="ko-KR" sz="1400" dirty="0" err="1"/>
              <a:t>tìm</a:t>
            </a:r>
            <a:r>
              <a:rPr lang="en-US" altLang="ko-KR" sz="1400" dirty="0"/>
              <a:t> </a:t>
            </a:r>
            <a:r>
              <a:rPr lang="en-US" altLang="ko-KR" sz="1400" dirty="0" err="1"/>
              <a:t>đường</a:t>
            </a:r>
            <a:r>
              <a:rPr lang="en-US" altLang="ko-KR" sz="1400" dirty="0"/>
              <a:t> </a:t>
            </a:r>
            <a:r>
              <a:rPr lang="en-US" altLang="ko-KR" sz="1400" dirty="0" err="1"/>
              <a:t>thức</a:t>
            </a:r>
            <a:r>
              <a:rPr lang="en-US" altLang="ko-KR" sz="1400" dirty="0"/>
              <a:t> </a:t>
            </a:r>
            <a:r>
              <a:rPr lang="en-US" altLang="ko-KR" sz="1400" dirty="0" err="1"/>
              <a:t>hồi</a:t>
            </a:r>
            <a:r>
              <a:rPr lang="en-US" altLang="ko-KR" sz="1400" dirty="0"/>
              <a:t> </a:t>
            </a:r>
            <a:r>
              <a:rPr lang="en-US" altLang="ko-KR" sz="1400" dirty="0" err="1"/>
              <a:t>quy</a:t>
            </a:r>
            <a:r>
              <a:rPr lang="en-US" altLang="ko-KR" sz="1400" dirty="0"/>
              <a:t> </a:t>
            </a:r>
            <a:r>
              <a:rPr lang="en-US" altLang="ko-KR" sz="1400" dirty="0" err="1"/>
              <a:t>giữa</a:t>
            </a:r>
            <a:r>
              <a:rPr lang="en-US" altLang="ko-KR" sz="1400" dirty="0"/>
              <a:t> </a:t>
            </a:r>
          </a:p>
          <a:p>
            <a:r>
              <a:rPr lang="en-US" altLang="ko-KR" sz="1400" dirty="0" err="1"/>
              <a:t>giá</a:t>
            </a:r>
            <a:r>
              <a:rPr lang="en-US" altLang="ko-KR" sz="1400" dirty="0"/>
              <a:t> </a:t>
            </a:r>
            <a:r>
              <a:rPr lang="en-US" altLang="ko-KR" sz="1400" dirty="0" err="1"/>
              <a:t>trị</a:t>
            </a:r>
            <a:r>
              <a:rPr lang="en-US" altLang="ko-KR" sz="1400" dirty="0"/>
              <a:t> </a:t>
            </a:r>
            <a:r>
              <a:rPr lang="en-US" altLang="ko-KR" sz="1400" dirty="0" err="1"/>
              <a:t>độ</a:t>
            </a:r>
            <a:r>
              <a:rPr lang="en-US" altLang="ko-KR" sz="1400" dirty="0"/>
              <a:t> </a:t>
            </a:r>
            <a:r>
              <a:rPr lang="en-US" altLang="ko-KR" sz="1400" dirty="0" err="1"/>
              <a:t>lệch</a:t>
            </a:r>
            <a:r>
              <a:rPr lang="en-US" altLang="ko-KR" sz="1400" dirty="0"/>
              <a:t> Bias(Y) </a:t>
            </a:r>
            <a:r>
              <a:rPr lang="en-US" altLang="ko-KR" sz="1400" dirty="0" err="1"/>
              <a:t>và</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tiêu</a:t>
            </a:r>
            <a:r>
              <a:rPr lang="en-US" altLang="ko-KR" sz="1400" dirty="0"/>
              <a:t> </a:t>
            </a:r>
            <a:r>
              <a:rPr lang="en-US" altLang="ko-KR" sz="1400" dirty="0" err="1"/>
              <a:t>chuẩn</a:t>
            </a:r>
            <a:r>
              <a:rPr lang="en-US" altLang="ko-KR" sz="1400" dirty="0"/>
              <a:t>(X) </a:t>
            </a:r>
            <a:r>
              <a:rPr lang="en-US" altLang="ko-KR" sz="1400" dirty="0" err="1"/>
              <a:t>thông</a:t>
            </a:r>
            <a:r>
              <a:rPr lang="en-US" altLang="ko-KR" sz="1400" dirty="0"/>
              <a:t> qua </a:t>
            </a:r>
            <a:r>
              <a:rPr lang="en-US" altLang="ko-KR" sz="1400" dirty="0" err="1"/>
              <a:t>kiểm</a:t>
            </a:r>
            <a:r>
              <a:rPr lang="en-US" altLang="ko-KR" sz="1400" dirty="0"/>
              <a:t> </a:t>
            </a:r>
            <a:r>
              <a:rPr lang="en-US" altLang="ko-KR" sz="1400" dirty="0" err="1"/>
              <a:t>chứng</a:t>
            </a:r>
            <a:r>
              <a:rPr lang="en-US" altLang="ko-KR" sz="1400" dirty="0"/>
              <a:t> </a:t>
            </a:r>
            <a:r>
              <a:rPr lang="en-US" altLang="ko-KR" sz="1400" dirty="0" err="1"/>
              <a:t>giả</a:t>
            </a:r>
            <a:r>
              <a:rPr lang="en-US" altLang="ko-KR" sz="1400" dirty="0"/>
              <a:t> </a:t>
            </a:r>
            <a:r>
              <a:rPr lang="en-US" altLang="ko-KR" sz="1400" dirty="0" err="1"/>
              <a:t>thuyết</a:t>
            </a:r>
            <a:r>
              <a:rPr lang="en-US" altLang="ko-KR" sz="1400" dirty="0"/>
              <a:t> </a:t>
            </a:r>
            <a:r>
              <a:rPr lang="en-US" altLang="ko-KR" sz="1400" dirty="0" err="1"/>
              <a:t>thống</a:t>
            </a:r>
            <a:r>
              <a:rPr lang="en-US" altLang="ko-KR" sz="1400" dirty="0"/>
              <a:t> </a:t>
            </a:r>
            <a:r>
              <a:rPr lang="en-US" altLang="ko-KR" sz="1400" dirty="0" err="1"/>
              <a:t>kê</a:t>
            </a:r>
            <a:r>
              <a:rPr lang="en-US" altLang="ko-KR" sz="1400" dirty="0"/>
              <a:t> </a:t>
            </a:r>
            <a:r>
              <a:rPr lang="en-US" altLang="ko-KR" sz="1400" dirty="0" err="1"/>
              <a:t>kiểm</a:t>
            </a:r>
            <a:r>
              <a:rPr lang="en-US" altLang="ko-KR" sz="1400" dirty="0"/>
              <a:t> </a:t>
            </a:r>
            <a:r>
              <a:rPr lang="en-US" altLang="ko-KR" sz="1400" dirty="0" err="1"/>
              <a:t>chứng</a:t>
            </a:r>
            <a:r>
              <a:rPr lang="en-US" altLang="ko-KR" sz="1400" dirty="0"/>
              <a:t> </a:t>
            </a:r>
            <a:r>
              <a:rPr lang="en-US" altLang="ko-KR" sz="1400" dirty="0" err="1"/>
              <a:t>xem</a:t>
            </a:r>
            <a:endParaRPr lang="en-US" altLang="ko-KR" sz="1400" dirty="0"/>
          </a:p>
          <a:p>
            <a:r>
              <a:rPr lang="en-US" altLang="ko-KR" sz="1400" dirty="0" err="1"/>
              <a:t>độ</a:t>
            </a:r>
            <a:r>
              <a:rPr lang="en-US" altLang="ko-KR" sz="1400" dirty="0"/>
              <a:t> </a:t>
            </a:r>
            <a:r>
              <a:rPr lang="en-US" altLang="ko-KR" sz="1400" dirty="0" err="1"/>
              <a:t>dốc</a:t>
            </a:r>
            <a:r>
              <a:rPr lang="en-US" altLang="ko-KR" sz="1400" dirty="0"/>
              <a:t> </a:t>
            </a:r>
            <a:r>
              <a:rPr lang="en-US" altLang="ko-KR" sz="1400" dirty="0" err="1"/>
              <a:t>đường</a:t>
            </a:r>
            <a:r>
              <a:rPr lang="en-US" altLang="ko-KR" sz="1400" dirty="0"/>
              <a:t> </a:t>
            </a:r>
            <a:r>
              <a:rPr lang="en-US" altLang="ko-KR" sz="1400" dirty="0" err="1"/>
              <a:t>hồi</a:t>
            </a:r>
            <a:r>
              <a:rPr lang="en-US" altLang="ko-KR" sz="1400" dirty="0"/>
              <a:t> </a:t>
            </a:r>
            <a:r>
              <a:rPr lang="en-US" altLang="ko-KR" sz="1400" dirty="0" err="1"/>
              <a:t>quy</a:t>
            </a:r>
            <a:r>
              <a:rPr lang="en-US" altLang="ko-KR" sz="1400" dirty="0"/>
              <a:t> </a:t>
            </a:r>
            <a:r>
              <a:rPr lang="en-US" altLang="ko-KR" sz="1400" dirty="0" err="1"/>
              <a:t>và</a:t>
            </a:r>
            <a:r>
              <a:rPr lang="en-US" altLang="ko-KR" sz="1400" dirty="0"/>
              <a:t> slope </a:t>
            </a:r>
            <a:r>
              <a:rPr lang="en-US" altLang="ko-KR" sz="1400" dirty="0" err="1"/>
              <a:t>có</a:t>
            </a:r>
            <a:r>
              <a:rPr lang="en-US" altLang="ko-KR" sz="1400" dirty="0"/>
              <a:t> </a:t>
            </a:r>
            <a:r>
              <a:rPr lang="en-US" altLang="ko-KR" sz="1400" dirty="0" err="1"/>
              <a:t>bằng</a:t>
            </a:r>
            <a:r>
              <a:rPr lang="en-US" altLang="ko-KR" sz="1400" dirty="0"/>
              <a:t> 0 hay </a:t>
            </a:r>
            <a:r>
              <a:rPr lang="en-US" altLang="ko-KR" sz="1400" dirty="0" err="1"/>
              <a:t>không</a:t>
            </a:r>
            <a:r>
              <a:rPr lang="en-US" altLang="ko-KR" sz="1400" dirty="0"/>
              <a:t>. </a:t>
            </a:r>
            <a:r>
              <a:rPr lang="en-US" altLang="ko-KR" sz="1400" dirty="0" err="1"/>
              <a:t>Nếu</a:t>
            </a:r>
            <a:r>
              <a:rPr lang="en-US" altLang="ko-KR" sz="1400" dirty="0"/>
              <a:t> </a:t>
            </a:r>
            <a:r>
              <a:rPr lang="en-US" altLang="ko-KR" sz="1400" dirty="0" err="1"/>
              <a:t>độ</a:t>
            </a:r>
            <a:r>
              <a:rPr lang="en-US" altLang="ko-KR" sz="1400" dirty="0"/>
              <a:t> </a:t>
            </a:r>
            <a:r>
              <a:rPr lang="en-US" altLang="ko-KR" sz="1400" dirty="0" err="1"/>
              <a:t>dốc</a:t>
            </a:r>
            <a:r>
              <a:rPr lang="en-US" altLang="ko-KR" sz="1400" dirty="0"/>
              <a:t> </a:t>
            </a:r>
            <a:r>
              <a:rPr lang="en-US" altLang="ko-KR" sz="1400" dirty="0" err="1"/>
              <a:t>và</a:t>
            </a:r>
            <a:r>
              <a:rPr lang="en-US" altLang="ko-KR" sz="1400" dirty="0"/>
              <a:t> slope </a:t>
            </a:r>
            <a:r>
              <a:rPr lang="en-US" altLang="ko-KR" sz="1400" dirty="0" err="1"/>
              <a:t>bằng</a:t>
            </a:r>
            <a:r>
              <a:rPr lang="en-US" altLang="ko-KR" sz="1400" dirty="0"/>
              <a:t> 0 </a:t>
            </a:r>
            <a:r>
              <a:rPr lang="en-US" altLang="ko-KR" sz="1400" dirty="0" err="1"/>
              <a:t>thì</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độ</a:t>
            </a:r>
            <a:r>
              <a:rPr lang="en-US" altLang="ko-KR" sz="1400" dirty="0"/>
              <a:t> </a:t>
            </a:r>
            <a:r>
              <a:rPr lang="en-US" altLang="ko-KR" sz="1400" dirty="0" err="1"/>
              <a:t>tuyến</a:t>
            </a:r>
            <a:endParaRPr lang="en-US" altLang="ko-KR" sz="1400" dirty="0"/>
          </a:p>
          <a:p>
            <a:r>
              <a:rPr lang="en-US" altLang="ko-KR" sz="1400" dirty="0"/>
              <a:t> </a:t>
            </a:r>
            <a:r>
              <a:rPr lang="en-US" altLang="ko-KR" sz="1400" dirty="0" err="1"/>
              <a:t>tính</a:t>
            </a:r>
            <a:r>
              <a:rPr lang="en-US" altLang="ko-KR" sz="1400" dirty="0"/>
              <a:t> </a:t>
            </a:r>
            <a:r>
              <a:rPr lang="en-US" altLang="ko-KR" sz="1400" dirty="0" err="1"/>
              <a:t>là</a:t>
            </a:r>
            <a:r>
              <a:rPr lang="en-US" altLang="ko-KR" sz="1400" dirty="0"/>
              <a:t> </a:t>
            </a:r>
            <a:r>
              <a:rPr lang="en-US" altLang="ko-KR" sz="1400" dirty="0" err="1"/>
              <a:t>đạt</a:t>
            </a:r>
            <a:endParaRPr lang="en-US" altLang="ko-KR" sz="1400" dirty="0"/>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59</a:t>
            </a:fld>
            <a:endParaRPr lang="ko-KR" altLang="en-US" dirty="0"/>
          </a:p>
        </p:txBody>
      </p:sp>
    </p:spTree>
    <p:extLst>
      <p:ext uri="{BB962C8B-B14F-4D97-AF65-F5344CB8AC3E}">
        <p14:creationId xmlns:p14="http://schemas.microsoft.com/office/powerpoint/2010/main" val="136561159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11520" cy="400110"/>
          </a:xfrm>
          <a:prstGeom prst="rect">
            <a:avLst/>
          </a:prstGeom>
          <a:noFill/>
        </p:spPr>
        <p:txBody>
          <a:bodyPr wrap="none" rtlCol="0">
            <a:spAutoFit/>
          </a:bodyPr>
          <a:lstStyle/>
          <a:p>
            <a:r>
              <a:rPr lang="en-US" altLang="ko-KR" sz="2000" b="1" dirty="0"/>
              <a:t>Type 1 Study Case Study</a:t>
            </a:r>
            <a:endParaRPr lang="ko-KR" altLang="en-US" sz="2000" b="1" dirty="0"/>
          </a:p>
        </p:txBody>
      </p:sp>
      <p:sp>
        <p:nvSpPr>
          <p:cNvPr id="4" name="TextBox 3"/>
          <p:cNvSpPr txBox="1"/>
          <p:nvPr/>
        </p:nvSpPr>
        <p:spPr>
          <a:xfrm>
            <a:off x="683568" y="980728"/>
            <a:ext cx="3440622" cy="307777"/>
          </a:xfrm>
          <a:prstGeom prst="rect">
            <a:avLst/>
          </a:prstGeom>
          <a:noFill/>
        </p:spPr>
        <p:txBody>
          <a:bodyPr wrap="none" rtlCol="0">
            <a:spAutoFit/>
          </a:bodyPr>
          <a:lstStyle/>
          <a:p>
            <a:r>
              <a:rPr lang="en-US" altLang="ko-KR" sz="1400" dirty="0"/>
              <a:t>Let’s take a Type 1 Study using Minitab.</a:t>
            </a:r>
            <a:endParaRPr lang="ko-KR" altLang="en-US" sz="1400" dirty="0"/>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1772816"/>
            <a:ext cx="4536504" cy="29084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755576" y="1336412"/>
            <a:ext cx="4376711" cy="292388"/>
          </a:xfrm>
          <a:prstGeom prst="rect">
            <a:avLst/>
          </a:prstGeom>
          <a:noFill/>
        </p:spPr>
        <p:txBody>
          <a:bodyPr wrap="none" rtlCol="0">
            <a:spAutoFit/>
          </a:bodyPr>
          <a:lstStyle/>
          <a:p>
            <a:r>
              <a:rPr lang="en-US" altLang="ko-KR" sz="1300" dirty="0"/>
              <a:t>Stat &gt; Quality tool &gt; Gage Study &gt; Type 1 Gage Study</a:t>
            </a:r>
            <a:endParaRPr lang="ko-KR" altLang="en-US" sz="1300" dirty="0"/>
          </a:p>
        </p:txBody>
      </p:sp>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08104" y="1772816"/>
            <a:ext cx="3243491" cy="2016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직사각형 5"/>
          <p:cNvSpPr/>
          <p:nvPr/>
        </p:nvSpPr>
        <p:spPr>
          <a:xfrm>
            <a:off x="4283968" y="2276872"/>
            <a:ext cx="720080" cy="227789"/>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8" name="꺾인 연결선 7"/>
          <p:cNvCxnSpPr>
            <a:stCxn id="6" idx="3"/>
            <a:endCxn id="5123" idx="1"/>
          </p:cNvCxnSpPr>
          <p:nvPr/>
        </p:nvCxnSpPr>
        <p:spPr>
          <a:xfrm>
            <a:off x="5004048" y="2390767"/>
            <a:ext cx="504056" cy="390161"/>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6084168" y="2564904"/>
            <a:ext cx="1477456" cy="307777"/>
          </a:xfrm>
          <a:prstGeom prst="rect">
            <a:avLst/>
          </a:prstGeom>
          <a:noFill/>
        </p:spPr>
        <p:txBody>
          <a:bodyPr wrap="none" rtlCol="0">
            <a:spAutoFit/>
          </a:bodyPr>
          <a:lstStyle/>
          <a:p>
            <a:r>
              <a:rPr lang="en-US" altLang="ko-KR" sz="1400" dirty="0">
                <a:solidFill>
                  <a:srgbClr val="FF0000"/>
                </a:solidFill>
              </a:rPr>
              <a:t>Enter resolution</a:t>
            </a:r>
            <a:endParaRPr lang="ko-KR" altLang="en-US" sz="1400" dirty="0">
              <a:solidFill>
                <a:srgbClr val="FF0000"/>
              </a:solidFill>
            </a:endParaRPr>
          </a:p>
        </p:txBody>
      </p:sp>
      <p:sp>
        <p:nvSpPr>
          <p:cNvPr id="12" name="TextBox 11"/>
          <p:cNvSpPr txBox="1"/>
          <p:nvPr/>
        </p:nvSpPr>
        <p:spPr>
          <a:xfrm>
            <a:off x="2699792" y="2564904"/>
            <a:ext cx="1465145" cy="307777"/>
          </a:xfrm>
          <a:prstGeom prst="rect">
            <a:avLst/>
          </a:prstGeom>
          <a:noFill/>
        </p:spPr>
        <p:txBody>
          <a:bodyPr wrap="none" rtlCol="0">
            <a:spAutoFit/>
          </a:bodyPr>
          <a:lstStyle/>
          <a:p>
            <a:r>
              <a:rPr lang="en-US" altLang="ko-KR" sz="1400" dirty="0">
                <a:solidFill>
                  <a:srgbClr val="FF0000"/>
                </a:solidFill>
              </a:rPr>
              <a:t>Reference value</a:t>
            </a:r>
            <a:endParaRPr lang="ko-KR" altLang="en-US" sz="1400" dirty="0">
              <a:solidFill>
                <a:srgbClr val="FF0000"/>
              </a:solidFill>
            </a:endParaRPr>
          </a:p>
        </p:txBody>
      </p:sp>
      <p:sp>
        <p:nvSpPr>
          <p:cNvPr id="14" name="TextBox 13"/>
          <p:cNvSpPr txBox="1"/>
          <p:nvPr/>
        </p:nvSpPr>
        <p:spPr>
          <a:xfrm>
            <a:off x="6572264" y="188640"/>
            <a:ext cx="2403158" cy="369332"/>
          </a:xfrm>
          <a:prstGeom prst="rect">
            <a:avLst/>
          </a:prstGeom>
          <a:noFill/>
        </p:spPr>
        <p:txBody>
          <a:bodyPr wrap="none" rtlCol="0">
            <a:spAutoFit/>
          </a:bodyPr>
          <a:lstStyle/>
          <a:p>
            <a:r>
              <a:rPr lang="en-US" altLang="ko-KR" dirty="0"/>
              <a:t>(Both sides standard)</a:t>
            </a:r>
            <a:endParaRPr lang="ko-KR" altLang="en-US" dirty="0"/>
          </a:p>
        </p:txBody>
      </p:sp>
      <p:sp>
        <p:nvSpPr>
          <p:cNvPr id="13"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60</a:t>
            </a:fld>
            <a:endParaRPr lang="ko-KR" altLang="en-US" dirty="0"/>
          </a:p>
        </p:txBody>
      </p:sp>
    </p:spTree>
    <p:extLst>
      <p:ext uri="{BB962C8B-B14F-4D97-AF65-F5344CB8AC3E}">
        <p14:creationId xmlns:p14="http://schemas.microsoft.com/office/powerpoint/2010/main" val="189869014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11520" cy="400110"/>
          </a:xfrm>
          <a:prstGeom prst="rect">
            <a:avLst/>
          </a:prstGeom>
          <a:noFill/>
        </p:spPr>
        <p:txBody>
          <a:bodyPr wrap="none" rtlCol="0">
            <a:spAutoFit/>
          </a:bodyPr>
          <a:lstStyle/>
          <a:p>
            <a:r>
              <a:rPr lang="en-US" altLang="ko-KR" sz="2000" b="1" dirty="0"/>
              <a:t>Type 1 Study Case Study</a:t>
            </a:r>
            <a:endParaRPr lang="ko-KR" altLang="en-US" sz="2000" b="1" dirty="0"/>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360" y="1268760"/>
            <a:ext cx="7011280" cy="46741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83568" y="836712"/>
            <a:ext cx="1789080" cy="307777"/>
          </a:xfrm>
          <a:prstGeom prst="rect">
            <a:avLst/>
          </a:prstGeom>
          <a:noFill/>
        </p:spPr>
        <p:txBody>
          <a:bodyPr wrap="none" rtlCol="0">
            <a:spAutoFit/>
          </a:bodyPr>
          <a:lstStyle/>
          <a:p>
            <a:r>
              <a:rPr lang="en-US" altLang="ko-KR" sz="1400" dirty="0"/>
              <a:t>Compare with Excel</a:t>
            </a:r>
            <a:endParaRPr lang="ko-KR" altLang="en-US" sz="1400" dirty="0"/>
          </a:p>
        </p:txBody>
      </p:sp>
      <p:sp>
        <p:nvSpPr>
          <p:cNvPr id="7" name="TextBox 6"/>
          <p:cNvSpPr txBox="1"/>
          <p:nvPr/>
        </p:nvSpPr>
        <p:spPr>
          <a:xfrm>
            <a:off x="6572264" y="188640"/>
            <a:ext cx="2403158" cy="369332"/>
          </a:xfrm>
          <a:prstGeom prst="rect">
            <a:avLst/>
          </a:prstGeom>
          <a:noFill/>
        </p:spPr>
        <p:txBody>
          <a:bodyPr wrap="none" rtlCol="0">
            <a:spAutoFit/>
          </a:bodyPr>
          <a:lstStyle/>
          <a:p>
            <a:r>
              <a:rPr lang="en-US" altLang="ko-KR" dirty="0"/>
              <a:t>(Both sides standard)</a:t>
            </a:r>
            <a:endParaRPr lang="ko-KR" altLang="en-US" dirty="0"/>
          </a:p>
        </p:txBody>
      </p:sp>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61</a:t>
            </a:fld>
            <a:endParaRPr lang="ko-KR" altLang="en-US" dirty="0"/>
          </a:p>
        </p:txBody>
      </p:sp>
    </p:spTree>
    <p:extLst>
      <p:ext uri="{BB962C8B-B14F-4D97-AF65-F5344CB8AC3E}">
        <p14:creationId xmlns:p14="http://schemas.microsoft.com/office/powerpoint/2010/main" val="255775680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21410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732240" y="188640"/>
            <a:ext cx="2400016" cy="369332"/>
          </a:xfrm>
          <a:prstGeom prst="rect">
            <a:avLst/>
          </a:prstGeom>
          <a:noFill/>
        </p:spPr>
        <p:txBody>
          <a:bodyPr wrap="none" rtlCol="0">
            <a:spAutoFit/>
          </a:bodyPr>
          <a:lstStyle/>
          <a:p>
            <a:r>
              <a:rPr lang="en-US" altLang="ko-KR" dirty="0"/>
              <a:t>(</a:t>
            </a:r>
            <a:r>
              <a:rPr lang="en-US" altLang="ko-KR" dirty="0" err="1"/>
              <a:t>Tiêu</a:t>
            </a:r>
            <a:r>
              <a:rPr lang="en-US" altLang="ko-KR" dirty="0"/>
              <a:t> </a:t>
            </a:r>
            <a:r>
              <a:rPr lang="en-US" altLang="ko-KR" dirty="0" err="1"/>
              <a:t>chuẩn</a:t>
            </a:r>
            <a:r>
              <a:rPr lang="en-US" altLang="ko-KR" dirty="0"/>
              <a:t> </a:t>
            </a:r>
            <a:r>
              <a:rPr lang="en-US" altLang="ko-KR" dirty="0" err="1"/>
              <a:t>hai</a:t>
            </a:r>
            <a:r>
              <a:rPr lang="en-US" altLang="ko-KR" dirty="0"/>
              <a:t> </a:t>
            </a:r>
            <a:r>
              <a:rPr lang="en-US" altLang="ko-KR" dirty="0" err="1"/>
              <a:t>phía</a:t>
            </a:r>
            <a:r>
              <a:rPr lang="en-US" altLang="ko-KR" dirty="0"/>
              <a:t>)</a:t>
            </a:r>
            <a:endParaRPr lang="ko-KR" altLang="en-US" dirty="0"/>
          </a:p>
        </p:txBody>
      </p:sp>
      <p:sp>
        <p:nvSpPr>
          <p:cNvPr id="4" name="TextBox 3"/>
          <p:cNvSpPr txBox="1"/>
          <p:nvPr/>
        </p:nvSpPr>
        <p:spPr>
          <a:xfrm>
            <a:off x="683568" y="980728"/>
            <a:ext cx="4160819" cy="307777"/>
          </a:xfrm>
          <a:prstGeom prst="rect">
            <a:avLst/>
          </a:prstGeom>
          <a:noFill/>
        </p:spPr>
        <p:txBody>
          <a:bodyPr wrap="none" rtlCol="0">
            <a:spAutoFit/>
          </a:bodyPr>
          <a:lstStyle/>
          <a:p>
            <a:r>
              <a:rPr lang="en-US" altLang="ko-KR" sz="1400" dirty="0" err="1"/>
              <a:t>Thử</a:t>
            </a:r>
            <a:r>
              <a:rPr lang="en-US" altLang="ko-KR" sz="1400" dirty="0"/>
              <a:t> </a:t>
            </a:r>
            <a:r>
              <a:rPr lang="en-US" altLang="ko-KR" sz="1400" dirty="0" err="1"/>
              <a:t>sử</a:t>
            </a:r>
            <a:r>
              <a:rPr lang="en-US" altLang="ko-KR" sz="1400" dirty="0"/>
              <a:t> </a:t>
            </a:r>
            <a:r>
              <a:rPr lang="en-US" altLang="ko-KR" sz="1400" dirty="0" err="1"/>
              <a:t>dụng</a:t>
            </a:r>
            <a:r>
              <a:rPr lang="en-US" altLang="ko-KR" sz="1400" dirty="0"/>
              <a:t> Minitab </a:t>
            </a:r>
            <a:r>
              <a:rPr lang="en-US" altLang="ko-KR" sz="1400" dirty="0" err="1"/>
              <a:t>để</a:t>
            </a:r>
            <a:r>
              <a:rPr lang="en-US" altLang="ko-KR" sz="1400" dirty="0"/>
              <a:t> </a:t>
            </a:r>
            <a:r>
              <a:rPr lang="en-US" altLang="ko-KR" sz="1400" dirty="0" err="1"/>
              <a:t>tiến</a:t>
            </a:r>
            <a:r>
              <a:rPr lang="en-US" altLang="ko-KR" sz="1400" dirty="0"/>
              <a:t> </a:t>
            </a:r>
            <a:r>
              <a:rPr lang="en-US" altLang="ko-KR" sz="1400" dirty="0" err="1"/>
              <a:t>hành</a:t>
            </a:r>
            <a:r>
              <a:rPr lang="en-US" altLang="ko-KR" sz="1400" dirty="0"/>
              <a:t> Type 1 Study</a:t>
            </a:r>
            <a:endParaRPr lang="ko-KR" altLang="en-US" sz="1400" dirty="0"/>
          </a:p>
        </p:txBody>
      </p:sp>
      <p:pic>
        <p:nvPicPr>
          <p:cNvPr id="5122"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568" y="1772816"/>
            <a:ext cx="4536504" cy="29084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755576" y="1336412"/>
            <a:ext cx="4376711" cy="292388"/>
          </a:xfrm>
          <a:prstGeom prst="rect">
            <a:avLst/>
          </a:prstGeom>
          <a:noFill/>
        </p:spPr>
        <p:txBody>
          <a:bodyPr wrap="none" rtlCol="0">
            <a:spAutoFit/>
          </a:bodyPr>
          <a:lstStyle/>
          <a:p>
            <a:r>
              <a:rPr lang="en-US" altLang="ko-KR" sz="1300" dirty="0"/>
              <a:t>Stat &gt; Quality tool &gt; Gage Study &gt; Type 1 Gage Study</a:t>
            </a:r>
            <a:endParaRPr lang="ko-KR" altLang="en-US" sz="1300" dirty="0"/>
          </a:p>
        </p:txBody>
      </p:sp>
      <p:pic>
        <p:nvPicPr>
          <p:cNvPr id="512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08104" y="1772816"/>
            <a:ext cx="3243491" cy="2016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직사각형 5"/>
          <p:cNvSpPr/>
          <p:nvPr/>
        </p:nvSpPr>
        <p:spPr>
          <a:xfrm>
            <a:off x="4283968" y="2276872"/>
            <a:ext cx="720080" cy="227789"/>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8" name="꺾인 연결선 7"/>
          <p:cNvCxnSpPr>
            <a:stCxn id="6" idx="3"/>
            <a:endCxn id="5123" idx="1"/>
          </p:cNvCxnSpPr>
          <p:nvPr/>
        </p:nvCxnSpPr>
        <p:spPr>
          <a:xfrm>
            <a:off x="5004048" y="2390767"/>
            <a:ext cx="504056" cy="390161"/>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6084168" y="2564904"/>
            <a:ext cx="1733167" cy="307777"/>
          </a:xfrm>
          <a:prstGeom prst="rect">
            <a:avLst/>
          </a:prstGeom>
          <a:noFill/>
        </p:spPr>
        <p:txBody>
          <a:bodyPr wrap="none" rtlCol="0">
            <a:spAutoFit/>
          </a:bodyPr>
          <a:lstStyle/>
          <a:p>
            <a:r>
              <a:rPr lang="en-US" altLang="ko-KR" sz="1400" dirty="0" err="1">
                <a:solidFill>
                  <a:srgbClr val="FF0000"/>
                </a:solidFill>
              </a:rPr>
              <a:t>Nhập</a:t>
            </a:r>
            <a:r>
              <a:rPr lang="en-US" altLang="ko-KR" sz="1400" dirty="0">
                <a:solidFill>
                  <a:srgbClr val="FF0000"/>
                </a:solidFill>
              </a:rPr>
              <a:t> </a:t>
            </a:r>
            <a:r>
              <a:rPr lang="en-US" altLang="ko-KR" sz="1400" dirty="0" err="1">
                <a:solidFill>
                  <a:srgbClr val="FF0000"/>
                </a:solidFill>
              </a:rPr>
              <a:t>độ</a:t>
            </a:r>
            <a:r>
              <a:rPr lang="en-US" altLang="ko-KR" sz="1400" dirty="0">
                <a:solidFill>
                  <a:srgbClr val="FF0000"/>
                </a:solidFill>
              </a:rPr>
              <a:t> </a:t>
            </a:r>
            <a:r>
              <a:rPr lang="en-US" altLang="ko-KR" sz="1400" dirty="0" err="1">
                <a:solidFill>
                  <a:srgbClr val="FF0000"/>
                </a:solidFill>
              </a:rPr>
              <a:t>phân</a:t>
            </a:r>
            <a:r>
              <a:rPr lang="en-US" altLang="ko-KR" sz="1400" dirty="0">
                <a:solidFill>
                  <a:srgbClr val="FF0000"/>
                </a:solidFill>
              </a:rPr>
              <a:t> </a:t>
            </a:r>
            <a:r>
              <a:rPr lang="en-US" altLang="ko-KR" sz="1400" dirty="0" err="1">
                <a:solidFill>
                  <a:srgbClr val="FF0000"/>
                </a:solidFill>
              </a:rPr>
              <a:t>giải</a:t>
            </a:r>
            <a:endParaRPr lang="ko-KR" altLang="en-US" sz="1400" dirty="0">
              <a:solidFill>
                <a:srgbClr val="FF0000"/>
              </a:solidFill>
            </a:endParaRPr>
          </a:p>
        </p:txBody>
      </p:sp>
      <p:sp>
        <p:nvSpPr>
          <p:cNvPr id="12" name="TextBox 11"/>
          <p:cNvSpPr txBox="1"/>
          <p:nvPr/>
        </p:nvSpPr>
        <p:spPr>
          <a:xfrm>
            <a:off x="2699792" y="2564904"/>
            <a:ext cx="1608133" cy="307777"/>
          </a:xfrm>
          <a:prstGeom prst="rect">
            <a:avLst/>
          </a:prstGeom>
          <a:noFill/>
        </p:spPr>
        <p:txBody>
          <a:bodyPr wrap="none" rtlCol="0">
            <a:spAutoFit/>
          </a:bodyPr>
          <a:lstStyle/>
          <a:p>
            <a:r>
              <a:rPr lang="en-US" altLang="ko-KR" sz="1400" dirty="0" err="1">
                <a:solidFill>
                  <a:srgbClr val="FF0000"/>
                </a:solidFill>
              </a:rPr>
              <a:t>Giá</a:t>
            </a:r>
            <a:r>
              <a:rPr lang="en-US" altLang="ko-KR" sz="1400" dirty="0">
                <a:solidFill>
                  <a:srgbClr val="FF0000"/>
                </a:solidFill>
              </a:rPr>
              <a:t> </a:t>
            </a:r>
            <a:r>
              <a:rPr lang="en-US" altLang="ko-KR" sz="1400" dirty="0" err="1">
                <a:solidFill>
                  <a:srgbClr val="FF0000"/>
                </a:solidFill>
              </a:rPr>
              <a:t>trị</a:t>
            </a:r>
            <a:r>
              <a:rPr lang="en-US" altLang="ko-KR" sz="1400" dirty="0">
                <a:solidFill>
                  <a:srgbClr val="FF0000"/>
                </a:solidFill>
              </a:rPr>
              <a:t> </a:t>
            </a:r>
            <a:r>
              <a:rPr lang="en-US" altLang="ko-KR" sz="1400" dirty="0" err="1">
                <a:solidFill>
                  <a:srgbClr val="FF0000"/>
                </a:solidFill>
              </a:rPr>
              <a:t>tiêu</a:t>
            </a:r>
            <a:r>
              <a:rPr lang="en-US" altLang="ko-KR" sz="1400" dirty="0">
                <a:solidFill>
                  <a:srgbClr val="FF0000"/>
                </a:solidFill>
              </a:rPr>
              <a:t> </a:t>
            </a:r>
            <a:r>
              <a:rPr lang="en-US" altLang="ko-KR" sz="1400" dirty="0" err="1">
                <a:solidFill>
                  <a:srgbClr val="FF0000"/>
                </a:solidFill>
              </a:rPr>
              <a:t>chuẩn</a:t>
            </a:r>
            <a:endParaRPr lang="ko-KR" altLang="en-US" sz="1400" dirty="0">
              <a:solidFill>
                <a:srgbClr val="FF0000"/>
              </a:solidFill>
            </a:endParaRPr>
          </a:p>
        </p:txBody>
      </p:sp>
      <p:sp>
        <p:nvSpPr>
          <p:cNvPr id="13"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62</a:t>
            </a:fld>
            <a:endParaRPr lang="ko-KR" altLang="en-US" dirty="0"/>
          </a:p>
        </p:txBody>
      </p:sp>
    </p:spTree>
    <p:extLst>
      <p:ext uri="{BB962C8B-B14F-4D97-AF65-F5344CB8AC3E}">
        <p14:creationId xmlns:p14="http://schemas.microsoft.com/office/powerpoint/2010/main" val="189869014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10670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660232" y="188640"/>
            <a:ext cx="2400016" cy="369332"/>
          </a:xfrm>
          <a:prstGeom prst="rect">
            <a:avLst/>
          </a:prstGeom>
          <a:noFill/>
        </p:spPr>
        <p:txBody>
          <a:bodyPr wrap="none" rtlCol="0">
            <a:spAutoFit/>
          </a:bodyPr>
          <a:lstStyle/>
          <a:p>
            <a:r>
              <a:rPr lang="en-US" altLang="ko-KR" dirty="0"/>
              <a:t>(</a:t>
            </a:r>
            <a:r>
              <a:rPr lang="en-US" altLang="ko-KR" dirty="0" err="1"/>
              <a:t>Tiêu</a:t>
            </a:r>
            <a:r>
              <a:rPr lang="en-US" altLang="ko-KR" dirty="0"/>
              <a:t> </a:t>
            </a:r>
            <a:r>
              <a:rPr lang="en-US" altLang="ko-KR" dirty="0" err="1"/>
              <a:t>chuẩn</a:t>
            </a:r>
            <a:r>
              <a:rPr lang="en-US" altLang="ko-KR" dirty="0"/>
              <a:t> </a:t>
            </a:r>
            <a:r>
              <a:rPr lang="en-US" altLang="ko-KR" dirty="0" err="1"/>
              <a:t>hai</a:t>
            </a:r>
            <a:r>
              <a:rPr lang="en-US" altLang="ko-KR" dirty="0"/>
              <a:t> </a:t>
            </a:r>
            <a:r>
              <a:rPr lang="en-US" altLang="ko-KR" dirty="0" err="1"/>
              <a:t>phía</a:t>
            </a:r>
            <a:r>
              <a:rPr lang="en-US" altLang="ko-KR" dirty="0"/>
              <a:t>)</a:t>
            </a:r>
            <a:endParaRPr lang="ko-KR" altLang="en-US" dirty="0"/>
          </a:p>
        </p:txBody>
      </p:sp>
      <p:pic>
        <p:nvPicPr>
          <p:cNvPr id="614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6360" y="1268760"/>
            <a:ext cx="7011280" cy="46741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83568" y="836712"/>
            <a:ext cx="2020233" cy="307777"/>
          </a:xfrm>
          <a:prstGeom prst="rect">
            <a:avLst/>
          </a:prstGeom>
          <a:noFill/>
        </p:spPr>
        <p:txBody>
          <a:bodyPr wrap="none" rtlCol="0">
            <a:spAutoFit/>
          </a:bodyPr>
          <a:lstStyle/>
          <a:p>
            <a:r>
              <a:rPr lang="en-US" altLang="ko-KR" sz="1400" dirty="0"/>
              <a:t>So </a:t>
            </a:r>
            <a:r>
              <a:rPr lang="en-US" altLang="ko-KR" sz="1400" dirty="0" err="1"/>
              <a:t>sánh</a:t>
            </a:r>
            <a:r>
              <a:rPr lang="en-US" altLang="ko-KR" sz="1400" dirty="0"/>
              <a:t> </a:t>
            </a:r>
            <a:r>
              <a:rPr lang="en-US" altLang="ko-KR" sz="1400" dirty="0" err="1"/>
              <a:t>thử</a:t>
            </a:r>
            <a:r>
              <a:rPr lang="en-US" altLang="ko-KR" sz="1400" dirty="0"/>
              <a:t> </a:t>
            </a:r>
            <a:r>
              <a:rPr lang="en-US" altLang="ko-KR" sz="1400" dirty="0" err="1"/>
              <a:t>với</a:t>
            </a:r>
            <a:r>
              <a:rPr lang="en-US" altLang="ko-KR" sz="1400" dirty="0"/>
              <a:t> Excel</a:t>
            </a:r>
            <a:endParaRPr lang="ko-KR" altLang="en-US" sz="1400" dirty="0"/>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63</a:t>
            </a:fld>
            <a:endParaRPr lang="ko-KR" altLang="en-US" dirty="0"/>
          </a:p>
        </p:txBody>
      </p:sp>
    </p:spTree>
    <p:extLst>
      <p:ext uri="{BB962C8B-B14F-4D97-AF65-F5344CB8AC3E}">
        <p14:creationId xmlns:p14="http://schemas.microsoft.com/office/powerpoint/2010/main" val="255775680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191386" cy="400110"/>
          </a:xfrm>
          <a:prstGeom prst="rect">
            <a:avLst/>
          </a:prstGeom>
          <a:noFill/>
        </p:spPr>
        <p:txBody>
          <a:bodyPr wrap="none" rtlCol="0">
            <a:spAutoFit/>
          </a:bodyPr>
          <a:lstStyle/>
          <a:p>
            <a:r>
              <a:rPr lang="en-US" altLang="ko-KR" sz="2000" b="1" dirty="0"/>
              <a:t>Type 1 Study Case study</a:t>
            </a:r>
            <a:endParaRPr lang="ko-KR" altLang="en-US" sz="2000" b="1" dirty="0"/>
          </a:p>
        </p:txBody>
      </p:sp>
      <p:sp>
        <p:nvSpPr>
          <p:cNvPr id="3" name="TextBox 2"/>
          <p:cNvSpPr txBox="1"/>
          <p:nvPr/>
        </p:nvSpPr>
        <p:spPr>
          <a:xfrm>
            <a:off x="6786578" y="188640"/>
            <a:ext cx="2252476" cy="369332"/>
          </a:xfrm>
          <a:prstGeom prst="rect">
            <a:avLst/>
          </a:prstGeom>
          <a:noFill/>
        </p:spPr>
        <p:txBody>
          <a:bodyPr wrap="none" rtlCol="0">
            <a:spAutoFit/>
          </a:bodyPr>
          <a:lstStyle/>
          <a:p>
            <a:r>
              <a:rPr lang="en-US" altLang="ko-KR" dirty="0"/>
              <a:t>(One side standard)</a:t>
            </a:r>
            <a:endParaRPr lang="ko-KR" altLang="en-US" dirty="0"/>
          </a:p>
        </p:txBody>
      </p:sp>
      <p:sp>
        <p:nvSpPr>
          <p:cNvPr id="4" name="직사각형 3"/>
          <p:cNvSpPr/>
          <p:nvPr/>
        </p:nvSpPr>
        <p:spPr>
          <a:xfrm>
            <a:off x="323528" y="980728"/>
            <a:ext cx="8568952" cy="209108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5" name="TextBox 4"/>
          <p:cNvSpPr txBox="1"/>
          <p:nvPr/>
        </p:nvSpPr>
        <p:spPr>
          <a:xfrm>
            <a:off x="422445" y="1052736"/>
            <a:ext cx="8435835" cy="2031325"/>
          </a:xfrm>
          <a:prstGeom prst="rect">
            <a:avLst/>
          </a:prstGeom>
          <a:noFill/>
        </p:spPr>
        <p:txBody>
          <a:bodyPr wrap="square" rtlCol="0">
            <a:spAutoFit/>
          </a:bodyPr>
          <a:lstStyle/>
          <a:p>
            <a:pPr>
              <a:lnSpc>
                <a:spcPct val="150000"/>
              </a:lnSpc>
            </a:pPr>
            <a:r>
              <a:rPr lang="en-US" sz="1400" dirty="0"/>
              <a:t>We want to evaluate the measurement capability of an instrument that measures the dimensions of a part produced by a manufacturer. The measurement unit (resolution) of this instrument is 0.001. And the part only have dimension specification, it is LSL = 20. In order to carry out the measurement experiment for the Type 1 study, the part with reference value </a:t>
            </a:r>
            <a:r>
              <a:rPr lang="en-US" sz="1400" dirty="0" err="1"/>
              <a:t>xm</a:t>
            </a:r>
            <a:r>
              <a:rPr lang="en-US" sz="1400" dirty="0"/>
              <a:t> of 22 were repeatedly measured 50 times with this instrument and the following data were obtained. The total variation </a:t>
            </a:r>
            <a:r>
              <a:rPr lang="en-US" sz="1400" dirty="0" err="1"/>
              <a:t>σtotal</a:t>
            </a:r>
            <a:r>
              <a:rPr lang="en-US" sz="1400" dirty="0"/>
              <a:t> for the single repeatability analysis is 15.5.</a:t>
            </a:r>
            <a:endParaRPr lang="ko-KR" altLang="en-US" sz="1400" dirty="0"/>
          </a:p>
        </p:txBody>
      </p:sp>
      <p:graphicFrame>
        <p:nvGraphicFramePr>
          <p:cNvPr id="8" name="표 7"/>
          <p:cNvGraphicFramePr>
            <a:graphicFrameLocks noGrp="1"/>
          </p:cNvGraphicFramePr>
          <p:nvPr>
            <p:extLst>
              <p:ext uri="{D42A27DB-BD31-4B8C-83A1-F6EECF244321}">
                <p14:modId xmlns:p14="http://schemas.microsoft.com/office/powerpoint/2010/main" val="315046242"/>
              </p:ext>
            </p:extLst>
          </p:nvPr>
        </p:nvGraphicFramePr>
        <p:xfrm>
          <a:off x="1016000" y="3700500"/>
          <a:ext cx="7112000" cy="1800202"/>
        </p:xfrm>
        <a:graphic>
          <a:graphicData uri="http://schemas.openxmlformats.org/drawingml/2006/table">
            <a:tbl>
              <a:tblPr/>
              <a:tblGrid>
                <a:gridCol w="711200">
                  <a:extLst>
                    <a:ext uri="{9D8B030D-6E8A-4147-A177-3AD203B41FA5}">
                      <a16:colId xmlns:a16="http://schemas.microsoft.com/office/drawing/2014/main" val="20000"/>
                    </a:ext>
                  </a:extLst>
                </a:gridCol>
                <a:gridCol w="71120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711200">
                  <a:extLst>
                    <a:ext uri="{9D8B030D-6E8A-4147-A177-3AD203B41FA5}">
                      <a16:colId xmlns:a16="http://schemas.microsoft.com/office/drawing/2014/main" val="20007"/>
                    </a:ext>
                  </a:extLst>
                </a:gridCol>
                <a:gridCol w="711200">
                  <a:extLst>
                    <a:ext uri="{9D8B030D-6E8A-4147-A177-3AD203B41FA5}">
                      <a16:colId xmlns:a16="http://schemas.microsoft.com/office/drawing/2014/main" val="20008"/>
                    </a:ext>
                  </a:extLst>
                </a:gridCol>
                <a:gridCol w="711200">
                  <a:extLst>
                    <a:ext uri="{9D8B030D-6E8A-4147-A177-3AD203B41FA5}">
                      <a16:colId xmlns:a16="http://schemas.microsoft.com/office/drawing/2014/main" val="20009"/>
                    </a:ext>
                  </a:extLst>
                </a:gridCol>
              </a:tblGrid>
              <a:tr h="415683">
                <a:tc>
                  <a:txBody>
                    <a:bodyPr/>
                    <a:lstStyle/>
                    <a:p>
                      <a:pPr algn="ctr" fontAlgn="ctr"/>
                      <a:r>
                        <a:rPr lang="en-US" altLang="ko-KR" sz="1200" b="0" i="0" u="none" strike="noStrike" dirty="0">
                          <a:solidFill>
                            <a:srgbClr val="000000"/>
                          </a:solidFill>
                          <a:effectLst/>
                          <a:latin typeface="맑은 고딕"/>
                        </a:rPr>
                        <a:t>21.670</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22.318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22.094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21.507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21.798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22.285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21.824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21.999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21.961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21.983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43675">
                <a:tc>
                  <a:txBody>
                    <a:bodyPr/>
                    <a:lstStyle/>
                    <a:p>
                      <a:pPr algn="ctr" fontAlgn="ctr"/>
                      <a:r>
                        <a:rPr lang="en-US" altLang="ko-KR" sz="1200" b="0" i="0" u="none" strike="noStrike">
                          <a:solidFill>
                            <a:srgbClr val="000000"/>
                          </a:solidFill>
                          <a:effectLst/>
                          <a:latin typeface="맑은 고딕"/>
                        </a:rPr>
                        <a:t>21.601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21.490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21.970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22.313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22.477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21.881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21.324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22.138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21.888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22.217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43675">
                <a:tc>
                  <a:txBody>
                    <a:bodyPr/>
                    <a:lstStyle/>
                    <a:p>
                      <a:pPr algn="ctr" fontAlgn="ctr"/>
                      <a:r>
                        <a:rPr lang="en-US" altLang="ko-KR" sz="1200" b="0" i="0" u="none" strike="noStrike">
                          <a:solidFill>
                            <a:srgbClr val="000000"/>
                          </a:solidFill>
                          <a:effectLst/>
                          <a:latin typeface="맑은 고딕"/>
                        </a:rPr>
                        <a:t>21.902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21.860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22.260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21.703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21.842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21.965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21.684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21.694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21.721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43675">
                <a:tc>
                  <a:txBody>
                    <a:bodyPr/>
                    <a:lstStyle/>
                    <a:p>
                      <a:pPr algn="ctr" fontAlgn="ctr"/>
                      <a:r>
                        <a:rPr lang="en-US" altLang="ko-KR" sz="1200" b="0" i="0" u="none" strike="noStrike">
                          <a:solidFill>
                            <a:srgbClr val="000000"/>
                          </a:solidFill>
                          <a:effectLst/>
                          <a:latin typeface="맑은 고딕"/>
                        </a:rPr>
                        <a:t>21.394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22.008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22.267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21.597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21.821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21.664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22.038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22.015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21.730</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53494">
                <a:tc>
                  <a:txBody>
                    <a:bodyPr/>
                    <a:lstStyle/>
                    <a:p>
                      <a:pPr algn="ctr" fontAlgn="ctr"/>
                      <a:r>
                        <a:rPr lang="en-US" altLang="ko-KR" sz="1200" b="0" i="0" u="none" strike="noStrike">
                          <a:solidFill>
                            <a:srgbClr val="000000"/>
                          </a:solidFill>
                          <a:effectLst/>
                          <a:latin typeface="맑은 고딕"/>
                        </a:rPr>
                        <a:t>22.393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21.953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22.278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21.779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21.368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21.886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21.967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22.294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22.062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22.181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7"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64</a:t>
            </a:fld>
            <a:endParaRPr lang="ko-KR" altLang="en-US" dirty="0"/>
          </a:p>
        </p:txBody>
      </p:sp>
    </p:spTree>
    <p:extLst>
      <p:ext uri="{BB962C8B-B14F-4D97-AF65-F5344CB8AC3E}">
        <p14:creationId xmlns:p14="http://schemas.microsoft.com/office/powerpoint/2010/main" val="65307517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191386" cy="400110"/>
          </a:xfrm>
          <a:prstGeom prst="rect">
            <a:avLst/>
          </a:prstGeom>
          <a:noFill/>
        </p:spPr>
        <p:txBody>
          <a:bodyPr wrap="none" rtlCol="0">
            <a:spAutoFit/>
          </a:bodyPr>
          <a:lstStyle/>
          <a:p>
            <a:r>
              <a:rPr lang="en-US" altLang="ko-KR" sz="2000" b="1" dirty="0"/>
              <a:t>Type 1 Study Case study</a:t>
            </a:r>
            <a:endParaRPr lang="ko-KR" altLang="en-US" sz="2000" b="1" dirty="0"/>
          </a:p>
        </p:txBody>
      </p:sp>
      <p:sp>
        <p:nvSpPr>
          <p:cNvPr id="4" name="TextBox 3"/>
          <p:cNvSpPr txBox="1"/>
          <p:nvPr/>
        </p:nvSpPr>
        <p:spPr>
          <a:xfrm>
            <a:off x="683568" y="980728"/>
            <a:ext cx="6743897" cy="307777"/>
          </a:xfrm>
          <a:prstGeom prst="rect">
            <a:avLst/>
          </a:prstGeom>
          <a:noFill/>
        </p:spPr>
        <p:txBody>
          <a:bodyPr wrap="none" rtlCol="0">
            <a:spAutoFit/>
          </a:bodyPr>
          <a:lstStyle/>
          <a:p>
            <a:r>
              <a:rPr lang="en-US" altLang="ko-KR" sz="1400" dirty="0"/>
              <a:t>Type 1 study using Excel.   ( Gage R&amp;R Worksheet &gt; Type 1 Gage Both sides</a:t>
            </a:r>
            <a:r>
              <a:rPr lang="ko-KR" altLang="en-US" sz="1400" dirty="0"/>
              <a:t> </a:t>
            </a:r>
            <a:r>
              <a:rPr lang="en-US" altLang="ko-KR" sz="1400" dirty="0"/>
              <a:t>)  </a:t>
            </a:r>
            <a:endParaRPr lang="ko-KR" altLang="en-US" sz="1400" dirty="0"/>
          </a:p>
        </p:txBody>
      </p:sp>
      <p:graphicFrame>
        <p:nvGraphicFramePr>
          <p:cNvPr id="6" name="표 5"/>
          <p:cNvGraphicFramePr>
            <a:graphicFrameLocks noGrp="1"/>
          </p:cNvGraphicFramePr>
          <p:nvPr>
            <p:extLst>
              <p:ext uri="{D42A27DB-BD31-4B8C-83A1-F6EECF244321}">
                <p14:modId xmlns:p14="http://schemas.microsoft.com/office/powerpoint/2010/main" val="1433528840"/>
              </p:ext>
            </p:extLst>
          </p:nvPr>
        </p:nvGraphicFramePr>
        <p:xfrm>
          <a:off x="285717" y="1772816"/>
          <a:ext cx="8534755" cy="4693920"/>
        </p:xfrm>
        <a:graphic>
          <a:graphicData uri="http://schemas.openxmlformats.org/drawingml/2006/table">
            <a:tbl>
              <a:tblPr/>
              <a:tblGrid>
                <a:gridCol w="499913">
                  <a:extLst>
                    <a:ext uri="{9D8B030D-6E8A-4147-A177-3AD203B41FA5}">
                      <a16:colId xmlns:a16="http://schemas.microsoft.com/office/drawing/2014/main" val="20000"/>
                    </a:ext>
                  </a:extLst>
                </a:gridCol>
                <a:gridCol w="766600">
                  <a:extLst>
                    <a:ext uri="{9D8B030D-6E8A-4147-A177-3AD203B41FA5}">
                      <a16:colId xmlns:a16="http://schemas.microsoft.com/office/drawing/2014/main" val="20001"/>
                    </a:ext>
                  </a:extLst>
                </a:gridCol>
                <a:gridCol w="162250">
                  <a:extLst>
                    <a:ext uri="{9D8B030D-6E8A-4147-A177-3AD203B41FA5}">
                      <a16:colId xmlns:a16="http://schemas.microsoft.com/office/drawing/2014/main" val="20002"/>
                    </a:ext>
                  </a:extLst>
                </a:gridCol>
                <a:gridCol w="324555">
                  <a:extLst>
                    <a:ext uri="{9D8B030D-6E8A-4147-A177-3AD203B41FA5}">
                      <a16:colId xmlns:a16="http://schemas.microsoft.com/office/drawing/2014/main" val="20003"/>
                    </a:ext>
                  </a:extLst>
                </a:gridCol>
                <a:gridCol w="461263">
                  <a:extLst>
                    <a:ext uri="{9D8B030D-6E8A-4147-A177-3AD203B41FA5}">
                      <a16:colId xmlns:a16="http://schemas.microsoft.com/office/drawing/2014/main" val="20004"/>
                    </a:ext>
                  </a:extLst>
                </a:gridCol>
                <a:gridCol w="292230">
                  <a:extLst>
                    <a:ext uri="{9D8B030D-6E8A-4147-A177-3AD203B41FA5}">
                      <a16:colId xmlns:a16="http://schemas.microsoft.com/office/drawing/2014/main" val="20005"/>
                    </a:ext>
                  </a:extLst>
                </a:gridCol>
                <a:gridCol w="279274">
                  <a:extLst>
                    <a:ext uri="{9D8B030D-6E8A-4147-A177-3AD203B41FA5}">
                      <a16:colId xmlns:a16="http://schemas.microsoft.com/office/drawing/2014/main" val="20006"/>
                    </a:ext>
                  </a:extLst>
                </a:gridCol>
                <a:gridCol w="474219">
                  <a:extLst>
                    <a:ext uri="{9D8B030D-6E8A-4147-A177-3AD203B41FA5}">
                      <a16:colId xmlns:a16="http://schemas.microsoft.com/office/drawing/2014/main" val="20007"/>
                    </a:ext>
                  </a:extLst>
                </a:gridCol>
                <a:gridCol w="753493">
                  <a:extLst>
                    <a:ext uri="{9D8B030D-6E8A-4147-A177-3AD203B41FA5}">
                      <a16:colId xmlns:a16="http://schemas.microsoft.com/office/drawing/2014/main" val="20008"/>
                    </a:ext>
                  </a:extLst>
                </a:gridCol>
                <a:gridCol w="753493">
                  <a:extLst>
                    <a:ext uri="{9D8B030D-6E8A-4147-A177-3AD203B41FA5}">
                      <a16:colId xmlns:a16="http://schemas.microsoft.com/office/drawing/2014/main" val="20009"/>
                    </a:ext>
                  </a:extLst>
                </a:gridCol>
                <a:gridCol w="753493">
                  <a:extLst>
                    <a:ext uri="{9D8B030D-6E8A-4147-A177-3AD203B41FA5}">
                      <a16:colId xmlns:a16="http://schemas.microsoft.com/office/drawing/2014/main" val="20010"/>
                    </a:ext>
                  </a:extLst>
                </a:gridCol>
                <a:gridCol w="753493">
                  <a:extLst>
                    <a:ext uri="{9D8B030D-6E8A-4147-A177-3AD203B41FA5}">
                      <a16:colId xmlns:a16="http://schemas.microsoft.com/office/drawing/2014/main" val="20011"/>
                    </a:ext>
                  </a:extLst>
                </a:gridCol>
                <a:gridCol w="753493">
                  <a:extLst>
                    <a:ext uri="{9D8B030D-6E8A-4147-A177-3AD203B41FA5}">
                      <a16:colId xmlns:a16="http://schemas.microsoft.com/office/drawing/2014/main" val="20012"/>
                    </a:ext>
                  </a:extLst>
                </a:gridCol>
                <a:gridCol w="753493">
                  <a:extLst>
                    <a:ext uri="{9D8B030D-6E8A-4147-A177-3AD203B41FA5}">
                      <a16:colId xmlns:a16="http://schemas.microsoft.com/office/drawing/2014/main" val="20013"/>
                    </a:ext>
                  </a:extLst>
                </a:gridCol>
                <a:gridCol w="753493">
                  <a:extLst>
                    <a:ext uri="{9D8B030D-6E8A-4147-A177-3AD203B41FA5}">
                      <a16:colId xmlns:a16="http://schemas.microsoft.com/office/drawing/2014/main" val="20014"/>
                    </a:ext>
                  </a:extLst>
                </a:gridCol>
              </a:tblGrid>
              <a:tr h="215900">
                <a:tc gridSpan="3">
                  <a:txBody>
                    <a:bodyPr/>
                    <a:lstStyle/>
                    <a:p>
                      <a:pPr algn="l" fontAlgn="ctr"/>
                      <a:r>
                        <a:rPr lang="en-US" sz="1200" b="0" i="0" u="none" strike="noStrike" dirty="0">
                          <a:solidFill>
                            <a:srgbClr val="000000"/>
                          </a:solidFill>
                          <a:effectLst/>
                          <a:latin typeface="맑은 고딕"/>
                        </a:rPr>
                        <a:t>1.  LSL + 4s</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dirty="0"/>
                    </a:p>
                  </a:txBody>
                  <a:tcPr marL="6350" marR="6350" marT="6350" marB="0" anchor="ctr">
                    <a:lnL>
                      <a:noFill/>
                    </a:lnL>
                    <a:lnR>
                      <a:noFill/>
                    </a:lnR>
                    <a:lnT>
                      <a:noFill/>
                    </a:lnT>
                    <a:lnB>
                      <a:noFill/>
                    </a:lnB>
                  </a:tcPr>
                </a:tc>
                <a:tc gridSpan="2">
                  <a:txBody>
                    <a:bodyPr/>
                    <a:lstStyle/>
                    <a:p>
                      <a:pPr latinLnBrk="1"/>
                      <a:endParaRPr lang="ko-KR" altLang="en-US" dirty="0"/>
                    </a:p>
                  </a:txBody>
                  <a:tcPr marL="6350" marR="6350" marT="6350" marB="0" anchor="ctr">
                    <a:lnL>
                      <a:noFill/>
                    </a:lnL>
                    <a:lnR>
                      <a:noFill/>
                    </a:lnR>
                    <a:lnT>
                      <a:noFill/>
                    </a:lnT>
                    <a:lnB>
                      <a:noFill/>
                    </a:lnB>
                  </a:tcPr>
                </a:tc>
                <a:tc hMerge="1">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Pass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dirty="0"/>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0"/>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a:solidFill>
                            <a:srgbClr val="000000"/>
                          </a:solidFill>
                          <a:effectLst/>
                          <a:latin typeface="맑은 고딕"/>
                        </a:rPr>
                        <a:t> LSL + 4s</a:t>
                      </a:r>
                    </a:p>
                  </a:txBody>
                  <a:tcPr marL="6350" marR="6350" marT="6350" marB="0" anchor="ctr">
                    <a:lnL>
                      <a:noFill/>
                    </a:lnL>
                    <a:lnR>
                      <a:noFill/>
                    </a:lnR>
                    <a:lnT>
                      <a:noFill/>
                    </a:lnT>
                    <a:lnB>
                      <a:noFill/>
                    </a:lnB>
                  </a:tcPr>
                </a:tc>
                <a:tc hMerge="1">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Reference</a:t>
                      </a:r>
                      <a:r>
                        <a:rPr lang="en-US" altLang="ko-KR" sz="1200" b="0" i="0" u="none" strike="noStrike" baseline="0" dirty="0">
                          <a:solidFill>
                            <a:srgbClr val="000000"/>
                          </a:solidFill>
                          <a:effectLst/>
                          <a:latin typeface="맑은 고딕"/>
                        </a:rPr>
                        <a:t> value</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algn="r" fontAlgn="ctr"/>
                      <a:endParaRPr lang="en-US" altLang="ko-KR"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r" fontAlgn="ctr"/>
                      <a:r>
                        <a:rPr lang="en-US" altLang="ko-KR" sz="1200" b="0" i="0" u="none" strike="noStrike" dirty="0">
                          <a:solidFill>
                            <a:srgbClr val="000000"/>
                          </a:solidFill>
                          <a:effectLst/>
                          <a:latin typeface="맑은 고딕"/>
                        </a:rPr>
                        <a:t>21.11439</a:t>
                      </a:r>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dirty="0"/>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5">
                  <a:txBody>
                    <a:bodyPr/>
                    <a:lstStyle/>
                    <a:p>
                      <a:pPr algn="l" fontAlgn="ctr"/>
                      <a:r>
                        <a:rPr lang="en-US" altLang="ko-KR" sz="1200" b="0" i="0" u="none" strike="noStrike" dirty="0">
                          <a:solidFill>
                            <a:srgbClr val="000000"/>
                          </a:solidFill>
                          <a:effectLst/>
                          <a:latin typeface="맑은 고딕"/>
                        </a:rPr>
                        <a:t>; Are all the data in the judgment criterion greater than LSL + 4s?</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1"/>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latinLnBrk="1"/>
                      <a:endParaRPr lang="ko-KR" altLang="en-US" dirty="0"/>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2"/>
                  </a:ext>
                </a:extLst>
              </a:tr>
              <a:tr h="215900">
                <a:tc gridSpan="3">
                  <a:txBody>
                    <a:bodyPr/>
                    <a:lstStyle/>
                    <a:p>
                      <a:pPr algn="l" fontAlgn="ctr"/>
                      <a:r>
                        <a:rPr lang="en-US" sz="1200" b="0" i="0" u="none" strike="noStrike" dirty="0">
                          <a:solidFill>
                            <a:srgbClr val="000000"/>
                          </a:solidFill>
                          <a:effectLst/>
                          <a:latin typeface="맑은 고딕"/>
                        </a:rPr>
                        <a:t>2. AIAG analysis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3"/>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%EV judgment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dirty="0"/>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a:noFill/>
                    </a:lnB>
                  </a:tcPr>
                </a:tc>
                <a:tc hMerge="1">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Pass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4"/>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a:solidFill>
                            <a:srgbClr val="000000"/>
                          </a:solidFill>
                          <a:effectLst/>
                          <a:latin typeface="맑은 고딕"/>
                        </a:rPr>
                        <a:t>%EV = </a:t>
                      </a:r>
                    </a:p>
                  </a:txBody>
                  <a:tcPr marL="6350" marR="6350" marT="6350" marB="0" anchor="ctr">
                    <a:lnL>
                      <a:noFill/>
                    </a:lnL>
                    <a:lnR>
                      <a:noFill/>
                    </a:lnR>
                    <a:lnT>
                      <a:noFill/>
                    </a:lnT>
                    <a:lnB>
                      <a:noFill/>
                    </a:lnB>
                  </a:tcPr>
                </a:tc>
                <a:tc hMerge="1">
                  <a:txBody>
                    <a:bodyPr/>
                    <a:lstStyle/>
                    <a:p>
                      <a:pPr algn="l" fontAlgn="ctr"/>
                      <a:endParaRPr 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4">
                  <a:txBody>
                    <a:bodyPr/>
                    <a:lstStyle/>
                    <a:p>
                      <a:pPr algn="l" fontAlgn="ctr"/>
                      <a:r>
                        <a:rPr lang="en-US" sz="1200" b="0" i="0" u="none" strike="noStrike">
                          <a:solidFill>
                            <a:srgbClr val="000000"/>
                          </a:solidFill>
                          <a:effectLst/>
                          <a:latin typeface="맑은 고딕"/>
                        </a:rPr>
                        <a:t>6s/6</a:t>
                      </a:r>
                      <a:r>
                        <a:rPr lang="el-GR" sz="1200" b="0" i="0" u="none" strike="noStrike">
                          <a:solidFill>
                            <a:srgbClr val="000000"/>
                          </a:solidFill>
                          <a:effectLst/>
                          <a:latin typeface="맑은 고딕"/>
                        </a:rPr>
                        <a:t>σ</a:t>
                      </a:r>
                      <a:r>
                        <a:rPr lang="en-US" sz="1200" b="0" i="0" u="none" strike="noStrike">
                          <a:solidFill>
                            <a:srgbClr val="000000"/>
                          </a:solidFill>
                          <a:effectLst/>
                          <a:latin typeface="맑은 고딕"/>
                        </a:rPr>
                        <a:t>Total x 100</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10.7844</a:t>
                      </a:r>
                    </a:p>
                  </a:txBody>
                  <a:tcPr marL="6350" marR="6350" marT="6350" marB="0" anchor="ctr">
                    <a:lnL>
                      <a:noFill/>
                    </a:lnL>
                    <a:lnR>
                      <a:noFill/>
                    </a:lnR>
                    <a:lnT>
                      <a:noFill/>
                    </a:lnT>
                    <a:lnB>
                      <a:noFill/>
                    </a:lnB>
                  </a:tcPr>
                </a:tc>
                <a:tc>
                  <a:txBody>
                    <a:bodyPr/>
                    <a:lstStyle/>
                    <a:p>
                      <a:pPr algn="l" fontAlgn="ctr"/>
                      <a:r>
                        <a:rPr lang="en-US" altLang="ko-KR" sz="1200" b="0" i="0" u="none" strike="noStrike">
                          <a:solidFill>
                            <a:srgbClr val="000000"/>
                          </a:solidFill>
                          <a:effectLst/>
                          <a:latin typeface="맑은 고딕"/>
                        </a:rPr>
                        <a:t>%</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Pass 30% or below</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5"/>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gridSpan="3">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6"/>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3">
                  <a:txBody>
                    <a:bodyPr/>
                    <a:lstStyle/>
                    <a:p>
                      <a:pPr algn="l" fontAlgn="ctr"/>
                      <a:r>
                        <a:rPr lang="en-US" altLang="ko-KR" sz="1200" b="0" i="0" u="none" strike="noStrike" dirty="0">
                          <a:solidFill>
                            <a:srgbClr val="000000"/>
                          </a:solidFill>
                          <a:effectLst/>
                          <a:latin typeface="맑은 고딕"/>
                        </a:rPr>
                        <a:t>Bias hypothesis test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l" fontAlgn="ctr"/>
                      <a:r>
                        <a:rPr lang="en-US" altLang="ko-KR" sz="1200" b="0" i="0" u="none" strike="noStrike" dirty="0">
                          <a:solidFill>
                            <a:srgbClr val="000000"/>
                          </a:solidFill>
                          <a:effectLst/>
                          <a:latin typeface="맑은 고딕"/>
                        </a:rPr>
                        <a:t>No</a:t>
                      </a:r>
                      <a:r>
                        <a:rPr lang="en-US" altLang="ko-KR" sz="1200" b="0" i="0" u="none" strike="noStrike" baseline="0" dirty="0">
                          <a:solidFill>
                            <a:srgbClr val="000000"/>
                          </a:solidFill>
                          <a:effectLst/>
                          <a:latin typeface="맑은 고딕"/>
                        </a:rPr>
                        <a:t> Bias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7"/>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5">
                  <a:txBody>
                    <a:bodyPr/>
                    <a:lstStyle/>
                    <a:p>
                      <a:pPr algn="l" fontAlgn="ctr"/>
                      <a:r>
                        <a:rPr lang="en-US" sz="1200" b="0" i="0" u="none" strike="noStrike" dirty="0">
                          <a:solidFill>
                            <a:srgbClr val="000000"/>
                          </a:solidFill>
                          <a:effectLst/>
                          <a:latin typeface="맑은 고딕"/>
                        </a:rPr>
                        <a:t>H0 :  Bias</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0 </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latinLnBrk="1"/>
                      <a:endParaRPr lang="ko-KR" altLang="en-US"/>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8"/>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5">
                  <a:txBody>
                    <a:bodyPr/>
                    <a:lstStyle/>
                    <a:p>
                      <a:pPr algn="l" fontAlgn="ctr"/>
                      <a:r>
                        <a:rPr lang="en-US" altLang="ko-KR" sz="1200" b="0" i="0" u="none" strike="noStrike" dirty="0">
                          <a:solidFill>
                            <a:srgbClr val="000000"/>
                          </a:solidFill>
                          <a:effectLst/>
                          <a:latin typeface="맑은 고딕"/>
                        </a:rPr>
                        <a:t>Test</a:t>
                      </a:r>
                      <a:r>
                        <a:rPr lang="en-US" altLang="ko-KR" sz="1200" b="0" i="0" u="none" strike="noStrike" baseline="0" dirty="0">
                          <a:solidFill>
                            <a:srgbClr val="000000"/>
                          </a:solidFill>
                          <a:effectLst/>
                          <a:latin typeface="맑은 고딕"/>
                        </a:rPr>
                        <a:t> statistics</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a:solidFill>
                            <a:srgbClr val="000000"/>
                          </a:solidFill>
                          <a:effectLst/>
                          <a:latin typeface="맑은 고딕"/>
                        </a:rPr>
                        <a:t>Bias</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 Standard error</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1.891391</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9"/>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a:noFill/>
                    </a:lnB>
                  </a:tcPr>
                </a:tc>
                <a:tc hMerge="1">
                  <a:txBody>
                    <a:bodyPr/>
                    <a:lstStyle/>
                    <a:p>
                      <a:pPr latinLnBrk="1"/>
                      <a:endParaRPr lang="ko-KR" altLang="en-US"/>
                    </a:p>
                  </a:txBody>
                  <a:tcPr/>
                </a:tc>
                <a:tc gridSpan="4">
                  <a:txBody>
                    <a:bodyPr/>
                    <a:lstStyle/>
                    <a:p>
                      <a:pPr algn="l" fontAlgn="ctr"/>
                      <a:r>
                        <a:rPr lang="en-US" altLang="ko-KR" sz="1200" b="0" i="0" u="none" strike="noStrike" dirty="0">
                          <a:solidFill>
                            <a:srgbClr val="000000"/>
                          </a:solidFill>
                          <a:effectLst/>
                          <a:latin typeface="맑은 고딕"/>
                        </a:rPr>
                        <a:t>Standard error</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0.0394</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0"/>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a:noFill/>
                    </a:lnB>
                  </a:tcPr>
                </a:tc>
                <a:tc hMerge="1">
                  <a:txBody>
                    <a:bodyPr/>
                    <a:lstStyle/>
                    <a:p>
                      <a:pPr latinLnBrk="1"/>
                      <a:endParaRPr lang="ko-KR" altLang="en-US"/>
                    </a:p>
                  </a:txBody>
                  <a:tcPr/>
                </a:tc>
                <a:tc gridSpan="2">
                  <a:txBody>
                    <a:bodyPr/>
                    <a:lstStyle/>
                    <a:p>
                      <a:pPr algn="l" fontAlgn="ctr"/>
                      <a:r>
                        <a:rPr lang="en-US" altLang="ko-KR" sz="1200" b="0" i="0" u="none" strike="noStrike" dirty="0">
                          <a:solidFill>
                            <a:srgbClr val="000000"/>
                          </a:solidFill>
                          <a:effectLst/>
                          <a:latin typeface="맑은 고딕"/>
                        </a:rPr>
                        <a:t>Rejection</a:t>
                      </a:r>
                      <a:r>
                        <a:rPr lang="en-US" altLang="ko-KR" sz="1200" b="0" i="0" u="none" strike="noStrike" baseline="0" dirty="0">
                          <a:solidFill>
                            <a:srgbClr val="000000"/>
                          </a:solidFill>
                          <a:effectLst/>
                          <a:latin typeface="맑은 고딕"/>
                        </a:rPr>
                        <a:t> region</a:t>
                      </a:r>
                      <a:r>
                        <a:rPr lang="ko-KR" altLang="en-US" sz="1200" b="0" i="0" u="none" strike="noStrike" dirty="0">
                          <a:solidFill>
                            <a:srgbClr val="000000"/>
                          </a:solidFill>
                          <a:effectLst/>
                          <a:latin typeface="맑은 고딕"/>
                        </a:rPr>
                        <a:t> </a:t>
                      </a:r>
                    </a:p>
                  </a:txBody>
                  <a:tcPr marL="6350" marR="6350" marT="6350" marB="0" anchor="ctr">
                    <a:lnL>
                      <a:noFill/>
                    </a:lnL>
                    <a:lnR>
                      <a:noFill/>
                    </a:lnR>
                    <a:lnT>
                      <a:noFill/>
                    </a:lnT>
                    <a:lnB>
                      <a:noFill/>
                    </a:lnB>
                  </a:tcPr>
                </a:tc>
                <a:tc hMerge="1">
                  <a:txBody>
                    <a:bodyPr/>
                    <a:lstStyle/>
                    <a:p>
                      <a:pPr latinLnBrk="1"/>
                      <a:endParaRPr lang="ko-KR" altLang="en-US"/>
                    </a:p>
                  </a:txBody>
                  <a:tcPr/>
                </a:tc>
                <a:tc gridSpan="3">
                  <a:txBody>
                    <a:bodyPr/>
                    <a:lstStyle/>
                    <a:p>
                      <a:pPr algn="l" fontAlgn="ctr"/>
                      <a:r>
                        <a:rPr lang="en-US" sz="1200" b="0" i="0" u="none" strike="noStrike" dirty="0">
                          <a:solidFill>
                            <a:srgbClr val="000000"/>
                          </a:solidFill>
                          <a:effectLst/>
                          <a:latin typeface="맑은 고딕"/>
                        </a:rPr>
                        <a:t>t(0975, Degree</a:t>
                      </a:r>
                      <a:r>
                        <a:rPr lang="en-US" sz="1200" b="0" i="0" u="none" strike="noStrike" baseline="0" dirty="0">
                          <a:solidFill>
                            <a:srgbClr val="000000"/>
                          </a:solidFill>
                          <a:effectLst/>
                          <a:latin typeface="맑은 고딕"/>
                        </a:rPr>
                        <a:t> of freedom</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2.009575</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1"/>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latinLnBrk="1"/>
                      <a:endParaRPr lang="ko-KR" altLang="en-US"/>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gridSpan="2">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gridSpan="2">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2"/>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1200" b="0" i="0" u="none" strike="noStrike" dirty="0">
                          <a:solidFill>
                            <a:srgbClr val="000000"/>
                          </a:solidFill>
                          <a:effectLst/>
                          <a:latin typeface="+mn-lt"/>
                        </a:rPr>
                        <a:t>Synthesis</a:t>
                      </a:r>
                      <a:endParaRPr lang="ko-KR" altLang="en-US" sz="1200" b="0" i="0" u="none" strike="noStrike" dirty="0">
                        <a:solidFill>
                          <a:srgbClr val="000000"/>
                        </a:solidFill>
                        <a:effectLst/>
                        <a:latin typeface="+mn-lt"/>
                      </a:endParaRPr>
                    </a:p>
                    <a:p>
                      <a:pPr algn="l" fontAlgn="ctr"/>
                      <a:endParaRPr lang="ko-KR" altLang="en-US" sz="1200" b="0" i="0" u="none" strike="noStrike" dirty="0">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gridSpan="2">
                  <a:txBody>
                    <a:bodyPr/>
                    <a:lstStyle/>
                    <a:p>
                      <a:pPr algn="ctr" fontAlgn="ctr"/>
                      <a:r>
                        <a:rPr lang="en-US" sz="1200" b="0" i="0" u="none" strike="noStrike">
                          <a:solidFill>
                            <a:srgbClr val="000000"/>
                          </a:solidFill>
                          <a:effectLst/>
                          <a:latin typeface="맑은 고딕"/>
                        </a:rPr>
                        <a:t>%EV</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pPr latinLnBrk="1"/>
                      <a:endParaRPr lang="ko-KR" altLang="en-US"/>
                    </a:p>
                  </a:txBody>
                  <a:tcPr/>
                </a:tc>
                <a:tc gridSpan="2">
                  <a:txBody>
                    <a:bodyPr/>
                    <a:lstStyle/>
                    <a:p>
                      <a:pPr algn="ctr" fontAlgn="ctr"/>
                      <a:r>
                        <a:rPr lang="en-US" altLang="ko-KR" sz="1200" b="0" i="0" u="none" strike="noStrike" dirty="0">
                          <a:solidFill>
                            <a:srgbClr val="000000"/>
                          </a:solidFill>
                          <a:effectLst/>
                          <a:latin typeface="맑은 고딕"/>
                        </a:rPr>
                        <a:t>Bias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hMerge="1">
                  <a:txBody>
                    <a:bodyPr/>
                    <a:lstStyle/>
                    <a:p>
                      <a:pPr latinLnBrk="1"/>
                      <a:endParaRPr lang="ko-KR" altLang="en-US"/>
                    </a:p>
                  </a:txBody>
                  <a:tcPr/>
                </a:tc>
                <a:tc gridSpan="2">
                  <a:txBody>
                    <a:bodyPr/>
                    <a:lstStyle/>
                    <a:p>
                      <a:pPr algn="l" fontAlgn="ctr"/>
                      <a:endParaRPr lang="ko-KR" altLang="en-US" sz="1200" b="0" i="0" u="none" strike="noStrike">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3"/>
                  </a:ext>
                </a:extLst>
              </a:tr>
              <a:tr h="215900">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gridSpan="2">
                  <a:txBody>
                    <a:bodyPr/>
                    <a:lstStyle/>
                    <a:p>
                      <a:pPr algn="ctr" fontAlgn="ctr"/>
                      <a:r>
                        <a:rPr lang="en-US" altLang="ko-KR" sz="1200" b="0" i="0" u="none" strike="noStrike" dirty="0">
                          <a:solidFill>
                            <a:srgbClr val="000000"/>
                          </a:solidFill>
                          <a:effectLst/>
                          <a:latin typeface="맑은 고딕"/>
                        </a:rPr>
                        <a:t>Pass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gridSpan="2">
                  <a:txBody>
                    <a:bodyPr/>
                    <a:lstStyle/>
                    <a:p>
                      <a:pPr algn="ctr" fontAlgn="ctr"/>
                      <a:r>
                        <a:rPr lang="en-US" altLang="ko-KR" sz="1200" b="0" i="0" u="none" strike="noStrike" dirty="0">
                          <a:solidFill>
                            <a:srgbClr val="000000"/>
                          </a:solidFill>
                          <a:effectLst/>
                          <a:latin typeface="맑은 고딕"/>
                        </a:rPr>
                        <a:t>No</a:t>
                      </a:r>
                      <a:r>
                        <a:rPr lang="en-US" altLang="ko-KR" sz="1200" b="0" i="0" u="none" strike="noStrike" baseline="0" dirty="0">
                          <a:solidFill>
                            <a:srgbClr val="000000"/>
                          </a:solidFill>
                          <a:effectLst/>
                          <a:latin typeface="맑은 고딕"/>
                        </a:rPr>
                        <a:t> Bias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gridSpan="2">
                  <a:txBody>
                    <a:bodyPr/>
                    <a:lstStyle/>
                    <a:p>
                      <a:pPr algn="l" fontAlgn="ctr"/>
                      <a:endParaRPr lang="ko-KR" altLang="en-US" sz="1200" b="0" i="0" u="none" strike="noStrike">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4"/>
                  </a:ext>
                </a:extLst>
              </a:tr>
            </a:tbl>
          </a:graphicData>
        </a:graphic>
      </p:graphicFrame>
      <p:sp>
        <p:nvSpPr>
          <p:cNvPr id="7" name="TextBox 6"/>
          <p:cNvSpPr txBox="1"/>
          <p:nvPr/>
        </p:nvSpPr>
        <p:spPr>
          <a:xfrm>
            <a:off x="6786578" y="188640"/>
            <a:ext cx="2252476" cy="369332"/>
          </a:xfrm>
          <a:prstGeom prst="rect">
            <a:avLst/>
          </a:prstGeom>
          <a:noFill/>
        </p:spPr>
        <p:txBody>
          <a:bodyPr wrap="none" rtlCol="0">
            <a:spAutoFit/>
          </a:bodyPr>
          <a:lstStyle/>
          <a:p>
            <a:r>
              <a:rPr lang="en-US" altLang="ko-KR" dirty="0"/>
              <a:t>(One side standard)</a:t>
            </a:r>
            <a:endParaRPr lang="ko-KR" altLang="en-US" dirty="0"/>
          </a:p>
        </p:txBody>
      </p:sp>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65</a:t>
            </a:fld>
            <a:endParaRPr lang="ko-KR" altLang="en-US" dirty="0"/>
          </a:p>
        </p:txBody>
      </p:sp>
    </p:spTree>
    <p:extLst>
      <p:ext uri="{BB962C8B-B14F-4D97-AF65-F5344CB8AC3E}">
        <p14:creationId xmlns:p14="http://schemas.microsoft.com/office/powerpoint/2010/main" val="65307517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146776"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en-US" altLang="ko-KR" sz="2000" b="1" dirty="0"/>
              <a:t> </a:t>
            </a:r>
            <a:r>
              <a:rPr lang="ko-KR" altLang="en-US" sz="2000" b="1" dirty="0"/>
              <a:t> </a:t>
            </a:r>
          </a:p>
        </p:txBody>
      </p:sp>
      <p:sp>
        <p:nvSpPr>
          <p:cNvPr id="3" name="TextBox 2"/>
          <p:cNvSpPr txBox="1"/>
          <p:nvPr/>
        </p:nvSpPr>
        <p:spPr>
          <a:xfrm>
            <a:off x="6444208" y="188640"/>
            <a:ext cx="2502608" cy="369332"/>
          </a:xfrm>
          <a:prstGeom prst="rect">
            <a:avLst/>
          </a:prstGeom>
          <a:noFill/>
        </p:spPr>
        <p:txBody>
          <a:bodyPr wrap="none" rtlCol="0">
            <a:spAutoFit/>
          </a:bodyPr>
          <a:lstStyle/>
          <a:p>
            <a:r>
              <a:rPr lang="en-US" altLang="ko-KR" dirty="0"/>
              <a:t>(</a:t>
            </a:r>
            <a:r>
              <a:rPr lang="en-US" altLang="ko-KR" dirty="0" err="1"/>
              <a:t>Tiêu</a:t>
            </a:r>
            <a:r>
              <a:rPr lang="en-US" altLang="ko-KR" dirty="0"/>
              <a:t> </a:t>
            </a:r>
            <a:r>
              <a:rPr lang="en-US" altLang="ko-KR" dirty="0" err="1"/>
              <a:t>chuẩn</a:t>
            </a:r>
            <a:r>
              <a:rPr lang="en-US" altLang="ko-KR" dirty="0"/>
              <a:t> </a:t>
            </a:r>
            <a:r>
              <a:rPr lang="en-US" altLang="ko-KR" dirty="0" err="1"/>
              <a:t>một</a:t>
            </a:r>
            <a:r>
              <a:rPr lang="en-US" altLang="ko-KR" dirty="0"/>
              <a:t> </a:t>
            </a:r>
            <a:r>
              <a:rPr lang="en-US" altLang="ko-KR" dirty="0" err="1"/>
              <a:t>phía</a:t>
            </a:r>
            <a:r>
              <a:rPr lang="en-US" altLang="ko-KR" dirty="0"/>
              <a:t>)</a:t>
            </a:r>
            <a:endParaRPr lang="ko-KR" altLang="en-US" dirty="0"/>
          </a:p>
        </p:txBody>
      </p:sp>
      <p:sp>
        <p:nvSpPr>
          <p:cNvPr id="4" name="직사각형 3"/>
          <p:cNvSpPr/>
          <p:nvPr/>
        </p:nvSpPr>
        <p:spPr>
          <a:xfrm>
            <a:off x="323528" y="980728"/>
            <a:ext cx="8568952" cy="1800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5" name="TextBox 4"/>
          <p:cNvSpPr txBox="1"/>
          <p:nvPr/>
        </p:nvSpPr>
        <p:spPr>
          <a:xfrm>
            <a:off x="397974" y="1000760"/>
            <a:ext cx="8422498" cy="1708160"/>
          </a:xfrm>
          <a:prstGeom prst="rect">
            <a:avLst/>
          </a:prstGeom>
          <a:noFill/>
        </p:spPr>
        <p:txBody>
          <a:bodyPr wrap="square" rtlCol="0">
            <a:spAutoFit/>
          </a:bodyPr>
          <a:lstStyle/>
          <a:p>
            <a:pPr>
              <a:lnSpc>
                <a:spcPct val="150000"/>
              </a:lnSpc>
            </a:pPr>
            <a:r>
              <a:rPr lang="en-US" altLang="ko-KR" sz="1400" dirty="0" err="1"/>
              <a:t>Tại</a:t>
            </a:r>
            <a:r>
              <a:rPr lang="en-US" altLang="ko-KR" sz="1400" dirty="0"/>
              <a:t> </a:t>
            </a:r>
            <a:r>
              <a:rPr lang="en-US" altLang="ko-KR" sz="1400" dirty="0" err="1"/>
              <a:t>một</a:t>
            </a:r>
            <a:r>
              <a:rPr lang="en-US" altLang="ko-KR" sz="1400" dirty="0"/>
              <a:t> </a:t>
            </a:r>
            <a:r>
              <a:rPr lang="en-US" altLang="ko-KR" sz="1400" dirty="0" err="1"/>
              <a:t>công</a:t>
            </a:r>
            <a:r>
              <a:rPr lang="en-US" altLang="ko-KR" sz="1400" dirty="0"/>
              <a:t> </a:t>
            </a:r>
            <a:r>
              <a:rPr lang="en-US" altLang="ko-KR" sz="1400" dirty="0" err="1"/>
              <a:t>ty</a:t>
            </a:r>
            <a:r>
              <a:rPr lang="en-US" altLang="ko-KR" sz="1400" dirty="0"/>
              <a:t> </a:t>
            </a:r>
            <a:r>
              <a:rPr lang="en-US" altLang="ko-KR" sz="1400" dirty="0" err="1"/>
              <a:t>chế</a:t>
            </a:r>
            <a:r>
              <a:rPr lang="en-US" altLang="ko-KR" sz="1400" dirty="0"/>
              <a:t> </a:t>
            </a:r>
            <a:r>
              <a:rPr lang="en-US" altLang="ko-KR" sz="1400" dirty="0" err="1"/>
              <a:t>tạo</a:t>
            </a:r>
            <a:r>
              <a:rPr lang="en-US" altLang="ko-KR" sz="1400" dirty="0"/>
              <a:t> </a:t>
            </a:r>
            <a:r>
              <a:rPr lang="en-US" altLang="ko-KR" sz="1400" dirty="0" err="1"/>
              <a:t>muốn</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năng</a:t>
            </a:r>
            <a:r>
              <a:rPr lang="en-US" altLang="ko-KR" sz="1400" dirty="0"/>
              <a:t> </a:t>
            </a:r>
            <a:r>
              <a:rPr lang="en-US" altLang="ko-KR" sz="1400" dirty="0" err="1"/>
              <a:t>lực</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của</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chỉ</a:t>
            </a:r>
            <a:r>
              <a:rPr lang="en-US" altLang="ko-KR" sz="1400" dirty="0"/>
              <a:t> </a:t>
            </a:r>
            <a:r>
              <a:rPr lang="en-US" altLang="ko-KR" sz="1400" dirty="0" err="1"/>
              <a:t>số</a:t>
            </a:r>
            <a:r>
              <a:rPr lang="en-US" altLang="ko-KR" sz="1400" dirty="0"/>
              <a:t> </a:t>
            </a:r>
            <a:r>
              <a:rPr lang="en-US" altLang="ko-KR" sz="1400" dirty="0" err="1"/>
              <a:t>của</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Dụng</a:t>
            </a:r>
            <a:endParaRPr lang="en-US" altLang="ko-KR" sz="1400" dirty="0"/>
          </a:p>
          <a:p>
            <a:pPr>
              <a:lnSpc>
                <a:spcPct val="150000"/>
              </a:lnSpc>
            </a:pPr>
            <a:r>
              <a:rPr lang="en-US" altLang="ko-KR" sz="1400" dirty="0" err="1"/>
              <a:t>cụ</a:t>
            </a:r>
            <a:r>
              <a:rPr lang="en-US" altLang="ko-KR" sz="1400" dirty="0"/>
              <a:t> </a:t>
            </a:r>
            <a:r>
              <a:rPr lang="en-US" altLang="ko-KR" sz="1400" dirty="0" err="1"/>
              <a:t>đo</a:t>
            </a:r>
            <a:r>
              <a:rPr lang="en-US" altLang="ko-KR" sz="1400" dirty="0"/>
              <a:t> </a:t>
            </a:r>
            <a:r>
              <a:rPr lang="en-US" altLang="ko-KR" sz="1400" dirty="0" err="1"/>
              <a:t>này</a:t>
            </a:r>
            <a:r>
              <a:rPr lang="en-US" altLang="ko-KR" sz="1400" dirty="0"/>
              <a:t> </a:t>
            </a:r>
            <a:r>
              <a:rPr lang="en-US" altLang="ko-KR" sz="1400" dirty="0" err="1"/>
              <a:t>có</a:t>
            </a:r>
            <a:r>
              <a:rPr lang="en-US" altLang="ko-KR" sz="1400" dirty="0"/>
              <a:t> </a:t>
            </a:r>
            <a:r>
              <a:rPr lang="en-US" altLang="ko-KR" sz="1400" dirty="0" err="1"/>
              <a:t>đơn</a:t>
            </a:r>
            <a:r>
              <a:rPr lang="en-US" altLang="ko-KR" sz="1400" dirty="0"/>
              <a:t> </a:t>
            </a:r>
            <a:r>
              <a:rPr lang="en-US" altLang="ko-KR" sz="1400" dirty="0" err="1"/>
              <a:t>vị</a:t>
            </a:r>
            <a:r>
              <a:rPr lang="en-US" altLang="ko-KR" sz="1400" dirty="0"/>
              <a:t> </a:t>
            </a:r>
            <a:r>
              <a:rPr lang="en-US" altLang="ko-KR" sz="1400" dirty="0" err="1"/>
              <a:t>đo</a:t>
            </a:r>
            <a:r>
              <a:rPr lang="en-US" altLang="ko-KR" sz="1400" dirty="0"/>
              <a:t>(</a:t>
            </a:r>
            <a:r>
              <a:rPr lang="en-US" altLang="ko-KR" sz="1400" dirty="0" err="1"/>
              <a:t>độ</a:t>
            </a:r>
            <a:r>
              <a:rPr lang="en-US" altLang="ko-KR" sz="1400" dirty="0"/>
              <a:t> </a:t>
            </a:r>
            <a:r>
              <a:rPr lang="en-US" altLang="ko-KR" sz="1400" dirty="0" err="1"/>
              <a:t>phân</a:t>
            </a:r>
            <a:r>
              <a:rPr lang="en-US" altLang="ko-KR" sz="1400" dirty="0"/>
              <a:t> </a:t>
            </a:r>
            <a:r>
              <a:rPr lang="en-US" altLang="ko-KR" sz="1400" dirty="0" err="1"/>
              <a:t>giải</a:t>
            </a:r>
            <a:r>
              <a:rPr lang="en-US" altLang="ko-KR" sz="1400" dirty="0"/>
              <a:t>) </a:t>
            </a:r>
            <a:r>
              <a:rPr lang="en-US" altLang="ko-KR" sz="1400" dirty="0" err="1"/>
              <a:t>là</a:t>
            </a:r>
            <a:r>
              <a:rPr lang="en-US" altLang="ko-KR" sz="1400" dirty="0"/>
              <a:t> 0.001  </a:t>
            </a:r>
            <a:r>
              <a:rPr lang="en-US" altLang="ko-KR" sz="1400" dirty="0" err="1"/>
              <a:t>Và</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chỉ</a:t>
            </a:r>
            <a:r>
              <a:rPr lang="en-US" altLang="ko-KR" sz="1400" dirty="0"/>
              <a:t> </a:t>
            </a:r>
            <a:r>
              <a:rPr lang="en-US" altLang="ko-KR" sz="1400" dirty="0" err="1"/>
              <a:t>số</a:t>
            </a:r>
            <a:r>
              <a:rPr lang="en-US" altLang="ko-KR" sz="1400" dirty="0"/>
              <a:t> </a:t>
            </a:r>
            <a:r>
              <a:rPr lang="en-US" altLang="ko-KR" sz="1400" dirty="0" err="1"/>
              <a:t>của</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áp</a:t>
            </a:r>
            <a:r>
              <a:rPr lang="en-US" altLang="ko-KR" sz="1400" dirty="0"/>
              <a:t> </a:t>
            </a:r>
            <a:r>
              <a:rPr lang="en-US" altLang="ko-KR" sz="1400" dirty="0" err="1"/>
              <a:t>dụng</a:t>
            </a:r>
            <a:r>
              <a:rPr lang="en-US" altLang="ko-KR" sz="1400" dirty="0"/>
              <a:t> </a:t>
            </a:r>
            <a:r>
              <a:rPr lang="en-US" altLang="ko-KR" sz="1400" dirty="0" err="1"/>
              <a:t>chỉ</a:t>
            </a:r>
            <a:r>
              <a:rPr lang="en-US" altLang="ko-KR" sz="1400" dirty="0"/>
              <a:t> </a:t>
            </a:r>
            <a:r>
              <a:rPr lang="en-US" altLang="ko-KR" sz="1400" dirty="0" err="1"/>
              <a:t>có</a:t>
            </a:r>
            <a:r>
              <a:rPr lang="en-US" altLang="ko-KR" sz="1400" dirty="0"/>
              <a:t> </a:t>
            </a:r>
            <a:r>
              <a:rPr lang="en-US" altLang="ko-KR" sz="1400" dirty="0" err="1"/>
              <a:t>giới</a:t>
            </a:r>
            <a:r>
              <a:rPr lang="en-US" altLang="ko-KR" sz="1400" dirty="0"/>
              <a:t> </a:t>
            </a:r>
            <a:r>
              <a:rPr lang="en-US" altLang="ko-KR" sz="1400" dirty="0" err="1"/>
              <a:t>hạn</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dưới</a:t>
            </a:r>
            <a:r>
              <a:rPr lang="en-US" altLang="ko-KR" sz="1400" dirty="0"/>
              <a:t> LSL = 20 .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thử</a:t>
            </a:r>
            <a:r>
              <a:rPr lang="en-US" altLang="ko-KR" sz="1400" dirty="0"/>
              <a:t> </a:t>
            </a:r>
            <a:r>
              <a:rPr lang="en-US" altLang="ko-KR" sz="1400" dirty="0" err="1"/>
              <a:t>nghiệm</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để</a:t>
            </a:r>
            <a:r>
              <a:rPr lang="en-US" altLang="ko-KR" sz="1400" dirty="0"/>
              <a:t> </a:t>
            </a:r>
            <a:r>
              <a:rPr lang="en-US" altLang="ko-KR" sz="1400" dirty="0" err="1"/>
              <a:t>thực</a:t>
            </a:r>
            <a:r>
              <a:rPr lang="en-US" altLang="ko-KR" sz="1400" dirty="0"/>
              <a:t> </a:t>
            </a:r>
            <a:r>
              <a:rPr lang="en-US" altLang="ko-KR" sz="1400" dirty="0" err="1"/>
              <a:t>hiện</a:t>
            </a:r>
            <a:r>
              <a:rPr lang="en-US" altLang="ko-KR" sz="1400" dirty="0"/>
              <a:t> Type 1 Study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tiêu</a:t>
            </a:r>
            <a:r>
              <a:rPr lang="en-US" altLang="ko-KR" sz="1400" dirty="0"/>
              <a:t> </a:t>
            </a:r>
            <a:r>
              <a:rPr lang="en-US" altLang="ko-KR" sz="1400" dirty="0" err="1"/>
              <a:t>chuẩn</a:t>
            </a:r>
            <a:r>
              <a:rPr lang="ko-KR" altLang="en-US" sz="1400" dirty="0"/>
              <a:t> </a:t>
            </a:r>
            <a:r>
              <a:rPr lang="en-US" altLang="ko-KR" sz="1400" dirty="0" err="1"/>
              <a:t>xm</a:t>
            </a:r>
            <a:r>
              <a:rPr lang="ko-KR" altLang="en-US" sz="1400" dirty="0"/>
              <a:t> </a:t>
            </a:r>
            <a:r>
              <a:rPr lang="en-US" altLang="ko-KR" sz="1400" dirty="0" err="1"/>
              <a:t>là</a:t>
            </a:r>
            <a:r>
              <a:rPr lang="ko-KR" altLang="en-US" sz="1400" dirty="0"/>
              <a:t> </a:t>
            </a:r>
            <a:r>
              <a:rPr lang="en-US" altLang="ko-KR" sz="1400" dirty="0"/>
              <a:t>22,</a:t>
            </a:r>
            <a:r>
              <a:rPr lang="ko-KR" altLang="en-US" sz="1400" dirty="0"/>
              <a:t> </a:t>
            </a:r>
            <a:r>
              <a:rPr lang="en-US" altLang="ko-KR" sz="1400" dirty="0" err="1"/>
              <a:t>sau</a:t>
            </a:r>
            <a:r>
              <a:rPr lang="en-US" altLang="ko-KR" sz="1400" dirty="0"/>
              <a:t> </a:t>
            </a:r>
            <a:r>
              <a:rPr lang="en-US" altLang="ko-KR" sz="1400" dirty="0" err="1"/>
              <a:t>khi</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bằng</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này</a:t>
            </a:r>
            <a:r>
              <a:rPr lang="en-US" altLang="ko-KR" sz="1400" dirty="0"/>
              <a:t> 50 </a:t>
            </a:r>
            <a:r>
              <a:rPr lang="en-US" altLang="ko-KR" sz="1400" dirty="0" err="1"/>
              <a:t>lần</a:t>
            </a:r>
            <a:r>
              <a:rPr lang="en-US" altLang="ko-KR" sz="1400" dirty="0"/>
              <a:t> </a:t>
            </a:r>
            <a:r>
              <a:rPr lang="en-US" altLang="ko-KR" sz="1400" dirty="0" err="1"/>
              <a:t>nhận</a:t>
            </a:r>
            <a:r>
              <a:rPr lang="en-US" altLang="ko-KR" sz="1400" dirty="0"/>
              <a:t> </a:t>
            </a:r>
            <a:r>
              <a:rPr lang="en-US" altLang="ko-KR" sz="1400" dirty="0" err="1"/>
              <a:t>được</a:t>
            </a:r>
            <a:r>
              <a:rPr lang="en-US" altLang="ko-KR" sz="1400" dirty="0"/>
              <a:t> Data </a:t>
            </a:r>
            <a:r>
              <a:rPr lang="en-US" altLang="ko-KR" sz="1400" dirty="0" err="1"/>
              <a:t>như</a:t>
            </a:r>
            <a:r>
              <a:rPr lang="en-US" altLang="ko-KR" sz="1400" dirty="0"/>
              <a:t> </a:t>
            </a:r>
            <a:r>
              <a:rPr lang="en-US" altLang="ko-KR" sz="1400" dirty="0" err="1"/>
              <a:t>sau</a:t>
            </a:r>
            <a:r>
              <a:rPr lang="en-US" altLang="ko-KR" sz="1400" dirty="0"/>
              <a:t>. </a:t>
            </a:r>
            <a:r>
              <a:rPr lang="en-US" altLang="ko-KR" sz="1400" dirty="0" err="1"/>
              <a:t>Và</a:t>
            </a:r>
            <a:r>
              <a:rPr lang="en-US" altLang="ko-KR" sz="1400" dirty="0"/>
              <a:t> </a:t>
            </a:r>
            <a:r>
              <a:rPr lang="en-US" altLang="ko-KR" sz="1400" dirty="0" err="1"/>
              <a:t>để</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Độ</a:t>
            </a:r>
            <a:r>
              <a:rPr lang="en-US" altLang="ko-KR" sz="1400" dirty="0"/>
              <a:t> </a:t>
            </a:r>
            <a:r>
              <a:rPr lang="en-US" altLang="ko-KR" sz="1400" dirty="0" err="1"/>
              <a:t>lặp</a:t>
            </a:r>
            <a:r>
              <a:rPr lang="en-US" altLang="ko-KR" sz="1400" dirty="0"/>
              <a:t> </a:t>
            </a:r>
            <a:r>
              <a:rPr lang="en-US" altLang="ko-KR" sz="1400" dirty="0" err="1"/>
              <a:t>lại</a:t>
            </a:r>
            <a:r>
              <a:rPr lang="en-US" altLang="ko-KR" sz="1400" dirty="0"/>
              <a:t> </a:t>
            </a:r>
            <a:r>
              <a:rPr lang="en-US" altLang="ko-KR" sz="1400" dirty="0" err="1"/>
              <a:t>tổng</a:t>
            </a:r>
            <a:r>
              <a:rPr lang="en-US" altLang="ko-KR" sz="1400" dirty="0"/>
              <a:t> </a:t>
            </a:r>
            <a:r>
              <a:rPr lang="en-US" altLang="ko-KR" sz="1400" dirty="0" err="1"/>
              <a:t>lượng</a:t>
            </a:r>
            <a:r>
              <a:rPr lang="en-US" altLang="ko-KR" sz="1400" dirty="0"/>
              <a:t> </a:t>
            </a:r>
            <a:r>
              <a:rPr lang="en-US" altLang="ko-KR" sz="1400" dirty="0" err="1"/>
              <a:t>biến</a:t>
            </a:r>
            <a:r>
              <a:rPr lang="en-US" altLang="ko-KR" sz="1400" dirty="0"/>
              <a:t> </a:t>
            </a:r>
            <a:r>
              <a:rPr lang="en-US" altLang="ko-KR" sz="1400" dirty="0" err="1"/>
              <a:t>động</a:t>
            </a:r>
            <a:r>
              <a:rPr lang="en-US" altLang="ko-KR" sz="1400" dirty="0"/>
              <a:t> σ total </a:t>
            </a:r>
            <a:r>
              <a:rPr lang="en-US" altLang="ko-KR" sz="1400" dirty="0" err="1"/>
              <a:t>là</a:t>
            </a:r>
            <a:r>
              <a:rPr lang="en-US" altLang="ko-KR" sz="1400" dirty="0"/>
              <a:t> </a:t>
            </a:r>
            <a:r>
              <a:rPr lang="ko-KR" altLang="en-US" sz="1400" dirty="0"/>
              <a:t> </a:t>
            </a:r>
            <a:r>
              <a:rPr lang="en-US" altLang="ko-KR" sz="1400" dirty="0"/>
              <a:t>15.5</a:t>
            </a:r>
            <a:endParaRPr lang="ko-KR" altLang="en-US" sz="1400" dirty="0"/>
          </a:p>
        </p:txBody>
      </p:sp>
      <p:graphicFrame>
        <p:nvGraphicFramePr>
          <p:cNvPr id="8" name="표 7"/>
          <p:cNvGraphicFramePr>
            <a:graphicFrameLocks noGrp="1"/>
          </p:cNvGraphicFramePr>
          <p:nvPr>
            <p:extLst>
              <p:ext uri="{D42A27DB-BD31-4B8C-83A1-F6EECF244321}">
                <p14:modId xmlns:p14="http://schemas.microsoft.com/office/powerpoint/2010/main" val="315046242"/>
              </p:ext>
            </p:extLst>
          </p:nvPr>
        </p:nvGraphicFramePr>
        <p:xfrm>
          <a:off x="1016000" y="3284984"/>
          <a:ext cx="7112000" cy="1800202"/>
        </p:xfrm>
        <a:graphic>
          <a:graphicData uri="http://schemas.openxmlformats.org/drawingml/2006/table">
            <a:tbl>
              <a:tblPr/>
              <a:tblGrid>
                <a:gridCol w="711200">
                  <a:extLst>
                    <a:ext uri="{9D8B030D-6E8A-4147-A177-3AD203B41FA5}">
                      <a16:colId xmlns:a16="http://schemas.microsoft.com/office/drawing/2014/main" val="20000"/>
                    </a:ext>
                  </a:extLst>
                </a:gridCol>
                <a:gridCol w="71120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711200">
                  <a:extLst>
                    <a:ext uri="{9D8B030D-6E8A-4147-A177-3AD203B41FA5}">
                      <a16:colId xmlns:a16="http://schemas.microsoft.com/office/drawing/2014/main" val="20007"/>
                    </a:ext>
                  </a:extLst>
                </a:gridCol>
                <a:gridCol w="711200">
                  <a:extLst>
                    <a:ext uri="{9D8B030D-6E8A-4147-A177-3AD203B41FA5}">
                      <a16:colId xmlns:a16="http://schemas.microsoft.com/office/drawing/2014/main" val="20008"/>
                    </a:ext>
                  </a:extLst>
                </a:gridCol>
                <a:gridCol w="711200">
                  <a:extLst>
                    <a:ext uri="{9D8B030D-6E8A-4147-A177-3AD203B41FA5}">
                      <a16:colId xmlns:a16="http://schemas.microsoft.com/office/drawing/2014/main" val="20009"/>
                    </a:ext>
                  </a:extLst>
                </a:gridCol>
              </a:tblGrid>
              <a:tr h="415683">
                <a:tc>
                  <a:txBody>
                    <a:bodyPr/>
                    <a:lstStyle/>
                    <a:p>
                      <a:pPr algn="ctr" fontAlgn="ctr"/>
                      <a:r>
                        <a:rPr lang="en-US" altLang="ko-KR" sz="1200" b="0" i="0" u="none" strike="noStrike" dirty="0">
                          <a:solidFill>
                            <a:srgbClr val="000000"/>
                          </a:solidFill>
                          <a:effectLst/>
                          <a:latin typeface="맑은 고딕"/>
                        </a:rPr>
                        <a:t>21.670</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22.318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22.094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21.507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21.798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22.285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21.824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21.999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21.961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21.983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43675">
                <a:tc>
                  <a:txBody>
                    <a:bodyPr/>
                    <a:lstStyle/>
                    <a:p>
                      <a:pPr algn="ctr" fontAlgn="ctr"/>
                      <a:r>
                        <a:rPr lang="en-US" altLang="ko-KR" sz="1200" b="0" i="0" u="none" strike="noStrike">
                          <a:solidFill>
                            <a:srgbClr val="000000"/>
                          </a:solidFill>
                          <a:effectLst/>
                          <a:latin typeface="맑은 고딕"/>
                        </a:rPr>
                        <a:t>21.601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21.490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21.970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22.313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22.477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21.881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21.324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22.138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21.888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22.217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43675">
                <a:tc>
                  <a:txBody>
                    <a:bodyPr/>
                    <a:lstStyle/>
                    <a:p>
                      <a:pPr algn="ctr" fontAlgn="ctr"/>
                      <a:r>
                        <a:rPr lang="en-US" altLang="ko-KR" sz="1200" b="0" i="0" u="none" strike="noStrike">
                          <a:solidFill>
                            <a:srgbClr val="000000"/>
                          </a:solidFill>
                          <a:effectLst/>
                          <a:latin typeface="맑은 고딕"/>
                        </a:rPr>
                        <a:t>21.902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21.860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22.260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21.703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21.842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21.965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21.684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21.694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21.721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43675">
                <a:tc>
                  <a:txBody>
                    <a:bodyPr/>
                    <a:lstStyle/>
                    <a:p>
                      <a:pPr algn="ctr" fontAlgn="ctr"/>
                      <a:r>
                        <a:rPr lang="en-US" altLang="ko-KR" sz="1200" b="0" i="0" u="none" strike="noStrike">
                          <a:solidFill>
                            <a:srgbClr val="000000"/>
                          </a:solidFill>
                          <a:effectLst/>
                          <a:latin typeface="맑은 고딕"/>
                        </a:rPr>
                        <a:t>21.394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22.008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22.267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21.597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21.821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21.664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22.038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22.015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21.730</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53494">
                <a:tc>
                  <a:txBody>
                    <a:bodyPr/>
                    <a:lstStyle/>
                    <a:p>
                      <a:pPr algn="ctr" fontAlgn="ctr"/>
                      <a:r>
                        <a:rPr lang="en-US" altLang="ko-KR" sz="1200" b="0" i="0" u="none" strike="noStrike">
                          <a:solidFill>
                            <a:srgbClr val="000000"/>
                          </a:solidFill>
                          <a:effectLst/>
                          <a:latin typeface="맑은 고딕"/>
                        </a:rPr>
                        <a:t>22.393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21.953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22.278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21.779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21.368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21.886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21.967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22.294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22.062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22.181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66</a:t>
            </a:fld>
            <a:endParaRPr lang="ko-KR" altLang="en-US" dirty="0"/>
          </a:p>
        </p:txBody>
      </p:sp>
    </p:spTree>
    <p:extLst>
      <p:ext uri="{BB962C8B-B14F-4D97-AF65-F5344CB8AC3E}">
        <p14:creationId xmlns:p14="http://schemas.microsoft.com/office/powerpoint/2010/main" val="65307517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10670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588224" y="188640"/>
            <a:ext cx="2502608" cy="369332"/>
          </a:xfrm>
          <a:prstGeom prst="rect">
            <a:avLst/>
          </a:prstGeom>
          <a:noFill/>
        </p:spPr>
        <p:txBody>
          <a:bodyPr wrap="none" rtlCol="0">
            <a:spAutoFit/>
          </a:bodyPr>
          <a:lstStyle/>
          <a:p>
            <a:r>
              <a:rPr lang="en-US" altLang="ko-KR" dirty="0"/>
              <a:t>(</a:t>
            </a:r>
            <a:r>
              <a:rPr lang="en-US" altLang="ko-KR" dirty="0" err="1"/>
              <a:t>Tiêu</a:t>
            </a:r>
            <a:r>
              <a:rPr lang="en-US" altLang="ko-KR" dirty="0"/>
              <a:t> </a:t>
            </a:r>
            <a:r>
              <a:rPr lang="en-US" altLang="ko-KR" dirty="0" err="1"/>
              <a:t>chuẩn</a:t>
            </a:r>
            <a:r>
              <a:rPr lang="en-US" altLang="ko-KR" dirty="0"/>
              <a:t> </a:t>
            </a:r>
            <a:r>
              <a:rPr lang="en-US" altLang="ko-KR" dirty="0" err="1"/>
              <a:t>một</a:t>
            </a:r>
            <a:r>
              <a:rPr lang="en-US" altLang="ko-KR" dirty="0"/>
              <a:t> </a:t>
            </a:r>
            <a:r>
              <a:rPr lang="en-US" altLang="ko-KR" dirty="0" err="1"/>
              <a:t>phía</a:t>
            </a:r>
            <a:r>
              <a:rPr lang="en-US" altLang="ko-KR" dirty="0"/>
              <a:t>)</a:t>
            </a:r>
            <a:endParaRPr lang="ko-KR" altLang="en-US" dirty="0"/>
          </a:p>
        </p:txBody>
      </p:sp>
      <p:sp>
        <p:nvSpPr>
          <p:cNvPr id="4" name="TextBox 3"/>
          <p:cNvSpPr txBox="1"/>
          <p:nvPr/>
        </p:nvSpPr>
        <p:spPr>
          <a:xfrm>
            <a:off x="683568" y="980728"/>
            <a:ext cx="7681526" cy="307777"/>
          </a:xfrm>
          <a:prstGeom prst="rect">
            <a:avLst/>
          </a:prstGeom>
          <a:noFill/>
        </p:spPr>
        <p:txBody>
          <a:bodyPr wrap="none" rtlCol="0">
            <a:spAutoFit/>
          </a:bodyPr>
          <a:lstStyle/>
          <a:p>
            <a:r>
              <a:rPr lang="en-US" altLang="ko-KR" sz="1400" dirty="0" err="1"/>
              <a:t>Sử</a:t>
            </a:r>
            <a:r>
              <a:rPr lang="en-US" altLang="ko-KR" sz="1400" dirty="0"/>
              <a:t> </a:t>
            </a:r>
            <a:r>
              <a:rPr lang="en-US" altLang="ko-KR" sz="1400" dirty="0" err="1"/>
              <a:t>dụng</a:t>
            </a:r>
            <a:r>
              <a:rPr lang="en-US" altLang="ko-KR" sz="1400" dirty="0"/>
              <a:t> excel </a:t>
            </a:r>
            <a:r>
              <a:rPr lang="en-US" altLang="ko-KR" sz="1400" dirty="0" err="1"/>
              <a:t>và</a:t>
            </a:r>
            <a:r>
              <a:rPr lang="en-US" altLang="ko-KR" sz="1400" dirty="0"/>
              <a:t> </a:t>
            </a:r>
            <a:r>
              <a:rPr lang="en-US" altLang="ko-KR" sz="1400" dirty="0" err="1"/>
              <a:t>tiến</a:t>
            </a:r>
            <a:r>
              <a:rPr lang="en-US" altLang="ko-KR" sz="1400" dirty="0"/>
              <a:t> </a:t>
            </a:r>
            <a:r>
              <a:rPr lang="en-US" altLang="ko-KR" sz="1400" dirty="0" err="1"/>
              <a:t>hành</a:t>
            </a:r>
            <a:r>
              <a:rPr lang="en-US" altLang="ko-KR" sz="1400" dirty="0"/>
              <a:t> Type 1 Study</a:t>
            </a:r>
            <a:r>
              <a:rPr lang="ko-KR" altLang="en-US" sz="1400" dirty="0"/>
              <a:t> </a:t>
            </a:r>
            <a:r>
              <a:rPr lang="en-US" altLang="ko-KR" sz="1400" dirty="0"/>
              <a:t>(Gage R&amp;R Worksheet &gt; Type 1 Gage </a:t>
            </a:r>
            <a:r>
              <a:rPr lang="en-US" altLang="ko-KR" sz="1400" dirty="0" err="1"/>
              <a:t>hai</a:t>
            </a:r>
            <a:r>
              <a:rPr lang="en-US" altLang="ko-KR" sz="1400" dirty="0"/>
              <a:t> </a:t>
            </a:r>
            <a:r>
              <a:rPr lang="en-US" altLang="ko-KR" sz="1400" dirty="0" err="1"/>
              <a:t>phía</a:t>
            </a:r>
            <a:r>
              <a:rPr lang="ko-KR" altLang="en-US" sz="1400" dirty="0"/>
              <a:t> </a:t>
            </a:r>
            <a:r>
              <a:rPr lang="en-US" altLang="ko-KR" sz="1400" dirty="0"/>
              <a:t>)  </a:t>
            </a:r>
            <a:endParaRPr lang="ko-KR" altLang="en-US" sz="1400" dirty="0"/>
          </a:p>
        </p:txBody>
      </p:sp>
      <p:graphicFrame>
        <p:nvGraphicFramePr>
          <p:cNvPr id="6" name="표 5"/>
          <p:cNvGraphicFramePr>
            <a:graphicFrameLocks noGrp="1"/>
          </p:cNvGraphicFramePr>
          <p:nvPr>
            <p:extLst>
              <p:ext uri="{D42A27DB-BD31-4B8C-83A1-F6EECF244321}">
                <p14:modId xmlns:p14="http://schemas.microsoft.com/office/powerpoint/2010/main" val="1433528840"/>
              </p:ext>
            </p:extLst>
          </p:nvPr>
        </p:nvGraphicFramePr>
        <p:xfrm>
          <a:off x="895670" y="1484784"/>
          <a:ext cx="7924802" cy="4974918"/>
        </p:xfrm>
        <a:graphic>
          <a:graphicData uri="http://schemas.openxmlformats.org/drawingml/2006/table">
            <a:tbl>
              <a:tblPr/>
              <a:tblGrid>
                <a:gridCol w="464186">
                  <a:extLst>
                    <a:ext uri="{9D8B030D-6E8A-4147-A177-3AD203B41FA5}">
                      <a16:colId xmlns:a16="http://schemas.microsoft.com/office/drawing/2014/main" val="20000"/>
                    </a:ext>
                  </a:extLst>
                </a:gridCol>
                <a:gridCol w="464186">
                  <a:extLst>
                    <a:ext uri="{9D8B030D-6E8A-4147-A177-3AD203B41FA5}">
                      <a16:colId xmlns:a16="http://schemas.microsoft.com/office/drawing/2014/main" val="20001"/>
                    </a:ext>
                  </a:extLst>
                </a:gridCol>
                <a:gridCol w="699643">
                  <a:extLst>
                    <a:ext uri="{9D8B030D-6E8A-4147-A177-3AD203B41FA5}">
                      <a16:colId xmlns:a16="http://schemas.microsoft.com/office/drawing/2014/main" val="20002"/>
                    </a:ext>
                  </a:extLst>
                </a:gridCol>
                <a:gridCol w="699643">
                  <a:extLst>
                    <a:ext uri="{9D8B030D-6E8A-4147-A177-3AD203B41FA5}">
                      <a16:colId xmlns:a16="http://schemas.microsoft.com/office/drawing/2014/main" val="20003"/>
                    </a:ext>
                  </a:extLst>
                </a:gridCol>
                <a:gridCol w="699643">
                  <a:extLst>
                    <a:ext uri="{9D8B030D-6E8A-4147-A177-3AD203B41FA5}">
                      <a16:colId xmlns:a16="http://schemas.microsoft.com/office/drawing/2014/main" val="20004"/>
                    </a:ext>
                  </a:extLst>
                </a:gridCol>
                <a:gridCol w="699643">
                  <a:extLst>
                    <a:ext uri="{9D8B030D-6E8A-4147-A177-3AD203B41FA5}">
                      <a16:colId xmlns:a16="http://schemas.microsoft.com/office/drawing/2014/main" val="20005"/>
                    </a:ext>
                  </a:extLst>
                </a:gridCol>
                <a:gridCol w="699643">
                  <a:extLst>
                    <a:ext uri="{9D8B030D-6E8A-4147-A177-3AD203B41FA5}">
                      <a16:colId xmlns:a16="http://schemas.microsoft.com/office/drawing/2014/main" val="20006"/>
                    </a:ext>
                  </a:extLst>
                </a:gridCol>
                <a:gridCol w="699643">
                  <a:extLst>
                    <a:ext uri="{9D8B030D-6E8A-4147-A177-3AD203B41FA5}">
                      <a16:colId xmlns:a16="http://schemas.microsoft.com/office/drawing/2014/main" val="20007"/>
                    </a:ext>
                  </a:extLst>
                </a:gridCol>
                <a:gridCol w="699643">
                  <a:extLst>
                    <a:ext uri="{9D8B030D-6E8A-4147-A177-3AD203B41FA5}">
                      <a16:colId xmlns:a16="http://schemas.microsoft.com/office/drawing/2014/main" val="20008"/>
                    </a:ext>
                  </a:extLst>
                </a:gridCol>
                <a:gridCol w="699643">
                  <a:extLst>
                    <a:ext uri="{9D8B030D-6E8A-4147-A177-3AD203B41FA5}">
                      <a16:colId xmlns:a16="http://schemas.microsoft.com/office/drawing/2014/main" val="20009"/>
                    </a:ext>
                  </a:extLst>
                </a:gridCol>
                <a:gridCol w="699643">
                  <a:extLst>
                    <a:ext uri="{9D8B030D-6E8A-4147-A177-3AD203B41FA5}">
                      <a16:colId xmlns:a16="http://schemas.microsoft.com/office/drawing/2014/main" val="20010"/>
                    </a:ext>
                  </a:extLst>
                </a:gridCol>
                <a:gridCol w="699643">
                  <a:extLst>
                    <a:ext uri="{9D8B030D-6E8A-4147-A177-3AD203B41FA5}">
                      <a16:colId xmlns:a16="http://schemas.microsoft.com/office/drawing/2014/main" val="20011"/>
                    </a:ext>
                  </a:extLst>
                </a:gridCol>
              </a:tblGrid>
              <a:tr h="221728">
                <a:tc gridSpan="2">
                  <a:txBody>
                    <a:bodyPr/>
                    <a:lstStyle/>
                    <a:p>
                      <a:pPr algn="l" fontAlgn="ctr"/>
                      <a:r>
                        <a:rPr lang="en-US" sz="1200" b="0" i="0" u="none" strike="noStrike" dirty="0">
                          <a:solidFill>
                            <a:srgbClr val="000000"/>
                          </a:solidFill>
                          <a:effectLst/>
                          <a:latin typeface="맑은 고딕"/>
                        </a:rPr>
                        <a:t>1.  LSL + 4s</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0"/>
                  </a:ext>
                </a:extLst>
              </a:tr>
              <a:tr h="569971">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 LSL + 4s</a:t>
                      </a: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Giá</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trị</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21.11439</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0</a:t>
                      </a: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gridSpan="5">
                  <a:txBody>
                    <a:bodyPr/>
                    <a:lstStyle/>
                    <a:p>
                      <a:pPr algn="l" fontAlgn="ct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Tất</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cả</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phán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đoán</a:t>
                      </a:r>
                      <a:r>
                        <a:rPr lang="en-US" altLang="ko-KR" sz="1200" b="0" i="0" u="none" strike="noStrike" dirty="0" err="1">
                          <a:solidFill>
                            <a:srgbClr val="000000"/>
                          </a:solidFill>
                          <a:effectLst/>
                          <a:latin typeface="맑은 고딕"/>
                        </a:rPr>
                        <a:t>DATA</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đều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lớn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hơn</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LSL+4s?</a:t>
                      </a:r>
                    </a:p>
                  </a:txBody>
                  <a:tcPr marL="6350" marR="6350" marT="6350" marB="0" anchor="ctr">
                    <a:lnL>
                      <a:noFill/>
                    </a:lnL>
                    <a:lnR>
                      <a:noFill/>
                    </a:lnR>
                    <a:lnT>
                      <a:noFill/>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1"/>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2"/>
                  </a:ext>
                </a:extLst>
              </a:tr>
              <a:tr h="382154">
                <a:tc gridSpan="2">
                  <a:txBody>
                    <a:bodyPr/>
                    <a:lstStyle/>
                    <a:p>
                      <a:pPr algn="l" fontAlgn="ctr"/>
                      <a:r>
                        <a:rPr lang="en-US" sz="1200" b="0" i="0" u="none" strike="noStrike" dirty="0">
                          <a:solidFill>
                            <a:srgbClr val="000000"/>
                          </a:solidFill>
                          <a:effectLst/>
                          <a:latin typeface="맑은 고딕"/>
                        </a:rPr>
                        <a:t>2. AIAG </a:t>
                      </a:r>
                    </a:p>
                    <a:p>
                      <a:pPr algn="l" fontAlgn="ctr"/>
                      <a:r>
                        <a:rPr lang="en-US" sz="1200" b="0" i="0" u="none" strike="noStrike" dirty="0" err="1">
                          <a:solidFill>
                            <a:srgbClr val="000000"/>
                          </a:solidFill>
                          <a:effectLst/>
                          <a:latin typeface="맑은 고딕"/>
                        </a:rPr>
                        <a:t>phân</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tích</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3"/>
                  </a:ext>
                </a:extLst>
              </a:tr>
              <a:tr h="569971">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dirty="0" err="1">
                          <a:solidFill>
                            <a:srgbClr val="000000"/>
                          </a:solidFill>
                          <a:effectLst/>
                          <a:latin typeface="맑은 고딕"/>
                        </a:rPr>
                        <a:t>Đánh</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giá</a:t>
                      </a:r>
                      <a:r>
                        <a:rPr lang="en-US" sz="1200" b="0" i="0" u="none" strike="noStrike" baseline="0" dirty="0">
                          <a:solidFill>
                            <a:srgbClr val="000000"/>
                          </a:solidFill>
                          <a:effectLst/>
                          <a:latin typeface="맑은 고딕"/>
                        </a:rPr>
                        <a:t> </a:t>
                      </a:r>
                      <a:r>
                        <a:rPr lang="en-US" sz="1200" b="0" i="0" u="none" strike="noStrike" dirty="0">
                          <a:solidFill>
                            <a:srgbClr val="000000"/>
                          </a:solidFill>
                          <a:effectLst/>
                          <a:latin typeface="맑은 고딕"/>
                        </a:rPr>
                        <a:t>%EV </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4"/>
                  </a:ext>
                </a:extLst>
              </a:tr>
              <a:tr h="382154">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sz="1200" b="0" i="0" u="none" strike="noStrike">
                          <a:solidFill>
                            <a:srgbClr val="000000"/>
                          </a:solidFill>
                          <a:effectLst/>
                          <a:latin typeface="맑은 고딕"/>
                        </a:rPr>
                        <a:t>%EV = </a:t>
                      </a: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6s/6</a:t>
                      </a:r>
                      <a:r>
                        <a:rPr lang="el-GR" sz="1200" b="0" i="0" u="none" strike="noStrike" dirty="0">
                          <a:solidFill>
                            <a:srgbClr val="000000"/>
                          </a:solidFill>
                          <a:effectLst/>
                          <a:latin typeface="맑은 고딕"/>
                        </a:rPr>
                        <a:t>σ</a:t>
                      </a:r>
                      <a:r>
                        <a:rPr lang="en-US" sz="1200" b="0" i="0" u="none" strike="noStrike" dirty="0">
                          <a:solidFill>
                            <a:srgbClr val="000000"/>
                          </a:solidFill>
                          <a:effectLst/>
                          <a:latin typeface="맑은 고딕"/>
                        </a:rPr>
                        <a:t>Total x 100</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r" fontAlgn="ctr"/>
                      <a:r>
                        <a:rPr lang="en-US" altLang="ko-KR" sz="1200" b="0" i="0" u="none" strike="noStrike">
                          <a:solidFill>
                            <a:srgbClr val="000000"/>
                          </a:solidFill>
                          <a:effectLst/>
                          <a:latin typeface="맑은 고딕"/>
                        </a:rPr>
                        <a:t>10.7844</a:t>
                      </a:r>
                    </a:p>
                  </a:txBody>
                  <a:tcPr marL="6350" marR="6350" marT="6350" marB="0" anchor="ctr">
                    <a:lnL>
                      <a:noFill/>
                    </a:lnL>
                    <a:lnR>
                      <a:noFill/>
                    </a:lnR>
                    <a:lnT>
                      <a:noFill/>
                    </a:lnT>
                    <a:lnB>
                      <a:noFill/>
                    </a:lnB>
                  </a:tcPr>
                </a:tc>
                <a:tc>
                  <a:txBody>
                    <a:bodyPr/>
                    <a:lstStyle/>
                    <a:p>
                      <a:pPr algn="l" fontAlgn="ctr"/>
                      <a:r>
                        <a:rPr lang="en-US" altLang="ko-KR" sz="1200" b="0" i="0" u="none" strike="noStrike">
                          <a:solidFill>
                            <a:srgbClr val="000000"/>
                          </a:solidFill>
                          <a:effectLst/>
                          <a:latin typeface="맑은 고딕"/>
                        </a:rPr>
                        <a:t>%</a:t>
                      </a: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dưới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30% </a:t>
                      </a:r>
                      <a:r>
                        <a:rPr lang="en-US" altLang="ko-KR" sz="1200" b="0" i="0" u="none" strike="noStrike"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5"/>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6"/>
                  </a:ext>
                </a:extLst>
              </a:tr>
              <a:tr h="382154">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Kiểm</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chứng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giả</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thiết</a:t>
                      </a:r>
                      <a:r>
                        <a:rPr lang="en-US" altLang="ko-KR" sz="1200" b="0" i="0" u="none" strike="noStrike" baseline="0" dirty="0">
                          <a:solidFill>
                            <a:srgbClr val="000000"/>
                          </a:solidFill>
                          <a:effectLst/>
                          <a:latin typeface="맑은 고딕"/>
                        </a:rPr>
                        <a:t> Bias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r>
                        <a:rPr lang="en-US" altLang="ko-KR" sz="1200" b="0" i="0" u="none" strike="noStrike" dirty="0" err="1">
                          <a:solidFill>
                            <a:srgbClr val="000000"/>
                          </a:solidFill>
                          <a:effectLst/>
                          <a:latin typeface="맑은 고딕"/>
                        </a:rPr>
                        <a:t>Không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có</a:t>
                      </a:r>
                      <a:r>
                        <a:rPr lang="en-US" altLang="ko-KR" sz="1200" b="0" i="0" u="none" strike="noStrike" baseline="0" dirty="0">
                          <a:solidFill>
                            <a:srgbClr val="000000"/>
                          </a:solidFill>
                          <a:effectLst/>
                          <a:latin typeface="맑은 고딕"/>
                        </a:rPr>
                        <a:t> Bias</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7"/>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H0 :  bias</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0 </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8"/>
                  </a:ext>
                </a:extLst>
              </a:tr>
              <a:tr h="382154">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Lượng</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thống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kê</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kiểm</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chứng</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gridSpan="2">
                  <a:txBody>
                    <a:bodyPr/>
                    <a:lstStyle/>
                    <a:p>
                      <a:pPr algn="l" fontAlgn="ctr"/>
                      <a:r>
                        <a:rPr lang="en-US" altLang="ko-KR" sz="1200" b="0" i="0" u="none" strike="noStrike" dirty="0" err="1">
                          <a:solidFill>
                            <a:srgbClr val="000000"/>
                          </a:solidFill>
                          <a:effectLst/>
                          <a:latin typeface="맑은 고딕"/>
                        </a:rPr>
                        <a:t>Độ</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lệch</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sai</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số</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1.891391</a:t>
                      </a: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09"/>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gridSpan="2">
                  <a:txBody>
                    <a:bodyPr/>
                    <a:lstStyle/>
                    <a:p>
                      <a:pPr algn="l" fontAlgn="ctr"/>
                      <a:r>
                        <a:rPr lang="en-US" altLang="ko-KR" sz="1200" b="0" i="0" u="none" strike="noStrike" dirty="0" err="1">
                          <a:solidFill>
                            <a:srgbClr val="000000"/>
                          </a:solidFill>
                          <a:effectLst/>
                          <a:latin typeface="맑은 고딕"/>
                        </a:rPr>
                        <a:t>Sai</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số</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0.0394</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0"/>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ko-KR" altLang="en-US" sz="1200" b="0" i="0" u="none" strike="noStrike" dirty="0">
                          <a:solidFill>
                            <a:srgbClr val="000000"/>
                          </a:solidFill>
                          <a:effectLst/>
                          <a:latin typeface="맑은 고딕"/>
                        </a:rPr>
                        <a:t>기각역 </a:t>
                      </a:r>
                    </a:p>
                  </a:txBody>
                  <a:tcPr marL="6350" marR="6350" marT="6350" marB="0" anchor="ctr">
                    <a:lnL>
                      <a:noFill/>
                    </a:lnL>
                    <a:lnR>
                      <a:noFill/>
                    </a:lnR>
                    <a:lnT>
                      <a:noFill/>
                    </a:lnT>
                    <a:lnB>
                      <a:noFill/>
                    </a:lnB>
                  </a:tcPr>
                </a:tc>
                <a:tc gridSpan="2">
                  <a:txBody>
                    <a:bodyPr/>
                    <a:lstStyle/>
                    <a:p>
                      <a:pPr algn="l" fontAlgn="ctr"/>
                      <a:r>
                        <a:rPr lang="en-US" sz="1200" b="0" i="0" u="none" strike="noStrike" dirty="0">
                          <a:solidFill>
                            <a:srgbClr val="000000"/>
                          </a:solidFill>
                          <a:effectLst/>
                          <a:latin typeface="맑은 고딕"/>
                        </a:rPr>
                        <a:t>t(0975,độ</a:t>
                      </a:r>
                      <a:r>
                        <a:rPr lang="en-US" sz="1200" b="0" i="0" u="none" strike="noStrike" baseline="0" dirty="0">
                          <a:solidFill>
                            <a:srgbClr val="000000"/>
                          </a:solidFill>
                          <a:effectLst/>
                          <a:latin typeface="맑은 고딕"/>
                        </a:rPr>
                        <a:t> </a:t>
                      </a:r>
                      <a:r>
                        <a:rPr lang="en-US" sz="1200" b="0" i="0" u="none" strike="noStrike" baseline="0" dirty="0" err="1">
                          <a:solidFill>
                            <a:srgbClr val="000000"/>
                          </a:solidFill>
                          <a:effectLst/>
                          <a:latin typeface="맑은 고딕"/>
                        </a:rPr>
                        <a:t>tự</a:t>
                      </a:r>
                      <a:r>
                        <a:rPr lang="en-US" sz="1200" b="0" i="0" u="none" strike="noStrike" baseline="0" dirty="0">
                          <a:solidFill>
                            <a:srgbClr val="000000"/>
                          </a:solidFill>
                          <a:effectLst/>
                          <a:latin typeface="맑은 고딕"/>
                        </a:rPr>
                        <a:t> do</a:t>
                      </a:r>
                      <a:r>
                        <a:rPr lang="en-US" altLang="ko-KR" sz="1200" b="0" i="0" u="none" strike="noStrike" dirty="0">
                          <a:solidFill>
                            <a:srgbClr val="000000"/>
                          </a:solidFill>
                          <a:effectLst/>
                          <a:latin typeface="맑은 고딕"/>
                        </a:rPr>
                        <a:t>)</a:t>
                      </a:r>
                    </a:p>
                  </a:txBody>
                  <a:tcPr marL="6350" marR="6350" marT="6350" marB="0" anchor="ctr">
                    <a:lnL>
                      <a:noFill/>
                    </a:lnL>
                    <a:lnR>
                      <a:noFill/>
                    </a:lnR>
                    <a:lnT>
                      <a:noFill/>
                    </a:lnT>
                    <a:lnB>
                      <a:noFill/>
                    </a:lnB>
                  </a:tcPr>
                </a:tc>
                <a:tc hMerge="1">
                  <a:txBody>
                    <a:bodyPr/>
                    <a:lstStyle/>
                    <a:p>
                      <a:pPr latinLnBrk="1"/>
                      <a:endParaRPr lang="ko-KR" altLang="en-US"/>
                    </a:p>
                  </a:txBody>
                  <a:tcPr/>
                </a:tc>
                <a:tc>
                  <a:txBody>
                    <a:bodyPr/>
                    <a:lstStyle/>
                    <a:p>
                      <a:pPr algn="r" fontAlgn="ctr"/>
                      <a:r>
                        <a:rPr lang="en-US" altLang="ko-KR" sz="1200" b="0" i="0" u="none" strike="noStrike">
                          <a:solidFill>
                            <a:srgbClr val="000000"/>
                          </a:solidFill>
                          <a:effectLst/>
                          <a:latin typeface="맑은 고딕"/>
                        </a:rPr>
                        <a:t>2.009575</a:t>
                      </a: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1"/>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2"/>
                  </a:ext>
                </a:extLst>
              </a:tr>
              <a:tr h="382154">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r>
                        <a:rPr lang="en-US" altLang="ko-KR" sz="1200" b="0" i="0" u="none" strike="noStrike" dirty="0" err="1">
                          <a:solidFill>
                            <a:srgbClr val="000000"/>
                          </a:solidFill>
                          <a:effectLst/>
                          <a:latin typeface="맑은 고딕"/>
                        </a:rPr>
                        <a:t>Tổng</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hợp</a:t>
                      </a:r>
                      <a:endParaRPr lang="ko-KR" altLang="en-US" sz="1200" b="0" i="0" u="none" strike="noStrike" dirty="0">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1200" b="0" i="0" u="none" strike="noStrike">
                          <a:solidFill>
                            <a:srgbClr val="000000"/>
                          </a:solidFill>
                          <a:effectLst/>
                          <a:latin typeface="맑은 고딕"/>
                        </a:rPr>
                        <a:t>%EV</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bias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3"/>
                  </a:ext>
                </a:extLst>
              </a:tr>
              <a:tr h="221728">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altLang="ko-KR" sz="1200" b="0" i="0" u="none" strike="noStrike" dirty="0" err="1">
                          <a:solidFill>
                            <a:srgbClr val="000000"/>
                          </a:solidFill>
                          <a:effectLst/>
                          <a:latin typeface="맑은 고딕"/>
                        </a:rPr>
                        <a:t>Đạt</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err="1">
                          <a:solidFill>
                            <a:srgbClr val="000000"/>
                          </a:solidFill>
                          <a:effectLst/>
                          <a:latin typeface="맑은 고딕"/>
                        </a:rPr>
                        <a:t>Không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có</a:t>
                      </a:r>
                      <a:r>
                        <a:rPr lang="en-US" altLang="ko-KR" sz="1200" b="0" i="0" u="none" strike="noStrike" baseline="0" dirty="0">
                          <a:solidFill>
                            <a:srgbClr val="000000"/>
                          </a:solidFill>
                          <a:effectLst/>
                          <a:latin typeface="맑은 고딕"/>
                        </a:rPr>
                        <a:t> Bias</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a:solidFill>
                          <a:srgbClr val="000000"/>
                        </a:solidFill>
                        <a:effectLst/>
                        <a:latin typeface="맑은 고딕"/>
                      </a:endParaRPr>
                    </a:p>
                  </a:txBody>
                  <a:tcPr marL="6350" marR="6350" marT="6350" marB="0" anchor="ctr">
                    <a:lnL>
                      <a:noFill/>
                    </a:lnL>
                    <a:lnR>
                      <a:noFill/>
                    </a:lnR>
                    <a:lnT>
                      <a:noFill/>
                    </a:lnT>
                    <a:lnB>
                      <a:noFill/>
                    </a:lnB>
                  </a:tcPr>
                </a:tc>
                <a:tc>
                  <a:txBody>
                    <a:bodyPr/>
                    <a:lstStyle/>
                    <a:p>
                      <a:pPr algn="l" fontAlgn="ctr"/>
                      <a:endParaRPr lang="ko-KR" altLang="en-US" sz="1200" b="0" i="0" u="none" strike="noStrike" dirty="0">
                        <a:solidFill>
                          <a:srgbClr val="000000"/>
                        </a:solidFill>
                        <a:effectLst/>
                        <a:latin typeface="맑은 고딕"/>
                      </a:endParaRPr>
                    </a:p>
                  </a:txBody>
                  <a:tcPr marL="6350" marR="6350" marT="6350" marB="0" anchor="ctr">
                    <a:lnL>
                      <a:noFill/>
                    </a:lnL>
                    <a:lnR>
                      <a:noFill/>
                    </a:lnR>
                    <a:lnT>
                      <a:noFill/>
                    </a:lnT>
                    <a:lnB>
                      <a:noFill/>
                    </a:lnB>
                  </a:tcPr>
                </a:tc>
                <a:extLst>
                  <a:ext uri="{0D108BD9-81ED-4DB2-BD59-A6C34878D82A}">
                    <a16:rowId xmlns:a16="http://schemas.microsoft.com/office/drawing/2014/main" val="10014"/>
                  </a:ext>
                </a:extLst>
              </a:tr>
            </a:tbl>
          </a:graphicData>
        </a:graphic>
      </p:graphicFrame>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67</a:t>
            </a:fld>
            <a:endParaRPr lang="ko-KR" altLang="en-US" dirty="0"/>
          </a:p>
        </p:txBody>
      </p:sp>
    </p:spTree>
    <p:extLst>
      <p:ext uri="{BB962C8B-B14F-4D97-AF65-F5344CB8AC3E}">
        <p14:creationId xmlns:p14="http://schemas.microsoft.com/office/powerpoint/2010/main" val="65307517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191386" cy="400110"/>
          </a:xfrm>
          <a:prstGeom prst="rect">
            <a:avLst/>
          </a:prstGeom>
          <a:noFill/>
        </p:spPr>
        <p:txBody>
          <a:bodyPr wrap="none" rtlCol="0">
            <a:spAutoFit/>
          </a:bodyPr>
          <a:lstStyle/>
          <a:p>
            <a:r>
              <a:rPr lang="en-US" altLang="ko-KR" sz="2000" b="1" dirty="0"/>
              <a:t>Type 1 Study Case study</a:t>
            </a:r>
            <a:endParaRPr lang="ko-KR" altLang="en-US" sz="2000" b="1" dirty="0"/>
          </a:p>
        </p:txBody>
      </p:sp>
      <p:sp>
        <p:nvSpPr>
          <p:cNvPr id="4" name="TextBox 3"/>
          <p:cNvSpPr txBox="1"/>
          <p:nvPr/>
        </p:nvSpPr>
        <p:spPr>
          <a:xfrm>
            <a:off x="683568" y="980728"/>
            <a:ext cx="2413353" cy="307777"/>
          </a:xfrm>
          <a:prstGeom prst="rect">
            <a:avLst/>
          </a:prstGeom>
          <a:noFill/>
        </p:spPr>
        <p:txBody>
          <a:bodyPr wrap="none" rtlCol="0">
            <a:spAutoFit/>
          </a:bodyPr>
          <a:lstStyle/>
          <a:p>
            <a:r>
              <a:rPr lang="en-US" altLang="ko-KR" sz="1400" dirty="0"/>
              <a:t>Type 1 study using Minitab</a:t>
            </a:r>
            <a:endParaRPr lang="ko-KR" altLang="en-US" sz="1400" dirty="0"/>
          </a:p>
        </p:txBody>
      </p:sp>
      <p:sp>
        <p:nvSpPr>
          <p:cNvPr id="6" name="TextBox 5"/>
          <p:cNvSpPr txBox="1"/>
          <p:nvPr/>
        </p:nvSpPr>
        <p:spPr>
          <a:xfrm>
            <a:off x="755576" y="1336412"/>
            <a:ext cx="4376711" cy="292388"/>
          </a:xfrm>
          <a:prstGeom prst="rect">
            <a:avLst/>
          </a:prstGeom>
          <a:noFill/>
        </p:spPr>
        <p:txBody>
          <a:bodyPr wrap="none" rtlCol="0">
            <a:spAutoFit/>
          </a:bodyPr>
          <a:lstStyle/>
          <a:p>
            <a:r>
              <a:rPr lang="en-US" altLang="ko-KR" sz="1300" dirty="0"/>
              <a:t>Stat &gt; Quality tool &gt; Gage Study &gt; Type 1 Gage Study</a:t>
            </a:r>
            <a:endParaRPr lang="ko-KR" altLang="en-US" sz="1300" dirty="0"/>
          </a:p>
        </p:txBody>
      </p:sp>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1772816"/>
            <a:ext cx="4708634" cy="3018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61142" y="1772816"/>
            <a:ext cx="3359330" cy="208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직사각형 9"/>
          <p:cNvSpPr/>
          <p:nvPr/>
        </p:nvSpPr>
        <p:spPr>
          <a:xfrm>
            <a:off x="4283968" y="2276872"/>
            <a:ext cx="720080" cy="227789"/>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11" name="꺾인 연결선 10"/>
          <p:cNvCxnSpPr>
            <a:stCxn id="10" idx="3"/>
            <a:endCxn id="7171" idx="1"/>
          </p:cNvCxnSpPr>
          <p:nvPr/>
        </p:nvCxnSpPr>
        <p:spPr>
          <a:xfrm>
            <a:off x="5004048" y="2390767"/>
            <a:ext cx="457094" cy="426165"/>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6955527" y="2473151"/>
            <a:ext cx="1477456" cy="307777"/>
          </a:xfrm>
          <a:prstGeom prst="rect">
            <a:avLst/>
          </a:prstGeom>
          <a:noFill/>
        </p:spPr>
        <p:txBody>
          <a:bodyPr wrap="none" rtlCol="0">
            <a:spAutoFit/>
          </a:bodyPr>
          <a:lstStyle/>
          <a:p>
            <a:r>
              <a:rPr lang="en-US" altLang="ko-KR" sz="1400" dirty="0">
                <a:solidFill>
                  <a:srgbClr val="FF0000"/>
                </a:solidFill>
              </a:rPr>
              <a:t>Enter resolution</a:t>
            </a:r>
            <a:endParaRPr lang="ko-KR" altLang="en-US" sz="1400" dirty="0">
              <a:solidFill>
                <a:srgbClr val="FF0000"/>
              </a:solidFill>
            </a:endParaRPr>
          </a:p>
        </p:txBody>
      </p:sp>
      <p:sp>
        <p:nvSpPr>
          <p:cNvPr id="13" name="TextBox 12"/>
          <p:cNvSpPr txBox="1"/>
          <p:nvPr/>
        </p:nvSpPr>
        <p:spPr>
          <a:xfrm>
            <a:off x="2768605" y="2564904"/>
            <a:ext cx="1465145" cy="307777"/>
          </a:xfrm>
          <a:prstGeom prst="rect">
            <a:avLst/>
          </a:prstGeom>
          <a:noFill/>
        </p:spPr>
        <p:txBody>
          <a:bodyPr wrap="none" rtlCol="0">
            <a:spAutoFit/>
          </a:bodyPr>
          <a:lstStyle/>
          <a:p>
            <a:r>
              <a:rPr lang="en-US" altLang="ko-KR" sz="1400" dirty="0">
                <a:solidFill>
                  <a:srgbClr val="FF0000"/>
                </a:solidFill>
              </a:rPr>
              <a:t>Reference value</a:t>
            </a:r>
            <a:endParaRPr lang="ko-KR" altLang="en-US" sz="1400" dirty="0">
              <a:solidFill>
                <a:srgbClr val="FF0000"/>
              </a:solidFill>
            </a:endParaRPr>
          </a:p>
        </p:txBody>
      </p:sp>
      <p:sp>
        <p:nvSpPr>
          <p:cNvPr id="14" name="TextBox 13"/>
          <p:cNvSpPr txBox="1"/>
          <p:nvPr/>
        </p:nvSpPr>
        <p:spPr>
          <a:xfrm>
            <a:off x="6786578" y="188640"/>
            <a:ext cx="2252476" cy="369332"/>
          </a:xfrm>
          <a:prstGeom prst="rect">
            <a:avLst/>
          </a:prstGeom>
          <a:noFill/>
        </p:spPr>
        <p:txBody>
          <a:bodyPr wrap="none" rtlCol="0">
            <a:spAutoFit/>
          </a:bodyPr>
          <a:lstStyle/>
          <a:p>
            <a:r>
              <a:rPr lang="en-US" altLang="ko-KR" dirty="0"/>
              <a:t>(One side standard)</a:t>
            </a:r>
            <a:endParaRPr lang="ko-KR" altLang="en-US" dirty="0"/>
          </a:p>
        </p:txBody>
      </p:sp>
      <p:sp>
        <p:nvSpPr>
          <p:cNvPr id="15"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68</a:t>
            </a:fld>
            <a:endParaRPr lang="ko-KR" altLang="en-US" dirty="0"/>
          </a:p>
        </p:txBody>
      </p:sp>
    </p:spTree>
    <p:extLst>
      <p:ext uri="{BB962C8B-B14F-4D97-AF65-F5344CB8AC3E}">
        <p14:creationId xmlns:p14="http://schemas.microsoft.com/office/powerpoint/2010/main" val="379624630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191386" cy="400110"/>
          </a:xfrm>
          <a:prstGeom prst="rect">
            <a:avLst/>
          </a:prstGeom>
          <a:noFill/>
        </p:spPr>
        <p:txBody>
          <a:bodyPr wrap="none" rtlCol="0">
            <a:spAutoFit/>
          </a:bodyPr>
          <a:lstStyle/>
          <a:p>
            <a:r>
              <a:rPr lang="en-US" altLang="ko-KR" sz="2000" b="1" dirty="0"/>
              <a:t>Type 1 Study Case study</a:t>
            </a:r>
            <a:endParaRPr lang="ko-KR" altLang="en-US" sz="2000" b="1" dirty="0"/>
          </a:p>
        </p:txBody>
      </p:sp>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7936" y="1340768"/>
            <a:ext cx="7025952" cy="4683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83568" y="836712"/>
            <a:ext cx="1789080" cy="307777"/>
          </a:xfrm>
          <a:prstGeom prst="rect">
            <a:avLst/>
          </a:prstGeom>
          <a:noFill/>
        </p:spPr>
        <p:txBody>
          <a:bodyPr wrap="none" rtlCol="0">
            <a:spAutoFit/>
          </a:bodyPr>
          <a:lstStyle/>
          <a:p>
            <a:r>
              <a:rPr lang="en-US" altLang="ko-KR" sz="1400" dirty="0"/>
              <a:t>Compare with Excel</a:t>
            </a:r>
            <a:endParaRPr lang="ko-KR" altLang="en-US" sz="1400" dirty="0"/>
          </a:p>
        </p:txBody>
      </p:sp>
      <p:sp>
        <p:nvSpPr>
          <p:cNvPr id="7" name="TextBox 6"/>
          <p:cNvSpPr txBox="1"/>
          <p:nvPr/>
        </p:nvSpPr>
        <p:spPr>
          <a:xfrm>
            <a:off x="6786578" y="188640"/>
            <a:ext cx="2252476" cy="369332"/>
          </a:xfrm>
          <a:prstGeom prst="rect">
            <a:avLst/>
          </a:prstGeom>
          <a:noFill/>
        </p:spPr>
        <p:txBody>
          <a:bodyPr wrap="none" rtlCol="0">
            <a:spAutoFit/>
          </a:bodyPr>
          <a:lstStyle/>
          <a:p>
            <a:r>
              <a:rPr lang="en-US" altLang="ko-KR" dirty="0"/>
              <a:t>(One side standard)</a:t>
            </a:r>
            <a:endParaRPr lang="ko-KR" altLang="en-US" dirty="0"/>
          </a:p>
        </p:txBody>
      </p:sp>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69</a:t>
            </a:fld>
            <a:endParaRPr lang="ko-KR" altLang="en-US" dirty="0"/>
          </a:p>
        </p:txBody>
      </p:sp>
    </p:spTree>
    <p:extLst>
      <p:ext uri="{BB962C8B-B14F-4D97-AF65-F5344CB8AC3E}">
        <p14:creationId xmlns:p14="http://schemas.microsoft.com/office/powerpoint/2010/main" val="221587504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612434" y="188640"/>
            <a:ext cx="2424062" cy="369332"/>
          </a:xfrm>
          <a:prstGeom prst="rect">
            <a:avLst/>
          </a:prstGeom>
          <a:noFill/>
        </p:spPr>
        <p:txBody>
          <a:bodyPr wrap="none" rtlCol="0">
            <a:spAutoFit/>
          </a:bodyPr>
          <a:lstStyle/>
          <a:p>
            <a:r>
              <a:rPr lang="en-US" altLang="ko-KR" dirty="0"/>
              <a:t>(</a:t>
            </a:r>
            <a:r>
              <a:rPr lang="en-US" altLang="ko-KR" dirty="0" err="1"/>
              <a:t>một</a:t>
            </a:r>
            <a:r>
              <a:rPr lang="en-US" altLang="ko-KR" dirty="0"/>
              <a:t> </a:t>
            </a:r>
            <a:r>
              <a:rPr lang="en-US" altLang="ko-KR" dirty="0" err="1"/>
              <a:t>mặt</a:t>
            </a:r>
            <a:r>
              <a:rPr lang="en-US" altLang="ko-KR" dirty="0"/>
              <a:t> </a:t>
            </a:r>
            <a:r>
              <a:rPr lang="en-US" altLang="ko-KR" dirty="0" err="1"/>
              <a:t>tiêu</a:t>
            </a:r>
            <a:r>
              <a:rPr lang="en-US" altLang="ko-KR" dirty="0"/>
              <a:t> </a:t>
            </a:r>
            <a:r>
              <a:rPr lang="en-US" altLang="ko-KR" dirty="0" err="1"/>
              <a:t>chuẩn</a:t>
            </a:r>
            <a:r>
              <a:rPr lang="en-US" altLang="ko-KR" dirty="0"/>
              <a:t>)</a:t>
            </a:r>
            <a:endParaRPr lang="ko-KR" altLang="en-US" dirty="0"/>
          </a:p>
        </p:txBody>
      </p:sp>
      <p:sp>
        <p:nvSpPr>
          <p:cNvPr id="4" name="TextBox 3"/>
          <p:cNvSpPr txBox="1"/>
          <p:nvPr/>
        </p:nvSpPr>
        <p:spPr>
          <a:xfrm>
            <a:off x="683568" y="836712"/>
            <a:ext cx="3796937" cy="307777"/>
          </a:xfrm>
          <a:prstGeom prst="rect">
            <a:avLst/>
          </a:prstGeom>
          <a:noFill/>
        </p:spPr>
        <p:txBody>
          <a:bodyPr wrap="none" rtlCol="0">
            <a:spAutoFit/>
          </a:bodyPr>
          <a:lstStyle/>
          <a:p>
            <a:r>
              <a:rPr lang="en-US" altLang="ko-KR" sz="1400" dirty="0" err="1"/>
              <a:t>Sử</a:t>
            </a:r>
            <a:r>
              <a:rPr lang="en-US" altLang="ko-KR" sz="1400" dirty="0"/>
              <a:t> </a:t>
            </a:r>
            <a:r>
              <a:rPr lang="en-US" altLang="ko-KR" sz="1400" dirty="0" err="1"/>
              <a:t>dụng</a:t>
            </a:r>
            <a:r>
              <a:rPr lang="en-US" altLang="ko-KR" sz="1400" dirty="0"/>
              <a:t> Minitab </a:t>
            </a:r>
            <a:r>
              <a:rPr lang="en-US" altLang="ko-KR" sz="1400" dirty="0" err="1"/>
              <a:t>để</a:t>
            </a:r>
            <a:r>
              <a:rPr lang="en-US" altLang="ko-KR" sz="1400" dirty="0"/>
              <a:t> </a:t>
            </a:r>
            <a:r>
              <a:rPr lang="en-US" altLang="ko-KR" sz="1400" dirty="0" err="1"/>
              <a:t>tiến</a:t>
            </a:r>
            <a:r>
              <a:rPr lang="en-US" altLang="ko-KR" sz="1400" dirty="0"/>
              <a:t> </a:t>
            </a:r>
            <a:r>
              <a:rPr lang="en-US" altLang="ko-KR" sz="1400" dirty="0" err="1"/>
              <a:t>hành</a:t>
            </a:r>
            <a:r>
              <a:rPr lang="en-US" altLang="ko-KR" sz="1400" dirty="0"/>
              <a:t> Type 1 Study</a:t>
            </a:r>
            <a:endParaRPr lang="ko-KR" altLang="en-US" sz="1400" dirty="0"/>
          </a:p>
        </p:txBody>
      </p:sp>
      <p:sp>
        <p:nvSpPr>
          <p:cNvPr id="6" name="TextBox 5"/>
          <p:cNvSpPr txBox="1"/>
          <p:nvPr/>
        </p:nvSpPr>
        <p:spPr>
          <a:xfrm>
            <a:off x="755576" y="1196752"/>
            <a:ext cx="4376711" cy="292388"/>
          </a:xfrm>
          <a:prstGeom prst="rect">
            <a:avLst/>
          </a:prstGeom>
          <a:noFill/>
        </p:spPr>
        <p:txBody>
          <a:bodyPr wrap="none" rtlCol="0">
            <a:spAutoFit/>
          </a:bodyPr>
          <a:lstStyle/>
          <a:p>
            <a:r>
              <a:rPr lang="en-US" altLang="ko-KR" sz="1300" dirty="0"/>
              <a:t>Stat &gt; Quality tool &gt; Gage Study &gt; Type 1 Gage Study</a:t>
            </a:r>
            <a:endParaRPr lang="ko-KR" altLang="en-US" sz="1300" dirty="0"/>
          </a:p>
        </p:txBody>
      </p:sp>
      <p:pic>
        <p:nvPicPr>
          <p:cNvPr id="717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9552" y="1772816"/>
            <a:ext cx="4708634" cy="3018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77166" y="1628800"/>
            <a:ext cx="3359330" cy="208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직사각형 9"/>
          <p:cNvSpPr/>
          <p:nvPr/>
        </p:nvSpPr>
        <p:spPr>
          <a:xfrm>
            <a:off x="4283968" y="2276872"/>
            <a:ext cx="720080" cy="227789"/>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11" name="꺾인 연결선 10"/>
          <p:cNvCxnSpPr>
            <a:stCxn id="10" idx="3"/>
            <a:endCxn id="7171" idx="1"/>
          </p:cNvCxnSpPr>
          <p:nvPr/>
        </p:nvCxnSpPr>
        <p:spPr>
          <a:xfrm>
            <a:off x="5004048" y="2390767"/>
            <a:ext cx="673118" cy="282149"/>
          </a:xfrm>
          <a:prstGeom prst="bentConnector3">
            <a:avLst>
              <a:gd name="adj1" fmla="val 50000"/>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6955527" y="2473151"/>
            <a:ext cx="1733167" cy="307777"/>
          </a:xfrm>
          <a:prstGeom prst="rect">
            <a:avLst/>
          </a:prstGeom>
          <a:noFill/>
        </p:spPr>
        <p:txBody>
          <a:bodyPr wrap="none" rtlCol="0">
            <a:spAutoFit/>
          </a:bodyPr>
          <a:lstStyle/>
          <a:p>
            <a:r>
              <a:rPr lang="en-US" altLang="ko-KR" sz="1400" dirty="0" err="1">
                <a:solidFill>
                  <a:srgbClr val="FF0000"/>
                </a:solidFill>
              </a:rPr>
              <a:t>Nhập</a:t>
            </a:r>
            <a:r>
              <a:rPr lang="en-US" altLang="ko-KR" sz="1400" dirty="0">
                <a:solidFill>
                  <a:srgbClr val="FF0000"/>
                </a:solidFill>
              </a:rPr>
              <a:t> </a:t>
            </a:r>
            <a:r>
              <a:rPr lang="en-US" altLang="ko-KR" sz="1400" dirty="0" err="1">
                <a:solidFill>
                  <a:srgbClr val="FF0000"/>
                </a:solidFill>
              </a:rPr>
              <a:t>độ</a:t>
            </a:r>
            <a:r>
              <a:rPr lang="en-US" altLang="ko-KR" sz="1400" dirty="0">
                <a:solidFill>
                  <a:srgbClr val="FF0000"/>
                </a:solidFill>
              </a:rPr>
              <a:t> </a:t>
            </a:r>
            <a:r>
              <a:rPr lang="en-US" altLang="ko-KR" sz="1400" dirty="0" err="1">
                <a:solidFill>
                  <a:srgbClr val="FF0000"/>
                </a:solidFill>
              </a:rPr>
              <a:t>phân</a:t>
            </a:r>
            <a:r>
              <a:rPr lang="en-US" altLang="ko-KR" sz="1400" dirty="0">
                <a:solidFill>
                  <a:srgbClr val="FF0000"/>
                </a:solidFill>
              </a:rPr>
              <a:t> </a:t>
            </a:r>
            <a:r>
              <a:rPr lang="en-US" altLang="ko-KR" sz="1400" dirty="0" err="1">
                <a:solidFill>
                  <a:srgbClr val="FF0000"/>
                </a:solidFill>
              </a:rPr>
              <a:t>giải</a:t>
            </a:r>
            <a:endParaRPr lang="ko-KR" altLang="en-US" sz="1400" dirty="0">
              <a:solidFill>
                <a:srgbClr val="FF0000"/>
              </a:solidFill>
            </a:endParaRPr>
          </a:p>
        </p:txBody>
      </p:sp>
      <p:sp>
        <p:nvSpPr>
          <p:cNvPr id="13" name="TextBox 12"/>
          <p:cNvSpPr txBox="1"/>
          <p:nvPr/>
        </p:nvSpPr>
        <p:spPr>
          <a:xfrm>
            <a:off x="2768605" y="2564904"/>
            <a:ext cx="1608133" cy="307777"/>
          </a:xfrm>
          <a:prstGeom prst="rect">
            <a:avLst/>
          </a:prstGeom>
          <a:noFill/>
        </p:spPr>
        <p:txBody>
          <a:bodyPr wrap="none" rtlCol="0">
            <a:spAutoFit/>
          </a:bodyPr>
          <a:lstStyle/>
          <a:p>
            <a:r>
              <a:rPr lang="en-US" altLang="ko-KR" sz="1400" dirty="0" err="1">
                <a:solidFill>
                  <a:srgbClr val="FF0000"/>
                </a:solidFill>
              </a:rPr>
              <a:t>Giá</a:t>
            </a:r>
            <a:r>
              <a:rPr lang="en-US" altLang="ko-KR" sz="1400" dirty="0">
                <a:solidFill>
                  <a:srgbClr val="FF0000"/>
                </a:solidFill>
              </a:rPr>
              <a:t> </a:t>
            </a:r>
            <a:r>
              <a:rPr lang="en-US" altLang="ko-KR" sz="1400" dirty="0" err="1">
                <a:solidFill>
                  <a:srgbClr val="FF0000"/>
                </a:solidFill>
              </a:rPr>
              <a:t>trị</a:t>
            </a:r>
            <a:r>
              <a:rPr lang="en-US" altLang="ko-KR" sz="1400" dirty="0">
                <a:solidFill>
                  <a:srgbClr val="FF0000"/>
                </a:solidFill>
              </a:rPr>
              <a:t> </a:t>
            </a:r>
            <a:r>
              <a:rPr lang="en-US" altLang="ko-KR" sz="1400" dirty="0" err="1">
                <a:solidFill>
                  <a:srgbClr val="FF0000"/>
                </a:solidFill>
              </a:rPr>
              <a:t>tiêu</a:t>
            </a:r>
            <a:r>
              <a:rPr lang="en-US" altLang="ko-KR" sz="1400" dirty="0">
                <a:solidFill>
                  <a:srgbClr val="FF0000"/>
                </a:solidFill>
              </a:rPr>
              <a:t> </a:t>
            </a:r>
            <a:r>
              <a:rPr lang="en-US" altLang="ko-KR" sz="1400" dirty="0" err="1">
                <a:solidFill>
                  <a:srgbClr val="FF0000"/>
                </a:solidFill>
              </a:rPr>
              <a:t>chuẩn</a:t>
            </a:r>
            <a:endParaRPr lang="ko-KR" altLang="en-US" sz="1400" dirty="0">
              <a:solidFill>
                <a:srgbClr val="FF0000"/>
              </a:solidFill>
            </a:endParaRPr>
          </a:p>
        </p:txBody>
      </p:sp>
      <p:sp>
        <p:nvSpPr>
          <p:cNvPr id="14"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70</a:t>
            </a:fld>
            <a:endParaRPr lang="ko-KR" altLang="en-US" dirty="0"/>
          </a:p>
        </p:txBody>
      </p:sp>
    </p:spTree>
    <p:extLst>
      <p:ext uri="{BB962C8B-B14F-4D97-AF65-F5344CB8AC3E}">
        <p14:creationId xmlns:p14="http://schemas.microsoft.com/office/powerpoint/2010/main" val="379624630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1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6516216" y="188640"/>
            <a:ext cx="2424062" cy="369332"/>
          </a:xfrm>
          <a:prstGeom prst="rect">
            <a:avLst/>
          </a:prstGeom>
          <a:noFill/>
        </p:spPr>
        <p:txBody>
          <a:bodyPr wrap="none" rtlCol="0">
            <a:spAutoFit/>
          </a:bodyPr>
          <a:lstStyle/>
          <a:p>
            <a:r>
              <a:rPr lang="en-US" altLang="ko-KR" dirty="0"/>
              <a:t>(</a:t>
            </a:r>
            <a:r>
              <a:rPr lang="en-US" altLang="ko-KR" dirty="0" err="1"/>
              <a:t>một</a:t>
            </a:r>
            <a:r>
              <a:rPr lang="en-US" altLang="ko-KR" dirty="0"/>
              <a:t> </a:t>
            </a:r>
            <a:r>
              <a:rPr lang="en-US" altLang="ko-KR" dirty="0" err="1"/>
              <a:t>mặt</a:t>
            </a:r>
            <a:r>
              <a:rPr lang="en-US" altLang="ko-KR" dirty="0"/>
              <a:t> </a:t>
            </a:r>
            <a:r>
              <a:rPr lang="en-US" altLang="ko-KR" dirty="0" err="1"/>
              <a:t>tiêu</a:t>
            </a:r>
            <a:r>
              <a:rPr lang="en-US" altLang="ko-KR" dirty="0"/>
              <a:t> </a:t>
            </a:r>
            <a:r>
              <a:rPr lang="en-US" altLang="ko-KR" dirty="0" err="1"/>
              <a:t>chuẩn</a:t>
            </a:r>
            <a:r>
              <a:rPr lang="en-US" altLang="ko-KR" dirty="0"/>
              <a:t>)</a:t>
            </a:r>
            <a:endParaRPr lang="ko-KR" altLang="en-US" dirty="0"/>
          </a:p>
        </p:txBody>
      </p:sp>
      <p:pic>
        <p:nvPicPr>
          <p:cNvPr id="819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7936" y="1340768"/>
            <a:ext cx="7025952" cy="4683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83568" y="836712"/>
            <a:ext cx="1670778" cy="307777"/>
          </a:xfrm>
          <a:prstGeom prst="rect">
            <a:avLst/>
          </a:prstGeom>
          <a:noFill/>
        </p:spPr>
        <p:txBody>
          <a:bodyPr wrap="none" rtlCol="0">
            <a:spAutoFit/>
          </a:bodyPr>
          <a:lstStyle/>
          <a:p>
            <a:r>
              <a:rPr lang="en-US" altLang="ko-KR" sz="1400" dirty="0"/>
              <a:t>So </a:t>
            </a:r>
            <a:r>
              <a:rPr lang="en-US" altLang="ko-KR" sz="1400" dirty="0" err="1"/>
              <a:t>sánh</a:t>
            </a:r>
            <a:r>
              <a:rPr lang="en-US" altLang="ko-KR" sz="1400" dirty="0"/>
              <a:t> </a:t>
            </a:r>
            <a:r>
              <a:rPr lang="en-US" altLang="ko-KR" sz="1400" dirty="0" err="1"/>
              <a:t>với</a:t>
            </a:r>
            <a:r>
              <a:rPr lang="en-US" altLang="ko-KR" sz="1400" dirty="0"/>
              <a:t> Excel </a:t>
            </a:r>
            <a:endParaRPr lang="ko-KR" altLang="en-US" sz="1400" dirty="0"/>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71</a:t>
            </a:fld>
            <a:endParaRPr lang="ko-KR" altLang="en-US" dirty="0"/>
          </a:p>
        </p:txBody>
      </p:sp>
    </p:spTree>
    <p:extLst>
      <p:ext uri="{BB962C8B-B14F-4D97-AF65-F5344CB8AC3E}">
        <p14:creationId xmlns:p14="http://schemas.microsoft.com/office/powerpoint/2010/main" val="221587504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191386" cy="400110"/>
          </a:xfrm>
          <a:prstGeom prst="rect">
            <a:avLst/>
          </a:prstGeom>
          <a:noFill/>
        </p:spPr>
        <p:txBody>
          <a:bodyPr wrap="none" rtlCol="0">
            <a:spAutoFit/>
          </a:bodyPr>
          <a:lstStyle/>
          <a:p>
            <a:r>
              <a:rPr lang="en-US" altLang="ko-KR" sz="2000" b="1" dirty="0"/>
              <a:t>Type 2 Study Case study</a:t>
            </a:r>
            <a:endParaRPr lang="ko-KR" altLang="en-US" sz="2000" b="1" dirty="0"/>
          </a:p>
        </p:txBody>
      </p:sp>
      <p:sp>
        <p:nvSpPr>
          <p:cNvPr id="4" name="TextBox 3"/>
          <p:cNvSpPr txBox="1"/>
          <p:nvPr/>
        </p:nvSpPr>
        <p:spPr>
          <a:xfrm>
            <a:off x="124299"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Continuous</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Data Gage R&amp;R (Crossed)</a:t>
            </a:r>
          </a:p>
        </p:txBody>
      </p:sp>
      <p:sp>
        <p:nvSpPr>
          <p:cNvPr id="5" name="Oval 8"/>
          <p:cNvSpPr>
            <a:spLocks noChangeArrowheads="1"/>
          </p:cNvSpPr>
          <p:nvPr/>
        </p:nvSpPr>
        <p:spPr bwMode="auto">
          <a:xfrm>
            <a:off x="2863977" y="3717603"/>
            <a:ext cx="71437" cy="71437"/>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sp>
        <p:nvSpPr>
          <p:cNvPr id="6" name="Oval 9"/>
          <p:cNvSpPr>
            <a:spLocks noChangeArrowheads="1"/>
          </p:cNvSpPr>
          <p:nvPr/>
        </p:nvSpPr>
        <p:spPr bwMode="auto">
          <a:xfrm>
            <a:off x="3823447" y="3706813"/>
            <a:ext cx="71438" cy="71437"/>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sp>
        <p:nvSpPr>
          <p:cNvPr id="7" name="Oval 10"/>
          <p:cNvSpPr>
            <a:spLocks noChangeArrowheads="1"/>
          </p:cNvSpPr>
          <p:nvPr/>
        </p:nvSpPr>
        <p:spPr bwMode="auto">
          <a:xfrm>
            <a:off x="4770912" y="3717925"/>
            <a:ext cx="71437" cy="71438"/>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cxnSp>
        <p:nvCxnSpPr>
          <p:cNvPr id="8" name="AutoShape 12"/>
          <p:cNvCxnSpPr>
            <a:cxnSpLocks noChangeShapeType="1"/>
            <a:stCxn id="5" idx="0"/>
            <a:endCxn id="22" idx="2"/>
          </p:cNvCxnSpPr>
          <p:nvPr/>
        </p:nvCxnSpPr>
        <p:spPr bwMode="auto">
          <a:xfrm rot="16200000" flipV="1">
            <a:off x="2627142" y="3445049"/>
            <a:ext cx="228402" cy="316706"/>
          </a:xfrm>
          <a:prstGeom prst="curvedConnector3">
            <a:avLst>
              <a:gd name="adj1" fmla="val 50000"/>
            </a:avLst>
          </a:prstGeom>
          <a:noFill/>
          <a:ln w="9525">
            <a:solidFill>
              <a:srgbClr val="0000FF"/>
            </a:solidFill>
            <a:round/>
            <a:headEnd/>
            <a:tailEnd type="triangle" w="med" len="med"/>
          </a:ln>
        </p:spPr>
      </p:cxnSp>
      <p:cxnSp>
        <p:nvCxnSpPr>
          <p:cNvPr id="9" name="AutoShape 13"/>
          <p:cNvCxnSpPr>
            <a:cxnSpLocks noChangeShapeType="1"/>
            <a:stCxn id="6" idx="0"/>
            <a:endCxn id="23" idx="2"/>
          </p:cNvCxnSpPr>
          <p:nvPr/>
        </p:nvCxnSpPr>
        <p:spPr bwMode="auto">
          <a:xfrm rot="16200000" flipV="1">
            <a:off x="3674588" y="3522234"/>
            <a:ext cx="226307" cy="142851"/>
          </a:xfrm>
          <a:prstGeom prst="curvedConnector3">
            <a:avLst>
              <a:gd name="adj1" fmla="val 50000"/>
            </a:avLst>
          </a:prstGeom>
          <a:noFill/>
          <a:ln w="9525">
            <a:solidFill>
              <a:srgbClr val="0000FF"/>
            </a:solidFill>
            <a:round/>
            <a:headEnd/>
            <a:tailEnd type="triangle" w="med" len="med"/>
          </a:ln>
        </p:spPr>
      </p:cxnSp>
      <p:cxnSp>
        <p:nvCxnSpPr>
          <p:cNvPr id="10" name="AutoShape 14"/>
          <p:cNvCxnSpPr>
            <a:cxnSpLocks noChangeShapeType="1"/>
            <a:stCxn id="7" idx="0"/>
            <a:endCxn id="24" idx="2"/>
          </p:cNvCxnSpPr>
          <p:nvPr/>
        </p:nvCxnSpPr>
        <p:spPr bwMode="auto">
          <a:xfrm rot="16200000" flipV="1">
            <a:off x="4684611" y="3595905"/>
            <a:ext cx="237419" cy="6622"/>
          </a:xfrm>
          <a:prstGeom prst="curvedConnector3">
            <a:avLst>
              <a:gd name="adj1" fmla="val 50000"/>
            </a:avLst>
          </a:prstGeom>
          <a:noFill/>
          <a:ln w="9525">
            <a:solidFill>
              <a:srgbClr val="0000FF"/>
            </a:solidFill>
            <a:round/>
            <a:headEnd/>
            <a:tailEnd type="triangle" w="med" len="med"/>
          </a:ln>
        </p:spPr>
      </p:cxnSp>
      <p:sp>
        <p:nvSpPr>
          <p:cNvPr id="11" name="Rectangle 15"/>
          <p:cNvSpPr>
            <a:spLocks noChangeArrowheads="1"/>
          </p:cNvSpPr>
          <p:nvPr/>
        </p:nvSpPr>
        <p:spPr bwMode="auto">
          <a:xfrm>
            <a:off x="2997498" y="5895975"/>
            <a:ext cx="73025" cy="71438"/>
          </a:xfrm>
          <a:prstGeom prst="rect">
            <a:avLst/>
          </a:prstGeom>
          <a:solidFill>
            <a:srgbClr val="FF0000"/>
          </a:solidFill>
          <a:ln w="9525" algn="ctr">
            <a:solidFill>
              <a:srgbClr val="FF0000"/>
            </a:solid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12" name="Rectangle 16"/>
          <p:cNvSpPr>
            <a:spLocks noChangeArrowheads="1"/>
          </p:cNvSpPr>
          <p:nvPr/>
        </p:nvSpPr>
        <p:spPr bwMode="auto">
          <a:xfrm>
            <a:off x="1403648" y="6297885"/>
            <a:ext cx="2160588" cy="371475"/>
          </a:xfrm>
          <a:prstGeom prst="rect">
            <a:avLst/>
          </a:prstGeom>
          <a:solidFill>
            <a:schemeClr val="bg1"/>
          </a:solidFill>
          <a:ln w="9525" algn="ctr">
            <a:solidFill>
              <a:srgbClr val="FF0000"/>
            </a:solidFill>
            <a:miter lim="800000"/>
            <a:headEnd/>
            <a:tailEnd/>
          </a:ln>
        </p:spPr>
        <p:txBody>
          <a:bodyPr wrap="none" anchor="ctr"/>
          <a:lstStyle/>
          <a:p>
            <a:pPr algn="ctr">
              <a:spcBef>
                <a:spcPct val="50000"/>
              </a:spcBef>
            </a:pPr>
            <a:r>
              <a:rPr lang="en-US" altLang="ko-KR" sz="1200" b="1" dirty="0">
                <a:solidFill>
                  <a:srgbClr val="FF0000"/>
                </a:solidFill>
                <a:latin typeface="Arial" pitchFamily="34" charset="0"/>
              </a:rPr>
              <a:t>Attribute Data</a:t>
            </a:r>
          </a:p>
        </p:txBody>
      </p:sp>
      <p:sp>
        <p:nvSpPr>
          <p:cNvPr id="13" name="Rectangle 17"/>
          <p:cNvSpPr>
            <a:spLocks noChangeArrowheads="1"/>
          </p:cNvSpPr>
          <p:nvPr/>
        </p:nvSpPr>
        <p:spPr bwMode="auto">
          <a:xfrm>
            <a:off x="3524548" y="5889625"/>
            <a:ext cx="73025" cy="71438"/>
          </a:xfrm>
          <a:prstGeom prst="rect">
            <a:avLst/>
          </a:prstGeom>
          <a:solidFill>
            <a:srgbClr val="FF0000"/>
          </a:solidFill>
          <a:ln w="9525" algn="ctr">
            <a:solidFill>
              <a:srgbClr val="FF0000"/>
            </a:solidFill>
            <a:miter lim="800000"/>
            <a:headEnd/>
            <a:tailEnd/>
          </a:ln>
        </p:spPr>
        <p:txBody>
          <a:bodyPr wrap="none" anchor="ctr"/>
          <a:lstStyle/>
          <a:p>
            <a:pPr algn="ctr"/>
            <a:endParaRPr lang="ko-KR" altLang="en-US" sz="1000" dirty="0">
              <a:solidFill>
                <a:srgbClr val="000000"/>
              </a:solidFill>
              <a:latin typeface="Arial" pitchFamily="34" charset="0"/>
            </a:endParaRPr>
          </a:p>
        </p:txBody>
      </p:sp>
      <p:cxnSp>
        <p:nvCxnSpPr>
          <p:cNvPr id="14" name="AutoShape 18"/>
          <p:cNvCxnSpPr>
            <a:cxnSpLocks noChangeShapeType="1"/>
            <a:stCxn id="13" idx="2"/>
            <a:endCxn id="12" idx="0"/>
          </p:cNvCxnSpPr>
          <p:nvPr/>
        </p:nvCxnSpPr>
        <p:spPr bwMode="auto">
          <a:xfrm rot="5400000">
            <a:off x="2854091" y="5590915"/>
            <a:ext cx="336822" cy="1077119"/>
          </a:xfrm>
          <a:prstGeom prst="curvedConnector3">
            <a:avLst>
              <a:gd name="adj1" fmla="val 50000"/>
            </a:avLst>
          </a:prstGeom>
          <a:noFill/>
          <a:ln w="19050">
            <a:solidFill>
              <a:srgbClr val="FF0000"/>
            </a:solidFill>
            <a:round/>
            <a:headEnd/>
            <a:tailEnd type="triangle" w="med" len="med"/>
          </a:ln>
        </p:spPr>
      </p:cxnSp>
      <p:cxnSp>
        <p:nvCxnSpPr>
          <p:cNvPr id="15" name="AutoShape 19"/>
          <p:cNvCxnSpPr>
            <a:cxnSpLocks noChangeShapeType="1"/>
            <a:stCxn id="11" idx="2"/>
            <a:endCxn id="12" idx="0"/>
          </p:cNvCxnSpPr>
          <p:nvPr/>
        </p:nvCxnSpPr>
        <p:spPr bwMode="auto">
          <a:xfrm rot="5400000">
            <a:off x="2593741" y="5857615"/>
            <a:ext cx="330472" cy="550069"/>
          </a:xfrm>
          <a:prstGeom prst="curvedConnector3">
            <a:avLst>
              <a:gd name="adj1" fmla="val 50000"/>
            </a:avLst>
          </a:prstGeom>
          <a:noFill/>
          <a:ln w="19050">
            <a:solidFill>
              <a:srgbClr val="FF0000"/>
            </a:solidFill>
            <a:round/>
            <a:headEnd/>
            <a:tailEnd type="triangle" w="med" len="med"/>
          </a:ln>
        </p:spPr>
      </p:cxnSp>
      <p:sp>
        <p:nvSpPr>
          <p:cNvPr id="17" name="Rectangle 32"/>
          <p:cNvSpPr>
            <a:spLocks noChangeArrowheads="1"/>
          </p:cNvSpPr>
          <p:nvPr/>
        </p:nvSpPr>
        <p:spPr bwMode="auto">
          <a:xfrm>
            <a:off x="4608987" y="6297885"/>
            <a:ext cx="2160587" cy="371475"/>
          </a:xfrm>
          <a:prstGeom prst="rect">
            <a:avLst/>
          </a:prstGeom>
          <a:solidFill>
            <a:schemeClr val="bg1"/>
          </a:solidFill>
          <a:ln w="9525" algn="ctr">
            <a:solidFill>
              <a:srgbClr val="FF0000"/>
            </a:solidFill>
            <a:miter lim="800000"/>
            <a:headEnd/>
            <a:tailEnd/>
          </a:ln>
        </p:spPr>
        <p:txBody>
          <a:bodyPr wrap="none" anchor="ctr"/>
          <a:lstStyle/>
          <a:p>
            <a:pPr algn="ctr">
              <a:spcBef>
                <a:spcPct val="50000"/>
              </a:spcBef>
            </a:pPr>
            <a:r>
              <a:rPr lang="en-US" altLang="ko-KR" sz="1200" b="1" dirty="0">
                <a:solidFill>
                  <a:srgbClr val="FF0000"/>
                </a:solidFill>
                <a:latin typeface="Arial" pitchFamily="34" charset="0"/>
              </a:rPr>
              <a:t>Continuous Data</a:t>
            </a:r>
          </a:p>
        </p:txBody>
      </p:sp>
      <p:sp>
        <p:nvSpPr>
          <p:cNvPr id="18" name="Rectangle 33"/>
          <p:cNvSpPr>
            <a:spLocks noChangeArrowheads="1"/>
          </p:cNvSpPr>
          <p:nvPr/>
        </p:nvSpPr>
        <p:spPr bwMode="auto">
          <a:xfrm>
            <a:off x="4880449" y="5908675"/>
            <a:ext cx="73025" cy="71438"/>
          </a:xfrm>
          <a:prstGeom prst="rect">
            <a:avLst/>
          </a:prstGeom>
          <a:solidFill>
            <a:srgbClr val="FF0000"/>
          </a:solidFill>
          <a:ln w="9525" algn="ctr">
            <a:solidFill>
              <a:srgbClr val="FF0000"/>
            </a:solidFill>
            <a:miter lim="800000"/>
            <a:headEnd/>
            <a:tailEnd/>
          </a:ln>
        </p:spPr>
        <p:txBody>
          <a:bodyPr wrap="none" anchor="ctr"/>
          <a:lstStyle/>
          <a:p>
            <a:pPr algn="ctr"/>
            <a:endParaRPr lang="ko-KR" altLang="en-US" sz="1000" dirty="0">
              <a:solidFill>
                <a:srgbClr val="000000"/>
              </a:solidFill>
              <a:latin typeface="Arial" pitchFamily="34" charset="0"/>
            </a:endParaRPr>
          </a:p>
        </p:txBody>
      </p:sp>
      <p:cxnSp>
        <p:nvCxnSpPr>
          <p:cNvPr id="19" name="AutoShape 34"/>
          <p:cNvCxnSpPr>
            <a:cxnSpLocks noChangeShapeType="1"/>
            <a:stCxn id="18" idx="3"/>
            <a:endCxn id="17" idx="0"/>
          </p:cNvCxnSpPr>
          <p:nvPr/>
        </p:nvCxnSpPr>
        <p:spPr bwMode="auto">
          <a:xfrm>
            <a:off x="4953474" y="5944394"/>
            <a:ext cx="735807" cy="353491"/>
          </a:xfrm>
          <a:prstGeom prst="curvedConnector2">
            <a:avLst/>
          </a:prstGeom>
          <a:noFill/>
          <a:ln w="28575">
            <a:solidFill>
              <a:srgbClr val="FF0000"/>
            </a:solidFill>
            <a:round/>
            <a:headEnd/>
            <a:tailEnd type="triangle" w="med" len="med"/>
          </a:ln>
        </p:spPr>
      </p:cxnSp>
      <p:sp>
        <p:nvSpPr>
          <p:cNvPr id="21" name="TextBox 21"/>
          <p:cNvSpPr txBox="1">
            <a:spLocks noChangeArrowheads="1"/>
          </p:cNvSpPr>
          <p:nvPr/>
        </p:nvSpPr>
        <p:spPr bwMode="auto">
          <a:xfrm>
            <a:off x="603724" y="3214688"/>
            <a:ext cx="1312411"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Enter Data</a:t>
            </a:r>
            <a:endParaRPr lang="ko-KR" altLang="en-US" sz="1400" b="1" dirty="0">
              <a:solidFill>
                <a:srgbClr val="000000"/>
              </a:solidFill>
              <a:latin typeface="맑은 고딕" pitchFamily="50" charset="-127"/>
              <a:ea typeface="맑은 고딕" pitchFamily="50" charset="-127"/>
            </a:endParaRPr>
          </a:p>
        </p:txBody>
      </p:sp>
      <p:sp>
        <p:nvSpPr>
          <p:cNvPr id="22" name="TextBox 24"/>
          <p:cNvSpPr txBox="1">
            <a:spLocks noChangeArrowheads="1"/>
          </p:cNvSpPr>
          <p:nvPr/>
        </p:nvSpPr>
        <p:spPr bwMode="auto">
          <a:xfrm>
            <a:off x="2200402" y="3212976"/>
            <a:ext cx="765175" cy="276225"/>
          </a:xfrm>
          <a:prstGeom prst="rect">
            <a:avLst/>
          </a:prstGeom>
          <a:solidFill>
            <a:schemeClr val="bg1"/>
          </a:solid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Part no.</a:t>
            </a:r>
            <a:endParaRPr lang="ko-KR" altLang="en-US" sz="1200" b="1" dirty="0">
              <a:solidFill>
                <a:srgbClr val="000000"/>
              </a:solidFill>
              <a:latin typeface="맑은 고딕" pitchFamily="50" charset="-127"/>
              <a:ea typeface="맑은 고딕" pitchFamily="50" charset="-127"/>
            </a:endParaRPr>
          </a:p>
        </p:txBody>
      </p:sp>
      <p:sp>
        <p:nvSpPr>
          <p:cNvPr id="23" name="TextBox 28"/>
          <p:cNvSpPr txBox="1">
            <a:spLocks noChangeArrowheads="1"/>
          </p:cNvSpPr>
          <p:nvPr/>
        </p:nvSpPr>
        <p:spPr bwMode="auto">
          <a:xfrm>
            <a:off x="3280522" y="3203507"/>
            <a:ext cx="871585" cy="276999"/>
          </a:xfrm>
          <a:prstGeom prst="rect">
            <a:avLst/>
          </a:prstGeom>
          <a:solidFill>
            <a:schemeClr val="bg1"/>
          </a:solid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Measurer</a:t>
            </a:r>
            <a:endParaRPr lang="ko-KR" altLang="en-US" sz="1200" b="1" dirty="0">
              <a:solidFill>
                <a:srgbClr val="000000"/>
              </a:solidFill>
              <a:latin typeface="맑은 고딕" pitchFamily="50" charset="-127"/>
              <a:ea typeface="맑은 고딕" pitchFamily="50" charset="-127"/>
            </a:endParaRPr>
          </a:p>
        </p:txBody>
      </p:sp>
      <p:sp>
        <p:nvSpPr>
          <p:cNvPr id="24" name="TextBox 29"/>
          <p:cNvSpPr txBox="1">
            <a:spLocks noChangeArrowheads="1"/>
          </p:cNvSpPr>
          <p:nvPr/>
        </p:nvSpPr>
        <p:spPr bwMode="auto">
          <a:xfrm>
            <a:off x="4148612" y="3203507"/>
            <a:ext cx="1302793" cy="276999"/>
          </a:xfrm>
          <a:prstGeom prst="rect">
            <a:avLst/>
          </a:prstGeom>
          <a:solidFill>
            <a:schemeClr val="bg1"/>
          </a:solid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Measured</a:t>
            </a:r>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Data</a:t>
            </a:r>
            <a:endParaRPr lang="ko-KR" altLang="en-US" sz="1200" b="1" dirty="0">
              <a:solidFill>
                <a:srgbClr val="000000"/>
              </a:solidFill>
              <a:latin typeface="맑은 고딕" pitchFamily="50" charset="-127"/>
              <a:ea typeface="맑은 고딕" pitchFamily="50" charset="-127"/>
            </a:endParaRPr>
          </a:p>
        </p:txBody>
      </p:sp>
      <p:sp>
        <p:nvSpPr>
          <p:cNvPr id="25" name="TextBox 30"/>
          <p:cNvSpPr txBox="1">
            <a:spLocks noChangeArrowheads="1"/>
          </p:cNvSpPr>
          <p:nvPr/>
        </p:nvSpPr>
        <p:spPr bwMode="auto">
          <a:xfrm>
            <a:off x="5500694" y="3143248"/>
            <a:ext cx="1513428" cy="276999"/>
          </a:xfrm>
          <a:prstGeom prst="rect">
            <a:avLst/>
          </a:prstGeom>
          <a:solidFill>
            <a:schemeClr val="bg1"/>
          </a:solid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Number of repeat</a:t>
            </a:r>
            <a:endParaRPr lang="ko-KR" altLang="en-US" sz="1200" b="1" dirty="0">
              <a:solidFill>
                <a:srgbClr val="000000"/>
              </a:solidFill>
              <a:latin typeface="맑은 고딕" pitchFamily="50" charset="-127"/>
              <a:ea typeface="맑은 고딕" pitchFamily="50" charset="-127"/>
            </a:endParaRPr>
          </a:p>
        </p:txBody>
      </p:sp>
      <p:sp>
        <p:nvSpPr>
          <p:cNvPr id="26" name="TextBox 25"/>
          <p:cNvSpPr txBox="1"/>
          <p:nvPr/>
        </p:nvSpPr>
        <p:spPr>
          <a:xfrm>
            <a:off x="0" y="1268760"/>
            <a:ext cx="785786" cy="646331"/>
          </a:xfrm>
          <a:prstGeom prst="rect">
            <a:avLst/>
          </a:prstGeom>
          <a:noFill/>
        </p:spPr>
        <p:txBody>
          <a:bodyPr wrap="square" rtlCol="0">
            <a:spAutoFit/>
          </a:bodyPr>
          <a:lstStyle/>
          <a:p>
            <a:r>
              <a:rPr lang="en-US" altLang="ko-KR" sz="1200" dirty="0">
                <a:solidFill>
                  <a:srgbClr val="FF0066"/>
                </a:solidFill>
                <a:latin typeface="맑은 고딕" pitchFamily="50" charset="-127"/>
                <a:ea typeface="맑은 고딕" pitchFamily="50" charset="-127"/>
              </a:rPr>
              <a:t>Practice Files</a:t>
            </a:r>
            <a:r>
              <a:rPr lang="ko-KR" altLang="en-US" sz="1200" dirty="0">
                <a:solidFill>
                  <a:srgbClr val="FF0066"/>
                </a:solidFill>
                <a:latin typeface="맑은 고딕" pitchFamily="50" charset="-127"/>
                <a:ea typeface="맑은 고딕" pitchFamily="50" charset="-127"/>
              </a:rPr>
              <a:t> </a:t>
            </a:r>
            <a:endParaRPr lang="en-US" altLang="ko-KR" sz="1200" dirty="0">
              <a:solidFill>
                <a:srgbClr val="FF0066"/>
              </a:solidFill>
              <a:latin typeface="맑은 고딕" pitchFamily="50" charset="-127"/>
              <a:ea typeface="맑은 고딕" pitchFamily="50" charset="-127"/>
            </a:endParaRPr>
          </a:p>
          <a:p>
            <a:r>
              <a:rPr lang="en-US" altLang="ko-KR" sz="1200" dirty="0">
                <a:solidFill>
                  <a:srgbClr val="FF0066"/>
                </a:solidFill>
                <a:latin typeface="맑은 고딕" pitchFamily="50" charset="-127"/>
                <a:ea typeface="맑은 고딕" pitchFamily="50" charset="-127"/>
              </a:rPr>
              <a:t>STB.2.1 </a:t>
            </a:r>
            <a:endParaRPr lang="ko-KR" altLang="en-US" sz="1200" dirty="0">
              <a:solidFill>
                <a:srgbClr val="FF0066"/>
              </a:solidFill>
              <a:latin typeface="맑은 고딕" pitchFamily="50" charset="-127"/>
              <a:ea typeface="맑은 고딕" pitchFamily="50" charset="-127"/>
            </a:endParaRPr>
          </a:p>
        </p:txBody>
      </p:sp>
      <p:cxnSp>
        <p:nvCxnSpPr>
          <p:cNvPr id="27" name="AutoShape 14"/>
          <p:cNvCxnSpPr>
            <a:cxnSpLocks noChangeShapeType="1"/>
            <a:stCxn id="28" idx="0"/>
            <a:endCxn id="25" idx="2"/>
          </p:cNvCxnSpPr>
          <p:nvPr/>
        </p:nvCxnSpPr>
        <p:spPr bwMode="auto">
          <a:xfrm rot="5400000" flipH="1" flipV="1">
            <a:off x="5657805" y="3131381"/>
            <a:ext cx="310737" cy="888470"/>
          </a:xfrm>
          <a:prstGeom prst="curvedConnector3">
            <a:avLst>
              <a:gd name="adj1" fmla="val 50000"/>
            </a:avLst>
          </a:prstGeom>
          <a:noFill/>
          <a:ln w="9525">
            <a:solidFill>
              <a:srgbClr val="0000FF"/>
            </a:solidFill>
            <a:round/>
            <a:headEnd/>
            <a:tailEnd type="triangle" w="med" len="med"/>
          </a:ln>
        </p:spPr>
      </p:cxnSp>
      <p:sp>
        <p:nvSpPr>
          <p:cNvPr id="28" name="Oval 10"/>
          <p:cNvSpPr>
            <a:spLocks noChangeArrowheads="1"/>
          </p:cNvSpPr>
          <p:nvPr/>
        </p:nvSpPr>
        <p:spPr bwMode="auto">
          <a:xfrm>
            <a:off x="5333219" y="3730984"/>
            <a:ext cx="71437" cy="71438"/>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sp>
        <p:nvSpPr>
          <p:cNvPr id="31" name="직사각형 30"/>
          <p:cNvSpPr/>
          <p:nvPr/>
        </p:nvSpPr>
        <p:spPr>
          <a:xfrm>
            <a:off x="5715008"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graphicFrame>
        <p:nvGraphicFramePr>
          <p:cNvPr id="30" name="표 29"/>
          <p:cNvGraphicFramePr>
            <a:graphicFrameLocks noGrp="1"/>
          </p:cNvGraphicFramePr>
          <p:nvPr>
            <p:extLst>
              <p:ext uri="{D42A27DB-BD31-4B8C-83A1-F6EECF244321}">
                <p14:modId xmlns:p14="http://schemas.microsoft.com/office/powerpoint/2010/main" val="638021057"/>
              </p:ext>
            </p:extLst>
          </p:nvPr>
        </p:nvGraphicFramePr>
        <p:xfrm>
          <a:off x="2385257" y="3711284"/>
          <a:ext cx="4392490" cy="2459990"/>
        </p:xfrm>
        <a:graphic>
          <a:graphicData uri="http://schemas.openxmlformats.org/drawingml/2006/table">
            <a:tbl>
              <a:tblPr/>
              <a:tblGrid>
                <a:gridCol w="878498">
                  <a:extLst>
                    <a:ext uri="{9D8B030D-6E8A-4147-A177-3AD203B41FA5}">
                      <a16:colId xmlns:a16="http://schemas.microsoft.com/office/drawing/2014/main" val="20000"/>
                    </a:ext>
                  </a:extLst>
                </a:gridCol>
                <a:gridCol w="878498">
                  <a:extLst>
                    <a:ext uri="{9D8B030D-6E8A-4147-A177-3AD203B41FA5}">
                      <a16:colId xmlns:a16="http://schemas.microsoft.com/office/drawing/2014/main" val="20001"/>
                    </a:ext>
                  </a:extLst>
                </a:gridCol>
                <a:gridCol w="878498">
                  <a:extLst>
                    <a:ext uri="{9D8B030D-6E8A-4147-A177-3AD203B41FA5}">
                      <a16:colId xmlns:a16="http://schemas.microsoft.com/office/drawing/2014/main" val="20002"/>
                    </a:ext>
                  </a:extLst>
                </a:gridCol>
                <a:gridCol w="878498">
                  <a:extLst>
                    <a:ext uri="{9D8B030D-6E8A-4147-A177-3AD203B41FA5}">
                      <a16:colId xmlns:a16="http://schemas.microsoft.com/office/drawing/2014/main" val="20003"/>
                    </a:ext>
                  </a:extLst>
                </a:gridCol>
                <a:gridCol w="878498">
                  <a:extLst>
                    <a:ext uri="{9D8B030D-6E8A-4147-A177-3AD203B41FA5}">
                      <a16:colId xmlns:a16="http://schemas.microsoft.com/office/drawing/2014/main" val="20004"/>
                    </a:ext>
                  </a:extLst>
                </a:gridCol>
              </a:tblGrid>
              <a:tr h="177693">
                <a:tc>
                  <a:txBody>
                    <a:bodyPr/>
                    <a:lstStyle/>
                    <a:p>
                      <a:pPr algn="ctr" fontAlgn="b"/>
                      <a:r>
                        <a:rPr lang="en-US" sz="1200" b="0" i="0" u="none" strike="noStrike">
                          <a:solidFill>
                            <a:srgbClr val="000000"/>
                          </a:solidFill>
                          <a:effectLst/>
                          <a:latin typeface="맑은 고딕"/>
                        </a:rPr>
                        <a:t>Part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Operator</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Data</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Rep.no</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S.Event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16.27</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16.96</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16.95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17.02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17.05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Break</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17.01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Re.Carib</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16.97</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dirty="0">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16" name="Rectangle 31"/>
          <p:cNvSpPr>
            <a:spLocks noChangeArrowheads="1"/>
          </p:cNvSpPr>
          <p:nvPr/>
        </p:nvSpPr>
        <p:spPr bwMode="auto">
          <a:xfrm>
            <a:off x="6055199" y="4413250"/>
            <a:ext cx="1185863" cy="371475"/>
          </a:xfrm>
          <a:prstGeom prst="rect">
            <a:avLst/>
          </a:prstGeom>
          <a:solidFill>
            <a:schemeClr val="bg1"/>
          </a:solidFill>
          <a:ln w="9525" algn="ctr">
            <a:solidFill>
              <a:srgbClr val="008000"/>
            </a:solidFill>
            <a:miter lim="800000"/>
            <a:headEnd/>
            <a:tailEnd/>
          </a:ln>
        </p:spPr>
        <p:txBody>
          <a:bodyPr wrap="none" anchor="ctr"/>
          <a:lstStyle/>
          <a:p>
            <a:pPr algn="ctr">
              <a:spcBef>
                <a:spcPct val="50000"/>
              </a:spcBef>
            </a:pPr>
            <a:r>
              <a:rPr lang="en-US" altLang="ko-KR" sz="1200" b="1" dirty="0">
                <a:solidFill>
                  <a:srgbClr val="008000"/>
                </a:solidFill>
                <a:latin typeface="Arial" pitchFamily="34" charset="0"/>
              </a:rPr>
              <a:t>Data Resume</a:t>
            </a:r>
          </a:p>
        </p:txBody>
      </p:sp>
      <p:sp>
        <p:nvSpPr>
          <p:cNvPr id="35" name="Rectangle 5"/>
          <p:cNvSpPr>
            <a:spLocks noChangeArrowheads="1"/>
          </p:cNvSpPr>
          <p:nvPr/>
        </p:nvSpPr>
        <p:spPr bwMode="auto">
          <a:xfrm>
            <a:off x="755576" y="1214439"/>
            <a:ext cx="8031266" cy="2000247"/>
          </a:xfrm>
          <a:prstGeom prst="rect">
            <a:avLst/>
          </a:prstGeom>
          <a:solidFill>
            <a:srgbClr val="FFFFFF"/>
          </a:solidFill>
          <a:ln w="9525" algn="ctr">
            <a:solidFill>
              <a:schemeClr val="bg1">
                <a:lumMod val="65000"/>
              </a:schemeClr>
            </a:solidFill>
            <a:miter lim="800000"/>
            <a:headEnd/>
            <a:tailEnd/>
          </a:ln>
        </p:spPr>
        <p:txBody>
          <a:bodyPr wrap="none"/>
          <a:lstStyle/>
          <a:p>
            <a:pPr>
              <a:lnSpc>
                <a:spcPct val="120000"/>
              </a:lnSpc>
              <a:defRPr/>
            </a:pPr>
            <a:r>
              <a:rPr lang="en-US" altLang="ko-KR" sz="1200" b="1" dirty="0">
                <a:solidFill>
                  <a:srgbClr val="000000"/>
                </a:solidFill>
                <a:latin typeface="맑은 고딕" pitchFamily="50" charset="-127"/>
                <a:ea typeface="맑은 고딕" pitchFamily="50" charset="-127"/>
              </a:rPr>
              <a:t>The following data were collected for Gage R &amp; R verification for project Y of the project target.</a:t>
            </a:r>
            <a:endParaRPr lang="en-US" altLang="ko-KR" sz="1200" dirty="0">
              <a:solidFill>
                <a:srgbClr val="000000"/>
              </a:solidFill>
              <a:latin typeface="맑은 고딕" pitchFamily="50" charset="-127"/>
              <a:ea typeface="맑은 고딕" pitchFamily="50" charset="-127"/>
            </a:endParaRPr>
          </a:p>
          <a:p>
            <a:pPr>
              <a:buFontTx/>
              <a:buChar char="-"/>
              <a:defRPr/>
            </a:pPr>
            <a:r>
              <a:rPr lang="en-US" altLang="ko-KR" sz="1200" dirty="0">
                <a:solidFill>
                  <a:srgbClr val="000000"/>
                </a:solidFill>
                <a:latin typeface="맑은 고딕" pitchFamily="50" charset="-127"/>
                <a:ea typeface="맑은 고딕" pitchFamily="50" charset="-127"/>
              </a:rPr>
              <a:t>Parts : </a:t>
            </a:r>
            <a:r>
              <a:rPr lang="en-US" altLang="ko-KR" sz="1200" b="1" dirty="0">
                <a:solidFill>
                  <a:srgbClr val="FF0000"/>
                </a:solidFill>
                <a:latin typeface="맑은 고딕" pitchFamily="50" charset="-127"/>
                <a:ea typeface="맑은 고딕" pitchFamily="50" charset="-127"/>
              </a:rPr>
              <a:t>The standard limit (16.5 ± 0.8 mm) is divided into 10 equally spaced parts </a:t>
            </a:r>
            <a:r>
              <a:rPr lang="en-US" altLang="ko-KR" sz="1200" dirty="0">
                <a:latin typeface="맑은 고딕" pitchFamily="50" charset="-127"/>
                <a:ea typeface="맑은 고딕" pitchFamily="50" charset="-127"/>
              </a:rPr>
              <a:t>and one part is extracted</a:t>
            </a:r>
          </a:p>
          <a:p>
            <a:pPr>
              <a:defRPr/>
            </a:pPr>
            <a:r>
              <a:rPr lang="en-US" altLang="ko-KR" sz="1200" dirty="0">
                <a:latin typeface="맑은 고딕" pitchFamily="50" charset="-127"/>
                <a:ea typeface="맑은 고딕" pitchFamily="50" charset="-127"/>
              </a:rPr>
              <a:t>          from each section.</a:t>
            </a:r>
            <a:endParaRPr lang="ko-KR" altLang="en-US" sz="1200" dirty="0">
              <a:latin typeface="맑은 고딕" pitchFamily="50" charset="-127"/>
              <a:ea typeface="맑은 고딕" pitchFamily="50" charset="-127"/>
            </a:endParaRPr>
          </a:p>
          <a:p>
            <a:pPr>
              <a:buFontTx/>
              <a:buChar char="-"/>
              <a:defRPr/>
            </a:pPr>
            <a:r>
              <a:rPr lang="en-US" altLang="ko-KR" sz="1200" dirty="0">
                <a:solidFill>
                  <a:srgbClr val="000000"/>
                </a:solidFill>
                <a:latin typeface="맑은 고딕" pitchFamily="50" charset="-127"/>
                <a:ea typeface="맑은 고딕" pitchFamily="50" charset="-127"/>
              </a:rPr>
              <a:t>Operators : </a:t>
            </a:r>
            <a:r>
              <a:rPr lang="en-US" altLang="ko-KR" sz="1200" b="1" dirty="0">
                <a:solidFill>
                  <a:srgbClr val="FF0000"/>
                </a:solidFill>
                <a:latin typeface="맑은 고딕" pitchFamily="50" charset="-127"/>
                <a:ea typeface="맑은 고딕" pitchFamily="50" charset="-127"/>
              </a:rPr>
              <a:t>Three people are selected randomly</a:t>
            </a:r>
            <a:r>
              <a:rPr lang="en-US" altLang="ko-KR" sz="1200" dirty="0">
                <a:solidFill>
                  <a:srgbClr val="000000"/>
                </a:solidFill>
                <a:latin typeface="맑은 고딕" pitchFamily="50" charset="-127"/>
                <a:ea typeface="맑은 고딕" pitchFamily="50" charset="-127"/>
              </a:rPr>
              <a:t> regardless of proficiency among the evaluators who make </a:t>
            </a:r>
          </a:p>
          <a:p>
            <a:pPr>
              <a:defRPr/>
            </a:pPr>
            <a:r>
              <a:rPr lang="en-US" altLang="ko-KR" sz="1200" dirty="0">
                <a:solidFill>
                  <a:srgbClr val="000000"/>
                </a:solidFill>
                <a:latin typeface="맑은 고딕" pitchFamily="50" charset="-127"/>
                <a:ea typeface="맑은 고딕" pitchFamily="50" charset="-127"/>
              </a:rPr>
              <a:t>                 measurements in the current process</a:t>
            </a:r>
            <a:endParaRPr lang="ko-KR" altLang="en-US" sz="1200" dirty="0">
              <a:solidFill>
                <a:srgbClr val="FF0000"/>
              </a:solidFill>
              <a:latin typeface="맑은 고딕" pitchFamily="50" charset="-127"/>
              <a:ea typeface="맑은 고딕" pitchFamily="50" charset="-127"/>
            </a:endParaRPr>
          </a:p>
          <a:p>
            <a:pPr>
              <a:defRPr/>
            </a:pPr>
            <a:r>
              <a:rPr lang="en-US" altLang="ko-KR" sz="1200" dirty="0">
                <a:solidFill>
                  <a:srgbClr val="000000"/>
                </a:solidFill>
                <a:latin typeface="맑은 고딕" pitchFamily="50" charset="-127"/>
                <a:ea typeface="맑은 고딕" pitchFamily="50" charset="-127"/>
              </a:rPr>
              <a:t>- Data Collection  </a:t>
            </a:r>
          </a:p>
          <a:p>
            <a:pPr>
              <a:defRPr/>
            </a:pPr>
            <a:r>
              <a:rPr lang="en-US" altLang="ko-KR" sz="1200" dirty="0">
                <a:solidFill>
                  <a:srgbClr val="000000"/>
                </a:solidFill>
                <a:latin typeface="맑은 고딕" pitchFamily="50" charset="-127"/>
                <a:ea typeface="맑은 고딕" pitchFamily="50" charset="-127"/>
              </a:rPr>
              <a:t>   : </a:t>
            </a:r>
            <a:r>
              <a:rPr lang="en-US" sz="1200" dirty="0"/>
              <a:t>The order of the evaluator and the order of the parts to be measured are determined at random, and repeat</a:t>
            </a:r>
          </a:p>
          <a:p>
            <a:pPr>
              <a:defRPr/>
            </a:pPr>
            <a:r>
              <a:rPr lang="en-US" sz="1200" dirty="0"/>
              <a:t>    measurement by Blind Test, Evaluators measure as much as possible using standard methods. However, please</a:t>
            </a:r>
          </a:p>
          <a:p>
            <a:pPr>
              <a:defRPr/>
            </a:pPr>
            <a:r>
              <a:rPr lang="en-US" sz="1200" dirty="0"/>
              <a:t>    be careful not to adjust Gage during measurement.</a:t>
            </a:r>
          </a:p>
          <a:p>
            <a:pPr>
              <a:lnSpc>
                <a:spcPct val="120000"/>
              </a:lnSpc>
              <a:defRPr/>
            </a:pPr>
            <a:r>
              <a:rPr lang="en-US" altLang="ko-KR" sz="1200" dirty="0">
                <a:solidFill>
                  <a:srgbClr val="000000"/>
                </a:solidFill>
                <a:latin typeface="맑은 고딕" pitchFamily="50" charset="-127"/>
                <a:ea typeface="맑은 고딕" pitchFamily="50" charset="-127"/>
              </a:rPr>
              <a:t>- Process Information : Dispersion(Standard deviation) of the current production process Historical Sigma=0.35(mm)</a:t>
            </a:r>
          </a:p>
        </p:txBody>
      </p:sp>
      <p:sp>
        <p:nvSpPr>
          <p:cNvPr id="32" name="슬라이드 번호 개체 틀 1"/>
          <p:cNvSpPr>
            <a:spLocks noGrp="1"/>
          </p:cNvSpPr>
          <p:nvPr>
            <p:ph type="sldNum" sz="quarter" idx="4"/>
          </p:nvPr>
        </p:nvSpPr>
        <p:spPr>
          <a:xfrm>
            <a:off x="8560136" y="6492899"/>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72</a:t>
            </a:fld>
            <a:endParaRPr lang="ko-KR" altLang="en-US" dirty="0"/>
          </a:p>
        </p:txBody>
      </p:sp>
    </p:spTree>
    <p:extLst>
      <p:ext uri="{BB962C8B-B14F-4D97-AF65-F5344CB8AC3E}">
        <p14:creationId xmlns:p14="http://schemas.microsoft.com/office/powerpoint/2010/main" val="154630241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95654" y="827089"/>
            <a:ext cx="8280889" cy="307777"/>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Input Minitab and interpret the results</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8" name="Rectangle 31"/>
          <p:cNvSpPr>
            <a:spLocks noChangeArrowheads="1"/>
          </p:cNvSpPr>
          <p:nvPr/>
        </p:nvSpPr>
        <p:spPr bwMode="auto">
          <a:xfrm>
            <a:off x="666751" y="1122363"/>
            <a:ext cx="5608026" cy="336550"/>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solidFill>
                  <a:srgbClr val="000000"/>
                </a:solidFill>
                <a:latin typeface="맑은 고딕" pitchFamily="50" charset="-127"/>
                <a:ea typeface="맑은 고딕" pitchFamily="50" charset="-127"/>
              </a:rPr>
              <a:t>Stat  &gt; Quality Tools &gt;  Gage Study &gt; Gage R&amp;R Studies(Crossed)</a:t>
            </a:r>
          </a:p>
        </p:txBody>
      </p:sp>
      <p:pic>
        <p:nvPicPr>
          <p:cNvPr id="87859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4907" t="3056" r="29118" b="27946"/>
          <a:stretch/>
        </p:blipFill>
        <p:spPr bwMode="auto">
          <a:xfrm>
            <a:off x="672842" y="1585499"/>
            <a:ext cx="7422011" cy="4635892"/>
          </a:xfrm>
          <a:prstGeom prst="rect">
            <a:avLst/>
          </a:prstGeom>
          <a:noFill/>
          <a:ln w="9525">
            <a:solidFill>
              <a:schemeClr val="bg1">
                <a:lumMod val="50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73</a:t>
            </a:fld>
            <a:endParaRPr lang="ko-KR" altLang="en-US" dirty="0"/>
          </a:p>
        </p:txBody>
      </p:sp>
      <p:sp>
        <p:nvSpPr>
          <p:cNvPr id="7" name="TextBox 6"/>
          <p:cNvSpPr txBox="1"/>
          <p:nvPr/>
        </p:nvSpPr>
        <p:spPr>
          <a:xfrm>
            <a:off x="179512" y="142852"/>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9" name="직사각형 8"/>
          <p:cNvSpPr/>
          <p:nvPr/>
        </p:nvSpPr>
        <p:spPr>
          <a:xfrm>
            <a:off x="5929322"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261614267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4" name="TextBox 3"/>
          <p:cNvSpPr txBox="1"/>
          <p:nvPr/>
        </p:nvSpPr>
        <p:spPr>
          <a:xfrm>
            <a:off x="124299" y="827088"/>
            <a:ext cx="8970963"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Data </a:t>
            </a:r>
            <a:r>
              <a:rPr kumimoji="0" lang="en-US" altLang="ko-KR" sz="1400" b="1" kern="0" dirty="0" err="1">
                <a:solidFill>
                  <a:sysClr val="windowText" lastClr="000000"/>
                </a:solidFill>
                <a:latin typeface="맑은 고딕" pitchFamily="50" charset="-127"/>
                <a:ea typeface="맑은 고딕" pitchFamily="50" charset="-127"/>
              </a:rPr>
              <a:t>liên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tục</a:t>
            </a:r>
            <a:r>
              <a:rPr kumimoji="0" lang="en-US" altLang="ko-KR" sz="1400" b="1" kern="0" dirty="0">
                <a:solidFill>
                  <a:sysClr val="windowText" lastClr="000000"/>
                </a:solidFill>
                <a:latin typeface="맑은 고딕" pitchFamily="50" charset="-127"/>
                <a:ea typeface="맑은 고딕" pitchFamily="50" charset="-127"/>
              </a:rPr>
              <a:t> Gage R&amp;R (Crossed)</a:t>
            </a:r>
          </a:p>
        </p:txBody>
      </p:sp>
      <p:sp>
        <p:nvSpPr>
          <p:cNvPr id="5" name="Oval 8"/>
          <p:cNvSpPr>
            <a:spLocks noChangeArrowheads="1"/>
          </p:cNvSpPr>
          <p:nvPr/>
        </p:nvSpPr>
        <p:spPr bwMode="auto">
          <a:xfrm>
            <a:off x="2863977" y="3717603"/>
            <a:ext cx="71437" cy="71437"/>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sp>
        <p:nvSpPr>
          <p:cNvPr id="6" name="Oval 9"/>
          <p:cNvSpPr>
            <a:spLocks noChangeArrowheads="1"/>
          </p:cNvSpPr>
          <p:nvPr/>
        </p:nvSpPr>
        <p:spPr bwMode="auto">
          <a:xfrm>
            <a:off x="3823447" y="3706813"/>
            <a:ext cx="71438" cy="71437"/>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sp>
        <p:nvSpPr>
          <p:cNvPr id="7" name="Oval 10"/>
          <p:cNvSpPr>
            <a:spLocks noChangeArrowheads="1"/>
          </p:cNvSpPr>
          <p:nvPr/>
        </p:nvSpPr>
        <p:spPr bwMode="auto">
          <a:xfrm>
            <a:off x="4770912" y="3717925"/>
            <a:ext cx="71437" cy="71438"/>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cxnSp>
        <p:nvCxnSpPr>
          <p:cNvPr id="8" name="AutoShape 12"/>
          <p:cNvCxnSpPr>
            <a:cxnSpLocks noChangeShapeType="1"/>
            <a:stCxn id="5" idx="0"/>
            <a:endCxn id="22" idx="2"/>
          </p:cNvCxnSpPr>
          <p:nvPr/>
        </p:nvCxnSpPr>
        <p:spPr bwMode="auto">
          <a:xfrm rot="16200000" flipV="1">
            <a:off x="2627142" y="3445049"/>
            <a:ext cx="228402" cy="316706"/>
          </a:xfrm>
          <a:prstGeom prst="curvedConnector3">
            <a:avLst>
              <a:gd name="adj1" fmla="val 50000"/>
            </a:avLst>
          </a:prstGeom>
          <a:noFill/>
          <a:ln w="9525">
            <a:solidFill>
              <a:srgbClr val="0000FF"/>
            </a:solidFill>
            <a:round/>
            <a:headEnd/>
            <a:tailEnd type="triangle" w="med" len="med"/>
          </a:ln>
        </p:spPr>
      </p:cxnSp>
      <p:cxnSp>
        <p:nvCxnSpPr>
          <p:cNvPr id="9" name="AutoShape 13"/>
          <p:cNvCxnSpPr>
            <a:cxnSpLocks noChangeShapeType="1"/>
            <a:stCxn id="6" idx="0"/>
            <a:endCxn id="23" idx="2"/>
          </p:cNvCxnSpPr>
          <p:nvPr/>
        </p:nvCxnSpPr>
        <p:spPr bwMode="auto">
          <a:xfrm rot="16200000" flipV="1">
            <a:off x="3685200" y="3532846"/>
            <a:ext cx="226307" cy="121627"/>
          </a:xfrm>
          <a:prstGeom prst="curvedConnector3">
            <a:avLst>
              <a:gd name="adj1" fmla="val 50000"/>
            </a:avLst>
          </a:prstGeom>
          <a:noFill/>
          <a:ln w="9525">
            <a:solidFill>
              <a:srgbClr val="0000FF"/>
            </a:solidFill>
            <a:round/>
            <a:headEnd/>
            <a:tailEnd type="triangle" w="med" len="med"/>
          </a:ln>
        </p:spPr>
      </p:cxnSp>
      <p:cxnSp>
        <p:nvCxnSpPr>
          <p:cNvPr id="10" name="AutoShape 14"/>
          <p:cNvCxnSpPr>
            <a:cxnSpLocks noChangeShapeType="1"/>
            <a:stCxn id="7" idx="0"/>
            <a:endCxn id="24" idx="2"/>
          </p:cNvCxnSpPr>
          <p:nvPr/>
        </p:nvCxnSpPr>
        <p:spPr bwMode="auto">
          <a:xfrm rot="16200000" flipV="1">
            <a:off x="4565781" y="3477074"/>
            <a:ext cx="237419" cy="244283"/>
          </a:xfrm>
          <a:prstGeom prst="curvedConnector3">
            <a:avLst>
              <a:gd name="adj1" fmla="val 50000"/>
            </a:avLst>
          </a:prstGeom>
          <a:noFill/>
          <a:ln w="9525">
            <a:solidFill>
              <a:srgbClr val="0000FF"/>
            </a:solidFill>
            <a:round/>
            <a:headEnd/>
            <a:tailEnd type="triangle" w="med" len="med"/>
          </a:ln>
        </p:spPr>
      </p:cxnSp>
      <p:sp>
        <p:nvSpPr>
          <p:cNvPr id="11" name="Rectangle 15"/>
          <p:cNvSpPr>
            <a:spLocks noChangeArrowheads="1"/>
          </p:cNvSpPr>
          <p:nvPr/>
        </p:nvSpPr>
        <p:spPr bwMode="auto">
          <a:xfrm>
            <a:off x="2997498" y="5895975"/>
            <a:ext cx="73025" cy="71438"/>
          </a:xfrm>
          <a:prstGeom prst="rect">
            <a:avLst/>
          </a:prstGeom>
          <a:solidFill>
            <a:srgbClr val="FF0000"/>
          </a:solidFill>
          <a:ln w="9525" algn="ctr">
            <a:solidFill>
              <a:srgbClr val="FF0000"/>
            </a:solid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12" name="Rectangle 16"/>
          <p:cNvSpPr>
            <a:spLocks noChangeArrowheads="1"/>
          </p:cNvSpPr>
          <p:nvPr/>
        </p:nvSpPr>
        <p:spPr bwMode="auto">
          <a:xfrm>
            <a:off x="1403648" y="6297885"/>
            <a:ext cx="2160588" cy="371475"/>
          </a:xfrm>
          <a:prstGeom prst="rect">
            <a:avLst/>
          </a:prstGeom>
          <a:solidFill>
            <a:schemeClr val="bg1"/>
          </a:solidFill>
          <a:ln w="9525" algn="ctr">
            <a:solidFill>
              <a:srgbClr val="FF0000"/>
            </a:solidFill>
            <a:miter lim="800000"/>
            <a:headEnd/>
            <a:tailEnd/>
          </a:ln>
        </p:spPr>
        <p:txBody>
          <a:bodyPr wrap="none" anchor="ctr"/>
          <a:lstStyle/>
          <a:p>
            <a:pPr algn="ctr">
              <a:spcBef>
                <a:spcPct val="50000"/>
              </a:spcBef>
            </a:pPr>
            <a:r>
              <a:rPr lang="en-US" altLang="ko-KR" sz="1200" b="1" dirty="0">
                <a:solidFill>
                  <a:srgbClr val="FF0000"/>
                </a:solidFill>
                <a:latin typeface="Arial" pitchFamily="34" charset="0"/>
              </a:rPr>
              <a:t>Attribute Data</a:t>
            </a:r>
          </a:p>
        </p:txBody>
      </p:sp>
      <p:sp>
        <p:nvSpPr>
          <p:cNvPr id="13" name="Rectangle 17"/>
          <p:cNvSpPr>
            <a:spLocks noChangeArrowheads="1"/>
          </p:cNvSpPr>
          <p:nvPr/>
        </p:nvSpPr>
        <p:spPr bwMode="auto">
          <a:xfrm>
            <a:off x="3524548" y="5889625"/>
            <a:ext cx="73025" cy="71438"/>
          </a:xfrm>
          <a:prstGeom prst="rect">
            <a:avLst/>
          </a:prstGeom>
          <a:solidFill>
            <a:srgbClr val="FF0000"/>
          </a:solidFill>
          <a:ln w="9525" algn="ctr">
            <a:solidFill>
              <a:srgbClr val="FF0000"/>
            </a:solidFill>
            <a:miter lim="800000"/>
            <a:headEnd/>
            <a:tailEnd/>
          </a:ln>
        </p:spPr>
        <p:txBody>
          <a:bodyPr wrap="none" anchor="ctr"/>
          <a:lstStyle/>
          <a:p>
            <a:pPr algn="ctr"/>
            <a:endParaRPr lang="ko-KR" altLang="en-US" sz="1000" dirty="0">
              <a:solidFill>
                <a:srgbClr val="000000"/>
              </a:solidFill>
              <a:latin typeface="Arial" pitchFamily="34" charset="0"/>
            </a:endParaRPr>
          </a:p>
        </p:txBody>
      </p:sp>
      <p:cxnSp>
        <p:nvCxnSpPr>
          <p:cNvPr id="14" name="AutoShape 18"/>
          <p:cNvCxnSpPr>
            <a:cxnSpLocks noChangeShapeType="1"/>
            <a:stCxn id="13" idx="2"/>
            <a:endCxn id="12" idx="0"/>
          </p:cNvCxnSpPr>
          <p:nvPr/>
        </p:nvCxnSpPr>
        <p:spPr bwMode="auto">
          <a:xfrm rot="5400000">
            <a:off x="2854091" y="5590915"/>
            <a:ext cx="336822" cy="1077119"/>
          </a:xfrm>
          <a:prstGeom prst="curvedConnector3">
            <a:avLst>
              <a:gd name="adj1" fmla="val 50000"/>
            </a:avLst>
          </a:prstGeom>
          <a:noFill/>
          <a:ln w="19050">
            <a:solidFill>
              <a:srgbClr val="FF0000"/>
            </a:solidFill>
            <a:round/>
            <a:headEnd/>
            <a:tailEnd type="triangle" w="med" len="med"/>
          </a:ln>
        </p:spPr>
      </p:cxnSp>
      <p:cxnSp>
        <p:nvCxnSpPr>
          <p:cNvPr id="15" name="AutoShape 19"/>
          <p:cNvCxnSpPr>
            <a:cxnSpLocks noChangeShapeType="1"/>
            <a:stCxn id="11" idx="2"/>
            <a:endCxn id="12" idx="0"/>
          </p:cNvCxnSpPr>
          <p:nvPr/>
        </p:nvCxnSpPr>
        <p:spPr bwMode="auto">
          <a:xfrm rot="5400000">
            <a:off x="2593741" y="5857615"/>
            <a:ext cx="330472" cy="550069"/>
          </a:xfrm>
          <a:prstGeom prst="curvedConnector3">
            <a:avLst>
              <a:gd name="adj1" fmla="val 50000"/>
            </a:avLst>
          </a:prstGeom>
          <a:noFill/>
          <a:ln w="19050">
            <a:solidFill>
              <a:srgbClr val="FF0000"/>
            </a:solidFill>
            <a:round/>
            <a:headEnd/>
            <a:tailEnd type="triangle" w="med" len="med"/>
          </a:ln>
        </p:spPr>
      </p:cxnSp>
      <p:sp>
        <p:nvSpPr>
          <p:cNvPr id="17" name="Rectangle 32"/>
          <p:cNvSpPr>
            <a:spLocks noChangeArrowheads="1"/>
          </p:cNvSpPr>
          <p:nvPr/>
        </p:nvSpPr>
        <p:spPr bwMode="auto">
          <a:xfrm>
            <a:off x="4608987" y="6297885"/>
            <a:ext cx="2160587" cy="371475"/>
          </a:xfrm>
          <a:prstGeom prst="rect">
            <a:avLst/>
          </a:prstGeom>
          <a:solidFill>
            <a:schemeClr val="bg1"/>
          </a:solidFill>
          <a:ln w="9525" algn="ctr">
            <a:solidFill>
              <a:srgbClr val="FF0000"/>
            </a:solidFill>
            <a:miter lim="800000"/>
            <a:headEnd/>
            <a:tailEnd/>
          </a:ln>
        </p:spPr>
        <p:txBody>
          <a:bodyPr wrap="none" anchor="ctr"/>
          <a:lstStyle/>
          <a:p>
            <a:pPr algn="ctr">
              <a:spcBef>
                <a:spcPct val="50000"/>
              </a:spcBef>
            </a:pPr>
            <a:r>
              <a:rPr lang="en-US" altLang="ko-KR" sz="1200" b="1" dirty="0">
                <a:solidFill>
                  <a:srgbClr val="FF0000"/>
                </a:solidFill>
                <a:latin typeface="Arial" pitchFamily="34" charset="0"/>
              </a:rPr>
              <a:t>Continuous Data</a:t>
            </a:r>
          </a:p>
        </p:txBody>
      </p:sp>
      <p:sp>
        <p:nvSpPr>
          <p:cNvPr id="18" name="Rectangle 33"/>
          <p:cNvSpPr>
            <a:spLocks noChangeArrowheads="1"/>
          </p:cNvSpPr>
          <p:nvPr/>
        </p:nvSpPr>
        <p:spPr bwMode="auto">
          <a:xfrm>
            <a:off x="4880449" y="5908675"/>
            <a:ext cx="73025" cy="71438"/>
          </a:xfrm>
          <a:prstGeom prst="rect">
            <a:avLst/>
          </a:prstGeom>
          <a:solidFill>
            <a:srgbClr val="FF0000"/>
          </a:solidFill>
          <a:ln w="9525" algn="ctr">
            <a:solidFill>
              <a:srgbClr val="FF0000"/>
            </a:solidFill>
            <a:miter lim="800000"/>
            <a:headEnd/>
            <a:tailEnd/>
          </a:ln>
        </p:spPr>
        <p:txBody>
          <a:bodyPr wrap="none" anchor="ctr"/>
          <a:lstStyle/>
          <a:p>
            <a:pPr algn="ctr"/>
            <a:endParaRPr lang="ko-KR" altLang="en-US" sz="1000" dirty="0">
              <a:solidFill>
                <a:srgbClr val="000000"/>
              </a:solidFill>
              <a:latin typeface="Arial" pitchFamily="34" charset="0"/>
            </a:endParaRPr>
          </a:p>
        </p:txBody>
      </p:sp>
      <p:cxnSp>
        <p:nvCxnSpPr>
          <p:cNvPr id="19" name="AutoShape 34"/>
          <p:cNvCxnSpPr>
            <a:cxnSpLocks noChangeShapeType="1"/>
            <a:stCxn id="18" idx="3"/>
            <a:endCxn id="17" idx="0"/>
          </p:cNvCxnSpPr>
          <p:nvPr/>
        </p:nvCxnSpPr>
        <p:spPr bwMode="auto">
          <a:xfrm>
            <a:off x="4953474" y="5944394"/>
            <a:ext cx="735807" cy="353491"/>
          </a:xfrm>
          <a:prstGeom prst="curvedConnector2">
            <a:avLst/>
          </a:prstGeom>
          <a:noFill/>
          <a:ln w="28575">
            <a:solidFill>
              <a:srgbClr val="FF0000"/>
            </a:solidFill>
            <a:round/>
            <a:headEnd/>
            <a:tailEnd type="triangle" w="med" len="med"/>
          </a:ln>
        </p:spPr>
      </p:cxnSp>
      <p:sp>
        <p:nvSpPr>
          <p:cNvPr id="20" name="Rectangle 5"/>
          <p:cNvSpPr>
            <a:spLocks noChangeArrowheads="1"/>
          </p:cNvSpPr>
          <p:nvPr/>
        </p:nvSpPr>
        <p:spPr bwMode="auto">
          <a:xfrm>
            <a:off x="899592" y="1124744"/>
            <a:ext cx="7937026" cy="2070546"/>
          </a:xfrm>
          <a:prstGeom prst="rect">
            <a:avLst/>
          </a:prstGeom>
          <a:solidFill>
            <a:srgbClr val="FFFFFF"/>
          </a:solidFill>
          <a:ln w="9525" algn="ctr">
            <a:solidFill>
              <a:schemeClr val="bg1">
                <a:lumMod val="65000"/>
              </a:schemeClr>
            </a:solidFill>
            <a:miter lim="800000"/>
            <a:headEnd/>
            <a:tailEnd/>
          </a:ln>
        </p:spPr>
        <p:txBody>
          <a:bodyPr wrap="none"/>
          <a:lstStyle/>
          <a:p>
            <a:pPr>
              <a:lnSpc>
                <a:spcPct val="120000"/>
              </a:lnSpc>
              <a:defRPr/>
            </a:pPr>
            <a:r>
              <a:rPr lang="vi-VN" altLang="ko-KR" sz="1200" b="1" dirty="0">
                <a:solidFill>
                  <a:srgbClr val="000000"/>
                </a:solidFill>
                <a:latin typeface="맑은 고딕" pitchFamily="50" charset="-127"/>
                <a:ea typeface="맑은 고딕" pitchFamily="50" charset="-127"/>
              </a:rPr>
              <a:t>Các dữ liệu sau đây được thu thập </a:t>
            </a:r>
            <a:r>
              <a:rPr lang="en-US" altLang="ko-KR" sz="1200" b="1" dirty="0" err="1">
                <a:solidFill>
                  <a:srgbClr val="000000"/>
                </a:solidFill>
                <a:latin typeface="맑은 고딕" pitchFamily="50" charset="-127"/>
                <a:ea typeface="맑은 고딕" pitchFamily="50" charset="-127"/>
              </a:rPr>
              <a:t>để</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kiểm</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chứng</a:t>
            </a:r>
            <a:r>
              <a:rPr lang="vi-VN" altLang="ko-KR" sz="1200" b="1" dirty="0">
                <a:solidFill>
                  <a:srgbClr val="000000"/>
                </a:solidFill>
                <a:latin typeface="맑은 고딕" pitchFamily="50" charset="-127"/>
                <a:ea typeface="맑은 고딕" pitchFamily="50" charset="-127"/>
              </a:rPr>
              <a:t> Gage R &amp; R cho dự án Y của mục tiêu dự án</a:t>
            </a:r>
            <a:endParaRPr lang="en-US" altLang="ko-KR" sz="1200" dirty="0">
              <a:solidFill>
                <a:srgbClr val="000000"/>
              </a:solidFill>
              <a:latin typeface="맑은 고딕" pitchFamily="50" charset="-127"/>
              <a:ea typeface="맑은 고딕" pitchFamily="50" charset="-127"/>
            </a:endParaRPr>
          </a:p>
          <a:p>
            <a:pPr>
              <a:lnSpc>
                <a:spcPct val="120000"/>
              </a:lnSpc>
              <a:buFontTx/>
              <a:buChar char="-"/>
              <a:defRPr/>
            </a:pPr>
            <a:r>
              <a:rPr lang="en-US" altLang="ko-KR" sz="1200" dirty="0">
                <a:solidFill>
                  <a:srgbClr val="000000"/>
                </a:solidFill>
                <a:latin typeface="맑은 고딕" pitchFamily="50" charset="-127"/>
                <a:ea typeface="맑은 고딕" pitchFamily="50" charset="-127"/>
              </a:rPr>
              <a:t>Parts : </a:t>
            </a:r>
            <a:r>
              <a:rPr lang="en-US" altLang="ko-KR" sz="1200" dirty="0" err="1">
                <a:solidFill>
                  <a:srgbClr val="000000"/>
                </a:solidFill>
                <a:latin typeface="맑은 고딕" pitchFamily="50" charset="-127"/>
                <a:ea typeface="맑은 고딕" pitchFamily="50" charset="-127"/>
              </a:rPr>
              <a:t>Giới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hạn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quy</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cách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(16.5±0.8 mm)</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loại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theo</a:t>
            </a:r>
            <a:r>
              <a:rPr lang="en-US" altLang="ko-KR" sz="1200" dirty="0">
                <a:solidFill>
                  <a:srgbClr val="000000"/>
                </a:solidFill>
                <a:latin typeface="맑은 고딕" pitchFamily="50" charset="-127"/>
                <a:ea typeface="맑은 고딕" pitchFamily="50" charset="-127"/>
              </a:rPr>
              <a:t> 10 </a:t>
            </a:r>
            <a:r>
              <a:rPr lang="en-US" altLang="ko-KR" sz="1200" dirty="0" err="1">
                <a:solidFill>
                  <a:srgbClr val="000000"/>
                </a:solidFill>
                <a:latin typeface="맑은 고딕" pitchFamily="50" charset="-127"/>
                <a:ea typeface="맑은 고딕" pitchFamily="50" charset="-127"/>
              </a:rPr>
              <a:t>khoảng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cách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bằng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nhau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mỗi</a:t>
            </a:r>
            <a:endParaRPr lang="en-US" altLang="ko-KR" sz="1200" dirty="0">
              <a:solidFill>
                <a:srgbClr val="000000"/>
              </a:solidFill>
              <a:latin typeface="맑은 고딕" pitchFamily="50" charset="-127"/>
              <a:ea typeface="맑은 고딕" pitchFamily="50" charset="-127"/>
            </a:endParaRPr>
          </a:p>
          <a:p>
            <a:pPr>
              <a:lnSpc>
                <a:spcPct val="120000"/>
              </a:lnSpc>
              <a:defRPr/>
            </a:pPr>
            <a:r>
              <a:rPr lang="en-US" altLang="ko-KR" sz="1200" dirty="0" err="1">
                <a:solidFill>
                  <a:srgbClr val="000000"/>
                </a:solidFill>
                <a:latin typeface="맑은 고딕" pitchFamily="50" charset="-127"/>
                <a:ea typeface="맑은 고딕" pitchFamily="50" charset="-127"/>
              </a:rPr>
              <a:t>khoảng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cách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lựa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chọn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ra</a:t>
            </a:r>
            <a:r>
              <a:rPr lang="en-US" altLang="ko-KR" sz="1200" dirty="0">
                <a:solidFill>
                  <a:srgbClr val="000000"/>
                </a:solidFill>
                <a:latin typeface="맑은 고딕" pitchFamily="50" charset="-127"/>
                <a:ea typeface="맑은 고딕" pitchFamily="50" charset="-127"/>
              </a:rPr>
              <a:t> 1 part</a:t>
            </a:r>
            <a:endParaRPr lang="ko-KR" altLang="en-US" sz="1200" dirty="0">
              <a:solidFill>
                <a:srgbClr val="000000"/>
              </a:solidFill>
              <a:latin typeface="맑은 고딕" pitchFamily="50" charset="-127"/>
              <a:ea typeface="맑은 고딕" pitchFamily="50" charset="-127"/>
            </a:endParaRPr>
          </a:p>
          <a:p>
            <a:pPr>
              <a:lnSpc>
                <a:spcPct val="120000"/>
              </a:lnSpc>
              <a:buFontTx/>
              <a:buChar char="-"/>
              <a:defRPr/>
            </a:pPr>
            <a:r>
              <a:rPr lang="en-US" altLang="ko-KR" sz="1200" dirty="0">
                <a:solidFill>
                  <a:srgbClr val="000000"/>
                </a:solidFill>
                <a:latin typeface="맑은 고딕" pitchFamily="50" charset="-127"/>
                <a:ea typeface="맑은 고딕" pitchFamily="50" charset="-127"/>
              </a:rPr>
              <a:t>Operators : </a:t>
            </a:r>
            <a:r>
              <a:rPr lang="en-US" altLang="ko-KR" sz="1200" dirty="0" err="1">
                <a:solidFill>
                  <a:srgbClr val="000000"/>
                </a:solidFill>
                <a:latin typeface="맑은 고딕" pitchFamily="50" charset="-127"/>
                <a:ea typeface="맑은 고딕" pitchFamily="50" charset="-127"/>
              </a:rPr>
              <a:t>Lựa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chọn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ngẫu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nhiên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quan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tâm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thành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thục</a:t>
            </a:r>
            <a:r>
              <a:rPr lang="en-US" altLang="ko-KR" sz="1200" dirty="0">
                <a:solidFill>
                  <a:srgbClr val="000000"/>
                </a:solidFill>
                <a:latin typeface="맑은 고딕" pitchFamily="50" charset="-127"/>
                <a:ea typeface="맑은 고딕" pitchFamily="50" charset="-127"/>
              </a:rPr>
              <a:t> 3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đánh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p>
          <a:p>
            <a:pPr>
              <a:lnSpc>
                <a:spcPct val="120000"/>
              </a:lnSpc>
              <a:defRPr/>
            </a:pPr>
            <a:r>
              <a:rPr lang="en-US" altLang="ko-KR" sz="1200" dirty="0">
                <a:solidFill>
                  <a:srgbClr val="000000"/>
                </a:solidFill>
                <a:latin typeface="맑은 고딕" pitchFamily="50" charset="-127"/>
                <a:ea typeface="맑은 고딕" pitchFamily="50" charset="-127"/>
              </a:rPr>
              <a:t>process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tại</a:t>
            </a:r>
            <a:endParaRPr lang="ko-KR" altLang="en-US" sz="1200" dirty="0">
              <a:solidFill>
                <a:srgbClr val="000000"/>
              </a:solidFill>
              <a:latin typeface="맑은 고딕" pitchFamily="50" charset="-127"/>
              <a:ea typeface="맑은 고딕" pitchFamily="50" charset="-127"/>
            </a:endParaRPr>
          </a:p>
          <a:p>
            <a:pPr>
              <a:lnSpc>
                <a:spcPct val="120000"/>
              </a:lnSpc>
              <a:defRPr/>
            </a:pPr>
            <a:r>
              <a:rPr lang="en-US" altLang="ko-KR" sz="1200" dirty="0">
                <a:solidFill>
                  <a:srgbClr val="000000"/>
                </a:solidFill>
                <a:latin typeface="맑은 고딕" pitchFamily="50" charset="-127"/>
                <a:ea typeface="맑은 고딕" pitchFamily="50" charset="-127"/>
              </a:rPr>
              <a:t>- Data Collection : </a:t>
            </a:r>
            <a:r>
              <a:rPr lang="en-US" altLang="ko-KR" sz="1200" dirty="0" err="1">
                <a:solidFill>
                  <a:srgbClr val="000000"/>
                </a:solidFill>
                <a:latin typeface="맑은 고딕" pitchFamily="50" charset="-127"/>
                <a:ea typeface="맑은 고딕" pitchFamily="50" charset="-127"/>
              </a:rPr>
              <a:t>Quyết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định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ngẫu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nhiên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thứ</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đánh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thứ</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hành</a:t>
            </a:r>
            <a:r>
              <a:rPr lang="en-US" altLang="ko-KR" sz="1200" dirty="0">
                <a:solidFill>
                  <a:srgbClr val="000000"/>
                </a:solidFill>
                <a:latin typeface="맑은 고딕" pitchFamily="50" charset="-127"/>
                <a:ea typeface="맑은 고딕" pitchFamily="50" charset="-127"/>
              </a:rPr>
              <a:t> Blind Test </a:t>
            </a:r>
            <a:endParaRPr lang="ko-KR" altLang="en-US" sz="1200" dirty="0">
              <a:solidFill>
                <a:srgbClr val="000000"/>
              </a:solidFill>
              <a:latin typeface="맑은 고딕" pitchFamily="50" charset="-127"/>
              <a:ea typeface="맑은 고딕" pitchFamily="50" charset="-127"/>
            </a:endParaRPr>
          </a:p>
          <a:p>
            <a:pPr>
              <a:lnSpc>
                <a:spcPct val="120000"/>
              </a:lnSpc>
              <a:defRPr/>
            </a:pP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đánh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hành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thông</a:t>
            </a:r>
            <a:r>
              <a:rPr lang="en-US" altLang="ko-KR" sz="1200" dirty="0">
                <a:solidFill>
                  <a:srgbClr val="000000"/>
                </a:solidFill>
                <a:latin typeface="맑은 고딕" pitchFamily="50" charset="-127"/>
                <a:ea typeface="맑은 고딕" pitchFamily="50" charset="-127"/>
              </a:rPr>
              <a:t> qua </a:t>
            </a:r>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phương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khả</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năng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nhưng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p>
          <a:p>
            <a:pPr>
              <a:lnSpc>
                <a:spcPct val="120000"/>
              </a:lnSpc>
              <a:defRPr/>
            </a:pPr>
            <a:r>
              <a:rPr lang="en-US" altLang="ko-KR" sz="1200" dirty="0" err="1">
                <a:solidFill>
                  <a:srgbClr val="000000"/>
                </a:solidFill>
                <a:latin typeface="맑은 고딕" pitchFamily="50" charset="-127"/>
                <a:ea typeface="맑은 고딕" pitchFamily="50" charset="-127"/>
              </a:rPr>
              <a:t>quá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trình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lưu</a:t>
            </a:r>
            <a:r>
              <a:rPr lang="en-US" altLang="ko-KR" sz="1200" dirty="0">
                <a:solidFill>
                  <a:srgbClr val="000000"/>
                </a:solidFill>
                <a:latin typeface="맑은 고딕" pitchFamily="50" charset="-127"/>
                <a:ea typeface="맑은 고딕" pitchFamily="50" charset="-127"/>
              </a:rPr>
              <a:t> ý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điều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chỉnh</a:t>
            </a:r>
            <a:r>
              <a:rPr lang="en-US" altLang="ko-KR" sz="1200" dirty="0">
                <a:solidFill>
                  <a:srgbClr val="000000"/>
                </a:solidFill>
                <a:latin typeface="맑은 고딕" pitchFamily="50" charset="-127"/>
                <a:ea typeface="맑은 고딕" pitchFamily="50" charset="-127"/>
              </a:rPr>
              <a:t> Gage</a:t>
            </a:r>
            <a:endParaRPr lang="ko-KR" altLang="en-US" sz="1200" dirty="0">
              <a:solidFill>
                <a:srgbClr val="000000"/>
              </a:solidFill>
              <a:latin typeface="맑은 고딕" pitchFamily="50" charset="-127"/>
              <a:ea typeface="맑은 고딕" pitchFamily="50" charset="-127"/>
            </a:endParaRPr>
          </a:p>
          <a:p>
            <a:pPr>
              <a:lnSpc>
                <a:spcPct val="120000"/>
              </a:lnSpc>
              <a:defRPr/>
            </a:pPr>
            <a:r>
              <a:rPr lang="en-US" altLang="ko-KR" sz="1200" dirty="0">
                <a:solidFill>
                  <a:srgbClr val="000000"/>
                </a:solidFill>
                <a:latin typeface="맑은 고딕" pitchFamily="50" charset="-127"/>
                <a:ea typeface="맑은 고딕" pitchFamily="50" charset="-127"/>
              </a:rPr>
              <a:t>- Process Information : </a:t>
            </a:r>
            <a:r>
              <a:rPr lang="en-US" altLang="ko-KR" sz="1200" dirty="0" err="1">
                <a:solidFill>
                  <a:srgbClr val="000000"/>
                </a:solidFill>
                <a:latin typeface="맑은 고딕" pitchFamily="50" charset="-127"/>
                <a:ea typeface="맑은 고딕" pitchFamily="50" charset="-127"/>
              </a:rPr>
              <a:t>Phân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tán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process </a:t>
            </a:r>
            <a:r>
              <a:rPr lang="en-US" altLang="ko-KR" sz="1200" dirty="0" err="1">
                <a:solidFill>
                  <a:srgbClr val="000000"/>
                </a:solidFill>
                <a:latin typeface="맑은 고딕" pitchFamily="50" charset="-127"/>
                <a:ea typeface="맑은 고딕" pitchFamily="50" charset="-127"/>
              </a:rPr>
              <a:t>sản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xuất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tại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lệch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Historical Sigma = 0.35(mm) </a:t>
            </a:r>
          </a:p>
        </p:txBody>
      </p:sp>
      <p:sp>
        <p:nvSpPr>
          <p:cNvPr id="21" name="TextBox 21"/>
          <p:cNvSpPr txBox="1">
            <a:spLocks noChangeArrowheads="1"/>
          </p:cNvSpPr>
          <p:nvPr/>
        </p:nvSpPr>
        <p:spPr bwMode="auto">
          <a:xfrm>
            <a:off x="603724" y="3214688"/>
            <a:ext cx="1394934"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Nhập</a:t>
            </a:r>
            <a:r>
              <a:rPr lang="en-US" altLang="ko-KR" sz="1400" b="1" dirty="0">
                <a:solidFill>
                  <a:srgbClr val="000000"/>
                </a:solidFill>
                <a:latin typeface="맑은 고딕" pitchFamily="50" charset="-127"/>
                <a:ea typeface="맑은 고딕" pitchFamily="50" charset="-127"/>
              </a:rPr>
              <a:t> Data </a:t>
            </a:r>
            <a:endParaRPr lang="ko-KR" altLang="en-US" sz="1400" b="1" dirty="0">
              <a:solidFill>
                <a:srgbClr val="000000"/>
              </a:solidFill>
              <a:latin typeface="맑은 고딕" pitchFamily="50" charset="-127"/>
              <a:ea typeface="맑은 고딕" pitchFamily="50" charset="-127"/>
            </a:endParaRPr>
          </a:p>
        </p:txBody>
      </p:sp>
      <p:sp>
        <p:nvSpPr>
          <p:cNvPr id="22" name="TextBox 24"/>
          <p:cNvSpPr txBox="1">
            <a:spLocks noChangeArrowheads="1"/>
          </p:cNvSpPr>
          <p:nvPr/>
        </p:nvSpPr>
        <p:spPr bwMode="auto">
          <a:xfrm>
            <a:off x="2200402" y="3212976"/>
            <a:ext cx="765175" cy="276225"/>
          </a:xfrm>
          <a:prstGeom prst="rect">
            <a:avLst/>
          </a:prstGeom>
          <a:solidFill>
            <a:schemeClr val="bg1"/>
          </a:solid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Part no.</a:t>
            </a:r>
            <a:endParaRPr lang="ko-KR" altLang="en-US" sz="1200" b="1" dirty="0">
              <a:solidFill>
                <a:srgbClr val="000000"/>
              </a:solidFill>
              <a:latin typeface="맑은 고딕" pitchFamily="50" charset="-127"/>
              <a:ea typeface="맑은 고딕" pitchFamily="50" charset="-127"/>
            </a:endParaRPr>
          </a:p>
        </p:txBody>
      </p:sp>
      <p:sp>
        <p:nvSpPr>
          <p:cNvPr id="23" name="TextBox 28"/>
          <p:cNvSpPr txBox="1">
            <a:spLocks noChangeArrowheads="1"/>
          </p:cNvSpPr>
          <p:nvPr/>
        </p:nvSpPr>
        <p:spPr bwMode="auto">
          <a:xfrm>
            <a:off x="3280522" y="3203507"/>
            <a:ext cx="914033" cy="276999"/>
          </a:xfrm>
          <a:prstGeom prst="rect">
            <a:avLst/>
          </a:prstGeom>
          <a:solidFill>
            <a:schemeClr val="bg1"/>
          </a:solid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Người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đo</a:t>
            </a:r>
            <a:endParaRPr lang="ko-KR" altLang="en-US" sz="1200" b="1" dirty="0">
              <a:solidFill>
                <a:srgbClr val="000000"/>
              </a:solidFill>
              <a:latin typeface="맑은 고딕" pitchFamily="50" charset="-127"/>
              <a:ea typeface="맑은 고딕" pitchFamily="50" charset="-127"/>
            </a:endParaRPr>
          </a:p>
        </p:txBody>
      </p:sp>
      <p:sp>
        <p:nvSpPr>
          <p:cNvPr id="24" name="TextBox 29"/>
          <p:cNvSpPr txBox="1">
            <a:spLocks noChangeArrowheads="1"/>
          </p:cNvSpPr>
          <p:nvPr/>
        </p:nvSpPr>
        <p:spPr bwMode="auto">
          <a:xfrm>
            <a:off x="4148612" y="3203507"/>
            <a:ext cx="827471" cy="276999"/>
          </a:xfrm>
          <a:prstGeom prst="rect">
            <a:avLst/>
          </a:prstGeom>
          <a:solidFill>
            <a:schemeClr val="bg1"/>
          </a:solidFill>
          <a:ln w="9525">
            <a:noFill/>
            <a:miter lim="800000"/>
            <a:headEnd/>
            <a:tailEnd/>
          </a:ln>
        </p:spPr>
        <p:txBody>
          <a:bodyPr wrap="none">
            <a:spAutoFit/>
          </a:bodyPr>
          <a:lstStyle/>
          <a:p>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Data </a:t>
            </a:r>
            <a:r>
              <a:rPr lang="en-US" altLang="ko-KR" sz="1200" b="1" dirty="0" err="1">
                <a:solidFill>
                  <a:srgbClr val="000000"/>
                </a:solidFill>
                <a:latin typeface="맑은 고딕" pitchFamily="50" charset="-127"/>
                <a:ea typeface="맑은 고딕" pitchFamily="50" charset="-127"/>
              </a:rPr>
              <a:t>đo</a:t>
            </a:r>
            <a:endParaRPr lang="ko-KR" altLang="en-US" sz="1200" b="1" dirty="0">
              <a:solidFill>
                <a:srgbClr val="000000"/>
              </a:solidFill>
              <a:latin typeface="맑은 고딕" pitchFamily="50" charset="-127"/>
              <a:ea typeface="맑은 고딕" pitchFamily="50" charset="-127"/>
            </a:endParaRPr>
          </a:p>
        </p:txBody>
      </p:sp>
      <p:sp>
        <p:nvSpPr>
          <p:cNvPr id="25" name="TextBox 30"/>
          <p:cNvSpPr txBox="1">
            <a:spLocks noChangeArrowheads="1"/>
          </p:cNvSpPr>
          <p:nvPr/>
        </p:nvSpPr>
        <p:spPr bwMode="auto">
          <a:xfrm>
            <a:off x="5091556" y="3190255"/>
            <a:ext cx="1140056" cy="276999"/>
          </a:xfrm>
          <a:prstGeom prst="rect">
            <a:avLst/>
          </a:prstGeom>
          <a:solidFill>
            <a:schemeClr val="bg1"/>
          </a:solidFill>
          <a:ln w="9525">
            <a:noFill/>
            <a:miter lim="800000"/>
            <a:headEnd/>
            <a:tailEnd/>
          </a:ln>
        </p:spPr>
        <p:txBody>
          <a:bodyPr wrap="none">
            <a:spAutoFit/>
          </a:bodyPr>
          <a:lstStyle/>
          <a:p>
            <a:r>
              <a:rPr lang="en-US" altLang="ko-KR" sz="1200" b="1" dirty="0" err="1">
                <a:solidFill>
                  <a:srgbClr val="000000"/>
                </a:solidFill>
                <a:latin typeface="맑은 고딕" pitchFamily="50" charset="-127"/>
                <a:ea typeface="맑은 고딕" pitchFamily="50" charset="-127"/>
              </a:rPr>
              <a:t>Số</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lần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lặp</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lại</a:t>
            </a:r>
            <a:endParaRPr lang="ko-KR" altLang="en-US" sz="1200" b="1" dirty="0">
              <a:solidFill>
                <a:srgbClr val="000000"/>
              </a:solidFill>
              <a:latin typeface="맑은 고딕" pitchFamily="50" charset="-127"/>
              <a:ea typeface="맑은 고딕" pitchFamily="50" charset="-127"/>
            </a:endParaRPr>
          </a:p>
        </p:txBody>
      </p:sp>
      <p:sp>
        <p:nvSpPr>
          <p:cNvPr id="26" name="TextBox 25"/>
          <p:cNvSpPr txBox="1"/>
          <p:nvPr/>
        </p:nvSpPr>
        <p:spPr>
          <a:xfrm>
            <a:off x="124893" y="1196752"/>
            <a:ext cx="846707" cy="646331"/>
          </a:xfrm>
          <a:prstGeom prst="rect">
            <a:avLst/>
          </a:prstGeom>
          <a:noFill/>
        </p:spPr>
        <p:txBody>
          <a:bodyPr wrap="none" rtlCol="0">
            <a:spAutoFit/>
          </a:bodyPr>
          <a:lstStyle/>
          <a:p>
            <a:r>
              <a:rPr lang="en-US" altLang="ko-KR" sz="1200" dirty="0">
                <a:solidFill>
                  <a:srgbClr val="FF0066"/>
                </a:solidFill>
                <a:latin typeface="맑은 고딕" pitchFamily="50" charset="-127"/>
                <a:ea typeface="맑은 고딕" pitchFamily="50" charset="-127"/>
              </a:rPr>
              <a:t>File </a:t>
            </a:r>
            <a:r>
              <a:rPr lang="en-US" altLang="ko-KR" sz="1200" dirty="0" err="1">
                <a:solidFill>
                  <a:srgbClr val="FF0066"/>
                </a:solidFill>
                <a:latin typeface="맑은 고딕" pitchFamily="50" charset="-127"/>
                <a:ea typeface="맑은 고딕" pitchFamily="50" charset="-127"/>
              </a:rPr>
              <a:t>thực</a:t>
            </a:r>
            <a:r>
              <a:rPr lang="en-US" altLang="ko-KR" sz="1200" dirty="0">
                <a:solidFill>
                  <a:srgbClr val="FF0066"/>
                </a:solidFill>
                <a:latin typeface="맑은 고딕" pitchFamily="50" charset="-127"/>
                <a:ea typeface="맑은 고딕" pitchFamily="50" charset="-127"/>
              </a:rPr>
              <a:t> </a:t>
            </a:r>
          </a:p>
          <a:p>
            <a:r>
              <a:rPr lang="en-US" altLang="ko-KR" sz="1200" dirty="0" err="1">
                <a:solidFill>
                  <a:srgbClr val="FF0066"/>
                </a:solidFill>
                <a:latin typeface="맑은 고딕" pitchFamily="50" charset="-127"/>
                <a:ea typeface="맑은 고딕" pitchFamily="50" charset="-127"/>
              </a:rPr>
              <a:t>hành</a:t>
            </a:r>
            <a:r>
              <a:rPr lang="ko-KR" altLang="en-US" sz="1200" dirty="0">
                <a:solidFill>
                  <a:srgbClr val="FF0066"/>
                </a:solidFill>
                <a:latin typeface="맑은 고딕" pitchFamily="50" charset="-127"/>
                <a:ea typeface="맑은 고딕" pitchFamily="50" charset="-127"/>
              </a:rPr>
              <a:t> </a:t>
            </a:r>
            <a:endParaRPr lang="en-US" altLang="ko-KR" sz="1200" dirty="0">
              <a:solidFill>
                <a:srgbClr val="FF0066"/>
              </a:solidFill>
              <a:latin typeface="맑은 고딕" pitchFamily="50" charset="-127"/>
              <a:ea typeface="맑은 고딕" pitchFamily="50" charset="-127"/>
            </a:endParaRPr>
          </a:p>
          <a:p>
            <a:r>
              <a:rPr lang="en-US" altLang="ko-KR" sz="1200" dirty="0">
                <a:solidFill>
                  <a:srgbClr val="FF0066"/>
                </a:solidFill>
                <a:latin typeface="맑은 고딕" pitchFamily="50" charset="-127"/>
                <a:ea typeface="맑은 고딕" pitchFamily="50" charset="-127"/>
              </a:rPr>
              <a:t>STB.2.1 </a:t>
            </a:r>
            <a:endParaRPr lang="ko-KR" altLang="en-US" sz="1200" dirty="0">
              <a:solidFill>
                <a:srgbClr val="FF0066"/>
              </a:solidFill>
              <a:latin typeface="맑은 고딕" pitchFamily="50" charset="-127"/>
              <a:ea typeface="맑은 고딕" pitchFamily="50" charset="-127"/>
            </a:endParaRPr>
          </a:p>
        </p:txBody>
      </p:sp>
      <p:cxnSp>
        <p:nvCxnSpPr>
          <p:cNvPr id="27" name="AutoShape 14"/>
          <p:cNvCxnSpPr>
            <a:cxnSpLocks noChangeShapeType="1"/>
            <a:stCxn id="28" idx="0"/>
            <a:endCxn id="25" idx="2"/>
          </p:cNvCxnSpPr>
          <p:nvPr/>
        </p:nvCxnSpPr>
        <p:spPr bwMode="auto">
          <a:xfrm rot="5400000" flipH="1" flipV="1">
            <a:off x="5383396" y="3452796"/>
            <a:ext cx="263730" cy="292646"/>
          </a:xfrm>
          <a:prstGeom prst="curvedConnector3">
            <a:avLst>
              <a:gd name="adj1" fmla="val 50000"/>
            </a:avLst>
          </a:prstGeom>
          <a:noFill/>
          <a:ln w="9525">
            <a:solidFill>
              <a:srgbClr val="0000FF"/>
            </a:solidFill>
            <a:round/>
            <a:headEnd/>
            <a:tailEnd type="triangle" w="med" len="med"/>
          </a:ln>
        </p:spPr>
      </p:cxnSp>
      <p:sp>
        <p:nvSpPr>
          <p:cNvPr id="28" name="Oval 10"/>
          <p:cNvSpPr>
            <a:spLocks noChangeArrowheads="1"/>
          </p:cNvSpPr>
          <p:nvPr/>
        </p:nvSpPr>
        <p:spPr bwMode="auto">
          <a:xfrm>
            <a:off x="5333219" y="3730984"/>
            <a:ext cx="71437" cy="71438"/>
          </a:xfrm>
          <a:prstGeom prst="ellipse">
            <a:avLst/>
          </a:prstGeom>
          <a:solidFill>
            <a:srgbClr val="0000FF"/>
          </a:solidFill>
          <a:ln w="9525" algn="ctr">
            <a:solidFill>
              <a:srgbClr val="0000FF"/>
            </a:solidFill>
            <a:round/>
            <a:headEnd/>
            <a:tailEnd/>
          </a:ln>
        </p:spPr>
        <p:txBody>
          <a:bodyPr wrap="none" anchor="ctr"/>
          <a:lstStyle/>
          <a:p>
            <a:pPr algn="ctr">
              <a:spcBef>
                <a:spcPct val="50000"/>
              </a:spcBef>
            </a:pPr>
            <a:endParaRPr lang="ko-KR" altLang="ko-KR" sz="1200" b="1" dirty="0">
              <a:solidFill>
                <a:srgbClr val="000000"/>
              </a:solidFill>
              <a:latin typeface="Arial" pitchFamily="34" charset="0"/>
            </a:endParaRPr>
          </a:p>
        </p:txBody>
      </p:sp>
      <p:sp>
        <p:nvSpPr>
          <p:cNvPr id="31" name="직사각형 30"/>
          <p:cNvSpPr/>
          <p:nvPr/>
        </p:nvSpPr>
        <p:spPr>
          <a:xfrm>
            <a:off x="6156176"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graphicFrame>
        <p:nvGraphicFramePr>
          <p:cNvPr id="30" name="표 29"/>
          <p:cNvGraphicFramePr>
            <a:graphicFrameLocks noGrp="1"/>
          </p:cNvGraphicFramePr>
          <p:nvPr>
            <p:extLst>
              <p:ext uri="{D42A27DB-BD31-4B8C-83A1-F6EECF244321}">
                <p14:modId xmlns:p14="http://schemas.microsoft.com/office/powerpoint/2010/main" val="638021057"/>
              </p:ext>
            </p:extLst>
          </p:nvPr>
        </p:nvGraphicFramePr>
        <p:xfrm>
          <a:off x="2385257" y="3711284"/>
          <a:ext cx="4392490" cy="2459990"/>
        </p:xfrm>
        <a:graphic>
          <a:graphicData uri="http://schemas.openxmlformats.org/drawingml/2006/table">
            <a:tbl>
              <a:tblPr/>
              <a:tblGrid>
                <a:gridCol w="878498">
                  <a:extLst>
                    <a:ext uri="{9D8B030D-6E8A-4147-A177-3AD203B41FA5}">
                      <a16:colId xmlns:a16="http://schemas.microsoft.com/office/drawing/2014/main" val="20000"/>
                    </a:ext>
                  </a:extLst>
                </a:gridCol>
                <a:gridCol w="878498">
                  <a:extLst>
                    <a:ext uri="{9D8B030D-6E8A-4147-A177-3AD203B41FA5}">
                      <a16:colId xmlns:a16="http://schemas.microsoft.com/office/drawing/2014/main" val="20001"/>
                    </a:ext>
                  </a:extLst>
                </a:gridCol>
                <a:gridCol w="878498">
                  <a:extLst>
                    <a:ext uri="{9D8B030D-6E8A-4147-A177-3AD203B41FA5}">
                      <a16:colId xmlns:a16="http://schemas.microsoft.com/office/drawing/2014/main" val="20002"/>
                    </a:ext>
                  </a:extLst>
                </a:gridCol>
                <a:gridCol w="878498">
                  <a:extLst>
                    <a:ext uri="{9D8B030D-6E8A-4147-A177-3AD203B41FA5}">
                      <a16:colId xmlns:a16="http://schemas.microsoft.com/office/drawing/2014/main" val="20003"/>
                    </a:ext>
                  </a:extLst>
                </a:gridCol>
                <a:gridCol w="878498">
                  <a:extLst>
                    <a:ext uri="{9D8B030D-6E8A-4147-A177-3AD203B41FA5}">
                      <a16:colId xmlns:a16="http://schemas.microsoft.com/office/drawing/2014/main" val="20004"/>
                    </a:ext>
                  </a:extLst>
                </a:gridCol>
              </a:tblGrid>
              <a:tr h="177693">
                <a:tc>
                  <a:txBody>
                    <a:bodyPr/>
                    <a:lstStyle/>
                    <a:p>
                      <a:pPr algn="ctr" fontAlgn="b"/>
                      <a:r>
                        <a:rPr lang="en-US" sz="1200" b="0" i="0" u="none" strike="noStrike">
                          <a:solidFill>
                            <a:srgbClr val="000000"/>
                          </a:solidFill>
                          <a:effectLst/>
                          <a:latin typeface="맑은 고딕"/>
                        </a:rPr>
                        <a:t>Part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Operator</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Data</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Rep.no</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S.Event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16.27</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77693">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16.23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16.96</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16.95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17.02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17.05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Break</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17.01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Re.Carib</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77693">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16.97</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ko-KR" altLang="en-US" sz="1200" b="0" i="0" u="none" strike="noStrike" dirty="0">
                          <a:solidFill>
                            <a:srgbClr val="000000"/>
                          </a:solidFill>
                          <a:effectLst/>
                          <a:latin typeface="맑은 고딕"/>
                        </a:rPr>
                        <a:t>*</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16" name="Rectangle 31"/>
          <p:cNvSpPr>
            <a:spLocks noChangeArrowheads="1"/>
          </p:cNvSpPr>
          <p:nvPr/>
        </p:nvSpPr>
        <p:spPr bwMode="auto">
          <a:xfrm>
            <a:off x="6055199" y="4413250"/>
            <a:ext cx="1185863" cy="371475"/>
          </a:xfrm>
          <a:prstGeom prst="rect">
            <a:avLst/>
          </a:prstGeom>
          <a:solidFill>
            <a:schemeClr val="bg1"/>
          </a:solidFill>
          <a:ln w="9525" algn="ctr">
            <a:solidFill>
              <a:srgbClr val="008000"/>
            </a:solidFill>
            <a:miter lim="800000"/>
            <a:headEnd/>
            <a:tailEnd/>
          </a:ln>
        </p:spPr>
        <p:txBody>
          <a:bodyPr wrap="none" anchor="ctr"/>
          <a:lstStyle/>
          <a:p>
            <a:pPr algn="ctr">
              <a:spcBef>
                <a:spcPct val="50000"/>
              </a:spcBef>
            </a:pPr>
            <a:r>
              <a:rPr lang="en-US" altLang="ko-KR" sz="1200" b="1" dirty="0">
                <a:solidFill>
                  <a:srgbClr val="008000"/>
                </a:solidFill>
                <a:latin typeface="Arial" pitchFamily="34" charset="0"/>
              </a:rPr>
              <a:t>Data Resume</a:t>
            </a:r>
          </a:p>
        </p:txBody>
      </p:sp>
      <p:sp>
        <p:nvSpPr>
          <p:cNvPr id="32"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74</a:t>
            </a:fld>
            <a:endParaRPr lang="ko-KR" altLang="en-US" dirty="0"/>
          </a:p>
        </p:txBody>
      </p:sp>
    </p:spTree>
    <p:extLst>
      <p:ext uri="{BB962C8B-B14F-4D97-AF65-F5344CB8AC3E}">
        <p14:creationId xmlns:p14="http://schemas.microsoft.com/office/powerpoint/2010/main" val="154630241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giải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8" name="Rectangle 31"/>
          <p:cNvSpPr>
            <a:spLocks noChangeArrowheads="1"/>
          </p:cNvSpPr>
          <p:nvPr/>
        </p:nvSpPr>
        <p:spPr bwMode="auto">
          <a:xfrm>
            <a:off x="666751" y="1122363"/>
            <a:ext cx="5608026" cy="336550"/>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solidFill>
                  <a:srgbClr val="000000"/>
                </a:solidFill>
                <a:latin typeface="맑은 고딕" pitchFamily="50" charset="-127"/>
                <a:ea typeface="맑은 고딕" pitchFamily="50" charset="-127"/>
              </a:rPr>
              <a:t>Stat  &gt; Quality Tools &gt;  Gage Study &gt; Gage R&amp;R Studies(Crossed)</a:t>
            </a:r>
          </a:p>
        </p:txBody>
      </p:sp>
      <p:pic>
        <p:nvPicPr>
          <p:cNvPr id="87859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4907" t="3056" r="29118" b="27946"/>
          <a:stretch/>
        </p:blipFill>
        <p:spPr bwMode="auto">
          <a:xfrm>
            <a:off x="672842" y="1585499"/>
            <a:ext cx="7422011" cy="4635892"/>
          </a:xfrm>
          <a:prstGeom prst="rect">
            <a:avLst/>
          </a:prstGeom>
          <a:noFill/>
          <a:ln w="9525">
            <a:solidFill>
              <a:schemeClr val="bg1">
                <a:lumMod val="50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75</a:t>
            </a:fld>
            <a:endParaRPr lang="ko-KR" altLang="en-US" dirty="0"/>
          </a:p>
        </p:txBody>
      </p:sp>
      <p:sp>
        <p:nvSpPr>
          <p:cNvPr id="7" name="TextBox 6"/>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9" name="직사각형 8"/>
          <p:cNvSpPr/>
          <p:nvPr/>
        </p:nvSpPr>
        <p:spPr>
          <a:xfrm>
            <a:off x="6084168"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261614267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37788" y="1768568"/>
            <a:ext cx="3810676" cy="37486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4498" name="Picture 2"/>
          <p:cNvPicPr>
            <a:picLocks noChangeAspect="1" noChangeArrowheads="1"/>
          </p:cNvPicPr>
          <p:nvPr/>
        </p:nvPicPr>
        <p:blipFill>
          <a:blip r:embed="rId3" cstate="print"/>
          <a:srcRect/>
          <a:stretch>
            <a:fillRect/>
          </a:stretch>
        </p:blipFill>
        <p:spPr bwMode="auto">
          <a:xfrm>
            <a:off x="650333" y="1700809"/>
            <a:ext cx="4132385" cy="2409825"/>
          </a:xfrm>
          <a:prstGeom prst="rect">
            <a:avLst/>
          </a:prstGeom>
          <a:noFill/>
          <a:ln w="9525">
            <a:noFill/>
            <a:miter lim="800000"/>
            <a:headEnd/>
            <a:tailEnd/>
          </a:ln>
        </p:spPr>
      </p:pic>
      <p:pic>
        <p:nvPicPr>
          <p:cNvPr id="874500" name="Picture 4"/>
          <p:cNvPicPr>
            <a:picLocks noChangeAspect="1" noChangeArrowheads="1"/>
          </p:cNvPicPr>
          <p:nvPr/>
        </p:nvPicPr>
        <p:blipFill>
          <a:blip r:embed="rId4" cstate="print"/>
          <a:srcRect/>
          <a:stretch>
            <a:fillRect/>
          </a:stretch>
        </p:blipFill>
        <p:spPr bwMode="auto">
          <a:xfrm>
            <a:off x="650334" y="4077073"/>
            <a:ext cx="4009292" cy="2200275"/>
          </a:xfrm>
          <a:prstGeom prst="rect">
            <a:avLst/>
          </a:prstGeom>
          <a:noFill/>
          <a:ln w="9525">
            <a:noFill/>
            <a:miter lim="800000"/>
            <a:headEnd/>
            <a:tailEnd/>
          </a:ln>
        </p:spPr>
      </p:pic>
      <p:sp>
        <p:nvSpPr>
          <p:cNvPr id="6" name="Rectangle 31"/>
          <p:cNvSpPr>
            <a:spLocks noChangeArrowheads="1"/>
          </p:cNvSpPr>
          <p:nvPr/>
        </p:nvSpPr>
        <p:spPr bwMode="auto">
          <a:xfrm>
            <a:off x="628651" y="1238251"/>
            <a:ext cx="5608026" cy="385763"/>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solidFill>
                  <a:srgbClr val="000000"/>
                </a:solidFill>
                <a:latin typeface="맑은 고딕" pitchFamily="50" charset="-127"/>
                <a:ea typeface="맑은 고딕" pitchFamily="50" charset="-127"/>
              </a:rPr>
              <a:t>Stat  &gt; Quality Tools &gt;  Gage Study &gt; Gage R&amp;R Studies(Crossed)</a:t>
            </a:r>
          </a:p>
        </p:txBody>
      </p:sp>
      <p:sp>
        <p:nvSpPr>
          <p:cNvPr id="8" name="TextBox 7"/>
          <p:cNvSpPr txBox="1"/>
          <p:nvPr/>
        </p:nvSpPr>
        <p:spPr>
          <a:xfrm>
            <a:off x="395654" y="827089"/>
            <a:ext cx="8280889" cy="307777"/>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Input Minitab and interpret the results</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76135" name="사각형 설명선 11"/>
          <p:cNvSpPr>
            <a:spLocks noChangeArrowheads="1"/>
          </p:cNvSpPr>
          <p:nvPr/>
        </p:nvSpPr>
        <p:spPr bwMode="auto">
          <a:xfrm>
            <a:off x="4904346" y="2006601"/>
            <a:ext cx="3190508" cy="2862560"/>
          </a:xfrm>
          <a:prstGeom prst="wedgeRectCallout">
            <a:avLst>
              <a:gd name="adj1" fmla="val -61706"/>
              <a:gd name="adj2" fmla="val -36403"/>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13" name="직사각형 12"/>
          <p:cNvSpPr/>
          <p:nvPr/>
        </p:nvSpPr>
        <p:spPr bwMode="auto">
          <a:xfrm>
            <a:off x="3907311" y="2060849"/>
            <a:ext cx="609600" cy="216024"/>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6137" name="직사각형 13"/>
          <p:cNvSpPr>
            <a:spLocks noChangeArrowheads="1"/>
          </p:cNvSpPr>
          <p:nvPr/>
        </p:nvSpPr>
        <p:spPr bwMode="auto">
          <a:xfrm>
            <a:off x="3900854" y="2276872"/>
            <a:ext cx="671146" cy="215900"/>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cxnSp>
        <p:nvCxnSpPr>
          <p:cNvPr id="16" name="꺾인 연결선 15"/>
          <p:cNvCxnSpPr>
            <a:stCxn id="13" idx="1"/>
          </p:cNvCxnSpPr>
          <p:nvPr/>
        </p:nvCxnSpPr>
        <p:spPr bwMode="auto">
          <a:xfrm rot="10800000" flipV="1">
            <a:off x="3774373" y="2168861"/>
            <a:ext cx="132938" cy="2484275"/>
          </a:xfrm>
          <a:prstGeom prst="bentConnector2">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176140" name="직사각형 14"/>
          <p:cNvSpPr>
            <a:spLocks noChangeArrowheads="1"/>
          </p:cNvSpPr>
          <p:nvPr/>
        </p:nvSpPr>
        <p:spPr bwMode="auto">
          <a:xfrm>
            <a:off x="6546766" y="3356992"/>
            <a:ext cx="512885" cy="215900"/>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176141" name="직사각형 16"/>
          <p:cNvSpPr>
            <a:spLocks noChangeArrowheads="1"/>
          </p:cNvSpPr>
          <p:nvPr/>
        </p:nvSpPr>
        <p:spPr bwMode="auto">
          <a:xfrm>
            <a:off x="5861413" y="2062560"/>
            <a:ext cx="514350" cy="214313"/>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176142" name="직사각형 17"/>
          <p:cNvSpPr>
            <a:spLocks noChangeArrowheads="1"/>
          </p:cNvSpPr>
          <p:nvPr/>
        </p:nvSpPr>
        <p:spPr bwMode="auto">
          <a:xfrm>
            <a:off x="6545117" y="2708921"/>
            <a:ext cx="533400" cy="432048"/>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76</a:t>
            </a:fld>
            <a:endParaRPr lang="ko-KR" altLang="en-US" dirty="0"/>
          </a:p>
        </p:txBody>
      </p:sp>
      <p:sp>
        <p:nvSpPr>
          <p:cNvPr id="17" name="TextBox 16"/>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18" name="직사각형 17"/>
          <p:cNvSpPr/>
          <p:nvPr/>
        </p:nvSpPr>
        <p:spPr>
          <a:xfrm>
            <a:off x="5929322"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
        <p:nvSpPr>
          <p:cNvPr id="4" name="타원 3"/>
          <p:cNvSpPr/>
          <p:nvPr/>
        </p:nvSpPr>
        <p:spPr>
          <a:xfrm>
            <a:off x="5004048" y="3861048"/>
            <a:ext cx="216024" cy="216024"/>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Tree>
    <p:extLst>
      <p:ext uri="{BB962C8B-B14F-4D97-AF65-F5344CB8AC3E}">
        <p14:creationId xmlns:p14="http://schemas.microsoft.com/office/powerpoint/2010/main" val="108205058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p:cNvSpPr/>
          <p:nvPr/>
        </p:nvSpPr>
        <p:spPr>
          <a:xfrm>
            <a:off x="251520" y="836712"/>
            <a:ext cx="5616624" cy="5632311"/>
          </a:xfrm>
          <a:prstGeom prst="rect">
            <a:avLst/>
          </a:prstGeom>
        </p:spPr>
        <p:txBody>
          <a:bodyPr wrap="square">
            <a:spAutoFit/>
          </a:bodyPr>
          <a:lstStyle/>
          <a:p>
            <a:r>
              <a:rPr lang="en-US" altLang="ko-KR" sz="1000" b="1" dirty="0">
                <a:latin typeface="굴림체" panose="020B0609000101010101" pitchFamily="49" charset="-127"/>
                <a:ea typeface="굴림체" panose="020B0609000101010101" pitchFamily="49" charset="-127"/>
              </a:rPr>
              <a:t>Gage R&amp;R Study - ANOVA Method </a:t>
            </a:r>
          </a:p>
          <a:p>
            <a:r>
              <a:rPr lang="ko-KR" altLang="en-US" sz="1000" dirty="0">
                <a:latin typeface="굴림체" panose="020B0609000101010101" pitchFamily="49" charset="-127"/>
                <a:ea typeface="굴림체" panose="020B0609000101010101" pitchFamily="49" charset="-127"/>
              </a:rPr>
              <a:t> </a:t>
            </a:r>
          </a:p>
          <a:p>
            <a:r>
              <a:rPr lang="en-US" altLang="ko-KR" sz="1000" b="1" dirty="0">
                <a:latin typeface="굴림체" panose="020B0609000101010101" pitchFamily="49" charset="-127"/>
                <a:ea typeface="굴림체" panose="020B0609000101010101" pitchFamily="49" charset="-127"/>
              </a:rPr>
              <a:t>Two-Way ANOVA Table With Interaction </a:t>
            </a:r>
          </a:p>
          <a:p>
            <a:endParaRPr lang="ko-KR" altLang="en-US" sz="1000" b="1"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Source           DF       SS        MS        F      P</a:t>
            </a:r>
          </a:p>
          <a:p>
            <a:r>
              <a:rPr lang="en-US" altLang="ko-KR" sz="1000" dirty="0">
                <a:latin typeface="굴림체" panose="020B0609000101010101" pitchFamily="49" charset="-127"/>
                <a:ea typeface="굴림체" panose="020B0609000101010101" pitchFamily="49" charset="-127"/>
              </a:rPr>
              <a:t>Part              9  5.52273  0.613637  676.115  0.000</a:t>
            </a:r>
          </a:p>
          <a:p>
            <a:r>
              <a:rPr lang="it-IT" altLang="ko-KR" sz="1000" dirty="0">
                <a:latin typeface="굴림체" panose="020B0609000101010101" pitchFamily="49" charset="-127"/>
                <a:ea typeface="굴림체" panose="020B0609000101010101" pitchFamily="49" charset="-127"/>
              </a:rPr>
              <a:t>Operator          2  0.00013  0.000065    0.072  0.931</a:t>
            </a:r>
          </a:p>
          <a:p>
            <a:r>
              <a:rPr lang="en-US" altLang="ko-KR" sz="1000" dirty="0">
                <a:latin typeface="굴림체" panose="020B0609000101010101" pitchFamily="49" charset="-127"/>
                <a:ea typeface="굴림체" panose="020B0609000101010101" pitchFamily="49" charset="-127"/>
              </a:rPr>
              <a:t>Part * Operator  18  0.01634  0.000908    4.464  0.000</a:t>
            </a:r>
          </a:p>
          <a:p>
            <a:r>
              <a:rPr lang="en-US" altLang="ko-KR" sz="1000" dirty="0">
                <a:latin typeface="굴림체" panose="020B0609000101010101" pitchFamily="49" charset="-127"/>
                <a:ea typeface="굴림체" panose="020B0609000101010101" pitchFamily="49" charset="-127"/>
              </a:rPr>
              <a:t>Repeatability    30  0.00610  0.000203</a:t>
            </a:r>
          </a:p>
          <a:p>
            <a:r>
              <a:rPr lang="en-US" altLang="ko-KR" sz="1000" dirty="0">
                <a:latin typeface="굴림체" panose="020B0609000101010101" pitchFamily="49" charset="-127"/>
                <a:ea typeface="굴림체" panose="020B0609000101010101" pitchFamily="49" charset="-127"/>
              </a:rPr>
              <a:t>Total            59  5.54530</a:t>
            </a:r>
          </a:p>
          <a:p>
            <a:endParaRPr lang="ko-KR" altLang="en-US" sz="1000"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α to remove interaction term = 0.25</a:t>
            </a:r>
          </a:p>
          <a:p>
            <a:r>
              <a:rPr lang="ko-KR" altLang="en-US" sz="1000" dirty="0">
                <a:latin typeface="굴림체" panose="020B0609000101010101" pitchFamily="49" charset="-127"/>
                <a:ea typeface="굴림체" panose="020B0609000101010101" pitchFamily="49" charset="-127"/>
              </a:rPr>
              <a:t> </a:t>
            </a:r>
          </a:p>
          <a:p>
            <a:r>
              <a:rPr lang="en-US" altLang="ko-KR" sz="1000" b="1" dirty="0">
                <a:latin typeface="굴림체" panose="020B0609000101010101" pitchFamily="49" charset="-127"/>
                <a:ea typeface="굴림체" panose="020B0609000101010101" pitchFamily="49" charset="-127"/>
              </a:rPr>
              <a:t>Gage R&amp;R </a:t>
            </a:r>
            <a:endParaRPr lang="ko-KR" altLang="en-US" sz="1000" b="1"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                             %Contribution</a:t>
            </a:r>
          </a:p>
          <a:p>
            <a:r>
              <a:rPr lang="en-US" altLang="ko-KR" sz="1000" dirty="0">
                <a:latin typeface="굴림체" panose="020B0609000101010101" pitchFamily="49" charset="-127"/>
                <a:ea typeface="굴림체" panose="020B0609000101010101" pitchFamily="49" charset="-127"/>
              </a:rPr>
              <a:t>Source              </a:t>
            </a:r>
            <a:r>
              <a:rPr lang="en-US" altLang="ko-KR" sz="1000" dirty="0" err="1">
                <a:latin typeface="굴림체" panose="020B0609000101010101" pitchFamily="49" charset="-127"/>
                <a:ea typeface="굴림체" panose="020B0609000101010101" pitchFamily="49" charset="-127"/>
              </a:rPr>
              <a:t>VarComp</a:t>
            </a:r>
            <a:r>
              <a:rPr lang="en-US" altLang="ko-KR" sz="1000" dirty="0">
                <a:latin typeface="굴림체" panose="020B0609000101010101" pitchFamily="49" charset="-127"/>
                <a:ea typeface="굴림체" panose="020B0609000101010101" pitchFamily="49" charset="-127"/>
              </a:rPr>
              <a:t>   (of </a:t>
            </a:r>
            <a:r>
              <a:rPr lang="en-US" altLang="ko-KR" sz="1000" dirty="0" err="1">
                <a:latin typeface="굴림체" panose="020B0609000101010101" pitchFamily="49" charset="-127"/>
                <a:ea typeface="굴림체" panose="020B0609000101010101" pitchFamily="49" charset="-127"/>
              </a:rPr>
              <a:t>VarComp</a:t>
            </a:r>
            <a:r>
              <a:rPr lang="en-US" altLang="ko-KR" sz="1000" dirty="0">
                <a:latin typeface="굴림체" panose="020B0609000101010101" pitchFamily="49" charset="-127"/>
                <a:ea typeface="굴림체" panose="020B0609000101010101" pitchFamily="49" charset="-127"/>
              </a:rPr>
              <a:t>)</a:t>
            </a:r>
          </a:p>
          <a:p>
            <a:r>
              <a:rPr lang="pt-BR" altLang="ko-KR" sz="1000" dirty="0">
                <a:latin typeface="굴림체" panose="020B0609000101010101" pitchFamily="49" charset="-127"/>
                <a:ea typeface="굴림체" panose="020B0609000101010101" pitchFamily="49" charset="-127"/>
              </a:rPr>
              <a:t>Total Gage R&amp;R     0.000555           0.54</a:t>
            </a:r>
          </a:p>
          <a:p>
            <a:r>
              <a:rPr lang="en-US" altLang="ko-KR" sz="1000" dirty="0">
                <a:latin typeface="굴림체" panose="020B0609000101010101" pitchFamily="49" charset="-127"/>
                <a:ea typeface="굴림체" panose="020B0609000101010101" pitchFamily="49" charset="-127"/>
              </a:rPr>
              <a:t>  Repeatability    0.000203           0.20</a:t>
            </a:r>
          </a:p>
          <a:p>
            <a:r>
              <a:rPr lang="en-US" altLang="ko-KR" sz="1000" dirty="0">
                <a:latin typeface="굴림체" panose="020B0609000101010101" pitchFamily="49" charset="-127"/>
                <a:ea typeface="굴림체" panose="020B0609000101010101" pitchFamily="49" charset="-127"/>
              </a:rPr>
              <a:t>  Reproducibility  0.000352           0.34</a:t>
            </a:r>
          </a:p>
          <a:p>
            <a:r>
              <a:rPr lang="en-US" altLang="ko-KR" sz="1000" dirty="0">
                <a:latin typeface="굴림체" panose="020B0609000101010101" pitchFamily="49" charset="-127"/>
                <a:ea typeface="굴림체" panose="020B0609000101010101" pitchFamily="49" charset="-127"/>
              </a:rPr>
              <a:t>    Operator       0.000000           0.00</a:t>
            </a:r>
          </a:p>
          <a:p>
            <a:r>
              <a:rPr lang="en-US" altLang="ko-KR" sz="1000" dirty="0">
                <a:latin typeface="굴림체" panose="020B0609000101010101" pitchFamily="49" charset="-127"/>
                <a:ea typeface="굴림체" panose="020B0609000101010101" pitchFamily="49" charset="-127"/>
              </a:rPr>
              <a:t>    Operator*Part  0.000352           0.34</a:t>
            </a:r>
          </a:p>
          <a:p>
            <a:r>
              <a:rPr lang="en-US" altLang="ko-KR" sz="1000" dirty="0">
                <a:latin typeface="굴림체" panose="020B0609000101010101" pitchFamily="49" charset="-127"/>
                <a:ea typeface="굴림체" panose="020B0609000101010101" pitchFamily="49" charset="-127"/>
              </a:rPr>
              <a:t>Part-To-Part       0.102122          99.46</a:t>
            </a:r>
          </a:p>
          <a:p>
            <a:r>
              <a:rPr lang="en-US" altLang="ko-KR" sz="1000" dirty="0">
                <a:latin typeface="굴림체" panose="020B0609000101010101" pitchFamily="49" charset="-127"/>
                <a:ea typeface="굴림체" panose="020B0609000101010101" pitchFamily="49" charset="-127"/>
              </a:rPr>
              <a:t>Total Variation    0.102677         100.00</a:t>
            </a:r>
          </a:p>
          <a:p>
            <a:endParaRPr lang="ko-KR" altLang="en-US" sz="1000"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Process tolerance = 1.6</a:t>
            </a:r>
          </a:p>
          <a:p>
            <a:r>
              <a:rPr lang="en-US" altLang="ko-KR" sz="1000" dirty="0">
                <a:latin typeface="굴림체" panose="020B0609000101010101" pitchFamily="49" charset="-127"/>
                <a:ea typeface="굴림체" panose="020B0609000101010101" pitchFamily="49" charset="-127"/>
              </a:rPr>
              <a:t>Historical standard deviation = 0.35</a:t>
            </a:r>
            <a:endParaRPr lang="ko-KR" altLang="en-US" sz="1000" dirty="0">
              <a:latin typeface="굴림체" panose="020B0609000101010101" pitchFamily="49" charset="-127"/>
              <a:ea typeface="굴림체" panose="020B0609000101010101" pitchFamily="49" charset="-127"/>
            </a:endParaRPr>
          </a:p>
          <a:p>
            <a:endParaRPr lang="ko-KR" altLang="en-US" sz="1000"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                                Study </a:t>
            </a:r>
            <a:r>
              <a:rPr lang="en-US" altLang="ko-KR" sz="1000" dirty="0" err="1">
                <a:latin typeface="굴림체" panose="020B0609000101010101" pitchFamily="49" charset="-127"/>
                <a:ea typeface="굴림체" panose="020B0609000101010101" pitchFamily="49" charset="-127"/>
              </a:rPr>
              <a:t>Var</a:t>
            </a:r>
            <a:r>
              <a:rPr lang="en-US" altLang="ko-KR" sz="1000" dirty="0">
                <a:latin typeface="굴림체" panose="020B0609000101010101" pitchFamily="49" charset="-127"/>
                <a:ea typeface="굴림체" panose="020B0609000101010101" pitchFamily="49" charset="-127"/>
              </a:rPr>
              <a:t>  %Study </a:t>
            </a:r>
            <a:r>
              <a:rPr lang="en-US" altLang="ko-KR" sz="1000" dirty="0" err="1">
                <a:latin typeface="굴림체" panose="020B0609000101010101" pitchFamily="49" charset="-127"/>
                <a:ea typeface="굴림체" panose="020B0609000101010101" pitchFamily="49" charset="-127"/>
              </a:rPr>
              <a:t>Var</a:t>
            </a:r>
            <a:r>
              <a:rPr lang="en-US" altLang="ko-KR" sz="1000" dirty="0">
                <a:latin typeface="굴림체" panose="020B0609000101010101" pitchFamily="49" charset="-127"/>
                <a:ea typeface="굴림체" panose="020B0609000101010101" pitchFamily="49" charset="-127"/>
              </a:rPr>
              <a:t>  %Tolerance   %Process</a:t>
            </a:r>
          </a:p>
          <a:p>
            <a:r>
              <a:rPr lang="en-US" altLang="ko-KR" sz="1000" dirty="0">
                <a:latin typeface="굴림체" panose="020B0609000101010101" pitchFamily="49" charset="-127"/>
                <a:ea typeface="굴림체" panose="020B0609000101010101" pitchFamily="49" charset="-127"/>
              </a:rPr>
              <a:t>Source             </a:t>
            </a:r>
            <a:r>
              <a:rPr lang="en-US" altLang="ko-KR" sz="1000" dirty="0" err="1">
                <a:latin typeface="굴림체" panose="020B0609000101010101" pitchFamily="49" charset="-127"/>
                <a:ea typeface="굴림체" panose="020B0609000101010101" pitchFamily="49" charset="-127"/>
              </a:rPr>
              <a:t>StdDev</a:t>
            </a:r>
            <a:r>
              <a:rPr lang="en-US" altLang="ko-KR" sz="1000" dirty="0">
                <a:latin typeface="굴림체" panose="020B0609000101010101" pitchFamily="49" charset="-127"/>
                <a:ea typeface="굴림체" panose="020B0609000101010101" pitchFamily="49" charset="-127"/>
              </a:rPr>
              <a:t> (SD)  (6 × SD)       (%SV)  (SV/Toler)  (SV/Proc)</a:t>
            </a:r>
          </a:p>
          <a:p>
            <a:r>
              <a:rPr lang="pt-BR" altLang="ko-KR" sz="1000" dirty="0">
                <a:latin typeface="굴림체" panose="020B0609000101010101" pitchFamily="49" charset="-127"/>
                <a:ea typeface="굴림체" panose="020B0609000101010101" pitchFamily="49" charset="-127"/>
              </a:rPr>
              <a:t>Total Gage R&amp;R        0.023568    0.14141        7.36        8.84       6.73</a:t>
            </a:r>
          </a:p>
          <a:p>
            <a:r>
              <a:rPr lang="en-US" altLang="ko-KR" sz="1000" dirty="0">
                <a:latin typeface="굴림체" panose="020B0609000101010101" pitchFamily="49" charset="-127"/>
                <a:ea typeface="굴림체" panose="020B0609000101010101" pitchFamily="49" charset="-127"/>
              </a:rPr>
              <a:t>  Repeatability       0.014259    0.08556        4.45        5.35       4.07</a:t>
            </a:r>
          </a:p>
          <a:p>
            <a:r>
              <a:rPr lang="es-ES" altLang="ko-KR" sz="1000" dirty="0">
                <a:latin typeface="굴림체" panose="020B0609000101010101" pitchFamily="49" charset="-127"/>
                <a:ea typeface="굴림체" panose="020B0609000101010101" pitchFamily="49" charset="-127"/>
              </a:rPr>
              <a:t>  Reproducibility     0.018765    0.11259        5.86        7.04       5.36</a:t>
            </a:r>
          </a:p>
          <a:p>
            <a:r>
              <a:rPr lang="it-IT" altLang="ko-KR" sz="1000" dirty="0">
                <a:latin typeface="굴림체" panose="020B0609000101010101" pitchFamily="49" charset="-127"/>
                <a:ea typeface="굴림체" panose="020B0609000101010101" pitchFamily="49" charset="-127"/>
              </a:rPr>
              <a:t>    Operator          0.000000    0.00000        0.00        0.00       0.00</a:t>
            </a:r>
          </a:p>
          <a:p>
            <a:r>
              <a:rPr lang="en-US" altLang="ko-KR" sz="1000" dirty="0">
                <a:latin typeface="굴림체" panose="020B0609000101010101" pitchFamily="49" charset="-127"/>
                <a:ea typeface="굴림체" panose="020B0609000101010101" pitchFamily="49" charset="-127"/>
              </a:rPr>
              <a:t>    Operator*Part     0.018765    0.11259        5.86        7.04       5.36</a:t>
            </a:r>
          </a:p>
          <a:p>
            <a:r>
              <a:rPr lang="en-US" altLang="ko-KR" sz="1000" dirty="0">
                <a:latin typeface="굴림체" panose="020B0609000101010101" pitchFamily="49" charset="-127"/>
                <a:ea typeface="굴림체" panose="020B0609000101010101" pitchFamily="49" charset="-127"/>
              </a:rPr>
              <a:t>Part-To-Part          0.319565    1.91739       99.73      119.84      91.30</a:t>
            </a:r>
          </a:p>
          <a:p>
            <a:r>
              <a:rPr lang="en-US" altLang="ko-KR" sz="1000" dirty="0">
                <a:latin typeface="굴림체" panose="020B0609000101010101" pitchFamily="49" charset="-127"/>
                <a:ea typeface="굴림체" panose="020B0609000101010101" pitchFamily="49" charset="-127"/>
              </a:rPr>
              <a:t>Total Variation       0.320433    1.92260      100.00      120.16      91.55</a:t>
            </a:r>
          </a:p>
        </p:txBody>
      </p:sp>
      <p:sp>
        <p:nvSpPr>
          <p:cNvPr id="11" name="TextBox 10"/>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12" name="직사각형 11"/>
          <p:cNvSpPr/>
          <p:nvPr/>
        </p:nvSpPr>
        <p:spPr>
          <a:xfrm>
            <a:off x="5929322"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
        <p:nvSpPr>
          <p:cNvPr id="13" name="TextBox 12"/>
          <p:cNvSpPr txBox="1"/>
          <p:nvPr/>
        </p:nvSpPr>
        <p:spPr>
          <a:xfrm>
            <a:off x="5652120" y="908720"/>
            <a:ext cx="3277598" cy="523220"/>
          </a:xfrm>
          <a:prstGeom prst="rect">
            <a:avLst/>
          </a:prstGeom>
          <a:noFill/>
        </p:spPr>
        <p:txBody>
          <a:bodyPr wrap="square" rtlCol="0">
            <a:spAutoFit/>
          </a:bodyPr>
          <a:lstStyle/>
          <a:p>
            <a:r>
              <a:rPr lang="en-US" sz="1400" dirty="0"/>
              <a:t>Analyze fluctuation using variance</a:t>
            </a:r>
          </a:p>
          <a:p>
            <a:r>
              <a:rPr lang="en-US" sz="1400" dirty="0"/>
              <a:t>analysis tables</a:t>
            </a:r>
            <a:endParaRPr lang="ko-KR" altLang="en-US" sz="1400" dirty="0"/>
          </a:p>
        </p:txBody>
      </p:sp>
      <p:sp>
        <p:nvSpPr>
          <p:cNvPr id="14" name="TextBox 13"/>
          <p:cNvSpPr txBox="1"/>
          <p:nvPr/>
        </p:nvSpPr>
        <p:spPr>
          <a:xfrm>
            <a:off x="5652120" y="1412776"/>
            <a:ext cx="3277598" cy="738664"/>
          </a:xfrm>
          <a:prstGeom prst="rect">
            <a:avLst/>
          </a:prstGeom>
          <a:noFill/>
        </p:spPr>
        <p:txBody>
          <a:bodyPr wrap="square" rtlCol="0">
            <a:spAutoFit/>
          </a:bodyPr>
          <a:lstStyle/>
          <a:p>
            <a:r>
              <a:rPr lang="en-US" sz="1400" dirty="0"/>
              <a:t>The major factors in the variance </a:t>
            </a:r>
          </a:p>
          <a:p>
            <a:r>
              <a:rPr lang="en-US" sz="1400" dirty="0"/>
              <a:t>analysis table are Part (product) and Operator (measurer).</a:t>
            </a:r>
            <a:endParaRPr lang="ko-KR" altLang="en-US" sz="1400" dirty="0"/>
          </a:p>
        </p:txBody>
      </p:sp>
      <p:sp>
        <p:nvSpPr>
          <p:cNvPr id="15" name="TextBox 14"/>
          <p:cNvSpPr txBox="1"/>
          <p:nvPr/>
        </p:nvSpPr>
        <p:spPr>
          <a:xfrm>
            <a:off x="5652121" y="2132856"/>
            <a:ext cx="3349036" cy="1169551"/>
          </a:xfrm>
          <a:prstGeom prst="rect">
            <a:avLst/>
          </a:prstGeom>
          <a:noFill/>
        </p:spPr>
        <p:txBody>
          <a:bodyPr wrap="square" rtlCol="0">
            <a:spAutoFit/>
          </a:bodyPr>
          <a:lstStyle/>
          <a:p>
            <a:r>
              <a:rPr lang="en-US" sz="1400" dirty="0"/>
              <a:t>Operator is not interested in the average difference between levels of Part</a:t>
            </a:r>
          </a:p>
          <a:p>
            <a:r>
              <a:rPr lang="en-US" altLang="ko-KR" sz="1400" dirty="0"/>
              <a:t>Both are Random Factor therefore, this variance analysis table is a variance analysis table of Random </a:t>
            </a:r>
            <a:r>
              <a:rPr lang="en-US" altLang="ko-KR" sz="1400" dirty="0" err="1"/>
              <a:t>Factro</a:t>
            </a:r>
            <a:endParaRPr lang="ko-KR" altLang="en-US" sz="1400" dirty="0"/>
          </a:p>
        </p:txBody>
      </p:sp>
      <p:sp>
        <p:nvSpPr>
          <p:cNvPr id="16" name="TextBox 15"/>
          <p:cNvSpPr txBox="1"/>
          <p:nvPr/>
        </p:nvSpPr>
        <p:spPr>
          <a:xfrm>
            <a:off x="5643570" y="3500438"/>
            <a:ext cx="3071867" cy="738664"/>
          </a:xfrm>
          <a:prstGeom prst="rect">
            <a:avLst/>
          </a:prstGeom>
          <a:noFill/>
        </p:spPr>
        <p:txBody>
          <a:bodyPr wrap="none" rtlCol="0">
            <a:spAutoFit/>
          </a:bodyPr>
          <a:lstStyle/>
          <a:p>
            <a:r>
              <a:rPr lang="en-US" altLang="ko-KR" sz="1400" b="1" dirty="0"/>
              <a:t>When compared with the general</a:t>
            </a:r>
          </a:p>
          <a:p>
            <a:r>
              <a:rPr lang="en-US" altLang="ko-KR" sz="1400" b="1" dirty="0"/>
              <a:t>analysis table, Error item is </a:t>
            </a:r>
          </a:p>
          <a:p>
            <a:r>
              <a:rPr lang="en-US" altLang="ko-KR" sz="1400" b="1" dirty="0"/>
              <a:t>repeatability</a:t>
            </a:r>
            <a:endParaRPr lang="ko-KR" altLang="en-US" sz="1400" b="1" dirty="0"/>
          </a:p>
        </p:txBody>
      </p:sp>
      <p:sp>
        <p:nvSpPr>
          <p:cNvPr id="17" name="TextBox 16"/>
          <p:cNvSpPr txBox="1"/>
          <p:nvPr/>
        </p:nvSpPr>
        <p:spPr>
          <a:xfrm>
            <a:off x="5652120" y="4365104"/>
            <a:ext cx="3491880" cy="1384995"/>
          </a:xfrm>
          <a:prstGeom prst="rect">
            <a:avLst/>
          </a:prstGeom>
          <a:noFill/>
        </p:spPr>
        <p:txBody>
          <a:bodyPr wrap="square" rtlCol="0">
            <a:spAutoFit/>
          </a:bodyPr>
          <a:lstStyle/>
          <a:p>
            <a:r>
              <a:rPr lang="en-US" altLang="ko-KR" sz="1400" dirty="0"/>
              <a:t>The basic element of the variance</a:t>
            </a:r>
          </a:p>
          <a:p>
            <a:r>
              <a:rPr lang="en-US" altLang="ko-KR" sz="1400" dirty="0"/>
              <a:t>Analysis table is variation and squared Unit.</a:t>
            </a:r>
          </a:p>
          <a:p>
            <a:endParaRPr lang="en-US" altLang="ko-KR" sz="1400" dirty="0"/>
          </a:p>
          <a:p>
            <a:r>
              <a:rPr lang="en-US" sz="1400" dirty="0"/>
              <a:t>The basic display element of the Gage </a:t>
            </a:r>
          </a:p>
          <a:p>
            <a:r>
              <a:rPr lang="en-US" sz="1400" dirty="0"/>
              <a:t>R&amp;R is the standard deviation unit</a:t>
            </a:r>
            <a:endParaRPr lang="ko-KR" altLang="en-US" sz="1400" dirty="0"/>
          </a:p>
        </p:txBody>
      </p:sp>
      <p:sp>
        <p:nvSpPr>
          <p:cNvPr id="1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77</a:t>
            </a:fld>
            <a:endParaRPr lang="ko-KR" altLang="en-US" dirty="0"/>
          </a:p>
        </p:txBody>
      </p:sp>
    </p:spTree>
    <p:extLst>
      <p:ext uri="{BB962C8B-B14F-4D97-AF65-F5344CB8AC3E}">
        <p14:creationId xmlns:p14="http://schemas.microsoft.com/office/powerpoint/2010/main" val="211254944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37788" y="1768568"/>
            <a:ext cx="3810676" cy="37486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4498" name="Picture 2"/>
          <p:cNvPicPr>
            <a:picLocks noChangeAspect="1" noChangeArrowheads="1"/>
          </p:cNvPicPr>
          <p:nvPr/>
        </p:nvPicPr>
        <p:blipFill>
          <a:blip r:embed="rId3" cstate="print"/>
          <a:srcRect/>
          <a:stretch>
            <a:fillRect/>
          </a:stretch>
        </p:blipFill>
        <p:spPr bwMode="auto">
          <a:xfrm>
            <a:off x="650333" y="1700809"/>
            <a:ext cx="4132385" cy="2409825"/>
          </a:xfrm>
          <a:prstGeom prst="rect">
            <a:avLst/>
          </a:prstGeom>
          <a:noFill/>
          <a:ln w="9525">
            <a:noFill/>
            <a:miter lim="800000"/>
            <a:headEnd/>
            <a:tailEnd/>
          </a:ln>
        </p:spPr>
      </p:pic>
      <p:pic>
        <p:nvPicPr>
          <p:cNvPr id="874500" name="Picture 4"/>
          <p:cNvPicPr>
            <a:picLocks noChangeAspect="1" noChangeArrowheads="1"/>
          </p:cNvPicPr>
          <p:nvPr/>
        </p:nvPicPr>
        <p:blipFill>
          <a:blip r:embed="rId4" cstate="print"/>
          <a:srcRect/>
          <a:stretch>
            <a:fillRect/>
          </a:stretch>
        </p:blipFill>
        <p:spPr bwMode="auto">
          <a:xfrm>
            <a:off x="650334" y="4077073"/>
            <a:ext cx="4009292" cy="2200275"/>
          </a:xfrm>
          <a:prstGeom prst="rect">
            <a:avLst/>
          </a:prstGeom>
          <a:noFill/>
          <a:ln w="9525">
            <a:noFill/>
            <a:miter lim="800000"/>
            <a:headEnd/>
            <a:tailEnd/>
          </a:ln>
        </p:spPr>
      </p:pic>
      <p:sp>
        <p:nvSpPr>
          <p:cNvPr id="6" name="Rectangle 31"/>
          <p:cNvSpPr>
            <a:spLocks noChangeArrowheads="1"/>
          </p:cNvSpPr>
          <p:nvPr/>
        </p:nvSpPr>
        <p:spPr bwMode="auto">
          <a:xfrm>
            <a:off x="628651" y="1238251"/>
            <a:ext cx="5608026" cy="385763"/>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solidFill>
                  <a:srgbClr val="000000"/>
                </a:solidFill>
                <a:latin typeface="맑은 고딕" pitchFamily="50" charset="-127"/>
                <a:ea typeface="맑은 고딕" pitchFamily="50" charset="-127"/>
              </a:rPr>
              <a:t>Stat  &gt; Quality Tools &gt;  Gage Study &gt; Gage R&amp;R Studies(Crossed)</a:t>
            </a:r>
          </a:p>
        </p:txBody>
      </p:sp>
      <p:sp>
        <p:nvSpPr>
          <p:cNvPr id="8" name="TextBox 7"/>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phân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76135" name="사각형 설명선 11"/>
          <p:cNvSpPr>
            <a:spLocks noChangeArrowheads="1"/>
          </p:cNvSpPr>
          <p:nvPr/>
        </p:nvSpPr>
        <p:spPr bwMode="auto">
          <a:xfrm>
            <a:off x="4904346" y="2006601"/>
            <a:ext cx="3190508" cy="2862560"/>
          </a:xfrm>
          <a:prstGeom prst="wedgeRectCallout">
            <a:avLst>
              <a:gd name="adj1" fmla="val -61706"/>
              <a:gd name="adj2" fmla="val -36403"/>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13" name="직사각형 12"/>
          <p:cNvSpPr/>
          <p:nvPr/>
        </p:nvSpPr>
        <p:spPr bwMode="auto">
          <a:xfrm>
            <a:off x="3907311" y="2060849"/>
            <a:ext cx="609600" cy="216024"/>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solidFill>
                <a:srgbClr val="000000"/>
              </a:solidFill>
              <a:latin typeface="Arial" charset="0"/>
            </a:endParaRPr>
          </a:p>
        </p:txBody>
      </p:sp>
      <p:sp>
        <p:nvSpPr>
          <p:cNvPr id="176137" name="직사각형 13"/>
          <p:cNvSpPr>
            <a:spLocks noChangeArrowheads="1"/>
          </p:cNvSpPr>
          <p:nvPr/>
        </p:nvSpPr>
        <p:spPr bwMode="auto">
          <a:xfrm>
            <a:off x="3900854" y="2276872"/>
            <a:ext cx="671146" cy="215900"/>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cxnSp>
        <p:nvCxnSpPr>
          <p:cNvPr id="16" name="꺾인 연결선 15"/>
          <p:cNvCxnSpPr>
            <a:stCxn id="13" idx="1"/>
          </p:cNvCxnSpPr>
          <p:nvPr/>
        </p:nvCxnSpPr>
        <p:spPr bwMode="auto">
          <a:xfrm rot="10800000" flipV="1">
            <a:off x="3774373" y="2168861"/>
            <a:ext cx="132938" cy="2484275"/>
          </a:xfrm>
          <a:prstGeom prst="bentConnector2">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176140" name="직사각형 14"/>
          <p:cNvSpPr>
            <a:spLocks noChangeArrowheads="1"/>
          </p:cNvSpPr>
          <p:nvPr/>
        </p:nvSpPr>
        <p:spPr bwMode="auto">
          <a:xfrm>
            <a:off x="6546766" y="3356992"/>
            <a:ext cx="512885" cy="215900"/>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176141" name="직사각형 16"/>
          <p:cNvSpPr>
            <a:spLocks noChangeArrowheads="1"/>
          </p:cNvSpPr>
          <p:nvPr/>
        </p:nvSpPr>
        <p:spPr bwMode="auto">
          <a:xfrm>
            <a:off x="5861413" y="2062560"/>
            <a:ext cx="514350" cy="214313"/>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176142" name="직사각형 17"/>
          <p:cNvSpPr>
            <a:spLocks noChangeArrowheads="1"/>
          </p:cNvSpPr>
          <p:nvPr/>
        </p:nvSpPr>
        <p:spPr bwMode="auto">
          <a:xfrm>
            <a:off x="6545117" y="2708921"/>
            <a:ext cx="533400" cy="432048"/>
          </a:xfrm>
          <a:prstGeom prst="rect">
            <a:avLst/>
          </a:prstGeom>
          <a:noFill/>
          <a:ln w="19050" algn="ctr">
            <a:solidFill>
              <a:srgbClr val="FF0000"/>
            </a:solidFill>
            <a:round/>
            <a:headEnd/>
            <a:tailEnd/>
          </a:ln>
        </p:spPr>
        <p:txBody>
          <a:bodyPr/>
          <a:lstStyle/>
          <a:p>
            <a:pPr algn="ctr"/>
            <a:endParaRPr lang="ko-KR" altLang="en-US" sz="1000" dirty="0">
              <a:solidFill>
                <a:srgbClr val="000000"/>
              </a:solidFill>
              <a:latin typeface="Arial" pitchFamily="34" charset="0"/>
            </a:endParaRP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78</a:t>
            </a:fld>
            <a:endParaRPr lang="ko-KR" altLang="en-US" dirty="0"/>
          </a:p>
        </p:txBody>
      </p:sp>
      <p:sp>
        <p:nvSpPr>
          <p:cNvPr id="17" name="TextBox 16"/>
          <p:cNvSpPr txBox="1"/>
          <p:nvPr/>
        </p:nvSpPr>
        <p:spPr>
          <a:xfrm>
            <a:off x="179512" y="148570"/>
            <a:ext cx="410670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8" name="직사각형 17"/>
          <p:cNvSpPr/>
          <p:nvPr/>
        </p:nvSpPr>
        <p:spPr>
          <a:xfrm>
            <a:off x="6012160" y="179348"/>
            <a:ext cx="2901756" cy="369332"/>
          </a:xfrm>
          <a:prstGeom prst="rect">
            <a:avLst/>
          </a:prstGeom>
        </p:spPr>
        <p:txBody>
          <a:bodyPr wrap="none">
            <a:spAutoFit/>
          </a:bodyPr>
          <a:lstStyle/>
          <a:p>
            <a:pPr>
              <a:defRPr/>
            </a:pP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
        <p:nvSpPr>
          <p:cNvPr id="4" name="타원 3"/>
          <p:cNvSpPr/>
          <p:nvPr/>
        </p:nvSpPr>
        <p:spPr>
          <a:xfrm>
            <a:off x="5004048" y="3861048"/>
            <a:ext cx="216024" cy="216024"/>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Tree>
    <p:extLst>
      <p:ext uri="{BB962C8B-B14F-4D97-AF65-F5344CB8AC3E}">
        <p14:creationId xmlns:p14="http://schemas.microsoft.com/office/powerpoint/2010/main" val="108205058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p:cNvSpPr/>
          <p:nvPr/>
        </p:nvSpPr>
        <p:spPr>
          <a:xfrm>
            <a:off x="251520" y="836712"/>
            <a:ext cx="5616624" cy="5632311"/>
          </a:xfrm>
          <a:prstGeom prst="rect">
            <a:avLst/>
          </a:prstGeom>
        </p:spPr>
        <p:txBody>
          <a:bodyPr wrap="square">
            <a:spAutoFit/>
          </a:bodyPr>
          <a:lstStyle/>
          <a:p>
            <a:r>
              <a:rPr lang="en-US" altLang="ko-KR" sz="1000" b="1" dirty="0">
                <a:latin typeface="굴림체" panose="020B0609000101010101" pitchFamily="49" charset="-127"/>
                <a:ea typeface="굴림체" panose="020B0609000101010101" pitchFamily="49" charset="-127"/>
              </a:rPr>
              <a:t>Gage R&amp;R Study - ANOVA Method </a:t>
            </a:r>
          </a:p>
          <a:p>
            <a:r>
              <a:rPr lang="ko-KR" altLang="en-US" sz="1000" dirty="0">
                <a:latin typeface="굴림체" panose="020B0609000101010101" pitchFamily="49" charset="-127"/>
                <a:ea typeface="굴림체" panose="020B0609000101010101" pitchFamily="49" charset="-127"/>
              </a:rPr>
              <a:t> </a:t>
            </a:r>
          </a:p>
          <a:p>
            <a:r>
              <a:rPr lang="en-US" altLang="ko-KR" sz="1000" b="1" dirty="0">
                <a:latin typeface="굴림체" panose="020B0609000101010101" pitchFamily="49" charset="-127"/>
                <a:ea typeface="굴림체" panose="020B0609000101010101" pitchFamily="49" charset="-127"/>
              </a:rPr>
              <a:t>Two-Way ANOVA Table With Interaction </a:t>
            </a:r>
          </a:p>
          <a:p>
            <a:endParaRPr lang="ko-KR" altLang="en-US" sz="1000" b="1"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Source           DF       SS        MS        F      P</a:t>
            </a:r>
          </a:p>
          <a:p>
            <a:r>
              <a:rPr lang="en-US" altLang="ko-KR" sz="1000" dirty="0">
                <a:latin typeface="굴림체" panose="020B0609000101010101" pitchFamily="49" charset="-127"/>
                <a:ea typeface="굴림체" panose="020B0609000101010101" pitchFamily="49" charset="-127"/>
              </a:rPr>
              <a:t>Part              9  5.52273  0.613637  676.115  0.000</a:t>
            </a:r>
          </a:p>
          <a:p>
            <a:r>
              <a:rPr lang="it-IT" altLang="ko-KR" sz="1000" dirty="0">
                <a:latin typeface="굴림체" panose="020B0609000101010101" pitchFamily="49" charset="-127"/>
                <a:ea typeface="굴림체" panose="020B0609000101010101" pitchFamily="49" charset="-127"/>
              </a:rPr>
              <a:t>Operator          2  0.00013  0.000065    0.072  0.931</a:t>
            </a:r>
          </a:p>
          <a:p>
            <a:r>
              <a:rPr lang="en-US" altLang="ko-KR" sz="1000" dirty="0">
                <a:latin typeface="굴림체" panose="020B0609000101010101" pitchFamily="49" charset="-127"/>
                <a:ea typeface="굴림체" panose="020B0609000101010101" pitchFamily="49" charset="-127"/>
              </a:rPr>
              <a:t>Part * Operator  18  0.01634  0.000908    4.464  0.000</a:t>
            </a:r>
          </a:p>
          <a:p>
            <a:r>
              <a:rPr lang="en-US" altLang="ko-KR" sz="1000" dirty="0">
                <a:latin typeface="굴림체" panose="020B0609000101010101" pitchFamily="49" charset="-127"/>
                <a:ea typeface="굴림체" panose="020B0609000101010101" pitchFamily="49" charset="-127"/>
              </a:rPr>
              <a:t>Repeatability    30  0.00610  0.000203</a:t>
            </a:r>
          </a:p>
          <a:p>
            <a:r>
              <a:rPr lang="en-US" altLang="ko-KR" sz="1000" dirty="0">
                <a:latin typeface="굴림체" panose="020B0609000101010101" pitchFamily="49" charset="-127"/>
                <a:ea typeface="굴림체" panose="020B0609000101010101" pitchFamily="49" charset="-127"/>
              </a:rPr>
              <a:t>Total            59  5.54530</a:t>
            </a:r>
          </a:p>
          <a:p>
            <a:endParaRPr lang="ko-KR" altLang="en-US" sz="1000"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α to remove interaction term = 0.25</a:t>
            </a:r>
          </a:p>
          <a:p>
            <a:r>
              <a:rPr lang="ko-KR" altLang="en-US" sz="1000" dirty="0">
                <a:latin typeface="굴림체" panose="020B0609000101010101" pitchFamily="49" charset="-127"/>
                <a:ea typeface="굴림체" panose="020B0609000101010101" pitchFamily="49" charset="-127"/>
              </a:rPr>
              <a:t> </a:t>
            </a:r>
          </a:p>
          <a:p>
            <a:r>
              <a:rPr lang="en-US" altLang="ko-KR" sz="1000" b="1" dirty="0">
                <a:latin typeface="굴림체" panose="020B0609000101010101" pitchFamily="49" charset="-127"/>
                <a:ea typeface="굴림체" panose="020B0609000101010101" pitchFamily="49" charset="-127"/>
              </a:rPr>
              <a:t>Gage R&amp;R </a:t>
            </a:r>
            <a:endParaRPr lang="ko-KR" altLang="en-US" sz="1000" b="1"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                             %Contribution</a:t>
            </a:r>
          </a:p>
          <a:p>
            <a:r>
              <a:rPr lang="en-US" altLang="ko-KR" sz="1000" dirty="0">
                <a:latin typeface="굴림체" panose="020B0609000101010101" pitchFamily="49" charset="-127"/>
                <a:ea typeface="굴림체" panose="020B0609000101010101" pitchFamily="49" charset="-127"/>
              </a:rPr>
              <a:t>Source              </a:t>
            </a:r>
            <a:r>
              <a:rPr lang="en-US" altLang="ko-KR" sz="1000" dirty="0" err="1">
                <a:latin typeface="굴림체" panose="020B0609000101010101" pitchFamily="49" charset="-127"/>
                <a:ea typeface="굴림체" panose="020B0609000101010101" pitchFamily="49" charset="-127"/>
              </a:rPr>
              <a:t>VarComp</a:t>
            </a:r>
            <a:r>
              <a:rPr lang="en-US" altLang="ko-KR" sz="1000" dirty="0">
                <a:latin typeface="굴림체" panose="020B0609000101010101" pitchFamily="49" charset="-127"/>
                <a:ea typeface="굴림체" panose="020B0609000101010101" pitchFamily="49" charset="-127"/>
              </a:rPr>
              <a:t>   (of </a:t>
            </a:r>
            <a:r>
              <a:rPr lang="en-US" altLang="ko-KR" sz="1000" dirty="0" err="1">
                <a:latin typeface="굴림체" panose="020B0609000101010101" pitchFamily="49" charset="-127"/>
                <a:ea typeface="굴림체" panose="020B0609000101010101" pitchFamily="49" charset="-127"/>
              </a:rPr>
              <a:t>VarComp</a:t>
            </a:r>
            <a:r>
              <a:rPr lang="en-US" altLang="ko-KR" sz="1000" dirty="0">
                <a:latin typeface="굴림체" panose="020B0609000101010101" pitchFamily="49" charset="-127"/>
                <a:ea typeface="굴림체" panose="020B0609000101010101" pitchFamily="49" charset="-127"/>
              </a:rPr>
              <a:t>)</a:t>
            </a:r>
          </a:p>
          <a:p>
            <a:r>
              <a:rPr lang="pt-BR" altLang="ko-KR" sz="1000" dirty="0">
                <a:latin typeface="굴림체" panose="020B0609000101010101" pitchFamily="49" charset="-127"/>
                <a:ea typeface="굴림체" panose="020B0609000101010101" pitchFamily="49" charset="-127"/>
              </a:rPr>
              <a:t>Total Gage R&amp;R     0.000555           0.54</a:t>
            </a:r>
          </a:p>
          <a:p>
            <a:r>
              <a:rPr lang="en-US" altLang="ko-KR" sz="1000" dirty="0">
                <a:latin typeface="굴림체" panose="020B0609000101010101" pitchFamily="49" charset="-127"/>
                <a:ea typeface="굴림체" panose="020B0609000101010101" pitchFamily="49" charset="-127"/>
              </a:rPr>
              <a:t>  Repeatability    0.000203           0.20</a:t>
            </a:r>
          </a:p>
          <a:p>
            <a:r>
              <a:rPr lang="en-US" altLang="ko-KR" sz="1000" dirty="0">
                <a:latin typeface="굴림체" panose="020B0609000101010101" pitchFamily="49" charset="-127"/>
                <a:ea typeface="굴림체" panose="020B0609000101010101" pitchFamily="49" charset="-127"/>
              </a:rPr>
              <a:t>  Reproducibility  0.000352           0.34</a:t>
            </a:r>
          </a:p>
          <a:p>
            <a:r>
              <a:rPr lang="en-US" altLang="ko-KR" sz="1000" dirty="0">
                <a:latin typeface="굴림체" panose="020B0609000101010101" pitchFamily="49" charset="-127"/>
                <a:ea typeface="굴림체" panose="020B0609000101010101" pitchFamily="49" charset="-127"/>
              </a:rPr>
              <a:t>    Operator       0.000000           0.00</a:t>
            </a:r>
          </a:p>
          <a:p>
            <a:r>
              <a:rPr lang="en-US" altLang="ko-KR" sz="1000" dirty="0">
                <a:latin typeface="굴림체" panose="020B0609000101010101" pitchFamily="49" charset="-127"/>
                <a:ea typeface="굴림체" panose="020B0609000101010101" pitchFamily="49" charset="-127"/>
              </a:rPr>
              <a:t>    Operator*Part  0.000352           0.34</a:t>
            </a:r>
          </a:p>
          <a:p>
            <a:r>
              <a:rPr lang="en-US" altLang="ko-KR" sz="1000" dirty="0">
                <a:latin typeface="굴림체" panose="020B0609000101010101" pitchFamily="49" charset="-127"/>
                <a:ea typeface="굴림체" panose="020B0609000101010101" pitchFamily="49" charset="-127"/>
              </a:rPr>
              <a:t>Part-To-Part       0.102122          99.46</a:t>
            </a:r>
          </a:p>
          <a:p>
            <a:r>
              <a:rPr lang="en-US" altLang="ko-KR" sz="1000" dirty="0">
                <a:latin typeface="굴림체" panose="020B0609000101010101" pitchFamily="49" charset="-127"/>
                <a:ea typeface="굴림체" panose="020B0609000101010101" pitchFamily="49" charset="-127"/>
              </a:rPr>
              <a:t>Total Variation    0.102677         100.00</a:t>
            </a:r>
          </a:p>
          <a:p>
            <a:endParaRPr lang="ko-KR" altLang="en-US" sz="1000"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Process tolerance = 1.6</a:t>
            </a:r>
          </a:p>
          <a:p>
            <a:r>
              <a:rPr lang="en-US" altLang="ko-KR" sz="1000" dirty="0">
                <a:latin typeface="굴림체" panose="020B0609000101010101" pitchFamily="49" charset="-127"/>
                <a:ea typeface="굴림체" panose="020B0609000101010101" pitchFamily="49" charset="-127"/>
              </a:rPr>
              <a:t>Historical standard deviation = 0.35</a:t>
            </a:r>
            <a:endParaRPr lang="ko-KR" altLang="en-US" sz="1000" dirty="0">
              <a:latin typeface="굴림체" panose="020B0609000101010101" pitchFamily="49" charset="-127"/>
              <a:ea typeface="굴림체" panose="020B0609000101010101" pitchFamily="49" charset="-127"/>
            </a:endParaRPr>
          </a:p>
          <a:p>
            <a:endParaRPr lang="ko-KR" altLang="en-US" sz="1000" dirty="0">
              <a:latin typeface="굴림체" panose="020B0609000101010101" pitchFamily="49" charset="-127"/>
              <a:ea typeface="굴림체" panose="020B0609000101010101" pitchFamily="49" charset="-127"/>
            </a:endParaRPr>
          </a:p>
          <a:p>
            <a:r>
              <a:rPr lang="en-US" altLang="ko-KR" sz="1000" dirty="0">
                <a:latin typeface="굴림체" panose="020B0609000101010101" pitchFamily="49" charset="-127"/>
                <a:ea typeface="굴림체" panose="020B0609000101010101" pitchFamily="49" charset="-127"/>
              </a:rPr>
              <a:t>                                Study </a:t>
            </a:r>
            <a:r>
              <a:rPr lang="en-US" altLang="ko-KR" sz="1000" dirty="0" err="1">
                <a:latin typeface="굴림체" panose="020B0609000101010101" pitchFamily="49" charset="-127"/>
                <a:ea typeface="굴림체" panose="020B0609000101010101" pitchFamily="49" charset="-127"/>
              </a:rPr>
              <a:t>Var</a:t>
            </a:r>
            <a:r>
              <a:rPr lang="en-US" altLang="ko-KR" sz="1000" dirty="0">
                <a:latin typeface="굴림체" panose="020B0609000101010101" pitchFamily="49" charset="-127"/>
                <a:ea typeface="굴림체" panose="020B0609000101010101" pitchFamily="49" charset="-127"/>
              </a:rPr>
              <a:t>  %Study </a:t>
            </a:r>
            <a:r>
              <a:rPr lang="en-US" altLang="ko-KR" sz="1000" dirty="0" err="1">
                <a:latin typeface="굴림체" panose="020B0609000101010101" pitchFamily="49" charset="-127"/>
                <a:ea typeface="굴림체" panose="020B0609000101010101" pitchFamily="49" charset="-127"/>
              </a:rPr>
              <a:t>Var</a:t>
            </a:r>
            <a:r>
              <a:rPr lang="en-US" altLang="ko-KR" sz="1000" dirty="0">
                <a:latin typeface="굴림체" panose="020B0609000101010101" pitchFamily="49" charset="-127"/>
                <a:ea typeface="굴림체" panose="020B0609000101010101" pitchFamily="49" charset="-127"/>
              </a:rPr>
              <a:t>  %Tolerance   %Process</a:t>
            </a:r>
          </a:p>
          <a:p>
            <a:r>
              <a:rPr lang="en-US" altLang="ko-KR" sz="1000" dirty="0">
                <a:latin typeface="굴림체" panose="020B0609000101010101" pitchFamily="49" charset="-127"/>
                <a:ea typeface="굴림체" panose="020B0609000101010101" pitchFamily="49" charset="-127"/>
              </a:rPr>
              <a:t>Source             </a:t>
            </a:r>
            <a:r>
              <a:rPr lang="en-US" altLang="ko-KR" sz="1000" dirty="0" err="1">
                <a:latin typeface="굴림체" panose="020B0609000101010101" pitchFamily="49" charset="-127"/>
                <a:ea typeface="굴림체" panose="020B0609000101010101" pitchFamily="49" charset="-127"/>
              </a:rPr>
              <a:t>StdDev</a:t>
            </a:r>
            <a:r>
              <a:rPr lang="en-US" altLang="ko-KR" sz="1000" dirty="0">
                <a:latin typeface="굴림체" panose="020B0609000101010101" pitchFamily="49" charset="-127"/>
                <a:ea typeface="굴림체" panose="020B0609000101010101" pitchFamily="49" charset="-127"/>
              </a:rPr>
              <a:t> (SD)  (6 × SD)       (%SV)  (SV/Toler)  (SV/Proc)</a:t>
            </a:r>
          </a:p>
          <a:p>
            <a:r>
              <a:rPr lang="pt-BR" altLang="ko-KR" sz="1000" dirty="0">
                <a:latin typeface="굴림체" panose="020B0609000101010101" pitchFamily="49" charset="-127"/>
                <a:ea typeface="굴림체" panose="020B0609000101010101" pitchFamily="49" charset="-127"/>
              </a:rPr>
              <a:t>Total Gage R&amp;R        0.023568    0.14141        7.36        8.84       6.73</a:t>
            </a:r>
          </a:p>
          <a:p>
            <a:r>
              <a:rPr lang="en-US" altLang="ko-KR" sz="1000" dirty="0">
                <a:latin typeface="굴림체" panose="020B0609000101010101" pitchFamily="49" charset="-127"/>
                <a:ea typeface="굴림체" panose="020B0609000101010101" pitchFamily="49" charset="-127"/>
              </a:rPr>
              <a:t>  Repeatability       0.014259    0.08556        4.45        5.35       4.07</a:t>
            </a:r>
          </a:p>
          <a:p>
            <a:r>
              <a:rPr lang="es-ES" altLang="ko-KR" sz="1000" dirty="0">
                <a:latin typeface="굴림체" panose="020B0609000101010101" pitchFamily="49" charset="-127"/>
                <a:ea typeface="굴림체" panose="020B0609000101010101" pitchFamily="49" charset="-127"/>
              </a:rPr>
              <a:t>  Reproducibility     0.018765    0.11259        5.86        7.04       5.36</a:t>
            </a:r>
          </a:p>
          <a:p>
            <a:r>
              <a:rPr lang="it-IT" altLang="ko-KR" sz="1000" dirty="0">
                <a:latin typeface="굴림체" panose="020B0609000101010101" pitchFamily="49" charset="-127"/>
                <a:ea typeface="굴림체" panose="020B0609000101010101" pitchFamily="49" charset="-127"/>
              </a:rPr>
              <a:t>    Operator          0.000000    0.00000        0.00        0.00       0.00</a:t>
            </a:r>
          </a:p>
          <a:p>
            <a:r>
              <a:rPr lang="en-US" altLang="ko-KR" sz="1000" dirty="0">
                <a:latin typeface="굴림체" panose="020B0609000101010101" pitchFamily="49" charset="-127"/>
                <a:ea typeface="굴림체" panose="020B0609000101010101" pitchFamily="49" charset="-127"/>
              </a:rPr>
              <a:t>    Operator*Part     0.018765    0.11259        5.86        7.04       5.36</a:t>
            </a:r>
          </a:p>
          <a:p>
            <a:r>
              <a:rPr lang="en-US" altLang="ko-KR" sz="1000" dirty="0">
                <a:latin typeface="굴림체" panose="020B0609000101010101" pitchFamily="49" charset="-127"/>
                <a:ea typeface="굴림체" panose="020B0609000101010101" pitchFamily="49" charset="-127"/>
              </a:rPr>
              <a:t>Part-To-Part          0.319565    1.91739       99.73      119.84      91.30</a:t>
            </a:r>
          </a:p>
          <a:p>
            <a:r>
              <a:rPr lang="en-US" altLang="ko-KR" sz="1000" dirty="0">
                <a:latin typeface="굴림체" panose="020B0609000101010101" pitchFamily="49" charset="-127"/>
                <a:ea typeface="굴림체" panose="020B0609000101010101" pitchFamily="49" charset="-127"/>
              </a:rPr>
              <a:t>Total Variation       0.320433    1.92260      100.00      120.16      91.55</a:t>
            </a:r>
          </a:p>
        </p:txBody>
      </p:sp>
      <p:sp>
        <p:nvSpPr>
          <p:cNvPr id="11" name="TextBox 10"/>
          <p:cNvSpPr txBox="1"/>
          <p:nvPr/>
        </p:nvSpPr>
        <p:spPr>
          <a:xfrm>
            <a:off x="179512" y="148570"/>
            <a:ext cx="410670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2" name="직사각형 11"/>
          <p:cNvSpPr/>
          <p:nvPr/>
        </p:nvSpPr>
        <p:spPr>
          <a:xfrm>
            <a:off x="6156176"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
        <p:nvSpPr>
          <p:cNvPr id="13" name="TextBox 12"/>
          <p:cNvSpPr txBox="1"/>
          <p:nvPr/>
        </p:nvSpPr>
        <p:spPr>
          <a:xfrm>
            <a:off x="5148064" y="928670"/>
            <a:ext cx="3456384" cy="523220"/>
          </a:xfrm>
          <a:prstGeom prst="rect">
            <a:avLst/>
          </a:prstGeom>
          <a:noFill/>
        </p:spPr>
        <p:txBody>
          <a:bodyPr wrap="square" rtlCol="0">
            <a:spAutoFit/>
          </a:bodyPr>
          <a:lstStyle/>
          <a:p>
            <a:r>
              <a:rPr lang="vi-VN" sz="1400" dirty="0"/>
              <a:t>Phân tích biến động bằng cách sử </a:t>
            </a:r>
            <a:r>
              <a:rPr lang="en-US" sz="1400" dirty="0"/>
              <a:t>d</a:t>
            </a:r>
            <a:r>
              <a:rPr lang="vi-VN" sz="1400" dirty="0"/>
              <a:t>ụng các bảng phân tích </a:t>
            </a:r>
            <a:r>
              <a:rPr lang="en-US" sz="1400" dirty="0" err="1"/>
              <a:t>phân</a:t>
            </a:r>
            <a:r>
              <a:rPr lang="en-US" sz="1400" dirty="0"/>
              <a:t> </a:t>
            </a:r>
            <a:r>
              <a:rPr lang="en-US" sz="1400" dirty="0" err="1"/>
              <a:t>tán</a:t>
            </a:r>
            <a:endParaRPr lang="en-US" sz="1400" dirty="0"/>
          </a:p>
        </p:txBody>
      </p:sp>
      <p:sp>
        <p:nvSpPr>
          <p:cNvPr id="14" name="TextBox 13"/>
          <p:cNvSpPr txBox="1"/>
          <p:nvPr/>
        </p:nvSpPr>
        <p:spPr>
          <a:xfrm>
            <a:off x="5148064" y="1432725"/>
            <a:ext cx="4088812" cy="523220"/>
          </a:xfrm>
          <a:prstGeom prst="rect">
            <a:avLst/>
          </a:prstGeom>
          <a:noFill/>
        </p:spPr>
        <p:txBody>
          <a:bodyPr wrap="none" rtlCol="0">
            <a:spAutoFit/>
          </a:bodyPr>
          <a:lstStyle/>
          <a:p>
            <a:r>
              <a:rPr lang="vi-VN" sz="1400" dirty="0"/>
              <a:t>Các yếu tố chính trong bảng phân tích </a:t>
            </a:r>
            <a:r>
              <a:rPr lang="en-US" sz="1400" dirty="0" err="1"/>
              <a:t>phân</a:t>
            </a:r>
            <a:r>
              <a:rPr lang="en-US" sz="1400" dirty="0"/>
              <a:t> </a:t>
            </a:r>
          </a:p>
          <a:p>
            <a:r>
              <a:rPr lang="en-US" sz="1400" dirty="0" err="1"/>
              <a:t>tán</a:t>
            </a:r>
            <a:r>
              <a:rPr lang="en-US" sz="1400" dirty="0"/>
              <a:t> </a:t>
            </a:r>
            <a:r>
              <a:rPr lang="en-US" sz="1400" dirty="0" err="1"/>
              <a:t>là</a:t>
            </a:r>
            <a:r>
              <a:rPr lang="en-US" sz="1400" dirty="0"/>
              <a:t> </a:t>
            </a:r>
            <a:r>
              <a:rPr lang="en-US" altLang="ko-KR" sz="1400" dirty="0"/>
              <a:t>Part(</a:t>
            </a:r>
            <a:r>
              <a:rPr lang="en-US" altLang="ko-KR" sz="1400" dirty="0" err="1"/>
              <a:t>sản</a:t>
            </a:r>
            <a:r>
              <a:rPr lang="en-US" altLang="ko-KR" sz="1400" dirty="0"/>
              <a:t> </a:t>
            </a:r>
            <a:r>
              <a:rPr lang="en-US" altLang="ko-KR" sz="1400" dirty="0" err="1"/>
              <a:t>phẩm</a:t>
            </a:r>
            <a:r>
              <a:rPr lang="en-US" altLang="ko-KR" sz="1400" dirty="0"/>
              <a:t>) </a:t>
            </a:r>
            <a:r>
              <a:rPr lang="en-US" altLang="ko-KR" sz="1400" dirty="0" err="1"/>
              <a:t>và</a:t>
            </a:r>
            <a:r>
              <a:rPr lang="en-US" altLang="ko-KR" sz="1400" dirty="0"/>
              <a:t> Operator(</a:t>
            </a:r>
            <a:r>
              <a:rPr lang="en-US" altLang="ko-KR" sz="1400" dirty="0" err="1"/>
              <a:t>Người</a:t>
            </a:r>
            <a:r>
              <a:rPr lang="en-US" altLang="ko-KR" sz="1400" dirty="0"/>
              <a:t> </a:t>
            </a:r>
            <a:r>
              <a:rPr lang="en-US" altLang="ko-KR" sz="1400" dirty="0" err="1"/>
              <a:t>đo</a:t>
            </a:r>
            <a:r>
              <a:rPr lang="en-US" altLang="ko-KR" sz="1400" dirty="0"/>
              <a:t>) </a:t>
            </a:r>
            <a:endParaRPr lang="ko-KR" altLang="en-US" sz="1400" dirty="0"/>
          </a:p>
        </p:txBody>
      </p:sp>
      <p:sp>
        <p:nvSpPr>
          <p:cNvPr id="15" name="TextBox 14"/>
          <p:cNvSpPr txBox="1"/>
          <p:nvPr/>
        </p:nvSpPr>
        <p:spPr>
          <a:xfrm>
            <a:off x="5148064" y="2060848"/>
            <a:ext cx="3995004" cy="1600438"/>
          </a:xfrm>
          <a:prstGeom prst="rect">
            <a:avLst/>
          </a:prstGeom>
          <a:noFill/>
        </p:spPr>
        <p:txBody>
          <a:bodyPr wrap="none" rtlCol="0">
            <a:spAutoFit/>
          </a:bodyPr>
          <a:lstStyle/>
          <a:p>
            <a:r>
              <a:rPr lang="en-US" altLang="ko-KR" sz="1400" dirty="0" err="1"/>
              <a:t>Không</a:t>
            </a:r>
            <a:r>
              <a:rPr lang="en-US" altLang="ko-KR" sz="1400" dirty="0"/>
              <a:t> </a:t>
            </a:r>
            <a:r>
              <a:rPr lang="en-US" altLang="ko-KR" sz="1400" dirty="0" err="1"/>
              <a:t>quan</a:t>
            </a:r>
            <a:r>
              <a:rPr lang="en-US" altLang="ko-KR" sz="1400" dirty="0"/>
              <a:t> </a:t>
            </a:r>
            <a:r>
              <a:rPr lang="en-US" altLang="ko-KR" sz="1400" dirty="0" err="1"/>
              <a:t>tâm</a:t>
            </a:r>
            <a:r>
              <a:rPr lang="en-US" altLang="ko-KR" sz="1400" dirty="0"/>
              <a:t> </a:t>
            </a:r>
            <a:r>
              <a:rPr lang="vi-VN" sz="1400" dirty="0"/>
              <a:t>sự </a:t>
            </a:r>
            <a:r>
              <a:rPr lang="en-US" sz="1400" dirty="0" err="1"/>
              <a:t>khác</a:t>
            </a:r>
            <a:r>
              <a:rPr lang="en-US" sz="1400" dirty="0"/>
              <a:t> </a:t>
            </a:r>
            <a:r>
              <a:rPr lang="en-US" sz="1400" dirty="0" err="1"/>
              <a:t>nhau</a:t>
            </a:r>
            <a:r>
              <a:rPr lang="en-US" sz="1400" dirty="0"/>
              <a:t> </a:t>
            </a:r>
            <a:r>
              <a:rPr lang="en-US" sz="1400" dirty="0" err="1"/>
              <a:t>của</a:t>
            </a:r>
            <a:r>
              <a:rPr lang="en-US" sz="1400" dirty="0"/>
              <a:t> </a:t>
            </a:r>
            <a:r>
              <a:rPr lang="vi-VN" sz="1400" dirty="0"/>
              <a:t>trung bình</a:t>
            </a:r>
            <a:r>
              <a:rPr lang="en-US" sz="1400" dirty="0"/>
              <a:t> </a:t>
            </a:r>
          </a:p>
          <a:p>
            <a:r>
              <a:rPr lang="en-US" sz="1400" dirty="0" err="1"/>
              <a:t>tiêu</a:t>
            </a:r>
            <a:r>
              <a:rPr lang="en-US" sz="1400" dirty="0"/>
              <a:t> </a:t>
            </a:r>
            <a:r>
              <a:rPr lang="en-US" sz="1400" dirty="0" err="1"/>
              <a:t>chuẩn</a:t>
            </a:r>
            <a:r>
              <a:rPr lang="en-US" sz="1400" dirty="0"/>
              <a:t> </a:t>
            </a:r>
            <a:r>
              <a:rPr lang="en-US" sz="1400" dirty="0" err="1"/>
              <a:t>giữa</a:t>
            </a:r>
            <a:r>
              <a:rPr lang="en-US" sz="1400" dirty="0"/>
              <a:t> </a:t>
            </a:r>
            <a:r>
              <a:rPr lang="en-US" sz="1400" dirty="0" err="1"/>
              <a:t>các</a:t>
            </a:r>
            <a:r>
              <a:rPr lang="en-US" sz="1400" dirty="0"/>
              <a:t> Part</a:t>
            </a:r>
            <a:r>
              <a:rPr lang="vi-VN" sz="1400" dirty="0"/>
              <a:t> </a:t>
            </a:r>
            <a:r>
              <a:rPr lang="en-US" sz="1400" dirty="0" err="1"/>
              <a:t>các</a:t>
            </a:r>
            <a:r>
              <a:rPr lang="en-US" sz="1400" dirty="0"/>
              <a:t> </a:t>
            </a:r>
            <a:r>
              <a:rPr lang="en-US" altLang="ko-KR" sz="1400" dirty="0"/>
              <a:t>Operator(</a:t>
            </a:r>
            <a:r>
              <a:rPr lang="en-US" altLang="ko-KR" sz="1400" dirty="0" err="1"/>
              <a:t>người</a:t>
            </a:r>
            <a:r>
              <a:rPr lang="en-US" altLang="ko-KR" sz="1400" dirty="0"/>
              <a:t> </a:t>
            </a:r>
          </a:p>
          <a:p>
            <a:r>
              <a:rPr lang="en-US" altLang="ko-KR" sz="1400" dirty="0" err="1"/>
              <a:t>đo</a:t>
            </a:r>
            <a:r>
              <a:rPr lang="en-US" altLang="ko-KR" sz="1400" dirty="0"/>
              <a:t>) </a:t>
            </a:r>
            <a:r>
              <a:rPr lang="en-US" altLang="ko-KR" sz="1400" dirty="0" err="1"/>
              <a:t>cả</a:t>
            </a:r>
            <a:r>
              <a:rPr lang="en-US" altLang="ko-KR" sz="1400" dirty="0"/>
              <a:t> </a:t>
            </a:r>
            <a:r>
              <a:rPr lang="en-US" altLang="ko-KR" sz="1400" dirty="0" err="1"/>
              <a:t>hai</a:t>
            </a:r>
            <a:r>
              <a:rPr lang="en-US" altLang="ko-KR" sz="1400" dirty="0"/>
              <a:t> </a:t>
            </a:r>
            <a:r>
              <a:rPr lang="en-US" altLang="ko-KR" sz="1400" dirty="0" err="1"/>
              <a:t>đều</a:t>
            </a:r>
            <a:r>
              <a:rPr lang="en-US" altLang="ko-KR" sz="1400" dirty="0"/>
              <a:t> </a:t>
            </a:r>
            <a:r>
              <a:rPr lang="en-US" altLang="ko-KR" sz="1400" dirty="0" err="1"/>
              <a:t>là</a:t>
            </a:r>
            <a:r>
              <a:rPr lang="en-US" altLang="ko-KR" sz="1400" dirty="0"/>
              <a:t> Random Factor</a:t>
            </a:r>
          </a:p>
          <a:p>
            <a:endParaRPr lang="en-US" altLang="ko-KR" sz="1400" dirty="0"/>
          </a:p>
          <a:p>
            <a:r>
              <a:rPr lang="en-US" altLang="ko-KR" sz="1400" dirty="0" err="1"/>
              <a:t>Vì</a:t>
            </a:r>
            <a:r>
              <a:rPr lang="en-US" altLang="ko-KR" sz="1400" dirty="0"/>
              <a:t> </a:t>
            </a:r>
            <a:r>
              <a:rPr lang="en-US" altLang="ko-KR" sz="1400" dirty="0" err="1"/>
              <a:t>vậy</a:t>
            </a:r>
            <a:r>
              <a:rPr lang="en-US" altLang="ko-KR" sz="1400" dirty="0"/>
              <a:t> </a:t>
            </a:r>
            <a:r>
              <a:rPr lang="en-US" altLang="ko-KR" sz="1400" dirty="0" err="1"/>
              <a:t>bảng</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phân</a:t>
            </a:r>
            <a:r>
              <a:rPr lang="en-US" altLang="ko-KR" sz="1400" dirty="0"/>
              <a:t> </a:t>
            </a:r>
            <a:r>
              <a:rPr lang="en-US" altLang="ko-KR" sz="1400" dirty="0" err="1"/>
              <a:t>tán</a:t>
            </a:r>
            <a:r>
              <a:rPr lang="en-US" altLang="ko-KR" sz="1400" dirty="0"/>
              <a:t> </a:t>
            </a:r>
            <a:r>
              <a:rPr lang="en-US" altLang="ko-KR" sz="1400" dirty="0" err="1"/>
              <a:t>này</a:t>
            </a:r>
            <a:r>
              <a:rPr lang="en-US" altLang="ko-KR" sz="1400" dirty="0"/>
              <a:t> </a:t>
            </a:r>
            <a:r>
              <a:rPr lang="en-US" altLang="ko-KR" sz="1400" dirty="0" err="1"/>
              <a:t>là</a:t>
            </a:r>
            <a:r>
              <a:rPr lang="en-US" altLang="ko-KR" sz="1400" dirty="0"/>
              <a:t> </a:t>
            </a:r>
            <a:r>
              <a:rPr lang="en-US" altLang="ko-KR" sz="1400" dirty="0" err="1"/>
              <a:t>bảng</a:t>
            </a:r>
            <a:r>
              <a:rPr lang="en-US" altLang="ko-KR" sz="1400" dirty="0"/>
              <a:t> </a:t>
            </a:r>
          </a:p>
          <a:p>
            <a:r>
              <a:rPr lang="en-US" altLang="ko-KR" sz="1400" dirty="0" err="1"/>
              <a:t>phân</a:t>
            </a:r>
            <a:r>
              <a:rPr lang="en-US" altLang="ko-KR" sz="1400" dirty="0"/>
              <a:t> </a:t>
            </a:r>
            <a:r>
              <a:rPr lang="en-US" altLang="ko-KR" sz="1400" dirty="0" err="1"/>
              <a:t>tích</a:t>
            </a:r>
            <a:r>
              <a:rPr lang="en-US" altLang="ko-KR" sz="1400" dirty="0"/>
              <a:t> </a:t>
            </a:r>
            <a:r>
              <a:rPr lang="en-US" altLang="ko-KR" sz="1400" dirty="0" err="1"/>
              <a:t>phân</a:t>
            </a:r>
            <a:r>
              <a:rPr lang="en-US" altLang="ko-KR" sz="1400" dirty="0"/>
              <a:t> </a:t>
            </a:r>
            <a:r>
              <a:rPr lang="en-US" altLang="ko-KR" sz="1400" dirty="0" err="1"/>
              <a:t>tán</a:t>
            </a:r>
            <a:r>
              <a:rPr lang="en-US" altLang="ko-KR" sz="1400" dirty="0"/>
              <a:t> </a:t>
            </a:r>
            <a:r>
              <a:rPr lang="en-US" altLang="ko-KR" sz="1400" dirty="0" err="1"/>
              <a:t>của</a:t>
            </a:r>
            <a:r>
              <a:rPr lang="en-US" altLang="ko-KR" sz="1400" dirty="0"/>
              <a:t> </a:t>
            </a:r>
            <a:r>
              <a:rPr lang="en-US" altLang="ko-KR" sz="1400" dirty="0" err="1"/>
              <a:t>yếu</a:t>
            </a:r>
            <a:r>
              <a:rPr lang="en-US" altLang="ko-KR" sz="1400" dirty="0"/>
              <a:t> </a:t>
            </a:r>
            <a:r>
              <a:rPr lang="en-US" altLang="ko-KR" sz="1400" dirty="0" err="1"/>
              <a:t>tố</a:t>
            </a:r>
            <a:r>
              <a:rPr lang="en-US" altLang="ko-KR" sz="1400" dirty="0"/>
              <a:t> </a:t>
            </a:r>
            <a:r>
              <a:rPr lang="en-US" altLang="ko-KR" sz="1400" dirty="0" err="1"/>
              <a:t>ngẫu</a:t>
            </a:r>
            <a:r>
              <a:rPr lang="en-US" altLang="ko-KR" sz="1400" dirty="0"/>
              <a:t> </a:t>
            </a:r>
            <a:r>
              <a:rPr lang="en-US" altLang="ko-KR" sz="1400" dirty="0" err="1"/>
              <a:t>nhiên</a:t>
            </a:r>
            <a:endParaRPr lang="en-US" altLang="ko-KR" sz="1400" dirty="0"/>
          </a:p>
          <a:p>
            <a:r>
              <a:rPr lang="en-US" altLang="ko-KR" sz="1400" dirty="0"/>
              <a:t>(Random Factor)</a:t>
            </a:r>
            <a:endParaRPr lang="ko-KR" altLang="en-US" sz="1400" dirty="0"/>
          </a:p>
        </p:txBody>
      </p:sp>
      <p:sp>
        <p:nvSpPr>
          <p:cNvPr id="16" name="TextBox 15"/>
          <p:cNvSpPr txBox="1"/>
          <p:nvPr/>
        </p:nvSpPr>
        <p:spPr>
          <a:xfrm>
            <a:off x="5220072" y="3736981"/>
            <a:ext cx="3846630" cy="523220"/>
          </a:xfrm>
          <a:prstGeom prst="rect">
            <a:avLst/>
          </a:prstGeom>
          <a:noFill/>
        </p:spPr>
        <p:txBody>
          <a:bodyPr wrap="none" rtlCol="0">
            <a:spAutoFit/>
          </a:bodyPr>
          <a:lstStyle/>
          <a:p>
            <a:r>
              <a:rPr lang="en-US" altLang="ko-KR" sz="1400" b="1" dirty="0" err="1"/>
              <a:t>Khi</a:t>
            </a:r>
            <a:r>
              <a:rPr lang="en-US" altLang="ko-KR" sz="1400" b="1" dirty="0"/>
              <a:t> so </a:t>
            </a:r>
            <a:r>
              <a:rPr lang="en-US" altLang="ko-KR" sz="1400" b="1" dirty="0" err="1"/>
              <a:t>sánh</a:t>
            </a:r>
            <a:r>
              <a:rPr lang="en-US" altLang="ko-KR" sz="1400" b="1" dirty="0"/>
              <a:t> </a:t>
            </a:r>
            <a:r>
              <a:rPr lang="en-US" altLang="ko-KR" sz="1400" b="1" dirty="0" err="1"/>
              <a:t>với</a:t>
            </a:r>
            <a:r>
              <a:rPr lang="en-US" altLang="ko-KR" sz="1400" b="1" dirty="0"/>
              <a:t> </a:t>
            </a:r>
            <a:r>
              <a:rPr lang="en-US" altLang="ko-KR" sz="1400" b="1" dirty="0" err="1"/>
              <a:t>bảng</a:t>
            </a:r>
            <a:r>
              <a:rPr lang="en-US" altLang="ko-KR" sz="1400" b="1" dirty="0"/>
              <a:t> </a:t>
            </a:r>
            <a:r>
              <a:rPr lang="en-US" altLang="ko-KR" sz="1400" b="1" dirty="0" err="1"/>
              <a:t>phân</a:t>
            </a:r>
            <a:r>
              <a:rPr lang="en-US" altLang="ko-KR" sz="1400" b="1" dirty="0"/>
              <a:t> </a:t>
            </a:r>
            <a:r>
              <a:rPr lang="en-US" altLang="ko-KR" sz="1400" b="1" dirty="0" err="1"/>
              <a:t>tích</a:t>
            </a:r>
            <a:r>
              <a:rPr lang="en-US" altLang="ko-KR" sz="1400" b="1" dirty="0"/>
              <a:t> </a:t>
            </a:r>
            <a:r>
              <a:rPr lang="en-US" altLang="ko-KR" sz="1400" b="1" dirty="0" err="1"/>
              <a:t>thông</a:t>
            </a:r>
            <a:r>
              <a:rPr lang="en-US" altLang="ko-KR" sz="1400" b="1" dirty="0"/>
              <a:t> </a:t>
            </a:r>
          </a:p>
          <a:p>
            <a:r>
              <a:rPr lang="en-US" altLang="ko-KR" sz="1400" b="1" dirty="0" err="1"/>
              <a:t>thường</a:t>
            </a:r>
            <a:r>
              <a:rPr lang="en-US" altLang="ko-KR" sz="1400" b="1" dirty="0"/>
              <a:t> </a:t>
            </a:r>
            <a:r>
              <a:rPr lang="en-US" altLang="ko-KR" sz="1400" b="1" dirty="0" err="1"/>
              <a:t>độ</a:t>
            </a:r>
            <a:r>
              <a:rPr lang="en-US" altLang="ko-KR" sz="1400" b="1" dirty="0"/>
              <a:t> </a:t>
            </a:r>
            <a:r>
              <a:rPr lang="en-US" altLang="ko-KR" sz="1400" b="1" dirty="0" err="1"/>
              <a:t>lặp</a:t>
            </a:r>
            <a:r>
              <a:rPr lang="en-US" altLang="ko-KR" sz="1400" b="1" dirty="0"/>
              <a:t> </a:t>
            </a:r>
            <a:r>
              <a:rPr lang="en-US" altLang="ko-KR" sz="1400" b="1" dirty="0" err="1"/>
              <a:t>lại</a:t>
            </a:r>
            <a:r>
              <a:rPr lang="en-US" altLang="ko-KR" sz="1400" b="1" dirty="0"/>
              <a:t> </a:t>
            </a:r>
            <a:r>
              <a:rPr lang="en-US" altLang="ko-KR" sz="1400" b="1" dirty="0" err="1"/>
              <a:t>chính</a:t>
            </a:r>
            <a:r>
              <a:rPr lang="en-US" altLang="ko-KR" sz="1400" b="1" dirty="0"/>
              <a:t> </a:t>
            </a:r>
            <a:r>
              <a:rPr lang="en-US" altLang="ko-KR" sz="1400" b="1" dirty="0" err="1"/>
              <a:t>là</a:t>
            </a:r>
            <a:r>
              <a:rPr lang="en-US" altLang="ko-KR" sz="1400" b="1" dirty="0"/>
              <a:t> </a:t>
            </a:r>
            <a:r>
              <a:rPr lang="en-US" altLang="ko-KR" sz="1400" b="1" dirty="0" err="1"/>
              <a:t>hạng</a:t>
            </a:r>
            <a:r>
              <a:rPr lang="en-US" altLang="ko-KR" sz="1400" b="1" dirty="0"/>
              <a:t> </a:t>
            </a:r>
            <a:r>
              <a:rPr lang="en-US" altLang="ko-KR" sz="1400" b="1" dirty="0" err="1"/>
              <a:t>mục</a:t>
            </a:r>
            <a:r>
              <a:rPr lang="en-US" altLang="ko-KR" sz="1400" b="1" dirty="0"/>
              <a:t> Error</a:t>
            </a:r>
          </a:p>
        </p:txBody>
      </p:sp>
      <p:sp>
        <p:nvSpPr>
          <p:cNvPr id="17" name="TextBox 16"/>
          <p:cNvSpPr txBox="1"/>
          <p:nvPr/>
        </p:nvSpPr>
        <p:spPr>
          <a:xfrm>
            <a:off x="5220072" y="4385053"/>
            <a:ext cx="3796232" cy="1169551"/>
          </a:xfrm>
          <a:prstGeom prst="rect">
            <a:avLst/>
          </a:prstGeom>
          <a:noFill/>
        </p:spPr>
        <p:txBody>
          <a:bodyPr wrap="none" rtlCol="0">
            <a:spAutoFit/>
          </a:bodyPr>
          <a:lstStyle/>
          <a:p>
            <a:r>
              <a:rPr lang="en-US" altLang="ko-KR" sz="1400" dirty="0" err="1"/>
              <a:t>Yếu</a:t>
            </a:r>
            <a:r>
              <a:rPr lang="en-US" altLang="ko-KR" sz="1400" dirty="0"/>
              <a:t> </a:t>
            </a:r>
            <a:r>
              <a:rPr lang="en-US" altLang="ko-KR" sz="1400" dirty="0" err="1"/>
              <a:t>tố</a:t>
            </a:r>
            <a:r>
              <a:rPr lang="en-US" altLang="ko-KR" sz="1400" dirty="0"/>
              <a:t> </a:t>
            </a:r>
            <a:r>
              <a:rPr lang="en-US" altLang="ko-KR" sz="1400" dirty="0" err="1"/>
              <a:t>cơ</a:t>
            </a:r>
            <a:r>
              <a:rPr lang="en-US" altLang="ko-KR" sz="1400" dirty="0"/>
              <a:t> </a:t>
            </a:r>
            <a:r>
              <a:rPr lang="en-US" altLang="ko-KR" sz="1400" dirty="0" err="1"/>
              <a:t>bản</a:t>
            </a:r>
            <a:r>
              <a:rPr lang="en-US" altLang="ko-KR" sz="1400" dirty="0"/>
              <a:t> </a:t>
            </a:r>
            <a:r>
              <a:rPr lang="en-US" altLang="ko-KR" sz="1400" dirty="0" err="1"/>
              <a:t>của</a:t>
            </a:r>
            <a:r>
              <a:rPr lang="en-US" altLang="ko-KR" sz="1400" dirty="0"/>
              <a:t> </a:t>
            </a:r>
            <a:r>
              <a:rPr lang="en-US" altLang="ko-KR" sz="1400" dirty="0" err="1"/>
              <a:t>bảng</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phân</a:t>
            </a:r>
            <a:r>
              <a:rPr lang="en-US" altLang="ko-KR" sz="1400" dirty="0"/>
              <a:t> </a:t>
            </a:r>
            <a:r>
              <a:rPr lang="en-US" altLang="ko-KR" sz="1400" dirty="0" err="1"/>
              <a:t>tán</a:t>
            </a:r>
            <a:endParaRPr lang="en-US" altLang="ko-KR" sz="1400" dirty="0"/>
          </a:p>
          <a:p>
            <a:r>
              <a:rPr lang="en-US" altLang="ko-KR" sz="1400" dirty="0" err="1"/>
              <a:t>là</a:t>
            </a:r>
            <a:r>
              <a:rPr lang="en-US" altLang="ko-KR" sz="1400" dirty="0"/>
              <a:t> </a:t>
            </a:r>
            <a:r>
              <a:rPr lang="en-US" altLang="ko-KR" sz="1400" dirty="0" err="1"/>
              <a:t>lượng</a:t>
            </a:r>
            <a:r>
              <a:rPr lang="en-US" altLang="ko-KR" sz="1400" dirty="0"/>
              <a:t> </a:t>
            </a:r>
            <a:r>
              <a:rPr lang="en-US" altLang="ko-KR" sz="1400" dirty="0" err="1"/>
              <a:t>biến</a:t>
            </a:r>
            <a:r>
              <a:rPr lang="en-US" altLang="ko-KR" sz="1400" dirty="0"/>
              <a:t> </a:t>
            </a:r>
            <a:r>
              <a:rPr lang="en-US" altLang="ko-KR" sz="1400" dirty="0" err="1"/>
              <a:t>động</a:t>
            </a:r>
            <a:r>
              <a:rPr lang="en-US" altLang="ko-KR" sz="1400" dirty="0"/>
              <a:t> </a:t>
            </a:r>
            <a:r>
              <a:rPr lang="en-US" altLang="ko-KR" sz="1400" dirty="0" err="1"/>
              <a:t>và</a:t>
            </a:r>
            <a:r>
              <a:rPr lang="en-US" altLang="ko-KR" sz="1400" dirty="0"/>
              <a:t> </a:t>
            </a:r>
            <a:r>
              <a:rPr lang="en-US" altLang="ko-KR" sz="1400" dirty="0" err="1"/>
              <a:t>đơn</a:t>
            </a:r>
            <a:r>
              <a:rPr lang="en-US" altLang="ko-KR" sz="1400" dirty="0"/>
              <a:t> </a:t>
            </a:r>
            <a:r>
              <a:rPr lang="en-US" altLang="ko-KR" sz="1400" dirty="0" err="1"/>
              <a:t>vị</a:t>
            </a:r>
            <a:r>
              <a:rPr lang="en-US" altLang="ko-KR" sz="1400" dirty="0"/>
              <a:t> </a:t>
            </a:r>
            <a:r>
              <a:rPr lang="en-US" altLang="ko-KR" sz="1400" dirty="0" err="1"/>
              <a:t>bình</a:t>
            </a:r>
            <a:r>
              <a:rPr lang="en-US" altLang="ko-KR" sz="1400" dirty="0"/>
              <a:t> </a:t>
            </a:r>
            <a:r>
              <a:rPr lang="en-US" altLang="ko-KR" sz="1400" dirty="0" err="1"/>
              <a:t>phương</a:t>
            </a:r>
            <a:endParaRPr lang="en-US" altLang="ko-KR" sz="1400" dirty="0"/>
          </a:p>
          <a:p>
            <a:endParaRPr lang="en-US" altLang="ko-KR" sz="1400" dirty="0"/>
          </a:p>
          <a:p>
            <a:r>
              <a:rPr lang="vi-VN" altLang="ko-KR" sz="1400" dirty="0"/>
              <a:t>Các yếu tố hiển thị cơ bản của Gage R &amp; R </a:t>
            </a:r>
            <a:endParaRPr lang="en-US" altLang="ko-KR" sz="1400" dirty="0"/>
          </a:p>
          <a:p>
            <a:r>
              <a:rPr lang="vi-VN" altLang="ko-KR" sz="1400" dirty="0"/>
              <a:t>là đơn vị độ lệch</a:t>
            </a:r>
            <a:endParaRPr lang="ko-KR" altLang="en-US" sz="1400" dirty="0"/>
          </a:p>
        </p:txBody>
      </p:sp>
      <p:sp>
        <p:nvSpPr>
          <p:cNvPr id="18"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79</a:t>
            </a:fld>
            <a:endParaRPr lang="ko-KR" altLang="en-US" dirty="0"/>
          </a:p>
        </p:txBody>
      </p:sp>
    </p:spTree>
    <p:extLst>
      <p:ext uri="{BB962C8B-B14F-4D97-AF65-F5344CB8AC3E}">
        <p14:creationId xmlns:p14="http://schemas.microsoft.com/office/powerpoint/2010/main" val="211254944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3"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89414" y="1527764"/>
            <a:ext cx="3946086" cy="3485412"/>
          </a:xfrm>
          <a:prstGeom prst="rect">
            <a:avLst/>
          </a:prstGeom>
          <a:noFill/>
          <a:ln w="9525">
            <a:solidFill>
              <a:schemeClr val="bg2"/>
            </a:solidFill>
            <a:miter lim="800000"/>
            <a:headEnd/>
            <a:tailEnd/>
          </a:ln>
        </p:spPr>
      </p:pic>
      <p:sp>
        <p:nvSpPr>
          <p:cNvPr id="177154" name="Text Box 2"/>
          <p:cNvSpPr txBox="1">
            <a:spLocks noChangeArrowheads="1"/>
          </p:cNvSpPr>
          <p:nvPr/>
        </p:nvSpPr>
        <p:spPr bwMode="auto">
          <a:xfrm>
            <a:off x="593481" y="1225551"/>
            <a:ext cx="1483932"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(1)  ANOVA Table</a:t>
            </a:r>
          </a:p>
        </p:txBody>
      </p:sp>
      <p:sp>
        <p:nvSpPr>
          <p:cNvPr id="177155" name="Text Box 4"/>
          <p:cNvSpPr txBox="1">
            <a:spLocks noChangeArrowheads="1"/>
          </p:cNvSpPr>
          <p:nvPr/>
        </p:nvSpPr>
        <p:spPr bwMode="auto">
          <a:xfrm>
            <a:off x="4637943" y="1166814"/>
            <a:ext cx="1928446" cy="274637"/>
          </a:xfrm>
          <a:prstGeom prst="rect">
            <a:avLst/>
          </a:prstGeom>
          <a:noFill/>
          <a:ln w="9525" algn="ctr">
            <a:noFill/>
            <a:miter lim="800000"/>
            <a:headEnd/>
            <a:tailEnd/>
          </a:ln>
        </p:spPr>
        <p:txBody>
          <a:bodyPr>
            <a:spAutoFit/>
          </a:bodyPr>
          <a:lstStyle/>
          <a:p>
            <a:pPr algn="ctr">
              <a:spcBef>
                <a:spcPct val="50000"/>
              </a:spcBef>
            </a:pPr>
            <a:endParaRPr lang="ko-KR" altLang="ko-KR" sz="1200" b="1" dirty="0">
              <a:solidFill>
                <a:srgbClr val="000000"/>
              </a:solidFill>
              <a:latin typeface="맑은 고딕" pitchFamily="50" charset="-127"/>
              <a:ea typeface="맑은 고딕" pitchFamily="50" charset="-127"/>
            </a:endParaRPr>
          </a:p>
        </p:txBody>
      </p:sp>
      <p:sp>
        <p:nvSpPr>
          <p:cNvPr id="177156" name="Text Box 8"/>
          <p:cNvSpPr txBox="1">
            <a:spLocks noChangeArrowheads="1"/>
          </p:cNvSpPr>
          <p:nvPr/>
        </p:nvSpPr>
        <p:spPr bwMode="auto">
          <a:xfrm>
            <a:off x="901212" y="5859360"/>
            <a:ext cx="6767132" cy="701731"/>
          </a:xfrm>
          <a:prstGeom prst="rect">
            <a:avLst/>
          </a:prstGeom>
          <a:noFill/>
          <a:ln w="9525" algn="ctr">
            <a:noFill/>
            <a:miter lim="800000"/>
            <a:headEnd/>
            <a:tailEnd/>
          </a:ln>
        </p:spPr>
        <p:txBody>
          <a:bodyPr wrap="square">
            <a:spAutoFit/>
          </a:bodyPr>
          <a:lstStyle/>
          <a:p>
            <a:pPr>
              <a:lnSpc>
                <a:spcPct val="110000"/>
              </a:lnSpc>
            </a:pPr>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Specimen selection has been done properly, but there may be a problem with the </a:t>
            </a:r>
          </a:p>
          <a:p>
            <a:pPr>
              <a:lnSpc>
                <a:spcPct val="110000"/>
              </a:lnSpc>
            </a:pPr>
            <a:r>
              <a:rPr lang="en-US" altLang="ko-KR" sz="1200" b="1" dirty="0">
                <a:solidFill>
                  <a:srgbClr val="000000"/>
                </a:solidFill>
                <a:latin typeface="맑은 고딕" pitchFamily="50" charset="-127"/>
                <a:ea typeface="맑은 고딕" pitchFamily="50" charset="-127"/>
              </a:rPr>
              <a:t>    measurement work standards, which may have been measured differently among the </a:t>
            </a:r>
          </a:p>
          <a:p>
            <a:pPr>
              <a:lnSpc>
                <a:spcPct val="110000"/>
              </a:lnSpc>
            </a:pPr>
            <a:r>
              <a:rPr lang="en-US" altLang="ko-KR" sz="1200" b="1" dirty="0">
                <a:solidFill>
                  <a:srgbClr val="000000"/>
                </a:solidFill>
                <a:latin typeface="맑은 고딕" pitchFamily="50" charset="-127"/>
                <a:ea typeface="맑은 고딕" pitchFamily="50" charset="-127"/>
              </a:rPr>
              <a:t>    evaluators in a particular part.</a:t>
            </a:r>
          </a:p>
        </p:txBody>
      </p:sp>
      <p:sp>
        <p:nvSpPr>
          <p:cNvPr id="10" name="Text Box 3"/>
          <p:cNvSpPr txBox="1">
            <a:spLocks noChangeArrowheads="1"/>
          </p:cNvSpPr>
          <p:nvPr/>
        </p:nvSpPr>
        <p:spPr bwMode="auto">
          <a:xfrm>
            <a:off x="6660232" y="862014"/>
            <a:ext cx="2448272" cy="1446550"/>
          </a:xfrm>
          <a:prstGeom prst="rect">
            <a:avLst/>
          </a:prstGeom>
          <a:noFill/>
          <a:ln w="9525" algn="ctr">
            <a:noFill/>
            <a:miter lim="800000"/>
            <a:headEnd/>
            <a:tailEnd/>
          </a:ln>
        </p:spPr>
        <p:txBody>
          <a:bodyPr wrap="square">
            <a:spAutoFit/>
          </a:bodyPr>
          <a:lstStyle/>
          <a:p>
            <a:pPr>
              <a:lnSpc>
                <a:spcPct val="110000"/>
              </a:lnSpc>
              <a:spcBef>
                <a:spcPts val="0"/>
              </a:spcBef>
              <a:defRPr/>
            </a:pPr>
            <a:r>
              <a:rPr lang="en-US" altLang="ko-KR" sz="1000" b="1" dirty="0">
                <a:solidFill>
                  <a:srgbClr val="0000FF"/>
                </a:solidFill>
                <a:latin typeface="맑은 고딕" pitchFamily="50" charset="-127"/>
                <a:ea typeface="맑은 고딕" pitchFamily="50" charset="-127"/>
              </a:rPr>
              <a:t>Interpretation</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endParaRPr lang="ko-KR" altLang="en-US" sz="1000" b="1" dirty="0">
              <a:solidFill>
                <a:srgbClr val="0000FF"/>
              </a:solidFill>
              <a:latin typeface="맑은 고딕" pitchFamily="50" charset="-127"/>
              <a:ea typeface="맑은 고딕" pitchFamily="50" charset="-127"/>
            </a:endParaRPr>
          </a:p>
          <a:p>
            <a:pPr marL="228600" indent="-228600">
              <a:lnSpc>
                <a:spcPct val="110000"/>
              </a:lnSpc>
              <a:spcBef>
                <a:spcPts val="0"/>
              </a:spcBef>
              <a:buFontTx/>
              <a:buAutoNum type="arabicParenBoth"/>
              <a:defRPr/>
            </a:pPr>
            <a:r>
              <a:rPr lang="en-US" altLang="ko-KR" sz="1000" dirty="0">
                <a:solidFill>
                  <a:srgbClr val="000000"/>
                </a:solidFill>
                <a:latin typeface="맑은 고딕" pitchFamily="50" charset="-127"/>
                <a:ea typeface="맑은 고딕" pitchFamily="50" charset="-127"/>
              </a:rPr>
              <a:t>ANOVA </a:t>
            </a:r>
          </a:p>
          <a:p>
            <a:pPr marL="228600" indent="-228600">
              <a:lnSpc>
                <a:spcPct val="110000"/>
              </a:lnSpc>
              <a:defRPr/>
            </a:pPr>
            <a:r>
              <a:rPr lang="en-US" altLang="ko-KR" sz="1000" dirty="0">
                <a:solidFill>
                  <a:srgbClr val="000000"/>
                </a:solidFill>
                <a:latin typeface="맑은 고딕" pitchFamily="50" charset="-127"/>
                <a:ea typeface="맑은 고딕" pitchFamily="50" charset="-127"/>
              </a:rPr>
              <a:t>   </a:t>
            </a:r>
            <a:r>
              <a:rPr lang="ko-KR" altLang="en-US" sz="1000" dirty="0">
                <a:solidFill>
                  <a:srgbClr val="000000"/>
                </a:solidFill>
                <a:latin typeface="맑은 고딕" pitchFamily="50" charset="-127"/>
                <a:ea typeface="맑은 고딕" pitchFamily="50" charset="-127"/>
              </a:rPr>
              <a:t> </a:t>
            </a:r>
            <a:r>
              <a:rPr lang="en-US" altLang="ko-KR" sz="1000" dirty="0"/>
              <a:t>- </a:t>
            </a:r>
            <a:r>
              <a:rPr lang="en-US" sz="1000" dirty="0"/>
              <a:t>Significance test according to </a:t>
            </a:r>
          </a:p>
          <a:p>
            <a:pPr marL="228600" indent="-228600">
              <a:lnSpc>
                <a:spcPct val="110000"/>
              </a:lnSpc>
              <a:defRPr/>
            </a:pPr>
            <a:r>
              <a:rPr lang="en-US" sz="1000" dirty="0"/>
              <a:t>      cause of change</a:t>
            </a:r>
          </a:p>
          <a:p>
            <a:pPr marL="228600" indent="-228600">
              <a:lnSpc>
                <a:spcPct val="110000"/>
              </a:lnSpc>
              <a:defRPr/>
            </a:pPr>
            <a:r>
              <a:rPr lang="en-US" sz="1000" dirty="0"/>
              <a:t>    - Parts should be noted,</a:t>
            </a:r>
          </a:p>
          <a:p>
            <a:pPr marL="228600" indent="-228600">
              <a:lnSpc>
                <a:spcPct val="110000"/>
              </a:lnSpc>
              <a:defRPr/>
            </a:pPr>
            <a:r>
              <a:rPr lang="en-US" sz="1000" dirty="0"/>
              <a:t>    - The remaining terms should not </a:t>
            </a:r>
          </a:p>
          <a:p>
            <a:pPr marL="228600" indent="-228600">
              <a:lnSpc>
                <a:spcPct val="110000"/>
              </a:lnSpc>
              <a:defRPr/>
            </a:pPr>
            <a:r>
              <a:rPr lang="en-US" sz="1000" dirty="0"/>
              <a:t>      be significant.</a:t>
            </a:r>
          </a:p>
          <a:p>
            <a:pPr marL="228600" indent="-228600">
              <a:lnSpc>
                <a:spcPct val="110000"/>
              </a:lnSpc>
              <a:spcBef>
                <a:spcPts val="0"/>
              </a:spcBef>
              <a:defRPr/>
            </a:pPr>
            <a:endParaRPr lang="en-US" altLang="ko-KR" sz="1000" dirty="0">
              <a:solidFill>
                <a:srgbClr val="000000"/>
              </a:solidFill>
              <a:latin typeface="맑은 고딕" pitchFamily="50" charset="-127"/>
              <a:ea typeface="맑은 고딕" pitchFamily="50" charset="-127"/>
            </a:endParaRPr>
          </a:p>
        </p:txBody>
      </p:sp>
      <p:sp>
        <p:nvSpPr>
          <p:cNvPr id="12" name="TextBox 11"/>
          <p:cNvSpPr txBox="1"/>
          <p:nvPr/>
        </p:nvSpPr>
        <p:spPr>
          <a:xfrm>
            <a:off x="395654" y="827089"/>
            <a:ext cx="8280889" cy="307777"/>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Input Minitab and interpret the results</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5" name="자유형 14"/>
          <p:cNvSpPr/>
          <p:nvPr/>
        </p:nvSpPr>
        <p:spPr bwMode="auto">
          <a:xfrm rot="16200000">
            <a:off x="4646124" y="2393218"/>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sz="1000" dirty="0">
              <a:solidFill>
                <a:srgbClr val="000000"/>
              </a:solidFill>
              <a:latin typeface="맑은 고딕" pitchFamily="50" charset="-127"/>
              <a:ea typeface="맑은 고딕" pitchFamily="50" charset="-127"/>
            </a:endParaRPr>
          </a:p>
        </p:txBody>
      </p:sp>
      <p:sp>
        <p:nvSpPr>
          <p:cNvPr id="177162" name="Rectangle 5"/>
          <p:cNvSpPr>
            <a:spLocks noChangeArrowheads="1"/>
          </p:cNvSpPr>
          <p:nvPr/>
        </p:nvSpPr>
        <p:spPr bwMode="auto">
          <a:xfrm>
            <a:off x="5203580" y="2327276"/>
            <a:ext cx="2654567" cy="315906"/>
          </a:xfrm>
          <a:prstGeom prst="rect">
            <a:avLst/>
          </a:prstGeom>
          <a:noFill/>
          <a:ln w="9525" algn="ctr">
            <a:noFill/>
            <a:miter lim="800000"/>
            <a:headEnd/>
            <a:tailEnd/>
          </a:ln>
        </p:spPr>
        <p:txBody>
          <a:bodyPr wrap="none" anchor="ct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Check Gage Info input information</a:t>
            </a:r>
            <a:endParaRPr lang="en-US" altLang="ko-KR" sz="1200" b="1" dirty="0">
              <a:solidFill>
                <a:srgbClr val="000000"/>
              </a:solidFill>
              <a:latin typeface="맑은 고딕" pitchFamily="50" charset="-127"/>
              <a:ea typeface="맑은 고딕" pitchFamily="50" charset="-127"/>
            </a:endParaRPr>
          </a:p>
        </p:txBody>
      </p:sp>
      <p:cxnSp>
        <p:nvCxnSpPr>
          <p:cNvPr id="18" name="직선 연결선 17"/>
          <p:cNvCxnSpPr/>
          <p:nvPr/>
        </p:nvCxnSpPr>
        <p:spPr bwMode="auto">
          <a:xfrm rot="5400000">
            <a:off x="4572916" y="3210474"/>
            <a:ext cx="852126" cy="431926"/>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177164" name="Rectangle 5"/>
          <p:cNvSpPr>
            <a:spLocks noChangeArrowheads="1"/>
          </p:cNvSpPr>
          <p:nvPr/>
        </p:nvSpPr>
        <p:spPr bwMode="auto">
          <a:xfrm>
            <a:off x="5203580" y="2786058"/>
            <a:ext cx="3940420" cy="1015663"/>
          </a:xfrm>
          <a:prstGeom prst="rect">
            <a:avLst/>
          </a:prstGeom>
          <a:noFill/>
          <a:ln w="9525" algn="ctr">
            <a:noFill/>
            <a:miter lim="800000"/>
            <a:headEnd/>
            <a:tailEnd/>
          </a:ln>
        </p:spPr>
        <p:txBody>
          <a:bodyPr wrap="squar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sz="1200" dirty="0"/>
              <a:t>The difference between the parts is significant at a significant level of 0.05 with a P value of 0.000 for the Part term.</a:t>
            </a:r>
          </a:p>
          <a:p>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sz="1200" dirty="0"/>
              <a:t>Since we selected 10 different parts, each part </a:t>
            </a:r>
          </a:p>
          <a:p>
            <a:r>
              <a:rPr lang="en-US" sz="1200" dirty="0"/>
              <a:t>       should be different</a:t>
            </a:r>
            <a:endParaRPr lang="en-US" altLang="ko-KR" sz="1200" dirty="0">
              <a:solidFill>
                <a:srgbClr val="000000"/>
              </a:solidFill>
              <a:latin typeface="맑은 고딕" pitchFamily="50" charset="-127"/>
              <a:ea typeface="맑은 고딕" pitchFamily="50" charset="-127"/>
            </a:endParaRPr>
          </a:p>
        </p:txBody>
      </p:sp>
      <p:sp>
        <p:nvSpPr>
          <p:cNvPr id="177165" name="Rectangle 5"/>
          <p:cNvSpPr>
            <a:spLocks noChangeArrowheads="1"/>
          </p:cNvSpPr>
          <p:nvPr/>
        </p:nvSpPr>
        <p:spPr bwMode="auto">
          <a:xfrm>
            <a:off x="5203582" y="3854239"/>
            <a:ext cx="3797574" cy="830997"/>
          </a:xfrm>
          <a:prstGeom prst="rect">
            <a:avLst/>
          </a:prstGeom>
          <a:noFill/>
          <a:ln w="9525" algn="ctr">
            <a:noFill/>
            <a:miter lim="800000"/>
            <a:headEnd/>
            <a:tailEnd/>
          </a:ln>
        </p:spPr>
        <p:txBody>
          <a:bodyPr wrap="squar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sz="1200" dirty="0"/>
              <a:t>The P value between operators is 0.931, which </a:t>
            </a:r>
          </a:p>
          <a:p>
            <a:r>
              <a:rPr lang="en-US" sz="1200" dirty="0"/>
              <a:t>   is not significant at the significance level of 0.05.</a:t>
            </a:r>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sz="1200" dirty="0"/>
              <a:t>It is normal that measurements should not be </a:t>
            </a:r>
          </a:p>
          <a:p>
            <a:r>
              <a:rPr lang="en-US" sz="1200" dirty="0"/>
              <a:t>    measured differently</a:t>
            </a:r>
            <a:r>
              <a:rPr lang="en-US" altLang="ko-KR" sz="1200" dirty="0">
                <a:solidFill>
                  <a:srgbClr val="000000"/>
                </a:solidFill>
                <a:latin typeface="맑은 고딕" pitchFamily="50" charset="-127"/>
                <a:ea typeface="맑은 고딕" pitchFamily="50" charset="-127"/>
              </a:rPr>
              <a:t>.</a:t>
            </a:r>
          </a:p>
        </p:txBody>
      </p:sp>
      <p:cxnSp>
        <p:nvCxnSpPr>
          <p:cNvPr id="24" name="직선 연결선 23"/>
          <p:cNvCxnSpPr/>
          <p:nvPr/>
        </p:nvCxnSpPr>
        <p:spPr bwMode="auto">
          <a:xfrm rot="10800000" flipV="1">
            <a:off x="4784481" y="4004900"/>
            <a:ext cx="303334"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177167" name="Rectangle 5"/>
          <p:cNvSpPr>
            <a:spLocks noChangeArrowheads="1"/>
          </p:cNvSpPr>
          <p:nvPr/>
        </p:nvSpPr>
        <p:spPr bwMode="auto">
          <a:xfrm>
            <a:off x="5143505" y="4669705"/>
            <a:ext cx="4000496" cy="1200329"/>
          </a:xfrm>
          <a:prstGeom prst="rect">
            <a:avLst/>
          </a:prstGeom>
          <a:noFill/>
          <a:ln w="9525" algn="ctr">
            <a:noFill/>
            <a:miter lim="800000"/>
            <a:headEnd/>
            <a:tailEnd/>
          </a:ln>
        </p:spPr>
        <p:txBody>
          <a:bodyPr wrap="squar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sz="1200" dirty="0"/>
              <a:t>Part * Operator P value of 0.000 is significant with a </a:t>
            </a:r>
          </a:p>
          <a:p>
            <a:r>
              <a:rPr lang="en-US" sz="1200" dirty="0"/>
              <a:t>  significance level of 0.05, so further consideration is </a:t>
            </a:r>
          </a:p>
          <a:p>
            <a:r>
              <a:rPr lang="en-US" sz="1200" dirty="0"/>
              <a:t>  needed</a:t>
            </a:r>
          </a:p>
          <a:p>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sz="1200" dirty="0"/>
              <a:t>Interaction between Part and Operator occurs, </a:t>
            </a:r>
          </a:p>
          <a:p>
            <a:r>
              <a:rPr lang="en-US" sz="1200" dirty="0"/>
              <a:t>     which means that the measurement is different  </a:t>
            </a:r>
          </a:p>
          <a:p>
            <a:r>
              <a:rPr lang="en-US" sz="1200" dirty="0"/>
              <a:t>     and needs improvement.</a:t>
            </a:r>
            <a:endParaRPr lang="en-US" altLang="ko-KR" sz="1200" dirty="0">
              <a:solidFill>
                <a:srgbClr val="000000"/>
              </a:solidFill>
              <a:latin typeface="맑은 고딕" pitchFamily="50" charset="-127"/>
              <a:ea typeface="맑은 고딕" pitchFamily="50" charset="-127"/>
            </a:endParaRPr>
          </a:p>
        </p:txBody>
      </p:sp>
      <p:cxnSp>
        <p:nvCxnSpPr>
          <p:cNvPr id="28" name="직선 연결선 27"/>
          <p:cNvCxnSpPr/>
          <p:nvPr/>
        </p:nvCxnSpPr>
        <p:spPr bwMode="auto">
          <a:xfrm rot="16200000" flipV="1">
            <a:off x="4567787" y="4353481"/>
            <a:ext cx="719508" cy="28905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80</a:t>
            </a:fld>
            <a:endParaRPr lang="ko-KR" altLang="en-US" dirty="0"/>
          </a:p>
        </p:txBody>
      </p:sp>
      <p:sp>
        <p:nvSpPr>
          <p:cNvPr id="20" name="TextBox 19"/>
          <p:cNvSpPr txBox="1"/>
          <p:nvPr/>
        </p:nvSpPr>
        <p:spPr>
          <a:xfrm>
            <a:off x="147837" y="1713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21" name="직사각형 20"/>
          <p:cNvSpPr/>
          <p:nvPr/>
        </p:nvSpPr>
        <p:spPr>
          <a:xfrm>
            <a:off x="5929322"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82367455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6209" y="1628800"/>
            <a:ext cx="3459443" cy="1956229"/>
          </a:xfrm>
          <a:prstGeom prst="rect">
            <a:avLst/>
          </a:prstGeom>
          <a:noFill/>
          <a:ln w="9525">
            <a:solidFill>
              <a:schemeClr val="bg2"/>
            </a:solidFill>
            <a:miter lim="800000"/>
            <a:headEnd/>
            <a:tailEnd/>
          </a:ln>
        </p:spPr>
      </p:pic>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input</a:t>
            </a:r>
            <a:r>
              <a:rPr lang="ko-KR" altLang="en-US"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and result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Interpretation</a:t>
            </a:r>
          </a:p>
        </p:txBody>
      </p:sp>
      <p:sp>
        <p:nvSpPr>
          <p:cNvPr id="178180" name="Rectangle 6"/>
          <p:cNvSpPr>
            <a:spLocks noChangeArrowheads="1"/>
          </p:cNvSpPr>
          <p:nvPr/>
        </p:nvSpPr>
        <p:spPr bwMode="auto">
          <a:xfrm>
            <a:off x="681405" y="1214439"/>
            <a:ext cx="2032288"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(2) Variance Components</a:t>
            </a:r>
          </a:p>
        </p:txBody>
      </p:sp>
      <p:sp>
        <p:nvSpPr>
          <p:cNvPr id="178181" name="Text Box 3"/>
          <p:cNvSpPr txBox="1">
            <a:spLocks noChangeArrowheads="1"/>
          </p:cNvSpPr>
          <p:nvPr/>
        </p:nvSpPr>
        <p:spPr bwMode="auto">
          <a:xfrm>
            <a:off x="6660232" y="863601"/>
            <a:ext cx="2480838" cy="1446550"/>
          </a:xfrm>
          <a:prstGeom prst="rect">
            <a:avLst/>
          </a:prstGeom>
          <a:noFill/>
          <a:ln w="9525" algn="ctr">
            <a:noFill/>
            <a:miter lim="800000"/>
            <a:headEnd/>
            <a:tailEnd/>
          </a:ln>
        </p:spPr>
        <p:txBody>
          <a:bodyPr wrap="square">
            <a:spAutoFit/>
          </a:bodyPr>
          <a:lstStyle/>
          <a:p>
            <a:pPr>
              <a:lnSpc>
                <a:spcPct val="110000"/>
              </a:lnSpc>
            </a:pPr>
            <a:r>
              <a:rPr lang="en-US" altLang="ko-KR" sz="1000" b="1" dirty="0">
                <a:solidFill>
                  <a:srgbClr val="0000FF"/>
                </a:solidFill>
                <a:latin typeface="맑은 고딕" pitchFamily="50" charset="-127"/>
                <a:ea typeface="맑은 고딕" pitchFamily="50" charset="-127"/>
              </a:rPr>
              <a:t>Interpretation</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p>
          <a:p>
            <a:pPr>
              <a:lnSpc>
                <a:spcPct val="110000"/>
              </a:lnSpc>
            </a:pPr>
            <a:r>
              <a:rPr lang="en-US" altLang="ko-KR" sz="1000" dirty="0">
                <a:solidFill>
                  <a:srgbClr val="000000"/>
                </a:solidFill>
                <a:latin typeface="맑은 고딕" pitchFamily="50" charset="-127"/>
                <a:ea typeface="맑은 고딕" pitchFamily="50" charset="-127"/>
              </a:rPr>
              <a:t>(2) Variance Components</a:t>
            </a:r>
          </a:p>
          <a:p>
            <a:pPr>
              <a:lnSpc>
                <a:spcPct val="110000"/>
              </a:lnSpc>
            </a:pPr>
            <a:r>
              <a:rPr lang="en-US" altLang="ko-KR" sz="1000" dirty="0">
                <a:solidFill>
                  <a:srgbClr val="000000"/>
                </a:solidFill>
                <a:latin typeface="맑은 고딕" pitchFamily="50" charset="-127"/>
                <a:ea typeface="맑은 고딕" pitchFamily="50" charset="-127"/>
              </a:rPr>
              <a:t>    - Consideration of Contribution by </a:t>
            </a:r>
          </a:p>
          <a:p>
            <a:pPr>
              <a:lnSpc>
                <a:spcPct val="110000"/>
              </a:lnSpc>
            </a:pPr>
            <a:r>
              <a:rPr lang="en-US" altLang="ko-KR" sz="1000" dirty="0">
                <a:solidFill>
                  <a:srgbClr val="000000"/>
                </a:solidFill>
                <a:latin typeface="맑은 고딕" pitchFamily="50" charset="-127"/>
                <a:ea typeface="맑은 고딕" pitchFamily="50" charset="-127"/>
              </a:rPr>
              <a:t>      Variable Causes</a:t>
            </a:r>
            <a:br>
              <a:rPr lang="en-US" altLang="ko-KR" sz="1000" dirty="0">
                <a:solidFill>
                  <a:srgbClr val="000000"/>
                </a:solidFill>
                <a:latin typeface="맑은 고딕" pitchFamily="50" charset="-127"/>
                <a:ea typeface="맑은 고딕" pitchFamily="50" charset="-127"/>
              </a:rPr>
            </a:br>
            <a:r>
              <a:rPr lang="en-US" altLang="ko-KR" sz="1000" dirty="0">
                <a:solidFill>
                  <a:srgbClr val="000000"/>
                </a:solidFill>
                <a:latin typeface="맑은 고딕" pitchFamily="50" charset="-127"/>
                <a:ea typeface="맑은 고딕" pitchFamily="50" charset="-127"/>
              </a:rPr>
              <a:t>- The contribution of Gage </a:t>
            </a:r>
          </a:p>
          <a:p>
            <a:pPr>
              <a:lnSpc>
                <a:spcPct val="110000"/>
              </a:lnSpc>
            </a:pPr>
            <a:r>
              <a:rPr lang="en-US" altLang="ko-KR" sz="1000" dirty="0">
                <a:solidFill>
                  <a:srgbClr val="000000"/>
                </a:solidFill>
                <a:latin typeface="맑은 고딕" pitchFamily="50" charset="-127"/>
                <a:ea typeface="맑은 고딕" pitchFamily="50" charset="-127"/>
              </a:rPr>
              <a:t>  characteristics should be small, and </a:t>
            </a:r>
          </a:p>
          <a:p>
            <a:pPr>
              <a:lnSpc>
                <a:spcPct val="110000"/>
              </a:lnSpc>
            </a:pPr>
            <a:r>
              <a:rPr lang="en-US" altLang="ko-KR" sz="1000" dirty="0">
                <a:solidFill>
                  <a:srgbClr val="000000"/>
                </a:solidFill>
                <a:latin typeface="맑은 고딕" pitchFamily="50" charset="-127"/>
                <a:ea typeface="맑은 고딕" pitchFamily="50" charset="-127"/>
              </a:rPr>
              <a:t>  the contribution of Part-to-part </a:t>
            </a:r>
          </a:p>
          <a:p>
            <a:pPr>
              <a:lnSpc>
                <a:spcPct val="110000"/>
              </a:lnSpc>
            </a:pPr>
            <a:r>
              <a:rPr lang="en-US" altLang="ko-KR" sz="1000" dirty="0">
                <a:solidFill>
                  <a:srgbClr val="000000"/>
                </a:solidFill>
                <a:latin typeface="맑은 고딕" pitchFamily="50" charset="-127"/>
                <a:ea typeface="맑은 고딕" pitchFamily="50" charset="-127"/>
              </a:rPr>
              <a:t>  should be large.</a:t>
            </a:r>
          </a:p>
        </p:txBody>
      </p:sp>
      <p:sp>
        <p:nvSpPr>
          <p:cNvPr id="178183" name="Rectangle 5"/>
          <p:cNvSpPr>
            <a:spLocks noChangeArrowheads="1"/>
          </p:cNvSpPr>
          <p:nvPr/>
        </p:nvSpPr>
        <p:spPr bwMode="auto">
          <a:xfrm>
            <a:off x="785786" y="4282867"/>
            <a:ext cx="4929222" cy="830997"/>
          </a:xfrm>
          <a:prstGeom prst="rect">
            <a:avLst/>
          </a:prstGeom>
          <a:noFill/>
          <a:ln w="9525" algn="ctr">
            <a:noFill/>
            <a:miter lim="800000"/>
            <a:headEnd/>
            <a:tailEnd/>
          </a:ln>
        </p:spPr>
        <p:txBody>
          <a:bodyPr wrap="squar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Part-To-Part contributes 99.46% of the total change.</a:t>
            </a:r>
          </a:p>
          <a:p>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The total variation of the measured data (measure 2 times of </a:t>
            </a:r>
          </a:p>
          <a:p>
            <a:r>
              <a:rPr lang="en-US" altLang="ko-KR" sz="1200" dirty="0">
                <a:solidFill>
                  <a:srgbClr val="000000"/>
                </a:solidFill>
                <a:latin typeface="맑은 고딕" pitchFamily="50" charset="-127"/>
                <a:ea typeface="맑은 고딕" pitchFamily="50" charset="-127"/>
              </a:rPr>
              <a:t>      10 times repetitions of parts) represents 99.46% due to the </a:t>
            </a:r>
          </a:p>
          <a:p>
            <a:r>
              <a:rPr lang="en-US" altLang="ko-KR" sz="1200" dirty="0">
                <a:solidFill>
                  <a:srgbClr val="000000"/>
                </a:solidFill>
                <a:latin typeface="맑은 고딕" pitchFamily="50" charset="-127"/>
                <a:ea typeface="맑은 고딕" pitchFamily="50" charset="-127"/>
              </a:rPr>
              <a:t>      difference between the parts.</a:t>
            </a:r>
          </a:p>
        </p:txBody>
      </p:sp>
      <p:cxnSp>
        <p:nvCxnSpPr>
          <p:cNvPr id="14" name="직선 연결선 13"/>
          <p:cNvCxnSpPr/>
          <p:nvPr/>
        </p:nvCxnSpPr>
        <p:spPr bwMode="auto">
          <a:xfrm rot="10800000">
            <a:off x="4303840" y="2443514"/>
            <a:ext cx="339598" cy="199669"/>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178185" name="Rectangle 5"/>
          <p:cNvSpPr>
            <a:spLocks noChangeArrowheads="1"/>
          </p:cNvSpPr>
          <p:nvPr/>
        </p:nvSpPr>
        <p:spPr bwMode="auto">
          <a:xfrm>
            <a:off x="4648207" y="2383689"/>
            <a:ext cx="4067198" cy="830997"/>
          </a:xfrm>
          <a:prstGeom prst="rect">
            <a:avLst/>
          </a:prstGeom>
          <a:noFill/>
          <a:ln w="9525" algn="ctr">
            <a:noFill/>
            <a:miter lim="800000"/>
            <a:headEnd/>
            <a:tailEnd/>
          </a:ln>
        </p:spPr>
        <p:txBody>
          <a:bodyPr wrap="square" anchor="ctr">
            <a:spAutoFit/>
          </a:bodyPr>
          <a:lstStyle/>
          <a:p>
            <a:pPr>
              <a:buFont typeface="Wingdings" pitchFamily="2" charset="2"/>
              <a:buChar char="§"/>
            </a:pPr>
            <a:r>
              <a:rPr lang="en-US" sz="1200" dirty="0"/>
              <a:t> Gage R &amp; R contributes 0.54% of the total variance, </a:t>
            </a:r>
          </a:p>
          <a:p>
            <a:r>
              <a:rPr lang="en-US" sz="1200" dirty="0"/>
              <a:t>  which is the sum of Repeatability 0.20% and </a:t>
            </a:r>
          </a:p>
          <a:p>
            <a:r>
              <a:rPr lang="en-US" sz="1200" dirty="0"/>
              <a:t>  Reproducibility 0.34%</a:t>
            </a:r>
          </a:p>
          <a:p>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Gage R &amp; R variance is 0.54% of total variation.</a:t>
            </a:r>
          </a:p>
        </p:txBody>
      </p:sp>
      <p:cxnSp>
        <p:nvCxnSpPr>
          <p:cNvPr id="20" name="꺾인 연결선 19"/>
          <p:cNvCxnSpPr>
            <a:endCxn id="178183" idx="1"/>
          </p:cNvCxnSpPr>
          <p:nvPr/>
        </p:nvCxnSpPr>
        <p:spPr bwMode="auto">
          <a:xfrm rot="16200000" flipH="1">
            <a:off x="-27494" y="3885085"/>
            <a:ext cx="1483685" cy="142875"/>
          </a:xfrm>
          <a:prstGeom prst="bentConnector2">
            <a:avLst/>
          </a:prstGeom>
          <a:solidFill>
            <a:schemeClr val="accent1"/>
          </a:solidFill>
          <a:ln w="12700" cap="flat" cmpd="sng" algn="ctr">
            <a:solidFill>
              <a:schemeClr val="bg1">
                <a:lumMod val="50000"/>
              </a:schemeClr>
            </a:solidFill>
            <a:prstDash val="solid"/>
            <a:round/>
            <a:headEnd type="none" w="med" len="med"/>
            <a:tailEnd type="oval" w="med" len="med"/>
          </a:ln>
          <a:effectLst/>
        </p:spPr>
      </p:cxnSp>
      <p:cxnSp>
        <p:nvCxnSpPr>
          <p:cNvPr id="26" name="직선 연결선 25"/>
          <p:cNvCxnSpPr/>
          <p:nvPr/>
        </p:nvCxnSpPr>
        <p:spPr bwMode="auto">
          <a:xfrm flipV="1">
            <a:off x="668215" y="3181350"/>
            <a:ext cx="234462" cy="1905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178188" name="Rectangle 5"/>
          <p:cNvSpPr>
            <a:spLocks noChangeArrowheads="1"/>
          </p:cNvSpPr>
          <p:nvPr/>
        </p:nvSpPr>
        <p:spPr bwMode="auto">
          <a:xfrm>
            <a:off x="4648207" y="3282735"/>
            <a:ext cx="4352950" cy="830997"/>
          </a:xfrm>
          <a:prstGeom prst="rect">
            <a:avLst/>
          </a:prstGeom>
          <a:noFill/>
          <a:ln w="9525" algn="ctr">
            <a:noFill/>
            <a:miter lim="800000"/>
            <a:headEnd/>
            <a:tailEnd/>
          </a:ln>
        </p:spPr>
        <p:txBody>
          <a:bodyPr wrap="squar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sym typeface="Wingdings" pitchFamily="2" charset="2"/>
              </a:rPr>
              <a:t> </a:t>
            </a:r>
            <a:r>
              <a:rPr lang="en-US" sz="1200" dirty="0"/>
              <a:t>The reproducibility is 0.34%, and f</a:t>
            </a:r>
            <a:r>
              <a:rPr lang="en-US" altLang="ko-KR" sz="1200" dirty="0">
                <a:solidFill>
                  <a:srgbClr val="000000"/>
                </a:solidFill>
                <a:latin typeface="맑은 고딕" pitchFamily="50" charset="-127"/>
                <a:ea typeface="맑은 고딕" pitchFamily="50" charset="-127"/>
                <a:sym typeface="Wingdings" pitchFamily="2" charset="2"/>
              </a:rPr>
              <a:t>luctuation, because of </a:t>
            </a:r>
          </a:p>
          <a:p>
            <a:r>
              <a:rPr lang="en-US" altLang="ko-KR" sz="1200" dirty="0">
                <a:solidFill>
                  <a:srgbClr val="000000"/>
                </a:solidFill>
                <a:latin typeface="맑은 고딕" pitchFamily="50" charset="-127"/>
                <a:ea typeface="맑은 고딕" pitchFamily="50" charset="-127"/>
                <a:sym typeface="Wingdings" pitchFamily="2" charset="2"/>
              </a:rPr>
              <a:t>  interaction, is 0.34% so it is larger if </a:t>
            </a:r>
            <a:r>
              <a:rPr lang="en-US" sz="1200" dirty="0"/>
              <a:t>compared to the </a:t>
            </a:r>
            <a:r>
              <a:rPr lang="en-US" sz="1200" dirty="0" err="1"/>
              <a:t>fluc</a:t>
            </a:r>
            <a:endParaRPr lang="en-US" sz="1200" dirty="0"/>
          </a:p>
          <a:p>
            <a:r>
              <a:rPr lang="en-US" sz="1200" dirty="0"/>
              <a:t>  </a:t>
            </a:r>
            <a:r>
              <a:rPr lang="en-US" sz="1200" dirty="0" err="1"/>
              <a:t>tuation</a:t>
            </a:r>
            <a:r>
              <a:rPr lang="en-US" sz="1200" dirty="0"/>
              <a:t> by the operator (0.00%).</a:t>
            </a:r>
            <a:r>
              <a:rPr lang="en-US" altLang="ko-KR" sz="1200" dirty="0">
                <a:solidFill>
                  <a:srgbClr val="000000"/>
                </a:solidFill>
                <a:latin typeface="맑은 고딕" pitchFamily="50" charset="-127"/>
                <a:ea typeface="맑은 고딕" pitchFamily="50" charset="-127"/>
                <a:sym typeface="Wingdings" pitchFamily="2" charset="2"/>
              </a:rPr>
              <a:t>   </a:t>
            </a:r>
          </a:p>
          <a:p>
            <a:r>
              <a:rPr lang="en-US" altLang="ko-KR" sz="1200" dirty="0">
                <a:solidFill>
                  <a:srgbClr val="000000"/>
                </a:solidFill>
                <a:latin typeface="맑은 고딕" pitchFamily="50" charset="-127"/>
                <a:ea typeface="맑은 고딕" pitchFamily="50" charset="-127"/>
                <a:sym typeface="Wingdings" pitchFamily="2" charset="2"/>
              </a:rPr>
              <a:t>    Need to check between operator and Part</a:t>
            </a:r>
            <a:endParaRPr lang="en-US" altLang="ko-KR" sz="1200" dirty="0">
              <a:solidFill>
                <a:srgbClr val="000000"/>
              </a:solidFill>
              <a:latin typeface="맑은 고딕" pitchFamily="50" charset="-127"/>
              <a:ea typeface="맑은 고딕" pitchFamily="50" charset="-127"/>
            </a:endParaRPr>
          </a:p>
        </p:txBody>
      </p:sp>
      <p:cxnSp>
        <p:nvCxnSpPr>
          <p:cNvPr id="28" name="직선 연결선 27"/>
          <p:cNvCxnSpPr/>
          <p:nvPr/>
        </p:nvCxnSpPr>
        <p:spPr bwMode="auto">
          <a:xfrm rot="16200000" flipV="1">
            <a:off x="4157902" y="2943464"/>
            <a:ext cx="631474" cy="339598"/>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81</a:t>
            </a:fld>
            <a:endParaRPr lang="ko-KR" altLang="en-US" dirty="0"/>
          </a:p>
        </p:txBody>
      </p:sp>
      <p:sp>
        <p:nvSpPr>
          <p:cNvPr id="16" name="TextBox 15"/>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18" name="직사각형 17"/>
          <p:cNvSpPr/>
          <p:nvPr/>
        </p:nvSpPr>
        <p:spPr>
          <a:xfrm>
            <a:off x="5929322"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301964004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3"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89414" y="1527764"/>
            <a:ext cx="3946086" cy="3485412"/>
          </a:xfrm>
          <a:prstGeom prst="rect">
            <a:avLst/>
          </a:prstGeom>
          <a:noFill/>
          <a:ln w="9525">
            <a:solidFill>
              <a:schemeClr val="bg2"/>
            </a:solidFill>
            <a:miter lim="800000"/>
            <a:headEnd/>
            <a:tailEnd/>
          </a:ln>
        </p:spPr>
      </p:pic>
      <p:sp>
        <p:nvSpPr>
          <p:cNvPr id="177154" name="Text Box 2"/>
          <p:cNvSpPr txBox="1">
            <a:spLocks noChangeArrowheads="1"/>
          </p:cNvSpPr>
          <p:nvPr/>
        </p:nvSpPr>
        <p:spPr bwMode="auto">
          <a:xfrm>
            <a:off x="593481" y="1225551"/>
            <a:ext cx="1483932"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(1)  ANOVA Table</a:t>
            </a:r>
          </a:p>
        </p:txBody>
      </p:sp>
      <p:sp>
        <p:nvSpPr>
          <p:cNvPr id="177155" name="Text Box 4"/>
          <p:cNvSpPr txBox="1">
            <a:spLocks noChangeArrowheads="1"/>
          </p:cNvSpPr>
          <p:nvPr/>
        </p:nvSpPr>
        <p:spPr bwMode="auto">
          <a:xfrm>
            <a:off x="4637943" y="1166814"/>
            <a:ext cx="1928446" cy="274637"/>
          </a:xfrm>
          <a:prstGeom prst="rect">
            <a:avLst/>
          </a:prstGeom>
          <a:noFill/>
          <a:ln w="9525" algn="ctr">
            <a:noFill/>
            <a:miter lim="800000"/>
            <a:headEnd/>
            <a:tailEnd/>
          </a:ln>
        </p:spPr>
        <p:txBody>
          <a:bodyPr>
            <a:spAutoFit/>
          </a:bodyPr>
          <a:lstStyle/>
          <a:p>
            <a:pPr algn="ctr">
              <a:spcBef>
                <a:spcPct val="50000"/>
              </a:spcBef>
            </a:pPr>
            <a:endParaRPr lang="ko-KR" altLang="ko-KR" sz="1200" b="1" dirty="0">
              <a:solidFill>
                <a:srgbClr val="000000"/>
              </a:solidFill>
              <a:latin typeface="맑은 고딕" pitchFamily="50" charset="-127"/>
              <a:ea typeface="맑은 고딕" pitchFamily="50" charset="-127"/>
            </a:endParaRPr>
          </a:p>
        </p:txBody>
      </p:sp>
      <p:sp>
        <p:nvSpPr>
          <p:cNvPr id="177156" name="Text Box 8"/>
          <p:cNvSpPr txBox="1">
            <a:spLocks noChangeArrowheads="1"/>
          </p:cNvSpPr>
          <p:nvPr/>
        </p:nvSpPr>
        <p:spPr bwMode="auto">
          <a:xfrm>
            <a:off x="901212" y="5810722"/>
            <a:ext cx="6767132" cy="498598"/>
          </a:xfrm>
          <a:prstGeom prst="rect">
            <a:avLst/>
          </a:prstGeom>
          <a:noFill/>
          <a:ln w="9525" algn="ctr">
            <a:noFill/>
            <a:miter lim="800000"/>
            <a:headEnd/>
            <a:tailEnd/>
          </a:ln>
        </p:spPr>
        <p:txBody>
          <a:bodyPr wrap="square">
            <a:spAutoFit/>
          </a:bodyPr>
          <a:lstStyle/>
          <a:p>
            <a:pPr>
              <a:lnSpc>
                <a:spcPct val="110000"/>
              </a:lnSpc>
            </a:pPr>
            <a:r>
              <a:rPr lang="ko-KR" altLang="en-US"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Lựa</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chọn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mẫu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đã</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thích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hợp</a:t>
            </a:r>
            <a:r>
              <a:rPr lang="en-US" altLang="ko-KR" sz="1200" b="1" dirty="0">
                <a:solidFill>
                  <a:srgbClr val="000000"/>
                </a:solidFill>
                <a:latin typeface="맑은 고딕" pitchFamily="50" charset="-127"/>
                <a:ea typeface="맑은 고딕" pitchFamily="50" charset="-127"/>
              </a:rPr>
              <a:t> hay </a:t>
            </a:r>
            <a:r>
              <a:rPr lang="en-US" altLang="ko-KR" sz="1200" b="1" dirty="0" err="1">
                <a:solidFill>
                  <a:srgbClr val="000000"/>
                </a:solidFill>
                <a:latin typeface="맑은 고딕" pitchFamily="50" charset="-127"/>
                <a:ea typeface="맑은 고딕" pitchFamily="50" charset="-127"/>
              </a:rPr>
              <a:t>chưa</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nếu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có</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vấn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đề</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trong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tiêu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chuẩn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đo</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đạc</a:t>
            </a:r>
            <a:r>
              <a:rPr lang="en-US" altLang="ko-KR" sz="1200" b="1" dirty="0">
                <a:solidFill>
                  <a:srgbClr val="000000"/>
                </a:solidFill>
                <a:latin typeface="맑은 고딕" pitchFamily="50" charset="-127"/>
                <a:ea typeface="맑은 고딕" pitchFamily="50" charset="-127"/>
              </a:rPr>
              <a:t>, </a:t>
            </a:r>
          </a:p>
          <a:p>
            <a:pPr>
              <a:lnSpc>
                <a:spcPct val="110000"/>
              </a:lnSpc>
            </a:pPr>
            <a:r>
              <a:rPr lang="en-US" altLang="ko-KR" sz="1200" b="1" dirty="0" err="1">
                <a:solidFill>
                  <a:srgbClr val="000000"/>
                </a:solidFill>
                <a:latin typeface="맑은 고딕" pitchFamily="50" charset="-127"/>
                <a:ea typeface="맑은 고딕" pitchFamily="50" charset="-127"/>
              </a:rPr>
              <a:t>trong</a:t>
            </a:r>
            <a:r>
              <a:rPr lang="en-US" altLang="ko-KR" sz="1200" b="1" dirty="0">
                <a:solidFill>
                  <a:srgbClr val="000000"/>
                </a:solidFill>
                <a:latin typeface="맑은 고딕" pitchFamily="50" charset="-127"/>
                <a:ea typeface="맑은 고딕" pitchFamily="50" charset="-127"/>
              </a:rPr>
              <a:t> part </a:t>
            </a:r>
            <a:r>
              <a:rPr lang="en-US" altLang="ko-KR" sz="1200" b="1" dirty="0" err="1">
                <a:solidFill>
                  <a:srgbClr val="000000"/>
                </a:solidFill>
                <a:latin typeface="맑은 고딕" pitchFamily="50" charset="-127"/>
                <a:ea typeface="맑은 고딕" pitchFamily="50" charset="-127"/>
              </a:rPr>
              <a:t>chỉ</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định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giữa</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những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người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đánh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giá</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có</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thể</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có</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khả</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năng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đã</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đo</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đạc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sai</a:t>
            </a:r>
            <a:endParaRPr lang="en-US" altLang="ko-KR" sz="1200" b="1" dirty="0">
              <a:solidFill>
                <a:srgbClr val="000000"/>
              </a:solidFill>
              <a:latin typeface="맑은 고딕" pitchFamily="50" charset="-127"/>
              <a:ea typeface="맑은 고딕" pitchFamily="50" charset="-127"/>
            </a:endParaRPr>
          </a:p>
        </p:txBody>
      </p:sp>
      <p:sp>
        <p:nvSpPr>
          <p:cNvPr id="10" name="Text Box 3"/>
          <p:cNvSpPr txBox="1">
            <a:spLocks noChangeArrowheads="1"/>
          </p:cNvSpPr>
          <p:nvPr/>
        </p:nvSpPr>
        <p:spPr bwMode="auto">
          <a:xfrm>
            <a:off x="5292080" y="862014"/>
            <a:ext cx="3779912" cy="938719"/>
          </a:xfrm>
          <a:prstGeom prst="rect">
            <a:avLst/>
          </a:prstGeom>
          <a:noFill/>
          <a:ln w="9525" algn="ctr">
            <a:noFill/>
            <a:miter lim="800000"/>
            <a:headEnd/>
            <a:tailEnd/>
          </a:ln>
        </p:spPr>
        <p:txBody>
          <a:bodyPr wrap="square">
            <a:spAutoFit/>
          </a:bodyPr>
          <a:lstStyle/>
          <a:p>
            <a:pPr>
              <a:lnSpc>
                <a:spcPct val="110000"/>
              </a:lnSpc>
              <a:spcBef>
                <a:spcPts val="0"/>
              </a:spcBef>
              <a:defRPr/>
            </a:pPr>
            <a:r>
              <a:rPr lang="en-US" altLang="ko-KR" sz="1000" b="1" dirty="0" err="1">
                <a:solidFill>
                  <a:srgbClr val="0000FF"/>
                </a:solidFill>
                <a:latin typeface="맑은 고딕" pitchFamily="50" charset="-127"/>
                <a:ea typeface="맑은 고딕" pitchFamily="50" charset="-127"/>
              </a:rPr>
              <a:t>Phân</a:t>
            </a:r>
            <a:r>
              <a:rPr lang="en-US" altLang="ko-KR" sz="1000" b="1" dirty="0">
                <a:solidFill>
                  <a:srgbClr val="0000FF"/>
                </a:solidFill>
                <a:latin typeface="맑은 고딕" pitchFamily="50" charset="-127"/>
                <a:ea typeface="맑은 고딕" pitchFamily="50" charset="-127"/>
              </a:rPr>
              <a:t> </a:t>
            </a:r>
            <a:r>
              <a:rPr lang="en-US" altLang="ko-KR" sz="1000" b="1" dirty="0" err="1">
                <a:solidFill>
                  <a:srgbClr val="0000FF"/>
                </a:solidFill>
                <a:latin typeface="맑은 고딕" pitchFamily="50" charset="-127"/>
                <a:ea typeface="맑은 고딕" pitchFamily="50" charset="-127"/>
              </a:rPr>
              <a:t>tích</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endParaRPr lang="ko-KR" altLang="en-US" sz="1000" b="1" dirty="0">
              <a:solidFill>
                <a:srgbClr val="0000FF"/>
              </a:solidFill>
              <a:latin typeface="맑은 고딕" pitchFamily="50" charset="-127"/>
              <a:ea typeface="맑은 고딕" pitchFamily="50" charset="-127"/>
            </a:endParaRPr>
          </a:p>
          <a:p>
            <a:pPr marL="228600" indent="-228600">
              <a:lnSpc>
                <a:spcPct val="110000"/>
              </a:lnSpc>
              <a:spcBef>
                <a:spcPts val="0"/>
              </a:spcBef>
              <a:buFontTx/>
              <a:buAutoNum type="arabicParenBoth"/>
              <a:defRPr/>
            </a:pPr>
            <a:r>
              <a:rPr lang="en-US" altLang="ko-KR" sz="1000" dirty="0">
                <a:solidFill>
                  <a:srgbClr val="000000"/>
                </a:solidFill>
                <a:latin typeface="맑은 고딕" pitchFamily="50" charset="-127"/>
                <a:ea typeface="맑은 고딕" pitchFamily="50" charset="-127"/>
              </a:rPr>
              <a:t>ANOVA </a:t>
            </a:r>
          </a:p>
          <a:p>
            <a:pPr marL="228600" indent="-228600">
              <a:lnSpc>
                <a:spcPct val="110000"/>
              </a:lnSpc>
              <a:spcBef>
                <a:spcPts val="0"/>
              </a:spcBef>
              <a:defRPr/>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kiểm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chứng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tính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lưu</a:t>
            </a:r>
            <a:r>
              <a:rPr lang="en-US" altLang="ko-KR" sz="1000" dirty="0">
                <a:solidFill>
                  <a:srgbClr val="000000"/>
                </a:solidFill>
                <a:latin typeface="맑은 고딕" pitchFamily="50" charset="-127"/>
                <a:ea typeface="맑은 고딕" pitchFamily="50" charset="-127"/>
              </a:rPr>
              <a:t> ý </a:t>
            </a:r>
            <a:r>
              <a:rPr lang="en-US" altLang="ko-KR" sz="1000" dirty="0" err="1">
                <a:solidFill>
                  <a:srgbClr val="000000"/>
                </a:solidFill>
                <a:latin typeface="맑은 고딕" pitchFamily="50" charset="-127"/>
                <a:ea typeface="맑은 고딕" pitchFamily="50" charset="-127"/>
              </a:rPr>
              <a:t>theo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từng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nguyên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nhân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biến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động</a:t>
            </a:r>
            <a:endParaRPr lang="ko-KR" altLang="en-US" sz="1000" dirty="0">
              <a:solidFill>
                <a:srgbClr val="000000"/>
              </a:solidFill>
              <a:latin typeface="맑은 고딕" pitchFamily="50" charset="-127"/>
              <a:ea typeface="맑은 고딕" pitchFamily="50" charset="-127"/>
            </a:endParaRPr>
          </a:p>
          <a:p>
            <a:pPr>
              <a:lnSpc>
                <a:spcPct val="110000"/>
              </a:lnSpc>
              <a:spcBef>
                <a:spcPts val="0"/>
              </a:spcBef>
              <a:defRPr/>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Parts </a:t>
            </a:r>
            <a:r>
              <a:rPr lang="en-US" altLang="ko-KR" sz="1000" dirty="0" err="1">
                <a:solidFill>
                  <a:srgbClr val="000000"/>
                </a:solidFill>
                <a:latin typeface="맑은 고딕" pitchFamily="50" charset="-127"/>
                <a:ea typeface="맑은 고딕" pitchFamily="50" charset="-127"/>
              </a:rPr>
              <a:t>phải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được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lưu</a:t>
            </a:r>
            <a:r>
              <a:rPr lang="en-US" altLang="ko-KR" sz="1000" dirty="0">
                <a:solidFill>
                  <a:srgbClr val="000000"/>
                </a:solidFill>
                <a:latin typeface="맑은 고딕" pitchFamily="50" charset="-127"/>
                <a:ea typeface="맑은 고딕" pitchFamily="50" charset="-127"/>
              </a:rPr>
              <a:t> ý</a:t>
            </a:r>
          </a:p>
          <a:p>
            <a:pPr>
              <a:lnSpc>
                <a:spcPct val="110000"/>
              </a:lnSpc>
              <a:spcBef>
                <a:spcPts val="0"/>
              </a:spcBef>
              <a:defRPr/>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Các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hạng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mục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còn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lại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phải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không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được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lưu</a:t>
            </a:r>
            <a:r>
              <a:rPr lang="en-US" altLang="ko-KR" sz="1000" dirty="0">
                <a:solidFill>
                  <a:srgbClr val="000000"/>
                </a:solidFill>
                <a:latin typeface="맑은 고딕" pitchFamily="50" charset="-127"/>
                <a:ea typeface="맑은 고딕" pitchFamily="50" charset="-127"/>
              </a:rPr>
              <a:t> ý</a:t>
            </a:r>
          </a:p>
        </p:txBody>
      </p:sp>
      <p:sp>
        <p:nvSpPr>
          <p:cNvPr id="12" name="TextBox 1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phân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5" name="자유형 14"/>
          <p:cNvSpPr/>
          <p:nvPr/>
        </p:nvSpPr>
        <p:spPr bwMode="auto">
          <a:xfrm rot="16200000">
            <a:off x="4538503" y="2393218"/>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sz="1000" dirty="0">
              <a:solidFill>
                <a:srgbClr val="000000"/>
              </a:solidFill>
              <a:latin typeface="맑은 고딕" pitchFamily="50" charset="-127"/>
              <a:ea typeface="맑은 고딕" pitchFamily="50" charset="-127"/>
            </a:endParaRPr>
          </a:p>
        </p:txBody>
      </p:sp>
      <p:sp>
        <p:nvSpPr>
          <p:cNvPr id="177162" name="Rectangle 5"/>
          <p:cNvSpPr>
            <a:spLocks noChangeArrowheads="1"/>
          </p:cNvSpPr>
          <p:nvPr/>
        </p:nvSpPr>
        <p:spPr bwMode="auto">
          <a:xfrm>
            <a:off x="5148064" y="2327276"/>
            <a:ext cx="2680788" cy="296863"/>
          </a:xfrm>
          <a:prstGeom prst="rect">
            <a:avLst/>
          </a:prstGeom>
          <a:noFill/>
          <a:ln w="9525" algn="ctr">
            <a:noFill/>
            <a:miter lim="800000"/>
            <a:headEnd/>
            <a:tailEnd/>
          </a:ln>
        </p:spPr>
        <p:txBody>
          <a:bodyPr wrap="none" anchor="ct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Gage Info </a:t>
            </a:r>
            <a:r>
              <a:rPr lang="en-US" altLang="ko-KR" sz="1200" dirty="0" err="1">
                <a:solidFill>
                  <a:srgbClr val="000000"/>
                </a:solidFill>
                <a:latin typeface="맑은 고딕" pitchFamily="50" charset="-127"/>
                <a:ea typeface="맑은 고딕" pitchFamily="50" charset="-127"/>
              </a:rPr>
              <a:t>kiểm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thông</a:t>
            </a:r>
            <a:r>
              <a:rPr lang="en-US" altLang="ko-KR" sz="1200" dirty="0">
                <a:solidFill>
                  <a:srgbClr val="000000"/>
                </a:solidFill>
                <a:latin typeface="맑은 고딕" pitchFamily="50" charset="-127"/>
                <a:ea typeface="맑은 고딕" pitchFamily="50" charset="-127"/>
              </a:rPr>
              <a:t> tin </a:t>
            </a:r>
            <a:r>
              <a:rPr lang="en-US" altLang="ko-KR" sz="1200" dirty="0" err="1">
                <a:solidFill>
                  <a:srgbClr val="000000"/>
                </a:solidFill>
                <a:latin typeface="맑은 고딕" pitchFamily="50" charset="-127"/>
                <a:ea typeface="맑은 고딕" pitchFamily="50" charset="-127"/>
              </a:rPr>
              <a:t>nhập</a:t>
            </a:r>
            <a:endParaRPr lang="en-US" altLang="ko-KR" sz="1200" b="1" dirty="0">
              <a:solidFill>
                <a:srgbClr val="000000"/>
              </a:solidFill>
              <a:latin typeface="맑은 고딕" pitchFamily="50" charset="-127"/>
              <a:ea typeface="맑은 고딕" pitchFamily="50" charset="-127"/>
            </a:endParaRPr>
          </a:p>
        </p:txBody>
      </p:sp>
      <p:cxnSp>
        <p:nvCxnSpPr>
          <p:cNvPr id="18" name="직선 연결선 17"/>
          <p:cNvCxnSpPr/>
          <p:nvPr/>
        </p:nvCxnSpPr>
        <p:spPr bwMode="auto">
          <a:xfrm rot="5400000">
            <a:off x="4632325" y="3361840"/>
            <a:ext cx="641350" cy="339969"/>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177164" name="Rectangle 5"/>
          <p:cNvSpPr>
            <a:spLocks noChangeArrowheads="1"/>
          </p:cNvSpPr>
          <p:nvPr/>
        </p:nvSpPr>
        <p:spPr bwMode="auto">
          <a:xfrm>
            <a:off x="5148064" y="2780928"/>
            <a:ext cx="4021742" cy="830997"/>
          </a:xfrm>
          <a:prstGeom prst="rect">
            <a:avLst/>
          </a:prstGeom>
          <a:noFill/>
          <a:ln w="9525" algn="ctr">
            <a:noFill/>
            <a:miter lim="800000"/>
            <a:headEnd/>
            <a:tailEnd/>
          </a:ln>
        </p:spPr>
        <p:txBody>
          <a:bodyPr wrap="non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vi-VN" altLang="ko-KR" sz="1200" dirty="0">
                <a:solidFill>
                  <a:srgbClr val="000000"/>
                </a:solidFill>
                <a:latin typeface="맑은 고딕" pitchFamily="50" charset="-127"/>
                <a:ea typeface="맑은 고딕" pitchFamily="50" charset="-127"/>
              </a:rPr>
              <a:t>Sự khác biệt giữa các bộ phận có </a:t>
            </a:r>
            <a:r>
              <a:rPr lang="en-US" altLang="ko-KR" sz="1200" dirty="0" err="1">
                <a:solidFill>
                  <a:srgbClr val="000000"/>
                </a:solidFill>
                <a:latin typeface="맑은 고딕" pitchFamily="50" charset="-127"/>
                <a:ea typeface="맑은 고딕" pitchFamily="50" charset="-127"/>
              </a:rPr>
              <a:t>lưu</a:t>
            </a:r>
            <a:r>
              <a:rPr lang="en-US" altLang="ko-KR" sz="1200" dirty="0">
                <a:solidFill>
                  <a:srgbClr val="000000"/>
                </a:solidFill>
                <a:latin typeface="맑은 고딕" pitchFamily="50" charset="-127"/>
                <a:ea typeface="맑은 고딕" pitchFamily="50" charset="-127"/>
              </a:rPr>
              <a:t> ý</a:t>
            </a:r>
            <a:r>
              <a:rPr lang="vi-VN" altLang="ko-KR" sz="1200" dirty="0">
                <a:solidFill>
                  <a:srgbClr val="000000"/>
                </a:solidFill>
                <a:latin typeface="맑은 고딕" pitchFamily="50" charset="-127"/>
                <a:ea typeface="맑은 고딕" pitchFamily="50" charset="-127"/>
              </a:rPr>
              <a:t> ở mức</a:t>
            </a:r>
            <a:endParaRPr lang="en-US" altLang="ko-KR" sz="1200" dirty="0">
              <a:solidFill>
                <a:srgbClr val="000000"/>
              </a:solidFill>
              <a:latin typeface="맑은 고딕" pitchFamily="50" charset="-127"/>
              <a:ea typeface="맑은 고딕" pitchFamily="50" charset="-127"/>
            </a:endParaRPr>
          </a:p>
          <a:p>
            <a:r>
              <a:rPr lang="vi-VN" altLang="ko-KR" sz="1200" dirty="0">
                <a:solidFill>
                  <a:srgbClr val="000000"/>
                </a:solidFill>
                <a:latin typeface="맑은 고딕" pitchFamily="50" charset="-127"/>
                <a:ea typeface="맑은 고딕" pitchFamily="50" charset="-127"/>
              </a:rPr>
              <a:t> độ đáng kể là 0,05 với giá trị P là 0,000 cho </a:t>
            </a:r>
            <a:r>
              <a:rPr lang="en-US" altLang="ko-KR" sz="1200" dirty="0" err="1">
                <a:solidFill>
                  <a:srgbClr val="000000"/>
                </a:solidFill>
                <a:latin typeface="맑은 고딕" pitchFamily="50" charset="-127"/>
                <a:ea typeface="맑은 고딕" pitchFamily="50" charset="-127"/>
              </a:rPr>
              <a:t>mục</a:t>
            </a:r>
            <a:r>
              <a:rPr lang="en-US" altLang="ko-KR" sz="1200" dirty="0">
                <a:solidFill>
                  <a:srgbClr val="000000"/>
                </a:solidFill>
                <a:latin typeface="맑은 고딕" pitchFamily="50" charset="-127"/>
                <a:ea typeface="맑은 고딕" pitchFamily="50" charset="-127"/>
              </a:rPr>
              <a:t> Part</a:t>
            </a:r>
          </a:p>
          <a:p>
            <a:pPr>
              <a:buFont typeface="Wingdings"/>
              <a:buChar char="è"/>
            </a:pPr>
            <a:r>
              <a:rPr lang="en-US" altLang="ko-KR" sz="1200" dirty="0">
                <a:solidFill>
                  <a:srgbClr val="00B050"/>
                </a:solidFill>
                <a:latin typeface="맑은 고딕" pitchFamily="50" charset="-127"/>
                <a:ea typeface="맑은 고딕" pitchFamily="50" charset="-127"/>
              </a:rPr>
              <a:t>Do </a:t>
            </a:r>
            <a:r>
              <a:rPr lang="en-US" altLang="ko-KR" sz="1200" dirty="0" err="1">
                <a:solidFill>
                  <a:srgbClr val="00B050"/>
                </a:solidFill>
                <a:latin typeface="맑은 고딕" pitchFamily="50" charset="-127"/>
                <a:ea typeface="맑은 고딕" pitchFamily="50" charset="-127"/>
              </a:rPr>
              <a:t>chọn</a:t>
            </a:r>
            <a:r>
              <a:rPr lang="en-US" altLang="ko-KR" sz="1200" dirty="0">
                <a:solidFill>
                  <a:srgbClr val="00B050"/>
                </a:solidFill>
                <a:latin typeface="맑은 고딕" pitchFamily="50" charset="-127"/>
                <a:ea typeface="맑은 고딕" pitchFamily="50" charset="-127"/>
              </a:rPr>
              <a:t> 10 part </a:t>
            </a:r>
            <a:r>
              <a:rPr lang="en-US" altLang="ko-KR" sz="1200" dirty="0" err="1">
                <a:solidFill>
                  <a:srgbClr val="00B050"/>
                </a:solidFill>
                <a:latin typeface="맑은 고딕" pitchFamily="50" charset="-127"/>
                <a:ea typeface="맑은 고딕" pitchFamily="50" charset="-127"/>
              </a:rPr>
              <a:t>khác</a:t>
            </a:r>
            <a:r>
              <a:rPr lang="en-US" altLang="ko-KR" sz="1200" dirty="0">
                <a:solidFill>
                  <a:srgbClr val="00B050"/>
                </a:solidFill>
                <a:latin typeface="맑은 고딕" pitchFamily="50" charset="-127"/>
                <a:ea typeface="맑은 고딕" pitchFamily="50" charset="-127"/>
              </a:rPr>
              <a:t> </a:t>
            </a:r>
            <a:r>
              <a:rPr lang="en-US" altLang="ko-KR" sz="1200" dirty="0" err="1">
                <a:solidFill>
                  <a:srgbClr val="00B050"/>
                </a:solidFill>
                <a:latin typeface="맑은 고딕" pitchFamily="50" charset="-127"/>
                <a:ea typeface="맑은 고딕" pitchFamily="50" charset="-127"/>
              </a:rPr>
              <a:t>nhau</a:t>
            </a:r>
            <a:r>
              <a:rPr lang="en-US" altLang="ko-KR" sz="1200" dirty="0">
                <a:solidFill>
                  <a:srgbClr val="00B050"/>
                </a:solidFill>
                <a:latin typeface="맑은 고딕" pitchFamily="50" charset="-127"/>
                <a:ea typeface="맑은 고딕" pitchFamily="50" charset="-127"/>
              </a:rPr>
              <a:t>, </a:t>
            </a:r>
            <a:r>
              <a:rPr lang="en-US" altLang="ko-KR" sz="1200" dirty="0" err="1">
                <a:solidFill>
                  <a:srgbClr val="00B050"/>
                </a:solidFill>
                <a:latin typeface="맑은 고딕" pitchFamily="50" charset="-127"/>
                <a:ea typeface="맑은 고딕" pitchFamily="50" charset="-127"/>
              </a:rPr>
              <a:t>nên</a:t>
            </a:r>
            <a:r>
              <a:rPr lang="en-US" altLang="ko-KR" sz="1200" dirty="0">
                <a:solidFill>
                  <a:srgbClr val="00B050"/>
                </a:solidFill>
                <a:latin typeface="맑은 고딕" pitchFamily="50" charset="-127"/>
                <a:ea typeface="맑은 고딕" pitchFamily="50" charset="-127"/>
              </a:rPr>
              <a:t> </a:t>
            </a:r>
            <a:r>
              <a:rPr lang="en-US" altLang="ko-KR" sz="1200" dirty="0" err="1">
                <a:solidFill>
                  <a:srgbClr val="00B050"/>
                </a:solidFill>
                <a:latin typeface="맑은 고딕" pitchFamily="50" charset="-127"/>
                <a:ea typeface="맑은 고딕" pitchFamily="50" charset="-127"/>
              </a:rPr>
              <a:t>các</a:t>
            </a:r>
            <a:r>
              <a:rPr lang="en-US" altLang="ko-KR" sz="1200" dirty="0">
                <a:solidFill>
                  <a:srgbClr val="00B050"/>
                </a:solidFill>
                <a:latin typeface="맑은 고딕" pitchFamily="50" charset="-127"/>
                <a:ea typeface="맑은 고딕" pitchFamily="50" charset="-127"/>
              </a:rPr>
              <a:t> part </a:t>
            </a:r>
            <a:r>
              <a:rPr lang="en-US" altLang="ko-KR" sz="1200" dirty="0" err="1">
                <a:solidFill>
                  <a:srgbClr val="00B050"/>
                </a:solidFill>
                <a:latin typeface="맑은 고딕" pitchFamily="50" charset="-127"/>
                <a:ea typeface="맑은 고딕" pitchFamily="50" charset="-127"/>
              </a:rPr>
              <a:t>này</a:t>
            </a:r>
            <a:r>
              <a:rPr lang="en-US" altLang="ko-KR" sz="1200" dirty="0">
                <a:solidFill>
                  <a:srgbClr val="00B050"/>
                </a:solidFill>
                <a:latin typeface="맑은 고딕" pitchFamily="50" charset="-127"/>
                <a:ea typeface="맑은 고딕" pitchFamily="50" charset="-127"/>
              </a:rPr>
              <a:t> </a:t>
            </a:r>
            <a:r>
              <a:rPr lang="en-US" altLang="ko-KR" sz="1200" dirty="0" err="1">
                <a:solidFill>
                  <a:srgbClr val="00B050"/>
                </a:solidFill>
                <a:latin typeface="맑은 고딕" pitchFamily="50" charset="-127"/>
                <a:ea typeface="맑은 고딕" pitchFamily="50" charset="-127"/>
              </a:rPr>
              <a:t>phải</a:t>
            </a:r>
            <a:r>
              <a:rPr lang="en-US" altLang="ko-KR" sz="1200" dirty="0">
                <a:solidFill>
                  <a:srgbClr val="00B050"/>
                </a:solidFill>
                <a:latin typeface="맑은 고딕" pitchFamily="50" charset="-127"/>
                <a:ea typeface="맑은 고딕" pitchFamily="50" charset="-127"/>
              </a:rPr>
              <a:t> </a:t>
            </a:r>
          </a:p>
          <a:p>
            <a:r>
              <a:rPr lang="en-US" altLang="ko-KR" sz="1200" dirty="0" err="1">
                <a:solidFill>
                  <a:srgbClr val="00B050"/>
                </a:solidFill>
                <a:latin typeface="맑은 고딕" pitchFamily="50" charset="-127"/>
                <a:ea typeface="맑은 고딕" pitchFamily="50" charset="-127"/>
              </a:rPr>
              <a:t>khác</a:t>
            </a:r>
            <a:r>
              <a:rPr lang="en-US" altLang="ko-KR" sz="1200" dirty="0">
                <a:solidFill>
                  <a:srgbClr val="00B050"/>
                </a:solidFill>
                <a:latin typeface="맑은 고딕" pitchFamily="50" charset="-127"/>
                <a:ea typeface="맑은 고딕" pitchFamily="50" charset="-127"/>
              </a:rPr>
              <a:t> </a:t>
            </a:r>
            <a:r>
              <a:rPr lang="en-US" altLang="ko-KR" sz="1200" dirty="0" err="1">
                <a:solidFill>
                  <a:srgbClr val="00B050"/>
                </a:solidFill>
                <a:latin typeface="맑은 고딕" pitchFamily="50" charset="-127"/>
                <a:ea typeface="맑은 고딕" pitchFamily="50" charset="-127"/>
              </a:rPr>
              <a:t>nhau</a:t>
            </a:r>
            <a:r>
              <a:rPr lang="en-US" altLang="ko-KR" sz="1200" dirty="0">
                <a:solidFill>
                  <a:srgbClr val="00B050"/>
                </a:solidFill>
                <a:latin typeface="맑은 고딕" pitchFamily="50" charset="-127"/>
                <a:ea typeface="맑은 고딕" pitchFamily="50" charset="-127"/>
              </a:rPr>
              <a:t> </a:t>
            </a:r>
          </a:p>
        </p:txBody>
      </p:sp>
      <p:sp>
        <p:nvSpPr>
          <p:cNvPr id="177165" name="Rectangle 5"/>
          <p:cNvSpPr>
            <a:spLocks noChangeArrowheads="1"/>
          </p:cNvSpPr>
          <p:nvPr/>
        </p:nvSpPr>
        <p:spPr bwMode="auto">
          <a:xfrm>
            <a:off x="5148064" y="3645024"/>
            <a:ext cx="3851054" cy="830997"/>
          </a:xfrm>
          <a:prstGeom prst="rect">
            <a:avLst/>
          </a:prstGeom>
          <a:noFill/>
          <a:ln w="9525" algn="ctr">
            <a:noFill/>
            <a:miter lim="800000"/>
            <a:headEnd/>
            <a:tailEnd/>
          </a:ln>
        </p:spPr>
        <p:txBody>
          <a:bodyPr wrap="non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lưu</a:t>
            </a:r>
            <a:r>
              <a:rPr lang="en-US" altLang="ko-KR" sz="1200" dirty="0">
                <a:solidFill>
                  <a:srgbClr val="000000"/>
                </a:solidFill>
                <a:latin typeface="맑은 고딕" pitchFamily="50" charset="-127"/>
                <a:ea typeface="맑은 고딕" pitchFamily="50" charset="-127"/>
              </a:rPr>
              <a:t> ý </a:t>
            </a:r>
            <a:r>
              <a:rPr lang="en-US" altLang="ko-KR" sz="1200" dirty="0" err="1">
                <a:solidFill>
                  <a:srgbClr val="000000"/>
                </a:solidFill>
                <a:latin typeface="맑은 고딕" pitchFamily="50" charset="-127"/>
                <a:ea typeface="맑은 고딕" pitchFamily="50" charset="-127"/>
              </a:rPr>
              <a:t>giữa</a:t>
            </a:r>
            <a:r>
              <a:rPr lang="en-US" altLang="ko-KR" sz="1200" dirty="0">
                <a:solidFill>
                  <a:srgbClr val="000000"/>
                </a:solidFill>
                <a:latin typeface="맑은 고딕" pitchFamily="50" charset="-127"/>
                <a:ea typeface="맑은 고딕" pitchFamily="50" charset="-127"/>
              </a:rPr>
              <a:t> Operator</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trị</a:t>
            </a:r>
            <a:r>
              <a:rPr lang="en-US" altLang="ko-KR" sz="1200" dirty="0">
                <a:solidFill>
                  <a:srgbClr val="000000"/>
                </a:solidFill>
                <a:latin typeface="맑은 고딕" pitchFamily="50" charset="-127"/>
                <a:ea typeface="맑은 고딕" pitchFamily="50" charset="-127"/>
              </a:rPr>
              <a:t> P</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từ</a:t>
            </a:r>
            <a:r>
              <a:rPr lang="en-US" altLang="ko-KR" sz="1200" dirty="0">
                <a:solidFill>
                  <a:srgbClr val="000000"/>
                </a:solidFill>
                <a:latin typeface="맑은 고딕" pitchFamily="50" charset="-127"/>
                <a:ea typeface="맑은 고딕" pitchFamily="50" charset="-127"/>
              </a:rPr>
              <a:t> 0.931</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đến</a:t>
            </a:r>
            <a:r>
              <a:rPr lang="en-US" altLang="ko-KR" sz="1200" dirty="0">
                <a:solidFill>
                  <a:srgbClr val="000000"/>
                </a:solidFill>
                <a:latin typeface="맑은 고딕" pitchFamily="50" charset="-127"/>
                <a:ea typeface="맑은 고딕" pitchFamily="50" charset="-127"/>
              </a:rPr>
              <a:t> </a:t>
            </a:r>
          </a:p>
          <a:p>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lưu</a:t>
            </a:r>
            <a:r>
              <a:rPr lang="en-US" altLang="ko-KR" sz="1200" dirty="0">
                <a:solidFill>
                  <a:srgbClr val="000000"/>
                </a:solidFill>
                <a:latin typeface="맑은 고딕" pitchFamily="50" charset="-127"/>
                <a:ea typeface="맑은 고딕" pitchFamily="50" charset="-127"/>
              </a:rPr>
              <a:t> ý 0.05.</a:t>
            </a:r>
          </a:p>
          <a:p>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Giữa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những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người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được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p>
          <a:p>
            <a:r>
              <a:rPr lang="en-US" altLang="ko-KR" sz="1200" dirty="0" err="1">
                <a:solidFill>
                  <a:srgbClr val="000000"/>
                </a:solidFill>
                <a:latin typeface="맑은 고딕" pitchFamily="50" charset="-127"/>
                <a:ea typeface="맑은 고딕" pitchFamily="50" charset="-127"/>
              </a:rPr>
              <a:t>một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cách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nhau</a:t>
            </a:r>
            <a:endParaRPr lang="en-US" altLang="ko-KR" sz="1200" dirty="0">
              <a:solidFill>
                <a:srgbClr val="000000"/>
              </a:solidFill>
              <a:latin typeface="맑은 고딕" pitchFamily="50" charset="-127"/>
              <a:ea typeface="맑은 고딕" pitchFamily="50" charset="-127"/>
            </a:endParaRPr>
          </a:p>
        </p:txBody>
      </p:sp>
      <p:cxnSp>
        <p:nvCxnSpPr>
          <p:cNvPr id="24" name="직선 연결선 23"/>
          <p:cNvCxnSpPr/>
          <p:nvPr/>
        </p:nvCxnSpPr>
        <p:spPr bwMode="auto">
          <a:xfrm rot="10800000" flipV="1">
            <a:off x="4784481" y="4004900"/>
            <a:ext cx="303334"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177167" name="Rectangle 5"/>
          <p:cNvSpPr>
            <a:spLocks noChangeArrowheads="1"/>
          </p:cNvSpPr>
          <p:nvPr/>
        </p:nvSpPr>
        <p:spPr bwMode="auto">
          <a:xfrm>
            <a:off x="5148064" y="4529445"/>
            <a:ext cx="3929089" cy="1200329"/>
          </a:xfrm>
          <a:prstGeom prst="rect">
            <a:avLst/>
          </a:prstGeom>
          <a:noFill/>
          <a:ln w="9525" algn="ctr">
            <a:noFill/>
            <a:miter lim="800000"/>
            <a:headEnd/>
            <a:tailEnd/>
          </a:ln>
        </p:spPr>
        <p:txBody>
          <a:bodyPr wrap="non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Giữa</a:t>
            </a:r>
            <a:r>
              <a:rPr lang="en-US" altLang="ko-KR" sz="1200" dirty="0">
                <a:solidFill>
                  <a:srgbClr val="000000"/>
                </a:solidFill>
                <a:latin typeface="맑은 고딕" pitchFamily="50" charset="-127"/>
                <a:ea typeface="맑은 고딕" pitchFamily="50" charset="-127"/>
              </a:rPr>
              <a:t> Part * Operator</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giá</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trị</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từ</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P</a:t>
            </a:r>
            <a:r>
              <a:rPr lang="ko-KR" altLang="en-US" sz="1200" dirty="0">
                <a:solidFill>
                  <a:srgbClr val="000000"/>
                </a:solidFill>
                <a:latin typeface="맑은 고딕" pitchFamily="50" charset="-127"/>
                <a:ea typeface="맑은 고딕" pitchFamily="50" charset="-127"/>
              </a:rPr>
              <a:t>값 </a:t>
            </a:r>
            <a:r>
              <a:rPr lang="en-US" altLang="ko-KR" sz="1200" dirty="0">
                <a:solidFill>
                  <a:srgbClr val="000000"/>
                </a:solidFill>
                <a:latin typeface="맑은 고딕" pitchFamily="50" charset="-127"/>
                <a:ea typeface="맑은 고딕" pitchFamily="50" charset="-127"/>
              </a:rPr>
              <a:t>0.000</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được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lưu</a:t>
            </a:r>
            <a:r>
              <a:rPr lang="en-US" altLang="ko-KR" sz="1200" dirty="0">
                <a:solidFill>
                  <a:srgbClr val="000000"/>
                </a:solidFill>
                <a:latin typeface="맑은 고딕" pitchFamily="50" charset="-127"/>
                <a:ea typeface="맑은 고딕" pitchFamily="50" charset="-127"/>
              </a:rPr>
              <a:t> </a:t>
            </a:r>
          </a:p>
          <a:p>
            <a:r>
              <a:rPr lang="en-US" altLang="ko-KR" sz="1200" dirty="0">
                <a:solidFill>
                  <a:srgbClr val="000000"/>
                </a:solidFill>
                <a:latin typeface="맑은 고딕" pitchFamily="50" charset="-127"/>
                <a:ea typeface="맑은 고딕" pitchFamily="50" charset="-127"/>
              </a:rPr>
              <a:t>ý </a:t>
            </a:r>
            <a:r>
              <a:rPr lang="en-US" altLang="ko-KR" sz="1200" dirty="0" err="1">
                <a:solidFill>
                  <a:srgbClr val="000000"/>
                </a:solidFill>
                <a:latin typeface="맑은 고딕" pitchFamily="50" charset="-127"/>
                <a:ea typeface="맑은 고딕" pitchFamily="50" charset="-127"/>
              </a:rPr>
              <a:t>với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tiêu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chuẩn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lưu</a:t>
            </a:r>
            <a:r>
              <a:rPr lang="en-US" altLang="ko-KR" sz="1200" dirty="0">
                <a:solidFill>
                  <a:srgbClr val="000000"/>
                </a:solidFill>
                <a:latin typeface="맑은 고딕" pitchFamily="50" charset="-127"/>
                <a:ea typeface="맑은 고딕" pitchFamily="50" charset="-127"/>
              </a:rPr>
              <a:t> ý 0.05, </a:t>
            </a:r>
            <a:r>
              <a:rPr lang="en-US" altLang="ko-KR" sz="1200" dirty="0" err="1">
                <a:solidFill>
                  <a:srgbClr val="000000"/>
                </a:solidFill>
                <a:latin typeface="맑은 고딕" pitchFamily="50" charset="-127"/>
                <a:ea typeface="맑은 고딕" pitchFamily="50" charset="-127"/>
              </a:rPr>
              <a:t>cần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thiết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xem</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xét</a:t>
            </a:r>
            <a:r>
              <a:rPr lang="en-US" altLang="ko-KR" sz="1200" dirty="0">
                <a:solidFill>
                  <a:srgbClr val="000000"/>
                </a:solidFill>
                <a:latin typeface="맑은 고딕" pitchFamily="50" charset="-127"/>
                <a:ea typeface="맑은 고딕" pitchFamily="50" charset="-127"/>
              </a:rPr>
              <a:t> </a:t>
            </a:r>
          </a:p>
          <a:p>
            <a:r>
              <a:rPr lang="en-US" altLang="ko-KR" sz="1200" dirty="0" err="1">
                <a:solidFill>
                  <a:srgbClr val="000000"/>
                </a:solidFill>
                <a:latin typeface="맑은 고딕" pitchFamily="50" charset="-127"/>
                <a:ea typeface="맑은 고딕" pitchFamily="50" charset="-127"/>
              </a:rPr>
              <a:t>thêm</a:t>
            </a:r>
            <a:endParaRPr lang="en-US" altLang="ko-KR" sz="1200" dirty="0">
              <a:solidFill>
                <a:srgbClr val="000000"/>
              </a:solidFill>
              <a:latin typeface="맑은 고딕" pitchFamily="50" charset="-127"/>
              <a:ea typeface="맑은 고딕" pitchFamily="50" charset="-127"/>
            </a:endParaRPr>
          </a:p>
          <a:p>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Giữa</a:t>
            </a:r>
            <a:r>
              <a:rPr lang="en-US" altLang="ko-KR" sz="1200" dirty="0">
                <a:solidFill>
                  <a:srgbClr val="000000"/>
                </a:solidFill>
                <a:latin typeface="맑은 고딕" pitchFamily="50" charset="-127"/>
                <a:ea typeface="맑은 고딕" pitchFamily="50" charset="-127"/>
              </a:rPr>
              <a:t> Part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Operator</a:t>
            </a:r>
            <a:r>
              <a:rPr lang="ko-KR" altLang="en-US"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với</a:t>
            </a:r>
            <a:r>
              <a:rPr lang="en-US" altLang="ko-KR" sz="1200" dirty="0">
                <a:solidFill>
                  <a:srgbClr val="000000"/>
                </a:solidFill>
                <a:latin typeface="맑은 고딕" pitchFamily="50" charset="-127"/>
                <a:ea typeface="맑은 고딕" pitchFamily="50" charset="-127"/>
              </a:rPr>
              <a:t> </a:t>
            </a:r>
          </a:p>
          <a:p>
            <a:r>
              <a:rPr lang="en-US" altLang="ko-KR" sz="1200" dirty="0" err="1">
                <a:solidFill>
                  <a:srgbClr val="000000"/>
                </a:solidFill>
                <a:latin typeface="맑은 고딕" pitchFamily="50" charset="-127"/>
                <a:ea typeface="맑은 고딕" pitchFamily="50" charset="-127"/>
              </a:rPr>
              <a:t>nhau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có</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nghĩa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bị</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nhau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cần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thiết</a:t>
            </a:r>
            <a:endParaRPr lang="en-US" altLang="ko-KR" sz="1200" dirty="0">
              <a:solidFill>
                <a:srgbClr val="000000"/>
              </a:solidFill>
              <a:latin typeface="맑은 고딕" pitchFamily="50" charset="-127"/>
              <a:ea typeface="맑은 고딕" pitchFamily="50" charset="-127"/>
            </a:endParaRPr>
          </a:p>
          <a:p>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cải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thiện</a:t>
            </a:r>
            <a:r>
              <a:rPr lang="en-US" altLang="ko-KR" sz="1200" dirty="0">
                <a:solidFill>
                  <a:srgbClr val="000000"/>
                </a:solidFill>
                <a:latin typeface="맑은 고딕" pitchFamily="50" charset="-127"/>
                <a:ea typeface="맑은 고딕" pitchFamily="50" charset="-127"/>
              </a:rPr>
              <a:t>.</a:t>
            </a:r>
          </a:p>
        </p:txBody>
      </p:sp>
      <p:cxnSp>
        <p:nvCxnSpPr>
          <p:cNvPr id="28" name="직선 연결선 27"/>
          <p:cNvCxnSpPr/>
          <p:nvPr/>
        </p:nvCxnSpPr>
        <p:spPr bwMode="auto">
          <a:xfrm rot="16200000" flipV="1">
            <a:off x="4749128" y="4172138"/>
            <a:ext cx="461963" cy="394189"/>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82</a:t>
            </a:fld>
            <a:endParaRPr lang="ko-KR" altLang="en-US" dirty="0"/>
          </a:p>
        </p:txBody>
      </p:sp>
      <p:sp>
        <p:nvSpPr>
          <p:cNvPr id="20" name="TextBox 19"/>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21" name="직사각형 20"/>
          <p:cNvSpPr/>
          <p:nvPr/>
        </p:nvSpPr>
        <p:spPr>
          <a:xfrm>
            <a:off x="5868144" y="179348"/>
            <a:ext cx="2901756" cy="369332"/>
          </a:xfrm>
          <a:prstGeom prst="rect">
            <a:avLst/>
          </a:prstGeom>
        </p:spPr>
        <p:txBody>
          <a:bodyPr wrap="none">
            <a:spAutoFit/>
          </a:bodyPr>
          <a:lstStyle/>
          <a:p>
            <a:pPr>
              <a:defRPr/>
            </a:pP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82367455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6209" y="1628800"/>
            <a:ext cx="3459443" cy="1956229"/>
          </a:xfrm>
          <a:prstGeom prst="rect">
            <a:avLst/>
          </a:prstGeom>
          <a:noFill/>
          <a:ln w="9525">
            <a:solidFill>
              <a:schemeClr val="bg2"/>
            </a:solidFill>
            <a:miter lim="800000"/>
            <a:headEnd/>
            <a:tailEnd/>
          </a:ln>
        </p:spPr>
      </p:pic>
      <p:sp>
        <p:nvSpPr>
          <p:cNvPr id="3" name="TextBox 2"/>
          <p:cNvSpPr txBox="1"/>
          <p:nvPr/>
        </p:nvSpPr>
        <p:spPr>
          <a:xfrm>
            <a:off x="395654" y="827089"/>
            <a:ext cx="8280889" cy="523220"/>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lang="en-US" altLang="ko-KR" sz="1400" b="1" kern="0" dirty="0" err="1">
                <a:solidFill>
                  <a:sysClr val="windowText" lastClr="000000"/>
                </a:solidFill>
                <a:latin typeface="맑은 고딕" pitchFamily="50" charset="-127"/>
                <a:ea typeface="맑은 고딕" pitchFamily="50" charset="-127"/>
              </a:rPr>
              <a:t>nhập</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giải</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thích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kết</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quả</a:t>
            </a:r>
            <a:endParaRPr lang="en-US" altLang="ko-KR" sz="1400" b="1" kern="0" dirty="0">
              <a:solidFill>
                <a:sysClr val="windowText" lastClr="000000"/>
              </a:solidFill>
              <a:latin typeface="맑은 고딕" pitchFamily="50" charset="-127"/>
              <a:ea typeface="맑은 고딕" pitchFamily="50" charset="-127"/>
            </a:endParaRPr>
          </a:p>
          <a:p>
            <a:pPr fontAlgn="auto" latinLnBrk="0">
              <a:spcBef>
                <a:spcPts val="0"/>
              </a:spcBef>
              <a:spcAft>
                <a:spcPts val="0"/>
              </a:spcAft>
              <a:buClr>
                <a:srgbClr val="595959"/>
              </a:buClr>
              <a:defRPr/>
            </a:pP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78180" name="Rectangle 6"/>
          <p:cNvSpPr>
            <a:spLocks noChangeArrowheads="1"/>
          </p:cNvSpPr>
          <p:nvPr/>
        </p:nvSpPr>
        <p:spPr bwMode="auto">
          <a:xfrm>
            <a:off x="681405" y="1214439"/>
            <a:ext cx="2032288"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(2) Variance Components</a:t>
            </a:r>
          </a:p>
        </p:txBody>
      </p:sp>
      <p:sp>
        <p:nvSpPr>
          <p:cNvPr id="178181" name="Text Box 3"/>
          <p:cNvSpPr txBox="1">
            <a:spLocks noChangeArrowheads="1"/>
          </p:cNvSpPr>
          <p:nvPr/>
        </p:nvSpPr>
        <p:spPr bwMode="auto">
          <a:xfrm>
            <a:off x="5940152" y="764704"/>
            <a:ext cx="3059832" cy="1107996"/>
          </a:xfrm>
          <a:prstGeom prst="rect">
            <a:avLst/>
          </a:prstGeom>
          <a:noFill/>
          <a:ln w="9525" algn="ctr">
            <a:noFill/>
            <a:miter lim="800000"/>
            <a:headEnd/>
            <a:tailEnd/>
          </a:ln>
        </p:spPr>
        <p:txBody>
          <a:bodyPr wrap="square">
            <a:spAutoFit/>
          </a:bodyPr>
          <a:lstStyle/>
          <a:p>
            <a:pPr>
              <a:lnSpc>
                <a:spcPct val="110000"/>
              </a:lnSpc>
            </a:pPr>
            <a:r>
              <a:rPr lang="en-US" altLang="ko-KR" sz="1000" b="1" dirty="0" err="1">
                <a:solidFill>
                  <a:srgbClr val="0000FF"/>
                </a:solidFill>
                <a:latin typeface="맑은 고딕" pitchFamily="50" charset="-127"/>
                <a:ea typeface="맑은 고딕" pitchFamily="50" charset="-127"/>
              </a:rPr>
              <a:t>Gải</a:t>
            </a:r>
            <a:r>
              <a:rPr lang="en-US" altLang="ko-KR" sz="1000" b="1" dirty="0">
                <a:solidFill>
                  <a:srgbClr val="0000FF"/>
                </a:solidFill>
                <a:latin typeface="맑은 고딕" pitchFamily="50" charset="-127"/>
                <a:ea typeface="맑은 고딕" pitchFamily="50" charset="-127"/>
              </a:rPr>
              <a:t> </a:t>
            </a:r>
            <a:r>
              <a:rPr lang="en-US" altLang="ko-KR" sz="1000" b="1" dirty="0" err="1">
                <a:solidFill>
                  <a:srgbClr val="0000FF"/>
                </a:solidFill>
                <a:latin typeface="맑은 고딕" pitchFamily="50" charset="-127"/>
                <a:ea typeface="맑은 고딕" pitchFamily="50" charset="-127"/>
              </a:rPr>
              <a:t>thích</a:t>
            </a:r>
            <a:r>
              <a:rPr lang="en-US" altLang="ko-KR" sz="1000" b="1" dirty="0">
                <a:solidFill>
                  <a:srgbClr val="0000FF"/>
                </a:solidFill>
                <a:latin typeface="맑은 고딕" pitchFamily="50" charset="-127"/>
                <a:ea typeface="맑은 고딕" pitchFamily="50" charset="-127"/>
              </a:rPr>
              <a:t> Tip</a:t>
            </a:r>
          </a:p>
          <a:p>
            <a:pPr>
              <a:lnSpc>
                <a:spcPct val="110000"/>
              </a:lnSpc>
            </a:pPr>
            <a:r>
              <a:rPr lang="en-US" altLang="ko-KR" sz="1000" dirty="0">
                <a:solidFill>
                  <a:srgbClr val="000000"/>
                </a:solidFill>
                <a:latin typeface="맑은 고딕" pitchFamily="50" charset="-127"/>
                <a:ea typeface="맑은 고딕" pitchFamily="50" charset="-127"/>
              </a:rPr>
              <a:t>(2) Variance Components</a:t>
            </a:r>
          </a:p>
          <a:p>
            <a:pPr>
              <a:lnSpc>
                <a:spcPct val="110000"/>
              </a:lnSpc>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Xem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xét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độ</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đóng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góp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từng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nguyên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nhân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biến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động</a:t>
            </a:r>
            <a:endParaRPr lang="ko-KR" altLang="en-US"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Độ</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đóng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góp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của</a:t>
            </a:r>
            <a:r>
              <a:rPr lang="en-US" altLang="ko-KR" sz="1000" dirty="0">
                <a:solidFill>
                  <a:srgbClr val="000000"/>
                </a:solidFill>
                <a:latin typeface="맑은 고딕" pitchFamily="50" charset="-127"/>
                <a:ea typeface="맑은 고딕" pitchFamily="50" charset="-127"/>
              </a:rPr>
              <a:t> Gage </a:t>
            </a:r>
            <a:r>
              <a:rPr lang="en-US" altLang="ko-KR" sz="1000" dirty="0" err="1">
                <a:solidFill>
                  <a:srgbClr val="000000"/>
                </a:solidFill>
                <a:latin typeface="맑은 고딕" pitchFamily="50" charset="-127"/>
                <a:ea typeface="맑은 고딕" pitchFamily="50" charset="-127"/>
              </a:rPr>
              <a:t>đặc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tính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phải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nhỏ</a:t>
            </a:r>
            <a:r>
              <a:rPr lang="en-US" altLang="ko-KR" sz="1000" dirty="0">
                <a:solidFill>
                  <a:srgbClr val="000000"/>
                </a:solidFill>
                <a:latin typeface="맑은 고딕" pitchFamily="50" charset="-127"/>
                <a:ea typeface="맑은 고딕" pitchFamily="50" charset="-127"/>
              </a:rPr>
              <a:t>, </a:t>
            </a:r>
          </a:p>
          <a:p>
            <a:pPr>
              <a:lnSpc>
                <a:spcPct val="110000"/>
              </a:lnSpc>
            </a:pP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độ</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đóng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góp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của</a:t>
            </a:r>
            <a:r>
              <a:rPr lang="en-US" altLang="ko-KR" sz="1000" dirty="0">
                <a:solidFill>
                  <a:srgbClr val="000000"/>
                </a:solidFill>
                <a:latin typeface="맑은 고딕" pitchFamily="50" charset="-127"/>
                <a:ea typeface="맑은 고딕" pitchFamily="50" charset="-127"/>
              </a:rPr>
              <a:t> Part-to-part </a:t>
            </a:r>
            <a:r>
              <a:rPr lang="en-US" altLang="ko-KR" sz="1000" dirty="0" err="1">
                <a:solidFill>
                  <a:srgbClr val="000000"/>
                </a:solidFill>
                <a:latin typeface="맑은 고딕" pitchFamily="50" charset="-127"/>
                <a:ea typeface="맑은 고딕" pitchFamily="50" charset="-127"/>
              </a:rPr>
              <a:t>phải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lớn</a:t>
            </a:r>
            <a:endParaRPr lang="en-US" altLang="ko-KR" sz="1000" dirty="0">
              <a:solidFill>
                <a:srgbClr val="000000"/>
              </a:solidFill>
              <a:latin typeface="맑은 고딕" pitchFamily="50" charset="-127"/>
              <a:ea typeface="맑은 고딕" pitchFamily="50" charset="-127"/>
            </a:endParaRPr>
          </a:p>
        </p:txBody>
      </p:sp>
      <p:sp>
        <p:nvSpPr>
          <p:cNvPr id="178183" name="Rectangle 5"/>
          <p:cNvSpPr>
            <a:spLocks noChangeArrowheads="1"/>
          </p:cNvSpPr>
          <p:nvPr/>
        </p:nvSpPr>
        <p:spPr bwMode="auto">
          <a:xfrm>
            <a:off x="879231" y="3833704"/>
            <a:ext cx="7844327" cy="646331"/>
          </a:xfrm>
          <a:prstGeom prst="rect">
            <a:avLst/>
          </a:prstGeom>
          <a:noFill/>
          <a:ln w="9525" algn="ctr">
            <a:noFill/>
            <a:miter lim="800000"/>
            <a:headEnd/>
            <a:tailEnd/>
          </a:ln>
        </p:spPr>
        <p:txBody>
          <a:bodyPr wrap="non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Tỉ</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lệ</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đóng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góp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Part-To-Part </a:t>
            </a:r>
            <a:r>
              <a:rPr lang="en-US" altLang="ko-KR" sz="1200" dirty="0" err="1">
                <a:solidFill>
                  <a:srgbClr val="000000"/>
                </a:solidFill>
                <a:latin typeface="맑은 고딕" pitchFamily="50" charset="-127"/>
                <a:ea typeface="맑은 고딕" pitchFamily="50" charset="-127"/>
              </a:rPr>
              <a:t>chiếm</a:t>
            </a:r>
            <a:r>
              <a:rPr lang="en-US" altLang="ko-KR" sz="1200" dirty="0">
                <a:solidFill>
                  <a:srgbClr val="000000"/>
                </a:solidFill>
                <a:latin typeface="맑은 고딕" pitchFamily="50" charset="-127"/>
                <a:ea typeface="맑은 고딕" pitchFamily="50" charset="-127"/>
              </a:rPr>
              <a:t> </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99.46%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toàn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endParaRPr lang="en-US" altLang="ko-KR" sz="1200" dirty="0">
              <a:solidFill>
                <a:srgbClr val="000000"/>
              </a:solidFill>
              <a:latin typeface="맑은 고딕" pitchFamily="50" charset="-127"/>
              <a:ea typeface="맑은 고딕" pitchFamily="50" charset="-127"/>
            </a:endParaRPr>
          </a:p>
          <a:p>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tổng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Data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đạc</a:t>
            </a:r>
            <a:r>
              <a:rPr lang="en-US" altLang="ko-KR" sz="1200" dirty="0">
                <a:solidFill>
                  <a:srgbClr val="000000"/>
                </a:solidFill>
                <a:latin typeface="맑은 고딕" pitchFamily="50" charset="-127"/>
                <a:ea typeface="맑은 고딕" pitchFamily="50" charset="-127"/>
              </a:rPr>
              <a:t> (10 </a:t>
            </a:r>
            <a:r>
              <a:rPr lang="en-US" altLang="ko-KR" sz="1200" dirty="0" err="1">
                <a:solidFill>
                  <a:srgbClr val="000000"/>
                </a:solidFill>
                <a:latin typeface="맑은 고딕" pitchFamily="50" charset="-127"/>
                <a:ea typeface="맑은 고딕" pitchFamily="50" charset="-127"/>
              </a:rPr>
              <a:t>linh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kiện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đo</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lặp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lại</a:t>
            </a:r>
            <a:r>
              <a:rPr lang="en-US" altLang="ko-KR" sz="1200" dirty="0">
                <a:solidFill>
                  <a:srgbClr val="000000"/>
                </a:solidFill>
                <a:latin typeface="맑은 고딕" pitchFamily="50" charset="-127"/>
                <a:ea typeface="맑은 고딕" pitchFamily="50" charset="-127"/>
              </a:rPr>
              <a:t> 2 </a:t>
            </a:r>
            <a:r>
              <a:rPr lang="en-US" altLang="ko-KR" sz="1200" dirty="0" err="1">
                <a:solidFill>
                  <a:srgbClr val="000000"/>
                </a:solidFill>
                <a:latin typeface="맑은 고딕" pitchFamily="50" charset="-127"/>
                <a:ea typeface="맑은 고딕" pitchFamily="50" charset="-127"/>
              </a:rPr>
              <a:t>lần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Phát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sinh</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sự</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khác</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nhau</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giữa</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Part </a:t>
            </a:r>
          </a:p>
          <a:p>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99,46%</a:t>
            </a:r>
          </a:p>
        </p:txBody>
      </p:sp>
      <p:cxnSp>
        <p:nvCxnSpPr>
          <p:cNvPr id="14" name="직선 연결선 13"/>
          <p:cNvCxnSpPr/>
          <p:nvPr/>
        </p:nvCxnSpPr>
        <p:spPr bwMode="auto">
          <a:xfrm rot="10800000" flipV="1">
            <a:off x="4303840" y="2276871"/>
            <a:ext cx="304800" cy="0"/>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178185" name="Rectangle 5"/>
          <p:cNvSpPr>
            <a:spLocks noChangeArrowheads="1"/>
          </p:cNvSpPr>
          <p:nvPr/>
        </p:nvSpPr>
        <p:spPr bwMode="auto">
          <a:xfrm>
            <a:off x="4648206" y="2031726"/>
            <a:ext cx="4338816" cy="1015663"/>
          </a:xfrm>
          <a:prstGeom prst="rect">
            <a:avLst/>
          </a:prstGeom>
          <a:noFill/>
          <a:ln w="9525" algn="ctr">
            <a:noFill/>
            <a:miter lim="800000"/>
            <a:headEnd/>
            <a:tailEnd/>
          </a:ln>
        </p:spPr>
        <p:txBody>
          <a:bodyPr wrap="non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toàn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thể</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tỉ</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lệ</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đóng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góp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Gage R&amp;R </a:t>
            </a:r>
          </a:p>
          <a:p>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0.54%, </a:t>
            </a:r>
            <a:r>
              <a:rPr lang="en-US" altLang="ko-KR" sz="1200" dirty="0" err="1">
                <a:solidFill>
                  <a:srgbClr val="000000"/>
                </a:solidFill>
                <a:latin typeface="맑은 고딕" pitchFamily="50" charset="-127"/>
                <a:ea typeface="맑은 고딕" pitchFamily="50" charset="-127"/>
              </a:rPr>
              <a:t>đây</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Tổng</a:t>
            </a:r>
            <a:r>
              <a:rPr lang="en-US" altLang="ko-KR" sz="1200" dirty="0">
                <a:solidFill>
                  <a:srgbClr val="000000"/>
                </a:solidFill>
                <a:latin typeface="맑은 고딕" pitchFamily="50" charset="-127"/>
                <a:ea typeface="맑은 고딕" pitchFamily="50" charset="-127"/>
              </a:rPr>
              <a:t>(Sum) </a:t>
            </a:r>
            <a:r>
              <a:rPr lang="en-US" altLang="ko-KR" sz="1200" dirty="0" err="1">
                <a:solidFill>
                  <a:srgbClr val="000000"/>
                </a:solidFill>
                <a:latin typeface="맑은 고딕" pitchFamily="50" charset="-127"/>
                <a:ea typeface="맑은 고딕" pitchFamily="50" charset="-127"/>
              </a:rPr>
              <a:t>của</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lặp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lại</a:t>
            </a:r>
            <a:r>
              <a:rPr lang="en-US" altLang="ko-KR" sz="1200" dirty="0">
                <a:solidFill>
                  <a:srgbClr val="000000"/>
                </a:solidFill>
                <a:latin typeface="맑은 고딕" pitchFamily="50" charset="-127"/>
                <a:ea typeface="맑은 고딕" pitchFamily="50" charset="-127"/>
              </a:rPr>
              <a:t> (Repeatability) </a:t>
            </a:r>
          </a:p>
          <a:p>
            <a:r>
              <a:rPr lang="en-US" altLang="ko-KR" sz="1200" dirty="0">
                <a:solidFill>
                  <a:srgbClr val="000000"/>
                </a:solidFill>
                <a:latin typeface="맑은 고딕" pitchFamily="50" charset="-127"/>
                <a:ea typeface="맑은 고딕" pitchFamily="50" charset="-127"/>
              </a:rPr>
              <a:t>0.20% </a:t>
            </a:r>
            <a:r>
              <a:rPr lang="en-US" altLang="ko-KR" sz="1200" dirty="0" err="1">
                <a:solidFill>
                  <a:srgbClr val="000000"/>
                </a:solidFill>
                <a:latin typeface="맑은 고딕" pitchFamily="50" charset="-127"/>
                <a:ea typeface="맑은 고딕" pitchFamily="50" charset="-127"/>
              </a:rPr>
              <a:t>và</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tái</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hiện</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(Reproducibility) 0.34%</a:t>
            </a:r>
          </a:p>
          <a:p>
            <a:r>
              <a:rPr lang="en-US" altLang="ko-KR"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sym typeface="Wingdings" pitchFamily="2" charset="2"/>
              </a:rPr>
              <a: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Trong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tổng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biến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động</a:t>
            </a:r>
            <a:r>
              <a:rPr lang="en-US" altLang="ko-KR" sz="1200" dirty="0">
                <a:solidFill>
                  <a:srgbClr val="000000"/>
                </a:solidFill>
                <a:latin typeface="맑은 고딕" pitchFamily="50" charset="-127"/>
                <a:ea typeface="맑은 고딕" pitchFamily="50" charset="-127"/>
              </a:rPr>
              <a:t> do Gage R&amp;R </a:t>
            </a:r>
            <a:r>
              <a:rPr lang="en-US" altLang="ko-KR" sz="1200" dirty="0" err="1">
                <a:solidFill>
                  <a:srgbClr val="000000"/>
                </a:solidFill>
                <a:latin typeface="맑은 고딕" pitchFamily="50" charset="-127"/>
                <a:ea typeface="맑은 고딕" pitchFamily="50" charset="-127"/>
              </a:rPr>
              <a:t>là</a:t>
            </a:r>
            <a:r>
              <a:rPr lang="en-US" altLang="ko-KR" sz="1200" dirty="0">
                <a:solidFill>
                  <a:srgbClr val="000000"/>
                </a:solidFill>
                <a:latin typeface="맑은 고딕" pitchFamily="50" charset="-127"/>
                <a:ea typeface="맑은 고딕" pitchFamily="50" charset="-127"/>
              </a:rPr>
              <a:t> </a:t>
            </a:r>
          </a:p>
          <a:p>
            <a:r>
              <a:rPr lang="en-US" altLang="ko-KR" sz="1200" dirty="0">
                <a:solidFill>
                  <a:srgbClr val="000000"/>
                </a:solidFill>
                <a:latin typeface="맑은 고딕" pitchFamily="50" charset="-127"/>
                <a:ea typeface="맑은 고딕" pitchFamily="50" charset="-127"/>
              </a:rPr>
              <a:t>0.54%</a:t>
            </a:r>
          </a:p>
        </p:txBody>
      </p:sp>
      <p:cxnSp>
        <p:nvCxnSpPr>
          <p:cNvPr id="20" name="꺾인 연결선 19"/>
          <p:cNvCxnSpPr>
            <a:endCxn id="178183" idx="1"/>
          </p:cNvCxnSpPr>
          <p:nvPr/>
        </p:nvCxnSpPr>
        <p:spPr bwMode="auto">
          <a:xfrm rot="16200000" flipH="1">
            <a:off x="295244" y="3572883"/>
            <a:ext cx="962820" cy="205154"/>
          </a:xfrm>
          <a:prstGeom prst="bentConnector2">
            <a:avLst/>
          </a:prstGeom>
          <a:solidFill>
            <a:schemeClr val="accent1"/>
          </a:solidFill>
          <a:ln w="12700" cap="flat" cmpd="sng" algn="ctr">
            <a:solidFill>
              <a:schemeClr val="bg1">
                <a:lumMod val="50000"/>
              </a:schemeClr>
            </a:solidFill>
            <a:prstDash val="solid"/>
            <a:round/>
            <a:headEnd type="none" w="med" len="med"/>
            <a:tailEnd type="oval" w="med" len="med"/>
          </a:ln>
          <a:effectLst/>
        </p:spPr>
      </p:cxnSp>
      <p:cxnSp>
        <p:nvCxnSpPr>
          <p:cNvPr id="26" name="직선 연결선 25"/>
          <p:cNvCxnSpPr/>
          <p:nvPr/>
        </p:nvCxnSpPr>
        <p:spPr bwMode="auto">
          <a:xfrm>
            <a:off x="668215" y="3200400"/>
            <a:ext cx="231377" cy="12576"/>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178188" name="Rectangle 5"/>
          <p:cNvSpPr>
            <a:spLocks noChangeArrowheads="1"/>
          </p:cNvSpPr>
          <p:nvPr/>
        </p:nvSpPr>
        <p:spPr bwMode="auto">
          <a:xfrm>
            <a:off x="4648206" y="2978368"/>
            <a:ext cx="4327147" cy="830997"/>
          </a:xfrm>
          <a:prstGeom prst="rect">
            <a:avLst/>
          </a:prstGeom>
          <a:noFill/>
          <a:ln w="9525" algn="ctr">
            <a:noFill/>
            <a:miter lim="800000"/>
            <a:headEnd/>
            <a:tailEnd/>
          </a:ln>
        </p:spPr>
        <p:txBody>
          <a:bodyPr wrap="none" anchor="ctr">
            <a:spAutoFit/>
          </a:bodyPr>
          <a:lstStyle/>
          <a:p>
            <a:pPr>
              <a:buFont typeface="Wingdings" pitchFamily="2" charset="2"/>
              <a:buChar char="§"/>
            </a:pP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Độ</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tái</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hiện</a:t>
            </a:r>
            <a:r>
              <a:rPr lang="ko-KR" altLang="en-US"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là</a:t>
            </a:r>
            <a:r>
              <a:rPr lang="en-US" altLang="ko-KR" sz="1200" dirty="0">
                <a:solidFill>
                  <a:srgbClr val="000000"/>
                </a:solidFill>
                <a:latin typeface="맑은 고딕" pitchFamily="50" charset="-127"/>
                <a:ea typeface="맑은 고딕" pitchFamily="50" charset="-127"/>
                <a:sym typeface="Wingdings" pitchFamily="2" charset="2"/>
              </a:rPr>
              <a:t> 0.34% so </a:t>
            </a:r>
            <a:r>
              <a:rPr lang="en-US" altLang="ko-KR" sz="1200" dirty="0" err="1">
                <a:solidFill>
                  <a:srgbClr val="000000"/>
                </a:solidFill>
                <a:latin typeface="맑은 고딕" pitchFamily="50" charset="-127"/>
                <a:ea typeface="맑은 고딕" pitchFamily="50" charset="-127"/>
                <a:sym typeface="Wingdings" pitchFamily="2" charset="2"/>
              </a:rPr>
              <a:t>với</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biến</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động</a:t>
            </a:r>
            <a:r>
              <a:rPr lang="en-US" altLang="ko-KR" sz="1200" dirty="0">
                <a:solidFill>
                  <a:srgbClr val="000000"/>
                </a:solidFill>
                <a:latin typeface="맑은 고딕" pitchFamily="50" charset="-127"/>
                <a:ea typeface="맑은 고딕" pitchFamily="50" charset="-127"/>
                <a:sym typeface="Wingdings" pitchFamily="2" charset="2"/>
              </a:rPr>
              <a:t> do </a:t>
            </a:r>
            <a:r>
              <a:rPr lang="en-US" altLang="ko-KR" sz="1200" dirty="0" err="1">
                <a:solidFill>
                  <a:srgbClr val="000000"/>
                </a:solidFill>
                <a:latin typeface="맑은 고딕" pitchFamily="50" charset="-127"/>
                <a:ea typeface="맑은 고딕" pitchFamily="50" charset="-127"/>
                <a:sym typeface="Wingdings" pitchFamily="2" charset="2"/>
              </a:rPr>
              <a:t>người</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đo</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đạc</a:t>
            </a:r>
            <a:r>
              <a:rPr lang="en-US" altLang="ko-KR" sz="1200" dirty="0">
                <a:solidFill>
                  <a:srgbClr val="000000"/>
                </a:solidFill>
                <a:latin typeface="맑은 고딕" pitchFamily="50" charset="-127"/>
                <a:ea typeface="맑은 고딕" pitchFamily="50" charset="-127"/>
                <a:sym typeface="Wingdings" pitchFamily="2" charset="2"/>
              </a:rPr>
              <a:t> </a:t>
            </a:r>
          </a:p>
          <a:p>
            <a:r>
              <a:rPr lang="en-US" altLang="ko-KR" sz="1200" dirty="0">
                <a:solidFill>
                  <a:srgbClr val="000000"/>
                </a:solidFill>
                <a:latin typeface="맑은 고딕" pitchFamily="50" charset="-127"/>
                <a:ea typeface="맑은 고딕" pitchFamily="50" charset="-127"/>
                <a:sym typeface="Wingdings" pitchFamily="2" charset="2"/>
              </a:rPr>
              <a:t>(Operator)</a:t>
            </a:r>
            <a:r>
              <a:rPr lang="ko-KR" altLang="en-US" sz="1200" dirty="0">
                <a:solidFill>
                  <a:srgbClr val="000000"/>
                </a:solidFill>
                <a:latin typeface="맑은 고딕" pitchFamily="50" charset="-127"/>
                <a:ea typeface="맑은 고딕" pitchFamily="50" charset="-127"/>
                <a:sym typeface="Wingdings" pitchFamily="2" charset="2"/>
              </a:rPr>
              <a:t> </a:t>
            </a:r>
            <a:r>
              <a:rPr lang="en-US" altLang="ko-KR" sz="1200" dirty="0">
                <a:solidFill>
                  <a:srgbClr val="000000"/>
                </a:solidFill>
                <a:latin typeface="맑은 고딕" pitchFamily="50" charset="-127"/>
                <a:ea typeface="맑은 고딕" pitchFamily="50" charset="-127"/>
                <a:sym typeface="Wingdings" pitchFamily="2" charset="2"/>
              </a:rPr>
              <a:t>(0.00%) </a:t>
            </a:r>
            <a:r>
              <a:rPr lang="en-US" altLang="ko-KR" sz="1200" dirty="0" err="1">
                <a:solidFill>
                  <a:srgbClr val="000000"/>
                </a:solidFill>
                <a:latin typeface="맑은 고딕" pitchFamily="50" charset="-127"/>
                <a:ea typeface="맑은 고딕" pitchFamily="50" charset="-127"/>
                <a:sym typeface="Wingdings" pitchFamily="2" charset="2"/>
              </a:rPr>
              <a:t>biến</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động</a:t>
            </a:r>
            <a:r>
              <a:rPr lang="en-US" altLang="ko-KR" sz="1200" dirty="0">
                <a:solidFill>
                  <a:srgbClr val="000000"/>
                </a:solidFill>
                <a:latin typeface="맑은 고딕" pitchFamily="50" charset="-127"/>
                <a:ea typeface="맑은 고딕" pitchFamily="50" charset="-127"/>
                <a:sym typeface="Wingdings" pitchFamily="2" charset="2"/>
              </a:rPr>
              <a:t> do </a:t>
            </a:r>
            <a:r>
              <a:rPr lang="en-US" altLang="ko-KR" sz="1200" dirty="0" err="1">
                <a:solidFill>
                  <a:srgbClr val="000000"/>
                </a:solidFill>
                <a:latin typeface="맑은 고딕" pitchFamily="50" charset="-127"/>
                <a:ea typeface="맑은 고딕" pitchFamily="50" charset="-127"/>
                <a:sym typeface="Wingdings" pitchFamily="2" charset="2"/>
              </a:rPr>
              <a:t>tương</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tác</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giữa</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người</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đo</a:t>
            </a:r>
            <a:endParaRPr lang="en-US" altLang="ko-KR" sz="1200" dirty="0">
              <a:solidFill>
                <a:srgbClr val="000000"/>
              </a:solidFill>
              <a:latin typeface="맑은 고딕" pitchFamily="50" charset="-127"/>
              <a:ea typeface="맑은 고딕" pitchFamily="50" charset="-127"/>
              <a:sym typeface="Wingdings" pitchFamily="2" charset="2"/>
            </a:endParaRPr>
          </a:p>
          <a:p>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đạc</a:t>
            </a:r>
            <a:r>
              <a:rPr lang="en-US" altLang="ko-KR" sz="1200" dirty="0">
                <a:solidFill>
                  <a:srgbClr val="000000"/>
                </a:solidFill>
                <a:latin typeface="맑은 고딕" pitchFamily="50" charset="-127"/>
                <a:ea typeface="맑은 고딕" pitchFamily="50" charset="-127"/>
                <a:sym typeface="Wingdings" pitchFamily="2" charset="2"/>
              </a:rPr>
              <a:t>* Part</a:t>
            </a:r>
            <a:r>
              <a:rPr lang="ko-KR" altLang="en-US"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là</a:t>
            </a:r>
            <a:r>
              <a:rPr lang="en-US" altLang="ko-KR" sz="1200" dirty="0">
                <a:solidFill>
                  <a:srgbClr val="000000"/>
                </a:solidFill>
                <a:latin typeface="맑은 고딕" pitchFamily="50" charset="-127"/>
                <a:ea typeface="맑은 고딕" pitchFamily="50" charset="-127"/>
                <a:sym typeface="Wingdings" pitchFamily="2" charset="2"/>
              </a:rPr>
              <a:t> 0.34% </a:t>
            </a:r>
            <a:r>
              <a:rPr lang="en-US" altLang="ko-KR" sz="1200" dirty="0" err="1">
                <a:solidFill>
                  <a:srgbClr val="000000"/>
                </a:solidFill>
                <a:latin typeface="맑은 고딕" pitchFamily="50" charset="-127"/>
                <a:ea typeface="맑은 고딕" pitchFamily="50" charset="-127"/>
                <a:sym typeface="Wingdings" pitchFamily="2" charset="2"/>
              </a:rPr>
              <a:t>là</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lớn</a:t>
            </a:r>
            <a:endParaRPr lang="en-US" altLang="ko-KR" sz="1200" dirty="0">
              <a:solidFill>
                <a:srgbClr val="000000"/>
              </a:solidFill>
              <a:latin typeface="맑은 고딕" pitchFamily="50" charset="-127"/>
              <a:ea typeface="맑은 고딕" pitchFamily="50" charset="-127"/>
              <a:sym typeface="Wingdings" pitchFamily="2" charset="2"/>
            </a:endParaRPr>
          </a:p>
          <a:p>
            <a:r>
              <a:rPr lang="en-US" altLang="ko-KR" sz="1200" dirty="0">
                <a:solidFill>
                  <a:srgbClr val="000000"/>
                </a:solidFill>
                <a:latin typeface="맑은 고딕" pitchFamily="50" charset="-127"/>
                <a:ea typeface="맑은 고딕" pitchFamily="50" charset="-127"/>
                <a:sym typeface="Wingdings" pitchFamily="2" charset="2"/>
              </a:rPr>
              <a:t>    </a:t>
            </a:r>
            <a:r>
              <a:rPr lang="en-US" altLang="ko-KR" sz="1200" dirty="0" err="1">
                <a:solidFill>
                  <a:srgbClr val="000000"/>
                </a:solidFill>
                <a:latin typeface="맑은 고딕" pitchFamily="50" charset="-127"/>
                <a:ea typeface="맑은 고딕" pitchFamily="50" charset="-127"/>
                <a:sym typeface="Wingdings" pitchFamily="2" charset="2"/>
              </a:rPr>
              <a:t>Cần</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thiết</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kiểm</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tra</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Người</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đo</a:t>
            </a:r>
            <a:r>
              <a:rPr lang="en-US" altLang="ko-KR" sz="1200" dirty="0">
                <a:solidFill>
                  <a:srgbClr val="000000"/>
                </a:solidFill>
                <a:latin typeface="맑은 고딕" pitchFamily="50" charset="-127"/>
                <a:ea typeface="맑은 고딕" pitchFamily="50" charset="-127"/>
                <a:sym typeface="Wingdings" pitchFamily="2" charset="2"/>
              </a:rPr>
              <a:t> </a:t>
            </a:r>
            <a:r>
              <a:rPr lang="en-US" altLang="ko-KR" sz="1200" dirty="0" err="1">
                <a:solidFill>
                  <a:srgbClr val="000000"/>
                </a:solidFill>
                <a:latin typeface="맑은 고딕" pitchFamily="50" charset="-127"/>
                <a:ea typeface="맑은 고딕" pitchFamily="50" charset="-127"/>
                <a:sym typeface="Wingdings" pitchFamily="2" charset="2"/>
              </a:rPr>
              <a:t>đạc</a:t>
            </a:r>
            <a:r>
              <a:rPr lang="ko-KR" altLang="en-US" sz="1200" dirty="0">
                <a:solidFill>
                  <a:srgbClr val="000000"/>
                </a:solidFill>
                <a:latin typeface="맑은 고딕" pitchFamily="50" charset="-127"/>
                <a:ea typeface="맑은 고딕" pitchFamily="50" charset="-127"/>
                <a:sym typeface="Wingdings" pitchFamily="2" charset="2"/>
              </a:rPr>
              <a:t> </a:t>
            </a:r>
            <a:r>
              <a:rPr lang="en-US" altLang="ko-KR" sz="1200" dirty="0">
                <a:solidFill>
                  <a:srgbClr val="000000"/>
                </a:solidFill>
                <a:latin typeface="맑은 고딕" pitchFamily="50" charset="-127"/>
                <a:ea typeface="맑은 고딕" pitchFamily="50" charset="-127"/>
                <a:sym typeface="Wingdings" pitchFamily="2" charset="2"/>
              </a:rPr>
              <a:t>* Part</a:t>
            </a:r>
            <a:endParaRPr lang="en-US" altLang="ko-KR" sz="1200" dirty="0">
              <a:solidFill>
                <a:srgbClr val="000000"/>
              </a:solidFill>
              <a:latin typeface="맑은 고딕" pitchFamily="50" charset="-127"/>
              <a:ea typeface="맑은 고딕" pitchFamily="50" charset="-127"/>
            </a:endParaRPr>
          </a:p>
        </p:txBody>
      </p:sp>
      <p:cxnSp>
        <p:nvCxnSpPr>
          <p:cNvPr id="28" name="직선 연결선 27"/>
          <p:cNvCxnSpPr/>
          <p:nvPr/>
        </p:nvCxnSpPr>
        <p:spPr bwMode="auto">
          <a:xfrm flipH="1" flipV="1">
            <a:off x="4283968" y="2797526"/>
            <a:ext cx="412176" cy="343442"/>
          </a:xfrm>
          <a:prstGeom prst="line">
            <a:avLst/>
          </a:prstGeom>
          <a:solidFill>
            <a:schemeClr val="accent1"/>
          </a:solidFill>
          <a:ln w="12700" cap="flat" cmpd="sng" algn="ctr">
            <a:solidFill>
              <a:schemeClr val="bg1">
                <a:lumMod val="50000"/>
              </a:schemeClr>
            </a:solidFill>
            <a:prstDash val="solid"/>
            <a:round/>
            <a:headEnd type="oval" w="med" len="med"/>
            <a:tailEnd type="none" w="med" len="med"/>
          </a:ln>
          <a:effectLst/>
        </p:spPr>
      </p:cxnSp>
      <p:sp>
        <p:nvSpPr>
          <p:cNvPr id="4" name="슬라이드 번호 개체 틀 3"/>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83</a:t>
            </a:fld>
            <a:endParaRPr lang="ko-KR" altLang="en-US" dirty="0"/>
          </a:p>
        </p:txBody>
      </p:sp>
      <p:sp>
        <p:nvSpPr>
          <p:cNvPr id="16" name="TextBox 15"/>
          <p:cNvSpPr txBox="1"/>
          <p:nvPr/>
        </p:nvSpPr>
        <p:spPr>
          <a:xfrm>
            <a:off x="179512" y="148570"/>
            <a:ext cx="4148380"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en-US" altLang="ko-KR" sz="2000" b="1" dirty="0"/>
              <a:t> </a:t>
            </a:r>
            <a:r>
              <a:rPr lang="ko-KR" altLang="en-US" sz="2000" b="1" dirty="0"/>
              <a:t> </a:t>
            </a:r>
          </a:p>
        </p:txBody>
      </p:sp>
      <p:sp>
        <p:nvSpPr>
          <p:cNvPr id="18" name="직사각형 17"/>
          <p:cNvSpPr/>
          <p:nvPr/>
        </p:nvSpPr>
        <p:spPr>
          <a:xfrm>
            <a:off x="6156176"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3019640044"/>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3" name="Rectangle 3"/>
          <p:cNvSpPr>
            <a:spLocks noChangeArrowheads="1"/>
          </p:cNvSpPr>
          <p:nvPr/>
        </p:nvSpPr>
        <p:spPr bwMode="auto">
          <a:xfrm>
            <a:off x="6786578" y="1700808"/>
            <a:ext cx="2119953" cy="1008112"/>
          </a:xfrm>
          <a:prstGeom prst="rect">
            <a:avLst/>
          </a:prstGeom>
          <a:solidFill>
            <a:srgbClr val="FFFFFF"/>
          </a:solidFill>
          <a:ln w="9525" algn="ctr">
            <a:solidFill>
              <a:schemeClr val="bg2"/>
            </a:solidFill>
            <a:miter lim="800000"/>
            <a:headEnd/>
            <a:tailEnd/>
          </a:ln>
        </p:spPr>
        <p:txBody>
          <a:bodyPr wrap="none" anchor="ctr"/>
          <a:lstStyle/>
          <a:p>
            <a:pPr>
              <a:lnSpc>
                <a:spcPct val="110000"/>
              </a:lnSpc>
              <a:buFont typeface="Wingdings" pitchFamily="2" charset="2"/>
              <a:buChar char="§"/>
            </a:pPr>
            <a:r>
              <a:rPr lang="en-US" altLang="ko-KR" sz="1200" dirty="0">
                <a:solidFill>
                  <a:srgbClr val="000000"/>
                </a:solidFill>
                <a:latin typeface="맑은 고딕" pitchFamily="50" charset="-127"/>
                <a:ea typeface="맑은 고딕" pitchFamily="50" charset="-127"/>
              </a:rPr>
              <a:t> % Study Var.  </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10%  possible</a:t>
            </a:r>
          </a:p>
          <a:p>
            <a:pPr>
              <a:lnSpc>
                <a:spcPct val="110000"/>
              </a:lnSpc>
              <a:buFont typeface="Wingdings" pitchFamily="2" charset="2"/>
              <a:buChar char="§"/>
            </a:pPr>
            <a:r>
              <a:rPr lang="en-US" altLang="ko-KR" sz="1200" dirty="0">
                <a:solidFill>
                  <a:srgbClr val="000000"/>
                </a:solidFill>
                <a:latin typeface="맑은 고딕" pitchFamily="50" charset="-127"/>
                <a:ea typeface="맑은 고딕" pitchFamily="50" charset="-127"/>
              </a:rPr>
              <a:t> % Tolerance</a:t>
            </a:r>
            <a:r>
              <a:rPr lang="ko-KR" altLang="en-US" sz="1200" dirty="0">
                <a:solidFill>
                  <a:srgbClr val="000000"/>
                </a:solidFill>
                <a:latin typeface="맑은 고딕" pitchFamily="50" charset="-127"/>
                <a:ea typeface="맑은 고딕" pitchFamily="50" charset="-127"/>
              </a:rPr>
              <a:t>  ≤ </a:t>
            </a:r>
            <a:r>
              <a:rPr lang="en-US" altLang="ko-KR" sz="1200" dirty="0">
                <a:solidFill>
                  <a:srgbClr val="000000"/>
                </a:solidFill>
                <a:latin typeface="맑은 고딕" pitchFamily="50" charset="-127"/>
                <a:ea typeface="맑은 고딕" pitchFamily="50" charset="-127"/>
              </a:rPr>
              <a:t>10%  possible</a:t>
            </a:r>
            <a:r>
              <a:rPr lang="ko-KR" altLang="en-US" sz="1200" dirty="0">
                <a:solidFill>
                  <a:srgbClr val="000000"/>
                </a:solidFill>
                <a:latin typeface="맑은 고딕" pitchFamily="50" charset="-127"/>
                <a:ea typeface="맑은 고딕" pitchFamily="50" charset="-127"/>
              </a:rPr>
              <a:t> </a:t>
            </a:r>
            <a:endParaRPr lang="en-US" altLang="ko-KR" sz="1200" dirty="0">
              <a:solidFill>
                <a:srgbClr val="000000"/>
              </a:solidFill>
              <a:latin typeface="맑은 고딕" pitchFamily="50" charset="-127"/>
              <a:ea typeface="맑은 고딕" pitchFamily="50" charset="-127"/>
            </a:endParaRPr>
          </a:p>
          <a:p>
            <a:pPr>
              <a:lnSpc>
                <a:spcPct val="110000"/>
              </a:lnSpc>
              <a:buFont typeface="Wingdings" pitchFamily="2" charset="2"/>
              <a:buChar char="§"/>
            </a:pPr>
            <a:r>
              <a:rPr lang="en-US" altLang="ko-KR" sz="1200" dirty="0">
                <a:solidFill>
                  <a:srgbClr val="000000"/>
                </a:solidFill>
                <a:latin typeface="맑은 고딕" pitchFamily="50" charset="-127"/>
                <a:ea typeface="맑은 고딕" pitchFamily="50" charset="-127"/>
              </a:rPr>
              <a:t> % Process</a:t>
            </a:r>
            <a:r>
              <a:rPr lang="ko-KR" altLang="en-US" sz="1200" dirty="0">
                <a:solidFill>
                  <a:srgbClr val="000000"/>
                </a:solidFill>
                <a:latin typeface="맑은 고딕" pitchFamily="50" charset="-127"/>
                <a:ea typeface="맑은 고딕" pitchFamily="50" charset="-127"/>
              </a:rPr>
              <a:t> ≤ </a:t>
            </a:r>
            <a:r>
              <a:rPr lang="en-US" altLang="ko-KR" sz="1200" dirty="0">
                <a:solidFill>
                  <a:srgbClr val="000000"/>
                </a:solidFill>
                <a:latin typeface="맑은 고딕" pitchFamily="50" charset="-127"/>
                <a:ea typeface="맑은 고딕" pitchFamily="50" charset="-127"/>
              </a:rPr>
              <a:t>10%  possible</a:t>
            </a:r>
            <a:r>
              <a:rPr lang="ko-KR" altLang="en-US" sz="1200" dirty="0">
                <a:solidFill>
                  <a:srgbClr val="000000"/>
                </a:solidFill>
                <a:latin typeface="맑은 고딕" pitchFamily="50" charset="-127"/>
                <a:ea typeface="맑은 고딕" pitchFamily="50" charset="-127"/>
              </a:rPr>
              <a:t> </a:t>
            </a:r>
            <a:endParaRPr lang="en-US" altLang="ko-KR" sz="1200" dirty="0">
              <a:solidFill>
                <a:srgbClr val="000000"/>
              </a:solidFill>
              <a:latin typeface="맑은 고딕" pitchFamily="50" charset="-127"/>
              <a:ea typeface="맑은 고딕" pitchFamily="50" charset="-127"/>
            </a:endParaRPr>
          </a:p>
          <a:p>
            <a:pPr>
              <a:lnSpc>
                <a:spcPct val="110000"/>
              </a:lnSpc>
              <a:buFont typeface="Wingdings" pitchFamily="2" charset="2"/>
              <a:buChar char="§"/>
            </a:pPr>
            <a:r>
              <a:rPr lang="en-US" altLang="ko-KR" sz="1200" dirty="0">
                <a:solidFill>
                  <a:srgbClr val="000000"/>
                </a:solidFill>
                <a:latin typeface="맑은 고딕" pitchFamily="50" charset="-127"/>
                <a:ea typeface="맑은 고딕" pitchFamily="50" charset="-127"/>
              </a:rPr>
              <a:t> NDC  </a:t>
            </a:r>
            <a:r>
              <a:rPr lang="ko-KR" altLang="en-US" sz="1200" dirty="0">
                <a:solidFill>
                  <a:srgbClr val="000000"/>
                </a:solidFill>
                <a:latin typeface="맑은 고딕" pitchFamily="50" charset="-127"/>
                <a:ea typeface="맑은 고딕" pitchFamily="50" charset="-127"/>
              </a:rPr>
              <a:t>≥ </a:t>
            </a:r>
            <a:r>
              <a:rPr lang="en-US" altLang="ko-KR" sz="1200" dirty="0">
                <a:solidFill>
                  <a:srgbClr val="000000"/>
                </a:solidFill>
                <a:latin typeface="맑은 고딕" pitchFamily="50" charset="-127"/>
                <a:ea typeface="맑은 고딕" pitchFamily="50" charset="-127"/>
              </a:rPr>
              <a:t>5 possible</a:t>
            </a:r>
          </a:p>
        </p:txBody>
      </p:sp>
      <p:sp>
        <p:nvSpPr>
          <p:cNvPr id="179204" name="Text Box 4"/>
          <p:cNvSpPr txBox="1">
            <a:spLocks noChangeArrowheads="1"/>
          </p:cNvSpPr>
          <p:nvPr/>
        </p:nvSpPr>
        <p:spPr bwMode="auto">
          <a:xfrm>
            <a:off x="2045677" y="1470026"/>
            <a:ext cx="1129812" cy="338554"/>
          </a:xfrm>
          <a:prstGeom prst="rect">
            <a:avLst/>
          </a:prstGeom>
          <a:noFill/>
          <a:ln w="9525" algn="ctr">
            <a:noFill/>
            <a:miter lim="800000"/>
            <a:headEnd/>
            <a:tailEnd/>
          </a:ln>
        </p:spPr>
        <p:txBody>
          <a:bodyPr>
            <a:spAutoFit/>
          </a:bodyPr>
          <a:lstStyle/>
          <a:p>
            <a:pPr algn="ctr">
              <a:spcBef>
                <a:spcPct val="50000"/>
              </a:spcBef>
            </a:pPr>
            <a:r>
              <a:rPr lang="en-US" altLang="ko-KR" sz="800" dirty="0">
                <a:solidFill>
                  <a:srgbClr val="00B050"/>
                </a:solidFill>
                <a:latin typeface="맑은 고딕" pitchFamily="50" charset="-127"/>
                <a:ea typeface="맑은 고딕" pitchFamily="50" charset="-127"/>
              </a:rPr>
              <a:t>Estimated standard deviation</a:t>
            </a:r>
            <a:endParaRPr lang="ko-KR" altLang="en-US" sz="800" dirty="0">
              <a:solidFill>
                <a:srgbClr val="00B050"/>
              </a:solidFill>
              <a:latin typeface="맑은 고딕" pitchFamily="50" charset="-127"/>
              <a:ea typeface="맑은 고딕" pitchFamily="50" charset="-127"/>
            </a:endParaRPr>
          </a:p>
        </p:txBody>
      </p:sp>
      <p:sp>
        <p:nvSpPr>
          <p:cNvPr id="179205" name="Text Box 5"/>
          <p:cNvSpPr txBox="1">
            <a:spLocks noChangeArrowheads="1"/>
          </p:cNvSpPr>
          <p:nvPr/>
        </p:nvSpPr>
        <p:spPr bwMode="auto">
          <a:xfrm>
            <a:off x="2957147" y="1331913"/>
            <a:ext cx="1405304" cy="338554"/>
          </a:xfrm>
          <a:prstGeom prst="rect">
            <a:avLst/>
          </a:prstGeom>
          <a:noFill/>
          <a:ln w="9525" algn="ctr">
            <a:noFill/>
            <a:miter lim="800000"/>
            <a:headEnd/>
            <a:tailEnd/>
          </a:ln>
        </p:spPr>
        <p:txBody>
          <a:bodyPr>
            <a:spAutoFit/>
          </a:bodyPr>
          <a:lstStyle/>
          <a:p>
            <a:pPr algn="ctr">
              <a:spcBef>
                <a:spcPct val="50000"/>
              </a:spcBef>
            </a:pPr>
            <a:r>
              <a:rPr lang="en-US" altLang="ko-KR" sz="800" dirty="0">
                <a:solidFill>
                  <a:srgbClr val="00B050"/>
                </a:solidFill>
                <a:latin typeface="맑은 고딕" pitchFamily="50" charset="-127"/>
                <a:ea typeface="맑은 고딕" pitchFamily="50" charset="-127"/>
              </a:rPr>
              <a:t>Population by cause of change 99%-Span</a:t>
            </a:r>
          </a:p>
        </p:txBody>
      </p:sp>
      <p:sp>
        <p:nvSpPr>
          <p:cNvPr id="179206" name="Text Box 6"/>
          <p:cNvSpPr txBox="1">
            <a:spLocks noChangeArrowheads="1"/>
          </p:cNvSpPr>
          <p:nvPr/>
        </p:nvSpPr>
        <p:spPr bwMode="auto">
          <a:xfrm>
            <a:off x="4162428" y="1142984"/>
            <a:ext cx="838200" cy="461665"/>
          </a:xfrm>
          <a:prstGeom prst="rect">
            <a:avLst/>
          </a:prstGeom>
          <a:noFill/>
          <a:ln w="9525" algn="ctr">
            <a:noFill/>
            <a:miter lim="800000"/>
            <a:headEnd/>
            <a:tailEnd/>
          </a:ln>
        </p:spPr>
        <p:txBody>
          <a:bodyPr>
            <a:spAutoFit/>
          </a:bodyPr>
          <a:lstStyle/>
          <a:p>
            <a:pPr algn="ctr">
              <a:spcBef>
                <a:spcPct val="50000"/>
              </a:spcBef>
            </a:pPr>
            <a:r>
              <a:rPr lang="en-US" altLang="ko-KR" sz="800" dirty="0">
                <a:solidFill>
                  <a:srgbClr val="00B050"/>
                </a:solidFill>
                <a:latin typeface="맑은 고딕" pitchFamily="50" charset="-127"/>
                <a:ea typeface="맑은 고딕" pitchFamily="50" charset="-127"/>
              </a:rPr>
              <a:t>Ratio  compare to total change</a:t>
            </a:r>
            <a:endParaRPr lang="ko-KR" altLang="en-US" sz="800" dirty="0">
              <a:solidFill>
                <a:srgbClr val="00B050"/>
              </a:solidFill>
              <a:latin typeface="맑은 고딕" pitchFamily="50" charset="-127"/>
              <a:ea typeface="맑은 고딕" pitchFamily="50" charset="-127"/>
            </a:endParaRPr>
          </a:p>
        </p:txBody>
      </p:sp>
      <p:sp>
        <p:nvSpPr>
          <p:cNvPr id="179207" name="Text Box 7"/>
          <p:cNvSpPr txBox="1">
            <a:spLocks noChangeArrowheads="1"/>
          </p:cNvSpPr>
          <p:nvPr/>
        </p:nvSpPr>
        <p:spPr bwMode="auto">
          <a:xfrm>
            <a:off x="4876808" y="1058275"/>
            <a:ext cx="838200" cy="584775"/>
          </a:xfrm>
          <a:prstGeom prst="rect">
            <a:avLst/>
          </a:prstGeom>
          <a:noFill/>
          <a:ln w="9525" algn="ctr">
            <a:noFill/>
            <a:miter lim="800000"/>
            <a:headEnd/>
            <a:tailEnd/>
          </a:ln>
        </p:spPr>
        <p:txBody>
          <a:bodyPr>
            <a:spAutoFit/>
          </a:bodyPr>
          <a:lstStyle/>
          <a:p>
            <a:pPr algn="ctr">
              <a:spcBef>
                <a:spcPct val="50000"/>
              </a:spcBef>
            </a:pPr>
            <a:r>
              <a:rPr lang="en-US" altLang="ko-KR" sz="800" dirty="0">
                <a:solidFill>
                  <a:srgbClr val="00B050"/>
                </a:solidFill>
                <a:latin typeface="맑은 고딕" pitchFamily="50" charset="-127"/>
                <a:ea typeface="맑은 고딕" pitchFamily="50" charset="-127"/>
              </a:rPr>
              <a:t>Ratio compare to specification limit</a:t>
            </a:r>
            <a:endParaRPr lang="ko-KR" altLang="en-US" sz="800" dirty="0">
              <a:solidFill>
                <a:srgbClr val="00B050"/>
              </a:solidFill>
              <a:latin typeface="맑은 고딕" pitchFamily="50" charset="-127"/>
              <a:ea typeface="맑은 고딕" pitchFamily="50" charset="-127"/>
            </a:endParaRPr>
          </a:p>
        </p:txBody>
      </p:sp>
      <p:sp>
        <p:nvSpPr>
          <p:cNvPr id="179208" name="Text Box 8"/>
          <p:cNvSpPr txBox="1">
            <a:spLocks noChangeArrowheads="1"/>
          </p:cNvSpPr>
          <p:nvPr/>
        </p:nvSpPr>
        <p:spPr bwMode="auto">
          <a:xfrm>
            <a:off x="5740379" y="1142984"/>
            <a:ext cx="1063869" cy="461665"/>
          </a:xfrm>
          <a:prstGeom prst="rect">
            <a:avLst/>
          </a:prstGeom>
          <a:noFill/>
          <a:ln w="9525" algn="ctr">
            <a:noFill/>
            <a:miter lim="800000"/>
            <a:headEnd/>
            <a:tailEnd/>
          </a:ln>
        </p:spPr>
        <p:txBody>
          <a:bodyPr>
            <a:spAutoFit/>
          </a:bodyPr>
          <a:lstStyle/>
          <a:p>
            <a:pPr algn="ctr">
              <a:spcBef>
                <a:spcPct val="50000"/>
              </a:spcBef>
            </a:pPr>
            <a:r>
              <a:rPr lang="en-US" altLang="ko-KR" sz="800" dirty="0">
                <a:solidFill>
                  <a:srgbClr val="00B050"/>
                </a:solidFill>
                <a:latin typeface="맑은 고딕" pitchFamily="50" charset="-127"/>
                <a:ea typeface="맑은 고딕" pitchFamily="50" charset="-127"/>
              </a:rPr>
              <a:t>Ratio compare to empirical process variation</a:t>
            </a:r>
            <a:endParaRPr lang="ko-KR" altLang="en-US" sz="800" dirty="0">
              <a:solidFill>
                <a:srgbClr val="00B050"/>
              </a:solidFill>
              <a:latin typeface="맑은 고딕" pitchFamily="50" charset="-127"/>
              <a:ea typeface="맑은 고딕" pitchFamily="50" charset="-127"/>
            </a:endParaRPr>
          </a:p>
        </p:txBody>
      </p:sp>
      <p:sp>
        <p:nvSpPr>
          <p:cNvPr id="19" name="TextBox 18"/>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input and result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Interpretation</a:t>
            </a:r>
          </a:p>
        </p:txBody>
      </p:sp>
      <p:sp>
        <p:nvSpPr>
          <p:cNvPr id="179219" name="Rectangle 6"/>
          <p:cNvSpPr>
            <a:spLocks noChangeArrowheads="1"/>
          </p:cNvSpPr>
          <p:nvPr/>
        </p:nvSpPr>
        <p:spPr bwMode="auto">
          <a:xfrm>
            <a:off x="681405" y="1214439"/>
            <a:ext cx="2313262"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(3) Gage R&amp;R Characteristics</a:t>
            </a:r>
          </a:p>
        </p:txBody>
      </p:sp>
      <p:sp>
        <p:nvSpPr>
          <p:cNvPr id="179220" name="Text Box 3"/>
          <p:cNvSpPr txBox="1">
            <a:spLocks noChangeArrowheads="1"/>
          </p:cNvSpPr>
          <p:nvPr/>
        </p:nvSpPr>
        <p:spPr bwMode="auto">
          <a:xfrm>
            <a:off x="6811108" y="863601"/>
            <a:ext cx="2329962" cy="769441"/>
          </a:xfrm>
          <a:prstGeom prst="rect">
            <a:avLst/>
          </a:prstGeom>
          <a:noFill/>
          <a:ln w="9525" algn="ctr">
            <a:noFill/>
            <a:miter lim="800000"/>
            <a:headEnd/>
            <a:tailEnd/>
          </a:ln>
        </p:spPr>
        <p:txBody>
          <a:bodyPr>
            <a:spAutoFit/>
          </a:bodyPr>
          <a:lstStyle/>
          <a:p>
            <a:pPr>
              <a:lnSpc>
                <a:spcPct val="110000"/>
              </a:lnSpc>
            </a:pPr>
            <a:r>
              <a:rPr lang="en-US" altLang="ko-KR" sz="1000" b="1" dirty="0">
                <a:solidFill>
                  <a:srgbClr val="0000FF"/>
                </a:solidFill>
                <a:latin typeface="맑은 고딕" pitchFamily="50" charset="-127"/>
                <a:ea typeface="맑은 고딕" pitchFamily="50" charset="-127"/>
              </a:rPr>
              <a:t>Interpretation</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p>
          <a:p>
            <a:pPr>
              <a:lnSpc>
                <a:spcPct val="110000"/>
              </a:lnSpc>
            </a:pPr>
            <a:r>
              <a:rPr lang="en-US" altLang="ko-KR" sz="1000" dirty="0">
                <a:solidFill>
                  <a:srgbClr val="000000"/>
                </a:solidFill>
                <a:latin typeface="맑은 고딕" pitchFamily="50" charset="-127"/>
                <a:ea typeface="맑은 고딕" pitchFamily="50" charset="-127"/>
              </a:rPr>
              <a:t>(3) Gage R&amp;R Characteristics</a:t>
            </a:r>
          </a:p>
          <a:p>
            <a:pPr>
              <a:lnSpc>
                <a:spcPct val="110000"/>
              </a:lnSpc>
            </a:pPr>
            <a:r>
              <a:rPr lang="en-US" altLang="ko-KR" sz="1000" dirty="0">
                <a:solidFill>
                  <a:srgbClr val="000000"/>
                </a:solidFill>
                <a:latin typeface="맑은 고딕" pitchFamily="50" charset="-127"/>
                <a:ea typeface="맑은 고딕" pitchFamily="50" charset="-127"/>
              </a:rPr>
              <a:t>      -  Consider Gage characteristic</a:t>
            </a:r>
            <a:endParaRPr lang="ko-KR" altLang="en-US"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Must meet given.</a:t>
            </a: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84</a:t>
            </a:fld>
            <a:endParaRPr lang="ko-KR" altLang="en-US" dirty="0"/>
          </a:p>
        </p:txBody>
      </p:sp>
      <p:sp>
        <p:nvSpPr>
          <p:cNvPr id="4" name="직사각형 3"/>
          <p:cNvSpPr/>
          <p:nvPr/>
        </p:nvSpPr>
        <p:spPr>
          <a:xfrm>
            <a:off x="701824" y="1408708"/>
            <a:ext cx="6030416" cy="2308324"/>
          </a:xfrm>
          <a:prstGeom prst="rect">
            <a:avLst/>
          </a:prstGeom>
        </p:spPr>
        <p:txBody>
          <a:bodyPr wrap="square">
            <a:spAutoFit/>
          </a:bodyPr>
          <a:lstStyle/>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%Tolerance   %Process</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StdDev</a:t>
            </a:r>
            <a:r>
              <a:rPr lang="en-US" altLang="ko-KR" sz="1200" dirty="0">
                <a:latin typeface="굴림체" panose="020B0609000101010101" pitchFamily="49" charset="-127"/>
                <a:ea typeface="굴림체" panose="020B0609000101010101" pitchFamily="49" charset="-127"/>
              </a:rPr>
              <a:t> (SD)  (6 × SD)       (%SV)  (SV/Toler)  (SV/Proc)</a:t>
            </a:r>
          </a:p>
          <a:p>
            <a:r>
              <a:rPr lang="pt-BR" altLang="ko-KR" sz="1200" dirty="0">
                <a:latin typeface="굴림체" panose="020B0609000101010101" pitchFamily="49" charset="-127"/>
                <a:ea typeface="굴림체" panose="020B0609000101010101" pitchFamily="49" charset="-127"/>
              </a:rPr>
              <a:t>Total Gage R&amp;R        0.023568    0.14141        7.36        8.84       6.73</a:t>
            </a:r>
          </a:p>
          <a:p>
            <a:r>
              <a:rPr lang="en-US" altLang="ko-KR" sz="1200" dirty="0">
                <a:latin typeface="굴림체" panose="020B0609000101010101" pitchFamily="49" charset="-127"/>
                <a:ea typeface="굴림체" panose="020B0609000101010101" pitchFamily="49" charset="-127"/>
              </a:rPr>
              <a:t>  Repeatability       0.014259    0.08556        4.45        5.35       4.07</a:t>
            </a:r>
          </a:p>
          <a:p>
            <a:r>
              <a:rPr lang="es-ES" altLang="ko-KR" sz="1200" dirty="0">
                <a:latin typeface="굴림체" panose="020B0609000101010101" pitchFamily="49" charset="-127"/>
                <a:ea typeface="굴림체" panose="020B0609000101010101" pitchFamily="49" charset="-127"/>
              </a:rPr>
              <a:t>  Reproducibility     0.018765    0.11259        5.86        7.04       5.36</a:t>
            </a:r>
          </a:p>
          <a:p>
            <a:r>
              <a:rPr lang="it-IT" altLang="ko-KR" sz="1200" dirty="0">
                <a:latin typeface="굴림체" panose="020B0609000101010101" pitchFamily="49" charset="-127"/>
                <a:ea typeface="굴림체" panose="020B0609000101010101" pitchFamily="49" charset="-127"/>
              </a:rPr>
              <a:t>    Operator          0.000000    0.00000        0.00        0.00       0.00</a:t>
            </a:r>
          </a:p>
          <a:p>
            <a:r>
              <a:rPr lang="en-US" altLang="ko-KR" sz="1200" dirty="0">
                <a:latin typeface="굴림체" panose="020B0609000101010101" pitchFamily="49" charset="-127"/>
                <a:ea typeface="굴림체" panose="020B0609000101010101" pitchFamily="49" charset="-127"/>
              </a:rPr>
              <a:t>    Operator*Part     0.018765    0.11259        5.86        7.04       5.36</a:t>
            </a:r>
          </a:p>
          <a:p>
            <a:r>
              <a:rPr lang="en-US" altLang="ko-KR" sz="1200" dirty="0">
                <a:latin typeface="굴림체" panose="020B0609000101010101" pitchFamily="49" charset="-127"/>
                <a:ea typeface="굴림체" panose="020B0609000101010101" pitchFamily="49" charset="-127"/>
              </a:rPr>
              <a:t>Part-To-Part          0.319565    1.91739       99.73      119.84      91.30</a:t>
            </a:r>
          </a:p>
          <a:p>
            <a:r>
              <a:rPr lang="en-US" altLang="ko-KR" sz="1200" dirty="0">
                <a:latin typeface="굴림체" panose="020B0609000101010101" pitchFamily="49" charset="-127"/>
                <a:ea typeface="굴림체" panose="020B0609000101010101" pitchFamily="49" charset="-127"/>
              </a:rPr>
              <a:t>Total Variation       0.320433    1.92260      100.00      120.16      91.55</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Number of Distinct Categories = 19</a:t>
            </a:r>
          </a:p>
        </p:txBody>
      </p:sp>
      <p:sp>
        <p:nvSpPr>
          <p:cNvPr id="26" name="TextBox 25"/>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28" name="직사각형 27"/>
          <p:cNvSpPr/>
          <p:nvPr/>
        </p:nvSpPr>
        <p:spPr>
          <a:xfrm>
            <a:off x="5886409"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
        <p:nvSpPr>
          <p:cNvPr id="3" name="직사각형 2"/>
          <p:cNvSpPr/>
          <p:nvPr/>
        </p:nvSpPr>
        <p:spPr>
          <a:xfrm>
            <a:off x="648072" y="3933056"/>
            <a:ext cx="4572000" cy="2308324"/>
          </a:xfrm>
          <a:prstGeom prst="rect">
            <a:avLst/>
          </a:prstGeom>
        </p:spPr>
        <p:txBody>
          <a:bodyPr>
            <a:spAutoFit/>
          </a:bodyPr>
          <a:lstStyle/>
          <a:p>
            <a:r>
              <a:rPr lang="en-US" altLang="ko-KR" sz="1200" b="1" dirty="0">
                <a:latin typeface="굴림체" panose="020B0609000101010101" pitchFamily="49" charset="-127"/>
                <a:ea typeface="굴림체" panose="020B0609000101010101" pitchFamily="49" charset="-127"/>
              </a:rPr>
              <a:t>(4) Probabilities of Misclassification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Joint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Part is bad and is accepted   0.002</a:t>
            </a:r>
          </a:p>
          <a:p>
            <a:r>
              <a:rPr lang="en-US" altLang="ko-KR" sz="1200" dirty="0">
                <a:latin typeface="굴림체" panose="020B0609000101010101" pitchFamily="49" charset="-127"/>
                <a:ea typeface="굴림체" panose="020B0609000101010101" pitchFamily="49" charset="-127"/>
              </a:rPr>
              <a:t>Part is good and is rejected  0.002</a:t>
            </a:r>
          </a:p>
          <a:p>
            <a:endParaRPr lang="ko-KR" altLang="en-US" sz="1200" dirty="0">
              <a:latin typeface="굴림체" panose="020B0609000101010101" pitchFamily="49" charset="-127"/>
              <a:ea typeface="굴림체" panose="020B0609000101010101" pitchFamily="49" charset="-127"/>
            </a:endParaRP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Conditional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False Accept  0.058</a:t>
            </a:r>
          </a:p>
          <a:p>
            <a:r>
              <a:rPr lang="en-US" altLang="ko-KR" sz="1200" dirty="0">
                <a:latin typeface="굴림체" panose="020B0609000101010101" pitchFamily="49" charset="-127"/>
                <a:ea typeface="굴림체" panose="020B0609000101010101" pitchFamily="49" charset="-127"/>
              </a:rPr>
              <a:t>False Reject  0.002</a:t>
            </a:r>
          </a:p>
        </p:txBody>
      </p:sp>
      <p:sp>
        <p:nvSpPr>
          <p:cNvPr id="30" name="Text Box 3"/>
          <p:cNvSpPr txBox="1">
            <a:spLocks noChangeArrowheads="1"/>
          </p:cNvSpPr>
          <p:nvPr/>
        </p:nvSpPr>
        <p:spPr bwMode="auto">
          <a:xfrm>
            <a:off x="6572264" y="3714752"/>
            <a:ext cx="2329962" cy="600164"/>
          </a:xfrm>
          <a:prstGeom prst="rect">
            <a:avLst/>
          </a:prstGeom>
          <a:noFill/>
          <a:ln w="9525" algn="ctr">
            <a:noFill/>
            <a:miter lim="800000"/>
            <a:headEnd/>
            <a:tailEnd/>
          </a:ln>
        </p:spPr>
        <p:txBody>
          <a:bodyPr>
            <a:spAutoFit/>
          </a:bodyPr>
          <a:lstStyle/>
          <a:p>
            <a:pPr>
              <a:lnSpc>
                <a:spcPct val="110000"/>
              </a:lnSpc>
            </a:pPr>
            <a:r>
              <a:rPr lang="en-US" altLang="ko-KR" sz="1000" b="1" dirty="0">
                <a:solidFill>
                  <a:srgbClr val="0000FF"/>
                </a:solidFill>
                <a:latin typeface="맑은 고딕" pitchFamily="50" charset="-127"/>
                <a:ea typeface="맑은 고딕" pitchFamily="50" charset="-127"/>
              </a:rPr>
              <a:t>Interpretation</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p>
          <a:p>
            <a:pPr>
              <a:lnSpc>
                <a:spcPct val="110000"/>
              </a:lnSpc>
            </a:pPr>
            <a:r>
              <a:rPr lang="en-US" altLang="ko-KR" sz="1000" dirty="0">
                <a:solidFill>
                  <a:srgbClr val="000000"/>
                </a:solidFill>
                <a:latin typeface="맑은 고딕" pitchFamily="50" charset="-127"/>
                <a:ea typeface="맑은 고딕" pitchFamily="50" charset="-127"/>
              </a:rPr>
              <a:t>(4) Probability of misclassification calculation</a:t>
            </a:r>
          </a:p>
        </p:txBody>
      </p:sp>
      <p:sp>
        <p:nvSpPr>
          <p:cNvPr id="6" name="TextBox 5"/>
          <p:cNvSpPr txBox="1"/>
          <p:nvPr/>
        </p:nvSpPr>
        <p:spPr>
          <a:xfrm>
            <a:off x="6663916" y="4334907"/>
            <a:ext cx="1401346" cy="246221"/>
          </a:xfrm>
          <a:prstGeom prst="rect">
            <a:avLst/>
          </a:prstGeom>
          <a:noFill/>
        </p:spPr>
        <p:txBody>
          <a:bodyPr wrap="none" rtlCol="0">
            <a:spAutoFit/>
          </a:bodyPr>
          <a:lstStyle/>
          <a:p>
            <a:r>
              <a:rPr lang="ko-KR" altLang="en-US" sz="1000" dirty="0"/>
              <a:t>①</a:t>
            </a:r>
            <a:r>
              <a:rPr lang="en-US" altLang="ko-KR" sz="1000" dirty="0"/>
              <a:t> Defect probability</a:t>
            </a:r>
            <a:endParaRPr lang="ko-KR" altLang="en-US" sz="1000" dirty="0"/>
          </a:p>
        </p:txBody>
      </p:sp>
      <p:sp>
        <p:nvSpPr>
          <p:cNvPr id="31" name="TextBox 30"/>
          <p:cNvSpPr txBox="1"/>
          <p:nvPr/>
        </p:nvSpPr>
        <p:spPr>
          <a:xfrm>
            <a:off x="6853436" y="4581128"/>
            <a:ext cx="2290563" cy="707886"/>
          </a:xfrm>
          <a:prstGeom prst="rect">
            <a:avLst/>
          </a:prstGeom>
          <a:noFill/>
        </p:spPr>
        <p:txBody>
          <a:bodyPr wrap="square" rtlCol="0">
            <a:spAutoFit/>
          </a:bodyPr>
          <a:lstStyle/>
          <a:p>
            <a:r>
              <a:rPr lang="en-US" sz="1000" dirty="0"/>
              <a:t>Misjudged rejected products as acceptable products for all parts.</a:t>
            </a:r>
          </a:p>
          <a:p>
            <a:r>
              <a:rPr lang="en-US" altLang="ko-KR" sz="1000" dirty="0"/>
              <a:t>Accepted product is rejected as rejected product</a:t>
            </a:r>
            <a:endParaRPr lang="ko-KR" altLang="en-US" sz="1000" dirty="0"/>
          </a:p>
        </p:txBody>
      </p:sp>
      <p:sp>
        <p:nvSpPr>
          <p:cNvPr id="32" name="TextBox 31"/>
          <p:cNvSpPr txBox="1"/>
          <p:nvPr/>
        </p:nvSpPr>
        <p:spPr>
          <a:xfrm>
            <a:off x="6663916" y="5321401"/>
            <a:ext cx="1739579" cy="246221"/>
          </a:xfrm>
          <a:prstGeom prst="rect">
            <a:avLst/>
          </a:prstGeom>
          <a:noFill/>
        </p:spPr>
        <p:txBody>
          <a:bodyPr wrap="none" rtlCol="0">
            <a:spAutoFit/>
          </a:bodyPr>
          <a:lstStyle/>
          <a:p>
            <a:r>
              <a:rPr lang="ko-KR" altLang="en-US" sz="1000" dirty="0"/>
              <a:t>②</a:t>
            </a:r>
            <a:r>
              <a:rPr lang="en-US" altLang="ko-KR" sz="1000" dirty="0"/>
              <a:t> Conditional probability</a:t>
            </a:r>
            <a:r>
              <a:rPr lang="ko-KR" altLang="en-US" sz="1000" dirty="0"/>
              <a:t> </a:t>
            </a:r>
          </a:p>
        </p:txBody>
      </p:sp>
      <p:sp>
        <p:nvSpPr>
          <p:cNvPr id="33" name="TextBox 32"/>
          <p:cNvSpPr txBox="1"/>
          <p:nvPr/>
        </p:nvSpPr>
        <p:spPr>
          <a:xfrm>
            <a:off x="6853437" y="5567622"/>
            <a:ext cx="2076282" cy="1169551"/>
          </a:xfrm>
          <a:prstGeom prst="rect">
            <a:avLst/>
          </a:prstGeom>
          <a:noFill/>
        </p:spPr>
        <p:txBody>
          <a:bodyPr wrap="square" rtlCol="0">
            <a:spAutoFit/>
          </a:bodyPr>
          <a:lstStyle/>
          <a:p>
            <a:r>
              <a:rPr lang="en-US" altLang="ko-KR" sz="1000" dirty="0">
                <a:sym typeface="Wingdings" panose="05000000000000000000" pitchFamily="2" charset="2"/>
              </a:rPr>
              <a:t>Misjudged rejected products as acceptable product for rejected product.</a:t>
            </a:r>
          </a:p>
          <a:p>
            <a:endParaRPr lang="en-US" altLang="ko-KR" sz="1000" dirty="0">
              <a:sym typeface="Wingdings" panose="05000000000000000000" pitchFamily="2" charset="2"/>
            </a:endParaRPr>
          </a:p>
          <a:p>
            <a:r>
              <a:rPr lang="en-US" altLang="ko-KR" sz="1000" dirty="0">
                <a:sym typeface="Wingdings" panose="05000000000000000000" pitchFamily="2" charset="2"/>
              </a:rPr>
              <a:t>Misjudged accepted product as rejected product for accepted product.</a:t>
            </a:r>
            <a:endParaRPr lang="ko-KR" altLang="en-US" sz="1000" dirty="0"/>
          </a:p>
        </p:txBody>
      </p:sp>
      <p:sp>
        <p:nvSpPr>
          <p:cNvPr id="7" name="TextBox 6"/>
          <p:cNvSpPr txBox="1"/>
          <p:nvPr/>
        </p:nvSpPr>
        <p:spPr>
          <a:xfrm>
            <a:off x="429418" y="4308403"/>
            <a:ext cx="312906" cy="246221"/>
          </a:xfrm>
          <a:prstGeom prst="rect">
            <a:avLst/>
          </a:prstGeom>
          <a:noFill/>
        </p:spPr>
        <p:txBody>
          <a:bodyPr wrap="none" rtlCol="0">
            <a:spAutoFit/>
          </a:bodyPr>
          <a:lstStyle/>
          <a:p>
            <a:r>
              <a:rPr lang="ko-KR" altLang="en-US" sz="1000" dirty="0"/>
              <a:t>①</a:t>
            </a:r>
          </a:p>
        </p:txBody>
      </p:sp>
      <p:sp>
        <p:nvSpPr>
          <p:cNvPr id="34" name="TextBox 33"/>
          <p:cNvSpPr txBox="1"/>
          <p:nvPr/>
        </p:nvSpPr>
        <p:spPr>
          <a:xfrm>
            <a:off x="429418" y="5412972"/>
            <a:ext cx="312906" cy="246221"/>
          </a:xfrm>
          <a:prstGeom prst="rect">
            <a:avLst/>
          </a:prstGeom>
          <a:noFill/>
        </p:spPr>
        <p:txBody>
          <a:bodyPr wrap="none" rtlCol="0">
            <a:spAutoFit/>
          </a:bodyPr>
          <a:lstStyle/>
          <a:p>
            <a:r>
              <a:rPr lang="ko-KR" altLang="en-US" sz="1000" dirty="0"/>
              <a:t>②</a:t>
            </a:r>
          </a:p>
        </p:txBody>
      </p:sp>
    </p:spTree>
    <p:extLst>
      <p:ext uri="{BB962C8B-B14F-4D97-AF65-F5344CB8AC3E}">
        <p14:creationId xmlns:p14="http://schemas.microsoft.com/office/powerpoint/2010/main" val="167032125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04" name="Picture 4"/>
          <p:cNvPicPr>
            <a:picLocks noChangeAspect="1" noChangeArrowheads="1"/>
          </p:cNvPicPr>
          <p:nvPr/>
        </p:nvPicPr>
        <p:blipFill>
          <a:blip r:embed="rId2" cstate="print"/>
          <a:srcRect/>
          <a:stretch>
            <a:fillRect/>
          </a:stretch>
        </p:blipFill>
        <p:spPr bwMode="auto">
          <a:xfrm>
            <a:off x="1049147" y="1484784"/>
            <a:ext cx="4386949" cy="3096344"/>
          </a:xfrm>
          <a:prstGeom prst="rect">
            <a:avLst/>
          </a:prstGeom>
          <a:noFill/>
          <a:ln w="9525">
            <a:noFill/>
            <a:miter lim="800000"/>
            <a:headEnd/>
            <a:tailEnd/>
          </a:ln>
        </p:spPr>
      </p:pic>
      <p:sp>
        <p:nvSpPr>
          <p:cNvPr id="180227" name="Oval 4"/>
          <p:cNvSpPr>
            <a:spLocks noChangeArrowheads="1"/>
          </p:cNvSpPr>
          <p:nvPr/>
        </p:nvSpPr>
        <p:spPr bwMode="auto">
          <a:xfrm>
            <a:off x="1173773" y="2346325"/>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A</a:t>
            </a:r>
          </a:p>
        </p:txBody>
      </p:sp>
      <p:sp>
        <p:nvSpPr>
          <p:cNvPr id="180228" name="Oval 5"/>
          <p:cNvSpPr>
            <a:spLocks noChangeArrowheads="1"/>
          </p:cNvSpPr>
          <p:nvPr/>
        </p:nvSpPr>
        <p:spPr bwMode="auto">
          <a:xfrm>
            <a:off x="1173773" y="3205163"/>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B</a:t>
            </a:r>
          </a:p>
        </p:txBody>
      </p:sp>
      <p:sp>
        <p:nvSpPr>
          <p:cNvPr id="180229" name="Oval 6"/>
          <p:cNvSpPr>
            <a:spLocks noChangeArrowheads="1"/>
          </p:cNvSpPr>
          <p:nvPr/>
        </p:nvSpPr>
        <p:spPr bwMode="auto">
          <a:xfrm>
            <a:off x="1173773" y="3971925"/>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C</a:t>
            </a:r>
          </a:p>
        </p:txBody>
      </p:sp>
      <p:sp>
        <p:nvSpPr>
          <p:cNvPr id="180230" name="Oval 7"/>
          <p:cNvSpPr>
            <a:spLocks noChangeArrowheads="1"/>
          </p:cNvSpPr>
          <p:nvPr/>
        </p:nvSpPr>
        <p:spPr bwMode="auto">
          <a:xfrm>
            <a:off x="3348404" y="2343150"/>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D</a:t>
            </a:r>
          </a:p>
        </p:txBody>
      </p:sp>
      <p:sp>
        <p:nvSpPr>
          <p:cNvPr id="180231" name="Oval 8"/>
          <p:cNvSpPr>
            <a:spLocks noChangeArrowheads="1"/>
          </p:cNvSpPr>
          <p:nvPr/>
        </p:nvSpPr>
        <p:spPr bwMode="auto">
          <a:xfrm>
            <a:off x="3348404" y="3201988"/>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E</a:t>
            </a:r>
          </a:p>
        </p:txBody>
      </p:sp>
      <p:sp>
        <p:nvSpPr>
          <p:cNvPr id="180232" name="Oval 9"/>
          <p:cNvSpPr>
            <a:spLocks noChangeArrowheads="1"/>
          </p:cNvSpPr>
          <p:nvPr/>
        </p:nvSpPr>
        <p:spPr bwMode="auto">
          <a:xfrm>
            <a:off x="3348404" y="3968750"/>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F</a:t>
            </a:r>
          </a:p>
        </p:txBody>
      </p:sp>
      <p:sp>
        <p:nvSpPr>
          <p:cNvPr id="11" name="Rectangle 11"/>
          <p:cNvSpPr>
            <a:spLocks noChangeArrowheads="1"/>
          </p:cNvSpPr>
          <p:nvPr/>
        </p:nvSpPr>
        <p:spPr bwMode="auto">
          <a:xfrm>
            <a:off x="963829" y="4654550"/>
            <a:ext cx="4121181" cy="457200"/>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buFontTx/>
              <a:buChar char="-"/>
              <a:defRPr/>
            </a:pPr>
            <a:r>
              <a:rPr lang="en-US" altLang="ko-KR" sz="1100" dirty="0">
                <a:solidFill>
                  <a:srgbClr val="000000"/>
                </a:solidFill>
                <a:latin typeface="맑은 고딕" pitchFamily="50" charset="-127"/>
                <a:ea typeface="맑은 고딕" pitchFamily="50" charset="-127"/>
              </a:rPr>
              <a:t> Represents the percentage of change by item considered</a:t>
            </a:r>
            <a:br>
              <a:rPr lang="en-US" altLang="ko-KR" sz="1100" dirty="0">
                <a:solidFill>
                  <a:srgbClr val="000000"/>
                </a:solidFill>
                <a:latin typeface="맑은 고딕" pitchFamily="50" charset="-127"/>
                <a:ea typeface="맑은 고딕" pitchFamily="50" charset="-127"/>
              </a:rPr>
            </a:br>
            <a:r>
              <a:rPr lang="en-US" altLang="ko-KR" sz="1100" dirty="0">
                <a:solidFill>
                  <a:srgbClr val="000000"/>
                </a:solidFill>
                <a:latin typeface="맑은 고딕" pitchFamily="50" charset="-127"/>
                <a:ea typeface="맑은 고딕" pitchFamily="50" charset="-127"/>
              </a:rPr>
              <a:t>- It is desirable that the proportion of Gage R&amp;R is small    </a:t>
            </a:r>
          </a:p>
          <a:p>
            <a:pPr>
              <a:spcBef>
                <a:spcPts val="0"/>
              </a:spcBef>
              <a:defRPr/>
            </a:pPr>
            <a:r>
              <a:rPr lang="en-US" altLang="ko-KR" sz="1100" dirty="0">
                <a:solidFill>
                  <a:srgbClr val="000000"/>
                </a:solidFill>
                <a:latin typeface="맑은 고딕" pitchFamily="50" charset="-127"/>
                <a:ea typeface="맑은 고딕" pitchFamily="50" charset="-127"/>
              </a:rPr>
              <a:t>  enough compared to Part-to-Part.</a:t>
            </a:r>
            <a:endParaRPr lang="ko-KR" altLang="en-US" sz="1100" dirty="0">
              <a:solidFill>
                <a:srgbClr val="000000"/>
              </a:solidFill>
              <a:latin typeface="맑은 고딕" pitchFamily="50" charset="-127"/>
              <a:ea typeface="맑은 고딕" pitchFamily="50" charset="-127"/>
            </a:endParaRPr>
          </a:p>
        </p:txBody>
      </p:sp>
      <p:sp>
        <p:nvSpPr>
          <p:cNvPr id="180234" name="Oval 12"/>
          <p:cNvSpPr>
            <a:spLocks noChangeArrowheads="1"/>
          </p:cNvSpPr>
          <p:nvPr/>
        </p:nvSpPr>
        <p:spPr bwMode="auto">
          <a:xfrm>
            <a:off x="654633" y="4765675"/>
            <a:ext cx="24159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A</a:t>
            </a:r>
          </a:p>
        </p:txBody>
      </p:sp>
      <p:sp>
        <p:nvSpPr>
          <p:cNvPr id="13" name="Rectangle 13"/>
          <p:cNvSpPr>
            <a:spLocks noChangeArrowheads="1"/>
          </p:cNvSpPr>
          <p:nvPr/>
        </p:nvSpPr>
        <p:spPr bwMode="auto">
          <a:xfrm>
            <a:off x="963829" y="5173664"/>
            <a:ext cx="4251113" cy="579437"/>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buFontTx/>
              <a:buChar char="-"/>
              <a:defRPr/>
            </a:pPr>
            <a:r>
              <a:rPr lang="en-US" sz="1100" dirty="0"/>
              <a:t> Represents the range of measurement of individual measurer.</a:t>
            </a:r>
            <a:br>
              <a:rPr lang="en-US" sz="1100" dirty="0"/>
            </a:br>
            <a:r>
              <a:rPr lang="en-US" sz="1100" dirty="0"/>
              <a:t>- It is desirable that the measurement consistency and </a:t>
            </a:r>
            <a:r>
              <a:rPr lang="en-US" sz="1100" dirty="0" err="1"/>
              <a:t>repeata</a:t>
            </a:r>
            <a:endParaRPr lang="en-US" sz="1100" dirty="0"/>
          </a:p>
          <a:p>
            <a:pPr>
              <a:spcBef>
                <a:spcPts val="0"/>
              </a:spcBef>
              <a:defRPr/>
            </a:pPr>
            <a:r>
              <a:rPr lang="en-US" sz="1100" dirty="0"/>
              <a:t>  </a:t>
            </a:r>
            <a:r>
              <a:rPr lang="en-US" sz="1100" dirty="0" err="1"/>
              <a:t>bility</a:t>
            </a:r>
            <a:r>
              <a:rPr lang="en-US" sz="1100" dirty="0"/>
              <a:t> of the measurer, all points are within the control limits.</a:t>
            </a:r>
            <a:endParaRPr lang="ko-KR" altLang="en-US" sz="1100" dirty="0">
              <a:solidFill>
                <a:srgbClr val="000000"/>
              </a:solidFill>
              <a:latin typeface="맑은 고딕" pitchFamily="50" charset="-127"/>
              <a:ea typeface="맑은 고딕" pitchFamily="50" charset="-127"/>
            </a:endParaRPr>
          </a:p>
        </p:txBody>
      </p:sp>
      <p:sp>
        <p:nvSpPr>
          <p:cNvPr id="180236" name="Oval 14"/>
          <p:cNvSpPr>
            <a:spLocks noChangeArrowheads="1"/>
          </p:cNvSpPr>
          <p:nvPr/>
        </p:nvSpPr>
        <p:spPr bwMode="auto">
          <a:xfrm>
            <a:off x="642910" y="5354638"/>
            <a:ext cx="24159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B</a:t>
            </a:r>
          </a:p>
        </p:txBody>
      </p:sp>
      <p:sp>
        <p:nvSpPr>
          <p:cNvPr id="15" name="Rectangle 15"/>
          <p:cNvSpPr>
            <a:spLocks noChangeArrowheads="1"/>
          </p:cNvSpPr>
          <p:nvPr/>
        </p:nvSpPr>
        <p:spPr bwMode="auto">
          <a:xfrm>
            <a:off x="963829" y="5818189"/>
            <a:ext cx="4393989" cy="1039811"/>
          </a:xfrm>
          <a:prstGeom prst="rect">
            <a:avLst/>
          </a:prstGeom>
          <a:solidFill>
            <a:schemeClr val="bg1"/>
          </a:solidFill>
          <a:ln w="9525" algn="ctr">
            <a:solidFill>
              <a:schemeClr val="bg1">
                <a:lumMod val="50000"/>
              </a:schemeClr>
            </a:solidFill>
            <a:miter lim="800000"/>
            <a:headEnd/>
            <a:tailEnd/>
          </a:ln>
        </p:spPr>
        <p:txBody>
          <a:bodyPr anchor="ctr"/>
          <a:lstStyle/>
          <a:p>
            <a:pPr>
              <a:buFontTx/>
              <a:buChar char="-"/>
              <a:defRPr/>
            </a:pPr>
            <a:r>
              <a:rPr lang="en-US" altLang="ko-KR" sz="1100" dirty="0">
                <a:solidFill>
                  <a:srgbClr val="000000"/>
                </a:solidFill>
                <a:latin typeface="맑은 고딕" pitchFamily="50" charset="-127"/>
                <a:ea typeface="맑은 고딕" pitchFamily="50" charset="-127"/>
              </a:rPr>
              <a:t> Average representation of the measured value of the individual </a:t>
            </a:r>
          </a:p>
          <a:p>
            <a:pPr>
              <a:defRPr/>
            </a:pPr>
            <a:r>
              <a:rPr lang="en-US" altLang="ko-KR" sz="1100" dirty="0">
                <a:solidFill>
                  <a:srgbClr val="000000"/>
                </a:solidFill>
                <a:latin typeface="맑은 고딕" pitchFamily="50" charset="-127"/>
                <a:ea typeface="맑은 고딕" pitchFamily="50" charset="-127"/>
              </a:rPr>
              <a:t>  measurer.</a:t>
            </a:r>
            <a:br>
              <a:rPr lang="en-US" altLang="ko-KR" sz="1100" dirty="0">
                <a:solidFill>
                  <a:srgbClr val="000000"/>
                </a:solidFill>
                <a:latin typeface="맑은 고딕" pitchFamily="50" charset="-127"/>
                <a:ea typeface="맑은 고딕" pitchFamily="50" charset="-127"/>
              </a:rPr>
            </a:br>
            <a:r>
              <a:rPr lang="en-US" altLang="ko-KR" sz="1100" dirty="0">
                <a:solidFill>
                  <a:srgbClr val="000000"/>
                </a:solidFill>
                <a:latin typeface="맑은 고딕" pitchFamily="50" charset="-127"/>
                <a:ea typeface="맑은 고딕" pitchFamily="50" charset="-127"/>
              </a:rPr>
              <a:t>- Confirm the measurement consistency of the measurer and the </a:t>
            </a:r>
          </a:p>
          <a:p>
            <a:pPr>
              <a:defRPr/>
            </a:pPr>
            <a:r>
              <a:rPr lang="en-US" altLang="ko-KR" sz="1100" dirty="0">
                <a:solidFill>
                  <a:srgbClr val="000000"/>
                </a:solidFill>
                <a:latin typeface="맑은 고딕" pitchFamily="50" charset="-127"/>
                <a:ea typeface="맑은 고딕" pitchFamily="50" charset="-127"/>
              </a:rPr>
              <a:t>  suitability of use of the instrument.</a:t>
            </a:r>
            <a:br>
              <a:rPr lang="en-US" altLang="ko-KR" sz="1100" dirty="0">
                <a:solidFill>
                  <a:srgbClr val="000000"/>
                </a:solidFill>
                <a:latin typeface="맑은 고딕" pitchFamily="50" charset="-127"/>
                <a:ea typeface="맑은 고딕" pitchFamily="50" charset="-127"/>
              </a:rPr>
            </a:br>
            <a:r>
              <a:rPr lang="en-US" altLang="ko-KR" sz="1100" dirty="0">
                <a:solidFill>
                  <a:srgbClr val="000000"/>
                </a:solidFill>
                <a:latin typeface="맑은 고딕" pitchFamily="50" charset="-127"/>
                <a:ea typeface="맑은 고딕" pitchFamily="50" charset="-127"/>
              </a:rPr>
              <a:t>- </a:t>
            </a:r>
            <a:r>
              <a:rPr lang="en-US" sz="1100" dirty="0"/>
              <a:t>It is desirable that 50% or more of the average values of the </a:t>
            </a:r>
          </a:p>
          <a:p>
            <a:pPr>
              <a:defRPr/>
            </a:pPr>
            <a:r>
              <a:rPr lang="en-US" sz="1100" dirty="0"/>
              <a:t>  measurer are out of the control limit line.</a:t>
            </a:r>
          </a:p>
        </p:txBody>
      </p:sp>
      <p:sp>
        <p:nvSpPr>
          <p:cNvPr id="180238" name="Oval 16"/>
          <p:cNvSpPr>
            <a:spLocks noChangeArrowheads="1"/>
          </p:cNvSpPr>
          <p:nvPr/>
        </p:nvSpPr>
        <p:spPr bwMode="auto">
          <a:xfrm>
            <a:off x="653167" y="6053138"/>
            <a:ext cx="24159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C</a:t>
            </a:r>
          </a:p>
        </p:txBody>
      </p:sp>
      <p:sp>
        <p:nvSpPr>
          <p:cNvPr id="17" name="Rectangle 17"/>
          <p:cNvSpPr>
            <a:spLocks noChangeArrowheads="1"/>
          </p:cNvSpPr>
          <p:nvPr/>
        </p:nvSpPr>
        <p:spPr bwMode="auto">
          <a:xfrm>
            <a:off x="5719396" y="4429132"/>
            <a:ext cx="3245091" cy="857256"/>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buFontTx/>
              <a:buChar char="-"/>
              <a:defRPr/>
            </a:pPr>
            <a:r>
              <a:rPr lang="en-US" sz="1100" dirty="0"/>
              <a:t> Represent the measured value of each part </a:t>
            </a:r>
          </a:p>
          <a:p>
            <a:pPr>
              <a:spcBef>
                <a:spcPts val="0"/>
              </a:spcBef>
              <a:defRPr/>
            </a:pPr>
            <a:r>
              <a:rPr lang="en-US" sz="1100" dirty="0"/>
              <a:t>  without distinguishing the measurer.</a:t>
            </a:r>
            <a:br>
              <a:rPr lang="en-US" sz="1100" dirty="0"/>
            </a:br>
            <a:r>
              <a:rPr lang="en-US" sz="1100" dirty="0"/>
              <a:t>- The dispersion of the measured value of each </a:t>
            </a:r>
          </a:p>
          <a:p>
            <a:pPr>
              <a:spcBef>
                <a:spcPts val="0"/>
              </a:spcBef>
              <a:defRPr/>
            </a:pPr>
            <a:r>
              <a:rPr lang="en-US" sz="1100" dirty="0"/>
              <a:t>  part should be small, and the average value</a:t>
            </a:r>
          </a:p>
          <a:p>
            <a:pPr>
              <a:spcBef>
                <a:spcPts val="0"/>
              </a:spcBef>
              <a:defRPr/>
            </a:pPr>
            <a:r>
              <a:rPr lang="en-US" sz="1100" dirty="0"/>
              <a:t>  of each part should be large.</a:t>
            </a:r>
            <a:endParaRPr lang="ko-KR" altLang="en-US" sz="1100" dirty="0">
              <a:solidFill>
                <a:srgbClr val="000000"/>
              </a:solidFill>
              <a:latin typeface="맑은 고딕" pitchFamily="50" charset="-127"/>
              <a:ea typeface="맑은 고딕" pitchFamily="50" charset="-127"/>
            </a:endParaRPr>
          </a:p>
        </p:txBody>
      </p:sp>
      <p:sp>
        <p:nvSpPr>
          <p:cNvPr id="180240" name="Oval 18"/>
          <p:cNvSpPr>
            <a:spLocks noChangeArrowheads="1"/>
          </p:cNvSpPr>
          <p:nvPr/>
        </p:nvSpPr>
        <p:spPr bwMode="auto">
          <a:xfrm>
            <a:off x="5435112" y="4624394"/>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D</a:t>
            </a:r>
          </a:p>
        </p:txBody>
      </p:sp>
      <p:sp>
        <p:nvSpPr>
          <p:cNvPr id="19" name="Rectangle 19"/>
          <p:cNvSpPr>
            <a:spLocks noChangeArrowheads="1"/>
          </p:cNvSpPr>
          <p:nvPr/>
        </p:nvSpPr>
        <p:spPr bwMode="auto">
          <a:xfrm>
            <a:off x="5713534" y="5394346"/>
            <a:ext cx="3250953" cy="677860"/>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buFontTx/>
              <a:buChar char="-"/>
              <a:defRPr/>
            </a:pPr>
            <a:r>
              <a:rPr lang="en-US" sz="1100" dirty="0"/>
              <a:t>Representation of measured value by</a:t>
            </a:r>
          </a:p>
          <a:p>
            <a:pPr>
              <a:spcBef>
                <a:spcPts val="0"/>
              </a:spcBef>
              <a:defRPr/>
            </a:pPr>
            <a:r>
              <a:rPr lang="en-US" sz="1100" dirty="0"/>
              <a:t>  measuring without distinguishing parts</a:t>
            </a:r>
            <a:br>
              <a:rPr lang="en-US" sz="1100" dirty="0"/>
            </a:br>
            <a:r>
              <a:rPr lang="en-US" sz="1100" dirty="0"/>
              <a:t>- It is desirable that the average of connecting</a:t>
            </a:r>
          </a:p>
          <a:p>
            <a:pPr>
              <a:spcBef>
                <a:spcPts val="0"/>
              </a:spcBef>
              <a:defRPr/>
            </a:pPr>
            <a:r>
              <a:rPr lang="en-US" sz="1100" dirty="0"/>
              <a:t>  line for each measurer is horizontal.</a:t>
            </a:r>
            <a:endParaRPr lang="ko-KR" altLang="en-US" sz="1100" dirty="0">
              <a:solidFill>
                <a:srgbClr val="000000"/>
              </a:solidFill>
              <a:latin typeface="맑은 고딕" pitchFamily="50" charset="-127"/>
              <a:ea typeface="맑은 고딕" pitchFamily="50" charset="-127"/>
            </a:endParaRPr>
          </a:p>
        </p:txBody>
      </p:sp>
      <p:sp>
        <p:nvSpPr>
          <p:cNvPr id="180242" name="Oval 20"/>
          <p:cNvSpPr>
            <a:spLocks noChangeArrowheads="1"/>
          </p:cNvSpPr>
          <p:nvPr/>
        </p:nvSpPr>
        <p:spPr bwMode="auto">
          <a:xfrm>
            <a:off x="5429250" y="5484834"/>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E</a:t>
            </a:r>
          </a:p>
        </p:txBody>
      </p:sp>
      <p:sp>
        <p:nvSpPr>
          <p:cNvPr id="21" name="Rectangle 21"/>
          <p:cNvSpPr>
            <a:spLocks noChangeArrowheads="1"/>
          </p:cNvSpPr>
          <p:nvPr/>
        </p:nvSpPr>
        <p:spPr bwMode="auto">
          <a:xfrm>
            <a:off x="5712077" y="6156348"/>
            <a:ext cx="3242160" cy="701652"/>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ko-KR" altLang="en-US" sz="1100" dirty="0">
                <a:solidFill>
                  <a:srgbClr val="000000"/>
                </a:solidFill>
                <a:latin typeface="맑은 고딕" pitchFamily="50" charset="-127"/>
                <a:ea typeface="맑은 고딕" pitchFamily="50" charset="-127"/>
              </a:rPr>
              <a:t> </a:t>
            </a:r>
            <a:r>
              <a:rPr lang="en-US" altLang="ko-KR" sz="1100" dirty="0">
                <a:solidFill>
                  <a:srgbClr val="000000"/>
                </a:solidFill>
                <a:latin typeface="맑은 고딕" pitchFamily="50" charset="-127"/>
                <a:ea typeface="맑은 고딕" pitchFamily="50" charset="-127"/>
              </a:rPr>
              <a:t>- </a:t>
            </a:r>
            <a:r>
              <a:rPr lang="en-US" sz="1100" dirty="0"/>
              <a:t>If there are many parts where the average</a:t>
            </a:r>
          </a:p>
          <a:p>
            <a:pPr>
              <a:spcBef>
                <a:spcPts val="0"/>
              </a:spcBef>
              <a:defRPr/>
            </a:pPr>
            <a:r>
              <a:rPr lang="en-US" sz="1100" dirty="0"/>
              <a:t>   values of the measurers cross each other for </a:t>
            </a:r>
          </a:p>
          <a:p>
            <a:pPr>
              <a:spcBef>
                <a:spcPts val="0"/>
              </a:spcBef>
              <a:defRPr/>
            </a:pPr>
            <a:r>
              <a:rPr lang="en-US" sz="1100" dirty="0"/>
              <a:t>   each part, it is judged that there is an </a:t>
            </a:r>
          </a:p>
          <a:p>
            <a:pPr>
              <a:spcBef>
                <a:spcPts val="0"/>
              </a:spcBef>
              <a:defRPr/>
            </a:pPr>
            <a:r>
              <a:rPr lang="en-US" sz="1100" dirty="0"/>
              <a:t>   interaction.</a:t>
            </a:r>
            <a:endParaRPr lang="en-US" altLang="ko-KR" sz="1100" dirty="0">
              <a:solidFill>
                <a:srgbClr val="000000"/>
              </a:solidFill>
              <a:latin typeface="맑은 고딕" pitchFamily="50" charset="-127"/>
              <a:ea typeface="맑은 고딕" pitchFamily="50" charset="-127"/>
            </a:endParaRPr>
          </a:p>
        </p:txBody>
      </p:sp>
      <p:sp>
        <p:nvSpPr>
          <p:cNvPr id="180244" name="Oval 22"/>
          <p:cNvSpPr>
            <a:spLocks noChangeArrowheads="1"/>
          </p:cNvSpPr>
          <p:nvPr/>
        </p:nvSpPr>
        <p:spPr bwMode="auto">
          <a:xfrm>
            <a:off x="5429256" y="6235723"/>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F</a:t>
            </a:r>
          </a:p>
        </p:txBody>
      </p:sp>
      <p:sp>
        <p:nvSpPr>
          <p:cNvPr id="23" name="Rectangle 23"/>
          <p:cNvSpPr>
            <a:spLocks noChangeArrowheads="1"/>
          </p:cNvSpPr>
          <p:nvPr/>
        </p:nvSpPr>
        <p:spPr bwMode="auto">
          <a:xfrm>
            <a:off x="5627077" y="2571854"/>
            <a:ext cx="3302641" cy="1666546"/>
          </a:xfrm>
          <a:prstGeom prst="rect">
            <a:avLst/>
          </a:prstGeom>
          <a:solidFill>
            <a:schemeClr val="bg1"/>
          </a:solidFill>
          <a:ln w="28575" algn="ctr">
            <a:solidFill>
              <a:schemeClr val="bg1">
                <a:lumMod val="50000"/>
              </a:schemeClr>
            </a:solidFill>
            <a:miter lim="800000"/>
            <a:headEnd/>
            <a:tailEnd/>
          </a:ln>
        </p:spPr>
        <p:txBody>
          <a:bodyPr wrap="square" lIns="54000" rIns="54000" anchor="ctr">
            <a:spAutoFit/>
          </a:bodyPr>
          <a:lstStyle/>
          <a:p>
            <a:pPr>
              <a:lnSpc>
                <a:spcPct val="150000"/>
              </a:lnSpc>
              <a:spcBef>
                <a:spcPts val="0"/>
              </a:spcBef>
              <a:defRPr/>
            </a:pPr>
            <a:r>
              <a:rPr lang="en-US" altLang="ko-KR" sz="1400" b="1" dirty="0">
                <a:solidFill>
                  <a:srgbClr val="000000"/>
                </a:solidFill>
                <a:latin typeface="맑은 고딕" pitchFamily="50" charset="-127"/>
                <a:ea typeface="맑은 고딕" pitchFamily="50" charset="-127"/>
              </a:rPr>
              <a:t>Even if all of the Gage R &amp; R Characteristic are satisfactory, you should consider the problem or the possibility of further improvement through the graph.</a:t>
            </a:r>
          </a:p>
        </p:txBody>
      </p:sp>
      <p:sp>
        <p:nvSpPr>
          <p:cNvPr id="25" name="TextBox 24"/>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input and result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Interpretation</a:t>
            </a:r>
          </a:p>
        </p:txBody>
      </p:sp>
      <p:sp>
        <p:nvSpPr>
          <p:cNvPr id="180248" name="Rectangle 6"/>
          <p:cNvSpPr>
            <a:spLocks noChangeArrowheads="1"/>
          </p:cNvSpPr>
          <p:nvPr/>
        </p:nvSpPr>
        <p:spPr bwMode="auto">
          <a:xfrm>
            <a:off x="681405" y="1214439"/>
            <a:ext cx="2385589"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(4) Diagnostics with Graphs- I</a:t>
            </a:r>
          </a:p>
        </p:txBody>
      </p:sp>
      <p:sp>
        <p:nvSpPr>
          <p:cNvPr id="180249" name="Text Box 3"/>
          <p:cNvSpPr txBox="1">
            <a:spLocks noChangeArrowheads="1"/>
          </p:cNvSpPr>
          <p:nvPr/>
        </p:nvSpPr>
        <p:spPr bwMode="auto">
          <a:xfrm>
            <a:off x="6660232" y="863601"/>
            <a:ext cx="2480838" cy="1277273"/>
          </a:xfrm>
          <a:prstGeom prst="rect">
            <a:avLst/>
          </a:prstGeom>
          <a:noFill/>
          <a:ln w="9525" algn="ctr">
            <a:noFill/>
            <a:miter lim="800000"/>
            <a:headEnd/>
            <a:tailEnd/>
          </a:ln>
        </p:spPr>
        <p:txBody>
          <a:bodyPr wrap="square">
            <a:spAutoFit/>
          </a:bodyPr>
          <a:lstStyle/>
          <a:p>
            <a:pPr>
              <a:lnSpc>
                <a:spcPct val="110000"/>
              </a:lnSpc>
            </a:pPr>
            <a:r>
              <a:rPr lang="en-US" altLang="ko-KR" sz="1000" b="1" dirty="0">
                <a:solidFill>
                  <a:srgbClr val="0000FF"/>
                </a:solidFill>
                <a:latin typeface="맑은 고딕" pitchFamily="50" charset="-127"/>
                <a:ea typeface="맑은 고딕" pitchFamily="50" charset="-127"/>
              </a:rPr>
              <a:t>Interpretation</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endParaRPr lang="ko-KR" altLang="en-US" sz="1000" b="1" dirty="0">
              <a:solidFill>
                <a:srgbClr val="0000FF"/>
              </a:solidFill>
              <a:latin typeface="맑은 고딕" pitchFamily="50" charset="-127"/>
              <a:ea typeface="맑은 고딕" pitchFamily="50" charset="-127"/>
            </a:endParaRPr>
          </a:p>
          <a:p>
            <a:pPr>
              <a:lnSpc>
                <a:spcPct val="110000"/>
              </a:lnSpc>
            </a:pPr>
            <a:r>
              <a:rPr lang="en-US" altLang="ko-KR" sz="1000" dirty="0">
                <a:solidFill>
                  <a:srgbClr val="000000"/>
                </a:solidFill>
                <a:latin typeface="맑은 고딕" pitchFamily="50" charset="-127"/>
                <a:ea typeface="맑은 고딕" pitchFamily="50" charset="-127"/>
              </a:rPr>
              <a:t>(4) Diagnostics with Graphics</a:t>
            </a:r>
          </a:p>
          <a:p>
            <a:pPr>
              <a:lnSpc>
                <a:spcPct val="110000"/>
              </a:lnSpc>
            </a:pPr>
            <a:r>
              <a:rPr lang="en-US" altLang="ko-KR" sz="1000" dirty="0">
                <a:solidFill>
                  <a:srgbClr val="000000"/>
                </a:solidFill>
                <a:latin typeface="맑은 고딕" pitchFamily="50" charset="-127"/>
                <a:ea typeface="맑은 고딕" pitchFamily="50" charset="-127"/>
              </a:rPr>
              <a:t>      - Consider the cause and </a:t>
            </a:r>
          </a:p>
          <a:p>
            <a:pPr>
              <a:lnSpc>
                <a:spcPct val="110000"/>
              </a:lnSpc>
            </a:pPr>
            <a:r>
              <a:rPr lang="en-US" altLang="ko-KR" sz="1000" dirty="0">
                <a:solidFill>
                  <a:srgbClr val="000000"/>
                </a:solidFill>
                <a:latin typeface="맑은 고딕" pitchFamily="50" charset="-127"/>
                <a:ea typeface="맑은 고딕" pitchFamily="50" charset="-127"/>
              </a:rPr>
              <a:t>         improvement target</a:t>
            </a:r>
            <a:endParaRPr lang="ko-KR" altLang="en-US"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Even if it meets criteria of (3), </a:t>
            </a:r>
            <a:r>
              <a:rPr lang="en-US" sz="1000" dirty="0"/>
              <a:t>the </a:t>
            </a:r>
          </a:p>
          <a:p>
            <a:pPr>
              <a:lnSpc>
                <a:spcPct val="110000"/>
              </a:lnSpc>
            </a:pPr>
            <a:r>
              <a:rPr lang="en-US" sz="1000" dirty="0"/>
              <a:t>       results of the individual items </a:t>
            </a:r>
          </a:p>
          <a:p>
            <a:pPr>
              <a:lnSpc>
                <a:spcPct val="110000"/>
              </a:lnSpc>
            </a:pPr>
            <a:r>
              <a:rPr lang="en-US" sz="1000" dirty="0"/>
              <a:t>       must be appropriate</a:t>
            </a:r>
            <a:r>
              <a:rPr lang="en-US" altLang="ko-KR" sz="1000" dirty="0">
                <a:solidFill>
                  <a:srgbClr val="000000"/>
                </a:solidFill>
                <a:latin typeface="맑은 고딕" pitchFamily="50" charset="-127"/>
                <a:ea typeface="맑은 고딕" pitchFamily="50" charset="-127"/>
              </a:rPr>
              <a:t>.</a:t>
            </a: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85</a:t>
            </a:fld>
            <a:endParaRPr lang="ko-KR" altLang="en-US" dirty="0"/>
          </a:p>
        </p:txBody>
      </p:sp>
      <p:sp>
        <p:nvSpPr>
          <p:cNvPr id="28" name="TextBox 27"/>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29" name="직사각형 28"/>
          <p:cNvSpPr/>
          <p:nvPr/>
        </p:nvSpPr>
        <p:spPr>
          <a:xfrm>
            <a:off x="5857884"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148057004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3" name="Rectangle 3"/>
          <p:cNvSpPr>
            <a:spLocks noChangeArrowheads="1"/>
          </p:cNvSpPr>
          <p:nvPr/>
        </p:nvSpPr>
        <p:spPr bwMode="auto">
          <a:xfrm>
            <a:off x="6732240" y="1844824"/>
            <a:ext cx="2304256" cy="1008112"/>
          </a:xfrm>
          <a:prstGeom prst="rect">
            <a:avLst/>
          </a:prstGeom>
          <a:solidFill>
            <a:srgbClr val="FFFFFF"/>
          </a:solidFill>
          <a:ln w="9525" algn="ctr">
            <a:solidFill>
              <a:schemeClr val="bg2"/>
            </a:solidFill>
            <a:miter lim="800000"/>
            <a:headEnd/>
            <a:tailEnd/>
          </a:ln>
        </p:spPr>
        <p:txBody>
          <a:bodyPr wrap="none" anchor="ctr"/>
          <a:lstStyle/>
          <a:p>
            <a:pPr>
              <a:lnSpc>
                <a:spcPct val="110000"/>
              </a:lnSpc>
              <a:buFont typeface="Wingdings" pitchFamily="2" charset="2"/>
              <a:buChar char="§"/>
            </a:pPr>
            <a:r>
              <a:rPr lang="en-US" altLang="ko-KR" sz="1100" dirty="0">
                <a:solidFill>
                  <a:srgbClr val="000000"/>
                </a:solidFill>
                <a:latin typeface="맑은 고딕" pitchFamily="50" charset="-127"/>
                <a:ea typeface="맑은 고딕" pitchFamily="50" charset="-127"/>
              </a:rPr>
              <a:t> % Study Var.  </a:t>
            </a:r>
            <a:r>
              <a:rPr lang="ko-KR" altLang="en-US" sz="1100" dirty="0">
                <a:solidFill>
                  <a:srgbClr val="000000"/>
                </a:solidFill>
                <a:latin typeface="맑은 고딕" pitchFamily="50" charset="-127"/>
                <a:ea typeface="맑은 고딕" pitchFamily="50" charset="-127"/>
              </a:rPr>
              <a:t>≤ </a:t>
            </a:r>
            <a:r>
              <a:rPr lang="en-US" altLang="ko-KR" sz="1100" dirty="0">
                <a:solidFill>
                  <a:srgbClr val="000000"/>
                </a:solidFill>
                <a:latin typeface="맑은 고딕" pitchFamily="50" charset="-127"/>
                <a:ea typeface="맑은 고딕" pitchFamily="50" charset="-127"/>
              </a:rPr>
              <a:t>10% </a:t>
            </a:r>
            <a:r>
              <a:rPr lang="en-US" altLang="ko-KR" sz="1100" dirty="0" err="1">
                <a:solidFill>
                  <a:srgbClr val="000000"/>
                </a:solidFill>
                <a:latin typeface="맑은 고딕" pitchFamily="50" charset="-127"/>
                <a:ea typeface="맑은 고딕" pitchFamily="50" charset="-127"/>
              </a:rPr>
              <a:t>khả</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năng</a:t>
            </a:r>
            <a:endParaRPr lang="en-US" altLang="ko-KR" sz="1100" dirty="0">
              <a:solidFill>
                <a:srgbClr val="000000"/>
              </a:solidFill>
              <a:latin typeface="맑은 고딕" pitchFamily="50" charset="-127"/>
              <a:ea typeface="맑은 고딕" pitchFamily="50" charset="-127"/>
            </a:endParaRPr>
          </a:p>
          <a:p>
            <a:pPr>
              <a:lnSpc>
                <a:spcPct val="110000"/>
              </a:lnSpc>
              <a:buFont typeface="Wingdings" pitchFamily="2" charset="2"/>
              <a:buChar char="§"/>
            </a:pPr>
            <a:r>
              <a:rPr lang="en-US" altLang="ko-KR" sz="1100" dirty="0">
                <a:solidFill>
                  <a:srgbClr val="000000"/>
                </a:solidFill>
                <a:latin typeface="맑은 고딕" pitchFamily="50" charset="-127"/>
                <a:ea typeface="맑은 고딕" pitchFamily="50" charset="-127"/>
              </a:rPr>
              <a:t> % Tolerance</a:t>
            </a:r>
            <a:r>
              <a:rPr lang="ko-KR" altLang="en-US" sz="1100" dirty="0">
                <a:solidFill>
                  <a:srgbClr val="000000"/>
                </a:solidFill>
                <a:latin typeface="맑은 고딕" pitchFamily="50" charset="-127"/>
                <a:ea typeface="맑은 고딕" pitchFamily="50" charset="-127"/>
              </a:rPr>
              <a:t>  ≤ </a:t>
            </a:r>
            <a:r>
              <a:rPr lang="en-US" altLang="ko-KR" sz="1100" dirty="0">
                <a:solidFill>
                  <a:srgbClr val="000000"/>
                </a:solidFill>
                <a:latin typeface="맑은 고딕" pitchFamily="50" charset="-127"/>
                <a:ea typeface="맑은 고딕" pitchFamily="50" charset="-127"/>
              </a:rPr>
              <a:t>10% </a:t>
            </a:r>
            <a:r>
              <a:rPr lang="en-US" altLang="ko-KR" sz="1100" dirty="0" err="1">
                <a:solidFill>
                  <a:srgbClr val="000000"/>
                </a:solidFill>
                <a:latin typeface="맑은 고딕" pitchFamily="50" charset="-127"/>
                <a:ea typeface="맑은 고딕" pitchFamily="50" charset="-127"/>
              </a:rPr>
              <a:t>khả</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năng</a:t>
            </a:r>
            <a:r>
              <a:rPr lang="ko-KR" altLang="en-US" sz="1100" dirty="0">
                <a:solidFill>
                  <a:srgbClr val="000000"/>
                </a:solidFill>
                <a:latin typeface="맑은 고딕" pitchFamily="50" charset="-127"/>
                <a:ea typeface="맑은 고딕" pitchFamily="50" charset="-127"/>
              </a:rPr>
              <a:t> </a:t>
            </a:r>
            <a:endParaRPr lang="en-US" altLang="ko-KR" sz="1100" dirty="0">
              <a:solidFill>
                <a:srgbClr val="000000"/>
              </a:solidFill>
              <a:latin typeface="맑은 고딕" pitchFamily="50" charset="-127"/>
              <a:ea typeface="맑은 고딕" pitchFamily="50" charset="-127"/>
            </a:endParaRPr>
          </a:p>
          <a:p>
            <a:pPr>
              <a:lnSpc>
                <a:spcPct val="110000"/>
              </a:lnSpc>
              <a:buFont typeface="Wingdings" pitchFamily="2" charset="2"/>
              <a:buChar char="§"/>
            </a:pPr>
            <a:r>
              <a:rPr lang="en-US" altLang="ko-KR" sz="1100" dirty="0">
                <a:solidFill>
                  <a:srgbClr val="000000"/>
                </a:solidFill>
                <a:latin typeface="맑은 고딕" pitchFamily="50" charset="-127"/>
                <a:ea typeface="맑은 고딕" pitchFamily="50" charset="-127"/>
              </a:rPr>
              <a:t> % Process</a:t>
            </a:r>
            <a:r>
              <a:rPr lang="ko-KR" altLang="en-US" sz="1100" dirty="0">
                <a:solidFill>
                  <a:srgbClr val="000000"/>
                </a:solidFill>
                <a:latin typeface="맑은 고딕" pitchFamily="50" charset="-127"/>
                <a:ea typeface="맑은 고딕" pitchFamily="50" charset="-127"/>
              </a:rPr>
              <a:t> ≤ </a:t>
            </a:r>
            <a:r>
              <a:rPr lang="en-US" altLang="ko-KR" sz="1100" dirty="0">
                <a:solidFill>
                  <a:srgbClr val="000000"/>
                </a:solidFill>
                <a:latin typeface="맑은 고딕" pitchFamily="50" charset="-127"/>
                <a:ea typeface="맑은 고딕" pitchFamily="50" charset="-127"/>
              </a:rPr>
              <a:t>10% </a:t>
            </a:r>
            <a:r>
              <a:rPr lang="en-US" altLang="ko-KR" sz="1100" dirty="0" err="1">
                <a:solidFill>
                  <a:srgbClr val="000000"/>
                </a:solidFill>
                <a:latin typeface="맑은 고딕" pitchFamily="50" charset="-127"/>
                <a:ea typeface="맑은 고딕" pitchFamily="50" charset="-127"/>
              </a:rPr>
              <a:t>khả</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năng</a:t>
            </a:r>
            <a:r>
              <a:rPr lang="ko-KR" altLang="en-US" sz="1100" dirty="0">
                <a:solidFill>
                  <a:srgbClr val="000000"/>
                </a:solidFill>
                <a:latin typeface="맑은 고딕" pitchFamily="50" charset="-127"/>
                <a:ea typeface="맑은 고딕" pitchFamily="50" charset="-127"/>
              </a:rPr>
              <a:t> </a:t>
            </a:r>
            <a:endParaRPr lang="en-US" altLang="ko-KR" sz="1100" dirty="0">
              <a:solidFill>
                <a:srgbClr val="000000"/>
              </a:solidFill>
              <a:latin typeface="맑은 고딕" pitchFamily="50" charset="-127"/>
              <a:ea typeface="맑은 고딕" pitchFamily="50" charset="-127"/>
            </a:endParaRPr>
          </a:p>
          <a:p>
            <a:pPr>
              <a:lnSpc>
                <a:spcPct val="110000"/>
              </a:lnSpc>
              <a:buFont typeface="Wingdings" pitchFamily="2" charset="2"/>
              <a:buChar char="§"/>
            </a:pPr>
            <a:r>
              <a:rPr lang="en-US" altLang="ko-KR" sz="1100" dirty="0">
                <a:solidFill>
                  <a:srgbClr val="000000"/>
                </a:solidFill>
                <a:latin typeface="맑은 고딕" pitchFamily="50" charset="-127"/>
                <a:ea typeface="맑은 고딕" pitchFamily="50" charset="-127"/>
              </a:rPr>
              <a:t> NDC  </a:t>
            </a:r>
            <a:r>
              <a:rPr lang="ko-KR" altLang="en-US" sz="1100" dirty="0">
                <a:solidFill>
                  <a:srgbClr val="000000"/>
                </a:solidFill>
                <a:latin typeface="맑은 고딕" pitchFamily="50" charset="-127"/>
                <a:ea typeface="맑은 고딕" pitchFamily="50" charset="-127"/>
              </a:rPr>
              <a:t>≥ </a:t>
            </a:r>
            <a:r>
              <a:rPr lang="en-US" altLang="ko-KR" sz="1100" dirty="0">
                <a:solidFill>
                  <a:srgbClr val="000000"/>
                </a:solidFill>
                <a:latin typeface="맑은 고딕" pitchFamily="50" charset="-127"/>
                <a:ea typeface="맑은 고딕" pitchFamily="50" charset="-127"/>
              </a:rPr>
              <a:t>5 </a:t>
            </a:r>
            <a:r>
              <a:rPr lang="en-US" altLang="ko-KR" sz="1100" dirty="0" err="1">
                <a:solidFill>
                  <a:srgbClr val="000000"/>
                </a:solidFill>
                <a:latin typeface="맑은 고딕" pitchFamily="50" charset="-127"/>
                <a:ea typeface="맑은 고딕" pitchFamily="50" charset="-127"/>
              </a:rPr>
              <a:t>khả</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năng</a:t>
            </a:r>
            <a:endParaRPr lang="en-US" altLang="ko-KR" sz="1100" dirty="0">
              <a:solidFill>
                <a:srgbClr val="000000"/>
              </a:solidFill>
              <a:latin typeface="맑은 고딕" pitchFamily="50" charset="-127"/>
              <a:ea typeface="맑은 고딕" pitchFamily="50" charset="-127"/>
            </a:endParaRPr>
          </a:p>
        </p:txBody>
      </p:sp>
      <p:sp>
        <p:nvSpPr>
          <p:cNvPr id="179204" name="Text Box 4"/>
          <p:cNvSpPr txBox="1">
            <a:spLocks noChangeArrowheads="1"/>
          </p:cNvSpPr>
          <p:nvPr/>
        </p:nvSpPr>
        <p:spPr bwMode="auto">
          <a:xfrm>
            <a:off x="2045677" y="1470026"/>
            <a:ext cx="1129812" cy="338554"/>
          </a:xfrm>
          <a:prstGeom prst="rect">
            <a:avLst/>
          </a:prstGeom>
          <a:noFill/>
          <a:ln w="9525" algn="ctr">
            <a:noFill/>
            <a:miter lim="800000"/>
            <a:headEnd/>
            <a:tailEnd/>
          </a:ln>
        </p:spPr>
        <p:txBody>
          <a:bodyPr>
            <a:spAutoFit/>
          </a:bodyPr>
          <a:lstStyle/>
          <a:p>
            <a:pPr algn="ctr">
              <a:spcBef>
                <a:spcPct val="50000"/>
              </a:spcBef>
            </a:pPr>
            <a:r>
              <a:rPr lang="en-US" altLang="ko-KR" sz="800" dirty="0" err="1">
                <a:solidFill>
                  <a:srgbClr val="00B050"/>
                </a:solidFill>
                <a:latin typeface="맑은 고딕" pitchFamily="50" charset="-127"/>
                <a:ea typeface="맑은 고딕" pitchFamily="50" charset="-127"/>
              </a:rPr>
              <a:t>Độ</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lệch</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chuẩn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được</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đo</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đạc</a:t>
            </a:r>
            <a:endParaRPr lang="ko-KR" altLang="en-US" sz="800" dirty="0">
              <a:solidFill>
                <a:srgbClr val="00B050"/>
              </a:solidFill>
              <a:latin typeface="맑은 고딕" pitchFamily="50" charset="-127"/>
              <a:ea typeface="맑은 고딕" pitchFamily="50" charset="-127"/>
            </a:endParaRPr>
          </a:p>
        </p:txBody>
      </p:sp>
      <p:sp>
        <p:nvSpPr>
          <p:cNvPr id="179205" name="Text Box 5"/>
          <p:cNvSpPr txBox="1">
            <a:spLocks noChangeArrowheads="1"/>
          </p:cNvSpPr>
          <p:nvPr/>
        </p:nvSpPr>
        <p:spPr bwMode="auto">
          <a:xfrm>
            <a:off x="2915816" y="1268760"/>
            <a:ext cx="1405304" cy="461665"/>
          </a:xfrm>
          <a:prstGeom prst="rect">
            <a:avLst/>
          </a:prstGeom>
          <a:noFill/>
          <a:ln w="9525" algn="ctr">
            <a:noFill/>
            <a:miter lim="800000"/>
            <a:headEnd/>
            <a:tailEnd/>
          </a:ln>
        </p:spPr>
        <p:txBody>
          <a:bodyPr>
            <a:spAutoFit/>
          </a:bodyPr>
          <a:lstStyle/>
          <a:p>
            <a:pPr algn="ctr">
              <a:spcBef>
                <a:spcPct val="50000"/>
              </a:spcBef>
            </a:pPr>
            <a:r>
              <a:rPr lang="en-US" altLang="ko-KR" sz="800" dirty="0" err="1">
                <a:solidFill>
                  <a:srgbClr val="00B050"/>
                </a:solidFill>
                <a:latin typeface="맑은 고딕" pitchFamily="50" charset="-127"/>
                <a:ea typeface="맑은 고딕" pitchFamily="50" charset="-127"/>
              </a:rPr>
              <a:t>Tập</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trung</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theo</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từng</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nguyên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nhân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biến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động</a:t>
            </a:r>
            <a:r>
              <a:rPr lang="ko-KR" altLang="en-US" sz="800" dirty="0">
                <a:solidFill>
                  <a:srgbClr val="00B050"/>
                </a:solidFill>
                <a:latin typeface="맑은 고딕" pitchFamily="50" charset="-127"/>
                <a:ea typeface="맑은 고딕" pitchFamily="50" charset="-127"/>
              </a:rPr>
              <a:t>  </a:t>
            </a:r>
            <a:r>
              <a:rPr lang="en-US" altLang="ko-KR" sz="800" dirty="0">
                <a:solidFill>
                  <a:srgbClr val="00B050"/>
                </a:solidFill>
                <a:latin typeface="맑은 고딕" pitchFamily="50" charset="-127"/>
                <a:ea typeface="맑은 고딕" pitchFamily="50" charset="-127"/>
              </a:rPr>
              <a:t>99%-Span</a:t>
            </a:r>
          </a:p>
        </p:txBody>
      </p:sp>
      <p:sp>
        <p:nvSpPr>
          <p:cNvPr id="179206" name="Text Box 6"/>
          <p:cNvSpPr txBox="1">
            <a:spLocks noChangeArrowheads="1"/>
          </p:cNvSpPr>
          <p:nvPr/>
        </p:nvSpPr>
        <p:spPr bwMode="auto">
          <a:xfrm>
            <a:off x="4165848" y="1239143"/>
            <a:ext cx="838200" cy="461665"/>
          </a:xfrm>
          <a:prstGeom prst="rect">
            <a:avLst/>
          </a:prstGeom>
          <a:noFill/>
          <a:ln w="9525" algn="ctr">
            <a:noFill/>
            <a:miter lim="800000"/>
            <a:headEnd/>
            <a:tailEnd/>
          </a:ln>
        </p:spPr>
        <p:txBody>
          <a:bodyPr>
            <a:spAutoFit/>
          </a:bodyPr>
          <a:lstStyle/>
          <a:p>
            <a:pPr algn="ctr">
              <a:spcBef>
                <a:spcPct val="50000"/>
              </a:spcBef>
            </a:pPr>
            <a:r>
              <a:rPr lang="en-US" altLang="ko-KR" sz="800" dirty="0" err="1">
                <a:solidFill>
                  <a:srgbClr val="00B050"/>
                </a:solidFill>
                <a:latin typeface="맑은 고딕" pitchFamily="50" charset="-127"/>
                <a:ea typeface="맑은 고딕" pitchFamily="50" charset="-127"/>
              </a:rPr>
              <a:t>tỉ</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lệ</a:t>
            </a:r>
            <a:r>
              <a:rPr lang="en-US" altLang="ko-KR" sz="800" dirty="0">
                <a:solidFill>
                  <a:srgbClr val="00B050"/>
                </a:solidFill>
                <a:latin typeface="맑은 고딕" pitchFamily="50" charset="-127"/>
                <a:ea typeface="맑은 고딕" pitchFamily="50" charset="-127"/>
              </a:rPr>
              <a:t> so </a:t>
            </a:r>
            <a:r>
              <a:rPr lang="en-US" altLang="ko-KR" sz="800" dirty="0" err="1">
                <a:solidFill>
                  <a:srgbClr val="00B050"/>
                </a:solidFill>
                <a:latin typeface="맑은 고딕" pitchFamily="50" charset="-127"/>
                <a:ea typeface="맑은 고딕" pitchFamily="50" charset="-127"/>
              </a:rPr>
              <a:t>sánh</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với</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tổng</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biến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động</a:t>
            </a:r>
            <a:endParaRPr lang="ko-KR" altLang="en-US" sz="800" dirty="0">
              <a:solidFill>
                <a:srgbClr val="00B050"/>
              </a:solidFill>
              <a:latin typeface="맑은 고딕" pitchFamily="50" charset="-127"/>
              <a:ea typeface="맑은 고딕" pitchFamily="50" charset="-127"/>
            </a:endParaRPr>
          </a:p>
        </p:txBody>
      </p:sp>
      <p:sp>
        <p:nvSpPr>
          <p:cNvPr id="179207" name="Text Box 7"/>
          <p:cNvSpPr txBox="1">
            <a:spLocks noChangeArrowheads="1"/>
          </p:cNvSpPr>
          <p:nvPr/>
        </p:nvSpPr>
        <p:spPr bwMode="auto">
          <a:xfrm>
            <a:off x="4864931" y="1124744"/>
            <a:ext cx="838200" cy="584775"/>
          </a:xfrm>
          <a:prstGeom prst="rect">
            <a:avLst/>
          </a:prstGeom>
          <a:noFill/>
          <a:ln w="9525" algn="ctr">
            <a:noFill/>
            <a:miter lim="800000"/>
            <a:headEnd/>
            <a:tailEnd/>
          </a:ln>
        </p:spPr>
        <p:txBody>
          <a:bodyPr>
            <a:spAutoFit/>
          </a:bodyPr>
          <a:lstStyle/>
          <a:p>
            <a:pPr algn="ctr">
              <a:spcBef>
                <a:spcPct val="50000"/>
              </a:spcBef>
            </a:pPr>
            <a:r>
              <a:rPr lang="en-US" altLang="ko-KR" sz="800" dirty="0" err="1">
                <a:solidFill>
                  <a:srgbClr val="00B050"/>
                </a:solidFill>
                <a:latin typeface="맑은 고딕" pitchFamily="50" charset="-127"/>
                <a:ea typeface="맑은 고딕" pitchFamily="50" charset="-127"/>
              </a:rPr>
              <a:t>Tỉ</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lệ</a:t>
            </a:r>
            <a:r>
              <a:rPr lang="en-US" altLang="ko-KR" sz="800" dirty="0">
                <a:solidFill>
                  <a:srgbClr val="00B050"/>
                </a:solidFill>
                <a:latin typeface="맑은 고딕" pitchFamily="50" charset="-127"/>
                <a:ea typeface="맑은 고딕" pitchFamily="50" charset="-127"/>
              </a:rPr>
              <a:t> so </a:t>
            </a:r>
            <a:r>
              <a:rPr lang="en-US" altLang="ko-KR" sz="800" dirty="0" err="1">
                <a:solidFill>
                  <a:srgbClr val="00B050"/>
                </a:solidFill>
                <a:latin typeface="맑은 고딕" pitchFamily="50" charset="-127"/>
                <a:ea typeface="맑은 고딕" pitchFamily="50" charset="-127"/>
              </a:rPr>
              <a:t>sánh</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với</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giới</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hạn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tiêu</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chuẩn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quy</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cách</a:t>
            </a:r>
            <a:endParaRPr lang="ko-KR" altLang="en-US" sz="800" dirty="0">
              <a:solidFill>
                <a:srgbClr val="00B050"/>
              </a:solidFill>
              <a:latin typeface="맑은 고딕" pitchFamily="50" charset="-127"/>
              <a:ea typeface="맑은 고딕" pitchFamily="50" charset="-127"/>
            </a:endParaRPr>
          </a:p>
        </p:txBody>
      </p:sp>
      <p:sp>
        <p:nvSpPr>
          <p:cNvPr id="179208" name="Text Box 8"/>
          <p:cNvSpPr txBox="1">
            <a:spLocks noChangeArrowheads="1"/>
          </p:cNvSpPr>
          <p:nvPr/>
        </p:nvSpPr>
        <p:spPr bwMode="auto">
          <a:xfrm>
            <a:off x="5740379" y="1124744"/>
            <a:ext cx="1063869" cy="461665"/>
          </a:xfrm>
          <a:prstGeom prst="rect">
            <a:avLst/>
          </a:prstGeom>
          <a:noFill/>
          <a:ln w="9525" algn="ctr">
            <a:noFill/>
            <a:miter lim="800000"/>
            <a:headEnd/>
            <a:tailEnd/>
          </a:ln>
        </p:spPr>
        <p:txBody>
          <a:bodyPr>
            <a:spAutoFit/>
          </a:bodyPr>
          <a:lstStyle/>
          <a:p>
            <a:pPr algn="ctr">
              <a:spcBef>
                <a:spcPct val="50000"/>
              </a:spcBef>
            </a:pPr>
            <a:r>
              <a:rPr lang="en-US" altLang="ko-KR" sz="800" dirty="0" err="1">
                <a:solidFill>
                  <a:srgbClr val="00B050"/>
                </a:solidFill>
                <a:latin typeface="맑은 고딕" pitchFamily="50" charset="-127"/>
                <a:ea typeface="맑은 고딕" pitchFamily="50" charset="-127"/>
              </a:rPr>
              <a:t>tỉ</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lệ</a:t>
            </a:r>
            <a:r>
              <a:rPr lang="en-US" altLang="ko-KR" sz="800" dirty="0">
                <a:solidFill>
                  <a:srgbClr val="00B050"/>
                </a:solidFill>
                <a:latin typeface="맑은 고딕" pitchFamily="50" charset="-127"/>
                <a:ea typeface="맑은 고딕" pitchFamily="50" charset="-127"/>
              </a:rPr>
              <a:t> so </a:t>
            </a:r>
            <a:r>
              <a:rPr lang="en-US" altLang="ko-KR" sz="800" dirty="0" err="1">
                <a:solidFill>
                  <a:srgbClr val="00B050"/>
                </a:solidFill>
                <a:latin typeface="맑은 고딕" pitchFamily="50" charset="-127"/>
                <a:ea typeface="맑은 고딕" pitchFamily="50" charset="-127"/>
              </a:rPr>
              <a:t>sánh</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với</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biến</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động</a:t>
            </a:r>
            <a:r>
              <a:rPr lang="en-US" altLang="ko-KR" sz="800" dirty="0">
                <a:solidFill>
                  <a:srgbClr val="00B050"/>
                </a:solidFill>
                <a:latin typeface="맑은 고딕" pitchFamily="50" charset="-127"/>
                <a:ea typeface="맑은 고딕" pitchFamily="50" charset="-127"/>
              </a:rPr>
              <a:t> process </a:t>
            </a:r>
            <a:r>
              <a:rPr lang="en-US" altLang="ko-KR" sz="800" dirty="0" err="1">
                <a:solidFill>
                  <a:srgbClr val="00B050"/>
                </a:solidFill>
                <a:latin typeface="맑은 고딕" pitchFamily="50" charset="-127"/>
                <a:ea typeface="맑은 고딕" pitchFamily="50" charset="-127"/>
              </a:rPr>
              <a:t>thực</a:t>
            </a:r>
            <a:r>
              <a:rPr lang="en-US" altLang="ko-KR" sz="800" dirty="0">
                <a:solidFill>
                  <a:srgbClr val="00B050"/>
                </a:solidFill>
                <a:latin typeface="맑은 고딕" pitchFamily="50" charset="-127"/>
                <a:ea typeface="맑은 고딕" pitchFamily="50" charset="-127"/>
              </a:rPr>
              <a:t> </a:t>
            </a:r>
            <a:r>
              <a:rPr lang="en-US" altLang="ko-KR" sz="800" dirty="0" err="1">
                <a:solidFill>
                  <a:srgbClr val="00B050"/>
                </a:solidFill>
                <a:latin typeface="맑은 고딕" pitchFamily="50" charset="-127"/>
                <a:ea typeface="맑은 고딕" pitchFamily="50" charset="-127"/>
              </a:rPr>
              <a:t>nghiệm</a:t>
            </a:r>
            <a:endParaRPr lang="ko-KR" altLang="en-US" sz="800" dirty="0">
              <a:solidFill>
                <a:srgbClr val="00B050"/>
              </a:solidFill>
              <a:latin typeface="맑은 고딕" pitchFamily="50" charset="-127"/>
              <a:ea typeface="맑은 고딕" pitchFamily="50" charset="-127"/>
            </a:endParaRPr>
          </a:p>
        </p:txBody>
      </p:sp>
      <p:sp>
        <p:nvSpPr>
          <p:cNvPr id="19" name="TextBox 18"/>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lang="en-US" altLang="ko-KR" sz="1400" b="1" kern="0" dirty="0" err="1">
                <a:solidFill>
                  <a:sysClr val="windowText" lastClr="000000"/>
                </a:solidFill>
                <a:latin typeface="맑은 고딕" pitchFamily="50" charset="-127"/>
                <a:ea typeface="맑은 고딕" pitchFamily="50" charset="-127"/>
              </a:rPr>
              <a:t>nhập</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giải</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thích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kết</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79219" name="Rectangle 6"/>
          <p:cNvSpPr>
            <a:spLocks noChangeArrowheads="1"/>
          </p:cNvSpPr>
          <p:nvPr/>
        </p:nvSpPr>
        <p:spPr bwMode="auto">
          <a:xfrm>
            <a:off x="681405" y="1214439"/>
            <a:ext cx="2313262"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(3) Gage R&amp;R Characteristics</a:t>
            </a:r>
          </a:p>
        </p:txBody>
      </p:sp>
      <p:sp>
        <p:nvSpPr>
          <p:cNvPr id="179220" name="Text Box 3"/>
          <p:cNvSpPr txBox="1">
            <a:spLocks noChangeArrowheads="1"/>
          </p:cNvSpPr>
          <p:nvPr/>
        </p:nvSpPr>
        <p:spPr bwMode="auto">
          <a:xfrm>
            <a:off x="6732240" y="863601"/>
            <a:ext cx="2304256" cy="938719"/>
          </a:xfrm>
          <a:prstGeom prst="rect">
            <a:avLst/>
          </a:prstGeom>
          <a:noFill/>
          <a:ln w="9525" algn="ctr">
            <a:noFill/>
            <a:miter lim="800000"/>
            <a:headEnd/>
            <a:tailEnd/>
          </a:ln>
        </p:spPr>
        <p:txBody>
          <a:bodyPr wrap="square">
            <a:spAutoFit/>
          </a:bodyPr>
          <a:lstStyle/>
          <a:p>
            <a:pPr>
              <a:lnSpc>
                <a:spcPct val="110000"/>
              </a:lnSpc>
            </a:pPr>
            <a:r>
              <a:rPr lang="en-US" altLang="ko-KR" sz="1000" b="1" dirty="0" err="1">
                <a:solidFill>
                  <a:srgbClr val="0000FF"/>
                </a:solidFill>
                <a:latin typeface="맑은 고딕" pitchFamily="50" charset="-127"/>
                <a:ea typeface="맑은 고딕" pitchFamily="50" charset="-127"/>
              </a:rPr>
              <a:t>Giải</a:t>
            </a:r>
            <a:r>
              <a:rPr lang="en-US" altLang="ko-KR" sz="1000" b="1" dirty="0">
                <a:solidFill>
                  <a:srgbClr val="0000FF"/>
                </a:solidFill>
                <a:latin typeface="맑은 고딕" pitchFamily="50" charset="-127"/>
                <a:ea typeface="맑은 고딕" pitchFamily="50" charset="-127"/>
              </a:rPr>
              <a:t> </a:t>
            </a:r>
            <a:r>
              <a:rPr lang="en-US" altLang="ko-KR" sz="1000" b="1" dirty="0" err="1">
                <a:solidFill>
                  <a:srgbClr val="0000FF"/>
                </a:solidFill>
                <a:latin typeface="맑은 고딕" pitchFamily="50" charset="-127"/>
                <a:ea typeface="맑은 고딕" pitchFamily="50" charset="-127"/>
              </a:rPr>
              <a:t>thích</a:t>
            </a:r>
            <a:r>
              <a:rPr lang="en-US" altLang="ko-KR" sz="1000" b="1" dirty="0">
                <a:solidFill>
                  <a:srgbClr val="0000FF"/>
                </a:solidFill>
                <a:latin typeface="맑은 고딕" pitchFamily="50" charset="-127"/>
                <a:ea typeface="맑은 고딕" pitchFamily="50" charset="-127"/>
              </a:rPr>
              <a:t> Tip</a:t>
            </a:r>
          </a:p>
          <a:p>
            <a:pPr>
              <a:lnSpc>
                <a:spcPct val="110000"/>
              </a:lnSpc>
            </a:pPr>
            <a:r>
              <a:rPr lang="en-US" altLang="ko-KR" sz="1000" dirty="0">
                <a:solidFill>
                  <a:srgbClr val="000000"/>
                </a:solidFill>
                <a:latin typeface="맑은 고딕" pitchFamily="50" charset="-127"/>
                <a:ea typeface="맑은 고딕" pitchFamily="50" charset="-127"/>
              </a:rPr>
              <a:t>(3) Gage R&amp;R Characteristics</a:t>
            </a:r>
          </a:p>
          <a:p>
            <a:pPr>
              <a:lnSpc>
                <a:spcPct val="110000"/>
              </a:lnSpc>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xem</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xét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đặc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tính</a:t>
            </a:r>
            <a:r>
              <a:rPr lang="en-US" altLang="ko-KR" sz="1000" dirty="0">
                <a:solidFill>
                  <a:srgbClr val="000000"/>
                </a:solidFill>
                <a:latin typeface="맑은 고딕" pitchFamily="50" charset="-127"/>
                <a:ea typeface="맑은 고딕" pitchFamily="50" charset="-127"/>
              </a:rPr>
              <a:t> Gage</a:t>
            </a:r>
            <a:endParaRPr lang="ko-KR" altLang="en-US"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a:t>
            </a:r>
            <a:r>
              <a:rPr lang="en-US" altLang="ko-KR" sz="1000" dirty="0" err="1">
                <a:solidFill>
                  <a:srgbClr val="000000"/>
                </a:solidFill>
                <a:latin typeface="맑은 고딕" pitchFamily="50" charset="-127"/>
                <a:ea typeface="맑은 고딕" pitchFamily="50" charset="-127"/>
              </a:rPr>
              <a:t>phải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thỏa</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mãn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tiêu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chuẩn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cho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trước</a:t>
            </a:r>
            <a:r>
              <a:rPr lang="en-US" altLang="ko-KR" sz="1000" dirty="0">
                <a:solidFill>
                  <a:srgbClr val="000000"/>
                </a:solidFill>
                <a:latin typeface="맑은 고딕" pitchFamily="50" charset="-127"/>
                <a:ea typeface="맑은 고딕" pitchFamily="50" charset="-127"/>
              </a:rPr>
              <a:t>.</a:t>
            </a: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86</a:t>
            </a:fld>
            <a:endParaRPr lang="ko-KR" altLang="en-US" dirty="0"/>
          </a:p>
        </p:txBody>
      </p:sp>
      <p:sp>
        <p:nvSpPr>
          <p:cNvPr id="4" name="직사각형 3"/>
          <p:cNvSpPr/>
          <p:nvPr/>
        </p:nvSpPr>
        <p:spPr>
          <a:xfrm>
            <a:off x="701824" y="1408708"/>
            <a:ext cx="6030416" cy="2308324"/>
          </a:xfrm>
          <a:prstGeom prst="rect">
            <a:avLst/>
          </a:prstGeom>
        </p:spPr>
        <p:txBody>
          <a:bodyPr wrap="square">
            <a:spAutoFit/>
          </a:bodyPr>
          <a:lstStyle/>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%Tolerance   %Process</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StdDev</a:t>
            </a:r>
            <a:r>
              <a:rPr lang="en-US" altLang="ko-KR" sz="1200" dirty="0">
                <a:latin typeface="굴림체" panose="020B0609000101010101" pitchFamily="49" charset="-127"/>
                <a:ea typeface="굴림체" panose="020B0609000101010101" pitchFamily="49" charset="-127"/>
              </a:rPr>
              <a:t> (SD)  (6 × SD)       (%SV)  (SV/Toler)  (SV/Proc)</a:t>
            </a:r>
          </a:p>
          <a:p>
            <a:r>
              <a:rPr lang="pt-BR" altLang="ko-KR" sz="1200" dirty="0">
                <a:latin typeface="굴림체" panose="020B0609000101010101" pitchFamily="49" charset="-127"/>
                <a:ea typeface="굴림체" panose="020B0609000101010101" pitchFamily="49" charset="-127"/>
              </a:rPr>
              <a:t>Total Gage R&amp;R        0.023568    0.14141        7.36        8.84       6.73</a:t>
            </a:r>
          </a:p>
          <a:p>
            <a:r>
              <a:rPr lang="en-US" altLang="ko-KR" sz="1200" dirty="0">
                <a:latin typeface="굴림체" panose="020B0609000101010101" pitchFamily="49" charset="-127"/>
                <a:ea typeface="굴림체" panose="020B0609000101010101" pitchFamily="49" charset="-127"/>
              </a:rPr>
              <a:t>  Repeatability       0.014259    0.08556        4.45        5.35       4.07</a:t>
            </a:r>
          </a:p>
          <a:p>
            <a:r>
              <a:rPr lang="es-ES" altLang="ko-KR" sz="1200" dirty="0">
                <a:latin typeface="굴림체" panose="020B0609000101010101" pitchFamily="49" charset="-127"/>
                <a:ea typeface="굴림체" panose="020B0609000101010101" pitchFamily="49" charset="-127"/>
              </a:rPr>
              <a:t>  Reproducibility     0.018765    0.11259        5.86        7.04       5.36</a:t>
            </a:r>
          </a:p>
          <a:p>
            <a:r>
              <a:rPr lang="it-IT" altLang="ko-KR" sz="1200" dirty="0">
                <a:latin typeface="굴림체" panose="020B0609000101010101" pitchFamily="49" charset="-127"/>
                <a:ea typeface="굴림체" panose="020B0609000101010101" pitchFamily="49" charset="-127"/>
              </a:rPr>
              <a:t>    Operator          0.000000    0.00000        0.00        0.00       0.00</a:t>
            </a:r>
          </a:p>
          <a:p>
            <a:r>
              <a:rPr lang="en-US" altLang="ko-KR" sz="1200" dirty="0">
                <a:latin typeface="굴림체" panose="020B0609000101010101" pitchFamily="49" charset="-127"/>
                <a:ea typeface="굴림체" panose="020B0609000101010101" pitchFamily="49" charset="-127"/>
              </a:rPr>
              <a:t>    Operator*Part     0.018765    0.11259        5.86        7.04       5.36</a:t>
            </a:r>
          </a:p>
          <a:p>
            <a:r>
              <a:rPr lang="en-US" altLang="ko-KR" sz="1200" dirty="0">
                <a:latin typeface="굴림체" panose="020B0609000101010101" pitchFamily="49" charset="-127"/>
                <a:ea typeface="굴림체" panose="020B0609000101010101" pitchFamily="49" charset="-127"/>
              </a:rPr>
              <a:t>Part-To-Part          0.319565    1.91739       99.73      119.84      91.30</a:t>
            </a:r>
          </a:p>
          <a:p>
            <a:r>
              <a:rPr lang="en-US" altLang="ko-KR" sz="1200" dirty="0">
                <a:latin typeface="굴림체" panose="020B0609000101010101" pitchFamily="49" charset="-127"/>
                <a:ea typeface="굴림체" panose="020B0609000101010101" pitchFamily="49" charset="-127"/>
              </a:rPr>
              <a:t>Total Variation       0.320433    1.92260      100.00      120.16      91.55</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Number of Distinct Categories = 19</a:t>
            </a:r>
          </a:p>
        </p:txBody>
      </p:sp>
      <p:sp>
        <p:nvSpPr>
          <p:cNvPr id="26" name="TextBox 25"/>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28" name="직사각형 27"/>
          <p:cNvSpPr/>
          <p:nvPr/>
        </p:nvSpPr>
        <p:spPr>
          <a:xfrm>
            <a:off x="6228184"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
        <p:nvSpPr>
          <p:cNvPr id="3" name="직사각형 2"/>
          <p:cNvSpPr/>
          <p:nvPr/>
        </p:nvSpPr>
        <p:spPr>
          <a:xfrm>
            <a:off x="648072" y="3933056"/>
            <a:ext cx="4572000" cy="2308324"/>
          </a:xfrm>
          <a:prstGeom prst="rect">
            <a:avLst/>
          </a:prstGeom>
        </p:spPr>
        <p:txBody>
          <a:bodyPr>
            <a:spAutoFit/>
          </a:bodyPr>
          <a:lstStyle/>
          <a:p>
            <a:r>
              <a:rPr lang="en-US" altLang="ko-KR" sz="1200" b="1" dirty="0">
                <a:latin typeface="굴림체" panose="020B0609000101010101" pitchFamily="49" charset="-127"/>
                <a:ea typeface="굴림체" panose="020B0609000101010101" pitchFamily="49" charset="-127"/>
              </a:rPr>
              <a:t>(4) Probabilities of Misclassification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Joint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Part is bad and is accepted   0.002</a:t>
            </a:r>
          </a:p>
          <a:p>
            <a:r>
              <a:rPr lang="en-US" altLang="ko-KR" sz="1200" dirty="0">
                <a:latin typeface="굴림체" panose="020B0609000101010101" pitchFamily="49" charset="-127"/>
                <a:ea typeface="굴림체" panose="020B0609000101010101" pitchFamily="49" charset="-127"/>
              </a:rPr>
              <a:t>Part is good and is rejected  0.002</a:t>
            </a:r>
          </a:p>
          <a:p>
            <a:endParaRPr lang="ko-KR" altLang="en-US" sz="1200" dirty="0">
              <a:latin typeface="굴림체" panose="020B0609000101010101" pitchFamily="49" charset="-127"/>
              <a:ea typeface="굴림체" panose="020B0609000101010101" pitchFamily="49" charset="-127"/>
            </a:endParaRP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Conditional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False Accept  0.058</a:t>
            </a:r>
          </a:p>
          <a:p>
            <a:r>
              <a:rPr lang="en-US" altLang="ko-KR" sz="1200" dirty="0">
                <a:latin typeface="굴림체" panose="020B0609000101010101" pitchFamily="49" charset="-127"/>
                <a:ea typeface="굴림체" panose="020B0609000101010101" pitchFamily="49" charset="-127"/>
              </a:rPr>
              <a:t>False Reject  0.002</a:t>
            </a:r>
          </a:p>
        </p:txBody>
      </p:sp>
      <p:sp>
        <p:nvSpPr>
          <p:cNvPr id="30" name="Text Box 3"/>
          <p:cNvSpPr txBox="1">
            <a:spLocks noChangeArrowheads="1"/>
          </p:cNvSpPr>
          <p:nvPr/>
        </p:nvSpPr>
        <p:spPr bwMode="auto">
          <a:xfrm>
            <a:off x="6588224" y="3861048"/>
            <a:ext cx="2329962" cy="430887"/>
          </a:xfrm>
          <a:prstGeom prst="rect">
            <a:avLst/>
          </a:prstGeom>
          <a:noFill/>
          <a:ln w="9525" algn="ctr">
            <a:noFill/>
            <a:miter lim="800000"/>
            <a:headEnd/>
            <a:tailEnd/>
          </a:ln>
        </p:spPr>
        <p:txBody>
          <a:bodyPr>
            <a:spAutoFit/>
          </a:bodyPr>
          <a:lstStyle/>
          <a:p>
            <a:pPr>
              <a:lnSpc>
                <a:spcPct val="110000"/>
              </a:lnSpc>
            </a:pPr>
            <a:r>
              <a:rPr lang="en-US" altLang="ko-KR" sz="1000" b="1" dirty="0" err="1">
                <a:solidFill>
                  <a:srgbClr val="0000FF"/>
                </a:solidFill>
                <a:latin typeface="맑은 고딕" pitchFamily="50" charset="-127"/>
                <a:ea typeface="맑은 고딕" pitchFamily="50" charset="-127"/>
              </a:rPr>
              <a:t>Giải</a:t>
            </a:r>
            <a:r>
              <a:rPr lang="en-US" altLang="ko-KR" sz="1000" b="1" dirty="0">
                <a:solidFill>
                  <a:srgbClr val="0000FF"/>
                </a:solidFill>
                <a:latin typeface="맑은 고딕" pitchFamily="50" charset="-127"/>
                <a:ea typeface="맑은 고딕" pitchFamily="50" charset="-127"/>
              </a:rPr>
              <a:t> </a:t>
            </a:r>
            <a:r>
              <a:rPr lang="en-US" altLang="ko-KR" sz="1000" b="1" dirty="0" err="1">
                <a:solidFill>
                  <a:srgbClr val="0000FF"/>
                </a:solidFill>
                <a:latin typeface="맑은 고딕" pitchFamily="50" charset="-127"/>
                <a:ea typeface="맑은 고딕" pitchFamily="50" charset="-127"/>
              </a:rPr>
              <a:t>thích</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p>
          <a:p>
            <a:pPr>
              <a:lnSpc>
                <a:spcPct val="110000"/>
              </a:lnSpc>
            </a:pPr>
            <a:r>
              <a:rPr lang="en-US" altLang="ko-KR" sz="1000" dirty="0">
                <a:solidFill>
                  <a:srgbClr val="000000"/>
                </a:solidFill>
                <a:latin typeface="맑은 고딕" pitchFamily="50" charset="-127"/>
                <a:ea typeface="맑은 고딕" pitchFamily="50" charset="-127"/>
              </a:rPr>
              <a:t>(4)) </a:t>
            </a:r>
            <a:r>
              <a:rPr lang="en-US" altLang="ko-KR" sz="1000" dirty="0" err="1">
                <a:solidFill>
                  <a:srgbClr val="000000"/>
                </a:solidFill>
                <a:latin typeface="맑은 고딕" pitchFamily="50" charset="-127"/>
                <a:ea typeface="맑은 고딕" pitchFamily="50" charset="-127"/>
              </a:rPr>
              <a:t>tính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toán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khả</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năng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phân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loại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sai</a:t>
            </a:r>
            <a:endParaRPr lang="en-US" altLang="ko-KR" sz="1000" dirty="0">
              <a:solidFill>
                <a:srgbClr val="000000"/>
              </a:solidFill>
              <a:latin typeface="맑은 고딕" pitchFamily="50" charset="-127"/>
              <a:ea typeface="맑은 고딕" pitchFamily="50" charset="-127"/>
            </a:endParaRPr>
          </a:p>
        </p:txBody>
      </p:sp>
      <p:sp>
        <p:nvSpPr>
          <p:cNvPr id="6" name="TextBox 5"/>
          <p:cNvSpPr txBox="1"/>
          <p:nvPr/>
        </p:nvSpPr>
        <p:spPr>
          <a:xfrm>
            <a:off x="6732240" y="4334907"/>
            <a:ext cx="1409360" cy="246221"/>
          </a:xfrm>
          <a:prstGeom prst="rect">
            <a:avLst/>
          </a:prstGeom>
          <a:noFill/>
        </p:spPr>
        <p:txBody>
          <a:bodyPr wrap="none" rtlCol="0">
            <a:spAutoFit/>
          </a:bodyPr>
          <a:lstStyle/>
          <a:p>
            <a:r>
              <a:rPr lang="ko-KR" altLang="en-US" sz="1000" dirty="0"/>
              <a:t>①</a:t>
            </a:r>
            <a:r>
              <a:rPr lang="en-US" altLang="ko-KR" sz="1000" dirty="0"/>
              <a:t> </a:t>
            </a:r>
            <a:r>
              <a:rPr lang="en-US" altLang="ko-KR" sz="1000" dirty="0" err="1"/>
              <a:t>khả</a:t>
            </a:r>
            <a:r>
              <a:rPr lang="en-US" altLang="ko-KR" sz="1000" dirty="0"/>
              <a:t> </a:t>
            </a:r>
            <a:r>
              <a:rPr lang="en-US" altLang="ko-KR" sz="1000" dirty="0" err="1"/>
              <a:t>năng</a:t>
            </a:r>
            <a:r>
              <a:rPr lang="en-US" altLang="ko-KR" sz="1000" dirty="0"/>
              <a:t> </a:t>
            </a:r>
            <a:r>
              <a:rPr lang="en-US" altLang="ko-KR" sz="1000" dirty="0" err="1"/>
              <a:t>kết</a:t>
            </a:r>
            <a:r>
              <a:rPr lang="en-US" altLang="ko-KR" sz="1000" dirty="0"/>
              <a:t> </a:t>
            </a:r>
            <a:r>
              <a:rPr lang="en-US" altLang="ko-KR" sz="1000" dirty="0" err="1"/>
              <a:t>hợp</a:t>
            </a:r>
            <a:endParaRPr lang="ko-KR" altLang="en-US" sz="1000" dirty="0"/>
          </a:p>
        </p:txBody>
      </p:sp>
      <p:sp>
        <p:nvSpPr>
          <p:cNvPr id="31" name="TextBox 30"/>
          <p:cNvSpPr txBox="1"/>
          <p:nvPr/>
        </p:nvSpPr>
        <p:spPr>
          <a:xfrm>
            <a:off x="6444208" y="4581128"/>
            <a:ext cx="2521844" cy="553998"/>
          </a:xfrm>
          <a:prstGeom prst="rect">
            <a:avLst/>
          </a:prstGeom>
          <a:noFill/>
        </p:spPr>
        <p:txBody>
          <a:bodyPr wrap="none" rtlCol="0">
            <a:spAutoFit/>
          </a:bodyPr>
          <a:lstStyle/>
          <a:p>
            <a:r>
              <a:rPr lang="en-US" altLang="ko-KR" sz="1000" dirty="0" err="1"/>
              <a:t>Đối</a:t>
            </a:r>
            <a:r>
              <a:rPr lang="en-US" altLang="ko-KR" sz="1000" dirty="0"/>
              <a:t> </a:t>
            </a:r>
            <a:r>
              <a:rPr lang="en-US" altLang="ko-KR" sz="1000" dirty="0" err="1"/>
              <a:t>tượng</a:t>
            </a:r>
            <a:r>
              <a:rPr lang="en-US" altLang="ko-KR" sz="1000" dirty="0"/>
              <a:t> </a:t>
            </a:r>
            <a:r>
              <a:rPr lang="en-US" altLang="ko-KR" sz="1000" dirty="0" err="1"/>
              <a:t>là</a:t>
            </a:r>
            <a:r>
              <a:rPr lang="en-US" altLang="ko-KR" sz="1000" dirty="0"/>
              <a:t> </a:t>
            </a:r>
            <a:r>
              <a:rPr lang="en-US" altLang="ko-KR" sz="1000" dirty="0" err="1"/>
              <a:t>toàn</a:t>
            </a:r>
            <a:r>
              <a:rPr lang="en-US" altLang="ko-KR" sz="1000" dirty="0"/>
              <a:t> </a:t>
            </a:r>
            <a:r>
              <a:rPr lang="en-US" altLang="ko-KR" sz="1000" dirty="0" err="1"/>
              <a:t>bộ</a:t>
            </a:r>
            <a:r>
              <a:rPr lang="en-US" altLang="ko-KR" sz="1000" dirty="0"/>
              <a:t> </a:t>
            </a:r>
            <a:r>
              <a:rPr lang="en-US" altLang="ko-KR" sz="1000" dirty="0" err="1"/>
              <a:t>sản</a:t>
            </a:r>
            <a:r>
              <a:rPr lang="en-US" altLang="ko-KR" sz="1000" dirty="0"/>
              <a:t> </a:t>
            </a:r>
            <a:r>
              <a:rPr lang="en-US" altLang="ko-KR" sz="1000" dirty="0" err="1"/>
              <a:t>phẩm</a:t>
            </a:r>
            <a:endParaRPr lang="en-US" altLang="ko-KR" sz="1000" dirty="0"/>
          </a:p>
          <a:p>
            <a:r>
              <a:rPr lang="en-US" altLang="ko-KR" sz="1000" dirty="0" err="1">
                <a:sym typeface="Wingdings" panose="05000000000000000000" pitchFamily="2" charset="2"/>
              </a:rPr>
              <a:t>sản</a:t>
            </a:r>
            <a:r>
              <a:rPr lang="en-US" altLang="ko-KR" sz="1000" dirty="0">
                <a:sym typeface="Wingdings" panose="05000000000000000000" pitchFamily="2" charset="2"/>
              </a:rPr>
              <a:t> </a:t>
            </a:r>
            <a:r>
              <a:rPr lang="en-US" altLang="ko-KR" sz="1000" dirty="0" err="1">
                <a:sym typeface="Wingdings" panose="05000000000000000000" pitchFamily="2" charset="2"/>
              </a:rPr>
              <a:t>phẩm</a:t>
            </a:r>
            <a:r>
              <a:rPr lang="en-US" altLang="ko-KR" sz="1000" dirty="0">
                <a:sym typeface="Wingdings" panose="05000000000000000000" pitchFamily="2" charset="2"/>
              </a:rPr>
              <a:t> </a:t>
            </a:r>
            <a:r>
              <a:rPr lang="en-US" altLang="ko-KR" sz="1000" dirty="0" err="1">
                <a:sym typeface="Wingdings" panose="05000000000000000000" pitchFamily="2" charset="2"/>
              </a:rPr>
              <a:t>NGđánh</a:t>
            </a:r>
            <a:r>
              <a:rPr lang="en-US" altLang="ko-KR" sz="1000" dirty="0">
                <a:sym typeface="Wingdings" panose="05000000000000000000" pitchFamily="2" charset="2"/>
              </a:rPr>
              <a:t> </a:t>
            </a:r>
            <a:r>
              <a:rPr lang="en-US" altLang="ko-KR" sz="1000" dirty="0" err="1">
                <a:sym typeface="Wingdings" panose="05000000000000000000" pitchFamily="2" charset="2"/>
              </a:rPr>
              <a:t>giá</a:t>
            </a:r>
            <a:r>
              <a:rPr lang="en-US" altLang="ko-KR" sz="1000" dirty="0">
                <a:sym typeface="Wingdings" panose="05000000000000000000" pitchFamily="2" charset="2"/>
              </a:rPr>
              <a:t> </a:t>
            </a:r>
            <a:r>
              <a:rPr lang="en-US" altLang="ko-KR" sz="1000" dirty="0" err="1">
                <a:sym typeface="Wingdings" panose="05000000000000000000" pitchFamily="2" charset="2"/>
              </a:rPr>
              <a:t>sai</a:t>
            </a:r>
            <a:r>
              <a:rPr lang="en-US" altLang="ko-KR" sz="1000" dirty="0">
                <a:sym typeface="Wingdings" panose="05000000000000000000" pitchFamily="2" charset="2"/>
              </a:rPr>
              <a:t> </a:t>
            </a:r>
            <a:r>
              <a:rPr lang="en-US" altLang="ko-KR" sz="1000" dirty="0" err="1">
                <a:sym typeface="Wingdings" panose="05000000000000000000" pitchFamily="2" charset="2"/>
              </a:rPr>
              <a:t>thành</a:t>
            </a:r>
            <a:r>
              <a:rPr lang="en-US" altLang="ko-KR" sz="1000" dirty="0">
                <a:sym typeface="Wingdings" panose="05000000000000000000" pitchFamily="2" charset="2"/>
              </a:rPr>
              <a:t> OK</a:t>
            </a:r>
          </a:p>
          <a:p>
            <a:r>
              <a:rPr lang="en-US" altLang="ko-KR" sz="1000" dirty="0" err="1">
                <a:sym typeface="Wingdings" panose="05000000000000000000" pitchFamily="2" charset="2"/>
              </a:rPr>
              <a:t>sản</a:t>
            </a:r>
            <a:r>
              <a:rPr lang="en-US" altLang="ko-KR" sz="1000" dirty="0">
                <a:sym typeface="Wingdings" panose="05000000000000000000" pitchFamily="2" charset="2"/>
              </a:rPr>
              <a:t> </a:t>
            </a:r>
            <a:r>
              <a:rPr lang="en-US" altLang="ko-KR" sz="1000" dirty="0" err="1">
                <a:sym typeface="Wingdings" panose="05000000000000000000" pitchFamily="2" charset="2"/>
              </a:rPr>
              <a:t>phẩm</a:t>
            </a:r>
            <a:r>
              <a:rPr lang="en-US" altLang="ko-KR" sz="1000" dirty="0">
                <a:sym typeface="Wingdings" panose="05000000000000000000" pitchFamily="2" charset="2"/>
              </a:rPr>
              <a:t> OK</a:t>
            </a:r>
            <a:r>
              <a:rPr lang="ko-KR" altLang="en-US" sz="1000" dirty="0">
                <a:sym typeface="Wingdings" panose="05000000000000000000" pitchFamily="2" charset="2"/>
              </a:rPr>
              <a:t> </a:t>
            </a:r>
            <a:r>
              <a:rPr lang="en-US" altLang="ko-KR" sz="1000" dirty="0">
                <a:sym typeface="Wingdings" panose="05000000000000000000" pitchFamily="2" charset="2"/>
              </a:rPr>
              <a:t> </a:t>
            </a:r>
            <a:r>
              <a:rPr lang="en-US" altLang="ko-KR" sz="1000" dirty="0" err="1">
                <a:sym typeface="Wingdings" panose="05000000000000000000" pitchFamily="2" charset="2"/>
              </a:rPr>
              <a:t>đánh</a:t>
            </a:r>
            <a:r>
              <a:rPr lang="en-US" altLang="ko-KR" sz="1000" dirty="0">
                <a:sym typeface="Wingdings" panose="05000000000000000000" pitchFamily="2" charset="2"/>
              </a:rPr>
              <a:t> </a:t>
            </a:r>
            <a:r>
              <a:rPr lang="en-US" altLang="ko-KR" sz="1000" dirty="0" err="1">
                <a:sym typeface="Wingdings" panose="05000000000000000000" pitchFamily="2" charset="2"/>
              </a:rPr>
              <a:t>giá</a:t>
            </a:r>
            <a:r>
              <a:rPr lang="en-US" altLang="ko-KR" sz="1000" dirty="0">
                <a:sym typeface="Wingdings" panose="05000000000000000000" pitchFamily="2" charset="2"/>
              </a:rPr>
              <a:t> </a:t>
            </a:r>
            <a:r>
              <a:rPr lang="en-US" altLang="ko-KR" sz="1000" dirty="0" err="1">
                <a:sym typeface="Wingdings" panose="05000000000000000000" pitchFamily="2" charset="2"/>
              </a:rPr>
              <a:t>sai</a:t>
            </a:r>
            <a:r>
              <a:rPr lang="en-US" altLang="ko-KR" sz="1000" dirty="0">
                <a:sym typeface="Wingdings" panose="05000000000000000000" pitchFamily="2" charset="2"/>
              </a:rPr>
              <a:t> </a:t>
            </a:r>
            <a:r>
              <a:rPr lang="en-US" altLang="ko-KR" sz="1000" dirty="0" err="1">
                <a:sym typeface="Wingdings" panose="05000000000000000000" pitchFamily="2" charset="2"/>
              </a:rPr>
              <a:t>thành</a:t>
            </a:r>
            <a:r>
              <a:rPr lang="en-US" altLang="ko-KR" sz="1000" dirty="0">
                <a:sym typeface="Wingdings" panose="05000000000000000000" pitchFamily="2" charset="2"/>
              </a:rPr>
              <a:t> NG</a:t>
            </a:r>
            <a:endParaRPr lang="ko-KR" altLang="en-US" sz="1000" dirty="0"/>
          </a:p>
        </p:txBody>
      </p:sp>
      <p:sp>
        <p:nvSpPr>
          <p:cNvPr id="32" name="TextBox 31"/>
          <p:cNvSpPr txBox="1"/>
          <p:nvPr/>
        </p:nvSpPr>
        <p:spPr>
          <a:xfrm>
            <a:off x="6804248" y="5229200"/>
            <a:ext cx="1683474" cy="246221"/>
          </a:xfrm>
          <a:prstGeom prst="rect">
            <a:avLst/>
          </a:prstGeom>
          <a:noFill/>
        </p:spPr>
        <p:txBody>
          <a:bodyPr wrap="none" rtlCol="0">
            <a:spAutoFit/>
          </a:bodyPr>
          <a:lstStyle/>
          <a:p>
            <a:r>
              <a:rPr lang="ko-KR" altLang="en-US" sz="1000" dirty="0"/>
              <a:t>②</a:t>
            </a:r>
            <a:r>
              <a:rPr lang="en-US" altLang="ko-KR" sz="1000" dirty="0"/>
              <a:t> </a:t>
            </a:r>
            <a:r>
              <a:rPr lang="en-US" altLang="ko-KR" sz="1000" dirty="0" err="1"/>
              <a:t>Khả</a:t>
            </a:r>
            <a:r>
              <a:rPr lang="en-US" altLang="ko-KR" sz="1000" dirty="0"/>
              <a:t> </a:t>
            </a:r>
            <a:r>
              <a:rPr lang="en-US" altLang="ko-KR" sz="1000" dirty="0" err="1"/>
              <a:t>năng</a:t>
            </a:r>
            <a:r>
              <a:rPr lang="en-US" altLang="ko-KR" sz="1000" dirty="0"/>
              <a:t> </a:t>
            </a:r>
            <a:r>
              <a:rPr lang="en-US" altLang="ko-KR" sz="1000" dirty="0" err="1"/>
              <a:t>có</a:t>
            </a:r>
            <a:r>
              <a:rPr lang="en-US" altLang="ko-KR" sz="1000" dirty="0"/>
              <a:t> </a:t>
            </a:r>
            <a:r>
              <a:rPr lang="en-US" altLang="ko-KR" sz="1000" dirty="0" err="1"/>
              <a:t>điều</a:t>
            </a:r>
            <a:r>
              <a:rPr lang="en-US" altLang="ko-KR" sz="1000" dirty="0"/>
              <a:t> </a:t>
            </a:r>
            <a:r>
              <a:rPr lang="en-US" altLang="ko-KR" sz="1000" dirty="0" err="1"/>
              <a:t>kiện</a:t>
            </a:r>
            <a:endParaRPr lang="ko-KR" altLang="en-US" sz="1000" dirty="0"/>
          </a:p>
        </p:txBody>
      </p:sp>
      <p:sp>
        <p:nvSpPr>
          <p:cNvPr id="33" name="TextBox 32"/>
          <p:cNvSpPr txBox="1"/>
          <p:nvPr/>
        </p:nvSpPr>
        <p:spPr>
          <a:xfrm>
            <a:off x="6487528" y="5475421"/>
            <a:ext cx="2476960" cy="707886"/>
          </a:xfrm>
          <a:prstGeom prst="rect">
            <a:avLst/>
          </a:prstGeom>
          <a:noFill/>
        </p:spPr>
        <p:txBody>
          <a:bodyPr wrap="none" rtlCol="0">
            <a:spAutoFit/>
          </a:bodyPr>
          <a:lstStyle/>
          <a:p>
            <a:r>
              <a:rPr lang="en-US" altLang="ko-KR" sz="1000" dirty="0" err="1"/>
              <a:t>Chỉ</a:t>
            </a:r>
            <a:r>
              <a:rPr lang="en-US" altLang="ko-KR" sz="1000" dirty="0"/>
              <a:t> </a:t>
            </a:r>
            <a:r>
              <a:rPr lang="en-US" altLang="ko-KR" sz="1000" dirty="0" err="1"/>
              <a:t>tiến</a:t>
            </a:r>
            <a:r>
              <a:rPr lang="en-US" altLang="ko-KR" sz="1000" dirty="0"/>
              <a:t> </a:t>
            </a:r>
            <a:r>
              <a:rPr lang="en-US" altLang="ko-KR" sz="1000" dirty="0" err="1"/>
              <a:t>hành</a:t>
            </a:r>
            <a:r>
              <a:rPr lang="en-US" altLang="ko-KR" sz="1000" dirty="0"/>
              <a:t> </a:t>
            </a:r>
            <a:r>
              <a:rPr lang="en-US" altLang="ko-KR" sz="1000" dirty="0" err="1"/>
              <a:t>trên</a:t>
            </a:r>
            <a:r>
              <a:rPr lang="en-US" altLang="ko-KR" sz="1000" dirty="0"/>
              <a:t> </a:t>
            </a:r>
            <a:r>
              <a:rPr lang="en-US" altLang="ko-KR" sz="1000" dirty="0" err="1"/>
              <a:t>đối</a:t>
            </a:r>
            <a:r>
              <a:rPr lang="en-US" altLang="ko-KR" sz="1000" dirty="0"/>
              <a:t> </a:t>
            </a:r>
            <a:r>
              <a:rPr lang="en-US" altLang="ko-KR" sz="1000" dirty="0" err="1"/>
              <a:t>tượng</a:t>
            </a:r>
            <a:r>
              <a:rPr lang="en-US" altLang="ko-KR" sz="1000" dirty="0"/>
              <a:t> </a:t>
            </a:r>
            <a:r>
              <a:rPr lang="en-US" altLang="ko-KR" sz="1000" dirty="0" err="1"/>
              <a:t>hàng</a:t>
            </a:r>
            <a:r>
              <a:rPr lang="en-US" altLang="ko-KR" sz="1000" dirty="0"/>
              <a:t> NG</a:t>
            </a:r>
          </a:p>
          <a:p>
            <a:r>
              <a:rPr lang="en-US" altLang="ko-KR" sz="1000" dirty="0" err="1">
                <a:sym typeface="Wingdings" panose="05000000000000000000" pitchFamily="2" charset="2"/>
              </a:rPr>
              <a:t>sản</a:t>
            </a:r>
            <a:r>
              <a:rPr lang="en-US" altLang="ko-KR" sz="1000" dirty="0">
                <a:sym typeface="Wingdings" panose="05000000000000000000" pitchFamily="2" charset="2"/>
              </a:rPr>
              <a:t> </a:t>
            </a:r>
            <a:r>
              <a:rPr lang="en-US" altLang="ko-KR" sz="1000" dirty="0" err="1">
                <a:sym typeface="Wingdings" panose="05000000000000000000" pitchFamily="2" charset="2"/>
              </a:rPr>
              <a:t>phẩm</a:t>
            </a:r>
            <a:r>
              <a:rPr lang="en-US" altLang="ko-KR" sz="1000" dirty="0">
                <a:sym typeface="Wingdings" panose="05000000000000000000" pitchFamily="2" charset="2"/>
              </a:rPr>
              <a:t> NG </a:t>
            </a:r>
            <a:r>
              <a:rPr lang="en-US" altLang="ko-KR" sz="1000" dirty="0" err="1">
                <a:sym typeface="Wingdings" panose="05000000000000000000" pitchFamily="2" charset="2"/>
              </a:rPr>
              <a:t>đánh</a:t>
            </a:r>
            <a:r>
              <a:rPr lang="en-US" altLang="ko-KR" sz="1000" dirty="0">
                <a:sym typeface="Wingdings" panose="05000000000000000000" pitchFamily="2" charset="2"/>
              </a:rPr>
              <a:t> </a:t>
            </a:r>
            <a:r>
              <a:rPr lang="en-US" altLang="ko-KR" sz="1000" dirty="0" err="1">
                <a:sym typeface="Wingdings" panose="05000000000000000000" pitchFamily="2" charset="2"/>
              </a:rPr>
              <a:t>giá</a:t>
            </a:r>
            <a:r>
              <a:rPr lang="en-US" altLang="ko-KR" sz="1000" dirty="0">
                <a:sym typeface="Wingdings" panose="05000000000000000000" pitchFamily="2" charset="2"/>
              </a:rPr>
              <a:t> </a:t>
            </a:r>
            <a:r>
              <a:rPr lang="en-US" altLang="ko-KR" sz="1000" dirty="0" err="1">
                <a:sym typeface="Wingdings" panose="05000000000000000000" pitchFamily="2" charset="2"/>
              </a:rPr>
              <a:t>sai</a:t>
            </a:r>
            <a:r>
              <a:rPr lang="en-US" altLang="ko-KR" sz="1000" dirty="0">
                <a:sym typeface="Wingdings" panose="05000000000000000000" pitchFamily="2" charset="2"/>
              </a:rPr>
              <a:t> </a:t>
            </a:r>
            <a:r>
              <a:rPr lang="en-US" altLang="ko-KR" sz="1000" dirty="0" err="1">
                <a:sym typeface="Wingdings" panose="05000000000000000000" pitchFamily="2" charset="2"/>
              </a:rPr>
              <a:t>thành</a:t>
            </a:r>
            <a:r>
              <a:rPr lang="en-US" altLang="ko-KR" sz="1000" dirty="0">
                <a:sym typeface="Wingdings" panose="05000000000000000000" pitchFamily="2" charset="2"/>
              </a:rPr>
              <a:t> OK</a:t>
            </a:r>
          </a:p>
          <a:p>
            <a:r>
              <a:rPr lang="en-US" altLang="ko-KR" sz="1000" dirty="0" err="1">
                <a:sym typeface="Wingdings" panose="05000000000000000000" pitchFamily="2" charset="2"/>
              </a:rPr>
              <a:t>Chỉ</a:t>
            </a:r>
            <a:r>
              <a:rPr lang="en-US" altLang="ko-KR" sz="1000" dirty="0">
                <a:sym typeface="Wingdings" panose="05000000000000000000" pitchFamily="2" charset="2"/>
              </a:rPr>
              <a:t> </a:t>
            </a:r>
            <a:r>
              <a:rPr lang="en-US" altLang="ko-KR" sz="1000" dirty="0" err="1">
                <a:sym typeface="Wingdings" panose="05000000000000000000" pitchFamily="2" charset="2"/>
              </a:rPr>
              <a:t>tiến</a:t>
            </a:r>
            <a:r>
              <a:rPr lang="en-US" altLang="ko-KR" sz="1000" dirty="0">
                <a:sym typeface="Wingdings" panose="05000000000000000000" pitchFamily="2" charset="2"/>
              </a:rPr>
              <a:t> </a:t>
            </a:r>
            <a:r>
              <a:rPr lang="en-US" altLang="ko-KR" sz="1000" dirty="0" err="1">
                <a:sym typeface="Wingdings" panose="05000000000000000000" pitchFamily="2" charset="2"/>
              </a:rPr>
              <a:t>hành</a:t>
            </a:r>
            <a:r>
              <a:rPr lang="en-US" altLang="ko-KR" sz="1000" dirty="0">
                <a:sym typeface="Wingdings" panose="05000000000000000000" pitchFamily="2" charset="2"/>
              </a:rPr>
              <a:t> </a:t>
            </a:r>
            <a:r>
              <a:rPr lang="en-US" altLang="ko-KR" sz="1000" dirty="0" err="1">
                <a:sym typeface="Wingdings" panose="05000000000000000000" pitchFamily="2" charset="2"/>
              </a:rPr>
              <a:t>trên</a:t>
            </a:r>
            <a:r>
              <a:rPr lang="en-US" altLang="ko-KR" sz="1000" dirty="0">
                <a:sym typeface="Wingdings" panose="05000000000000000000" pitchFamily="2" charset="2"/>
              </a:rPr>
              <a:t> </a:t>
            </a:r>
            <a:r>
              <a:rPr lang="en-US" altLang="ko-KR" sz="1000" dirty="0" err="1">
                <a:sym typeface="Wingdings" panose="05000000000000000000" pitchFamily="2" charset="2"/>
              </a:rPr>
              <a:t>sản</a:t>
            </a:r>
            <a:r>
              <a:rPr lang="en-US" altLang="ko-KR" sz="1000" dirty="0">
                <a:sym typeface="Wingdings" panose="05000000000000000000" pitchFamily="2" charset="2"/>
              </a:rPr>
              <a:t> </a:t>
            </a:r>
            <a:r>
              <a:rPr lang="en-US" altLang="ko-KR" sz="1000" dirty="0" err="1">
                <a:sym typeface="Wingdings" panose="05000000000000000000" pitchFamily="2" charset="2"/>
              </a:rPr>
              <a:t>phẩm</a:t>
            </a:r>
            <a:r>
              <a:rPr lang="en-US" altLang="ko-KR" sz="1000" dirty="0">
                <a:sym typeface="Wingdings" panose="05000000000000000000" pitchFamily="2" charset="2"/>
              </a:rPr>
              <a:t> OK</a:t>
            </a:r>
          </a:p>
          <a:p>
            <a:r>
              <a:rPr lang="en-US" altLang="ko-KR" sz="1000" dirty="0" err="1">
                <a:sym typeface="Wingdings" panose="05000000000000000000" pitchFamily="2" charset="2"/>
              </a:rPr>
              <a:t>sản</a:t>
            </a:r>
            <a:r>
              <a:rPr lang="en-US" altLang="ko-KR" sz="1000" dirty="0">
                <a:sym typeface="Wingdings" panose="05000000000000000000" pitchFamily="2" charset="2"/>
              </a:rPr>
              <a:t> </a:t>
            </a:r>
            <a:r>
              <a:rPr lang="en-US" altLang="ko-KR" sz="1000" dirty="0" err="1">
                <a:sym typeface="Wingdings" panose="05000000000000000000" pitchFamily="2" charset="2"/>
              </a:rPr>
              <a:t>phẩm</a:t>
            </a:r>
            <a:r>
              <a:rPr lang="en-US" altLang="ko-KR" sz="1000" dirty="0">
                <a:sym typeface="Wingdings" panose="05000000000000000000" pitchFamily="2" charset="2"/>
              </a:rPr>
              <a:t> </a:t>
            </a:r>
            <a:r>
              <a:rPr lang="en-US" altLang="ko-KR" sz="1000" dirty="0" err="1">
                <a:sym typeface="Wingdings" panose="05000000000000000000" pitchFamily="2" charset="2"/>
              </a:rPr>
              <a:t>OKđánh</a:t>
            </a:r>
            <a:r>
              <a:rPr lang="en-US" altLang="ko-KR" sz="1000" dirty="0">
                <a:sym typeface="Wingdings" panose="05000000000000000000" pitchFamily="2" charset="2"/>
              </a:rPr>
              <a:t> </a:t>
            </a:r>
            <a:r>
              <a:rPr lang="en-US" altLang="ko-KR" sz="1000" dirty="0" err="1">
                <a:sym typeface="Wingdings" panose="05000000000000000000" pitchFamily="2" charset="2"/>
              </a:rPr>
              <a:t>giá</a:t>
            </a:r>
            <a:r>
              <a:rPr lang="en-US" altLang="ko-KR" sz="1000" dirty="0">
                <a:sym typeface="Wingdings" panose="05000000000000000000" pitchFamily="2" charset="2"/>
              </a:rPr>
              <a:t> </a:t>
            </a:r>
            <a:r>
              <a:rPr lang="en-US" altLang="ko-KR" sz="1000" dirty="0" err="1">
                <a:sym typeface="Wingdings" panose="05000000000000000000" pitchFamily="2" charset="2"/>
              </a:rPr>
              <a:t>sai</a:t>
            </a:r>
            <a:r>
              <a:rPr lang="en-US" altLang="ko-KR" sz="1000" dirty="0">
                <a:sym typeface="Wingdings" panose="05000000000000000000" pitchFamily="2" charset="2"/>
              </a:rPr>
              <a:t> </a:t>
            </a:r>
            <a:r>
              <a:rPr lang="en-US" altLang="ko-KR" sz="1000" dirty="0" err="1">
                <a:sym typeface="Wingdings" panose="05000000000000000000" pitchFamily="2" charset="2"/>
              </a:rPr>
              <a:t>thành</a:t>
            </a:r>
            <a:r>
              <a:rPr lang="en-US" altLang="ko-KR" sz="1000" dirty="0">
                <a:sym typeface="Wingdings" panose="05000000000000000000" pitchFamily="2" charset="2"/>
              </a:rPr>
              <a:t> NG</a:t>
            </a:r>
            <a:endParaRPr lang="ko-KR" altLang="en-US" sz="1000" dirty="0"/>
          </a:p>
        </p:txBody>
      </p:sp>
      <p:sp>
        <p:nvSpPr>
          <p:cNvPr id="7" name="TextBox 6"/>
          <p:cNvSpPr txBox="1"/>
          <p:nvPr/>
        </p:nvSpPr>
        <p:spPr>
          <a:xfrm>
            <a:off x="429418" y="4308403"/>
            <a:ext cx="312906" cy="246221"/>
          </a:xfrm>
          <a:prstGeom prst="rect">
            <a:avLst/>
          </a:prstGeom>
          <a:noFill/>
        </p:spPr>
        <p:txBody>
          <a:bodyPr wrap="none" rtlCol="0">
            <a:spAutoFit/>
          </a:bodyPr>
          <a:lstStyle/>
          <a:p>
            <a:r>
              <a:rPr lang="ko-KR" altLang="en-US" sz="1000" dirty="0"/>
              <a:t>①</a:t>
            </a:r>
          </a:p>
        </p:txBody>
      </p:sp>
      <p:sp>
        <p:nvSpPr>
          <p:cNvPr id="34" name="TextBox 33"/>
          <p:cNvSpPr txBox="1"/>
          <p:nvPr/>
        </p:nvSpPr>
        <p:spPr>
          <a:xfrm>
            <a:off x="429418" y="5412972"/>
            <a:ext cx="312906" cy="246221"/>
          </a:xfrm>
          <a:prstGeom prst="rect">
            <a:avLst/>
          </a:prstGeom>
          <a:noFill/>
        </p:spPr>
        <p:txBody>
          <a:bodyPr wrap="none" rtlCol="0">
            <a:spAutoFit/>
          </a:bodyPr>
          <a:lstStyle/>
          <a:p>
            <a:r>
              <a:rPr lang="ko-KR" altLang="en-US" sz="1000" dirty="0"/>
              <a:t>②</a:t>
            </a:r>
          </a:p>
        </p:txBody>
      </p:sp>
    </p:spTree>
    <p:extLst>
      <p:ext uri="{BB962C8B-B14F-4D97-AF65-F5344CB8AC3E}">
        <p14:creationId xmlns:p14="http://schemas.microsoft.com/office/powerpoint/2010/main" val="167032125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04" name="Picture 4"/>
          <p:cNvPicPr>
            <a:picLocks noChangeAspect="1" noChangeArrowheads="1"/>
          </p:cNvPicPr>
          <p:nvPr/>
        </p:nvPicPr>
        <p:blipFill>
          <a:blip r:embed="rId2" cstate="print"/>
          <a:srcRect/>
          <a:stretch>
            <a:fillRect/>
          </a:stretch>
        </p:blipFill>
        <p:spPr bwMode="auto">
          <a:xfrm>
            <a:off x="1049147" y="1484784"/>
            <a:ext cx="4386949" cy="3096344"/>
          </a:xfrm>
          <a:prstGeom prst="rect">
            <a:avLst/>
          </a:prstGeom>
          <a:noFill/>
          <a:ln w="9525">
            <a:noFill/>
            <a:miter lim="800000"/>
            <a:headEnd/>
            <a:tailEnd/>
          </a:ln>
        </p:spPr>
      </p:pic>
      <p:sp>
        <p:nvSpPr>
          <p:cNvPr id="180227" name="Oval 4"/>
          <p:cNvSpPr>
            <a:spLocks noChangeArrowheads="1"/>
          </p:cNvSpPr>
          <p:nvPr/>
        </p:nvSpPr>
        <p:spPr bwMode="auto">
          <a:xfrm>
            <a:off x="1173773" y="2346325"/>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A</a:t>
            </a:r>
          </a:p>
        </p:txBody>
      </p:sp>
      <p:sp>
        <p:nvSpPr>
          <p:cNvPr id="180228" name="Oval 5"/>
          <p:cNvSpPr>
            <a:spLocks noChangeArrowheads="1"/>
          </p:cNvSpPr>
          <p:nvPr/>
        </p:nvSpPr>
        <p:spPr bwMode="auto">
          <a:xfrm>
            <a:off x="1173773" y="3205163"/>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B</a:t>
            </a:r>
          </a:p>
        </p:txBody>
      </p:sp>
      <p:sp>
        <p:nvSpPr>
          <p:cNvPr id="180229" name="Oval 6"/>
          <p:cNvSpPr>
            <a:spLocks noChangeArrowheads="1"/>
          </p:cNvSpPr>
          <p:nvPr/>
        </p:nvSpPr>
        <p:spPr bwMode="auto">
          <a:xfrm>
            <a:off x="1173773" y="3971925"/>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C</a:t>
            </a:r>
          </a:p>
        </p:txBody>
      </p:sp>
      <p:sp>
        <p:nvSpPr>
          <p:cNvPr id="180230" name="Oval 7"/>
          <p:cNvSpPr>
            <a:spLocks noChangeArrowheads="1"/>
          </p:cNvSpPr>
          <p:nvPr/>
        </p:nvSpPr>
        <p:spPr bwMode="auto">
          <a:xfrm>
            <a:off x="3348404" y="2343150"/>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D</a:t>
            </a:r>
          </a:p>
        </p:txBody>
      </p:sp>
      <p:sp>
        <p:nvSpPr>
          <p:cNvPr id="180231" name="Oval 8"/>
          <p:cNvSpPr>
            <a:spLocks noChangeArrowheads="1"/>
          </p:cNvSpPr>
          <p:nvPr/>
        </p:nvSpPr>
        <p:spPr bwMode="auto">
          <a:xfrm>
            <a:off x="3348404" y="3201988"/>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E</a:t>
            </a:r>
          </a:p>
        </p:txBody>
      </p:sp>
      <p:sp>
        <p:nvSpPr>
          <p:cNvPr id="180232" name="Oval 9"/>
          <p:cNvSpPr>
            <a:spLocks noChangeArrowheads="1"/>
          </p:cNvSpPr>
          <p:nvPr/>
        </p:nvSpPr>
        <p:spPr bwMode="auto">
          <a:xfrm>
            <a:off x="3348404" y="3968750"/>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F</a:t>
            </a:r>
          </a:p>
        </p:txBody>
      </p:sp>
      <p:sp>
        <p:nvSpPr>
          <p:cNvPr id="11" name="Rectangle 11"/>
          <p:cNvSpPr>
            <a:spLocks noChangeArrowheads="1"/>
          </p:cNvSpPr>
          <p:nvPr/>
        </p:nvSpPr>
        <p:spPr bwMode="auto">
          <a:xfrm>
            <a:off x="1303597" y="4581128"/>
            <a:ext cx="3999561" cy="530622"/>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Biểu</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hiện</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tỉ</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trọng</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biến</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động</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mỗi</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hạng</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mục</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được</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xem</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xét</a:t>
            </a:r>
            <a:endParaRPr lang="ko-KR" altLang="en-US" sz="1050" dirty="0">
              <a:solidFill>
                <a:srgbClr val="000000"/>
              </a:solidFill>
              <a:latin typeface="맑은 고딕" pitchFamily="50" charset="-127"/>
              <a:ea typeface="맑은 고딕" pitchFamily="50" charset="-127"/>
            </a:endParaRPr>
          </a:p>
          <a:p>
            <a:pPr>
              <a:spcBef>
                <a:spcPts val="0"/>
              </a:spcBef>
              <a:defRPr/>
            </a:pPr>
            <a:r>
              <a:rPr lang="en-US" altLang="ko-KR" sz="1050" dirty="0">
                <a:solidFill>
                  <a:srgbClr val="000000"/>
                </a:solidFill>
                <a:latin typeface="맑은 고딕" pitchFamily="50" charset="-127"/>
                <a:ea typeface="맑은 고딕" pitchFamily="50" charset="-127"/>
              </a:rPr>
              <a:t>- So </a:t>
            </a:r>
            <a:r>
              <a:rPr lang="en-US" altLang="ko-KR" sz="1050" dirty="0" err="1">
                <a:solidFill>
                  <a:srgbClr val="000000"/>
                </a:solidFill>
                <a:latin typeface="맑은 고딕" pitchFamily="50" charset="-127"/>
                <a:ea typeface="맑은 고딕" pitchFamily="50" charset="-127"/>
              </a:rPr>
              <a:t>với</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tỉ</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trọng</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của</a:t>
            </a:r>
            <a:r>
              <a:rPr lang="en-US" altLang="ko-KR" sz="1050" dirty="0">
                <a:solidFill>
                  <a:srgbClr val="000000"/>
                </a:solidFill>
                <a:latin typeface="맑은 고딕" pitchFamily="50" charset="-127"/>
                <a:ea typeface="맑은 고딕" pitchFamily="50" charset="-127"/>
              </a:rPr>
              <a:t> Gage </a:t>
            </a:r>
            <a:r>
              <a:rPr lang="en-US" altLang="ko-KR" sz="1050" dirty="0" err="1">
                <a:solidFill>
                  <a:srgbClr val="000000"/>
                </a:solidFill>
                <a:latin typeface="맑은 고딕" pitchFamily="50" charset="-127"/>
                <a:ea typeface="맑은 고딕" pitchFamily="50" charset="-127"/>
              </a:rPr>
              <a:t>R&amp;RPart</a:t>
            </a:r>
            <a:r>
              <a:rPr lang="en-US" altLang="ko-KR" sz="1050" dirty="0">
                <a:solidFill>
                  <a:srgbClr val="000000"/>
                </a:solidFill>
                <a:latin typeface="맑은 고딕" pitchFamily="50" charset="-127"/>
                <a:ea typeface="맑은 고딕" pitchFamily="50" charset="-127"/>
              </a:rPr>
              <a:t>-to-Part </a:t>
            </a:r>
            <a:r>
              <a:rPr lang="en-US" altLang="ko-KR" sz="1050" dirty="0" err="1">
                <a:solidFill>
                  <a:srgbClr val="000000"/>
                </a:solidFill>
                <a:latin typeface="맑은 고딕" pitchFamily="50" charset="-127"/>
                <a:ea typeface="맑은 고딕" pitchFamily="50" charset="-127"/>
              </a:rPr>
              <a:t>phải</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nhỏ</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hơn</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cần</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thiết</a:t>
            </a:r>
            <a:r>
              <a:rPr lang="en-US" altLang="ko-KR" sz="1050" dirty="0">
                <a:solidFill>
                  <a:srgbClr val="000000"/>
                </a:solidFill>
                <a:latin typeface="맑은 고딕" pitchFamily="50" charset="-127"/>
                <a:ea typeface="맑은 고딕" pitchFamily="50" charset="-127"/>
              </a:rPr>
              <a:t>/</a:t>
            </a:r>
            <a:r>
              <a:rPr lang="en-US" altLang="ko-KR" sz="1050" dirty="0" err="1">
                <a:solidFill>
                  <a:srgbClr val="000000"/>
                </a:solidFill>
                <a:latin typeface="맑은 고딕" pitchFamily="50" charset="-127"/>
                <a:ea typeface="맑은 고딕" pitchFamily="50" charset="-127"/>
              </a:rPr>
              <a:t>đầy</a:t>
            </a:r>
            <a:r>
              <a:rPr lang="en-US" altLang="ko-KR" sz="1050" dirty="0">
                <a:solidFill>
                  <a:srgbClr val="000000"/>
                </a:solidFill>
                <a:latin typeface="맑은 고딕" pitchFamily="50" charset="-127"/>
                <a:ea typeface="맑은 고딕" pitchFamily="50" charset="-127"/>
              </a:rPr>
              <a:t> </a:t>
            </a:r>
            <a:r>
              <a:rPr lang="en-US" altLang="ko-KR" sz="1050" dirty="0" err="1">
                <a:solidFill>
                  <a:srgbClr val="000000"/>
                </a:solidFill>
                <a:latin typeface="맑은 고딕" pitchFamily="50" charset="-127"/>
                <a:ea typeface="맑은 고딕" pitchFamily="50" charset="-127"/>
              </a:rPr>
              <a:t>đủ</a:t>
            </a:r>
            <a:endParaRPr lang="ko-KR" altLang="en-US" sz="1050" dirty="0">
              <a:solidFill>
                <a:srgbClr val="000000"/>
              </a:solidFill>
              <a:latin typeface="맑은 고딕" pitchFamily="50" charset="-127"/>
              <a:ea typeface="맑은 고딕" pitchFamily="50" charset="-127"/>
            </a:endParaRPr>
          </a:p>
        </p:txBody>
      </p:sp>
      <p:sp>
        <p:nvSpPr>
          <p:cNvPr id="180234" name="Oval 12"/>
          <p:cNvSpPr>
            <a:spLocks noChangeArrowheads="1"/>
          </p:cNvSpPr>
          <p:nvPr/>
        </p:nvSpPr>
        <p:spPr bwMode="auto">
          <a:xfrm>
            <a:off x="994401" y="4765675"/>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A</a:t>
            </a:r>
          </a:p>
        </p:txBody>
      </p:sp>
      <p:sp>
        <p:nvSpPr>
          <p:cNvPr id="13" name="Rectangle 13"/>
          <p:cNvSpPr>
            <a:spLocks noChangeArrowheads="1"/>
          </p:cNvSpPr>
          <p:nvPr/>
        </p:nvSpPr>
        <p:spPr bwMode="auto">
          <a:xfrm>
            <a:off x="1292519" y="5157192"/>
            <a:ext cx="3999561" cy="579437"/>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Biểu</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phạm</a:t>
            </a:r>
            <a:r>
              <a:rPr lang="en-US" altLang="ko-KR" sz="1100" dirty="0">
                <a:solidFill>
                  <a:srgbClr val="000000"/>
                </a:solidFill>
                <a:latin typeface="맑은 고딕" pitchFamily="50" charset="-127"/>
                <a:ea typeface="맑은 고딕" pitchFamily="50" charset="-127"/>
              </a:rPr>
              <a:t> vi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mỗi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endParaRPr lang="ko-KR" altLang="en-US" sz="1100" dirty="0">
              <a:solidFill>
                <a:srgbClr val="000000"/>
              </a:solidFill>
              <a:latin typeface="맑은 고딕" pitchFamily="50" charset="-127"/>
              <a:ea typeface="맑은 고딕" pitchFamily="50" charset="-127"/>
            </a:endParaRPr>
          </a:p>
          <a:p>
            <a:pPr>
              <a:spcBef>
                <a:spcPts val="0"/>
              </a:spcBef>
              <a:buFontTx/>
              <a:buChar char="-"/>
              <a:defRPr/>
            </a:pPr>
            <a:r>
              <a:rPr lang="ko-KR" altLang="en-US"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Kiểm</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tính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nhất</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quán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và</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độ</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lặp</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lại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tất</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cả</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điểm</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phải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trong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đường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giới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quản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lý</a:t>
            </a:r>
            <a:endParaRPr lang="ko-KR" altLang="en-US" sz="1100" dirty="0">
              <a:solidFill>
                <a:srgbClr val="000000"/>
              </a:solidFill>
              <a:latin typeface="맑은 고딕" pitchFamily="50" charset="-127"/>
              <a:ea typeface="맑은 고딕" pitchFamily="50" charset="-127"/>
            </a:endParaRPr>
          </a:p>
        </p:txBody>
      </p:sp>
      <p:sp>
        <p:nvSpPr>
          <p:cNvPr id="180236" name="Oval 14"/>
          <p:cNvSpPr>
            <a:spLocks noChangeArrowheads="1"/>
          </p:cNvSpPr>
          <p:nvPr/>
        </p:nvSpPr>
        <p:spPr bwMode="auto">
          <a:xfrm>
            <a:off x="982678" y="5354638"/>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B</a:t>
            </a:r>
          </a:p>
        </p:txBody>
      </p:sp>
      <p:sp>
        <p:nvSpPr>
          <p:cNvPr id="15" name="Rectangle 15"/>
          <p:cNvSpPr>
            <a:spLocks noChangeArrowheads="1"/>
          </p:cNvSpPr>
          <p:nvPr/>
        </p:nvSpPr>
        <p:spPr bwMode="auto">
          <a:xfrm>
            <a:off x="1303597" y="5805264"/>
            <a:ext cx="3999561" cy="851171"/>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Thể</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bình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quân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mỗi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biệt</a:t>
            </a:r>
            <a:endParaRPr lang="ko-KR" altLang="en-US" sz="1100" dirty="0">
              <a:solidFill>
                <a:srgbClr val="000000"/>
              </a:solidFill>
              <a:latin typeface="맑은 고딕" pitchFamily="50" charset="-127"/>
              <a:ea typeface="맑은 고딕" pitchFamily="50" charset="-127"/>
            </a:endParaRPr>
          </a:p>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Kiểm</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tính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nhất</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quán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và</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tính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sử</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dụng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thích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hợp</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dụng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cụ</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endParaRPr lang="ko-KR" altLang="en-US" sz="1100" dirty="0">
              <a:solidFill>
                <a:srgbClr val="000000"/>
              </a:solidFill>
              <a:latin typeface="맑은 고딕" pitchFamily="50" charset="-127"/>
              <a:ea typeface="맑은 고딕" pitchFamily="50" charset="-127"/>
            </a:endParaRPr>
          </a:p>
          <a:p>
            <a:pPr>
              <a:spcBef>
                <a:spcPts val="0"/>
              </a:spcBef>
              <a:buFontTx/>
              <a:buChar char="-"/>
              <a:defRPr/>
            </a:pPr>
            <a:r>
              <a:rPr lang="ko-KR" altLang="en-US"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trong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những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trung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bình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đường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giới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quản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lý</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phải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trên</a:t>
            </a:r>
            <a:r>
              <a:rPr lang="en-US" altLang="ko-KR" sz="1100" dirty="0">
                <a:solidFill>
                  <a:srgbClr val="000000"/>
                </a:solidFill>
                <a:latin typeface="맑은 고딕" pitchFamily="50" charset="-127"/>
                <a:ea typeface="맑은 고딕" pitchFamily="50" charset="-127"/>
              </a:rPr>
              <a:t> </a:t>
            </a:r>
            <a:r>
              <a:rPr lang="en-US" altLang="ko-KR" sz="1100" b="1" dirty="0">
                <a:solidFill>
                  <a:srgbClr val="FF0000"/>
                </a:solidFill>
                <a:latin typeface="맑은 고딕" pitchFamily="50" charset="-127"/>
                <a:ea typeface="맑은 고딕" pitchFamily="50" charset="-127"/>
              </a:rPr>
              <a:t>50% </a:t>
            </a:r>
            <a:r>
              <a:rPr lang="en-US" altLang="ko-KR" sz="1100" b="1" dirty="0" err="1">
                <a:solidFill>
                  <a:srgbClr val="FF0000"/>
                </a:solidFill>
                <a:latin typeface="맑은 고딕" pitchFamily="50" charset="-127"/>
                <a:ea typeface="맑은 고딕" pitchFamily="50" charset="-127"/>
              </a:rPr>
              <a:t>thì</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mới</a:t>
            </a:r>
            <a:r>
              <a:rPr lang="en-US" altLang="ko-KR" sz="1100" b="1" dirty="0">
                <a:solidFill>
                  <a:srgbClr val="FF0000"/>
                </a:solidFill>
                <a:latin typeface="맑은 고딕" pitchFamily="50" charset="-127"/>
                <a:ea typeface="맑은 고딕" pitchFamily="50" charset="-127"/>
              </a:rPr>
              <a:t> </a:t>
            </a:r>
            <a:r>
              <a:rPr lang="en-US" altLang="ko-KR" sz="1100" b="1" dirty="0" err="1">
                <a:solidFill>
                  <a:srgbClr val="FF0000"/>
                </a:solidFill>
                <a:latin typeface="맑은 고딕" pitchFamily="50" charset="-127"/>
                <a:ea typeface="맑은 고딕" pitchFamily="50" charset="-127"/>
              </a:rPr>
              <a:t>đúng</a:t>
            </a:r>
            <a:endParaRPr lang="ko-KR" altLang="en-US" sz="1100" dirty="0">
              <a:solidFill>
                <a:srgbClr val="000000"/>
              </a:solidFill>
              <a:latin typeface="맑은 고딕" pitchFamily="50" charset="-127"/>
              <a:ea typeface="맑은 고딕" pitchFamily="50" charset="-127"/>
            </a:endParaRPr>
          </a:p>
        </p:txBody>
      </p:sp>
      <p:sp>
        <p:nvSpPr>
          <p:cNvPr id="180238" name="Oval 16"/>
          <p:cNvSpPr>
            <a:spLocks noChangeArrowheads="1"/>
          </p:cNvSpPr>
          <p:nvPr/>
        </p:nvSpPr>
        <p:spPr bwMode="auto">
          <a:xfrm>
            <a:off x="992935" y="6053138"/>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C</a:t>
            </a:r>
          </a:p>
        </p:txBody>
      </p:sp>
      <p:sp>
        <p:nvSpPr>
          <p:cNvPr id="17" name="Rectangle 17"/>
          <p:cNvSpPr>
            <a:spLocks noChangeArrowheads="1"/>
          </p:cNvSpPr>
          <p:nvPr/>
        </p:nvSpPr>
        <p:spPr bwMode="auto">
          <a:xfrm>
            <a:off x="5719396" y="4221088"/>
            <a:ext cx="3245091" cy="936104"/>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endParaRPr lang="en-US" altLang="ko-KR" sz="1100" dirty="0">
              <a:solidFill>
                <a:srgbClr val="000000"/>
              </a:solidFill>
              <a:latin typeface="맑은 고딕" pitchFamily="50" charset="-127"/>
              <a:ea typeface="맑은 고딕" pitchFamily="50" charset="-127"/>
            </a:endParaRPr>
          </a:p>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Không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phân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biệt</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đánh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thể</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theo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mỗi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linh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kiện</a:t>
            </a:r>
            <a:endParaRPr lang="ko-KR" altLang="en-US" sz="1100" dirty="0">
              <a:solidFill>
                <a:srgbClr val="000000"/>
              </a:solidFill>
              <a:latin typeface="맑은 고딕" pitchFamily="50" charset="-127"/>
              <a:ea typeface="맑은 고딕" pitchFamily="50" charset="-127"/>
            </a:endParaRPr>
          </a:p>
          <a:p>
            <a:pPr>
              <a:spcBef>
                <a:spcPts val="0"/>
              </a:spcBef>
              <a:buFontTx/>
              <a:buChar char="-"/>
              <a:defRPr/>
            </a:pPr>
            <a:r>
              <a:rPr lang="ko-KR" altLang="en-US"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Phân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mỗi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linh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phải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nhỏ</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chênh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lệch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trung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bình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mỗi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linh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phải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lớn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thì</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mới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đúng</a:t>
            </a:r>
            <a:endParaRPr lang="en-US" altLang="ko-KR" sz="1100" dirty="0">
              <a:solidFill>
                <a:srgbClr val="000000"/>
              </a:solidFill>
              <a:latin typeface="맑은 고딕" pitchFamily="50" charset="-127"/>
              <a:ea typeface="맑은 고딕" pitchFamily="50" charset="-127"/>
            </a:endParaRPr>
          </a:p>
          <a:p>
            <a:pPr>
              <a:spcBef>
                <a:spcPts val="0"/>
              </a:spcBef>
              <a:defRPr/>
            </a:pPr>
            <a:endParaRPr lang="ko-KR" altLang="en-US" sz="1100" dirty="0">
              <a:solidFill>
                <a:srgbClr val="000000"/>
              </a:solidFill>
              <a:latin typeface="맑은 고딕" pitchFamily="50" charset="-127"/>
              <a:ea typeface="맑은 고딕" pitchFamily="50" charset="-127"/>
            </a:endParaRPr>
          </a:p>
        </p:txBody>
      </p:sp>
      <p:sp>
        <p:nvSpPr>
          <p:cNvPr id="180240" name="Oval 18"/>
          <p:cNvSpPr>
            <a:spLocks noChangeArrowheads="1"/>
          </p:cNvSpPr>
          <p:nvPr/>
        </p:nvSpPr>
        <p:spPr bwMode="auto">
          <a:xfrm>
            <a:off x="5435112" y="4786313"/>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D</a:t>
            </a:r>
          </a:p>
        </p:txBody>
      </p:sp>
      <p:sp>
        <p:nvSpPr>
          <p:cNvPr id="19" name="Rectangle 19"/>
          <p:cNvSpPr>
            <a:spLocks noChangeArrowheads="1"/>
          </p:cNvSpPr>
          <p:nvPr/>
        </p:nvSpPr>
        <p:spPr bwMode="auto">
          <a:xfrm>
            <a:off x="5713534" y="5209034"/>
            <a:ext cx="3250953" cy="740246"/>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Không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phân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biệt</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linh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thế</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hiện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theo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từng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endParaRPr lang="ko-KR" altLang="en-US" sz="1100" dirty="0">
              <a:solidFill>
                <a:srgbClr val="000000"/>
              </a:solidFill>
              <a:latin typeface="맑은 고딕" pitchFamily="50" charset="-127"/>
              <a:ea typeface="맑은 고딕" pitchFamily="50" charset="-127"/>
            </a:endParaRPr>
          </a:p>
          <a:p>
            <a:pPr>
              <a:spcBef>
                <a:spcPts val="0"/>
              </a:spcBef>
              <a:defRPr/>
            </a:pP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Nếu</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đường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liên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kết</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trung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bình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theo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mà</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cân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bằng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thì</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đúng</a:t>
            </a:r>
            <a:r>
              <a:rPr lang="en-US" altLang="ko-KR" sz="1100" dirty="0">
                <a:solidFill>
                  <a:srgbClr val="000000"/>
                </a:solidFill>
                <a:latin typeface="맑은 고딕" pitchFamily="50" charset="-127"/>
                <a:ea typeface="맑은 고딕" pitchFamily="50" charset="-127"/>
              </a:rPr>
              <a:t>.</a:t>
            </a:r>
            <a:endParaRPr lang="ko-KR" altLang="en-US" sz="1100" dirty="0">
              <a:solidFill>
                <a:srgbClr val="000000"/>
              </a:solidFill>
              <a:latin typeface="맑은 고딕" pitchFamily="50" charset="-127"/>
              <a:ea typeface="맑은 고딕" pitchFamily="50" charset="-127"/>
            </a:endParaRPr>
          </a:p>
        </p:txBody>
      </p:sp>
      <p:sp>
        <p:nvSpPr>
          <p:cNvPr id="180242" name="Oval 20"/>
          <p:cNvSpPr>
            <a:spLocks noChangeArrowheads="1"/>
          </p:cNvSpPr>
          <p:nvPr/>
        </p:nvSpPr>
        <p:spPr bwMode="auto">
          <a:xfrm>
            <a:off x="5429250" y="5443538"/>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E</a:t>
            </a:r>
          </a:p>
        </p:txBody>
      </p:sp>
      <p:sp>
        <p:nvSpPr>
          <p:cNvPr id="21" name="Rectangle 21"/>
          <p:cNvSpPr>
            <a:spLocks noChangeArrowheads="1"/>
          </p:cNvSpPr>
          <p:nvPr/>
        </p:nvSpPr>
        <p:spPr bwMode="auto">
          <a:xfrm>
            <a:off x="5722328" y="6021288"/>
            <a:ext cx="3242160" cy="559370"/>
          </a:xfrm>
          <a:prstGeom prst="rect">
            <a:avLst/>
          </a:prstGeom>
          <a:solidFill>
            <a:schemeClr val="bg1"/>
          </a:solidFill>
          <a:ln w="9525" algn="ctr">
            <a:solidFill>
              <a:schemeClr val="bg1">
                <a:lumMod val="50000"/>
              </a:schemeClr>
            </a:solidFill>
            <a:miter lim="800000"/>
            <a:headEnd/>
            <a:tailEnd/>
          </a:ln>
        </p:spPr>
        <p:txBody>
          <a:bodyPr anchor="ctr"/>
          <a:lstStyle/>
          <a:p>
            <a:pPr>
              <a:spcBef>
                <a:spcPts val="0"/>
              </a:spcBef>
              <a:buFontTx/>
              <a:buChar char="-"/>
              <a:defRPr/>
            </a:pPr>
            <a:r>
              <a:rPr lang="ko-KR" altLang="en-US"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Nếu</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phần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giao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nhau</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giữa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những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giá</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trị</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trung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bình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của</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người</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đạc</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theo</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từng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linh</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kiện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mà</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nhiều</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thì</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phán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đoán</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có</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sự</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tương</a:t>
            </a:r>
            <a:r>
              <a:rPr lang="en-US" altLang="ko-KR" sz="1100" dirty="0">
                <a:solidFill>
                  <a:srgbClr val="000000"/>
                </a:solidFill>
                <a:latin typeface="맑은 고딕" pitchFamily="50" charset="-127"/>
                <a:ea typeface="맑은 고딕" pitchFamily="50" charset="-127"/>
              </a:rPr>
              <a:t> </a:t>
            </a:r>
            <a:r>
              <a:rPr lang="en-US" altLang="ko-KR" sz="1100" dirty="0" err="1">
                <a:solidFill>
                  <a:srgbClr val="000000"/>
                </a:solidFill>
                <a:latin typeface="맑은 고딕" pitchFamily="50" charset="-127"/>
                <a:ea typeface="맑은 고딕" pitchFamily="50" charset="-127"/>
              </a:rPr>
              <a:t>tác</a:t>
            </a:r>
            <a:endParaRPr lang="en-US" altLang="ko-KR" sz="1100" dirty="0">
              <a:solidFill>
                <a:srgbClr val="000000"/>
              </a:solidFill>
              <a:latin typeface="맑은 고딕" pitchFamily="50" charset="-127"/>
              <a:ea typeface="맑은 고딕" pitchFamily="50" charset="-127"/>
            </a:endParaRPr>
          </a:p>
        </p:txBody>
      </p:sp>
      <p:sp>
        <p:nvSpPr>
          <p:cNvPr id="180244" name="Oval 22"/>
          <p:cNvSpPr>
            <a:spLocks noChangeArrowheads="1"/>
          </p:cNvSpPr>
          <p:nvPr/>
        </p:nvSpPr>
        <p:spPr bwMode="auto">
          <a:xfrm>
            <a:off x="5439507" y="5980113"/>
            <a:ext cx="234462" cy="254000"/>
          </a:xfrm>
          <a:prstGeom prst="ellipse">
            <a:avLst/>
          </a:prstGeom>
          <a:solidFill>
            <a:schemeClr val="accent6">
              <a:lumMod val="50000"/>
            </a:schemeClr>
          </a:solidFill>
          <a:ln w="9525" algn="ctr">
            <a:solidFill>
              <a:schemeClr val="bg1"/>
            </a:solidFill>
            <a:round/>
            <a:headEnd/>
            <a:tailEnd/>
          </a:ln>
        </p:spPr>
        <p:txBody>
          <a:bodyPr wrap="none" anchor="ctr"/>
          <a:lstStyle/>
          <a:p>
            <a:pPr algn="ctr">
              <a:spcBef>
                <a:spcPct val="50000"/>
              </a:spcBef>
            </a:pPr>
            <a:r>
              <a:rPr lang="en-US" altLang="ko-KR" sz="1100" dirty="0">
                <a:solidFill>
                  <a:schemeClr val="bg1"/>
                </a:solidFill>
                <a:latin typeface="맑은 고딕" pitchFamily="50" charset="-127"/>
                <a:ea typeface="맑은 고딕" pitchFamily="50" charset="-127"/>
              </a:rPr>
              <a:t>F</a:t>
            </a:r>
          </a:p>
        </p:txBody>
      </p:sp>
      <p:sp>
        <p:nvSpPr>
          <p:cNvPr id="23" name="Rectangle 23"/>
          <p:cNvSpPr>
            <a:spLocks noChangeArrowheads="1"/>
          </p:cNvSpPr>
          <p:nvPr/>
        </p:nvSpPr>
        <p:spPr bwMode="auto">
          <a:xfrm>
            <a:off x="5508104" y="2410271"/>
            <a:ext cx="3456384" cy="1384995"/>
          </a:xfrm>
          <a:prstGeom prst="rect">
            <a:avLst/>
          </a:prstGeom>
          <a:solidFill>
            <a:schemeClr val="bg1"/>
          </a:solidFill>
          <a:ln w="28575" algn="ctr">
            <a:solidFill>
              <a:schemeClr val="bg1">
                <a:lumMod val="50000"/>
              </a:schemeClr>
            </a:solidFill>
            <a:miter lim="800000"/>
            <a:headEnd/>
            <a:tailEnd/>
          </a:ln>
        </p:spPr>
        <p:txBody>
          <a:bodyPr wrap="square" lIns="54000" rIns="54000" anchor="ctr">
            <a:spAutoFit/>
          </a:bodyPr>
          <a:lstStyle/>
          <a:p>
            <a:pPr>
              <a:lnSpc>
                <a:spcPct val="150000"/>
              </a:lnSpc>
              <a:spcBef>
                <a:spcPts val="0"/>
              </a:spcBef>
              <a:defRPr/>
            </a:pPr>
            <a:r>
              <a:rPr lang="en-US" altLang="ko-KR" sz="1400" b="1" dirty="0" err="1">
                <a:solidFill>
                  <a:srgbClr val="000000"/>
                </a:solidFill>
                <a:latin typeface="맑은 고딕" pitchFamily="50" charset="-127"/>
                <a:ea typeface="맑은 고딕" pitchFamily="50" charset="-127"/>
              </a:rPr>
              <a:t>Dù</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có</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thỏa</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mãn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tất</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cả</a:t>
            </a:r>
            <a:r>
              <a:rPr lang="en-US" altLang="ko-KR" sz="1400" b="1" dirty="0">
                <a:solidFill>
                  <a:srgbClr val="000000"/>
                </a:solidFill>
                <a:latin typeface="맑은 고딕" pitchFamily="50" charset="-127"/>
                <a:ea typeface="맑은 고딕" pitchFamily="50" charset="-127"/>
              </a:rPr>
              <a:t> Gage R&amp;R </a:t>
            </a:r>
          </a:p>
          <a:p>
            <a:pPr>
              <a:lnSpc>
                <a:spcPct val="150000"/>
              </a:lnSpc>
              <a:spcBef>
                <a:spcPts val="0"/>
              </a:spcBef>
              <a:defRPr/>
            </a:pPr>
            <a:r>
              <a:rPr lang="en-US" altLang="ko-KR" sz="1400" b="1" dirty="0">
                <a:solidFill>
                  <a:srgbClr val="000000"/>
                </a:solidFill>
                <a:latin typeface="맑은 고딕" pitchFamily="50" charset="-127"/>
                <a:ea typeface="맑은 고딕" pitchFamily="50" charset="-127"/>
              </a:rPr>
              <a:t>Characteristic, </a:t>
            </a:r>
            <a:r>
              <a:rPr lang="en-US" altLang="ko-KR" sz="1400" b="1" dirty="0" err="1">
                <a:solidFill>
                  <a:srgbClr val="000000"/>
                </a:solidFill>
                <a:latin typeface="맑은 고딕" pitchFamily="50" charset="-127"/>
                <a:ea typeface="맑은 고딕" pitchFamily="50" charset="-127"/>
              </a:rPr>
              <a:t>vẫn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phải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xem</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xét</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vấn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đề</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thông</a:t>
            </a:r>
            <a:r>
              <a:rPr lang="en-US" altLang="ko-KR" sz="1400" b="1" dirty="0">
                <a:solidFill>
                  <a:srgbClr val="000000"/>
                </a:solidFill>
                <a:latin typeface="맑은 고딕" pitchFamily="50" charset="-127"/>
                <a:ea typeface="맑은 고딕" pitchFamily="50" charset="-127"/>
              </a:rPr>
              <a:t> qua </a:t>
            </a:r>
            <a:r>
              <a:rPr lang="en-US" altLang="ko-KR" sz="1400" b="1" dirty="0" err="1">
                <a:solidFill>
                  <a:srgbClr val="000000"/>
                </a:solidFill>
                <a:latin typeface="맑은 고딕" pitchFamily="50" charset="-127"/>
                <a:ea typeface="맑은 고딕" pitchFamily="50" charset="-127"/>
              </a:rPr>
              <a:t>đồ</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thị</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và</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khả</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năng</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cải</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thiện</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thêm</a:t>
            </a:r>
            <a:endParaRPr lang="en-US" altLang="ko-KR" sz="1400" b="1" dirty="0">
              <a:solidFill>
                <a:srgbClr val="000000"/>
              </a:solidFill>
              <a:latin typeface="맑은 고딕" pitchFamily="50" charset="-127"/>
              <a:ea typeface="맑은 고딕" pitchFamily="50" charset="-127"/>
            </a:endParaRPr>
          </a:p>
        </p:txBody>
      </p:sp>
      <p:sp>
        <p:nvSpPr>
          <p:cNvPr id="25" name="TextBox 24"/>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lang="en-US" altLang="ko-KR" sz="1400" b="1" kern="0" dirty="0" err="1">
                <a:solidFill>
                  <a:sysClr val="windowText" lastClr="000000"/>
                </a:solidFill>
                <a:latin typeface="맑은 고딕" pitchFamily="50" charset="-127"/>
                <a:ea typeface="맑은 고딕" pitchFamily="50" charset="-127"/>
              </a:rPr>
              <a:t>nhập</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giải</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thích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kết</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80248" name="Rectangle 6"/>
          <p:cNvSpPr>
            <a:spLocks noChangeArrowheads="1"/>
          </p:cNvSpPr>
          <p:nvPr/>
        </p:nvSpPr>
        <p:spPr bwMode="auto">
          <a:xfrm>
            <a:off x="681405" y="1214439"/>
            <a:ext cx="2385589" cy="276999"/>
          </a:xfrm>
          <a:prstGeom prst="rect">
            <a:avLst/>
          </a:prstGeom>
          <a:noFill/>
          <a:ln w="9525" algn="ctr">
            <a:noFill/>
            <a:miter lim="800000"/>
            <a:headEnd/>
            <a:tailEnd/>
          </a:ln>
        </p:spPr>
        <p:txBody>
          <a:bodyPr wrap="none">
            <a:spAutoFit/>
          </a:bodyPr>
          <a:lstStyle/>
          <a:p>
            <a:pPr>
              <a:spcBef>
                <a:spcPct val="50000"/>
              </a:spcBef>
            </a:pPr>
            <a:r>
              <a:rPr lang="en-US" altLang="ko-KR" sz="1200" b="1" dirty="0">
                <a:solidFill>
                  <a:srgbClr val="000000"/>
                </a:solidFill>
                <a:latin typeface="맑은 고딕" pitchFamily="50" charset="-127"/>
                <a:ea typeface="맑은 고딕" pitchFamily="50" charset="-127"/>
              </a:rPr>
              <a:t>(4) Diagnostics with Graphs- I</a:t>
            </a:r>
          </a:p>
        </p:txBody>
      </p:sp>
      <p:sp>
        <p:nvSpPr>
          <p:cNvPr id="180249" name="Text Box 3"/>
          <p:cNvSpPr txBox="1">
            <a:spLocks noChangeArrowheads="1"/>
          </p:cNvSpPr>
          <p:nvPr/>
        </p:nvSpPr>
        <p:spPr bwMode="auto">
          <a:xfrm>
            <a:off x="6228184" y="863601"/>
            <a:ext cx="2592288" cy="1277273"/>
          </a:xfrm>
          <a:prstGeom prst="rect">
            <a:avLst/>
          </a:prstGeom>
          <a:noFill/>
          <a:ln w="9525" algn="ctr">
            <a:noFill/>
            <a:miter lim="800000"/>
            <a:headEnd/>
            <a:tailEnd/>
          </a:ln>
        </p:spPr>
        <p:txBody>
          <a:bodyPr wrap="square">
            <a:spAutoFit/>
          </a:bodyPr>
          <a:lstStyle/>
          <a:p>
            <a:pPr>
              <a:lnSpc>
                <a:spcPct val="110000"/>
              </a:lnSpc>
            </a:pPr>
            <a:r>
              <a:rPr lang="en-US" altLang="ko-KR" sz="1000" b="1" dirty="0" err="1">
                <a:solidFill>
                  <a:srgbClr val="0000FF"/>
                </a:solidFill>
                <a:latin typeface="맑은 고딕" pitchFamily="50" charset="-127"/>
                <a:ea typeface="맑은 고딕" pitchFamily="50" charset="-127"/>
              </a:rPr>
              <a:t>Giải</a:t>
            </a:r>
            <a:r>
              <a:rPr lang="en-US" altLang="ko-KR" sz="1000" b="1" dirty="0">
                <a:solidFill>
                  <a:srgbClr val="0000FF"/>
                </a:solidFill>
                <a:latin typeface="맑은 고딕" pitchFamily="50" charset="-127"/>
                <a:ea typeface="맑은 고딕" pitchFamily="50" charset="-127"/>
              </a:rPr>
              <a:t> </a:t>
            </a:r>
            <a:r>
              <a:rPr lang="en-US" altLang="ko-KR" sz="1000" b="1" dirty="0" err="1">
                <a:solidFill>
                  <a:srgbClr val="0000FF"/>
                </a:solidFill>
                <a:latin typeface="맑은 고딕" pitchFamily="50" charset="-127"/>
                <a:ea typeface="맑은 고딕" pitchFamily="50" charset="-127"/>
              </a:rPr>
              <a:t>thích</a:t>
            </a:r>
            <a:r>
              <a:rPr lang="ko-KR" altLang="en-US" sz="1000" b="1" dirty="0">
                <a:solidFill>
                  <a:srgbClr val="0000FF"/>
                </a:solidFill>
                <a:latin typeface="맑은 고딕" pitchFamily="50" charset="-127"/>
                <a:ea typeface="맑은 고딕" pitchFamily="50" charset="-127"/>
              </a:rPr>
              <a:t> </a:t>
            </a:r>
            <a:r>
              <a:rPr lang="en-US" altLang="ko-KR" sz="1000" b="1" dirty="0">
                <a:solidFill>
                  <a:srgbClr val="0000FF"/>
                </a:solidFill>
                <a:latin typeface="맑은 고딕" pitchFamily="50" charset="-127"/>
                <a:ea typeface="맑은 고딕" pitchFamily="50" charset="-127"/>
              </a:rPr>
              <a:t>Tip</a:t>
            </a:r>
            <a:endParaRPr lang="ko-KR" altLang="en-US" sz="1000" b="1" dirty="0">
              <a:solidFill>
                <a:srgbClr val="0000FF"/>
              </a:solidFill>
              <a:latin typeface="맑은 고딕" pitchFamily="50" charset="-127"/>
              <a:ea typeface="맑은 고딕" pitchFamily="50" charset="-127"/>
            </a:endParaRPr>
          </a:p>
          <a:p>
            <a:pPr>
              <a:lnSpc>
                <a:spcPct val="110000"/>
              </a:lnSpc>
            </a:pPr>
            <a:r>
              <a:rPr lang="en-US" altLang="ko-KR" sz="1000" dirty="0">
                <a:solidFill>
                  <a:srgbClr val="000000"/>
                </a:solidFill>
                <a:latin typeface="맑은 고딕" pitchFamily="50" charset="-127"/>
                <a:ea typeface="맑은 고딕" pitchFamily="50" charset="-127"/>
              </a:rPr>
              <a:t>(4) Diagnostics with Graphics</a:t>
            </a:r>
          </a:p>
          <a:p>
            <a:pPr>
              <a:lnSpc>
                <a:spcPct val="110000"/>
              </a:lnSpc>
            </a:pPr>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Khảo</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sát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nguyên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nhân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và</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đối</a:t>
            </a:r>
            <a:r>
              <a:rPr lang="en-US" altLang="ko-KR" sz="1000" dirty="0">
                <a:solidFill>
                  <a:srgbClr val="000000"/>
                </a:solidFill>
                <a:latin typeface="맑은 고딕" pitchFamily="50" charset="-127"/>
                <a:ea typeface="맑은 고딕" pitchFamily="50" charset="-127"/>
              </a:rPr>
              <a:t>  </a:t>
            </a:r>
          </a:p>
          <a:p>
            <a:pPr>
              <a:lnSpc>
                <a:spcPct val="110000"/>
              </a:lnSpc>
            </a:pP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tượng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thiện</a:t>
            </a:r>
            <a:endParaRPr lang="ko-KR" altLang="en-US" sz="1000" dirty="0">
              <a:solidFill>
                <a:srgbClr val="000000"/>
              </a:solidFill>
              <a:latin typeface="맑은 고딕" pitchFamily="50" charset="-127"/>
              <a:ea typeface="맑은 고딕" pitchFamily="50" charset="-127"/>
            </a:endParaRPr>
          </a:p>
          <a:p>
            <a:pPr>
              <a:lnSpc>
                <a:spcPct val="110000"/>
              </a:lnSpc>
            </a:pP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Dù</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có</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thỏa</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mãn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tiêu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chuẩn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của</a:t>
            </a:r>
            <a:r>
              <a:rPr lang="en-US" altLang="ko-KR" sz="1000" dirty="0">
                <a:solidFill>
                  <a:srgbClr val="000000"/>
                </a:solidFill>
                <a:latin typeface="맑은 고딕" pitchFamily="50" charset="-127"/>
                <a:ea typeface="맑은 고딕" pitchFamily="50" charset="-127"/>
              </a:rPr>
              <a:t> (3),  </a:t>
            </a:r>
          </a:p>
          <a:p>
            <a:pPr>
              <a:lnSpc>
                <a:spcPct val="110000"/>
              </a:lnSpc>
            </a:pP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thì</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kết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quả</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của</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từng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hạng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mục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vẫn</a:t>
            </a:r>
            <a:r>
              <a:rPr lang="en-US" altLang="ko-KR" sz="1000" dirty="0">
                <a:solidFill>
                  <a:srgbClr val="000000"/>
                </a:solidFill>
                <a:latin typeface="맑은 고딕" pitchFamily="50" charset="-127"/>
                <a:ea typeface="맑은 고딕" pitchFamily="50" charset="-127"/>
              </a:rPr>
              <a:t>  </a:t>
            </a:r>
          </a:p>
          <a:p>
            <a:pPr>
              <a:lnSpc>
                <a:spcPct val="110000"/>
              </a:lnSpc>
            </a:pP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phải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thích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hợp</a:t>
            </a:r>
            <a:r>
              <a:rPr lang="en-US" altLang="ko-KR" sz="1000" dirty="0">
                <a:solidFill>
                  <a:srgbClr val="000000"/>
                </a:solidFill>
                <a:latin typeface="맑은 고딕" pitchFamily="50" charset="-127"/>
                <a:ea typeface="맑은 고딕" pitchFamily="50" charset="-127"/>
              </a:rPr>
              <a:t>.</a:t>
            </a: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87</a:t>
            </a:fld>
            <a:endParaRPr lang="ko-KR" altLang="en-US" dirty="0"/>
          </a:p>
        </p:txBody>
      </p:sp>
      <p:sp>
        <p:nvSpPr>
          <p:cNvPr id="28" name="TextBox 27"/>
          <p:cNvSpPr txBox="1"/>
          <p:nvPr/>
        </p:nvSpPr>
        <p:spPr>
          <a:xfrm>
            <a:off x="179512" y="148570"/>
            <a:ext cx="3968843"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29" name="직사각형 28"/>
          <p:cNvSpPr/>
          <p:nvPr/>
        </p:nvSpPr>
        <p:spPr>
          <a:xfrm>
            <a:off x="6012160" y="179348"/>
            <a:ext cx="2901756" cy="369332"/>
          </a:xfrm>
          <a:prstGeom prst="rect">
            <a:avLst/>
          </a:prstGeom>
        </p:spPr>
        <p:txBody>
          <a:bodyPr wrap="none">
            <a:spAutoFit/>
          </a:bodyPr>
          <a:lstStyle/>
          <a:p>
            <a:pPr>
              <a:defRPr/>
            </a:pP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148057004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88</a:t>
            </a:fld>
            <a:endParaRPr lang="ko-KR" altLang="en-US" dirty="0"/>
          </a:p>
        </p:txBody>
      </p:sp>
      <p:sp>
        <p:nvSpPr>
          <p:cNvPr id="16" name="TextBox 15"/>
          <p:cNvSpPr txBox="1"/>
          <p:nvPr/>
        </p:nvSpPr>
        <p:spPr>
          <a:xfrm>
            <a:off x="539552" y="1196752"/>
            <a:ext cx="1125629" cy="369332"/>
          </a:xfrm>
          <a:prstGeom prst="rect">
            <a:avLst/>
          </a:prstGeom>
          <a:noFill/>
        </p:spPr>
        <p:txBody>
          <a:bodyPr wrap="none" rtlCol="0">
            <a:spAutoFit/>
          </a:bodyPr>
          <a:lstStyle/>
          <a:p>
            <a:r>
              <a:rPr lang="en-US" altLang="ko-KR" dirty="0"/>
              <a:t>Question</a:t>
            </a:r>
            <a:endParaRPr lang="ko-KR" altLang="en-US" dirty="0"/>
          </a:p>
        </p:txBody>
      </p:sp>
      <p:sp>
        <p:nvSpPr>
          <p:cNvPr id="17" name="TextBox 16"/>
          <p:cNvSpPr txBox="1"/>
          <p:nvPr/>
        </p:nvSpPr>
        <p:spPr>
          <a:xfrm>
            <a:off x="827584" y="1772816"/>
            <a:ext cx="6959126" cy="646331"/>
          </a:xfrm>
          <a:prstGeom prst="rect">
            <a:avLst/>
          </a:prstGeom>
          <a:noFill/>
        </p:spPr>
        <p:txBody>
          <a:bodyPr wrap="square" rtlCol="0">
            <a:spAutoFit/>
          </a:bodyPr>
          <a:lstStyle/>
          <a:p>
            <a:pPr marL="342900" indent="-342900">
              <a:buAutoNum type="arabicPeriod"/>
            </a:pPr>
            <a:r>
              <a:rPr lang="en-US" dirty="0"/>
              <a:t>Should Gage R&amp;R satisfy both %SV and %Tolerance?</a:t>
            </a:r>
          </a:p>
          <a:p>
            <a:pPr marL="342900" indent="-342900"/>
            <a:r>
              <a:rPr lang="en-US" dirty="0"/>
              <a:t>    Should not one be satisfied?</a:t>
            </a:r>
            <a:endParaRPr lang="ko-KR" altLang="en-US" dirty="0"/>
          </a:p>
        </p:txBody>
      </p:sp>
      <p:sp>
        <p:nvSpPr>
          <p:cNvPr id="18" name="TextBox 17"/>
          <p:cNvSpPr txBox="1"/>
          <p:nvPr/>
        </p:nvSpPr>
        <p:spPr>
          <a:xfrm>
            <a:off x="827584" y="3789040"/>
            <a:ext cx="7459192" cy="646331"/>
          </a:xfrm>
          <a:prstGeom prst="rect">
            <a:avLst/>
          </a:prstGeom>
          <a:noFill/>
        </p:spPr>
        <p:txBody>
          <a:bodyPr wrap="square" rtlCol="0">
            <a:spAutoFit/>
          </a:bodyPr>
          <a:lstStyle/>
          <a:p>
            <a:pPr marL="342900" indent="-342900">
              <a:buAutoNum type="arabicPeriod" startAt="3"/>
            </a:pPr>
            <a:r>
              <a:rPr lang="en-US" dirty="0"/>
              <a:t>Gage R &amp; R results were 20%. It is called conditional </a:t>
            </a:r>
            <a:r>
              <a:rPr lang="en-US" dirty="0" err="1"/>
              <a:t>acceptance.Which</a:t>
            </a:r>
            <a:r>
              <a:rPr lang="en-US" dirty="0"/>
              <a:t> condition is Accept?</a:t>
            </a:r>
            <a:endParaRPr lang="ko-KR" altLang="en-US" dirty="0"/>
          </a:p>
        </p:txBody>
      </p:sp>
      <p:sp>
        <p:nvSpPr>
          <p:cNvPr id="19" name="TextBox 18"/>
          <p:cNvSpPr txBox="1"/>
          <p:nvPr/>
        </p:nvSpPr>
        <p:spPr>
          <a:xfrm>
            <a:off x="827584" y="2924944"/>
            <a:ext cx="5339923" cy="369332"/>
          </a:xfrm>
          <a:prstGeom prst="rect">
            <a:avLst/>
          </a:prstGeom>
          <a:noFill/>
        </p:spPr>
        <p:txBody>
          <a:bodyPr wrap="none" rtlCol="0">
            <a:spAutoFit/>
          </a:bodyPr>
          <a:lstStyle/>
          <a:p>
            <a:r>
              <a:rPr lang="en-US" altLang="ko-KR" dirty="0"/>
              <a:t>2.  If </a:t>
            </a:r>
            <a:r>
              <a:rPr lang="en-US" dirty="0"/>
              <a:t>Gage R&amp;R is bad. What impact will it have?</a:t>
            </a:r>
            <a:endParaRPr lang="ko-KR" altLang="en-US" dirty="0"/>
          </a:p>
        </p:txBody>
      </p:sp>
      <p:sp>
        <p:nvSpPr>
          <p:cNvPr id="9" name="TextBox 8"/>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10" name="직사각형 9"/>
          <p:cNvSpPr/>
          <p:nvPr/>
        </p:nvSpPr>
        <p:spPr>
          <a:xfrm>
            <a:off x="5857884"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82078084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89</a:t>
            </a:fld>
            <a:endParaRPr lang="ko-KR" altLang="en-US" dirty="0"/>
          </a:p>
        </p:txBody>
      </p:sp>
      <p:sp>
        <p:nvSpPr>
          <p:cNvPr id="11" name="TextBox 10"/>
          <p:cNvSpPr txBox="1"/>
          <p:nvPr/>
        </p:nvSpPr>
        <p:spPr>
          <a:xfrm>
            <a:off x="611560" y="908720"/>
            <a:ext cx="6116546" cy="646331"/>
          </a:xfrm>
          <a:prstGeom prst="rect">
            <a:avLst/>
          </a:prstGeom>
          <a:noFill/>
        </p:spPr>
        <p:txBody>
          <a:bodyPr wrap="none" rtlCol="0">
            <a:spAutoFit/>
          </a:bodyPr>
          <a:lstStyle/>
          <a:p>
            <a:pPr marL="342900" indent="-342900">
              <a:buAutoNum type="arabicPeriod"/>
            </a:pPr>
            <a:r>
              <a:rPr lang="en-US" dirty="0"/>
              <a:t>Should Gage R&amp;R satisfy both %SV and %Tolerance?</a:t>
            </a:r>
          </a:p>
          <a:p>
            <a:pPr marL="342900" indent="-342900"/>
            <a:r>
              <a:rPr lang="en-US" dirty="0"/>
              <a:t>    Should not one be satisfied?</a:t>
            </a:r>
            <a:endParaRPr lang="ko-KR" altLang="en-US" dirty="0"/>
          </a:p>
        </p:txBody>
      </p:sp>
      <p:sp>
        <p:nvSpPr>
          <p:cNvPr id="12" name="Rectangle 3"/>
          <p:cNvSpPr>
            <a:spLocks noChangeArrowheads="1"/>
          </p:cNvSpPr>
          <p:nvPr/>
        </p:nvSpPr>
        <p:spPr bwMode="auto">
          <a:xfrm>
            <a:off x="1044747" y="1988840"/>
            <a:ext cx="2519141" cy="466725"/>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 Study Var. </a:t>
            </a:r>
          </a:p>
        </p:txBody>
      </p:sp>
      <p:sp>
        <p:nvSpPr>
          <p:cNvPr id="13" name="Rectangle 9"/>
          <p:cNvSpPr>
            <a:spLocks noChangeArrowheads="1"/>
          </p:cNvSpPr>
          <p:nvPr/>
        </p:nvSpPr>
        <p:spPr bwMode="auto">
          <a:xfrm>
            <a:off x="1044747" y="2819846"/>
            <a:ext cx="2519141" cy="465138"/>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 Tolerance </a:t>
            </a:r>
          </a:p>
        </p:txBody>
      </p:sp>
      <p:sp>
        <p:nvSpPr>
          <p:cNvPr id="14" name="Rectangle 10"/>
          <p:cNvSpPr>
            <a:spLocks noChangeArrowheads="1"/>
          </p:cNvSpPr>
          <p:nvPr/>
        </p:nvSpPr>
        <p:spPr bwMode="auto">
          <a:xfrm>
            <a:off x="1071538" y="4108458"/>
            <a:ext cx="2519141" cy="463550"/>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 Process</a:t>
            </a:r>
          </a:p>
        </p:txBody>
      </p:sp>
      <p:sp>
        <p:nvSpPr>
          <p:cNvPr id="15" name="Rectangle 11"/>
          <p:cNvSpPr>
            <a:spLocks noChangeArrowheads="1"/>
          </p:cNvSpPr>
          <p:nvPr/>
        </p:nvSpPr>
        <p:spPr bwMode="auto">
          <a:xfrm>
            <a:off x="1044747" y="5121822"/>
            <a:ext cx="2519141" cy="465138"/>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Number of Distinct Categories</a:t>
            </a:r>
          </a:p>
        </p:txBody>
      </p:sp>
      <p:sp>
        <p:nvSpPr>
          <p:cNvPr id="3" name="TextBox 2"/>
          <p:cNvSpPr txBox="1"/>
          <p:nvPr/>
        </p:nvSpPr>
        <p:spPr>
          <a:xfrm>
            <a:off x="3635897" y="1988840"/>
            <a:ext cx="5365260" cy="461665"/>
          </a:xfrm>
          <a:prstGeom prst="rect">
            <a:avLst/>
          </a:prstGeom>
          <a:noFill/>
        </p:spPr>
        <p:txBody>
          <a:bodyPr wrap="square" rtlCol="0">
            <a:spAutoFit/>
          </a:bodyPr>
          <a:lstStyle/>
          <a:p>
            <a:r>
              <a:rPr lang="en-US" sz="1200" dirty="0"/>
              <a:t>The variation of the gauge in the total variation, and the selection of the gauge and the suitability of the method of use.</a:t>
            </a:r>
            <a:endParaRPr lang="ko-KR" altLang="en-US" sz="1200" dirty="0"/>
          </a:p>
        </p:txBody>
      </p:sp>
      <p:sp>
        <p:nvSpPr>
          <p:cNvPr id="17" name="TextBox 16"/>
          <p:cNvSpPr txBox="1"/>
          <p:nvPr/>
        </p:nvSpPr>
        <p:spPr>
          <a:xfrm>
            <a:off x="3635896" y="2770527"/>
            <a:ext cx="5293822" cy="1015663"/>
          </a:xfrm>
          <a:prstGeom prst="rect">
            <a:avLst/>
          </a:prstGeom>
          <a:noFill/>
        </p:spPr>
        <p:txBody>
          <a:bodyPr wrap="square" rtlCol="0">
            <a:spAutoFit/>
          </a:bodyPr>
          <a:lstStyle/>
          <a:p>
            <a:r>
              <a:rPr lang="en-US" sz="1200" dirty="0"/>
              <a:t>You will see the amount of variation of the tolerance contrast gauge, and you will see if this gauge can determine the product with this SPEC.</a:t>
            </a:r>
          </a:p>
          <a:p>
            <a:r>
              <a:rPr lang="en-US" sz="1200" dirty="0"/>
              <a:t>Since the variation of gauge multiplied by 6 should be less than 10% </a:t>
            </a:r>
          </a:p>
          <a:p>
            <a:r>
              <a:rPr lang="en-US" sz="1200" dirty="0"/>
              <a:t>compared to SPEC, the standard deviation of the instrument should be </a:t>
            </a:r>
          </a:p>
          <a:p>
            <a:r>
              <a:rPr lang="en-US" sz="1200" dirty="0"/>
              <a:t>3.9% of SPEC.</a:t>
            </a:r>
            <a:endParaRPr lang="ko-KR" altLang="en-US" sz="1200" dirty="0"/>
          </a:p>
        </p:txBody>
      </p:sp>
      <p:sp>
        <p:nvSpPr>
          <p:cNvPr id="18" name="TextBox 17"/>
          <p:cNvSpPr txBox="1"/>
          <p:nvPr/>
        </p:nvSpPr>
        <p:spPr>
          <a:xfrm>
            <a:off x="3662686" y="4108459"/>
            <a:ext cx="5195593" cy="646331"/>
          </a:xfrm>
          <a:prstGeom prst="rect">
            <a:avLst/>
          </a:prstGeom>
          <a:noFill/>
        </p:spPr>
        <p:txBody>
          <a:bodyPr wrap="square" rtlCol="0">
            <a:spAutoFit/>
          </a:bodyPr>
          <a:lstStyle/>
          <a:p>
            <a:r>
              <a:rPr lang="en-US" sz="1200" dirty="0"/>
              <a:t>When the process is steadily managed and the variation of the process is known, the variation of the gauge is evaluated against the variation of the process.</a:t>
            </a:r>
            <a:endParaRPr lang="ko-KR" altLang="en-US" sz="1200" dirty="0"/>
          </a:p>
        </p:txBody>
      </p:sp>
      <p:sp>
        <p:nvSpPr>
          <p:cNvPr id="19" name="TextBox 18"/>
          <p:cNvSpPr txBox="1"/>
          <p:nvPr/>
        </p:nvSpPr>
        <p:spPr>
          <a:xfrm>
            <a:off x="3635896" y="5101566"/>
            <a:ext cx="5150946" cy="1384995"/>
          </a:xfrm>
          <a:prstGeom prst="rect">
            <a:avLst/>
          </a:prstGeom>
          <a:noFill/>
        </p:spPr>
        <p:txBody>
          <a:bodyPr wrap="square" rtlCol="0">
            <a:spAutoFit/>
          </a:bodyPr>
          <a:lstStyle/>
          <a:p>
            <a:r>
              <a:rPr lang="en-US" sz="1200" dirty="0"/>
              <a:t>This is the comparison of the variation of the product among all the variations. Since the basic calculation equation is a variation, it is a unit of squared, so when calculated, Root 2 appears in the process of inverting the square.</a:t>
            </a:r>
            <a:br>
              <a:rPr lang="en-US" sz="1200" dirty="0"/>
            </a:br>
            <a:r>
              <a:rPr lang="en-US" sz="1200" dirty="0"/>
              <a:t>Therefore, it is said that the fluctuation (standard deviation) of product / gauge variation (standard deviation) x 1.414 is obtained, and It called the resolution of the measuring instrument.</a:t>
            </a:r>
            <a:endParaRPr lang="ko-KR" altLang="en-US" sz="1200" dirty="0"/>
          </a:p>
        </p:txBody>
      </p:sp>
      <p:sp>
        <p:nvSpPr>
          <p:cNvPr id="20" name="TextBox 19"/>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21" name="직사각형 20"/>
          <p:cNvSpPr/>
          <p:nvPr/>
        </p:nvSpPr>
        <p:spPr>
          <a:xfrm>
            <a:off x="5814971"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237679095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90</a:t>
            </a:fld>
            <a:endParaRPr lang="ko-KR" altLang="en-US" dirty="0"/>
          </a:p>
        </p:txBody>
      </p:sp>
      <p:sp>
        <p:nvSpPr>
          <p:cNvPr id="16" name="TextBox 15"/>
          <p:cNvSpPr txBox="1"/>
          <p:nvPr/>
        </p:nvSpPr>
        <p:spPr>
          <a:xfrm>
            <a:off x="539552" y="1196752"/>
            <a:ext cx="1064715" cy="369332"/>
          </a:xfrm>
          <a:prstGeom prst="rect">
            <a:avLst/>
          </a:prstGeom>
          <a:noFill/>
        </p:spPr>
        <p:txBody>
          <a:bodyPr wrap="none" rtlCol="0">
            <a:spAutoFit/>
          </a:bodyPr>
          <a:lstStyle/>
          <a:p>
            <a:r>
              <a:rPr lang="en-US" altLang="ko-KR" dirty="0" err="1"/>
              <a:t>Câu</a:t>
            </a:r>
            <a:r>
              <a:rPr lang="en-US" altLang="ko-KR" dirty="0"/>
              <a:t> </a:t>
            </a:r>
            <a:r>
              <a:rPr lang="en-US" altLang="ko-KR" dirty="0" err="1"/>
              <a:t>hỏi</a:t>
            </a:r>
            <a:r>
              <a:rPr lang="ko-KR" altLang="en-US" dirty="0"/>
              <a:t> </a:t>
            </a:r>
          </a:p>
        </p:txBody>
      </p:sp>
      <p:sp>
        <p:nvSpPr>
          <p:cNvPr id="17" name="TextBox 16"/>
          <p:cNvSpPr txBox="1"/>
          <p:nvPr/>
        </p:nvSpPr>
        <p:spPr>
          <a:xfrm>
            <a:off x="827584" y="1772816"/>
            <a:ext cx="7052636" cy="646331"/>
          </a:xfrm>
          <a:prstGeom prst="rect">
            <a:avLst/>
          </a:prstGeom>
          <a:noFill/>
        </p:spPr>
        <p:txBody>
          <a:bodyPr wrap="none" rtlCol="0">
            <a:spAutoFit/>
          </a:bodyPr>
          <a:lstStyle/>
          <a:p>
            <a:pPr marL="342900" indent="-342900">
              <a:buAutoNum type="arabicPeriod"/>
            </a:pPr>
            <a:r>
              <a:rPr lang="en-US" altLang="ko-KR" dirty="0"/>
              <a:t>Gage R&amp;R</a:t>
            </a:r>
            <a:r>
              <a:rPr lang="ko-KR" altLang="en-US" dirty="0"/>
              <a:t> </a:t>
            </a:r>
            <a:r>
              <a:rPr lang="en-US" altLang="ko-KR" dirty="0" err="1"/>
              <a:t>bắt</a:t>
            </a:r>
            <a:r>
              <a:rPr lang="en-US" altLang="ko-KR" dirty="0"/>
              <a:t> </a:t>
            </a:r>
            <a:r>
              <a:rPr lang="en-US" altLang="ko-KR" dirty="0" err="1"/>
              <a:t>buộc</a:t>
            </a:r>
            <a:r>
              <a:rPr lang="en-US" altLang="ko-KR" dirty="0"/>
              <a:t> </a:t>
            </a:r>
            <a:r>
              <a:rPr lang="en-US" altLang="ko-KR" dirty="0" err="1"/>
              <a:t>phải</a:t>
            </a:r>
            <a:r>
              <a:rPr lang="en-US" altLang="ko-KR" dirty="0"/>
              <a:t> </a:t>
            </a:r>
            <a:r>
              <a:rPr lang="en-US" altLang="ko-KR" dirty="0" err="1"/>
              <a:t>thỏa</a:t>
            </a:r>
            <a:r>
              <a:rPr lang="en-US" altLang="ko-KR" dirty="0"/>
              <a:t> </a:t>
            </a:r>
            <a:r>
              <a:rPr lang="en-US" altLang="ko-KR" dirty="0" err="1"/>
              <a:t>mãn</a:t>
            </a:r>
            <a:r>
              <a:rPr lang="en-US" altLang="ko-KR" dirty="0"/>
              <a:t> </a:t>
            </a:r>
            <a:r>
              <a:rPr lang="en-US" altLang="ko-KR" dirty="0" err="1"/>
              <a:t>tất</a:t>
            </a:r>
            <a:r>
              <a:rPr lang="en-US" altLang="ko-KR" dirty="0"/>
              <a:t> </a:t>
            </a:r>
            <a:r>
              <a:rPr lang="en-US" altLang="ko-KR" dirty="0" err="1"/>
              <a:t>cả</a:t>
            </a:r>
            <a:r>
              <a:rPr lang="en-US" altLang="ko-KR" dirty="0"/>
              <a:t> %SV, %Tolerance?  </a:t>
            </a:r>
          </a:p>
          <a:p>
            <a:r>
              <a:rPr lang="en-US" altLang="ko-KR" dirty="0"/>
              <a:t>    </a:t>
            </a:r>
            <a:r>
              <a:rPr lang="en-US" altLang="ko-KR" dirty="0" err="1"/>
              <a:t>Chỉ</a:t>
            </a:r>
            <a:r>
              <a:rPr lang="en-US" altLang="ko-KR" dirty="0"/>
              <a:t> </a:t>
            </a:r>
            <a:r>
              <a:rPr lang="en-US" altLang="ko-KR" dirty="0" err="1"/>
              <a:t>thỏa</a:t>
            </a:r>
            <a:r>
              <a:rPr lang="en-US" altLang="ko-KR" dirty="0"/>
              <a:t> </a:t>
            </a:r>
            <a:r>
              <a:rPr lang="en-US" altLang="ko-KR" dirty="0" err="1"/>
              <a:t>mãn</a:t>
            </a:r>
            <a:r>
              <a:rPr lang="en-US" altLang="ko-KR" dirty="0"/>
              <a:t> </a:t>
            </a:r>
            <a:r>
              <a:rPr lang="en-US" altLang="ko-KR" dirty="0" err="1"/>
              <a:t>một</a:t>
            </a:r>
            <a:r>
              <a:rPr lang="en-US" altLang="ko-KR" dirty="0"/>
              <a:t> % </a:t>
            </a:r>
            <a:r>
              <a:rPr lang="en-US" altLang="ko-KR" dirty="0" err="1"/>
              <a:t>có</a:t>
            </a:r>
            <a:r>
              <a:rPr lang="en-US" altLang="ko-KR" dirty="0"/>
              <a:t> </a:t>
            </a:r>
            <a:r>
              <a:rPr lang="en-US" altLang="ko-KR" dirty="0" err="1"/>
              <a:t>được</a:t>
            </a:r>
            <a:r>
              <a:rPr lang="en-US" altLang="ko-KR" dirty="0"/>
              <a:t> hay </a:t>
            </a:r>
            <a:r>
              <a:rPr lang="en-US" altLang="ko-KR" dirty="0" err="1"/>
              <a:t>không</a:t>
            </a:r>
            <a:r>
              <a:rPr lang="en-US" altLang="ko-KR" dirty="0"/>
              <a:t>? </a:t>
            </a:r>
            <a:endParaRPr lang="ko-KR" altLang="en-US" dirty="0"/>
          </a:p>
        </p:txBody>
      </p:sp>
      <p:sp>
        <p:nvSpPr>
          <p:cNvPr id="18" name="TextBox 17"/>
          <p:cNvSpPr txBox="1"/>
          <p:nvPr/>
        </p:nvSpPr>
        <p:spPr>
          <a:xfrm>
            <a:off x="827584" y="3789040"/>
            <a:ext cx="7117654" cy="646331"/>
          </a:xfrm>
          <a:prstGeom prst="rect">
            <a:avLst/>
          </a:prstGeom>
          <a:noFill/>
        </p:spPr>
        <p:txBody>
          <a:bodyPr wrap="none" rtlCol="0">
            <a:spAutoFit/>
          </a:bodyPr>
          <a:lstStyle/>
          <a:p>
            <a:r>
              <a:rPr lang="en-US" altLang="ko-KR" dirty="0"/>
              <a:t>3.  </a:t>
            </a:r>
            <a:r>
              <a:rPr lang="en-US" altLang="ko-KR" dirty="0" err="1"/>
              <a:t>Kết</a:t>
            </a:r>
            <a:r>
              <a:rPr lang="en-US" altLang="ko-KR" dirty="0"/>
              <a:t> </a:t>
            </a:r>
            <a:r>
              <a:rPr lang="en-US" altLang="ko-KR" dirty="0" err="1"/>
              <a:t>quả</a:t>
            </a:r>
            <a:r>
              <a:rPr lang="en-US" altLang="ko-KR" dirty="0"/>
              <a:t> </a:t>
            </a:r>
            <a:r>
              <a:rPr lang="en-US" altLang="ko-KR" dirty="0" err="1"/>
              <a:t>của</a:t>
            </a:r>
            <a:r>
              <a:rPr lang="en-US" altLang="ko-KR" dirty="0"/>
              <a:t> Gage R&amp;R </a:t>
            </a:r>
            <a:r>
              <a:rPr lang="en-US" altLang="ko-KR" dirty="0" err="1"/>
              <a:t>là</a:t>
            </a:r>
            <a:r>
              <a:rPr lang="en-US" altLang="ko-KR" dirty="0"/>
              <a:t> 20%.  </a:t>
            </a:r>
            <a:r>
              <a:rPr lang="en-US" altLang="ko-KR" dirty="0" err="1"/>
              <a:t>Sẽ</a:t>
            </a:r>
            <a:r>
              <a:rPr lang="en-US" altLang="ko-KR" dirty="0"/>
              <a:t> </a:t>
            </a:r>
            <a:r>
              <a:rPr lang="en-US" altLang="ko-KR" dirty="0" err="1"/>
              <a:t>gọi</a:t>
            </a:r>
            <a:r>
              <a:rPr lang="en-US" altLang="ko-KR" dirty="0"/>
              <a:t> </a:t>
            </a:r>
            <a:r>
              <a:rPr lang="en-US" altLang="ko-KR" dirty="0" err="1"/>
              <a:t>là</a:t>
            </a:r>
            <a:r>
              <a:rPr lang="en-US" altLang="ko-KR" dirty="0"/>
              <a:t> </a:t>
            </a:r>
            <a:r>
              <a:rPr lang="en-US" altLang="ko-KR" dirty="0" err="1"/>
              <a:t>Có</a:t>
            </a:r>
            <a:r>
              <a:rPr lang="en-US" altLang="ko-KR" dirty="0"/>
              <a:t> </a:t>
            </a:r>
            <a:r>
              <a:rPr lang="en-US" altLang="ko-KR" dirty="0" err="1"/>
              <a:t>điều</a:t>
            </a:r>
            <a:r>
              <a:rPr lang="en-US" altLang="ko-KR" dirty="0"/>
              <a:t> </a:t>
            </a:r>
            <a:r>
              <a:rPr lang="en-US" altLang="ko-KR" dirty="0" err="1"/>
              <a:t>kiện</a:t>
            </a:r>
            <a:r>
              <a:rPr lang="ko-KR" altLang="en-US" dirty="0"/>
              <a:t> </a:t>
            </a:r>
            <a:r>
              <a:rPr lang="en-US" altLang="ko-KR" dirty="0"/>
              <a:t>Accept.</a:t>
            </a:r>
          </a:p>
          <a:p>
            <a:r>
              <a:rPr lang="en-US" altLang="ko-KR" dirty="0"/>
              <a:t>    </a:t>
            </a:r>
            <a:r>
              <a:rPr lang="en-US" altLang="ko-KR" dirty="0" err="1"/>
              <a:t>Có</a:t>
            </a:r>
            <a:r>
              <a:rPr lang="en-US" altLang="ko-KR" dirty="0"/>
              <a:t> </a:t>
            </a:r>
            <a:r>
              <a:rPr lang="en-US" altLang="ko-KR" dirty="0" err="1"/>
              <a:t>điều</a:t>
            </a:r>
            <a:r>
              <a:rPr lang="en-US" altLang="ko-KR" dirty="0"/>
              <a:t> </a:t>
            </a:r>
            <a:r>
              <a:rPr lang="en-US" altLang="ko-KR" dirty="0" err="1"/>
              <a:t>kiện</a:t>
            </a:r>
            <a:r>
              <a:rPr lang="en-US" altLang="ko-KR" dirty="0"/>
              <a:t> </a:t>
            </a:r>
            <a:r>
              <a:rPr lang="en-US" altLang="ko-KR" dirty="0" err="1"/>
              <a:t>nào</a:t>
            </a:r>
            <a:r>
              <a:rPr lang="en-US" altLang="ko-KR" dirty="0"/>
              <a:t> </a:t>
            </a:r>
            <a:r>
              <a:rPr lang="en-US" altLang="ko-KR" dirty="0" err="1"/>
              <a:t>là</a:t>
            </a:r>
            <a:r>
              <a:rPr lang="en-US" altLang="ko-KR" dirty="0"/>
              <a:t> Accept?  </a:t>
            </a:r>
            <a:endParaRPr lang="ko-KR" altLang="en-US" dirty="0"/>
          </a:p>
        </p:txBody>
      </p:sp>
      <p:sp>
        <p:nvSpPr>
          <p:cNvPr id="19" name="TextBox 18"/>
          <p:cNvSpPr txBox="1"/>
          <p:nvPr/>
        </p:nvSpPr>
        <p:spPr>
          <a:xfrm>
            <a:off x="827584" y="2924944"/>
            <a:ext cx="7332457" cy="369332"/>
          </a:xfrm>
          <a:prstGeom prst="rect">
            <a:avLst/>
          </a:prstGeom>
          <a:noFill/>
        </p:spPr>
        <p:txBody>
          <a:bodyPr wrap="none" rtlCol="0">
            <a:spAutoFit/>
          </a:bodyPr>
          <a:lstStyle/>
          <a:p>
            <a:r>
              <a:rPr lang="en-US" altLang="ko-KR" dirty="0"/>
              <a:t>2.  Gage R&amp;R</a:t>
            </a:r>
            <a:r>
              <a:rPr lang="ko-KR" altLang="en-US" dirty="0"/>
              <a:t> </a:t>
            </a:r>
            <a:r>
              <a:rPr lang="en-US" altLang="ko-KR" dirty="0" err="1"/>
              <a:t>không</a:t>
            </a:r>
            <a:r>
              <a:rPr lang="en-US" altLang="ko-KR" dirty="0"/>
              <a:t> </a:t>
            </a:r>
            <a:r>
              <a:rPr lang="en-US" altLang="ko-KR" dirty="0" err="1"/>
              <a:t>tốt</a:t>
            </a:r>
            <a:r>
              <a:rPr lang="en-US" altLang="ko-KR" dirty="0"/>
              <a:t>. </a:t>
            </a:r>
            <a:r>
              <a:rPr lang="en-US" altLang="ko-KR" dirty="0" err="1"/>
              <a:t>Liệu</a:t>
            </a:r>
            <a:r>
              <a:rPr lang="en-US" altLang="ko-KR" dirty="0"/>
              <a:t> </a:t>
            </a:r>
            <a:r>
              <a:rPr lang="en-US" altLang="ko-KR" dirty="0" err="1"/>
              <a:t>sẽ</a:t>
            </a:r>
            <a:r>
              <a:rPr lang="en-US" altLang="ko-KR" dirty="0"/>
              <a:t> </a:t>
            </a:r>
            <a:r>
              <a:rPr lang="en-US" altLang="ko-KR" dirty="0" err="1"/>
              <a:t>có</a:t>
            </a:r>
            <a:r>
              <a:rPr lang="en-US" altLang="ko-KR" dirty="0"/>
              <a:t> </a:t>
            </a:r>
            <a:r>
              <a:rPr lang="en-US" altLang="ko-KR" dirty="0" err="1"/>
              <a:t>ảnh</a:t>
            </a:r>
            <a:r>
              <a:rPr lang="en-US" altLang="ko-KR" dirty="0"/>
              <a:t> </a:t>
            </a:r>
            <a:r>
              <a:rPr lang="en-US" altLang="ko-KR" dirty="0" err="1"/>
              <a:t>hưởng</a:t>
            </a:r>
            <a:r>
              <a:rPr lang="en-US" altLang="ko-KR" dirty="0"/>
              <a:t> </a:t>
            </a:r>
            <a:r>
              <a:rPr lang="en-US" altLang="ko-KR" dirty="0" err="1"/>
              <a:t>nào</a:t>
            </a:r>
            <a:r>
              <a:rPr lang="en-US" altLang="ko-KR" dirty="0"/>
              <a:t> </a:t>
            </a:r>
            <a:r>
              <a:rPr lang="en-US" altLang="ko-KR" dirty="0" err="1"/>
              <a:t>đó</a:t>
            </a:r>
            <a:r>
              <a:rPr lang="en-US" altLang="ko-KR" dirty="0"/>
              <a:t> hay </a:t>
            </a:r>
            <a:r>
              <a:rPr lang="en-US" altLang="ko-KR" dirty="0" err="1"/>
              <a:t>không</a:t>
            </a:r>
            <a:r>
              <a:rPr lang="en-US" altLang="ko-KR" dirty="0"/>
              <a:t>?</a:t>
            </a:r>
            <a:endParaRPr lang="ko-KR" altLang="en-US" dirty="0"/>
          </a:p>
        </p:txBody>
      </p:sp>
      <p:sp>
        <p:nvSpPr>
          <p:cNvPr id="9" name="TextBox 8"/>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0" name="직사각형 9"/>
          <p:cNvSpPr/>
          <p:nvPr/>
        </p:nvSpPr>
        <p:spPr>
          <a:xfrm>
            <a:off x="6156176"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82078084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91</a:t>
            </a:fld>
            <a:endParaRPr lang="ko-KR" altLang="en-US" dirty="0"/>
          </a:p>
        </p:txBody>
      </p:sp>
      <p:sp>
        <p:nvSpPr>
          <p:cNvPr id="11" name="TextBox 10"/>
          <p:cNvSpPr txBox="1"/>
          <p:nvPr/>
        </p:nvSpPr>
        <p:spPr>
          <a:xfrm>
            <a:off x="611560" y="908720"/>
            <a:ext cx="7052636" cy="646331"/>
          </a:xfrm>
          <a:prstGeom prst="rect">
            <a:avLst/>
          </a:prstGeom>
          <a:noFill/>
        </p:spPr>
        <p:txBody>
          <a:bodyPr wrap="none" rtlCol="0">
            <a:spAutoFit/>
          </a:bodyPr>
          <a:lstStyle/>
          <a:p>
            <a:pPr marL="342900" indent="-342900">
              <a:buAutoNum type="arabicPeriod"/>
            </a:pPr>
            <a:r>
              <a:rPr lang="en-US" altLang="ko-KR" dirty="0"/>
              <a:t>Gage R&amp;R</a:t>
            </a:r>
            <a:r>
              <a:rPr lang="ko-KR" altLang="en-US" dirty="0"/>
              <a:t> </a:t>
            </a:r>
            <a:r>
              <a:rPr lang="en-US" altLang="ko-KR" dirty="0" err="1"/>
              <a:t>bắt</a:t>
            </a:r>
            <a:r>
              <a:rPr lang="en-US" altLang="ko-KR" dirty="0"/>
              <a:t> </a:t>
            </a:r>
            <a:r>
              <a:rPr lang="en-US" altLang="ko-KR" dirty="0" err="1"/>
              <a:t>buộc</a:t>
            </a:r>
            <a:r>
              <a:rPr lang="en-US" altLang="ko-KR" dirty="0"/>
              <a:t> </a:t>
            </a:r>
            <a:r>
              <a:rPr lang="en-US" altLang="ko-KR" dirty="0" err="1"/>
              <a:t>phải</a:t>
            </a:r>
            <a:r>
              <a:rPr lang="en-US" altLang="ko-KR" dirty="0"/>
              <a:t> </a:t>
            </a:r>
            <a:r>
              <a:rPr lang="en-US" altLang="ko-KR" dirty="0" err="1"/>
              <a:t>thỏa</a:t>
            </a:r>
            <a:r>
              <a:rPr lang="en-US" altLang="ko-KR" dirty="0"/>
              <a:t> </a:t>
            </a:r>
            <a:r>
              <a:rPr lang="en-US" altLang="ko-KR" dirty="0" err="1"/>
              <a:t>mãn</a:t>
            </a:r>
            <a:r>
              <a:rPr lang="en-US" altLang="ko-KR" dirty="0"/>
              <a:t> </a:t>
            </a:r>
            <a:r>
              <a:rPr lang="en-US" altLang="ko-KR" dirty="0" err="1"/>
              <a:t>tất</a:t>
            </a:r>
            <a:r>
              <a:rPr lang="en-US" altLang="ko-KR" dirty="0"/>
              <a:t> </a:t>
            </a:r>
            <a:r>
              <a:rPr lang="en-US" altLang="ko-KR" dirty="0" err="1"/>
              <a:t>cả</a:t>
            </a:r>
            <a:r>
              <a:rPr lang="en-US" altLang="ko-KR" dirty="0"/>
              <a:t> %SV, %Tolerance?  </a:t>
            </a:r>
          </a:p>
          <a:p>
            <a:r>
              <a:rPr lang="en-US" altLang="ko-KR" dirty="0"/>
              <a:t>    </a:t>
            </a:r>
            <a:r>
              <a:rPr lang="en-US" altLang="ko-KR" dirty="0" err="1"/>
              <a:t>Chỉ</a:t>
            </a:r>
            <a:r>
              <a:rPr lang="en-US" altLang="ko-KR" dirty="0"/>
              <a:t> </a:t>
            </a:r>
            <a:r>
              <a:rPr lang="en-US" altLang="ko-KR" dirty="0" err="1"/>
              <a:t>thỏa</a:t>
            </a:r>
            <a:r>
              <a:rPr lang="en-US" altLang="ko-KR" dirty="0"/>
              <a:t> </a:t>
            </a:r>
            <a:r>
              <a:rPr lang="en-US" altLang="ko-KR" dirty="0" err="1"/>
              <a:t>mãn</a:t>
            </a:r>
            <a:r>
              <a:rPr lang="en-US" altLang="ko-KR" dirty="0"/>
              <a:t> </a:t>
            </a:r>
            <a:r>
              <a:rPr lang="en-US" altLang="ko-KR" dirty="0" err="1"/>
              <a:t>một</a:t>
            </a:r>
            <a:r>
              <a:rPr lang="en-US" altLang="ko-KR" dirty="0"/>
              <a:t> % </a:t>
            </a:r>
            <a:r>
              <a:rPr lang="en-US" altLang="ko-KR" dirty="0" err="1"/>
              <a:t>có</a:t>
            </a:r>
            <a:r>
              <a:rPr lang="en-US" altLang="ko-KR" dirty="0"/>
              <a:t> </a:t>
            </a:r>
            <a:r>
              <a:rPr lang="en-US" altLang="ko-KR" dirty="0" err="1"/>
              <a:t>được</a:t>
            </a:r>
            <a:r>
              <a:rPr lang="en-US" altLang="ko-KR" dirty="0"/>
              <a:t> hay </a:t>
            </a:r>
            <a:r>
              <a:rPr lang="en-US" altLang="ko-KR" dirty="0" err="1"/>
              <a:t>không</a:t>
            </a:r>
            <a:r>
              <a:rPr lang="en-US" altLang="ko-KR" dirty="0"/>
              <a:t>? </a:t>
            </a:r>
            <a:endParaRPr lang="ko-KR" altLang="en-US" dirty="0"/>
          </a:p>
        </p:txBody>
      </p:sp>
      <p:sp>
        <p:nvSpPr>
          <p:cNvPr id="12" name="Rectangle 3"/>
          <p:cNvSpPr>
            <a:spLocks noChangeArrowheads="1"/>
          </p:cNvSpPr>
          <p:nvPr/>
        </p:nvSpPr>
        <p:spPr bwMode="auto">
          <a:xfrm>
            <a:off x="827584" y="1988840"/>
            <a:ext cx="2519141" cy="466725"/>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 Study Var. </a:t>
            </a:r>
          </a:p>
        </p:txBody>
      </p:sp>
      <p:sp>
        <p:nvSpPr>
          <p:cNvPr id="13" name="Rectangle 9"/>
          <p:cNvSpPr>
            <a:spLocks noChangeArrowheads="1"/>
          </p:cNvSpPr>
          <p:nvPr/>
        </p:nvSpPr>
        <p:spPr bwMode="auto">
          <a:xfrm>
            <a:off x="827584" y="2819846"/>
            <a:ext cx="2519141" cy="465138"/>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 Tolerance </a:t>
            </a:r>
          </a:p>
        </p:txBody>
      </p:sp>
      <p:sp>
        <p:nvSpPr>
          <p:cNvPr id="14" name="Rectangle 10"/>
          <p:cNvSpPr>
            <a:spLocks noChangeArrowheads="1"/>
          </p:cNvSpPr>
          <p:nvPr/>
        </p:nvSpPr>
        <p:spPr bwMode="auto">
          <a:xfrm>
            <a:off x="827584" y="3933056"/>
            <a:ext cx="2519141" cy="463550"/>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 Process</a:t>
            </a:r>
          </a:p>
        </p:txBody>
      </p:sp>
      <p:sp>
        <p:nvSpPr>
          <p:cNvPr id="15" name="Rectangle 11"/>
          <p:cNvSpPr>
            <a:spLocks noChangeArrowheads="1"/>
          </p:cNvSpPr>
          <p:nvPr/>
        </p:nvSpPr>
        <p:spPr bwMode="auto">
          <a:xfrm>
            <a:off x="827584" y="4836070"/>
            <a:ext cx="2519141" cy="465138"/>
          </a:xfrm>
          <a:prstGeom prst="rect">
            <a:avLst/>
          </a:prstGeom>
          <a:solidFill>
            <a:srgbClr val="FFFFFF"/>
          </a:solidFill>
          <a:ln w="9525" algn="ctr">
            <a:solidFill>
              <a:schemeClr val="bg1">
                <a:lumMod val="65000"/>
              </a:schemeClr>
            </a:solidFill>
            <a:miter lim="800000"/>
            <a:headEnd/>
            <a:tailEnd/>
          </a:ln>
        </p:spPr>
        <p:txBody>
          <a:bodyPr wrap="none" anchor="ctr"/>
          <a:lstStyle/>
          <a:p>
            <a:pPr>
              <a:lnSpc>
                <a:spcPct val="110000"/>
              </a:lnSpc>
              <a:buFont typeface="Wingdings" pitchFamily="2" charset="2"/>
              <a:buChar char="§"/>
            </a:pPr>
            <a:r>
              <a:rPr lang="en-US" altLang="ko-KR" sz="1200" b="1" dirty="0">
                <a:solidFill>
                  <a:srgbClr val="000000"/>
                </a:solidFill>
                <a:latin typeface="맑은 고딕" pitchFamily="50" charset="-127"/>
                <a:ea typeface="맑은 고딕" pitchFamily="50" charset="-127"/>
              </a:rPr>
              <a:t> Number of Distinct Categories</a:t>
            </a:r>
          </a:p>
        </p:txBody>
      </p:sp>
      <p:sp>
        <p:nvSpPr>
          <p:cNvPr id="3" name="TextBox 2"/>
          <p:cNvSpPr txBox="1"/>
          <p:nvPr/>
        </p:nvSpPr>
        <p:spPr>
          <a:xfrm>
            <a:off x="3275856" y="1916832"/>
            <a:ext cx="5730095" cy="646331"/>
          </a:xfrm>
          <a:prstGeom prst="rect">
            <a:avLst/>
          </a:prstGeom>
          <a:noFill/>
        </p:spPr>
        <p:txBody>
          <a:bodyPr wrap="none" rtlCol="0">
            <a:spAutoFit/>
          </a:bodyPr>
          <a:lstStyle/>
          <a:p>
            <a:r>
              <a:rPr lang="en-US" altLang="ko-KR" sz="1200" dirty="0" err="1"/>
              <a:t>Trong</a:t>
            </a:r>
            <a:r>
              <a:rPr lang="en-US" altLang="ko-KR" sz="1200" dirty="0"/>
              <a:t> </a:t>
            </a:r>
            <a:r>
              <a:rPr lang="en-US" altLang="ko-KR" sz="1200" dirty="0" err="1"/>
              <a:t>toàn</a:t>
            </a:r>
            <a:r>
              <a:rPr lang="en-US" altLang="ko-KR" sz="1200" dirty="0"/>
              <a:t> </a:t>
            </a:r>
            <a:r>
              <a:rPr lang="en-US" altLang="ko-KR" sz="1200" dirty="0" err="1"/>
              <a:t>thể</a:t>
            </a:r>
            <a:r>
              <a:rPr lang="en-US" altLang="ko-KR" sz="1200" dirty="0"/>
              <a:t> </a:t>
            </a:r>
            <a:r>
              <a:rPr lang="en-US" altLang="ko-KR" sz="1200" dirty="0" err="1"/>
              <a:t>những</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nếu</a:t>
            </a:r>
            <a:r>
              <a:rPr lang="en-US" altLang="ko-KR" sz="1200" dirty="0"/>
              <a:t> </a:t>
            </a:r>
            <a:r>
              <a:rPr lang="en-US" altLang="ko-KR" sz="1200" dirty="0" err="1"/>
              <a:t>là</a:t>
            </a:r>
            <a:r>
              <a:rPr lang="en-US" altLang="ko-KR" sz="1200" dirty="0"/>
              <a:t> </a:t>
            </a:r>
            <a:r>
              <a:rPr lang="en-US" altLang="ko-KR" sz="1200" dirty="0" err="1"/>
              <a:t>lượng</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có</a:t>
            </a:r>
            <a:r>
              <a:rPr lang="en-US" altLang="ko-KR" sz="1200" dirty="0"/>
              <a:t> </a:t>
            </a:r>
            <a:r>
              <a:rPr lang="en-US" altLang="ko-KR" sz="1200" dirty="0" err="1"/>
              <a:t>đơn</a:t>
            </a:r>
            <a:r>
              <a:rPr lang="en-US" altLang="ko-KR" sz="1200" dirty="0"/>
              <a:t> </a:t>
            </a:r>
            <a:r>
              <a:rPr lang="en-US" altLang="ko-KR" sz="1200" dirty="0" err="1"/>
              <a:t>vị</a:t>
            </a:r>
            <a:r>
              <a:rPr lang="en-US" altLang="ko-KR" sz="1200" dirty="0"/>
              <a:t> </a:t>
            </a:r>
            <a:r>
              <a:rPr lang="en-US" altLang="ko-KR" sz="1200" dirty="0" err="1"/>
              <a:t>đo</a:t>
            </a:r>
            <a:r>
              <a:rPr lang="en-US" altLang="ko-KR" sz="1200" dirty="0"/>
              <a:t> </a:t>
            </a:r>
            <a:r>
              <a:rPr lang="en-US" altLang="ko-KR" sz="1200" dirty="0" err="1"/>
              <a:t>thì</a:t>
            </a:r>
            <a:r>
              <a:rPr lang="en-US" altLang="ko-KR" sz="1200" dirty="0"/>
              <a:t> </a:t>
            </a:r>
          </a:p>
          <a:p>
            <a:r>
              <a:rPr lang="en-US" altLang="ko-KR" sz="1200" dirty="0" err="1"/>
              <a:t>sẽ</a:t>
            </a:r>
            <a:r>
              <a:rPr lang="en-US" altLang="ko-KR" sz="1200" dirty="0"/>
              <a:t> </a:t>
            </a:r>
            <a:r>
              <a:rPr lang="en-US" altLang="ko-KR" sz="1200" dirty="0" err="1"/>
              <a:t>xem</a:t>
            </a:r>
            <a:r>
              <a:rPr lang="en-US" altLang="ko-KR" sz="1200" dirty="0"/>
              <a:t> </a:t>
            </a:r>
            <a:r>
              <a:rPr lang="en-US" altLang="ko-KR" sz="1200" dirty="0" err="1"/>
              <a:t>xét</a:t>
            </a:r>
            <a:r>
              <a:rPr lang="en-US" altLang="ko-KR" sz="1200" dirty="0"/>
              <a:t> </a:t>
            </a:r>
            <a:r>
              <a:rPr lang="en-US" altLang="ko-KR" sz="1200" dirty="0" err="1"/>
              <a:t>tính</a:t>
            </a:r>
            <a:r>
              <a:rPr lang="en-US" altLang="ko-KR" sz="1200" dirty="0"/>
              <a:t> </a:t>
            </a:r>
            <a:r>
              <a:rPr lang="en-US" altLang="ko-KR" sz="1200" dirty="0" err="1"/>
              <a:t>hợp</a:t>
            </a:r>
            <a:r>
              <a:rPr lang="en-US" altLang="ko-KR" sz="1200" dirty="0"/>
              <a:t> </a:t>
            </a:r>
            <a:r>
              <a:rPr lang="en-US" altLang="ko-KR" sz="1200" dirty="0" err="1"/>
              <a:t>lý</a:t>
            </a:r>
            <a:r>
              <a:rPr lang="en-US" altLang="ko-KR" sz="1200" dirty="0"/>
              <a:t> </a:t>
            </a:r>
            <a:r>
              <a:rPr lang="en-US" altLang="ko-KR" sz="1200" dirty="0" err="1"/>
              <a:t>của</a:t>
            </a:r>
            <a:r>
              <a:rPr lang="en-US" altLang="ko-KR" sz="1200" dirty="0"/>
              <a:t> </a:t>
            </a:r>
            <a:r>
              <a:rPr lang="en-US" altLang="ko-KR" sz="1200" dirty="0" err="1"/>
              <a:t>việc</a:t>
            </a:r>
            <a:r>
              <a:rPr lang="en-US" altLang="ko-KR" sz="1200" dirty="0"/>
              <a:t> </a:t>
            </a:r>
            <a:r>
              <a:rPr lang="en-US" altLang="ko-KR" sz="1200" dirty="0" err="1"/>
              <a:t>lựa</a:t>
            </a:r>
            <a:r>
              <a:rPr lang="en-US" altLang="ko-KR" sz="1200" dirty="0"/>
              <a:t> </a:t>
            </a:r>
            <a:r>
              <a:rPr lang="en-US" altLang="ko-KR" sz="1200" dirty="0" err="1"/>
              <a:t>chọn</a:t>
            </a:r>
            <a:r>
              <a:rPr lang="en-US" altLang="ko-KR" sz="1200" dirty="0"/>
              <a:t> </a:t>
            </a:r>
            <a:r>
              <a:rPr lang="en-US" altLang="ko-KR" sz="1200" dirty="0" err="1"/>
              <a:t>đơn</a:t>
            </a:r>
            <a:r>
              <a:rPr lang="en-US" altLang="ko-KR" sz="1200" dirty="0"/>
              <a:t> </a:t>
            </a:r>
            <a:r>
              <a:rPr lang="en-US" altLang="ko-KR" sz="1200" dirty="0" err="1"/>
              <a:t>vị</a:t>
            </a:r>
            <a:r>
              <a:rPr lang="en-US" altLang="ko-KR" sz="1200" dirty="0"/>
              <a:t> </a:t>
            </a:r>
            <a:r>
              <a:rPr lang="en-US" altLang="ko-KR" sz="1200" dirty="0" err="1"/>
              <a:t>đo</a:t>
            </a:r>
            <a:r>
              <a:rPr lang="en-US" altLang="ko-KR" sz="1200" dirty="0"/>
              <a:t> </a:t>
            </a:r>
            <a:r>
              <a:rPr lang="en-US" altLang="ko-KR" sz="1200" dirty="0" err="1"/>
              <a:t>hoặc</a:t>
            </a:r>
            <a:r>
              <a:rPr lang="en-US" altLang="ko-KR" sz="1200" dirty="0"/>
              <a:t> </a:t>
            </a:r>
            <a:r>
              <a:rPr lang="en-US" altLang="ko-KR" sz="1200" dirty="0" err="1"/>
              <a:t>tính</a:t>
            </a:r>
            <a:r>
              <a:rPr lang="en-US" altLang="ko-KR" sz="1200" dirty="0"/>
              <a:t> </a:t>
            </a:r>
            <a:r>
              <a:rPr lang="en-US" altLang="ko-KR" sz="1200" dirty="0" err="1"/>
              <a:t>hợp</a:t>
            </a:r>
            <a:r>
              <a:rPr lang="en-US" altLang="ko-KR" sz="1200" dirty="0"/>
              <a:t> </a:t>
            </a:r>
            <a:r>
              <a:rPr lang="en-US" altLang="ko-KR" sz="1200" dirty="0" err="1"/>
              <a:t>lý</a:t>
            </a:r>
            <a:r>
              <a:rPr lang="en-US" altLang="ko-KR" sz="1200" dirty="0"/>
              <a:t> </a:t>
            </a:r>
            <a:r>
              <a:rPr lang="en-US" altLang="ko-KR" sz="1200" dirty="0" err="1"/>
              <a:t>của</a:t>
            </a:r>
            <a:r>
              <a:rPr lang="en-US" altLang="ko-KR" sz="1200" dirty="0"/>
              <a:t> </a:t>
            </a:r>
            <a:r>
              <a:rPr lang="en-US" altLang="ko-KR" sz="1200" dirty="0" err="1"/>
              <a:t>biện</a:t>
            </a:r>
            <a:r>
              <a:rPr lang="en-US" altLang="ko-KR" sz="1200" dirty="0"/>
              <a:t> </a:t>
            </a:r>
          </a:p>
          <a:p>
            <a:r>
              <a:rPr lang="en-US" altLang="ko-KR" sz="1200" dirty="0" err="1"/>
              <a:t>pháp</a:t>
            </a:r>
            <a:r>
              <a:rPr lang="en-US" altLang="ko-KR" sz="1200" dirty="0"/>
              <a:t> </a:t>
            </a:r>
            <a:r>
              <a:rPr lang="en-US" altLang="ko-KR" sz="1200" dirty="0" err="1"/>
              <a:t>sử</a:t>
            </a:r>
            <a:r>
              <a:rPr lang="en-US" altLang="ko-KR" sz="1200" dirty="0"/>
              <a:t> </a:t>
            </a:r>
            <a:r>
              <a:rPr lang="en-US" altLang="ko-KR" sz="1200" dirty="0" err="1"/>
              <a:t>dụng</a:t>
            </a:r>
            <a:endParaRPr lang="ko-KR" altLang="en-US" sz="1200" dirty="0"/>
          </a:p>
        </p:txBody>
      </p:sp>
      <p:sp>
        <p:nvSpPr>
          <p:cNvPr id="17" name="TextBox 16"/>
          <p:cNvSpPr txBox="1"/>
          <p:nvPr/>
        </p:nvSpPr>
        <p:spPr>
          <a:xfrm>
            <a:off x="3275856" y="2780928"/>
            <a:ext cx="5592237" cy="830997"/>
          </a:xfrm>
          <a:prstGeom prst="rect">
            <a:avLst/>
          </a:prstGeom>
          <a:noFill/>
        </p:spPr>
        <p:txBody>
          <a:bodyPr wrap="none" rtlCol="0">
            <a:spAutoFit/>
          </a:bodyPr>
          <a:lstStyle/>
          <a:p>
            <a:r>
              <a:rPr lang="en-US" altLang="ko-KR" sz="1200" dirty="0"/>
              <a:t>So </a:t>
            </a:r>
            <a:r>
              <a:rPr lang="en-US" altLang="ko-KR" sz="1200" dirty="0" err="1"/>
              <a:t>với</a:t>
            </a:r>
            <a:r>
              <a:rPr lang="en-US" altLang="ko-KR" sz="1200" dirty="0"/>
              <a:t> </a:t>
            </a:r>
            <a:r>
              <a:rPr lang="en-US" altLang="ko-KR" sz="1200" dirty="0" err="1"/>
              <a:t>sai</a:t>
            </a:r>
            <a:r>
              <a:rPr lang="en-US" altLang="ko-KR" sz="1200" dirty="0"/>
              <a:t> </a:t>
            </a:r>
            <a:r>
              <a:rPr lang="en-US" altLang="ko-KR" sz="1200" dirty="0" err="1"/>
              <a:t>số</a:t>
            </a:r>
            <a:r>
              <a:rPr lang="en-US" altLang="ko-KR" sz="1200" dirty="0"/>
              <a:t> </a:t>
            </a:r>
            <a:r>
              <a:rPr lang="en-US" altLang="ko-KR" sz="1200" dirty="0" err="1"/>
              <a:t>cho</a:t>
            </a:r>
            <a:r>
              <a:rPr lang="en-US" altLang="ko-KR" sz="1200" dirty="0"/>
              <a:t> </a:t>
            </a:r>
            <a:r>
              <a:rPr lang="en-US" altLang="ko-KR" sz="1200" dirty="0" err="1"/>
              <a:t>phép</a:t>
            </a:r>
            <a:r>
              <a:rPr lang="en-US" altLang="ko-KR" sz="1200" dirty="0"/>
              <a:t> </a:t>
            </a:r>
            <a:r>
              <a:rPr lang="en-US" altLang="ko-KR" sz="1200" dirty="0" err="1"/>
              <a:t>ta</a:t>
            </a:r>
            <a:r>
              <a:rPr lang="en-US" altLang="ko-KR" sz="1200" dirty="0"/>
              <a:t> </a:t>
            </a:r>
            <a:r>
              <a:rPr lang="en-US" altLang="ko-KR" sz="1200" dirty="0" err="1"/>
              <a:t>xem</a:t>
            </a:r>
            <a:r>
              <a:rPr lang="en-US" altLang="ko-KR" sz="1200" dirty="0"/>
              <a:t> </a:t>
            </a:r>
            <a:r>
              <a:rPr lang="en-US" altLang="ko-KR" sz="1200" dirty="0" err="1"/>
              <a:t>xét</a:t>
            </a:r>
            <a:r>
              <a:rPr lang="en-US" altLang="ko-KR" sz="1200" dirty="0"/>
              <a:t> </a:t>
            </a:r>
            <a:r>
              <a:rPr lang="en-US" altLang="ko-KR" sz="1200" dirty="0" err="1"/>
              <a:t>lượng</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có</a:t>
            </a:r>
            <a:r>
              <a:rPr lang="en-US" altLang="ko-KR" sz="1200" dirty="0"/>
              <a:t> </a:t>
            </a:r>
            <a:r>
              <a:rPr lang="en-US" altLang="ko-KR" sz="1200" dirty="0" err="1"/>
              <a:t>đơn</a:t>
            </a:r>
            <a:r>
              <a:rPr lang="en-US" altLang="ko-KR" sz="1200" dirty="0"/>
              <a:t> </a:t>
            </a:r>
            <a:r>
              <a:rPr lang="en-US" altLang="ko-KR" sz="1200" dirty="0" err="1"/>
              <a:t>vị</a:t>
            </a:r>
            <a:r>
              <a:rPr lang="en-US" altLang="ko-KR" sz="1200" dirty="0"/>
              <a:t> </a:t>
            </a:r>
            <a:r>
              <a:rPr lang="en-US" altLang="ko-KR" sz="1200" dirty="0" err="1"/>
              <a:t>đo</a:t>
            </a:r>
            <a:r>
              <a:rPr lang="en-US" altLang="ko-KR" sz="1200" dirty="0"/>
              <a:t>, </a:t>
            </a:r>
            <a:r>
              <a:rPr lang="en-US" altLang="ko-KR" sz="1200" dirty="0" err="1"/>
              <a:t>bằng</a:t>
            </a:r>
            <a:r>
              <a:rPr lang="en-US" altLang="ko-KR" sz="1200" dirty="0"/>
              <a:t> </a:t>
            </a:r>
            <a:r>
              <a:rPr lang="en-US" altLang="ko-KR" sz="1200" dirty="0" err="1"/>
              <a:t>đơn</a:t>
            </a:r>
            <a:endParaRPr lang="en-US" altLang="ko-KR" sz="1200" dirty="0"/>
          </a:p>
          <a:p>
            <a:r>
              <a:rPr lang="en-US" altLang="ko-KR" sz="1200" dirty="0" err="1"/>
              <a:t>vị</a:t>
            </a:r>
            <a:r>
              <a:rPr lang="en-US" altLang="ko-KR" sz="1200" dirty="0"/>
              <a:t> </a:t>
            </a:r>
            <a:r>
              <a:rPr lang="en-US" altLang="ko-KR" sz="1200" dirty="0" err="1"/>
              <a:t>đo</a:t>
            </a:r>
            <a:r>
              <a:rPr lang="en-US" altLang="ko-KR" sz="1200" dirty="0"/>
              <a:t> </a:t>
            </a:r>
            <a:r>
              <a:rPr lang="en-US" altLang="ko-KR" sz="1200" dirty="0" err="1"/>
              <a:t>này</a:t>
            </a:r>
            <a:r>
              <a:rPr lang="en-US" altLang="ko-KR" sz="1200" dirty="0"/>
              <a:t> </a:t>
            </a:r>
            <a:r>
              <a:rPr lang="en-US" altLang="ko-KR" sz="1200" dirty="0" err="1"/>
              <a:t>ta</a:t>
            </a:r>
            <a:r>
              <a:rPr lang="en-US" altLang="ko-KR" sz="1200" dirty="0"/>
              <a:t> </a:t>
            </a:r>
            <a:r>
              <a:rPr lang="en-US" altLang="ko-KR" sz="1200" dirty="0" err="1"/>
              <a:t>có</a:t>
            </a:r>
            <a:r>
              <a:rPr lang="en-US" altLang="ko-KR" sz="1200" dirty="0"/>
              <a:t> </a:t>
            </a:r>
            <a:r>
              <a:rPr lang="en-US" altLang="ko-KR" sz="1200" dirty="0" err="1"/>
              <a:t>thể</a:t>
            </a:r>
            <a:r>
              <a:rPr lang="en-US" altLang="ko-KR" sz="1200" dirty="0"/>
              <a:t> </a:t>
            </a:r>
            <a:r>
              <a:rPr lang="en-US" altLang="ko-KR" sz="1200" dirty="0" err="1"/>
              <a:t>xem</a:t>
            </a:r>
            <a:r>
              <a:rPr lang="en-US" altLang="ko-KR" sz="1200" dirty="0"/>
              <a:t> </a:t>
            </a:r>
            <a:r>
              <a:rPr lang="en-US" altLang="ko-KR" sz="1200" dirty="0" err="1"/>
              <a:t>xét</a:t>
            </a:r>
            <a:r>
              <a:rPr lang="en-US" altLang="ko-KR" sz="1200" dirty="0"/>
              <a:t> </a:t>
            </a:r>
            <a:r>
              <a:rPr lang="en-US" altLang="ko-KR" sz="1200" dirty="0" err="1"/>
              <a:t>đánh</a:t>
            </a:r>
            <a:r>
              <a:rPr lang="en-US" altLang="ko-KR" sz="1200" dirty="0"/>
              <a:t> </a:t>
            </a:r>
            <a:r>
              <a:rPr lang="en-US" altLang="ko-KR" sz="1200" dirty="0" err="1"/>
              <a:t>giá</a:t>
            </a:r>
            <a:r>
              <a:rPr lang="en-US" altLang="ko-KR" sz="1200" dirty="0"/>
              <a:t> </a:t>
            </a:r>
            <a:r>
              <a:rPr lang="en-US" altLang="ko-KR" sz="1200" dirty="0" err="1"/>
              <a:t>sản</a:t>
            </a:r>
            <a:r>
              <a:rPr lang="en-US" altLang="ko-KR" sz="1200" dirty="0"/>
              <a:t> </a:t>
            </a:r>
            <a:r>
              <a:rPr lang="en-US" altLang="ko-KR" sz="1200" dirty="0" err="1"/>
              <a:t>phẩm</a:t>
            </a:r>
            <a:r>
              <a:rPr lang="en-US" altLang="ko-KR" sz="1200" dirty="0"/>
              <a:t> </a:t>
            </a:r>
            <a:r>
              <a:rPr lang="en-US" altLang="ko-KR" sz="1200" dirty="0" err="1"/>
              <a:t>có</a:t>
            </a:r>
            <a:r>
              <a:rPr lang="en-US" altLang="ko-KR" sz="1200" dirty="0"/>
              <a:t> SPEC </a:t>
            </a:r>
            <a:r>
              <a:rPr lang="en-US" altLang="ko-KR" sz="1200" dirty="0" err="1"/>
              <a:t>đó</a:t>
            </a:r>
            <a:r>
              <a:rPr lang="en-US" altLang="ko-KR" sz="1200" dirty="0"/>
              <a:t> hay </a:t>
            </a:r>
            <a:r>
              <a:rPr lang="en-US" altLang="ko-KR" sz="1200" dirty="0" err="1"/>
              <a:t>không</a:t>
            </a:r>
            <a:endParaRPr lang="en-US" altLang="ko-KR" sz="1200" dirty="0"/>
          </a:p>
          <a:p>
            <a:r>
              <a:rPr lang="en-US" altLang="ko-KR" sz="1200" dirty="0" err="1"/>
              <a:t>Giá</a:t>
            </a:r>
            <a:r>
              <a:rPr lang="en-US" altLang="ko-KR" sz="1200" dirty="0"/>
              <a:t> </a:t>
            </a:r>
            <a:r>
              <a:rPr lang="en-US" altLang="ko-KR" sz="1200" dirty="0" err="1"/>
              <a:t>trị</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đơn</a:t>
            </a:r>
            <a:r>
              <a:rPr lang="en-US" altLang="ko-KR" sz="1200" dirty="0"/>
              <a:t> </a:t>
            </a:r>
            <a:r>
              <a:rPr lang="en-US" altLang="ko-KR" sz="1200" dirty="0" err="1"/>
              <a:t>vị</a:t>
            </a:r>
            <a:r>
              <a:rPr lang="en-US" altLang="ko-KR" sz="1200" dirty="0"/>
              <a:t> </a:t>
            </a:r>
            <a:r>
              <a:rPr lang="en-US" altLang="ko-KR" sz="1200" dirty="0" err="1"/>
              <a:t>đo</a:t>
            </a:r>
            <a:r>
              <a:rPr lang="en-US" altLang="ko-KR" sz="1200" dirty="0"/>
              <a:t> </a:t>
            </a:r>
            <a:r>
              <a:rPr lang="en-US" altLang="ko-KR" sz="1200" dirty="0" err="1"/>
              <a:t>nhân</a:t>
            </a:r>
            <a:r>
              <a:rPr lang="en-US" altLang="ko-KR" sz="1200" dirty="0"/>
              <a:t> </a:t>
            </a:r>
            <a:r>
              <a:rPr lang="en-US" altLang="ko-KR" sz="1200" dirty="0" err="1"/>
              <a:t>với</a:t>
            </a:r>
            <a:r>
              <a:rPr lang="en-US" altLang="ko-KR" sz="1200" dirty="0"/>
              <a:t> 6 </a:t>
            </a:r>
            <a:r>
              <a:rPr lang="en-US" altLang="ko-KR" sz="1200" dirty="0" err="1"/>
              <a:t>sau</a:t>
            </a:r>
            <a:r>
              <a:rPr lang="en-US" altLang="ko-KR" sz="1200" dirty="0"/>
              <a:t> </a:t>
            </a:r>
            <a:r>
              <a:rPr lang="en-US" altLang="ko-KR" sz="1200" dirty="0" err="1"/>
              <a:t>đó</a:t>
            </a:r>
            <a:r>
              <a:rPr lang="en-US" altLang="ko-KR" sz="1200" dirty="0"/>
              <a:t> so </a:t>
            </a:r>
            <a:r>
              <a:rPr lang="en-US" altLang="ko-KR" sz="1200" dirty="0" err="1"/>
              <a:t>sánh</a:t>
            </a:r>
            <a:r>
              <a:rPr lang="en-US" altLang="ko-KR" sz="1200" dirty="0"/>
              <a:t> </a:t>
            </a:r>
            <a:r>
              <a:rPr lang="en-US" altLang="ko-KR" sz="1200" dirty="0" err="1"/>
              <a:t>với</a:t>
            </a:r>
            <a:r>
              <a:rPr lang="en-US" altLang="ko-KR" sz="1200" dirty="0"/>
              <a:t> SPEC </a:t>
            </a:r>
            <a:r>
              <a:rPr lang="en-US" altLang="ko-KR" sz="1200" dirty="0" err="1"/>
              <a:t>phải</a:t>
            </a:r>
            <a:r>
              <a:rPr lang="en-US" altLang="ko-KR" sz="1200" dirty="0"/>
              <a:t> </a:t>
            </a:r>
            <a:r>
              <a:rPr lang="en-US" altLang="ko-KR" sz="1200" dirty="0" err="1"/>
              <a:t>nhỏ</a:t>
            </a:r>
            <a:r>
              <a:rPr lang="en-US" altLang="ko-KR" sz="1200" dirty="0"/>
              <a:t> </a:t>
            </a:r>
          </a:p>
          <a:p>
            <a:r>
              <a:rPr lang="en-US" altLang="ko-KR" sz="1200" dirty="0" err="1"/>
              <a:t>hơn</a:t>
            </a:r>
            <a:r>
              <a:rPr lang="en-US" altLang="ko-KR" sz="1200" dirty="0"/>
              <a:t> 10% </a:t>
            </a:r>
            <a:r>
              <a:rPr lang="en-US" altLang="ko-KR" sz="1200" dirty="0" err="1"/>
              <a:t>nên</a:t>
            </a:r>
            <a:r>
              <a:rPr lang="en-US" altLang="ko-KR" sz="1200" dirty="0"/>
              <a:t> </a:t>
            </a:r>
            <a:r>
              <a:rPr lang="en-US" altLang="ko-KR" sz="1200" dirty="0" err="1"/>
              <a:t>độ</a:t>
            </a:r>
            <a:r>
              <a:rPr lang="en-US" altLang="ko-KR" sz="1200" dirty="0"/>
              <a:t> </a:t>
            </a:r>
            <a:r>
              <a:rPr lang="en-US" altLang="ko-KR" sz="1200" dirty="0" err="1"/>
              <a:t>lệch</a:t>
            </a:r>
            <a:r>
              <a:rPr lang="en-US" altLang="ko-KR" sz="1200" dirty="0"/>
              <a:t> </a:t>
            </a:r>
            <a:r>
              <a:rPr lang="en-US" altLang="ko-KR" sz="1200" dirty="0" err="1"/>
              <a:t>tiêu</a:t>
            </a:r>
            <a:r>
              <a:rPr lang="en-US" altLang="ko-KR" sz="1200" dirty="0"/>
              <a:t> </a:t>
            </a:r>
            <a:r>
              <a:rPr lang="en-US" altLang="ko-KR" sz="1200" dirty="0" err="1"/>
              <a:t>chuẩn</a:t>
            </a:r>
            <a:r>
              <a:rPr lang="en-US" altLang="ko-KR" sz="1200" dirty="0"/>
              <a:t> </a:t>
            </a:r>
            <a:r>
              <a:rPr lang="en-US" altLang="ko-KR" sz="1200" dirty="0" err="1"/>
              <a:t>của</a:t>
            </a:r>
            <a:r>
              <a:rPr lang="en-US" altLang="ko-KR" sz="1200" dirty="0"/>
              <a:t> </a:t>
            </a:r>
            <a:r>
              <a:rPr lang="en-US" altLang="ko-KR" sz="1200" dirty="0" err="1"/>
              <a:t>dụng</a:t>
            </a:r>
            <a:r>
              <a:rPr lang="en-US" altLang="ko-KR" sz="1200" dirty="0"/>
              <a:t> </a:t>
            </a:r>
            <a:r>
              <a:rPr lang="en-US" altLang="ko-KR" sz="1200" dirty="0" err="1"/>
              <a:t>cụ</a:t>
            </a:r>
            <a:r>
              <a:rPr lang="en-US" altLang="ko-KR" sz="1200" dirty="0"/>
              <a:t> </a:t>
            </a:r>
            <a:r>
              <a:rPr lang="en-US" altLang="ko-KR" sz="1200" dirty="0" err="1"/>
              <a:t>đo</a:t>
            </a:r>
            <a:r>
              <a:rPr lang="en-US" altLang="ko-KR" sz="1200" dirty="0"/>
              <a:t> so </a:t>
            </a:r>
            <a:r>
              <a:rPr lang="en-US" altLang="ko-KR" sz="1200" dirty="0" err="1"/>
              <a:t>với</a:t>
            </a:r>
            <a:r>
              <a:rPr lang="en-US" altLang="ko-KR" sz="1200" dirty="0"/>
              <a:t> SPEC  </a:t>
            </a:r>
            <a:r>
              <a:rPr lang="en-US" altLang="ko-KR" sz="1200" dirty="0" err="1"/>
              <a:t>phải</a:t>
            </a:r>
            <a:r>
              <a:rPr lang="en-US" altLang="ko-KR" sz="1200" dirty="0"/>
              <a:t> </a:t>
            </a:r>
            <a:r>
              <a:rPr lang="en-US" altLang="ko-KR" sz="1200" dirty="0" err="1"/>
              <a:t>là</a:t>
            </a:r>
            <a:r>
              <a:rPr lang="en-US" altLang="ko-KR" sz="1200" dirty="0"/>
              <a:t> 3,9%</a:t>
            </a:r>
            <a:endParaRPr lang="ko-KR" altLang="en-US" sz="1200" dirty="0"/>
          </a:p>
        </p:txBody>
      </p:sp>
      <p:sp>
        <p:nvSpPr>
          <p:cNvPr id="18" name="TextBox 17"/>
          <p:cNvSpPr txBox="1"/>
          <p:nvPr/>
        </p:nvSpPr>
        <p:spPr>
          <a:xfrm>
            <a:off x="3275856" y="3933056"/>
            <a:ext cx="5538696" cy="461665"/>
          </a:xfrm>
          <a:prstGeom prst="rect">
            <a:avLst/>
          </a:prstGeom>
          <a:noFill/>
        </p:spPr>
        <p:txBody>
          <a:bodyPr wrap="none" rtlCol="0">
            <a:spAutoFit/>
          </a:bodyPr>
          <a:lstStyle/>
          <a:p>
            <a:r>
              <a:rPr lang="en-US" altLang="ko-KR" sz="1200" dirty="0" err="1"/>
              <a:t>Khi</a:t>
            </a:r>
            <a:r>
              <a:rPr lang="en-US" altLang="ko-KR" sz="1200" dirty="0"/>
              <a:t> process </a:t>
            </a:r>
            <a:r>
              <a:rPr lang="en-US" altLang="ko-KR" sz="1200" dirty="0" err="1"/>
              <a:t>được</a:t>
            </a:r>
            <a:r>
              <a:rPr lang="en-US" altLang="ko-KR" sz="1200" dirty="0"/>
              <a:t> </a:t>
            </a:r>
            <a:r>
              <a:rPr lang="en-US" altLang="ko-KR" sz="1200" dirty="0" err="1"/>
              <a:t>quản</a:t>
            </a:r>
            <a:r>
              <a:rPr lang="en-US" altLang="ko-KR" sz="1200" dirty="0"/>
              <a:t> </a:t>
            </a:r>
            <a:r>
              <a:rPr lang="en-US" altLang="ko-KR" sz="1200" dirty="0" err="1"/>
              <a:t>lý</a:t>
            </a:r>
            <a:r>
              <a:rPr lang="en-US" altLang="ko-KR" sz="1200" dirty="0"/>
              <a:t> </a:t>
            </a:r>
            <a:r>
              <a:rPr lang="en-US" altLang="ko-KR" sz="1200" dirty="0" err="1"/>
              <a:t>đều</a:t>
            </a:r>
            <a:r>
              <a:rPr lang="en-US" altLang="ko-KR" sz="1200" dirty="0"/>
              <a:t> </a:t>
            </a:r>
            <a:r>
              <a:rPr lang="en-US" altLang="ko-KR" sz="1200" dirty="0" err="1"/>
              <a:t>đặn</a:t>
            </a:r>
            <a:r>
              <a:rPr lang="en-US" altLang="ko-KR" sz="1200" dirty="0"/>
              <a:t> </a:t>
            </a:r>
            <a:r>
              <a:rPr lang="en-US" altLang="ko-KR" sz="1200" dirty="0" err="1"/>
              <a:t>và</a:t>
            </a:r>
            <a:r>
              <a:rPr lang="en-US" altLang="ko-KR" sz="1200" dirty="0"/>
              <a:t> </a:t>
            </a:r>
            <a:r>
              <a:rPr lang="en-US" altLang="ko-KR" sz="1200" dirty="0" err="1"/>
              <a:t>biết</a:t>
            </a:r>
            <a:r>
              <a:rPr lang="en-US" altLang="ko-KR" sz="1200" dirty="0"/>
              <a:t> </a:t>
            </a:r>
            <a:r>
              <a:rPr lang="en-US" altLang="ko-KR" sz="1200" dirty="0" err="1"/>
              <a:t>được</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của</a:t>
            </a:r>
            <a:r>
              <a:rPr lang="en-US" altLang="ko-KR" sz="1200" dirty="0"/>
              <a:t> </a:t>
            </a:r>
            <a:r>
              <a:rPr lang="en-US" altLang="ko-KR" sz="1200" dirty="0" err="1"/>
              <a:t>quá</a:t>
            </a:r>
            <a:r>
              <a:rPr lang="en-US" altLang="ko-KR" sz="1200" dirty="0"/>
              <a:t> </a:t>
            </a:r>
            <a:r>
              <a:rPr lang="en-US" altLang="ko-KR" sz="1200" dirty="0" err="1"/>
              <a:t>trình</a:t>
            </a:r>
            <a:r>
              <a:rPr lang="en-US" altLang="ko-KR" sz="1200" dirty="0"/>
              <a:t>,</a:t>
            </a:r>
          </a:p>
          <a:p>
            <a:r>
              <a:rPr lang="en-US" altLang="ko-KR" sz="1200" dirty="0" err="1"/>
              <a:t>ta</a:t>
            </a:r>
            <a:r>
              <a:rPr lang="en-US" altLang="ko-KR" sz="1200" dirty="0"/>
              <a:t> </a:t>
            </a:r>
            <a:r>
              <a:rPr lang="en-US" altLang="ko-KR" sz="1200" dirty="0" err="1"/>
              <a:t>đánh</a:t>
            </a:r>
            <a:r>
              <a:rPr lang="en-US" altLang="ko-KR" sz="1200" dirty="0"/>
              <a:t> </a:t>
            </a:r>
            <a:r>
              <a:rPr lang="en-US" altLang="ko-KR" sz="1200" dirty="0" err="1"/>
              <a:t>giá</a:t>
            </a:r>
            <a:r>
              <a:rPr lang="en-US" altLang="ko-KR" sz="1200" dirty="0"/>
              <a:t> </a:t>
            </a:r>
            <a:r>
              <a:rPr lang="en-US" altLang="ko-KR" sz="1200" dirty="0" err="1"/>
              <a:t>lượng</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của</a:t>
            </a:r>
            <a:r>
              <a:rPr lang="en-US" altLang="ko-KR" sz="1200" dirty="0"/>
              <a:t> </a:t>
            </a:r>
            <a:r>
              <a:rPr lang="en-US" altLang="ko-KR" sz="1200" dirty="0" err="1"/>
              <a:t>đơn</a:t>
            </a:r>
            <a:r>
              <a:rPr lang="en-US" altLang="ko-KR" sz="1200" dirty="0"/>
              <a:t> </a:t>
            </a:r>
            <a:r>
              <a:rPr lang="en-US" altLang="ko-KR" sz="1200" dirty="0" err="1"/>
              <a:t>vị</a:t>
            </a:r>
            <a:r>
              <a:rPr lang="en-US" altLang="ko-KR" sz="1200" dirty="0"/>
              <a:t> </a:t>
            </a:r>
            <a:r>
              <a:rPr lang="en-US" altLang="ko-KR" sz="1200" dirty="0" err="1"/>
              <a:t>đo</a:t>
            </a:r>
            <a:r>
              <a:rPr lang="en-US" altLang="ko-KR" sz="1200" dirty="0"/>
              <a:t> </a:t>
            </a:r>
            <a:r>
              <a:rPr lang="vi-VN" altLang="ko-KR" sz="1200" dirty="0"/>
              <a:t>so với biến động của quá trình </a:t>
            </a:r>
            <a:endParaRPr lang="ko-KR" altLang="en-US" sz="1200" dirty="0"/>
          </a:p>
        </p:txBody>
      </p:sp>
      <p:sp>
        <p:nvSpPr>
          <p:cNvPr id="19" name="TextBox 18"/>
          <p:cNvSpPr txBox="1"/>
          <p:nvPr/>
        </p:nvSpPr>
        <p:spPr>
          <a:xfrm>
            <a:off x="3275856" y="4725144"/>
            <a:ext cx="5737468" cy="1015663"/>
          </a:xfrm>
          <a:prstGeom prst="rect">
            <a:avLst/>
          </a:prstGeom>
          <a:noFill/>
        </p:spPr>
        <p:txBody>
          <a:bodyPr wrap="none" rtlCol="0">
            <a:spAutoFit/>
          </a:bodyPr>
          <a:lstStyle/>
          <a:p>
            <a:r>
              <a:rPr lang="en-US" altLang="ko-KR" sz="1200" dirty="0" err="1"/>
              <a:t>Trong</a:t>
            </a:r>
            <a:r>
              <a:rPr lang="en-US" altLang="ko-KR" sz="1200" dirty="0"/>
              <a:t> </a:t>
            </a:r>
            <a:r>
              <a:rPr lang="en-US" altLang="ko-KR" sz="1200" dirty="0" err="1"/>
              <a:t>toàn</a:t>
            </a:r>
            <a:r>
              <a:rPr lang="en-US" altLang="ko-KR" sz="1200" dirty="0"/>
              <a:t> </a:t>
            </a:r>
            <a:r>
              <a:rPr lang="en-US" altLang="ko-KR" sz="1200" dirty="0" err="1"/>
              <a:t>thể</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ta</a:t>
            </a:r>
            <a:r>
              <a:rPr lang="en-US" altLang="ko-KR" sz="1200" dirty="0"/>
              <a:t> so </a:t>
            </a:r>
            <a:r>
              <a:rPr lang="en-US" altLang="ko-KR" sz="1200" dirty="0" err="1"/>
              <a:t>sánh</a:t>
            </a:r>
            <a:r>
              <a:rPr lang="en-US" altLang="ko-KR" sz="1200" dirty="0"/>
              <a:t> </a:t>
            </a:r>
            <a:r>
              <a:rPr lang="en-US" altLang="ko-KR" sz="1200" dirty="0" err="1"/>
              <a:t>lượng</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của</a:t>
            </a:r>
            <a:r>
              <a:rPr lang="en-US" altLang="ko-KR" sz="1200" dirty="0"/>
              <a:t> </a:t>
            </a:r>
            <a:r>
              <a:rPr lang="en-US" altLang="ko-KR" sz="1200" dirty="0" err="1"/>
              <a:t>sản</a:t>
            </a:r>
            <a:r>
              <a:rPr lang="en-US" altLang="ko-KR" sz="1200" dirty="0"/>
              <a:t> </a:t>
            </a:r>
            <a:r>
              <a:rPr lang="en-US" altLang="ko-KR" sz="1200" dirty="0" err="1"/>
              <a:t>phẩm</a:t>
            </a:r>
            <a:r>
              <a:rPr lang="en-US" altLang="ko-KR" sz="1200" dirty="0"/>
              <a:t>. </a:t>
            </a:r>
            <a:r>
              <a:rPr lang="vi-VN" altLang="ko-KR" sz="1200" dirty="0"/>
              <a:t>Vì </a:t>
            </a:r>
            <a:endParaRPr lang="en-US" altLang="ko-KR" sz="1200" dirty="0"/>
          </a:p>
          <a:p>
            <a:r>
              <a:rPr lang="vi-VN" altLang="ko-KR" sz="1200" dirty="0"/>
              <a:t>phương</a:t>
            </a:r>
            <a:r>
              <a:rPr lang="en-US" altLang="ko-KR" sz="1200" dirty="0"/>
              <a:t> </a:t>
            </a:r>
            <a:r>
              <a:rPr lang="vi-VN" altLang="ko-KR" sz="1200" dirty="0"/>
              <a:t>trình tính toán cơ bản là một </a:t>
            </a:r>
            <a:r>
              <a:rPr lang="en-US" altLang="ko-KR" sz="1200" dirty="0" err="1"/>
              <a:t>lượng</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a:t>
            </a:r>
            <a:r>
              <a:rPr lang="en-US" altLang="ko-KR" sz="1200" dirty="0" err="1"/>
              <a:t>biến</a:t>
            </a:r>
            <a:r>
              <a:rPr lang="en-US" altLang="ko-KR" sz="1200" dirty="0"/>
              <a:t> </a:t>
            </a:r>
            <a:r>
              <a:rPr lang="en-US" altLang="ko-KR" sz="1200" dirty="0" err="1"/>
              <a:t>thể</a:t>
            </a:r>
            <a:r>
              <a:rPr lang="en-US" altLang="ko-KR" sz="1200" dirty="0"/>
              <a:t> </a:t>
            </a:r>
            <a:r>
              <a:rPr lang="en-US" altLang="ko-KR" sz="1200" dirty="0" err="1"/>
              <a:t>và</a:t>
            </a:r>
            <a:r>
              <a:rPr lang="en-US" altLang="ko-KR" sz="1200" dirty="0"/>
              <a:t> </a:t>
            </a:r>
            <a:r>
              <a:rPr lang="en-US" altLang="ko-KR" sz="1200" dirty="0" err="1"/>
              <a:t>đơn</a:t>
            </a:r>
            <a:r>
              <a:rPr lang="en-US" altLang="ko-KR" sz="1200" dirty="0"/>
              <a:t> </a:t>
            </a:r>
            <a:r>
              <a:rPr lang="en-US" altLang="ko-KR" sz="1200" dirty="0" err="1"/>
              <a:t>vị</a:t>
            </a:r>
            <a:r>
              <a:rPr lang="en-US" altLang="ko-KR" sz="1200" dirty="0"/>
              <a:t> </a:t>
            </a:r>
            <a:r>
              <a:rPr lang="vi-VN" altLang="ko-KR" sz="1200" dirty="0"/>
              <a:t>bình</a:t>
            </a:r>
            <a:endParaRPr lang="en-US" altLang="ko-KR" sz="1200" dirty="0"/>
          </a:p>
          <a:p>
            <a:r>
              <a:rPr lang="vi-VN" altLang="ko-KR" sz="1200" dirty="0"/>
              <a:t> phương, do đó, khi tính toán,</a:t>
            </a:r>
            <a:r>
              <a:rPr lang="en-US" altLang="ko-KR" sz="1200" dirty="0"/>
              <a:t> </a:t>
            </a:r>
            <a:r>
              <a:rPr lang="en-US" altLang="ko-KR" sz="1200" dirty="0" err="1"/>
              <a:t>sẽ</a:t>
            </a:r>
            <a:r>
              <a:rPr lang="en-US" altLang="ko-KR" sz="1200" dirty="0"/>
              <a:t> </a:t>
            </a:r>
            <a:r>
              <a:rPr lang="en-US" altLang="ko-KR" sz="1200" dirty="0" err="1"/>
              <a:t>xuất</a:t>
            </a:r>
            <a:r>
              <a:rPr lang="en-US" altLang="ko-KR" sz="1200" dirty="0"/>
              <a:t> </a:t>
            </a:r>
            <a:r>
              <a:rPr lang="en-US" altLang="ko-KR" sz="1200" dirty="0" err="1"/>
              <a:t>hiện</a:t>
            </a:r>
            <a:r>
              <a:rPr lang="en-US" altLang="ko-KR" sz="1200" dirty="0"/>
              <a:t> </a:t>
            </a:r>
            <a:r>
              <a:rPr lang="en-US" altLang="ko-KR" sz="1200" dirty="0" err="1"/>
              <a:t>căn</a:t>
            </a:r>
            <a:r>
              <a:rPr lang="en-US" altLang="ko-KR" sz="1200" dirty="0"/>
              <a:t> </a:t>
            </a:r>
            <a:r>
              <a:rPr lang="en-US" altLang="ko-KR" sz="1200" dirty="0" err="1"/>
              <a:t>bặc</a:t>
            </a:r>
            <a:r>
              <a:rPr lang="en-US" altLang="ko-KR" sz="1200" dirty="0"/>
              <a:t> </a:t>
            </a:r>
            <a:r>
              <a:rPr lang="en-US" altLang="ko-KR" sz="1200" dirty="0" err="1"/>
              <a:t>hai</a:t>
            </a:r>
            <a:r>
              <a:rPr lang="en-US" altLang="ko-KR" sz="1200" dirty="0"/>
              <a:t> </a:t>
            </a:r>
            <a:r>
              <a:rPr lang="en-US" altLang="ko-KR" sz="1200" dirty="0" err="1"/>
              <a:t>để</a:t>
            </a:r>
            <a:r>
              <a:rPr lang="en-US" altLang="ko-KR" sz="1200" dirty="0"/>
              <a:t> </a:t>
            </a:r>
            <a:r>
              <a:rPr lang="en-US" altLang="ko-KR" sz="1200" dirty="0" err="1"/>
              <a:t>đảo</a:t>
            </a:r>
            <a:r>
              <a:rPr lang="en-US" altLang="ko-KR" sz="1200" dirty="0"/>
              <a:t> </a:t>
            </a:r>
            <a:r>
              <a:rPr lang="en-US" altLang="ko-KR" sz="1200" dirty="0" err="1"/>
              <a:t>ngược</a:t>
            </a:r>
            <a:r>
              <a:rPr lang="en-US" altLang="ko-KR" sz="1200" dirty="0"/>
              <a:t> </a:t>
            </a:r>
            <a:r>
              <a:rPr lang="en-US" altLang="ko-KR" sz="1200" dirty="0" err="1"/>
              <a:t>bình</a:t>
            </a:r>
            <a:r>
              <a:rPr lang="en-US" altLang="ko-KR" sz="1200" dirty="0"/>
              <a:t> </a:t>
            </a:r>
          </a:p>
          <a:p>
            <a:r>
              <a:rPr lang="en-US" altLang="ko-KR" sz="1200" dirty="0" err="1"/>
              <a:t>phương</a:t>
            </a:r>
            <a:r>
              <a:rPr lang="en-US" altLang="ko-KR" sz="1200" dirty="0"/>
              <a:t>. </a:t>
            </a:r>
            <a:r>
              <a:rPr lang="en-US" altLang="ko-KR" sz="1200" dirty="0" err="1"/>
              <a:t>Vì</a:t>
            </a:r>
            <a:r>
              <a:rPr lang="en-US" altLang="ko-KR" sz="1200" dirty="0"/>
              <a:t> </a:t>
            </a:r>
            <a:r>
              <a:rPr lang="en-US" altLang="ko-KR" sz="1200" dirty="0" err="1"/>
              <a:t>vậy</a:t>
            </a:r>
            <a:r>
              <a:rPr lang="en-US" altLang="ko-KR" sz="1200" dirty="0"/>
              <a:t> </a:t>
            </a:r>
            <a:r>
              <a:rPr lang="en-US" altLang="ko-KR" sz="1200" dirty="0" err="1"/>
              <a:t>biến</a:t>
            </a:r>
            <a:r>
              <a:rPr lang="en-US" altLang="ko-KR" sz="1200" dirty="0"/>
              <a:t> </a:t>
            </a:r>
            <a:r>
              <a:rPr lang="en-US" altLang="ko-KR" sz="1200" dirty="0" err="1"/>
              <a:t>động</a:t>
            </a:r>
            <a:r>
              <a:rPr lang="en-US" altLang="ko-KR" sz="1200" dirty="0"/>
              <a:t> </a:t>
            </a:r>
            <a:r>
              <a:rPr lang="en-US" altLang="ko-KR" sz="1200" dirty="0" err="1"/>
              <a:t>của</a:t>
            </a:r>
            <a:r>
              <a:rPr lang="en-US" altLang="ko-KR" sz="1200" dirty="0"/>
              <a:t> </a:t>
            </a:r>
            <a:r>
              <a:rPr lang="en-US" altLang="ko-KR" sz="1200" dirty="0" err="1"/>
              <a:t>sản</a:t>
            </a:r>
            <a:r>
              <a:rPr lang="en-US" altLang="ko-KR" sz="1200" dirty="0"/>
              <a:t> </a:t>
            </a:r>
            <a:r>
              <a:rPr lang="en-US" altLang="ko-KR" sz="1200" dirty="0" err="1"/>
              <a:t>phẩm</a:t>
            </a:r>
            <a:r>
              <a:rPr lang="ko-KR" altLang="en-US" sz="1200" dirty="0"/>
              <a:t> </a:t>
            </a:r>
            <a:r>
              <a:rPr lang="en-US" altLang="ko-KR" sz="1200" dirty="0"/>
              <a:t>(</a:t>
            </a:r>
            <a:r>
              <a:rPr lang="en-US" altLang="ko-KR" sz="1200" dirty="0" err="1"/>
              <a:t>độ</a:t>
            </a:r>
            <a:r>
              <a:rPr lang="en-US" altLang="ko-KR" sz="1200" dirty="0"/>
              <a:t> </a:t>
            </a:r>
            <a:r>
              <a:rPr lang="en-US" altLang="ko-KR" sz="1200" dirty="0" err="1"/>
              <a:t>lệch</a:t>
            </a:r>
            <a:r>
              <a:rPr lang="en-US" altLang="ko-KR" sz="1200" dirty="0"/>
              <a:t> </a:t>
            </a:r>
            <a:r>
              <a:rPr lang="en-US" altLang="ko-KR" sz="1200" dirty="0" err="1"/>
              <a:t>tiêu</a:t>
            </a:r>
            <a:r>
              <a:rPr lang="en-US" altLang="ko-KR" sz="1200" dirty="0"/>
              <a:t> </a:t>
            </a:r>
            <a:r>
              <a:rPr lang="en-US" altLang="ko-KR" sz="1200" dirty="0" err="1"/>
              <a:t>chuẩn</a:t>
            </a:r>
            <a:r>
              <a:rPr lang="en-US" altLang="ko-KR" sz="1200" dirty="0"/>
              <a:t>)/</a:t>
            </a:r>
            <a:r>
              <a:rPr lang="en-US" altLang="ko-KR" sz="1200" dirty="0" err="1"/>
              <a:t>biến</a:t>
            </a:r>
            <a:r>
              <a:rPr lang="en-US" altLang="ko-KR" sz="1200" dirty="0"/>
              <a:t> </a:t>
            </a:r>
            <a:r>
              <a:rPr lang="en-US" altLang="ko-KR" sz="1200" dirty="0" err="1"/>
              <a:t>động</a:t>
            </a:r>
            <a:r>
              <a:rPr lang="en-US" altLang="ko-KR" sz="1200" dirty="0"/>
              <a:t> gage</a:t>
            </a:r>
          </a:p>
          <a:p>
            <a:r>
              <a:rPr lang="en-US" altLang="ko-KR" sz="1200" dirty="0"/>
              <a:t>(</a:t>
            </a:r>
            <a:r>
              <a:rPr lang="en-US" altLang="ko-KR" sz="1200" dirty="0" err="1"/>
              <a:t>độ</a:t>
            </a:r>
            <a:r>
              <a:rPr lang="en-US" altLang="ko-KR" sz="1200" dirty="0"/>
              <a:t> </a:t>
            </a:r>
            <a:r>
              <a:rPr lang="en-US" altLang="ko-KR" sz="1200" dirty="0" err="1"/>
              <a:t>lệch</a:t>
            </a:r>
            <a:r>
              <a:rPr lang="en-US" altLang="ko-KR" sz="1200" dirty="0"/>
              <a:t> </a:t>
            </a:r>
            <a:r>
              <a:rPr lang="en-US" altLang="ko-KR" sz="1200" dirty="0" err="1"/>
              <a:t>tiêu</a:t>
            </a:r>
            <a:r>
              <a:rPr lang="en-US" altLang="ko-KR" sz="1200" dirty="0"/>
              <a:t> </a:t>
            </a:r>
            <a:r>
              <a:rPr lang="en-US" altLang="ko-KR" sz="1200" dirty="0" err="1"/>
              <a:t>chuẩn</a:t>
            </a:r>
            <a:r>
              <a:rPr lang="en-US" altLang="ko-KR" sz="1200" dirty="0"/>
              <a:t>) x 1.414 </a:t>
            </a:r>
            <a:r>
              <a:rPr lang="en-US" altLang="ko-KR" sz="1200" dirty="0" err="1"/>
              <a:t>tìm</a:t>
            </a:r>
            <a:r>
              <a:rPr lang="en-US" altLang="ko-KR" sz="1200" dirty="0"/>
              <a:t> </a:t>
            </a:r>
            <a:r>
              <a:rPr lang="en-US" altLang="ko-KR" sz="1200" dirty="0" err="1"/>
              <a:t>được</a:t>
            </a:r>
            <a:r>
              <a:rPr lang="en-US" altLang="ko-KR" sz="1200" dirty="0"/>
              <a:t>, </a:t>
            </a:r>
            <a:r>
              <a:rPr lang="en-US" altLang="ko-KR" sz="1200" dirty="0" err="1"/>
              <a:t>gọi</a:t>
            </a:r>
            <a:r>
              <a:rPr lang="en-US" altLang="ko-KR" sz="1200" dirty="0"/>
              <a:t> </a:t>
            </a:r>
            <a:r>
              <a:rPr lang="en-US" altLang="ko-KR" sz="1200" dirty="0" err="1"/>
              <a:t>là</a:t>
            </a:r>
            <a:r>
              <a:rPr lang="en-US" altLang="ko-KR" sz="1200" dirty="0"/>
              <a:t> </a:t>
            </a:r>
            <a:r>
              <a:rPr lang="en-US" altLang="ko-KR" sz="1200" dirty="0" err="1"/>
              <a:t>độ</a:t>
            </a:r>
            <a:r>
              <a:rPr lang="en-US" altLang="ko-KR" sz="1200" dirty="0"/>
              <a:t> </a:t>
            </a:r>
            <a:r>
              <a:rPr lang="en-US" altLang="ko-KR" sz="1200" dirty="0" err="1"/>
              <a:t>phân</a:t>
            </a:r>
            <a:r>
              <a:rPr lang="en-US" altLang="ko-KR" sz="1200" dirty="0"/>
              <a:t> </a:t>
            </a:r>
            <a:r>
              <a:rPr lang="en-US" altLang="ko-KR" sz="1200" dirty="0" err="1"/>
              <a:t>giải</a:t>
            </a:r>
            <a:r>
              <a:rPr lang="en-US" altLang="ko-KR" sz="1200" dirty="0"/>
              <a:t> </a:t>
            </a:r>
            <a:r>
              <a:rPr lang="en-US" altLang="ko-KR" sz="1200" dirty="0" err="1"/>
              <a:t>của</a:t>
            </a:r>
            <a:r>
              <a:rPr lang="en-US" altLang="ko-KR" sz="1200" dirty="0"/>
              <a:t> </a:t>
            </a:r>
            <a:r>
              <a:rPr lang="en-US" altLang="ko-KR" sz="1200" dirty="0" err="1"/>
              <a:t>dụng</a:t>
            </a:r>
            <a:r>
              <a:rPr lang="en-US" altLang="ko-KR" sz="1200" dirty="0"/>
              <a:t> </a:t>
            </a:r>
            <a:r>
              <a:rPr lang="en-US" altLang="ko-KR" sz="1200" dirty="0" err="1"/>
              <a:t>cụ</a:t>
            </a:r>
            <a:r>
              <a:rPr lang="en-US" altLang="ko-KR" sz="1200" dirty="0"/>
              <a:t> </a:t>
            </a:r>
            <a:r>
              <a:rPr lang="en-US" altLang="ko-KR" sz="1200" dirty="0" err="1"/>
              <a:t>đo</a:t>
            </a:r>
            <a:endParaRPr lang="ko-KR" altLang="en-US" sz="1200" dirty="0"/>
          </a:p>
        </p:txBody>
      </p:sp>
      <p:sp>
        <p:nvSpPr>
          <p:cNvPr id="20" name="TextBox 19"/>
          <p:cNvSpPr txBox="1"/>
          <p:nvPr/>
        </p:nvSpPr>
        <p:spPr>
          <a:xfrm>
            <a:off x="179512" y="148570"/>
            <a:ext cx="3968843"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21" name="직사각형 20"/>
          <p:cNvSpPr/>
          <p:nvPr/>
        </p:nvSpPr>
        <p:spPr>
          <a:xfrm>
            <a:off x="6300192"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237679095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92</a:t>
            </a:fld>
            <a:endParaRPr lang="ko-KR" altLang="en-US" dirty="0"/>
          </a:p>
        </p:txBody>
      </p:sp>
      <p:sp>
        <p:nvSpPr>
          <p:cNvPr id="4" name="TextBox 3"/>
          <p:cNvSpPr txBox="1"/>
          <p:nvPr/>
        </p:nvSpPr>
        <p:spPr>
          <a:xfrm>
            <a:off x="611560" y="908720"/>
            <a:ext cx="5503430" cy="369332"/>
          </a:xfrm>
          <a:prstGeom prst="rect">
            <a:avLst/>
          </a:prstGeom>
          <a:noFill/>
        </p:spPr>
        <p:txBody>
          <a:bodyPr wrap="none" rtlCol="0">
            <a:spAutoFit/>
          </a:bodyPr>
          <a:lstStyle/>
          <a:p>
            <a:r>
              <a:rPr lang="en-US" altLang="ko-KR" dirty="0"/>
              <a:t>2.  If </a:t>
            </a:r>
            <a:r>
              <a:rPr lang="en-US" dirty="0"/>
              <a:t>Gage R&amp;R is bad. What impact will it have?</a:t>
            </a:r>
            <a:endParaRPr lang="ko-KR" altLang="en-US" dirty="0"/>
          </a:p>
        </p:txBody>
      </p:sp>
      <p:cxnSp>
        <p:nvCxnSpPr>
          <p:cNvPr id="5" name="직선 연결선 4"/>
          <p:cNvCxnSpPr/>
          <p:nvPr/>
        </p:nvCxnSpPr>
        <p:spPr>
          <a:xfrm>
            <a:off x="1765429" y="2339588"/>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3709645" y="2339588"/>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1333381" y="4139788"/>
            <a:ext cx="2808312"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자유형 10"/>
          <p:cNvSpPr/>
          <p:nvPr/>
        </p:nvSpPr>
        <p:spPr>
          <a:xfrm>
            <a:off x="1068271" y="2520724"/>
            <a:ext cx="3452326" cy="1632857"/>
          </a:xfrm>
          <a:custGeom>
            <a:avLst/>
            <a:gdLst>
              <a:gd name="connsiteX0" fmla="*/ 0 w 3452326"/>
              <a:gd name="connsiteY0" fmla="*/ 1623526 h 1632857"/>
              <a:gd name="connsiteX1" fmla="*/ 419877 w 3452326"/>
              <a:gd name="connsiteY1" fmla="*/ 1623526 h 1632857"/>
              <a:gd name="connsiteX2" fmla="*/ 961053 w 3452326"/>
              <a:gd name="connsiteY2" fmla="*/ 0 h 1632857"/>
              <a:gd name="connsiteX3" fmla="*/ 2360645 w 3452326"/>
              <a:gd name="connsiteY3" fmla="*/ 0 h 1632857"/>
              <a:gd name="connsiteX4" fmla="*/ 2976465 w 3452326"/>
              <a:gd name="connsiteY4" fmla="*/ 1632857 h 1632857"/>
              <a:gd name="connsiteX5" fmla="*/ 3452326 w 3452326"/>
              <a:gd name="connsiteY5" fmla="*/ 1623526 h 1632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2326" h="1632857">
                <a:moveTo>
                  <a:pt x="0" y="1623526"/>
                </a:moveTo>
                <a:lnTo>
                  <a:pt x="419877" y="1623526"/>
                </a:lnTo>
                <a:lnTo>
                  <a:pt x="961053" y="0"/>
                </a:lnTo>
                <a:lnTo>
                  <a:pt x="2360645" y="0"/>
                </a:lnTo>
                <a:lnTo>
                  <a:pt x="2976465" y="1632857"/>
                </a:lnTo>
                <a:lnTo>
                  <a:pt x="3452326" y="1623526"/>
                </a:ln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p:cNvSpPr txBox="1"/>
          <p:nvPr/>
        </p:nvSpPr>
        <p:spPr>
          <a:xfrm>
            <a:off x="1514721" y="4283804"/>
            <a:ext cx="455574" cy="307777"/>
          </a:xfrm>
          <a:prstGeom prst="rect">
            <a:avLst/>
          </a:prstGeom>
          <a:noFill/>
        </p:spPr>
        <p:txBody>
          <a:bodyPr wrap="none" rtlCol="0">
            <a:spAutoFit/>
          </a:bodyPr>
          <a:lstStyle/>
          <a:p>
            <a:r>
              <a:rPr lang="en-US" altLang="ko-KR" sz="1400" dirty="0"/>
              <a:t>LSL</a:t>
            </a:r>
            <a:endParaRPr lang="ko-KR" altLang="en-US" sz="1400" dirty="0"/>
          </a:p>
        </p:txBody>
      </p:sp>
      <p:sp>
        <p:nvSpPr>
          <p:cNvPr id="13" name="TextBox 12"/>
          <p:cNvSpPr txBox="1"/>
          <p:nvPr/>
        </p:nvSpPr>
        <p:spPr>
          <a:xfrm>
            <a:off x="3493621" y="4283804"/>
            <a:ext cx="495649" cy="307777"/>
          </a:xfrm>
          <a:prstGeom prst="rect">
            <a:avLst/>
          </a:prstGeom>
          <a:noFill/>
        </p:spPr>
        <p:txBody>
          <a:bodyPr wrap="none" rtlCol="0">
            <a:spAutoFit/>
          </a:bodyPr>
          <a:lstStyle/>
          <a:p>
            <a:r>
              <a:rPr lang="en-US" altLang="ko-KR" sz="1400" dirty="0"/>
              <a:t>USL</a:t>
            </a:r>
            <a:endParaRPr lang="ko-KR" altLang="en-US" sz="1400" dirty="0"/>
          </a:p>
        </p:txBody>
      </p:sp>
      <p:sp>
        <p:nvSpPr>
          <p:cNvPr id="14" name="TextBox 13"/>
          <p:cNvSpPr txBox="1"/>
          <p:nvPr/>
        </p:nvSpPr>
        <p:spPr>
          <a:xfrm>
            <a:off x="2411760" y="3574757"/>
            <a:ext cx="657552" cy="276999"/>
          </a:xfrm>
          <a:prstGeom prst="rect">
            <a:avLst/>
          </a:prstGeom>
          <a:noFill/>
        </p:spPr>
        <p:txBody>
          <a:bodyPr wrap="none" rtlCol="0">
            <a:spAutoFit/>
          </a:bodyPr>
          <a:lstStyle/>
          <a:p>
            <a:r>
              <a:rPr lang="en-US" altLang="ko-KR" sz="1200" dirty="0"/>
              <a:t>Accept</a:t>
            </a:r>
            <a:endParaRPr lang="ko-KR" altLang="en-US" sz="1200" dirty="0"/>
          </a:p>
        </p:txBody>
      </p:sp>
      <p:sp>
        <p:nvSpPr>
          <p:cNvPr id="15" name="TextBox 14"/>
          <p:cNvSpPr txBox="1"/>
          <p:nvPr/>
        </p:nvSpPr>
        <p:spPr>
          <a:xfrm>
            <a:off x="4211960" y="3574757"/>
            <a:ext cx="631904" cy="276999"/>
          </a:xfrm>
          <a:prstGeom prst="rect">
            <a:avLst/>
          </a:prstGeom>
          <a:noFill/>
        </p:spPr>
        <p:txBody>
          <a:bodyPr wrap="none" rtlCol="0">
            <a:spAutoFit/>
          </a:bodyPr>
          <a:lstStyle/>
          <a:p>
            <a:r>
              <a:rPr lang="en-US" altLang="ko-KR" sz="1200" dirty="0"/>
              <a:t>Defect</a:t>
            </a:r>
            <a:endParaRPr lang="ko-KR" altLang="en-US" sz="1200" dirty="0"/>
          </a:p>
        </p:txBody>
      </p:sp>
      <p:sp>
        <p:nvSpPr>
          <p:cNvPr id="16" name="TextBox 15"/>
          <p:cNvSpPr txBox="1"/>
          <p:nvPr/>
        </p:nvSpPr>
        <p:spPr>
          <a:xfrm>
            <a:off x="983213" y="3574757"/>
            <a:ext cx="631904" cy="276999"/>
          </a:xfrm>
          <a:prstGeom prst="rect">
            <a:avLst/>
          </a:prstGeom>
          <a:noFill/>
        </p:spPr>
        <p:txBody>
          <a:bodyPr wrap="none" rtlCol="0">
            <a:spAutoFit/>
          </a:bodyPr>
          <a:lstStyle/>
          <a:p>
            <a:r>
              <a:rPr lang="en-US" altLang="ko-KR" sz="1200" dirty="0"/>
              <a:t>Defect</a:t>
            </a:r>
            <a:endParaRPr lang="ko-KR" altLang="en-US" sz="1200" dirty="0"/>
          </a:p>
        </p:txBody>
      </p:sp>
      <p:cxnSp>
        <p:nvCxnSpPr>
          <p:cNvPr id="18" name="직선 연결선 17"/>
          <p:cNvCxnSpPr/>
          <p:nvPr/>
        </p:nvCxnSpPr>
        <p:spPr>
          <a:xfrm>
            <a:off x="1615951" y="2527619"/>
            <a:ext cx="2376264"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1500166" y="1835532"/>
            <a:ext cx="2317045" cy="307777"/>
          </a:xfrm>
          <a:prstGeom prst="rect">
            <a:avLst/>
          </a:prstGeom>
          <a:noFill/>
        </p:spPr>
        <p:txBody>
          <a:bodyPr wrap="none" rtlCol="0">
            <a:spAutoFit/>
          </a:bodyPr>
          <a:lstStyle/>
          <a:p>
            <a:r>
              <a:rPr lang="en-US" altLang="ko-KR" sz="1400" u="sng" dirty="0"/>
              <a:t>Gauge performance curve</a:t>
            </a:r>
            <a:endParaRPr lang="ko-KR" altLang="en-US" sz="1400" u="sng" dirty="0"/>
          </a:p>
        </p:txBody>
      </p:sp>
      <p:grpSp>
        <p:nvGrpSpPr>
          <p:cNvPr id="3" name="그룹 2"/>
          <p:cNvGrpSpPr/>
          <p:nvPr/>
        </p:nvGrpSpPr>
        <p:grpSpPr>
          <a:xfrm>
            <a:off x="3452329" y="2276872"/>
            <a:ext cx="1191679" cy="1867378"/>
            <a:chOff x="3452329" y="2276872"/>
            <a:chExt cx="1191679" cy="1867378"/>
          </a:xfrm>
        </p:grpSpPr>
        <p:sp>
          <p:nvSpPr>
            <p:cNvPr id="20" name="자유형 19"/>
            <p:cNvSpPr/>
            <p:nvPr/>
          </p:nvSpPr>
          <p:spPr>
            <a:xfrm>
              <a:off x="3452329" y="2520723"/>
              <a:ext cx="261256" cy="709127"/>
            </a:xfrm>
            <a:custGeom>
              <a:avLst/>
              <a:gdLst>
                <a:gd name="connsiteX0" fmla="*/ 0 w 298579"/>
                <a:gd name="connsiteY0" fmla="*/ 0 h 709127"/>
                <a:gd name="connsiteX1" fmla="*/ 298579 w 298579"/>
                <a:gd name="connsiteY1" fmla="*/ 0 h 709127"/>
                <a:gd name="connsiteX2" fmla="*/ 289249 w 298579"/>
                <a:gd name="connsiteY2" fmla="*/ 709127 h 709127"/>
                <a:gd name="connsiteX3" fmla="*/ 0 w 298579"/>
                <a:gd name="connsiteY3" fmla="*/ 0 h 709127"/>
              </a:gdLst>
              <a:ahLst/>
              <a:cxnLst>
                <a:cxn ang="0">
                  <a:pos x="connsiteX0" y="connsiteY0"/>
                </a:cxn>
                <a:cxn ang="0">
                  <a:pos x="connsiteX1" y="connsiteY1"/>
                </a:cxn>
                <a:cxn ang="0">
                  <a:pos x="connsiteX2" y="connsiteY2"/>
                </a:cxn>
                <a:cxn ang="0">
                  <a:pos x="connsiteX3" y="connsiteY3"/>
                </a:cxn>
              </a:cxnLst>
              <a:rect l="l" t="t" r="r" b="b"/>
              <a:pathLst>
                <a:path w="298579" h="709127">
                  <a:moveTo>
                    <a:pt x="0" y="0"/>
                  </a:moveTo>
                  <a:lnTo>
                    <a:pt x="298579" y="0"/>
                  </a:lnTo>
                  <a:lnTo>
                    <a:pt x="289249" y="709127"/>
                  </a:lnTo>
                  <a:lnTo>
                    <a:pt x="0" y="0"/>
                  </a:lnTo>
                  <a:close/>
                </a:path>
              </a:pathLst>
            </a:cu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자유형 20"/>
            <p:cNvSpPr/>
            <p:nvPr/>
          </p:nvSpPr>
          <p:spPr>
            <a:xfrm>
              <a:off x="3722914" y="3304495"/>
              <a:ext cx="326572" cy="839755"/>
            </a:xfrm>
            <a:custGeom>
              <a:avLst/>
              <a:gdLst>
                <a:gd name="connsiteX0" fmla="*/ 0 w 326572"/>
                <a:gd name="connsiteY0" fmla="*/ 0 h 839755"/>
                <a:gd name="connsiteX1" fmla="*/ 0 w 326572"/>
                <a:gd name="connsiteY1" fmla="*/ 839755 h 839755"/>
                <a:gd name="connsiteX2" fmla="*/ 326572 w 326572"/>
                <a:gd name="connsiteY2" fmla="*/ 839755 h 839755"/>
                <a:gd name="connsiteX3" fmla="*/ 0 w 326572"/>
                <a:gd name="connsiteY3" fmla="*/ 0 h 839755"/>
              </a:gdLst>
              <a:ahLst/>
              <a:cxnLst>
                <a:cxn ang="0">
                  <a:pos x="connsiteX0" y="connsiteY0"/>
                </a:cxn>
                <a:cxn ang="0">
                  <a:pos x="connsiteX1" y="connsiteY1"/>
                </a:cxn>
                <a:cxn ang="0">
                  <a:pos x="connsiteX2" y="connsiteY2"/>
                </a:cxn>
                <a:cxn ang="0">
                  <a:pos x="connsiteX3" y="connsiteY3"/>
                </a:cxn>
              </a:cxnLst>
              <a:rect l="l" t="t" r="r" b="b"/>
              <a:pathLst>
                <a:path w="326572" h="839755">
                  <a:moveTo>
                    <a:pt x="0" y="0"/>
                  </a:moveTo>
                  <a:lnTo>
                    <a:pt x="0" y="839755"/>
                  </a:lnTo>
                  <a:lnTo>
                    <a:pt x="326572" y="839755"/>
                  </a:lnTo>
                  <a:lnTo>
                    <a:pt x="0" y="0"/>
                  </a:lnTo>
                  <a:close/>
                </a:path>
              </a:pathLst>
            </a:cu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직선 화살표 연결선 22"/>
            <p:cNvCxnSpPr/>
            <p:nvPr/>
          </p:nvCxnSpPr>
          <p:spPr>
            <a:xfrm flipV="1">
              <a:off x="3635896" y="2276872"/>
              <a:ext cx="1008112" cy="43204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p:nvPr/>
          </p:nvCxnSpPr>
          <p:spPr>
            <a:xfrm flipV="1">
              <a:off x="3851920" y="3212976"/>
              <a:ext cx="792088" cy="648072"/>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grpSp>
      <p:grpSp>
        <p:nvGrpSpPr>
          <p:cNvPr id="6" name="그룹 5"/>
          <p:cNvGrpSpPr/>
          <p:nvPr/>
        </p:nvGrpSpPr>
        <p:grpSpPr>
          <a:xfrm>
            <a:off x="4788024" y="2071679"/>
            <a:ext cx="3570190" cy="2020405"/>
            <a:chOff x="4788024" y="2071678"/>
            <a:chExt cx="3570190" cy="1731775"/>
          </a:xfrm>
        </p:grpSpPr>
        <p:sp>
          <p:nvSpPr>
            <p:cNvPr id="26" name="TextBox 25"/>
            <p:cNvSpPr txBox="1"/>
            <p:nvPr/>
          </p:nvSpPr>
          <p:spPr>
            <a:xfrm>
              <a:off x="4788025" y="2071678"/>
              <a:ext cx="3355876" cy="523220"/>
            </a:xfrm>
            <a:prstGeom prst="rect">
              <a:avLst/>
            </a:prstGeom>
            <a:noFill/>
          </p:spPr>
          <p:txBody>
            <a:bodyPr wrap="square" rtlCol="0">
              <a:spAutoFit/>
            </a:bodyPr>
            <a:lstStyle/>
            <a:p>
              <a:pPr marL="285750" indent="-285750">
                <a:buFont typeface="Wingdings" panose="05000000000000000000" pitchFamily="2" charset="2"/>
                <a:buChar char="§"/>
              </a:pPr>
              <a:r>
                <a:rPr lang="en-US" altLang="ko-KR" sz="1400" dirty="0"/>
                <a:t>An area where a good product is judged to be defective</a:t>
              </a:r>
              <a:endParaRPr lang="ko-KR" altLang="en-US" sz="1400" dirty="0"/>
            </a:p>
          </p:txBody>
        </p:sp>
        <p:sp>
          <p:nvSpPr>
            <p:cNvPr id="27" name="TextBox 26"/>
            <p:cNvSpPr txBox="1"/>
            <p:nvPr/>
          </p:nvSpPr>
          <p:spPr>
            <a:xfrm>
              <a:off x="4788024" y="3068960"/>
              <a:ext cx="3570190" cy="523220"/>
            </a:xfrm>
            <a:prstGeom prst="rect">
              <a:avLst/>
            </a:prstGeom>
            <a:noFill/>
          </p:spPr>
          <p:txBody>
            <a:bodyPr wrap="square" rtlCol="0">
              <a:spAutoFit/>
            </a:bodyPr>
            <a:lstStyle/>
            <a:p>
              <a:pPr marL="285750" indent="-285750">
                <a:buFont typeface="Wingdings" panose="05000000000000000000" pitchFamily="2" charset="2"/>
                <a:buChar char="§"/>
              </a:pPr>
              <a:r>
                <a:rPr lang="en-US" altLang="ko-KR" sz="1400" dirty="0"/>
                <a:t>An area where the defect is judged as  good product</a:t>
              </a:r>
              <a:endParaRPr lang="ko-KR" altLang="en-US" sz="1400" dirty="0"/>
            </a:p>
          </p:txBody>
        </p:sp>
        <p:sp>
          <p:nvSpPr>
            <p:cNvPr id="28" name="TextBox 27"/>
            <p:cNvSpPr txBox="1"/>
            <p:nvPr/>
          </p:nvSpPr>
          <p:spPr>
            <a:xfrm>
              <a:off x="5508104" y="3539644"/>
              <a:ext cx="2627835" cy="263809"/>
            </a:xfrm>
            <a:prstGeom prst="rect">
              <a:avLst/>
            </a:prstGeom>
            <a:noFill/>
          </p:spPr>
          <p:txBody>
            <a:bodyPr wrap="none" rtlCol="0">
              <a:spAutoFit/>
            </a:bodyPr>
            <a:lstStyle/>
            <a:p>
              <a:r>
                <a:rPr lang="en-US" altLang="ko-KR" sz="1400" dirty="0"/>
                <a:t>Type 2 error</a:t>
              </a:r>
              <a:r>
                <a:rPr lang="ko-KR" altLang="en-US" sz="1400" dirty="0"/>
                <a:t> </a:t>
              </a:r>
              <a:r>
                <a:rPr lang="en-US" altLang="ko-KR" sz="1400" dirty="0"/>
                <a:t>: Consumer error</a:t>
              </a:r>
              <a:endParaRPr lang="ko-KR" altLang="en-US" sz="1400" dirty="0"/>
            </a:p>
          </p:txBody>
        </p:sp>
        <p:sp>
          <p:nvSpPr>
            <p:cNvPr id="29" name="TextBox 28"/>
            <p:cNvSpPr txBox="1"/>
            <p:nvPr/>
          </p:nvSpPr>
          <p:spPr>
            <a:xfrm>
              <a:off x="5508104" y="2549719"/>
              <a:ext cx="2591607" cy="307777"/>
            </a:xfrm>
            <a:prstGeom prst="rect">
              <a:avLst/>
            </a:prstGeom>
            <a:noFill/>
          </p:spPr>
          <p:txBody>
            <a:bodyPr wrap="none" rtlCol="0">
              <a:spAutoFit/>
            </a:bodyPr>
            <a:lstStyle/>
            <a:p>
              <a:r>
                <a:rPr lang="en-US" altLang="ko-KR" sz="1400" dirty="0"/>
                <a:t>Type 1 error :  Producer error</a:t>
              </a:r>
              <a:endParaRPr lang="ko-KR" altLang="en-US" sz="1400" dirty="0"/>
            </a:p>
          </p:txBody>
        </p:sp>
      </p:grpSp>
      <p:sp>
        <p:nvSpPr>
          <p:cNvPr id="30" name="TextBox 29"/>
          <p:cNvSpPr txBox="1"/>
          <p:nvPr/>
        </p:nvSpPr>
        <p:spPr>
          <a:xfrm>
            <a:off x="4860032" y="4149080"/>
            <a:ext cx="2547813" cy="369332"/>
          </a:xfrm>
          <a:prstGeom prst="rect">
            <a:avLst/>
          </a:prstGeom>
          <a:noFill/>
        </p:spPr>
        <p:txBody>
          <a:bodyPr wrap="none" rtlCol="0">
            <a:spAutoFit/>
          </a:bodyPr>
          <a:lstStyle/>
          <a:p>
            <a:r>
              <a:rPr lang="en-US" altLang="ko-KR" dirty="0"/>
              <a:t>Principle of 1: 10 : 100</a:t>
            </a:r>
            <a:endParaRPr lang="ko-KR" altLang="en-US" dirty="0"/>
          </a:p>
        </p:txBody>
      </p:sp>
      <p:sp>
        <p:nvSpPr>
          <p:cNvPr id="31" name="TextBox 30"/>
          <p:cNvSpPr txBox="1"/>
          <p:nvPr/>
        </p:nvSpPr>
        <p:spPr>
          <a:xfrm>
            <a:off x="4860032" y="4581128"/>
            <a:ext cx="4141124" cy="523220"/>
          </a:xfrm>
          <a:prstGeom prst="rect">
            <a:avLst/>
          </a:prstGeom>
          <a:noFill/>
        </p:spPr>
        <p:txBody>
          <a:bodyPr wrap="square" rtlCol="0">
            <a:spAutoFit/>
          </a:bodyPr>
          <a:lstStyle/>
          <a:p>
            <a:r>
              <a:rPr lang="en-US" altLang="ko-KR" sz="1400" dirty="0"/>
              <a:t>The cost of the market is 10 times compare to the cost of production.</a:t>
            </a:r>
            <a:endParaRPr lang="ko-KR" altLang="en-US" sz="1400" dirty="0"/>
          </a:p>
        </p:txBody>
      </p:sp>
      <p:sp>
        <p:nvSpPr>
          <p:cNvPr id="32" name="TextBox 31"/>
          <p:cNvSpPr txBox="1"/>
          <p:nvPr/>
        </p:nvSpPr>
        <p:spPr>
          <a:xfrm>
            <a:off x="683568" y="5355213"/>
            <a:ext cx="8103274" cy="1384995"/>
          </a:xfrm>
          <a:prstGeom prst="rect">
            <a:avLst/>
          </a:prstGeom>
          <a:noFill/>
        </p:spPr>
        <p:txBody>
          <a:bodyPr wrap="square" rtlCol="0">
            <a:spAutoFit/>
          </a:bodyPr>
          <a:lstStyle/>
          <a:p>
            <a:r>
              <a:rPr lang="en-US" sz="1400" dirty="0"/>
              <a:t>The Gage R &amp; R value can not be zero. If the Gage R&amp;R value of the gauge is not 0, the gauge performance curve will not perfectly match the UCL, LCL, and will gradually sideways as the </a:t>
            </a:r>
          </a:p>
          <a:p>
            <a:r>
              <a:rPr lang="en-US" sz="1400" dirty="0"/>
              <a:t>value of the gauge R &amp; R deteriorates.</a:t>
            </a:r>
            <a:br>
              <a:rPr lang="en-US" sz="1400" dirty="0"/>
            </a:br>
            <a:r>
              <a:rPr lang="en-US" sz="1400" dirty="0"/>
              <a:t>Therefore, as the Gage R&amp;R value becomes worse, the first type error and the second type error appear together. If it exceeds 10%, the producer error begins to deteriorate. If it exceeds 30%,</a:t>
            </a:r>
          </a:p>
          <a:p>
            <a:r>
              <a:rPr lang="en-US" sz="1400" dirty="0"/>
              <a:t>the producer error and the consumer error are rapidly deteriorated.</a:t>
            </a:r>
            <a:endParaRPr lang="ko-KR" altLang="en-US" sz="1400" dirty="0"/>
          </a:p>
        </p:txBody>
      </p:sp>
      <p:sp>
        <p:nvSpPr>
          <p:cNvPr id="34" name="TextBox 33"/>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35" name="직사각형 34"/>
          <p:cNvSpPr/>
          <p:nvPr/>
        </p:nvSpPr>
        <p:spPr>
          <a:xfrm>
            <a:off x="5857884"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183801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93</a:t>
            </a:fld>
            <a:endParaRPr lang="ko-KR" altLang="en-US" dirty="0"/>
          </a:p>
        </p:txBody>
      </p:sp>
      <p:sp>
        <p:nvSpPr>
          <p:cNvPr id="4" name="TextBox 3"/>
          <p:cNvSpPr txBox="1"/>
          <p:nvPr/>
        </p:nvSpPr>
        <p:spPr>
          <a:xfrm>
            <a:off x="611560" y="838453"/>
            <a:ext cx="7389464" cy="661721"/>
          </a:xfrm>
          <a:prstGeom prst="rect">
            <a:avLst/>
          </a:prstGeom>
          <a:noFill/>
        </p:spPr>
        <p:txBody>
          <a:bodyPr wrap="square" rtlCol="0">
            <a:spAutoFit/>
          </a:bodyPr>
          <a:lstStyle/>
          <a:p>
            <a:pPr marL="342900" indent="-342900">
              <a:buAutoNum type="arabicPeriod" startAt="3"/>
            </a:pPr>
            <a:r>
              <a:rPr lang="en-US" dirty="0"/>
              <a:t>Gage R &amp; R results were 20%. It is called conditional acceptance. Which condition is Accept?</a:t>
            </a:r>
            <a:endParaRPr lang="ko-KR" altLang="en-US" dirty="0"/>
          </a:p>
        </p:txBody>
      </p:sp>
      <p:cxnSp>
        <p:nvCxnSpPr>
          <p:cNvPr id="5" name="직선 연결선 4"/>
          <p:cNvCxnSpPr/>
          <p:nvPr/>
        </p:nvCxnSpPr>
        <p:spPr>
          <a:xfrm>
            <a:off x="1609800" y="4417367"/>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3554016" y="4417367"/>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1177752" y="6217567"/>
            <a:ext cx="2808312"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자유형 7"/>
          <p:cNvSpPr/>
          <p:nvPr/>
        </p:nvSpPr>
        <p:spPr>
          <a:xfrm>
            <a:off x="912642" y="4598503"/>
            <a:ext cx="3452326" cy="1632857"/>
          </a:xfrm>
          <a:custGeom>
            <a:avLst/>
            <a:gdLst>
              <a:gd name="connsiteX0" fmla="*/ 0 w 3452326"/>
              <a:gd name="connsiteY0" fmla="*/ 1623526 h 1632857"/>
              <a:gd name="connsiteX1" fmla="*/ 419877 w 3452326"/>
              <a:gd name="connsiteY1" fmla="*/ 1623526 h 1632857"/>
              <a:gd name="connsiteX2" fmla="*/ 961053 w 3452326"/>
              <a:gd name="connsiteY2" fmla="*/ 0 h 1632857"/>
              <a:gd name="connsiteX3" fmla="*/ 2360645 w 3452326"/>
              <a:gd name="connsiteY3" fmla="*/ 0 h 1632857"/>
              <a:gd name="connsiteX4" fmla="*/ 2976465 w 3452326"/>
              <a:gd name="connsiteY4" fmla="*/ 1632857 h 1632857"/>
              <a:gd name="connsiteX5" fmla="*/ 3452326 w 3452326"/>
              <a:gd name="connsiteY5" fmla="*/ 1623526 h 1632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2326" h="1632857">
                <a:moveTo>
                  <a:pt x="0" y="1623526"/>
                </a:moveTo>
                <a:lnTo>
                  <a:pt x="419877" y="1623526"/>
                </a:lnTo>
                <a:lnTo>
                  <a:pt x="961053" y="0"/>
                </a:lnTo>
                <a:lnTo>
                  <a:pt x="2360645" y="0"/>
                </a:lnTo>
                <a:lnTo>
                  <a:pt x="2976465" y="1632857"/>
                </a:lnTo>
                <a:lnTo>
                  <a:pt x="3452326" y="1623526"/>
                </a:ln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p:cNvSpPr txBox="1"/>
          <p:nvPr/>
        </p:nvSpPr>
        <p:spPr>
          <a:xfrm>
            <a:off x="1359092" y="6361583"/>
            <a:ext cx="455574" cy="307777"/>
          </a:xfrm>
          <a:prstGeom prst="rect">
            <a:avLst/>
          </a:prstGeom>
          <a:noFill/>
        </p:spPr>
        <p:txBody>
          <a:bodyPr wrap="none" rtlCol="0">
            <a:spAutoFit/>
          </a:bodyPr>
          <a:lstStyle/>
          <a:p>
            <a:r>
              <a:rPr lang="en-US" altLang="ko-KR" sz="1400" dirty="0"/>
              <a:t>LSL</a:t>
            </a:r>
            <a:endParaRPr lang="ko-KR" altLang="en-US" sz="1400" dirty="0"/>
          </a:p>
        </p:txBody>
      </p:sp>
      <p:sp>
        <p:nvSpPr>
          <p:cNvPr id="11" name="TextBox 10"/>
          <p:cNvSpPr txBox="1"/>
          <p:nvPr/>
        </p:nvSpPr>
        <p:spPr>
          <a:xfrm>
            <a:off x="3337992" y="6361583"/>
            <a:ext cx="495649" cy="307777"/>
          </a:xfrm>
          <a:prstGeom prst="rect">
            <a:avLst/>
          </a:prstGeom>
          <a:noFill/>
        </p:spPr>
        <p:txBody>
          <a:bodyPr wrap="none" rtlCol="0">
            <a:spAutoFit/>
          </a:bodyPr>
          <a:lstStyle/>
          <a:p>
            <a:r>
              <a:rPr lang="en-US" altLang="ko-KR" sz="1400" dirty="0"/>
              <a:t>USL</a:t>
            </a:r>
            <a:endParaRPr lang="ko-KR" altLang="en-US" sz="1400" dirty="0"/>
          </a:p>
        </p:txBody>
      </p:sp>
      <p:cxnSp>
        <p:nvCxnSpPr>
          <p:cNvPr id="15" name="직선 연결선 14"/>
          <p:cNvCxnSpPr/>
          <p:nvPr/>
        </p:nvCxnSpPr>
        <p:spPr>
          <a:xfrm>
            <a:off x="1460322" y="4605398"/>
            <a:ext cx="2376264"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357290" y="4057327"/>
            <a:ext cx="2317045" cy="307777"/>
          </a:xfrm>
          <a:prstGeom prst="rect">
            <a:avLst/>
          </a:prstGeom>
          <a:noFill/>
        </p:spPr>
        <p:txBody>
          <a:bodyPr wrap="none" rtlCol="0">
            <a:spAutoFit/>
          </a:bodyPr>
          <a:lstStyle/>
          <a:p>
            <a:r>
              <a:rPr lang="en-US" altLang="ko-KR" sz="1400" u="sng" dirty="0"/>
              <a:t>Gauge performance curve</a:t>
            </a:r>
            <a:endParaRPr lang="ko-KR" altLang="en-US" sz="1400" u="sng" dirty="0"/>
          </a:p>
        </p:txBody>
      </p:sp>
      <p:sp>
        <p:nvSpPr>
          <p:cNvPr id="21" name="TextBox 20"/>
          <p:cNvSpPr txBox="1"/>
          <p:nvPr/>
        </p:nvSpPr>
        <p:spPr>
          <a:xfrm>
            <a:off x="683568" y="1611376"/>
            <a:ext cx="7746084" cy="523220"/>
          </a:xfrm>
          <a:prstGeom prst="rect">
            <a:avLst/>
          </a:prstGeom>
          <a:noFill/>
        </p:spPr>
        <p:txBody>
          <a:bodyPr wrap="square" rtlCol="0">
            <a:spAutoFit/>
          </a:bodyPr>
          <a:lstStyle/>
          <a:p>
            <a:r>
              <a:rPr lang="en-US" sz="1400" dirty="0"/>
              <a:t>It is called Accept with condition. The present instrument is not suitable, but it means to do additional activities so that there is no problem in making good quality products.</a:t>
            </a:r>
            <a:endParaRPr lang="ko-KR" altLang="en-US" sz="1400" dirty="0"/>
          </a:p>
        </p:txBody>
      </p:sp>
      <p:sp>
        <p:nvSpPr>
          <p:cNvPr id="22" name="TextBox 21"/>
          <p:cNvSpPr txBox="1"/>
          <p:nvPr/>
        </p:nvSpPr>
        <p:spPr>
          <a:xfrm>
            <a:off x="683568" y="2276872"/>
            <a:ext cx="2670218" cy="307777"/>
          </a:xfrm>
          <a:prstGeom prst="rect">
            <a:avLst/>
          </a:prstGeom>
          <a:noFill/>
        </p:spPr>
        <p:txBody>
          <a:bodyPr wrap="none" rtlCol="0">
            <a:spAutoFit/>
          </a:bodyPr>
          <a:lstStyle/>
          <a:p>
            <a:r>
              <a:rPr lang="en-US" altLang="ko-KR" sz="1400" dirty="0"/>
              <a:t>There are two ways to do this,</a:t>
            </a:r>
            <a:endParaRPr lang="ko-KR" altLang="en-US" sz="1400" dirty="0"/>
          </a:p>
        </p:txBody>
      </p:sp>
      <p:sp>
        <p:nvSpPr>
          <p:cNvPr id="23" name="TextBox 22"/>
          <p:cNvSpPr txBox="1"/>
          <p:nvPr/>
        </p:nvSpPr>
        <p:spPr>
          <a:xfrm>
            <a:off x="971600" y="2780929"/>
            <a:ext cx="6100730" cy="1169551"/>
          </a:xfrm>
          <a:prstGeom prst="rect">
            <a:avLst/>
          </a:prstGeom>
          <a:noFill/>
        </p:spPr>
        <p:txBody>
          <a:bodyPr wrap="square" rtlCol="0">
            <a:spAutoFit/>
          </a:bodyPr>
          <a:lstStyle/>
          <a:p>
            <a:pPr marL="342900" indent="-342900">
              <a:buAutoNum type="arabicPeriod"/>
            </a:pPr>
            <a:r>
              <a:rPr lang="en-US" sz="1400" dirty="0"/>
              <a:t>We will use the average value as the representative value to be</a:t>
            </a:r>
          </a:p>
          <a:p>
            <a:pPr marL="342900" indent="-342900"/>
            <a:r>
              <a:rPr lang="en-US" sz="1400" dirty="0"/>
              <a:t>      measured and selected.</a:t>
            </a:r>
          </a:p>
          <a:p>
            <a:pPr marL="342900" indent="-342900">
              <a:buAutoNum type="arabicPeriod" startAt="2"/>
            </a:pPr>
            <a:r>
              <a:rPr lang="en-US" sz="1400" dirty="0"/>
              <a:t>Considering the standard deviation of the gauge, we will operate </a:t>
            </a:r>
          </a:p>
          <a:p>
            <a:pPr marL="342900" indent="-342900"/>
            <a:r>
              <a:rPr lang="en-US" sz="1400" dirty="0"/>
              <a:t>      the absolute good zone and the absolute defect zone, precise</a:t>
            </a:r>
          </a:p>
          <a:p>
            <a:pPr marL="342900" indent="-342900"/>
            <a:r>
              <a:rPr lang="en-US" sz="1400" dirty="0"/>
              <a:t>      measurement zone.</a:t>
            </a:r>
            <a:endParaRPr lang="ko-KR" altLang="en-US" sz="1400" dirty="0"/>
          </a:p>
        </p:txBody>
      </p:sp>
      <p:sp>
        <p:nvSpPr>
          <p:cNvPr id="3" name="TextBox 2"/>
          <p:cNvSpPr txBox="1"/>
          <p:nvPr/>
        </p:nvSpPr>
        <p:spPr>
          <a:xfrm>
            <a:off x="4985691" y="4005064"/>
            <a:ext cx="4158309" cy="954107"/>
          </a:xfrm>
          <a:prstGeom prst="rect">
            <a:avLst/>
          </a:prstGeom>
          <a:noFill/>
        </p:spPr>
        <p:txBody>
          <a:bodyPr wrap="square" rtlCol="0">
            <a:spAutoFit/>
          </a:bodyPr>
          <a:lstStyle/>
          <a:p>
            <a:r>
              <a:rPr lang="en-US" sz="1400" dirty="0"/>
              <a:t>In case 1, The number of repeated</a:t>
            </a:r>
          </a:p>
          <a:p>
            <a:r>
              <a:rPr lang="en-US" sz="1400" dirty="0"/>
              <a:t>measurements </a:t>
            </a:r>
          </a:p>
          <a:p>
            <a:r>
              <a:rPr lang="ko-KR" altLang="en-US" sz="1400" dirty="0"/>
              <a:t> </a:t>
            </a:r>
            <a:endParaRPr lang="en-US" altLang="ko-KR" sz="1400" dirty="0"/>
          </a:p>
          <a:p>
            <a:endParaRPr lang="ko-KR" altLang="en-US" sz="1400" dirty="0"/>
          </a:p>
        </p:txBody>
      </p:sp>
      <p:cxnSp>
        <p:nvCxnSpPr>
          <p:cNvPr id="26" name="직선 연결선 25"/>
          <p:cNvCxnSpPr/>
          <p:nvPr/>
        </p:nvCxnSpPr>
        <p:spPr>
          <a:xfrm>
            <a:off x="7000892" y="4643446"/>
            <a:ext cx="717915" cy="81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그룹 38"/>
          <p:cNvGrpSpPr/>
          <p:nvPr/>
        </p:nvGrpSpPr>
        <p:grpSpPr>
          <a:xfrm>
            <a:off x="6486772" y="4397225"/>
            <a:ext cx="1585690" cy="523220"/>
            <a:chOff x="5292080" y="4397225"/>
            <a:chExt cx="1585690" cy="523220"/>
          </a:xfrm>
        </p:grpSpPr>
        <p:sp>
          <p:nvSpPr>
            <p:cNvPr id="24" name="TextBox 23"/>
            <p:cNvSpPr txBox="1"/>
            <p:nvPr/>
          </p:nvSpPr>
          <p:spPr>
            <a:xfrm>
              <a:off x="5292080" y="4549983"/>
              <a:ext cx="1585690" cy="307777"/>
            </a:xfrm>
            <a:prstGeom prst="rect">
              <a:avLst/>
            </a:prstGeom>
            <a:noFill/>
          </p:spPr>
          <p:txBody>
            <a:bodyPr wrap="none" rtlCol="0">
              <a:spAutoFit/>
            </a:bodyPr>
            <a:lstStyle/>
            <a:p>
              <a:r>
                <a:rPr lang="en-US" altLang="ko-KR" sz="1400" dirty="0"/>
                <a:t> n =(              ) </a:t>
              </a:r>
              <a:endParaRPr lang="ko-KR" altLang="en-US" sz="1400" dirty="0"/>
            </a:p>
          </p:txBody>
        </p:sp>
        <p:sp>
          <p:nvSpPr>
            <p:cNvPr id="28" name="TextBox 27"/>
            <p:cNvSpPr txBox="1"/>
            <p:nvPr/>
          </p:nvSpPr>
          <p:spPr>
            <a:xfrm>
              <a:off x="5940152" y="4643446"/>
              <a:ext cx="482824" cy="276999"/>
            </a:xfrm>
            <a:prstGeom prst="rect">
              <a:avLst/>
            </a:prstGeom>
            <a:noFill/>
          </p:spPr>
          <p:txBody>
            <a:bodyPr wrap="none" rtlCol="0">
              <a:spAutoFit/>
            </a:bodyPr>
            <a:lstStyle/>
            <a:p>
              <a:r>
                <a:rPr lang="en-US" altLang="ko-KR" sz="1200" dirty="0"/>
                <a:t>10%</a:t>
              </a:r>
              <a:endParaRPr lang="ko-KR" altLang="en-US" sz="1200" dirty="0"/>
            </a:p>
          </p:txBody>
        </p:sp>
        <p:sp>
          <p:nvSpPr>
            <p:cNvPr id="29" name="TextBox 28"/>
            <p:cNvSpPr txBox="1"/>
            <p:nvPr/>
          </p:nvSpPr>
          <p:spPr>
            <a:xfrm>
              <a:off x="5742790" y="4429132"/>
              <a:ext cx="917239" cy="276999"/>
            </a:xfrm>
            <a:prstGeom prst="rect">
              <a:avLst/>
            </a:prstGeom>
            <a:noFill/>
          </p:spPr>
          <p:txBody>
            <a:bodyPr wrap="none" rtlCol="0">
              <a:spAutoFit/>
            </a:bodyPr>
            <a:lstStyle/>
            <a:p>
              <a:r>
                <a:rPr lang="en-US" altLang="ko-KR" sz="1200" dirty="0"/>
                <a:t>Gage R&amp;R</a:t>
              </a:r>
              <a:endParaRPr lang="ko-KR" altLang="en-US" sz="1200" dirty="0"/>
            </a:p>
          </p:txBody>
        </p:sp>
        <p:sp>
          <p:nvSpPr>
            <p:cNvPr id="33" name="TextBox 32"/>
            <p:cNvSpPr txBox="1"/>
            <p:nvPr/>
          </p:nvSpPr>
          <p:spPr>
            <a:xfrm>
              <a:off x="6572264" y="4397225"/>
              <a:ext cx="45719" cy="246221"/>
            </a:xfrm>
            <a:prstGeom prst="rect">
              <a:avLst/>
            </a:prstGeom>
            <a:noFill/>
          </p:spPr>
          <p:txBody>
            <a:bodyPr wrap="square" rtlCol="0">
              <a:spAutoFit/>
            </a:bodyPr>
            <a:lstStyle/>
            <a:p>
              <a:r>
                <a:rPr lang="en-US" altLang="ko-KR" sz="1000" dirty="0"/>
                <a:t>2</a:t>
              </a:r>
              <a:endParaRPr lang="ko-KR" altLang="en-US" sz="1000" dirty="0"/>
            </a:p>
          </p:txBody>
        </p:sp>
      </p:grpSp>
      <p:sp>
        <p:nvSpPr>
          <p:cNvPr id="34" name="TextBox 33"/>
          <p:cNvSpPr txBox="1"/>
          <p:nvPr/>
        </p:nvSpPr>
        <p:spPr>
          <a:xfrm>
            <a:off x="5715008" y="4572008"/>
            <a:ext cx="920573" cy="307777"/>
          </a:xfrm>
          <a:prstGeom prst="rect">
            <a:avLst/>
          </a:prstGeom>
          <a:noFill/>
        </p:spPr>
        <p:txBody>
          <a:bodyPr wrap="none" rtlCol="0">
            <a:spAutoFit/>
          </a:bodyPr>
          <a:lstStyle/>
          <a:p>
            <a:r>
              <a:rPr lang="en-US" altLang="ko-KR" sz="1400" dirty="0"/>
              <a:t>Calculate</a:t>
            </a:r>
            <a:endParaRPr lang="ko-KR" altLang="en-US" sz="1400" dirty="0"/>
          </a:p>
        </p:txBody>
      </p:sp>
      <p:sp>
        <p:nvSpPr>
          <p:cNvPr id="35" name="TextBox 34"/>
          <p:cNvSpPr txBox="1"/>
          <p:nvPr/>
        </p:nvSpPr>
        <p:spPr>
          <a:xfrm>
            <a:off x="4985691" y="5085184"/>
            <a:ext cx="3944027" cy="738664"/>
          </a:xfrm>
          <a:prstGeom prst="rect">
            <a:avLst/>
          </a:prstGeom>
          <a:noFill/>
        </p:spPr>
        <p:txBody>
          <a:bodyPr wrap="square" rtlCol="0">
            <a:spAutoFit/>
          </a:bodyPr>
          <a:lstStyle/>
          <a:p>
            <a:r>
              <a:rPr lang="en-US" sz="1400" dirty="0"/>
              <a:t>In case 2, it is necessary to set the standards that are operated in the field, which is </a:t>
            </a:r>
          </a:p>
          <a:p>
            <a:r>
              <a:rPr lang="en-US" sz="1400" dirty="0"/>
              <a:t>decided by the head of quality department</a:t>
            </a:r>
            <a:endParaRPr lang="ko-KR" altLang="en-US" sz="1400" dirty="0"/>
          </a:p>
        </p:txBody>
      </p:sp>
      <p:sp>
        <p:nvSpPr>
          <p:cNvPr id="36" name="직사각형 35"/>
          <p:cNvSpPr/>
          <p:nvPr/>
        </p:nvSpPr>
        <p:spPr>
          <a:xfrm>
            <a:off x="1979712" y="4637114"/>
            <a:ext cx="1224136" cy="1584176"/>
          </a:xfrm>
          <a:prstGeom prst="rect">
            <a:avLst/>
          </a:prstGeom>
          <a:solidFill>
            <a:srgbClr val="0066FF">
              <a:alpha val="4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p:cNvSpPr/>
          <p:nvPr/>
        </p:nvSpPr>
        <p:spPr>
          <a:xfrm>
            <a:off x="3995936" y="4637114"/>
            <a:ext cx="504056" cy="1584176"/>
          </a:xfrm>
          <a:prstGeom prst="rect">
            <a:avLst/>
          </a:prstGeom>
          <a:solidFill>
            <a:srgbClr val="FF0000">
              <a:alpha val="4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p:cNvSpPr/>
          <p:nvPr/>
        </p:nvSpPr>
        <p:spPr>
          <a:xfrm>
            <a:off x="755576" y="4637114"/>
            <a:ext cx="504056" cy="1584176"/>
          </a:xfrm>
          <a:prstGeom prst="rect">
            <a:avLst/>
          </a:prstGeom>
          <a:solidFill>
            <a:srgbClr val="FF0000">
              <a:alpha val="4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p:cNvSpPr txBox="1"/>
          <p:nvPr/>
        </p:nvSpPr>
        <p:spPr>
          <a:xfrm>
            <a:off x="642910" y="5429264"/>
            <a:ext cx="800540" cy="830997"/>
          </a:xfrm>
          <a:prstGeom prst="rect">
            <a:avLst/>
          </a:prstGeom>
          <a:noFill/>
        </p:spPr>
        <p:txBody>
          <a:bodyPr wrap="none" rtlCol="0">
            <a:spAutoFit/>
          </a:bodyPr>
          <a:lstStyle/>
          <a:p>
            <a:r>
              <a:rPr lang="en-US" altLang="ko-KR" sz="1200" dirty="0"/>
              <a:t>Absolute</a:t>
            </a:r>
          </a:p>
          <a:p>
            <a:r>
              <a:rPr lang="en-US" altLang="ko-KR" sz="1200" dirty="0"/>
              <a:t>Defect</a:t>
            </a:r>
          </a:p>
          <a:p>
            <a:r>
              <a:rPr lang="en-US" altLang="ko-KR" sz="1200" dirty="0"/>
              <a:t>Zone</a:t>
            </a:r>
          </a:p>
          <a:p>
            <a:endParaRPr lang="ko-KR" altLang="en-US" sz="1200" dirty="0"/>
          </a:p>
        </p:txBody>
      </p:sp>
      <p:sp>
        <p:nvSpPr>
          <p:cNvPr id="12" name="TextBox 11"/>
          <p:cNvSpPr txBox="1"/>
          <p:nvPr/>
        </p:nvSpPr>
        <p:spPr>
          <a:xfrm>
            <a:off x="1785918" y="5652536"/>
            <a:ext cx="1616468" cy="276999"/>
          </a:xfrm>
          <a:prstGeom prst="rect">
            <a:avLst/>
          </a:prstGeom>
          <a:noFill/>
        </p:spPr>
        <p:txBody>
          <a:bodyPr wrap="none" rtlCol="0">
            <a:spAutoFit/>
          </a:bodyPr>
          <a:lstStyle/>
          <a:p>
            <a:r>
              <a:rPr lang="en-US" altLang="ko-KR" sz="1200" dirty="0"/>
              <a:t>Absolute good zone</a:t>
            </a:r>
            <a:endParaRPr lang="ko-KR" altLang="en-US" sz="1200" dirty="0"/>
          </a:p>
        </p:txBody>
      </p:sp>
      <p:sp>
        <p:nvSpPr>
          <p:cNvPr id="13" name="TextBox 12"/>
          <p:cNvSpPr txBox="1"/>
          <p:nvPr/>
        </p:nvSpPr>
        <p:spPr>
          <a:xfrm>
            <a:off x="3995936" y="5517232"/>
            <a:ext cx="800540" cy="646331"/>
          </a:xfrm>
          <a:prstGeom prst="rect">
            <a:avLst/>
          </a:prstGeom>
          <a:noFill/>
        </p:spPr>
        <p:txBody>
          <a:bodyPr wrap="none" rtlCol="0">
            <a:spAutoFit/>
          </a:bodyPr>
          <a:lstStyle/>
          <a:p>
            <a:r>
              <a:rPr lang="en-US" altLang="ko-KR" sz="1200" dirty="0"/>
              <a:t>Absolute</a:t>
            </a:r>
          </a:p>
          <a:p>
            <a:r>
              <a:rPr lang="en-US" altLang="ko-KR" sz="1200" dirty="0"/>
              <a:t>Defect</a:t>
            </a:r>
          </a:p>
          <a:p>
            <a:r>
              <a:rPr lang="en-US" altLang="ko-KR" sz="1200" dirty="0"/>
              <a:t>Zone</a:t>
            </a:r>
          </a:p>
        </p:txBody>
      </p:sp>
      <p:sp>
        <p:nvSpPr>
          <p:cNvPr id="31" name="TextBox 30"/>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32" name="직사각형 31"/>
          <p:cNvSpPr/>
          <p:nvPr/>
        </p:nvSpPr>
        <p:spPr>
          <a:xfrm>
            <a:off x="5857884" y="179348"/>
            <a:ext cx="325762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Continuous</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Data Gage R&amp;R</a:t>
            </a:r>
            <a:endParaRPr lang="ko-KR" altLang="en-US" sz="2400" b="1" kern="0" dirty="0">
              <a:solidFill>
                <a:srgbClr val="000000"/>
              </a:solidFill>
            </a:endParaRPr>
          </a:p>
        </p:txBody>
      </p:sp>
    </p:spTree>
    <p:extLst>
      <p:ext uri="{BB962C8B-B14F-4D97-AF65-F5344CB8AC3E}">
        <p14:creationId xmlns:p14="http://schemas.microsoft.com/office/powerpoint/2010/main" val="18380143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94</a:t>
            </a:fld>
            <a:endParaRPr lang="ko-KR" altLang="en-US" dirty="0"/>
          </a:p>
        </p:txBody>
      </p:sp>
      <p:sp>
        <p:nvSpPr>
          <p:cNvPr id="4" name="TextBox 3"/>
          <p:cNvSpPr txBox="1"/>
          <p:nvPr/>
        </p:nvSpPr>
        <p:spPr>
          <a:xfrm>
            <a:off x="611560" y="908720"/>
            <a:ext cx="6279283" cy="369332"/>
          </a:xfrm>
          <a:prstGeom prst="rect">
            <a:avLst/>
          </a:prstGeom>
          <a:noFill/>
        </p:spPr>
        <p:txBody>
          <a:bodyPr wrap="none" rtlCol="0">
            <a:spAutoFit/>
          </a:bodyPr>
          <a:lstStyle/>
          <a:p>
            <a:r>
              <a:rPr lang="en-US" altLang="ko-KR" dirty="0"/>
              <a:t>2.  Gage R&amp;R </a:t>
            </a:r>
            <a:r>
              <a:rPr lang="en-US" altLang="ko-KR" dirty="0" err="1"/>
              <a:t>không</a:t>
            </a:r>
            <a:r>
              <a:rPr lang="en-US" altLang="ko-KR" dirty="0"/>
              <a:t> </a:t>
            </a:r>
            <a:r>
              <a:rPr lang="en-US" altLang="ko-KR" dirty="0" err="1"/>
              <a:t>tốt</a:t>
            </a:r>
            <a:r>
              <a:rPr lang="en-US" altLang="ko-KR" dirty="0"/>
              <a:t> .</a:t>
            </a:r>
            <a:r>
              <a:rPr lang="ko-KR" altLang="en-US" dirty="0"/>
              <a:t> </a:t>
            </a:r>
            <a:r>
              <a:rPr lang="en-US" altLang="ko-KR" dirty="0" err="1"/>
              <a:t>Sẽ</a:t>
            </a:r>
            <a:r>
              <a:rPr lang="en-US" altLang="ko-KR" dirty="0"/>
              <a:t> </a:t>
            </a:r>
            <a:r>
              <a:rPr lang="en-US" altLang="ko-KR" dirty="0" err="1"/>
              <a:t>có</a:t>
            </a:r>
            <a:r>
              <a:rPr lang="en-US" altLang="ko-KR" dirty="0"/>
              <a:t> </a:t>
            </a:r>
            <a:r>
              <a:rPr lang="en-US" altLang="ko-KR" dirty="0" err="1"/>
              <a:t>ảnh</a:t>
            </a:r>
            <a:r>
              <a:rPr lang="en-US" altLang="ko-KR" dirty="0"/>
              <a:t> </a:t>
            </a:r>
            <a:r>
              <a:rPr lang="en-US" altLang="ko-KR" dirty="0" err="1"/>
              <a:t>hưởng</a:t>
            </a:r>
            <a:r>
              <a:rPr lang="en-US" altLang="ko-KR" dirty="0"/>
              <a:t> </a:t>
            </a:r>
            <a:r>
              <a:rPr lang="en-US" altLang="ko-KR" dirty="0" err="1"/>
              <a:t>như</a:t>
            </a:r>
            <a:r>
              <a:rPr lang="en-US" altLang="ko-KR" dirty="0"/>
              <a:t> </a:t>
            </a:r>
            <a:r>
              <a:rPr lang="en-US" altLang="ko-KR" dirty="0" err="1"/>
              <a:t>thế</a:t>
            </a:r>
            <a:r>
              <a:rPr lang="en-US" altLang="ko-KR" dirty="0"/>
              <a:t> </a:t>
            </a:r>
            <a:r>
              <a:rPr lang="en-US" altLang="ko-KR" dirty="0" err="1"/>
              <a:t>nào</a:t>
            </a:r>
            <a:r>
              <a:rPr lang="en-US" altLang="ko-KR" dirty="0"/>
              <a:t>?</a:t>
            </a:r>
            <a:endParaRPr lang="ko-KR" altLang="en-US" dirty="0"/>
          </a:p>
        </p:txBody>
      </p:sp>
      <p:cxnSp>
        <p:nvCxnSpPr>
          <p:cNvPr id="5" name="직선 연결선 4"/>
          <p:cNvCxnSpPr/>
          <p:nvPr/>
        </p:nvCxnSpPr>
        <p:spPr>
          <a:xfrm>
            <a:off x="1765429" y="2339588"/>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3709645" y="2339588"/>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1333381" y="4139788"/>
            <a:ext cx="2808312"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자유형 10"/>
          <p:cNvSpPr/>
          <p:nvPr/>
        </p:nvSpPr>
        <p:spPr>
          <a:xfrm>
            <a:off x="1068271" y="2520724"/>
            <a:ext cx="3452326" cy="1632857"/>
          </a:xfrm>
          <a:custGeom>
            <a:avLst/>
            <a:gdLst>
              <a:gd name="connsiteX0" fmla="*/ 0 w 3452326"/>
              <a:gd name="connsiteY0" fmla="*/ 1623526 h 1632857"/>
              <a:gd name="connsiteX1" fmla="*/ 419877 w 3452326"/>
              <a:gd name="connsiteY1" fmla="*/ 1623526 h 1632857"/>
              <a:gd name="connsiteX2" fmla="*/ 961053 w 3452326"/>
              <a:gd name="connsiteY2" fmla="*/ 0 h 1632857"/>
              <a:gd name="connsiteX3" fmla="*/ 2360645 w 3452326"/>
              <a:gd name="connsiteY3" fmla="*/ 0 h 1632857"/>
              <a:gd name="connsiteX4" fmla="*/ 2976465 w 3452326"/>
              <a:gd name="connsiteY4" fmla="*/ 1632857 h 1632857"/>
              <a:gd name="connsiteX5" fmla="*/ 3452326 w 3452326"/>
              <a:gd name="connsiteY5" fmla="*/ 1623526 h 1632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2326" h="1632857">
                <a:moveTo>
                  <a:pt x="0" y="1623526"/>
                </a:moveTo>
                <a:lnTo>
                  <a:pt x="419877" y="1623526"/>
                </a:lnTo>
                <a:lnTo>
                  <a:pt x="961053" y="0"/>
                </a:lnTo>
                <a:lnTo>
                  <a:pt x="2360645" y="0"/>
                </a:lnTo>
                <a:lnTo>
                  <a:pt x="2976465" y="1632857"/>
                </a:lnTo>
                <a:lnTo>
                  <a:pt x="3452326" y="1623526"/>
                </a:ln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p:cNvSpPr txBox="1"/>
          <p:nvPr/>
        </p:nvSpPr>
        <p:spPr>
          <a:xfrm>
            <a:off x="1514721" y="4283804"/>
            <a:ext cx="455574" cy="307777"/>
          </a:xfrm>
          <a:prstGeom prst="rect">
            <a:avLst/>
          </a:prstGeom>
          <a:noFill/>
        </p:spPr>
        <p:txBody>
          <a:bodyPr wrap="none" rtlCol="0">
            <a:spAutoFit/>
          </a:bodyPr>
          <a:lstStyle/>
          <a:p>
            <a:r>
              <a:rPr lang="en-US" altLang="ko-KR" sz="1400" dirty="0"/>
              <a:t>LSL</a:t>
            </a:r>
            <a:endParaRPr lang="ko-KR" altLang="en-US" sz="1400" dirty="0"/>
          </a:p>
        </p:txBody>
      </p:sp>
      <p:sp>
        <p:nvSpPr>
          <p:cNvPr id="13" name="TextBox 12"/>
          <p:cNvSpPr txBox="1"/>
          <p:nvPr/>
        </p:nvSpPr>
        <p:spPr>
          <a:xfrm>
            <a:off x="3493621" y="4283804"/>
            <a:ext cx="495649" cy="307777"/>
          </a:xfrm>
          <a:prstGeom prst="rect">
            <a:avLst/>
          </a:prstGeom>
          <a:noFill/>
        </p:spPr>
        <p:txBody>
          <a:bodyPr wrap="none" rtlCol="0">
            <a:spAutoFit/>
          </a:bodyPr>
          <a:lstStyle/>
          <a:p>
            <a:r>
              <a:rPr lang="en-US" altLang="ko-KR" sz="1400" dirty="0"/>
              <a:t>USL</a:t>
            </a:r>
            <a:endParaRPr lang="ko-KR" altLang="en-US" sz="1400" dirty="0"/>
          </a:p>
        </p:txBody>
      </p:sp>
      <p:sp>
        <p:nvSpPr>
          <p:cNvPr id="14" name="TextBox 13"/>
          <p:cNvSpPr txBox="1"/>
          <p:nvPr/>
        </p:nvSpPr>
        <p:spPr>
          <a:xfrm>
            <a:off x="2411760" y="3574757"/>
            <a:ext cx="394660" cy="276999"/>
          </a:xfrm>
          <a:prstGeom prst="rect">
            <a:avLst/>
          </a:prstGeom>
          <a:noFill/>
        </p:spPr>
        <p:txBody>
          <a:bodyPr wrap="none" rtlCol="0">
            <a:spAutoFit/>
          </a:bodyPr>
          <a:lstStyle/>
          <a:p>
            <a:r>
              <a:rPr lang="en-US" altLang="ko-KR" sz="1200" dirty="0"/>
              <a:t>OK</a:t>
            </a:r>
            <a:endParaRPr lang="ko-KR" altLang="en-US" sz="1200" dirty="0"/>
          </a:p>
        </p:txBody>
      </p:sp>
      <p:sp>
        <p:nvSpPr>
          <p:cNvPr id="15" name="TextBox 14"/>
          <p:cNvSpPr txBox="1"/>
          <p:nvPr/>
        </p:nvSpPr>
        <p:spPr>
          <a:xfrm>
            <a:off x="4211960" y="3574757"/>
            <a:ext cx="409086" cy="276999"/>
          </a:xfrm>
          <a:prstGeom prst="rect">
            <a:avLst/>
          </a:prstGeom>
          <a:noFill/>
        </p:spPr>
        <p:txBody>
          <a:bodyPr wrap="none" rtlCol="0">
            <a:spAutoFit/>
          </a:bodyPr>
          <a:lstStyle/>
          <a:p>
            <a:r>
              <a:rPr lang="en-US" altLang="ko-KR" sz="1200" dirty="0"/>
              <a:t>NG</a:t>
            </a:r>
            <a:endParaRPr lang="ko-KR" altLang="en-US" sz="1200" dirty="0"/>
          </a:p>
        </p:txBody>
      </p:sp>
      <p:sp>
        <p:nvSpPr>
          <p:cNvPr id="16" name="TextBox 15"/>
          <p:cNvSpPr txBox="1"/>
          <p:nvPr/>
        </p:nvSpPr>
        <p:spPr>
          <a:xfrm>
            <a:off x="983213" y="3574757"/>
            <a:ext cx="409086" cy="276999"/>
          </a:xfrm>
          <a:prstGeom prst="rect">
            <a:avLst/>
          </a:prstGeom>
          <a:noFill/>
        </p:spPr>
        <p:txBody>
          <a:bodyPr wrap="none" rtlCol="0">
            <a:spAutoFit/>
          </a:bodyPr>
          <a:lstStyle/>
          <a:p>
            <a:r>
              <a:rPr lang="en-US" altLang="ko-KR" sz="1200" dirty="0"/>
              <a:t>NG</a:t>
            </a:r>
            <a:endParaRPr lang="ko-KR" altLang="en-US" sz="1200" dirty="0"/>
          </a:p>
        </p:txBody>
      </p:sp>
      <p:cxnSp>
        <p:nvCxnSpPr>
          <p:cNvPr id="18" name="직선 연결선 17"/>
          <p:cNvCxnSpPr/>
          <p:nvPr/>
        </p:nvCxnSpPr>
        <p:spPr>
          <a:xfrm>
            <a:off x="1615951" y="2527619"/>
            <a:ext cx="2376264"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051720" y="1835532"/>
            <a:ext cx="2363147" cy="307777"/>
          </a:xfrm>
          <a:prstGeom prst="rect">
            <a:avLst/>
          </a:prstGeom>
          <a:noFill/>
        </p:spPr>
        <p:txBody>
          <a:bodyPr wrap="none" rtlCol="0">
            <a:spAutoFit/>
          </a:bodyPr>
          <a:lstStyle/>
          <a:p>
            <a:r>
              <a:rPr lang="en-US" altLang="ko-KR" sz="1400" u="sng" dirty="0" err="1"/>
              <a:t>Đường</a:t>
            </a:r>
            <a:r>
              <a:rPr lang="en-US" altLang="ko-KR" sz="1400" u="sng" dirty="0"/>
              <a:t> cong </a:t>
            </a:r>
            <a:r>
              <a:rPr lang="en-US" altLang="ko-KR" sz="1400" u="sng" dirty="0" err="1"/>
              <a:t>tính</a:t>
            </a:r>
            <a:r>
              <a:rPr lang="en-US" altLang="ko-KR" sz="1400" u="sng" dirty="0"/>
              <a:t> </a:t>
            </a:r>
            <a:r>
              <a:rPr lang="en-US" altLang="ko-KR" sz="1400" u="sng" dirty="0" err="1"/>
              <a:t>năng</a:t>
            </a:r>
            <a:r>
              <a:rPr lang="en-US" altLang="ko-KR" sz="1400" u="sng" dirty="0"/>
              <a:t> </a:t>
            </a:r>
            <a:r>
              <a:rPr lang="en-US" altLang="ko-KR" sz="1400" u="sng" dirty="0" err="1"/>
              <a:t>đo</a:t>
            </a:r>
            <a:endParaRPr lang="ko-KR" altLang="en-US" sz="1400" u="sng" dirty="0"/>
          </a:p>
        </p:txBody>
      </p:sp>
      <p:grpSp>
        <p:nvGrpSpPr>
          <p:cNvPr id="3" name="그룹 2"/>
          <p:cNvGrpSpPr/>
          <p:nvPr/>
        </p:nvGrpSpPr>
        <p:grpSpPr>
          <a:xfrm>
            <a:off x="3452329" y="2276872"/>
            <a:ext cx="1191679" cy="1867378"/>
            <a:chOff x="3452329" y="2276872"/>
            <a:chExt cx="1191679" cy="1867378"/>
          </a:xfrm>
        </p:grpSpPr>
        <p:sp>
          <p:nvSpPr>
            <p:cNvPr id="20" name="자유형 19"/>
            <p:cNvSpPr/>
            <p:nvPr/>
          </p:nvSpPr>
          <p:spPr>
            <a:xfrm>
              <a:off x="3452329" y="2520723"/>
              <a:ext cx="261256" cy="709127"/>
            </a:xfrm>
            <a:custGeom>
              <a:avLst/>
              <a:gdLst>
                <a:gd name="connsiteX0" fmla="*/ 0 w 298579"/>
                <a:gd name="connsiteY0" fmla="*/ 0 h 709127"/>
                <a:gd name="connsiteX1" fmla="*/ 298579 w 298579"/>
                <a:gd name="connsiteY1" fmla="*/ 0 h 709127"/>
                <a:gd name="connsiteX2" fmla="*/ 289249 w 298579"/>
                <a:gd name="connsiteY2" fmla="*/ 709127 h 709127"/>
                <a:gd name="connsiteX3" fmla="*/ 0 w 298579"/>
                <a:gd name="connsiteY3" fmla="*/ 0 h 709127"/>
              </a:gdLst>
              <a:ahLst/>
              <a:cxnLst>
                <a:cxn ang="0">
                  <a:pos x="connsiteX0" y="connsiteY0"/>
                </a:cxn>
                <a:cxn ang="0">
                  <a:pos x="connsiteX1" y="connsiteY1"/>
                </a:cxn>
                <a:cxn ang="0">
                  <a:pos x="connsiteX2" y="connsiteY2"/>
                </a:cxn>
                <a:cxn ang="0">
                  <a:pos x="connsiteX3" y="connsiteY3"/>
                </a:cxn>
              </a:cxnLst>
              <a:rect l="l" t="t" r="r" b="b"/>
              <a:pathLst>
                <a:path w="298579" h="709127">
                  <a:moveTo>
                    <a:pt x="0" y="0"/>
                  </a:moveTo>
                  <a:lnTo>
                    <a:pt x="298579" y="0"/>
                  </a:lnTo>
                  <a:lnTo>
                    <a:pt x="289249" y="709127"/>
                  </a:lnTo>
                  <a:lnTo>
                    <a:pt x="0" y="0"/>
                  </a:lnTo>
                  <a:close/>
                </a:path>
              </a:pathLst>
            </a:cu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자유형 20"/>
            <p:cNvSpPr/>
            <p:nvPr/>
          </p:nvSpPr>
          <p:spPr>
            <a:xfrm>
              <a:off x="3722914" y="3304495"/>
              <a:ext cx="326572" cy="839755"/>
            </a:xfrm>
            <a:custGeom>
              <a:avLst/>
              <a:gdLst>
                <a:gd name="connsiteX0" fmla="*/ 0 w 326572"/>
                <a:gd name="connsiteY0" fmla="*/ 0 h 839755"/>
                <a:gd name="connsiteX1" fmla="*/ 0 w 326572"/>
                <a:gd name="connsiteY1" fmla="*/ 839755 h 839755"/>
                <a:gd name="connsiteX2" fmla="*/ 326572 w 326572"/>
                <a:gd name="connsiteY2" fmla="*/ 839755 h 839755"/>
                <a:gd name="connsiteX3" fmla="*/ 0 w 326572"/>
                <a:gd name="connsiteY3" fmla="*/ 0 h 839755"/>
              </a:gdLst>
              <a:ahLst/>
              <a:cxnLst>
                <a:cxn ang="0">
                  <a:pos x="connsiteX0" y="connsiteY0"/>
                </a:cxn>
                <a:cxn ang="0">
                  <a:pos x="connsiteX1" y="connsiteY1"/>
                </a:cxn>
                <a:cxn ang="0">
                  <a:pos x="connsiteX2" y="connsiteY2"/>
                </a:cxn>
                <a:cxn ang="0">
                  <a:pos x="connsiteX3" y="connsiteY3"/>
                </a:cxn>
              </a:cxnLst>
              <a:rect l="l" t="t" r="r" b="b"/>
              <a:pathLst>
                <a:path w="326572" h="839755">
                  <a:moveTo>
                    <a:pt x="0" y="0"/>
                  </a:moveTo>
                  <a:lnTo>
                    <a:pt x="0" y="839755"/>
                  </a:lnTo>
                  <a:lnTo>
                    <a:pt x="326572" y="839755"/>
                  </a:lnTo>
                  <a:lnTo>
                    <a:pt x="0" y="0"/>
                  </a:lnTo>
                  <a:close/>
                </a:path>
              </a:pathLst>
            </a:cu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직선 화살표 연결선 22"/>
            <p:cNvCxnSpPr/>
            <p:nvPr/>
          </p:nvCxnSpPr>
          <p:spPr>
            <a:xfrm flipV="1">
              <a:off x="3635896" y="2276872"/>
              <a:ext cx="1008112" cy="43204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p:nvPr/>
          </p:nvCxnSpPr>
          <p:spPr>
            <a:xfrm flipV="1">
              <a:off x="3851920" y="3212976"/>
              <a:ext cx="792088" cy="648072"/>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grpSp>
      <p:grpSp>
        <p:nvGrpSpPr>
          <p:cNvPr id="6" name="그룹 5"/>
          <p:cNvGrpSpPr/>
          <p:nvPr/>
        </p:nvGrpSpPr>
        <p:grpSpPr>
          <a:xfrm>
            <a:off x="4788024" y="2060848"/>
            <a:ext cx="4233603" cy="1675929"/>
            <a:chOff x="4788024" y="2060848"/>
            <a:chExt cx="4233603" cy="1675929"/>
          </a:xfrm>
        </p:grpSpPr>
        <p:sp>
          <p:nvSpPr>
            <p:cNvPr id="26" name="TextBox 25"/>
            <p:cNvSpPr txBox="1"/>
            <p:nvPr/>
          </p:nvSpPr>
          <p:spPr>
            <a:xfrm>
              <a:off x="4788024" y="2060848"/>
              <a:ext cx="3558988" cy="307777"/>
            </a:xfrm>
            <a:prstGeom prst="rect">
              <a:avLst/>
            </a:prstGeom>
            <a:noFill/>
          </p:spPr>
          <p:txBody>
            <a:bodyPr wrap="none" rtlCol="0">
              <a:spAutoFit/>
            </a:bodyPr>
            <a:lstStyle/>
            <a:p>
              <a:pPr marL="285750" indent="-285750">
                <a:buFont typeface="Wingdings" panose="05000000000000000000" pitchFamily="2" charset="2"/>
                <a:buChar char="§"/>
              </a:pPr>
              <a:r>
                <a:rPr lang="en-US" altLang="ko-KR" sz="1400" dirty="0" err="1"/>
                <a:t>Khu</a:t>
              </a:r>
              <a:r>
                <a:rPr lang="en-US" altLang="ko-KR" sz="1400" dirty="0"/>
                <a:t> </a:t>
              </a:r>
              <a:r>
                <a:rPr lang="en-US" altLang="ko-KR" sz="1400" dirty="0" err="1"/>
                <a:t>vực</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hàng</a:t>
              </a:r>
              <a:r>
                <a:rPr lang="en-US" altLang="ko-KR" sz="1400" dirty="0"/>
                <a:t> OK </a:t>
              </a:r>
              <a:r>
                <a:rPr lang="en-US" altLang="ko-KR" sz="1400" dirty="0" err="1"/>
                <a:t>thành</a:t>
              </a:r>
              <a:r>
                <a:rPr lang="en-US" altLang="ko-KR" sz="1400" dirty="0"/>
                <a:t> NG</a:t>
              </a:r>
              <a:endParaRPr lang="ko-KR" altLang="en-US" sz="1400" dirty="0"/>
            </a:p>
          </p:txBody>
        </p:sp>
        <p:sp>
          <p:nvSpPr>
            <p:cNvPr id="27" name="TextBox 26"/>
            <p:cNvSpPr txBox="1"/>
            <p:nvPr/>
          </p:nvSpPr>
          <p:spPr>
            <a:xfrm>
              <a:off x="4788024" y="3068960"/>
              <a:ext cx="3558988" cy="307777"/>
            </a:xfrm>
            <a:prstGeom prst="rect">
              <a:avLst/>
            </a:prstGeom>
            <a:noFill/>
          </p:spPr>
          <p:txBody>
            <a:bodyPr wrap="none" rtlCol="0">
              <a:spAutoFit/>
            </a:bodyPr>
            <a:lstStyle/>
            <a:p>
              <a:pPr marL="285750" indent="-285750">
                <a:buFont typeface="Wingdings" panose="05000000000000000000" pitchFamily="2" charset="2"/>
                <a:buChar char="§"/>
              </a:pPr>
              <a:r>
                <a:rPr lang="en-US" altLang="ko-KR" sz="1400" dirty="0" err="1"/>
                <a:t>Khu</a:t>
              </a:r>
              <a:r>
                <a:rPr lang="en-US" altLang="ko-KR" sz="1400" dirty="0"/>
                <a:t> </a:t>
              </a:r>
              <a:r>
                <a:rPr lang="en-US" altLang="ko-KR" sz="1400" dirty="0" err="1"/>
                <a:t>vực</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hàng</a:t>
              </a:r>
              <a:r>
                <a:rPr lang="en-US" altLang="ko-KR" sz="1400" dirty="0"/>
                <a:t> NG </a:t>
              </a:r>
              <a:r>
                <a:rPr lang="en-US" altLang="ko-KR" sz="1400" dirty="0" err="1"/>
                <a:t>thành</a:t>
              </a:r>
              <a:r>
                <a:rPr lang="en-US" altLang="ko-KR" sz="1400" dirty="0"/>
                <a:t> OK</a:t>
              </a:r>
              <a:endParaRPr lang="ko-KR" altLang="en-US" sz="1400" dirty="0"/>
            </a:p>
          </p:txBody>
        </p:sp>
        <p:sp>
          <p:nvSpPr>
            <p:cNvPr id="28" name="TextBox 27"/>
            <p:cNvSpPr txBox="1"/>
            <p:nvPr/>
          </p:nvSpPr>
          <p:spPr>
            <a:xfrm>
              <a:off x="5292080" y="3429000"/>
              <a:ext cx="3729547" cy="307777"/>
            </a:xfrm>
            <a:prstGeom prst="rect">
              <a:avLst/>
            </a:prstGeom>
            <a:noFill/>
          </p:spPr>
          <p:txBody>
            <a:bodyPr wrap="none" rtlCol="0">
              <a:spAutoFit/>
            </a:bodyPr>
            <a:lstStyle/>
            <a:p>
              <a:r>
                <a:rPr lang="en-US" altLang="ko-KR" sz="1400" dirty="0" err="1"/>
                <a:t>Loại</a:t>
              </a:r>
              <a:r>
                <a:rPr lang="en-US" altLang="ko-KR" sz="1400" dirty="0"/>
                <a:t> 2</a:t>
              </a:r>
              <a:r>
                <a:rPr lang="ko-KR" altLang="en-US" sz="1400" dirty="0"/>
                <a:t> </a:t>
              </a:r>
              <a:r>
                <a:rPr lang="en-US" altLang="ko-KR" sz="1400" dirty="0"/>
                <a:t>error</a:t>
              </a:r>
              <a:r>
                <a:rPr lang="ko-KR" altLang="en-US" sz="1400" dirty="0"/>
                <a:t>  </a:t>
              </a:r>
              <a:r>
                <a:rPr lang="en-US" altLang="ko-KR" sz="1400" dirty="0"/>
                <a:t>: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tiêu</a:t>
              </a:r>
              <a:r>
                <a:rPr lang="en-US" altLang="ko-KR" sz="1400" dirty="0"/>
                <a:t> </a:t>
              </a:r>
              <a:r>
                <a:rPr lang="en-US" altLang="ko-KR" sz="1400" dirty="0" err="1"/>
                <a:t>dùng</a:t>
              </a:r>
              <a:endParaRPr lang="ko-KR" altLang="en-US" sz="1400" dirty="0"/>
            </a:p>
          </p:txBody>
        </p:sp>
        <p:sp>
          <p:nvSpPr>
            <p:cNvPr id="29" name="TextBox 28"/>
            <p:cNvSpPr txBox="1"/>
            <p:nvPr/>
          </p:nvSpPr>
          <p:spPr>
            <a:xfrm>
              <a:off x="5262319" y="2420888"/>
              <a:ext cx="3630161" cy="307777"/>
            </a:xfrm>
            <a:prstGeom prst="rect">
              <a:avLst/>
            </a:prstGeom>
            <a:noFill/>
          </p:spPr>
          <p:txBody>
            <a:bodyPr wrap="none" rtlCol="0">
              <a:spAutoFit/>
            </a:bodyPr>
            <a:lstStyle/>
            <a:p>
              <a:r>
                <a:rPr lang="en-US" altLang="ko-KR" sz="1400" dirty="0" err="1"/>
                <a:t>Loại</a:t>
              </a:r>
              <a:r>
                <a:rPr lang="en-US" altLang="ko-KR" sz="1400" dirty="0"/>
                <a:t> 1</a:t>
              </a:r>
              <a:r>
                <a:rPr lang="ko-KR" altLang="en-US" sz="1400" dirty="0"/>
                <a:t> </a:t>
              </a:r>
              <a:r>
                <a:rPr lang="en-US" altLang="ko-KR" sz="1400" dirty="0"/>
                <a:t>error</a:t>
              </a:r>
              <a:r>
                <a:rPr lang="ko-KR" altLang="en-US" sz="1400" dirty="0"/>
                <a:t>  </a:t>
              </a:r>
              <a:r>
                <a:rPr lang="en-US" altLang="ko-KR" sz="1400" dirty="0"/>
                <a:t>: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sản</a:t>
              </a:r>
              <a:r>
                <a:rPr lang="en-US" altLang="ko-KR" sz="1400" dirty="0"/>
                <a:t> </a:t>
              </a:r>
              <a:r>
                <a:rPr lang="en-US" altLang="ko-KR" sz="1400" dirty="0" err="1"/>
                <a:t>xuất</a:t>
              </a:r>
              <a:endParaRPr lang="ko-KR" altLang="en-US" sz="1400" dirty="0"/>
            </a:p>
          </p:txBody>
        </p:sp>
      </p:grpSp>
      <p:sp>
        <p:nvSpPr>
          <p:cNvPr id="30" name="TextBox 29"/>
          <p:cNvSpPr txBox="1"/>
          <p:nvPr/>
        </p:nvSpPr>
        <p:spPr>
          <a:xfrm>
            <a:off x="4860032" y="4149080"/>
            <a:ext cx="2672911" cy="369332"/>
          </a:xfrm>
          <a:prstGeom prst="rect">
            <a:avLst/>
          </a:prstGeom>
          <a:noFill/>
        </p:spPr>
        <p:txBody>
          <a:bodyPr wrap="none" rtlCol="0">
            <a:spAutoFit/>
          </a:bodyPr>
          <a:lstStyle/>
          <a:p>
            <a:r>
              <a:rPr lang="en-US" altLang="ko-KR" dirty="0" err="1"/>
              <a:t>Nguyên</a:t>
            </a:r>
            <a:r>
              <a:rPr lang="en-US" altLang="ko-KR" dirty="0"/>
              <a:t> </a:t>
            </a:r>
            <a:r>
              <a:rPr lang="en-US" altLang="ko-KR" dirty="0" err="1"/>
              <a:t>tắc</a:t>
            </a:r>
            <a:r>
              <a:rPr lang="en-US" altLang="ko-KR" dirty="0"/>
              <a:t> 1: 10 : 100</a:t>
            </a:r>
            <a:r>
              <a:rPr lang="ko-KR" altLang="en-US" dirty="0"/>
              <a:t> </a:t>
            </a:r>
          </a:p>
        </p:txBody>
      </p:sp>
      <p:sp>
        <p:nvSpPr>
          <p:cNvPr id="31" name="TextBox 30"/>
          <p:cNvSpPr txBox="1"/>
          <p:nvPr/>
        </p:nvSpPr>
        <p:spPr>
          <a:xfrm>
            <a:off x="1763688" y="4581128"/>
            <a:ext cx="7067640" cy="307777"/>
          </a:xfrm>
          <a:prstGeom prst="rect">
            <a:avLst/>
          </a:prstGeom>
          <a:noFill/>
        </p:spPr>
        <p:txBody>
          <a:bodyPr wrap="none" rtlCol="0">
            <a:spAutoFit/>
          </a:bodyPr>
          <a:lstStyle/>
          <a:p>
            <a:r>
              <a:rPr lang="en-US" altLang="ko-KR" sz="1400" dirty="0"/>
              <a:t>Chi </a:t>
            </a:r>
            <a:r>
              <a:rPr lang="en-US" altLang="ko-KR" sz="1400" dirty="0" err="1"/>
              <a:t>phí</a:t>
            </a:r>
            <a:r>
              <a:rPr lang="en-US" altLang="ko-KR" sz="1400" dirty="0"/>
              <a:t> </a:t>
            </a:r>
            <a:r>
              <a:rPr lang="en-US" altLang="ko-KR" sz="1400" dirty="0" err="1"/>
              <a:t>phát</a:t>
            </a:r>
            <a:r>
              <a:rPr lang="en-US" altLang="ko-KR" sz="1400" dirty="0"/>
              <a:t> </a:t>
            </a:r>
            <a:r>
              <a:rPr lang="en-US" altLang="ko-KR" sz="1400" dirty="0" err="1"/>
              <a:t>sinh</a:t>
            </a:r>
            <a:r>
              <a:rPr lang="en-US" altLang="ko-KR" sz="1400" dirty="0"/>
              <a:t> </a:t>
            </a:r>
            <a:r>
              <a:rPr lang="en-US" altLang="ko-KR" sz="1400" dirty="0" err="1"/>
              <a:t>trên</a:t>
            </a:r>
            <a:r>
              <a:rPr lang="en-US" altLang="ko-KR" sz="1400" dirty="0"/>
              <a:t> </a:t>
            </a:r>
            <a:r>
              <a:rPr lang="en-US" altLang="ko-KR" sz="1400" dirty="0" err="1"/>
              <a:t>thị</a:t>
            </a:r>
            <a:r>
              <a:rPr lang="en-US" altLang="ko-KR" sz="1400" dirty="0"/>
              <a:t> </a:t>
            </a:r>
            <a:r>
              <a:rPr lang="en-US" altLang="ko-KR" sz="1400" dirty="0" err="1"/>
              <a:t>trường</a:t>
            </a:r>
            <a:r>
              <a:rPr lang="en-US" altLang="ko-KR" sz="1400" dirty="0"/>
              <a:t> so </a:t>
            </a:r>
            <a:r>
              <a:rPr lang="en-US" altLang="ko-KR" sz="1400" dirty="0" err="1"/>
              <a:t>với</a:t>
            </a:r>
            <a:r>
              <a:rPr lang="en-US" altLang="ko-KR" sz="1400" dirty="0"/>
              <a:t> chi </a:t>
            </a:r>
            <a:r>
              <a:rPr lang="en-US" altLang="ko-KR" sz="1400" dirty="0" err="1"/>
              <a:t>phí</a:t>
            </a:r>
            <a:r>
              <a:rPr lang="en-US" altLang="ko-KR" sz="1400" dirty="0"/>
              <a:t> </a:t>
            </a:r>
            <a:r>
              <a:rPr lang="en-US" altLang="ko-KR" sz="1400" dirty="0" err="1"/>
              <a:t>phát</a:t>
            </a:r>
            <a:r>
              <a:rPr lang="en-US" altLang="ko-KR" sz="1400" dirty="0"/>
              <a:t> </a:t>
            </a:r>
            <a:r>
              <a:rPr lang="en-US" altLang="ko-KR" sz="1400" dirty="0" err="1"/>
              <a:t>sinh</a:t>
            </a:r>
            <a:r>
              <a:rPr lang="en-US" altLang="ko-KR" sz="1400" dirty="0"/>
              <a:t> </a:t>
            </a:r>
            <a:r>
              <a:rPr lang="en-US" altLang="ko-KR" sz="1400" dirty="0" err="1"/>
              <a:t>trong</a:t>
            </a:r>
            <a:r>
              <a:rPr lang="en-US" altLang="ko-KR" sz="1400" dirty="0"/>
              <a:t>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gấp</a:t>
            </a:r>
            <a:r>
              <a:rPr lang="en-US" altLang="ko-KR" sz="1400" dirty="0"/>
              <a:t> 10 </a:t>
            </a:r>
            <a:r>
              <a:rPr lang="en-US" altLang="ko-KR" sz="1400" dirty="0" err="1"/>
              <a:t>lần</a:t>
            </a:r>
            <a:endParaRPr lang="ko-KR" altLang="en-US" sz="1400" dirty="0"/>
          </a:p>
        </p:txBody>
      </p:sp>
      <p:sp>
        <p:nvSpPr>
          <p:cNvPr id="32" name="TextBox 31"/>
          <p:cNvSpPr txBox="1"/>
          <p:nvPr/>
        </p:nvSpPr>
        <p:spPr>
          <a:xfrm>
            <a:off x="611560" y="5355213"/>
            <a:ext cx="8475910" cy="1169551"/>
          </a:xfrm>
          <a:prstGeom prst="rect">
            <a:avLst/>
          </a:prstGeom>
          <a:noFill/>
        </p:spPr>
        <p:txBody>
          <a:bodyPr wrap="none" rtlCol="0">
            <a:spAutoFit/>
          </a:bodyPr>
          <a:lstStyle/>
          <a:p>
            <a:r>
              <a:rPr lang="en-US" altLang="ko-KR" sz="1400" dirty="0" err="1"/>
              <a:t>Giá</a:t>
            </a:r>
            <a:r>
              <a:rPr lang="en-US" altLang="ko-KR" sz="1400" dirty="0"/>
              <a:t> </a:t>
            </a:r>
            <a:r>
              <a:rPr lang="en-US" altLang="ko-KR" sz="1400" dirty="0" err="1"/>
              <a:t>trị</a:t>
            </a:r>
            <a:r>
              <a:rPr lang="en-US" altLang="ko-KR" sz="1400" dirty="0"/>
              <a:t> </a:t>
            </a:r>
            <a:r>
              <a:rPr lang="en-US" altLang="ko-KR" sz="1400" dirty="0" err="1"/>
              <a:t>GageR&amp;R</a:t>
            </a:r>
            <a:r>
              <a:rPr lang="en-US" altLang="ko-KR" sz="1400" dirty="0"/>
              <a:t> </a:t>
            </a:r>
            <a:r>
              <a:rPr lang="en-US" altLang="ko-KR" sz="1400" dirty="0" err="1"/>
              <a:t>không</a:t>
            </a:r>
            <a:r>
              <a:rPr lang="en-US" altLang="ko-KR" sz="1400" dirty="0"/>
              <a:t> </a:t>
            </a:r>
            <a:r>
              <a:rPr lang="en-US" altLang="ko-KR" sz="1400" dirty="0" err="1"/>
              <a:t>thể</a:t>
            </a:r>
            <a:r>
              <a:rPr lang="en-US" altLang="ko-KR" sz="1400" dirty="0"/>
              <a:t> </a:t>
            </a:r>
            <a:r>
              <a:rPr lang="en-US" altLang="ko-KR" sz="1400" dirty="0" err="1"/>
              <a:t>là</a:t>
            </a:r>
            <a:r>
              <a:rPr lang="en-US" altLang="ko-KR" sz="1400" dirty="0"/>
              <a:t> 0. </a:t>
            </a:r>
            <a:r>
              <a:rPr lang="en-US" altLang="ko-KR" sz="1400" dirty="0" err="1"/>
              <a:t>Nếu</a:t>
            </a:r>
            <a:r>
              <a:rPr lang="en-US" altLang="ko-KR" sz="1400" dirty="0"/>
              <a:t> </a:t>
            </a:r>
            <a:r>
              <a:rPr lang="en-US" altLang="ko-KR" sz="1400" dirty="0" err="1"/>
              <a:t>giá</a:t>
            </a:r>
            <a:r>
              <a:rPr lang="en-US" altLang="ko-KR" sz="1400" dirty="0"/>
              <a:t> </a:t>
            </a:r>
            <a:r>
              <a:rPr lang="en-US" altLang="ko-KR" sz="1400" dirty="0" err="1"/>
              <a:t>trị</a:t>
            </a:r>
            <a:r>
              <a:rPr lang="en-US" altLang="ko-KR" sz="1400" dirty="0"/>
              <a:t> Gage R&amp;R </a:t>
            </a:r>
            <a:r>
              <a:rPr lang="en-US" altLang="ko-KR" sz="1400" dirty="0" err="1"/>
              <a:t>không</a:t>
            </a:r>
            <a:r>
              <a:rPr lang="en-US" altLang="ko-KR" sz="1400" dirty="0"/>
              <a:t> </a:t>
            </a:r>
            <a:r>
              <a:rPr lang="en-US" altLang="ko-KR" sz="1400" dirty="0" err="1"/>
              <a:t>phải</a:t>
            </a:r>
            <a:r>
              <a:rPr lang="en-US" altLang="ko-KR" sz="1400" dirty="0"/>
              <a:t> </a:t>
            </a:r>
            <a:r>
              <a:rPr lang="en-US" altLang="ko-KR" sz="1400" dirty="0" err="1"/>
              <a:t>là</a:t>
            </a:r>
            <a:r>
              <a:rPr lang="en-US" altLang="ko-KR" sz="1400" dirty="0"/>
              <a:t> 0 </a:t>
            </a:r>
            <a:r>
              <a:rPr lang="en-US" altLang="ko-KR" sz="1400" dirty="0" err="1"/>
              <a:t>thì</a:t>
            </a:r>
            <a:r>
              <a:rPr lang="en-US" altLang="ko-KR" sz="1400" dirty="0"/>
              <a:t> </a:t>
            </a:r>
            <a:r>
              <a:rPr lang="en-US" altLang="ko-KR" sz="1400" dirty="0" err="1"/>
              <a:t>đường</a:t>
            </a:r>
            <a:r>
              <a:rPr lang="en-US" altLang="ko-KR" sz="1400" dirty="0"/>
              <a:t> cong </a:t>
            </a:r>
            <a:r>
              <a:rPr lang="en-US" altLang="ko-KR" sz="1400" dirty="0" err="1"/>
              <a:t>tính</a:t>
            </a:r>
            <a:r>
              <a:rPr lang="en-US" altLang="ko-KR" sz="1400" dirty="0"/>
              <a:t> </a:t>
            </a:r>
            <a:r>
              <a:rPr lang="en-US" altLang="ko-KR" sz="1400" dirty="0" err="1"/>
              <a:t>năng</a:t>
            </a:r>
            <a:r>
              <a:rPr lang="en-US" altLang="ko-KR" sz="1400" dirty="0"/>
              <a:t> </a:t>
            </a:r>
          </a:p>
          <a:p>
            <a:r>
              <a:rPr lang="en-US" altLang="ko-KR" sz="1400" dirty="0"/>
              <a:t>Gage </a:t>
            </a:r>
            <a:r>
              <a:rPr lang="en-US" altLang="ko-KR" sz="1400" dirty="0" err="1"/>
              <a:t>không</a:t>
            </a:r>
            <a:r>
              <a:rPr lang="en-US" altLang="ko-KR" sz="1400" dirty="0"/>
              <a:t> </a:t>
            </a:r>
            <a:r>
              <a:rPr lang="en-US" altLang="ko-KR" sz="1400" dirty="0" err="1"/>
              <a:t>thể</a:t>
            </a:r>
            <a:r>
              <a:rPr lang="en-US" altLang="ko-KR" sz="1400" dirty="0"/>
              <a:t> </a:t>
            </a:r>
            <a:r>
              <a:rPr lang="en-US" altLang="ko-KR" sz="1400" dirty="0" err="1"/>
              <a:t>nhất</a:t>
            </a:r>
            <a:r>
              <a:rPr lang="en-US" altLang="ko-KR" sz="1400" dirty="0"/>
              <a:t> </a:t>
            </a:r>
            <a:r>
              <a:rPr lang="en-US" altLang="ko-KR" sz="1400" dirty="0" err="1"/>
              <a:t>trí</a:t>
            </a:r>
            <a:r>
              <a:rPr lang="en-US" altLang="ko-KR" sz="1400" dirty="0"/>
              <a:t> </a:t>
            </a:r>
            <a:r>
              <a:rPr lang="en-US" altLang="ko-KR" sz="1400" dirty="0" err="1"/>
              <a:t>một</a:t>
            </a:r>
            <a:r>
              <a:rPr lang="en-US" altLang="ko-KR" sz="1400" dirty="0"/>
              <a:t> </a:t>
            </a:r>
            <a:r>
              <a:rPr lang="en-US" altLang="ko-KR" sz="1400" dirty="0" err="1"/>
              <a:t>cách</a:t>
            </a:r>
            <a:r>
              <a:rPr lang="en-US" altLang="ko-KR" sz="1400" dirty="0"/>
              <a:t> </a:t>
            </a:r>
            <a:r>
              <a:rPr lang="en-US" altLang="ko-KR" sz="1400" dirty="0" err="1"/>
              <a:t>hoàn</a:t>
            </a:r>
            <a:r>
              <a:rPr lang="en-US" altLang="ko-KR" sz="1400" dirty="0"/>
              <a:t> </a:t>
            </a:r>
            <a:r>
              <a:rPr lang="en-US" altLang="ko-KR" sz="1400" dirty="0" err="1"/>
              <a:t>hảo</a:t>
            </a:r>
            <a:r>
              <a:rPr lang="en-US" altLang="ko-KR" sz="1400" dirty="0"/>
              <a:t> </a:t>
            </a:r>
            <a:r>
              <a:rPr lang="en-US" altLang="ko-KR" sz="1400" dirty="0" err="1"/>
              <a:t>với</a:t>
            </a:r>
            <a:r>
              <a:rPr lang="en-US" altLang="ko-KR" sz="1400" dirty="0"/>
              <a:t> UCL, LCL, </a:t>
            </a:r>
            <a:r>
              <a:rPr lang="en-US" altLang="ko-KR" sz="1400" dirty="0" err="1"/>
              <a:t>và</a:t>
            </a:r>
            <a:r>
              <a:rPr lang="en-US" altLang="ko-KR" sz="1400" dirty="0"/>
              <a:t> </a:t>
            </a:r>
            <a:r>
              <a:rPr lang="en-US" altLang="ko-KR" sz="1400" dirty="0" err="1"/>
              <a:t>sẽ</a:t>
            </a:r>
            <a:r>
              <a:rPr lang="en-US" altLang="ko-KR" sz="1400" dirty="0"/>
              <a:t> </a:t>
            </a:r>
            <a:r>
              <a:rPr lang="en-US" altLang="ko-KR" sz="1400" dirty="0" err="1"/>
              <a:t>dần</a:t>
            </a:r>
            <a:r>
              <a:rPr lang="en-US" altLang="ko-KR" sz="1400" dirty="0"/>
              <a:t> </a:t>
            </a:r>
            <a:r>
              <a:rPr lang="en-US" altLang="ko-KR" sz="1400" dirty="0" err="1"/>
              <a:t>dốc</a:t>
            </a:r>
            <a:r>
              <a:rPr lang="en-US" altLang="ko-KR" sz="1400" dirty="0"/>
              <a:t> </a:t>
            </a:r>
            <a:r>
              <a:rPr lang="en-US" altLang="ko-KR" sz="1400" dirty="0" err="1"/>
              <a:t>ngang</a:t>
            </a:r>
            <a:r>
              <a:rPr lang="en-US" altLang="ko-KR" sz="1400" dirty="0"/>
              <a:t> </a:t>
            </a:r>
            <a:r>
              <a:rPr lang="en-US" altLang="ko-KR" sz="1400" dirty="0" err="1"/>
              <a:t>khi</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của</a:t>
            </a:r>
            <a:r>
              <a:rPr lang="en-US" altLang="ko-KR" sz="1400" dirty="0"/>
              <a:t> Gage </a:t>
            </a:r>
          </a:p>
          <a:p>
            <a:r>
              <a:rPr lang="en-US" altLang="ko-KR" sz="1400" dirty="0"/>
              <a:t>R&amp;R </a:t>
            </a:r>
            <a:r>
              <a:rPr lang="en-US" altLang="ko-KR" sz="1400" dirty="0" err="1"/>
              <a:t>xấu</a:t>
            </a:r>
            <a:r>
              <a:rPr lang="en-US" altLang="ko-KR" sz="1400" dirty="0"/>
              <a:t> </a:t>
            </a:r>
            <a:r>
              <a:rPr lang="en-US" altLang="ko-KR" sz="1400" dirty="0" err="1"/>
              <a:t>đi</a:t>
            </a:r>
            <a:r>
              <a:rPr lang="en-US" altLang="ko-KR" sz="1400" dirty="0"/>
              <a:t>. </a:t>
            </a:r>
            <a:r>
              <a:rPr lang="en-US" altLang="ko-KR" sz="1400" dirty="0" err="1"/>
              <a:t>Vì</a:t>
            </a:r>
            <a:r>
              <a:rPr lang="en-US" altLang="ko-KR" sz="1400" dirty="0"/>
              <a:t> </a:t>
            </a:r>
            <a:r>
              <a:rPr lang="en-US" altLang="ko-KR" sz="1400" dirty="0" err="1"/>
              <a:t>vậy</a:t>
            </a:r>
            <a:r>
              <a:rPr lang="en-US" altLang="ko-KR" sz="1400" dirty="0"/>
              <a:t> </a:t>
            </a:r>
            <a:r>
              <a:rPr lang="en-US" altLang="ko-KR" sz="1400" dirty="0" err="1"/>
              <a:t>nếu</a:t>
            </a:r>
            <a:r>
              <a:rPr lang="en-US" altLang="ko-KR" sz="1400" dirty="0"/>
              <a:t> </a:t>
            </a:r>
            <a:r>
              <a:rPr lang="en-US" altLang="ko-KR" sz="1400" dirty="0" err="1"/>
              <a:t>Giá</a:t>
            </a:r>
            <a:r>
              <a:rPr lang="en-US" altLang="ko-KR" sz="1400" dirty="0"/>
              <a:t> </a:t>
            </a:r>
            <a:r>
              <a:rPr lang="en-US" altLang="ko-KR" sz="1400" dirty="0" err="1"/>
              <a:t>trị</a:t>
            </a:r>
            <a:r>
              <a:rPr lang="en-US" altLang="ko-KR" sz="1400" dirty="0"/>
              <a:t> Gage R&amp;R </a:t>
            </a:r>
            <a:r>
              <a:rPr lang="en-US" altLang="ko-KR" sz="1400" dirty="0" err="1"/>
              <a:t>xấu</a:t>
            </a:r>
            <a:r>
              <a:rPr lang="en-US" altLang="ko-KR" sz="1400" dirty="0"/>
              <a:t> </a:t>
            </a:r>
            <a:r>
              <a:rPr lang="en-US" altLang="ko-KR" sz="1400" dirty="0" err="1"/>
              <a:t>đi</a:t>
            </a:r>
            <a:r>
              <a:rPr lang="en-US" altLang="ko-KR" sz="1400" dirty="0"/>
              <a:t>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loại</a:t>
            </a:r>
            <a:r>
              <a:rPr lang="en-US" altLang="ko-KR" sz="1400" dirty="0"/>
              <a:t> 1 </a:t>
            </a:r>
            <a:r>
              <a:rPr lang="en-US" altLang="ko-KR" sz="1400" dirty="0" err="1"/>
              <a:t>và</a:t>
            </a:r>
            <a:r>
              <a:rPr lang="en-US" altLang="ko-KR" sz="1400" dirty="0"/>
              <a:t>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loại</a:t>
            </a:r>
            <a:r>
              <a:rPr lang="en-US" altLang="ko-KR" sz="1400" dirty="0"/>
              <a:t> 2 </a:t>
            </a:r>
            <a:r>
              <a:rPr lang="en-US" altLang="ko-KR" sz="1400" dirty="0" err="1"/>
              <a:t>sẽ</a:t>
            </a:r>
            <a:r>
              <a:rPr lang="en-US" altLang="ko-KR" sz="1400" dirty="0"/>
              <a:t> </a:t>
            </a:r>
            <a:r>
              <a:rPr lang="en-US" altLang="ko-KR" sz="1400" dirty="0" err="1"/>
              <a:t>xảy</a:t>
            </a:r>
            <a:r>
              <a:rPr lang="en-US" altLang="ko-KR" sz="1400" dirty="0"/>
              <a:t> </a:t>
            </a:r>
            <a:r>
              <a:rPr lang="en-US" altLang="ko-KR" sz="1400" dirty="0" err="1"/>
              <a:t>ra</a:t>
            </a:r>
            <a:r>
              <a:rPr lang="en-US" altLang="ko-KR" sz="1400" dirty="0"/>
              <a:t> </a:t>
            </a:r>
            <a:r>
              <a:rPr lang="en-US" altLang="ko-KR" sz="1400" dirty="0" err="1"/>
              <a:t>đồng</a:t>
            </a:r>
            <a:r>
              <a:rPr lang="en-US" altLang="ko-KR" sz="1400" dirty="0"/>
              <a:t> </a:t>
            </a:r>
            <a:r>
              <a:rPr lang="en-US" altLang="ko-KR" sz="1400" dirty="0" err="1"/>
              <a:t>thời</a:t>
            </a:r>
            <a:endParaRPr lang="en-US" altLang="ko-KR" sz="1400" dirty="0"/>
          </a:p>
          <a:p>
            <a:r>
              <a:rPr lang="en-US" altLang="ko-KR" sz="1400" dirty="0" err="1"/>
              <a:t>nếu</a:t>
            </a:r>
            <a:r>
              <a:rPr lang="en-US" altLang="ko-KR" sz="1400" dirty="0"/>
              <a:t> </a:t>
            </a:r>
            <a:r>
              <a:rPr lang="en-US" altLang="ko-KR" sz="1400" dirty="0" err="1"/>
              <a:t>quá</a:t>
            </a:r>
            <a:r>
              <a:rPr lang="en-US" altLang="ko-KR" sz="1400" dirty="0"/>
              <a:t> 10% </a:t>
            </a:r>
            <a:r>
              <a:rPr lang="en-US" altLang="ko-KR" sz="1400" dirty="0" err="1"/>
              <a:t>thì</a:t>
            </a:r>
            <a:r>
              <a:rPr lang="en-US" altLang="ko-KR" sz="1400" dirty="0"/>
              <a:t>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sẽ</a:t>
            </a:r>
            <a:r>
              <a:rPr lang="en-US" altLang="ko-KR" sz="1400" dirty="0"/>
              <a:t> </a:t>
            </a:r>
            <a:r>
              <a:rPr lang="en-US" altLang="ko-KR" sz="1400" dirty="0" err="1"/>
              <a:t>bắt</a:t>
            </a:r>
            <a:r>
              <a:rPr lang="en-US" altLang="ko-KR" sz="1400" dirty="0"/>
              <a:t> </a:t>
            </a:r>
            <a:r>
              <a:rPr lang="en-US" altLang="ko-KR" sz="1400" dirty="0" err="1"/>
              <a:t>đầu</a:t>
            </a:r>
            <a:r>
              <a:rPr lang="en-US" altLang="ko-KR" sz="1400" dirty="0"/>
              <a:t> </a:t>
            </a:r>
            <a:r>
              <a:rPr lang="en-US" altLang="ko-KR" sz="1400" dirty="0" err="1"/>
              <a:t>xấu</a:t>
            </a:r>
            <a:r>
              <a:rPr lang="en-US" altLang="ko-KR" sz="1400" dirty="0"/>
              <a:t> </a:t>
            </a:r>
            <a:r>
              <a:rPr lang="en-US" altLang="ko-KR" sz="1400" dirty="0" err="1"/>
              <a:t>đi</a:t>
            </a:r>
            <a:r>
              <a:rPr lang="en-US" altLang="ko-KR" sz="1400" dirty="0"/>
              <a:t>, </a:t>
            </a:r>
            <a:r>
              <a:rPr lang="en-US" altLang="ko-KR" sz="1400" dirty="0" err="1"/>
              <a:t>nếu</a:t>
            </a:r>
            <a:r>
              <a:rPr lang="en-US" altLang="ko-KR" sz="1400" dirty="0"/>
              <a:t> </a:t>
            </a:r>
            <a:r>
              <a:rPr lang="en-US" altLang="ko-KR" sz="1400" dirty="0" err="1"/>
              <a:t>quá</a:t>
            </a:r>
            <a:r>
              <a:rPr lang="en-US" altLang="ko-KR" sz="1400" dirty="0"/>
              <a:t> 30%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sản</a:t>
            </a:r>
            <a:endParaRPr lang="en-US" altLang="ko-KR" sz="1400" dirty="0"/>
          </a:p>
          <a:p>
            <a:r>
              <a:rPr lang="en-US" altLang="ko-KR" sz="1400" dirty="0"/>
              <a:t> </a:t>
            </a:r>
            <a:r>
              <a:rPr lang="en-US" altLang="ko-KR" sz="1400" dirty="0" err="1"/>
              <a:t>xuất</a:t>
            </a:r>
            <a:r>
              <a:rPr lang="en-US" altLang="ko-KR" sz="1400" dirty="0"/>
              <a:t> </a:t>
            </a:r>
            <a:r>
              <a:rPr lang="en-US" altLang="ko-KR" sz="1400" dirty="0" err="1"/>
              <a:t>và</a:t>
            </a:r>
            <a:r>
              <a:rPr lang="en-US" altLang="ko-KR" sz="1400" dirty="0"/>
              <a:t> </a:t>
            </a:r>
            <a:r>
              <a:rPr lang="en-US" altLang="ko-KR" sz="1400" dirty="0" err="1"/>
              <a:t>sai</a:t>
            </a:r>
            <a:r>
              <a:rPr lang="en-US" altLang="ko-KR" sz="1400" dirty="0"/>
              <a:t> </a:t>
            </a:r>
            <a:r>
              <a:rPr lang="en-US" altLang="ko-KR" sz="1400" dirty="0" err="1"/>
              <a:t>sót</a:t>
            </a:r>
            <a:r>
              <a:rPr lang="en-US" altLang="ko-KR" sz="1400" dirty="0"/>
              <a:t> </a:t>
            </a:r>
            <a:r>
              <a:rPr lang="en-US" altLang="ko-KR" sz="1400" dirty="0" err="1"/>
              <a:t>của</a:t>
            </a:r>
            <a:r>
              <a:rPr lang="en-US" altLang="ko-KR" sz="1400" dirty="0"/>
              <a:t> </a:t>
            </a:r>
            <a:r>
              <a:rPr lang="en-US" altLang="ko-KR" sz="1400" dirty="0" err="1"/>
              <a:t>người</a:t>
            </a:r>
            <a:r>
              <a:rPr lang="en-US" altLang="ko-KR" sz="1400" dirty="0"/>
              <a:t> </a:t>
            </a:r>
            <a:r>
              <a:rPr lang="en-US" altLang="ko-KR" sz="1400" dirty="0" err="1"/>
              <a:t>tiêu</a:t>
            </a:r>
            <a:r>
              <a:rPr lang="en-US" altLang="ko-KR" sz="1400" dirty="0"/>
              <a:t> </a:t>
            </a:r>
            <a:r>
              <a:rPr lang="en-US" altLang="ko-KR" sz="1400" dirty="0" err="1"/>
              <a:t>thụ</a:t>
            </a:r>
            <a:r>
              <a:rPr lang="en-US" altLang="ko-KR" sz="1400" dirty="0"/>
              <a:t> </a:t>
            </a:r>
            <a:r>
              <a:rPr lang="en-US" altLang="ko-KR" sz="1400" dirty="0" err="1"/>
              <a:t>sẽ</a:t>
            </a:r>
            <a:r>
              <a:rPr lang="en-US" altLang="ko-KR" sz="1400" dirty="0"/>
              <a:t> </a:t>
            </a:r>
            <a:r>
              <a:rPr lang="en-US" altLang="ko-KR" sz="1400" dirty="0" err="1"/>
              <a:t>bị</a:t>
            </a:r>
            <a:r>
              <a:rPr lang="en-US" altLang="ko-KR" sz="1400" dirty="0"/>
              <a:t> </a:t>
            </a:r>
            <a:r>
              <a:rPr lang="en-US" altLang="ko-KR" sz="1400" dirty="0" err="1"/>
              <a:t>xấu</a:t>
            </a:r>
            <a:r>
              <a:rPr lang="en-US" altLang="ko-KR" sz="1400" dirty="0"/>
              <a:t> </a:t>
            </a:r>
            <a:r>
              <a:rPr lang="en-US" altLang="ko-KR" sz="1400" dirty="0" err="1"/>
              <a:t>đi</a:t>
            </a:r>
            <a:r>
              <a:rPr lang="en-US" altLang="ko-KR" sz="1400" dirty="0"/>
              <a:t> </a:t>
            </a:r>
            <a:r>
              <a:rPr lang="en-US" altLang="ko-KR" sz="1400" dirty="0" err="1"/>
              <a:t>một</a:t>
            </a:r>
            <a:r>
              <a:rPr lang="en-US" altLang="ko-KR" sz="1400" dirty="0"/>
              <a:t> </a:t>
            </a:r>
            <a:r>
              <a:rPr lang="en-US" altLang="ko-KR" sz="1400" dirty="0" err="1"/>
              <a:t>cách</a:t>
            </a:r>
            <a:r>
              <a:rPr lang="en-US" altLang="ko-KR" sz="1400" dirty="0"/>
              <a:t> </a:t>
            </a:r>
            <a:r>
              <a:rPr lang="en-US" altLang="ko-KR" sz="1400" dirty="0" err="1"/>
              <a:t>đột</a:t>
            </a:r>
            <a:r>
              <a:rPr lang="en-US" altLang="ko-KR" sz="1400" dirty="0"/>
              <a:t> </a:t>
            </a:r>
            <a:r>
              <a:rPr lang="en-US" altLang="ko-KR" sz="1400" dirty="0" err="1"/>
              <a:t>biến</a:t>
            </a:r>
            <a:r>
              <a:rPr lang="en-US" altLang="ko-KR" sz="1400" dirty="0"/>
              <a:t>.</a:t>
            </a:r>
            <a:endParaRPr lang="ko-KR" altLang="en-US" sz="1400" dirty="0"/>
          </a:p>
        </p:txBody>
      </p:sp>
      <p:sp>
        <p:nvSpPr>
          <p:cNvPr id="34" name="TextBox 33"/>
          <p:cNvSpPr txBox="1"/>
          <p:nvPr/>
        </p:nvSpPr>
        <p:spPr>
          <a:xfrm>
            <a:off x="179512" y="148570"/>
            <a:ext cx="3968843"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35" name="직사각형 34"/>
          <p:cNvSpPr/>
          <p:nvPr/>
        </p:nvSpPr>
        <p:spPr>
          <a:xfrm>
            <a:off x="6084168"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183801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95</a:t>
            </a:fld>
            <a:endParaRPr lang="ko-KR" altLang="en-US" dirty="0"/>
          </a:p>
        </p:txBody>
      </p:sp>
      <p:sp>
        <p:nvSpPr>
          <p:cNvPr id="4" name="TextBox 3"/>
          <p:cNvSpPr txBox="1"/>
          <p:nvPr/>
        </p:nvSpPr>
        <p:spPr>
          <a:xfrm>
            <a:off x="611560" y="838453"/>
            <a:ext cx="6753772" cy="646331"/>
          </a:xfrm>
          <a:prstGeom prst="rect">
            <a:avLst/>
          </a:prstGeom>
          <a:noFill/>
        </p:spPr>
        <p:txBody>
          <a:bodyPr wrap="none" rtlCol="0">
            <a:spAutoFit/>
          </a:bodyPr>
          <a:lstStyle/>
          <a:p>
            <a:r>
              <a:rPr lang="en-US" altLang="ko-KR" dirty="0"/>
              <a:t>3.  </a:t>
            </a:r>
            <a:r>
              <a:rPr lang="en-US" altLang="ko-KR" dirty="0" err="1"/>
              <a:t>Kết</a:t>
            </a:r>
            <a:r>
              <a:rPr lang="en-US" altLang="ko-KR" dirty="0"/>
              <a:t> </a:t>
            </a:r>
            <a:r>
              <a:rPr lang="en-US" altLang="ko-KR" dirty="0" err="1"/>
              <a:t>quả</a:t>
            </a:r>
            <a:r>
              <a:rPr lang="en-US" altLang="ko-KR" dirty="0"/>
              <a:t> </a:t>
            </a:r>
            <a:r>
              <a:rPr lang="en-US" altLang="ko-KR" dirty="0" err="1"/>
              <a:t>của</a:t>
            </a:r>
            <a:r>
              <a:rPr lang="en-US" altLang="ko-KR" dirty="0"/>
              <a:t> Gage R&amp;R</a:t>
            </a:r>
            <a:r>
              <a:rPr lang="ko-KR" altLang="en-US" dirty="0"/>
              <a:t> </a:t>
            </a:r>
            <a:r>
              <a:rPr lang="en-US" altLang="ko-KR" dirty="0" err="1"/>
              <a:t>là</a:t>
            </a:r>
            <a:r>
              <a:rPr lang="en-US" altLang="ko-KR" dirty="0"/>
              <a:t> 20%.  </a:t>
            </a:r>
            <a:r>
              <a:rPr lang="en-US" altLang="ko-KR" dirty="0" err="1"/>
              <a:t>Gọi</a:t>
            </a:r>
            <a:r>
              <a:rPr lang="en-US" altLang="ko-KR" dirty="0"/>
              <a:t> </a:t>
            </a:r>
            <a:r>
              <a:rPr lang="en-US" altLang="ko-KR" dirty="0" err="1"/>
              <a:t>là</a:t>
            </a:r>
            <a:r>
              <a:rPr lang="en-US" altLang="ko-KR" dirty="0"/>
              <a:t> </a:t>
            </a:r>
            <a:r>
              <a:rPr lang="en-US" altLang="ko-KR" dirty="0" err="1"/>
              <a:t>Có</a:t>
            </a:r>
            <a:r>
              <a:rPr lang="en-US" altLang="ko-KR" dirty="0"/>
              <a:t> </a:t>
            </a:r>
            <a:r>
              <a:rPr lang="en-US" altLang="ko-KR" dirty="0" err="1"/>
              <a:t>điều</a:t>
            </a:r>
            <a:r>
              <a:rPr lang="en-US" altLang="ko-KR" dirty="0"/>
              <a:t> </a:t>
            </a:r>
            <a:r>
              <a:rPr lang="en-US" altLang="ko-KR" dirty="0" err="1"/>
              <a:t>kiện</a:t>
            </a:r>
            <a:r>
              <a:rPr lang="en-US" altLang="ko-KR" dirty="0"/>
              <a:t> Accept</a:t>
            </a:r>
          </a:p>
          <a:p>
            <a:r>
              <a:rPr lang="en-US" altLang="ko-KR" dirty="0"/>
              <a:t>    </a:t>
            </a:r>
            <a:r>
              <a:rPr lang="en-US" altLang="ko-KR" dirty="0" err="1"/>
              <a:t>Vậy</a:t>
            </a:r>
            <a:r>
              <a:rPr lang="en-US" altLang="ko-KR" dirty="0"/>
              <a:t> Accept </a:t>
            </a:r>
            <a:r>
              <a:rPr lang="en-US" altLang="ko-KR" dirty="0" err="1"/>
              <a:t>có</a:t>
            </a:r>
            <a:r>
              <a:rPr lang="en-US" altLang="ko-KR" dirty="0"/>
              <a:t> </a:t>
            </a:r>
            <a:r>
              <a:rPr lang="en-US" altLang="ko-KR" dirty="0" err="1"/>
              <a:t>điều</a:t>
            </a:r>
            <a:r>
              <a:rPr lang="en-US" altLang="ko-KR" dirty="0"/>
              <a:t> </a:t>
            </a:r>
            <a:r>
              <a:rPr lang="en-US" altLang="ko-KR" dirty="0" err="1"/>
              <a:t>kiện</a:t>
            </a:r>
            <a:r>
              <a:rPr lang="en-US" altLang="ko-KR" dirty="0"/>
              <a:t> </a:t>
            </a:r>
            <a:r>
              <a:rPr lang="en-US" altLang="ko-KR" dirty="0" err="1"/>
              <a:t>là</a:t>
            </a:r>
            <a:r>
              <a:rPr lang="en-US" altLang="ko-KR" dirty="0"/>
              <a:t> </a:t>
            </a:r>
            <a:r>
              <a:rPr lang="en-US" altLang="ko-KR" dirty="0" err="1"/>
              <a:t>gì</a:t>
            </a:r>
            <a:r>
              <a:rPr lang="en-US" altLang="ko-KR" dirty="0"/>
              <a:t>?  </a:t>
            </a:r>
            <a:endParaRPr lang="ko-KR" altLang="en-US" dirty="0"/>
          </a:p>
        </p:txBody>
      </p:sp>
      <p:cxnSp>
        <p:nvCxnSpPr>
          <p:cNvPr id="5" name="직선 연결선 4"/>
          <p:cNvCxnSpPr/>
          <p:nvPr/>
        </p:nvCxnSpPr>
        <p:spPr>
          <a:xfrm>
            <a:off x="1609800" y="4417367"/>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3554016" y="4417367"/>
            <a:ext cx="0" cy="18722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1177752" y="6217567"/>
            <a:ext cx="2808312"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자유형 7"/>
          <p:cNvSpPr/>
          <p:nvPr/>
        </p:nvSpPr>
        <p:spPr>
          <a:xfrm>
            <a:off x="912642" y="4598503"/>
            <a:ext cx="3452326" cy="1632857"/>
          </a:xfrm>
          <a:custGeom>
            <a:avLst/>
            <a:gdLst>
              <a:gd name="connsiteX0" fmla="*/ 0 w 3452326"/>
              <a:gd name="connsiteY0" fmla="*/ 1623526 h 1632857"/>
              <a:gd name="connsiteX1" fmla="*/ 419877 w 3452326"/>
              <a:gd name="connsiteY1" fmla="*/ 1623526 h 1632857"/>
              <a:gd name="connsiteX2" fmla="*/ 961053 w 3452326"/>
              <a:gd name="connsiteY2" fmla="*/ 0 h 1632857"/>
              <a:gd name="connsiteX3" fmla="*/ 2360645 w 3452326"/>
              <a:gd name="connsiteY3" fmla="*/ 0 h 1632857"/>
              <a:gd name="connsiteX4" fmla="*/ 2976465 w 3452326"/>
              <a:gd name="connsiteY4" fmla="*/ 1632857 h 1632857"/>
              <a:gd name="connsiteX5" fmla="*/ 3452326 w 3452326"/>
              <a:gd name="connsiteY5" fmla="*/ 1623526 h 1632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2326" h="1632857">
                <a:moveTo>
                  <a:pt x="0" y="1623526"/>
                </a:moveTo>
                <a:lnTo>
                  <a:pt x="419877" y="1623526"/>
                </a:lnTo>
                <a:lnTo>
                  <a:pt x="961053" y="0"/>
                </a:lnTo>
                <a:lnTo>
                  <a:pt x="2360645" y="0"/>
                </a:lnTo>
                <a:lnTo>
                  <a:pt x="2976465" y="1632857"/>
                </a:lnTo>
                <a:lnTo>
                  <a:pt x="3452326" y="1623526"/>
                </a:ln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p:cNvSpPr txBox="1"/>
          <p:nvPr/>
        </p:nvSpPr>
        <p:spPr>
          <a:xfrm>
            <a:off x="1359092" y="6361583"/>
            <a:ext cx="455574" cy="307777"/>
          </a:xfrm>
          <a:prstGeom prst="rect">
            <a:avLst/>
          </a:prstGeom>
          <a:noFill/>
        </p:spPr>
        <p:txBody>
          <a:bodyPr wrap="none" rtlCol="0">
            <a:spAutoFit/>
          </a:bodyPr>
          <a:lstStyle/>
          <a:p>
            <a:r>
              <a:rPr lang="en-US" altLang="ko-KR" sz="1400" dirty="0"/>
              <a:t>LSL</a:t>
            </a:r>
            <a:endParaRPr lang="ko-KR" altLang="en-US" sz="1400" dirty="0"/>
          </a:p>
        </p:txBody>
      </p:sp>
      <p:sp>
        <p:nvSpPr>
          <p:cNvPr id="11" name="TextBox 10"/>
          <p:cNvSpPr txBox="1"/>
          <p:nvPr/>
        </p:nvSpPr>
        <p:spPr>
          <a:xfrm>
            <a:off x="3337992" y="6361583"/>
            <a:ext cx="495649" cy="307777"/>
          </a:xfrm>
          <a:prstGeom prst="rect">
            <a:avLst/>
          </a:prstGeom>
          <a:noFill/>
        </p:spPr>
        <p:txBody>
          <a:bodyPr wrap="none" rtlCol="0">
            <a:spAutoFit/>
          </a:bodyPr>
          <a:lstStyle/>
          <a:p>
            <a:r>
              <a:rPr lang="en-US" altLang="ko-KR" sz="1400" dirty="0"/>
              <a:t>USL</a:t>
            </a:r>
            <a:endParaRPr lang="ko-KR" altLang="en-US" sz="1400" dirty="0"/>
          </a:p>
        </p:txBody>
      </p:sp>
      <p:cxnSp>
        <p:nvCxnSpPr>
          <p:cNvPr id="15" name="직선 연결선 14"/>
          <p:cNvCxnSpPr/>
          <p:nvPr/>
        </p:nvCxnSpPr>
        <p:spPr>
          <a:xfrm>
            <a:off x="1460322" y="4605398"/>
            <a:ext cx="2376264"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812470" y="4057327"/>
            <a:ext cx="2340705" cy="307777"/>
          </a:xfrm>
          <a:prstGeom prst="rect">
            <a:avLst/>
          </a:prstGeom>
          <a:noFill/>
        </p:spPr>
        <p:txBody>
          <a:bodyPr wrap="none" rtlCol="0">
            <a:spAutoFit/>
          </a:bodyPr>
          <a:lstStyle/>
          <a:p>
            <a:r>
              <a:rPr lang="en-US" altLang="ko-KR" sz="1400" u="sng" dirty="0" err="1"/>
              <a:t>đường</a:t>
            </a:r>
            <a:r>
              <a:rPr lang="en-US" altLang="ko-KR" sz="1400" u="sng" dirty="0"/>
              <a:t> cong </a:t>
            </a:r>
            <a:r>
              <a:rPr lang="en-US" altLang="ko-KR" sz="1400" u="sng" dirty="0" err="1"/>
              <a:t>tính</a:t>
            </a:r>
            <a:r>
              <a:rPr lang="en-US" altLang="ko-KR" sz="1400" u="sng" dirty="0"/>
              <a:t> </a:t>
            </a:r>
            <a:r>
              <a:rPr lang="en-US" altLang="ko-KR" sz="1400" u="sng" dirty="0" err="1"/>
              <a:t>năng</a:t>
            </a:r>
            <a:r>
              <a:rPr lang="en-US" altLang="ko-KR" sz="1400" u="sng" dirty="0"/>
              <a:t> </a:t>
            </a:r>
            <a:r>
              <a:rPr lang="en-US" altLang="ko-KR" sz="1400" u="sng" dirty="0" err="1"/>
              <a:t>đo</a:t>
            </a:r>
            <a:endParaRPr lang="ko-KR" altLang="en-US" sz="1400" u="sng" dirty="0"/>
          </a:p>
        </p:txBody>
      </p:sp>
      <p:sp>
        <p:nvSpPr>
          <p:cNvPr id="21" name="TextBox 20"/>
          <p:cNvSpPr txBox="1"/>
          <p:nvPr/>
        </p:nvSpPr>
        <p:spPr>
          <a:xfrm>
            <a:off x="467544" y="1611377"/>
            <a:ext cx="8606843" cy="523220"/>
          </a:xfrm>
          <a:prstGeom prst="rect">
            <a:avLst/>
          </a:prstGeom>
          <a:noFill/>
        </p:spPr>
        <p:txBody>
          <a:bodyPr wrap="none" rtlCol="0">
            <a:spAutoFit/>
          </a:bodyPr>
          <a:lstStyle/>
          <a:p>
            <a:r>
              <a:rPr lang="en-US" altLang="ko-KR" sz="1400" dirty="0" err="1"/>
              <a:t>Gọi</a:t>
            </a:r>
            <a:r>
              <a:rPr lang="en-US" altLang="ko-KR" sz="1400" dirty="0"/>
              <a:t> </a:t>
            </a:r>
            <a:r>
              <a:rPr lang="en-US" altLang="ko-KR" sz="1400" dirty="0" err="1"/>
              <a:t>là</a:t>
            </a:r>
            <a:r>
              <a:rPr lang="en-US" altLang="ko-KR" sz="1400" dirty="0"/>
              <a:t> Accept </a:t>
            </a:r>
            <a:r>
              <a:rPr lang="en-US" altLang="ko-KR" sz="1400" dirty="0" err="1"/>
              <a:t>có</a:t>
            </a:r>
            <a:r>
              <a:rPr lang="en-US" altLang="ko-KR" sz="1400" dirty="0"/>
              <a:t> </a:t>
            </a:r>
            <a:r>
              <a:rPr lang="en-US" altLang="ko-KR" sz="1400" dirty="0" err="1"/>
              <a:t>điều</a:t>
            </a:r>
            <a:r>
              <a:rPr lang="en-US" altLang="ko-KR" sz="1400" dirty="0"/>
              <a:t> </a:t>
            </a:r>
            <a:r>
              <a:rPr lang="en-US" altLang="ko-KR" sz="1400" dirty="0" err="1"/>
              <a:t>kiện</a:t>
            </a:r>
            <a:r>
              <a:rPr lang="en-US" altLang="ko-KR" sz="1400" dirty="0"/>
              <a:t>. </a:t>
            </a:r>
            <a:r>
              <a:rPr lang="en-US" altLang="ko-KR" sz="1400" dirty="0" err="1"/>
              <a:t>Có</a:t>
            </a:r>
            <a:r>
              <a:rPr lang="en-US" altLang="ko-KR" sz="1400" dirty="0"/>
              <a:t> </a:t>
            </a:r>
            <a:r>
              <a:rPr lang="en-US" altLang="ko-KR" sz="1400" dirty="0" err="1"/>
              <a:t>nghĩa</a:t>
            </a:r>
            <a:r>
              <a:rPr lang="en-US" altLang="ko-KR" sz="1400" dirty="0"/>
              <a:t> </a:t>
            </a:r>
            <a:r>
              <a:rPr lang="en-US" altLang="ko-KR" sz="1400" dirty="0" err="1"/>
              <a:t>là</a:t>
            </a:r>
            <a:r>
              <a:rPr lang="en-US" altLang="ko-KR" sz="1400" dirty="0"/>
              <a:t> </a:t>
            </a:r>
            <a:r>
              <a:rPr lang="en-US" altLang="ko-KR" sz="1400" dirty="0" err="1"/>
              <a:t>hiện</a:t>
            </a:r>
            <a:r>
              <a:rPr lang="en-US" altLang="ko-KR" sz="1400" dirty="0"/>
              <a:t> </a:t>
            </a:r>
            <a:r>
              <a:rPr lang="en-US" altLang="ko-KR" sz="1400" dirty="0" err="1"/>
              <a:t>tại</a:t>
            </a:r>
            <a:r>
              <a:rPr lang="en-US" altLang="ko-KR" sz="1400" dirty="0"/>
              <a:t> </a:t>
            </a:r>
            <a:r>
              <a:rPr lang="en-US" altLang="ko-KR" sz="1400" dirty="0" err="1"/>
              <a:t>dụng</a:t>
            </a:r>
            <a:r>
              <a:rPr lang="en-US" altLang="ko-KR" sz="1400" dirty="0"/>
              <a:t> </a:t>
            </a:r>
            <a:r>
              <a:rPr lang="en-US" altLang="ko-KR" sz="1400" dirty="0" err="1"/>
              <a:t>cụ</a:t>
            </a:r>
            <a:r>
              <a:rPr lang="en-US" altLang="ko-KR" sz="1400" dirty="0"/>
              <a:t> </a:t>
            </a:r>
            <a:r>
              <a:rPr lang="en-US" altLang="ko-KR" sz="1400" dirty="0" err="1"/>
              <a:t>đo</a:t>
            </a:r>
            <a:r>
              <a:rPr lang="en-US" altLang="ko-KR" sz="1400" dirty="0"/>
              <a:t> </a:t>
            </a:r>
            <a:r>
              <a:rPr lang="en-US" altLang="ko-KR" sz="1400" dirty="0" err="1"/>
              <a:t>không</a:t>
            </a:r>
            <a:r>
              <a:rPr lang="en-US" altLang="ko-KR" sz="1400" dirty="0"/>
              <a:t> </a:t>
            </a:r>
            <a:r>
              <a:rPr lang="en-US" altLang="ko-KR" sz="1400" dirty="0" err="1"/>
              <a:t>phù</a:t>
            </a:r>
            <a:r>
              <a:rPr lang="en-US" altLang="ko-KR" sz="1400" dirty="0"/>
              <a:t> </a:t>
            </a:r>
            <a:r>
              <a:rPr lang="en-US" altLang="ko-KR" sz="1400" dirty="0" err="1"/>
              <a:t>hợp</a:t>
            </a:r>
            <a:r>
              <a:rPr lang="en-US" altLang="ko-KR" sz="1400" dirty="0"/>
              <a:t> </a:t>
            </a:r>
            <a:r>
              <a:rPr lang="en-US" altLang="ko-KR" sz="1400" dirty="0" err="1"/>
              <a:t>nhưng</a:t>
            </a:r>
            <a:r>
              <a:rPr lang="en-US" altLang="ko-KR" sz="1400" dirty="0"/>
              <a:t> </a:t>
            </a:r>
            <a:r>
              <a:rPr lang="en-US" altLang="ko-KR" sz="1400" dirty="0" err="1"/>
              <a:t>sẽ</a:t>
            </a:r>
            <a:r>
              <a:rPr lang="en-US" altLang="ko-KR" sz="1400" dirty="0"/>
              <a:t> </a:t>
            </a:r>
            <a:r>
              <a:rPr lang="en-US" altLang="ko-KR" sz="1400" dirty="0" err="1"/>
              <a:t>thực</a:t>
            </a:r>
            <a:r>
              <a:rPr lang="en-US" altLang="ko-KR" sz="1400" dirty="0"/>
              <a:t> </a:t>
            </a:r>
            <a:r>
              <a:rPr lang="en-US" altLang="ko-KR" sz="1400" dirty="0" err="1"/>
              <a:t>hiện</a:t>
            </a:r>
            <a:r>
              <a:rPr lang="en-US" altLang="ko-KR" sz="1400" dirty="0"/>
              <a:t> </a:t>
            </a:r>
            <a:r>
              <a:rPr lang="en-US" altLang="ko-KR" sz="1400" dirty="0" err="1"/>
              <a:t>thêm</a:t>
            </a:r>
            <a:endParaRPr lang="en-US" altLang="ko-KR" sz="1400" dirty="0"/>
          </a:p>
          <a:p>
            <a:r>
              <a:rPr lang="en-US" altLang="ko-KR" sz="1400" dirty="0" err="1"/>
              <a:t>những</a:t>
            </a:r>
            <a:r>
              <a:rPr lang="en-US" altLang="ko-KR" sz="1400" dirty="0"/>
              <a:t> </a:t>
            </a:r>
            <a:r>
              <a:rPr lang="en-US" altLang="ko-KR" sz="1400" dirty="0" err="1"/>
              <a:t>hoạt</a:t>
            </a:r>
            <a:r>
              <a:rPr lang="en-US" altLang="ko-KR" sz="1400" dirty="0"/>
              <a:t> </a:t>
            </a:r>
            <a:r>
              <a:rPr lang="en-US" altLang="ko-KR" sz="1400" dirty="0" err="1"/>
              <a:t>động</a:t>
            </a:r>
            <a:r>
              <a:rPr lang="en-US" altLang="ko-KR" sz="1400" dirty="0"/>
              <a:t> </a:t>
            </a:r>
            <a:r>
              <a:rPr lang="en-US" altLang="ko-KR" sz="1400" dirty="0" err="1"/>
              <a:t>để</a:t>
            </a:r>
            <a:r>
              <a:rPr lang="en-US" altLang="ko-KR" sz="1400" dirty="0"/>
              <a:t> </a:t>
            </a:r>
            <a:r>
              <a:rPr lang="en-US" altLang="ko-KR" sz="1400" dirty="0" err="1"/>
              <a:t>không</a:t>
            </a:r>
            <a:r>
              <a:rPr lang="en-US" altLang="ko-KR" sz="1400" dirty="0"/>
              <a:t> </a:t>
            </a:r>
            <a:r>
              <a:rPr lang="en-US" altLang="ko-KR" sz="1400" dirty="0" err="1"/>
              <a:t>xảy</a:t>
            </a:r>
            <a:r>
              <a:rPr lang="en-US" altLang="ko-KR" sz="1400" dirty="0"/>
              <a:t> </a:t>
            </a:r>
            <a:r>
              <a:rPr lang="en-US" altLang="ko-KR" sz="1400" dirty="0" err="1"/>
              <a:t>ra</a:t>
            </a:r>
            <a:r>
              <a:rPr lang="en-US" altLang="ko-KR" sz="1400" dirty="0"/>
              <a:t> </a:t>
            </a:r>
            <a:r>
              <a:rPr lang="en-US" altLang="ko-KR" sz="1400" dirty="0" err="1"/>
              <a:t>bất</a:t>
            </a:r>
            <a:r>
              <a:rPr lang="en-US" altLang="ko-KR" sz="1400" dirty="0"/>
              <a:t> </a:t>
            </a:r>
            <a:r>
              <a:rPr lang="en-US" altLang="ko-KR" sz="1400" dirty="0" err="1"/>
              <a:t>thường</a:t>
            </a:r>
            <a:r>
              <a:rPr lang="en-US" altLang="ko-KR" sz="1400" dirty="0"/>
              <a:t> </a:t>
            </a:r>
            <a:r>
              <a:rPr lang="en-US" altLang="ko-KR" sz="1400" dirty="0" err="1"/>
              <a:t>nào</a:t>
            </a:r>
            <a:r>
              <a:rPr lang="en-US" altLang="ko-KR" sz="1400" dirty="0"/>
              <a:t> </a:t>
            </a:r>
            <a:r>
              <a:rPr lang="en-US" altLang="ko-KR" sz="1400" dirty="0" err="1"/>
              <a:t>trong</a:t>
            </a:r>
            <a:r>
              <a:rPr lang="en-US" altLang="ko-KR" sz="1400" dirty="0"/>
              <a:t> </a:t>
            </a:r>
            <a:r>
              <a:rPr lang="en-US" altLang="ko-KR" sz="1400" dirty="0" err="1"/>
              <a:t>việc</a:t>
            </a:r>
            <a:r>
              <a:rPr lang="en-US" altLang="ko-KR" sz="1400" dirty="0"/>
              <a:t> </a:t>
            </a:r>
            <a:r>
              <a:rPr lang="en-US" altLang="ko-KR" sz="1400" dirty="0" err="1"/>
              <a:t>tạo</a:t>
            </a:r>
            <a:r>
              <a:rPr lang="en-US" altLang="ko-KR" sz="1400" dirty="0"/>
              <a:t> </a:t>
            </a:r>
            <a:r>
              <a:rPr lang="en-US" altLang="ko-KR" sz="1400" dirty="0" err="1"/>
              <a:t>ra</a:t>
            </a:r>
            <a:r>
              <a:rPr lang="en-US" altLang="ko-KR" sz="1400" dirty="0"/>
              <a:t> </a:t>
            </a:r>
            <a:r>
              <a:rPr lang="en-US" altLang="ko-KR" sz="1400" dirty="0" err="1"/>
              <a:t>sản</a:t>
            </a:r>
            <a:r>
              <a:rPr lang="en-US" altLang="ko-KR" sz="1400" dirty="0"/>
              <a:t> </a:t>
            </a:r>
            <a:r>
              <a:rPr lang="en-US" altLang="ko-KR" sz="1400" dirty="0" err="1"/>
              <a:t>phẩm</a:t>
            </a:r>
            <a:r>
              <a:rPr lang="en-US" altLang="ko-KR" sz="1400" dirty="0"/>
              <a:t> </a:t>
            </a:r>
            <a:r>
              <a:rPr lang="en-US" altLang="ko-KR" sz="1400" dirty="0" err="1"/>
              <a:t>đạt</a:t>
            </a:r>
            <a:r>
              <a:rPr lang="en-US" altLang="ko-KR" sz="1400" dirty="0"/>
              <a:t> </a:t>
            </a:r>
            <a:r>
              <a:rPr lang="en-US" altLang="ko-KR" sz="1400" dirty="0" err="1"/>
              <a:t>tiêu</a:t>
            </a:r>
            <a:r>
              <a:rPr lang="en-US" altLang="ko-KR" sz="1400" dirty="0"/>
              <a:t> </a:t>
            </a:r>
            <a:r>
              <a:rPr lang="en-US" altLang="ko-KR" sz="1400" dirty="0" err="1"/>
              <a:t>chuẩn</a:t>
            </a:r>
            <a:endParaRPr lang="en-US" altLang="ko-KR" sz="1400" dirty="0"/>
          </a:p>
        </p:txBody>
      </p:sp>
      <p:sp>
        <p:nvSpPr>
          <p:cNvPr id="22" name="TextBox 21"/>
          <p:cNvSpPr txBox="1"/>
          <p:nvPr/>
        </p:nvSpPr>
        <p:spPr>
          <a:xfrm>
            <a:off x="683568" y="2276872"/>
            <a:ext cx="3546164" cy="307777"/>
          </a:xfrm>
          <a:prstGeom prst="rect">
            <a:avLst/>
          </a:prstGeom>
          <a:noFill/>
        </p:spPr>
        <p:txBody>
          <a:bodyPr wrap="none" rtlCol="0">
            <a:spAutoFit/>
          </a:bodyPr>
          <a:lstStyle/>
          <a:p>
            <a:r>
              <a:rPr lang="en-US" altLang="ko-KR" sz="1400" dirty="0" err="1"/>
              <a:t>Lúc</a:t>
            </a:r>
            <a:r>
              <a:rPr lang="en-US" altLang="ko-KR" sz="1400" dirty="0"/>
              <a:t> </a:t>
            </a:r>
            <a:r>
              <a:rPr lang="en-US" altLang="ko-KR" sz="1400" dirty="0" err="1"/>
              <a:t>này</a:t>
            </a:r>
            <a:r>
              <a:rPr lang="en-US" altLang="ko-KR" sz="1400" dirty="0"/>
              <a:t> </a:t>
            </a:r>
            <a:r>
              <a:rPr lang="en-US" altLang="ko-KR" sz="1400" dirty="0" err="1"/>
              <a:t>có</a:t>
            </a:r>
            <a:r>
              <a:rPr lang="en-US" altLang="ko-KR" sz="1400" dirty="0"/>
              <a:t> 2 </a:t>
            </a:r>
            <a:r>
              <a:rPr lang="en-US" altLang="ko-KR" sz="1400" dirty="0" err="1"/>
              <a:t>biện</a:t>
            </a:r>
            <a:r>
              <a:rPr lang="en-US" altLang="ko-KR" sz="1400" dirty="0"/>
              <a:t> </a:t>
            </a:r>
            <a:r>
              <a:rPr lang="en-US" altLang="ko-KR" sz="1400" dirty="0" err="1"/>
              <a:t>pháp</a:t>
            </a:r>
            <a:r>
              <a:rPr lang="en-US" altLang="ko-KR" sz="1400" dirty="0"/>
              <a:t> </a:t>
            </a:r>
            <a:r>
              <a:rPr lang="en-US" altLang="ko-KR" sz="1400" dirty="0" err="1"/>
              <a:t>có</a:t>
            </a:r>
            <a:r>
              <a:rPr lang="en-US" altLang="ko-KR" sz="1400" dirty="0"/>
              <a:t> </a:t>
            </a:r>
            <a:r>
              <a:rPr lang="en-US" altLang="ko-KR" sz="1400" dirty="0" err="1"/>
              <a:t>thể</a:t>
            </a:r>
            <a:r>
              <a:rPr lang="en-US" altLang="ko-KR" sz="1400" dirty="0"/>
              <a:t> </a:t>
            </a:r>
            <a:r>
              <a:rPr lang="en-US" altLang="ko-KR" sz="1400" dirty="0" err="1"/>
              <a:t>thi</a:t>
            </a:r>
            <a:r>
              <a:rPr lang="en-US" altLang="ko-KR" sz="1400" dirty="0"/>
              <a:t> </a:t>
            </a:r>
            <a:r>
              <a:rPr lang="en-US" altLang="ko-KR" sz="1400" dirty="0" err="1"/>
              <a:t>hành</a:t>
            </a:r>
            <a:endParaRPr lang="ko-KR" altLang="en-US" sz="1400" dirty="0"/>
          </a:p>
        </p:txBody>
      </p:sp>
      <p:sp>
        <p:nvSpPr>
          <p:cNvPr id="23" name="TextBox 22"/>
          <p:cNvSpPr txBox="1"/>
          <p:nvPr/>
        </p:nvSpPr>
        <p:spPr>
          <a:xfrm>
            <a:off x="683568" y="2690917"/>
            <a:ext cx="8035982" cy="954107"/>
          </a:xfrm>
          <a:prstGeom prst="rect">
            <a:avLst/>
          </a:prstGeom>
          <a:noFill/>
        </p:spPr>
        <p:txBody>
          <a:bodyPr wrap="none" rtlCol="0">
            <a:spAutoFit/>
          </a:bodyPr>
          <a:lstStyle/>
          <a:p>
            <a:r>
              <a:rPr lang="en-US" altLang="ko-KR" sz="1400" dirty="0"/>
              <a:t>1.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và</a:t>
            </a:r>
            <a:r>
              <a:rPr lang="en-US" altLang="ko-KR" sz="1400" dirty="0"/>
              <a:t> </a:t>
            </a:r>
            <a:r>
              <a:rPr lang="en-US" altLang="ko-KR" sz="1400" dirty="0" err="1"/>
              <a:t>sử</a:t>
            </a:r>
            <a:r>
              <a:rPr lang="en-US" altLang="ko-KR" sz="1400" dirty="0"/>
              <a:t> </a:t>
            </a:r>
            <a:r>
              <a:rPr lang="en-US" altLang="ko-KR" sz="1400" dirty="0" err="1"/>
              <a:t>dụng</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bình</a:t>
            </a:r>
            <a:r>
              <a:rPr lang="en-US" altLang="ko-KR" sz="1400" dirty="0"/>
              <a:t> </a:t>
            </a:r>
            <a:r>
              <a:rPr lang="en-US" altLang="ko-KR" sz="1400" dirty="0" err="1"/>
              <a:t>quân</a:t>
            </a:r>
            <a:r>
              <a:rPr lang="en-US" altLang="ko-KR" sz="1400" dirty="0"/>
              <a:t> </a:t>
            </a:r>
            <a:r>
              <a:rPr lang="en-US" altLang="ko-KR" sz="1400" dirty="0" err="1"/>
              <a:t>theo</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đại</a:t>
            </a:r>
            <a:r>
              <a:rPr lang="en-US" altLang="ko-KR" sz="1400" dirty="0"/>
              <a:t> </a:t>
            </a:r>
            <a:r>
              <a:rPr lang="en-US" altLang="ko-KR" sz="1400" dirty="0" err="1"/>
              <a:t>diện</a:t>
            </a:r>
            <a:r>
              <a:rPr lang="en-US" altLang="ko-KR" sz="1400" dirty="0"/>
              <a:t> </a:t>
            </a:r>
            <a:r>
              <a:rPr lang="en-US" altLang="ko-KR" sz="1400" dirty="0" err="1"/>
              <a:t>lựa</a:t>
            </a:r>
            <a:r>
              <a:rPr lang="en-US" altLang="ko-KR" sz="1400" dirty="0"/>
              <a:t> </a:t>
            </a:r>
            <a:r>
              <a:rPr lang="en-US" altLang="ko-KR" sz="1400" dirty="0" err="1"/>
              <a:t>chọn</a:t>
            </a:r>
            <a:endParaRPr lang="en-US" altLang="ko-KR" sz="1400" dirty="0"/>
          </a:p>
          <a:p>
            <a:endParaRPr lang="en-US" altLang="ko-KR" sz="1400" dirty="0"/>
          </a:p>
          <a:p>
            <a:pPr marL="342900" indent="-342900">
              <a:buAutoNum type="arabicPeriod" startAt="2"/>
            </a:pPr>
            <a:r>
              <a:rPr lang="en-US" altLang="ko-KR" sz="1400" dirty="0" err="1"/>
              <a:t>Xem</a:t>
            </a:r>
            <a:r>
              <a:rPr lang="en-US" altLang="ko-KR" sz="1400" dirty="0"/>
              <a:t> </a:t>
            </a:r>
            <a:r>
              <a:rPr lang="en-US" altLang="ko-KR" sz="1400" dirty="0" err="1"/>
              <a:t>xét</a:t>
            </a:r>
            <a:r>
              <a:rPr lang="en-US" altLang="ko-KR" sz="1400" dirty="0"/>
              <a:t> </a:t>
            </a:r>
            <a:r>
              <a:rPr lang="en-US" altLang="ko-KR" sz="1400" dirty="0" err="1"/>
              <a:t>độ</a:t>
            </a:r>
            <a:r>
              <a:rPr lang="en-US" altLang="ko-KR" sz="1400" dirty="0"/>
              <a:t> </a:t>
            </a:r>
            <a:r>
              <a:rPr lang="en-US" altLang="ko-KR" sz="1400" dirty="0" err="1"/>
              <a:t>lệch</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của</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và</a:t>
            </a:r>
            <a:r>
              <a:rPr lang="en-US" altLang="ko-KR" sz="1400" dirty="0"/>
              <a:t> </a:t>
            </a:r>
            <a:r>
              <a:rPr lang="en-US" altLang="ko-KR" sz="1400" dirty="0" err="1"/>
              <a:t>vận</a:t>
            </a:r>
            <a:r>
              <a:rPr lang="en-US" altLang="ko-KR" sz="1400" dirty="0"/>
              <a:t> </a:t>
            </a:r>
            <a:r>
              <a:rPr lang="en-US" altLang="ko-KR" sz="1400" dirty="0" err="1"/>
              <a:t>hành</a:t>
            </a:r>
            <a:r>
              <a:rPr lang="en-US" altLang="ko-KR" sz="1400" dirty="0"/>
              <a:t> </a:t>
            </a:r>
            <a:r>
              <a:rPr lang="en-US" altLang="ko-KR" sz="1400" dirty="0" err="1"/>
              <a:t>tuyệt</a:t>
            </a:r>
            <a:r>
              <a:rPr lang="en-US" altLang="ko-KR" sz="1400" dirty="0"/>
              <a:t> </a:t>
            </a:r>
            <a:r>
              <a:rPr lang="en-US" altLang="ko-KR" sz="1400" dirty="0" err="1"/>
              <a:t>đối</a:t>
            </a:r>
            <a:r>
              <a:rPr lang="en-US" altLang="ko-KR" sz="1400" dirty="0"/>
              <a:t> OK</a:t>
            </a:r>
            <a:r>
              <a:rPr lang="ko-KR" altLang="en-US" sz="1400" dirty="0"/>
              <a:t> </a:t>
            </a:r>
            <a:r>
              <a:rPr lang="en-US" altLang="ko-KR" sz="1400" dirty="0"/>
              <a:t>Zone, </a:t>
            </a:r>
            <a:r>
              <a:rPr lang="en-US" altLang="ko-KR" sz="1400" dirty="0" err="1"/>
              <a:t>tuyệt</a:t>
            </a:r>
            <a:r>
              <a:rPr lang="en-US" altLang="ko-KR" sz="1400" dirty="0"/>
              <a:t> </a:t>
            </a:r>
            <a:r>
              <a:rPr lang="en-US" altLang="ko-KR" sz="1400" dirty="0" err="1"/>
              <a:t>đối</a:t>
            </a:r>
            <a:r>
              <a:rPr lang="en-US" altLang="ko-KR" sz="1400" dirty="0"/>
              <a:t> NG Zone</a:t>
            </a:r>
          </a:p>
          <a:p>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tỉ</a:t>
            </a:r>
            <a:r>
              <a:rPr lang="en-US" altLang="ko-KR" sz="1400" dirty="0"/>
              <a:t> </a:t>
            </a:r>
            <a:r>
              <a:rPr lang="en-US" altLang="ko-KR" sz="1400" dirty="0" err="1"/>
              <a:t>mỉ</a:t>
            </a:r>
            <a:r>
              <a:rPr lang="ko-KR" altLang="en-US" sz="1400" dirty="0"/>
              <a:t> </a:t>
            </a:r>
            <a:r>
              <a:rPr lang="en-US" altLang="ko-KR" sz="1400" dirty="0"/>
              <a:t>Zone</a:t>
            </a:r>
            <a:endParaRPr lang="ko-KR" altLang="en-US" sz="1400" dirty="0"/>
          </a:p>
        </p:txBody>
      </p:sp>
      <p:sp>
        <p:nvSpPr>
          <p:cNvPr id="3" name="TextBox 2"/>
          <p:cNvSpPr txBox="1"/>
          <p:nvPr/>
        </p:nvSpPr>
        <p:spPr>
          <a:xfrm>
            <a:off x="4860032" y="4005064"/>
            <a:ext cx="3731727" cy="523220"/>
          </a:xfrm>
          <a:prstGeom prst="rect">
            <a:avLst/>
          </a:prstGeom>
          <a:noFill/>
        </p:spPr>
        <p:txBody>
          <a:bodyPr wrap="none" rtlCol="0">
            <a:spAutoFit/>
          </a:bodyPr>
          <a:lstStyle/>
          <a:p>
            <a:r>
              <a:rPr lang="en-US" altLang="ko-KR" sz="1400" dirty="0" err="1"/>
              <a:t>Trường</a:t>
            </a:r>
            <a:r>
              <a:rPr lang="en-US" altLang="ko-KR" sz="1400" dirty="0"/>
              <a:t> </a:t>
            </a:r>
            <a:r>
              <a:rPr lang="en-US" altLang="ko-KR" sz="1400" dirty="0" err="1"/>
              <a:t>hợp</a:t>
            </a:r>
            <a:r>
              <a:rPr lang="en-US" altLang="ko-KR" sz="1400" dirty="0"/>
              <a:t> 1, </a:t>
            </a:r>
            <a:r>
              <a:rPr lang="en-US" altLang="ko-KR" sz="1400" dirty="0" err="1"/>
              <a:t>số</a:t>
            </a:r>
            <a:r>
              <a:rPr lang="en-US" altLang="ko-KR" sz="1400" dirty="0"/>
              <a:t> </a:t>
            </a:r>
            <a:r>
              <a:rPr lang="en-US" altLang="ko-KR" sz="1400" dirty="0" err="1"/>
              <a:t>vòng</a:t>
            </a:r>
            <a:r>
              <a:rPr lang="en-US" altLang="ko-KR" sz="1400" dirty="0"/>
              <a:t> quay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lặp</a:t>
            </a:r>
            <a:r>
              <a:rPr lang="en-US" altLang="ko-KR" sz="1400" dirty="0"/>
              <a:t> </a:t>
            </a:r>
            <a:r>
              <a:rPr lang="en-US" altLang="ko-KR" sz="1400" dirty="0" err="1"/>
              <a:t>lại</a:t>
            </a:r>
            <a:endParaRPr lang="en-US" altLang="ko-KR" sz="1400" dirty="0"/>
          </a:p>
          <a:p>
            <a:endParaRPr lang="ko-KR" altLang="en-US" sz="1400" dirty="0"/>
          </a:p>
        </p:txBody>
      </p:sp>
      <p:sp>
        <p:nvSpPr>
          <p:cNvPr id="24" name="TextBox 23"/>
          <p:cNvSpPr txBox="1"/>
          <p:nvPr/>
        </p:nvSpPr>
        <p:spPr>
          <a:xfrm>
            <a:off x="5290566" y="4509120"/>
            <a:ext cx="1585690" cy="307777"/>
          </a:xfrm>
          <a:prstGeom prst="rect">
            <a:avLst/>
          </a:prstGeom>
          <a:noFill/>
        </p:spPr>
        <p:txBody>
          <a:bodyPr wrap="none" rtlCol="0">
            <a:spAutoFit/>
          </a:bodyPr>
          <a:lstStyle/>
          <a:p>
            <a:r>
              <a:rPr lang="en-US" altLang="ko-KR" sz="1400" dirty="0"/>
              <a:t> n =(              ) </a:t>
            </a:r>
            <a:endParaRPr lang="ko-KR" altLang="en-US" sz="1400" dirty="0"/>
          </a:p>
        </p:txBody>
      </p:sp>
      <p:cxnSp>
        <p:nvCxnSpPr>
          <p:cNvPr id="26" name="직선 연결선 25"/>
          <p:cNvCxnSpPr/>
          <p:nvPr/>
        </p:nvCxnSpPr>
        <p:spPr>
          <a:xfrm>
            <a:off x="5870714" y="4681129"/>
            <a:ext cx="717915" cy="81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5940152" y="4706482"/>
            <a:ext cx="482824" cy="276999"/>
          </a:xfrm>
          <a:prstGeom prst="rect">
            <a:avLst/>
          </a:prstGeom>
          <a:noFill/>
        </p:spPr>
        <p:txBody>
          <a:bodyPr wrap="none" rtlCol="0">
            <a:spAutoFit/>
          </a:bodyPr>
          <a:lstStyle/>
          <a:p>
            <a:r>
              <a:rPr lang="en-US" altLang="ko-KR" sz="1200" dirty="0"/>
              <a:t>10%</a:t>
            </a:r>
            <a:endParaRPr lang="ko-KR" altLang="en-US" sz="1200" dirty="0"/>
          </a:p>
        </p:txBody>
      </p:sp>
      <p:sp>
        <p:nvSpPr>
          <p:cNvPr id="29" name="TextBox 28"/>
          <p:cNvSpPr txBox="1"/>
          <p:nvPr/>
        </p:nvSpPr>
        <p:spPr>
          <a:xfrm>
            <a:off x="5742790" y="4421090"/>
            <a:ext cx="917239" cy="276999"/>
          </a:xfrm>
          <a:prstGeom prst="rect">
            <a:avLst/>
          </a:prstGeom>
          <a:noFill/>
        </p:spPr>
        <p:txBody>
          <a:bodyPr wrap="none" rtlCol="0">
            <a:spAutoFit/>
          </a:bodyPr>
          <a:lstStyle/>
          <a:p>
            <a:r>
              <a:rPr lang="en-US" altLang="ko-KR" sz="1200" dirty="0"/>
              <a:t>Gage R&amp;R</a:t>
            </a:r>
            <a:endParaRPr lang="ko-KR" altLang="en-US" sz="1200" dirty="0"/>
          </a:p>
        </p:txBody>
      </p:sp>
      <p:sp>
        <p:nvSpPr>
          <p:cNvPr id="33" name="TextBox 32"/>
          <p:cNvSpPr txBox="1"/>
          <p:nvPr/>
        </p:nvSpPr>
        <p:spPr>
          <a:xfrm>
            <a:off x="6686521" y="4434472"/>
            <a:ext cx="45719" cy="246221"/>
          </a:xfrm>
          <a:prstGeom prst="rect">
            <a:avLst/>
          </a:prstGeom>
          <a:noFill/>
        </p:spPr>
        <p:txBody>
          <a:bodyPr wrap="square" rtlCol="0">
            <a:spAutoFit/>
          </a:bodyPr>
          <a:lstStyle/>
          <a:p>
            <a:r>
              <a:rPr lang="en-US" altLang="ko-KR" sz="1000" dirty="0"/>
              <a:t>2</a:t>
            </a:r>
            <a:endParaRPr lang="ko-KR" altLang="en-US" sz="1000" dirty="0"/>
          </a:p>
        </p:txBody>
      </p:sp>
      <p:sp>
        <p:nvSpPr>
          <p:cNvPr id="36" name="직사각형 35"/>
          <p:cNvSpPr/>
          <p:nvPr/>
        </p:nvSpPr>
        <p:spPr>
          <a:xfrm>
            <a:off x="1979712" y="4637114"/>
            <a:ext cx="1224136" cy="1584176"/>
          </a:xfrm>
          <a:prstGeom prst="rect">
            <a:avLst/>
          </a:prstGeom>
          <a:solidFill>
            <a:srgbClr val="0066FF">
              <a:alpha val="4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p:cNvSpPr/>
          <p:nvPr/>
        </p:nvSpPr>
        <p:spPr>
          <a:xfrm>
            <a:off x="3995936" y="4637114"/>
            <a:ext cx="504056" cy="1584176"/>
          </a:xfrm>
          <a:prstGeom prst="rect">
            <a:avLst/>
          </a:prstGeom>
          <a:solidFill>
            <a:srgbClr val="FF0000">
              <a:alpha val="4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p:cNvSpPr/>
          <p:nvPr/>
        </p:nvSpPr>
        <p:spPr>
          <a:xfrm>
            <a:off x="755576" y="4637114"/>
            <a:ext cx="504056" cy="1584176"/>
          </a:xfrm>
          <a:prstGeom prst="rect">
            <a:avLst/>
          </a:prstGeom>
          <a:solidFill>
            <a:srgbClr val="FF0000">
              <a:alpha val="4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p:cNvSpPr txBox="1"/>
          <p:nvPr/>
        </p:nvSpPr>
        <p:spPr>
          <a:xfrm>
            <a:off x="755576" y="5517232"/>
            <a:ext cx="554960" cy="646331"/>
          </a:xfrm>
          <a:prstGeom prst="rect">
            <a:avLst/>
          </a:prstGeom>
          <a:noFill/>
        </p:spPr>
        <p:txBody>
          <a:bodyPr wrap="none" rtlCol="0">
            <a:spAutoFit/>
          </a:bodyPr>
          <a:lstStyle/>
          <a:p>
            <a:r>
              <a:rPr lang="en-US" altLang="ko-KR" sz="1200" dirty="0" err="1"/>
              <a:t>Tuyệt</a:t>
            </a:r>
            <a:endParaRPr lang="en-US" altLang="ko-KR" sz="1200" dirty="0"/>
          </a:p>
          <a:p>
            <a:r>
              <a:rPr lang="en-US" altLang="ko-KR" sz="1200" dirty="0"/>
              <a:t> </a:t>
            </a:r>
            <a:r>
              <a:rPr lang="en-US" altLang="ko-KR" sz="1200" dirty="0" err="1"/>
              <a:t>đối</a:t>
            </a:r>
            <a:endParaRPr lang="en-US" altLang="ko-KR" sz="1200" dirty="0"/>
          </a:p>
          <a:p>
            <a:r>
              <a:rPr lang="en-US" altLang="ko-KR" sz="1200" dirty="0"/>
              <a:t> NG</a:t>
            </a:r>
            <a:endParaRPr lang="ko-KR" altLang="en-US" sz="1200" dirty="0"/>
          </a:p>
        </p:txBody>
      </p:sp>
      <p:sp>
        <p:nvSpPr>
          <p:cNvPr id="12" name="TextBox 11"/>
          <p:cNvSpPr txBox="1"/>
          <p:nvPr/>
        </p:nvSpPr>
        <p:spPr>
          <a:xfrm>
            <a:off x="2051720" y="5652536"/>
            <a:ext cx="1090363" cy="276999"/>
          </a:xfrm>
          <a:prstGeom prst="rect">
            <a:avLst/>
          </a:prstGeom>
          <a:noFill/>
        </p:spPr>
        <p:txBody>
          <a:bodyPr wrap="none" rtlCol="0">
            <a:spAutoFit/>
          </a:bodyPr>
          <a:lstStyle/>
          <a:p>
            <a:r>
              <a:rPr lang="en-US" altLang="ko-KR" sz="1200" dirty="0" err="1"/>
              <a:t>Tuyệt</a:t>
            </a:r>
            <a:r>
              <a:rPr lang="en-US" altLang="ko-KR" sz="1200" dirty="0"/>
              <a:t> </a:t>
            </a:r>
            <a:r>
              <a:rPr lang="en-US" altLang="ko-KR" sz="1200" dirty="0" err="1"/>
              <a:t>đối</a:t>
            </a:r>
            <a:r>
              <a:rPr lang="en-US" altLang="ko-KR" sz="1200" dirty="0"/>
              <a:t> OK</a:t>
            </a:r>
            <a:endParaRPr lang="ko-KR" altLang="en-US" sz="1200" dirty="0"/>
          </a:p>
        </p:txBody>
      </p:sp>
      <p:sp>
        <p:nvSpPr>
          <p:cNvPr id="13" name="TextBox 12"/>
          <p:cNvSpPr txBox="1"/>
          <p:nvPr/>
        </p:nvSpPr>
        <p:spPr>
          <a:xfrm>
            <a:off x="3995936" y="5518973"/>
            <a:ext cx="554960" cy="646331"/>
          </a:xfrm>
          <a:prstGeom prst="rect">
            <a:avLst/>
          </a:prstGeom>
          <a:noFill/>
        </p:spPr>
        <p:txBody>
          <a:bodyPr wrap="none" rtlCol="0">
            <a:spAutoFit/>
          </a:bodyPr>
          <a:lstStyle/>
          <a:p>
            <a:r>
              <a:rPr lang="en-US" altLang="ko-KR" sz="1200" dirty="0" err="1"/>
              <a:t>Tuyệt</a:t>
            </a:r>
            <a:endParaRPr lang="en-US" altLang="ko-KR" sz="1200" dirty="0"/>
          </a:p>
          <a:p>
            <a:r>
              <a:rPr lang="en-US" altLang="ko-KR" sz="1200" dirty="0"/>
              <a:t> </a:t>
            </a:r>
            <a:r>
              <a:rPr lang="en-US" altLang="ko-KR" sz="1200" dirty="0" err="1"/>
              <a:t>đối</a:t>
            </a:r>
            <a:endParaRPr lang="en-US" altLang="ko-KR" sz="1200" dirty="0"/>
          </a:p>
          <a:p>
            <a:r>
              <a:rPr lang="en-US" altLang="ko-KR" sz="1200" dirty="0"/>
              <a:t> NG</a:t>
            </a:r>
            <a:endParaRPr lang="ko-KR" altLang="en-US" sz="1200" dirty="0"/>
          </a:p>
        </p:txBody>
      </p:sp>
      <p:sp>
        <p:nvSpPr>
          <p:cNvPr id="31" name="TextBox 30"/>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2" name="직사각형 31"/>
          <p:cNvSpPr/>
          <p:nvPr/>
        </p:nvSpPr>
        <p:spPr>
          <a:xfrm>
            <a:off x="6084168" y="179348"/>
            <a:ext cx="2820003"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Data </a:t>
            </a:r>
            <a:r>
              <a:rPr lang="en-US" altLang="ko-KR" b="1" kern="0" dirty="0" err="1">
                <a:solidFill>
                  <a:sysClr val="windowText" lastClr="000000">
                    <a:lumMod val="75000"/>
                    <a:lumOff val="25000"/>
                  </a:sysClr>
                </a:solidFill>
                <a:latin typeface="맑은 고딕" pitchFamily="50" charset="-127"/>
                <a:ea typeface="맑은 고딕" pitchFamily="50" charset="-127"/>
              </a:rPr>
              <a:t>liên</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tục</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
        <p:nvSpPr>
          <p:cNvPr id="39" name="TextBox 38"/>
          <p:cNvSpPr txBox="1"/>
          <p:nvPr/>
        </p:nvSpPr>
        <p:spPr>
          <a:xfrm>
            <a:off x="4716016" y="5066600"/>
            <a:ext cx="4303550" cy="738664"/>
          </a:xfrm>
          <a:prstGeom prst="rect">
            <a:avLst/>
          </a:prstGeom>
          <a:noFill/>
        </p:spPr>
        <p:txBody>
          <a:bodyPr wrap="none" rtlCol="0">
            <a:spAutoFit/>
          </a:bodyPr>
          <a:lstStyle/>
          <a:p>
            <a:r>
              <a:rPr lang="en-US" altLang="ko-KR" sz="1400" dirty="0" err="1"/>
              <a:t>Trường</a:t>
            </a:r>
            <a:r>
              <a:rPr lang="en-US" altLang="ko-KR" sz="1400" dirty="0"/>
              <a:t> </a:t>
            </a:r>
            <a:r>
              <a:rPr lang="en-US" altLang="ko-KR" sz="1400" dirty="0" err="1"/>
              <a:t>hợp</a:t>
            </a:r>
            <a:r>
              <a:rPr lang="en-US" altLang="ko-KR" sz="1400" dirty="0"/>
              <a:t> 2 </a:t>
            </a:r>
            <a:r>
              <a:rPr lang="en-US" altLang="ko-KR" sz="1400" dirty="0" err="1"/>
              <a:t>cần</a:t>
            </a:r>
            <a:r>
              <a:rPr lang="en-US" altLang="ko-KR" sz="1400" dirty="0"/>
              <a:t> </a:t>
            </a:r>
            <a:r>
              <a:rPr lang="en-US" altLang="ko-KR" sz="1400" dirty="0" err="1"/>
              <a:t>thiết</a:t>
            </a:r>
            <a:r>
              <a:rPr lang="en-US" altLang="ko-KR" sz="1400" dirty="0"/>
              <a:t> </a:t>
            </a:r>
            <a:r>
              <a:rPr lang="en-US" altLang="ko-KR" sz="1400" dirty="0" err="1"/>
              <a:t>phải</a:t>
            </a:r>
            <a:r>
              <a:rPr lang="en-US" altLang="ko-KR" sz="1400" dirty="0"/>
              <a:t> </a:t>
            </a:r>
            <a:r>
              <a:rPr lang="en-US" altLang="ko-KR" sz="1400" dirty="0" err="1"/>
              <a:t>lựa</a:t>
            </a:r>
            <a:r>
              <a:rPr lang="en-US" altLang="ko-KR" sz="1400" dirty="0"/>
              <a:t> </a:t>
            </a:r>
            <a:r>
              <a:rPr lang="en-US" altLang="ko-KR" sz="1400" dirty="0" err="1"/>
              <a:t>chọn</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p>
          <a:p>
            <a:r>
              <a:rPr lang="en-US" altLang="ko-KR" sz="1400" dirty="0" err="1"/>
              <a:t>vận</a:t>
            </a:r>
            <a:r>
              <a:rPr lang="en-US" altLang="ko-KR" sz="1400" dirty="0"/>
              <a:t> </a:t>
            </a:r>
            <a:r>
              <a:rPr lang="en-US" altLang="ko-KR" sz="1400" dirty="0" err="1"/>
              <a:t>hành</a:t>
            </a:r>
            <a:r>
              <a:rPr lang="en-US" altLang="ko-KR" sz="1400" dirty="0"/>
              <a:t> </a:t>
            </a:r>
            <a:r>
              <a:rPr lang="en-US" altLang="ko-KR" sz="1400" dirty="0" err="1"/>
              <a:t>tại</a:t>
            </a:r>
            <a:r>
              <a:rPr lang="en-US" altLang="ko-KR" sz="1400" dirty="0"/>
              <a:t> </a:t>
            </a:r>
            <a:r>
              <a:rPr lang="en-US" altLang="ko-KR" sz="1400" dirty="0" err="1"/>
              <a:t>hiện</a:t>
            </a:r>
            <a:r>
              <a:rPr lang="en-US" altLang="ko-KR" sz="1400" dirty="0"/>
              <a:t> </a:t>
            </a:r>
            <a:r>
              <a:rPr lang="en-US" altLang="ko-KR" sz="1400" dirty="0" err="1"/>
              <a:t>trường</a:t>
            </a:r>
            <a:r>
              <a:rPr lang="en-US" altLang="ko-KR" sz="1400" dirty="0"/>
              <a:t> , </a:t>
            </a:r>
            <a:r>
              <a:rPr lang="en-US" altLang="ko-KR" sz="1400" dirty="0" err="1"/>
              <a:t>người</a:t>
            </a:r>
            <a:r>
              <a:rPr lang="en-US" altLang="ko-KR" sz="1400" dirty="0"/>
              <a:t> </a:t>
            </a:r>
            <a:r>
              <a:rPr lang="en-US" altLang="ko-KR" sz="1400" dirty="0" err="1"/>
              <a:t>đứng</a:t>
            </a:r>
            <a:r>
              <a:rPr lang="en-US" altLang="ko-KR" sz="1400" dirty="0"/>
              <a:t> </a:t>
            </a:r>
            <a:r>
              <a:rPr lang="en-US" altLang="ko-KR" sz="1400" dirty="0" err="1"/>
              <a:t>đầu</a:t>
            </a:r>
            <a:r>
              <a:rPr lang="en-US" altLang="ko-KR" sz="1400" dirty="0"/>
              <a:t> </a:t>
            </a:r>
            <a:r>
              <a:rPr lang="en-US" altLang="ko-KR" sz="1400" dirty="0" err="1"/>
              <a:t>bộ</a:t>
            </a:r>
            <a:r>
              <a:rPr lang="en-US" altLang="ko-KR" sz="1400" dirty="0"/>
              <a:t> </a:t>
            </a:r>
          </a:p>
          <a:p>
            <a:r>
              <a:rPr lang="en-US" altLang="ko-KR" sz="1400" dirty="0" err="1"/>
              <a:t>phận</a:t>
            </a:r>
            <a:r>
              <a:rPr lang="en-US" altLang="ko-KR" sz="1400" dirty="0"/>
              <a:t> </a:t>
            </a:r>
            <a:r>
              <a:rPr lang="en-US" altLang="ko-KR" sz="1400" dirty="0" err="1"/>
              <a:t>chất</a:t>
            </a:r>
            <a:r>
              <a:rPr lang="en-US" altLang="ko-KR" sz="1400" dirty="0"/>
              <a:t> </a:t>
            </a:r>
            <a:r>
              <a:rPr lang="en-US" altLang="ko-KR" sz="1400" dirty="0" err="1"/>
              <a:t>lượng</a:t>
            </a:r>
            <a:r>
              <a:rPr lang="en-US" altLang="ko-KR" sz="1400" dirty="0"/>
              <a:t> </a:t>
            </a:r>
            <a:r>
              <a:rPr lang="en-US" altLang="ko-KR" sz="1400" dirty="0" err="1"/>
              <a:t>sẽ</a:t>
            </a:r>
            <a:r>
              <a:rPr lang="en-US" altLang="ko-KR" sz="1400" dirty="0"/>
              <a:t> </a:t>
            </a:r>
            <a:r>
              <a:rPr lang="en-US" altLang="ko-KR" sz="1400" dirty="0" err="1"/>
              <a:t>quyết</a:t>
            </a:r>
            <a:r>
              <a:rPr lang="en-US" altLang="ko-KR" sz="1400" dirty="0"/>
              <a:t> </a:t>
            </a:r>
            <a:r>
              <a:rPr lang="en-US" altLang="ko-KR" sz="1400" dirty="0" err="1"/>
              <a:t>định</a:t>
            </a:r>
            <a:endParaRPr lang="ko-KR" altLang="en-US" sz="1400" dirty="0"/>
          </a:p>
        </p:txBody>
      </p:sp>
    </p:spTree>
    <p:extLst>
      <p:ext uri="{BB962C8B-B14F-4D97-AF65-F5344CB8AC3E}">
        <p14:creationId xmlns:p14="http://schemas.microsoft.com/office/powerpoint/2010/main" val="18380143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8"/>
            <a:ext cx="8280889" cy="1040285"/>
          </a:xfrm>
          <a:prstGeom prst="rect">
            <a:avLst/>
          </a:prstGeom>
          <a:noFill/>
        </p:spPr>
        <p:txBody>
          <a:bodyPr>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This shall be applied to the case where destructive inspection is carried out by the method </a:t>
            </a:r>
          </a:p>
          <a:p>
            <a:pPr latinLnBrk="0">
              <a:lnSpc>
                <a:spcPct val="110000"/>
              </a:lnSpc>
              <a:buClr>
                <a:srgbClr val="595959"/>
              </a:buClr>
              <a:defRPr/>
            </a:pPr>
            <a:r>
              <a:rPr lang="en-US" altLang="ko-KR" sz="1400" b="1" kern="0" dirty="0">
                <a:solidFill>
                  <a:sysClr val="windowText" lastClr="000000"/>
                </a:solidFill>
                <a:latin typeface="맑은 고딕" pitchFamily="50" charset="-127"/>
                <a:ea typeface="맑은 고딕" pitchFamily="50" charset="-127"/>
              </a:rPr>
              <a:t>   of confirming the measurement accuracy in the case where it is impossible to repeat within </a:t>
            </a:r>
          </a:p>
          <a:p>
            <a:pPr latinLnBrk="0">
              <a:lnSpc>
                <a:spcPct val="110000"/>
              </a:lnSpc>
              <a:buClr>
                <a:srgbClr val="595959"/>
              </a:buClr>
              <a:defRPr/>
            </a:pPr>
            <a:r>
              <a:rPr lang="en-US" altLang="ko-KR" sz="1400" b="1" kern="0" dirty="0">
                <a:solidFill>
                  <a:sysClr val="windowText" lastClr="000000"/>
                </a:solidFill>
                <a:latin typeface="맑은 고딕" pitchFamily="50" charset="-127"/>
                <a:ea typeface="맑은 고딕" pitchFamily="50" charset="-127"/>
              </a:rPr>
              <a:t>   the measurer for each sample.</a:t>
            </a:r>
          </a:p>
          <a:p>
            <a:pPr latinLnBrk="0">
              <a:lnSpc>
                <a:spcPct val="110000"/>
              </a:lnSpc>
              <a:buClr>
                <a:srgbClr val="595959"/>
              </a:buClr>
              <a:defRPr/>
            </a:pPr>
            <a:endParaRPr lang="en-US" altLang="ko-KR" sz="1400" kern="0" dirty="0">
              <a:solidFill>
                <a:sysClr val="windowText" lastClr="000000"/>
              </a:solidFill>
              <a:latin typeface="맑은 고딕" pitchFamily="50" charset="-127"/>
              <a:ea typeface="맑은 고딕" pitchFamily="50" charset="-127"/>
            </a:endParaRPr>
          </a:p>
        </p:txBody>
      </p:sp>
      <p:sp>
        <p:nvSpPr>
          <p:cNvPr id="5" name="Rectangle 7"/>
          <p:cNvSpPr>
            <a:spLocks noChangeArrowheads="1"/>
          </p:cNvSpPr>
          <p:nvPr/>
        </p:nvSpPr>
        <p:spPr bwMode="auto">
          <a:xfrm>
            <a:off x="760535" y="2516188"/>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a:latin typeface="맑은 고딕" pitchFamily="50" charset="-127"/>
                <a:ea typeface="맑은 고딕" pitchFamily="50" charset="-127"/>
              </a:rPr>
              <a:t>Measurer</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1</a:t>
            </a:r>
          </a:p>
        </p:txBody>
      </p:sp>
      <p:sp>
        <p:nvSpPr>
          <p:cNvPr id="6" name="Rectangle 8"/>
          <p:cNvSpPr>
            <a:spLocks noChangeArrowheads="1"/>
          </p:cNvSpPr>
          <p:nvPr/>
        </p:nvSpPr>
        <p:spPr bwMode="auto">
          <a:xfrm>
            <a:off x="3831981" y="2427288"/>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a:latin typeface="맑은 고딕" pitchFamily="50" charset="-127"/>
                <a:ea typeface="맑은 고딕" pitchFamily="50" charset="-127"/>
              </a:rPr>
              <a:t>Measurer</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2</a:t>
            </a:r>
          </a:p>
        </p:txBody>
      </p:sp>
      <p:sp>
        <p:nvSpPr>
          <p:cNvPr id="7" name="AutoShape 10"/>
          <p:cNvSpPr>
            <a:spLocks noChangeArrowheads="1"/>
          </p:cNvSpPr>
          <p:nvPr/>
        </p:nvSpPr>
        <p:spPr bwMode="auto">
          <a:xfrm>
            <a:off x="2539512" y="2471738"/>
            <a:ext cx="332642" cy="323850"/>
          </a:xfrm>
          <a:prstGeom prst="cube">
            <a:avLst>
              <a:gd name="adj" fmla="val 25000"/>
            </a:avLst>
          </a:prstGeom>
          <a:solidFill>
            <a:srgbClr val="CCECFF"/>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8" name="AutoShape 31"/>
          <p:cNvCxnSpPr>
            <a:cxnSpLocks noChangeShapeType="1"/>
            <a:stCxn id="5" idx="0"/>
            <a:endCxn id="7" idx="0"/>
          </p:cNvCxnSpPr>
          <p:nvPr/>
        </p:nvCxnSpPr>
        <p:spPr bwMode="auto">
          <a:xfrm rot="16200000">
            <a:off x="1965569" y="1735504"/>
            <a:ext cx="44450" cy="1513743"/>
          </a:xfrm>
          <a:prstGeom prst="curvedConnector3">
            <a:avLst>
              <a:gd name="adj1" fmla="val 614287"/>
            </a:avLst>
          </a:prstGeom>
          <a:noFill/>
          <a:ln w="12700">
            <a:solidFill>
              <a:schemeClr val="bg2">
                <a:lumMod val="75000"/>
              </a:schemeClr>
            </a:solidFill>
            <a:round/>
            <a:headEnd/>
            <a:tailEnd type="triangle" w="med" len="med"/>
          </a:ln>
          <a:effectLst/>
        </p:spPr>
      </p:cxnSp>
      <p:cxnSp>
        <p:nvCxnSpPr>
          <p:cNvPr id="9" name="AutoShape 32"/>
          <p:cNvCxnSpPr>
            <a:cxnSpLocks noChangeShapeType="1"/>
            <a:stCxn id="5" idx="2"/>
            <a:endCxn id="7" idx="3"/>
          </p:cNvCxnSpPr>
          <p:nvPr/>
        </p:nvCxnSpPr>
        <p:spPr bwMode="auto">
          <a:xfrm rot="5400000" flipH="1" flipV="1">
            <a:off x="1926737" y="2098309"/>
            <a:ext cx="44450" cy="1439008"/>
          </a:xfrm>
          <a:prstGeom prst="curvedConnector3">
            <a:avLst>
              <a:gd name="adj1" fmla="val -514287"/>
            </a:avLst>
          </a:prstGeom>
          <a:noFill/>
          <a:ln w="12700">
            <a:solidFill>
              <a:schemeClr val="bg2">
                <a:lumMod val="75000"/>
              </a:schemeClr>
            </a:solidFill>
            <a:round/>
            <a:headEnd/>
            <a:tailEnd type="triangle" w="med" len="med"/>
          </a:ln>
          <a:effectLst/>
        </p:spPr>
      </p:cxnSp>
      <p:cxnSp>
        <p:nvCxnSpPr>
          <p:cNvPr id="10" name="AutoShape 33"/>
          <p:cNvCxnSpPr>
            <a:cxnSpLocks noChangeShapeType="1"/>
            <a:stCxn id="6" idx="0"/>
            <a:endCxn id="7" idx="0"/>
          </p:cNvCxnSpPr>
          <p:nvPr/>
        </p:nvCxnSpPr>
        <p:spPr bwMode="auto">
          <a:xfrm rot="16200000" flipH="1" flipV="1">
            <a:off x="3501293" y="1669074"/>
            <a:ext cx="44450" cy="1557703"/>
          </a:xfrm>
          <a:prstGeom prst="curvedConnector3">
            <a:avLst>
              <a:gd name="adj1" fmla="val -514287"/>
            </a:avLst>
          </a:prstGeom>
          <a:noFill/>
          <a:ln w="12700">
            <a:solidFill>
              <a:schemeClr val="bg2">
                <a:lumMod val="75000"/>
              </a:schemeClr>
            </a:solidFill>
            <a:round/>
            <a:headEnd/>
            <a:tailEnd type="triangle" w="med" len="med"/>
          </a:ln>
          <a:effectLst/>
        </p:spPr>
      </p:cxnSp>
      <p:cxnSp>
        <p:nvCxnSpPr>
          <p:cNvPr id="11" name="AutoShape 34"/>
          <p:cNvCxnSpPr>
            <a:cxnSpLocks noChangeShapeType="1"/>
            <a:stCxn id="6" idx="2"/>
            <a:endCxn id="7" idx="3"/>
          </p:cNvCxnSpPr>
          <p:nvPr/>
        </p:nvCxnSpPr>
        <p:spPr bwMode="auto">
          <a:xfrm rot="5400000">
            <a:off x="3462461" y="1957144"/>
            <a:ext cx="44450" cy="1632438"/>
          </a:xfrm>
          <a:prstGeom prst="curvedConnector3">
            <a:avLst>
              <a:gd name="adj1" fmla="val 614287"/>
            </a:avLst>
          </a:prstGeom>
          <a:noFill/>
          <a:ln w="12700">
            <a:solidFill>
              <a:schemeClr val="bg2">
                <a:lumMod val="75000"/>
              </a:schemeClr>
            </a:solidFill>
            <a:round/>
            <a:headEnd/>
            <a:tailEnd type="triangle" w="med" len="med"/>
          </a:ln>
          <a:effectLst/>
        </p:spPr>
      </p:cxnSp>
      <p:sp>
        <p:nvSpPr>
          <p:cNvPr id="209931" name="Text Box 35"/>
          <p:cNvSpPr txBox="1">
            <a:spLocks noChangeArrowheads="1"/>
          </p:cNvSpPr>
          <p:nvPr/>
        </p:nvSpPr>
        <p:spPr bwMode="auto">
          <a:xfrm>
            <a:off x="1620948" y="2460626"/>
            <a:ext cx="1236540" cy="461665"/>
          </a:xfrm>
          <a:prstGeom prst="rect">
            <a:avLst/>
          </a:prstGeom>
          <a:noFill/>
          <a:ln w="12700" algn="ctr">
            <a:noFill/>
            <a:miter lim="800000"/>
            <a:headEnd/>
            <a:tailEnd/>
          </a:ln>
        </p:spPr>
        <p:txBody>
          <a:bodyPr wrap="square">
            <a:spAutoFit/>
          </a:bodyPr>
          <a:lstStyle/>
          <a:p>
            <a:pPr algn="ctr"/>
            <a:r>
              <a:rPr lang="en-US" altLang="ko-KR" sz="1200" dirty="0">
                <a:solidFill>
                  <a:srgbClr val="FF0000"/>
                </a:solidFill>
                <a:latin typeface="맑은 고딕" pitchFamily="50" charset="-127"/>
                <a:ea typeface="맑은 고딕" pitchFamily="50" charset="-127"/>
              </a:rPr>
              <a:t>Repeatable measurement</a:t>
            </a:r>
            <a:endParaRPr lang="ko-KR" altLang="en-US" sz="1200" dirty="0">
              <a:solidFill>
                <a:srgbClr val="FF0000"/>
              </a:solidFill>
              <a:latin typeface="맑은 고딕" pitchFamily="50" charset="-127"/>
              <a:ea typeface="맑은 고딕" pitchFamily="50" charset="-127"/>
            </a:endParaRPr>
          </a:p>
        </p:txBody>
      </p:sp>
      <p:sp>
        <p:nvSpPr>
          <p:cNvPr id="209932" name="Text Box 36"/>
          <p:cNvSpPr txBox="1">
            <a:spLocks noChangeArrowheads="1"/>
          </p:cNvSpPr>
          <p:nvPr/>
        </p:nvSpPr>
        <p:spPr bwMode="auto">
          <a:xfrm>
            <a:off x="2714612" y="2428868"/>
            <a:ext cx="1243294" cy="461665"/>
          </a:xfrm>
          <a:prstGeom prst="rect">
            <a:avLst/>
          </a:prstGeom>
          <a:noFill/>
          <a:ln w="12700" algn="ctr">
            <a:noFill/>
            <a:miter lim="800000"/>
            <a:headEnd/>
            <a:tailEnd/>
          </a:ln>
        </p:spPr>
        <p:txBody>
          <a:bodyPr wrap="square">
            <a:spAutoFit/>
          </a:bodyPr>
          <a:lstStyle/>
          <a:p>
            <a:pPr algn="ctr"/>
            <a:r>
              <a:rPr lang="en-US" altLang="ko-KR" sz="1200" dirty="0">
                <a:solidFill>
                  <a:srgbClr val="FF0000"/>
                </a:solidFill>
                <a:latin typeface="맑은 고딕" pitchFamily="50" charset="-127"/>
                <a:ea typeface="맑은 고딕" pitchFamily="50" charset="-127"/>
              </a:rPr>
              <a:t>Repeatable measurement</a:t>
            </a:r>
            <a:endParaRPr lang="ko-KR" altLang="en-US" sz="1200" dirty="0">
              <a:solidFill>
                <a:srgbClr val="FF0000"/>
              </a:solidFill>
              <a:latin typeface="맑은 고딕" pitchFamily="50" charset="-127"/>
              <a:ea typeface="맑은 고딕" pitchFamily="50" charset="-127"/>
            </a:endParaRPr>
          </a:p>
        </p:txBody>
      </p:sp>
      <p:sp>
        <p:nvSpPr>
          <p:cNvPr id="209933" name="Text Box 38"/>
          <p:cNvSpPr txBox="1">
            <a:spLocks noChangeArrowheads="1"/>
          </p:cNvSpPr>
          <p:nvPr/>
        </p:nvSpPr>
        <p:spPr bwMode="auto">
          <a:xfrm>
            <a:off x="709246" y="2000251"/>
            <a:ext cx="994888" cy="307777"/>
          </a:xfrm>
          <a:prstGeom prst="rect">
            <a:avLst/>
          </a:prstGeom>
          <a:noFill/>
          <a:ln w="12700" algn="ctr">
            <a:noFill/>
            <a:miter lim="800000"/>
            <a:headEnd/>
            <a:tailEnd/>
          </a:ln>
        </p:spPr>
        <p:txBody>
          <a:bodyPr wrap="none">
            <a:spAutoFit/>
          </a:bodyPr>
          <a:lstStyle/>
          <a:p>
            <a:r>
              <a:rPr lang="en-US" altLang="ko-KR" sz="1400" b="1" dirty="0">
                <a:latin typeface="맑은 고딕" pitchFamily="50" charset="-127"/>
                <a:ea typeface="맑은 고딕" pitchFamily="50" charset="-127"/>
              </a:rPr>
              <a:t>- Crossed</a:t>
            </a:r>
          </a:p>
        </p:txBody>
      </p:sp>
      <p:sp>
        <p:nvSpPr>
          <p:cNvPr id="15" name="Rectangle 40"/>
          <p:cNvSpPr>
            <a:spLocks noChangeArrowheads="1"/>
          </p:cNvSpPr>
          <p:nvPr/>
        </p:nvSpPr>
        <p:spPr bwMode="auto">
          <a:xfrm>
            <a:off x="571472" y="4143380"/>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a:latin typeface="맑은 고딕" pitchFamily="50" charset="-127"/>
                <a:ea typeface="맑은 고딕" pitchFamily="50" charset="-127"/>
              </a:rPr>
              <a:t>Measurer</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1</a:t>
            </a:r>
          </a:p>
        </p:txBody>
      </p:sp>
      <p:sp>
        <p:nvSpPr>
          <p:cNvPr id="16" name="Rectangle 41"/>
          <p:cNvSpPr>
            <a:spLocks noChangeArrowheads="1"/>
          </p:cNvSpPr>
          <p:nvPr/>
        </p:nvSpPr>
        <p:spPr bwMode="auto">
          <a:xfrm>
            <a:off x="3827585" y="4187825"/>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a:latin typeface="맑은 고딕" pitchFamily="50" charset="-127"/>
                <a:ea typeface="맑은 고딕" pitchFamily="50" charset="-127"/>
              </a:rPr>
              <a:t>Measurer</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2</a:t>
            </a:r>
          </a:p>
        </p:txBody>
      </p:sp>
      <p:sp>
        <p:nvSpPr>
          <p:cNvPr id="17" name="AutoShape 42"/>
          <p:cNvSpPr>
            <a:spLocks noChangeArrowheads="1"/>
          </p:cNvSpPr>
          <p:nvPr/>
        </p:nvSpPr>
        <p:spPr bwMode="auto">
          <a:xfrm>
            <a:off x="2535116" y="4117975"/>
            <a:ext cx="332643" cy="323850"/>
          </a:xfrm>
          <a:prstGeom prst="cube">
            <a:avLst>
              <a:gd name="adj" fmla="val 25000"/>
            </a:avLst>
          </a:prstGeom>
          <a:solidFill>
            <a:srgbClr val="CCECFF"/>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18" name="AutoShape 43"/>
          <p:cNvCxnSpPr>
            <a:cxnSpLocks noChangeShapeType="1"/>
            <a:stCxn id="15" idx="0"/>
            <a:endCxn id="17" idx="0"/>
          </p:cNvCxnSpPr>
          <p:nvPr/>
        </p:nvCxnSpPr>
        <p:spPr bwMode="auto">
          <a:xfrm rot="5400000" flipH="1" flipV="1">
            <a:off x="1878455" y="3279916"/>
            <a:ext cx="25405" cy="1701524"/>
          </a:xfrm>
          <a:prstGeom prst="curvedConnector3">
            <a:avLst>
              <a:gd name="adj1" fmla="val 999823"/>
            </a:avLst>
          </a:prstGeom>
          <a:noFill/>
          <a:ln w="12700">
            <a:solidFill>
              <a:schemeClr val="bg2">
                <a:lumMod val="75000"/>
              </a:schemeClr>
            </a:solidFill>
            <a:round/>
            <a:headEnd/>
            <a:tailEnd type="triangle" w="med" len="med"/>
          </a:ln>
          <a:effectLst/>
        </p:spPr>
      </p:cxnSp>
      <p:cxnSp>
        <p:nvCxnSpPr>
          <p:cNvPr id="19" name="AutoShape 44"/>
          <p:cNvCxnSpPr>
            <a:cxnSpLocks noChangeShapeType="1"/>
            <a:stCxn id="15" idx="2"/>
            <a:endCxn id="17" idx="3"/>
          </p:cNvCxnSpPr>
          <p:nvPr/>
        </p:nvCxnSpPr>
        <p:spPr bwMode="auto">
          <a:xfrm rot="5400000" flipH="1" flipV="1">
            <a:off x="1837972" y="3644247"/>
            <a:ext cx="25405" cy="1620561"/>
          </a:xfrm>
          <a:prstGeom prst="curvedConnector3">
            <a:avLst>
              <a:gd name="adj1" fmla="val -899823"/>
            </a:avLst>
          </a:prstGeom>
          <a:noFill/>
          <a:ln w="12700">
            <a:solidFill>
              <a:schemeClr val="bg2">
                <a:lumMod val="75000"/>
              </a:schemeClr>
            </a:solidFill>
            <a:round/>
            <a:headEnd/>
            <a:tailEnd type="triangle" w="med" len="med"/>
          </a:ln>
          <a:effectLst/>
        </p:spPr>
      </p:cxnSp>
      <p:cxnSp>
        <p:nvCxnSpPr>
          <p:cNvPr id="20" name="AutoShape 45"/>
          <p:cNvCxnSpPr>
            <a:cxnSpLocks noChangeShapeType="1"/>
            <a:stCxn id="16" idx="0"/>
            <a:endCxn id="17" idx="0"/>
          </p:cNvCxnSpPr>
          <p:nvPr/>
        </p:nvCxnSpPr>
        <p:spPr bwMode="auto">
          <a:xfrm rot="16200000" flipV="1">
            <a:off x="3482731" y="3374048"/>
            <a:ext cx="69850" cy="1557703"/>
          </a:xfrm>
          <a:prstGeom prst="curvedConnector3">
            <a:avLst>
              <a:gd name="adj1" fmla="val 427671"/>
            </a:avLst>
          </a:prstGeom>
          <a:noFill/>
          <a:ln w="12700">
            <a:solidFill>
              <a:schemeClr val="bg2">
                <a:lumMod val="75000"/>
              </a:schemeClr>
            </a:solidFill>
            <a:round/>
            <a:headEnd/>
            <a:tailEnd type="triangle" w="med" len="med"/>
          </a:ln>
          <a:effectLst/>
        </p:spPr>
      </p:cxnSp>
      <p:sp>
        <p:nvSpPr>
          <p:cNvPr id="209940" name="Text Box 47"/>
          <p:cNvSpPr txBox="1">
            <a:spLocks noChangeArrowheads="1"/>
          </p:cNvSpPr>
          <p:nvPr/>
        </p:nvSpPr>
        <p:spPr bwMode="auto">
          <a:xfrm>
            <a:off x="1357290" y="4077072"/>
            <a:ext cx="1277185" cy="461665"/>
          </a:xfrm>
          <a:prstGeom prst="rect">
            <a:avLst/>
          </a:prstGeom>
          <a:noFill/>
          <a:ln w="12700" algn="ctr">
            <a:noFill/>
            <a:miter lim="800000"/>
            <a:headEnd/>
            <a:tailEnd/>
          </a:ln>
        </p:spPr>
        <p:txBody>
          <a:bodyPr wrap="square">
            <a:spAutoFit/>
          </a:bodyPr>
          <a:lstStyle/>
          <a:p>
            <a:pPr algn="ctr"/>
            <a:r>
              <a:rPr lang="en-US" altLang="ko-KR" sz="1200" dirty="0">
                <a:solidFill>
                  <a:srgbClr val="FF0000"/>
                </a:solidFill>
                <a:latin typeface="맑은 고딕" pitchFamily="50" charset="-127"/>
                <a:ea typeface="맑은 고딕" pitchFamily="50" charset="-127"/>
              </a:rPr>
              <a:t>Unrepeatable measurement</a:t>
            </a:r>
            <a:endParaRPr lang="ko-KR" altLang="en-US" sz="1200" dirty="0">
              <a:solidFill>
                <a:srgbClr val="FF0000"/>
              </a:solidFill>
              <a:latin typeface="맑은 고딕" pitchFamily="50" charset="-127"/>
              <a:ea typeface="맑은 고딕" pitchFamily="50" charset="-127"/>
            </a:endParaRPr>
          </a:p>
        </p:txBody>
      </p:sp>
      <p:sp>
        <p:nvSpPr>
          <p:cNvPr id="209941" name="Text Box 49"/>
          <p:cNvSpPr txBox="1">
            <a:spLocks noChangeArrowheads="1"/>
          </p:cNvSpPr>
          <p:nvPr/>
        </p:nvSpPr>
        <p:spPr bwMode="auto">
          <a:xfrm>
            <a:off x="704850" y="3462338"/>
            <a:ext cx="926087" cy="307777"/>
          </a:xfrm>
          <a:prstGeom prst="rect">
            <a:avLst/>
          </a:prstGeom>
          <a:noFill/>
          <a:ln w="12700" algn="ctr">
            <a:noFill/>
            <a:miter lim="800000"/>
            <a:headEnd/>
            <a:tailEnd/>
          </a:ln>
        </p:spPr>
        <p:txBody>
          <a:bodyPr wrap="none">
            <a:spAutoFit/>
          </a:bodyPr>
          <a:lstStyle/>
          <a:p>
            <a:r>
              <a:rPr lang="en-US" altLang="ko-KR" sz="1400" b="1" dirty="0">
                <a:latin typeface="맑은 고딕" pitchFamily="50" charset="-127"/>
                <a:ea typeface="맑은 고딕" pitchFamily="50" charset="-127"/>
              </a:rPr>
              <a:t>- Nested</a:t>
            </a:r>
          </a:p>
        </p:txBody>
      </p:sp>
      <p:sp>
        <p:nvSpPr>
          <p:cNvPr id="23" name="Oval 50"/>
          <p:cNvSpPr>
            <a:spLocks noChangeArrowheads="1"/>
          </p:cNvSpPr>
          <p:nvPr/>
        </p:nvSpPr>
        <p:spPr bwMode="auto">
          <a:xfrm>
            <a:off x="1890347" y="4557714"/>
            <a:ext cx="266700" cy="288925"/>
          </a:xfrm>
          <a:prstGeom prst="ellipse">
            <a:avLst/>
          </a:prstGeom>
          <a:solidFill>
            <a:schemeClr val="bg1"/>
          </a:solidFill>
          <a:ln w="12700" algn="ctr">
            <a:solidFill>
              <a:schemeClr val="bg2">
                <a:lumMod val="60000"/>
                <a:lumOff val="40000"/>
              </a:schemeClr>
            </a:solidFill>
            <a:round/>
            <a:headEnd/>
            <a:tailEnd/>
          </a:ln>
          <a:effectLst/>
        </p:spPr>
        <p:txBody>
          <a:bodyPr wrap="none" anchor="ctr"/>
          <a:lstStyle/>
          <a:p>
            <a:pPr algn="ctr">
              <a:defRPr/>
            </a:pPr>
            <a:r>
              <a:rPr lang="en-US" altLang="ko-KR" sz="1200" dirty="0">
                <a:latin typeface="맑은 고딕" pitchFamily="50" charset="-127"/>
                <a:ea typeface="맑은 고딕" pitchFamily="50" charset="-127"/>
              </a:rPr>
              <a:t>X</a:t>
            </a:r>
          </a:p>
        </p:txBody>
      </p:sp>
      <p:sp>
        <p:nvSpPr>
          <p:cNvPr id="24" name="Oval 51"/>
          <p:cNvSpPr>
            <a:spLocks noChangeArrowheads="1"/>
          </p:cNvSpPr>
          <p:nvPr/>
        </p:nvSpPr>
        <p:spPr bwMode="auto">
          <a:xfrm>
            <a:off x="3316166" y="3721101"/>
            <a:ext cx="266700" cy="288925"/>
          </a:xfrm>
          <a:prstGeom prst="ellipse">
            <a:avLst/>
          </a:prstGeom>
          <a:solidFill>
            <a:schemeClr val="bg1"/>
          </a:solidFill>
          <a:ln w="12700" algn="ctr">
            <a:solidFill>
              <a:schemeClr val="bg2">
                <a:lumMod val="60000"/>
                <a:lumOff val="40000"/>
              </a:schemeClr>
            </a:solidFill>
            <a:round/>
            <a:headEnd/>
            <a:tailEnd/>
          </a:ln>
          <a:effectLst/>
        </p:spPr>
        <p:txBody>
          <a:bodyPr wrap="none" anchor="ctr"/>
          <a:lstStyle/>
          <a:p>
            <a:pPr algn="ctr">
              <a:defRPr/>
            </a:pPr>
            <a:r>
              <a:rPr lang="en-US" altLang="ko-KR" sz="1200" dirty="0">
                <a:latin typeface="맑은 고딕" pitchFamily="50" charset="-127"/>
                <a:ea typeface="맑은 고딕" pitchFamily="50" charset="-127"/>
              </a:rPr>
              <a:t>X</a:t>
            </a:r>
          </a:p>
        </p:txBody>
      </p:sp>
      <p:sp>
        <p:nvSpPr>
          <p:cNvPr id="25" name="Oval 52"/>
          <p:cNvSpPr>
            <a:spLocks noChangeArrowheads="1"/>
          </p:cNvSpPr>
          <p:nvPr/>
        </p:nvSpPr>
        <p:spPr bwMode="auto">
          <a:xfrm>
            <a:off x="1824405" y="3732214"/>
            <a:ext cx="266700" cy="288925"/>
          </a:xfrm>
          <a:prstGeom prst="ellipse">
            <a:avLst/>
          </a:prstGeom>
          <a:solidFill>
            <a:schemeClr val="bg1"/>
          </a:solidFill>
          <a:ln w="12700" algn="ctr">
            <a:solidFill>
              <a:schemeClr val="bg2">
                <a:lumMod val="60000"/>
                <a:lumOff val="40000"/>
              </a:schemeClr>
            </a:solidFill>
            <a:round/>
            <a:headEnd/>
            <a:tailEnd/>
          </a:ln>
          <a:effectLst/>
        </p:spPr>
        <p:txBody>
          <a:bodyPr wrap="none" anchor="ctr"/>
          <a:lstStyle/>
          <a:p>
            <a:pPr algn="ctr">
              <a:defRPr/>
            </a:pPr>
            <a:r>
              <a:rPr lang="en-US" altLang="ko-KR" sz="1200" dirty="0">
                <a:latin typeface="맑은 고딕" pitchFamily="50" charset="-127"/>
                <a:ea typeface="맑은 고딕" pitchFamily="50" charset="-127"/>
              </a:rPr>
              <a:t>O</a:t>
            </a:r>
          </a:p>
        </p:txBody>
      </p:sp>
      <p:sp>
        <p:nvSpPr>
          <p:cNvPr id="209945" name="Text Box 53"/>
          <p:cNvSpPr txBox="1">
            <a:spLocks noChangeArrowheads="1"/>
          </p:cNvSpPr>
          <p:nvPr/>
        </p:nvSpPr>
        <p:spPr bwMode="auto">
          <a:xfrm>
            <a:off x="2214546" y="4143380"/>
            <a:ext cx="1979734" cy="461665"/>
          </a:xfrm>
          <a:prstGeom prst="rect">
            <a:avLst/>
          </a:prstGeom>
          <a:noFill/>
          <a:ln w="12700" algn="ctr">
            <a:noFill/>
            <a:miter lim="800000"/>
            <a:headEnd/>
            <a:tailEnd/>
          </a:ln>
        </p:spPr>
        <p:txBody>
          <a:bodyPr>
            <a:spAutoFit/>
          </a:bodyPr>
          <a:lstStyle/>
          <a:p>
            <a:pPr algn="ctr"/>
            <a:r>
              <a:rPr lang="en-US" altLang="ko-KR" sz="1200" dirty="0">
                <a:solidFill>
                  <a:srgbClr val="FF0000"/>
                </a:solidFill>
                <a:latin typeface="맑은 고딕" pitchFamily="50" charset="-127"/>
                <a:ea typeface="맑은 고딕" pitchFamily="50" charset="-127"/>
              </a:rPr>
              <a:t>Unable to measure another measurer</a:t>
            </a:r>
            <a:endParaRPr lang="ko-KR" altLang="en-US" sz="1200" dirty="0">
              <a:solidFill>
                <a:srgbClr val="FF0000"/>
              </a:solidFill>
              <a:latin typeface="맑은 고딕" pitchFamily="50" charset="-127"/>
              <a:ea typeface="맑은 고딕" pitchFamily="50" charset="-127"/>
            </a:endParaRPr>
          </a:p>
        </p:txBody>
      </p:sp>
      <p:sp>
        <p:nvSpPr>
          <p:cNvPr id="27" name="AutoShape 55"/>
          <p:cNvSpPr>
            <a:spLocks noChangeArrowheads="1"/>
          </p:cNvSpPr>
          <p:nvPr/>
        </p:nvSpPr>
        <p:spPr bwMode="auto">
          <a:xfrm>
            <a:off x="2535116" y="4727575"/>
            <a:ext cx="332643" cy="323850"/>
          </a:xfrm>
          <a:prstGeom prst="cube">
            <a:avLst>
              <a:gd name="adj" fmla="val 25000"/>
            </a:avLst>
          </a:prstGeom>
          <a:solidFill>
            <a:srgbClr val="CCECFF"/>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28" name="AutoShape 56"/>
          <p:cNvCxnSpPr>
            <a:cxnSpLocks noChangeShapeType="1"/>
            <a:stCxn id="15" idx="2"/>
            <a:endCxn id="27" idx="2"/>
          </p:cNvCxnSpPr>
          <p:nvPr/>
        </p:nvCxnSpPr>
        <p:spPr bwMode="auto">
          <a:xfrm rot="16200000" flipH="1">
            <a:off x="1556380" y="3951244"/>
            <a:ext cx="462751" cy="1494721"/>
          </a:xfrm>
          <a:prstGeom prst="curvedConnector2">
            <a:avLst/>
          </a:prstGeom>
          <a:noFill/>
          <a:ln w="12700">
            <a:solidFill>
              <a:schemeClr val="bg2">
                <a:lumMod val="75000"/>
              </a:schemeClr>
            </a:solidFill>
            <a:round/>
            <a:headEnd/>
            <a:tailEnd type="triangle" w="med" len="med"/>
          </a:ln>
          <a:effectLst/>
        </p:spPr>
      </p:cxnSp>
      <p:sp>
        <p:nvSpPr>
          <p:cNvPr id="29" name="AutoShape 57"/>
          <p:cNvSpPr>
            <a:spLocks noChangeArrowheads="1"/>
          </p:cNvSpPr>
          <p:nvPr/>
        </p:nvSpPr>
        <p:spPr bwMode="auto">
          <a:xfrm>
            <a:off x="2535116" y="3489325"/>
            <a:ext cx="332643" cy="323850"/>
          </a:xfrm>
          <a:prstGeom prst="cube">
            <a:avLst>
              <a:gd name="adj" fmla="val 25000"/>
            </a:avLst>
          </a:prstGeom>
          <a:solidFill>
            <a:schemeClr val="bg2"/>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sp>
        <p:nvSpPr>
          <p:cNvPr id="30" name="AutoShape 58"/>
          <p:cNvSpPr>
            <a:spLocks noChangeArrowheads="1"/>
          </p:cNvSpPr>
          <p:nvPr/>
        </p:nvSpPr>
        <p:spPr bwMode="auto">
          <a:xfrm>
            <a:off x="2535116" y="5281613"/>
            <a:ext cx="332643" cy="323850"/>
          </a:xfrm>
          <a:prstGeom prst="cube">
            <a:avLst>
              <a:gd name="adj" fmla="val 25000"/>
            </a:avLst>
          </a:prstGeom>
          <a:solidFill>
            <a:schemeClr val="bg2"/>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31" name="AutoShape 59"/>
          <p:cNvCxnSpPr>
            <a:cxnSpLocks noChangeShapeType="1"/>
            <a:stCxn id="16" idx="0"/>
            <a:endCxn id="29" idx="5"/>
          </p:cNvCxnSpPr>
          <p:nvPr/>
        </p:nvCxnSpPr>
        <p:spPr bwMode="auto">
          <a:xfrm rot="16200000" flipV="1">
            <a:off x="3293208" y="3184525"/>
            <a:ext cx="577850" cy="1428750"/>
          </a:xfrm>
          <a:prstGeom prst="curvedConnector2">
            <a:avLst/>
          </a:prstGeom>
          <a:noFill/>
          <a:ln w="12700">
            <a:solidFill>
              <a:schemeClr val="bg2">
                <a:lumMod val="75000"/>
              </a:schemeClr>
            </a:solidFill>
            <a:round/>
            <a:headEnd/>
            <a:tailEnd type="triangle" w="med" len="med"/>
          </a:ln>
          <a:effectLst/>
        </p:spPr>
      </p:cxnSp>
      <p:cxnSp>
        <p:nvCxnSpPr>
          <p:cNvPr id="32" name="AutoShape 60"/>
          <p:cNvCxnSpPr>
            <a:cxnSpLocks noChangeShapeType="1"/>
            <a:stCxn id="16" idx="2"/>
            <a:endCxn id="30" idx="5"/>
          </p:cNvCxnSpPr>
          <p:nvPr/>
        </p:nvCxnSpPr>
        <p:spPr bwMode="auto">
          <a:xfrm rot="5400000">
            <a:off x="3136839" y="4242594"/>
            <a:ext cx="890588" cy="1428750"/>
          </a:xfrm>
          <a:prstGeom prst="curvedConnector2">
            <a:avLst/>
          </a:prstGeom>
          <a:noFill/>
          <a:ln w="12700">
            <a:solidFill>
              <a:schemeClr val="bg2">
                <a:lumMod val="75000"/>
              </a:schemeClr>
            </a:solidFill>
            <a:round/>
            <a:headEnd/>
            <a:tailEnd type="triangle" w="med" len="med"/>
          </a:ln>
          <a:effectLst/>
        </p:spPr>
      </p:cxnSp>
      <p:sp>
        <p:nvSpPr>
          <p:cNvPr id="34" name="Text Box 63"/>
          <p:cNvSpPr txBox="1">
            <a:spLocks noChangeArrowheads="1"/>
          </p:cNvSpPr>
          <p:nvPr/>
        </p:nvSpPr>
        <p:spPr bwMode="auto">
          <a:xfrm>
            <a:off x="5297366" y="2282826"/>
            <a:ext cx="3081703" cy="276999"/>
          </a:xfrm>
          <a:prstGeom prst="rect">
            <a:avLst/>
          </a:prstGeom>
          <a:solidFill>
            <a:schemeClr val="bg1"/>
          </a:solidFill>
          <a:ln w="9525" algn="ctr">
            <a:solidFill>
              <a:schemeClr val="bg1">
                <a:lumMod val="50000"/>
              </a:schemeClr>
            </a:solidFill>
            <a:miter lim="800000"/>
            <a:headEnd/>
            <a:tailEnd/>
          </a:ln>
          <a:effectLst/>
        </p:spPr>
        <p:txBody>
          <a:bodyPr>
            <a:spAutoFit/>
          </a:bodyPr>
          <a:lstStyle/>
          <a:p>
            <a:pPr>
              <a:defRPr/>
            </a:pPr>
            <a:r>
              <a:rPr lang="en-US" altLang="ko-KR" sz="1200" dirty="0">
                <a:latin typeface="맑은 고딕" pitchFamily="50" charset="-127"/>
                <a:ea typeface="맑은 고딕" pitchFamily="50" charset="-127"/>
              </a:rPr>
              <a:t>Typical cases of length, weight, etc </a:t>
            </a:r>
          </a:p>
        </p:txBody>
      </p:sp>
      <p:sp>
        <p:nvSpPr>
          <p:cNvPr id="36" name="Text Box 10"/>
          <p:cNvSpPr txBox="1">
            <a:spLocks noChangeArrowheads="1"/>
          </p:cNvSpPr>
          <p:nvPr/>
        </p:nvSpPr>
        <p:spPr bwMode="auto">
          <a:xfrm>
            <a:off x="5292080" y="3598277"/>
            <a:ext cx="3235074" cy="749812"/>
          </a:xfrm>
          <a:prstGeom prst="rect">
            <a:avLst/>
          </a:prstGeom>
          <a:solidFill>
            <a:schemeClr val="bg1"/>
          </a:solidFill>
          <a:ln w="9525" algn="ctr">
            <a:solidFill>
              <a:srgbClr val="C00000"/>
            </a:solidFill>
            <a:miter lim="800000"/>
            <a:headEnd/>
            <a:tailEnd/>
          </a:ln>
          <a:effectLst/>
        </p:spPr>
        <p:txBody>
          <a:bodyPr wrap="square" lIns="36000" tIns="36000" rIns="36000" bIns="36000" anchor="ctr">
            <a:spAutoFit/>
          </a:bodyPr>
          <a:lstStyle/>
          <a:p>
            <a:pPr>
              <a:defRPr/>
            </a:pPr>
            <a:r>
              <a:rPr lang="ko-KR" altLang="en-US" sz="1100" dirty="0">
                <a:solidFill>
                  <a:srgbClr val="C00000"/>
                </a:solidFill>
                <a:latin typeface="맑은 고딕" pitchFamily="50" charset="-127"/>
                <a:ea typeface="맑은 고딕" pitchFamily="50" charset="-127"/>
              </a:rPr>
              <a:t>주의 사항</a:t>
            </a:r>
          </a:p>
          <a:p>
            <a:pPr>
              <a:defRPr/>
            </a:pPr>
            <a:r>
              <a:rPr lang="ko-KR" altLang="en-US" sz="1100" dirty="0">
                <a:solidFill>
                  <a:srgbClr val="C00000"/>
                </a:solidFill>
                <a:latin typeface="맑은 고딕" pitchFamily="50" charset="-127"/>
                <a:ea typeface="맑은 고딕" pitchFamily="50" charset="-127"/>
              </a:rPr>
              <a:t> </a:t>
            </a:r>
            <a:r>
              <a:rPr lang="en-US" altLang="ko-KR" sz="1100" dirty="0">
                <a:solidFill>
                  <a:srgbClr val="C00000"/>
                </a:solidFill>
                <a:latin typeface="맑은 고딕" pitchFamily="50" charset="-127"/>
                <a:ea typeface="맑은 고딕" pitchFamily="50" charset="-127"/>
              </a:rPr>
              <a:t>-</a:t>
            </a:r>
            <a:r>
              <a:rPr lang="ko-KR" altLang="en-US" sz="1100" dirty="0">
                <a:solidFill>
                  <a:srgbClr val="C00000"/>
                </a:solidFill>
                <a:latin typeface="맑은 고딕" pitchFamily="50" charset="-127"/>
                <a:ea typeface="맑은 고딕" pitchFamily="50" charset="-127"/>
              </a:rPr>
              <a:t>실제 반복이 불가능하므로</a:t>
            </a:r>
            <a:r>
              <a:rPr lang="en-US" altLang="ko-KR" sz="1100" dirty="0">
                <a:solidFill>
                  <a:srgbClr val="C00000"/>
                </a:solidFill>
                <a:latin typeface="맑은 고딕" pitchFamily="50" charset="-127"/>
                <a:ea typeface="맑은 고딕" pitchFamily="50" charset="-127"/>
              </a:rPr>
              <a:t>, </a:t>
            </a:r>
            <a:r>
              <a:rPr lang="ko-KR" altLang="en-US" sz="1100" dirty="0">
                <a:solidFill>
                  <a:srgbClr val="C00000"/>
                </a:solidFill>
                <a:latin typeface="맑은 고딕" pitchFamily="50" charset="-127"/>
                <a:ea typeface="맑은 고딕" pitchFamily="50" charset="-127"/>
              </a:rPr>
              <a:t>동일 </a:t>
            </a:r>
            <a:r>
              <a:rPr lang="en-US" altLang="ko-KR" sz="1100" dirty="0">
                <a:solidFill>
                  <a:srgbClr val="C00000"/>
                </a:solidFill>
                <a:latin typeface="맑은 고딕" pitchFamily="50" charset="-127"/>
                <a:ea typeface="맑은 고딕" pitchFamily="50" charset="-127"/>
              </a:rPr>
              <a:t>Lot </a:t>
            </a:r>
            <a:r>
              <a:rPr lang="ko-KR" altLang="en-US" sz="1100" dirty="0">
                <a:solidFill>
                  <a:srgbClr val="C00000"/>
                </a:solidFill>
                <a:latin typeface="맑은 고딕" pitchFamily="50" charset="-127"/>
                <a:ea typeface="맑은 고딕" pitchFamily="50" charset="-127"/>
              </a:rPr>
              <a:t>또는 동일</a:t>
            </a:r>
            <a:endParaRPr lang="en-US" altLang="ko-KR" sz="1100" dirty="0">
              <a:solidFill>
                <a:srgbClr val="C00000"/>
              </a:solidFill>
              <a:latin typeface="맑은 고딕" pitchFamily="50" charset="-127"/>
              <a:ea typeface="맑은 고딕" pitchFamily="50" charset="-127"/>
            </a:endParaRPr>
          </a:p>
          <a:p>
            <a:pPr>
              <a:defRPr/>
            </a:pPr>
            <a:r>
              <a:rPr lang="en-US" altLang="ko-KR" sz="1100" dirty="0">
                <a:solidFill>
                  <a:srgbClr val="C00000"/>
                </a:solidFill>
                <a:latin typeface="맑은 고딕" pitchFamily="50" charset="-127"/>
                <a:ea typeface="맑은 고딕" pitchFamily="50" charset="-127"/>
              </a:rPr>
              <a:t>  Batch</a:t>
            </a:r>
            <a:r>
              <a:rPr lang="ko-KR" altLang="en-US" sz="1100" dirty="0">
                <a:solidFill>
                  <a:srgbClr val="C00000"/>
                </a:solidFill>
                <a:latin typeface="맑은 고딕" pitchFamily="50" charset="-127"/>
                <a:ea typeface="맑은 고딕" pitchFamily="50" charset="-127"/>
              </a:rPr>
              <a:t>에서 가능한 동일한 부품</a:t>
            </a:r>
            <a:r>
              <a:rPr lang="en-US" altLang="ko-KR" sz="1100" dirty="0">
                <a:solidFill>
                  <a:srgbClr val="C00000"/>
                </a:solidFill>
                <a:latin typeface="맑은 고딕" pitchFamily="50" charset="-127"/>
                <a:ea typeface="맑은 고딕" pitchFamily="50" charset="-127"/>
              </a:rPr>
              <a:t>/</a:t>
            </a:r>
            <a:r>
              <a:rPr lang="ko-KR" altLang="en-US" sz="1100" dirty="0">
                <a:solidFill>
                  <a:srgbClr val="C00000"/>
                </a:solidFill>
                <a:latin typeface="맑은 고딕" pitchFamily="50" charset="-127"/>
                <a:ea typeface="맑은 고딕" pitchFamily="50" charset="-127"/>
              </a:rPr>
              <a:t>제품을 선정할 수</a:t>
            </a:r>
            <a:endParaRPr lang="en-US" altLang="ko-KR" sz="1100" dirty="0">
              <a:solidFill>
                <a:srgbClr val="C00000"/>
              </a:solidFill>
              <a:latin typeface="맑은 고딕" pitchFamily="50" charset="-127"/>
              <a:ea typeface="맑은 고딕" pitchFamily="50" charset="-127"/>
            </a:endParaRPr>
          </a:p>
          <a:p>
            <a:pPr>
              <a:defRPr/>
            </a:pPr>
            <a:r>
              <a:rPr lang="en-US" altLang="ko-KR" sz="1100" dirty="0">
                <a:solidFill>
                  <a:srgbClr val="C00000"/>
                </a:solidFill>
                <a:latin typeface="맑은 고딕" pitchFamily="50" charset="-127"/>
                <a:ea typeface="맑은 고딕" pitchFamily="50" charset="-127"/>
              </a:rPr>
              <a:t>  </a:t>
            </a:r>
            <a:r>
              <a:rPr lang="ko-KR" altLang="en-US" sz="1100" dirty="0">
                <a:solidFill>
                  <a:srgbClr val="C00000"/>
                </a:solidFill>
                <a:latin typeface="맑은 고딕" pitchFamily="50" charset="-127"/>
                <a:ea typeface="맑은 고딕" pitchFamily="50" charset="-127"/>
              </a:rPr>
              <a:t>있는 경우에만 적용한다</a:t>
            </a:r>
            <a:r>
              <a:rPr lang="en-US" altLang="ko-KR" sz="1100" dirty="0">
                <a:solidFill>
                  <a:srgbClr val="C00000"/>
                </a:solidFill>
                <a:latin typeface="맑은 고딕" pitchFamily="50" charset="-127"/>
                <a:ea typeface="맑은 고딕" pitchFamily="50" charset="-127"/>
              </a:rPr>
              <a:t>.</a:t>
            </a:r>
            <a:endParaRPr lang="en-US" altLang="ko-KR" sz="1100" dirty="0">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96</a:t>
            </a:fld>
            <a:endParaRPr lang="ko-KR" altLang="en-US" dirty="0"/>
          </a:p>
        </p:txBody>
      </p:sp>
      <p:sp>
        <p:nvSpPr>
          <p:cNvPr id="37" name="Text Box 10"/>
          <p:cNvSpPr txBox="1">
            <a:spLocks noChangeArrowheads="1"/>
          </p:cNvSpPr>
          <p:nvPr/>
        </p:nvSpPr>
        <p:spPr bwMode="auto">
          <a:xfrm>
            <a:off x="5292080" y="3068960"/>
            <a:ext cx="3235074" cy="2273306"/>
          </a:xfrm>
          <a:prstGeom prst="rect">
            <a:avLst/>
          </a:prstGeom>
          <a:solidFill>
            <a:schemeClr val="bg1"/>
          </a:solidFill>
          <a:ln w="9525" algn="ctr">
            <a:solidFill>
              <a:srgbClr val="C00000"/>
            </a:solidFill>
            <a:miter lim="800000"/>
            <a:headEnd/>
            <a:tailEnd/>
          </a:ln>
          <a:effectLst/>
        </p:spPr>
        <p:txBody>
          <a:bodyPr wrap="square" lIns="36000" tIns="36000" rIns="36000" bIns="36000" anchor="ctr">
            <a:spAutoFit/>
          </a:bodyPr>
          <a:lstStyle/>
          <a:p>
            <a:pPr>
              <a:defRPr/>
            </a:pPr>
            <a:endParaRPr lang="en-US" altLang="ko-KR" sz="1100" dirty="0">
              <a:latin typeface="맑은 고딕" pitchFamily="50" charset="-127"/>
              <a:ea typeface="맑은 고딕" pitchFamily="50" charset="-127"/>
            </a:endParaRPr>
          </a:p>
          <a:p>
            <a:pPr>
              <a:defRPr/>
            </a:pPr>
            <a:r>
              <a:rPr lang="en-US" altLang="ko-KR" sz="1100" dirty="0">
                <a:latin typeface="맑은 고딕" pitchFamily="50" charset="-127"/>
                <a:ea typeface="맑은 고딕" pitchFamily="50" charset="-127"/>
              </a:rPr>
              <a:t>There are two possible applications.</a:t>
            </a:r>
          </a:p>
          <a:p>
            <a:pPr>
              <a:defRPr/>
            </a:pPr>
            <a:endParaRPr lang="en-US" altLang="ko-KR" sz="1100" dirty="0">
              <a:latin typeface="맑은 고딕" pitchFamily="50" charset="-127"/>
              <a:ea typeface="맑은 고딕" pitchFamily="50" charset="-127"/>
            </a:endParaRPr>
          </a:p>
          <a:p>
            <a:pPr marL="228600" indent="-228600">
              <a:buAutoNum type="arabicPeriod"/>
              <a:defRPr/>
            </a:pPr>
            <a:r>
              <a:rPr lang="en-US" altLang="ko-KR" sz="1100" dirty="0">
                <a:latin typeface="맑은 고딕" pitchFamily="50" charset="-127"/>
                <a:ea typeface="맑은 고딕" pitchFamily="50" charset="-127"/>
              </a:rPr>
              <a:t>Develop Crossed Gage R &amp; R. If the product </a:t>
            </a:r>
          </a:p>
          <a:p>
            <a:pPr marL="228600" indent="-228600">
              <a:defRPr/>
            </a:pPr>
            <a:r>
              <a:rPr lang="en-US" altLang="ko-KR" sz="1100" dirty="0">
                <a:latin typeface="맑은 고딕" pitchFamily="50" charset="-127"/>
                <a:ea typeface="맑은 고딕" pitchFamily="50" charset="-127"/>
              </a:rPr>
              <a:t>     has similar characteristics in the lot, and the sample can be obtained in sufficient quantity to repeat the measure x times.</a:t>
            </a:r>
          </a:p>
          <a:p>
            <a:pPr marL="228600" indent="-228600">
              <a:defRPr/>
            </a:pPr>
            <a:endParaRPr lang="en-US" altLang="ko-KR" sz="1100" dirty="0">
              <a:latin typeface="맑은 고딕" pitchFamily="50" charset="-127"/>
              <a:ea typeface="맑은 고딕" pitchFamily="50" charset="-127"/>
            </a:endParaRPr>
          </a:p>
          <a:p>
            <a:pPr marL="228600" indent="-228600">
              <a:buAutoNum type="arabicPeriod" startAt="2"/>
              <a:defRPr/>
            </a:pPr>
            <a:r>
              <a:rPr lang="en-US" sz="1100" dirty="0"/>
              <a:t>Deploy with Nested Gage R &amp; R. If only two </a:t>
            </a:r>
          </a:p>
          <a:p>
            <a:pPr marL="228600" indent="-228600">
              <a:defRPr/>
            </a:pPr>
            <a:r>
              <a:rPr lang="en-US" sz="1100" dirty="0"/>
              <a:t>     similar products can be obtained within a lot, two Nested Gage R&amp;R will be performed</a:t>
            </a:r>
          </a:p>
          <a:p>
            <a:pPr marL="228600" indent="-228600">
              <a:defRPr/>
            </a:pPr>
            <a:r>
              <a:rPr lang="en-US" sz="1100" dirty="0"/>
              <a:t>     by assigning 2 units to each measurer </a:t>
            </a:r>
          </a:p>
          <a:p>
            <a:pPr marL="228600" indent="-228600">
              <a:defRPr/>
            </a:pPr>
            <a:r>
              <a:rPr lang="en-US" sz="1100" dirty="0"/>
              <a:t>     inevitably.</a:t>
            </a:r>
            <a:endParaRPr lang="en-US" altLang="ko-KR" sz="1100" dirty="0">
              <a:solidFill>
                <a:srgbClr val="C00000"/>
              </a:solidFill>
              <a:latin typeface="맑은 고딕" pitchFamily="50" charset="-127"/>
              <a:ea typeface="맑은 고딕" pitchFamily="50" charset="-127"/>
            </a:endParaRPr>
          </a:p>
        </p:txBody>
      </p:sp>
      <p:sp>
        <p:nvSpPr>
          <p:cNvPr id="13" name="TextBox 12"/>
          <p:cNvSpPr txBox="1"/>
          <p:nvPr/>
        </p:nvSpPr>
        <p:spPr>
          <a:xfrm>
            <a:off x="251520" y="5949280"/>
            <a:ext cx="8892480" cy="738664"/>
          </a:xfrm>
          <a:prstGeom prst="rect">
            <a:avLst/>
          </a:prstGeom>
          <a:noFill/>
        </p:spPr>
        <p:txBody>
          <a:bodyPr wrap="square" rtlCol="0">
            <a:spAutoFit/>
          </a:bodyPr>
          <a:lstStyle/>
          <a:p>
            <a:r>
              <a:rPr lang="en-US" altLang="ko-KR" sz="1400" kern="0" dirty="0">
                <a:solidFill>
                  <a:sysClr val="windowText" lastClr="000000"/>
                </a:solidFill>
                <a:latin typeface="맑은 고딕" pitchFamily="50" charset="-127"/>
                <a:ea typeface="맑은 고딕" pitchFamily="50" charset="-127"/>
              </a:rPr>
              <a:t>※  </a:t>
            </a:r>
            <a:r>
              <a:rPr lang="en-US" sz="1400" dirty="0"/>
              <a:t>If a comparable sample, which can be regarded as the same sample, can not be prepared, </a:t>
            </a:r>
          </a:p>
          <a:p>
            <a:r>
              <a:rPr lang="en-US" sz="1400" dirty="0"/>
              <a:t>    the result of the analysis may not be meaningful.</a:t>
            </a:r>
            <a:endParaRPr lang="en-US" altLang="ko-KR" sz="1400" kern="0" dirty="0">
              <a:solidFill>
                <a:sysClr val="windowText" lastClr="000000"/>
              </a:solidFill>
              <a:latin typeface="맑은 고딕" pitchFamily="50" charset="-127"/>
              <a:ea typeface="맑은 고딕" pitchFamily="50" charset="-127"/>
            </a:endParaRPr>
          </a:p>
          <a:p>
            <a:endParaRPr lang="ko-KR" altLang="en-US" sz="1400" dirty="0"/>
          </a:p>
        </p:txBody>
      </p:sp>
      <p:sp>
        <p:nvSpPr>
          <p:cNvPr id="14" name="TextBox 13"/>
          <p:cNvSpPr txBox="1"/>
          <p:nvPr/>
        </p:nvSpPr>
        <p:spPr>
          <a:xfrm>
            <a:off x="642910" y="1580365"/>
            <a:ext cx="8358246" cy="461665"/>
          </a:xfrm>
          <a:prstGeom prst="rect">
            <a:avLst/>
          </a:prstGeom>
          <a:noFill/>
        </p:spPr>
        <p:txBody>
          <a:bodyPr wrap="square" rtlCol="0">
            <a:spAutoFit/>
          </a:bodyPr>
          <a:lstStyle/>
          <a:p>
            <a:r>
              <a:rPr lang="en-US" sz="1200" dirty="0"/>
              <a:t>Ex) Compression strength of terminals connected to electric wire, tensile strength of battery cell, adhesion strength</a:t>
            </a:r>
          </a:p>
          <a:p>
            <a:r>
              <a:rPr lang="en-US" sz="1200" dirty="0"/>
              <a:t>    of adhesive etc.</a:t>
            </a:r>
            <a:endParaRPr lang="ko-KR" altLang="en-US" sz="1200" dirty="0"/>
          </a:p>
        </p:txBody>
      </p:sp>
      <p:sp>
        <p:nvSpPr>
          <p:cNvPr id="38" name="TextBox 37"/>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39" name="직사각형 38"/>
          <p:cNvSpPr/>
          <p:nvPr/>
        </p:nvSpPr>
        <p:spPr>
          <a:xfrm>
            <a:off x="5286380" y="179348"/>
            <a:ext cx="3863558"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Destructive inspection</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12678664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Continuous</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Data Gage R&amp;R (Nested)</a:t>
            </a:r>
          </a:p>
        </p:txBody>
      </p:sp>
      <p:sp>
        <p:nvSpPr>
          <p:cNvPr id="3" name="Rectangle 5"/>
          <p:cNvSpPr>
            <a:spLocks noChangeArrowheads="1"/>
          </p:cNvSpPr>
          <p:nvPr/>
        </p:nvSpPr>
        <p:spPr bwMode="auto">
          <a:xfrm>
            <a:off x="642910" y="1214422"/>
            <a:ext cx="8286808" cy="2308324"/>
          </a:xfrm>
          <a:prstGeom prst="rect">
            <a:avLst/>
          </a:prstGeom>
          <a:solidFill>
            <a:srgbClr val="FFFFFF"/>
          </a:solidFill>
          <a:ln w="9525" algn="ctr">
            <a:solidFill>
              <a:schemeClr val="bg1">
                <a:lumMod val="65000"/>
              </a:schemeClr>
            </a:solidFill>
            <a:miter lim="800000"/>
            <a:headEnd/>
            <a:tailEnd/>
          </a:ln>
        </p:spPr>
        <p:txBody>
          <a:bodyPr wrap="square">
            <a:spAutoFit/>
          </a:bodyPr>
          <a:lstStyle/>
          <a:p>
            <a:pPr>
              <a:lnSpc>
                <a:spcPct val="120000"/>
              </a:lnSpc>
              <a:defRPr/>
            </a:pPr>
            <a:r>
              <a:rPr lang="en-US" altLang="ko-KR" sz="1200" b="1" dirty="0">
                <a:latin typeface="맑은 고딕" pitchFamily="50" charset="-127"/>
                <a:ea typeface="맑은 고딕" pitchFamily="50" charset="-127"/>
              </a:rPr>
              <a:t>To confirm the reproducibility and repeatability of the Gage used in the measurement of Project Y, we will perform Gage R&amp;R. However, it was not possible to repeat the same sample, and Data was collected as follows.</a:t>
            </a:r>
          </a:p>
          <a:p>
            <a:pPr>
              <a:lnSpc>
                <a:spcPct val="120000"/>
              </a:lnSpc>
              <a:buFontTx/>
              <a:buChar char="-"/>
              <a:defRPr/>
            </a:pPr>
            <a:r>
              <a:rPr lang="en-US" altLang="ko-KR" sz="1200" dirty="0">
                <a:latin typeface="맑은 고딕" pitchFamily="50" charset="-127"/>
                <a:ea typeface="맑은 고딕" pitchFamily="50" charset="-127"/>
              </a:rPr>
              <a:t> Parts : Select two samples from each of 15 small batches which is small dispersion in batch. At this time, it is        </a:t>
            </a:r>
          </a:p>
          <a:p>
            <a:pPr>
              <a:lnSpc>
                <a:spcPct val="120000"/>
              </a:lnSpc>
              <a:defRPr/>
            </a:pPr>
            <a:r>
              <a:rPr lang="en-US" altLang="ko-KR" sz="1200" dirty="0">
                <a:latin typeface="맑은 고딕" pitchFamily="50" charset="-127"/>
                <a:ea typeface="맑은 고딕" pitchFamily="50" charset="-127"/>
              </a:rPr>
              <a:t>          assumed that the samples collected from each batch are the same</a:t>
            </a:r>
          </a:p>
          <a:p>
            <a:pPr>
              <a:lnSpc>
                <a:spcPct val="120000"/>
              </a:lnSpc>
              <a:buFontTx/>
              <a:buChar char="-"/>
              <a:defRPr/>
            </a:pPr>
            <a:r>
              <a:rPr lang="en-US" altLang="ko-KR" sz="1200" dirty="0">
                <a:latin typeface="맑은 고딕" pitchFamily="50" charset="-127"/>
                <a:ea typeface="맑은 고딕" pitchFamily="50" charset="-127"/>
              </a:rPr>
              <a:t> Operators : Randomly select three of the 15 evaluators who are currently in the process, irrespective of proficiency.</a:t>
            </a:r>
            <a:endParaRPr lang="ko-KR" altLang="en-US" sz="1200" dirty="0">
              <a:latin typeface="맑은 고딕" pitchFamily="50" charset="-127"/>
              <a:ea typeface="맑은 고딕" pitchFamily="50" charset="-127"/>
            </a:endParaRPr>
          </a:p>
          <a:p>
            <a:pPr>
              <a:lnSpc>
                <a:spcPct val="120000"/>
              </a:lnSpc>
              <a:defRPr/>
            </a:pPr>
            <a:r>
              <a:rPr lang="en-US" altLang="ko-KR" sz="1200" dirty="0">
                <a:latin typeface="맑은 고딕" pitchFamily="50" charset="-127"/>
                <a:ea typeface="맑은 고딕" pitchFamily="50" charset="-127"/>
              </a:rPr>
              <a:t>- Data Collection  : Each evaluator measures the sample from the assigned batch</a:t>
            </a:r>
            <a:br>
              <a:rPr lang="en-US" altLang="ko-KR" sz="1200" dirty="0">
                <a:latin typeface="맑은 고딕" pitchFamily="50" charset="-127"/>
                <a:ea typeface="맑은 고딕" pitchFamily="50" charset="-127"/>
              </a:rPr>
            </a:b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Evaluators should make measurements through standard methods whenever possible and be 	        careful not to adjust the gage during measurements</a:t>
            </a:r>
            <a:endParaRPr lang="ko-KR" altLang="en-US" sz="1200" dirty="0">
              <a:latin typeface="맑은 고딕" pitchFamily="50" charset="-127"/>
              <a:ea typeface="맑은 고딕" pitchFamily="50" charset="-127"/>
            </a:endParaRPr>
          </a:p>
          <a:p>
            <a:pPr>
              <a:lnSpc>
                <a:spcPct val="120000"/>
              </a:lnSpc>
              <a:defRPr/>
            </a:pPr>
            <a:r>
              <a:rPr lang="en-US" altLang="ko-KR" sz="1200" dirty="0">
                <a:latin typeface="맑은 고딕" pitchFamily="50" charset="-127"/>
                <a:ea typeface="맑은 고딕" pitchFamily="50" charset="-127"/>
              </a:rPr>
              <a:t>※ Process(LSL ,Target, USL) = (18.5, 20.0, 21.5)and empirical standard deviation is not available.</a:t>
            </a:r>
          </a:p>
        </p:txBody>
      </p:sp>
      <p:sp>
        <p:nvSpPr>
          <p:cNvPr id="5" name="슬라이드 번호 개체 틀 4"/>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97</a:t>
            </a:fld>
            <a:endParaRPr lang="ko-KR" altLang="en-US" dirty="0"/>
          </a:p>
        </p:txBody>
      </p:sp>
      <p:sp>
        <p:nvSpPr>
          <p:cNvPr id="19" name="TextBox 18"/>
          <p:cNvSpPr txBox="1"/>
          <p:nvPr/>
        </p:nvSpPr>
        <p:spPr>
          <a:xfrm>
            <a:off x="428596" y="3501008"/>
            <a:ext cx="3171189" cy="307777"/>
          </a:xfrm>
          <a:prstGeom prst="rect">
            <a:avLst/>
          </a:prstGeom>
          <a:noFill/>
        </p:spPr>
        <p:txBody>
          <a:bodyPr wrap="none" rtlCol="0">
            <a:spAutoFit/>
          </a:bodyPr>
          <a:lstStyle/>
          <a:p>
            <a:r>
              <a:rPr lang="en-US" altLang="ko-KR" sz="1400" b="1" dirty="0"/>
              <a:t>Destructive inspection</a:t>
            </a:r>
            <a:r>
              <a:rPr lang="ko-KR" altLang="en-US" sz="1400" b="1" dirty="0"/>
              <a:t> </a:t>
            </a:r>
            <a:r>
              <a:rPr lang="en-US" altLang="ko-KR" sz="1400" b="1" dirty="0"/>
              <a:t>Gage R&amp;R </a:t>
            </a:r>
            <a:r>
              <a:rPr lang="ko-KR" altLang="en-US" sz="1400" b="1" dirty="0"/>
              <a:t> </a:t>
            </a:r>
          </a:p>
        </p:txBody>
      </p:sp>
      <p:sp>
        <p:nvSpPr>
          <p:cNvPr id="7" name="다이아몬드 6"/>
          <p:cNvSpPr/>
          <p:nvPr/>
        </p:nvSpPr>
        <p:spPr>
          <a:xfrm>
            <a:off x="395536" y="4005064"/>
            <a:ext cx="1440160" cy="792088"/>
          </a:xfrm>
          <a:prstGeom prst="diamond">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solidFill>
                  <a:schemeClr val="tx1"/>
                </a:solidFill>
              </a:rPr>
              <a:t>Batch</a:t>
            </a:r>
            <a:r>
              <a:rPr lang="ko-KR" altLang="en-US" sz="900" b="1" dirty="0">
                <a:solidFill>
                  <a:schemeClr val="tx1"/>
                </a:solidFill>
              </a:rPr>
              <a:t> </a:t>
            </a:r>
            <a:r>
              <a:rPr lang="en-US" altLang="ko-KR" sz="900" b="1" dirty="0">
                <a:solidFill>
                  <a:schemeClr val="tx1"/>
                </a:solidFill>
              </a:rPr>
              <a:t>Sample</a:t>
            </a:r>
          </a:p>
          <a:p>
            <a:pPr algn="ctr"/>
            <a:r>
              <a:rPr lang="en-US" altLang="ko-KR" sz="900" b="1" dirty="0">
                <a:solidFill>
                  <a:schemeClr val="tx1"/>
                </a:solidFill>
              </a:rPr>
              <a:t>In batch Size  = 2 ? </a:t>
            </a:r>
            <a:endParaRPr lang="ko-KR" altLang="en-US" sz="900" b="1" dirty="0">
              <a:solidFill>
                <a:schemeClr val="tx1"/>
              </a:solidFill>
            </a:endParaRPr>
          </a:p>
        </p:txBody>
      </p:sp>
      <p:sp>
        <p:nvSpPr>
          <p:cNvPr id="26" name="모서리가 둥근 직사각형 25"/>
          <p:cNvSpPr/>
          <p:nvPr/>
        </p:nvSpPr>
        <p:spPr>
          <a:xfrm>
            <a:off x="539552" y="5013176"/>
            <a:ext cx="1152128" cy="504056"/>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Nested Type</a:t>
            </a:r>
            <a:endParaRPr lang="ko-KR" altLang="en-US" sz="1000" dirty="0">
              <a:solidFill>
                <a:schemeClr val="tx1"/>
              </a:solidFill>
            </a:endParaRPr>
          </a:p>
        </p:txBody>
      </p:sp>
      <p:sp>
        <p:nvSpPr>
          <p:cNvPr id="27" name="모서리가 둥근 직사각형 26"/>
          <p:cNvSpPr/>
          <p:nvPr/>
        </p:nvSpPr>
        <p:spPr>
          <a:xfrm>
            <a:off x="2123728" y="4149080"/>
            <a:ext cx="1152128" cy="504056"/>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Crossed Type</a:t>
            </a:r>
            <a:endParaRPr lang="ko-KR" altLang="en-US" sz="1000" dirty="0">
              <a:solidFill>
                <a:schemeClr val="tx1"/>
              </a:solidFill>
            </a:endParaRPr>
          </a:p>
        </p:txBody>
      </p:sp>
      <p:sp>
        <p:nvSpPr>
          <p:cNvPr id="28" name="모서리가 둥근 직사각형 27"/>
          <p:cNvSpPr/>
          <p:nvPr/>
        </p:nvSpPr>
        <p:spPr>
          <a:xfrm>
            <a:off x="539552" y="5733256"/>
            <a:ext cx="1152128" cy="69614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 people</a:t>
            </a:r>
            <a:r>
              <a:rPr lang="ko-KR" altLang="en-US" sz="1000" dirty="0">
                <a:solidFill>
                  <a:schemeClr val="tx1"/>
                </a:solidFill>
              </a:rPr>
              <a:t> </a:t>
            </a:r>
            <a:r>
              <a:rPr lang="en-US" altLang="ko-KR" sz="1000" dirty="0">
                <a:solidFill>
                  <a:schemeClr val="tx1"/>
                </a:solidFill>
              </a:rPr>
              <a:t>15 Batch</a:t>
            </a:r>
          </a:p>
          <a:p>
            <a:pPr algn="ctr"/>
            <a:r>
              <a:rPr lang="en-US" altLang="ko-KR" sz="1000" dirty="0">
                <a:solidFill>
                  <a:schemeClr val="tx1"/>
                </a:solidFill>
              </a:rPr>
              <a:t>2 per Batch</a:t>
            </a:r>
          </a:p>
          <a:p>
            <a:pPr algn="ctr"/>
            <a:r>
              <a:rPr lang="en-US" altLang="ko-KR" sz="1000" dirty="0">
                <a:solidFill>
                  <a:schemeClr val="tx1"/>
                </a:solidFill>
              </a:rPr>
              <a:t>(Total 30ea) </a:t>
            </a:r>
            <a:endParaRPr lang="ko-KR" altLang="en-US" sz="1000" dirty="0">
              <a:solidFill>
                <a:schemeClr val="tx1"/>
              </a:solidFill>
            </a:endParaRPr>
          </a:p>
        </p:txBody>
      </p:sp>
      <p:sp>
        <p:nvSpPr>
          <p:cNvPr id="29" name="모서리가 둥근 직사각형 28"/>
          <p:cNvSpPr/>
          <p:nvPr/>
        </p:nvSpPr>
        <p:spPr>
          <a:xfrm>
            <a:off x="2123728" y="5013176"/>
            <a:ext cx="1152128" cy="70184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 people</a:t>
            </a:r>
            <a:r>
              <a:rPr lang="ko-KR" altLang="en-US" sz="1000" dirty="0">
                <a:solidFill>
                  <a:schemeClr val="tx1"/>
                </a:solidFill>
              </a:rPr>
              <a:t> </a:t>
            </a:r>
            <a:r>
              <a:rPr lang="en-US" altLang="ko-KR" sz="1000" dirty="0">
                <a:solidFill>
                  <a:schemeClr val="tx1"/>
                </a:solidFill>
              </a:rPr>
              <a:t>5 Batch</a:t>
            </a:r>
          </a:p>
          <a:p>
            <a:pPr algn="ctr"/>
            <a:r>
              <a:rPr lang="en-US" altLang="ko-KR" sz="1000" dirty="0">
                <a:solidFill>
                  <a:schemeClr val="tx1"/>
                </a:solidFill>
              </a:rPr>
              <a:t>6 per Batch</a:t>
            </a:r>
          </a:p>
          <a:p>
            <a:pPr algn="ctr"/>
            <a:r>
              <a:rPr lang="en-US" altLang="ko-KR" sz="1000" dirty="0">
                <a:solidFill>
                  <a:schemeClr val="tx1"/>
                </a:solidFill>
              </a:rPr>
              <a:t>(Total 30) </a:t>
            </a:r>
            <a:endParaRPr lang="ko-KR" altLang="en-US" sz="1000" dirty="0">
              <a:solidFill>
                <a:schemeClr val="tx1"/>
              </a:solidFill>
            </a:endParaRPr>
          </a:p>
        </p:txBody>
      </p:sp>
      <p:cxnSp>
        <p:nvCxnSpPr>
          <p:cNvPr id="9" name="직선 화살표 연결선 8"/>
          <p:cNvCxnSpPr>
            <a:stCxn id="7" idx="3"/>
            <a:endCxn id="27" idx="1"/>
          </p:cNvCxnSpPr>
          <p:nvPr/>
        </p:nvCxnSpPr>
        <p:spPr>
          <a:xfrm>
            <a:off x="1835696" y="4401108"/>
            <a:ext cx="288032" cy="0"/>
          </a:xfrm>
          <a:prstGeom prst="straightConnector1">
            <a:avLst/>
          </a:prstGeom>
          <a:ln>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1" name="직선 화살표 연결선 10"/>
          <p:cNvCxnSpPr>
            <a:stCxn id="27" idx="2"/>
            <a:endCxn id="29" idx="0"/>
          </p:cNvCxnSpPr>
          <p:nvPr/>
        </p:nvCxnSpPr>
        <p:spPr>
          <a:xfrm rot="5400000">
            <a:off x="2519772" y="4833156"/>
            <a:ext cx="360040" cy="15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a:stCxn id="7" idx="2"/>
            <a:endCxn id="26" idx="0"/>
          </p:cNvCxnSpPr>
          <p:nvPr/>
        </p:nvCxnSpPr>
        <p:spPr>
          <a:xfrm>
            <a:off x="1115616" y="4797152"/>
            <a:ext cx="0" cy="216024"/>
          </a:xfrm>
          <a:prstGeom prst="straightConnector1">
            <a:avLst/>
          </a:prstGeom>
          <a:ln>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6" name="직선 화살표 연결선 15"/>
          <p:cNvCxnSpPr>
            <a:stCxn id="26" idx="2"/>
            <a:endCxn id="28" idx="0"/>
          </p:cNvCxnSpPr>
          <p:nvPr/>
        </p:nvCxnSpPr>
        <p:spPr>
          <a:xfrm rot="5400000">
            <a:off x="1007604" y="5625244"/>
            <a:ext cx="216024" cy="15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24" name="표 23"/>
          <p:cNvGraphicFramePr>
            <a:graphicFrameLocks noGrp="1"/>
          </p:cNvGraphicFramePr>
          <p:nvPr>
            <p:extLst>
              <p:ext uri="{D42A27DB-BD31-4B8C-83A1-F6EECF244321}">
                <p14:modId xmlns:p14="http://schemas.microsoft.com/office/powerpoint/2010/main" val="2653828031"/>
              </p:ext>
            </p:extLst>
          </p:nvPr>
        </p:nvGraphicFramePr>
        <p:xfrm>
          <a:off x="6300192" y="3992100"/>
          <a:ext cx="2843808" cy="2311400"/>
        </p:xfrm>
        <a:graphic>
          <a:graphicData uri="http://schemas.openxmlformats.org/drawingml/2006/table">
            <a:tbl>
              <a:tblPr firstRow="1" bandRow="1">
                <a:tableStyleId>{5C22544A-7EE6-4342-B048-85BDC9FD1C3A}</a:tableStyleId>
              </a:tblPr>
              <a:tblGrid>
                <a:gridCol w="710952">
                  <a:extLst>
                    <a:ext uri="{9D8B030D-6E8A-4147-A177-3AD203B41FA5}">
                      <a16:colId xmlns:a16="http://schemas.microsoft.com/office/drawing/2014/main" val="20000"/>
                    </a:ext>
                  </a:extLst>
                </a:gridCol>
                <a:gridCol w="710952">
                  <a:extLst>
                    <a:ext uri="{9D8B030D-6E8A-4147-A177-3AD203B41FA5}">
                      <a16:colId xmlns:a16="http://schemas.microsoft.com/office/drawing/2014/main" val="20001"/>
                    </a:ext>
                  </a:extLst>
                </a:gridCol>
                <a:gridCol w="710952">
                  <a:extLst>
                    <a:ext uri="{9D8B030D-6E8A-4147-A177-3AD203B41FA5}">
                      <a16:colId xmlns:a16="http://schemas.microsoft.com/office/drawing/2014/main" val="20002"/>
                    </a:ext>
                  </a:extLst>
                </a:gridCol>
                <a:gridCol w="710952">
                  <a:extLst>
                    <a:ext uri="{9D8B030D-6E8A-4147-A177-3AD203B41FA5}">
                      <a16:colId xmlns:a16="http://schemas.microsoft.com/office/drawing/2014/main" val="20003"/>
                    </a:ext>
                  </a:extLst>
                </a:gridCol>
              </a:tblGrid>
              <a:tr h="442848">
                <a:tc>
                  <a:txBody>
                    <a:bodyPr/>
                    <a:lstStyle/>
                    <a:p>
                      <a:pPr algn="ctr" latinLnBrk="1"/>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Measurer</a:t>
                      </a:r>
                      <a:r>
                        <a:rPr lang="ko-KR" altLang="en-US" sz="1200" dirty="0"/>
                        <a:t> </a:t>
                      </a:r>
                      <a:r>
                        <a:rPr lang="en-US" altLang="ko-KR" sz="1200" dirty="0"/>
                        <a:t>1</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Measurer</a:t>
                      </a:r>
                      <a:r>
                        <a:rPr lang="ko-KR" altLang="en-US" sz="1200" dirty="0"/>
                        <a:t> </a:t>
                      </a:r>
                      <a:r>
                        <a:rPr lang="en-US" altLang="ko-KR" sz="1200" dirty="0"/>
                        <a:t>2</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Measurer</a:t>
                      </a:r>
                      <a:r>
                        <a:rPr lang="ko-KR" altLang="en-US" sz="1200" dirty="0"/>
                        <a:t> </a:t>
                      </a:r>
                      <a:r>
                        <a:rPr lang="en-US" altLang="ko-KR" sz="1200" dirty="0"/>
                        <a:t>3</a:t>
                      </a:r>
                      <a:endParaRPr lang="ko-KR" altLang="en-US" sz="1200" dirty="0"/>
                    </a:p>
                  </a:txBody>
                  <a:tcPr anchor="ctr"/>
                </a:tc>
                <a:extLst>
                  <a:ext uri="{0D108BD9-81ED-4DB2-BD59-A6C34878D82A}">
                    <a16:rowId xmlns:a16="http://schemas.microsoft.com/office/drawing/2014/main" val="10000"/>
                  </a:ext>
                </a:extLst>
              </a:tr>
              <a:tr h="370840">
                <a:tc>
                  <a:txBody>
                    <a:bodyPr/>
                    <a:lstStyle/>
                    <a:p>
                      <a:pPr algn="ctr" latinLnBrk="1"/>
                      <a:r>
                        <a:rPr lang="en-US" altLang="ko-KR" sz="1200" dirty="0"/>
                        <a:t>Batch</a:t>
                      </a:r>
                      <a:r>
                        <a:rPr lang="ko-KR" altLang="en-US" sz="1200" dirty="0"/>
                        <a:t> </a:t>
                      </a:r>
                      <a:r>
                        <a:rPr lang="en-US" altLang="ko-KR" sz="1200" dirty="0"/>
                        <a:t>1</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1"/>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2</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2"/>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3</a:t>
                      </a:r>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3"/>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4</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4"/>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5</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5"/>
                  </a:ext>
                </a:extLst>
              </a:tr>
            </a:tbl>
          </a:graphicData>
        </a:graphic>
      </p:graphicFrame>
      <p:graphicFrame>
        <p:nvGraphicFramePr>
          <p:cNvPr id="39" name="표 38"/>
          <p:cNvGraphicFramePr>
            <a:graphicFrameLocks noGrp="1"/>
          </p:cNvGraphicFramePr>
          <p:nvPr>
            <p:extLst>
              <p:ext uri="{D42A27DB-BD31-4B8C-83A1-F6EECF244321}">
                <p14:modId xmlns:p14="http://schemas.microsoft.com/office/powerpoint/2010/main" val="2351605987"/>
              </p:ext>
            </p:extLst>
          </p:nvPr>
        </p:nvGraphicFramePr>
        <p:xfrm>
          <a:off x="3286116" y="3992100"/>
          <a:ext cx="2942068" cy="2317220"/>
        </p:xfrm>
        <a:graphic>
          <a:graphicData uri="http://schemas.openxmlformats.org/drawingml/2006/table">
            <a:tbl>
              <a:tblPr firstRow="1" bandRow="1">
                <a:tableStyleId>{5C22544A-7EE6-4342-B048-85BDC9FD1C3A}</a:tableStyleId>
              </a:tblPr>
              <a:tblGrid>
                <a:gridCol w="735517">
                  <a:extLst>
                    <a:ext uri="{9D8B030D-6E8A-4147-A177-3AD203B41FA5}">
                      <a16:colId xmlns:a16="http://schemas.microsoft.com/office/drawing/2014/main" val="20000"/>
                    </a:ext>
                  </a:extLst>
                </a:gridCol>
                <a:gridCol w="735517">
                  <a:extLst>
                    <a:ext uri="{9D8B030D-6E8A-4147-A177-3AD203B41FA5}">
                      <a16:colId xmlns:a16="http://schemas.microsoft.com/office/drawing/2014/main" val="20001"/>
                    </a:ext>
                  </a:extLst>
                </a:gridCol>
                <a:gridCol w="735517">
                  <a:extLst>
                    <a:ext uri="{9D8B030D-6E8A-4147-A177-3AD203B41FA5}">
                      <a16:colId xmlns:a16="http://schemas.microsoft.com/office/drawing/2014/main" val="20002"/>
                    </a:ext>
                  </a:extLst>
                </a:gridCol>
                <a:gridCol w="735517">
                  <a:extLst>
                    <a:ext uri="{9D8B030D-6E8A-4147-A177-3AD203B41FA5}">
                      <a16:colId xmlns:a16="http://schemas.microsoft.com/office/drawing/2014/main" val="20003"/>
                    </a:ext>
                  </a:extLst>
                </a:gridCol>
              </a:tblGrid>
              <a:tr h="444238">
                <a:tc>
                  <a:txBody>
                    <a:bodyPr/>
                    <a:lstStyle/>
                    <a:p>
                      <a:pPr algn="ctr" latinLnBrk="1"/>
                      <a:endParaRPr lang="ko-KR" altLang="en-US" sz="1200" dirty="0"/>
                    </a:p>
                  </a:txBody>
                  <a:tcPr anchor="ctr"/>
                </a:tc>
                <a:tc>
                  <a:txBody>
                    <a:bodyPr/>
                    <a:lstStyle/>
                    <a:p>
                      <a:pPr algn="ctr" latinLnBrk="1"/>
                      <a:r>
                        <a:rPr lang="en-US" altLang="ko-KR" sz="1200" dirty="0"/>
                        <a:t>Measurer</a:t>
                      </a:r>
                      <a:r>
                        <a:rPr lang="ko-KR" altLang="en-US" sz="1200" dirty="0"/>
                        <a:t> </a:t>
                      </a:r>
                      <a:r>
                        <a:rPr lang="en-US" altLang="ko-KR" sz="1200" dirty="0"/>
                        <a:t>1</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Measurer</a:t>
                      </a:r>
                      <a:r>
                        <a:rPr lang="ko-KR" altLang="en-US" sz="1200" dirty="0"/>
                        <a:t> </a:t>
                      </a:r>
                      <a:r>
                        <a:rPr lang="en-US" altLang="ko-KR" sz="1200" dirty="0"/>
                        <a:t>2</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Measurer</a:t>
                      </a:r>
                      <a:r>
                        <a:rPr lang="ko-KR" altLang="en-US" sz="1200" dirty="0"/>
                        <a:t> </a:t>
                      </a:r>
                      <a:r>
                        <a:rPr lang="en-US" altLang="ko-KR" sz="1200" dirty="0"/>
                        <a:t>3</a:t>
                      </a:r>
                      <a:endParaRPr lang="ko-KR" altLang="en-US" sz="1200" dirty="0"/>
                    </a:p>
                  </a:txBody>
                  <a:tcPr anchor="ctr"/>
                </a:tc>
                <a:extLst>
                  <a:ext uri="{0D108BD9-81ED-4DB2-BD59-A6C34878D82A}">
                    <a16:rowId xmlns:a16="http://schemas.microsoft.com/office/drawing/2014/main" val="10000"/>
                  </a:ext>
                </a:extLst>
              </a:tr>
              <a:tr h="372004">
                <a:tc>
                  <a:txBody>
                    <a:bodyPr/>
                    <a:lstStyle/>
                    <a:p>
                      <a:pPr algn="ctr" latinLnBrk="1"/>
                      <a:r>
                        <a:rPr lang="en-US" altLang="ko-KR" sz="1200" dirty="0"/>
                        <a:t>Batch</a:t>
                      </a:r>
                      <a:r>
                        <a:rPr lang="ko-KR" altLang="en-US" sz="1200" dirty="0"/>
                        <a:t> </a:t>
                      </a:r>
                      <a:r>
                        <a:rPr lang="en-US" altLang="ko-KR" sz="1200" dirty="0"/>
                        <a:t>1</a:t>
                      </a:r>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1"/>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2</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2"/>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3</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3"/>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4</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4"/>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a:t>
                      </a:r>
                      <a:r>
                        <a:rPr lang="ko-KR" altLang="en-US" sz="1200" dirty="0"/>
                        <a:t> </a:t>
                      </a:r>
                      <a:r>
                        <a:rPr lang="en-US" altLang="ko-KR" sz="1200" dirty="0"/>
                        <a:t>5</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5"/>
                  </a:ext>
                </a:extLst>
              </a:tr>
            </a:tbl>
          </a:graphicData>
        </a:graphic>
      </p:graphicFrame>
      <p:sp>
        <p:nvSpPr>
          <p:cNvPr id="6" name="직사각형 5"/>
          <p:cNvSpPr/>
          <p:nvPr/>
        </p:nvSpPr>
        <p:spPr>
          <a:xfrm>
            <a:off x="4355976"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p:cNvSpPr/>
          <p:nvPr/>
        </p:nvSpPr>
        <p:spPr>
          <a:xfrm>
            <a:off x="4634677"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p:cNvSpPr/>
          <p:nvPr/>
        </p:nvSpPr>
        <p:spPr>
          <a:xfrm>
            <a:off x="5013379"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직사각형 21"/>
          <p:cNvSpPr/>
          <p:nvPr/>
        </p:nvSpPr>
        <p:spPr>
          <a:xfrm>
            <a:off x="5292080"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직사각형 22"/>
          <p:cNvSpPr/>
          <p:nvPr/>
        </p:nvSpPr>
        <p:spPr>
          <a:xfrm>
            <a:off x="5661451"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직사각형 24"/>
          <p:cNvSpPr/>
          <p:nvPr/>
        </p:nvSpPr>
        <p:spPr>
          <a:xfrm>
            <a:off x="5940152"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p:cNvSpPr/>
          <p:nvPr/>
        </p:nvSpPr>
        <p:spPr>
          <a:xfrm>
            <a:off x="4355976"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p:cNvSpPr/>
          <p:nvPr/>
        </p:nvSpPr>
        <p:spPr>
          <a:xfrm>
            <a:off x="4634677"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p:cNvSpPr/>
          <p:nvPr/>
        </p:nvSpPr>
        <p:spPr>
          <a:xfrm>
            <a:off x="5013379"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p:cNvSpPr/>
          <p:nvPr/>
        </p:nvSpPr>
        <p:spPr>
          <a:xfrm>
            <a:off x="5292080"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p:cNvSpPr/>
          <p:nvPr/>
        </p:nvSpPr>
        <p:spPr>
          <a:xfrm>
            <a:off x="5661451"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p:cNvSpPr/>
          <p:nvPr/>
        </p:nvSpPr>
        <p:spPr>
          <a:xfrm>
            <a:off x="5940152"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p:cNvSpPr/>
          <p:nvPr/>
        </p:nvSpPr>
        <p:spPr>
          <a:xfrm>
            <a:off x="4355976"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p:cNvSpPr/>
          <p:nvPr/>
        </p:nvSpPr>
        <p:spPr>
          <a:xfrm>
            <a:off x="4634677"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p:cNvSpPr/>
          <p:nvPr/>
        </p:nvSpPr>
        <p:spPr>
          <a:xfrm>
            <a:off x="5013379"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5292080"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직사각형 40"/>
          <p:cNvSpPr/>
          <p:nvPr/>
        </p:nvSpPr>
        <p:spPr>
          <a:xfrm>
            <a:off x="5661451"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p:cNvSpPr/>
          <p:nvPr/>
        </p:nvSpPr>
        <p:spPr>
          <a:xfrm>
            <a:off x="5940152"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p:cNvSpPr/>
          <p:nvPr/>
        </p:nvSpPr>
        <p:spPr>
          <a:xfrm>
            <a:off x="4355976"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p:cNvSpPr/>
          <p:nvPr/>
        </p:nvSpPr>
        <p:spPr>
          <a:xfrm>
            <a:off x="4634677"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p:cNvSpPr/>
          <p:nvPr/>
        </p:nvSpPr>
        <p:spPr>
          <a:xfrm>
            <a:off x="5013379"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p:cNvSpPr/>
          <p:nvPr/>
        </p:nvSpPr>
        <p:spPr>
          <a:xfrm>
            <a:off x="5292080"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p:cNvSpPr/>
          <p:nvPr/>
        </p:nvSpPr>
        <p:spPr>
          <a:xfrm>
            <a:off x="5661451"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p:cNvSpPr/>
          <p:nvPr/>
        </p:nvSpPr>
        <p:spPr>
          <a:xfrm>
            <a:off x="5940152"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p:cNvSpPr/>
          <p:nvPr/>
        </p:nvSpPr>
        <p:spPr>
          <a:xfrm>
            <a:off x="4355976"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p:cNvSpPr/>
          <p:nvPr/>
        </p:nvSpPr>
        <p:spPr>
          <a:xfrm>
            <a:off x="4634677"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직사각형 50"/>
          <p:cNvSpPr/>
          <p:nvPr/>
        </p:nvSpPr>
        <p:spPr>
          <a:xfrm>
            <a:off x="5013379"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직사각형 51"/>
          <p:cNvSpPr/>
          <p:nvPr/>
        </p:nvSpPr>
        <p:spPr>
          <a:xfrm>
            <a:off x="5292080"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직사각형 52"/>
          <p:cNvSpPr/>
          <p:nvPr/>
        </p:nvSpPr>
        <p:spPr>
          <a:xfrm>
            <a:off x="5661451"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p:cNvSpPr/>
          <p:nvPr/>
        </p:nvSpPr>
        <p:spPr>
          <a:xfrm>
            <a:off x="5940152"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427984" y="3632060"/>
            <a:ext cx="1311578" cy="261610"/>
          </a:xfrm>
          <a:prstGeom prst="rect">
            <a:avLst/>
          </a:prstGeom>
          <a:noFill/>
        </p:spPr>
        <p:txBody>
          <a:bodyPr wrap="none" rtlCol="0">
            <a:spAutoFit/>
          </a:bodyPr>
          <a:lstStyle/>
          <a:p>
            <a:r>
              <a:rPr lang="en-US" altLang="ko-KR" sz="1100" b="1" u="sng" dirty="0"/>
              <a:t>Crossed Analysis</a:t>
            </a:r>
            <a:endParaRPr lang="ko-KR" altLang="en-US" sz="1100" b="1" u="sng" dirty="0"/>
          </a:p>
        </p:txBody>
      </p:sp>
      <p:sp>
        <p:nvSpPr>
          <p:cNvPr id="55" name="TextBox 54"/>
          <p:cNvSpPr txBox="1"/>
          <p:nvPr/>
        </p:nvSpPr>
        <p:spPr>
          <a:xfrm>
            <a:off x="7308304" y="3632060"/>
            <a:ext cx="1255472" cy="261610"/>
          </a:xfrm>
          <a:prstGeom prst="rect">
            <a:avLst/>
          </a:prstGeom>
          <a:noFill/>
        </p:spPr>
        <p:txBody>
          <a:bodyPr wrap="none" rtlCol="0">
            <a:spAutoFit/>
          </a:bodyPr>
          <a:lstStyle/>
          <a:p>
            <a:r>
              <a:rPr lang="en-US" altLang="ko-KR" sz="1100" b="1" u="sng" dirty="0"/>
              <a:t>Nested Analysis</a:t>
            </a:r>
            <a:endParaRPr lang="ko-KR" altLang="en-US" sz="1100" b="1" u="sng" dirty="0"/>
          </a:p>
        </p:txBody>
      </p:sp>
      <p:sp>
        <p:nvSpPr>
          <p:cNvPr id="56" name="직사각형 55"/>
          <p:cNvSpPr/>
          <p:nvPr/>
        </p:nvSpPr>
        <p:spPr>
          <a:xfrm>
            <a:off x="7101611"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직사각형 56"/>
          <p:cNvSpPr/>
          <p:nvPr/>
        </p:nvSpPr>
        <p:spPr>
          <a:xfrm>
            <a:off x="7380312"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p:cNvSpPr/>
          <p:nvPr/>
        </p:nvSpPr>
        <p:spPr>
          <a:xfrm>
            <a:off x="7101611"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직사각형 58"/>
          <p:cNvSpPr/>
          <p:nvPr/>
        </p:nvSpPr>
        <p:spPr>
          <a:xfrm>
            <a:off x="7380312"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직사각형 59"/>
          <p:cNvSpPr/>
          <p:nvPr/>
        </p:nvSpPr>
        <p:spPr>
          <a:xfrm>
            <a:off x="7101611"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1" name="직사각형 60"/>
          <p:cNvSpPr/>
          <p:nvPr/>
        </p:nvSpPr>
        <p:spPr>
          <a:xfrm>
            <a:off x="7380312"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직사각형 61"/>
          <p:cNvSpPr/>
          <p:nvPr/>
        </p:nvSpPr>
        <p:spPr>
          <a:xfrm>
            <a:off x="7101611"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p:cNvSpPr/>
          <p:nvPr/>
        </p:nvSpPr>
        <p:spPr>
          <a:xfrm>
            <a:off x="7380312"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직사각형 63"/>
          <p:cNvSpPr/>
          <p:nvPr/>
        </p:nvSpPr>
        <p:spPr>
          <a:xfrm>
            <a:off x="7101611"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직사각형 64"/>
          <p:cNvSpPr/>
          <p:nvPr/>
        </p:nvSpPr>
        <p:spPr>
          <a:xfrm>
            <a:off x="7380312"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타원 9"/>
          <p:cNvSpPr/>
          <p:nvPr/>
        </p:nvSpPr>
        <p:spPr>
          <a:xfrm>
            <a:off x="7749683" y="4509120"/>
            <a:ext cx="144016" cy="216024"/>
          </a:xfrm>
          <a:prstGeom prst="ellipse">
            <a:avLst/>
          </a:prstGeom>
          <a:solidFill>
            <a:srgbClr val="FF0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타원 75"/>
          <p:cNvSpPr/>
          <p:nvPr/>
        </p:nvSpPr>
        <p:spPr>
          <a:xfrm>
            <a:off x="8028384" y="4509120"/>
            <a:ext cx="144016" cy="216024"/>
          </a:xfrm>
          <a:prstGeom prst="ellipse">
            <a:avLst/>
          </a:prstGeom>
          <a:solidFill>
            <a:srgbClr val="FF0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타원 76"/>
          <p:cNvSpPr/>
          <p:nvPr/>
        </p:nvSpPr>
        <p:spPr>
          <a:xfrm>
            <a:off x="7749683" y="4918873"/>
            <a:ext cx="144016" cy="216024"/>
          </a:xfrm>
          <a:prstGeom prst="ellipse">
            <a:avLst/>
          </a:prstGeom>
          <a:solidFill>
            <a:srgbClr val="FFC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타원 77"/>
          <p:cNvSpPr/>
          <p:nvPr/>
        </p:nvSpPr>
        <p:spPr>
          <a:xfrm>
            <a:off x="8028384" y="4918873"/>
            <a:ext cx="144016" cy="216024"/>
          </a:xfrm>
          <a:prstGeom prst="ellipse">
            <a:avLst/>
          </a:prstGeom>
          <a:solidFill>
            <a:srgbClr val="FFC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타원 78"/>
          <p:cNvSpPr/>
          <p:nvPr/>
        </p:nvSpPr>
        <p:spPr>
          <a:xfrm>
            <a:off x="7749683" y="5288244"/>
            <a:ext cx="144016" cy="216024"/>
          </a:xfrm>
          <a:prstGeom prst="ellipse">
            <a:avLst/>
          </a:prstGeom>
          <a:solidFill>
            <a:srgbClr val="3399FF"/>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8028384" y="5288244"/>
            <a:ext cx="144016" cy="216024"/>
          </a:xfrm>
          <a:prstGeom prst="ellipse">
            <a:avLst/>
          </a:prstGeom>
          <a:solidFill>
            <a:srgbClr val="3399FF"/>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타원 80"/>
          <p:cNvSpPr/>
          <p:nvPr/>
        </p:nvSpPr>
        <p:spPr>
          <a:xfrm>
            <a:off x="7749683" y="5648284"/>
            <a:ext cx="144016" cy="216024"/>
          </a:xfrm>
          <a:prstGeom prst="ellipse">
            <a:avLst/>
          </a:prstGeom>
          <a:solidFill>
            <a:srgbClr val="CC00CC"/>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8028384" y="5648284"/>
            <a:ext cx="144016" cy="216024"/>
          </a:xfrm>
          <a:prstGeom prst="ellipse">
            <a:avLst/>
          </a:prstGeom>
          <a:solidFill>
            <a:srgbClr val="CC00CC"/>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7749683" y="6008324"/>
            <a:ext cx="144016" cy="216024"/>
          </a:xfrm>
          <a:prstGeom prst="ellipse">
            <a:avLst/>
          </a:prstGeom>
          <a:solidFill>
            <a:srgbClr val="00FF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p:cNvSpPr/>
          <p:nvPr/>
        </p:nvSpPr>
        <p:spPr>
          <a:xfrm>
            <a:off x="8028384" y="6008324"/>
            <a:ext cx="144016" cy="216024"/>
          </a:xfrm>
          <a:prstGeom prst="ellipse">
            <a:avLst/>
          </a:prstGeom>
          <a:solidFill>
            <a:srgbClr val="00FF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다이아몬드 94"/>
          <p:cNvSpPr/>
          <p:nvPr/>
        </p:nvSpPr>
        <p:spPr>
          <a:xfrm>
            <a:off x="8460432" y="4509120"/>
            <a:ext cx="144016" cy="216024"/>
          </a:xfrm>
          <a:prstGeom prst="diamond">
            <a:avLst/>
          </a:prstGeom>
          <a:solidFill>
            <a:srgbClr val="00FF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다이아몬드 95"/>
          <p:cNvSpPr/>
          <p:nvPr/>
        </p:nvSpPr>
        <p:spPr>
          <a:xfrm>
            <a:off x="8748464" y="4509120"/>
            <a:ext cx="144016" cy="216024"/>
          </a:xfrm>
          <a:prstGeom prst="diamond">
            <a:avLst/>
          </a:prstGeom>
          <a:solidFill>
            <a:srgbClr val="00FF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다이아몬드 96"/>
          <p:cNvSpPr/>
          <p:nvPr/>
        </p:nvSpPr>
        <p:spPr>
          <a:xfrm>
            <a:off x="8460432" y="4918873"/>
            <a:ext cx="144016" cy="216024"/>
          </a:xfrm>
          <a:prstGeom prst="diamond">
            <a:avLst/>
          </a:prstGeom>
          <a:solidFill>
            <a:srgbClr val="CC00CC"/>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다이아몬드 97"/>
          <p:cNvSpPr/>
          <p:nvPr/>
        </p:nvSpPr>
        <p:spPr>
          <a:xfrm>
            <a:off x="8748464" y="4918873"/>
            <a:ext cx="144016" cy="216024"/>
          </a:xfrm>
          <a:prstGeom prst="diamond">
            <a:avLst/>
          </a:prstGeom>
          <a:solidFill>
            <a:srgbClr val="CC00CC"/>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다이아몬드 98"/>
          <p:cNvSpPr/>
          <p:nvPr/>
        </p:nvSpPr>
        <p:spPr>
          <a:xfrm>
            <a:off x="8460432" y="5288244"/>
            <a:ext cx="144016" cy="216024"/>
          </a:xfrm>
          <a:prstGeom prst="diamond">
            <a:avLst/>
          </a:prstGeom>
          <a:solidFill>
            <a:srgbClr val="FFC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다이아몬드 99"/>
          <p:cNvSpPr/>
          <p:nvPr/>
        </p:nvSpPr>
        <p:spPr>
          <a:xfrm>
            <a:off x="8748464" y="5288244"/>
            <a:ext cx="144016" cy="216024"/>
          </a:xfrm>
          <a:prstGeom prst="diamond">
            <a:avLst/>
          </a:prstGeom>
          <a:solidFill>
            <a:srgbClr val="FFC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다이아몬드 100"/>
          <p:cNvSpPr/>
          <p:nvPr/>
        </p:nvSpPr>
        <p:spPr>
          <a:xfrm>
            <a:off x="8460432" y="5648284"/>
            <a:ext cx="144016" cy="216024"/>
          </a:xfrm>
          <a:prstGeom prst="diamond">
            <a:avLst/>
          </a:prstGeom>
          <a:solidFill>
            <a:srgbClr val="3399FF"/>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다이아몬드 101"/>
          <p:cNvSpPr/>
          <p:nvPr/>
        </p:nvSpPr>
        <p:spPr>
          <a:xfrm>
            <a:off x="8748464" y="5648284"/>
            <a:ext cx="144016" cy="216024"/>
          </a:xfrm>
          <a:prstGeom prst="diamond">
            <a:avLst/>
          </a:prstGeom>
          <a:solidFill>
            <a:srgbClr val="3399FF"/>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다이아몬드 102"/>
          <p:cNvSpPr/>
          <p:nvPr/>
        </p:nvSpPr>
        <p:spPr>
          <a:xfrm>
            <a:off x="8460432" y="6008324"/>
            <a:ext cx="144016" cy="216024"/>
          </a:xfrm>
          <a:prstGeom prst="diamond">
            <a:avLst/>
          </a:prstGeom>
          <a:solidFill>
            <a:srgbClr val="FF0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다이아몬드 103"/>
          <p:cNvSpPr/>
          <p:nvPr/>
        </p:nvSpPr>
        <p:spPr>
          <a:xfrm>
            <a:off x="8748464" y="6008324"/>
            <a:ext cx="144016" cy="216024"/>
          </a:xfrm>
          <a:prstGeom prst="diamond">
            <a:avLst/>
          </a:prstGeom>
          <a:solidFill>
            <a:srgbClr val="FF0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86" name="직사각형 85"/>
          <p:cNvSpPr/>
          <p:nvPr/>
        </p:nvSpPr>
        <p:spPr>
          <a:xfrm>
            <a:off x="5286380" y="179348"/>
            <a:ext cx="3863558"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Destructive inspection</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383258074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772218"/>
            <a:ext cx="8496826" cy="566309"/>
          </a:xfrm>
          <a:prstGeom prst="rect">
            <a:avLst/>
          </a:prstGeom>
          <a:noFill/>
        </p:spPr>
        <p:txBody>
          <a:bodyPr wrap="square">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Điều này sẽ được áp dụng cho trường hợp kiểm tra phá hoại được thực hiện bằng</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phương pháp </a:t>
            </a:r>
            <a:r>
              <a:rPr lang="en-US" altLang="ko-KR" sz="1400" b="1" kern="0" dirty="0" err="1">
                <a:solidFill>
                  <a:sysClr val="windowText" lastClr="000000"/>
                </a:solidFill>
                <a:latin typeface="맑은 고딕" pitchFamily="50" charset="-127"/>
                <a:ea typeface="맑은 고딕" pitchFamily="50" charset="-127"/>
              </a:rPr>
              <a:t>kiểm</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tra</a:t>
            </a:r>
            <a:r>
              <a:rPr lang="vi-VN"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đo</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độ </a:t>
            </a:r>
            <a:r>
              <a:rPr lang="en-US" altLang="ko-KR" sz="1400" b="1" kern="0" dirty="0" err="1">
                <a:solidFill>
                  <a:sysClr val="windowText" lastClr="000000"/>
                </a:solidFill>
                <a:latin typeface="맑은 고딕" pitchFamily="50" charset="-127"/>
                <a:ea typeface="맑은 고딕" pitchFamily="50" charset="-127"/>
              </a:rPr>
              <a:t>tỉ</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mỉ</a:t>
            </a:r>
            <a:r>
              <a:rPr lang="vi-VN" altLang="ko-KR" sz="1400" b="1" kern="0" dirty="0">
                <a:solidFill>
                  <a:sysClr val="windowText" lastClr="000000"/>
                </a:solidFill>
                <a:latin typeface="맑은 고딕" pitchFamily="50" charset="-127"/>
                <a:ea typeface="맑은 고딕" pitchFamily="50" charset="-127"/>
              </a:rPr>
              <a:t> trong trường hợp </a:t>
            </a:r>
            <a:r>
              <a:rPr lang="en-US" altLang="ko-KR" sz="1400" b="1" kern="0" dirty="0" err="1">
                <a:solidFill>
                  <a:sysClr val="windowText" lastClr="000000"/>
                </a:solidFill>
                <a:latin typeface="맑은 고딕" pitchFamily="50" charset="-127"/>
                <a:ea typeface="맑은 고딕" pitchFamily="50" charset="-127"/>
              </a:rPr>
              <a:t>người</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đo</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đạc</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không thể </a:t>
            </a:r>
            <a:r>
              <a:rPr lang="en-US" altLang="ko-KR" sz="1400" b="1" kern="0" dirty="0" err="1">
                <a:solidFill>
                  <a:sysClr val="windowText" lastClr="000000"/>
                </a:solidFill>
                <a:latin typeface="맑은 고딕" pitchFamily="50" charset="-127"/>
                <a:ea typeface="맑은 고딕" pitchFamily="50" charset="-127"/>
              </a:rPr>
              <a:t>đo</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lặp lại </a:t>
            </a:r>
            <a:r>
              <a:rPr lang="en-US" altLang="ko-KR" sz="1400" b="1" kern="0" dirty="0" err="1">
                <a:solidFill>
                  <a:sysClr val="windowText" lastClr="000000"/>
                </a:solidFill>
                <a:latin typeface="맑은 고딕" pitchFamily="50" charset="-127"/>
                <a:ea typeface="맑은 고딕" pitchFamily="50" charset="-127"/>
              </a:rPr>
              <a:t>cho</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mỗi mẫu.</a:t>
            </a:r>
            <a:endParaRPr lang="en-US" altLang="ko-KR" sz="1400" kern="0" dirty="0">
              <a:solidFill>
                <a:sysClr val="windowText" lastClr="000000"/>
              </a:solidFill>
              <a:latin typeface="맑은 고딕" pitchFamily="50" charset="-127"/>
              <a:ea typeface="맑은 고딕" pitchFamily="50" charset="-127"/>
            </a:endParaRPr>
          </a:p>
        </p:txBody>
      </p:sp>
      <p:sp>
        <p:nvSpPr>
          <p:cNvPr id="5" name="Rectangle 7"/>
          <p:cNvSpPr>
            <a:spLocks noChangeArrowheads="1"/>
          </p:cNvSpPr>
          <p:nvPr/>
        </p:nvSpPr>
        <p:spPr bwMode="auto">
          <a:xfrm>
            <a:off x="760535" y="2516188"/>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1</a:t>
            </a:r>
          </a:p>
        </p:txBody>
      </p:sp>
      <p:sp>
        <p:nvSpPr>
          <p:cNvPr id="6" name="Rectangle 8"/>
          <p:cNvSpPr>
            <a:spLocks noChangeArrowheads="1"/>
          </p:cNvSpPr>
          <p:nvPr/>
        </p:nvSpPr>
        <p:spPr bwMode="auto">
          <a:xfrm>
            <a:off x="3831981" y="2427288"/>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2</a:t>
            </a:r>
          </a:p>
        </p:txBody>
      </p:sp>
      <p:sp>
        <p:nvSpPr>
          <p:cNvPr id="7" name="AutoShape 10"/>
          <p:cNvSpPr>
            <a:spLocks noChangeArrowheads="1"/>
          </p:cNvSpPr>
          <p:nvPr/>
        </p:nvSpPr>
        <p:spPr bwMode="auto">
          <a:xfrm>
            <a:off x="2539512" y="2471738"/>
            <a:ext cx="332642" cy="323850"/>
          </a:xfrm>
          <a:prstGeom prst="cube">
            <a:avLst>
              <a:gd name="adj" fmla="val 25000"/>
            </a:avLst>
          </a:prstGeom>
          <a:solidFill>
            <a:srgbClr val="CCECFF"/>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8" name="AutoShape 31"/>
          <p:cNvCxnSpPr>
            <a:cxnSpLocks noChangeShapeType="1"/>
            <a:stCxn id="5" idx="0"/>
            <a:endCxn id="7" idx="0"/>
          </p:cNvCxnSpPr>
          <p:nvPr/>
        </p:nvCxnSpPr>
        <p:spPr bwMode="auto">
          <a:xfrm rot="16200000">
            <a:off x="1965569" y="1735504"/>
            <a:ext cx="44450" cy="1513743"/>
          </a:xfrm>
          <a:prstGeom prst="curvedConnector3">
            <a:avLst>
              <a:gd name="adj1" fmla="val 614287"/>
            </a:avLst>
          </a:prstGeom>
          <a:noFill/>
          <a:ln w="12700">
            <a:solidFill>
              <a:schemeClr val="bg2">
                <a:lumMod val="75000"/>
              </a:schemeClr>
            </a:solidFill>
            <a:round/>
            <a:headEnd/>
            <a:tailEnd type="triangle" w="med" len="med"/>
          </a:ln>
          <a:effectLst/>
        </p:spPr>
      </p:cxnSp>
      <p:cxnSp>
        <p:nvCxnSpPr>
          <p:cNvPr id="9" name="AutoShape 32"/>
          <p:cNvCxnSpPr>
            <a:cxnSpLocks noChangeShapeType="1"/>
            <a:stCxn id="5" idx="2"/>
            <a:endCxn id="7" idx="3"/>
          </p:cNvCxnSpPr>
          <p:nvPr/>
        </p:nvCxnSpPr>
        <p:spPr bwMode="auto">
          <a:xfrm rot="5400000" flipH="1" flipV="1">
            <a:off x="1926737" y="2098309"/>
            <a:ext cx="44450" cy="1439008"/>
          </a:xfrm>
          <a:prstGeom prst="curvedConnector3">
            <a:avLst>
              <a:gd name="adj1" fmla="val -514287"/>
            </a:avLst>
          </a:prstGeom>
          <a:noFill/>
          <a:ln w="12700">
            <a:solidFill>
              <a:schemeClr val="bg2">
                <a:lumMod val="75000"/>
              </a:schemeClr>
            </a:solidFill>
            <a:round/>
            <a:headEnd/>
            <a:tailEnd type="triangle" w="med" len="med"/>
          </a:ln>
          <a:effectLst/>
        </p:spPr>
      </p:cxnSp>
      <p:cxnSp>
        <p:nvCxnSpPr>
          <p:cNvPr id="10" name="AutoShape 33"/>
          <p:cNvCxnSpPr>
            <a:cxnSpLocks noChangeShapeType="1"/>
            <a:stCxn id="6" idx="0"/>
            <a:endCxn id="7" idx="0"/>
          </p:cNvCxnSpPr>
          <p:nvPr/>
        </p:nvCxnSpPr>
        <p:spPr bwMode="auto">
          <a:xfrm rot="16200000" flipH="1" flipV="1">
            <a:off x="3501293" y="1669074"/>
            <a:ext cx="44450" cy="1557703"/>
          </a:xfrm>
          <a:prstGeom prst="curvedConnector3">
            <a:avLst>
              <a:gd name="adj1" fmla="val -514287"/>
            </a:avLst>
          </a:prstGeom>
          <a:noFill/>
          <a:ln w="12700">
            <a:solidFill>
              <a:schemeClr val="bg2">
                <a:lumMod val="75000"/>
              </a:schemeClr>
            </a:solidFill>
            <a:round/>
            <a:headEnd/>
            <a:tailEnd type="triangle" w="med" len="med"/>
          </a:ln>
          <a:effectLst/>
        </p:spPr>
      </p:cxnSp>
      <p:cxnSp>
        <p:nvCxnSpPr>
          <p:cNvPr id="11" name="AutoShape 34"/>
          <p:cNvCxnSpPr>
            <a:cxnSpLocks noChangeShapeType="1"/>
            <a:stCxn id="6" idx="2"/>
            <a:endCxn id="7" idx="3"/>
          </p:cNvCxnSpPr>
          <p:nvPr/>
        </p:nvCxnSpPr>
        <p:spPr bwMode="auto">
          <a:xfrm rot="5400000">
            <a:off x="3462461" y="1957144"/>
            <a:ext cx="44450" cy="1632438"/>
          </a:xfrm>
          <a:prstGeom prst="curvedConnector3">
            <a:avLst>
              <a:gd name="adj1" fmla="val 614287"/>
            </a:avLst>
          </a:prstGeom>
          <a:noFill/>
          <a:ln w="12700">
            <a:solidFill>
              <a:schemeClr val="bg2">
                <a:lumMod val="75000"/>
              </a:schemeClr>
            </a:solidFill>
            <a:round/>
            <a:headEnd/>
            <a:tailEnd type="triangle" w="med" len="med"/>
          </a:ln>
          <a:effectLst/>
        </p:spPr>
      </p:cxnSp>
      <p:sp>
        <p:nvSpPr>
          <p:cNvPr id="209931" name="Text Box 35"/>
          <p:cNvSpPr txBox="1">
            <a:spLocks noChangeArrowheads="1"/>
          </p:cNvSpPr>
          <p:nvPr/>
        </p:nvSpPr>
        <p:spPr bwMode="auto">
          <a:xfrm>
            <a:off x="1620948" y="2460626"/>
            <a:ext cx="977195" cy="400110"/>
          </a:xfrm>
          <a:prstGeom prst="rect">
            <a:avLst/>
          </a:prstGeom>
          <a:noFill/>
          <a:ln w="12700" algn="ctr">
            <a:noFill/>
            <a:miter lim="800000"/>
            <a:headEnd/>
            <a:tailEnd/>
          </a:ln>
        </p:spPr>
        <p:txBody>
          <a:bodyPr wrap="square">
            <a:spAutoFit/>
          </a:bodyPr>
          <a:lstStyle/>
          <a:p>
            <a:pPr algn="ctr"/>
            <a:r>
              <a:rPr lang="en-US" altLang="ko-KR" sz="1000" dirty="0" err="1">
                <a:solidFill>
                  <a:srgbClr val="FF0000"/>
                </a:solidFill>
                <a:latin typeface="맑은 고딕" pitchFamily="50" charset="-127"/>
                <a:ea typeface="맑은 고딕" pitchFamily="50" charset="-127"/>
              </a:rPr>
              <a:t>Có</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thể</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đo</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đạc</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lặp</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lại</a:t>
            </a:r>
            <a:endParaRPr lang="ko-KR" altLang="en-US" sz="1000" dirty="0">
              <a:solidFill>
                <a:srgbClr val="FF0000"/>
              </a:solidFill>
              <a:latin typeface="맑은 고딕" pitchFamily="50" charset="-127"/>
              <a:ea typeface="맑은 고딕" pitchFamily="50" charset="-127"/>
            </a:endParaRPr>
          </a:p>
        </p:txBody>
      </p:sp>
      <p:sp>
        <p:nvSpPr>
          <p:cNvPr id="209932" name="Text Box 36"/>
          <p:cNvSpPr txBox="1">
            <a:spLocks noChangeArrowheads="1"/>
          </p:cNvSpPr>
          <p:nvPr/>
        </p:nvSpPr>
        <p:spPr bwMode="auto">
          <a:xfrm>
            <a:off x="2900078" y="2472162"/>
            <a:ext cx="977195" cy="400110"/>
          </a:xfrm>
          <a:prstGeom prst="rect">
            <a:avLst/>
          </a:prstGeom>
          <a:noFill/>
          <a:ln w="12700" algn="ctr">
            <a:noFill/>
            <a:miter lim="800000"/>
            <a:headEnd/>
            <a:tailEnd/>
          </a:ln>
        </p:spPr>
        <p:txBody>
          <a:bodyPr wrap="square">
            <a:spAutoFit/>
          </a:bodyPr>
          <a:lstStyle/>
          <a:p>
            <a:pPr algn="ctr"/>
            <a:r>
              <a:rPr lang="en-US" altLang="ko-KR" sz="1000" dirty="0" err="1">
                <a:solidFill>
                  <a:srgbClr val="FF0000"/>
                </a:solidFill>
                <a:latin typeface="맑은 고딕" pitchFamily="50" charset="-127"/>
                <a:ea typeface="맑은 고딕" pitchFamily="50" charset="-127"/>
              </a:rPr>
              <a:t>Có</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thể</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đo</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đạc</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lặp</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lại</a:t>
            </a:r>
            <a:endParaRPr lang="ko-KR" altLang="en-US" sz="1000" dirty="0">
              <a:solidFill>
                <a:srgbClr val="FF0000"/>
              </a:solidFill>
              <a:latin typeface="맑은 고딕" pitchFamily="50" charset="-127"/>
              <a:ea typeface="맑은 고딕" pitchFamily="50" charset="-127"/>
            </a:endParaRPr>
          </a:p>
        </p:txBody>
      </p:sp>
      <p:sp>
        <p:nvSpPr>
          <p:cNvPr id="209933" name="Text Box 38"/>
          <p:cNvSpPr txBox="1">
            <a:spLocks noChangeArrowheads="1"/>
          </p:cNvSpPr>
          <p:nvPr/>
        </p:nvSpPr>
        <p:spPr bwMode="auto">
          <a:xfrm>
            <a:off x="709246" y="2000251"/>
            <a:ext cx="994888" cy="307777"/>
          </a:xfrm>
          <a:prstGeom prst="rect">
            <a:avLst/>
          </a:prstGeom>
          <a:noFill/>
          <a:ln w="12700" algn="ctr">
            <a:noFill/>
            <a:miter lim="800000"/>
            <a:headEnd/>
            <a:tailEnd/>
          </a:ln>
        </p:spPr>
        <p:txBody>
          <a:bodyPr wrap="none">
            <a:spAutoFit/>
          </a:bodyPr>
          <a:lstStyle/>
          <a:p>
            <a:r>
              <a:rPr lang="en-US" altLang="ko-KR" sz="1400" b="1" dirty="0">
                <a:latin typeface="맑은 고딕" pitchFamily="50" charset="-127"/>
                <a:ea typeface="맑은 고딕" pitchFamily="50" charset="-127"/>
              </a:rPr>
              <a:t>- Crossed</a:t>
            </a:r>
          </a:p>
        </p:txBody>
      </p:sp>
      <p:sp>
        <p:nvSpPr>
          <p:cNvPr id="15" name="Rectangle 40"/>
          <p:cNvSpPr>
            <a:spLocks noChangeArrowheads="1"/>
          </p:cNvSpPr>
          <p:nvPr/>
        </p:nvSpPr>
        <p:spPr bwMode="auto">
          <a:xfrm>
            <a:off x="756139" y="4162425"/>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1</a:t>
            </a:r>
          </a:p>
        </p:txBody>
      </p:sp>
      <p:sp>
        <p:nvSpPr>
          <p:cNvPr id="16" name="Rectangle 41"/>
          <p:cNvSpPr>
            <a:spLocks noChangeArrowheads="1"/>
          </p:cNvSpPr>
          <p:nvPr/>
        </p:nvSpPr>
        <p:spPr bwMode="auto">
          <a:xfrm>
            <a:off x="3827585" y="4187825"/>
            <a:ext cx="937846" cy="323850"/>
          </a:xfrm>
          <a:prstGeom prst="rect">
            <a:avLst/>
          </a:prstGeom>
          <a:solidFill>
            <a:schemeClr val="bg1">
              <a:lumMod val="75000"/>
            </a:schemeClr>
          </a:solidFill>
          <a:ln w="12700" algn="ctr">
            <a:solidFill>
              <a:schemeClr val="bg2">
                <a:lumMod val="60000"/>
                <a:lumOff val="40000"/>
              </a:schemeClr>
            </a:solidFill>
            <a:miter lim="800000"/>
            <a:headEnd/>
            <a:tailEnd/>
          </a:ln>
          <a:effectLst/>
        </p:spPr>
        <p:txBody>
          <a:bodyPr wrap="none" anchor="ctr"/>
          <a:lstStyle/>
          <a:p>
            <a:pPr algn="ctr">
              <a:defRPr/>
            </a:pP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2</a:t>
            </a:r>
          </a:p>
        </p:txBody>
      </p:sp>
      <p:sp>
        <p:nvSpPr>
          <p:cNvPr id="17" name="AutoShape 42"/>
          <p:cNvSpPr>
            <a:spLocks noChangeArrowheads="1"/>
          </p:cNvSpPr>
          <p:nvPr/>
        </p:nvSpPr>
        <p:spPr bwMode="auto">
          <a:xfrm>
            <a:off x="2535116" y="4117975"/>
            <a:ext cx="332643" cy="323850"/>
          </a:xfrm>
          <a:prstGeom prst="cube">
            <a:avLst>
              <a:gd name="adj" fmla="val 25000"/>
            </a:avLst>
          </a:prstGeom>
          <a:solidFill>
            <a:srgbClr val="CCECFF"/>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18" name="AutoShape 43"/>
          <p:cNvCxnSpPr>
            <a:cxnSpLocks noChangeShapeType="1"/>
            <a:stCxn id="15" idx="0"/>
            <a:endCxn id="17" idx="0"/>
          </p:cNvCxnSpPr>
          <p:nvPr/>
        </p:nvCxnSpPr>
        <p:spPr bwMode="auto">
          <a:xfrm rot="16200000">
            <a:off x="1959708" y="3383329"/>
            <a:ext cx="44450" cy="1513743"/>
          </a:xfrm>
          <a:prstGeom prst="curvedConnector3">
            <a:avLst>
              <a:gd name="adj1" fmla="val 614287"/>
            </a:avLst>
          </a:prstGeom>
          <a:noFill/>
          <a:ln w="12700">
            <a:solidFill>
              <a:schemeClr val="bg2">
                <a:lumMod val="75000"/>
              </a:schemeClr>
            </a:solidFill>
            <a:round/>
            <a:headEnd/>
            <a:tailEnd type="triangle" w="med" len="med"/>
          </a:ln>
          <a:effectLst/>
        </p:spPr>
      </p:cxnSp>
      <p:cxnSp>
        <p:nvCxnSpPr>
          <p:cNvPr id="19" name="AutoShape 44"/>
          <p:cNvCxnSpPr>
            <a:cxnSpLocks noChangeShapeType="1"/>
            <a:stCxn id="15" idx="2"/>
            <a:endCxn id="17" idx="3"/>
          </p:cNvCxnSpPr>
          <p:nvPr/>
        </p:nvCxnSpPr>
        <p:spPr bwMode="auto">
          <a:xfrm rot="5400000" flipH="1" flipV="1">
            <a:off x="1922341" y="3744546"/>
            <a:ext cx="44450" cy="1439008"/>
          </a:xfrm>
          <a:prstGeom prst="curvedConnector3">
            <a:avLst>
              <a:gd name="adj1" fmla="val -514287"/>
            </a:avLst>
          </a:prstGeom>
          <a:noFill/>
          <a:ln w="12700">
            <a:solidFill>
              <a:schemeClr val="bg2">
                <a:lumMod val="75000"/>
              </a:schemeClr>
            </a:solidFill>
            <a:round/>
            <a:headEnd/>
            <a:tailEnd type="triangle" w="med" len="med"/>
          </a:ln>
          <a:effectLst/>
        </p:spPr>
      </p:cxnSp>
      <p:cxnSp>
        <p:nvCxnSpPr>
          <p:cNvPr id="20" name="AutoShape 45"/>
          <p:cNvCxnSpPr>
            <a:cxnSpLocks noChangeShapeType="1"/>
            <a:stCxn id="16" idx="0"/>
            <a:endCxn id="17" idx="0"/>
          </p:cNvCxnSpPr>
          <p:nvPr/>
        </p:nvCxnSpPr>
        <p:spPr bwMode="auto">
          <a:xfrm rot="16200000" flipV="1">
            <a:off x="3482731" y="3374048"/>
            <a:ext cx="69850" cy="1557703"/>
          </a:xfrm>
          <a:prstGeom prst="curvedConnector3">
            <a:avLst>
              <a:gd name="adj1" fmla="val 427671"/>
            </a:avLst>
          </a:prstGeom>
          <a:noFill/>
          <a:ln w="12700">
            <a:solidFill>
              <a:schemeClr val="bg2">
                <a:lumMod val="75000"/>
              </a:schemeClr>
            </a:solidFill>
            <a:round/>
            <a:headEnd/>
            <a:tailEnd type="triangle" w="med" len="med"/>
          </a:ln>
          <a:effectLst/>
        </p:spPr>
      </p:cxnSp>
      <p:sp>
        <p:nvSpPr>
          <p:cNvPr id="209940" name="Text Box 47"/>
          <p:cNvSpPr txBox="1">
            <a:spLocks noChangeArrowheads="1"/>
          </p:cNvSpPr>
          <p:nvPr/>
        </p:nvSpPr>
        <p:spPr bwMode="auto">
          <a:xfrm>
            <a:off x="1626363" y="4077072"/>
            <a:ext cx="1008112" cy="400110"/>
          </a:xfrm>
          <a:prstGeom prst="rect">
            <a:avLst/>
          </a:prstGeom>
          <a:noFill/>
          <a:ln w="12700" algn="ctr">
            <a:noFill/>
            <a:miter lim="800000"/>
            <a:headEnd/>
            <a:tailEnd/>
          </a:ln>
        </p:spPr>
        <p:txBody>
          <a:bodyPr wrap="square">
            <a:spAutoFit/>
          </a:bodyPr>
          <a:lstStyle/>
          <a:p>
            <a:pPr algn="ctr"/>
            <a:r>
              <a:rPr lang="en-US" altLang="ko-KR" sz="1000" dirty="0" err="1">
                <a:solidFill>
                  <a:srgbClr val="FF0000"/>
                </a:solidFill>
                <a:latin typeface="맑은 고딕" pitchFamily="50" charset="-127"/>
                <a:ea typeface="맑은 고딕" pitchFamily="50" charset="-127"/>
              </a:rPr>
              <a:t>không</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thể</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đo</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đạc</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lặp</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lại</a:t>
            </a:r>
            <a:endParaRPr lang="ko-KR" altLang="en-US" sz="1000" dirty="0">
              <a:solidFill>
                <a:srgbClr val="FF0000"/>
              </a:solidFill>
              <a:latin typeface="맑은 고딕" pitchFamily="50" charset="-127"/>
              <a:ea typeface="맑은 고딕" pitchFamily="50" charset="-127"/>
            </a:endParaRPr>
          </a:p>
        </p:txBody>
      </p:sp>
      <p:sp>
        <p:nvSpPr>
          <p:cNvPr id="209941" name="Text Box 49"/>
          <p:cNvSpPr txBox="1">
            <a:spLocks noChangeArrowheads="1"/>
          </p:cNvSpPr>
          <p:nvPr/>
        </p:nvSpPr>
        <p:spPr bwMode="auto">
          <a:xfrm>
            <a:off x="704850" y="3462338"/>
            <a:ext cx="926087" cy="307777"/>
          </a:xfrm>
          <a:prstGeom prst="rect">
            <a:avLst/>
          </a:prstGeom>
          <a:noFill/>
          <a:ln w="12700" algn="ctr">
            <a:noFill/>
            <a:miter lim="800000"/>
            <a:headEnd/>
            <a:tailEnd/>
          </a:ln>
        </p:spPr>
        <p:txBody>
          <a:bodyPr wrap="none">
            <a:spAutoFit/>
          </a:bodyPr>
          <a:lstStyle/>
          <a:p>
            <a:r>
              <a:rPr lang="en-US" altLang="ko-KR" sz="1400" b="1" dirty="0">
                <a:latin typeface="맑은 고딕" pitchFamily="50" charset="-127"/>
                <a:ea typeface="맑은 고딕" pitchFamily="50" charset="-127"/>
              </a:rPr>
              <a:t>- Nested</a:t>
            </a:r>
          </a:p>
        </p:txBody>
      </p:sp>
      <p:sp>
        <p:nvSpPr>
          <p:cNvPr id="23" name="Oval 50"/>
          <p:cNvSpPr>
            <a:spLocks noChangeArrowheads="1"/>
          </p:cNvSpPr>
          <p:nvPr/>
        </p:nvSpPr>
        <p:spPr bwMode="auto">
          <a:xfrm>
            <a:off x="1890347" y="4557714"/>
            <a:ext cx="266700" cy="288925"/>
          </a:xfrm>
          <a:prstGeom prst="ellipse">
            <a:avLst/>
          </a:prstGeom>
          <a:solidFill>
            <a:schemeClr val="bg1"/>
          </a:solidFill>
          <a:ln w="12700" algn="ctr">
            <a:solidFill>
              <a:schemeClr val="bg2">
                <a:lumMod val="60000"/>
                <a:lumOff val="40000"/>
              </a:schemeClr>
            </a:solidFill>
            <a:round/>
            <a:headEnd/>
            <a:tailEnd/>
          </a:ln>
          <a:effectLst/>
        </p:spPr>
        <p:txBody>
          <a:bodyPr wrap="none" anchor="ctr"/>
          <a:lstStyle/>
          <a:p>
            <a:pPr algn="ctr">
              <a:defRPr/>
            </a:pPr>
            <a:r>
              <a:rPr lang="en-US" altLang="ko-KR" sz="1200" dirty="0">
                <a:latin typeface="맑은 고딕" pitchFamily="50" charset="-127"/>
                <a:ea typeface="맑은 고딕" pitchFamily="50" charset="-127"/>
              </a:rPr>
              <a:t>X</a:t>
            </a:r>
          </a:p>
        </p:txBody>
      </p:sp>
      <p:sp>
        <p:nvSpPr>
          <p:cNvPr id="24" name="Oval 51"/>
          <p:cNvSpPr>
            <a:spLocks noChangeArrowheads="1"/>
          </p:cNvSpPr>
          <p:nvPr/>
        </p:nvSpPr>
        <p:spPr bwMode="auto">
          <a:xfrm>
            <a:off x="3316166" y="3721101"/>
            <a:ext cx="266700" cy="288925"/>
          </a:xfrm>
          <a:prstGeom prst="ellipse">
            <a:avLst/>
          </a:prstGeom>
          <a:solidFill>
            <a:schemeClr val="bg1"/>
          </a:solidFill>
          <a:ln w="12700" algn="ctr">
            <a:solidFill>
              <a:schemeClr val="bg2">
                <a:lumMod val="60000"/>
                <a:lumOff val="40000"/>
              </a:schemeClr>
            </a:solidFill>
            <a:round/>
            <a:headEnd/>
            <a:tailEnd/>
          </a:ln>
          <a:effectLst/>
        </p:spPr>
        <p:txBody>
          <a:bodyPr wrap="none" anchor="ctr"/>
          <a:lstStyle/>
          <a:p>
            <a:pPr algn="ctr">
              <a:defRPr/>
            </a:pPr>
            <a:r>
              <a:rPr lang="en-US" altLang="ko-KR" sz="1200" dirty="0">
                <a:latin typeface="맑은 고딕" pitchFamily="50" charset="-127"/>
                <a:ea typeface="맑은 고딕" pitchFamily="50" charset="-127"/>
              </a:rPr>
              <a:t>X</a:t>
            </a:r>
          </a:p>
        </p:txBody>
      </p:sp>
      <p:sp>
        <p:nvSpPr>
          <p:cNvPr id="25" name="Oval 52"/>
          <p:cNvSpPr>
            <a:spLocks noChangeArrowheads="1"/>
          </p:cNvSpPr>
          <p:nvPr/>
        </p:nvSpPr>
        <p:spPr bwMode="auto">
          <a:xfrm>
            <a:off x="1824405" y="3732214"/>
            <a:ext cx="266700" cy="288925"/>
          </a:xfrm>
          <a:prstGeom prst="ellipse">
            <a:avLst/>
          </a:prstGeom>
          <a:solidFill>
            <a:schemeClr val="bg1"/>
          </a:solidFill>
          <a:ln w="12700" algn="ctr">
            <a:solidFill>
              <a:schemeClr val="bg2">
                <a:lumMod val="60000"/>
                <a:lumOff val="40000"/>
              </a:schemeClr>
            </a:solidFill>
            <a:round/>
            <a:headEnd/>
            <a:tailEnd/>
          </a:ln>
          <a:effectLst/>
        </p:spPr>
        <p:txBody>
          <a:bodyPr wrap="none" anchor="ctr"/>
          <a:lstStyle/>
          <a:p>
            <a:pPr algn="ctr">
              <a:defRPr/>
            </a:pPr>
            <a:r>
              <a:rPr lang="en-US" altLang="ko-KR" sz="1200" dirty="0">
                <a:latin typeface="맑은 고딕" pitchFamily="50" charset="-127"/>
                <a:ea typeface="맑은 고딕" pitchFamily="50" charset="-127"/>
              </a:rPr>
              <a:t>O</a:t>
            </a:r>
          </a:p>
        </p:txBody>
      </p:sp>
      <p:sp>
        <p:nvSpPr>
          <p:cNvPr id="209945" name="Text Box 53"/>
          <p:cNvSpPr txBox="1">
            <a:spLocks noChangeArrowheads="1"/>
          </p:cNvSpPr>
          <p:nvPr/>
        </p:nvSpPr>
        <p:spPr bwMode="auto">
          <a:xfrm>
            <a:off x="2387112" y="4056063"/>
            <a:ext cx="1979734" cy="400110"/>
          </a:xfrm>
          <a:prstGeom prst="rect">
            <a:avLst/>
          </a:prstGeom>
          <a:noFill/>
          <a:ln w="12700" algn="ctr">
            <a:noFill/>
            <a:miter lim="800000"/>
            <a:headEnd/>
            <a:tailEnd/>
          </a:ln>
        </p:spPr>
        <p:txBody>
          <a:bodyPr>
            <a:spAutoFit/>
          </a:bodyPr>
          <a:lstStyle/>
          <a:p>
            <a:pPr algn="ctr"/>
            <a:r>
              <a:rPr lang="en-US" altLang="ko-KR" sz="1000" dirty="0" err="1">
                <a:solidFill>
                  <a:srgbClr val="FF0000"/>
                </a:solidFill>
                <a:latin typeface="맑은 고딕" pitchFamily="50" charset="-127"/>
                <a:ea typeface="맑은 고딕" pitchFamily="50" charset="-127"/>
              </a:rPr>
              <a:t>người</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đo</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đạc</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khác</a:t>
            </a:r>
            <a:r>
              <a:rPr lang="en-US" altLang="ko-KR" sz="1000" dirty="0">
                <a:solidFill>
                  <a:srgbClr val="FF0000"/>
                </a:solidFill>
                <a:latin typeface="맑은 고딕" pitchFamily="50" charset="-127"/>
                <a:ea typeface="맑은 고딕" pitchFamily="50" charset="-127"/>
              </a:rPr>
              <a:t> </a:t>
            </a:r>
          </a:p>
          <a:p>
            <a:pPr algn="ctr"/>
            <a:r>
              <a:rPr lang="en-US" altLang="ko-KR" sz="1000" dirty="0" err="1">
                <a:solidFill>
                  <a:srgbClr val="FF0000"/>
                </a:solidFill>
                <a:latin typeface="맑은 고딕" pitchFamily="50" charset="-127"/>
                <a:ea typeface="맑은 고딕" pitchFamily="50" charset="-127"/>
              </a:rPr>
              <a:t>không</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thể</a:t>
            </a:r>
            <a:r>
              <a:rPr lang="en-US" altLang="ko-KR" sz="1000" dirty="0">
                <a:solidFill>
                  <a:srgbClr val="FF0000"/>
                </a:solidFill>
                <a:latin typeface="맑은 고딕" pitchFamily="50" charset="-127"/>
                <a:ea typeface="맑은 고딕" pitchFamily="50" charset="-127"/>
              </a:rPr>
              <a:t> </a:t>
            </a:r>
            <a:r>
              <a:rPr lang="en-US" altLang="ko-KR" sz="1000" dirty="0" err="1">
                <a:solidFill>
                  <a:srgbClr val="FF0000"/>
                </a:solidFill>
                <a:latin typeface="맑은 고딕" pitchFamily="50" charset="-127"/>
                <a:ea typeface="맑은 고딕" pitchFamily="50" charset="-127"/>
              </a:rPr>
              <a:t>đo</a:t>
            </a:r>
            <a:endParaRPr lang="ko-KR" altLang="en-US" sz="1000" dirty="0">
              <a:solidFill>
                <a:srgbClr val="FF0000"/>
              </a:solidFill>
              <a:latin typeface="맑은 고딕" pitchFamily="50" charset="-127"/>
              <a:ea typeface="맑은 고딕" pitchFamily="50" charset="-127"/>
            </a:endParaRPr>
          </a:p>
        </p:txBody>
      </p:sp>
      <p:sp>
        <p:nvSpPr>
          <p:cNvPr id="27" name="AutoShape 55"/>
          <p:cNvSpPr>
            <a:spLocks noChangeArrowheads="1"/>
          </p:cNvSpPr>
          <p:nvPr/>
        </p:nvSpPr>
        <p:spPr bwMode="auto">
          <a:xfrm>
            <a:off x="2535116" y="4727575"/>
            <a:ext cx="332643" cy="323850"/>
          </a:xfrm>
          <a:prstGeom prst="cube">
            <a:avLst>
              <a:gd name="adj" fmla="val 25000"/>
            </a:avLst>
          </a:prstGeom>
          <a:solidFill>
            <a:srgbClr val="CCECFF"/>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28" name="AutoShape 56"/>
          <p:cNvCxnSpPr>
            <a:cxnSpLocks noChangeShapeType="1"/>
            <a:stCxn id="15" idx="2"/>
            <a:endCxn id="27" idx="2"/>
          </p:cNvCxnSpPr>
          <p:nvPr/>
        </p:nvCxnSpPr>
        <p:spPr bwMode="auto">
          <a:xfrm rot="16200000" flipH="1">
            <a:off x="1657839" y="4053498"/>
            <a:ext cx="444500" cy="1310054"/>
          </a:xfrm>
          <a:prstGeom prst="curvedConnector2">
            <a:avLst/>
          </a:prstGeom>
          <a:noFill/>
          <a:ln w="12700">
            <a:solidFill>
              <a:schemeClr val="bg2">
                <a:lumMod val="75000"/>
              </a:schemeClr>
            </a:solidFill>
            <a:round/>
            <a:headEnd/>
            <a:tailEnd type="triangle" w="med" len="med"/>
          </a:ln>
          <a:effectLst/>
        </p:spPr>
      </p:cxnSp>
      <p:sp>
        <p:nvSpPr>
          <p:cNvPr id="29" name="AutoShape 57"/>
          <p:cNvSpPr>
            <a:spLocks noChangeArrowheads="1"/>
          </p:cNvSpPr>
          <p:nvPr/>
        </p:nvSpPr>
        <p:spPr bwMode="auto">
          <a:xfrm>
            <a:off x="2535116" y="3489325"/>
            <a:ext cx="332643" cy="323850"/>
          </a:xfrm>
          <a:prstGeom prst="cube">
            <a:avLst>
              <a:gd name="adj" fmla="val 25000"/>
            </a:avLst>
          </a:prstGeom>
          <a:solidFill>
            <a:schemeClr val="bg2"/>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sp>
        <p:nvSpPr>
          <p:cNvPr id="30" name="AutoShape 58"/>
          <p:cNvSpPr>
            <a:spLocks noChangeArrowheads="1"/>
          </p:cNvSpPr>
          <p:nvPr/>
        </p:nvSpPr>
        <p:spPr bwMode="auto">
          <a:xfrm>
            <a:off x="2535116" y="5281613"/>
            <a:ext cx="332643" cy="323850"/>
          </a:xfrm>
          <a:prstGeom prst="cube">
            <a:avLst>
              <a:gd name="adj" fmla="val 25000"/>
            </a:avLst>
          </a:prstGeom>
          <a:solidFill>
            <a:schemeClr val="bg2"/>
          </a:solidFill>
          <a:ln w="12700">
            <a:solidFill>
              <a:schemeClr val="bg2">
                <a:lumMod val="60000"/>
                <a:lumOff val="40000"/>
              </a:schemeClr>
            </a:solidFill>
            <a:miter lim="800000"/>
            <a:headEnd/>
            <a:tailEnd/>
          </a:ln>
          <a:effectLst/>
        </p:spPr>
        <p:txBody>
          <a:bodyPr wrap="none" anchor="ctr"/>
          <a:lstStyle/>
          <a:p>
            <a:pPr>
              <a:defRPr/>
            </a:pPr>
            <a:endParaRPr lang="ko-KR" altLang="en-US" sz="1200" dirty="0">
              <a:latin typeface="맑은 고딕" pitchFamily="50" charset="-127"/>
              <a:ea typeface="맑은 고딕" pitchFamily="50" charset="-127"/>
            </a:endParaRPr>
          </a:p>
        </p:txBody>
      </p:sp>
      <p:cxnSp>
        <p:nvCxnSpPr>
          <p:cNvPr id="31" name="AutoShape 59"/>
          <p:cNvCxnSpPr>
            <a:cxnSpLocks noChangeShapeType="1"/>
            <a:stCxn id="16" idx="0"/>
            <a:endCxn id="29" idx="5"/>
          </p:cNvCxnSpPr>
          <p:nvPr/>
        </p:nvCxnSpPr>
        <p:spPr bwMode="auto">
          <a:xfrm rot="16200000" flipV="1">
            <a:off x="3293208" y="3184525"/>
            <a:ext cx="577850" cy="1428750"/>
          </a:xfrm>
          <a:prstGeom prst="curvedConnector2">
            <a:avLst/>
          </a:prstGeom>
          <a:noFill/>
          <a:ln w="12700">
            <a:solidFill>
              <a:schemeClr val="bg2">
                <a:lumMod val="75000"/>
              </a:schemeClr>
            </a:solidFill>
            <a:round/>
            <a:headEnd/>
            <a:tailEnd type="triangle" w="med" len="med"/>
          </a:ln>
          <a:effectLst/>
        </p:spPr>
      </p:cxnSp>
      <p:cxnSp>
        <p:nvCxnSpPr>
          <p:cNvPr id="32" name="AutoShape 60"/>
          <p:cNvCxnSpPr>
            <a:cxnSpLocks noChangeShapeType="1"/>
            <a:stCxn id="16" idx="2"/>
            <a:endCxn id="30" idx="5"/>
          </p:cNvCxnSpPr>
          <p:nvPr/>
        </p:nvCxnSpPr>
        <p:spPr bwMode="auto">
          <a:xfrm rot="5400000">
            <a:off x="3136839" y="4242594"/>
            <a:ext cx="890588" cy="1428750"/>
          </a:xfrm>
          <a:prstGeom prst="curvedConnector2">
            <a:avLst/>
          </a:prstGeom>
          <a:noFill/>
          <a:ln w="12700">
            <a:solidFill>
              <a:schemeClr val="bg2">
                <a:lumMod val="75000"/>
              </a:schemeClr>
            </a:solidFill>
            <a:round/>
            <a:headEnd/>
            <a:tailEnd type="triangle" w="med" len="med"/>
          </a:ln>
          <a:effectLst/>
        </p:spPr>
      </p:cxnSp>
      <p:sp>
        <p:nvSpPr>
          <p:cNvPr id="34" name="Text Box 63"/>
          <p:cNvSpPr txBox="1">
            <a:spLocks noChangeArrowheads="1"/>
          </p:cNvSpPr>
          <p:nvPr/>
        </p:nvSpPr>
        <p:spPr bwMode="auto">
          <a:xfrm>
            <a:off x="5297366" y="2282826"/>
            <a:ext cx="3081703" cy="461665"/>
          </a:xfrm>
          <a:prstGeom prst="rect">
            <a:avLst/>
          </a:prstGeom>
          <a:solidFill>
            <a:schemeClr val="bg1"/>
          </a:solidFill>
          <a:ln w="9525" algn="ctr">
            <a:solidFill>
              <a:schemeClr val="bg1">
                <a:lumMod val="50000"/>
              </a:schemeClr>
            </a:solidFill>
            <a:miter lim="800000"/>
            <a:headEnd/>
            <a:tailEnd/>
          </a:ln>
          <a:effectLst/>
        </p:spPr>
        <p:txBody>
          <a:bodyPr>
            <a:spAutoFit/>
          </a:bodyPr>
          <a:lstStyle/>
          <a:p>
            <a:pPr>
              <a:defRPr/>
            </a:pPr>
            <a:r>
              <a:rPr lang="en-US" altLang="ko-KR" sz="1200" dirty="0" err="1">
                <a:latin typeface="맑은 고딕" pitchFamily="50" charset="-127"/>
                <a:ea typeface="맑은 고딕" pitchFamily="50" charset="-127"/>
              </a:rPr>
              <a:t>Trường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hợp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chiều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dài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nặng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thường</a:t>
            </a:r>
            <a:endParaRPr lang="en-US" altLang="ko-KR" sz="1200" dirty="0">
              <a:latin typeface="맑은 고딕" pitchFamily="50" charset="-127"/>
              <a:ea typeface="맑은 고딕" pitchFamily="50" charset="-127"/>
            </a:endParaRPr>
          </a:p>
        </p:txBody>
      </p:sp>
      <p:sp>
        <p:nvSpPr>
          <p:cNvPr id="36" name="Text Box 10"/>
          <p:cNvSpPr txBox="1">
            <a:spLocks noChangeArrowheads="1"/>
          </p:cNvSpPr>
          <p:nvPr/>
        </p:nvSpPr>
        <p:spPr bwMode="auto">
          <a:xfrm>
            <a:off x="5292080" y="3598277"/>
            <a:ext cx="3235074" cy="749812"/>
          </a:xfrm>
          <a:prstGeom prst="rect">
            <a:avLst/>
          </a:prstGeom>
          <a:solidFill>
            <a:schemeClr val="bg1"/>
          </a:solidFill>
          <a:ln w="9525" algn="ctr">
            <a:solidFill>
              <a:srgbClr val="C00000"/>
            </a:solidFill>
            <a:miter lim="800000"/>
            <a:headEnd/>
            <a:tailEnd/>
          </a:ln>
          <a:effectLst/>
        </p:spPr>
        <p:txBody>
          <a:bodyPr wrap="square" lIns="36000" tIns="36000" rIns="36000" bIns="36000" anchor="ctr">
            <a:spAutoFit/>
          </a:bodyPr>
          <a:lstStyle/>
          <a:p>
            <a:pPr>
              <a:defRPr/>
            </a:pPr>
            <a:r>
              <a:rPr lang="ko-KR" altLang="en-US" sz="1100" dirty="0">
                <a:solidFill>
                  <a:srgbClr val="C00000"/>
                </a:solidFill>
                <a:latin typeface="맑은 고딕" pitchFamily="50" charset="-127"/>
                <a:ea typeface="맑은 고딕" pitchFamily="50" charset="-127"/>
              </a:rPr>
              <a:t>주의 사항</a:t>
            </a:r>
          </a:p>
          <a:p>
            <a:pPr>
              <a:defRPr/>
            </a:pPr>
            <a:r>
              <a:rPr lang="ko-KR" altLang="en-US" sz="1100" dirty="0">
                <a:solidFill>
                  <a:srgbClr val="C00000"/>
                </a:solidFill>
                <a:latin typeface="맑은 고딕" pitchFamily="50" charset="-127"/>
                <a:ea typeface="맑은 고딕" pitchFamily="50" charset="-127"/>
              </a:rPr>
              <a:t> </a:t>
            </a:r>
            <a:r>
              <a:rPr lang="en-US" altLang="ko-KR" sz="1100" dirty="0">
                <a:solidFill>
                  <a:srgbClr val="C00000"/>
                </a:solidFill>
                <a:latin typeface="맑은 고딕" pitchFamily="50" charset="-127"/>
                <a:ea typeface="맑은 고딕" pitchFamily="50" charset="-127"/>
              </a:rPr>
              <a:t>-</a:t>
            </a:r>
            <a:r>
              <a:rPr lang="ko-KR" altLang="en-US" sz="1100" dirty="0">
                <a:solidFill>
                  <a:srgbClr val="C00000"/>
                </a:solidFill>
                <a:latin typeface="맑은 고딕" pitchFamily="50" charset="-127"/>
                <a:ea typeface="맑은 고딕" pitchFamily="50" charset="-127"/>
              </a:rPr>
              <a:t>실제 반복이 불가능하므로</a:t>
            </a:r>
            <a:r>
              <a:rPr lang="en-US" altLang="ko-KR" sz="1100" dirty="0">
                <a:solidFill>
                  <a:srgbClr val="C00000"/>
                </a:solidFill>
                <a:latin typeface="맑은 고딕" pitchFamily="50" charset="-127"/>
                <a:ea typeface="맑은 고딕" pitchFamily="50" charset="-127"/>
              </a:rPr>
              <a:t>, </a:t>
            </a:r>
            <a:r>
              <a:rPr lang="ko-KR" altLang="en-US" sz="1100" dirty="0">
                <a:solidFill>
                  <a:srgbClr val="C00000"/>
                </a:solidFill>
                <a:latin typeface="맑은 고딕" pitchFamily="50" charset="-127"/>
                <a:ea typeface="맑은 고딕" pitchFamily="50" charset="-127"/>
              </a:rPr>
              <a:t>동일 </a:t>
            </a:r>
            <a:r>
              <a:rPr lang="en-US" altLang="ko-KR" sz="1100" dirty="0">
                <a:solidFill>
                  <a:srgbClr val="C00000"/>
                </a:solidFill>
                <a:latin typeface="맑은 고딕" pitchFamily="50" charset="-127"/>
                <a:ea typeface="맑은 고딕" pitchFamily="50" charset="-127"/>
              </a:rPr>
              <a:t>Lot </a:t>
            </a:r>
            <a:r>
              <a:rPr lang="ko-KR" altLang="en-US" sz="1100" dirty="0">
                <a:solidFill>
                  <a:srgbClr val="C00000"/>
                </a:solidFill>
                <a:latin typeface="맑은 고딕" pitchFamily="50" charset="-127"/>
                <a:ea typeface="맑은 고딕" pitchFamily="50" charset="-127"/>
              </a:rPr>
              <a:t>또는 동일</a:t>
            </a:r>
            <a:endParaRPr lang="en-US" altLang="ko-KR" sz="1100" dirty="0">
              <a:solidFill>
                <a:srgbClr val="C00000"/>
              </a:solidFill>
              <a:latin typeface="맑은 고딕" pitchFamily="50" charset="-127"/>
              <a:ea typeface="맑은 고딕" pitchFamily="50" charset="-127"/>
            </a:endParaRPr>
          </a:p>
          <a:p>
            <a:pPr>
              <a:defRPr/>
            </a:pPr>
            <a:r>
              <a:rPr lang="en-US" altLang="ko-KR" sz="1100" dirty="0">
                <a:solidFill>
                  <a:srgbClr val="C00000"/>
                </a:solidFill>
                <a:latin typeface="맑은 고딕" pitchFamily="50" charset="-127"/>
                <a:ea typeface="맑은 고딕" pitchFamily="50" charset="-127"/>
              </a:rPr>
              <a:t>  Batch</a:t>
            </a:r>
            <a:r>
              <a:rPr lang="ko-KR" altLang="en-US" sz="1100" dirty="0">
                <a:solidFill>
                  <a:srgbClr val="C00000"/>
                </a:solidFill>
                <a:latin typeface="맑은 고딕" pitchFamily="50" charset="-127"/>
                <a:ea typeface="맑은 고딕" pitchFamily="50" charset="-127"/>
              </a:rPr>
              <a:t>에서 가능한 동일한 부품</a:t>
            </a:r>
            <a:r>
              <a:rPr lang="en-US" altLang="ko-KR" sz="1100" dirty="0">
                <a:solidFill>
                  <a:srgbClr val="C00000"/>
                </a:solidFill>
                <a:latin typeface="맑은 고딕" pitchFamily="50" charset="-127"/>
                <a:ea typeface="맑은 고딕" pitchFamily="50" charset="-127"/>
              </a:rPr>
              <a:t>/</a:t>
            </a:r>
            <a:r>
              <a:rPr lang="ko-KR" altLang="en-US" sz="1100" dirty="0">
                <a:solidFill>
                  <a:srgbClr val="C00000"/>
                </a:solidFill>
                <a:latin typeface="맑은 고딕" pitchFamily="50" charset="-127"/>
                <a:ea typeface="맑은 고딕" pitchFamily="50" charset="-127"/>
              </a:rPr>
              <a:t>제품을 선정할 수</a:t>
            </a:r>
            <a:endParaRPr lang="en-US" altLang="ko-KR" sz="1100" dirty="0">
              <a:solidFill>
                <a:srgbClr val="C00000"/>
              </a:solidFill>
              <a:latin typeface="맑은 고딕" pitchFamily="50" charset="-127"/>
              <a:ea typeface="맑은 고딕" pitchFamily="50" charset="-127"/>
            </a:endParaRPr>
          </a:p>
          <a:p>
            <a:pPr>
              <a:defRPr/>
            </a:pPr>
            <a:r>
              <a:rPr lang="en-US" altLang="ko-KR" sz="1100" dirty="0">
                <a:solidFill>
                  <a:srgbClr val="C00000"/>
                </a:solidFill>
                <a:latin typeface="맑은 고딕" pitchFamily="50" charset="-127"/>
                <a:ea typeface="맑은 고딕" pitchFamily="50" charset="-127"/>
              </a:rPr>
              <a:t>  </a:t>
            </a:r>
            <a:r>
              <a:rPr lang="ko-KR" altLang="en-US" sz="1100" dirty="0">
                <a:solidFill>
                  <a:srgbClr val="C00000"/>
                </a:solidFill>
                <a:latin typeface="맑은 고딕" pitchFamily="50" charset="-127"/>
                <a:ea typeface="맑은 고딕" pitchFamily="50" charset="-127"/>
              </a:rPr>
              <a:t>있는 경우에만 적용한다</a:t>
            </a:r>
            <a:r>
              <a:rPr lang="en-US" altLang="ko-KR" sz="1100" dirty="0">
                <a:solidFill>
                  <a:srgbClr val="C00000"/>
                </a:solidFill>
                <a:latin typeface="맑은 고딕" pitchFamily="50" charset="-127"/>
                <a:ea typeface="맑은 고딕" pitchFamily="50" charset="-127"/>
              </a:rPr>
              <a:t>.</a:t>
            </a:r>
            <a:endParaRPr lang="en-US" altLang="ko-KR" sz="1100" dirty="0">
              <a:latin typeface="맑은 고딕" pitchFamily="50" charset="-127"/>
              <a:ea typeface="맑은 고딕" pitchFamily="50" charset="-127"/>
            </a:endParaRPr>
          </a:p>
        </p:txBody>
      </p:sp>
      <p:sp>
        <p:nvSpPr>
          <p:cNvPr id="4" name="슬라이드 번호 개체 틀 3"/>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98</a:t>
            </a:fld>
            <a:endParaRPr lang="ko-KR" altLang="en-US" dirty="0"/>
          </a:p>
        </p:txBody>
      </p:sp>
      <p:sp>
        <p:nvSpPr>
          <p:cNvPr id="37" name="Text Box 10"/>
          <p:cNvSpPr txBox="1">
            <a:spLocks noChangeArrowheads="1"/>
          </p:cNvSpPr>
          <p:nvPr/>
        </p:nvSpPr>
        <p:spPr bwMode="auto">
          <a:xfrm>
            <a:off x="5292080" y="3153597"/>
            <a:ext cx="3235074" cy="2273306"/>
          </a:xfrm>
          <a:prstGeom prst="rect">
            <a:avLst/>
          </a:prstGeom>
          <a:solidFill>
            <a:schemeClr val="bg1"/>
          </a:solidFill>
          <a:ln w="9525" algn="ctr">
            <a:solidFill>
              <a:srgbClr val="C00000"/>
            </a:solidFill>
            <a:miter lim="800000"/>
            <a:headEnd/>
            <a:tailEnd/>
          </a:ln>
          <a:effectLst/>
        </p:spPr>
        <p:txBody>
          <a:bodyPr wrap="square" lIns="36000" tIns="36000" rIns="36000" bIns="36000" anchor="ctr">
            <a:spAutoFit/>
          </a:bodyPr>
          <a:lstStyle/>
          <a:p>
            <a:pPr>
              <a:defRPr/>
            </a:pPr>
            <a:endParaRPr lang="en-US" altLang="ko-KR" sz="1100" dirty="0">
              <a:latin typeface="맑은 고딕" pitchFamily="50" charset="-127"/>
              <a:ea typeface="맑은 고딕" pitchFamily="50" charset="-127"/>
            </a:endParaRPr>
          </a:p>
          <a:p>
            <a:pPr>
              <a:defRPr/>
            </a:pP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Có</a:t>
            </a:r>
            <a:r>
              <a:rPr lang="en-US" altLang="ko-KR" sz="1100" dirty="0">
                <a:latin typeface="맑은 고딕" pitchFamily="50" charset="-127"/>
                <a:ea typeface="맑은 고딕" pitchFamily="50" charset="-127"/>
              </a:rPr>
              <a:t> 2 </a:t>
            </a:r>
            <a:r>
              <a:rPr lang="en-US" altLang="ko-KR" sz="1100" dirty="0" err="1">
                <a:latin typeface="맑은 고딕" pitchFamily="50" charset="-127"/>
                <a:ea typeface="맑은 고딕" pitchFamily="50" charset="-127"/>
              </a:rPr>
              <a:t>phương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án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áp</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dụng</a:t>
            </a:r>
            <a:endParaRPr lang="en-US" altLang="ko-KR" sz="1100" dirty="0">
              <a:latin typeface="맑은 고딕" pitchFamily="50" charset="-127"/>
              <a:ea typeface="맑은 고딕" pitchFamily="50" charset="-127"/>
            </a:endParaRPr>
          </a:p>
          <a:p>
            <a:pPr>
              <a:defRPr/>
            </a:pPr>
            <a:endParaRPr lang="en-US" altLang="ko-KR" sz="1100" dirty="0">
              <a:latin typeface="맑은 고딕" pitchFamily="50" charset="-127"/>
              <a:ea typeface="맑은 고딕" pitchFamily="50" charset="-127"/>
            </a:endParaRPr>
          </a:p>
          <a:p>
            <a:pPr>
              <a:defRPr/>
            </a:pPr>
            <a:r>
              <a:rPr lang="en-US" altLang="ko-KR" sz="1100" dirty="0">
                <a:latin typeface="맑은 고딕" pitchFamily="50" charset="-127"/>
                <a:ea typeface="맑은 고딕" pitchFamily="50" charset="-127"/>
              </a:rPr>
              <a:t>  1. </a:t>
            </a:r>
            <a:r>
              <a:rPr lang="en-US" altLang="ko-KR" sz="1100" dirty="0" err="1">
                <a:latin typeface="맑은 고딕" pitchFamily="50" charset="-127"/>
                <a:ea typeface="맑은 고딕" pitchFamily="50" charset="-127"/>
              </a:rPr>
              <a:t>Triển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khai</a:t>
            </a:r>
            <a:r>
              <a:rPr lang="vi-VN" altLang="ko-KR" sz="1100" dirty="0">
                <a:latin typeface="맑은 고딕" pitchFamily="50" charset="-127"/>
                <a:ea typeface="맑은 고딕" pitchFamily="50" charset="-127"/>
              </a:rPr>
              <a:t> Crossed Gage R &amp; R. </a:t>
            </a:r>
            <a:r>
              <a:rPr lang="en-US" altLang="ko-KR" sz="1100" dirty="0" err="1">
                <a:latin typeface="맑은 고딕" pitchFamily="50" charset="-127"/>
                <a:ea typeface="맑은 고딕" pitchFamily="50" charset="-127"/>
              </a:rPr>
              <a:t>Trường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hợp</a:t>
            </a:r>
            <a:endParaRPr lang="en-US" altLang="ko-KR" sz="1100" dirty="0">
              <a:latin typeface="맑은 고딕" pitchFamily="50" charset="-127"/>
              <a:ea typeface="맑은 고딕" pitchFamily="50" charset="-127"/>
            </a:endParaRPr>
          </a:p>
          <a:p>
            <a:pPr>
              <a:defRPr/>
            </a:pPr>
            <a:r>
              <a:rPr lang="en-US" altLang="ko-KR" sz="1100" dirty="0">
                <a:latin typeface="맑은 고딕" pitchFamily="50" charset="-127"/>
                <a:ea typeface="맑은 고딕" pitchFamily="50" charset="-127"/>
              </a:rPr>
              <a:t>   n</a:t>
            </a:r>
            <a:r>
              <a:rPr lang="vi-VN" altLang="ko-KR" sz="1100" dirty="0">
                <a:latin typeface="맑은 고딕" pitchFamily="50" charset="-127"/>
                <a:ea typeface="맑은 고딕" pitchFamily="50" charset="-127"/>
              </a:rPr>
              <a:t>ếu sản phẩm có các đặc tính tương tự trong </a:t>
            </a: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Lot</a:t>
            </a:r>
            <a:r>
              <a:rPr lang="vi-VN" altLang="ko-KR" sz="1100" dirty="0">
                <a:latin typeface="맑은 고딕" pitchFamily="50" charset="-127"/>
                <a:ea typeface="맑은 고딕" pitchFamily="50" charset="-127"/>
              </a:rPr>
              <a:t>, và mẫu có thể thu được với số lượng đủ </a:t>
            </a: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a:t>
            </a:r>
            <a:r>
              <a:rPr lang="vi-VN" altLang="ko-KR" sz="1100" dirty="0">
                <a:latin typeface="맑은 고딕" pitchFamily="50" charset="-127"/>
                <a:ea typeface="맑은 고딕" pitchFamily="50" charset="-127"/>
              </a:rPr>
              <a:t>để lặp lại lần đo x lần.</a:t>
            </a: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2.  </a:t>
            </a:r>
            <a:r>
              <a:rPr lang="en-US" altLang="ko-KR" sz="1100" dirty="0" err="1">
                <a:latin typeface="맑은 고딕" pitchFamily="50" charset="-127"/>
                <a:ea typeface="맑은 고딕" pitchFamily="50" charset="-127"/>
              </a:rPr>
              <a:t>Triển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khai</a:t>
            </a:r>
            <a:r>
              <a:rPr lang="en-US" altLang="ko-KR" sz="1100" dirty="0">
                <a:latin typeface="맑은 고딕" pitchFamily="50" charset="-127"/>
                <a:ea typeface="맑은 고딕" pitchFamily="50" charset="-127"/>
              </a:rPr>
              <a:t> Nested Gage R&amp;R. </a:t>
            </a:r>
            <a:r>
              <a:rPr lang="en-US" altLang="ko-KR" sz="1100" dirty="0" err="1">
                <a:latin typeface="맑은 고딕" pitchFamily="50" charset="-127"/>
                <a:ea typeface="맑은 고딕" pitchFamily="50" charset="-127"/>
              </a:rPr>
              <a:t>Trường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hợp</a:t>
            </a: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chỉ</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có</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thể</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thu</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được</a:t>
            </a:r>
            <a:r>
              <a:rPr lang="en-US" altLang="ko-KR" sz="1100" dirty="0">
                <a:latin typeface="맑은 고딕" pitchFamily="50" charset="-127"/>
                <a:ea typeface="맑은 고딕" pitchFamily="50" charset="-127"/>
              </a:rPr>
              <a:t> 2 </a:t>
            </a:r>
            <a:r>
              <a:rPr lang="en-US" altLang="ko-KR" sz="1100" dirty="0" err="1">
                <a:latin typeface="맑은 고딕" pitchFamily="50" charset="-127"/>
                <a:ea typeface="맑은 고딕" pitchFamily="50" charset="-127"/>
              </a:rPr>
              <a:t>sản</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phẩm</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có</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đặc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tính</a:t>
            </a: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tương</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tự</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trong</a:t>
            </a:r>
            <a:r>
              <a:rPr lang="en-US" altLang="ko-KR" sz="1100" dirty="0">
                <a:latin typeface="맑은 고딕" pitchFamily="50" charset="-127"/>
                <a:ea typeface="맑은 고딕" pitchFamily="50" charset="-127"/>
              </a:rPr>
              <a:t> Lot, </a:t>
            </a:r>
            <a:r>
              <a:rPr lang="en-US" altLang="ko-KR" sz="1100" dirty="0" err="1">
                <a:latin typeface="맑은 고딕" pitchFamily="50" charset="-127"/>
                <a:ea typeface="맑은 고딕" pitchFamily="50" charset="-127"/>
              </a:rPr>
              <a:t>bố</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trí</a:t>
            </a:r>
            <a:r>
              <a:rPr lang="en-US" altLang="ko-KR" sz="1100" dirty="0">
                <a:latin typeface="맑은 고딕" pitchFamily="50" charset="-127"/>
                <a:ea typeface="맑은 고딕" pitchFamily="50" charset="-127"/>
              </a:rPr>
              <a:t> 2 units </a:t>
            </a:r>
            <a:r>
              <a:rPr lang="en-US" altLang="ko-KR" sz="1100" dirty="0" err="1">
                <a:latin typeface="맑은 고딕" pitchFamily="50" charset="-127"/>
                <a:ea typeface="맑은 고딕" pitchFamily="50" charset="-127"/>
              </a:rPr>
              <a:t>cho</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từng</a:t>
            </a:r>
            <a:r>
              <a:rPr lang="en-US" altLang="ko-KR" sz="1100" dirty="0">
                <a:latin typeface="맑은 고딕" pitchFamily="50" charset="-127"/>
                <a:ea typeface="맑은 고딕" pitchFamily="50" charset="-127"/>
              </a:rPr>
              <a:t>     </a:t>
            </a:r>
          </a:p>
          <a:p>
            <a:pPr>
              <a:defRPr/>
            </a:pP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người</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đo</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đạc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và</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thực</a:t>
            </a:r>
            <a:r>
              <a:rPr lang="en-US" altLang="ko-KR" sz="1100" dirty="0">
                <a:latin typeface="맑은 고딕" pitchFamily="50" charset="-127"/>
                <a:ea typeface="맑은 고딕" pitchFamily="50" charset="-127"/>
              </a:rPr>
              <a:t> </a:t>
            </a:r>
            <a:r>
              <a:rPr lang="en-US" altLang="ko-KR" sz="1100" dirty="0" err="1">
                <a:latin typeface="맑은 고딕" pitchFamily="50" charset="-127"/>
                <a:ea typeface="맑은 고딕" pitchFamily="50" charset="-127"/>
              </a:rPr>
              <a:t>hiện</a:t>
            </a:r>
            <a:r>
              <a:rPr lang="en-US" altLang="ko-KR" sz="1100" dirty="0">
                <a:latin typeface="맑은 고딕" pitchFamily="50" charset="-127"/>
                <a:ea typeface="맑은 고딕" pitchFamily="50" charset="-127"/>
              </a:rPr>
              <a:t> Nested Gage R&amp;R</a:t>
            </a:r>
          </a:p>
          <a:p>
            <a:pPr>
              <a:defRPr/>
            </a:pPr>
            <a:endParaRPr lang="en-US" altLang="ko-KR" sz="1100" dirty="0">
              <a:solidFill>
                <a:srgbClr val="C00000"/>
              </a:solidFill>
              <a:latin typeface="맑은 고딕" pitchFamily="50" charset="-127"/>
              <a:ea typeface="맑은 고딕" pitchFamily="50" charset="-127"/>
            </a:endParaRPr>
          </a:p>
        </p:txBody>
      </p:sp>
      <p:sp>
        <p:nvSpPr>
          <p:cNvPr id="13" name="TextBox 12"/>
          <p:cNvSpPr txBox="1"/>
          <p:nvPr/>
        </p:nvSpPr>
        <p:spPr>
          <a:xfrm>
            <a:off x="251520" y="5949280"/>
            <a:ext cx="8712968" cy="738664"/>
          </a:xfrm>
          <a:prstGeom prst="rect">
            <a:avLst/>
          </a:prstGeom>
          <a:noFill/>
        </p:spPr>
        <p:txBody>
          <a:bodyPr wrap="square" rtlCol="0">
            <a:spAutoFit/>
          </a:bodyPr>
          <a:lstStyle/>
          <a:p>
            <a:r>
              <a:rPr lang="en-US" altLang="ko-KR" sz="1400" kern="0" dirty="0">
                <a:solidFill>
                  <a:sysClr val="windowText" lastClr="000000"/>
                </a:solidFill>
                <a:latin typeface="맑은 고딕" pitchFamily="50" charset="-127"/>
                <a:ea typeface="맑은 고딕" pitchFamily="50" charset="-127"/>
              </a:rPr>
              <a:t>※ </a:t>
            </a:r>
            <a:r>
              <a:rPr lang="en-US" altLang="ko-KR" sz="1400" dirty="0" err="1"/>
              <a:t>T</a:t>
            </a:r>
            <a:r>
              <a:rPr lang="en-US" sz="1400" dirty="0" err="1"/>
              <a:t>rong</a:t>
            </a:r>
            <a:r>
              <a:rPr lang="en-US" sz="1400" dirty="0"/>
              <a:t> </a:t>
            </a:r>
            <a:r>
              <a:rPr lang="en-US" sz="1400" dirty="0" err="1"/>
              <a:t>trường</a:t>
            </a:r>
            <a:r>
              <a:rPr lang="en-US" sz="1400" dirty="0"/>
              <a:t> </a:t>
            </a:r>
            <a:r>
              <a:rPr lang="en-US" sz="1400" dirty="0" err="1"/>
              <a:t>hợp</a:t>
            </a:r>
            <a:r>
              <a:rPr lang="en-US" sz="1400" dirty="0"/>
              <a:t> </a:t>
            </a:r>
            <a:r>
              <a:rPr lang="en-US" sz="1400" dirty="0" err="1"/>
              <a:t>không</a:t>
            </a:r>
            <a:r>
              <a:rPr lang="en-US" sz="1400" dirty="0"/>
              <a:t> </a:t>
            </a:r>
            <a:r>
              <a:rPr lang="en-US" sz="1400" dirty="0" err="1"/>
              <a:t>thể</a:t>
            </a:r>
            <a:r>
              <a:rPr lang="en-US" sz="1400" dirty="0"/>
              <a:t> </a:t>
            </a:r>
            <a:r>
              <a:rPr lang="en-US" sz="1400" dirty="0" err="1"/>
              <a:t>chuẩn</a:t>
            </a:r>
            <a:r>
              <a:rPr lang="en-US" sz="1400" dirty="0"/>
              <a:t> </a:t>
            </a:r>
            <a:r>
              <a:rPr lang="en-US" sz="1400" dirty="0" err="1"/>
              <a:t>bị</a:t>
            </a:r>
            <a:r>
              <a:rPr lang="en-US" sz="1400" dirty="0"/>
              <a:t> </a:t>
            </a:r>
            <a:r>
              <a:rPr lang="en-US" sz="1400" dirty="0" err="1"/>
              <a:t>được</a:t>
            </a:r>
            <a:r>
              <a:rPr lang="en-US" sz="1400" dirty="0"/>
              <a:t> sample </a:t>
            </a:r>
            <a:r>
              <a:rPr lang="en-US" sz="1400" dirty="0" err="1"/>
              <a:t>có</a:t>
            </a:r>
            <a:r>
              <a:rPr lang="en-US" sz="1400" dirty="0"/>
              <a:t> </a:t>
            </a:r>
            <a:r>
              <a:rPr lang="en-US" sz="1400" dirty="0" err="1"/>
              <a:t>thể</a:t>
            </a:r>
            <a:r>
              <a:rPr lang="en-US" sz="1400" dirty="0"/>
              <a:t> </a:t>
            </a:r>
            <a:r>
              <a:rPr lang="en-US" sz="1400" dirty="0" err="1"/>
              <a:t>xem</a:t>
            </a:r>
            <a:r>
              <a:rPr lang="en-US" sz="1400" dirty="0"/>
              <a:t> </a:t>
            </a:r>
            <a:r>
              <a:rPr lang="en-US" sz="1400" dirty="0" err="1"/>
              <a:t>là</a:t>
            </a:r>
            <a:r>
              <a:rPr lang="en-US" sz="1400" dirty="0"/>
              <a:t> </a:t>
            </a:r>
            <a:r>
              <a:rPr lang="en-US" sz="1400" dirty="0" err="1"/>
              <a:t>tương</a:t>
            </a:r>
            <a:r>
              <a:rPr lang="en-US" sz="1400" dirty="0"/>
              <a:t> </a:t>
            </a:r>
            <a:r>
              <a:rPr lang="en-US" sz="1400" dirty="0" err="1"/>
              <a:t>tự</a:t>
            </a:r>
            <a:r>
              <a:rPr lang="en-US" sz="1400" dirty="0"/>
              <a:t> </a:t>
            </a:r>
            <a:r>
              <a:rPr lang="en-US" sz="1400" dirty="0" err="1"/>
              <a:t>như</a:t>
            </a:r>
            <a:r>
              <a:rPr lang="en-US" sz="1400" dirty="0"/>
              <a:t> sample </a:t>
            </a:r>
            <a:r>
              <a:rPr lang="en-US" sz="1400" dirty="0" err="1"/>
              <a:t>đồng</a:t>
            </a:r>
            <a:r>
              <a:rPr lang="en-US" sz="1400" dirty="0"/>
              <a:t> </a:t>
            </a:r>
            <a:r>
              <a:rPr lang="en-US" sz="1400" dirty="0" err="1"/>
              <a:t>nhất</a:t>
            </a:r>
            <a:r>
              <a:rPr lang="vi-VN" sz="1400" dirty="0"/>
              <a:t>, kết quả của việc phân tích có thể không có ý nghĩa</a:t>
            </a:r>
            <a:endParaRPr lang="en-US" altLang="ko-KR" sz="1400" kern="0" dirty="0">
              <a:solidFill>
                <a:sysClr val="windowText" lastClr="000000"/>
              </a:solidFill>
              <a:latin typeface="맑은 고딕" pitchFamily="50" charset="-127"/>
              <a:ea typeface="맑은 고딕" pitchFamily="50" charset="-127"/>
            </a:endParaRPr>
          </a:p>
          <a:p>
            <a:endParaRPr lang="ko-KR" altLang="en-US" sz="1400" dirty="0"/>
          </a:p>
        </p:txBody>
      </p:sp>
      <p:sp>
        <p:nvSpPr>
          <p:cNvPr id="14" name="TextBox 13"/>
          <p:cNvSpPr txBox="1"/>
          <p:nvPr/>
        </p:nvSpPr>
        <p:spPr>
          <a:xfrm>
            <a:off x="683568" y="1700808"/>
            <a:ext cx="7951216" cy="276999"/>
          </a:xfrm>
          <a:prstGeom prst="rect">
            <a:avLst/>
          </a:prstGeom>
          <a:noFill/>
        </p:spPr>
        <p:txBody>
          <a:bodyPr wrap="none" rtlCol="0">
            <a:spAutoFit/>
          </a:bodyPr>
          <a:lstStyle/>
          <a:p>
            <a:r>
              <a:rPr lang="en-US" altLang="ko-KR" sz="1200" dirty="0"/>
              <a:t>VD) </a:t>
            </a:r>
            <a:r>
              <a:rPr lang="vi-VN" sz="1200" dirty="0"/>
              <a:t>Lực nén của thiết bị đầu cuối kết nối với dây điện, độ bền kéo của tế bào pin, sức mạnh bám dính của keo vv</a:t>
            </a:r>
            <a:endParaRPr lang="ko-KR" altLang="en-US" sz="1200" dirty="0"/>
          </a:p>
        </p:txBody>
      </p:sp>
      <p:sp>
        <p:nvSpPr>
          <p:cNvPr id="38" name="TextBox 37"/>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9" name="직사각형 38"/>
          <p:cNvSpPr/>
          <p:nvPr/>
        </p:nvSpPr>
        <p:spPr>
          <a:xfrm>
            <a:off x="5364088" y="179348"/>
            <a:ext cx="3488455" cy="369332"/>
          </a:xfrm>
          <a:prstGeom prst="rect">
            <a:avLst/>
          </a:prstGeom>
        </p:spPr>
        <p:txBody>
          <a:bodyPr wrap="none">
            <a:spAutoFit/>
          </a:bodyPr>
          <a:lstStyle/>
          <a:p>
            <a:pPr>
              <a:defRPr/>
            </a:pPr>
            <a:r>
              <a:rPr lang="en-US" altLang="ko-KR" b="1" kern="0" dirty="0" err="1">
                <a:solidFill>
                  <a:sysClr val="windowText" lastClr="000000">
                    <a:lumMod val="75000"/>
                    <a:lumOff val="25000"/>
                  </a:sysClr>
                </a:solidFill>
                <a:latin typeface="맑은 고딕" pitchFamily="50" charset="-127"/>
                <a:ea typeface="맑은 고딕" pitchFamily="50" charset="-127"/>
              </a:rPr>
              <a:t>Kiểm</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tra</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phá</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hỏng</a:t>
            </a:r>
            <a:r>
              <a:rPr lang="en-US" altLang="ko-KR"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2400" b="1" kern="0" dirty="0">
              <a:solidFill>
                <a:srgbClr val="000000"/>
              </a:solidFill>
            </a:endParaRPr>
          </a:p>
        </p:txBody>
      </p:sp>
    </p:spTree>
    <p:extLst>
      <p:ext uri="{BB962C8B-B14F-4D97-AF65-F5344CB8AC3E}">
        <p14:creationId xmlns:p14="http://schemas.microsoft.com/office/powerpoint/2010/main" val="12678664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Data </a:t>
            </a:r>
            <a:r>
              <a:rPr kumimoji="0" lang="en-US" altLang="ko-KR" sz="1400" b="1" kern="0" dirty="0" err="1">
                <a:solidFill>
                  <a:sysClr val="windowText" lastClr="000000"/>
                </a:solidFill>
                <a:latin typeface="맑은 고딕" pitchFamily="50" charset="-127"/>
                <a:ea typeface="맑은 고딕" pitchFamily="50" charset="-127"/>
              </a:rPr>
              <a:t>liên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tục</a:t>
            </a:r>
            <a:r>
              <a:rPr kumimoji="0" lang="en-US" altLang="ko-KR" sz="1400" b="1" kern="0" dirty="0">
                <a:solidFill>
                  <a:sysClr val="windowText" lastClr="000000"/>
                </a:solidFill>
                <a:latin typeface="맑은 고딕" pitchFamily="50" charset="-127"/>
                <a:ea typeface="맑은 고딕" pitchFamily="50" charset="-127"/>
              </a:rPr>
              <a:t> Gage R&amp;R (Nested)</a:t>
            </a:r>
          </a:p>
        </p:txBody>
      </p:sp>
      <p:sp>
        <p:nvSpPr>
          <p:cNvPr id="3" name="Rectangle 5"/>
          <p:cNvSpPr>
            <a:spLocks noChangeArrowheads="1"/>
          </p:cNvSpPr>
          <p:nvPr/>
        </p:nvSpPr>
        <p:spPr bwMode="auto">
          <a:xfrm>
            <a:off x="395536" y="1214439"/>
            <a:ext cx="8496944" cy="2308324"/>
          </a:xfrm>
          <a:prstGeom prst="rect">
            <a:avLst/>
          </a:prstGeom>
          <a:solidFill>
            <a:srgbClr val="FFFFFF"/>
          </a:solidFill>
          <a:ln w="9525" algn="ctr">
            <a:solidFill>
              <a:schemeClr val="bg1">
                <a:lumMod val="65000"/>
              </a:schemeClr>
            </a:solidFill>
            <a:miter lim="800000"/>
            <a:headEnd/>
            <a:tailEnd/>
          </a:ln>
        </p:spPr>
        <p:txBody>
          <a:bodyPr wrap="square">
            <a:spAutoFit/>
          </a:bodyPr>
          <a:lstStyle/>
          <a:p>
            <a:pPr>
              <a:lnSpc>
                <a:spcPct val="120000"/>
              </a:lnSpc>
              <a:defRPr/>
            </a:pPr>
            <a:r>
              <a:rPr lang="en-US" altLang="ko-KR" sz="1200" b="1" dirty="0" err="1">
                <a:latin typeface="맑은 고딕" pitchFamily="50" charset="-127"/>
                <a:ea typeface="맑은 고딕" pitchFamily="50" charset="-127"/>
              </a:rPr>
              <a:t>Tiến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hành</a:t>
            </a:r>
            <a:r>
              <a:rPr lang="en-US" altLang="ko-KR" sz="1200" b="1" dirty="0">
                <a:latin typeface="맑은 고딕" pitchFamily="50" charset="-127"/>
                <a:ea typeface="맑은 고딕" pitchFamily="50" charset="-127"/>
              </a:rPr>
              <a:t> Gage R&amp;R </a:t>
            </a:r>
            <a:r>
              <a:rPr lang="en-US" altLang="ko-KR" sz="1200" b="1" dirty="0" err="1">
                <a:latin typeface="맑은 고딕" pitchFamily="50" charset="-127"/>
                <a:ea typeface="맑은 고딕" pitchFamily="50" charset="-127"/>
              </a:rPr>
              <a:t>để</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tái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hiện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tính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lặp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lại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của</a:t>
            </a:r>
            <a:r>
              <a:rPr lang="en-US" altLang="ko-KR" sz="1200" b="1" dirty="0">
                <a:latin typeface="맑은 고딕" pitchFamily="50" charset="-127"/>
                <a:ea typeface="맑은 고딕" pitchFamily="50" charset="-127"/>
              </a:rPr>
              <a:t> Gage </a:t>
            </a:r>
            <a:r>
              <a:rPr lang="en-US" altLang="ko-KR" sz="1200" b="1" dirty="0" err="1">
                <a:latin typeface="맑은 고딕" pitchFamily="50" charset="-127"/>
                <a:ea typeface="맑은 고딕" pitchFamily="50" charset="-127"/>
              </a:rPr>
              <a:t>sử</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dụng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trong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hệ</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thống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của</a:t>
            </a:r>
            <a:r>
              <a:rPr lang="en-US" altLang="ko-KR" sz="1200" b="1" dirty="0">
                <a:latin typeface="맑은 고딕" pitchFamily="50" charset="-127"/>
                <a:ea typeface="맑은 고딕" pitchFamily="50" charset="-127"/>
              </a:rPr>
              <a:t> Project Y. </a:t>
            </a:r>
            <a:r>
              <a:rPr lang="en-US" altLang="ko-KR" sz="1200" b="1" dirty="0" err="1">
                <a:latin typeface="맑은 고딕" pitchFamily="50" charset="-127"/>
                <a:ea typeface="맑은 고딕" pitchFamily="50" charset="-127"/>
              </a:rPr>
              <a:t>Nhưng</a:t>
            </a:r>
            <a:r>
              <a:rPr lang="en-US" altLang="ko-KR" sz="1200" b="1" dirty="0">
                <a:latin typeface="맑은 고딕" pitchFamily="50" charset="-127"/>
                <a:ea typeface="맑은 고딕" pitchFamily="50" charset="-127"/>
              </a:rPr>
              <a:t> do </a:t>
            </a:r>
            <a:r>
              <a:rPr lang="en-US" altLang="ko-KR" sz="1200" b="1" dirty="0" err="1">
                <a:latin typeface="맑은 고딕" pitchFamily="50" charset="-127"/>
                <a:ea typeface="맑은 고딕" pitchFamily="50" charset="-127"/>
              </a:rPr>
              <a:t>không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thể</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lặp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lại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trên</a:t>
            </a:r>
            <a:r>
              <a:rPr lang="en-US" altLang="ko-KR" sz="1200" b="1" dirty="0">
                <a:latin typeface="맑은 고딕" pitchFamily="50" charset="-127"/>
                <a:ea typeface="맑은 고딕" pitchFamily="50" charset="-127"/>
              </a:rPr>
              <a:t> sample </a:t>
            </a:r>
            <a:r>
              <a:rPr lang="en-US" altLang="ko-KR" sz="1200" b="1" dirty="0" err="1">
                <a:latin typeface="맑은 고딕" pitchFamily="50" charset="-127"/>
                <a:ea typeface="맑은 고딕" pitchFamily="50" charset="-127"/>
              </a:rPr>
              <a:t>đồng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nhất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tương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tự</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tập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hợp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được</a:t>
            </a:r>
            <a:r>
              <a:rPr lang="en-US" altLang="ko-KR" sz="1200" b="1" dirty="0">
                <a:latin typeface="맑은 고딕" pitchFamily="50" charset="-127"/>
                <a:ea typeface="맑은 고딕" pitchFamily="50" charset="-127"/>
              </a:rPr>
              <a:t> data </a:t>
            </a:r>
            <a:r>
              <a:rPr lang="en-US" altLang="ko-KR" sz="1200" b="1" dirty="0" err="1">
                <a:latin typeface="맑은 고딕" pitchFamily="50" charset="-127"/>
                <a:ea typeface="맑은 고딕" pitchFamily="50" charset="-127"/>
              </a:rPr>
              <a:t>sau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đây</a:t>
            </a:r>
            <a:endParaRPr lang="en-US" altLang="ko-KR" sz="1200" b="1" dirty="0">
              <a:latin typeface="맑은 고딕" pitchFamily="50" charset="-127"/>
              <a:ea typeface="맑은 고딕" pitchFamily="50" charset="-127"/>
            </a:endParaRPr>
          </a:p>
          <a:p>
            <a:pPr>
              <a:lnSpc>
                <a:spcPct val="120000"/>
              </a:lnSpc>
              <a:buFontTx/>
              <a:buChar char="-"/>
              <a:defRPr/>
            </a:pPr>
            <a:r>
              <a:rPr lang="en-US" altLang="ko-KR" sz="1200" dirty="0">
                <a:latin typeface="맑은 고딕" pitchFamily="50" charset="-127"/>
                <a:ea typeface="맑은 고딕" pitchFamily="50" charset="-127"/>
              </a:rPr>
              <a:t>Parts :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2 sample </a:t>
            </a:r>
            <a:r>
              <a:rPr lang="en-US" altLang="ko-KR" sz="1200" dirty="0" err="1">
                <a:latin typeface="맑은 고딕" pitchFamily="50" charset="-127"/>
                <a:ea typeface="맑은 고딕" pitchFamily="50" charset="-127"/>
              </a:rPr>
              <a:t>từ</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mỗi</a:t>
            </a:r>
            <a:r>
              <a:rPr lang="en-US" altLang="ko-KR" sz="1200" dirty="0">
                <a:latin typeface="맑은 고딕" pitchFamily="50" charset="-127"/>
                <a:ea typeface="맑은 고딕" pitchFamily="50" charset="-127"/>
              </a:rPr>
              <a:t> 15 Batches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nhỏ</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Batch.</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Lúc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sample </a:t>
            </a:r>
            <a:r>
              <a:rPr lang="en-US" altLang="ko-KR" sz="1200" dirty="0" err="1">
                <a:latin typeface="맑은 고딕" pitchFamily="50" charset="-127"/>
                <a:ea typeface="맑은 고딕" pitchFamily="50" charset="-127"/>
              </a:rPr>
              <a:t>thu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được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a:t>
            </a:r>
            <a:r>
              <a:rPr lang="en-US" altLang="ko-KR" sz="1200" dirty="0">
                <a:latin typeface="맑은 고딕" pitchFamily="50" charset="-127"/>
                <a:ea typeface="맑은 고딕" pitchFamily="50" charset="-127"/>
              </a:rPr>
              <a:t> batch </a:t>
            </a:r>
            <a:r>
              <a:rPr lang="en-US" altLang="ko-KR" sz="1200" dirty="0" err="1">
                <a:latin typeface="맑은 고딕" pitchFamily="50" charset="-127"/>
                <a:ea typeface="맑은 고딕" pitchFamily="50" charset="-127"/>
              </a:rPr>
              <a:t>này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p>
          <a:p>
            <a:pPr>
              <a:lnSpc>
                <a:spcPct val="120000"/>
              </a:lnSpc>
              <a:defRPr/>
            </a:pPr>
            <a:r>
              <a:rPr lang="en-US" altLang="ko-KR" sz="1200" dirty="0">
                <a:latin typeface="맑은 고딕" pitchFamily="50" charset="-127"/>
                <a:ea typeface="맑은 고딕" pitchFamily="50" charset="-127"/>
              </a:rPr>
              <a:t>- Operators :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process </a:t>
            </a:r>
            <a:r>
              <a:rPr lang="en-US" altLang="ko-KR" sz="1200" dirty="0" err="1">
                <a:latin typeface="맑은 고딕" pitchFamily="50" charset="-127"/>
                <a:ea typeface="맑은 고딕" pitchFamily="50" charset="-127"/>
              </a:rPr>
              <a:t>hiện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15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r>
              <a:rPr lang="en-US" altLang="ko-KR" sz="1200" dirty="0">
                <a:latin typeface="맑은 고딕" pitchFamily="50" charset="-127"/>
                <a:ea typeface="맑은 고딕" pitchFamily="50" charset="-127"/>
              </a:rPr>
              <a:t> 3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quan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tâm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đến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thành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thục</a:t>
            </a:r>
            <a:r>
              <a:rPr lang="en-US" altLang="ko-KR" sz="1200" dirty="0">
                <a:latin typeface="맑은 고딕" pitchFamily="50" charset="-127"/>
                <a:ea typeface="맑은 고딕" pitchFamily="50" charset="-127"/>
              </a:rPr>
              <a:t>.</a:t>
            </a:r>
            <a:endParaRPr lang="ko-KR" altLang="en-US" sz="1200" dirty="0">
              <a:latin typeface="맑은 고딕" pitchFamily="50" charset="-127"/>
              <a:ea typeface="맑은 고딕" pitchFamily="50" charset="-127"/>
            </a:endParaRPr>
          </a:p>
          <a:p>
            <a:pPr>
              <a:lnSpc>
                <a:spcPct val="120000"/>
              </a:lnSpc>
              <a:defRPr/>
            </a:pPr>
            <a:r>
              <a:rPr lang="en-US" altLang="ko-KR" sz="1200" dirty="0">
                <a:latin typeface="맑은 고딕" pitchFamily="50" charset="-127"/>
                <a:ea typeface="맑은 고딕" pitchFamily="50" charset="-127"/>
              </a:rPr>
              <a:t>- Data Collection  : </a:t>
            </a:r>
            <a:r>
              <a:rPr lang="en-US" altLang="ko-KR" sz="1200" dirty="0" err="1">
                <a:latin typeface="맑은 고딕" pitchFamily="50" charset="-127"/>
                <a:ea typeface="맑은 고딕" pitchFamily="50" charset="-127"/>
              </a:rPr>
              <a:t>Mỗi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sample </a:t>
            </a:r>
            <a:r>
              <a:rPr lang="en-US" altLang="ko-KR" sz="1200" dirty="0" err="1">
                <a:latin typeface="맑은 고딕" pitchFamily="50" charset="-127"/>
                <a:ea typeface="맑은 고딕" pitchFamily="50" charset="-127"/>
              </a:rPr>
              <a:t>từ</a:t>
            </a:r>
            <a:r>
              <a:rPr lang="en-US" altLang="ko-KR" sz="1200" dirty="0">
                <a:latin typeface="맑은 고딕" pitchFamily="50" charset="-127"/>
                <a:ea typeface="맑은 고딕" pitchFamily="50" charset="-127"/>
              </a:rPr>
              <a:t> batch </a:t>
            </a:r>
            <a:r>
              <a:rPr lang="en-US" altLang="ko-KR" sz="1200" dirty="0" err="1">
                <a:latin typeface="맑은 고딕" pitchFamily="50" charset="-127"/>
                <a:ea typeface="맑은 고딕" pitchFamily="50" charset="-127"/>
              </a:rPr>
              <a:t>chỉ</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endParaRPr lang="ko-KR" altLang="en-US" sz="1200" dirty="0">
              <a:latin typeface="맑은 고딕" pitchFamily="50" charset="-127"/>
              <a:ea typeface="맑은 고딕" pitchFamily="50" charset="-127"/>
            </a:endParaRPr>
          </a:p>
          <a:p>
            <a:pPr>
              <a:lnSpc>
                <a:spcPct val="120000"/>
              </a:lnSpc>
              <a:defRPr/>
            </a:pP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tiến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hành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thông</a:t>
            </a:r>
            <a:r>
              <a:rPr lang="en-US" altLang="ko-KR" sz="1200" dirty="0">
                <a:latin typeface="맑은 고딕" pitchFamily="50" charset="-127"/>
                <a:ea typeface="맑은 고딕" pitchFamily="50" charset="-127"/>
              </a:rPr>
              <a:t> qua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pháp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lưu</a:t>
            </a:r>
            <a:r>
              <a:rPr lang="en-US" altLang="ko-KR" sz="1200" dirty="0">
                <a:latin typeface="맑은 고딕" pitchFamily="50" charset="-127"/>
                <a:ea typeface="맑은 고딕" pitchFamily="50" charset="-127"/>
              </a:rPr>
              <a:t> ý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điều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chỉnh</a:t>
            </a:r>
            <a:r>
              <a:rPr lang="en-US" altLang="ko-KR" sz="1200" dirty="0">
                <a:latin typeface="맑은 고딕" pitchFamily="50" charset="-127"/>
                <a:ea typeface="맑은 고딕" pitchFamily="50" charset="-127"/>
              </a:rPr>
              <a:t> Gage</a:t>
            </a:r>
            <a:endParaRPr lang="ko-KR" altLang="en-US" sz="1200" dirty="0">
              <a:latin typeface="맑은 고딕" pitchFamily="50" charset="-127"/>
              <a:ea typeface="맑은 고딕" pitchFamily="50" charset="-127"/>
            </a:endParaRPr>
          </a:p>
          <a:p>
            <a:pPr>
              <a:lnSpc>
                <a:spcPct val="120000"/>
              </a:lnSpc>
              <a:defRP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Nếu</a:t>
            </a:r>
            <a:r>
              <a:rPr lang="en-US" altLang="ko-KR" sz="1200" dirty="0">
                <a:latin typeface="맑은 고딕" pitchFamily="50" charset="-127"/>
                <a:ea typeface="맑은 고딕" pitchFamily="50" charset="-127"/>
              </a:rPr>
              <a:t> (LSL ,Target, USL)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Process = (18.5, 20.0, 21.5) ,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tìm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lệch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thực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nghiệm</a:t>
            </a:r>
            <a:r>
              <a:rPr lang="en-US" altLang="ko-KR" sz="1200" dirty="0">
                <a:latin typeface="맑은 고딕" pitchFamily="50" charset="-127"/>
                <a:ea typeface="맑은 고딕" pitchFamily="50" charset="-127"/>
              </a:rPr>
              <a:t>/</a:t>
            </a:r>
            <a:r>
              <a:rPr lang="en-US" altLang="ko-KR" sz="1200" dirty="0" err="1">
                <a:latin typeface="맑은 고딕" pitchFamily="50" charset="-127"/>
                <a:ea typeface="맑은 고딕" pitchFamily="50" charset="-127"/>
              </a:rPr>
              <a:t>kinh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nghiệm</a:t>
            </a:r>
            <a:r>
              <a:rPr lang="en-US" altLang="ko-KR" sz="1200" dirty="0">
                <a:latin typeface="맑은 고딕" pitchFamily="50" charset="-127"/>
                <a:ea typeface="맑은 고딕" pitchFamily="50" charset="-127"/>
              </a:rPr>
              <a:t>.</a:t>
            </a:r>
          </a:p>
        </p:txBody>
      </p:sp>
      <p:sp>
        <p:nvSpPr>
          <p:cNvPr id="5" name="슬라이드 번호 개체 틀 4"/>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99</a:t>
            </a:fld>
            <a:endParaRPr lang="ko-KR" altLang="en-US" dirty="0"/>
          </a:p>
        </p:txBody>
      </p:sp>
      <p:sp>
        <p:nvSpPr>
          <p:cNvPr id="19" name="TextBox 18"/>
          <p:cNvSpPr txBox="1"/>
          <p:nvPr/>
        </p:nvSpPr>
        <p:spPr>
          <a:xfrm>
            <a:off x="971600" y="3501008"/>
            <a:ext cx="2874505" cy="307777"/>
          </a:xfrm>
          <a:prstGeom prst="rect">
            <a:avLst/>
          </a:prstGeom>
          <a:noFill/>
        </p:spPr>
        <p:txBody>
          <a:bodyPr wrap="none" rtlCol="0">
            <a:spAutoFit/>
          </a:bodyPr>
          <a:lstStyle/>
          <a:p>
            <a:r>
              <a:rPr lang="en-US" altLang="ko-KR" sz="1400" b="1" dirty="0" err="1"/>
              <a:t>Kiểm</a:t>
            </a:r>
            <a:r>
              <a:rPr lang="en-US" altLang="ko-KR" sz="1400" b="1" dirty="0"/>
              <a:t> </a:t>
            </a:r>
            <a:r>
              <a:rPr lang="en-US" altLang="ko-KR" sz="1400" b="1" dirty="0" err="1"/>
              <a:t>tra</a:t>
            </a:r>
            <a:r>
              <a:rPr lang="en-US" altLang="ko-KR" sz="1400" b="1" dirty="0"/>
              <a:t> </a:t>
            </a:r>
            <a:r>
              <a:rPr lang="en-US" altLang="ko-KR" sz="1400" b="1" dirty="0" err="1"/>
              <a:t>phá</a:t>
            </a:r>
            <a:r>
              <a:rPr lang="en-US" altLang="ko-KR" sz="1400" b="1" dirty="0"/>
              <a:t> </a:t>
            </a:r>
            <a:r>
              <a:rPr lang="en-US" altLang="ko-KR" sz="1400" b="1" dirty="0" err="1"/>
              <a:t>hỏng</a:t>
            </a:r>
            <a:r>
              <a:rPr lang="ko-KR" altLang="en-US" sz="1400" b="1" dirty="0"/>
              <a:t> </a:t>
            </a:r>
            <a:r>
              <a:rPr lang="en-US" altLang="ko-KR" sz="1400" b="1" dirty="0"/>
              <a:t>Gage R&amp;R </a:t>
            </a:r>
            <a:r>
              <a:rPr lang="ko-KR" altLang="en-US" sz="1400" b="1" dirty="0"/>
              <a:t> </a:t>
            </a:r>
          </a:p>
        </p:txBody>
      </p:sp>
      <p:sp>
        <p:nvSpPr>
          <p:cNvPr id="7" name="다이아몬드 6"/>
          <p:cNvSpPr/>
          <p:nvPr/>
        </p:nvSpPr>
        <p:spPr>
          <a:xfrm>
            <a:off x="395536" y="4005064"/>
            <a:ext cx="1440160" cy="792088"/>
          </a:xfrm>
          <a:prstGeom prst="diamond">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b="1" dirty="0">
                <a:solidFill>
                  <a:schemeClr val="tx1"/>
                </a:solidFill>
              </a:rPr>
              <a:t>Batch</a:t>
            </a:r>
            <a:r>
              <a:rPr lang="ko-KR" altLang="en-US" sz="900" b="1" dirty="0">
                <a:solidFill>
                  <a:schemeClr val="tx1"/>
                </a:solidFill>
              </a:rPr>
              <a:t> </a:t>
            </a:r>
            <a:r>
              <a:rPr lang="en-US" altLang="ko-KR" sz="900" b="1" dirty="0">
                <a:solidFill>
                  <a:schemeClr val="tx1"/>
                </a:solidFill>
              </a:rPr>
              <a:t>Sample in batch Size  = 2 ? </a:t>
            </a:r>
            <a:endParaRPr lang="ko-KR" altLang="en-US" sz="900" b="1" dirty="0">
              <a:solidFill>
                <a:schemeClr val="tx1"/>
              </a:solidFill>
            </a:endParaRPr>
          </a:p>
        </p:txBody>
      </p:sp>
      <p:sp>
        <p:nvSpPr>
          <p:cNvPr id="26" name="모서리가 둥근 직사각형 25"/>
          <p:cNvSpPr/>
          <p:nvPr/>
        </p:nvSpPr>
        <p:spPr>
          <a:xfrm>
            <a:off x="539552" y="5013176"/>
            <a:ext cx="1152128" cy="504056"/>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Nested Type</a:t>
            </a:r>
            <a:endParaRPr lang="ko-KR" altLang="en-US" sz="1000" dirty="0">
              <a:solidFill>
                <a:schemeClr val="tx1"/>
              </a:solidFill>
            </a:endParaRPr>
          </a:p>
        </p:txBody>
      </p:sp>
      <p:sp>
        <p:nvSpPr>
          <p:cNvPr id="27" name="모서리가 둥근 직사각형 26"/>
          <p:cNvSpPr/>
          <p:nvPr/>
        </p:nvSpPr>
        <p:spPr>
          <a:xfrm>
            <a:off x="2123728" y="4149080"/>
            <a:ext cx="1152128" cy="504056"/>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Crossed Type</a:t>
            </a:r>
            <a:endParaRPr lang="ko-KR" altLang="en-US" sz="1000" dirty="0">
              <a:solidFill>
                <a:schemeClr val="tx1"/>
              </a:solidFill>
            </a:endParaRPr>
          </a:p>
        </p:txBody>
      </p:sp>
      <p:sp>
        <p:nvSpPr>
          <p:cNvPr id="28" name="모서리가 둥근 직사각형 27"/>
          <p:cNvSpPr/>
          <p:nvPr/>
        </p:nvSpPr>
        <p:spPr>
          <a:xfrm>
            <a:off x="467544" y="5733256"/>
            <a:ext cx="1368152" cy="504056"/>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rPr>
              <a:t>3người</a:t>
            </a:r>
            <a:r>
              <a:rPr lang="ko-KR" altLang="en-US" sz="900" dirty="0">
                <a:solidFill>
                  <a:schemeClr val="tx1"/>
                </a:solidFill>
              </a:rPr>
              <a:t> </a:t>
            </a:r>
            <a:r>
              <a:rPr lang="en-US" altLang="ko-KR" sz="900" dirty="0">
                <a:solidFill>
                  <a:schemeClr val="tx1"/>
                </a:solidFill>
              </a:rPr>
              <a:t>15 Batch</a:t>
            </a:r>
          </a:p>
          <a:p>
            <a:pPr algn="ctr"/>
            <a:r>
              <a:rPr lang="en-US" altLang="ko-KR" sz="900" dirty="0" err="1">
                <a:solidFill>
                  <a:schemeClr val="tx1"/>
                </a:solidFill>
              </a:rPr>
              <a:t>mỗi</a:t>
            </a:r>
            <a:r>
              <a:rPr lang="en-US" altLang="ko-KR" sz="900" dirty="0">
                <a:solidFill>
                  <a:schemeClr val="tx1"/>
                </a:solidFill>
              </a:rPr>
              <a:t> Batch 2 </a:t>
            </a:r>
            <a:r>
              <a:rPr lang="en-US" altLang="ko-KR" sz="900" dirty="0" err="1">
                <a:solidFill>
                  <a:schemeClr val="tx1"/>
                </a:solidFill>
              </a:rPr>
              <a:t>cái</a:t>
            </a:r>
            <a:endParaRPr lang="en-US" altLang="ko-KR" sz="900" dirty="0">
              <a:solidFill>
                <a:schemeClr val="tx1"/>
              </a:solidFill>
            </a:endParaRPr>
          </a:p>
          <a:p>
            <a:pPr algn="ctr"/>
            <a:r>
              <a:rPr lang="en-US" altLang="ko-KR" sz="1000" dirty="0">
                <a:solidFill>
                  <a:schemeClr val="tx1"/>
                </a:solidFill>
              </a:rPr>
              <a:t>(</a:t>
            </a:r>
            <a:r>
              <a:rPr lang="en-US" altLang="ko-KR" sz="1000" dirty="0" err="1">
                <a:solidFill>
                  <a:schemeClr val="tx1"/>
                </a:solidFill>
              </a:rPr>
              <a:t>Tổng</a:t>
            </a:r>
            <a:r>
              <a:rPr lang="en-US" altLang="ko-KR" sz="1000" dirty="0">
                <a:solidFill>
                  <a:schemeClr val="tx1"/>
                </a:solidFill>
              </a:rPr>
              <a:t> 30 </a:t>
            </a:r>
            <a:r>
              <a:rPr lang="en-US" altLang="ko-KR" sz="1000" dirty="0" err="1">
                <a:solidFill>
                  <a:schemeClr val="tx1"/>
                </a:solidFill>
              </a:rPr>
              <a:t>cái</a:t>
            </a:r>
            <a:r>
              <a:rPr lang="en-US" altLang="ko-KR" sz="1000" dirty="0">
                <a:solidFill>
                  <a:schemeClr val="tx1"/>
                </a:solidFill>
              </a:rPr>
              <a:t>) </a:t>
            </a:r>
            <a:endParaRPr lang="ko-KR" altLang="en-US" sz="1000" dirty="0">
              <a:solidFill>
                <a:schemeClr val="tx1"/>
              </a:solidFill>
            </a:endParaRPr>
          </a:p>
        </p:txBody>
      </p:sp>
      <p:sp>
        <p:nvSpPr>
          <p:cNvPr id="29" name="모서리가 둥근 직사각형 28"/>
          <p:cNvSpPr/>
          <p:nvPr/>
        </p:nvSpPr>
        <p:spPr>
          <a:xfrm>
            <a:off x="2123728" y="4797152"/>
            <a:ext cx="1152128" cy="504056"/>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3người</a:t>
            </a:r>
            <a:r>
              <a:rPr lang="ko-KR" altLang="en-US" sz="1000" dirty="0">
                <a:solidFill>
                  <a:schemeClr val="tx1"/>
                </a:solidFill>
              </a:rPr>
              <a:t> </a:t>
            </a:r>
            <a:r>
              <a:rPr lang="en-US" altLang="ko-KR" sz="1000" dirty="0">
                <a:solidFill>
                  <a:schemeClr val="tx1"/>
                </a:solidFill>
              </a:rPr>
              <a:t>5 Batch</a:t>
            </a:r>
          </a:p>
          <a:p>
            <a:pPr algn="ctr"/>
            <a:r>
              <a:rPr lang="en-US" altLang="ko-KR" sz="1000" dirty="0" err="1">
                <a:solidFill>
                  <a:schemeClr val="tx1"/>
                </a:solidFill>
              </a:rPr>
              <a:t>mỗi</a:t>
            </a:r>
            <a:r>
              <a:rPr lang="en-US" altLang="ko-KR" sz="1000" dirty="0">
                <a:solidFill>
                  <a:schemeClr val="tx1"/>
                </a:solidFill>
              </a:rPr>
              <a:t> Batch 6 </a:t>
            </a:r>
            <a:r>
              <a:rPr lang="en-US" altLang="ko-KR" sz="1000" dirty="0" err="1">
                <a:solidFill>
                  <a:schemeClr val="tx1"/>
                </a:solidFill>
              </a:rPr>
              <a:t>cái</a:t>
            </a:r>
            <a:endParaRPr lang="en-US" altLang="ko-KR" sz="1000" dirty="0">
              <a:solidFill>
                <a:schemeClr val="tx1"/>
              </a:solidFill>
            </a:endParaRPr>
          </a:p>
          <a:p>
            <a:pPr algn="ctr"/>
            <a:r>
              <a:rPr lang="en-US" altLang="ko-KR" sz="1000" dirty="0">
                <a:solidFill>
                  <a:schemeClr val="tx1"/>
                </a:solidFill>
              </a:rPr>
              <a:t>(</a:t>
            </a:r>
            <a:r>
              <a:rPr lang="en-US" altLang="ko-KR" sz="1000" dirty="0" err="1">
                <a:solidFill>
                  <a:schemeClr val="tx1"/>
                </a:solidFill>
              </a:rPr>
              <a:t>Tổng</a:t>
            </a:r>
            <a:r>
              <a:rPr lang="en-US" altLang="ko-KR" sz="1000" dirty="0">
                <a:solidFill>
                  <a:schemeClr val="tx1"/>
                </a:solidFill>
              </a:rPr>
              <a:t> 30 </a:t>
            </a:r>
            <a:r>
              <a:rPr lang="en-US" altLang="ko-KR" sz="1000" dirty="0" err="1">
                <a:solidFill>
                  <a:schemeClr val="tx1"/>
                </a:solidFill>
              </a:rPr>
              <a:t>cái</a:t>
            </a:r>
            <a:r>
              <a:rPr lang="en-US" altLang="ko-KR" sz="1000" dirty="0">
                <a:solidFill>
                  <a:schemeClr val="tx1"/>
                </a:solidFill>
              </a:rPr>
              <a:t>) </a:t>
            </a:r>
            <a:endParaRPr lang="ko-KR" altLang="en-US" sz="1000" dirty="0">
              <a:solidFill>
                <a:schemeClr val="tx1"/>
              </a:solidFill>
            </a:endParaRPr>
          </a:p>
        </p:txBody>
      </p:sp>
      <p:cxnSp>
        <p:nvCxnSpPr>
          <p:cNvPr id="9" name="직선 화살표 연결선 8"/>
          <p:cNvCxnSpPr>
            <a:stCxn id="7" idx="3"/>
            <a:endCxn id="27" idx="1"/>
          </p:cNvCxnSpPr>
          <p:nvPr/>
        </p:nvCxnSpPr>
        <p:spPr>
          <a:xfrm>
            <a:off x="1835696" y="4401108"/>
            <a:ext cx="288032" cy="0"/>
          </a:xfrm>
          <a:prstGeom prst="straightConnector1">
            <a:avLst/>
          </a:prstGeom>
          <a:ln>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1" name="직선 화살표 연결선 10"/>
          <p:cNvCxnSpPr>
            <a:stCxn id="27" idx="2"/>
            <a:endCxn id="29" idx="0"/>
          </p:cNvCxnSpPr>
          <p:nvPr/>
        </p:nvCxnSpPr>
        <p:spPr>
          <a:xfrm>
            <a:off x="2699792" y="4653136"/>
            <a:ext cx="0" cy="14401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a:stCxn id="7" idx="2"/>
            <a:endCxn id="26" idx="0"/>
          </p:cNvCxnSpPr>
          <p:nvPr/>
        </p:nvCxnSpPr>
        <p:spPr>
          <a:xfrm>
            <a:off x="1115616" y="4797152"/>
            <a:ext cx="0" cy="216024"/>
          </a:xfrm>
          <a:prstGeom prst="straightConnector1">
            <a:avLst/>
          </a:prstGeom>
          <a:ln>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6" name="직선 화살표 연결선 15"/>
          <p:cNvCxnSpPr>
            <a:stCxn id="26" idx="2"/>
            <a:endCxn id="28" idx="0"/>
          </p:cNvCxnSpPr>
          <p:nvPr/>
        </p:nvCxnSpPr>
        <p:spPr>
          <a:xfrm>
            <a:off x="1115616" y="5517232"/>
            <a:ext cx="36004" cy="21602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24" name="표 23"/>
          <p:cNvGraphicFramePr>
            <a:graphicFrameLocks noGrp="1"/>
          </p:cNvGraphicFramePr>
          <p:nvPr>
            <p:extLst>
              <p:ext uri="{D42A27DB-BD31-4B8C-83A1-F6EECF244321}">
                <p14:modId xmlns:p14="http://schemas.microsoft.com/office/powerpoint/2010/main" val="2653828031"/>
              </p:ext>
            </p:extLst>
          </p:nvPr>
        </p:nvGraphicFramePr>
        <p:xfrm>
          <a:off x="6300192" y="3992100"/>
          <a:ext cx="2664296" cy="2311400"/>
        </p:xfrm>
        <a:graphic>
          <a:graphicData uri="http://schemas.openxmlformats.org/drawingml/2006/table">
            <a:tbl>
              <a:tblPr firstRow="1" bandRow="1">
                <a:tableStyleId>{5C22544A-7EE6-4342-B048-85BDC9FD1C3A}</a:tableStyleId>
              </a:tblPr>
              <a:tblGrid>
                <a:gridCol w="666074">
                  <a:extLst>
                    <a:ext uri="{9D8B030D-6E8A-4147-A177-3AD203B41FA5}">
                      <a16:colId xmlns:a16="http://schemas.microsoft.com/office/drawing/2014/main" val="20000"/>
                    </a:ext>
                  </a:extLst>
                </a:gridCol>
                <a:gridCol w="666074">
                  <a:extLst>
                    <a:ext uri="{9D8B030D-6E8A-4147-A177-3AD203B41FA5}">
                      <a16:colId xmlns:a16="http://schemas.microsoft.com/office/drawing/2014/main" val="20001"/>
                    </a:ext>
                  </a:extLst>
                </a:gridCol>
                <a:gridCol w="666074">
                  <a:extLst>
                    <a:ext uri="{9D8B030D-6E8A-4147-A177-3AD203B41FA5}">
                      <a16:colId xmlns:a16="http://schemas.microsoft.com/office/drawing/2014/main" val="20002"/>
                    </a:ext>
                  </a:extLst>
                </a:gridCol>
                <a:gridCol w="666074">
                  <a:extLst>
                    <a:ext uri="{9D8B030D-6E8A-4147-A177-3AD203B41FA5}">
                      <a16:colId xmlns:a16="http://schemas.microsoft.com/office/drawing/2014/main" val="20003"/>
                    </a:ext>
                  </a:extLst>
                </a:gridCol>
              </a:tblGrid>
              <a:tr h="442848">
                <a:tc>
                  <a:txBody>
                    <a:bodyPr/>
                    <a:lstStyle/>
                    <a:p>
                      <a:pPr algn="ctr" latinLnBrk="1"/>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err="1"/>
                        <a:t>Người</a:t>
                      </a:r>
                      <a:r>
                        <a:rPr lang="en-US" altLang="ko-KR" sz="1200" dirty="0"/>
                        <a:t> </a:t>
                      </a:r>
                      <a:r>
                        <a:rPr lang="en-US" altLang="ko-KR" sz="1200" dirty="0" err="1"/>
                        <a:t>đo</a:t>
                      </a:r>
                      <a:r>
                        <a:rPr lang="ko-KR" altLang="en-US" sz="1200" dirty="0"/>
                        <a:t> </a:t>
                      </a:r>
                      <a:r>
                        <a:rPr lang="en-US" altLang="ko-KR" sz="1200" dirty="0"/>
                        <a:t>1</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err="1"/>
                        <a:t>Người</a:t>
                      </a:r>
                      <a:r>
                        <a:rPr lang="en-US" altLang="ko-KR" sz="1200" baseline="0" dirty="0"/>
                        <a:t> </a:t>
                      </a:r>
                      <a:r>
                        <a:rPr lang="en-US" altLang="ko-KR" sz="1200" baseline="0" dirty="0" err="1"/>
                        <a:t>đo</a:t>
                      </a:r>
                      <a:r>
                        <a:rPr lang="ko-KR" altLang="en-US" sz="1200" dirty="0"/>
                        <a:t> </a:t>
                      </a:r>
                      <a:r>
                        <a:rPr lang="en-US" altLang="ko-KR" sz="1200" dirty="0"/>
                        <a:t>2</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err="1"/>
                        <a:t>Người</a:t>
                      </a:r>
                      <a:r>
                        <a:rPr lang="en-US" altLang="ko-KR" sz="1200" dirty="0"/>
                        <a:t> </a:t>
                      </a:r>
                      <a:r>
                        <a:rPr lang="en-US" altLang="ko-KR" sz="1200" dirty="0" err="1"/>
                        <a:t>đo</a:t>
                      </a:r>
                      <a:r>
                        <a:rPr lang="ko-KR" altLang="en-US" sz="1200" dirty="0"/>
                        <a:t> </a:t>
                      </a:r>
                      <a:r>
                        <a:rPr lang="en-US" altLang="ko-KR" sz="1200" dirty="0"/>
                        <a:t>3</a:t>
                      </a:r>
                      <a:endParaRPr lang="ko-KR" altLang="en-US" sz="1200" dirty="0"/>
                    </a:p>
                  </a:txBody>
                  <a:tcPr anchor="ctr"/>
                </a:tc>
                <a:extLst>
                  <a:ext uri="{0D108BD9-81ED-4DB2-BD59-A6C34878D82A}">
                    <a16:rowId xmlns:a16="http://schemas.microsoft.com/office/drawing/2014/main" val="10000"/>
                  </a:ext>
                </a:extLst>
              </a:tr>
              <a:tr h="370840">
                <a:tc>
                  <a:txBody>
                    <a:bodyPr/>
                    <a:lstStyle/>
                    <a:p>
                      <a:pPr algn="ctr" latinLnBrk="1"/>
                      <a:r>
                        <a:rPr lang="en-US" altLang="ko-KR" sz="1200" dirty="0"/>
                        <a:t>Batch1</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1"/>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Batch2</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2"/>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Batch3</a:t>
                      </a:r>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3"/>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Batch4</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4"/>
                  </a:ext>
                </a:extLst>
              </a:tr>
              <a:tr h="37084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Batch5</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5"/>
                  </a:ext>
                </a:extLst>
              </a:tr>
            </a:tbl>
          </a:graphicData>
        </a:graphic>
      </p:graphicFrame>
      <p:graphicFrame>
        <p:nvGraphicFramePr>
          <p:cNvPr id="39" name="표 38"/>
          <p:cNvGraphicFramePr>
            <a:graphicFrameLocks noGrp="1"/>
          </p:cNvGraphicFramePr>
          <p:nvPr>
            <p:extLst>
              <p:ext uri="{D42A27DB-BD31-4B8C-83A1-F6EECF244321}">
                <p14:modId xmlns:p14="http://schemas.microsoft.com/office/powerpoint/2010/main" val="2351605987"/>
              </p:ext>
            </p:extLst>
          </p:nvPr>
        </p:nvGraphicFramePr>
        <p:xfrm>
          <a:off x="3563888" y="3992100"/>
          <a:ext cx="2664296" cy="2317220"/>
        </p:xfrm>
        <a:graphic>
          <a:graphicData uri="http://schemas.openxmlformats.org/drawingml/2006/table">
            <a:tbl>
              <a:tblPr firstRow="1" bandRow="1">
                <a:tableStyleId>{5C22544A-7EE6-4342-B048-85BDC9FD1C3A}</a:tableStyleId>
              </a:tblPr>
              <a:tblGrid>
                <a:gridCol w="666074">
                  <a:extLst>
                    <a:ext uri="{9D8B030D-6E8A-4147-A177-3AD203B41FA5}">
                      <a16:colId xmlns:a16="http://schemas.microsoft.com/office/drawing/2014/main" val="20000"/>
                    </a:ext>
                  </a:extLst>
                </a:gridCol>
                <a:gridCol w="666074">
                  <a:extLst>
                    <a:ext uri="{9D8B030D-6E8A-4147-A177-3AD203B41FA5}">
                      <a16:colId xmlns:a16="http://schemas.microsoft.com/office/drawing/2014/main" val="20001"/>
                    </a:ext>
                  </a:extLst>
                </a:gridCol>
                <a:gridCol w="666074">
                  <a:extLst>
                    <a:ext uri="{9D8B030D-6E8A-4147-A177-3AD203B41FA5}">
                      <a16:colId xmlns:a16="http://schemas.microsoft.com/office/drawing/2014/main" val="20002"/>
                    </a:ext>
                  </a:extLst>
                </a:gridCol>
                <a:gridCol w="666074">
                  <a:extLst>
                    <a:ext uri="{9D8B030D-6E8A-4147-A177-3AD203B41FA5}">
                      <a16:colId xmlns:a16="http://schemas.microsoft.com/office/drawing/2014/main" val="20003"/>
                    </a:ext>
                  </a:extLst>
                </a:gridCol>
              </a:tblGrid>
              <a:tr h="444238">
                <a:tc>
                  <a:txBody>
                    <a:bodyPr/>
                    <a:lstStyle/>
                    <a:p>
                      <a:pPr algn="ctr" latinLnBrk="1"/>
                      <a:endParaRPr lang="ko-KR" altLang="en-US" sz="1200" dirty="0"/>
                    </a:p>
                  </a:txBody>
                  <a:tcPr anchor="ctr"/>
                </a:tc>
                <a:tc>
                  <a:txBody>
                    <a:bodyPr/>
                    <a:lstStyle/>
                    <a:p>
                      <a:pPr algn="ctr" latinLnBrk="1"/>
                      <a:r>
                        <a:rPr lang="en-US" altLang="ko-KR" sz="1200" dirty="0" err="1"/>
                        <a:t>Người</a:t>
                      </a:r>
                      <a:r>
                        <a:rPr lang="en-US" altLang="ko-KR" sz="1200" baseline="0" dirty="0"/>
                        <a:t> </a:t>
                      </a:r>
                      <a:r>
                        <a:rPr lang="en-US" altLang="ko-KR" sz="1200" baseline="0" dirty="0" err="1"/>
                        <a:t>đo</a:t>
                      </a:r>
                      <a:r>
                        <a:rPr lang="ko-KR" altLang="en-US" sz="1200" dirty="0"/>
                        <a:t> </a:t>
                      </a:r>
                      <a:r>
                        <a:rPr lang="en-US" altLang="ko-KR" sz="1200" dirty="0"/>
                        <a:t>1</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err="1"/>
                        <a:t>Người</a:t>
                      </a:r>
                      <a:r>
                        <a:rPr lang="en-US" altLang="ko-KR" sz="1200" baseline="0" dirty="0"/>
                        <a:t> </a:t>
                      </a:r>
                      <a:r>
                        <a:rPr lang="en-US" altLang="ko-KR" sz="1200" baseline="0" dirty="0" err="1"/>
                        <a:t>đo</a:t>
                      </a:r>
                      <a:r>
                        <a:rPr lang="ko-KR" altLang="en-US" sz="1200" dirty="0"/>
                        <a:t> </a:t>
                      </a:r>
                      <a:r>
                        <a:rPr lang="en-US" altLang="ko-KR" sz="1200" dirty="0"/>
                        <a:t>2</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err="1"/>
                        <a:t>Người</a:t>
                      </a:r>
                      <a:r>
                        <a:rPr lang="en-US" altLang="ko-KR" sz="1200" baseline="0" dirty="0"/>
                        <a:t> </a:t>
                      </a:r>
                      <a:r>
                        <a:rPr lang="en-US" altLang="ko-KR" sz="1200" baseline="0" dirty="0" err="1"/>
                        <a:t>đo</a:t>
                      </a:r>
                      <a:r>
                        <a:rPr lang="ko-KR" altLang="en-US" sz="1200" dirty="0"/>
                        <a:t> </a:t>
                      </a:r>
                      <a:r>
                        <a:rPr lang="en-US" altLang="ko-KR" sz="1200" dirty="0"/>
                        <a:t>3</a:t>
                      </a:r>
                      <a:endParaRPr lang="ko-KR" altLang="en-US" sz="1200" dirty="0"/>
                    </a:p>
                  </a:txBody>
                  <a:tcPr anchor="ctr"/>
                </a:tc>
                <a:extLst>
                  <a:ext uri="{0D108BD9-81ED-4DB2-BD59-A6C34878D82A}">
                    <a16:rowId xmlns:a16="http://schemas.microsoft.com/office/drawing/2014/main" val="10000"/>
                  </a:ext>
                </a:extLst>
              </a:tr>
              <a:tr h="372004">
                <a:tc>
                  <a:txBody>
                    <a:bodyPr/>
                    <a:lstStyle/>
                    <a:p>
                      <a:pPr algn="ctr" latinLnBrk="1"/>
                      <a:r>
                        <a:rPr lang="en-US" altLang="ko-KR" sz="1200" dirty="0"/>
                        <a:t>Batch1</a:t>
                      </a:r>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1"/>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Batch2</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2"/>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Batch3</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3"/>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Batch4</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4"/>
                  </a:ext>
                </a:extLst>
              </a:tr>
              <a:tr h="37200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t>Batch5</a:t>
                      </a:r>
                      <a:endParaRPr lang="ko-KR" altLang="en-US" sz="1200" dirty="0"/>
                    </a:p>
                  </a:txBody>
                  <a:tcPr anchor="ctr"/>
                </a:tc>
                <a:tc>
                  <a:txBody>
                    <a:bodyPr/>
                    <a:lstStyle/>
                    <a:p>
                      <a:pPr algn="ctr" latinLnBrk="1"/>
                      <a:endParaRPr lang="ko-KR" altLang="en-US" sz="1200"/>
                    </a:p>
                  </a:txBody>
                  <a:tcPr anchor="ctr"/>
                </a:tc>
                <a:tc>
                  <a:txBody>
                    <a:bodyPr/>
                    <a:lstStyle/>
                    <a:p>
                      <a:pPr algn="ctr" latinLnBrk="1"/>
                      <a:endParaRPr lang="ko-KR" altLang="en-US" sz="1200"/>
                    </a:p>
                  </a:txBody>
                  <a:tcPr anchor="ctr"/>
                </a:tc>
                <a:tc>
                  <a:txBody>
                    <a:bodyPr/>
                    <a:lstStyle/>
                    <a:p>
                      <a:pPr algn="ctr" latinLnBrk="1"/>
                      <a:endParaRPr lang="ko-KR" altLang="en-US" sz="1200" dirty="0"/>
                    </a:p>
                  </a:txBody>
                  <a:tcPr anchor="ctr"/>
                </a:tc>
                <a:extLst>
                  <a:ext uri="{0D108BD9-81ED-4DB2-BD59-A6C34878D82A}">
                    <a16:rowId xmlns:a16="http://schemas.microsoft.com/office/drawing/2014/main" val="10005"/>
                  </a:ext>
                </a:extLst>
              </a:tr>
            </a:tbl>
          </a:graphicData>
        </a:graphic>
      </p:graphicFrame>
      <p:sp>
        <p:nvSpPr>
          <p:cNvPr id="6" name="직사각형 5"/>
          <p:cNvSpPr/>
          <p:nvPr/>
        </p:nvSpPr>
        <p:spPr>
          <a:xfrm>
            <a:off x="4355976"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p:cNvSpPr/>
          <p:nvPr/>
        </p:nvSpPr>
        <p:spPr>
          <a:xfrm>
            <a:off x="4634677"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직사각형 20"/>
          <p:cNvSpPr/>
          <p:nvPr/>
        </p:nvSpPr>
        <p:spPr>
          <a:xfrm>
            <a:off x="5013379"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직사각형 21"/>
          <p:cNvSpPr/>
          <p:nvPr/>
        </p:nvSpPr>
        <p:spPr>
          <a:xfrm>
            <a:off x="5292080"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 name="직사각형 22"/>
          <p:cNvSpPr/>
          <p:nvPr/>
        </p:nvSpPr>
        <p:spPr>
          <a:xfrm>
            <a:off x="5661451"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직사각형 24"/>
          <p:cNvSpPr/>
          <p:nvPr/>
        </p:nvSpPr>
        <p:spPr>
          <a:xfrm>
            <a:off x="5940152"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직사각형 29"/>
          <p:cNvSpPr/>
          <p:nvPr/>
        </p:nvSpPr>
        <p:spPr>
          <a:xfrm>
            <a:off x="4355976"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p:cNvSpPr/>
          <p:nvPr/>
        </p:nvSpPr>
        <p:spPr>
          <a:xfrm>
            <a:off x="4634677"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p:cNvSpPr/>
          <p:nvPr/>
        </p:nvSpPr>
        <p:spPr>
          <a:xfrm>
            <a:off x="5013379"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p:cNvSpPr/>
          <p:nvPr/>
        </p:nvSpPr>
        <p:spPr>
          <a:xfrm>
            <a:off x="5292080"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p:cNvSpPr/>
          <p:nvPr/>
        </p:nvSpPr>
        <p:spPr>
          <a:xfrm>
            <a:off x="5661451"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p:cNvSpPr/>
          <p:nvPr/>
        </p:nvSpPr>
        <p:spPr>
          <a:xfrm>
            <a:off x="5940152"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p:cNvSpPr/>
          <p:nvPr/>
        </p:nvSpPr>
        <p:spPr>
          <a:xfrm>
            <a:off x="4355976"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직사각형 36"/>
          <p:cNvSpPr/>
          <p:nvPr/>
        </p:nvSpPr>
        <p:spPr>
          <a:xfrm>
            <a:off x="4634677"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직사각형 37"/>
          <p:cNvSpPr/>
          <p:nvPr/>
        </p:nvSpPr>
        <p:spPr>
          <a:xfrm>
            <a:off x="5013379"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5292080"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직사각형 40"/>
          <p:cNvSpPr/>
          <p:nvPr/>
        </p:nvSpPr>
        <p:spPr>
          <a:xfrm>
            <a:off x="5661451"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p:cNvSpPr/>
          <p:nvPr/>
        </p:nvSpPr>
        <p:spPr>
          <a:xfrm>
            <a:off x="5940152"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p:cNvSpPr/>
          <p:nvPr/>
        </p:nvSpPr>
        <p:spPr>
          <a:xfrm>
            <a:off x="4355976"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직사각형 43"/>
          <p:cNvSpPr/>
          <p:nvPr/>
        </p:nvSpPr>
        <p:spPr>
          <a:xfrm>
            <a:off x="4634677"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p:cNvSpPr/>
          <p:nvPr/>
        </p:nvSpPr>
        <p:spPr>
          <a:xfrm>
            <a:off x="5013379"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p:cNvSpPr/>
          <p:nvPr/>
        </p:nvSpPr>
        <p:spPr>
          <a:xfrm>
            <a:off x="5292080"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직사각형 46"/>
          <p:cNvSpPr/>
          <p:nvPr/>
        </p:nvSpPr>
        <p:spPr>
          <a:xfrm>
            <a:off x="5661451"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p:cNvSpPr/>
          <p:nvPr/>
        </p:nvSpPr>
        <p:spPr>
          <a:xfrm>
            <a:off x="5940152"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9" name="직사각형 48"/>
          <p:cNvSpPr/>
          <p:nvPr/>
        </p:nvSpPr>
        <p:spPr>
          <a:xfrm>
            <a:off x="4355976"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p:cNvSpPr/>
          <p:nvPr/>
        </p:nvSpPr>
        <p:spPr>
          <a:xfrm>
            <a:off x="4634677"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직사각형 50"/>
          <p:cNvSpPr/>
          <p:nvPr/>
        </p:nvSpPr>
        <p:spPr>
          <a:xfrm>
            <a:off x="5013379"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직사각형 51"/>
          <p:cNvSpPr/>
          <p:nvPr/>
        </p:nvSpPr>
        <p:spPr>
          <a:xfrm>
            <a:off x="5292080"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직사각형 52"/>
          <p:cNvSpPr/>
          <p:nvPr/>
        </p:nvSpPr>
        <p:spPr>
          <a:xfrm>
            <a:off x="5661451"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직사각형 53"/>
          <p:cNvSpPr/>
          <p:nvPr/>
        </p:nvSpPr>
        <p:spPr>
          <a:xfrm>
            <a:off x="5940152"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427984" y="3632060"/>
            <a:ext cx="1396536" cy="261610"/>
          </a:xfrm>
          <a:prstGeom prst="rect">
            <a:avLst/>
          </a:prstGeom>
          <a:noFill/>
        </p:spPr>
        <p:txBody>
          <a:bodyPr wrap="none" rtlCol="0">
            <a:spAutoFit/>
          </a:bodyPr>
          <a:lstStyle/>
          <a:p>
            <a:r>
              <a:rPr lang="en-US" altLang="ko-KR" sz="1100" b="1" u="sng" dirty="0" err="1"/>
              <a:t>Phân</a:t>
            </a:r>
            <a:r>
              <a:rPr lang="en-US" altLang="ko-KR" sz="1100" b="1" u="sng" dirty="0"/>
              <a:t> </a:t>
            </a:r>
            <a:r>
              <a:rPr lang="en-US" altLang="ko-KR" sz="1100" b="1" u="sng" dirty="0" err="1"/>
              <a:t>tích</a:t>
            </a:r>
            <a:r>
              <a:rPr lang="en-US" altLang="ko-KR" sz="1100" b="1" u="sng" dirty="0"/>
              <a:t> Crossed</a:t>
            </a:r>
            <a:endParaRPr lang="ko-KR" altLang="en-US" sz="1100" b="1" u="sng" dirty="0"/>
          </a:p>
        </p:txBody>
      </p:sp>
      <p:sp>
        <p:nvSpPr>
          <p:cNvPr id="55" name="TextBox 54"/>
          <p:cNvSpPr txBox="1"/>
          <p:nvPr/>
        </p:nvSpPr>
        <p:spPr>
          <a:xfrm>
            <a:off x="7308304" y="3632060"/>
            <a:ext cx="1390124" cy="261610"/>
          </a:xfrm>
          <a:prstGeom prst="rect">
            <a:avLst/>
          </a:prstGeom>
          <a:noFill/>
        </p:spPr>
        <p:txBody>
          <a:bodyPr wrap="none" rtlCol="0">
            <a:spAutoFit/>
          </a:bodyPr>
          <a:lstStyle/>
          <a:p>
            <a:r>
              <a:rPr lang="en-US" altLang="ko-KR" sz="1100" b="1" u="sng" dirty="0" err="1"/>
              <a:t>Phân</a:t>
            </a:r>
            <a:r>
              <a:rPr lang="en-US" altLang="ko-KR" sz="1100" b="1" u="sng" dirty="0"/>
              <a:t> </a:t>
            </a:r>
            <a:r>
              <a:rPr lang="en-US" altLang="ko-KR" sz="1100" b="1" u="sng" dirty="0" err="1"/>
              <a:t>tích</a:t>
            </a:r>
            <a:r>
              <a:rPr lang="en-US" altLang="ko-KR" sz="1100" b="1" u="sng" dirty="0"/>
              <a:t> Nested </a:t>
            </a:r>
            <a:endParaRPr lang="ko-KR" altLang="en-US" sz="1100" b="1" u="sng" dirty="0"/>
          </a:p>
        </p:txBody>
      </p:sp>
      <p:sp>
        <p:nvSpPr>
          <p:cNvPr id="56" name="직사각형 55"/>
          <p:cNvSpPr/>
          <p:nvPr/>
        </p:nvSpPr>
        <p:spPr>
          <a:xfrm>
            <a:off x="7101611"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직사각형 56"/>
          <p:cNvSpPr/>
          <p:nvPr/>
        </p:nvSpPr>
        <p:spPr>
          <a:xfrm>
            <a:off x="7380312" y="4509120"/>
            <a:ext cx="144016" cy="216024"/>
          </a:xfrm>
          <a:prstGeom prst="rect">
            <a:avLst/>
          </a:prstGeom>
          <a:solidFill>
            <a:srgbClr val="FFC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p:cNvSpPr/>
          <p:nvPr/>
        </p:nvSpPr>
        <p:spPr>
          <a:xfrm>
            <a:off x="7101611"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직사각형 58"/>
          <p:cNvSpPr/>
          <p:nvPr/>
        </p:nvSpPr>
        <p:spPr>
          <a:xfrm>
            <a:off x="7380312" y="4918873"/>
            <a:ext cx="144016" cy="216024"/>
          </a:xfrm>
          <a:prstGeom prst="rect">
            <a:avLst/>
          </a:prstGeom>
          <a:solidFill>
            <a:srgbClr val="3399FF"/>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직사각형 59"/>
          <p:cNvSpPr/>
          <p:nvPr/>
        </p:nvSpPr>
        <p:spPr>
          <a:xfrm>
            <a:off x="7101611"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1" name="직사각형 60"/>
          <p:cNvSpPr/>
          <p:nvPr/>
        </p:nvSpPr>
        <p:spPr>
          <a:xfrm>
            <a:off x="7380312" y="5288244"/>
            <a:ext cx="144016" cy="216024"/>
          </a:xfrm>
          <a:prstGeom prst="rect">
            <a:avLst/>
          </a:prstGeom>
          <a:solidFill>
            <a:srgbClr val="FF00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직사각형 61"/>
          <p:cNvSpPr/>
          <p:nvPr/>
        </p:nvSpPr>
        <p:spPr>
          <a:xfrm>
            <a:off x="7101611"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p:cNvSpPr/>
          <p:nvPr/>
        </p:nvSpPr>
        <p:spPr>
          <a:xfrm>
            <a:off x="7380312" y="5648284"/>
            <a:ext cx="144016" cy="216024"/>
          </a:xfrm>
          <a:prstGeom prst="rect">
            <a:avLst/>
          </a:prstGeom>
          <a:solidFill>
            <a:srgbClr val="00FF00"/>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직사각형 63"/>
          <p:cNvSpPr/>
          <p:nvPr/>
        </p:nvSpPr>
        <p:spPr>
          <a:xfrm>
            <a:off x="7101611"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직사각형 64"/>
          <p:cNvSpPr/>
          <p:nvPr/>
        </p:nvSpPr>
        <p:spPr>
          <a:xfrm>
            <a:off x="7380312" y="6008324"/>
            <a:ext cx="144016" cy="216024"/>
          </a:xfrm>
          <a:prstGeom prst="rect">
            <a:avLst/>
          </a:prstGeom>
          <a:solidFill>
            <a:srgbClr val="CC00CC"/>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타원 9"/>
          <p:cNvSpPr/>
          <p:nvPr/>
        </p:nvSpPr>
        <p:spPr>
          <a:xfrm>
            <a:off x="7749683" y="4509120"/>
            <a:ext cx="144016" cy="216024"/>
          </a:xfrm>
          <a:prstGeom prst="ellipse">
            <a:avLst/>
          </a:prstGeom>
          <a:solidFill>
            <a:srgbClr val="FF0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타원 75"/>
          <p:cNvSpPr/>
          <p:nvPr/>
        </p:nvSpPr>
        <p:spPr>
          <a:xfrm>
            <a:off x="8028384" y="4509120"/>
            <a:ext cx="144016" cy="216024"/>
          </a:xfrm>
          <a:prstGeom prst="ellipse">
            <a:avLst/>
          </a:prstGeom>
          <a:solidFill>
            <a:srgbClr val="FF0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타원 76"/>
          <p:cNvSpPr/>
          <p:nvPr/>
        </p:nvSpPr>
        <p:spPr>
          <a:xfrm>
            <a:off x="7749683" y="4918873"/>
            <a:ext cx="144016" cy="216024"/>
          </a:xfrm>
          <a:prstGeom prst="ellipse">
            <a:avLst/>
          </a:prstGeom>
          <a:solidFill>
            <a:srgbClr val="FFC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타원 77"/>
          <p:cNvSpPr/>
          <p:nvPr/>
        </p:nvSpPr>
        <p:spPr>
          <a:xfrm>
            <a:off x="8028384" y="4918873"/>
            <a:ext cx="144016" cy="216024"/>
          </a:xfrm>
          <a:prstGeom prst="ellipse">
            <a:avLst/>
          </a:prstGeom>
          <a:solidFill>
            <a:srgbClr val="FFC0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타원 78"/>
          <p:cNvSpPr/>
          <p:nvPr/>
        </p:nvSpPr>
        <p:spPr>
          <a:xfrm>
            <a:off x="7749683" y="5288244"/>
            <a:ext cx="144016" cy="216024"/>
          </a:xfrm>
          <a:prstGeom prst="ellipse">
            <a:avLst/>
          </a:prstGeom>
          <a:solidFill>
            <a:srgbClr val="3399FF"/>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타원 79"/>
          <p:cNvSpPr/>
          <p:nvPr/>
        </p:nvSpPr>
        <p:spPr>
          <a:xfrm>
            <a:off x="8028384" y="5288244"/>
            <a:ext cx="144016" cy="216024"/>
          </a:xfrm>
          <a:prstGeom prst="ellipse">
            <a:avLst/>
          </a:prstGeom>
          <a:solidFill>
            <a:srgbClr val="3399FF"/>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타원 80"/>
          <p:cNvSpPr/>
          <p:nvPr/>
        </p:nvSpPr>
        <p:spPr>
          <a:xfrm>
            <a:off x="7749683" y="5648284"/>
            <a:ext cx="144016" cy="216024"/>
          </a:xfrm>
          <a:prstGeom prst="ellipse">
            <a:avLst/>
          </a:prstGeom>
          <a:solidFill>
            <a:srgbClr val="CC00CC"/>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8028384" y="5648284"/>
            <a:ext cx="144016" cy="216024"/>
          </a:xfrm>
          <a:prstGeom prst="ellipse">
            <a:avLst/>
          </a:prstGeom>
          <a:solidFill>
            <a:srgbClr val="CC00CC"/>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7749683" y="6008324"/>
            <a:ext cx="144016" cy="216024"/>
          </a:xfrm>
          <a:prstGeom prst="ellipse">
            <a:avLst/>
          </a:prstGeom>
          <a:solidFill>
            <a:srgbClr val="00FF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p:cNvSpPr/>
          <p:nvPr/>
        </p:nvSpPr>
        <p:spPr>
          <a:xfrm>
            <a:off x="8028384" y="6008324"/>
            <a:ext cx="144016" cy="216024"/>
          </a:xfrm>
          <a:prstGeom prst="ellipse">
            <a:avLst/>
          </a:prstGeom>
          <a:solidFill>
            <a:srgbClr val="00FF00"/>
          </a:solid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다이아몬드 94"/>
          <p:cNvSpPr/>
          <p:nvPr/>
        </p:nvSpPr>
        <p:spPr>
          <a:xfrm>
            <a:off x="8460432" y="4509120"/>
            <a:ext cx="144016" cy="216024"/>
          </a:xfrm>
          <a:prstGeom prst="diamond">
            <a:avLst/>
          </a:prstGeom>
          <a:solidFill>
            <a:srgbClr val="00FF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다이아몬드 95"/>
          <p:cNvSpPr/>
          <p:nvPr/>
        </p:nvSpPr>
        <p:spPr>
          <a:xfrm>
            <a:off x="8748464" y="4509120"/>
            <a:ext cx="144016" cy="216024"/>
          </a:xfrm>
          <a:prstGeom prst="diamond">
            <a:avLst/>
          </a:prstGeom>
          <a:solidFill>
            <a:srgbClr val="00FF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다이아몬드 96"/>
          <p:cNvSpPr/>
          <p:nvPr/>
        </p:nvSpPr>
        <p:spPr>
          <a:xfrm>
            <a:off x="8460432" y="4918873"/>
            <a:ext cx="144016" cy="216024"/>
          </a:xfrm>
          <a:prstGeom prst="diamond">
            <a:avLst/>
          </a:prstGeom>
          <a:solidFill>
            <a:srgbClr val="CC00CC"/>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다이아몬드 97"/>
          <p:cNvSpPr/>
          <p:nvPr/>
        </p:nvSpPr>
        <p:spPr>
          <a:xfrm>
            <a:off x="8748464" y="4918873"/>
            <a:ext cx="144016" cy="216024"/>
          </a:xfrm>
          <a:prstGeom prst="diamond">
            <a:avLst/>
          </a:prstGeom>
          <a:solidFill>
            <a:srgbClr val="CC00CC"/>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다이아몬드 98"/>
          <p:cNvSpPr/>
          <p:nvPr/>
        </p:nvSpPr>
        <p:spPr>
          <a:xfrm>
            <a:off x="8460432" y="5288244"/>
            <a:ext cx="144016" cy="216024"/>
          </a:xfrm>
          <a:prstGeom prst="diamond">
            <a:avLst/>
          </a:prstGeom>
          <a:solidFill>
            <a:srgbClr val="FFC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다이아몬드 99"/>
          <p:cNvSpPr/>
          <p:nvPr/>
        </p:nvSpPr>
        <p:spPr>
          <a:xfrm>
            <a:off x="8748464" y="5288244"/>
            <a:ext cx="144016" cy="216024"/>
          </a:xfrm>
          <a:prstGeom prst="diamond">
            <a:avLst/>
          </a:prstGeom>
          <a:solidFill>
            <a:srgbClr val="FFC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다이아몬드 100"/>
          <p:cNvSpPr/>
          <p:nvPr/>
        </p:nvSpPr>
        <p:spPr>
          <a:xfrm>
            <a:off x="8460432" y="5648284"/>
            <a:ext cx="144016" cy="216024"/>
          </a:xfrm>
          <a:prstGeom prst="diamond">
            <a:avLst/>
          </a:prstGeom>
          <a:solidFill>
            <a:srgbClr val="3399FF"/>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다이아몬드 101"/>
          <p:cNvSpPr/>
          <p:nvPr/>
        </p:nvSpPr>
        <p:spPr>
          <a:xfrm>
            <a:off x="8748464" y="5648284"/>
            <a:ext cx="144016" cy="216024"/>
          </a:xfrm>
          <a:prstGeom prst="diamond">
            <a:avLst/>
          </a:prstGeom>
          <a:solidFill>
            <a:srgbClr val="3399FF"/>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다이아몬드 102"/>
          <p:cNvSpPr/>
          <p:nvPr/>
        </p:nvSpPr>
        <p:spPr>
          <a:xfrm>
            <a:off x="8460432" y="6008324"/>
            <a:ext cx="144016" cy="216024"/>
          </a:xfrm>
          <a:prstGeom prst="diamond">
            <a:avLst/>
          </a:prstGeom>
          <a:solidFill>
            <a:srgbClr val="FF0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다이아몬드 103"/>
          <p:cNvSpPr/>
          <p:nvPr/>
        </p:nvSpPr>
        <p:spPr>
          <a:xfrm>
            <a:off x="8748464" y="6008324"/>
            <a:ext cx="144016" cy="216024"/>
          </a:xfrm>
          <a:prstGeom prst="diamond">
            <a:avLst/>
          </a:prstGeom>
          <a:solidFill>
            <a:srgbClr val="FF000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p:cNvSpPr txBox="1"/>
          <p:nvPr/>
        </p:nvSpPr>
        <p:spPr>
          <a:xfrm>
            <a:off x="179512" y="148570"/>
            <a:ext cx="410670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86" name="직사각형 85"/>
          <p:cNvSpPr/>
          <p:nvPr/>
        </p:nvSpPr>
        <p:spPr>
          <a:xfrm>
            <a:off x="5580112" y="179348"/>
            <a:ext cx="3488455" cy="369332"/>
          </a:xfrm>
          <a:prstGeom prst="rect">
            <a:avLst/>
          </a:prstGeom>
        </p:spPr>
        <p:txBody>
          <a:bodyPr wrap="none">
            <a:spAutoFit/>
          </a:bodyPr>
          <a:lstStyle/>
          <a:p>
            <a:pPr>
              <a:defRPr/>
            </a:pPr>
            <a:r>
              <a:rPr lang="en-US" altLang="ko-KR" b="1" kern="0" dirty="0" err="1">
                <a:solidFill>
                  <a:sysClr val="windowText" lastClr="000000">
                    <a:lumMod val="75000"/>
                    <a:lumOff val="25000"/>
                  </a:sysClr>
                </a:solidFill>
                <a:latin typeface="맑은 고딕" pitchFamily="50" charset="-127"/>
                <a:ea typeface="맑은 고딕" pitchFamily="50" charset="-127"/>
              </a:rPr>
              <a:t>Kiểm</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tra</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phá</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hỏng</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383258074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1"/>
          <p:cNvSpPr>
            <a:spLocks noChangeArrowheads="1"/>
          </p:cNvSpPr>
          <p:nvPr/>
        </p:nvSpPr>
        <p:spPr bwMode="auto">
          <a:xfrm>
            <a:off x="628651" y="1238251"/>
            <a:ext cx="5608026" cy="385763"/>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latin typeface="맑은 고딕" pitchFamily="50" charset="-127"/>
                <a:ea typeface="맑은 고딕" pitchFamily="50" charset="-127"/>
              </a:rPr>
              <a:t>Stat  &gt; Quality Tools &gt; Gage Study &gt; Gage R&amp;R Studies(Nested)…</a:t>
            </a:r>
          </a:p>
        </p:txBody>
      </p:sp>
      <p:pic>
        <p:nvPicPr>
          <p:cNvPr id="87859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9941" t="3791" r="29353" b="27299"/>
          <a:stretch/>
        </p:blipFill>
        <p:spPr bwMode="auto">
          <a:xfrm>
            <a:off x="650334" y="1690028"/>
            <a:ext cx="6548061" cy="4547284"/>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100</a:t>
            </a:fld>
            <a:endParaRPr lang="ko-KR" altLang="en-US" dirty="0"/>
          </a:p>
        </p:txBody>
      </p:sp>
      <p:sp>
        <p:nvSpPr>
          <p:cNvPr id="6" name="TextBox 5"/>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7" name="직사각형 6"/>
          <p:cNvSpPr/>
          <p:nvPr/>
        </p:nvSpPr>
        <p:spPr>
          <a:xfrm>
            <a:off x="5286380" y="179348"/>
            <a:ext cx="3863558"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Destructive inspection</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407850751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87715" y="3338330"/>
            <a:ext cx="3316732" cy="2880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1795" name="Picture 3"/>
          <p:cNvPicPr>
            <a:picLocks noChangeAspect="1" noChangeArrowheads="1"/>
          </p:cNvPicPr>
          <p:nvPr/>
        </p:nvPicPr>
        <p:blipFill>
          <a:blip r:embed="rId3" cstate="print"/>
          <a:srcRect/>
          <a:stretch>
            <a:fillRect/>
          </a:stretch>
        </p:blipFill>
        <p:spPr bwMode="auto">
          <a:xfrm>
            <a:off x="5181532" y="1124745"/>
            <a:ext cx="3256977" cy="1787409"/>
          </a:xfrm>
          <a:prstGeom prst="rect">
            <a:avLst/>
          </a:prstGeom>
          <a:noFill/>
          <a:ln w="9525">
            <a:noFill/>
            <a:miter lim="800000"/>
            <a:headEnd/>
            <a:tailEnd/>
          </a:ln>
        </p:spPr>
      </p:pic>
      <p:pic>
        <p:nvPicPr>
          <p:cNvPr id="1441793" name="Picture 1"/>
          <p:cNvPicPr>
            <a:picLocks noChangeAspect="1" noChangeArrowheads="1"/>
          </p:cNvPicPr>
          <p:nvPr/>
        </p:nvPicPr>
        <p:blipFill>
          <a:blip r:embed="rId4" cstate="print"/>
          <a:srcRect/>
          <a:stretch>
            <a:fillRect/>
          </a:stretch>
        </p:blipFill>
        <p:spPr bwMode="auto">
          <a:xfrm>
            <a:off x="583864" y="2285604"/>
            <a:ext cx="4132385" cy="2295525"/>
          </a:xfrm>
          <a:prstGeom prst="rect">
            <a:avLst/>
          </a:prstGeom>
          <a:noFill/>
          <a:ln w="9525">
            <a:noFill/>
            <a:miter lim="800000"/>
            <a:headEnd/>
            <a:tailEnd/>
          </a:ln>
        </p:spPr>
      </p:pic>
      <p:sp>
        <p:nvSpPr>
          <p:cNvPr id="6" name="직사각형 5"/>
          <p:cNvSpPr/>
          <p:nvPr/>
        </p:nvSpPr>
        <p:spPr bwMode="auto">
          <a:xfrm>
            <a:off x="3793214" y="2602806"/>
            <a:ext cx="753208" cy="246063"/>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latin typeface="Arial" charset="0"/>
            </a:endParaRPr>
          </a:p>
        </p:txBody>
      </p:sp>
      <p:cxnSp>
        <p:nvCxnSpPr>
          <p:cNvPr id="7" name="꺾인 연결선 15"/>
          <p:cNvCxnSpPr>
            <a:stCxn id="6" idx="3"/>
            <a:endCxn id="1441795" idx="1"/>
          </p:cNvCxnSpPr>
          <p:nvPr/>
        </p:nvCxnSpPr>
        <p:spPr bwMode="auto">
          <a:xfrm flipV="1">
            <a:off x="4546422" y="2018449"/>
            <a:ext cx="635110" cy="707388"/>
          </a:xfrm>
          <a:prstGeom prst="bentConnector3">
            <a:avLst>
              <a:gd name="adj1" fmla="val 50000"/>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213001" name="직사각형 12"/>
          <p:cNvSpPr>
            <a:spLocks noChangeArrowheads="1"/>
          </p:cNvSpPr>
          <p:nvPr/>
        </p:nvSpPr>
        <p:spPr bwMode="auto">
          <a:xfrm>
            <a:off x="3769767" y="2885380"/>
            <a:ext cx="767862" cy="255588"/>
          </a:xfrm>
          <a:prstGeom prst="rect">
            <a:avLst/>
          </a:prstGeom>
          <a:noFill/>
          <a:ln w="19050" algn="ctr">
            <a:solidFill>
              <a:srgbClr val="FF0000"/>
            </a:solidFill>
            <a:round/>
            <a:headEnd/>
            <a:tailEnd/>
          </a:ln>
        </p:spPr>
        <p:txBody>
          <a:bodyPr/>
          <a:lstStyle/>
          <a:p>
            <a:pPr algn="ctr"/>
            <a:endParaRPr lang="ko-KR" altLang="en-US" sz="1000" dirty="0">
              <a:latin typeface="Arial" pitchFamily="34" charset="0"/>
            </a:endParaRPr>
          </a:p>
        </p:txBody>
      </p:sp>
      <p:sp>
        <p:nvSpPr>
          <p:cNvPr id="213003" name="직사각형 14"/>
          <p:cNvSpPr>
            <a:spLocks noChangeArrowheads="1"/>
          </p:cNvSpPr>
          <p:nvPr/>
        </p:nvSpPr>
        <p:spPr bwMode="auto">
          <a:xfrm>
            <a:off x="6564419" y="4051872"/>
            <a:ext cx="533400" cy="414337"/>
          </a:xfrm>
          <a:prstGeom prst="rect">
            <a:avLst/>
          </a:prstGeom>
          <a:noFill/>
          <a:ln w="19050" algn="ctr">
            <a:solidFill>
              <a:srgbClr val="FF0000"/>
            </a:solidFill>
            <a:round/>
            <a:headEnd/>
            <a:tailEnd/>
          </a:ln>
        </p:spPr>
        <p:txBody>
          <a:bodyPr/>
          <a:lstStyle/>
          <a:p>
            <a:pPr algn="ctr"/>
            <a:endParaRPr lang="ko-KR" altLang="en-US" sz="1000" dirty="0">
              <a:latin typeface="Arial" pitchFamily="34" charset="0"/>
            </a:endParaRPr>
          </a:p>
        </p:txBody>
      </p:sp>
      <p:sp>
        <p:nvSpPr>
          <p:cNvPr id="213004" name="Text Box 14"/>
          <p:cNvSpPr txBox="1">
            <a:spLocks noChangeArrowheads="1"/>
          </p:cNvSpPr>
          <p:nvPr/>
        </p:nvSpPr>
        <p:spPr bwMode="auto">
          <a:xfrm>
            <a:off x="357158" y="1785926"/>
            <a:ext cx="4285140" cy="461665"/>
          </a:xfrm>
          <a:prstGeom prst="rect">
            <a:avLst/>
          </a:prstGeom>
          <a:noFill/>
          <a:ln w="12700" algn="ctr">
            <a:noFill/>
            <a:miter lim="800000"/>
            <a:headEnd/>
            <a:tailEnd/>
          </a:ln>
        </p:spPr>
        <p:txBody>
          <a:bodyPr wrap="square">
            <a:spAutoFit/>
          </a:bodyPr>
          <a:lstStyle/>
          <a:p>
            <a:r>
              <a:rPr lang="en-US" altLang="ko-KR" sz="1200" b="1" dirty="0">
                <a:latin typeface="맑은 고딕" pitchFamily="50" charset="-127"/>
                <a:ea typeface="맑은 고딕" pitchFamily="50" charset="-127"/>
              </a:rPr>
              <a:t>Data entry method and variable assignment method are the same as Crossed</a:t>
            </a:r>
            <a:endParaRPr lang="ko-KR" altLang="en-US" sz="1200" b="1" dirty="0">
              <a:latin typeface="맑은 고딕" pitchFamily="50" charset="-127"/>
              <a:ea typeface="맑은 고딕" pitchFamily="50" charset="-127"/>
            </a:endParaRPr>
          </a:p>
        </p:txBody>
      </p:sp>
      <p:sp>
        <p:nvSpPr>
          <p:cNvPr id="213005" name="Text Box 14"/>
          <p:cNvSpPr txBox="1">
            <a:spLocks noChangeArrowheads="1"/>
          </p:cNvSpPr>
          <p:nvPr/>
        </p:nvSpPr>
        <p:spPr bwMode="auto">
          <a:xfrm>
            <a:off x="7114329" y="4120134"/>
            <a:ext cx="1101009" cy="276999"/>
          </a:xfrm>
          <a:prstGeom prst="rect">
            <a:avLst/>
          </a:prstGeom>
          <a:noFill/>
          <a:ln w="12700" algn="ctr">
            <a:noFill/>
            <a:miter lim="800000"/>
            <a:headEnd/>
            <a:tailEnd/>
          </a:ln>
        </p:spPr>
        <p:txBody>
          <a:bodyPr wrap="square">
            <a:spAutoFit/>
          </a:bodyPr>
          <a:lstStyle/>
          <a:p>
            <a:r>
              <a:rPr lang="en-US" altLang="ko-KR" sz="1200" b="1" dirty="0">
                <a:latin typeface="맑은 고딕" pitchFamily="50" charset="-127"/>
                <a:ea typeface="맑은 고딕" pitchFamily="50" charset="-127"/>
              </a:rPr>
              <a:t>Input Spec </a:t>
            </a:r>
            <a:endParaRPr lang="ko-KR" altLang="en-US" sz="1200" b="1" dirty="0">
              <a:latin typeface="맑은 고딕" pitchFamily="50" charset="-127"/>
              <a:ea typeface="맑은 고딕" pitchFamily="50" charset="-127"/>
            </a:endParaRPr>
          </a:p>
        </p:txBody>
      </p:sp>
      <p:sp>
        <p:nvSpPr>
          <p:cNvPr id="213008" name="Text Box 14"/>
          <p:cNvSpPr txBox="1">
            <a:spLocks noChangeArrowheads="1"/>
          </p:cNvSpPr>
          <p:nvPr/>
        </p:nvSpPr>
        <p:spPr bwMode="auto">
          <a:xfrm>
            <a:off x="7478154" y="1641922"/>
            <a:ext cx="1015512" cy="830997"/>
          </a:xfrm>
          <a:prstGeom prst="rect">
            <a:avLst/>
          </a:prstGeom>
          <a:noFill/>
          <a:ln w="12700" algn="ctr">
            <a:noFill/>
            <a:miter lim="800000"/>
            <a:headEnd/>
            <a:tailEnd/>
          </a:ln>
        </p:spPr>
        <p:txBody>
          <a:bodyPr>
            <a:spAutoFit/>
          </a:bodyPr>
          <a:lstStyle/>
          <a:p>
            <a:r>
              <a:rPr lang="en-US" altLang="ko-KR" sz="1200" b="1" dirty="0">
                <a:latin typeface="맑은 고딕" pitchFamily="50" charset="-127"/>
                <a:ea typeface="맑은 고딕" pitchFamily="50" charset="-127"/>
              </a:rPr>
              <a:t>Options </a:t>
            </a:r>
          </a:p>
          <a:p>
            <a:r>
              <a:rPr lang="en-US" altLang="ko-KR" sz="1200" b="1" dirty="0">
                <a:latin typeface="맑은 고딕" pitchFamily="50" charset="-127"/>
                <a:ea typeface="맑은 고딕" pitchFamily="50" charset="-127"/>
              </a:rPr>
              <a:t>Don’t Need to entry</a:t>
            </a:r>
            <a:endParaRPr lang="ko-KR" altLang="en-US" sz="1200" b="1" dirty="0">
              <a:latin typeface="맑은 고딕" pitchFamily="50" charset="-127"/>
              <a:ea typeface="맑은 고딕" pitchFamily="50" charset="-127"/>
            </a:endParaRPr>
          </a:p>
        </p:txBody>
      </p: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101</a:t>
            </a:fld>
            <a:endParaRPr lang="ko-KR" altLang="en-US" dirty="0"/>
          </a:p>
        </p:txBody>
      </p:sp>
      <p:sp>
        <p:nvSpPr>
          <p:cNvPr id="14" name="TextBox 13"/>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15" name="직사각형 14"/>
          <p:cNvSpPr/>
          <p:nvPr/>
        </p:nvSpPr>
        <p:spPr>
          <a:xfrm>
            <a:off x="5286380" y="179348"/>
            <a:ext cx="3863558"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Destructive inspection</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358280252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1"/>
          <p:cNvSpPr>
            <a:spLocks noChangeArrowheads="1"/>
          </p:cNvSpPr>
          <p:nvPr/>
        </p:nvSpPr>
        <p:spPr bwMode="auto">
          <a:xfrm>
            <a:off x="628651" y="1238251"/>
            <a:ext cx="5608026" cy="385763"/>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latin typeface="맑은 고딕" pitchFamily="50" charset="-127"/>
                <a:ea typeface="맑은 고딕" pitchFamily="50" charset="-127"/>
              </a:rPr>
              <a:t>Stat  &gt; Quality Tools &gt; Gage Study &gt; Gage R&amp;R Studies(Nested)…</a:t>
            </a:r>
          </a:p>
        </p:txBody>
      </p:sp>
      <p:pic>
        <p:nvPicPr>
          <p:cNvPr id="87859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9941" t="3791" r="29353" b="27299"/>
          <a:stretch/>
        </p:blipFill>
        <p:spPr bwMode="auto">
          <a:xfrm>
            <a:off x="650334" y="1690028"/>
            <a:ext cx="6548061" cy="4547284"/>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102</a:t>
            </a:fld>
            <a:endParaRPr lang="ko-KR" altLang="en-US" dirty="0"/>
          </a:p>
        </p:txBody>
      </p:sp>
      <p:sp>
        <p:nvSpPr>
          <p:cNvPr id="6" name="TextBox 5"/>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7" name="직사각형 6"/>
          <p:cNvSpPr/>
          <p:nvPr/>
        </p:nvSpPr>
        <p:spPr>
          <a:xfrm>
            <a:off x="5580112" y="179348"/>
            <a:ext cx="3488455" cy="369332"/>
          </a:xfrm>
          <a:prstGeom prst="rect">
            <a:avLst/>
          </a:prstGeom>
        </p:spPr>
        <p:txBody>
          <a:bodyPr wrap="none">
            <a:spAutoFit/>
          </a:bodyPr>
          <a:lstStyle/>
          <a:p>
            <a:pPr>
              <a:defRPr/>
            </a:pPr>
            <a:r>
              <a:rPr lang="en-US" altLang="ko-KR" b="1" kern="0" dirty="0" err="1">
                <a:solidFill>
                  <a:sysClr val="windowText" lastClr="000000">
                    <a:lumMod val="75000"/>
                    <a:lumOff val="25000"/>
                  </a:sysClr>
                </a:solidFill>
                <a:latin typeface="맑은 고딕" pitchFamily="50" charset="-127"/>
                <a:ea typeface="맑은 고딕" pitchFamily="50" charset="-127"/>
              </a:rPr>
              <a:t>Kiểm</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tra</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phá</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hỏng</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4078507514"/>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87715" y="3338330"/>
            <a:ext cx="3316732" cy="2880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1795" name="Picture 3"/>
          <p:cNvPicPr>
            <a:picLocks noChangeAspect="1" noChangeArrowheads="1"/>
          </p:cNvPicPr>
          <p:nvPr/>
        </p:nvPicPr>
        <p:blipFill>
          <a:blip r:embed="rId3" cstate="print"/>
          <a:srcRect/>
          <a:stretch>
            <a:fillRect/>
          </a:stretch>
        </p:blipFill>
        <p:spPr bwMode="auto">
          <a:xfrm>
            <a:off x="5181532" y="1124745"/>
            <a:ext cx="3256977" cy="1787409"/>
          </a:xfrm>
          <a:prstGeom prst="rect">
            <a:avLst/>
          </a:prstGeom>
          <a:noFill/>
          <a:ln w="9525">
            <a:noFill/>
            <a:miter lim="800000"/>
            <a:headEnd/>
            <a:tailEnd/>
          </a:ln>
        </p:spPr>
      </p:pic>
      <p:pic>
        <p:nvPicPr>
          <p:cNvPr id="1441793" name="Picture 1"/>
          <p:cNvPicPr>
            <a:picLocks noChangeAspect="1" noChangeArrowheads="1"/>
          </p:cNvPicPr>
          <p:nvPr/>
        </p:nvPicPr>
        <p:blipFill>
          <a:blip r:embed="rId4" cstate="print"/>
          <a:srcRect/>
          <a:stretch>
            <a:fillRect/>
          </a:stretch>
        </p:blipFill>
        <p:spPr bwMode="auto">
          <a:xfrm>
            <a:off x="583864" y="2285603"/>
            <a:ext cx="4132385" cy="2295525"/>
          </a:xfrm>
          <a:prstGeom prst="rect">
            <a:avLst/>
          </a:prstGeom>
          <a:noFill/>
          <a:ln w="9525">
            <a:noFill/>
            <a:miter lim="800000"/>
            <a:headEnd/>
            <a:tailEnd/>
          </a:ln>
        </p:spPr>
      </p:pic>
      <p:sp>
        <p:nvSpPr>
          <p:cNvPr id="6" name="직사각형 5"/>
          <p:cNvSpPr/>
          <p:nvPr/>
        </p:nvSpPr>
        <p:spPr bwMode="auto">
          <a:xfrm>
            <a:off x="3793214" y="2602806"/>
            <a:ext cx="753208" cy="246063"/>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latin typeface="Arial" charset="0"/>
            </a:endParaRPr>
          </a:p>
        </p:txBody>
      </p:sp>
      <p:cxnSp>
        <p:nvCxnSpPr>
          <p:cNvPr id="7" name="꺾인 연결선 15"/>
          <p:cNvCxnSpPr>
            <a:stCxn id="6" idx="3"/>
            <a:endCxn id="1441795" idx="1"/>
          </p:cNvCxnSpPr>
          <p:nvPr/>
        </p:nvCxnSpPr>
        <p:spPr bwMode="auto">
          <a:xfrm flipV="1">
            <a:off x="4546422" y="2018449"/>
            <a:ext cx="635110" cy="707388"/>
          </a:xfrm>
          <a:prstGeom prst="bentConnector3">
            <a:avLst>
              <a:gd name="adj1" fmla="val 50000"/>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213001" name="직사각형 12"/>
          <p:cNvSpPr>
            <a:spLocks noChangeArrowheads="1"/>
          </p:cNvSpPr>
          <p:nvPr/>
        </p:nvSpPr>
        <p:spPr bwMode="auto">
          <a:xfrm>
            <a:off x="3769767" y="2885380"/>
            <a:ext cx="767862" cy="255588"/>
          </a:xfrm>
          <a:prstGeom prst="rect">
            <a:avLst/>
          </a:prstGeom>
          <a:noFill/>
          <a:ln w="19050" algn="ctr">
            <a:solidFill>
              <a:srgbClr val="FF0000"/>
            </a:solidFill>
            <a:round/>
            <a:headEnd/>
            <a:tailEnd/>
          </a:ln>
        </p:spPr>
        <p:txBody>
          <a:bodyPr/>
          <a:lstStyle/>
          <a:p>
            <a:pPr algn="ctr"/>
            <a:endParaRPr lang="ko-KR" altLang="en-US" sz="1000" dirty="0">
              <a:latin typeface="Arial" pitchFamily="34" charset="0"/>
            </a:endParaRPr>
          </a:p>
        </p:txBody>
      </p:sp>
      <p:sp>
        <p:nvSpPr>
          <p:cNvPr id="213003" name="직사각형 14"/>
          <p:cNvSpPr>
            <a:spLocks noChangeArrowheads="1"/>
          </p:cNvSpPr>
          <p:nvPr/>
        </p:nvSpPr>
        <p:spPr bwMode="auto">
          <a:xfrm>
            <a:off x="6564419" y="4051872"/>
            <a:ext cx="533400" cy="414337"/>
          </a:xfrm>
          <a:prstGeom prst="rect">
            <a:avLst/>
          </a:prstGeom>
          <a:noFill/>
          <a:ln w="19050" algn="ctr">
            <a:solidFill>
              <a:srgbClr val="FF0000"/>
            </a:solidFill>
            <a:round/>
            <a:headEnd/>
            <a:tailEnd/>
          </a:ln>
        </p:spPr>
        <p:txBody>
          <a:bodyPr/>
          <a:lstStyle/>
          <a:p>
            <a:pPr algn="ctr"/>
            <a:endParaRPr lang="ko-KR" altLang="en-US" sz="1000" dirty="0">
              <a:latin typeface="Arial" pitchFamily="34" charset="0"/>
            </a:endParaRPr>
          </a:p>
        </p:txBody>
      </p:sp>
      <p:sp>
        <p:nvSpPr>
          <p:cNvPr id="213004" name="Text Box 14"/>
          <p:cNvSpPr txBox="1">
            <a:spLocks noChangeArrowheads="1"/>
          </p:cNvSpPr>
          <p:nvPr/>
        </p:nvSpPr>
        <p:spPr bwMode="auto">
          <a:xfrm>
            <a:off x="495708" y="1772816"/>
            <a:ext cx="4076292" cy="461665"/>
          </a:xfrm>
          <a:prstGeom prst="rect">
            <a:avLst/>
          </a:prstGeom>
          <a:noFill/>
          <a:ln w="12700" algn="ctr">
            <a:noFill/>
            <a:miter lim="800000"/>
            <a:headEnd/>
            <a:tailEnd/>
          </a:ln>
        </p:spPr>
        <p:txBody>
          <a:bodyPr wrap="square">
            <a:spAutoFit/>
          </a:bodyPr>
          <a:lstStyle/>
          <a:p>
            <a:r>
              <a:rPr lang="en-US" altLang="ko-KR" sz="1200" b="1" dirty="0" err="1">
                <a:latin typeface="맑은 고딕" pitchFamily="50" charset="-127"/>
                <a:ea typeface="맑은 고딕" pitchFamily="50" charset="-127"/>
              </a:rPr>
              <a:t>Phương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pháp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nhập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dữ</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liệu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phương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pháp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chỉ</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định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biến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số</a:t>
            </a:r>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đồng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nhất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với</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Crossed</a:t>
            </a:r>
            <a:endParaRPr lang="ko-KR" altLang="en-US" sz="1200" b="1" dirty="0">
              <a:latin typeface="맑은 고딕" pitchFamily="50" charset="-127"/>
              <a:ea typeface="맑은 고딕" pitchFamily="50" charset="-127"/>
            </a:endParaRPr>
          </a:p>
        </p:txBody>
      </p:sp>
      <p:sp>
        <p:nvSpPr>
          <p:cNvPr id="213005" name="Text Box 14"/>
          <p:cNvSpPr txBox="1">
            <a:spLocks noChangeArrowheads="1"/>
          </p:cNvSpPr>
          <p:nvPr/>
        </p:nvSpPr>
        <p:spPr bwMode="auto">
          <a:xfrm>
            <a:off x="7164288" y="4077072"/>
            <a:ext cx="912935" cy="246221"/>
          </a:xfrm>
          <a:prstGeom prst="rect">
            <a:avLst/>
          </a:prstGeom>
          <a:noFill/>
          <a:ln w="12700" algn="ctr">
            <a:noFill/>
            <a:miter lim="800000"/>
            <a:headEnd/>
            <a:tailEnd/>
          </a:ln>
        </p:spPr>
        <p:txBody>
          <a:bodyPr>
            <a:spAutoFit/>
          </a:bodyPr>
          <a:lstStyle/>
          <a:p>
            <a:r>
              <a:rPr lang="en-US" altLang="ko-KR" sz="1000" b="1" dirty="0" err="1">
                <a:latin typeface="맑은 고딕" pitchFamily="50" charset="-127"/>
                <a:ea typeface="맑은 고딕" pitchFamily="50" charset="-127"/>
              </a:rPr>
              <a:t>Nhập</a:t>
            </a:r>
            <a:r>
              <a:rPr lang="en-US" altLang="ko-KR" sz="1000" b="1" dirty="0">
                <a:latin typeface="맑은 고딕" pitchFamily="50" charset="-127"/>
                <a:ea typeface="맑은 고딕" pitchFamily="50" charset="-127"/>
              </a:rPr>
              <a:t> Spec </a:t>
            </a:r>
            <a:endParaRPr lang="ko-KR" altLang="en-US" sz="1000" b="1" dirty="0">
              <a:latin typeface="맑은 고딕" pitchFamily="50" charset="-127"/>
              <a:ea typeface="맑은 고딕" pitchFamily="50" charset="-127"/>
            </a:endParaRPr>
          </a:p>
        </p:txBody>
      </p:sp>
      <p:sp>
        <p:nvSpPr>
          <p:cNvPr id="213008" name="Text Box 14"/>
          <p:cNvSpPr txBox="1">
            <a:spLocks noChangeArrowheads="1"/>
          </p:cNvSpPr>
          <p:nvPr/>
        </p:nvSpPr>
        <p:spPr bwMode="auto">
          <a:xfrm>
            <a:off x="7478154" y="1641922"/>
            <a:ext cx="1015512" cy="707886"/>
          </a:xfrm>
          <a:prstGeom prst="rect">
            <a:avLst/>
          </a:prstGeom>
          <a:noFill/>
          <a:ln w="12700" algn="ctr">
            <a:noFill/>
            <a:miter lim="800000"/>
            <a:headEnd/>
            <a:tailEnd/>
          </a:ln>
        </p:spPr>
        <p:txBody>
          <a:bodyPr>
            <a:spAutoFit/>
          </a:bodyPr>
          <a:lstStyle/>
          <a:p>
            <a:r>
              <a:rPr lang="en-US" altLang="ko-KR" sz="1000" b="1" dirty="0" err="1">
                <a:latin typeface="맑은 고딕" pitchFamily="50" charset="-127"/>
                <a:ea typeface="맑은 고딕" pitchFamily="50" charset="-127"/>
              </a:rPr>
              <a:t>Không</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cần</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nhập</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hạng</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mục</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lựa</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chọn</a:t>
            </a:r>
            <a:endParaRPr lang="en-US" altLang="ko-KR" sz="1000" b="1" dirty="0">
              <a:latin typeface="맑은 고딕" pitchFamily="50" charset="-127"/>
              <a:ea typeface="맑은 고딕" pitchFamily="50" charset="-127"/>
            </a:endParaRPr>
          </a:p>
        </p:txBody>
      </p: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103</a:t>
            </a:fld>
            <a:endParaRPr lang="ko-KR" altLang="en-US" dirty="0"/>
          </a:p>
        </p:txBody>
      </p:sp>
      <p:sp>
        <p:nvSpPr>
          <p:cNvPr id="14" name="TextBox 13"/>
          <p:cNvSpPr txBox="1"/>
          <p:nvPr/>
        </p:nvSpPr>
        <p:spPr>
          <a:xfrm>
            <a:off x="179512" y="148570"/>
            <a:ext cx="405861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5" name="직사각형 14"/>
          <p:cNvSpPr/>
          <p:nvPr/>
        </p:nvSpPr>
        <p:spPr>
          <a:xfrm>
            <a:off x="5652120" y="179348"/>
            <a:ext cx="3488455" cy="369332"/>
          </a:xfrm>
          <a:prstGeom prst="rect">
            <a:avLst/>
          </a:prstGeom>
        </p:spPr>
        <p:txBody>
          <a:bodyPr wrap="none">
            <a:spAutoFit/>
          </a:bodyPr>
          <a:lstStyle/>
          <a:p>
            <a:pPr>
              <a:defRPr/>
            </a:pPr>
            <a:r>
              <a:rPr lang="en-US" altLang="ko-KR" b="1" kern="0" dirty="0" err="1">
                <a:solidFill>
                  <a:sysClr val="windowText" lastClr="000000">
                    <a:lumMod val="75000"/>
                    <a:lumOff val="25000"/>
                  </a:sysClr>
                </a:solidFill>
                <a:latin typeface="맑은 고딕" pitchFamily="50" charset="-127"/>
                <a:ea typeface="맑은 고딕" pitchFamily="50" charset="-127"/>
              </a:rPr>
              <a:t>Kiểm</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tra</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phá</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hỏng</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358280252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4018"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4020" y="3668713"/>
            <a:ext cx="3292719" cy="1016000"/>
          </a:xfrm>
          <a:prstGeom prst="rect">
            <a:avLst/>
          </a:prstGeom>
          <a:noFill/>
          <a:ln w="9525">
            <a:noFill/>
            <a:miter lim="800000"/>
            <a:headEnd/>
            <a:tailEnd/>
          </a:ln>
        </p:spPr>
      </p:pic>
      <p:pic>
        <p:nvPicPr>
          <p:cNvPr id="21402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72813" y="900114"/>
            <a:ext cx="4215911" cy="2605087"/>
          </a:xfrm>
          <a:prstGeom prst="rect">
            <a:avLst/>
          </a:prstGeom>
          <a:noFill/>
          <a:ln w="9525">
            <a:noFill/>
            <a:miter lim="800000"/>
            <a:headEnd/>
            <a:tailEnd/>
          </a:ln>
        </p:spPr>
      </p:pic>
      <p:sp>
        <p:nvSpPr>
          <p:cNvPr id="214022" name="Text Box 5"/>
          <p:cNvSpPr txBox="1">
            <a:spLocks noChangeArrowheads="1"/>
          </p:cNvSpPr>
          <p:nvPr/>
        </p:nvSpPr>
        <p:spPr bwMode="auto">
          <a:xfrm>
            <a:off x="184639" y="895350"/>
            <a:ext cx="4720004" cy="276225"/>
          </a:xfrm>
          <a:prstGeom prst="rect">
            <a:avLst/>
          </a:prstGeom>
          <a:noFill/>
          <a:ln w="9525" algn="ctr">
            <a:noFill/>
            <a:miter lim="800000"/>
            <a:headEnd/>
            <a:tailEnd/>
          </a:ln>
        </p:spPr>
        <p:txBody>
          <a:bodyPr>
            <a:spAutoFit/>
          </a:bodyPr>
          <a:lstStyle/>
          <a:p>
            <a:r>
              <a:rPr lang="ko-KR" altLang="en-US" sz="1200" b="1" dirty="0">
                <a:latin typeface="맑은 고딕" pitchFamily="50" charset="-127"/>
                <a:ea typeface="맑은 고딕" pitchFamily="50" charset="-127"/>
              </a:rPr>
              <a:t>결과 </a:t>
            </a:r>
            <a:r>
              <a:rPr lang="en-US" altLang="ko-KR" sz="1200" b="1" dirty="0">
                <a:latin typeface="맑은 고딕" pitchFamily="50" charset="-127"/>
                <a:ea typeface="맑은 고딕" pitchFamily="50" charset="-127"/>
              </a:rPr>
              <a:t>Interpretation</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  (1) ANOVA Table</a:t>
            </a:r>
          </a:p>
        </p:txBody>
      </p:sp>
      <p:sp>
        <p:nvSpPr>
          <p:cNvPr id="214023" name="Rectangle 6"/>
          <p:cNvSpPr>
            <a:spLocks noChangeArrowheads="1"/>
          </p:cNvSpPr>
          <p:nvPr/>
        </p:nvSpPr>
        <p:spPr bwMode="auto">
          <a:xfrm>
            <a:off x="886659" y="3509964"/>
            <a:ext cx="2032288"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(2) Variance Components</a:t>
            </a:r>
          </a:p>
        </p:txBody>
      </p:sp>
      <p:sp>
        <p:nvSpPr>
          <p:cNvPr id="214024" name="Rectangle 7"/>
          <p:cNvSpPr>
            <a:spLocks noChangeArrowheads="1"/>
          </p:cNvSpPr>
          <p:nvPr/>
        </p:nvSpPr>
        <p:spPr bwMode="auto">
          <a:xfrm>
            <a:off x="858273" y="4735514"/>
            <a:ext cx="2313262"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(3) Gage R&amp;R Characteristics</a:t>
            </a:r>
          </a:p>
        </p:txBody>
      </p:sp>
      <p:sp>
        <p:nvSpPr>
          <p:cNvPr id="9" name="자유형 8"/>
          <p:cNvSpPr/>
          <p:nvPr/>
        </p:nvSpPr>
        <p:spPr bwMode="auto">
          <a:xfrm rot="16200000">
            <a:off x="5794986" y="1607405"/>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26" name="Rectangle 5"/>
          <p:cNvSpPr>
            <a:spLocks noChangeArrowheads="1"/>
          </p:cNvSpPr>
          <p:nvPr/>
        </p:nvSpPr>
        <p:spPr bwMode="auto">
          <a:xfrm>
            <a:off x="6352443" y="1541463"/>
            <a:ext cx="1780442" cy="296862"/>
          </a:xfrm>
          <a:prstGeom prst="rect">
            <a:avLst/>
          </a:prstGeom>
          <a:noFill/>
          <a:ln w="9525" algn="ctr">
            <a:noFill/>
            <a:miter lim="800000"/>
            <a:headEnd/>
            <a:tailEnd/>
          </a:ln>
        </p:spPr>
        <p:txBody>
          <a:bodyPr wrap="none" anchor="ctr"/>
          <a:lstStyle/>
          <a:p>
            <a:pPr>
              <a:buFont typeface="Wingdings" pitchFamily="2" charset="2"/>
              <a:buChar char="§"/>
            </a:pPr>
            <a:r>
              <a:rPr lang="en-US" altLang="ko-KR" sz="1200" dirty="0">
                <a:latin typeface="맑은 고딕" pitchFamily="50" charset="-127"/>
                <a:ea typeface="맑은 고딕" pitchFamily="50" charset="-127"/>
              </a:rPr>
              <a:t>Check Gage Info input information</a:t>
            </a:r>
          </a:p>
        </p:txBody>
      </p:sp>
      <p:sp>
        <p:nvSpPr>
          <p:cNvPr id="11" name="자유형 10"/>
          <p:cNvSpPr/>
          <p:nvPr/>
        </p:nvSpPr>
        <p:spPr bwMode="auto">
          <a:xfrm rot="16200000">
            <a:off x="5794986" y="2991705"/>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28" name="Rectangle 5"/>
          <p:cNvSpPr>
            <a:spLocks noChangeArrowheads="1"/>
          </p:cNvSpPr>
          <p:nvPr/>
        </p:nvSpPr>
        <p:spPr bwMode="auto">
          <a:xfrm>
            <a:off x="6352443" y="2714626"/>
            <a:ext cx="2571750" cy="714375"/>
          </a:xfrm>
          <a:prstGeom prst="rect">
            <a:avLst/>
          </a:prstGeom>
          <a:noFill/>
          <a:ln w="9525" algn="ctr">
            <a:noFill/>
            <a:miter lim="800000"/>
            <a:headEnd/>
            <a:tailEnd/>
          </a:ln>
        </p:spPr>
        <p:txBody>
          <a:bodyPr wrap="none"/>
          <a:lstStyle/>
          <a:p>
            <a:pPr>
              <a:buFont typeface="Wingdings" pitchFamily="2" charset="2"/>
              <a:buChar char="§"/>
            </a:pPr>
            <a:r>
              <a:rPr lang="en-US" altLang="ko-KR" sz="1200" dirty="0">
                <a:latin typeface="맑은 고딕" pitchFamily="50" charset="-127"/>
                <a:ea typeface="맑은 고딕" pitchFamily="50" charset="-127"/>
              </a:rPr>
              <a:t> Check P-value by item</a:t>
            </a:r>
          </a:p>
          <a:p>
            <a:pPr>
              <a:buFont typeface="Wingdings" pitchFamily="2" charset="2"/>
              <a:buChar char="§"/>
            </a:pPr>
            <a:r>
              <a:rPr lang="en-US" altLang="ko-KR" sz="1200" dirty="0">
                <a:latin typeface="맑은 고딕" pitchFamily="50" charset="-127"/>
                <a:ea typeface="맑은 고딕" pitchFamily="50" charset="-127"/>
              </a:rPr>
              <a:t> Operator</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0.961 &gt; 0.05 Significant</a:t>
            </a:r>
            <a:r>
              <a:rPr lang="ko-KR" altLang="en-US" sz="1200" dirty="0">
                <a:latin typeface="맑은 고딕" pitchFamily="50" charset="-127"/>
                <a:ea typeface="맑은 고딕" pitchFamily="50" charset="-127"/>
              </a:rPr>
              <a:t> 無</a:t>
            </a:r>
            <a:endParaRPr lang="en-US" altLang="ko-KR" sz="1200" dirty="0">
              <a:latin typeface="맑은 고딕" pitchFamily="50" charset="-127"/>
              <a:ea typeface="맑은 고딕" pitchFamily="50" charset="-127"/>
            </a:endParaRPr>
          </a:p>
          <a:p>
            <a:pPr>
              <a:buFont typeface="Wingdings" pitchFamily="2" charset="2"/>
              <a:buChar char="§"/>
            </a:pPr>
            <a:r>
              <a:rPr lang="en-US" altLang="ko-KR" sz="1200" dirty="0">
                <a:latin typeface="맑은 고딕" pitchFamily="50" charset="-127"/>
                <a:ea typeface="맑은 고딕" pitchFamily="50" charset="-127"/>
              </a:rPr>
              <a:t> Batch      0.000 &lt; 0.05 Significant</a:t>
            </a:r>
            <a:r>
              <a:rPr lang="ko-KR" altLang="en-US" sz="1200" dirty="0">
                <a:latin typeface="맑은 고딕" pitchFamily="50" charset="-127"/>
                <a:ea typeface="맑은 고딕" pitchFamily="50" charset="-127"/>
              </a:rPr>
              <a:t> 有</a:t>
            </a:r>
            <a:endParaRPr lang="en-US" altLang="ko-KR" sz="1200" dirty="0">
              <a:latin typeface="맑은 고딕" pitchFamily="50" charset="-127"/>
              <a:ea typeface="맑은 고딕" pitchFamily="50" charset="-127"/>
            </a:endParaRPr>
          </a:p>
        </p:txBody>
      </p:sp>
      <p:sp>
        <p:nvSpPr>
          <p:cNvPr id="13" name="자유형 12"/>
          <p:cNvSpPr/>
          <p:nvPr/>
        </p:nvSpPr>
        <p:spPr bwMode="auto">
          <a:xfrm rot="16200000">
            <a:off x="5794986" y="4160105"/>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30" name="Rectangle 5"/>
          <p:cNvSpPr>
            <a:spLocks noChangeArrowheads="1"/>
          </p:cNvSpPr>
          <p:nvPr/>
        </p:nvSpPr>
        <p:spPr bwMode="auto">
          <a:xfrm>
            <a:off x="6352443" y="3883026"/>
            <a:ext cx="2571750" cy="714375"/>
          </a:xfrm>
          <a:prstGeom prst="rect">
            <a:avLst/>
          </a:prstGeom>
          <a:noFill/>
          <a:ln w="9525" algn="ctr">
            <a:noFill/>
            <a:miter lim="800000"/>
            <a:headEnd/>
            <a:tailEnd/>
          </a:ln>
        </p:spPr>
        <p:txBody>
          <a:bodyPr wrap="none"/>
          <a:lstStyle/>
          <a:p>
            <a:pPr>
              <a:buFont typeface="Wingdings" pitchFamily="2" charset="2"/>
              <a:buChar char="§"/>
            </a:pPr>
            <a:r>
              <a:rPr lang="en-US" altLang="ko-KR" sz="1200" dirty="0">
                <a:latin typeface="맑은 고딕" pitchFamily="50" charset="-127"/>
                <a:ea typeface="맑은 고딕" pitchFamily="50" charset="-127"/>
              </a:rPr>
              <a:t> Check contribution by item</a:t>
            </a:r>
          </a:p>
        </p:txBody>
      </p:sp>
      <p:sp>
        <p:nvSpPr>
          <p:cNvPr id="16" name="자유형 15"/>
          <p:cNvSpPr/>
          <p:nvPr/>
        </p:nvSpPr>
        <p:spPr bwMode="auto">
          <a:xfrm rot="16200000">
            <a:off x="6164507" y="5783507"/>
            <a:ext cx="1000125" cy="158262"/>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32" name="Rectangle 5"/>
          <p:cNvSpPr>
            <a:spLocks noChangeArrowheads="1"/>
          </p:cNvSpPr>
          <p:nvPr/>
        </p:nvSpPr>
        <p:spPr bwMode="auto">
          <a:xfrm>
            <a:off x="6821366" y="5407025"/>
            <a:ext cx="2036885" cy="812800"/>
          </a:xfrm>
          <a:prstGeom prst="rect">
            <a:avLst/>
          </a:prstGeom>
          <a:noFill/>
          <a:ln w="9525" algn="ctr">
            <a:noFill/>
            <a:miter lim="800000"/>
            <a:headEnd/>
            <a:tailEnd/>
          </a:ln>
        </p:spPr>
        <p:txBody>
          <a:bodyPr wrap="none"/>
          <a:lstStyle/>
          <a:p>
            <a:pPr>
              <a:buFont typeface="Wingdings" pitchFamily="2" charset="2"/>
              <a:buChar char="§"/>
            </a:pPr>
            <a:r>
              <a:rPr lang="en-US" altLang="ko-KR" sz="1200" dirty="0">
                <a:latin typeface="맑은 고딕" pitchFamily="50" charset="-127"/>
                <a:ea typeface="맑은 고딕" pitchFamily="50" charset="-127"/>
              </a:rPr>
              <a:t> </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Check</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&amp; Evaluation </a:t>
            </a:r>
          </a:p>
          <a:p>
            <a:r>
              <a:rPr lang="en-US" altLang="ko-KR" sz="1200" dirty="0">
                <a:latin typeface="맑은 고딕" pitchFamily="50" charset="-127"/>
                <a:ea typeface="맑은 고딕" pitchFamily="50" charset="-127"/>
              </a:rPr>
              <a:t>   %Study, %Tolerance</a:t>
            </a:r>
          </a:p>
          <a:p>
            <a:r>
              <a:rPr lang="en-US" altLang="ko-KR" sz="1200" dirty="0">
                <a:latin typeface="맑은 고딕" pitchFamily="50" charset="-127"/>
                <a:ea typeface="맑은 고딕" pitchFamily="50" charset="-127"/>
              </a:rPr>
              <a:t>   by item</a:t>
            </a:r>
          </a:p>
          <a:p>
            <a:r>
              <a:rPr lang="en-US" altLang="ko-KR" sz="1200" dirty="0">
                <a:latin typeface="맑은 고딕" pitchFamily="50" charset="-127"/>
                <a:ea typeface="맑은 고딕" pitchFamily="50" charset="-127"/>
              </a:rPr>
              <a:t>   (10%</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or Under, OK)</a:t>
            </a:r>
          </a:p>
          <a:p>
            <a:r>
              <a:rPr lang="en-US" altLang="ko-KR" sz="1200" dirty="0">
                <a:latin typeface="맑은 고딕" pitchFamily="50" charset="-127"/>
                <a:ea typeface="맑은 고딕" pitchFamily="50" charset="-127"/>
              </a:rPr>
              <a:t>  NDC = 15 &gt; 5 OK</a:t>
            </a: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104</a:t>
            </a:fld>
            <a:endParaRPr lang="ko-KR" altLang="en-US" dirty="0"/>
          </a:p>
        </p:txBody>
      </p:sp>
      <p:sp>
        <p:nvSpPr>
          <p:cNvPr id="4" name="직사각형 3"/>
          <p:cNvSpPr/>
          <p:nvPr/>
        </p:nvSpPr>
        <p:spPr>
          <a:xfrm>
            <a:off x="1709936" y="4941168"/>
            <a:ext cx="5310336" cy="1615827"/>
          </a:xfrm>
          <a:prstGeom prst="rect">
            <a:avLst/>
          </a:prstGeom>
        </p:spPr>
        <p:txBody>
          <a:bodyPr wrap="square">
            <a:spAutoFit/>
          </a:bodyPr>
          <a:lstStyle/>
          <a:p>
            <a:r>
              <a:rPr lang="en-US" altLang="ko-KR" sz="1100" b="1" dirty="0">
                <a:latin typeface="굴림체" panose="020B0609000101010101" pitchFamily="49" charset="-127"/>
                <a:ea typeface="굴림체" panose="020B0609000101010101" pitchFamily="49" charset="-127"/>
              </a:rPr>
              <a:t>                                Study </a:t>
            </a:r>
            <a:r>
              <a:rPr lang="en-US" altLang="ko-KR" sz="1100" b="1" dirty="0" err="1">
                <a:latin typeface="굴림체" panose="020B0609000101010101" pitchFamily="49" charset="-127"/>
                <a:ea typeface="굴림체" panose="020B0609000101010101" pitchFamily="49" charset="-127"/>
              </a:rPr>
              <a:t>Var</a:t>
            </a:r>
            <a:r>
              <a:rPr lang="en-US" altLang="ko-KR" sz="1100" b="1" dirty="0">
                <a:latin typeface="굴림체" panose="020B0609000101010101" pitchFamily="49" charset="-127"/>
                <a:ea typeface="굴림체" panose="020B0609000101010101" pitchFamily="49" charset="-127"/>
              </a:rPr>
              <a:t>  %Study </a:t>
            </a:r>
            <a:r>
              <a:rPr lang="en-US" altLang="ko-KR" sz="1100" b="1" dirty="0" err="1">
                <a:latin typeface="굴림체" panose="020B0609000101010101" pitchFamily="49" charset="-127"/>
                <a:ea typeface="굴림체" panose="020B0609000101010101" pitchFamily="49" charset="-127"/>
              </a:rPr>
              <a:t>Var</a:t>
            </a:r>
            <a:r>
              <a:rPr lang="en-US" altLang="ko-KR" sz="1100" b="1" dirty="0">
                <a:latin typeface="굴림체" panose="020B0609000101010101" pitchFamily="49" charset="-127"/>
                <a:ea typeface="굴림체" panose="020B0609000101010101" pitchFamily="49" charset="-127"/>
              </a:rPr>
              <a:t>  %Tolerance</a:t>
            </a:r>
          </a:p>
          <a:p>
            <a:r>
              <a:rPr lang="en-US" altLang="ko-KR" sz="1100" b="1" dirty="0">
                <a:latin typeface="굴림체" panose="020B0609000101010101" pitchFamily="49" charset="-127"/>
                <a:ea typeface="굴림체" panose="020B0609000101010101" pitchFamily="49" charset="-127"/>
              </a:rPr>
              <a:t>Source             </a:t>
            </a:r>
            <a:r>
              <a:rPr lang="en-US" altLang="ko-KR" sz="1100" b="1" dirty="0" err="1">
                <a:latin typeface="굴림체" panose="020B0609000101010101" pitchFamily="49" charset="-127"/>
                <a:ea typeface="굴림체" panose="020B0609000101010101" pitchFamily="49" charset="-127"/>
              </a:rPr>
              <a:t>StdDev</a:t>
            </a:r>
            <a:r>
              <a:rPr lang="en-US" altLang="ko-KR" sz="1100" b="1" dirty="0">
                <a:latin typeface="굴림체" panose="020B0609000101010101" pitchFamily="49" charset="-127"/>
                <a:ea typeface="굴림체" panose="020B0609000101010101" pitchFamily="49" charset="-127"/>
              </a:rPr>
              <a:t> (SD)  (6 × SD)       (%SV)  (SV/Toler)</a:t>
            </a:r>
          </a:p>
          <a:p>
            <a:r>
              <a:rPr lang="pt-BR" altLang="ko-KR" sz="1100" b="1" dirty="0">
                <a:latin typeface="굴림체" panose="020B0609000101010101" pitchFamily="49" charset="-127"/>
                <a:ea typeface="굴림체" panose="020B0609000101010101" pitchFamily="49" charset="-127"/>
              </a:rPr>
              <a:t>Total Gage R&amp;R        0.052058    0.31235        9.33       10.77</a:t>
            </a:r>
          </a:p>
          <a:p>
            <a:r>
              <a:rPr lang="en-US" altLang="ko-KR" sz="1100" b="1" dirty="0">
                <a:latin typeface="굴림체" panose="020B0609000101010101" pitchFamily="49" charset="-127"/>
                <a:ea typeface="굴림체" panose="020B0609000101010101" pitchFamily="49" charset="-127"/>
              </a:rPr>
              <a:t>  Repeatability       0.052058    0.31235        9.33       10.77</a:t>
            </a:r>
          </a:p>
          <a:p>
            <a:r>
              <a:rPr lang="es-ES" altLang="ko-KR" sz="1100" b="1" dirty="0">
                <a:latin typeface="굴림체" panose="020B0609000101010101" pitchFamily="49" charset="-127"/>
                <a:ea typeface="굴림체" panose="020B0609000101010101" pitchFamily="49" charset="-127"/>
              </a:rPr>
              <a:t>  Reproducibility     0.000000    0.00000        0.00        0.00</a:t>
            </a:r>
          </a:p>
          <a:p>
            <a:r>
              <a:rPr lang="en-US" altLang="ko-KR" sz="1100" b="1" dirty="0">
                <a:latin typeface="굴림체" panose="020B0609000101010101" pitchFamily="49" charset="-127"/>
                <a:ea typeface="굴림체" panose="020B0609000101010101" pitchFamily="49" charset="-127"/>
              </a:rPr>
              <a:t>Part-To-Part          0.555324    3.33195       99.56      114.89</a:t>
            </a:r>
          </a:p>
          <a:p>
            <a:r>
              <a:rPr lang="en-US" altLang="ko-KR" sz="1100" b="1" dirty="0">
                <a:latin typeface="굴림체" panose="020B0609000101010101" pitchFamily="49" charset="-127"/>
                <a:ea typeface="굴림체" panose="020B0609000101010101" pitchFamily="49" charset="-127"/>
              </a:rPr>
              <a:t>Total Variation       0.557759    3.34655      100.00      115.40</a:t>
            </a:r>
          </a:p>
          <a:p>
            <a:endParaRPr lang="ko-KR" altLang="en-US" sz="1100" b="1" dirty="0">
              <a:latin typeface="굴림체" panose="020B0609000101010101" pitchFamily="49" charset="-127"/>
              <a:ea typeface="굴림체" panose="020B0609000101010101" pitchFamily="49" charset="-127"/>
            </a:endParaRPr>
          </a:p>
          <a:p>
            <a:r>
              <a:rPr lang="en-US" altLang="ko-KR" sz="1100" b="1" dirty="0">
                <a:latin typeface="굴림체" panose="020B0609000101010101" pitchFamily="49" charset="-127"/>
                <a:ea typeface="굴림체" panose="020B0609000101010101" pitchFamily="49" charset="-127"/>
              </a:rPr>
              <a:t>Number of Distinct Categories = 15</a:t>
            </a:r>
            <a:endParaRPr lang="ko-KR" altLang="en-US" sz="1100" b="1" dirty="0">
              <a:latin typeface="굴림체" panose="020B0609000101010101" pitchFamily="49" charset="-127"/>
              <a:ea typeface="굴림체" panose="020B0609000101010101" pitchFamily="49" charset="-127"/>
            </a:endParaRPr>
          </a:p>
        </p:txBody>
      </p:sp>
      <p:sp>
        <p:nvSpPr>
          <p:cNvPr id="18" name="TextBox 17"/>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19" name="직사각형 18"/>
          <p:cNvSpPr/>
          <p:nvPr/>
        </p:nvSpPr>
        <p:spPr>
          <a:xfrm>
            <a:off x="5286380" y="179348"/>
            <a:ext cx="3863558"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Destructive inspection</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396434543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961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48554" y="1103576"/>
            <a:ext cx="6779830" cy="4775807"/>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215044" name="Text Box 98"/>
          <p:cNvSpPr txBox="1">
            <a:spLocks noChangeArrowheads="1"/>
          </p:cNvSpPr>
          <p:nvPr/>
        </p:nvSpPr>
        <p:spPr bwMode="auto">
          <a:xfrm>
            <a:off x="5469572" y="4746651"/>
            <a:ext cx="2386231" cy="276999"/>
          </a:xfrm>
          <a:prstGeom prst="rect">
            <a:avLst/>
          </a:prstGeom>
          <a:noFill/>
          <a:ln w="12700" algn="ctr">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Part &amp; Operator Interaction X</a:t>
            </a:r>
          </a:p>
        </p:txBody>
      </p:sp>
      <p:sp>
        <p:nvSpPr>
          <p:cNvPr id="215045" name="직사각형 4"/>
          <p:cNvSpPr>
            <a:spLocks noChangeArrowheads="1"/>
          </p:cNvSpPr>
          <p:nvPr/>
        </p:nvSpPr>
        <p:spPr bwMode="auto">
          <a:xfrm>
            <a:off x="5366995" y="4675213"/>
            <a:ext cx="2373923" cy="1000125"/>
          </a:xfrm>
          <a:prstGeom prst="rect">
            <a:avLst/>
          </a:prstGeom>
          <a:noFill/>
          <a:ln w="12700" algn="ctr">
            <a:solidFill>
              <a:srgbClr val="FF0000"/>
            </a:solidFill>
            <a:prstDash val="dash"/>
            <a:round/>
            <a:headEnd/>
            <a:tailEnd/>
          </a:ln>
        </p:spPr>
        <p:txBody>
          <a:bodyPr/>
          <a:lstStyle/>
          <a:p>
            <a:pPr algn="ctr"/>
            <a:endParaRPr lang="ko-KR" altLang="en-US" sz="1000" dirty="0">
              <a:latin typeface="Arial" pitchFamily="34" charset="0"/>
            </a:endParaRPr>
          </a:p>
        </p:txBody>
      </p:sp>
      <p:sp>
        <p:nvSpPr>
          <p:cNvPr id="215046" name="Text Box 98"/>
          <p:cNvSpPr txBox="1">
            <a:spLocks noChangeArrowheads="1"/>
          </p:cNvSpPr>
          <p:nvPr/>
        </p:nvSpPr>
        <p:spPr bwMode="auto">
          <a:xfrm>
            <a:off x="1545272" y="5961088"/>
            <a:ext cx="3759427" cy="276999"/>
          </a:xfrm>
          <a:prstGeom prst="rect">
            <a:avLst/>
          </a:prstGeom>
          <a:noFill/>
          <a:ln w="12700" algn="ctr">
            <a:noFill/>
            <a:miter lim="800000"/>
            <a:headEnd/>
            <a:tailEnd/>
          </a:ln>
        </p:spPr>
        <p:txBody>
          <a:bodyPr wrap="none">
            <a:spAutoFit/>
          </a:bodyPr>
          <a:lstStyle/>
          <a:p>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b="1" dirty="0">
                <a:solidFill>
                  <a:srgbClr val="FF0000"/>
                </a:solidFill>
                <a:latin typeface="맑은 고딕" pitchFamily="50" charset="-127"/>
                <a:ea typeface="맑은 고딕" pitchFamily="50" charset="-127"/>
              </a:rPr>
              <a:t>The analysis standard is the same as Crossed.</a:t>
            </a: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105</a:t>
            </a:fld>
            <a:endParaRPr lang="ko-KR" altLang="en-US" dirty="0"/>
          </a:p>
        </p:txBody>
      </p:sp>
      <p:sp>
        <p:nvSpPr>
          <p:cNvPr id="8" name="TextBox 7"/>
          <p:cNvSpPr txBox="1"/>
          <p:nvPr/>
        </p:nvSpPr>
        <p:spPr>
          <a:xfrm>
            <a:off x="179512" y="148570"/>
            <a:ext cx="3281155" cy="400110"/>
          </a:xfrm>
          <a:prstGeom prst="rect">
            <a:avLst/>
          </a:prstGeom>
          <a:noFill/>
        </p:spPr>
        <p:txBody>
          <a:bodyPr wrap="none" rtlCol="0">
            <a:spAutoFit/>
          </a:bodyPr>
          <a:lstStyle/>
          <a:p>
            <a:r>
              <a:rPr lang="en-US" altLang="ko-KR" sz="2000" b="1" dirty="0"/>
              <a:t>Type 2 Study Case study</a:t>
            </a:r>
            <a:r>
              <a:rPr lang="ko-KR" altLang="en-US" sz="2000" b="1" dirty="0"/>
              <a:t> </a:t>
            </a:r>
          </a:p>
        </p:txBody>
      </p:sp>
      <p:sp>
        <p:nvSpPr>
          <p:cNvPr id="9" name="직사각형 8"/>
          <p:cNvSpPr/>
          <p:nvPr/>
        </p:nvSpPr>
        <p:spPr>
          <a:xfrm>
            <a:off x="5286380" y="179348"/>
            <a:ext cx="3863558" cy="369332"/>
          </a:xfrm>
          <a:prstGeom prst="rect">
            <a:avLst/>
          </a:prstGeom>
        </p:spPr>
        <p:txBody>
          <a:bodyPr wrap="none">
            <a:spAutoFit/>
          </a:bodyPr>
          <a:lstStyle/>
          <a:p>
            <a:pPr>
              <a:defRPr/>
            </a:pPr>
            <a:r>
              <a:rPr lang="en-US" altLang="ko-KR" b="1" kern="0" dirty="0">
                <a:solidFill>
                  <a:sysClr val="windowText" lastClr="000000">
                    <a:lumMod val="75000"/>
                    <a:lumOff val="25000"/>
                  </a:sysClr>
                </a:solidFill>
                <a:latin typeface="맑은 고딕" pitchFamily="50" charset="-127"/>
                <a:ea typeface="맑은 고딕" pitchFamily="50" charset="-127"/>
              </a:rPr>
              <a:t>Destructive inspection</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59660731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4018"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4020" y="3668713"/>
            <a:ext cx="3292719" cy="1016000"/>
          </a:xfrm>
          <a:prstGeom prst="rect">
            <a:avLst/>
          </a:prstGeom>
          <a:noFill/>
          <a:ln w="9525">
            <a:noFill/>
            <a:miter lim="800000"/>
            <a:headEnd/>
            <a:tailEnd/>
          </a:ln>
        </p:spPr>
      </p:pic>
      <p:pic>
        <p:nvPicPr>
          <p:cNvPr id="21402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72813" y="900114"/>
            <a:ext cx="4215911" cy="2605087"/>
          </a:xfrm>
          <a:prstGeom prst="rect">
            <a:avLst/>
          </a:prstGeom>
          <a:noFill/>
          <a:ln w="9525">
            <a:noFill/>
            <a:miter lim="800000"/>
            <a:headEnd/>
            <a:tailEnd/>
          </a:ln>
        </p:spPr>
      </p:pic>
      <p:sp>
        <p:nvSpPr>
          <p:cNvPr id="214022" name="Text Box 5"/>
          <p:cNvSpPr txBox="1">
            <a:spLocks noChangeArrowheads="1"/>
          </p:cNvSpPr>
          <p:nvPr/>
        </p:nvSpPr>
        <p:spPr bwMode="auto">
          <a:xfrm>
            <a:off x="184639" y="895350"/>
            <a:ext cx="1579049" cy="461665"/>
          </a:xfrm>
          <a:prstGeom prst="rect">
            <a:avLst/>
          </a:prstGeom>
          <a:noFill/>
          <a:ln w="9525" algn="ctr">
            <a:noFill/>
            <a:miter lim="800000"/>
            <a:headEnd/>
            <a:tailEnd/>
          </a:ln>
        </p:spPr>
        <p:txBody>
          <a:bodyPr wrap="square">
            <a:spAutoFit/>
          </a:bodyPr>
          <a:lstStyle/>
          <a:p>
            <a:r>
              <a:rPr lang="en-US" altLang="ko-KR" sz="1200" b="1" dirty="0" err="1">
                <a:latin typeface="맑은 고딕" pitchFamily="50" charset="-127"/>
                <a:ea typeface="맑은 고딕" pitchFamily="50" charset="-127"/>
              </a:rPr>
              <a:t>Giải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thích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kết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quả</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  (1) ANOVA Table</a:t>
            </a:r>
          </a:p>
        </p:txBody>
      </p:sp>
      <p:sp>
        <p:nvSpPr>
          <p:cNvPr id="214023" name="Rectangle 6"/>
          <p:cNvSpPr>
            <a:spLocks noChangeArrowheads="1"/>
          </p:cNvSpPr>
          <p:nvPr/>
        </p:nvSpPr>
        <p:spPr bwMode="auto">
          <a:xfrm>
            <a:off x="886659" y="3509964"/>
            <a:ext cx="2032288"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(2) Variance Components</a:t>
            </a:r>
          </a:p>
        </p:txBody>
      </p:sp>
      <p:sp>
        <p:nvSpPr>
          <p:cNvPr id="214024" name="Rectangle 7"/>
          <p:cNvSpPr>
            <a:spLocks noChangeArrowheads="1"/>
          </p:cNvSpPr>
          <p:nvPr/>
        </p:nvSpPr>
        <p:spPr bwMode="auto">
          <a:xfrm>
            <a:off x="858273" y="4735514"/>
            <a:ext cx="2313262"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(3) Gage R&amp;R Characteristics</a:t>
            </a:r>
          </a:p>
        </p:txBody>
      </p:sp>
      <p:sp>
        <p:nvSpPr>
          <p:cNvPr id="9" name="자유형 8"/>
          <p:cNvSpPr/>
          <p:nvPr/>
        </p:nvSpPr>
        <p:spPr bwMode="auto">
          <a:xfrm rot="16200000">
            <a:off x="5546615" y="1607405"/>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26" name="Rectangle 5"/>
          <p:cNvSpPr>
            <a:spLocks noChangeArrowheads="1"/>
          </p:cNvSpPr>
          <p:nvPr/>
        </p:nvSpPr>
        <p:spPr bwMode="auto">
          <a:xfrm>
            <a:off x="5992402" y="1541463"/>
            <a:ext cx="3116102" cy="296862"/>
          </a:xfrm>
          <a:prstGeom prst="rect">
            <a:avLst/>
          </a:prstGeom>
          <a:noFill/>
          <a:ln w="9525" algn="ctr">
            <a:noFill/>
            <a:miter lim="800000"/>
            <a:headEnd/>
            <a:tailEnd/>
          </a:ln>
        </p:spPr>
        <p:txBody>
          <a:bodyPr wrap="none" anchor="ctr"/>
          <a:lstStyle/>
          <a:p>
            <a:pPr>
              <a:buFont typeface="Wingdings" pitchFamily="2" charset="2"/>
              <a:buChar char="§"/>
            </a:pPr>
            <a:r>
              <a:rPr lang="en-US" altLang="ko-KR" sz="1200" dirty="0">
                <a:latin typeface="맑은 고딕" pitchFamily="50" charset="-127"/>
                <a:ea typeface="맑은 고딕" pitchFamily="50" charset="-127"/>
              </a:rPr>
              <a:t> Gage Info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thông</a:t>
            </a:r>
            <a:r>
              <a:rPr lang="en-US" altLang="ko-KR" sz="1200" dirty="0">
                <a:latin typeface="맑은 고딕" pitchFamily="50" charset="-127"/>
                <a:ea typeface="맑은 고딕" pitchFamily="50" charset="-127"/>
              </a:rPr>
              <a:t> tin </a:t>
            </a:r>
            <a:r>
              <a:rPr lang="en-US" altLang="ko-KR" sz="1200" dirty="0" err="1">
                <a:latin typeface="맑은 고딕" pitchFamily="50" charset="-127"/>
                <a:ea typeface="맑은 고딕" pitchFamily="50" charset="-127"/>
              </a:rPr>
              <a:t>nhập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vào</a:t>
            </a:r>
            <a:endParaRPr lang="en-US" altLang="ko-KR" sz="1200" dirty="0">
              <a:latin typeface="맑은 고딕" pitchFamily="50" charset="-127"/>
              <a:ea typeface="맑은 고딕" pitchFamily="50" charset="-127"/>
            </a:endParaRPr>
          </a:p>
        </p:txBody>
      </p:sp>
      <p:sp>
        <p:nvSpPr>
          <p:cNvPr id="11" name="자유형 10"/>
          <p:cNvSpPr/>
          <p:nvPr/>
        </p:nvSpPr>
        <p:spPr bwMode="auto">
          <a:xfrm rot="16200000">
            <a:off x="5546615" y="2991705"/>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28" name="Rectangle 5"/>
          <p:cNvSpPr>
            <a:spLocks noChangeArrowheads="1"/>
          </p:cNvSpPr>
          <p:nvPr/>
        </p:nvSpPr>
        <p:spPr bwMode="auto">
          <a:xfrm>
            <a:off x="6012160" y="2714626"/>
            <a:ext cx="2915816" cy="714375"/>
          </a:xfrm>
          <a:prstGeom prst="rect">
            <a:avLst/>
          </a:prstGeom>
          <a:noFill/>
          <a:ln w="9525" algn="ctr">
            <a:noFill/>
            <a:miter lim="800000"/>
            <a:headEnd/>
            <a:tailEnd/>
          </a:ln>
        </p:spPr>
        <p:txBody>
          <a:bodyPr wrap="none"/>
          <a:lstStyle/>
          <a:p>
            <a:pPr>
              <a:buFont typeface="Wingdings" pitchFamily="2" charset="2"/>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P </a:t>
            </a:r>
            <a:r>
              <a:rPr lang="en-US" altLang="ko-KR" sz="1200" dirty="0" err="1">
                <a:latin typeface="맑은 고딕" pitchFamily="50" charset="-127"/>
                <a:ea typeface="맑은 고딕" pitchFamily="50" charset="-127"/>
              </a:rPr>
              <a:t>theo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mục</a:t>
            </a:r>
            <a:endParaRPr lang="en-US" altLang="ko-KR" sz="1200" dirty="0">
              <a:latin typeface="맑은 고딕" pitchFamily="50" charset="-127"/>
              <a:ea typeface="맑은 고딕" pitchFamily="50" charset="-127"/>
            </a:endParaRPr>
          </a:p>
          <a:p>
            <a:pPr>
              <a:buFont typeface="Wingdings" pitchFamily="2" charset="2"/>
              <a:buChar char="§"/>
            </a:pPr>
            <a:r>
              <a:rPr lang="en-US" altLang="ko-KR" sz="1200" dirty="0">
                <a:latin typeface="맑은 고딕" pitchFamily="50" charset="-127"/>
                <a:ea typeface="맑은 고딕" pitchFamily="50" charset="-127"/>
              </a:rPr>
              <a:t> Operator</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0.961 &gt; 0.05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ý </a:t>
            </a:r>
            <a:r>
              <a:rPr lang="en-US" altLang="ko-KR" sz="1200" dirty="0" err="1">
                <a:latin typeface="맑은 고딕" pitchFamily="50" charset="-127"/>
                <a:ea typeface="맑은 고딕" pitchFamily="50" charset="-127"/>
              </a:rPr>
              <a:t>nghĩa</a:t>
            </a:r>
            <a:endParaRPr lang="en-US" altLang="ko-KR" sz="1200" dirty="0">
              <a:latin typeface="맑은 고딕" pitchFamily="50" charset="-127"/>
              <a:ea typeface="맑은 고딕" pitchFamily="50" charset="-127"/>
            </a:endParaRPr>
          </a:p>
          <a:p>
            <a:pPr>
              <a:buFont typeface="Wingdings" pitchFamily="2" charset="2"/>
              <a:buChar char="§"/>
            </a:pPr>
            <a:r>
              <a:rPr lang="en-US" altLang="ko-KR" sz="1200" dirty="0">
                <a:latin typeface="맑은 고딕" pitchFamily="50" charset="-127"/>
                <a:ea typeface="맑은 고딕" pitchFamily="50" charset="-127"/>
              </a:rPr>
              <a:t> Batch      0.000 &lt; 0.05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ý </a:t>
            </a:r>
            <a:r>
              <a:rPr lang="en-US" altLang="ko-KR" sz="1200" dirty="0" err="1">
                <a:latin typeface="맑은 고딕" pitchFamily="50" charset="-127"/>
                <a:ea typeface="맑은 고딕" pitchFamily="50" charset="-127"/>
              </a:rPr>
              <a:t>nghĩa</a:t>
            </a:r>
            <a:endParaRPr lang="en-US" altLang="ko-KR" sz="1200" dirty="0">
              <a:latin typeface="맑은 고딕" pitchFamily="50" charset="-127"/>
              <a:ea typeface="맑은 고딕" pitchFamily="50" charset="-127"/>
            </a:endParaRPr>
          </a:p>
        </p:txBody>
      </p:sp>
      <p:sp>
        <p:nvSpPr>
          <p:cNvPr id="13" name="자유형 12"/>
          <p:cNvSpPr/>
          <p:nvPr/>
        </p:nvSpPr>
        <p:spPr bwMode="auto">
          <a:xfrm rot="16200000">
            <a:off x="5546615" y="4160105"/>
            <a:ext cx="796925" cy="153866"/>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30" name="Rectangle 5"/>
          <p:cNvSpPr>
            <a:spLocks noChangeArrowheads="1"/>
          </p:cNvSpPr>
          <p:nvPr/>
        </p:nvSpPr>
        <p:spPr bwMode="auto">
          <a:xfrm>
            <a:off x="6012160" y="3883026"/>
            <a:ext cx="2571750" cy="714375"/>
          </a:xfrm>
          <a:prstGeom prst="rect">
            <a:avLst/>
          </a:prstGeom>
          <a:noFill/>
          <a:ln w="9525" algn="ctr">
            <a:noFill/>
            <a:miter lim="800000"/>
            <a:headEnd/>
            <a:tailEnd/>
          </a:ln>
        </p:spPr>
        <p:txBody>
          <a:bodyPr wrap="none"/>
          <a:lstStyle/>
          <a:p>
            <a:pPr>
              <a:buFont typeface="Wingdings" pitchFamily="2" charset="2"/>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đóng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góp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theo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từng</a:t>
            </a:r>
            <a:endParaRPr lang="en-US" altLang="ko-KR" sz="1200" dirty="0">
              <a:latin typeface="맑은 고딕" pitchFamily="50" charset="-127"/>
              <a:ea typeface="맑은 고딕" pitchFamily="50" charset="-127"/>
            </a:endParaRPr>
          </a:p>
          <a:p>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mục</a:t>
            </a:r>
            <a:endParaRPr lang="en-US" altLang="ko-KR" sz="1200" dirty="0">
              <a:latin typeface="맑은 고딕" pitchFamily="50" charset="-127"/>
              <a:ea typeface="맑은 고딕" pitchFamily="50" charset="-127"/>
            </a:endParaRPr>
          </a:p>
        </p:txBody>
      </p:sp>
      <p:sp>
        <p:nvSpPr>
          <p:cNvPr id="16" name="자유형 15"/>
          <p:cNvSpPr/>
          <p:nvPr/>
        </p:nvSpPr>
        <p:spPr bwMode="auto">
          <a:xfrm rot="16200000">
            <a:off x="6023277" y="5783507"/>
            <a:ext cx="1000125" cy="158262"/>
          </a:xfrm>
          <a:custGeom>
            <a:avLst/>
            <a:gdLst>
              <a:gd name="connsiteX0" fmla="*/ 0 w 3075709"/>
              <a:gd name="connsiteY0" fmla="*/ 0 h 166254"/>
              <a:gd name="connsiteX1" fmla="*/ 0 w 3075709"/>
              <a:gd name="connsiteY1" fmla="*/ 166254 h 166254"/>
              <a:gd name="connsiteX2" fmla="*/ 3075709 w 3075709"/>
              <a:gd name="connsiteY2" fmla="*/ 166254 h 166254"/>
              <a:gd name="connsiteX3" fmla="*/ 3075709 w 3075709"/>
              <a:gd name="connsiteY3" fmla="*/ 0 h 166254"/>
            </a:gdLst>
            <a:ahLst/>
            <a:cxnLst>
              <a:cxn ang="0">
                <a:pos x="connsiteX0" y="connsiteY0"/>
              </a:cxn>
              <a:cxn ang="0">
                <a:pos x="connsiteX1" y="connsiteY1"/>
              </a:cxn>
              <a:cxn ang="0">
                <a:pos x="connsiteX2" y="connsiteY2"/>
              </a:cxn>
              <a:cxn ang="0">
                <a:pos x="connsiteX3" y="connsiteY3"/>
              </a:cxn>
            </a:cxnLst>
            <a:rect l="l" t="t" r="r" b="b"/>
            <a:pathLst>
              <a:path w="3075709" h="166254">
                <a:moveTo>
                  <a:pt x="0" y="0"/>
                </a:moveTo>
                <a:lnTo>
                  <a:pt x="0" y="166254"/>
                </a:lnTo>
                <a:lnTo>
                  <a:pt x="3075709" y="166254"/>
                </a:lnTo>
                <a:lnTo>
                  <a:pt x="3075709" y="0"/>
                </a:lnTo>
              </a:path>
            </a:pathLst>
          </a:custGeom>
          <a:noFill/>
          <a:ln w="12700" cap="flat" cmpd="sng" algn="ctr">
            <a:solidFill>
              <a:schemeClr val="bg1">
                <a:lumMod val="65000"/>
              </a:schemeClr>
            </a:solidFill>
            <a:prstDash val="solid"/>
            <a:round/>
            <a:headEnd type="none" w="med" len="med"/>
            <a:tailEnd type="none" w="med" len="med"/>
          </a:ln>
          <a:effectLst/>
        </p:spPr>
        <p:txBody>
          <a:bodyPr anchor="ctr"/>
          <a:lstStyle/>
          <a:p>
            <a:pPr algn="ctr">
              <a:defRPr/>
            </a:pPr>
            <a:endParaRPr lang="ko-KR" altLang="en-US" dirty="0">
              <a:latin typeface="맑은 고딕" pitchFamily="50" charset="-127"/>
              <a:ea typeface="맑은 고딕" pitchFamily="50" charset="-127"/>
            </a:endParaRPr>
          </a:p>
        </p:txBody>
      </p:sp>
      <p:sp>
        <p:nvSpPr>
          <p:cNvPr id="214032" name="Rectangle 5"/>
          <p:cNvSpPr>
            <a:spLocks noChangeArrowheads="1"/>
          </p:cNvSpPr>
          <p:nvPr/>
        </p:nvSpPr>
        <p:spPr bwMode="auto">
          <a:xfrm>
            <a:off x="6569846" y="5407025"/>
            <a:ext cx="2322634" cy="812800"/>
          </a:xfrm>
          <a:prstGeom prst="rect">
            <a:avLst/>
          </a:prstGeom>
          <a:noFill/>
          <a:ln w="9525" algn="ctr">
            <a:noFill/>
            <a:miter lim="800000"/>
            <a:headEnd/>
            <a:tailEnd/>
          </a:ln>
        </p:spPr>
        <p:txBody>
          <a:bodyPr wrap="none"/>
          <a:lstStyle/>
          <a:p>
            <a:pPr>
              <a:buFont typeface="Wingdings" pitchFamily="2" charset="2"/>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%Study</a:t>
            </a:r>
          </a:p>
          <a:p>
            <a:r>
              <a:rPr lang="en-US" altLang="ko-KR" sz="1200" dirty="0">
                <a:latin typeface="맑은 고딕" pitchFamily="50" charset="-127"/>
                <a:ea typeface="맑은 고딕" pitchFamily="50" charset="-127"/>
              </a:rPr>
              <a:t> %Tolerance </a:t>
            </a:r>
            <a:r>
              <a:rPr lang="en-US" altLang="ko-KR" sz="1200" dirty="0" err="1">
                <a:latin typeface="맑은 고딕" pitchFamily="50" charset="-127"/>
                <a:ea typeface="맑은 고딕" pitchFamily="50" charset="-127"/>
              </a:rPr>
              <a:t>theo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mục</a:t>
            </a:r>
            <a:r>
              <a:rPr lang="en-US" altLang="ko-KR" sz="1200" dirty="0">
                <a:latin typeface="맑은 고딕" pitchFamily="50" charset="-127"/>
                <a:ea typeface="맑은 고딕" pitchFamily="50" charset="-127"/>
              </a:rPr>
              <a:t> </a:t>
            </a:r>
          </a:p>
          <a:p>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dưới</a:t>
            </a:r>
            <a:r>
              <a:rPr lang="en-US" altLang="ko-KR" sz="1200" dirty="0">
                <a:latin typeface="맑은 고딕" pitchFamily="50" charset="-127"/>
                <a:ea typeface="맑은 고딕" pitchFamily="50" charset="-127"/>
              </a:rPr>
              <a:t> 10%</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OK)</a:t>
            </a:r>
          </a:p>
          <a:p>
            <a:r>
              <a:rPr lang="en-US" altLang="ko-KR" sz="1200" dirty="0">
                <a:latin typeface="맑은 고딕" pitchFamily="50" charset="-127"/>
                <a:ea typeface="맑은 고딕" pitchFamily="50" charset="-127"/>
              </a:rPr>
              <a:t>  NDC = 15 &gt; 5 OK</a:t>
            </a: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106</a:t>
            </a:fld>
            <a:endParaRPr lang="ko-KR" altLang="en-US" dirty="0"/>
          </a:p>
        </p:txBody>
      </p:sp>
      <p:sp>
        <p:nvSpPr>
          <p:cNvPr id="4" name="직사각형 3"/>
          <p:cNvSpPr/>
          <p:nvPr/>
        </p:nvSpPr>
        <p:spPr>
          <a:xfrm>
            <a:off x="1709936" y="4941168"/>
            <a:ext cx="5310336" cy="1615827"/>
          </a:xfrm>
          <a:prstGeom prst="rect">
            <a:avLst/>
          </a:prstGeom>
        </p:spPr>
        <p:txBody>
          <a:bodyPr wrap="square">
            <a:spAutoFit/>
          </a:bodyPr>
          <a:lstStyle/>
          <a:p>
            <a:r>
              <a:rPr lang="en-US" altLang="ko-KR" sz="1100" b="1" dirty="0">
                <a:latin typeface="굴림체" panose="020B0609000101010101" pitchFamily="49" charset="-127"/>
                <a:ea typeface="굴림체" panose="020B0609000101010101" pitchFamily="49" charset="-127"/>
              </a:rPr>
              <a:t>                                Study </a:t>
            </a:r>
            <a:r>
              <a:rPr lang="en-US" altLang="ko-KR" sz="1100" b="1" dirty="0" err="1">
                <a:latin typeface="굴림체" panose="020B0609000101010101" pitchFamily="49" charset="-127"/>
                <a:ea typeface="굴림체" panose="020B0609000101010101" pitchFamily="49" charset="-127"/>
              </a:rPr>
              <a:t>Var</a:t>
            </a:r>
            <a:r>
              <a:rPr lang="en-US" altLang="ko-KR" sz="1100" b="1" dirty="0">
                <a:latin typeface="굴림체" panose="020B0609000101010101" pitchFamily="49" charset="-127"/>
                <a:ea typeface="굴림체" panose="020B0609000101010101" pitchFamily="49" charset="-127"/>
              </a:rPr>
              <a:t>  %Study </a:t>
            </a:r>
            <a:r>
              <a:rPr lang="en-US" altLang="ko-KR" sz="1100" b="1" dirty="0" err="1">
                <a:latin typeface="굴림체" panose="020B0609000101010101" pitchFamily="49" charset="-127"/>
                <a:ea typeface="굴림체" panose="020B0609000101010101" pitchFamily="49" charset="-127"/>
              </a:rPr>
              <a:t>Var</a:t>
            </a:r>
            <a:r>
              <a:rPr lang="en-US" altLang="ko-KR" sz="1100" b="1" dirty="0">
                <a:latin typeface="굴림체" panose="020B0609000101010101" pitchFamily="49" charset="-127"/>
                <a:ea typeface="굴림체" panose="020B0609000101010101" pitchFamily="49" charset="-127"/>
              </a:rPr>
              <a:t>  %Tolerance</a:t>
            </a:r>
          </a:p>
          <a:p>
            <a:r>
              <a:rPr lang="en-US" altLang="ko-KR" sz="1100" b="1" dirty="0">
                <a:latin typeface="굴림체" panose="020B0609000101010101" pitchFamily="49" charset="-127"/>
                <a:ea typeface="굴림체" panose="020B0609000101010101" pitchFamily="49" charset="-127"/>
              </a:rPr>
              <a:t>Source             </a:t>
            </a:r>
            <a:r>
              <a:rPr lang="en-US" altLang="ko-KR" sz="1100" b="1" dirty="0" err="1">
                <a:latin typeface="굴림체" panose="020B0609000101010101" pitchFamily="49" charset="-127"/>
                <a:ea typeface="굴림체" panose="020B0609000101010101" pitchFamily="49" charset="-127"/>
              </a:rPr>
              <a:t>StdDev</a:t>
            </a:r>
            <a:r>
              <a:rPr lang="en-US" altLang="ko-KR" sz="1100" b="1" dirty="0">
                <a:latin typeface="굴림체" panose="020B0609000101010101" pitchFamily="49" charset="-127"/>
                <a:ea typeface="굴림체" panose="020B0609000101010101" pitchFamily="49" charset="-127"/>
              </a:rPr>
              <a:t> (SD)  (6 × SD)       (%SV)  (SV/Toler)</a:t>
            </a:r>
          </a:p>
          <a:p>
            <a:r>
              <a:rPr lang="pt-BR" altLang="ko-KR" sz="1100" b="1" dirty="0">
                <a:latin typeface="굴림체" panose="020B0609000101010101" pitchFamily="49" charset="-127"/>
                <a:ea typeface="굴림체" panose="020B0609000101010101" pitchFamily="49" charset="-127"/>
              </a:rPr>
              <a:t>Total Gage R&amp;R        0.052058    0.31235        9.33       10.77</a:t>
            </a:r>
          </a:p>
          <a:p>
            <a:r>
              <a:rPr lang="en-US" altLang="ko-KR" sz="1100" b="1" dirty="0">
                <a:latin typeface="굴림체" panose="020B0609000101010101" pitchFamily="49" charset="-127"/>
                <a:ea typeface="굴림체" panose="020B0609000101010101" pitchFamily="49" charset="-127"/>
              </a:rPr>
              <a:t>  Repeatability       0.052058    0.31235        9.33       10.77</a:t>
            </a:r>
          </a:p>
          <a:p>
            <a:r>
              <a:rPr lang="es-ES" altLang="ko-KR" sz="1100" b="1" dirty="0">
                <a:latin typeface="굴림체" panose="020B0609000101010101" pitchFamily="49" charset="-127"/>
                <a:ea typeface="굴림체" panose="020B0609000101010101" pitchFamily="49" charset="-127"/>
              </a:rPr>
              <a:t>  Reproducibility     0.000000    0.00000        0.00        0.00</a:t>
            </a:r>
          </a:p>
          <a:p>
            <a:r>
              <a:rPr lang="en-US" altLang="ko-KR" sz="1100" b="1" dirty="0">
                <a:latin typeface="굴림체" panose="020B0609000101010101" pitchFamily="49" charset="-127"/>
                <a:ea typeface="굴림체" panose="020B0609000101010101" pitchFamily="49" charset="-127"/>
              </a:rPr>
              <a:t>Part-To-Part          0.555324    3.33195       99.56      114.89</a:t>
            </a:r>
          </a:p>
          <a:p>
            <a:r>
              <a:rPr lang="en-US" altLang="ko-KR" sz="1100" b="1" dirty="0">
                <a:latin typeface="굴림체" panose="020B0609000101010101" pitchFamily="49" charset="-127"/>
                <a:ea typeface="굴림체" panose="020B0609000101010101" pitchFamily="49" charset="-127"/>
              </a:rPr>
              <a:t>Total Variation       0.557759    3.34655      100.00      115.40</a:t>
            </a:r>
          </a:p>
          <a:p>
            <a:endParaRPr lang="ko-KR" altLang="en-US" sz="1100" b="1" dirty="0">
              <a:latin typeface="굴림체" panose="020B0609000101010101" pitchFamily="49" charset="-127"/>
              <a:ea typeface="굴림체" panose="020B0609000101010101" pitchFamily="49" charset="-127"/>
            </a:endParaRPr>
          </a:p>
          <a:p>
            <a:r>
              <a:rPr lang="en-US" altLang="ko-KR" sz="1100" b="1" dirty="0">
                <a:latin typeface="굴림체" panose="020B0609000101010101" pitchFamily="49" charset="-127"/>
                <a:ea typeface="굴림체" panose="020B0609000101010101" pitchFamily="49" charset="-127"/>
              </a:rPr>
              <a:t>Number of Distinct Categories = 15</a:t>
            </a:r>
            <a:endParaRPr lang="ko-KR" altLang="en-US" sz="1100" b="1" dirty="0">
              <a:latin typeface="굴림체" panose="020B0609000101010101" pitchFamily="49" charset="-127"/>
              <a:ea typeface="굴림체" panose="020B0609000101010101" pitchFamily="49" charset="-127"/>
            </a:endParaRPr>
          </a:p>
        </p:txBody>
      </p:sp>
      <p:sp>
        <p:nvSpPr>
          <p:cNvPr id="18" name="TextBox 17"/>
          <p:cNvSpPr txBox="1"/>
          <p:nvPr/>
        </p:nvSpPr>
        <p:spPr>
          <a:xfrm>
            <a:off x="179512" y="148570"/>
            <a:ext cx="4106702"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9" name="직사각형 18"/>
          <p:cNvSpPr/>
          <p:nvPr/>
        </p:nvSpPr>
        <p:spPr>
          <a:xfrm>
            <a:off x="5580112" y="179348"/>
            <a:ext cx="3488455" cy="369332"/>
          </a:xfrm>
          <a:prstGeom prst="rect">
            <a:avLst/>
          </a:prstGeom>
        </p:spPr>
        <p:txBody>
          <a:bodyPr wrap="none">
            <a:spAutoFit/>
          </a:bodyPr>
          <a:lstStyle/>
          <a:p>
            <a:pPr>
              <a:defRPr/>
            </a:pPr>
            <a:r>
              <a:rPr lang="en-US" altLang="ko-KR" b="1" kern="0" dirty="0" err="1">
                <a:solidFill>
                  <a:sysClr val="windowText" lastClr="000000">
                    <a:lumMod val="75000"/>
                    <a:lumOff val="25000"/>
                  </a:sysClr>
                </a:solidFill>
                <a:latin typeface="맑은 고딕" pitchFamily="50" charset="-127"/>
                <a:ea typeface="맑은 고딕" pitchFamily="50" charset="-127"/>
              </a:rPr>
              <a:t>Kiểm</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tra</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phá</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hỏng</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396434543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961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48554" y="1103576"/>
            <a:ext cx="6779830" cy="4775807"/>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215044" name="Text Box 98"/>
          <p:cNvSpPr txBox="1">
            <a:spLocks noChangeArrowheads="1"/>
          </p:cNvSpPr>
          <p:nvPr/>
        </p:nvSpPr>
        <p:spPr bwMode="auto">
          <a:xfrm>
            <a:off x="5469572" y="4746651"/>
            <a:ext cx="2386231" cy="276999"/>
          </a:xfrm>
          <a:prstGeom prst="rect">
            <a:avLst/>
          </a:prstGeom>
          <a:noFill/>
          <a:ln w="12700" algn="ctr">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Part &amp; Operator Interaction X</a:t>
            </a:r>
          </a:p>
        </p:txBody>
      </p:sp>
      <p:sp>
        <p:nvSpPr>
          <p:cNvPr id="215045" name="직사각형 4"/>
          <p:cNvSpPr>
            <a:spLocks noChangeArrowheads="1"/>
          </p:cNvSpPr>
          <p:nvPr/>
        </p:nvSpPr>
        <p:spPr bwMode="auto">
          <a:xfrm>
            <a:off x="5366995" y="4675213"/>
            <a:ext cx="2373923" cy="1000125"/>
          </a:xfrm>
          <a:prstGeom prst="rect">
            <a:avLst/>
          </a:prstGeom>
          <a:noFill/>
          <a:ln w="12700" algn="ctr">
            <a:solidFill>
              <a:srgbClr val="FF0000"/>
            </a:solidFill>
            <a:prstDash val="dash"/>
            <a:round/>
            <a:headEnd/>
            <a:tailEnd/>
          </a:ln>
        </p:spPr>
        <p:txBody>
          <a:bodyPr/>
          <a:lstStyle/>
          <a:p>
            <a:pPr algn="ctr"/>
            <a:endParaRPr lang="ko-KR" altLang="en-US" sz="1000" dirty="0">
              <a:latin typeface="Arial" pitchFamily="34" charset="0"/>
            </a:endParaRPr>
          </a:p>
        </p:txBody>
      </p:sp>
      <p:sp>
        <p:nvSpPr>
          <p:cNvPr id="215046" name="Text Box 98"/>
          <p:cNvSpPr txBox="1">
            <a:spLocks noChangeArrowheads="1"/>
          </p:cNvSpPr>
          <p:nvPr/>
        </p:nvSpPr>
        <p:spPr bwMode="auto">
          <a:xfrm>
            <a:off x="1545272" y="5961088"/>
            <a:ext cx="3575851" cy="276999"/>
          </a:xfrm>
          <a:prstGeom prst="rect">
            <a:avLst/>
          </a:prstGeom>
          <a:noFill/>
          <a:ln w="12700" algn="ctr">
            <a:noFill/>
            <a:miter lim="800000"/>
            <a:headEnd/>
            <a:tailEnd/>
          </a:ln>
        </p:spPr>
        <p:txBody>
          <a:bodyPr wrap="none">
            <a:spAutoFit/>
          </a:bodyPr>
          <a:lstStyle/>
          <a:p>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Tiêu</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chuẩn</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phân</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tích</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đồng</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nhất</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dirty="0" err="1">
                <a:solidFill>
                  <a:srgbClr val="FF0000"/>
                </a:solidFill>
                <a:latin typeface="맑은 고딕" pitchFamily="50" charset="-127"/>
                <a:ea typeface="맑은 고딕" pitchFamily="50" charset="-127"/>
                <a:sym typeface="Wingdings" pitchFamily="2" charset="2"/>
              </a:rPr>
              <a:t>với</a:t>
            </a:r>
            <a:r>
              <a:rPr lang="en-US" altLang="ko-KR" sz="1200" dirty="0">
                <a:solidFill>
                  <a:srgbClr val="FF0000"/>
                </a:solidFill>
                <a:latin typeface="맑은 고딕" pitchFamily="50" charset="-127"/>
                <a:ea typeface="맑은 고딕" pitchFamily="50" charset="-127"/>
                <a:sym typeface="Wingdings" pitchFamily="2" charset="2"/>
              </a:rPr>
              <a:t> </a:t>
            </a:r>
            <a:r>
              <a:rPr lang="en-US" altLang="ko-KR" sz="1200" b="1" dirty="0">
                <a:solidFill>
                  <a:srgbClr val="FF0000"/>
                </a:solidFill>
                <a:latin typeface="맑은 고딕" pitchFamily="50" charset="-127"/>
                <a:ea typeface="맑은 고딕" pitchFamily="50" charset="-127"/>
              </a:rPr>
              <a:t>Crossed</a:t>
            </a: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107</a:t>
            </a:fld>
            <a:endParaRPr lang="ko-KR" altLang="en-US" dirty="0"/>
          </a:p>
        </p:txBody>
      </p:sp>
      <p:sp>
        <p:nvSpPr>
          <p:cNvPr id="8" name="TextBox 7"/>
          <p:cNvSpPr txBox="1"/>
          <p:nvPr/>
        </p:nvSpPr>
        <p:spPr>
          <a:xfrm>
            <a:off x="179512" y="148570"/>
            <a:ext cx="3968843" cy="400110"/>
          </a:xfrm>
          <a:prstGeom prst="rect">
            <a:avLst/>
          </a:prstGeom>
          <a:noFill/>
        </p:spPr>
        <p:txBody>
          <a:bodyPr wrap="none" rtlCol="0">
            <a:spAutoFit/>
          </a:bodyPr>
          <a:lstStyle/>
          <a:p>
            <a:r>
              <a:rPr lang="en-US" altLang="ko-KR" sz="2000" b="1" dirty="0"/>
              <a:t>Type 2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9" name="직사각형 8"/>
          <p:cNvSpPr/>
          <p:nvPr/>
        </p:nvSpPr>
        <p:spPr>
          <a:xfrm>
            <a:off x="5580112" y="179348"/>
            <a:ext cx="3488455" cy="369332"/>
          </a:xfrm>
          <a:prstGeom prst="rect">
            <a:avLst/>
          </a:prstGeom>
        </p:spPr>
        <p:txBody>
          <a:bodyPr wrap="none">
            <a:spAutoFit/>
          </a:bodyPr>
          <a:lstStyle/>
          <a:p>
            <a:pPr>
              <a:defRPr/>
            </a:pPr>
            <a:r>
              <a:rPr lang="en-US" altLang="ko-KR" b="1" kern="0" dirty="0" err="1">
                <a:solidFill>
                  <a:sysClr val="windowText" lastClr="000000">
                    <a:lumMod val="75000"/>
                    <a:lumOff val="25000"/>
                  </a:sysClr>
                </a:solidFill>
                <a:latin typeface="맑은 고딕" pitchFamily="50" charset="-127"/>
                <a:ea typeface="맑은 고딕" pitchFamily="50" charset="-127"/>
              </a:rPr>
              <a:t>Kiểm</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tra</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phá</a:t>
            </a:r>
            <a:r>
              <a:rPr lang="en-US" altLang="ko-KR"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err="1">
                <a:solidFill>
                  <a:sysClr val="windowText" lastClr="000000">
                    <a:lumMod val="75000"/>
                    <a:lumOff val="25000"/>
                  </a:sysClr>
                </a:solidFill>
                <a:latin typeface="맑은 고딕" pitchFamily="50" charset="-127"/>
                <a:ea typeface="맑은 고딕" pitchFamily="50" charset="-127"/>
              </a:rPr>
              <a:t>hỏng</a:t>
            </a:r>
            <a:r>
              <a:rPr lang="ko-KR" altLang="en-US" b="1" kern="0" dirty="0">
                <a:solidFill>
                  <a:sysClr val="windowText" lastClr="000000">
                    <a:lumMod val="75000"/>
                    <a:lumOff val="25000"/>
                  </a:sysClr>
                </a:solidFill>
                <a:latin typeface="맑은 고딕" pitchFamily="50" charset="-127"/>
                <a:ea typeface="맑은 고딕" pitchFamily="50" charset="-127"/>
              </a:rPr>
              <a:t> </a:t>
            </a:r>
            <a:r>
              <a:rPr lang="en-US" altLang="ko-KR"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2400" b="1" kern="0" dirty="0">
              <a:solidFill>
                <a:srgbClr val="000000"/>
              </a:solidFill>
            </a:endParaRPr>
          </a:p>
        </p:txBody>
      </p:sp>
    </p:spTree>
    <p:extLst>
      <p:ext uri="{BB962C8B-B14F-4D97-AF65-F5344CB8AC3E}">
        <p14:creationId xmlns:p14="http://schemas.microsoft.com/office/powerpoint/2010/main" val="59660731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81155" cy="400110"/>
          </a:xfrm>
          <a:prstGeom prst="rect">
            <a:avLst/>
          </a:prstGeom>
          <a:noFill/>
        </p:spPr>
        <p:txBody>
          <a:bodyPr wrap="none" rtlCol="0">
            <a:spAutoFit/>
          </a:bodyPr>
          <a:lstStyle/>
          <a:p>
            <a:r>
              <a:rPr lang="en-US" altLang="ko-KR" sz="2000" b="1" dirty="0"/>
              <a:t>Type 3 Study Case study</a:t>
            </a:r>
            <a:r>
              <a:rPr lang="ko-KR" altLang="en-US" sz="2000" b="1" dirty="0"/>
              <a:t> </a:t>
            </a:r>
          </a:p>
        </p:txBody>
      </p:sp>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Automatic measuring device Data Gage R&amp;R </a:t>
            </a:r>
          </a:p>
        </p:txBody>
      </p:sp>
      <p:sp>
        <p:nvSpPr>
          <p:cNvPr id="5" name="직사각형 4"/>
          <p:cNvSpPr/>
          <p:nvPr/>
        </p:nvSpPr>
        <p:spPr>
          <a:xfrm>
            <a:off x="323528" y="1196752"/>
            <a:ext cx="8568952" cy="230368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6" name="TextBox 5"/>
          <p:cNvSpPr txBox="1"/>
          <p:nvPr/>
        </p:nvSpPr>
        <p:spPr>
          <a:xfrm>
            <a:off x="428597" y="1357298"/>
            <a:ext cx="8286808" cy="2071702"/>
          </a:xfrm>
          <a:prstGeom prst="rect">
            <a:avLst/>
          </a:prstGeom>
          <a:noFill/>
        </p:spPr>
        <p:txBody>
          <a:bodyPr wrap="square" rtlCol="0">
            <a:spAutoFit/>
          </a:bodyPr>
          <a:lstStyle/>
          <a:p>
            <a:pPr>
              <a:lnSpc>
                <a:spcPct val="150000"/>
              </a:lnSpc>
            </a:pPr>
            <a:r>
              <a:rPr lang="en-US" sz="1400" dirty="0"/>
              <a:t>We will perform Gage R &amp; R study on measurement system that measurement is done using </a:t>
            </a:r>
          </a:p>
          <a:p>
            <a:pPr>
              <a:lnSpc>
                <a:spcPct val="150000"/>
              </a:lnSpc>
            </a:pPr>
            <a:r>
              <a:rPr lang="en-US" sz="1400" dirty="0"/>
              <a:t>automatic measuring device. To do this, we took 25 parts randomly from the production process as a sample, presented the parts in random order, measured them using automatic measuring equipment, and performed the second iterative measurement in the same procedure, and obtained the </a:t>
            </a:r>
          </a:p>
          <a:p>
            <a:pPr>
              <a:lnSpc>
                <a:spcPct val="150000"/>
              </a:lnSpc>
            </a:pPr>
            <a:r>
              <a:rPr lang="en-US" sz="1400" dirty="0"/>
              <a:t>following data. The specifications of this part are LSL = 5.97 and USL = 6.03. Perform a Gage R &amp; R study using Minitab.</a:t>
            </a:r>
            <a:endParaRPr lang="ko-KR" altLang="en-US" sz="1400" dirty="0"/>
          </a:p>
        </p:txBody>
      </p:sp>
      <p:graphicFrame>
        <p:nvGraphicFramePr>
          <p:cNvPr id="8" name="표 7"/>
          <p:cNvGraphicFramePr>
            <a:graphicFrameLocks noGrp="1"/>
          </p:cNvGraphicFramePr>
          <p:nvPr>
            <p:extLst>
              <p:ext uri="{D42A27DB-BD31-4B8C-83A1-F6EECF244321}">
                <p14:modId xmlns:p14="http://schemas.microsoft.com/office/powerpoint/2010/main" val="189619367"/>
              </p:ext>
            </p:extLst>
          </p:nvPr>
        </p:nvGraphicFramePr>
        <p:xfrm>
          <a:off x="1397000" y="3892570"/>
          <a:ext cx="6350000" cy="2393950"/>
        </p:xfrm>
        <a:graphic>
          <a:graphicData uri="http://schemas.openxmlformats.org/drawingml/2006/table">
            <a:tbl>
              <a:tblPr/>
              <a:tblGrid>
                <a:gridCol w="660400">
                  <a:extLst>
                    <a:ext uri="{9D8B030D-6E8A-4147-A177-3AD203B41FA5}">
                      <a16:colId xmlns:a16="http://schemas.microsoft.com/office/drawing/2014/main" val="20000"/>
                    </a:ext>
                  </a:extLst>
                </a:gridCol>
                <a:gridCol w="71120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711200">
                  <a:extLst>
                    <a:ext uri="{9D8B030D-6E8A-4147-A177-3AD203B41FA5}">
                      <a16:colId xmlns:a16="http://schemas.microsoft.com/office/drawing/2014/main" val="20007"/>
                    </a:ext>
                  </a:extLst>
                </a:gridCol>
                <a:gridCol w="711200">
                  <a:extLst>
                    <a:ext uri="{9D8B030D-6E8A-4147-A177-3AD203B41FA5}">
                      <a16:colId xmlns:a16="http://schemas.microsoft.com/office/drawing/2014/main" val="20008"/>
                    </a:ext>
                  </a:extLst>
                </a:gridCol>
              </a:tblGrid>
              <a:tr h="222250">
                <a:tc>
                  <a:txBody>
                    <a:bodyPr/>
                    <a:lstStyle/>
                    <a:p>
                      <a:pPr algn="ctr" fontAlgn="ctr"/>
                      <a:r>
                        <a:rPr lang="en-US" sz="1200" b="0" i="0" u="none" strike="noStrike" dirty="0">
                          <a:solidFill>
                            <a:srgbClr val="000000"/>
                          </a:solidFill>
                          <a:effectLst/>
                          <a:latin typeface="맑은 고딕"/>
                        </a:rPr>
                        <a:t>No</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Repeat 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Repeat 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1200" b="0" i="0" u="none" strike="noStrike">
                          <a:solidFill>
                            <a:srgbClr val="000000"/>
                          </a:solidFill>
                          <a:effectLst/>
                          <a:latin typeface="맑은 고딕"/>
                        </a:rPr>
                        <a:t>No</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Repeat 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Repeat 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1200" b="0" i="0" u="none" strike="noStrike">
                          <a:solidFill>
                            <a:srgbClr val="000000"/>
                          </a:solidFill>
                          <a:effectLst/>
                          <a:latin typeface="맑은 고딕"/>
                        </a:rPr>
                        <a:t>No</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Repeat 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Repeat 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6.030</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6.033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6.032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6.020</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6.007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5.986</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22250">
                <a:tc>
                  <a:txBody>
                    <a:bodyPr/>
                    <a:lstStyle/>
                    <a:p>
                      <a:pPr algn="ctr" fontAlgn="ctr"/>
                      <a:r>
                        <a:rPr lang="en-US" altLang="ko-KR" sz="1200" b="0" i="0" u="none" strike="noStrike">
                          <a:solidFill>
                            <a:srgbClr val="000000"/>
                          </a:solidFill>
                          <a:effectLst/>
                          <a:latin typeface="맑은 고딕"/>
                        </a:rPr>
                        <a:t>5</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6.009</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15</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6.014</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25</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16</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w="1270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val="10006"/>
                  </a:ext>
                </a:extLst>
              </a:tr>
              <a:tr h="215900">
                <a:tc>
                  <a:txBody>
                    <a:bodyPr/>
                    <a:lstStyle/>
                    <a:p>
                      <a:pPr algn="ctr" fontAlgn="ctr"/>
                      <a:r>
                        <a:rPr lang="en-US" altLang="ko-KR" sz="1200" b="0" i="0" u="none" strike="noStrike">
                          <a:solidFill>
                            <a:srgbClr val="000000"/>
                          </a:solidFill>
                          <a:effectLst/>
                          <a:latin typeface="맑은 고딕"/>
                        </a:rPr>
                        <a:t>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5.996</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dirty="0">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07"/>
                  </a:ext>
                </a:extLst>
              </a:tr>
              <a:tr h="215900">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6.018</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18</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6.015</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08"/>
                  </a:ext>
                </a:extLst>
              </a:tr>
              <a:tr h="215900">
                <a:tc>
                  <a:txBody>
                    <a:bodyPr/>
                    <a:lstStyle/>
                    <a:p>
                      <a:pPr algn="ctr" fontAlgn="ctr"/>
                      <a:r>
                        <a:rPr lang="en-US" altLang="ko-KR" sz="1200" b="0" i="0" u="none" strike="noStrike">
                          <a:solidFill>
                            <a:srgbClr val="000000"/>
                          </a:solidFill>
                          <a:effectLst/>
                          <a:latin typeface="맑은 고딕"/>
                        </a:rPr>
                        <a:t>9</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19</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5.986</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09"/>
                  </a:ext>
                </a:extLst>
              </a:tr>
              <a:tr h="222250">
                <a:tc>
                  <a:txBody>
                    <a:bodyPr/>
                    <a:lstStyle/>
                    <a:p>
                      <a:pPr algn="ctr" fontAlgn="ctr"/>
                      <a:r>
                        <a:rPr lang="en-US" altLang="ko-KR" sz="1200" b="0" i="0" u="none" strike="noStrike">
                          <a:solidFill>
                            <a:srgbClr val="000000"/>
                          </a:solidFill>
                          <a:effectLst/>
                          <a:latin typeface="맑은 고딕"/>
                        </a:rPr>
                        <a:t>10</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6.028</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20</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6.025</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dirty="0">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10"/>
                  </a:ext>
                </a:extLst>
              </a:tr>
            </a:tbl>
          </a:graphicData>
        </a:graphic>
      </p:graphicFrame>
      <p:sp>
        <p:nvSpPr>
          <p:cNvPr id="7"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108</a:t>
            </a:fld>
            <a:endParaRPr lang="ko-KR" altLang="en-US" dirty="0"/>
          </a:p>
        </p:txBody>
      </p:sp>
    </p:spTree>
    <p:extLst>
      <p:ext uri="{BB962C8B-B14F-4D97-AF65-F5344CB8AC3E}">
        <p14:creationId xmlns:p14="http://schemas.microsoft.com/office/powerpoint/2010/main" val="177740925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81155" cy="400110"/>
          </a:xfrm>
          <a:prstGeom prst="rect">
            <a:avLst/>
          </a:prstGeom>
          <a:noFill/>
        </p:spPr>
        <p:txBody>
          <a:bodyPr wrap="none" rtlCol="0">
            <a:spAutoFit/>
          </a:bodyPr>
          <a:lstStyle/>
          <a:p>
            <a:r>
              <a:rPr lang="en-US" altLang="ko-KR" sz="2000" b="1" dirty="0"/>
              <a:t>Type 3 Study Case study</a:t>
            </a:r>
            <a:r>
              <a:rPr lang="ko-KR" altLang="en-US" sz="2000" b="1" dirty="0"/>
              <a:t> </a:t>
            </a:r>
          </a:p>
        </p:txBody>
      </p:sp>
      <p:sp>
        <p:nvSpPr>
          <p:cNvPr id="3" name="TextBox 2"/>
          <p:cNvSpPr txBox="1"/>
          <p:nvPr/>
        </p:nvSpPr>
        <p:spPr>
          <a:xfrm>
            <a:off x="395655" y="827089"/>
            <a:ext cx="3168234" cy="523220"/>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input and result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Interpretation</a:t>
            </a:r>
          </a:p>
        </p:txBody>
      </p:sp>
      <p:sp>
        <p:nvSpPr>
          <p:cNvPr id="4" name="TextBox 3"/>
          <p:cNvSpPr txBox="1"/>
          <p:nvPr/>
        </p:nvSpPr>
        <p:spPr>
          <a:xfrm>
            <a:off x="683568" y="1412776"/>
            <a:ext cx="4662110" cy="292388"/>
          </a:xfrm>
          <a:prstGeom prst="rect">
            <a:avLst/>
          </a:prstGeom>
          <a:noFill/>
        </p:spPr>
        <p:txBody>
          <a:bodyPr wrap="none" rtlCol="0">
            <a:spAutoFit/>
          </a:bodyPr>
          <a:lstStyle/>
          <a:p>
            <a:r>
              <a:rPr lang="en-US" altLang="ko-KR" sz="1300" dirty="0"/>
              <a:t>Stat &gt; Quality Tools&gt; Gage Study &gt; Gage Study (Crossed) </a:t>
            </a:r>
            <a:endParaRPr lang="ko-KR" altLang="en-US" sz="1300" dirty="0"/>
          </a:p>
        </p:txBody>
      </p:sp>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844824"/>
            <a:ext cx="4320480" cy="2274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32040" y="1844824"/>
            <a:ext cx="3720900" cy="336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직사각형 4"/>
          <p:cNvSpPr/>
          <p:nvPr/>
        </p:nvSpPr>
        <p:spPr>
          <a:xfrm>
            <a:off x="3747660" y="2407636"/>
            <a:ext cx="648072" cy="21602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7" name="꺾인 연결선 6"/>
          <p:cNvCxnSpPr>
            <a:stCxn id="5" idx="3"/>
            <a:endCxn id="12291" idx="1"/>
          </p:cNvCxnSpPr>
          <p:nvPr/>
        </p:nvCxnSpPr>
        <p:spPr>
          <a:xfrm>
            <a:off x="4395732" y="2515648"/>
            <a:ext cx="536308" cy="1012050"/>
          </a:xfrm>
          <a:prstGeom prst="bentConnector3">
            <a:avLst>
              <a:gd name="adj1" fmla="val 50000"/>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9" name="타원 8"/>
          <p:cNvSpPr/>
          <p:nvPr/>
        </p:nvSpPr>
        <p:spPr>
          <a:xfrm>
            <a:off x="5030552" y="3717032"/>
            <a:ext cx="144016" cy="216024"/>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0" name="TextBox 9"/>
          <p:cNvSpPr txBox="1"/>
          <p:nvPr/>
        </p:nvSpPr>
        <p:spPr>
          <a:xfrm>
            <a:off x="323528" y="4221088"/>
            <a:ext cx="2304349" cy="307777"/>
          </a:xfrm>
          <a:prstGeom prst="rect">
            <a:avLst/>
          </a:prstGeom>
          <a:noFill/>
        </p:spPr>
        <p:txBody>
          <a:bodyPr wrap="none" rtlCol="0">
            <a:spAutoFit/>
          </a:bodyPr>
          <a:lstStyle/>
          <a:p>
            <a:r>
              <a:rPr lang="en-US" altLang="ko-KR" sz="1400" b="1" dirty="0"/>
              <a:t>※ Leave operator blank. </a:t>
            </a:r>
            <a:endParaRPr lang="ko-KR" altLang="en-US" sz="1400" b="1" dirty="0"/>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109</a:t>
            </a:fld>
            <a:endParaRPr lang="ko-KR" altLang="en-US" dirty="0"/>
          </a:p>
        </p:txBody>
      </p:sp>
    </p:spTree>
    <p:extLst>
      <p:ext uri="{BB962C8B-B14F-4D97-AF65-F5344CB8AC3E}">
        <p14:creationId xmlns:p14="http://schemas.microsoft.com/office/powerpoint/2010/main" val="314172483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3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err="1">
                <a:solidFill>
                  <a:sysClr val="windowText" lastClr="000000"/>
                </a:solidFill>
                <a:latin typeface="맑은 고딕" pitchFamily="50" charset="-127"/>
                <a:ea typeface="맑은 고딕" pitchFamily="50" charset="-127"/>
              </a:rPr>
              <a:t>Trang</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thiết</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bị</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đo</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tự</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động</a:t>
            </a:r>
            <a:r>
              <a:rPr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Data Gage R&amp;R </a:t>
            </a:r>
          </a:p>
        </p:txBody>
      </p:sp>
      <p:sp>
        <p:nvSpPr>
          <p:cNvPr id="5" name="직사각형 4"/>
          <p:cNvSpPr/>
          <p:nvPr/>
        </p:nvSpPr>
        <p:spPr>
          <a:xfrm>
            <a:off x="323528" y="1196752"/>
            <a:ext cx="8568952" cy="1800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6" name="TextBox 5"/>
          <p:cNvSpPr txBox="1"/>
          <p:nvPr/>
        </p:nvSpPr>
        <p:spPr>
          <a:xfrm>
            <a:off x="295520" y="1242256"/>
            <a:ext cx="8630889" cy="1708160"/>
          </a:xfrm>
          <a:prstGeom prst="rect">
            <a:avLst/>
          </a:prstGeom>
          <a:noFill/>
        </p:spPr>
        <p:txBody>
          <a:bodyPr wrap="none" rtlCol="0">
            <a:spAutoFit/>
          </a:bodyPr>
          <a:lstStyle/>
          <a:p>
            <a:pPr>
              <a:lnSpc>
                <a:spcPct val="150000"/>
              </a:lnSpc>
            </a:pPr>
            <a:r>
              <a:rPr lang="en-US" altLang="ko-KR" sz="1400" dirty="0" err="1"/>
              <a:t>Tiến</a:t>
            </a:r>
            <a:r>
              <a:rPr lang="en-US" altLang="ko-KR" sz="1400" dirty="0"/>
              <a:t> </a:t>
            </a:r>
            <a:r>
              <a:rPr lang="en-US" altLang="ko-KR" sz="1400" dirty="0" err="1"/>
              <a:t>hành</a:t>
            </a:r>
            <a:r>
              <a:rPr lang="en-US" altLang="ko-KR" sz="1400" dirty="0"/>
              <a:t> </a:t>
            </a:r>
            <a:r>
              <a:rPr lang="en-US" altLang="ko-KR" sz="1400" dirty="0" err="1"/>
              <a:t>GageR&amp;R</a:t>
            </a:r>
            <a:r>
              <a:rPr lang="en-US" altLang="ko-KR" sz="1400" dirty="0"/>
              <a:t> Study </a:t>
            </a:r>
            <a:r>
              <a:rPr lang="en-US" altLang="ko-KR" sz="1400" dirty="0" err="1"/>
              <a:t>với</a:t>
            </a:r>
            <a:r>
              <a:rPr lang="en-US" altLang="ko-KR" sz="1400" dirty="0"/>
              <a:t> </a:t>
            </a:r>
            <a:r>
              <a:rPr lang="en-US" altLang="ko-KR" sz="1400" dirty="0" err="1"/>
              <a:t>hệ</a:t>
            </a:r>
            <a:r>
              <a:rPr lang="en-US" altLang="ko-KR" sz="1400" dirty="0"/>
              <a:t> </a:t>
            </a:r>
            <a:r>
              <a:rPr lang="en-US" altLang="ko-KR" sz="1400" dirty="0" err="1"/>
              <a:t>thống</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sử</a:t>
            </a:r>
            <a:r>
              <a:rPr lang="en-US" altLang="ko-KR" sz="1400" dirty="0"/>
              <a:t> </a:t>
            </a:r>
            <a:r>
              <a:rPr lang="en-US" altLang="ko-KR" sz="1400" dirty="0" err="1"/>
              <a:t>dụng</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en-US" altLang="ko-KR" sz="1400" dirty="0" err="1"/>
              <a:t>tự</a:t>
            </a:r>
            <a:r>
              <a:rPr lang="en-US" altLang="ko-KR" sz="1400" dirty="0"/>
              <a:t> </a:t>
            </a:r>
            <a:r>
              <a:rPr lang="en-US" altLang="ko-KR" sz="1400" dirty="0" err="1"/>
              <a:t>động</a:t>
            </a:r>
            <a:r>
              <a:rPr lang="en-US" altLang="ko-KR" sz="1400" dirty="0"/>
              <a:t> (Automatic measuring </a:t>
            </a:r>
          </a:p>
          <a:p>
            <a:pPr>
              <a:lnSpc>
                <a:spcPct val="150000"/>
              </a:lnSpc>
            </a:pPr>
            <a:r>
              <a:rPr lang="en-US" altLang="ko-KR" sz="1400" dirty="0"/>
              <a:t>device). </a:t>
            </a:r>
            <a:r>
              <a:rPr lang="en-US" altLang="ko-KR" sz="1400" dirty="0" err="1"/>
              <a:t>Để</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chúng</a:t>
            </a:r>
            <a:r>
              <a:rPr lang="en-US" altLang="ko-KR" sz="1400" dirty="0"/>
              <a:t> </a:t>
            </a:r>
            <a:r>
              <a:rPr lang="en-US" altLang="ko-KR" sz="1400" dirty="0" err="1"/>
              <a:t>ta</a:t>
            </a:r>
            <a:r>
              <a:rPr lang="en-US" altLang="ko-KR" sz="1400" dirty="0"/>
              <a:t> </a:t>
            </a:r>
            <a:r>
              <a:rPr lang="en-US" altLang="ko-KR" sz="1400" dirty="0" err="1"/>
              <a:t>lựa</a:t>
            </a:r>
            <a:r>
              <a:rPr lang="en-US" altLang="ko-KR" sz="1400" dirty="0"/>
              <a:t> </a:t>
            </a:r>
            <a:r>
              <a:rPr lang="en-US" altLang="ko-KR" sz="1400" dirty="0" err="1"/>
              <a:t>chọn</a:t>
            </a:r>
            <a:r>
              <a:rPr lang="en-US" altLang="ko-KR" sz="1400" dirty="0"/>
              <a:t> </a:t>
            </a:r>
            <a:r>
              <a:rPr lang="en-US" altLang="ko-KR" sz="1400" dirty="0" err="1"/>
              <a:t>ngẫu</a:t>
            </a:r>
            <a:r>
              <a:rPr lang="en-US" altLang="ko-KR" sz="1400" dirty="0"/>
              <a:t> </a:t>
            </a:r>
            <a:r>
              <a:rPr lang="en-US" altLang="ko-KR" sz="1400" dirty="0" err="1"/>
              <a:t>nhiên</a:t>
            </a:r>
            <a:r>
              <a:rPr lang="en-US" altLang="ko-KR" sz="1400" dirty="0"/>
              <a:t> 25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từ</a:t>
            </a:r>
            <a:r>
              <a:rPr lang="en-US" altLang="ko-KR" sz="1400" dirty="0"/>
              <a:t> </a:t>
            </a:r>
            <a:r>
              <a:rPr lang="en-US" altLang="ko-KR" sz="1400" dirty="0" err="1"/>
              <a:t>quá</a:t>
            </a:r>
            <a:r>
              <a:rPr lang="en-US" altLang="ko-KR" sz="1400" dirty="0"/>
              <a:t> </a:t>
            </a:r>
            <a:r>
              <a:rPr lang="en-US" altLang="ko-KR" sz="1400" dirty="0" err="1"/>
              <a:t>trình</a:t>
            </a:r>
            <a:r>
              <a:rPr lang="en-US" altLang="ko-KR" sz="1400" dirty="0"/>
              <a:t>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để</a:t>
            </a:r>
            <a:r>
              <a:rPr lang="en-US" altLang="ko-KR" sz="1400" dirty="0"/>
              <a:t> </a:t>
            </a:r>
            <a:r>
              <a:rPr lang="en-US" altLang="ko-KR" sz="1400" dirty="0" err="1"/>
              <a:t>làm</a:t>
            </a:r>
            <a:r>
              <a:rPr lang="en-US" altLang="ko-KR" sz="1400" dirty="0"/>
              <a:t> sample,</a:t>
            </a:r>
          </a:p>
          <a:p>
            <a:pPr>
              <a:lnSpc>
                <a:spcPct val="150000"/>
              </a:lnSpc>
            </a:pPr>
            <a:r>
              <a:rPr lang="en-US" altLang="ko-KR" sz="1400" dirty="0" err="1"/>
              <a:t>chuẩn</a:t>
            </a:r>
            <a:r>
              <a:rPr lang="en-US" altLang="ko-KR" sz="1400" dirty="0"/>
              <a:t> </a:t>
            </a:r>
            <a:r>
              <a:rPr lang="en-US" altLang="ko-KR" sz="1400" dirty="0" err="1"/>
              <a:t>bị</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theo</a:t>
            </a:r>
            <a:r>
              <a:rPr lang="en-US" altLang="ko-KR" sz="1400" dirty="0"/>
              <a:t> </a:t>
            </a:r>
            <a:r>
              <a:rPr lang="en-US" altLang="ko-KR" sz="1400" dirty="0" err="1"/>
              <a:t>thứ</a:t>
            </a:r>
            <a:r>
              <a:rPr lang="en-US" altLang="ko-KR" sz="1400" dirty="0"/>
              <a:t> </a:t>
            </a:r>
            <a:r>
              <a:rPr lang="en-US" altLang="ko-KR" sz="1400" dirty="0" err="1"/>
              <a:t>tự</a:t>
            </a:r>
            <a:r>
              <a:rPr lang="en-US" altLang="ko-KR" sz="1400" dirty="0"/>
              <a:t> </a:t>
            </a:r>
            <a:r>
              <a:rPr lang="en-US" altLang="ko-KR" sz="1400" dirty="0" err="1"/>
              <a:t>ngẫu</a:t>
            </a:r>
            <a:r>
              <a:rPr lang="en-US" altLang="ko-KR" sz="1400" dirty="0"/>
              <a:t> </a:t>
            </a:r>
            <a:r>
              <a:rPr lang="en-US" altLang="ko-KR" sz="1400" dirty="0" err="1"/>
              <a:t>nhiên</a:t>
            </a:r>
            <a:r>
              <a:rPr lang="en-US" altLang="ko-KR" sz="1400" dirty="0"/>
              <a:t>, </a:t>
            </a:r>
            <a:r>
              <a:rPr lang="en-US" altLang="ko-KR" sz="1400" dirty="0" err="1"/>
              <a:t>sử</a:t>
            </a:r>
            <a:r>
              <a:rPr lang="en-US" altLang="ko-KR" sz="1400" dirty="0"/>
              <a:t> </a:t>
            </a:r>
            <a:r>
              <a:rPr lang="en-US" altLang="ko-KR" sz="1400" dirty="0" err="1"/>
              <a:t>dụng</a:t>
            </a:r>
            <a:r>
              <a:rPr lang="en-US" altLang="ko-KR" sz="1400" dirty="0"/>
              <a:t> </a:t>
            </a:r>
            <a:r>
              <a:rPr lang="en-US" altLang="ko-KR" sz="1400" dirty="0" err="1"/>
              <a:t>trang</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en-US" altLang="ko-KR" sz="1400" dirty="0" err="1"/>
              <a:t>tự</a:t>
            </a:r>
            <a:r>
              <a:rPr lang="en-US" altLang="ko-KR" sz="1400" dirty="0"/>
              <a:t> </a:t>
            </a:r>
            <a:r>
              <a:rPr lang="en-US" altLang="ko-KR" sz="1400" dirty="0" err="1"/>
              <a:t>động</a:t>
            </a:r>
            <a:r>
              <a:rPr lang="en-US" altLang="ko-KR" sz="1400" dirty="0"/>
              <a:t> </a:t>
            </a:r>
            <a:r>
              <a:rPr lang="en-US" altLang="ko-KR" sz="1400" dirty="0" err="1"/>
              <a:t>để</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cùng</a:t>
            </a:r>
            <a:r>
              <a:rPr lang="en-US" altLang="ko-KR" sz="1400" dirty="0"/>
              <a:t> </a:t>
            </a:r>
            <a:r>
              <a:rPr lang="en-US" altLang="ko-KR" sz="1400" dirty="0" err="1"/>
              <a:t>một</a:t>
            </a:r>
            <a:r>
              <a:rPr lang="en-US" altLang="ko-KR" sz="1400" dirty="0"/>
              <a:t> </a:t>
            </a:r>
          </a:p>
          <a:p>
            <a:pPr>
              <a:lnSpc>
                <a:spcPct val="150000"/>
              </a:lnSpc>
            </a:pPr>
            <a:r>
              <a:rPr lang="en-US" altLang="ko-KR" sz="1400" dirty="0" err="1"/>
              <a:t>trình</a:t>
            </a:r>
            <a:r>
              <a:rPr lang="en-US" altLang="ko-KR" sz="1400" dirty="0"/>
              <a:t> </a:t>
            </a:r>
            <a:r>
              <a:rPr lang="en-US" altLang="ko-KR" sz="1400" dirty="0" err="1"/>
              <a:t>tự</a:t>
            </a:r>
            <a:r>
              <a:rPr lang="en-US" altLang="ko-KR" sz="1400" dirty="0"/>
              <a:t> </a:t>
            </a:r>
            <a:r>
              <a:rPr lang="en-US" altLang="ko-KR" sz="1400" dirty="0" err="1"/>
              <a:t>như</a:t>
            </a:r>
            <a:r>
              <a:rPr lang="en-US" altLang="ko-KR" sz="1400" dirty="0"/>
              <a:t> </a:t>
            </a:r>
            <a:r>
              <a:rPr lang="en-US" altLang="ko-KR" sz="1400" dirty="0" err="1"/>
              <a:t>vậy</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lặp</a:t>
            </a:r>
            <a:r>
              <a:rPr lang="en-US" altLang="ko-KR" sz="1400" dirty="0"/>
              <a:t> </a:t>
            </a:r>
            <a:r>
              <a:rPr lang="en-US" altLang="ko-KR" sz="1400" dirty="0" err="1"/>
              <a:t>lại</a:t>
            </a:r>
            <a:r>
              <a:rPr lang="en-US" altLang="ko-KR" sz="1400" dirty="0"/>
              <a:t> </a:t>
            </a:r>
            <a:r>
              <a:rPr lang="en-US" altLang="ko-KR" sz="1400" dirty="0" err="1"/>
              <a:t>lần</a:t>
            </a:r>
            <a:r>
              <a:rPr lang="en-US" altLang="ko-KR" sz="1400" dirty="0"/>
              <a:t> 2 </a:t>
            </a:r>
            <a:r>
              <a:rPr lang="en-US" altLang="ko-KR" sz="1400" dirty="0" err="1"/>
              <a:t>ta</a:t>
            </a:r>
            <a:r>
              <a:rPr lang="en-US" altLang="ko-KR" sz="1400" dirty="0"/>
              <a:t> </a:t>
            </a:r>
            <a:r>
              <a:rPr lang="en-US" altLang="ko-KR" sz="1400" dirty="0" err="1"/>
              <a:t>thu</a:t>
            </a:r>
            <a:r>
              <a:rPr lang="en-US" altLang="ko-KR" sz="1400" dirty="0"/>
              <a:t> </a:t>
            </a:r>
            <a:r>
              <a:rPr lang="en-US" altLang="ko-KR" sz="1400" dirty="0" err="1"/>
              <a:t>được</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như</a:t>
            </a:r>
            <a:r>
              <a:rPr lang="en-US" altLang="ko-KR" sz="1400" dirty="0"/>
              <a:t> </a:t>
            </a:r>
            <a:r>
              <a:rPr lang="en-US" altLang="ko-KR" sz="1400" dirty="0" err="1"/>
              <a:t>sau</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của</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này</a:t>
            </a:r>
            <a:endParaRPr lang="en-US" altLang="ko-KR" sz="1400" dirty="0"/>
          </a:p>
          <a:p>
            <a:pPr>
              <a:lnSpc>
                <a:spcPct val="150000"/>
              </a:lnSpc>
            </a:pPr>
            <a:r>
              <a:rPr lang="en-US" altLang="ko-KR" sz="1400" dirty="0" err="1"/>
              <a:t>là</a:t>
            </a:r>
            <a:r>
              <a:rPr lang="en-US" altLang="ko-KR" sz="1400" dirty="0"/>
              <a:t> LSL=5.97, USL=6.03. </a:t>
            </a:r>
            <a:r>
              <a:rPr lang="en-US" altLang="ko-KR" sz="1400" dirty="0" err="1"/>
              <a:t>Sử</a:t>
            </a:r>
            <a:r>
              <a:rPr lang="en-US" altLang="ko-KR" sz="1400" dirty="0"/>
              <a:t> </a:t>
            </a:r>
            <a:r>
              <a:rPr lang="en-US" altLang="ko-KR" sz="1400" dirty="0" err="1"/>
              <a:t>dụng</a:t>
            </a:r>
            <a:r>
              <a:rPr lang="en-US" altLang="ko-KR" sz="1400" dirty="0"/>
              <a:t> Minitab </a:t>
            </a:r>
            <a:r>
              <a:rPr lang="en-US" altLang="ko-KR" sz="1400" dirty="0" err="1"/>
              <a:t>và</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nghiên</a:t>
            </a:r>
            <a:r>
              <a:rPr lang="en-US" altLang="ko-KR" sz="1400" dirty="0"/>
              <a:t> </a:t>
            </a:r>
            <a:r>
              <a:rPr lang="en-US" altLang="ko-KR" sz="1400" dirty="0" err="1"/>
              <a:t>cứu</a:t>
            </a:r>
            <a:r>
              <a:rPr lang="en-US" altLang="ko-KR" sz="1400" dirty="0"/>
              <a:t> Gage R&amp;R. </a:t>
            </a:r>
            <a:endParaRPr lang="ko-KR" altLang="en-US" sz="1400" dirty="0"/>
          </a:p>
        </p:txBody>
      </p:sp>
      <p:graphicFrame>
        <p:nvGraphicFramePr>
          <p:cNvPr id="8" name="표 7"/>
          <p:cNvGraphicFramePr>
            <a:graphicFrameLocks noGrp="1"/>
          </p:cNvGraphicFramePr>
          <p:nvPr>
            <p:extLst>
              <p:ext uri="{D42A27DB-BD31-4B8C-83A1-F6EECF244321}">
                <p14:modId xmlns:p14="http://schemas.microsoft.com/office/powerpoint/2010/main" val="189619367"/>
              </p:ext>
            </p:extLst>
          </p:nvPr>
        </p:nvGraphicFramePr>
        <p:xfrm>
          <a:off x="1397000" y="3356992"/>
          <a:ext cx="6350000" cy="2393950"/>
        </p:xfrm>
        <a:graphic>
          <a:graphicData uri="http://schemas.openxmlformats.org/drawingml/2006/table">
            <a:tbl>
              <a:tblPr/>
              <a:tblGrid>
                <a:gridCol w="660400">
                  <a:extLst>
                    <a:ext uri="{9D8B030D-6E8A-4147-A177-3AD203B41FA5}">
                      <a16:colId xmlns:a16="http://schemas.microsoft.com/office/drawing/2014/main" val="20000"/>
                    </a:ext>
                  </a:extLst>
                </a:gridCol>
                <a:gridCol w="71120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gridCol w="711200">
                  <a:extLst>
                    <a:ext uri="{9D8B030D-6E8A-4147-A177-3AD203B41FA5}">
                      <a16:colId xmlns:a16="http://schemas.microsoft.com/office/drawing/2014/main" val="20006"/>
                    </a:ext>
                  </a:extLst>
                </a:gridCol>
                <a:gridCol w="711200">
                  <a:extLst>
                    <a:ext uri="{9D8B030D-6E8A-4147-A177-3AD203B41FA5}">
                      <a16:colId xmlns:a16="http://schemas.microsoft.com/office/drawing/2014/main" val="20007"/>
                    </a:ext>
                  </a:extLst>
                </a:gridCol>
                <a:gridCol w="711200">
                  <a:extLst>
                    <a:ext uri="{9D8B030D-6E8A-4147-A177-3AD203B41FA5}">
                      <a16:colId xmlns:a16="http://schemas.microsoft.com/office/drawing/2014/main" val="20008"/>
                    </a:ext>
                  </a:extLst>
                </a:gridCol>
              </a:tblGrid>
              <a:tr h="222250">
                <a:tc>
                  <a:txBody>
                    <a:bodyPr/>
                    <a:lstStyle/>
                    <a:p>
                      <a:pPr algn="ctr" fontAlgn="ctr"/>
                      <a:r>
                        <a:rPr lang="en-US" sz="1200" b="0" i="0" u="none" strike="noStrike" dirty="0">
                          <a:solidFill>
                            <a:srgbClr val="000000"/>
                          </a:solidFill>
                          <a:effectLst/>
                          <a:latin typeface="맑은 고딕"/>
                        </a:rPr>
                        <a:t>No</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1200" b="0" i="0" u="none" strike="noStrike">
                          <a:solidFill>
                            <a:srgbClr val="000000"/>
                          </a:solidFill>
                          <a:effectLst/>
                          <a:latin typeface="맑은 고딕"/>
                        </a:rPr>
                        <a:t>No</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Lặp</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1200" b="0" i="0" u="none" strike="noStrike">
                          <a:solidFill>
                            <a:srgbClr val="000000"/>
                          </a:solidFill>
                          <a:effectLst/>
                          <a:latin typeface="맑은 고딕"/>
                        </a:rPr>
                        <a:t>No</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6.030</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6.033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6.032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21</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6.020</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22</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6.001</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23</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5.986</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24</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22250">
                <a:tc>
                  <a:txBody>
                    <a:bodyPr/>
                    <a:lstStyle/>
                    <a:p>
                      <a:pPr algn="ctr" fontAlgn="ctr"/>
                      <a:r>
                        <a:rPr lang="en-US" altLang="ko-KR" sz="1200" b="0" i="0" u="none" strike="noStrike">
                          <a:solidFill>
                            <a:srgbClr val="000000"/>
                          </a:solidFill>
                          <a:effectLst/>
                          <a:latin typeface="맑은 고딕"/>
                        </a:rPr>
                        <a:t>5</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6.009</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15</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6.014</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25</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6.003</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16</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5.972</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w="1270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val="10006"/>
                  </a:ext>
                </a:extLst>
              </a:tr>
              <a:tr h="215900">
                <a:tc>
                  <a:txBody>
                    <a:bodyPr/>
                    <a:lstStyle/>
                    <a:p>
                      <a:pPr algn="ctr" fontAlgn="ctr"/>
                      <a:r>
                        <a:rPr lang="en-US" altLang="ko-KR" sz="1200" b="0" i="0" u="none" strike="noStrike">
                          <a:solidFill>
                            <a:srgbClr val="000000"/>
                          </a:solidFill>
                          <a:effectLst/>
                          <a:latin typeface="맑은 고딕"/>
                        </a:rPr>
                        <a:t>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17</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5.996</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07"/>
                  </a:ext>
                </a:extLst>
              </a:tr>
              <a:tr h="215900">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6.018</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18</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6.015</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08"/>
                  </a:ext>
                </a:extLst>
              </a:tr>
              <a:tr h="215900">
                <a:tc>
                  <a:txBody>
                    <a:bodyPr/>
                    <a:lstStyle/>
                    <a:p>
                      <a:pPr algn="ctr" fontAlgn="ctr"/>
                      <a:r>
                        <a:rPr lang="en-US" altLang="ko-KR" sz="1200" b="0" i="0" u="none" strike="noStrike">
                          <a:solidFill>
                            <a:srgbClr val="000000"/>
                          </a:solidFill>
                          <a:effectLst/>
                          <a:latin typeface="맑은 고딕"/>
                        </a:rPr>
                        <a:t>9</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19</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5.986</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09"/>
                  </a:ext>
                </a:extLst>
              </a:tr>
              <a:tr h="222250">
                <a:tc>
                  <a:txBody>
                    <a:bodyPr/>
                    <a:lstStyle/>
                    <a:p>
                      <a:pPr algn="ctr" fontAlgn="ctr"/>
                      <a:r>
                        <a:rPr lang="en-US" altLang="ko-KR" sz="1200" b="0" i="0" u="none" strike="noStrike">
                          <a:solidFill>
                            <a:srgbClr val="000000"/>
                          </a:solidFill>
                          <a:effectLst/>
                          <a:latin typeface="맑은 고딕"/>
                        </a:rPr>
                        <a:t>10</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6.028</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20</a:t>
                      </a:r>
                    </a:p>
                  </a:txBody>
                  <a:tcPr marL="6350" marR="6350" marT="635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6.025</a:t>
                      </a:r>
                    </a:p>
                  </a:txBody>
                  <a:tcPr marL="6350" marR="6350" marT="635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r>
                        <a:rPr lang="ko-KR" altLang="en-US" sz="1200" b="0" i="0" u="none" strike="noStrike">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tc>
                  <a:txBody>
                    <a:bodyPr/>
                    <a:lstStyle/>
                    <a:p>
                      <a:pPr algn="ctr" fontAlgn="ctr"/>
                      <a:r>
                        <a:rPr lang="ko-KR" altLang="en-US" sz="1200" b="0" i="0" u="none" strike="noStrike" dirty="0">
                          <a:solidFill>
                            <a:srgbClr val="000000"/>
                          </a:solidFill>
                          <a:effectLst/>
                          <a:latin typeface="맑은 고딕"/>
                        </a:rPr>
                        <a:t>　</a:t>
                      </a:r>
                    </a:p>
                  </a:txBody>
                  <a:tcPr marL="6350" marR="6350" marT="6350" marB="0" anchor="ctr">
                    <a:lnL>
                      <a:noFill/>
                    </a:lnL>
                    <a:lnR>
                      <a:noFill/>
                    </a:lnR>
                    <a:lnT>
                      <a:noFill/>
                    </a:lnT>
                    <a:lnB>
                      <a:noFill/>
                    </a:lnB>
                    <a:solidFill>
                      <a:srgbClr val="FFFFFF"/>
                    </a:solidFill>
                  </a:tcPr>
                </a:tc>
                <a:extLst>
                  <a:ext uri="{0D108BD9-81ED-4DB2-BD59-A6C34878D82A}">
                    <a16:rowId xmlns:a16="http://schemas.microsoft.com/office/drawing/2014/main" val="10010"/>
                  </a:ext>
                </a:extLst>
              </a:tr>
            </a:tbl>
          </a:graphicData>
        </a:graphic>
      </p:graphicFrame>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110</a:t>
            </a:fld>
            <a:endParaRPr lang="ko-KR" altLang="en-US" dirty="0"/>
          </a:p>
        </p:txBody>
      </p:sp>
    </p:spTree>
    <p:extLst>
      <p:ext uri="{BB962C8B-B14F-4D97-AF65-F5344CB8AC3E}">
        <p14:creationId xmlns:p14="http://schemas.microsoft.com/office/powerpoint/2010/main" val="1777409257"/>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106702" cy="400110"/>
          </a:xfrm>
          <a:prstGeom prst="rect">
            <a:avLst/>
          </a:prstGeom>
          <a:noFill/>
        </p:spPr>
        <p:txBody>
          <a:bodyPr wrap="none" rtlCol="0">
            <a:spAutoFit/>
          </a:bodyPr>
          <a:lstStyle/>
          <a:p>
            <a:r>
              <a:rPr lang="en-US" altLang="ko-KR" sz="2000" b="1" dirty="0"/>
              <a:t>Type 3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395654" y="827089"/>
            <a:ext cx="3528273"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giải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683568" y="1412776"/>
            <a:ext cx="4662110" cy="292388"/>
          </a:xfrm>
          <a:prstGeom prst="rect">
            <a:avLst/>
          </a:prstGeom>
          <a:noFill/>
        </p:spPr>
        <p:txBody>
          <a:bodyPr wrap="none" rtlCol="0">
            <a:spAutoFit/>
          </a:bodyPr>
          <a:lstStyle/>
          <a:p>
            <a:r>
              <a:rPr lang="en-US" altLang="ko-KR" sz="1300" dirty="0"/>
              <a:t>Stat &gt; Quality Tools&gt; Gage Study &gt; Gage Study (Crossed) </a:t>
            </a:r>
            <a:endParaRPr lang="ko-KR" altLang="en-US" sz="1300" dirty="0"/>
          </a:p>
        </p:txBody>
      </p:sp>
      <p:pic>
        <p:nvPicPr>
          <p:cNvPr id="122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3528" y="1844824"/>
            <a:ext cx="4320480" cy="2274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32040" y="1844824"/>
            <a:ext cx="3720900" cy="336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직사각형 4"/>
          <p:cNvSpPr/>
          <p:nvPr/>
        </p:nvSpPr>
        <p:spPr>
          <a:xfrm>
            <a:off x="3747660" y="2407636"/>
            <a:ext cx="648072" cy="21602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7" name="꺾인 연결선 6"/>
          <p:cNvCxnSpPr>
            <a:stCxn id="5" idx="3"/>
            <a:endCxn id="12291" idx="1"/>
          </p:cNvCxnSpPr>
          <p:nvPr/>
        </p:nvCxnSpPr>
        <p:spPr>
          <a:xfrm>
            <a:off x="4395732" y="2515648"/>
            <a:ext cx="536308" cy="1012050"/>
          </a:xfrm>
          <a:prstGeom prst="bentConnector3">
            <a:avLst>
              <a:gd name="adj1" fmla="val 50000"/>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9" name="타원 8"/>
          <p:cNvSpPr/>
          <p:nvPr/>
        </p:nvSpPr>
        <p:spPr>
          <a:xfrm>
            <a:off x="5030552" y="3717032"/>
            <a:ext cx="144016" cy="216024"/>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0" name="TextBox 9"/>
          <p:cNvSpPr txBox="1"/>
          <p:nvPr/>
        </p:nvSpPr>
        <p:spPr>
          <a:xfrm>
            <a:off x="323528" y="4221088"/>
            <a:ext cx="2077043" cy="307777"/>
          </a:xfrm>
          <a:prstGeom prst="rect">
            <a:avLst/>
          </a:prstGeom>
          <a:noFill/>
        </p:spPr>
        <p:txBody>
          <a:bodyPr wrap="none" rtlCol="0">
            <a:spAutoFit/>
          </a:bodyPr>
          <a:lstStyle/>
          <a:p>
            <a:r>
              <a:rPr lang="en-US" altLang="ko-KR" sz="1400" b="1" dirty="0"/>
              <a:t>※ Operator</a:t>
            </a:r>
            <a:r>
              <a:rPr lang="ko-KR" altLang="en-US" sz="1400" b="1" dirty="0"/>
              <a:t> </a:t>
            </a:r>
            <a:r>
              <a:rPr lang="en-US" altLang="ko-KR" sz="1400" b="1" dirty="0" err="1"/>
              <a:t>để</a:t>
            </a:r>
            <a:r>
              <a:rPr lang="en-US" altLang="ko-KR" sz="1400" b="1" dirty="0"/>
              <a:t> </a:t>
            </a:r>
            <a:r>
              <a:rPr lang="en-US" altLang="ko-KR" sz="1400" b="1" dirty="0" err="1"/>
              <a:t>trống</a:t>
            </a:r>
            <a:r>
              <a:rPr lang="en-US" altLang="ko-KR" sz="1400" b="1" dirty="0"/>
              <a:t>. </a:t>
            </a:r>
            <a:endParaRPr lang="ko-KR" altLang="en-US" sz="1400" b="1" dirty="0"/>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111</a:t>
            </a:fld>
            <a:endParaRPr lang="ko-KR" altLang="en-US" dirty="0"/>
          </a:p>
        </p:txBody>
      </p:sp>
    </p:spTree>
    <p:extLst>
      <p:ext uri="{BB962C8B-B14F-4D97-AF65-F5344CB8AC3E}">
        <p14:creationId xmlns:p14="http://schemas.microsoft.com/office/powerpoint/2010/main" val="314172483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683568" y="908720"/>
            <a:ext cx="5256584" cy="5447645"/>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One-Way ANOVA Table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Source         DF         SS         MS        F      P</a:t>
            </a:r>
          </a:p>
          <a:p>
            <a:r>
              <a:rPr lang="en-US" altLang="ko-KR" sz="1200" dirty="0">
                <a:latin typeface="굴림체" panose="020B0609000101010101" pitchFamily="49" charset="-127"/>
                <a:ea typeface="굴림체" panose="020B0609000101010101" pitchFamily="49" charset="-127"/>
              </a:rPr>
              <a:t>Part           24  0.0150911  0.0006288  291.110  0.000</a:t>
            </a:r>
          </a:p>
          <a:p>
            <a:r>
              <a:rPr lang="en-US" altLang="ko-KR" sz="1200" dirty="0">
                <a:latin typeface="굴림체" panose="020B0609000101010101" pitchFamily="49" charset="-127"/>
                <a:ea typeface="굴림체" panose="020B0609000101010101" pitchFamily="49" charset="-127"/>
              </a:rPr>
              <a:t>Repeatability  25  0.0000540  0.0000022</a:t>
            </a:r>
          </a:p>
          <a:p>
            <a:r>
              <a:rPr lang="en-US" altLang="ko-KR" sz="1200" dirty="0">
                <a:latin typeface="굴림체" panose="020B0609000101010101" pitchFamily="49" charset="-127"/>
                <a:ea typeface="굴림체" panose="020B0609000101010101" pitchFamily="49" charset="-127"/>
              </a:rPr>
              <a:t>Total          49  0.0151451</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α to remove interaction term = 0.05</a:t>
            </a:r>
          </a:p>
          <a:p>
            <a:r>
              <a:rPr lang="ko-KR" altLang="en-US" sz="1200" dirty="0">
                <a:latin typeface="굴림체" panose="020B0609000101010101" pitchFamily="49" charset="-127"/>
                <a:ea typeface="굴림체" panose="020B0609000101010101" pitchFamily="49" charset="-127"/>
              </a:rPr>
              <a:t> </a:t>
            </a:r>
          </a:p>
          <a:p>
            <a:r>
              <a:rPr lang="en-US" altLang="ko-KR" sz="1200" b="1" dirty="0">
                <a:latin typeface="굴림체" panose="020B0609000101010101" pitchFamily="49" charset="-127"/>
                <a:ea typeface="굴림체" panose="020B0609000101010101" pitchFamily="49" charset="-127"/>
              </a:rPr>
              <a:t>Gage R&amp;R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%Contribution</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   (of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a:t>
            </a:r>
          </a:p>
          <a:p>
            <a:r>
              <a:rPr lang="pt-BR" altLang="ko-KR" sz="1200" dirty="0">
                <a:latin typeface="굴림체" panose="020B0609000101010101" pitchFamily="49" charset="-127"/>
                <a:ea typeface="굴림체" panose="020B0609000101010101" pitchFamily="49" charset="-127"/>
              </a:rPr>
              <a:t>Total Gage R&amp;R   0.0000022           0.68</a:t>
            </a:r>
          </a:p>
          <a:p>
            <a:r>
              <a:rPr lang="en-US" altLang="ko-KR" sz="1200" dirty="0">
                <a:latin typeface="굴림체" panose="020B0609000101010101" pitchFamily="49" charset="-127"/>
                <a:ea typeface="굴림체" panose="020B0609000101010101" pitchFamily="49" charset="-127"/>
              </a:rPr>
              <a:t>  Repeatability  0.0000022           0.68</a:t>
            </a:r>
          </a:p>
          <a:p>
            <a:r>
              <a:rPr lang="en-US" altLang="ko-KR" sz="1200" dirty="0">
                <a:latin typeface="굴림체" panose="020B0609000101010101" pitchFamily="49" charset="-127"/>
                <a:ea typeface="굴림체" panose="020B0609000101010101" pitchFamily="49" charset="-127"/>
              </a:rPr>
              <a:t>Part-To-Part     0.0003133          99.32</a:t>
            </a:r>
          </a:p>
          <a:p>
            <a:r>
              <a:rPr lang="en-US" altLang="ko-KR" sz="1200" dirty="0">
                <a:latin typeface="굴림체" panose="020B0609000101010101" pitchFamily="49" charset="-127"/>
                <a:ea typeface="굴림체" panose="020B0609000101010101" pitchFamily="49" charset="-127"/>
              </a:rPr>
              <a:t>Total Variation  0.0003155         100.00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Process tolerance = 0.06</a:t>
            </a:r>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%Tolerance</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StdDev</a:t>
            </a:r>
            <a:r>
              <a:rPr lang="en-US" altLang="ko-KR" sz="1200" dirty="0">
                <a:latin typeface="굴림체" panose="020B0609000101010101" pitchFamily="49" charset="-127"/>
                <a:ea typeface="굴림체" panose="020B0609000101010101" pitchFamily="49" charset="-127"/>
              </a:rPr>
              <a:t> (SD)  (6 × SD)       (%SV)  (SV/Toler)</a:t>
            </a:r>
          </a:p>
          <a:p>
            <a:r>
              <a:rPr lang="pt-BR" altLang="ko-KR" sz="1200" dirty="0">
                <a:latin typeface="굴림체" panose="020B0609000101010101" pitchFamily="49" charset="-127"/>
                <a:ea typeface="굴림체" panose="020B0609000101010101" pitchFamily="49" charset="-127"/>
              </a:rPr>
              <a:t>Total Gage R&amp;R     0.0014697   0.008818        8.27       14.70</a:t>
            </a:r>
          </a:p>
          <a:p>
            <a:r>
              <a:rPr lang="en-US" altLang="ko-KR" sz="1200" dirty="0">
                <a:latin typeface="굴림체" panose="020B0609000101010101" pitchFamily="49" charset="-127"/>
                <a:ea typeface="굴림체" panose="020B0609000101010101" pitchFamily="49" charset="-127"/>
              </a:rPr>
              <a:t>  Repeatability    0.0014697   0.008818        8.27       14.70</a:t>
            </a:r>
          </a:p>
          <a:p>
            <a:r>
              <a:rPr lang="en-US" altLang="ko-KR" sz="1200" dirty="0">
                <a:latin typeface="굴림체" panose="020B0609000101010101" pitchFamily="49" charset="-127"/>
                <a:ea typeface="굴림체" panose="020B0609000101010101" pitchFamily="49" charset="-127"/>
              </a:rPr>
              <a:t>Part-To-Part       0.0177008   0.106205       99.66      177.01</a:t>
            </a:r>
          </a:p>
          <a:p>
            <a:r>
              <a:rPr lang="en-US" altLang="ko-KR" sz="1200" dirty="0">
                <a:latin typeface="굴림체" panose="020B0609000101010101" pitchFamily="49" charset="-127"/>
                <a:ea typeface="굴림체" panose="020B0609000101010101" pitchFamily="49" charset="-127"/>
              </a:rPr>
              <a:t>Total Variation    0.0177617   0.106570      100.00      177.62</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Number of Distinct Categories = 16</a:t>
            </a:r>
          </a:p>
          <a:p>
            <a:r>
              <a:rPr lang="ko-KR" altLang="en-US" sz="1200" dirty="0">
                <a:latin typeface="굴림체" panose="020B0609000101010101" pitchFamily="49" charset="-127"/>
                <a:ea typeface="굴림체" panose="020B0609000101010101" pitchFamily="49" charset="-127"/>
              </a:rPr>
              <a:t> </a:t>
            </a:r>
          </a:p>
        </p:txBody>
      </p:sp>
      <p:sp>
        <p:nvSpPr>
          <p:cNvPr id="3" name="TextBox 2"/>
          <p:cNvSpPr txBox="1"/>
          <p:nvPr/>
        </p:nvSpPr>
        <p:spPr>
          <a:xfrm>
            <a:off x="179512" y="148570"/>
            <a:ext cx="3281155" cy="400110"/>
          </a:xfrm>
          <a:prstGeom prst="rect">
            <a:avLst/>
          </a:prstGeom>
          <a:noFill/>
        </p:spPr>
        <p:txBody>
          <a:bodyPr wrap="none" rtlCol="0">
            <a:spAutoFit/>
          </a:bodyPr>
          <a:lstStyle/>
          <a:p>
            <a:r>
              <a:rPr lang="en-US" altLang="ko-KR" sz="2000" b="1" dirty="0"/>
              <a:t>Type 3 Study Case study</a:t>
            </a:r>
            <a:r>
              <a:rPr lang="ko-KR" altLang="en-US" sz="2000" b="1" dirty="0"/>
              <a:t> </a:t>
            </a:r>
          </a:p>
        </p:txBody>
      </p:sp>
      <p:sp>
        <p:nvSpPr>
          <p:cNvPr id="4" name="TextBox 3"/>
          <p:cNvSpPr txBox="1"/>
          <p:nvPr/>
        </p:nvSpPr>
        <p:spPr>
          <a:xfrm>
            <a:off x="5940152" y="3212976"/>
            <a:ext cx="2989566" cy="738664"/>
          </a:xfrm>
          <a:prstGeom prst="rect">
            <a:avLst/>
          </a:prstGeom>
          <a:noFill/>
        </p:spPr>
        <p:txBody>
          <a:bodyPr wrap="square" rtlCol="0">
            <a:spAutoFit/>
          </a:bodyPr>
          <a:lstStyle/>
          <a:p>
            <a:r>
              <a:rPr lang="en-US" altLang="ko-KR" sz="1400" dirty="0"/>
              <a:t>※ % Contribution</a:t>
            </a:r>
            <a:r>
              <a:rPr lang="ko-KR" altLang="en-US" sz="1400" dirty="0"/>
              <a:t> </a:t>
            </a:r>
            <a:r>
              <a:rPr lang="en-US" altLang="ko-KR" sz="1400" dirty="0"/>
              <a:t> </a:t>
            </a:r>
          </a:p>
          <a:p>
            <a:r>
              <a:rPr lang="en-US" sz="1400" dirty="0"/>
              <a:t>Because the variance contribution of the instrument is less than 1%</a:t>
            </a:r>
            <a:endParaRPr lang="ko-KR" altLang="en-US" sz="1400" dirty="0"/>
          </a:p>
        </p:txBody>
      </p:sp>
      <p:sp>
        <p:nvSpPr>
          <p:cNvPr id="5" name="TextBox 4"/>
          <p:cNvSpPr txBox="1"/>
          <p:nvPr/>
        </p:nvSpPr>
        <p:spPr>
          <a:xfrm>
            <a:off x="5940152" y="4365104"/>
            <a:ext cx="3061004" cy="523220"/>
          </a:xfrm>
          <a:prstGeom prst="rect">
            <a:avLst/>
          </a:prstGeom>
          <a:noFill/>
        </p:spPr>
        <p:txBody>
          <a:bodyPr wrap="square" rtlCol="0">
            <a:spAutoFit/>
          </a:bodyPr>
          <a:lstStyle/>
          <a:p>
            <a:r>
              <a:rPr lang="en-US" altLang="ko-KR" sz="1400" dirty="0"/>
              <a:t>※ % R&amp;R</a:t>
            </a:r>
          </a:p>
          <a:p>
            <a:r>
              <a:rPr lang="en-US" altLang="ko-KR" sz="1400" dirty="0"/>
              <a:t>Passed because it is less than 10 %</a:t>
            </a:r>
            <a:endParaRPr lang="ko-KR" altLang="en-US" sz="1400" dirty="0"/>
          </a:p>
        </p:txBody>
      </p:sp>
      <p:sp>
        <p:nvSpPr>
          <p:cNvPr id="6" name="TextBox 5"/>
          <p:cNvSpPr txBox="1"/>
          <p:nvPr/>
        </p:nvSpPr>
        <p:spPr>
          <a:xfrm>
            <a:off x="5940152" y="5066020"/>
            <a:ext cx="2952328" cy="523220"/>
          </a:xfrm>
          <a:prstGeom prst="rect">
            <a:avLst/>
          </a:prstGeom>
          <a:noFill/>
        </p:spPr>
        <p:txBody>
          <a:bodyPr wrap="square" rtlCol="0">
            <a:spAutoFit/>
          </a:bodyPr>
          <a:lstStyle/>
          <a:p>
            <a:r>
              <a:rPr lang="en-US" altLang="ko-KR" sz="1400" dirty="0"/>
              <a:t>※ % PTR</a:t>
            </a:r>
          </a:p>
          <a:p>
            <a:r>
              <a:rPr lang="ko-KR" altLang="en-US" sz="1400" dirty="0"/>
              <a:t>   </a:t>
            </a:r>
            <a:r>
              <a:rPr lang="en-US" sz="1400" dirty="0"/>
              <a:t>10% ~ 30%,so conditional pass</a:t>
            </a:r>
            <a:endParaRPr lang="ko-KR" altLang="en-US" sz="1400" dirty="0"/>
          </a:p>
        </p:txBody>
      </p:sp>
      <p:sp>
        <p:nvSpPr>
          <p:cNvPr id="7" name="TextBox 6"/>
          <p:cNvSpPr txBox="1"/>
          <p:nvPr/>
        </p:nvSpPr>
        <p:spPr>
          <a:xfrm>
            <a:off x="5940152" y="5589240"/>
            <a:ext cx="2736304" cy="307777"/>
          </a:xfrm>
          <a:prstGeom prst="rect">
            <a:avLst/>
          </a:prstGeom>
          <a:noFill/>
        </p:spPr>
        <p:txBody>
          <a:bodyPr wrap="square" rtlCol="0">
            <a:spAutoFit/>
          </a:bodyPr>
          <a:lstStyle/>
          <a:p>
            <a:r>
              <a:rPr lang="en-US" altLang="ko-KR" sz="1400" dirty="0"/>
              <a:t>※ Pass because of NDC &gt; 5</a:t>
            </a:r>
            <a:endParaRPr lang="ko-KR" altLang="en-US" sz="1400" dirty="0"/>
          </a:p>
        </p:txBody>
      </p:sp>
      <p:sp>
        <p:nvSpPr>
          <p:cNvPr id="8" name="TextBox 7"/>
          <p:cNvSpPr txBox="1"/>
          <p:nvPr/>
        </p:nvSpPr>
        <p:spPr>
          <a:xfrm>
            <a:off x="1907704" y="6093296"/>
            <a:ext cx="5584157" cy="584775"/>
          </a:xfrm>
          <a:prstGeom prst="rect">
            <a:avLst/>
          </a:prstGeom>
          <a:noFill/>
        </p:spPr>
        <p:txBody>
          <a:bodyPr wrap="none" rtlCol="0">
            <a:spAutoFit/>
          </a:bodyPr>
          <a:lstStyle/>
          <a:p>
            <a:r>
              <a:rPr lang="en-US" altLang="ko-KR" sz="1600" b="1" dirty="0"/>
              <a:t>“ If it is for process control, pass </a:t>
            </a:r>
          </a:p>
          <a:p>
            <a:r>
              <a:rPr lang="en-US" altLang="ko-KR" sz="1600" b="1" dirty="0"/>
              <a:t>but for the judgment of acceptance, conditional pass “</a:t>
            </a:r>
            <a:endParaRPr lang="ko-KR" altLang="en-US" sz="1600" b="1" dirty="0"/>
          </a:p>
        </p:txBody>
      </p: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112</a:t>
            </a:fld>
            <a:endParaRPr lang="ko-KR" altLang="en-US" dirty="0"/>
          </a:p>
        </p:txBody>
      </p:sp>
    </p:spTree>
    <p:extLst>
      <p:ext uri="{BB962C8B-B14F-4D97-AF65-F5344CB8AC3E}">
        <p14:creationId xmlns:p14="http://schemas.microsoft.com/office/powerpoint/2010/main" val="208019855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467544" y="1296050"/>
            <a:ext cx="6408712" cy="2492990"/>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Probabilities of Misclassification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Joint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Part is bad and is accepted   0.006</a:t>
            </a:r>
          </a:p>
          <a:p>
            <a:r>
              <a:rPr lang="en-US" altLang="ko-KR" sz="1200" dirty="0">
                <a:latin typeface="굴림체" panose="020B0609000101010101" pitchFamily="49" charset="-127"/>
                <a:ea typeface="굴림체" panose="020B0609000101010101" pitchFamily="49" charset="-127"/>
              </a:rPr>
              <a:t>Part is good and is rejected  0.007</a:t>
            </a:r>
          </a:p>
          <a:p>
            <a:endParaRPr lang="ko-KR" altLang="en-US" sz="1200" dirty="0">
              <a:latin typeface="굴림체" panose="020B0609000101010101" pitchFamily="49" charset="-127"/>
              <a:ea typeface="굴림체" panose="020B0609000101010101" pitchFamily="49" charset="-127"/>
            </a:endParaRP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Conditional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False Accept  0.061</a:t>
            </a:r>
          </a:p>
          <a:p>
            <a:r>
              <a:rPr lang="en-US" altLang="ko-KR" sz="1200" dirty="0">
                <a:latin typeface="굴림체" panose="020B0609000101010101" pitchFamily="49" charset="-127"/>
                <a:ea typeface="굴림체" panose="020B0609000101010101" pitchFamily="49" charset="-127"/>
              </a:rPr>
              <a:t>False Reject  0.008</a:t>
            </a:r>
          </a:p>
          <a:p>
            <a:endParaRPr lang="ko-KR" altLang="en-US" sz="1200" dirty="0">
              <a:latin typeface="굴림체" panose="020B0609000101010101" pitchFamily="49" charset="-127"/>
              <a:ea typeface="굴림체" panose="020B0609000101010101" pitchFamily="49" charset="-127"/>
            </a:endParaRPr>
          </a:p>
        </p:txBody>
      </p:sp>
      <p:sp>
        <p:nvSpPr>
          <p:cNvPr id="3" name="TextBox 2"/>
          <p:cNvSpPr txBox="1"/>
          <p:nvPr/>
        </p:nvSpPr>
        <p:spPr>
          <a:xfrm>
            <a:off x="179512" y="148570"/>
            <a:ext cx="3281155" cy="400110"/>
          </a:xfrm>
          <a:prstGeom prst="rect">
            <a:avLst/>
          </a:prstGeom>
          <a:noFill/>
        </p:spPr>
        <p:txBody>
          <a:bodyPr wrap="none" rtlCol="0">
            <a:spAutoFit/>
          </a:bodyPr>
          <a:lstStyle/>
          <a:p>
            <a:r>
              <a:rPr lang="en-US" altLang="ko-KR" sz="2000" b="1" dirty="0"/>
              <a:t>Type 3 Study Case study</a:t>
            </a:r>
            <a:r>
              <a:rPr lang="ko-KR" altLang="en-US" sz="2000" b="1" dirty="0"/>
              <a:t> </a:t>
            </a:r>
          </a:p>
        </p:txBody>
      </p:sp>
      <p:sp>
        <p:nvSpPr>
          <p:cNvPr id="6" name="TextBox 5"/>
          <p:cNvSpPr txBox="1"/>
          <p:nvPr/>
        </p:nvSpPr>
        <p:spPr>
          <a:xfrm>
            <a:off x="611560" y="3877032"/>
            <a:ext cx="2442592" cy="307777"/>
          </a:xfrm>
          <a:prstGeom prst="rect">
            <a:avLst/>
          </a:prstGeom>
          <a:noFill/>
        </p:spPr>
        <p:txBody>
          <a:bodyPr wrap="none" rtlCol="0">
            <a:spAutoFit/>
          </a:bodyPr>
          <a:lstStyle/>
          <a:p>
            <a:r>
              <a:rPr lang="en-US" altLang="ko-KR" sz="1400" dirty="0"/>
              <a:t>Probability of misclassifying</a:t>
            </a:r>
            <a:endParaRPr lang="ko-KR" altLang="en-US" sz="1400" dirty="0"/>
          </a:p>
        </p:txBody>
      </p:sp>
      <p:graphicFrame>
        <p:nvGraphicFramePr>
          <p:cNvPr id="7" name="표 6"/>
          <p:cNvGraphicFramePr>
            <a:graphicFrameLocks noGrp="1"/>
          </p:cNvGraphicFramePr>
          <p:nvPr>
            <p:extLst>
              <p:ext uri="{D42A27DB-BD31-4B8C-83A1-F6EECF244321}">
                <p14:modId xmlns:p14="http://schemas.microsoft.com/office/powerpoint/2010/main" val="625860120"/>
              </p:ext>
            </p:extLst>
          </p:nvPr>
        </p:nvGraphicFramePr>
        <p:xfrm>
          <a:off x="899592" y="4359428"/>
          <a:ext cx="7416823" cy="1784216"/>
        </p:xfrm>
        <a:graphic>
          <a:graphicData uri="http://schemas.openxmlformats.org/drawingml/2006/table">
            <a:tbl>
              <a:tblPr firstRow="1" bandRow="1">
                <a:tableStyleId>{5C22544A-7EE6-4342-B048-85BDC9FD1C3A}</a:tableStyleId>
              </a:tblPr>
              <a:tblGrid>
                <a:gridCol w="2351640">
                  <a:extLst>
                    <a:ext uri="{9D8B030D-6E8A-4147-A177-3AD203B41FA5}">
                      <a16:colId xmlns:a16="http://schemas.microsoft.com/office/drawing/2014/main" val="20000"/>
                    </a:ext>
                  </a:extLst>
                </a:gridCol>
                <a:gridCol w="2392338">
                  <a:extLst>
                    <a:ext uri="{9D8B030D-6E8A-4147-A177-3AD203B41FA5}">
                      <a16:colId xmlns:a16="http://schemas.microsoft.com/office/drawing/2014/main" val="20001"/>
                    </a:ext>
                  </a:extLst>
                </a:gridCol>
                <a:gridCol w="2672845">
                  <a:extLst>
                    <a:ext uri="{9D8B030D-6E8A-4147-A177-3AD203B41FA5}">
                      <a16:colId xmlns:a16="http://schemas.microsoft.com/office/drawing/2014/main" val="20002"/>
                    </a:ext>
                  </a:extLst>
                </a:gridCol>
              </a:tblGrid>
              <a:tr h="504056">
                <a:tc>
                  <a:txBody>
                    <a:bodyPr/>
                    <a:lstStyle/>
                    <a:p>
                      <a:pPr algn="ctr" latinLnBrk="1"/>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solidFill>
                      <a:schemeClr val="bg1"/>
                    </a:solidFill>
                  </a:tcPr>
                </a:tc>
                <a:tc>
                  <a:txBody>
                    <a:bodyPr/>
                    <a:lstStyle/>
                    <a:p>
                      <a:pPr algn="ctr" latinLnBrk="1"/>
                      <a:r>
                        <a:rPr lang="en-US" altLang="ko-KR" sz="1200" dirty="0">
                          <a:solidFill>
                            <a:schemeClr val="tx1"/>
                          </a:solidFill>
                        </a:rPr>
                        <a:t>Acceptance judgment</a:t>
                      </a:r>
                    </a:p>
                    <a:p>
                      <a:pPr algn="ctr" latinLnBrk="1"/>
                      <a:r>
                        <a:rPr lang="en-US" altLang="ko-KR" sz="1200" dirty="0">
                          <a:solidFill>
                            <a:schemeClr val="tx1"/>
                          </a:solidFill>
                        </a:rPr>
                        <a:t>(LSL &lt; X &lt; USL )</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200" dirty="0">
                          <a:solidFill>
                            <a:schemeClr val="tx1"/>
                          </a:solidFill>
                        </a:rPr>
                        <a:t>Rejected</a:t>
                      </a:r>
                      <a:r>
                        <a:rPr lang="en-US" altLang="ko-KR" sz="1200" baseline="0" dirty="0">
                          <a:solidFill>
                            <a:schemeClr val="tx1"/>
                          </a:solidFill>
                        </a:rPr>
                        <a:t> judgment</a:t>
                      </a:r>
                      <a:endParaRPr lang="en-US" altLang="ko-KR" sz="1200" dirty="0">
                        <a:solidFill>
                          <a:schemeClr val="tx1"/>
                        </a:solidFill>
                      </a:endParaRPr>
                    </a:p>
                    <a:p>
                      <a:pPr algn="ctr" latinLnBrk="1"/>
                      <a:r>
                        <a:rPr lang="en-US" altLang="ko-KR" sz="1200" dirty="0">
                          <a:solidFill>
                            <a:schemeClr val="tx1"/>
                          </a:solidFill>
                        </a:rPr>
                        <a:t>( X &lt; LSL ,</a:t>
                      </a:r>
                      <a:r>
                        <a:rPr lang="en-US" altLang="ko-KR" sz="1200" baseline="0" dirty="0">
                          <a:solidFill>
                            <a:schemeClr val="tx1"/>
                          </a:solidFill>
                        </a:rPr>
                        <a:t> X &gt; USL )</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04056">
                <a:tc>
                  <a:txBody>
                    <a:bodyPr/>
                    <a:lstStyle/>
                    <a:p>
                      <a:pPr algn="ctr" latinLnBrk="1"/>
                      <a:r>
                        <a:rPr lang="en-US" altLang="ko-KR" sz="1200" b="1" dirty="0">
                          <a:solidFill>
                            <a:schemeClr val="tx1"/>
                          </a:solidFill>
                        </a:rPr>
                        <a:t>Accepted product</a:t>
                      </a:r>
                    </a:p>
                    <a:p>
                      <a:pPr algn="ctr" latinLnBrk="1"/>
                      <a:r>
                        <a:rPr lang="en-US" altLang="ko-KR" sz="1200" b="1" dirty="0">
                          <a:solidFill>
                            <a:schemeClr val="tx1"/>
                          </a:solidFill>
                        </a:rPr>
                        <a:t>(LSL &lt; Y &lt; USL )</a:t>
                      </a:r>
                      <a:endParaRPr lang="ko-KR" altLang="en-US" sz="12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200" dirty="0">
                          <a:solidFill>
                            <a:schemeClr val="tx1"/>
                          </a:solidFill>
                        </a:rPr>
                        <a:t>Misclassifying</a:t>
                      </a:r>
                    </a:p>
                    <a:p>
                      <a:pPr algn="ctr" latinLnBrk="1"/>
                      <a:r>
                        <a:rPr lang="en-US" altLang="ko-KR" sz="1200" dirty="0">
                          <a:solidFill>
                            <a:schemeClr val="tx1"/>
                          </a:solidFill>
                        </a:rPr>
                        <a:t>Coupling probability</a:t>
                      </a:r>
                      <a:r>
                        <a:rPr lang="ko-KR" altLang="en-US" sz="1200" dirty="0">
                          <a:solidFill>
                            <a:schemeClr val="tx1"/>
                          </a:solidFill>
                        </a:rPr>
                        <a:t> </a:t>
                      </a:r>
                      <a:r>
                        <a:rPr lang="en-US" altLang="ko-KR" sz="1200" dirty="0">
                          <a:solidFill>
                            <a:schemeClr val="tx1"/>
                          </a:solidFill>
                        </a:rPr>
                        <a:t>:  0.007</a:t>
                      </a:r>
                    </a:p>
                    <a:p>
                      <a:pPr algn="ctr" latinLnBrk="1"/>
                      <a:r>
                        <a:rPr lang="en-US" altLang="ko-KR" sz="1200" dirty="0">
                          <a:solidFill>
                            <a:schemeClr val="tx1"/>
                          </a:solidFill>
                        </a:rPr>
                        <a:t>Conditional</a:t>
                      </a:r>
                      <a:r>
                        <a:rPr lang="en-US" altLang="ko-KR" sz="1200" baseline="0" dirty="0">
                          <a:solidFill>
                            <a:schemeClr val="tx1"/>
                          </a:solidFill>
                        </a:rPr>
                        <a:t> probability</a:t>
                      </a:r>
                      <a:r>
                        <a:rPr lang="en-US" altLang="ko-KR" sz="1200" dirty="0">
                          <a:solidFill>
                            <a:schemeClr val="tx1"/>
                          </a:solidFill>
                        </a:rPr>
                        <a:t>:  0.008</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504056">
                <a:tc>
                  <a:txBody>
                    <a:bodyPr/>
                    <a:lstStyle/>
                    <a:p>
                      <a:pPr algn="ctr" latinLnBrk="1"/>
                      <a:r>
                        <a:rPr lang="en-US" altLang="ko-KR" sz="1200" b="1" dirty="0">
                          <a:solidFill>
                            <a:schemeClr val="tx1"/>
                          </a:solidFill>
                        </a:rPr>
                        <a:t>Rejected product</a:t>
                      </a:r>
                    </a:p>
                    <a:p>
                      <a:pPr algn="ctr" latinLnBrk="1"/>
                      <a:r>
                        <a:rPr lang="en-US" altLang="ko-KR" sz="1200" b="1" dirty="0">
                          <a:solidFill>
                            <a:schemeClr val="tx1"/>
                          </a:solidFill>
                        </a:rPr>
                        <a:t>( Y &lt; LSL ,</a:t>
                      </a:r>
                      <a:r>
                        <a:rPr lang="en-US" altLang="ko-KR" sz="1200" b="1" baseline="0" dirty="0">
                          <a:solidFill>
                            <a:schemeClr val="tx1"/>
                          </a:solidFill>
                        </a:rPr>
                        <a:t> Y &gt; USL )</a:t>
                      </a:r>
                      <a:endParaRPr lang="ko-KR" altLang="en-US" sz="1200" b="1" dirty="0">
                        <a:solidFill>
                          <a:schemeClr val="tx1"/>
                        </a:solidFill>
                      </a:endParaRPr>
                    </a:p>
                    <a:p>
                      <a:pPr algn="ctr" latinLnBrk="1"/>
                      <a:endParaRPr lang="ko-KR" altLang="en-US" sz="12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solidFill>
                            <a:schemeClr val="tx1"/>
                          </a:solidFill>
                        </a:rPr>
                        <a:t>Misclassifying</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solidFill>
                            <a:schemeClr val="tx1"/>
                          </a:solidFill>
                        </a:rPr>
                        <a:t>Coupling probability</a:t>
                      </a:r>
                      <a:r>
                        <a:rPr lang="ko-KR" altLang="en-US" sz="1200" dirty="0">
                          <a:solidFill>
                            <a:schemeClr val="tx1"/>
                          </a:solidFill>
                        </a:rPr>
                        <a:t> </a:t>
                      </a:r>
                      <a:r>
                        <a:rPr lang="en-US" altLang="ko-KR" sz="1200" dirty="0">
                          <a:solidFill>
                            <a:schemeClr val="tx1"/>
                          </a:solidFill>
                        </a:rPr>
                        <a:t>:  0.006</a:t>
                      </a: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dirty="0">
                          <a:solidFill>
                            <a:schemeClr val="tx1"/>
                          </a:solidFill>
                        </a:rPr>
                        <a:t>Conditional probability</a:t>
                      </a:r>
                      <a:r>
                        <a:rPr lang="ko-KR" altLang="en-US" sz="1200" dirty="0">
                          <a:solidFill>
                            <a:schemeClr val="tx1"/>
                          </a:solidFill>
                        </a:rPr>
                        <a:t> </a:t>
                      </a:r>
                      <a:r>
                        <a:rPr lang="en-US" altLang="ko-KR" sz="1200" dirty="0">
                          <a:solidFill>
                            <a:schemeClr val="tx1"/>
                          </a:solidFill>
                        </a:rPr>
                        <a:t>:  0.061</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bl>
          </a:graphicData>
        </a:graphic>
      </p:graphicFrame>
      <p:sp>
        <p:nvSpPr>
          <p:cNvPr id="10" name="TextBox 9"/>
          <p:cNvSpPr txBox="1"/>
          <p:nvPr/>
        </p:nvSpPr>
        <p:spPr>
          <a:xfrm>
            <a:off x="2285984" y="4381088"/>
            <a:ext cx="915635" cy="276999"/>
          </a:xfrm>
          <a:prstGeom prst="rect">
            <a:avLst/>
          </a:prstGeom>
          <a:noFill/>
        </p:spPr>
        <p:txBody>
          <a:bodyPr wrap="none" rtlCol="0">
            <a:spAutoFit/>
          </a:bodyPr>
          <a:lstStyle/>
          <a:p>
            <a:r>
              <a:rPr lang="en-US" altLang="ko-KR" sz="1200" b="1" dirty="0"/>
              <a:t>Judgment</a:t>
            </a:r>
            <a:endParaRPr lang="ko-KR" altLang="en-US" sz="1200" b="1" dirty="0"/>
          </a:p>
        </p:txBody>
      </p:sp>
      <p:sp>
        <p:nvSpPr>
          <p:cNvPr id="11" name="TextBox 10"/>
          <p:cNvSpPr txBox="1"/>
          <p:nvPr/>
        </p:nvSpPr>
        <p:spPr>
          <a:xfrm>
            <a:off x="971600" y="4536137"/>
            <a:ext cx="1074077" cy="276999"/>
          </a:xfrm>
          <a:prstGeom prst="rect">
            <a:avLst/>
          </a:prstGeom>
          <a:noFill/>
        </p:spPr>
        <p:txBody>
          <a:bodyPr wrap="none" rtlCol="0">
            <a:spAutoFit/>
          </a:bodyPr>
          <a:lstStyle/>
          <a:p>
            <a:r>
              <a:rPr lang="en-US" altLang="ko-KR" sz="1200" b="1" dirty="0"/>
              <a:t>Actual parts</a:t>
            </a:r>
            <a:endParaRPr lang="ko-KR" altLang="en-US" sz="1200" b="1" dirty="0"/>
          </a:p>
        </p:txBody>
      </p:sp>
      <p:sp>
        <p:nvSpPr>
          <p:cNvPr id="12" name="TextBox 11"/>
          <p:cNvSpPr txBox="1"/>
          <p:nvPr/>
        </p:nvSpPr>
        <p:spPr>
          <a:xfrm>
            <a:off x="5019481" y="857232"/>
            <a:ext cx="4124519" cy="461665"/>
          </a:xfrm>
          <a:prstGeom prst="rect">
            <a:avLst/>
          </a:prstGeom>
          <a:noFill/>
        </p:spPr>
        <p:txBody>
          <a:bodyPr wrap="square" rtlCol="0">
            <a:spAutoFit/>
          </a:bodyPr>
          <a:lstStyle/>
          <a:p>
            <a:r>
              <a:rPr lang="en-US" sz="1200" dirty="0"/>
              <a:t>※ Probability of misclassification of non-acceptance products as acceptable products</a:t>
            </a:r>
            <a:endParaRPr lang="ko-KR" altLang="en-US" sz="1200" dirty="0"/>
          </a:p>
        </p:txBody>
      </p:sp>
      <p:sp>
        <p:nvSpPr>
          <p:cNvPr id="13" name="TextBox 12"/>
          <p:cNvSpPr txBox="1"/>
          <p:nvPr/>
        </p:nvSpPr>
        <p:spPr>
          <a:xfrm>
            <a:off x="5019481" y="2595723"/>
            <a:ext cx="3981675" cy="461665"/>
          </a:xfrm>
          <a:prstGeom prst="rect">
            <a:avLst/>
          </a:prstGeom>
          <a:noFill/>
        </p:spPr>
        <p:txBody>
          <a:bodyPr wrap="square" rtlCol="0">
            <a:spAutoFit/>
          </a:bodyPr>
          <a:lstStyle/>
          <a:p>
            <a:r>
              <a:rPr lang="en-US" altLang="ko-KR" sz="1200" dirty="0"/>
              <a:t>※ </a:t>
            </a:r>
            <a:r>
              <a:rPr lang="en-US" sz="1200" dirty="0"/>
              <a:t>Probability of misclassifying an acceptable product as an unacceptable product</a:t>
            </a:r>
            <a:endParaRPr lang="ko-KR" altLang="en-US" sz="1200" dirty="0"/>
          </a:p>
        </p:txBody>
      </p:sp>
      <p:sp>
        <p:nvSpPr>
          <p:cNvPr id="14" name="TextBox 13"/>
          <p:cNvSpPr txBox="1"/>
          <p:nvPr/>
        </p:nvSpPr>
        <p:spPr>
          <a:xfrm>
            <a:off x="5220072" y="1343618"/>
            <a:ext cx="3709646" cy="1200329"/>
          </a:xfrm>
          <a:prstGeom prst="rect">
            <a:avLst/>
          </a:prstGeom>
          <a:noFill/>
        </p:spPr>
        <p:txBody>
          <a:bodyPr wrap="square" rtlCol="0">
            <a:spAutoFit/>
          </a:bodyPr>
          <a:lstStyle/>
          <a:p>
            <a:pPr marL="171450" indent="-171450">
              <a:buFontTx/>
              <a:buChar char="-"/>
            </a:pPr>
            <a:r>
              <a:rPr lang="en-US" sz="1200" dirty="0"/>
              <a:t>Coupling Probability : It is the probability of misclassifying the rejected product as acceptance for all parts(0.006).</a:t>
            </a:r>
          </a:p>
          <a:p>
            <a:pPr marL="171450" indent="-171450">
              <a:buFontTx/>
              <a:buChar char="-"/>
            </a:pPr>
            <a:r>
              <a:rPr lang="en-US" sz="1200" dirty="0"/>
              <a:t>Conditional Probability : It is the probability of misclassifying rejected products as passing only for rejected products( 0.061 ).</a:t>
            </a:r>
            <a:endParaRPr lang="ko-KR" altLang="en-US" sz="1200" dirty="0"/>
          </a:p>
        </p:txBody>
      </p:sp>
      <p:sp>
        <p:nvSpPr>
          <p:cNvPr id="15" name="TextBox 14"/>
          <p:cNvSpPr txBox="1"/>
          <p:nvPr/>
        </p:nvSpPr>
        <p:spPr>
          <a:xfrm>
            <a:off x="5220072" y="3026631"/>
            <a:ext cx="3709646" cy="1384995"/>
          </a:xfrm>
          <a:prstGeom prst="rect">
            <a:avLst/>
          </a:prstGeom>
          <a:noFill/>
        </p:spPr>
        <p:txBody>
          <a:bodyPr wrap="square" rtlCol="0">
            <a:spAutoFit/>
          </a:bodyPr>
          <a:lstStyle/>
          <a:p>
            <a:pPr marL="171450" indent="-171450">
              <a:buFontTx/>
              <a:buChar char="-"/>
            </a:pPr>
            <a:r>
              <a:rPr lang="en-US" altLang="ko-KR" sz="1200" dirty="0"/>
              <a:t>Coupling Probability</a:t>
            </a:r>
            <a:r>
              <a:rPr lang="ko-KR" altLang="en-US" sz="1200" dirty="0"/>
              <a:t> </a:t>
            </a:r>
            <a:r>
              <a:rPr lang="en-US" altLang="ko-KR" sz="1200" dirty="0"/>
              <a:t>: </a:t>
            </a:r>
            <a:r>
              <a:rPr lang="en-US" sz="1200" dirty="0"/>
              <a:t>The probability of misclassifying an acceptable product as rejected products for all parts.</a:t>
            </a:r>
            <a:r>
              <a:rPr lang="en-US" altLang="ko-KR" sz="1200" dirty="0"/>
              <a:t>( 0.007 ) </a:t>
            </a:r>
          </a:p>
          <a:p>
            <a:pPr marL="171450" indent="-171450">
              <a:buFontTx/>
              <a:buChar char="-"/>
            </a:pPr>
            <a:r>
              <a:rPr lang="en-US" altLang="ko-KR" sz="1200" dirty="0"/>
              <a:t>Conditional Probability</a:t>
            </a:r>
            <a:r>
              <a:rPr lang="ko-KR" altLang="en-US" sz="1200" dirty="0"/>
              <a:t> </a:t>
            </a:r>
            <a:r>
              <a:rPr lang="en-US" altLang="ko-KR" sz="1200" dirty="0"/>
              <a:t>: </a:t>
            </a:r>
            <a:r>
              <a:rPr lang="en-US" sz="1200" dirty="0"/>
              <a:t>It is the probability of misclassifying an acceptable product as an rejected product only for acceptable products.</a:t>
            </a:r>
            <a:r>
              <a:rPr lang="en-US" altLang="ko-KR" sz="1200" dirty="0"/>
              <a:t>( 0.008 ) </a:t>
            </a:r>
            <a:endParaRPr lang="ko-KR" altLang="en-US" sz="1200" dirty="0"/>
          </a:p>
        </p:txBody>
      </p:sp>
      <p:sp>
        <p:nvSpPr>
          <p:cNvPr id="16"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113</a:t>
            </a:fld>
            <a:endParaRPr lang="ko-KR" altLang="en-US" dirty="0"/>
          </a:p>
        </p:txBody>
      </p:sp>
    </p:spTree>
    <p:extLst>
      <p:ext uri="{BB962C8B-B14F-4D97-AF65-F5344CB8AC3E}">
        <p14:creationId xmlns:p14="http://schemas.microsoft.com/office/powerpoint/2010/main" val="346680108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683568" y="908720"/>
            <a:ext cx="5256584" cy="5447645"/>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One-Way ANOVA Table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Source         DF         SS         MS        F      P</a:t>
            </a:r>
          </a:p>
          <a:p>
            <a:r>
              <a:rPr lang="en-US" altLang="ko-KR" sz="1200" dirty="0">
                <a:latin typeface="굴림체" panose="020B0609000101010101" pitchFamily="49" charset="-127"/>
                <a:ea typeface="굴림체" panose="020B0609000101010101" pitchFamily="49" charset="-127"/>
              </a:rPr>
              <a:t>Part           24  0.0150911  0.0006288  291.110  0.000</a:t>
            </a:r>
          </a:p>
          <a:p>
            <a:r>
              <a:rPr lang="en-US" altLang="ko-KR" sz="1200" dirty="0">
                <a:latin typeface="굴림체" panose="020B0609000101010101" pitchFamily="49" charset="-127"/>
                <a:ea typeface="굴림체" panose="020B0609000101010101" pitchFamily="49" charset="-127"/>
              </a:rPr>
              <a:t>Repeatability  25  0.0000540  0.0000022</a:t>
            </a:r>
          </a:p>
          <a:p>
            <a:r>
              <a:rPr lang="en-US" altLang="ko-KR" sz="1200" dirty="0">
                <a:latin typeface="굴림체" panose="020B0609000101010101" pitchFamily="49" charset="-127"/>
                <a:ea typeface="굴림체" panose="020B0609000101010101" pitchFamily="49" charset="-127"/>
              </a:rPr>
              <a:t>Total          49  0.0151451</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α to remove interaction term = 0.05</a:t>
            </a:r>
          </a:p>
          <a:p>
            <a:r>
              <a:rPr lang="ko-KR" altLang="en-US" sz="1200" dirty="0">
                <a:latin typeface="굴림체" panose="020B0609000101010101" pitchFamily="49" charset="-127"/>
                <a:ea typeface="굴림체" panose="020B0609000101010101" pitchFamily="49" charset="-127"/>
              </a:rPr>
              <a:t> </a:t>
            </a:r>
          </a:p>
          <a:p>
            <a:r>
              <a:rPr lang="en-US" altLang="ko-KR" sz="1200" b="1" dirty="0">
                <a:latin typeface="굴림체" panose="020B0609000101010101" pitchFamily="49" charset="-127"/>
                <a:ea typeface="굴림체" panose="020B0609000101010101" pitchFamily="49" charset="-127"/>
              </a:rPr>
              <a:t>Gage R&amp;R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%Contribution</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   (of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a:t>
            </a:r>
          </a:p>
          <a:p>
            <a:r>
              <a:rPr lang="pt-BR" altLang="ko-KR" sz="1200" dirty="0">
                <a:latin typeface="굴림체" panose="020B0609000101010101" pitchFamily="49" charset="-127"/>
                <a:ea typeface="굴림체" panose="020B0609000101010101" pitchFamily="49" charset="-127"/>
              </a:rPr>
              <a:t>Total Gage R&amp;R   0.0000022           0.68</a:t>
            </a:r>
          </a:p>
          <a:p>
            <a:r>
              <a:rPr lang="en-US" altLang="ko-KR" sz="1200" dirty="0">
                <a:latin typeface="굴림체" panose="020B0609000101010101" pitchFamily="49" charset="-127"/>
                <a:ea typeface="굴림체" panose="020B0609000101010101" pitchFamily="49" charset="-127"/>
              </a:rPr>
              <a:t>  Repeatability  0.0000022           0.68</a:t>
            </a:r>
          </a:p>
          <a:p>
            <a:r>
              <a:rPr lang="en-US" altLang="ko-KR" sz="1200" dirty="0">
                <a:latin typeface="굴림체" panose="020B0609000101010101" pitchFamily="49" charset="-127"/>
                <a:ea typeface="굴림체" panose="020B0609000101010101" pitchFamily="49" charset="-127"/>
              </a:rPr>
              <a:t>Part-To-Part     0.0003133          99.32</a:t>
            </a:r>
          </a:p>
          <a:p>
            <a:r>
              <a:rPr lang="en-US" altLang="ko-KR" sz="1200" dirty="0">
                <a:latin typeface="굴림체" panose="020B0609000101010101" pitchFamily="49" charset="-127"/>
                <a:ea typeface="굴림체" panose="020B0609000101010101" pitchFamily="49" charset="-127"/>
              </a:rPr>
              <a:t>Total Variation  0.0003155         100.00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Process tolerance = 0.06</a:t>
            </a:r>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%Tolerance</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StdDev</a:t>
            </a:r>
            <a:r>
              <a:rPr lang="en-US" altLang="ko-KR" sz="1200" dirty="0">
                <a:latin typeface="굴림체" panose="020B0609000101010101" pitchFamily="49" charset="-127"/>
                <a:ea typeface="굴림체" panose="020B0609000101010101" pitchFamily="49" charset="-127"/>
              </a:rPr>
              <a:t> (SD)  (6 × SD)       (%SV)  (SV/Toler)</a:t>
            </a:r>
          </a:p>
          <a:p>
            <a:r>
              <a:rPr lang="pt-BR" altLang="ko-KR" sz="1200" dirty="0">
                <a:latin typeface="굴림체" panose="020B0609000101010101" pitchFamily="49" charset="-127"/>
                <a:ea typeface="굴림체" panose="020B0609000101010101" pitchFamily="49" charset="-127"/>
              </a:rPr>
              <a:t>Total Gage R&amp;R     0.0014697   0.008818        8.27       14.70</a:t>
            </a:r>
          </a:p>
          <a:p>
            <a:r>
              <a:rPr lang="en-US" altLang="ko-KR" sz="1200" dirty="0">
                <a:latin typeface="굴림체" panose="020B0609000101010101" pitchFamily="49" charset="-127"/>
                <a:ea typeface="굴림체" panose="020B0609000101010101" pitchFamily="49" charset="-127"/>
              </a:rPr>
              <a:t>  Repeatability    0.0014697   0.008818        8.27       14.70</a:t>
            </a:r>
          </a:p>
          <a:p>
            <a:r>
              <a:rPr lang="en-US" altLang="ko-KR" sz="1200" dirty="0">
                <a:latin typeface="굴림체" panose="020B0609000101010101" pitchFamily="49" charset="-127"/>
                <a:ea typeface="굴림체" panose="020B0609000101010101" pitchFamily="49" charset="-127"/>
              </a:rPr>
              <a:t>Part-To-Part       0.0177008   0.106205       99.66      177.01</a:t>
            </a:r>
          </a:p>
          <a:p>
            <a:r>
              <a:rPr lang="en-US" altLang="ko-KR" sz="1200" dirty="0">
                <a:latin typeface="굴림체" panose="020B0609000101010101" pitchFamily="49" charset="-127"/>
                <a:ea typeface="굴림체" panose="020B0609000101010101" pitchFamily="49" charset="-127"/>
              </a:rPr>
              <a:t>Total Variation    0.0177617   0.106570      100.00      177.62</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Number of Distinct Categories = 16</a:t>
            </a:r>
          </a:p>
          <a:p>
            <a:r>
              <a:rPr lang="ko-KR" altLang="en-US" sz="1200" dirty="0">
                <a:latin typeface="굴림체" panose="020B0609000101010101" pitchFamily="49" charset="-127"/>
                <a:ea typeface="굴림체" panose="020B0609000101010101" pitchFamily="49" charset="-127"/>
              </a:rPr>
              <a:t> </a:t>
            </a:r>
          </a:p>
        </p:txBody>
      </p:sp>
      <p:sp>
        <p:nvSpPr>
          <p:cNvPr id="3" name="TextBox 2"/>
          <p:cNvSpPr txBox="1"/>
          <p:nvPr/>
        </p:nvSpPr>
        <p:spPr>
          <a:xfrm>
            <a:off x="179512" y="148570"/>
            <a:ext cx="4018536" cy="400110"/>
          </a:xfrm>
          <a:prstGeom prst="rect">
            <a:avLst/>
          </a:prstGeom>
          <a:noFill/>
        </p:spPr>
        <p:txBody>
          <a:bodyPr wrap="none" rtlCol="0">
            <a:spAutoFit/>
          </a:bodyPr>
          <a:lstStyle/>
          <a:p>
            <a:r>
              <a:rPr lang="en-US" altLang="ko-KR" sz="2000" b="1" dirty="0"/>
              <a:t>Type 3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4" name="TextBox 3"/>
          <p:cNvSpPr txBox="1"/>
          <p:nvPr/>
        </p:nvSpPr>
        <p:spPr>
          <a:xfrm>
            <a:off x="5868144" y="3212976"/>
            <a:ext cx="2952328" cy="738664"/>
          </a:xfrm>
          <a:prstGeom prst="rect">
            <a:avLst/>
          </a:prstGeom>
          <a:noFill/>
        </p:spPr>
        <p:txBody>
          <a:bodyPr wrap="square" rtlCol="0">
            <a:spAutoFit/>
          </a:bodyPr>
          <a:lstStyle/>
          <a:p>
            <a:r>
              <a:rPr lang="en-US" altLang="ko-KR" sz="1400" dirty="0"/>
              <a:t>※ % </a:t>
            </a:r>
            <a:r>
              <a:rPr lang="en-US" altLang="ko-KR" sz="1400" dirty="0" err="1"/>
              <a:t>Đóng</a:t>
            </a:r>
            <a:r>
              <a:rPr lang="en-US" altLang="ko-KR" sz="1400" dirty="0"/>
              <a:t> </a:t>
            </a:r>
            <a:r>
              <a:rPr lang="en-US" altLang="ko-KR" sz="1400" dirty="0" err="1"/>
              <a:t>góp</a:t>
            </a:r>
            <a:r>
              <a:rPr lang="ko-KR" altLang="en-US" sz="1400" dirty="0"/>
              <a:t> </a:t>
            </a:r>
            <a:r>
              <a:rPr lang="en-US" altLang="ko-KR" sz="1400" dirty="0"/>
              <a:t> </a:t>
            </a:r>
          </a:p>
          <a:p>
            <a:r>
              <a:rPr lang="vi-VN" altLang="ko-KR" sz="1400" dirty="0"/>
              <a:t>Bởi vì sự đóng góp về phương sai của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vi-VN" altLang="ko-KR" sz="1400" dirty="0"/>
              <a:t>ít hơn 1%</a:t>
            </a:r>
            <a:r>
              <a:rPr lang="en-US" altLang="ko-KR" sz="1400" dirty="0"/>
              <a:t> -&gt; </a:t>
            </a:r>
            <a:r>
              <a:rPr lang="en-US" altLang="ko-KR" sz="1400" dirty="0" err="1"/>
              <a:t>đạt</a:t>
            </a:r>
            <a:endParaRPr lang="ko-KR" altLang="en-US" sz="1400" dirty="0"/>
          </a:p>
        </p:txBody>
      </p:sp>
      <p:sp>
        <p:nvSpPr>
          <p:cNvPr id="5" name="TextBox 4"/>
          <p:cNvSpPr txBox="1"/>
          <p:nvPr/>
        </p:nvSpPr>
        <p:spPr>
          <a:xfrm>
            <a:off x="5868144" y="4365104"/>
            <a:ext cx="2736304" cy="523220"/>
          </a:xfrm>
          <a:prstGeom prst="rect">
            <a:avLst/>
          </a:prstGeom>
          <a:noFill/>
        </p:spPr>
        <p:txBody>
          <a:bodyPr wrap="square" rtlCol="0">
            <a:spAutoFit/>
          </a:bodyPr>
          <a:lstStyle/>
          <a:p>
            <a:r>
              <a:rPr lang="en-US" altLang="ko-KR" sz="1400" dirty="0"/>
              <a:t>※ % R&amp;R</a:t>
            </a:r>
          </a:p>
          <a:p>
            <a:r>
              <a:rPr lang="ko-KR" altLang="en-US" sz="1400" dirty="0"/>
              <a:t> </a:t>
            </a:r>
            <a:r>
              <a:rPr lang="en-US" altLang="ko-KR" sz="1400" dirty="0" err="1"/>
              <a:t>Dưới</a:t>
            </a:r>
            <a:r>
              <a:rPr lang="en-US" altLang="ko-KR" sz="1400" dirty="0"/>
              <a:t> 10% -&gt; </a:t>
            </a:r>
            <a:r>
              <a:rPr lang="en-US" altLang="ko-KR" sz="1400" dirty="0" err="1"/>
              <a:t>đạt</a:t>
            </a:r>
            <a:endParaRPr lang="ko-KR" altLang="en-US" sz="1400" dirty="0"/>
          </a:p>
        </p:txBody>
      </p:sp>
      <p:sp>
        <p:nvSpPr>
          <p:cNvPr id="6" name="TextBox 5"/>
          <p:cNvSpPr txBox="1"/>
          <p:nvPr/>
        </p:nvSpPr>
        <p:spPr>
          <a:xfrm>
            <a:off x="5868144" y="5066020"/>
            <a:ext cx="3203848" cy="523220"/>
          </a:xfrm>
          <a:prstGeom prst="rect">
            <a:avLst/>
          </a:prstGeom>
          <a:noFill/>
        </p:spPr>
        <p:txBody>
          <a:bodyPr wrap="square" rtlCol="0">
            <a:spAutoFit/>
          </a:bodyPr>
          <a:lstStyle/>
          <a:p>
            <a:r>
              <a:rPr lang="en-US" altLang="ko-KR" sz="1400" dirty="0"/>
              <a:t>※ % PTR</a:t>
            </a:r>
          </a:p>
          <a:p>
            <a:r>
              <a:rPr lang="en-US" altLang="ko-KR" sz="1400" dirty="0" err="1"/>
              <a:t>Trong</a:t>
            </a:r>
            <a:r>
              <a:rPr lang="en-US" altLang="ko-KR" sz="1400" dirty="0"/>
              <a:t> 10% ~30% -&gt; </a:t>
            </a:r>
            <a:r>
              <a:rPr lang="en-US" altLang="ko-KR" sz="1400" dirty="0" err="1"/>
              <a:t>đạt</a:t>
            </a:r>
            <a:r>
              <a:rPr lang="en-US" altLang="ko-KR" sz="1400" dirty="0"/>
              <a:t> </a:t>
            </a:r>
            <a:r>
              <a:rPr lang="en-US" altLang="ko-KR" sz="1400" dirty="0" err="1"/>
              <a:t>có</a:t>
            </a:r>
            <a:r>
              <a:rPr lang="en-US" altLang="ko-KR" sz="1400" dirty="0"/>
              <a:t> </a:t>
            </a:r>
            <a:r>
              <a:rPr lang="en-US" altLang="ko-KR" sz="1400" dirty="0" err="1"/>
              <a:t>điềukiện</a:t>
            </a:r>
            <a:endParaRPr lang="ko-KR" altLang="en-US" sz="1400" dirty="0"/>
          </a:p>
        </p:txBody>
      </p:sp>
      <p:sp>
        <p:nvSpPr>
          <p:cNvPr id="7" name="TextBox 6"/>
          <p:cNvSpPr txBox="1"/>
          <p:nvPr/>
        </p:nvSpPr>
        <p:spPr>
          <a:xfrm>
            <a:off x="5940152" y="5785519"/>
            <a:ext cx="2736304" cy="307777"/>
          </a:xfrm>
          <a:prstGeom prst="rect">
            <a:avLst/>
          </a:prstGeom>
          <a:noFill/>
        </p:spPr>
        <p:txBody>
          <a:bodyPr wrap="square" rtlCol="0">
            <a:spAutoFit/>
          </a:bodyPr>
          <a:lstStyle/>
          <a:p>
            <a:r>
              <a:rPr lang="en-US" altLang="ko-KR" sz="1400" dirty="0"/>
              <a:t>※ NDC &gt; 5 -&gt; </a:t>
            </a:r>
            <a:r>
              <a:rPr lang="en-US" altLang="ko-KR" sz="1400" dirty="0" err="1"/>
              <a:t>đạt</a:t>
            </a:r>
            <a:endParaRPr lang="ko-KR" altLang="en-US" sz="1400" dirty="0"/>
          </a:p>
        </p:txBody>
      </p:sp>
      <p:sp>
        <p:nvSpPr>
          <p:cNvPr id="8" name="TextBox 7"/>
          <p:cNvSpPr txBox="1"/>
          <p:nvPr/>
        </p:nvSpPr>
        <p:spPr>
          <a:xfrm>
            <a:off x="107504" y="6093296"/>
            <a:ext cx="9061007" cy="338554"/>
          </a:xfrm>
          <a:prstGeom prst="rect">
            <a:avLst/>
          </a:prstGeom>
          <a:noFill/>
        </p:spPr>
        <p:txBody>
          <a:bodyPr wrap="none" rtlCol="0">
            <a:spAutoFit/>
          </a:bodyPr>
          <a:lstStyle/>
          <a:p>
            <a:r>
              <a:rPr lang="en-US" altLang="ko-KR" sz="1600" b="1" dirty="0"/>
              <a:t>“ </a:t>
            </a:r>
            <a:r>
              <a:rPr lang="en-US" altLang="ko-KR" sz="1600" b="1" dirty="0" err="1"/>
              <a:t>Nếu</a:t>
            </a:r>
            <a:r>
              <a:rPr lang="en-US" altLang="ko-KR" sz="1600" b="1" dirty="0"/>
              <a:t> </a:t>
            </a:r>
            <a:r>
              <a:rPr lang="en-US" altLang="ko-KR" sz="1600" b="1" dirty="0" err="1"/>
              <a:t>sử</a:t>
            </a:r>
            <a:r>
              <a:rPr lang="en-US" altLang="ko-KR" sz="1600" b="1" dirty="0"/>
              <a:t> </a:t>
            </a:r>
            <a:r>
              <a:rPr lang="en-US" altLang="ko-KR" sz="1600" b="1" dirty="0" err="1"/>
              <a:t>dụng</a:t>
            </a:r>
            <a:r>
              <a:rPr lang="en-US" altLang="ko-KR" sz="1600" b="1" dirty="0"/>
              <a:t> </a:t>
            </a:r>
            <a:r>
              <a:rPr lang="en-US" altLang="ko-KR" sz="1600" b="1" dirty="0" err="1"/>
              <a:t>quản</a:t>
            </a:r>
            <a:r>
              <a:rPr lang="en-US" altLang="ko-KR" sz="1600" b="1" dirty="0"/>
              <a:t> </a:t>
            </a:r>
            <a:r>
              <a:rPr lang="en-US" altLang="ko-KR" sz="1600" b="1" dirty="0" err="1"/>
              <a:t>lý</a:t>
            </a:r>
            <a:r>
              <a:rPr lang="en-US" altLang="ko-KR" sz="1600" b="1" dirty="0"/>
              <a:t> process </a:t>
            </a:r>
            <a:r>
              <a:rPr lang="en-US" altLang="ko-KR" sz="1600" b="1" dirty="0" err="1"/>
              <a:t>thì</a:t>
            </a:r>
            <a:r>
              <a:rPr lang="en-US" altLang="ko-KR" sz="1600" b="1" dirty="0"/>
              <a:t> pass, </a:t>
            </a:r>
            <a:r>
              <a:rPr lang="en-US" altLang="ko-KR" sz="1600" b="1" dirty="0" err="1"/>
              <a:t>nếu</a:t>
            </a:r>
            <a:r>
              <a:rPr lang="en-US" altLang="ko-KR" sz="1600" b="1" dirty="0"/>
              <a:t> </a:t>
            </a:r>
            <a:r>
              <a:rPr lang="en-US" altLang="ko-KR" sz="1600" b="1" dirty="0" err="1"/>
              <a:t>dùng</a:t>
            </a:r>
            <a:r>
              <a:rPr lang="en-US" altLang="ko-KR" sz="1600" b="1" dirty="0"/>
              <a:t> </a:t>
            </a:r>
            <a:r>
              <a:rPr lang="en-US" altLang="ko-KR" sz="1600" b="1" dirty="0" err="1"/>
              <a:t>đánh</a:t>
            </a:r>
            <a:r>
              <a:rPr lang="en-US" altLang="ko-KR" sz="1600" b="1" dirty="0"/>
              <a:t> </a:t>
            </a:r>
            <a:r>
              <a:rPr lang="en-US" altLang="ko-KR" sz="1600" b="1" dirty="0" err="1"/>
              <a:t>giá</a:t>
            </a:r>
            <a:r>
              <a:rPr lang="en-US" altLang="ko-KR" sz="1600" b="1" dirty="0"/>
              <a:t> OK/NG </a:t>
            </a:r>
            <a:r>
              <a:rPr lang="en-US" altLang="ko-KR" sz="1600" b="1" dirty="0" err="1"/>
              <a:t>thì</a:t>
            </a:r>
            <a:r>
              <a:rPr lang="en-US" altLang="ko-KR" sz="1600" b="1" dirty="0"/>
              <a:t> pass </a:t>
            </a:r>
            <a:r>
              <a:rPr lang="en-US" altLang="ko-KR" sz="1600" b="1" dirty="0" err="1"/>
              <a:t>có</a:t>
            </a:r>
            <a:r>
              <a:rPr lang="en-US" altLang="ko-KR" sz="1600" b="1" dirty="0"/>
              <a:t> </a:t>
            </a:r>
            <a:r>
              <a:rPr lang="en-US" altLang="ko-KR" sz="1600" b="1" dirty="0" err="1"/>
              <a:t>điều</a:t>
            </a:r>
            <a:r>
              <a:rPr lang="en-US" altLang="ko-KR" sz="1600" b="1" dirty="0"/>
              <a:t> </a:t>
            </a:r>
            <a:r>
              <a:rPr lang="en-US" altLang="ko-KR" sz="1600" b="1" dirty="0" err="1"/>
              <a:t>kiện</a:t>
            </a:r>
            <a:r>
              <a:rPr lang="en-US" altLang="ko-KR" sz="1600" b="1" dirty="0"/>
              <a:t>“</a:t>
            </a:r>
            <a:endParaRPr lang="ko-KR" altLang="en-US" sz="1600" b="1" dirty="0"/>
          </a:p>
        </p:txBody>
      </p:sp>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114</a:t>
            </a:fld>
            <a:endParaRPr lang="ko-KR" altLang="en-US" dirty="0"/>
          </a:p>
        </p:txBody>
      </p:sp>
    </p:spTree>
    <p:extLst>
      <p:ext uri="{BB962C8B-B14F-4D97-AF65-F5344CB8AC3E}">
        <p14:creationId xmlns:p14="http://schemas.microsoft.com/office/powerpoint/2010/main" val="208019855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467544" y="1296050"/>
            <a:ext cx="6408712" cy="2492990"/>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Probabilities of Misclassification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Joint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Part is bad and is accepted   0.006</a:t>
            </a:r>
          </a:p>
          <a:p>
            <a:r>
              <a:rPr lang="en-US" altLang="ko-KR" sz="1200" dirty="0">
                <a:latin typeface="굴림체" panose="020B0609000101010101" pitchFamily="49" charset="-127"/>
                <a:ea typeface="굴림체" panose="020B0609000101010101" pitchFamily="49" charset="-127"/>
              </a:rPr>
              <a:t>Part is good and is rejected  0.007</a:t>
            </a:r>
          </a:p>
          <a:p>
            <a:endParaRPr lang="ko-KR" altLang="en-US" sz="1200" dirty="0">
              <a:latin typeface="굴림체" panose="020B0609000101010101" pitchFamily="49" charset="-127"/>
              <a:ea typeface="굴림체" panose="020B0609000101010101" pitchFamily="49" charset="-127"/>
            </a:endParaRP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Conditional Probability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False Accept  0.061</a:t>
            </a:r>
          </a:p>
          <a:p>
            <a:r>
              <a:rPr lang="en-US" altLang="ko-KR" sz="1200" dirty="0">
                <a:latin typeface="굴림체" panose="020B0609000101010101" pitchFamily="49" charset="-127"/>
                <a:ea typeface="굴림체" panose="020B0609000101010101" pitchFamily="49" charset="-127"/>
              </a:rPr>
              <a:t>False Reject  0.008</a:t>
            </a:r>
          </a:p>
          <a:p>
            <a:endParaRPr lang="ko-KR" altLang="en-US" sz="1200" dirty="0">
              <a:latin typeface="굴림체" panose="020B0609000101010101" pitchFamily="49" charset="-127"/>
              <a:ea typeface="굴림체" panose="020B0609000101010101" pitchFamily="49" charset="-127"/>
            </a:endParaRPr>
          </a:p>
        </p:txBody>
      </p:sp>
      <p:sp>
        <p:nvSpPr>
          <p:cNvPr id="3" name="TextBox 2"/>
          <p:cNvSpPr txBox="1"/>
          <p:nvPr/>
        </p:nvSpPr>
        <p:spPr>
          <a:xfrm>
            <a:off x="179512" y="148570"/>
            <a:ext cx="4058612" cy="400110"/>
          </a:xfrm>
          <a:prstGeom prst="rect">
            <a:avLst/>
          </a:prstGeom>
          <a:noFill/>
        </p:spPr>
        <p:txBody>
          <a:bodyPr wrap="none" rtlCol="0">
            <a:spAutoFit/>
          </a:bodyPr>
          <a:lstStyle/>
          <a:p>
            <a:r>
              <a:rPr lang="en-US" altLang="ko-KR" sz="2000" b="1" dirty="0"/>
              <a:t>Type 3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6" name="TextBox 5"/>
          <p:cNvSpPr txBox="1"/>
          <p:nvPr/>
        </p:nvSpPr>
        <p:spPr>
          <a:xfrm>
            <a:off x="611560" y="3877032"/>
            <a:ext cx="2143536" cy="307777"/>
          </a:xfrm>
          <a:prstGeom prst="rect">
            <a:avLst/>
          </a:prstGeom>
          <a:noFill/>
        </p:spPr>
        <p:txBody>
          <a:bodyPr wrap="none" rtlCol="0">
            <a:spAutoFit/>
          </a:bodyPr>
          <a:lstStyle/>
          <a:p>
            <a:r>
              <a:rPr lang="en-US" altLang="ko-KR" sz="1400" dirty="0" err="1"/>
              <a:t>Khả</a:t>
            </a:r>
            <a:r>
              <a:rPr lang="en-US" altLang="ko-KR" sz="1400" dirty="0"/>
              <a:t> </a:t>
            </a:r>
            <a:r>
              <a:rPr lang="en-US" altLang="ko-KR" sz="1400" dirty="0" err="1"/>
              <a:t>năng</a:t>
            </a:r>
            <a:r>
              <a:rPr lang="en-US" altLang="ko-KR" sz="1400" dirty="0"/>
              <a:t> </a:t>
            </a:r>
            <a:r>
              <a:rPr lang="en-US" altLang="ko-KR" sz="1400" dirty="0" err="1"/>
              <a:t>phân</a:t>
            </a:r>
            <a:r>
              <a:rPr lang="en-US" altLang="ko-KR" sz="1400" dirty="0"/>
              <a:t> </a:t>
            </a:r>
            <a:r>
              <a:rPr lang="en-US" altLang="ko-KR" sz="1400" dirty="0" err="1"/>
              <a:t>loại</a:t>
            </a:r>
            <a:r>
              <a:rPr lang="en-US" altLang="ko-KR" sz="1400" dirty="0"/>
              <a:t> </a:t>
            </a:r>
            <a:r>
              <a:rPr lang="en-US" altLang="ko-KR" sz="1400" dirty="0" err="1"/>
              <a:t>sai</a:t>
            </a:r>
            <a:r>
              <a:rPr lang="ko-KR" altLang="en-US" sz="1400" dirty="0"/>
              <a:t> </a:t>
            </a:r>
          </a:p>
        </p:txBody>
      </p:sp>
      <p:graphicFrame>
        <p:nvGraphicFramePr>
          <p:cNvPr id="7" name="표 6"/>
          <p:cNvGraphicFramePr>
            <a:graphicFrameLocks noGrp="1"/>
          </p:cNvGraphicFramePr>
          <p:nvPr>
            <p:extLst>
              <p:ext uri="{D42A27DB-BD31-4B8C-83A1-F6EECF244321}">
                <p14:modId xmlns:p14="http://schemas.microsoft.com/office/powerpoint/2010/main" val="625860120"/>
              </p:ext>
            </p:extLst>
          </p:nvPr>
        </p:nvGraphicFramePr>
        <p:xfrm>
          <a:off x="899592" y="4309080"/>
          <a:ext cx="7416823" cy="1784216"/>
        </p:xfrm>
        <a:graphic>
          <a:graphicData uri="http://schemas.openxmlformats.org/drawingml/2006/table">
            <a:tbl>
              <a:tblPr firstRow="1" bandRow="1">
                <a:tableStyleId>{5C22544A-7EE6-4342-B048-85BDC9FD1C3A}</a:tableStyleId>
              </a:tblPr>
              <a:tblGrid>
                <a:gridCol w="2351640">
                  <a:extLst>
                    <a:ext uri="{9D8B030D-6E8A-4147-A177-3AD203B41FA5}">
                      <a16:colId xmlns:a16="http://schemas.microsoft.com/office/drawing/2014/main" val="20000"/>
                    </a:ext>
                  </a:extLst>
                </a:gridCol>
                <a:gridCol w="2256872">
                  <a:extLst>
                    <a:ext uri="{9D8B030D-6E8A-4147-A177-3AD203B41FA5}">
                      <a16:colId xmlns:a16="http://schemas.microsoft.com/office/drawing/2014/main" val="20001"/>
                    </a:ext>
                  </a:extLst>
                </a:gridCol>
                <a:gridCol w="2808311">
                  <a:extLst>
                    <a:ext uri="{9D8B030D-6E8A-4147-A177-3AD203B41FA5}">
                      <a16:colId xmlns:a16="http://schemas.microsoft.com/office/drawing/2014/main" val="20002"/>
                    </a:ext>
                  </a:extLst>
                </a:gridCol>
              </a:tblGrid>
              <a:tr h="504056">
                <a:tc>
                  <a:txBody>
                    <a:bodyPr/>
                    <a:lstStyle/>
                    <a:p>
                      <a:pPr algn="ctr" latinLnBrk="1"/>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solidFill>
                      <a:schemeClr val="bg1"/>
                    </a:solidFill>
                  </a:tcPr>
                </a:tc>
                <a:tc>
                  <a:txBody>
                    <a:bodyPr/>
                    <a:lstStyle/>
                    <a:p>
                      <a:pPr algn="ctr" latinLnBrk="1"/>
                      <a:r>
                        <a:rPr lang="en-US" altLang="ko-KR" sz="1200" dirty="0" err="1">
                          <a:solidFill>
                            <a:schemeClr val="tx1"/>
                          </a:solidFill>
                        </a:rPr>
                        <a:t>Đánh</a:t>
                      </a:r>
                      <a:r>
                        <a:rPr lang="en-US" altLang="ko-KR" sz="1200" baseline="0" dirty="0">
                          <a:solidFill>
                            <a:schemeClr val="tx1"/>
                          </a:solidFill>
                        </a:rPr>
                        <a:t> </a:t>
                      </a:r>
                      <a:r>
                        <a:rPr lang="en-US" altLang="ko-KR" sz="1200" baseline="0" dirty="0" err="1">
                          <a:solidFill>
                            <a:schemeClr val="tx1"/>
                          </a:solidFill>
                        </a:rPr>
                        <a:t>giá</a:t>
                      </a:r>
                      <a:r>
                        <a:rPr lang="en-US" altLang="ko-KR" sz="1200" baseline="0" dirty="0">
                          <a:solidFill>
                            <a:schemeClr val="tx1"/>
                          </a:solidFill>
                        </a:rPr>
                        <a:t> OK</a:t>
                      </a:r>
                      <a:endParaRPr lang="en-US" altLang="ko-KR" sz="1200" dirty="0">
                        <a:solidFill>
                          <a:schemeClr val="tx1"/>
                        </a:solidFill>
                      </a:endParaRPr>
                    </a:p>
                    <a:p>
                      <a:pPr algn="ctr" latinLnBrk="1"/>
                      <a:r>
                        <a:rPr lang="en-US" altLang="ko-KR" sz="1200" dirty="0">
                          <a:solidFill>
                            <a:schemeClr val="tx1"/>
                          </a:solidFill>
                        </a:rPr>
                        <a:t>(LSL &lt; X &lt; USL )</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200" dirty="0" err="1">
                          <a:solidFill>
                            <a:schemeClr val="tx1"/>
                          </a:solidFill>
                        </a:rPr>
                        <a:t>Đánh</a:t>
                      </a:r>
                      <a:r>
                        <a:rPr lang="en-US" altLang="ko-KR" sz="1200" baseline="0" dirty="0">
                          <a:solidFill>
                            <a:schemeClr val="tx1"/>
                          </a:solidFill>
                        </a:rPr>
                        <a:t> </a:t>
                      </a:r>
                      <a:r>
                        <a:rPr lang="en-US" altLang="ko-KR" sz="1200" baseline="0" dirty="0" err="1">
                          <a:solidFill>
                            <a:schemeClr val="tx1"/>
                          </a:solidFill>
                        </a:rPr>
                        <a:t>giá</a:t>
                      </a:r>
                      <a:r>
                        <a:rPr lang="en-US" altLang="ko-KR" sz="1200" baseline="0" dirty="0">
                          <a:solidFill>
                            <a:schemeClr val="tx1"/>
                          </a:solidFill>
                        </a:rPr>
                        <a:t> NG</a:t>
                      </a:r>
                      <a:endParaRPr lang="en-US" altLang="ko-KR" sz="1200" dirty="0">
                        <a:solidFill>
                          <a:schemeClr val="tx1"/>
                        </a:solidFill>
                      </a:endParaRPr>
                    </a:p>
                    <a:p>
                      <a:pPr algn="ctr" latinLnBrk="1"/>
                      <a:r>
                        <a:rPr lang="en-US" altLang="ko-KR" sz="1200" dirty="0">
                          <a:solidFill>
                            <a:schemeClr val="tx1"/>
                          </a:solidFill>
                        </a:rPr>
                        <a:t>( X &lt; LSL ,</a:t>
                      </a:r>
                      <a:r>
                        <a:rPr lang="en-US" altLang="ko-KR" sz="1200" baseline="0" dirty="0">
                          <a:solidFill>
                            <a:schemeClr val="tx1"/>
                          </a:solidFill>
                        </a:rPr>
                        <a:t> X &gt; USL )</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04056">
                <a:tc>
                  <a:txBody>
                    <a:bodyPr/>
                    <a:lstStyle/>
                    <a:p>
                      <a:pPr algn="ctr" latinLnBrk="1"/>
                      <a:r>
                        <a:rPr lang="en-US" altLang="ko-KR" sz="1200" b="1" dirty="0" err="1">
                          <a:solidFill>
                            <a:schemeClr val="tx1"/>
                          </a:solidFill>
                        </a:rPr>
                        <a:t>Sản</a:t>
                      </a:r>
                      <a:r>
                        <a:rPr lang="en-US" altLang="ko-KR" sz="1200" b="1" dirty="0">
                          <a:solidFill>
                            <a:schemeClr val="tx1"/>
                          </a:solidFill>
                        </a:rPr>
                        <a:t> </a:t>
                      </a:r>
                      <a:r>
                        <a:rPr lang="en-US" altLang="ko-KR" sz="1200" b="1" dirty="0" err="1">
                          <a:solidFill>
                            <a:schemeClr val="tx1"/>
                          </a:solidFill>
                        </a:rPr>
                        <a:t>phẩm</a:t>
                      </a:r>
                      <a:r>
                        <a:rPr lang="en-US" altLang="ko-KR" sz="1200" b="1" baseline="0" dirty="0">
                          <a:solidFill>
                            <a:schemeClr val="tx1"/>
                          </a:solidFill>
                        </a:rPr>
                        <a:t> OK</a:t>
                      </a:r>
                      <a:endParaRPr lang="en-US" altLang="ko-KR" sz="1200" b="1" dirty="0">
                        <a:solidFill>
                          <a:schemeClr val="tx1"/>
                        </a:solidFill>
                      </a:endParaRPr>
                    </a:p>
                    <a:p>
                      <a:pPr algn="ctr" latinLnBrk="1"/>
                      <a:r>
                        <a:rPr lang="en-US" altLang="ko-KR" sz="1200" b="1" dirty="0">
                          <a:solidFill>
                            <a:schemeClr val="tx1"/>
                          </a:solidFill>
                        </a:rPr>
                        <a:t>(LSL &lt; Y &lt; USL )</a:t>
                      </a:r>
                      <a:endParaRPr lang="ko-KR" altLang="en-US" sz="12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200" dirty="0" err="1">
                          <a:solidFill>
                            <a:schemeClr val="tx1"/>
                          </a:solidFill>
                        </a:rPr>
                        <a:t>Phân</a:t>
                      </a:r>
                      <a:r>
                        <a:rPr lang="en-US" altLang="ko-KR" sz="1200" baseline="0" dirty="0">
                          <a:solidFill>
                            <a:schemeClr val="tx1"/>
                          </a:solidFill>
                        </a:rPr>
                        <a:t> </a:t>
                      </a:r>
                      <a:r>
                        <a:rPr lang="en-US" altLang="ko-KR" sz="1200" baseline="0" dirty="0" err="1">
                          <a:solidFill>
                            <a:schemeClr val="tx1"/>
                          </a:solidFill>
                        </a:rPr>
                        <a:t>loại</a:t>
                      </a:r>
                      <a:r>
                        <a:rPr lang="en-US" altLang="ko-KR" sz="1200" baseline="0" dirty="0">
                          <a:solidFill>
                            <a:schemeClr val="tx1"/>
                          </a:solidFill>
                        </a:rPr>
                        <a:t> </a:t>
                      </a:r>
                      <a:r>
                        <a:rPr lang="en-US" altLang="ko-KR" sz="1200" baseline="0" dirty="0" err="1">
                          <a:solidFill>
                            <a:schemeClr val="tx1"/>
                          </a:solidFill>
                        </a:rPr>
                        <a:t>sai</a:t>
                      </a:r>
                      <a:endParaRPr lang="en-US" altLang="ko-KR" sz="1200" dirty="0">
                        <a:solidFill>
                          <a:schemeClr val="tx1"/>
                        </a:solidFill>
                      </a:endParaRPr>
                    </a:p>
                    <a:p>
                      <a:pPr algn="ctr" latinLnBrk="1"/>
                      <a:r>
                        <a:rPr lang="en-US" altLang="ko-KR" sz="1200" dirty="0" err="1">
                          <a:solidFill>
                            <a:schemeClr val="tx1"/>
                          </a:solidFill>
                        </a:rPr>
                        <a:t>Khả</a:t>
                      </a:r>
                      <a:r>
                        <a:rPr lang="en-US" altLang="ko-KR" sz="1200" baseline="0" dirty="0">
                          <a:solidFill>
                            <a:schemeClr val="tx1"/>
                          </a:solidFill>
                        </a:rPr>
                        <a:t> </a:t>
                      </a:r>
                      <a:r>
                        <a:rPr lang="en-US" altLang="ko-KR" sz="1200" baseline="0" dirty="0" err="1">
                          <a:solidFill>
                            <a:schemeClr val="tx1"/>
                          </a:solidFill>
                        </a:rPr>
                        <a:t>năng</a:t>
                      </a:r>
                      <a:r>
                        <a:rPr lang="en-US" altLang="ko-KR" sz="1200" baseline="0" dirty="0">
                          <a:solidFill>
                            <a:schemeClr val="tx1"/>
                          </a:solidFill>
                        </a:rPr>
                        <a:t> </a:t>
                      </a:r>
                      <a:r>
                        <a:rPr lang="en-US" altLang="ko-KR" sz="1200" baseline="0" dirty="0" err="1">
                          <a:solidFill>
                            <a:schemeClr val="tx1"/>
                          </a:solidFill>
                        </a:rPr>
                        <a:t>kết</a:t>
                      </a:r>
                      <a:r>
                        <a:rPr lang="en-US" altLang="ko-KR" sz="1200" baseline="0" dirty="0">
                          <a:solidFill>
                            <a:schemeClr val="tx1"/>
                          </a:solidFill>
                        </a:rPr>
                        <a:t> </a:t>
                      </a:r>
                      <a:r>
                        <a:rPr lang="en-US" altLang="ko-KR" sz="1200" baseline="0" dirty="0" err="1">
                          <a:solidFill>
                            <a:schemeClr val="tx1"/>
                          </a:solidFill>
                        </a:rPr>
                        <a:t>hợp</a:t>
                      </a:r>
                      <a:r>
                        <a:rPr lang="ko-KR" altLang="en-US" sz="1200" dirty="0">
                          <a:solidFill>
                            <a:schemeClr val="tx1"/>
                          </a:solidFill>
                        </a:rPr>
                        <a:t> </a:t>
                      </a:r>
                      <a:r>
                        <a:rPr lang="en-US" altLang="ko-KR" sz="1200" dirty="0">
                          <a:solidFill>
                            <a:schemeClr val="tx1"/>
                          </a:solidFill>
                        </a:rPr>
                        <a:t>:  0.007</a:t>
                      </a:r>
                    </a:p>
                    <a:p>
                      <a:pPr algn="ctr" latinLnBrk="1"/>
                      <a:r>
                        <a:rPr lang="en-US" altLang="ko-KR" sz="1200" dirty="0" err="1">
                          <a:solidFill>
                            <a:schemeClr val="tx1"/>
                          </a:solidFill>
                        </a:rPr>
                        <a:t>Khả</a:t>
                      </a:r>
                      <a:r>
                        <a:rPr lang="en-US" altLang="ko-KR" sz="1200" baseline="0" dirty="0">
                          <a:solidFill>
                            <a:schemeClr val="tx1"/>
                          </a:solidFill>
                        </a:rPr>
                        <a:t> </a:t>
                      </a:r>
                      <a:r>
                        <a:rPr lang="en-US" altLang="ko-KR" sz="1200" baseline="0" dirty="0" err="1">
                          <a:solidFill>
                            <a:schemeClr val="tx1"/>
                          </a:solidFill>
                        </a:rPr>
                        <a:t>năng</a:t>
                      </a:r>
                      <a:r>
                        <a:rPr lang="en-US" altLang="ko-KR" sz="1200" baseline="0" dirty="0">
                          <a:solidFill>
                            <a:schemeClr val="tx1"/>
                          </a:solidFill>
                        </a:rPr>
                        <a:t> </a:t>
                      </a:r>
                      <a:r>
                        <a:rPr lang="en-US" altLang="ko-KR" sz="1200" baseline="0" dirty="0" err="1">
                          <a:solidFill>
                            <a:schemeClr val="tx1"/>
                          </a:solidFill>
                        </a:rPr>
                        <a:t>có</a:t>
                      </a:r>
                      <a:r>
                        <a:rPr lang="en-US" altLang="ko-KR" sz="1200" baseline="0" dirty="0">
                          <a:solidFill>
                            <a:schemeClr val="tx1"/>
                          </a:solidFill>
                        </a:rPr>
                        <a:t> </a:t>
                      </a:r>
                      <a:r>
                        <a:rPr lang="en-US" altLang="ko-KR" sz="1200" baseline="0" dirty="0" err="1">
                          <a:solidFill>
                            <a:schemeClr val="tx1"/>
                          </a:solidFill>
                        </a:rPr>
                        <a:t>điều</a:t>
                      </a:r>
                      <a:r>
                        <a:rPr lang="en-US" altLang="ko-KR" sz="1200" baseline="0" dirty="0">
                          <a:solidFill>
                            <a:schemeClr val="tx1"/>
                          </a:solidFill>
                        </a:rPr>
                        <a:t> </a:t>
                      </a:r>
                      <a:r>
                        <a:rPr lang="en-US" altLang="ko-KR" sz="1200" baseline="0" dirty="0" err="1">
                          <a:solidFill>
                            <a:schemeClr val="tx1"/>
                          </a:solidFill>
                        </a:rPr>
                        <a:t>kiện</a:t>
                      </a:r>
                      <a:r>
                        <a:rPr lang="ko-KR" altLang="en-US" sz="1200" dirty="0">
                          <a:solidFill>
                            <a:schemeClr val="tx1"/>
                          </a:solidFill>
                        </a:rPr>
                        <a:t> </a:t>
                      </a:r>
                      <a:r>
                        <a:rPr lang="en-US" altLang="ko-KR" sz="1200" dirty="0">
                          <a:solidFill>
                            <a:schemeClr val="tx1"/>
                          </a:solidFill>
                        </a:rPr>
                        <a:t>:  0.008</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504056">
                <a:tc>
                  <a:txBody>
                    <a:bodyPr/>
                    <a:lstStyle/>
                    <a:p>
                      <a:pPr algn="ctr" latinLnBrk="1"/>
                      <a:r>
                        <a:rPr lang="en-US" altLang="ko-KR" sz="1200" b="1" dirty="0" err="1">
                          <a:solidFill>
                            <a:schemeClr val="tx1"/>
                          </a:solidFill>
                        </a:rPr>
                        <a:t>Sản</a:t>
                      </a:r>
                      <a:r>
                        <a:rPr lang="en-US" altLang="ko-KR" sz="1200" b="1" dirty="0">
                          <a:solidFill>
                            <a:schemeClr val="tx1"/>
                          </a:solidFill>
                        </a:rPr>
                        <a:t> </a:t>
                      </a:r>
                      <a:r>
                        <a:rPr lang="en-US" altLang="ko-KR" sz="1200" b="1" dirty="0" err="1">
                          <a:solidFill>
                            <a:schemeClr val="tx1"/>
                          </a:solidFill>
                        </a:rPr>
                        <a:t>phẩm</a:t>
                      </a:r>
                      <a:r>
                        <a:rPr lang="en-US" altLang="ko-KR" sz="1200" b="1" baseline="0" dirty="0">
                          <a:solidFill>
                            <a:schemeClr val="tx1"/>
                          </a:solidFill>
                        </a:rPr>
                        <a:t> NG</a:t>
                      </a:r>
                      <a:endParaRPr lang="en-US" altLang="ko-KR" sz="1200" b="1" dirty="0">
                        <a:solidFill>
                          <a:schemeClr val="tx1"/>
                        </a:solidFill>
                      </a:endParaRPr>
                    </a:p>
                    <a:p>
                      <a:pPr algn="ctr" latinLnBrk="1"/>
                      <a:r>
                        <a:rPr lang="en-US" altLang="ko-KR" sz="1200" b="1" dirty="0">
                          <a:solidFill>
                            <a:schemeClr val="tx1"/>
                          </a:solidFill>
                        </a:rPr>
                        <a:t>( Y &lt; LSL ,</a:t>
                      </a:r>
                      <a:r>
                        <a:rPr lang="en-US" altLang="ko-KR" sz="1200" b="1" baseline="0" dirty="0">
                          <a:solidFill>
                            <a:schemeClr val="tx1"/>
                          </a:solidFill>
                        </a:rPr>
                        <a:t> Y &gt; USL )</a:t>
                      </a:r>
                      <a:endParaRPr lang="ko-KR" altLang="en-US" sz="1200" b="1" dirty="0">
                        <a:solidFill>
                          <a:schemeClr val="tx1"/>
                        </a:solidFill>
                      </a:endParaRPr>
                    </a:p>
                    <a:p>
                      <a:pPr algn="ctr" latinLnBrk="1"/>
                      <a:endParaRPr lang="ko-KR" altLang="en-US" sz="12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1200" dirty="0" err="1">
                          <a:solidFill>
                            <a:schemeClr val="tx1"/>
                          </a:solidFill>
                        </a:rPr>
                        <a:t>Phân</a:t>
                      </a:r>
                      <a:r>
                        <a:rPr lang="en-US" altLang="ko-KR" sz="1200" baseline="0" dirty="0">
                          <a:solidFill>
                            <a:schemeClr val="tx1"/>
                          </a:solidFill>
                        </a:rPr>
                        <a:t> </a:t>
                      </a:r>
                      <a:r>
                        <a:rPr lang="en-US" altLang="ko-KR" sz="1200" baseline="0" dirty="0" err="1">
                          <a:solidFill>
                            <a:schemeClr val="tx1"/>
                          </a:solidFill>
                        </a:rPr>
                        <a:t>loại</a:t>
                      </a:r>
                      <a:r>
                        <a:rPr lang="en-US" altLang="ko-KR" sz="1200" baseline="0" dirty="0">
                          <a:solidFill>
                            <a:schemeClr val="tx1"/>
                          </a:solidFill>
                        </a:rPr>
                        <a:t> </a:t>
                      </a:r>
                      <a:r>
                        <a:rPr lang="en-US" altLang="ko-KR" sz="1200" baseline="0" dirty="0" err="1">
                          <a:solidFill>
                            <a:schemeClr val="tx1"/>
                          </a:solidFill>
                        </a:rPr>
                        <a:t>sai</a:t>
                      </a:r>
                      <a:endParaRPr lang="en-US" altLang="ko-KR" sz="1200" dirty="0">
                        <a:solidFill>
                          <a:schemeClr val="tx1"/>
                        </a:solidFill>
                      </a:endParaRPr>
                    </a:p>
                    <a:p>
                      <a:pPr algn="ctr" latinLnBrk="1"/>
                      <a:r>
                        <a:rPr lang="en-US" altLang="ko-KR" sz="1200" dirty="0" err="1">
                          <a:solidFill>
                            <a:schemeClr val="tx1"/>
                          </a:solidFill>
                        </a:rPr>
                        <a:t>Khả</a:t>
                      </a:r>
                      <a:r>
                        <a:rPr lang="en-US" altLang="ko-KR" sz="1200" baseline="0" dirty="0">
                          <a:solidFill>
                            <a:schemeClr val="tx1"/>
                          </a:solidFill>
                        </a:rPr>
                        <a:t> </a:t>
                      </a:r>
                      <a:r>
                        <a:rPr lang="en-US" altLang="ko-KR" sz="1200" baseline="0" dirty="0" err="1">
                          <a:solidFill>
                            <a:schemeClr val="tx1"/>
                          </a:solidFill>
                        </a:rPr>
                        <a:t>năng</a:t>
                      </a:r>
                      <a:r>
                        <a:rPr lang="en-US" altLang="ko-KR" sz="1200" baseline="0" dirty="0">
                          <a:solidFill>
                            <a:schemeClr val="tx1"/>
                          </a:solidFill>
                        </a:rPr>
                        <a:t> </a:t>
                      </a:r>
                      <a:r>
                        <a:rPr lang="en-US" altLang="ko-KR" sz="1200" baseline="0" dirty="0" err="1">
                          <a:solidFill>
                            <a:schemeClr val="tx1"/>
                          </a:solidFill>
                        </a:rPr>
                        <a:t>kết</a:t>
                      </a:r>
                      <a:r>
                        <a:rPr lang="en-US" altLang="ko-KR" sz="1200" baseline="0" dirty="0">
                          <a:solidFill>
                            <a:schemeClr val="tx1"/>
                          </a:solidFill>
                        </a:rPr>
                        <a:t> </a:t>
                      </a:r>
                      <a:r>
                        <a:rPr lang="en-US" altLang="ko-KR" sz="1200" baseline="0" dirty="0" err="1">
                          <a:solidFill>
                            <a:schemeClr val="tx1"/>
                          </a:solidFill>
                        </a:rPr>
                        <a:t>hợp</a:t>
                      </a:r>
                      <a:r>
                        <a:rPr lang="ko-KR" altLang="en-US" sz="1200" dirty="0">
                          <a:solidFill>
                            <a:schemeClr val="tx1"/>
                          </a:solidFill>
                        </a:rPr>
                        <a:t> </a:t>
                      </a:r>
                      <a:r>
                        <a:rPr lang="en-US" altLang="ko-KR" sz="1200" dirty="0">
                          <a:solidFill>
                            <a:schemeClr val="tx1"/>
                          </a:solidFill>
                        </a:rPr>
                        <a:t>:  0.006</a:t>
                      </a:r>
                      <a:r>
                        <a:rPr lang="en-US" altLang="ko-KR" sz="1200" baseline="0" dirty="0">
                          <a:solidFill>
                            <a:schemeClr val="tx1"/>
                          </a:solidFill>
                        </a:rPr>
                        <a:t> </a:t>
                      </a:r>
                      <a:r>
                        <a:rPr lang="en-US" altLang="ko-KR" sz="1200" dirty="0" err="1">
                          <a:solidFill>
                            <a:schemeClr val="tx1"/>
                          </a:solidFill>
                        </a:rPr>
                        <a:t>Khả</a:t>
                      </a:r>
                      <a:r>
                        <a:rPr lang="en-US" altLang="ko-KR" sz="1200" baseline="0" dirty="0">
                          <a:solidFill>
                            <a:schemeClr val="tx1"/>
                          </a:solidFill>
                        </a:rPr>
                        <a:t> </a:t>
                      </a:r>
                      <a:r>
                        <a:rPr lang="en-US" altLang="ko-KR" sz="1200" baseline="0" dirty="0" err="1">
                          <a:solidFill>
                            <a:schemeClr val="tx1"/>
                          </a:solidFill>
                        </a:rPr>
                        <a:t>năng</a:t>
                      </a:r>
                      <a:r>
                        <a:rPr lang="en-US" altLang="ko-KR" sz="1200" baseline="0" dirty="0">
                          <a:solidFill>
                            <a:schemeClr val="tx1"/>
                          </a:solidFill>
                        </a:rPr>
                        <a:t> </a:t>
                      </a:r>
                      <a:r>
                        <a:rPr lang="en-US" altLang="ko-KR" sz="1200" baseline="0" dirty="0" err="1">
                          <a:solidFill>
                            <a:schemeClr val="tx1"/>
                          </a:solidFill>
                        </a:rPr>
                        <a:t>có</a:t>
                      </a:r>
                      <a:r>
                        <a:rPr lang="en-US" altLang="ko-KR" sz="1200" baseline="0" dirty="0">
                          <a:solidFill>
                            <a:schemeClr val="tx1"/>
                          </a:solidFill>
                        </a:rPr>
                        <a:t> </a:t>
                      </a:r>
                      <a:r>
                        <a:rPr lang="en-US" altLang="ko-KR" sz="1200" baseline="0" dirty="0" err="1">
                          <a:solidFill>
                            <a:schemeClr val="tx1"/>
                          </a:solidFill>
                        </a:rPr>
                        <a:t>điều</a:t>
                      </a:r>
                      <a:r>
                        <a:rPr lang="en-US" altLang="ko-KR" sz="1200" baseline="0" dirty="0">
                          <a:solidFill>
                            <a:schemeClr val="tx1"/>
                          </a:solidFill>
                        </a:rPr>
                        <a:t> </a:t>
                      </a:r>
                      <a:r>
                        <a:rPr lang="en-US" altLang="ko-KR" sz="1200" baseline="0" dirty="0" err="1">
                          <a:solidFill>
                            <a:schemeClr val="tx1"/>
                          </a:solidFill>
                        </a:rPr>
                        <a:t>kiện</a:t>
                      </a:r>
                      <a:r>
                        <a:rPr lang="ko-KR" altLang="en-US" sz="1200" dirty="0">
                          <a:solidFill>
                            <a:schemeClr val="tx1"/>
                          </a:solidFill>
                        </a:rPr>
                        <a:t> </a:t>
                      </a:r>
                      <a:r>
                        <a:rPr lang="en-US" altLang="ko-KR" sz="1200" dirty="0">
                          <a:solidFill>
                            <a:schemeClr val="tx1"/>
                          </a:solidFill>
                        </a:rPr>
                        <a:t>:  0.061</a:t>
                      </a:r>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12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bl>
          </a:graphicData>
        </a:graphic>
      </p:graphicFrame>
      <p:sp>
        <p:nvSpPr>
          <p:cNvPr id="10" name="TextBox 9"/>
          <p:cNvSpPr txBox="1"/>
          <p:nvPr/>
        </p:nvSpPr>
        <p:spPr>
          <a:xfrm>
            <a:off x="2411760" y="4381088"/>
            <a:ext cx="840295" cy="276999"/>
          </a:xfrm>
          <a:prstGeom prst="rect">
            <a:avLst/>
          </a:prstGeom>
          <a:noFill/>
        </p:spPr>
        <p:txBody>
          <a:bodyPr wrap="none" rtlCol="0">
            <a:spAutoFit/>
          </a:bodyPr>
          <a:lstStyle/>
          <a:p>
            <a:r>
              <a:rPr lang="en-US" altLang="ko-KR" sz="1200" b="1" dirty="0" err="1"/>
              <a:t>Đánh</a:t>
            </a:r>
            <a:r>
              <a:rPr lang="en-US" altLang="ko-KR" sz="1200" b="1" dirty="0"/>
              <a:t> </a:t>
            </a:r>
            <a:r>
              <a:rPr lang="en-US" altLang="ko-KR" sz="1200" b="1" dirty="0" err="1"/>
              <a:t>giá</a:t>
            </a:r>
            <a:endParaRPr lang="ko-KR" altLang="en-US" sz="1200" b="1" dirty="0"/>
          </a:p>
        </p:txBody>
      </p:sp>
      <p:sp>
        <p:nvSpPr>
          <p:cNvPr id="11" name="TextBox 10"/>
          <p:cNvSpPr txBox="1"/>
          <p:nvPr/>
        </p:nvSpPr>
        <p:spPr>
          <a:xfrm>
            <a:off x="971600" y="4536137"/>
            <a:ext cx="1200970" cy="276999"/>
          </a:xfrm>
          <a:prstGeom prst="rect">
            <a:avLst/>
          </a:prstGeom>
          <a:noFill/>
        </p:spPr>
        <p:txBody>
          <a:bodyPr wrap="none" rtlCol="0">
            <a:spAutoFit/>
          </a:bodyPr>
          <a:lstStyle/>
          <a:p>
            <a:r>
              <a:rPr lang="en-US" altLang="ko-KR" sz="1200" b="1" dirty="0" err="1"/>
              <a:t>Linh</a:t>
            </a:r>
            <a:r>
              <a:rPr lang="en-US" altLang="ko-KR" sz="1200" b="1" dirty="0"/>
              <a:t> </a:t>
            </a:r>
            <a:r>
              <a:rPr lang="en-US" altLang="ko-KR" sz="1200" b="1" dirty="0" err="1"/>
              <a:t>kiện</a:t>
            </a:r>
            <a:r>
              <a:rPr lang="en-US" altLang="ko-KR" sz="1200" b="1" dirty="0"/>
              <a:t> </a:t>
            </a:r>
            <a:r>
              <a:rPr lang="en-US" altLang="ko-KR" sz="1200" b="1" dirty="0" err="1"/>
              <a:t>thật</a:t>
            </a:r>
            <a:endParaRPr lang="ko-KR" altLang="en-US" sz="1200" b="1" dirty="0"/>
          </a:p>
        </p:txBody>
      </p:sp>
      <p:sp>
        <p:nvSpPr>
          <p:cNvPr id="12" name="TextBox 11"/>
          <p:cNvSpPr txBox="1"/>
          <p:nvPr/>
        </p:nvSpPr>
        <p:spPr>
          <a:xfrm>
            <a:off x="4283968" y="1351801"/>
            <a:ext cx="3751348" cy="276999"/>
          </a:xfrm>
          <a:prstGeom prst="rect">
            <a:avLst/>
          </a:prstGeom>
          <a:noFill/>
        </p:spPr>
        <p:txBody>
          <a:bodyPr wrap="none" rtlCol="0">
            <a:spAutoFit/>
          </a:bodyPr>
          <a:lstStyle/>
          <a:p>
            <a:r>
              <a:rPr lang="en-US" altLang="ko-KR" sz="1200" dirty="0"/>
              <a:t>※ </a:t>
            </a:r>
            <a:r>
              <a:rPr lang="en-US" altLang="ko-KR" sz="1200" dirty="0" err="1"/>
              <a:t>Khả</a:t>
            </a:r>
            <a:r>
              <a:rPr lang="en-US" altLang="ko-KR" sz="1200" dirty="0"/>
              <a:t> </a:t>
            </a:r>
            <a:r>
              <a:rPr lang="en-US" altLang="ko-KR" sz="1200" dirty="0" err="1"/>
              <a:t>năng</a:t>
            </a:r>
            <a:r>
              <a:rPr lang="en-US" altLang="ko-KR" sz="1200" dirty="0"/>
              <a:t> </a:t>
            </a:r>
            <a:r>
              <a:rPr lang="en-US" altLang="ko-KR" sz="1200" dirty="0" err="1"/>
              <a:t>phân</a:t>
            </a:r>
            <a:r>
              <a:rPr lang="en-US" altLang="ko-KR" sz="1200" dirty="0"/>
              <a:t> </a:t>
            </a:r>
            <a:r>
              <a:rPr lang="en-US" altLang="ko-KR" sz="1200" dirty="0" err="1"/>
              <a:t>loại</a:t>
            </a:r>
            <a:r>
              <a:rPr lang="en-US" altLang="ko-KR" sz="1200" dirty="0"/>
              <a:t> </a:t>
            </a:r>
            <a:r>
              <a:rPr lang="en-US" altLang="ko-KR" sz="1200" dirty="0" err="1"/>
              <a:t>sai</a:t>
            </a:r>
            <a:r>
              <a:rPr lang="en-US" altLang="ko-KR" sz="1200" dirty="0"/>
              <a:t> </a:t>
            </a:r>
            <a:r>
              <a:rPr lang="en-US" altLang="ko-KR" sz="1200" dirty="0" err="1"/>
              <a:t>sản</a:t>
            </a:r>
            <a:r>
              <a:rPr lang="en-US" altLang="ko-KR" sz="1200" dirty="0"/>
              <a:t> </a:t>
            </a:r>
            <a:r>
              <a:rPr lang="en-US" altLang="ko-KR" sz="1200" dirty="0" err="1"/>
              <a:t>phẩm</a:t>
            </a:r>
            <a:r>
              <a:rPr lang="en-US" altLang="ko-KR" sz="1200" dirty="0"/>
              <a:t> NG </a:t>
            </a:r>
            <a:r>
              <a:rPr lang="en-US" altLang="ko-KR" sz="1200" dirty="0" err="1"/>
              <a:t>thành</a:t>
            </a:r>
            <a:r>
              <a:rPr lang="en-US" altLang="ko-KR" sz="1200" dirty="0"/>
              <a:t> OK</a:t>
            </a:r>
            <a:endParaRPr lang="ko-KR" altLang="en-US" sz="1200" dirty="0"/>
          </a:p>
        </p:txBody>
      </p:sp>
      <p:sp>
        <p:nvSpPr>
          <p:cNvPr id="13" name="TextBox 12"/>
          <p:cNvSpPr txBox="1"/>
          <p:nvPr/>
        </p:nvSpPr>
        <p:spPr>
          <a:xfrm>
            <a:off x="4283968" y="2636912"/>
            <a:ext cx="3696846" cy="276999"/>
          </a:xfrm>
          <a:prstGeom prst="rect">
            <a:avLst/>
          </a:prstGeom>
          <a:noFill/>
        </p:spPr>
        <p:txBody>
          <a:bodyPr wrap="none" rtlCol="0">
            <a:spAutoFit/>
          </a:bodyPr>
          <a:lstStyle/>
          <a:p>
            <a:r>
              <a:rPr lang="en-US" altLang="ko-KR" sz="1200" dirty="0"/>
              <a:t>※</a:t>
            </a:r>
            <a:r>
              <a:rPr lang="en-US" altLang="ko-KR" sz="1200" dirty="0" err="1"/>
              <a:t>Khả</a:t>
            </a:r>
            <a:r>
              <a:rPr lang="en-US" altLang="ko-KR" sz="1200" dirty="0"/>
              <a:t> </a:t>
            </a:r>
            <a:r>
              <a:rPr lang="en-US" altLang="ko-KR" sz="1200" dirty="0" err="1"/>
              <a:t>năng</a:t>
            </a:r>
            <a:r>
              <a:rPr lang="en-US" altLang="ko-KR" sz="1200" dirty="0"/>
              <a:t> </a:t>
            </a:r>
            <a:r>
              <a:rPr lang="en-US" altLang="ko-KR" sz="1200" dirty="0" err="1"/>
              <a:t>phân</a:t>
            </a:r>
            <a:r>
              <a:rPr lang="en-US" altLang="ko-KR" sz="1200" dirty="0"/>
              <a:t> </a:t>
            </a:r>
            <a:r>
              <a:rPr lang="en-US" altLang="ko-KR" sz="1200" dirty="0" err="1"/>
              <a:t>loại</a:t>
            </a:r>
            <a:r>
              <a:rPr lang="en-US" altLang="ko-KR" sz="1200" dirty="0"/>
              <a:t> </a:t>
            </a:r>
            <a:r>
              <a:rPr lang="en-US" altLang="ko-KR" sz="1200" dirty="0" err="1"/>
              <a:t>sai</a:t>
            </a:r>
            <a:r>
              <a:rPr lang="en-US" altLang="ko-KR" sz="1200" dirty="0"/>
              <a:t> </a:t>
            </a:r>
            <a:r>
              <a:rPr lang="en-US" altLang="ko-KR" sz="1200" dirty="0" err="1"/>
              <a:t>sản</a:t>
            </a:r>
            <a:r>
              <a:rPr lang="en-US" altLang="ko-KR" sz="1200" dirty="0"/>
              <a:t> </a:t>
            </a:r>
            <a:r>
              <a:rPr lang="en-US" altLang="ko-KR" sz="1200" dirty="0" err="1"/>
              <a:t>phẩm</a:t>
            </a:r>
            <a:r>
              <a:rPr lang="en-US" altLang="ko-KR" sz="1200" dirty="0"/>
              <a:t> OK </a:t>
            </a:r>
            <a:r>
              <a:rPr lang="en-US" altLang="ko-KR" sz="1200" dirty="0" err="1"/>
              <a:t>thành</a:t>
            </a:r>
            <a:r>
              <a:rPr lang="en-US" altLang="ko-KR" sz="1200" dirty="0"/>
              <a:t> NG</a:t>
            </a:r>
            <a:endParaRPr lang="ko-KR" altLang="en-US" sz="1200" dirty="0"/>
          </a:p>
        </p:txBody>
      </p:sp>
      <p:sp>
        <p:nvSpPr>
          <p:cNvPr id="14" name="TextBox 13"/>
          <p:cNvSpPr txBox="1"/>
          <p:nvPr/>
        </p:nvSpPr>
        <p:spPr>
          <a:xfrm>
            <a:off x="4139952" y="1700808"/>
            <a:ext cx="4920963" cy="830997"/>
          </a:xfrm>
          <a:prstGeom prst="rect">
            <a:avLst/>
          </a:prstGeom>
          <a:noFill/>
        </p:spPr>
        <p:txBody>
          <a:bodyPr wrap="none" rtlCol="0">
            <a:spAutoFit/>
          </a:bodyPr>
          <a:lstStyle/>
          <a:p>
            <a:pPr marL="171450" indent="-171450">
              <a:buFontTx/>
              <a:buChar char="-"/>
            </a:pPr>
            <a:r>
              <a:rPr lang="en-US" altLang="ko-KR" sz="1200" dirty="0" err="1"/>
              <a:t>Khả</a:t>
            </a:r>
            <a:r>
              <a:rPr lang="en-US" altLang="ko-KR" sz="1200" dirty="0"/>
              <a:t> </a:t>
            </a:r>
            <a:r>
              <a:rPr lang="en-US" altLang="ko-KR" sz="1200" dirty="0" err="1"/>
              <a:t>năng</a:t>
            </a:r>
            <a:r>
              <a:rPr lang="en-US" altLang="ko-KR" sz="1200" dirty="0"/>
              <a:t> </a:t>
            </a:r>
            <a:r>
              <a:rPr lang="en-US" altLang="ko-KR" sz="1200" dirty="0" err="1"/>
              <a:t>kết</a:t>
            </a:r>
            <a:r>
              <a:rPr lang="en-US" altLang="ko-KR" sz="1200" dirty="0"/>
              <a:t> </a:t>
            </a:r>
            <a:r>
              <a:rPr lang="en-US" altLang="ko-KR" sz="1200" dirty="0" err="1"/>
              <a:t>hợp</a:t>
            </a:r>
            <a:r>
              <a:rPr lang="ko-KR" altLang="en-US" sz="1200" dirty="0"/>
              <a:t>  </a:t>
            </a:r>
            <a:r>
              <a:rPr lang="en-US" altLang="ko-KR" sz="1200" dirty="0"/>
              <a:t>: </a:t>
            </a:r>
            <a:r>
              <a:rPr lang="en-US" altLang="ko-KR" sz="1200" dirty="0" err="1"/>
              <a:t>Trong</a:t>
            </a:r>
            <a:r>
              <a:rPr lang="en-US" altLang="ko-KR" sz="1200" dirty="0"/>
              <a:t> </a:t>
            </a:r>
            <a:r>
              <a:rPr lang="en-US" altLang="ko-KR" sz="1200" dirty="0" err="1"/>
              <a:t>toàn</a:t>
            </a:r>
            <a:r>
              <a:rPr lang="en-US" altLang="ko-KR" sz="1200" dirty="0"/>
              <a:t> </a:t>
            </a:r>
            <a:r>
              <a:rPr lang="en-US" altLang="ko-KR" sz="1200" dirty="0" err="1"/>
              <a:t>bộ</a:t>
            </a:r>
            <a:r>
              <a:rPr lang="en-US" altLang="ko-KR" sz="1200" dirty="0"/>
              <a:t> </a:t>
            </a:r>
            <a:r>
              <a:rPr lang="en-US" altLang="ko-KR" sz="1200" dirty="0" err="1"/>
              <a:t>sản</a:t>
            </a:r>
            <a:r>
              <a:rPr lang="en-US" altLang="ko-KR" sz="1200" dirty="0"/>
              <a:t> </a:t>
            </a:r>
            <a:r>
              <a:rPr lang="en-US" altLang="ko-KR" sz="1200" dirty="0" err="1"/>
              <a:t>phẩm</a:t>
            </a:r>
            <a:r>
              <a:rPr lang="en-US" altLang="ko-KR" sz="1200" dirty="0"/>
              <a:t> </a:t>
            </a:r>
            <a:r>
              <a:rPr lang="en-US" altLang="ko-KR" sz="1200" dirty="0" err="1"/>
              <a:t>khả</a:t>
            </a:r>
            <a:r>
              <a:rPr lang="en-US" altLang="ko-KR" sz="1200" dirty="0"/>
              <a:t> </a:t>
            </a:r>
            <a:r>
              <a:rPr lang="en-US" altLang="ko-KR" sz="1200" dirty="0" err="1"/>
              <a:t>năng</a:t>
            </a:r>
            <a:r>
              <a:rPr lang="en-US" altLang="ko-KR" sz="1200" dirty="0"/>
              <a:t> </a:t>
            </a:r>
            <a:r>
              <a:rPr lang="en-US" altLang="ko-KR" sz="1200" dirty="0" err="1"/>
              <a:t>phân</a:t>
            </a:r>
            <a:r>
              <a:rPr lang="en-US" altLang="ko-KR" sz="1200" dirty="0"/>
              <a:t> </a:t>
            </a:r>
          </a:p>
          <a:p>
            <a:pPr marL="171450" indent="-171450"/>
            <a:r>
              <a:rPr lang="en-US" altLang="ko-KR" sz="1200" dirty="0"/>
              <a:t>                        </a:t>
            </a:r>
            <a:r>
              <a:rPr lang="en-US" altLang="ko-KR" sz="1200" dirty="0" err="1"/>
              <a:t>loại</a:t>
            </a:r>
            <a:r>
              <a:rPr lang="en-US" altLang="ko-KR" sz="1200" dirty="0"/>
              <a:t> </a:t>
            </a:r>
            <a:r>
              <a:rPr lang="en-US" altLang="ko-KR" sz="1200" dirty="0" err="1"/>
              <a:t>sai</a:t>
            </a:r>
            <a:r>
              <a:rPr lang="en-US" altLang="ko-KR" sz="1200" dirty="0"/>
              <a:t> </a:t>
            </a:r>
            <a:r>
              <a:rPr lang="en-US" altLang="ko-KR" sz="1200" dirty="0" err="1"/>
              <a:t>sản</a:t>
            </a:r>
            <a:r>
              <a:rPr lang="en-US" altLang="ko-KR" sz="1200" dirty="0"/>
              <a:t> </a:t>
            </a:r>
            <a:r>
              <a:rPr lang="en-US" altLang="ko-KR" sz="1200" dirty="0" err="1"/>
              <a:t>phẩm</a:t>
            </a:r>
            <a:r>
              <a:rPr lang="en-US" altLang="ko-KR" sz="1200" dirty="0"/>
              <a:t> NG </a:t>
            </a:r>
            <a:r>
              <a:rPr lang="en-US" altLang="ko-KR" sz="1200" dirty="0" err="1"/>
              <a:t>thành</a:t>
            </a:r>
            <a:r>
              <a:rPr lang="en-US" altLang="ko-KR" sz="1200" dirty="0"/>
              <a:t> </a:t>
            </a:r>
            <a:r>
              <a:rPr lang="en-US" altLang="ko-KR" sz="1200" dirty="0" err="1"/>
              <a:t>hàng</a:t>
            </a:r>
            <a:r>
              <a:rPr lang="en-US" altLang="ko-KR" sz="1200" dirty="0"/>
              <a:t> OK ( 0.006 ) </a:t>
            </a:r>
          </a:p>
          <a:p>
            <a:pPr marL="171450" indent="-171450">
              <a:buFontTx/>
              <a:buChar char="-"/>
            </a:pPr>
            <a:r>
              <a:rPr lang="en-US" altLang="ko-KR" sz="1200" dirty="0" err="1"/>
              <a:t>Khả</a:t>
            </a:r>
            <a:r>
              <a:rPr lang="en-US" altLang="ko-KR" sz="1200" dirty="0"/>
              <a:t> </a:t>
            </a:r>
            <a:r>
              <a:rPr lang="en-US" altLang="ko-KR" sz="1200" dirty="0" err="1"/>
              <a:t>năng</a:t>
            </a:r>
            <a:r>
              <a:rPr lang="en-US" altLang="ko-KR" sz="1200" dirty="0"/>
              <a:t> </a:t>
            </a:r>
            <a:r>
              <a:rPr lang="en-US" altLang="ko-KR" sz="1200" dirty="0" err="1"/>
              <a:t>có</a:t>
            </a:r>
            <a:r>
              <a:rPr lang="en-US" altLang="ko-KR" sz="1200" dirty="0"/>
              <a:t> </a:t>
            </a:r>
            <a:r>
              <a:rPr lang="en-US" altLang="ko-KR" sz="1200" dirty="0" err="1"/>
              <a:t>điều</a:t>
            </a:r>
            <a:r>
              <a:rPr lang="en-US" altLang="ko-KR" sz="1200" dirty="0"/>
              <a:t> </a:t>
            </a:r>
            <a:r>
              <a:rPr lang="en-US" altLang="ko-KR" sz="1200" dirty="0" err="1"/>
              <a:t>kiện</a:t>
            </a:r>
            <a:r>
              <a:rPr lang="ko-KR" altLang="en-US" sz="1200" dirty="0"/>
              <a:t> </a:t>
            </a:r>
            <a:r>
              <a:rPr lang="en-US" altLang="ko-KR" sz="1200" dirty="0"/>
              <a:t>: </a:t>
            </a:r>
            <a:r>
              <a:rPr lang="en-US" altLang="ko-KR" sz="1200" dirty="0" err="1"/>
              <a:t>Chỉ</a:t>
            </a:r>
            <a:r>
              <a:rPr lang="en-US" altLang="ko-KR" sz="1200" dirty="0"/>
              <a:t> </a:t>
            </a:r>
            <a:r>
              <a:rPr lang="en-US" altLang="ko-KR" sz="1200" dirty="0" err="1"/>
              <a:t>trong</a:t>
            </a:r>
            <a:r>
              <a:rPr lang="en-US" altLang="ko-KR" sz="1200" dirty="0"/>
              <a:t> </a:t>
            </a:r>
            <a:r>
              <a:rPr lang="en-US" altLang="ko-KR" sz="1200" dirty="0" err="1"/>
              <a:t>sản</a:t>
            </a:r>
            <a:r>
              <a:rPr lang="en-US" altLang="ko-KR" sz="1200" dirty="0"/>
              <a:t> </a:t>
            </a:r>
            <a:r>
              <a:rPr lang="en-US" altLang="ko-KR" sz="1200" dirty="0" err="1"/>
              <a:t>phẩm</a:t>
            </a:r>
            <a:r>
              <a:rPr lang="en-US" altLang="ko-KR" sz="1200" dirty="0"/>
              <a:t> NG </a:t>
            </a:r>
            <a:r>
              <a:rPr lang="en-US" altLang="ko-KR" sz="1200" dirty="0" err="1"/>
              <a:t>khả</a:t>
            </a:r>
            <a:r>
              <a:rPr lang="en-US" altLang="ko-KR" sz="1200" dirty="0"/>
              <a:t> </a:t>
            </a:r>
            <a:r>
              <a:rPr lang="en-US" altLang="ko-KR" sz="1200" dirty="0" err="1"/>
              <a:t>năng</a:t>
            </a:r>
            <a:r>
              <a:rPr lang="en-US" altLang="ko-KR" sz="1200" dirty="0"/>
              <a:t> </a:t>
            </a:r>
            <a:r>
              <a:rPr lang="en-US" altLang="ko-KR" sz="1200" dirty="0" err="1"/>
              <a:t>phân</a:t>
            </a:r>
            <a:endParaRPr lang="en-US" altLang="ko-KR" sz="1200" dirty="0"/>
          </a:p>
          <a:p>
            <a:pPr marL="171450" indent="-171450"/>
            <a:r>
              <a:rPr lang="en-US" altLang="ko-KR" sz="1200" dirty="0"/>
              <a:t>                        </a:t>
            </a:r>
            <a:r>
              <a:rPr lang="en-US" altLang="ko-KR" sz="1200" dirty="0" err="1"/>
              <a:t>loại</a:t>
            </a:r>
            <a:r>
              <a:rPr lang="en-US" altLang="ko-KR" sz="1200" dirty="0"/>
              <a:t> </a:t>
            </a:r>
            <a:r>
              <a:rPr lang="en-US" altLang="ko-KR" sz="1200" dirty="0" err="1"/>
              <a:t>sai</a:t>
            </a:r>
            <a:r>
              <a:rPr lang="en-US" altLang="ko-KR" sz="1200" dirty="0"/>
              <a:t> </a:t>
            </a:r>
            <a:r>
              <a:rPr lang="en-US" altLang="ko-KR" sz="1200" dirty="0" err="1"/>
              <a:t>sản</a:t>
            </a:r>
            <a:r>
              <a:rPr lang="en-US" altLang="ko-KR" sz="1200" dirty="0"/>
              <a:t> </a:t>
            </a:r>
            <a:r>
              <a:rPr lang="en-US" altLang="ko-KR" sz="1200" dirty="0" err="1"/>
              <a:t>phẩm</a:t>
            </a:r>
            <a:r>
              <a:rPr lang="en-US" altLang="ko-KR" sz="1200" dirty="0"/>
              <a:t> NG </a:t>
            </a:r>
            <a:r>
              <a:rPr lang="en-US" altLang="ko-KR" sz="1200" dirty="0" err="1"/>
              <a:t>thành</a:t>
            </a:r>
            <a:r>
              <a:rPr lang="en-US" altLang="ko-KR" sz="1200" dirty="0"/>
              <a:t> </a:t>
            </a:r>
            <a:r>
              <a:rPr lang="en-US" altLang="ko-KR" sz="1200" dirty="0" err="1"/>
              <a:t>hàng</a:t>
            </a:r>
            <a:r>
              <a:rPr lang="en-US" altLang="ko-KR" sz="1200" dirty="0"/>
              <a:t> OK ( 0.061 ) </a:t>
            </a:r>
            <a:endParaRPr lang="ko-KR" altLang="en-US" sz="1200" dirty="0"/>
          </a:p>
        </p:txBody>
      </p:sp>
      <p:sp>
        <p:nvSpPr>
          <p:cNvPr id="15" name="TextBox 14"/>
          <p:cNvSpPr txBox="1"/>
          <p:nvPr/>
        </p:nvSpPr>
        <p:spPr>
          <a:xfrm>
            <a:off x="4211960" y="2924944"/>
            <a:ext cx="4906536" cy="830997"/>
          </a:xfrm>
          <a:prstGeom prst="rect">
            <a:avLst/>
          </a:prstGeom>
          <a:noFill/>
        </p:spPr>
        <p:txBody>
          <a:bodyPr wrap="none" rtlCol="0">
            <a:spAutoFit/>
          </a:bodyPr>
          <a:lstStyle/>
          <a:p>
            <a:pPr marL="171450" indent="-171450">
              <a:buFontTx/>
              <a:buChar char="-"/>
            </a:pPr>
            <a:r>
              <a:rPr lang="en-US" altLang="ko-KR" sz="1200" dirty="0" err="1"/>
              <a:t>Khả</a:t>
            </a:r>
            <a:r>
              <a:rPr lang="en-US" altLang="ko-KR" sz="1200" dirty="0"/>
              <a:t> </a:t>
            </a:r>
            <a:r>
              <a:rPr lang="en-US" altLang="ko-KR" sz="1200" dirty="0" err="1"/>
              <a:t>năng</a:t>
            </a:r>
            <a:r>
              <a:rPr lang="en-US" altLang="ko-KR" sz="1200" dirty="0"/>
              <a:t> </a:t>
            </a:r>
            <a:r>
              <a:rPr lang="en-US" altLang="ko-KR" sz="1200" dirty="0" err="1"/>
              <a:t>kết</a:t>
            </a:r>
            <a:r>
              <a:rPr lang="en-US" altLang="ko-KR" sz="1200" dirty="0"/>
              <a:t> </a:t>
            </a:r>
            <a:r>
              <a:rPr lang="en-US" altLang="ko-KR" sz="1200" dirty="0" err="1"/>
              <a:t>hợp</a:t>
            </a:r>
            <a:r>
              <a:rPr lang="ko-KR" altLang="en-US" sz="1200" dirty="0"/>
              <a:t>  </a:t>
            </a:r>
            <a:r>
              <a:rPr lang="en-US" altLang="ko-KR" sz="1200" dirty="0"/>
              <a:t>:  </a:t>
            </a:r>
            <a:r>
              <a:rPr lang="en-US" altLang="ko-KR" sz="1200" dirty="0" err="1"/>
              <a:t>Trong</a:t>
            </a:r>
            <a:r>
              <a:rPr lang="en-US" altLang="ko-KR" sz="1200" dirty="0"/>
              <a:t> </a:t>
            </a:r>
            <a:r>
              <a:rPr lang="en-US" altLang="ko-KR" sz="1200" dirty="0" err="1"/>
              <a:t>toàn</a:t>
            </a:r>
            <a:r>
              <a:rPr lang="en-US" altLang="ko-KR" sz="1200" dirty="0"/>
              <a:t> </a:t>
            </a:r>
            <a:r>
              <a:rPr lang="en-US" altLang="ko-KR" sz="1200" dirty="0" err="1"/>
              <a:t>bộ</a:t>
            </a:r>
            <a:r>
              <a:rPr lang="en-US" altLang="ko-KR" sz="1200" dirty="0"/>
              <a:t> </a:t>
            </a:r>
            <a:r>
              <a:rPr lang="en-US" altLang="ko-KR" sz="1200" dirty="0" err="1"/>
              <a:t>sản</a:t>
            </a:r>
            <a:r>
              <a:rPr lang="en-US" altLang="ko-KR" sz="1200" dirty="0"/>
              <a:t> </a:t>
            </a:r>
            <a:r>
              <a:rPr lang="en-US" altLang="ko-KR" sz="1200" dirty="0" err="1"/>
              <a:t>phẩm</a:t>
            </a:r>
            <a:r>
              <a:rPr lang="en-US" altLang="ko-KR" sz="1200" dirty="0"/>
              <a:t> </a:t>
            </a:r>
            <a:r>
              <a:rPr lang="en-US" altLang="ko-KR" sz="1200" dirty="0" err="1"/>
              <a:t>khả</a:t>
            </a:r>
            <a:r>
              <a:rPr lang="en-US" altLang="ko-KR" sz="1200" dirty="0"/>
              <a:t> </a:t>
            </a:r>
            <a:r>
              <a:rPr lang="en-US" altLang="ko-KR" sz="1200" dirty="0" err="1"/>
              <a:t>năng</a:t>
            </a:r>
            <a:r>
              <a:rPr lang="en-US" altLang="ko-KR" sz="1200" dirty="0"/>
              <a:t> </a:t>
            </a:r>
            <a:r>
              <a:rPr lang="en-US" altLang="ko-KR" sz="1200" dirty="0" err="1"/>
              <a:t>phân</a:t>
            </a:r>
            <a:endParaRPr lang="en-US" altLang="ko-KR" sz="1200" dirty="0"/>
          </a:p>
          <a:p>
            <a:pPr marL="171450" indent="-171450"/>
            <a:r>
              <a:rPr lang="en-US" altLang="ko-KR" sz="1200" dirty="0"/>
              <a:t>                        </a:t>
            </a:r>
            <a:r>
              <a:rPr lang="en-US" altLang="ko-KR" sz="1200" dirty="0" err="1"/>
              <a:t>loại</a:t>
            </a:r>
            <a:r>
              <a:rPr lang="en-US" altLang="ko-KR" sz="1200" dirty="0"/>
              <a:t> </a:t>
            </a:r>
            <a:r>
              <a:rPr lang="en-US" altLang="ko-KR" sz="1200" dirty="0" err="1"/>
              <a:t>sản</a:t>
            </a:r>
            <a:r>
              <a:rPr lang="en-US" altLang="ko-KR" sz="1200" dirty="0"/>
              <a:t> </a:t>
            </a:r>
            <a:r>
              <a:rPr lang="en-US" altLang="ko-KR" sz="1200" dirty="0" err="1"/>
              <a:t>phẩm</a:t>
            </a:r>
            <a:r>
              <a:rPr lang="en-US" altLang="ko-KR" sz="1200" dirty="0"/>
              <a:t> OK </a:t>
            </a:r>
            <a:r>
              <a:rPr lang="en-US" altLang="ko-KR" sz="1200" dirty="0" err="1"/>
              <a:t>thành</a:t>
            </a:r>
            <a:r>
              <a:rPr lang="en-US" altLang="ko-KR" sz="1200" dirty="0"/>
              <a:t> </a:t>
            </a:r>
            <a:r>
              <a:rPr lang="en-US" altLang="ko-KR" sz="1200" dirty="0" err="1"/>
              <a:t>hàng</a:t>
            </a:r>
            <a:r>
              <a:rPr lang="en-US" altLang="ko-KR" sz="1200" dirty="0"/>
              <a:t> NG ( 0.007 ) </a:t>
            </a:r>
          </a:p>
          <a:p>
            <a:pPr marL="171450" indent="-171450">
              <a:buFontTx/>
              <a:buChar char="-"/>
            </a:pPr>
            <a:r>
              <a:rPr lang="en-US" altLang="ko-KR" sz="1200" dirty="0" err="1"/>
              <a:t>Khả</a:t>
            </a:r>
            <a:r>
              <a:rPr lang="en-US" altLang="ko-KR" sz="1200" dirty="0"/>
              <a:t> </a:t>
            </a:r>
            <a:r>
              <a:rPr lang="en-US" altLang="ko-KR" sz="1200" dirty="0" err="1"/>
              <a:t>năng</a:t>
            </a:r>
            <a:r>
              <a:rPr lang="en-US" altLang="ko-KR" sz="1200" dirty="0"/>
              <a:t> </a:t>
            </a:r>
            <a:r>
              <a:rPr lang="en-US" altLang="ko-KR" sz="1200" dirty="0" err="1"/>
              <a:t>có</a:t>
            </a:r>
            <a:r>
              <a:rPr lang="en-US" altLang="ko-KR" sz="1200" dirty="0"/>
              <a:t> </a:t>
            </a:r>
            <a:r>
              <a:rPr lang="en-US" altLang="ko-KR" sz="1200" dirty="0" err="1"/>
              <a:t>điều</a:t>
            </a:r>
            <a:r>
              <a:rPr lang="en-US" altLang="ko-KR" sz="1200" dirty="0"/>
              <a:t> </a:t>
            </a:r>
            <a:r>
              <a:rPr lang="en-US" altLang="ko-KR" sz="1200" dirty="0" err="1"/>
              <a:t>kiện</a:t>
            </a:r>
            <a:r>
              <a:rPr lang="ko-KR" altLang="en-US" sz="1200" dirty="0"/>
              <a:t> </a:t>
            </a:r>
            <a:r>
              <a:rPr lang="en-US" altLang="ko-KR" sz="1200" dirty="0"/>
              <a:t>: </a:t>
            </a:r>
            <a:r>
              <a:rPr lang="en-US" altLang="ko-KR" sz="1200" dirty="0" err="1"/>
              <a:t>Chỉ</a:t>
            </a:r>
            <a:r>
              <a:rPr lang="en-US" altLang="ko-KR" sz="1200" dirty="0"/>
              <a:t> </a:t>
            </a:r>
            <a:r>
              <a:rPr lang="en-US" altLang="ko-KR" sz="1200" dirty="0" err="1"/>
              <a:t>trong</a:t>
            </a:r>
            <a:r>
              <a:rPr lang="en-US" altLang="ko-KR" sz="1200" dirty="0"/>
              <a:t> </a:t>
            </a:r>
            <a:r>
              <a:rPr lang="en-US" altLang="ko-KR" sz="1200" dirty="0" err="1"/>
              <a:t>sản</a:t>
            </a:r>
            <a:r>
              <a:rPr lang="en-US" altLang="ko-KR" sz="1200" dirty="0"/>
              <a:t> </a:t>
            </a:r>
            <a:r>
              <a:rPr lang="en-US" altLang="ko-KR" sz="1200" dirty="0" err="1"/>
              <a:t>phẩm</a:t>
            </a:r>
            <a:r>
              <a:rPr lang="en-US" altLang="ko-KR" sz="1200" dirty="0"/>
              <a:t> OK </a:t>
            </a:r>
            <a:r>
              <a:rPr lang="en-US" altLang="ko-KR" sz="1200" dirty="0" err="1"/>
              <a:t>khả</a:t>
            </a:r>
            <a:r>
              <a:rPr lang="en-US" altLang="ko-KR" sz="1200" dirty="0"/>
              <a:t> </a:t>
            </a:r>
            <a:r>
              <a:rPr lang="en-US" altLang="ko-KR" sz="1200" dirty="0" err="1"/>
              <a:t>năng</a:t>
            </a:r>
            <a:r>
              <a:rPr lang="en-US" altLang="ko-KR" sz="1200" dirty="0"/>
              <a:t> </a:t>
            </a:r>
            <a:r>
              <a:rPr lang="en-US" altLang="ko-KR" sz="1200" dirty="0" err="1"/>
              <a:t>phân</a:t>
            </a:r>
            <a:endParaRPr lang="en-US" altLang="ko-KR" sz="1200" dirty="0"/>
          </a:p>
          <a:p>
            <a:pPr marL="171450" indent="-171450"/>
            <a:r>
              <a:rPr lang="en-US" altLang="ko-KR" sz="1200" dirty="0"/>
              <a:t>                        </a:t>
            </a:r>
            <a:r>
              <a:rPr lang="en-US" altLang="ko-KR" sz="1200" dirty="0" err="1"/>
              <a:t>loại</a:t>
            </a:r>
            <a:r>
              <a:rPr lang="en-US" altLang="ko-KR" sz="1200" dirty="0"/>
              <a:t> </a:t>
            </a:r>
            <a:r>
              <a:rPr lang="en-US" altLang="ko-KR" sz="1200" dirty="0" err="1"/>
              <a:t>sai</a:t>
            </a:r>
            <a:r>
              <a:rPr lang="en-US" altLang="ko-KR" sz="1200" dirty="0"/>
              <a:t> </a:t>
            </a:r>
            <a:r>
              <a:rPr lang="en-US" altLang="ko-KR" sz="1200" dirty="0" err="1"/>
              <a:t>sản</a:t>
            </a:r>
            <a:r>
              <a:rPr lang="en-US" altLang="ko-KR" sz="1200" dirty="0"/>
              <a:t> </a:t>
            </a:r>
            <a:r>
              <a:rPr lang="en-US" altLang="ko-KR" sz="1200" dirty="0" err="1"/>
              <a:t>phẩm</a:t>
            </a:r>
            <a:r>
              <a:rPr lang="en-US" altLang="ko-KR" sz="1200" dirty="0"/>
              <a:t> OK </a:t>
            </a:r>
            <a:r>
              <a:rPr lang="en-US" altLang="ko-KR" sz="1200" dirty="0" err="1"/>
              <a:t>thành</a:t>
            </a:r>
            <a:r>
              <a:rPr lang="en-US" altLang="ko-KR" sz="1200" dirty="0"/>
              <a:t> NG ( 0.008 ) </a:t>
            </a:r>
            <a:endParaRPr lang="ko-KR" altLang="en-US" sz="1200" dirty="0"/>
          </a:p>
        </p:txBody>
      </p:sp>
      <p:sp>
        <p:nvSpPr>
          <p:cNvPr id="16"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115</a:t>
            </a:fld>
            <a:endParaRPr lang="ko-KR" altLang="en-US" dirty="0"/>
          </a:p>
        </p:txBody>
      </p:sp>
    </p:spTree>
    <p:extLst>
      <p:ext uri="{BB962C8B-B14F-4D97-AF65-F5344CB8AC3E}">
        <p14:creationId xmlns:p14="http://schemas.microsoft.com/office/powerpoint/2010/main" val="346680108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39652" y="1052736"/>
            <a:ext cx="6264696" cy="4698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179512" y="148570"/>
            <a:ext cx="3281155" cy="400110"/>
          </a:xfrm>
          <a:prstGeom prst="rect">
            <a:avLst/>
          </a:prstGeom>
          <a:noFill/>
        </p:spPr>
        <p:txBody>
          <a:bodyPr wrap="none" rtlCol="0">
            <a:spAutoFit/>
          </a:bodyPr>
          <a:lstStyle/>
          <a:p>
            <a:r>
              <a:rPr lang="en-US" altLang="ko-KR" sz="2000" b="1" dirty="0"/>
              <a:t>Type 3 Study Case study</a:t>
            </a:r>
            <a:r>
              <a:rPr lang="ko-KR" altLang="en-US" sz="2000" b="1" dirty="0"/>
              <a:t> </a:t>
            </a:r>
          </a:p>
        </p:txBody>
      </p:sp>
      <p:sp>
        <p:nvSpPr>
          <p:cNvPr id="2" name="TextBox 1"/>
          <p:cNvSpPr txBox="1"/>
          <p:nvPr/>
        </p:nvSpPr>
        <p:spPr>
          <a:xfrm>
            <a:off x="1381862" y="5877272"/>
            <a:ext cx="5827814" cy="307777"/>
          </a:xfrm>
          <a:prstGeom prst="rect">
            <a:avLst/>
          </a:prstGeom>
          <a:noFill/>
        </p:spPr>
        <p:txBody>
          <a:bodyPr wrap="none" rtlCol="0">
            <a:spAutoFit/>
          </a:bodyPr>
          <a:lstStyle/>
          <a:p>
            <a:r>
              <a:rPr lang="en-US" sz="1400" dirty="0"/>
              <a:t>Compared with Type 2, there is no Operator, Operator x Part picture.</a:t>
            </a:r>
            <a:endParaRPr lang="ko-KR" altLang="en-US" sz="1400" dirty="0"/>
          </a:p>
        </p:txBody>
      </p:sp>
      <p:sp>
        <p:nvSpPr>
          <p:cNvPr id="5"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116</a:t>
            </a:fld>
            <a:endParaRPr lang="ko-KR" altLang="en-US" dirty="0"/>
          </a:p>
        </p:txBody>
      </p:sp>
    </p:spTree>
    <p:extLst>
      <p:ext uri="{BB962C8B-B14F-4D97-AF65-F5344CB8AC3E}">
        <p14:creationId xmlns:p14="http://schemas.microsoft.com/office/powerpoint/2010/main" val="32653327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3" name="TextBox 2"/>
          <p:cNvSpPr txBox="1"/>
          <p:nvPr/>
        </p:nvSpPr>
        <p:spPr>
          <a:xfrm>
            <a:off x="395654" y="827089"/>
            <a:ext cx="8280889" cy="307777"/>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Gage linearity and bias study (when analyzing without estimating process variation 6σTotal)</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4" name="직사각형 3"/>
          <p:cNvSpPr/>
          <p:nvPr/>
        </p:nvSpPr>
        <p:spPr>
          <a:xfrm>
            <a:off x="323528" y="1196752"/>
            <a:ext cx="8568952" cy="201793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5" name="TextBox 4"/>
          <p:cNvSpPr txBox="1"/>
          <p:nvPr/>
        </p:nvSpPr>
        <p:spPr>
          <a:xfrm>
            <a:off x="422445" y="1214422"/>
            <a:ext cx="8435835" cy="2031325"/>
          </a:xfrm>
          <a:prstGeom prst="rect">
            <a:avLst/>
          </a:prstGeom>
          <a:noFill/>
        </p:spPr>
        <p:txBody>
          <a:bodyPr wrap="square" rtlCol="0">
            <a:spAutoFit/>
          </a:bodyPr>
          <a:lstStyle/>
          <a:p>
            <a:pPr>
              <a:lnSpc>
                <a:spcPct val="150000"/>
              </a:lnSpc>
            </a:pPr>
            <a:r>
              <a:rPr lang="en-US" sz="1400" dirty="0"/>
              <a:t>Factory managers want to evaluate the linearity of an instrument. Based on the process variation, five parts were selected within the operating range of the instrument. In order to determine the reference value of each part, the reference value was selected by measuring the parts by precision measurement. Then, a skilled measurement worker randomly presented each part one by one, and then measured 12 times for each part, and the following data was obtained. Perform a linearity analysis using Minitab to determine acceptance or refusal of linearity</a:t>
            </a:r>
            <a:endParaRPr lang="ko-KR" altLang="en-US" sz="1400" dirty="0"/>
          </a:p>
        </p:txBody>
      </p:sp>
      <p:graphicFrame>
        <p:nvGraphicFramePr>
          <p:cNvPr id="7" name="표 6"/>
          <p:cNvGraphicFramePr>
            <a:graphicFrameLocks noGrp="1"/>
          </p:cNvGraphicFramePr>
          <p:nvPr>
            <p:extLst>
              <p:ext uri="{D42A27DB-BD31-4B8C-83A1-F6EECF244321}">
                <p14:modId xmlns:p14="http://schemas.microsoft.com/office/powerpoint/2010/main" val="3146604277"/>
              </p:ext>
            </p:extLst>
          </p:nvPr>
        </p:nvGraphicFramePr>
        <p:xfrm>
          <a:off x="2411760" y="3284984"/>
          <a:ext cx="4216400" cy="3335020"/>
        </p:xfrm>
        <a:graphic>
          <a:graphicData uri="http://schemas.openxmlformats.org/drawingml/2006/table">
            <a:tbl>
              <a:tblPr/>
              <a:tblGrid>
                <a:gridCol w="731480">
                  <a:extLst>
                    <a:ext uri="{9D8B030D-6E8A-4147-A177-3AD203B41FA5}">
                      <a16:colId xmlns:a16="http://schemas.microsoft.com/office/drawing/2014/main" val="20000"/>
                    </a:ext>
                  </a:extLst>
                </a:gridCol>
                <a:gridCol w="640120">
                  <a:extLst>
                    <a:ext uri="{9D8B030D-6E8A-4147-A177-3AD203B41FA5}">
                      <a16:colId xmlns:a16="http://schemas.microsoft.com/office/drawing/2014/main" val="20001"/>
                    </a:ext>
                  </a:extLst>
                </a:gridCol>
                <a:gridCol w="711200">
                  <a:extLst>
                    <a:ext uri="{9D8B030D-6E8A-4147-A177-3AD203B41FA5}">
                      <a16:colId xmlns:a16="http://schemas.microsoft.com/office/drawing/2014/main" val="20002"/>
                    </a:ext>
                  </a:extLst>
                </a:gridCol>
                <a:gridCol w="711200">
                  <a:extLst>
                    <a:ext uri="{9D8B030D-6E8A-4147-A177-3AD203B41FA5}">
                      <a16:colId xmlns:a16="http://schemas.microsoft.com/office/drawing/2014/main" val="20003"/>
                    </a:ext>
                  </a:extLst>
                </a:gridCol>
                <a:gridCol w="711200">
                  <a:extLst>
                    <a:ext uri="{9D8B030D-6E8A-4147-A177-3AD203B41FA5}">
                      <a16:colId xmlns:a16="http://schemas.microsoft.com/office/drawing/2014/main" val="20004"/>
                    </a:ext>
                  </a:extLst>
                </a:gridCol>
                <a:gridCol w="711200">
                  <a:extLst>
                    <a:ext uri="{9D8B030D-6E8A-4147-A177-3AD203B41FA5}">
                      <a16:colId xmlns:a16="http://schemas.microsoft.com/office/drawing/2014/main" val="20005"/>
                    </a:ext>
                  </a:extLst>
                </a:gridCol>
              </a:tblGrid>
              <a:tr h="215900">
                <a:tc>
                  <a:txBody>
                    <a:bodyPr/>
                    <a:lstStyle/>
                    <a:p>
                      <a:pPr algn="ctr" fontAlgn="ctr"/>
                      <a:r>
                        <a:rPr lang="en-US" altLang="ko-KR" sz="1200" b="0" i="0" u="none" strike="noStrike" dirty="0">
                          <a:solidFill>
                            <a:srgbClr val="000000"/>
                          </a:solidFill>
                          <a:effectLst/>
                          <a:latin typeface="맑은 고딕"/>
                        </a:rPr>
                        <a:t>Part number</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15900">
                <a:tc>
                  <a:txBody>
                    <a:bodyPr/>
                    <a:lstStyle/>
                    <a:p>
                      <a:pPr algn="ctr" fontAlgn="b"/>
                      <a:r>
                        <a:rPr lang="en-US" altLang="ko-KR" sz="1200" b="0" i="0" u="none" strike="noStrike" dirty="0">
                          <a:solidFill>
                            <a:srgbClr val="000000"/>
                          </a:solidFill>
                          <a:effectLst/>
                          <a:latin typeface="맑은 고딕"/>
                        </a:rPr>
                        <a:t>Reference value</a:t>
                      </a:r>
                      <a:endParaRPr lang="ko-KR" altLang="en-US" sz="1200" b="0" i="0" u="none" strike="noStrike" dirty="0">
                        <a:solidFill>
                          <a:srgbClr val="000000"/>
                        </a:solidFill>
                        <a:effectLst/>
                        <a:latin typeface="맑은 고딕"/>
                      </a:endParaRP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1"/>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4.2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4</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6</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7</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8</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9</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10</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4.0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4.1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15900">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117</a:t>
            </a:fld>
            <a:endParaRPr lang="ko-KR" altLang="en-US" dirty="0"/>
          </a:p>
        </p:txBody>
      </p:sp>
    </p:spTree>
    <p:extLst>
      <p:ext uri="{BB962C8B-B14F-4D97-AF65-F5344CB8AC3E}">
        <p14:creationId xmlns:p14="http://schemas.microsoft.com/office/powerpoint/2010/main" val="3658185213"/>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39652" y="1052736"/>
            <a:ext cx="6264696" cy="4698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179512" y="148570"/>
            <a:ext cx="4058612" cy="400110"/>
          </a:xfrm>
          <a:prstGeom prst="rect">
            <a:avLst/>
          </a:prstGeom>
          <a:noFill/>
        </p:spPr>
        <p:txBody>
          <a:bodyPr wrap="none" rtlCol="0">
            <a:spAutoFit/>
          </a:bodyPr>
          <a:lstStyle/>
          <a:p>
            <a:r>
              <a:rPr lang="en-US" altLang="ko-KR" sz="2000" b="1" dirty="0"/>
              <a:t>Type 3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2" name="TextBox 1"/>
          <p:cNvSpPr txBox="1"/>
          <p:nvPr/>
        </p:nvSpPr>
        <p:spPr>
          <a:xfrm>
            <a:off x="1381862" y="5877272"/>
            <a:ext cx="6179192" cy="307777"/>
          </a:xfrm>
          <a:prstGeom prst="rect">
            <a:avLst/>
          </a:prstGeom>
          <a:noFill/>
        </p:spPr>
        <p:txBody>
          <a:bodyPr wrap="none" rtlCol="0">
            <a:spAutoFit/>
          </a:bodyPr>
          <a:lstStyle/>
          <a:p>
            <a:r>
              <a:rPr lang="en-US" altLang="ko-KR" sz="1400" dirty="0" err="1"/>
              <a:t>Nếu</a:t>
            </a:r>
            <a:r>
              <a:rPr lang="en-US" altLang="ko-KR" sz="1400" dirty="0"/>
              <a:t> so </a:t>
            </a:r>
            <a:r>
              <a:rPr lang="en-US" altLang="ko-KR" sz="1400" dirty="0" err="1"/>
              <a:t>sánh</a:t>
            </a:r>
            <a:r>
              <a:rPr lang="en-US" altLang="ko-KR" sz="1400" dirty="0"/>
              <a:t> </a:t>
            </a:r>
            <a:r>
              <a:rPr lang="en-US" altLang="ko-KR" sz="1400" dirty="0" err="1"/>
              <a:t>với</a:t>
            </a:r>
            <a:r>
              <a:rPr lang="en-US" altLang="ko-KR" sz="1400" dirty="0"/>
              <a:t> Type 2, Operator, </a:t>
            </a:r>
            <a:r>
              <a:rPr lang="en-US" altLang="ko-KR" sz="1400" dirty="0" err="1"/>
              <a:t>và</a:t>
            </a:r>
            <a:r>
              <a:rPr lang="en-US" altLang="ko-KR" sz="1400" dirty="0"/>
              <a:t> Operator x Part </a:t>
            </a:r>
            <a:r>
              <a:rPr lang="en-US" altLang="ko-KR" sz="1400" dirty="0" err="1"/>
              <a:t>không</a:t>
            </a:r>
            <a:r>
              <a:rPr lang="en-US" altLang="ko-KR" sz="1400" dirty="0"/>
              <a:t> </a:t>
            </a:r>
            <a:r>
              <a:rPr lang="en-US" altLang="ko-KR" sz="1400" dirty="0" err="1"/>
              <a:t>có</a:t>
            </a:r>
            <a:r>
              <a:rPr lang="en-US" altLang="ko-KR" sz="1400" dirty="0"/>
              <a:t> </a:t>
            </a:r>
            <a:r>
              <a:rPr lang="en-US" altLang="ko-KR" sz="1400" dirty="0" err="1"/>
              <a:t>hình</a:t>
            </a:r>
            <a:r>
              <a:rPr lang="en-US" altLang="ko-KR" sz="1400" dirty="0"/>
              <a:t> </a:t>
            </a:r>
            <a:r>
              <a:rPr lang="en-US" altLang="ko-KR" sz="1400" dirty="0" err="1"/>
              <a:t>ảnh</a:t>
            </a:r>
            <a:endParaRPr lang="ko-KR" altLang="en-US" sz="1400" dirty="0"/>
          </a:p>
        </p:txBody>
      </p:sp>
      <p:sp>
        <p:nvSpPr>
          <p:cNvPr id="5"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118</a:t>
            </a:fld>
            <a:endParaRPr lang="ko-KR" altLang="en-US" dirty="0"/>
          </a:p>
        </p:txBody>
      </p:sp>
    </p:spTree>
    <p:extLst>
      <p:ext uri="{BB962C8B-B14F-4D97-AF65-F5344CB8AC3E}">
        <p14:creationId xmlns:p14="http://schemas.microsoft.com/office/powerpoint/2010/main" val="326533270"/>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395654" y="704309"/>
            <a:ext cx="8280889" cy="492443"/>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độ tuyến 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lệch</a:t>
            </a:r>
            <a:r>
              <a:rPr lang="en-US" altLang="ko-KR" sz="1400" b="1" kern="0" dirty="0">
                <a:solidFill>
                  <a:sysClr val="windowText" lastClr="000000"/>
                </a:solidFill>
                <a:latin typeface="맑은 고딕" pitchFamily="50" charset="-127"/>
                <a:ea typeface="맑은 고딕" pitchFamily="50" charset="-127"/>
              </a:rPr>
              <a:t> </a:t>
            </a:r>
            <a:r>
              <a:rPr lang="en-US" altLang="ko-KR" sz="1200" b="1" kern="0" dirty="0">
                <a:solidFill>
                  <a:sysClr val="windowText" lastClr="000000"/>
                </a:solidFill>
                <a:latin typeface="맑은 고딕" pitchFamily="50" charset="-127"/>
                <a:ea typeface="맑은 고딕" pitchFamily="50" charset="-127"/>
              </a:rPr>
              <a:t>(</a:t>
            </a:r>
            <a:r>
              <a:rPr lang="en-US" altLang="ko-KR" sz="1200" b="1" kern="0" dirty="0" err="1">
                <a:solidFill>
                  <a:sysClr val="windowText" lastClr="000000"/>
                </a:solidFill>
                <a:latin typeface="맑은 고딕" pitchFamily="50" charset="-127"/>
                <a:ea typeface="맑은 고딕" pitchFamily="50" charset="-127"/>
              </a:rPr>
              <a:t>trường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hợp</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phân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tích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mà</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không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phán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đoán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lượng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biến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động</a:t>
            </a:r>
            <a:r>
              <a:rPr lang="en-US" altLang="ko-KR" sz="1200" b="1" kern="0" dirty="0">
                <a:solidFill>
                  <a:sysClr val="windowText" lastClr="000000"/>
                </a:solidFill>
                <a:latin typeface="맑은 고딕" pitchFamily="50" charset="-127"/>
                <a:ea typeface="맑은 고딕" pitchFamily="50" charset="-127"/>
              </a:rPr>
              <a:t> process</a:t>
            </a:r>
            <a:r>
              <a:rPr lang="ko-KR" altLang="en-US" sz="1200" b="1" kern="0" dirty="0">
                <a:solidFill>
                  <a:sysClr val="windowText" lastClr="000000"/>
                </a:solidFill>
                <a:latin typeface="맑은 고딕" pitchFamily="50" charset="-127"/>
                <a:ea typeface="맑은 고딕" pitchFamily="50" charset="-127"/>
              </a:rPr>
              <a:t> </a:t>
            </a:r>
            <a:r>
              <a:rPr lang="en-US" altLang="ko-KR" sz="1200" b="1" kern="0" dirty="0">
                <a:solidFill>
                  <a:sysClr val="windowText" lastClr="000000"/>
                </a:solidFill>
                <a:latin typeface="맑은 고딕" pitchFamily="50" charset="-127"/>
                <a:ea typeface="맑은 고딕" pitchFamily="50" charset="-127"/>
              </a:rPr>
              <a:t>6σTotal) </a:t>
            </a:r>
            <a:r>
              <a:rPr lang="ko-KR" altLang="en-US" sz="12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4" name="직사각형 3"/>
          <p:cNvSpPr/>
          <p:nvPr/>
        </p:nvSpPr>
        <p:spPr>
          <a:xfrm>
            <a:off x="467544" y="1196752"/>
            <a:ext cx="8352928" cy="1800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5" name="TextBox 4"/>
          <p:cNvSpPr txBox="1"/>
          <p:nvPr/>
        </p:nvSpPr>
        <p:spPr>
          <a:xfrm>
            <a:off x="792088" y="1205114"/>
            <a:ext cx="8316416" cy="1754326"/>
          </a:xfrm>
          <a:prstGeom prst="rect">
            <a:avLst/>
          </a:prstGeom>
          <a:noFill/>
        </p:spPr>
        <p:txBody>
          <a:bodyPr wrap="square" rtlCol="0">
            <a:spAutoFit/>
          </a:bodyPr>
          <a:lstStyle/>
          <a:p>
            <a:pPr>
              <a:lnSpc>
                <a:spcPct val="150000"/>
              </a:lnSpc>
            </a:pPr>
            <a:r>
              <a:rPr lang="en-US" altLang="ko-KR" sz="1200" dirty="0" err="1"/>
              <a:t>Một</a:t>
            </a:r>
            <a:r>
              <a:rPr lang="en-US" altLang="ko-KR" sz="1200" dirty="0"/>
              <a:t> </a:t>
            </a:r>
            <a:r>
              <a:rPr lang="en-US" altLang="ko-KR" sz="1200" dirty="0" err="1"/>
              <a:t>người</a:t>
            </a:r>
            <a:r>
              <a:rPr lang="en-US" altLang="ko-KR" sz="1200" dirty="0"/>
              <a:t> </a:t>
            </a:r>
            <a:r>
              <a:rPr lang="en-US" altLang="ko-KR" sz="1200" dirty="0" err="1"/>
              <a:t>quản</a:t>
            </a:r>
            <a:r>
              <a:rPr lang="en-US" altLang="ko-KR" sz="1200" dirty="0"/>
              <a:t> </a:t>
            </a:r>
            <a:r>
              <a:rPr lang="en-US" altLang="ko-KR" sz="1200" dirty="0" err="1"/>
              <a:t>lý</a:t>
            </a:r>
            <a:r>
              <a:rPr lang="en-US" altLang="ko-KR" sz="1200" dirty="0"/>
              <a:t> </a:t>
            </a:r>
            <a:r>
              <a:rPr lang="en-US" altLang="ko-KR" sz="1200" dirty="0" err="1"/>
              <a:t>nhà</a:t>
            </a:r>
            <a:r>
              <a:rPr lang="en-US" altLang="ko-KR" sz="1200" dirty="0"/>
              <a:t> </a:t>
            </a:r>
            <a:r>
              <a:rPr lang="en-US" altLang="ko-KR" sz="1200" dirty="0" err="1"/>
              <a:t>máy</a:t>
            </a:r>
            <a:r>
              <a:rPr lang="en-US" altLang="ko-KR" sz="1200" dirty="0"/>
              <a:t> </a:t>
            </a:r>
            <a:r>
              <a:rPr lang="en-US" altLang="ko-KR" sz="1200" dirty="0" err="1"/>
              <a:t>tiến</a:t>
            </a:r>
            <a:r>
              <a:rPr lang="en-US" altLang="ko-KR" sz="1200" dirty="0"/>
              <a:t> </a:t>
            </a:r>
            <a:r>
              <a:rPr lang="en-US" altLang="ko-KR" sz="1200" dirty="0" err="1"/>
              <a:t>hành</a:t>
            </a:r>
            <a:r>
              <a:rPr lang="en-US" altLang="ko-KR" sz="1200" dirty="0"/>
              <a:t> </a:t>
            </a:r>
            <a:r>
              <a:rPr lang="en-US" altLang="ko-KR" sz="1200" dirty="0" err="1"/>
              <a:t>đánh</a:t>
            </a:r>
            <a:r>
              <a:rPr lang="en-US" altLang="ko-KR" sz="1200" dirty="0"/>
              <a:t> </a:t>
            </a:r>
            <a:r>
              <a:rPr lang="en-US" altLang="ko-KR" sz="1200" dirty="0" err="1"/>
              <a:t>giá</a:t>
            </a:r>
            <a:r>
              <a:rPr lang="en-US" altLang="ko-KR" sz="1200" dirty="0"/>
              <a:t> </a:t>
            </a:r>
            <a:r>
              <a:rPr lang="vi-VN" altLang="ko-KR" sz="1200" dirty="0"/>
              <a:t>độ tuyến tính</a:t>
            </a:r>
            <a:r>
              <a:rPr lang="en-US" altLang="ko-KR" sz="1200" dirty="0"/>
              <a:t> </a:t>
            </a:r>
            <a:r>
              <a:rPr lang="en-US" altLang="ko-KR" sz="1200" dirty="0" err="1"/>
              <a:t>của</a:t>
            </a:r>
            <a:r>
              <a:rPr lang="en-US" altLang="ko-KR" sz="1200" dirty="0"/>
              <a:t> </a:t>
            </a:r>
            <a:r>
              <a:rPr lang="en-US" altLang="ko-KR" sz="1200" dirty="0" err="1"/>
              <a:t>một</a:t>
            </a:r>
            <a:r>
              <a:rPr lang="en-US" altLang="ko-KR" sz="1200" dirty="0"/>
              <a:t> </a:t>
            </a:r>
            <a:r>
              <a:rPr lang="en-US" altLang="ko-KR" sz="1200" dirty="0" err="1"/>
              <a:t>dụng</a:t>
            </a:r>
            <a:r>
              <a:rPr lang="en-US" altLang="ko-KR" sz="1200" dirty="0"/>
              <a:t> </a:t>
            </a:r>
            <a:r>
              <a:rPr lang="en-US" altLang="ko-KR" sz="1200" dirty="0" err="1"/>
              <a:t>cụ</a:t>
            </a:r>
            <a:r>
              <a:rPr lang="en-US" altLang="ko-KR" sz="1200" dirty="0"/>
              <a:t> </a:t>
            </a:r>
            <a:r>
              <a:rPr lang="en-US" altLang="ko-KR" sz="1200" dirty="0" err="1"/>
              <a:t>đo</a:t>
            </a:r>
            <a:r>
              <a:rPr lang="en-US" altLang="ko-KR" sz="1200" dirty="0"/>
              <a:t>. </a:t>
            </a:r>
            <a:r>
              <a:rPr lang="en-US" altLang="ko-KR" sz="1200" dirty="0" err="1"/>
              <a:t>Căn</a:t>
            </a:r>
            <a:r>
              <a:rPr lang="en-US" altLang="ko-KR" sz="1200" dirty="0"/>
              <a:t> </a:t>
            </a:r>
            <a:r>
              <a:rPr lang="en-US" altLang="ko-KR" sz="1200" dirty="0" err="1"/>
              <a:t>cứ</a:t>
            </a:r>
            <a:r>
              <a:rPr lang="en-US" altLang="ko-KR" sz="1200" dirty="0"/>
              <a:t> </a:t>
            </a:r>
            <a:r>
              <a:rPr lang="en-US" altLang="ko-KR" sz="1200" dirty="0" err="1"/>
              <a:t>vào</a:t>
            </a:r>
            <a:r>
              <a:rPr lang="en-US" altLang="ko-KR" sz="1200" dirty="0"/>
              <a:t> </a:t>
            </a:r>
            <a:r>
              <a:rPr lang="en-US" altLang="ko-KR" sz="1200" dirty="0" err="1"/>
              <a:t>biến</a:t>
            </a:r>
            <a:r>
              <a:rPr lang="en-US" altLang="ko-KR" sz="1200" dirty="0"/>
              <a:t> </a:t>
            </a:r>
          </a:p>
          <a:p>
            <a:pPr>
              <a:lnSpc>
                <a:spcPct val="150000"/>
              </a:lnSpc>
            </a:pPr>
            <a:r>
              <a:rPr lang="en-US" altLang="ko-KR" sz="1200" dirty="0" err="1"/>
              <a:t>động</a:t>
            </a:r>
            <a:r>
              <a:rPr lang="en-US" altLang="ko-KR" sz="1200" dirty="0"/>
              <a:t> Process </a:t>
            </a:r>
            <a:r>
              <a:rPr lang="en-US" altLang="ko-KR" sz="1200" dirty="0" err="1"/>
              <a:t>trong</a:t>
            </a:r>
            <a:r>
              <a:rPr lang="en-US" altLang="ko-KR" sz="1200" dirty="0"/>
              <a:t> </a:t>
            </a:r>
            <a:r>
              <a:rPr lang="en-US" altLang="ko-KR" sz="1200" dirty="0" err="1"/>
              <a:t>phạm</a:t>
            </a:r>
            <a:r>
              <a:rPr lang="en-US" altLang="ko-KR" sz="1200" dirty="0"/>
              <a:t> vi </a:t>
            </a:r>
            <a:r>
              <a:rPr lang="en-US" altLang="ko-KR" sz="1200" dirty="0" err="1"/>
              <a:t>vận</a:t>
            </a:r>
            <a:r>
              <a:rPr lang="en-US" altLang="ko-KR" sz="1200" dirty="0"/>
              <a:t> </a:t>
            </a:r>
            <a:r>
              <a:rPr lang="en-US" altLang="ko-KR" sz="1200" dirty="0" err="1"/>
              <a:t>hành</a:t>
            </a:r>
            <a:r>
              <a:rPr lang="en-US" altLang="ko-KR" sz="1200" dirty="0"/>
              <a:t> </a:t>
            </a:r>
            <a:r>
              <a:rPr lang="en-US" altLang="ko-KR" sz="1200" dirty="0" err="1"/>
              <a:t>của</a:t>
            </a:r>
            <a:r>
              <a:rPr lang="en-US" altLang="ko-KR" sz="1200" dirty="0"/>
              <a:t> </a:t>
            </a:r>
            <a:r>
              <a:rPr lang="en-US" altLang="ko-KR" sz="1200" dirty="0" err="1"/>
              <a:t>dụng</a:t>
            </a:r>
            <a:r>
              <a:rPr lang="en-US" altLang="ko-KR" sz="1200" dirty="0"/>
              <a:t> </a:t>
            </a:r>
            <a:r>
              <a:rPr lang="en-US" altLang="ko-KR" sz="1200" dirty="0" err="1"/>
              <a:t>cụ</a:t>
            </a:r>
            <a:r>
              <a:rPr lang="en-US" altLang="ko-KR" sz="1200" dirty="0"/>
              <a:t> </a:t>
            </a:r>
            <a:r>
              <a:rPr lang="en-US" altLang="ko-KR" sz="1200" dirty="0" err="1"/>
              <a:t>đo</a:t>
            </a:r>
            <a:r>
              <a:rPr lang="en-US" altLang="ko-KR" sz="1200" dirty="0"/>
              <a:t> </a:t>
            </a:r>
            <a:r>
              <a:rPr lang="en-US" altLang="ko-KR" sz="1200" dirty="0" err="1"/>
              <a:t>tiến</a:t>
            </a:r>
            <a:r>
              <a:rPr lang="en-US" altLang="ko-KR" sz="1200" dirty="0"/>
              <a:t> </a:t>
            </a:r>
            <a:r>
              <a:rPr lang="en-US" altLang="ko-KR" sz="1200" dirty="0" err="1"/>
              <a:t>hành</a:t>
            </a:r>
            <a:r>
              <a:rPr lang="en-US" altLang="ko-KR" sz="1200" dirty="0"/>
              <a:t> </a:t>
            </a:r>
            <a:r>
              <a:rPr lang="en-US" altLang="ko-KR" sz="1200" dirty="0" err="1"/>
              <a:t>lựa</a:t>
            </a:r>
            <a:r>
              <a:rPr lang="en-US" altLang="ko-KR" sz="1200" dirty="0"/>
              <a:t> </a:t>
            </a:r>
            <a:r>
              <a:rPr lang="en-US" altLang="ko-KR" sz="1200" dirty="0" err="1"/>
              <a:t>chọn</a:t>
            </a:r>
            <a:r>
              <a:rPr lang="en-US" altLang="ko-KR" sz="1200" dirty="0"/>
              <a:t> 5 </a:t>
            </a:r>
            <a:r>
              <a:rPr lang="en-US" altLang="ko-KR" sz="1200" dirty="0" err="1"/>
              <a:t>linh</a:t>
            </a:r>
            <a:r>
              <a:rPr lang="en-US" altLang="ko-KR" sz="1200" dirty="0"/>
              <a:t> </a:t>
            </a:r>
            <a:r>
              <a:rPr lang="en-US" altLang="ko-KR" sz="1200" dirty="0" err="1"/>
              <a:t>kiện</a:t>
            </a:r>
            <a:r>
              <a:rPr lang="en-US" altLang="ko-KR" sz="1200" dirty="0"/>
              <a:t>. </a:t>
            </a:r>
            <a:r>
              <a:rPr lang="en-US" altLang="ko-KR" sz="1200" dirty="0" err="1"/>
              <a:t>Để</a:t>
            </a:r>
            <a:r>
              <a:rPr lang="en-US" altLang="ko-KR" sz="1200" dirty="0"/>
              <a:t> </a:t>
            </a:r>
            <a:r>
              <a:rPr lang="en-US" altLang="ko-KR" sz="1200" dirty="0" err="1"/>
              <a:t>quyết</a:t>
            </a:r>
            <a:r>
              <a:rPr lang="en-US" altLang="ko-KR" sz="1200" dirty="0"/>
              <a:t> </a:t>
            </a:r>
            <a:r>
              <a:rPr lang="en-US" altLang="ko-KR" sz="1200" dirty="0" err="1"/>
              <a:t>định</a:t>
            </a:r>
            <a:r>
              <a:rPr lang="en-US" altLang="ko-KR" sz="1200" dirty="0"/>
              <a:t> </a:t>
            </a:r>
          </a:p>
          <a:p>
            <a:pPr>
              <a:lnSpc>
                <a:spcPct val="150000"/>
              </a:lnSpc>
            </a:pPr>
            <a:r>
              <a:rPr lang="en-US" altLang="ko-KR" sz="1200" dirty="0" err="1"/>
              <a:t>giá</a:t>
            </a:r>
            <a:r>
              <a:rPr lang="en-US" altLang="ko-KR" sz="1200" dirty="0"/>
              <a:t> </a:t>
            </a:r>
            <a:r>
              <a:rPr lang="en-US" altLang="ko-KR" sz="1200" dirty="0" err="1"/>
              <a:t>trị</a:t>
            </a:r>
            <a:r>
              <a:rPr lang="en-US" altLang="ko-KR" sz="1200" dirty="0"/>
              <a:t> </a:t>
            </a:r>
            <a:r>
              <a:rPr lang="en-US" altLang="ko-KR" sz="1200" dirty="0" err="1"/>
              <a:t>tiêu</a:t>
            </a:r>
            <a:r>
              <a:rPr lang="en-US" altLang="ko-KR" sz="1200" dirty="0"/>
              <a:t> </a:t>
            </a:r>
            <a:r>
              <a:rPr lang="en-US" altLang="ko-KR" sz="1200" dirty="0" err="1"/>
              <a:t>chuẩn</a:t>
            </a:r>
            <a:r>
              <a:rPr lang="en-US" altLang="ko-KR" sz="1200" dirty="0"/>
              <a:t> </a:t>
            </a:r>
            <a:r>
              <a:rPr lang="en-US" altLang="ko-KR" sz="1200" dirty="0" err="1"/>
              <a:t>của</a:t>
            </a:r>
            <a:r>
              <a:rPr lang="en-US" altLang="ko-KR" sz="1200" dirty="0"/>
              <a:t> </a:t>
            </a:r>
            <a:r>
              <a:rPr lang="en-US" altLang="ko-KR" sz="1200" dirty="0" err="1"/>
              <a:t>các</a:t>
            </a:r>
            <a:r>
              <a:rPr lang="en-US" altLang="ko-KR" sz="1200" dirty="0"/>
              <a:t> </a:t>
            </a:r>
            <a:r>
              <a:rPr lang="en-US" altLang="ko-KR" sz="1200" dirty="0" err="1"/>
              <a:t>linh</a:t>
            </a:r>
            <a:r>
              <a:rPr lang="en-US" altLang="ko-KR" sz="1200" dirty="0"/>
              <a:t> </a:t>
            </a:r>
            <a:r>
              <a:rPr lang="en-US" altLang="ko-KR" sz="1200" dirty="0" err="1"/>
              <a:t>kiện</a:t>
            </a:r>
            <a:r>
              <a:rPr lang="en-US" altLang="ko-KR" sz="1200" dirty="0"/>
              <a:t> </a:t>
            </a:r>
            <a:r>
              <a:rPr lang="en-US" altLang="ko-KR" sz="1200" dirty="0" err="1"/>
              <a:t>tiến</a:t>
            </a:r>
            <a:r>
              <a:rPr lang="en-US" altLang="ko-KR" sz="1200" dirty="0"/>
              <a:t> </a:t>
            </a:r>
            <a:r>
              <a:rPr lang="en-US" altLang="ko-KR" sz="1200" dirty="0" err="1"/>
              <a:t>hành</a:t>
            </a:r>
            <a:r>
              <a:rPr lang="en-US" altLang="ko-KR" sz="1200" dirty="0"/>
              <a:t> </a:t>
            </a:r>
            <a:r>
              <a:rPr lang="en-US" altLang="ko-KR" sz="1200" dirty="0" err="1"/>
              <a:t>đo</a:t>
            </a:r>
            <a:r>
              <a:rPr lang="en-US" altLang="ko-KR" sz="1200" dirty="0"/>
              <a:t> </a:t>
            </a:r>
            <a:r>
              <a:rPr lang="en-US" altLang="ko-KR" sz="1200" dirty="0" err="1"/>
              <a:t>đạc</a:t>
            </a:r>
            <a:r>
              <a:rPr lang="en-US" altLang="ko-KR" sz="1200" dirty="0"/>
              <a:t> </a:t>
            </a:r>
            <a:r>
              <a:rPr lang="en-US" altLang="ko-KR" sz="1200" dirty="0" err="1"/>
              <a:t>linh</a:t>
            </a:r>
            <a:r>
              <a:rPr lang="en-US" altLang="ko-KR" sz="1200" dirty="0"/>
              <a:t> </a:t>
            </a:r>
            <a:r>
              <a:rPr lang="en-US" altLang="ko-KR" sz="1200" dirty="0" err="1"/>
              <a:t>kiện</a:t>
            </a:r>
            <a:r>
              <a:rPr lang="en-US" altLang="ko-KR" sz="1200" dirty="0"/>
              <a:t> </a:t>
            </a:r>
            <a:r>
              <a:rPr lang="en-US" altLang="ko-KR" sz="1200" dirty="0" err="1"/>
              <a:t>căn</a:t>
            </a:r>
            <a:r>
              <a:rPr lang="en-US" altLang="ko-KR" sz="1200" dirty="0"/>
              <a:t> </a:t>
            </a:r>
            <a:r>
              <a:rPr lang="en-US" altLang="ko-KR" sz="1200" dirty="0" err="1"/>
              <a:t>cứ</a:t>
            </a:r>
            <a:r>
              <a:rPr lang="en-US" altLang="ko-KR" sz="1200" dirty="0"/>
              <a:t> </a:t>
            </a:r>
            <a:r>
              <a:rPr lang="en-US" altLang="ko-KR" sz="1200" dirty="0" err="1"/>
              <a:t>vào</a:t>
            </a:r>
            <a:r>
              <a:rPr lang="en-US" altLang="ko-KR" sz="1200" dirty="0"/>
              <a:t> </a:t>
            </a:r>
            <a:r>
              <a:rPr lang="en-US" altLang="ko-KR" sz="1200" dirty="0" err="1"/>
              <a:t>đo</a:t>
            </a:r>
            <a:r>
              <a:rPr lang="en-US" altLang="ko-KR" sz="1200" dirty="0"/>
              <a:t> </a:t>
            </a:r>
            <a:r>
              <a:rPr lang="en-US" altLang="ko-KR" sz="1200" dirty="0" err="1"/>
              <a:t>đạc</a:t>
            </a:r>
            <a:r>
              <a:rPr lang="en-US" altLang="ko-KR" sz="1200" dirty="0"/>
              <a:t> </a:t>
            </a:r>
            <a:r>
              <a:rPr lang="en-US" altLang="ko-KR" sz="1200" dirty="0" err="1"/>
              <a:t>tỉ</a:t>
            </a:r>
            <a:r>
              <a:rPr lang="en-US" altLang="ko-KR" sz="1200" dirty="0"/>
              <a:t> </a:t>
            </a:r>
            <a:r>
              <a:rPr lang="en-US" altLang="ko-KR" sz="1200" dirty="0" err="1"/>
              <a:t>mỉ</a:t>
            </a:r>
            <a:r>
              <a:rPr lang="en-US" altLang="ko-KR" sz="1200" dirty="0"/>
              <a:t> </a:t>
            </a:r>
            <a:r>
              <a:rPr lang="en-US" altLang="ko-KR" sz="1200" dirty="0" err="1"/>
              <a:t>để</a:t>
            </a:r>
            <a:r>
              <a:rPr lang="en-US" altLang="ko-KR" sz="1200" dirty="0"/>
              <a:t> </a:t>
            </a:r>
            <a:r>
              <a:rPr lang="en-US" altLang="ko-KR" sz="1200" dirty="0" err="1"/>
              <a:t>lựa</a:t>
            </a:r>
            <a:r>
              <a:rPr lang="en-US" altLang="ko-KR" sz="1200" dirty="0"/>
              <a:t> </a:t>
            </a:r>
            <a:r>
              <a:rPr lang="en-US" altLang="ko-KR" sz="1200" dirty="0" err="1"/>
              <a:t>chọn</a:t>
            </a:r>
            <a:r>
              <a:rPr lang="en-US" altLang="ko-KR" sz="1200" dirty="0"/>
              <a:t> </a:t>
            </a:r>
            <a:r>
              <a:rPr lang="en-US" altLang="ko-KR" sz="1200" dirty="0" err="1"/>
              <a:t>giá</a:t>
            </a:r>
            <a:endParaRPr lang="en-US" altLang="ko-KR" sz="1200" dirty="0"/>
          </a:p>
          <a:p>
            <a:pPr>
              <a:lnSpc>
                <a:spcPct val="150000"/>
              </a:lnSpc>
            </a:pPr>
            <a:r>
              <a:rPr lang="en-US" altLang="ko-KR" sz="1200" dirty="0"/>
              <a:t> </a:t>
            </a:r>
            <a:r>
              <a:rPr lang="en-US" altLang="ko-KR" sz="1200" dirty="0" err="1"/>
              <a:t>trị</a:t>
            </a:r>
            <a:r>
              <a:rPr lang="en-US" altLang="ko-KR" sz="1200" dirty="0"/>
              <a:t> </a:t>
            </a:r>
            <a:r>
              <a:rPr lang="en-US" altLang="ko-KR" sz="1200" dirty="0" err="1"/>
              <a:t>tiêu</a:t>
            </a:r>
            <a:r>
              <a:rPr lang="en-US" altLang="ko-KR" sz="1200" dirty="0"/>
              <a:t> </a:t>
            </a:r>
            <a:r>
              <a:rPr lang="en-US" altLang="ko-KR" sz="1200" dirty="0" err="1"/>
              <a:t>chuẩn</a:t>
            </a:r>
            <a:r>
              <a:rPr lang="en-US" altLang="ko-KR" sz="1200" dirty="0"/>
              <a:t>. </a:t>
            </a:r>
            <a:r>
              <a:rPr lang="en-US" altLang="ko-KR" sz="1200" dirty="0" err="1"/>
              <a:t>Sau</a:t>
            </a:r>
            <a:r>
              <a:rPr lang="en-US" altLang="ko-KR" sz="1200" dirty="0"/>
              <a:t> </a:t>
            </a:r>
            <a:r>
              <a:rPr lang="en-US" altLang="ko-KR" sz="1200" dirty="0" err="1"/>
              <a:t>đó</a:t>
            </a:r>
            <a:r>
              <a:rPr lang="en-US" altLang="ko-KR" sz="1200" dirty="0"/>
              <a:t> </a:t>
            </a:r>
            <a:r>
              <a:rPr lang="en-US" altLang="ko-KR" sz="1200" dirty="0" err="1"/>
              <a:t>người</a:t>
            </a:r>
            <a:r>
              <a:rPr lang="en-US" altLang="ko-KR" sz="1200" dirty="0"/>
              <a:t> </a:t>
            </a:r>
            <a:r>
              <a:rPr lang="en-US" altLang="ko-KR" sz="1200" dirty="0" err="1"/>
              <a:t>đo</a:t>
            </a:r>
            <a:r>
              <a:rPr lang="en-US" altLang="ko-KR" sz="1200" dirty="0"/>
              <a:t> </a:t>
            </a:r>
            <a:r>
              <a:rPr lang="en-US" altLang="ko-KR" sz="1200" dirty="0" err="1"/>
              <a:t>đạc</a:t>
            </a:r>
            <a:r>
              <a:rPr lang="en-US" altLang="ko-KR" sz="1200" dirty="0"/>
              <a:t> </a:t>
            </a:r>
            <a:r>
              <a:rPr lang="en-US" altLang="ko-KR" sz="1200" dirty="0" err="1"/>
              <a:t>thành</a:t>
            </a:r>
            <a:r>
              <a:rPr lang="en-US" altLang="ko-KR" sz="1200" dirty="0"/>
              <a:t> </a:t>
            </a:r>
            <a:r>
              <a:rPr lang="en-US" altLang="ko-KR" sz="1200" dirty="0" err="1"/>
              <a:t>thục</a:t>
            </a:r>
            <a:r>
              <a:rPr lang="en-US" altLang="ko-KR" sz="1200" dirty="0"/>
              <a:t> </a:t>
            </a:r>
            <a:r>
              <a:rPr lang="en-US" altLang="ko-KR" sz="1200" dirty="0" err="1"/>
              <a:t>có</a:t>
            </a:r>
            <a:r>
              <a:rPr lang="en-US" altLang="ko-KR" sz="1200" dirty="0"/>
              <a:t> </a:t>
            </a:r>
            <a:r>
              <a:rPr lang="en-US" altLang="ko-KR" sz="1200" dirty="0" err="1"/>
              <a:t>tay</a:t>
            </a:r>
            <a:r>
              <a:rPr lang="en-US" altLang="ko-KR" sz="1200" dirty="0"/>
              <a:t> </a:t>
            </a:r>
            <a:r>
              <a:rPr lang="en-US" altLang="ko-KR" sz="1200" dirty="0" err="1"/>
              <a:t>nghề</a:t>
            </a:r>
            <a:r>
              <a:rPr lang="en-US" altLang="ko-KR" sz="1200" dirty="0"/>
              <a:t> </a:t>
            </a:r>
            <a:r>
              <a:rPr lang="en-US" altLang="ko-KR" sz="1200" dirty="0" err="1"/>
              <a:t>bắt</a:t>
            </a:r>
            <a:r>
              <a:rPr lang="en-US" altLang="ko-KR" sz="1200" dirty="0"/>
              <a:t> </a:t>
            </a:r>
            <a:r>
              <a:rPr lang="en-US" altLang="ko-KR" sz="1200" dirty="0" err="1"/>
              <a:t>buộc</a:t>
            </a:r>
            <a:r>
              <a:rPr lang="en-US" altLang="ko-KR" sz="1200" dirty="0"/>
              <a:t> </a:t>
            </a:r>
            <a:r>
              <a:rPr lang="en-US" altLang="ko-KR" sz="1200" dirty="0" err="1"/>
              <a:t>phải</a:t>
            </a:r>
            <a:r>
              <a:rPr lang="en-US" altLang="ko-KR" sz="1200" dirty="0"/>
              <a:t> </a:t>
            </a:r>
            <a:r>
              <a:rPr lang="en-US" altLang="ko-KR" sz="1200" dirty="0" err="1"/>
              <a:t>trình</a:t>
            </a:r>
            <a:r>
              <a:rPr lang="en-US" altLang="ko-KR" sz="1200" dirty="0"/>
              <a:t> </a:t>
            </a:r>
            <a:r>
              <a:rPr lang="en-US" altLang="ko-KR" sz="1200" dirty="0" err="1"/>
              <a:t>bày</a:t>
            </a:r>
            <a:r>
              <a:rPr lang="en-US" altLang="ko-KR" sz="1200" dirty="0"/>
              <a:t> </a:t>
            </a:r>
            <a:r>
              <a:rPr lang="en-US" altLang="ko-KR" sz="1200" dirty="0" err="1"/>
              <a:t>một</a:t>
            </a:r>
            <a:r>
              <a:rPr lang="en-US" altLang="ko-KR" sz="1200" dirty="0"/>
              <a:t> </a:t>
            </a:r>
            <a:r>
              <a:rPr lang="en-US" altLang="ko-KR" sz="1200" dirty="0" err="1"/>
              <a:t>cách</a:t>
            </a:r>
            <a:r>
              <a:rPr lang="en-US" altLang="ko-KR" sz="1200" dirty="0"/>
              <a:t> </a:t>
            </a:r>
            <a:r>
              <a:rPr lang="en-US" altLang="ko-KR" sz="1200" dirty="0" err="1"/>
              <a:t>ngẫu</a:t>
            </a:r>
            <a:endParaRPr lang="en-US" altLang="ko-KR" sz="1200" dirty="0"/>
          </a:p>
          <a:p>
            <a:pPr>
              <a:lnSpc>
                <a:spcPct val="150000"/>
              </a:lnSpc>
            </a:pPr>
            <a:r>
              <a:rPr lang="en-US" altLang="ko-KR" sz="1200" dirty="0" err="1"/>
              <a:t>nhiên</a:t>
            </a:r>
            <a:r>
              <a:rPr lang="en-US" altLang="ko-KR" sz="1200" dirty="0"/>
              <a:t> </a:t>
            </a:r>
            <a:r>
              <a:rPr lang="en-US" altLang="ko-KR" sz="1200" dirty="0" err="1"/>
              <a:t>từng</a:t>
            </a:r>
            <a:r>
              <a:rPr lang="en-US" altLang="ko-KR" sz="1200" dirty="0"/>
              <a:t> </a:t>
            </a:r>
            <a:r>
              <a:rPr lang="en-US" altLang="ko-KR" sz="1200" dirty="0" err="1"/>
              <a:t>linh</a:t>
            </a:r>
            <a:r>
              <a:rPr lang="en-US" altLang="ko-KR" sz="1200" dirty="0"/>
              <a:t> </a:t>
            </a:r>
            <a:r>
              <a:rPr lang="en-US" altLang="ko-KR" sz="1200" dirty="0" err="1"/>
              <a:t>kiện</a:t>
            </a:r>
            <a:r>
              <a:rPr lang="en-US" altLang="ko-KR" sz="1200" dirty="0"/>
              <a:t> </a:t>
            </a:r>
            <a:r>
              <a:rPr lang="en-US" altLang="ko-KR" sz="1200" dirty="0" err="1"/>
              <a:t>một</a:t>
            </a:r>
            <a:r>
              <a:rPr lang="en-US" altLang="ko-KR" sz="1200" dirty="0"/>
              <a:t> </a:t>
            </a:r>
            <a:r>
              <a:rPr lang="en-US" altLang="ko-KR" sz="1200" dirty="0" err="1"/>
              <a:t>và</a:t>
            </a:r>
            <a:r>
              <a:rPr lang="en-US" altLang="ko-KR" sz="1200" dirty="0"/>
              <a:t> </a:t>
            </a:r>
            <a:r>
              <a:rPr lang="en-US" altLang="ko-KR" sz="1200" dirty="0" err="1"/>
              <a:t>đo</a:t>
            </a:r>
            <a:r>
              <a:rPr lang="en-US" altLang="ko-KR" sz="1200" dirty="0"/>
              <a:t> </a:t>
            </a:r>
            <a:r>
              <a:rPr lang="en-US" altLang="ko-KR" sz="1200" dirty="0" err="1"/>
              <a:t>đạc</a:t>
            </a:r>
            <a:r>
              <a:rPr lang="en-US" altLang="ko-KR" sz="1200" dirty="0"/>
              <a:t>, </a:t>
            </a:r>
            <a:r>
              <a:rPr lang="en-US" altLang="ko-KR" sz="1200" dirty="0" err="1"/>
              <a:t>đo</a:t>
            </a:r>
            <a:r>
              <a:rPr lang="en-US" altLang="ko-KR" sz="1200" dirty="0"/>
              <a:t> </a:t>
            </a:r>
            <a:r>
              <a:rPr lang="en-US" altLang="ko-KR" sz="1200" dirty="0" err="1"/>
              <a:t>đạc</a:t>
            </a:r>
            <a:r>
              <a:rPr lang="en-US" altLang="ko-KR" sz="1200" dirty="0"/>
              <a:t> </a:t>
            </a:r>
            <a:r>
              <a:rPr lang="en-US" altLang="ko-KR" sz="1200" dirty="0" err="1"/>
              <a:t>mỗi</a:t>
            </a:r>
            <a:r>
              <a:rPr lang="en-US" altLang="ko-KR" sz="1200" dirty="0"/>
              <a:t> </a:t>
            </a:r>
            <a:r>
              <a:rPr lang="en-US" altLang="ko-KR" sz="1200" dirty="0" err="1"/>
              <a:t>linh</a:t>
            </a:r>
            <a:r>
              <a:rPr lang="en-US" altLang="ko-KR" sz="1200" dirty="0"/>
              <a:t> </a:t>
            </a:r>
            <a:r>
              <a:rPr lang="en-US" altLang="ko-KR" sz="1200" dirty="0" err="1"/>
              <a:t>kiện</a:t>
            </a:r>
            <a:r>
              <a:rPr lang="en-US" altLang="ko-KR" sz="1200" dirty="0"/>
              <a:t> </a:t>
            </a:r>
            <a:r>
              <a:rPr lang="en-US" altLang="ko-KR" sz="1200" dirty="0" err="1"/>
              <a:t>lặp</a:t>
            </a:r>
            <a:r>
              <a:rPr lang="en-US" altLang="ko-KR" sz="1200" dirty="0"/>
              <a:t> </a:t>
            </a:r>
            <a:r>
              <a:rPr lang="en-US" altLang="ko-KR" sz="1200" dirty="0" err="1"/>
              <a:t>lại</a:t>
            </a:r>
            <a:r>
              <a:rPr lang="en-US" altLang="ko-KR" sz="1200" dirty="0"/>
              <a:t> 12 </a:t>
            </a:r>
            <a:r>
              <a:rPr lang="en-US" altLang="ko-KR" sz="1200" dirty="0" err="1"/>
              <a:t>lần</a:t>
            </a:r>
            <a:r>
              <a:rPr lang="en-US" altLang="ko-KR" sz="1200" dirty="0"/>
              <a:t> </a:t>
            </a:r>
            <a:r>
              <a:rPr lang="en-US" altLang="ko-KR" sz="1200" dirty="0" err="1"/>
              <a:t>và</a:t>
            </a:r>
            <a:r>
              <a:rPr lang="en-US" altLang="ko-KR" sz="1200" dirty="0"/>
              <a:t> </a:t>
            </a:r>
            <a:r>
              <a:rPr lang="en-US" altLang="ko-KR" sz="1200" dirty="0" err="1"/>
              <a:t>thu</a:t>
            </a:r>
            <a:r>
              <a:rPr lang="en-US" altLang="ko-KR" sz="1200" dirty="0"/>
              <a:t> </a:t>
            </a:r>
            <a:r>
              <a:rPr lang="en-US" altLang="ko-KR" sz="1200" dirty="0" err="1"/>
              <a:t>được</a:t>
            </a:r>
            <a:r>
              <a:rPr lang="en-US" altLang="ko-KR" sz="1200" dirty="0"/>
              <a:t> </a:t>
            </a:r>
            <a:r>
              <a:rPr lang="en-US" altLang="ko-KR" sz="1200" dirty="0" err="1"/>
              <a:t>dữ</a:t>
            </a:r>
            <a:r>
              <a:rPr lang="en-US" altLang="ko-KR" sz="1200" dirty="0"/>
              <a:t> </a:t>
            </a:r>
            <a:r>
              <a:rPr lang="en-US" altLang="ko-KR" sz="1200" dirty="0" err="1"/>
              <a:t>liệu</a:t>
            </a:r>
            <a:r>
              <a:rPr lang="en-US" altLang="ko-KR" sz="1200" dirty="0"/>
              <a:t> </a:t>
            </a:r>
            <a:r>
              <a:rPr lang="en-US" altLang="ko-KR" sz="1200" dirty="0" err="1"/>
              <a:t>như</a:t>
            </a:r>
            <a:r>
              <a:rPr lang="en-US" altLang="ko-KR" sz="1200" dirty="0"/>
              <a:t> </a:t>
            </a:r>
            <a:r>
              <a:rPr lang="en-US" altLang="ko-KR" sz="1200" dirty="0" err="1"/>
              <a:t>sau</a:t>
            </a:r>
            <a:r>
              <a:rPr lang="en-US" altLang="ko-KR" sz="1200" dirty="0"/>
              <a:t>.  </a:t>
            </a:r>
          </a:p>
          <a:p>
            <a:pPr>
              <a:lnSpc>
                <a:spcPct val="150000"/>
              </a:lnSpc>
            </a:pPr>
            <a:r>
              <a:rPr lang="en-US" altLang="ko-KR" sz="1200" dirty="0"/>
              <a:t> </a:t>
            </a:r>
            <a:r>
              <a:rPr lang="en-US" altLang="ko-KR" sz="1200" dirty="0" err="1"/>
              <a:t>Sử</a:t>
            </a:r>
            <a:r>
              <a:rPr lang="en-US" altLang="ko-KR" sz="1200" dirty="0"/>
              <a:t> </a:t>
            </a:r>
            <a:r>
              <a:rPr lang="en-US" altLang="ko-KR" sz="1200" dirty="0" err="1"/>
              <a:t>dụng</a:t>
            </a:r>
            <a:r>
              <a:rPr lang="en-US" altLang="ko-KR" sz="1200" dirty="0"/>
              <a:t> Minitab </a:t>
            </a:r>
            <a:r>
              <a:rPr lang="en-US" altLang="ko-KR" sz="1200" dirty="0" err="1"/>
              <a:t>để</a:t>
            </a:r>
            <a:r>
              <a:rPr lang="en-US" altLang="ko-KR" sz="1200" dirty="0"/>
              <a:t> </a:t>
            </a:r>
            <a:r>
              <a:rPr lang="en-US" altLang="ko-KR" sz="1200" dirty="0" err="1"/>
              <a:t>tiến</a:t>
            </a:r>
            <a:r>
              <a:rPr lang="en-US" altLang="ko-KR" sz="1200" dirty="0"/>
              <a:t> </a:t>
            </a:r>
            <a:r>
              <a:rPr lang="en-US" altLang="ko-KR" sz="1200" dirty="0" err="1"/>
              <a:t>hành</a:t>
            </a:r>
            <a:r>
              <a:rPr lang="en-US" altLang="ko-KR" sz="1200" dirty="0"/>
              <a:t> </a:t>
            </a:r>
            <a:r>
              <a:rPr lang="en-US" altLang="ko-KR" sz="1200" dirty="0" err="1"/>
              <a:t>phân</a:t>
            </a:r>
            <a:r>
              <a:rPr lang="en-US" altLang="ko-KR" sz="1200" dirty="0"/>
              <a:t> </a:t>
            </a:r>
            <a:r>
              <a:rPr lang="en-US" altLang="ko-KR" sz="1200" dirty="0" err="1"/>
              <a:t>tích</a:t>
            </a:r>
            <a:r>
              <a:rPr lang="en-US" altLang="ko-KR" sz="1200" dirty="0"/>
              <a:t> </a:t>
            </a:r>
            <a:r>
              <a:rPr lang="vi-VN" altLang="ko-KR" sz="1200" dirty="0"/>
              <a:t>độ tuyến tính</a:t>
            </a:r>
            <a:r>
              <a:rPr lang="en-US" altLang="ko-KR" sz="1200" dirty="0"/>
              <a:t>, </a:t>
            </a:r>
            <a:r>
              <a:rPr lang="en-US" altLang="ko-KR" sz="1200" dirty="0" err="1"/>
              <a:t>đánh</a:t>
            </a:r>
            <a:r>
              <a:rPr lang="en-US" altLang="ko-KR" sz="1200" dirty="0"/>
              <a:t> </a:t>
            </a:r>
            <a:r>
              <a:rPr lang="en-US" altLang="ko-KR" sz="1200" dirty="0" err="1"/>
              <a:t>giá</a:t>
            </a:r>
            <a:r>
              <a:rPr lang="en-US" altLang="ko-KR" sz="1200" dirty="0"/>
              <a:t> OK/NG </a:t>
            </a:r>
            <a:r>
              <a:rPr lang="en-US" altLang="ko-KR" sz="1200" dirty="0" err="1"/>
              <a:t>đối</a:t>
            </a:r>
            <a:r>
              <a:rPr lang="en-US" altLang="ko-KR" sz="1200" dirty="0"/>
              <a:t> </a:t>
            </a:r>
            <a:r>
              <a:rPr lang="en-US" altLang="ko-KR" sz="1200" dirty="0" err="1"/>
              <a:t>với</a:t>
            </a:r>
            <a:r>
              <a:rPr lang="en-US" altLang="ko-KR" sz="1200" dirty="0"/>
              <a:t> </a:t>
            </a:r>
            <a:r>
              <a:rPr lang="vi-VN" altLang="ko-KR" sz="1200" dirty="0"/>
              <a:t>độ tuyến tính</a:t>
            </a:r>
            <a:r>
              <a:rPr lang="en-US" altLang="ko-KR" sz="1200" dirty="0"/>
              <a:t> </a:t>
            </a:r>
            <a:r>
              <a:rPr lang="en-US" altLang="ko-KR" sz="1200" dirty="0" err="1"/>
              <a:t>của</a:t>
            </a:r>
            <a:r>
              <a:rPr lang="en-US" altLang="ko-KR" sz="1200" dirty="0"/>
              <a:t> </a:t>
            </a:r>
            <a:r>
              <a:rPr lang="en-US" altLang="ko-KR" sz="1200" dirty="0" err="1"/>
              <a:t>dụng</a:t>
            </a:r>
            <a:r>
              <a:rPr lang="en-US" altLang="ko-KR" sz="1200" dirty="0"/>
              <a:t> </a:t>
            </a:r>
            <a:r>
              <a:rPr lang="en-US" altLang="ko-KR" sz="1200" dirty="0" err="1"/>
              <a:t>cụ</a:t>
            </a:r>
            <a:r>
              <a:rPr lang="en-US" altLang="ko-KR" sz="1200" dirty="0"/>
              <a:t> </a:t>
            </a:r>
            <a:r>
              <a:rPr lang="en-US" altLang="ko-KR" sz="1200" dirty="0" err="1"/>
              <a:t>đo</a:t>
            </a:r>
            <a:r>
              <a:rPr lang="en-US" altLang="ko-KR" sz="1200" dirty="0"/>
              <a:t>.</a:t>
            </a:r>
            <a:endParaRPr lang="ko-KR" altLang="en-US" sz="1200" dirty="0"/>
          </a:p>
        </p:txBody>
      </p:sp>
      <p:graphicFrame>
        <p:nvGraphicFramePr>
          <p:cNvPr id="7" name="표 6"/>
          <p:cNvGraphicFramePr>
            <a:graphicFrameLocks noGrp="1"/>
          </p:cNvGraphicFramePr>
          <p:nvPr>
            <p:extLst>
              <p:ext uri="{D42A27DB-BD31-4B8C-83A1-F6EECF244321}">
                <p14:modId xmlns:p14="http://schemas.microsoft.com/office/powerpoint/2010/main" val="3146604277"/>
              </p:ext>
            </p:extLst>
          </p:nvPr>
        </p:nvGraphicFramePr>
        <p:xfrm>
          <a:off x="899594" y="3284984"/>
          <a:ext cx="6984772" cy="3178810"/>
        </p:xfrm>
        <a:graphic>
          <a:graphicData uri="http://schemas.openxmlformats.org/drawingml/2006/table">
            <a:tbl>
              <a:tblPr/>
              <a:tblGrid>
                <a:gridCol w="1094002">
                  <a:extLst>
                    <a:ext uri="{9D8B030D-6E8A-4147-A177-3AD203B41FA5}">
                      <a16:colId xmlns:a16="http://schemas.microsoft.com/office/drawing/2014/main" val="20000"/>
                    </a:ext>
                  </a:extLst>
                </a:gridCol>
                <a:gridCol w="1178154">
                  <a:extLst>
                    <a:ext uri="{9D8B030D-6E8A-4147-A177-3AD203B41FA5}">
                      <a16:colId xmlns:a16="http://schemas.microsoft.com/office/drawing/2014/main" val="20001"/>
                    </a:ext>
                  </a:extLst>
                </a:gridCol>
                <a:gridCol w="1178154">
                  <a:extLst>
                    <a:ext uri="{9D8B030D-6E8A-4147-A177-3AD203B41FA5}">
                      <a16:colId xmlns:a16="http://schemas.microsoft.com/office/drawing/2014/main" val="20002"/>
                    </a:ext>
                  </a:extLst>
                </a:gridCol>
                <a:gridCol w="1178154">
                  <a:extLst>
                    <a:ext uri="{9D8B030D-6E8A-4147-A177-3AD203B41FA5}">
                      <a16:colId xmlns:a16="http://schemas.microsoft.com/office/drawing/2014/main" val="20003"/>
                    </a:ext>
                  </a:extLst>
                </a:gridCol>
                <a:gridCol w="1178154">
                  <a:extLst>
                    <a:ext uri="{9D8B030D-6E8A-4147-A177-3AD203B41FA5}">
                      <a16:colId xmlns:a16="http://schemas.microsoft.com/office/drawing/2014/main" val="20004"/>
                    </a:ext>
                  </a:extLst>
                </a:gridCol>
                <a:gridCol w="1178154">
                  <a:extLst>
                    <a:ext uri="{9D8B030D-6E8A-4147-A177-3AD203B41FA5}">
                      <a16:colId xmlns:a16="http://schemas.microsoft.com/office/drawing/2014/main" val="20005"/>
                    </a:ext>
                  </a:extLst>
                </a:gridCol>
              </a:tblGrid>
              <a:tr h="215900">
                <a:tc>
                  <a:txBody>
                    <a:bodyPr/>
                    <a:lstStyle/>
                    <a:p>
                      <a:pPr algn="ctr" fontAlgn="ctr"/>
                      <a:r>
                        <a:rPr lang="en-US" altLang="ko-KR" sz="1200" b="0" i="0" u="none" strike="noStrike" dirty="0" err="1">
                          <a:solidFill>
                            <a:srgbClr val="000000"/>
                          </a:solidFill>
                          <a:effectLst/>
                          <a:latin typeface="맑은 고딕"/>
                        </a:rPr>
                        <a:t>Số</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linh</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kiện</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15900">
                <a:tc>
                  <a:txBody>
                    <a:bodyPr/>
                    <a:lstStyle/>
                    <a:p>
                      <a:pPr algn="ctr" fontAlgn="b"/>
                      <a:r>
                        <a:rPr lang="en-US" altLang="ko-KR" sz="1200" b="0" i="0" u="none" strike="noStrike" dirty="0" err="1">
                          <a:solidFill>
                            <a:srgbClr val="000000"/>
                          </a:solidFill>
                          <a:effectLst/>
                          <a:latin typeface="맑은 고딕"/>
                        </a:rPr>
                        <a:t>Giá</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trị</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endParaRPr lang="ko-KR" altLang="en-US" sz="1200" b="0" i="0" u="none" strike="noStrike" dirty="0">
                        <a:solidFill>
                          <a:srgbClr val="000000"/>
                        </a:solidFill>
                        <a:effectLst/>
                        <a:latin typeface="맑은 고딕"/>
                      </a:endParaRP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1"/>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4.2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4</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6</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7</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8</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9</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10</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4.0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9.2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4.1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15900">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9.4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8"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119</a:t>
            </a:fld>
            <a:endParaRPr lang="ko-KR" altLang="en-US" dirty="0"/>
          </a:p>
        </p:txBody>
      </p:sp>
    </p:spTree>
    <p:extLst>
      <p:ext uri="{BB962C8B-B14F-4D97-AF65-F5344CB8AC3E}">
        <p14:creationId xmlns:p14="http://schemas.microsoft.com/office/powerpoint/2010/main" val="365818521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4" name="TextBox 3"/>
          <p:cNvSpPr txBox="1"/>
          <p:nvPr/>
        </p:nvSpPr>
        <p:spPr>
          <a:xfrm>
            <a:off x="395655" y="827089"/>
            <a:ext cx="3168234" cy="523220"/>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input and result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Interpretation</a:t>
            </a:r>
          </a:p>
        </p:txBody>
      </p:sp>
      <p:sp>
        <p:nvSpPr>
          <p:cNvPr id="5" name="TextBox 4"/>
          <p:cNvSpPr txBox="1"/>
          <p:nvPr/>
        </p:nvSpPr>
        <p:spPr>
          <a:xfrm>
            <a:off x="683568" y="1412776"/>
            <a:ext cx="5297669" cy="292388"/>
          </a:xfrm>
          <a:prstGeom prst="rect">
            <a:avLst/>
          </a:prstGeom>
          <a:noFill/>
        </p:spPr>
        <p:txBody>
          <a:bodyPr wrap="none" rtlCol="0">
            <a:spAutoFit/>
          </a:bodyPr>
          <a:lstStyle/>
          <a:p>
            <a:r>
              <a:rPr lang="en-US" altLang="ko-KR" sz="1300" dirty="0"/>
              <a:t>Stat &gt; Quality Tools&gt; Gage Study &gt; Gage Linearity and Bias Study </a:t>
            </a:r>
            <a:endParaRPr lang="ko-KR" altLang="en-US" sz="1300" dirty="0"/>
          </a:p>
        </p:txBody>
      </p:sp>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1772816"/>
            <a:ext cx="5341546" cy="2880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16016" y="4797152"/>
            <a:ext cx="4032448" cy="15928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직사각형 7"/>
          <p:cNvSpPr/>
          <p:nvPr/>
        </p:nvSpPr>
        <p:spPr>
          <a:xfrm>
            <a:off x="4860032" y="2420888"/>
            <a:ext cx="864096" cy="28803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10" name="꺾인 연결선 9"/>
          <p:cNvCxnSpPr>
            <a:stCxn id="8" idx="3"/>
          </p:cNvCxnSpPr>
          <p:nvPr/>
        </p:nvCxnSpPr>
        <p:spPr>
          <a:xfrm>
            <a:off x="5724128" y="2564904"/>
            <a:ext cx="1152128" cy="2160240"/>
          </a:xfrm>
          <a:prstGeom prst="bentConnector2">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1" name="타원 10"/>
          <p:cNvSpPr/>
          <p:nvPr/>
        </p:nvSpPr>
        <p:spPr>
          <a:xfrm>
            <a:off x="4788024" y="5229200"/>
            <a:ext cx="216024" cy="216024"/>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120</a:t>
            </a:fld>
            <a:endParaRPr lang="ko-KR" altLang="en-US" dirty="0"/>
          </a:p>
        </p:txBody>
      </p:sp>
    </p:spTree>
    <p:extLst>
      <p:ext uri="{BB962C8B-B14F-4D97-AF65-F5344CB8AC3E}">
        <p14:creationId xmlns:p14="http://schemas.microsoft.com/office/powerpoint/2010/main" val="398358134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63688" y="1268760"/>
            <a:ext cx="6120680" cy="4590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6" name="TextBox 5"/>
          <p:cNvSpPr txBox="1"/>
          <p:nvPr/>
        </p:nvSpPr>
        <p:spPr>
          <a:xfrm>
            <a:off x="395655" y="827089"/>
            <a:ext cx="3168234" cy="523220"/>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input and result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Interpretation</a:t>
            </a:r>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121</a:t>
            </a:fld>
            <a:endParaRPr lang="ko-KR" altLang="en-US" dirty="0"/>
          </a:p>
        </p:txBody>
      </p:sp>
    </p:spTree>
    <p:extLst>
      <p:ext uri="{BB962C8B-B14F-4D97-AF65-F5344CB8AC3E}">
        <p14:creationId xmlns:p14="http://schemas.microsoft.com/office/powerpoint/2010/main" val="374259962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4" name="TextBox 3"/>
          <p:cNvSpPr txBox="1"/>
          <p:nvPr/>
        </p:nvSpPr>
        <p:spPr>
          <a:xfrm>
            <a:off x="395654" y="827089"/>
            <a:ext cx="4320361"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giải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5" name="TextBox 4"/>
          <p:cNvSpPr txBox="1"/>
          <p:nvPr/>
        </p:nvSpPr>
        <p:spPr>
          <a:xfrm>
            <a:off x="683568" y="1412776"/>
            <a:ext cx="5297669" cy="292388"/>
          </a:xfrm>
          <a:prstGeom prst="rect">
            <a:avLst/>
          </a:prstGeom>
          <a:noFill/>
        </p:spPr>
        <p:txBody>
          <a:bodyPr wrap="none" rtlCol="0">
            <a:spAutoFit/>
          </a:bodyPr>
          <a:lstStyle/>
          <a:p>
            <a:r>
              <a:rPr lang="en-US" altLang="ko-KR" sz="1300" dirty="0"/>
              <a:t>Stat &gt; Quality Tools&gt; Gage Study &gt; Gage Linearity and Bias Study </a:t>
            </a:r>
            <a:endParaRPr lang="ko-KR" altLang="en-US" sz="1300" dirty="0"/>
          </a:p>
        </p:txBody>
      </p:sp>
      <p:pic>
        <p:nvPicPr>
          <p:cNvPr id="1433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568" y="1772816"/>
            <a:ext cx="5341546" cy="2880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33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6016" y="4797152"/>
            <a:ext cx="4032448" cy="15928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직사각형 7"/>
          <p:cNvSpPr/>
          <p:nvPr/>
        </p:nvSpPr>
        <p:spPr>
          <a:xfrm>
            <a:off x="4860032" y="2420888"/>
            <a:ext cx="864096" cy="28803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10" name="꺾인 연결선 9"/>
          <p:cNvCxnSpPr>
            <a:stCxn id="8" idx="3"/>
          </p:cNvCxnSpPr>
          <p:nvPr/>
        </p:nvCxnSpPr>
        <p:spPr>
          <a:xfrm>
            <a:off x="5724128" y="2564904"/>
            <a:ext cx="1152128" cy="2160240"/>
          </a:xfrm>
          <a:prstGeom prst="bentConnector2">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1" name="타원 10"/>
          <p:cNvSpPr/>
          <p:nvPr/>
        </p:nvSpPr>
        <p:spPr>
          <a:xfrm>
            <a:off x="4788024" y="5229200"/>
            <a:ext cx="216024" cy="216024"/>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2"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122</a:t>
            </a:fld>
            <a:endParaRPr lang="ko-KR" altLang="en-US" dirty="0"/>
          </a:p>
        </p:txBody>
      </p:sp>
    </p:spTree>
    <p:extLst>
      <p:ext uri="{BB962C8B-B14F-4D97-AF65-F5344CB8AC3E}">
        <p14:creationId xmlns:p14="http://schemas.microsoft.com/office/powerpoint/2010/main" val="398358134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63688" y="1268760"/>
            <a:ext cx="6120680" cy="4590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6" name="TextBox 5"/>
          <p:cNvSpPr txBox="1"/>
          <p:nvPr/>
        </p:nvSpPr>
        <p:spPr>
          <a:xfrm>
            <a:off x="395654" y="827089"/>
            <a:ext cx="3888313"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giải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123</a:t>
            </a:fld>
            <a:endParaRPr lang="ko-KR" altLang="en-US" dirty="0"/>
          </a:p>
        </p:txBody>
      </p:sp>
    </p:spTree>
    <p:extLst>
      <p:ext uri="{BB962C8B-B14F-4D97-AF65-F5344CB8AC3E}">
        <p14:creationId xmlns:p14="http://schemas.microsoft.com/office/powerpoint/2010/main" val="374259962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3"/>
          <p:cNvGraphicFramePr>
            <a:graphicFrameLocks noGrp="1"/>
          </p:cNvGraphicFramePr>
          <p:nvPr>
            <p:extLst>
              <p:ext uri="{D42A27DB-BD31-4B8C-83A1-F6EECF244321}">
                <p14:modId xmlns:p14="http://schemas.microsoft.com/office/powerpoint/2010/main" val="2723628444"/>
              </p:ext>
            </p:extLst>
          </p:nvPr>
        </p:nvGraphicFramePr>
        <p:xfrm>
          <a:off x="2195736" y="1714488"/>
          <a:ext cx="4897212" cy="4515143"/>
        </p:xfrm>
        <a:graphic>
          <a:graphicData uri="http://schemas.openxmlformats.org/drawingml/2006/table">
            <a:tbl>
              <a:tblPr/>
              <a:tblGrid>
                <a:gridCol w="816202">
                  <a:extLst>
                    <a:ext uri="{9D8B030D-6E8A-4147-A177-3AD203B41FA5}">
                      <a16:colId xmlns:a16="http://schemas.microsoft.com/office/drawing/2014/main" val="20000"/>
                    </a:ext>
                  </a:extLst>
                </a:gridCol>
                <a:gridCol w="816202">
                  <a:extLst>
                    <a:ext uri="{9D8B030D-6E8A-4147-A177-3AD203B41FA5}">
                      <a16:colId xmlns:a16="http://schemas.microsoft.com/office/drawing/2014/main" val="20001"/>
                    </a:ext>
                  </a:extLst>
                </a:gridCol>
                <a:gridCol w="816202">
                  <a:extLst>
                    <a:ext uri="{9D8B030D-6E8A-4147-A177-3AD203B41FA5}">
                      <a16:colId xmlns:a16="http://schemas.microsoft.com/office/drawing/2014/main" val="20002"/>
                    </a:ext>
                  </a:extLst>
                </a:gridCol>
                <a:gridCol w="816202">
                  <a:extLst>
                    <a:ext uri="{9D8B030D-6E8A-4147-A177-3AD203B41FA5}">
                      <a16:colId xmlns:a16="http://schemas.microsoft.com/office/drawing/2014/main" val="20003"/>
                    </a:ext>
                  </a:extLst>
                </a:gridCol>
                <a:gridCol w="816202">
                  <a:extLst>
                    <a:ext uri="{9D8B030D-6E8A-4147-A177-3AD203B41FA5}">
                      <a16:colId xmlns:a16="http://schemas.microsoft.com/office/drawing/2014/main" val="20004"/>
                    </a:ext>
                  </a:extLst>
                </a:gridCol>
                <a:gridCol w="816202">
                  <a:extLst>
                    <a:ext uri="{9D8B030D-6E8A-4147-A177-3AD203B41FA5}">
                      <a16:colId xmlns:a16="http://schemas.microsoft.com/office/drawing/2014/main" val="20005"/>
                    </a:ext>
                  </a:extLst>
                </a:gridCol>
              </a:tblGrid>
              <a:tr h="274778">
                <a:tc>
                  <a:txBody>
                    <a:bodyPr/>
                    <a:lstStyle/>
                    <a:p>
                      <a:pPr algn="ctr" fontAlgn="ctr"/>
                      <a:r>
                        <a:rPr lang="en-US" altLang="ko-KR" sz="1200" b="0" i="0" u="none" strike="noStrike" dirty="0">
                          <a:solidFill>
                            <a:srgbClr val="000000"/>
                          </a:solidFill>
                          <a:effectLst/>
                          <a:latin typeface="맑은 고딕"/>
                        </a:rPr>
                        <a:t>Part number</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74778">
                <a:tc>
                  <a:txBody>
                    <a:bodyPr/>
                    <a:lstStyle/>
                    <a:p>
                      <a:pPr algn="ctr" fontAlgn="b"/>
                      <a:r>
                        <a:rPr lang="en-US" altLang="ko-KR" sz="1200" b="0" i="0" u="none" strike="noStrike" dirty="0">
                          <a:solidFill>
                            <a:srgbClr val="000000"/>
                          </a:solidFill>
                          <a:effectLst/>
                          <a:latin typeface="맑은 고딕"/>
                        </a:rPr>
                        <a:t>Reference value</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1"/>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1.1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-0.9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-0.6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-0.8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0.6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74778">
                <a:tc>
                  <a:txBody>
                    <a:bodyPr/>
                    <a:lstStyle/>
                    <a:p>
                      <a:pPr algn="ctr" fontAlgn="b"/>
                      <a:r>
                        <a:rPr lang="en-US" altLang="ko-KR" sz="1200" b="0" i="0" u="none" strike="noStrike" dirty="0">
                          <a:solidFill>
                            <a:srgbClr val="000000"/>
                          </a:solidFill>
                          <a:effectLst/>
                          <a:latin typeface="맑은 고딕"/>
                        </a:rPr>
                        <a:t>Repeat</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-0.6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473587">
                <a:tc>
                  <a:txBody>
                    <a:bodyPr/>
                    <a:lstStyle/>
                    <a:p>
                      <a:pPr algn="ctr" fontAlgn="b"/>
                      <a:r>
                        <a:rPr lang="en-US" altLang="ko-KR" sz="1200" b="0" i="0" u="none" strike="noStrike" dirty="0">
                          <a:solidFill>
                            <a:srgbClr val="000000"/>
                          </a:solidFill>
                          <a:effectLst/>
                          <a:latin typeface="맑은 고딕"/>
                        </a:rPr>
                        <a:t>Bias</a:t>
                      </a:r>
                      <a:r>
                        <a:rPr lang="en-US" altLang="ko-KR" sz="1200" b="0" i="0" u="none" strike="noStrike" baseline="0" dirty="0">
                          <a:solidFill>
                            <a:srgbClr val="000000"/>
                          </a:solidFill>
                          <a:effectLst/>
                          <a:latin typeface="맑은 고딕"/>
                        </a:rPr>
                        <a:t> average</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0.4917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0.1250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0.0250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-0.2917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-0.6167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5" name="TextBox 4"/>
          <p:cNvSpPr txBox="1"/>
          <p:nvPr/>
        </p:nvSpPr>
        <p:spPr>
          <a:xfrm>
            <a:off x="539552" y="1052736"/>
            <a:ext cx="1386918" cy="369332"/>
          </a:xfrm>
          <a:prstGeom prst="rect">
            <a:avLst/>
          </a:prstGeom>
          <a:noFill/>
        </p:spPr>
        <p:txBody>
          <a:bodyPr wrap="none" rtlCol="0">
            <a:spAutoFit/>
          </a:bodyPr>
          <a:lstStyle/>
          <a:p>
            <a:r>
              <a:rPr lang="en-US" altLang="ko-KR" dirty="0"/>
              <a:t>Check Bias</a:t>
            </a:r>
            <a:r>
              <a:rPr lang="ko-KR" altLang="en-US" dirty="0"/>
              <a:t> </a:t>
            </a:r>
          </a:p>
        </p:txBody>
      </p:sp>
      <p:sp>
        <p:nvSpPr>
          <p:cNvPr id="6" name="TextBox 5"/>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124</a:t>
            </a:fld>
            <a:endParaRPr lang="ko-KR" altLang="en-US" dirty="0"/>
          </a:p>
        </p:txBody>
      </p:sp>
    </p:spTree>
    <p:extLst>
      <p:ext uri="{BB962C8B-B14F-4D97-AF65-F5344CB8AC3E}">
        <p14:creationId xmlns:p14="http://schemas.microsoft.com/office/powerpoint/2010/main" val="220914357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9992" y="2492896"/>
            <a:ext cx="4523276" cy="334555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TextBox 1"/>
          <p:cNvSpPr txBox="1"/>
          <p:nvPr/>
        </p:nvSpPr>
        <p:spPr>
          <a:xfrm>
            <a:off x="539552" y="1052736"/>
            <a:ext cx="1770036" cy="369332"/>
          </a:xfrm>
          <a:prstGeom prst="rect">
            <a:avLst/>
          </a:prstGeom>
          <a:noFill/>
        </p:spPr>
        <p:txBody>
          <a:bodyPr wrap="none" rtlCol="0">
            <a:spAutoFit/>
          </a:bodyPr>
          <a:lstStyle/>
          <a:p>
            <a:r>
              <a:rPr lang="en-US" altLang="ko-KR" dirty="0"/>
              <a:t>Check Linearity</a:t>
            </a:r>
            <a:endParaRPr lang="ko-KR" altLang="en-US" dirty="0"/>
          </a:p>
        </p:txBody>
      </p:sp>
      <p:sp>
        <p:nvSpPr>
          <p:cNvPr id="7" name="TextBox 6"/>
          <p:cNvSpPr txBox="1"/>
          <p:nvPr/>
        </p:nvSpPr>
        <p:spPr>
          <a:xfrm>
            <a:off x="323528" y="1628800"/>
            <a:ext cx="1944763" cy="292388"/>
          </a:xfrm>
          <a:prstGeom prst="rect">
            <a:avLst/>
          </a:prstGeom>
          <a:noFill/>
        </p:spPr>
        <p:txBody>
          <a:bodyPr wrap="none" rtlCol="0">
            <a:spAutoFit/>
          </a:bodyPr>
          <a:lstStyle/>
          <a:p>
            <a:r>
              <a:rPr lang="en-US" altLang="ko-KR" sz="1300" dirty="0"/>
              <a:t>Basic</a:t>
            </a:r>
            <a:r>
              <a:rPr lang="ko-KR" altLang="en-US" sz="1300" dirty="0"/>
              <a:t> </a:t>
            </a:r>
            <a:r>
              <a:rPr lang="en-US" altLang="ko-KR" sz="1300" dirty="0"/>
              <a:t>data composition</a:t>
            </a:r>
            <a:endParaRPr lang="ko-KR" altLang="en-US" sz="1300" dirty="0"/>
          </a:p>
        </p:txBody>
      </p:sp>
      <p:sp>
        <p:nvSpPr>
          <p:cNvPr id="9" name="TextBox 8"/>
          <p:cNvSpPr txBox="1"/>
          <p:nvPr/>
        </p:nvSpPr>
        <p:spPr>
          <a:xfrm>
            <a:off x="4518758" y="2027659"/>
            <a:ext cx="4407745" cy="292388"/>
          </a:xfrm>
          <a:prstGeom prst="rect">
            <a:avLst/>
          </a:prstGeom>
          <a:noFill/>
        </p:spPr>
        <p:txBody>
          <a:bodyPr wrap="none" rtlCol="0">
            <a:spAutoFit/>
          </a:bodyPr>
          <a:lstStyle/>
          <a:p>
            <a:r>
              <a:rPr lang="en-US" altLang="ko-KR" sz="1300" dirty="0"/>
              <a:t>Stat &gt; Regression &gt; Regression &gt; Fit Regression Model</a:t>
            </a:r>
            <a:endParaRPr lang="ko-KR" altLang="en-US" sz="1300" dirty="0"/>
          </a:p>
        </p:txBody>
      </p:sp>
      <p:sp>
        <p:nvSpPr>
          <p:cNvPr id="10" name="TextBox 9"/>
          <p:cNvSpPr txBox="1"/>
          <p:nvPr/>
        </p:nvSpPr>
        <p:spPr>
          <a:xfrm>
            <a:off x="4499992" y="1647874"/>
            <a:ext cx="2416687" cy="307777"/>
          </a:xfrm>
          <a:prstGeom prst="rect">
            <a:avLst/>
          </a:prstGeom>
          <a:noFill/>
        </p:spPr>
        <p:txBody>
          <a:bodyPr wrap="none" rtlCol="0">
            <a:spAutoFit/>
          </a:bodyPr>
          <a:lstStyle/>
          <a:p>
            <a:r>
              <a:rPr lang="en-US" altLang="ko-KR" sz="1400" dirty="0"/>
              <a:t>Perform regression analysis</a:t>
            </a:r>
            <a:endParaRPr lang="ko-KR" altLang="en-US" sz="1400" dirty="0"/>
          </a:p>
        </p:txBody>
      </p:sp>
      <p:sp>
        <p:nvSpPr>
          <p:cNvPr id="8" name="TextBox 7"/>
          <p:cNvSpPr txBox="1"/>
          <p:nvPr/>
        </p:nvSpPr>
        <p:spPr>
          <a:xfrm>
            <a:off x="6792127" y="2891755"/>
            <a:ext cx="1641988" cy="276999"/>
          </a:xfrm>
          <a:prstGeom prst="rect">
            <a:avLst/>
          </a:prstGeom>
          <a:noFill/>
        </p:spPr>
        <p:txBody>
          <a:bodyPr wrap="none" rtlCol="0">
            <a:spAutoFit/>
          </a:bodyPr>
          <a:lstStyle/>
          <a:p>
            <a:r>
              <a:rPr lang="en-US" altLang="ko-KR" sz="1200" dirty="0">
                <a:solidFill>
                  <a:srgbClr val="FF0000"/>
                </a:solidFill>
              </a:rPr>
              <a:t>Input Bias as Y value</a:t>
            </a:r>
            <a:endParaRPr lang="ko-KR" altLang="en-US" sz="1200" dirty="0">
              <a:solidFill>
                <a:srgbClr val="FF0000"/>
              </a:solidFill>
            </a:endParaRPr>
          </a:p>
        </p:txBody>
      </p:sp>
      <p:sp>
        <p:nvSpPr>
          <p:cNvPr id="12" name="TextBox 11"/>
          <p:cNvSpPr txBox="1"/>
          <p:nvPr/>
        </p:nvSpPr>
        <p:spPr>
          <a:xfrm>
            <a:off x="6792127" y="3467819"/>
            <a:ext cx="2048702" cy="276999"/>
          </a:xfrm>
          <a:prstGeom prst="rect">
            <a:avLst/>
          </a:prstGeom>
          <a:noFill/>
        </p:spPr>
        <p:txBody>
          <a:bodyPr wrap="none" rtlCol="0">
            <a:spAutoFit/>
          </a:bodyPr>
          <a:lstStyle/>
          <a:p>
            <a:r>
              <a:rPr lang="en-US" altLang="ko-KR" sz="1200" dirty="0">
                <a:solidFill>
                  <a:srgbClr val="FF0000"/>
                </a:solidFill>
              </a:rPr>
              <a:t>Reference input as X value</a:t>
            </a:r>
            <a:endParaRPr lang="ko-KR" altLang="en-US" sz="1200" dirty="0">
              <a:solidFill>
                <a:srgbClr val="FF0000"/>
              </a:solidFill>
            </a:endParaRPr>
          </a:p>
        </p:txBody>
      </p:sp>
      <p:pic>
        <p:nvPicPr>
          <p:cNvPr id="1945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1133" y="2492896"/>
            <a:ext cx="3920827" cy="3382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xtBox 13"/>
          <p:cNvSpPr txBox="1"/>
          <p:nvPr/>
        </p:nvSpPr>
        <p:spPr>
          <a:xfrm>
            <a:off x="251520" y="2027659"/>
            <a:ext cx="1544205" cy="292388"/>
          </a:xfrm>
          <a:prstGeom prst="rect">
            <a:avLst/>
          </a:prstGeom>
          <a:noFill/>
        </p:spPr>
        <p:txBody>
          <a:bodyPr wrap="none" rtlCol="0">
            <a:spAutoFit/>
          </a:bodyPr>
          <a:lstStyle/>
          <a:p>
            <a:r>
              <a:rPr lang="en-US" altLang="ko-KR" sz="1300" dirty="0" err="1"/>
              <a:t>Calc</a:t>
            </a:r>
            <a:r>
              <a:rPr lang="en-US" altLang="ko-KR" sz="1300" dirty="0"/>
              <a:t> &gt; Calculator </a:t>
            </a:r>
            <a:endParaRPr lang="ko-KR" altLang="en-US" sz="1300" dirty="0"/>
          </a:p>
        </p:txBody>
      </p:sp>
      <p:sp>
        <p:nvSpPr>
          <p:cNvPr id="16" name="TextBox 15"/>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13"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125</a:t>
            </a:fld>
            <a:endParaRPr lang="ko-KR" altLang="en-US" dirty="0"/>
          </a:p>
        </p:txBody>
      </p:sp>
    </p:spTree>
    <p:extLst>
      <p:ext uri="{BB962C8B-B14F-4D97-AF65-F5344CB8AC3E}">
        <p14:creationId xmlns:p14="http://schemas.microsoft.com/office/powerpoint/2010/main" val="164922388"/>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3"/>
          <p:cNvGraphicFramePr>
            <a:graphicFrameLocks noGrp="1"/>
          </p:cNvGraphicFramePr>
          <p:nvPr>
            <p:extLst>
              <p:ext uri="{D42A27DB-BD31-4B8C-83A1-F6EECF244321}">
                <p14:modId xmlns:p14="http://schemas.microsoft.com/office/powerpoint/2010/main" val="2723628444"/>
              </p:ext>
            </p:extLst>
          </p:nvPr>
        </p:nvGraphicFramePr>
        <p:xfrm>
          <a:off x="611562" y="1772816"/>
          <a:ext cx="7776864" cy="4320479"/>
        </p:xfrm>
        <a:graphic>
          <a:graphicData uri="http://schemas.openxmlformats.org/drawingml/2006/table">
            <a:tbl>
              <a:tblPr/>
              <a:tblGrid>
                <a:gridCol w="1296144">
                  <a:extLst>
                    <a:ext uri="{9D8B030D-6E8A-4147-A177-3AD203B41FA5}">
                      <a16:colId xmlns:a16="http://schemas.microsoft.com/office/drawing/2014/main" val="20000"/>
                    </a:ext>
                  </a:extLst>
                </a:gridCol>
                <a:gridCol w="1296144">
                  <a:extLst>
                    <a:ext uri="{9D8B030D-6E8A-4147-A177-3AD203B41FA5}">
                      <a16:colId xmlns:a16="http://schemas.microsoft.com/office/drawing/2014/main" val="20001"/>
                    </a:ext>
                  </a:extLst>
                </a:gridCol>
                <a:gridCol w="1296144">
                  <a:extLst>
                    <a:ext uri="{9D8B030D-6E8A-4147-A177-3AD203B41FA5}">
                      <a16:colId xmlns:a16="http://schemas.microsoft.com/office/drawing/2014/main" val="20002"/>
                    </a:ext>
                  </a:extLst>
                </a:gridCol>
                <a:gridCol w="1296144">
                  <a:extLst>
                    <a:ext uri="{9D8B030D-6E8A-4147-A177-3AD203B41FA5}">
                      <a16:colId xmlns:a16="http://schemas.microsoft.com/office/drawing/2014/main" val="20003"/>
                    </a:ext>
                  </a:extLst>
                </a:gridCol>
                <a:gridCol w="1296144">
                  <a:extLst>
                    <a:ext uri="{9D8B030D-6E8A-4147-A177-3AD203B41FA5}">
                      <a16:colId xmlns:a16="http://schemas.microsoft.com/office/drawing/2014/main" val="20004"/>
                    </a:ext>
                  </a:extLst>
                </a:gridCol>
                <a:gridCol w="1296144">
                  <a:extLst>
                    <a:ext uri="{9D8B030D-6E8A-4147-A177-3AD203B41FA5}">
                      <a16:colId xmlns:a16="http://schemas.microsoft.com/office/drawing/2014/main" val="20005"/>
                    </a:ext>
                  </a:extLst>
                </a:gridCol>
              </a:tblGrid>
              <a:tr h="274778">
                <a:tc>
                  <a:txBody>
                    <a:bodyPr/>
                    <a:lstStyle/>
                    <a:p>
                      <a:pPr algn="ctr" fontAlgn="ctr"/>
                      <a:r>
                        <a:rPr lang="en-US" altLang="ko-KR" sz="1200" b="0" i="0" u="none" strike="noStrike" dirty="0" err="1">
                          <a:solidFill>
                            <a:srgbClr val="000000"/>
                          </a:solidFill>
                          <a:effectLst/>
                          <a:latin typeface="맑은 고딕"/>
                        </a:rPr>
                        <a:t>Số</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linh</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kiện</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74778">
                <a:tc>
                  <a:txBody>
                    <a:bodyPr/>
                    <a:lstStyle/>
                    <a:p>
                      <a:pPr algn="ctr" fontAlgn="b"/>
                      <a:r>
                        <a:rPr lang="en-US" altLang="ko-KR" sz="1200" b="0" i="0" u="none" strike="noStrike" dirty="0" err="1">
                          <a:solidFill>
                            <a:srgbClr val="000000"/>
                          </a:solidFill>
                          <a:effectLst/>
                          <a:latin typeface="맑은 고딕"/>
                        </a:rPr>
                        <a:t>Giá</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trị</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tiêu</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chuẩn</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b"/>
                      <a:r>
                        <a:rPr lang="en-US" altLang="ko-KR" sz="1200" b="0" i="0" u="none" strike="noStrike">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altLang="ko-KR" sz="1200" b="0" i="0" u="none" strike="noStrike" dirty="0">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001"/>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1.1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-0.9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1.0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-0.6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-0.5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-0.8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en-US" altLang="ko-KR" sz="1200" b="0" i="0" u="none" strike="noStrike" baseline="0" dirty="0">
                          <a:solidFill>
                            <a:srgbClr val="000000"/>
                          </a:solidFill>
                          <a:effectLst/>
                          <a:latin typeface="맑은 고딕"/>
                        </a:rPr>
                        <a:t> </a:t>
                      </a:r>
                      <a:r>
                        <a:rPr lang="en-US" altLang="ko-KR" sz="1200" b="0" i="0" u="none" strike="noStrike" dirty="0">
                          <a:solidFill>
                            <a:srgbClr val="000000"/>
                          </a:solidFill>
                          <a:effectLst/>
                          <a:latin typeface="맑은 고딕"/>
                        </a:rPr>
                        <a:t>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0.6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-0.7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74778">
                <a:tc>
                  <a:txBody>
                    <a:bodyPr/>
                    <a:lstStyle/>
                    <a:p>
                      <a:pPr algn="ctr" fontAlgn="b"/>
                      <a:r>
                        <a:rPr lang="en-US" altLang="ko-KR" sz="1200" b="0" i="0" u="none" strike="noStrike" dirty="0" err="1">
                          <a:solidFill>
                            <a:srgbClr val="000000"/>
                          </a:solidFill>
                          <a:effectLst/>
                          <a:latin typeface="맑은 고딕"/>
                        </a:rPr>
                        <a:t>Lặp</a:t>
                      </a:r>
                      <a:r>
                        <a:rPr lang="en-US" altLang="ko-KR" sz="1200" b="0" i="0" u="none" strike="noStrike" dirty="0">
                          <a:solidFill>
                            <a:srgbClr val="000000"/>
                          </a:solidFill>
                          <a:effectLst/>
                          <a:latin typeface="맑은 고딕"/>
                        </a:rPr>
                        <a:t> </a:t>
                      </a:r>
                      <a:r>
                        <a:rPr lang="en-US" altLang="ko-KR" sz="1200" b="0" i="0" u="none" strike="noStrike" dirty="0" err="1">
                          <a:solidFill>
                            <a:srgbClr val="000000"/>
                          </a:solidFill>
                          <a:effectLst/>
                          <a:latin typeface="맑은 고딕"/>
                        </a:rPr>
                        <a:t>lại</a:t>
                      </a:r>
                      <a:r>
                        <a:rPr lang="ko-KR" altLang="en-US" sz="1200" b="0" i="0" u="none" strike="noStrike" dirty="0">
                          <a:solidFill>
                            <a:srgbClr val="000000"/>
                          </a:solidFill>
                          <a:effectLst/>
                          <a:latin typeface="맑은 고딕"/>
                        </a:rPr>
                        <a:t> </a:t>
                      </a:r>
                      <a:r>
                        <a:rPr lang="en-US" altLang="ko-KR" sz="1200" b="0" i="0" u="none" strike="noStrike" dirty="0">
                          <a:solidFill>
                            <a:srgbClr val="000000"/>
                          </a:solidFill>
                          <a:effectLst/>
                          <a:latin typeface="맑은 고딕"/>
                        </a:rPr>
                        <a:t>12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0.4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-0.2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0.1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-0.6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473587">
                <a:tc>
                  <a:txBody>
                    <a:bodyPr/>
                    <a:lstStyle/>
                    <a:p>
                      <a:pPr algn="ctr" fontAlgn="b"/>
                      <a:r>
                        <a:rPr lang="en-US" altLang="ko-KR" sz="1200" b="0" i="0" u="none" strike="noStrike" dirty="0">
                          <a:solidFill>
                            <a:srgbClr val="000000"/>
                          </a:solidFill>
                          <a:effectLst/>
                          <a:latin typeface="맑은 고딕"/>
                        </a:rPr>
                        <a:t>Bias</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trung</a:t>
                      </a:r>
                      <a:r>
                        <a:rPr lang="en-US" altLang="ko-KR" sz="1200" b="0" i="0" u="none" strike="noStrike" baseline="0" dirty="0">
                          <a:solidFill>
                            <a:srgbClr val="000000"/>
                          </a:solidFill>
                          <a:effectLst/>
                          <a:latin typeface="맑은 고딕"/>
                        </a:rPr>
                        <a:t> </a:t>
                      </a:r>
                      <a:r>
                        <a:rPr lang="en-US" altLang="ko-KR" sz="1200" b="0" i="0" u="none" strike="noStrike" baseline="0" dirty="0" err="1">
                          <a:solidFill>
                            <a:srgbClr val="000000"/>
                          </a:solidFill>
                          <a:effectLst/>
                          <a:latin typeface="맑은 고딕"/>
                        </a:rPr>
                        <a:t>bình</a:t>
                      </a:r>
                      <a:endParaRPr lang="ko-KR" altLang="en-US" sz="1200" b="0" i="0" u="none" strike="noStrike" dirty="0">
                        <a:solidFill>
                          <a:srgbClr val="000000"/>
                        </a:solidFill>
                        <a:effectLst/>
                        <a:latin typeface="맑은 고딕"/>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0.4917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0.1250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0.0250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-0.2917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-0.6167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5" name="TextBox 4"/>
          <p:cNvSpPr txBox="1"/>
          <p:nvPr/>
        </p:nvSpPr>
        <p:spPr>
          <a:xfrm>
            <a:off x="539552" y="1052736"/>
            <a:ext cx="1646605" cy="369332"/>
          </a:xfrm>
          <a:prstGeom prst="rect">
            <a:avLst/>
          </a:prstGeom>
          <a:noFill/>
        </p:spPr>
        <p:txBody>
          <a:bodyPr wrap="none" rtlCol="0">
            <a:spAutoFit/>
          </a:bodyPr>
          <a:lstStyle/>
          <a:p>
            <a:r>
              <a:rPr lang="en-US" altLang="ko-KR" dirty="0" err="1"/>
              <a:t>Kiểm</a:t>
            </a:r>
            <a:r>
              <a:rPr lang="en-US" altLang="ko-KR" dirty="0"/>
              <a:t> </a:t>
            </a:r>
            <a:r>
              <a:rPr lang="en-US" altLang="ko-KR" dirty="0" err="1"/>
              <a:t>tra</a:t>
            </a:r>
            <a:r>
              <a:rPr lang="en-US" altLang="ko-KR" dirty="0"/>
              <a:t> Bias</a:t>
            </a:r>
            <a:r>
              <a:rPr lang="ko-KR" altLang="en-US" dirty="0"/>
              <a:t> </a:t>
            </a:r>
          </a:p>
        </p:txBody>
      </p:sp>
      <p:sp>
        <p:nvSpPr>
          <p:cNvPr id="6" name="TextBox 5"/>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7"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126</a:t>
            </a:fld>
            <a:endParaRPr lang="ko-KR" altLang="en-US" dirty="0"/>
          </a:p>
        </p:txBody>
      </p:sp>
    </p:spTree>
    <p:extLst>
      <p:ext uri="{BB962C8B-B14F-4D97-AF65-F5344CB8AC3E}">
        <p14:creationId xmlns:p14="http://schemas.microsoft.com/office/powerpoint/2010/main" val="220914357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55976" y="2492896"/>
            <a:ext cx="4523276" cy="334555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TextBox 1"/>
          <p:cNvSpPr txBox="1"/>
          <p:nvPr/>
        </p:nvSpPr>
        <p:spPr>
          <a:xfrm>
            <a:off x="539552" y="1052736"/>
            <a:ext cx="2488182" cy="369332"/>
          </a:xfrm>
          <a:prstGeom prst="rect">
            <a:avLst/>
          </a:prstGeom>
          <a:noFill/>
        </p:spPr>
        <p:txBody>
          <a:bodyPr wrap="none" rtlCol="0">
            <a:spAutoFit/>
          </a:bodyPr>
          <a:lstStyle/>
          <a:p>
            <a:r>
              <a:rPr lang="en-US" altLang="ko-KR" dirty="0" err="1"/>
              <a:t>Kiểm</a:t>
            </a:r>
            <a:r>
              <a:rPr lang="en-US" altLang="ko-KR" dirty="0"/>
              <a:t> </a:t>
            </a:r>
            <a:r>
              <a:rPr lang="en-US" altLang="ko-KR" dirty="0" err="1"/>
              <a:t>tra</a:t>
            </a:r>
            <a:r>
              <a:rPr lang="en-US" altLang="ko-KR" dirty="0"/>
              <a:t> </a:t>
            </a:r>
            <a:r>
              <a:rPr lang="vi-VN" altLang="ko-KR" dirty="0"/>
              <a:t>độ tuyến tính</a:t>
            </a:r>
            <a:endParaRPr lang="ko-KR" altLang="en-US" dirty="0"/>
          </a:p>
        </p:txBody>
      </p:sp>
      <p:sp>
        <p:nvSpPr>
          <p:cNvPr id="7" name="TextBox 6"/>
          <p:cNvSpPr txBox="1"/>
          <p:nvPr/>
        </p:nvSpPr>
        <p:spPr>
          <a:xfrm>
            <a:off x="251520" y="1628800"/>
            <a:ext cx="2016899" cy="292388"/>
          </a:xfrm>
          <a:prstGeom prst="rect">
            <a:avLst/>
          </a:prstGeom>
          <a:noFill/>
        </p:spPr>
        <p:txBody>
          <a:bodyPr wrap="none" rtlCol="0">
            <a:spAutoFit/>
          </a:bodyPr>
          <a:lstStyle/>
          <a:p>
            <a:r>
              <a:rPr lang="en-US" altLang="ko-KR" sz="1300" dirty="0" err="1"/>
              <a:t>Cấu</a:t>
            </a:r>
            <a:r>
              <a:rPr lang="en-US" altLang="ko-KR" sz="1300" dirty="0"/>
              <a:t> </a:t>
            </a:r>
            <a:r>
              <a:rPr lang="en-US" altLang="ko-KR" sz="1300" dirty="0" err="1"/>
              <a:t>thành</a:t>
            </a:r>
            <a:r>
              <a:rPr lang="en-US" altLang="ko-KR" sz="1300" dirty="0"/>
              <a:t> data </a:t>
            </a:r>
            <a:r>
              <a:rPr lang="en-US" altLang="ko-KR" sz="1300" dirty="0" err="1"/>
              <a:t>cơ</a:t>
            </a:r>
            <a:r>
              <a:rPr lang="en-US" altLang="ko-KR" sz="1300" dirty="0"/>
              <a:t> </a:t>
            </a:r>
            <a:r>
              <a:rPr lang="en-US" altLang="ko-KR" sz="1300" dirty="0" err="1"/>
              <a:t>bản</a:t>
            </a:r>
            <a:r>
              <a:rPr lang="ko-KR" altLang="en-US" sz="1300" dirty="0"/>
              <a:t> </a:t>
            </a:r>
          </a:p>
        </p:txBody>
      </p:sp>
      <p:sp>
        <p:nvSpPr>
          <p:cNvPr id="9" name="TextBox 8"/>
          <p:cNvSpPr txBox="1"/>
          <p:nvPr/>
        </p:nvSpPr>
        <p:spPr>
          <a:xfrm>
            <a:off x="4518758" y="2027659"/>
            <a:ext cx="4407745" cy="292388"/>
          </a:xfrm>
          <a:prstGeom prst="rect">
            <a:avLst/>
          </a:prstGeom>
          <a:noFill/>
        </p:spPr>
        <p:txBody>
          <a:bodyPr wrap="none" rtlCol="0">
            <a:spAutoFit/>
          </a:bodyPr>
          <a:lstStyle/>
          <a:p>
            <a:r>
              <a:rPr lang="en-US" altLang="ko-KR" sz="1300" dirty="0"/>
              <a:t>Stat &gt; Regression &gt; Regression &gt; Fit Regression Model</a:t>
            </a:r>
            <a:endParaRPr lang="ko-KR" altLang="en-US" sz="1300" dirty="0"/>
          </a:p>
        </p:txBody>
      </p:sp>
      <p:sp>
        <p:nvSpPr>
          <p:cNvPr id="10" name="TextBox 9"/>
          <p:cNvSpPr txBox="1"/>
          <p:nvPr/>
        </p:nvSpPr>
        <p:spPr>
          <a:xfrm>
            <a:off x="4499992" y="1647874"/>
            <a:ext cx="2509020" cy="307777"/>
          </a:xfrm>
          <a:prstGeom prst="rect">
            <a:avLst/>
          </a:prstGeom>
          <a:noFill/>
        </p:spPr>
        <p:txBody>
          <a:bodyPr wrap="none" rtlCol="0">
            <a:spAutoFit/>
          </a:bodyPr>
          <a:lstStyle/>
          <a:p>
            <a:r>
              <a:rPr lang="en-US" altLang="ko-KR" sz="1400" dirty="0" err="1"/>
              <a:t>Thực</a:t>
            </a:r>
            <a:r>
              <a:rPr lang="en-US" altLang="ko-KR" sz="1400" dirty="0"/>
              <a:t> </a:t>
            </a:r>
            <a:r>
              <a:rPr lang="en-US" altLang="ko-KR" sz="1400" dirty="0" err="1"/>
              <a:t>hiện</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hồi</a:t>
            </a:r>
            <a:r>
              <a:rPr lang="en-US" altLang="ko-KR" sz="1400" dirty="0"/>
              <a:t> </a:t>
            </a:r>
            <a:r>
              <a:rPr lang="en-US" altLang="ko-KR" sz="1400" dirty="0" err="1"/>
              <a:t>quy</a:t>
            </a:r>
            <a:endParaRPr lang="ko-KR" altLang="en-US" sz="1400" dirty="0"/>
          </a:p>
        </p:txBody>
      </p:sp>
      <p:sp>
        <p:nvSpPr>
          <p:cNvPr id="8" name="TextBox 7"/>
          <p:cNvSpPr txBox="1"/>
          <p:nvPr/>
        </p:nvSpPr>
        <p:spPr>
          <a:xfrm>
            <a:off x="6372200" y="2935977"/>
            <a:ext cx="1874231" cy="276999"/>
          </a:xfrm>
          <a:prstGeom prst="rect">
            <a:avLst/>
          </a:prstGeom>
          <a:noFill/>
        </p:spPr>
        <p:txBody>
          <a:bodyPr wrap="none" rtlCol="0">
            <a:spAutoFit/>
          </a:bodyPr>
          <a:lstStyle/>
          <a:p>
            <a:r>
              <a:rPr lang="en-US" altLang="ko-KR" sz="1200" dirty="0" err="1">
                <a:solidFill>
                  <a:srgbClr val="FF0000"/>
                </a:solidFill>
              </a:rPr>
              <a:t>Nhập</a:t>
            </a:r>
            <a:r>
              <a:rPr lang="en-US" altLang="ko-KR" sz="1200" dirty="0">
                <a:solidFill>
                  <a:srgbClr val="FF0000"/>
                </a:solidFill>
              </a:rPr>
              <a:t> Bias </a:t>
            </a:r>
            <a:r>
              <a:rPr lang="en-US" altLang="ko-KR" sz="1200" dirty="0" err="1">
                <a:solidFill>
                  <a:srgbClr val="FF0000"/>
                </a:solidFill>
              </a:rPr>
              <a:t>theo</a:t>
            </a:r>
            <a:r>
              <a:rPr lang="en-US" altLang="ko-KR" sz="1200" dirty="0">
                <a:solidFill>
                  <a:srgbClr val="FF0000"/>
                </a:solidFill>
              </a:rPr>
              <a:t> </a:t>
            </a:r>
            <a:r>
              <a:rPr lang="en-US" altLang="ko-KR" sz="1200" dirty="0" err="1">
                <a:solidFill>
                  <a:srgbClr val="FF0000"/>
                </a:solidFill>
              </a:rPr>
              <a:t>giá</a:t>
            </a:r>
            <a:r>
              <a:rPr lang="en-US" altLang="ko-KR" sz="1200" dirty="0">
                <a:solidFill>
                  <a:srgbClr val="FF0000"/>
                </a:solidFill>
              </a:rPr>
              <a:t> </a:t>
            </a:r>
            <a:r>
              <a:rPr lang="en-US" altLang="ko-KR" sz="1200" dirty="0" err="1">
                <a:solidFill>
                  <a:srgbClr val="FF0000"/>
                </a:solidFill>
              </a:rPr>
              <a:t>trị</a:t>
            </a:r>
            <a:r>
              <a:rPr lang="en-US" altLang="ko-KR" sz="1200" dirty="0">
                <a:solidFill>
                  <a:srgbClr val="FF0000"/>
                </a:solidFill>
              </a:rPr>
              <a:t> Y</a:t>
            </a:r>
            <a:endParaRPr lang="ko-KR" altLang="en-US" sz="1200" dirty="0">
              <a:solidFill>
                <a:srgbClr val="FF0000"/>
              </a:solidFill>
            </a:endParaRPr>
          </a:p>
        </p:txBody>
      </p:sp>
      <p:sp>
        <p:nvSpPr>
          <p:cNvPr id="12" name="TextBox 11"/>
          <p:cNvSpPr txBox="1"/>
          <p:nvPr/>
        </p:nvSpPr>
        <p:spPr>
          <a:xfrm>
            <a:off x="6372200" y="3501008"/>
            <a:ext cx="2284151" cy="276999"/>
          </a:xfrm>
          <a:prstGeom prst="rect">
            <a:avLst/>
          </a:prstGeom>
          <a:noFill/>
        </p:spPr>
        <p:txBody>
          <a:bodyPr wrap="none" rtlCol="0">
            <a:spAutoFit/>
          </a:bodyPr>
          <a:lstStyle/>
          <a:p>
            <a:r>
              <a:rPr lang="en-US" altLang="ko-KR" sz="1200" dirty="0" err="1">
                <a:solidFill>
                  <a:srgbClr val="FF0000"/>
                </a:solidFill>
              </a:rPr>
              <a:t>Nhập</a:t>
            </a:r>
            <a:r>
              <a:rPr lang="en-US" altLang="ko-KR" sz="1200" dirty="0">
                <a:solidFill>
                  <a:srgbClr val="FF0000"/>
                </a:solidFill>
              </a:rPr>
              <a:t> Reference </a:t>
            </a:r>
            <a:r>
              <a:rPr lang="en-US" altLang="ko-KR" sz="1200" dirty="0" err="1">
                <a:solidFill>
                  <a:srgbClr val="FF0000"/>
                </a:solidFill>
              </a:rPr>
              <a:t>theo</a:t>
            </a:r>
            <a:r>
              <a:rPr lang="en-US" altLang="ko-KR" sz="1200" dirty="0">
                <a:solidFill>
                  <a:srgbClr val="FF0000"/>
                </a:solidFill>
              </a:rPr>
              <a:t> </a:t>
            </a:r>
            <a:r>
              <a:rPr lang="en-US" altLang="ko-KR" sz="1200" dirty="0" err="1">
                <a:solidFill>
                  <a:srgbClr val="FF0000"/>
                </a:solidFill>
              </a:rPr>
              <a:t>giá</a:t>
            </a:r>
            <a:r>
              <a:rPr lang="en-US" altLang="ko-KR" sz="1200" dirty="0">
                <a:solidFill>
                  <a:srgbClr val="FF0000"/>
                </a:solidFill>
              </a:rPr>
              <a:t> </a:t>
            </a:r>
            <a:r>
              <a:rPr lang="en-US" altLang="ko-KR" sz="1200" dirty="0" err="1">
                <a:solidFill>
                  <a:srgbClr val="FF0000"/>
                </a:solidFill>
              </a:rPr>
              <a:t>trị</a:t>
            </a:r>
            <a:r>
              <a:rPr lang="en-US" altLang="ko-KR" sz="1200" dirty="0">
                <a:solidFill>
                  <a:srgbClr val="FF0000"/>
                </a:solidFill>
              </a:rPr>
              <a:t> X</a:t>
            </a:r>
            <a:endParaRPr lang="ko-KR" altLang="en-US" sz="1200" dirty="0">
              <a:solidFill>
                <a:srgbClr val="FF0000"/>
              </a:solidFill>
            </a:endParaRPr>
          </a:p>
        </p:txBody>
      </p:sp>
      <p:pic>
        <p:nvPicPr>
          <p:cNvPr id="1945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3141" y="2492896"/>
            <a:ext cx="3920827" cy="3382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xtBox 13"/>
          <p:cNvSpPr txBox="1"/>
          <p:nvPr/>
        </p:nvSpPr>
        <p:spPr>
          <a:xfrm>
            <a:off x="251520" y="2027659"/>
            <a:ext cx="1544205" cy="292388"/>
          </a:xfrm>
          <a:prstGeom prst="rect">
            <a:avLst/>
          </a:prstGeom>
          <a:noFill/>
        </p:spPr>
        <p:txBody>
          <a:bodyPr wrap="none" rtlCol="0">
            <a:spAutoFit/>
          </a:bodyPr>
          <a:lstStyle/>
          <a:p>
            <a:r>
              <a:rPr lang="en-US" altLang="ko-KR" sz="1300" dirty="0" err="1"/>
              <a:t>Calc</a:t>
            </a:r>
            <a:r>
              <a:rPr lang="en-US" altLang="ko-KR" sz="1300" dirty="0"/>
              <a:t> &gt; Calculator </a:t>
            </a:r>
            <a:endParaRPr lang="ko-KR" altLang="en-US" sz="1300" dirty="0"/>
          </a:p>
        </p:txBody>
      </p:sp>
      <p:sp>
        <p:nvSpPr>
          <p:cNvPr id="16" name="TextBox 15"/>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3"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127</a:t>
            </a:fld>
            <a:endParaRPr lang="ko-KR" altLang="en-US" dirty="0"/>
          </a:p>
        </p:txBody>
      </p:sp>
    </p:spTree>
    <p:extLst>
      <p:ext uri="{BB962C8B-B14F-4D97-AF65-F5344CB8AC3E}">
        <p14:creationId xmlns:p14="http://schemas.microsoft.com/office/powerpoint/2010/main" val="164922388"/>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39552" y="1052736"/>
            <a:ext cx="1770036" cy="369332"/>
          </a:xfrm>
          <a:prstGeom prst="rect">
            <a:avLst/>
          </a:prstGeom>
          <a:noFill/>
        </p:spPr>
        <p:txBody>
          <a:bodyPr wrap="none" rtlCol="0">
            <a:spAutoFit/>
          </a:bodyPr>
          <a:lstStyle/>
          <a:p>
            <a:r>
              <a:rPr lang="en-US" altLang="ko-KR" dirty="0"/>
              <a:t>Check Linearity</a:t>
            </a:r>
            <a:endParaRPr lang="ko-KR" altLang="en-US" dirty="0"/>
          </a:p>
        </p:txBody>
      </p:sp>
      <p:sp>
        <p:nvSpPr>
          <p:cNvPr id="5" name="TextBox 4"/>
          <p:cNvSpPr txBox="1"/>
          <p:nvPr/>
        </p:nvSpPr>
        <p:spPr>
          <a:xfrm>
            <a:off x="6084169" y="1916832"/>
            <a:ext cx="2774112" cy="954107"/>
          </a:xfrm>
          <a:prstGeom prst="rect">
            <a:avLst/>
          </a:prstGeom>
          <a:noFill/>
        </p:spPr>
        <p:txBody>
          <a:bodyPr wrap="square" rtlCol="0">
            <a:spAutoFit/>
          </a:bodyPr>
          <a:lstStyle/>
          <a:p>
            <a:r>
              <a:rPr lang="en-US" sz="1400" dirty="0"/>
              <a:t>In order to ensure linearity,</a:t>
            </a:r>
            <a:br>
              <a:rPr lang="en-US" sz="1400" dirty="0"/>
            </a:br>
            <a:r>
              <a:rPr lang="en-US" sz="1400" dirty="0"/>
              <a:t>The intercept and slope of the</a:t>
            </a:r>
          </a:p>
          <a:p>
            <a:r>
              <a:rPr lang="en-US" sz="1400" dirty="0"/>
              <a:t>regression line should be insignificant.</a:t>
            </a:r>
            <a:endParaRPr lang="ko-KR" altLang="en-US" sz="1400" dirty="0"/>
          </a:p>
        </p:txBody>
      </p:sp>
      <p:sp>
        <p:nvSpPr>
          <p:cNvPr id="6" name="TextBox 5"/>
          <p:cNvSpPr txBox="1"/>
          <p:nvPr/>
        </p:nvSpPr>
        <p:spPr>
          <a:xfrm>
            <a:off x="6084168" y="3140968"/>
            <a:ext cx="2774112" cy="1384995"/>
          </a:xfrm>
          <a:prstGeom prst="rect">
            <a:avLst/>
          </a:prstGeom>
          <a:noFill/>
        </p:spPr>
        <p:txBody>
          <a:bodyPr wrap="square" rtlCol="0">
            <a:spAutoFit/>
          </a:bodyPr>
          <a:lstStyle/>
          <a:p>
            <a:r>
              <a:rPr lang="en-US" sz="1400" dirty="0"/>
              <a:t>However, as a result of regression analysis, P value of Constant is 0.000. Since the slope P value of Ref is 0.000, the regression equation can be assumed as a straight line.</a:t>
            </a:r>
            <a:endParaRPr lang="ko-KR" altLang="en-US" sz="1400" dirty="0"/>
          </a:p>
        </p:txBody>
      </p:sp>
      <p:sp>
        <p:nvSpPr>
          <p:cNvPr id="7" name="TextBox 6"/>
          <p:cNvSpPr txBox="1"/>
          <p:nvPr/>
        </p:nvSpPr>
        <p:spPr>
          <a:xfrm>
            <a:off x="6084168" y="4581128"/>
            <a:ext cx="2967928" cy="307777"/>
          </a:xfrm>
          <a:prstGeom prst="rect">
            <a:avLst/>
          </a:prstGeom>
          <a:noFill/>
        </p:spPr>
        <p:txBody>
          <a:bodyPr wrap="none" rtlCol="0">
            <a:spAutoFit/>
          </a:bodyPr>
          <a:lstStyle/>
          <a:p>
            <a:r>
              <a:rPr lang="en-US" altLang="ko-KR" sz="1400" dirty="0"/>
              <a:t>Therefore, the linearity is rejected.</a:t>
            </a:r>
            <a:endParaRPr lang="ko-KR" altLang="en-US" sz="1400" dirty="0"/>
          </a:p>
        </p:txBody>
      </p:sp>
      <p:sp>
        <p:nvSpPr>
          <p:cNvPr id="8" name="직사각형 7"/>
          <p:cNvSpPr/>
          <p:nvPr/>
        </p:nvSpPr>
        <p:spPr>
          <a:xfrm>
            <a:off x="727673" y="1556792"/>
            <a:ext cx="4708423" cy="4893647"/>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Regression Analysis: Bias versus Reference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Analysis of Variance</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Source         DF   </a:t>
            </a:r>
            <a:r>
              <a:rPr lang="en-US" altLang="ko-KR" sz="1200" dirty="0" err="1">
                <a:latin typeface="굴림체" panose="020B0609000101010101" pitchFamily="49" charset="-127"/>
                <a:ea typeface="굴림체" panose="020B0609000101010101" pitchFamily="49" charset="-127"/>
              </a:rPr>
              <a:t>Adj</a:t>
            </a:r>
            <a:r>
              <a:rPr lang="en-US" altLang="ko-KR" sz="1200" dirty="0">
                <a:latin typeface="굴림체" panose="020B0609000101010101" pitchFamily="49" charset="-127"/>
                <a:ea typeface="굴림체" panose="020B0609000101010101" pitchFamily="49" charset="-127"/>
              </a:rPr>
              <a:t> SS   </a:t>
            </a:r>
            <a:r>
              <a:rPr lang="en-US" altLang="ko-KR" sz="1200" dirty="0" err="1">
                <a:latin typeface="굴림체" panose="020B0609000101010101" pitchFamily="49" charset="-127"/>
                <a:ea typeface="굴림체" panose="020B0609000101010101" pitchFamily="49" charset="-127"/>
              </a:rPr>
              <a:t>Adj</a:t>
            </a:r>
            <a:r>
              <a:rPr lang="en-US" altLang="ko-KR" sz="1200" dirty="0">
                <a:latin typeface="굴림체" panose="020B0609000101010101" pitchFamily="49" charset="-127"/>
                <a:ea typeface="굴림체" panose="020B0609000101010101" pitchFamily="49" charset="-127"/>
              </a:rPr>
              <a:t> MS  F-Value  P-Value</a:t>
            </a:r>
          </a:p>
          <a:p>
            <a:r>
              <a:rPr lang="en-US" altLang="ko-KR" sz="1200" dirty="0">
                <a:latin typeface="굴림체" panose="020B0609000101010101" pitchFamily="49" charset="-127"/>
                <a:ea typeface="굴림체" panose="020B0609000101010101" pitchFamily="49" charset="-127"/>
              </a:rPr>
              <a:t>Regression      1   8.3213  8.32133   145.02    0.000</a:t>
            </a:r>
          </a:p>
          <a:p>
            <a:r>
              <a:rPr lang="en-US" altLang="ko-KR" sz="1200" dirty="0">
                <a:latin typeface="굴림체" panose="020B0609000101010101" pitchFamily="49" charset="-127"/>
                <a:ea typeface="굴림체" panose="020B0609000101010101" pitchFamily="49" charset="-127"/>
              </a:rPr>
              <a:t>  Reference     1   8.3213  8.32133   145.02    0.000</a:t>
            </a:r>
          </a:p>
          <a:p>
            <a:r>
              <a:rPr lang="en-US" altLang="ko-KR" sz="1200" dirty="0">
                <a:latin typeface="굴림체" panose="020B0609000101010101" pitchFamily="49" charset="-127"/>
                <a:ea typeface="굴림체" panose="020B0609000101010101" pitchFamily="49" charset="-127"/>
              </a:rPr>
              <a:t>Error          58   3.3280  0.05738</a:t>
            </a:r>
          </a:p>
          <a:p>
            <a:r>
              <a:rPr lang="en-US" altLang="ko-KR" sz="1200" dirty="0">
                <a:latin typeface="굴림체" panose="020B0609000101010101" pitchFamily="49" charset="-127"/>
                <a:ea typeface="굴림체" panose="020B0609000101010101" pitchFamily="49" charset="-127"/>
              </a:rPr>
              <a:t>  Lack-of-Fit   3   0.1880  0.06267     1.10    0.358</a:t>
            </a:r>
          </a:p>
          <a:p>
            <a:r>
              <a:rPr lang="en-US" altLang="ko-KR" sz="1200" dirty="0">
                <a:latin typeface="굴림체" panose="020B0609000101010101" pitchFamily="49" charset="-127"/>
                <a:ea typeface="굴림체" panose="020B0609000101010101" pitchFamily="49" charset="-127"/>
              </a:rPr>
              <a:t>  Pure Error   55   3.1400  0.05709</a:t>
            </a:r>
          </a:p>
          <a:p>
            <a:r>
              <a:rPr lang="en-US" altLang="ko-KR" sz="1200" dirty="0">
                <a:latin typeface="굴림체" panose="020B0609000101010101" pitchFamily="49" charset="-127"/>
                <a:ea typeface="굴림체" panose="020B0609000101010101" pitchFamily="49" charset="-127"/>
              </a:rPr>
              <a:t>Total          59  11.6493</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Model Summary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    R-</a:t>
            </a:r>
            <a:r>
              <a:rPr lang="en-US" altLang="ko-KR" sz="1200" dirty="0" err="1">
                <a:latin typeface="굴림체" panose="020B0609000101010101" pitchFamily="49" charset="-127"/>
                <a:ea typeface="굴림체" panose="020B0609000101010101" pitchFamily="49" charset="-127"/>
              </a:rPr>
              <a:t>sq</a:t>
            </a:r>
            <a:r>
              <a:rPr lang="en-US" altLang="ko-KR" sz="1200" dirty="0">
                <a:latin typeface="굴림체" panose="020B0609000101010101" pitchFamily="49" charset="-127"/>
                <a:ea typeface="굴림체" panose="020B0609000101010101" pitchFamily="49" charset="-127"/>
              </a:rPr>
              <a:t>  R-</a:t>
            </a:r>
            <a:r>
              <a:rPr lang="en-US" altLang="ko-KR" sz="1200" dirty="0" err="1">
                <a:latin typeface="굴림체" panose="020B0609000101010101" pitchFamily="49" charset="-127"/>
                <a:ea typeface="굴림체" panose="020B0609000101010101" pitchFamily="49" charset="-127"/>
              </a:rPr>
              <a:t>sq</a:t>
            </a:r>
            <a:r>
              <a:rPr lang="en-US" altLang="ko-KR" sz="1200" dirty="0">
                <a:latin typeface="굴림체" panose="020B0609000101010101" pitchFamily="49" charset="-127"/>
                <a:ea typeface="굴림체" panose="020B0609000101010101" pitchFamily="49" charset="-127"/>
              </a:rPr>
              <a:t>(</a:t>
            </a:r>
            <a:r>
              <a:rPr lang="en-US" altLang="ko-KR" sz="1200" dirty="0" err="1">
                <a:latin typeface="굴림체" panose="020B0609000101010101" pitchFamily="49" charset="-127"/>
                <a:ea typeface="굴림체" panose="020B0609000101010101" pitchFamily="49" charset="-127"/>
              </a:rPr>
              <a:t>adj</a:t>
            </a:r>
            <a:r>
              <a:rPr lang="en-US" altLang="ko-KR" sz="1200" dirty="0">
                <a:latin typeface="굴림체" panose="020B0609000101010101" pitchFamily="49" charset="-127"/>
                <a:ea typeface="굴림체" panose="020B0609000101010101" pitchFamily="49" charset="-127"/>
              </a:rPr>
              <a:t>)  R-</a:t>
            </a:r>
            <a:r>
              <a:rPr lang="en-US" altLang="ko-KR" sz="1200" dirty="0" err="1">
                <a:latin typeface="굴림체" panose="020B0609000101010101" pitchFamily="49" charset="-127"/>
                <a:ea typeface="굴림체" panose="020B0609000101010101" pitchFamily="49" charset="-127"/>
              </a:rPr>
              <a:t>sq</a:t>
            </a:r>
            <a:r>
              <a:rPr lang="en-US" altLang="ko-KR" sz="1200" dirty="0">
                <a:latin typeface="굴림체" panose="020B0609000101010101" pitchFamily="49" charset="-127"/>
                <a:ea typeface="굴림체" panose="020B0609000101010101" pitchFamily="49" charset="-127"/>
              </a:rPr>
              <a:t>(</a:t>
            </a:r>
            <a:r>
              <a:rPr lang="en-US" altLang="ko-KR" sz="1200" dirty="0" err="1">
                <a:latin typeface="굴림체" panose="020B0609000101010101" pitchFamily="49" charset="-127"/>
                <a:ea typeface="굴림체" panose="020B0609000101010101" pitchFamily="49" charset="-127"/>
              </a:rPr>
              <a:t>pred</a:t>
            </a:r>
            <a:r>
              <a:rPr lang="en-US" altLang="ko-KR" sz="1200" dirty="0">
                <a:latin typeface="굴림체" panose="020B0609000101010101" pitchFamily="49" charset="-127"/>
                <a:ea typeface="굴림체" panose="020B0609000101010101" pitchFamily="49" charset="-127"/>
              </a:rPr>
              <a:t>)</a:t>
            </a:r>
          </a:p>
          <a:p>
            <a:r>
              <a:rPr lang="en-US" altLang="ko-KR" sz="1200" dirty="0">
                <a:latin typeface="굴림체" panose="020B0609000101010101" pitchFamily="49" charset="-127"/>
                <a:ea typeface="굴림체" panose="020B0609000101010101" pitchFamily="49" charset="-127"/>
              </a:rPr>
              <a:t>0.239540  71.43%     70.94%      69.82%</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Coefficients</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Term          </a:t>
            </a:r>
            <a:r>
              <a:rPr lang="en-US" altLang="ko-KR" sz="1200" dirty="0" err="1">
                <a:latin typeface="굴림체" panose="020B0609000101010101" pitchFamily="49" charset="-127"/>
                <a:ea typeface="굴림체" panose="020B0609000101010101" pitchFamily="49" charset="-127"/>
              </a:rPr>
              <a:t>Coef</a:t>
            </a:r>
            <a:r>
              <a:rPr lang="en-US" altLang="ko-KR" sz="1200" dirty="0">
                <a:latin typeface="굴림체" panose="020B0609000101010101" pitchFamily="49" charset="-127"/>
                <a:ea typeface="굴림체" panose="020B0609000101010101" pitchFamily="49" charset="-127"/>
              </a:rPr>
              <a:t>  SE </a:t>
            </a:r>
            <a:r>
              <a:rPr lang="en-US" altLang="ko-KR" sz="1200" dirty="0" err="1">
                <a:latin typeface="굴림체" panose="020B0609000101010101" pitchFamily="49" charset="-127"/>
                <a:ea typeface="굴림체" panose="020B0609000101010101" pitchFamily="49" charset="-127"/>
              </a:rPr>
              <a:t>Coef</a:t>
            </a:r>
            <a:r>
              <a:rPr lang="en-US" altLang="ko-KR" sz="1200" dirty="0">
                <a:latin typeface="굴림체" panose="020B0609000101010101" pitchFamily="49" charset="-127"/>
                <a:ea typeface="굴림체" panose="020B0609000101010101" pitchFamily="49" charset="-127"/>
              </a:rPr>
              <a:t>  T-Value  P-Value   VIF</a:t>
            </a:r>
          </a:p>
          <a:p>
            <a:r>
              <a:rPr lang="fr-FR" altLang="ko-KR" sz="1200" dirty="0">
                <a:latin typeface="굴림체" panose="020B0609000101010101" pitchFamily="49" charset="-127"/>
                <a:ea typeface="굴림체" panose="020B0609000101010101" pitchFamily="49" charset="-127"/>
              </a:rPr>
              <a:t>Constant    0.7367   0.0725    10.16    0.000</a:t>
            </a:r>
          </a:p>
          <a:p>
            <a:r>
              <a:rPr lang="en-US" altLang="ko-KR" sz="1200" dirty="0">
                <a:latin typeface="굴림체" panose="020B0609000101010101" pitchFamily="49" charset="-127"/>
                <a:ea typeface="굴림체" panose="020B0609000101010101" pitchFamily="49" charset="-127"/>
              </a:rPr>
              <a:t>Reference  -0.1317   0.0109   -12.04    0.000  1.00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Regression Equation</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Bias = 0.7367 - 0.1317 Reference</a:t>
            </a:r>
          </a:p>
        </p:txBody>
      </p:sp>
      <p:sp>
        <p:nvSpPr>
          <p:cNvPr id="9" name="직사각형 8"/>
          <p:cNvSpPr/>
          <p:nvPr/>
        </p:nvSpPr>
        <p:spPr>
          <a:xfrm>
            <a:off x="611560" y="5013176"/>
            <a:ext cx="4824536" cy="72008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0" name="TextBox 9"/>
          <p:cNvSpPr txBox="1"/>
          <p:nvPr/>
        </p:nvSpPr>
        <p:spPr>
          <a:xfrm>
            <a:off x="6095743" y="5085184"/>
            <a:ext cx="2250937" cy="523220"/>
          </a:xfrm>
          <a:prstGeom prst="rect">
            <a:avLst/>
          </a:prstGeom>
          <a:noFill/>
        </p:spPr>
        <p:txBody>
          <a:bodyPr wrap="none" rtlCol="0">
            <a:spAutoFit/>
          </a:bodyPr>
          <a:lstStyle/>
          <a:p>
            <a:r>
              <a:rPr lang="en-US" altLang="ko-KR" sz="1400" dirty="0"/>
              <a:t>Check out the Gage R&amp;R</a:t>
            </a:r>
          </a:p>
          <a:p>
            <a:r>
              <a:rPr lang="en-US" altLang="ko-KR" sz="1400" dirty="0"/>
              <a:t>Linearity &amp; Bias</a:t>
            </a:r>
            <a:endParaRPr lang="ko-KR" altLang="en-US" sz="1400" dirty="0"/>
          </a:p>
        </p:txBody>
      </p:sp>
      <p:sp>
        <p:nvSpPr>
          <p:cNvPr id="11" name="TextBox 10"/>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1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128</a:t>
            </a:fld>
            <a:endParaRPr lang="ko-KR" altLang="en-US" dirty="0"/>
          </a:p>
        </p:txBody>
      </p:sp>
    </p:spTree>
    <p:extLst>
      <p:ext uri="{BB962C8B-B14F-4D97-AF65-F5344CB8AC3E}">
        <p14:creationId xmlns:p14="http://schemas.microsoft.com/office/powerpoint/2010/main" val="365821322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777"/>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Gage linearity and bias study (when estimating and analyzing 6σ total of process variation)</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TextBox 2"/>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4" name="TextBox 3"/>
          <p:cNvSpPr txBox="1"/>
          <p:nvPr/>
        </p:nvSpPr>
        <p:spPr>
          <a:xfrm>
            <a:off x="755576" y="1340768"/>
            <a:ext cx="7602638" cy="1554080"/>
          </a:xfrm>
          <a:prstGeom prst="rect">
            <a:avLst/>
          </a:prstGeom>
          <a:noFill/>
        </p:spPr>
        <p:txBody>
          <a:bodyPr wrap="square" rtlCol="0">
            <a:spAutoFit/>
          </a:bodyPr>
          <a:lstStyle/>
          <a:p>
            <a:pPr>
              <a:lnSpc>
                <a:spcPct val="150000"/>
              </a:lnSpc>
            </a:pPr>
            <a:r>
              <a:rPr lang="en-US" altLang="ko-KR" sz="1300" dirty="0"/>
              <a:t>In AIAG (2010), since the% linearity index is not used in determining the linearity adherence, there is no need to analyze the linearity of the process variation (6σtotal). However, if you want to calculate the% linearity, you should estimate the process variation.</a:t>
            </a:r>
            <a:br>
              <a:rPr lang="en-US" altLang="ko-KR" sz="1300" dirty="0"/>
            </a:br>
            <a:br>
              <a:rPr lang="en-US" altLang="ko-KR" sz="1300" dirty="0"/>
            </a:br>
            <a:r>
              <a:rPr lang="en-US" altLang="ko-KR" sz="1300" dirty="0"/>
              <a:t>There are two methods for estimating the variation of the process.</a:t>
            </a:r>
            <a:endParaRPr lang="ko-KR" altLang="en-US" sz="1300" dirty="0"/>
          </a:p>
        </p:txBody>
      </p:sp>
      <p:sp>
        <p:nvSpPr>
          <p:cNvPr id="5" name="TextBox 4"/>
          <p:cNvSpPr txBox="1"/>
          <p:nvPr/>
        </p:nvSpPr>
        <p:spPr>
          <a:xfrm>
            <a:off x="1115617" y="3064604"/>
            <a:ext cx="7314036" cy="692497"/>
          </a:xfrm>
          <a:prstGeom prst="rect">
            <a:avLst/>
          </a:prstGeom>
          <a:noFill/>
        </p:spPr>
        <p:txBody>
          <a:bodyPr wrap="square" rtlCol="0">
            <a:spAutoFit/>
          </a:bodyPr>
          <a:lstStyle/>
          <a:p>
            <a:pPr marL="342900" indent="-342900">
              <a:lnSpc>
                <a:spcPct val="150000"/>
              </a:lnSpc>
            </a:pPr>
            <a:r>
              <a:rPr lang="en-US" altLang="ko-KR" sz="1300" dirty="0"/>
              <a:t>1. Analyze the past process data to obtain the standard deviation of the process(</a:t>
            </a:r>
            <a:r>
              <a:rPr lang="en-US" altLang="ko-KR" sz="1300" dirty="0" err="1"/>
              <a:t>σhistorical</a:t>
            </a:r>
            <a:r>
              <a:rPr lang="en-US" altLang="ko-KR" sz="1300" dirty="0"/>
              <a:t>) </a:t>
            </a:r>
          </a:p>
          <a:p>
            <a:pPr marL="342900" indent="-342900">
              <a:lnSpc>
                <a:spcPct val="150000"/>
              </a:lnSpc>
            </a:pPr>
            <a:r>
              <a:rPr lang="en-US" altLang="ko-KR" sz="1300" dirty="0"/>
              <a:t>   and perform x 6</a:t>
            </a:r>
            <a:endParaRPr lang="ko-KR" altLang="en-US" sz="1300" dirty="0"/>
          </a:p>
        </p:txBody>
      </p:sp>
      <p:sp>
        <p:nvSpPr>
          <p:cNvPr id="6" name="TextBox 5"/>
          <p:cNvSpPr txBox="1"/>
          <p:nvPr/>
        </p:nvSpPr>
        <p:spPr>
          <a:xfrm>
            <a:off x="1115616" y="3699221"/>
            <a:ext cx="7242598" cy="992579"/>
          </a:xfrm>
          <a:prstGeom prst="rect">
            <a:avLst/>
          </a:prstGeom>
          <a:noFill/>
        </p:spPr>
        <p:txBody>
          <a:bodyPr wrap="square" rtlCol="0">
            <a:spAutoFit/>
          </a:bodyPr>
          <a:lstStyle/>
          <a:p>
            <a:pPr>
              <a:lnSpc>
                <a:spcPct val="150000"/>
              </a:lnSpc>
            </a:pPr>
            <a:r>
              <a:rPr lang="en-US" altLang="ko-KR" sz="1300" dirty="0"/>
              <a:t>2. Perform the Gage R &amp; R Study to obtain the 6σtotal of the process variation. However, in </a:t>
            </a:r>
          </a:p>
          <a:p>
            <a:pPr>
              <a:lnSpc>
                <a:spcPct val="150000"/>
              </a:lnSpc>
            </a:pPr>
            <a:r>
              <a:rPr lang="en-US" altLang="ko-KR" sz="1300" dirty="0"/>
              <a:t>   this case, the sample for Gage R &amp; R should be randomly selected in the process and      </a:t>
            </a:r>
          </a:p>
          <a:p>
            <a:pPr>
              <a:lnSpc>
                <a:spcPct val="150000"/>
              </a:lnSpc>
            </a:pPr>
            <a:r>
              <a:rPr lang="en-US" altLang="ko-KR" sz="1300" dirty="0"/>
              <a:t>   should represent the entire process variation. .</a:t>
            </a:r>
            <a:endParaRPr lang="ko-KR" altLang="en-US" sz="1300" dirty="0"/>
          </a:p>
        </p:txBody>
      </p:sp>
      <p:sp>
        <p:nvSpPr>
          <p:cNvPr id="7" name="TextBox 6"/>
          <p:cNvSpPr txBox="1"/>
          <p:nvPr/>
        </p:nvSpPr>
        <p:spPr>
          <a:xfrm>
            <a:off x="755576" y="4720788"/>
            <a:ext cx="6385915" cy="292388"/>
          </a:xfrm>
          <a:prstGeom prst="rect">
            <a:avLst/>
          </a:prstGeom>
          <a:noFill/>
        </p:spPr>
        <p:txBody>
          <a:bodyPr wrap="none" rtlCol="0">
            <a:spAutoFit/>
          </a:bodyPr>
          <a:lstStyle/>
          <a:p>
            <a:r>
              <a:rPr lang="en-US" altLang="ko-KR" sz="1300" dirty="0"/>
              <a:t>With the previous example, we estimate and analyze the variation of the process.</a:t>
            </a:r>
            <a:endParaRPr lang="ko-KR" altLang="en-US" sz="1300" dirty="0"/>
          </a:p>
        </p:txBody>
      </p:sp>
      <p:sp>
        <p:nvSpPr>
          <p:cNvPr id="8"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129</a:t>
            </a:fld>
            <a:endParaRPr lang="ko-KR" altLang="en-US" dirty="0"/>
          </a:p>
        </p:txBody>
      </p:sp>
    </p:spTree>
    <p:extLst>
      <p:ext uri="{BB962C8B-B14F-4D97-AF65-F5344CB8AC3E}">
        <p14:creationId xmlns:p14="http://schemas.microsoft.com/office/powerpoint/2010/main" val="8283501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39552" y="1052736"/>
            <a:ext cx="2488182" cy="369332"/>
          </a:xfrm>
          <a:prstGeom prst="rect">
            <a:avLst/>
          </a:prstGeom>
          <a:noFill/>
        </p:spPr>
        <p:txBody>
          <a:bodyPr wrap="none" rtlCol="0">
            <a:spAutoFit/>
          </a:bodyPr>
          <a:lstStyle/>
          <a:p>
            <a:r>
              <a:rPr lang="en-US" altLang="ko-KR" dirty="0" err="1"/>
              <a:t>Kiểm</a:t>
            </a:r>
            <a:r>
              <a:rPr lang="en-US" altLang="ko-KR" dirty="0"/>
              <a:t> </a:t>
            </a:r>
            <a:r>
              <a:rPr lang="en-US" altLang="ko-KR" dirty="0" err="1"/>
              <a:t>tra</a:t>
            </a:r>
            <a:r>
              <a:rPr lang="en-US" altLang="ko-KR" dirty="0"/>
              <a:t> </a:t>
            </a:r>
            <a:r>
              <a:rPr lang="vi-VN" altLang="ko-KR" dirty="0"/>
              <a:t>độ tuyến tính</a:t>
            </a:r>
            <a:endParaRPr lang="ko-KR" altLang="en-US" dirty="0"/>
          </a:p>
        </p:txBody>
      </p:sp>
      <p:sp>
        <p:nvSpPr>
          <p:cNvPr id="5" name="TextBox 4"/>
          <p:cNvSpPr txBox="1"/>
          <p:nvPr/>
        </p:nvSpPr>
        <p:spPr>
          <a:xfrm>
            <a:off x="5436096" y="1916832"/>
            <a:ext cx="3684022" cy="954107"/>
          </a:xfrm>
          <a:prstGeom prst="rect">
            <a:avLst/>
          </a:prstGeom>
          <a:noFill/>
        </p:spPr>
        <p:txBody>
          <a:bodyPr wrap="none" rtlCol="0">
            <a:spAutoFit/>
          </a:bodyPr>
          <a:lstStyle/>
          <a:p>
            <a:r>
              <a:rPr lang="en-US" altLang="ko-KR" sz="1400" dirty="0" err="1"/>
              <a:t>Để</a:t>
            </a:r>
            <a:r>
              <a:rPr lang="en-US" altLang="ko-KR" sz="1400" dirty="0"/>
              <a:t> </a:t>
            </a:r>
            <a:r>
              <a:rPr lang="en-US" altLang="ko-KR" sz="1400" dirty="0" err="1"/>
              <a:t>đảm</a:t>
            </a:r>
            <a:r>
              <a:rPr lang="en-US" altLang="ko-KR" sz="1400" dirty="0"/>
              <a:t> </a:t>
            </a:r>
            <a:r>
              <a:rPr lang="en-US" altLang="ko-KR" sz="1400" dirty="0" err="1"/>
              <a:t>bảo</a:t>
            </a:r>
            <a:r>
              <a:rPr lang="en-US" altLang="ko-KR" sz="1400" dirty="0"/>
              <a:t> </a:t>
            </a:r>
            <a:r>
              <a:rPr lang="vi-VN" altLang="ko-KR" sz="1400" dirty="0"/>
              <a:t>độ tuyến tính</a:t>
            </a:r>
            <a:r>
              <a:rPr lang="en-US" altLang="ko-KR" sz="1400" dirty="0"/>
              <a:t> </a:t>
            </a:r>
            <a:r>
              <a:rPr lang="en-US" altLang="ko-KR" sz="1400" dirty="0" err="1"/>
              <a:t>với</a:t>
            </a:r>
            <a:r>
              <a:rPr lang="en-US" altLang="ko-KR" sz="1400" dirty="0"/>
              <a:t> </a:t>
            </a:r>
            <a:r>
              <a:rPr lang="en-US" altLang="ko-KR" sz="1400" dirty="0" err="1"/>
              <a:t>từng</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p>
          <a:p>
            <a:r>
              <a:rPr lang="en-US" altLang="ko-KR" sz="1400" dirty="0"/>
              <a:t>Reference </a:t>
            </a:r>
            <a:r>
              <a:rPr lang="en-US" altLang="ko-KR" sz="1400" dirty="0" err="1"/>
              <a:t>đường</a:t>
            </a:r>
            <a:r>
              <a:rPr lang="en-US" altLang="ko-KR" sz="1400" dirty="0"/>
              <a:t> </a:t>
            </a:r>
            <a:r>
              <a:rPr lang="en-US" altLang="ko-KR" sz="1400" dirty="0" err="1"/>
              <a:t>chặn</a:t>
            </a:r>
            <a:r>
              <a:rPr lang="en-US" altLang="ko-KR" sz="1400" dirty="0"/>
              <a:t> </a:t>
            </a:r>
            <a:r>
              <a:rPr lang="en-US" altLang="ko-KR" sz="1400" dirty="0" err="1"/>
              <a:t>và</a:t>
            </a:r>
            <a:r>
              <a:rPr lang="en-US" altLang="ko-KR" sz="1400" dirty="0"/>
              <a:t> </a:t>
            </a:r>
            <a:r>
              <a:rPr lang="en-US" altLang="ko-KR" sz="1400" dirty="0" err="1"/>
              <a:t>độ</a:t>
            </a:r>
            <a:r>
              <a:rPr lang="en-US" altLang="ko-KR" sz="1400" dirty="0"/>
              <a:t> </a:t>
            </a:r>
            <a:r>
              <a:rPr lang="en-US" altLang="ko-KR" sz="1400" dirty="0" err="1"/>
              <a:t>dốc</a:t>
            </a:r>
            <a:r>
              <a:rPr lang="en-US" altLang="ko-KR" sz="1400" dirty="0"/>
              <a:t> </a:t>
            </a:r>
            <a:r>
              <a:rPr lang="en-US" altLang="ko-KR" sz="1400" dirty="0" err="1"/>
              <a:t>đường</a:t>
            </a:r>
            <a:r>
              <a:rPr lang="en-US" altLang="ko-KR" sz="1400" dirty="0"/>
              <a:t> </a:t>
            </a:r>
          </a:p>
          <a:p>
            <a:r>
              <a:rPr lang="en-US" altLang="ko-KR" sz="1400" dirty="0" err="1"/>
              <a:t>hồi</a:t>
            </a:r>
            <a:r>
              <a:rPr lang="en-US" altLang="ko-KR" sz="1400" dirty="0"/>
              <a:t> </a:t>
            </a:r>
            <a:r>
              <a:rPr lang="en-US" altLang="ko-KR" sz="1400" dirty="0" err="1"/>
              <a:t>quy</a:t>
            </a:r>
            <a:r>
              <a:rPr lang="en-US" altLang="ko-KR" sz="1400" dirty="0"/>
              <a:t> </a:t>
            </a:r>
            <a:r>
              <a:rPr lang="en-US" altLang="ko-KR" sz="1400" dirty="0" err="1"/>
              <a:t>của</a:t>
            </a:r>
            <a:r>
              <a:rPr lang="en-US" altLang="ko-KR" sz="1400" dirty="0"/>
              <a:t> </a:t>
            </a:r>
            <a:r>
              <a:rPr lang="en-US" altLang="ko-KR" sz="1400" dirty="0" err="1"/>
              <a:t>độ</a:t>
            </a:r>
            <a:r>
              <a:rPr lang="en-US" altLang="ko-KR" sz="1400" dirty="0"/>
              <a:t> </a:t>
            </a:r>
            <a:r>
              <a:rPr lang="en-US" altLang="ko-KR" sz="1400" dirty="0" err="1"/>
              <a:t>lệc</a:t>
            </a:r>
            <a:r>
              <a:rPr lang="en-US" altLang="ko-KR" sz="1400" dirty="0"/>
              <a:t>/bias </a:t>
            </a:r>
            <a:r>
              <a:rPr lang="en-US" altLang="ko-KR" sz="1400" dirty="0" err="1"/>
              <a:t>trung</a:t>
            </a:r>
            <a:r>
              <a:rPr lang="en-US" altLang="ko-KR" sz="1400" dirty="0"/>
              <a:t> </a:t>
            </a:r>
            <a:r>
              <a:rPr lang="en-US" altLang="ko-KR" sz="1400" dirty="0" err="1"/>
              <a:t>bình</a:t>
            </a:r>
            <a:r>
              <a:rPr lang="en-US" altLang="ko-KR" sz="1400" dirty="0"/>
              <a:t> </a:t>
            </a:r>
            <a:r>
              <a:rPr lang="en-US" altLang="ko-KR" sz="1400" dirty="0" err="1"/>
              <a:t>phải</a:t>
            </a:r>
            <a:r>
              <a:rPr lang="en-US" altLang="ko-KR" sz="1400" dirty="0"/>
              <a:t> </a:t>
            </a:r>
          </a:p>
          <a:p>
            <a:r>
              <a:rPr lang="en-US" altLang="ko-KR" sz="1400" dirty="0" err="1"/>
              <a:t>là</a:t>
            </a:r>
            <a:r>
              <a:rPr lang="en-US" altLang="ko-KR" sz="1400" dirty="0"/>
              <a:t> </a:t>
            </a:r>
            <a:r>
              <a:rPr lang="en-US" altLang="ko-KR" sz="1400" dirty="0" err="1"/>
              <a:t>không</a:t>
            </a:r>
            <a:r>
              <a:rPr lang="en-US" altLang="ko-KR" sz="1400" dirty="0"/>
              <a:t> </a:t>
            </a:r>
            <a:r>
              <a:rPr lang="en-US" altLang="ko-KR" sz="1400" dirty="0" err="1"/>
              <a:t>có</a:t>
            </a:r>
            <a:r>
              <a:rPr lang="en-US" altLang="ko-KR" sz="1400" dirty="0"/>
              <a:t> ý </a:t>
            </a:r>
            <a:r>
              <a:rPr lang="en-US" altLang="ko-KR" sz="1400" dirty="0" err="1"/>
              <a:t>nghĩa</a:t>
            </a:r>
            <a:r>
              <a:rPr lang="en-US" altLang="ko-KR" sz="1400" dirty="0"/>
              <a:t>/</a:t>
            </a:r>
            <a:r>
              <a:rPr lang="en-US" altLang="ko-KR" sz="1400" dirty="0" err="1"/>
              <a:t>không</a:t>
            </a:r>
            <a:r>
              <a:rPr lang="en-US" altLang="ko-KR" sz="1400" dirty="0"/>
              <a:t> </a:t>
            </a:r>
            <a:r>
              <a:rPr lang="en-US" altLang="ko-KR" sz="1400" dirty="0" err="1"/>
              <a:t>đáng</a:t>
            </a:r>
            <a:r>
              <a:rPr lang="en-US" altLang="ko-KR" sz="1400" dirty="0"/>
              <a:t> </a:t>
            </a:r>
            <a:r>
              <a:rPr lang="en-US" altLang="ko-KR" sz="1400" dirty="0" err="1"/>
              <a:t>kể</a:t>
            </a:r>
            <a:endParaRPr lang="ko-KR" altLang="en-US" sz="1400" dirty="0"/>
          </a:p>
        </p:txBody>
      </p:sp>
      <p:sp>
        <p:nvSpPr>
          <p:cNvPr id="6" name="TextBox 5"/>
          <p:cNvSpPr txBox="1"/>
          <p:nvPr/>
        </p:nvSpPr>
        <p:spPr>
          <a:xfrm>
            <a:off x="5436096" y="3140968"/>
            <a:ext cx="3212739" cy="1169551"/>
          </a:xfrm>
          <a:prstGeom prst="rect">
            <a:avLst/>
          </a:prstGeom>
          <a:noFill/>
        </p:spPr>
        <p:txBody>
          <a:bodyPr wrap="none" rtlCol="0">
            <a:spAutoFit/>
          </a:bodyPr>
          <a:lstStyle/>
          <a:p>
            <a:r>
              <a:rPr lang="en-US" altLang="ko-KR" sz="1400" dirty="0" err="1"/>
              <a:t>Tuy</a:t>
            </a:r>
            <a:r>
              <a:rPr lang="en-US" altLang="ko-KR" sz="1400" dirty="0"/>
              <a:t> </a:t>
            </a:r>
            <a:r>
              <a:rPr lang="en-US" altLang="ko-KR" sz="1400" dirty="0" err="1"/>
              <a:t>nhiên</a:t>
            </a:r>
            <a:r>
              <a:rPr lang="en-US" altLang="ko-KR" sz="1400" dirty="0"/>
              <a:t> </a:t>
            </a:r>
            <a:r>
              <a:rPr lang="en-US" altLang="ko-KR" sz="1400" dirty="0" err="1"/>
              <a:t>kết</a:t>
            </a:r>
            <a:r>
              <a:rPr lang="en-US" altLang="ko-KR" sz="1400" dirty="0"/>
              <a:t> </a:t>
            </a:r>
            <a:r>
              <a:rPr lang="en-US" altLang="ko-KR" sz="1400" dirty="0" err="1"/>
              <a:t>quả</a:t>
            </a:r>
            <a:r>
              <a:rPr lang="en-US" altLang="ko-KR" sz="1400" dirty="0"/>
              <a:t> </a:t>
            </a:r>
            <a:r>
              <a:rPr lang="en-US" altLang="ko-KR" sz="1400" dirty="0" err="1"/>
              <a:t>phân</a:t>
            </a:r>
            <a:r>
              <a:rPr lang="en-US" altLang="ko-KR" sz="1400" dirty="0"/>
              <a:t> </a:t>
            </a:r>
            <a:r>
              <a:rPr lang="en-US" altLang="ko-KR" sz="1400" dirty="0" err="1"/>
              <a:t>tích</a:t>
            </a:r>
            <a:r>
              <a:rPr lang="en-US" altLang="ko-KR" sz="1400" dirty="0"/>
              <a:t> </a:t>
            </a:r>
            <a:r>
              <a:rPr lang="en-US" altLang="ko-KR" sz="1400" dirty="0" err="1"/>
              <a:t>hồi</a:t>
            </a:r>
            <a:r>
              <a:rPr lang="en-US" altLang="ko-KR" sz="1400" dirty="0"/>
              <a:t> </a:t>
            </a:r>
            <a:r>
              <a:rPr lang="en-US" altLang="ko-KR" sz="1400" dirty="0" err="1"/>
              <a:t>quy</a:t>
            </a:r>
            <a:endParaRPr lang="en-US" altLang="ko-KR" sz="1400" dirty="0"/>
          </a:p>
          <a:p>
            <a:r>
              <a:rPr lang="en-US" altLang="ko-KR" sz="1400" dirty="0" err="1"/>
              <a:t>giá</a:t>
            </a:r>
            <a:r>
              <a:rPr lang="en-US" altLang="ko-KR" sz="1400" dirty="0"/>
              <a:t> </a:t>
            </a:r>
            <a:r>
              <a:rPr lang="en-US" altLang="ko-KR" sz="1400" dirty="0" err="1"/>
              <a:t>trị</a:t>
            </a:r>
            <a:r>
              <a:rPr lang="ko-KR" altLang="en-US" sz="1400" dirty="0"/>
              <a:t> </a:t>
            </a:r>
            <a:r>
              <a:rPr lang="en-US" altLang="ko-KR" sz="1400" dirty="0"/>
              <a:t>P</a:t>
            </a:r>
            <a:r>
              <a:rPr lang="ko-KR" altLang="en-US" sz="1400" dirty="0"/>
              <a:t> </a:t>
            </a:r>
            <a:r>
              <a:rPr lang="en-US" altLang="ko-KR" sz="1400" dirty="0" err="1"/>
              <a:t>của</a:t>
            </a:r>
            <a:r>
              <a:rPr lang="en-US" altLang="ko-KR" sz="1400" dirty="0"/>
              <a:t> Constant</a:t>
            </a:r>
            <a:r>
              <a:rPr lang="ko-KR" altLang="en-US" sz="1400" dirty="0"/>
              <a:t> </a:t>
            </a:r>
            <a:r>
              <a:rPr lang="en-US" altLang="ko-KR" sz="1400" dirty="0" err="1"/>
              <a:t>là</a:t>
            </a:r>
            <a:r>
              <a:rPr lang="en-US" altLang="ko-KR" sz="1400" dirty="0"/>
              <a:t> 0.000</a:t>
            </a:r>
          </a:p>
          <a:p>
            <a:r>
              <a:rPr lang="en-US" altLang="ko-KR" sz="1400" dirty="0" err="1"/>
              <a:t>độ</a:t>
            </a:r>
            <a:r>
              <a:rPr lang="en-US" altLang="ko-KR" sz="1400" dirty="0"/>
              <a:t> </a:t>
            </a:r>
            <a:r>
              <a:rPr lang="en-US" altLang="ko-KR" sz="1400" dirty="0" err="1"/>
              <a:t>dốc</a:t>
            </a:r>
            <a:r>
              <a:rPr lang="en-US" altLang="ko-KR" sz="1400" dirty="0"/>
              <a:t> </a:t>
            </a:r>
            <a:r>
              <a:rPr lang="en-US" altLang="ko-KR" sz="1400" dirty="0" err="1"/>
              <a:t>giá</a:t>
            </a:r>
            <a:r>
              <a:rPr lang="en-US" altLang="ko-KR" sz="1400" dirty="0"/>
              <a:t> </a:t>
            </a:r>
            <a:r>
              <a:rPr lang="en-US" altLang="ko-KR" sz="1400" dirty="0" err="1"/>
              <a:t>trị</a:t>
            </a:r>
            <a:r>
              <a:rPr lang="ko-KR" altLang="en-US" sz="1400" dirty="0"/>
              <a:t> </a:t>
            </a:r>
            <a:r>
              <a:rPr lang="en-US" altLang="ko-KR" sz="1400" dirty="0"/>
              <a:t>P</a:t>
            </a:r>
            <a:r>
              <a:rPr lang="ko-KR" altLang="en-US" sz="1400" dirty="0"/>
              <a:t> </a:t>
            </a:r>
            <a:r>
              <a:rPr lang="en-US" altLang="ko-KR" sz="1400" dirty="0" err="1"/>
              <a:t>của</a:t>
            </a:r>
            <a:r>
              <a:rPr lang="en-US" altLang="ko-KR" sz="1400" dirty="0"/>
              <a:t> Ref </a:t>
            </a:r>
            <a:r>
              <a:rPr lang="en-US" altLang="ko-KR" sz="1400" dirty="0" err="1"/>
              <a:t>là</a:t>
            </a:r>
            <a:r>
              <a:rPr lang="ko-KR" altLang="en-US" sz="1400" dirty="0"/>
              <a:t> </a:t>
            </a:r>
            <a:r>
              <a:rPr lang="en-US" altLang="ko-KR" sz="1400" dirty="0"/>
              <a:t>0.000</a:t>
            </a:r>
          </a:p>
          <a:p>
            <a:r>
              <a:rPr lang="en-US" altLang="ko-KR" sz="1400" dirty="0"/>
              <a:t>p</a:t>
            </a:r>
            <a:r>
              <a:rPr lang="vi-VN" altLang="ko-KR" sz="1400" dirty="0"/>
              <a:t>hương trình hồi quy có thể được giả </a:t>
            </a:r>
            <a:endParaRPr lang="en-US" altLang="ko-KR" sz="1400" dirty="0"/>
          </a:p>
          <a:p>
            <a:r>
              <a:rPr lang="vi-VN" altLang="ko-KR" sz="1400" dirty="0"/>
              <a:t>định như một đường thẳng </a:t>
            </a:r>
            <a:endParaRPr lang="en-US" altLang="ko-KR" sz="1400" dirty="0"/>
          </a:p>
        </p:txBody>
      </p:sp>
      <p:sp>
        <p:nvSpPr>
          <p:cNvPr id="7" name="TextBox 6"/>
          <p:cNvSpPr txBox="1"/>
          <p:nvPr/>
        </p:nvSpPr>
        <p:spPr>
          <a:xfrm>
            <a:off x="5508104" y="4581128"/>
            <a:ext cx="2686954" cy="307777"/>
          </a:xfrm>
          <a:prstGeom prst="rect">
            <a:avLst/>
          </a:prstGeom>
          <a:noFill/>
        </p:spPr>
        <p:txBody>
          <a:bodyPr wrap="none" rtlCol="0">
            <a:spAutoFit/>
          </a:bodyPr>
          <a:lstStyle/>
          <a:p>
            <a:r>
              <a:rPr lang="en-US" altLang="ko-KR" sz="1400" dirty="0" err="1"/>
              <a:t>Vì</a:t>
            </a:r>
            <a:r>
              <a:rPr lang="en-US" altLang="ko-KR" sz="1400" dirty="0"/>
              <a:t> </a:t>
            </a:r>
            <a:r>
              <a:rPr lang="en-US" altLang="ko-KR" sz="1400" dirty="0" err="1"/>
              <a:t>vậy</a:t>
            </a:r>
            <a:r>
              <a:rPr lang="en-US" altLang="ko-KR" sz="1400" dirty="0"/>
              <a:t> </a:t>
            </a:r>
            <a:r>
              <a:rPr lang="vi-VN" altLang="ko-KR" sz="1400" dirty="0"/>
              <a:t>độ tuyến tính</a:t>
            </a:r>
            <a:r>
              <a:rPr lang="en-US" altLang="ko-KR" sz="1400" dirty="0"/>
              <a:t> </a:t>
            </a:r>
            <a:r>
              <a:rPr lang="en-US" altLang="ko-KR" sz="1400" dirty="0" err="1"/>
              <a:t>không</a:t>
            </a:r>
            <a:r>
              <a:rPr lang="en-US" altLang="ko-KR" sz="1400" dirty="0"/>
              <a:t> </a:t>
            </a:r>
            <a:r>
              <a:rPr lang="en-US" altLang="ko-KR" sz="1400" dirty="0" err="1"/>
              <a:t>đạt</a:t>
            </a:r>
            <a:endParaRPr lang="ko-KR" altLang="en-US" sz="1400" dirty="0"/>
          </a:p>
        </p:txBody>
      </p:sp>
      <p:sp>
        <p:nvSpPr>
          <p:cNvPr id="8" name="직사각형 7"/>
          <p:cNvSpPr/>
          <p:nvPr/>
        </p:nvSpPr>
        <p:spPr>
          <a:xfrm>
            <a:off x="727673" y="1556792"/>
            <a:ext cx="4708423" cy="4893647"/>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Regression Analysis: Bias versus Reference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Analysis of Variance</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Source         DF   </a:t>
            </a:r>
            <a:r>
              <a:rPr lang="en-US" altLang="ko-KR" sz="1200" dirty="0" err="1">
                <a:latin typeface="굴림체" panose="020B0609000101010101" pitchFamily="49" charset="-127"/>
                <a:ea typeface="굴림체" panose="020B0609000101010101" pitchFamily="49" charset="-127"/>
              </a:rPr>
              <a:t>Adj</a:t>
            </a:r>
            <a:r>
              <a:rPr lang="en-US" altLang="ko-KR" sz="1200" dirty="0">
                <a:latin typeface="굴림체" panose="020B0609000101010101" pitchFamily="49" charset="-127"/>
                <a:ea typeface="굴림체" panose="020B0609000101010101" pitchFamily="49" charset="-127"/>
              </a:rPr>
              <a:t> SS   </a:t>
            </a:r>
            <a:r>
              <a:rPr lang="en-US" altLang="ko-KR" sz="1200" dirty="0" err="1">
                <a:latin typeface="굴림체" panose="020B0609000101010101" pitchFamily="49" charset="-127"/>
                <a:ea typeface="굴림체" panose="020B0609000101010101" pitchFamily="49" charset="-127"/>
              </a:rPr>
              <a:t>Adj</a:t>
            </a:r>
            <a:r>
              <a:rPr lang="en-US" altLang="ko-KR" sz="1200" dirty="0">
                <a:latin typeface="굴림체" panose="020B0609000101010101" pitchFamily="49" charset="-127"/>
                <a:ea typeface="굴림체" panose="020B0609000101010101" pitchFamily="49" charset="-127"/>
              </a:rPr>
              <a:t> MS  F-Value  P-Value</a:t>
            </a:r>
          </a:p>
          <a:p>
            <a:r>
              <a:rPr lang="en-US" altLang="ko-KR" sz="1200" dirty="0">
                <a:latin typeface="굴림체" panose="020B0609000101010101" pitchFamily="49" charset="-127"/>
                <a:ea typeface="굴림체" panose="020B0609000101010101" pitchFamily="49" charset="-127"/>
              </a:rPr>
              <a:t>Regression      1   8.3213  8.32133   145.02    0.000</a:t>
            </a:r>
          </a:p>
          <a:p>
            <a:r>
              <a:rPr lang="en-US" altLang="ko-KR" sz="1200" dirty="0">
                <a:latin typeface="굴림체" panose="020B0609000101010101" pitchFamily="49" charset="-127"/>
                <a:ea typeface="굴림체" panose="020B0609000101010101" pitchFamily="49" charset="-127"/>
              </a:rPr>
              <a:t>  Reference     1   8.3213  8.32133   145.02    0.000</a:t>
            </a:r>
          </a:p>
          <a:p>
            <a:r>
              <a:rPr lang="en-US" altLang="ko-KR" sz="1200" dirty="0">
                <a:latin typeface="굴림체" panose="020B0609000101010101" pitchFamily="49" charset="-127"/>
                <a:ea typeface="굴림체" panose="020B0609000101010101" pitchFamily="49" charset="-127"/>
              </a:rPr>
              <a:t>Error          58   3.3280  0.05738</a:t>
            </a:r>
          </a:p>
          <a:p>
            <a:r>
              <a:rPr lang="en-US" altLang="ko-KR" sz="1200" dirty="0">
                <a:latin typeface="굴림체" panose="020B0609000101010101" pitchFamily="49" charset="-127"/>
                <a:ea typeface="굴림체" panose="020B0609000101010101" pitchFamily="49" charset="-127"/>
              </a:rPr>
              <a:t>  Lack-of-Fit   3   0.1880  0.06267     1.10    0.358</a:t>
            </a:r>
          </a:p>
          <a:p>
            <a:r>
              <a:rPr lang="en-US" altLang="ko-KR" sz="1200" dirty="0">
                <a:latin typeface="굴림체" panose="020B0609000101010101" pitchFamily="49" charset="-127"/>
                <a:ea typeface="굴림체" panose="020B0609000101010101" pitchFamily="49" charset="-127"/>
              </a:rPr>
              <a:t>  Pure Error   55   3.1400  0.05709</a:t>
            </a:r>
          </a:p>
          <a:p>
            <a:r>
              <a:rPr lang="en-US" altLang="ko-KR" sz="1200" dirty="0">
                <a:latin typeface="굴림체" panose="020B0609000101010101" pitchFamily="49" charset="-127"/>
                <a:ea typeface="굴림체" panose="020B0609000101010101" pitchFamily="49" charset="-127"/>
              </a:rPr>
              <a:t>Total          59  11.6493</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Model Summary</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    R-</a:t>
            </a:r>
            <a:r>
              <a:rPr lang="en-US" altLang="ko-KR" sz="1200" dirty="0" err="1">
                <a:latin typeface="굴림체" panose="020B0609000101010101" pitchFamily="49" charset="-127"/>
                <a:ea typeface="굴림체" panose="020B0609000101010101" pitchFamily="49" charset="-127"/>
              </a:rPr>
              <a:t>sq</a:t>
            </a:r>
            <a:r>
              <a:rPr lang="en-US" altLang="ko-KR" sz="1200" dirty="0">
                <a:latin typeface="굴림체" panose="020B0609000101010101" pitchFamily="49" charset="-127"/>
                <a:ea typeface="굴림체" panose="020B0609000101010101" pitchFamily="49" charset="-127"/>
              </a:rPr>
              <a:t>  R-</a:t>
            </a:r>
            <a:r>
              <a:rPr lang="en-US" altLang="ko-KR" sz="1200" dirty="0" err="1">
                <a:latin typeface="굴림체" panose="020B0609000101010101" pitchFamily="49" charset="-127"/>
                <a:ea typeface="굴림체" panose="020B0609000101010101" pitchFamily="49" charset="-127"/>
              </a:rPr>
              <a:t>sq</a:t>
            </a:r>
            <a:r>
              <a:rPr lang="en-US" altLang="ko-KR" sz="1200" dirty="0">
                <a:latin typeface="굴림체" panose="020B0609000101010101" pitchFamily="49" charset="-127"/>
                <a:ea typeface="굴림체" panose="020B0609000101010101" pitchFamily="49" charset="-127"/>
              </a:rPr>
              <a:t>(</a:t>
            </a:r>
            <a:r>
              <a:rPr lang="en-US" altLang="ko-KR" sz="1200" dirty="0" err="1">
                <a:latin typeface="굴림체" panose="020B0609000101010101" pitchFamily="49" charset="-127"/>
                <a:ea typeface="굴림체" panose="020B0609000101010101" pitchFamily="49" charset="-127"/>
              </a:rPr>
              <a:t>adj</a:t>
            </a:r>
            <a:r>
              <a:rPr lang="en-US" altLang="ko-KR" sz="1200" dirty="0">
                <a:latin typeface="굴림체" panose="020B0609000101010101" pitchFamily="49" charset="-127"/>
                <a:ea typeface="굴림체" panose="020B0609000101010101" pitchFamily="49" charset="-127"/>
              </a:rPr>
              <a:t>)  R-</a:t>
            </a:r>
            <a:r>
              <a:rPr lang="en-US" altLang="ko-KR" sz="1200" dirty="0" err="1">
                <a:latin typeface="굴림체" panose="020B0609000101010101" pitchFamily="49" charset="-127"/>
                <a:ea typeface="굴림체" panose="020B0609000101010101" pitchFamily="49" charset="-127"/>
              </a:rPr>
              <a:t>sq</a:t>
            </a:r>
            <a:r>
              <a:rPr lang="en-US" altLang="ko-KR" sz="1200" dirty="0">
                <a:latin typeface="굴림체" panose="020B0609000101010101" pitchFamily="49" charset="-127"/>
                <a:ea typeface="굴림체" panose="020B0609000101010101" pitchFamily="49" charset="-127"/>
              </a:rPr>
              <a:t>(</a:t>
            </a:r>
            <a:r>
              <a:rPr lang="en-US" altLang="ko-KR" sz="1200" dirty="0" err="1">
                <a:latin typeface="굴림체" panose="020B0609000101010101" pitchFamily="49" charset="-127"/>
                <a:ea typeface="굴림체" panose="020B0609000101010101" pitchFamily="49" charset="-127"/>
              </a:rPr>
              <a:t>pred</a:t>
            </a:r>
            <a:r>
              <a:rPr lang="en-US" altLang="ko-KR" sz="1200" dirty="0">
                <a:latin typeface="굴림체" panose="020B0609000101010101" pitchFamily="49" charset="-127"/>
                <a:ea typeface="굴림체" panose="020B0609000101010101" pitchFamily="49" charset="-127"/>
              </a:rPr>
              <a:t>)</a:t>
            </a:r>
          </a:p>
          <a:p>
            <a:r>
              <a:rPr lang="en-US" altLang="ko-KR" sz="1200" dirty="0">
                <a:latin typeface="굴림체" panose="020B0609000101010101" pitchFamily="49" charset="-127"/>
                <a:ea typeface="굴림체" panose="020B0609000101010101" pitchFamily="49" charset="-127"/>
              </a:rPr>
              <a:t>0.239540  71.43%     70.94%      69.82%</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Coefficients</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Term          </a:t>
            </a:r>
            <a:r>
              <a:rPr lang="en-US" altLang="ko-KR" sz="1200" dirty="0" err="1">
                <a:latin typeface="굴림체" panose="020B0609000101010101" pitchFamily="49" charset="-127"/>
                <a:ea typeface="굴림체" panose="020B0609000101010101" pitchFamily="49" charset="-127"/>
              </a:rPr>
              <a:t>Coef</a:t>
            </a:r>
            <a:r>
              <a:rPr lang="en-US" altLang="ko-KR" sz="1200" dirty="0">
                <a:latin typeface="굴림체" panose="020B0609000101010101" pitchFamily="49" charset="-127"/>
                <a:ea typeface="굴림체" panose="020B0609000101010101" pitchFamily="49" charset="-127"/>
              </a:rPr>
              <a:t>  SE </a:t>
            </a:r>
            <a:r>
              <a:rPr lang="en-US" altLang="ko-KR" sz="1200" dirty="0" err="1">
                <a:latin typeface="굴림체" panose="020B0609000101010101" pitchFamily="49" charset="-127"/>
                <a:ea typeface="굴림체" panose="020B0609000101010101" pitchFamily="49" charset="-127"/>
              </a:rPr>
              <a:t>Coef</a:t>
            </a:r>
            <a:r>
              <a:rPr lang="en-US" altLang="ko-KR" sz="1200" dirty="0">
                <a:latin typeface="굴림체" panose="020B0609000101010101" pitchFamily="49" charset="-127"/>
                <a:ea typeface="굴림체" panose="020B0609000101010101" pitchFamily="49" charset="-127"/>
              </a:rPr>
              <a:t>  T-Value  P-Value   VIF</a:t>
            </a:r>
          </a:p>
          <a:p>
            <a:r>
              <a:rPr lang="fr-FR" altLang="ko-KR" sz="1200" dirty="0">
                <a:latin typeface="굴림체" panose="020B0609000101010101" pitchFamily="49" charset="-127"/>
                <a:ea typeface="굴림체" panose="020B0609000101010101" pitchFamily="49" charset="-127"/>
              </a:rPr>
              <a:t>Constant    0.7367   0.0725    10.16    0.000</a:t>
            </a:r>
          </a:p>
          <a:p>
            <a:r>
              <a:rPr lang="en-US" altLang="ko-KR" sz="1200" dirty="0">
                <a:latin typeface="굴림체" panose="020B0609000101010101" pitchFamily="49" charset="-127"/>
                <a:ea typeface="굴림체" panose="020B0609000101010101" pitchFamily="49" charset="-127"/>
              </a:rPr>
              <a:t>Reference  -0.1317   0.0109   -12.04    0.000  1.00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Regression Equation</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Bias = 0.7367 - 0.1317 Reference</a:t>
            </a:r>
          </a:p>
        </p:txBody>
      </p:sp>
      <p:sp>
        <p:nvSpPr>
          <p:cNvPr id="9" name="직사각형 8"/>
          <p:cNvSpPr/>
          <p:nvPr/>
        </p:nvSpPr>
        <p:spPr>
          <a:xfrm>
            <a:off x="611560" y="5013176"/>
            <a:ext cx="4824536" cy="72008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0" name="TextBox 9"/>
          <p:cNvSpPr txBox="1"/>
          <p:nvPr/>
        </p:nvSpPr>
        <p:spPr>
          <a:xfrm>
            <a:off x="5580112" y="5085184"/>
            <a:ext cx="1978619" cy="523220"/>
          </a:xfrm>
          <a:prstGeom prst="rect">
            <a:avLst/>
          </a:prstGeom>
          <a:noFill/>
        </p:spPr>
        <p:txBody>
          <a:bodyPr wrap="none" rtlCol="0">
            <a:spAutoFit/>
          </a:bodyPr>
          <a:lstStyle/>
          <a:p>
            <a:r>
              <a:rPr lang="en-US" altLang="ko-KR" sz="1400" dirty="0" err="1"/>
              <a:t>Kiểm</a:t>
            </a:r>
            <a:r>
              <a:rPr lang="en-US" altLang="ko-KR" sz="1400" dirty="0"/>
              <a:t> </a:t>
            </a:r>
            <a:r>
              <a:rPr lang="en-US" altLang="ko-KR" sz="1400" dirty="0" err="1"/>
              <a:t>tra</a:t>
            </a:r>
            <a:r>
              <a:rPr lang="en-US" altLang="ko-KR" sz="1400" dirty="0"/>
              <a:t> Gage R&amp;R </a:t>
            </a:r>
          </a:p>
          <a:p>
            <a:r>
              <a:rPr lang="en-US" altLang="ko-KR" sz="1400" dirty="0"/>
              <a:t>Linearity &amp; Bias Study</a:t>
            </a:r>
            <a:endParaRPr lang="ko-KR" altLang="en-US" sz="1400" dirty="0"/>
          </a:p>
        </p:txBody>
      </p:sp>
      <p:sp>
        <p:nvSpPr>
          <p:cNvPr id="11" name="TextBox 10"/>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12"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130</a:t>
            </a:fld>
            <a:endParaRPr lang="ko-KR" altLang="en-US" dirty="0"/>
          </a:p>
        </p:txBody>
      </p:sp>
    </p:spTree>
    <p:extLst>
      <p:ext uri="{BB962C8B-B14F-4D97-AF65-F5344CB8AC3E}">
        <p14:creationId xmlns:p14="http://schemas.microsoft.com/office/powerpoint/2010/main" val="365821322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08793" cy="492443"/>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vi-VN" altLang="ko-KR" sz="1400" b="1" kern="0" dirty="0">
                <a:solidFill>
                  <a:sysClr val="windowText" lastClr="000000"/>
                </a:solidFill>
                <a:latin typeface="맑은 고딕" pitchFamily="50" charset="-127"/>
                <a:ea typeface="맑은 고딕" pitchFamily="50" charset="-127"/>
              </a:rPr>
              <a:t>độ tuyến 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lệch</a:t>
            </a:r>
            <a:r>
              <a:rPr lang="en-US" altLang="ko-KR" sz="1400" b="1" kern="0" dirty="0">
                <a:solidFill>
                  <a:sysClr val="windowText" lastClr="000000"/>
                </a:solidFill>
                <a:latin typeface="맑은 고딕" pitchFamily="50" charset="-127"/>
                <a:ea typeface="맑은 고딕" pitchFamily="50" charset="-127"/>
              </a:rPr>
              <a:t> </a:t>
            </a:r>
            <a:r>
              <a:rPr lang="en-US" altLang="ko-KR" sz="1200" b="1" kern="0" dirty="0">
                <a:solidFill>
                  <a:sysClr val="windowText" lastClr="000000"/>
                </a:solidFill>
                <a:latin typeface="맑은 고딕" pitchFamily="50" charset="-127"/>
                <a:ea typeface="맑은 고딕" pitchFamily="50" charset="-127"/>
              </a:rPr>
              <a:t>(</a:t>
            </a:r>
            <a:r>
              <a:rPr lang="en-US" altLang="ko-KR" sz="1200" b="1" kern="0" dirty="0" err="1">
                <a:solidFill>
                  <a:sysClr val="windowText" lastClr="000000"/>
                </a:solidFill>
                <a:latin typeface="맑은 고딕" pitchFamily="50" charset="-127"/>
                <a:ea typeface="맑은 고딕" pitchFamily="50" charset="-127"/>
              </a:rPr>
              <a:t>trường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hợp</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giả</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định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lượng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biến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động</a:t>
            </a:r>
            <a:r>
              <a:rPr lang="en-US" altLang="ko-KR" sz="1200" b="1" kern="0" dirty="0">
                <a:solidFill>
                  <a:sysClr val="windowText" lastClr="000000"/>
                </a:solidFill>
                <a:latin typeface="맑은 고딕" pitchFamily="50" charset="-127"/>
                <a:ea typeface="맑은 고딕" pitchFamily="50" charset="-127"/>
              </a:rPr>
              <a:t> process 6σTotal </a:t>
            </a:r>
            <a:r>
              <a:rPr lang="en-US" altLang="ko-KR" sz="1200" b="1" kern="0" dirty="0" err="1">
                <a:solidFill>
                  <a:sysClr val="windowText" lastClr="000000"/>
                </a:solidFill>
                <a:latin typeface="맑은 고딕" pitchFamily="50" charset="-127"/>
                <a:ea typeface="맑은 고딕" pitchFamily="50" charset="-127"/>
              </a:rPr>
              <a:t>và</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phân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tích</a:t>
            </a:r>
            <a:r>
              <a:rPr lang="en-US" altLang="ko-KR" sz="1200" b="1" kern="0" dirty="0">
                <a:solidFill>
                  <a:sysClr val="windowText" lastClr="000000"/>
                </a:solidFill>
                <a:latin typeface="맑은 고딕" pitchFamily="50" charset="-127"/>
                <a:ea typeface="맑은 고딕" pitchFamily="50" charset="-127"/>
              </a:rPr>
              <a:t>)  </a:t>
            </a:r>
            <a:r>
              <a:rPr lang="ko-KR" altLang="en-US" sz="12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TextBox 2"/>
          <p:cNvSpPr txBox="1"/>
          <p:nvPr/>
        </p:nvSpPr>
        <p:spPr>
          <a:xfrm>
            <a:off x="179512" y="148570"/>
            <a:ext cx="4146776"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en-US" altLang="ko-KR" sz="2000" b="1" dirty="0"/>
              <a:t> </a:t>
            </a:r>
            <a:r>
              <a:rPr lang="ko-KR" altLang="en-US" sz="2000" b="1" dirty="0"/>
              <a:t> </a:t>
            </a:r>
          </a:p>
        </p:txBody>
      </p:sp>
      <p:sp>
        <p:nvSpPr>
          <p:cNvPr id="4" name="TextBox 3"/>
          <p:cNvSpPr txBox="1"/>
          <p:nvPr/>
        </p:nvSpPr>
        <p:spPr>
          <a:xfrm>
            <a:off x="683568" y="1340768"/>
            <a:ext cx="8331512" cy="992579"/>
          </a:xfrm>
          <a:prstGeom prst="rect">
            <a:avLst/>
          </a:prstGeom>
          <a:noFill/>
        </p:spPr>
        <p:txBody>
          <a:bodyPr wrap="none" rtlCol="0">
            <a:spAutoFit/>
          </a:bodyPr>
          <a:lstStyle/>
          <a:p>
            <a:pPr>
              <a:lnSpc>
                <a:spcPct val="150000"/>
              </a:lnSpc>
            </a:pPr>
            <a:r>
              <a:rPr lang="en-US" altLang="ko-KR" sz="1300" dirty="0" err="1"/>
              <a:t>Trong</a:t>
            </a:r>
            <a:r>
              <a:rPr lang="en-US" altLang="ko-KR" sz="1300" dirty="0"/>
              <a:t> AIAG(2010)</a:t>
            </a:r>
            <a:r>
              <a:rPr lang="ko-KR" altLang="en-US" sz="1300" dirty="0"/>
              <a:t> </a:t>
            </a:r>
            <a:r>
              <a:rPr lang="en-US" altLang="ko-KR" sz="1300" dirty="0" err="1"/>
              <a:t>đánh</a:t>
            </a:r>
            <a:r>
              <a:rPr lang="en-US" altLang="ko-KR" sz="1300" dirty="0"/>
              <a:t> </a:t>
            </a:r>
            <a:r>
              <a:rPr lang="en-US" altLang="ko-KR" sz="1300" dirty="0" err="1"/>
              <a:t>giá</a:t>
            </a:r>
            <a:r>
              <a:rPr lang="en-US" altLang="ko-KR" sz="1300" dirty="0"/>
              <a:t> OK/NG </a:t>
            </a:r>
            <a:r>
              <a:rPr lang="en-US" altLang="ko-KR" sz="1300" dirty="0" err="1"/>
              <a:t>không</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chỉ</a:t>
            </a:r>
            <a:r>
              <a:rPr lang="en-US" altLang="ko-KR" sz="1300" dirty="0"/>
              <a:t> </a:t>
            </a:r>
            <a:r>
              <a:rPr lang="en-US" altLang="ko-KR" sz="1300" dirty="0" err="1"/>
              <a:t>tiêu</a:t>
            </a:r>
            <a:r>
              <a:rPr lang="en-US" altLang="ko-KR" sz="1300" dirty="0"/>
              <a:t> %</a:t>
            </a:r>
            <a:r>
              <a:rPr lang="vi-VN" altLang="ko-KR" sz="1300" dirty="0"/>
              <a:t>độ tuyến tính</a:t>
            </a:r>
            <a:r>
              <a:rPr lang="en-US" altLang="ko-KR" sz="1300" dirty="0"/>
              <a:t>, </a:t>
            </a:r>
            <a:r>
              <a:rPr lang="en-US" altLang="ko-KR" sz="1300" dirty="0" err="1"/>
              <a:t>nắm</a:t>
            </a:r>
            <a:r>
              <a:rPr lang="en-US" altLang="ko-KR" sz="1300" dirty="0"/>
              <a:t> </a:t>
            </a:r>
            <a:r>
              <a:rPr lang="en-US" altLang="ko-KR" sz="1300" dirty="0" err="1"/>
              <a:t>bắt</a:t>
            </a:r>
            <a:r>
              <a:rPr lang="en-US" altLang="ko-KR" sz="1300" dirty="0"/>
              <a:t> </a:t>
            </a:r>
            <a:r>
              <a:rPr lang="en-US" altLang="ko-KR" sz="1300" dirty="0" err="1"/>
              <a:t>lượng</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a:t>
            </a:r>
          </a:p>
          <a:p>
            <a:pPr>
              <a:lnSpc>
                <a:spcPct val="150000"/>
              </a:lnSpc>
            </a:pPr>
            <a:r>
              <a:rPr lang="en-US" altLang="ko-KR" sz="1300" dirty="0"/>
              <a:t>process</a:t>
            </a:r>
            <a:r>
              <a:rPr lang="ko-KR" altLang="en-US" sz="1300" dirty="0"/>
              <a:t> </a:t>
            </a:r>
            <a:r>
              <a:rPr lang="en-US" altLang="ko-KR" sz="1300" dirty="0"/>
              <a:t>(6σtotal) </a:t>
            </a:r>
            <a:r>
              <a:rPr lang="en-US" altLang="ko-KR" sz="1300" dirty="0" err="1"/>
              <a:t>và</a:t>
            </a:r>
            <a:r>
              <a:rPr lang="en-US" altLang="ko-KR" sz="1300" dirty="0"/>
              <a:t> </a:t>
            </a:r>
            <a:r>
              <a:rPr lang="en-US" altLang="ko-KR" sz="1300" dirty="0" err="1"/>
              <a:t>phân</a:t>
            </a:r>
            <a:r>
              <a:rPr lang="en-US" altLang="ko-KR" sz="1300" dirty="0"/>
              <a:t> </a:t>
            </a:r>
            <a:r>
              <a:rPr lang="en-US" altLang="ko-KR" sz="1300" dirty="0" err="1"/>
              <a:t>tích</a:t>
            </a:r>
            <a:r>
              <a:rPr lang="en-US" altLang="ko-KR" sz="1300" dirty="0"/>
              <a:t> </a:t>
            </a:r>
            <a:r>
              <a:rPr lang="vi-VN" altLang="ko-KR" sz="1300" dirty="0"/>
              <a:t>độ tuyến tính</a:t>
            </a:r>
            <a:r>
              <a:rPr lang="en-US" altLang="ko-KR" sz="1300" dirty="0"/>
              <a:t> </a:t>
            </a:r>
            <a:r>
              <a:rPr lang="en-US" altLang="ko-KR" sz="1300" dirty="0" err="1"/>
              <a:t>là</a:t>
            </a:r>
            <a:r>
              <a:rPr lang="en-US" altLang="ko-KR" sz="1300" dirty="0"/>
              <a:t> </a:t>
            </a:r>
            <a:r>
              <a:rPr lang="en-US" altLang="ko-KR" sz="1300" dirty="0" err="1"/>
              <a:t>không</a:t>
            </a:r>
            <a:r>
              <a:rPr lang="en-US" altLang="ko-KR" sz="1300" dirty="0"/>
              <a:t> </a:t>
            </a:r>
            <a:r>
              <a:rPr lang="en-US" altLang="ko-KR" sz="1300" dirty="0" err="1"/>
              <a:t>cần</a:t>
            </a:r>
            <a:r>
              <a:rPr lang="en-US" altLang="ko-KR" sz="1300" dirty="0"/>
              <a:t> </a:t>
            </a:r>
            <a:r>
              <a:rPr lang="en-US" altLang="ko-KR" sz="1300" dirty="0" err="1"/>
              <a:t>thiết</a:t>
            </a:r>
            <a:r>
              <a:rPr lang="en-US" altLang="ko-KR" sz="1300" dirty="0"/>
              <a:t>. </a:t>
            </a:r>
            <a:r>
              <a:rPr lang="en-US" altLang="ko-KR" sz="1300" dirty="0" err="1"/>
              <a:t>Nhưng</a:t>
            </a:r>
            <a:r>
              <a:rPr lang="en-US" altLang="ko-KR" sz="1300" dirty="0"/>
              <a:t> </a:t>
            </a:r>
            <a:r>
              <a:rPr lang="en-US" altLang="ko-KR" sz="1300" dirty="0" err="1"/>
              <a:t>nếu</a:t>
            </a:r>
            <a:r>
              <a:rPr lang="en-US" altLang="ko-KR" sz="1300" dirty="0"/>
              <a:t> </a:t>
            </a:r>
            <a:r>
              <a:rPr lang="en-US" altLang="ko-KR" sz="1300" dirty="0" err="1"/>
              <a:t>muốn</a:t>
            </a:r>
            <a:r>
              <a:rPr lang="en-US" altLang="ko-KR" sz="1300" dirty="0"/>
              <a:t> </a:t>
            </a:r>
            <a:r>
              <a:rPr lang="en-US" altLang="ko-KR" sz="1300" dirty="0" err="1"/>
              <a:t>tính</a:t>
            </a:r>
            <a:r>
              <a:rPr lang="en-US" altLang="ko-KR" sz="1300" dirty="0"/>
              <a:t> </a:t>
            </a:r>
            <a:r>
              <a:rPr lang="en-US" altLang="ko-KR" sz="1300" dirty="0" err="1"/>
              <a:t>toán</a:t>
            </a:r>
            <a:r>
              <a:rPr lang="en-US" altLang="ko-KR" sz="1300" dirty="0"/>
              <a:t> %</a:t>
            </a:r>
            <a:r>
              <a:rPr lang="en-US" altLang="ko-KR" sz="1300" dirty="0" err="1"/>
              <a:t>tính</a:t>
            </a:r>
            <a:r>
              <a:rPr lang="en-US" altLang="ko-KR" sz="1300" dirty="0"/>
              <a:t> </a:t>
            </a:r>
            <a:r>
              <a:rPr lang="en-US" altLang="ko-KR" sz="1300" dirty="0" err="1"/>
              <a:t>tuyến</a:t>
            </a:r>
            <a:r>
              <a:rPr lang="en-US" altLang="ko-KR" sz="1300" dirty="0"/>
              <a:t> </a:t>
            </a:r>
          </a:p>
          <a:p>
            <a:pPr>
              <a:lnSpc>
                <a:spcPct val="150000"/>
              </a:lnSpc>
            </a:pPr>
            <a:r>
              <a:rPr lang="en-US" altLang="ko-KR" sz="1300" dirty="0" err="1"/>
              <a:t>tính</a:t>
            </a:r>
            <a:r>
              <a:rPr lang="en-US" altLang="ko-KR" sz="1300" dirty="0"/>
              <a:t> </a:t>
            </a:r>
            <a:r>
              <a:rPr lang="en-US" altLang="ko-KR" sz="1300" dirty="0" err="1"/>
              <a:t>phải</a:t>
            </a:r>
            <a:r>
              <a:rPr lang="en-US" altLang="ko-KR" sz="1300" dirty="0"/>
              <a:t> </a:t>
            </a:r>
            <a:r>
              <a:rPr lang="en-US" altLang="ko-KR" sz="1300" dirty="0" err="1"/>
              <a:t>giả</a:t>
            </a:r>
            <a:r>
              <a:rPr lang="en-US" altLang="ko-KR" sz="1300" dirty="0"/>
              <a:t> </a:t>
            </a:r>
            <a:r>
              <a:rPr lang="en-US" altLang="ko-KR" sz="1300" dirty="0" err="1"/>
              <a:t>định</a:t>
            </a:r>
            <a:r>
              <a:rPr lang="en-US" altLang="ko-KR" sz="1300" dirty="0"/>
              <a:t> </a:t>
            </a:r>
            <a:r>
              <a:rPr lang="en-US" altLang="ko-KR" sz="1300" dirty="0" err="1"/>
              <a:t>lượng</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process. </a:t>
            </a:r>
            <a:r>
              <a:rPr lang="en-US" altLang="ko-KR" sz="1300" dirty="0" err="1"/>
              <a:t>Có</a:t>
            </a:r>
            <a:r>
              <a:rPr lang="en-US" altLang="ko-KR" sz="1300" dirty="0"/>
              <a:t> </a:t>
            </a:r>
            <a:r>
              <a:rPr lang="en-US" altLang="ko-KR" sz="1300" dirty="0" err="1"/>
              <a:t>hai</a:t>
            </a:r>
            <a:r>
              <a:rPr lang="en-US" altLang="ko-KR" sz="1300" dirty="0"/>
              <a:t> </a:t>
            </a:r>
            <a:r>
              <a:rPr lang="en-US" altLang="ko-KR" sz="1300" dirty="0" err="1"/>
              <a:t>phương</a:t>
            </a:r>
            <a:r>
              <a:rPr lang="en-US" altLang="ko-KR" sz="1300" dirty="0"/>
              <a:t> </a:t>
            </a:r>
            <a:r>
              <a:rPr lang="en-US" altLang="ko-KR" sz="1300" dirty="0" err="1"/>
              <a:t>pháp</a:t>
            </a:r>
            <a:r>
              <a:rPr lang="en-US" altLang="ko-KR" sz="1300" dirty="0"/>
              <a:t> </a:t>
            </a:r>
            <a:r>
              <a:rPr lang="en-US" altLang="ko-KR" sz="1300" dirty="0" err="1"/>
              <a:t>giả</a:t>
            </a:r>
            <a:r>
              <a:rPr lang="en-US" altLang="ko-KR" sz="1300" dirty="0"/>
              <a:t> </a:t>
            </a:r>
            <a:r>
              <a:rPr lang="en-US" altLang="ko-KR" sz="1300" dirty="0" err="1"/>
              <a:t>định</a:t>
            </a:r>
            <a:r>
              <a:rPr lang="en-US" altLang="ko-KR" sz="1300" dirty="0"/>
              <a:t> </a:t>
            </a:r>
            <a:r>
              <a:rPr lang="en-US" altLang="ko-KR" sz="1300" dirty="0" err="1"/>
              <a:t>lượng</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process </a:t>
            </a:r>
          </a:p>
        </p:txBody>
      </p:sp>
      <p:sp>
        <p:nvSpPr>
          <p:cNvPr id="5" name="TextBox 4"/>
          <p:cNvSpPr txBox="1"/>
          <p:nvPr/>
        </p:nvSpPr>
        <p:spPr>
          <a:xfrm>
            <a:off x="986283" y="3064604"/>
            <a:ext cx="7491153" cy="392415"/>
          </a:xfrm>
          <a:prstGeom prst="rect">
            <a:avLst/>
          </a:prstGeom>
          <a:noFill/>
        </p:spPr>
        <p:txBody>
          <a:bodyPr wrap="none" rtlCol="0">
            <a:spAutoFit/>
          </a:bodyPr>
          <a:lstStyle/>
          <a:p>
            <a:pPr>
              <a:lnSpc>
                <a:spcPct val="150000"/>
              </a:lnSpc>
            </a:pPr>
            <a:r>
              <a:rPr lang="en-US" altLang="ko-KR" sz="1300" dirty="0"/>
              <a:t>1.  </a:t>
            </a:r>
            <a:r>
              <a:rPr lang="en-US" altLang="ko-KR" sz="1300" dirty="0" err="1"/>
              <a:t>Phân</a:t>
            </a:r>
            <a:r>
              <a:rPr lang="en-US" altLang="ko-KR" sz="1300" dirty="0"/>
              <a:t> </a:t>
            </a:r>
            <a:r>
              <a:rPr lang="en-US" altLang="ko-KR" sz="1300" dirty="0" err="1"/>
              <a:t>tích</a:t>
            </a:r>
            <a:r>
              <a:rPr lang="en-US" altLang="ko-KR" sz="1300" dirty="0"/>
              <a:t> </a:t>
            </a:r>
            <a:r>
              <a:rPr lang="en-US" altLang="ko-KR" sz="1300" dirty="0" err="1"/>
              <a:t>dữ</a:t>
            </a:r>
            <a:r>
              <a:rPr lang="en-US" altLang="ko-KR" sz="1300" dirty="0"/>
              <a:t> </a:t>
            </a:r>
            <a:r>
              <a:rPr lang="en-US" altLang="ko-KR" sz="1300" dirty="0" err="1"/>
              <a:t>liệu</a:t>
            </a:r>
            <a:r>
              <a:rPr lang="en-US" altLang="ko-KR" sz="1300" dirty="0"/>
              <a:t> process </a:t>
            </a:r>
            <a:r>
              <a:rPr lang="en-US" altLang="ko-KR" sz="1300" dirty="0" err="1"/>
              <a:t>quá</a:t>
            </a:r>
            <a:r>
              <a:rPr lang="en-US" altLang="ko-KR" sz="1300" dirty="0"/>
              <a:t> </a:t>
            </a:r>
            <a:r>
              <a:rPr lang="en-US" altLang="ko-KR" sz="1300" dirty="0" err="1"/>
              <a:t>khứ</a:t>
            </a:r>
            <a:r>
              <a:rPr lang="en-US" altLang="ko-KR" sz="1300" dirty="0"/>
              <a:t> </a:t>
            </a:r>
            <a:r>
              <a:rPr lang="en-US" altLang="ko-KR" sz="1300" dirty="0" err="1"/>
              <a:t>tìm</a:t>
            </a:r>
            <a:r>
              <a:rPr lang="en-US" altLang="ko-KR" sz="1300" dirty="0"/>
              <a:t> </a:t>
            </a:r>
            <a:r>
              <a:rPr lang="en-US" altLang="ko-KR" sz="1300" dirty="0" err="1"/>
              <a:t>độ</a:t>
            </a:r>
            <a:r>
              <a:rPr lang="en-US" altLang="ko-KR" sz="1300" dirty="0"/>
              <a:t> </a:t>
            </a:r>
            <a:r>
              <a:rPr lang="en-US" altLang="ko-KR" sz="1300" dirty="0" err="1"/>
              <a:t>lệch</a:t>
            </a:r>
            <a:r>
              <a:rPr lang="en-US" altLang="ko-KR" sz="1300" dirty="0"/>
              <a:t>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của</a:t>
            </a:r>
            <a:r>
              <a:rPr lang="en-US" altLang="ko-KR" sz="1300" dirty="0"/>
              <a:t> process </a:t>
            </a:r>
            <a:r>
              <a:rPr lang="en-US" altLang="ko-KR" sz="1300" dirty="0" err="1"/>
              <a:t>σ</a:t>
            </a:r>
            <a:r>
              <a:rPr lang="en-US" altLang="ko-KR" sz="800" dirty="0" err="1"/>
              <a:t>historical</a:t>
            </a:r>
            <a:r>
              <a:rPr lang="en-US" altLang="ko-KR" sz="800" dirty="0"/>
              <a:t>  </a:t>
            </a:r>
            <a:r>
              <a:rPr lang="en-US" altLang="ko-KR" sz="1300" dirty="0" err="1"/>
              <a:t>và</a:t>
            </a:r>
            <a:r>
              <a:rPr lang="en-US" altLang="ko-KR" sz="1300" dirty="0"/>
              <a:t> </a:t>
            </a:r>
            <a:r>
              <a:rPr lang="en-US" altLang="ko-KR" sz="1300" dirty="0" err="1"/>
              <a:t>nhân</a:t>
            </a:r>
            <a:r>
              <a:rPr lang="en-US" altLang="ko-KR" sz="1300" dirty="0"/>
              <a:t> </a:t>
            </a:r>
            <a:r>
              <a:rPr lang="en-US" altLang="ko-KR" sz="1300" dirty="0" err="1"/>
              <a:t>với</a:t>
            </a:r>
            <a:r>
              <a:rPr lang="en-US" altLang="ko-KR" sz="1300" dirty="0"/>
              <a:t> 6</a:t>
            </a:r>
            <a:endParaRPr lang="ko-KR" altLang="en-US" sz="1300" dirty="0"/>
          </a:p>
        </p:txBody>
      </p:sp>
      <p:sp>
        <p:nvSpPr>
          <p:cNvPr id="6" name="TextBox 5"/>
          <p:cNvSpPr txBox="1"/>
          <p:nvPr/>
        </p:nvSpPr>
        <p:spPr>
          <a:xfrm>
            <a:off x="971600" y="3424644"/>
            <a:ext cx="7924029" cy="1015663"/>
          </a:xfrm>
          <a:prstGeom prst="rect">
            <a:avLst/>
          </a:prstGeom>
          <a:noFill/>
        </p:spPr>
        <p:txBody>
          <a:bodyPr wrap="none" rtlCol="0">
            <a:spAutoFit/>
          </a:bodyPr>
          <a:lstStyle/>
          <a:p>
            <a:pPr>
              <a:lnSpc>
                <a:spcPct val="150000"/>
              </a:lnSpc>
            </a:pPr>
            <a:r>
              <a:rPr lang="en-US" altLang="ko-KR" sz="1300" dirty="0"/>
              <a:t>2.  </a:t>
            </a:r>
            <a:r>
              <a:rPr lang="en-US" altLang="ko-KR" sz="1300" dirty="0" err="1"/>
              <a:t>Tiến</a:t>
            </a:r>
            <a:r>
              <a:rPr lang="en-US" altLang="ko-KR" sz="1300" dirty="0"/>
              <a:t> </a:t>
            </a:r>
            <a:r>
              <a:rPr lang="en-US" altLang="ko-KR" sz="1300" dirty="0" err="1"/>
              <a:t>hành</a:t>
            </a:r>
            <a:r>
              <a:rPr lang="en-US" altLang="ko-KR" sz="1300" dirty="0"/>
              <a:t> Gage R&amp;R</a:t>
            </a:r>
            <a:r>
              <a:rPr lang="ko-KR" altLang="en-US" sz="1300" dirty="0"/>
              <a:t> </a:t>
            </a:r>
            <a:r>
              <a:rPr lang="en-US" altLang="ko-KR" sz="1300" dirty="0"/>
              <a:t>Study </a:t>
            </a:r>
            <a:r>
              <a:rPr lang="en-US" altLang="ko-KR" sz="1300" dirty="0" err="1"/>
              <a:t>tìm</a:t>
            </a:r>
            <a:r>
              <a:rPr lang="en-US" altLang="ko-KR" sz="1300" dirty="0"/>
              <a:t> </a:t>
            </a:r>
            <a:r>
              <a:rPr lang="en-US" altLang="ko-KR" sz="1300" dirty="0" err="1"/>
              <a:t>và</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lượng</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process \6</a:t>
            </a:r>
            <a:r>
              <a:rPr lang="en-US" altLang="ko-KR" sz="1400" dirty="0"/>
              <a:t>σ</a:t>
            </a:r>
            <a:r>
              <a:rPr lang="en-US" altLang="ko-KR" sz="800" dirty="0"/>
              <a:t>tota</a:t>
            </a:r>
            <a:r>
              <a:rPr lang="en-US" altLang="ko-KR" sz="1300" dirty="0"/>
              <a:t>l.  </a:t>
            </a:r>
          </a:p>
          <a:p>
            <a:pPr>
              <a:lnSpc>
                <a:spcPct val="150000"/>
              </a:lnSpc>
            </a:pPr>
            <a:r>
              <a:rPr lang="en-US" altLang="ko-KR" sz="1300" dirty="0"/>
              <a:t>    </a:t>
            </a:r>
            <a:r>
              <a:rPr lang="en-US" altLang="ko-KR" sz="1300" dirty="0" err="1"/>
              <a:t>Nhưng</a:t>
            </a:r>
            <a:r>
              <a:rPr lang="en-US" altLang="ko-KR" sz="1300" dirty="0"/>
              <a:t> </a:t>
            </a:r>
            <a:r>
              <a:rPr lang="en-US" altLang="ko-KR" sz="1300" dirty="0" err="1"/>
              <a:t>trường</a:t>
            </a:r>
            <a:r>
              <a:rPr lang="en-US" altLang="ko-KR" sz="1300" dirty="0"/>
              <a:t> </a:t>
            </a:r>
            <a:r>
              <a:rPr lang="en-US" altLang="ko-KR" sz="1300" dirty="0" err="1"/>
              <a:t>hợp</a:t>
            </a:r>
            <a:r>
              <a:rPr lang="en-US" altLang="ko-KR" sz="1300" dirty="0"/>
              <a:t> </a:t>
            </a:r>
            <a:r>
              <a:rPr lang="en-US" altLang="ko-KR" sz="1300" dirty="0" err="1"/>
              <a:t>này</a:t>
            </a:r>
            <a:r>
              <a:rPr lang="en-US" altLang="ko-KR" sz="1300" dirty="0"/>
              <a:t> </a:t>
            </a:r>
            <a:r>
              <a:rPr lang="en-US" altLang="ko-KR" sz="1300" dirty="0" err="1"/>
              <a:t>phải</a:t>
            </a:r>
            <a:r>
              <a:rPr lang="en-US" altLang="ko-KR" sz="1300" dirty="0"/>
              <a:t> </a:t>
            </a:r>
            <a:r>
              <a:rPr lang="en-US" altLang="ko-KR" sz="1300" dirty="0" err="1"/>
              <a:t>lựa</a:t>
            </a:r>
            <a:r>
              <a:rPr lang="en-US" altLang="ko-KR" sz="1300" dirty="0"/>
              <a:t> </a:t>
            </a:r>
            <a:r>
              <a:rPr lang="en-US" altLang="ko-KR" sz="1300" dirty="0" err="1"/>
              <a:t>chọn</a:t>
            </a:r>
            <a:r>
              <a:rPr lang="en-US" altLang="ko-KR" sz="1300" dirty="0"/>
              <a:t> </a:t>
            </a:r>
            <a:r>
              <a:rPr lang="en-US" altLang="ko-KR" sz="1300" dirty="0" err="1"/>
              <a:t>ngẫu</a:t>
            </a:r>
            <a:r>
              <a:rPr lang="en-US" altLang="ko-KR" sz="1300" dirty="0"/>
              <a:t> </a:t>
            </a:r>
            <a:r>
              <a:rPr lang="en-US" altLang="ko-KR" sz="1300" dirty="0" err="1"/>
              <a:t>nhiên</a:t>
            </a:r>
            <a:r>
              <a:rPr lang="en-US" altLang="ko-KR" sz="1300" dirty="0"/>
              <a:t> sample </a:t>
            </a:r>
            <a:r>
              <a:rPr lang="en-US" altLang="ko-KR" sz="1300" dirty="0" err="1"/>
              <a:t>trong</a:t>
            </a:r>
            <a:r>
              <a:rPr lang="en-US" altLang="ko-KR" sz="1300" dirty="0"/>
              <a:t> process </a:t>
            </a:r>
            <a:r>
              <a:rPr lang="en-US" altLang="ko-KR" sz="1300" dirty="0" err="1"/>
              <a:t>để</a:t>
            </a:r>
            <a:r>
              <a:rPr lang="en-US" altLang="ko-KR" sz="1300" dirty="0"/>
              <a:t> </a:t>
            </a:r>
            <a:r>
              <a:rPr lang="en-US" altLang="ko-KR" sz="1300" dirty="0" err="1"/>
              <a:t>thực</a:t>
            </a:r>
            <a:r>
              <a:rPr lang="en-US" altLang="ko-KR" sz="1300" dirty="0"/>
              <a:t> </a:t>
            </a:r>
            <a:r>
              <a:rPr lang="en-US" altLang="ko-KR" sz="1300" dirty="0" err="1"/>
              <a:t>hiện</a:t>
            </a:r>
            <a:r>
              <a:rPr lang="en-US" altLang="ko-KR" sz="1300" dirty="0"/>
              <a:t> Gage R&amp;R </a:t>
            </a:r>
          </a:p>
          <a:p>
            <a:pPr>
              <a:lnSpc>
                <a:spcPct val="150000"/>
              </a:lnSpc>
            </a:pPr>
            <a:r>
              <a:rPr lang="en-US" altLang="ko-KR" sz="1300" dirty="0"/>
              <a:t>    </a:t>
            </a:r>
            <a:r>
              <a:rPr lang="en-US" altLang="ko-KR" sz="1300" dirty="0" err="1"/>
              <a:t>và</a:t>
            </a:r>
            <a:r>
              <a:rPr lang="en-US" altLang="ko-KR" sz="1300" dirty="0"/>
              <a:t> </a:t>
            </a:r>
            <a:r>
              <a:rPr lang="en-US" altLang="ko-KR" sz="1300" dirty="0" err="1"/>
              <a:t>phải</a:t>
            </a:r>
            <a:r>
              <a:rPr lang="en-US" altLang="ko-KR" sz="1300" dirty="0"/>
              <a:t> </a:t>
            </a:r>
            <a:r>
              <a:rPr lang="en-US" altLang="ko-KR" sz="1300" dirty="0" err="1"/>
              <a:t>đại</a:t>
            </a:r>
            <a:r>
              <a:rPr lang="en-US" altLang="ko-KR" sz="1300" dirty="0"/>
              <a:t> </a:t>
            </a:r>
            <a:r>
              <a:rPr lang="en-US" altLang="ko-KR" sz="1300" dirty="0" err="1"/>
              <a:t>diện</a:t>
            </a:r>
            <a:r>
              <a:rPr lang="en-US" altLang="ko-KR" sz="1300" dirty="0"/>
              <a:t> </a:t>
            </a:r>
            <a:r>
              <a:rPr lang="en-US" altLang="ko-KR" sz="1300" dirty="0" err="1"/>
              <a:t>được</a:t>
            </a:r>
            <a:r>
              <a:rPr lang="en-US" altLang="ko-KR" sz="1300" dirty="0"/>
              <a:t> </a:t>
            </a:r>
            <a:r>
              <a:rPr lang="en-US" altLang="ko-KR" sz="1300" dirty="0" err="1"/>
              <a:t>cho</a:t>
            </a:r>
            <a:r>
              <a:rPr lang="en-US" altLang="ko-KR" sz="1300" dirty="0"/>
              <a:t> </a:t>
            </a:r>
            <a:r>
              <a:rPr lang="en-US" altLang="ko-KR" sz="1300" dirty="0" err="1"/>
              <a:t>toàn</a:t>
            </a:r>
            <a:r>
              <a:rPr lang="en-US" altLang="ko-KR" sz="1300" dirty="0"/>
              <a:t> </a:t>
            </a:r>
            <a:r>
              <a:rPr lang="en-US" altLang="ko-KR" sz="1300" dirty="0" err="1"/>
              <a:t>hể</a:t>
            </a:r>
            <a:r>
              <a:rPr lang="en-US" altLang="ko-KR" sz="1300" dirty="0"/>
              <a:t> </a:t>
            </a:r>
            <a:r>
              <a:rPr lang="en-US" altLang="ko-KR" sz="1300" dirty="0" err="1"/>
              <a:t>những</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a:t>
            </a:r>
            <a:r>
              <a:rPr lang="en-US" altLang="ko-KR" sz="1300" dirty="0" err="1"/>
              <a:t>của</a:t>
            </a:r>
            <a:r>
              <a:rPr lang="en-US" altLang="ko-KR" sz="1300" dirty="0"/>
              <a:t> process</a:t>
            </a:r>
            <a:r>
              <a:rPr lang="ko-KR" altLang="en-US" sz="1300" dirty="0"/>
              <a:t> </a:t>
            </a:r>
            <a:endParaRPr lang="en-US" altLang="ko-KR" sz="1300" dirty="0"/>
          </a:p>
        </p:txBody>
      </p:sp>
      <p:sp>
        <p:nvSpPr>
          <p:cNvPr id="7" name="TextBox 6"/>
          <p:cNvSpPr txBox="1"/>
          <p:nvPr/>
        </p:nvSpPr>
        <p:spPr>
          <a:xfrm>
            <a:off x="755576" y="4720788"/>
            <a:ext cx="7992887" cy="292388"/>
          </a:xfrm>
          <a:prstGeom prst="rect">
            <a:avLst/>
          </a:prstGeom>
          <a:noFill/>
        </p:spPr>
        <p:txBody>
          <a:bodyPr wrap="square" rtlCol="0">
            <a:spAutoFit/>
          </a:bodyPr>
          <a:lstStyle/>
          <a:p>
            <a:r>
              <a:rPr lang="en-US" altLang="ko-KR" sz="1300" dirty="0" err="1"/>
              <a:t>Dùng</a:t>
            </a:r>
            <a:r>
              <a:rPr lang="en-US" altLang="ko-KR" sz="1300" dirty="0"/>
              <a:t> </a:t>
            </a:r>
            <a:r>
              <a:rPr lang="en-US" altLang="ko-KR" sz="1300" dirty="0" err="1"/>
              <a:t>ví</a:t>
            </a:r>
            <a:r>
              <a:rPr lang="en-US" altLang="ko-KR" sz="1300" dirty="0"/>
              <a:t> </a:t>
            </a:r>
            <a:r>
              <a:rPr lang="en-US" altLang="ko-KR" sz="1300" dirty="0" err="1"/>
              <a:t>dụ</a:t>
            </a:r>
            <a:r>
              <a:rPr lang="en-US" altLang="ko-KR" sz="1300" dirty="0"/>
              <a:t> </a:t>
            </a:r>
            <a:r>
              <a:rPr lang="en-US" altLang="ko-KR" sz="1300" dirty="0" err="1"/>
              <a:t>bên</a:t>
            </a:r>
            <a:r>
              <a:rPr lang="en-US" altLang="ko-KR" sz="1300" dirty="0"/>
              <a:t> </a:t>
            </a:r>
            <a:r>
              <a:rPr lang="en-US" altLang="ko-KR" sz="1300" dirty="0" err="1"/>
              <a:t>trên</a:t>
            </a:r>
            <a:r>
              <a:rPr lang="en-US" altLang="ko-KR" sz="1300" dirty="0"/>
              <a:t> </a:t>
            </a:r>
            <a:r>
              <a:rPr lang="en-US" altLang="ko-KR" sz="1300" dirty="0" err="1"/>
              <a:t>để</a:t>
            </a:r>
            <a:r>
              <a:rPr lang="en-US" altLang="ko-KR" sz="1300" dirty="0"/>
              <a:t> </a:t>
            </a:r>
            <a:r>
              <a:rPr lang="en-US" altLang="ko-KR" sz="1300" dirty="0" err="1"/>
              <a:t>dự</a:t>
            </a:r>
            <a:r>
              <a:rPr lang="en-US" altLang="ko-KR" sz="1300" dirty="0"/>
              <a:t> </a:t>
            </a:r>
            <a:r>
              <a:rPr lang="en-US" altLang="ko-KR" sz="1300" dirty="0" err="1"/>
              <a:t>tính</a:t>
            </a:r>
            <a:r>
              <a:rPr lang="en-US" altLang="ko-KR" sz="1300" dirty="0"/>
              <a:t>/</a:t>
            </a:r>
            <a:r>
              <a:rPr lang="en-US" altLang="ko-KR" sz="1300" dirty="0" err="1"/>
              <a:t>ước</a:t>
            </a:r>
            <a:r>
              <a:rPr lang="en-US" altLang="ko-KR" sz="1300" dirty="0"/>
              <a:t> </a:t>
            </a:r>
            <a:r>
              <a:rPr lang="en-US" altLang="ko-KR" sz="1300" dirty="0" err="1"/>
              <a:t>tính</a:t>
            </a:r>
            <a:r>
              <a:rPr lang="en-US" altLang="ko-KR" sz="1300" dirty="0"/>
              <a:t> </a:t>
            </a:r>
            <a:r>
              <a:rPr lang="en-US" altLang="ko-KR" sz="1300" dirty="0" err="1"/>
              <a:t>và</a:t>
            </a:r>
            <a:r>
              <a:rPr lang="en-US" altLang="ko-KR" sz="1300" dirty="0"/>
              <a:t> </a:t>
            </a:r>
            <a:r>
              <a:rPr lang="en-US" altLang="ko-KR" sz="1300" dirty="0" err="1"/>
              <a:t>phân</a:t>
            </a:r>
            <a:r>
              <a:rPr lang="en-US" altLang="ko-KR" sz="1300" dirty="0"/>
              <a:t> </a:t>
            </a:r>
            <a:r>
              <a:rPr lang="en-US" altLang="ko-KR" sz="1300" dirty="0" err="1"/>
              <a:t>tích</a:t>
            </a:r>
            <a:r>
              <a:rPr lang="en-US" altLang="ko-KR" sz="1300" dirty="0"/>
              <a:t> </a:t>
            </a:r>
            <a:r>
              <a:rPr lang="en-US" altLang="ko-KR" sz="1300" dirty="0" err="1"/>
              <a:t>lượng</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a:t>
            </a:r>
            <a:r>
              <a:rPr lang="en-US" altLang="ko-KR" sz="1300" dirty="0" err="1"/>
              <a:t>của</a:t>
            </a:r>
            <a:r>
              <a:rPr lang="en-US" altLang="ko-KR" sz="1300" dirty="0"/>
              <a:t> process</a:t>
            </a:r>
            <a:endParaRPr lang="ko-KR" altLang="en-US" sz="1300" dirty="0"/>
          </a:p>
        </p:txBody>
      </p:sp>
      <p:sp>
        <p:nvSpPr>
          <p:cNvPr id="8"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131</a:t>
            </a:fld>
            <a:endParaRPr lang="ko-KR" altLang="en-US" dirty="0"/>
          </a:p>
        </p:txBody>
      </p:sp>
    </p:spTree>
    <p:extLst>
      <p:ext uri="{BB962C8B-B14F-4D97-AF65-F5344CB8AC3E}">
        <p14:creationId xmlns:p14="http://schemas.microsoft.com/office/powerpoint/2010/main" val="8283501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Gage linearity and bias study (when estimating and analyzing 6σ total of process variation)</a:t>
            </a:r>
            <a:endParaRPr lang="en-US" altLang="ko-KR" sz="1200" b="1" kern="0" dirty="0">
              <a:solidFill>
                <a:sysClr val="windowText" lastClr="000000"/>
              </a:solidFill>
              <a:latin typeface="맑은 고딕" pitchFamily="50" charset="-127"/>
              <a:ea typeface="맑은 고딕" pitchFamily="50" charset="-127"/>
            </a:endParaRPr>
          </a:p>
        </p:txBody>
      </p:sp>
      <p:sp>
        <p:nvSpPr>
          <p:cNvPr id="3" name="TextBox 2"/>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4" name="TextBox 3"/>
          <p:cNvSpPr txBox="1"/>
          <p:nvPr/>
        </p:nvSpPr>
        <p:spPr>
          <a:xfrm>
            <a:off x="755576" y="1340768"/>
            <a:ext cx="8245975" cy="292388"/>
          </a:xfrm>
          <a:prstGeom prst="rect">
            <a:avLst/>
          </a:prstGeom>
          <a:noFill/>
        </p:spPr>
        <p:txBody>
          <a:bodyPr wrap="none" rtlCol="0">
            <a:spAutoFit/>
          </a:bodyPr>
          <a:lstStyle/>
          <a:p>
            <a:r>
              <a:rPr lang="en-US" altLang="ko-KR" sz="1300" dirty="0"/>
              <a:t>This data corresponds to Type 3 automated measurement. Gage studies are performed in a Type 3 Study.</a:t>
            </a:r>
            <a:endParaRPr lang="ko-KR" altLang="en-US" sz="1300" dirty="0"/>
          </a:p>
        </p:txBody>
      </p:sp>
      <p:pic>
        <p:nvPicPr>
          <p:cNvPr id="204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669" y="2492896"/>
            <a:ext cx="4103870" cy="2160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TextBox 6"/>
          <p:cNvSpPr txBox="1"/>
          <p:nvPr/>
        </p:nvSpPr>
        <p:spPr>
          <a:xfrm>
            <a:off x="323528" y="2132856"/>
            <a:ext cx="4662110" cy="292388"/>
          </a:xfrm>
          <a:prstGeom prst="rect">
            <a:avLst/>
          </a:prstGeom>
          <a:noFill/>
        </p:spPr>
        <p:txBody>
          <a:bodyPr wrap="none" rtlCol="0">
            <a:spAutoFit/>
          </a:bodyPr>
          <a:lstStyle/>
          <a:p>
            <a:r>
              <a:rPr lang="en-US" altLang="ko-KR" sz="1300" dirty="0"/>
              <a:t>Stat &gt; Quality Tools&gt; Gage Study &gt; Gage Study (Crossed) </a:t>
            </a:r>
            <a:endParaRPr lang="ko-KR" altLang="en-US" sz="1300" dirty="0"/>
          </a:p>
        </p:txBody>
      </p:sp>
      <p:sp>
        <p:nvSpPr>
          <p:cNvPr id="6" name="직사각형 5"/>
          <p:cNvSpPr/>
          <p:nvPr/>
        </p:nvSpPr>
        <p:spPr>
          <a:xfrm>
            <a:off x="4788024" y="2348880"/>
            <a:ext cx="4157984" cy="3231654"/>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Gage R&amp;R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%Contribution</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   (of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a:t>
            </a:r>
          </a:p>
          <a:p>
            <a:r>
              <a:rPr lang="pt-BR" altLang="ko-KR" sz="1200" dirty="0">
                <a:latin typeface="굴림체" panose="020B0609000101010101" pitchFamily="49" charset="-127"/>
                <a:ea typeface="굴림체" panose="020B0609000101010101" pitchFamily="49" charset="-127"/>
              </a:rPr>
              <a:t>Total Gage R&amp;R   0.05709           0.75</a:t>
            </a:r>
          </a:p>
          <a:p>
            <a:r>
              <a:rPr lang="en-US" altLang="ko-KR" sz="1200" dirty="0">
                <a:latin typeface="굴림체" panose="020B0609000101010101" pitchFamily="49" charset="-127"/>
                <a:ea typeface="굴림체" panose="020B0609000101010101" pitchFamily="49" charset="-127"/>
              </a:rPr>
              <a:t>  Repeatability  0.05709           0.75</a:t>
            </a:r>
          </a:p>
          <a:p>
            <a:r>
              <a:rPr lang="en-US" altLang="ko-KR" sz="1200" dirty="0">
                <a:latin typeface="굴림체" panose="020B0609000101010101" pitchFamily="49" charset="-127"/>
                <a:ea typeface="굴림체" panose="020B0609000101010101" pitchFamily="49" charset="-127"/>
              </a:rPr>
              <a:t>Part-To-Part     7.53919          99.25</a:t>
            </a:r>
          </a:p>
          <a:p>
            <a:r>
              <a:rPr lang="en-US" altLang="ko-KR" sz="1200" dirty="0">
                <a:latin typeface="굴림체" panose="020B0609000101010101" pitchFamily="49" charset="-127"/>
                <a:ea typeface="굴림체" panose="020B0609000101010101" pitchFamily="49" charset="-127"/>
              </a:rPr>
              <a:t>Total Variation  7.59628         100.00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endParaRPr lang="en-US" altLang="ko-KR" sz="1200" dirty="0">
              <a:latin typeface="굴림체" panose="020B0609000101010101" pitchFamily="49" charset="-127"/>
              <a:ea typeface="굴림체" panose="020B0609000101010101" pitchFamily="49" charset="-127"/>
            </a:endParaRPr>
          </a:p>
          <a:p>
            <a:r>
              <a:rPr lang="da-DK" altLang="ko-KR" sz="1200" dirty="0">
                <a:latin typeface="굴림체" panose="020B0609000101010101" pitchFamily="49" charset="-127"/>
                <a:ea typeface="굴림체" panose="020B0609000101010101" pitchFamily="49" charset="-127"/>
              </a:rPr>
              <a:t>Source           StdDev (SD)  (6 × SD)       (%SV)</a:t>
            </a:r>
          </a:p>
          <a:p>
            <a:r>
              <a:rPr lang="pt-BR" altLang="ko-KR" sz="1200" dirty="0">
                <a:latin typeface="굴림체" panose="020B0609000101010101" pitchFamily="49" charset="-127"/>
                <a:ea typeface="굴림체" panose="020B0609000101010101" pitchFamily="49" charset="-127"/>
              </a:rPr>
              <a:t>Total Gage R&amp;R       0.23894     1.4336        8.67</a:t>
            </a:r>
          </a:p>
          <a:p>
            <a:r>
              <a:rPr lang="en-US" altLang="ko-KR" sz="1200" dirty="0">
                <a:latin typeface="굴림체" panose="020B0609000101010101" pitchFamily="49" charset="-127"/>
                <a:ea typeface="굴림체" panose="020B0609000101010101" pitchFamily="49" charset="-127"/>
              </a:rPr>
              <a:t>  Repeatability      0.23894     1.4336        8.67</a:t>
            </a:r>
          </a:p>
          <a:p>
            <a:r>
              <a:rPr lang="en-US" altLang="ko-KR" sz="1200" dirty="0">
                <a:latin typeface="굴림체" panose="020B0609000101010101" pitchFamily="49" charset="-127"/>
                <a:ea typeface="굴림체" panose="020B0609000101010101" pitchFamily="49" charset="-127"/>
              </a:rPr>
              <a:t>Part-To-Part         2.74576    16.4745       99.62</a:t>
            </a:r>
          </a:p>
          <a:p>
            <a:r>
              <a:rPr lang="en-US" altLang="ko-KR" sz="1200" dirty="0">
                <a:latin typeface="굴림체" panose="020B0609000101010101" pitchFamily="49" charset="-127"/>
                <a:ea typeface="굴림체" panose="020B0609000101010101" pitchFamily="49" charset="-127"/>
              </a:rPr>
              <a:t>Total Variation      2.75613    16.5368      100.00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Number of Distinct Categories = 16</a:t>
            </a:r>
          </a:p>
        </p:txBody>
      </p:sp>
      <p:cxnSp>
        <p:nvCxnSpPr>
          <p:cNvPr id="11" name="직선 연결선 10"/>
          <p:cNvCxnSpPr/>
          <p:nvPr/>
        </p:nvCxnSpPr>
        <p:spPr>
          <a:xfrm>
            <a:off x="7164288" y="5157192"/>
            <a:ext cx="864096" cy="0"/>
          </a:xfrm>
          <a:prstGeom prst="line">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2428860" y="5949280"/>
            <a:ext cx="5410712" cy="369332"/>
          </a:xfrm>
          <a:prstGeom prst="rect">
            <a:avLst/>
          </a:prstGeom>
          <a:noFill/>
        </p:spPr>
        <p:txBody>
          <a:bodyPr wrap="none" rtlCol="0">
            <a:spAutoFit/>
          </a:bodyPr>
          <a:lstStyle/>
          <a:p>
            <a:r>
              <a:rPr lang="en-US" dirty="0"/>
              <a:t>"Check the total variation of the process 16.5368"</a:t>
            </a:r>
            <a:endParaRPr lang="ko-KR" altLang="en-US" dirty="0"/>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132</a:t>
            </a:fld>
            <a:endParaRPr lang="ko-KR" altLang="en-US" dirty="0"/>
          </a:p>
        </p:txBody>
      </p:sp>
    </p:spTree>
    <p:extLst>
      <p:ext uri="{BB962C8B-B14F-4D97-AF65-F5344CB8AC3E}">
        <p14:creationId xmlns:p14="http://schemas.microsoft.com/office/powerpoint/2010/main" val="231133022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Gage linearity and bias study (when estimating and analyzing 6σ total of process variation)</a:t>
            </a:r>
            <a:endParaRPr lang="en-US" altLang="ko-KR" sz="12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5" name="TextBox 4"/>
          <p:cNvSpPr txBox="1"/>
          <p:nvPr/>
        </p:nvSpPr>
        <p:spPr>
          <a:xfrm>
            <a:off x="683568" y="1412776"/>
            <a:ext cx="5297669" cy="292388"/>
          </a:xfrm>
          <a:prstGeom prst="rect">
            <a:avLst/>
          </a:prstGeom>
          <a:noFill/>
        </p:spPr>
        <p:txBody>
          <a:bodyPr wrap="none" rtlCol="0">
            <a:spAutoFit/>
          </a:bodyPr>
          <a:lstStyle/>
          <a:p>
            <a:r>
              <a:rPr lang="en-US" altLang="ko-KR" sz="1300" dirty="0"/>
              <a:t>Stat &gt; Quality Tools&gt; Gage Study &gt; Gage Linearity and Bias Study </a:t>
            </a:r>
            <a:endParaRPr lang="ko-KR" altLang="en-US" sz="1300" dirty="0"/>
          </a:p>
        </p:txBody>
      </p:sp>
      <p:pic>
        <p:nvPicPr>
          <p:cNvPr id="2150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1772816"/>
            <a:ext cx="5208007" cy="2808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133</a:t>
            </a:fld>
            <a:endParaRPr lang="ko-KR" altLang="en-US" dirty="0"/>
          </a:p>
        </p:txBody>
      </p:sp>
    </p:spTree>
    <p:extLst>
      <p:ext uri="{BB962C8B-B14F-4D97-AF65-F5344CB8AC3E}">
        <p14:creationId xmlns:p14="http://schemas.microsoft.com/office/powerpoint/2010/main" val="401138652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492443"/>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tuyến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lệch</a:t>
            </a:r>
            <a:r>
              <a:rPr lang="en-US" altLang="ko-KR" sz="1400" b="1" kern="0" dirty="0">
                <a:solidFill>
                  <a:sysClr val="windowText" lastClr="000000"/>
                </a:solidFill>
                <a:latin typeface="맑은 고딕" pitchFamily="50" charset="-127"/>
                <a:ea typeface="맑은 고딕" pitchFamily="50" charset="-127"/>
              </a:rPr>
              <a:t> </a:t>
            </a:r>
            <a:r>
              <a:rPr lang="en-US" altLang="ko-KR" sz="1200" b="1" kern="0" dirty="0">
                <a:solidFill>
                  <a:sysClr val="windowText" lastClr="000000"/>
                </a:solidFill>
                <a:latin typeface="맑은 고딕" pitchFamily="50" charset="-127"/>
                <a:ea typeface="맑은 고딕" pitchFamily="50" charset="-127"/>
              </a:rPr>
              <a:t>(</a:t>
            </a:r>
            <a:r>
              <a:rPr lang="en-US" altLang="ko-KR" sz="1200" b="1" kern="0" dirty="0" err="1">
                <a:solidFill>
                  <a:sysClr val="windowText" lastClr="000000"/>
                </a:solidFill>
                <a:latin typeface="맑은 고딕" pitchFamily="50" charset="-127"/>
                <a:ea typeface="맑은 고딕" pitchFamily="50" charset="-127"/>
              </a:rPr>
              <a:t>trường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hợp</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ước</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và</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phân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tích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lượng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biến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động</a:t>
            </a:r>
            <a:r>
              <a:rPr lang="en-US" altLang="ko-KR" sz="1200" b="1" kern="0" dirty="0">
                <a:solidFill>
                  <a:sysClr val="windowText" lastClr="000000"/>
                </a:solidFill>
                <a:latin typeface="맑은 고딕" pitchFamily="50" charset="-127"/>
                <a:ea typeface="맑은 고딕" pitchFamily="50" charset="-127"/>
              </a:rPr>
              <a:t> process 6σTotal)  </a:t>
            </a:r>
            <a:r>
              <a:rPr lang="ko-KR" altLang="en-US" sz="12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TextBox 2"/>
          <p:cNvSpPr txBox="1"/>
          <p:nvPr/>
        </p:nvSpPr>
        <p:spPr>
          <a:xfrm>
            <a:off x="179512" y="148570"/>
            <a:ext cx="3968843"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4" name="TextBox 3"/>
          <p:cNvSpPr txBox="1"/>
          <p:nvPr/>
        </p:nvSpPr>
        <p:spPr>
          <a:xfrm>
            <a:off x="755576" y="1340768"/>
            <a:ext cx="8088304" cy="292388"/>
          </a:xfrm>
          <a:prstGeom prst="rect">
            <a:avLst/>
          </a:prstGeom>
          <a:noFill/>
        </p:spPr>
        <p:txBody>
          <a:bodyPr wrap="none" rtlCol="0">
            <a:spAutoFit/>
          </a:bodyPr>
          <a:lstStyle/>
          <a:p>
            <a:r>
              <a:rPr lang="en-US" altLang="ko-KR" sz="1300" dirty="0" err="1"/>
              <a:t>Dữ</a:t>
            </a:r>
            <a:r>
              <a:rPr lang="en-US" altLang="ko-KR" sz="1300" dirty="0"/>
              <a:t> </a:t>
            </a:r>
            <a:r>
              <a:rPr lang="en-US" altLang="ko-KR" sz="1300" dirty="0" err="1"/>
              <a:t>liệu</a:t>
            </a:r>
            <a:r>
              <a:rPr lang="en-US" altLang="ko-KR" sz="1300" dirty="0"/>
              <a:t> </a:t>
            </a:r>
            <a:r>
              <a:rPr lang="en-US" altLang="ko-KR" sz="1300" dirty="0" err="1"/>
              <a:t>này</a:t>
            </a:r>
            <a:r>
              <a:rPr lang="en-US" altLang="ko-KR" sz="1300" dirty="0"/>
              <a:t> </a:t>
            </a:r>
            <a:r>
              <a:rPr lang="en-US" altLang="ko-KR" sz="1300" dirty="0" err="1"/>
              <a:t>tương</a:t>
            </a:r>
            <a:r>
              <a:rPr lang="en-US" altLang="ko-KR" sz="1300" dirty="0"/>
              <a:t> </a:t>
            </a:r>
            <a:r>
              <a:rPr lang="en-US" altLang="ko-KR" sz="1300" dirty="0" err="1"/>
              <a:t>ứng</a:t>
            </a:r>
            <a:r>
              <a:rPr lang="en-US" altLang="ko-KR" sz="1300" dirty="0"/>
              <a:t> </a:t>
            </a:r>
            <a:r>
              <a:rPr lang="en-US" altLang="ko-KR" sz="1300" dirty="0" err="1"/>
              <a:t>với</a:t>
            </a:r>
            <a:r>
              <a:rPr lang="en-US" altLang="ko-KR" sz="1300" dirty="0"/>
              <a:t>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tự</a:t>
            </a:r>
            <a:r>
              <a:rPr lang="en-US" altLang="ko-KR" sz="1300" dirty="0"/>
              <a:t> </a:t>
            </a:r>
            <a:r>
              <a:rPr lang="en-US" altLang="ko-KR" sz="1300" dirty="0" err="1"/>
              <a:t>động</a:t>
            </a:r>
            <a:r>
              <a:rPr lang="en-US" altLang="ko-KR" sz="1300" dirty="0"/>
              <a:t> </a:t>
            </a:r>
            <a:r>
              <a:rPr lang="en-US" altLang="ko-KR" sz="1300" dirty="0" err="1"/>
              <a:t>hóa</a:t>
            </a:r>
            <a:r>
              <a:rPr lang="en-US" altLang="ko-KR" sz="1300" dirty="0"/>
              <a:t> Type 3.  </a:t>
            </a:r>
            <a:r>
              <a:rPr lang="en-US" altLang="ko-KR" sz="1300" dirty="0" err="1"/>
              <a:t>Thực</a:t>
            </a:r>
            <a:r>
              <a:rPr lang="en-US" altLang="ko-KR" sz="1300" dirty="0"/>
              <a:t> </a:t>
            </a:r>
            <a:r>
              <a:rPr lang="en-US" altLang="ko-KR" sz="1300" dirty="0" err="1"/>
              <a:t>hiện</a:t>
            </a:r>
            <a:r>
              <a:rPr lang="en-US" altLang="ko-KR" sz="1300" dirty="0"/>
              <a:t> </a:t>
            </a:r>
            <a:r>
              <a:rPr lang="en-US" altLang="ko-KR" sz="1300" dirty="0" err="1"/>
              <a:t>nghiên</a:t>
            </a:r>
            <a:r>
              <a:rPr lang="en-US" altLang="ko-KR" sz="1300" dirty="0"/>
              <a:t> </a:t>
            </a:r>
            <a:r>
              <a:rPr lang="en-US" altLang="ko-KR" sz="1300" dirty="0" err="1"/>
              <a:t>cứu</a:t>
            </a:r>
            <a:r>
              <a:rPr lang="en-US" altLang="ko-KR" sz="1300" dirty="0"/>
              <a:t> Gage </a:t>
            </a:r>
            <a:r>
              <a:rPr lang="en-US" altLang="ko-KR" sz="1300" dirty="0" err="1"/>
              <a:t>và</a:t>
            </a:r>
            <a:r>
              <a:rPr lang="en-US" altLang="ko-KR" sz="1300" dirty="0"/>
              <a:t> Type 3 Study. </a:t>
            </a:r>
            <a:endParaRPr lang="ko-KR" altLang="en-US" sz="1300" dirty="0"/>
          </a:p>
        </p:txBody>
      </p:sp>
      <p:pic>
        <p:nvPicPr>
          <p:cNvPr id="20482"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7669" y="2492896"/>
            <a:ext cx="4103870" cy="2160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TextBox 6"/>
          <p:cNvSpPr txBox="1"/>
          <p:nvPr/>
        </p:nvSpPr>
        <p:spPr>
          <a:xfrm>
            <a:off x="323528" y="2132856"/>
            <a:ext cx="4662110" cy="292388"/>
          </a:xfrm>
          <a:prstGeom prst="rect">
            <a:avLst/>
          </a:prstGeom>
          <a:noFill/>
        </p:spPr>
        <p:txBody>
          <a:bodyPr wrap="none" rtlCol="0">
            <a:spAutoFit/>
          </a:bodyPr>
          <a:lstStyle/>
          <a:p>
            <a:r>
              <a:rPr lang="en-US" altLang="ko-KR" sz="1300" dirty="0"/>
              <a:t>Stat &gt; Quality Tools&gt; Gage Study &gt; Gage Study (Crossed) </a:t>
            </a:r>
            <a:endParaRPr lang="ko-KR" altLang="en-US" sz="1300" dirty="0"/>
          </a:p>
        </p:txBody>
      </p:sp>
      <p:sp>
        <p:nvSpPr>
          <p:cNvPr id="6" name="직사각형 5"/>
          <p:cNvSpPr/>
          <p:nvPr/>
        </p:nvSpPr>
        <p:spPr>
          <a:xfrm>
            <a:off x="4788024" y="2348880"/>
            <a:ext cx="4157984" cy="3231654"/>
          </a:xfrm>
          <a:prstGeom prst="rect">
            <a:avLst/>
          </a:prstGeom>
        </p:spPr>
        <p:txBody>
          <a:bodyPr wrap="square">
            <a:spAutoFit/>
          </a:bodyPr>
          <a:lstStyle/>
          <a:p>
            <a:r>
              <a:rPr lang="en-US" altLang="ko-KR" sz="1200" b="1" dirty="0">
                <a:latin typeface="굴림체" panose="020B0609000101010101" pitchFamily="49" charset="-127"/>
                <a:ea typeface="굴림체" panose="020B0609000101010101" pitchFamily="49" charset="-127"/>
              </a:rPr>
              <a:t>Gage R&amp;R </a:t>
            </a:r>
          </a:p>
          <a:p>
            <a:endParaRPr lang="ko-KR" altLang="en-US" sz="1200" b="1"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%Contribution</a:t>
            </a:r>
          </a:p>
          <a:p>
            <a:r>
              <a:rPr lang="en-US" altLang="ko-KR" sz="1200" dirty="0">
                <a:latin typeface="굴림체" panose="020B0609000101010101" pitchFamily="49" charset="-127"/>
                <a:ea typeface="굴림체" panose="020B0609000101010101" pitchFamily="49" charset="-127"/>
              </a:rPr>
              <a:t>Source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   (of </a:t>
            </a:r>
            <a:r>
              <a:rPr lang="en-US" altLang="ko-KR" sz="1200" dirty="0" err="1">
                <a:latin typeface="굴림체" panose="020B0609000101010101" pitchFamily="49" charset="-127"/>
                <a:ea typeface="굴림체" panose="020B0609000101010101" pitchFamily="49" charset="-127"/>
              </a:rPr>
              <a:t>VarComp</a:t>
            </a:r>
            <a:r>
              <a:rPr lang="en-US" altLang="ko-KR" sz="1200" dirty="0">
                <a:latin typeface="굴림체" panose="020B0609000101010101" pitchFamily="49" charset="-127"/>
                <a:ea typeface="굴림체" panose="020B0609000101010101" pitchFamily="49" charset="-127"/>
              </a:rPr>
              <a:t>)</a:t>
            </a:r>
          </a:p>
          <a:p>
            <a:r>
              <a:rPr lang="pt-BR" altLang="ko-KR" sz="1200" dirty="0">
                <a:latin typeface="굴림체" panose="020B0609000101010101" pitchFamily="49" charset="-127"/>
                <a:ea typeface="굴림체" panose="020B0609000101010101" pitchFamily="49" charset="-127"/>
              </a:rPr>
              <a:t>Total Gage R&amp;R   0.05709           0.75</a:t>
            </a:r>
          </a:p>
          <a:p>
            <a:r>
              <a:rPr lang="en-US" altLang="ko-KR" sz="1200" dirty="0">
                <a:latin typeface="굴림체" panose="020B0609000101010101" pitchFamily="49" charset="-127"/>
                <a:ea typeface="굴림체" panose="020B0609000101010101" pitchFamily="49" charset="-127"/>
              </a:rPr>
              <a:t>  Repeatability  0.05709           0.75</a:t>
            </a:r>
          </a:p>
          <a:p>
            <a:r>
              <a:rPr lang="en-US" altLang="ko-KR" sz="1200" dirty="0">
                <a:latin typeface="굴림체" panose="020B0609000101010101" pitchFamily="49" charset="-127"/>
                <a:ea typeface="굴림체" panose="020B0609000101010101" pitchFamily="49" charset="-127"/>
              </a:rPr>
              <a:t>Part-To-Part     7.53919          99.25</a:t>
            </a:r>
          </a:p>
          <a:p>
            <a:r>
              <a:rPr lang="en-US" altLang="ko-KR" sz="1200" dirty="0">
                <a:latin typeface="굴림체" panose="020B0609000101010101" pitchFamily="49" charset="-127"/>
                <a:ea typeface="굴림체" panose="020B0609000101010101" pitchFamily="49" charset="-127"/>
              </a:rPr>
              <a:t>Total Variation  7.59628         100.00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r>
              <a:rPr lang="en-US" altLang="ko-KR" sz="1200" dirty="0">
                <a:latin typeface="굴림체" panose="020B0609000101010101" pitchFamily="49" charset="-127"/>
                <a:ea typeface="굴림체" panose="020B0609000101010101" pitchFamily="49" charset="-127"/>
              </a:rPr>
              <a:t>  %Study </a:t>
            </a:r>
            <a:r>
              <a:rPr lang="en-US" altLang="ko-KR" sz="1200" dirty="0" err="1">
                <a:latin typeface="굴림체" panose="020B0609000101010101" pitchFamily="49" charset="-127"/>
                <a:ea typeface="굴림체" panose="020B0609000101010101" pitchFamily="49" charset="-127"/>
              </a:rPr>
              <a:t>Var</a:t>
            </a:r>
            <a:endParaRPr lang="en-US" altLang="ko-KR" sz="1200" dirty="0">
              <a:latin typeface="굴림체" panose="020B0609000101010101" pitchFamily="49" charset="-127"/>
              <a:ea typeface="굴림체" panose="020B0609000101010101" pitchFamily="49" charset="-127"/>
            </a:endParaRPr>
          </a:p>
          <a:p>
            <a:r>
              <a:rPr lang="da-DK" altLang="ko-KR" sz="1200" dirty="0">
                <a:latin typeface="굴림체" panose="020B0609000101010101" pitchFamily="49" charset="-127"/>
                <a:ea typeface="굴림체" panose="020B0609000101010101" pitchFamily="49" charset="-127"/>
              </a:rPr>
              <a:t>Source           StdDev (SD)  (6 × SD)       (%SV)</a:t>
            </a:r>
          </a:p>
          <a:p>
            <a:r>
              <a:rPr lang="pt-BR" altLang="ko-KR" sz="1200" dirty="0">
                <a:latin typeface="굴림체" panose="020B0609000101010101" pitchFamily="49" charset="-127"/>
                <a:ea typeface="굴림체" panose="020B0609000101010101" pitchFamily="49" charset="-127"/>
              </a:rPr>
              <a:t>Total Gage R&amp;R       0.23894     1.4336        8.67</a:t>
            </a:r>
          </a:p>
          <a:p>
            <a:r>
              <a:rPr lang="en-US" altLang="ko-KR" sz="1200" dirty="0">
                <a:latin typeface="굴림체" panose="020B0609000101010101" pitchFamily="49" charset="-127"/>
                <a:ea typeface="굴림체" panose="020B0609000101010101" pitchFamily="49" charset="-127"/>
              </a:rPr>
              <a:t>  Repeatability      0.23894     1.4336        8.67</a:t>
            </a:r>
          </a:p>
          <a:p>
            <a:r>
              <a:rPr lang="en-US" altLang="ko-KR" sz="1200" dirty="0">
                <a:latin typeface="굴림체" panose="020B0609000101010101" pitchFamily="49" charset="-127"/>
                <a:ea typeface="굴림체" panose="020B0609000101010101" pitchFamily="49" charset="-127"/>
              </a:rPr>
              <a:t>Part-To-Part         2.74576    16.4745       99.62</a:t>
            </a:r>
          </a:p>
          <a:p>
            <a:r>
              <a:rPr lang="en-US" altLang="ko-KR" sz="1200" dirty="0">
                <a:latin typeface="굴림체" panose="020B0609000101010101" pitchFamily="49" charset="-127"/>
                <a:ea typeface="굴림체" panose="020B0609000101010101" pitchFamily="49" charset="-127"/>
              </a:rPr>
              <a:t>Total Variation      2.75613    16.5368      100.00</a:t>
            </a:r>
          </a:p>
          <a:p>
            <a:endParaRPr lang="ko-KR" altLang="en-US" sz="1200" dirty="0">
              <a:latin typeface="굴림체" panose="020B0609000101010101" pitchFamily="49" charset="-127"/>
              <a:ea typeface="굴림체" panose="020B0609000101010101" pitchFamily="49" charset="-127"/>
            </a:endParaRPr>
          </a:p>
          <a:p>
            <a:r>
              <a:rPr lang="en-US" altLang="ko-KR" sz="1200" dirty="0">
                <a:latin typeface="굴림체" panose="020B0609000101010101" pitchFamily="49" charset="-127"/>
                <a:ea typeface="굴림체" panose="020B0609000101010101" pitchFamily="49" charset="-127"/>
              </a:rPr>
              <a:t>Number of Distinct Categories = 16</a:t>
            </a:r>
          </a:p>
        </p:txBody>
      </p:sp>
      <p:cxnSp>
        <p:nvCxnSpPr>
          <p:cNvPr id="11" name="직선 연결선 10"/>
          <p:cNvCxnSpPr/>
          <p:nvPr/>
        </p:nvCxnSpPr>
        <p:spPr>
          <a:xfrm>
            <a:off x="7164288" y="5157192"/>
            <a:ext cx="864096" cy="0"/>
          </a:xfrm>
          <a:prstGeom prst="line">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1763688" y="5949280"/>
            <a:ext cx="5169941" cy="369332"/>
          </a:xfrm>
          <a:prstGeom prst="rect">
            <a:avLst/>
          </a:prstGeom>
          <a:noFill/>
        </p:spPr>
        <p:txBody>
          <a:bodyPr wrap="none" rtlCol="0">
            <a:spAutoFit/>
          </a:bodyPr>
          <a:lstStyle/>
          <a:p>
            <a:r>
              <a:rPr lang="en-US" altLang="ko-KR" dirty="0"/>
              <a:t>“</a:t>
            </a:r>
            <a:r>
              <a:rPr lang="en-US" altLang="ko-KR" dirty="0" err="1"/>
              <a:t>Kiểm</a:t>
            </a:r>
            <a:r>
              <a:rPr lang="en-US" altLang="ko-KR" dirty="0"/>
              <a:t> </a:t>
            </a:r>
            <a:r>
              <a:rPr lang="en-US" altLang="ko-KR" dirty="0" err="1"/>
              <a:t>tra</a:t>
            </a:r>
            <a:r>
              <a:rPr lang="en-US" altLang="ko-KR" dirty="0"/>
              <a:t> </a:t>
            </a:r>
            <a:r>
              <a:rPr lang="en-US" altLang="ko-KR" dirty="0" err="1"/>
              <a:t>tổng</a:t>
            </a:r>
            <a:r>
              <a:rPr lang="en-US" altLang="ko-KR" dirty="0"/>
              <a:t> </a:t>
            </a:r>
            <a:r>
              <a:rPr lang="en-US" altLang="ko-KR" dirty="0" err="1"/>
              <a:t>biến</a:t>
            </a:r>
            <a:r>
              <a:rPr lang="en-US" altLang="ko-KR" dirty="0"/>
              <a:t> </a:t>
            </a:r>
            <a:r>
              <a:rPr lang="en-US" altLang="ko-KR" dirty="0" err="1"/>
              <a:t>động</a:t>
            </a:r>
            <a:r>
              <a:rPr lang="en-US" altLang="ko-KR" dirty="0"/>
              <a:t> </a:t>
            </a:r>
            <a:r>
              <a:rPr lang="en-US" altLang="ko-KR" dirty="0" err="1"/>
              <a:t>của</a:t>
            </a:r>
            <a:r>
              <a:rPr lang="en-US" altLang="ko-KR" dirty="0"/>
              <a:t> process 16.5368”</a:t>
            </a:r>
            <a:endParaRPr lang="ko-KR" altLang="en-US" dirty="0"/>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134</a:t>
            </a:fld>
            <a:endParaRPr lang="ko-KR" altLang="en-US" dirty="0"/>
          </a:p>
        </p:txBody>
      </p:sp>
    </p:spTree>
    <p:extLst>
      <p:ext uri="{BB962C8B-B14F-4D97-AF65-F5344CB8AC3E}">
        <p14:creationId xmlns:p14="http://schemas.microsoft.com/office/powerpoint/2010/main" val="2311330221"/>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492443"/>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tuyến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lệch</a:t>
            </a:r>
            <a:r>
              <a:rPr lang="ko-KR" altLang="en-US" sz="1400" b="1" kern="0" dirty="0">
                <a:solidFill>
                  <a:sysClr val="windowText" lastClr="000000"/>
                </a:solidFill>
                <a:latin typeface="맑은 고딕" pitchFamily="50" charset="-127"/>
                <a:ea typeface="맑은 고딕" pitchFamily="50" charset="-127"/>
              </a:rPr>
              <a:t> </a:t>
            </a:r>
            <a:r>
              <a:rPr lang="en-US" altLang="ko-KR" sz="1200" b="1" kern="0" dirty="0">
                <a:solidFill>
                  <a:sysClr val="windowText" lastClr="000000"/>
                </a:solidFill>
                <a:latin typeface="맑은 고딕" pitchFamily="50" charset="-127"/>
                <a:ea typeface="맑은 고딕" pitchFamily="50" charset="-127"/>
              </a:rPr>
              <a:t>(</a:t>
            </a:r>
            <a:r>
              <a:rPr lang="en-US" altLang="ko-KR" sz="1200" b="1" kern="0" dirty="0" err="1">
                <a:solidFill>
                  <a:sysClr val="windowText" lastClr="000000"/>
                </a:solidFill>
                <a:latin typeface="맑은 고딕" pitchFamily="50" charset="-127"/>
                <a:ea typeface="맑은 고딕" pitchFamily="50" charset="-127"/>
              </a:rPr>
              <a:t>trường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hợp</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ước</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lượng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biến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động</a:t>
            </a:r>
            <a:r>
              <a:rPr lang="en-US" altLang="ko-KR" sz="1200" b="1" kern="0" dirty="0">
                <a:solidFill>
                  <a:sysClr val="windowText" lastClr="000000"/>
                </a:solidFill>
                <a:latin typeface="맑은 고딕" pitchFamily="50" charset="-127"/>
                <a:ea typeface="맑은 고딕" pitchFamily="50" charset="-127"/>
              </a:rPr>
              <a:t> process </a:t>
            </a:r>
            <a:r>
              <a:rPr lang="en-US" altLang="ko-KR" sz="1200" b="1" kern="0" dirty="0" err="1">
                <a:solidFill>
                  <a:sysClr val="windowText" lastClr="000000"/>
                </a:solidFill>
                <a:latin typeface="맑은 고딕" pitchFamily="50" charset="-127"/>
                <a:ea typeface="맑은 고딕" pitchFamily="50" charset="-127"/>
              </a:rPr>
              <a:t>và</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phân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tích</a:t>
            </a:r>
            <a:r>
              <a:rPr lang="en-US" altLang="ko-KR" sz="1200" b="1" kern="0" dirty="0">
                <a:solidFill>
                  <a:sysClr val="windowText" lastClr="000000"/>
                </a:solidFill>
                <a:latin typeface="맑은 고딕" pitchFamily="50" charset="-127"/>
                <a:ea typeface="맑은 고딕" pitchFamily="50" charset="-127"/>
              </a:rPr>
              <a:t> 6σTotal)  </a:t>
            </a:r>
            <a:r>
              <a:rPr lang="ko-KR" altLang="en-US" sz="12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5" name="TextBox 4"/>
          <p:cNvSpPr txBox="1"/>
          <p:nvPr/>
        </p:nvSpPr>
        <p:spPr>
          <a:xfrm>
            <a:off x="683568" y="1412776"/>
            <a:ext cx="5297669" cy="292388"/>
          </a:xfrm>
          <a:prstGeom prst="rect">
            <a:avLst/>
          </a:prstGeom>
          <a:noFill/>
        </p:spPr>
        <p:txBody>
          <a:bodyPr wrap="none" rtlCol="0">
            <a:spAutoFit/>
          </a:bodyPr>
          <a:lstStyle/>
          <a:p>
            <a:r>
              <a:rPr lang="en-US" altLang="ko-KR" sz="1300" dirty="0"/>
              <a:t>Stat &gt; Quality Tools&gt; Gage Study &gt; Gage Linearity and Bias Study </a:t>
            </a:r>
            <a:endParaRPr lang="ko-KR" altLang="en-US" sz="1300" dirty="0"/>
          </a:p>
        </p:txBody>
      </p:sp>
      <p:pic>
        <p:nvPicPr>
          <p:cNvPr id="2150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87624" y="1772816"/>
            <a:ext cx="5208007" cy="2808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135</a:t>
            </a:fld>
            <a:endParaRPr lang="ko-KR" altLang="en-US" dirty="0"/>
          </a:p>
        </p:txBody>
      </p:sp>
    </p:spTree>
    <p:extLst>
      <p:ext uri="{BB962C8B-B14F-4D97-AF65-F5344CB8AC3E}">
        <p14:creationId xmlns:p14="http://schemas.microsoft.com/office/powerpoint/2010/main" val="4011386520"/>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p:cNvSpPr/>
          <p:nvPr/>
        </p:nvSpPr>
        <p:spPr>
          <a:xfrm>
            <a:off x="6430956" y="1700808"/>
            <a:ext cx="2627784" cy="1513878"/>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pic>
        <p:nvPicPr>
          <p:cNvPr id="2253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1560" y="1268760"/>
            <a:ext cx="5760640" cy="4320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Gage linearity and bias study (when estimating and analyzing 6σ total of process variation)</a:t>
            </a:r>
            <a:endParaRPr lang="en-US" altLang="ko-KR" sz="12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179512" y="148570"/>
            <a:ext cx="3281155" cy="400110"/>
          </a:xfrm>
          <a:prstGeom prst="rect">
            <a:avLst/>
          </a:prstGeom>
          <a:noFill/>
        </p:spPr>
        <p:txBody>
          <a:bodyPr wrap="none" rtlCol="0">
            <a:spAutoFit/>
          </a:bodyPr>
          <a:lstStyle/>
          <a:p>
            <a:r>
              <a:rPr lang="en-US" altLang="ko-KR" sz="2000" b="1" dirty="0"/>
              <a:t>Type 4 Study Case study</a:t>
            </a:r>
            <a:r>
              <a:rPr lang="ko-KR" altLang="en-US" sz="2000" b="1" dirty="0"/>
              <a:t> </a:t>
            </a:r>
          </a:p>
        </p:txBody>
      </p:sp>
      <p:sp>
        <p:nvSpPr>
          <p:cNvPr id="2" name="TextBox 1"/>
          <p:cNvSpPr txBox="1"/>
          <p:nvPr/>
        </p:nvSpPr>
        <p:spPr>
          <a:xfrm>
            <a:off x="6444208" y="1772816"/>
            <a:ext cx="2736647" cy="577081"/>
          </a:xfrm>
          <a:prstGeom prst="rect">
            <a:avLst/>
          </a:prstGeom>
          <a:noFill/>
        </p:spPr>
        <p:txBody>
          <a:bodyPr wrap="none" rtlCol="0">
            <a:spAutoFit/>
          </a:bodyPr>
          <a:lstStyle/>
          <a:p>
            <a:pPr>
              <a:lnSpc>
                <a:spcPct val="150000"/>
              </a:lnSpc>
            </a:pPr>
            <a:r>
              <a:rPr lang="en-US" altLang="ko-KR" sz="1050" dirty="0"/>
              <a:t>Linearity</a:t>
            </a:r>
            <a:r>
              <a:rPr lang="ko-KR" altLang="en-US" sz="1050" dirty="0"/>
              <a:t> </a:t>
            </a:r>
            <a:r>
              <a:rPr lang="en-US" altLang="ko-KR" sz="1050" dirty="0"/>
              <a:t>= </a:t>
            </a:r>
            <a:r>
              <a:rPr lang="ko-KR" altLang="en-US" sz="1050" dirty="0"/>
              <a:t>ㅣ</a:t>
            </a:r>
            <a:r>
              <a:rPr lang="en-US" altLang="ko-KR" sz="1050" dirty="0"/>
              <a:t>Slope</a:t>
            </a:r>
            <a:r>
              <a:rPr lang="ko-KR" altLang="en-US" sz="1050" dirty="0"/>
              <a:t>ㅣ </a:t>
            </a:r>
            <a:r>
              <a:rPr lang="en-US" altLang="ko-KR" sz="1050" dirty="0"/>
              <a:t>x Process variation</a:t>
            </a:r>
            <a:r>
              <a:rPr lang="ko-KR" altLang="en-US" sz="1050" dirty="0"/>
              <a:t> </a:t>
            </a:r>
            <a:endParaRPr lang="en-US" altLang="ko-KR" sz="1050" dirty="0"/>
          </a:p>
          <a:p>
            <a:pPr>
              <a:lnSpc>
                <a:spcPct val="150000"/>
              </a:lnSpc>
            </a:pPr>
            <a:r>
              <a:rPr lang="en-US" altLang="ko-KR" sz="1050" dirty="0"/>
              <a:t>          = 0.13167 x 16.5368 = 2.17735</a:t>
            </a:r>
            <a:endParaRPr lang="ko-KR" altLang="en-US" sz="1050" dirty="0"/>
          </a:p>
        </p:txBody>
      </p:sp>
      <p:sp>
        <p:nvSpPr>
          <p:cNvPr id="6" name="TextBox 5"/>
          <p:cNvSpPr txBox="1"/>
          <p:nvPr/>
        </p:nvSpPr>
        <p:spPr>
          <a:xfrm>
            <a:off x="6444208" y="2420888"/>
            <a:ext cx="2743059" cy="819455"/>
          </a:xfrm>
          <a:prstGeom prst="rect">
            <a:avLst/>
          </a:prstGeom>
          <a:noFill/>
        </p:spPr>
        <p:txBody>
          <a:bodyPr wrap="none" rtlCol="0">
            <a:spAutoFit/>
          </a:bodyPr>
          <a:lstStyle/>
          <a:p>
            <a:pPr>
              <a:lnSpc>
                <a:spcPct val="150000"/>
              </a:lnSpc>
            </a:pPr>
            <a:r>
              <a:rPr lang="en-US" altLang="ko-KR" sz="1050" dirty="0"/>
              <a:t>%Linearity</a:t>
            </a:r>
            <a:r>
              <a:rPr lang="ko-KR" altLang="en-US" sz="1050" dirty="0"/>
              <a:t> </a:t>
            </a:r>
            <a:r>
              <a:rPr lang="en-US" altLang="ko-KR" sz="1050" dirty="0"/>
              <a:t>= Linearity</a:t>
            </a:r>
            <a:r>
              <a:rPr lang="ko-KR" altLang="en-US" sz="1050" dirty="0"/>
              <a:t> </a:t>
            </a:r>
            <a:r>
              <a:rPr lang="en-US" altLang="ko-KR" sz="1050" dirty="0"/>
              <a:t>/ Process variation</a:t>
            </a:r>
            <a:r>
              <a:rPr lang="ko-KR" altLang="en-US" sz="1050" dirty="0"/>
              <a:t> </a:t>
            </a:r>
            <a:endParaRPr lang="en-US" altLang="ko-KR" sz="1050" dirty="0"/>
          </a:p>
          <a:p>
            <a:pPr>
              <a:lnSpc>
                <a:spcPct val="150000"/>
              </a:lnSpc>
            </a:pPr>
            <a:r>
              <a:rPr lang="en-US" altLang="ko-KR" sz="1050" dirty="0"/>
              <a:t>                  x 100</a:t>
            </a:r>
          </a:p>
          <a:p>
            <a:pPr>
              <a:lnSpc>
                <a:spcPct val="150000"/>
              </a:lnSpc>
            </a:pPr>
            <a:r>
              <a:rPr lang="en-US" altLang="ko-KR" sz="1050" dirty="0"/>
              <a:t>          = </a:t>
            </a:r>
            <a:r>
              <a:rPr lang="en-US" altLang="ko-KR" sz="1050" dirty="0" err="1"/>
              <a:t>lSlopel</a:t>
            </a:r>
            <a:r>
              <a:rPr lang="ko-KR" altLang="en-US" sz="1050" dirty="0"/>
              <a:t> </a:t>
            </a:r>
            <a:r>
              <a:rPr lang="en-US" altLang="ko-KR" sz="1050" dirty="0"/>
              <a:t>x 100 = 13.2%</a:t>
            </a:r>
            <a:endParaRPr lang="ko-KR" altLang="en-US" sz="1050" dirty="0"/>
          </a:p>
        </p:txBody>
      </p:sp>
      <p:cxnSp>
        <p:nvCxnSpPr>
          <p:cNvPr id="7" name="직선 연결선 6"/>
          <p:cNvCxnSpPr/>
          <p:nvPr/>
        </p:nvCxnSpPr>
        <p:spPr>
          <a:xfrm>
            <a:off x="4486740" y="2996952"/>
            <a:ext cx="1512168" cy="0"/>
          </a:xfrm>
          <a:prstGeom prst="line">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flipV="1">
            <a:off x="6012160" y="2636912"/>
            <a:ext cx="360040" cy="360040"/>
          </a:xfrm>
          <a:prstGeom prst="line">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6444208" y="3284984"/>
            <a:ext cx="2481770" cy="334707"/>
          </a:xfrm>
          <a:prstGeom prst="rect">
            <a:avLst/>
          </a:prstGeom>
          <a:noFill/>
        </p:spPr>
        <p:txBody>
          <a:bodyPr wrap="none" rtlCol="0">
            <a:spAutoFit/>
          </a:bodyPr>
          <a:lstStyle/>
          <a:p>
            <a:pPr>
              <a:lnSpc>
                <a:spcPct val="150000"/>
              </a:lnSpc>
            </a:pPr>
            <a:r>
              <a:rPr lang="en-US" altLang="ko-KR" sz="1050" dirty="0"/>
              <a:t>%Bias</a:t>
            </a:r>
            <a:r>
              <a:rPr lang="ko-KR" altLang="en-US" sz="1050" dirty="0"/>
              <a:t> </a:t>
            </a:r>
            <a:r>
              <a:rPr lang="en-US" altLang="ko-KR" sz="1050" dirty="0"/>
              <a:t>= Bias/Process variation</a:t>
            </a:r>
            <a:r>
              <a:rPr lang="ko-KR" altLang="en-US" sz="1050" dirty="0"/>
              <a:t> </a:t>
            </a:r>
            <a:r>
              <a:rPr lang="en-US" altLang="ko-KR" sz="1050" dirty="0"/>
              <a:t>x 100 </a:t>
            </a:r>
            <a:endParaRPr lang="ko-KR" altLang="en-US" sz="1050" dirty="0"/>
          </a:p>
        </p:txBody>
      </p:sp>
      <p:sp>
        <p:nvSpPr>
          <p:cNvPr id="13" name="TextBox 12"/>
          <p:cNvSpPr txBox="1"/>
          <p:nvPr/>
        </p:nvSpPr>
        <p:spPr>
          <a:xfrm>
            <a:off x="6444208" y="3933056"/>
            <a:ext cx="567784" cy="334707"/>
          </a:xfrm>
          <a:prstGeom prst="rect">
            <a:avLst/>
          </a:prstGeom>
          <a:noFill/>
        </p:spPr>
        <p:txBody>
          <a:bodyPr wrap="none" rtlCol="0">
            <a:spAutoFit/>
          </a:bodyPr>
          <a:lstStyle/>
          <a:p>
            <a:pPr>
              <a:lnSpc>
                <a:spcPct val="150000"/>
              </a:lnSpc>
            </a:pPr>
            <a:r>
              <a:rPr lang="en-US" altLang="ko-KR" sz="1050" dirty="0"/>
              <a:t>Bias</a:t>
            </a:r>
            <a:r>
              <a:rPr lang="ko-KR" altLang="en-US" sz="1050" dirty="0"/>
              <a:t> </a:t>
            </a:r>
            <a:r>
              <a:rPr lang="en-US" altLang="ko-KR" sz="1050" dirty="0"/>
              <a:t>=</a:t>
            </a:r>
            <a:endParaRPr lang="ko-KR" altLang="en-US" sz="1050" dirty="0"/>
          </a:p>
        </p:txBody>
      </p:sp>
      <p:cxnSp>
        <p:nvCxnSpPr>
          <p:cNvPr id="14" name="직선 연결선 13"/>
          <p:cNvCxnSpPr/>
          <p:nvPr/>
        </p:nvCxnSpPr>
        <p:spPr>
          <a:xfrm>
            <a:off x="7325360" y="4135120"/>
            <a:ext cx="51308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7311775" y="3860839"/>
            <a:ext cx="543739" cy="334707"/>
          </a:xfrm>
          <a:prstGeom prst="rect">
            <a:avLst/>
          </a:prstGeom>
          <a:noFill/>
        </p:spPr>
        <p:txBody>
          <a:bodyPr wrap="none" rtlCol="0">
            <a:spAutoFit/>
          </a:bodyPr>
          <a:lstStyle/>
          <a:p>
            <a:pPr>
              <a:lnSpc>
                <a:spcPct val="150000"/>
              </a:lnSpc>
            </a:pPr>
            <a:r>
              <a:rPr lang="en-US" altLang="ko-KR" sz="1050" dirty="0"/>
              <a:t>Σ Bias</a:t>
            </a:r>
            <a:endParaRPr lang="ko-KR" altLang="en-US" sz="1050" dirty="0"/>
          </a:p>
        </p:txBody>
      </p:sp>
      <p:sp>
        <p:nvSpPr>
          <p:cNvPr id="18" name="TextBox 17"/>
          <p:cNvSpPr txBox="1"/>
          <p:nvPr/>
        </p:nvSpPr>
        <p:spPr>
          <a:xfrm>
            <a:off x="7457400" y="4045704"/>
            <a:ext cx="284561" cy="334707"/>
          </a:xfrm>
          <a:prstGeom prst="rect">
            <a:avLst/>
          </a:prstGeom>
          <a:noFill/>
        </p:spPr>
        <p:txBody>
          <a:bodyPr wrap="square" rtlCol="0">
            <a:spAutoFit/>
          </a:bodyPr>
          <a:lstStyle/>
          <a:p>
            <a:pPr>
              <a:lnSpc>
                <a:spcPct val="150000"/>
              </a:lnSpc>
            </a:pPr>
            <a:r>
              <a:rPr lang="en-US" altLang="ko-KR" sz="1050" dirty="0"/>
              <a:t>5</a:t>
            </a:r>
            <a:endParaRPr lang="ko-KR" altLang="en-US" sz="1050" dirty="0"/>
          </a:p>
        </p:txBody>
      </p:sp>
      <p:sp>
        <p:nvSpPr>
          <p:cNvPr id="19" name="TextBox 18"/>
          <p:cNvSpPr txBox="1"/>
          <p:nvPr/>
        </p:nvSpPr>
        <p:spPr>
          <a:xfrm>
            <a:off x="7884368" y="3973696"/>
            <a:ext cx="534121" cy="303481"/>
          </a:xfrm>
          <a:prstGeom prst="rect">
            <a:avLst/>
          </a:prstGeom>
          <a:noFill/>
        </p:spPr>
        <p:txBody>
          <a:bodyPr wrap="none" rtlCol="0">
            <a:spAutoFit/>
          </a:bodyPr>
          <a:lstStyle/>
          <a:p>
            <a:pPr>
              <a:lnSpc>
                <a:spcPct val="150000"/>
              </a:lnSpc>
            </a:pPr>
            <a:r>
              <a:rPr lang="en-US" altLang="ko-KR" sz="1050" dirty="0"/>
              <a:t>X 100</a:t>
            </a:r>
            <a:endParaRPr lang="ko-KR" altLang="en-US" sz="1050" dirty="0"/>
          </a:p>
        </p:txBody>
      </p:sp>
      <p:sp>
        <p:nvSpPr>
          <p:cNvPr id="20" name="TextBox 19"/>
          <p:cNvSpPr txBox="1"/>
          <p:nvPr/>
        </p:nvSpPr>
        <p:spPr>
          <a:xfrm>
            <a:off x="6215074" y="4581128"/>
            <a:ext cx="1226618" cy="334707"/>
          </a:xfrm>
          <a:prstGeom prst="rect">
            <a:avLst/>
          </a:prstGeom>
          <a:noFill/>
        </p:spPr>
        <p:txBody>
          <a:bodyPr wrap="none" rtlCol="0">
            <a:spAutoFit/>
          </a:bodyPr>
          <a:lstStyle/>
          <a:p>
            <a:pPr>
              <a:lnSpc>
                <a:spcPct val="150000"/>
              </a:lnSpc>
            </a:pPr>
            <a:r>
              <a:rPr lang="en-US" altLang="ko-KR" sz="1050" dirty="0"/>
              <a:t>%Average Bias</a:t>
            </a:r>
            <a:r>
              <a:rPr lang="ko-KR" altLang="en-US" sz="1050" dirty="0"/>
              <a:t> </a:t>
            </a:r>
            <a:r>
              <a:rPr lang="en-US" altLang="ko-KR" sz="1050" dirty="0"/>
              <a:t>=</a:t>
            </a:r>
            <a:endParaRPr lang="ko-KR" altLang="en-US" sz="1050" dirty="0"/>
          </a:p>
        </p:txBody>
      </p:sp>
      <p:cxnSp>
        <p:nvCxnSpPr>
          <p:cNvPr id="26" name="직선 연결선 25"/>
          <p:cNvCxnSpPr/>
          <p:nvPr/>
        </p:nvCxnSpPr>
        <p:spPr>
          <a:xfrm flipV="1">
            <a:off x="7375539" y="4783138"/>
            <a:ext cx="723265" cy="26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7361954" y="4509120"/>
            <a:ext cx="971741" cy="303481"/>
          </a:xfrm>
          <a:prstGeom prst="rect">
            <a:avLst/>
          </a:prstGeom>
          <a:noFill/>
        </p:spPr>
        <p:txBody>
          <a:bodyPr wrap="none" rtlCol="0">
            <a:spAutoFit/>
          </a:bodyPr>
          <a:lstStyle/>
          <a:p>
            <a:pPr>
              <a:lnSpc>
                <a:spcPct val="150000"/>
              </a:lnSpc>
            </a:pPr>
            <a:r>
              <a:rPr lang="en-US" altLang="ko-KR" sz="1050" dirty="0"/>
              <a:t>Average Bias</a:t>
            </a:r>
            <a:endParaRPr lang="ko-KR" altLang="en-US" sz="1050" dirty="0"/>
          </a:p>
        </p:txBody>
      </p:sp>
      <p:sp>
        <p:nvSpPr>
          <p:cNvPr id="29" name="TextBox 28"/>
          <p:cNvSpPr txBox="1"/>
          <p:nvPr/>
        </p:nvSpPr>
        <p:spPr>
          <a:xfrm>
            <a:off x="8070327" y="4621977"/>
            <a:ext cx="534121" cy="303481"/>
          </a:xfrm>
          <a:prstGeom prst="rect">
            <a:avLst/>
          </a:prstGeom>
          <a:noFill/>
        </p:spPr>
        <p:txBody>
          <a:bodyPr wrap="none" rtlCol="0">
            <a:spAutoFit/>
          </a:bodyPr>
          <a:lstStyle/>
          <a:p>
            <a:pPr>
              <a:lnSpc>
                <a:spcPct val="150000"/>
              </a:lnSpc>
            </a:pPr>
            <a:r>
              <a:rPr lang="en-US" altLang="ko-KR" sz="1050" dirty="0"/>
              <a:t>X 100</a:t>
            </a:r>
            <a:endParaRPr lang="ko-KR" altLang="en-US" sz="1050" dirty="0"/>
          </a:p>
        </p:txBody>
      </p:sp>
      <p:sp>
        <p:nvSpPr>
          <p:cNvPr id="30" name="TextBox 29"/>
          <p:cNvSpPr txBox="1"/>
          <p:nvPr/>
        </p:nvSpPr>
        <p:spPr>
          <a:xfrm>
            <a:off x="7361954" y="4717640"/>
            <a:ext cx="1217000" cy="303481"/>
          </a:xfrm>
          <a:prstGeom prst="rect">
            <a:avLst/>
          </a:prstGeom>
          <a:noFill/>
        </p:spPr>
        <p:txBody>
          <a:bodyPr wrap="none" rtlCol="0">
            <a:spAutoFit/>
          </a:bodyPr>
          <a:lstStyle/>
          <a:p>
            <a:pPr>
              <a:lnSpc>
                <a:spcPct val="150000"/>
              </a:lnSpc>
            </a:pPr>
            <a:r>
              <a:rPr lang="en-US" altLang="ko-KR" sz="1050" dirty="0"/>
              <a:t>Process variation</a:t>
            </a:r>
            <a:endParaRPr lang="ko-KR" altLang="en-US" sz="1050" dirty="0"/>
          </a:p>
        </p:txBody>
      </p:sp>
      <p:cxnSp>
        <p:nvCxnSpPr>
          <p:cNvPr id="22528" name="직선 연결선 22527"/>
          <p:cNvCxnSpPr/>
          <p:nvPr/>
        </p:nvCxnSpPr>
        <p:spPr>
          <a:xfrm>
            <a:off x="7441204" y="4573792"/>
            <a:ext cx="0" cy="20852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a:off x="8028384" y="4573792"/>
            <a:ext cx="0" cy="20852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529" name="TextBox 22528"/>
          <p:cNvSpPr txBox="1"/>
          <p:nvPr/>
        </p:nvSpPr>
        <p:spPr>
          <a:xfrm>
            <a:off x="1699020" y="5949280"/>
            <a:ext cx="5203860" cy="338554"/>
          </a:xfrm>
          <a:prstGeom prst="rect">
            <a:avLst/>
          </a:prstGeom>
          <a:noFill/>
        </p:spPr>
        <p:txBody>
          <a:bodyPr wrap="none" rtlCol="0">
            <a:spAutoFit/>
          </a:bodyPr>
          <a:lstStyle/>
          <a:p>
            <a:r>
              <a:rPr lang="en-US" altLang="ko-KR" sz="1600" b="1" dirty="0"/>
              <a:t>“Bias is 5% or below, pass. Linearity is 13.2%, Fail.”</a:t>
            </a:r>
            <a:endParaRPr lang="ko-KR" altLang="en-US" sz="1600" b="1" dirty="0"/>
          </a:p>
        </p:txBody>
      </p:sp>
      <p:sp>
        <p:nvSpPr>
          <p:cNvPr id="24"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136</a:t>
            </a:fld>
            <a:endParaRPr lang="ko-KR" altLang="en-US" dirty="0"/>
          </a:p>
        </p:txBody>
      </p:sp>
    </p:spTree>
    <p:extLst>
      <p:ext uri="{BB962C8B-B14F-4D97-AF65-F5344CB8AC3E}">
        <p14:creationId xmlns:p14="http://schemas.microsoft.com/office/powerpoint/2010/main" val="375957216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3281155" cy="400110"/>
          </a:xfrm>
          <a:prstGeom prst="rect">
            <a:avLst/>
          </a:prstGeom>
          <a:noFill/>
        </p:spPr>
        <p:txBody>
          <a:bodyPr wrap="none" rtlCol="0">
            <a:spAutoFit/>
          </a:bodyPr>
          <a:lstStyle/>
          <a:p>
            <a:r>
              <a:rPr lang="en-US" altLang="ko-KR" sz="2000" b="1" dirty="0"/>
              <a:t>Type 5 Study Case study</a:t>
            </a:r>
            <a:r>
              <a:rPr lang="ko-KR" altLang="en-US" sz="2000" b="1" dirty="0"/>
              <a:t> </a:t>
            </a:r>
          </a:p>
        </p:txBody>
      </p:sp>
      <p:sp>
        <p:nvSpPr>
          <p:cNvPr id="3" name="TextBox 2"/>
          <p:cNvSpPr txBox="1"/>
          <p:nvPr/>
        </p:nvSpPr>
        <p:spPr>
          <a:xfrm>
            <a:off x="611560" y="836712"/>
            <a:ext cx="8246720" cy="1292662"/>
          </a:xfrm>
          <a:prstGeom prst="rect">
            <a:avLst/>
          </a:prstGeom>
          <a:noFill/>
        </p:spPr>
        <p:txBody>
          <a:bodyPr wrap="square" rtlCol="0">
            <a:spAutoFit/>
          </a:bodyPr>
          <a:lstStyle/>
          <a:p>
            <a:r>
              <a:rPr lang="en-US" altLang="ko-KR" sz="1300" dirty="0"/>
              <a:t>The stability evaluation (Type 5 Study) of the measurement system uses a control chart for variables. If repeated measurements are available, use the </a:t>
            </a:r>
            <a:r>
              <a:rPr lang="en-US" altLang="ko-KR" sz="1300" dirty="0" err="1"/>
              <a:t>Xbar</a:t>
            </a:r>
            <a:r>
              <a:rPr lang="en-US" altLang="ko-KR" sz="1300" dirty="0"/>
              <a:t>-R chart or the </a:t>
            </a:r>
            <a:r>
              <a:rPr lang="en-US" altLang="ko-KR" sz="1300" dirty="0" err="1"/>
              <a:t>Xbar</a:t>
            </a:r>
            <a:r>
              <a:rPr lang="en-US" altLang="ko-KR" sz="1300" dirty="0"/>
              <a:t>-S chart, and use the I-MR Chart for only one measurement.</a:t>
            </a:r>
            <a:br>
              <a:rPr lang="en-US" altLang="ko-KR" sz="1300" dirty="0"/>
            </a:br>
            <a:br>
              <a:rPr lang="en-US" altLang="ko-KR" sz="1300" dirty="0"/>
            </a:br>
            <a:r>
              <a:rPr lang="en-US" altLang="ko-KR" sz="1300" dirty="0"/>
              <a:t>At this time, the accuracy (Bias) of the instrument is monitored using the average control chart, and precision of the instrument is monitored using dispersion control chart.</a:t>
            </a:r>
            <a:endParaRPr lang="ko-KR" altLang="en-US" sz="1300" dirty="0"/>
          </a:p>
        </p:txBody>
      </p:sp>
      <p:sp>
        <p:nvSpPr>
          <p:cNvPr id="4" name="TextBox 3"/>
          <p:cNvSpPr txBox="1"/>
          <p:nvPr/>
        </p:nvSpPr>
        <p:spPr>
          <a:xfrm>
            <a:off x="755576" y="2132856"/>
            <a:ext cx="3349891" cy="292388"/>
          </a:xfrm>
          <a:prstGeom prst="rect">
            <a:avLst/>
          </a:prstGeom>
          <a:noFill/>
        </p:spPr>
        <p:txBody>
          <a:bodyPr wrap="none" rtlCol="0">
            <a:spAutoFit/>
          </a:bodyPr>
          <a:lstStyle/>
          <a:p>
            <a:r>
              <a:rPr lang="en-US" altLang="ko-KR" sz="1300" dirty="0"/>
              <a:t>Safety assessment procedure(AIAG 2010)</a:t>
            </a:r>
            <a:endParaRPr lang="ko-KR" altLang="en-US" sz="1300" dirty="0"/>
          </a:p>
        </p:txBody>
      </p:sp>
      <p:sp>
        <p:nvSpPr>
          <p:cNvPr id="5" name="TextBox 4"/>
          <p:cNvSpPr txBox="1"/>
          <p:nvPr/>
        </p:nvSpPr>
        <p:spPr>
          <a:xfrm>
            <a:off x="755576" y="2564904"/>
            <a:ext cx="8388424" cy="1492716"/>
          </a:xfrm>
          <a:prstGeom prst="rect">
            <a:avLst/>
          </a:prstGeom>
          <a:noFill/>
        </p:spPr>
        <p:txBody>
          <a:bodyPr wrap="square" rtlCol="0">
            <a:spAutoFit/>
          </a:bodyPr>
          <a:lstStyle/>
          <a:p>
            <a:pPr marL="342900" indent="-342900">
              <a:buAutoNum type="arabicPeriod"/>
            </a:pPr>
            <a:r>
              <a:rPr lang="en-US" altLang="ko-KR" sz="1300" dirty="0"/>
              <a:t>Select a standard (standard sample) with a Traceable standard whose reference value is known. If it is difficult to obtain a sample with a traceable standard, select a production part that is in the middle of the expected range of the production process and use it as a standard sample for stability analysis. It is possible to perform stability analysis using only one standard sample corresponding to the middle part of the measurement range, but it is necessary to analyze the stability by operating a control chart for the standard samples corresponding to the lowest, highest, and intermediate ranges of the expected measurement range desirable.</a:t>
            </a:r>
          </a:p>
        </p:txBody>
      </p:sp>
      <p:sp>
        <p:nvSpPr>
          <p:cNvPr id="6" name="TextBox 5"/>
          <p:cNvSpPr txBox="1"/>
          <p:nvPr/>
        </p:nvSpPr>
        <p:spPr>
          <a:xfrm>
            <a:off x="755576" y="4071942"/>
            <a:ext cx="8174142" cy="692497"/>
          </a:xfrm>
          <a:prstGeom prst="rect">
            <a:avLst/>
          </a:prstGeom>
          <a:noFill/>
        </p:spPr>
        <p:txBody>
          <a:bodyPr wrap="square" rtlCol="0">
            <a:spAutoFit/>
          </a:bodyPr>
          <a:lstStyle/>
          <a:p>
            <a:pPr marL="342900" indent="-342900">
              <a:buAutoNum type="arabicPeriod" startAt="2"/>
            </a:pPr>
            <a:r>
              <a:rPr lang="en-US" altLang="ko-KR" sz="1300" dirty="0"/>
              <a:t>Measure the standard sample 3 to 5 times periodically (daily, hourly). The number and frequency of repeated measurements should depend on knowledge of the operating conditions of the measurement system.</a:t>
            </a:r>
          </a:p>
        </p:txBody>
      </p:sp>
      <p:sp>
        <p:nvSpPr>
          <p:cNvPr id="7" name="TextBox 6"/>
          <p:cNvSpPr txBox="1"/>
          <p:nvPr/>
        </p:nvSpPr>
        <p:spPr>
          <a:xfrm>
            <a:off x="755576" y="4786322"/>
            <a:ext cx="5603201" cy="292388"/>
          </a:xfrm>
          <a:prstGeom prst="rect">
            <a:avLst/>
          </a:prstGeom>
          <a:noFill/>
        </p:spPr>
        <p:txBody>
          <a:bodyPr wrap="none" rtlCol="0">
            <a:spAutoFit/>
          </a:bodyPr>
          <a:lstStyle/>
          <a:p>
            <a:r>
              <a:rPr lang="en-US" altLang="ko-KR" sz="1300" dirty="0"/>
              <a:t>3.    </a:t>
            </a:r>
            <a:r>
              <a:rPr lang="en-US" sz="1300" dirty="0"/>
              <a:t>Point your measurements on the </a:t>
            </a:r>
            <a:r>
              <a:rPr lang="en-US" sz="1300" dirty="0" err="1"/>
              <a:t>Xbar</a:t>
            </a:r>
            <a:r>
              <a:rPr lang="en-US" sz="1300" dirty="0"/>
              <a:t>-R chart or the </a:t>
            </a:r>
            <a:r>
              <a:rPr lang="en-US" sz="1300" dirty="0" err="1"/>
              <a:t>Xbar</a:t>
            </a:r>
            <a:r>
              <a:rPr lang="en-US" sz="1300" dirty="0"/>
              <a:t>-S chart.</a:t>
            </a:r>
            <a:endParaRPr lang="en-US" altLang="ko-KR" sz="1300" dirty="0"/>
          </a:p>
        </p:txBody>
      </p:sp>
      <p:sp>
        <p:nvSpPr>
          <p:cNvPr id="8" name="TextBox 7"/>
          <p:cNvSpPr txBox="1"/>
          <p:nvPr/>
        </p:nvSpPr>
        <p:spPr>
          <a:xfrm>
            <a:off x="755576" y="5146362"/>
            <a:ext cx="8388424" cy="492443"/>
          </a:xfrm>
          <a:prstGeom prst="rect">
            <a:avLst/>
          </a:prstGeom>
          <a:noFill/>
        </p:spPr>
        <p:txBody>
          <a:bodyPr wrap="square" rtlCol="0">
            <a:spAutoFit/>
          </a:bodyPr>
          <a:lstStyle/>
          <a:p>
            <a:pPr marL="342900" indent="-342900">
              <a:buAutoNum type="arabicPeriod" startAt="4"/>
            </a:pPr>
            <a:r>
              <a:rPr lang="en-US" altLang="ko-KR" sz="1300" dirty="0"/>
              <a:t>Calculate the management limit line and check the stability of the measurement system by checking </a:t>
            </a:r>
          </a:p>
          <a:p>
            <a:pPr marL="342900" indent="-342900"/>
            <a:r>
              <a:rPr lang="en-US" altLang="ko-KR" sz="1300" dirty="0"/>
              <a:t>      the management abnormal condition.. </a:t>
            </a:r>
          </a:p>
        </p:txBody>
      </p:sp>
      <p:sp>
        <p:nvSpPr>
          <p:cNvPr id="9" name="TextBox 8"/>
          <p:cNvSpPr txBox="1"/>
          <p:nvPr/>
        </p:nvSpPr>
        <p:spPr>
          <a:xfrm>
            <a:off x="755576" y="5751158"/>
            <a:ext cx="8245580" cy="1092607"/>
          </a:xfrm>
          <a:prstGeom prst="rect">
            <a:avLst/>
          </a:prstGeom>
          <a:noFill/>
        </p:spPr>
        <p:txBody>
          <a:bodyPr wrap="square" rtlCol="0">
            <a:spAutoFit/>
          </a:bodyPr>
          <a:lstStyle/>
          <a:p>
            <a:pPr marL="342900" indent="-342900">
              <a:buAutoNum type="arabicPeriod" startAt="5"/>
            </a:pPr>
            <a:r>
              <a:rPr lang="en-US" altLang="ko-KR" sz="1300" dirty="0"/>
              <a:t>If it is determined that the measurement process is stable, this data can be used to estimate the bias of the measurement system, and the standard deviation of all measurement data can be determined and used as the repeatability value of the approximate measurement system. And can be used to determine whether the repeatability of the measurement system is appropriate by comparing it to the standard deviation of the process</a:t>
            </a:r>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137</a:t>
            </a:fld>
            <a:endParaRPr lang="ko-KR" altLang="en-US" dirty="0"/>
          </a:p>
        </p:txBody>
      </p:sp>
    </p:spTree>
    <p:extLst>
      <p:ext uri="{BB962C8B-B14F-4D97-AF65-F5344CB8AC3E}">
        <p14:creationId xmlns:p14="http://schemas.microsoft.com/office/powerpoint/2010/main" val="17683052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p:cNvSpPr/>
          <p:nvPr/>
        </p:nvSpPr>
        <p:spPr>
          <a:xfrm>
            <a:off x="6156176" y="1700808"/>
            <a:ext cx="2880320" cy="1368152"/>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pic>
        <p:nvPicPr>
          <p:cNvPr id="2253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5536" y="1268760"/>
            <a:ext cx="5760640" cy="4320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395654" y="827089"/>
            <a:ext cx="8748346"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tuyến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và</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độ</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lệch</a:t>
            </a:r>
            <a:r>
              <a:rPr lang="ko-KR" altLang="en-US" sz="1400" b="1" kern="0" dirty="0">
                <a:solidFill>
                  <a:sysClr val="windowText" lastClr="000000"/>
                </a:solidFill>
                <a:latin typeface="맑은 고딕" pitchFamily="50" charset="-127"/>
                <a:ea typeface="맑은 고딕" pitchFamily="50" charset="-127"/>
              </a:rPr>
              <a:t> </a:t>
            </a:r>
            <a:r>
              <a:rPr lang="en-US" altLang="ko-KR" sz="1200" b="1" kern="0" dirty="0">
                <a:solidFill>
                  <a:sysClr val="windowText" lastClr="000000"/>
                </a:solidFill>
                <a:latin typeface="맑은 고딕" pitchFamily="50" charset="-127"/>
                <a:ea typeface="맑은 고딕" pitchFamily="50" charset="-127"/>
              </a:rPr>
              <a:t>(</a:t>
            </a:r>
            <a:r>
              <a:rPr lang="en-US" altLang="ko-KR" sz="1200" b="1" kern="0" dirty="0" err="1">
                <a:solidFill>
                  <a:sysClr val="windowText" lastClr="000000"/>
                </a:solidFill>
                <a:latin typeface="맑은 고딕" pitchFamily="50" charset="-127"/>
                <a:ea typeface="맑은 고딕" pitchFamily="50" charset="-127"/>
              </a:rPr>
              <a:t>trường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hợp</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ước</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lượng</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biến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động</a:t>
            </a:r>
            <a:r>
              <a:rPr lang="en-US" altLang="ko-KR" sz="1200" b="1" kern="0" dirty="0">
                <a:solidFill>
                  <a:sysClr val="windowText" lastClr="000000"/>
                </a:solidFill>
                <a:latin typeface="맑은 고딕" pitchFamily="50" charset="-127"/>
                <a:ea typeface="맑은 고딕" pitchFamily="50" charset="-127"/>
              </a:rPr>
              <a:t> 6σTotal </a:t>
            </a:r>
            <a:r>
              <a:rPr lang="en-US" altLang="ko-KR" sz="1200" b="1" kern="0" dirty="0" err="1">
                <a:solidFill>
                  <a:sysClr val="windowText" lastClr="000000"/>
                </a:solidFill>
                <a:latin typeface="맑은 고딕" pitchFamily="50" charset="-127"/>
                <a:ea typeface="맑은 고딕" pitchFamily="50" charset="-127"/>
              </a:rPr>
              <a:t>và</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phân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tích</a:t>
            </a:r>
            <a:r>
              <a:rPr lang="en-US" altLang="ko-KR" sz="1200" b="1" kern="0" dirty="0">
                <a:solidFill>
                  <a:sysClr val="windowText" lastClr="000000"/>
                </a:solidFill>
                <a:latin typeface="맑은 고딕" pitchFamily="50" charset="-127"/>
                <a:ea typeface="맑은 고딕" pitchFamily="50" charset="-127"/>
              </a:rPr>
              <a:t>)  </a:t>
            </a:r>
            <a:r>
              <a:rPr lang="ko-KR" altLang="en-US" sz="12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179512" y="148570"/>
            <a:ext cx="4058612" cy="400110"/>
          </a:xfrm>
          <a:prstGeom prst="rect">
            <a:avLst/>
          </a:prstGeom>
          <a:noFill/>
        </p:spPr>
        <p:txBody>
          <a:bodyPr wrap="none" rtlCol="0">
            <a:spAutoFit/>
          </a:bodyPr>
          <a:lstStyle/>
          <a:p>
            <a:r>
              <a:rPr lang="en-US" altLang="ko-KR" sz="2000" b="1" dirty="0"/>
              <a:t>Type 4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2" name="TextBox 1"/>
          <p:cNvSpPr txBox="1"/>
          <p:nvPr/>
        </p:nvSpPr>
        <p:spPr>
          <a:xfrm>
            <a:off x="6084168" y="1700808"/>
            <a:ext cx="2898550" cy="577081"/>
          </a:xfrm>
          <a:prstGeom prst="rect">
            <a:avLst/>
          </a:prstGeom>
          <a:noFill/>
        </p:spPr>
        <p:txBody>
          <a:bodyPr wrap="none" rtlCol="0">
            <a:spAutoFit/>
          </a:bodyPr>
          <a:lstStyle/>
          <a:p>
            <a:pPr>
              <a:lnSpc>
                <a:spcPct val="150000"/>
              </a:lnSpc>
            </a:pPr>
            <a:r>
              <a:rPr lang="en-US" altLang="ko-KR" sz="1050" dirty="0" err="1"/>
              <a:t>Độ</a:t>
            </a:r>
            <a:r>
              <a:rPr lang="en-US" altLang="ko-KR" sz="1050" dirty="0"/>
              <a:t> </a:t>
            </a:r>
            <a:r>
              <a:rPr lang="en-US" altLang="ko-KR" sz="1050" dirty="0" err="1"/>
              <a:t>tuyến</a:t>
            </a:r>
            <a:r>
              <a:rPr lang="en-US" altLang="ko-KR" sz="1050" dirty="0"/>
              <a:t> </a:t>
            </a:r>
            <a:r>
              <a:rPr lang="en-US" altLang="ko-KR" sz="1050" dirty="0" err="1"/>
              <a:t>tính</a:t>
            </a:r>
            <a:r>
              <a:rPr lang="ko-KR" altLang="en-US" sz="1050" dirty="0"/>
              <a:t> </a:t>
            </a:r>
            <a:r>
              <a:rPr lang="en-US" altLang="ko-KR" sz="1050" dirty="0"/>
              <a:t>=</a:t>
            </a:r>
            <a:r>
              <a:rPr lang="ko-KR" altLang="en-US" sz="1050" dirty="0"/>
              <a:t>ㅣ</a:t>
            </a:r>
            <a:r>
              <a:rPr lang="en-US" altLang="ko-KR" sz="1050" dirty="0" err="1"/>
              <a:t>độ</a:t>
            </a:r>
            <a:r>
              <a:rPr lang="en-US" altLang="ko-KR" sz="1050" dirty="0"/>
              <a:t> </a:t>
            </a:r>
            <a:r>
              <a:rPr lang="en-US" altLang="ko-KR" sz="1050" dirty="0" err="1"/>
              <a:t>nghiêng</a:t>
            </a:r>
            <a:r>
              <a:rPr lang="ko-KR" altLang="en-US" sz="1050" dirty="0"/>
              <a:t>ㅣ</a:t>
            </a:r>
            <a:r>
              <a:rPr lang="en-US" altLang="ko-KR" sz="1050" dirty="0"/>
              <a:t>x </a:t>
            </a:r>
            <a:r>
              <a:rPr lang="en-US" altLang="ko-KR" sz="1050" dirty="0" err="1"/>
              <a:t>biến</a:t>
            </a:r>
            <a:r>
              <a:rPr lang="en-US" altLang="ko-KR" sz="1050" dirty="0"/>
              <a:t> </a:t>
            </a:r>
            <a:r>
              <a:rPr lang="en-US" altLang="ko-KR" sz="1050" dirty="0" err="1"/>
              <a:t>động</a:t>
            </a:r>
            <a:endParaRPr lang="en-US" altLang="ko-KR" sz="1050" dirty="0"/>
          </a:p>
          <a:p>
            <a:pPr>
              <a:lnSpc>
                <a:spcPct val="150000"/>
              </a:lnSpc>
            </a:pPr>
            <a:r>
              <a:rPr lang="en-US" altLang="ko-KR" sz="1050" dirty="0"/>
              <a:t> process</a:t>
            </a:r>
            <a:r>
              <a:rPr lang="ko-KR" altLang="en-US" sz="1050" dirty="0"/>
              <a:t> </a:t>
            </a:r>
            <a:r>
              <a:rPr lang="en-US" altLang="ko-KR" sz="1050" dirty="0"/>
              <a:t> = 0.13167 x 16.5368 = 2.17735</a:t>
            </a:r>
            <a:endParaRPr lang="ko-KR" altLang="en-US" sz="1050" dirty="0"/>
          </a:p>
        </p:txBody>
      </p:sp>
      <p:sp>
        <p:nvSpPr>
          <p:cNvPr id="6" name="TextBox 5"/>
          <p:cNvSpPr txBox="1"/>
          <p:nvPr/>
        </p:nvSpPr>
        <p:spPr>
          <a:xfrm>
            <a:off x="6156176" y="2420888"/>
            <a:ext cx="2972289" cy="577081"/>
          </a:xfrm>
          <a:prstGeom prst="rect">
            <a:avLst/>
          </a:prstGeom>
          <a:noFill/>
        </p:spPr>
        <p:txBody>
          <a:bodyPr wrap="none" rtlCol="0">
            <a:spAutoFit/>
          </a:bodyPr>
          <a:lstStyle/>
          <a:p>
            <a:pPr>
              <a:lnSpc>
                <a:spcPct val="150000"/>
              </a:lnSpc>
            </a:pPr>
            <a:r>
              <a:rPr lang="en-US" altLang="ko-KR" sz="1050" dirty="0"/>
              <a:t>%</a:t>
            </a:r>
            <a:r>
              <a:rPr lang="en-US" altLang="ko-KR" sz="1050" dirty="0" err="1"/>
              <a:t>độ</a:t>
            </a:r>
            <a:r>
              <a:rPr lang="en-US" altLang="ko-KR" sz="1050" dirty="0"/>
              <a:t> </a:t>
            </a:r>
            <a:r>
              <a:rPr lang="en-US" altLang="ko-KR" sz="1050" dirty="0" err="1"/>
              <a:t>tuyến</a:t>
            </a:r>
            <a:r>
              <a:rPr lang="en-US" altLang="ko-KR" sz="1050" dirty="0"/>
              <a:t> </a:t>
            </a:r>
            <a:r>
              <a:rPr lang="en-US" altLang="ko-KR" sz="1050" dirty="0" err="1"/>
              <a:t>tính</a:t>
            </a:r>
            <a:r>
              <a:rPr lang="ko-KR" altLang="en-US" sz="1050" dirty="0"/>
              <a:t> </a:t>
            </a:r>
            <a:r>
              <a:rPr lang="en-US" altLang="ko-KR" sz="1050" dirty="0"/>
              <a:t>= </a:t>
            </a:r>
            <a:r>
              <a:rPr lang="en-US" altLang="ko-KR" sz="1050" dirty="0" err="1"/>
              <a:t>độ</a:t>
            </a:r>
            <a:r>
              <a:rPr lang="en-US" altLang="ko-KR" sz="1050" dirty="0"/>
              <a:t> </a:t>
            </a:r>
            <a:r>
              <a:rPr lang="en-US" altLang="ko-KR" sz="1050" dirty="0" err="1"/>
              <a:t>tuyến</a:t>
            </a:r>
            <a:r>
              <a:rPr lang="en-US" altLang="ko-KR" sz="1050" dirty="0"/>
              <a:t> </a:t>
            </a:r>
            <a:r>
              <a:rPr lang="en-US" altLang="ko-KR" sz="1050" dirty="0" err="1"/>
              <a:t>tính</a:t>
            </a:r>
            <a:r>
              <a:rPr lang="ko-KR" altLang="en-US" sz="1050" dirty="0"/>
              <a:t> </a:t>
            </a:r>
            <a:r>
              <a:rPr lang="en-US" altLang="ko-KR" sz="1050" dirty="0"/>
              <a:t>/ </a:t>
            </a:r>
            <a:r>
              <a:rPr lang="en-US" altLang="ko-KR" sz="1050" dirty="0" err="1"/>
              <a:t>biến</a:t>
            </a:r>
            <a:r>
              <a:rPr lang="en-US" altLang="ko-KR" sz="1050" dirty="0"/>
              <a:t> </a:t>
            </a:r>
            <a:r>
              <a:rPr lang="en-US" altLang="ko-KR" sz="1050" dirty="0" err="1"/>
              <a:t>động</a:t>
            </a:r>
            <a:endParaRPr lang="en-US" altLang="ko-KR" sz="1050" dirty="0"/>
          </a:p>
          <a:p>
            <a:pPr>
              <a:lnSpc>
                <a:spcPct val="150000"/>
              </a:lnSpc>
            </a:pPr>
            <a:r>
              <a:rPr lang="en-US" altLang="ko-KR" sz="1050" dirty="0"/>
              <a:t> process x 100 = </a:t>
            </a:r>
            <a:r>
              <a:rPr lang="en-US" altLang="ko-KR" sz="1050" dirty="0" err="1"/>
              <a:t>lđộ</a:t>
            </a:r>
            <a:r>
              <a:rPr lang="en-US" altLang="ko-KR" sz="1050" dirty="0"/>
              <a:t> </a:t>
            </a:r>
            <a:r>
              <a:rPr lang="en-US" altLang="ko-KR" sz="1050" dirty="0" err="1"/>
              <a:t>nghiêngl</a:t>
            </a:r>
            <a:r>
              <a:rPr lang="ko-KR" altLang="en-US" sz="1050" dirty="0"/>
              <a:t> </a:t>
            </a:r>
            <a:r>
              <a:rPr lang="en-US" altLang="ko-KR" sz="1050" dirty="0"/>
              <a:t>x 100 = 13.2%</a:t>
            </a:r>
            <a:endParaRPr lang="ko-KR" altLang="en-US" sz="1050" dirty="0"/>
          </a:p>
        </p:txBody>
      </p:sp>
      <p:cxnSp>
        <p:nvCxnSpPr>
          <p:cNvPr id="7" name="직선 연결선 6"/>
          <p:cNvCxnSpPr/>
          <p:nvPr/>
        </p:nvCxnSpPr>
        <p:spPr>
          <a:xfrm>
            <a:off x="4486740" y="2996952"/>
            <a:ext cx="1512168" cy="0"/>
          </a:xfrm>
          <a:prstGeom prst="line">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flipV="1">
            <a:off x="6012160" y="2636912"/>
            <a:ext cx="360040" cy="360040"/>
          </a:xfrm>
          <a:prstGeom prst="line">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6156176" y="3284984"/>
            <a:ext cx="3036409" cy="334707"/>
          </a:xfrm>
          <a:prstGeom prst="rect">
            <a:avLst/>
          </a:prstGeom>
          <a:noFill/>
        </p:spPr>
        <p:txBody>
          <a:bodyPr wrap="none" rtlCol="0">
            <a:spAutoFit/>
          </a:bodyPr>
          <a:lstStyle/>
          <a:p>
            <a:pPr>
              <a:lnSpc>
                <a:spcPct val="150000"/>
              </a:lnSpc>
            </a:pPr>
            <a:r>
              <a:rPr lang="en-US" altLang="ko-KR" sz="1050" dirty="0"/>
              <a:t>%</a:t>
            </a:r>
            <a:r>
              <a:rPr lang="en-US" altLang="ko-KR" sz="1050" dirty="0" err="1"/>
              <a:t>Độ</a:t>
            </a:r>
            <a:r>
              <a:rPr lang="en-US" altLang="ko-KR" sz="1050" dirty="0"/>
              <a:t> </a:t>
            </a:r>
            <a:r>
              <a:rPr lang="en-US" altLang="ko-KR" sz="1050" dirty="0" err="1"/>
              <a:t>lệch</a:t>
            </a:r>
            <a:r>
              <a:rPr lang="ko-KR" altLang="en-US" sz="1050" dirty="0"/>
              <a:t> </a:t>
            </a:r>
            <a:r>
              <a:rPr lang="en-US" altLang="ko-KR" sz="1050" dirty="0"/>
              <a:t>= </a:t>
            </a:r>
            <a:r>
              <a:rPr lang="en-US" altLang="ko-KR" sz="1050" dirty="0" err="1"/>
              <a:t>độ</a:t>
            </a:r>
            <a:r>
              <a:rPr lang="en-US" altLang="ko-KR" sz="1050" dirty="0"/>
              <a:t> </a:t>
            </a:r>
            <a:r>
              <a:rPr lang="en-US" altLang="ko-KR" sz="1050" dirty="0" err="1"/>
              <a:t>lệch</a:t>
            </a:r>
            <a:r>
              <a:rPr lang="en-US" altLang="ko-KR" sz="1050" dirty="0"/>
              <a:t>/</a:t>
            </a:r>
            <a:r>
              <a:rPr lang="en-US" altLang="ko-KR" sz="1050" dirty="0" err="1"/>
              <a:t>biến</a:t>
            </a:r>
            <a:r>
              <a:rPr lang="en-US" altLang="ko-KR" sz="1050" dirty="0"/>
              <a:t> </a:t>
            </a:r>
            <a:r>
              <a:rPr lang="en-US" altLang="ko-KR" sz="1050" dirty="0" err="1"/>
              <a:t>động</a:t>
            </a:r>
            <a:r>
              <a:rPr lang="en-US" altLang="ko-KR" sz="1050" dirty="0"/>
              <a:t> process</a:t>
            </a:r>
            <a:r>
              <a:rPr lang="ko-KR" altLang="en-US" sz="1050" dirty="0"/>
              <a:t> </a:t>
            </a:r>
            <a:r>
              <a:rPr lang="en-US" altLang="ko-KR" sz="1050" dirty="0"/>
              <a:t>x 100 </a:t>
            </a:r>
            <a:endParaRPr lang="ko-KR" altLang="en-US" sz="1050" dirty="0"/>
          </a:p>
        </p:txBody>
      </p:sp>
      <p:sp>
        <p:nvSpPr>
          <p:cNvPr id="13" name="TextBox 12"/>
          <p:cNvSpPr txBox="1"/>
          <p:nvPr/>
        </p:nvSpPr>
        <p:spPr>
          <a:xfrm>
            <a:off x="6156176" y="3933056"/>
            <a:ext cx="1244251" cy="334707"/>
          </a:xfrm>
          <a:prstGeom prst="rect">
            <a:avLst/>
          </a:prstGeom>
          <a:noFill/>
        </p:spPr>
        <p:txBody>
          <a:bodyPr wrap="none" rtlCol="0">
            <a:spAutoFit/>
          </a:bodyPr>
          <a:lstStyle/>
          <a:p>
            <a:pPr>
              <a:lnSpc>
                <a:spcPct val="150000"/>
              </a:lnSpc>
            </a:pPr>
            <a:r>
              <a:rPr lang="en-US" altLang="ko-KR" sz="1050" dirty="0"/>
              <a:t>Bias </a:t>
            </a:r>
            <a:r>
              <a:rPr lang="en-US" altLang="ko-KR" sz="1050" dirty="0" err="1"/>
              <a:t>bình</a:t>
            </a:r>
            <a:r>
              <a:rPr lang="en-US" altLang="ko-KR" sz="1050" dirty="0"/>
              <a:t> </a:t>
            </a:r>
            <a:r>
              <a:rPr lang="en-US" altLang="ko-KR" sz="1050" dirty="0" err="1"/>
              <a:t>quân</a:t>
            </a:r>
            <a:r>
              <a:rPr lang="ko-KR" altLang="en-US" sz="1050" dirty="0"/>
              <a:t> </a:t>
            </a:r>
            <a:r>
              <a:rPr lang="en-US" altLang="ko-KR" sz="1050" dirty="0"/>
              <a:t>=</a:t>
            </a:r>
            <a:endParaRPr lang="ko-KR" altLang="en-US" sz="1050" dirty="0"/>
          </a:p>
        </p:txBody>
      </p:sp>
      <p:cxnSp>
        <p:nvCxnSpPr>
          <p:cNvPr id="14" name="직선 연결선 13"/>
          <p:cNvCxnSpPr/>
          <p:nvPr/>
        </p:nvCxnSpPr>
        <p:spPr>
          <a:xfrm>
            <a:off x="7325360" y="4135120"/>
            <a:ext cx="51308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7311775" y="3860839"/>
            <a:ext cx="543739" cy="303481"/>
          </a:xfrm>
          <a:prstGeom prst="rect">
            <a:avLst/>
          </a:prstGeom>
          <a:noFill/>
        </p:spPr>
        <p:txBody>
          <a:bodyPr wrap="none" rtlCol="0">
            <a:spAutoFit/>
          </a:bodyPr>
          <a:lstStyle/>
          <a:p>
            <a:pPr>
              <a:lnSpc>
                <a:spcPct val="150000"/>
              </a:lnSpc>
            </a:pPr>
            <a:r>
              <a:rPr lang="en-US" altLang="ko-KR" sz="1050" dirty="0"/>
              <a:t>Σ Bias</a:t>
            </a:r>
            <a:endParaRPr lang="ko-KR" altLang="en-US" sz="1050" dirty="0"/>
          </a:p>
        </p:txBody>
      </p:sp>
      <p:sp>
        <p:nvSpPr>
          <p:cNvPr id="18" name="TextBox 17"/>
          <p:cNvSpPr txBox="1"/>
          <p:nvPr/>
        </p:nvSpPr>
        <p:spPr>
          <a:xfrm>
            <a:off x="7457400" y="4045704"/>
            <a:ext cx="284561" cy="334707"/>
          </a:xfrm>
          <a:prstGeom prst="rect">
            <a:avLst/>
          </a:prstGeom>
          <a:noFill/>
        </p:spPr>
        <p:txBody>
          <a:bodyPr wrap="square" rtlCol="0">
            <a:spAutoFit/>
          </a:bodyPr>
          <a:lstStyle/>
          <a:p>
            <a:pPr>
              <a:lnSpc>
                <a:spcPct val="150000"/>
              </a:lnSpc>
            </a:pPr>
            <a:r>
              <a:rPr lang="en-US" altLang="ko-KR" sz="1050" dirty="0"/>
              <a:t>5</a:t>
            </a:r>
            <a:endParaRPr lang="ko-KR" altLang="en-US" sz="1050" dirty="0"/>
          </a:p>
        </p:txBody>
      </p:sp>
      <p:sp>
        <p:nvSpPr>
          <p:cNvPr id="19" name="TextBox 18"/>
          <p:cNvSpPr txBox="1"/>
          <p:nvPr/>
        </p:nvSpPr>
        <p:spPr>
          <a:xfrm>
            <a:off x="7884368" y="3973696"/>
            <a:ext cx="534121" cy="303481"/>
          </a:xfrm>
          <a:prstGeom prst="rect">
            <a:avLst/>
          </a:prstGeom>
          <a:noFill/>
        </p:spPr>
        <p:txBody>
          <a:bodyPr wrap="none" rtlCol="0">
            <a:spAutoFit/>
          </a:bodyPr>
          <a:lstStyle/>
          <a:p>
            <a:pPr>
              <a:lnSpc>
                <a:spcPct val="150000"/>
              </a:lnSpc>
            </a:pPr>
            <a:r>
              <a:rPr lang="en-US" altLang="ko-KR" sz="1050" dirty="0"/>
              <a:t>X 100</a:t>
            </a:r>
            <a:endParaRPr lang="ko-KR" altLang="en-US" sz="1050" dirty="0"/>
          </a:p>
        </p:txBody>
      </p:sp>
      <p:sp>
        <p:nvSpPr>
          <p:cNvPr id="20" name="TextBox 19"/>
          <p:cNvSpPr txBox="1"/>
          <p:nvPr/>
        </p:nvSpPr>
        <p:spPr>
          <a:xfrm>
            <a:off x="6084168" y="4581128"/>
            <a:ext cx="1356462" cy="334707"/>
          </a:xfrm>
          <a:prstGeom prst="rect">
            <a:avLst/>
          </a:prstGeom>
          <a:noFill/>
        </p:spPr>
        <p:txBody>
          <a:bodyPr wrap="none" rtlCol="0">
            <a:spAutoFit/>
          </a:bodyPr>
          <a:lstStyle/>
          <a:p>
            <a:pPr>
              <a:lnSpc>
                <a:spcPct val="150000"/>
              </a:lnSpc>
            </a:pPr>
            <a:r>
              <a:rPr lang="en-US" altLang="ko-KR" sz="1050" dirty="0"/>
              <a:t>%Bias </a:t>
            </a:r>
            <a:r>
              <a:rPr lang="en-US" altLang="ko-KR" sz="1050" dirty="0" err="1"/>
              <a:t>bình</a:t>
            </a:r>
            <a:r>
              <a:rPr lang="en-US" altLang="ko-KR" sz="1050" dirty="0"/>
              <a:t> </a:t>
            </a:r>
            <a:r>
              <a:rPr lang="en-US" altLang="ko-KR" sz="1050" dirty="0" err="1"/>
              <a:t>quân</a:t>
            </a:r>
            <a:r>
              <a:rPr lang="ko-KR" altLang="en-US" sz="1050" dirty="0"/>
              <a:t> </a:t>
            </a:r>
            <a:r>
              <a:rPr lang="en-US" altLang="ko-KR" sz="1050" dirty="0"/>
              <a:t>=</a:t>
            </a:r>
            <a:endParaRPr lang="ko-KR" altLang="en-US" sz="1050" dirty="0"/>
          </a:p>
        </p:txBody>
      </p:sp>
      <p:cxnSp>
        <p:nvCxnSpPr>
          <p:cNvPr id="26" name="직선 연결선 25"/>
          <p:cNvCxnSpPr/>
          <p:nvPr/>
        </p:nvCxnSpPr>
        <p:spPr>
          <a:xfrm flipV="1">
            <a:off x="7375539" y="4783138"/>
            <a:ext cx="723265" cy="26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7214832" y="4509120"/>
            <a:ext cx="1101584" cy="334707"/>
          </a:xfrm>
          <a:prstGeom prst="rect">
            <a:avLst/>
          </a:prstGeom>
          <a:noFill/>
        </p:spPr>
        <p:txBody>
          <a:bodyPr wrap="none" rtlCol="0">
            <a:spAutoFit/>
          </a:bodyPr>
          <a:lstStyle/>
          <a:p>
            <a:pPr>
              <a:lnSpc>
                <a:spcPct val="150000"/>
              </a:lnSpc>
            </a:pPr>
            <a:r>
              <a:rPr lang="en-US" altLang="ko-KR" sz="1050" dirty="0"/>
              <a:t>Bias </a:t>
            </a:r>
            <a:r>
              <a:rPr lang="en-US" altLang="ko-KR" sz="1050" dirty="0" err="1"/>
              <a:t>bình</a:t>
            </a:r>
            <a:r>
              <a:rPr lang="en-US" altLang="ko-KR" sz="1050" dirty="0"/>
              <a:t> </a:t>
            </a:r>
            <a:r>
              <a:rPr lang="en-US" altLang="ko-KR" sz="1050" dirty="0" err="1"/>
              <a:t>quân</a:t>
            </a:r>
            <a:endParaRPr lang="ko-KR" altLang="en-US" sz="1050" dirty="0"/>
          </a:p>
        </p:txBody>
      </p:sp>
      <p:sp>
        <p:nvSpPr>
          <p:cNvPr id="29" name="TextBox 28"/>
          <p:cNvSpPr txBox="1"/>
          <p:nvPr/>
        </p:nvSpPr>
        <p:spPr>
          <a:xfrm>
            <a:off x="8070327" y="4621977"/>
            <a:ext cx="534121" cy="303481"/>
          </a:xfrm>
          <a:prstGeom prst="rect">
            <a:avLst/>
          </a:prstGeom>
          <a:noFill/>
        </p:spPr>
        <p:txBody>
          <a:bodyPr wrap="none" rtlCol="0">
            <a:spAutoFit/>
          </a:bodyPr>
          <a:lstStyle/>
          <a:p>
            <a:pPr>
              <a:lnSpc>
                <a:spcPct val="150000"/>
              </a:lnSpc>
            </a:pPr>
            <a:r>
              <a:rPr lang="en-US" altLang="ko-KR" sz="1050" dirty="0"/>
              <a:t>X 100</a:t>
            </a:r>
            <a:endParaRPr lang="ko-KR" altLang="en-US" sz="1050" dirty="0"/>
          </a:p>
        </p:txBody>
      </p:sp>
      <p:sp>
        <p:nvSpPr>
          <p:cNvPr id="30" name="TextBox 29"/>
          <p:cNvSpPr txBox="1"/>
          <p:nvPr/>
        </p:nvSpPr>
        <p:spPr>
          <a:xfrm>
            <a:off x="7092280" y="4717640"/>
            <a:ext cx="1322798" cy="334707"/>
          </a:xfrm>
          <a:prstGeom prst="rect">
            <a:avLst/>
          </a:prstGeom>
          <a:noFill/>
        </p:spPr>
        <p:txBody>
          <a:bodyPr wrap="none" rtlCol="0">
            <a:spAutoFit/>
          </a:bodyPr>
          <a:lstStyle/>
          <a:p>
            <a:pPr>
              <a:lnSpc>
                <a:spcPct val="150000"/>
              </a:lnSpc>
            </a:pPr>
            <a:r>
              <a:rPr lang="en-US" altLang="ko-KR" sz="1050" dirty="0" err="1"/>
              <a:t>Biến</a:t>
            </a:r>
            <a:r>
              <a:rPr lang="en-US" altLang="ko-KR" sz="1050" dirty="0"/>
              <a:t> </a:t>
            </a:r>
            <a:r>
              <a:rPr lang="en-US" altLang="ko-KR" sz="1050" dirty="0" err="1"/>
              <a:t>động</a:t>
            </a:r>
            <a:r>
              <a:rPr lang="en-US" altLang="ko-KR" sz="1050" dirty="0"/>
              <a:t> process</a:t>
            </a:r>
            <a:endParaRPr lang="ko-KR" altLang="en-US" sz="1050" dirty="0"/>
          </a:p>
        </p:txBody>
      </p:sp>
      <p:cxnSp>
        <p:nvCxnSpPr>
          <p:cNvPr id="22528" name="직선 연결선 22527"/>
          <p:cNvCxnSpPr/>
          <p:nvPr/>
        </p:nvCxnSpPr>
        <p:spPr>
          <a:xfrm>
            <a:off x="7308304" y="4573792"/>
            <a:ext cx="0" cy="20852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a:off x="8172400" y="4573792"/>
            <a:ext cx="0" cy="20852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529" name="TextBox 22528"/>
          <p:cNvSpPr txBox="1"/>
          <p:nvPr/>
        </p:nvSpPr>
        <p:spPr>
          <a:xfrm>
            <a:off x="1699020" y="5949280"/>
            <a:ext cx="6647141" cy="338554"/>
          </a:xfrm>
          <a:prstGeom prst="rect">
            <a:avLst/>
          </a:prstGeom>
          <a:noFill/>
        </p:spPr>
        <p:txBody>
          <a:bodyPr wrap="none" rtlCol="0">
            <a:spAutoFit/>
          </a:bodyPr>
          <a:lstStyle/>
          <a:p>
            <a:r>
              <a:rPr lang="en-US" altLang="ko-KR" sz="1600" b="1" dirty="0"/>
              <a:t>“Bias </a:t>
            </a:r>
            <a:r>
              <a:rPr lang="en-US" altLang="ko-KR" sz="1600" b="1" dirty="0" err="1"/>
              <a:t>dưới</a:t>
            </a:r>
            <a:r>
              <a:rPr lang="en-US" altLang="ko-KR" sz="1600" b="1" dirty="0"/>
              <a:t> 5% </a:t>
            </a:r>
            <a:r>
              <a:rPr lang="en-US" altLang="ko-KR" sz="1600" b="1" dirty="0" err="1"/>
              <a:t>thì</a:t>
            </a:r>
            <a:r>
              <a:rPr lang="en-US" altLang="ko-KR" sz="1600" b="1" dirty="0"/>
              <a:t> </a:t>
            </a:r>
            <a:r>
              <a:rPr lang="en-US" altLang="ko-KR" sz="1600" b="1" dirty="0" err="1"/>
              <a:t>đạt</a:t>
            </a:r>
            <a:r>
              <a:rPr lang="en-US" altLang="ko-KR" sz="1600" b="1" dirty="0"/>
              <a:t> </a:t>
            </a:r>
            <a:r>
              <a:rPr lang="en-US" altLang="ko-KR" sz="1600" b="1" dirty="0" err="1"/>
              <a:t>nhưng</a:t>
            </a:r>
            <a:r>
              <a:rPr lang="en-US" altLang="ko-KR" sz="1600" b="1" dirty="0"/>
              <a:t> </a:t>
            </a:r>
            <a:r>
              <a:rPr lang="en-US" altLang="ko-KR" sz="1600" b="1" dirty="0" err="1"/>
              <a:t>độ</a:t>
            </a:r>
            <a:r>
              <a:rPr lang="en-US" altLang="ko-KR" sz="1600" b="1" dirty="0"/>
              <a:t> </a:t>
            </a:r>
            <a:r>
              <a:rPr lang="en-US" altLang="ko-KR" sz="1600" b="1" dirty="0" err="1"/>
              <a:t>tuyến</a:t>
            </a:r>
            <a:r>
              <a:rPr lang="en-US" altLang="ko-KR" sz="1600" b="1" dirty="0"/>
              <a:t> </a:t>
            </a:r>
            <a:r>
              <a:rPr lang="en-US" altLang="ko-KR" sz="1600" b="1" dirty="0" err="1"/>
              <a:t>tính</a:t>
            </a:r>
            <a:r>
              <a:rPr lang="en-US" altLang="ko-KR" sz="1600" b="1" dirty="0"/>
              <a:t> </a:t>
            </a:r>
            <a:r>
              <a:rPr lang="en-US" altLang="ko-KR" sz="1600" b="1" dirty="0" err="1"/>
              <a:t>là</a:t>
            </a:r>
            <a:r>
              <a:rPr lang="en-US" altLang="ko-KR" sz="1600" b="1" dirty="0"/>
              <a:t> 13.2% </a:t>
            </a:r>
            <a:r>
              <a:rPr lang="en-US" altLang="ko-KR" sz="1600" b="1" dirty="0" err="1"/>
              <a:t>không</a:t>
            </a:r>
            <a:r>
              <a:rPr lang="en-US" altLang="ko-KR" sz="1600" b="1" dirty="0"/>
              <a:t> </a:t>
            </a:r>
            <a:r>
              <a:rPr lang="en-US" altLang="ko-KR" sz="1600" b="1" dirty="0" err="1"/>
              <a:t>đạt</a:t>
            </a:r>
            <a:r>
              <a:rPr lang="en-US" altLang="ko-KR" sz="1600" b="1" dirty="0"/>
              <a:t>.” </a:t>
            </a:r>
            <a:endParaRPr lang="ko-KR" altLang="en-US" sz="1600" b="1" dirty="0"/>
          </a:p>
        </p:txBody>
      </p:sp>
      <p:sp>
        <p:nvSpPr>
          <p:cNvPr id="24"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138</a:t>
            </a:fld>
            <a:endParaRPr lang="ko-KR" altLang="en-US" dirty="0"/>
          </a:p>
        </p:txBody>
      </p:sp>
    </p:spTree>
    <p:extLst>
      <p:ext uri="{BB962C8B-B14F-4D97-AF65-F5344CB8AC3E}">
        <p14:creationId xmlns:p14="http://schemas.microsoft.com/office/powerpoint/2010/main" val="3759572167"/>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9512" y="148570"/>
            <a:ext cx="4138762" cy="400110"/>
          </a:xfrm>
          <a:prstGeom prst="rect">
            <a:avLst/>
          </a:prstGeom>
          <a:noFill/>
        </p:spPr>
        <p:txBody>
          <a:bodyPr wrap="none" rtlCol="0">
            <a:spAutoFit/>
          </a:bodyPr>
          <a:lstStyle/>
          <a:p>
            <a:r>
              <a:rPr lang="en-US" altLang="ko-KR" sz="2000" b="1" dirty="0"/>
              <a:t>Type 5 Study </a:t>
            </a:r>
            <a:r>
              <a:rPr lang="en-US" altLang="ko-KR" sz="2000" b="1" dirty="0" err="1"/>
              <a:t>nghiêm</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3" name="TextBox 2"/>
          <p:cNvSpPr txBox="1"/>
          <p:nvPr/>
        </p:nvSpPr>
        <p:spPr>
          <a:xfrm>
            <a:off x="395536" y="764704"/>
            <a:ext cx="8672502" cy="1292662"/>
          </a:xfrm>
          <a:prstGeom prst="rect">
            <a:avLst/>
          </a:prstGeom>
          <a:noFill/>
        </p:spPr>
        <p:txBody>
          <a:bodyPr wrap="none" rtlCol="0">
            <a:spAutoFit/>
          </a:bodyPr>
          <a:lstStyle/>
          <a:p>
            <a:r>
              <a:rPr lang="en-US" altLang="ko-KR" sz="1300" dirty="0" err="1"/>
              <a:t>Đánh</a:t>
            </a:r>
            <a:r>
              <a:rPr lang="en-US" altLang="ko-KR" sz="1300" dirty="0"/>
              <a:t> </a:t>
            </a:r>
            <a:r>
              <a:rPr lang="en-US" altLang="ko-KR" sz="1300" dirty="0" err="1"/>
              <a:t>giá</a:t>
            </a:r>
            <a:r>
              <a:rPr lang="en-US" altLang="ko-KR" sz="1300" dirty="0"/>
              <a:t> </a:t>
            </a:r>
            <a:r>
              <a:rPr lang="en-US" altLang="ko-KR" sz="1300" dirty="0" err="1"/>
              <a:t>tính</a:t>
            </a:r>
            <a:r>
              <a:rPr lang="en-US" altLang="ko-KR" sz="1300" dirty="0"/>
              <a:t> </a:t>
            </a:r>
            <a:r>
              <a:rPr lang="en-US" altLang="ko-KR" sz="1300" dirty="0" err="1"/>
              <a:t>đổn</a:t>
            </a:r>
            <a:r>
              <a:rPr lang="en-US" altLang="ko-KR" sz="1300" dirty="0"/>
              <a:t> </a:t>
            </a:r>
            <a:r>
              <a:rPr lang="en-US" altLang="ko-KR" sz="1300" dirty="0" err="1"/>
              <a:t>định</a:t>
            </a:r>
            <a:r>
              <a:rPr lang="en-US" altLang="ko-KR" sz="1300" dirty="0"/>
              <a:t> </a:t>
            </a:r>
            <a:r>
              <a:rPr lang="en-US" altLang="ko-KR" sz="1300" dirty="0" err="1"/>
              <a:t>của</a:t>
            </a:r>
            <a:r>
              <a:rPr lang="en-US" altLang="ko-KR" sz="1300" dirty="0"/>
              <a:t> </a:t>
            </a:r>
            <a:r>
              <a:rPr lang="en-US" altLang="ko-KR" sz="1300" dirty="0" err="1"/>
              <a:t>hệ</a:t>
            </a:r>
            <a:r>
              <a:rPr lang="en-US" altLang="ko-KR" sz="1300" dirty="0"/>
              <a:t> </a:t>
            </a:r>
            <a:r>
              <a:rPr lang="en-US" altLang="ko-KR" sz="1300" dirty="0" err="1"/>
              <a:t>thống</a:t>
            </a:r>
            <a:r>
              <a:rPr lang="en-US" altLang="ko-KR" sz="1300" dirty="0"/>
              <a:t> </a:t>
            </a:r>
            <a:r>
              <a:rPr lang="en-US" altLang="ko-KR" sz="1300" dirty="0" err="1"/>
              <a:t>đo</a:t>
            </a:r>
            <a:r>
              <a:rPr lang="en-US" altLang="ko-KR" sz="1300" dirty="0"/>
              <a:t> (Type 5 Study)</a:t>
            </a:r>
            <a:r>
              <a:rPr lang="ko-KR" altLang="en-US"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đồ</a:t>
            </a:r>
            <a:r>
              <a:rPr lang="en-US" altLang="ko-KR" sz="1300" dirty="0"/>
              <a:t> </a:t>
            </a:r>
            <a:r>
              <a:rPr lang="en-US" altLang="ko-KR" sz="1300" dirty="0" err="1"/>
              <a:t>thị</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các</a:t>
            </a:r>
            <a:r>
              <a:rPr lang="en-US" altLang="ko-KR" sz="1300" dirty="0"/>
              <a:t> </a:t>
            </a:r>
            <a:r>
              <a:rPr lang="en-US" altLang="ko-KR" sz="1300" dirty="0" err="1"/>
              <a:t>biến</a:t>
            </a:r>
            <a:r>
              <a:rPr lang="en-US" altLang="ko-KR" sz="1300" dirty="0"/>
              <a:t>. </a:t>
            </a:r>
            <a:r>
              <a:rPr lang="en-US" altLang="ko-KR" sz="1300" dirty="0" err="1"/>
              <a:t>Trong</a:t>
            </a:r>
            <a:r>
              <a:rPr lang="en-US" altLang="ko-KR" sz="1300" dirty="0"/>
              <a:t> </a:t>
            </a:r>
            <a:r>
              <a:rPr lang="en-US" altLang="ko-KR" sz="1300" dirty="0" err="1"/>
              <a:t>trường</a:t>
            </a:r>
            <a:r>
              <a:rPr lang="en-US" altLang="ko-KR" sz="1300" dirty="0"/>
              <a:t> </a:t>
            </a:r>
            <a:r>
              <a:rPr lang="en-US" altLang="ko-KR" sz="1300" dirty="0" err="1"/>
              <a:t>hợp</a:t>
            </a:r>
            <a:r>
              <a:rPr lang="en-US" altLang="ko-KR" sz="1300" dirty="0"/>
              <a:t> </a:t>
            </a:r>
            <a:r>
              <a:rPr lang="en-US" altLang="ko-KR" sz="1300" dirty="0" err="1"/>
              <a:t>có</a:t>
            </a:r>
            <a:endParaRPr lang="en-US" altLang="ko-KR" sz="1300" dirty="0"/>
          </a:p>
          <a:p>
            <a:r>
              <a:rPr lang="en-US" altLang="ko-KR" sz="1300" dirty="0" err="1"/>
              <a:t>khả</a:t>
            </a:r>
            <a:r>
              <a:rPr lang="en-US" altLang="ko-KR" sz="1300" dirty="0"/>
              <a:t> </a:t>
            </a:r>
            <a:r>
              <a:rPr lang="en-US" altLang="ko-KR" sz="1300" dirty="0" err="1"/>
              <a:t>năng</a:t>
            </a:r>
            <a:r>
              <a:rPr lang="en-US" altLang="ko-KR" sz="1300" dirty="0"/>
              <a:t>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lặp</a:t>
            </a:r>
            <a:r>
              <a:rPr lang="en-US" altLang="ko-KR" sz="1300" dirty="0"/>
              <a:t> </a:t>
            </a:r>
            <a:r>
              <a:rPr lang="en-US" altLang="ko-KR" sz="1300" dirty="0" err="1"/>
              <a:t>lại</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đồ</a:t>
            </a:r>
            <a:r>
              <a:rPr lang="en-US" altLang="ko-KR" sz="1300" dirty="0"/>
              <a:t> </a:t>
            </a:r>
            <a:r>
              <a:rPr lang="en-US" altLang="ko-KR" sz="1300" dirty="0" err="1"/>
              <a:t>thị</a:t>
            </a:r>
            <a:r>
              <a:rPr lang="en-US" altLang="ko-KR" sz="1300" dirty="0"/>
              <a:t> </a:t>
            </a:r>
            <a:r>
              <a:rPr lang="en-US" altLang="ko-KR" sz="1300" dirty="0" err="1"/>
              <a:t>quản</a:t>
            </a:r>
            <a:r>
              <a:rPr lang="en-US" altLang="ko-KR" sz="1300" dirty="0"/>
              <a:t> </a:t>
            </a:r>
            <a:r>
              <a:rPr lang="en-US" altLang="ko-KR" sz="1300" dirty="0" err="1"/>
              <a:t>lí</a:t>
            </a:r>
            <a:r>
              <a:rPr lang="en-US" altLang="ko-KR" sz="1300" dirty="0"/>
              <a:t> </a:t>
            </a:r>
            <a:r>
              <a:rPr lang="en-US" altLang="ko-KR" sz="1300" dirty="0" err="1"/>
              <a:t>Xbar</a:t>
            </a:r>
            <a:r>
              <a:rPr lang="en-US" altLang="ko-KR" sz="1300" dirty="0"/>
              <a:t>-R </a:t>
            </a:r>
            <a:r>
              <a:rPr lang="en-US" altLang="ko-KR" sz="1300" dirty="0" err="1"/>
              <a:t>hoặc</a:t>
            </a:r>
            <a:r>
              <a:rPr lang="en-US" altLang="ko-KR" sz="1300" dirty="0"/>
              <a:t> </a:t>
            </a:r>
            <a:r>
              <a:rPr lang="en-US" altLang="ko-KR" sz="1300" dirty="0" err="1"/>
              <a:t>Xbar</a:t>
            </a:r>
            <a:r>
              <a:rPr lang="en-US" altLang="ko-KR" sz="1300" dirty="0"/>
              <a:t>-S, </a:t>
            </a:r>
            <a:r>
              <a:rPr lang="en-US" altLang="ko-KR" sz="1300" dirty="0" err="1"/>
              <a:t>trường</a:t>
            </a:r>
            <a:r>
              <a:rPr lang="en-US" altLang="ko-KR" sz="1300" dirty="0"/>
              <a:t> </a:t>
            </a:r>
            <a:r>
              <a:rPr lang="en-US" altLang="ko-KR" sz="1300" dirty="0" err="1"/>
              <a:t>hợp</a:t>
            </a:r>
            <a:r>
              <a:rPr lang="en-US" altLang="ko-KR" sz="1300" dirty="0"/>
              <a:t> </a:t>
            </a:r>
            <a:r>
              <a:rPr lang="en-US" altLang="ko-KR" sz="1300" dirty="0" err="1"/>
              <a:t>chỉ</a:t>
            </a:r>
            <a:r>
              <a:rPr lang="en-US" altLang="ko-KR" sz="1300" dirty="0"/>
              <a:t> </a:t>
            </a:r>
            <a:r>
              <a:rPr lang="en-US" altLang="ko-KR" sz="1300" dirty="0" err="1"/>
              <a:t>có</a:t>
            </a:r>
            <a:r>
              <a:rPr lang="en-US" altLang="ko-KR" sz="1300" dirty="0"/>
              <a:t> </a:t>
            </a:r>
            <a:r>
              <a:rPr lang="en-US" altLang="ko-KR" sz="1300" dirty="0" err="1"/>
              <a:t>thể</a:t>
            </a:r>
            <a:r>
              <a:rPr lang="en-US" altLang="ko-KR" sz="1300" dirty="0"/>
              <a:t> </a:t>
            </a:r>
            <a:r>
              <a:rPr lang="en-US" altLang="ko-KR" sz="1300" dirty="0" err="1"/>
              <a:t>thực</a:t>
            </a:r>
            <a:r>
              <a:rPr lang="en-US" altLang="ko-KR" sz="1300" dirty="0"/>
              <a:t> </a:t>
            </a:r>
            <a:r>
              <a:rPr lang="en-US" altLang="ko-KR" sz="1300" dirty="0" err="1"/>
              <a:t>hiện</a:t>
            </a:r>
            <a:r>
              <a:rPr lang="en-US" altLang="ko-KR" sz="1300" dirty="0"/>
              <a:t> </a:t>
            </a:r>
            <a:r>
              <a:rPr lang="en-US" altLang="ko-KR" sz="1300" dirty="0" err="1"/>
              <a:t>đo</a:t>
            </a:r>
            <a:r>
              <a:rPr lang="en-US" altLang="ko-KR" sz="1300" dirty="0"/>
              <a:t> 1lần </a:t>
            </a:r>
          </a:p>
          <a:p>
            <a:r>
              <a:rPr lang="en-US" altLang="ko-KR" sz="1300" dirty="0" err="1"/>
              <a:t>có</a:t>
            </a:r>
            <a:r>
              <a:rPr lang="en-US" altLang="ko-KR" sz="1300" dirty="0"/>
              <a:t> </a:t>
            </a:r>
            <a:r>
              <a:rPr lang="en-US" altLang="ko-KR" sz="1300" dirty="0" err="1"/>
              <a:t>thể</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đồ</a:t>
            </a:r>
            <a:r>
              <a:rPr lang="en-US" altLang="ko-KR" sz="1300" dirty="0"/>
              <a:t> </a:t>
            </a:r>
            <a:r>
              <a:rPr lang="en-US" altLang="ko-KR" sz="1300" dirty="0" err="1"/>
              <a:t>thị</a:t>
            </a:r>
            <a:r>
              <a:rPr lang="en-US" altLang="ko-KR" sz="1300" dirty="0"/>
              <a:t> </a:t>
            </a:r>
            <a:r>
              <a:rPr lang="en-US" altLang="ko-KR" sz="1300" dirty="0" err="1"/>
              <a:t>quản</a:t>
            </a:r>
            <a:r>
              <a:rPr lang="en-US" altLang="ko-KR" sz="1300" dirty="0"/>
              <a:t> </a:t>
            </a:r>
            <a:r>
              <a:rPr lang="en-US" altLang="ko-KR" sz="1300" dirty="0" err="1"/>
              <a:t>lí</a:t>
            </a:r>
            <a:r>
              <a:rPr lang="en-US" altLang="ko-KR" sz="1300" dirty="0"/>
              <a:t> </a:t>
            </a:r>
            <a:r>
              <a:rPr lang="ko-KR" altLang="en-US" sz="1300" dirty="0"/>
              <a:t> </a:t>
            </a:r>
            <a:r>
              <a:rPr lang="en-US" altLang="ko-KR" sz="1300" dirty="0"/>
              <a:t>I-MR.</a:t>
            </a:r>
          </a:p>
          <a:p>
            <a:endParaRPr lang="en-US" altLang="ko-KR" sz="1300" dirty="0"/>
          </a:p>
          <a:p>
            <a:r>
              <a:rPr lang="en-US" altLang="ko-KR" sz="1300" dirty="0" err="1"/>
              <a:t>Lúc</a:t>
            </a:r>
            <a:r>
              <a:rPr lang="en-US" altLang="ko-KR" sz="1300" dirty="0"/>
              <a:t> </a:t>
            </a:r>
            <a:r>
              <a:rPr lang="en-US" altLang="ko-KR" sz="1300" dirty="0" err="1"/>
              <a:t>này</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đồ</a:t>
            </a:r>
            <a:r>
              <a:rPr lang="en-US" altLang="ko-KR" sz="1300" dirty="0"/>
              <a:t> </a:t>
            </a:r>
            <a:r>
              <a:rPr lang="en-US" altLang="ko-KR" sz="1300" dirty="0" err="1"/>
              <a:t>thị</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trung</a:t>
            </a:r>
            <a:r>
              <a:rPr lang="en-US" altLang="ko-KR" sz="1300" dirty="0"/>
              <a:t> </a:t>
            </a:r>
            <a:r>
              <a:rPr lang="en-US" altLang="ko-KR" sz="1300" dirty="0" err="1"/>
              <a:t>bình</a:t>
            </a:r>
            <a:r>
              <a:rPr lang="en-US" altLang="ko-KR" sz="1300" dirty="0"/>
              <a:t> </a:t>
            </a:r>
            <a:r>
              <a:rPr lang="en-US" altLang="ko-KR" sz="1300" dirty="0" err="1"/>
              <a:t>để</a:t>
            </a:r>
            <a:r>
              <a:rPr lang="en-US" altLang="ko-KR" sz="1300" dirty="0"/>
              <a:t> monitoring </a:t>
            </a:r>
            <a:r>
              <a:rPr lang="en-US" altLang="ko-KR" sz="1300" dirty="0" err="1"/>
              <a:t>độ</a:t>
            </a:r>
            <a:r>
              <a:rPr lang="en-US" altLang="ko-KR" sz="1300" dirty="0"/>
              <a:t> </a:t>
            </a:r>
            <a:r>
              <a:rPr lang="en-US" altLang="ko-KR" sz="1300" dirty="0" err="1"/>
              <a:t>chính</a:t>
            </a:r>
            <a:r>
              <a:rPr lang="en-US" altLang="ko-KR" sz="1300" dirty="0"/>
              <a:t> </a:t>
            </a:r>
            <a:r>
              <a:rPr lang="en-US" altLang="ko-KR" sz="1300" dirty="0" err="1"/>
              <a:t>xác</a:t>
            </a:r>
            <a:r>
              <a:rPr lang="en-US" altLang="ko-KR" sz="1300" dirty="0"/>
              <a:t>(bias) </a:t>
            </a:r>
            <a:r>
              <a:rPr lang="en-US" altLang="ko-KR" sz="1300" dirty="0" err="1"/>
              <a:t>của</a:t>
            </a:r>
            <a:r>
              <a:rPr lang="en-US" altLang="ko-KR" sz="1300" dirty="0"/>
              <a:t> </a:t>
            </a:r>
            <a:r>
              <a:rPr lang="en-US" altLang="ko-KR" sz="1300" dirty="0" err="1"/>
              <a:t>dụng</a:t>
            </a:r>
            <a:r>
              <a:rPr lang="en-US" altLang="ko-KR" sz="1300" dirty="0"/>
              <a:t> </a:t>
            </a:r>
            <a:r>
              <a:rPr lang="en-US" altLang="ko-KR" sz="1300" dirty="0" err="1"/>
              <a:t>cụ</a:t>
            </a:r>
            <a:r>
              <a:rPr lang="en-US" altLang="ko-KR" sz="1300" dirty="0"/>
              <a:t> </a:t>
            </a:r>
            <a:r>
              <a:rPr lang="en-US" altLang="ko-KR" sz="1300" dirty="0" err="1"/>
              <a:t>đo</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đồ</a:t>
            </a:r>
            <a:r>
              <a:rPr lang="en-US" altLang="ko-KR" sz="1300" dirty="0"/>
              <a:t> </a:t>
            </a:r>
            <a:r>
              <a:rPr lang="en-US" altLang="ko-KR" sz="1300" dirty="0" err="1"/>
              <a:t>thị</a:t>
            </a:r>
            <a:r>
              <a:rPr lang="en-US" altLang="ko-KR" sz="1300" dirty="0"/>
              <a:t> </a:t>
            </a:r>
          </a:p>
          <a:p>
            <a:r>
              <a:rPr lang="en-US" altLang="ko-KR" sz="1300" dirty="0" err="1"/>
              <a:t>quản</a:t>
            </a:r>
            <a:r>
              <a:rPr lang="en-US" altLang="ko-KR" sz="1300" dirty="0"/>
              <a:t> </a:t>
            </a:r>
            <a:r>
              <a:rPr lang="en-US" altLang="ko-KR" sz="1300" dirty="0" err="1"/>
              <a:t>lý</a:t>
            </a:r>
            <a:r>
              <a:rPr lang="en-US" altLang="ko-KR" sz="1300" dirty="0"/>
              <a:t> </a:t>
            </a:r>
            <a:r>
              <a:rPr lang="en-US" altLang="ko-KR" sz="1300" dirty="0" err="1"/>
              <a:t>phân</a:t>
            </a:r>
            <a:r>
              <a:rPr lang="en-US" altLang="ko-KR" sz="1300" dirty="0"/>
              <a:t> </a:t>
            </a:r>
            <a:r>
              <a:rPr lang="en-US" altLang="ko-KR" sz="1300" dirty="0" err="1"/>
              <a:t>tán</a:t>
            </a:r>
            <a:r>
              <a:rPr lang="en-US" altLang="ko-KR" sz="1300" dirty="0"/>
              <a:t> </a:t>
            </a:r>
            <a:r>
              <a:rPr lang="en-US" altLang="ko-KR" sz="1300" dirty="0" err="1"/>
              <a:t>để</a:t>
            </a:r>
            <a:r>
              <a:rPr lang="en-US" altLang="ko-KR" sz="1300" dirty="0"/>
              <a:t> monitoring </a:t>
            </a:r>
            <a:r>
              <a:rPr lang="en-US" altLang="ko-KR" sz="1300" dirty="0" err="1"/>
              <a:t>độ</a:t>
            </a:r>
            <a:r>
              <a:rPr lang="en-US" altLang="ko-KR" sz="1300" dirty="0"/>
              <a:t> </a:t>
            </a:r>
            <a:r>
              <a:rPr lang="en-US" altLang="ko-KR" sz="1300" dirty="0" err="1"/>
              <a:t>tỉ</a:t>
            </a:r>
            <a:r>
              <a:rPr lang="en-US" altLang="ko-KR" sz="1300" dirty="0"/>
              <a:t> </a:t>
            </a:r>
            <a:r>
              <a:rPr lang="en-US" altLang="ko-KR" sz="1300" dirty="0" err="1"/>
              <a:t>mỉ</a:t>
            </a:r>
            <a:r>
              <a:rPr lang="en-US" altLang="ko-KR" sz="1300" dirty="0"/>
              <a:t> </a:t>
            </a:r>
            <a:r>
              <a:rPr lang="en-US" altLang="ko-KR" sz="1300" dirty="0" err="1"/>
              <a:t>của</a:t>
            </a:r>
            <a:r>
              <a:rPr lang="en-US" altLang="ko-KR" sz="1300" dirty="0"/>
              <a:t> </a:t>
            </a:r>
            <a:r>
              <a:rPr lang="en-US" altLang="ko-KR" sz="1300" dirty="0" err="1"/>
              <a:t>dụng</a:t>
            </a:r>
            <a:r>
              <a:rPr lang="en-US" altLang="ko-KR" sz="1300" dirty="0"/>
              <a:t> </a:t>
            </a:r>
            <a:r>
              <a:rPr lang="en-US" altLang="ko-KR" sz="1300" dirty="0" err="1"/>
              <a:t>cụ</a:t>
            </a:r>
            <a:r>
              <a:rPr lang="en-US" altLang="ko-KR" sz="1300" dirty="0"/>
              <a:t> </a:t>
            </a:r>
            <a:r>
              <a:rPr lang="en-US" altLang="ko-KR" sz="1300" dirty="0" err="1"/>
              <a:t>đo</a:t>
            </a:r>
            <a:r>
              <a:rPr lang="en-US" altLang="ko-KR" sz="1300" dirty="0"/>
              <a:t>.  </a:t>
            </a:r>
            <a:r>
              <a:rPr lang="ko-KR" altLang="en-US" sz="1300" dirty="0"/>
              <a:t> </a:t>
            </a:r>
          </a:p>
        </p:txBody>
      </p:sp>
      <p:sp>
        <p:nvSpPr>
          <p:cNvPr id="4" name="TextBox 3"/>
          <p:cNvSpPr txBox="1"/>
          <p:nvPr/>
        </p:nvSpPr>
        <p:spPr>
          <a:xfrm>
            <a:off x="755576" y="2132856"/>
            <a:ext cx="3526543" cy="292388"/>
          </a:xfrm>
          <a:prstGeom prst="rect">
            <a:avLst/>
          </a:prstGeom>
          <a:noFill/>
        </p:spPr>
        <p:txBody>
          <a:bodyPr wrap="none" rtlCol="0">
            <a:spAutoFit/>
          </a:bodyPr>
          <a:lstStyle/>
          <a:p>
            <a:r>
              <a:rPr lang="en-US" altLang="ko-KR" sz="1300" dirty="0" err="1"/>
              <a:t>Trình</a:t>
            </a:r>
            <a:r>
              <a:rPr lang="en-US" altLang="ko-KR" sz="1300" dirty="0"/>
              <a:t> </a:t>
            </a:r>
            <a:r>
              <a:rPr lang="en-US" altLang="ko-KR" sz="1300" dirty="0" err="1"/>
              <a:t>trự</a:t>
            </a:r>
            <a:r>
              <a:rPr lang="en-US" altLang="ko-KR" sz="1300" dirty="0"/>
              <a:t> </a:t>
            </a:r>
            <a:r>
              <a:rPr lang="en-US" altLang="ko-KR" sz="1300" dirty="0" err="1"/>
              <a:t>đánh</a:t>
            </a:r>
            <a:r>
              <a:rPr lang="en-US" altLang="ko-KR" sz="1300" dirty="0"/>
              <a:t> </a:t>
            </a:r>
            <a:r>
              <a:rPr lang="en-US" altLang="ko-KR" sz="1300" dirty="0" err="1"/>
              <a:t>giá</a:t>
            </a:r>
            <a:r>
              <a:rPr lang="en-US" altLang="ko-KR" sz="1300" dirty="0"/>
              <a:t> </a:t>
            </a:r>
            <a:r>
              <a:rPr lang="en-US" altLang="ko-KR" sz="1300" dirty="0" err="1"/>
              <a:t>tính</a:t>
            </a:r>
            <a:r>
              <a:rPr lang="en-US" altLang="ko-KR" sz="1300" dirty="0"/>
              <a:t> </a:t>
            </a:r>
            <a:r>
              <a:rPr lang="en-US" altLang="ko-KR" sz="1300" dirty="0" err="1"/>
              <a:t>ổn</a:t>
            </a:r>
            <a:r>
              <a:rPr lang="en-US" altLang="ko-KR" sz="1300" dirty="0"/>
              <a:t> </a:t>
            </a:r>
            <a:r>
              <a:rPr lang="en-US" altLang="ko-KR" sz="1300" dirty="0" err="1"/>
              <a:t>định</a:t>
            </a:r>
            <a:r>
              <a:rPr lang="ko-KR" altLang="en-US" sz="1300" dirty="0"/>
              <a:t> </a:t>
            </a:r>
            <a:r>
              <a:rPr lang="en-US" altLang="ko-KR" sz="1300" dirty="0"/>
              <a:t>(AIAG 2010)</a:t>
            </a:r>
            <a:endParaRPr lang="ko-KR" altLang="en-US" sz="1300" dirty="0"/>
          </a:p>
        </p:txBody>
      </p:sp>
      <p:sp>
        <p:nvSpPr>
          <p:cNvPr id="5" name="TextBox 4"/>
          <p:cNvSpPr txBox="1"/>
          <p:nvPr/>
        </p:nvSpPr>
        <p:spPr>
          <a:xfrm>
            <a:off x="179512" y="2348880"/>
            <a:ext cx="8986756" cy="1492716"/>
          </a:xfrm>
          <a:prstGeom prst="rect">
            <a:avLst/>
          </a:prstGeom>
          <a:noFill/>
        </p:spPr>
        <p:txBody>
          <a:bodyPr wrap="none" rtlCol="0">
            <a:spAutoFit/>
          </a:bodyPr>
          <a:lstStyle/>
          <a:p>
            <a:pPr marL="342900" indent="-342900">
              <a:buAutoNum type="arabicPeriod"/>
            </a:pPr>
            <a:r>
              <a:rPr lang="en-US" altLang="ko-KR" sz="1300" dirty="0" err="1"/>
              <a:t>Lựa</a:t>
            </a:r>
            <a:r>
              <a:rPr lang="en-US" altLang="ko-KR" sz="1300" dirty="0"/>
              <a:t> </a:t>
            </a:r>
            <a:r>
              <a:rPr lang="en-US" altLang="ko-KR" sz="1300" dirty="0" err="1"/>
              <a:t>chọn</a:t>
            </a:r>
            <a:r>
              <a:rPr lang="en-US" altLang="ko-KR" sz="1300" dirty="0"/>
              <a:t> sample </a:t>
            </a:r>
            <a:r>
              <a:rPr lang="en-US" altLang="ko-KR" sz="1300" dirty="0" err="1"/>
              <a:t>là</a:t>
            </a:r>
            <a:r>
              <a:rPr lang="en-US" altLang="ko-KR" sz="1300" dirty="0"/>
              <a:t> </a:t>
            </a:r>
            <a:r>
              <a:rPr lang="en-US" altLang="ko-KR" sz="1300" dirty="0" err="1"/>
              <a:t>mẫu</a:t>
            </a:r>
            <a:r>
              <a:rPr lang="en-US" altLang="ko-KR" sz="1300" dirty="0"/>
              <a:t> </a:t>
            </a:r>
            <a:r>
              <a:rPr lang="en-US" altLang="ko-KR" sz="1300" dirty="0" err="1"/>
              <a:t>có</a:t>
            </a:r>
            <a:r>
              <a:rPr lang="en-US" altLang="ko-KR" sz="1300" dirty="0"/>
              <a:t> </a:t>
            </a:r>
            <a:r>
              <a:rPr lang="en-US" altLang="ko-KR" sz="1300" dirty="0" err="1"/>
              <a:t>giá</a:t>
            </a:r>
            <a:r>
              <a:rPr lang="en-US" altLang="ko-KR" sz="1300" dirty="0"/>
              <a:t> </a:t>
            </a:r>
            <a:r>
              <a:rPr lang="en-US" altLang="ko-KR" sz="1300" dirty="0" err="1"/>
              <a:t>trị</a:t>
            </a:r>
            <a:r>
              <a:rPr lang="en-US" altLang="ko-KR" sz="1300" dirty="0"/>
              <a:t>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cho</a:t>
            </a:r>
            <a:r>
              <a:rPr lang="en-US" altLang="ko-KR" sz="1300" dirty="0"/>
              <a:t> </a:t>
            </a:r>
            <a:r>
              <a:rPr lang="en-US" altLang="ko-KR" sz="1300" dirty="0" err="1"/>
              <a:t>trước</a:t>
            </a:r>
            <a:r>
              <a:rPr lang="en-US" altLang="ko-KR" sz="1300" dirty="0"/>
              <a:t> </a:t>
            </a:r>
            <a:r>
              <a:rPr lang="en-US" altLang="ko-KR" sz="1300" dirty="0" err="1"/>
              <a:t>và</a:t>
            </a:r>
            <a:r>
              <a:rPr lang="en-US" altLang="ko-KR" sz="1300" dirty="0"/>
              <a:t> </a:t>
            </a:r>
            <a:r>
              <a:rPr lang="en-US" altLang="ko-KR" sz="1300" dirty="0" err="1"/>
              <a:t>có</a:t>
            </a:r>
            <a:r>
              <a:rPr lang="en-US" altLang="ko-KR" sz="1300" dirty="0"/>
              <a:t> Traceable standard.</a:t>
            </a:r>
          </a:p>
          <a:p>
            <a:r>
              <a:rPr lang="en-US" altLang="ko-KR" sz="1300" dirty="0"/>
              <a:t>      </a:t>
            </a:r>
            <a:r>
              <a:rPr lang="en-US" altLang="ko-KR" sz="1300" dirty="0" err="1"/>
              <a:t>Nếu</a:t>
            </a:r>
            <a:r>
              <a:rPr lang="en-US" altLang="ko-KR" sz="1300" dirty="0"/>
              <a:t> </a:t>
            </a:r>
            <a:r>
              <a:rPr lang="en-US" altLang="ko-KR" sz="1300" dirty="0" err="1"/>
              <a:t>như</a:t>
            </a:r>
            <a:r>
              <a:rPr lang="en-US" altLang="ko-KR" sz="1300" dirty="0"/>
              <a:t> </a:t>
            </a:r>
            <a:r>
              <a:rPr lang="en-US" altLang="ko-KR" sz="1300" dirty="0" err="1"/>
              <a:t>gặp</a:t>
            </a:r>
            <a:r>
              <a:rPr lang="en-US" altLang="ko-KR" sz="1300" dirty="0"/>
              <a:t> </a:t>
            </a:r>
            <a:r>
              <a:rPr lang="en-US" altLang="ko-KR" sz="1300" dirty="0" err="1"/>
              <a:t>khó</a:t>
            </a:r>
            <a:r>
              <a:rPr lang="en-US" altLang="ko-KR" sz="1300" dirty="0"/>
              <a:t> </a:t>
            </a:r>
            <a:r>
              <a:rPr lang="en-US" altLang="ko-KR" sz="1300" dirty="0" err="1"/>
              <a:t>khăn</a:t>
            </a:r>
            <a:r>
              <a:rPr lang="en-US" altLang="ko-KR" sz="1300" dirty="0"/>
              <a:t> </a:t>
            </a:r>
            <a:r>
              <a:rPr lang="en-US" altLang="ko-KR" sz="1300" dirty="0" err="1"/>
              <a:t>trong</a:t>
            </a:r>
            <a:r>
              <a:rPr lang="en-US" altLang="ko-KR" sz="1300" dirty="0"/>
              <a:t> </a:t>
            </a:r>
            <a:r>
              <a:rPr lang="en-US" altLang="ko-KR" sz="1300" dirty="0" err="1"/>
              <a:t>chọn</a:t>
            </a:r>
            <a:r>
              <a:rPr lang="en-US" altLang="ko-KR" sz="1300" dirty="0"/>
              <a:t> sample </a:t>
            </a:r>
            <a:r>
              <a:rPr lang="en-US" altLang="ko-KR" sz="1300" dirty="0" err="1"/>
              <a:t>có</a:t>
            </a:r>
            <a:r>
              <a:rPr lang="en-US" altLang="ko-KR" sz="1300" dirty="0"/>
              <a:t> traceable standard</a:t>
            </a:r>
            <a:r>
              <a:rPr lang="ko-KR" altLang="en-US" sz="1300" dirty="0"/>
              <a:t> </a:t>
            </a:r>
            <a:r>
              <a:rPr lang="en-US" altLang="ko-KR" sz="1300" dirty="0" err="1"/>
              <a:t>thì</a:t>
            </a:r>
            <a:r>
              <a:rPr lang="en-US" altLang="ko-KR" sz="1300" dirty="0"/>
              <a:t> </a:t>
            </a:r>
            <a:r>
              <a:rPr lang="en-US" altLang="ko-KR" sz="1300" dirty="0" err="1"/>
              <a:t>chọn</a:t>
            </a:r>
            <a:r>
              <a:rPr lang="en-US" altLang="ko-KR" sz="1300" dirty="0"/>
              <a:t> </a:t>
            </a:r>
            <a:r>
              <a:rPr lang="en-US" altLang="ko-KR" sz="1300" dirty="0" err="1"/>
              <a:t>linh</a:t>
            </a:r>
            <a:r>
              <a:rPr lang="en-US" altLang="ko-KR" sz="1300" dirty="0"/>
              <a:t> </a:t>
            </a:r>
            <a:r>
              <a:rPr lang="en-US" altLang="ko-KR" sz="1300" dirty="0" err="1"/>
              <a:t>kiện</a:t>
            </a:r>
            <a:r>
              <a:rPr lang="en-US" altLang="ko-KR" sz="1300" dirty="0"/>
              <a:t> </a:t>
            </a:r>
            <a:r>
              <a:rPr lang="en-US" altLang="ko-KR" sz="1300" dirty="0" err="1"/>
              <a:t>sản</a:t>
            </a:r>
            <a:r>
              <a:rPr lang="en-US" altLang="ko-KR" sz="1300" dirty="0"/>
              <a:t> </a:t>
            </a:r>
            <a:r>
              <a:rPr lang="en-US" altLang="ko-KR" sz="1300" dirty="0" err="1"/>
              <a:t>xuất</a:t>
            </a:r>
            <a:r>
              <a:rPr lang="en-US" altLang="ko-KR" sz="1300" dirty="0"/>
              <a:t> </a:t>
            </a:r>
            <a:r>
              <a:rPr lang="en-US" altLang="ko-KR" sz="1300" dirty="0" err="1"/>
              <a:t>nằm</a:t>
            </a:r>
            <a:r>
              <a:rPr lang="en-US" altLang="ko-KR" sz="1300" dirty="0"/>
              <a:t> </a:t>
            </a:r>
            <a:r>
              <a:rPr lang="en-US" altLang="ko-KR" sz="1300" dirty="0" err="1"/>
              <a:t>trong</a:t>
            </a:r>
            <a:r>
              <a:rPr lang="en-US" altLang="ko-KR" sz="1300" dirty="0"/>
              <a:t> </a:t>
            </a:r>
          </a:p>
          <a:p>
            <a:r>
              <a:rPr lang="en-US" altLang="ko-KR" sz="1300" dirty="0"/>
              <a:t>      </a:t>
            </a:r>
            <a:r>
              <a:rPr lang="en-US" altLang="ko-KR" sz="1300" dirty="0" err="1"/>
              <a:t>bộ</a:t>
            </a:r>
            <a:r>
              <a:rPr lang="en-US" altLang="ko-KR" sz="1300" dirty="0"/>
              <a:t> </a:t>
            </a:r>
            <a:r>
              <a:rPr lang="en-US" altLang="ko-KR" sz="1300" dirty="0" err="1"/>
              <a:t>phận</a:t>
            </a:r>
            <a:r>
              <a:rPr lang="en-US" altLang="ko-KR" sz="1300" dirty="0"/>
              <a:t> </a:t>
            </a:r>
            <a:r>
              <a:rPr lang="en-US" altLang="ko-KR" sz="1300" dirty="0" err="1"/>
              <a:t>trung</a:t>
            </a:r>
            <a:r>
              <a:rPr lang="en-US" altLang="ko-KR" sz="1300" dirty="0"/>
              <a:t> </a:t>
            </a:r>
            <a:r>
              <a:rPr lang="en-US" altLang="ko-KR" sz="1300" dirty="0" err="1"/>
              <a:t>gian</a:t>
            </a:r>
            <a:r>
              <a:rPr lang="en-US" altLang="ko-KR" sz="1300" dirty="0"/>
              <a:t> </a:t>
            </a:r>
            <a:r>
              <a:rPr lang="en-US" altLang="ko-KR" sz="1300" dirty="0" err="1"/>
              <a:t>của</a:t>
            </a:r>
            <a:r>
              <a:rPr lang="en-US" altLang="ko-KR" sz="1300" dirty="0"/>
              <a:t> </a:t>
            </a:r>
            <a:r>
              <a:rPr lang="en-US" altLang="ko-KR" sz="1300" dirty="0" err="1"/>
              <a:t>phạm</a:t>
            </a:r>
            <a:r>
              <a:rPr lang="en-US" altLang="ko-KR" sz="1300" dirty="0"/>
              <a:t> vi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được</a:t>
            </a:r>
            <a:r>
              <a:rPr lang="en-US" altLang="ko-KR" sz="1300" dirty="0"/>
              <a:t> </a:t>
            </a:r>
            <a:r>
              <a:rPr lang="en-US" altLang="ko-KR" sz="1300" dirty="0" err="1"/>
              <a:t>dự</a:t>
            </a:r>
            <a:r>
              <a:rPr lang="en-US" altLang="ko-KR" sz="1300" dirty="0"/>
              <a:t> </a:t>
            </a:r>
            <a:r>
              <a:rPr lang="en-US" altLang="ko-KR" sz="1300" dirty="0" err="1"/>
              <a:t>đoán</a:t>
            </a:r>
            <a:r>
              <a:rPr lang="en-US" altLang="ko-KR" sz="1300" dirty="0"/>
              <a:t> </a:t>
            </a:r>
            <a:r>
              <a:rPr lang="en-US" altLang="ko-KR" sz="1300" dirty="0" err="1"/>
              <a:t>trong</a:t>
            </a:r>
            <a:r>
              <a:rPr lang="en-US" altLang="ko-KR" sz="1300" dirty="0"/>
              <a:t> process </a:t>
            </a:r>
            <a:r>
              <a:rPr lang="en-US" altLang="ko-KR" sz="1300" dirty="0" err="1"/>
              <a:t>sản</a:t>
            </a:r>
            <a:r>
              <a:rPr lang="en-US" altLang="ko-KR" sz="1300" dirty="0"/>
              <a:t> </a:t>
            </a:r>
            <a:r>
              <a:rPr lang="en-US" altLang="ko-KR" sz="1300" dirty="0" err="1"/>
              <a:t>xuất</a:t>
            </a:r>
            <a:r>
              <a:rPr lang="en-US" altLang="ko-KR" sz="1300" dirty="0"/>
              <a:t>. </a:t>
            </a:r>
            <a:r>
              <a:rPr lang="en-US" altLang="ko-KR" sz="1300" dirty="0" err="1"/>
              <a:t>Và</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nó</a:t>
            </a:r>
            <a:r>
              <a:rPr lang="en-US" altLang="ko-KR" sz="1300" dirty="0"/>
              <a:t> </a:t>
            </a:r>
            <a:r>
              <a:rPr lang="en-US" altLang="ko-KR" sz="1300" dirty="0" err="1"/>
              <a:t>như</a:t>
            </a:r>
            <a:r>
              <a:rPr lang="en-US" altLang="ko-KR" sz="1300" dirty="0"/>
              <a:t> </a:t>
            </a:r>
            <a:r>
              <a:rPr lang="en-US" altLang="ko-KR" sz="1300" dirty="0" err="1"/>
              <a:t>một</a:t>
            </a:r>
            <a:endParaRPr lang="en-US" altLang="ko-KR" sz="1300" dirty="0"/>
          </a:p>
          <a:p>
            <a:r>
              <a:rPr lang="en-US" altLang="ko-KR" sz="1300" dirty="0"/>
              <a:t>      sample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để</a:t>
            </a:r>
            <a:r>
              <a:rPr lang="en-US" altLang="ko-KR" sz="1300" dirty="0"/>
              <a:t> </a:t>
            </a:r>
            <a:r>
              <a:rPr lang="en-US" altLang="ko-KR" sz="1300" dirty="0" err="1"/>
              <a:t>phân</a:t>
            </a:r>
            <a:r>
              <a:rPr lang="en-US" altLang="ko-KR" sz="1300" dirty="0"/>
              <a:t> </a:t>
            </a:r>
            <a:r>
              <a:rPr lang="en-US" altLang="ko-KR" sz="1300" dirty="0" err="1"/>
              <a:t>tích</a:t>
            </a:r>
            <a:r>
              <a:rPr lang="en-US" altLang="ko-KR" sz="1300" dirty="0"/>
              <a:t> </a:t>
            </a:r>
            <a:r>
              <a:rPr lang="en-US" altLang="ko-KR" sz="1300" dirty="0" err="1"/>
              <a:t>tính</a:t>
            </a:r>
            <a:r>
              <a:rPr lang="en-US" altLang="ko-KR" sz="1300" dirty="0"/>
              <a:t> </a:t>
            </a:r>
            <a:r>
              <a:rPr lang="en-US" altLang="ko-KR" sz="1300" dirty="0" err="1"/>
              <a:t>ổn</a:t>
            </a:r>
            <a:r>
              <a:rPr lang="en-US" altLang="ko-KR" sz="1300" dirty="0"/>
              <a:t> </a:t>
            </a:r>
            <a:r>
              <a:rPr lang="en-US" altLang="ko-KR" sz="1300" dirty="0" err="1"/>
              <a:t>định</a:t>
            </a:r>
            <a:r>
              <a:rPr lang="en-US" altLang="ko-KR" sz="1300" dirty="0"/>
              <a:t>. </a:t>
            </a:r>
            <a:r>
              <a:rPr lang="en-US" altLang="ko-KR" sz="1300" dirty="0" err="1"/>
              <a:t>Chỉ</a:t>
            </a:r>
            <a:r>
              <a:rPr lang="en-US" altLang="ko-KR" sz="1300" dirty="0"/>
              <a:t> </a:t>
            </a:r>
            <a:r>
              <a:rPr lang="en-US" altLang="ko-KR" sz="1300" dirty="0" err="1"/>
              <a:t>cần</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một</a:t>
            </a:r>
            <a:r>
              <a:rPr lang="en-US" altLang="ko-KR" sz="1300" dirty="0"/>
              <a:t> sample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nằm</a:t>
            </a:r>
            <a:r>
              <a:rPr lang="en-US" altLang="ko-KR" sz="1300" dirty="0"/>
              <a:t> </a:t>
            </a:r>
            <a:r>
              <a:rPr lang="en-US" altLang="ko-KR" sz="1300" dirty="0" err="1"/>
              <a:t>trong</a:t>
            </a:r>
            <a:r>
              <a:rPr lang="en-US" altLang="ko-KR" sz="1300" dirty="0"/>
              <a:t> </a:t>
            </a:r>
            <a:r>
              <a:rPr lang="en-US" altLang="ko-KR" sz="1300" dirty="0" err="1"/>
              <a:t>bộ</a:t>
            </a:r>
            <a:r>
              <a:rPr lang="en-US" altLang="ko-KR" sz="1300" dirty="0"/>
              <a:t> </a:t>
            </a:r>
            <a:r>
              <a:rPr lang="en-US" altLang="ko-KR" sz="1300" dirty="0" err="1"/>
              <a:t>phận</a:t>
            </a:r>
            <a:endParaRPr lang="en-US" altLang="ko-KR" sz="1300" dirty="0"/>
          </a:p>
          <a:p>
            <a:r>
              <a:rPr lang="en-US" altLang="ko-KR" sz="1300" dirty="0"/>
              <a:t>      </a:t>
            </a:r>
            <a:r>
              <a:rPr lang="en-US" altLang="ko-KR" sz="1300" dirty="0" err="1"/>
              <a:t>trung</a:t>
            </a:r>
            <a:r>
              <a:rPr lang="en-US" altLang="ko-KR" sz="1300" dirty="0"/>
              <a:t> </a:t>
            </a:r>
            <a:r>
              <a:rPr lang="en-US" altLang="ko-KR" sz="1300" dirty="0" err="1"/>
              <a:t>gian</a:t>
            </a:r>
            <a:r>
              <a:rPr lang="en-US" altLang="ko-KR" sz="1300" dirty="0"/>
              <a:t> </a:t>
            </a:r>
            <a:r>
              <a:rPr lang="en-US" altLang="ko-KR" sz="1300" dirty="0" err="1"/>
              <a:t>của</a:t>
            </a:r>
            <a:r>
              <a:rPr lang="en-US" altLang="ko-KR" sz="1300" dirty="0"/>
              <a:t> </a:t>
            </a:r>
            <a:r>
              <a:rPr lang="en-US" altLang="ko-KR" sz="1300" dirty="0" err="1"/>
              <a:t>phạm</a:t>
            </a:r>
            <a:r>
              <a:rPr lang="en-US" altLang="ko-KR" sz="1300" dirty="0"/>
              <a:t> vi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cũng</a:t>
            </a:r>
            <a:r>
              <a:rPr lang="en-US" altLang="ko-KR" sz="1300" dirty="0"/>
              <a:t> </a:t>
            </a:r>
            <a:r>
              <a:rPr lang="en-US" altLang="ko-KR" sz="1300" dirty="0" err="1"/>
              <a:t>có</a:t>
            </a:r>
            <a:r>
              <a:rPr lang="en-US" altLang="ko-KR" sz="1300" dirty="0"/>
              <a:t> </a:t>
            </a:r>
            <a:r>
              <a:rPr lang="en-US" altLang="ko-KR" sz="1300" dirty="0" err="1"/>
              <a:t>thể</a:t>
            </a:r>
            <a:r>
              <a:rPr lang="en-US" altLang="ko-KR" sz="1300" dirty="0"/>
              <a:t> </a:t>
            </a:r>
            <a:r>
              <a:rPr lang="en-US" altLang="ko-KR" sz="1300" dirty="0" err="1"/>
              <a:t>tiến</a:t>
            </a:r>
            <a:r>
              <a:rPr lang="en-US" altLang="ko-KR" sz="1300" dirty="0"/>
              <a:t> </a:t>
            </a:r>
            <a:r>
              <a:rPr lang="en-US" altLang="ko-KR" sz="1300" dirty="0" err="1"/>
              <a:t>hành</a:t>
            </a:r>
            <a:r>
              <a:rPr lang="en-US" altLang="ko-KR" sz="1300" dirty="0"/>
              <a:t> </a:t>
            </a:r>
            <a:r>
              <a:rPr lang="en-US" altLang="ko-KR" sz="1300" dirty="0" err="1"/>
              <a:t>phân</a:t>
            </a:r>
            <a:r>
              <a:rPr lang="en-US" altLang="ko-KR" sz="1300" dirty="0"/>
              <a:t> </a:t>
            </a:r>
            <a:r>
              <a:rPr lang="en-US" altLang="ko-KR" sz="1300" dirty="0" err="1"/>
              <a:t>tích</a:t>
            </a:r>
            <a:r>
              <a:rPr lang="en-US" altLang="ko-KR" sz="1300" dirty="0"/>
              <a:t> </a:t>
            </a:r>
            <a:r>
              <a:rPr lang="en-US" altLang="ko-KR" sz="1300" dirty="0" err="1"/>
              <a:t>tính</a:t>
            </a:r>
            <a:r>
              <a:rPr lang="en-US" altLang="ko-KR" sz="1300" dirty="0"/>
              <a:t> </a:t>
            </a:r>
            <a:r>
              <a:rPr lang="en-US" altLang="ko-KR" sz="1300" dirty="0" err="1"/>
              <a:t>ổn</a:t>
            </a:r>
            <a:r>
              <a:rPr lang="en-US" altLang="ko-KR" sz="1300" dirty="0"/>
              <a:t> </a:t>
            </a:r>
            <a:r>
              <a:rPr lang="en-US" altLang="ko-KR" sz="1300" dirty="0" err="1"/>
              <a:t>định</a:t>
            </a:r>
            <a:r>
              <a:rPr lang="en-US" altLang="ko-KR" sz="1300" dirty="0"/>
              <a:t>, </a:t>
            </a:r>
            <a:r>
              <a:rPr lang="en-US" altLang="ko-KR" sz="1300" dirty="0" err="1"/>
              <a:t>nhưng</a:t>
            </a:r>
            <a:r>
              <a:rPr lang="en-US" altLang="ko-KR" sz="1300" dirty="0"/>
              <a:t> </a:t>
            </a:r>
            <a:r>
              <a:rPr lang="en-US" altLang="ko-KR" sz="1300" dirty="0" err="1"/>
              <a:t>cần</a:t>
            </a:r>
            <a:r>
              <a:rPr lang="en-US" altLang="ko-KR" sz="1300" dirty="0"/>
              <a:t> </a:t>
            </a:r>
            <a:r>
              <a:rPr lang="en-US" altLang="ko-KR" sz="1300" dirty="0" err="1"/>
              <a:t>thiết</a:t>
            </a:r>
            <a:r>
              <a:rPr lang="en-US" altLang="ko-KR" sz="1300" dirty="0"/>
              <a:t> </a:t>
            </a:r>
            <a:r>
              <a:rPr lang="en-US" altLang="ko-KR" sz="1300" dirty="0" err="1"/>
              <a:t>phải</a:t>
            </a:r>
            <a:r>
              <a:rPr lang="en-US" altLang="ko-KR" sz="1300" dirty="0"/>
              <a:t> </a:t>
            </a:r>
            <a:r>
              <a:rPr lang="en-US" altLang="ko-KR" sz="1300" dirty="0" err="1"/>
              <a:t>phân</a:t>
            </a:r>
            <a:r>
              <a:rPr lang="en-US" altLang="ko-KR" sz="1300" dirty="0"/>
              <a:t> </a:t>
            </a:r>
            <a:r>
              <a:rPr lang="en-US" altLang="ko-KR" sz="1300" dirty="0" err="1"/>
              <a:t>tích</a:t>
            </a:r>
            <a:r>
              <a:rPr lang="en-US" altLang="ko-KR" sz="1300" dirty="0"/>
              <a:t> </a:t>
            </a:r>
          </a:p>
          <a:p>
            <a:r>
              <a:rPr lang="en-US" altLang="ko-KR" sz="1300" dirty="0"/>
              <a:t>      </a:t>
            </a:r>
            <a:r>
              <a:rPr lang="en-US" altLang="ko-KR" sz="1300" dirty="0" err="1"/>
              <a:t>tính</a:t>
            </a:r>
            <a:r>
              <a:rPr lang="en-US" altLang="ko-KR" sz="1300" dirty="0"/>
              <a:t> </a:t>
            </a:r>
            <a:r>
              <a:rPr lang="en-US" altLang="ko-KR" sz="1300" dirty="0" err="1"/>
              <a:t>ổn</a:t>
            </a:r>
            <a:r>
              <a:rPr lang="en-US" altLang="ko-KR" sz="1300" dirty="0"/>
              <a:t> </a:t>
            </a:r>
            <a:r>
              <a:rPr lang="en-US" altLang="ko-KR" sz="1300" dirty="0" err="1"/>
              <a:t>định</a:t>
            </a:r>
            <a:r>
              <a:rPr lang="en-US" altLang="ko-KR" sz="1300" dirty="0"/>
              <a:t> </a:t>
            </a:r>
            <a:r>
              <a:rPr lang="en-US" altLang="ko-KR" sz="1300" dirty="0" err="1"/>
              <a:t>bằng</a:t>
            </a:r>
            <a:r>
              <a:rPr lang="en-US" altLang="ko-KR" sz="1300" dirty="0"/>
              <a:t> </a:t>
            </a:r>
            <a:r>
              <a:rPr lang="en-US" altLang="ko-KR" sz="1300" dirty="0" err="1"/>
              <a:t>việc</a:t>
            </a:r>
            <a:r>
              <a:rPr lang="en-US" altLang="ko-KR" sz="1300" dirty="0"/>
              <a:t> </a:t>
            </a:r>
            <a:r>
              <a:rPr lang="en-US" altLang="ko-KR" sz="1300" dirty="0" err="1"/>
              <a:t>vận</a:t>
            </a:r>
            <a:r>
              <a:rPr lang="en-US" altLang="ko-KR" sz="1300" dirty="0"/>
              <a:t> </a:t>
            </a:r>
            <a:r>
              <a:rPr lang="en-US" altLang="ko-KR" sz="1300" dirty="0" err="1"/>
              <a:t>hành</a:t>
            </a:r>
            <a:r>
              <a:rPr lang="en-US" altLang="ko-KR" sz="1300" dirty="0"/>
              <a:t> </a:t>
            </a:r>
            <a:r>
              <a:rPr lang="en-US" altLang="ko-KR" sz="1300" dirty="0" err="1"/>
              <a:t>từng</a:t>
            </a:r>
            <a:r>
              <a:rPr lang="en-US" altLang="ko-KR" sz="1300" dirty="0"/>
              <a:t> </a:t>
            </a:r>
            <a:r>
              <a:rPr lang="vi-VN" altLang="ko-KR" sz="1300" dirty="0"/>
              <a:t>đồ thị</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với</a:t>
            </a:r>
            <a:r>
              <a:rPr lang="en-US" altLang="ko-KR" sz="1300" dirty="0"/>
              <a:t> </a:t>
            </a:r>
            <a:r>
              <a:rPr lang="en-US" altLang="ko-KR" sz="1300" dirty="0" err="1"/>
              <a:t>những</a:t>
            </a:r>
            <a:r>
              <a:rPr lang="en-US" altLang="ko-KR" sz="1300" dirty="0"/>
              <a:t> sample </a:t>
            </a:r>
            <a:r>
              <a:rPr lang="en-US" altLang="ko-KR" sz="1300" dirty="0" err="1"/>
              <a:t>tiêu</a:t>
            </a:r>
            <a:r>
              <a:rPr lang="en-US" altLang="ko-KR" sz="1300" dirty="0"/>
              <a:t> </a:t>
            </a:r>
            <a:r>
              <a:rPr lang="en-US" altLang="ko-KR" sz="1300" dirty="0" err="1"/>
              <a:t>chuẩn</a:t>
            </a:r>
            <a:r>
              <a:rPr lang="en-US" altLang="ko-KR" sz="1300" dirty="0"/>
              <a:t> ở </a:t>
            </a:r>
            <a:r>
              <a:rPr lang="en-US" altLang="ko-KR" sz="1300" dirty="0" err="1"/>
              <a:t>phạm</a:t>
            </a:r>
            <a:r>
              <a:rPr lang="en-US" altLang="ko-KR" sz="1300" dirty="0"/>
              <a:t> vi </a:t>
            </a:r>
            <a:r>
              <a:rPr lang="en-US" altLang="ko-KR" sz="1300" dirty="0" err="1"/>
              <a:t>thấp</a:t>
            </a:r>
            <a:r>
              <a:rPr lang="en-US" altLang="ko-KR" sz="1300" dirty="0"/>
              <a:t> </a:t>
            </a:r>
          </a:p>
          <a:p>
            <a:r>
              <a:rPr lang="en-US" altLang="ko-KR" sz="1300" dirty="0"/>
              <a:t>      </a:t>
            </a:r>
            <a:r>
              <a:rPr lang="en-US" altLang="ko-KR" sz="1300" dirty="0" err="1"/>
              <a:t>nhất</a:t>
            </a:r>
            <a:r>
              <a:rPr lang="en-US" altLang="ko-KR" sz="1300" dirty="0"/>
              <a:t>, </a:t>
            </a:r>
            <a:r>
              <a:rPr lang="en-US" altLang="ko-KR" sz="1300" dirty="0" err="1"/>
              <a:t>cao</a:t>
            </a:r>
            <a:r>
              <a:rPr lang="en-US" altLang="ko-KR" sz="1300" dirty="0"/>
              <a:t> </a:t>
            </a:r>
            <a:r>
              <a:rPr lang="en-US" altLang="ko-KR" sz="1300" dirty="0" err="1"/>
              <a:t>nhất</a:t>
            </a:r>
            <a:r>
              <a:rPr lang="en-US" altLang="ko-KR" sz="1300" dirty="0"/>
              <a:t> </a:t>
            </a:r>
            <a:r>
              <a:rPr lang="en-US" altLang="ko-KR" sz="1300" dirty="0" err="1"/>
              <a:t>và</a:t>
            </a:r>
            <a:r>
              <a:rPr lang="en-US" altLang="ko-KR" sz="1300" dirty="0"/>
              <a:t> </a:t>
            </a:r>
            <a:r>
              <a:rPr lang="en-US" altLang="ko-KR" sz="1300" dirty="0" err="1"/>
              <a:t>trung</a:t>
            </a:r>
            <a:r>
              <a:rPr lang="en-US" altLang="ko-KR" sz="1300" dirty="0"/>
              <a:t> </a:t>
            </a:r>
            <a:r>
              <a:rPr lang="en-US" altLang="ko-KR" sz="1300" dirty="0" err="1"/>
              <a:t>gian</a:t>
            </a:r>
            <a:r>
              <a:rPr lang="en-US" altLang="ko-KR" sz="1300" dirty="0"/>
              <a:t> </a:t>
            </a:r>
            <a:r>
              <a:rPr lang="en-US" altLang="ko-KR" sz="1300" dirty="0" err="1"/>
              <a:t>của</a:t>
            </a:r>
            <a:r>
              <a:rPr lang="en-US" altLang="ko-KR" sz="1300" dirty="0"/>
              <a:t> </a:t>
            </a:r>
            <a:r>
              <a:rPr lang="en-US" altLang="ko-KR" sz="1300" dirty="0" err="1"/>
              <a:t>phạm</a:t>
            </a:r>
            <a:r>
              <a:rPr lang="en-US" altLang="ko-KR" sz="1300" dirty="0"/>
              <a:t> vi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dự</a:t>
            </a:r>
            <a:r>
              <a:rPr lang="en-US" altLang="ko-KR" sz="1300" dirty="0"/>
              <a:t> </a:t>
            </a:r>
            <a:r>
              <a:rPr lang="en-US" altLang="ko-KR" sz="1300" dirty="0" err="1"/>
              <a:t>đoán</a:t>
            </a:r>
            <a:r>
              <a:rPr lang="en-US" altLang="ko-KR" sz="1300" dirty="0"/>
              <a:t>.</a:t>
            </a:r>
          </a:p>
        </p:txBody>
      </p:sp>
      <p:sp>
        <p:nvSpPr>
          <p:cNvPr id="6" name="TextBox 5"/>
          <p:cNvSpPr txBox="1"/>
          <p:nvPr/>
        </p:nvSpPr>
        <p:spPr>
          <a:xfrm>
            <a:off x="179512" y="3861048"/>
            <a:ext cx="8536952" cy="492443"/>
          </a:xfrm>
          <a:prstGeom prst="rect">
            <a:avLst/>
          </a:prstGeom>
          <a:noFill/>
        </p:spPr>
        <p:txBody>
          <a:bodyPr wrap="none" rtlCol="0">
            <a:spAutoFit/>
          </a:bodyPr>
          <a:lstStyle/>
          <a:p>
            <a:pPr marL="342900" indent="-342900">
              <a:buFontTx/>
              <a:buAutoNum type="arabicPeriod" startAt="2"/>
            </a:pPr>
            <a:r>
              <a:rPr lang="en-US" altLang="ko-KR" sz="1300" dirty="0" err="1"/>
              <a:t>Đo</a:t>
            </a:r>
            <a:r>
              <a:rPr lang="en-US" altLang="ko-KR" sz="1300" dirty="0"/>
              <a:t> </a:t>
            </a:r>
            <a:r>
              <a:rPr lang="en-US" altLang="ko-KR" sz="1300" dirty="0" err="1"/>
              <a:t>đạc</a:t>
            </a:r>
            <a:r>
              <a:rPr lang="en-US" altLang="ko-KR" sz="1300" dirty="0"/>
              <a:t> </a:t>
            </a:r>
            <a:r>
              <a:rPr lang="en-US" altLang="ko-KR" sz="1300" dirty="0" err="1"/>
              <a:t>theo</a:t>
            </a:r>
            <a:r>
              <a:rPr lang="en-US" altLang="ko-KR" sz="1300" dirty="0"/>
              <a:t> </a:t>
            </a:r>
            <a:r>
              <a:rPr lang="en-US" altLang="ko-KR" sz="1300" dirty="0" err="1"/>
              <a:t>chu</a:t>
            </a:r>
            <a:r>
              <a:rPr lang="en-US" altLang="ko-KR" sz="1300" dirty="0"/>
              <a:t> </a:t>
            </a:r>
            <a:r>
              <a:rPr lang="en-US" altLang="ko-KR" sz="1300" dirty="0" err="1"/>
              <a:t>kì</a:t>
            </a:r>
            <a:r>
              <a:rPr lang="en-US" altLang="ko-KR" sz="1300" dirty="0"/>
              <a:t> (</a:t>
            </a:r>
            <a:r>
              <a:rPr lang="en-US" altLang="ko-KR" sz="1300" dirty="0" err="1"/>
              <a:t>ngày</a:t>
            </a:r>
            <a:r>
              <a:rPr lang="en-US" altLang="ko-KR" sz="1300" dirty="0"/>
              <a:t>, </a:t>
            </a:r>
            <a:r>
              <a:rPr lang="en-US" altLang="ko-KR" sz="1300" dirty="0" err="1"/>
              <a:t>thời</a:t>
            </a:r>
            <a:r>
              <a:rPr lang="en-US" altLang="ko-KR" sz="1300" dirty="0"/>
              <a:t> </a:t>
            </a:r>
            <a:r>
              <a:rPr lang="en-US" altLang="ko-KR" sz="1300" dirty="0" err="1"/>
              <a:t>gian</a:t>
            </a:r>
            <a:r>
              <a:rPr lang="en-US" altLang="ko-KR" sz="1300" dirty="0"/>
              <a:t>) sample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từ</a:t>
            </a:r>
            <a:r>
              <a:rPr lang="en-US" altLang="ko-KR" sz="1300" dirty="0"/>
              <a:t> 3 </a:t>
            </a:r>
            <a:r>
              <a:rPr lang="en-US" altLang="ko-KR" sz="1300" dirty="0" err="1"/>
              <a:t>đến</a:t>
            </a:r>
            <a:r>
              <a:rPr lang="en-US" altLang="ko-KR" sz="1300" dirty="0"/>
              <a:t> 5 </a:t>
            </a:r>
            <a:r>
              <a:rPr lang="en-US" altLang="ko-KR" sz="1300" dirty="0" err="1"/>
              <a:t>lần</a:t>
            </a:r>
            <a:r>
              <a:rPr lang="en-US" altLang="ko-KR" sz="1300" dirty="0"/>
              <a:t>. </a:t>
            </a:r>
            <a:r>
              <a:rPr lang="vi-VN" altLang="ko-KR" sz="1300" dirty="0"/>
              <a:t>Số lượng và tần số của các phép </a:t>
            </a:r>
            <a:endParaRPr lang="en-US" altLang="ko-KR" sz="1300" dirty="0"/>
          </a:p>
          <a:p>
            <a:pPr marL="342900" indent="-342900"/>
            <a:r>
              <a:rPr lang="en-US" altLang="ko-KR" sz="1300" dirty="0"/>
              <a:t>      </a:t>
            </a:r>
            <a:r>
              <a:rPr lang="vi-VN" altLang="ko-KR" sz="1300" dirty="0"/>
              <a:t>đo lặp lại phải phụ thuộc vào kiến thức về điều kiện</a:t>
            </a:r>
            <a:r>
              <a:rPr lang="en-US" altLang="ko-KR" sz="1300" dirty="0"/>
              <a:t>, </a:t>
            </a:r>
            <a:r>
              <a:rPr lang="en-US" altLang="ko-KR" sz="1300" dirty="0" err="1"/>
              <a:t>tình</a:t>
            </a:r>
            <a:r>
              <a:rPr lang="en-US" altLang="ko-KR" sz="1300" dirty="0"/>
              <a:t> </a:t>
            </a:r>
            <a:r>
              <a:rPr lang="en-US" altLang="ko-KR" sz="1300" dirty="0" err="1"/>
              <a:t>hình</a:t>
            </a:r>
            <a:r>
              <a:rPr lang="vi-VN" altLang="ko-KR" sz="1300" dirty="0"/>
              <a:t> hoạt động của hệ thống đo lường. </a:t>
            </a:r>
            <a:endParaRPr lang="en-US" altLang="ko-KR" sz="1300" dirty="0"/>
          </a:p>
        </p:txBody>
      </p:sp>
      <p:sp>
        <p:nvSpPr>
          <p:cNvPr id="7" name="TextBox 6"/>
          <p:cNvSpPr txBox="1"/>
          <p:nvPr/>
        </p:nvSpPr>
        <p:spPr>
          <a:xfrm>
            <a:off x="181838" y="4365104"/>
            <a:ext cx="5326266" cy="292388"/>
          </a:xfrm>
          <a:prstGeom prst="rect">
            <a:avLst/>
          </a:prstGeom>
          <a:noFill/>
        </p:spPr>
        <p:txBody>
          <a:bodyPr wrap="none" rtlCol="0">
            <a:spAutoFit/>
          </a:bodyPr>
          <a:lstStyle/>
          <a:p>
            <a:r>
              <a:rPr lang="en-US" altLang="ko-KR" sz="1300" dirty="0"/>
              <a:t>3.    </a:t>
            </a:r>
            <a:r>
              <a:rPr lang="en-US" altLang="ko-KR" sz="1300" dirty="0" err="1"/>
              <a:t>Đánh</a:t>
            </a:r>
            <a:r>
              <a:rPr lang="en-US" altLang="ko-KR" sz="1300" dirty="0"/>
              <a:t> </a:t>
            </a:r>
            <a:r>
              <a:rPr lang="en-US" altLang="ko-KR" sz="1300" dirty="0" err="1"/>
              <a:t>dấu</a:t>
            </a:r>
            <a:r>
              <a:rPr lang="en-US" altLang="ko-KR" sz="1300" dirty="0"/>
              <a:t> </a:t>
            </a:r>
            <a:r>
              <a:rPr lang="en-US" altLang="ko-KR" sz="1300" dirty="0" err="1"/>
              <a:t>giá</a:t>
            </a:r>
            <a:r>
              <a:rPr lang="en-US" altLang="ko-KR" sz="1300" dirty="0"/>
              <a:t> </a:t>
            </a:r>
            <a:r>
              <a:rPr lang="en-US" altLang="ko-KR" sz="1300" dirty="0" err="1"/>
              <a:t>trị</a:t>
            </a:r>
            <a:r>
              <a:rPr lang="en-US" altLang="ko-KR" sz="1300" dirty="0"/>
              <a:t> </a:t>
            </a:r>
            <a:r>
              <a:rPr lang="en-US" altLang="ko-KR" sz="1300" dirty="0" err="1"/>
              <a:t>đo</a:t>
            </a:r>
            <a:r>
              <a:rPr lang="en-US" altLang="ko-KR" sz="1300" dirty="0"/>
              <a:t> </a:t>
            </a:r>
            <a:r>
              <a:rPr lang="en-US" altLang="ko-KR" sz="1300" dirty="0" err="1"/>
              <a:t>trên</a:t>
            </a:r>
            <a:r>
              <a:rPr lang="en-US" altLang="ko-KR" sz="1300" dirty="0"/>
              <a:t> </a:t>
            </a:r>
            <a:r>
              <a:rPr lang="vi-VN" altLang="ko-KR" sz="1300" dirty="0"/>
              <a:t>đồ thị</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Xbar</a:t>
            </a:r>
            <a:r>
              <a:rPr lang="en-US" altLang="ko-KR" sz="1300" dirty="0"/>
              <a:t>-R </a:t>
            </a:r>
            <a:r>
              <a:rPr lang="en-US" altLang="ko-KR" sz="1300" dirty="0" err="1"/>
              <a:t>hoặc</a:t>
            </a:r>
            <a:r>
              <a:rPr lang="en-US" altLang="ko-KR" sz="1300" dirty="0"/>
              <a:t> </a:t>
            </a:r>
            <a:r>
              <a:rPr lang="en-US" altLang="ko-KR" sz="1300" dirty="0" err="1"/>
              <a:t>Xbar</a:t>
            </a:r>
            <a:r>
              <a:rPr lang="en-US" altLang="ko-KR" sz="1300" dirty="0"/>
              <a:t>-S. </a:t>
            </a:r>
          </a:p>
        </p:txBody>
      </p:sp>
      <p:sp>
        <p:nvSpPr>
          <p:cNvPr id="8" name="TextBox 7"/>
          <p:cNvSpPr txBox="1"/>
          <p:nvPr/>
        </p:nvSpPr>
        <p:spPr>
          <a:xfrm>
            <a:off x="179512" y="4725144"/>
            <a:ext cx="8312468" cy="492443"/>
          </a:xfrm>
          <a:prstGeom prst="rect">
            <a:avLst/>
          </a:prstGeom>
          <a:noFill/>
        </p:spPr>
        <p:txBody>
          <a:bodyPr wrap="none" rtlCol="0">
            <a:spAutoFit/>
          </a:bodyPr>
          <a:lstStyle/>
          <a:p>
            <a:pPr marL="342900" indent="-342900">
              <a:buAutoNum type="arabicPeriod" startAt="4"/>
            </a:pPr>
            <a:r>
              <a:rPr lang="en-US" altLang="ko-KR" sz="1300" dirty="0" err="1"/>
              <a:t>Tính</a:t>
            </a:r>
            <a:r>
              <a:rPr lang="en-US" altLang="ko-KR" sz="1300" dirty="0"/>
              <a:t> </a:t>
            </a:r>
            <a:r>
              <a:rPr lang="en-US" altLang="ko-KR" sz="1300" dirty="0" err="1"/>
              <a:t>toán</a:t>
            </a:r>
            <a:r>
              <a:rPr lang="en-US" altLang="ko-KR" sz="1300" dirty="0"/>
              <a:t> </a:t>
            </a:r>
            <a:r>
              <a:rPr lang="en-US" altLang="ko-KR" sz="1300" dirty="0" err="1"/>
              <a:t>đường</a:t>
            </a:r>
            <a:r>
              <a:rPr lang="en-US" altLang="ko-KR" sz="1300" dirty="0"/>
              <a:t> </a:t>
            </a:r>
            <a:r>
              <a:rPr lang="en-US" altLang="ko-KR" sz="1300" dirty="0" err="1"/>
              <a:t>giới</a:t>
            </a:r>
            <a:r>
              <a:rPr lang="en-US" altLang="ko-KR" sz="1300" dirty="0"/>
              <a:t> </a:t>
            </a:r>
            <a:r>
              <a:rPr lang="en-US" altLang="ko-KR" sz="1300" dirty="0" err="1"/>
              <a:t>hạn</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nắm</a:t>
            </a:r>
            <a:r>
              <a:rPr lang="en-US" altLang="ko-KR" sz="1300" dirty="0"/>
              <a:t> </a:t>
            </a:r>
            <a:r>
              <a:rPr lang="en-US" altLang="ko-KR" sz="1300" dirty="0" err="1"/>
              <a:t>bắt</a:t>
            </a:r>
            <a:r>
              <a:rPr lang="en-US" altLang="ko-KR" sz="1300" dirty="0"/>
              <a:t> </a:t>
            </a:r>
            <a:r>
              <a:rPr lang="en-US" altLang="ko-KR" sz="1300" dirty="0" err="1"/>
              <a:t>trạng</a:t>
            </a:r>
            <a:r>
              <a:rPr lang="en-US" altLang="ko-KR" sz="1300" dirty="0"/>
              <a:t> </a:t>
            </a:r>
            <a:r>
              <a:rPr lang="en-US" altLang="ko-KR" sz="1300" dirty="0" err="1"/>
              <a:t>thái</a:t>
            </a:r>
            <a:r>
              <a:rPr lang="en-US" altLang="ko-KR" sz="1300" dirty="0"/>
              <a:t> </a:t>
            </a:r>
            <a:r>
              <a:rPr lang="en-US" altLang="ko-KR" sz="1300" dirty="0" err="1"/>
              <a:t>bất</a:t>
            </a:r>
            <a:r>
              <a:rPr lang="en-US" altLang="ko-KR" sz="1300" dirty="0"/>
              <a:t> </a:t>
            </a:r>
            <a:r>
              <a:rPr lang="en-US" altLang="ko-KR" sz="1300" dirty="0" err="1"/>
              <a:t>thường</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để</a:t>
            </a:r>
            <a:r>
              <a:rPr lang="en-US" altLang="ko-KR" sz="1300" dirty="0"/>
              <a:t> </a:t>
            </a:r>
            <a:r>
              <a:rPr lang="en-US" altLang="ko-KR" sz="1300" dirty="0" err="1"/>
              <a:t>kiểm</a:t>
            </a:r>
            <a:r>
              <a:rPr lang="en-US" altLang="ko-KR" sz="1300" dirty="0"/>
              <a:t> </a:t>
            </a:r>
            <a:r>
              <a:rPr lang="en-US" altLang="ko-KR" sz="1300" dirty="0" err="1"/>
              <a:t>tra</a:t>
            </a:r>
            <a:r>
              <a:rPr lang="en-US" altLang="ko-KR" sz="1300" dirty="0"/>
              <a:t> </a:t>
            </a:r>
            <a:r>
              <a:rPr lang="en-US" altLang="ko-KR" sz="1300" dirty="0" err="1"/>
              <a:t>có</a:t>
            </a:r>
            <a:r>
              <a:rPr lang="en-US" altLang="ko-KR" sz="1300" dirty="0"/>
              <a:t> hay </a:t>
            </a:r>
            <a:r>
              <a:rPr lang="en-US" altLang="ko-KR" sz="1300" dirty="0" err="1"/>
              <a:t>không</a:t>
            </a:r>
            <a:endParaRPr lang="en-US" altLang="ko-KR" sz="1300" dirty="0"/>
          </a:p>
          <a:p>
            <a:pPr marL="342900" indent="-342900"/>
            <a:r>
              <a:rPr lang="en-US" altLang="ko-KR" sz="1300" dirty="0"/>
              <a:t>      </a:t>
            </a:r>
            <a:r>
              <a:rPr lang="en-US" altLang="ko-KR" sz="1300" dirty="0" err="1"/>
              <a:t>tính</a:t>
            </a:r>
            <a:r>
              <a:rPr lang="en-US" altLang="ko-KR" sz="1300" dirty="0"/>
              <a:t> </a:t>
            </a:r>
            <a:r>
              <a:rPr lang="en-US" altLang="ko-KR" sz="1300" dirty="0" err="1"/>
              <a:t>ổn</a:t>
            </a:r>
            <a:r>
              <a:rPr lang="en-US" altLang="ko-KR" sz="1300" dirty="0"/>
              <a:t> </a:t>
            </a:r>
            <a:r>
              <a:rPr lang="en-US" altLang="ko-KR" sz="1300" dirty="0" err="1"/>
              <a:t>định</a:t>
            </a:r>
            <a:r>
              <a:rPr lang="en-US" altLang="ko-KR" sz="1300" dirty="0"/>
              <a:t> </a:t>
            </a:r>
            <a:r>
              <a:rPr lang="en-US" altLang="ko-KR" sz="1300" dirty="0" err="1"/>
              <a:t>của</a:t>
            </a:r>
            <a:r>
              <a:rPr lang="en-US" altLang="ko-KR" sz="1300" dirty="0"/>
              <a:t> </a:t>
            </a:r>
            <a:r>
              <a:rPr lang="en-US" altLang="ko-KR" sz="1300" dirty="0" err="1"/>
              <a:t>hệ</a:t>
            </a:r>
            <a:r>
              <a:rPr lang="en-US" altLang="ko-KR" sz="1300" dirty="0"/>
              <a:t> </a:t>
            </a:r>
            <a:r>
              <a:rPr lang="en-US" altLang="ko-KR" sz="1300" dirty="0" err="1"/>
              <a:t>thống</a:t>
            </a:r>
            <a:r>
              <a:rPr lang="en-US" altLang="ko-KR" sz="1300" dirty="0"/>
              <a:t> </a:t>
            </a:r>
            <a:r>
              <a:rPr lang="en-US" altLang="ko-KR" sz="1300" dirty="0" err="1"/>
              <a:t>đo</a:t>
            </a:r>
            <a:r>
              <a:rPr lang="en-US" altLang="ko-KR" sz="1300" dirty="0"/>
              <a:t>.</a:t>
            </a:r>
          </a:p>
        </p:txBody>
      </p:sp>
      <p:sp>
        <p:nvSpPr>
          <p:cNvPr id="9" name="TextBox 8"/>
          <p:cNvSpPr txBox="1"/>
          <p:nvPr/>
        </p:nvSpPr>
        <p:spPr>
          <a:xfrm>
            <a:off x="179512" y="5301208"/>
            <a:ext cx="8667629" cy="1092607"/>
          </a:xfrm>
          <a:prstGeom prst="rect">
            <a:avLst/>
          </a:prstGeom>
          <a:noFill/>
        </p:spPr>
        <p:txBody>
          <a:bodyPr wrap="none" rtlCol="0">
            <a:spAutoFit/>
          </a:bodyPr>
          <a:lstStyle/>
          <a:p>
            <a:pPr marL="342900" indent="-342900">
              <a:buAutoNum type="arabicPeriod" startAt="5"/>
            </a:pPr>
            <a:r>
              <a:rPr lang="en-US" altLang="ko-KR" sz="1300" dirty="0" err="1"/>
              <a:t>Nếu</a:t>
            </a:r>
            <a:r>
              <a:rPr lang="en-US" altLang="ko-KR" sz="1300" dirty="0"/>
              <a:t> </a:t>
            </a:r>
            <a:r>
              <a:rPr lang="en-US" altLang="ko-KR" sz="1300" dirty="0" err="1"/>
              <a:t>hệ</a:t>
            </a:r>
            <a:r>
              <a:rPr lang="en-US" altLang="ko-KR" sz="1300" dirty="0"/>
              <a:t> </a:t>
            </a:r>
            <a:r>
              <a:rPr lang="en-US" altLang="ko-KR" sz="1300" dirty="0" err="1"/>
              <a:t>thống</a:t>
            </a:r>
            <a:r>
              <a:rPr lang="en-US" altLang="ko-KR" sz="1300" dirty="0"/>
              <a:t>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được</a:t>
            </a:r>
            <a:r>
              <a:rPr lang="en-US" altLang="ko-KR" sz="1300" dirty="0"/>
              <a:t> </a:t>
            </a:r>
            <a:r>
              <a:rPr lang="en-US" altLang="ko-KR" sz="1300" dirty="0" err="1"/>
              <a:t>đánh</a:t>
            </a:r>
            <a:r>
              <a:rPr lang="en-US" altLang="ko-KR" sz="1300" dirty="0"/>
              <a:t> </a:t>
            </a:r>
            <a:r>
              <a:rPr lang="en-US" altLang="ko-KR" sz="1300" dirty="0" err="1"/>
              <a:t>giá</a:t>
            </a:r>
            <a:r>
              <a:rPr lang="en-US" altLang="ko-KR" sz="1300" dirty="0"/>
              <a:t> </a:t>
            </a:r>
            <a:r>
              <a:rPr lang="en-US" altLang="ko-KR" sz="1300" dirty="0" err="1"/>
              <a:t>là</a:t>
            </a:r>
            <a:r>
              <a:rPr lang="en-US" altLang="ko-KR" sz="1300" dirty="0"/>
              <a:t> </a:t>
            </a:r>
            <a:r>
              <a:rPr lang="en-US" altLang="ko-KR" sz="1300" dirty="0" err="1"/>
              <a:t>ổn</a:t>
            </a:r>
            <a:r>
              <a:rPr lang="en-US" altLang="ko-KR" sz="1300" dirty="0"/>
              <a:t> </a:t>
            </a:r>
            <a:r>
              <a:rPr lang="en-US" altLang="ko-KR" sz="1300" dirty="0" err="1"/>
              <a:t>định</a:t>
            </a:r>
            <a:r>
              <a:rPr lang="en-US" altLang="ko-KR" sz="1300" dirty="0"/>
              <a:t>, </a:t>
            </a:r>
            <a:r>
              <a:rPr lang="en-US" altLang="ko-KR" sz="1300" dirty="0" err="1"/>
              <a:t>thì</a:t>
            </a:r>
            <a:r>
              <a:rPr lang="en-US" altLang="ko-KR" sz="1300" dirty="0"/>
              <a:t> </a:t>
            </a:r>
            <a:r>
              <a:rPr lang="en-US" altLang="ko-KR" sz="1300" dirty="0" err="1"/>
              <a:t>có</a:t>
            </a:r>
            <a:r>
              <a:rPr lang="en-US" altLang="ko-KR" sz="1300" dirty="0"/>
              <a:t> </a:t>
            </a:r>
            <a:r>
              <a:rPr lang="en-US" altLang="ko-KR" sz="1300" dirty="0" err="1"/>
              <a:t>thể</a:t>
            </a:r>
            <a:r>
              <a:rPr lang="en-US" altLang="ko-KR" sz="1300" dirty="0"/>
              <a:t> </a:t>
            </a:r>
            <a:r>
              <a:rPr lang="en-US" altLang="ko-KR" sz="1300" dirty="0" err="1"/>
              <a:t>sử</a:t>
            </a:r>
            <a:r>
              <a:rPr lang="en-US" altLang="ko-KR" sz="1300" dirty="0"/>
              <a:t> </a:t>
            </a:r>
            <a:r>
              <a:rPr lang="en-US" altLang="ko-KR" sz="1300" dirty="0" err="1"/>
              <a:t>dụng</a:t>
            </a:r>
            <a:r>
              <a:rPr lang="en-US" altLang="ko-KR" sz="1300" dirty="0"/>
              <a:t> data </a:t>
            </a:r>
            <a:r>
              <a:rPr lang="en-US" altLang="ko-KR" sz="1300" dirty="0" err="1"/>
              <a:t>này</a:t>
            </a:r>
            <a:r>
              <a:rPr lang="en-US" altLang="ko-KR" sz="1300" dirty="0"/>
              <a:t> </a:t>
            </a:r>
            <a:r>
              <a:rPr lang="en-US" altLang="ko-KR" sz="1300" dirty="0" err="1"/>
              <a:t>để</a:t>
            </a:r>
            <a:r>
              <a:rPr lang="en-US" altLang="ko-KR" sz="1300" dirty="0"/>
              <a:t> </a:t>
            </a:r>
            <a:r>
              <a:rPr lang="en-US" altLang="ko-KR" sz="1300" dirty="0" err="1"/>
              <a:t>quyết</a:t>
            </a:r>
            <a:r>
              <a:rPr lang="en-US" altLang="ko-KR" sz="1300" dirty="0"/>
              <a:t> </a:t>
            </a:r>
            <a:r>
              <a:rPr lang="en-US" altLang="ko-KR" sz="1300" dirty="0" err="1"/>
              <a:t>định</a:t>
            </a:r>
            <a:r>
              <a:rPr lang="en-US" altLang="ko-KR" sz="1300" dirty="0"/>
              <a:t> </a:t>
            </a:r>
            <a:r>
              <a:rPr lang="en-US" altLang="ko-KR" sz="1300" dirty="0" err="1"/>
              <a:t>độ</a:t>
            </a:r>
            <a:r>
              <a:rPr lang="en-US" altLang="ko-KR" sz="1300" dirty="0"/>
              <a:t> </a:t>
            </a:r>
            <a:r>
              <a:rPr lang="en-US" altLang="ko-KR" sz="1300" dirty="0" err="1"/>
              <a:t>lệch</a:t>
            </a:r>
            <a:r>
              <a:rPr lang="en-US" altLang="ko-KR" sz="1300" dirty="0"/>
              <a:t> bias</a:t>
            </a:r>
          </a:p>
          <a:p>
            <a:pPr marL="342900" indent="-342900"/>
            <a:r>
              <a:rPr lang="en-US" altLang="ko-KR" sz="1300" dirty="0"/>
              <a:t>      </a:t>
            </a:r>
            <a:r>
              <a:rPr lang="en-US" altLang="ko-KR" sz="1300" dirty="0" err="1"/>
              <a:t>của</a:t>
            </a:r>
            <a:r>
              <a:rPr lang="en-US" altLang="ko-KR" sz="1300" dirty="0"/>
              <a:t> </a:t>
            </a:r>
            <a:r>
              <a:rPr lang="en-US" altLang="ko-KR" sz="1300" dirty="0" err="1"/>
              <a:t>hệ</a:t>
            </a:r>
            <a:r>
              <a:rPr lang="en-US" altLang="ko-KR" sz="1300" dirty="0"/>
              <a:t> </a:t>
            </a:r>
            <a:r>
              <a:rPr lang="en-US" altLang="ko-KR" sz="1300" dirty="0" err="1"/>
              <a:t>thống</a:t>
            </a:r>
            <a:r>
              <a:rPr lang="en-US" altLang="ko-KR" sz="1300" dirty="0"/>
              <a:t>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tìm</a:t>
            </a:r>
            <a:r>
              <a:rPr lang="en-US" altLang="ko-KR" sz="1300" dirty="0"/>
              <a:t> </a:t>
            </a:r>
            <a:r>
              <a:rPr lang="en-US" altLang="ko-KR" sz="1300" dirty="0" err="1"/>
              <a:t>tất</a:t>
            </a:r>
            <a:r>
              <a:rPr lang="en-US" altLang="ko-KR" sz="1300" dirty="0"/>
              <a:t> </a:t>
            </a:r>
            <a:r>
              <a:rPr lang="en-US" altLang="ko-KR" sz="1300" dirty="0" err="1"/>
              <a:t>cả</a:t>
            </a:r>
            <a:r>
              <a:rPr lang="en-US" altLang="ko-KR" sz="1300" dirty="0"/>
              <a:t> </a:t>
            </a:r>
            <a:r>
              <a:rPr lang="en-US" altLang="ko-KR" sz="1300" dirty="0" err="1"/>
              <a:t>những</a:t>
            </a:r>
            <a:r>
              <a:rPr lang="en-US" altLang="ko-KR" sz="1300" dirty="0"/>
              <a:t> </a:t>
            </a:r>
            <a:r>
              <a:rPr lang="en-US" altLang="ko-KR" sz="1300" dirty="0" err="1"/>
              <a:t>độ</a:t>
            </a:r>
            <a:r>
              <a:rPr lang="en-US" altLang="ko-KR" sz="1300" dirty="0"/>
              <a:t> </a:t>
            </a:r>
            <a:r>
              <a:rPr lang="en-US" altLang="ko-KR" sz="1300" dirty="0" err="1"/>
              <a:t>lệch</a:t>
            </a:r>
            <a:r>
              <a:rPr lang="en-US" altLang="ko-KR" sz="1300" dirty="0"/>
              <a:t>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của</a:t>
            </a:r>
            <a:r>
              <a:rPr lang="en-US" altLang="ko-KR" sz="1300" dirty="0"/>
              <a:t> </a:t>
            </a:r>
            <a:r>
              <a:rPr lang="en-US" altLang="ko-KR" sz="1300" dirty="0" err="1"/>
              <a:t>hệ</a:t>
            </a:r>
            <a:r>
              <a:rPr lang="en-US" altLang="ko-KR" sz="1300" dirty="0"/>
              <a:t> </a:t>
            </a:r>
            <a:r>
              <a:rPr lang="en-US" altLang="ko-KR" sz="1300" dirty="0" err="1"/>
              <a:t>thống</a:t>
            </a:r>
            <a:r>
              <a:rPr lang="en-US" altLang="ko-KR" sz="1300" dirty="0"/>
              <a:t>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và</a:t>
            </a:r>
            <a:r>
              <a:rPr lang="en-US" altLang="ko-KR" sz="1300" dirty="0"/>
              <a:t> </a:t>
            </a:r>
            <a:r>
              <a:rPr lang="en-US" altLang="ko-KR" sz="1300" dirty="0" err="1"/>
              <a:t>tất</a:t>
            </a:r>
            <a:r>
              <a:rPr lang="en-US" altLang="ko-KR" sz="1300" dirty="0"/>
              <a:t> </a:t>
            </a:r>
            <a:r>
              <a:rPr lang="en-US" altLang="ko-KR" sz="1300" dirty="0" err="1"/>
              <a:t>cả</a:t>
            </a:r>
            <a:r>
              <a:rPr lang="en-US" altLang="ko-KR" sz="1300" dirty="0"/>
              <a:t> </a:t>
            </a:r>
            <a:r>
              <a:rPr lang="en-US" altLang="ko-KR" sz="1300" dirty="0" err="1"/>
              <a:t>những</a:t>
            </a:r>
            <a:r>
              <a:rPr lang="en-US" altLang="ko-KR" sz="1300" dirty="0"/>
              <a:t> </a:t>
            </a:r>
            <a:r>
              <a:rPr lang="en-US" altLang="ko-KR" sz="1300" dirty="0" err="1"/>
              <a:t>độ</a:t>
            </a:r>
            <a:r>
              <a:rPr lang="en-US" altLang="ko-KR" sz="1300" dirty="0"/>
              <a:t> </a:t>
            </a:r>
            <a:r>
              <a:rPr lang="en-US" altLang="ko-KR" sz="1300" dirty="0" err="1"/>
              <a:t>lệch</a:t>
            </a:r>
            <a:endParaRPr lang="en-US" altLang="ko-KR" sz="1300" dirty="0"/>
          </a:p>
          <a:p>
            <a:pPr marL="342900" indent="-342900"/>
            <a:r>
              <a:rPr lang="en-US" altLang="ko-KR" sz="1300" dirty="0"/>
              <a:t>      </a:t>
            </a:r>
            <a:r>
              <a:rPr lang="en-US" altLang="ko-KR" sz="1300" dirty="0" err="1"/>
              <a:t>tiêu</a:t>
            </a:r>
            <a:r>
              <a:rPr lang="en-US" altLang="ko-KR" sz="1300" dirty="0"/>
              <a:t> </a:t>
            </a:r>
            <a:r>
              <a:rPr lang="en-US" altLang="ko-KR" sz="1300" dirty="0" err="1"/>
              <a:t>chuẩn</a:t>
            </a:r>
            <a:r>
              <a:rPr lang="en-US" altLang="ko-KR" sz="1300" dirty="0"/>
              <a:t> </a:t>
            </a:r>
            <a:r>
              <a:rPr lang="en-US" altLang="ko-KR" sz="1300" dirty="0" err="1"/>
              <a:t>này</a:t>
            </a:r>
            <a:r>
              <a:rPr lang="en-US" altLang="ko-KR" sz="1300" dirty="0"/>
              <a:t> </a:t>
            </a:r>
            <a:r>
              <a:rPr lang="vi-VN" altLang="ko-KR" sz="1300" dirty="0"/>
              <a:t>có thể được xác định và sử dụng làm giá trị lặp lại của hệ thống đo lường gần đúng</a:t>
            </a:r>
            <a:endParaRPr lang="en-US" altLang="ko-KR" sz="1300" dirty="0">
              <a:solidFill>
                <a:schemeClr val="accent6">
                  <a:lumMod val="75000"/>
                </a:schemeClr>
              </a:solidFill>
            </a:endParaRPr>
          </a:p>
          <a:p>
            <a:pPr marL="342900" indent="-342900"/>
            <a:r>
              <a:rPr lang="en-US" altLang="ko-KR" sz="1300" dirty="0">
                <a:solidFill>
                  <a:schemeClr val="accent6">
                    <a:lumMod val="75000"/>
                  </a:schemeClr>
                </a:solidFill>
              </a:rPr>
              <a:t>      </a:t>
            </a:r>
            <a:r>
              <a:rPr lang="en-US" altLang="ko-KR" sz="1300" dirty="0" err="1"/>
              <a:t>Và</a:t>
            </a:r>
            <a:r>
              <a:rPr lang="en-US" altLang="ko-KR" sz="1300" dirty="0"/>
              <a:t> </a:t>
            </a:r>
            <a:r>
              <a:rPr lang="en-US" altLang="ko-KR" sz="1300" dirty="0" err="1"/>
              <a:t>có</a:t>
            </a:r>
            <a:r>
              <a:rPr lang="en-US" altLang="ko-KR" sz="1300" dirty="0"/>
              <a:t> </a:t>
            </a:r>
            <a:r>
              <a:rPr lang="en-US" altLang="ko-KR" sz="1300" dirty="0" err="1"/>
              <a:t>thể</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để</a:t>
            </a:r>
            <a:r>
              <a:rPr lang="en-US" altLang="ko-KR" sz="1300" dirty="0"/>
              <a:t> </a:t>
            </a:r>
            <a:r>
              <a:rPr lang="en-US" altLang="ko-KR" sz="1300" dirty="0" err="1"/>
              <a:t>đánh</a:t>
            </a:r>
            <a:r>
              <a:rPr lang="en-US" altLang="ko-KR" sz="1300" dirty="0"/>
              <a:t> </a:t>
            </a:r>
            <a:r>
              <a:rPr lang="en-US" altLang="ko-KR" sz="1300" dirty="0" err="1"/>
              <a:t>giá</a:t>
            </a:r>
            <a:r>
              <a:rPr lang="en-US" altLang="ko-KR" sz="1300" dirty="0"/>
              <a:t> </a:t>
            </a:r>
            <a:r>
              <a:rPr lang="en-US" altLang="ko-KR" sz="1300" dirty="0" err="1"/>
              <a:t>Độ</a:t>
            </a:r>
            <a:r>
              <a:rPr lang="en-US" altLang="ko-KR" sz="1300" dirty="0"/>
              <a:t> </a:t>
            </a:r>
            <a:r>
              <a:rPr lang="en-US" altLang="ko-KR" sz="1300" dirty="0" err="1"/>
              <a:t>lặp</a:t>
            </a:r>
            <a:r>
              <a:rPr lang="en-US" altLang="ko-KR" sz="1300" dirty="0"/>
              <a:t> </a:t>
            </a:r>
            <a:r>
              <a:rPr lang="en-US" altLang="ko-KR" sz="1300" dirty="0" err="1"/>
              <a:t>lại</a:t>
            </a:r>
            <a:r>
              <a:rPr lang="en-US" altLang="ko-KR" sz="1300" dirty="0"/>
              <a:t> </a:t>
            </a:r>
            <a:r>
              <a:rPr lang="en-US" altLang="ko-KR" sz="1300" dirty="0" err="1"/>
              <a:t>của</a:t>
            </a:r>
            <a:r>
              <a:rPr lang="en-US" altLang="ko-KR" sz="1300" dirty="0"/>
              <a:t> </a:t>
            </a:r>
            <a:r>
              <a:rPr lang="en-US" altLang="ko-KR" sz="1300" dirty="0" err="1"/>
              <a:t>hệ</a:t>
            </a:r>
            <a:r>
              <a:rPr lang="en-US" altLang="ko-KR" sz="1300" dirty="0"/>
              <a:t> </a:t>
            </a:r>
            <a:r>
              <a:rPr lang="en-US" altLang="ko-KR" sz="1300" dirty="0" err="1"/>
              <a:t>thống</a:t>
            </a:r>
            <a:r>
              <a:rPr lang="en-US" altLang="ko-KR" sz="1300" dirty="0"/>
              <a:t> </a:t>
            </a:r>
            <a:r>
              <a:rPr lang="en-US" altLang="ko-KR" sz="1300" dirty="0" err="1"/>
              <a:t>đo</a:t>
            </a:r>
            <a:r>
              <a:rPr lang="en-US" altLang="ko-KR" sz="1300" dirty="0"/>
              <a:t> </a:t>
            </a:r>
            <a:r>
              <a:rPr lang="en-US" altLang="ko-KR" sz="1300" dirty="0" err="1"/>
              <a:t>đạc</a:t>
            </a:r>
            <a:r>
              <a:rPr lang="en-US" altLang="ko-KR" sz="1300" dirty="0"/>
              <a:t> </a:t>
            </a:r>
            <a:r>
              <a:rPr lang="en-US" altLang="ko-KR" sz="1300" dirty="0" err="1"/>
              <a:t>bằng</a:t>
            </a:r>
            <a:r>
              <a:rPr lang="en-US" altLang="ko-KR" sz="1300" dirty="0"/>
              <a:t> </a:t>
            </a:r>
            <a:r>
              <a:rPr lang="en-US" altLang="ko-KR" sz="1300" dirty="0" err="1"/>
              <a:t>cách</a:t>
            </a:r>
            <a:r>
              <a:rPr lang="en-US" altLang="ko-KR" sz="1300" dirty="0"/>
              <a:t> so </a:t>
            </a:r>
            <a:r>
              <a:rPr lang="en-US" altLang="ko-KR" sz="1300" dirty="0" err="1"/>
              <a:t>sánh</a:t>
            </a:r>
            <a:r>
              <a:rPr lang="en-US" altLang="ko-KR" sz="1300" dirty="0"/>
              <a:t> </a:t>
            </a:r>
            <a:r>
              <a:rPr lang="en-US" altLang="ko-KR" sz="1300" dirty="0" err="1"/>
              <a:t>với</a:t>
            </a:r>
            <a:r>
              <a:rPr lang="en-US" altLang="ko-KR" sz="1300" dirty="0"/>
              <a:t> </a:t>
            </a:r>
            <a:r>
              <a:rPr lang="en-US" altLang="ko-KR" sz="1300" dirty="0" err="1"/>
              <a:t>độ</a:t>
            </a:r>
            <a:r>
              <a:rPr lang="en-US" altLang="ko-KR" sz="1300" dirty="0"/>
              <a:t> </a:t>
            </a:r>
            <a:r>
              <a:rPr lang="en-US" altLang="ko-KR" sz="1300" dirty="0" err="1"/>
              <a:t>lệch</a:t>
            </a:r>
            <a:r>
              <a:rPr lang="en-US" altLang="ko-KR" sz="1300" dirty="0"/>
              <a:t> </a:t>
            </a:r>
            <a:r>
              <a:rPr lang="en-US" altLang="ko-KR" sz="1300" dirty="0" err="1"/>
              <a:t>tiêu</a:t>
            </a:r>
            <a:r>
              <a:rPr lang="en-US" altLang="ko-KR" sz="1300" dirty="0"/>
              <a:t> </a:t>
            </a:r>
            <a:r>
              <a:rPr lang="en-US" altLang="ko-KR" sz="1300" dirty="0" err="1"/>
              <a:t>chuẩn</a:t>
            </a:r>
            <a:endParaRPr lang="en-US" altLang="ko-KR" sz="1300" dirty="0"/>
          </a:p>
          <a:p>
            <a:pPr marL="342900" indent="-342900"/>
            <a:r>
              <a:rPr lang="en-US" altLang="ko-KR" sz="1300" dirty="0"/>
              <a:t>      </a:t>
            </a:r>
            <a:r>
              <a:rPr lang="en-US" altLang="ko-KR" sz="1300" dirty="0" err="1"/>
              <a:t>của</a:t>
            </a:r>
            <a:r>
              <a:rPr lang="en-US" altLang="ko-KR" sz="1300" dirty="0"/>
              <a:t> process</a:t>
            </a:r>
          </a:p>
        </p:txBody>
      </p:sp>
      <p:sp>
        <p:nvSpPr>
          <p:cNvPr id="10"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139</a:t>
            </a:fld>
            <a:endParaRPr lang="ko-KR" altLang="en-US" dirty="0"/>
          </a:p>
        </p:txBody>
      </p:sp>
    </p:spTree>
    <p:extLst>
      <p:ext uri="{BB962C8B-B14F-4D97-AF65-F5344CB8AC3E}">
        <p14:creationId xmlns:p14="http://schemas.microsoft.com/office/powerpoint/2010/main" val="17683052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stability study</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직사각형 2"/>
          <p:cNvSpPr/>
          <p:nvPr/>
        </p:nvSpPr>
        <p:spPr>
          <a:xfrm>
            <a:off x="323528" y="1196752"/>
            <a:ext cx="8568952" cy="24465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4" name="TextBox 3"/>
          <p:cNvSpPr txBox="1"/>
          <p:nvPr/>
        </p:nvSpPr>
        <p:spPr>
          <a:xfrm>
            <a:off x="285720" y="1214422"/>
            <a:ext cx="8721555" cy="2428892"/>
          </a:xfrm>
          <a:prstGeom prst="rect">
            <a:avLst/>
          </a:prstGeom>
          <a:noFill/>
        </p:spPr>
        <p:txBody>
          <a:bodyPr wrap="square" rtlCol="0">
            <a:spAutoFit/>
          </a:bodyPr>
          <a:lstStyle/>
          <a:p>
            <a:pPr>
              <a:lnSpc>
                <a:spcPct val="150000"/>
              </a:lnSpc>
            </a:pPr>
            <a:r>
              <a:rPr lang="en-US" sz="1400" dirty="0"/>
              <a:t>In order to evaluate the stability of the new instrument in a production engineering team of a company, the parts corresponding to the middle part of the process range in the production process were </a:t>
            </a:r>
          </a:p>
          <a:p>
            <a:pPr>
              <a:lnSpc>
                <a:spcPct val="150000"/>
              </a:lnSpc>
            </a:pPr>
            <a:r>
              <a:rPr lang="en-US" sz="1400" dirty="0"/>
              <a:t>selected as the samples. This part was sent to the precision measuring room and the reference value of this part was confirmed to be 6.01. Using this new instrument, five measurements were repeated daily</a:t>
            </a:r>
          </a:p>
          <a:p>
            <a:pPr>
              <a:lnSpc>
                <a:spcPct val="150000"/>
              </a:lnSpc>
            </a:pPr>
            <a:r>
              <a:rPr lang="en-US" sz="1400" dirty="0"/>
              <a:t>for 4 weeks, and the following measurement data were obtained. We will use the control chart to </a:t>
            </a:r>
          </a:p>
          <a:p>
            <a:pPr>
              <a:lnSpc>
                <a:spcPct val="150000"/>
              </a:lnSpc>
            </a:pPr>
            <a:r>
              <a:rPr lang="en-US" sz="1400" dirty="0"/>
              <a:t>evaluate the stability of this new instrument.</a:t>
            </a:r>
            <a:endParaRPr lang="en-US" altLang="ko-KR" sz="1400" dirty="0"/>
          </a:p>
          <a:p>
            <a:pPr marL="342900" indent="-342900">
              <a:lnSpc>
                <a:spcPct val="150000"/>
              </a:lnSpc>
              <a:buAutoNum type="arabicPeriod"/>
            </a:pPr>
            <a:r>
              <a:rPr lang="en-US" sz="1400" dirty="0"/>
              <a:t>Use Minitab to create </a:t>
            </a:r>
            <a:r>
              <a:rPr lang="en-US" sz="1400" dirty="0" err="1"/>
              <a:t>Xbar</a:t>
            </a:r>
            <a:r>
              <a:rPr lang="en-US" sz="1400" dirty="0"/>
              <a:t>-R charts and evaluate the stability of this new instrument</a:t>
            </a:r>
            <a:endParaRPr lang="en-US" altLang="ko-KR" sz="1400" dirty="0"/>
          </a:p>
        </p:txBody>
      </p:sp>
      <p:sp>
        <p:nvSpPr>
          <p:cNvPr id="6" name="TextBox 5"/>
          <p:cNvSpPr txBox="1"/>
          <p:nvPr/>
        </p:nvSpPr>
        <p:spPr>
          <a:xfrm>
            <a:off x="179512" y="148570"/>
            <a:ext cx="3281155" cy="400110"/>
          </a:xfrm>
          <a:prstGeom prst="rect">
            <a:avLst/>
          </a:prstGeom>
          <a:noFill/>
        </p:spPr>
        <p:txBody>
          <a:bodyPr wrap="none" rtlCol="0">
            <a:spAutoFit/>
          </a:bodyPr>
          <a:lstStyle/>
          <a:p>
            <a:r>
              <a:rPr lang="en-US" altLang="ko-KR" sz="2000" b="1" dirty="0"/>
              <a:t>Type 5 Study Case study</a:t>
            </a:r>
            <a:r>
              <a:rPr lang="ko-KR" altLang="en-US" sz="2000" b="1" dirty="0"/>
              <a:t> </a:t>
            </a:r>
          </a:p>
        </p:txBody>
      </p:sp>
      <p:graphicFrame>
        <p:nvGraphicFramePr>
          <p:cNvPr id="8" name="표 7"/>
          <p:cNvGraphicFramePr>
            <a:graphicFrameLocks noGrp="1"/>
          </p:cNvGraphicFramePr>
          <p:nvPr>
            <p:extLst>
              <p:ext uri="{D42A27DB-BD31-4B8C-83A1-F6EECF244321}">
                <p14:modId xmlns:p14="http://schemas.microsoft.com/office/powerpoint/2010/main" val="2458588179"/>
              </p:ext>
            </p:extLst>
          </p:nvPr>
        </p:nvGraphicFramePr>
        <p:xfrm>
          <a:off x="611560" y="4000504"/>
          <a:ext cx="3962400" cy="2374900"/>
        </p:xfrm>
        <a:graphic>
          <a:graphicData uri="http://schemas.openxmlformats.org/drawingml/2006/table">
            <a:tbl>
              <a:tblPr/>
              <a:tblGrid>
                <a:gridCol w="660400">
                  <a:extLst>
                    <a:ext uri="{9D8B030D-6E8A-4147-A177-3AD203B41FA5}">
                      <a16:colId xmlns:a16="http://schemas.microsoft.com/office/drawing/2014/main" val="20000"/>
                    </a:ext>
                  </a:extLst>
                </a:gridCol>
                <a:gridCol w="660400">
                  <a:extLst>
                    <a:ext uri="{9D8B030D-6E8A-4147-A177-3AD203B41FA5}">
                      <a16:colId xmlns:a16="http://schemas.microsoft.com/office/drawing/2014/main" val="20001"/>
                    </a:ext>
                  </a:extLst>
                </a:gridCol>
                <a:gridCol w="660400">
                  <a:extLst>
                    <a:ext uri="{9D8B030D-6E8A-4147-A177-3AD203B41FA5}">
                      <a16:colId xmlns:a16="http://schemas.microsoft.com/office/drawing/2014/main" val="20002"/>
                    </a:ext>
                  </a:extLst>
                </a:gridCol>
                <a:gridCol w="660400">
                  <a:extLst>
                    <a:ext uri="{9D8B030D-6E8A-4147-A177-3AD203B41FA5}">
                      <a16:colId xmlns:a16="http://schemas.microsoft.com/office/drawing/2014/main" val="20003"/>
                    </a:ext>
                  </a:extLst>
                </a:gridCol>
                <a:gridCol w="660400">
                  <a:extLst>
                    <a:ext uri="{9D8B030D-6E8A-4147-A177-3AD203B41FA5}">
                      <a16:colId xmlns:a16="http://schemas.microsoft.com/office/drawing/2014/main" val="20004"/>
                    </a:ext>
                  </a:extLst>
                </a:gridCol>
                <a:gridCol w="660400">
                  <a:extLst>
                    <a:ext uri="{9D8B030D-6E8A-4147-A177-3AD203B41FA5}">
                      <a16:colId xmlns:a16="http://schemas.microsoft.com/office/drawing/2014/main" val="20005"/>
                    </a:ext>
                  </a:extLst>
                </a:gridCol>
              </a:tblGrid>
              <a:tr h="215900">
                <a:tc>
                  <a:txBody>
                    <a:bodyPr/>
                    <a:lstStyle/>
                    <a:p>
                      <a:pPr algn="ctr" fontAlgn="ctr"/>
                      <a:r>
                        <a:rPr lang="en-US" sz="1200" b="0" i="0" u="none" strike="noStrike">
                          <a:solidFill>
                            <a:srgbClr val="000000"/>
                          </a:solidFill>
                          <a:effectLst/>
                          <a:latin typeface="맑은 고딕"/>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X4</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5.985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6.092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5.942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6.008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6.149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5.951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6.198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5.842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6.111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6.068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5.849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5.874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6.002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5.619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6.098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5.858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ctr"/>
                      <a:r>
                        <a:rPr lang="en-US" altLang="ko-KR" sz="1200" b="0" i="0" u="none" strike="noStrike">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6.219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6.131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6.216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5.813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5.789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6.114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6.163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ctr" fontAlgn="ctr"/>
                      <a:r>
                        <a:rPr lang="en-US" altLang="ko-KR" sz="1200" b="0" i="0" u="none" strike="noStrike">
                          <a:solidFill>
                            <a:srgbClr val="000000"/>
                          </a:solidFill>
                          <a:effectLst/>
                          <a:latin typeface="맑은 고딕"/>
                        </a:rPr>
                        <a:t>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6.197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6.194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5.834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5.932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5.991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6.310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5.828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5900">
                <a:tc>
                  <a:txBody>
                    <a:bodyPr/>
                    <a:lstStyle/>
                    <a:p>
                      <a:pPr algn="ctr" fontAlgn="ctr"/>
                      <a:r>
                        <a:rPr lang="en-US" altLang="ko-KR" sz="1200" b="0" i="0" u="none" strike="noStrike">
                          <a:solidFill>
                            <a:srgbClr val="000000"/>
                          </a:solidFill>
                          <a:effectLst/>
                          <a:latin typeface="맑은 고딕"/>
                        </a:rPr>
                        <a:t>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6.129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5.829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6.148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6.020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ctr" fontAlgn="ctr"/>
                      <a:r>
                        <a:rPr lang="en-US" altLang="ko-KR" sz="1200" b="0" i="0" u="none" strike="noStrike">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6.231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5.912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6.183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6.140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6.083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graphicFrame>
        <p:nvGraphicFramePr>
          <p:cNvPr id="10" name="표 9"/>
          <p:cNvGraphicFramePr>
            <a:graphicFrameLocks noGrp="1"/>
          </p:cNvGraphicFramePr>
          <p:nvPr>
            <p:extLst>
              <p:ext uri="{D42A27DB-BD31-4B8C-83A1-F6EECF244321}">
                <p14:modId xmlns:p14="http://schemas.microsoft.com/office/powerpoint/2010/main" val="1999331053"/>
              </p:ext>
            </p:extLst>
          </p:nvPr>
        </p:nvGraphicFramePr>
        <p:xfrm>
          <a:off x="4716016" y="4001868"/>
          <a:ext cx="3962400" cy="2374900"/>
        </p:xfrm>
        <a:graphic>
          <a:graphicData uri="http://schemas.openxmlformats.org/drawingml/2006/table">
            <a:tbl>
              <a:tblPr/>
              <a:tblGrid>
                <a:gridCol w="660400">
                  <a:extLst>
                    <a:ext uri="{9D8B030D-6E8A-4147-A177-3AD203B41FA5}">
                      <a16:colId xmlns:a16="http://schemas.microsoft.com/office/drawing/2014/main" val="20000"/>
                    </a:ext>
                  </a:extLst>
                </a:gridCol>
                <a:gridCol w="660400">
                  <a:extLst>
                    <a:ext uri="{9D8B030D-6E8A-4147-A177-3AD203B41FA5}">
                      <a16:colId xmlns:a16="http://schemas.microsoft.com/office/drawing/2014/main" val="20001"/>
                    </a:ext>
                  </a:extLst>
                </a:gridCol>
                <a:gridCol w="660400">
                  <a:extLst>
                    <a:ext uri="{9D8B030D-6E8A-4147-A177-3AD203B41FA5}">
                      <a16:colId xmlns:a16="http://schemas.microsoft.com/office/drawing/2014/main" val="20002"/>
                    </a:ext>
                  </a:extLst>
                </a:gridCol>
                <a:gridCol w="660400">
                  <a:extLst>
                    <a:ext uri="{9D8B030D-6E8A-4147-A177-3AD203B41FA5}">
                      <a16:colId xmlns:a16="http://schemas.microsoft.com/office/drawing/2014/main" val="20003"/>
                    </a:ext>
                  </a:extLst>
                </a:gridCol>
                <a:gridCol w="660400">
                  <a:extLst>
                    <a:ext uri="{9D8B030D-6E8A-4147-A177-3AD203B41FA5}">
                      <a16:colId xmlns:a16="http://schemas.microsoft.com/office/drawing/2014/main" val="20004"/>
                    </a:ext>
                  </a:extLst>
                </a:gridCol>
                <a:gridCol w="660400">
                  <a:extLst>
                    <a:ext uri="{9D8B030D-6E8A-4147-A177-3AD203B41FA5}">
                      <a16:colId xmlns:a16="http://schemas.microsoft.com/office/drawing/2014/main" val="20005"/>
                    </a:ext>
                  </a:extLst>
                </a:gridCol>
              </a:tblGrid>
              <a:tr h="215900">
                <a:tc>
                  <a:txBody>
                    <a:bodyPr/>
                    <a:lstStyle/>
                    <a:p>
                      <a:pPr algn="ctr" fontAlgn="ctr"/>
                      <a:r>
                        <a:rPr lang="en-US" sz="1200" b="0" i="0" u="none" strike="noStrike">
                          <a:solidFill>
                            <a:srgbClr val="000000"/>
                          </a:solidFill>
                          <a:effectLst/>
                          <a:latin typeface="맑은 고딕"/>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X4</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6.397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5.922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5.929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12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5.711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6.304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6.318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6.054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13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6.218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5.979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6.354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6.252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5.799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6.322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5.883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ctr"/>
                      <a:r>
                        <a:rPr lang="en-US" altLang="ko-KR" sz="1200" b="0" i="0" u="none" strike="noStrike">
                          <a:solidFill>
                            <a:srgbClr val="000000"/>
                          </a:solidFill>
                          <a:effectLst/>
                          <a:latin typeface="맑은 고딕"/>
                        </a:rPr>
                        <a:t>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5.845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6.015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5.907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6.050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6.419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ctr"/>
                      <a:r>
                        <a:rPr lang="en-US" altLang="ko-KR" sz="1200" b="0" i="0" u="none" strike="noStrike">
                          <a:solidFill>
                            <a:srgbClr val="000000"/>
                          </a:solidFill>
                          <a:effectLst/>
                          <a:latin typeface="맑은 고딕"/>
                        </a:rPr>
                        <a:t>16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5.992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5.951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6.046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5.930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ctr" fontAlgn="ctr"/>
                      <a:r>
                        <a:rPr lang="en-US" altLang="ko-KR" sz="1200" b="0" i="0" u="none" strike="noStrike">
                          <a:solidFill>
                            <a:srgbClr val="000000"/>
                          </a:solidFill>
                          <a:effectLst/>
                          <a:latin typeface="맑은 고딕"/>
                        </a:rPr>
                        <a:t>17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5.986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6.108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6.221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5.880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ctr" fontAlgn="ctr"/>
                      <a:r>
                        <a:rPr lang="en-US" altLang="ko-KR" sz="1200" b="0" i="0" u="none" strike="noStrike">
                          <a:solidFill>
                            <a:srgbClr val="000000"/>
                          </a:solidFill>
                          <a:effectLst/>
                          <a:latin typeface="맑은 고딕"/>
                        </a:rPr>
                        <a:t>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5.986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6.050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6.206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5900">
                <a:tc>
                  <a:txBody>
                    <a:bodyPr/>
                    <a:lstStyle/>
                    <a:p>
                      <a:pPr algn="ctr" fontAlgn="ctr"/>
                      <a:r>
                        <a:rPr lang="en-US" altLang="ko-KR" sz="1200" b="0" i="0" u="none" strike="noStrike">
                          <a:solidFill>
                            <a:srgbClr val="000000"/>
                          </a:solidFill>
                          <a:effectLst/>
                          <a:latin typeface="맑은 고딕"/>
                        </a:rPr>
                        <a:t>19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5.733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6.114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5.902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6.107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ctr" fontAlgn="ctr"/>
                      <a:r>
                        <a:rPr lang="en-US" altLang="ko-KR" sz="1200" b="0" i="0" u="none" strike="noStrike">
                          <a:solidFill>
                            <a:srgbClr val="000000"/>
                          </a:solidFill>
                          <a:effectLst/>
                          <a:latin typeface="맑은 고딕"/>
                        </a:rPr>
                        <a:t>20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6.021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5.488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6.122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5.998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
        <p:nvSpPr>
          <p:cNvPr id="9"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140</a:t>
            </a:fld>
            <a:endParaRPr lang="ko-KR" altLang="en-US" dirty="0"/>
          </a:p>
        </p:txBody>
      </p:sp>
    </p:spTree>
    <p:extLst>
      <p:ext uri="{BB962C8B-B14F-4D97-AF65-F5344CB8AC3E}">
        <p14:creationId xmlns:p14="http://schemas.microsoft.com/office/powerpoint/2010/main" val="36621123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stability study</a:t>
            </a:r>
            <a:r>
              <a:rPr lang="ko-KR" altLang="en-US" sz="14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TextBox 2"/>
          <p:cNvSpPr txBox="1"/>
          <p:nvPr/>
        </p:nvSpPr>
        <p:spPr>
          <a:xfrm>
            <a:off x="179512" y="148570"/>
            <a:ext cx="3281155" cy="400110"/>
          </a:xfrm>
          <a:prstGeom prst="rect">
            <a:avLst/>
          </a:prstGeom>
          <a:noFill/>
        </p:spPr>
        <p:txBody>
          <a:bodyPr wrap="none" rtlCol="0">
            <a:spAutoFit/>
          </a:bodyPr>
          <a:lstStyle/>
          <a:p>
            <a:r>
              <a:rPr lang="en-US" altLang="ko-KR" sz="2000" b="1" dirty="0"/>
              <a:t>Type 5 Study Case study</a:t>
            </a:r>
            <a:r>
              <a:rPr lang="ko-KR" altLang="en-US" sz="2000" b="1" dirty="0"/>
              <a:t> </a:t>
            </a:r>
          </a:p>
        </p:txBody>
      </p:sp>
      <p:sp>
        <p:nvSpPr>
          <p:cNvPr id="4" name="TextBox 3"/>
          <p:cNvSpPr txBox="1"/>
          <p:nvPr/>
        </p:nvSpPr>
        <p:spPr>
          <a:xfrm>
            <a:off x="683568" y="1196752"/>
            <a:ext cx="5059911" cy="292388"/>
          </a:xfrm>
          <a:prstGeom prst="rect">
            <a:avLst/>
          </a:prstGeom>
          <a:noFill/>
        </p:spPr>
        <p:txBody>
          <a:bodyPr wrap="none" rtlCol="0">
            <a:spAutoFit/>
          </a:bodyPr>
          <a:lstStyle/>
          <a:p>
            <a:r>
              <a:rPr lang="en-US" altLang="ko-KR" sz="1300" dirty="0"/>
              <a:t>Stat &gt; Control Charts &gt; Variables Charts for Subgroup &gt; </a:t>
            </a:r>
            <a:r>
              <a:rPr lang="en-US" altLang="ko-KR" sz="1300" dirty="0" err="1"/>
              <a:t>Xbar</a:t>
            </a:r>
            <a:r>
              <a:rPr lang="en-US" altLang="ko-KR" sz="1300" dirty="0"/>
              <a:t>-R</a:t>
            </a:r>
            <a:endParaRPr lang="ko-KR" altLang="en-US" sz="1300" dirty="0"/>
          </a:p>
        </p:txBody>
      </p:sp>
      <p:pic>
        <p:nvPicPr>
          <p:cNvPr id="276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3255" y="1643050"/>
            <a:ext cx="4910315" cy="3168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1357290" y="1785926"/>
            <a:ext cx="4438203" cy="276999"/>
          </a:xfrm>
          <a:prstGeom prst="rect">
            <a:avLst/>
          </a:prstGeom>
          <a:noFill/>
        </p:spPr>
        <p:txBody>
          <a:bodyPr wrap="none" rtlCol="0">
            <a:spAutoFit/>
          </a:bodyPr>
          <a:lstStyle/>
          <a:p>
            <a:r>
              <a:rPr lang="en-US" altLang="ko-KR" sz="1200" b="1" dirty="0">
                <a:solidFill>
                  <a:srgbClr val="FF0000"/>
                </a:solidFill>
              </a:rPr>
              <a:t>If the observed value are in several columns by subgroup</a:t>
            </a:r>
            <a:endParaRPr lang="ko-KR" altLang="en-US" sz="1200" b="1" dirty="0">
              <a:solidFill>
                <a:srgbClr val="FF0000"/>
              </a:solidFill>
            </a:endParaRPr>
          </a:p>
        </p:txBody>
      </p:sp>
      <p:pic>
        <p:nvPicPr>
          <p:cNvPr id="2765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628800"/>
            <a:ext cx="2779023" cy="2304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24128" y="3573016"/>
            <a:ext cx="3039556" cy="2520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직사각형 5"/>
          <p:cNvSpPr/>
          <p:nvPr/>
        </p:nvSpPr>
        <p:spPr>
          <a:xfrm>
            <a:off x="6732240" y="1844824"/>
            <a:ext cx="360040" cy="14401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1" name="TextBox 10"/>
          <p:cNvSpPr txBox="1"/>
          <p:nvPr/>
        </p:nvSpPr>
        <p:spPr>
          <a:xfrm>
            <a:off x="6660232" y="1567825"/>
            <a:ext cx="474041" cy="276999"/>
          </a:xfrm>
          <a:prstGeom prst="rect">
            <a:avLst/>
          </a:prstGeom>
          <a:noFill/>
        </p:spPr>
        <p:txBody>
          <a:bodyPr wrap="none" rtlCol="0">
            <a:spAutoFit/>
          </a:bodyPr>
          <a:lstStyle/>
          <a:p>
            <a:r>
              <a:rPr lang="en-US" altLang="ko-KR" sz="1200" b="1" dirty="0">
                <a:solidFill>
                  <a:srgbClr val="FF0000"/>
                </a:solidFill>
              </a:rPr>
              <a:t>Test</a:t>
            </a:r>
            <a:endParaRPr lang="ko-KR" altLang="en-US" sz="1200" b="1" dirty="0">
              <a:solidFill>
                <a:srgbClr val="FF0000"/>
              </a:solidFill>
            </a:endParaRPr>
          </a:p>
        </p:txBody>
      </p:sp>
      <p:cxnSp>
        <p:nvCxnSpPr>
          <p:cNvPr id="9" name="직선 화살표 연결선 8"/>
          <p:cNvCxnSpPr>
            <a:stCxn id="6" idx="2"/>
          </p:cNvCxnSpPr>
          <p:nvPr/>
        </p:nvCxnSpPr>
        <p:spPr>
          <a:xfrm>
            <a:off x="6912260" y="1988840"/>
            <a:ext cx="36228" cy="1584176"/>
          </a:xfrm>
          <a:prstGeom prst="straightConnector1">
            <a:avLst/>
          </a:prstGeom>
          <a:ln>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0" name="직사각형 9"/>
          <p:cNvSpPr/>
          <p:nvPr/>
        </p:nvSpPr>
        <p:spPr>
          <a:xfrm>
            <a:off x="5854892" y="3991812"/>
            <a:ext cx="1728192" cy="14401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2" name="TextBox 11"/>
          <p:cNvSpPr txBox="1"/>
          <p:nvPr/>
        </p:nvSpPr>
        <p:spPr>
          <a:xfrm>
            <a:off x="7544716" y="3919804"/>
            <a:ext cx="1399935" cy="276999"/>
          </a:xfrm>
          <a:prstGeom prst="rect">
            <a:avLst/>
          </a:prstGeom>
          <a:noFill/>
        </p:spPr>
        <p:txBody>
          <a:bodyPr wrap="none" rtlCol="0">
            <a:spAutoFit/>
          </a:bodyPr>
          <a:lstStyle/>
          <a:p>
            <a:r>
              <a:rPr lang="en-US" altLang="ko-KR" sz="1200" b="1" dirty="0">
                <a:solidFill>
                  <a:srgbClr val="FF0000"/>
                </a:solidFill>
              </a:rPr>
              <a:t>Perform all tests</a:t>
            </a:r>
            <a:endParaRPr lang="ko-KR" altLang="en-US" sz="1200" b="1" dirty="0">
              <a:solidFill>
                <a:srgbClr val="FF0000"/>
              </a:solidFill>
            </a:endParaRPr>
          </a:p>
        </p:txBody>
      </p:sp>
      <p:sp>
        <p:nvSpPr>
          <p:cNvPr id="14"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141</a:t>
            </a:fld>
            <a:endParaRPr lang="ko-KR" altLang="en-US" dirty="0"/>
          </a:p>
        </p:txBody>
      </p:sp>
    </p:spTree>
    <p:extLst>
      <p:ext uri="{BB962C8B-B14F-4D97-AF65-F5344CB8AC3E}">
        <p14:creationId xmlns:p14="http://schemas.microsoft.com/office/powerpoint/2010/main" val="166135235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ổn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định</a:t>
            </a:r>
            <a:r>
              <a:rPr lang="ko-KR" altLang="en-US" sz="14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직사각형 2"/>
          <p:cNvSpPr/>
          <p:nvPr/>
        </p:nvSpPr>
        <p:spPr>
          <a:xfrm>
            <a:off x="323528" y="1196752"/>
            <a:ext cx="8640960" cy="20162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4" name="TextBox 3"/>
          <p:cNvSpPr txBox="1"/>
          <p:nvPr/>
        </p:nvSpPr>
        <p:spPr>
          <a:xfrm>
            <a:off x="311544" y="1242256"/>
            <a:ext cx="8812990" cy="2031325"/>
          </a:xfrm>
          <a:prstGeom prst="rect">
            <a:avLst/>
          </a:prstGeom>
          <a:noFill/>
        </p:spPr>
        <p:txBody>
          <a:bodyPr wrap="none" rtlCol="0">
            <a:spAutoFit/>
          </a:bodyPr>
          <a:lstStyle/>
          <a:p>
            <a:pPr>
              <a:lnSpc>
                <a:spcPct val="150000"/>
              </a:lnSpc>
            </a:pPr>
            <a:r>
              <a:rPr lang="en-US" altLang="ko-KR" sz="1400" dirty="0" err="1"/>
              <a:t>Trong</a:t>
            </a:r>
            <a:r>
              <a:rPr lang="en-US" altLang="ko-KR" sz="1400" dirty="0"/>
              <a:t> team </a:t>
            </a:r>
            <a:r>
              <a:rPr lang="en-US" altLang="ko-KR" sz="1400" dirty="0" err="1"/>
              <a:t>kỹ</a:t>
            </a:r>
            <a:r>
              <a:rPr lang="en-US" altLang="ko-KR" sz="1400" dirty="0"/>
              <a:t> </a:t>
            </a:r>
            <a:r>
              <a:rPr lang="en-US" altLang="ko-KR" sz="1400" dirty="0" err="1"/>
              <a:t>thuật</a:t>
            </a:r>
            <a:r>
              <a:rPr lang="en-US" altLang="ko-KR" sz="1400" dirty="0"/>
              <a:t>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của</a:t>
            </a:r>
            <a:r>
              <a:rPr lang="en-US" altLang="ko-KR" sz="1400" dirty="0"/>
              <a:t> </a:t>
            </a:r>
            <a:r>
              <a:rPr lang="en-US" altLang="ko-KR" sz="1400" dirty="0" err="1"/>
              <a:t>một</a:t>
            </a:r>
            <a:r>
              <a:rPr lang="en-US" altLang="ko-KR" sz="1400" dirty="0"/>
              <a:t> </a:t>
            </a:r>
            <a:r>
              <a:rPr lang="en-US" altLang="ko-KR" sz="1400" dirty="0" err="1"/>
              <a:t>công</a:t>
            </a:r>
            <a:r>
              <a:rPr lang="en-US" altLang="ko-KR" sz="1400" dirty="0"/>
              <a:t> </a:t>
            </a:r>
            <a:r>
              <a:rPr lang="en-US" altLang="ko-KR" sz="1400" dirty="0" err="1"/>
              <a:t>ty</a:t>
            </a:r>
            <a:r>
              <a:rPr lang="en-US" altLang="ko-KR" sz="1400" dirty="0"/>
              <a:t> </a:t>
            </a:r>
            <a:r>
              <a:rPr lang="en-US" altLang="ko-KR" sz="1400" dirty="0" err="1"/>
              <a:t>để</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r>
              <a:rPr lang="en-US" altLang="ko-KR" sz="1400" dirty="0"/>
              <a:t> </a:t>
            </a:r>
            <a:r>
              <a:rPr lang="en-US" altLang="ko-KR" sz="1400" dirty="0" err="1"/>
              <a:t>của</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en-US" altLang="ko-KR" sz="1400" dirty="0" err="1"/>
              <a:t>mới</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p>
          <a:p>
            <a:pPr>
              <a:lnSpc>
                <a:spcPct val="150000"/>
              </a:lnSpc>
            </a:pPr>
            <a:r>
              <a:rPr lang="en-US" altLang="ko-KR" sz="1400" dirty="0" err="1"/>
              <a:t>lựa</a:t>
            </a:r>
            <a:r>
              <a:rPr lang="en-US" altLang="ko-KR" sz="1400" dirty="0"/>
              <a:t> </a:t>
            </a:r>
            <a:r>
              <a:rPr lang="en-US" altLang="ko-KR" sz="1400" dirty="0" err="1"/>
              <a:t>chọn</a:t>
            </a:r>
            <a:r>
              <a:rPr lang="en-US" altLang="ko-KR" sz="1400" dirty="0"/>
              <a:t> sample </a:t>
            </a:r>
            <a:r>
              <a:rPr lang="en-US" altLang="ko-KR" sz="1400" dirty="0" err="1"/>
              <a:t>là</a:t>
            </a:r>
            <a:r>
              <a:rPr lang="en-US" altLang="ko-KR" sz="1400" dirty="0"/>
              <a:t> </a:t>
            </a:r>
            <a:r>
              <a:rPr lang="en-US" altLang="ko-KR" sz="1400" dirty="0" err="1"/>
              <a:t>linh</a:t>
            </a:r>
            <a:r>
              <a:rPr lang="en-US" altLang="ko-KR" sz="1400" dirty="0"/>
              <a:t> </a:t>
            </a:r>
            <a:r>
              <a:rPr lang="en-US" altLang="ko-KR" sz="1400" dirty="0" err="1"/>
              <a:t>kiện</a:t>
            </a:r>
            <a:r>
              <a:rPr lang="en-US" altLang="ko-KR" sz="1400" dirty="0"/>
              <a:t> </a:t>
            </a:r>
            <a:r>
              <a:rPr lang="en-US" altLang="ko-KR" sz="1400" dirty="0" err="1"/>
              <a:t>trong</a:t>
            </a:r>
            <a:r>
              <a:rPr lang="en-US" altLang="ko-KR" sz="1400" dirty="0"/>
              <a:t> </a:t>
            </a:r>
            <a:r>
              <a:rPr lang="en-US" altLang="ko-KR" sz="1400" dirty="0" err="1"/>
              <a:t>bộ</a:t>
            </a:r>
            <a:r>
              <a:rPr lang="en-US" altLang="ko-KR" sz="1400" dirty="0"/>
              <a:t> </a:t>
            </a:r>
            <a:r>
              <a:rPr lang="en-US" altLang="ko-KR" sz="1400" dirty="0" err="1"/>
              <a:t>phận</a:t>
            </a:r>
            <a:r>
              <a:rPr lang="en-US" altLang="ko-KR" sz="1400" dirty="0"/>
              <a:t> </a:t>
            </a:r>
            <a:r>
              <a:rPr lang="en-US" altLang="ko-KR" sz="1400" dirty="0" err="1"/>
              <a:t>trung</a:t>
            </a:r>
            <a:r>
              <a:rPr lang="en-US" altLang="ko-KR" sz="1400" dirty="0"/>
              <a:t> </a:t>
            </a:r>
            <a:r>
              <a:rPr lang="en-US" altLang="ko-KR" sz="1400" dirty="0" err="1"/>
              <a:t>gian</a:t>
            </a:r>
            <a:r>
              <a:rPr lang="en-US" altLang="ko-KR" sz="1400" dirty="0"/>
              <a:t> </a:t>
            </a:r>
            <a:r>
              <a:rPr lang="en-US" altLang="ko-KR" sz="1400" dirty="0" err="1"/>
              <a:t>của</a:t>
            </a:r>
            <a:r>
              <a:rPr lang="en-US" altLang="ko-KR" sz="1400" dirty="0"/>
              <a:t> </a:t>
            </a:r>
            <a:r>
              <a:rPr lang="en-US" altLang="ko-KR" sz="1400" dirty="0" err="1"/>
              <a:t>phạm</a:t>
            </a:r>
            <a:r>
              <a:rPr lang="en-US" altLang="ko-KR" sz="1400" dirty="0"/>
              <a:t> vi process </a:t>
            </a:r>
            <a:r>
              <a:rPr lang="en-US" altLang="ko-KR" sz="1400" dirty="0" err="1"/>
              <a:t>trong</a:t>
            </a:r>
            <a:r>
              <a:rPr lang="en-US" altLang="ko-KR" sz="1400" dirty="0"/>
              <a:t> process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Gửi</a:t>
            </a:r>
            <a:r>
              <a:rPr lang="en-US" altLang="ko-KR" sz="1400" dirty="0"/>
              <a:t> </a:t>
            </a:r>
          </a:p>
          <a:p>
            <a:pPr>
              <a:lnSpc>
                <a:spcPct val="150000"/>
              </a:lnSpc>
            </a:pPr>
            <a:r>
              <a:rPr lang="en-US" altLang="ko-KR" sz="1400" dirty="0" err="1"/>
              <a:t>linh</a:t>
            </a:r>
            <a:r>
              <a:rPr lang="en-US" altLang="ko-KR" sz="1400" dirty="0"/>
              <a:t> </a:t>
            </a:r>
            <a:r>
              <a:rPr lang="en-US" altLang="ko-KR" sz="1400" dirty="0" err="1"/>
              <a:t>kiện</a:t>
            </a:r>
            <a:r>
              <a:rPr lang="en-US" altLang="ko-KR" sz="1400" dirty="0"/>
              <a:t> </a:t>
            </a:r>
            <a:r>
              <a:rPr lang="en-US" altLang="ko-KR" sz="1400" dirty="0" err="1"/>
              <a:t>này</a:t>
            </a:r>
            <a:r>
              <a:rPr lang="en-US" altLang="ko-KR" sz="1400" dirty="0"/>
              <a:t> </a:t>
            </a:r>
            <a:r>
              <a:rPr lang="en-US" altLang="ko-KR" sz="1400" dirty="0" err="1"/>
              <a:t>tới</a:t>
            </a:r>
            <a:r>
              <a:rPr lang="en-US" altLang="ko-KR" sz="1400" dirty="0"/>
              <a:t> </a:t>
            </a:r>
            <a:r>
              <a:rPr lang="en-US" altLang="ko-KR" sz="1400" dirty="0" err="1"/>
              <a:t>phòng</a:t>
            </a:r>
            <a:r>
              <a:rPr lang="en-US" altLang="ko-KR" sz="1400" dirty="0"/>
              <a:t> </a:t>
            </a:r>
            <a:r>
              <a:rPr lang="en-US" altLang="ko-KR" sz="1400" dirty="0" err="1"/>
              <a:t>đo</a:t>
            </a:r>
            <a:r>
              <a:rPr lang="en-US" altLang="ko-KR" sz="1400" dirty="0"/>
              <a:t> </a:t>
            </a:r>
            <a:r>
              <a:rPr lang="en-US" altLang="ko-KR" sz="1400" dirty="0" err="1"/>
              <a:t>đạc</a:t>
            </a:r>
            <a:r>
              <a:rPr lang="en-US" altLang="ko-KR" sz="1400" dirty="0"/>
              <a:t> </a:t>
            </a:r>
            <a:r>
              <a:rPr lang="en-US" altLang="ko-KR" sz="1400" dirty="0" err="1"/>
              <a:t>độ</a:t>
            </a:r>
            <a:r>
              <a:rPr lang="en-US" altLang="ko-KR" sz="1400" dirty="0"/>
              <a:t> </a:t>
            </a:r>
            <a:r>
              <a:rPr lang="en-US" altLang="ko-KR" sz="1400" dirty="0" err="1"/>
              <a:t>tỉ</a:t>
            </a:r>
            <a:r>
              <a:rPr lang="en-US" altLang="ko-KR" sz="1400" dirty="0"/>
              <a:t> </a:t>
            </a:r>
            <a:r>
              <a:rPr lang="en-US" altLang="ko-KR" sz="1400" dirty="0" err="1"/>
              <a:t>mỉ</a:t>
            </a:r>
            <a:r>
              <a:rPr lang="en-US" altLang="ko-KR" sz="1400" dirty="0"/>
              <a:t> </a:t>
            </a:r>
            <a:r>
              <a:rPr lang="en-US" altLang="ko-KR" sz="1400" dirty="0" err="1"/>
              <a:t>và</a:t>
            </a:r>
            <a:r>
              <a:rPr lang="en-US" altLang="ko-KR" sz="1400" dirty="0"/>
              <a:t> </a:t>
            </a:r>
            <a:r>
              <a:rPr lang="en-US" altLang="ko-KR" sz="1400" dirty="0" err="1"/>
              <a:t>kiểm</a:t>
            </a:r>
            <a:r>
              <a:rPr lang="en-US" altLang="ko-KR" sz="1400" dirty="0"/>
              <a:t> </a:t>
            </a:r>
            <a:r>
              <a:rPr lang="en-US" altLang="ko-KR" sz="1400" dirty="0" err="1"/>
              <a:t>tra</a:t>
            </a:r>
            <a:r>
              <a:rPr lang="en-US" altLang="ko-KR" sz="1400" dirty="0"/>
              <a:t> </a:t>
            </a:r>
            <a:r>
              <a:rPr lang="en-US" altLang="ko-KR" sz="1400" dirty="0" err="1"/>
              <a:t>giá</a:t>
            </a:r>
            <a:r>
              <a:rPr lang="en-US" altLang="ko-KR" sz="1400" dirty="0"/>
              <a:t> </a:t>
            </a:r>
            <a:r>
              <a:rPr lang="en-US" altLang="ko-KR" sz="1400" dirty="0" err="1"/>
              <a:t>trị</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là</a:t>
            </a:r>
            <a:r>
              <a:rPr lang="en-US" altLang="ko-KR" sz="1400" dirty="0"/>
              <a:t> 6.01. </a:t>
            </a:r>
            <a:r>
              <a:rPr lang="en-US" altLang="ko-KR" sz="1400" dirty="0" err="1"/>
              <a:t>Sử</a:t>
            </a:r>
            <a:r>
              <a:rPr lang="en-US" altLang="ko-KR" sz="1400" dirty="0"/>
              <a:t> </a:t>
            </a:r>
            <a:r>
              <a:rPr lang="en-US" altLang="ko-KR" sz="1400" dirty="0" err="1"/>
              <a:t>dụng</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en-US" altLang="ko-KR" sz="1400" dirty="0" err="1"/>
              <a:t>mới</a:t>
            </a:r>
            <a:r>
              <a:rPr lang="en-US" altLang="ko-KR" sz="1400" dirty="0"/>
              <a:t> </a:t>
            </a:r>
          </a:p>
          <a:p>
            <a:pPr>
              <a:lnSpc>
                <a:spcPct val="150000"/>
              </a:lnSpc>
            </a:pPr>
            <a:r>
              <a:rPr lang="en-US" altLang="ko-KR" sz="1400" dirty="0" err="1"/>
              <a:t>này</a:t>
            </a:r>
            <a:r>
              <a:rPr lang="en-US" altLang="ko-KR" sz="1400" dirty="0"/>
              <a:t> </a:t>
            </a:r>
            <a:r>
              <a:rPr lang="en-US" altLang="ko-KR" sz="1400" dirty="0" err="1"/>
              <a:t>tiến</a:t>
            </a:r>
            <a:r>
              <a:rPr lang="en-US" altLang="ko-KR" sz="1400" dirty="0"/>
              <a:t> </a:t>
            </a:r>
            <a:r>
              <a:rPr lang="en-US" altLang="ko-KR" sz="1400" dirty="0" err="1"/>
              <a:t>hành</a:t>
            </a:r>
            <a:r>
              <a:rPr lang="en-US" altLang="ko-KR" sz="1400" dirty="0"/>
              <a:t> </a:t>
            </a:r>
            <a:r>
              <a:rPr lang="en-US" altLang="ko-KR" sz="1400" dirty="0" err="1"/>
              <a:t>đo</a:t>
            </a:r>
            <a:r>
              <a:rPr lang="en-US" altLang="ko-KR" sz="1400" dirty="0"/>
              <a:t> </a:t>
            </a:r>
            <a:r>
              <a:rPr lang="en-US" altLang="ko-KR" sz="1400" dirty="0" err="1"/>
              <a:t>trong</a:t>
            </a:r>
            <a:r>
              <a:rPr lang="en-US" altLang="ko-KR" sz="1400" dirty="0"/>
              <a:t> </a:t>
            </a:r>
            <a:r>
              <a:rPr lang="en-US" altLang="ko-KR" sz="1400" dirty="0" err="1"/>
              <a:t>vòng</a:t>
            </a:r>
            <a:r>
              <a:rPr lang="en-US" altLang="ko-KR" sz="1400" dirty="0"/>
              <a:t> 4 </a:t>
            </a:r>
            <a:r>
              <a:rPr lang="en-US" altLang="ko-KR" sz="1400" dirty="0" err="1"/>
              <a:t>tuần</a:t>
            </a:r>
            <a:r>
              <a:rPr lang="en-US" altLang="ko-KR" sz="1400" dirty="0"/>
              <a:t> </a:t>
            </a:r>
            <a:r>
              <a:rPr lang="en-US" altLang="ko-KR" sz="1400" dirty="0" err="1"/>
              <a:t>mỗi</a:t>
            </a:r>
            <a:r>
              <a:rPr lang="en-US" altLang="ko-KR" sz="1400" dirty="0"/>
              <a:t> </a:t>
            </a:r>
            <a:r>
              <a:rPr lang="en-US" altLang="ko-KR" sz="1400" dirty="0" err="1"/>
              <a:t>ngày</a:t>
            </a:r>
            <a:r>
              <a:rPr lang="en-US" altLang="ko-KR" sz="1400" dirty="0"/>
              <a:t> </a:t>
            </a:r>
            <a:r>
              <a:rPr lang="en-US" altLang="ko-KR" sz="1400" dirty="0" err="1"/>
              <a:t>đo</a:t>
            </a:r>
            <a:r>
              <a:rPr lang="en-US" altLang="ko-KR" sz="1400" dirty="0"/>
              <a:t> </a:t>
            </a:r>
            <a:r>
              <a:rPr lang="en-US" altLang="ko-KR" sz="1400" dirty="0" err="1"/>
              <a:t>lặp</a:t>
            </a:r>
            <a:r>
              <a:rPr lang="en-US" altLang="ko-KR" sz="1400" dirty="0"/>
              <a:t> </a:t>
            </a:r>
            <a:r>
              <a:rPr lang="en-US" altLang="ko-KR" sz="1400" dirty="0" err="1"/>
              <a:t>lại</a:t>
            </a:r>
            <a:r>
              <a:rPr lang="en-US" altLang="ko-KR" sz="1400" dirty="0"/>
              <a:t> 5 </a:t>
            </a:r>
            <a:r>
              <a:rPr lang="en-US" altLang="ko-KR" sz="1400" dirty="0" err="1"/>
              <a:t>lần</a:t>
            </a:r>
            <a:r>
              <a:rPr lang="en-US" altLang="ko-KR" sz="1400" dirty="0"/>
              <a:t> </a:t>
            </a:r>
            <a:r>
              <a:rPr lang="en-US" altLang="ko-KR" sz="1400" dirty="0" err="1"/>
              <a:t>và</a:t>
            </a:r>
            <a:r>
              <a:rPr lang="en-US" altLang="ko-KR" sz="1400" dirty="0"/>
              <a:t> </a:t>
            </a:r>
            <a:r>
              <a:rPr lang="en-US" altLang="ko-KR" sz="1400" dirty="0" err="1"/>
              <a:t>thu</a:t>
            </a:r>
            <a:r>
              <a:rPr lang="en-US" altLang="ko-KR" sz="1400" dirty="0"/>
              <a:t> </a:t>
            </a:r>
            <a:r>
              <a:rPr lang="en-US" altLang="ko-KR" sz="1400" dirty="0" err="1"/>
              <a:t>được</a:t>
            </a:r>
            <a:r>
              <a:rPr lang="en-US" altLang="ko-KR" sz="1400" dirty="0"/>
              <a:t> data </a:t>
            </a:r>
            <a:r>
              <a:rPr lang="en-US" altLang="ko-KR" sz="1400" dirty="0" err="1"/>
              <a:t>như</a:t>
            </a:r>
            <a:r>
              <a:rPr lang="en-US" altLang="ko-KR" sz="1400" dirty="0"/>
              <a:t> </a:t>
            </a:r>
            <a:r>
              <a:rPr lang="en-US" altLang="ko-KR" sz="1400" dirty="0" err="1"/>
              <a:t>sau</a:t>
            </a:r>
            <a:r>
              <a:rPr lang="en-US" altLang="ko-KR" sz="1400" dirty="0"/>
              <a:t>. </a:t>
            </a:r>
          </a:p>
          <a:p>
            <a:pPr>
              <a:lnSpc>
                <a:spcPct val="150000"/>
              </a:lnSpc>
            </a:pPr>
            <a:r>
              <a:rPr lang="en-US" altLang="ko-KR" sz="1400" dirty="0" err="1"/>
              <a:t>Sử</a:t>
            </a:r>
            <a:r>
              <a:rPr lang="en-US" altLang="ko-KR" sz="1400" dirty="0"/>
              <a:t> </a:t>
            </a:r>
            <a:r>
              <a:rPr lang="en-US" altLang="ko-KR" sz="1400" dirty="0" err="1"/>
              <a:t>dụng</a:t>
            </a:r>
            <a:r>
              <a:rPr lang="en-US" altLang="ko-KR" sz="1400" dirty="0"/>
              <a:t> </a:t>
            </a:r>
            <a:r>
              <a:rPr lang="en-US" altLang="ko-KR" sz="1400" dirty="0" err="1"/>
              <a:t>đồ</a:t>
            </a:r>
            <a:r>
              <a:rPr lang="en-US" altLang="ko-KR" sz="1400" dirty="0"/>
              <a:t> </a:t>
            </a:r>
            <a:r>
              <a:rPr lang="en-US" altLang="ko-KR" sz="1400" dirty="0" err="1"/>
              <a:t>thị</a:t>
            </a:r>
            <a:r>
              <a:rPr lang="en-US" altLang="ko-KR" sz="1400" dirty="0"/>
              <a:t> </a:t>
            </a:r>
            <a:r>
              <a:rPr lang="en-US" altLang="ko-KR" sz="1400" dirty="0" err="1"/>
              <a:t>quản</a:t>
            </a:r>
            <a:r>
              <a:rPr lang="en-US" altLang="ko-KR" sz="1400" dirty="0"/>
              <a:t> </a:t>
            </a:r>
            <a:r>
              <a:rPr lang="en-US" altLang="ko-KR" sz="1400" dirty="0" err="1"/>
              <a:t>lý</a:t>
            </a:r>
            <a:r>
              <a:rPr lang="en-US" altLang="ko-KR" sz="1400" dirty="0"/>
              <a:t> </a:t>
            </a:r>
            <a:r>
              <a:rPr lang="en-US" altLang="ko-KR" sz="1400" dirty="0" err="1"/>
              <a:t>để</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r>
              <a:rPr lang="en-US" altLang="ko-KR" sz="1400" dirty="0"/>
              <a:t> </a:t>
            </a:r>
            <a:r>
              <a:rPr lang="en-US" altLang="ko-KR" sz="1400" dirty="0" err="1"/>
              <a:t>của</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en-US" altLang="ko-KR" sz="1400" dirty="0" err="1"/>
              <a:t>mới</a:t>
            </a:r>
            <a:r>
              <a:rPr lang="en-US" altLang="ko-KR" sz="1400" dirty="0"/>
              <a:t> </a:t>
            </a:r>
            <a:r>
              <a:rPr lang="en-US" altLang="ko-KR" sz="1400" dirty="0" err="1"/>
              <a:t>này</a:t>
            </a:r>
            <a:r>
              <a:rPr lang="en-US" altLang="ko-KR" sz="1400" dirty="0"/>
              <a:t>.  </a:t>
            </a:r>
          </a:p>
          <a:p>
            <a:pPr marL="342900" indent="-342900">
              <a:lnSpc>
                <a:spcPct val="150000"/>
              </a:lnSpc>
            </a:pPr>
            <a:r>
              <a:rPr lang="en-US" altLang="ko-KR" sz="1400" dirty="0"/>
              <a:t>1. </a:t>
            </a:r>
            <a:r>
              <a:rPr lang="en-US" altLang="ko-KR" sz="1400" dirty="0" err="1"/>
              <a:t>Sử</a:t>
            </a:r>
            <a:r>
              <a:rPr lang="en-US" altLang="ko-KR" sz="1400" dirty="0"/>
              <a:t> </a:t>
            </a:r>
            <a:r>
              <a:rPr lang="en-US" altLang="ko-KR" sz="1400" dirty="0" err="1"/>
              <a:t>dụng</a:t>
            </a:r>
            <a:r>
              <a:rPr lang="en-US" altLang="ko-KR" sz="1400" dirty="0"/>
              <a:t> Minitab </a:t>
            </a:r>
            <a:r>
              <a:rPr lang="en-US" altLang="ko-KR" sz="1400" dirty="0" err="1"/>
              <a:t>thiết</a:t>
            </a:r>
            <a:r>
              <a:rPr lang="en-US" altLang="ko-KR" sz="1400" dirty="0"/>
              <a:t> </a:t>
            </a:r>
            <a:r>
              <a:rPr lang="en-US" altLang="ko-KR" sz="1400" dirty="0" err="1"/>
              <a:t>lập</a:t>
            </a:r>
            <a:r>
              <a:rPr lang="en-US" altLang="ko-KR" sz="1400" dirty="0"/>
              <a:t> </a:t>
            </a:r>
            <a:r>
              <a:rPr lang="en-US" altLang="ko-KR" sz="1400" dirty="0" err="1"/>
              <a:t>đồ</a:t>
            </a:r>
            <a:r>
              <a:rPr lang="en-US" altLang="ko-KR" sz="1400" dirty="0"/>
              <a:t> </a:t>
            </a:r>
            <a:r>
              <a:rPr lang="en-US" altLang="ko-KR" sz="1400" dirty="0" err="1"/>
              <a:t>thị</a:t>
            </a:r>
            <a:r>
              <a:rPr lang="en-US" altLang="ko-KR" sz="1400" dirty="0"/>
              <a:t> </a:t>
            </a:r>
            <a:r>
              <a:rPr lang="en-US" altLang="ko-KR" sz="1400" dirty="0" err="1"/>
              <a:t>quản</a:t>
            </a:r>
            <a:r>
              <a:rPr lang="en-US" altLang="ko-KR" sz="1400" dirty="0"/>
              <a:t> </a:t>
            </a:r>
            <a:r>
              <a:rPr lang="en-US" altLang="ko-KR" sz="1400" dirty="0" err="1"/>
              <a:t>lý</a:t>
            </a:r>
            <a:r>
              <a:rPr lang="en-US" altLang="ko-KR" sz="1400" dirty="0"/>
              <a:t> </a:t>
            </a:r>
            <a:r>
              <a:rPr lang="en-US" altLang="ko-KR" sz="1400" dirty="0" err="1"/>
              <a:t>Xbar</a:t>
            </a:r>
            <a:r>
              <a:rPr lang="en-US" altLang="ko-KR" sz="1400" dirty="0"/>
              <a:t>-R </a:t>
            </a:r>
            <a:r>
              <a:rPr lang="en-US" altLang="ko-KR" sz="1400" dirty="0" err="1"/>
              <a:t>và</a:t>
            </a:r>
            <a:r>
              <a:rPr lang="en-US" altLang="ko-KR" sz="1400" dirty="0"/>
              <a:t> </a:t>
            </a:r>
            <a:r>
              <a:rPr lang="en-US" altLang="ko-KR" sz="1400" dirty="0" err="1"/>
              <a:t>đánh</a:t>
            </a:r>
            <a:r>
              <a:rPr lang="en-US" altLang="ko-KR" sz="1400" dirty="0"/>
              <a:t> </a:t>
            </a:r>
            <a:r>
              <a:rPr lang="en-US" altLang="ko-KR" sz="1400" dirty="0" err="1"/>
              <a:t>giá</a:t>
            </a:r>
            <a:r>
              <a:rPr lang="en-US" altLang="ko-KR" sz="1400" dirty="0"/>
              <a:t> </a:t>
            </a:r>
            <a:r>
              <a:rPr lang="en-US" altLang="ko-KR" sz="1400" dirty="0" err="1"/>
              <a:t>tính</a:t>
            </a:r>
            <a:r>
              <a:rPr lang="en-US" altLang="ko-KR" sz="1400" dirty="0"/>
              <a:t> </a:t>
            </a:r>
            <a:r>
              <a:rPr lang="en-US" altLang="ko-KR" sz="1400" dirty="0" err="1"/>
              <a:t>ổn</a:t>
            </a:r>
            <a:r>
              <a:rPr lang="en-US" altLang="ko-KR" sz="1400" dirty="0"/>
              <a:t> </a:t>
            </a:r>
            <a:r>
              <a:rPr lang="en-US" altLang="ko-KR" sz="1400" dirty="0" err="1"/>
              <a:t>định</a:t>
            </a:r>
            <a:r>
              <a:rPr lang="en-US" altLang="ko-KR" sz="1400" dirty="0"/>
              <a:t> </a:t>
            </a:r>
            <a:r>
              <a:rPr lang="en-US" altLang="ko-KR" sz="1400" dirty="0" err="1"/>
              <a:t>của</a:t>
            </a:r>
            <a:r>
              <a:rPr lang="en-US" altLang="ko-KR" sz="1400" dirty="0"/>
              <a:t> </a:t>
            </a:r>
            <a:r>
              <a:rPr lang="en-US" altLang="ko-KR" sz="1400" dirty="0" err="1"/>
              <a:t>thiết</a:t>
            </a:r>
            <a:r>
              <a:rPr lang="en-US" altLang="ko-KR" sz="1400" dirty="0"/>
              <a:t> </a:t>
            </a:r>
            <a:r>
              <a:rPr lang="en-US" altLang="ko-KR" sz="1400" dirty="0" err="1"/>
              <a:t>bị</a:t>
            </a:r>
            <a:r>
              <a:rPr lang="en-US" altLang="ko-KR" sz="1400" dirty="0"/>
              <a:t> </a:t>
            </a:r>
            <a:r>
              <a:rPr lang="en-US" altLang="ko-KR" sz="1400" dirty="0" err="1"/>
              <a:t>đo</a:t>
            </a:r>
            <a:r>
              <a:rPr lang="en-US" altLang="ko-KR" sz="1400" dirty="0"/>
              <a:t> </a:t>
            </a:r>
            <a:r>
              <a:rPr lang="en-US" altLang="ko-KR" sz="1400" dirty="0" err="1"/>
              <a:t>mới</a:t>
            </a:r>
            <a:r>
              <a:rPr lang="en-US" altLang="ko-KR" sz="1400" dirty="0"/>
              <a:t> </a:t>
            </a:r>
            <a:r>
              <a:rPr lang="en-US" altLang="ko-KR" sz="1400" dirty="0" err="1"/>
              <a:t>này</a:t>
            </a:r>
            <a:endParaRPr lang="en-US" altLang="ko-KR" sz="1400" dirty="0"/>
          </a:p>
        </p:txBody>
      </p:sp>
      <p:sp>
        <p:nvSpPr>
          <p:cNvPr id="6" name="TextBox 5"/>
          <p:cNvSpPr txBox="1"/>
          <p:nvPr/>
        </p:nvSpPr>
        <p:spPr>
          <a:xfrm>
            <a:off x="179512" y="148570"/>
            <a:ext cx="4058612" cy="400110"/>
          </a:xfrm>
          <a:prstGeom prst="rect">
            <a:avLst/>
          </a:prstGeom>
          <a:noFill/>
        </p:spPr>
        <p:txBody>
          <a:bodyPr wrap="none" rtlCol="0">
            <a:spAutoFit/>
          </a:bodyPr>
          <a:lstStyle/>
          <a:p>
            <a:r>
              <a:rPr lang="en-US" altLang="ko-KR" sz="2000" b="1" dirty="0"/>
              <a:t>Type 5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graphicFrame>
        <p:nvGraphicFramePr>
          <p:cNvPr id="8" name="표 7"/>
          <p:cNvGraphicFramePr>
            <a:graphicFrameLocks noGrp="1"/>
          </p:cNvGraphicFramePr>
          <p:nvPr>
            <p:extLst>
              <p:ext uri="{D42A27DB-BD31-4B8C-83A1-F6EECF244321}">
                <p14:modId xmlns:p14="http://schemas.microsoft.com/office/powerpoint/2010/main" val="2458588179"/>
              </p:ext>
            </p:extLst>
          </p:nvPr>
        </p:nvGraphicFramePr>
        <p:xfrm>
          <a:off x="611560" y="3429000"/>
          <a:ext cx="3962400" cy="2374900"/>
        </p:xfrm>
        <a:graphic>
          <a:graphicData uri="http://schemas.openxmlformats.org/drawingml/2006/table">
            <a:tbl>
              <a:tblPr/>
              <a:tblGrid>
                <a:gridCol w="660400">
                  <a:extLst>
                    <a:ext uri="{9D8B030D-6E8A-4147-A177-3AD203B41FA5}">
                      <a16:colId xmlns:a16="http://schemas.microsoft.com/office/drawing/2014/main" val="20000"/>
                    </a:ext>
                  </a:extLst>
                </a:gridCol>
                <a:gridCol w="660400">
                  <a:extLst>
                    <a:ext uri="{9D8B030D-6E8A-4147-A177-3AD203B41FA5}">
                      <a16:colId xmlns:a16="http://schemas.microsoft.com/office/drawing/2014/main" val="20001"/>
                    </a:ext>
                  </a:extLst>
                </a:gridCol>
                <a:gridCol w="660400">
                  <a:extLst>
                    <a:ext uri="{9D8B030D-6E8A-4147-A177-3AD203B41FA5}">
                      <a16:colId xmlns:a16="http://schemas.microsoft.com/office/drawing/2014/main" val="20002"/>
                    </a:ext>
                  </a:extLst>
                </a:gridCol>
                <a:gridCol w="660400">
                  <a:extLst>
                    <a:ext uri="{9D8B030D-6E8A-4147-A177-3AD203B41FA5}">
                      <a16:colId xmlns:a16="http://schemas.microsoft.com/office/drawing/2014/main" val="20003"/>
                    </a:ext>
                  </a:extLst>
                </a:gridCol>
                <a:gridCol w="660400">
                  <a:extLst>
                    <a:ext uri="{9D8B030D-6E8A-4147-A177-3AD203B41FA5}">
                      <a16:colId xmlns:a16="http://schemas.microsoft.com/office/drawing/2014/main" val="20004"/>
                    </a:ext>
                  </a:extLst>
                </a:gridCol>
                <a:gridCol w="660400">
                  <a:extLst>
                    <a:ext uri="{9D8B030D-6E8A-4147-A177-3AD203B41FA5}">
                      <a16:colId xmlns:a16="http://schemas.microsoft.com/office/drawing/2014/main" val="20005"/>
                    </a:ext>
                  </a:extLst>
                </a:gridCol>
              </a:tblGrid>
              <a:tr h="215900">
                <a:tc>
                  <a:txBody>
                    <a:bodyPr/>
                    <a:lstStyle/>
                    <a:p>
                      <a:pPr algn="ctr" fontAlgn="ctr"/>
                      <a:r>
                        <a:rPr lang="en-US" sz="1200" b="0" i="0" u="none" strike="noStrike">
                          <a:solidFill>
                            <a:srgbClr val="000000"/>
                          </a:solidFill>
                          <a:effectLst/>
                          <a:latin typeface="맑은 고딕"/>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X4</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5.985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6.092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5.942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6.008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6.149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5.951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6.198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5.842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6.111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6.068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5.849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5.874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6.002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5.619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6.098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5.858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ctr"/>
                      <a:r>
                        <a:rPr lang="en-US" altLang="ko-KR" sz="1200" b="0" i="0" u="none" strike="noStrike">
                          <a:solidFill>
                            <a:srgbClr val="000000"/>
                          </a:solidFill>
                          <a:effectLst/>
                          <a:latin typeface="맑은 고딕"/>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6.219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6.131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6.216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ctr"/>
                      <a:r>
                        <a:rPr lang="en-US" altLang="ko-KR" sz="1200" b="0" i="0" u="none" strike="noStrike">
                          <a:solidFill>
                            <a:srgbClr val="000000"/>
                          </a:solidFill>
                          <a:effectLst/>
                          <a:latin typeface="맑은 고딕"/>
                        </a:rPr>
                        <a:t>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5.813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5.789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6.114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6.163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5.877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ctr" fontAlgn="ctr"/>
                      <a:r>
                        <a:rPr lang="en-US" altLang="ko-KR" sz="1200" b="0" i="0" u="none" strike="noStrike">
                          <a:solidFill>
                            <a:srgbClr val="000000"/>
                          </a:solidFill>
                          <a:effectLst/>
                          <a:latin typeface="맑은 고딕"/>
                        </a:rPr>
                        <a:t>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6.197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6.194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5.834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ctr" fontAlgn="ctr"/>
                      <a:r>
                        <a:rPr lang="en-US" altLang="ko-KR" sz="1200" b="0" i="0" u="none" strike="noStrike">
                          <a:solidFill>
                            <a:srgbClr val="000000"/>
                          </a:solidFill>
                          <a:effectLst/>
                          <a:latin typeface="맑은 고딕"/>
                        </a:rPr>
                        <a:t>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5.827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5.932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5.991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6.310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5.828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5900">
                <a:tc>
                  <a:txBody>
                    <a:bodyPr/>
                    <a:lstStyle/>
                    <a:p>
                      <a:pPr algn="ctr" fontAlgn="ctr"/>
                      <a:r>
                        <a:rPr lang="en-US" altLang="ko-KR" sz="1200" b="0" i="0" u="none" strike="noStrike">
                          <a:solidFill>
                            <a:srgbClr val="000000"/>
                          </a:solidFill>
                          <a:effectLst/>
                          <a:latin typeface="맑은 고딕"/>
                        </a:rPr>
                        <a:t>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6.129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5.829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6.148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6.020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ctr" fontAlgn="ctr"/>
                      <a:r>
                        <a:rPr lang="en-US" altLang="ko-KR" sz="1200" b="0" i="0" u="none" strike="noStrike">
                          <a:solidFill>
                            <a:srgbClr val="000000"/>
                          </a:solidFill>
                          <a:effectLst/>
                          <a:latin typeface="맑은 고딕"/>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6.231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5.912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6.183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6.140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6.083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graphicFrame>
        <p:nvGraphicFramePr>
          <p:cNvPr id="10" name="표 9"/>
          <p:cNvGraphicFramePr>
            <a:graphicFrameLocks noGrp="1"/>
          </p:cNvGraphicFramePr>
          <p:nvPr>
            <p:extLst>
              <p:ext uri="{D42A27DB-BD31-4B8C-83A1-F6EECF244321}">
                <p14:modId xmlns:p14="http://schemas.microsoft.com/office/powerpoint/2010/main" val="1999331053"/>
              </p:ext>
            </p:extLst>
          </p:nvPr>
        </p:nvGraphicFramePr>
        <p:xfrm>
          <a:off x="4716016" y="3430364"/>
          <a:ext cx="3962400" cy="2374900"/>
        </p:xfrm>
        <a:graphic>
          <a:graphicData uri="http://schemas.openxmlformats.org/drawingml/2006/table">
            <a:tbl>
              <a:tblPr/>
              <a:tblGrid>
                <a:gridCol w="660400">
                  <a:extLst>
                    <a:ext uri="{9D8B030D-6E8A-4147-A177-3AD203B41FA5}">
                      <a16:colId xmlns:a16="http://schemas.microsoft.com/office/drawing/2014/main" val="20000"/>
                    </a:ext>
                  </a:extLst>
                </a:gridCol>
                <a:gridCol w="660400">
                  <a:extLst>
                    <a:ext uri="{9D8B030D-6E8A-4147-A177-3AD203B41FA5}">
                      <a16:colId xmlns:a16="http://schemas.microsoft.com/office/drawing/2014/main" val="20001"/>
                    </a:ext>
                  </a:extLst>
                </a:gridCol>
                <a:gridCol w="660400">
                  <a:extLst>
                    <a:ext uri="{9D8B030D-6E8A-4147-A177-3AD203B41FA5}">
                      <a16:colId xmlns:a16="http://schemas.microsoft.com/office/drawing/2014/main" val="20002"/>
                    </a:ext>
                  </a:extLst>
                </a:gridCol>
                <a:gridCol w="660400">
                  <a:extLst>
                    <a:ext uri="{9D8B030D-6E8A-4147-A177-3AD203B41FA5}">
                      <a16:colId xmlns:a16="http://schemas.microsoft.com/office/drawing/2014/main" val="20003"/>
                    </a:ext>
                  </a:extLst>
                </a:gridCol>
                <a:gridCol w="660400">
                  <a:extLst>
                    <a:ext uri="{9D8B030D-6E8A-4147-A177-3AD203B41FA5}">
                      <a16:colId xmlns:a16="http://schemas.microsoft.com/office/drawing/2014/main" val="20004"/>
                    </a:ext>
                  </a:extLst>
                </a:gridCol>
                <a:gridCol w="660400">
                  <a:extLst>
                    <a:ext uri="{9D8B030D-6E8A-4147-A177-3AD203B41FA5}">
                      <a16:colId xmlns:a16="http://schemas.microsoft.com/office/drawing/2014/main" val="20005"/>
                    </a:ext>
                  </a:extLst>
                </a:gridCol>
              </a:tblGrid>
              <a:tr h="215900">
                <a:tc>
                  <a:txBody>
                    <a:bodyPr/>
                    <a:lstStyle/>
                    <a:p>
                      <a:pPr algn="ctr" fontAlgn="ctr"/>
                      <a:r>
                        <a:rPr lang="en-US" sz="1200" b="0" i="0" u="none" strike="noStrike">
                          <a:solidFill>
                            <a:srgbClr val="000000"/>
                          </a:solidFill>
                          <a:effectLst/>
                          <a:latin typeface="맑은 고딕"/>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X1</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X2</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X3</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X4</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200" b="0" i="0" u="none" strike="noStrike">
                          <a:solidFill>
                            <a:srgbClr val="000000"/>
                          </a:solidFill>
                          <a:effectLst/>
                          <a:latin typeface="맑은 고딕"/>
                        </a:rPr>
                        <a:t>X5</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6.397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5.922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5.929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12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5.711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6.304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6.318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5.960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6.054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13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6.218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5.979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6.354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6.252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5.799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5.964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6.322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5.883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ctr"/>
                      <a:r>
                        <a:rPr lang="en-US" altLang="ko-KR" sz="1200" b="0" i="0" u="none" strike="noStrike">
                          <a:solidFill>
                            <a:srgbClr val="000000"/>
                          </a:solidFill>
                          <a:effectLst/>
                          <a:latin typeface="맑은 고딕"/>
                        </a:rPr>
                        <a:t>15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5.845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6.015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5.907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6.050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6.419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5900">
                <a:tc>
                  <a:txBody>
                    <a:bodyPr/>
                    <a:lstStyle/>
                    <a:p>
                      <a:pPr algn="ctr" fontAlgn="ctr"/>
                      <a:r>
                        <a:rPr lang="en-US" altLang="ko-KR" sz="1200" b="0" i="0" u="none" strike="noStrike">
                          <a:solidFill>
                            <a:srgbClr val="000000"/>
                          </a:solidFill>
                          <a:effectLst/>
                          <a:latin typeface="맑은 고딕"/>
                        </a:rPr>
                        <a:t>16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5.992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5.951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6.046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5.930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ctr" fontAlgn="ctr"/>
                      <a:r>
                        <a:rPr lang="en-US" altLang="ko-KR" sz="1200" b="0" i="0" u="none" strike="noStrike">
                          <a:solidFill>
                            <a:srgbClr val="000000"/>
                          </a:solidFill>
                          <a:effectLst/>
                          <a:latin typeface="맑은 고딕"/>
                        </a:rPr>
                        <a:t>17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5.986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6.108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6.221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5.880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ctr" fontAlgn="ctr"/>
                      <a:r>
                        <a:rPr lang="en-US" altLang="ko-KR" sz="1200" b="0" i="0" u="none" strike="noStrike">
                          <a:solidFill>
                            <a:srgbClr val="000000"/>
                          </a:solidFill>
                          <a:effectLst/>
                          <a:latin typeface="맑은 고딕"/>
                        </a:rPr>
                        <a:t>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5.986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6.050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6.206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6.038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15900">
                <a:tc>
                  <a:txBody>
                    <a:bodyPr/>
                    <a:lstStyle/>
                    <a:p>
                      <a:pPr algn="ctr" fontAlgn="ctr"/>
                      <a:r>
                        <a:rPr lang="en-US" altLang="ko-KR" sz="1200" b="0" i="0" u="none" strike="noStrike">
                          <a:solidFill>
                            <a:srgbClr val="000000"/>
                          </a:solidFill>
                          <a:effectLst/>
                          <a:latin typeface="맑은 고딕"/>
                        </a:rPr>
                        <a:t>19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5.733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5.924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6.114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5.902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6.107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ctr" fontAlgn="ctr"/>
                      <a:r>
                        <a:rPr lang="en-US" altLang="ko-KR" sz="1200" b="0" i="0" u="none" strike="noStrike">
                          <a:solidFill>
                            <a:srgbClr val="000000"/>
                          </a:solidFill>
                          <a:effectLst/>
                          <a:latin typeface="맑은 고딕"/>
                        </a:rPr>
                        <a:t>20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6.021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5.488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6.122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a:solidFill>
                            <a:srgbClr val="000000"/>
                          </a:solidFill>
                          <a:effectLst/>
                          <a:latin typeface="맑은 고딕"/>
                        </a:rPr>
                        <a:t>6.078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ko-KR" sz="1200" b="0" i="0" u="none" strike="noStrike" dirty="0">
                          <a:solidFill>
                            <a:srgbClr val="000000"/>
                          </a:solidFill>
                          <a:effectLst/>
                          <a:latin typeface="맑은 고딕"/>
                        </a:rPr>
                        <a:t>5.998 </a:t>
                      </a:r>
                    </a:p>
                  </a:txBody>
                  <a:tcPr marL="6350" marR="6350" marT="635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
        <p:nvSpPr>
          <p:cNvPr id="9"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142</a:t>
            </a:fld>
            <a:endParaRPr lang="ko-KR" altLang="en-US" dirty="0"/>
          </a:p>
        </p:txBody>
      </p:sp>
    </p:spTree>
    <p:extLst>
      <p:ext uri="{BB962C8B-B14F-4D97-AF65-F5344CB8AC3E}">
        <p14:creationId xmlns:p14="http://schemas.microsoft.com/office/powerpoint/2010/main" val="3662112344"/>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ổn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định</a:t>
            </a:r>
            <a:r>
              <a:rPr lang="ko-KR" altLang="en-US" sz="14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3" name="TextBox 2"/>
          <p:cNvSpPr txBox="1"/>
          <p:nvPr/>
        </p:nvSpPr>
        <p:spPr>
          <a:xfrm>
            <a:off x="179512" y="148570"/>
            <a:ext cx="3968843" cy="400110"/>
          </a:xfrm>
          <a:prstGeom prst="rect">
            <a:avLst/>
          </a:prstGeom>
          <a:noFill/>
        </p:spPr>
        <p:txBody>
          <a:bodyPr wrap="none" rtlCol="0">
            <a:spAutoFit/>
          </a:bodyPr>
          <a:lstStyle/>
          <a:p>
            <a:r>
              <a:rPr lang="en-US" altLang="ko-KR" sz="2000" b="1" dirty="0"/>
              <a:t>Type 5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endParaRPr lang="ko-KR" altLang="en-US" sz="2000" b="1" dirty="0"/>
          </a:p>
        </p:txBody>
      </p:sp>
      <p:sp>
        <p:nvSpPr>
          <p:cNvPr id="4" name="TextBox 3"/>
          <p:cNvSpPr txBox="1"/>
          <p:nvPr/>
        </p:nvSpPr>
        <p:spPr>
          <a:xfrm>
            <a:off x="683568" y="1196752"/>
            <a:ext cx="5059911" cy="292388"/>
          </a:xfrm>
          <a:prstGeom prst="rect">
            <a:avLst/>
          </a:prstGeom>
          <a:noFill/>
        </p:spPr>
        <p:txBody>
          <a:bodyPr wrap="none" rtlCol="0">
            <a:spAutoFit/>
          </a:bodyPr>
          <a:lstStyle/>
          <a:p>
            <a:r>
              <a:rPr lang="en-US" altLang="ko-KR" sz="1300" dirty="0"/>
              <a:t>Stat &gt; Control Charts &gt; Variables Charts for Subgroup &gt; </a:t>
            </a:r>
            <a:r>
              <a:rPr lang="en-US" altLang="ko-KR" sz="1300" dirty="0" err="1"/>
              <a:t>Xbar</a:t>
            </a:r>
            <a:r>
              <a:rPr lang="en-US" altLang="ko-KR" sz="1300" dirty="0"/>
              <a:t>-R</a:t>
            </a:r>
            <a:endParaRPr lang="ko-KR" altLang="en-US" sz="1300" dirty="0"/>
          </a:p>
        </p:txBody>
      </p:sp>
      <p:pic>
        <p:nvPicPr>
          <p:cNvPr id="2765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5576" y="1628801"/>
            <a:ext cx="4910315" cy="3168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2195736" y="1619508"/>
            <a:ext cx="3047629" cy="400110"/>
          </a:xfrm>
          <a:prstGeom prst="rect">
            <a:avLst/>
          </a:prstGeom>
          <a:noFill/>
        </p:spPr>
        <p:txBody>
          <a:bodyPr wrap="none" rtlCol="0">
            <a:spAutoFit/>
          </a:bodyPr>
          <a:lstStyle/>
          <a:p>
            <a:r>
              <a:rPr lang="en-US" altLang="ko-KR" sz="1000" b="1" dirty="0" err="1">
                <a:solidFill>
                  <a:srgbClr val="FF0000"/>
                </a:solidFill>
              </a:rPr>
              <a:t>Trường</a:t>
            </a:r>
            <a:r>
              <a:rPr lang="en-US" altLang="ko-KR" sz="1000" b="1" dirty="0">
                <a:solidFill>
                  <a:srgbClr val="FF0000"/>
                </a:solidFill>
              </a:rPr>
              <a:t> </a:t>
            </a:r>
            <a:r>
              <a:rPr lang="en-US" altLang="ko-KR" sz="1000" b="1" dirty="0" err="1">
                <a:solidFill>
                  <a:srgbClr val="FF0000"/>
                </a:solidFill>
              </a:rPr>
              <a:t>hợp</a:t>
            </a:r>
            <a:r>
              <a:rPr lang="vi-VN" altLang="ko-KR" sz="1000" b="1" dirty="0">
                <a:solidFill>
                  <a:srgbClr val="FF0000"/>
                </a:solidFill>
              </a:rPr>
              <a:t> giá trị quan sát</a:t>
            </a:r>
            <a:r>
              <a:rPr lang="en-US" altLang="ko-KR" sz="1000" b="1" dirty="0">
                <a:solidFill>
                  <a:srgbClr val="FF0000"/>
                </a:solidFill>
              </a:rPr>
              <a:t> </a:t>
            </a:r>
            <a:r>
              <a:rPr lang="en-US" altLang="ko-KR" sz="1000" b="1" dirty="0" err="1">
                <a:solidFill>
                  <a:srgbClr val="FF0000"/>
                </a:solidFill>
              </a:rPr>
              <a:t>có</a:t>
            </a:r>
            <a:r>
              <a:rPr lang="vi-VN" altLang="ko-KR" sz="1000" b="1" dirty="0">
                <a:solidFill>
                  <a:srgbClr val="FF0000"/>
                </a:solidFill>
              </a:rPr>
              <a:t> trong </a:t>
            </a:r>
            <a:r>
              <a:rPr lang="en-US" altLang="ko-KR" sz="1000" b="1" dirty="0" err="1">
                <a:solidFill>
                  <a:srgbClr val="FF0000"/>
                </a:solidFill>
              </a:rPr>
              <a:t>nhiều</a:t>
            </a:r>
            <a:r>
              <a:rPr lang="vi-VN" altLang="ko-KR" sz="1000" b="1" dirty="0">
                <a:solidFill>
                  <a:srgbClr val="FF0000"/>
                </a:solidFill>
              </a:rPr>
              <a:t> cột</a:t>
            </a:r>
            <a:endParaRPr lang="en-US" altLang="ko-KR" sz="1000" b="1" dirty="0">
              <a:solidFill>
                <a:srgbClr val="FF0000"/>
              </a:solidFill>
            </a:endParaRPr>
          </a:p>
          <a:p>
            <a:r>
              <a:rPr lang="vi-VN" altLang="ko-KR" sz="1000" b="1" dirty="0">
                <a:solidFill>
                  <a:srgbClr val="FF0000"/>
                </a:solidFill>
              </a:rPr>
              <a:t> theo </a:t>
            </a:r>
            <a:r>
              <a:rPr lang="en-US" altLang="ko-KR" sz="1000" b="1" dirty="0" err="1">
                <a:solidFill>
                  <a:srgbClr val="FF0000"/>
                </a:solidFill>
              </a:rPr>
              <a:t>từng</a:t>
            </a:r>
            <a:r>
              <a:rPr lang="en-US" altLang="ko-KR" sz="1000" b="1" dirty="0">
                <a:solidFill>
                  <a:srgbClr val="FF0000"/>
                </a:solidFill>
              </a:rPr>
              <a:t> </a:t>
            </a:r>
            <a:r>
              <a:rPr lang="vi-VN" altLang="ko-KR" sz="1000" b="1" dirty="0">
                <a:solidFill>
                  <a:srgbClr val="FF0000"/>
                </a:solidFill>
              </a:rPr>
              <a:t>phân nhóm</a:t>
            </a:r>
            <a:r>
              <a:rPr lang="en-US" altLang="ko-KR" sz="1000" b="1" dirty="0">
                <a:solidFill>
                  <a:srgbClr val="FF0000"/>
                </a:solidFill>
              </a:rPr>
              <a:t>/</a:t>
            </a:r>
            <a:r>
              <a:rPr lang="en-US" altLang="ko-KR" sz="1000" b="1" dirty="0" err="1">
                <a:solidFill>
                  <a:srgbClr val="FF0000"/>
                </a:solidFill>
              </a:rPr>
              <a:t>bộ</a:t>
            </a:r>
            <a:r>
              <a:rPr lang="en-US" altLang="ko-KR" sz="1000" b="1" dirty="0">
                <a:solidFill>
                  <a:srgbClr val="FF0000"/>
                </a:solidFill>
              </a:rPr>
              <a:t> </a:t>
            </a:r>
            <a:r>
              <a:rPr lang="en-US" altLang="ko-KR" sz="1000" b="1" dirty="0" err="1">
                <a:solidFill>
                  <a:srgbClr val="FF0000"/>
                </a:solidFill>
              </a:rPr>
              <a:t>phận</a:t>
            </a:r>
            <a:endParaRPr lang="en-US" altLang="ko-KR" sz="1000" b="1" dirty="0">
              <a:solidFill>
                <a:srgbClr val="FF0000"/>
              </a:solidFill>
            </a:endParaRPr>
          </a:p>
        </p:txBody>
      </p:sp>
      <p:pic>
        <p:nvPicPr>
          <p:cNvPr id="2765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628800"/>
            <a:ext cx="2779023" cy="2304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24128" y="3573016"/>
            <a:ext cx="3039556" cy="2520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직사각형 5"/>
          <p:cNvSpPr/>
          <p:nvPr/>
        </p:nvSpPr>
        <p:spPr>
          <a:xfrm>
            <a:off x="6732240" y="1844824"/>
            <a:ext cx="360040" cy="14401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1" name="TextBox 10"/>
          <p:cNvSpPr txBox="1"/>
          <p:nvPr/>
        </p:nvSpPr>
        <p:spPr>
          <a:xfrm>
            <a:off x="6660232" y="1567825"/>
            <a:ext cx="474041" cy="276999"/>
          </a:xfrm>
          <a:prstGeom prst="rect">
            <a:avLst/>
          </a:prstGeom>
          <a:noFill/>
        </p:spPr>
        <p:txBody>
          <a:bodyPr wrap="none" rtlCol="0">
            <a:spAutoFit/>
          </a:bodyPr>
          <a:lstStyle/>
          <a:p>
            <a:r>
              <a:rPr lang="en-US" altLang="ko-KR" sz="1200" b="1" dirty="0">
                <a:solidFill>
                  <a:srgbClr val="FF0000"/>
                </a:solidFill>
              </a:rPr>
              <a:t>Test</a:t>
            </a:r>
            <a:endParaRPr lang="ko-KR" altLang="en-US" sz="1200" b="1" dirty="0">
              <a:solidFill>
                <a:srgbClr val="FF0000"/>
              </a:solidFill>
            </a:endParaRPr>
          </a:p>
        </p:txBody>
      </p:sp>
      <p:cxnSp>
        <p:nvCxnSpPr>
          <p:cNvPr id="9" name="직선 화살표 연결선 8"/>
          <p:cNvCxnSpPr>
            <a:stCxn id="6" idx="2"/>
          </p:cNvCxnSpPr>
          <p:nvPr/>
        </p:nvCxnSpPr>
        <p:spPr>
          <a:xfrm>
            <a:off x="6912260" y="1988840"/>
            <a:ext cx="36228" cy="1584176"/>
          </a:xfrm>
          <a:prstGeom prst="straightConnector1">
            <a:avLst/>
          </a:prstGeom>
          <a:ln>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0" name="직사각형 9"/>
          <p:cNvSpPr/>
          <p:nvPr/>
        </p:nvSpPr>
        <p:spPr>
          <a:xfrm>
            <a:off x="5854892" y="3991812"/>
            <a:ext cx="1728192" cy="14401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2" name="TextBox 11"/>
          <p:cNvSpPr txBox="1"/>
          <p:nvPr/>
        </p:nvSpPr>
        <p:spPr>
          <a:xfrm>
            <a:off x="7544716" y="3919804"/>
            <a:ext cx="1181734" cy="430887"/>
          </a:xfrm>
          <a:prstGeom prst="rect">
            <a:avLst/>
          </a:prstGeom>
          <a:noFill/>
        </p:spPr>
        <p:txBody>
          <a:bodyPr wrap="none" rtlCol="0">
            <a:spAutoFit/>
          </a:bodyPr>
          <a:lstStyle/>
          <a:p>
            <a:r>
              <a:rPr lang="en-US" altLang="ko-KR" sz="1100" b="1" dirty="0" err="1">
                <a:solidFill>
                  <a:srgbClr val="FF0000"/>
                </a:solidFill>
              </a:rPr>
              <a:t>tiến</a:t>
            </a:r>
            <a:r>
              <a:rPr lang="en-US" altLang="ko-KR" sz="1100" b="1" dirty="0">
                <a:solidFill>
                  <a:srgbClr val="FF0000"/>
                </a:solidFill>
              </a:rPr>
              <a:t> </a:t>
            </a:r>
            <a:r>
              <a:rPr lang="en-US" altLang="ko-KR" sz="1100" b="1" dirty="0" err="1">
                <a:solidFill>
                  <a:srgbClr val="FF0000"/>
                </a:solidFill>
              </a:rPr>
              <a:t>hành</a:t>
            </a:r>
            <a:r>
              <a:rPr lang="en-US" altLang="ko-KR" sz="1100" b="1" dirty="0">
                <a:solidFill>
                  <a:srgbClr val="FF0000"/>
                </a:solidFill>
              </a:rPr>
              <a:t> </a:t>
            </a:r>
          </a:p>
          <a:p>
            <a:r>
              <a:rPr lang="en-US" altLang="ko-KR" sz="1100" b="1" dirty="0" err="1">
                <a:solidFill>
                  <a:srgbClr val="FF0000"/>
                </a:solidFill>
              </a:rPr>
              <a:t>kiểm</a:t>
            </a:r>
            <a:r>
              <a:rPr lang="en-US" altLang="ko-KR" sz="1100" b="1" dirty="0">
                <a:solidFill>
                  <a:srgbClr val="FF0000"/>
                </a:solidFill>
              </a:rPr>
              <a:t> </a:t>
            </a:r>
            <a:r>
              <a:rPr lang="en-US" altLang="ko-KR" sz="1100" b="1" dirty="0" err="1">
                <a:solidFill>
                  <a:srgbClr val="FF0000"/>
                </a:solidFill>
              </a:rPr>
              <a:t>tra</a:t>
            </a:r>
            <a:r>
              <a:rPr lang="en-US" altLang="ko-KR" sz="1100" b="1" dirty="0">
                <a:solidFill>
                  <a:srgbClr val="FF0000"/>
                </a:solidFill>
              </a:rPr>
              <a:t> </a:t>
            </a:r>
            <a:r>
              <a:rPr lang="en-US" altLang="ko-KR" sz="1100" b="1" dirty="0" err="1">
                <a:solidFill>
                  <a:srgbClr val="FF0000"/>
                </a:solidFill>
              </a:rPr>
              <a:t>tất</a:t>
            </a:r>
            <a:r>
              <a:rPr lang="en-US" altLang="ko-KR" sz="1100" b="1" dirty="0">
                <a:solidFill>
                  <a:srgbClr val="FF0000"/>
                </a:solidFill>
              </a:rPr>
              <a:t> </a:t>
            </a:r>
            <a:r>
              <a:rPr lang="en-US" altLang="ko-KR" sz="1100" b="1" dirty="0" err="1">
                <a:solidFill>
                  <a:srgbClr val="FF0000"/>
                </a:solidFill>
              </a:rPr>
              <a:t>cả</a:t>
            </a:r>
            <a:endParaRPr lang="ko-KR" altLang="en-US" sz="1100" b="1" dirty="0">
              <a:solidFill>
                <a:srgbClr val="FF0000"/>
              </a:solidFill>
            </a:endParaRPr>
          </a:p>
        </p:txBody>
      </p:sp>
      <p:sp>
        <p:nvSpPr>
          <p:cNvPr id="14"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143</a:t>
            </a:fld>
            <a:endParaRPr lang="ko-KR" altLang="en-US" dirty="0"/>
          </a:p>
        </p:txBody>
      </p:sp>
    </p:spTree>
    <p:extLst>
      <p:ext uri="{BB962C8B-B14F-4D97-AF65-F5344CB8AC3E}">
        <p14:creationId xmlns:p14="http://schemas.microsoft.com/office/powerpoint/2010/main" val="1661352359"/>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1268760"/>
            <a:ext cx="6707088" cy="4471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stability study</a:t>
            </a:r>
            <a:r>
              <a:rPr lang="ko-KR" altLang="en-US" sz="14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179512" y="148570"/>
            <a:ext cx="3281155" cy="400110"/>
          </a:xfrm>
          <a:prstGeom prst="rect">
            <a:avLst/>
          </a:prstGeom>
          <a:noFill/>
        </p:spPr>
        <p:txBody>
          <a:bodyPr wrap="none" rtlCol="0">
            <a:spAutoFit/>
          </a:bodyPr>
          <a:lstStyle/>
          <a:p>
            <a:r>
              <a:rPr lang="en-US" altLang="ko-KR" sz="2000" b="1" dirty="0"/>
              <a:t>Type 5 Study Case study</a:t>
            </a:r>
            <a:r>
              <a:rPr lang="ko-KR" altLang="en-US" sz="2000" b="1" dirty="0"/>
              <a:t> </a:t>
            </a:r>
          </a:p>
        </p:txBody>
      </p:sp>
      <p:sp>
        <p:nvSpPr>
          <p:cNvPr id="2" name="TextBox 1"/>
          <p:cNvSpPr txBox="1"/>
          <p:nvPr/>
        </p:nvSpPr>
        <p:spPr>
          <a:xfrm>
            <a:off x="1966772" y="5877272"/>
            <a:ext cx="7040261" cy="523220"/>
          </a:xfrm>
          <a:prstGeom prst="rect">
            <a:avLst/>
          </a:prstGeom>
          <a:noFill/>
        </p:spPr>
        <p:txBody>
          <a:bodyPr wrap="none" rtlCol="0">
            <a:spAutoFit/>
          </a:bodyPr>
          <a:lstStyle/>
          <a:p>
            <a:r>
              <a:rPr lang="en-US" altLang="ko-KR" sz="1400" b="1" dirty="0"/>
              <a:t>No abnormality can be found in the </a:t>
            </a:r>
            <a:r>
              <a:rPr lang="en-US" altLang="ko-KR" sz="1400" b="1" dirty="0" err="1"/>
              <a:t>Xbar</a:t>
            </a:r>
            <a:r>
              <a:rPr lang="en-US" altLang="ko-KR" sz="1400" b="1" dirty="0"/>
              <a:t> control chart and the R control chart.</a:t>
            </a:r>
            <a:br>
              <a:rPr lang="en-US" altLang="ko-KR" sz="1400" b="1" dirty="0"/>
            </a:br>
            <a:r>
              <a:rPr lang="en-US" altLang="ko-KR" sz="1400" b="1" dirty="0"/>
              <a:t>Therefore, stability is acceptable.</a:t>
            </a:r>
          </a:p>
        </p:txBody>
      </p:sp>
      <p:sp>
        <p:nvSpPr>
          <p:cNvPr id="6"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144</a:t>
            </a:fld>
            <a:endParaRPr lang="ko-KR" altLang="en-US" dirty="0"/>
          </a:p>
        </p:txBody>
      </p:sp>
    </p:spTree>
    <p:extLst>
      <p:ext uri="{BB962C8B-B14F-4D97-AF65-F5344CB8AC3E}">
        <p14:creationId xmlns:p14="http://schemas.microsoft.com/office/powerpoint/2010/main" val="1628204451"/>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Categorical Gage R&amp;R</a:t>
            </a:r>
            <a:endParaRPr lang="ko-KR" altLang="en-US" sz="1600" b="1" kern="0" dirty="0">
              <a:solidFill>
                <a:srgbClr val="000000"/>
              </a:solidFill>
              <a:latin typeface="맑은 고딕"/>
              <a:ea typeface="맑은 고딕"/>
            </a:endParaRPr>
          </a:p>
        </p:txBody>
      </p:sp>
      <p:sp>
        <p:nvSpPr>
          <p:cNvPr id="64" name="TextBox 63"/>
          <p:cNvSpPr txBox="1"/>
          <p:nvPr/>
        </p:nvSpPr>
        <p:spPr>
          <a:xfrm>
            <a:off x="395654" y="827089"/>
            <a:ext cx="8280889" cy="1040285"/>
          </a:xfrm>
          <a:prstGeom prst="rect">
            <a:avLst/>
          </a:prstGeom>
          <a:noFill/>
        </p:spPr>
        <p:txBody>
          <a:bodyPr>
            <a:spAutoFit/>
          </a:bodyPr>
          <a:lstStyle/>
          <a:p>
            <a:pPr latinLnBrk="0">
              <a:lnSpc>
                <a:spcPct val="110000"/>
              </a:lnSpc>
              <a:buClr>
                <a:srgbClr val="595959"/>
              </a:buClr>
              <a:buFont typeface="Wingdings" pitchFamily="2" charset="2"/>
              <a:buChar char="u"/>
              <a:defRPr/>
            </a:pPr>
            <a:r>
              <a:rPr lang="en-US" altLang="ko-KR" sz="1400" b="1" kern="0" dirty="0">
                <a:solidFill>
                  <a:sysClr val="windowText" lastClr="000000"/>
                </a:solidFill>
                <a:latin typeface="맑은 고딕" pitchFamily="50" charset="-127"/>
                <a:ea typeface="맑은 고딕" pitchFamily="50" charset="-127"/>
              </a:rPr>
              <a:t>Most of the cases where the measurement scale is Nominal (Nominal-Positive / Nominal) are discriminated by observing specific attributes compared with the specification limit (or constant standard).</a:t>
            </a:r>
          </a:p>
          <a:p>
            <a:pPr latinLnBrk="0">
              <a:lnSpc>
                <a:spcPct val="110000"/>
              </a:lnSpc>
              <a:buClr>
                <a:srgbClr val="595959"/>
              </a:buClr>
              <a:defRPr/>
            </a:pPr>
            <a:r>
              <a:rPr lang="en-US" altLang="ko-KR" sz="1400" kern="0" dirty="0">
                <a:solidFill>
                  <a:sysClr val="windowText" lastClr="000000"/>
                </a:solidFill>
                <a:latin typeface="맑은 고딕" pitchFamily="50" charset="-127"/>
                <a:ea typeface="맑은 고딕" pitchFamily="50" charset="-127"/>
              </a:rPr>
              <a:t>※ Three Categories can be over, but limited to two categories that are measured as good / defect</a:t>
            </a:r>
          </a:p>
        </p:txBody>
      </p:sp>
      <p:sp>
        <p:nvSpPr>
          <p:cNvPr id="65" name="Rectangle 7"/>
          <p:cNvSpPr>
            <a:spLocks noChangeArrowheads="1"/>
          </p:cNvSpPr>
          <p:nvPr/>
        </p:nvSpPr>
        <p:spPr bwMode="auto">
          <a:xfrm>
            <a:off x="615462" y="3414712"/>
            <a:ext cx="8171380" cy="1236680"/>
          </a:xfrm>
          <a:prstGeom prst="rect">
            <a:avLst/>
          </a:prstGeom>
          <a:noFill/>
          <a:ln w="9525">
            <a:noFill/>
            <a:miter lim="800000"/>
            <a:headEnd/>
            <a:tailEnd/>
          </a:ln>
        </p:spPr>
        <p:txBody>
          <a:bodyPr wrap="square" lIns="18000" tIns="18000" rIns="18000" bIns="18000">
            <a:spAutoFit/>
          </a:bodyPr>
          <a:lstStyle/>
          <a:p>
            <a:pPr defTabSz="1189038">
              <a:lnSpc>
                <a:spcPct val="130000"/>
              </a:lnSpc>
              <a:buFontTx/>
              <a:buChar char="•"/>
            </a:pPr>
            <a:r>
              <a:rPr lang="en-US" altLang="ko-KR" sz="1200" dirty="0">
                <a:latin typeface="맑은 고딕" pitchFamily="50" charset="-127"/>
                <a:ea typeface="맑은 고딕" pitchFamily="50" charset="-127"/>
              </a:rPr>
              <a:t> Sample selection criteria for Categorical</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Gage R&amp;R(</a:t>
            </a:r>
            <a:r>
              <a:rPr lang="en-US" altLang="ko-KR" sz="1200" dirty="0" err="1">
                <a:latin typeface="맑은 고딕" pitchFamily="50" charset="-127"/>
                <a:ea typeface="맑은 고딕" pitchFamily="50" charset="-127"/>
              </a:rPr>
              <a:t>Hradeskey</a:t>
            </a:r>
            <a:r>
              <a:rPr lang="en-US" altLang="ko-KR" sz="1200" dirty="0">
                <a:latin typeface="맑은 고딕" pitchFamily="50" charset="-127"/>
                <a:ea typeface="맑은 고딕" pitchFamily="50" charset="-127"/>
              </a:rPr>
              <a:t>)</a:t>
            </a:r>
          </a:p>
          <a:p>
            <a:pPr defTabSz="1189038">
              <a:lnSpc>
                <a:spcPct val="130000"/>
              </a:lnSpc>
            </a:pPr>
            <a:r>
              <a:rPr lang="en-US" altLang="ko-KR" sz="1200" dirty="0">
                <a:latin typeface="맑은 고딕" pitchFamily="50" charset="-127"/>
                <a:ea typeface="맑은 고딕" pitchFamily="50" charset="-127"/>
              </a:rPr>
              <a:t>  : Unlike the case of continuous data, the sample is selected based on the following criteria without randomly </a:t>
            </a:r>
          </a:p>
          <a:p>
            <a:pPr defTabSz="1189038">
              <a:lnSpc>
                <a:spcPct val="130000"/>
              </a:lnSpc>
            </a:pPr>
            <a:r>
              <a:rPr lang="en-US" altLang="ko-KR" sz="1200" dirty="0">
                <a:latin typeface="맑은 고딕" pitchFamily="50" charset="-127"/>
                <a:ea typeface="맑은 고딕" pitchFamily="50" charset="-127"/>
              </a:rPr>
              <a:t>    selecting the sample. </a:t>
            </a:r>
          </a:p>
          <a:p>
            <a:pPr defTabSz="1189038">
              <a:lnSpc>
                <a:spcPct val="130000"/>
              </a:lnSpc>
            </a:pPr>
            <a:r>
              <a:rPr lang="en-US" altLang="ko-KR" sz="1200" dirty="0">
                <a:latin typeface="맑은 고딕" pitchFamily="50" charset="-127"/>
                <a:ea typeface="맑은 고딕" pitchFamily="50" charset="-127"/>
              </a:rPr>
              <a:t>  - Half of the total is good and 1/2 is selected as defective.</a:t>
            </a:r>
            <a:endParaRPr lang="ko-KR" altLang="en-US" sz="1200" dirty="0">
              <a:latin typeface="맑은 고딕" pitchFamily="50" charset="-127"/>
              <a:ea typeface="맑은 고딕" pitchFamily="50" charset="-127"/>
            </a:endParaRPr>
          </a:p>
          <a:p>
            <a:pPr defTabSz="1189038">
              <a:lnSpc>
                <a:spcPct val="130000"/>
              </a:lnSpc>
            </a:pP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About 1/3 of each good products and defective products are selected at the limit of decision uncertainty.</a:t>
            </a:r>
            <a:endParaRPr lang="ko-KR" altLang="en-US" sz="1200" dirty="0">
              <a:latin typeface="맑은 고딕" pitchFamily="50" charset="-127"/>
              <a:ea typeface="맑은 고딕" pitchFamily="50" charset="-127"/>
            </a:endParaRPr>
          </a:p>
        </p:txBody>
      </p:sp>
      <p:pic>
        <p:nvPicPr>
          <p:cNvPr id="66" name="Picture 9"/>
          <p:cNvPicPr>
            <a:picLocks noChangeAspect="1" noChangeArrowheads="1"/>
          </p:cNvPicPr>
          <p:nvPr/>
        </p:nvPicPr>
        <p:blipFill>
          <a:blip r:embed="rId2" cstate="print">
            <a:clrChange>
              <a:clrFrom>
                <a:srgbClr val="FFFFFF"/>
              </a:clrFrom>
              <a:clrTo>
                <a:srgbClr val="FFFFFF">
                  <a:alpha val="0"/>
                </a:srgbClr>
              </a:clrTo>
            </a:clrChange>
          </a:blip>
          <a:srcRect/>
          <a:stretch>
            <a:fillRect/>
          </a:stretch>
        </p:blipFill>
        <p:spPr bwMode="auto">
          <a:xfrm>
            <a:off x="1127373" y="2035175"/>
            <a:ext cx="1989904" cy="927100"/>
          </a:xfrm>
          <a:prstGeom prst="rect">
            <a:avLst/>
          </a:prstGeom>
          <a:noFill/>
          <a:ln w="9525">
            <a:noFill/>
            <a:miter lim="800000"/>
            <a:headEnd/>
            <a:tailEnd/>
          </a:ln>
        </p:spPr>
      </p:pic>
      <p:sp>
        <p:nvSpPr>
          <p:cNvPr id="67" name="Text Box 10"/>
          <p:cNvSpPr txBox="1">
            <a:spLocks noChangeArrowheads="1"/>
          </p:cNvSpPr>
          <p:nvPr/>
        </p:nvSpPr>
        <p:spPr bwMode="auto">
          <a:xfrm>
            <a:off x="2857488" y="3065106"/>
            <a:ext cx="1643074" cy="221018"/>
          </a:xfrm>
          <a:prstGeom prst="rect">
            <a:avLst/>
          </a:prstGeom>
          <a:noFill/>
          <a:ln w="9525" algn="ctr">
            <a:noFill/>
            <a:miter lim="800000"/>
            <a:headEnd/>
            <a:tailEnd/>
          </a:ln>
        </p:spPr>
        <p:txBody>
          <a:bodyPr wrap="square" lIns="18000" tIns="18000" rIns="18000" bIns="18000">
            <a:spAutoFit/>
          </a:bodyPr>
          <a:lstStyle/>
          <a:p>
            <a:pPr algn="ctr"/>
            <a:r>
              <a:rPr lang="en-US" altLang="ko-KR" sz="1200" dirty="0">
                <a:latin typeface="맑은 고딕" pitchFamily="50" charset="-127"/>
                <a:ea typeface="맑은 고딕" pitchFamily="50" charset="-127"/>
              </a:rPr>
              <a:t>Measured value</a:t>
            </a:r>
            <a:endParaRPr lang="ko-KR" altLang="en-US" sz="1200" dirty="0">
              <a:latin typeface="맑은 고딕" pitchFamily="50" charset="-127"/>
              <a:ea typeface="맑은 고딕" pitchFamily="50" charset="-127"/>
            </a:endParaRPr>
          </a:p>
        </p:txBody>
      </p:sp>
      <p:sp>
        <p:nvSpPr>
          <p:cNvPr id="68" name="Rectangle 11"/>
          <p:cNvSpPr>
            <a:spLocks noChangeArrowheads="1"/>
          </p:cNvSpPr>
          <p:nvPr/>
        </p:nvSpPr>
        <p:spPr bwMode="auto">
          <a:xfrm>
            <a:off x="701920" y="1906589"/>
            <a:ext cx="3548627" cy="1317625"/>
          </a:xfrm>
          <a:prstGeom prst="rect">
            <a:avLst/>
          </a:prstGeom>
          <a:noFill/>
          <a:ln w="9525" algn="ctr">
            <a:solidFill>
              <a:schemeClr val="tx1"/>
            </a:solidFill>
            <a:miter lim="800000"/>
            <a:headEnd/>
            <a:tailEnd/>
          </a:ln>
        </p:spPr>
        <p:txBody>
          <a:bodyPr wrap="none" anchor="ctr"/>
          <a:lstStyle/>
          <a:p>
            <a:endParaRPr lang="ko-KR" altLang="en-US" sz="1200" dirty="0">
              <a:latin typeface="맑은 고딕" pitchFamily="50" charset="-127"/>
              <a:ea typeface="맑은 고딕" pitchFamily="50" charset="-127"/>
            </a:endParaRPr>
          </a:p>
        </p:txBody>
      </p:sp>
      <p:sp>
        <p:nvSpPr>
          <p:cNvPr id="69" name="Rectangle 12"/>
          <p:cNvSpPr>
            <a:spLocks noChangeArrowheads="1"/>
          </p:cNvSpPr>
          <p:nvPr/>
        </p:nvSpPr>
        <p:spPr bwMode="auto">
          <a:xfrm>
            <a:off x="6015322" y="1906589"/>
            <a:ext cx="2110098" cy="1317625"/>
          </a:xfrm>
          <a:prstGeom prst="rect">
            <a:avLst/>
          </a:prstGeom>
          <a:noFill/>
          <a:ln w="9525" algn="ctr">
            <a:solidFill>
              <a:schemeClr val="tx1"/>
            </a:solidFill>
            <a:miter lim="800000"/>
            <a:headEnd/>
            <a:tailEnd/>
          </a:ln>
        </p:spPr>
        <p:txBody>
          <a:bodyPr wrap="none" anchor="ctr"/>
          <a:lstStyle/>
          <a:p>
            <a:endParaRPr lang="ko-KR" altLang="en-US" sz="1200" dirty="0">
              <a:latin typeface="맑은 고딕" pitchFamily="50" charset="-127"/>
              <a:ea typeface="맑은 고딕" pitchFamily="50" charset="-127"/>
            </a:endParaRPr>
          </a:p>
        </p:txBody>
      </p:sp>
      <p:sp>
        <p:nvSpPr>
          <p:cNvPr id="70" name="Text Box 13"/>
          <p:cNvSpPr txBox="1">
            <a:spLocks noChangeArrowheads="1"/>
          </p:cNvSpPr>
          <p:nvPr/>
        </p:nvSpPr>
        <p:spPr bwMode="auto">
          <a:xfrm>
            <a:off x="2667885" y="1931988"/>
            <a:ext cx="1560431"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Continuous data</a:t>
            </a:r>
            <a:endParaRPr lang="ko-KR" altLang="en-US" sz="1200" dirty="0">
              <a:latin typeface="맑은 고딕" pitchFamily="50" charset="-127"/>
              <a:ea typeface="맑은 고딕" pitchFamily="50" charset="-127"/>
            </a:endParaRPr>
          </a:p>
        </p:txBody>
      </p:sp>
      <p:sp>
        <p:nvSpPr>
          <p:cNvPr id="71" name="Line 14"/>
          <p:cNvSpPr>
            <a:spLocks noChangeShapeType="1"/>
          </p:cNvSpPr>
          <p:nvPr/>
        </p:nvSpPr>
        <p:spPr bwMode="auto">
          <a:xfrm>
            <a:off x="961390" y="2940050"/>
            <a:ext cx="2856072" cy="0"/>
          </a:xfrm>
          <a:prstGeom prst="line">
            <a:avLst/>
          </a:prstGeom>
          <a:noFill/>
          <a:ln w="9525">
            <a:solidFill>
              <a:srgbClr val="0000FF"/>
            </a:solidFill>
            <a:round/>
            <a:headEnd/>
            <a:tailEnd/>
          </a:ln>
        </p:spPr>
        <p:txBody>
          <a:bodyPr anchor="ctr"/>
          <a:lstStyle/>
          <a:p>
            <a:endParaRPr lang="ko-KR" altLang="en-US" dirty="0"/>
          </a:p>
        </p:txBody>
      </p:sp>
      <p:sp>
        <p:nvSpPr>
          <p:cNvPr id="72" name="Line 15"/>
          <p:cNvSpPr>
            <a:spLocks noChangeShapeType="1"/>
          </p:cNvSpPr>
          <p:nvPr/>
        </p:nvSpPr>
        <p:spPr bwMode="auto">
          <a:xfrm>
            <a:off x="1480329" y="2652714"/>
            <a:ext cx="0" cy="287337"/>
          </a:xfrm>
          <a:prstGeom prst="line">
            <a:avLst/>
          </a:prstGeom>
          <a:noFill/>
          <a:ln w="9525">
            <a:solidFill>
              <a:srgbClr val="0000FF"/>
            </a:solidFill>
            <a:round/>
            <a:headEnd/>
            <a:tailEnd/>
          </a:ln>
        </p:spPr>
        <p:txBody>
          <a:bodyPr anchor="ctr"/>
          <a:lstStyle/>
          <a:p>
            <a:endParaRPr lang="ko-KR" altLang="en-US" dirty="0"/>
          </a:p>
        </p:txBody>
      </p:sp>
      <p:sp>
        <p:nvSpPr>
          <p:cNvPr id="73" name="Line 16"/>
          <p:cNvSpPr>
            <a:spLocks noChangeShapeType="1"/>
          </p:cNvSpPr>
          <p:nvPr/>
        </p:nvSpPr>
        <p:spPr bwMode="auto">
          <a:xfrm>
            <a:off x="2766229" y="2659064"/>
            <a:ext cx="0" cy="287337"/>
          </a:xfrm>
          <a:prstGeom prst="line">
            <a:avLst/>
          </a:prstGeom>
          <a:noFill/>
          <a:ln w="9525">
            <a:solidFill>
              <a:srgbClr val="0000FF"/>
            </a:solidFill>
            <a:round/>
            <a:headEnd/>
            <a:tailEnd/>
          </a:ln>
        </p:spPr>
        <p:txBody>
          <a:bodyPr anchor="ctr"/>
          <a:lstStyle/>
          <a:p>
            <a:endParaRPr lang="ko-KR" altLang="en-US" dirty="0"/>
          </a:p>
        </p:txBody>
      </p:sp>
      <p:sp>
        <p:nvSpPr>
          <p:cNvPr id="74" name="Text Box 17"/>
          <p:cNvSpPr txBox="1">
            <a:spLocks noChangeArrowheads="1"/>
          </p:cNvSpPr>
          <p:nvPr/>
        </p:nvSpPr>
        <p:spPr bwMode="auto">
          <a:xfrm>
            <a:off x="1001609" y="2663826"/>
            <a:ext cx="629612"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Defect</a:t>
            </a:r>
            <a:endParaRPr lang="ko-KR" altLang="en-US" sz="1200" dirty="0">
              <a:latin typeface="맑은 고딕" pitchFamily="50" charset="-127"/>
              <a:ea typeface="맑은 고딕" pitchFamily="50" charset="-127"/>
            </a:endParaRPr>
          </a:p>
        </p:txBody>
      </p:sp>
      <p:sp>
        <p:nvSpPr>
          <p:cNvPr id="75" name="Text Box 18"/>
          <p:cNvSpPr txBox="1">
            <a:spLocks noChangeArrowheads="1"/>
          </p:cNvSpPr>
          <p:nvPr/>
        </p:nvSpPr>
        <p:spPr bwMode="auto">
          <a:xfrm>
            <a:off x="1834209" y="2571744"/>
            <a:ext cx="550305"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Good</a:t>
            </a:r>
            <a:endParaRPr lang="ko-KR" altLang="en-US" sz="1200" dirty="0">
              <a:latin typeface="맑은 고딕" pitchFamily="50" charset="-127"/>
              <a:ea typeface="맑은 고딕" pitchFamily="50" charset="-127"/>
            </a:endParaRPr>
          </a:p>
        </p:txBody>
      </p:sp>
      <p:sp>
        <p:nvSpPr>
          <p:cNvPr id="76" name="Text Box 19"/>
          <p:cNvSpPr txBox="1">
            <a:spLocks noChangeArrowheads="1"/>
          </p:cNvSpPr>
          <p:nvPr/>
        </p:nvSpPr>
        <p:spPr bwMode="auto">
          <a:xfrm>
            <a:off x="2905658" y="2663826"/>
            <a:ext cx="629612"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Defect</a:t>
            </a:r>
            <a:endParaRPr lang="ko-KR" altLang="en-US" sz="1200" dirty="0">
              <a:latin typeface="맑은 고딕" pitchFamily="50" charset="-127"/>
              <a:ea typeface="맑은 고딕" pitchFamily="50" charset="-127"/>
            </a:endParaRPr>
          </a:p>
        </p:txBody>
      </p:sp>
      <p:sp>
        <p:nvSpPr>
          <p:cNvPr id="77" name="Text Box 20"/>
          <p:cNvSpPr txBox="1">
            <a:spLocks noChangeArrowheads="1"/>
          </p:cNvSpPr>
          <p:nvPr/>
        </p:nvSpPr>
        <p:spPr bwMode="auto">
          <a:xfrm>
            <a:off x="6470275" y="1900238"/>
            <a:ext cx="1315913"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Attribute data</a:t>
            </a:r>
            <a:endParaRPr lang="ko-KR" altLang="en-US" sz="1200" dirty="0">
              <a:latin typeface="맑은 고딕" pitchFamily="50" charset="-127"/>
              <a:ea typeface="맑은 고딕" pitchFamily="50" charset="-127"/>
            </a:endParaRPr>
          </a:p>
        </p:txBody>
      </p:sp>
      <p:cxnSp>
        <p:nvCxnSpPr>
          <p:cNvPr id="78" name="AutoShape 21"/>
          <p:cNvCxnSpPr>
            <a:cxnSpLocks noChangeShapeType="1"/>
            <a:stCxn id="68" idx="3"/>
          </p:cNvCxnSpPr>
          <p:nvPr/>
        </p:nvCxnSpPr>
        <p:spPr bwMode="auto">
          <a:xfrm flipV="1">
            <a:off x="4250547" y="2565400"/>
            <a:ext cx="253746" cy="0"/>
          </a:xfrm>
          <a:prstGeom prst="bentConnector3">
            <a:avLst>
              <a:gd name="adj1" fmla="val 50000"/>
            </a:avLst>
          </a:prstGeom>
          <a:noFill/>
          <a:ln w="9525">
            <a:solidFill>
              <a:srgbClr val="0000FF"/>
            </a:solidFill>
            <a:miter lim="800000"/>
            <a:headEnd/>
            <a:tailEnd type="triangle" w="med" len="med"/>
          </a:ln>
        </p:spPr>
      </p:cxnSp>
      <p:cxnSp>
        <p:nvCxnSpPr>
          <p:cNvPr id="79" name="AutoShape 22"/>
          <p:cNvCxnSpPr>
            <a:cxnSpLocks noChangeShapeType="1"/>
            <a:endCxn id="69" idx="1"/>
          </p:cNvCxnSpPr>
          <p:nvPr/>
        </p:nvCxnSpPr>
        <p:spPr bwMode="auto">
          <a:xfrm>
            <a:off x="5780654" y="2565400"/>
            <a:ext cx="234667" cy="0"/>
          </a:xfrm>
          <a:prstGeom prst="bentConnector3">
            <a:avLst>
              <a:gd name="adj1" fmla="val 50000"/>
            </a:avLst>
          </a:prstGeom>
          <a:noFill/>
          <a:ln w="9525">
            <a:solidFill>
              <a:srgbClr val="0000FF"/>
            </a:solidFill>
            <a:miter lim="800000"/>
            <a:headEnd/>
            <a:tailEnd type="triangle" w="med" len="med"/>
          </a:ln>
        </p:spPr>
      </p:cxnSp>
      <p:sp>
        <p:nvSpPr>
          <p:cNvPr id="80" name="Line 23"/>
          <p:cNvSpPr>
            <a:spLocks noChangeShapeType="1"/>
          </p:cNvSpPr>
          <p:nvPr/>
        </p:nvSpPr>
        <p:spPr bwMode="auto">
          <a:xfrm>
            <a:off x="6274792" y="2924175"/>
            <a:ext cx="1644580" cy="0"/>
          </a:xfrm>
          <a:prstGeom prst="line">
            <a:avLst/>
          </a:prstGeom>
          <a:noFill/>
          <a:ln w="9525">
            <a:solidFill>
              <a:srgbClr val="0000FF"/>
            </a:solidFill>
            <a:round/>
            <a:headEnd/>
            <a:tailEnd/>
          </a:ln>
        </p:spPr>
        <p:txBody>
          <a:bodyPr anchor="ctr"/>
          <a:lstStyle/>
          <a:p>
            <a:endParaRPr lang="ko-KR" altLang="en-US" dirty="0"/>
          </a:p>
        </p:txBody>
      </p:sp>
      <p:sp>
        <p:nvSpPr>
          <p:cNvPr id="81" name="Line 24"/>
          <p:cNvSpPr>
            <a:spLocks noChangeShapeType="1"/>
          </p:cNvSpPr>
          <p:nvPr/>
        </p:nvSpPr>
        <p:spPr bwMode="auto">
          <a:xfrm>
            <a:off x="6622023" y="2852739"/>
            <a:ext cx="0" cy="142875"/>
          </a:xfrm>
          <a:prstGeom prst="line">
            <a:avLst/>
          </a:prstGeom>
          <a:noFill/>
          <a:ln w="9525">
            <a:solidFill>
              <a:srgbClr val="0000FF"/>
            </a:solidFill>
            <a:round/>
            <a:headEnd/>
            <a:tailEnd/>
          </a:ln>
        </p:spPr>
        <p:txBody>
          <a:bodyPr anchor="ctr"/>
          <a:lstStyle/>
          <a:p>
            <a:endParaRPr lang="ko-KR" altLang="en-US" dirty="0"/>
          </a:p>
        </p:txBody>
      </p:sp>
      <p:sp>
        <p:nvSpPr>
          <p:cNvPr id="82" name="Line 25"/>
          <p:cNvSpPr>
            <a:spLocks noChangeShapeType="1"/>
          </p:cNvSpPr>
          <p:nvPr/>
        </p:nvSpPr>
        <p:spPr bwMode="auto">
          <a:xfrm>
            <a:off x="7480562" y="2852739"/>
            <a:ext cx="0" cy="142875"/>
          </a:xfrm>
          <a:prstGeom prst="line">
            <a:avLst/>
          </a:prstGeom>
          <a:noFill/>
          <a:ln w="9525">
            <a:solidFill>
              <a:srgbClr val="0000FF"/>
            </a:solidFill>
            <a:round/>
            <a:headEnd/>
            <a:tailEnd/>
          </a:ln>
        </p:spPr>
        <p:txBody>
          <a:bodyPr anchor="ctr"/>
          <a:lstStyle/>
          <a:p>
            <a:endParaRPr lang="ko-KR" altLang="en-US" dirty="0"/>
          </a:p>
        </p:txBody>
      </p:sp>
      <p:sp>
        <p:nvSpPr>
          <p:cNvPr id="83" name="Text Box 26"/>
          <p:cNvSpPr txBox="1">
            <a:spLocks noChangeArrowheads="1"/>
          </p:cNvSpPr>
          <p:nvPr/>
        </p:nvSpPr>
        <p:spPr bwMode="auto">
          <a:xfrm>
            <a:off x="1159129" y="2951163"/>
            <a:ext cx="422996"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80.0</a:t>
            </a:r>
          </a:p>
        </p:txBody>
      </p:sp>
      <p:sp>
        <p:nvSpPr>
          <p:cNvPr id="84" name="Text Box 27"/>
          <p:cNvSpPr txBox="1">
            <a:spLocks noChangeArrowheads="1"/>
          </p:cNvSpPr>
          <p:nvPr/>
        </p:nvSpPr>
        <p:spPr bwMode="auto">
          <a:xfrm>
            <a:off x="2438374" y="2951163"/>
            <a:ext cx="533609"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120.0</a:t>
            </a:r>
          </a:p>
        </p:txBody>
      </p:sp>
      <p:pic>
        <p:nvPicPr>
          <p:cNvPr id="85" name="Picture 28"/>
          <p:cNvPicPr>
            <a:picLocks noChangeAspect="1" noChangeArrowheads="1"/>
          </p:cNvPicPr>
          <p:nvPr/>
        </p:nvPicPr>
        <p:blipFill>
          <a:blip r:embed="rId3" cstate="print"/>
          <a:srcRect/>
          <a:stretch>
            <a:fillRect/>
          </a:stretch>
        </p:blipFill>
        <p:spPr bwMode="auto">
          <a:xfrm>
            <a:off x="4504293" y="1857375"/>
            <a:ext cx="1276362" cy="1416050"/>
          </a:xfrm>
          <a:prstGeom prst="rect">
            <a:avLst/>
          </a:prstGeom>
          <a:noFill/>
          <a:ln w="9525" algn="ctr">
            <a:solidFill>
              <a:srgbClr val="FF0000"/>
            </a:solidFill>
            <a:miter lim="800000"/>
            <a:headEnd/>
            <a:tailEnd/>
          </a:ln>
        </p:spPr>
      </p:pic>
      <p:sp>
        <p:nvSpPr>
          <p:cNvPr id="86" name="Text Box 29"/>
          <p:cNvSpPr txBox="1">
            <a:spLocks noChangeArrowheads="1"/>
          </p:cNvSpPr>
          <p:nvPr/>
        </p:nvSpPr>
        <p:spPr bwMode="auto">
          <a:xfrm>
            <a:off x="6143636" y="3000372"/>
            <a:ext cx="895561" cy="405683"/>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Acceptance </a:t>
            </a:r>
          </a:p>
          <a:p>
            <a:pPr algn="ctr"/>
            <a:r>
              <a:rPr lang="en-US" altLang="ko-KR" sz="1200" dirty="0">
                <a:latin typeface="맑은 고딕" pitchFamily="50" charset="-127"/>
                <a:ea typeface="맑은 고딕" pitchFamily="50" charset="-127"/>
              </a:rPr>
              <a:t>product	</a:t>
            </a:r>
            <a:endParaRPr lang="ko-KR" altLang="en-US" sz="1200" dirty="0">
              <a:latin typeface="맑은 고딕" pitchFamily="50" charset="-127"/>
              <a:ea typeface="맑은 고딕" pitchFamily="50" charset="-127"/>
            </a:endParaRPr>
          </a:p>
        </p:txBody>
      </p:sp>
      <p:sp>
        <p:nvSpPr>
          <p:cNvPr id="87" name="Text Box 30"/>
          <p:cNvSpPr txBox="1">
            <a:spLocks noChangeArrowheads="1"/>
          </p:cNvSpPr>
          <p:nvPr/>
        </p:nvSpPr>
        <p:spPr bwMode="auto">
          <a:xfrm>
            <a:off x="7089590" y="2995613"/>
            <a:ext cx="1278743"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Defective product</a:t>
            </a:r>
            <a:endParaRPr lang="ko-KR" altLang="en-US" sz="1200" dirty="0">
              <a:latin typeface="맑은 고딕" pitchFamily="50" charset="-127"/>
              <a:ea typeface="맑은 고딕" pitchFamily="50" charset="-127"/>
            </a:endParaRPr>
          </a:p>
        </p:txBody>
      </p:sp>
      <p:sp>
        <p:nvSpPr>
          <p:cNvPr id="88" name="Oval 31"/>
          <p:cNvSpPr>
            <a:spLocks noChangeArrowheads="1"/>
          </p:cNvSpPr>
          <p:nvPr/>
        </p:nvSpPr>
        <p:spPr bwMode="auto">
          <a:xfrm>
            <a:off x="6574327" y="2759075"/>
            <a:ext cx="87762"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89" name="Oval 32"/>
          <p:cNvSpPr>
            <a:spLocks noChangeArrowheads="1"/>
          </p:cNvSpPr>
          <p:nvPr/>
        </p:nvSpPr>
        <p:spPr bwMode="auto">
          <a:xfrm>
            <a:off x="6574327" y="2657475"/>
            <a:ext cx="87762"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0" name="Oval 33"/>
          <p:cNvSpPr>
            <a:spLocks noChangeArrowheads="1"/>
          </p:cNvSpPr>
          <p:nvPr/>
        </p:nvSpPr>
        <p:spPr bwMode="auto">
          <a:xfrm>
            <a:off x="6574327" y="2557464"/>
            <a:ext cx="87762"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1" name="Oval 34"/>
          <p:cNvSpPr>
            <a:spLocks noChangeArrowheads="1"/>
          </p:cNvSpPr>
          <p:nvPr/>
        </p:nvSpPr>
        <p:spPr bwMode="auto">
          <a:xfrm>
            <a:off x="6581958" y="2455864"/>
            <a:ext cx="87762"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2" name="Oval 35"/>
          <p:cNvSpPr>
            <a:spLocks noChangeArrowheads="1"/>
          </p:cNvSpPr>
          <p:nvPr/>
        </p:nvSpPr>
        <p:spPr bwMode="auto">
          <a:xfrm>
            <a:off x="6581958" y="2355850"/>
            <a:ext cx="87762"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3" name="Oval 36"/>
          <p:cNvSpPr>
            <a:spLocks noChangeArrowheads="1"/>
          </p:cNvSpPr>
          <p:nvPr/>
        </p:nvSpPr>
        <p:spPr bwMode="auto">
          <a:xfrm>
            <a:off x="6581958" y="2254250"/>
            <a:ext cx="87762"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4" name="Oval 37"/>
          <p:cNvSpPr>
            <a:spLocks noChangeArrowheads="1"/>
          </p:cNvSpPr>
          <p:nvPr/>
        </p:nvSpPr>
        <p:spPr bwMode="auto">
          <a:xfrm>
            <a:off x="7432866" y="2757489"/>
            <a:ext cx="87762"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5" name="Oval 38"/>
          <p:cNvSpPr>
            <a:spLocks noChangeArrowheads="1"/>
          </p:cNvSpPr>
          <p:nvPr/>
        </p:nvSpPr>
        <p:spPr bwMode="auto">
          <a:xfrm>
            <a:off x="7432866" y="2654300"/>
            <a:ext cx="87762"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6" name="Oval 39"/>
          <p:cNvSpPr>
            <a:spLocks noChangeArrowheads="1"/>
          </p:cNvSpPr>
          <p:nvPr/>
        </p:nvSpPr>
        <p:spPr bwMode="auto">
          <a:xfrm>
            <a:off x="7432866" y="2552700"/>
            <a:ext cx="87762"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7" name="Oval 40"/>
          <p:cNvSpPr>
            <a:spLocks noChangeArrowheads="1"/>
          </p:cNvSpPr>
          <p:nvPr/>
        </p:nvSpPr>
        <p:spPr bwMode="auto">
          <a:xfrm>
            <a:off x="6581958" y="2154239"/>
            <a:ext cx="87762"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8" name="Rectangle 42"/>
          <p:cNvSpPr>
            <a:spLocks noChangeArrowheads="1"/>
          </p:cNvSpPr>
          <p:nvPr/>
        </p:nvSpPr>
        <p:spPr bwMode="auto">
          <a:xfrm>
            <a:off x="648617" y="4999039"/>
            <a:ext cx="2588104" cy="288925"/>
          </a:xfrm>
          <a:prstGeom prst="rect">
            <a:avLst/>
          </a:prstGeom>
          <a:solidFill>
            <a:srgbClr val="0000FF"/>
          </a:solidFill>
          <a:ln w="9525" algn="ctr">
            <a:solidFill>
              <a:schemeClr val="tx1"/>
            </a:solidFill>
            <a:miter lim="800000"/>
            <a:headEnd/>
            <a:tailEnd/>
          </a:ln>
        </p:spPr>
        <p:txBody>
          <a:bodyPr wrap="none" anchor="ctr"/>
          <a:lstStyle/>
          <a:p>
            <a:pPr algn="ctr"/>
            <a:r>
              <a:rPr lang="en-US" altLang="ko-KR" sz="1200" dirty="0">
                <a:solidFill>
                  <a:schemeClr val="bg1"/>
                </a:solidFill>
                <a:latin typeface="맑은 고딕" pitchFamily="50" charset="-127"/>
                <a:ea typeface="맑은 고딕" pitchFamily="50" charset="-127"/>
              </a:rPr>
              <a:t>Good product</a:t>
            </a:r>
            <a:endParaRPr lang="ko-KR" altLang="en-US" sz="1200" dirty="0">
              <a:solidFill>
                <a:schemeClr val="bg1"/>
              </a:solidFill>
              <a:latin typeface="맑은 고딕" pitchFamily="50" charset="-127"/>
              <a:ea typeface="맑은 고딕" pitchFamily="50" charset="-127"/>
            </a:endParaRPr>
          </a:p>
        </p:txBody>
      </p:sp>
      <p:sp>
        <p:nvSpPr>
          <p:cNvPr id="99" name="Rectangle 43"/>
          <p:cNvSpPr>
            <a:spLocks noChangeArrowheads="1"/>
          </p:cNvSpPr>
          <p:nvPr/>
        </p:nvSpPr>
        <p:spPr bwMode="auto">
          <a:xfrm>
            <a:off x="3214678" y="4999039"/>
            <a:ext cx="1423887" cy="288925"/>
          </a:xfrm>
          <a:prstGeom prst="rect">
            <a:avLst/>
          </a:prstGeom>
          <a:solidFill>
            <a:schemeClr val="hlink"/>
          </a:solidFill>
          <a:ln w="9525" algn="ctr">
            <a:solidFill>
              <a:schemeClr val="tx1"/>
            </a:solidFill>
            <a:miter lim="800000"/>
            <a:headEnd/>
            <a:tailEnd/>
          </a:ln>
        </p:spPr>
        <p:txBody>
          <a:bodyPr wrap="none" anchor="ctr"/>
          <a:lstStyle/>
          <a:p>
            <a:pPr algn="ctr"/>
            <a:r>
              <a:rPr lang="en-US" altLang="ko-KR" sz="1000" dirty="0">
                <a:solidFill>
                  <a:schemeClr val="bg1"/>
                </a:solidFill>
                <a:latin typeface="맑은 고딕" pitchFamily="50" charset="-127"/>
                <a:ea typeface="맑은 고딕" pitchFamily="50" charset="-127"/>
              </a:rPr>
              <a:t>Ambiguous</a:t>
            </a:r>
            <a:r>
              <a:rPr lang="ko-KR" altLang="en-US" sz="1000" dirty="0">
                <a:solidFill>
                  <a:schemeClr val="bg1"/>
                </a:solidFill>
                <a:latin typeface="맑은 고딕" pitchFamily="50" charset="-127"/>
                <a:ea typeface="맑은 고딕" pitchFamily="50" charset="-127"/>
              </a:rPr>
              <a:t> </a:t>
            </a:r>
            <a:r>
              <a:rPr lang="en-US" altLang="ko-KR" sz="1000" dirty="0">
                <a:solidFill>
                  <a:schemeClr val="bg1"/>
                </a:solidFill>
                <a:latin typeface="맑은 고딕" pitchFamily="50" charset="-127"/>
                <a:ea typeface="맑은 고딕" pitchFamily="50" charset="-127"/>
              </a:rPr>
              <a:t>good product</a:t>
            </a:r>
            <a:endParaRPr lang="ko-KR" altLang="en-US" sz="1000" dirty="0">
              <a:solidFill>
                <a:schemeClr val="bg1"/>
              </a:solidFill>
              <a:latin typeface="맑은 고딕" pitchFamily="50" charset="-127"/>
              <a:ea typeface="맑은 고딕" pitchFamily="50" charset="-127"/>
            </a:endParaRPr>
          </a:p>
        </p:txBody>
      </p:sp>
      <p:sp>
        <p:nvSpPr>
          <p:cNvPr id="100" name="Rectangle 44"/>
          <p:cNvSpPr>
            <a:spLocks noChangeArrowheads="1"/>
          </p:cNvSpPr>
          <p:nvPr/>
        </p:nvSpPr>
        <p:spPr bwMode="auto">
          <a:xfrm>
            <a:off x="6210049" y="4999039"/>
            <a:ext cx="2456847" cy="288925"/>
          </a:xfrm>
          <a:prstGeom prst="rect">
            <a:avLst/>
          </a:prstGeom>
          <a:solidFill>
            <a:srgbClr val="FF0000"/>
          </a:solidFill>
          <a:ln w="9525" algn="ctr">
            <a:solidFill>
              <a:schemeClr val="tx1"/>
            </a:solidFill>
            <a:miter lim="800000"/>
            <a:headEnd/>
            <a:tailEnd/>
          </a:ln>
        </p:spPr>
        <p:txBody>
          <a:bodyPr wrap="none" anchor="ctr"/>
          <a:lstStyle/>
          <a:p>
            <a:pPr algn="ctr"/>
            <a:r>
              <a:rPr lang="en-US" altLang="ko-KR" sz="1200" dirty="0">
                <a:solidFill>
                  <a:schemeClr val="bg1"/>
                </a:solidFill>
                <a:latin typeface="맑은 고딕" pitchFamily="50" charset="-127"/>
                <a:ea typeface="맑은 고딕" pitchFamily="50" charset="-127"/>
              </a:rPr>
              <a:t>Defective item</a:t>
            </a:r>
            <a:endParaRPr lang="ko-KR" altLang="en-US" sz="1200" dirty="0">
              <a:solidFill>
                <a:schemeClr val="bg1"/>
              </a:solidFill>
              <a:latin typeface="맑은 고딕" pitchFamily="50" charset="-127"/>
              <a:ea typeface="맑은 고딕" pitchFamily="50" charset="-127"/>
            </a:endParaRPr>
          </a:p>
        </p:txBody>
      </p:sp>
      <p:sp>
        <p:nvSpPr>
          <p:cNvPr id="101" name="Rectangle 45"/>
          <p:cNvSpPr>
            <a:spLocks noChangeArrowheads="1"/>
          </p:cNvSpPr>
          <p:nvPr/>
        </p:nvSpPr>
        <p:spPr bwMode="auto">
          <a:xfrm>
            <a:off x="4660611" y="4999039"/>
            <a:ext cx="1552293" cy="288925"/>
          </a:xfrm>
          <a:prstGeom prst="rect">
            <a:avLst/>
          </a:prstGeom>
          <a:solidFill>
            <a:srgbClr val="FFCCFF"/>
          </a:solidFill>
          <a:ln w="9525" algn="ctr">
            <a:solidFill>
              <a:schemeClr val="tx1"/>
            </a:solidFill>
            <a:miter lim="800000"/>
            <a:headEnd/>
            <a:tailEnd/>
          </a:ln>
        </p:spPr>
        <p:txBody>
          <a:bodyPr wrap="none" anchor="ctr"/>
          <a:lstStyle/>
          <a:p>
            <a:pPr algn="ctr"/>
            <a:r>
              <a:rPr lang="en-US" altLang="ko-KR" sz="1000" dirty="0">
                <a:latin typeface="맑은 고딕" pitchFamily="50" charset="-127"/>
                <a:ea typeface="맑은 고딕" pitchFamily="50" charset="-127"/>
              </a:rPr>
              <a:t>Ambiguous</a:t>
            </a: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Defective item</a:t>
            </a:r>
            <a:endParaRPr lang="ko-KR" altLang="en-US" sz="1000" dirty="0">
              <a:latin typeface="맑은 고딕" pitchFamily="50" charset="-127"/>
              <a:ea typeface="맑은 고딕" pitchFamily="50" charset="-127"/>
            </a:endParaRPr>
          </a:p>
        </p:txBody>
      </p:sp>
      <p:sp>
        <p:nvSpPr>
          <p:cNvPr id="102" name="Line 46"/>
          <p:cNvSpPr>
            <a:spLocks noChangeShapeType="1"/>
          </p:cNvSpPr>
          <p:nvPr/>
        </p:nvSpPr>
        <p:spPr bwMode="auto">
          <a:xfrm flipV="1">
            <a:off x="657175" y="4835525"/>
            <a:ext cx="3963485" cy="1588"/>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3" name="Line 47"/>
          <p:cNvSpPr>
            <a:spLocks noChangeShapeType="1"/>
          </p:cNvSpPr>
          <p:nvPr/>
        </p:nvSpPr>
        <p:spPr bwMode="auto">
          <a:xfrm flipV="1">
            <a:off x="4669170" y="4827589"/>
            <a:ext cx="4000578" cy="3175"/>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4" name="Text Box 48"/>
          <p:cNvSpPr txBox="1">
            <a:spLocks noChangeArrowheads="1"/>
          </p:cNvSpPr>
          <p:nvPr/>
        </p:nvSpPr>
        <p:spPr bwMode="auto">
          <a:xfrm>
            <a:off x="1941244" y="4691064"/>
            <a:ext cx="1295480" cy="274637"/>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1/2</a:t>
            </a:r>
          </a:p>
        </p:txBody>
      </p:sp>
      <p:sp>
        <p:nvSpPr>
          <p:cNvPr id="105" name="Text Box 49"/>
          <p:cNvSpPr txBox="1">
            <a:spLocks noChangeArrowheads="1"/>
          </p:cNvSpPr>
          <p:nvPr/>
        </p:nvSpPr>
        <p:spPr bwMode="auto">
          <a:xfrm>
            <a:off x="5953236" y="4686300"/>
            <a:ext cx="1295480" cy="274638"/>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1/2</a:t>
            </a:r>
          </a:p>
        </p:txBody>
      </p:sp>
      <p:sp>
        <p:nvSpPr>
          <p:cNvPr id="106" name="Line 50"/>
          <p:cNvSpPr>
            <a:spLocks noChangeShapeType="1"/>
          </p:cNvSpPr>
          <p:nvPr/>
        </p:nvSpPr>
        <p:spPr bwMode="auto">
          <a:xfrm>
            <a:off x="642910" y="5445125"/>
            <a:ext cx="2610933" cy="0"/>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7" name="Line 51"/>
          <p:cNvSpPr>
            <a:spLocks noChangeShapeType="1"/>
          </p:cNvSpPr>
          <p:nvPr/>
        </p:nvSpPr>
        <p:spPr bwMode="auto">
          <a:xfrm>
            <a:off x="3242431" y="5445125"/>
            <a:ext cx="2961912" cy="1588"/>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8" name="Line 52"/>
          <p:cNvSpPr>
            <a:spLocks noChangeShapeType="1"/>
          </p:cNvSpPr>
          <p:nvPr/>
        </p:nvSpPr>
        <p:spPr bwMode="auto">
          <a:xfrm>
            <a:off x="6210049" y="5440363"/>
            <a:ext cx="2505355" cy="4762"/>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9" name="Text Box 53"/>
          <p:cNvSpPr txBox="1">
            <a:spLocks noChangeArrowheads="1"/>
          </p:cNvSpPr>
          <p:nvPr/>
        </p:nvSpPr>
        <p:spPr bwMode="auto">
          <a:xfrm>
            <a:off x="1293504" y="5303839"/>
            <a:ext cx="1295480" cy="274637"/>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1/3</a:t>
            </a:r>
          </a:p>
        </p:txBody>
      </p:sp>
      <p:sp>
        <p:nvSpPr>
          <p:cNvPr id="110" name="Text Box 54"/>
          <p:cNvSpPr txBox="1">
            <a:spLocks noChangeArrowheads="1"/>
          </p:cNvSpPr>
          <p:nvPr/>
        </p:nvSpPr>
        <p:spPr bwMode="auto">
          <a:xfrm>
            <a:off x="3992896" y="5299075"/>
            <a:ext cx="1295480" cy="274638"/>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1/3</a:t>
            </a:r>
          </a:p>
        </p:txBody>
      </p:sp>
      <p:sp>
        <p:nvSpPr>
          <p:cNvPr id="111" name="Text Box 55"/>
          <p:cNvSpPr txBox="1">
            <a:spLocks noChangeArrowheads="1"/>
          </p:cNvSpPr>
          <p:nvPr/>
        </p:nvSpPr>
        <p:spPr bwMode="auto">
          <a:xfrm>
            <a:off x="6709409" y="5302250"/>
            <a:ext cx="1295480" cy="274638"/>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1/3</a:t>
            </a:r>
          </a:p>
        </p:txBody>
      </p:sp>
      <p:sp>
        <p:nvSpPr>
          <p:cNvPr id="112" name="Line 60"/>
          <p:cNvSpPr>
            <a:spLocks noChangeShapeType="1"/>
          </p:cNvSpPr>
          <p:nvPr/>
        </p:nvSpPr>
        <p:spPr bwMode="auto">
          <a:xfrm>
            <a:off x="4660611" y="4649789"/>
            <a:ext cx="0" cy="352425"/>
          </a:xfrm>
          <a:prstGeom prst="line">
            <a:avLst/>
          </a:prstGeom>
          <a:noFill/>
          <a:ln w="12700">
            <a:solidFill>
              <a:srgbClr val="0000FF"/>
            </a:solidFill>
            <a:prstDash val="dash"/>
            <a:round/>
            <a:headEnd/>
            <a:tailEnd/>
          </a:ln>
        </p:spPr>
        <p:txBody>
          <a:bodyPr/>
          <a:lstStyle/>
          <a:p>
            <a:endParaRPr lang="ko-KR" altLang="en-US" dirty="0"/>
          </a:p>
        </p:txBody>
      </p:sp>
      <p:sp>
        <p:nvSpPr>
          <p:cNvPr id="113" name="Line 61"/>
          <p:cNvSpPr>
            <a:spLocks noChangeShapeType="1"/>
          </p:cNvSpPr>
          <p:nvPr/>
        </p:nvSpPr>
        <p:spPr bwMode="auto">
          <a:xfrm>
            <a:off x="3402757" y="5291139"/>
            <a:ext cx="0" cy="352425"/>
          </a:xfrm>
          <a:prstGeom prst="line">
            <a:avLst/>
          </a:prstGeom>
          <a:noFill/>
          <a:ln w="12700">
            <a:solidFill>
              <a:srgbClr val="0000FF"/>
            </a:solidFill>
            <a:prstDash val="dash"/>
            <a:round/>
            <a:headEnd/>
            <a:tailEnd/>
          </a:ln>
        </p:spPr>
        <p:txBody>
          <a:bodyPr/>
          <a:lstStyle/>
          <a:p>
            <a:endParaRPr lang="ko-KR" altLang="en-US" dirty="0"/>
          </a:p>
        </p:txBody>
      </p:sp>
      <p:sp>
        <p:nvSpPr>
          <p:cNvPr id="114" name="Line 62"/>
          <p:cNvSpPr>
            <a:spLocks noChangeShapeType="1"/>
          </p:cNvSpPr>
          <p:nvPr/>
        </p:nvSpPr>
        <p:spPr bwMode="auto">
          <a:xfrm>
            <a:off x="5386012" y="5240339"/>
            <a:ext cx="0" cy="352425"/>
          </a:xfrm>
          <a:prstGeom prst="line">
            <a:avLst/>
          </a:prstGeom>
          <a:noFill/>
          <a:ln w="12700">
            <a:solidFill>
              <a:srgbClr val="0000FF"/>
            </a:solidFill>
            <a:prstDash val="dash"/>
            <a:round/>
            <a:headEnd/>
            <a:tailEnd/>
          </a:ln>
        </p:spPr>
        <p:txBody>
          <a:bodyPr/>
          <a:lstStyle/>
          <a:p>
            <a:endParaRPr lang="ko-KR" altLang="en-US" dirty="0"/>
          </a:p>
        </p:txBody>
      </p:sp>
      <p:sp>
        <p:nvSpPr>
          <p:cNvPr id="121" name="Rectangle 7"/>
          <p:cNvSpPr>
            <a:spLocks noChangeArrowheads="1"/>
          </p:cNvSpPr>
          <p:nvPr/>
        </p:nvSpPr>
        <p:spPr bwMode="auto">
          <a:xfrm>
            <a:off x="615462" y="5680075"/>
            <a:ext cx="8099942" cy="996614"/>
          </a:xfrm>
          <a:prstGeom prst="rect">
            <a:avLst/>
          </a:prstGeom>
          <a:noFill/>
          <a:ln w="9525">
            <a:noFill/>
            <a:miter lim="800000"/>
            <a:headEnd/>
            <a:tailEnd/>
          </a:ln>
        </p:spPr>
        <p:txBody>
          <a:bodyPr wrap="square" lIns="18000" tIns="18000" rIns="18000" bIns="18000">
            <a:spAutoFit/>
          </a:bodyPr>
          <a:lstStyle/>
          <a:p>
            <a:pPr defTabSz="1189038">
              <a:lnSpc>
                <a:spcPct val="130000"/>
              </a:lnSpc>
              <a:buFontTx/>
              <a:buChar char="•"/>
            </a:pPr>
            <a:r>
              <a:rPr lang="en-US" altLang="ko-KR" sz="1200" dirty="0">
                <a:latin typeface="맑은 고딕" pitchFamily="50" charset="-127"/>
                <a:ea typeface="맑은 고딕" pitchFamily="50" charset="-127"/>
              </a:rPr>
              <a:t> Categorical</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Gage R&amp;R criteria</a:t>
            </a:r>
          </a:p>
          <a:p>
            <a:pPr defTabSz="1189038">
              <a:lnSpc>
                <a:spcPct val="130000"/>
              </a:lnSpc>
            </a:pPr>
            <a:r>
              <a:rPr lang="en-US" altLang="ko-KR" sz="1200" dirty="0">
                <a:latin typeface="맑은 고딕" pitchFamily="50" charset="-127"/>
                <a:ea typeface="맑은 고딕" pitchFamily="50" charset="-127"/>
              </a:rPr>
              <a:t>  : Since the verification of the categorical measurement scale with limited measurement capability, the match   </a:t>
            </a:r>
          </a:p>
          <a:p>
            <a:pPr defTabSz="1189038">
              <a:lnSpc>
                <a:spcPct val="130000"/>
              </a:lnSpc>
            </a:pPr>
            <a:r>
              <a:rPr lang="en-US" altLang="ko-KR" sz="1200" dirty="0">
                <a:latin typeface="맑은 고딕" pitchFamily="50" charset="-127"/>
                <a:ea typeface="맑은 고딕" pitchFamily="50" charset="-127"/>
              </a:rPr>
              <a:t>    target is always 100%.</a:t>
            </a:r>
          </a:p>
          <a:p>
            <a:pPr defTabSz="1189038">
              <a:lnSpc>
                <a:spcPct val="130000"/>
              </a:lnSpc>
            </a:pPr>
            <a:r>
              <a:rPr lang="en-US" altLang="ko-KR" sz="1200" dirty="0">
                <a:latin typeface="맑은 고딕" pitchFamily="50" charset="-127"/>
                <a:ea typeface="맑은 고딕" pitchFamily="50" charset="-127"/>
              </a:rPr>
              <a:t>    In reality, 90% or more is acceptable..</a:t>
            </a:r>
            <a:endParaRPr lang="ko-KR" altLang="en-US" sz="1200" dirty="0">
              <a:latin typeface="맑은 고딕" pitchFamily="50" charset="-127"/>
              <a:ea typeface="맑은 고딕" pitchFamily="50" charset="-127"/>
            </a:endParaRP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145</a:t>
            </a:fld>
            <a:endParaRPr lang="ko-KR" altLang="en-US" dirty="0"/>
          </a:p>
        </p:txBody>
      </p:sp>
    </p:spTree>
    <p:extLst>
      <p:ext uri="{BB962C8B-B14F-4D97-AF65-F5344CB8AC3E}">
        <p14:creationId xmlns:p14="http://schemas.microsoft.com/office/powerpoint/2010/main" val="2437770438"/>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87624" y="1268760"/>
            <a:ext cx="6707088" cy="4471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lang="en-US" altLang="ko-KR" sz="1400" b="1" kern="0" dirty="0">
                <a:solidFill>
                  <a:sysClr val="windowText" lastClr="000000"/>
                </a:solidFill>
                <a:latin typeface="맑은 고딕" pitchFamily="50" charset="-127"/>
                <a:ea typeface="맑은 고딕" pitchFamily="50" charset="-127"/>
              </a:rPr>
              <a:t>Gage </a:t>
            </a:r>
            <a:r>
              <a:rPr lang="en-US" altLang="ko-KR" sz="1400" b="1" kern="0" dirty="0" err="1">
                <a:solidFill>
                  <a:sysClr val="windowText" lastClr="000000"/>
                </a:solidFill>
                <a:latin typeface="맑은 고딕" pitchFamily="50" charset="-127"/>
                <a:ea typeface="맑은 고딕" pitchFamily="50" charset="-127"/>
              </a:rPr>
              <a:t>nghiên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cứu</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tính</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ổn</a:t>
            </a:r>
            <a:r>
              <a:rPr lang="en-US" altLang="ko-KR" sz="1400" b="1" kern="0" dirty="0">
                <a:solidFill>
                  <a:sysClr val="windowText" lastClr="000000"/>
                </a:solidFill>
                <a:latin typeface="맑은 고딕" pitchFamily="50" charset="-127"/>
                <a:ea typeface="맑은 고딕" pitchFamily="50" charset="-127"/>
              </a:rPr>
              <a:t> </a:t>
            </a:r>
            <a:r>
              <a:rPr lang="en-US" altLang="ko-KR" sz="1400" b="1" kern="0" dirty="0" err="1">
                <a:solidFill>
                  <a:sysClr val="windowText" lastClr="000000"/>
                </a:solidFill>
                <a:latin typeface="맑은 고딕" pitchFamily="50" charset="-127"/>
                <a:ea typeface="맑은 고딕" pitchFamily="50" charset="-127"/>
              </a:rPr>
              <a:t>định</a:t>
            </a:r>
            <a:r>
              <a:rPr lang="ko-KR" altLang="en-US" sz="1400" b="1" kern="0" dirty="0">
                <a:solidFill>
                  <a:sysClr val="windowText" lastClr="000000"/>
                </a:solidFill>
                <a:latin typeface="맑은 고딕" pitchFamily="50" charset="-127"/>
                <a:ea typeface="맑은 고딕" pitchFamily="50" charset="-127"/>
              </a:rPr>
              <a:t> </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4" name="TextBox 3"/>
          <p:cNvSpPr txBox="1"/>
          <p:nvPr/>
        </p:nvSpPr>
        <p:spPr>
          <a:xfrm>
            <a:off x="179512" y="148570"/>
            <a:ext cx="4058612" cy="400110"/>
          </a:xfrm>
          <a:prstGeom prst="rect">
            <a:avLst/>
          </a:prstGeom>
          <a:noFill/>
        </p:spPr>
        <p:txBody>
          <a:bodyPr wrap="none" rtlCol="0">
            <a:spAutoFit/>
          </a:bodyPr>
          <a:lstStyle/>
          <a:p>
            <a:r>
              <a:rPr lang="en-US" altLang="ko-KR" sz="2000" b="1" dirty="0"/>
              <a:t>Type 5 Study </a:t>
            </a:r>
            <a:r>
              <a:rPr lang="en-US" altLang="ko-KR" sz="2000" b="1" dirty="0" err="1"/>
              <a:t>nghiên</a:t>
            </a:r>
            <a:r>
              <a:rPr lang="en-US" altLang="ko-KR" sz="2000" b="1" dirty="0"/>
              <a:t> </a:t>
            </a:r>
            <a:r>
              <a:rPr lang="en-US" altLang="ko-KR" sz="2000" b="1" dirty="0" err="1"/>
              <a:t>cứu</a:t>
            </a:r>
            <a:r>
              <a:rPr lang="en-US" altLang="ko-KR" sz="2000" b="1" dirty="0"/>
              <a:t> </a:t>
            </a:r>
            <a:r>
              <a:rPr lang="en-US" altLang="ko-KR" sz="2000" b="1" dirty="0" err="1"/>
              <a:t>ví</a:t>
            </a:r>
            <a:r>
              <a:rPr lang="en-US" altLang="ko-KR" sz="2000" b="1" dirty="0"/>
              <a:t> </a:t>
            </a:r>
            <a:r>
              <a:rPr lang="en-US" altLang="ko-KR" sz="2000" b="1" dirty="0" err="1"/>
              <a:t>dụ</a:t>
            </a:r>
            <a:r>
              <a:rPr lang="ko-KR" altLang="en-US" sz="2000" b="1" dirty="0"/>
              <a:t> </a:t>
            </a:r>
          </a:p>
        </p:txBody>
      </p:sp>
      <p:sp>
        <p:nvSpPr>
          <p:cNvPr id="2" name="TextBox 1"/>
          <p:cNvSpPr txBox="1"/>
          <p:nvPr/>
        </p:nvSpPr>
        <p:spPr>
          <a:xfrm>
            <a:off x="1047217" y="5877272"/>
            <a:ext cx="6997428" cy="523220"/>
          </a:xfrm>
          <a:prstGeom prst="rect">
            <a:avLst/>
          </a:prstGeom>
          <a:noFill/>
        </p:spPr>
        <p:txBody>
          <a:bodyPr wrap="none" rtlCol="0">
            <a:spAutoFit/>
          </a:bodyPr>
          <a:lstStyle/>
          <a:p>
            <a:r>
              <a:rPr lang="en-US" altLang="ko-KR" sz="1400" b="1" dirty="0" err="1"/>
              <a:t>Đồ</a:t>
            </a:r>
            <a:r>
              <a:rPr lang="en-US" altLang="ko-KR" sz="1400" b="1" dirty="0"/>
              <a:t> </a:t>
            </a:r>
            <a:r>
              <a:rPr lang="en-US" altLang="ko-KR" sz="1400" b="1" dirty="0" err="1"/>
              <a:t>thị</a:t>
            </a:r>
            <a:r>
              <a:rPr lang="en-US" altLang="ko-KR" sz="1400" b="1" dirty="0"/>
              <a:t> </a:t>
            </a:r>
            <a:r>
              <a:rPr lang="en-US" altLang="ko-KR" sz="1400" b="1" dirty="0" err="1"/>
              <a:t>quản</a:t>
            </a:r>
            <a:r>
              <a:rPr lang="en-US" altLang="ko-KR" sz="1400" b="1" dirty="0"/>
              <a:t> </a:t>
            </a:r>
            <a:r>
              <a:rPr lang="en-US" altLang="ko-KR" sz="1400" b="1" dirty="0" err="1"/>
              <a:t>lý</a:t>
            </a:r>
            <a:r>
              <a:rPr lang="en-US" altLang="ko-KR" sz="1400" b="1" dirty="0"/>
              <a:t> </a:t>
            </a:r>
            <a:r>
              <a:rPr lang="en-US" altLang="ko-KR" sz="1400" b="1" dirty="0" err="1"/>
              <a:t>Xbar</a:t>
            </a:r>
            <a:r>
              <a:rPr lang="en-US" altLang="ko-KR" sz="1400" b="1" dirty="0"/>
              <a:t> </a:t>
            </a:r>
            <a:r>
              <a:rPr lang="en-US" altLang="ko-KR" sz="1400" b="1" dirty="0" err="1"/>
              <a:t>và</a:t>
            </a:r>
            <a:r>
              <a:rPr lang="en-US" altLang="ko-KR" sz="1400" b="1" dirty="0"/>
              <a:t> </a:t>
            </a:r>
            <a:r>
              <a:rPr lang="en-US" altLang="ko-KR" sz="1400" b="1" dirty="0" err="1"/>
              <a:t>đồ</a:t>
            </a:r>
            <a:r>
              <a:rPr lang="en-US" altLang="ko-KR" sz="1400" b="1" dirty="0"/>
              <a:t> </a:t>
            </a:r>
            <a:r>
              <a:rPr lang="en-US" altLang="ko-KR" sz="1400" b="1" dirty="0" err="1"/>
              <a:t>thị</a:t>
            </a:r>
            <a:r>
              <a:rPr lang="en-US" altLang="ko-KR" sz="1400" b="1" dirty="0"/>
              <a:t> </a:t>
            </a:r>
            <a:r>
              <a:rPr lang="en-US" altLang="ko-KR" sz="1400" b="1" dirty="0" err="1"/>
              <a:t>quản</a:t>
            </a:r>
            <a:r>
              <a:rPr lang="en-US" altLang="ko-KR" sz="1400" b="1" dirty="0"/>
              <a:t> </a:t>
            </a:r>
            <a:r>
              <a:rPr lang="en-US" altLang="ko-KR" sz="1400" b="1" dirty="0" err="1"/>
              <a:t>lý</a:t>
            </a:r>
            <a:r>
              <a:rPr lang="ko-KR" altLang="en-US" sz="1400" b="1" dirty="0"/>
              <a:t> </a:t>
            </a:r>
            <a:r>
              <a:rPr lang="en-US" altLang="ko-KR" sz="1400" b="1" dirty="0"/>
              <a:t>R </a:t>
            </a:r>
            <a:r>
              <a:rPr lang="en-US" altLang="ko-KR" sz="1400" b="1" dirty="0" err="1"/>
              <a:t>không</a:t>
            </a:r>
            <a:r>
              <a:rPr lang="en-US" altLang="ko-KR" sz="1400" b="1" dirty="0"/>
              <a:t> </a:t>
            </a:r>
            <a:r>
              <a:rPr lang="en-US" altLang="ko-KR" sz="1400" b="1" dirty="0" err="1"/>
              <a:t>phát</a:t>
            </a:r>
            <a:r>
              <a:rPr lang="en-US" altLang="ko-KR" sz="1400" b="1" dirty="0"/>
              <a:t> </a:t>
            </a:r>
            <a:r>
              <a:rPr lang="en-US" altLang="ko-KR" sz="1400" b="1" dirty="0" err="1"/>
              <a:t>hiện</a:t>
            </a:r>
            <a:r>
              <a:rPr lang="en-US" altLang="ko-KR" sz="1400" b="1" dirty="0"/>
              <a:t> </a:t>
            </a:r>
            <a:r>
              <a:rPr lang="en-US" altLang="ko-KR" sz="1400" b="1" dirty="0" err="1"/>
              <a:t>điểm</a:t>
            </a:r>
            <a:r>
              <a:rPr lang="en-US" altLang="ko-KR" sz="1400" b="1" dirty="0"/>
              <a:t> </a:t>
            </a:r>
            <a:r>
              <a:rPr lang="en-US" altLang="ko-KR" sz="1400" b="1" dirty="0" err="1"/>
              <a:t>bất</a:t>
            </a:r>
            <a:r>
              <a:rPr lang="en-US" altLang="ko-KR" sz="1400" b="1" dirty="0"/>
              <a:t> </a:t>
            </a:r>
            <a:r>
              <a:rPr lang="en-US" altLang="ko-KR" sz="1400" b="1" dirty="0" err="1"/>
              <a:t>thường</a:t>
            </a:r>
            <a:r>
              <a:rPr lang="en-US" altLang="ko-KR" sz="1400" b="1" dirty="0"/>
              <a:t> </a:t>
            </a:r>
            <a:r>
              <a:rPr lang="en-US" altLang="ko-KR" sz="1400" b="1" dirty="0" err="1"/>
              <a:t>nào</a:t>
            </a:r>
            <a:endParaRPr lang="en-US" altLang="ko-KR" sz="1400" b="1" dirty="0"/>
          </a:p>
          <a:p>
            <a:r>
              <a:rPr lang="en-US" altLang="ko-KR" sz="1400" b="1" dirty="0" err="1"/>
              <a:t>Vì</a:t>
            </a:r>
            <a:r>
              <a:rPr lang="en-US" altLang="ko-KR" sz="1400" b="1" dirty="0"/>
              <a:t> </a:t>
            </a:r>
            <a:r>
              <a:rPr lang="en-US" altLang="ko-KR" sz="1400" b="1" dirty="0" err="1"/>
              <a:t>vậy</a:t>
            </a:r>
            <a:r>
              <a:rPr lang="en-US" altLang="ko-KR" sz="1400" b="1" dirty="0"/>
              <a:t> </a:t>
            </a:r>
            <a:r>
              <a:rPr lang="en-US" altLang="ko-KR" sz="1400" b="1" dirty="0" err="1"/>
              <a:t>tính</a:t>
            </a:r>
            <a:r>
              <a:rPr lang="en-US" altLang="ko-KR" sz="1400" b="1" dirty="0"/>
              <a:t> </a:t>
            </a:r>
            <a:r>
              <a:rPr lang="en-US" altLang="ko-KR" sz="1400" b="1" dirty="0" err="1"/>
              <a:t>ổn</a:t>
            </a:r>
            <a:r>
              <a:rPr lang="en-US" altLang="ko-KR" sz="1400" b="1" dirty="0"/>
              <a:t> </a:t>
            </a:r>
            <a:r>
              <a:rPr lang="en-US" altLang="ko-KR" sz="1400" b="1" dirty="0" err="1"/>
              <a:t>định</a:t>
            </a:r>
            <a:r>
              <a:rPr lang="en-US" altLang="ko-KR" sz="1400" b="1" dirty="0"/>
              <a:t> </a:t>
            </a:r>
            <a:r>
              <a:rPr lang="en-US" altLang="ko-KR" sz="1400" b="1" dirty="0" err="1"/>
              <a:t>đạt</a:t>
            </a:r>
            <a:r>
              <a:rPr lang="en-US" altLang="ko-KR" sz="1400" b="1" dirty="0"/>
              <a:t> </a:t>
            </a:r>
            <a:r>
              <a:rPr lang="en-US" altLang="ko-KR" sz="1400" b="1" dirty="0" err="1"/>
              <a:t>tiêu</a:t>
            </a:r>
            <a:r>
              <a:rPr lang="en-US" altLang="ko-KR" sz="1400" b="1" dirty="0"/>
              <a:t> </a:t>
            </a:r>
            <a:r>
              <a:rPr lang="en-US" altLang="ko-KR" sz="1400" b="1" dirty="0" err="1"/>
              <a:t>chuẩn</a:t>
            </a:r>
            <a:endParaRPr lang="ko-KR" altLang="en-US" sz="1400" b="1" dirty="0"/>
          </a:p>
        </p:txBody>
      </p:sp>
      <p:sp>
        <p:nvSpPr>
          <p:cNvPr id="6"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146</a:t>
            </a:fld>
            <a:endParaRPr lang="ko-KR" altLang="en-US" dirty="0"/>
          </a:p>
        </p:txBody>
      </p:sp>
    </p:spTree>
    <p:extLst>
      <p:ext uri="{BB962C8B-B14F-4D97-AF65-F5344CB8AC3E}">
        <p14:creationId xmlns:p14="http://schemas.microsoft.com/office/powerpoint/2010/main" val="162820445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Phân</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loại</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Gage R&amp;R</a:t>
            </a:r>
            <a:endParaRPr lang="ko-KR" altLang="en-US" sz="1600" b="1" kern="0" dirty="0">
              <a:solidFill>
                <a:srgbClr val="000000"/>
              </a:solidFill>
              <a:latin typeface="맑은 고딕"/>
              <a:ea typeface="맑은 고딕"/>
            </a:endParaRPr>
          </a:p>
        </p:txBody>
      </p:sp>
      <p:sp>
        <p:nvSpPr>
          <p:cNvPr id="64" name="TextBox 63"/>
          <p:cNvSpPr txBox="1"/>
          <p:nvPr/>
        </p:nvSpPr>
        <p:spPr>
          <a:xfrm>
            <a:off x="395536" y="800242"/>
            <a:ext cx="8568834" cy="735586"/>
          </a:xfrm>
          <a:prstGeom prst="rect">
            <a:avLst/>
          </a:prstGeom>
          <a:noFill/>
        </p:spPr>
        <p:txBody>
          <a:bodyPr wrap="square">
            <a:spAutoFit/>
          </a:bodyPr>
          <a:lstStyle/>
          <a:p>
            <a:pPr latinLnBrk="0">
              <a:lnSpc>
                <a:spcPct val="110000"/>
              </a:lnSpc>
              <a:buClr>
                <a:srgbClr val="595959"/>
              </a:buClr>
              <a:buFont typeface="Wingdings" pitchFamily="2" charset="2"/>
              <a:buChar char="u"/>
              <a:defRPr/>
            </a:pPr>
            <a:r>
              <a:rPr lang="en-US" altLang="ko-KR" sz="1200" b="1" kern="0" dirty="0">
                <a:solidFill>
                  <a:sysClr val="windowText" lastClr="000000"/>
                </a:solidFill>
                <a:latin typeface="맑은 고딕" pitchFamily="50" charset="-127"/>
                <a:ea typeface="맑은 고딕" pitchFamily="50" charset="-127"/>
              </a:rPr>
              <a:t> </a:t>
            </a:r>
            <a:r>
              <a:rPr lang="vi-VN" altLang="ko-KR" sz="1200" b="1" kern="0" dirty="0">
                <a:solidFill>
                  <a:sysClr val="windowText" lastClr="000000"/>
                </a:solidFill>
                <a:latin typeface="맑은 고딕" pitchFamily="50" charset="-127"/>
                <a:ea typeface="맑은 고딕" pitchFamily="50" charset="-127"/>
              </a:rPr>
              <a:t>Hầu hết các trường hợp quy mô đo lường là Nominal </a:t>
            </a:r>
            <a:r>
              <a:rPr lang="en-US" altLang="ko-KR" sz="1200" b="1" kern="0" dirty="0">
                <a:solidFill>
                  <a:sysClr val="windowText" lastClr="000000"/>
                </a:solidFill>
                <a:latin typeface="맑은 고딕" pitchFamily="50" charset="-127"/>
                <a:ea typeface="맑은 고딕" pitchFamily="50" charset="-127"/>
              </a:rPr>
              <a:t>(</a:t>
            </a:r>
            <a:r>
              <a:rPr lang="en-US" altLang="ko-KR" sz="1200" b="1" kern="0" dirty="0" err="1">
                <a:solidFill>
                  <a:sysClr val="windowText" lastClr="000000"/>
                </a:solidFill>
                <a:latin typeface="맑은 고딕" pitchFamily="50" charset="-127"/>
                <a:ea typeface="맑은 고딕" pitchFamily="50" charset="-127"/>
              </a:rPr>
              <a:t>danh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mục</a:t>
            </a:r>
            <a:r>
              <a:rPr lang="en-US" altLang="ko-KR" sz="1200" b="1" kern="0" dirty="0">
                <a:solidFill>
                  <a:sysClr val="windowText" lastClr="000000"/>
                </a:solidFill>
                <a:latin typeface="맑은 고딕" pitchFamily="50" charset="-127"/>
                <a:ea typeface="맑은 고딕" pitchFamily="50" charset="-127"/>
              </a:rPr>
              <a:t>-</a:t>
            </a:r>
            <a:r>
              <a:rPr lang="ko-KR" altLang="en-US" sz="1200" b="1" kern="0" dirty="0">
                <a:solidFill>
                  <a:sysClr val="windowText" lastClr="000000"/>
                </a:solidFill>
                <a:latin typeface="맑은 고딕" pitchFamily="50" charset="-127"/>
                <a:ea typeface="맑은 고딕" pitchFamily="50" charset="-127"/>
              </a:rPr>
              <a:t>양</a:t>
            </a:r>
            <a:r>
              <a:rPr lang="en-US" altLang="ko-KR" sz="1200" b="1" kern="0" dirty="0">
                <a:solidFill>
                  <a:sysClr val="windowText" lastClr="000000"/>
                </a:solidFill>
                <a:latin typeface="맑은 고딕" pitchFamily="50" charset="-127"/>
                <a:ea typeface="맑은 고딕" pitchFamily="50" charset="-127"/>
              </a:rPr>
              <a:t>/</a:t>
            </a:r>
            <a:r>
              <a:rPr lang="ko-KR" altLang="en-US" sz="1200" b="1" kern="0" dirty="0">
                <a:solidFill>
                  <a:sysClr val="windowText" lastClr="000000"/>
                </a:solidFill>
                <a:latin typeface="맑은 고딕" pitchFamily="50" charset="-127"/>
                <a:ea typeface="맑은 고딕" pitchFamily="50" charset="-127"/>
              </a:rPr>
              <a:t>불</a:t>
            </a:r>
            <a:r>
              <a:rPr lang="vi-VN"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được</a:t>
            </a:r>
            <a:r>
              <a:rPr lang="vi-VN" altLang="ko-KR" sz="1200" b="1" kern="0" dirty="0">
                <a:solidFill>
                  <a:sysClr val="windowText" lastClr="000000"/>
                </a:solidFill>
                <a:latin typeface="맑은 고딕" pitchFamily="50" charset="-127"/>
                <a:ea typeface="맑은 고딕" pitchFamily="50" charset="-127"/>
              </a:rPr>
              <a:t> phân biệt</a:t>
            </a:r>
            <a:r>
              <a:rPr lang="en-US" altLang="ko-KR" sz="1200" b="1" kern="0" dirty="0">
                <a:solidFill>
                  <a:sysClr val="windowText" lastClr="000000"/>
                </a:solidFill>
                <a:latin typeface="맑은 고딕" pitchFamily="50" charset="-127"/>
                <a:ea typeface="맑은 고딕" pitchFamily="50" charset="-127"/>
              </a:rPr>
              <a:t> </a:t>
            </a:r>
            <a:r>
              <a:rPr lang="vi-VN" altLang="ko-KR" sz="1200" b="1" kern="0" dirty="0">
                <a:solidFill>
                  <a:sysClr val="windowText" lastClr="000000"/>
                </a:solidFill>
                <a:latin typeface="맑은 고딕" pitchFamily="50" charset="-127"/>
                <a:ea typeface="맑은 고딕" pitchFamily="50" charset="-127"/>
              </a:rPr>
              <a:t>bằng cách </a:t>
            </a:r>
            <a:r>
              <a:rPr lang="en-US" altLang="ko-KR" sz="1200" b="1" kern="0" dirty="0">
                <a:solidFill>
                  <a:sysClr val="windowText" lastClr="000000"/>
                </a:solidFill>
                <a:latin typeface="맑은 고딕" pitchFamily="50" charset="-127"/>
                <a:ea typeface="맑은 고딕" pitchFamily="50" charset="-127"/>
              </a:rPr>
              <a:t>so </a:t>
            </a:r>
            <a:r>
              <a:rPr lang="en-US" altLang="ko-KR" sz="1200" b="1" kern="0" dirty="0" err="1">
                <a:solidFill>
                  <a:sysClr val="windowText" lastClr="000000"/>
                </a:solidFill>
                <a:latin typeface="맑은 고딕" pitchFamily="50" charset="-127"/>
                <a:ea typeface="맑은 고딕" pitchFamily="50" charset="-127"/>
              </a:rPr>
              <a:t>sánh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với</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giới</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hạn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đặc</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điểm</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kỹ</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thuật</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tiêu</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chuẩn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hoặc</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tiêu</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chuẩn</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nhất</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định</a:t>
            </a:r>
            <a:r>
              <a:rPr lang="en-US" altLang="ko-KR" sz="1200" b="1" kern="0" dirty="0">
                <a:solidFill>
                  <a:sysClr val="windowText" lastClr="000000"/>
                </a:solidFill>
                <a:latin typeface="맑은 고딕" pitchFamily="50" charset="-127"/>
                <a:ea typeface="맑은 고딕" pitchFamily="50" charset="-127"/>
              </a:rPr>
              <a:t>) </a:t>
            </a:r>
            <a:r>
              <a:rPr lang="en-US" altLang="ko-KR" sz="1200" b="1" kern="0" dirty="0" err="1">
                <a:solidFill>
                  <a:sysClr val="windowText" lastClr="000000"/>
                </a:solidFill>
                <a:latin typeface="맑은 고딕" pitchFamily="50" charset="-127"/>
                <a:ea typeface="맑은 고딕" pitchFamily="50" charset="-127"/>
              </a:rPr>
              <a:t>và</a:t>
            </a:r>
            <a:r>
              <a:rPr lang="en-US" altLang="ko-KR" sz="1200" b="1" kern="0" dirty="0">
                <a:solidFill>
                  <a:sysClr val="windowText" lastClr="000000"/>
                </a:solidFill>
                <a:latin typeface="맑은 고딕" pitchFamily="50" charset="-127"/>
                <a:ea typeface="맑은 고딕" pitchFamily="50" charset="-127"/>
              </a:rPr>
              <a:t> </a:t>
            </a:r>
            <a:r>
              <a:rPr lang="vi-VN" altLang="ko-KR" sz="1200" b="1" kern="0" dirty="0">
                <a:solidFill>
                  <a:sysClr val="windowText" lastClr="000000"/>
                </a:solidFill>
                <a:latin typeface="맑은 고딕" pitchFamily="50" charset="-127"/>
                <a:ea typeface="맑은 고딕" pitchFamily="50" charset="-127"/>
              </a:rPr>
              <a:t>quan sát các </a:t>
            </a:r>
            <a:r>
              <a:rPr lang="en-US" altLang="ko-KR" sz="1200" b="1" kern="0" dirty="0" err="1">
                <a:solidFill>
                  <a:sysClr val="windowText" lastClr="000000"/>
                </a:solidFill>
                <a:latin typeface="맑은 고딕" pitchFamily="50" charset="-127"/>
                <a:ea typeface="맑은 고딕" pitchFamily="50" charset="-127"/>
              </a:rPr>
              <a:t>đặc</a:t>
            </a:r>
            <a:r>
              <a:rPr lang="vi-VN" altLang="ko-KR" sz="1200" b="1" kern="0" dirty="0">
                <a:solidFill>
                  <a:sysClr val="windowText" lastClr="000000"/>
                </a:solidFill>
                <a:latin typeface="맑은 고딕" pitchFamily="50" charset="-127"/>
                <a:ea typeface="맑은 고딕" pitchFamily="50" charset="-127"/>
              </a:rPr>
              <a:t> tính cụ thể</a:t>
            </a:r>
            <a:r>
              <a:rPr lang="en-US" altLang="ko-KR" sz="1200" b="1" kern="0" dirty="0">
                <a:solidFill>
                  <a:sysClr val="windowText" lastClr="000000"/>
                </a:solidFill>
                <a:latin typeface="맑은 고딕" pitchFamily="50" charset="-127"/>
                <a:ea typeface="맑은 고딕" pitchFamily="50" charset="-127"/>
              </a:rPr>
              <a:t>.</a:t>
            </a:r>
          </a:p>
          <a:p>
            <a:pPr latinLnBrk="0">
              <a:lnSpc>
                <a:spcPct val="110000"/>
              </a:lnSpc>
              <a:buClr>
                <a:srgbClr val="595959"/>
              </a:buClr>
              <a:defRPr/>
            </a:pPr>
            <a:r>
              <a:rPr lang="en-US" altLang="ko-KR" sz="1400" kern="0" dirty="0">
                <a:solidFill>
                  <a:sysClr val="windowText" lastClr="000000"/>
                </a:solidFill>
                <a:latin typeface="맑은 고딕" pitchFamily="50" charset="-127"/>
                <a:ea typeface="맑은 고딕" pitchFamily="50" charset="-127"/>
              </a:rPr>
              <a:t>※ 3 </a:t>
            </a:r>
            <a:r>
              <a:rPr lang="en-US" altLang="ko-KR" sz="1400" kern="0" dirty="0" err="1">
                <a:solidFill>
                  <a:sysClr val="windowText" lastClr="000000"/>
                </a:solidFill>
                <a:latin typeface="맑은 고딕" pitchFamily="50" charset="-127"/>
                <a:ea typeface="맑은 고딕" pitchFamily="50" charset="-127"/>
              </a:rPr>
              <a:t>phạm</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trù</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trở</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nên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cũng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có</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thể</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nhưng</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thảo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luận</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giới</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hạn</a:t>
            </a:r>
            <a:r>
              <a:rPr lang="en-US" altLang="ko-KR" sz="1400" kern="0" dirty="0">
                <a:solidFill>
                  <a:sysClr val="windowText" lastClr="000000"/>
                </a:solidFill>
                <a:latin typeface="맑은 고딕" pitchFamily="50" charset="-127"/>
                <a:ea typeface="맑은 고딕" pitchFamily="50" charset="-127"/>
              </a:rPr>
              <a:t> 2 </a:t>
            </a:r>
            <a:r>
              <a:rPr lang="en-US" altLang="ko-KR" sz="1400" kern="0" dirty="0" err="1">
                <a:solidFill>
                  <a:sysClr val="windowText" lastClr="000000"/>
                </a:solidFill>
                <a:latin typeface="맑은 고딕" pitchFamily="50" charset="-127"/>
                <a:ea typeface="맑은 고딕" pitchFamily="50" charset="-127"/>
              </a:rPr>
              <a:t>phạm</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trù</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được</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đo</a:t>
            </a:r>
            <a:r>
              <a:rPr lang="en-US" altLang="ko-KR" sz="1400" kern="0" dirty="0">
                <a:solidFill>
                  <a:sysClr val="windowText" lastClr="000000"/>
                </a:solidFill>
                <a:latin typeface="맑은 고딕" pitchFamily="50" charset="-127"/>
                <a:ea typeface="맑은 고딕" pitchFamily="50" charset="-127"/>
              </a:rPr>
              <a:t> </a:t>
            </a:r>
            <a:r>
              <a:rPr lang="en-US" altLang="ko-KR" sz="1400" kern="0" dirty="0" err="1">
                <a:solidFill>
                  <a:sysClr val="windowText" lastClr="000000"/>
                </a:solidFill>
                <a:latin typeface="맑은 고딕" pitchFamily="50" charset="-127"/>
                <a:ea typeface="맑은 고딕" pitchFamily="50" charset="-127"/>
              </a:rPr>
              <a:t>đạc</a:t>
            </a:r>
            <a:r>
              <a:rPr lang="en-US" altLang="ko-KR" sz="1400" kern="0" dirty="0">
                <a:solidFill>
                  <a:sysClr val="windowText" lastClr="000000"/>
                </a:solidFill>
                <a:latin typeface="맑은 고딕" pitchFamily="50" charset="-127"/>
                <a:ea typeface="맑은 고딕" pitchFamily="50" charset="-127"/>
              </a:rPr>
              <a:t> OK/NG</a:t>
            </a:r>
            <a:endParaRPr lang="ko-KR" altLang="en-US" sz="1400" kern="0" dirty="0">
              <a:solidFill>
                <a:sysClr val="windowText" lastClr="000000"/>
              </a:solidFill>
              <a:latin typeface="맑은 고딕" pitchFamily="50" charset="-127"/>
              <a:ea typeface="맑은 고딕" pitchFamily="50" charset="-127"/>
            </a:endParaRPr>
          </a:p>
        </p:txBody>
      </p:sp>
      <p:sp>
        <p:nvSpPr>
          <p:cNvPr id="65" name="Rectangle 7"/>
          <p:cNvSpPr>
            <a:spLocks noChangeArrowheads="1"/>
          </p:cNvSpPr>
          <p:nvPr/>
        </p:nvSpPr>
        <p:spPr bwMode="auto">
          <a:xfrm>
            <a:off x="615462" y="3284984"/>
            <a:ext cx="5951432" cy="1236680"/>
          </a:xfrm>
          <a:prstGeom prst="rect">
            <a:avLst/>
          </a:prstGeom>
          <a:noFill/>
          <a:ln w="9525">
            <a:noFill/>
            <a:miter lim="800000"/>
            <a:headEnd/>
            <a:tailEnd/>
          </a:ln>
        </p:spPr>
        <p:txBody>
          <a:bodyPr wrap="none" lIns="18000" tIns="18000" rIns="18000" bIns="18000">
            <a:spAutoFit/>
          </a:bodyPr>
          <a:lstStyle/>
          <a:p>
            <a:pPr defTabSz="1189038">
              <a:lnSpc>
                <a:spcPct val="130000"/>
              </a:lnSpc>
              <a:buFontTx/>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sample </a:t>
            </a:r>
            <a:r>
              <a:rPr lang="en-US" altLang="ko-KR" sz="1200" dirty="0" err="1">
                <a:latin typeface="맑은 고딕" pitchFamily="50" charset="-127"/>
                <a:ea typeface="맑은 고딕" pitchFamily="50" charset="-127"/>
              </a:rPr>
              <a:t>để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loại</a:t>
            </a:r>
            <a:r>
              <a:rPr lang="en-US" altLang="ko-KR" sz="1200" dirty="0">
                <a:latin typeface="맑은 고딕" pitchFamily="50" charset="-127"/>
                <a:ea typeface="맑은 고딕" pitchFamily="50" charset="-127"/>
              </a:rPr>
              <a:t>/</a:t>
            </a:r>
            <a:r>
              <a:rPr lang="en-US" altLang="ko-KR" sz="1200" dirty="0" err="1">
                <a:latin typeface="맑은 고딕" pitchFamily="50" charset="-127"/>
                <a:ea typeface="맑은 고딕" pitchFamily="50" charset="-127"/>
              </a:rPr>
              <a:t>pham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trù</a:t>
            </a:r>
            <a:r>
              <a:rPr lang="en-US" altLang="ko-KR" sz="1200" dirty="0">
                <a:latin typeface="맑은 고딕" pitchFamily="50" charset="-127"/>
                <a:ea typeface="맑은 고딕" pitchFamily="50" charset="-127"/>
              </a:rPr>
              <a:t> Gage R&amp;R</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(Hradeskey)</a:t>
            </a:r>
          </a:p>
          <a:p>
            <a:pPr defTabSz="1189038">
              <a:lnSpc>
                <a:spcPct val="130000"/>
              </a:lnSpc>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Khác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hợp</a:t>
            </a:r>
            <a:r>
              <a:rPr lang="en-US" altLang="ko-KR" sz="1200" dirty="0">
                <a:latin typeface="맑은 고딕" pitchFamily="50" charset="-127"/>
                <a:ea typeface="맑은 고딕" pitchFamily="50" charset="-127"/>
              </a:rPr>
              <a:t> data </a:t>
            </a:r>
            <a:r>
              <a:rPr lang="en-US" altLang="ko-KR" sz="1200" dirty="0" err="1">
                <a:latin typeface="맑은 고딕" pitchFamily="50" charset="-127"/>
                <a:ea typeface="맑은 고딕" pitchFamily="50" charset="-127"/>
              </a:rPr>
              <a:t>liên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tục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sample </a:t>
            </a:r>
            <a:r>
              <a:rPr lang="en-US" altLang="ko-KR" sz="1200" dirty="0" err="1">
                <a:latin typeface="맑은 고딕" pitchFamily="50" charset="-127"/>
                <a:ea typeface="맑은 고딕" pitchFamily="50" charset="-127"/>
              </a:rPr>
              <a:t>một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cách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ngẫu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nhiên</a:t>
            </a:r>
            <a:endParaRPr lang="en-US" altLang="ko-KR" sz="1200" dirty="0">
              <a:latin typeface="맑은 고딕" pitchFamily="50" charset="-127"/>
              <a:ea typeface="맑은 고딕" pitchFamily="50" charset="-127"/>
            </a:endParaRPr>
          </a:p>
          <a:p>
            <a:pPr defTabSz="1189038">
              <a:lnSpc>
                <a:spcPct val="130000"/>
              </a:lnSpc>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sẽ</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sample </a:t>
            </a:r>
            <a:r>
              <a:rPr lang="en-US" altLang="ko-KR" sz="1200" dirty="0" err="1">
                <a:latin typeface="맑은 고딕" pitchFamily="50" charset="-127"/>
                <a:ea typeface="맑은 고딕" pitchFamily="50" charset="-127"/>
              </a:rPr>
              <a:t>theo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dưới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đây</a:t>
            </a:r>
            <a:r>
              <a:rPr lang="en-US" altLang="ko-KR" sz="1200" dirty="0">
                <a:latin typeface="맑은 고딕" pitchFamily="50" charset="-127"/>
                <a:ea typeface="맑은 고딕" pitchFamily="50" charset="-127"/>
              </a:rPr>
              <a:t> </a:t>
            </a:r>
          </a:p>
          <a:p>
            <a:pPr defTabSz="1189038">
              <a:lnSpc>
                <a:spcPct val="130000"/>
              </a:lnSpc>
            </a:pPr>
            <a:r>
              <a:rPr lang="en-US" altLang="ko-KR" sz="1200" dirty="0">
                <a:latin typeface="맑은 고딕" pitchFamily="50" charset="-127"/>
                <a:ea typeface="맑은 고딕" pitchFamily="50" charset="-127"/>
              </a:rPr>
              <a:t>  -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toàn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½ </a:t>
            </a:r>
            <a:r>
              <a:rPr lang="en-US" altLang="ko-KR" sz="1200" dirty="0" err="1">
                <a:latin typeface="맑은 고딕" pitchFamily="50" charset="-127"/>
                <a:ea typeface="맑은 고딕" pitchFamily="50" charset="-127"/>
              </a:rPr>
              <a:t>sản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phẩm</a:t>
            </a:r>
            <a:r>
              <a:rPr lang="en-US" altLang="ko-KR" sz="1200" dirty="0">
                <a:latin typeface="맑은 고딕" pitchFamily="50" charset="-127"/>
                <a:ea typeface="맑은 고딕" pitchFamily="50" charset="-127"/>
              </a:rPr>
              <a:t> OK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½ </a:t>
            </a:r>
            <a:r>
              <a:rPr lang="en-US" altLang="ko-KR" sz="1200" dirty="0" err="1">
                <a:latin typeface="맑은 고딕" pitchFamily="50" charset="-127"/>
                <a:ea typeface="맑은 고딕" pitchFamily="50" charset="-127"/>
              </a:rPr>
              <a:t>sản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phẩm</a:t>
            </a:r>
            <a:r>
              <a:rPr lang="en-US" altLang="ko-KR" sz="1200" dirty="0">
                <a:latin typeface="맑은 고딕" pitchFamily="50" charset="-127"/>
                <a:ea typeface="맑은 고딕" pitchFamily="50" charset="-127"/>
              </a:rPr>
              <a:t> NG</a:t>
            </a:r>
            <a:endParaRPr lang="ko-KR" altLang="en-US" sz="1200" dirty="0">
              <a:latin typeface="맑은 고딕" pitchFamily="50" charset="-127"/>
              <a:ea typeface="맑은 고딕" pitchFamily="50" charset="-127"/>
            </a:endParaRPr>
          </a:p>
          <a:p>
            <a:pPr defTabSz="1189038">
              <a:lnSpc>
                <a:spcPct val="130000"/>
              </a:lnSpc>
            </a:pP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Trong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sản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phẩm</a:t>
            </a:r>
            <a:r>
              <a:rPr lang="en-US" altLang="ko-KR" sz="1200" dirty="0">
                <a:latin typeface="맑은 고딕" pitchFamily="50" charset="-127"/>
                <a:ea typeface="맑은 고딕" pitchFamily="50" charset="-127"/>
              </a:rPr>
              <a:t> OK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NG </a:t>
            </a:r>
            <a:r>
              <a:rPr lang="en-US" altLang="ko-KR" sz="1200" dirty="0" err="1">
                <a:latin typeface="맑은 고딕" pitchFamily="50" charset="-127"/>
                <a:ea typeface="맑은 고딕" pitchFamily="50" charset="-127"/>
              </a:rPr>
              <a:t>lựa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chọn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khoảng</a:t>
            </a:r>
            <a:r>
              <a:rPr lang="en-US" altLang="ko-KR" sz="1200" dirty="0">
                <a:latin typeface="맑은 고딕" pitchFamily="50" charset="-127"/>
                <a:ea typeface="맑은 고딕" pitchFamily="50" charset="-127"/>
              </a:rPr>
              <a:t> 1/3 </a:t>
            </a:r>
            <a:r>
              <a:rPr lang="en-US" altLang="ko-KR" sz="1200" dirty="0" err="1">
                <a:latin typeface="맑은 고딕" pitchFamily="50" charset="-127"/>
                <a:ea typeface="맑은 고딕" pitchFamily="50" charset="-127"/>
              </a:rPr>
              <a:t>tại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mơ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hồ</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quyết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định</a:t>
            </a:r>
            <a:endParaRPr lang="en-US" altLang="ko-KR" sz="1200" dirty="0">
              <a:latin typeface="맑은 고딕" pitchFamily="50" charset="-127"/>
              <a:ea typeface="맑은 고딕" pitchFamily="50" charset="-127"/>
            </a:endParaRPr>
          </a:p>
        </p:txBody>
      </p:sp>
      <p:pic>
        <p:nvPicPr>
          <p:cNvPr id="66" name="Picture 9"/>
          <p:cNvPicPr>
            <a:picLocks noChangeAspect="1" noChangeArrowheads="1"/>
          </p:cNvPicPr>
          <p:nvPr/>
        </p:nvPicPr>
        <p:blipFill>
          <a:blip r:embed="rId2" cstate="print">
            <a:clrChange>
              <a:clrFrom>
                <a:srgbClr val="FFFFFF"/>
              </a:clrFrom>
              <a:clrTo>
                <a:srgbClr val="FFFFFF">
                  <a:alpha val="0"/>
                </a:srgbClr>
              </a:clrTo>
            </a:clrChange>
          </a:blip>
          <a:srcRect/>
          <a:stretch>
            <a:fillRect/>
          </a:stretch>
        </p:blipFill>
        <p:spPr bwMode="auto">
          <a:xfrm>
            <a:off x="1028700" y="2035175"/>
            <a:ext cx="1528397" cy="927100"/>
          </a:xfrm>
          <a:prstGeom prst="rect">
            <a:avLst/>
          </a:prstGeom>
          <a:noFill/>
          <a:ln w="9525">
            <a:noFill/>
            <a:miter lim="800000"/>
            <a:headEnd/>
            <a:tailEnd/>
          </a:ln>
        </p:spPr>
      </p:pic>
      <p:sp>
        <p:nvSpPr>
          <p:cNvPr id="67" name="Text Box 10"/>
          <p:cNvSpPr txBox="1">
            <a:spLocks noChangeArrowheads="1"/>
          </p:cNvSpPr>
          <p:nvPr/>
        </p:nvSpPr>
        <p:spPr bwMode="auto">
          <a:xfrm>
            <a:off x="2481929" y="2933701"/>
            <a:ext cx="698392"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endParaRPr lang="ko-KR" altLang="en-US" sz="1200" dirty="0">
              <a:latin typeface="맑은 고딕" pitchFamily="50" charset="-127"/>
              <a:ea typeface="맑은 고딕" pitchFamily="50" charset="-127"/>
            </a:endParaRPr>
          </a:p>
        </p:txBody>
      </p:sp>
      <p:sp>
        <p:nvSpPr>
          <p:cNvPr id="68" name="Rectangle 11"/>
          <p:cNvSpPr>
            <a:spLocks noChangeArrowheads="1"/>
          </p:cNvSpPr>
          <p:nvPr/>
        </p:nvSpPr>
        <p:spPr bwMode="auto">
          <a:xfrm>
            <a:off x="701920" y="1906589"/>
            <a:ext cx="2725615" cy="1317625"/>
          </a:xfrm>
          <a:prstGeom prst="rect">
            <a:avLst/>
          </a:prstGeom>
          <a:noFill/>
          <a:ln w="9525" algn="ctr">
            <a:solidFill>
              <a:schemeClr val="tx1"/>
            </a:solidFill>
            <a:miter lim="800000"/>
            <a:headEnd/>
            <a:tailEnd/>
          </a:ln>
        </p:spPr>
        <p:txBody>
          <a:bodyPr wrap="none" anchor="ctr"/>
          <a:lstStyle/>
          <a:p>
            <a:endParaRPr lang="ko-KR" altLang="en-US" sz="1200" dirty="0">
              <a:latin typeface="맑은 고딕" pitchFamily="50" charset="-127"/>
              <a:ea typeface="맑은 고딕" pitchFamily="50" charset="-127"/>
            </a:endParaRPr>
          </a:p>
        </p:txBody>
      </p:sp>
      <p:sp>
        <p:nvSpPr>
          <p:cNvPr id="69" name="Rectangle 12"/>
          <p:cNvSpPr>
            <a:spLocks noChangeArrowheads="1"/>
          </p:cNvSpPr>
          <p:nvPr/>
        </p:nvSpPr>
        <p:spPr bwMode="auto">
          <a:xfrm>
            <a:off x="4783016" y="1906589"/>
            <a:ext cx="1620715" cy="1317625"/>
          </a:xfrm>
          <a:prstGeom prst="rect">
            <a:avLst/>
          </a:prstGeom>
          <a:noFill/>
          <a:ln w="9525" algn="ctr">
            <a:solidFill>
              <a:schemeClr val="tx1"/>
            </a:solidFill>
            <a:miter lim="800000"/>
            <a:headEnd/>
            <a:tailEnd/>
          </a:ln>
        </p:spPr>
        <p:txBody>
          <a:bodyPr wrap="none" anchor="ctr"/>
          <a:lstStyle/>
          <a:p>
            <a:endParaRPr lang="ko-KR" altLang="en-US" sz="1200" dirty="0">
              <a:latin typeface="맑은 고딕" pitchFamily="50" charset="-127"/>
              <a:ea typeface="맑은 고딕" pitchFamily="50" charset="-127"/>
            </a:endParaRPr>
          </a:p>
        </p:txBody>
      </p:sp>
      <p:sp>
        <p:nvSpPr>
          <p:cNvPr id="70" name="Text Box 13"/>
          <p:cNvSpPr txBox="1">
            <a:spLocks noChangeArrowheads="1"/>
          </p:cNvSpPr>
          <p:nvPr/>
        </p:nvSpPr>
        <p:spPr bwMode="auto">
          <a:xfrm>
            <a:off x="2255214" y="1931988"/>
            <a:ext cx="927621"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Data </a:t>
            </a:r>
            <a:r>
              <a:rPr lang="en-US" altLang="ko-KR" sz="1200" dirty="0" err="1">
                <a:latin typeface="맑은 고딕" pitchFamily="50" charset="-127"/>
                <a:ea typeface="맑은 고딕" pitchFamily="50" charset="-127"/>
              </a:rPr>
              <a:t>liên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tục</a:t>
            </a:r>
            <a:endParaRPr lang="ko-KR" altLang="en-US" sz="1200" dirty="0">
              <a:latin typeface="맑은 고딕" pitchFamily="50" charset="-127"/>
              <a:ea typeface="맑은 고딕" pitchFamily="50" charset="-127"/>
            </a:endParaRPr>
          </a:p>
        </p:txBody>
      </p:sp>
      <p:sp>
        <p:nvSpPr>
          <p:cNvPr id="71" name="Line 14"/>
          <p:cNvSpPr>
            <a:spLocks noChangeShapeType="1"/>
          </p:cNvSpPr>
          <p:nvPr/>
        </p:nvSpPr>
        <p:spPr bwMode="auto">
          <a:xfrm>
            <a:off x="901213" y="2940050"/>
            <a:ext cx="2193680" cy="0"/>
          </a:xfrm>
          <a:prstGeom prst="line">
            <a:avLst/>
          </a:prstGeom>
          <a:noFill/>
          <a:ln w="9525">
            <a:solidFill>
              <a:srgbClr val="0000FF"/>
            </a:solidFill>
            <a:round/>
            <a:headEnd/>
            <a:tailEnd/>
          </a:ln>
        </p:spPr>
        <p:txBody>
          <a:bodyPr anchor="ctr"/>
          <a:lstStyle/>
          <a:p>
            <a:endParaRPr lang="ko-KR" altLang="en-US" dirty="0"/>
          </a:p>
        </p:txBody>
      </p:sp>
      <p:sp>
        <p:nvSpPr>
          <p:cNvPr id="72" name="Line 15"/>
          <p:cNvSpPr>
            <a:spLocks noChangeShapeType="1"/>
          </p:cNvSpPr>
          <p:nvPr/>
        </p:nvSpPr>
        <p:spPr bwMode="auto">
          <a:xfrm>
            <a:off x="1299797" y="2652714"/>
            <a:ext cx="0" cy="287337"/>
          </a:xfrm>
          <a:prstGeom prst="line">
            <a:avLst/>
          </a:prstGeom>
          <a:noFill/>
          <a:ln w="9525">
            <a:solidFill>
              <a:srgbClr val="0000FF"/>
            </a:solidFill>
            <a:round/>
            <a:headEnd/>
            <a:tailEnd/>
          </a:ln>
        </p:spPr>
        <p:txBody>
          <a:bodyPr anchor="ctr"/>
          <a:lstStyle/>
          <a:p>
            <a:endParaRPr lang="ko-KR" altLang="en-US" dirty="0"/>
          </a:p>
        </p:txBody>
      </p:sp>
      <p:sp>
        <p:nvSpPr>
          <p:cNvPr id="73" name="Line 16"/>
          <p:cNvSpPr>
            <a:spLocks noChangeShapeType="1"/>
          </p:cNvSpPr>
          <p:nvPr/>
        </p:nvSpPr>
        <p:spPr bwMode="auto">
          <a:xfrm>
            <a:off x="2287466" y="2659064"/>
            <a:ext cx="0" cy="287337"/>
          </a:xfrm>
          <a:prstGeom prst="line">
            <a:avLst/>
          </a:prstGeom>
          <a:noFill/>
          <a:ln w="9525">
            <a:solidFill>
              <a:srgbClr val="0000FF"/>
            </a:solidFill>
            <a:round/>
            <a:headEnd/>
            <a:tailEnd/>
          </a:ln>
        </p:spPr>
        <p:txBody>
          <a:bodyPr anchor="ctr"/>
          <a:lstStyle/>
          <a:p>
            <a:endParaRPr lang="ko-KR" altLang="en-US" dirty="0"/>
          </a:p>
        </p:txBody>
      </p:sp>
      <p:sp>
        <p:nvSpPr>
          <p:cNvPr id="74" name="Text Box 17"/>
          <p:cNvSpPr txBox="1">
            <a:spLocks noChangeArrowheads="1"/>
          </p:cNvSpPr>
          <p:nvPr/>
        </p:nvSpPr>
        <p:spPr bwMode="auto">
          <a:xfrm>
            <a:off x="973781" y="2663826"/>
            <a:ext cx="260773"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NG</a:t>
            </a:r>
            <a:endParaRPr lang="ko-KR" altLang="en-US" sz="1200" dirty="0">
              <a:latin typeface="맑은 고딕" pitchFamily="50" charset="-127"/>
              <a:ea typeface="맑은 고딕" pitchFamily="50" charset="-127"/>
            </a:endParaRPr>
          </a:p>
        </p:txBody>
      </p:sp>
      <p:sp>
        <p:nvSpPr>
          <p:cNvPr id="75" name="Text Box 18"/>
          <p:cNvSpPr txBox="1">
            <a:spLocks noChangeArrowheads="1"/>
          </p:cNvSpPr>
          <p:nvPr/>
        </p:nvSpPr>
        <p:spPr bwMode="auto">
          <a:xfrm>
            <a:off x="1533444" y="2636838"/>
            <a:ext cx="246345"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OK</a:t>
            </a:r>
            <a:endParaRPr lang="ko-KR" altLang="en-US" sz="1200" dirty="0">
              <a:latin typeface="맑은 고딕" pitchFamily="50" charset="-127"/>
              <a:ea typeface="맑은 고딕" pitchFamily="50" charset="-127"/>
            </a:endParaRPr>
          </a:p>
        </p:txBody>
      </p:sp>
      <p:sp>
        <p:nvSpPr>
          <p:cNvPr id="76" name="Text Box 19"/>
          <p:cNvSpPr txBox="1">
            <a:spLocks noChangeArrowheads="1"/>
          </p:cNvSpPr>
          <p:nvPr/>
        </p:nvSpPr>
        <p:spPr bwMode="auto">
          <a:xfrm>
            <a:off x="2436235" y="2663826"/>
            <a:ext cx="260773"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NG</a:t>
            </a:r>
            <a:endParaRPr lang="ko-KR" altLang="en-US" sz="1200" dirty="0">
              <a:latin typeface="맑은 고딕" pitchFamily="50" charset="-127"/>
              <a:ea typeface="맑은 고딕" pitchFamily="50" charset="-127"/>
            </a:endParaRPr>
          </a:p>
        </p:txBody>
      </p:sp>
      <p:sp>
        <p:nvSpPr>
          <p:cNvPr id="77" name="Text Box 20"/>
          <p:cNvSpPr txBox="1">
            <a:spLocks noChangeArrowheads="1"/>
          </p:cNvSpPr>
          <p:nvPr/>
        </p:nvSpPr>
        <p:spPr bwMode="auto">
          <a:xfrm>
            <a:off x="5006620" y="1900238"/>
            <a:ext cx="1111967"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data </a:t>
            </a:r>
            <a:r>
              <a:rPr lang="en-US" altLang="ko-KR" sz="1200" dirty="0" err="1">
                <a:latin typeface="맑은 고딕" pitchFamily="50" charset="-127"/>
                <a:ea typeface="맑은 고딕" pitchFamily="50" charset="-127"/>
              </a:rPr>
              <a:t>thuộc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tính</a:t>
            </a:r>
            <a:endParaRPr lang="ko-KR" altLang="en-US" sz="1200" dirty="0">
              <a:latin typeface="맑은 고딕" pitchFamily="50" charset="-127"/>
              <a:ea typeface="맑은 고딕" pitchFamily="50" charset="-127"/>
            </a:endParaRPr>
          </a:p>
        </p:txBody>
      </p:sp>
      <p:cxnSp>
        <p:nvCxnSpPr>
          <p:cNvPr id="78" name="AutoShape 21"/>
          <p:cNvCxnSpPr>
            <a:cxnSpLocks noChangeShapeType="1"/>
            <a:stCxn id="68" idx="3"/>
          </p:cNvCxnSpPr>
          <p:nvPr/>
        </p:nvCxnSpPr>
        <p:spPr bwMode="auto">
          <a:xfrm flipV="1">
            <a:off x="3427535" y="2565400"/>
            <a:ext cx="194896" cy="0"/>
          </a:xfrm>
          <a:prstGeom prst="bentConnector3">
            <a:avLst>
              <a:gd name="adj1" fmla="val 50000"/>
            </a:avLst>
          </a:prstGeom>
          <a:noFill/>
          <a:ln w="9525">
            <a:solidFill>
              <a:srgbClr val="0000FF"/>
            </a:solidFill>
            <a:miter lim="800000"/>
            <a:headEnd/>
            <a:tailEnd type="triangle" w="med" len="med"/>
          </a:ln>
        </p:spPr>
      </p:cxnSp>
      <p:cxnSp>
        <p:nvCxnSpPr>
          <p:cNvPr id="79" name="AutoShape 22"/>
          <p:cNvCxnSpPr>
            <a:cxnSpLocks noChangeShapeType="1"/>
            <a:endCxn id="69" idx="1"/>
          </p:cNvCxnSpPr>
          <p:nvPr/>
        </p:nvCxnSpPr>
        <p:spPr bwMode="auto">
          <a:xfrm>
            <a:off x="4602773" y="2565400"/>
            <a:ext cx="180242" cy="0"/>
          </a:xfrm>
          <a:prstGeom prst="bentConnector3">
            <a:avLst>
              <a:gd name="adj1" fmla="val 50000"/>
            </a:avLst>
          </a:prstGeom>
          <a:noFill/>
          <a:ln w="9525">
            <a:solidFill>
              <a:srgbClr val="0000FF"/>
            </a:solidFill>
            <a:miter lim="800000"/>
            <a:headEnd/>
            <a:tailEnd type="triangle" w="med" len="med"/>
          </a:ln>
        </p:spPr>
      </p:cxnSp>
      <p:sp>
        <p:nvSpPr>
          <p:cNvPr id="80" name="Line 23"/>
          <p:cNvSpPr>
            <a:spLocks noChangeShapeType="1"/>
          </p:cNvSpPr>
          <p:nvPr/>
        </p:nvSpPr>
        <p:spPr bwMode="auto">
          <a:xfrm>
            <a:off x="4982308" y="2924175"/>
            <a:ext cx="1263162" cy="0"/>
          </a:xfrm>
          <a:prstGeom prst="line">
            <a:avLst/>
          </a:prstGeom>
          <a:noFill/>
          <a:ln w="9525">
            <a:solidFill>
              <a:srgbClr val="0000FF"/>
            </a:solidFill>
            <a:round/>
            <a:headEnd/>
            <a:tailEnd/>
          </a:ln>
        </p:spPr>
        <p:txBody>
          <a:bodyPr anchor="ctr"/>
          <a:lstStyle/>
          <a:p>
            <a:endParaRPr lang="ko-KR" altLang="en-US" dirty="0"/>
          </a:p>
        </p:txBody>
      </p:sp>
      <p:sp>
        <p:nvSpPr>
          <p:cNvPr id="81" name="Line 24"/>
          <p:cNvSpPr>
            <a:spLocks noChangeShapeType="1"/>
          </p:cNvSpPr>
          <p:nvPr/>
        </p:nvSpPr>
        <p:spPr bwMode="auto">
          <a:xfrm>
            <a:off x="5249008" y="2852739"/>
            <a:ext cx="0" cy="142875"/>
          </a:xfrm>
          <a:prstGeom prst="line">
            <a:avLst/>
          </a:prstGeom>
          <a:noFill/>
          <a:ln w="9525">
            <a:solidFill>
              <a:srgbClr val="0000FF"/>
            </a:solidFill>
            <a:round/>
            <a:headEnd/>
            <a:tailEnd/>
          </a:ln>
        </p:spPr>
        <p:txBody>
          <a:bodyPr anchor="ctr"/>
          <a:lstStyle/>
          <a:p>
            <a:endParaRPr lang="ko-KR" altLang="en-US" dirty="0"/>
          </a:p>
        </p:txBody>
      </p:sp>
      <p:sp>
        <p:nvSpPr>
          <p:cNvPr id="82" name="Line 25"/>
          <p:cNvSpPr>
            <a:spLocks noChangeShapeType="1"/>
          </p:cNvSpPr>
          <p:nvPr/>
        </p:nvSpPr>
        <p:spPr bwMode="auto">
          <a:xfrm>
            <a:off x="5908431" y="2852739"/>
            <a:ext cx="0" cy="142875"/>
          </a:xfrm>
          <a:prstGeom prst="line">
            <a:avLst/>
          </a:prstGeom>
          <a:noFill/>
          <a:ln w="9525">
            <a:solidFill>
              <a:srgbClr val="0000FF"/>
            </a:solidFill>
            <a:round/>
            <a:headEnd/>
            <a:tailEnd/>
          </a:ln>
        </p:spPr>
        <p:txBody>
          <a:bodyPr anchor="ctr"/>
          <a:lstStyle/>
          <a:p>
            <a:endParaRPr lang="ko-KR" altLang="en-US" dirty="0"/>
          </a:p>
        </p:txBody>
      </p:sp>
      <p:sp>
        <p:nvSpPr>
          <p:cNvPr id="83" name="Text Box 26"/>
          <p:cNvSpPr txBox="1">
            <a:spLocks noChangeArrowheads="1"/>
          </p:cNvSpPr>
          <p:nvPr/>
        </p:nvSpPr>
        <p:spPr bwMode="auto">
          <a:xfrm>
            <a:off x="1053091" y="2951163"/>
            <a:ext cx="324893"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80.0</a:t>
            </a:r>
          </a:p>
        </p:txBody>
      </p:sp>
      <p:sp>
        <p:nvSpPr>
          <p:cNvPr id="84" name="Text Box 27"/>
          <p:cNvSpPr txBox="1">
            <a:spLocks noChangeArrowheads="1"/>
          </p:cNvSpPr>
          <p:nvPr/>
        </p:nvSpPr>
        <p:spPr bwMode="auto">
          <a:xfrm>
            <a:off x="2035648" y="2951163"/>
            <a:ext cx="409852"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120.0</a:t>
            </a:r>
          </a:p>
        </p:txBody>
      </p:sp>
      <p:pic>
        <p:nvPicPr>
          <p:cNvPr id="85" name="Picture 28"/>
          <p:cNvPicPr>
            <a:picLocks noChangeAspect="1" noChangeArrowheads="1"/>
          </p:cNvPicPr>
          <p:nvPr/>
        </p:nvPicPr>
        <p:blipFill>
          <a:blip r:embed="rId3" cstate="print"/>
          <a:srcRect/>
          <a:stretch>
            <a:fillRect/>
          </a:stretch>
        </p:blipFill>
        <p:spPr bwMode="auto">
          <a:xfrm>
            <a:off x="3622431" y="1857375"/>
            <a:ext cx="980343" cy="1416050"/>
          </a:xfrm>
          <a:prstGeom prst="rect">
            <a:avLst/>
          </a:prstGeom>
          <a:noFill/>
          <a:ln w="9525" algn="ctr">
            <a:solidFill>
              <a:srgbClr val="FF0000"/>
            </a:solidFill>
            <a:miter lim="800000"/>
            <a:headEnd/>
            <a:tailEnd/>
          </a:ln>
        </p:spPr>
      </p:pic>
      <p:sp>
        <p:nvSpPr>
          <p:cNvPr id="86" name="Text Box 29"/>
          <p:cNvSpPr txBox="1">
            <a:spLocks noChangeArrowheads="1"/>
          </p:cNvSpPr>
          <p:nvPr/>
        </p:nvSpPr>
        <p:spPr bwMode="auto">
          <a:xfrm>
            <a:off x="5085536" y="2995613"/>
            <a:ext cx="246345"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OK</a:t>
            </a:r>
            <a:endParaRPr lang="ko-KR" altLang="en-US" sz="1200" dirty="0">
              <a:latin typeface="맑은 고딕" pitchFamily="50" charset="-127"/>
              <a:ea typeface="맑은 고딕" pitchFamily="50" charset="-127"/>
            </a:endParaRPr>
          </a:p>
        </p:txBody>
      </p:sp>
      <p:sp>
        <p:nvSpPr>
          <p:cNvPr id="87" name="Text Box 30"/>
          <p:cNvSpPr txBox="1">
            <a:spLocks noChangeArrowheads="1"/>
          </p:cNvSpPr>
          <p:nvPr/>
        </p:nvSpPr>
        <p:spPr bwMode="auto">
          <a:xfrm>
            <a:off x="5726756" y="2995613"/>
            <a:ext cx="260773" cy="221018"/>
          </a:xfrm>
          <a:prstGeom prst="rect">
            <a:avLst/>
          </a:prstGeom>
          <a:noFill/>
          <a:ln w="9525" algn="ctr">
            <a:noFill/>
            <a:miter lim="800000"/>
            <a:headEnd/>
            <a:tailEnd/>
          </a:ln>
        </p:spPr>
        <p:txBody>
          <a:bodyPr wrap="none" lIns="18000" tIns="18000" rIns="18000" bIns="18000">
            <a:spAutoFit/>
          </a:bodyPr>
          <a:lstStyle/>
          <a:p>
            <a:pPr algn="ctr"/>
            <a:r>
              <a:rPr lang="en-US" altLang="ko-KR" sz="1200" dirty="0">
                <a:latin typeface="맑은 고딕" pitchFamily="50" charset="-127"/>
                <a:ea typeface="맑은 고딕" pitchFamily="50" charset="-127"/>
              </a:rPr>
              <a:t>NG</a:t>
            </a:r>
            <a:endParaRPr lang="ko-KR" altLang="en-US" sz="1200" dirty="0">
              <a:latin typeface="맑은 고딕" pitchFamily="50" charset="-127"/>
              <a:ea typeface="맑은 고딕" pitchFamily="50" charset="-127"/>
            </a:endParaRPr>
          </a:p>
        </p:txBody>
      </p:sp>
      <p:sp>
        <p:nvSpPr>
          <p:cNvPr id="88" name="Oval 31"/>
          <p:cNvSpPr>
            <a:spLocks noChangeArrowheads="1"/>
          </p:cNvSpPr>
          <p:nvPr/>
        </p:nvSpPr>
        <p:spPr bwMode="auto">
          <a:xfrm>
            <a:off x="5212374" y="2759075"/>
            <a:ext cx="67408"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89" name="Oval 32"/>
          <p:cNvSpPr>
            <a:spLocks noChangeArrowheads="1"/>
          </p:cNvSpPr>
          <p:nvPr/>
        </p:nvSpPr>
        <p:spPr bwMode="auto">
          <a:xfrm>
            <a:off x="5212374" y="2657475"/>
            <a:ext cx="67408"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0" name="Oval 33"/>
          <p:cNvSpPr>
            <a:spLocks noChangeArrowheads="1"/>
          </p:cNvSpPr>
          <p:nvPr/>
        </p:nvSpPr>
        <p:spPr bwMode="auto">
          <a:xfrm>
            <a:off x="5212374" y="2557464"/>
            <a:ext cx="67408"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1" name="Oval 34"/>
          <p:cNvSpPr>
            <a:spLocks noChangeArrowheads="1"/>
          </p:cNvSpPr>
          <p:nvPr/>
        </p:nvSpPr>
        <p:spPr bwMode="auto">
          <a:xfrm>
            <a:off x="5218235" y="2455864"/>
            <a:ext cx="67408"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2" name="Oval 35"/>
          <p:cNvSpPr>
            <a:spLocks noChangeArrowheads="1"/>
          </p:cNvSpPr>
          <p:nvPr/>
        </p:nvSpPr>
        <p:spPr bwMode="auto">
          <a:xfrm>
            <a:off x="5218235" y="2355850"/>
            <a:ext cx="67408"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3" name="Oval 36"/>
          <p:cNvSpPr>
            <a:spLocks noChangeArrowheads="1"/>
          </p:cNvSpPr>
          <p:nvPr/>
        </p:nvSpPr>
        <p:spPr bwMode="auto">
          <a:xfrm>
            <a:off x="5218235" y="2254250"/>
            <a:ext cx="67408"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4" name="Oval 37"/>
          <p:cNvSpPr>
            <a:spLocks noChangeArrowheads="1"/>
          </p:cNvSpPr>
          <p:nvPr/>
        </p:nvSpPr>
        <p:spPr bwMode="auto">
          <a:xfrm>
            <a:off x="5871797" y="2757489"/>
            <a:ext cx="67408"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5" name="Oval 38"/>
          <p:cNvSpPr>
            <a:spLocks noChangeArrowheads="1"/>
          </p:cNvSpPr>
          <p:nvPr/>
        </p:nvSpPr>
        <p:spPr bwMode="auto">
          <a:xfrm>
            <a:off x="5871797" y="2654300"/>
            <a:ext cx="67408"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6" name="Oval 39"/>
          <p:cNvSpPr>
            <a:spLocks noChangeArrowheads="1"/>
          </p:cNvSpPr>
          <p:nvPr/>
        </p:nvSpPr>
        <p:spPr bwMode="auto">
          <a:xfrm>
            <a:off x="5871797" y="2552700"/>
            <a:ext cx="67408" cy="71438"/>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7" name="Oval 40"/>
          <p:cNvSpPr>
            <a:spLocks noChangeArrowheads="1"/>
          </p:cNvSpPr>
          <p:nvPr/>
        </p:nvSpPr>
        <p:spPr bwMode="auto">
          <a:xfrm>
            <a:off x="5218235" y="2154239"/>
            <a:ext cx="67408" cy="71437"/>
          </a:xfrm>
          <a:prstGeom prst="ellipse">
            <a:avLst/>
          </a:prstGeom>
          <a:solidFill>
            <a:schemeClr val="tx1"/>
          </a:solidFill>
          <a:ln w="9525" algn="ctr">
            <a:solidFill>
              <a:schemeClr val="tx1"/>
            </a:solidFill>
            <a:round/>
            <a:headEnd/>
            <a:tailEnd/>
          </a:ln>
        </p:spPr>
        <p:txBody>
          <a:bodyPr wrap="none" anchor="ctr"/>
          <a:lstStyle/>
          <a:p>
            <a:endParaRPr lang="ko-KR" altLang="en-US" sz="1200" dirty="0">
              <a:latin typeface="맑은 고딕" pitchFamily="50" charset="-127"/>
              <a:ea typeface="맑은 고딕" pitchFamily="50" charset="-127"/>
            </a:endParaRPr>
          </a:p>
        </p:txBody>
      </p:sp>
      <p:sp>
        <p:nvSpPr>
          <p:cNvPr id="98" name="Rectangle 42"/>
          <p:cNvSpPr>
            <a:spLocks noChangeArrowheads="1"/>
          </p:cNvSpPr>
          <p:nvPr/>
        </p:nvSpPr>
        <p:spPr bwMode="auto">
          <a:xfrm>
            <a:off x="1079989" y="4999039"/>
            <a:ext cx="1329103" cy="288925"/>
          </a:xfrm>
          <a:prstGeom prst="rect">
            <a:avLst/>
          </a:prstGeom>
          <a:solidFill>
            <a:srgbClr val="0000FF"/>
          </a:solidFill>
          <a:ln w="9525" algn="ctr">
            <a:solidFill>
              <a:schemeClr val="tx1"/>
            </a:solidFill>
            <a:miter lim="800000"/>
            <a:headEnd/>
            <a:tailEnd/>
          </a:ln>
        </p:spPr>
        <p:txBody>
          <a:bodyPr wrap="none" anchor="ctr"/>
          <a:lstStyle/>
          <a:p>
            <a:pPr algn="ctr"/>
            <a:r>
              <a:rPr lang="en-US" altLang="ko-KR" sz="1200" dirty="0" err="1">
                <a:solidFill>
                  <a:schemeClr val="bg1"/>
                </a:solidFill>
                <a:latin typeface="맑은 고딕" pitchFamily="50" charset="-127"/>
                <a:ea typeface="맑은 고딕" pitchFamily="50" charset="-127"/>
              </a:rPr>
              <a:t>Sản</a:t>
            </a:r>
            <a:r>
              <a:rPr lang="en-US" altLang="ko-KR" sz="1200" dirty="0">
                <a:solidFill>
                  <a:schemeClr val="bg1"/>
                </a:solidFill>
                <a:latin typeface="맑은 고딕" pitchFamily="50" charset="-127"/>
                <a:ea typeface="맑은 고딕" pitchFamily="50" charset="-127"/>
              </a:rPr>
              <a:t> </a:t>
            </a:r>
            <a:r>
              <a:rPr lang="en-US" altLang="ko-KR" sz="1200" dirty="0" err="1">
                <a:solidFill>
                  <a:schemeClr val="bg1"/>
                </a:solidFill>
                <a:latin typeface="맑은 고딕" pitchFamily="50" charset="-127"/>
                <a:ea typeface="맑은 고딕" pitchFamily="50" charset="-127"/>
              </a:rPr>
              <a:t>phẩm</a:t>
            </a:r>
            <a:r>
              <a:rPr lang="en-US" altLang="ko-KR" sz="1200" dirty="0">
                <a:solidFill>
                  <a:schemeClr val="bg1"/>
                </a:solidFill>
                <a:latin typeface="맑은 고딕" pitchFamily="50" charset="-127"/>
                <a:ea typeface="맑은 고딕" pitchFamily="50" charset="-127"/>
              </a:rPr>
              <a:t> OK</a:t>
            </a:r>
            <a:endParaRPr lang="ko-KR" altLang="en-US" sz="1200" dirty="0">
              <a:solidFill>
                <a:schemeClr val="bg1"/>
              </a:solidFill>
              <a:latin typeface="맑은 고딕" pitchFamily="50" charset="-127"/>
              <a:ea typeface="맑은 고딕" pitchFamily="50" charset="-127"/>
            </a:endParaRPr>
          </a:p>
        </p:txBody>
      </p:sp>
      <p:sp>
        <p:nvSpPr>
          <p:cNvPr id="99" name="Rectangle 43"/>
          <p:cNvSpPr>
            <a:spLocks noChangeArrowheads="1"/>
          </p:cNvSpPr>
          <p:nvPr/>
        </p:nvSpPr>
        <p:spPr bwMode="auto">
          <a:xfrm>
            <a:off x="2409093" y="4999039"/>
            <a:ext cx="731227" cy="288925"/>
          </a:xfrm>
          <a:prstGeom prst="rect">
            <a:avLst/>
          </a:prstGeom>
          <a:solidFill>
            <a:schemeClr val="hlink"/>
          </a:solidFill>
          <a:ln w="9525" algn="ctr">
            <a:solidFill>
              <a:schemeClr val="tx1"/>
            </a:solidFill>
            <a:miter lim="800000"/>
            <a:headEnd/>
            <a:tailEnd/>
          </a:ln>
        </p:spPr>
        <p:txBody>
          <a:bodyPr wrap="none" anchor="ctr"/>
          <a:lstStyle/>
          <a:p>
            <a:pPr algn="ctr"/>
            <a:r>
              <a:rPr lang="en-US" altLang="ko-KR" sz="1000" dirty="0" err="1">
                <a:solidFill>
                  <a:schemeClr val="bg1"/>
                </a:solidFill>
                <a:latin typeface="맑은 고딕" pitchFamily="50" charset="-127"/>
                <a:ea typeface="맑은 고딕" pitchFamily="50" charset="-127"/>
              </a:rPr>
              <a:t>Sản</a:t>
            </a:r>
            <a:r>
              <a:rPr lang="en-US" altLang="ko-KR" sz="1000" dirty="0">
                <a:solidFill>
                  <a:schemeClr val="bg1"/>
                </a:solidFill>
                <a:latin typeface="맑은 고딕" pitchFamily="50" charset="-127"/>
                <a:ea typeface="맑은 고딕" pitchFamily="50" charset="-127"/>
              </a:rPr>
              <a:t> </a:t>
            </a:r>
            <a:r>
              <a:rPr lang="en-US" altLang="ko-KR" sz="1000" dirty="0" err="1">
                <a:solidFill>
                  <a:schemeClr val="bg1"/>
                </a:solidFill>
                <a:latin typeface="맑은 고딕" pitchFamily="50" charset="-127"/>
                <a:ea typeface="맑은 고딕" pitchFamily="50" charset="-127"/>
              </a:rPr>
              <a:t>phẩm</a:t>
            </a:r>
            <a:endParaRPr lang="en-US" altLang="ko-KR" sz="1000" dirty="0">
              <a:solidFill>
                <a:schemeClr val="bg1"/>
              </a:solidFill>
              <a:latin typeface="맑은 고딕" pitchFamily="50" charset="-127"/>
              <a:ea typeface="맑은 고딕" pitchFamily="50" charset="-127"/>
            </a:endParaRPr>
          </a:p>
          <a:p>
            <a:pPr algn="ctr"/>
            <a:r>
              <a:rPr lang="en-US" altLang="ko-KR" sz="1000" dirty="0">
                <a:solidFill>
                  <a:schemeClr val="bg1"/>
                </a:solidFill>
                <a:latin typeface="맑은 고딕" pitchFamily="50" charset="-127"/>
                <a:ea typeface="맑은 고딕" pitchFamily="50" charset="-127"/>
              </a:rPr>
              <a:t> </a:t>
            </a:r>
            <a:r>
              <a:rPr lang="en-US" altLang="ko-KR" sz="1000" dirty="0" err="1">
                <a:solidFill>
                  <a:schemeClr val="bg1"/>
                </a:solidFill>
                <a:latin typeface="맑은 고딕" pitchFamily="50" charset="-127"/>
                <a:ea typeface="맑은 고딕" pitchFamily="50" charset="-127"/>
              </a:rPr>
              <a:t>mơ</a:t>
            </a:r>
            <a:r>
              <a:rPr lang="en-US" altLang="ko-KR" sz="1000" dirty="0">
                <a:solidFill>
                  <a:schemeClr val="bg1"/>
                </a:solidFill>
                <a:latin typeface="맑은 고딕" pitchFamily="50" charset="-127"/>
                <a:ea typeface="맑은 고딕" pitchFamily="50" charset="-127"/>
              </a:rPr>
              <a:t> </a:t>
            </a:r>
            <a:r>
              <a:rPr lang="en-US" altLang="ko-KR" sz="1000" dirty="0" err="1">
                <a:solidFill>
                  <a:schemeClr val="bg1"/>
                </a:solidFill>
                <a:latin typeface="맑은 고딕" pitchFamily="50" charset="-127"/>
                <a:ea typeface="맑은 고딕" pitchFamily="50" charset="-127"/>
              </a:rPr>
              <a:t>hồ</a:t>
            </a:r>
            <a:r>
              <a:rPr lang="en-US" altLang="ko-KR" sz="1000" dirty="0">
                <a:solidFill>
                  <a:schemeClr val="bg1"/>
                </a:solidFill>
                <a:latin typeface="맑은 고딕" pitchFamily="50" charset="-127"/>
                <a:ea typeface="맑은 고딕" pitchFamily="50" charset="-127"/>
              </a:rPr>
              <a:t> OK</a:t>
            </a:r>
            <a:endParaRPr lang="ko-KR" altLang="en-US" sz="1000" dirty="0">
              <a:solidFill>
                <a:schemeClr val="bg1"/>
              </a:solidFill>
              <a:latin typeface="맑은 고딕" pitchFamily="50" charset="-127"/>
              <a:ea typeface="맑은 고딕" pitchFamily="50" charset="-127"/>
            </a:endParaRPr>
          </a:p>
        </p:txBody>
      </p:sp>
      <p:sp>
        <p:nvSpPr>
          <p:cNvPr id="100" name="Rectangle 44"/>
          <p:cNvSpPr>
            <a:spLocks noChangeArrowheads="1"/>
          </p:cNvSpPr>
          <p:nvPr/>
        </p:nvSpPr>
        <p:spPr bwMode="auto">
          <a:xfrm>
            <a:off x="3936023" y="4999039"/>
            <a:ext cx="1261697" cy="288925"/>
          </a:xfrm>
          <a:prstGeom prst="rect">
            <a:avLst/>
          </a:prstGeom>
          <a:solidFill>
            <a:srgbClr val="FF0000"/>
          </a:solidFill>
          <a:ln w="9525" algn="ctr">
            <a:solidFill>
              <a:schemeClr val="tx1"/>
            </a:solidFill>
            <a:miter lim="800000"/>
            <a:headEnd/>
            <a:tailEnd/>
          </a:ln>
        </p:spPr>
        <p:txBody>
          <a:bodyPr wrap="none" anchor="ctr"/>
          <a:lstStyle/>
          <a:p>
            <a:pPr algn="ctr"/>
            <a:r>
              <a:rPr lang="en-US" altLang="ko-KR" sz="1200" dirty="0" err="1">
                <a:solidFill>
                  <a:schemeClr val="bg1"/>
                </a:solidFill>
                <a:latin typeface="맑은 고딕" pitchFamily="50" charset="-127"/>
                <a:ea typeface="맑은 고딕" pitchFamily="50" charset="-127"/>
              </a:rPr>
              <a:t>Sản</a:t>
            </a:r>
            <a:r>
              <a:rPr lang="en-US" altLang="ko-KR" sz="1200" dirty="0">
                <a:solidFill>
                  <a:schemeClr val="bg1"/>
                </a:solidFill>
                <a:latin typeface="맑은 고딕" pitchFamily="50" charset="-127"/>
                <a:ea typeface="맑은 고딕" pitchFamily="50" charset="-127"/>
              </a:rPr>
              <a:t> </a:t>
            </a:r>
            <a:r>
              <a:rPr lang="en-US" altLang="ko-KR" sz="1200" dirty="0" err="1">
                <a:solidFill>
                  <a:schemeClr val="bg1"/>
                </a:solidFill>
                <a:latin typeface="맑은 고딕" pitchFamily="50" charset="-127"/>
                <a:ea typeface="맑은 고딕" pitchFamily="50" charset="-127"/>
              </a:rPr>
              <a:t>phẩm</a:t>
            </a:r>
            <a:r>
              <a:rPr lang="en-US" altLang="ko-KR" sz="1200" dirty="0">
                <a:solidFill>
                  <a:schemeClr val="bg1"/>
                </a:solidFill>
                <a:latin typeface="맑은 고딕" pitchFamily="50" charset="-127"/>
                <a:ea typeface="맑은 고딕" pitchFamily="50" charset="-127"/>
              </a:rPr>
              <a:t> NG</a:t>
            </a:r>
            <a:endParaRPr lang="ko-KR" altLang="en-US" sz="1200" dirty="0">
              <a:solidFill>
                <a:schemeClr val="bg1"/>
              </a:solidFill>
              <a:latin typeface="맑은 고딕" pitchFamily="50" charset="-127"/>
              <a:ea typeface="맑은 고딕" pitchFamily="50" charset="-127"/>
            </a:endParaRPr>
          </a:p>
        </p:txBody>
      </p:sp>
      <p:sp>
        <p:nvSpPr>
          <p:cNvPr id="101" name="Rectangle 45"/>
          <p:cNvSpPr>
            <a:spLocks noChangeArrowheads="1"/>
          </p:cNvSpPr>
          <p:nvPr/>
        </p:nvSpPr>
        <p:spPr bwMode="auto">
          <a:xfrm>
            <a:off x="3140320" y="4999039"/>
            <a:ext cx="797169" cy="288925"/>
          </a:xfrm>
          <a:prstGeom prst="rect">
            <a:avLst/>
          </a:prstGeom>
          <a:solidFill>
            <a:srgbClr val="FFCCFF"/>
          </a:solidFill>
          <a:ln w="9525" algn="ctr">
            <a:solidFill>
              <a:schemeClr val="tx1"/>
            </a:solidFill>
            <a:miter lim="800000"/>
            <a:headEnd/>
            <a:tailEnd/>
          </a:ln>
        </p:spPr>
        <p:txBody>
          <a:bodyPr wrap="none" anchor="ctr"/>
          <a:lstStyle/>
          <a:p>
            <a:pPr algn="ctr"/>
            <a:r>
              <a:rPr lang="en-US" altLang="ko-KR" sz="1000" dirty="0" err="1">
                <a:latin typeface="맑은 고딕" pitchFamily="50" charset="-127"/>
                <a:ea typeface="맑은 고딕" pitchFamily="50" charset="-127"/>
              </a:rPr>
              <a:t>Sản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phẩm</a:t>
            </a:r>
            <a:r>
              <a:rPr lang="en-US" altLang="ko-KR" sz="1000" dirty="0">
                <a:latin typeface="맑은 고딕" pitchFamily="50" charset="-127"/>
                <a:ea typeface="맑은 고딕" pitchFamily="50" charset="-127"/>
              </a:rPr>
              <a:t> </a:t>
            </a:r>
          </a:p>
          <a:p>
            <a:pPr algn="ctr"/>
            <a:r>
              <a:rPr lang="en-US" altLang="ko-KR" sz="1000" dirty="0" err="1">
                <a:latin typeface="맑은 고딕" pitchFamily="50" charset="-127"/>
                <a:ea typeface="맑은 고딕" pitchFamily="50" charset="-127"/>
              </a:rPr>
              <a:t>mơ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hồ</a:t>
            </a:r>
            <a:r>
              <a:rPr lang="en-US" altLang="ko-KR" sz="1000" dirty="0">
                <a:latin typeface="맑은 고딕" pitchFamily="50" charset="-127"/>
                <a:ea typeface="맑은 고딕" pitchFamily="50" charset="-127"/>
              </a:rPr>
              <a:t> NG</a:t>
            </a:r>
            <a:endParaRPr lang="ko-KR" altLang="en-US" sz="1000" dirty="0">
              <a:latin typeface="맑은 고딕" pitchFamily="50" charset="-127"/>
              <a:ea typeface="맑은 고딕" pitchFamily="50" charset="-127"/>
            </a:endParaRPr>
          </a:p>
        </p:txBody>
      </p:sp>
      <p:sp>
        <p:nvSpPr>
          <p:cNvPr id="102" name="Line 46"/>
          <p:cNvSpPr>
            <a:spLocks noChangeShapeType="1"/>
          </p:cNvSpPr>
          <p:nvPr/>
        </p:nvSpPr>
        <p:spPr bwMode="auto">
          <a:xfrm flipV="1">
            <a:off x="1084384" y="4835525"/>
            <a:ext cx="2035420" cy="1588"/>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3" name="Line 47"/>
          <p:cNvSpPr>
            <a:spLocks noChangeShapeType="1"/>
          </p:cNvSpPr>
          <p:nvPr/>
        </p:nvSpPr>
        <p:spPr bwMode="auto">
          <a:xfrm flipV="1">
            <a:off x="3144716" y="4827589"/>
            <a:ext cx="2054469" cy="3175"/>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4" name="Text Box 48"/>
          <p:cNvSpPr txBox="1">
            <a:spLocks noChangeArrowheads="1"/>
          </p:cNvSpPr>
          <p:nvPr/>
        </p:nvSpPr>
        <p:spPr bwMode="auto">
          <a:xfrm>
            <a:off x="1743808" y="4691064"/>
            <a:ext cx="665285" cy="274637"/>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1/2</a:t>
            </a:r>
          </a:p>
        </p:txBody>
      </p:sp>
      <p:sp>
        <p:nvSpPr>
          <p:cNvPr id="105" name="Text Box 49"/>
          <p:cNvSpPr txBox="1">
            <a:spLocks noChangeArrowheads="1"/>
          </p:cNvSpPr>
          <p:nvPr/>
        </p:nvSpPr>
        <p:spPr bwMode="auto">
          <a:xfrm>
            <a:off x="3804139" y="4686300"/>
            <a:ext cx="665285" cy="274638"/>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1/2</a:t>
            </a:r>
          </a:p>
        </p:txBody>
      </p:sp>
      <p:sp>
        <p:nvSpPr>
          <p:cNvPr id="106" name="Line 50"/>
          <p:cNvSpPr>
            <a:spLocks noChangeShapeType="1"/>
          </p:cNvSpPr>
          <p:nvPr/>
        </p:nvSpPr>
        <p:spPr bwMode="auto">
          <a:xfrm>
            <a:off x="1077058" y="5445125"/>
            <a:ext cx="1340826" cy="0"/>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7" name="Line 51"/>
          <p:cNvSpPr>
            <a:spLocks noChangeShapeType="1"/>
          </p:cNvSpPr>
          <p:nvPr/>
        </p:nvSpPr>
        <p:spPr bwMode="auto">
          <a:xfrm>
            <a:off x="2412024" y="5445125"/>
            <a:ext cx="1521069" cy="1588"/>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8" name="Line 52"/>
          <p:cNvSpPr>
            <a:spLocks noChangeShapeType="1"/>
          </p:cNvSpPr>
          <p:nvPr/>
        </p:nvSpPr>
        <p:spPr bwMode="auto">
          <a:xfrm>
            <a:off x="3936023" y="5440363"/>
            <a:ext cx="1286608" cy="4762"/>
          </a:xfrm>
          <a:prstGeom prst="line">
            <a:avLst/>
          </a:prstGeom>
          <a:noFill/>
          <a:ln w="9525">
            <a:solidFill>
              <a:schemeClr val="bg2">
                <a:lumMod val="75000"/>
              </a:schemeClr>
            </a:solidFill>
            <a:round/>
            <a:headEnd type="triangle" w="med" len="med"/>
            <a:tailEnd type="triangle" w="med" len="med"/>
          </a:ln>
          <a:effectLst/>
        </p:spPr>
        <p:txBody>
          <a:bodyPr anchor="ctr"/>
          <a:lstStyle/>
          <a:p>
            <a:pPr>
              <a:defRPr/>
            </a:pPr>
            <a:endParaRPr lang="ko-KR" altLang="en-US" sz="1200" dirty="0">
              <a:latin typeface="맑은 고딕" pitchFamily="50" charset="-127"/>
              <a:ea typeface="맑은 고딕" pitchFamily="50" charset="-127"/>
            </a:endParaRPr>
          </a:p>
        </p:txBody>
      </p:sp>
      <p:sp>
        <p:nvSpPr>
          <p:cNvPr id="109" name="Text Box 53"/>
          <p:cNvSpPr txBox="1">
            <a:spLocks noChangeArrowheads="1"/>
          </p:cNvSpPr>
          <p:nvPr/>
        </p:nvSpPr>
        <p:spPr bwMode="auto">
          <a:xfrm>
            <a:off x="1411166" y="5303839"/>
            <a:ext cx="665285" cy="274637"/>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1/3</a:t>
            </a:r>
          </a:p>
        </p:txBody>
      </p:sp>
      <p:sp>
        <p:nvSpPr>
          <p:cNvPr id="110" name="Text Box 54"/>
          <p:cNvSpPr txBox="1">
            <a:spLocks noChangeArrowheads="1"/>
          </p:cNvSpPr>
          <p:nvPr/>
        </p:nvSpPr>
        <p:spPr bwMode="auto">
          <a:xfrm>
            <a:off x="2797420" y="5299075"/>
            <a:ext cx="665285" cy="274638"/>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1/3</a:t>
            </a:r>
          </a:p>
        </p:txBody>
      </p:sp>
      <p:sp>
        <p:nvSpPr>
          <p:cNvPr id="111" name="Text Box 55"/>
          <p:cNvSpPr txBox="1">
            <a:spLocks noChangeArrowheads="1"/>
          </p:cNvSpPr>
          <p:nvPr/>
        </p:nvSpPr>
        <p:spPr bwMode="auto">
          <a:xfrm>
            <a:off x="4192466" y="5302250"/>
            <a:ext cx="665285" cy="274638"/>
          </a:xfrm>
          <a:prstGeom prst="rect">
            <a:avLst/>
          </a:prstGeom>
          <a:solidFill>
            <a:schemeClr val="bg1"/>
          </a:solidFill>
          <a:ln w="9525" algn="ctr">
            <a:noFill/>
            <a:miter lim="800000"/>
            <a:headEnd/>
            <a:tailEnd/>
          </a:ln>
        </p:spPr>
        <p:txBody>
          <a:bodyPr>
            <a:spAutoFit/>
          </a:bodyPr>
          <a:lstStyle/>
          <a:p>
            <a:pPr algn="ctr"/>
            <a:r>
              <a:rPr lang="en-US" altLang="ko-KR" sz="1200" dirty="0">
                <a:latin typeface="맑은 고딕" pitchFamily="50" charset="-127"/>
                <a:ea typeface="맑은 고딕" pitchFamily="50" charset="-127"/>
              </a:rPr>
              <a:t>1/3</a:t>
            </a:r>
          </a:p>
        </p:txBody>
      </p:sp>
      <p:sp>
        <p:nvSpPr>
          <p:cNvPr id="112" name="Line 60"/>
          <p:cNvSpPr>
            <a:spLocks noChangeShapeType="1"/>
          </p:cNvSpPr>
          <p:nvPr/>
        </p:nvSpPr>
        <p:spPr bwMode="auto">
          <a:xfrm>
            <a:off x="3140320" y="4649789"/>
            <a:ext cx="0" cy="352425"/>
          </a:xfrm>
          <a:prstGeom prst="line">
            <a:avLst/>
          </a:prstGeom>
          <a:noFill/>
          <a:ln w="12700">
            <a:solidFill>
              <a:srgbClr val="0000FF"/>
            </a:solidFill>
            <a:prstDash val="dash"/>
            <a:round/>
            <a:headEnd/>
            <a:tailEnd/>
          </a:ln>
        </p:spPr>
        <p:txBody>
          <a:bodyPr/>
          <a:lstStyle/>
          <a:p>
            <a:endParaRPr lang="ko-KR" altLang="en-US" dirty="0"/>
          </a:p>
        </p:txBody>
      </p:sp>
      <p:sp>
        <p:nvSpPr>
          <p:cNvPr id="113" name="Line 61"/>
          <p:cNvSpPr>
            <a:spLocks noChangeShapeType="1"/>
          </p:cNvSpPr>
          <p:nvPr/>
        </p:nvSpPr>
        <p:spPr bwMode="auto">
          <a:xfrm>
            <a:off x="2410558" y="5291139"/>
            <a:ext cx="0" cy="352425"/>
          </a:xfrm>
          <a:prstGeom prst="line">
            <a:avLst/>
          </a:prstGeom>
          <a:noFill/>
          <a:ln w="12700">
            <a:solidFill>
              <a:srgbClr val="0000FF"/>
            </a:solidFill>
            <a:prstDash val="dash"/>
            <a:round/>
            <a:headEnd/>
            <a:tailEnd/>
          </a:ln>
        </p:spPr>
        <p:txBody>
          <a:bodyPr/>
          <a:lstStyle/>
          <a:p>
            <a:endParaRPr lang="ko-KR" altLang="en-US" dirty="0"/>
          </a:p>
        </p:txBody>
      </p:sp>
      <p:sp>
        <p:nvSpPr>
          <p:cNvPr id="114" name="Line 62"/>
          <p:cNvSpPr>
            <a:spLocks noChangeShapeType="1"/>
          </p:cNvSpPr>
          <p:nvPr/>
        </p:nvSpPr>
        <p:spPr bwMode="auto">
          <a:xfrm>
            <a:off x="3937489" y="5240339"/>
            <a:ext cx="0" cy="352425"/>
          </a:xfrm>
          <a:prstGeom prst="line">
            <a:avLst/>
          </a:prstGeom>
          <a:noFill/>
          <a:ln w="12700">
            <a:solidFill>
              <a:srgbClr val="0000FF"/>
            </a:solidFill>
            <a:prstDash val="dash"/>
            <a:round/>
            <a:headEnd/>
            <a:tailEnd/>
          </a:ln>
        </p:spPr>
        <p:txBody>
          <a:bodyPr/>
          <a:lstStyle/>
          <a:p>
            <a:endParaRPr lang="ko-KR" altLang="en-US" dirty="0"/>
          </a:p>
        </p:txBody>
      </p:sp>
      <p:sp>
        <p:nvSpPr>
          <p:cNvPr id="115" name="Text Box 2"/>
          <p:cNvSpPr txBox="1">
            <a:spLocks noChangeArrowheads="1"/>
          </p:cNvSpPr>
          <p:nvPr/>
        </p:nvSpPr>
        <p:spPr bwMode="auto">
          <a:xfrm>
            <a:off x="6438037" y="1772816"/>
            <a:ext cx="2700542" cy="651905"/>
          </a:xfrm>
          <a:prstGeom prst="rect">
            <a:avLst/>
          </a:prstGeom>
          <a:noFill/>
          <a:ln w="9525">
            <a:noFill/>
            <a:miter lim="800000"/>
            <a:headEnd/>
            <a:tailEnd/>
          </a:ln>
        </p:spPr>
        <p:txBody>
          <a:bodyPr wrap="none" lIns="18000" tIns="18000" rIns="18000" bIns="18000">
            <a:spAutoFit/>
          </a:bodyPr>
          <a:lstStyle/>
          <a:p>
            <a:pPr>
              <a:buFontTx/>
              <a:buChar char="•"/>
            </a:pP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Giới</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hạn</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dụng</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cụ</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đo</a:t>
            </a:r>
            <a:r>
              <a:rPr lang="en-US" altLang="ko-KR" sz="1000" b="1" dirty="0">
                <a:latin typeface="맑은 고딕" pitchFamily="50" charset="-127"/>
                <a:ea typeface="맑은 고딕" pitchFamily="50" charset="-127"/>
              </a:rPr>
              <a:t>(Go/No-Go Gage) </a:t>
            </a:r>
          </a:p>
          <a:p>
            <a:r>
              <a:rPr lang="en-US" altLang="ko-KR" sz="1000" dirty="0" err="1">
                <a:latin typeface="맑은 고딕" pitchFamily="50" charset="-127"/>
                <a:ea typeface="맑은 고딕" pitchFamily="50" charset="-127"/>
              </a:rPr>
              <a:t>Dụng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cụ</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đo</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hệ</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số</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đại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diện.Test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chỉ</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số</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linh</a:t>
            </a:r>
            <a:r>
              <a:rPr lang="en-US" altLang="ko-KR" sz="1000" dirty="0">
                <a:latin typeface="맑은 고딕" pitchFamily="50" charset="-127"/>
                <a:ea typeface="맑은 고딕" pitchFamily="50" charset="-127"/>
              </a:rPr>
              <a:t> </a:t>
            </a:r>
          </a:p>
          <a:p>
            <a:r>
              <a:rPr lang="en-US" altLang="ko-KR" sz="1000" dirty="0" err="1">
                <a:latin typeface="맑은 고딕" pitchFamily="50" charset="-127"/>
                <a:ea typeface="맑은 고딕" pitchFamily="50" charset="-127"/>
              </a:rPr>
              <a:t>kiện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có</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nằm</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trong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phạm</a:t>
            </a:r>
            <a:r>
              <a:rPr lang="en-US" altLang="ko-KR" sz="1000" dirty="0">
                <a:latin typeface="맑은 고딕" pitchFamily="50" charset="-127"/>
                <a:ea typeface="맑은 고딕" pitchFamily="50" charset="-127"/>
              </a:rPr>
              <a:t> vi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thấp</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nhất</a:t>
            </a:r>
            <a:r>
              <a:rPr lang="en-US" altLang="ko-KR" sz="1000" dirty="0">
                <a:latin typeface="맑은 고딕" pitchFamily="50" charset="-127"/>
                <a:ea typeface="맑은 고딕" pitchFamily="50" charset="-127"/>
              </a:rPr>
              <a:t>,</a:t>
            </a:r>
          </a:p>
          <a:p>
            <a:r>
              <a:rPr lang="en-US" altLang="ko-KR" sz="1000" dirty="0" err="1">
                <a:latin typeface="맑은 고딕" pitchFamily="50" charset="-127"/>
                <a:ea typeface="맑은 고딕" pitchFamily="50" charset="-127"/>
              </a:rPr>
              <a:t>cao</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nhất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của</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tiêu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chuẩn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linh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kiện</a:t>
            </a:r>
            <a:r>
              <a:rPr lang="en-US" altLang="ko-KR" sz="1000" dirty="0">
                <a:latin typeface="맑은 고딕" pitchFamily="50" charset="-127"/>
                <a:ea typeface="맑은 고딕" pitchFamily="50" charset="-127"/>
              </a:rPr>
              <a:t> hay </a:t>
            </a:r>
            <a:r>
              <a:rPr lang="en-US" altLang="ko-KR" sz="1000" dirty="0" err="1">
                <a:latin typeface="맑은 고딕" pitchFamily="50" charset="-127"/>
                <a:ea typeface="맑은 고딕" pitchFamily="50" charset="-127"/>
              </a:rPr>
              <a:t>không</a:t>
            </a:r>
            <a:endParaRPr lang="en-US" altLang="ko-KR" sz="1000" dirty="0">
              <a:latin typeface="맑은 고딕" pitchFamily="50" charset="-127"/>
              <a:ea typeface="맑은 고딕" pitchFamily="50" charset="-127"/>
            </a:endParaRPr>
          </a:p>
        </p:txBody>
      </p:sp>
      <p:sp>
        <p:nvSpPr>
          <p:cNvPr id="116" name="Text Box 3"/>
          <p:cNvSpPr txBox="1">
            <a:spLocks noChangeArrowheads="1"/>
          </p:cNvSpPr>
          <p:nvPr/>
        </p:nvSpPr>
        <p:spPr bwMode="auto">
          <a:xfrm>
            <a:off x="6804248" y="1484784"/>
            <a:ext cx="1933543" cy="246221"/>
          </a:xfrm>
          <a:prstGeom prst="rect">
            <a:avLst/>
          </a:prstGeom>
          <a:noFill/>
          <a:ln w="9525">
            <a:solidFill>
              <a:schemeClr val="folHlink"/>
            </a:solidFill>
            <a:miter lim="800000"/>
            <a:headEnd/>
            <a:tailEnd/>
          </a:ln>
        </p:spPr>
        <p:txBody>
          <a:bodyPr wrap="none">
            <a:spAutoFit/>
          </a:bodyPr>
          <a:lstStyle/>
          <a:p>
            <a:r>
              <a:rPr lang="en-US" altLang="ko-KR" sz="1000" dirty="0" err="1">
                <a:latin typeface="맑은 고딕" pitchFamily="50" charset="-127"/>
                <a:ea typeface="맑은 고딕" pitchFamily="50" charset="-127"/>
              </a:rPr>
              <a:t>Các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loại</a:t>
            </a:r>
            <a:r>
              <a:rPr lang="en-US" altLang="ko-KR" sz="1000" dirty="0">
                <a:latin typeface="맑은 고딕" pitchFamily="50" charset="-127"/>
                <a:ea typeface="맑은 고딕" pitchFamily="50" charset="-127"/>
              </a:rPr>
              <a:t> system </a:t>
            </a:r>
            <a:r>
              <a:rPr lang="en-US" altLang="ko-KR" sz="1000" dirty="0" err="1">
                <a:latin typeface="맑은 고딕" pitchFamily="50" charset="-127"/>
                <a:ea typeface="맑은 고딕" pitchFamily="50" charset="-127"/>
              </a:rPr>
              <a:t>đo</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thuộc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tính</a:t>
            </a:r>
            <a:endParaRPr lang="ko-KR" altLang="en-US" sz="1000" dirty="0">
              <a:latin typeface="맑은 고딕" pitchFamily="50" charset="-127"/>
              <a:ea typeface="맑은 고딕" pitchFamily="50" charset="-127"/>
            </a:endParaRPr>
          </a:p>
        </p:txBody>
      </p:sp>
      <p:sp>
        <p:nvSpPr>
          <p:cNvPr id="117" name="Text Box 4"/>
          <p:cNvSpPr txBox="1">
            <a:spLocks noChangeArrowheads="1"/>
          </p:cNvSpPr>
          <p:nvPr/>
        </p:nvSpPr>
        <p:spPr bwMode="auto">
          <a:xfrm>
            <a:off x="6444208" y="2420888"/>
            <a:ext cx="2634820" cy="651905"/>
          </a:xfrm>
          <a:prstGeom prst="rect">
            <a:avLst/>
          </a:prstGeom>
          <a:noFill/>
          <a:ln w="9525">
            <a:noFill/>
            <a:miter lim="800000"/>
            <a:headEnd/>
            <a:tailEnd/>
          </a:ln>
        </p:spPr>
        <p:txBody>
          <a:bodyPr wrap="none" lIns="18000" tIns="18000" rIns="18000" bIns="18000">
            <a:spAutoFit/>
          </a:bodyPr>
          <a:lstStyle/>
          <a:p>
            <a:pPr>
              <a:buFontTx/>
              <a:buChar char="•"/>
            </a:pPr>
            <a:r>
              <a:rPr lang="en-US" altLang="ko-KR" sz="1000"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Kiểm</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tra</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các</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chỉ</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tiêu</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cảm</a:t>
            </a:r>
            <a:endParaRPr lang="ko-KR" altLang="en-US" sz="1000" b="1" dirty="0">
              <a:latin typeface="맑은 고딕" pitchFamily="50" charset="-127"/>
              <a:ea typeface="맑은 고딕" pitchFamily="50" charset="-127"/>
            </a:endParaRPr>
          </a:p>
          <a:p>
            <a:r>
              <a:rPr lang="ko-KR" altLang="en-US"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Sử</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dụng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cảm</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của</a:t>
            </a:r>
            <a:r>
              <a:rPr lang="en-US" altLang="ko-KR" sz="1000" dirty="0">
                <a:latin typeface="맑은 고딕" pitchFamily="50" charset="-127"/>
                <a:ea typeface="맑은 고딕" pitchFamily="50" charset="-127"/>
              </a:rPr>
              <a:t> con </a:t>
            </a:r>
            <a:r>
              <a:rPr lang="en-US" altLang="ko-KR" sz="1000" dirty="0" err="1">
                <a:latin typeface="맑은 고딕" pitchFamily="50" charset="-127"/>
                <a:ea typeface="맑은 고딕" pitchFamily="50" charset="-127"/>
              </a:rPr>
              <a:t>người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giác</a:t>
            </a:r>
            <a:r>
              <a:rPr lang="en-US" altLang="ko-KR" sz="1000" dirty="0">
                <a:latin typeface="맑은 고딕" pitchFamily="50" charset="-127"/>
                <a:ea typeface="맑은 고딕" pitchFamily="50" charset="-127"/>
              </a:rPr>
              <a:t>,</a:t>
            </a:r>
          </a:p>
          <a:p>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thính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xúc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khứu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vị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ngũ</a:t>
            </a:r>
            <a:endParaRPr lang="en-US" altLang="ko-KR" sz="1000" dirty="0">
              <a:latin typeface="맑은 고딕" pitchFamily="50" charset="-127"/>
              <a:ea typeface="맑은 고딕" pitchFamily="50" charset="-127"/>
            </a:endParaRPr>
          </a:p>
          <a:p>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quan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chất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lượng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sản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phẩm</a:t>
            </a:r>
            <a:endParaRPr lang="ko-KR" altLang="en-US" sz="1000" dirty="0">
              <a:latin typeface="맑은 고딕" pitchFamily="50" charset="-127"/>
              <a:ea typeface="맑은 고딕" pitchFamily="50" charset="-127"/>
            </a:endParaRPr>
          </a:p>
        </p:txBody>
      </p:sp>
      <p:sp>
        <p:nvSpPr>
          <p:cNvPr id="118" name="Text Box 57"/>
          <p:cNvSpPr txBox="1">
            <a:spLocks noChangeArrowheads="1"/>
          </p:cNvSpPr>
          <p:nvPr/>
        </p:nvSpPr>
        <p:spPr bwMode="auto">
          <a:xfrm>
            <a:off x="6444208" y="3068960"/>
            <a:ext cx="2597186" cy="400110"/>
          </a:xfrm>
          <a:prstGeom prst="rect">
            <a:avLst/>
          </a:prstGeom>
          <a:noFill/>
          <a:ln w="9525" algn="ctr">
            <a:noFill/>
            <a:miter lim="800000"/>
            <a:headEnd/>
            <a:tailEnd/>
          </a:ln>
        </p:spPr>
        <p:txBody>
          <a:bodyPr wrap="none">
            <a:spAutoFit/>
          </a:bodyPr>
          <a:lstStyle/>
          <a:p>
            <a:pPr algn="ctr">
              <a:buFontTx/>
              <a:buChar char="•"/>
            </a:pP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Số</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vòng</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lặp</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lại</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và</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số</a:t>
            </a:r>
            <a:r>
              <a:rPr lang="en-US" altLang="ko-KR" sz="1000" b="1" dirty="0">
                <a:latin typeface="맑은 고딕" pitchFamily="50" charset="-127"/>
                <a:ea typeface="맑은 고딕" pitchFamily="50" charset="-127"/>
              </a:rPr>
              <a:t> sample </a:t>
            </a:r>
            <a:r>
              <a:rPr lang="en-US" altLang="ko-KR" sz="1000" b="1" dirty="0" err="1">
                <a:latin typeface="맑은 고딕" pitchFamily="50" charset="-127"/>
                <a:ea typeface="맑은 고딕" pitchFamily="50" charset="-127"/>
              </a:rPr>
              <a:t>theo</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số</a:t>
            </a:r>
            <a:r>
              <a:rPr lang="en-US" altLang="ko-KR" sz="1000" b="1" dirty="0">
                <a:latin typeface="맑은 고딕" pitchFamily="50" charset="-127"/>
                <a:ea typeface="맑은 고딕" pitchFamily="50" charset="-127"/>
              </a:rPr>
              <a:t> </a:t>
            </a:r>
          </a:p>
          <a:p>
            <a:pPr algn="ctr"/>
            <a:r>
              <a:rPr lang="en-US" altLang="ko-KR" sz="1000" b="1" dirty="0" err="1">
                <a:latin typeface="맑은 고딕" pitchFamily="50" charset="-127"/>
                <a:ea typeface="맑은 고딕" pitchFamily="50" charset="-127"/>
              </a:rPr>
              <a:t>người</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đánh</a:t>
            </a:r>
            <a:r>
              <a:rPr lang="en-US" altLang="ko-KR" sz="1000" b="1" dirty="0">
                <a:latin typeface="맑은 고딕" pitchFamily="50" charset="-127"/>
                <a:ea typeface="맑은 고딕" pitchFamily="50" charset="-127"/>
              </a:rPr>
              <a:t> </a:t>
            </a:r>
            <a:r>
              <a:rPr lang="en-US" altLang="ko-KR" sz="1000" b="1" dirty="0" err="1">
                <a:latin typeface="맑은 고딕" pitchFamily="50" charset="-127"/>
                <a:ea typeface="맑은 고딕" pitchFamily="50" charset="-127"/>
              </a:rPr>
              <a:t>giá</a:t>
            </a:r>
            <a:endParaRPr lang="ko-KR" altLang="en-US" sz="1000" b="1" dirty="0">
              <a:latin typeface="맑은 고딕" pitchFamily="50" charset="-127"/>
              <a:ea typeface="맑은 고딕" pitchFamily="50" charset="-127"/>
            </a:endParaRPr>
          </a:p>
        </p:txBody>
      </p:sp>
      <p:sp>
        <p:nvSpPr>
          <p:cNvPr id="119" name="Text Box 58"/>
          <p:cNvSpPr txBox="1">
            <a:spLocks noChangeArrowheads="1"/>
          </p:cNvSpPr>
          <p:nvPr/>
        </p:nvSpPr>
        <p:spPr bwMode="auto">
          <a:xfrm>
            <a:off x="6444208" y="4321176"/>
            <a:ext cx="2682910" cy="2344676"/>
          </a:xfrm>
          <a:prstGeom prst="rect">
            <a:avLst/>
          </a:prstGeom>
          <a:noFill/>
          <a:ln w="9525" algn="ctr">
            <a:noFill/>
            <a:miter lim="800000"/>
            <a:headEnd/>
            <a:tailEnd/>
          </a:ln>
          <a:effectLst/>
        </p:spPr>
        <p:txBody>
          <a:bodyPr wrap="none" lIns="18000" tIns="18000" rIns="18000" bIns="18000">
            <a:spAutoFit/>
          </a:bodyPr>
          <a:lstStyle/>
          <a:p>
            <a:pPr>
              <a:buFont typeface="Arial" pitchFamily="34" charset="0"/>
              <a:buChar char="•"/>
              <a:defRPr/>
            </a:pPr>
            <a:r>
              <a:rPr lang="en-US" altLang="ko-KR" sz="1000" b="1" dirty="0">
                <a:solidFill>
                  <a:srgbClr val="FF0000"/>
                </a:solidFill>
                <a:latin typeface="맑은 고딕" pitchFamily="50" charset="-127"/>
                <a:ea typeface="맑은 고딕" pitchFamily="50" charset="-127"/>
              </a:rPr>
              <a:t> </a:t>
            </a:r>
            <a:r>
              <a:rPr lang="en-US" altLang="ko-KR" sz="1000" b="1" dirty="0" err="1">
                <a:solidFill>
                  <a:srgbClr val="FF0000"/>
                </a:solidFill>
                <a:latin typeface="맑은 고딕" pitchFamily="50" charset="-127"/>
                <a:ea typeface="맑은 고딕" pitchFamily="50" charset="-127"/>
              </a:rPr>
              <a:t>Khi</a:t>
            </a:r>
            <a:r>
              <a:rPr lang="en-US" altLang="ko-KR" sz="1000" b="1" dirty="0">
                <a:solidFill>
                  <a:srgbClr val="FF0000"/>
                </a:solidFill>
                <a:latin typeface="맑은 고딕" pitchFamily="50" charset="-127"/>
                <a:ea typeface="맑은 고딕" pitchFamily="50" charset="-127"/>
              </a:rPr>
              <a:t> </a:t>
            </a:r>
            <a:r>
              <a:rPr lang="en-US" altLang="ko-KR" sz="1000" b="1" dirty="0" err="1">
                <a:solidFill>
                  <a:srgbClr val="FF0000"/>
                </a:solidFill>
                <a:latin typeface="맑은 고딕" pitchFamily="50" charset="-127"/>
                <a:ea typeface="맑은 고딕" pitchFamily="50" charset="-127"/>
              </a:rPr>
              <a:t>đo</a:t>
            </a:r>
            <a:r>
              <a:rPr lang="en-US" altLang="ko-KR" sz="1000" b="1" dirty="0">
                <a:solidFill>
                  <a:srgbClr val="FF0000"/>
                </a:solidFill>
                <a:latin typeface="맑은 고딕" pitchFamily="50" charset="-127"/>
                <a:ea typeface="맑은 고딕" pitchFamily="50" charset="-127"/>
              </a:rPr>
              <a:t> </a:t>
            </a:r>
            <a:r>
              <a:rPr lang="en-US" altLang="ko-KR" sz="1000" b="1" dirty="0" err="1">
                <a:solidFill>
                  <a:srgbClr val="FF0000"/>
                </a:solidFill>
                <a:latin typeface="맑은 고딕" pitchFamily="50" charset="-127"/>
                <a:ea typeface="맑은 고딕" pitchFamily="50" charset="-127"/>
              </a:rPr>
              <a:t>đạc</a:t>
            </a:r>
            <a:r>
              <a:rPr lang="en-US" altLang="ko-KR" sz="1000" b="1" dirty="0">
                <a:solidFill>
                  <a:srgbClr val="FF0000"/>
                </a:solidFill>
                <a:latin typeface="맑은 고딕" pitchFamily="50" charset="-127"/>
                <a:ea typeface="맑은 고딕" pitchFamily="50" charset="-127"/>
              </a:rPr>
              <a:t> data </a:t>
            </a:r>
            <a:r>
              <a:rPr lang="en-US" altLang="ko-KR" sz="1000" b="1" dirty="0" err="1">
                <a:solidFill>
                  <a:srgbClr val="FF0000"/>
                </a:solidFill>
                <a:latin typeface="맑은 고딕" pitchFamily="50" charset="-127"/>
                <a:ea typeface="맑은 고딕" pitchFamily="50" charset="-127"/>
              </a:rPr>
              <a:t>những</a:t>
            </a:r>
            <a:r>
              <a:rPr lang="en-US" altLang="ko-KR" sz="1000" b="1" dirty="0">
                <a:solidFill>
                  <a:srgbClr val="FF0000"/>
                </a:solidFill>
                <a:latin typeface="맑은 고딕" pitchFamily="50" charset="-127"/>
                <a:ea typeface="맑은 고딕" pitchFamily="50" charset="-127"/>
              </a:rPr>
              <a:t> </a:t>
            </a:r>
            <a:r>
              <a:rPr lang="en-US" altLang="ko-KR" sz="1000" b="1" dirty="0" err="1">
                <a:solidFill>
                  <a:srgbClr val="FF0000"/>
                </a:solidFill>
                <a:latin typeface="맑은 고딕" pitchFamily="50" charset="-127"/>
                <a:ea typeface="맑은 고딕" pitchFamily="50" charset="-127"/>
              </a:rPr>
              <a:t>hạng</a:t>
            </a:r>
            <a:r>
              <a:rPr lang="en-US" altLang="ko-KR" sz="1000" b="1" dirty="0">
                <a:solidFill>
                  <a:srgbClr val="FF0000"/>
                </a:solidFill>
                <a:latin typeface="맑은 고딕" pitchFamily="50" charset="-127"/>
                <a:ea typeface="맑은 고딕" pitchFamily="50" charset="-127"/>
              </a:rPr>
              <a:t> </a:t>
            </a:r>
            <a:r>
              <a:rPr lang="en-US" altLang="ko-KR" sz="1000" b="1" dirty="0" err="1">
                <a:solidFill>
                  <a:srgbClr val="FF0000"/>
                </a:solidFill>
                <a:latin typeface="맑은 고딕" pitchFamily="50" charset="-127"/>
                <a:ea typeface="맑은 고딕" pitchFamily="50" charset="-127"/>
              </a:rPr>
              <a:t>mục</a:t>
            </a:r>
            <a:r>
              <a:rPr lang="en-US" altLang="ko-KR" sz="1000" b="1" dirty="0">
                <a:solidFill>
                  <a:srgbClr val="FF0000"/>
                </a:solidFill>
                <a:latin typeface="맑은 고딕" pitchFamily="50" charset="-127"/>
                <a:ea typeface="맑은 고딕" pitchFamily="50" charset="-127"/>
              </a:rPr>
              <a:t> </a:t>
            </a:r>
            <a:r>
              <a:rPr lang="en-US" altLang="ko-KR" sz="1000" b="1" dirty="0" err="1">
                <a:solidFill>
                  <a:srgbClr val="FF0000"/>
                </a:solidFill>
                <a:latin typeface="맑은 고딕" pitchFamily="50" charset="-127"/>
                <a:ea typeface="맑은 고딕" pitchFamily="50" charset="-127"/>
              </a:rPr>
              <a:t>chú</a:t>
            </a:r>
            <a:r>
              <a:rPr lang="en-US" altLang="ko-KR" sz="1000" b="1" dirty="0">
                <a:solidFill>
                  <a:srgbClr val="FF0000"/>
                </a:solidFill>
                <a:latin typeface="맑은 고딕" pitchFamily="50" charset="-127"/>
                <a:ea typeface="맑은 고딕" pitchFamily="50" charset="-127"/>
              </a:rPr>
              <a:t> ý</a:t>
            </a:r>
            <a:endParaRPr lang="ko-KR" altLang="en-US" sz="1000" b="1" dirty="0">
              <a:solidFill>
                <a:srgbClr val="FF0000"/>
              </a:solidFill>
              <a:latin typeface="맑은 고딕" pitchFamily="50" charset="-127"/>
              <a:ea typeface="맑은 고딕" pitchFamily="50" charset="-127"/>
            </a:endParaRPr>
          </a:p>
          <a:p>
            <a:pPr marL="457200" indent="-457200">
              <a:defRPr/>
            </a:pPr>
            <a:r>
              <a:rPr lang="ko-KR" altLang="en-US" sz="1000" dirty="0">
                <a:latin typeface="맑은 고딕" pitchFamily="50" charset="-127"/>
                <a:ea typeface="맑은 고딕" pitchFamily="50" charset="-127"/>
              </a:rPr>
              <a:t> </a:t>
            </a:r>
            <a:r>
              <a:rPr lang="en-US" altLang="ko-KR" sz="1000" dirty="0">
                <a:latin typeface="맑은 고딕" pitchFamily="50" charset="-127"/>
                <a:ea typeface="맑은 고딕" pitchFamily="50" charset="-127"/>
              </a:rPr>
              <a:t>(1) </a:t>
            </a:r>
            <a:r>
              <a:rPr lang="en-US" altLang="ko-KR" sz="1000" dirty="0" err="1">
                <a:latin typeface="맑은 고딕" pitchFamily="50" charset="-127"/>
                <a:ea typeface="맑은 고딕" pitchFamily="50" charset="-127"/>
              </a:rPr>
              <a:t>Mỗi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người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phải</a:t>
            </a:r>
            <a:r>
              <a:rPr lang="en-US" altLang="ko-KR" sz="1000" dirty="0">
                <a:latin typeface="맑은 고딕" pitchFamily="50" charset="-127"/>
                <a:ea typeface="맑은 고딕" pitchFamily="50" charset="-127"/>
              </a:rPr>
              <a:t> p</a:t>
            </a:r>
            <a:r>
              <a:rPr lang="vi-VN" altLang="ko-KR" sz="1000" dirty="0">
                <a:latin typeface="맑은 고딕" pitchFamily="50" charset="-127"/>
                <a:ea typeface="맑은 고딕" pitchFamily="50" charset="-127"/>
              </a:rPr>
              <a:t>hân nhóm</a:t>
            </a:r>
            <a:endParaRPr lang="en-US" altLang="ko-KR" sz="1000" dirty="0">
              <a:latin typeface="맑은 고딕" pitchFamily="50" charset="-127"/>
              <a:ea typeface="맑은 고딕" pitchFamily="50" charset="-127"/>
            </a:endParaRPr>
          </a:p>
          <a:p>
            <a:pPr marL="457200" indent="-457200">
              <a:defRPr/>
            </a:pPr>
            <a:r>
              <a:rPr lang="vi-VN" altLang="ko-KR" sz="1000" dirty="0">
                <a:latin typeface="맑은 고딕" pitchFamily="50" charset="-127"/>
                <a:ea typeface="맑은 고딕" pitchFamily="50" charset="-127"/>
              </a:rPr>
              <a:t> ngẫu</a:t>
            </a:r>
            <a:r>
              <a:rPr lang="en-US" altLang="ko-KR" sz="1000" dirty="0">
                <a:latin typeface="맑은 고딕" pitchFamily="50" charset="-127"/>
                <a:ea typeface="맑은 고딕" pitchFamily="50" charset="-127"/>
              </a:rPr>
              <a:t> </a:t>
            </a:r>
            <a:r>
              <a:rPr lang="vi-VN" altLang="ko-KR" sz="1000" dirty="0">
                <a:latin typeface="맑은 고딕" pitchFamily="50" charset="-127"/>
                <a:ea typeface="맑은 고딕" pitchFamily="50" charset="-127"/>
              </a:rPr>
              <a:t>nhiên từng mẫu và</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trình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tự</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mẫu</a:t>
            </a:r>
            <a:r>
              <a:rPr lang="en-US" altLang="ko-KR" sz="1000" dirty="0">
                <a:latin typeface="맑은 고딕" pitchFamily="50" charset="-127"/>
                <a:ea typeface="맑은 고딕" pitchFamily="50" charset="-127"/>
              </a:rPr>
              <a:t> </a:t>
            </a: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lặp</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lại</a:t>
            </a:r>
            <a:r>
              <a:rPr lang="en-US" altLang="ko-KR" sz="1000" dirty="0">
                <a:latin typeface="맑은 고딕" pitchFamily="50" charset="-127"/>
                <a:ea typeface="맑은 고딕" pitchFamily="50" charset="-127"/>
              </a:rPr>
              <a:t> </a:t>
            </a:r>
          </a:p>
          <a:p>
            <a:pPr marL="457200" indent="-457200">
              <a:defRPr/>
            </a:pPr>
            <a:r>
              <a:rPr lang="en-US" altLang="ko-KR" sz="1000" dirty="0">
                <a:latin typeface="맑은 고딕" pitchFamily="50" charset="-127"/>
                <a:ea typeface="맑은 고딕" pitchFamily="50" charset="-127"/>
              </a:rPr>
              <a:t>(2) Blind Test </a:t>
            </a: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Những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người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phải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không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được</a:t>
            </a:r>
            <a:endParaRPr lang="en-US" altLang="ko-KR" sz="1000" dirty="0">
              <a:latin typeface="맑은 고딕" pitchFamily="50" charset="-127"/>
              <a:ea typeface="맑은 고딕" pitchFamily="50" charset="-127"/>
            </a:endParaRP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biết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về</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trị</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thật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của</a:t>
            </a:r>
            <a:r>
              <a:rPr lang="en-US" altLang="ko-KR" sz="1000" dirty="0">
                <a:latin typeface="맑은 고딕" pitchFamily="50" charset="-127"/>
                <a:ea typeface="맑은 고딕" pitchFamily="50" charset="-127"/>
              </a:rPr>
              <a:t> sample </a:t>
            </a:r>
            <a:r>
              <a:rPr lang="en-US" altLang="ko-KR" sz="1000" dirty="0" err="1">
                <a:latin typeface="맑은 고딕" pitchFamily="50" charset="-127"/>
                <a:ea typeface="맑은 고딕" pitchFamily="50" charset="-127"/>
              </a:rPr>
              <a:t>và</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kết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quả</a:t>
            </a:r>
            <a:r>
              <a:rPr lang="en-US" altLang="ko-KR" sz="1000" dirty="0">
                <a:latin typeface="맑은 고딕" pitchFamily="50" charset="-127"/>
                <a:ea typeface="맑은 고딕" pitchFamily="50" charset="-127"/>
              </a:rPr>
              <a:t> </a:t>
            </a: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đo</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trước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khi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đo</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lặp</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lại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Và</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cũng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phải</a:t>
            </a:r>
            <a:r>
              <a:rPr lang="en-US" altLang="ko-KR" sz="1000" dirty="0">
                <a:latin typeface="맑은 고딕" pitchFamily="50" charset="-127"/>
                <a:ea typeface="맑은 고딕" pitchFamily="50" charset="-127"/>
              </a:rPr>
              <a:t> </a:t>
            </a: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không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được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biết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về</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kết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quả</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của</a:t>
            </a:r>
            <a:endParaRPr lang="en-US" altLang="ko-KR" sz="1000" dirty="0">
              <a:latin typeface="맑은 고딕" pitchFamily="50" charset="-127"/>
              <a:ea typeface="맑은 고딕" pitchFamily="50" charset="-127"/>
            </a:endParaRP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những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người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khác</a:t>
            </a:r>
            <a:r>
              <a:rPr lang="en-US" altLang="ko-KR" sz="1000" dirty="0">
                <a:latin typeface="맑은 고딕" pitchFamily="50" charset="-127"/>
                <a:ea typeface="맑은 고딕" pitchFamily="50" charset="-127"/>
              </a:rPr>
              <a:t> </a:t>
            </a:r>
          </a:p>
          <a:p>
            <a:pPr marL="457200" indent="-457200">
              <a:defRPr/>
            </a:pPr>
            <a:r>
              <a:rPr lang="en-US" altLang="ko-KR" sz="1000" dirty="0">
                <a:latin typeface="맑은 고딕" pitchFamily="50" charset="-127"/>
                <a:ea typeface="맑은 고딕" pitchFamily="50" charset="-127"/>
              </a:rPr>
              <a:t>(3) </a:t>
            </a:r>
            <a:r>
              <a:rPr lang="en-US" altLang="ko-KR" sz="1000" dirty="0" err="1">
                <a:latin typeface="맑은 고딕" pitchFamily="50" charset="-127"/>
                <a:ea typeface="맑은 고딕" pitchFamily="50" charset="-127"/>
              </a:rPr>
              <a:t>Mỗi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người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phải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thực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hiện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đo</a:t>
            </a:r>
            <a:r>
              <a:rPr lang="en-US" altLang="ko-KR" sz="1000" dirty="0">
                <a:latin typeface="맑은 고딕" pitchFamily="50" charset="-127"/>
                <a:ea typeface="맑은 고딕" pitchFamily="50" charset="-127"/>
              </a:rPr>
              <a:t> </a:t>
            </a: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đạc</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trong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môi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trường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và</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thời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gian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đồng</a:t>
            </a:r>
            <a:endParaRPr lang="en-US" altLang="ko-KR" sz="1000" dirty="0">
              <a:latin typeface="맑은 고딕" pitchFamily="50" charset="-127"/>
              <a:ea typeface="맑은 고딕" pitchFamily="50" charset="-127"/>
            </a:endParaRP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nhất</a:t>
            </a:r>
            <a:endParaRPr lang="en-US" altLang="ko-KR" sz="1000" dirty="0">
              <a:latin typeface="맑은 고딕" pitchFamily="50" charset="-127"/>
              <a:ea typeface="맑은 고딕" pitchFamily="50" charset="-127"/>
            </a:endParaRPr>
          </a:p>
          <a:p>
            <a:pPr marL="457200" indent="-457200">
              <a:defRPr/>
            </a:pPr>
            <a:r>
              <a:rPr lang="en-US" altLang="ko-KR" sz="1000" dirty="0">
                <a:latin typeface="맑은 고딕" pitchFamily="50" charset="-127"/>
                <a:ea typeface="맑은 고딕" pitchFamily="50" charset="-127"/>
              </a:rPr>
              <a:t> (4) </a:t>
            </a:r>
            <a:r>
              <a:rPr lang="en-US" altLang="ko-KR" sz="1000" dirty="0" err="1">
                <a:latin typeface="맑은 고딕" pitchFamily="50" charset="-127"/>
                <a:ea typeface="맑은 고딕" pitchFamily="50" charset="-127"/>
              </a:rPr>
              <a:t>Nếu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có</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thể</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để</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giải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thích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sau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phải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hồ</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sơ</a:t>
            </a:r>
            <a:endParaRPr lang="en-US" altLang="ko-KR" sz="1000" dirty="0">
              <a:latin typeface="맑은 고딕" pitchFamily="50" charset="-127"/>
              <a:ea typeface="맑은 고딕" pitchFamily="50" charset="-127"/>
            </a:endParaRPr>
          </a:p>
          <a:p>
            <a:pPr marL="457200" indent="-457200">
              <a:defRPr/>
            </a:pP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hóa</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tiêu</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chuẩn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của</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từng</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người</a:t>
            </a:r>
            <a:r>
              <a:rPr lang="en-US" altLang="ko-KR" sz="1000" dirty="0">
                <a:latin typeface="맑은 고딕" pitchFamily="50" charset="-127"/>
                <a:ea typeface="맑은 고딕" pitchFamily="50" charset="-127"/>
              </a:rPr>
              <a:t>.</a:t>
            </a:r>
          </a:p>
        </p:txBody>
      </p:sp>
      <p:graphicFrame>
        <p:nvGraphicFramePr>
          <p:cNvPr id="120" name="표 119"/>
          <p:cNvGraphicFramePr>
            <a:graphicFrameLocks noGrp="1"/>
          </p:cNvGraphicFramePr>
          <p:nvPr/>
        </p:nvGraphicFramePr>
        <p:xfrm>
          <a:off x="6732240" y="3417888"/>
          <a:ext cx="1828846" cy="906000"/>
        </p:xfrm>
        <a:graphic>
          <a:graphicData uri="http://schemas.openxmlformats.org/drawingml/2006/table">
            <a:tbl>
              <a:tblPr firstRow="1" bandRow="1">
                <a:tableStyleId>{5C22544A-7EE6-4342-B048-85BDC9FD1C3A}</a:tableStyleId>
              </a:tblPr>
              <a:tblGrid>
                <a:gridCol w="584215">
                  <a:extLst>
                    <a:ext uri="{9D8B030D-6E8A-4147-A177-3AD203B41FA5}">
                      <a16:colId xmlns:a16="http://schemas.microsoft.com/office/drawing/2014/main" val="20000"/>
                    </a:ext>
                  </a:extLst>
                </a:gridCol>
                <a:gridCol w="701446">
                  <a:extLst>
                    <a:ext uri="{9D8B030D-6E8A-4147-A177-3AD203B41FA5}">
                      <a16:colId xmlns:a16="http://schemas.microsoft.com/office/drawing/2014/main" val="20001"/>
                    </a:ext>
                  </a:extLst>
                </a:gridCol>
                <a:gridCol w="543185">
                  <a:extLst>
                    <a:ext uri="{9D8B030D-6E8A-4147-A177-3AD203B41FA5}">
                      <a16:colId xmlns:a16="http://schemas.microsoft.com/office/drawing/2014/main" val="20002"/>
                    </a:ext>
                  </a:extLst>
                </a:gridCol>
              </a:tblGrid>
              <a:tr h="0">
                <a:tc>
                  <a:txBody>
                    <a:bodyPr/>
                    <a:lstStyle/>
                    <a:p>
                      <a:pPr algn="ctr" latinLnBrk="1"/>
                      <a:r>
                        <a:rPr lang="en-US" altLang="ko-KR" sz="1000" b="0" i="0" baseline="0" dirty="0" err="1">
                          <a:solidFill>
                            <a:schemeClr val="tx1"/>
                          </a:solidFill>
                          <a:latin typeface="맑은 고딕" pitchFamily="50" charset="-127"/>
                          <a:ea typeface="맑은 고딕" pitchFamily="50" charset="-127"/>
                        </a:rPr>
                        <a:t>Số</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người</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đánh</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giá</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err="1">
                          <a:solidFill>
                            <a:schemeClr val="tx1"/>
                          </a:solidFill>
                          <a:latin typeface="맑은 고딕" pitchFamily="50" charset="-127"/>
                          <a:ea typeface="맑은 고딕" pitchFamily="50" charset="-127"/>
                        </a:rPr>
                        <a:t>Số</a:t>
                      </a:r>
                      <a:r>
                        <a:rPr lang="en-US" altLang="ko-KR" sz="1000" b="0" i="0" baseline="0" dirty="0">
                          <a:solidFill>
                            <a:schemeClr val="tx1"/>
                          </a:solidFill>
                          <a:latin typeface="맑은 고딕" pitchFamily="50" charset="-127"/>
                          <a:ea typeface="맑은 고딕" pitchFamily="50" charset="-127"/>
                        </a:rPr>
                        <a:t> sample </a:t>
                      </a:r>
                      <a:r>
                        <a:rPr lang="en-US" altLang="ko-KR" sz="1000" b="0" i="0" baseline="0" dirty="0" err="1">
                          <a:solidFill>
                            <a:schemeClr val="tx1"/>
                          </a:solidFill>
                          <a:latin typeface="맑은 고딕" pitchFamily="50" charset="-127"/>
                          <a:ea typeface="맑은 고딕" pitchFamily="50" charset="-127"/>
                        </a:rPr>
                        <a:t>tối</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thiểu</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err="1">
                          <a:solidFill>
                            <a:schemeClr val="tx1"/>
                          </a:solidFill>
                          <a:latin typeface="맑은 고딕" pitchFamily="50" charset="-127"/>
                          <a:ea typeface="맑은 고딕" pitchFamily="50" charset="-127"/>
                        </a:rPr>
                        <a:t>Số</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vòng</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lặp</a:t>
                      </a:r>
                      <a:r>
                        <a:rPr lang="en-US" altLang="ko-KR" sz="1000" b="0" i="0" baseline="0" dirty="0">
                          <a:solidFill>
                            <a:schemeClr val="tx1"/>
                          </a:solidFill>
                          <a:latin typeface="맑은 고딕" pitchFamily="50" charset="-127"/>
                          <a:ea typeface="맑은 고딕" pitchFamily="50" charset="-127"/>
                        </a:rPr>
                        <a:t> </a:t>
                      </a:r>
                      <a:r>
                        <a:rPr lang="en-US" altLang="ko-KR" sz="1000" b="0" i="0" baseline="0" dirty="0" err="1">
                          <a:solidFill>
                            <a:schemeClr val="tx1"/>
                          </a:solidFill>
                          <a:latin typeface="맑은 고딕" pitchFamily="50" charset="-127"/>
                          <a:ea typeface="맑은 고딕" pitchFamily="50" charset="-127"/>
                        </a:rPr>
                        <a:t>lại</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0">
                <a:tc>
                  <a:txBody>
                    <a:bodyPr/>
                    <a:lstStyle/>
                    <a:p>
                      <a:pPr algn="ctr" latinLnBrk="1"/>
                      <a:r>
                        <a:rPr lang="en-US" altLang="ko-KR" sz="1000" b="0" i="0" baseline="0" dirty="0">
                          <a:solidFill>
                            <a:schemeClr val="tx1"/>
                          </a:solidFill>
                          <a:latin typeface="맑은 고딕" pitchFamily="50" charset="-127"/>
                          <a:ea typeface="맑은 고딕" pitchFamily="50" charset="-127"/>
                        </a:rPr>
                        <a:t>1</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a:solidFill>
                            <a:schemeClr val="tx1"/>
                          </a:solidFill>
                          <a:latin typeface="맑은 고딕" pitchFamily="50" charset="-127"/>
                          <a:ea typeface="맑은 고딕" pitchFamily="50" charset="-127"/>
                        </a:rPr>
                        <a:t>24</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a:solidFill>
                            <a:schemeClr val="tx1"/>
                          </a:solidFill>
                          <a:latin typeface="맑은 고딕" pitchFamily="50" charset="-127"/>
                          <a:ea typeface="맑은 고딕" pitchFamily="50" charset="-127"/>
                        </a:rPr>
                        <a:t>5</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0">
                <a:tc>
                  <a:txBody>
                    <a:bodyPr/>
                    <a:lstStyle/>
                    <a:p>
                      <a:pPr algn="ctr" latinLnBrk="1"/>
                      <a:r>
                        <a:rPr lang="en-US" altLang="ko-KR" sz="1000" b="0" i="0" baseline="0" dirty="0">
                          <a:solidFill>
                            <a:schemeClr val="tx1"/>
                          </a:solidFill>
                          <a:latin typeface="맑은 고딕" pitchFamily="50" charset="-127"/>
                          <a:ea typeface="맑은 고딕" pitchFamily="50" charset="-127"/>
                        </a:rPr>
                        <a:t>2</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a:solidFill>
                            <a:schemeClr val="tx1"/>
                          </a:solidFill>
                          <a:latin typeface="맑은 고딕" pitchFamily="50" charset="-127"/>
                          <a:ea typeface="맑은 고딕" pitchFamily="50" charset="-127"/>
                        </a:rPr>
                        <a:t>18</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a:solidFill>
                            <a:schemeClr val="tx1"/>
                          </a:solidFill>
                          <a:latin typeface="맑은 고딕" pitchFamily="50" charset="-127"/>
                          <a:ea typeface="맑은 고딕" pitchFamily="50" charset="-127"/>
                        </a:rPr>
                        <a:t>4</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ctr" latinLnBrk="1"/>
                      <a:r>
                        <a:rPr lang="en-US" altLang="ko-KR" sz="1000" b="0" i="0" baseline="0" dirty="0">
                          <a:solidFill>
                            <a:schemeClr val="tx1"/>
                          </a:solidFill>
                          <a:latin typeface="맑은 고딕" pitchFamily="50" charset="-127"/>
                          <a:ea typeface="맑은 고딕" pitchFamily="50" charset="-127"/>
                        </a:rPr>
                        <a:t>3</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a:solidFill>
                            <a:schemeClr val="tx1"/>
                          </a:solidFill>
                          <a:latin typeface="맑은 고딕" pitchFamily="50" charset="-127"/>
                          <a:ea typeface="맑은 고딕" pitchFamily="50" charset="-127"/>
                        </a:rPr>
                        <a:t>12</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R w="12700" cap="flat" cmpd="sng" algn="ctr">
                      <a:solidFill>
                        <a:schemeClr val="bg2">
                          <a:lumMod val="60000"/>
                          <a:lumOff val="40000"/>
                        </a:schemeClr>
                      </a:solidFill>
                      <a:prstDash val="solid"/>
                      <a:round/>
                      <a:headEnd type="none" w="med" len="med"/>
                      <a:tailEnd type="none" w="med" len="med"/>
                    </a:lnR>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tc>
                  <a:txBody>
                    <a:bodyPr/>
                    <a:lstStyle/>
                    <a:p>
                      <a:pPr algn="ctr" latinLnBrk="1"/>
                      <a:r>
                        <a:rPr lang="en-US" altLang="ko-KR" sz="1000" b="0" i="0" baseline="0" dirty="0">
                          <a:solidFill>
                            <a:schemeClr val="tx1"/>
                          </a:solidFill>
                          <a:latin typeface="맑은 고딕" pitchFamily="50" charset="-127"/>
                          <a:ea typeface="맑은 고딕" pitchFamily="50" charset="-127"/>
                        </a:rPr>
                        <a:t>3</a:t>
                      </a:r>
                      <a:endParaRPr lang="ko-KR" altLang="en-US" sz="1000" b="0" i="0" baseline="0" dirty="0">
                        <a:solidFill>
                          <a:schemeClr val="tx1"/>
                        </a:solidFill>
                        <a:latin typeface="맑은 고딕" pitchFamily="50" charset="-127"/>
                        <a:ea typeface="맑은 고딕" pitchFamily="50" charset="-127"/>
                      </a:endParaRPr>
                    </a:p>
                  </a:txBody>
                  <a:tcPr marL="16615" marR="16615" marT="18000" marB="18000" anchor="ctr">
                    <a:lnL w="12700" cap="flat" cmpd="sng" algn="ctr">
                      <a:solidFill>
                        <a:schemeClr val="bg2">
                          <a:lumMod val="60000"/>
                          <a:lumOff val="40000"/>
                        </a:schemeClr>
                      </a:solidFill>
                      <a:prstDash val="solid"/>
                      <a:round/>
                      <a:headEnd type="none" w="med" len="med"/>
                      <a:tailEnd type="none" w="med" len="med"/>
                    </a:lnL>
                    <a:lnT w="12700" cap="flat" cmpd="sng" algn="ctr">
                      <a:solidFill>
                        <a:schemeClr val="bg2">
                          <a:lumMod val="60000"/>
                          <a:lumOff val="40000"/>
                        </a:schemeClr>
                      </a:solidFill>
                      <a:prstDash val="solid"/>
                      <a:round/>
                      <a:headEnd type="none" w="med" len="med"/>
                      <a:tailEnd type="none" w="med" len="med"/>
                    </a:lnT>
                    <a:lnB w="12700" cap="flat" cmpd="sng" algn="ctr">
                      <a:solidFill>
                        <a:schemeClr val="bg2">
                          <a:lumMod val="60000"/>
                          <a:lumOff val="4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121" name="Rectangle 7"/>
          <p:cNvSpPr>
            <a:spLocks noChangeArrowheads="1"/>
          </p:cNvSpPr>
          <p:nvPr/>
        </p:nvSpPr>
        <p:spPr bwMode="auto">
          <a:xfrm>
            <a:off x="467544" y="5744754"/>
            <a:ext cx="6480720" cy="996614"/>
          </a:xfrm>
          <a:prstGeom prst="rect">
            <a:avLst/>
          </a:prstGeom>
          <a:noFill/>
          <a:ln w="9525">
            <a:noFill/>
            <a:miter lim="800000"/>
            <a:headEnd/>
            <a:tailEnd/>
          </a:ln>
        </p:spPr>
        <p:txBody>
          <a:bodyPr wrap="square" lIns="18000" tIns="18000" rIns="18000" bIns="18000">
            <a:spAutoFit/>
          </a:bodyPr>
          <a:lstStyle/>
          <a:p>
            <a:pPr defTabSz="1189038">
              <a:lnSpc>
                <a:spcPct val="130000"/>
              </a:lnSpc>
              <a:buFontTx/>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phân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loại</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Gage R&amp;R</a:t>
            </a:r>
          </a:p>
          <a:p>
            <a:pPr defTabSz="1189038">
              <a:lnSpc>
                <a:spcPct val="130000"/>
              </a:lnSpc>
            </a:pPr>
            <a:r>
              <a:rPr lang="en-US" altLang="ko-KR" sz="1200" dirty="0">
                <a:latin typeface="맑은 고딕" pitchFamily="50" charset="-127"/>
                <a:ea typeface="맑은 고딕" pitchFamily="50" charset="-127"/>
              </a:rPr>
              <a:t> : </a:t>
            </a:r>
            <a:r>
              <a:rPr lang="vi-VN" sz="1200" dirty="0"/>
              <a:t>Kể từ khi xác minh phạm vi đo lường phân loại với khả năng đo lường hạn chế,</a:t>
            </a:r>
            <a:endParaRPr lang="en-US" sz="1200" dirty="0"/>
          </a:p>
          <a:p>
            <a:pPr defTabSz="1189038">
              <a:lnSpc>
                <a:spcPct val="130000"/>
              </a:lnSpc>
            </a:pPr>
            <a:r>
              <a:rPr lang="en-US" sz="1200" dirty="0"/>
              <a:t>  </a:t>
            </a:r>
            <a:r>
              <a:rPr lang="vi-VN" sz="1200" dirty="0"/>
              <a:t>mục tiêu đối sánh luôn là 100%. Trong thực tế, </a:t>
            </a:r>
            <a:r>
              <a:rPr lang="en-US" sz="1200" dirty="0" err="1"/>
              <a:t>tiêu</a:t>
            </a:r>
            <a:r>
              <a:rPr lang="en-US" sz="1200" dirty="0"/>
              <a:t> </a:t>
            </a:r>
            <a:r>
              <a:rPr lang="en-US" sz="1200" dirty="0" err="1"/>
              <a:t>chuẩn</a:t>
            </a:r>
            <a:r>
              <a:rPr lang="en-US" sz="1200" dirty="0"/>
              <a:t> </a:t>
            </a:r>
            <a:r>
              <a:rPr lang="en-US" altLang="ko-KR" sz="1200" dirty="0">
                <a:latin typeface="맑은 고딕" pitchFamily="50" charset="-127"/>
                <a:ea typeface="맑은 고딕" pitchFamily="50" charset="-127"/>
              </a:rPr>
              <a:t>Acceptable </a:t>
            </a:r>
            <a:r>
              <a:rPr lang="en-US" altLang="ko-KR" sz="1200" dirty="0" err="1">
                <a:latin typeface="맑은 고딕" pitchFamily="50" charset="-127"/>
                <a:ea typeface="맑은 고딕" pitchFamily="50" charset="-127"/>
              </a:rPr>
              <a:t>khi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trên</a:t>
            </a:r>
            <a:r>
              <a:rPr lang="en-US" altLang="ko-KR" sz="1200" dirty="0">
                <a:latin typeface="맑은 고딕" pitchFamily="50" charset="-127"/>
                <a:ea typeface="맑은 고딕" pitchFamily="50" charset="-127"/>
              </a:rPr>
              <a:t> </a:t>
            </a:r>
            <a:r>
              <a:rPr lang="vi-VN" sz="1200" dirty="0"/>
              <a:t>90%</a:t>
            </a:r>
            <a:endParaRPr lang="en-US" sz="1200" dirty="0"/>
          </a:p>
          <a:p>
            <a:pPr defTabSz="1189038">
              <a:lnSpc>
                <a:spcPct val="130000"/>
              </a:lnSpc>
            </a:pPr>
            <a:r>
              <a:rPr lang="vi-VN" sz="1200" dirty="0"/>
              <a:t>  </a:t>
            </a:r>
            <a:endParaRPr lang="ko-KR" altLang="en-US" sz="1200" dirty="0">
              <a:latin typeface="맑은 고딕" pitchFamily="50" charset="-127"/>
              <a:ea typeface="맑은 고딕" pitchFamily="50" charset="-127"/>
            </a:endParaRP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147</a:t>
            </a:fld>
            <a:endParaRPr lang="ko-KR" altLang="en-US" dirty="0"/>
          </a:p>
        </p:txBody>
      </p:sp>
    </p:spTree>
    <p:extLst>
      <p:ext uri="{BB962C8B-B14F-4D97-AF65-F5344CB8AC3E}">
        <p14:creationId xmlns:p14="http://schemas.microsoft.com/office/powerpoint/2010/main" val="243777043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0577" name="Picture 1"/>
          <p:cNvPicPr>
            <a:picLocks noChangeAspect="1" noChangeArrowheads="1"/>
          </p:cNvPicPr>
          <p:nvPr/>
        </p:nvPicPr>
        <p:blipFill>
          <a:blip r:embed="rId2" cstate="print"/>
          <a:srcRect l="1107" t="28037" r="71221" b="34578"/>
          <a:stretch>
            <a:fillRect/>
          </a:stretch>
        </p:blipFill>
        <p:spPr bwMode="auto">
          <a:xfrm>
            <a:off x="5701972" y="3429000"/>
            <a:ext cx="3323446" cy="2592288"/>
          </a:xfrm>
          <a:prstGeom prst="rect">
            <a:avLst/>
          </a:prstGeom>
          <a:noFill/>
          <a:ln w="9525">
            <a:noFill/>
            <a:miter lim="800000"/>
            <a:headEnd/>
            <a:tailEnd/>
          </a:ln>
        </p:spPr>
      </p:pic>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Categorical Gage 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a:solidFill>
                  <a:sysClr val="windowText" lastClr="000000">
                    <a:lumMod val="75000"/>
                    <a:lumOff val="25000"/>
                  </a:sysClr>
                </a:solidFill>
                <a:latin typeface="맑은 고딕" pitchFamily="50" charset="-127"/>
                <a:ea typeface="맑은 고딕" pitchFamily="50" charset="-127"/>
              </a:rPr>
              <a:t>- Example</a:t>
            </a:r>
            <a:endParaRPr lang="ko-KR" altLang="en-US" sz="1600" b="1" kern="0" dirty="0">
              <a:solidFill>
                <a:srgbClr val="000000"/>
              </a:solidFill>
              <a:latin typeface="맑은 고딕"/>
              <a:ea typeface="맑은 고딕"/>
            </a:endParaRPr>
          </a:p>
        </p:txBody>
      </p:sp>
      <p:graphicFrame>
        <p:nvGraphicFramePr>
          <p:cNvPr id="18" name="표 17"/>
          <p:cNvGraphicFramePr>
            <a:graphicFrameLocks noGrp="1"/>
          </p:cNvGraphicFramePr>
          <p:nvPr/>
        </p:nvGraphicFramePr>
        <p:xfrm>
          <a:off x="79903" y="2665404"/>
          <a:ext cx="5563667" cy="4076498"/>
        </p:xfrm>
        <a:graphic>
          <a:graphicData uri="http://schemas.openxmlformats.org/drawingml/2006/table">
            <a:tbl>
              <a:tblPr/>
              <a:tblGrid>
                <a:gridCol w="848759">
                  <a:extLst>
                    <a:ext uri="{9D8B030D-6E8A-4147-A177-3AD203B41FA5}">
                      <a16:colId xmlns:a16="http://schemas.microsoft.com/office/drawing/2014/main" val="20000"/>
                    </a:ext>
                  </a:extLst>
                </a:gridCol>
                <a:gridCol w="414126">
                  <a:extLst>
                    <a:ext uri="{9D8B030D-6E8A-4147-A177-3AD203B41FA5}">
                      <a16:colId xmlns:a16="http://schemas.microsoft.com/office/drawing/2014/main" val="20001"/>
                    </a:ext>
                  </a:extLst>
                </a:gridCol>
                <a:gridCol w="610044">
                  <a:extLst>
                    <a:ext uri="{9D8B030D-6E8A-4147-A177-3AD203B41FA5}">
                      <a16:colId xmlns:a16="http://schemas.microsoft.com/office/drawing/2014/main" val="20002"/>
                    </a:ext>
                  </a:extLst>
                </a:gridCol>
                <a:gridCol w="410082">
                  <a:extLst>
                    <a:ext uri="{9D8B030D-6E8A-4147-A177-3AD203B41FA5}">
                      <a16:colId xmlns:a16="http://schemas.microsoft.com/office/drawing/2014/main" val="20003"/>
                    </a:ext>
                  </a:extLst>
                </a:gridCol>
                <a:gridCol w="410082">
                  <a:extLst>
                    <a:ext uri="{9D8B030D-6E8A-4147-A177-3AD203B41FA5}">
                      <a16:colId xmlns:a16="http://schemas.microsoft.com/office/drawing/2014/main" val="20004"/>
                    </a:ext>
                  </a:extLst>
                </a:gridCol>
                <a:gridCol w="410082">
                  <a:extLst>
                    <a:ext uri="{9D8B030D-6E8A-4147-A177-3AD203B41FA5}">
                      <a16:colId xmlns:a16="http://schemas.microsoft.com/office/drawing/2014/main" val="20005"/>
                    </a:ext>
                  </a:extLst>
                </a:gridCol>
                <a:gridCol w="410082">
                  <a:extLst>
                    <a:ext uri="{9D8B030D-6E8A-4147-A177-3AD203B41FA5}">
                      <a16:colId xmlns:a16="http://schemas.microsoft.com/office/drawing/2014/main" val="20006"/>
                    </a:ext>
                  </a:extLst>
                </a:gridCol>
                <a:gridCol w="410082">
                  <a:extLst>
                    <a:ext uri="{9D8B030D-6E8A-4147-A177-3AD203B41FA5}">
                      <a16:colId xmlns:a16="http://schemas.microsoft.com/office/drawing/2014/main" val="20007"/>
                    </a:ext>
                  </a:extLst>
                </a:gridCol>
                <a:gridCol w="410082">
                  <a:extLst>
                    <a:ext uri="{9D8B030D-6E8A-4147-A177-3AD203B41FA5}">
                      <a16:colId xmlns:a16="http://schemas.microsoft.com/office/drawing/2014/main" val="20008"/>
                    </a:ext>
                  </a:extLst>
                </a:gridCol>
                <a:gridCol w="410082">
                  <a:extLst>
                    <a:ext uri="{9D8B030D-6E8A-4147-A177-3AD203B41FA5}">
                      <a16:colId xmlns:a16="http://schemas.microsoft.com/office/drawing/2014/main" val="20009"/>
                    </a:ext>
                  </a:extLst>
                </a:gridCol>
                <a:gridCol w="410082">
                  <a:extLst>
                    <a:ext uri="{9D8B030D-6E8A-4147-A177-3AD203B41FA5}">
                      <a16:colId xmlns:a16="http://schemas.microsoft.com/office/drawing/2014/main" val="20010"/>
                    </a:ext>
                  </a:extLst>
                </a:gridCol>
                <a:gridCol w="410082">
                  <a:extLst>
                    <a:ext uri="{9D8B030D-6E8A-4147-A177-3AD203B41FA5}">
                      <a16:colId xmlns:a16="http://schemas.microsoft.com/office/drawing/2014/main" val="20011"/>
                    </a:ext>
                  </a:extLst>
                </a:gridCol>
              </a:tblGrid>
              <a:tr h="184898">
                <a:tc rowSpan="2">
                  <a:txBody>
                    <a:bodyPr/>
                    <a:lstStyle/>
                    <a:p>
                      <a:pPr algn="ctr" fontAlgn="ctr"/>
                      <a:r>
                        <a:rPr lang="en-US" altLang="ko-KR" sz="1000" b="0" i="0" u="none" strike="noStrike" dirty="0">
                          <a:latin typeface="돋움"/>
                        </a:rPr>
                        <a:t>Sample</a:t>
                      </a:r>
                      <a:r>
                        <a:rPr lang="en-US" altLang="ko-KR" sz="1000" b="0" i="0" u="none" strike="noStrike" baseline="0" dirty="0">
                          <a:latin typeface="돋움"/>
                        </a:rPr>
                        <a:t> separation</a:t>
                      </a:r>
                      <a:endParaRPr lang="ko-KR" altLang="en-US" sz="1000" b="0" i="0" u="none" strike="noStrike" dirty="0">
                        <a:latin typeface="돋움"/>
                      </a:endParaRP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en-US" altLang="ko-KR" sz="1000" b="0" i="0" u="none" strike="noStrike" dirty="0">
                          <a:latin typeface="돋움"/>
                        </a:rPr>
                        <a:t>Part</a:t>
                      </a:r>
                    </a:p>
                    <a:p>
                      <a:pPr algn="ctr" fontAlgn="ctr"/>
                      <a:r>
                        <a:rPr lang="en-US" altLang="ko-KR" sz="1000" b="0" i="0" u="none" strike="noStrike" dirty="0">
                          <a:latin typeface="돋움"/>
                        </a:rPr>
                        <a:t>No.</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en-US" altLang="ko-KR" sz="1000" b="0" i="0" u="none" strike="noStrike" dirty="0">
                          <a:latin typeface="돋움"/>
                        </a:rPr>
                        <a:t>Sample true value</a:t>
                      </a:r>
                      <a:endParaRPr lang="ko-KR" altLang="en-US" sz="1000" b="0" i="0" u="none" strike="noStrike" dirty="0">
                        <a:latin typeface="돋움"/>
                      </a:endParaRP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3">
                  <a:txBody>
                    <a:bodyPr/>
                    <a:lstStyle/>
                    <a:p>
                      <a:pPr algn="ctr" fontAlgn="ctr"/>
                      <a:r>
                        <a:rPr lang="en-US" altLang="ko-KR" sz="1000" b="0" i="0" u="none" strike="noStrike" dirty="0">
                          <a:latin typeface="돋움"/>
                        </a:rPr>
                        <a:t>Evaluator</a:t>
                      </a:r>
                      <a:r>
                        <a:rPr lang="ko-KR" altLang="en-US" sz="1000" b="0" i="0" u="none" strike="noStrike" dirty="0">
                          <a:latin typeface="돋움"/>
                        </a:rPr>
                        <a:t> </a:t>
                      </a:r>
                      <a:r>
                        <a:rPr lang="en-US" altLang="ko-KR" sz="1000" b="0" i="0" u="none" strike="noStrike" dirty="0">
                          <a:latin typeface="돋움"/>
                        </a:rPr>
                        <a:t>Lee</a:t>
                      </a:r>
                      <a:endParaRPr lang="en-US" sz="1000" b="0" i="0" u="none" strike="noStrike" dirty="0">
                        <a:latin typeface="돋움"/>
                      </a:endParaRPr>
                    </a:p>
                  </a:txBody>
                  <a:tcPr marL="7658" marR="7658" marT="144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en-US" altLang="ko-KR" sz="1000" b="0" i="0" u="none" strike="noStrike" dirty="0">
                          <a:latin typeface="돋움"/>
                        </a:rPr>
                        <a:t>Evaluator</a:t>
                      </a:r>
                      <a:r>
                        <a:rPr lang="ko-KR" altLang="en-US" sz="1000" b="0" i="0" u="none" strike="noStrike" dirty="0">
                          <a:latin typeface="돋움"/>
                        </a:rPr>
                        <a:t> </a:t>
                      </a:r>
                      <a:r>
                        <a:rPr lang="en-US" altLang="ko-KR" sz="1000" b="0" i="0" u="none" strike="noStrike" dirty="0">
                          <a:latin typeface="돋움"/>
                        </a:rPr>
                        <a:t>Kim</a:t>
                      </a:r>
                      <a:endParaRPr lang="en-US" sz="1000" b="0" i="0" u="none" strike="noStrike" dirty="0">
                        <a:latin typeface="돋움"/>
                      </a:endParaRPr>
                    </a:p>
                  </a:txBody>
                  <a:tcPr marL="7658" marR="7658" marT="144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en-US" altLang="ko-KR" sz="1000" b="0" i="0" u="none" strike="noStrike" dirty="0">
                          <a:latin typeface="돋움"/>
                        </a:rPr>
                        <a:t>Evaluator</a:t>
                      </a:r>
                      <a:r>
                        <a:rPr lang="en-US" altLang="ko-KR" sz="1000" b="0" i="0" u="none" strike="noStrike" baseline="0" dirty="0">
                          <a:latin typeface="돋움"/>
                        </a:rPr>
                        <a:t> Park</a:t>
                      </a:r>
                      <a:endParaRPr lang="en-US" sz="1000" b="0" i="0" u="none" strike="noStrike" dirty="0">
                        <a:latin typeface="돋움"/>
                      </a:endParaRPr>
                    </a:p>
                  </a:txBody>
                  <a:tcPr marL="7658" marR="7658" marT="144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0"/>
                  </a:ext>
                </a:extLst>
              </a:tr>
              <a:tr h="184898">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fontAlgn="ctr"/>
                      <a:r>
                        <a:rPr lang="en-US" altLang="ko-KR" sz="1000" b="0" i="0" u="none" strike="noStrike" dirty="0">
                          <a:latin typeface="돋움"/>
                        </a:rPr>
                        <a:t>1</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4898">
                <a:tc>
                  <a:txBody>
                    <a:bodyPr/>
                    <a:lstStyle/>
                    <a:p>
                      <a:pPr algn="ctr" fontAlgn="ctr"/>
                      <a:r>
                        <a:rPr lang="en-US" altLang="ko-KR" sz="1000" b="0" i="0" u="none" strike="noStrike" dirty="0">
                          <a:latin typeface="돋움"/>
                        </a:rPr>
                        <a:t>Good</a:t>
                      </a:r>
                      <a:r>
                        <a:rPr lang="en-US" altLang="ko-KR" sz="1000" b="0" i="0" u="none" strike="noStrike" baseline="0" dirty="0">
                          <a:latin typeface="돋움"/>
                        </a:rPr>
                        <a:t> product</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4898">
                <a:tc>
                  <a:txBody>
                    <a:bodyPr/>
                    <a:lstStyle/>
                    <a:p>
                      <a:pPr algn="ctr" fontAlgn="ctr"/>
                      <a:r>
                        <a:rPr lang="en-US" altLang="ko-KR" sz="1000" b="0" i="0" u="none" strike="noStrike" dirty="0">
                          <a:latin typeface="돋움"/>
                        </a:rPr>
                        <a:t>Ambiguous</a:t>
                      </a:r>
                      <a:r>
                        <a:rPr lang="en-US" altLang="ko-KR" sz="1000" b="0" i="0" u="none" strike="noStrike" baseline="0" dirty="0">
                          <a:latin typeface="돋움"/>
                        </a:rPr>
                        <a:t> goods</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84898">
                <a:tc>
                  <a:txBody>
                    <a:bodyPr/>
                    <a:lstStyle/>
                    <a:p>
                      <a:pPr algn="ctr" fontAlgn="ctr"/>
                      <a:r>
                        <a:rPr lang="en-US" altLang="ko-KR" sz="1000" b="0" i="0" u="none" strike="noStrike" dirty="0">
                          <a:latin typeface="돋움"/>
                        </a:rPr>
                        <a:t>Defect</a:t>
                      </a:r>
                      <a:r>
                        <a:rPr lang="en-US" altLang="ko-KR" sz="1000" b="0" i="0" u="none" strike="noStrike" baseline="0" dirty="0">
                          <a:latin typeface="돋움"/>
                        </a:rPr>
                        <a:t> </a:t>
                      </a:r>
                      <a:r>
                        <a:rPr lang="en-US" altLang="ko-KR" sz="1000" b="0" i="0" u="none" strike="noStrike" dirty="0">
                          <a:latin typeface="돋움"/>
                        </a:rPr>
                        <a:t>item</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84898">
                <a:tc>
                  <a:txBody>
                    <a:bodyPr/>
                    <a:lstStyle/>
                    <a:p>
                      <a:pPr algn="ctr" fontAlgn="ctr"/>
                      <a:r>
                        <a:rPr lang="en-US" altLang="ko-KR" sz="1000" b="0" i="0" u="none" strike="noStrike" dirty="0">
                          <a:latin typeface="돋움"/>
                        </a:rPr>
                        <a:t>Good</a:t>
                      </a:r>
                      <a:r>
                        <a:rPr lang="en-US" altLang="ko-KR" sz="1000" b="0" i="0" u="none" strike="noStrike" baseline="0" dirty="0">
                          <a:latin typeface="돋움"/>
                        </a:rPr>
                        <a:t> product</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4</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84898">
                <a:tc>
                  <a:txBody>
                    <a:bodyPr/>
                    <a:lstStyle/>
                    <a:p>
                      <a:pPr algn="ctr" fontAlgn="ctr"/>
                      <a:r>
                        <a:rPr lang="en-US" altLang="ko-KR" sz="1000" b="0" i="0" u="none" strike="noStrike" dirty="0">
                          <a:latin typeface="돋움"/>
                        </a:rPr>
                        <a:t>Ambiguous defect</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5</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extLst>
                  <a:ext uri="{0D108BD9-81ED-4DB2-BD59-A6C34878D82A}">
                    <a16:rowId xmlns:a16="http://schemas.microsoft.com/office/drawing/2014/main" val="10006"/>
                  </a:ext>
                </a:extLst>
              </a:tr>
              <a:tr h="184898">
                <a:tc>
                  <a:txBody>
                    <a:bodyPr/>
                    <a:lstStyle/>
                    <a:p>
                      <a:pPr algn="ctr" fontAlgn="ctr"/>
                      <a:r>
                        <a:rPr lang="en-US" altLang="ko-KR" sz="1000" b="0" i="0" u="none" strike="noStrike" dirty="0">
                          <a:latin typeface="돋움"/>
                        </a:rPr>
                        <a:t>Ambiguous</a:t>
                      </a:r>
                      <a:r>
                        <a:rPr lang="en-US" altLang="ko-KR" sz="1000" b="0" i="0" u="none" strike="noStrike" baseline="0" dirty="0">
                          <a:latin typeface="돋움"/>
                        </a:rPr>
                        <a:t> goods</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6</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84898">
                <a:tc>
                  <a:txBody>
                    <a:bodyPr/>
                    <a:lstStyle/>
                    <a:p>
                      <a:pPr algn="ctr" fontAlgn="ctr"/>
                      <a:r>
                        <a:rPr lang="en-US" altLang="ko-KR" sz="1000" b="0" i="0" u="none" strike="noStrike" dirty="0">
                          <a:latin typeface="돋움"/>
                        </a:rPr>
                        <a:t>Defect</a:t>
                      </a:r>
                      <a:r>
                        <a:rPr lang="en-US" altLang="ko-KR" sz="1000" b="0" i="0" u="none" strike="noStrike" baseline="0" dirty="0">
                          <a:latin typeface="돋움"/>
                        </a:rPr>
                        <a:t> </a:t>
                      </a:r>
                      <a:r>
                        <a:rPr lang="en-US" altLang="ko-KR" sz="1000" b="0" i="0" u="none" strike="noStrike" dirty="0">
                          <a:latin typeface="돋움"/>
                        </a:rPr>
                        <a:t>item</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7</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84898">
                <a:tc>
                  <a:txBody>
                    <a:bodyPr/>
                    <a:lstStyle/>
                    <a:p>
                      <a:pPr algn="ctr" fontAlgn="ctr"/>
                      <a:r>
                        <a:rPr lang="en-US" altLang="ko-KR" sz="1000" b="0" i="0" u="none" strike="noStrike" dirty="0">
                          <a:latin typeface="돋움"/>
                        </a:rPr>
                        <a:t>Defect</a:t>
                      </a:r>
                      <a:r>
                        <a:rPr lang="en-US" altLang="ko-KR" sz="1000" b="0" i="0" u="none" strike="noStrike" baseline="0" dirty="0">
                          <a:latin typeface="돋움"/>
                        </a:rPr>
                        <a:t> </a:t>
                      </a:r>
                      <a:r>
                        <a:rPr lang="en-US" altLang="ko-KR" sz="1000" b="0" i="0" u="none" strike="noStrike" dirty="0">
                          <a:latin typeface="돋움"/>
                        </a:rPr>
                        <a:t>item</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8</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09"/>
                  </a:ext>
                </a:extLst>
              </a:tr>
              <a:tr h="184898">
                <a:tc>
                  <a:txBody>
                    <a:bodyPr/>
                    <a:lstStyle/>
                    <a:p>
                      <a:pPr algn="ctr" fontAlgn="ctr"/>
                      <a:r>
                        <a:rPr lang="en-US" altLang="ko-KR" sz="1000" b="0" i="0" u="none" strike="noStrike" dirty="0">
                          <a:latin typeface="돋움"/>
                        </a:rPr>
                        <a:t>Good</a:t>
                      </a:r>
                      <a:r>
                        <a:rPr lang="en-US" altLang="ko-KR" sz="1000" b="0" i="0" u="none" strike="noStrike" baseline="0" dirty="0">
                          <a:latin typeface="돋움"/>
                        </a:rPr>
                        <a:t> product</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9</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84898">
                <a:tc>
                  <a:txBody>
                    <a:bodyPr/>
                    <a:lstStyle/>
                    <a:p>
                      <a:pPr algn="ctr" fontAlgn="ctr"/>
                      <a:r>
                        <a:rPr lang="en-US" altLang="ko-KR" sz="1000" b="0" i="0" u="none" strike="noStrike" dirty="0">
                          <a:latin typeface="돋움"/>
                        </a:rPr>
                        <a:t>Good</a:t>
                      </a:r>
                      <a:r>
                        <a:rPr lang="en-US" altLang="ko-KR" sz="1000" b="0" i="0" u="none" strike="noStrike" baseline="0" dirty="0">
                          <a:latin typeface="돋움"/>
                        </a:rPr>
                        <a:t> product</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10</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84898">
                <a:tc>
                  <a:txBody>
                    <a:bodyPr/>
                    <a:lstStyle/>
                    <a:p>
                      <a:pPr algn="ctr" fontAlgn="ctr"/>
                      <a:r>
                        <a:rPr lang="en-US" altLang="ko-KR" sz="1000" b="0" i="0" u="none" strike="noStrike" dirty="0">
                          <a:latin typeface="돋움"/>
                        </a:rPr>
                        <a:t>Ambiguous defect</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184898">
                <a:tc>
                  <a:txBody>
                    <a:bodyPr/>
                    <a:lstStyle/>
                    <a:p>
                      <a:pPr algn="ctr" fontAlgn="ctr"/>
                      <a:r>
                        <a:rPr lang="en-US" altLang="ko-KR" sz="1000" b="0" i="0" u="none" strike="noStrike" dirty="0">
                          <a:latin typeface="돋움"/>
                        </a:rPr>
                        <a:t>Ambiguous</a:t>
                      </a:r>
                      <a:r>
                        <a:rPr lang="en-US" altLang="ko-KR" sz="1000" b="0" i="0" u="none" strike="noStrike" baseline="0" dirty="0">
                          <a:latin typeface="돋움"/>
                        </a:rPr>
                        <a:t> goods</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13"/>
                  </a:ext>
                </a:extLst>
              </a:tr>
              <a:tr h="184898">
                <a:tc>
                  <a:txBody>
                    <a:bodyPr/>
                    <a:lstStyle/>
                    <a:p>
                      <a:pPr algn="ctr" fontAlgn="ctr"/>
                      <a:r>
                        <a:rPr lang="en-US" altLang="ko-KR" sz="1000" b="0" i="0" u="none" strike="noStrike" dirty="0">
                          <a:latin typeface="돋움"/>
                        </a:rPr>
                        <a:t>Defect</a:t>
                      </a:r>
                      <a:r>
                        <a:rPr lang="en-US" altLang="ko-KR" sz="1000" b="0" i="0" u="none" strike="noStrike" baseline="0" dirty="0">
                          <a:latin typeface="돋움"/>
                        </a:rPr>
                        <a:t> </a:t>
                      </a:r>
                      <a:r>
                        <a:rPr lang="en-US" altLang="ko-KR" sz="1000" b="0" i="0" u="none" strike="noStrike" dirty="0">
                          <a:latin typeface="돋움"/>
                        </a:rPr>
                        <a:t>item</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184898">
                <a:tc>
                  <a:txBody>
                    <a:bodyPr/>
                    <a:lstStyle/>
                    <a:p>
                      <a:pPr algn="ctr" fontAlgn="ctr"/>
                      <a:r>
                        <a:rPr lang="en-US" altLang="ko-KR" sz="1000" b="0" i="0" u="none" strike="noStrike" dirty="0">
                          <a:latin typeface="돋움"/>
                        </a:rPr>
                        <a:t>Good</a:t>
                      </a:r>
                      <a:r>
                        <a:rPr lang="en-US" altLang="ko-KR" sz="1000" b="0" i="0" u="none" strike="noStrike" baseline="0" dirty="0">
                          <a:latin typeface="돋움"/>
                        </a:rPr>
                        <a:t> product</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14</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84898">
                <a:tc>
                  <a:txBody>
                    <a:bodyPr/>
                    <a:lstStyle/>
                    <a:p>
                      <a:pPr algn="ctr" fontAlgn="ctr"/>
                      <a:r>
                        <a:rPr lang="en-US" altLang="ko-KR" sz="1000" b="0" i="0" u="none" strike="noStrike" dirty="0">
                          <a:latin typeface="돋움"/>
                        </a:rPr>
                        <a:t>Defect</a:t>
                      </a:r>
                      <a:r>
                        <a:rPr lang="en-US" altLang="ko-KR" sz="1000" b="0" i="0" u="none" strike="noStrike" baseline="0" dirty="0">
                          <a:latin typeface="돋움"/>
                        </a:rPr>
                        <a:t> </a:t>
                      </a:r>
                      <a:r>
                        <a:rPr lang="en-US" altLang="ko-KR" sz="1000" b="0" i="0" u="none" strike="noStrike" dirty="0">
                          <a:latin typeface="돋움"/>
                        </a:rPr>
                        <a:t>item</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15</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
        <p:nvSpPr>
          <p:cNvPr id="19" name="TextBox 18"/>
          <p:cNvSpPr txBox="1"/>
          <p:nvPr/>
        </p:nvSpPr>
        <p:spPr>
          <a:xfrm>
            <a:off x="395654" y="642918"/>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Categorical</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Data Gage R&amp;R</a:t>
            </a:r>
          </a:p>
        </p:txBody>
      </p:sp>
      <p:sp>
        <p:nvSpPr>
          <p:cNvPr id="20" name="Rectangle 5"/>
          <p:cNvSpPr>
            <a:spLocks noChangeArrowheads="1"/>
          </p:cNvSpPr>
          <p:nvPr/>
        </p:nvSpPr>
        <p:spPr bwMode="auto">
          <a:xfrm>
            <a:off x="428596" y="1044368"/>
            <a:ext cx="8572560" cy="1421928"/>
          </a:xfrm>
          <a:prstGeom prst="rect">
            <a:avLst/>
          </a:prstGeom>
          <a:solidFill>
            <a:srgbClr val="FFFFFF"/>
          </a:solidFill>
          <a:ln w="9525" algn="ctr">
            <a:solidFill>
              <a:schemeClr val="bg1">
                <a:lumMod val="65000"/>
              </a:schemeClr>
            </a:solidFill>
            <a:miter lim="800000"/>
            <a:headEnd/>
            <a:tailEnd/>
          </a:ln>
        </p:spPr>
        <p:txBody>
          <a:bodyPr wrap="square">
            <a:spAutoFit/>
          </a:bodyPr>
          <a:lstStyle/>
          <a:p>
            <a:pPr>
              <a:lnSpc>
                <a:spcPct val="120000"/>
              </a:lnSpc>
              <a:defRPr/>
            </a:pPr>
            <a:r>
              <a:rPr lang="en-US" altLang="ko-KR" sz="1200" b="1" dirty="0">
                <a:latin typeface="맑은 고딕" pitchFamily="50" charset="-127"/>
                <a:ea typeface="맑은 고딕" pitchFamily="50" charset="-127"/>
              </a:rPr>
              <a:t>The following data were collected for Gage R &amp; R verification of the operating limit gauge.</a:t>
            </a:r>
          </a:p>
          <a:p>
            <a:pPr>
              <a:lnSpc>
                <a:spcPct val="120000"/>
              </a:lnSpc>
              <a:defRPr/>
            </a:pPr>
            <a:r>
              <a:rPr lang="en-US" altLang="ko-KR" sz="1200" b="1" dirty="0">
                <a:latin typeface="맑은 고딕" pitchFamily="50" charset="-127"/>
                <a:ea typeface="맑은 고딕" pitchFamily="50" charset="-127"/>
              </a:rPr>
              <a:t>- Parts : Prepare 15 known Good / Defective standard samples (8 good and 7 defective products)</a:t>
            </a:r>
          </a:p>
          <a:p>
            <a:pPr>
              <a:lnSpc>
                <a:spcPct val="120000"/>
              </a:lnSpc>
              <a:buFontTx/>
              <a:buChar char="-"/>
              <a:defRPr/>
            </a:pPr>
            <a:r>
              <a:rPr lang="en-US" altLang="ko-KR" sz="1200" b="1" dirty="0">
                <a:latin typeface="맑은 고딕" pitchFamily="50" charset="-127"/>
                <a:ea typeface="맑은 고딕" pitchFamily="50" charset="-127"/>
              </a:rPr>
              <a:t>Appraisers : Three of the 15 evaluators who make measurements in the current process are randomly selected </a:t>
            </a:r>
          </a:p>
          <a:p>
            <a:pPr>
              <a:lnSpc>
                <a:spcPct val="120000"/>
              </a:lnSpc>
              <a:defRPr/>
            </a:pPr>
            <a:r>
              <a:rPr lang="en-US" altLang="ko-KR" sz="1200" b="1" dirty="0">
                <a:latin typeface="맑은 고딕" pitchFamily="50" charset="-127"/>
                <a:ea typeface="맑은 고딕" pitchFamily="50" charset="-127"/>
              </a:rPr>
              <a:t>                  regardless of proficiency</a:t>
            </a:r>
            <a:endParaRPr lang="ko-KR" altLang="en-US" sz="1200" b="1" dirty="0">
              <a:latin typeface="맑은 고딕" pitchFamily="50" charset="-127"/>
              <a:ea typeface="맑은 고딕" pitchFamily="50" charset="-127"/>
            </a:endParaRPr>
          </a:p>
          <a:p>
            <a:pPr>
              <a:lnSpc>
                <a:spcPct val="120000"/>
              </a:lnSpc>
              <a:buFontTx/>
              <a:buChar char="-"/>
              <a:defRPr/>
            </a:pPr>
            <a:r>
              <a:rPr lang="en-US" altLang="ko-KR" sz="1200" b="1" dirty="0">
                <a:latin typeface="맑은 고딕" pitchFamily="50" charset="-127"/>
                <a:ea typeface="맑은 고딕" pitchFamily="50" charset="-127"/>
              </a:rPr>
              <a:t>Data Collection  : Each evaluator repeatedly measures each sample three times in a state without knowing the          </a:t>
            </a:r>
          </a:p>
          <a:p>
            <a:pPr>
              <a:lnSpc>
                <a:spcPct val="120000"/>
              </a:lnSpc>
              <a:defRPr/>
            </a:pPr>
            <a:r>
              <a:rPr lang="en-US" altLang="ko-KR" sz="1200" b="1" dirty="0">
                <a:latin typeface="맑은 고딕" pitchFamily="50" charset="-127"/>
                <a:ea typeface="맑은 고딕" pitchFamily="50" charset="-127"/>
              </a:rPr>
              <a:t>                          good / defective of the given parts and records the good(G) and the defective(NG)</a:t>
            </a:r>
            <a:endParaRPr lang="ko-KR" altLang="en-US" sz="1200" b="1" dirty="0">
              <a:latin typeface="맑은 고딕" pitchFamily="50" charset="-127"/>
              <a:ea typeface="맑은 고딕" pitchFamily="50" charset="-127"/>
            </a:endParaRPr>
          </a:p>
        </p:txBody>
      </p:sp>
      <p:sp>
        <p:nvSpPr>
          <p:cNvPr id="21" name="TextBox 57"/>
          <p:cNvSpPr txBox="1">
            <a:spLocks noChangeArrowheads="1"/>
          </p:cNvSpPr>
          <p:nvPr/>
        </p:nvSpPr>
        <p:spPr bwMode="auto">
          <a:xfrm>
            <a:off x="642910" y="2357430"/>
            <a:ext cx="1324402"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latin typeface="맑은 고딕" pitchFamily="50" charset="-127"/>
                <a:ea typeface="맑은 고딕" pitchFamily="50" charset="-127"/>
              </a:rPr>
              <a:t> Data Input</a:t>
            </a:r>
            <a:endParaRPr lang="ko-KR" altLang="en-US" sz="1400" b="1" dirty="0">
              <a:latin typeface="맑은 고딕" pitchFamily="50" charset="-127"/>
              <a:ea typeface="맑은 고딕" pitchFamily="50" charset="-127"/>
            </a:endParaRPr>
          </a:p>
        </p:txBody>
      </p:sp>
      <p:cxnSp>
        <p:nvCxnSpPr>
          <p:cNvPr id="22" name="AutoShape 12"/>
          <p:cNvCxnSpPr>
            <a:cxnSpLocks noChangeShapeType="1"/>
            <a:endCxn id="25" idx="2"/>
          </p:cNvCxnSpPr>
          <p:nvPr/>
        </p:nvCxnSpPr>
        <p:spPr bwMode="auto">
          <a:xfrm rot="5400000" flipH="1" flipV="1">
            <a:off x="6132776" y="3145358"/>
            <a:ext cx="508819" cy="58466"/>
          </a:xfrm>
          <a:prstGeom prst="curvedConnector3">
            <a:avLst>
              <a:gd name="adj1" fmla="val 50000"/>
            </a:avLst>
          </a:prstGeom>
          <a:noFill/>
          <a:ln w="9525">
            <a:solidFill>
              <a:srgbClr val="0000FF"/>
            </a:solidFill>
            <a:round/>
            <a:headEnd/>
            <a:tailEnd type="triangle" w="med" len="med"/>
          </a:ln>
        </p:spPr>
      </p:cxnSp>
      <p:cxnSp>
        <p:nvCxnSpPr>
          <p:cNvPr id="23" name="AutoShape 13"/>
          <p:cNvCxnSpPr>
            <a:cxnSpLocks noChangeShapeType="1"/>
            <a:endCxn id="26" idx="2"/>
          </p:cNvCxnSpPr>
          <p:nvPr/>
        </p:nvCxnSpPr>
        <p:spPr bwMode="auto">
          <a:xfrm rot="16200000" flipV="1">
            <a:off x="7025682" y="3270756"/>
            <a:ext cx="186551" cy="152164"/>
          </a:xfrm>
          <a:prstGeom prst="curvedConnector3">
            <a:avLst>
              <a:gd name="adj1" fmla="val 50000"/>
            </a:avLst>
          </a:prstGeom>
          <a:noFill/>
          <a:ln w="9525">
            <a:solidFill>
              <a:srgbClr val="0000FF"/>
            </a:solidFill>
            <a:round/>
            <a:headEnd/>
            <a:tailEnd type="triangle" w="med" len="med"/>
          </a:ln>
        </p:spPr>
      </p:cxnSp>
      <p:cxnSp>
        <p:nvCxnSpPr>
          <p:cNvPr id="24" name="AutoShape 14"/>
          <p:cNvCxnSpPr>
            <a:cxnSpLocks noChangeShapeType="1"/>
            <a:endCxn id="27" idx="2"/>
          </p:cNvCxnSpPr>
          <p:nvPr/>
        </p:nvCxnSpPr>
        <p:spPr bwMode="auto">
          <a:xfrm rot="16200000" flipV="1">
            <a:off x="7676788" y="3266222"/>
            <a:ext cx="197665" cy="172346"/>
          </a:xfrm>
          <a:prstGeom prst="curvedConnector3">
            <a:avLst>
              <a:gd name="adj1" fmla="val 50000"/>
            </a:avLst>
          </a:prstGeom>
          <a:noFill/>
          <a:ln w="9525">
            <a:solidFill>
              <a:srgbClr val="0000FF"/>
            </a:solidFill>
            <a:round/>
            <a:headEnd/>
            <a:tailEnd type="triangle" w="med" len="med"/>
          </a:ln>
        </p:spPr>
      </p:cxnSp>
      <p:sp>
        <p:nvSpPr>
          <p:cNvPr id="25" name="TextBox 62"/>
          <p:cNvSpPr txBox="1">
            <a:spLocks noChangeArrowheads="1"/>
          </p:cNvSpPr>
          <p:nvPr/>
        </p:nvSpPr>
        <p:spPr bwMode="auto">
          <a:xfrm>
            <a:off x="5715008" y="2643182"/>
            <a:ext cx="1402820" cy="27699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Evaluation result</a:t>
            </a:r>
            <a:endParaRPr lang="ko-KR" altLang="en-US" sz="1200" b="1" dirty="0">
              <a:latin typeface="맑은 고딕" pitchFamily="50" charset="-127"/>
              <a:ea typeface="맑은 고딕" pitchFamily="50" charset="-127"/>
            </a:endParaRPr>
          </a:p>
        </p:txBody>
      </p:sp>
      <p:sp>
        <p:nvSpPr>
          <p:cNvPr id="26" name="TextBox 63"/>
          <p:cNvSpPr txBox="1">
            <a:spLocks noChangeArrowheads="1"/>
          </p:cNvSpPr>
          <p:nvPr/>
        </p:nvSpPr>
        <p:spPr bwMode="auto">
          <a:xfrm>
            <a:off x="6660174" y="2976563"/>
            <a:ext cx="765402" cy="27699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Part no.</a:t>
            </a:r>
            <a:endParaRPr lang="ko-KR" altLang="en-US" sz="1200" b="1" dirty="0">
              <a:latin typeface="맑은 고딕" pitchFamily="50" charset="-127"/>
              <a:ea typeface="맑은 고딕" pitchFamily="50" charset="-127"/>
            </a:endParaRPr>
          </a:p>
        </p:txBody>
      </p:sp>
      <p:sp>
        <p:nvSpPr>
          <p:cNvPr id="27" name="TextBox 64"/>
          <p:cNvSpPr txBox="1">
            <a:spLocks noChangeArrowheads="1"/>
          </p:cNvSpPr>
          <p:nvPr/>
        </p:nvSpPr>
        <p:spPr bwMode="auto">
          <a:xfrm>
            <a:off x="7253654" y="2976563"/>
            <a:ext cx="871585" cy="27699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Measurer</a:t>
            </a:r>
            <a:endParaRPr lang="ko-KR" altLang="en-US" sz="1200" b="1" dirty="0">
              <a:latin typeface="맑은 고딕" pitchFamily="50" charset="-127"/>
              <a:ea typeface="맑은 고딕" pitchFamily="50" charset="-127"/>
            </a:endParaRPr>
          </a:p>
        </p:txBody>
      </p:sp>
      <p:cxnSp>
        <p:nvCxnSpPr>
          <p:cNvPr id="29" name="AutoShape 12"/>
          <p:cNvCxnSpPr>
            <a:cxnSpLocks noChangeShapeType="1"/>
            <a:endCxn id="30" idx="2"/>
          </p:cNvCxnSpPr>
          <p:nvPr/>
        </p:nvCxnSpPr>
        <p:spPr bwMode="auto">
          <a:xfrm rot="10800000">
            <a:off x="8533629" y="3274201"/>
            <a:ext cx="176638" cy="165957"/>
          </a:xfrm>
          <a:prstGeom prst="curvedConnector2">
            <a:avLst/>
          </a:prstGeom>
          <a:noFill/>
          <a:ln w="9525">
            <a:solidFill>
              <a:srgbClr val="0000FF"/>
            </a:solidFill>
            <a:round/>
            <a:headEnd/>
            <a:tailEnd type="triangle" w="med" len="med"/>
          </a:ln>
        </p:spPr>
      </p:cxnSp>
      <p:sp>
        <p:nvSpPr>
          <p:cNvPr id="30" name="TextBox 72"/>
          <p:cNvSpPr txBox="1">
            <a:spLocks noChangeArrowheads="1"/>
          </p:cNvSpPr>
          <p:nvPr/>
        </p:nvSpPr>
        <p:spPr bwMode="auto">
          <a:xfrm>
            <a:off x="8064013" y="2997201"/>
            <a:ext cx="939231" cy="27699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True value</a:t>
            </a:r>
            <a:endParaRPr lang="ko-KR" altLang="en-US" sz="1200" b="1" dirty="0">
              <a:latin typeface="맑은 고딕" pitchFamily="50" charset="-127"/>
              <a:ea typeface="맑은 고딕" pitchFamily="50" charset="-127"/>
            </a:endParaRP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148</a:t>
            </a:fld>
            <a:endParaRPr lang="ko-KR" altLang="en-US" dirty="0"/>
          </a:p>
        </p:txBody>
      </p:sp>
    </p:spTree>
    <p:extLst>
      <p:ext uri="{BB962C8B-B14F-4D97-AF65-F5344CB8AC3E}">
        <p14:creationId xmlns:p14="http://schemas.microsoft.com/office/powerpoint/2010/main" val="189990249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31"/>
          <p:cNvSpPr>
            <a:spLocks noChangeArrowheads="1"/>
          </p:cNvSpPr>
          <p:nvPr/>
        </p:nvSpPr>
        <p:spPr bwMode="auto">
          <a:xfrm>
            <a:off x="628651" y="1238251"/>
            <a:ext cx="5608026" cy="385763"/>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latin typeface="맑은 고딕" pitchFamily="50" charset="-127"/>
                <a:ea typeface="맑은 고딕" pitchFamily="50" charset="-127"/>
              </a:rPr>
              <a:t>Stat  &gt; Quality Tools &gt; Attribute Agreement Analysis …</a:t>
            </a:r>
          </a:p>
        </p:txBody>
      </p:sp>
      <p:sp>
        <p:nvSpPr>
          <p:cNvPr id="25"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Categorical Gage 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 </a:t>
            </a:r>
            <a:r>
              <a:rPr lang="en-US" altLang="ko-KR" sz="1600" b="1" kern="0" dirty="0">
                <a:solidFill>
                  <a:sysClr val="windowText" lastClr="000000">
                    <a:lumMod val="75000"/>
                    <a:lumOff val="25000"/>
                  </a:sysClr>
                </a:solidFill>
                <a:latin typeface="맑은 고딕" pitchFamily="50" charset="-127"/>
                <a:ea typeface="맑은 고딕" pitchFamily="50" charset="-127"/>
              </a:rPr>
              <a:t>Example</a:t>
            </a:r>
            <a:endParaRPr lang="ko-KR" altLang="en-US" sz="1600" b="1" kern="0" dirty="0">
              <a:solidFill>
                <a:srgbClr val="000000"/>
              </a:solidFill>
              <a:latin typeface="맑은 고딕"/>
              <a:ea typeface="맑은 고딕"/>
            </a:endParaRPr>
          </a:p>
        </p:txBody>
      </p:sp>
      <p:pic>
        <p:nvPicPr>
          <p:cNvPr id="880642"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3120" t="3391" r="47279" b="29074"/>
          <a:stretch/>
        </p:blipFill>
        <p:spPr bwMode="auto">
          <a:xfrm>
            <a:off x="628650" y="1754302"/>
            <a:ext cx="5931041" cy="4398811"/>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149</a:t>
            </a:fld>
            <a:endParaRPr lang="ko-KR" altLang="en-US" dirty="0"/>
          </a:p>
        </p:txBody>
      </p:sp>
    </p:spTree>
    <p:extLst>
      <p:ext uri="{BB962C8B-B14F-4D97-AF65-F5344CB8AC3E}">
        <p14:creationId xmlns:p14="http://schemas.microsoft.com/office/powerpoint/2010/main" val="296443855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0577" name="Picture 1"/>
          <p:cNvPicPr>
            <a:picLocks noChangeAspect="1" noChangeArrowheads="1"/>
          </p:cNvPicPr>
          <p:nvPr/>
        </p:nvPicPr>
        <p:blipFill>
          <a:blip r:embed="rId2" cstate="print"/>
          <a:srcRect l="1107" t="28037" r="71221" b="34578"/>
          <a:stretch>
            <a:fillRect/>
          </a:stretch>
        </p:blipFill>
        <p:spPr bwMode="auto">
          <a:xfrm>
            <a:off x="5701972" y="3429000"/>
            <a:ext cx="3323446" cy="2592288"/>
          </a:xfrm>
          <a:prstGeom prst="rect">
            <a:avLst/>
          </a:prstGeom>
          <a:noFill/>
          <a:ln w="9525">
            <a:noFill/>
            <a:miter lim="800000"/>
            <a:headEnd/>
            <a:tailEnd/>
          </a:ln>
        </p:spPr>
      </p:pic>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Phân</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loại</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1600" b="1" kern="0" dirty="0">
              <a:solidFill>
                <a:srgbClr val="000000"/>
              </a:solidFill>
              <a:latin typeface="맑은 고딕"/>
              <a:ea typeface="맑은 고딕"/>
            </a:endParaRPr>
          </a:p>
        </p:txBody>
      </p:sp>
      <p:graphicFrame>
        <p:nvGraphicFramePr>
          <p:cNvPr id="18" name="표 17"/>
          <p:cNvGraphicFramePr>
            <a:graphicFrameLocks noGrp="1"/>
          </p:cNvGraphicFramePr>
          <p:nvPr/>
        </p:nvGraphicFramePr>
        <p:xfrm>
          <a:off x="827588" y="2857500"/>
          <a:ext cx="4931369" cy="3456000"/>
        </p:xfrm>
        <a:graphic>
          <a:graphicData uri="http://schemas.openxmlformats.org/drawingml/2006/table">
            <a:tbl>
              <a:tblPr/>
              <a:tblGrid>
                <a:gridCol w="648068">
                  <a:extLst>
                    <a:ext uri="{9D8B030D-6E8A-4147-A177-3AD203B41FA5}">
                      <a16:colId xmlns:a16="http://schemas.microsoft.com/office/drawing/2014/main" val="20000"/>
                    </a:ext>
                  </a:extLst>
                </a:gridCol>
                <a:gridCol w="471294">
                  <a:extLst>
                    <a:ext uri="{9D8B030D-6E8A-4147-A177-3AD203B41FA5}">
                      <a16:colId xmlns:a16="http://schemas.microsoft.com/office/drawing/2014/main" val="20001"/>
                    </a:ext>
                  </a:extLst>
                </a:gridCol>
                <a:gridCol w="540714">
                  <a:extLst>
                    <a:ext uri="{9D8B030D-6E8A-4147-A177-3AD203B41FA5}">
                      <a16:colId xmlns:a16="http://schemas.microsoft.com/office/drawing/2014/main" val="20002"/>
                    </a:ext>
                  </a:extLst>
                </a:gridCol>
                <a:gridCol w="363477">
                  <a:extLst>
                    <a:ext uri="{9D8B030D-6E8A-4147-A177-3AD203B41FA5}">
                      <a16:colId xmlns:a16="http://schemas.microsoft.com/office/drawing/2014/main" val="20003"/>
                    </a:ext>
                  </a:extLst>
                </a:gridCol>
                <a:gridCol w="363477">
                  <a:extLst>
                    <a:ext uri="{9D8B030D-6E8A-4147-A177-3AD203B41FA5}">
                      <a16:colId xmlns:a16="http://schemas.microsoft.com/office/drawing/2014/main" val="20004"/>
                    </a:ext>
                  </a:extLst>
                </a:gridCol>
                <a:gridCol w="363477">
                  <a:extLst>
                    <a:ext uri="{9D8B030D-6E8A-4147-A177-3AD203B41FA5}">
                      <a16:colId xmlns:a16="http://schemas.microsoft.com/office/drawing/2014/main" val="20005"/>
                    </a:ext>
                  </a:extLst>
                </a:gridCol>
                <a:gridCol w="363477">
                  <a:extLst>
                    <a:ext uri="{9D8B030D-6E8A-4147-A177-3AD203B41FA5}">
                      <a16:colId xmlns:a16="http://schemas.microsoft.com/office/drawing/2014/main" val="20006"/>
                    </a:ext>
                  </a:extLst>
                </a:gridCol>
                <a:gridCol w="363477">
                  <a:extLst>
                    <a:ext uri="{9D8B030D-6E8A-4147-A177-3AD203B41FA5}">
                      <a16:colId xmlns:a16="http://schemas.microsoft.com/office/drawing/2014/main" val="20007"/>
                    </a:ext>
                  </a:extLst>
                </a:gridCol>
                <a:gridCol w="363477">
                  <a:extLst>
                    <a:ext uri="{9D8B030D-6E8A-4147-A177-3AD203B41FA5}">
                      <a16:colId xmlns:a16="http://schemas.microsoft.com/office/drawing/2014/main" val="20008"/>
                    </a:ext>
                  </a:extLst>
                </a:gridCol>
                <a:gridCol w="363477">
                  <a:extLst>
                    <a:ext uri="{9D8B030D-6E8A-4147-A177-3AD203B41FA5}">
                      <a16:colId xmlns:a16="http://schemas.microsoft.com/office/drawing/2014/main" val="20009"/>
                    </a:ext>
                  </a:extLst>
                </a:gridCol>
                <a:gridCol w="363477">
                  <a:extLst>
                    <a:ext uri="{9D8B030D-6E8A-4147-A177-3AD203B41FA5}">
                      <a16:colId xmlns:a16="http://schemas.microsoft.com/office/drawing/2014/main" val="20010"/>
                    </a:ext>
                  </a:extLst>
                </a:gridCol>
                <a:gridCol w="363477">
                  <a:extLst>
                    <a:ext uri="{9D8B030D-6E8A-4147-A177-3AD203B41FA5}">
                      <a16:colId xmlns:a16="http://schemas.microsoft.com/office/drawing/2014/main" val="20011"/>
                    </a:ext>
                  </a:extLst>
                </a:gridCol>
              </a:tblGrid>
              <a:tr h="184898">
                <a:tc rowSpan="2">
                  <a:txBody>
                    <a:bodyPr/>
                    <a:lstStyle/>
                    <a:p>
                      <a:pPr algn="ctr" fontAlgn="ctr"/>
                      <a:r>
                        <a:rPr lang="en-US" altLang="ko-KR" sz="1000" b="0" i="0" u="none" strike="noStrike" dirty="0" err="1">
                          <a:latin typeface="돋움"/>
                        </a:rPr>
                        <a:t>Phân</a:t>
                      </a:r>
                      <a:r>
                        <a:rPr lang="en-US" altLang="ko-KR" sz="1000" b="0" i="0" u="none" strike="noStrike" baseline="0" dirty="0">
                          <a:latin typeface="돋움"/>
                        </a:rPr>
                        <a:t> </a:t>
                      </a:r>
                      <a:r>
                        <a:rPr lang="en-US" altLang="ko-KR" sz="1000" b="0" i="0" u="none" strike="noStrike" baseline="0" dirty="0" err="1">
                          <a:latin typeface="돋움"/>
                        </a:rPr>
                        <a:t>biệt</a:t>
                      </a:r>
                      <a:r>
                        <a:rPr lang="en-US" altLang="ko-KR" sz="1000" b="0" i="0" u="none" strike="noStrike" baseline="0" dirty="0">
                          <a:latin typeface="돋움"/>
                        </a:rPr>
                        <a:t> sample</a:t>
                      </a:r>
                      <a:endParaRPr lang="ko-KR" altLang="en-US" sz="1000" b="0" i="0" u="none" strike="noStrike" dirty="0">
                        <a:latin typeface="돋움"/>
                      </a:endParaRP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en-US" altLang="ko-KR" sz="1000" b="0" i="0" u="none" strike="noStrike" dirty="0">
                          <a:latin typeface="돋움"/>
                        </a:rPr>
                        <a:t>Part</a:t>
                      </a:r>
                    </a:p>
                    <a:p>
                      <a:pPr algn="ctr" fontAlgn="ctr"/>
                      <a:r>
                        <a:rPr lang="en-US" altLang="ko-KR" sz="1000" b="0" i="0" u="none" strike="noStrike" dirty="0">
                          <a:latin typeface="돋움"/>
                        </a:rPr>
                        <a:t>No.</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en-US" altLang="ko-KR" sz="1000" b="0" i="0" u="none" strike="noStrike" dirty="0" err="1">
                          <a:latin typeface="돋움"/>
                        </a:rPr>
                        <a:t>Giá</a:t>
                      </a:r>
                      <a:r>
                        <a:rPr lang="en-US" altLang="ko-KR" sz="1000" b="0" i="0" u="none" strike="noStrike" baseline="0" dirty="0">
                          <a:latin typeface="돋움"/>
                        </a:rPr>
                        <a:t> </a:t>
                      </a:r>
                      <a:r>
                        <a:rPr lang="en-US" altLang="ko-KR" sz="1000" b="0" i="0" u="none" strike="noStrike" baseline="0" dirty="0" err="1">
                          <a:latin typeface="돋움"/>
                        </a:rPr>
                        <a:t>trị</a:t>
                      </a:r>
                      <a:r>
                        <a:rPr lang="en-US" altLang="ko-KR" sz="1000" b="0" i="0" u="none" strike="noStrike" baseline="0" dirty="0">
                          <a:latin typeface="돋움"/>
                        </a:rPr>
                        <a:t> </a:t>
                      </a:r>
                      <a:r>
                        <a:rPr lang="en-US" altLang="ko-KR" sz="1000" b="0" i="0" u="none" strike="noStrike" baseline="0" dirty="0" err="1">
                          <a:latin typeface="돋움"/>
                        </a:rPr>
                        <a:t>thật</a:t>
                      </a:r>
                      <a:r>
                        <a:rPr lang="en-US" altLang="ko-KR" sz="1000" b="0" i="0" u="none" strike="noStrike" baseline="0" dirty="0">
                          <a:latin typeface="돋움"/>
                        </a:rPr>
                        <a:t> sample</a:t>
                      </a:r>
                      <a:endParaRPr lang="ko-KR" altLang="en-US" sz="1000" b="0" i="0" u="none" strike="noStrike" dirty="0">
                        <a:latin typeface="돋움"/>
                      </a:endParaRP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3">
                  <a:txBody>
                    <a:bodyPr/>
                    <a:lstStyle/>
                    <a:p>
                      <a:pPr algn="ctr" fontAlgn="ctr"/>
                      <a:r>
                        <a:rPr lang="en-US" altLang="ko-KR" sz="1000" b="0" i="0" u="none" strike="noStrike" dirty="0" err="1">
                          <a:latin typeface="돋움"/>
                        </a:rPr>
                        <a:t>Người</a:t>
                      </a:r>
                      <a:r>
                        <a:rPr lang="en-US" altLang="ko-KR" sz="1000" b="0" i="0" u="none" strike="noStrike" dirty="0">
                          <a:latin typeface="돋움"/>
                        </a:rPr>
                        <a:t> </a:t>
                      </a:r>
                      <a:r>
                        <a:rPr lang="en-US" altLang="ko-KR" sz="1000" b="0" i="0" u="none" strike="noStrike" dirty="0" err="1">
                          <a:latin typeface="돋움"/>
                        </a:rPr>
                        <a:t>đánh</a:t>
                      </a:r>
                      <a:r>
                        <a:rPr lang="en-US" altLang="ko-KR" sz="1000" b="0" i="0" u="none" strike="noStrike" baseline="0" dirty="0">
                          <a:latin typeface="돋움"/>
                        </a:rPr>
                        <a:t> </a:t>
                      </a:r>
                      <a:r>
                        <a:rPr lang="en-US" altLang="ko-KR" sz="1000" b="0" i="0" u="none" strike="noStrike" baseline="0" dirty="0" err="1">
                          <a:latin typeface="돋움"/>
                        </a:rPr>
                        <a:t>giá</a:t>
                      </a:r>
                      <a:r>
                        <a:rPr lang="ko-KR" altLang="en-US" sz="1000" b="0" i="0" u="none" strike="noStrike" dirty="0">
                          <a:latin typeface="돋움"/>
                        </a:rPr>
                        <a:t> </a:t>
                      </a:r>
                      <a:r>
                        <a:rPr lang="en-US" altLang="ko-KR" sz="1000" b="0" i="0" u="none" strike="noStrike" dirty="0">
                          <a:latin typeface="돋움"/>
                        </a:rPr>
                        <a:t>Lee</a:t>
                      </a:r>
                      <a:endParaRPr lang="en-US" sz="1000" b="0" i="0" u="none" strike="noStrike" dirty="0">
                        <a:latin typeface="돋움"/>
                      </a:endParaRPr>
                    </a:p>
                  </a:txBody>
                  <a:tcPr marL="7658" marR="7658" marT="144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en-US" altLang="ko-KR" sz="1000" b="0" i="0" u="none" strike="noStrike" dirty="0" err="1">
                          <a:latin typeface="돋움"/>
                        </a:rPr>
                        <a:t>Người</a:t>
                      </a:r>
                      <a:r>
                        <a:rPr lang="en-US" altLang="ko-KR" sz="1000" b="0" i="0" u="none" strike="noStrike" dirty="0">
                          <a:latin typeface="돋움"/>
                        </a:rPr>
                        <a:t> </a:t>
                      </a:r>
                      <a:r>
                        <a:rPr lang="en-US" altLang="ko-KR" sz="1000" b="0" i="0" u="none" strike="noStrike" dirty="0" err="1">
                          <a:latin typeface="돋움"/>
                        </a:rPr>
                        <a:t>đánh</a:t>
                      </a:r>
                      <a:r>
                        <a:rPr lang="en-US" altLang="ko-KR" sz="1000" b="0" i="0" u="none" strike="noStrike" baseline="0" dirty="0">
                          <a:latin typeface="돋움"/>
                        </a:rPr>
                        <a:t> </a:t>
                      </a:r>
                      <a:r>
                        <a:rPr lang="en-US" altLang="ko-KR" sz="1000" b="0" i="0" u="none" strike="noStrike" baseline="0" dirty="0" err="1">
                          <a:latin typeface="돋움"/>
                        </a:rPr>
                        <a:t>giá</a:t>
                      </a:r>
                      <a:r>
                        <a:rPr lang="ko-KR" altLang="en-US" sz="1000" b="0" i="0" u="none" strike="noStrike" dirty="0">
                          <a:latin typeface="돋움"/>
                        </a:rPr>
                        <a:t> </a:t>
                      </a:r>
                      <a:r>
                        <a:rPr lang="en-US" altLang="ko-KR" sz="1000" b="0" i="0" u="none" strike="noStrike" dirty="0">
                          <a:latin typeface="돋움"/>
                        </a:rPr>
                        <a:t>Kim</a:t>
                      </a:r>
                      <a:endParaRPr lang="en-US" sz="1000" b="0" i="0" u="none" strike="noStrike" dirty="0">
                        <a:latin typeface="돋움"/>
                      </a:endParaRPr>
                    </a:p>
                  </a:txBody>
                  <a:tcPr marL="7658" marR="7658" marT="144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en-US" altLang="ko-KR" sz="1000" b="0" i="0" u="none" strike="noStrike" baseline="0" dirty="0" err="1">
                          <a:latin typeface="돋움"/>
                        </a:rPr>
                        <a:t>Người</a:t>
                      </a:r>
                      <a:r>
                        <a:rPr lang="en-US" altLang="ko-KR" sz="1000" b="0" i="0" u="none" strike="noStrike" baseline="0" dirty="0">
                          <a:latin typeface="돋움"/>
                        </a:rPr>
                        <a:t> </a:t>
                      </a:r>
                      <a:r>
                        <a:rPr lang="en-US" altLang="ko-KR" sz="1000" b="0" i="0" u="none" strike="noStrike" baseline="0" dirty="0" err="1">
                          <a:latin typeface="돋움"/>
                        </a:rPr>
                        <a:t>đánh</a:t>
                      </a:r>
                      <a:r>
                        <a:rPr lang="en-US" altLang="ko-KR" sz="1000" b="0" i="0" u="none" strike="noStrike" baseline="0" dirty="0">
                          <a:latin typeface="돋움"/>
                        </a:rPr>
                        <a:t> </a:t>
                      </a:r>
                      <a:r>
                        <a:rPr lang="en-US" altLang="ko-KR" sz="1000" b="0" i="0" u="none" strike="noStrike" baseline="0" dirty="0" err="1">
                          <a:latin typeface="돋움"/>
                        </a:rPr>
                        <a:t>giá</a:t>
                      </a:r>
                      <a:r>
                        <a:rPr lang="en-US" altLang="ko-KR" sz="1000" b="0" i="0" u="none" strike="noStrike" baseline="0" dirty="0">
                          <a:latin typeface="돋움"/>
                        </a:rPr>
                        <a:t> Park</a:t>
                      </a:r>
                      <a:endParaRPr lang="en-US" sz="1000" b="0" i="0" u="none" strike="noStrike" dirty="0">
                        <a:latin typeface="돋움"/>
                      </a:endParaRPr>
                    </a:p>
                  </a:txBody>
                  <a:tcPr marL="7658" marR="7658" marT="144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0"/>
                  </a:ext>
                </a:extLst>
              </a:tr>
              <a:tr h="184898">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fontAlgn="ctr"/>
                      <a:r>
                        <a:rPr lang="en-US" altLang="ko-KR" sz="1000" b="0" i="0" u="none" strike="noStrike" dirty="0">
                          <a:latin typeface="돋움"/>
                        </a:rPr>
                        <a:t>1</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4898">
                <a:tc>
                  <a:txBody>
                    <a:bodyPr/>
                    <a:lstStyle/>
                    <a:p>
                      <a:pPr algn="ctr" fontAlgn="ctr"/>
                      <a:r>
                        <a:rPr lang="en-US" altLang="ko-KR" sz="1000" b="0" i="0" u="none" strike="noStrike" dirty="0" err="1">
                          <a:latin typeface="돋움"/>
                        </a:rPr>
                        <a:t>Mơ</a:t>
                      </a:r>
                      <a:r>
                        <a:rPr lang="en-US" altLang="ko-KR" sz="1000" b="0" i="0" u="none" strike="noStrike" baseline="0" dirty="0">
                          <a:latin typeface="돋움"/>
                        </a:rPr>
                        <a:t> </a:t>
                      </a:r>
                      <a:r>
                        <a:rPr lang="en-US" altLang="ko-KR" sz="1000" b="0" i="0" u="none" strike="noStrike" baseline="0" dirty="0" err="1">
                          <a:latin typeface="돋움"/>
                        </a:rPr>
                        <a:t>hồ</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4</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84898">
                <a:tc>
                  <a:txBody>
                    <a:bodyPr/>
                    <a:lstStyle/>
                    <a:p>
                      <a:pPr algn="ctr" fontAlgn="ctr"/>
                      <a:r>
                        <a:rPr lang="en-US" altLang="ko-KR" sz="1000" b="0" i="0" u="none" strike="noStrike" dirty="0" err="1">
                          <a:latin typeface="돋움"/>
                        </a:rPr>
                        <a:t>Mơ</a:t>
                      </a:r>
                      <a:r>
                        <a:rPr lang="en-US" altLang="ko-KR" sz="1000" b="0" i="0" u="none" strike="noStrike" baseline="0" dirty="0">
                          <a:latin typeface="돋움"/>
                        </a:rPr>
                        <a:t> </a:t>
                      </a:r>
                      <a:r>
                        <a:rPr lang="en-US" altLang="ko-KR" sz="1000" b="0" i="0" u="none" strike="noStrike" baseline="0" dirty="0" err="1">
                          <a:latin typeface="돋움"/>
                        </a:rPr>
                        <a:t>hồ</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5</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extLst>
                  <a:ext uri="{0D108BD9-81ED-4DB2-BD59-A6C34878D82A}">
                    <a16:rowId xmlns:a16="http://schemas.microsoft.com/office/drawing/2014/main" val="10006"/>
                  </a:ext>
                </a:extLst>
              </a:tr>
              <a:tr h="184898">
                <a:tc>
                  <a:txBody>
                    <a:bodyPr/>
                    <a:lstStyle/>
                    <a:p>
                      <a:pPr algn="ctr" fontAlgn="ctr"/>
                      <a:r>
                        <a:rPr lang="en-US" altLang="ko-KR" sz="1000" b="0" i="0" u="none" strike="noStrike" dirty="0" err="1">
                          <a:latin typeface="돋움"/>
                        </a:rPr>
                        <a:t>Mơ</a:t>
                      </a:r>
                      <a:r>
                        <a:rPr lang="en-US" altLang="ko-KR" sz="1000" b="0" i="0" u="none" strike="noStrike" baseline="0" dirty="0">
                          <a:latin typeface="돋움"/>
                        </a:rPr>
                        <a:t> </a:t>
                      </a:r>
                      <a:r>
                        <a:rPr lang="en-US" altLang="ko-KR" sz="1000" b="0" i="0" u="none" strike="noStrike" baseline="0" dirty="0" err="1">
                          <a:latin typeface="돋움"/>
                        </a:rPr>
                        <a:t>hồ</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6</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7</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8</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09"/>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9</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10</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84898">
                <a:tc>
                  <a:txBody>
                    <a:bodyPr/>
                    <a:lstStyle/>
                    <a:p>
                      <a:pPr algn="ctr" fontAlgn="ctr"/>
                      <a:r>
                        <a:rPr lang="en-US" altLang="ko-KR" sz="1000" b="0" i="0" u="none" strike="noStrike" dirty="0" err="1">
                          <a:latin typeface="돋움"/>
                        </a:rPr>
                        <a:t>Mơ</a:t>
                      </a:r>
                      <a:r>
                        <a:rPr lang="en-US" altLang="ko-KR" sz="1000" b="0" i="0" u="none" strike="noStrike" baseline="0" dirty="0">
                          <a:latin typeface="돋움"/>
                        </a:rPr>
                        <a:t> </a:t>
                      </a:r>
                      <a:r>
                        <a:rPr lang="en-US" altLang="ko-KR" sz="1000" b="0" i="0" u="none" strike="noStrike" baseline="0" dirty="0" err="1">
                          <a:latin typeface="돋움"/>
                        </a:rPr>
                        <a:t>hồ</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11</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184898">
                <a:tc>
                  <a:txBody>
                    <a:bodyPr/>
                    <a:lstStyle/>
                    <a:p>
                      <a:pPr algn="ctr" fontAlgn="ctr"/>
                      <a:r>
                        <a:rPr lang="en-US" altLang="ko-KR" sz="1000" b="0" i="0" u="none" strike="noStrike" dirty="0" err="1">
                          <a:latin typeface="돋움"/>
                        </a:rPr>
                        <a:t>Mơ</a:t>
                      </a:r>
                      <a:r>
                        <a:rPr lang="en-US" altLang="ko-KR" sz="1000" b="0" i="0" u="none" strike="noStrike" baseline="0" dirty="0">
                          <a:latin typeface="돋움"/>
                        </a:rPr>
                        <a:t> </a:t>
                      </a:r>
                      <a:r>
                        <a:rPr lang="en-US" altLang="ko-KR" sz="1000" b="0" i="0" u="none" strike="noStrike" baseline="0" dirty="0" err="1">
                          <a:latin typeface="돋움"/>
                        </a:rPr>
                        <a:t>hồ</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12</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13"/>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13</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OK</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14</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84898">
                <a:tc>
                  <a:txBody>
                    <a:bodyPr/>
                    <a:lstStyle/>
                    <a:p>
                      <a:pPr algn="ctr" fontAlgn="ctr"/>
                      <a:r>
                        <a:rPr lang="en-US" altLang="ko-KR" sz="1000" b="0" i="0" u="none" strike="noStrike" dirty="0" err="1">
                          <a:latin typeface="돋움"/>
                        </a:rPr>
                        <a:t>Hàng</a:t>
                      </a:r>
                      <a:r>
                        <a:rPr lang="en-US" altLang="ko-KR" sz="1000" b="0" i="0" u="none" strike="noStrike" baseline="0" dirty="0">
                          <a:latin typeface="돋움"/>
                        </a:rPr>
                        <a:t> NG</a:t>
                      </a:r>
                      <a:endParaRPr lang="en-US" altLang="ko-KR" sz="1000" b="0" i="0" u="none" strike="noStrike" dirty="0">
                        <a:latin typeface="돋움"/>
                      </a:endParaRP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000" b="0" i="0" u="none" strike="noStrike" dirty="0">
                          <a:latin typeface="돋움"/>
                        </a:rPr>
                        <a:t>15</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0" i="0" u="none" strike="noStrike" dirty="0">
                          <a:latin typeface="돋움"/>
                        </a:rPr>
                        <a:t>NG</a:t>
                      </a:r>
                    </a:p>
                  </a:txBody>
                  <a:tcPr marL="7658" marR="7658" marT="36000" marB="720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
        <p:nvSpPr>
          <p:cNvPr id="19" name="TextBox 18"/>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Phân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loại</a:t>
            </a:r>
            <a:r>
              <a:rPr kumimoji="0" lang="en-US" altLang="ko-KR" sz="1400" b="1" kern="0" dirty="0">
                <a:solidFill>
                  <a:sysClr val="windowText" lastClr="000000"/>
                </a:solidFill>
                <a:latin typeface="맑은 고딕" pitchFamily="50" charset="-127"/>
                <a:ea typeface="맑은 고딕" pitchFamily="50" charset="-127"/>
              </a:rPr>
              <a:t> Data Gage R&amp;R</a:t>
            </a:r>
          </a:p>
        </p:txBody>
      </p:sp>
      <p:sp>
        <p:nvSpPr>
          <p:cNvPr id="20" name="Rectangle 5"/>
          <p:cNvSpPr>
            <a:spLocks noChangeArrowheads="1"/>
          </p:cNvSpPr>
          <p:nvPr/>
        </p:nvSpPr>
        <p:spPr bwMode="auto">
          <a:xfrm>
            <a:off x="813289" y="1124744"/>
            <a:ext cx="8143063" cy="1421928"/>
          </a:xfrm>
          <a:prstGeom prst="rect">
            <a:avLst/>
          </a:prstGeom>
          <a:solidFill>
            <a:srgbClr val="FFFFFF"/>
          </a:solidFill>
          <a:ln w="9525" algn="ctr">
            <a:solidFill>
              <a:schemeClr val="bg1">
                <a:lumMod val="65000"/>
              </a:schemeClr>
            </a:solidFill>
            <a:miter lim="800000"/>
            <a:headEnd/>
            <a:tailEnd/>
          </a:ln>
        </p:spPr>
        <p:txBody>
          <a:bodyPr wrap="none">
            <a:spAutoFit/>
          </a:bodyPr>
          <a:lstStyle/>
          <a:p>
            <a:pPr>
              <a:lnSpc>
                <a:spcPct val="120000"/>
              </a:lnSpc>
              <a:defRPr/>
            </a:pPr>
            <a:r>
              <a:rPr lang="en-US" altLang="ko-KR" sz="1200" b="1" dirty="0" err="1">
                <a:latin typeface="맑은 고딕" pitchFamily="50" charset="-127"/>
                <a:ea typeface="맑은 고딕" pitchFamily="50" charset="-127"/>
              </a:rPr>
              <a:t>Để</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kiểm</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chứng</a:t>
            </a:r>
            <a:r>
              <a:rPr lang="en-US" altLang="ko-KR" sz="1200" b="1" dirty="0">
                <a:latin typeface="맑은 고딕" pitchFamily="50" charset="-127"/>
                <a:ea typeface="맑은 고딕" pitchFamily="50" charset="-127"/>
              </a:rPr>
              <a:t> </a:t>
            </a:r>
            <a:r>
              <a:rPr lang="vi-VN" altLang="ko-KR" sz="1200" b="1" dirty="0">
                <a:latin typeface="맑은 고딕" pitchFamily="50" charset="-127"/>
                <a:ea typeface="맑은 고딕" pitchFamily="50" charset="-127"/>
              </a:rPr>
              <a:t>Gage R &amp; R của đo giới hạn hoạt động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được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kết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quả</a:t>
            </a:r>
            <a:r>
              <a:rPr lang="en-US" altLang="ko-KR" sz="1200" b="1" dirty="0">
                <a:latin typeface="맑은 고딕" pitchFamily="50" charset="-127"/>
                <a:ea typeface="맑은 고딕" pitchFamily="50" charset="-127"/>
              </a:rPr>
              <a:t> Data </a:t>
            </a:r>
            <a:r>
              <a:rPr lang="en-US" altLang="ko-KR" sz="1200" b="1" dirty="0" err="1">
                <a:latin typeface="맑은 고딕" pitchFamily="50" charset="-127"/>
                <a:ea typeface="맑은 고딕" pitchFamily="50" charset="-127"/>
              </a:rPr>
              <a:t>như</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sau</a:t>
            </a:r>
            <a:r>
              <a:rPr lang="en-US" altLang="ko-KR" sz="1200" b="1" dirty="0">
                <a:latin typeface="맑은 고딕" pitchFamily="50" charset="-127"/>
                <a:ea typeface="맑은 고딕" pitchFamily="50" charset="-127"/>
              </a:rPr>
              <a:t>.</a:t>
            </a:r>
          </a:p>
          <a:p>
            <a:pPr>
              <a:lnSpc>
                <a:spcPct val="120000"/>
              </a:lnSpc>
              <a:defRPr/>
            </a:pPr>
            <a:r>
              <a:rPr lang="en-US" altLang="ko-KR" sz="1200" b="1" dirty="0">
                <a:latin typeface="맑은 고딕" pitchFamily="50" charset="-127"/>
                <a:ea typeface="맑은 고딕" pitchFamily="50" charset="-127"/>
              </a:rPr>
              <a:t>- Parts :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bị</a:t>
            </a:r>
            <a:r>
              <a:rPr lang="en-US" altLang="ko-KR" sz="1200" b="1" dirty="0">
                <a:latin typeface="맑은 고딕" pitchFamily="50" charset="-127"/>
                <a:ea typeface="맑은 고딕" pitchFamily="50" charset="-127"/>
              </a:rPr>
              <a:t> 15 sample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đã</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biết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trước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hàng</a:t>
            </a:r>
            <a:r>
              <a:rPr lang="en-US" altLang="ko-KR" sz="1200" b="1" dirty="0">
                <a:latin typeface="맑은 고딕" pitchFamily="50" charset="-127"/>
                <a:ea typeface="맑은 고딕" pitchFamily="50" charset="-127"/>
              </a:rPr>
              <a:t> OK/</a:t>
            </a:r>
            <a:r>
              <a:rPr lang="en-US" altLang="ko-KR" sz="1200" b="1" dirty="0" err="1">
                <a:latin typeface="맑은 고딕" pitchFamily="50" charset="-127"/>
                <a:ea typeface="맑은 고딕" pitchFamily="50" charset="-127"/>
              </a:rPr>
              <a:t>hàng</a:t>
            </a:r>
            <a:r>
              <a:rPr lang="en-US" altLang="ko-KR" sz="1200" b="1" dirty="0">
                <a:latin typeface="맑은 고딕" pitchFamily="50" charset="-127"/>
                <a:ea typeface="맑은 고딕" pitchFamily="50" charset="-127"/>
              </a:rPr>
              <a:t> NG</a:t>
            </a:r>
            <a:r>
              <a:rPr lang="ko-KR" altLang="en-US" sz="1200" b="1" dirty="0">
                <a:latin typeface="맑은 고딕" pitchFamily="50" charset="-127"/>
                <a:ea typeface="맑은 고딕" pitchFamily="50" charset="-127"/>
              </a:rPr>
              <a:t> </a:t>
            </a:r>
            <a:r>
              <a:rPr lang="en-US" altLang="ko-KR" sz="1200" b="1" dirty="0">
                <a:latin typeface="맑은 고딕" pitchFamily="50" charset="-127"/>
                <a:ea typeface="맑은 고딕" pitchFamily="50" charset="-127"/>
              </a:rPr>
              <a:t>(8 </a:t>
            </a:r>
            <a:r>
              <a:rPr lang="en-US" altLang="ko-KR" sz="1200" b="1" dirty="0" err="1">
                <a:latin typeface="맑은 고딕" pitchFamily="50" charset="-127"/>
                <a:ea typeface="맑은 고딕" pitchFamily="50" charset="-127"/>
              </a:rPr>
              <a:t>hàng</a:t>
            </a:r>
            <a:r>
              <a:rPr lang="en-US" altLang="ko-KR" sz="1200" b="1" dirty="0">
                <a:latin typeface="맑은 고딕" pitchFamily="50" charset="-127"/>
                <a:ea typeface="맑은 고딕" pitchFamily="50" charset="-127"/>
              </a:rPr>
              <a:t> NG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7 </a:t>
            </a:r>
            <a:r>
              <a:rPr lang="en-US" altLang="ko-KR" sz="1200" b="1" dirty="0" err="1">
                <a:latin typeface="맑은 고딕" pitchFamily="50" charset="-127"/>
                <a:ea typeface="맑은 고딕" pitchFamily="50" charset="-127"/>
              </a:rPr>
              <a:t>hàng</a:t>
            </a:r>
            <a:r>
              <a:rPr lang="en-US" altLang="ko-KR" sz="1200" b="1" dirty="0">
                <a:latin typeface="맑은 고딕" pitchFamily="50" charset="-127"/>
                <a:ea typeface="맑은 고딕" pitchFamily="50" charset="-127"/>
              </a:rPr>
              <a:t> OK)</a:t>
            </a:r>
          </a:p>
          <a:p>
            <a:pPr>
              <a:lnSpc>
                <a:spcPct val="120000"/>
              </a:lnSpc>
              <a:buFontTx/>
              <a:buChar char="-"/>
              <a:defRPr/>
            </a:pPr>
            <a:r>
              <a:rPr lang="en-US" altLang="ko-KR" sz="1200" b="1" dirty="0">
                <a:latin typeface="맑은 고딕" pitchFamily="50" charset="-127"/>
                <a:ea typeface="맑은 고딕" pitchFamily="50" charset="-127"/>
              </a:rPr>
              <a:t>Appraisers : </a:t>
            </a:r>
            <a:r>
              <a:rPr lang="en-US" altLang="ko-KR" sz="1200" b="1" dirty="0" err="1">
                <a:latin typeface="맑은 고딕" pitchFamily="50" charset="-127"/>
                <a:ea typeface="맑은 고딕" pitchFamily="50" charset="-127"/>
              </a:rPr>
              <a:t>Trong</a:t>
            </a:r>
            <a:r>
              <a:rPr lang="en-US" altLang="ko-KR" sz="1200" b="1" dirty="0">
                <a:latin typeface="맑은 고딕" pitchFamily="50" charset="-127"/>
                <a:ea typeface="맑은 고딕" pitchFamily="50" charset="-127"/>
              </a:rPr>
              <a:t> process </a:t>
            </a:r>
            <a:r>
              <a:rPr lang="en-US" altLang="ko-KR" sz="1200" b="1" dirty="0" err="1">
                <a:latin typeface="맑은 고딕" pitchFamily="50" charset="-127"/>
                <a:ea typeface="맑은 고딕" pitchFamily="50" charset="-127"/>
              </a:rPr>
              <a:t>hiện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tại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giữa</a:t>
            </a:r>
            <a:r>
              <a:rPr lang="en-US" altLang="ko-KR" sz="1200" b="1" dirty="0">
                <a:latin typeface="맑은 고딕" pitchFamily="50" charset="-127"/>
                <a:ea typeface="맑은 고딕" pitchFamily="50" charset="-127"/>
              </a:rPr>
              <a:t> 15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lựa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chọn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ngẫu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nhiên</a:t>
            </a:r>
            <a:r>
              <a:rPr lang="en-US" altLang="ko-KR" sz="1200" b="1" dirty="0">
                <a:latin typeface="맑은 고딕" pitchFamily="50" charset="-127"/>
                <a:ea typeface="맑은 고딕" pitchFamily="50" charset="-127"/>
              </a:rPr>
              <a:t> 3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không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quan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tâm</a:t>
            </a:r>
            <a:endParaRPr lang="en-US" altLang="ko-KR" sz="1200" b="1" dirty="0">
              <a:latin typeface="맑은 고딕" pitchFamily="50" charset="-127"/>
              <a:ea typeface="맑은 고딕" pitchFamily="50" charset="-127"/>
            </a:endParaRPr>
          </a:p>
          <a:p>
            <a:pPr>
              <a:lnSpc>
                <a:spcPct val="120000"/>
              </a:lnSpc>
              <a:defRPr/>
            </a:pP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đến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thành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thục</a:t>
            </a:r>
            <a:endParaRPr lang="ko-KR" altLang="en-US" sz="1200" b="1" dirty="0">
              <a:latin typeface="맑은 고딕" pitchFamily="50" charset="-127"/>
              <a:ea typeface="맑은 고딕" pitchFamily="50" charset="-127"/>
            </a:endParaRPr>
          </a:p>
          <a:p>
            <a:pPr>
              <a:lnSpc>
                <a:spcPct val="120000"/>
              </a:lnSpc>
              <a:defRPr/>
            </a:pPr>
            <a:r>
              <a:rPr lang="en-US" altLang="ko-KR" sz="1200" b="1" dirty="0">
                <a:latin typeface="맑은 고딕" pitchFamily="50" charset="-127"/>
                <a:ea typeface="맑은 고딕" pitchFamily="50" charset="-127"/>
              </a:rPr>
              <a:t>- Data Collection  : </a:t>
            </a:r>
            <a:r>
              <a:rPr lang="en-US" altLang="ko-KR" sz="1200" b="1" dirty="0" err="1">
                <a:latin typeface="맑은 고딕" pitchFamily="50" charset="-127"/>
                <a:ea typeface="맑은 고딕" pitchFamily="50" charset="-127"/>
              </a:rPr>
              <a:t>Mỗi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đều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không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được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biết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về</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trạng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thái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sản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phẩm</a:t>
            </a:r>
            <a:r>
              <a:rPr lang="en-US" altLang="ko-KR" sz="1200" b="1" dirty="0">
                <a:latin typeface="맑은 고딕" pitchFamily="50" charset="-127"/>
                <a:ea typeface="맑은 고딕" pitchFamily="50" charset="-127"/>
              </a:rPr>
              <a:t> OK/NG </a:t>
            </a:r>
            <a:r>
              <a:rPr lang="en-US" altLang="ko-KR" sz="1200" b="1" dirty="0" err="1">
                <a:latin typeface="맑은 고딕" pitchFamily="50" charset="-127"/>
                <a:ea typeface="맑은 고딕" pitchFamily="50" charset="-127"/>
              </a:rPr>
              <a:t>của</a:t>
            </a:r>
            <a:r>
              <a:rPr lang="en-US" altLang="ko-KR" sz="1200" b="1" dirty="0">
                <a:latin typeface="맑은 고딕" pitchFamily="50" charset="-127"/>
                <a:ea typeface="맑은 고딕" pitchFamily="50" charset="-127"/>
              </a:rPr>
              <a:t> Part</a:t>
            </a:r>
            <a:endParaRPr lang="ko-KR" altLang="en-US" sz="1200" b="1" dirty="0">
              <a:latin typeface="맑은 고딕" pitchFamily="50" charset="-127"/>
              <a:ea typeface="맑은 고딕" pitchFamily="50" charset="-127"/>
            </a:endParaRPr>
          </a:p>
          <a:p>
            <a:pPr>
              <a:lnSpc>
                <a:spcPct val="120000"/>
              </a:lnSpc>
              <a:defRPr/>
            </a:pPr>
            <a:r>
              <a:rPr lang="ko-KR" altLang="en-US"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Mỗi</a:t>
            </a:r>
            <a:r>
              <a:rPr lang="en-US" altLang="ko-KR" sz="1200" b="1" dirty="0">
                <a:latin typeface="맑은 고딕" pitchFamily="50" charset="-127"/>
                <a:ea typeface="맑은 고딕" pitchFamily="50" charset="-127"/>
              </a:rPr>
              <a:t> sample </a:t>
            </a:r>
            <a:r>
              <a:rPr lang="en-US" altLang="ko-KR" sz="1200" b="1" dirty="0" err="1">
                <a:latin typeface="맑은 고딕" pitchFamily="50" charset="-127"/>
                <a:ea typeface="맑은 고딕" pitchFamily="50" charset="-127"/>
              </a:rPr>
              <a:t>lựa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chọn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ngẫu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nhiên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tiến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hành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lặp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lại</a:t>
            </a:r>
            <a:r>
              <a:rPr lang="en-US" altLang="ko-KR" sz="1200" b="1" dirty="0">
                <a:latin typeface="맑은 고딕" pitchFamily="50" charset="-127"/>
                <a:ea typeface="맑은 고딕" pitchFamily="50" charset="-127"/>
              </a:rPr>
              <a:t> 3 </a:t>
            </a:r>
            <a:r>
              <a:rPr lang="en-US" altLang="ko-KR" sz="1200" b="1" dirty="0" err="1">
                <a:latin typeface="맑은 고딕" pitchFamily="50" charset="-127"/>
                <a:ea typeface="맑은 고딕" pitchFamily="50" charset="-127"/>
              </a:rPr>
              <a:t>lần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và</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ghi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chép</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lại</a:t>
            </a:r>
            <a:r>
              <a:rPr lang="en-US" altLang="ko-KR" sz="1200" b="1" dirty="0">
                <a:latin typeface="맑은 고딕" pitchFamily="50" charset="-127"/>
                <a:ea typeface="맑은 고딕" pitchFamily="50" charset="-127"/>
              </a:rPr>
              <a:t> OK/NG</a:t>
            </a:r>
            <a:endParaRPr lang="ko-KR" altLang="en-US" sz="1200" b="1" dirty="0">
              <a:latin typeface="맑은 고딕" pitchFamily="50" charset="-127"/>
              <a:ea typeface="맑은 고딕" pitchFamily="50" charset="-127"/>
            </a:endParaRPr>
          </a:p>
        </p:txBody>
      </p:sp>
      <p:sp>
        <p:nvSpPr>
          <p:cNvPr id="21" name="TextBox 57"/>
          <p:cNvSpPr txBox="1">
            <a:spLocks noChangeArrowheads="1"/>
          </p:cNvSpPr>
          <p:nvPr/>
        </p:nvSpPr>
        <p:spPr bwMode="auto">
          <a:xfrm>
            <a:off x="838200" y="2549526"/>
            <a:ext cx="2007281"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Nhập</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dữ</a:t>
            </a:r>
            <a:r>
              <a:rPr lang="en-US" altLang="ko-KR" sz="1400" b="1" dirty="0">
                <a:latin typeface="맑은 고딕" pitchFamily="50" charset="-127"/>
                <a:ea typeface="맑은 고딕" pitchFamily="50" charset="-127"/>
              </a:rPr>
              <a:t> </a:t>
            </a:r>
            <a:r>
              <a:rPr lang="en-US" altLang="ko-KR" sz="1400" b="1" dirty="0" err="1">
                <a:latin typeface="맑은 고딕" pitchFamily="50" charset="-127"/>
                <a:ea typeface="맑은 고딕" pitchFamily="50" charset="-127"/>
              </a:rPr>
              <a:t>liệu</a:t>
            </a:r>
            <a:r>
              <a:rPr lang="en-US" altLang="ko-KR" sz="1400" b="1" dirty="0">
                <a:latin typeface="맑은 고딕" pitchFamily="50" charset="-127"/>
                <a:ea typeface="맑은 고딕" pitchFamily="50" charset="-127"/>
              </a:rPr>
              <a:t> Data</a:t>
            </a:r>
            <a:endParaRPr lang="ko-KR" altLang="en-US" sz="1400" b="1" dirty="0">
              <a:latin typeface="맑은 고딕" pitchFamily="50" charset="-127"/>
              <a:ea typeface="맑은 고딕" pitchFamily="50" charset="-127"/>
            </a:endParaRPr>
          </a:p>
        </p:txBody>
      </p:sp>
      <p:cxnSp>
        <p:nvCxnSpPr>
          <p:cNvPr id="22" name="AutoShape 12"/>
          <p:cNvCxnSpPr>
            <a:cxnSpLocks noChangeShapeType="1"/>
            <a:endCxn id="25" idx="2"/>
          </p:cNvCxnSpPr>
          <p:nvPr/>
        </p:nvCxnSpPr>
        <p:spPr bwMode="auto">
          <a:xfrm rot="10800000" flipV="1">
            <a:off x="6309132" y="3439913"/>
            <a:ext cx="205279" cy="18704"/>
          </a:xfrm>
          <a:prstGeom prst="curvedConnector4">
            <a:avLst>
              <a:gd name="adj1" fmla="val 426184"/>
              <a:gd name="adj2" fmla="val 1322198"/>
            </a:avLst>
          </a:prstGeom>
          <a:noFill/>
          <a:ln w="9525">
            <a:solidFill>
              <a:srgbClr val="0000FF"/>
            </a:solidFill>
            <a:round/>
            <a:headEnd/>
            <a:tailEnd type="triangle" w="med" len="med"/>
          </a:ln>
        </p:spPr>
      </p:cxnSp>
      <p:cxnSp>
        <p:nvCxnSpPr>
          <p:cNvPr id="23" name="AutoShape 13"/>
          <p:cNvCxnSpPr>
            <a:cxnSpLocks noChangeShapeType="1"/>
            <a:endCxn id="26" idx="2"/>
          </p:cNvCxnSpPr>
          <p:nvPr/>
        </p:nvCxnSpPr>
        <p:spPr bwMode="auto">
          <a:xfrm rot="16200000" flipV="1">
            <a:off x="7025682" y="3270756"/>
            <a:ext cx="186551" cy="152164"/>
          </a:xfrm>
          <a:prstGeom prst="curvedConnector3">
            <a:avLst>
              <a:gd name="adj1" fmla="val 50000"/>
            </a:avLst>
          </a:prstGeom>
          <a:noFill/>
          <a:ln w="9525">
            <a:solidFill>
              <a:srgbClr val="0000FF"/>
            </a:solidFill>
            <a:round/>
            <a:headEnd/>
            <a:tailEnd type="triangle" w="med" len="med"/>
          </a:ln>
        </p:spPr>
      </p:cxnSp>
      <p:cxnSp>
        <p:nvCxnSpPr>
          <p:cNvPr id="24" name="AutoShape 14"/>
          <p:cNvCxnSpPr>
            <a:cxnSpLocks noChangeShapeType="1"/>
            <a:endCxn id="27" idx="2"/>
          </p:cNvCxnSpPr>
          <p:nvPr/>
        </p:nvCxnSpPr>
        <p:spPr bwMode="auto">
          <a:xfrm rot="16200000" flipV="1">
            <a:off x="7679780" y="3269224"/>
            <a:ext cx="197706" cy="166381"/>
          </a:xfrm>
          <a:prstGeom prst="curvedConnector3">
            <a:avLst>
              <a:gd name="adj1" fmla="val 50000"/>
            </a:avLst>
          </a:prstGeom>
          <a:noFill/>
          <a:ln w="9525">
            <a:solidFill>
              <a:srgbClr val="0000FF"/>
            </a:solidFill>
            <a:round/>
            <a:headEnd/>
            <a:tailEnd type="triangle" w="med" len="med"/>
          </a:ln>
        </p:spPr>
      </p:cxnSp>
      <p:sp>
        <p:nvSpPr>
          <p:cNvPr id="25" name="TextBox 62"/>
          <p:cNvSpPr txBox="1">
            <a:spLocks noChangeArrowheads="1"/>
          </p:cNvSpPr>
          <p:nvPr/>
        </p:nvSpPr>
        <p:spPr bwMode="auto">
          <a:xfrm>
            <a:off x="5868144" y="2996952"/>
            <a:ext cx="881973" cy="461665"/>
          </a:xfrm>
          <a:prstGeom prst="rect">
            <a:avLst/>
          </a:prstGeom>
          <a:noFill/>
          <a:ln w="9525">
            <a:noFill/>
            <a:miter lim="800000"/>
            <a:headEnd/>
            <a:tailEnd/>
          </a:ln>
        </p:spPr>
        <p:txBody>
          <a:bodyPr wrap="none">
            <a:spAutoFit/>
          </a:bodyPr>
          <a:lstStyle/>
          <a:p>
            <a:r>
              <a:rPr lang="en-US" altLang="ko-KR" sz="1200" b="1" dirty="0" err="1">
                <a:latin typeface="맑은 고딕" pitchFamily="50" charset="-127"/>
                <a:ea typeface="맑은 고딕" pitchFamily="50" charset="-127"/>
              </a:rPr>
              <a:t>kết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quả</a:t>
            </a:r>
            <a:endParaRPr lang="en-US" altLang="ko-KR" sz="1200" b="1" dirty="0">
              <a:latin typeface="맑은 고딕" pitchFamily="50" charset="-127"/>
              <a:ea typeface="맑은 고딕" pitchFamily="50" charset="-127"/>
            </a:endParaRPr>
          </a:p>
          <a:p>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endParaRPr lang="ko-KR" altLang="en-US" sz="1200" b="1" dirty="0">
              <a:latin typeface="맑은 고딕" pitchFamily="50" charset="-127"/>
              <a:ea typeface="맑은 고딕" pitchFamily="50" charset="-127"/>
            </a:endParaRPr>
          </a:p>
        </p:txBody>
      </p:sp>
      <p:sp>
        <p:nvSpPr>
          <p:cNvPr id="26" name="TextBox 63"/>
          <p:cNvSpPr txBox="1">
            <a:spLocks noChangeArrowheads="1"/>
          </p:cNvSpPr>
          <p:nvPr/>
        </p:nvSpPr>
        <p:spPr bwMode="auto">
          <a:xfrm>
            <a:off x="6660174" y="2976563"/>
            <a:ext cx="765402" cy="276999"/>
          </a:xfrm>
          <a:prstGeom prst="rect">
            <a:avLst/>
          </a:prstGeom>
          <a:noFill/>
          <a:ln w="9525">
            <a:noFill/>
            <a:miter lim="800000"/>
            <a:headEnd/>
            <a:tailEnd/>
          </a:ln>
        </p:spPr>
        <p:txBody>
          <a:bodyPr wrap="none">
            <a:spAutoFit/>
          </a:bodyPr>
          <a:lstStyle/>
          <a:p>
            <a:r>
              <a:rPr lang="en-US" altLang="ko-KR" sz="1200" b="1" dirty="0">
                <a:latin typeface="맑은 고딕" pitchFamily="50" charset="-127"/>
                <a:ea typeface="맑은 고딕" pitchFamily="50" charset="-127"/>
              </a:rPr>
              <a:t>Part no.</a:t>
            </a:r>
            <a:endParaRPr lang="ko-KR" altLang="en-US" sz="1200" b="1" dirty="0">
              <a:latin typeface="맑은 고딕" pitchFamily="50" charset="-127"/>
              <a:ea typeface="맑은 고딕" pitchFamily="50" charset="-127"/>
            </a:endParaRPr>
          </a:p>
        </p:txBody>
      </p:sp>
      <p:sp>
        <p:nvSpPr>
          <p:cNvPr id="27" name="TextBox 64"/>
          <p:cNvSpPr txBox="1">
            <a:spLocks noChangeArrowheads="1"/>
          </p:cNvSpPr>
          <p:nvPr/>
        </p:nvSpPr>
        <p:spPr bwMode="auto">
          <a:xfrm>
            <a:off x="7253654" y="2976563"/>
            <a:ext cx="883575" cy="276999"/>
          </a:xfrm>
          <a:prstGeom prst="rect">
            <a:avLst/>
          </a:prstGeom>
          <a:noFill/>
          <a:ln w="9525">
            <a:noFill/>
            <a:miter lim="800000"/>
            <a:headEnd/>
            <a:tailEnd/>
          </a:ln>
        </p:spPr>
        <p:txBody>
          <a:bodyPr wrap="none">
            <a:spAutoFit/>
          </a:bodyPr>
          <a:lstStyle/>
          <a:p>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endParaRPr lang="ko-KR" altLang="en-US" sz="1200" b="1" dirty="0">
              <a:latin typeface="맑은 고딕" pitchFamily="50" charset="-127"/>
              <a:ea typeface="맑은 고딕" pitchFamily="50" charset="-127"/>
            </a:endParaRPr>
          </a:p>
        </p:txBody>
      </p:sp>
      <p:cxnSp>
        <p:nvCxnSpPr>
          <p:cNvPr id="29" name="AutoShape 12"/>
          <p:cNvCxnSpPr>
            <a:cxnSpLocks noChangeShapeType="1"/>
            <a:endCxn id="30" idx="2"/>
          </p:cNvCxnSpPr>
          <p:nvPr/>
        </p:nvCxnSpPr>
        <p:spPr bwMode="auto">
          <a:xfrm rot="16200000" flipV="1">
            <a:off x="8551498" y="3281402"/>
            <a:ext cx="165982" cy="151578"/>
          </a:xfrm>
          <a:prstGeom prst="curvedConnector3">
            <a:avLst>
              <a:gd name="adj1" fmla="val 50000"/>
            </a:avLst>
          </a:prstGeom>
          <a:noFill/>
          <a:ln w="9525">
            <a:solidFill>
              <a:srgbClr val="0000FF"/>
            </a:solidFill>
            <a:round/>
            <a:headEnd/>
            <a:tailEnd type="triangle" w="med" len="med"/>
          </a:ln>
        </p:spPr>
      </p:cxnSp>
      <p:sp>
        <p:nvSpPr>
          <p:cNvPr id="30" name="TextBox 72"/>
          <p:cNvSpPr txBox="1">
            <a:spLocks noChangeArrowheads="1"/>
          </p:cNvSpPr>
          <p:nvPr/>
        </p:nvSpPr>
        <p:spPr bwMode="auto">
          <a:xfrm>
            <a:off x="8064013" y="2997201"/>
            <a:ext cx="989373" cy="276999"/>
          </a:xfrm>
          <a:prstGeom prst="rect">
            <a:avLst/>
          </a:prstGeom>
          <a:noFill/>
          <a:ln w="9525">
            <a:noFill/>
            <a:miter lim="800000"/>
            <a:headEnd/>
            <a:tailEnd/>
          </a:ln>
        </p:spPr>
        <p:txBody>
          <a:bodyPr wrap="none">
            <a:spAutoFit/>
          </a:bodyPr>
          <a:lstStyle/>
          <a:p>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thật</a:t>
            </a:r>
            <a:endParaRPr lang="ko-KR" altLang="en-US" sz="1200" b="1" dirty="0">
              <a:latin typeface="맑은 고딕" pitchFamily="50" charset="-127"/>
              <a:ea typeface="맑은 고딕" pitchFamily="50" charset="-127"/>
            </a:endParaRPr>
          </a:p>
        </p:txBody>
      </p:sp>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150</a:t>
            </a:fld>
            <a:endParaRPr lang="ko-KR" altLang="en-US" dirty="0"/>
          </a:p>
        </p:txBody>
      </p:sp>
    </p:spTree>
    <p:extLst>
      <p:ext uri="{BB962C8B-B14F-4D97-AF65-F5344CB8AC3E}">
        <p14:creationId xmlns:p14="http://schemas.microsoft.com/office/powerpoint/2010/main" val="1899902498"/>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31"/>
          <p:cNvSpPr>
            <a:spLocks noChangeArrowheads="1"/>
          </p:cNvSpPr>
          <p:nvPr/>
        </p:nvSpPr>
        <p:spPr bwMode="auto">
          <a:xfrm>
            <a:off x="628651" y="1238251"/>
            <a:ext cx="5608026" cy="385763"/>
          </a:xfrm>
          <a:prstGeom prst="rect">
            <a:avLst/>
          </a:prstGeom>
          <a:solidFill>
            <a:schemeClr val="bg1"/>
          </a:solidFill>
          <a:ln w="12700" algn="ctr">
            <a:solidFill>
              <a:schemeClr val="bg1">
                <a:lumMod val="65000"/>
              </a:schemeClr>
            </a:solidFill>
            <a:miter lim="800000"/>
            <a:headEnd/>
            <a:tailEnd/>
          </a:ln>
        </p:spPr>
        <p:txBody>
          <a:bodyPr wrap="none" anchor="ctr"/>
          <a:lstStyle/>
          <a:p>
            <a:pPr defTabSz="762000">
              <a:spcBef>
                <a:spcPct val="50000"/>
              </a:spcBef>
              <a:defRPr/>
            </a:pPr>
            <a:r>
              <a:rPr lang="en-US" altLang="ko-KR" sz="1200" b="1" dirty="0">
                <a:latin typeface="맑은 고딕" pitchFamily="50" charset="-127"/>
                <a:ea typeface="맑은 고딕" pitchFamily="50" charset="-127"/>
              </a:rPr>
              <a:t>Stat  &gt; Quality Tools &gt; Attribute Agreement Analysis …</a:t>
            </a:r>
          </a:p>
        </p:txBody>
      </p:sp>
      <p:sp>
        <p:nvSpPr>
          <p:cNvPr id="25"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Phân</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loại</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 </a:t>
            </a:r>
            <a:r>
              <a:rPr lang="en-US" altLang="ko-KR" sz="1600" b="1" kern="0" dirty="0" err="1">
                <a:solidFill>
                  <a:sysClr val="windowText" lastClr="000000">
                    <a:lumMod val="75000"/>
                    <a:lumOff val="25000"/>
                  </a:sysClr>
                </a:solidFill>
                <a:latin typeface="맑은 고딕" pitchFamily="50" charset="-127"/>
                <a:ea typeface="맑은 고딕" pitchFamily="50" charset="-127"/>
              </a:rPr>
              <a:t>Ví</a:t>
            </a:r>
            <a:r>
              <a:rPr lang="en-US" altLang="ko-KR" sz="1600" b="1" kern="0" dirty="0">
                <a:solidFill>
                  <a:sysClr val="windowText" lastClr="000000">
                    <a:lumMod val="75000"/>
                    <a:lumOff val="25000"/>
                  </a:sysClr>
                </a:solidFill>
                <a:latin typeface="맑은 고딕" pitchFamily="50" charset="-127"/>
                <a:ea typeface="맑은 고딕" pitchFamily="50" charset="-127"/>
              </a:rPr>
              <a:t> </a:t>
            </a:r>
            <a:r>
              <a:rPr lang="en-US" altLang="ko-KR" sz="1600" b="1" kern="0" dirty="0" err="1">
                <a:solidFill>
                  <a:sysClr val="windowText" lastClr="000000">
                    <a:lumMod val="75000"/>
                    <a:lumOff val="25000"/>
                  </a:sysClr>
                </a:solidFill>
                <a:latin typeface="맑은 고딕" pitchFamily="50" charset="-127"/>
                <a:ea typeface="맑은 고딕" pitchFamily="50" charset="-127"/>
              </a:rPr>
              <a:t>dụ</a:t>
            </a:r>
            <a:endParaRPr lang="ko-KR" altLang="en-US" sz="1600" b="1" kern="0" dirty="0">
              <a:solidFill>
                <a:srgbClr val="000000"/>
              </a:solidFill>
              <a:latin typeface="맑은 고딕"/>
              <a:ea typeface="맑은 고딕"/>
            </a:endParaRPr>
          </a:p>
        </p:txBody>
      </p:sp>
      <p:pic>
        <p:nvPicPr>
          <p:cNvPr id="880642"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3120" t="3391" r="47279" b="29074"/>
          <a:stretch/>
        </p:blipFill>
        <p:spPr bwMode="auto">
          <a:xfrm>
            <a:off x="628650" y="1754302"/>
            <a:ext cx="5931041" cy="4398811"/>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151</a:t>
            </a:fld>
            <a:endParaRPr lang="ko-KR" altLang="en-US" dirty="0"/>
          </a:p>
        </p:txBody>
      </p:sp>
    </p:spTree>
    <p:extLst>
      <p:ext uri="{BB962C8B-B14F-4D97-AF65-F5344CB8AC3E}">
        <p14:creationId xmlns:p14="http://schemas.microsoft.com/office/powerpoint/2010/main" val="296443855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8530" name="Picture 2"/>
          <p:cNvPicPr>
            <a:picLocks noChangeAspect="1" noChangeArrowheads="1"/>
          </p:cNvPicPr>
          <p:nvPr/>
        </p:nvPicPr>
        <p:blipFill>
          <a:blip r:embed="rId2" cstate="print"/>
          <a:srcRect/>
          <a:stretch>
            <a:fillRect/>
          </a:stretch>
        </p:blipFill>
        <p:spPr bwMode="auto">
          <a:xfrm>
            <a:off x="5037283" y="908721"/>
            <a:ext cx="3235569" cy="1952625"/>
          </a:xfrm>
          <a:prstGeom prst="rect">
            <a:avLst/>
          </a:prstGeom>
          <a:noFill/>
          <a:ln w="9525">
            <a:noFill/>
            <a:miter lim="800000"/>
            <a:headEnd/>
            <a:tailEnd/>
          </a:ln>
        </p:spPr>
      </p:pic>
      <p:pic>
        <p:nvPicPr>
          <p:cNvPr id="918529" name="Picture 1"/>
          <p:cNvPicPr>
            <a:picLocks noChangeAspect="1" noChangeArrowheads="1"/>
          </p:cNvPicPr>
          <p:nvPr/>
        </p:nvPicPr>
        <p:blipFill>
          <a:blip r:embed="rId3" cstate="print"/>
          <a:srcRect/>
          <a:stretch>
            <a:fillRect/>
          </a:stretch>
        </p:blipFill>
        <p:spPr bwMode="auto">
          <a:xfrm>
            <a:off x="334108" y="1556793"/>
            <a:ext cx="4237892" cy="3857625"/>
          </a:xfrm>
          <a:prstGeom prst="rect">
            <a:avLst/>
          </a:prstGeom>
          <a:noFill/>
          <a:ln w="9525">
            <a:noFill/>
            <a:miter lim="800000"/>
            <a:headEnd/>
            <a:tailEnd/>
          </a:ln>
        </p:spPr>
      </p:pic>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Categorical Gage 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 </a:t>
            </a:r>
            <a:r>
              <a:rPr lang="en-US" altLang="ko-KR" sz="1600" b="1" kern="0" dirty="0">
                <a:solidFill>
                  <a:sysClr val="windowText" lastClr="000000">
                    <a:lumMod val="75000"/>
                    <a:lumOff val="25000"/>
                  </a:sysClr>
                </a:solidFill>
                <a:latin typeface="맑은 고딕" pitchFamily="50" charset="-127"/>
                <a:ea typeface="맑은 고딕" pitchFamily="50" charset="-127"/>
              </a:rPr>
              <a:t>Example</a:t>
            </a:r>
            <a:endParaRPr lang="ko-KR" altLang="en-US" sz="1600" b="1" kern="0" dirty="0">
              <a:solidFill>
                <a:srgbClr val="000000"/>
              </a:solidFill>
              <a:latin typeface="맑은 고딕"/>
              <a:ea typeface="맑은 고딕"/>
            </a:endParaRPr>
          </a:p>
        </p:txBody>
      </p:sp>
      <p:sp>
        <p:nvSpPr>
          <p:cNvPr id="7" name="직사각형 6"/>
          <p:cNvSpPr/>
          <p:nvPr/>
        </p:nvSpPr>
        <p:spPr bwMode="auto">
          <a:xfrm>
            <a:off x="3676536" y="1916832"/>
            <a:ext cx="696058" cy="184150"/>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latin typeface="Arial" charset="0"/>
            </a:endParaRPr>
          </a:p>
        </p:txBody>
      </p:sp>
      <p:cxnSp>
        <p:nvCxnSpPr>
          <p:cNvPr id="8" name="꺾인 연결선 15"/>
          <p:cNvCxnSpPr>
            <a:stCxn id="7" idx="3"/>
          </p:cNvCxnSpPr>
          <p:nvPr/>
        </p:nvCxnSpPr>
        <p:spPr bwMode="auto">
          <a:xfrm flipV="1">
            <a:off x="4372594" y="1727919"/>
            <a:ext cx="921726" cy="280988"/>
          </a:xfrm>
          <a:prstGeom prst="bentConnector3">
            <a:avLst>
              <a:gd name="adj1" fmla="val 50000"/>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219144" name="직사각형 9"/>
          <p:cNvSpPr>
            <a:spLocks noChangeArrowheads="1"/>
          </p:cNvSpPr>
          <p:nvPr/>
        </p:nvSpPr>
        <p:spPr bwMode="auto">
          <a:xfrm>
            <a:off x="3676536" y="2578820"/>
            <a:ext cx="694592" cy="214313"/>
          </a:xfrm>
          <a:prstGeom prst="rect">
            <a:avLst/>
          </a:prstGeom>
          <a:noFill/>
          <a:ln w="19050" algn="ctr">
            <a:solidFill>
              <a:srgbClr val="FF0000"/>
            </a:solidFill>
            <a:round/>
            <a:headEnd/>
            <a:tailEnd/>
          </a:ln>
        </p:spPr>
        <p:txBody>
          <a:bodyPr/>
          <a:lstStyle/>
          <a:p>
            <a:pPr algn="ctr"/>
            <a:endParaRPr lang="ko-KR" altLang="en-US" sz="1000" dirty="0">
              <a:latin typeface="Arial" pitchFamily="34" charset="0"/>
            </a:endParaRPr>
          </a:p>
        </p:txBody>
      </p:sp>
      <p:cxnSp>
        <p:nvCxnSpPr>
          <p:cNvPr id="219145" name="꺾인 연결선 15"/>
          <p:cNvCxnSpPr>
            <a:cxnSpLocks noChangeShapeType="1"/>
            <a:stCxn id="219144" idx="2"/>
          </p:cNvCxnSpPr>
          <p:nvPr/>
        </p:nvCxnSpPr>
        <p:spPr bwMode="auto">
          <a:xfrm rot="16200000" flipH="1">
            <a:off x="5016996" y="1799968"/>
            <a:ext cx="1266825" cy="3253154"/>
          </a:xfrm>
          <a:prstGeom prst="bentConnector3">
            <a:avLst>
              <a:gd name="adj1" fmla="val 82333"/>
            </a:avLst>
          </a:prstGeom>
          <a:noFill/>
          <a:ln w="19050" algn="ctr">
            <a:solidFill>
              <a:srgbClr val="FF0000"/>
            </a:solidFill>
            <a:prstDash val="dash"/>
            <a:round/>
            <a:headEnd/>
            <a:tailEnd type="triangle" w="med" len="med"/>
          </a:ln>
        </p:spPr>
      </p:cxnSp>
      <p:sp>
        <p:nvSpPr>
          <p:cNvPr id="23" name="직사각형 22"/>
          <p:cNvSpPr/>
          <p:nvPr/>
        </p:nvSpPr>
        <p:spPr bwMode="auto">
          <a:xfrm>
            <a:off x="3676536" y="2135907"/>
            <a:ext cx="696058" cy="404812"/>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latin typeface="Arial" charset="0"/>
            </a:endParaRPr>
          </a:p>
        </p:txBody>
      </p:sp>
      <p:cxnSp>
        <p:nvCxnSpPr>
          <p:cNvPr id="24" name="꺾인 연결선 15"/>
          <p:cNvCxnSpPr>
            <a:stCxn id="23" idx="3"/>
            <a:endCxn id="219148" idx="1"/>
          </p:cNvCxnSpPr>
          <p:nvPr/>
        </p:nvCxnSpPr>
        <p:spPr bwMode="auto">
          <a:xfrm>
            <a:off x="4372594" y="2338313"/>
            <a:ext cx="661003" cy="1086313"/>
          </a:xfrm>
          <a:prstGeom prst="bentConnector3">
            <a:avLst>
              <a:gd name="adj1" fmla="val 50000"/>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219148" name="TextBox 25"/>
          <p:cNvSpPr txBox="1">
            <a:spLocks noChangeArrowheads="1"/>
          </p:cNvSpPr>
          <p:nvPr/>
        </p:nvSpPr>
        <p:spPr bwMode="auto">
          <a:xfrm>
            <a:off x="5033597" y="3286126"/>
            <a:ext cx="1851789" cy="276999"/>
          </a:xfrm>
          <a:prstGeom prst="rect">
            <a:avLst/>
          </a:prstGeom>
          <a:noFill/>
          <a:ln w="9525">
            <a:noFill/>
            <a:miter lim="800000"/>
            <a:headEnd/>
            <a:tailEnd/>
          </a:ln>
        </p:spPr>
        <p:txBody>
          <a:bodyPr wrap="none">
            <a:spAutoFit/>
          </a:bodyPr>
          <a:lstStyle/>
          <a:p>
            <a:r>
              <a:rPr lang="en-US" altLang="ko-KR" sz="1200" dirty="0">
                <a:latin typeface="맑은 고딕" pitchFamily="50" charset="-127"/>
                <a:ea typeface="맑은 고딕" pitchFamily="50" charset="-127"/>
              </a:rPr>
              <a:t>Apply Minitab Defaults</a:t>
            </a:r>
            <a:endParaRPr lang="ko-KR" altLang="en-US" sz="1200" dirty="0">
              <a:latin typeface="맑은 고딕" pitchFamily="50" charset="-127"/>
              <a:ea typeface="맑은 고딕" pitchFamily="50" charset="-127"/>
            </a:endParaRPr>
          </a:p>
        </p:txBody>
      </p:sp>
      <p:pic>
        <p:nvPicPr>
          <p:cNvPr id="918531" name="Picture 3"/>
          <p:cNvPicPr>
            <a:picLocks noChangeAspect="1" noChangeArrowheads="1"/>
          </p:cNvPicPr>
          <p:nvPr/>
        </p:nvPicPr>
        <p:blipFill>
          <a:blip r:embed="rId4" cstate="print"/>
          <a:srcRect/>
          <a:stretch>
            <a:fillRect/>
          </a:stretch>
        </p:blipFill>
        <p:spPr bwMode="auto">
          <a:xfrm>
            <a:off x="5037283" y="4077072"/>
            <a:ext cx="3683977" cy="1695450"/>
          </a:xfrm>
          <a:prstGeom prst="rect">
            <a:avLst/>
          </a:prstGeom>
          <a:noFill/>
          <a:ln w="9525">
            <a:noFill/>
            <a:miter lim="800000"/>
            <a:headEnd/>
            <a:tailEnd/>
          </a:ln>
        </p:spPr>
      </p:pic>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152</a:t>
            </a:fld>
            <a:endParaRPr lang="ko-KR" altLang="en-US" dirty="0"/>
          </a:p>
        </p:txBody>
      </p:sp>
    </p:spTree>
    <p:extLst>
      <p:ext uri="{BB962C8B-B14F-4D97-AF65-F5344CB8AC3E}">
        <p14:creationId xmlns:p14="http://schemas.microsoft.com/office/powerpoint/2010/main" val="360927925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직사각형 33"/>
          <p:cNvSpPr/>
          <p:nvPr/>
        </p:nvSpPr>
        <p:spPr>
          <a:xfrm>
            <a:off x="384458" y="1071546"/>
            <a:ext cx="4187542" cy="5424562"/>
          </a:xfrm>
          <a:prstGeom prst="rect">
            <a:avLst/>
          </a:prstGeom>
          <a:solidFill>
            <a:schemeClr val="bg1"/>
          </a:solidFill>
        </p:spPr>
        <p:txBody>
          <a:bodyPr wrap="square">
            <a:spAutoFit/>
          </a:bodyPr>
          <a:lstStyle/>
          <a:p>
            <a:r>
              <a:rPr lang="en-US" altLang="ko-KR" sz="1050" b="1" dirty="0">
                <a:latin typeface="굴림체" panose="020B0609000101010101" pitchFamily="49" charset="-127"/>
                <a:ea typeface="굴림체" panose="020B0609000101010101" pitchFamily="49" charset="-127"/>
              </a:rPr>
              <a:t>Attribute Agreement Analysis for Measurement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Date of study:    15/02/27</a:t>
            </a:r>
          </a:p>
          <a:p>
            <a:r>
              <a:rPr lang="en-US" altLang="ko-KR" sz="1050" dirty="0">
                <a:latin typeface="굴림체" panose="020B0609000101010101" pitchFamily="49" charset="-127"/>
                <a:ea typeface="굴림체" panose="020B0609000101010101" pitchFamily="49" charset="-127"/>
              </a:rPr>
              <a:t>Reported by:      </a:t>
            </a:r>
            <a:r>
              <a:rPr lang="ko-KR" altLang="en-US" sz="1050" dirty="0">
                <a:latin typeface="굴림체" panose="020B0609000101010101" pitchFamily="49" charset="-127"/>
                <a:ea typeface="굴림체" panose="020B0609000101010101" pitchFamily="49" charset="-127"/>
              </a:rPr>
              <a:t>주엘지</a:t>
            </a:r>
          </a:p>
          <a:p>
            <a:r>
              <a:rPr lang="en-US" altLang="ko-KR" sz="1050" dirty="0">
                <a:latin typeface="굴림체" panose="020B0609000101010101" pitchFamily="49" charset="-127"/>
                <a:ea typeface="굴림체" panose="020B0609000101010101" pitchFamily="49" charset="-127"/>
              </a:rPr>
              <a:t>Name of product:  GEN2</a:t>
            </a:r>
          </a:p>
          <a:p>
            <a:r>
              <a:rPr lang="en-US" altLang="ko-KR" sz="1050" dirty="0">
                <a:latin typeface="굴림체" panose="020B0609000101010101" pitchFamily="49" charset="-127"/>
                <a:ea typeface="굴림체" panose="020B0609000101010101" pitchFamily="49" charset="-127"/>
              </a:rPr>
              <a:t>Misc:             Categorical</a:t>
            </a:r>
            <a:r>
              <a:rPr lang="ko-KR" altLang="en-US" sz="1050" dirty="0">
                <a:latin typeface="굴림체" panose="020B0609000101010101" pitchFamily="49" charset="-127"/>
                <a:ea typeface="굴림체" panose="020B0609000101010101" pitchFamily="49" charset="-127"/>
              </a:rPr>
              <a:t> </a:t>
            </a:r>
            <a:r>
              <a:rPr lang="en-US" altLang="ko-KR" sz="1050" dirty="0">
                <a:latin typeface="굴림체" panose="020B0609000101010101" pitchFamily="49" charset="-127"/>
                <a:ea typeface="굴림체" panose="020B0609000101010101" pitchFamily="49" charset="-127"/>
              </a:rPr>
              <a:t>Gage R&amp;R</a:t>
            </a: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a:p>
            <a:r>
              <a:rPr lang="en-US" altLang="ko-KR" sz="1050" b="1" dirty="0">
                <a:latin typeface="굴림체" panose="020B0609000101010101" pitchFamily="49" charset="-127"/>
                <a:ea typeface="굴림체" panose="020B0609000101010101" pitchFamily="49" charset="-127"/>
              </a:rPr>
              <a:t>Within Appraisers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Appraiser  # Inspected  # Matched  Percent      95% CI</a:t>
            </a:r>
          </a:p>
          <a:p>
            <a:r>
              <a:rPr lang="pl-PL" altLang="ko-KR" sz="1050" dirty="0">
                <a:latin typeface="굴림체" panose="020B0609000101010101" pitchFamily="49" charset="-127"/>
                <a:ea typeface="굴림체" panose="020B0609000101010101" pitchFamily="49" charset="-127"/>
              </a:rPr>
              <a:t>Kim                 15         13    86.67  (59.54, 98.34)</a:t>
            </a:r>
          </a:p>
          <a:p>
            <a:r>
              <a:rPr lang="en-US" altLang="ko-KR" sz="1050" dirty="0">
                <a:latin typeface="굴림체" panose="020B0609000101010101" pitchFamily="49" charset="-127"/>
                <a:ea typeface="굴림체" panose="020B0609000101010101" pitchFamily="49" charset="-127"/>
              </a:rPr>
              <a:t>Lee                 15         14    93.33  (68.05, 99.83)</a:t>
            </a:r>
          </a:p>
          <a:p>
            <a:r>
              <a:rPr lang="en-US" altLang="ko-KR" sz="1050" dirty="0">
                <a:latin typeface="굴림체" panose="020B0609000101010101" pitchFamily="49" charset="-127"/>
                <a:ea typeface="굴림체" panose="020B0609000101010101" pitchFamily="49" charset="-127"/>
              </a:rPr>
              <a:t>Park                15         13    86.67  (59.54, 98.34)</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Appraiser agrees with him/herself across trials.</a:t>
            </a: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a:p>
            <a:r>
              <a:rPr lang="en-US" altLang="ko-KR" sz="1050" b="1" dirty="0">
                <a:latin typeface="굴림체" panose="020B0609000101010101" pitchFamily="49" charset="-127"/>
                <a:ea typeface="굴림체" panose="020B0609000101010101" pitchFamily="49" charset="-127"/>
              </a:rPr>
              <a:t>Each Appraiser </a:t>
            </a:r>
            <a:r>
              <a:rPr lang="en-US" altLang="ko-KR" sz="1050" b="1" dirty="0" err="1">
                <a:latin typeface="굴림체" panose="020B0609000101010101" pitchFamily="49" charset="-127"/>
                <a:ea typeface="굴림체" panose="020B0609000101010101" pitchFamily="49" charset="-127"/>
              </a:rPr>
              <a:t>vs</a:t>
            </a:r>
            <a:r>
              <a:rPr lang="en-US" altLang="ko-KR" sz="1050" b="1" dirty="0">
                <a:latin typeface="굴림체" panose="020B0609000101010101" pitchFamily="49" charset="-127"/>
                <a:ea typeface="굴림체" panose="020B0609000101010101" pitchFamily="49" charset="-127"/>
              </a:rPr>
              <a:t> Standard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Appraiser  # Inspected  # Matched  Percent      95% CI</a:t>
            </a:r>
          </a:p>
          <a:p>
            <a:r>
              <a:rPr lang="pl-PL" altLang="ko-KR" sz="1050" dirty="0">
                <a:latin typeface="굴림체" panose="020B0609000101010101" pitchFamily="49" charset="-127"/>
                <a:ea typeface="굴림체" panose="020B0609000101010101" pitchFamily="49" charset="-127"/>
              </a:rPr>
              <a:t>Kim                 15         12    80.00  (51.91, 95.67)</a:t>
            </a:r>
          </a:p>
          <a:p>
            <a:r>
              <a:rPr lang="en-US" altLang="ko-KR" sz="1050" dirty="0">
                <a:latin typeface="굴림체" panose="020B0609000101010101" pitchFamily="49" charset="-127"/>
                <a:ea typeface="굴림체" panose="020B0609000101010101" pitchFamily="49" charset="-127"/>
              </a:rPr>
              <a:t>Lee                 15         14    93.33  (68.05, 99.83)</a:t>
            </a:r>
          </a:p>
          <a:p>
            <a:r>
              <a:rPr lang="en-US" altLang="ko-KR" sz="1050" dirty="0">
                <a:latin typeface="굴림체" panose="020B0609000101010101" pitchFamily="49" charset="-127"/>
                <a:ea typeface="굴림체" panose="020B0609000101010101" pitchFamily="49" charset="-127"/>
              </a:rPr>
              <a:t>Park                15         12    80.00  (51.91, 95.67)</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Appraiser’s assessment across trials agrees with the known standard.</a:t>
            </a:r>
          </a:p>
          <a:p>
            <a:endParaRPr lang="ko-KR" altLang="en-US" sz="1050" dirty="0">
              <a:latin typeface="굴림체" panose="020B0609000101010101" pitchFamily="49" charset="-127"/>
              <a:ea typeface="굴림체" panose="020B0609000101010101" pitchFamily="49" charset="-127"/>
            </a:endParaRPr>
          </a:p>
        </p:txBody>
      </p:sp>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Categorical Gage 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 </a:t>
            </a:r>
            <a:r>
              <a:rPr lang="en-US" altLang="ko-KR" sz="1600" b="1" kern="0" dirty="0">
                <a:solidFill>
                  <a:sysClr val="windowText" lastClr="000000">
                    <a:lumMod val="75000"/>
                    <a:lumOff val="25000"/>
                  </a:sysClr>
                </a:solidFill>
                <a:latin typeface="맑은 고딕" pitchFamily="50" charset="-127"/>
                <a:ea typeface="맑은 고딕" pitchFamily="50" charset="-127"/>
              </a:rPr>
              <a:t>Example</a:t>
            </a:r>
            <a:endParaRPr lang="ko-KR" altLang="en-US" sz="1600" b="1" kern="0" dirty="0">
              <a:solidFill>
                <a:srgbClr val="000000"/>
              </a:solidFill>
              <a:latin typeface="맑은 고딕"/>
              <a:ea typeface="맑은 고딕"/>
            </a:endParaRPr>
          </a:p>
        </p:txBody>
      </p:sp>
      <p:sp>
        <p:nvSpPr>
          <p:cNvPr id="6148" name="Text Box 3"/>
          <p:cNvSpPr txBox="1">
            <a:spLocks noChangeArrowheads="1"/>
          </p:cNvSpPr>
          <p:nvPr/>
        </p:nvSpPr>
        <p:spPr bwMode="auto">
          <a:xfrm>
            <a:off x="184639" y="764704"/>
            <a:ext cx="2172783" cy="276999"/>
          </a:xfrm>
          <a:prstGeom prst="rect">
            <a:avLst/>
          </a:prstGeom>
          <a:noFill/>
          <a:ln w="9525" algn="ctr">
            <a:noFill/>
            <a:miter lim="800000"/>
            <a:headEnd/>
            <a:tailEnd/>
          </a:ln>
        </p:spPr>
        <p:txBody>
          <a:bodyPr wrap="square">
            <a:spAutoFit/>
          </a:bodyPr>
          <a:lstStyle/>
          <a:p>
            <a:r>
              <a:rPr lang="en-US" altLang="ko-KR" sz="1200" dirty="0">
                <a:latin typeface="맑은 고딕" pitchFamily="50" charset="-127"/>
                <a:ea typeface="맑은 고딕" pitchFamily="50" charset="-127"/>
              </a:rPr>
              <a:t>Result</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Interpretation</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a:t>
            </a:r>
          </a:p>
        </p:txBody>
      </p:sp>
      <p:sp>
        <p:nvSpPr>
          <p:cNvPr id="6149" name="Rectangle 6"/>
          <p:cNvSpPr>
            <a:spLocks noChangeArrowheads="1"/>
          </p:cNvSpPr>
          <p:nvPr/>
        </p:nvSpPr>
        <p:spPr bwMode="auto">
          <a:xfrm>
            <a:off x="251520" y="2060849"/>
            <a:ext cx="4262385" cy="276999"/>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(1) Evaluation of measurement agreement by evaluator</a:t>
            </a:r>
            <a:endParaRPr lang="ko-KR" altLang="en-US" sz="1200" b="1" dirty="0">
              <a:latin typeface="맑은 고딕" pitchFamily="50" charset="-127"/>
              <a:ea typeface="맑은 고딕" pitchFamily="50" charset="-127"/>
            </a:endParaRPr>
          </a:p>
        </p:txBody>
      </p:sp>
      <p:sp>
        <p:nvSpPr>
          <p:cNvPr id="6150" name="Rectangle 7"/>
          <p:cNvSpPr>
            <a:spLocks noChangeArrowheads="1"/>
          </p:cNvSpPr>
          <p:nvPr/>
        </p:nvSpPr>
        <p:spPr bwMode="auto">
          <a:xfrm>
            <a:off x="264386" y="3929066"/>
            <a:ext cx="4450490" cy="461665"/>
          </a:xfrm>
          <a:prstGeom prst="rect">
            <a:avLst/>
          </a:prstGeom>
          <a:noFill/>
          <a:ln w="9525" algn="ctr">
            <a:noFill/>
            <a:miter lim="800000"/>
            <a:headEnd/>
            <a:tailEnd/>
          </a:ln>
        </p:spPr>
        <p:txBody>
          <a:bodyPr wrap="square">
            <a:spAutoFit/>
          </a:bodyPr>
          <a:lstStyle/>
          <a:p>
            <a:r>
              <a:rPr lang="en-US" altLang="ko-KR" sz="1200" b="1" dirty="0">
                <a:latin typeface="맑은 고딕" pitchFamily="50" charset="-127"/>
                <a:ea typeface="맑은 고딕" pitchFamily="50" charset="-127"/>
              </a:rPr>
              <a:t>(2) Evaluation of measurement agreement compare with      </a:t>
            </a:r>
          </a:p>
          <a:p>
            <a:r>
              <a:rPr lang="en-US" altLang="ko-KR" sz="1200" b="1" dirty="0">
                <a:latin typeface="맑은 고딕" pitchFamily="50" charset="-127"/>
                <a:ea typeface="맑은 고딕" pitchFamily="50" charset="-127"/>
              </a:rPr>
              <a:t>    standard by evaluator </a:t>
            </a:r>
            <a:endParaRPr lang="ko-KR" altLang="en-US" sz="1200" b="1" dirty="0">
              <a:latin typeface="맑은 고딕" pitchFamily="50" charset="-127"/>
              <a:ea typeface="맑은 고딕" pitchFamily="50" charset="-127"/>
            </a:endParaRPr>
          </a:p>
        </p:txBody>
      </p:sp>
      <p:sp>
        <p:nvSpPr>
          <p:cNvPr id="18" name="직사각형 17"/>
          <p:cNvSpPr/>
          <p:nvPr/>
        </p:nvSpPr>
        <p:spPr>
          <a:xfrm>
            <a:off x="4572000" y="908721"/>
            <a:ext cx="4572000" cy="2354491"/>
          </a:xfrm>
          <a:prstGeom prst="rect">
            <a:avLst/>
          </a:prstGeom>
          <a:solidFill>
            <a:schemeClr val="bg1"/>
          </a:solidFill>
        </p:spPr>
        <p:txBody>
          <a:bodyPr>
            <a:spAutoFit/>
          </a:bodyPr>
          <a:lstStyle/>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Disagreement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Appraiser  # NG / G  Percent  # G / NG  Percent  # Mixed  Percent</a:t>
            </a:r>
          </a:p>
          <a:p>
            <a:r>
              <a:rPr lang="pl-PL" altLang="ko-KR" sz="1050" dirty="0">
                <a:latin typeface="굴림체" panose="020B0609000101010101" pitchFamily="49" charset="-127"/>
                <a:ea typeface="굴림체" panose="020B0609000101010101" pitchFamily="49" charset="-127"/>
              </a:rPr>
              <a:t>Kim               1    12.50         0     0.00        2    13.33</a:t>
            </a:r>
          </a:p>
          <a:p>
            <a:r>
              <a:rPr lang="en-US" altLang="ko-KR" sz="1050" dirty="0">
                <a:latin typeface="굴림체" panose="020B0609000101010101" pitchFamily="49" charset="-127"/>
                <a:ea typeface="굴림체" panose="020B0609000101010101" pitchFamily="49" charset="-127"/>
              </a:rPr>
              <a:t>Lee               0     0.00         0     0.00        1     6.67</a:t>
            </a:r>
          </a:p>
          <a:p>
            <a:r>
              <a:rPr lang="en-US" altLang="ko-KR" sz="1050" dirty="0">
                <a:latin typeface="굴림체" panose="020B0609000101010101" pitchFamily="49" charset="-127"/>
                <a:ea typeface="굴림체" panose="020B0609000101010101" pitchFamily="49" charset="-127"/>
              </a:rPr>
              <a:t>Park              0     0.00         1    14.29        2    13.33</a:t>
            </a:r>
          </a:p>
          <a:p>
            <a:endParaRPr lang="ko-KR" altLang="en-US" sz="1050" dirty="0">
              <a:latin typeface="굴림체" panose="020B0609000101010101" pitchFamily="49" charset="-127"/>
              <a:ea typeface="굴림체" panose="020B0609000101010101" pitchFamily="49" charset="-127"/>
            </a:endParaRP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NG / G:  Assessments across trials = NG / standard = G.</a:t>
            </a:r>
          </a:p>
          <a:p>
            <a:r>
              <a:rPr lang="en-US" altLang="ko-KR" sz="1050" dirty="0">
                <a:latin typeface="굴림체" panose="020B0609000101010101" pitchFamily="49" charset="-127"/>
                <a:ea typeface="굴림체" panose="020B0609000101010101" pitchFamily="49" charset="-127"/>
              </a:rPr>
              <a:t># G / NG:  Assessments across trials = G / standard = NG.</a:t>
            </a:r>
          </a:p>
          <a:p>
            <a:r>
              <a:rPr lang="en-US" altLang="ko-KR" sz="1050" dirty="0">
                <a:latin typeface="굴림체" panose="020B0609000101010101" pitchFamily="49" charset="-127"/>
                <a:ea typeface="굴림체" panose="020B0609000101010101" pitchFamily="49" charset="-127"/>
              </a:rPr>
              <a:t># Mixed: Assessments across trials are not identical.</a:t>
            </a: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p:txBody>
      </p:sp>
      <p:pic>
        <p:nvPicPr>
          <p:cNvPr id="20" name="Picture 1"/>
          <p:cNvPicPr>
            <a:picLocks noChangeAspect="1" noChangeArrowheads="1"/>
          </p:cNvPicPr>
          <p:nvPr/>
        </p:nvPicPr>
        <p:blipFill>
          <a:blip r:embed="rId2" cstate="print"/>
          <a:srcRect/>
          <a:stretch>
            <a:fillRect/>
          </a:stretch>
        </p:blipFill>
        <p:spPr bwMode="auto">
          <a:xfrm>
            <a:off x="4657348" y="3068960"/>
            <a:ext cx="4486652" cy="3240360"/>
          </a:xfrm>
          <a:prstGeom prst="rect">
            <a:avLst/>
          </a:prstGeom>
          <a:noFill/>
          <a:ln w="9525">
            <a:noFill/>
            <a:miter lim="800000"/>
            <a:headEnd/>
            <a:tailEnd/>
          </a:ln>
        </p:spPr>
      </p:pic>
      <p:sp>
        <p:nvSpPr>
          <p:cNvPr id="21" name="모서리가 둥근 직사각형 20"/>
          <p:cNvSpPr/>
          <p:nvPr/>
        </p:nvSpPr>
        <p:spPr>
          <a:xfrm>
            <a:off x="373380" y="2348880"/>
            <a:ext cx="4054604" cy="1656184"/>
          </a:xfrm>
          <a:prstGeom prst="roundRect">
            <a:avLst>
              <a:gd name="adj" fmla="val 5399"/>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모서리가 둥근 직사각형 21"/>
          <p:cNvSpPr/>
          <p:nvPr/>
        </p:nvSpPr>
        <p:spPr>
          <a:xfrm>
            <a:off x="373380" y="4286256"/>
            <a:ext cx="4054604" cy="1800200"/>
          </a:xfrm>
          <a:prstGeom prst="roundRect">
            <a:avLst>
              <a:gd name="adj" fmla="val 4746"/>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TextBox 2"/>
          <p:cNvSpPr txBox="1"/>
          <p:nvPr/>
        </p:nvSpPr>
        <p:spPr>
          <a:xfrm>
            <a:off x="6632537" y="1196753"/>
            <a:ext cx="1592744" cy="305918"/>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Missing probability</a:t>
            </a:r>
            <a:endParaRPr lang="ko-KR" altLang="en-US" sz="1200" b="1" dirty="0">
              <a:solidFill>
                <a:srgbClr val="FF0000"/>
              </a:solidFill>
            </a:endParaRPr>
          </a:p>
        </p:txBody>
      </p:sp>
      <p:sp>
        <p:nvSpPr>
          <p:cNvPr id="13" name="TextBox 12"/>
          <p:cNvSpPr txBox="1"/>
          <p:nvPr/>
        </p:nvSpPr>
        <p:spPr>
          <a:xfrm>
            <a:off x="5307491" y="1196753"/>
            <a:ext cx="1468094" cy="305918"/>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Alarm probability</a:t>
            </a:r>
            <a:endParaRPr lang="ko-KR" altLang="en-US" sz="1200" b="1" dirty="0">
              <a:solidFill>
                <a:srgbClr val="FF0000"/>
              </a:solidFill>
            </a:endParaRPr>
          </a:p>
        </p:txBody>
      </p:sp>
      <p:sp>
        <p:nvSpPr>
          <p:cNvPr id="4" name="슬라이드 번호 개체 틀 3"/>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153</a:t>
            </a:fld>
            <a:endParaRPr lang="ko-KR" altLang="en-US" dirty="0"/>
          </a:p>
        </p:txBody>
      </p:sp>
    </p:spTree>
    <p:extLst>
      <p:ext uri="{BB962C8B-B14F-4D97-AF65-F5344CB8AC3E}">
        <p14:creationId xmlns:p14="http://schemas.microsoft.com/office/powerpoint/2010/main" val="398498867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8530" name="Picture 2"/>
          <p:cNvPicPr>
            <a:picLocks noChangeAspect="1" noChangeArrowheads="1"/>
          </p:cNvPicPr>
          <p:nvPr/>
        </p:nvPicPr>
        <p:blipFill>
          <a:blip r:embed="rId2" cstate="print"/>
          <a:srcRect/>
          <a:stretch>
            <a:fillRect/>
          </a:stretch>
        </p:blipFill>
        <p:spPr bwMode="auto">
          <a:xfrm>
            <a:off x="5037283" y="908721"/>
            <a:ext cx="3235569" cy="1952625"/>
          </a:xfrm>
          <a:prstGeom prst="rect">
            <a:avLst/>
          </a:prstGeom>
          <a:noFill/>
          <a:ln w="9525">
            <a:noFill/>
            <a:miter lim="800000"/>
            <a:headEnd/>
            <a:tailEnd/>
          </a:ln>
        </p:spPr>
      </p:pic>
      <p:pic>
        <p:nvPicPr>
          <p:cNvPr id="918529" name="Picture 1"/>
          <p:cNvPicPr>
            <a:picLocks noChangeAspect="1" noChangeArrowheads="1"/>
          </p:cNvPicPr>
          <p:nvPr/>
        </p:nvPicPr>
        <p:blipFill>
          <a:blip r:embed="rId3" cstate="print"/>
          <a:srcRect/>
          <a:stretch>
            <a:fillRect/>
          </a:stretch>
        </p:blipFill>
        <p:spPr bwMode="auto">
          <a:xfrm>
            <a:off x="334108" y="1556793"/>
            <a:ext cx="4237892" cy="3857625"/>
          </a:xfrm>
          <a:prstGeom prst="rect">
            <a:avLst/>
          </a:prstGeom>
          <a:noFill/>
          <a:ln w="9525">
            <a:noFill/>
            <a:miter lim="800000"/>
            <a:headEnd/>
            <a:tailEnd/>
          </a:ln>
        </p:spPr>
      </p:pic>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Phân</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loại</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Gage R&amp;R –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Ví</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dụ</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a:t>
            </a:r>
            <a:endParaRPr lang="ko-KR" altLang="en-US" sz="1600" b="1" kern="0" dirty="0">
              <a:solidFill>
                <a:srgbClr val="000000"/>
              </a:solidFill>
              <a:latin typeface="맑은 고딕"/>
              <a:ea typeface="맑은 고딕"/>
            </a:endParaRPr>
          </a:p>
        </p:txBody>
      </p:sp>
      <p:sp>
        <p:nvSpPr>
          <p:cNvPr id="7" name="직사각형 6"/>
          <p:cNvSpPr/>
          <p:nvPr/>
        </p:nvSpPr>
        <p:spPr bwMode="auto">
          <a:xfrm>
            <a:off x="3676536" y="1916832"/>
            <a:ext cx="696058" cy="184150"/>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latin typeface="Arial" charset="0"/>
            </a:endParaRPr>
          </a:p>
        </p:txBody>
      </p:sp>
      <p:cxnSp>
        <p:nvCxnSpPr>
          <p:cNvPr id="8" name="꺾인 연결선 15"/>
          <p:cNvCxnSpPr>
            <a:stCxn id="7" idx="3"/>
          </p:cNvCxnSpPr>
          <p:nvPr/>
        </p:nvCxnSpPr>
        <p:spPr bwMode="auto">
          <a:xfrm flipV="1">
            <a:off x="4372594" y="1727919"/>
            <a:ext cx="921726" cy="280988"/>
          </a:xfrm>
          <a:prstGeom prst="bentConnector3">
            <a:avLst>
              <a:gd name="adj1" fmla="val 50000"/>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219144" name="직사각형 9"/>
          <p:cNvSpPr>
            <a:spLocks noChangeArrowheads="1"/>
          </p:cNvSpPr>
          <p:nvPr/>
        </p:nvSpPr>
        <p:spPr bwMode="auto">
          <a:xfrm>
            <a:off x="3676536" y="2578820"/>
            <a:ext cx="694592" cy="214313"/>
          </a:xfrm>
          <a:prstGeom prst="rect">
            <a:avLst/>
          </a:prstGeom>
          <a:noFill/>
          <a:ln w="19050" algn="ctr">
            <a:solidFill>
              <a:srgbClr val="FF0000"/>
            </a:solidFill>
            <a:round/>
            <a:headEnd/>
            <a:tailEnd/>
          </a:ln>
        </p:spPr>
        <p:txBody>
          <a:bodyPr/>
          <a:lstStyle/>
          <a:p>
            <a:pPr algn="ctr"/>
            <a:endParaRPr lang="ko-KR" altLang="en-US" sz="1000" dirty="0">
              <a:latin typeface="Arial" pitchFamily="34" charset="0"/>
            </a:endParaRPr>
          </a:p>
        </p:txBody>
      </p:sp>
      <p:cxnSp>
        <p:nvCxnSpPr>
          <p:cNvPr id="219145" name="꺾인 연결선 15"/>
          <p:cNvCxnSpPr>
            <a:cxnSpLocks noChangeShapeType="1"/>
            <a:stCxn id="219144" idx="2"/>
          </p:cNvCxnSpPr>
          <p:nvPr/>
        </p:nvCxnSpPr>
        <p:spPr bwMode="auto">
          <a:xfrm rot="16200000" flipH="1">
            <a:off x="5016996" y="1799968"/>
            <a:ext cx="1266825" cy="3253154"/>
          </a:xfrm>
          <a:prstGeom prst="bentConnector3">
            <a:avLst>
              <a:gd name="adj1" fmla="val 82333"/>
            </a:avLst>
          </a:prstGeom>
          <a:noFill/>
          <a:ln w="19050" algn="ctr">
            <a:solidFill>
              <a:srgbClr val="FF0000"/>
            </a:solidFill>
            <a:prstDash val="dash"/>
            <a:round/>
            <a:headEnd/>
            <a:tailEnd type="triangle" w="med" len="med"/>
          </a:ln>
        </p:spPr>
      </p:cxnSp>
      <p:sp>
        <p:nvSpPr>
          <p:cNvPr id="23" name="직사각형 22"/>
          <p:cNvSpPr/>
          <p:nvPr/>
        </p:nvSpPr>
        <p:spPr bwMode="auto">
          <a:xfrm>
            <a:off x="3676536" y="2135907"/>
            <a:ext cx="696058" cy="404812"/>
          </a:xfrm>
          <a:prstGeom prst="rect">
            <a:avLst/>
          </a:prstGeom>
          <a:noFill/>
          <a:ln w="19050" cap="flat" cmpd="sng" algn="ctr">
            <a:solidFill>
              <a:schemeClr val="tx1">
                <a:lumMod val="95000"/>
                <a:lumOff val="5000"/>
              </a:schemeClr>
            </a:solidFill>
            <a:prstDash val="dash"/>
            <a:round/>
            <a:headEnd type="none" w="med" len="med"/>
            <a:tailEnd type="none" w="med" len="med"/>
          </a:ln>
          <a:effectLst/>
        </p:spPr>
        <p:txBody>
          <a:bodyPr/>
          <a:lstStyle/>
          <a:p>
            <a:pPr algn="ctr">
              <a:defRPr/>
            </a:pPr>
            <a:endParaRPr lang="ko-KR" altLang="en-US" sz="1000" dirty="0">
              <a:latin typeface="Arial" charset="0"/>
            </a:endParaRPr>
          </a:p>
        </p:txBody>
      </p:sp>
      <p:cxnSp>
        <p:nvCxnSpPr>
          <p:cNvPr id="24" name="꺾인 연결선 15"/>
          <p:cNvCxnSpPr>
            <a:stCxn id="23" idx="3"/>
            <a:endCxn id="219148" idx="1"/>
          </p:cNvCxnSpPr>
          <p:nvPr/>
        </p:nvCxnSpPr>
        <p:spPr bwMode="auto">
          <a:xfrm>
            <a:off x="4372594" y="2338313"/>
            <a:ext cx="661003" cy="1086313"/>
          </a:xfrm>
          <a:prstGeom prst="bentConnector3">
            <a:avLst>
              <a:gd name="adj1" fmla="val 50000"/>
            </a:avLst>
          </a:prstGeom>
          <a:noFill/>
          <a:ln w="19050" cap="flat" cmpd="sng" algn="ctr">
            <a:solidFill>
              <a:schemeClr val="tx1">
                <a:lumMod val="95000"/>
                <a:lumOff val="5000"/>
              </a:schemeClr>
            </a:solidFill>
            <a:prstDash val="dash"/>
            <a:round/>
            <a:headEnd type="none" w="med" len="med"/>
            <a:tailEnd type="triangle" w="med" len="med"/>
          </a:ln>
          <a:effectLst/>
        </p:spPr>
      </p:cxnSp>
      <p:sp>
        <p:nvSpPr>
          <p:cNvPr id="219148" name="TextBox 25"/>
          <p:cNvSpPr txBox="1">
            <a:spLocks noChangeArrowheads="1"/>
          </p:cNvSpPr>
          <p:nvPr/>
        </p:nvSpPr>
        <p:spPr bwMode="auto">
          <a:xfrm>
            <a:off x="5033597" y="3286126"/>
            <a:ext cx="1984839" cy="276999"/>
          </a:xfrm>
          <a:prstGeom prst="rect">
            <a:avLst/>
          </a:prstGeom>
          <a:noFill/>
          <a:ln w="9525">
            <a:noFill/>
            <a:miter lim="800000"/>
            <a:headEnd/>
            <a:tailEnd/>
          </a:ln>
        </p:spPr>
        <p:txBody>
          <a:bodyPr wrap="none">
            <a:spAutoFit/>
          </a:bodyPr>
          <a:lstStyle/>
          <a:p>
            <a:r>
              <a:rPr lang="en-US" altLang="ko-KR" sz="1200" dirty="0">
                <a:latin typeface="맑은 고딕" pitchFamily="50" charset="-127"/>
                <a:ea typeface="맑은 고딕" pitchFamily="50" charset="-127"/>
              </a:rPr>
              <a:t>Minitab Defaults </a:t>
            </a:r>
            <a:r>
              <a:rPr lang="en-US" altLang="ko-KR" sz="1200" dirty="0" err="1">
                <a:latin typeface="맑은 고딕" pitchFamily="50" charset="-127"/>
                <a:ea typeface="맑은 고딕" pitchFamily="50" charset="-127"/>
              </a:rPr>
              <a:t>áp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dụng</a:t>
            </a:r>
            <a:endParaRPr lang="ko-KR" altLang="en-US" sz="1200" dirty="0">
              <a:latin typeface="맑은 고딕" pitchFamily="50" charset="-127"/>
              <a:ea typeface="맑은 고딕" pitchFamily="50" charset="-127"/>
            </a:endParaRPr>
          </a:p>
        </p:txBody>
      </p:sp>
      <p:pic>
        <p:nvPicPr>
          <p:cNvPr id="918531" name="Picture 3"/>
          <p:cNvPicPr>
            <a:picLocks noChangeAspect="1" noChangeArrowheads="1"/>
          </p:cNvPicPr>
          <p:nvPr/>
        </p:nvPicPr>
        <p:blipFill>
          <a:blip r:embed="rId4" cstate="print"/>
          <a:srcRect/>
          <a:stretch>
            <a:fillRect/>
          </a:stretch>
        </p:blipFill>
        <p:spPr bwMode="auto">
          <a:xfrm>
            <a:off x="5037283" y="4077072"/>
            <a:ext cx="3683977" cy="1695450"/>
          </a:xfrm>
          <a:prstGeom prst="rect">
            <a:avLst/>
          </a:prstGeom>
          <a:noFill/>
          <a:ln w="9525">
            <a:noFill/>
            <a:miter lim="800000"/>
            <a:headEnd/>
            <a:tailEnd/>
          </a:ln>
        </p:spPr>
      </p:pic>
      <p:sp>
        <p:nvSpPr>
          <p:cNvPr id="3" name="슬라이드 번호 개체 틀 2"/>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154</a:t>
            </a:fld>
            <a:endParaRPr lang="ko-KR" altLang="en-US" dirty="0"/>
          </a:p>
        </p:txBody>
      </p:sp>
    </p:spTree>
    <p:extLst>
      <p:ext uri="{BB962C8B-B14F-4D97-AF65-F5344CB8AC3E}">
        <p14:creationId xmlns:p14="http://schemas.microsoft.com/office/powerpoint/2010/main" val="360927925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직사각형 33"/>
          <p:cNvSpPr/>
          <p:nvPr/>
        </p:nvSpPr>
        <p:spPr>
          <a:xfrm>
            <a:off x="384458" y="1028626"/>
            <a:ext cx="4187542" cy="5424562"/>
          </a:xfrm>
          <a:prstGeom prst="rect">
            <a:avLst/>
          </a:prstGeom>
          <a:solidFill>
            <a:schemeClr val="bg1"/>
          </a:solidFill>
        </p:spPr>
        <p:txBody>
          <a:bodyPr wrap="square">
            <a:spAutoFit/>
          </a:bodyPr>
          <a:lstStyle/>
          <a:p>
            <a:r>
              <a:rPr lang="en-US" altLang="ko-KR" sz="1050" b="1" dirty="0">
                <a:latin typeface="굴림체" panose="020B0609000101010101" pitchFamily="49" charset="-127"/>
                <a:ea typeface="굴림체" panose="020B0609000101010101" pitchFamily="49" charset="-127"/>
              </a:rPr>
              <a:t>Attribute Agreement Analysis for Measurement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Date of study:    15/02/27</a:t>
            </a:r>
          </a:p>
          <a:p>
            <a:r>
              <a:rPr lang="en-US" altLang="ko-KR" sz="1050" dirty="0">
                <a:latin typeface="굴림체" panose="020B0609000101010101" pitchFamily="49" charset="-127"/>
                <a:ea typeface="굴림체" panose="020B0609000101010101" pitchFamily="49" charset="-127"/>
              </a:rPr>
              <a:t>Reported by:      </a:t>
            </a:r>
            <a:r>
              <a:rPr lang="ko-KR" altLang="en-US" sz="1050" dirty="0">
                <a:latin typeface="굴림체" panose="020B0609000101010101" pitchFamily="49" charset="-127"/>
                <a:ea typeface="굴림체" panose="020B0609000101010101" pitchFamily="49" charset="-127"/>
              </a:rPr>
              <a:t>주엘지</a:t>
            </a:r>
          </a:p>
          <a:p>
            <a:r>
              <a:rPr lang="en-US" altLang="ko-KR" sz="1050" dirty="0">
                <a:latin typeface="굴림체" panose="020B0609000101010101" pitchFamily="49" charset="-127"/>
                <a:ea typeface="굴림체" panose="020B0609000101010101" pitchFamily="49" charset="-127"/>
              </a:rPr>
              <a:t>Name of product:  GEN2</a:t>
            </a:r>
          </a:p>
          <a:p>
            <a:r>
              <a:rPr lang="en-US" altLang="ko-KR" sz="1050" dirty="0">
                <a:latin typeface="굴림체" panose="020B0609000101010101" pitchFamily="49" charset="-127"/>
                <a:ea typeface="굴림체" panose="020B0609000101010101" pitchFamily="49" charset="-127"/>
              </a:rPr>
              <a:t>Misc:             </a:t>
            </a:r>
            <a:r>
              <a:rPr lang="en-US" altLang="ko-KR" sz="1050" dirty="0" err="1">
                <a:latin typeface="굴림체" panose="020B0609000101010101" pitchFamily="49" charset="-127"/>
                <a:ea typeface="굴림체" panose="020B0609000101010101" pitchFamily="49" charset="-127"/>
              </a:rPr>
              <a:t>Phân</a:t>
            </a:r>
            <a:r>
              <a:rPr lang="en-US" altLang="ko-KR" sz="1050" dirty="0">
                <a:latin typeface="굴림체" panose="020B0609000101010101" pitchFamily="49" charset="-127"/>
                <a:ea typeface="굴림체" panose="020B0609000101010101" pitchFamily="49" charset="-127"/>
              </a:rPr>
              <a:t> </a:t>
            </a:r>
            <a:r>
              <a:rPr lang="en-US" altLang="ko-KR" sz="1050" dirty="0" err="1">
                <a:latin typeface="굴림체" panose="020B0609000101010101" pitchFamily="49" charset="-127"/>
                <a:ea typeface="굴림체" panose="020B0609000101010101" pitchFamily="49" charset="-127"/>
              </a:rPr>
              <a:t>loại</a:t>
            </a:r>
            <a:r>
              <a:rPr lang="ko-KR" altLang="en-US" sz="1050" dirty="0">
                <a:latin typeface="굴림체" panose="020B0609000101010101" pitchFamily="49" charset="-127"/>
                <a:ea typeface="굴림체" panose="020B0609000101010101" pitchFamily="49" charset="-127"/>
              </a:rPr>
              <a:t> </a:t>
            </a:r>
            <a:r>
              <a:rPr lang="en-US" altLang="ko-KR" sz="1050" dirty="0">
                <a:latin typeface="굴림체" panose="020B0609000101010101" pitchFamily="49" charset="-127"/>
                <a:ea typeface="굴림체" panose="020B0609000101010101" pitchFamily="49" charset="-127"/>
              </a:rPr>
              <a:t>Gage R&amp;R</a:t>
            </a: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a:p>
            <a:r>
              <a:rPr lang="en-US" altLang="ko-KR" sz="1050" b="1" dirty="0">
                <a:latin typeface="굴림체" panose="020B0609000101010101" pitchFamily="49" charset="-127"/>
                <a:ea typeface="굴림체" panose="020B0609000101010101" pitchFamily="49" charset="-127"/>
              </a:rPr>
              <a:t>Within Appraisers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Appraiser  # Inspected  # Matched  Percent      95% CI</a:t>
            </a:r>
          </a:p>
          <a:p>
            <a:r>
              <a:rPr lang="pl-PL" altLang="ko-KR" sz="1050" dirty="0">
                <a:latin typeface="굴림체" panose="020B0609000101010101" pitchFamily="49" charset="-127"/>
                <a:ea typeface="굴림체" panose="020B0609000101010101" pitchFamily="49" charset="-127"/>
              </a:rPr>
              <a:t>Kim                 15         13    86.67  (59.54, 98.34)</a:t>
            </a:r>
          </a:p>
          <a:p>
            <a:r>
              <a:rPr lang="en-US" altLang="ko-KR" sz="1050" dirty="0">
                <a:latin typeface="굴림체" panose="020B0609000101010101" pitchFamily="49" charset="-127"/>
                <a:ea typeface="굴림체" panose="020B0609000101010101" pitchFamily="49" charset="-127"/>
              </a:rPr>
              <a:t>Lee                 15         14    93.33  (68.05, 99.83)</a:t>
            </a:r>
          </a:p>
          <a:p>
            <a:r>
              <a:rPr lang="en-US" altLang="ko-KR" sz="1050" dirty="0">
                <a:latin typeface="굴림체" panose="020B0609000101010101" pitchFamily="49" charset="-127"/>
                <a:ea typeface="굴림체" panose="020B0609000101010101" pitchFamily="49" charset="-127"/>
              </a:rPr>
              <a:t>Park                15         13    86.67  (59.54, 98.34)</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Appraiser agrees with him/herself across trials.</a:t>
            </a: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a:p>
            <a:r>
              <a:rPr lang="en-US" altLang="ko-KR" sz="1050" b="1" dirty="0">
                <a:latin typeface="굴림체" panose="020B0609000101010101" pitchFamily="49" charset="-127"/>
                <a:ea typeface="굴림체" panose="020B0609000101010101" pitchFamily="49" charset="-127"/>
              </a:rPr>
              <a:t>Each Appraiser </a:t>
            </a:r>
            <a:r>
              <a:rPr lang="en-US" altLang="ko-KR" sz="1050" b="1" dirty="0" err="1">
                <a:latin typeface="굴림체" panose="020B0609000101010101" pitchFamily="49" charset="-127"/>
                <a:ea typeface="굴림체" panose="020B0609000101010101" pitchFamily="49" charset="-127"/>
              </a:rPr>
              <a:t>vs</a:t>
            </a:r>
            <a:r>
              <a:rPr lang="en-US" altLang="ko-KR" sz="1050" b="1" dirty="0">
                <a:latin typeface="굴림체" panose="020B0609000101010101" pitchFamily="49" charset="-127"/>
                <a:ea typeface="굴림체" panose="020B0609000101010101" pitchFamily="49" charset="-127"/>
              </a:rPr>
              <a:t> Standard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Appraiser  # Inspected  # Matched  Percent      95% CI</a:t>
            </a:r>
          </a:p>
          <a:p>
            <a:r>
              <a:rPr lang="pl-PL" altLang="ko-KR" sz="1050" dirty="0">
                <a:latin typeface="굴림체" panose="020B0609000101010101" pitchFamily="49" charset="-127"/>
                <a:ea typeface="굴림체" panose="020B0609000101010101" pitchFamily="49" charset="-127"/>
              </a:rPr>
              <a:t>Kim                 15         12    80.00  (51.91, 95.67)</a:t>
            </a:r>
          </a:p>
          <a:p>
            <a:r>
              <a:rPr lang="en-US" altLang="ko-KR" sz="1050" dirty="0">
                <a:latin typeface="굴림체" panose="020B0609000101010101" pitchFamily="49" charset="-127"/>
                <a:ea typeface="굴림체" panose="020B0609000101010101" pitchFamily="49" charset="-127"/>
              </a:rPr>
              <a:t>Lee                 15         14    93.33  (68.05, 99.83)</a:t>
            </a:r>
          </a:p>
          <a:p>
            <a:r>
              <a:rPr lang="en-US" altLang="ko-KR" sz="1050" dirty="0">
                <a:latin typeface="굴림체" panose="020B0609000101010101" pitchFamily="49" charset="-127"/>
                <a:ea typeface="굴림체" panose="020B0609000101010101" pitchFamily="49" charset="-127"/>
              </a:rPr>
              <a:t>Park                15         12    80.00  (51.91, 95.67)</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Appraiser’s assessment across trials agrees with the known standard.</a:t>
            </a:r>
          </a:p>
          <a:p>
            <a:endParaRPr lang="ko-KR" altLang="en-US" sz="1050" dirty="0">
              <a:latin typeface="굴림체" panose="020B0609000101010101" pitchFamily="49" charset="-127"/>
              <a:ea typeface="굴림체" panose="020B0609000101010101" pitchFamily="49" charset="-127"/>
            </a:endParaRPr>
          </a:p>
        </p:txBody>
      </p:sp>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Phân</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loại</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a:t>
            </a:r>
            <a:endParaRPr lang="ko-KR" altLang="en-US" sz="1600" b="1" kern="0" dirty="0">
              <a:solidFill>
                <a:srgbClr val="000000"/>
              </a:solidFill>
              <a:latin typeface="맑은 고딕"/>
              <a:ea typeface="맑은 고딕"/>
            </a:endParaRPr>
          </a:p>
        </p:txBody>
      </p:sp>
      <p:sp>
        <p:nvSpPr>
          <p:cNvPr id="6148" name="Text Box 3"/>
          <p:cNvSpPr txBox="1">
            <a:spLocks noChangeArrowheads="1"/>
          </p:cNvSpPr>
          <p:nvPr/>
        </p:nvSpPr>
        <p:spPr bwMode="auto">
          <a:xfrm>
            <a:off x="184639" y="764704"/>
            <a:ext cx="1723065" cy="276999"/>
          </a:xfrm>
          <a:prstGeom prst="rect">
            <a:avLst/>
          </a:prstGeom>
          <a:noFill/>
          <a:ln w="9525" algn="ctr">
            <a:noFill/>
            <a:miter lim="800000"/>
            <a:headEnd/>
            <a:tailEnd/>
          </a:ln>
        </p:spPr>
        <p:txBody>
          <a:bodyPr wrap="square">
            <a:spAutoFit/>
          </a:bodyPr>
          <a:lstStyle/>
          <a:p>
            <a:r>
              <a:rPr lang="en-US" altLang="ko-KR" sz="1200" dirty="0" err="1">
                <a:latin typeface="맑은 고딕" pitchFamily="50" charset="-127"/>
                <a:ea typeface="맑은 고딕" pitchFamily="50" charset="-127"/>
              </a:rPr>
              <a:t>Giải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thích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quả</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a:t>
            </a:r>
          </a:p>
        </p:txBody>
      </p:sp>
      <p:sp>
        <p:nvSpPr>
          <p:cNvPr id="6149" name="Rectangle 6"/>
          <p:cNvSpPr>
            <a:spLocks noChangeArrowheads="1"/>
          </p:cNvSpPr>
          <p:nvPr/>
        </p:nvSpPr>
        <p:spPr bwMode="auto">
          <a:xfrm>
            <a:off x="251520" y="2060849"/>
            <a:ext cx="3953326" cy="276999"/>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(1)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nhất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trí</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theo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endParaRPr lang="ko-KR" altLang="en-US" sz="1200" b="1" dirty="0">
              <a:latin typeface="맑은 고딕" pitchFamily="50" charset="-127"/>
              <a:ea typeface="맑은 고딕" pitchFamily="50" charset="-127"/>
            </a:endParaRPr>
          </a:p>
        </p:txBody>
      </p:sp>
      <p:sp>
        <p:nvSpPr>
          <p:cNvPr id="6150" name="Rectangle 7"/>
          <p:cNvSpPr>
            <a:spLocks noChangeArrowheads="1"/>
          </p:cNvSpPr>
          <p:nvPr/>
        </p:nvSpPr>
        <p:spPr bwMode="auto">
          <a:xfrm>
            <a:off x="251520" y="3903439"/>
            <a:ext cx="4222631" cy="461665"/>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(2)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nhất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trí</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so </a:t>
            </a:r>
            <a:r>
              <a:rPr lang="en-US" altLang="ko-KR" sz="1200" b="1" dirty="0" err="1">
                <a:latin typeface="맑은 고딕" pitchFamily="50" charset="-127"/>
                <a:ea typeface="맑은 고딕" pitchFamily="50" charset="-127"/>
              </a:rPr>
              <a:t>với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theo</a:t>
            </a:r>
            <a:endParaRPr lang="en-US" altLang="ko-KR" sz="1200" b="1" dirty="0">
              <a:latin typeface="맑은 고딕" pitchFamily="50" charset="-127"/>
              <a:ea typeface="맑은 고딕" pitchFamily="50" charset="-127"/>
            </a:endParaRPr>
          </a:p>
          <a:p>
            <a:pPr algn="ct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endParaRPr lang="ko-KR" altLang="en-US" sz="1200" b="1" dirty="0">
              <a:latin typeface="맑은 고딕" pitchFamily="50" charset="-127"/>
              <a:ea typeface="맑은 고딕" pitchFamily="50" charset="-127"/>
            </a:endParaRPr>
          </a:p>
        </p:txBody>
      </p:sp>
      <p:sp>
        <p:nvSpPr>
          <p:cNvPr id="18" name="직사각형 17"/>
          <p:cNvSpPr/>
          <p:nvPr/>
        </p:nvSpPr>
        <p:spPr>
          <a:xfrm>
            <a:off x="4572000" y="908721"/>
            <a:ext cx="4572000" cy="2354491"/>
          </a:xfrm>
          <a:prstGeom prst="rect">
            <a:avLst/>
          </a:prstGeom>
          <a:solidFill>
            <a:schemeClr val="bg1"/>
          </a:solidFill>
        </p:spPr>
        <p:txBody>
          <a:bodyPr>
            <a:spAutoFit/>
          </a:bodyPr>
          <a:lstStyle/>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Disagreement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Appraiser  # NG / G  Percent  # G / NG  Percent  # Mixed  Percent</a:t>
            </a:r>
          </a:p>
          <a:p>
            <a:r>
              <a:rPr lang="pl-PL" altLang="ko-KR" sz="1050" dirty="0">
                <a:latin typeface="굴림체" panose="020B0609000101010101" pitchFamily="49" charset="-127"/>
                <a:ea typeface="굴림체" panose="020B0609000101010101" pitchFamily="49" charset="-127"/>
              </a:rPr>
              <a:t>Kim               1    12.50         0     0.00        2    13.33</a:t>
            </a:r>
          </a:p>
          <a:p>
            <a:r>
              <a:rPr lang="en-US" altLang="ko-KR" sz="1050" dirty="0">
                <a:latin typeface="굴림체" panose="020B0609000101010101" pitchFamily="49" charset="-127"/>
                <a:ea typeface="굴림체" panose="020B0609000101010101" pitchFamily="49" charset="-127"/>
              </a:rPr>
              <a:t>Lee               0     0.00         0     0.00        1     6.67</a:t>
            </a:r>
          </a:p>
          <a:p>
            <a:r>
              <a:rPr lang="en-US" altLang="ko-KR" sz="1050" dirty="0">
                <a:latin typeface="굴림체" panose="020B0609000101010101" pitchFamily="49" charset="-127"/>
                <a:ea typeface="굴림체" panose="020B0609000101010101" pitchFamily="49" charset="-127"/>
              </a:rPr>
              <a:t>Park              0     0.00         1    14.29        2    13.33</a:t>
            </a:r>
          </a:p>
          <a:p>
            <a:endParaRPr lang="ko-KR" altLang="en-US" sz="1050" dirty="0">
              <a:latin typeface="굴림체" panose="020B0609000101010101" pitchFamily="49" charset="-127"/>
              <a:ea typeface="굴림체" panose="020B0609000101010101" pitchFamily="49" charset="-127"/>
            </a:endParaRP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NG / G:  Assessments across trials = NG / standard = G.</a:t>
            </a:r>
          </a:p>
          <a:p>
            <a:r>
              <a:rPr lang="en-US" altLang="ko-KR" sz="1050" dirty="0">
                <a:latin typeface="굴림체" panose="020B0609000101010101" pitchFamily="49" charset="-127"/>
                <a:ea typeface="굴림체" panose="020B0609000101010101" pitchFamily="49" charset="-127"/>
              </a:rPr>
              <a:t># G / NG:  Assessments across trials = G / standard = NG.</a:t>
            </a:r>
          </a:p>
          <a:p>
            <a:r>
              <a:rPr lang="en-US" altLang="ko-KR" sz="1050" dirty="0">
                <a:latin typeface="굴림체" panose="020B0609000101010101" pitchFamily="49" charset="-127"/>
                <a:ea typeface="굴림체" panose="020B0609000101010101" pitchFamily="49" charset="-127"/>
              </a:rPr>
              <a:t># Mixed: Assessments across trials are not identical.</a:t>
            </a: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p:txBody>
      </p:sp>
      <p:pic>
        <p:nvPicPr>
          <p:cNvPr id="20" name="Picture 1"/>
          <p:cNvPicPr>
            <a:picLocks noChangeAspect="1" noChangeArrowheads="1"/>
          </p:cNvPicPr>
          <p:nvPr/>
        </p:nvPicPr>
        <p:blipFill>
          <a:blip r:embed="rId2" cstate="print"/>
          <a:srcRect/>
          <a:stretch>
            <a:fillRect/>
          </a:stretch>
        </p:blipFill>
        <p:spPr bwMode="auto">
          <a:xfrm>
            <a:off x="4657348" y="3068960"/>
            <a:ext cx="4486652" cy="3240360"/>
          </a:xfrm>
          <a:prstGeom prst="rect">
            <a:avLst/>
          </a:prstGeom>
          <a:noFill/>
          <a:ln w="9525">
            <a:noFill/>
            <a:miter lim="800000"/>
            <a:headEnd/>
            <a:tailEnd/>
          </a:ln>
        </p:spPr>
      </p:pic>
      <p:sp>
        <p:nvSpPr>
          <p:cNvPr id="21" name="모서리가 둥근 직사각형 20"/>
          <p:cNvSpPr/>
          <p:nvPr/>
        </p:nvSpPr>
        <p:spPr>
          <a:xfrm>
            <a:off x="373380" y="2348880"/>
            <a:ext cx="4054604" cy="1656184"/>
          </a:xfrm>
          <a:prstGeom prst="roundRect">
            <a:avLst>
              <a:gd name="adj" fmla="val 5399"/>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모서리가 둥근 직사각형 21"/>
          <p:cNvSpPr/>
          <p:nvPr/>
        </p:nvSpPr>
        <p:spPr>
          <a:xfrm>
            <a:off x="373380" y="4293096"/>
            <a:ext cx="4054604" cy="1800200"/>
          </a:xfrm>
          <a:prstGeom prst="roundRect">
            <a:avLst>
              <a:gd name="adj" fmla="val 4746"/>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TextBox 2"/>
          <p:cNvSpPr txBox="1"/>
          <p:nvPr/>
        </p:nvSpPr>
        <p:spPr>
          <a:xfrm>
            <a:off x="6632537" y="1196753"/>
            <a:ext cx="1503938"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Khả</a:t>
            </a:r>
            <a:r>
              <a:rPr lang="en-US" altLang="ko-KR" sz="1200" b="1" dirty="0">
                <a:solidFill>
                  <a:srgbClr val="FF0000"/>
                </a:solidFill>
              </a:rPr>
              <a:t> </a:t>
            </a:r>
            <a:r>
              <a:rPr lang="en-US" altLang="ko-KR" sz="1200" b="1" dirty="0" err="1">
                <a:solidFill>
                  <a:srgbClr val="FF0000"/>
                </a:solidFill>
              </a:rPr>
              <a:t>năng</a:t>
            </a:r>
            <a:r>
              <a:rPr lang="en-US" altLang="ko-KR" sz="1200" b="1" dirty="0">
                <a:solidFill>
                  <a:srgbClr val="FF0000"/>
                </a:solidFill>
              </a:rPr>
              <a:t> </a:t>
            </a:r>
            <a:r>
              <a:rPr lang="en-US" altLang="ko-KR" sz="1200" b="1" dirty="0" err="1">
                <a:solidFill>
                  <a:srgbClr val="FF0000"/>
                </a:solidFill>
              </a:rPr>
              <a:t>bị</a:t>
            </a:r>
            <a:r>
              <a:rPr lang="en-US" altLang="ko-KR" sz="1200" b="1" dirty="0">
                <a:solidFill>
                  <a:srgbClr val="FF0000"/>
                </a:solidFill>
              </a:rPr>
              <a:t> </a:t>
            </a:r>
            <a:r>
              <a:rPr lang="en-US" altLang="ko-KR" sz="1200" b="1" dirty="0" err="1">
                <a:solidFill>
                  <a:srgbClr val="FF0000"/>
                </a:solidFill>
              </a:rPr>
              <a:t>thiếu</a:t>
            </a:r>
            <a:endParaRPr lang="ko-KR" altLang="en-US" sz="1200" b="1" dirty="0">
              <a:solidFill>
                <a:srgbClr val="FF0000"/>
              </a:solidFill>
            </a:endParaRPr>
          </a:p>
        </p:txBody>
      </p:sp>
      <p:sp>
        <p:nvSpPr>
          <p:cNvPr id="13" name="TextBox 12"/>
          <p:cNvSpPr txBox="1"/>
          <p:nvPr/>
        </p:nvSpPr>
        <p:spPr>
          <a:xfrm>
            <a:off x="5076056" y="1196753"/>
            <a:ext cx="1611467"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Khả</a:t>
            </a:r>
            <a:r>
              <a:rPr lang="en-US" altLang="ko-KR" sz="1200" b="1" dirty="0">
                <a:solidFill>
                  <a:srgbClr val="FF0000"/>
                </a:solidFill>
              </a:rPr>
              <a:t> </a:t>
            </a:r>
            <a:r>
              <a:rPr lang="en-US" altLang="ko-KR" sz="1200" b="1" dirty="0" err="1">
                <a:solidFill>
                  <a:srgbClr val="FF0000"/>
                </a:solidFill>
              </a:rPr>
              <a:t>năng</a:t>
            </a:r>
            <a:r>
              <a:rPr lang="en-US" altLang="ko-KR" sz="1200" b="1" dirty="0">
                <a:solidFill>
                  <a:srgbClr val="FF0000"/>
                </a:solidFill>
              </a:rPr>
              <a:t> </a:t>
            </a:r>
            <a:r>
              <a:rPr lang="en-US" altLang="ko-KR" sz="1200" b="1" dirty="0" err="1">
                <a:solidFill>
                  <a:srgbClr val="FF0000"/>
                </a:solidFill>
              </a:rPr>
              <a:t>cảnh</a:t>
            </a:r>
            <a:r>
              <a:rPr lang="en-US" altLang="ko-KR" sz="1200" b="1" dirty="0">
                <a:solidFill>
                  <a:srgbClr val="FF0000"/>
                </a:solidFill>
              </a:rPr>
              <a:t> </a:t>
            </a:r>
            <a:r>
              <a:rPr lang="en-US" altLang="ko-KR" sz="1200" b="1" dirty="0" err="1">
                <a:solidFill>
                  <a:srgbClr val="FF0000"/>
                </a:solidFill>
              </a:rPr>
              <a:t>báo</a:t>
            </a:r>
            <a:endParaRPr lang="ko-KR" altLang="en-US" sz="1200" b="1" dirty="0">
              <a:solidFill>
                <a:srgbClr val="FF0000"/>
              </a:solidFill>
            </a:endParaRPr>
          </a:p>
        </p:txBody>
      </p:sp>
      <p:sp>
        <p:nvSpPr>
          <p:cNvPr id="4" name="슬라이드 번호 개체 틀 3"/>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155</a:t>
            </a:fld>
            <a:endParaRPr lang="ko-KR" altLang="en-US" dirty="0"/>
          </a:p>
        </p:txBody>
      </p:sp>
    </p:spTree>
    <p:extLst>
      <p:ext uri="{BB962C8B-B14F-4D97-AF65-F5344CB8AC3E}">
        <p14:creationId xmlns:p14="http://schemas.microsoft.com/office/powerpoint/2010/main" val="398498867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직사각형 17"/>
          <p:cNvSpPr/>
          <p:nvPr/>
        </p:nvSpPr>
        <p:spPr>
          <a:xfrm>
            <a:off x="317989" y="1060425"/>
            <a:ext cx="3988135" cy="3808735"/>
          </a:xfrm>
          <a:prstGeom prst="rect">
            <a:avLst/>
          </a:prstGeom>
          <a:solidFill>
            <a:schemeClr val="bg1"/>
          </a:solidFill>
        </p:spPr>
        <p:txBody>
          <a:bodyPr wrap="square">
            <a:spAutoFit/>
          </a:bodyPr>
          <a:lstStyle/>
          <a:p>
            <a:endParaRPr lang="ko-KR" altLang="en-US" sz="1050" dirty="0">
              <a:latin typeface="굴림체" panose="020B0609000101010101" pitchFamily="49" charset="-127"/>
              <a:ea typeface="굴림체" panose="020B0609000101010101" pitchFamily="49" charset="-127"/>
            </a:endParaRPr>
          </a:p>
          <a:p>
            <a:r>
              <a:rPr lang="en-US" altLang="ko-KR" sz="1050" b="1" dirty="0">
                <a:latin typeface="굴림체" panose="020B0609000101010101" pitchFamily="49" charset="-127"/>
                <a:ea typeface="굴림체" panose="020B0609000101010101" pitchFamily="49" charset="-127"/>
              </a:rPr>
              <a:t>Between Appraisers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Inspected  # Matched  Percent      95% CI</a:t>
            </a:r>
          </a:p>
          <a:p>
            <a:r>
              <a:rPr lang="ko-KR" altLang="en-US" sz="1050" dirty="0">
                <a:latin typeface="굴림체" panose="020B0609000101010101" pitchFamily="49" charset="-127"/>
                <a:ea typeface="굴림체" panose="020B0609000101010101" pitchFamily="49" charset="-127"/>
              </a:rPr>
              <a:t>         </a:t>
            </a:r>
            <a:r>
              <a:rPr lang="en-US" altLang="ko-KR" sz="1050" dirty="0">
                <a:latin typeface="굴림체" panose="020B0609000101010101" pitchFamily="49" charset="-127"/>
                <a:ea typeface="굴림체" panose="020B0609000101010101" pitchFamily="49" charset="-127"/>
              </a:rPr>
              <a:t>15         11    73.33  (44.90, 92.21)</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All appraisers’ assessments agree with each other.</a:t>
            </a:r>
          </a:p>
          <a:p>
            <a:endParaRPr lang="en-US" altLang="ko-KR" sz="1050" dirty="0">
              <a:latin typeface="굴림체" panose="020B0609000101010101" pitchFamily="49" charset="-127"/>
              <a:ea typeface="굴림체" panose="020B0609000101010101" pitchFamily="49" charset="-127"/>
            </a:endParaRPr>
          </a:p>
          <a:p>
            <a:endParaRPr lang="en-US" altLang="ko-KR" sz="1050" dirty="0">
              <a:latin typeface="굴림체" panose="020B0609000101010101" pitchFamily="49" charset="-127"/>
              <a:ea typeface="굴림체" panose="020B0609000101010101" pitchFamily="49" charset="-127"/>
            </a:endParaRP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a:p>
            <a:r>
              <a:rPr lang="en-US" altLang="ko-KR" sz="1050" b="1" dirty="0">
                <a:latin typeface="굴림체" panose="020B0609000101010101" pitchFamily="49" charset="-127"/>
                <a:ea typeface="굴림체" panose="020B0609000101010101" pitchFamily="49" charset="-127"/>
              </a:rPr>
              <a:t>All Appraisers </a:t>
            </a:r>
            <a:r>
              <a:rPr lang="en-US" altLang="ko-KR" sz="1050" b="1" dirty="0" err="1">
                <a:latin typeface="굴림체" panose="020B0609000101010101" pitchFamily="49" charset="-127"/>
                <a:ea typeface="굴림체" panose="020B0609000101010101" pitchFamily="49" charset="-127"/>
              </a:rPr>
              <a:t>vs</a:t>
            </a:r>
            <a:r>
              <a:rPr lang="en-US" altLang="ko-KR" sz="1050" b="1" dirty="0">
                <a:latin typeface="굴림체" panose="020B0609000101010101" pitchFamily="49" charset="-127"/>
                <a:ea typeface="굴림체" panose="020B0609000101010101" pitchFamily="49" charset="-127"/>
              </a:rPr>
              <a:t> Standard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Inspected  # Matched  Percent      95% CI</a:t>
            </a:r>
          </a:p>
          <a:p>
            <a:r>
              <a:rPr lang="ko-KR" altLang="en-US" sz="1050" dirty="0">
                <a:latin typeface="굴림체" panose="020B0609000101010101" pitchFamily="49" charset="-127"/>
                <a:ea typeface="굴림체" panose="020B0609000101010101" pitchFamily="49" charset="-127"/>
              </a:rPr>
              <a:t>         </a:t>
            </a:r>
            <a:r>
              <a:rPr lang="en-US" altLang="ko-KR" sz="1050" dirty="0">
                <a:latin typeface="굴림체" panose="020B0609000101010101" pitchFamily="49" charset="-127"/>
                <a:ea typeface="굴림체" panose="020B0609000101010101" pitchFamily="49" charset="-127"/>
              </a:rPr>
              <a:t>15         11    73.33  (44.90, 92.21)</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All appraisers’ assessments agree with the known standard.</a:t>
            </a:r>
          </a:p>
        </p:txBody>
      </p:sp>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Categorical Gage R&amp;R</a:t>
            </a:r>
            <a:r>
              <a:rPr kumimoji="0" lang="en-US" altLang="ko-KR" sz="1600" b="1" kern="0" dirty="0">
                <a:solidFill>
                  <a:sysClr val="windowText" lastClr="000000">
                    <a:lumMod val="75000"/>
                    <a:lumOff val="25000"/>
                  </a:sysClr>
                </a:solidFill>
                <a:latin typeface="맑은 고딕" pitchFamily="50" charset="-127"/>
                <a:ea typeface="맑은 고딕" pitchFamily="50" charset="-127"/>
              </a:rPr>
              <a:t> - Example</a:t>
            </a:r>
            <a:endParaRPr lang="ko-KR" altLang="en-US" sz="1600" b="1" kern="0" dirty="0">
              <a:solidFill>
                <a:srgbClr val="000000"/>
              </a:solidFill>
              <a:latin typeface="맑은 고딕"/>
              <a:ea typeface="맑은 고딕"/>
            </a:endParaRPr>
          </a:p>
        </p:txBody>
      </p:sp>
      <p:sp>
        <p:nvSpPr>
          <p:cNvPr id="220163" name="Rectangle 4"/>
          <p:cNvSpPr>
            <a:spLocks noChangeArrowheads="1"/>
          </p:cNvSpPr>
          <p:nvPr/>
        </p:nvSpPr>
        <p:spPr bwMode="auto">
          <a:xfrm>
            <a:off x="185051" y="835026"/>
            <a:ext cx="4309770" cy="276999"/>
          </a:xfrm>
          <a:prstGeom prst="rect">
            <a:avLst/>
          </a:prstGeom>
          <a:noFill/>
          <a:ln w="9525" algn="ctr">
            <a:noFill/>
            <a:miter lim="800000"/>
            <a:headEnd/>
            <a:tailEnd/>
          </a:ln>
        </p:spPr>
        <p:txBody>
          <a:bodyPr wrap="none">
            <a:spAutoFit/>
          </a:bodyPr>
          <a:lstStyle/>
          <a:p>
            <a:r>
              <a:rPr lang="en-US" altLang="ko-KR" sz="1200" b="1">
                <a:latin typeface="맑은 고딕" pitchFamily="50" charset="-127"/>
                <a:ea typeface="맑은 고딕" pitchFamily="50" charset="-127"/>
              </a:rPr>
              <a:t>(3) Evaluation of the agreement between the evaluators</a:t>
            </a:r>
            <a:endParaRPr lang="ko-KR" altLang="en-US" sz="1200" b="1" dirty="0">
              <a:latin typeface="맑은 고딕" pitchFamily="50" charset="-127"/>
              <a:ea typeface="맑은 고딕" pitchFamily="50" charset="-127"/>
            </a:endParaRPr>
          </a:p>
        </p:txBody>
      </p:sp>
      <p:sp>
        <p:nvSpPr>
          <p:cNvPr id="220164" name="Rectangle 5"/>
          <p:cNvSpPr>
            <a:spLocks noChangeArrowheads="1"/>
          </p:cNvSpPr>
          <p:nvPr/>
        </p:nvSpPr>
        <p:spPr bwMode="auto">
          <a:xfrm>
            <a:off x="133721" y="2792736"/>
            <a:ext cx="5814284"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(4) Evaluate measurement consistency compare with standard and evaluator</a:t>
            </a:r>
            <a:endParaRPr lang="ko-KR" altLang="en-US" sz="1200" b="1" dirty="0">
              <a:latin typeface="맑은 고딕" pitchFamily="50" charset="-127"/>
              <a:ea typeface="맑은 고딕" pitchFamily="50" charset="-127"/>
            </a:endParaRPr>
          </a:p>
        </p:txBody>
      </p:sp>
      <p:sp>
        <p:nvSpPr>
          <p:cNvPr id="220165" name="Rectangle 6"/>
          <p:cNvSpPr>
            <a:spLocks noChangeArrowheads="1"/>
          </p:cNvSpPr>
          <p:nvPr/>
        </p:nvSpPr>
        <p:spPr bwMode="auto">
          <a:xfrm>
            <a:off x="4500562" y="3286124"/>
            <a:ext cx="1091196"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(5) Organize</a:t>
            </a:r>
            <a:endParaRPr lang="ko-KR" altLang="en-US" sz="1200" b="1" dirty="0">
              <a:latin typeface="맑은 고딕" pitchFamily="50" charset="-127"/>
              <a:ea typeface="맑은 고딕" pitchFamily="50" charset="-127"/>
            </a:endParaRPr>
          </a:p>
        </p:txBody>
      </p:sp>
      <p:sp>
        <p:nvSpPr>
          <p:cNvPr id="220166" name="Text Box 8"/>
          <p:cNvSpPr txBox="1">
            <a:spLocks noChangeArrowheads="1"/>
          </p:cNvSpPr>
          <p:nvPr/>
        </p:nvSpPr>
        <p:spPr bwMode="auto">
          <a:xfrm>
            <a:off x="4668267" y="3543298"/>
            <a:ext cx="4239655" cy="2862322"/>
          </a:xfrm>
          <a:prstGeom prst="rect">
            <a:avLst/>
          </a:prstGeom>
          <a:noFill/>
          <a:ln w="9525" algn="ctr">
            <a:noFill/>
            <a:miter lim="800000"/>
            <a:headEnd/>
            <a:tailEnd/>
          </a:ln>
        </p:spPr>
        <p:txBody>
          <a:bodyPr wrap="square">
            <a:spAutoFit/>
          </a:bodyPr>
          <a:lstStyle/>
          <a:p>
            <a:pPr>
              <a:buFontTx/>
              <a:buChar char="-"/>
            </a:pPr>
            <a:r>
              <a:rPr lang="en-US" sz="1200" dirty="0"/>
              <a:t>There is a problem with the measurement consistency of </a:t>
            </a:r>
          </a:p>
          <a:p>
            <a:r>
              <a:rPr lang="en-US" sz="1200" dirty="0"/>
              <a:t> all evaluators, and it is necessary to review their </a:t>
            </a:r>
          </a:p>
          <a:p>
            <a:r>
              <a:rPr lang="en-US" sz="1200" dirty="0"/>
              <a:t> measurement procedures and methods.</a:t>
            </a:r>
          </a:p>
          <a:p>
            <a:r>
              <a:rPr lang="en-US" altLang="ko-KR" sz="1200" dirty="0">
                <a:latin typeface="맑은 고딕" pitchFamily="50" charset="-127"/>
                <a:ea typeface="맑은 고딕" pitchFamily="50" charset="-127"/>
              </a:rPr>
              <a:t>   At this time, it is useful to describe and compare measurement methods of each measurer</a:t>
            </a:r>
            <a:br>
              <a:rPr lang="en-US" altLang="ko-KR" sz="1200" dirty="0">
                <a:latin typeface="맑은 고딕" pitchFamily="50" charset="-127"/>
                <a:ea typeface="맑은 고딕" pitchFamily="50" charset="-127"/>
              </a:rPr>
            </a:br>
            <a:r>
              <a:rPr lang="en-US" altLang="ko-KR" sz="1200" dirty="0">
                <a:latin typeface="맑은 고딕" pitchFamily="50" charset="-127"/>
                <a:ea typeface="맑은 고딕" pitchFamily="50" charset="-127"/>
              </a:rPr>
              <a:t>   This is most likely due to the fact that the individual measurement criteria are not clear.</a:t>
            </a:r>
          </a:p>
          <a:p>
            <a:pPr>
              <a:buFontTx/>
              <a:buChar char="-"/>
            </a:pPr>
            <a:r>
              <a:rPr lang="en-US" altLang="ko-KR" sz="1200" dirty="0">
                <a:latin typeface="맑은 고딕" pitchFamily="50" charset="-127"/>
                <a:ea typeface="맑은 고딕" pitchFamily="50" charset="-127"/>
              </a:rPr>
              <a:t> Kim has a tendency to judge rejection and Park has a </a:t>
            </a:r>
          </a:p>
          <a:p>
            <a:r>
              <a:rPr lang="en-US" altLang="ko-KR" sz="1200" dirty="0">
                <a:latin typeface="맑은 고딕" pitchFamily="50" charset="-127"/>
                <a:ea typeface="맑은 고딕" pitchFamily="50" charset="-127"/>
              </a:rPr>
              <a:t>  tendency to judge acceptance, and this tendency can be </a:t>
            </a:r>
          </a:p>
          <a:p>
            <a:r>
              <a:rPr lang="en-US" altLang="ko-KR" sz="1200" dirty="0">
                <a:latin typeface="맑은 고딕" pitchFamily="50" charset="-127"/>
                <a:ea typeface="맑은 고딕" pitchFamily="50" charset="-127"/>
              </a:rPr>
              <a:t>  attributed to the inconsistent measurement ratio. In this </a:t>
            </a:r>
          </a:p>
          <a:p>
            <a:r>
              <a:rPr lang="en-US" altLang="ko-KR" sz="1200" dirty="0">
                <a:latin typeface="맑은 고딕" pitchFamily="50" charset="-127"/>
                <a:ea typeface="맑은 고딕" pitchFamily="50" charset="-127"/>
              </a:rPr>
              <a:t>  case, retraining of the standard guidelines is necessary.</a:t>
            </a:r>
          </a:p>
          <a:p>
            <a:pPr>
              <a:buFontTx/>
              <a:buChar char="-"/>
            </a:pPr>
            <a:r>
              <a:rPr lang="en-US" altLang="ko-KR" sz="1200" dirty="0">
                <a:latin typeface="맑은 고딕" pitchFamily="50" charset="-127"/>
                <a:ea typeface="맑은 고딕" pitchFamily="50" charset="-127"/>
              </a:rPr>
              <a:t>An assessment of the consistency between evaluators </a:t>
            </a:r>
          </a:p>
          <a:p>
            <a:r>
              <a:rPr lang="en-US" altLang="ko-KR" sz="1200" dirty="0">
                <a:latin typeface="맑은 고딕" pitchFamily="50" charset="-127"/>
                <a:ea typeface="맑은 고딕" pitchFamily="50" charset="-127"/>
              </a:rPr>
              <a:t> and evaluators consistent with measurement standards is </a:t>
            </a:r>
          </a:p>
          <a:p>
            <a:r>
              <a:rPr lang="en-US" altLang="ko-KR" sz="1200" dirty="0">
                <a:latin typeface="맑은 고딕" pitchFamily="50" charset="-127"/>
                <a:ea typeface="맑은 고딕" pitchFamily="50" charset="-127"/>
              </a:rPr>
              <a:t> the same. However, since the value is very low at 73.33%, </a:t>
            </a:r>
          </a:p>
          <a:p>
            <a:r>
              <a:rPr lang="en-US" altLang="ko-KR" sz="1200" dirty="0">
                <a:latin typeface="맑은 고딕" pitchFamily="50" charset="-127"/>
                <a:ea typeface="맑은 고딕" pitchFamily="50" charset="-127"/>
              </a:rPr>
              <a:t> a review of the standard is also necessary.</a:t>
            </a:r>
          </a:p>
        </p:txBody>
      </p:sp>
      <p:sp>
        <p:nvSpPr>
          <p:cNvPr id="10" name="TextBox 19"/>
          <p:cNvSpPr txBox="1">
            <a:spLocks noChangeArrowheads="1"/>
          </p:cNvSpPr>
          <p:nvPr/>
        </p:nvSpPr>
        <p:spPr bwMode="auto">
          <a:xfrm>
            <a:off x="383405" y="5242347"/>
            <a:ext cx="1103187"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Agreement(%)=</a:t>
            </a:r>
            <a:endParaRPr lang="ko-KR" altLang="en-US" sz="1000" dirty="0">
              <a:latin typeface="맑은 고딕" pitchFamily="50" charset="-127"/>
              <a:ea typeface="맑은 고딕" pitchFamily="50" charset="-127"/>
            </a:endParaRPr>
          </a:p>
        </p:txBody>
      </p:sp>
      <p:sp>
        <p:nvSpPr>
          <p:cNvPr id="11" name="TextBox 20"/>
          <p:cNvSpPr txBox="1">
            <a:spLocks noChangeArrowheads="1"/>
          </p:cNvSpPr>
          <p:nvPr/>
        </p:nvSpPr>
        <p:spPr bwMode="auto">
          <a:xfrm>
            <a:off x="379009" y="5599534"/>
            <a:ext cx="2192727" cy="707886"/>
          </a:xfrm>
          <a:prstGeom prst="rect">
            <a:avLst/>
          </a:prstGeom>
          <a:noFill/>
          <a:ln w="9525">
            <a:noFill/>
            <a:miter lim="800000"/>
            <a:headEnd/>
            <a:tailEnd/>
          </a:ln>
        </p:spPr>
        <p:txBody>
          <a:bodyPr wrap="square">
            <a:spAutoFit/>
          </a:bodyPr>
          <a:lstStyle/>
          <a:p>
            <a:r>
              <a:rPr lang="en-US" altLang="ko-KR" sz="1000" dirty="0">
                <a:latin typeface="맑은 고딕" pitchFamily="50" charset="-127"/>
                <a:ea typeface="맑은 고딕" pitchFamily="50" charset="-127"/>
              </a:rPr>
              <a:t>Where N is the number of decision opportunities, and m is the number of matches in the iteration</a:t>
            </a:r>
            <a:endParaRPr lang="ko-KR" altLang="en-US" sz="1000" dirty="0">
              <a:latin typeface="맑은 고딕" pitchFamily="50" charset="-127"/>
              <a:ea typeface="맑은 고딕" pitchFamily="50" charset="-127"/>
            </a:endParaRPr>
          </a:p>
        </p:txBody>
      </p:sp>
      <p:cxnSp>
        <p:nvCxnSpPr>
          <p:cNvPr id="13" name="직선 연결선 22"/>
          <p:cNvCxnSpPr>
            <a:cxnSpLocks noChangeShapeType="1"/>
          </p:cNvCxnSpPr>
          <p:nvPr/>
        </p:nvCxnSpPr>
        <p:spPr bwMode="auto">
          <a:xfrm>
            <a:off x="1315389" y="5374109"/>
            <a:ext cx="197826" cy="1588"/>
          </a:xfrm>
          <a:prstGeom prst="line">
            <a:avLst/>
          </a:prstGeom>
          <a:noFill/>
          <a:ln w="12700" algn="ctr">
            <a:solidFill>
              <a:schemeClr val="tx1"/>
            </a:solidFill>
            <a:round/>
            <a:headEnd/>
            <a:tailEnd/>
          </a:ln>
        </p:spPr>
      </p:cxnSp>
      <p:sp>
        <p:nvSpPr>
          <p:cNvPr id="14" name="TextBox 23"/>
          <p:cNvSpPr txBox="1">
            <a:spLocks noChangeArrowheads="1"/>
          </p:cNvSpPr>
          <p:nvPr/>
        </p:nvSpPr>
        <p:spPr bwMode="auto">
          <a:xfrm>
            <a:off x="1283151" y="5343947"/>
            <a:ext cx="282450"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N</a:t>
            </a:r>
            <a:endParaRPr lang="ko-KR" altLang="en-US" sz="1000" dirty="0">
              <a:latin typeface="맑은 고딕" pitchFamily="50" charset="-127"/>
              <a:ea typeface="맑은 고딕" pitchFamily="50" charset="-127"/>
            </a:endParaRPr>
          </a:p>
        </p:txBody>
      </p:sp>
      <p:sp>
        <p:nvSpPr>
          <p:cNvPr id="15" name="TextBox 24"/>
          <p:cNvSpPr txBox="1">
            <a:spLocks noChangeArrowheads="1"/>
          </p:cNvSpPr>
          <p:nvPr/>
        </p:nvSpPr>
        <p:spPr bwMode="auto">
          <a:xfrm>
            <a:off x="1272893" y="5139160"/>
            <a:ext cx="296876"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m</a:t>
            </a:r>
            <a:endParaRPr lang="ko-KR" altLang="en-US" sz="1000" dirty="0">
              <a:latin typeface="맑은 고딕" pitchFamily="50" charset="-127"/>
              <a:ea typeface="맑은 고딕" pitchFamily="50" charset="-127"/>
            </a:endParaRPr>
          </a:p>
        </p:txBody>
      </p:sp>
      <p:sp>
        <p:nvSpPr>
          <p:cNvPr id="16" name="TextBox 25"/>
          <p:cNvSpPr txBox="1">
            <a:spLocks noChangeArrowheads="1"/>
          </p:cNvSpPr>
          <p:nvPr/>
        </p:nvSpPr>
        <p:spPr bwMode="auto">
          <a:xfrm>
            <a:off x="1485374" y="5242347"/>
            <a:ext cx="530915"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 100</a:t>
            </a:r>
            <a:endParaRPr lang="ko-KR" altLang="en-US" sz="1000" dirty="0">
              <a:latin typeface="맑은 고딕" pitchFamily="50" charset="-127"/>
              <a:ea typeface="맑은 고딕" pitchFamily="50" charset="-127"/>
            </a:endParaRPr>
          </a:p>
        </p:txBody>
      </p:sp>
      <p:sp>
        <p:nvSpPr>
          <p:cNvPr id="17" name="직사각형 16"/>
          <p:cNvSpPr/>
          <p:nvPr/>
        </p:nvSpPr>
        <p:spPr bwMode="auto">
          <a:xfrm>
            <a:off x="251520" y="5085185"/>
            <a:ext cx="2343150" cy="1272773"/>
          </a:xfrm>
          <a:prstGeom prst="rect">
            <a:avLst/>
          </a:prstGeom>
          <a:noFill/>
          <a:ln w="12700" cap="flat" cmpd="sng" algn="ctr">
            <a:solidFill>
              <a:schemeClr val="bg2">
                <a:lumMod val="75000"/>
              </a:schemeClr>
            </a:solidFill>
            <a:prstDash val="solid"/>
            <a:round/>
            <a:headEnd type="none" w="med" len="med"/>
            <a:tailEnd type="none" w="med" len="med"/>
          </a:ln>
          <a:effectLst/>
        </p:spPr>
        <p:txBody>
          <a:bodyPr/>
          <a:lstStyle/>
          <a:p>
            <a:pPr algn="ctr">
              <a:defRPr/>
            </a:pPr>
            <a:endParaRPr lang="ko-KR" altLang="en-US" sz="1000" dirty="0">
              <a:latin typeface="Arial" charset="0"/>
            </a:endParaRPr>
          </a:p>
        </p:txBody>
      </p:sp>
      <p:sp>
        <p:nvSpPr>
          <p:cNvPr id="19" name="모서리가 둥근 직사각형 18"/>
          <p:cNvSpPr/>
          <p:nvPr/>
        </p:nvSpPr>
        <p:spPr>
          <a:xfrm>
            <a:off x="251520" y="1124744"/>
            <a:ext cx="4054604" cy="1656184"/>
          </a:xfrm>
          <a:prstGeom prst="roundRect">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모서리가 둥근 직사각형 19"/>
          <p:cNvSpPr/>
          <p:nvPr/>
        </p:nvSpPr>
        <p:spPr>
          <a:xfrm>
            <a:off x="251520" y="3140968"/>
            <a:ext cx="4054604" cy="1656184"/>
          </a:xfrm>
          <a:prstGeom prst="roundRect">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TextBox 2"/>
          <p:cNvSpPr txBox="1"/>
          <p:nvPr/>
        </p:nvSpPr>
        <p:spPr>
          <a:xfrm>
            <a:off x="3084436" y="3301414"/>
            <a:ext cx="1130374" cy="305918"/>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Effectiveness</a:t>
            </a:r>
            <a:endParaRPr lang="ko-KR" altLang="en-US" sz="1200" b="1" dirty="0">
              <a:solidFill>
                <a:srgbClr val="FF0000"/>
              </a:solidFill>
            </a:endParaRPr>
          </a:p>
        </p:txBody>
      </p:sp>
      <p:sp>
        <p:nvSpPr>
          <p:cNvPr id="4" name="슬라이드 번호 개체 틀 3"/>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156</a:t>
            </a:fld>
            <a:endParaRPr lang="ko-KR" altLang="en-US" dirty="0"/>
          </a:p>
        </p:txBody>
      </p:sp>
    </p:spTree>
    <p:extLst>
      <p:ext uri="{BB962C8B-B14F-4D97-AF65-F5344CB8AC3E}">
        <p14:creationId xmlns:p14="http://schemas.microsoft.com/office/powerpoint/2010/main" val="3622168891"/>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a:solidFill>
                  <a:srgbClr val="000000"/>
                </a:solidFill>
              </a:rPr>
              <a:t>Closing remarks</a:t>
            </a:r>
            <a:endParaRPr lang="ko-KR" altLang="en-US" sz="2000" b="1" kern="0" dirty="0">
              <a:solidFill>
                <a:srgbClr val="000000"/>
              </a:solidFill>
              <a:latin typeface="맑은 고딕"/>
              <a:ea typeface="맑은 고딕"/>
            </a:endParaRPr>
          </a:p>
        </p:txBody>
      </p:sp>
      <p:sp>
        <p:nvSpPr>
          <p:cNvPr id="3" name="TextBox 2"/>
          <p:cNvSpPr txBox="1"/>
          <p:nvPr/>
        </p:nvSpPr>
        <p:spPr>
          <a:xfrm>
            <a:off x="2627784" y="1916832"/>
            <a:ext cx="3871957" cy="923330"/>
          </a:xfrm>
          <a:prstGeom prst="rect">
            <a:avLst/>
          </a:prstGeom>
          <a:noFill/>
        </p:spPr>
        <p:txBody>
          <a:bodyPr wrap="none" rtlCol="0">
            <a:spAutoFit/>
          </a:bodyPr>
          <a:lstStyle/>
          <a:p>
            <a:pPr marL="342900" indent="-342900">
              <a:buAutoNum type="arabicPeriod"/>
            </a:pPr>
            <a:r>
              <a:rPr lang="en-US" altLang="ko-KR" dirty="0"/>
              <a:t> Gage R&amp;R is Basic Skill</a:t>
            </a:r>
          </a:p>
          <a:p>
            <a:pPr marL="342900" indent="-342900">
              <a:buAutoNum type="arabicPeriod"/>
            </a:pPr>
            <a:endParaRPr lang="en-US" altLang="ko-KR" dirty="0"/>
          </a:p>
          <a:p>
            <a:r>
              <a:rPr lang="en-US" altLang="ko-KR" dirty="0"/>
              <a:t>2.   What is Next Challenge Point? </a:t>
            </a:r>
            <a:endParaRPr lang="ko-KR" altLang="en-US" dirty="0"/>
          </a:p>
        </p:txBody>
      </p:sp>
      <p:sp>
        <p:nvSpPr>
          <p:cNvPr id="4" name="슬라이드 번호 개체 틀 1"/>
          <p:cNvSpPr>
            <a:spLocks noGrp="1"/>
          </p:cNvSpPr>
          <p:nvPr>
            <p:ph type="sldNum" sz="quarter" idx="4294967295"/>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157</a:t>
            </a:fld>
            <a:endParaRPr lang="ko-KR" altLang="en-US" dirty="0"/>
          </a:p>
        </p:txBody>
      </p:sp>
    </p:spTree>
    <p:extLst>
      <p:ext uri="{BB962C8B-B14F-4D97-AF65-F5344CB8AC3E}">
        <p14:creationId xmlns:p14="http://schemas.microsoft.com/office/powerpoint/2010/main" val="351250678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직사각형 17"/>
          <p:cNvSpPr/>
          <p:nvPr/>
        </p:nvSpPr>
        <p:spPr>
          <a:xfrm>
            <a:off x="317989" y="1060425"/>
            <a:ext cx="3988135" cy="3808735"/>
          </a:xfrm>
          <a:prstGeom prst="rect">
            <a:avLst/>
          </a:prstGeom>
          <a:solidFill>
            <a:schemeClr val="bg1"/>
          </a:solidFill>
        </p:spPr>
        <p:txBody>
          <a:bodyPr wrap="square">
            <a:spAutoFit/>
          </a:bodyPr>
          <a:lstStyle/>
          <a:p>
            <a:endParaRPr lang="ko-KR" altLang="en-US" sz="1050" dirty="0">
              <a:latin typeface="굴림체" panose="020B0609000101010101" pitchFamily="49" charset="-127"/>
              <a:ea typeface="굴림체" panose="020B0609000101010101" pitchFamily="49" charset="-127"/>
            </a:endParaRPr>
          </a:p>
          <a:p>
            <a:r>
              <a:rPr lang="en-US" altLang="ko-KR" sz="1050" b="1" dirty="0">
                <a:latin typeface="굴림체" panose="020B0609000101010101" pitchFamily="49" charset="-127"/>
                <a:ea typeface="굴림체" panose="020B0609000101010101" pitchFamily="49" charset="-127"/>
              </a:rPr>
              <a:t>Between Appraisers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Inspected  # Matched  Percent      95% CI</a:t>
            </a:r>
          </a:p>
          <a:p>
            <a:r>
              <a:rPr lang="ko-KR" altLang="en-US" sz="1050" dirty="0">
                <a:latin typeface="굴림체" panose="020B0609000101010101" pitchFamily="49" charset="-127"/>
                <a:ea typeface="굴림체" panose="020B0609000101010101" pitchFamily="49" charset="-127"/>
              </a:rPr>
              <a:t>         </a:t>
            </a:r>
            <a:r>
              <a:rPr lang="en-US" altLang="ko-KR" sz="1050" dirty="0">
                <a:latin typeface="굴림체" panose="020B0609000101010101" pitchFamily="49" charset="-127"/>
                <a:ea typeface="굴림체" panose="020B0609000101010101" pitchFamily="49" charset="-127"/>
              </a:rPr>
              <a:t>15         11    73.33  (44.90, 92.21)</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All appraisers’ assessments agree with each other.</a:t>
            </a:r>
          </a:p>
          <a:p>
            <a:endParaRPr lang="en-US" altLang="ko-KR" sz="1050" dirty="0">
              <a:latin typeface="굴림체" panose="020B0609000101010101" pitchFamily="49" charset="-127"/>
              <a:ea typeface="굴림체" panose="020B0609000101010101" pitchFamily="49" charset="-127"/>
            </a:endParaRPr>
          </a:p>
          <a:p>
            <a:endParaRPr lang="en-US" altLang="ko-KR" sz="1050" dirty="0">
              <a:latin typeface="굴림체" panose="020B0609000101010101" pitchFamily="49" charset="-127"/>
              <a:ea typeface="굴림체" panose="020B0609000101010101" pitchFamily="49" charset="-127"/>
            </a:endParaRPr>
          </a:p>
          <a:p>
            <a:endParaRPr lang="ko-KR" altLang="en-US" sz="1050" dirty="0">
              <a:latin typeface="굴림체" panose="020B0609000101010101" pitchFamily="49" charset="-127"/>
              <a:ea typeface="굴림체" panose="020B0609000101010101" pitchFamily="49" charset="-127"/>
            </a:endParaRPr>
          </a:p>
          <a:p>
            <a:r>
              <a:rPr lang="ko-KR" altLang="en-US" sz="1050" dirty="0">
                <a:latin typeface="굴림체" panose="020B0609000101010101" pitchFamily="49" charset="-127"/>
                <a:ea typeface="굴림체" panose="020B0609000101010101" pitchFamily="49" charset="-127"/>
              </a:rPr>
              <a:t> </a:t>
            </a:r>
          </a:p>
          <a:p>
            <a:r>
              <a:rPr lang="en-US" altLang="ko-KR" sz="1050" b="1" dirty="0">
                <a:latin typeface="굴림체" panose="020B0609000101010101" pitchFamily="49" charset="-127"/>
                <a:ea typeface="굴림체" panose="020B0609000101010101" pitchFamily="49" charset="-127"/>
              </a:rPr>
              <a:t>All Appraisers </a:t>
            </a:r>
            <a:r>
              <a:rPr lang="en-US" altLang="ko-KR" sz="1050" b="1" dirty="0" err="1">
                <a:latin typeface="굴림체" panose="020B0609000101010101" pitchFamily="49" charset="-127"/>
                <a:ea typeface="굴림체" panose="020B0609000101010101" pitchFamily="49" charset="-127"/>
              </a:rPr>
              <a:t>vs</a:t>
            </a:r>
            <a:r>
              <a:rPr lang="en-US" altLang="ko-KR" sz="1050" b="1" dirty="0">
                <a:latin typeface="굴림체" panose="020B0609000101010101" pitchFamily="49" charset="-127"/>
                <a:ea typeface="굴림체" panose="020B0609000101010101" pitchFamily="49" charset="-127"/>
              </a:rPr>
              <a:t> Standard </a:t>
            </a:r>
          </a:p>
          <a:p>
            <a:endParaRPr lang="ko-KR" altLang="en-US" sz="1050" b="1"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Assessment Agreement</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Inspected  # Matched  Percent      95% CI</a:t>
            </a:r>
          </a:p>
          <a:p>
            <a:r>
              <a:rPr lang="ko-KR" altLang="en-US" sz="1050" dirty="0">
                <a:latin typeface="굴림체" panose="020B0609000101010101" pitchFamily="49" charset="-127"/>
                <a:ea typeface="굴림체" panose="020B0609000101010101" pitchFamily="49" charset="-127"/>
              </a:rPr>
              <a:t>         </a:t>
            </a:r>
            <a:r>
              <a:rPr lang="en-US" altLang="ko-KR" sz="1050" dirty="0">
                <a:latin typeface="굴림체" panose="020B0609000101010101" pitchFamily="49" charset="-127"/>
                <a:ea typeface="굴림체" panose="020B0609000101010101" pitchFamily="49" charset="-127"/>
              </a:rPr>
              <a:t>15         11    73.33  (44.90, 92.21)</a:t>
            </a:r>
          </a:p>
          <a:p>
            <a:endParaRPr lang="ko-KR" altLang="en-US" sz="1050" dirty="0">
              <a:latin typeface="굴림체" panose="020B0609000101010101" pitchFamily="49" charset="-127"/>
              <a:ea typeface="굴림체" panose="020B0609000101010101" pitchFamily="49" charset="-127"/>
            </a:endParaRPr>
          </a:p>
          <a:p>
            <a:r>
              <a:rPr lang="en-US" altLang="ko-KR" sz="1050" dirty="0">
                <a:latin typeface="굴림체" panose="020B0609000101010101" pitchFamily="49" charset="-127"/>
                <a:ea typeface="굴림체" panose="020B0609000101010101" pitchFamily="49" charset="-127"/>
              </a:rPr>
              <a:t># Matched: All appraisers’ assessments agree with the known standard.</a:t>
            </a:r>
          </a:p>
        </p:txBody>
      </p:sp>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ysClr val="windowText" lastClr="000000">
                    <a:lumMod val="75000"/>
                    <a:lumOff val="25000"/>
                  </a:sysClr>
                </a:solidFill>
                <a:latin typeface="맑은 고딕" pitchFamily="50" charset="-127"/>
                <a:ea typeface="맑은 고딕" pitchFamily="50" charset="-127"/>
              </a:rPr>
              <a:t>Phân</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lang="en-US" altLang="ko-KR" sz="2000" b="1" kern="0" dirty="0" err="1">
                <a:solidFill>
                  <a:sysClr val="windowText" lastClr="000000">
                    <a:lumMod val="75000"/>
                    <a:lumOff val="25000"/>
                  </a:sysClr>
                </a:solidFill>
                <a:latin typeface="맑은 고딕" pitchFamily="50" charset="-127"/>
                <a:ea typeface="맑은 고딕" pitchFamily="50" charset="-127"/>
              </a:rPr>
              <a:t>loại</a:t>
            </a:r>
            <a:r>
              <a:rPr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Gage R&amp;R</a:t>
            </a:r>
            <a:endParaRPr lang="ko-KR" altLang="en-US" sz="1600" b="1" kern="0" dirty="0">
              <a:solidFill>
                <a:srgbClr val="000000"/>
              </a:solidFill>
              <a:latin typeface="맑은 고딕"/>
              <a:ea typeface="맑은 고딕"/>
            </a:endParaRPr>
          </a:p>
        </p:txBody>
      </p:sp>
      <p:sp>
        <p:nvSpPr>
          <p:cNvPr id="220163" name="Rectangle 4"/>
          <p:cNvSpPr>
            <a:spLocks noChangeArrowheads="1"/>
          </p:cNvSpPr>
          <p:nvPr/>
        </p:nvSpPr>
        <p:spPr bwMode="auto">
          <a:xfrm>
            <a:off x="185051" y="835026"/>
            <a:ext cx="4322017" cy="276999"/>
          </a:xfrm>
          <a:prstGeom prst="rect">
            <a:avLst/>
          </a:prstGeom>
          <a:noFill/>
          <a:ln w="9525" algn="ctr">
            <a:noFill/>
            <a:miter lim="800000"/>
            <a:headEnd/>
            <a:tailEnd/>
          </a:ln>
        </p:spPr>
        <p:txBody>
          <a:bodyPr wrap="none">
            <a:spAutoFit/>
          </a:bodyPr>
          <a:lstStyle/>
          <a:p>
            <a:r>
              <a:rPr lang="en-US" altLang="ko-KR" sz="1200" b="1" dirty="0">
                <a:latin typeface="맑은 고딕" pitchFamily="50" charset="-127"/>
                <a:ea typeface="맑은 고딕" pitchFamily="50" charset="-127"/>
              </a:rPr>
              <a:t>(3)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nhất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trí</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giữa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những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endParaRPr lang="ko-KR" altLang="en-US" sz="1200" b="1" dirty="0">
              <a:latin typeface="맑은 고딕" pitchFamily="50" charset="-127"/>
              <a:ea typeface="맑은 고딕" pitchFamily="50" charset="-127"/>
            </a:endParaRPr>
          </a:p>
        </p:txBody>
      </p:sp>
      <p:sp>
        <p:nvSpPr>
          <p:cNvPr id="220164" name="Rectangle 5"/>
          <p:cNvSpPr>
            <a:spLocks noChangeArrowheads="1"/>
          </p:cNvSpPr>
          <p:nvPr/>
        </p:nvSpPr>
        <p:spPr bwMode="auto">
          <a:xfrm>
            <a:off x="66020" y="2792736"/>
            <a:ext cx="4289956" cy="461665"/>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(4) </a:t>
            </a: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tính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nhất</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quán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đo</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đạc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giữa</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những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người</a:t>
            </a:r>
            <a:r>
              <a:rPr lang="en-US" altLang="ko-KR" sz="1200" b="1" dirty="0">
                <a:latin typeface="맑은 고딕" pitchFamily="50" charset="-127"/>
                <a:ea typeface="맑은 고딕" pitchFamily="50" charset="-127"/>
              </a:rPr>
              <a:t> </a:t>
            </a:r>
          </a:p>
          <a:p>
            <a:pPr algn="ctr"/>
            <a:r>
              <a:rPr lang="en-US" altLang="ko-KR" sz="1200" b="1" dirty="0" err="1">
                <a:latin typeface="맑은 고딕" pitchFamily="50" charset="-127"/>
                <a:ea typeface="맑은 고딕" pitchFamily="50" charset="-127"/>
              </a:rPr>
              <a:t>đánh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so </a:t>
            </a:r>
            <a:r>
              <a:rPr lang="en-US" altLang="ko-KR" sz="1200" b="1" dirty="0" err="1">
                <a:latin typeface="맑은 고딕" pitchFamily="50" charset="-127"/>
                <a:ea typeface="맑은 고딕" pitchFamily="50" charset="-127"/>
              </a:rPr>
              <a:t>với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endParaRPr lang="ko-KR" altLang="en-US" sz="1200" b="1" dirty="0">
              <a:latin typeface="맑은 고딕" pitchFamily="50" charset="-127"/>
              <a:ea typeface="맑은 고딕" pitchFamily="50" charset="-127"/>
            </a:endParaRPr>
          </a:p>
        </p:txBody>
      </p:sp>
      <p:sp>
        <p:nvSpPr>
          <p:cNvPr id="220165" name="Rectangle 6"/>
          <p:cNvSpPr>
            <a:spLocks noChangeArrowheads="1"/>
          </p:cNvSpPr>
          <p:nvPr/>
        </p:nvSpPr>
        <p:spPr bwMode="auto">
          <a:xfrm>
            <a:off x="4591569" y="939578"/>
            <a:ext cx="1035861" cy="276999"/>
          </a:xfrm>
          <a:prstGeom prst="rect">
            <a:avLst/>
          </a:prstGeom>
          <a:noFill/>
          <a:ln w="9525" algn="ctr">
            <a:noFill/>
            <a:miter lim="800000"/>
            <a:headEnd/>
            <a:tailEnd/>
          </a:ln>
        </p:spPr>
        <p:txBody>
          <a:bodyPr wrap="none">
            <a:spAutoFit/>
          </a:bodyPr>
          <a:lstStyle/>
          <a:p>
            <a:pPr algn="ctr"/>
            <a:r>
              <a:rPr lang="en-US" altLang="ko-KR" sz="1200" b="1" dirty="0">
                <a:latin typeface="맑은 고딕" pitchFamily="50" charset="-127"/>
                <a:ea typeface="맑은 고딕" pitchFamily="50" charset="-127"/>
              </a:rPr>
              <a:t>(5) </a:t>
            </a:r>
            <a:r>
              <a:rPr lang="en-US" altLang="ko-KR" sz="1200" b="1" dirty="0" err="1">
                <a:latin typeface="맑은 고딕" pitchFamily="50" charset="-127"/>
                <a:ea typeface="맑은 고딕" pitchFamily="50" charset="-127"/>
              </a:rPr>
              <a:t>Chỉnh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lý</a:t>
            </a:r>
            <a:endParaRPr lang="ko-KR" altLang="en-US" sz="1200" b="1" dirty="0">
              <a:latin typeface="맑은 고딕" pitchFamily="50" charset="-127"/>
              <a:ea typeface="맑은 고딕" pitchFamily="50" charset="-127"/>
            </a:endParaRPr>
          </a:p>
        </p:txBody>
      </p:sp>
      <p:sp>
        <p:nvSpPr>
          <p:cNvPr id="220166" name="Text Box 8"/>
          <p:cNvSpPr txBox="1">
            <a:spLocks noChangeArrowheads="1"/>
          </p:cNvSpPr>
          <p:nvPr/>
        </p:nvSpPr>
        <p:spPr bwMode="auto">
          <a:xfrm>
            <a:off x="4644008" y="1196752"/>
            <a:ext cx="4320480" cy="3416320"/>
          </a:xfrm>
          <a:prstGeom prst="rect">
            <a:avLst/>
          </a:prstGeom>
          <a:noFill/>
          <a:ln w="9525" algn="ctr">
            <a:noFill/>
            <a:miter lim="800000"/>
            <a:headEnd/>
            <a:tailEnd/>
          </a:ln>
        </p:spPr>
        <p:txBody>
          <a:bodyPr wrap="square">
            <a:spAutoFit/>
          </a:bodyPr>
          <a:lstStyle/>
          <a:p>
            <a:pPr>
              <a:buFontTx/>
              <a:buChar char="-"/>
            </a:pP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cả</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vấn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đề</a:t>
            </a:r>
            <a:r>
              <a:rPr lang="en-US" altLang="ko-KR" sz="1200" dirty="0">
                <a:latin typeface="맑은 고딕" pitchFamily="50" charset="-127"/>
                <a:ea typeface="맑은 고딕" pitchFamily="50" charset="-127"/>
              </a:rPr>
              <a:t>, </a:t>
            </a:r>
          </a:p>
          <a:p>
            <a:pPr>
              <a:buFontTx/>
              <a:buChar char="-"/>
            </a:pP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thiết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trình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tự</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phương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pháp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của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từng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người</a:t>
            </a:r>
            <a:endParaRPr lang="en-US" altLang="ko-KR" sz="1200" dirty="0">
              <a:latin typeface="맑은 고딕" pitchFamily="50" charset="-127"/>
              <a:ea typeface="맑은 고딕" pitchFamily="50" charset="-127"/>
            </a:endParaRPr>
          </a:p>
          <a:p>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Lúc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này</a:t>
            </a:r>
            <a:r>
              <a:rPr lang="vi-VN" sz="1200" dirty="0"/>
              <a:t>, rất hữu ích để mô tả và so sánh phương ph</a:t>
            </a:r>
            <a:r>
              <a:rPr lang="en-US" sz="1200" dirty="0"/>
              <a:t>á</a:t>
            </a:r>
            <a:r>
              <a:rPr lang="vi-VN" sz="1200" dirty="0"/>
              <a:t>p đo </a:t>
            </a:r>
            <a:r>
              <a:rPr lang="en-US" sz="1200" dirty="0" err="1"/>
              <a:t>đạc</a:t>
            </a:r>
            <a:r>
              <a:rPr lang="vi-VN" sz="1200" dirty="0"/>
              <a:t> của từng </a:t>
            </a:r>
            <a:r>
              <a:rPr lang="en-US" sz="1200" dirty="0" err="1"/>
              <a:t>người</a:t>
            </a:r>
            <a:r>
              <a:rPr lang="en-US" sz="1200" dirty="0"/>
              <a:t> </a:t>
            </a:r>
            <a:r>
              <a:rPr lang="vi-VN" sz="1200" dirty="0"/>
              <a:t>đo </a:t>
            </a:r>
            <a:br>
              <a:rPr lang="en-US" altLang="ko-KR" sz="1200" dirty="0">
                <a:latin typeface="맑은 고딕" pitchFamily="50" charset="-127"/>
                <a:ea typeface="맑은 고딕" pitchFamily="50" charset="-127"/>
              </a:rPr>
            </a:br>
            <a:r>
              <a:rPr lang="en-US" altLang="ko-KR" sz="1200" dirty="0">
                <a:latin typeface="맑은 고딕" pitchFamily="50" charset="-127"/>
                <a:ea typeface="맑은 고딕" pitchFamily="50" charset="-127"/>
              </a:rPr>
              <a:t> </a:t>
            </a:r>
            <a:r>
              <a:rPr lang="vi-VN" altLang="ko-KR" sz="1200" dirty="0">
                <a:latin typeface="맑은 고딕" pitchFamily="50" charset="-127"/>
                <a:ea typeface="맑은 고딕" pitchFamily="50" charset="-127"/>
              </a:rPr>
              <a:t>Điều này </a:t>
            </a:r>
            <a:r>
              <a:rPr lang="en-US" altLang="ko-KR" sz="1200" dirty="0" err="1">
                <a:latin typeface="맑은 고딕" pitchFamily="50" charset="-127"/>
                <a:ea typeface="맑은 고딕" pitchFamily="50" charset="-127"/>
              </a:rPr>
              <a:t>hầu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vi-VN" altLang="ko-KR" sz="1200" dirty="0">
                <a:latin typeface="맑은 고딕" pitchFamily="50" charset="-127"/>
                <a:ea typeface="맑은 고딕" pitchFamily="50" charset="-127"/>
              </a:rPr>
              <a:t> do các tiêu chuẩn </a:t>
            </a:r>
            <a:r>
              <a:rPr lang="en-US" altLang="ko-KR" sz="1200" dirty="0" err="1">
                <a:latin typeface="맑은 고딕" pitchFamily="50" charset="-127"/>
                <a:ea typeface="맑은 고딕" pitchFamily="50" charset="-127"/>
              </a:rPr>
              <a:t>phán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đoán</a:t>
            </a:r>
            <a:r>
              <a:rPr lang="en-US" altLang="ko-KR" sz="1200" dirty="0">
                <a:latin typeface="맑은 고딕" pitchFamily="50" charset="-127"/>
                <a:ea typeface="맑은 고딕" pitchFamily="50" charset="-127"/>
              </a:rPr>
              <a:t> </a:t>
            </a:r>
            <a:r>
              <a:rPr lang="vi-VN" altLang="ko-KR" sz="1200" dirty="0">
                <a:latin typeface="맑은 고딕" pitchFamily="50" charset="-127"/>
                <a:ea typeface="맑은 고딕" pitchFamily="50" charset="-127"/>
              </a:rPr>
              <a:t>đo lường cá nhân không rõ ràng </a:t>
            </a:r>
            <a:endParaRPr lang="en-US" altLang="ko-KR" sz="1200" dirty="0">
              <a:latin typeface="맑은 고딕" pitchFamily="50" charset="-127"/>
              <a:ea typeface="맑은 고딕" pitchFamily="50" charset="-127"/>
            </a:endParaRPr>
          </a:p>
          <a:p>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Anh</a:t>
            </a:r>
            <a:r>
              <a:rPr lang="en-US" altLang="ko-KR" sz="1200" dirty="0">
                <a:latin typeface="맑은 고딕" pitchFamily="50" charset="-127"/>
                <a:ea typeface="맑은 고딕" pitchFamily="50" charset="-127"/>
              </a:rPr>
              <a:t> Kim</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ko-KR" altLang="en-US" sz="1200" dirty="0">
                <a:latin typeface="맑은 고딕" pitchFamily="50" charset="-127"/>
                <a:ea typeface="맑은 고딕" pitchFamily="50" charset="-127"/>
              </a:rPr>
              <a:t>“</a:t>
            </a:r>
            <a:r>
              <a:rPr lang="en-US" altLang="ko-KR" sz="1200" dirty="0" err="1">
                <a:latin typeface="맑은 고딕" pitchFamily="50" charset="-127"/>
                <a:ea typeface="맑은 고딕" pitchFamily="50" charset="-127"/>
              </a:rPr>
              <a:t>khuynh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hướng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đạt</a:t>
            </a:r>
            <a:r>
              <a:rPr lang="en-US" altLang="ko-KR" sz="1200" dirty="0">
                <a:latin typeface="맑은 고딕" pitchFamily="50" charset="-127"/>
                <a:ea typeface="맑은 고딕" pitchFamily="50" charset="-127"/>
              </a:rPr>
              <a:t>/NG</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Anh</a:t>
            </a:r>
            <a:r>
              <a:rPr lang="ko-KR" altLang="en-US" sz="1200" dirty="0">
                <a:latin typeface="맑은 고딕" pitchFamily="50" charset="-127"/>
                <a:ea typeface="맑은 고딕" pitchFamily="50" charset="-127"/>
              </a:rPr>
              <a:t> </a:t>
            </a:r>
            <a:r>
              <a:rPr lang="en-US" altLang="ko-KR" sz="1200" dirty="0">
                <a:latin typeface="맑은 고딕" pitchFamily="50" charset="-127"/>
                <a:ea typeface="맑은 고딕" pitchFamily="50" charset="-127"/>
              </a:rPr>
              <a:t>Park</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khuynh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hướng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đạt</a:t>
            </a:r>
            <a:r>
              <a:rPr lang="en-US" altLang="ko-KR" sz="1200" dirty="0">
                <a:latin typeface="맑은 고딕" pitchFamily="50" charset="-127"/>
                <a:ea typeface="맑은 고딕" pitchFamily="50" charset="-127"/>
              </a:rPr>
              <a:t>/ NG</a:t>
            </a:r>
            <a:r>
              <a:rPr lang="ko-KR" altLang="en-US" sz="1200" dirty="0">
                <a:latin typeface="맑은 고딕" pitchFamily="50" charset="-127"/>
                <a:ea typeface="맑은 고딕" pitchFamily="50" charset="-127"/>
              </a:rPr>
              <a: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khuynh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hướng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như</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thế</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thể</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nguyên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nhân</a:t>
            </a:r>
            <a:r>
              <a:rPr lang="en-US" altLang="ko-KR" sz="1200" dirty="0">
                <a:latin typeface="맑은 고딕" pitchFamily="50" charset="-127"/>
                <a:ea typeface="맑은 고딕" pitchFamily="50" charset="-127"/>
              </a:rPr>
              <a:t> do </a:t>
            </a:r>
            <a:r>
              <a:rPr lang="en-US" altLang="ko-KR" sz="1200" dirty="0" err="1">
                <a:latin typeface="맑은 고딕" pitchFamily="50" charset="-127"/>
                <a:ea typeface="맑은 고딕" pitchFamily="50" charset="-127"/>
              </a:rPr>
              <a:t>tỉ</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lệ</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không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cao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trường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hợp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này</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thiết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đào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tạo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về</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hướng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dẫn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bản</a:t>
            </a:r>
            <a:endParaRPr lang="en-US" altLang="ko-KR" sz="1200" dirty="0">
              <a:latin typeface="맑은 고딕" pitchFamily="50" charset="-127"/>
              <a:ea typeface="맑은 고딕" pitchFamily="50" charset="-127"/>
            </a:endParaRPr>
          </a:p>
          <a:p>
            <a:pPr>
              <a:buFontTx/>
              <a:buChar char="-"/>
            </a:pPr>
            <a:r>
              <a:rPr lang="ko-KR" altLang="en-US"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Độ</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trí</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giữa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những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và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giữa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người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so </a:t>
            </a:r>
            <a:r>
              <a:rPr lang="en-US" altLang="ko-KR" sz="1200" dirty="0" err="1">
                <a:latin typeface="맑은 고딕" pitchFamily="50" charset="-127"/>
                <a:ea typeface="맑은 고딕" pitchFamily="50" charset="-127"/>
              </a:rPr>
              <a:t>với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thì</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đánh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tính</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quá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đo</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đạc</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đồng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nhưng</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giá</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trị</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đó</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là</a:t>
            </a:r>
            <a:r>
              <a:rPr lang="en-US" altLang="ko-KR" sz="1200" dirty="0">
                <a:latin typeface="맑은 고딕" pitchFamily="50" charset="-127"/>
                <a:ea typeface="맑은 고딕" pitchFamily="50" charset="-127"/>
              </a:rPr>
              <a:t> 73.33% </a:t>
            </a:r>
            <a:r>
              <a:rPr lang="en-US" altLang="ko-KR" sz="1200" dirty="0" err="1">
                <a:latin typeface="맑은 고딕" pitchFamily="50" charset="-127"/>
                <a:ea typeface="맑은 고딕" pitchFamily="50" charset="-127"/>
              </a:rPr>
              <a:t>rất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thấp</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nên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cần</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thiết</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phải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kiểm</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tra</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lại</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tiêu</a:t>
            </a:r>
            <a:r>
              <a:rPr lang="en-US" altLang="ko-KR" sz="1200" dirty="0">
                <a:latin typeface="맑은 고딕" pitchFamily="50" charset="-127"/>
                <a:ea typeface="맑은 고딕" pitchFamily="50" charset="-127"/>
              </a:rPr>
              <a:t> </a:t>
            </a:r>
            <a:r>
              <a:rPr lang="en-US" altLang="ko-KR" sz="1200" dirty="0" err="1">
                <a:latin typeface="맑은 고딕" pitchFamily="50" charset="-127"/>
                <a:ea typeface="맑은 고딕" pitchFamily="50" charset="-127"/>
              </a:rPr>
              <a:t>chuẩn</a:t>
            </a:r>
            <a:endParaRPr lang="en-US" altLang="ko-KR" sz="1200" dirty="0">
              <a:latin typeface="맑은 고딕" pitchFamily="50" charset="-127"/>
              <a:ea typeface="맑은 고딕" pitchFamily="50" charset="-127"/>
            </a:endParaRPr>
          </a:p>
          <a:p>
            <a:r>
              <a:rPr lang="en-US" altLang="ko-KR" sz="1200" dirty="0">
                <a:latin typeface="맑은 고딕" pitchFamily="50" charset="-127"/>
                <a:ea typeface="맑은 고딕" pitchFamily="50" charset="-127"/>
              </a:rPr>
              <a:t>   </a:t>
            </a:r>
          </a:p>
        </p:txBody>
      </p:sp>
      <p:sp>
        <p:nvSpPr>
          <p:cNvPr id="10" name="TextBox 19"/>
          <p:cNvSpPr txBox="1">
            <a:spLocks noChangeArrowheads="1"/>
          </p:cNvSpPr>
          <p:nvPr/>
        </p:nvSpPr>
        <p:spPr bwMode="auto">
          <a:xfrm>
            <a:off x="383405" y="5242347"/>
            <a:ext cx="1103187"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Agreement(%)=</a:t>
            </a:r>
            <a:endParaRPr lang="ko-KR" altLang="en-US" sz="1000" dirty="0">
              <a:latin typeface="맑은 고딕" pitchFamily="50" charset="-127"/>
              <a:ea typeface="맑은 고딕" pitchFamily="50" charset="-127"/>
            </a:endParaRPr>
          </a:p>
        </p:txBody>
      </p:sp>
      <p:sp>
        <p:nvSpPr>
          <p:cNvPr id="11" name="TextBox 20"/>
          <p:cNvSpPr txBox="1">
            <a:spLocks noChangeArrowheads="1"/>
          </p:cNvSpPr>
          <p:nvPr/>
        </p:nvSpPr>
        <p:spPr bwMode="auto">
          <a:xfrm>
            <a:off x="228608" y="5599534"/>
            <a:ext cx="2831224" cy="400110"/>
          </a:xfrm>
          <a:prstGeom prst="rect">
            <a:avLst/>
          </a:prstGeom>
          <a:noFill/>
          <a:ln w="9525">
            <a:noFill/>
            <a:miter lim="800000"/>
            <a:headEnd/>
            <a:tailEnd/>
          </a:ln>
        </p:spPr>
        <p:txBody>
          <a:bodyPr wrap="none">
            <a:spAutoFit/>
          </a:bodyPr>
          <a:lstStyle/>
          <a:p>
            <a:r>
              <a:rPr lang="en-US" altLang="ko-KR" sz="1000" dirty="0" err="1">
                <a:latin typeface="맑은 고딕" pitchFamily="50" charset="-127"/>
                <a:ea typeface="맑은 고딕" pitchFamily="50" charset="-127"/>
              </a:rPr>
              <a:t>Tại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đây</a:t>
            </a:r>
            <a:r>
              <a:rPr lang="en-US" altLang="ko-KR" sz="1000" dirty="0">
                <a:latin typeface="맑은 고딕" pitchFamily="50" charset="-127"/>
                <a:ea typeface="맑은 고딕" pitchFamily="50" charset="-127"/>
              </a:rPr>
              <a:t>, N</a:t>
            </a:r>
            <a:r>
              <a:rPr lang="ko-KR" altLang="en-US"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là</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số</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hội</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phán</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đoán</a:t>
            </a:r>
            <a:endParaRPr lang="en-US" altLang="ko-KR" sz="1000" dirty="0">
              <a:latin typeface="맑은 고딕" pitchFamily="50" charset="-127"/>
              <a:ea typeface="맑은 고딕" pitchFamily="50" charset="-127"/>
            </a:endParaRPr>
          </a:p>
          <a:p>
            <a:r>
              <a:rPr lang="en-US" altLang="ko-KR" sz="1000" dirty="0">
                <a:latin typeface="맑은 고딕" pitchFamily="50" charset="-127"/>
                <a:ea typeface="맑은 고딕" pitchFamily="50" charset="-127"/>
              </a:rPr>
              <a:t>           m </a:t>
            </a:r>
            <a:r>
              <a:rPr lang="en-US" altLang="ko-KR" sz="1000" dirty="0" err="1">
                <a:latin typeface="맑은 고딕" pitchFamily="50" charset="-127"/>
                <a:ea typeface="맑은 고딕" pitchFamily="50" charset="-127"/>
              </a:rPr>
              <a:t>là</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số</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nhất</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trí</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của</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đánh</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giá</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lặp</a:t>
            </a:r>
            <a:r>
              <a:rPr lang="en-US" altLang="ko-KR" sz="1000" dirty="0">
                <a:latin typeface="맑은 고딕" pitchFamily="50" charset="-127"/>
                <a:ea typeface="맑은 고딕" pitchFamily="50" charset="-127"/>
              </a:rPr>
              <a:t> </a:t>
            </a:r>
            <a:r>
              <a:rPr lang="en-US" altLang="ko-KR" sz="1000" dirty="0" err="1">
                <a:latin typeface="맑은 고딕" pitchFamily="50" charset="-127"/>
                <a:ea typeface="맑은 고딕" pitchFamily="50" charset="-127"/>
              </a:rPr>
              <a:t>lại</a:t>
            </a:r>
            <a:endParaRPr lang="ko-KR" altLang="en-US" sz="1000" dirty="0">
              <a:latin typeface="맑은 고딕" pitchFamily="50" charset="-127"/>
              <a:ea typeface="맑은 고딕" pitchFamily="50" charset="-127"/>
            </a:endParaRPr>
          </a:p>
        </p:txBody>
      </p:sp>
      <p:cxnSp>
        <p:nvCxnSpPr>
          <p:cNvPr id="13" name="직선 연결선 22"/>
          <p:cNvCxnSpPr>
            <a:cxnSpLocks noChangeShapeType="1"/>
          </p:cNvCxnSpPr>
          <p:nvPr/>
        </p:nvCxnSpPr>
        <p:spPr bwMode="auto">
          <a:xfrm>
            <a:off x="1315389" y="5374109"/>
            <a:ext cx="197826" cy="1588"/>
          </a:xfrm>
          <a:prstGeom prst="line">
            <a:avLst/>
          </a:prstGeom>
          <a:noFill/>
          <a:ln w="12700" algn="ctr">
            <a:solidFill>
              <a:schemeClr val="tx1"/>
            </a:solidFill>
            <a:round/>
            <a:headEnd/>
            <a:tailEnd/>
          </a:ln>
        </p:spPr>
      </p:cxnSp>
      <p:sp>
        <p:nvSpPr>
          <p:cNvPr id="14" name="TextBox 23"/>
          <p:cNvSpPr txBox="1">
            <a:spLocks noChangeArrowheads="1"/>
          </p:cNvSpPr>
          <p:nvPr/>
        </p:nvSpPr>
        <p:spPr bwMode="auto">
          <a:xfrm>
            <a:off x="1283151" y="5343947"/>
            <a:ext cx="282450"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N</a:t>
            </a:r>
            <a:endParaRPr lang="ko-KR" altLang="en-US" sz="1000" dirty="0">
              <a:latin typeface="맑은 고딕" pitchFamily="50" charset="-127"/>
              <a:ea typeface="맑은 고딕" pitchFamily="50" charset="-127"/>
            </a:endParaRPr>
          </a:p>
        </p:txBody>
      </p:sp>
      <p:sp>
        <p:nvSpPr>
          <p:cNvPr id="15" name="TextBox 24"/>
          <p:cNvSpPr txBox="1">
            <a:spLocks noChangeArrowheads="1"/>
          </p:cNvSpPr>
          <p:nvPr/>
        </p:nvSpPr>
        <p:spPr bwMode="auto">
          <a:xfrm>
            <a:off x="1272893" y="5139160"/>
            <a:ext cx="296876"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m</a:t>
            </a:r>
            <a:endParaRPr lang="ko-KR" altLang="en-US" sz="1000" dirty="0">
              <a:latin typeface="맑은 고딕" pitchFamily="50" charset="-127"/>
              <a:ea typeface="맑은 고딕" pitchFamily="50" charset="-127"/>
            </a:endParaRPr>
          </a:p>
        </p:txBody>
      </p:sp>
      <p:sp>
        <p:nvSpPr>
          <p:cNvPr id="16" name="TextBox 25"/>
          <p:cNvSpPr txBox="1">
            <a:spLocks noChangeArrowheads="1"/>
          </p:cNvSpPr>
          <p:nvPr/>
        </p:nvSpPr>
        <p:spPr bwMode="auto">
          <a:xfrm>
            <a:off x="1520805" y="5301208"/>
            <a:ext cx="530915" cy="246221"/>
          </a:xfrm>
          <a:prstGeom prst="rect">
            <a:avLst/>
          </a:prstGeom>
          <a:noFill/>
          <a:ln w="9525">
            <a:noFill/>
            <a:miter lim="800000"/>
            <a:headEnd/>
            <a:tailEnd/>
          </a:ln>
        </p:spPr>
        <p:txBody>
          <a:bodyPr wrap="none">
            <a:spAutoFit/>
          </a:bodyPr>
          <a:lstStyle/>
          <a:p>
            <a:r>
              <a:rPr lang="en-US" altLang="ko-KR" sz="1000" dirty="0">
                <a:latin typeface="맑은 고딕" pitchFamily="50" charset="-127"/>
                <a:ea typeface="맑은 고딕" pitchFamily="50" charset="-127"/>
              </a:rPr>
              <a:t>× 100</a:t>
            </a:r>
            <a:endParaRPr lang="ko-KR" altLang="en-US" sz="1000" dirty="0">
              <a:latin typeface="맑은 고딕" pitchFamily="50" charset="-127"/>
              <a:ea typeface="맑은 고딕" pitchFamily="50" charset="-127"/>
            </a:endParaRPr>
          </a:p>
        </p:txBody>
      </p:sp>
      <p:sp>
        <p:nvSpPr>
          <p:cNvPr id="17" name="직사각형 16"/>
          <p:cNvSpPr/>
          <p:nvPr/>
        </p:nvSpPr>
        <p:spPr bwMode="auto">
          <a:xfrm>
            <a:off x="284634" y="5085185"/>
            <a:ext cx="2343150" cy="1090613"/>
          </a:xfrm>
          <a:prstGeom prst="rect">
            <a:avLst/>
          </a:prstGeom>
          <a:noFill/>
          <a:ln w="12700" cap="flat" cmpd="sng" algn="ctr">
            <a:solidFill>
              <a:schemeClr val="bg2">
                <a:lumMod val="75000"/>
              </a:schemeClr>
            </a:solidFill>
            <a:prstDash val="solid"/>
            <a:round/>
            <a:headEnd type="none" w="med" len="med"/>
            <a:tailEnd type="none" w="med" len="med"/>
          </a:ln>
          <a:effectLst/>
        </p:spPr>
        <p:txBody>
          <a:bodyPr/>
          <a:lstStyle/>
          <a:p>
            <a:pPr algn="ctr">
              <a:defRPr/>
            </a:pPr>
            <a:endParaRPr lang="ko-KR" altLang="en-US" sz="1000" dirty="0">
              <a:latin typeface="Arial" charset="0"/>
            </a:endParaRPr>
          </a:p>
        </p:txBody>
      </p:sp>
      <p:sp>
        <p:nvSpPr>
          <p:cNvPr id="19" name="모서리가 둥근 직사각형 18"/>
          <p:cNvSpPr/>
          <p:nvPr/>
        </p:nvSpPr>
        <p:spPr>
          <a:xfrm>
            <a:off x="251520" y="1124744"/>
            <a:ext cx="4054604" cy="1656184"/>
          </a:xfrm>
          <a:prstGeom prst="roundRect">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모서리가 둥근 직사각형 19"/>
          <p:cNvSpPr/>
          <p:nvPr/>
        </p:nvSpPr>
        <p:spPr>
          <a:xfrm>
            <a:off x="251520" y="3140968"/>
            <a:ext cx="4054604" cy="1656184"/>
          </a:xfrm>
          <a:prstGeom prst="roundRect">
            <a:avLst/>
          </a:prstGeom>
          <a:noFill/>
          <a:ln w="31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TextBox 2"/>
          <p:cNvSpPr txBox="1"/>
          <p:nvPr/>
        </p:nvSpPr>
        <p:spPr>
          <a:xfrm>
            <a:off x="2991369" y="3301414"/>
            <a:ext cx="1220591"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Tính</a:t>
            </a:r>
            <a:r>
              <a:rPr lang="en-US" altLang="ko-KR" sz="1200" b="1" dirty="0">
                <a:solidFill>
                  <a:srgbClr val="FF0000"/>
                </a:solidFill>
              </a:rPr>
              <a:t> </a:t>
            </a:r>
            <a:r>
              <a:rPr lang="en-US" altLang="ko-KR" sz="1200" b="1" dirty="0" err="1">
                <a:solidFill>
                  <a:srgbClr val="FF0000"/>
                </a:solidFill>
              </a:rPr>
              <a:t>hữu</a:t>
            </a:r>
            <a:r>
              <a:rPr lang="en-US" altLang="ko-KR" sz="1200" b="1" dirty="0">
                <a:solidFill>
                  <a:srgbClr val="FF0000"/>
                </a:solidFill>
              </a:rPr>
              <a:t> </a:t>
            </a:r>
            <a:r>
              <a:rPr lang="en-US" altLang="ko-KR" sz="1200" b="1" dirty="0" err="1">
                <a:solidFill>
                  <a:srgbClr val="FF0000"/>
                </a:solidFill>
              </a:rPr>
              <a:t>hiện</a:t>
            </a:r>
            <a:endParaRPr lang="ko-KR" altLang="en-US" sz="1200" b="1" dirty="0">
              <a:solidFill>
                <a:srgbClr val="FF0000"/>
              </a:solidFill>
            </a:endParaRPr>
          </a:p>
        </p:txBody>
      </p:sp>
      <p:sp>
        <p:nvSpPr>
          <p:cNvPr id="4" name="슬라이드 번호 개체 틀 3"/>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158</a:t>
            </a:fld>
            <a:endParaRPr lang="ko-KR" altLang="en-US" dirty="0"/>
          </a:p>
        </p:txBody>
      </p:sp>
    </p:spTree>
    <p:extLst>
      <p:ext uri="{BB962C8B-B14F-4D97-AF65-F5344CB8AC3E}">
        <p14:creationId xmlns:p14="http://schemas.microsoft.com/office/powerpoint/2010/main" val="362216889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8"/>
          <p:cNvSpPr txBox="1">
            <a:spLocks/>
          </p:cNvSpPr>
          <p:nvPr/>
        </p:nvSpPr>
        <p:spPr bwMode="auto">
          <a:xfrm>
            <a:off x="180243" y="188913"/>
            <a:ext cx="8135815" cy="488950"/>
          </a:xfrm>
          <a:prstGeom prst="rect">
            <a:avLst/>
          </a:prstGeom>
          <a:noFill/>
          <a:ln>
            <a:miter lim="800000"/>
            <a:headEnd/>
            <a:tailEnd/>
          </a:ln>
        </p:spPr>
        <p:txBody>
          <a:bodyPr/>
          <a:lstStyle/>
          <a:p>
            <a:pPr>
              <a:defRPr/>
            </a:pPr>
            <a:r>
              <a:rPr lang="en-US" altLang="ko-KR" sz="2000" b="1" kern="0" dirty="0" err="1">
                <a:solidFill>
                  <a:srgbClr val="000000"/>
                </a:solidFill>
                <a:latin typeface="맑은 고딕"/>
                <a:ea typeface="맑은 고딕"/>
              </a:rPr>
              <a:t>Kết</a:t>
            </a:r>
            <a:r>
              <a:rPr lang="en-US" altLang="ko-KR" sz="2000" b="1" kern="0" dirty="0">
                <a:solidFill>
                  <a:srgbClr val="000000"/>
                </a:solidFill>
                <a:latin typeface="맑은 고딕"/>
                <a:ea typeface="맑은 고딕"/>
              </a:rPr>
              <a:t> </a:t>
            </a:r>
            <a:r>
              <a:rPr lang="en-US" altLang="ko-KR" sz="2000" b="1" kern="0" dirty="0" err="1">
                <a:solidFill>
                  <a:srgbClr val="000000"/>
                </a:solidFill>
                <a:latin typeface="맑은 고딕"/>
                <a:ea typeface="맑은 고딕"/>
              </a:rPr>
              <a:t>luận</a:t>
            </a:r>
            <a:r>
              <a:rPr lang="en-US" altLang="ko-KR" sz="2000" b="1" kern="0" dirty="0">
                <a:solidFill>
                  <a:srgbClr val="000000"/>
                </a:solidFill>
                <a:latin typeface="맑은 고딕"/>
                <a:ea typeface="맑은 고딕"/>
              </a:rPr>
              <a:t> </a:t>
            </a:r>
            <a:r>
              <a:rPr lang="en-US" altLang="ko-KR" sz="2000" b="1" kern="0" dirty="0" err="1">
                <a:solidFill>
                  <a:srgbClr val="000000"/>
                </a:solidFill>
                <a:latin typeface="맑은 고딕"/>
                <a:ea typeface="맑은 고딕"/>
              </a:rPr>
              <a:t>rút</a:t>
            </a:r>
            <a:r>
              <a:rPr lang="en-US" altLang="ko-KR" sz="2000" b="1" kern="0" dirty="0">
                <a:solidFill>
                  <a:srgbClr val="000000"/>
                </a:solidFill>
                <a:latin typeface="맑은 고딕"/>
                <a:ea typeface="맑은 고딕"/>
              </a:rPr>
              <a:t> </a:t>
            </a:r>
            <a:r>
              <a:rPr lang="en-US" altLang="ko-KR" sz="2000" b="1" kern="0" dirty="0" err="1">
                <a:solidFill>
                  <a:srgbClr val="000000"/>
                </a:solidFill>
                <a:latin typeface="맑은 고딕"/>
                <a:ea typeface="맑은 고딕"/>
              </a:rPr>
              <a:t>ra</a:t>
            </a:r>
            <a:endParaRPr lang="ko-KR" altLang="en-US" sz="2000" b="1" kern="0" dirty="0">
              <a:solidFill>
                <a:srgbClr val="000000"/>
              </a:solidFill>
              <a:latin typeface="맑은 고딕"/>
              <a:ea typeface="맑은 고딕"/>
            </a:endParaRPr>
          </a:p>
        </p:txBody>
      </p:sp>
      <p:sp>
        <p:nvSpPr>
          <p:cNvPr id="3" name="TextBox 2"/>
          <p:cNvSpPr txBox="1"/>
          <p:nvPr/>
        </p:nvSpPr>
        <p:spPr>
          <a:xfrm>
            <a:off x="2627784" y="1916832"/>
            <a:ext cx="5019323" cy="923330"/>
          </a:xfrm>
          <a:prstGeom prst="rect">
            <a:avLst/>
          </a:prstGeom>
          <a:noFill/>
        </p:spPr>
        <p:txBody>
          <a:bodyPr wrap="none" rtlCol="0">
            <a:spAutoFit/>
          </a:bodyPr>
          <a:lstStyle/>
          <a:p>
            <a:pPr marL="342900" indent="-342900">
              <a:buAutoNum type="arabicPeriod"/>
            </a:pPr>
            <a:r>
              <a:rPr lang="en-US" altLang="ko-KR" dirty="0"/>
              <a:t> Gage R&amp;R </a:t>
            </a:r>
            <a:r>
              <a:rPr lang="en-US" altLang="ko-KR" dirty="0" err="1"/>
              <a:t>là</a:t>
            </a:r>
            <a:r>
              <a:rPr lang="en-US" altLang="ko-KR" dirty="0"/>
              <a:t> </a:t>
            </a:r>
            <a:r>
              <a:rPr lang="en-US" altLang="ko-KR" dirty="0" err="1"/>
              <a:t>khĩ</a:t>
            </a:r>
            <a:r>
              <a:rPr lang="en-US" altLang="ko-KR" dirty="0"/>
              <a:t> </a:t>
            </a:r>
            <a:r>
              <a:rPr lang="en-US" altLang="ko-KR" dirty="0" err="1"/>
              <a:t>thuật</a:t>
            </a:r>
            <a:r>
              <a:rPr lang="en-US" altLang="ko-KR" dirty="0"/>
              <a:t> </a:t>
            </a:r>
            <a:r>
              <a:rPr lang="en-US" altLang="ko-KR" dirty="0" err="1"/>
              <a:t>cơ</a:t>
            </a:r>
            <a:r>
              <a:rPr lang="en-US" altLang="ko-KR" dirty="0"/>
              <a:t> </a:t>
            </a:r>
            <a:r>
              <a:rPr lang="en-US" altLang="ko-KR" dirty="0" err="1"/>
              <a:t>sở</a:t>
            </a:r>
            <a:r>
              <a:rPr lang="en-US" altLang="ko-KR" dirty="0"/>
              <a:t>/ </a:t>
            </a:r>
            <a:r>
              <a:rPr lang="en-US" altLang="ko-KR" dirty="0" err="1"/>
              <a:t>nền</a:t>
            </a:r>
            <a:r>
              <a:rPr lang="en-US" altLang="ko-KR" dirty="0"/>
              <a:t> </a:t>
            </a:r>
            <a:r>
              <a:rPr lang="en-US" altLang="ko-KR" dirty="0" err="1"/>
              <a:t>móng</a:t>
            </a:r>
            <a:r>
              <a:rPr lang="ko-KR" altLang="en-US" dirty="0"/>
              <a:t> </a:t>
            </a:r>
            <a:endParaRPr lang="en-US" altLang="ko-KR" dirty="0"/>
          </a:p>
          <a:p>
            <a:pPr marL="342900" indent="-342900">
              <a:buAutoNum type="arabicPeriod"/>
            </a:pPr>
            <a:endParaRPr lang="en-US" altLang="ko-KR" dirty="0"/>
          </a:p>
          <a:p>
            <a:r>
              <a:rPr lang="en-US" altLang="ko-KR" dirty="0"/>
              <a:t>2.   Next Challenge Point</a:t>
            </a:r>
            <a:r>
              <a:rPr lang="ko-KR" altLang="en-US" dirty="0"/>
              <a:t> </a:t>
            </a:r>
            <a:r>
              <a:rPr lang="en-US" altLang="ko-KR" dirty="0" err="1"/>
              <a:t>là</a:t>
            </a:r>
            <a:r>
              <a:rPr lang="en-US" altLang="ko-KR" dirty="0"/>
              <a:t> </a:t>
            </a:r>
            <a:r>
              <a:rPr lang="en-US" altLang="ko-KR" dirty="0" err="1"/>
              <a:t>gì</a:t>
            </a:r>
            <a:r>
              <a:rPr lang="ko-KR" altLang="en-US" dirty="0"/>
              <a:t> </a:t>
            </a:r>
            <a:r>
              <a:rPr lang="en-US" altLang="ko-KR" dirty="0"/>
              <a:t>? </a:t>
            </a:r>
            <a:endParaRPr lang="ko-KR" altLang="en-US" dirty="0"/>
          </a:p>
        </p:txBody>
      </p:sp>
      <p:sp>
        <p:nvSpPr>
          <p:cNvPr id="4" name="슬라이드 번호 개체 틀 1"/>
          <p:cNvSpPr>
            <a:spLocks noGrp="1"/>
          </p:cNvSpPr>
          <p:nvPr>
            <p:ph type="sldNum" sz="quarter" idx="4294967295"/>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159</a:t>
            </a:fld>
            <a:endParaRPr lang="ko-KR" altLang="en-US" dirty="0"/>
          </a:p>
        </p:txBody>
      </p:sp>
    </p:spTree>
    <p:extLst>
      <p:ext uri="{BB962C8B-B14F-4D97-AF65-F5344CB8AC3E}">
        <p14:creationId xmlns:p14="http://schemas.microsoft.com/office/powerpoint/2010/main" val="351250678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제목 5"/>
          <p:cNvSpPr txBox="1">
            <a:spLocks/>
          </p:cNvSpPr>
          <p:nvPr/>
        </p:nvSpPr>
        <p:spPr bwMode="auto">
          <a:xfrm>
            <a:off x="615434" y="980728"/>
            <a:ext cx="7913132" cy="706438"/>
          </a:xfrm>
          <a:prstGeom prst="rect">
            <a:avLst/>
          </a:prstGeom>
          <a:noFill/>
          <a:ln w="9525">
            <a:noFill/>
            <a:prstDash val="sysDash"/>
            <a:miter lim="800000"/>
            <a:headEnd/>
            <a:tailEnd/>
          </a:ln>
        </p:spPr>
        <p:txBody>
          <a:bodyPr anchor="ctr"/>
          <a:lstStyle/>
          <a:p>
            <a:pPr algn="ctr"/>
            <a:r>
              <a:rPr lang="en-US" altLang="ko-KR" sz="3600" b="1" dirty="0">
                <a:solidFill>
                  <a:srgbClr val="C5003D"/>
                </a:solidFill>
                <a:latin typeface="맑은 고딕" pitchFamily="50" charset="-127"/>
                <a:ea typeface="맑은 고딕" pitchFamily="50" charset="-127"/>
              </a:rPr>
              <a:t>Chapter 3. Process Capability Analysis</a:t>
            </a:r>
            <a:endParaRPr lang="ko-KR" altLang="en-US" sz="3600" b="1" dirty="0">
              <a:solidFill>
                <a:srgbClr val="C5003D"/>
              </a:solidFill>
              <a:latin typeface="맑은 고딕" pitchFamily="50" charset="-127"/>
              <a:ea typeface="맑은 고딕" pitchFamily="50" charset="-127"/>
            </a:endParaRPr>
          </a:p>
        </p:txBody>
      </p:sp>
      <p:sp>
        <p:nvSpPr>
          <p:cNvPr id="5" name="직사각형 4"/>
          <p:cNvSpPr/>
          <p:nvPr/>
        </p:nvSpPr>
        <p:spPr>
          <a:xfrm>
            <a:off x="2369527" y="4055100"/>
            <a:ext cx="4564673" cy="948978"/>
          </a:xfrm>
          <a:prstGeom prst="rect">
            <a:avLst/>
          </a:prstGeom>
        </p:spPr>
        <p:txBody>
          <a:bodyPr>
            <a:spAutoFit/>
          </a:bodyPr>
          <a:lstStyle/>
          <a:p>
            <a:pPr marL="342900" indent="-342900" fontAlgn="auto">
              <a:lnSpc>
                <a:spcPct val="150000"/>
              </a:lnSpc>
              <a:spcBef>
                <a:spcPts val="200"/>
              </a:spcBef>
              <a:spcAft>
                <a:spcPts val="0"/>
              </a:spcAft>
              <a:buAutoNum type="arabicParenBoth"/>
              <a:defRPr/>
            </a:pPr>
            <a:r>
              <a:rPr lang="en-US" altLang="ko-KR" b="1" dirty="0">
                <a:latin typeface="맑은 고딕" pitchFamily="50" charset="-127"/>
                <a:ea typeface="맑은 고딕" pitchFamily="50" charset="-127"/>
              </a:rPr>
              <a:t>Understanding of dispersion</a:t>
            </a:r>
          </a:p>
          <a:p>
            <a:pPr marL="342900" indent="-342900" fontAlgn="auto">
              <a:lnSpc>
                <a:spcPct val="150000"/>
              </a:lnSpc>
              <a:spcBef>
                <a:spcPts val="200"/>
              </a:spcBef>
              <a:spcAft>
                <a:spcPts val="0"/>
              </a:spcAft>
              <a:buAutoNum type="arabicParenBoth"/>
              <a:defRPr/>
            </a:pPr>
            <a:r>
              <a:rPr lang="en-US" altLang="ko-KR" b="1" dirty="0">
                <a:latin typeface="맑은 고딕" pitchFamily="50" charset="-127"/>
                <a:ea typeface="맑은 고딕" pitchFamily="50" charset="-127"/>
              </a:rPr>
              <a:t>Process capability analysis</a:t>
            </a:r>
          </a:p>
        </p:txBody>
      </p:sp>
      <p:cxnSp>
        <p:nvCxnSpPr>
          <p:cNvPr id="6" name="직선 연결선 5"/>
          <p:cNvCxnSpPr/>
          <p:nvPr/>
        </p:nvCxnSpPr>
        <p:spPr>
          <a:xfrm>
            <a:off x="2123352" y="3789140"/>
            <a:ext cx="4825511"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112659" y="5157192"/>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2123352" y="3862165"/>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253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9569" y="2201516"/>
            <a:ext cx="678474" cy="679450"/>
          </a:xfrm>
          <a:prstGeom prst="rect">
            <a:avLst/>
          </a:prstGeom>
          <a:noFill/>
          <a:ln w="9525">
            <a:noFill/>
            <a:miter lim="800000"/>
            <a:headEnd/>
            <a:tailEnd/>
          </a:ln>
        </p:spPr>
      </p:pic>
      <p:sp>
        <p:nvSpPr>
          <p:cNvPr id="10" name="모서리가 둥근 직사각형 9"/>
          <p:cNvSpPr/>
          <p:nvPr/>
        </p:nvSpPr>
        <p:spPr>
          <a:xfrm>
            <a:off x="732699" y="1917372"/>
            <a:ext cx="7728438" cy="1583067"/>
          </a:xfrm>
          <a:prstGeom prst="roundRect">
            <a:avLst>
              <a:gd name="adj" fmla="val 8852"/>
            </a:avLst>
          </a:prstGeom>
          <a:noFill/>
          <a:ln>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p>
        </p:txBody>
      </p:sp>
      <p:sp>
        <p:nvSpPr>
          <p:cNvPr id="21" name="TextBox 20"/>
          <p:cNvSpPr txBox="1"/>
          <p:nvPr/>
        </p:nvSpPr>
        <p:spPr>
          <a:xfrm>
            <a:off x="1764326" y="1988841"/>
            <a:ext cx="6663104" cy="1372683"/>
          </a:xfrm>
          <a:prstGeom prst="rect">
            <a:avLst/>
          </a:prstGeom>
          <a:noFill/>
        </p:spPr>
        <p:txBody>
          <a:bodyPr>
            <a:spAutoFit/>
          </a:bodyPr>
          <a:lstStyle/>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1600" b="1" dirty="0">
                <a:latin typeface="+mn-ea"/>
                <a:ea typeface="+mn-ea"/>
              </a:rPr>
              <a:t> Understand Process Capability Analysis. </a:t>
            </a:r>
          </a:p>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1600" b="1" dirty="0">
                <a:latin typeface="+mn-ea"/>
                <a:ea typeface="+mn-ea"/>
              </a:rPr>
              <a:t> Obtain Cp, </a:t>
            </a:r>
            <a:r>
              <a:rPr kumimoji="0" lang="en-US" altLang="ko-KR" sz="1600" b="1" dirty="0" err="1">
                <a:latin typeface="+mn-ea"/>
                <a:ea typeface="+mn-ea"/>
              </a:rPr>
              <a:t>Cpk</a:t>
            </a:r>
            <a:r>
              <a:rPr kumimoji="0" lang="ko-KR" altLang="en-US" sz="1600" b="1" dirty="0">
                <a:latin typeface="+mn-ea"/>
                <a:ea typeface="+mn-ea"/>
              </a:rPr>
              <a:t> </a:t>
            </a:r>
            <a:r>
              <a:rPr kumimoji="0" lang="en-US" altLang="ko-KR" sz="1600" b="1" dirty="0">
                <a:latin typeface="+mn-ea"/>
                <a:ea typeface="+mn-ea"/>
              </a:rPr>
              <a:t>and</a:t>
            </a:r>
            <a:r>
              <a:rPr kumimoji="0" lang="ko-KR" altLang="en-US" sz="1600" b="1" dirty="0">
                <a:latin typeface="+mn-ea"/>
                <a:ea typeface="+mn-ea"/>
              </a:rPr>
              <a:t> </a:t>
            </a:r>
            <a:r>
              <a:rPr kumimoji="0" lang="en-US" altLang="ko-KR" sz="1600" b="1" dirty="0">
                <a:latin typeface="+mn-ea"/>
                <a:ea typeface="+mn-ea"/>
              </a:rPr>
              <a:t>Pp, </a:t>
            </a:r>
            <a:r>
              <a:rPr kumimoji="0" lang="en-US" altLang="ko-KR" sz="1600" b="1" dirty="0" err="1">
                <a:latin typeface="+mn-ea"/>
                <a:ea typeface="+mn-ea"/>
              </a:rPr>
              <a:t>Ppk</a:t>
            </a:r>
            <a:r>
              <a:rPr kumimoji="0" lang="ko-KR" altLang="en-US" sz="1600" b="1" dirty="0">
                <a:latin typeface="+mn-ea"/>
                <a:ea typeface="+mn-ea"/>
              </a:rPr>
              <a:t> </a:t>
            </a:r>
            <a:r>
              <a:rPr kumimoji="0" lang="en-US" altLang="ko-KR" sz="1600" b="1" dirty="0">
                <a:latin typeface="+mn-ea"/>
                <a:ea typeface="+mn-ea"/>
              </a:rPr>
              <a:t>value.</a:t>
            </a:r>
          </a:p>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1600" b="1" dirty="0">
                <a:latin typeface="+mn-ea"/>
                <a:ea typeface="+mn-ea"/>
              </a:rPr>
              <a:t>Z, </a:t>
            </a:r>
            <a:r>
              <a:rPr kumimoji="0" lang="en-US" altLang="ko-KR" sz="1600" b="1" dirty="0" err="1">
                <a:latin typeface="+mn-ea"/>
                <a:ea typeface="+mn-ea"/>
              </a:rPr>
              <a:t>Zlt</a:t>
            </a:r>
            <a:r>
              <a:rPr kumimoji="0" lang="en-US" altLang="ko-KR" sz="1600" b="1" dirty="0">
                <a:latin typeface="+mn-ea"/>
                <a:ea typeface="+mn-ea"/>
              </a:rPr>
              <a:t>, </a:t>
            </a:r>
            <a:r>
              <a:rPr kumimoji="0" lang="en-US" altLang="ko-KR" sz="1600" b="1" dirty="0" err="1">
                <a:latin typeface="+mn-ea"/>
                <a:ea typeface="+mn-ea"/>
              </a:rPr>
              <a:t>Zst</a:t>
            </a:r>
            <a:r>
              <a:rPr kumimoji="0" lang="en-US" altLang="ko-KR" sz="1600" b="1" dirty="0">
                <a:latin typeface="+mn-ea"/>
                <a:ea typeface="+mn-ea"/>
              </a:rPr>
              <a:t>, and </a:t>
            </a:r>
            <a:r>
              <a:rPr kumimoji="0" lang="en-US" altLang="ko-KR" sz="1600" b="1" dirty="0" err="1">
                <a:latin typeface="+mn-ea"/>
                <a:ea typeface="+mn-ea"/>
              </a:rPr>
              <a:t>Zshift</a:t>
            </a:r>
            <a:r>
              <a:rPr kumimoji="0" lang="en-US" altLang="ko-KR" sz="1600" b="1" dirty="0">
                <a:latin typeface="+mn-ea"/>
                <a:ea typeface="+mn-ea"/>
              </a:rPr>
              <a:t> can be obtained and the direction of improvement can be presented. </a:t>
            </a:r>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160</a:t>
            </a:fld>
            <a:endParaRPr lang="ko-KR" altLang="en-US" dirty="0"/>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161</a:t>
            </a:fld>
            <a:endParaRPr lang="ko-KR" altLang="en-US" dirty="0"/>
          </a:p>
        </p:txBody>
      </p:sp>
      <p:sp>
        <p:nvSpPr>
          <p:cNvPr id="3"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
        <p:nvSpPr>
          <p:cNvPr id="4" name="TextBox 3"/>
          <p:cNvSpPr txBox="1"/>
          <p:nvPr/>
        </p:nvSpPr>
        <p:spPr>
          <a:xfrm>
            <a:off x="517396" y="980728"/>
            <a:ext cx="2452659" cy="452432"/>
          </a:xfrm>
          <a:prstGeom prst="rect">
            <a:avLst/>
          </a:prstGeom>
          <a:noFill/>
        </p:spPr>
        <p:txBody>
          <a:bodyPr wrap="none" rtlCol="0">
            <a:spAutoFit/>
          </a:bodyPr>
          <a:lstStyle/>
          <a:p>
            <a:pPr>
              <a:lnSpc>
                <a:spcPct val="130000"/>
              </a:lnSpc>
              <a:buClr>
                <a:srgbClr val="C5003D"/>
              </a:buClr>
            </a:pPr>
            <a:r>
              <a:rPr lang="en-US" altLang="ko-KR" b="1" dirty="0"/>
              <a:t>What is Dispersion? </a:t>
            </a:r>
            <a:endParaRPr lang="ko-KR" altLang="en-US" b="1" dirty="0"/>
          </a:p>
        </p:txBody>
      </p:sp>
      <p:sp>
        <p:nvSpPr>
          <p:cNvPr id="6" name="직사각형 5"/>
          <p:cNvSpPr/>
          <p:nvPr/>
        </p:nvSpPr>
        <p:spPr>
          <a:xfrm>
            <a:off x="849740" y="1772816"/>
            <a:ext cx="7776864" cy="1708160"/>
          </a:xfrm>
          <a:prstGeom prst="rect">
            <a:avLst/>
          </a:prstGeom>
        </p:spPr>
        <p:txBody>
          <a:bodyPr wrap="square">
            <a:spAutoFit/>
          </a:bodyPr>
          <a:lstStyle/>
          <a:p>
            <a:pPr>
              <a:lnSpc>
                <a:spcPct val="150000"/>
              </a:lnSpc>
              <a:buFont typeface="Arial"/>
              <a:buChar char="•"/>
            </a:pPr>
            <a:r>
              <a:rPr lang="en-US" altLang="ko-KR" sz="1400" i="1" dirty="0"/>
              <a:t>Source</a:t>
            </a:r>
            <a:r>
              <a:rPr lang="ko-KR" altLang="en-US" sz="1400" dirty="0"/>
              <a:t> </a:t>
            </a:r>
            <a:r>
              <a:rPr lang="en-US" altLang="ko-KR" sz="1400" b="1" dirty="0"/>
              <a:t>Social Welfare Dictionary</a:t>
            </a:r>
            <a:endParaRPr lang="en-US" altLang="ko-KR" sz="1400" dirty="0"/>
          </a:p>
          <a:p>
            <a:pPr>
              <a:lnSpc>
                <a:spcPct val="150000"/>
              </a:lnSpc>
            </a:pPr>
            <a:r>
              <a:rPr lang="en-US" altLang="ko-KR" sz="1400" dirty="0"/>
              <a:t>It means the spread of the scattered observed value. Sometimes you want to know how much the observed values are concentrated around the mean or how far they are spread. There are several measures of dispersion for this purpose, such as Range, Quartile de </a:t>
            </a:r>
            <a:r>
              <a:rPr lang="en-US" altLang="ko-KR" sz="1400" dirty="0" err="1"/>
              <a:t>viation</a:t>
            </a:r>
            <a:r>
              <a:rPr lang="en-US" altLang="ko-KR" sz="1400" dirty="0"/>
              <a:t>, Mean Deviation, Standard Deviation, and </a:t>
            </a:r>
            <a:r>
              <a:rPr lang="en-US" altLang="ko-KR" sz="1400" dirty="0" err="1"/>
              <a:t>Gini's</a:t>
            </a:r>
            <a:r>
              <a:rPr lang="en-US" altLang="ko-KR" sz="1400" dirty="0"/>
              <a:t> mean difference.</a:t>
            </a:r>
            <a:endParaRPr lang="en-US" altLang="ko-KR" sz="1400" b="0" i="0" dirty="0">
              <a:solidFill>
                <a:srgbClr val="000000"/>
              </a:solidFill>
              <a:effectLst/>
              <a:latin typeface="Dotum"/>
            </a:endParaRPr>
          </a:p>
        </p:txBody>
      </p:sp>
      <p:sp>
        <p:nvSpPr>
          <p:cNvPr id="7" name="직사각형 6"/>
          <p:cNvSpPr/>
          <p:nvPr/>
        </p:nvSpPr>
        <p:spPr>
          <a:xfrm>
            <a:off x="849740" y="3501009"/>
            <a:ext cx="7776864" cy="1061829"/>
          </a:xfrm>
          <a:prstGeom prst="rect">
            <a:avLst/>
          </a:prstGeom>
        </p:spPr>
        <p:txBody>
          <a:bodyPr wrap="square">
            <a:spAutoFit/>
          </a:bodyPr>
          <a:lstStyle/>
          <a:p>
            <a:pPr>
              <a:lnSpc>
                <a:spcPct val="150000"/>
              </a:lnSpc>
              <a:buFont typeface="Arial"/>
              <a:buChar char="•"/>
            </a:pPr>
            <a:r>
              <a:rPr lang="en-US" altLang="ko-KR" sz="1400" i="1" dirty="0"/>
              <a:t>Source</a:t>
            </a:r>
            <a:r>
              <a:rPr lang="ko-KR" altLang="en-US" sz="1400" dirty="0"/>
              <a:t> </a:t>
            </a:r>
            <a:r>
              <a:rPr lang="en-US" altLang="ko-KR" sz="1400" b="1" dirty="0"/>
              <a:t>Mechanical Engineering Glossary</a:t>
            </a:r>
            <a:endParaRPr lang="en-US" altLang="ko-KR" sz="1400" dirty="0"/>
          </a:p>
          <a:p>
            <a:pPr>
              <a:lnSpc>
                <a:spcPct val="150000"/>
              </a:lnSpc>
            </a:pPr>
            <a:r>
              <a:rPr lang="en-US" altLang="ko-KR" sz="1400" dirty="0"/>
              <a:t>The size of the scattered measurement is uneven. Standard deviations are used to indicate the degree of unevenness of the measurement or the magnitude of the scatter diagram.</a:t>
            </a:r>
          </a:p>
        </p:txBody>
      </p:sp>
      <p:sp>
        <p:nvSpPr>
          <p:cNvPr id="8" name="직사각형 7"/>
          <p:cNvSpPr/>
          <p:nvPr/>
        </p:nvSpPr>
        <p:spPr>
          <a:xfrm>
            <a:off x="849740" y="4706561"/>
            <a:ext cx="7776864" cy="1061829"/>
          </a:xfrm>
          <a:prstGeom prst="rect">
            <a:avLst/>
          </a:prstGeom>
        </p:spPr>
        <p:txBody>
          <a:bodyPr wrap="square">
            <a:spAutoFit/>
          </a:bodyPr>
          <a:lstStyle/>
          <a:p>
            <a:pPr>
              <a:lnSpc>
                <a:spcPct val="150000"/>
              </a:lnSpc>
              <a:buFont typeface="Arial"/>
              <a:buChar char="•"/>
            </a:pPr>
            <a:r>
              <a:rPr lang="en-US" altLang="ko-KR" sz="1400" i="1" dirty="0"/>
              <a:t>Source</a:t>
            </a:r>
            <a:r>
              <a:rPr lang="ko-KR" altLang="en-US" sz="1400" dirty="0"/>
              <a:t> </a:t>
            </a:r>
            <a:r>
              <a:rPr lang="en-US" altLang="ko-KR" sz="1400" b="1" dirty="0"/>
              <a:t>Agricultural dictionary: RDA</a:t>
            </a:r>
            <a:endParaRPr lang="en-US" altLang="ko-KR" sz="1400" dirty="0"/>
          </a:p>
          <a:p>
            <a:pPr>
              <a:lnSpc>
                <a:spcPct val="150000"/>
              </a:lnSpc>
            </a:pPr>
            <a:r>
              <a:rPr lang="en-US" altLang="ko-KR" sz="1400" dirty="0"/>
              <a:t>The fact that the creatures are actually scattered on the surface of the earth, </a:t>
            </a:r>
            <a:r>
              <a:rPr lang="en-US" altLang="ko-KR" sz="1400" dirty="0" err="1"/>
              <a:t>ie</a:t>
            </a:r>
            <a:r>
              <a:rPr lang="en-US" altLang="ko-KR" sz="1400" dirty="0"/>
              <a:t> the transport of </a:t>
            </a:r>
            <a:r>
              <a:rPr lang="en-US" altLang="ko-KR" sz="1400" dirty="0" err="1"/>
              <a:t>diaspore</a:t>
            </a:r>
            <a:r>
              <a:rPr lang="en-US" altLang="ko-KR" sz="1400" dirty="0"/>
              <a:t>.</a:t>
            </a:r>
            <a:endParaRPr lang="en-US" altLang="ko-KR" sz="1400" b="0" i="0" dirty="0">
              <a:solidFill>
                <a:srgbClr val="000000"/>
              </a:solidFill>
              <a:effectLst/>
              <a:latin typeface="Dotum"/>
            </a:endParaRPr>
          </a:p>
        </p:txBody>
      </p:sp>
    </p:spTree>
    <p:extLst>
      <p:ext uri="{BB962C8B-B14F-4D97-AF65-F5344CB8AC3E}">
        <p14:creationId xmlns:p14="http://schemas.microsoft.com/office/powerpoint/2010/main" val="727630025"/>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제목 5"/>
          <p:cNvSpPr txBox="1">
            <a:spLocks/>
          </p:cNvSpPr>
          <p:nvPr/>
        </p:nvSpPr>
        <p:spPr bwMode="auto">
          <a:xfrm>
            <a:off x="384458" y="980728"/>
            <a:ext cx="8242146" cy="706438"/>
          </a:xfrm>
          <a:prstGeom prst="rect">
            <a:avLst/>
          </a:prstGeom>
          <a:noFill/>
          <a:ln w="9525">
            <a:noFill/>
            <a:prstDash val="sysDash"/>
            <a:miter lim="800000"/>
            <a:headEnd/>
            <a:tailEnd/>
          </a:ln>
        </p:spPr>
        <p:txBody>
          <a:bodyPr anchor="ctr"/>
          <a:lstStyle/>
          <a:p>
            <a:pPr algn="ctr"/>
            <a:r>
              <a:rPr lang="en-US" altLang="ko-KR" sz="3600" b="1" dirty="0">
                <a:solidFill>
                  <a:srgbClr val="C5003D"/>
                </a:solidFill>
                <a:latin typeface="맑은 고딕" pitchFamily="50" charset="-127"/>
                <a:ea typeface="맑은 고딕" pitchFamily="50" charset="-127"/>
              </a:rPr>
              <a:t>Chapter 3. </a:t>
            </a:r>
            <a:r>
              <a:rPr lang="en-US" altLang="ko-KR" sz="3600" b="1" dirty="0" err="1">
                <a:solidFill>
                  <a:srgbClr val="C5003D"/>
                </a:solidFill>
                <a:latin typeface="맑은 고딕" pitchFamily="50" charset="-127"/>
                <a:ea typeface="맑은 고딕" pitchFamily="50" charset="-127"/>
              </a:rPr>
              <a:t>Phân</a:t>
            </a:r>
            <a:r>
              <a:rPr lang="en-US" altLang="ko-KR" sz="3600" b="1" dirty="0">
                <a:solidFill>
                  <a:srgbClr val="C5003D"/>
                </a:solidFill>
                <a:latin typeface="맑은 고딕" pitchFamily="50" charset="-127"/>
                <a:ea typeface="맑은 고딕" pitchFamily="50" charset="-127"/>
              </a:rPr>
              <a:t> </a:t>
            </a:r>
            <a:r>
              <a:rPr lang="en-US" altLang="ko-KR" sz="3600" b="1" dirty="0" err="1">
                <a:solidFill>
                  <a:srgbClr val="C5003D"/>
                </a:solidFill>
                <a:latin typeface="맑은 고딕" pitchFamily="50" charset="-127"/>
                <a:ea typeface="맑은 고딕" pitchFamily="50" charset="-127"/>
              </a:rPr>
              <a:t>tích</a:t>
            </a:r>
            <a:r>
              <a:rPr lang="en-US" altLang="ko-KR" sz="3600" b="1" dirty="0">
                <a:solidFill>
                  <a:srgbClr val="C5003D"/>
                </a:solidFill>
                <a:latin typeface="맑은 고딕" pitchFamily="50" charset="-127"/>
                <a:ea typeface="맑은 고딕" pitchFamily="50" charset="-127"/>
              </a:rPr>
              <a:t> </a:t>
            </a:r>
            <a:r>
              <a:rPr lang="en-US" altLang="ko-KR" sz="3600" b="1" dirty="0" err="1">
                <a:solidFill>
                  <a:srgbClr val="C5003D"/>
                </a:solidFill>
                <a:latin typeface="맑은 고딕" pitchFamily="50" charset="-127"/>
                <a:ea typeface="맑은 고딕" pitchFamily="50" charset="-127"/>
              </a:rPr>
              <a:t>năng</a:t>
            </a:r>
            <a:r>
              <a:rPr lang="en-US" altLang="ko-KR" sz="3600" b="1" dirty="0">
                <a:solidFill>
                  <a:srgbClr val="C5003D"/>
                </a:solidFill>
                <a:latin typeface="맑은 고딕" pitchFamily="50" charset="-127"/>
                <a:ea typeface="맑은 고딕" pitchFamily="50" charset="-127"/>
              </a:rPr>
              <a:t> </a:t>
            </a:r>
            <a:r>
              <a:rPr lang="en-US" altLang="ko-KR" sz="3600" b="1" dirty="0" err="1">
                <a:solidFill>
                  <a:srgbClr val="C5003D"/>
                </a:solidFill>
                <a:latin typeface="맑은 고딕" pitchFamily="50" charset="-127"/>
                <a:ea typeface="맑은 고딕" pitchFamily="50" charset="-127"/>
              </a:rPr>
              <a:t>lực</a:t>
            </a:r>
            <a:r>
              <a:rPr lang="en-US" altLang="ko-KR" sz="3600" b="1" dirty="0">
                <a:solidFill>
                  <a:srgbClr val="C5003D"/>
                </a:solidFill>
                <a:latin typeface="맑은 고딕" pitchFamily="50" charset="-127"/>
                <a:ea typeface="맑은 고딕" pitchFamily="50" charset="-127"/>
              </a:rPr>
              <a:t> process</a:t>
            </a:r>
            <a:endParaRPr lang="ko-KR" altLang="en-US" sz="3600" b="1" dirty="0">
              <a:solidFill>
                <a:srgbClr val="C5003D"/>
              </a:solidFill>
              <a:latin typeface="맑은 고딕" pitchFamily="50" charset="-127"/>
              <a:ea typeface="맑은 고딕" pitchFamily="50" charset="-127"/>
            </a:endParaRPr>
          </a:p>
        </p:txBody>
      </p:sp>
      <p:sp>
        <p:nvSpPr>
          <p:cNvPr id="5" name="직사각형 4"/>
          <p:cNvSpPr/>
          <p:nvPr/>
        </p:nvSpPr>
        <p:spPr>
          <a:xfrm>
            <a:off x="2369527" y="4055100"/>
            <a:ext cx="4564673" cy="948978"/>
          </a:xfrm>
          <a:prstGeom prst="rect">
            <a:avLst/>
          </a:prstGeom>
        </p:spPr>
        <p:txBody>
          <a:bodyPr>
            <a:spAutoFit/>
          </a:bodyPr>
          <a:lstStyle/>
          <a:p>
            <a:pPr marL="342900" indent="-342900" fontAlgn="auto">
              <a:lnSpc>
                <a:spcPct val="150000"/>
              </a:lnSpc>
              <a:spcBef>
                <a:spcPts val="200"/>
              </a:spcBef>
              <a:spcAft>
                <a:spcPts val="0"/>
              </a:spcAft>
              <a:buAutoNum type="arabicParenBoth"/>
              <a:defRPr/>
            </a:pPr>
            <a:r>
              <a:rPr lang="en-US" altLang="ko-KR" b="1" dirty="0" err="1">
                <a:latin typeface="맑은 고딕" pitchFamily="50" charset="-127"/>
                <a:ea typeface="맑은 고딕" pitchFamily="50" charset="-127"/>
              </a:rPr>
              <a:t>Tìm</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hiểu</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về</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phân</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tán</a:t>
            </a:r>
            <a:endParaRPr lang="en-US" altLang="ko-KR" b="1" dirty="0">
              <a:latin typeface="맑은 고딕" pitchFamily="50" charset="-127"/>
              <a:ea typeface="맑은 고딕" pitchFamily="50" charset="-127"/>
            </a:endParaRPr>
          </a:p>
          <a:p>
            <a:pPr marL="342900" indent="-342900" fontAlgn="auto">
              <a:lnSpc>
                <a:spcPct val="150000"/>
              </a:lnSpc>
              <a:spcBef>
                <a:spcPts val="200"/>
              </a:spcBef>
              <a:spcAft>
                <a:spcPts val="0"/>
              </a:spcAft>
              <a:buAutoNum type="arabicParenBoth"/>
              <a:defRPr/>
            </a:pPr>
            <a:r>
              <a:rPr lang="en-US" altLang="ko-KR" b="1" dirty="0" err="1">
                <a:latin typeface="맑은 고딕" pitchFamily="50" charset="-127"/>
                <a:ea typeface="맑은 고딕" pitchFamily="50" charset="-127"/>
              </a:rPr>
              <a:t>Phân</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tích</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năng</a:t>
            </a:r>
            <a:r>
              <a:rPr lang="en-US" altLang="ko-KR" b="1" dirty="0">
                <a:latin typeface="맑은 고딕" pitchFamily="50" charset="-127"/>
                <a:ea typeface="맑은 고딕" pitchFamily="50" charset="-127"/>
              </a:rPr>
              <a:t> </a:t>
            </a:r>
            <a:r>
              <a:rPr lang="en-US" altLang="ko-KR" b="1" dirty="0" err="1">
                <a:latin typeface="맑은 고딕" pitchFamily="50" charset="-127"/>
                <a:ea typeface="맑은 고딕" pitchFamily="50" charset="-127"/>
              </a:rPr>
              <a:t>lực</a:t>
            </a:r>
            <a:r>
              <a:rPr lang="en-US" altLang="ko-KR" b="1" dirty="0">
                <a:latin typeface="맑은 고딕" pitchFamily="50" charset="-127"/>
                <a:ea typeface="맑은 고딕" pitchFamily="50" charset="-127"/>
              </a:rPr>
              <a:t> process</a:t>
            </a:r>
          </a:p>
        </p:txBody>
      </p:sp>
      <p:cxnSp>
        <p:nvCxnSpPr>
          <p:cNvPr id="6" name="직선 연결선 5"/>
          <p:cNvCxnSpPr/>
          <p:nvPr/>
        </p:nvCxnSpPr>
        <p:spPr>
          <a:xfrm>
            <a:off x="2123352" y="3789140"/>
            <a:ext cx="4825511"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112659" y="5157192"/>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2123352" y="3862165"/>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253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9569" y="2201516"/>
            <a:ext cx="678474" cy="679450"/>
          </a:xfrm>
          <a:prstGeom prst="rect">
            <a:avLst/>
          </a:prstGeom>
          <a:noFill/>
          <a:ln w="9525">
            <a:noFill/>
            <a:miter lim="800000"/>
            <a:headEnd/>
            <a:tailEnd/>
          </a:ln>
        </p:spPr>
      </p:pic>
      <p:sp>
        <p:nvSpPr>
          <p:cNvPr id="10" name="모서리가 둥근 직사각형 9"/>
          <p:cNvSpPr/>
          <p:nvPr/>
        </p:nvSpPr>
        <p:spPr>
          <a:xfrm>
            <a:off x="732699" y="1917372"/>
            <a:ext cx="7728438" cy="1223963"/>
          </a:xfrm>
          <a:prstGeom prst="roundRect">
            <a:avLst>
              <a:gd name="adj" fmla="val 8852"/>
            </a:avLst>
          </a:prstGeom>
          <a:noFill/>
          <a:ln>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kumimoji="0" lang="ko-KR" altLang="en-US" dirty="0"/>
          </a:p>
        </p:txBody>
      </p:sp>
      <p:sp>
        <p:nvSpPr>
          <p:cNvPr id="21" name="TextBox 20"/>
          <p:cNvSpPr txBox="1"/>
          <p:nvPr/>
        </p:nvSpPr>
        <p:spPr>
          <a:xfrm>
            <a:off x="1580899" y="1988841"/>
            <a:ext cx="7378050" cy="992579"/>
          </a:xfrm>
          <a:prstGeom prst="rect">
            <a:avLst/>
          </a:prstGeom>
          <a:noFill/>
        </p:spPr>
        <p:txBody>
          <a:bodyPr wrap="square">
            <a:spAutoFit/>
          </a:bodyPr>
          <a:lstStyle/>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1500" b="1" dirty="0" err="1">
                <a:latin typeface="+mn-ea"/>
                <a:ea typeface="+mn-ea"/>
              </a:rPr>
              <a:t>Tìm</a:t>
            </a:r>
            <a:r>
              <a:rPr kumimoji="0" lang="en-US" altLang="ko-KR" sz="1500" b="1" dirty="0">
                <a:latin typeface="+mn-ea"/>
                <a:ea typeface="+mn-ea"/>
              </a:rPr>
              <a:t> </a:t>
            </a:r>
            <a:r>
              <a:rPr kumimoji="0" lang="en-US" altLang="ko-KR" sz="1500" b="1" dirty="0" err="1">
                <a:latin typeface="+mn-ea"/>
                <a:ea typeface="+mn-ea"/>
              </a:rPr>
              <a:t>hiểu</a:t>
            </a:r>
            <a:r>
              <a:rPr kumimoji="0" lang="en-US" altLang="ko-KR" sz="1500" b="1" dirty="0">
                <a:latin typeface="+mn-ea"/>
                <a:ea typeface="+mn-ea"/>
              </a:rPr>
              <a:t> </a:t>
            </a:r>
            <a:r>
              <a:rPr kumimoji="0" lang="en-US" altLang="ko-KR" sz="1500" b="1" dirty="0" err="1">
                <a:latin typeface="+mn-ea"/>
                <a:ea typeface="+mn-ea"/>
              </a:rPr>
              <a:t>về</a:t>
            </a:r>
            <a:r>
              <a:rPr kumimoji="0" lang="en-US" altLang="ko-KR" sz="1500" b="1" dirty="0">
                <a:latin typeface="+mn-ea"/>
                <a:ea typeface="+mn-ea"/>
              </a:rPr>
              <a:t> </a:t>
            </a:r>
            <a:r>
              <a:rPr kumimoji="0" lang="en-US" altLang="ko-KR" sz="1500" b="1" dirty="0" err="1">
                <a:latin typeface="+mn-ea"/>
                <a:ea typeface="+mn-ea"/>
              </a:rPr>
              <a:t>phân</a:t>
            </a:r>
            <a:r>
              <a:rPr kumimoji="0" lang="en-US" altLang="ko-KR" sz="1500" b="1" dirty="0">
                <a:latin typeface="+mn-ea"/>
                <a:ea typeface="+mn-ea"/>
              </a:rPr>
              <a:t> </a:t>
            </a:r>
            <a:r>
              <a:rPr kumimoji="0" lang="en-US" altLang="ko-KR" sz="1500" b="1" dirty="0" err="1">
                <a:latin typeface="+mn-ea"/>
                <a:ea typeface="+mn-ea"/>
              </a:rPr>
              <a:t>tích</a:t>
            </a:r>
            <a:r>
              <a:rPr kumimoji="0" lang="en-US" altLang="ko-KR" sz="1500" b="1" dirty="0">
                <a:latin typeface="+mn-ea"/>
                <a:ea typeface="+mn-ea"/>
              </a:rPr>
              <a:t> </a:t>
            </a:r>
            <a:r>
              <a:rPr kumimoji="0" lang="en-US" altLang="ko-KR" sz="1500" b="1" dirty="0" err="1">
                <a:latin typeface="+mn-ea"/>
                <a:ea typeface="+mn-ea"/>
              </a:rPr>
              <a:t>năng</a:t>
            </a:r>
            <a:r>
              <a:rPr kumimoji="0" lang="en-US" altLang="ko-KR" sz="1500" b="1" dirty="0">
                <a:latin typeface="+mn-ea"/>
                <a:ea typeface="+mn-ea"/>
              </a:rPr>
              <a:t> </a:t>
            </a:r>
            <a:r>
              <a:rPr kumimoji="0" lang="en-US" altLang="ko-KR" sz="1500" b="1" dirty="0" err="1">
                <a:latin typeface="+mn-ea"/>
                <a:ea typeface="+mn-ea"/>
              </a:rPr>
              <a:t>lực</a:t>
            </a:r>
            <a:r>
              <a:rPr kumimoji="0" lang="en-US" altLang="ko-KR" sz="1500" b="1" dirty="0">
                <a:latin typeface="+mn-ea"/>
                <a:ea typeface="+mn-ea"/>
              </a:rPr>
              <a:t> process</a:t>
            </a:r>
          </a:p>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1500" b="1" dirty="0" err="1">
                <a:latin typeface="+mn-ea"/>
                <a:ea typeface="+mn-ea"/>
              </a:rPr>
              <a:t>Để</a:t>
            </a:r>
            <a:r>
              <a:rPr kumimoji="0" lang="en-US" altLang="ko-KR" sz="1500" b="1" dirty="0">
                <a:latin typeface="+mn-ea"/>
                <a:ea typeface="+mn-ea"/>
              </a:rPr>
              <a:t> </a:t>
            </a:r>
            <a:r>
              <a:rPr kumimoji="0" lang="en-US" altLang="ko-KR" sz="1500" b="1" dirty="0" err="1">
                <a:latin typeface="+mn-ea"/>
                <a:ea typeface="+mn-ea"/>
              </a:rPr>
              <a:t>tìm</a:t>
            </a:r>
            <a:r>
              <a:rPr kumimoji="0" lang="en-US" altLang="ko-KR" sz="1500" b="1" dirty="0">
                <a:latin typeface="+mn-ea"/>
                <a:ea typeface="+mn-ea"/>
              </a:rPr>
              <a:t> </a:t>
            </a:r>
            <a:r>
              <a:rPr kumimoji="0" lang="en-US" altLang="ko-KR" sz="1500" b="1" dirty="0" err="1">
                <a:latin typeface="+mn-ea"/>
                <a:ea typeface="+mn-ea"/>
              </a:rPr>
              <a:t>được</a:t>
            </a:r>
            <a:r>
              <a:rPr kumimoji="0" lang="en-US" altLang="ko-KR" sz="1500" b="1" dirty="0">
                <a:latin typeface="+mn-ea"/>
                <a:ea typeface="+mn-ea"/>
              </a:rPr>
              <a:t> </a:t>
            </a:r>
            <a:r>
              <a:rPr kumimoji="0" lang="en-US" altLang="ko-KR" sz="1500" b="1" dirty="0" err="1">
                <a:latin typeface="+mn-ea"/>
                <a:ea typeface="+mn-ea"/>
              </a:rPr>
              <a:t>Giá</a:t>
            </a:r>
            <a:r>
              <a:rPr kumimoji="0" lang="en-US" altLang="ko-KR" sz="1500" b="1" dirty="0">
                <a:latin typeface="+mn-ea"/>
                <a:ea typeface="+mn-ea"/>
              </a:rPr>
              <a:t> </a:t>
            </a:r>
            <a:r>
              <a:rPr kumimoji="0" lang="en-US" altLang="ko-KR" sz="1500" b="1" dirty="0" err="1">
                <a:latin typeface="+mn-ea"/>
                <a:ea typeface="+mn-ea"/>
              </a:rPr>
              <a:t>trị</a:t>
            </a:r>
            <a:r>
              <a:rPr kumimoji="0" lang="en-US" altLang="ko-KR" sz="1500" b="1" dirty="0">
                <a:latin typeface="+mn-ea"/>
                <a:ea typeface="+mn-ea"/>
              </a:rPr>
              <a:t> Cp, </a:t>
            </a:r>
            <a:r>
              <a:rPr kumimoji="0" lang="en-US" altLang="ko-KR" sz="1500" b="1" dirty="0" err="1">
                <a:latin typeface="+mn-ea"/>
                <a:ea typeface="+mn-ea"/>
              </a:rPr>
              <a:t>Cpk</a:t>
            </a:r>
            <a:r>
              <a:rPr kumimoji="0" lang="ko-KR" altLang="en-US" sz="1500" b="1" dirty="0">
                <a:latin typeface="+mn-ea"/>
                <a:ea typeface="+mn-ea"/>
              </a:rPr>
              <a:t> </a:t>
            </a:r>
            <a:r>
              <a:rPr kumimoji="0" lang="en-US" altLang="ko-KR" sz="1500" b="1" dirty="0" err="1">
                <a:latin typeface="+mn-ea"/>
                <a:ea typeface="+mn-ea"/>
              </a:rPr>
              <a:t>và</a:t>
            </a:r>
            <a:r>
              <a:rPr kumimoji="0" lang="ko-KR" altLang="en-US" sz="1500" b="1" dirty="0">
                <a:latin typeface="+mn-ea"/>
                <a:ea typeface="+mn-ea"/>
              </a:rPr>
              <a:t> </a:t>
            </a:r>
            <a:r>
              <a:rPr kumimoji="0" lang="en-US" altLang="ko-KR" sz="1500" b="1" dirty="0">
                <a:latin typeface="+mn-ea"/>
                <a:ea typeface="+mn-ea"/>
              </a:rPr>
              <a:t>Pp, </a:t>
            </a:r>
            <a:r>
              <a:rPr kumimoji="0" lang="en-US" altLang="ko-KR" sz="1500" b="1" dirty="0" err="1">
                <a:latin typeface="+mn-ea"/>
                <a:ea typeface="+mn-ea"/>
              </a:rPr>
              <a:t>Ppk</a:t>
            </a:r>
            <a:r>
              <a:rPr kumimoji="0" lang="en-US" altLang="ko-KR" sz="1500" b="1" dirty="0">
                <a:latin typeface="+mn-ea"/>
                <a:ea typeface="+mn-ea"/>
              </a:rPr>
              <a:t>.</a:t>
            </a:r>
          </a:p>
          <a:p>
            <a:pPr marL="266700" indent="-266700" fontAlgn="auto">
              <a:lnSpc>
                <a:spcPct val="130000"/>
              </a:lnSpc>
              <a:spcBef>
                <a:spcPts val="0"/>
              </a:spcBef>
              <a:spcAft>
                <a:spcPts val="0"/>
              </a:spcAft>
              <a:buClr>
                <a:schemeClr val="bg1">
                  <a:lumMod val="50000"/>
                </a:schemeClr>
              </a:buClr>
              <a:buFont typeface="Wingdings" pitchFamily="2" charset="2"/>
              <a:buChar char="u"/>
              <a:defRPr/>
            </a:pPr>
            <a:r>
              <a:rPr kumimoji="0" lang="en-US" altLang="ko-KR" sz="1500" b="1" dirty="0" err="1">
                <a:latin typeface="+mn-ea"/>
                <a:ea typeface="+mn-ea"/>
              </a:rPr>
              <a:t>Nếu</a:t>
            </a:r>
            <a:r>
              <a:rPr kumimoji="0" lang="en-US" altLang="ko-KR" sz="1500" b="1" dirty="0">
                <a:latin typeface="+mn-ea"/>
                <a:ea typeface="+mn-ea"/>
              </a:rPr>
              <a:t> </a:t>
            </a:r>
            <a:r>
              <a:rPr kumimoji="0" lang="en-US" altLang="ko-KR" sz="1500" b="1" dirty="0" err="1">
                <a:latin typeface="+mn-ea"/>
                <a:ea typeface="+mn-ea"/>
              </a:rPr>
              <a:t>có</a:t>
            </a:r>
            <a:r>
              <a:rPr kumimoji="0" lang="en-US" altLang="ko-KR" sz="1500" b="1" dirty="0">
                <a:latin typeface="+mn-ea"/>
                <a:ea typeface="+mn-ea"/>
              </a:rPr>
              <a:t> </a:t>
            </a:r>
            <a:r>
              <a:rPr kumimoji="0" lang="en-US" altLang="ko-KR" sz="1500" b="1" dirty="0" err="1">
                <a:latin typeface="+mn-ea"/>
                <a:ea typeface="+mn-ea"/>
              </a:rPr>
              <a:t>thể</a:t>
            </a:r>
            <a:r>
              <a:rPr kumimoji="0" lang="en-US" altLang="ko-KR" sz="1500" b="1" dirty="0">
                <a:latin typeface="+mn-ea"/>
                <a:ea typeface="+mn-ea"/>
              </a:rPr>
              <a:t> </a:t>
            </a:r>
            <a:r>
              <a:rPr kumimoji="0" lang="en-US" altLang="ko-KR" sz="1500" b="1" dirty="0" err="1">
                <a:latin typeface="+mn-ea"/>
                <a:ea typeface="+mn-ea"/>
              </a:rPr>
              <a:t>tìm</a:t>
            </a:r>
            <a:r>
              <a:rPr kumimoji="0" lang="en-US" altLang="ko-KR" sz="1500" b="1" dirty="0">
                <a:latin typeface="+mn-ea"/>
                <a:ea typeface="+mn-ea"/>
              </a:rPr>
              <a:t> </a:t>
            </a:r>
            <a:r>
              <a:rPr kumimoji="0" lang="en-US" altLang="ko-KR" sz="1500" b="1" dirty="0" err="1">
                <a:latin typeface="+mn-ea"/>
                <a:ea typeface="+mn-ea"/>
              </a:rPr>
              <a:t>được</a:t>
            </a:r>
            <a:r>
              <a:rPr kumimoji="0" lang="en-US" altLang="ko-KR" sz="1500" b="1" dirty="0">
                <a:latin typeface="+mn-ea"/>
                <a:ea typeface="+mn-ea"/>
              </a:rPr>
              <a:t> </a:t>
            </a:r>
            <a:r>
              <a:rPr kumimoji="0" lang="en-US" altLang="ko-KR" sz="1500" b="1" dirty="0" err="1">
                <a:latin typeface="+mn-ea"/>
                <a:ea typeface="+mn-ea"/>
              </a:rPr>
              <a:t>Zlt</a:t>
            </a:r>
            <a:r>
              <a:rPr kumimoji="0" lang="en-US" altLang="ko-KR" sz="1500" b="1" dirty="0">
                <a:latin typeface="+mn-ea"/>
                <a:ea typeface="+mn-ea"/>
              </a:rPr>
              <a:t>, </a:t>
            </a:r>
            <a:r>
              <a:rPr kumimoji="0" lang="en-US" altLang="ko-KR" sz="1500" b="1" dirty="0" err="1">
                <a:latin typeface="+mn-ea"/>
                <a:ea typeface="+mn-ea"/>
              </a:rPr>
              <a:t>Zst</a:t>
            </a:r>
            <a:r>
              <a:rPr kumimoji="0" lang="en-US" altLang="ko-KR" sz="1500" b="1" dirty="0">
                <a:latin typeface="+mn-ea"/>
                <a:ea typeface="+mn-ea"/>
              </a:rPr>
              <a:t>, </a:t>
            </a:r>
            <a:r>
              <a:rPr kumimoji="0" lang="en-US" altLang="ko-KR" sz="1500" b="1" dirty="0" err="1">
                <a:latin typeface="+mn-ea"/>
                <a:ea typeface="+mn-ea"/>
              </a:rPr>
              <a:t>Zshift</a:t>
            </a:r>
            <a:r>
              <a:rPr kumimoji="0" lang="ko-KR" altLang="en-US" sz="1500" b="1" dirty="0">
                <a:latin typeface="+mn-ea"/>
                <a:ea typeface="+mn-ea"/>
              </a:rPr>
              <a:t> </a:t>
            </a:r>
            <a:r>
              <a:rPr kumimoji="0" lang="en-US" altLang="ko-KR" sz="1500" b="1" dirty="0" err="1">
                <a:latin typeface="+mn-ea"/>
                <a:ea typeface="+mn-ea"/>
              </a:rPr>
              <a:t>có</a:t>
            </a:r>
            <a:r>
              <a:rPr kumimoji="0" lang="en-US" altLang="ko-KR" sz="1500" b="1" dirty="0">
                <a:latin typeface="+mn-ea"/>
                <a:ea typeface="+mn-ea"/>
              </a:rPr>
              <a:t> </a:t>
            </a:r>
            <a:r>
              <a:rPr kumimoji="0" lang="en-US" altLang="ko-KR" sz="1500" b="1" dirty="0" err="1">
                <a:latin typeface="+mn-ea"/>
                <a:ea typeface="+mn-ea"/>
              </a:rPr>
              <a:t>thể</a:t>
            </a:r>
            <a:r>
              <a:rPr kumimoji="0" lang="en-US" altLang="ko-KR" sz="1500" b="1" dirty="0">
                <a:latin typeface="+mn-ea"/>
                <a:ea typeface="+mn-ea"/>
              </a:rPr>
              <a:t> </a:t>
            </a:r>
            <a:r>
              <a:rPr kumimoji="0" lang="en-US" altLang="ko-KR" sz="1500" b="1" dirty="0" err="1">
                <a:latin typeface="+mn-ea"/>
                <a:ea typeface="+mn-ea"/>
              </a:rPr>
              <a:t>đưa</a:t>
            </a:r>
            <a:r>
              <a:rPr kumimoji="0" lang="en-US" altLang="ko-KR" sz="1500" b="1" dirty="0">
                <a:latin typeface="+mn-ea"/>
                <a:ea typeface="+mn-ea"/>
              </a:rPr>
              <a:t> </a:t>
            </a:r>
            <a:r>
              <a:rPr kumimoji="0" lang="en-US" altLang="ko-KR" sz="1500" b="1" dirty="0" err="1">
                <a:latin typeface="+mn-ea"/>
                <a:ea typeface="+mn-ea"/>
              </a:rPr>
              <a:t>ra</a:t>
            </a:r>
            <a:r>
              <a:rPr kumimoji="0" lang="en-US" altLang="ko-KR" sz="1500" b="1" dirty="0">
                <a:latin typeface="+mn-ea"/>
                <a:ea typeface="+mn-ea"/>
              </a:rPr>
              <a:t> </a:t>
            </a:r>
            <a:r>
              <a:rPr kumimoji="0" lang="en-US" altLang="ko-KR" sz="1500" b="1" dirty="0" err="1">
                <a:latin typeface="+mn-ea"/>
                <a:ea typeface="+mn-ea"/>
              </a:rPr>
              <a:t>phương</a:t>
            </a:r>
            <a:r>
              <a:rPr kumimoji="0" lang="en-US" altLang="ko-KR" sz="1500" b="1" dirty="0">
                <a:latin typeface="+mn-ea"/>
                <a:ea typeface="+mn-ea"/>
              </a:rPr>
              <a:t> </a:t>
            </a:r>
            <a:r>
              <a:rPr kumimoji="0" lang="en-US" altLang="ko-KR" sz="1500" b="1" dirty="0" err="1">
                <a:latin typeface="+mn-ea"/>
                <a:ea typeface="+mn-ea"/>
              </a:rPr>
              <a:t>hướng</a:t>
            </a:r>
            <a:r>
              <a:rPr kumimoji="0" lang="en-US" altLang="ko-KR" sz="1500" b="1" dirty="0">
                <a:latin typeface="+mn-ea"/>
                <a:ea typeface="+mn-ea"/>
              </a:rPr>
              <a:t> </a:t>
            </a:r>
            <a:r>
              <a:rPr kumimoji="0" lang="en-US" altLang="ko-KR" sz="1500" b="1" dirty="0" err="1">
                <a:latin typeface="+mn-ea"/>
                <a:ea typeface="+mn-ea"/>
              </a:rPr>
              <a:t>cải</a:t>
            </a:r>
            <a:r>
              <a:rPr kumimoji="0" lang="en-US" altLang="ko-KR" sz="1500" b="1" dirty="0">
                <a:latin typeface="+mn-ea"/>
                <a:ea typeface="+mn-ea"/>
              </a:rPr>
              <a:t> </a:t>
            </a:r>
            <a:r>
              <a:rPr kumimoji="0" lang="en-US" altLang="ko-KR" sz="1500" b="1" dirty="0" err="1">
                <a:latin typeface="+mn-ea"/>
                <a:ea typeface="+mn-ea"/>
              </a:rPr>
              <a:t>thiện</a:t>
            </a:r>
            <a:endParaRPr kumimoji="0" lang="en-US" altLang="ko-KR" sz="1500" b="1" dirty="0">
              <a:latin typeface="+mn-ea"/>
              <a:ea typeface="+mn-ea"/>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Gulim" pitchFamily="34" charset="-127"/>
                <a:ea typeface="Gulim" pitchFamily="34" charset="-127"/>
              </a:rPr>
              <a:pPr algn="ctr">
                <a:defRPr/>
              </a:pPr>
              <a:t>163</a:t>
            </a:fld>
            <a:endParaRPr lang="ko-KR" altLang="en-US" dirty="0">
              <a:latin typeface="Gulim" pitchFamily="34" charset="-127"/>
              <a:ea typeface="Gulim" pitchFamily="34" charset="-127"/>
            </a:endParaRPr>
          </a:p>
        </p:txBody>
      </p:sp>
      <p:sp>
        <p:nvSpPr>
          <p:cNvPr id="3" name="Text Box 39"/>
          <p:cNvSpPr txBox="1">
            <a:spLocks noChangeArrowheads="1"/>
          </p:cNvSpPr>
          <p:nvPr/>
        </p:nvSpPr>
        <p:spPr bwMode="auto">
          <a:xfrm>
            <a:off x="234902" y="116632"/>
            <a:ext cx="3161443" cy="400110"/>
          </a:xfrm>
          <a:prstGeom prst="rect">
            <a:avLst/>
          </a:prstGeom>
          <a:noFill/>
          <a:ln w="9525">
            <a:noFill/>
            <a:miter lim="800000"/>
            <a:headEnd/>
            <a:tailEnd/>
          </a:ln>
        </p:spPr>
        <p:txBody>
          <a:bodyPr wrap="none">
            <a:spAutoFit/>
          </a:bodyPr>
          <a:lstStyle/>
          <a:p>
            <a:r>
              <a:rPr lang="en-US" altLang="ko-KR" sz="2000" b="1" dirty="0" err="1">
                <a:latin typeface="Gulim" pitchFamily="34" charset="-127"/>
                <a:ea typeface="Gulim" pitchFamily="34" charset="-127"/>
              </a:rPr>
              <a:t>Tìm</a:t>
            </a:r>
            <a:r>
              <a:rPr lang="en-US" altLang="ko-KR" sz="2000" b="1" dirty="0">
                <a:latin typeface="Gulim" pitchFamily="34" charset="-127"/>
                <a:ea typeface="Gulim" pitchFamily="34" charset="-127"/>
              </a:rPr>
              <a:t> </a:t>
            </a:r>
            <a:r>
              <a:rPr lang="en-US" altLang="ko-KR" sz="2000" b="1" dirty="0" err="1">
                <a:latin typeface="Gulim" pitchFamily="34" charset="-127"/>
                <a:ea typeface="Gulim" pitchFamily="34" charset="-127"/>
              </a:rPr>
              <a:t>hiểu</a:t>
            </a:r>
            <a:r>
              <a:rPr lang="en-US" altLang="ko-KR" sz="2000" b="1" dirty="0">
                <a:latin typeface="Gulim" pitchFamily="34" charset="-127"/>
                <a:ea typeface="Gulim" pitchFamily="34" charset="-127"/>
              </a:rPr>
              <a:t> </a:t>
            </a:r>
            <a:r>
              <a:rPr lang="en-US" altLang="ko-KR" sz="2000" b="1" dirty="0" err="1">
                <a:latin typeface="Gulim" pitchFamily="34" charset="-127"/>
                <a:ea typeface="Gulim" pitchFamily="34" charset="-127"/>
              </a:rPr>
              <a:t>về</a:t>
            </a:r>
            <a:r>
              <a:rPr lang="en-US" altLang="ko-KR" sz="2000" b="1" dirty="0">
                <a:latin typeface="Gulim" pitchFamily="34" charset="-127"/>
                <a:ea typeface="Gulim" pitchFamily="34" charset="-127"/>
              </a:rPr>
              <a:t> </a:t>
            </a:r>
            <a:r>
              <a:rPr lang="en-US" altLang="ko-KR" sz="2000" b="1" dirty="0" err="1">
                <a:latin typeface="Gulim" pitchFamily="34" charset="-127"/>
                <a:ea typeface="Gulim" pitchFamily="34" charset="-127"/>
              </a:rPr>
              <a:t>sự</a:t>
            </a:r>
            <a:r>
              <a:rPr lang="en-US" altLang="ko-KR" sz="2000" b="1" dirty="0">
                <a:latin typeface="Gulim" pitchFamily="34" charset="-127"/>
                <a:ea typeface="Gulim" pitchFamily="34" charset="-127"/>
              </a:rPr>
              <a:t> </a:t>
            </a:r>
            <a:r>
              <a:rPr lang="en-US" altLang="ko-KR" sz="2000" b="1" dirty="0" err="1">
                <a:latin typeface="Gulim" pitchFamily="34" charset="-127"/>
                <a:ea typeface="Gulim" pitchFamily="34" charset="-127"/>
              </a:rPr>
              <a:t>phân</a:t>
            </a:r>
            <a:r>
              <a:rPr lang="en-US" altLang="ko-KR" sz="2000" b="1" dirty="0">
                <a:latin typeface="Gulim" pitchFamily="34" charset="-127"/>
                <a:ea typeface="Gulim" pitchFamily="34" charset="-127"/>
              </a:rPr>
              <a:t> </a:t>
            </a:r>
            <a:r>
              <a:rPr lang="en-US" altLang="ko-KR" sz="2000" b="1" dirty="0" err="1">
                <a:latin typeface="Gulim" pitchFamily="34" charset="-127"/>
                <a:ea typeface="Gulim" pitchFamily="34" charset="-127"/>
              </a:rPr>
              <a:t>tán</a:t>
            </a:r>
            <a:endParaRPr lang="en-US" altLang="ko-KR" sz="2000" b="1" dirty="0">
              <a:latin typeface="Gulim" pitchFamily="34" charset="-127"/>
              <a:ea typeface="Gulim" pitchFamily="34" charset="-127"/>
            </a:endParaRPr>
          </a:p>
        </p:txBody>
      </p:sp>
      <p:sp>
        <p:nvSpPr>
          <p:cNvPr id="4" name="TextBox 3"/>
          <p:cNvSpPr txBox="1"/>
          <p:nvPr/>
        </p:nvSpPr>
        <p:spPr>
          <a:xfrm>
            <a:off x="517396" y="980728"/>
            <a:ext cx="3223959" cy="452432"/>
          </a:xfrm>
          <a:prstGeom prst="rect">
            <a:avLst/>
          </a:prstGeom>
          <a:noFill/>
        </p:spPr>
        <p:txBody>
          <a:bodyPr wrap="none" rtlCol="0">
            <a:spAutoFit/>
          </a:bodyPr>
          <a:lstStyle/>
          <a:p>
            <a:pPr>
              <a:lnSpc>
                <a:spcPct val="130000"/>
              </a:lnSpc>
              <a:buClr>
                <a:srgbClr val="C5003D"/>
              </a:buClr>
            </a:pPr>
            <a:r>
              <a:rPr lang="en-US" altLang="ko-KR" b="1" dirty="0" err="1">
                <a:latin typeface="Gulim" pitchFamily="34" charset="-127"/>
                <a:ea typeface="Gulim" pitchFamily="34" charset="-127"/>
              </a:rPr>
              <a:t>Phân</a:t>
            </a:r>
            <a:r>
              <a:rPr lang="en-US" altLang="ko-KR" b="1" dirty="0">
                <a:latin typeface="Gulim" pitchFamily="34" charset="-127"/>
                <a:ea typeface="Gulim" pitchFamily="34" charset="-127"/>
              </a:rPr>
              <a:t> </a:t>
            </a:r>
            <a:r>
              <a:rPr lang="en-US" altLang="ko-KR" b="1" dirty="0" err="1">
                <a:latin typeface="Gulim" pitchFamily="34" charset="-127"/>
                <a:ea typeface="Gulim" pitchFamily="34" charset="-127"/>
              </a:rPr>
              <a:t>tán</a:t>
            </a:r>
            <a:r>
              <a:rPr lang="ko-KR" altLang="en-US" b="1" dirty="0">
                <a:latin typeface="Gulim" pitchFamily="34" charset="-127"/>
                <a:ea typeface="Gulim" pitchFamily="34" charset="-127"/>
              </a:rPr>
              <a:t> </a:t>
            </a:r>
            <a:r>
              <a:rPr lang="en-US" altLang="ko-KR" b="1" dirty="0">
                <a:latin typeface="Gulim" pitchFamily="34" charset="-127"/>
                <a:ea typeface="Gulim" pitchFamily="34" charset="-127"/>
              </a:rPr>
              <a:t>(Dispersion) </a:t>
            </a:r>
            <a:r>
              <a:rPr lang="en-US" altLang="ko-KR" b="1" dirty="0" err="1">
                <a:latin typeface="Gulim" pitchFamily="34" charset="-127"/>
                <a:ea typeface="Gulim" pitchFamily="34" charset="-127"/>
              </a:rPr>
              <a:t>là</a:t>
            </a:r>
            <a:r>
              <a:rPr lang="en-US" altLang="ko-KR" b="1" dirty="0">
                <a:latin typeface="Gulim" pitchFamily="34" charset="-127"/>
                <a:ea typeface="Gulim" pitchFamily="34" charset="-127"/>
              </a:rPr>
              <a:t> </a:t>
            </a:r>
            <a:r>
              <a:rPr lang="en-US" altLang="ko-KR" b="1" dirty="0" err="1">
                <a:latin typeface="Gulim" pitchFamily="34" charset="-127"/>
                <a:ea typeface="Gulim" pitchFamily="34" charset="-127"/>
              </a:rPr>
              <a:t>gì</a:t>
            </a:r>
            <a:r>
              <a:rPr lang="en-US" altLang="ko-KR" b="1" dirty="0">
                <a:latin typeface="Gulim" pitchFamily="34" charset="-127"/>
                <a:ea typeface="Gulim" pitchFamily="34" charset="-127"/>
              </a:rPr>
              <a:t>? </a:t>
            </a:r>
            <a:endParaRPr lang="ko-KR" altLang="en-US" b="1" dirty="0">
              <a:latin typeface="Gulim" pitchFamily="34" charset="-127"/>
              <a:ea typeface="Gulim" pitchFamily="34" charset="-127"/>
            </a:endParaRPr>
          </a:p>
        </p:txBody>
      </p:sp>
      <p:sp>
        <p:nvSpPr>
          <p:cNvPr id="6" name="직사각형 5"/>
          <p:cNvSpPr/>
          <p:nvPr/>
        </p:nvSpPr>
        <p:spPr>
          <a:xfrm>
            <a:off x="716802" y="1325668"/>
            <a:ext cx="7776864" cy="2031325"/>
          </a:xfrm>
          <a:prstGeom prst="rect">
            <a:avLst/>
          </a:prstGeom>
        </p:spPr>
        <p:txBody>
          <a:bodyPr wrap="square">
            <a:spAutoFit/>
          </a:bodyPr>
          <a:lstStyle/>
          <a:p>
            <a:pPr>
              <a:lnSpc>
                <a:spcPct val="150000"/>
              </a:lnSpc>
              <a:buFont typeface="Arial"/>
              <a:buChar char="•"/>
            </a:pPr>
            <a:r>
              <a:rPr lang="ko-KR" altLang="en-US" sz="1400" i="1" dirty="0">
                <a:latin typeface="Gulim" pitchFamily="34" charset="-127"/>
                <a:ea typeface="Gulim" pitchFamily="34" charset="-127"/>
              </a:rPr>
              <a:t> </a:t>
            </a:r>
            <a:r>
              <a:rPr lang="en-US" altLang="ko-KR" sz="1400" i="1" dirty="0" err="1">
                <a:latin typeface="Gulim" pitchFamily="34" charset="-127"/>
                <a:ea typeface="Gulim" pitchFamily="34" charset="-127"/>
              </a:rPr>
              <a:t>Nguồn</a:t>
            </a:r>
            <a:r>
              <a:rPr lang="ko-KR" altLang="en-US" sz="1400" dirty="0">
                <a:latin typeface="Gulim" pitchFamily="34" charset="-127"/>
                <a:ea typeface="Gulim" pitchFamily="34" charset="-127"/>
              </a:rPr>
              <a:t> </a:t>
            </a:r>
            <a:r>
              <a:rPr lang="en-US" altLang="ko-KR" sz="1400" b="1" dirty="0" err="1">
                <a:latin typeface="Gulim" pitchFamily="34" charset="-127"/>
                <a:ea typeface="Gulim" pitchFamily="34" charset="-127"/>
              </a:rPr>
              <a:t>Từ</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điển</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phúc</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lợi</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học</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xã</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hội</a:t>
            </a:r>
            <a:r>
              <a:rPr lang="en-US" altLang="ko-KR" sz="1400" b="1" dirty="0">
                <a:latin typeface="Gulim" pitchFamily="34" charset="-127"/>
                <a:ea typeface="Gulim" pitchFamily="34" charset="-127"/>
              </a:rPr>
              <a:t> </a:t>
            </a:r>
            <a:r>
              <a:rPr lang="ko-KR" altLang="en-US" sz="1400" dirty="0">
                <a:latin typeface="Gulim" pitchFamily="34" charset="-127"/>
                <a:ea typeface="Gulim" pitchFamily="34" charset="-127"/>
              </a:rPr>
              <a:t> </a:t>
            </a:r>
            <a:endParaRPr lang="en-US" altLang="ko-KR" sz="1400" dirty="0">
              <a:latin typeface="Gulim" pitchFamily="34" charset="-127"/>
              <a:ea typeface="Gulim" pitchFamily="34" charset="-127"/>
            </a:endParaRPr>
          </a:p>
          <a:p>
            <a:pPr>
              <a:lnSpc>
                <a:spcPct val="150000"/>
              </a:lnSpc>
            </a:pPr>
            <a:r>
              <a:rPr lang="vi-VN" altLang="ko-KR" sz="1400" dirty="0">
                <a:latin typeface="Gulim" pitchFamily="34" charset="-127"/>
                <a:ea typeface="Gulim" pitchFamily="34" charset="-127"/>
              </a:rPr>
              <a:t>Nó có nghĩa là sự </a:t>
            </a:r>
            <a:r>
              <a:rPr lang="en-US" altLang="ko-KR" sz="1400" dirty="0" err="1">
                <a:latin typeface="Gulim" pitchFamily="34" charset="-127"/>
                <a:ea typeface="Gulim" pitchFamily="34" charset="-127"/>
              </a:rPr>
              <a:t>tỏa</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ra</a:t>
            </a:r>
            <a:r>
              <a:rPr lang="en-US" altLang="ko-KR" sz="1400" dirty="0">
                <a:latin typeface="Gulim" pitchFamily="34" charset="-127"/>
                <a:ea typeface="Gulim" pitchFamily="34" charset="-127"/>
              </a:rPr>
              <a:t>/</a:t>
            </a:r>
            <a:r>
              <a:rPr lang="en-US" altLang="ko-KR" sz="1400" dirty="0" err="1">
                <a:latin typeface="Gulim" pitchFamily="34" charset="-127"/>
                <a:ea typeface="Gulim" pitchFamily="34" charset="-127"/>
              </a:rPr>
              <a:t>lan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tỏa</a:t>
            </a:r>
            <a:r>
              <a:rPr lang="vi-VN" altLang="ko-KR" sz="1400" dirty="0">
                <a:latin typeface="Gulim" pitchFamily="34" charset="-127"/>
                <a:ea typeface="Gulim" pitchFamily="34" charset="-127"/>
              </a:rPr>
              <a:t> của giá trị được quan sát </a:t>
            </a:r>
            <a:r>
              <a:rPr lang="en-US" altLang="ko-KR" sz="1400" dirty="0" err="1">
                <a:latin typeface="Gulim" pitchFamily="34" charset="-127"/>
                <a:ea typeface="Gulim" pitchFamily="34" charset="-127"/>
              </a:rPr>
              <a:t>rải</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rác</a:t>
            </a:r>
            <a:r>
              <a:rPr lang="en-US" altLang="ko-KR" sz="1400" dirty="0">
                <a:latin typeface="Gulim" pitchFamily="34" charset="-127"/>
                <a:ea typeface="Gulim" pitchFamily="34" charset="-127"/>
              </a:rPr>
              <a:t>/</a:t>
            </a:r>
            <a:r>
              <a:rPr lang="en-US" altLang="ko-KR" sz="1400" dirty="0" err="1">
                <a:latin typeface="Gulim" pitchFamily="34" charset="-127"/>
                <a:ea typeface="Gulim" pitchFamily="34" charset="-127"/>
              </a:rPr>
              <a:t>phân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bố</a:t>
            </a:r>
            <a:r>
              <a:rPr lang="vi-VN" altLang="ko-KR" sz="1400" dirty="0">
                <a:latin typeface="Gulim" pitchFamily="34" charset="-127"/>
                <a:ea typeface="Gulim" pitchFamily="34" charset="-127"/>
              </a:rPr>
              <a:t>. Đôi khi bạn muốn biết bao nhiêu các giá trị quan sát được tập trung xung quanh trung bình hoặc </a:t>
            </a:r>
            <a:r>
              <a:rPr lang="en-US" altLang="ko-KR" sz="1400" dirty="0" err="1">
                <a:latin typeface="Gulim" pitchFamily="34" charset="-127"/>
                <a:ea typeface="Gulim" pitchFamily="34" charset="-127"/>
              </a:rPr>
              <a:t>chúng</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lan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tỏa</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ra</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bao</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xa</a:t>
            </a:r>
            <a:r>
              <a:rPr lang="vi-VN" altLang="ko-KR" sz="1400" dirty="0">
                <a:latin typeface="Gulim" pitchFamily="34" charset="-127"/>
                <a:ea typeface="Gulim" pitchFamily="34" charset="-127"/>
              </a:rPr>
              <a:t>. Có một </a:t>
            </a:r>
            <a:r>
              <a:rPr lang="en-US" altLang="ko-KR" sz="1400" dirty="0" err="1">
                <a:latin typeface="Gulim" pitchFamily="34" charset="-127"/>
                <a:ea typeface="Gulim" pitchFamily="34" charset="-127"/>
              </a:rPr>
              <a:t>nhiều</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cách</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đo</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đạc</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phân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bố</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nhằm</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cho</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mục</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đích</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này</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chẳng</a:t>
            </a:r>
            <a:r>
              <a:rPr lang="en-US" altLang="ko-KR" sz="1400" dirty="0">
                <a:latin typeface="Gulim" pitchFamily="34" charset="-127"/>
                <a:ea typeface="Gulim" pitchFamily="34" charset="-127"/>
              </a:rPr>
              <a:t> </a:t>
            </a:r>
            <a:r>
              <a:rPr lang="vi-VN" altLang="ko-KR" sz="1400" dirty="0">
                <a:latin typeface="Gulim" pitchFamily="34" charset="-127"/>
                <a:ea typeface="Gulim" pitchFamily="34" charset="-127"/>
              </a:rPr>
              <a:t>hạn như Phạm v</a:t>
            </a:r>
            <a:r>
              <a:rPr lang="en-US" altLang="ko-KR" sz="1400" dirty="0" err="1">
                <a:latin typeface="Gulim" pitchFamily="34" charset="-127"/>
                <a:ea typeface="Gulim" pitchFamily="34" charset="-127"/>
              </a:rPr>
              <a:t>i</a:t>
            </a:r>
            <a:r>
              <a:rPr lang="en-US" altLang="ko-KR" sz="1400" dirty="0">
                <a:latin typeface="Gulim" pitchFamily="34" charset="-127"/>
                <a:ea typeface="Gulim" pitchFamily="34" charset="-127"/>
              </a:rPr>
              <a:t> (range)</a:t>
            </a:r>
            <a:r>
              <a:rPr lang="vi-VN" altLang="ko-KR" sz="1400" dirty="0">
                <a:latin typeface="Gulim" pitchFamily="34" charset="-127"/>
                <a:ea typeface="Gulim" pitchFamily="34" charset="-127"/>
              </a:rPr>
              <a:t>, </a:t>
            </a:r>
            <a:r>
              <a:rPr lang="en-US" altLang="ko-KR" sz="1400" dirty="0" err="1">
                <a:latin typeface="Gulim" pitchFamily="34" charset="-127"/>
                <a:ea typeface="Gulim" pitchFamily="34" charset="-127"/>
              </a:rPr>
              <a:t>Độ</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lệch</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phần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tư</a:t>
            </a:r>
            <a:r>
              <a:rPr lang="en-US" altLang="ko-KR" sz="1400" dirty="0">
                <a:latin typeface="Gulim" pitchFamily="34" charset="-127"/>
                <a:ea typeface="Gulim" pitchFamily="34" charset="-127"/>
              </a:rPr>
              <a:t> (Quartile de </a:t>
            </a:r>
            <a:r>
              <a:rPr lang="en-US" altLang="ko-KR" sz="1400" dirty="0" err="1">
                <a:latin typeface="Gulim" pitchFamily="34" charset="-127"/>
                <a:ea typeface="Gulim" pitchFamily="34" charset="-127"/>
              </a:rPr>
              <a:t>viation</a:t>
            </a:r>
            <a:r>
              <a:rPr lang="en-US" altLang="ko-KR" sz="1400" dirty="0">
                <a:latin typeface="Gulim" pitchFamily="34" charset="-127"/>
                <a:ea typeface="Gulim" pitchFamily="34" charset="-127"/>
              </a:rPr>
              <a:t>),</a:t>
            </a:r>
            <a:r>
              <a:rPr lang="vi-VN" altLang="ko-KR" sz="1400" dirty="0">
                <a:latin typeface="Gulim" pitchFamily="34" charset="-127"/>
                <a:ea typeface="Gulim" pitchFamily="34" charset="-127"/>
              </a:rPr>
              <a:t> Độ lệch trung bình, Độ trung bình của Gini</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Gini’s</a:t>
            </a:r>
            <a:r>
              <a:rPr lang="en-US" altLang="ko-KR" sz="1400" dirty="0">
                <a:latin typeface="Gulim" pitchFamily="34" charset="-127"/>
                <a:ea typeface="Gulim" pitchFamily="34" charset="-127"/>
              </a:rPr>
              <a:t> mean difference)</a:t>
            </a:r>
            <a:endParaRPr lang="en-US" altLang="ko-KR" sz="1400" b="0" i="0" dirty="0">
              <a:solidFill>
                <a:srgbClr val="000000"/>
              </a:solidFill>
              <a:effectLst/>
              <a:latin typeface="Gulim" pitchFamily="34" charset="-127"/>
              <a:ea typeface="Gulim" pitchFamily="34" charset="-127"/>
            </a:endParaRPr>
          </a:p>
        </p:txBody>
      </p:sp>
      <p:sp>
        <p:nvSpPr>
          <p:cNvPr id="7" name="직사각형 6"/>
          <p:cNvSpPr/>
          <p:nvPr/>
        </p:nvSpPr>
        <p:spPr>
          <a:xfrm>
            <a:off x="716802" y="3375284"/>
            <a:ext cx="7776864" cy="1061829"/>
          </a:xfrm>
          <a:prstGeom prst="rect">
            <a:avLst/>
          </a:prstGeom>
        </p:spPr>
        <p:txBody>
          <a:bodyPr wrap="square">
            <a:spAutoFit/>
          </a:bodyPr>
          <a:lstStyle/>
          <a:p>
            <a:pPr>
              <a:lnSpc>
                <a:spcPct val="150000"/>
              </a:lnSpc>
              <a:buFont typeface="Arial"/>
              <a:buChar char="•"/>
            </a:pPr>
            <a:r>
              <a:rPr lang="en-US" altLang="ko-KR" sz="1400" i="1" dirty="0" err="1">
                <a:latin typeface="Gulim" pitchFamily="34" charset="-127"/>
                <a:ea typeface="Gulim" pitchFamily="34" charset="-127"/>
              </a:rPr>
              <a:t>Nguồn</a:t>
            </a:r>
            <a:r>
              <a:rPr lang="en-US" altLang="ko-KR" sz="1400" i="1" dirty="0">
                <a:latin typeface="Gulim" pitchFamily="34" charset="-127"/>
                <a:ea typeface="Gulim" pitchFamily="34" charset="-127"/>
              </a:rPr>
              <a:t> </a:t>
            </a:r>
            <a:r>
              <a:rPr lang="ko-KR" altLang="en-US" sz="1400" dirty="0">
                <a:latin typeface="Gulim" pitchFamily="34" charset="-127"/>
                <a:ea typeface="Gulim" pitchFamily="34" charset="-127"/>
              </a:rPr>
              <a:t> </a:t>
            </a:r>
            <a:r>
              <a:rPr lang="en-US" altLang="ko-KR" sz="1400" dirty="0" err="1">
                <a:latin typeface="Gulim" pitchFamily="34" charset="-127"/>
                <a:ea typeface="Gulim" pitchFamily="34" charset="-127"/>
              </a:rPr>
              <a:t>Từ</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điển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thuật</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ngữ</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khoa</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học</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cơ</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khí</a:t>
            </a:r>
            <a:endParaRPr lang="en-US" altLang="ko-KR" sz="1400" dirty="0">
              <a:latin typeface="Gulim" pitchFamily="34" charset="-127"/>
              <a:ea typeface="Gulim" pitchFamily="34" charset="-127"/>
            </a:endParaRPr>
          </a:p>
          <a:p>
            <a:pPr>
              <a:lnSpc>
                <a:spcPct val="150000"/>
              </a:lnSpc>
            </a:pPr>
            <a:r>
              <a:rPr lang="en-US" altLang="ko-KR" sz="1400" dirty="0" err="1">
                <a:latin typeface="Gulim" pitchFamily="34" charset="-127"/>
                <a:ea typeface="Gulim" pitchFamily="34" charset="-127"/>
              </a:rPr>
              <a:t>Độ</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lớn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các</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giá</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trị</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đo</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đạc</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phân</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bố</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là</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không</a:t>
            </a:r>
            <a:r>
              <a:rPr lang="en-US" altLang="ko-KR" sz="1400" dirty="0">
                <a:latin typeface="Gulim" pitchFamily="34" charset="-127"/>
                <a:ea typeface="Gulim" pitchFamily="34" charset="-127"/>
              </a:rPr>
              <a:t> </a:t>
            </a:r>
            <a:r>
              <a:rPr lang="en-US" altLang="ko-KR" sz="1400" dirty="0" err="1">
                <a:latin typeface="Gulim" pitchFamily="34" charset="-127"/>
                <a:ea typeface="Gulim" pitchFamily="34" charset="-127"/>
              </a:rPr>
              <a:t>đều</a:t>
            </a:r>
            <a:r>
              <a:rPr lang="vi-VN" altLang="ko-KR" sz="1400" dirty="0">
                <a:latin typeface="Gulim" pitchFamily="34" charset="-127"/>
                <a:ea typeface="Gulim" pitchFamily="34" charset="-127"/>
              </a:rPr>
              <a:t>. Độ lệch chuẩn được sử dụng để chỉ mức độ không đều của phép đo hoặc độ lớn của sơ đồ phân tán</a:t>
            </a:r>
            <a:r>
              <a:rPr lang="en-US" altLang="ko-KR" sz="1400" dirty="0">
                <a:latin typeface="Gulim" pitchFamily="34" charset="-127"/>
                <a:ea typeface="Gulim" pitchFamily="34" charset="-127"/>
              </a:rPr>
              <a:t>. </a:t>
            </a:r>
            <a:endParaRPr lang="en-US" altLang="ko-KR" sz="1400" b="0" i="0" dirty="0">
              <a:solidFill>
                <a:srgbClr val="000000"/>
              </a:solidFill>
              <a:effectLst/>
              <a:latin typeface="Gulim" pitchFamily="34" charset="-127"/>
              <a:ea typeface="Gulim" pitchFamily="34" charset="-127"/>
            </a:endParaRPr>
          </a:p>
        </p:txBody>
      </p:sp>
      <p:sp>
        <p:nvSpPr>
          <p:cNvPr id="8" name="직사각형 7"/>
          <p:cNvSpPr/>
          <p:nvPr/>
        </p:nvSpPr>
        <p:spPr>
          <a:xfrm>
            <a:off x="716802" y="4706561"/>
            <a:ext cx="7776864" cy="1061829"/>
          </a:xfrm>
          <a:prstGeom prst="rect">
            <a:avLst/>
          </a:prstGeom>
        </p:spPr>
        <p:txBody>
          <a:bodyPr wrap="square">
            <a:spAutoFit/>
          </a:bodyPr>
          <a:lstStyle/>
          <a:p>
            <a:pPr>
              <a:lnSpc>
                <a:spcPct val="150000"/>
              </a:lnSpc>
              <a:buFont typeface="Arial"/>
              <a:buChar char="•"/>
            </a:pPr>
            <a:r>
              <a:rPr lang="en-US" altLang="ko-KR" sz="1400" i="1" dirty="0" err="1">
                <a:latin typeface="Gulim" pitchFamily="34" charset="-127"/>
                <a:ea typeface="Gulim" pitchFamily="34" charset="-127"/>
              </a:rPr>
              <a:t>Nguồn</a:t>
            </a:r>
            <a:r>
              <a:rPr lang="ko-KR" altLang="en-US" sz="1400" dirty="0">
                <a:latin typeface="Gulim" pitchFamily="34" charset="-127"/>
                <a:ea typeface="Gulim" pitchFamily="34" charset="-127"/>
              </a:rPr>
              <a:t> </a:t>
            </a:r>
            <a:r>
              <a:rPr lang="en-US" altLang="ko-KR" sz="1400" b="1" dirty="0" err="1">
                <a:latin typeface="Gulim" pitchFamily="34" charset="-127"/>
                <a:ea typeface="Gulim" pitchFamily="34" charset="-127"/>
              </a:rPr>
              <a:t>Từ</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điển</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thuật</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ngữ</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nông</a:t>
            </a:r>
            <a:r>
              <a:rPr lang="en-US" altLang="ko-KR" sz="1400" b="1" dirty="0">
                <a:latin typeface="Gulim" pitchFamily="34" charset="-127"/>
                <a:ea typeface="Gulim" pitchFamily="34" charset="-127"/>
              </a:rPr>
              <a:t> </a:t>
            </a:r>
            <a:r>
              <a:rPr lang="en-US" altLang="ko-KR" sz="1400" b="1" dirty="0" err="1">
                <a:latin typeface="Gulim" pitchFamily="34" charset="-127"/>
                <a:ea typeface="Gulim" pitchFamily="34" charset="-127"/>
              </a:rPr>
              <a:t>nghiệp</a:t>
            </a:r>
            <a:r>
              <a:rPr lang="en-US" altLang="ko-KR" sz="1400" b="1" dirty="0">
                <a:latin typeface="Gulim" pitchFamily="34" charset="-127"/>
                <a:ea typeface="Gulim" pitchFamily="34" charset="-127"/>
              </a:rPr>
              <a:t>: RDA</a:t>
            </a:r>
            <a:endParaRPr lang="en-US" altLang="ko-KR" sz="1400" dirty="0">
              <a:latin typeface="Gulim" pitchFamily="34" charset="-127"/>
              <a:ea typeface="Gulim" pitchFamily="34" charset="-127"/>
            </a:endParaRPr>
          </a:p>
          <a:p>
            <a:pPr>
              <a:lnSpc>
                <a:spcPct val="150000"/>
              </a:lnSpc>
            </a:pPr>
            <a:r>
              <a:rPr lang="vi-VN" sz="1400" dirty="0"/>
              <a:t>Thực tế là sinh vật thực sự nằm rải rác trên bề mặt trái đất, tức là vận chuyển </a:t>
            </a:r>
            <a:r>
              <a:rPr lang="en-US" sz="1400" dirty="0" err="1"/>
              <a:t>của</a:t>
            </a:r>
            <a:r>
              <a:rPr lang="en-US" sz="1400" dirty="0"/>
              <a:t> </a:t>
            </a:r>
            <a:r>
              <a:rPr lang="en-US" sz="1400" dirty="0" err="1"/>
              <a:t>phân</a:t>
            </a:r>
            <a:r>
              <a:rPr lang="en-US" sz="1400" dirty="0"/>
              <a:t> </a:t>
            </a:r>
            <a:r>
              <a:rPr lang="en-US" sz="1400" dirty="0" err="1"/>
              <a:t>tán</a:t>
            </a:r>
            <a:r>
              <a:rPr lang="en-US" altLang="ko-KR" sz="1400" dirty="0">
                <a:latin typeface="Gulim" pitchFamily="34" charset="-127"/>
                <a:ea typeface="Gulim" pitchFamily="34" charset="-127"/>
              </a:rPr>
              <a:t>(</a:t>
            </a:r>
            <a:r>
              <a:rPr lang="en-US" altLang="ko-KR" sz="1400" dirty="0" err="1">
                <a:latin typeface="Gulim" pitchFamily="34" charset="-127"/>
                <a:ea typeface="Gulim" pitchFamily="34" charset="-127"/>
              </a:rPr>
              <a:t>diaspore</a:t>
            </a:r>
            <a:r>
              <a:rPr lang="en-US" altLang="ko-KR" sz="1400" dirty="0">
                <a:latin typeface="Gulim" pitchFamily="34" charset="-127"/>
                <a:ea typeface="Gulim" pitchFamily="34" charset="-127"/>
              </a:rPr>
              <a:t>)</a:t>
            </a:r>
            <a:endParaRPr lang="en-US" altLang="ko-KR" sz="1400" b="0" i="0" dirty="0">
              <a:solidFill>
                <a:srgbClr val="000000"/>
              </a:solidFill>
              <a:effectLst/>
              <a:latin typeface="Gulim" pitchFamily="34" charset="-127"/>
              <a:ea typeface="Gulim" pitchFamily="34" charset="-127"/>
            </a:endParaRPr>
          </a:p>
        </p:txBody>
      </p:sp>
    </p:spTree>
    <p:extLst>
      <p:ext uri="{BB962C8B-B14F-4D97-AF65-F5344CB8AC3E}">
        <p14:creationId xmlns:p14="http://schemas.microsoft.com/office/powerpoint/2010/main" val="727630025"/>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164</a:t>
            </a:fld>
            <a:endParaRPr lang="ko-KR" altLang="en-US" dirty="0"/>
          </a:p>
        </p:txBody>
      </p:sp>
      <p:sp>
        <p:nvSpPr>
          <p:cNvPr id="3" name="Text Box 39"/>
          <p:cNvSpPr txBox="1">
            <a:spLocks noChangeArrowheads="1"/>
          </p:cNvSpPr>
          <p:nvPr/>
        </p:nvSpPr>
        <p:spPr bwMode="auto">
          <a:xfrm>
            <a:off x="317989" y="836712"/>
            <a:ext cx="274613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Reason of dispersion</a:t>
            </a:r>
          </a:p>
        </p:txBody>
      </p:sp>
      <p:sp>
        <p:nvSpPr>
          <p:cNvPr id="4" name="TextBox 3"/>
          <p:cNvSpPr txBox="1"/>
          <p:nvPr/>
        </p:nvSpPr>
        <p:spPr>
          <a:xfrm>
            <a:off x="1315023" y="1772817"/>
            <a:ext cx="453970" cy="412421"/>
          </a:xfrm>
          <a:prstGeom prst="rect">
            <a:avLst/>
          </a:prstGeom>
          <a:noFill/>
        </p:spPr>
        <p:txBody>
          <a:bodyPr wrap="none" rtlCol="0">
            <a:spAutoFit/>
          </a:bodyPr>
          <a:lstStyle/>
          <a:p>
            <a:pPr marL="266700" indent="-266700">
              <a:lnSpc>
                <a:spcPct val="130000"/>
              </a:lnSpc>
              <a:buClr>
                <a:srgbClr val="C5003D"/>
              </a:buClr>
              <a:buFont typeface="Wingdings" pitchFamily="2" charset="2"/>
              <a:buChar char="u"/>
            </a:pPr>
            <a:endParaRPr lang="ko-KR" altLang="en-US" sz="1600" b="1" dirty="0"/>
          </a:p>
        </p:txBody>
      </p:sp>
      <p:sp>
        <p:nvSpPr>
          <p:cNvPr id="5" name="TextBox 4"/>
          <p:cNvSpPr txBox="1"/>
          <p:nvPr/>
        </p:nvSpPr>
        <p:spPr>
          <a:xfrm>
            <a:off x="650333" y="1268760"/>
            <a:ext cx="1393578" cy="338554"/>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600" b="1" kern="0" dirty="0">
                <a:solidFill>
                  <a:sysClr val="windowText" lastClr="000000"/>
                </a:solidFill>
                <a:latin typeface="맑은 고딕" pitchFamily="50" charset="-127"/>
                <a:ea typeface="맑은 고딕" pitchFamily="50" charset="-127"/>
              </a:rPr>
              <a:t>Chance cause</a:t>
            </a:r>
          </a:p>
        </p:txBody>
      </p:sp>
      <p:sp>
        <p:nvSpPr>
          <p:cNvPr id="6" name="TextBox 116"/>
          <p:cNvSpPr txBox="1">
            <a:spLocks noChangeArrowheads="1"/>
          </p:cNvSpPr>
          <p:nvPr/>
        </p:nvSpPr>
        <p:spPr bwMode="auto">
          <a:xfrm>
            <a:off x="916210" y="1628801"/>
            <a:ext cx="7744242" cy="1061829"/>
          </a:xfrm>
          <a:prstGeom prst="rect">
            <a:avLst/>
          </a:prstGeom>
          <a:noFill/>
          <a:ln w="9525">
            <a:noFill/>
            <a:miter lim="800000"/>
            <a:headEnd/>
            <a:tailEnd/>
          </a:ln>
        </p:spPr>
        <p:txBody>
          <a:bodyPr wrap="square">
            <a:spAutoFit/>
          </a:bodyPr>
          <a:lstStyle/>
          <a:p>
            <a:pPr marL="285750" indent="-285750">
              <a:lnSpc>
                <a:spcPct val="150000"/>
              </a:lnSpc>
              <a:buFontTx/>
              <a:buChar char="-"/>
            </a:pPr>
            <a:r>
              <a:rPr lang="en-US" altLang="ko-KR" sz="1400" dirty="0">
                <a:solidFill>
                  <a:srgbClr val="000000"/>
                </a:solidFill>
                <a:latin typeface="맑은 고딕" pitchFamily="50" charset="-127"/>
                <a:ea typeface="맑은 고딕" pitchFamily="50" charset="-127"/>
              </a:rPr>
              <a:t>The cause of the dispersion is something we do not know or can not control.</a:t>
            </a:r>
          </a:p>
          <a:p>
            <a:pPr marL="285750" indent="-285750">
              <a:lnSpc>
                <a:spcPct val="150000"/>
              </a:lnSpc>
              <a:buFontTx/>
              <a:buChar char="-"/>
            </a:pPr>
            <a:r>
              <a:rPr lang="en-US" altLang="ko-KR" sz="1400" dirty="0">
                <a:solidFill>
                  <a:srgbClr val="000000"/>
                </a:solidFill>
                <a:latin typeface="맑은 고딕" pitchFamily="50" charset="-127"/>
                <a:ea typeface="맑은 고딕" pitchFamily="50" charset="-127"/>
              </a:rPr>
              <a:t>It is unique value of process or product. In order to improve it, product or process itself must be changed.</a:t>
            </a:r>
            <a:endParaRPr lang="ko-KR" altLang="en-US" sz="1400" dirty="0">
              <a:solidFill>
                <a:srgbClr val="000000"/>
              </a:solidFill>
              <a:latin typeface="맑은 고딕" pitchFamily="50" charset="-127"/>
              <a:ea typeface="맑은 고딕" pitchFamily="50" charset="-127"/>
            </a:endParaRPr>
          </a:p>
        </p:txBody>
      </p:sp>
      <p:sp>
        <p:nvSpPr>
          <p:cNvPr id="7" name="TextBox 6"/>
          <p:cNvSpPr txBox="1"/>
          <p:nvPr/>
        </p:nvSpPr>
        <p:spPr>
          <a:xfrm>
            <a:off x="650334" y="2999854"/>
            <a:ext cx="1739826" cy="338554"/>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600" b="1" kern="0" dirty="0">
                <a:solidFill>
                  <a:sysClr val="windowText" lastClr="000000"/>
                </a:solidFill>
                <a:latin typeface="맑은 고딕" pitchFamily="50" charset="-127"/>
                <a:ea typeface="맑은 고딕" pitchFamily="50" charset="-127"/>
              </a:rPr>
              <a:t>Assignable cause</a:t>
            </a:r>
          </a:p>
        </p:txBody>
      </p:sp>
      <p:sp>
        <p:nvSpPr>
          <p:cNvPr id="8" name="TextBox 118"/>
          <p:cNvSpPr txBox="1">
            <a:spLocks noChangeArrowheads="1"/>
          </p:cNvSpPr>
          <p:nvPr/>
        </p:nvSpPr>
        <p:spPr bwMode="auto">
          <a:xfrm>
            <a:off x="916209" y="3482424"/>
            <a:ext cx="5527282" cy="738664"/>
          </a:xfrm>
          <a:prstGeom prst="rect">
            <a:avLst/>
          </a:prstGeom>
          <a:noFill/>
          <a:ln w="9525">
            <a:noFill/>
            <a:miter lim="800000"/>
            <a:headEnd/>
            <a:tailEnd/>
          </a:ln>
        </p:spPr>
        <p:txBody>
          <a:bodyPr wrap="none">
            <a:spAutoFit/>
          </a:bodyPr>
          <a:lstStyle/>
          <a:p>
            <a:pPr marL="285750" indent="-285750">
              <a:lnSpc>
                <a:spcPct val="150000"/>
              </a:lnSpc>
              <a:buFontTx/>
              <a:buChar char="-"/>
            </a:pPr>
            <a:r>
              <a:rPr lang="en-US" altLang="ko-KR" sz="1400" dirty="0">
                <a:solidFill>
                  <a:srgbClr val="000000"/>
                </a:solidFill>
                <a:latin typeface="맑은 고딕" pitchFamily="50" charset="-127"/>
                <a:ea typeface="맑은 고딕" pitchFamily="50" charset="-127"/>
              </a:rPr>
              <a:t>The cause of the dispersion is what we know or can control.</a:t>
            </a:r>
          </a:p>
          <a:p>
            <a:pPr marL="285750" indent="-285750">
              <a:lnSpc>
                <a:spcPct val="150000"/>
              </a:lnSpc>
              <a:buFontTx/>
              <a:buChar char="-"/>
            </a:pPr>
            <a:r>
              <a:rPr lang="en-US" altLang="ko-KR" sz="1400" dirty="0">
                <a:solidFill>
                  <a:srgbClr val="000000"/>
                </a:solidFill>
                <a:latin typeface="맑은 고딕" pitchFamily="50" charset="-127"/>
                <a:ea typeface="맑은 고딕" pitchFamily="50" charset="-127"/>
              </a:rPr>
              <a:t>It can be improved through process or product management.</a:t>
            </a:r>
            <a:endParaRPr lang="ko-KR" altLang="en-US" sz="1400" dirty="0">
              <a:solidFill>
                <a:srgbClr val="000000"/>
              </a:solidFill>
              <a:latin typeface="맑은 고딕" pitchFamily="50" charset="-127"/>
              <a:ea typeface="맑은 고딕" pitchFamily="50" charset="-127"/>
            </a:endParaRPr>
          </a:p>
        </p:txBody>
      </p:sp>
      <p:sp>
        <p:nvSpPr>
          <p:cNvPr id="11" name="TextBox 10"/>
          <p:cNvSpPr txBox="1"/>
          <p:nvPr/>
        </p:nvSpPr>
        <p:spPr>
          <a:xfrm>
            <a:off x="916209" y="5085185"/>
            <a:ext cx="7744242" cy="646331"/>
          </a:xfrm>
          <a:prstGeom prst="rect">
            <a:avLst/>
          </a:prstGeom>
          <a:noFill/>
        </p:spPr>
        <p:txBody>
          <a:bodyPr wrap="square" lIns="36000" rIns="36000">
            <a:spAutoFit/>
          </a:bodyPr>
          <a:lstStyle/>
          <a:p>
            <a:pPr fontAlgn="auto" latinLnBrk="0">
              <a:spcBef>
                <a:spcPts val="0"/>
              </a:spcBef>
              <a:spcAft>
                <a:spcPts val="0"/>
              </a:spcAft>
              <a:buClr>
                <a:srgbClr val="595959"/>
              </a:buClr>
              <a:defRPr/>
            </a:pPr>
            <a:r>
              <a:rPr kumimoji="0" lang="en-US" altLang="ko-KR" b="1" kern="0" dirty="0">
                <a:solidFill>
                  <a:sysClr val="windowText" lastClr="000000"/>
                </a:solidFill>
                <a:latin typeface="맑은 고딕" pitchFamily="50" charset="-127"/>
                <a:ea typeface="맑은 고딕" pitchFamily="50" charset="-127"/>
              </a:rPr>
              <a:t>The dispersion of data occurs by chance cause and assignable cause and these two causes are merged together.</a:t>
            </a:r>
          </a:p>
        </p:txBody>
      </p:sp>
      <p:sp>
        <p:nvSpPr>
          <p:cNvPr id="10"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1305760848"/>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165</a:t>
            </a:fld>
            <a:endParaRPr lang="ko-KR" altLang="en-US" dirty="0"/>
          </a:p>
        </p:txBody>
      </p:sp>
      <p:sp>
        <p:nvSpPr>
          <p:cNvPr id="3" name="Rectangle 2"/>
          <p:cNvSpPr>
            <a:spLocks noChangeArrowheads="1"/>
          </p:cNvSpPr>
          <p:nvPr/>
        </p:nvSpPr>
        <p:spPr bwMode="auto">
          <a:xfrm>
            <a:off x="317990" y="857232"/>
            <a:ext cx="3456384" cy="433388"/>
          </a:xfrm>
          <a:prstGeom prst="rect">
            <a:avLst/>
          </a:prstGeom>
          <a:noFill/>
          <a:ln w="9525" algn="ctr">
            <a:noFill/>
            <a:miter lim="800000"/>
            <a:headEnd/>
            <a:tailEnd/>
          </a:ln>
          <a:effectLst/>
        </p:spPr>
        <p:txBody>
          <a:bodyPr vert="horz" wrap="square" lIns="91440" tIns="45720" rIns="91440" bIns="45720" numCol="1" anchor="ctr" anchorCtr="0" compatLnSpc="1">
            <a:prstTxWarp prst="textNoShape">
              <a:avLst/>
            </a:prstTxWarp>
          </a:bodyPr>
          <a:lstStyle/>
          <a:p>
            <a:pPr marL="0" marR="0" lvl="0" indent="0" defTabSz="914400" rtl="0" eaLnBrk="1" fontAlgn="base" latinLnBrk="1" hangingPunct="1">
              <a:lnSpc>
                <a:spcPct val="100000"/>
              </a:lnSpc>
              <a:spcBef>
                <a:spcPct val="0"/>
              </a:spcBef>
              <a:spcAft>
                <a:spcPct val="0"/>
              </a:spcAft>
              <a:buClrTx/>
              <a:buSzTx/>
              <a:buFontTx/>
              <a:buNone/>
              <a:tabLst/>
            </a:pPr>
            <a:r>
              <a:rPr kumimoji="1" lang="en-US" altLang="ko-KR" sz="1600" b="1" i="0" u="none" strike="noStrike" cap="none" normalizeH="0" baseline="0" dirty="0">
                <a:ln>
                  <a:noFill/>
                </a:ln>
                <a:solidFill>
                  <a:schemeClr val="tx1"/>
                </a:solidFill>
                <a:effectLst/>
                <a:latin typeface="맑은 고딕" pitchFamily="50" charset="-127"/>
                <a:ea typeface="맑은 고딕" pitchFamily="50" charset="-127"/>
              </a:rPr>
              <a:t>Data summary</a:t>
            </a:r>
            <a:endParaRPr kumimoji="1" lang="ko-KR" altLang="ko-KR" sz="24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4" name="Rectangle 3"/>
          <p:cNvSpPr>
            <a:spLocks noChangeArrowheads="1"/>
          </p:cNvSpPr>
          <p:nvPr/>
        </p:nvSpPr>
        <p:spPr bwMode="auto">
          <a:xfrm>
            <a:off x="574431" y="1573213"/>
            <a:ext cx="864577" cy="646331"/>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Interests</a:t>
            </a: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With variation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5" name="Rectangle 4"/>
          <p:cNvSpPr>
            <a:spLocks noChangeArrowheads="1"/>
          </p:cNvSpPr>
          <p:nvPr/>
        </p:nvSpPr>
        <p:spPr bwMode="auto">
          <a:xfrm>
            <a:off x="657959" y="2290763"/>
            <a:ext cx="671146" cy="512762"/>
          </a:xfrm>
          <a:prstGeom prst="rect">
            <a:avLst/>
          </a:prstGeom>
          <a:solidFill>
            <a:schemeClr val="folHlink"/>
          </a:solidFill>
          <a:ln w="28575">
            <a:solidFill>
              <a:schemeClr val="bg2"/>
            </a:solidFill>
            <a:miter lim="800000"/>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DATA</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6" name="Text Box 5"/>
          <p:cNvSpPr txBox="1">
            <a:spLocks noChangeArrowheads="1"/>
          </p:cNvSpPr>
          <p:nvPr/>
        </p:nvSpPr>
        <p:spPr bwMode="auto">
          <a:xfrm>
            <a:off x="369277" y="1800225"/>
            <a:ext cx="310662" cy="30480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Y</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7" name="Line 6"/>
          <p:cNvSpPr>
            <a:spLocks noChangeShapeType="1"/>
          </p:cNvSpPr>
          <p:nvPr/>
        </p:nvSpPr>
        <p:spPr bwMode="auto">
          <a:xfrm>
            <a:off x="1349620" y="2540000"/>
            <a:ext cx="3814396" cy="1588"/>
          </a:xfrm>
          <a:prstGeom prst="line">
            <a:avLst/>
          </a:prstGeom>
          <a:noFill/>
          <a:ln w="38100">
            <a:solidFill>
              <a:schemeClr val="bg2">
                <a:lumMod val="75000"/>
              </a:schemeClr>
            </a:solidFill>
            <a:round/>
            <a:headEnd/>
            <a:tailEnd type="triangle" w="med" len="med"/>
          </a:ln>
          <a:effectLst/>
        </p:spPr>
        <p:txBody>
          <a:bodyPr vert="horz" wrap="none" lIns="91440" tIns="45720" rIns="91440" bIns="45720" numCol="1" anchor="ctr" anchorCtr="0" compatLnSpc="1">
            <a:prstTxWarp prst="textNoShape">
              <a:avLst/>
            </a:prstTxWarp>
          </a:bodyPr>
          <a:lstStyle/>
          <a:p>
            <a:endParaRPr lang="ko-KR" altLang="en-US" dirty="0">
              <a:latin typeface="맑은 고딕" pitchFamily="50" charset="-127"/>
              <a:ea typeface="맑은 고딕" pitchFamily="50" charset="-127"/>
            </a:endParaRPr>
          </a:p>
        </p:txBody>
      </p:sp>
      <p:sp>
        <p:nvSpPr>
          <p:cNvPr id="8" name="Oval 7"/>
          <p:cNvSpPr>
            <a:spLocks noChangeArrowheads="1"/>
          </p:cNvSpPr>
          <p:nvPr/>
        </p:nvSpPr>
        <p:spPr bwMode="auto">
          <a:xfrm>
            <a:off x="1884485" y="2205039"/>
            <a:ext cx="650631" cy="682625"/>
          </a:xfrm>
          <a:prstGeom prst="ellipse">
            <a:avLst/>
          </a:prstGeom>
          <a:solidFill>
            <a:srgbClr val="A1C2FD"/>
          </a:solidFill>
          <a:ln w="57150">
            <a:solidFill>
              <a:srgbClr val="FF0000"/>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Mean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9" name="Oval 8"/>
          <p:cNvSpPr>
            <a:spLocks noChangeArrowheads="1"/>
          </p:cNvSpPr>
          <p:nvPr/>
        </p:nvSpPr>
        <p:spPr bwMode="auto">
          <a:xfrm>
            <a:off x="2781300" y="2200275"/>
            <a:ext cx="650631" cy="693738"/>
          </a:xfrm>
          <a:prstGeom prst="ellipse">
            <a:avLst/>
          </a:prstGeom>
          <a:solidFill>
            <a:srgbClr val="A1C2FD"/>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Median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0" name="Oval 9"/>
          <p:cNvSpPr>
            <a:spLocks noChangeArrowheads="1"/>
          </p:cNvSpPr>
          <p:nvPr/>
        </p:nvSpPr>
        <p:spPr bwMode="auto">
          <a:xfrm>
            <a:off x="3689838" y="2200275"/>
            <a:ext cx="650631" cy="693738"/>
          </a:xfrm>
          <a:prstGeom prst="ellipse">
            <a:avLst/>
          </a:prstGeom>
          <a:solidFill>
            <a:srgbClr val="A1C2FD"/>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Mode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1" name="Text Box 10"/>
          <p:cNvSpPr txBox="1">
            <a:spLocks noChangeArrowheads="1"/>
          </p:cNvSpPr>
          <p:nvPr/>
        </p:nvSpPr>
        <p:spPr bwMode="auto">
          <a:xfrm>
            <a:off x="5062904" y="2289175"/>
            <a:ext cx="978877" cy="52322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Central Tendency</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2" name="Text Box 11"/>
          <p:cNvSpPr txBox="1">
            <a:spLocks noChangeArrowheads="1"/>
          </p:cNvSpPr>
          <p:nvPr/>
        </p:nvSpPr>
        <p:spPr bwMode="auto">
          <a:xfrm>
            <a:off x="5136174" y="3414713"/>
            <a:ext cx="1062403" cy="52322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Dispersion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3" name="Text Box 12"/>
          <p:cNvSpPr txBox="1">
            <a:spLocks noChangeArrowheads="1"/>
          </p:cNvSpPr>
          <p:nvPr/>
        </p:nvSpPr>
        <p:spPr bwMode="auto">
          <a:xfrm>
            <a:off x="317990" y="2832100"/>
            <a:ext cx="1392115" cy="30480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Y</a:t>
            </a:r>
            <a:r>
              <a:rPr kumimoji="1" lang="en-US" altLang="ko-KR" sz="1400" b="1" i="0" u="none" strike="noStrike" cap="none" normalizeH="0" baseline="-25000" dirty="0">
                <a:ln>
                  <a:noFill/>
                </a:ln>
                <a:solidFill>
                  <a:srgbClr val="FF0000"/>
                </a:solidFill>
                <a:effectLst/>
                <a:latin typeface="맑은 고딕" pitchFamily="50" charset="-127"/>
                <a:ea typeface="맑은 고딕" pitchFamily="50" charset="-127"/>
              </a:rPr>
              <a:t>1</a:t>
            </a: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 , Y</a:t>
            </a:r>
            <a:r>
              <a:rPr kumimoji="1" lang="en-US" altLang="ko-KR" sz="1400" b="1" i="0" u="none" strike="noStrike" cap="none" normalizeH="0" baseline="-25000" dirty="0">
                <a:ln>
                  <a:noFill/>
                </a:ln>
                <a:solidFill>
                  <a:srgbClr val="FF0000"/>
                </a:solidFill>
                <a:effectLst/>
                <a:latin typeface="맑은 고딕" pitchFamily="50" charset="-127"/>
                <a:ea typeface="맑은 고딕" pitchFamily="50" charset="-127"/>
              </a:rPr>
              <a:t>2</a:t>
            </a: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  , …, Y</a:t>
            </a:r>
            <a:r>
              <a:rPr kumimoji="1" lang="en-US" altLang="ko-KR" sz="1400" b="1" i="0" u="none" strike="noStrike" cap="none" normalizeH="0" baseline="-25000" dirty="0">
                <a:ln>
                  <a:noFill/>
                </a:ln>
                <a:solidFill>
                  <a:srgbClr val="FF0000"/>
                </a:solidFill>
                <a:effectLst/>
                <a:latin typeface="맑은 고딕" pitchFamily="50" charset="-127"/>
                <a:ea typeface="맑은 고딕" pitchFamily="50" charset="-127"/>
              </a:rPr>
              <a:t>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4" name="Freeform 13"/>
          <p:cNvSpPr>
            <a:spLocks/>
          </p:cNvSpPr>
          <p:nvPr/>
        </p:nvSpPr>
        <p:spPr bwMode="auto">
          <a:xfrm>
            <a:off x="961293" y="2780929"/>
            <a:ext cx="4188069" cy="792163"/>
          </a:xfrm>
          <a:custGeom>
            <a:avLst/>
            <a:gdLst/>
            <a:ahLst/>
            <a:cxnLst>
              <a:cxn ang="0">
                <a:pos x="0" y="0"/>
              </a:cxn>
              <a:cxn ang="0">
                <a:pos x="0" y="499"/>
              </a:cxn>
              <a:cxn ang="0">
                <a:pos x="2858" y="499"/>
              </a:cxn>
            </a:cxnLst>
            <a:rect l="0" t="0" r="r" b="b"/>
            <a:pathLst>
              <a:path w="2858" h="499">
                <a:moveTo>
                  <a:pt x="0" y="0"/>
                </a:moveTo>
                <a:lnTo>
                  <a:pt x="0" y="499"/>
                </a:lnTo>
                <a:lnTo>
                  <a:pt x="2858" y="499"/>
                </a:lnTo>
              </a:path>
            </a:pathLst>
          </a:custGeom>
          <a:noFill/>
          <a:ln w="38100" cap="flat" cmpd="sng">
            <a:solidFill>
              <a:schemeClr val="bg2">
                <a:lumMod val="75000"/>
              </a:schemeClr>
            </a:solidFill>
            <a:prstDash val="solid"/>
            <a:round/>
            <a:headEnd type="none" w="med" len="med"/>
            <a:tailEnd type="triangle" w="med" len="med"/>
          </a:ln>
          <a:effectLst/>
        </p:spPr>
        <p:txBody>
          <a:bodyPr vert="horz" wrap="square" lIns="91440" tIns="45720" rIns="91440" bIns="45720" numCol="1" anchor="t" anchorCtr="0" compatLnSpc="1">
            <a:prstTxWarp prst="textNoShape">
              <a:avLst/>
            </a:prstTxWarp>
          </a:bodyPr>
          <a:lstStyle/>
          <a:p>
            <a:endParaRPr lang="ko-KR" altLang="en-US" dirty="0">
              <a:latin typeface="맑은 고딕" pitchFamily="50" charset="-127"/>
              <a:ea typeface="맑은 고딕" pitchFamily="50" charset="-127"/>
            </a:endParaRPr>
          </a:p>
        </p:txBody>
      </p:sp>
      <p:sp>
        <p:nvSpPr>
          <p:cNvPr id="15" name="Oval 14"/>
          <p:cNvSpPr>
            <a:spLocks noChangeArrowheads="1"/>
          </p:cNvSpPr>
          <p:nvPr/>
        </p:nvSpPr>
        <p:spPr bwMode="auto">
          <a:xfrm>
            <a:off x="1840523" y="3208339"/>
            <a:ext cx="650631" cy="682625"/>
          </a:xfrm>
          <a:prstGeom prst="ellipse">
            <a:avLst/>
          </a:prstGeom>
          <a:solidFill>
            <a:srgbClr val="FF99FF"/>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Range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6" name="Oval 15"/>
          <p:cNvSpPr>
            <a:spLocks noChangeArrowheads="1"/>
          </p:cNvSpPr>
          <p:nvPr/>
        </p:nvSpPr>
        <p:spPr bwMode="auto">
          <a:xfrm>
            <a:off x="2803281" y="3208339"/>
            <a:ext cx="650631" cy="682625"/>
          </a:xfrm>
          <a:prstGeom prst="ellipse">
            <a:avLst/>
          </a:prstGeom>
          <a:solidFill>
            <a:srgbClr val="FF99FF"/>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Variance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7" name="Oval 16"/>
          <p:cNvSpPr>
            <a:spLocks noChangeArrowheads="1"/>
          </p:cNvSpPr>
          <p:nvPr/>
        </p:nvSpPr>
        <p:spPr bwMode="auto">
          <a:xfrm>
            <a:off x="3767504" y="3208339"/>
            <a:ext cx="650631" cy="682625"/>
          </a:xfrm>
          <a:prstGeom prst="ellipse">
            <a:avLst/>
          </a:prstGeom>
          <a:solidFill>
            <a:srgbClr val="FF99FF"/>
          </a:solidFill>
          <a:ln w="57150">
            <a:solidFill>
              <a:srgbClr val="FF0000"/>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Standard</a:t>
            </a: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Deviation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pic>
        <p:nvPicPr>
          <p:cNvPr id="18" name="Picture 1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1623" y="1603971"/>
            <a:ext cx="2110154" cy="1457325"/>
          </a:xfrm>
          <a:prstGeom prst="rect">
            <a:avLst/>
          </a:prstGeom>
          <a:noFill/>
          <a:ln w="12700" algn="ctr">
            <a:noFill/>
            <a:miter lim="800000"/>
            <a:headEnd/>
            <a:tailEnd/>
          </a:ln>
          <a:effectLst/>
        </p:spPr>
      </p:pic>
      <p:pic>
        <p:nvPicPr>
          <p:cNvPr id="19" name="Picture 1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1623" y="3094632"/>
            <a:ext cx="2116015" cy="1816100"/>
          </a:xfrm>
          <a:prstGeom prst="rect">
            <a:avLst/>
          </a:prstGeom>
          <a:noFill/>
          <a:ln w="12700" algn="ctr">
            <a:noFill/>
            <a:miter lim="800000"/>
            <a:headEnd/>
            <a:tailEnd/>
          </a:ln>
          <a:effectLst/>
        </p:spPr>
      </p:pic>
      <p:pic>
        <p:nvPicPr>
          <p:cNvPr id="20" name="Picture 1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21366" y="4937720"/>
            <a:ext cx="2135065" cy="1371600"/>
          </a:xfrm>
          <a:prstGeom prst="rect">
            <a:avLst/>
          </a:prstGeom>
          <a:noFill/>
          <a:ln w="12700" algn="ctr">
            <a:noFill/>
            <a:miter lim="800000"/>
            <a:headEnd/>
            <a:tailEnd/>
          </a:ln>
          <a:effectLst/>
        </p:spPr>
      </p:pic>
      <p:pic>
        <p:nvPicPr>
          <p:cNvPr id="21" name="Picture 2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48151" y="4500564"/>
            <a:ext cx="2079380" cy="1800225"/>
          </a:xfrm>
          <a:prstGeom prst="rect">
            <a:avLst/>
          </a:prstGeom>
          <a:noFill/>
          <a:ln w="12700" algn="ctr">
            <a:noFill/>
            <a:miter lim="800000"/>
            <a:headEnd/>
            <a:tailEnd/>
          </a:ln>
          <a:effectLst/>
        </p:spPr>
      </p:pic>
      <p:sp>
        <p:nvSpPr>
          <p:cNvPr id="22" name="Text Box 21"/>
          <p:cNvSpPr txBox="1">
            <a:spLocks noChangeArrowheads="1"/>
          </p:cNvSpPr>
          <p:nvPr/>
        </p:nvSpPr>
        <p:spPr bwMode="auto">
          <a:xfrm>
            <a:off x="930520" y="5616576"/>
            <a:ext cx="3119803" cy="646331"/>
          </a:xfrm>
          <a:prstGeom prst="rect">
            <a:avLst/>
          </a:prstGeom>
          <a:noFill/>
          <a:ln w="12700" algn="ctr">
            <a:noFill/>
            <a:miter lim="800000"/>
            <a:headEnd/>
            <a:tailEnd/>
          </a:ln>
          <a:effectLst/>
        </p:spPr>
        <p:txBody>
          <a:bodyPr vert="horz" wrap="square" lIns="91440" tIns="45720" rIns="91440" bIns="45720" numCol="1" anchor="t" anchorCtr="0" compatLnSpc="1">
            <a:prstTxWarp prst="textNoShape">
              <a:avLst/>
            </a:prstTxWarp>
            <a:spAutoFit/>
          </a:bodyPr>
          <a:lstStyle/>
          <a:p>
            <a:pPr lvl="0"/>
            <a:r>
              <a:rPr lang="en-US" altLang="ko-KR" sz="1200" dirty="0">
                <a:latin typeface="맑은 고딕" pitchFamily="50" charset="-127"/>
                <a:ea typeface="맑은 고딕" pitchFamily="50" charset="-127"/>
              </a:rPr>
              <a:t>The data are summarized as central tendency and dispersion, and the combination expresses the interest.</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3" name="Oval 22"/>
          <p:cNvSpPr>
            <a:spLocks noChangeArrowheads="1"/>
          </p:cNvSpPr>
          <p:nvPr/>
        </p:nvSpPr>
        <p:spPr bwMode="auto">
          <a:xfrm>
            <a:off x="1831731" y="4214814"/>
            <a:ext cx="650631" cy="682625"/>
          </a:xfrm>
          <a:prstGeom prst="ellipse">
            <a:avLst/>
          </a:prstGeom>
          <a:solidFill>
            <a:srgbClr val="CCFFCC"/>
          </a:solidFill>
          <a:ln w="9525">
            <a:solidFill>
              <a:schemeClr val="bg2"/>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Quartile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cxnSp>
        <p:nvCxnSpPr>
          <p:cNvPr id="24" name="AutoShape 23"/>
          <p:cNvCxnSpPr>
            <a:cxnSpLocks noChangeShapeType="1"/>
          </p:cNvCxnSpPr>
          <p:nvPr/>
        </p:nvCxnSpPr>
        <p:spPr bwMode="auto">
          <a:xfrm flipH="1">
            <a:off x="2395904" y="2792414"/>
            <a:ext cx="480646" cy="515937"/>
          </a:xfrm>
          <a:prstGeom prst="straightConnector1">
            <a:avLst/>
          </a:prstGeom>
          <a:noFill/>
          <a:ln w="28575">
            <a:solidFill>
              <a:schemeClr val="bg2"/>
            </a:solidFill>
            <a:prstDash val="sysDot"/>
            <a:round/>
            <a:headEnd/>
            <a:tailEnd/>
          </a:ln>
          <a:effectLst/>
        </p:spPr>
      </p:cxnSp>
      <p:cxnSp>
        <p:nvCxnSpPr>
          <p:cNvPr id="25" name="AutoShape 24"/>
          <p:cNvCxnSpPr>
            <a:cxnSpLocks noChangeShapeType="1"/>
          </p:cNvCxnSpPr>
          <p:nvPr/>
        </p:nvCxnSpPr>
        <p:spPr bwMode="auto">
          <a:xfrm flipH="1">
            <a:off x="2157047" y="3890963"/>
            <a:ext cx="8792" cy="323850"/>
          </a:xfrm>
          <a:prstGeom prst="straightConnector1">
            <a:avLst/>
          </a:prstGeom>
          <a:noFill/>
          <a:ln w="12700">
            <a:solidFill>
              <a:srgbClr val="0000FF"/>
            </a:solidFill>
            <a:round/>
            <a:headEnd/>
            <a:tailEnd type="triangle" w="med" len="med"/>
          </a:ln>
          <a:effectLst/>
        </p:spPr>
      </p:cxnSp>
      <p:sp>
        <p:nvSpPr>
          <p:cNvPr id="26" name="Oval 25"/>
          <p:cNvSpPr>
            <a:spLocks noChangeArrowheads="1"/>
          </p:cNvSpPr>
          <p:nvPr/>
        </p:nvSpPr>
        <p:spPr bwMode="auto">
          <a:xfrm>
            <a:off x="1821473" y="4691064"/>
            <a:ext cx="650631" cy="682625"/>
          </a:xfrm>
          <a:prstGeom prst="ellipse">
            <a:avLst/>
          </a:prstGeom>
          <a:solidFill>
            <a:srgbClr val="CCFFCC"/>
          </a:solidFill>
          <a:ln w="9525">
            <a:solidFill>
              <a:schemeClr val="bg2"/>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Percentile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9"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50824050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166</a:t>
            </a:fld>
            <a:endParaRPr lang="ko-KR" altLang="en-US" dirty="0"/>
          </a:p>
        </p:txBody>
      </p:sp>
      <p:sp>
        <p:nvSpPr>
          <p:cNvPr id="3" name="Text Box 39"/>
          <p:cNvSpPr txBox="1">
            <a:spLocks noChangeArrowheads="1"/>
          </p:cNvSpPr>
          <p:nvPr/>
        </p:nvSpPr>
        <p:spPr bwMode="auto">
          <a:xfrm>
            <a:off x="317989" y="836712"/>
            <a:ext cx="388632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Nguyên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sự</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
        <p:nvSpPr>
          <p:cNvPr id="4" name="TextBox 3"/>
          <p:cNvSpPr txBox="1"/>
          <p:nvPr/>
        </p:nvSpPr>
        <p:spPr>
          <a:xfrm>
            <a:off x="1315023" y="1772817"/>
            <a:ext cx="453970" cy="412421"/>
          </a:xfrm>
          <a:prstGeom prst="rect">
            <a:avLst/>
          </a:prstGeom>
          <a:noFill/>
        </p:spPr>
        <p:txBody>
          <a:bodyPr wrap="none" rtlCol="0">
            <a:spAutoFit/>
          </a:bodyPr>
          <a:lstStyle/>
          <a:p>
            <a:pPr marL="266700" indent="-266700">
              <a:lnSpc>
                <a:spcPct val="130000"/>
              </a:lnSpc>
              <a:buClr>
                <a:srgbClr val="C5003D"/>
              </a:buClr>
              <a:buFont typeface="Wingdings" pitchFamily="2" charset="2"/>
              <a:buChar char="u"/>
            </a:pPr>
            <a:endParaRPr lang="ko-KR" altLang="en-US" sz="1600" b="1" dirty="0"/>
          </a:p>
        </p:txBody>
      </p:sp>
      <p:sp>
        <p:nvSpPr>
          <p:cNvPr id="5" name="TextBox 4"/>
          <p:cNvSpPr txBox="1"/>
          <p:nvPr/>
        </p:nvSpPr>
        <p:spPr>
          <a:xfrm>
            <a:off x="650334" y="1268760"/>
            <a:ext cx="2586212" cy="338554"/>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600" b="1" kern="0" dirty="0" err="1">
                <a:solidFill>
                  <a:sysClr val="windowText" lastClr="000000"/>
                </a:solidFill>
                <a:latin typeface="맑은 고딕" pitchFamily="50" charset="-127"/>
                <a:ea typeface="맑은 고딕" pitchFamily="50" charset="-127"/>
              </a:rPr>
              <a:t>Nguyên</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nhân</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ngẫu</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nhiên</a:t>
            </a:r>
            <a:endParaRPr kumimoji="0" lang="en-US" altLang="ko-KR" sz="1600" b="1" kern="0" dirty="0">
              <a:solidFill>
                <a:sysClr val="windowText" lastClr="000000"/>
              </a:solidFill>
              <a:latin typeface="맑은 고딕" pitchFamily="50" charset="-127"/>
              <a:ea typeface="맑은 고딕" pitchFamily="50" charset="-127"/>
            </a:endParaRPr>
          </a:p>
        </p:txBody>
      </p:sp>
      <p:sp>
        <p:nvSpPr>
          <p:cNvPr id="6" name="TextBox 116"/>
          <p:cNvSpPr txBox="1">
            <a:spLocks noChangeArrowheads="1"/>
          </p:cNvSpPr>
          <p:nvPr/>
        </p:nvSpPr>
        <p:spPr bwMode="auto">
          <a:xfrm>
            <a:off x="916210" y="1628801"/>
            <a:ext cx="7444346" cy="1384995"/>
          </a:xfrm>
          <a:prstGeom prst="rect">
            <a:avLst/>
          </a:prstGeom>
          <a:noFill/>
          <a:ln w="9525">
            <a:noFill/>
            <a:miter lim="800000"/>
            <a:headEnd/>
            <a:tailEnd/>
          </a:ln>
        </p:spPr>
        <p:txBody>
          <a:bodyPr wrap="none">
            <a:spAutoFit/>
          </a:bodyPr>
          <a:lstStyle/>
          <a:p>
            <a:pPr marL="285750" indent="-285750">
              <a:lnSpc>
                <a:spcPct val="150000"/>
              </a:lnSpc>
              <a:buFontTx/>
              <a:buChar char="-"/>
            </a:pPr>
            <a:r>
              <a:rPr lang="en-US" altLang="ko-KR" sz="1400" dirty="0" err="1">
                <a:solidFill>
                  <a:srgbClr val="000000"/>
                </a:solidFill>
                <a:latin typeface="맑은 고딕" pitchFamily="50" charset="-127"/>
                <a:ea typeface="맑은 고딕" pitchFamily="50" charset="-127"/>
              </a:rPr>
              <a:t>Nguyên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nhân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phát</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sinh</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sự</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phân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tán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là</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những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nguyên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nhân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mà</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chúng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ta</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không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thể</a:t>
            </a:r>
            <a:r>
              <a:rPr lang="en-US" altLang="ko-KR" sz="1400" dirty="0">
                <a:solidFill>
                  <a:srgbClr val="000000"/>
                </a:solidFill>
                <a:latin typeface="맑은 고딕" pitchFamily="50" charset="-127"/>
                <a:ea typeface="맑은 고딕" pitchFamily="50" charset="-127"/>
              </a:rPr>
              <a:t> </a:t>
            </a:r>
          </a:p>
          <a:p>
            <a:pPr marL="285750" indent="-285750">
              <a:lnSpc>
                <a:spcPct val="150000"/>
              </a:lnSpc>
            </a:pPr>
            <a:r>
              <a:rPr lang="en-US" altLang="ko-KR" sz="1400" dirty="0" err="1">
                <a:solidFill>
                  <a:srgbClr val="000000"/>
                </a:solidFill>
                <a:latin typeface="맑은 고딕" pitchFamily="50" charset="-127"/>
                <a:ea typeface="맑은 고딕" pitchFamily="50" charset="-127"/>
              </a:rPr>
              <a:t>biết</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hoặc</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không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thể</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khống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chế</a:t>
            </a:r>
            <a:r>
              <a:rPr lang="en-US" altLang="ko-KR" sz="1400" dirty="0">
                <a:solidFill>
                  <a:srgbClr val="000000"/>
                </a:solidFill>
                <a:latin typeface="맑은 고딕" pitchFamily="50" charset="-127"/>
                <a:ea typeface="맑은 고딕" pitchFamily="50" charset="-127"/>
              </a:rPr>
              <a:t>. </a:t>
            </a:r>
          </a:p>
          <a:p>
            <a:pPr marL="285750" indent="-285750">
              <a:lnSpc>
                <a:spcPct val="150000"/>
              </a:lnSpc>
              <a:buFontTx/>
              <a:buChar char="-"/>
            </a:pPr>
            <a:r>
              <a:rPr lang="en-US" altLang="ko-KR" sz="1400" dirty="0" err="1">
                <a:solidFill>
                  <a:srgbClr val="000000"/>
                </a:solidFill>
                <a:latin typeface="맑은 고딕" pitchFamily="50" charset="-127"/>
                <a:ea typeface="맑은 고딕" pitchFamily="50" charset="-127"/>
              </a:rPr>
              <a:t>Tương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ứng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với</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giá</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trị</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đặc</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trưng</a:t>
            </a:r>
            <a:r>
              <a:rPr lang="en-US" altLang="ko-KR" sz="1400" dirty="0">
                <a:solidFill>
                  <a:srgbClr val="000000"/>
                </a:solidFill>
                <a:latin typeface="맑은 고딕" pitchFamily="50" charset="-127"/>
                <a:ea typeface="맑은 고딕" pitchFamily="50" charset="-127"/>
              </a:rPr>
              <a:t>/</a:t>
            </a:r>
            <a:r>
              <a:rPr lang="en-US" altLang="ko-KR" sz="1400" dirty="0" err="1">
                <a:solidFill>
                  <a:srgbClr val="000000"/>
                </a:solidFill>
                <a:latin typeface="맑은 고딕" pitchFamily="50" charset="-127"/>
                <a:ea typeface="맑은 고딕" pitchFamily="50" charset="-127"/>
              </a:rPr>
              <a:t>cố</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hữu</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của</a:t>
            </a:r>
            <a:r>
              <a:rPr lang="en-US" altLang="ko-KR" sz="1400" dirty="0">
                <a:solidFill>
                  <a:srgbClr val="000000"/>
                </a:solidFill>
                <a:latin typeface="맑은 고딕" pitchFamily="50" charset="-127"/>
                <a:ea typeface="맑은 고딕" pitchFamily="50" charset="-127"/>
              </a:rPr>
              <a:t> process </a:t>
            </a:r>
            <a:r>
              <a:rPr lang="en-US" altLang="ko-KR" sz="1400" dirty="0" err="1">
                <a:solidFill>
                  <a:srgbClr val="000000"/>
                </a:solidFill>
                <a:latin typeface="맑은 고딕" pitchFamily="50" charset="-127"/>
                <a:ea typeface="맑은 고딕" pitchFamily="50" charset="-127"/>
              </a:rPr>
              <a:t>hoặc</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sản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phẩm</a:t>
            </a:r>
            <a:r>
              <a:rPr lang="en-US" altLang="ko-KR" sz="1400" dirty="0">
                <a:solidFill>
                  <a:srgbClr val="000000"/>
                </a:solidFill>
                <a:latin typeface="맑은 고딕" pitchFamily="50" charset="-127"/>
                <a:ea typeface="맑은 고딕" pitchFamily="50" charset="-127"/>
              </a:rPr>
              <a:t>.</a:t>
            </a:r>
          </a:p>
          <a:p>
            <a:pPr marL="285750" indent="-285750">
              <a:lnSpc>
                <a:spcPct val="150000"/>
              </a:lnSpc>
              <a:buFontTx/>
              <a:buChar char="-"/>
            </a:pPr>
            <a:r>
              <a:rPr lang="en-US" altLang="ko-KR" sz="1400" dirty="0" err="1">
                <a:solidFill>
                  <a:srgbClr val="000000"/>
                </a:solidFill>
                <a:latin typeface="맑은 고딕" pitchFamily="50" charset="-127"/>
                <a:ea typeface="맑은 고딕" pitchFamily="50" charset="-127"/>
              </a:rPr>
              <a:t>Để</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cải</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thiện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những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điều</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này</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phải</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thay</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đổi</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sản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phẩm</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hoặc</a:t>
            </a:r>
            <a:r>
              <a:rPr lang="en-US" altLang="ko-KR" sz="1400" dirty="0">
                <a:solidFill>
                  <a:srgbClr val="000000"/>
                </a:solidFill>
                <a:latin typeface="맑은 고딕" pitchFamily="50" charset="-127"/>
                <a:ea typeface="맑은 고딕" pitchFamily="50" charset="-127"/>
              </a:rPr>
              <a:t> process.</a:t>
            </a:r>
            <a:endParaRPr lang="ko-KR" altLang="en-US" sz="1400" dirty="0">
              <a:solidFill>
                <a:srgbClr val="000000"/>
              </a:solidFill>
              <a:latin typeface="맑은 고딕" pitchFamily="50" charset="-127"/>
              <a:ea typeface="맑은 고딕" pitchFamily="50" charset="-127"/>
            </a:endParaRPr>
          </a:p>
        </p:txBody>
      </p:sp>
      <p:sp>
        <p:nvSpPr>
          <p:cNvPr id="7" name="TextBox 6"/>
          <p:cNvSpPr txBox="1"/>
          <p:nvPr/>
        </p:nvSpPr>
        <p:spPr>
          <a:xfrm>
            <a:off x="691644" y="3090446"/>
            <a:ext cx="3349241" cy="338554"/>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600" b="1" kern="0" dirty="0" err="1">
                <a:solidFill>
                  <a:sysClr val="windowText" lastClr="000000"/>
                </a:solidFill>
                <a:latin typeface="맑은 고딕" pitchFamily="50" charset="-127"/>
                <a:ea typeface="맑은 고딕" pitchFamily="50" charset="-127"/>
              </a:rPr>
              <a:t>Nguyên</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nhân</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không</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ngẫu</a:t>
            </a:r>
            <a:r>
              <a:rPr kumimoji="0" lang="en-US" altLang="ko-KR" sz="1600" b="1" kern="0" dirty="0">
                <a:solidFill>
                  <a:sysClr val="windowText" lastClr="000000"/>
                </a:solidFill>
                <a:latin typeface="맑은 고딕" pitchFamily="50" charset="-127"/>
                <a:ea typeface="맑은 고딕" pitchFamily="50" charset="-127"/>
              </a:rPr>
              <a:t> </a:t>
            </a:r>
            <a:r>
              <a:rPr kumimoji="0" lang="en-US" altLang="ko-KR" sz="1600" b="1" kern="0" dirty="0" err="1">
                <a:solidFill>
                  <a:sysClr val="windowText" lastClr="000000"/>
                </a:solidFill>
                <a:latin typeface="맑은 고딕" pitchFamily="50" charset="-127"/>
                <a:ea typeface="맑은 고딕" pitchFamily="50" charset="-127"/>
              </a:rPr>
              <a:t>nhiên</a:t>
            </a:r>
            <a:r>
              <a:rPr kumimoji="0" lang="en-US" altLang="ko-KR" sz="1600" b="1" kern="0" dirty="0">
                <a:solidFill>
                  <a:sysClr val="windowText" lastClr="000000"/>
                </a:solidFill>
                <a:latin typeface="맑은 고딕" pitchFamily="50" charset="-127"/>
                <a:ea typeface="맑은 고딕" pitchFamily="50" charset="-127"/>
              </a:rPr>
              <a:t> </a:t>
            </a:r>
          </a:p>
        </p:txBody>
      </p:sp>
      <p:sp>
        <p:nvSpPr>
          <p:cNvPr id="8" name="TextBox 118"/>
          <p:cNvSpPr txBox="1">
            <a:spLocks noChangeArrowheads="1"/>
          </p:cNvSpPr>
          <p:nvPr/>
        </p:nvSpPr>
        <p:spPr bwMode="auto">
          <a:xfrm>
            <a:off x="142844" y="3482424"/>
            <a:ext cx="9249327" cy="738664"/>
          </a:xfrm>
          <a:prstGeom prst="rect">
            <a:avLst/>
          </a:prstGeom>
          <a:noFill/>
          <a:ln w="9525">
            <a:noFill/>
            <a:miter lim="800000"/>
            <a:headEnd/>
            <a:tailEnd/>
          </a:ln>
        </p:spPr>
        <p:txBody>
          <a:bodyPr wrap="none">
            <a:spAutoFit/>
          </a:bodyPr>
          <a:lstStyle/>
          <a:p>
            <a:pPr marL="285750" indent="-285750">
              <a:lnSpc>
                <a:spcPct val="150000"/>
              </a:lnSpc>
              <a:buFontTx/>
              <a:buChar char="-"/>
            </a:pPr>
            <a:r>
              <a:rPr lang="en-US" altLang="ko-KR" sz="1400" dirty="0" err="1">
                <a:solidFill>
                  <a:srgbClr val="000000"/>
                </a:solidFill>
                <a:latin typeface="맑은 고딕" pitchFamily="50" charset="-127"/>
                <a:ea typeface="맑은 고딕" pitchFamily="50" charset="-127"/>
              </a:rPr>
              <a:t>Nguyên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nhân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phát</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sinh</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sự</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phân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tán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là</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những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nguyên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nhân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chúng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ta</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biết</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hoặc</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có</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thể</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khống</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chế</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được</a:t>
            </a:r>
            <a:r>
              <a:rPr lang="en-US" altLang="ko-KR" sz="1400" dirty="0">
                <a:solidFill>
                  <a:srgbClr val="000000"/>
                </a:solidFill>
                <a:latin typeface="맑은 고딕" pitchFamily="50" charset="-127"/>
                <a:ea typeface="맑은 고딕" pitchFamily="50" charset="-127"/>
              </a:rPr>
              <a:t>. </a:t>
            </a:r>
          </a:p>
          <a:p>
            <a:pPr marL="285750" indent="-285750">
              <a:lnSpc>
                <a:spcPct val="150000"/>
              </a:lnSpc>
              <a:buFontTx/>
              <a:buChar char="-"/>
            </a:pPr>
            <a:r>
              <a:rPr lang="en-US" altLang="ko-KR" sz="1400" dirty="0" err="1">
                <a:solidFill>
                  <a:srgbClr val="000000"/>
                </a:solidFill>
                <a:latin typeface="맑은 고딕" pitchFamily="50" charset="-127"/>
                <a:ea typeface="맑은 고딕" pitchFamily="50" charset="-127"/>
              </a:rPr>
              <a:t>Có</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thể</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cải</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thiện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thông</a:t>
            </a:r>
            <a:r>
              <a:rPr lang="en-US" altLang="ko-KR" sz="1400" dirty="0">
                <a:solidFill>
                  <a:srgbClr val="000000"/>
                </a:solidFill>
                <a:latin typeface="맑은 고딕" pitchFamily="50" charset="-127"/>
                <a:ea typeface="맑은 고딕" pitchFamily="50" charset="-127"/>
              </a:rPr>
              <a:t> qua </a:t>
            </a:r>
            <a:r>
              <a:rPr lang="en-US" altLang="ko-KR" sz="1400" dirty="0" err="1">
                <a:solidFill>
                  <a:srgbClr val="000000"/>
                </a:solidFill>
                <a:latin typeface="맑은 고딕" pitchFamily="50" charset="-127"/>
                <a:ea typeface="맑은 고딕" pitchFamily="50" charset="-127"/>
              </a:rPr>
              <a:t>quản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lý</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về</a:t>
            </a:r>
            <a:r>
              <a:rPr lang="en-US" altLang="ko-KR" sz="1400" dirty="0">
                <a:solidFill>
                  <a:srgbClr val="000000"/>
                </a:solidFill>
                <a:latin typeface="맑은 고딕" pitchFamily="50" charset="-127"/>
                <a:ea typeface="맑은 고딕" pitchFamily="50" charset="-127"/>
              </a:rPr>
              <a:t> Process </a:t>
            </a:r>
            <a:r>
              <a:rPr lang="en-US" altLang="ko-KR" sz="1400" dirty="0" err="1">
                <a:solidFill>
                  <a:srgbClr val="000000"/>
                </a:solidFill>
                <a:latin typeface="맑은 고딕" pitchFamily="50" charset="-127"/>
                <a:ea typeface="맑은 고딕" pitchFamily="50" charset="-127"/>
              </a:rPr>
              <a:t>hoặc</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sản</a:t>
            </a:r>
            <a:r>
              <a:rPr lang="en-US" altLang="ko-KR" sz="1400" dirty="0">
                <a:solidFill>
                  <a:srgbClr val="000000"/>
                </a:solidFill>
                <a:latin typeface="맑은 고딕" pitchFamily="50" charset="-127"/>
                <a:ea typeface="맑은 고딕" pitchFamily="50" charset="-127"/>
              </a:rPr>
              <a:t> </a:t>
            </a:r>
            <a:r>
              <a:rPr lang="en-US" altLang="ko-KR" sz="1400" dirty="0" err="1">
                <a:solidFill>
                  <a:srgbClr val="000000"/>
                </a:solidFill>
                <a:latin typeface="맑은 고딕" pitchFamily="50" charset="-127"/>
                <a:ea typeface="맑은 고딕" pitchFamily="50" charset="-127"/>
              </a:rPr>
              <a:t>phẩm</a:t>
            </a:r>
            <a:r>
              <a:rPr lang="en-US" altLang="ko-KR" sz="1400" dirty="0">
                <a:solidFill>
                  <a:srgbClr val="000000"/>
                </a:solidFill>
                <a:latin typeface="맑은 고딕" pitchFamily="50" charset="-127"/>
                <a:ea typeface="맑은 고딕" pitchFamily="50" charset="-127"/>
              </a:rPr>
              <a:t>.  </a:t>
            </a:r>
            <a:endParaRPr lang="ko-KR" altLang="en-US" sz="1400" dirty="0">
              <a:solidFill>
                <a:srgbClr val="000000"/>
              </a:solidFill>
              <a:latin typeface="맑은 고딕" pitchFamily="50" charset="-127"/>
              <a:ea typeface="맑은 고딕" pitchFamily="50" charset="-127"/>
            </a:endParaRPr>
          </a:p>
        </p:txBody>
      </p:sp>
      <p:sp>
        <p:nvSpPr>
          <p:cNvPr id="11" name="TextBox 10"/>
          <p:cNvSpPr txBox="1"/>
          <p:nvPr/>
        </p:nvSpPr>
        <p:spPr>
          <a:xfrm>
            <a:off x="571472" y="5085185"/>
            <a:ext cx="8610297" cy="646331"/>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b="1" kern="0" dirty="0" err="1">
                <a:solidFill>
                  <a:sysClr val="windowText" lastClr="000000"/>
                </a:solidFill>
                <a:latin typeface="맑은 고딕" pitchFamily="50" charset="-127"/>
                <a:ea typeface="맑은 고딕" pitchFamily="50" charset="-127"/>
              </a:rPr>
              <a:t>Nếu</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sự</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phân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tán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của</a:t>
            </a:r>
            <a:r>
              <a:rPr kumimoji="0" lang="en-US" altLang="ko-KR" b="1" kern="0" dirty="0">
                <a:solidFill>
                  <a:sysClr val="windowText" lastClr="000000"/>
                </a:solidFill>
                <a:latin typeface="맑은 고딕" pitchFamily="50" charset="-127"/>
                <a:ea typeface="맑은 고딕" pitchFamily="50" charset="-127"/>
              </a:rPr>
              <a:t> Data </a:t>
            </a:r>
            <a:r>
              <a:rPr kumimoji="0" lang="en-US" altLang="ko-KR" b="1" kern="0" dirty="0" err="1">
                <a:solidFill>
                  <a:sysClr val="windowText" lastClr="000000"/>
                </a:solidFill>
                <a:latin typeface="맑은 고딕" pitchFamily="50" charset="-127"/>
                <a:ea typeface="맑은 고딕" pitchFamily="50" charset="-127"/>
              </a:rPr>
              <a:t>phát</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sinh</a:t>
            </a:r>
            <a:r>
              <a:rPr kumimoji="0" lang="en-US" altLang="ko-KR" b="1" kern="0" dirty="0">
                <a:solidFill>
                  <a:sysClr val="windowText" lastClr="000000"/>
                </a:solidFill>
                <a:latin typeface="맑은 고딕" pitchFamily="50" charset="-127"/>
                <a:ea typeface="맑은 고딕" pitchFamily="50" charset="-127"/>
              </a:rPr>
              <a:t> do </a:t>
            </a:r>
            <a:r>
              <a:rPr kumimoji="0" lang="en-US" altLang="ko-KR" b="1" kern="0" dirty="0" err="1">
                <a:solidFill>
                  <a:sysClr val="windowText" lastClr="000000"/>
                </a:solidFill>
                <a:latin typeface="맑은 고딕" pitchFamily="50" charset="-127"/>
                <a:ea typeface="맑은 고딕" pitchFamily="50" charset="-127"/>
              </a:rPr>
              <a:t>nguyên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nhân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ngẫu</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nhiên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và</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không</a:t>
            </a:r>
            <a:r>
              <a:rPr kumimoji="0" lang="en-US" altLang="ko-KR" b="1" kern="0" dirty="0">
                <a:solidFill>
                  <a:sysClr val="windowText" lastClr="000000"/>
                </a:solidFill>
                <a:latin typeface="맑은 고딕" pitchFamily="50" charset="-127"/>
                <a:ea typeface="맑은 고딕" pitchFamily="50" charset="-127"/>
              </a:rPr>
              <a:t> </a:t>
            </a:r>
          </a:p>
          <a:p>
            <a:pPr fontAlgn="auto" latinLnBrk="0">
              <a:spcBef>
                <a:spcPts val="0"/>
              </a:spcBef>
              <a:spcAft>
                <a:spcPts val="0"/>
              </a:spcAft>
              <a:buClr>
                <a:srgbClr val="595959"/>
              </a:buClr>
              <a:defRPr/>
            </a:pPr>
            <a:r>
              <a:rPr kumimoji="0" lang="en-US" altLang="ko-KR" b="1" kern="0" dirty="0" err="1">
                <a:solidFill>
                  <a:sysClr val="windowText" lastClr="000000"/>
                </a:solidFill>
                <a:latin typeface="맑은 고딕" pitchFamily="50" charset="-127"/>
                <a:ea typeface="맑은 고딕" pitchFamily="50" charset="-127"/>
              </a:rPr>
              <a:t>ngẫu</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nhiên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thì</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hai</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nguyên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nhân</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này</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sẽ</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hợp</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nhất</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với</a:t>
            </a:r>
            <a:r>
              <a:rPr kumimoji="0" lang="en-US" altLang="ko-KR" b="1" kern="0" dirty="0">
                <a:solidFill>
                  <a:sysClr val="windowText" lastClr="000000"/>
                </a:solidFill>
                <a:latin typeface="맑은 고딕" pitchFamily="50" charset="-127"/>
                <a:ea typeface="맑은 고딕" pitchFamily="50" charset="-127"/>
              </a:rPr>
              <a:t> </a:t>
            </a:r>
            <a:r>
              <a:rPr kumimoji="0" lang="en-US" altLang="ko-KR" b="1" kern="0" dirty="0" err="1">
                <a:solidFill>
                  <a:sysClr val="windowText" lastClr="000000"/>
                </a:solidFill>
                <a:latin typeface="맑은 고딕" pitchFamily="50" charset="-127"/>
                <a:ea typeface="맑은 고딕" pitchFamily="50" charset="-127"/>
              </a:rPr>
              <a:t>nhau</a:t>
            </a:r>
            <a:endParaRPr kumimoji="0" lang="en-US" altLang="ko-KR" b="1" kern="0" dirty="0">
              <a:solidFill>
                <a:sysClr val="windowText" lastClr="000000"/>
              </a:solidFill>
              <a:latin typeface="맑은 고딕" pitchFamily="50" charset="-127"/>
              <a:ea typeface="맑은 고딕" pitchFamily="50" charset="-127"/>
            </a:endParaRPr>
          </a:p>
        </p:txBody>
      </p:sp>
      <p:sp>
        <p:nvSpPr>
          <p:cNvPr id="10" name="Text Box 39"/>
          <p:cNvSpPr txBox="1">
            <a:spLocks noChangeArrowheads="1"/>
          </p:cNvSpPr>
          <p:nvPr/>
        </p:nvSpPr>
        <p:spPr bwMode="auto">
          <a:xfrm>
            <a:off x="234902" y="116632"/>
            <a:ext cx="3297441"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Tìm</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sự</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130576084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167</a:t>
            </a:fld>
            <a:endParaRPr lang="ko-KR" altLang="en-US" dirty="0"/>
          </a:p>
        </p:txBody>
      </p:sp>
      <p:sp>
        <p:nvSpPr>
          <p:cNvPr id="3" name="Rectangle 2"/>
          <p:cNvSpPr>
            <a:spLocks noChangeArrowheads="1"/>
          </p:cNvSpPr>
          <p:nvPr/>
        </p:nvSpPr>
        <p:spPr bwMode="auto">
          <a:xfrm>
            <a:off x="317990" y="857232"/>
            <a:ext cx="3456384" cy="433388"/>
          </a:xfrm>
          <a:prstGeom prst="rect">
            <a:avLst/>
          </a:prstGeom>
          <a:noFill/>
          <a:ln w="9525" algn="ctr">
            <a:noFill/>
            <a:miter lim="800000"/>
            <a:headEnd/>
            <a:tailEnd/>
          </a:ln>
          <a:effectLst/>
        </p:spPr>
        <p:txBody>
          <a:bodyPr vert="horz" wrap="square" lIns="91440" tIns="45720" rIns="91440" bIns="45720" numCol="1" anchor="ctr" anchorCtr="0" compatLnSpc="1">
            <a:prstTxWarp prst="textNoShape">
              <a:avLst/>
            </a:prstTxWarp>
          </a:bodyPr>
          <a:lstStyle/>
          <a:p>
            <a:pPr marL="0" marR="0" lvl="0" indent="0" defTabSz="914400" rtl="0" eaLnBrk="1" fontAlgn="base" latinLnBrk="1" hangingPunct="1">
              <a:lnSpc>
                <a:spcPct val="100000"/>
              </a:lnSpc>
              <a:spcBef>
                <a:spcPct val="0"/>
              </a:spcBef>
              <a:spcAft>
                <a:spcPct val="0"/>
              </a:spcAft>
              <a:buClrTx/>
              <a:buSzTx/>
              <a:buFontTx/>
              <a:buNone/>
              <a:tabLst/>
            </a:pPr>
            <a:r>
              <a:rPr kumimoji="1" lang="en-US" altLang="ko-KR" sz="1600" b="1" i="0" u="none" strike="noStrike" cap="none" normalizeH="0" baseline="0" dirty="0">
                <a:ln>
                  <a:noFill/>
                </a:ln>
                <a:solidFill>
                  <a:schemeClr val="tx1"/>
                </a:solidFill>
                <a:effectLst/>
                <a:latin typeface="맑은 고딕" pitchFamily="50" charset="-127"/>
                <a:ea typeface="맑은 고딕" pitchFamily="50" charset="-127"/>
              </a:rPr>
              <a:t>Data </a:t>
            </a:r>
            <a:r>
              <a:rPr lang="en-US" altLang="ko-KR" sz="1600" b="1" dirty="0" err="1">
                <a:latin typeface="맑은 고딕" pitchFamily="50" charset="-127"/>
                <a:ea typeface="맑은 고딕" pitchFamily="50" charset="-127"/>
              </a:rPr>
              <a:t>tóm</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tắt</a:t>
            </a:r>
            <a:endParaRPr kumimoji="1" lang="ko-KR" altLang="ko-KR" sz="24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4" name="Rectangle 3"/>
          <p:cNvSpPr>
            <a:spLocks noChangeArrowheads="1"/>
          </p:cNvSpPr>
          <p:nvPr/>
        </p:nvSpPr>
        <p:spPr bwMode="auto">
          <a:xfrm>
            <a:off x="574431" y="1573213"/>
            <a:ext cx="864577" cy="646331"/>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Interests</a:t>
            </a: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With variation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5" name="Rectangle 4"/>
          <p:cNvSpPr>
            <a:spLocks noChangeArrowheads="1"/>
          </p:cNvSpPr>
          <p:nvPr/>
        </p:nvSpPr>
        <p:spPr bwMode="auto">
          <a:xfrm>
            <a:off x="657959" y="2290763"/>
            <a:ext cx="671146" cy="512762"/>
          </a:xfrm>
          <a:prstGeom prst="rect">
            <a:avLst/>
          </a:prstGeom>
          <a:solidFill>
            <a:schemeClr val="folHlink"/>
          </a:solidFill>
          <a:ln w="28575">
            <a:solidFill>
              <a:schemeClr val="bg2"/>
            </a:solidFill>
            <a:miter lim="800000"/>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DATA</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6" name="Text Box 5"/>
          <p:cNvSpPr txBox="1">
            <a:spLocks noChangeArrowheads="1"/>
          </p:cNvSpPr>
          <p:nvPr/>
        </p:nvSpPr>
        <p:spPr bwMode="auto">
          <a:xfrm>
            <a:off x="369277" y="1800225"/>
            <a:ext cx="310662" cy="30480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Y</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7" name="Line 6"/>
          <p:cNvSpPr>
            <a:spLocks noChangeShapeType="1"/>
          </p:cNvSpPr>
          <p:nvPr/>
        </p:nvSpPr>
        <p:spPr bwMode="auto">
          <a:xfrm>
            <a:off x="1349620" y="2540000"/>
            <a:ext cx="3814396" cy="1588"/>
          </a:xfrm>
          <a:prstGeom prst="line">
            <a:avLst/>
          </a:prstGeom>
          <a:noFill/>
          <a:ln w="38100">
            <a:solidFill>
              <a:schemeClr val="bg2">
                <a:lumMod val="75000"/>
              </a:schemeClr>
            </a:solidFill>
            <a:round/>
            <a:headEnd/>
            <a:tailEnd type="triangle" w="med" len="med"/>
          </a:ln>
          <a:effectLst/>
        </p:spPr>
        <p:txBody>
          <a:bodyPr vert="horz" wrap="none" lIns="91440" tIns="45720" rIns="91440" bIns="45720" numCol="1" anchor="ctr" anchorCtr="0" compatLnSpc="1">
            <a:prstTxWarp prst="textNoShape">
              <a:avLst/>
            </a:prstTxWarp>
          </a:bodyPr>
          <a:lstStyle/>
          <a:p>
            <a:endParaRPr lang="ko-KR" altLang="en-US" dirty="0">
              <a:latin typeface="맑은 고딕" pitchFamily="50" charset="-127"/>
              <a:ea typeface="맑은 고딕" pitchFamily="50" charset="-127"/>
            </a:endParaRPr>
          </a:p>
        </p:txBody>
      </p:sp>
      <p:sp>
        <p:nvSpPr>
          <p:cNvPr id="8" name="Oval 7"/>
          <p:cNvSpPr>
            <a:spLocks noChangeArrowheads="1"/>
          </p:cNvSpPr>
          <p:nvPr/>
        </p:nvSpPr>
        <p:spPr bwMode="auto">
          <a:xfrm>
            <a:off x="1884485" y="2205039"/>
            <a:ext cx="650631" cy="682625"/>
          </a:xfrm>
          <a:prstGeom prst="ellipse">
            <a:avLst/>
          </a:prstGeom>
          <a:solidFill>
            <a:srgbClr val="A1C2FD"/>
          </a:solidFill>
          <a:ln w="57150">
            <a:solidFill>
              <a:srgbClr val="FF0000"/>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Mean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9" name="Oval 8"/>
          <p:cNvSpPr>
            <a:spLocks noChangeArrowheads="1"/>
          </p:cNvSpPr>
          <p:nvPr/>
        </p:nvSpPr>
        <p:spPr bwMode="auto">
          <a:xfrm>
            <a:off x="2781300" y="2200275"/>
            <a:ext cx="650631" cy="693738"/>
          </a:xfrm>
          <a:prstGeom prst="ellipse">
            <a:avLst/>
          </a:prstGeom>
          <a:solidFill>
            <a:srgbClr val="A1C2FD"/>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Median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0" name="Oval 9"/>
          <p:cNvSpPr>
            <a:spLocks noChangeArrowheads="1"/>
          </p:cNvSpPr>
          <p:nvPr/>
        </p:nvSpPr>
        <p:spPr bwMode="auto">
          <a:xfrm>
            <a:off x="3689838" y="2200275"/>
            <a:ext cx="650631" cy="693738"/>
          </a:xfrm>
          <a:prstGeom prst="ellipse">
            <a:avLst/>
          </a:prstGeom>
          <a:solidFill>
            <a:srgbClr val="A1C2FD"/>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Mode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1" name="Text Box 10"/>
          <p:cNvSpPr txBox="1">
            <a:spLocks noChangeArrowheads="1"/>
          </p:cNvSpPr>
          <p:nvPr/>
        </p:nvSpPr>
        <p:spPr bwMode="auto">
          <a:xfrm>
            <a:off x="5062904" y="2289175"/>
            <a:ext cx="978877" cy="52322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Central Tendency</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2" name="Text Box 11"/>
          <p:cNvSpPr txBox="1">
            <a:spLocks noChangeArrowheads="1"/>
          </p:cNvSpPr>
          <p:nvPr/>
        </p:nvSpPr>
        <p:spPr bwMode="auto">
          <a:xfrm>
            <a:off x="5136174" y="3414713"/>
            <a:ext cx="1062403" cy="52322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Dispersion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3" name="Text Box 12"/>
          <p:cNvSpPr txBox="1">
            <a:spLocks noChangeArrowheads="1"/>
          </p:cNvSpPr>
          <p:nvPr/>
        </p:nvSpPr>
        <p:spPr bwMode="auto">
          <a:xfrm>
            <a:off x="317990" y="2832100"/>
            <a:ext cx="1392115" cy="30480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Y</a:t>
            </a:r>
            <a:r>
              <a:rPr kumimoji="1" lang="en-US" altLang="ko-KR" sz="1400" b="1" i="0" u="none" strike="noStrike" cap="none" normalizeH="0" baseline="-25000" dirty="0">
                <a:ln>
                  <a:noFill/>
                </a:ln>
                <a:solidFill>
                  <a:srgbClr val="FF0000"/>
                </a:solidFill>
                <a:effectLst/>
                <a:latin typeface="맑은 고딕" pitchFamily="50" charset="-127"/>
                <a:ea typeface="맑은 고딕" pitchFamily="50" charset="-127"/>
              </a:rPr>
              <a:t>1</a:t>
            </a: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 , Y</a:t>
            </a:r>
            <a:r>
              <a:rPr kumimoji="1" lang="en-US" altLang="ko-KR" sz="1400" b="1" i="0" u="none" strike="noStrike" cap="none" normalizeH="0" baseline="-25000" dirty="0">
                <a:ln>
                  <a:noFill/>
                </a:ln>
                <a:solidFill>
                  <a:srgbClr val="FF0000"/>
                </a:solidFill>
                <a:effectLst/>
                <a:latin typeface="맑은 고딕" pitchFamily="50" charset="-127"/>
                <a:ea typeface="맑은 고딕" pitchFamily="50" charset="-127"/>
              </a:rPr>
              <a:t>2</a:t>
            </a:r>
            <a:r>
              <a:rPr kumimoji="1" lang="en-US" altLang="ko-KR" sz="1400" b="1" i="0" u="none" strike="noStrike" cap="none" normalizeH="0" baseline="0" dirty="0">
                <a:ln>
                  <a:noFill/>
                </a:ln>
                <a:solidFill>
                  <a:srgbClr val="FF0000"/>
                </a:solidFill>
                <a:effectLst/>
                <a:latin typeface="맑은 고딕" pitchFamily="50" charset="-127"/>
                <a:ea typeface="맑은 고딕" pitchFamily="50" charset="-127"/>
              </a:rPr>
              <a:t>  , …, Y</a:t>
            </a:r>
            <a:r>
              <a:rPr kumimoji="1" lang="en-US" altLang="ko-KR" sz="1400" b="1" i="0" u="none" strike="noStrike" cap="none" normalizeH="0" baseline="-25000" dirty="0">
                <a:ln>
                  <a:noFill/>
                </a:ln>
                <a:solidFill>
                  <a:srgbClr val="FF0000"/>
                </a:solidFill>
                <a:effectLst/>
                <a:latin typeface="맑은 고딕" pitchFamily="50" charset="-127"/>
                <a:ea typeface="맑은 고딕" pitchFamily="50" charset="-127"/>
              </a:rPr>
              <a:t>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4" name="Freeform 13"/>
          <p:cNvSpPr>
            <a:spLocks/>
          </p:cNvSpPr>
          <p:nvPr/>
        </p:nvSpPr>
        <p:spPr bwMode="auto">
          <a:xfrm>
            <a:off x="961293" y="2780929"/>
            <a:ext cx="4188069" cy="792163"/>
          </a:xfrm>
          <a:custGeom>
            <a:avLst/>
            <a:gdLst/>
            <a:ahLst/>
            <a:cxnLst>
              <a:cxn ang="0">
                <a:pos x="0" y="0"/>
              </a:cxn>
              <a:cxn ang="0">
                <a:pos x="0" y="499"/>
              </a:cxn>
              <a:cxn ang="0">
                <a:pos x="2858" y="499"/>
              </a:cxn>
            </a:cxnLst>
            <a:rect l="0" t="0" r="r" b="b"/>
            <a:pathLst>
              <a:path w="2858" h="499">
                <a:moveTo>
                  <a:pt x="0" y="0"/>
                </a:moveTo>
                <a:lnTo>
                  <a:pt x="0" y="499"/>
                </a:lnTo>
                <a:lnTo>
                  <a:pt x="2858" y="499"/>
                </a:lnTo>
              </a:path>
            </a:pathLst>
          </a:custGeom>
          <a:noFill/>
          <a:ln w="38100" cap="flat" cmpd="sng">
            <a:solidFill>
              <a:schemeClr val="bg2">
                <a:lumMod val="75000"/>
              </a:schemeClr>
            </a:solidFill>
            <a:prstDash val="solid"/>
            <a:round/>
            <a:headEnd type="none" w="med" len="med"/>
            <a:tailEnd type="triangle" w="med" len="med"/>
          </a:ln>
          <a:effectLst/>
        </p:spPr>
        <p:txBody>
          <a:bodyPr vert="horz" wrap="square" lIns="91440" tIns="45720" rIns="91440" bIns="45720" numCol="1" anchor="t" anchorCtr="0" compatLnSpc="1">
            <a:prstTxWarp prst="textNoShape">
              <a:avLst/>
            </a:prstTxWarp>
          </a:bodyPr>
          <a:lstStyle/>
          <a:p>
            <a:endParaRPr lang="ko-KR" altLang="en-US" dirty="0">
              <a:latin typeface="맑은 고딕" pitchFamily="50" charset="-127"/>
              <a:ea typeface="맑은 고딕" pitchFamily="50" charset="-127"/>
            </a:endParaRPr>
          </a:p>
        </p:txBody>
      </p:sp>
      <p:sp>
        <p:nvSpPr>
          <p:cNvPr id="15" name="Oval 14"/>
          <p:cNvSpPr>
            <a:spLocks noChangeArrowheads="1"/>
          </p:cNvSpPr>
          <p:nvPr/>
        </p:nvSpPr>
        <p:spPr bwMode="auto">
          <a:xfrm>
            <a:off x="1840523" y="3208339"/>
            <a:ext cx="650631" cy="682625"/>
          </a:xfrm>
          <a:prstGeom prst="ellipse">
            <a:avLst/>
          </a:prstGeom>
          <a:solidFill>
            <a:srgbClr val="FF99FF"/>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Range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6" name="Oval 15"/>
          <p:cNvSpPr>
            <a:spLocks noChangeArrowheads="1"/>
          </p:cNvSpPr>
          <p:nvPr/>
        </p:nvSpPr>
        <p:spPr bwMode="auto">
          <a:xfrm>
            <a:off x="2803281" y="3208339"/>
            <a:ext cx="650631" cy="682625"/>
          </a:xfrm>
          <a:prstGeom prst="ellipse">
            <a:avLst/>
          </a:prstGeom>
          <a:solidFill>
            <a:srgbClr val="FF99FF"/>
          </a:solidFill>
          <a:ln w="9525">
            <a:solidFill>
              <a:schemeClr val="tx1"/>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Variance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7" name="Oval 16"/>
          <p:cNvSpPr>
            <a:spLocks noChangeArrowheads="1"/>
          </p:cNvSpPr>
          <p:nvPr/>
        </p:nvSpPr>
        <p:spPr bwMode="auto">
          <a:xfrm>
            <a:off x="3767504" y="3208339"/>
            <a:ext cx="650631" cy="682625"/>
          </a:xfrm>
          <a:prstGeom prst="ellipse">
            <a:avLst/>
          </a:prstGeom>
          <a:solidFill>
            <a:srgbClr val="FF99FF"/>
          </a:solidFill>
          <a:ln w="57150">
            <a:solidFill>
              <a:srgbClr val="FF0000"/>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Standard</a:t>
            </a: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Deviation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pic>
        <p:nvPicPr>
          <p:cNvPr id="18" name="Picture 1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31623" y="1603971"/>
            <a:ext cx="2110154" cy="1457325"/>
          </a:xfrm>
          <a:prstGeom prst="rect">
            <a:avLst/>
          </a:prstGeom>
          <a:noFill/>
          <a:ln w="12700" algn="ctr">
            <a:noFill/>
            <a:miter lim="800000"/>
            <a:headEnd/>
            <a:tailEnd/>
          </a:ln>
          <a:effectLst/>
        </p:spPr>
      </p:pic>
      <p:pic>
        <p:nvPicPr>
          <p:cNvPr id="19" name="Picture 1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1623" y="3094632"/>
            <a:ext cx="2116015" cy="1816100"/>
          </a:xfrm>
          <a:prstGeom prst="rect">
            <a:avLst/>
          </a:prstGeom>
          <a:noFill/>
          <a:ln w="12700" algn="ctr">
            <a:noFill/>
            <a:miter lim="800000"/>
            <a:headEnd/>
            <a:tailEnd/>
          </a:ln>
          <a:effectLst/>
        </p:spPr>
      </p:pic>
      <p:pic>
        <p:nvPicPr>
          <p:cNvPr id="20" name="Picture 1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21366" y="4937720"/>
            <a:ext cx="2135065" cy="1371600"/>
          </a:xfrm>
          <a:prstGeom prst="rect">
            <a:avLst/>
          </a:prstGeom>
          <a:noFill/>
          <a:ln w="12700" algn="ctr">
            <a:noFill/>
            <a:miter lim="800000"/>
            <a:headEnd/>
            <a:tailEnd/>
          </a:ln>
          <a:effectLst/>
        </p:spPr>
      </p:pic>
      <p:pic>
        <p:nvPicPr>
          <p:cNvPr id="21" name="Picture 2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48151" y="4500564"/>
            <a:ext cx="2079380" cy="1800225"/>
          </a:xfrm>
          <a:prstGeom prst="rect">
            <a:avLst/>
          </a:prstGeom>
          <a:noFill/>
          <a:ln w="12700" algn="ctr">
            <a:noFill/>
            <a:miter lim="800000"/>
            <a:headEnd/>
            <a:tailEnd/>
          </a:ln>
          <a:effectLst/>
        </p:spPr>
      </p:pic>
      <p:sp>
        <p:nvSpPr>
          <p:cNvPr id="22" name="Text Box 21"/>
          <p:cNvSpPr txBox="1">
            <a:spLocks noChangeArrowheads="1"/>
          </p:cNvSpPr>
          <p:nvPr/>
        </p:nvSpPr>
        <p:spPr bwMode="auto">
          <a:xfrm>
            <a:off x="930520" y="5616576"/>
            <a:ext cx="3119803" cy="646331"/>
          </a:xfrm>
          <a:prstGeom prst="rect">
            <a:avLst/>
          </a:prstGeom>
          <a:noFill/>
          <a:ln w="12700" algn="ctr">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chemeClr val="tx1"/>
                </a:solidFill>
                <a:effectLst/>
                <a:latin typeface="맑은 고딕" pitchFamily="50" charset="-127"/>
                <a:ea typeface="맑은 고딕" pitchFamily="50" charset="-127"/>
              </a:rPr>
              <a:t>Data </a:t>
            </a:r>
            <a:r>
              <a:rPr kumimoji="1" lang="en-US" altLang="ko-KR" sz="1200" b="0" i="0" u="none" strike="noStrike" cap="none" normalizeH="0" baseline="0" dirty="0" err="1">
                <a:ln>
                  <a:noFill/>
                </a:ln>
                <a:solidFill>
                  <a:schemeClr val="tx1"/>
                </a:solidFill>
                <a:effectLst/>
                <a:latin typeface="맑은 고딕" pitchFamily="50" charset="-127"/>
                <a:ea typeface="맑은 고딕" pitchFamily="50" charset="-127"/>
              </a:rPr>
              <a:t>sẽ</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tóm</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tắt</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chính</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về</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trung</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tâm</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hình</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thành</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và</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sự</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phân</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tán</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và</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sẽ</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biểu</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hiện</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thành</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tổ</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hợp</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những</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hạng</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mục</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quan</a:t>
            </a:r>
            <a:r>
              <a:rPr kumimoji="1" lang="en-US" altLang="ko-KR" sz="1200" b="0"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0" i="0" u="none" strike="noStrike" cap="none" normalizeH="0" dirty="0" err="1">
                <a:ln>
                  <a:noFill/>
                </a:ln>
                <a:solidFill>
                  <a:schemeClr val="tx1"/>
                </a:solidFill>
                <a:effectLst/>
                <a:latin typeface="맑은 고딕" pitchFamily="50" charset="-127"/>
                <a:ea typeface="맑은 고딕" pitchFamily="50" charset="-127"/>
              </a:rPr>
              <a:t>tâm</a:t>
            </a:r>
            <a:r>
              <a:rPr lang="en-US" altLang="ko-KR" sz="1200" dirty="0">
                <a:latin typeface="맑은 고딕" pitchFamily="50" charset="-127"/>
                <a:ea typeface="맑은 고딕" pitchFamily="50" charset="-127"/>
              </a:rPr>
              <a:t>.</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3" name="Oval 22"/>
          <p:cNvSpPr>
            <a:spLocks noChangeArrowheads="1"/>
          </p:cNvSpPr>
          <p:nvPr/>
        </p:nvSpPr>
        <p:spPr bwMode="auto">
          <a:xfrm>
            <a:off x="1831731" y="4214814"/>
            <a:ext cx="650631" cy="682625"/>
          </a:xfrm>
          <a:prstGeom prst="ellipse">
            <a:avLst/>
          </a:prstGeom>
          <a:solidFill>
            <a:srgbClr val="CCFFCC"/>
          </a:solidFill>
          <a:ln w="9525">
            <a:solidFill>
              <a:schemeClr val="bg2"/>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Quartile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cxnSp>
        <p:nvCxnSpPr>
          <p:cNvPr id="24" name="AutoShape 23"/>
          <p:cNvCxnSpPr>
            <a:cxnSpLocks noChangeShapeType="1"/>
          </p:cNvCxnSpPr>
          <p:nvPr/>
        </p:nvCxnSpPr>
        <p:spPr bwMode="auto">
          <a:xfrm flipH="1">
            <a:off x="2395904" y="2792414"/>
            <a:ext cx="480646" cy="515937"/>
          </a:xfrm>
          <a:prstGeom prst="straightConnector1">
            <a:avLst/>
          </a:prstGeom>
          <a:noFill/>
          <a:ln w="28575">
            <a:solidFill>
              <a:schemeClr val="bg2"/>
            </a:solidFill>
            <a:prstDash val="sysDot"/>
            <a:round/>
            <a:headEnd/>
            <a:tailEnd/>
          </a:ln>
          <a:effectLst/>
        </p:spPr>
      </p:cxnSp>
      <p:cxnSp>
        <p:nvCxnSpPr>
          <p:cNvPr id="25" name="AutoShape 24"/>
          <p:cNvCxnSpPr>
            <a:cxnSpLocks noChangeShapeType="1"/>
          </p:cNvCxnSpPr>
          <p:nvPr/>
        </p:nvCxnSpPr>
        <p:spPr bwMode="auto">
          <a:xfrm flipH="1">
            <a:off x="2157047" y="3890963"/>
            <a:ext cx="8792" cy="323850"/>
          </a:xfrm>
          <a:prstGeom prst="straightConnector1">
            <a:avLst/>
          </a:prstGeom>
          <a:noFill/>
          <a:ln w="12700">
            <a:solidFill>
              <a:srgbClr val="0000FF"/>
            </a:solidFill>
            <a:round/>
            <a:headEnd/>
            <a:tailEnd type="triangle" w="med" len="med"/>
          </a:ln>
          <a:effectLst/>
        </p:spPr>
      </p:cxnSp>
      <p:sp>
        <p:nvSpPr>
          <p:cNvPr id="26" name="Oval 25"/>
          <p:cNvSpPr>
            <a:spLocks noChangeArrowheads="1"/>
          </p:cNvSpPr>
          <p:nvPr/>
        </p:nvSpPr>
        <p:spPr bwMode="auto">
          <a:xfrm>
            <a:off x="1821473" y="4691064"/>
            <a:ext cx="650631" cy="682625"/>
          </a:xfrm>
          <a:prstGeom prst="ellipse">
            <a:avLst/>
          </a:prstGeom>
          <a:solidFill>
            <a:srgbClr val="CCFFCC"/>
          </a:solidFill>
          <a:ln w="9525">
            <a:solidFill>
              <a:schemeClr val="bg2"/>
            </a:solidFill>
            <a:round/>
            <a:headEnd/>
            <a:tailEnd/>
          </a:ln>
          <a:effectLst/>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Percentile</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9" name="Text Box 39"/>
          <p:cNvSpPr txBox="1">
            <a:spLocks noChangeArrowheads="1"/>
          </p:cNvSpPr>
          <p:nvPr/>
        </p:nvSpPr>
        <p:spPr bwMode="auto">
          <a:xfrm>
            <a:off x="234902" y="116632"/>
            <a:ext cx="2935162"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Tìm</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50824050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168</a:t>
            </a:fld>
            <a:endParaRPr lang="ko-KR" altLang="en-US" dirty="0"/>
          </a:p>
        </p:txBody>
      </p:sp>
      <p:sp>
        <p:nvSpPr>
          <p:cNvPr id="3" name="Rectangle 2"/>
          <p:cNvSpPr>
            <a:spLocks noChangeArrowheads="1"/>
          </p:cNvSpPr>
          <p:nvPr/>
        </p:nvSpPr>
        <p:spPr bwMode="auto">
          <a:xfrm>
            <a:off x="681377" y="1355466"/>
            <a:ext cx="1805944" cy="514738"/>
          </a:xfrm>
          <a:prstGeom prst="rect">
            <a:avLst/>
          </a:prstGeom>
          <a:solidFill>
            <a:schemeClr val="bg1">
              <a:lumMod val="85000"/>
            </a:schemeClr>
          </a:solidFill>
          <a:ln w="9525">
            <a:solidFill>
              <a:schemeClr val="accent2"/>
            </a:solidFill>
            <a:miter lim="800000"/>
            <a:headEnd/>
            <a:tailEnd/>
          </a:ln>
          <a:effectLst/>
        </p:spPr>
        <p:txBody>
          <a:bodyPr vert="horz" wrap="none" lIns="92075" tIns="72000" rIns="92075" bIns="7200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effectLst/>
                <a:latin typeface="맑은 고딕" pitchFamily="50" charset="-127"/>
                <a:ea typeface="맑은 고딕" pitchFamily="50" charset="-127"/>
              </a:rPr>
              <a:t>기술 통계학</a:t>
            </a:r>
            <a:endParaRPr kumimoji="1" lang="en-US" altLang="ko-KR" sz="1200" b="1" i="0" u="none" strike="noStrike" cap="none" normalizeH="0" baseline="0" dirty="0">
              <a:ln>
                <a:noFill/>
              </a:ln>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effectLst/>
                <a:latin typeface="맑은 고딕" pitchFamily="50" charset="-127"/>
                <a:ea typeface="맑은 고딕" pitchFamily="50" charset="-127"/>
              </a:rPr>
              <a:t>(Descriptive Statistics)</a:t>
            </a:r>
            <a:endParaRPr kumimoji="1" lang="ko-KR" sz="1800" b="0" i="0" u="none" strike="noStrike" cap="none" normalizeH="0" baseline="0" dirty="0">
              <a:ln>
                <a:noFill/>
              </a:ln>
              <a:effectLst/>
              <a:latin typeface="맑은 고딕" pitchFamily="50" charset="-127"/>
              <a:ea typeface="맑은 고딕" pitchFamily="50" charset="-127"/>
            </a:endParaRPr>
          </a:p>
        </p:txBody>
      </p:sp>
      <p:sp>
        <p:nvSpPr>
          <p:cNvPr id="4" name="Rectangle 3"/>
          <p:cNvSpPr>
            <a:spLocks noChangeArrowheads="1"/>
          </p:cNvSpPr>
          <p:nvPr/>
        </p:nvSpPr>
        <p:spPr bwMode="auto">
          <a:xfrm>
            <a:off x="4487741" y="1944428"/>
            <a:ext cx="1603131"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5" name="Rectangle 4"/>
          <p:cNvSpPr>
            <a:spLocks noChangeArrowheads="1"/>
          </p:cNvSpPr>
          <p:nvPr/>
        </p:nvSpPr>
        <p:spPr bwMode="auto">
          <a:xfrm>
            <a:off x="4487741" y="2258753"/>
            <a:ext cx="1603131"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6" name="Rectangle 5"/>
          <p:cNvSpPr>
            <a:spLocks noChangeArrowheads="1"/>
          </p:cNvSpPr>
          <p:nvPr/>
        </p:nvSpPr>
        <p:spPr bwMode="auto">
          <a:xfrm>
            <a:off x="4487741" y="2563553"/>
            <a:ext cx="1603131"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7" name="Rectangle 8"/>
          <p:cNvSpPr>
            <a:spLocks noChangeArrowheads="1"/>
          </p:cNvSpPr>
          <p:nvPr/>
        </p:nvSpPr>
        <p:spPr bwMode="auto">
          <a:xfrm>
            <a:off x="4572000" y="1906329"/>
            <a:ext cx="1864806"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r>
              <a:rPr kumimoji="1" lang="ko-KR" sz="1200" b="1" i="0" u="none" strike="noStrike" cap="none" normalizeH="0" baseline="0" dirty="0">
                <a:ln>
                  <a:noFill/>
                </a:ln>
                <a:solidFill>
                  <a:schemeClr val="tx1"/>
                </a:solidFill>
                <a:effectLst/>
                <a:latin typeface="맑은 고딕" pitchFamily="50" charset="-127"/>
                <a:ea typeface="맑은 고딕" pitchFamily="50" charset="-127"/>
              </a:rPr>
              <a:t>평균</a:t>
            </a:r>
            <a:r>
              <a:rPr lang="en-US" altLang="ko-KR" sz="1200" b="1" dirty="0">
                <a:latin typeface="맑은 고딕" pitchFamily="50" charset="-127"/>
                <a:ea typeface="맑은 고딕" pitchFamily="50" charset="-127"/>
              </a:rPr>
              <a:t> (arithmetic Mean</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8" name="Rectangle 9"/>
          <p:cNvSpPr>
            <a:spLocks noChangeArrowheads="1"/>
          </p:cNvSpPr>
          <p:nvPr/>
        </p:nvSpPr>
        <p:spPr bwMode="auto">
          <a:xfrm>
            <a:off x="4572000" y="2220654"/>
            <a:ext cx="1359346"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중앙값</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(Median)</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9" name="Rectangle 10"/>
          <p:cNvSpPr>
            <a:spLocks noChangeArrowheads="1"/>
          </p:cNvSpPr>
          <p:nvPr/>
        </p:nvSpPr>
        <p:spPr bwMode="auto">
          <a:xfrm>
            <a:off x="4572000" y="2525454"/>
            <a:ext cx="1235916"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최빈값</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(Mode)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0" name="Rectangle 11"/>
          <p:cNvSpPr>
            <a:spLocks noChangeArrowheads="1"/>
          </p:cNvSpPr>
          <p:nvPr/>
        </p:nvSpPr>
        <p:spPr bwMode="auto">
          <a:xfrm>
            <a:off x="1833169" y="3581136"/>
            <a:ext cx="2140954" cy="514738"/>
          </a:xfrm>
          <a:prstGeom prst="rect">
            <a:avLst/>
          </a:prstGeom>
          <a:noFill/>
          <a:ln w="9525">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When representing the degree</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of data spread</a:t>
            </a:r>
            <a:endParaRPr kumimoji="1" 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1" name="Rectangle 12"/>
          <p:cNvSpPr>
            <a:spLocks noChangeArrowheads="1"/>
          </p:cNvSpPr>
          <p:nvPr/>
        </p:nvSpPr>
        <p:spPr bwMode="auto">
          <a:xfrm>
            <a:off x="4352926" y="3169973"/>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2" name="Rectangle 13"/>
          <p:cNvSpPr>
            <a:spLocks noChangeArrowheads="1"/>
          </p:cNvSpPr>
          <p:nvPr/>
        </p:nvSpPr>
        <p:spPr bwMode="auto">
          <a:xfrm>
            <a:off x="4352926" y="3484298"/>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3" name="Rectangle 14"/>
          <p:cNvSpPr>
            <a:spLocks noChangeArrowheads="1"/>
          </p:cNvSpPr>
          <p:nvPr/>
        </p:nvSpPr>
        <p:spPr bwMode="auto">
          <a:xfrm>
            <a:off x="4352926" y="3798623"/>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4" name="Rectangle 17"/>
          <p:cNvSpPr>
            <a:spLocks noChangeArrowheads="1"/>
          </p:cNvSpPr>
          <p:nvPr/>
        </p:nvSpPr>
        <p:spPr bwMode="auto">
          <a:xfrm>
            <a:off x="4572001" y="3130287"/>
            <a:ext cx="2370585"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표준편차</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(Standard Deviation)</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5" name="Rectangle 18"/>
          <p:cNvSpPr>
            <a:spLocks noChangeArrowheads="1"/>
          </p:cNvSpPr>
          <p:nvPr/>
        </p:nvSpPr>
        <p:spPr bwMode="auto">
          <a:xfrm>
            <a:off x="4572001" y="3446199"/>
            <a:ext cx="1270541"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분산</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(Variance)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6" name="Rectangle 19"/>
          <p:cNvSpPr>
            <a:spLocks noChangeArrowheads="1"/>
          </p:cNvSpPr>
          <p:nvPr/>
        </p:nvSpPr>
        <p:spPr bwMode="auto">
          <a:xfrm>
            <a:off x="4572000" y="3760524"/>
            <a:ext cx="1115690"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범위</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(Range)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7" name="Rectangle 20"/>
          <p:cNvSpPr>
            <a:spLocks noChangeArrowheads="1"/>
          </p:cNvSpPr>
          <p:nvPr/>
        </p:nvSpPr>
        <p:spPr bwMode="auto">
          <a:xfrm>
            <a:off x="4352926" y="4122473"/>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8" name="Rectangle 21"/>
          <p:cNvSpPr>
            <a:spLocks noChangeArrowheads="1"/>
          </p:cNvSpPr>
          <p:nvPr/>
        </p:nvSpPr>
        <p:spPr bwMode="auto">
          <a:xfrm>
            <a:off x="4572000" y="4082787"/>
            <a:ext cx="1554849"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사분위수</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(Quartile)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9" name="Rectangle 24"/>
          <p:cNvSpPr>
            <a:spLocks noChangeArrowheads="1"/>
          </p:cNvSpPr>
          <p:nvPr/>
        </p:nvSpPr>
        <p:spPr bwMode="auto">
          <a:xfrm>
            <a:off x="4374906" y="4521902"/>
            <a:ext cx="2300654" cy="223837"/>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20" name="Rectangle 25"/>
          <p:cNvSpPr>
            <a:spLocks noChangeArrowheads="1"/>
          </p:cNvSpPr>
          <p:nvPr/>
        </p:nvSpPr>
        <p:spPr bwMode="auto">
          <a:xfrm>
            <a:off x="4374906" y="4834638"/>
            <a:ext cx="2300654"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21" name="Rectangle 27"/>
          <p:cNvSpPr>
            <a:spLocks noChangeArrowheads="1"/>
          </p:cNvSpPr>
          <p:nvPr/>
        </p:nvSpPr>
        <p:spPr bwMode="auto">
          <a:xfrm>
            <a:off x="4572001" y="4699702"/>
            <a:ext cx="2116733"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solidFill>
                  <a:schemeClr val="tx1"/>
                </a:solidFill>
                <a:effectLst/>
                <a:latin typeface="맑은 고딕" pitchFamily="50" charset="-127"/>
                <a:ea typeface="맑은 고딕" pitchFamily="50" charset="-127"/>
              </a:rPr>
              <a:t>비대칭도</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ko-KR" sz="1200" b="1" i="0" u="none" strike="noStrike" cap="none" normalizeH="0" baseline="0" dirty="0">
                <a:ln>
                  <a:noFill/>
                </a:ln>
                <a:solidFill>
                  <a:schemeClr val="tx1"/>
                </a:solidFill>
                <a:effectLst/>
                <a:latin typeface="맑은 고딕" pitchFamily="50" charset="-127"/>
                <a:ea typeface="맑은 고딕" pitchFamily="50" charset="-127"/>
              </a:rPr>
              <a:t>왜도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Skewness)</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2" name="Rectangle 28"/>
          <p:cNvSpPr>
            <a:spLocks noChangeArrowheads="1"/>
          </p:cNvSpPr>
          <p:nvPr/>
        </p:nvSpPr>
        <p:spPr bwMode="auto">
          <a:xfrm>
            <a:off x="4572000" y="5012439"/>
            <a:ext cx="2224199"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ko-KR" altLang="en-US" sz="1200" b="1" dirty="0">
                <a:latin typeface="맑은 고딕" pitchFamily="50" charset="-127"/>
                <a:ea typeface="맑은 고딕" pitchFamily="50" charset="-127"/>
              </a:rPr>
              <a:t>뾰족</a:t>
            </a:r>
            <a:r>
              <a:rPr kumimoji="1" lang="ko-KR" sz="1200" b="1" i="0" u="none" strike="noStrike" cap="none" normalizeH="0" baseline="0" dirty="0">
                <a:ln>
                  <a:noFill/>
                </a:ln>
                <a:solidFill>
                  <a:schemeClr val="tx1"/>
                </a:solidFill>
                <a:effectLst/>
                <a:latin typeface="맑은 고딕" pitchFamily="50" charset="-127"/>
                <a:ea typeface="맑은 고딕" pitchFamily="50" charset="-127"/>
              </a:rPr>
              <a:t>한 정도</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ko-KR" sz="1200" b="1" i="0" u="none" strike="noStrike" cap="none" normalizeH="0" baseline="0" dirty="0">
                <a:ln>
                  <a:noFill/>
                </a:ln>
                <a:solidFill>
                  <a:schemeClr val="tx1"/>
                </a:solidFill>
                <a:effectLst/>
                <a:latin typeface="맑은 고딕" pitchFamily="50" charset="-127"/>
                <a:ea typeface="맑은 고딕" pitchFamily="50" charset="-127"/>
              </a:rPr>
              <a:t>첨도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Kurtosis)</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3" name="Rectangle 30"/>
          <p:cNvSpPr>
            <a:spLocks noChangeArrowheads="1"/>
          </p:cNvSpPr>
          <p:nvPr/>
        </p:nvSpPr>
        <p:spPr bwMode="auto">
          <a:xfrm>
            <a:off x="1833169" y="4815588"/>
            <a:ext cx="2140954" cy="514738"/>
          </a:xfrm>
          <a:prstGeom prst="rect">
            <a:avLst/>
          </a:prstGeom>
          <a:noFill/>
          <a:ln w="9525">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When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displaying the shape of spreading data</a:t>
            </a:r>
            <a:endParaRPr kumimoji="1" 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4" name="Rectangle 31"/>
          <p:cNvSpPr>
            <a:spLocks noChangeArrowheads="1"/>
          </p:cNvSpPr>
          <p:nvPr/>
        </p:nvSpPr>
        <p:spPr bwMode="auto">
          <a:xfrm>
            <a:off x="2066175" y="2643183"/>
            <a:ext cx="1882375"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r>
              <a:rPr lang="en-US" altLang="ko-KR" sz="1200" b="1" dirty="0">
                <a:latin typeface="맑은 고딕" pitchFamily="50" charset="-127"/>
                <a:ea typeface="맑은 고딕" pitchFamily="50" charset="-127"/>
              </a:rPr>
              <a:t>(Center of distribution)</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5" name="Rectangle 32"/>
          <p:cNvSpPr>
            <a:spLocks noChangeArrowheads="1"/>
          </p:cNvSpPr>
          <p:nvPr/>
        </p:nvSpPr>
        <p:spPr bwMode="auto">
          <a:xfrm>
            <a:off x="1604575" y="4071943"/>
            <a:ext cx="2756780"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(Spreading degree of distribution )</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6" name="Rectangle 33"/>
          <p:cNvSpPr>
            <a:spLocks noChangeArrowheads="1"/>
          </p:cNvSpPr>
          <p:nvPr/>
        </p:nvSpPr>
        <p:spPr bwMode="auto">
          <a:xfrm>
            <a:off x="1934289" y="5294500"/>
            <a:ext cx="2096600"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(Shape of spreading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data</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cxnSp>
        <p:nvCxnSpPr>
          <p:cNvPr id="27" name="AutoShape 34"/>
          <p:cNvCxnSpPr>
            <a:cxnSpLocks noChangeShapeType="1"/>
            <a:stCxn id="3" idx="2"/>
            <a:endCxn id="33" idx="1"/>
          </p:cNvCxnSpPr>
          <p:nvPr/>
        </p:nvCxnSpPr>
        <p:spPr bwMode="auto">
          <a:xfrm rot="16200000" flipH="1">
            <a:off x="1450955" y="2003598"/>
            <a:ext cx="515609" cy="248820"/>
          </a:xfrm>
          <a:prstGeom prst="bentConnector2">
            <a:avLst/>
          </a:prstGeom>
          <a:noFill/>
          <a:ln w="9525">
            <a:solidFill>
              <a:schemeClr val="tx1"/>
            </a:solidFill>
            <a:miter lim="800000"/>
            <a:headEnd/>
            <a:tailEnd/>
          </a:ln>
          <a:effectLst/>
        </p:spPr>
      </p:cxnSp>
      <p:cxnSp>
        <p:nvCxnSpPr>
          <p:cNvPr id="28" name="AutoShape 35"/>
          <p:cNvCxnSpPr>
            <a:cxnSpLocks noChangeShapeType="1"/>
            <a:stCxn id="3" idx="2"/>
            <a:endCxn id="10" idx="1"/>
          </p:cNvCxnSpPr>
          <p:nvPr/>
        </p:nvCxnSpPr>
        <p:spPr bwMode="auto">
          <a:xfrm rot="16200000" flipH="1">
            <a:off x="724609" y="2729944"/>
            <a:ext cx="1968301" cy="248820"/>
          </a:xfrm>
          <a:prstGeom prst="bentConnector2">
            <a:avLst/>
          </a:prstGeom>
          <a:noFill/>
          <a:ln w="9525">
            <a:solidFill>
              <a:schemeClr val="tx1"/>
            </a:solidFill>
            <a:miter lim="800000"/>
            <a:headEnd/>
            <a:tailEnd/>
          </a:ln>
          <a:effectLst/>
        </p:spPr>
      </p:cxnSp>
      <p:cxnSp>
        <p:nvCxnSpPr>
          <p:cNvPr id="29" name="AutoShape 36"/>
          <p:cNvCxnSpPr>
            <a:cxnSpLocks noChangeShapeType="1"/>
            <a:stCxn id="3" idx="2"/>
            <a:endCxn id="23" idx="1"/>
          </p:cNvCxnSpPr>
          <p:nvPr/>
        </p:nvCxnSpPr>
        <p:spPr bwMode="auto">
          <a:xfrm rot="16200000" flipH="1">
            <a:off x="107383" y="3347170"/>
            <a:ext cx="3202753" cy="248820"/>
          </a:xfrm>
          <a:prstGeom prst="bentConnector2">
            <a:avLst/>
          </a:prstGeom>
          <a:noFill/>
          <a:ln w="9525">
            <a:solidFill>
              <a:schemeClr val="tx1"/>
            </a:solidFill>
            <a:miter lim="800000"/>
            <a:headEnd/>
            <a:tailEnd/>
          </a:ln>
          <a:effectLst/>
        </p:spPr>
      </p:cxnSp>
      <p:sp>
        <p:nvSpPr>
          <p:cNvPr id="30" name="Rectangle 37"/>
          <p:cNvSpPr>
            <a:spLocks noChangeArrowheads="1"/>
          </p:cNvSpPr>
          <p:nvPr/>
        </p:nvSpPr>
        <p:spPr bwMode="auto">
          <a:xfrm>
            <a:off x="681377" y="5733256"/>
            <a:ext cx="1763618" cy="514738"/>
          </a:xfrm>
          <a:prstGeom prst="rect">
            <a:avLst/>
          </a:prstGeom>
          <a:solidFill>
            <a:schemeClr val="bg1">
              <a:lumMod val="85000"/>
            </a:schemeClr>
          </a:solidFill>
          <a:ln w="9525" algn="ctr">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sz="1200" b="1" i="0" u="none" strike="noStrike" cap="none" normalizeH="0" baseline="0" dirty="0">
                <a:ln>
                  <a:noFill/>
                </a:ln>
                <a:effectLst/>
                <a:latin typeface="맑은 고딕" pitchFamily="50" charset="-127"/>
                <a:ea typeface="맑은 고딕" pitchFamily="50" charset="-127"/>
              </a:rPr>
              <a:t>추리 통계학</a:t>
            </a:r>
            <a:endParaRPr kumimoji="1" lang="en-US" altLang="ko-KR" sz="1200" b="1" i="0" u="none" strike="noStrike" cap="none" normalizeH="0" baseline="0" dirty="0">
              <a:ln>
                <a:noFill/>
              </a:ln>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effectLst/>
                <a:latin typeface="맑은 고딕" pitchFamily="50" charset="-127"/>
                <a:ea typeface="맑은 고딕" pitchFamily="50" charset="-127"/>
              </a:rPr>
              <a:t>(Inferential Statistics) </a:t>
            </a:r>
            <a:endParaRPr kumimoji="1" lang="ko-KR" altLang="ko-KR" sz="1800" b="0" i="0" u="none" strike="noStrike" cap="none" normalizeH="0" baseline="0" dirty="0">
              <a:ln>
                <a:noFill/>
              </a:ln>
              <a:effectLst/>
              <a:latin typeface="맑은 고딕" pitchFamily="50" charset="-127"/>
              <a:ea typeface="맑은 고딕" pitchFamily="50" charset="-127"/>
            </a:endParaRPr>
          </a:p>
        </p:txBody>
      </p:sp>
      <p:sp>
        <p:nvSpPr>
          <p:cNvPr id="31" name="Text Box 38"/>
          <p:cNvSpPr txBox="1">
            <a:spLocks noChangeArrowheads="1"/>
          </p:cNvSpPr>
          <p:nvPr/>
        </p:nvSpPr>
        <p:spPr bwMode="auto">
          <a:xfrm>
            <a:off x="2476472" y="1357299"/>
            <a:ext cx="6283070" cy="46166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p>
            <a:pPr lvl="0"/>
            <a:r>
              <a:rPr lang="en-US" altLang="ko-KR" sz="1200" b="1" dirty="0">
                <a:latin typeface="맑은 고딕" pitchFamily="50" charset="-127"/>
                <a:ea typeface="맑은 고딕" pitchFamily="50" charset="-127"/>
              </a:rPr>
              <a:t>Descriptive statistics are statistics related to the calculation of data characteristics, such as summarizing and summarizing statistical data.</a:t>
            </a:r>
            <a:endParaRPr kumimoji="1" 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32" name="Text Box 39"/>
          <p:cNvSpPr txBox="1">
            <a:spLocks noChangeArrowheads="1"/>
          </p:cNvSpPr>
          <p:nvPr/>
        </p:nvSpPr>
        <p:spPr bwMode="auto">
          <a:xfrm>
            <a:off x="2593292" y="5753418"/>
            <a:ext cx="5833906" cy="46166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Statistics that</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investigate the characteristic of the population based on analysis of the sample drawn from the population</a:t>
            </a:r>
            <a:endParaRPr kumimoji="1" 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33" name="Rectangle 40"/>
          <p:cNvSpPr>
            <a:spLocks noChangeArrowheads="1"/>
          </p:cNvSpPr>
          <p:nvPr/>
        </p:nvSpPr>
        <p:spPr bwMode="auto">
          <a:xfrm>
            <a:off x="1833169" y="2128444"/>
            <a:ext cx="2140954" cy="514738"/>
          </a:xfrm>
          <a:prstGeom prst="rect">
            <a:avLst/>
          </a:prstGeom>
          <a:solidFill>
            <a:schemeClr val="bg1"/>
          </a:solidFill>
          <a:ln w="9525">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lvl="0"/>
            <a:r>
              <a:rPr lang="en-US" altLang="ko-KR" sz="1200" b="1" dirty="0">
                <a:latin typeface="맑은 고딕" pitchFamily="50" charset="-127"/>
                <a:ea typeface="맑은 고딕" pitchFamily="50" charset="-127"/>
              </a:rPr>
              <a:t>When representing the center of data</a:t>
            </a:r>
            <a:endParaRPr kumimoji="1" 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cxnSp>
        <p:nvCxnSpPr>
          <p:cNvPr id="35" name="꺾인 연결선 34"/>
          <p:cNvCxnSpPr>
            <a:stCxn id="33" idx="3"/>
            <a:endCxn id="7" idx="1"/>
          </p:cNvCxnSpPr>
          <p:nvPr/>
        </p:nvCxnSpPr>
        <p:spPr>
          <a:xfrm flipV="1">
            <a:off x="3974123" y="2045150"/>
            <a:ext cx="597877" cy="340663"/>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33" idx="3"/>
            <a:endCxn id="8" idx="1"/>
          </p:cNvCxnSpPr>
          <p:nvPr/>
        </p:nvCxnSpPr>
        <p:spPr>
          <a:xfrm flipV="1">
            <a:off x="3974123" y="2359475"/>
            <a:ext cx="597877" cy="26338"/>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3" idx="3"/>
            <a:endCxn id="9" idx="1"/>
          </p:cNvCxnSpPr>
          <p:nvPr/>
        </p:nvCxnSpPr>
        <p:spPr>
          <a:xfrm>
            <a:off x="3974123" y="2385813"/>
            <a:ext cx="597877" cy="278462"/>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10" idx="3"/>
            <a:endCxn id="14" idx="1"/>
          </p:cNvCxnSpPr>
          <p:nvPr/>
        </p:nvCxnSpPr>
        <p:spPr>
          <a:xfrm flipV="1">
            <a:off x="3974123" y="3269108"/>
            <a:ext cx="597878" cy="5693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10" idx="3"/>
            <a:endCxn id="15" idx="1"/>
          </p:cNvCxnSpPr>
          <p:nvPr/>
        </p:nvCxnSpPr>
        <p:spPr>
          <a:xfrm flipV="1">
            <a:off x="3974123" y="3585020"/>
            <a:ext cx="597878" cy="25348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10" idx="3"/>
            <a:endCxn id="16" idx="1"/>
          </p:cNvCxnSpPr>
          <p:nvPr/>
        </p:nvCxnSpPr>
        <p:spPr>
          <a:xfrm>
            <a:off x="3974123" y="3838505"/>
            <a:ext cx="597877" cy="60840"/>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10" idx="3"/>
            <a:endCxn id="18" idx="1"/>
          </p:cNvCxnSpPr>
          <p:nvPr/>
        </p:nvCxnSpPr>
        <p:spPr>
          <a:xfrm>
            <a:off x="3974123" y="3838505"/>
            <a:ext cx="597877" cy="383103"/>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23" idx="3"/>
            <a:endCxn id="21" idx="1"/>
          </p:cNvCxnSpPr>
          <p:nvPr/>
        </p:nvCxnSpPr>
        <p:spPr>
          <a:xfrm flipV="1">
            <a:off x="3974123" y="4838523"/>
            <a:ext cx="597878" cy="234434"/>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23" idx="3"/>
            <a:endCxn id="22" idx="1"/>
          </p:cNvCxnSpPr>
          <p:nvPr/>
        </p:nvCxnSpPr>
        <p:spPr>
          <a:xfrm>
            <a:off x="3974123" y="5072957"/>
            <a:ext cx="597877" cy="78303"/>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647367" y="3273604"/>
            <a:ext cx="582211" cy="572464"/>
          </a:xfrm>
          <a:prstGeom prst="rect">
            <a:avLst/>
          </a:prstGeom>
          <a:noFill/>
        </p:spPr>
        <p:txBody>
          <a:bodyPr wrap="none" rtlCol="0">
            <a:spAutoFit/>
          </a:bodyPr>
          <a:lstStyle/>
          <a:p>
            <a:pPr marL="285750" indent="-285750">
              <a:lnSpc>
                <a:spcPct val="130000"/>
              </a:lnSpc>
              <a:buClr>
                <a:srgbClr val="C5003D"/>
              </a:buClr>
              <a:buFont typeface="Wingdings" panose="05000000000000000000" pitchFamily="2" charset="2"/>
              <a:buChar char="ü"/>
            </a:pPr>
            <a:r>
              <a:rPr lang="en-US" altLang="ko-KR" sz="2400" b="1" dirty="0"/>
              <a:t> </a:t>
            </a:r>
            <a:endParaRPr lang="ko-KR" altLang="en-US" sz="2400" b="1" dirty="0"/>
          </a:p>
        </p:txBody>
      </p:sp>
      <p:sp>
        <p:nvSpPr>
          <p:cNvPr id="47" name="Rectangle 2"/>
          <p:cNvSpPr>
            <a:spLocks noChangeArrowheads="1"/>
          </p:cNvSpPr>
          <p:nvPr/>
        </p:nvSpPr>
        <p:spPr bwMode="auto">
          <a:xfrm>
            <a:off x="317990" y="857232"/>
            <a:ext cx="3456384" cy="433388"/>
          </a:xfrm>
          <a:prstGeom prst="rect">
            <a:avLst/>
          </a:prstGeom>
          <a:noFill/>
          <a:ln w="9525" algn="ctr">
            <a:noFill/>
            <a:miter lim="800000"/>
            <a:headEnd/>
            <a:tailEnd/>
          </a:ln>
          <a:effectLst/>
        </p:spPr>
        <p:txBody>
          <a:bodyPr vert="horz" wrap="square" lIns="91440" tIns="45720" rIns="91440" bIns="45720" numCol="1" anchor="ctr" anchorCtr="0" compatLnSpc="1">
            <a:prstTxWarp prst="textNoShape">
              <a:avLst/>
            </a:prstTxWarp>
          </a:bodyPr>
          <a:lstStyle/>
          <a:p>
            <a:pPr marL="0" marR="0" lvl="0" indent="0" defTabSz="914400" rtl="0" eaLnBrk="1" fontAlgn="base" latinLnBrk="1" hangingPunct="1">
              <a:lnSpc>
                <a:spcPct val="100000"/>
              </a:lnSpc>
              <a:spcBef>
                <a:spcPct val="0"/>
              </a:spcBef>
              <a:spcAft>
                <a:spcPct val="0"/>
              </a:spcAft>
              <a:buClrTx/>
              <a:buSzTx/>
              <a:buFontTx/>
              <a:buNone/>
              <a:tabLst/>
            </a:pPr>
            <a:r>
              <a:rPr kumimoji="1" lang="en-US" altLang="ko-KR" sz="1600" b="1" i="0" u="none" strike="noStrike" cap="none" normalizeH="0" baseline="0" dirty="0">
                <a:ln>
                  <a:noFill/>
                </a:ln>
                <a:solidFill>
                  <a:schemeClr val="tx1"/>
                </a:solidFill>
                <a:effectLst/>
                <a:latin typeface="맑은 고딕" pitchFamily="50" charset="-127"/>
                <a:ea typeface="맑은 고딕" pitchFamily="50" charset="-127"/>
              </a:rPr>
              <a:t>Data Summary</a:t>
            </a:r>
            <a:endParaRPr kumimoji="1" lang="ko-KR" altLang="ko-KR" sz="24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48"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877923354"/>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169</a:t>
            </a:fld>
            <a:endParaRPr lang="ko-KR" altLang="en-US" dirty="0"/>
          </a:p>
        </p:txBody>
      </p:sp>
      <p:sp>
        <p:nvSpPr>
          <p:cNvPr id="3" name="Text Box 39"/>
          <p:cNvSpPr txBox="1">
            <a:spLocks noChangeArrowheads="1"/>
          </p:cNvSpPr>
          <p:nvPr/>
        </p:nvSpPr>
        <p:spPr bwMode="auto">
          <a:xfrm>
            <a:off x="317989" y="764704"/>
            <a:ext cx="3217997"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Calculation of dispersion</a:t>
            </a:r>
          </a:p>
        </p:txBody>
      </p:sp>
      <p:sp>
        <p:nvSpPr>
          <p:cNvPr id="5" name="TextBox 4"/>
          <p:cNvSpPr txBox="1"/>
          <p:nvPr/>
        </p:nvSpPr>
        <p:spPr>
          <a:xfrm>
            <a:off x="517396" y="1216380"/>
            <a:ext cx="8766824" cy="412421"/>
          </a:xfrm>
          <a:prstGeom prst="rect">
            <a:avLst/>
          </a:prstGeom>
          <a:noFill/>
        </p:spPr>
        <p:txBody>
          <a:bodyPr wrap="none" rtlCol="0">
            <a:spAutoFit/>
          </a:bodyPr>
          <a:lstStyle/>
          <a:p>
            <a:pPr>
              <a:lnSpc>
                <a:spcPct val="130000"/>
              </a:lnSpc>
              <a:buClr>
                <a:srgbClr val="C5003D"/>
              </a:buClr>
            </a:pPr>
            <a:r>
              <a:rPr lang="en-US" altLang="ko-KR" sz="1600" b="1" dirty="0"/>
              <a:t>Case 1. Data was collected in the some process. What is the dispersion of this process?</a:t>
            </a:r>
            <a:endParaRPr lang="ko-KR" altLang="en-US" sz="1600" b="1" dirty="0"/>
          </a:p>
        </p:txBody>
      </p:sp>
      <p:sp>
        <p:nvSpPr>
          <p:cNvPr id="6" name="TextBox 5"/>
          <p:cNvSpPr txBox="1"/>
          <p:nvPr/>
        </p:nvSpPr>
        <p:spPr>
          <a:xfrm>
            <a:off x="2315737" y="1909593"/>
            <a:ext cx="5323893" cy="412421"/>
          </a:xfrm>
          <a:prstGeom prst="rect">
            <a:avLst/>
          </a:prstGeom>
          <a:noFill/>
        </p:spPr>
        <p:txBody>
          <a:bodyPr wrap="none" rtlCol="0">
            <a:spAutoFit/>
          </a:bodyPr>
          <a:lstStyle/>
          <a:p>
            <a:pPr>
              <a:lnSpc>
                <a:spcPct val="130000"/>
              </a:lnSpc>
              <a:buClr>
                <a:srgbClr val="C5003D"/>
              </a:buClr>
            </a:pPr>
            <a:r>
              <a:rPr lang="en-US" altLang="ko-KR" sz="1600" b="1" dirty="0"/>
              <a:t>5.1,  5.3,  5.2,   5.3,   5.4,   5.2,   5.3,   5,5,  5.3,   5.2</a:t>
            </a:r>
            <a:endParaRPr lang="ko-KR" altLang="en-US" sz="1600" b="1" dirty="0"/>
          </a:p>
        </p:txBody>
      </p:sp>
      <p:cxnSp>
        <p:nvCxnSpPr>
          <p:cNvPr id="8" name="직선 연결선 7"/>
          <p:cNvCxnSpPr/>
          <p:nvPr/>
        </p:nvCxnSpPr>
        <p:spPr>
          <a:xfrm>
            <a:off x="849740" y="5218689"/>
            <a:ext cx="31905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378526"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2910277"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p:nvCxnSpPr>
        <p:spPr>
          <a:xfrm>
            <a:off x="3442028"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p:cNvCxnSpPr/>
          <p:nvPr/>
        </p:nvCxnSpPr>
        <p:spPr>
          <a:xfrm>
            <a:off x="1315023"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직선 연결선 13"/>
          <p:cNvCxnSpPr/>
          <p:nvPr/>
        </p:nvCxnSpPr>
        <p:spPr>
          <a:xfrm>
            <a:off x="1846774"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115616" y="5290698"/>
            <a:ext cx="388248" cy="332399"/>
          </a:xfrm>
          <a:prstGeom prst="rect">
            <a:avLst/>
          </a:prstGeom>
          <a:noFill/>
        </p:spPr>
        <p:txBody>
          <a:bodyPr wrap="none" rtlCol="0">
            <a:spAutoFit/>
          </a:bodyPr>
          <a:lstStyle/>
          <a:p>
            <a:pPr>
              <a:lnSpc>
                <a:spcPct val="130000"/>
              </a:lnSpc>
              <a:buClr>
                <a:srgbClr val="C5003D"/>
              </a:buClr>
            </a:pPr>
            <a:r>
              <a:rPr lang="en-US" altLang="ko-KR" sz="1200" dirty="0"/>
              <a:t>5.1</a:t>
            </a:r>
            <a:endParaRPr lang="ko-KR" altLang="en-US" sz="1200" dirty="0"/>
          </a:p>
        </p:txBody>
      </p:sp>
      <p:sp>
        <p:nvSpPr>
          <p:cNvPr id="17" name="TextBox 16"/>
          <p:cNvSpPr txBox="1"/>
          <p:nvPr/>
        </p:nvSpPr>
        <p:spPr>
          <a:xfrm>
            <a:off x="1647368" y="5290698"/>
            <a:ext cx="388248" cy="332399"/>
          </a:xfrm>
          <a:prstGeom prst="rect">
            <a:avLst/>
          </a:prstGeom>
          <a:noFill/>
        </p:spPr>
        <p:txBody>
          <a:bodyPr wrap="none" rtlCol="0">
            <a:spAutoFit/>
          </a:bodyPr>
          <a:lstStyle/>
          <a:p>
            <a:pPr>
              <a:lnSpc>
                <a:spcPct val="130000"/>
              </a:lnSpc>
              <a:buClr>
                <a:srgbClr val="C5003D"/>
              </a:buClr>
            </a:pPr>
            <a:r>
              <a:rPr lang="en-US" altLang="ko-KR" sz="1200" dirty="0"/>
              <a:t>5.2</a:t>
            </a:r>
            <a:endParaRPr lang="ko-KR" altLang="en-US" sz="1200" dirty="0"/>
          </a:p>
        </p:txBody>
      </p:sp>
      <p:sp>
        <p:nvSpPr>
          <p:cNvPr id="18" name="TextBox 17"/>
          <p:cNvSpPr txBox="1"/>
          <p:nvPr/>
        </p:nvSpPr>
        <p:spPr>
          <a:xfrm>
            <a:off x="2179119" y="5290698"/>
            <a:ext cx="388248" cy="332399"/>
          </a:xfrm>
          <a:prstGeom prst="rect">
            <a:avLst/>
          </a:prstGeom>
          <a:noFill/>
        </p:spPr>
        <p:txBody>
          <a:bodyPr wrap="none" rtlCol="0">
            <a:spAutoFit/>
          </a:bodyPr>
          <a:lstStyle/>
          <a:p>
            <a:pPr>
              <a:lnSpc>
                <a:spcPct val="130000"/>
              </a:lnSpc>
              <a:buClr>
                <a:srgbClr val="C5003D"/>
              </a:buClr>
            </a:pPr>
            <a:r>
              <a:rPr lang="en-US" altLang="ko-KR" sz="1200" dirty="0"/>
              <a:t>5.3</a:t>
            </a:r>
            <a:endParaRPr lang="ko-KR" altLang="en-US" sz="1200" dirty="0"/>
          </a:p>
        </p:txBody>
      </p:sp>
      <p:sp>
        <p:nvSpPr>
          <p:cNvPr id="19" name="TextBox 18"/>
          <p:cNvSpPr txBox="1"/>
          <p:nvPr/>
        </p:nvSpPr>
        <p:spPr>
          <a:xfrm>
            <a:off x="2710870" y="5290698"/>
            <a:ext cx="388248" cy="332399"/>
          </a:xfrm>
          <a:prstGeom prst="rect">
            <a:avLst/>
          </a:prstGeom>
          <a:noFill/>
        </p:spPr>
        <p:txBody>
          <a:bodyPr wrap="none" rtlCol="0">
            <a:spAutoFit/>
          </a:bodyPr>
          <a:lstStyle/>
          <a:p>
            <a:pPr>
              <a:lnSpc>
                <a:spcPct val="130000"/>
              </a:lnSpc>
              <a:buClr>
                <a:srgbClr val="C5003D"/>
              </a:buClr>
            </a:pPr>
            <a:r>
              <a:rPr lang="en-US" altLang="ko-KR" sz="1200" dirty="0"/>
              <a:t>5.4</a:t>
            </a:r>
            <a:endParaRPr lang="ko-KR" altLang="en-US" sz="1200" dirty="0"/>
          </a:p>
        </p:txBody>
      </p:sp>
      <p:sp>
        <p:nvSpPr>
          <p:cNvPr id="21" name="TextBox 20"/>
          <p:cNvSpPr txBox="1"/>
          <p:nvPr/>
        </p:nvSpPr>
        <p:spPr>
          <a:xfrm>
            <a:off x="3235939" y="5290698"/>
            <a:ext cx="388248" cy="332399"/>
          </a:xfrm>
          <a:prstGeom prst="rect">
            <a:avLst/>
          </a:prstGeom>
          <a:noFill/>
        </p:spPr>
        <p:txBody>
          <a:bodyPr wrap="none" rtlCol="0">
            <a:spAutoFit/>
          </a:bodyPr>
          <a:lstStyle/>
          <a:p>
            <a:pPr>
              <a:lnSpc>
                <a:spcPct val="130000"/>
              </a:lnSpc>
              <a:buClr>
                <a:srgbClr val="C5003D"/>
              </a:buClr>
            </a:pPr>
            <a:r>
              <a:rPr lang="en-US" altLang="ko-KR" sz="1200" dirty="0"/>
              <a:t>5.5</a:t>
            </a:r>
            <a:endParaRPr lang="ko-KR" altLang="en-US" sz="1200" dirty="0"/>
          </a:p>
        </p:txBody>
      </p:sp>
      <p:sp>
        <p:nvSpPr>
          <p:cNvPr id="22" name="TextBox 21"/>
          <p:cNvSpPr txBox="1"/>
          <p:nvPr/>
        </p:nvSpPr>
        <p:spPr>
          <a:xfrm>
            <a:off x="2245588"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3" name="TextBox 22"/>
          <p:cNvSpPr txBox="1"/>
          <p:nvPr/>
        </p:nvSpPr>
        <p:spPr>
          <a:xfrm>
            <a:off x="1182800"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4" name="TextBox 23"/>
          <p:cNvSpPr txBox="1"/>
          <p:nvPr/>
        </p:nvSpPr>
        <p:spPr>
          <a:xfrm>
            <a:off x="1714551"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5" name="TextBox 24"/>
          <p:cNvSpPr txBox="1"/>
          <p:nvPr/>
        </p:nvSpPr>
        <p:spPr>
          <a:xfrm>
            <a:off x="2777339"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6" name="TextBox 25"/>
          <p:cNvSpPr txBox="1"/>
          <p:nvPr/>
        </p:nvSpPr>
        <p:spPr>
          <a:xfrm>
            <a:off x="3309091"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7" name="TextBox 26"/>
          <p:cNvSpPr txBox="1"/>
          <p:nvPr/>
        </p:nvSpPr>
        <p:spPr>
          <a:xfrm>
            <a:off x="1713836" y="428258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8" name="TextBox 27"/>
          <p:cNvSpPr txBox="1"/>
          <p:nvPr/>
        </p:nvSpPr>
        <p:spPr>
          <a:xfrm>
            <a:off x="2245588" y="428258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9" name="TextBox 28"/>
          <p:cNvSpPr txBox="1"/>
          <p:nvPr/>
        </p:nvSpPr>
        <p:spPr>
          <a:xfrm>
            <a:off x="2245588" y="392254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30" name="TextBox 29"/>
          <p:cNvSpPr txBox="1"/>
          <p:nvPr/>
        </p:nvSpPr>
        <p:spPr>
          <a:xfrm>
            <a:off x="2245588" y="356250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31" name="TextBox 30"/>
          <p:cNvSpPr txBox="1"/>
          <p:nvPr/>
        </p:nvSpPr>
        <p:spPr>
          <a:xfrm>
            <a:off x="1580899" y="1916832"/>
            <a:ext cx="583814" cy="372410"/>
          </a:xfrm>
          <a:prstGeom prst="rect">
            <a:avLst/>
          </a:prstGeom>
          <a:noFill/>
        </p:spPr>
        <p:txBody>
          <a:bodyPr wrap="none" rtlCol="0">
            <a:spAutoFit/>
          </a:bodyPr>
          <a:lstStyle/>
          <a:p>
            <a:pPr>
              <a:lnSpc>
                <a:spcPct val="130000"/>
              </a:lnSpc>
              <a:buClr>
                <a:srgbClr val="C5003D"/>
              </a:buClr>
            </a:pPr>
            <a:r>
              <a:rPr lang="en-US" altLang="ko-KR" sz="1400" b="1" dirty="0"/>
              <a:t>Data</a:t>
            </a:r>
            <a:endParaRPr lang="ko-KR" altLang="en-US" sz="1400" b="1" dirty="0"/>
          </a:p>
        </p:txBody>
      </p:sp>
      <p:sp>
        <p:nvSpPr>
          <p:cNvPr id="32" name="TextBox 31"/>
          <p:cNvSpPr txBox="1"/>
          <p:nvPr/>
        </p:nvSpPr>
        <p:spPr>
          <a:xfrm>
            <a:off x="1315023" y="2708920"/>
            <a:ext cx="2071721" cy="412421"/>
          </a:xfrm>
          <a:prstGeom prst="rect">
            <a:avLst/>
          </a:prstGeom>
          <a:noFill/>
        </p:spPr>
        <p:txBody>
          <a:bodyPr wrap="none" rtlCol="0">
            <a:spAutoFit/>
          </a:bodyPr>
          <a:lstStyle/>
          <a:p>
            <a:pPr>
              <a:lnSpc>
                <a:spcPct val="130000"/>
              </a:lnSpc>
              <a:buClr>
                <a:srgbClr val="C5003D"/>
              </a:buClr>
            </a:pPr>
            <a:r>
              <a:rPr lang="en-US" altLang="ko-KR" sz="1600" u="sng" dirty="0"/>
              <a:t>Dot Picture for Data</a:t>
            </a:r>
            <a:endParaRPr lang="ko-KR" altLang="en-US" sz="1600" u="sng" dirty="0"/>
          </a:p>
        </p:txBody>
      </p:sp>
      <p:sp>
        <p:nvSpPr>
          <p:cNvPr id="4" name="TextBox 3"/>
          <p:cNvSpPr txBox="1"/>
          <p:nvPr/>
        </p:nvSpPr>
        <p:spPr>
          <a:xfrm>
            <a:off x="5502565" y="2708920"/>
            <a:ext cx="1913601" cy="412421"/>
          </a:xfrm>
          <a:prstGeom prst="rect">
            <a:avLst/>
          </a:prstGeom>
          <a:noFill/>
        </p:spPr>
        <p:txBody>
          <a:bodyPr wrap="none" rtlCol="0">
            <a:spAutoFit/>
          </a:bodyPr>
          <a:lstStyle/>
          <a:p>
            <a:pPr>
              <a:lnSpc>
                <a:spcPct val="130000"/>
              </a:lnSpc>
              <a:buClr>
                <a:srgbClr val="C5003D"/>
              </a:buClr>
            </a:pPr>
            <a:r>
              <a:rPr lang="en-US" altLang="ko-KR" sz="1600" u="sng" dirty="0"/>
              <a:t>How to express it?</a:t>
            </a:r>
            <a:endParaRPr lang="ko-KR" altLang="en-US" sz="1600" u="sng" dirty="0"/>
          </a:p>
        </p:txBody>
      </p:sp>
      <p:sp>
        <p:nvSpPr>
          <p:cNvPr id="7" name="TextBox 6"/>
          <p:cNvSpPr txBox="1"/>
          <p:nvPr/>
        </p:nvSpPr>
        <p:spPr>
          <a:xfrm>
            <a:off x="4724372" y="4861920"/>
            <a:ext cx="1210588" cy="372410"/>
          </a:xfrm>
          <a:prstGeom prst="rect">
            <a:avLst/>
          </a:prstGeom>
          <a:noFill/>
        </p:spPr>
        <p:txBody>
          <a:bodyPr wrap="none" rtlCol="0">
            <a:spAutoFit/>
          </a:bodyPr>
          <a:lstStyle/>
          <a:p>
            <a:pPr>
              <a:lnSpc>
                <a:spcPct val="130000"/>
              </a:lnSpc>
              <a:buClr>
                <a:srgbClr val="C5003D"/>
              </a:buClr>
            </a:pPr>
            <a:r>
              <a:rPr lang="en-US" altLang="ko-KR" sz="1400" b="1" dirty="0"/>
              <a:t>Mean</a:t>
            </a:r>
            <a:r>
              <a:rPr lang="ko-KR" altLang="en-US" sz="1400" b="1" dirty="0"/>
              <a:t>  </a:t>
            </a:r>
            <a:r>
              <a:rPr lang="en-US" altLang="ko-KR" sz="1400" b="1" dirty="0"/>
              <a:t>5.28 </a:t>
            </a:r>
            <a:endParaRPr lang="ko-KR" altLang="en-US" sz="1400" b="1" dirty="0"/>
          </a:p>
        </p:txBody>
      </p:sp>
      <p:sp>
        <p:nvSpPr>
          <p:cNvPr id="33" name="TextBox 32"/>
          <p:cNvSpPr txBox="1"/>
          <p:nvPr/>
        </p:nvSpPr>
        <p:spPr>
          <a:xfrm>
            <a:off x="6354246" y="4861920"/>
            <a:ext cx="1205779" cy="372410"/>
          </a:xfrm>
          <a:prstGeom prst="rect">
            <a:avLst/>
          </a:prstGeom>
          <a:noFill/>
        </p:spPr>
        <p:txBody>
          <a:bodyPr wrap="none" rtlCol="0">
            <a:spAutoFit/>
          </a:bodyPr>
          <a:lstStyle/>
          <a:p>
            <a:pPr>
              <a:lnSpc>
                <a:spcPct val="130000"/>
              </a:lnSpc>
              <a:buClr>
                <a:srgbClr val="C5003D"/>
              </a:buClr>
            </a:pPr>
            <a:r>
              <a:rPr lang="en-US" altLang="ko-KR" sz="1400" b="1" dirty="0"/>
              <a:t>Median</a:t>
            </a:r>
            <a:r>
              <a:rPr lang="ko-KR" altLang="en-US" sz="1400" b="1" dirty="0"/>
              <a:t>  </a:t>
            </a:r>
            <a:r>
              <a:rPr lang="en-US" altLang="ko-KR" sz="1400" b="1" dirty="0"/>
              <a:t>5.3</a:t>
            </a:r>
            <a:endParaRPr lang="ko-KR" altLang="en-US" sz="1400" b="1" dirty="0"/>
          </a:p>
        </p:txBody>
      </p:sp>
      <p:sp>
        <p:nvSpPr>
          <p:cNvPr id="34" name="TextBox 33"/>
          <p:cNvSpPr txBox="1"/>
          <p:nvPr/>
        </p:nvSpPr>
        <p:spPr>
          <a:xfrm>
            <a:off x="7683626" y="4861920"/>
            <a:ext cx="1059906" cy="372410"/>
          </a:xfrm>
          <a:prstGeom prst="rect">
            <a:avLst/>
          </a:prstGeom>
          <a:noFill/>
        </p:spPr>
        <p:txBody>
          <a:bodyPr wrap="none" rtlCol="0">
            <a:spAutoFit/>
          </a:bodyPr>
          <a:lstStyle/>
          <a:p>
            <a:pPr>
              <a:lnSpc>
                <a:spcPct val="130000"/>
              </a:lnSpc>
              <a:buClr>
                <a:srgbClr val="C5003D"/>
              </a:buClr>
            </a:pPr>
            <a:r>
              <a:rPr lang="en-US" altLang="ko-KR" sz="1400" b="1" dirty="0"/>
              <a:t>Mode</a:t>
            </a:r>
            <a:r>
              <a:rPr lang="ko-KR" altLang="en-US" sz="1400" b="1" dirty="0"/>
              <a:t>  </a:t>
            </a:r>
            <a:r>
              <a:rPr lang="en-US" altLang="ko-KR" sz="1400" b="1" dirty="0"/>
              <a:t>5.3</a:t>
            </a:r>
            <a:endParaRPr lang="ko-KR" altLang="en-US" sz="1400" b="1" dirty="0"/>
          </a:p>
        </p:txBody>
      </p:sp>
      <p:sp>
        <p:nvSpPr>
          <p:cNvPr id="35" name="TextBox 34"/>
          <p:cNvSpPr txBox="1"/>
          <p:nvPr/>
        </p:nvSpPr>
        <p:spPr>
          <a:xfrm>
            <a:off x="4110401" y="5229200"/>
            <a:ext cx="2496709" cy="372410"/>
          </a:xfrm>
          <a:prstGeom prst="rect">
            <a:avLst/>
          </a:prstGeom>
          <a:noFill/>
        </p:spPr>
        <p:txBody>
          <a:bodyPr wrap="none" rtlCol="0">
            <a:spAutoFit/>
          </a:bodyPr>
          <a:lstStyle/>
          <a:p>
            <a:pPr>
              <a:lnSpc>
                <a:spcPct val="130000"/>
              </a:lnSpc>
              <a:buClr>
                <a:srgbClr val="C5003D"/>
              </a:buClr>
            </a:pPr>
            <a:r>
              <a:rPr lang="en-US" altLang="ko-KR" sz="1400" b="1" dirty="0"/>
              <a:t>Standard deviation</a:t>
            </a:r>
            <a:r>
              <a:rPr lang="ko-KR" altLang="en-US" sz="1400" b="1" dirty="0"/>
              <a:t>  </a:t>
            </a:r>
            <a:r>
              <a:rPr lang="en-US" altLang="ko-KR" sz="1400" b="1" dirty="0"/>
              <a:t>0.1135</a:t>
            </a:r>
            <a:endParaRPr lang="ko-KR" altLang="en-US" sz="1400" b="1" dirty="0"/>
          </a:p>
        </p:txBody>
      </p:sp>
      <p:sp>
        <p:nvSpPr>
          <p:cNvPr id="36" name="TextBox 35"/>
          <p:cNvSpPr txBox="1"/>
          <p:nvPr/>
        </p:nvSpPr>
        <p:spPr>
          <a:xfrm>
            <a:off x="6353579" y="5229200"/>
            <a:ext cx="1037463" cy="372410"/>
          </a:xfrm>
          <a:prstGeom prst="rect">
            <a:avLst/>
          </a:prstGeom>
          <a:noFill/>
        </p:spPr>
        <p:txBody>
          <a:bodyPr wrap="none" rtlCol="0">
            <a:spAutoFit/>
          </a:bodyPr>
          <a:lstStyle/>
          <a:p>
            <a:pPr>
              <a:lnSpc>
                <a:spcPct val="130000"/>
              </a:lnSpc>
              <a:buClr>
                <a:srgbClr val="C5003D"/>
              </a:buClr>
            </a:pPr>
            <a:r>
              <a:rPr lang="en-US" altLang="ko-KR" sz="1400" b="1" dirty="0"/>
              <a:t>Range</a:t>
            </a:r>
            <a:r>
              <a:rPr lang="ko-KR" altLang="en-US" sz="1400" b="1" dirty="0"/>
              <a:t> </a:t>
            </a:r>
            <a:r>
              <a:rPr lang="en-US" altLang="ko-KR" sz="1400" b="1" dirty="0"/>
              <a:t>0.4</a:t>
            </a:r>
            <a:endParaRPr lang="ko-KR" altLang="en-US" sz="1400" b="1" dirty="0"/>
          </a:p>
        </p:txBody>
      </p:sp>
      <p:sp>
        <p:nvSpPr>
          <p:cNvPr id="37" name="TextBox 36"/>
          <p:cNvSpPr txBox="1"/>
          <p:nvPr/>
        </p:nvSpPr>
        <p:spPr>
          <a:xfrm>
            <a:off x="7683626" y="5229200"/>
            <a:ext cx="1023037" cy="372410"/>
          </a:xfrm>
          <a:prstGeom prst="rect">
            <a:avLst/>
          </a:prstGeom>
          <a:noFill/>
        </p:spPr>
        <p:txBody>
          <a:bodyPr wrap="none" rtlCol="0">
            <a:spAutoFit/>
          </a:bodyPr>
          <a:lstStyle/>
          <a:p>
            <a:pPr>
              <a:lnSpc>
                <a:spcPct val="130000"/>
              </a:lnSpc>
              <a:buClr>
                <a:srgbClr val="C5003D"/>
              </a:buClr>
            </a:pPr>
            <a:r>
              <a:rPr lang="en-US" altLang="ko-KR" sz="1400" b="1" dirty="0"/>
              <a:t>IQR 0.125</a:t>
            </a:r>
            <a:endParaRPr lang="ko-KR" altLang="en-US" sz="1400" b="1" dirty="0"/>
          </a:p>
        </p:txBody>
      </p:sp>
      <p:sp>
        <p:nvSpPr>
          <p:cNvPr id="15" name="TextBox 14"/>
          <p:cNvSpPr txBox="1"/>
          <p:nvPr/>
        </p:nvSpPr>
        <p:spPr>
          <a:xfrm>
            <a:off x="5627085" y="4365104"/>
            <a:ext cx="2470485" cy="412421"/>
          </a:xfrm>
          <a:prstGeom prst="rect">
            <a:avLst/>
          </a:prstGeom>
          <a:noFill/>
        </p:spPr>
        <p:txBody>
          <a:bodyPr wrap="none" rtlCol="0">
            <a:spAutoFit/>
          </a:bodyPr>
          <a:lstStyle/>
          <a:p>
            <a:pPr>
              <a:lnSpc>
                <a:spcPct val="130000"/>
              </a:lnSpc>
              <a:buClr>
                <a:srgbClr val="C5003D"/>
              </a:buClr>
            </a:pPr>
            <a:r>
              <a:rPr lang="en-US" altLang="ko-KR" sz="1600" u="sng" dirty="0"/>
              <a:t>Statistical representation</a:t>
            </a:r>
            <a:endParaRPr lang="ko-KR" altLang="en-US" sz="1600" u="sng" dirty="0"/>
          </a:p>
        </p:txBody>
      </p:sp>
      <p:sp>
        <p:nvSpPr>
          <p:cNvPr id="20" name="TextBox 19"/>
          <p:cNvSpPr txBox="1"/>
          <p:nvPr/>
        </p:nvSpPr>
        <p:spPr>
          <a:xfrm>
            <a:off x="5103751" y="3272556"/>
            <a:ext cx="2931187" cy="732508"/>
          </a:xfrm>
          <a:prstGeom prst="rect">
            <a:avLst/>
          </a:prstGeom>
          <a:noFill/>
        </p:spPr>
        <p:txBody>
          <a:bodyPr wrap="none" rtlCol="0">
            <a:spAutoFit/>
          </a:bodyPr>
          <a:lstStyle/>
          <a:p>
            <a:pPr>
              <a:lnSpc>
                <a:spcPct val="130000"/>
              </a:lnSpc>
              <a:buClr>
                <a:srgbClr val="C5003D"/>
              </a:buClr>
            </a:pPr>
            <a:r>
              <a:rPr lang="en-US" altLang="ko-KR" sz="1600" b="1" dirty="0"/>
              <a:t>Data is between 5.1 and 5.5</a:t>
            </a:r>
          </a:p>
          <a:p>
            <a:pPr>
              <a:lnSpc>
                <a:spcPct val="130000"/>
              </a:lnSpc>
              <a:buClr>
                <a:srgbClr val="C5003D"/>
              </a:buClr>
            </a:pPr>
            <a:r>
              <a:rPr lang="en-US" altLang="ko-KR" sz="1600" b="1" dirty="0"/>
              <a:t>Data is within 5.3 ± 0.2</a:t>
            </a:r>
            <a:endParaRPr lang="ko-KR" altLang="en-US" sz="1600" b="1" dirty="0"/>
          </a:p>
        </p:txBody>
      </p:sp>
      <p:sp>
        <p:nvSpPr>
          <p:cNvPr id="38" name="TextBox 37"/>
          <p:cNvSpPr txBox="1"/>
          <p:nvPr/>
        </p:nvSpPr>
        <p:spPr>
          <a:xfrm>
            <a:off x="1713836" y="3933056"/>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39"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85798060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170</a:t>
            </a:fld>
            <a:endParaRPr lang="ko-KR" altLang="en-US" dirty="0"/>
          </a:p>
        </p:txBody>
      </p:sp>
      <p:sp>
        <p:nvSpPr>
          <p:cNvPr id="3" name="Rectangle 2"/>
          <p:cNvSpPr>
            <a:spLocks noChangeArrowheads="1"/>
          </p:cNvSpPr>
          <p:nvPr/>
        </p:nvSpPr>
        <p:spPr bwMode="auto">
          <a:xfrm>
            <a:off x="656133" y="1355466"/>
            <a:ext cx="1873462" cy="514738"/>
          </a:xfrm>
          <a:prstGeom prst="rect">
            <a:avLst/>
          </a:prstGeom>
          <a:solidFill>
            <a:schemeClr val="bg1">
              <a:lumMod val="85000"/>
            </a:schemeClr>
          </a:solidFill>
          <a:ln w="9525">
            <a:solidFill>
              <a:schemeClr val="accent2"/>
            </a:solidFill>
            <a:miter lim="800000"/>
            <a:headEnd/>
            <a:tailEnd/>
          </a:ln>
          <a:effectLst/>
        </p:spPr>
        <p:txBody>
          <a:bodyPr vert="horz" wrap="none" lIns="92075" tIns="72000" rIns="92075" bIns="7200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Thống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kê</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học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kỹ</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thuật</a:t>
            </a:r>
            <a:endParaRPr kumimoji="1" lang="en-US" altLang="ko-KR" sz="1200" b="1" i="0" u="none" strike="noStrike" cap="none" normalizeH="0" baseline="0" dirty="0">
              <a:ln>
                <a:noFill/>
              </a:ln>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effectLst/>
                <a:latin typeface="맑은 고딕" pitchFamily="50" charset="-127"/>
                <a:ea typeface="맑은 고딕" pitchFamily="50" charset="-127"/>
              </a:rPr>
              <a:t>(Descriptive Statistics)</a:t>
            </a:r>
            <a:endParaRPr kumimoji="1" lang="ko-KR" sz="1800" b="0" i="0" u="none" strike="noStrike" cap="none" normalizeH="0" baseline="0" dirty="0">
              <a:ln>
                <a:noFill/>
              </a:ln>
              <a:effectLst/>
              <a:latin typeface="맑은 고딕" pitchFamily="50" charset="-127"/>
              <a:ea typeface="맑은 고딕" pitchFamily="50" charset="-127"/>
            </a:endParaRPr>
          </a:p>
        </p:txBody>
      </p:sp>
      <p:sp>
        <p:nvSpPr>
          <p:cNvPr id="4" name="Rectangle 3"/>
          <p:cNvSpPr>
            <a:spLocks noChangeArrowheads="1"/>
          </p:cNvSpPr>
          <p:nvPr/>
        </p:nvSpPr>
        <p:spPr bwMode="auto">
          <a:xfrm>
            <a:off x="4487741" y="1944428"/>
            <a:ext cx="1603131"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5" name="Rectangle 4"/>
          <p:cNvSpPr>
            <a:spLocks noChangeArrowheads="1"/>
          </p:cNvSpPr>
          <p:nvPr/>
        </p:nvSpPr>
        <p:spPr bwMode="auto">
          <a:xfrm>
            <a:off x="4487741" y="2258753"/>
            <a:ext cx="1603131"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6" name="Rectangle 5"/>
          <p:cNvSpPr>
            <a:spLocks noChangeArrowheads="1"/>
          </p:cNvSpPr>
          <p:nvPr/>
        </p:nvSpPr>
        <p:spPr bwMode="auto">
          <a:xfrm>
            <a:off x="4487741" y="2563553"/>
            <a:ext cx="1603131"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7" name="Rectangle 8"/>
          <p:cNvSpPr>
            <a:spLocks noChangeArrowheads="1"/>
          </p:cNvSpPr>
          <p:nvPr/>
        </p:nvSpPr>
        <p:spPr bwMode="auto">
          <a:xfrm>
            <a:off x="4572000" y="1906329"/>
            <a:ext cx="1505220"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Bình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quân</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(Mean)</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8" name="Rectangle 9"/>
          <p:cNvSpPr>
            <a:spLocks noChangeArrowheads="1"/>
          </p:cNvSpPr>
          <p:nvPr/>
        </p:nvSpPr>
        <p:spPr bwMode="auto">
          <a:xfrm>
            <a:off x="4572000" y="2220654"/>
            <a:ext cx="2198102"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Giá</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trị</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trung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tâm</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(Median)</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9" name="Rectangle 10"/>
          <p:cNvSpPr>
            <a:spLocks noChangeArrowheads="1"/>
          </p:cNvSpPr>
          <p:nvPr/>
        </p:nvSpPr>
        <p:spPr bwMode="auto">
          <a:xfrm>
            <a:off x="4572001" y="2525454"/>
            <a:ext cx="2957541"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Giá</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trị</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xuất</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hiện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nhiều</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nhất</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(Mode)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0" name="Rectangle 11"/>
          <p:cNvSpPr>
            <a:spLocks noChangeArrowheads="1"/>
          </p:cNvSpPr>
          <p:nvPr/>
        </p:nvSpPr>
        <p:spPr bwMode="auto">
          <a:xfrm>
            <a:off x="1833169" y="3581136"/>
            <a:ext cx="2140954" cy="514738"/>
          </a:xfrm>
          <a:prstGeom prst="rect">
            <a:avLst/>
          </a:prstGeom>
          <a:noFill/>
          <a:ln w="9525">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lvl="0"/>
            <a:r>
              <a:rPr lang="vi-VN" altLang="ko-KR" sz="1200" b="1" dirty="0">
                <a:latin typeface="맑은 고딕" pitchFamily="50" charset="-127"/>
                <a:ea typeface="맑은 고딕" pitchFamily="50" charset="-127"/>
              </a:rPr>
              <a:t>Khi đại diện cho mức độ lan truyền dữ liệu</a:t>
            </a:r>
            <a:endParaRPr kumimoji="1" 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1" name="Rectangle 12"/>
          <p:cNvSpPr>
            <a:spLocks noChangeArrowheads="1"/>
          </p:cNvSpPr>
          <p:nvPr/>
        </p:nvSpPr>
        <p:spPr bwMode="auto">
          <a:xfrm>
            <a:off x="4352926" y="3169973"/>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2" name="Rectangle 13"/>
          <p:cNvSpPr>
            <a:spLocks noChangeArrowheads="1"/>
          </p:cNvSpPr>
          <p:nvPr/>
        </p:nvSpPr>
        <p:spPr bwMode="auto">
          <a:xfrm>
            <a:off x="4352926" y="3484298"/>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3" name="Rectangle 14"/>
          <p:cNvSpPr>
            <a:spLocks noChangeArrowheads="1"/>
          </p:cNvSpPr>
          <p:nvPr/>
        </p:nvSpPr>
        <p:spPr bwMode="auto">
          <a:xfrm>
            <a:off x="4352926" y="3798623"/>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4" name="Rectangle 17"/>
          <p:cNvSpPr>
            <a:spLocks noChangeArrowheads="1"/>
          </p:cNvSpPr>
          <p:nvPr/>
        </p:nvSpPr>
        <p:spPr bwMode="auto">
          <a:xfrm>
            <a:off x="4572000" y="3130287"/>
            <a:ext cx="3019801"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Sai</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số</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tiêu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chuẩn</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(Standard Deviation)</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5" name="Rectangle 18"/>
          <p:cNvSpPr>
            <a:spLocks noChangeArrowheads="1"/>
          </p:cNvSpPr>
          <p:nvPr/>
        </p:nvSpPr>
        <p:spPr bwMode="auto">
          <a:xfrm>
            <a:off x="4572000" y="3446199"/>
            <a:ext cx="1616533"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Phân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tán</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(Variance)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6" name="Rectangle 19"/>
          <p:cNvSpPr>
            <a:spLocks noChangeArrowheads="1"/>
          </p:cNvSpPr>
          <p:nvPr/>
        </p:nvSpPr>
        <p:spPr bwMode="auto">
          <a:xfrm>
            <a:off x="4572000" y="3760524"/>
            <a:ext cx="1410643"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Phạm</a:t>
            </a:r>
            <a:r>
              <a:rPr lang="en-US" altLang="ko-KR" sz="1200" b="1" dirty="0">
                <a:latin typeface="맑은 고딕" pitchFamily="50" charset="-127"/>
                <a:ea typeface="맑은 고딕" pitchFamily="50" charset="-127"/>
              </a:rPr>
              <a:t> vi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(Range)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7" name="Rectangle 20"/>
          <p:cNvSpPr>
            <a:spLocks noChangeArrowheads="1"/>
          </p:cNvSpPr>
          <p:nvPr/>
        </p:nvSpPr>
        <p:spPr bwMode="auto">
          <a:xfrm>
            <a:off x="4352926" y="4122473"/>
            <a:ext cx="2299188"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18" name="Rectangle 21"/>
          <p:cNvSpPr>
            <a:spLocks noChangeArrowheads="1"/>
          </p:cNvSpPr>
          <p:nvPr/>
        </p:nvSpPr>
        <p:spPr bwMode="auto">
          <a:xfrm>
            <a:off x="4572000" y="4082787"/>
            <a:ext cx="1519583"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Phần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tư</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(Quartile)</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19" name="Rectangle 24"/>
          <p:cNvSpPr>
            <a:spLocks noChangeArrowheads="1"/>
          </p:cNvSpPr>
          <p:nvPr/>
        </p:nvSpPr>
        <p:spPr bwMode="auto">
          <a:xfrm>
            <a:off x="4374906" y="4521902"/>
            <a:ext cx="2300654" cy="223837"/>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20" name="Rectangle 25"/>
          <p:cNvSpPr>
            <a:spLocks noChangeArrowheads="1"/>
          </p:cNvSpPr>
          <p:nvPr/>
        </p:nvSpPr>
        <p:spPr bwMode="auto">
          <a:xfrm>
            <a:off x="4374906" y="4834638"/>
            <a:ext cx="2300654" cy="223838"/>
          </a:xfrm>
          <a:prstGeom prst="rect">
            <a:avLst/>
          </a:prstGeom>
          <a:noFill/>
          <a:ln w="12700">
            <a:noFill/>
            <a:miter lim="800000"/>
            <a:headEnd/>
            <a:tailEnd/>
          </a:ln>
          <a:effectLst/>
        </p:spPr>
        <p:txBody>
          <a:bodyPr vert="horz" wrap="none" lIns="91440" tIns="45720" rIns="91440" bIns="45720" numCol="1" anchor="ctr" anchorCtr="0" compatLnSpc="1">
            <a:prstTxWarp prst="textNoShape">
              <a:avLst/>
            </a:prstTxWarp>
          </a:bodyPr>
          <a:lstStyle/>
          <a:p>
            <a:endParaRPr lang="ko-KR" altLang="en-US" b="1" dirty="0">
              <a:latin typeface="맑은 고딕" pitchFamily="50" charset="-127"/>
              <a:ea typeface="맑은 고딕" pitchFamily="50" charset="-127"/>
            </a:endParaRPr>
          </a:p>
        </p:txBody>
      </p:sp>
      <p:sp>
        <p:nvSpPr>
          <p:cNvPr id="21" name="Rectangle 27"/>
          <p:cNvSpPr>
            <a:spLocks noChangeArrowheads="1"/>
          </p:cNvSpPr>
          <p:nvPr/>
        </p:nvSpPr>
        <p:spPr bwMode="auto">
          <a:xfrm>
            <a:off x="4572000" y="4699702"/>
            <a:ext cx="2309094"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lệch</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lệch</a:t>
            </a:r>
            <a:r>
              <a:rPr kumimoji="1" 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Skewness)</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2" name="Rectangle 28"/>
          <p:cNvSpPr>
            <a:spLocks noChangeArrowheads="1"/>
          </p:cNvSpPr>
          <p:nvPr/>
        </p:nvSpPr>
        <p:spPr bwMode="auto">
          <a:xfrm>
            <a:off x="4572001" y="5012439"/>
            <a:ext cx="2453429"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1200" b="1" dirty="0" err="1">
                <a:latin typeface="맑은 고딕" pitchFamily="50" charset="-127"/>
                <a:ea typeface="맑은 고딕" pitchFamily="50" charset="-127"/>
              </a:rPr>
              <a:t>Mức</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độ</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nhọn</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nhọn</a:t>
            </a:r>
            <a:r>
              <a:rPr kumimoji="1" 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Kurtosis)</a:t>
            </a:r>
            <a:endParaRPr kumimoji="1" lang="ko-KR" alt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3" name="Rectangle 30"/>
          <p:cNvSpPr>
            <a:spLocks noChangeArrowheads="1"/>
          </p:cNvSpPr>
          <p:nvPr/>
        </p:nvSpPr>
        <p:spPr bwMode="auto">
          <a:xfrm>
            <a:off x="1833169" y="4815588"/>
            <a:ext cx="2140954" cy="514738"/>
          </a:xfrm>
          <a:prstGeom prst="rect">
            <a:avLst/>
          </a:prstGeom>
          <a:noFill/>
          <a:ln w="9525">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Khi</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hiển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thị</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hình</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dạng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dữ</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liệu</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lan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truyền</a:t>
            </a:r>
            <a:endParaRPr kumimoji="1" lang="ko-KR" sz="12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4" name="Rectangle 31"/>
          <p:cNvSpPr>
            <a:spLocks noChangeArrowheads="1"/>
          </p:cNvSpPr>
          <p:nvPr/>
        </p:nvSpPr>
        <p:spPr bwMode="auto">
          <a:xfrm>
            <a:off x="1979712" y="2719312"/>
            <a:ext cx="2016962"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trung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tâm</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c</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uả</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phân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bố</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5" name="Rectangle 32"/>
          <p:cNvSpPr>
            <a:spLocks noChangeArrowheads="1"/>
          </p:cNvSpPr>
          <p:nvPr/>
        </p:nvSpPr>
        <p:spPr bwMode="auto">
          <a:xfrm>
            <a:off x="1780306" y="4077073"/>
            <a:ext cx="2390463"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Mức</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độ</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lan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truyền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phân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bố</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26" name="Rectangle 33"/>
          <p:cNvSpPr>
            <a:spLocks noChangeArrowheads="1"/>
          </p:cNvSpPr>
          <p:nvPr/>
        </p:nvSpPr>
        <p:spPr bwMode="auto">
          <a:xfrm>
            <a:off x="1713837" y="5301209"/>
            <a:ext cx="2606867" cy="277641"/>
          </a:xfrm>
          <a:prstGeom prst="rect">
            <a:avLst/>
          </a:prstGeom>
          <a:noFill/>
          <a:ln w="9525">
            <a:noFill/>
            <a:miter lim="800000"/>
            <a:headEnd/>
            <a:tailEnd/>
          </a:ln>
          <a:effectLst/>
        </p:spPr>
        <p:txBody>
          <a:bodyPr vert="horz" wrap="non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r>
              <a:rPr lang="en-US" altLang="ko-KR" sz="1200" b="1" dirty="0" err="1">
                <a:latin typeface="맑은 고딕" pitchFamily="50" charset="-127"/>
                <a:ea typeface="맑은 고딕" pitchFamily="50" charset="-127"/>
              </a:rPr>
              <a:t>Hình</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dạng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lan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truyền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phân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bố</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a:t>
            </a:r>
            <a:endParaRPr kumimoji="1" lang="ko-KR" alt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cxnSp>
        <p:nvCxnSpPr>
          <p:cNvPr id="27" name="AutoShape 34"/>
          <p:cNvCxnSpPr>
            <a:cxnSpLocks noChangeShapeType="1"/>
            <a:stCxn id="3" idx="2"/>
            <a:endCxn id="33" idx="1"/>
          </p:cNvCxnSpPr>
          <p:nvPr/>
        </p:nvCxnSpPr>
        <p:spPr bwMode="auto">
          <a:xfrm rot="16200000" flipH="1">
            <a:off x="1422601" y="2040466"/>
            <a:ext cx="580831" cy="240305"/>
          </a:xfrm>
          <a:prstGeom prst="bentConnector2">
            <a:avLst/>
          </a:prstGeom>
          <a:noFill/>
          <a:ln w="9525">
            <a:solidFill>
              <a:schemeClr val="tx1"/>
            </a:solidFill>
            <a:miter lim="800000"/>
            <a:headEnd/>
            <a:tailEnd/>
          </a:ln>
          <a:effectLst/>
        </p:spPr>
      </p:cxnSp>
      <p:cxnSp>
        <p:nvCxnSpPr>
          <p:cNvPr id="28" name="AutoShape 35"/>
          <p:cNvCxnSpPr>
            <a:cxnSpLocks noChangeShapeType="1"/>
            <a:stCxn id="3" idx="2"/>
            <a:endCxn id="10" idx="1"/>
          </p:cNvCxnSpPr>
          <p:nvPr/>
        </p:nvCxnSpPr>
        <p:spPr bwMode="auto">
          <a:xfrm rot="16200000" flipH="1">
            <a:off x="728866" y="2734201"/>
            <a:ext cx="1968301" cy="240305"/>
          </a:xfrm>
          <a:prstGeom prst="bentConnector2">
            <a:avLst/>
          </a:prstGeom>
          <a:noFill/>
          <a:ln w="9525">
            <a:solidFill>
              <a:schemeClr val="tx1"/>
            </a:solidFill>
            <a:miter lim="800000"/>
            <a:headEnd/>
            <a:tailEnd/>
          </a:ln>
          <a:effectLst/>
        </p:spPr>
      </p:cxnSp>
      <p:cxnSp>
        <p:nvCxnSpPr>
          <p:cNvPr id="29" name="AutoShape 36"/>
          <p:cNvCxnSpPr>
            <a:cxnSpLocks noChangeShapeType="1"/>
            <a:stCxn id="3" idx="2"/>
            <a:endCxn id="23" idx="1"/>
          </p:cNvCxnSpPr>
          <p:nvPr/>
        </p:nvCxnSpPr>
        <p:spPr bwMode="auto">
          <a:xfrm rot="16200000" flipH="1">
            <a:off x="111640" y="3351427"/>
            <a:ext cx="3202753" cy="240305"/>
          </a:xfrm>
          <a:prstGeom prst="bentConnector2">
            <a:avLst/>
          </a:prstGeom>
          <a:noFill/>
          <a:ln w="9525">
            <a:solidFill>
              <a:schemeClr val="tx1"/>
            </a:solidFill>
            <a:miter lim="800000"/>
            <a:headEnd/>
            <a:tailEnd/>
          </a:ln>
          <a:effectLst/>
        </p:spPr>
      </p:cxnSp>
      <p:sp>
        <p:nvSpPr>
          <p:cNvPr id="30" name="Rectangle 37"/>
          <p:cNvSpPr>
            <a:spLocks noChangeArrowheads="1"/>
          </p:cNvSpPr>
          <p:nvPr/>
        </p:nvSpPr>
        <p:spPr bwMode="auto">
          <a:xfrm>
            <a:off x="681377" y="5733256"/>
            <a:ext cx="1763618" cy="699404"/>
          </a:xfrm>
          <a:prstGeom prst="rect">
            <a:avLst/>
          </a:prstGeom>
          <a:solidFill>
            <a:schemeClr val="bg1">
              <a:lumMod val="85000"/>
            </a:schemeClr>
          </a:solidFill>
          <a:ln w="9525" algn="ctr">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effectLst/>
                <a:latin typeface="맑은 고딕" pitchFamily="50" charset="-127"/>
                <a:ea typeface="맑은 고딕" pitchFamily="50" charset="-127"/>
              </a:rPr>
              <a:t>Thống</a:t>
            </a:r>
            <a:r>
              <a:rPr kumimoji="1" lang="en-US" altLang="ko-KR" sz="1200" b="1" i="0" u="none" strike="noStrike" cap="none" normalizeH="0" dirty="0">
                <a:ln>
                  <a:noFill/>
                </a:ln>
                <a:effectLst/>
                <a:latin typeface="맑은 고딕" pitchFamily="50" charset="-127"/>
                <a:ea typeface="맑은 고딕" pitchFamily="50" charset="-127"/>
              </a:rPr>
              <a:t> </a:t>
            </a:r>
            <a:r>
              <a:rPr kumimoji="1" lang="en-US" altLang="ko-KR" sz="1200" b="1" i="0" u="none" strike="noStrike" cap="none" normalizeH="0" dirty="0" err="1">
                <a:ln>
                  <a:noFill/>
                </a:ln>
                <a:effectLst/>
                <a:latin typeface="맑은 고딕" pitchFamily="50" charset="-127"/>
                <a:ea typeface="맑은 고딕" pitchFamily="50" charset="-127"/>
              </a:rPr>
              <a:t>kê</a:t>
            </a:r>
            <a:r>
              <a:rPr kumimoji="1" lang="en-US" altLang="ko-KR" sz="1200" b="1" i="0" u="none" strike="noStrike" cap="none" normalizeH="0" dirty="0">
                <a:ln>
                  <a:noFill/>
                </a:ln>
                <a:effectLst/>
                <a:latin typeface="맑은 고딕" pitchFamily="50" charset="-127"/>
                <a:ea typeface="맑은 고딕" pitchFamily="50" charset="-127"/>
              </a:rPr>
              <a:t> </a:t>
            </a:r>
            <a:r>
              <a:rPr kumimoji="1" lang="en-US" altLang="ko-KR" sz="1200" b="1" i="0" u="none" strike="noStrike" cap="none" normalizeH="0" dirty="0" err="1">
                <a:ln>
                  <a:noFill/>
                </a:ln>
                <a:effectLst/>
                <a:latin typeface="맑은 고딕" pitchFamily="50" charset="-127"/>
                <a:ea typeface="맑은 고딕" pitchFamily="50" charset="-127"/>
              </a:rPr>
              <a:t>học</a:t>
            </a:r>
            <a:r>
              <a:rPr kumimoji="1" lang="en-US" altLang="ko-KR" sz="1200" b="1" i="0" u="none" strike="noStrike" cap="none" normalizeH="0" dirty="0">
                <a:ln>
                  <a:noFill/>
                </a:ln>
                <a:effectLst/>
                <a:latin typeface="맑은 고딕" pitchFamily="50" charset="-127"/>
                <a:ea typeface="맑은 고딕" pitchFamily="50" charset="-127"/>
              </a:rPr>
              <a:t> </a:t>
            </a:r>
            <a:r>
              <a:rPr kumimoji="1" lang="en-US" altLang="ko-KR" sz="1200" b="1" i="0" u="none" strike="noStrike" cap="none" normalizeH="0" dirty="0" err="1">
                <a:ln>
                  <a:noFill/>
                </a:ln>
                <a:effectLst/>
                <a:latin typeface="맑은 고딕" pitchFamily="50" charset="-127"/>
                <a:ea typeface="맑은 고딕" pitchFamily="50" charset="-127"/>
              </a:rPr>
              <a:t>suy</a:t>
            </a:r>
            <a:r>
              <a:rPr kumimoji="1" lang="en-US" altLang="ko-KR" sz="1200" b="1" i="0" u="none" strike="noStrike" cap="none" normalizeH="0" dirty="0">
                <a:ln>
                  <a:noFill/>
                </a:ln>
                <a:effectLst/>
                <a:latin typeface="맑은 고딕" pitchFamily="50" charset="-127"/>
                <a:ea typeface="맑은 고딕" pitchFamily="50" charset="-127"/>
              </a:rPr>
              <a:t> </a:t>
            </a:r>
            <a:r>
              <a:rPr kumimoji="1" lang="en-US" altLang="ko-KR" sz="1200" b="1" i="0" u="none" strike="noStrike" cap="none" normalizeH="0" dirty="0" err="1">
                <a:ln>
                  <a:noFill/>
                </a:ln>
                <a:effectLst/>
                <a:latin typeface="맑은 고딕" pitchFamily="50" charset="-127"/>
                <a:ea typeface="맑은 고딕" pitchFamily="50" charset="-127"/>
              </a:rPr>
              <a:t>diễn</a:t>
            </a:r>
            <a:r>
              <a:rPr kumimoji="1" lang="en-US" altLang="ko-KR" sz="1200" b="1" i="0" u="none" strike="noStrike" cap="none" normalizeH="0" dirty="0">
                <a:ln>
                  <a:noFill/>
                </a:ln>
                <a:effectLst/>
                <a:latin typeface="맑은 고딕" pitchFamily="50" charset="-127"/>
                <a:ea typeface="맑은 고딕" pitchFamily="50" charset="-127"/>
              </a:rPr>
              <a:t> </a:t>
            </a:r>
            <a:r>
              <a:rPr kumimoji="1" lang="en-US" altLang="ko-KR" sz="1200" b="1" i="0" u="none" strike="noStrike" cap="none" normalizeH="0" baseline="0" dirty="0">
                <a:ln>
                  <a:noFill/>
                </a:ln>
                <a:effectLst/>
                <a:latin typeface="맑은 고딕" pitchFamily="50" charset="-127"/>
                <a:ea typeface="맑은 고딕" pitchFamily="50" charset="-127"/>
              </a:rPr>
              <a:t>(Inferential Statistics) </a:t>
            </a:r>
            <a:endParaRPr kumimoji="1" lang="ko-KR" altLang="ko-KR" sz="1800" b="0" i="0" u="none" strike="noStrike" cap="none" normalizeH="0" baseline="0" dirty="0">
              <a:ln>
                <a:noFill/>
              </a:ln>
              <a:effectLst/>
              <a:latin typeface="맑은 고딕" pitchFamily="50" charset="-127"/>
              <a:ea typeface="맑은 고딕" pitchFamily="50" charset="-127"/>
            </a:endParaRPr>
          </a:p>
        </p:txBody>
      </p:sp>
      <p:sp>
        <p:nvSpPr>
          <p:cNvPr id="31" name="Text Box 38"/>
          <p:cNvSpPr txBox="1">
            <a:spLocks noChangeArrowheads="1"/>
          </p:cNvSpPr>
          <p:nvPr/>
        </p:nvSpPr>
        <p:spPr bwMode="auto">
          <a:xfrm>
            <a:off x="2476472" y="1485135"/>
            <a:ext cx="6283070" cy="46166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Thống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kê</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học</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kỹ</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thuật</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chỉnh</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lý</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và</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tóm</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tắt</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tài</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liệu</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theo</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thống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kê</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Phương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pháp</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tính</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toán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của</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đặc</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tính</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dữ</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liệu</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liên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quan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đến</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thống</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kê</a:t>
            </a:r>
            <a:r>
              <a:rPr lang="en-US" altLang="ko-KR" sz="1200" b="1" dirty="0">
                <a:latin typeface="맑은 고딕" pitchFamily="50" charset="-127"/>
                <a:ea typeface="맑은 고딕" pitchFamily="50" charset="-127"/>
              </a:rPr>
              <a:t> </a:t>
            </a:r>
            <a:r>
              <a:rPr lang="en-US" altLang="ko-KR" sz="1200" b="1" dirty="0" err="1">
                <a:latin typeface="맑은 고딕" pitchFamily="50" charset="-127"/>
                <a:ea typeface="맑은 고딕" pitchFamily="50" charset="-127"/>
              </a:rPr>
              <a:t>học</a:t>
            </a:r>
            <a:endParaRPr kumimoji="1" 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32" name="Text Box 39"/>
          <p:cNvSpPr txBox="1">
            <a:spLocks noChangeArrowheads="1"/>
          </p:cNvSpPr>
          <p:nvPr/>
        </p:nvSpPr>
        <p:spPr bwMode="auto">
          <a:xfrm>
            <a:off x="2593292" y="5850349"/>
            <a:ext cx="5833906" cy="738664"/>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p>
            <a:pPr lvl="0"/>
            <a:r>
              <a:rPr lang="vi-VN" altLang="ko-KR" sz="1200" b="1" dirty="0">
                <a:latin typeface="맑은 고딕" pitchFamily="50" charset="-127"/>
                <a:ea typeface="맑은 고딕" pitchFamily="50" charset="-127"/>
              </a:rPr>
              <a:t>Thống kê </a:t>
            </a:r>
            <a:r>
              <a:rPr lang="en-US" altLang="ko-KR" sz="1200" b="1" dirty="0" err="1">
                <a:latin typeface="맑은 고딕" pitchFamily="50" charset="-127"/>
                <a:ea typeface="맑은 고딕" pitchFamily="50" charset="-127"/>
              </a:rPr>
              <a:t>học</a:t>
            </a:r>
            <a:r>
              <a:rPr lang="en-US" altLang="ko-KR" sz="1200" b="1" dirty="0">
                <a:latin typeface="맑은 고딕" pitchFamily="50" charset="-127"/>
                <a:ea typeface="맑은 고딕" pitchFamily="50" charset="-127"/>
              </a:rPr>
              <a:t> </a:t>
            </a:r>
            <a:r>
              <a:rPr lang="vi-VN" altLang="ko-KR" sz="1200" b="1" dirty="0">
                <a:latin typeface="맑은 고딕" pitchFamily="50" charset="-127"/>
                <a:ea typeface="맑은 고딕" pitchFamily="50" charset="-127"/>
              </a:rPr>
              <a:t>điều tra đặc </a:t>
            </a:r>
            <a:r>
              <a:rPr lang="en-US" altLang="ko-KR" sz="1200" b="1" dirty="0" err="1">
                <a:latin typeface="맑은 고딕" pitchFamily="50" charset="-127"/>
                <a:ea typeface="맑은 고딕" pitchFamily="50" charset="-127"/>
              </a:rPr>
              <a:t>tính</a:t>
            </a:r>
            <a:r>
              <a:rPr lang="vi-VN" altLang="ko-KR" sz="1200" b="1" dirty="0">
                <a:latin typeface="맑은 고딕" pitchFamily="50" charset="-127"/>
                <a:ea typeface="맑은 고딕" pitchFamily="50" charset="-127"/>
              </a:rPr>
              <a:t> của </a:t>
            </a:r>
            <a:r>
              <a:rPr lang="en-US" altLang="ko-KR" sz="1200" b="1" dirty="0">
                <a:latin typeface="맑은 고딕" pitchFamily="50" charset="-127"/>
                <a:ea typeface="맑은 고딕" pitchFamily="50" charset="-127"/>
              </a:rPr>
              <a:t>population</a:t>
            </a:r>
            <a:r>
              <a:rPr lang="vi-VN" altLang="ko-KR" sz="1200" b="1" dirty="0">
                <a:latin typeface="맑은 고딕" pitchFamily="50" charset="-127"/>
                <a:ea typeface="맑은 고딕" pitchFamily="50" charset="-127"/>
              </a:rPr>
              <a:t> dựa trên phân tích mẫu lấy từ</a:t>
            </a:r>
            <a:r>
              <a:rPr lang="en-US" altLang="ko-KR" sz="1200" b="1" dirty="0">
                <a:latin typeface="맑은 고딕" pitchFamily="50" charset="-127"/>
                <a:ea typeface="맑은 고딕" pitchFamily="50" charset="-127"/>
              </a:rPr>
              <a:t> population</a:t>
            </a:r>
            <a:endParaRPr lang="vi-VN" altLang="ko-KR" sz="1200" b="1" dirty="0">
              <a:latin typeface="맑은 고딕" pitchFamily="50" charset="-127"/>
              <a:ea typeface="맑은 고딕" pitchFamily="50" charset="-127"/>
            </a:endParaRPr>
          </a:p>
          <a:p>
            <a:pPr marL="0" marR="0" lvl="0" indent="0" algn="l" defTabSz="914400" rtl="0" eaLnBrk="1" fontAlgn="base" latinLnBrk="1" hangingPunct="1">
              <a:lnSpc>
                <a:spcPct val="100000"/>
              </a:lnSpc>
              <a:spcBef>
                <a:spcPct val="0"/>
              </a:spcBef>
              <a:spcAft>
                <a:spcPct val="0"/>
              </a:spcAft>
              <a:buClrTx/>
              <a:buSzTx/>
              <a:buFontTx/>
              <a:buNone/>
              <a:tabLst/>
            </a:pPr>
            <a:endParaRPr kumimoji="1" lang="ko-KR" sz="18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33" name="Rectangle 40"/>
          <p:cNvSpPr>
            <a:spLocks noChangeArrowheads="1"/>
          </p:cNvSpPr>
          <p:nvPr/>
        </p:nvSpPr>
        <p:spPr bwMode="auto">
          <a:xfrm>
            <a:off x="1833169" y="2193666"/>
            <a:ext cx="2140954" cy="514738"/>
          </a:xfrm>
          <a:prstGeom prst="rect">
            <a:avLst/>
          </a:prstGeom>
          <a:solidFill>
            <a:schemeClr val="bg1"/>
          </a:solidFill>
          <a:ln w="9525">
            <a:solidFill>
              <a:schemeClr val="accent2"/>
            </a:solidFill>
            <a:miter lim="800000"/>
            <a:headEnd/>
            <a:tailEnd/>
          </a:ln>
          <a:effectLst/>
        </p:spPr>
        <p:txBody>
          <a:bodyPr vert="horz" wrap="square" lIns="92075" tIns="72000" rIns="92075" bIns="7200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Khi</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baseline="0" dirty="0" err="1">
                <a:ln>
                  <a:noFill/>
                </a:ln>
                <a:solidFill>
                  <a:schemeClr val="tx1"/>
                </a:solidFill>
                <a:effectLst/>
                <a:latin typeface="맑은 고딕" pitchFamily="50" charset="-127"/>
                <a:ea typeface="맑은 고딕" pitchFamily="50" charset="-127"/>
              </a:rPr>
              <a:t>thể</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hiện</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trung</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tâm</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dirty="0" err="1">
                <a:ln>
                  <a:noFill/>
                </a:ln>
                <a:solidFill>
                  <a:schemeClr val="tx1"/>
                </a:solidFill>
                <a:effectLst/>
                <a:latin typeface="맑은 고딕" pitchFamily="50" charset="-127"/>
                <a:ea typeface="맑은 고딕" pitchFamily="50" charset="-127"/>
              </a:rPr>
              <a:t>của</a:t>
            </a:r>
            <a:r>
              <a:rPr kumimoji="1" lang="en-US" altLang="ko-KR" sz="12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200" b="1" i="0" u="none" strike="noStrike" cap="none" normalizeH="0" baseline="0" dirty="0">
                <a:ln>
                  <a:noFill/>
                </a:ln>
                <a:solidFill>
                  <a:schemeClr val="tx1"/>
                </a:solidFill>
                <a:effectLst/>
                <a:latin typeface="맑은 고딕" pitchFamily="50" charset="-127"/>
                <a:ea typeface="맑은 고딕" pitchFamily="50" charset="-127"/>
              </a:rPr>
              <a:t>Data</a:t>
            </a:r>
            <a:endParaRPr kumimoji="1" lang="ko-KR" sz="1800" b="0" i="0" u="none" strike="noStrike" cap="none" normalizeH="0" baseline="0" dirty="0">
              <a:ln>
                <a:noFill/>
              </a:ln>
              <a:solidFill>
                <a:schemeClr val="tx1"/>
              </a:solidFill>
              <a:effectLst/>
              <a:latin typeface="맑은 고딕" pitchFamily="50" charset="-127"/>
              <a:ea typeface="맑은 고딕" pitchFamily="50" charset="-127"/>
            </a:endParaRPr>
          </a:p>
        </p:txBody>
      </p:sp>
      <p:cxnSp>
        <p:nvCxnSpPr>
          <p:cNvPr id="35" name="꺾인 연결선 34"/>
          <p:cNvCxnSpPr>
            <a:stCxn id="33" idx="3"/>
            <a:endCxn id="7" idx="1"/>
          </p:cNvCxnSpPr>
          <p:nvPr/>
        </p:nvCxnSpPr>
        <p:spPr>
          <a:xfrm flipV="1">
            <a:off x="3974123" y="2045150"/>
            <a:ext cx="597877" cy="40588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33" idx="3"/>
            <a:endCxn id="8" idx="1"/>
          </p:cNvCxnSpPr>
          <p:nvPr/>
        </p:nvCxnSpPr>
        <p:spPr>
          <a:xfrm flipV="1">
            <a:off x="3974123" y="2359475"/>
            <a:ext cx="597877" cy="91560"/>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3" idx="3"/>
            <a:endCxn id="9" idx="1"/>
          </p:cNvCxnSpPr>
          <p:nvPr/>
        </p:nvCxnSpPr>
        <p:spPr>
          <a:xfrm>
            <a:off x="3974123" y="2451035"/>
            <a:ext cx="597878" cy="213240"/>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10" idx="3"/>
            <a:endCxn id="14" idx="1"/>
          </p:cNvCxnSpPr>
          <p:nvPr/>
        </p:nvCxnSpPr>
        <p:spPr>
          <a:xfrm flipV="1">
            <a:off x="3974123" y="3269108"/>
            <a:ext cx="597877" cy="5693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10" idx="3"/>
            <a:endCxn id="15" idx="1"/>
          </p:cNvCxnSpPr>
          <p:nvPr/>
        </p:nvCxnSpPr>
        <p:spPr>
          <a:xfrm flipV="1">
            <a:off x="3974123" y="3585020"/>
            <a:ext cx="597877" cy="25348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10" idx="3"/>
            <a:endCxn id="16" idx="1"/>
          </p:cNvCxnSpPr>
          <p:nvPr/>
        </p:nvCxnSpPr>
        <p:spPr>
          <a:xfrm>
            <a:off x="3974123" y="3838505"/>
            <a:ext cx="597877" cy="60840"/>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10" idx="3"/>
            <a:endCxn id="18" idx="1"/>
          </p:cNvCxnSpPr>
          <p:nvPr/>
        </p:nvCxnSpPr>
        <p:spPr>
          <a:xfrm>
            <a:off x="3974123" y="3838505"/>
            <a:ext cx="597877" cy="383103"/>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23" idx="3"/>
            <a:endCxn id="21" idx="1"/>
          </p:cNvCxnSpPr>
          <p:nvPr/>
        </p:nvCxnSpPr>
        <p:spPr>
          <a:xfrm flipV="1">
            <a:off x="3974123" y="4838523"/>
            <a:ext cx="597877" cy="234434"/>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23" idx="3"/>
            <a:endCxn id="22" idx="1"/>
          </p:cNvCxnSpPr>
          <p:nvPr/>
        </p:nvCxnSpPr>
        <p:spPr>
          <a:xfrm>
            <a:off x="3974123" y="5072957"/>
            <a:ext cx="597878" cy="78303"/>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647367" y="3273604"/>
            <a:ext cx="582211" cy="572464"/>
          </a:xfrm>
          <a:prstGeom prst="rect">
            <a:avLst/>
          </a:prstGeom>
          <a:noFill/>
        </p:spPr>
        <p:txBody>
          <a:bodyPr wrap="none" rtlCol="0">
            <a:spAutoFit/>
          </a:bodyPr>
          <a:lstStyle/>
          <a:p>
            <a:pPr marL="285750" indent="-285750">
              <a:lnSpc>
                <a:spcPct val="130000"/>
              </a:lnSpc>
              <a:buClr>
                <a:srgbClr val="C5003D"/>
              </a:buClr>
              <a:buFont typeface="Wingdings" panose="05000000000000000000" pitchFamily="2" charset="2"/>
              <a:buChar char="ü"/>
            </a:pPr>
            <a:r>
              <a:rPr lang="en-US" altLang="ko-KR" sz="2400" b="1" dirty="0"/>
              <a:t> </a:t>
            </a:r>
            <a:endParaRPr lang="ko-KR" altLang="en-US" sz="2400" b="1" dirty="0"/>
          </a:p>
        </p:txBody>
      </p:sp>
      <p:sp>
        <p:nvSpPr>
          <p:cNvPr id="47" name="Rectangle 2"/>
          <p:cNvSpPr>
            <a:spLocks noChangeArrowheads="1"/>
          </p:cNvSpPr>
          <p:nvPr/>
        </p:nvSpPr>
        <p:spPr bwMode="auto">
          <a:xfrm>
            <a:off x="317990" y="857232"/>
            <a:ext cx="3456384" cy="433388"/>
          </a:xfrm>
          <a:prstGeom prst="rect">
            <a:avLst/>
          </a:prstGeom>
          <a:noFill/>
          <a:ln w="9525" algn="ctr">
            <a:noFill/>
            <a:miter lim="800000"/>
            <a:headEnd/>
            <a:tailEnd/>
          </a:ln>
          <a:effectLst/>
        </p:spPr>
        <p:txBody>
          <a:bodyPr vert="horz" wrap="square" lIns="91440" tIns="45720" rIns="91440" bIns="45720" numCol="1" anchor="ctr" anchorCtr="0" compatLnSpc="1">
            <a:prstTxWarp prst="textNoShape">
              <a:avLst/>
            </a:prstTxWarp>
          </a:bodyPr>
          <a:lstStyle/>
          <a:p>
            <a:pPr marL="0" marR="0" lvl="0" indent="0" defTabSz="914400" rtl="0" eaLnBrk="1" fontAlgn="base" latinLnBrk="1" hangingPunct="1">
              <a:lnSpc>
                <a:spcPct val="100000"/>
              </a:lnSpc>
              <a:spcBef>
                <a:spcPct val="0"/>
              </a:spcBef>
              <a:spcAft>
                <a:spcPct val="0"/>
              </a:spcAft>
              <a:buClrTx/>
              <a:buSzTx/>
              <a:buFontTx/>
              <a:buNone/>
              <a:tabLst/>
            </a:pPr>
            <a:r>
              <a:rPr kumimoji="1" lang="en-US" altLang="ko-KR" sz="1600" b="1" i="0" u="none" strike="noStrike" cap="none" normalizeH="0" baseline="0" dirty="0" err="1">
                <a:ln>
                  <a:noFill/>
                </a:ln>
                <a:solidFill>
                  <a:schemeClr val="tx1"/>
                </a:solidFill>
                <a:effectLst/>
                <a:latin typeface="맑은 고딕" pitchFamily="50" charset="-127"/>
                <a:ea typeface="맑은 고딕" pitchFamily="50" charset="-127"/>
              </a:rPr>
              <a:t>Tóm</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tắt</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baseline="0" dirty="0">
                <a:ln>
                  <a:noFill/>
                </a:ln>
                <a:solidFill>
                  <a:schemeClr val="tx1"/>
                </a:solidFill>
                <a:effectLst/>
                <a:latin typeface="맑은 고딕" pitchFamily="50" charset="-127"/>
                <a:ea typeface="맑은 고딕" pitchFamily="50" charset="-127"/>
              </a:rPr>
              <a:t>Data </a:t>
            </a:r>
            <a:endParaRPr kumimoji="1" lang="ko-KR" altLang="ko-KR" sz="2400" b="1" i="0" u="none" strike="noStrike" cap="none" normalizeH="0" baseline="0" dirty="0">
              <a:ln>
                <a:noFill/>
              </a:ln>
              <a:solidFill>
                <a:schemeClr val="tx1"/>
              </a:solidFill>
              <a:effectLst/>
              <a:latin typeface="맑은 고딕" pitchFamily="50" charset="-127"/>
              <a:ea typeface="맑은 고딕" pitchFamily="50" charset="-127"/>
            </a:endParaRPr>
          </a:p>
        </p:txBody>
      </p:sp>
      <p:sp>
        <p:nvSpPr>
          <p:cNvPr id="48"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87792335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171</a:t>
            </a:fld>
            <a:endParaRPr lang="ko-KR" altLang="en-US" dirty="0"/>
          </a:p>
        </p:txBody>
      </p:sp>
      <p:sp>
        <p:nvSpPr>
          <p:cNvPr id="3" name="Text Box 39"/>
          <p:cNvSpPr txBox="1">
            <a:spLocks noChangeArrowheads="1"/>
          </p:cNvSpPr>
          <p:nvPr/>
        </p:nvSpPr>
        <p:spPr bwMode="auto">
          <a:xfrm>
            <a:off x="317989" y="764704"/>
            <a:ext cx="3041602"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Tính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toán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
        <p:nvSpPr>
          <p:cNvPr id="5" name="TextBox 4"/>
          <p:cNvSpPr txBox="1"/>
          <p:nvPr/>
        </p:nvSpPr>
        <p:spPr>
          <a:xfrm>
            <a:off x="214282" y="1216379"/>
            <a:ext cx="9011634" cy="732508"/>
          </a:xfrm>
          <a:prstGeom prst="rect">
            <a:avLst/>
          </a:prstGeom>
          <a:noFill/>
        </p:spPr>
        <p:txBody>
          <a:bodyPr wrap="none" rtlCol="0">
            <a:spAutoFit/>
          </a:bodyPr>
          <a:lstStyle/>
          <a:p>
            <a:pPr>
              <a:lnSpc>
                <a:spcPct val="130000"/>
              </a:lnSpc>
              <a:buClr>
                <a:srgbClr val="C5003D"/>
              </a:buClr>
            </a:pPr>
            <a:r>
              <a:rPr lang="en-US" altLang="ko-KR" sz="1600" b="1" dirty="0"/>
              <a:t>Case 1   </a:t>
            </a:r>
            <a:r>
              <a:rPr lang="en-US" altLang="ko-KR" sz="1600" b="1" dirty="0" err="1"/>
              <a:t>Tại</a:t>
            </a:r>
            <a:r>
              <a:rPr lang="en-US" altLang="ko-KR" sz="1600" b="1" dirty="0"/>
              <a:t> </a:t>
            </a:r>
            <a:r>
              <a:rPr lang="en-US" altLang="ko-KR" sz="1600" b="1" dirty="0" err="1"/>
              <a:t>một</a:t>
            </a:r>
            <a:r>
              <a:rPr lang="en-US" altLang="ko-KR" sz="1600" b="1" dirty="0"/>
              <a:t> process </a:t>
            </a:r>
            <a:r>
              <a:rPr lang="en-US" altLang="ko-KR" sz="1600" b="1" dirty="0" err="1"/>
              <a:t>nào</a:t>
            </a:r>
            <a:r>
              <a:rPr lang="en-US" altLang="ko-KR" sz="1600" b="1" dirty="0"/>
              <a:t> </a:t>
            </a:r>
            <a:r>
              <a:rPr lang="en-US" altLang="ko-KR" sz="1600" b="1" dirty="0" err="1"/>
              <a:t>đó</a:t>
            </a:r>
            <a:r>
              <a:rPr lang="en-US" altLang="ko-KR" sz="1600" b="1" dirty="0"/>
              <a:t> </a:t>
            </a:r>
            <a:r>
              <a:rPr lang="en-US" altLang="ko-KR" sz="1600" b="1" dirty="0" err="1"/>
              <a:t>ta</a:t>
            </a:r>
            <a:r>
              <a:rPr lang="en-US" altLang="ko-KR" sz="1600" b="1" dirty="0"/>
              <a:t> </a:t>
            </a:r>
            <a:r>
              <a:rPr lang="en-US" altLang="ko-KR" sz="1600" b="1" dirty="0" err="1"/>
              <a:t>thu</a:t>
            </a:r>
            <a:r>
              <a:rPr lang="en-US" altLang="ko-KR" sz="1600" b="1" dirty="0"/>
              <a:t> </a:t>
            </a:r>
            <a:r>
              <a:rPr lang="en-US" altLang="ko-KR" sz="1600" b="1" dirty="0" err="1"/>
              <a:t>được</a:t>
            </a:r>
            <a:r>
              <a:rPr lang="en-US" altLang="ko-KR" sz="1600" b="1" dirty="0"/>
              <a:t> data </a:t>
            </a:r>
            <a:r>
              <a:rPr lang="en-US" altLang="ko-KR" sz="1600" b="1" dirty="0" err="1"/>
              <a:t>như</a:t>
            </a:r>
            <a:r>
              <a:rPr lang="en-US" altLang="ko-KR" sz="1600" b="1" dirty="0"/>
              <a:t> </a:t>
            </a:r>
            <a:r>
              <a:rPr lang="en-US" altLang="ko-KR" sz="1600" b="1" dirty="0" err="1"/>
              <a:t>sau</a:t>
            </a:r>
            <a:r>
              <a:rPr lang="en-US" altLang="ko-KR" sz="1600" b="1" dirty="0"/>
              <a:t>. </a:t>
            </a:r>
            <a:r>
              <a:rPr lang="en-US" altLang="ko-KR" sz="1600" b="1" dirty="0" err="1"/>
              <a:t>Phân</a:t>
            </a:r>
            <a:r>
              <a:rPr lang="en-US" altLang="ko-KR" sz="1600" b="1" dirty="0"/>
              <a:t> </a:t>
            </a:r>
            <a:r>
              <a:rPr lang="en-US" altLang="ko-KR" sz="1600" b="1" dirty="0" err="1"/>
              <a:t>tán</a:t>
            </a:r>
            <a:r>
              <a:rPr lang="en-US" altLang="ko-KR" sz="1600" b="1" dirty="0"/>
              <a:t> </a:t>
            </a:r>
            <a:r>
              <a:rPr lang="en-US" altLang="ko-KR" sz="1600" b="1" dirty="0" err="1"/>
              <a:t>của</a:t>
            </a:r>
            <a:r>
              <a:rPr lang="en-US" altLang="ko-KR" sz="1600" b="1" dirty="0"/>
              <a:t> process </a:t>
            </a:r>
            <a:r>
              <a:rPr lang="en-US" altLang="ko-KR" sz="1600" b="1" dirty="0" err="1"/>
              <a:t>này</a:t>
            </a:r>
            <a:r>
              <a:rPr lang="en-US" altLang="ko-KR" sz="1600" b="1" dirty="0"/>
              <a:t> </a:t>
            </a:r>
            <a:r>
              <a:rPr lang="en-US" altLang="ko-KR" sz="1600" b="1" dirty="0" err="1"/>
              <a:t>liệu</a:t>
            </a:r>
            <a:endParaRPr lang="en-US" altLang="ko-KR" sz="1600" b="1" dirty="0"/>
          </a:p>
          <a:p>
            <a:pPr>
              <a:lnSpc>
                <a:spcPct val="130000"/>
              </a:lnSpc>
              <a:buClr>
                <a:srgbClr val="C5003D"/>
              </a:buClr>
            </a:pPr>
            <a:r>
              <a:rPr lang="en-US" altLang="ko-KR" sz="1600" b="1" dirty="0"/>
              <a:t>             </a:t>
            </a:r>
            <a:r>
              <a:rPr lang="en-US" altLang="ko-KR" sz="1600" b="1" dirty="0" err="1"/>
              <a:t>sẽ</a:t>
            </a:r>
            <a:r>
              <a:rPr lang="en-US" altLang="ko-KR" sz="1600" b="1" dirty="0"/>
              <a:t> </a:t>
            </a:r>
            <a:r>
              <a:rPr lang="en-US" altLang="ko-KR" sz="1600" b="1" dirty="0" err="1"/>
              <a:t>là</a:t>
            </a:r>
            <a:r>
              <a:rPr lang="en-US" altLang="ko-KR" sz="1600" b="1" dirty="0"/>
              <a:t> </a:t>
            </a:r>
            <a:r>
              <a:rPr lang="en-US" altLang="ko-KR" sz="1600" b="1" dirty="0" err="1"/>
              <a:t>bao</a:t>
            </a:r>
            <a:r>
              <a:rPr lang="en-US" altLang="ko-KR" sz="1600" b="1" dirty="0"/>
              <a:t> </a:t>
            </a:r>
            <a:r>
              <a:rPr lang="en-US" altLang="ko-KR" sz="1600" b="1" dirty="0" err="1"/>
              <a:t>nhiêu</a:t>
            </a:r>
            <a:r>
              <a:rPr lang="en-US" altLang="ko-KR" sz="1600" b="1" dirty="0"/>
              <a:t>?  </a:t>
            </a:r>
            <a:endParaRPr lang="ko-KR" altLang="en-US" sz="1600" b="1" dirty="0"/>
          </a:p>
        </p:txBody>
      </p:sp>
      <p:sp>
        <p:nvSpPr>
          <p:cNvPr id="6" name="TextBox 5"/>
          <p:cNvSpPr txBox="1"/>
          <p:nvPr/>
        </p:nvSpPr>
        <p:spPr>
          <a:xfrm>
            <a:off x="2315737" y="1909593"/>
            <a:ext cx="5323893" cy="412421"/>
          </a:xfrm>
          <a:prstGeom prst="rect">
            <a:avLst/>
          </a:prstGeom>
          <a:noFill/>
        </p:spPr>
        <p:txBody>
          <a:bodyPr wrap="none" rtlCol="0">
            <a:spAutoFit/>
          </a:bodyPr>
          <a:lstStyle/>
          <a:p>
            <a:pPr>
              <a:lnSpc>
                <a:spcPct val="130000"/>
              </a:lnSpc>
              <a:buClr>
                <a:srgbClr val="C5003D"/>
              </a:buClr>
            </a:pPr>
            <a:r>
              <a:rPr lang="en-US" altLang="ko-KR" sz="1600" b="1" dirty="0"/>
              <a:t>5.1,  5.3,  5.2,   5.3,   5.4,   5.2,   5.3,   5,5,  5.3,   5.2</a:t>
            </a:r>
            <a:endParaRPr lang="ko-KR" altLang="en-US" sz="1600" b="1" dirty="0"/>
          </a:p>
        </p:txBody>
      </p:sp>
      <p:cxnSp>
        <p:nvCxnSpPr>
          <p:cNvPr id="8" name="직선 연결선 7"/>
          <p:cNvCxnSpPr/>
          <p:nvPr/>
        </p:nvCxnSpPr>
        <p:spPr>
          <a:xfrm>
            <a:off x="849740" y="5218689"/>
            <a:ext cx="31905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378526"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2910277"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p:nvCxnSpPr>
        <p:spPr>
          <a:xfrm>
            <a:off x="3442028"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p:cNvCxnSpPr/>
          <p:nvPr/>
        </p:nvCxnSpPr>
        <p:spPr>
          <a:xfrm>
            <a:off x="1315023"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직선 연결선 13"/>
          <p:cNvCxnSpPr/>
          <p:nvPr/>
        </p:nvCxnSpPr>
        <p:spPr>
          <a:xfrm>
            <a:off x="1846774" y="5146681"/>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115616" y="5290698"/>
            <a:ext cx="388248" cy="332399"/>
          </a:xfrm>
          <a:prstGeom prst="rect">
            <a:avLst/>
          </a:prstGeom>
          <a:noFill/>
        </p:spPr>
        <p:txBody>
          <a:bodyPr wrap="none" rtlCol="0">
            <a:spAutoFit/>
          </a:bodyPr>
          <a:lstStyle/>
          <a:p>
            <a:pPr>
              <a:lnSpc>
                <a:spcPct val="130000"/>
              </a:lnSpc>
              <a:buClr>
                <a:srgbClr val="C5003D"/>
              </a:buClr>
            </a:pPr>
            <a:r>
              <a:rPr lang="en-US" altLang="ko-KR" sz="1200" dirty="0"/>
              <a:t>5.1</a:t>
            </a:r>
            <a:endParaRPr lang="ko-KR" altLang="en-US" sz="1200" dirty="0"/>
          </a:p>
        </p:txBody>
      </p:sp>
      <p:sp>
        <p:nvSpPr>
          <p:cNvPr id="17" name="TextBox 16"/>
          <p:cNvSpPr txBox="1"/>
          <p:nvPr/>
        </p:nvSpPr>
        <p:spPr>
          <a:xfrm>
            <a:off x="1647368" y="5290698"/>
            <a:ext cx="388248" cy="332399"/>
          </a:xfrm>
          <a:prstGeom prst="rect">
            <a:avLst/>
          </a:prstGeom>
          <a:noFill/>
        </p:spPr>
        <p:txBody>
          <a:bodyPr wrap="none" rtlCol="0">
            <a:spAutoFit/>
          </a:bodyPr>
          <a:lstStyle/>
          <a:p>
            <a:pPr>
              <a:lnSpc>
                <a:spcPct val="130000"/>
              </a:lnSpc>
              <a:buClr>
                <a:srgbClr val="C5003D"/>
              </a:buClr>
            </a:pPr>
            <a:r>
              <a:rPr lang="en-US" altLang="ko-KR" sz="1200" dirty="0"/>
              <a:t>5.2</a:t>
            </a:r>
            <a:endParaRPr lang="ko-KR" altLang="en-US" sz="1200" dirty="0"/>
          </a:p>
        </p:txBody>
      </p:sp>
      <p:sp>
        <p:nvSpPr>
          <p:cNvPr id="18" name="TextBox 17"/>
          <p:cNvSpPr txBox="1"/>
          <p:nvPr/>
        </p:nvSpPr>
        <p:spPr>
          <a:xfrm>
            <a:off x="2179119" y="5290698"/>
            <a:ext cx="388248" cy="332399"/>
          </a:xfrm>
          <a:prstGeom prst="rect">
            <a:avLst/>
          </a:prstGeom>
          <a:noFill/>
        </p:spPr>
        <p:txBody>
          <a:bodyPr wrap="none" rtlCol="0">
            <a:spAutoFit/>
          </a:bodyPr>
          <a:lstStyle/>
          <a:p>
            <a:pPr>
              <a:lnSpc>
                <a:spcPct val="130000"/>
              </a:lnSpc>
              <a:buClr>
                <a:srgbClr val="C5003D"/>
              </a:buClr>
            </a:pPr>
            <a:r>
              <a:rPr lang="en-US" altLang="ko-KR" sz="1200" dirty="0"/>
              <a:t>5.3</a:t>
            </a:r>
            <a:endParaRPr lang="ko-KR" altLang="en-US" sz="1200" dirty="0"/>
          </a:p>
        </p:txBody>
      </p:sp>
      <p:sp>
        <p:nvSpPr>
          <p:cNvPr id="19" name="TextBox 18"/>
          <p:cNvSpPr txBox="1"/>
          <p:nvPr/>
        </p:nvSpPr>
        <p:spPr>
          <a:xfrm>
            <a:off x="2710870" y="5290698"/>
            <a:ext cx="388248" cy="332399"/>
          </a:xfrm>
          <a:prstGeom prst="rect">
            <a:avLst/>
          </a:prstGeom>
          <a:noFill/>
        </p:spPr>
        <p:txBody>
          <a:bodyPr wrap="none" rtlCol="0">
            <a:spAutoFit/>
          </a:bodyPr>
          <a:lstStyle/>
          <a:p>
            <a:pPr>
              <a:lnSpc>
                <a:spcPct val="130000"/>
              </a:lnSpc>
              <a:buClr>
                <a:srgbClr val="C5003D"/>
              </a:buClr>
            </a:pPr>
            <a:r>
              <a:rPr lang="en-US" altLang="ko-KR" sz="1200" dirty="0"/>
              <a:t>5.4</a:t>
            </a:r>
            <a:endParaRPr lang="ko-KR" altLang="en-US" sz="1200" dirty="0"/>
          </a:p>
        </p:txBody>
      </p:sp>
      <p:sp>
        <p:nvSpPr>
          <p:cNvPr id="21" name="TextBox 20"/>
          <p:cNvSpPr txBox="1"/>
          <p:nvPr/>
        </p:nvSpPr>
        <p:spPr>
          <a:xfrm>
            <a:off x="3235939" y="5290698"/>
            <a:ext cx="388248" cy="332399"/>
          </a:xfrm>
          <a:prstGeom prst="rect">
            <a:avLst/>
          </a:prstGeom>
          <a:noFill/>
        </p:spPr>
        <p:txBody>
          <a:bodyPr wrap="none" rtlCol="0">
            <a:spAutoFit/>
          </a:bodyPr>
          <a:lstStyle/>
          <a:p>
            <a:pPr>
              <a:lnSpc>
                <a:spcPct val="130000"/>
              </a:lnSpc>
              <a:buClr>
                <a:srgbClr val="C5003D"/>
              </a:buClr>
            </a:pPr>
            <a:r>
              <a:rPr lang="en-US" altLang="ko-KR" sz="1200" dirty="0"/>
              <a:t>5.5</a:t>
            </a:r>
            <a:endParaRPr lang="ko-KR" altLang="en-US" sz="1200" dirty="0"/>
          </a:p>
        </p:txBody>
      </p:sp>
      <p:sp>
        <p:nvSpPr>
          <p:cNvPr id="22" name="TextBox 21"/>
          <p:cNvSpPr txBox="1"/>
          <p:nvPr/>
        </p:nvSpPr>
        <p:spPr>
          <a:xfrm>
            <a:off x="2245588"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3" name="TextBox 22"/>
          <p:cNvSpPr txBox="1"/>
          <p:nvPr/>
        </p:nvSpPr>
        <p:spPr>
          <a:xfrm>
            <a:off x="1182800"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4" name="TextBox 23"/>
          <p:cNvSpPr txBox="1"/>
          <p:nvPr/>
        </p:nvSpPr>
        <p:spPr>
          <a:xfrm>
            <a:off x="1714551"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5" name="TextBox 24"/>
          <p:cNvSpPr txBox="1"/>
          <p:nvPr/>
        </p:nvSpPr>
        <p:spPr>
          <a:xfrm>
            <a:off x="2777339"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6" name="TextBox 25"/>
          <p:cNvSpPr txBox="1"/>
          <p:nvPr/>
        </p:nvSpPr>
        <p:spPr>
          <a:xfrm>
            <a:off x="3309091" y="464262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7" name="TextBox 26"/>
          <p:cNvSpPr txBox="1"/>
          <p:nvPr/>
        </p:nvSpPr>
        <p:spPr>
          <a:xfrm>
            <a:off x="1713836" y="428258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8" name="TextBox 27"/>
          <p:cNvSpPr txBox="1"/>
          <p:nvPr/>
        </p:nvSpPr>
        <p:spPr>
          <a:xfrm>
            <a:off x="2245588" y="428258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9" name="TextBox 28"/>
          <p:cNvSpPr txBox="1"/>
          <p:nvPr/>
        </p:nvSpPr>
        <p:spPr>
          <a:xfrm>
            <a:off x="2245588" y="392254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30" name="TextBox 29"/>
          <p:cNvSpPr txBox="1"/>
          <p:nvPr/>
        </p:nvSpPr>
        <p:spPr>
          <a:xfrm>
            <a:off x="2245588" y="3562505"/>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31" name="TextBox 30"/>
          <p:cNvSpPr txBox="1"/>
          <p:nvPr/>
        </p:nvSpPr>
        <p:spPr>
          <a:xfrm>
            <a:off x="1580899" y="1916832"/>
            <a:ext cx="583814" cy="372410"/>
          </a:xfrm>
          <a:prstGeom prst="rect">
            <a:avLst/>
          </a:prstGeom>
          <a:noFill/>
        </p:spPr>
        <p:txBody>
          <a:bodyPr wrap="none" rtlCol="0">
            <a:spAutoFit/>
          </a:bodyPr>
          <a:lstStyle/>
          <a:p>
            <a:pPr>
              <a:lnSpc>
                <a:spcPct val="130000"/>
              </a:lnSpc>
              <a:buClr>
                <a:srgbClr val="C5003D"/>
              </a:buClr>
            </a:pPr>
            <a:r>
              <a:rPr lang="en-US" altLang="ko-KR" sz="1400" b="1" dirty="0"/>
              <a:t>Data</a:t>
            </a:r>
            <a:endParaRPr lang="ko-KR" altLang="en-US" sz="1400" b="1" dirty="0"/>
          </a:p>
        </p:txBody>
      </p:sp>
      <p:sp>
        <p:nvSpPr>
          <p:cNvPr id="32" name="TextBox 31"/>
          <p:cNvSpPr txBox="1"/>
          <p:nvPr/>
        </p:nvSpPr>
        <p:spPr>
          <a:xfrm>
            <a:off x="1315023" y="2708921"/>
            <a:ext cx="2021707" cy="412421"/>
          </a:xfrm>
          <a:prstGeom prst="rect">
            <a:avLst/>
          </a:prstGeom>
          <a:noFill/>
        </p:spPr>
        <p:txBody>
          <a:bodyPr wrap="none" rtlCol="0">
            <a:spAutoFit/>
          </a:bodyPr>
          <a:lstStyle/>
          <a:p>
            <a:pPr>
              <a:lnSpc>
                <a:spcPct val="130000"/>
              </a:lnSpc>
              <a:buClr>
                <a:srgbClr val="C5003D"/>
              </a:buClr>
            </a:pPr>
            <a:r>
              <a:rPr lang="en-US" altLang="ko-KR" sz="1600" u="sng" dirty="0" err="1"/>
              <a:t>Tranh</a:t>
            </a:r>
            <a:r>
              <a:rPr lang="en-US" altLang="ko-KR" sz="1600" u="sng" dirty="0"/>
              <a:t> Dot </a:t>
            </a:r>
            <a:r>
              <a:rPr lang="en-US" altLang="ko-KR" sz="1600" u="sng" dirty="0" err="1"/>
              <a:t>cho</a:t>
            </a:r>
            <a:r>
              <a:rPr lang="en-US" altLang="ko-KR" sz="1600" u="sng" dirty="0"/>
              <a:t> Data</a:t>
            </a:r>
            <a:endParaRPr lang="ko-KR" altLang="en-US" sz="1600" u="sng" dirty="0"/>
          </a:p>
        </p:txBody>
      </p:sp>
      <p:sp>
        <p:nvSpPr>
          <p:cNvPr id="4" name="TextBox 3"/>
          <p:cNvSpPr txBox="1"/>
          <p:nvPr/>
        </p:nvSpPr>
        <p:spPr>
          <a:xfrm>
            <a:off x="5502565" y="2708921"/>
            <a:ext cx="2929007" cy="412421"/>
          </a:xfrm>
          <a:prstGeom prst="rect">
            <a:avLst/>
          </a:prstGeom>
          <a:noFill/>
        </p:spPr>
        <p:txBody>
          <a:bodyPr wrap="none" rtlCol="0">
            <a:spAutoFit/>
          </a:bodyPr>
          <a:lstStyle/>
          <a:p>
            <a:pPr>
              <a:lnSpc>
                <a:spcPct val="130000"/>
              </a:lnSpc>
              <a:buClr>
                <a:srgbClr val="C5003D"/>
              </a:buClr>
            </a:pPr>
            <a:r>
              <a:rPr lang="en-US" altLang="ko-KR" sz="1600" u="sng" dirty="0" err="1"/>
              <a:t>sẽ</a:t>
            </a:r>
            <a:r>
              <a:rPr lang="en-US" altLang="ko-KR" sz="1600" u="sng" dirty="0"/>
              <a:t> </a:t>
            </a:r>
            <a:r>
              <a:rPr lang="en-US" altLang="ko-KR" sz="1600" u="sng" dirty="0" err="1"/>
              <a:t>biểu</a:t>
            </a:r>
            <a:r>
              <a:rPr lang="en-US" altLang="ko-KR" sz="1600" u="sng" dirty="0"/>
              <a:t> </a:t>
            </a:r>
            <a:r>
              <a:rPr lang="en-US" altLang="ko-KR" sz="1600" u="sng" dirty="0" err="1"/>
              <a:t>hiện</a:t>
            </a:r>
            <a:r>
              <a:rPr lang="en-US" altLang="ko-KR" sz="1600" u="sng" dirty="0"/>
              <a:t> </a:t>
            </a:r>
            <a:r>
              <a:rPr lang="en-US" altLang="ko-KR" sz="1600" u="sng" dirty="0" err="1"/>
              <a:t>như</a:t>
            </a:r>
            <a:r>
              <a:rPr lang="en-US" altLang="ko-KR" sz="1600" u="sng" dirty="0"/>
              <a:t> </a:t>
            </a:r>
            <a:r>
              <a:rPr lang="en-US" altLang="ko-KR" sz="1600" u="sng" dirty="0" err="1"/>
              <a:t>thế</a:t>
            </a:r>
            <a:r>
              <a:rPr lang="en-US" altLang="ko-KR" sz="1600" u="sng" dirty="0"/>
              <a:t> </a:t>
            </a:r>
            <a:r>
              <a:rPr lang="en-US" altLang="ko-KR" sz="1600" u="sng" dirty="0" err="1"/>
              <a:t>nào</a:t>
            </a:r>
            <a:r>
              <a:rPr lang="en-US" altLang="ko-KR" sz="1600" u="sng" dirty="0"/>
              <a:t>?  </a:t>
            </a:r>
            <a:endParaRPr lang="ko-KR" altLang="en-US" sz="1600" u="sng" dirty="0"/>
          </a:p>
        </p:txBody>
      </p:sp>
      <p:sp>
        <p:nvSpPr>
          <p:cNvPr id="7" name="TextBox 6"/>
          <p:cNvSpPr txBox="1"/>
          <p:nvPr/>
        </p:nvSpPr>
        <p:spPr>
          <a:xfrm>
            <a:off x="4173187" y="4861920"/>
            <a:ext cx="1540806" cy="372410"/>
          </a:xfrm>
          <a:prstGeom prst="rect">
            <a:avLst/>
          </a:prstGeom>
          <a:noFill/>
        </p:spPr>
        <p:txBody>
          <a:bodyPr wrap="none" rtlCol="0">
            <a:spAutoFit/>
          </a:bodyPr>
          <a:lstStyle/>
          <a:p>
            <a:pPr>
              <a:lnSpc>
                <a:spcPct val="130000"/>
              </a:lnSpc>
              <a:buClr>
                <a:srgbClr val="C5003D"/>
              </a:buClr>
            </a:pPr>
            <a:r>
              <a:rPr lang="en-US" altLang="ko-KR" sz="1400" b="1" dirty="0" err="1"/>
              <a:t>Bình</a:t>
            </a:r>
            <a:r>
              <a:rPr lang="en-US" altLang="ko-KR" sz="1400" b="1" dirty="0"/>
              <a:t> </a:t>
            </a:r>
            <a:r>
              <a:rPr lang="en-US" altLang="ko-KR" sz="1400" b="1" dirty="0" err="1"/>
              <a:t>quân</a:t>
            </a:r>
            <a:r>
              <a:rPr lang="en-US" altLang="ko-KR" sz="1400" b="1" dirty="0"/>
              <a:t> 5.28 </a:t>
            </a:r>
            <a:endParaRPr lang="ko-KR" altLang="en-US" sz="1400" b="1" dirty="0"/>
          </a:p>
        </p:txBody>
      </p:sp>
      <p:sp>
        <p:nvSpPr>
          <p:cNvPr id="33" name="TextBox 32"/>
          <p:cNvSpPr txBox="1"/>
          <p:nvPr/>
        </p:nvSpPr>
        <p:spPr>
          <a:xfrm>
            <a:off x="6100786" y="4861920"/>
            <a:ext cx="2015745" cy="372410"/>
          </a:xfrm>
          <a:prstGeom prst="rect">
            <a:avLst/>
          </a:prstGeom>
          <a:noFill/>
        </p:spPr>
        <p:txBody>
          <a:bodyPr wrap="none" rtlCol="0">
            <a:spAutoFit/>
          </a:bodyPr>
          <a:lstStyle/>
          <a:p>
            <a:pPr>
              <a:lnSpc>
                <a:spcPct val="130000"/>
              </a:lnSpc>
              <a:buClr>
                <a:srgbClr val="C5003D"/>
              </a:buClr>
            </a:pPr>
            <a:r>
              <a:rPr lang="en-US" altLang="ko-KR" sz="1400" b="1" dirty="0" err="1"/>
              <a:t>Giá</a:t>
            </a:r>
            <a:r>
              <a:rPr lang="en-US" altLang="ko-KR" sz="1400" b="1" dirty="0"/>
              <a:t> </a:t>
            </a:r>
            <a:r>
              <a:rPr lang="en-US" altLang="ko-KR" sz="1400" b="1" dirty="0" err="1"/>
              <a:t>trị</a:t>
            </a:r>
            <a:r>
              <a:rPr lang="en-US" altLang="ko-KR" sz="1400" b="1" dirty="0"/>
              <a:t> </a:t>
            </a:r>
            <a:r>
              <a:rPr lang="en-US" altLang="ko-KR" sz="1400" b="1" dirty="0" err="1"/>
              <a:t>trung</a:t>
            </a:r>
            <a:r>
              <a:rPr lang="en-US" altLang="ko-KR" sz="1400" b="1" dirty="0"/>
              <a:t> </a:t>
            </a:r>
            <a:r>
              <a:rPr lang="en-US" altLang="ko-KR" sz="1400" b="1" dirty="0" err="1"/>
              <a:t>tâm</a:t>
            </a:r>
            <a:r>
              <a:rPr lang="ko-KR" altLang="en-US" sz="1400" b="1" dirty="0"/>
              <a:t> </a:t>
            </a:r>
            <a:r>
              <a:rPr lang="en-US" altLang="ko-KR" sz="1400" b="1" dirty="0"/>
              <a:t>5.3</a:t>
            </a:r>
            <a:endParaRPr lang="ko-KR" altLang="en-US" sz="1400" b="1" dirty="0"/>
          </a:p>
        </p:txBody>
      </p:sp>
      <p:sp>
        <p:nvSpPr>
          <p:cNvPr id="34" name="TextBox 33"/>
          <p:cNvSpPr txBox="1"/>
          <p:nvPr/>
        </p:nvSpPr>
        <p:spPr>
          <a:xfrm>
            <a:off x="7750094" y="4861920"/>
            <a:ext cx="997389" cy="372410"/>
          </a:xfrm>
          <a:prstGeom prst="rect">
            <a:avLst/>
          </a:prstGeom>
          <a:noFill/>
        </p:spPr>
        <p:txBody>
          <a:bodyPr wrap="none" rtlCol="0">
            <a:spAutoFit/>
          </a:bodyPr>
          <a:lstStyle/>
          <a:p>
            <a:pPr>
              <a:lnSpc>
                <a:spcPct val="130000"/>
              </a:lnSpc>
              <a:buClr>
                <a:srgbClr val="C5003D"/>
              </a:buClr>
            </a:pPr>
            <a:r>
              <a:rPr lang="en-US" altLang="ko-KR" sz="1400" b="1" dirty="0"/>
              <a:t>Mode</a:t>
            </a:r>
            <a:r>
              <a:rPr lang="ko-KR" altLang="en-US" sz="1400" b="1" dirty="0"/>
              <a:t> </a:t>
            </a:r>
            <a:r>
              <a:rPr lang="en-US" altLang="ko-KR" sz="1400" b="1" dirty="0"/>
              <a:t>5.3</a:t>
            </a:r>
            <a:endParaRPr lang="ko-KR" altLang="en-US" sz="1400" b="1" dirty="0"/>
          </a:p>
        </p:txBody>
      </p:sp>
      <p:sp>
        <p:nvSpPr>
          <p:cNvPr id="35" name="TextBox 34"/>
          <p:cNvSpPr txBox="1"/>
          <p:nvPr/>
        </p:nvSpPr>
        <p:spPr>
          <a:xfrm>
            <a:off x="4106717" y="5229200"/>
            <a:ext cx="2501006" cy="372410"/>
          </a:xfrm>
          <a:prstGeom prst="rect">
            <a:avLst/>
          </a:prstGeom>
          <a:noFill/>
        </p:spPr>
        <p:txBody>
          <a:bodyPr wrap="none" rtlCol="0">
            <a:spAutoFit/>
          </a:bodyPr>
          <a:lstStyle/>
          <a:p>
            <a:pPr>
              <a:lnSpc>
                <a:spcPct val="130000"/>
              </a:lnSpc>
              <a:buClr>
                <a:srgbClr val="C5003D"/>
              </a:buClr>
            </a:pP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ko-KR" altLang="en-US" sz="1400" b="1" dirty="0"/>
              <a:t>  </a:t>
            </a:r>
            <a:r>
              <a:rPr lang="en-US" altLang="ko-KR" sz="1400" b="1" dirty="0"/>
              <a:t>0.1135</a:t>
            </a:r>
            <a:endParaRPr lang="ko-KR" altLang="en-US" sz="1400" b="1" dirty="0"/>
          </a:p>
        </p:txBody>
      </p:sp>
      <p:sp>
        <p:nvSpPr>
          <p:cNvPr id="36" name="TextBox 35"/>
          <p:cNvSpPr txBox="1"/>
          <p:nvPr/>
        </p:nvSpPr>
        <p:spPr>
          <a:xfrm>
            <a:off x="6353579" y="5229200"/>
            <a:ext cx="1202573" cy="372410"/>
          </a:xfrm>
          <a:prstGeom prst="rect">
            <a:avLst/>
          </a:prstGeom>
          <a:noFill/>
        </p:spPr>
        <p:txBody>
          <a:bodyPr wrap="none" rtlCol="0">
            <a:spAutoFit/>
          </a:bodyPr>
          <a:lstStyle/>
          <a:p>
            <a:pPr>
              <a:lnSpc>
                <a:spcPct val="130000"/>
              </a:lnSpc>
              <a:buClr>
                <a:srgbClr val="C5003D"/>
              </a:buClr>
            </a:pPr>
            <a:r>
              <a:rPr lang="en-US" altLang="ko-KR" sz="1400" b="1" dirty="0" err="1"/>
              <a:t>Phạm</a:t>
            </a:r>
            <a:r>
              <a:rPr lang="en-US" altLang="ko-KR" sz="1400" b="1" dirty="0"/>
              <a:t> vi</a:t>
            </a:r>
            <a:r>
              <a:rPr lang="ko-KR" altLang="en-US" sz="1400" b="1" dirty="0"/>
              <a:t> </a:t>
            </a:r>
            <a:r>
              <a:rPr lang="en-US" altLang="ko-KR" sz="1400" b="1" dirty="0"/>
              <a:t>0.4</a:t>
            </a:r>
            <a:endParaRPr lang="ko-KR" altLang="en-US" sz="1400" b="1" dirty="0"/>
          </a:p>
        </p:txBody>
      </p:sp>
      <p:sp>
        <p:nvSpPr>
          <p:cNvPr id="37" name="TextBox 36"/>
          <p:cNvSpPr txBox="1"/>
          <p:nvPr/>
        </p:nvSpPr>
        <p:spPr>
          <a:xfrm>
            <a:off x="7683626" y="5229200"/>
            <a:ext cx="1023037" cy="372410"/>
          </a:xfrm>
          <a:prstGeom prst="rect">
            <a:avLst/>
          </a:prstGeom>
          <a:noFill/>
        </p:spPr>
        <p:txBody>
          <a:bodyPr wrap="none" rtlCol="0">
            <a:spAutoFit/>
          </a:bodyPr>
          <a:lstStyle/>
          <a:p>
            <a:pPr>
              <a:lnSpc>
                <a:spcPct val="130000"/>
              </a:lnSpc>
              <a:buClr>
                <a:srgbClr val="C5003D"/>
              </a:buClr>
            </a:pPr>
            <a:r>
              <a:rPr lang="en-US" altLang="ko-KR" sz="1400" b="1" dirty="0"/>
              <a:t>IQR 0.125</a:t>
            </a:r>
            <a:endParaRPr lang="ko-KR" altLang="en-US" sz="1400" b="1" dirty="0"/>
          </a:p>
        </p:txBody>
      </p:sp>
      <p:sp>
        <p:nvSpPr>
          <p:cNvPr id="15" name="TextBox 14"/>
          <p:cNvSpPr txBox="1"/>
          <p:nvPr/>
        </p:nvSpPr>
        <p:spPr>
          <a:xfrm>
            <a:off x="5635503" y="4365105"/>
            <a:ext cx="2486963" cy="412421"/>
          </a:xfrm>
          <a:prstGeom prst="rect">
            <a:avLst/>
          </a:prstGeom>
          <a:noFill/>
        </p:spPr>
        <p:txBody>
          <a:bodyPr wrap="none" rtlCol="0">
            <a:spAutoFit/>
          </a:bodyPr>
          <a:lstStyle/>
          <a:p>
            <a:pPr>
              <a:lnSpc>
                <a:spcPct val="130000"/>
              </a:lnSpc>
              <a:buClr>
                <a:srgbClr val="C5003D"/>
              </a:buClr>
            </a:pPr>
            <a:r>
              <a:rPr lang="en-US" altLang="ko-KR" sz="1600" u="sng" dirty="0" err="1"/>
              <a:t>Biểu</a:t>
            </a:r>
            <a:r>
              <a:rPr lang="en-US" altLang="ko-KR" sz="1600" u="sng" dirty="0"/>
              <a:t> </a:t>
            </a:r>
            <a:r>
              <a:rPr lang="en-US" altLang="ko-KR" sz="1600" u="sng" dirty="0" err="1"/>
              <a:t>hiện</a:t>
            </a:r>
            <a:r>
              <a:rPr lang="en-US" altLang="ko-KR" sz="1600" u="sng" dirty="0"/>
              <a:t> </a:t>
            </a:r>
            <a:r>
              <a:rPr lang="en-US" altLang="ko-KR" sz="1600" u="sng" dirty="0" err="1"/>
              <a:t>theo</a:t>
            </a:r>
            <a:r>
              <a:rPr lang="en-US" altLang="ko-KR" sz="1600" u="sng" dirty="0"/>
              <a:t> </a:t>
            </a:r>
            <a:r>
              <a:rPr lang="en-US" altLang="ko-KR" sz="1600" u="sng" dirty="0" err="1"/>
              <a:t>thống</a:t>
            </a:r>
            <a:r>
              <a:rPr lang="en-US" altLang="ko-KR" sz="1600" u="sng" dirty="0"/>
              <a:t> </a:t>
            </a:r>
            <a:r>
              <a:rPr lang="en-US" altLang="ko-KR" sz="1600" u="sng" dirty="0" err="1"/>
              <a:t>kê</a:t>
            </a:r>
            <a:endParaRPr lang="ko-KR" altLang="en-US" sz="1600" u="sng" dirty="0"/>
          </a:p>
        </p:txBody>
      </p:sp>
      <p:sp>
        <p:nvSpPr>
          <p:cNvPr id="20" name="TextBox 19"/>
          <p:cNvSpPr txBox="1"/>
          <p:nvPr/>
        </p:nvSpPr>
        <p:spPr>
          <a:xfrm>
            <a:off x="5585346" y="3272556"/>
            <a:ext cx="2616422" cy="732508"/>
          </a:xfrm>
          <a:prstGeom prst="rect">
            <a:avLst/>
          </a:prstGeom>
          <a:noFill/>
        </p:spPr>
        <p:txBody>
          <a:bodyPr wrap="none" rtlCol="0">
            <a:spAutoFit/>
          </a:bodyPr>
          <a:lstStyle/>
          <a:p>
            <a:pPr>
              <a:lnSpc>
                <a:spcPct val="130000"/>
              </a:lnSpc>
              <a:buClr>
                <a:srgbClr val="C5003D"/>
              </a:buClr>
            </a:pPr>
            <a:r>
              <a:rPr lang="en-US" altLang="ko-KR" sz="1600" b="1" dirty="0"/>
              <a:t>Data</a:t>
            </a:r>
            <a:r>
              <a:rPr lang="ko-KR" altLang="en-US" sz="1600" b="1" dirty="0"/>
              <a:t> </a:t>
            </a:r>
            <a:r>
              <a:rPr lang="en-US" altLang="ko-KR" sz="1600" b="1" dirty="0" err="1"/>
              <a:t>có</a:t>
            </a:r>
            <a:r>
              <a:rPr lang="en-US" altLang="ko-KR" sz="1600" b="1" dirty="0"/>
              <a:t> </a:t>
            </a:r>
            <a:r>
              <a:rPr lang="en-US" altLang="ko-KR" sz="1600" b="1" dirty="0" err="1"/>
              <a:t>từ</a:t>
            </a:r>
            <a:r>
              <a:rPr lang="ko-KR" altLang="en-US" sz="1600" b="1" dirty="0"/>
              <a:t> </a:t>
            </a:r>
            <a:r>
              <a:rPr lang="en-US" altLang="ko-KR" sz="1600" b="1" dirty="0"/>
              <a:t>5.1</a:t>
            </a:r>
            <a:r>
              <a:rPr lang="ko-KR" altLang="en-US" sz="1600" b="1" dirty="0"/>
              <a:t> </a:t>
            </a:r>
            <a:r>
              <a:rPr lang="en-US" altLang="ko-KR" sz="1600" b="1" dirty="0" err="1"/>
              <a:t>đến</a:t>
            </a:r>
            <a:r>
              <a:rPr lang="ko-KR" altLang="en-US" sz="1600" b="1" dirty="0"/>
              <a:t> </a:t>
            </a:r>
            <a:r>
              <a:rPr lang="en-US" altLang="ko-KR" sz="1600" b="1" dirty="0"/>
              <a:t>5.5 </a:t>
            </a:r>
            <a:r>
              <a:rPr lang="ko-KR" altLang="en-US" sz="1600" b="1" dirty="0"/>
              <a:t> </a:t>
            </a:r>
            <a:endParaRPr lang="en-US" altLang="ko-KR" sz="1600" b="1" dirty="0"/>
          </a:p>
          <a:p>
            <a:pPr>
              <a:lnSpc>
                <a:spcPct val="130000"/>
              </a:lnSpc>
              <a:buClr>
                <a:srgbClr val="C5003D"/>
              </a:buClr>
            </a:pPr>
            <a:r>
              <a:rPr lang="en-US" altLang="ko-KR" sz="1600" b="1" dirty="0"/>
              <a:t>Data</a:t>
            </a:r>
            <a:r>
              <a:rPr lang="ko-KR" altLang="en-US" sz="1600" b="1" dirty="0"/>
              <a:t> </a:t>
            </a:r>
            <a:r>
              <a:rPr lang="en-US" altLang="ko-KR" sz="1600" b="1" dirty="0" err="1"/>
              <a:t>có</a:t>
            </a:r>
            <a:r>
              <a:rPr lang="en-US" altLang="ko-KR" sz="1600" b="1" dirty="0"/>
              <a:t> </a:t>
            </a:r>
            <a:r>
              <a:rPr lang="en-US" altLang="ko-KR" sz="1600" b="1" dirty="0" err="1"/>
              <a:t>trong</a:t>
            </a:r>
            <a:r>
              <a:rPr lang="ko-KR" altLang="en-US" sz="1600" b="1" dirty="0"/>
              <a:t> </a:t>
            </a:r>
            <a:r>
              <a:rPr lang="en-US" altLang="ko-KR" sz="1600" b="1" dirty="0"/>
              <a:t>5.3 ± 0.2</a:t>
            </a:r>
            <a:endParaRPr lang="ko-KR" altLang="en-US" sz="1600" b="1" dirty="0"/>
          </a:p>
        </p:txBody>
      </p:sp>
      <p:sp>
        <p:nvSpPr>
          <p:cNvPr id="38" name="TextBox 37"/>
          <p:cNvSpPr txBox="1"/>
          <p:nvPr/>
        </p:nvSpPr>
        <p:spPr>
          <a:xfrm>
            <a:off x="1713836" y="3933056"/>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39"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85798060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172</a:t>
            </a:fld>
            <a:endParaRPr lang="ko-KR" altLang="en-US" dirty="0"/>
          </a:p>
        </p:txBody>
      </p:sp>
      <p:sp>
        <p:nvSpPr>
          <p:cNvPr id="3" name="Text Box 39"/>
          <p:cNvSpPr txBox="1">
            <a:spLocks noChangeArrowheads="1"/>
          </p:cNvSpPr>
          <p:nvPr/>
        </p:nvSpPr>
        <p:spPr bwMode="auto">
          <a:xfrm>
            <a:off x="251520" y="692696"/>
            <a:ext cx="3217997"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Calculation of dispersion</a:t>
            </a:r>
          </a:p>
        </p:txBody>
      </p:sp>
      <p:sp>
        <p:nvSpPr>
          <p:cNvPr id="4" name="TextBox 3"/>
          <p:cNvSpPr txBox="1"/>
          <p:nvPr/>
        </p:nvSpPr>
        <p:spPr>
          <a:xfrm>
            <a:off x="517396" y="1224277"/>
            <a:ext cx="7643926" cy="1092607"/>
          </a:xfrm>
          <a:prstGeom prst="rect">
            <a:avLst/>
          </a:prstGeom>
          <a:noFill/>
        </p:spPr>
        <p:txBody>
          <a:bodyPr wrap="square" rtlCol="0">
            <a:spAutoFit/>
          </a:bodyPr>
          <a:lstStyle/>
          <a:p>
            <a:pPr>
              <a:lnSpc>
                <a:spcPct val="130000"/>
              </a:lnSpc>
              <a:buClr>
                <a:srgbClr val="C5003D"/>
              </a:buClr>
            </a:pPr>
            <a:r>
              <a:rPr lang="en-US" altLang="ko-KR" sz="1600" b="1" dirty="0"/>
              <a:t>Case 2   This data had specifications. The specification is 5.5 ± 0.5.</a:t>
            </a:r>
          </a:p>
          <a:p>
            <a:pPr>
              <a:lnSpc>
                <a:spcPct val="130000"/>
              </a:lnSpc>
              <a:buClr>
                <a:srgbClr val="C5003D"/>
              </a:buClr>
            </a:pPr>
            <a:r>
              <a:rPr lang="en-US" altLang="ko-KR" sz="1600" b="1" dirty="0"/>
              <a:t>             This was a sampling of 10 samples from 1,000 production lots</a:t>
            </a:r>
          </a:p>
          <a:p>
            <a:pPr>
              <a:lnSpc>
                <a:spcPct val="130000"/>
              </a:lnSpc>
              <a:buClr>
                <a:srgbClr val="C5003D"/>
              </a:buClr>
            </a:pPr>
            <a:r>
              <a:rPr lang="en-US" altLang="ko-KR" sz="1600" b="1" dirty="0"/>
              <a:t>             What is the expected failure rate?</a:t>
            </a:r>
            <a:endParaRPr lang="ko-KR" altLang="en-US" sz="1600" b="1" dirty="0"/>
          </a:p>
        </p:txBody>
      </p:sp>
      <p:cxnSp>
        <p:nvCxnSpPr>
          <p:cNvPr id="5" name="직선 연결선 4"/>
          <p:cNvCxnSpPr/>
          <p:nvPr/>
        </p:nvCxnSpPr>
        <p:spPr>
          <a:xfrm>
            <a:off x="1647368" y="5382333"/>
            <a:ext cx="5716327" cy="1051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3492046"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4023798"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4555549"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428543"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960295"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29137" y="5443830"/>
            <a:ext cx="388248" cy="332399"/>
          </a:xfrm>
          <a:prstGeom prst="rect">
            <a:avLst/>
          </a:prstGeom>
          <a:noFill/>
        </p:spPr>
        <p:txBody>
          <a:bodyPr wrap="none" rtlCol="0">
            <a:spAutoFit/>
          </a:bodyPr>
          <a:lstStyle/>
          <a:p>
            <a:pPr>
              <a:lnSpc>
                <a:spcPct val="130000"/>
              </a:lnSpc>
              <a:buClr>
                <a:srgbClr val="C5003D"/>
              </a:buClr>
            </a:pPr>
            <a:r>
              <a:rPr lang="en-US" altLang="ko-KR" sz="1200" dirty="0"/>
              <a:t>5.1</a:t>
            </a:r>
            <a:endParaRPr lang="ko-KR" altLang="en-US" sz="1200" dirty="0"/>
          </a:p>
        </p:txBody>
      </p:sp>
      <p:sp>
        <p:nvSpPr>
          <p:cNvPr id="12" name="TextBox 11"/>
          <p:cNvSpPr txBox="1"/>
          <p:nvPr/>
        </p:nvSpPr>
        <p:spPr>
          <a:xfrm>
            <a:off x="2760888" y="5443830"/>
            <a:ext cx="388248" cy="332399"/>
          </a:xfrm>
          <a:prstGeom prst="rect">
            <a:avLst/>
          </a:prstGeom>
          <a:noFill/>
        </p:spPr>
        <p:txBody>
          <a:bodyPr wrap="none" rtlCol="0">
            <a:spAutoFit/>
          </a:bodyPr>
          <a:lstStyle/>
          <a:p>
            <a:pPr>
              <a:lnSpc>
                <a:spcPct val="130000"/>
              </a:lnSpc>
              <a:buClr>
                <a:srgbClr val="C5003D"/>
              </a:buClr>
            </a:pPr>
            <a:r>
              <a:rPr lang="en-US" altLang="ko-KR" sz="1200" dirty="0"/>
              <a:t>5.2</a:t>
            </a:r>
            <a:endParaRPr lang="ko-KR" altLang="en-US" sz="1200" dirty="0"/>
          </a:p>
        </p:txBody>
      </p:sp>
      <p:sp>
        <p:nvSpPr>
          <p:cNvPr id="13" name="TextBox 12"/>
          <p:cNvSpPr txBox="1"/>
          <p:nvPr/>
        </p:nvSpPr>
        <p:spPr>
          <a:xfrm>
            <a:off x="3292640" y="5443830"/>
            <a:ext cx="388248" cy="332399"/>
          </a:xfrm>
          <a:prstGeom prst="rect">
            <a:avLst/>
          </a:prstGeom>
          <a:noFill/>
        </p:spPr>
        <p:txBody>
          <a:bodyPr wrap="none" rtlCol="0">
            <a:spAutoFit/>
          </a:bodyPr>
          <a:lstStyle/>
          <a:p>
            <a:pPr>
              <a:lnSpc>
                <a:spcPct val="130000"/>
              </a:lnSpc>
              <a:buClr>
                <a:srgbClr val="C5003D"/>
              </a:buClr>
            </a:pPr>
            <a:r>
              <a:rPr lang="en-US" altLang="ko-KR" sz="1200" dirty="0"/>
              <a:t>5.3</a:t>
            </a:r>
            <a:endParaRPr lang="ko-KR" altLang="en-US" sz="1200" dirty="0"/>
          </a:p>
        </p:txBody>
      </p:sp>
      <p:sp>
        <p:nvSpPr>
          <p:cNvPr id="14" name="TextBox 13"/>
          <p:cNvSpPr txBox="1"/>
          <p:nvPr/>
        </p:nvSpPr>
        <p:spPr>
          <a:xfrm>
            <a:off x="3824391" y="5443830"/>
            <a:ext cx="388248" cy="332399"/>
          </a:xfrm>
          <a:prstGeom prst="rect">
            <a:avLst/>
          </a:prstGeom>
          <a:noFill/>
        </p:spPr>
        <p:txBody>
          <a:bodyPr wrap="none" rtlCol="0">
            <a:spAutoFit/>
          </a:bodyPr>
          <a:lstStyle/>
          <a:p>
            <a:pPr>
              <a:lnSpc>
                <a:spcPct val="130000"/>
              </a:lnSpc>
              <a:buClr>
                <a:srgbClr val="C5003D"/>
              </a:buClr>
            </a:pPr>
            <a:r>
              <a:rPr lang="en-US" altLang="ko-KR" sz="1200" dirty="0"/>
              <a:t>5.4</a:t>
            </a:r>
            <a:endParaRPr lang="ko-KR" altLang="en-US" sz="1200" dirty="0"/>
          </a:p>
        </p:txBody>
      </p:sp>
      <p:sp>
        <p:nvSpPr>
          <p:cNvPr id="15" name="TextBox 14"/>
          <p:cNvSpPr txBox="1"/>
          <p:nvPr/>
        </p:nvSpPr>
        <p:spPr>
          <a:xfrm>
            <a:off x="4349459" y="5443830"/>
            <a:ext cx="388248" cy="332399"/>
          </a:xfrm>
          <a:prstGeom prst="rect">
            <a:avLst/>
          </a:prstGeom>
          <a:noFill/>
        </p:spPr>
        <p:txBody>
          <a:bodyPr wrap="none" rtlCol="0">
            <a:spAutoFit/>
          </a:bodyPr>
          <a:lstStyle/>
          <a:p>
            <a:pPr>
              <a:lnSpc>
                <a:spcPct val="130000"/>
              </a:lnSpc>
              <a:buClr>
                <a:srgbClr val="C5003D"/>
              </a:buClr>
            </a:pPr>
            <a:r>
              <a:rPr lang="en-US" altLang="ko-KR" sz="1200" dirty="0"/>
              <a:t>5.5</a:t>
            </a:r>
            <a:endParaRPr lang="ko-KR" altLang="en-US" sz="1200" dirty="0"/>
          </a:p>
        </p:txBody>
      </p:sp>
      <p:sp>
        <p:nvSpPr>
          <p:cNvPr id="16" name="TextBox 15"/>
          <p:cNvSpPr txBox="1"/>
          <p:nvPr/>
        </p:nvSpPr>
        <p:spPr>
          <a:xfrm>
            <a:off x="3359108"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17" name="TextBox 16"/>
          <p:cNvSpPr txBox="1"/>
          <p:nvPr/>
        </p:nvSpPr>
        <p:spPr>
          <a:xfrm>
            <a:off x="2296320"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18" name="TextBox 17"/>
          <p:cNvSpPr txBox="1"/>
          <p:nvPr/>
        </p:nvSpPr>
        <p:spPr>
          <a:xfrm>
            <a:off x="2828072"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19" name="TextBox 18"/>
          <p:cNvSpPr txBox="1"/>
          <p:nvPr/>
        </p:nvSpPr>
        <p:spPr>
          <a:xfrm>
            <a:off x="3890860"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0" name="TextBox 19"/>
          <p:cNvSpPr txBox="1"/>
          <p:nvPr/>
        </p:nvSpPr>
        <p:spPr>
          <a:xfrm>
            <a:off x="4422611"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1" name="TextBox 20"/>
          <p:cNvSpPr txBox="1"/>
          <p:nvPr/>
        </p:nvSpPr>
        <p:spPr>
          <a:xfrm>
            <a:off x="2827357" y="443571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2" name="TextBox 21"/>
          <p:cNvSpPr txBox="1"/>
          <p:nvPr/>
        </p:nvSpPr>
        <p:spPr>
          <a:xfrm>
            <a:off x="3359108" y="443571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3" name="TextBox 22"/>
          <p:cNvSpPr txBox="1"/>
          <p:nvPr/>
        </p:nvSpPr>
        <p:spPr>
          <a:xfrm>
            <a:off x="3359108" y="407567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4" name="TextBox 23"/>
          <p:cNvSpPr txBox="1"/>
          <p:nvPr/>
        </p:nvSpPr>
        <p:spPr>
          <a:xfrm>
            <a:off x="3359108" y="371563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5" name="TextBox 24"/>
          <p:cNvSpPr txBox="1"/>
          <p:nvPr/>
        </p:nvSpPr>
        <p:spPr>
          <a:xfrm>
            <a:off x="2827357" y="4086188"/>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grpSp>
        <p:nvGrpSpPr>
          <p:cNvPr id="26" name="그룹 37"/>
          <p:cNvGrpSpPr/>
          <p:nvPr/>
        </p:nvGrpSpPr>
        <p:grpSpPr>
          <a:xfrm>
            <a:off x="1896792" y="3582132"/>
            <a:ext cx="5184576" cy="1800200"/>
            <a:chOff x="2054858" y="2636912"/>
            <a:chExt cx="5616624" cy="2592288"/>
          </a:xfrm>
        </p:grpSpPr>
        <p:cxnSp>
          <p:nvCxnSpPr>
            <p:cNvPr id="27" name="직선 연결선 26"/>
            <p:cNvCxnSpPr/>
            <p:nvPr/>
          </p:nvCxnSpPr>
          <p:spPr>
            <a:xfrm flipV="1">
              <a:off x="4935178" y="2636912"/>
              <a:ext cx="17822" cy="25922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p:cNvCxnSpPr/>
            <p:nvPr/>
          </p:nvCxnSpPr>
          <p:spPr>
            <a:xfrm>
              <a:off x="7671482" y="2708920"/>
              <a:ext cx="0" cy="25202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2054858" y="2708920"/>
              <a:ext cx="0" cy="25202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TextBox 33"/>
          <p:cNvSpPr txBox="1"/>
          <p:nvPr/>
        </p:nvSpPr>
        <p:spPr>
          <a:xfrm>
            <a:off x="1697385" y="5443830"/>
            <a:ext cx="388248" cy="332399"/>
          </a:xfrm>
          <a:prstGeom prst="rect">
            <a:avLst/>
          </a:prstGeom>
          <a:noFill/>
        </p:spPr>
        <p:txBody>
          <a:bodyPr wrap="none" rtlCol="0">
            <a:spAutoFit/>
          </a:bodyPr>
          <a:lstStyle/>
          <a:p>
            <a:pPr>
              <a:lnSpc>
                <a:spcPct val="130000"/>
              </a:lnSpc>
              <a:buClr>
                <a:srgbClr val="C5003D"/>
              </a:buClr>
            </a:pPr>
            <a:r>
              <a:rPr lang="en-US" altLang="ko-KR" sz="1200" dirty="0"/>
              <a:t>5.0</a:t>
            </a:r>
            <a:endParaRPr lang="ko-KR" altLang="en-US" sz="1200" dirty="0"/>
          </a:p>
        </p:txBody>
      </p:sp>
      <p:sp>
        <p:nvSpPr>
          <p:cNvPr id="35" name="TextBox 34"/>
          <p:cNvSpPr txBox="1"/>
          <p:nvPr/>
        </p:nvSpPr>
        <p:spPr>
          <a:xfrm>
            <a:off x="6898412" y="5454341"/>
            <a:ext cx="388248" cy="332399"/>
          </a:xfrm>
          <a:prstGeom prst="rect">
            <a:avLst/>
          </a:prstGeom>
          <a:noFill/>
        </p:spPr>
        <p:txBody>
          <a:bodyPr wrap="none" rtlCol="0">
            <a:spAutoFit/>
          </a:bodyPr>
          <a:lstStyle/>
          <a:p>
            <a:pPr>
              <a:lnSpc>
                <a:spcPct val="130000"/>
              </a:lnSpc>
              <a:buClr>
                <a:srgbClr val="C5003D"/>
              </a:buClr>
            </a:pPr>
            <a:r>
              <a:rPr lang="en-US" altLang="ko-KR" sz="1200" dirty="0"/>
              <a:t>6.0</a:t>
            </a:r>
            <a:endParaRPr lang="ko-KR" altLang="en-US" sz="1200" dirty="0"/>
          </a:p>
        </p:txBody>
      </p:sp>
      <p:grpSp>
        <p:nvGrpSpPr>
          <p:cNvPr id="28" name="Group 73"/>
          <p:cNvGrpSpPr>
            <a:grpSpLocks/>
          </p:cNvGrpSpPr>
          <p:nvPr/>
        </p:nvGrpSpPr>
        <p:grpSpPr bwMode="auto">
          <a:xfrm>
            <a:off x="1128482" y="3423972"/>
            <a:ext cx="4131333" cy="1931009"/>
            <a:chOff x="826" y="1347"/>
            <a:chExt cx="2492" cy="1713"/>
          </a:xfrm>
        </p:grpSpPr>
        <p:sp>
          <p:nvSpPr>
            <p:cNvPr id="46" name="Freeform 74"/>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8575" cap="rnd">
              <a:solidFill>
                <a:srgbClr val="0000FF"/>
              </a:solidFill>
              <a:round/>
              <a:headEnd type="none" w="sm" len="sm"/>
              <a:tailEnd type="none" w="sm" len="sm"/>
            </a:ln>
          </p:spPr>
          <p:txBody>
            <a:bodyPr/>
            <a:lstStyle/>
            <a:p>
              <a:endParaRPr lang="ko-KR" altLang="en-US"/>
            </a:p>
          </p:txBody>
        </p:sp>
        <p:sp>
          <p:nvSpPr>
            <p:cNvPr id="47" name="Freeform 75"/>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8575" cap="rnd">
              <a:solidFill>
                <a:srgbClr val="0000FF"/>
              </a:solidFill>
              <a:round/>
              <a:headEnd type="none" w="sm" len="sm"/>
              <a:tailEnd type="none" w="sm" len="sm"/>
            </a:ln>
          </p:spPr>
          <p:txBody>
            <a:bodyPr/>
            <a:lstStyle/>
            <a:p>
              <a:endParaRPr lang="ko-KR" altLang="en-US"/>
            </a:p>
          </p:txBody>
        </p:sp>
      </p:grpSp>
      <p:sp>
        <p:nvSpPr>
          <p:cNvPr id="43" name="Freeform 76"/>
          <p:cNvSpPr>
            <a:spLocks/>
          </p:cNvSpPr>
          <p:nvPr/>
        </p:nvSpPr>
        <p:spPr bwMode="auto">
          <a:xfrm>
            <a:off x="1087145" y="5179865"/>
            <a:ext cx="824706" cy="212979"/>
          </a:xfrm>
          <a:custGeom>
            <a:avLst/>
            <a:gdLst>
              <a:gd name="T0" fmla="*/ 317 w 317"/>
              <a:gd name="T1" fmla="*/ 0 h 90"/>
              <a:gd name="T2" fmla="*/ 317 w 317"/>
              <a:gd name="T3" fmla="*/ 90 h 90"/>
              <a:gd name="T4" fmla="*/ 0 w 317"/>
              <a:gd name="T5" fmla="*/ 90 h 90"/>
              <a:gd name="T6" fmla="*/ 317 w 317"/>
              <a:gd name="T7" fmla="*/ 0 h 90"/>
              <a:gd name="T8" fmla="*/ 0 60000 65536"/>
              <a:gd name="T9" fmla="*/ 0 60000 65536"/>
              <a:gd name="T10" fmla="*/ 0 60000 65536"/>
              <a:gd name="T11" fmla="*/ 0 60000 65536"/>
              <a:gd name="T12" fmla="*/ 0 w 317"/>
              <a:gd name="T13" fmla="*/ 0 h 90"/>
              <a:gd name="T14" fmla="*/ 317 w 317"/>
              <a:gd name="T15" fmla="*/ 90 h 90"/>
            </a:gdLst>
            <a:ahLst/>
            <a:cxnLst>
              <a:cxn ang="T8">
                <a:pos x="T0" y="T1"/>
              </a:cxn>
              <a:cxn ang="T9">
                <a:pos x="T2" y="T3"/>
              </a:cxn>
              <a:cxn ang="T10">
                <a:pos x="T4" y="T5"/>
              </a:cxn>
              <a:cxn ang="T11">
                <a:pos x="T6" y="T7"/>
              </a:cxn>
            </a:cxnLst>
            <a:rect l="T12" t="T13" r="T14" b="T15"/>
            <a:pathLst>
              <a:path w="317" h="90">
                <a:moveTo>
                  <a:pt x="317" y="0"/>
                </a:moveTo>
                <a:lnTo>
                  <a:pt x="317" y="90"/>
                </a:lnTo>
                <a:lnTo>
                  <a:pt x="0" y="90"/>
                </a:lnTo>
                <a:lnTo>
                  <a:pt x="317" y="0"/>
                </a:lnTo>
                <a:close/>
              </a:path>
            </a:pathLst>
          </a:custGeom>
          <a:solidFill>
            <a:srgbClr val="FF0000"/>
          </a:solidFill>
          <a:ln w="9525">
            <a:solidFill>
              <a:schemeClr val="tx1"/>
            </a:solidFill>
            <a:round/>
            <a:headEnd/>
            <a:tailEnd/>
          </a:ln>
        </p:spPr>
        <p:txBody>
          <a:bodyPr wrap="none" anchor="ctr"/>
          <a:lstStyle/>
          <a:p>
            <a:endParaRPr lang="ko-KR" altLang="en-US"/>
          </a:p>
        </p:txBody>
      </p:sp>
      <p:sp>
        <p:nvSpPr>
          <p:cNvPr id="44" name="AutoShape 77"/>
          <p:cNvSpPr>
            <a:spLocks noChangeArrowheads="1"/>
          </p:cNvSpPr>
          <p:nvPr/>
        </p:nvSpPr>
        <p:spPr bwMode="auto">
          <a:xfrm>
            <a:off x="968865" y="4528747"/>
            <a:ext cx="1163253" cy="543327"/>
          </a:xfrm>
          <a:prstGeom prst="cloudCallout">
            <a:avLst>
              <a:gd name="adj1" fmla="val 16389"/>
              <a:gd name="adj2" fmla="val 86282"/>
            </a:avLst>
          </a:prstGeom>
          <a:solidFill>
            <a:srgbClr val="5F5F5F"/>
          </a:solidFill>
          <a:ln w="9525">
            <a:solidFill>
              <a:schemeClr val="bg1"/>
            </a:solidFill>
            <a:round/>
            <a:headEnd/>
            <a:tailEnd/>
          </a:ln>
        </p:spPr>
        <p:txBody>
          <a:bodyPr anchor="ctr"/>
          <a:lstStyle/>
          <a:p>
            <a:pPr algn="ctr"/>
            <a:endParaRPr lang="en-US" altLang="ko-KR" sz="900" b="1">
              <a:latin typeface="맑은 고딕" pitchFamily="50" charset="-127"/>
              <a:ea typeface="맑은 고딕" pitchFamily="50" charset="-127"/>
            </a:endParaRPr>
          </a:p>
        </p:txBody>
      </p:sp>
      <p:sp>
        <p:nvSpPr>
          <p:cNvPr id="45" name="Rectangle 78"/>
          <p:cNvSpPr>
            <a:spLocks noChangeArrowheads="1"/>
          </p:cNvSpPr>
          <p:nvPr/>
        </p:nvSpPr>
        <p:spPr bwMode="auto">
          <a:xfrm>
            <a:off x="1069267" y="4618646"/>
            <a:ext cx="1222642" cy="307777"/>
          </a:xfrm>
          <a:prstGeom prst="rect">
            <a:avLst/>
          </a:prstGeom>
          <a:noFill/>
          <a:ln w="9525" algn="ctr">
            <a:noFill/>
            <a:miter lim="800000"/>
            <a:headEnd/>
            <a:tailEnd/>
          </a:ln>
        </p:spPr>
        <p:txBody>
          <a:bodyPr wrap="none">
            <a:spAutoFit/>
          </a:bodyPr>
          <a:lstStyle/>
          <a:p>
            <a:pPr algn="ctr"/>
            <a:r>
              <a:rPr lang="en-US" altLang="ko-KR" sz="1400" b="1" dirty="0">
                <a:solidFill>
                  <a:schemeClr val="bg1"/>
                </a:solidFill>
                <a:latin typeface="맑은 고딕" pitchFamily="50" charset="-127"/>
                <a:ea typeface="맑은 고딕" pitchFamily="50" charset="-127"/>
              </a:rPr>
              <a:t>Defect rate?</a:t>
            </a:r>
          </a:p>
        </p:txBody>
      </p:sp>
      <p:sp>
        <p:nvSpPr>
          <p:cNvPr id="48" name="TextBox 47"/>
          <p:cNvSpPr txBox="1"/>
          <p:nvPr/>
        </p:nvSpPr>
        <p:spPr>
          <a:xfrm>
            <a:off x="1642043" y="3304611"/>
            <a:ext cx="511679" cy="412421"/>
          </a:xfrm>
          <a:prstGeom prst="rect">
            <a:avLst/>
          </a:prstGeom>
          <a:noFill/>
        </p:spPr>
        <p:txBody>
          <a:bodyPr wrap="none" rtlCol="0">
            <a:spAutoFit/>
          </a:bodyPr>
          <a:lstStyle/>
          <a:p>
            <a:pPr>
              <a:lnSpc>
                <a:spcPct val="130000"/>
              </a:lnSpc>
              <a:buClr>
                <a:srgbClr val="C5003D"/>
              </a:buClr>
            </a:pPr>
            <a:r>
              <a:rPr lang="en-US" altLang="ko-KR" sz="1600" b="1" dirty="0"/>
              <a:t>LSL</a:t>
            </a:r>
            <a:endParaRPr lang="ko-KR" altLang="en-US" sz="1600" b="1" dirty="0"/>
          </a:p>
        </p:txBody>
      </p:sp>
      <p:sp>
        <p:nvSpPr>
          <p:cNvPr id="50" name="TextBox 49"/>
          <p:cNvSpPr txBox="1"/>
          <p:nvPr/>
        </p:nvSpPr>
        <p:spPr>
          <a:xfrm>
            <a:off x="6754505" y="3304611"/>
            <a:ext cx="556563" cy="412421"/>
          </a:xfrm>
          <a:prstGeom prst="rect">
            <a:avLst/>
          </a:prstGeom>
          <a:noFill/>
        </p:spPr>
        <p:txBody>
          <a:bodyPr wrap="none" rtlCol="0">
            <a:spAutoFit/>
          </a:bodyPr>
          <a:lstStyle/>
          <a:p>
            <a:pPr>
              <a:lnSpc>
                <a:spcPct val="130000"/>
              </a:lnSpc>
              <a:buClr>
                <a:srgbClr val="C5003D"/>
              </a:buClr>
            </a:pPr>
            <a:r>
              <a:rPr lang="en-US" altLang="ko-KR" sz="1600" b="1" dirty="0"/>
              <a:t>USL</a:t>
            </a:r>
            <a:endParaRPr lang="ko-KR" altLang="en-US" sz="1600" b="1" dirty="0"/>
          </a:p>
        </p:txBody>
      </p:sp>
      <p:sp>
        <p:nvSpPr>
          <p:cNvPr id="51" name="TextBox 50"/>
          <p:cNvSpPr txBox="1"/>
          <p:nvPr/>
        </p:nvSpPr>
        <p:spPr>
          <a:xfrm>
            <a:off x="2329946" y="2492896"/>
            <a:ext cx="4897623" cy="412421"/>
          </a:xfrm>
          <a:prstGeom prst="rect">
            <a:avLst/>
          </a:prstGeom>
          <a:noFill/>
        </p:spPr>
        <p:txBody>
          <a:bodyPr wrap="none" rtlCol="0">
            <a:spAutoFit/>
          </a:bodyPr>
          <a:lstStyle/>
          <a:p>
            <a:pPr>
              <a:lnSpc>
                <a:spcPct val="130000"/>
              </a:lnSpc>
              <a:buClr>
                <a:srgbClr val="C5003D"/>
              </a:buClr>
            </a:pPr>
            <a:r>
              <a:rPr lang="en-US" altLang="ko-KR" sz="1600" b="1" u="sng" dirty="0"/>
              <a:t>Estimation of defect rate by normal distribution</a:t>
            </a:r>
          </a:p>
        </p:txBody>
      </p:sp>
      <p:sp>
        <p:nvSpPr>
          <p:cNvPr id="41"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58622891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46" name="Text Box 111"/>
          <p:cNvSpPr txBox="1">
            <a:spLocks noChangeArrowheads="1"/>
          </p:cNvSpPr>
          <p:nvPr/>
        </p:nvSpPr>
        <p:spPr bwMode="auto">
          <a:xfrm>
            <a:off x="549491" y="1484785"/>
            <a:ext cx="3224882" cy="308419"/>
          </a:xfrm>
          <a:prstGeom prst="rect">
            <a:avLst/>
          </a:prstGeom>
          <a:solidFill>
            <a:srgbClr val="0000FF"/>
          </a:solidFill>
          <a:ln w="9525" algn="ctr">
            <a:noFill/>
            <a:miter lim="800000"/>
            <a:headEnd/>
            <a:tailEnd/>
          </a:ln>
        </p:spPr>
        <p:txBody>
          <a:bodyPr vert="horz" wrap="square" lIns="92075" tIns="46038" rIns="92075" bIns="46038"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sz="1400" b="1" i="0" u="none" strike="noStrike" cap="none" normalizeH="0" baseline="0" dirty="0">
                <a:ln>
                  <a:noFill/>
                </a:ln>
                <a:solidFill>
                  <a:schemeClr val="bg1"/>
                </a:solidFill>
                <a:effectLst/>
                <a:latin typeface="+mn-ea"/>
                <a:ea typeface="+mn-ea"/>
              </a:rPr>
              <a:t>정규분포</a:t>
            </a:r>
            <a:r>
              <a:rPr kumimoji="1" lang="en-US" altLang="ko-KR" sz="1400" b="1" i="0" u="none" strike="noStrike" cap="none" normalizeH="0" baseline="0" dirty="0">
                <a:ln>
                  <a:noFill/>
                </a:ln>
                <a:solidFill>
                  <a:schemeClr val="bg1"/>
                </a:solidFill>
                <a:effectLst/>
                <a:latin typeface="+mn-ea"/>
                <a:ea typeface="+mn-ea"/>
              </a:rPr>
              <a:t>(Normal Distribution)</a:t>
            </a:r>
            <a:endParaRPr kumimoji="1" lang="ko-KR" altLang="ko-KR" sz="2000" b="0" i="0" u="none" strike="noStrike" cap="none" normalizeH="0" baseline="0" dirty="0">
              <a:ln>
                <a:noFill/>
              </a:ln>
              <a:solidFill>
                <a:schemeClr val="tx1"/>
              </a:solidFill>
              <a:effectLst/>
              <a:latin typeface="+mn-ea"/>
              <a:ea typeface="+mn-ea"/>
            </a:endParaRPr>
          </a:p>
        </p:txBody>
      </p:sp>
      <p:sp>
        <p:nvSpPr>
          <p:cNvPr id="486447" name="Text Box 112"/>
          <p:cNvSpPr txBox="1">
            <a:spLocks noChangeArrowheads="1"/>
          </p:cNvSpPr>
          <p:nvPr/>
        </p:nvSpPr>
        <p:spPr bwMode="auto">
          <a:xfrm>
            <a:off x="549491" y="1854672"/>
            <a:ext cx="5868906" cy="738664"/>
          </a:xfrm>
          <a:prstGeom prst="rect">
            <a:avLst/>
          </a:prstGeom>
          <a:noFill/>
          <a:ln w="12700" algn="ctr">
            <a:noFill/>
            <a:miter lim="800000"/>
            <a:headEnd/>
            <a:tailEnd/>
          </a:ln>
        </p:spPr>
        <p:txBody>
          <a:bodyPr vert="horz" wrap="square" lIns="91440" tIns="45720" rIns="91440" bIns="45720" numCol="1" anchor="t" anchorCtr="0" compatLnSpc="1">
            <a:prstTxWarp prst="textNoShape">
              <a:avLst/>
            </a:prstTxWarp>
            <a:spAutoFit/>
          </a:bodyPr>
          <a:lstStyle/>
          <a:p>
            <a:r>
              <a:rPr kumimoji="1" lang="en-US" altLang="ko-KR" sz="1400" b="0" i="0" u="none" strike="noStrike" cap="none" normalizeH="0" baseline="0" dirty="0">
                <a:ln>
                  <a:noFill/>
                </a:ln>
                <a:solidFill>
                  <a:schemeClr val="tx1"/>
                </a:solidFill>
                <a:effectLst/>
                <a:latin typeface="+mn-ea"/>
                <a:ea typeface="+mn-ea"/>
              </a:rPr>
              <a:t>- </a:t>
            </a:r>
            <a:r>
              <a:rPr kumimoji="1" lang="en-US" altLang="ko-KR" sz="1400" b="1" i="0" u="none" strike="noStrike" cap="none" normalizeH="0" baseline="0" dirty="0">
                <a:ln>
                  <a:noFill/>
                </a:ln>
                <a:solidFill>
                  <a:schemeClr val="tx1"/>
                </a:solidFill>
                <a:effectLst/>
                <a:latin typeface="+mn-ea"/>
                <a:ea typeface="+mn-ea"/>
              </a:rPr>
              <a:t>Interested characteristic</a:t>
            </a:r>
            <a:r>
              <a:rPr kumimoji="1" lang="en-US" altLang="ko-KR" sz="1400" b="1" i="0" u="none" strike="noStrike" cap="none" normalizeH="0" dirty="0">
                <a:ln>
                  <a:noFill/>
                </a:ln>
                <a:solidFill>
                  <a:schemeClr val="tx1"/>
                </a:solidFill>
                <a:effectLst/>
                <a:latin typeface="+mn-ea"/>
                <a:ea typeface="+mn-ea"/>
              </a:rPr>
              <a:t> </a:t>
            </a:r>
            <a:r>
              <a:rPr lang="en-US" altLang="ko-KR" sz="1400" dirty="0">
                <a:latin typeface="+mn-ea"/>
                <a:ea typeface="+mn-ea"/>
              </a:rPr>
              <a:t>: Continuous measurement with symmetry and 		        vertical shape</a:t>
            </a:r>
            <a:endParaRPr kumimoji="1" lang="ko-KR" sz="1400" b="0" i="0" u="none" strike="noStrike" cap="none" normalizeH="0" baseline="0" dirty="0">
              <a:ln>
                <a:noFill/>
              </a:ln>
              <a:solidFill>
                <a:schemeClr val="tx1"/>
              </a:solidFill>
              <a:effectLst/>
              <a:latin typeface="+mn-ea"/>
              <a:ea typeface="+mn-ea"/>
            </a:endParaRPr>
          </a:p>
          <a:p>
            <a:r>
              <a:rPr kumimoji="1" lang="en-US" altLang="ko-KR" sz="1400" b="0" i="0" u="none" strike="noStrike" cap="none" normalizeH="0" baseline="0" dirty="0">
                <a:ln>
                  <a:noFill/>
                </a:ln>
                <a:solidFill>
                  <a:schemeClr val="tx1"/>
                </a:solidFill>
                <a:effectLst/>
                <a:latin typeface="+mn-ea"/>
                <a:ea typeface="+mn-ea"/>
              </a:rPr>
              <a:t>- </a:t>
            </a:r>
            <a:r>
              <a:rPr lang="en-US" altLang="ko-KR" sz="1400" b="1" dirty="0">
                <a:latin typeface="+mn-ea"/>
                <a:ea typeface="+mn-ea"/>
              </a:rPr>
              <a:t>Parameters of distribution</a:t>
            </a:r>
            <a:r>
              <a:rPr kumimoji="1" lang="en-US" altLang="ko-KR" sz="1400" b="0" i="0" u="none" strike="noStrike" cap="none" normalizeH="0" baseline="0" dirty="0">
                <a:ln>
                  <a:noFill/>
                </a:ln>
                <a:solidFill>
                  <a:schemeClr val="tx1"/>
                </a:solidFill>
                <a:effectLst/>
                <a:latin typeface="+mn-ea"/>
                <a:ea typeface="+mn-ea"/>
              </a:rPr>
              <a:t>: Mean(</a:t>
            </a:r>
            <a:r>
              <a:rPr kumimoji="1" lang="el-GR" altLang="ko-KR" sz="1400" b="0" i="0" u="none" strike="noStrike" cap="none" normalizeH="0" baseline="0" dirty="0">
                <a:ln>
                  <a:noFill/>
                </a:ln>
                <a:solidFill>
                  <a:schemeClr val="tx1"/>
                </a:solidFill>
                <a:effectLst/>
                <a:latin typeface="+mn-ea"/>
                <a:ea typeface="+mn-ea"/>
              </a:rPr>
              <a:t>μ</a:t>
            </a:r>
            <a:r>
              <a:rPr kumimoji="1" lang="en-US" altLang="ko-KR" sz="1400" b="0" i="0" u="none" strike="noStrike" cap="none" normalizeH="0" baseline="0" dirty="0">
                <a:ln>
                  <a:noFill/>
                </a:ln>
                <a:solidFill>
                  <a:schemeClr val="tx1"/>
                </a:solidFill>
                <a:effectLst/>
                <a:latin typeface="+mn-ea"/>
                <a:ea typeface="+mn-ea"/>
              </a:rPr>
              <a:t>), Variance(</a:t>
            </a:r>
            <a:r>
              <a:rPr kumimoji="1" lang="el-GR" altLang="ko-KR" sz="1400" b="0" i="0" u="none" strike="noStrike" cap="none" normalizeH="0" baseline="0" dirty="0">
                <a:ln>
                  <a:noFill/>
                </a:ln>
                <a:solidFill>
                  <a:schemeClr val="tx1"/>
                </a:solidFill>
                <a:effectLst/>
                <a:latin typeface="+mn-ea"/>
                <a:ea typeface="+mn-ea"/>
              </a:rPr>
              <a:t>σ</a:t>
            </a:r>
            <a:r>
              <a:rPr kumimoji="1" lang="en-US" altLang="ko-KR" sz="1400" b="0" i="0" u="none" strike="noStrike" cap="none" normalizeH="0" baseline="30000" dirty="0">
                <a:ln>
                  <a:noFill/>
                </a:ln>
                <a:solidFill>
                  <a:schemeClr val="tx1"/>
                </a:solidFill>
                <a:effectLst/>
                <a:latin typeface="+mn-ea"/>
                <a:ea typeface="+mn-ea"/>
              </a:rPr>
              <a:t>2</a:t>
            </a:r>
            <a:r>
              <a:rPr kumimoji="1" lang="en-US" altLang="ko-KR" sz="1400" b="0" i="0" u="none" strike="noStrike" cap="none" normalizeH="0" baseline="0" dirty="0">
                <a:ln>
                  <a:noFill/>
                </a:ln>
                <a:solidFill>
                  <a:schemeClr val="tx1"/>
                </a:solidFill>
                <a:effectLst/>
                <a:latin typeface="+mn-ea"/>
                <a:ea typeface="+mn-ea"/>
              </a:rPr>
              <a:t>)</a:t>
            </a:r>
            <a:endParaRPr kumimoji="1" lang="ko-KR" altLang="ko-KR" sz="2000" b="0" i="0" u="none" strike="noStrike" cap="none" normalizeH="0" baseline="0" dirty="0">
              <a:ln>
                <a:noFill/>
              </a:ln>
              <a:solidFill>
                <a:schemeClr val="tx1"/>
              </a:solidFill>
              <a:effectLst/>
              <a:latin typeface="+mn-ea"/>
              <a:ea typeface="+mn-ea"/>
            </a:endParaRPr>
          </a:p>
        </p:txBody>
      </p:sp>
      <p:pic>
        <p:nvPicPr>
          <p:cNvPr id="490497" name="그림 2" descr="설명: http://postfiles8.naver.net/20120510_55/lucifer246_1336636176340_6GVrgk_GIF/PICEFF6.GIF?type=w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98274" y="1484313"/>
            <a:ext cx="1820008" cy="590550"/>
          </a:xfrm>
          <a:prstGeom prst="rect">
            <a:avLst/>
          </a:prstGeom>
          <a:noFill/>
          <a:ln w="9525">
            <a:noFill/>
            <a:miter lim="800000"/>
            <a:headEnd/>
            <a:tailEnd/>
          </a:ln>
        </p:spPr>
      </p:pic>
      <p:pic>
        <p:nvPicPr>
          <p:cNvPr id="490498" name="그림 91" descr="http://postfiles3.naver.net/20120510_82/lucifer246_1336636176501_5fo92d_GIF/PICF016.GIF?type=w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8274" y="2276475"/>
            <a:ext cx="1526931" cy="1258888"/>
          </a:xfrm>
          <a:prstGeom prst="rect">
            <a:avLst/>
          </a:prstGeom>
          <a:noFill/>
          <a:ln w="9525">
            <a:noFill/>
            <a:miter lim="800000"/>
            <a:headEnd/>
            <a:tailEnd/>
          </a:ln>
        </p:spPr>
      </p:pic>
      <p:pic>
        <p:nvPicPr>
          <p:cNvPr id="490499" name="그림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98982" y="3860801"/>
            <a:ext cx="2252296" cy="1368425"/>
          </a:xfrm>
          <a:prstGeom prst="rect">
            <a:avLst/>
          </a:prstGeom>
          <a:noFill/>
          <a:ln w="9525">
            <a:noFill/>
            <a:miter lim="800000"/>
            <a:headEnd/>
            <a:tailEnd/>
          </a:ln>
        </p:spPr>
      </p:pic>
      <p:pic>
        <p:nvPicPr>
          <p:cNvPr id="490500" name="그림 9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98981" y="5300664"/>
            <a:ext cx="2261088" cy="1152525"/>
          </a:xfrm>
          <a:prstGeom prst="rect">
            <a:avLst/>
          </a:prstGeom>
          <a:noFill/>
          <a:ln w="9525">
            <a:noFill/>
            <a:miter lim="800000"/>
            <a:headEnd/>
            <a:tailEnd/>
          </a:ln>
        </p:spPr>
      </p:pic>
      <p:sp>
        <p:nvSpPr>
          <p:cNvPr id="4" name="TextBox 3"/>
          <p:cNvSpPr txBox="1"/>
          <p:nvPr/>
        </p:nvSpPr>
        <p:spPr>
          <a:xfrm>
            <a:off x="650631" y="1074222"/>
            <a:ext cx="6232155" cy="338554"/>
          </a:xfrm>
          <a:prstGeom prst="rect">
            <a:avLst/>
          </a:prstGeom>
          <a:noFill/>
        </p:spPr>
        <p:txBody>
          <a:bodyPr vert="horz" wrap="none" lIns="91440" tIns="45720" rIns="91440" bIns="45720" numCol="1" anchor="t" anchorCtr="0" compatLnSpc="1">
            <a:prstTxWarp prst="textNoShape">
              <a:avLst/>
            </a:prstTxWarp>
            <a:spAutoFit/>
          </a:bodyPr>
          <a:lstStyle/>
          <a:p>
            <a:pPr lvl="0"/>
            <a:r>
              <a:rPr lang="en-US" altLang="ko-KR" sz="1600" b="1" dirty="0">
                <a:latin typeface="+mn-ea"/>
                <a:ea typeface="+mn-ea"/>
              </a:rPr>
              <a:t>- Most common distribution to represent natural phenomena</a:t>
            </a:r>
          </a:p>
        </p:txBody>
      </p:sp>
      <p:sp>
        <p:nvSpPr>
          <p:cNvPr id="490502" name="제목 1"/>
          <p:cNvSpPr txBox="1">
            <a:spLocks/>
          </p:cNvSpPr>
          <p:nvPr/>
        </p:nvSpPr>
        <p:spPr bwMode="auto">
          <a:xfrm>
            <a:off x="118583" y="692697"/>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kumimoji="0" lang="en-US" altLang="ko-KR" sz="2000" b="1" dirty="0">
                <a:latin typeface="+mn-ea"/>
                <a:ea typeface="+mn-ea"/>
              </a:rPr>
              <a:t>Understanding the Normal Distribution</a:t>
            </a:r>
            <a:endParaRPr kumimoji="1" lang="ko-KR" sz="1400" b="0" i="0" u="none" strike="noStrike" cap="none" normalizeH="0" baseline="0" dirty="0">
              <a:ln>
                <a:noFill/>
              </a:ln>
              <a:solidFill>
                <a:schemeClr val="tx1"/>
              </a:solidFill>
              <a:effectLst/>
              <a:latin typeface="+mn-ea"/>
              <a:ea typeface="+mn-ea"/>
            </a:endParaRPr>
          </a:p>
        </p:txBody>
      </p:sp>
      <p:grpSp>
        <p:nvGrpSpPr>
          <p:cNvPr id="2" name="Group 113"/>
          <p:cNvGrpSpPr>
            <a:grpSpLocks/>
          </p:cNvGrpSpPr>
          <p:nvPr/>
        </p:nvGrpSpPr>
        <p:grpSpPr bwMode="auto">
          <a:xfrm>
            <a:off x="650334" y="3209380"/>
            <a:ext cx="5114192" cy="2955925"/>
            <a:chOff x="716" y="1972"/>
            <a:chExt cx="3490" cy="1862"/>
          </a:xfrm>
        </p:grpSpPr>
        <p:sp>
          <p:nvSpPr>
            <p:cNvPr id="93" name="Line 64"/>
            <p:cNvSpPr>
              <a:spLocks noChangeShapeType="1"/>
            </p:cNvSpPr>
            <p:nvPr/>
          </p:nvSpPr>
          <p:spPr bwMode="auto">
            <a:xfrm>
              <a:off x="732" y="3600"/>
              <a:ext cx="347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4" name="Line 65"/>
            <p:cNvSpPr>
              <a:spLocks noChangeShapeType="1"/>
            </p:cNvSpPr>
            <p:nvPr/>
          </p:nvSpPr>
          <p:spPr bwMode="auto">
            <a:xfrm>
              <a:off x="2468" y="2857"/>
              <a:ext cx="0" cy="743"/>
            </a:xfrm>
            <a:prstGeom prst="line">
              <a:avLst/>
            </a:prstGeom>
            <a:noFill/>
            <a:ln w="12700">
              <a:solidFill>
                <a:srgbClr val="000000"/>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5" name="Line 66"/>
            <p:cNvSpPr>
              <a:spLocks noChangeShapeType="1"/>
            </p:cNvSpPr>
            <p:nvPr/>
          </p:nvSpPr>
          <p:spPr bwMode="auto">
            <a:xfrm>
              <a:off x="2750" y="2725"/>
              <a:ext cx="0" cy="8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6" name="Line 67"/>
            <p:cNvSpPr>
              <a:spLocks noChangeShapeType="1"/>
            </p:cNvSpPr>
            <p:nvPr/>
          </p:nvSpPr>
          <p:spPr bwMode="auto">
            <a:xfrm>
              <a:off x="3003" y="2595"/>
              <a:ext cx="0" cy="100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7" name="Line 68"/>
            <p:cNvSpPr>
              <a:spLocks noChangeShapeType="1"/>
            </p:cNvSpPr>
            <p:nvPr/>
          </p:nvSpPr>
          <p:spPr bwMode="auto">
            <a:xfrm>
              <a:off x="3271" y="2463"/>
              <a:ext cx="0" cy="1137"/>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8" name="Line 69"/>
            <p:cNvSpPr>
              <a:spLocks noChangeShapeType="1"/>
            </p:cNvSpPr>
            <p:nvPr/>
          </p:nvSpPr>
          <p:spPr bwMode="auto">
            <a:xfrm>
              <a:off x="1665" y="2463"/>
              <a:ext cx="0" cy="1137"/>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9" name="Line 70"/>
            <p:cNvSpPr>
              <a:spLocks noChangeShapeType="1"/>
            </p:cNvSpPr>
            <p:nvPr/>
          </p:nvSpPr>
          <p:spPr bwMode="auto">
            <a:xfrm>
              <a:off x="1933" y="2595"/>
              <a:ext cx="0" cy="100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00" name="Line 71"/>
            <p:cNvSpPr>
              <a:spLocks noChangeShapeType="1"/>
            </p:cNvSpPr>
            <p:nvPr/>
          </p:nvSpPr>
          <p:spPr bwMode="auto">
            <a:xfrm>
              <a:off x="2180" y="2725"/>
              <a:ext cx="0" cy="8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01" name="Rectangle 72"/>
            <p:cNvSpPr>
              <a:spLocks noChangeArrowheads="1"/>
            </p:cNvSpPr>
            <p:nvPr/>
          </p:nvSpPr>
          <p:spPr bwMode="auto">
            <a:xfrm>
              <a:off x="2369" y="3582"/>
              <a:ext cx="177"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p:txBody>
        </p:sp>
        <p:sp>
          <p:nvSpPr>
            <p:cNvPr id="102" name="Rectangle 73"/>
            <p:cNvSpPr>
              <a:spLocks noChangeArrowheads="1"/>
            </p:cNvSpPr>
            <p:nvPr/>
          </p:nvSpPr>
          <p:spPr bwMode="auto">
            <a:xfrm>
              <a:off x="2588" y="3582"/>
              <a:ext cx="22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+s</a:t>
              </a:r>
            </a:p>
          </p:txBody>
        </p:sp>
        <p:sp>
          <p:nvSpPr>
            <p:cNvPr id="103" name="Rectangle 74"/>
            <p:cNvSpPr>
              <a:spLocks noChangeArrowheads="1"/>
            </p:cNvSpPr>
            <p:nvPr/>
          </p:nvSpPr>
          <p:spPr bwMode="auto">
            <a:xfrm>
              <a:off x="2855"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+2s</a:t>
              </a:r>
            </a:p>
          </p:txBody>
        </p:sp>
        <p:sp>
          <p:nvSpPr>
            <p:cNvPr id="104" name="Rectangle 75"/>
            <p:cNvSpPr>
              <a:spLocks noChangeArrowheads="1"/>
            </p:cNvSpPr>
            <p:nvPr/>
          </p:nvSpPr>
          <p:spPr bwMode="auto">
            <a:xfrm>
              <a:off x="3123"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+3s</a:t>
              </a:r>
            </a:p>
          </p:txBody>
        </p:sp>
        <p:sp>
          <p:nvSpPr>
            <p:cNvPr id="105" name="Rectangle 76"/>
            <p:cNvSpPr>
              <a:spLocks noChangeArrowheads="1"/>
            </p:cNvSpPr>
            <p:nvPr/>
          </p:nvSpPr>
          <p:spPr bwMode="auto">
            <a:xfrm>
              <a:off x="2053" y="3582"/>
              <a:ext cx="22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-s</a:t>
              </a:r>
            </a:p>
          </p:txBody>
        </p:sp>
        <p:sp>
          <p:nvSpPr>
            <p:cNvPr id="106" name="Rectangle 77"/>
            <p:cNvSpPr>
              <a:spLocks noChangeArrowheads="1"/>
            </p:cNvSpPr>
            <p:nvPr/>
          </p:nvSpPr>
          <p:spPr bwMode="auto">
            <a:xfrm>
              <a:off x="1785"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-2s</a:t>
              </a:r>
            </a:p>
          </p:txBody>
        </p:sp>
        <p:sp>
          <p:nvSpPr>
            <p:cNvPr id="107" name="Rectangle 78"/>
            <p:cNvSpPr>
              <a:spLocks noChangeArrowheads="1"/>
            </p:cNvSpPr>
            <p:nvPr/>
          </p:nvSpPr>
          <p:spPr bwMode="auto">
            <a:xfrm>
              <a:off x="1520"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-3s</a:t>
              </a:r>
            </a:p>
          </p:txBody>
        </p:sp>
        <p:sp>
          <p:nvSpPr>
            <p:cNvPr id="108" name="Line 79"/>
            <p:cNvSpPr>
              <a:spLocks noChangeShapeType="1"/>
            </p:cNvSpPr>
            <p:nvPr/>
          </p:nvSpPr>
          <p:spPr bwMode="auto">
            <a:xfrm>
              <a:off x="2202" y="2858"/>
              <a:ext cx="502"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09" name="Line 80"/>
            <p:cNvSpPr>
              <a:spLocks noChangeShapeType="1"/>
            </p:cNvSpPr>
            <p:nvPr/>
          </p:nvSpPr>
          <p:spPr bwMode="auto">
            <a:xfrm>
              <a:off x="1935" y="2636"/>
              <a:ext cx="1035"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0" name="Line 81"/>
            <p:cNvSpPr>
              <a:spLocks noChangeShapeType="1"/>
            </p:cNvSpPr>
            <p:nvPr/>
          </p:nvSpPr>
          <p:spPr bwMode="auto">
            <a:xfrm>
              <a:off x="1667" y="2506"/>
              <a:ext cx="1636"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1" name="Rectangle 82"/>
            <p:cNvSpPr>
              <a:spLocks noChangeArrowheads="1"/>
            </p:cNvSpPr>
            <p:nvPr/>
          </p:nvSpPr>
          <p:spPr bwMode="auto">
            <a:xfrm>
              <a:off x="2288" y="2369"/>
              <a:ext cx="412"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99.73%</a:t>
              </a:r>
            </a:p>
          </p:txBody>
        </p:sp>
        <p:sp>
          <p:nvSpPr>
            <p:cNvPr id="112" name="Rectangle 83"/>
            <p:cNvSpPr>
              <a:spLocks noChangeArrowheads="1"/>
            </p:cNvSpPr>
            <p:nvPr/>
          </p:nvSpPr>
          <p:spPr bwMode="auto">
            <a:xfrm>
              <a:off x="2288" y="2506"/>
              <a:ext cx="412"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95.45%</a:t>
              </a:r>
            </a:p>
          </p:txBody>
        </p:sp>
        <p:sp>
          <p:nvSpPr>
            <p:cNvPr id="113" name="Rectangle 84"/>
            <p:cNvSpPr>
              <a:spLocks noChangeArrowheads="1"/>
            </p:cNvSpPr>
            <p:nvPr/>
          </p:nvSpPr>
          <p:spPr bwMode="auto">
            <a:xfrm>
              <a:off x="2288" y="2712"/>
              <a:ext cx="412"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68.27%</a:t>
              </a:r>
            </a:p>
          </p:txBody>
        </p:sp>
        <p:sp>
          <p:nvSpPr>
            <p:cNvPr id="114" name="Line 85"/>
            <p:cNvSpPr>
              <a:spLocks noChangeShapeType="1"/>
            </p:cNvSpPr>
            <p:nvPr/>
          </p:nvSpPr>
          <p:spPr bwMode="auto">
            <a:xfrm>
              <a:off x="1399" y="2332"/>
              <a:ext cx="0" cy="126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5" name="Line 86"/>
            <p:cNvSpPr>
              <a:spLocks noChangeShapeType="1"/>
            </p:cNvSpPr>
            <p:nvPr/>
          </p:nvSpPr>
          <p:spPr bwMode="auto">
            <a:xfrm>
              <a:off x="1131" y="2201"/>
              <a:ext cx="0" cy="1399"/>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6" name="Line 87"/>
            <p:cNvSpPr>
              <a:spLocks noChangeShapeType="1"/>
            </p:cNvSpPr>
            <p:nvPr/>
          </p:nvSpPr>
          <p:spPr bwMode="auto">
            <a:xfrm>
              <a:off x="864" y="2070"/>
              <a:ext cx="0" cy="15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7" name="Line 88"/>
            <p:cNvSpPr>
              <a:spLocks noChangeShapeType="1"/>
            </p:cNvSpPr>
            <p:nvPr/>
          </p:nvSpPr>
          <p:spPr bwMode="auto">
            <a:xfrm>
              <a:off x="3537" y="2332"/>
              <a:ext cx="0" cy="126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8" name="Line 89"/>
            <p:cNvSpPr>
              <a:spLocks noChangeShapeType="1"/>
            </p:cNvSpPr>
            <p:nvPr/>
          </p:nvSpPr>
          <p:spPr bwMode="auto">
            <a:xfrm>
              <a:off x="3805" y="2201"/>
              <a:ext cx="0" cy="1399"/>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9" name="Line 90"/>
            <p:cNvSpPr>
              <a:spLocks noChangeShapeType="1"/>
            </p:cNvSpPr>
            <p:nvPr/>
          </p:nvSpPr>
          <p:spPr bwMode="auto">
            <a:xfrm>
              <a:off x="4074" y="2070"/>
              <a:ext cx="0" cy="15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0" name="Line 91"/>
            <p:cNvSpPr>
              <a:spLocks noChangeShapeType="1"/>
            </p:cNvSpPr>
            <p:nvPr/>
          </p:nvSpPr>
          <p:spPr bwMode="auto">
            <a:xfrm>
              <a:off x="1400" y="2374"/>
              <a:ext cx="2106"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1" name="Line 92"/>
            <p:cNvSpPr>
              <a:spLocks noChangeShapeType="1"/>
            </p:cNvSpPr>
            <p:nvPr/>
          </p:nvSpPr>
          <p:spPr bwMode="auto">
            <a:xfrm>
              <a:off x="1132" y="2243"/>
              <a:ext cx="2706"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2" name="Line 93"/>
            <p:cNvSpPr>
              <a:spLocks noChangeShapeType="1"/>
            </p:cNvSpPr>
            <p:nvPr/>
          </p:nvSpPr>
          <p:spPr bwMode="auto">
            <a:xfrm>
              <a:off x="866" y="2112"/>
              <a:ext cx="3240"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3" name="Rectangle 94"/>
            <p:cNvSpPr>
              <a:spLocks noChangeArrowheads="1"/>
            </p:cNvSpPr>
            <p:nvPr/>
          </p:nvSpPr>
          <p:spPr bwMode="auto">
            <a:xfrm>
              <a:off x="3391"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+4s</a:t>
              </a:r>
            </a:p>
          </p:txBody>
        </p:sp>
        <p:sp>
          <p:nvSpPr>
            <p:cNvPr id="124" name="Rectangle 95"/>
            <p:cNvSpPr>
              <a:spLocks noChangeArrowheads="1"/>
            </p:cNvSpPr>
            <p:nvPr/>
          </p:nvSpPr>
          <p:spPr bwMode="auto">
            <a:xfrm>
              <a:off x="3657"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+5s</a:t>
              </a:r>
            </a:p>
          </p:txBody>
        </p:sp>
        <p:sp>
          <p:nvSpPr>
            <p:cNvPr id="125" name="Rectangle 96"/>
            <p:cNvSpPr>
              <a:spLocks noChangeArrowheads="1"/>
            </p:cNvSpPr>
            <p:nvPr/>
          </p:nvSpPr>
          <p:spPr bwMode="auto">
            <a:xfrm>
              <a:off x="3925"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+6s</a:t>
              </a:r>
            </a:p>
          </p:txBody>
        </p:sp>
        <p:sp>
          <p:nvSpPr>
            <p:cNvPr id="126" name="Rectangle 97"/>
            <p:cNvSpPr>
              <a:spLocks noChangeArrowheads="1"/>
            </p:cNvSpPr>
            <p:nvPr/>
          </p:nvSpPr>
          <p:spPr bwMode="auto">
            <a:xfrm>
              <a:off x="1251"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-4s</a:t>
              </a:r>
            </a:p>
          </p:txBody>
        </p:sp>
        <p:sp>
          <p:nvSpPr>
            <p:cNvPr id="127" name="Rectangle 98"/>
            <p:cNvSpPr>
              <a:spLocks noChangeArrowheads="1"/>
            </p:cNvSpPr>
            <p:nvPr/>
          </p:nvSpPr>
          <p:spPr bwMode="auto">
            <a:xfrm>
              <a:off x="984"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-5s</a:t>
              </a:r>
            </a:p>
          </p:txBody>
        </p:sp>
        <p:sp>
          <p:nvSpPr>
            <p:cNvPr id="128" name="Rectangle 99"/>
            <p:cNvSpPr>
              <a:spLocks noChangeArrowheads="1"/>
            </p:cNvSpPr>
            <p:nvPr/>
          </p:nvSpPr>
          <p:spPr bwMode="auto">
            <a:xfrm>
              <a:off x="716"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-6s</a:t>
              </a:r>
            </a:p>
          </p:txBody>
        </p:sp>
        <p:sp>
          <p:nvSpPr>
            <p:cNvPr id="129" name="Rectangle 100"/>
            <p:cNvSpPr>
              <a:spLocks noChangeArrowheads="1"/>
            </p:cNvSpPr>
            <p:nvPr/>
          </p:nvSpPr>
          <p:spPr bwMode="auto">
            <a:xfrm>
              <a:off x="2240" y="2242"/>
              <a:ext cx="50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99.9937%</a:t>
              </a:r>
            </a:p>
          </p:txBody>
        </p:sp>
        <p:sp>
          <p:nvSpPr>
            <p:cNvPr id="130" name="Rectangle 101"/>
            <p:cNvSpPr>
              <a:spLocks noChangeArrowheads="1"/>
            </p:cNvSpPr>
            <p:nvPr/>
          </p:nvSpPr>
          <p:spPr bwMode="auto">
            <a:xfrm>
              <a:off x="2190" y="2111"/>
              <a:ext cx="605"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99.999943%</a:t>
              </a:r>
            </a:p>
          </p:txBody>
        </p:sp>
        <p:sp>
          <p:nvSpPr>
            <p:cNvPr id="131" name="Rectangle 102"/>
            <p:cNvSpPr>
              <a:spLocks noChangeArrowheads="1"/>
            </p:cNvSpPr>
            <p:nvPr/>
          </p:nvSpPr>
          <p:spPr bwMode="auto">
            <a:xfrm>
              <a:off x="2159" y="1972"/>
              <a:ext cx="65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99.9999998%</a:t>
              </a:r>
            </a:p>
          </p:txBody>
        </p:sp>
        <p:pic>
          <p:nvPicPr>
            <p:cNvPr id="132" name="Picture 110"/>
            <p:cNvPicPr>
              <a:picLocks noChangeAspect="1" noChangeArrowheads="1"/>
            </p:cNvPicPr>
            <p:nvPr/>
          </p:nvPicPr>
          <p:blipFill>
            <a:blip r:embed="rId6" cstate="print">
              <a:clrChange>
                <a:clrFrom>
                  <a:srgbClr val="FFFFFF"/>
                </a:clrFrom>
                <a:clrTo>
                  <a:srgbClr val="FFFFFF">
                    <a:alpha val="0"/>
                  </a:srgbClr>
                </a:clrTo>
              </a:clrChange>
              <a:lum bright="6000" contrast="62000"/>
              <a:extLst>
                <a:ext uri="{28A0092B-C50C-407E-A947-70E740481C1C}">
                  <a14:useLocalDpi xmlns:a14="http://schemas.microsoft.com/office/drawing/2010/main" val="0"/>
                </a:ext>
              </a:extLst>
            </a:blip>
            <a:srcRect/>
            <a:stretch>
              <a:fillRect/>
            </a:stretch>
          </p:blipFill>
          <p:spPr bwMode="auto">
            <a:xfrm>
              <a:off x="1186" y="2857"/>
              <a:ext cx="2573" cy="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 name="TextBox 2"/>
          <p:cNvSpPr txBox="1"/>
          <p:nvPr/>
        </p:nvSpPr>
        <p:spPr>
          <a:xfrm>
            <a:off x="7074373" y="6394029"/>
            <a:ext cx="1721946" cy="312393"/>
          </a:xfrm>
          <a:prstGeom prst="rect">
            <a:avLst/>
          </a:prstGeom>
          <a:noFill/>
        </p:spPr>
        <p:txBody>
          <a:bodyPr wrap="none" rtlCol="0">
            <a:spAutoFit/>
          </a:bodyPr>
          <a:lstStyle/>
          <a:p>
            <a:pPr>
              <a:lnSpc>
                <a:spcPct val="130000"/>
              </a:lnSpc>
              <a:buClr>
                <a:srgbClr val="C5003D"/>
              </a:buClr>
            </a:pPr>
            <a:r>
              <a:rPr lang="en-US" altLang="ko-KR" sz="1100" b="1" u="sng" dirty="0">
                <a:latin typeface="+mn-ea"/>
                <a:ea typeface="+mn-ea"/>
              </a:rPr>
              <a:t>Ten Marks in Germany</a:t>
            </a:r>
            <a:endParaRPr lang="ko-KR" altLang="en-US" sz="1100" b="1" u="sng" dirty="0">
              <a:latin typeface="+mn-ea"/>
              <a:ea typeface="+mn-ea"/>
            </a:endParaRPr>
          </a:p>
        </p:txBody>
      </p:sp>
      <p:sp>
        <p:nvSpPr>
          <p:cNvPr id="55" name="Rectangle 105"/>
          <p:cNvSpPr>
            <a:spLocks noChangeArrowheads="1"/>
          </p:cNvSpPr>
          <p:nvPr/>
        </p:nvSpPr>
        <p:spPr bwMode="auto">
          <a:xfrm>
            <a:off x="8594482" y="6429376"/>
            <a:ext cx="352661" cy="308419"/>
          </a:xfrm>
          <a:prstGeom prst="rect">
            <a:avLst/>
          </a:prstGeom>
          <a:noFill/>
          <a:ln w="9525">
            <a:noFill/>
            <a:miter lim="800000"/>
            <a:headEnd/>
            <a:tailEnd/>
          </a:ln>
        </p:spPr>
        <p:txBody>
          <a:bodyPr wrap="none" lIns="92075" tIns="46038" rIns="92075" bIns="46038">
            <a:spAutoFit/>
          </a:bodyPr>
          <a:lstStyle/>
          <a:p>
            <a:pPr algn="ctr" defTabSz="762000" latinLnBrk="0"/>
            <a:r>
              <a:rPr lang="en-US" altLang="ko-KR" sz="1400" dirty="0">
                <a:latin typeface="맑은 고딕" pitchFamily="50" charset="-127"/>
                <a:ea typeface="맑은 고딕" pitchFamily="50" charset="-127"/>
              </a:rPr>
              <a:t> </a:t>
            </a:r>
            <a:fld id="{C843D651-2E04-4ED4-876D-8B96CDA14598}" type="slidenum">
              <a:rPr lang="en-US" altLang="ko-KR" sz="1400" b="1">
                <a:solidFill>
                  <a:srgbClr val="FF0066"/>
                </a:solidFill>
                <a:latin typeface="맑은 고딕" pitchFamily="50" charset="-127"/>
                <a:ea typeface="맑은 고딕" pitchFamily="50" charset="-127"/>
              </a:rPr>
              <a:pPr algn="ctr" defTabSz="762000" latinLnBrk="0"/>
              <a:t>173</a:t>
            </a:fld>
            <a:endParaRPr lang="en-US" altLang="ko-KR" sz="1400" b="1" dirty="0">
              <a:solidFill>
                <a:srgbClr val="FF0066"/>
              </a:solidFill>
              <a:latin typeface="맑은 고딕" pitchFamily="50" charset="-127"/>
              <a:ea typeface="맑은 고딕" pitchFamily="50" charset="-127"/>
            </a:endParaRPr>
          </a:p>
        </p:txBody>
      </p:sp>
      <p:sp>
        <p:nvSpPr>
          <p:cNvPr id="5" name="TextBox 4"/>
          <p:cNvSpPr txBox="1"/>
          <p:nvPr/>
        </p:nvSpPr>
        <p:spPr>
          <a:xfrm>
            <a:off x="6566068" y="1052736"/>
            <a:ext cx="2258054" cy="412421"/>
          </a:xfrm>
          <a:prstGeom prst="rect">
            <a:avLst/>
          </a:prstGeom>
          <a:noFill/>
        </p:spPr>
        <p:txBody>
          <a:bodyPr wrap="none" rtlCol="0">
            <a:spAutoFit/>
          </a:bodyPr>
          <a:lstStyle/>
          <a:p>
            <a:pPr>
              <a:lnSpc>
                <a:spcPct val="130000"/>
              </a:lnSpc>
              <a:buClr>
                <a:srgbClr val="C5003D"/>
              </a:buClr>
            </a:pPr>
            <a:r>
              <a:rPr lang="en-US" altLang="ko-KR" sz="1600" b="1" dirty="0"/>
              <a:t>Gaussian distribution</a:t>
            </a:r>
            <a:endParaRPr lang="ko-KR" altLang="en-US" sz="1600" b="1" dirty="0"/>
          </a:p>
        </p:txBody>
      </p:sp>
      <p:sp>
        <p:nvSpPr>
          <p:cNvPr id="54"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555874166"/>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174</a:t>
            </a:fld>
            <a:endParaRPr lang="ko-KR" altLang="en-US" dirty="0"/>
          </a:p>
        </p:txBody>
      </p:sp>
      <p:sp>
        <p:nvSpPr>
          <p:cNvPr id="3" name="Text Box 39"/>
          <p:cNvSpPr txBox="1">
            <a:spLocks noChangeArrowheads="1"/>
          </p:cNvSpPr>
          <p:nvPr/>
        </p:nvSpPr>
        <p:spPr bwMode="auto">
          <a:xfrm>
            <a:off x="251520" y="692696"/>
            <a:ext cx="253345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Tính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toán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
        <p:nvSpPr>
          <p:cNvPr id="4" name="TextBox 3"/>
          <p:cNvSpPr txBox="1"/>
          <p:nvPr/>
        </p:nvSpPr>
        <p:spPr>
          <a:xfrm>
            <a:off x="517396" y="1224276"/>
            <a:ext cx="7643926" cy="1372683"/>
          </a:xfrm>
          <a:prstGeom prst="rect">
            <a:avLst/>
          </a:prstGeom>
          <a:noFill/>
        </p:spPr>
        <p:txBody>
          <a:bodyPr wrap="square" rtlCol="0">
            <a:spAutoFit/>
          </a:bodyPr>
          <a:lstStyle/>
          <a:p>
            <a:pPr>
              <a:lnSpc>
                <a:spcPct val="130000"/>
              </a:lnSpc>
              <a:buClr>
                <a:srgbClr val="C5003D"/>
              </a:buClr>
            </a:pPr>
            <a:r>
              <a:rPr lang="en-US" altLang="ko-KR" sz="1600" b="1" dirty="0"/>
              <a:t>Case 2   </a:t>
            </a:r>
            <a:r>
              <a:rPr lang="en-US" altLang="ko-KR" sz="1600" b="1" dirty="0" err="1"/>
              <a:t>Trong</a:t>
            </a:r>
            <a:r>
              <a:rPr lang="ko-KR" altLang="en-US" sz="1600" b="1" dirty="0"/>
              <a:t> </a:t>
            </a:r>
            <a:r>
              <a:rPr lang="en-US" altLang="ko-KR" sz="1600" b="1" dirty="0"/>
              <a:t>Data</a:t>
            </a:r>
            <a:r>
              <a:rPr lang="ko-KR" altLang="en-US" sz="1600" b="1" dirty="0"/>
              <a:t> </a:t>
            </a:r>
            <a:r>
              <a:rPr lang="en-US" altLang="ko-KR" sz="1600" b="1" dirty="0" err="1"/>
              <a:t>có</a:t>
            </a:r>
            <a:r>
              <a:rPr lang="en-US" altLang="ko-KR" sz="1600" b="1" dirty="0"/>
              <a:t> </a:t>
            </a:r>
            <a:r>
              <a:rPr lang="en-US" altLang="ko-KR" sz="1600" b="1" dirty="0" err="1"/>
              <a:t>quy</a:t>
            </a:r>
            <a:r>
              <a:rPr lang="en-US" altLang="ko-KR" sz="1600" b="1" dirty="0"/>
              <a:t> </a:t>
            </a:r>
            <a:r>
              <a:rPr lang="en-US" altLang="ko-KR" sz="1600" b="1" dirty="0" err="1"/>
              <a:t>cách</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quy</a:t>
            </a:r>
            <a:r>
              <a:rPr lang="en-US" altLang="ko-KR" sz="1600" b="1" dirty="0"/>
              <a:t> </a:t>
            </a:r>
            <a:r>
              <a:rPr lang="en-US" altLang="ko-KR" sz="1600" b="1" dirty="0" err="1"/>
              <a:t>cách</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là</a:t>
            </a:r>
            <a:r>
              <a:rPr lang="en-US" altLang="ko-KR" sz="1600" b="1" dirty="0"/>
              <a:t> 5.5 ± 0.5 </a:t>
            </a:r>
          </a:p>
          <a:p>
            <a:pPr>
              <a:lnSpc>
                <a:spcPct val="130000"/>
              </a:lnSpc>
              <a:buClr>
                <a:srgbClr val="C5003D"/>
              </a:buClr>
            </a:pPr>
            <a:r>
              <a:rPr lang="en-US" altLang="ko-KR" sz="1600" b="1" dirty="0"/>
              <a:t>             </a:t>
            </a:r>
            <a:r>
              <a:rPr lang="en-US" altLang="ko-KR" sz="1600" b="1" dirty="0" err="1"/>
              <a:t>Đây</a:t>
            </a:r>
            <a:r>
              <a:rPr lang="en-US" altLang="ko-KR" sz="1600" b="1" dirty="0"/>
              <a:t> </a:t>
            </a:r>
            <a:r>
              <a:rPr lang="en-US" altLang="ko-KR" sz="1600" b="1" dirty="0" err="1"/>
              <a:t>là</a:t>
            </a:r>
            <a:r>
              <a:rPr lang="en-US" altLang="ko-KR" sz="1600" b="1" dirty="0"/>
              <a:t> </a:t>
            </a:r>
            <a:r>
              <a:rPr lang="en-US" altLang="ko-KR" sz="1600" b="1" dirty="0" err="1"/>
              <a:t>trong</a:t>
            </a:r>
            <a:r>
              <a:rPr lang="en-US" altLang="ko-KR" sz="1600" b="1" dirty="0"/>
              <a:t> Lot </a:t>
            </a:r>
            <a:r>
              <a:rPr lang="en-US" altLang="ko-KR" sz="1600" b="1" dirty="0" err="1"/>
              <a:t>sản</a:t>
            </a:r>
            <a:r>
              <a:rPr lang="en-US" altLang="ko-KR" sz="1600" b="1" dirty="0"/>
              <a:t> </a:t>
            </a:r>
            <a:r>
              <a:rPr lang="en-US" altLang="ko-KR" sz="1600" b="1" dirty="0" err="1"/>
              <a:t>xuất</a:t>
            </a:r>
            <a:r>
              <a:rPr lang="en-US" altLang="ko-KR" sz="1600" b="1" dirty="0"/>
              <a:t> của1,000 </a:t>
            </a:r>
            <a:r>
              <a:rPr lang="en-US" altLang="ko-KR" sz="1600" b="1" dirty="0" err="1"/>
              <a:t>cái</a:t>
            </a:r>
            <a:r>
              <a:rPr lang="en-US" altLang="ko-KR" sz="1600" b="1" dirty="0"/>
              <a:t> </a:t>
            </a:r>
            <a:r>
              <a:rPr lang="en-US" altLang="ko-KR" sz="1600" b="1" dirty="0" err="1"/>
              <a:t>chọn</a:t>
            </a:r>
            <a:r>
              <a:rPr lang="en-US" altLang="ko-KR" sz="1600" b="1" dirty="0"/>
              <a:t> sample 10 </a:t>
            </a:r>
            <a:r>
              <a:rPr lang="en-US" altLang="ko-KR" sz="1600" b="1" dirty="0" err="1"/>
              <a:t>cái</a:t>
            </a:r>
            <a:endParaRPr lang="en-US" altLang="ko-KR" sz="1600" b="1" dirty="0"/>
          </a:p>
          <a:p>
            <a:pPr>
              <a:lnSpc>
                <a:spcPct val="130000"/>
              </a:lnSpc>
              <a:buClr>
                <a:srgbClr val="C5003D"/>
              </a:buClr>
            </a:pPr>
            <a:r>
              <a:rPr lang="en-US" altLang="ko-KR" sz="1600" b="1" dirty="0"/>
              <a:t>             </a:t>
            </a:r>
            <a:r>
              <a:rPr lang="en-US" altLang="ko-KR" sz="1600" b="1" dirty="0" err="1"/>
              <a:t>Tỷ</a:t>
            </a:r>
            <a:r>
              <a:rPr lang="en-US" altLang="ko-KR" sz="1600" b="1" dirty="0"/>
              <a:t> </a:t>
            </a:r>
            <a:r>
              <a:rPr lang="en-US" altLang="ko-KR" sz="1600" b="1" dirty="0" err="1"/>
              <a:t>lệ</a:t>
            </a:r>
            <a:r>
              <a:rPr lang="en-US" altLang="ko-KR" sz="1600" b="1" dirty="0"/>
              <a:t> </a:t>
            </a:r>
            <a:r>
              <a:rPr lang="en-US" altLang="ko-KR" sz="1600" b="1" dirty="0" err="1"/>
              <a:t>không</a:t>
            </a:r>
            <a:r>
              <a:rPr lang="en-US" altLang="ko-KR" sz="1600" b="1" dirty="0"/>
              <a:t> </a:t>
            </a:r>
            <a:r>
              <a:rPr lang="en-US" altLang="ko-KR" sz="1600" b="1" dirty="0" err="1"/>
              <a:t>đạt</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dự</a:t>
            </a:r>
            <a:r>
              <a:rPr lang="en-US" altLang="ko-KR" sz="1600" b="1" dirty="0"/>
              <a:t> </a:t>
            </a:r>
            <a:r>
              <a:rPr lang="en-US" altLang="ko-KR" sz="1600" b="1" dirty="0" err="1"/>
              <a:t>đoán</a:t>
            </a:r>
            <a:r>
              <a:rPr lang="en-US" altLang="ko-KR" sz="1600" b="1" dirty="0"/>
              <a:t> </a:t>
            </a:r>
            <a:r>
              <a:rPr lang="en-US" altLang="ko-KR" sz="1600" b="1" dirty="0" err="1"/>
              <a:t>được</a:t>
            </a:r>
            <a:r>
              <a:rPr lang="en-US" altLang="ko-KR" sz="1600" b="1" dirty="0"/>
              <a:t> </a:t>
            </a:r>
            <a:r>
              <a:rPr lang="en-US" altLang="ko-KR" sz="1600" b="1" dirty="0" err="1"/>
              <a:t>sẽ</a:t>
            </a:r>
            <a:r>
              <a:rPr lang="en-US" altLang="ko-KR" sz="1600" b="1" dirty="0"/>
              <a:t> </a:t>
            </a:r>
            <a:r>
              <a:rPr lang="en-US" altLang="ko-KR" sz="1600" b="1" dirty="0" err="1"/>
              <a:t>là</a:t>
            </a:r>
            <a:r>
              <a:rPr lang="en-US" altLang="ko-KR" sz="1600" b="1" dirty="0"/>
              <a:t> </a:t>
            </a:r>
            <a:r>
              <a:rPr lang="en-US" altLang="ko-KR" sz="1600" b="1" dirty="0" err="1"/>
              <a:t>bao</a:t>
            </a:r>
            <a:r>
              <a:rPr lang="en-US" altLang="ko-KR" sz="1600" b="1" dirty="0"/>
              <a:t> </a:t>
            </a:r>
            <a:r>
              <a:rPr lang="en-US" altLang="ko-KR" sz="1600" b="1" dirty="0" err="1"/>
              <a:t>nhiêu</a:t>
            </a:r>
            <a:r>
              <a:rPr lang="en-US" altLang="ko-KR" sz="1600" b="1" dirty="0"/>
              <a:t>?</a:t>
            </a:r>
            <a:endParaRPr lang="ko-KR" altLang="en-US" sz="1600" b="1" dirty="0"/>
          </a:p>
        </p:txBody>
      </p:sp>
      <p:cxnSp>
        <p:nvCxnSpPr>
          <p:cNvPr id="5" name="직선 연결선 4"/>
          <p:cNvCxnSpPr/>
          <p:nvPr/>
        </p:nvCxnSpPr>
        <p:spPr>
          <a:xfrm>
            <a:off x="1647368" y="5382333"/>
            <a:ext cx="5716327" cy="1051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3492046"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4023798"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4555549"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428543"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2960295" y="5299813"/>
            <a:ext cx="0" cy="144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29137" y="5443830"/>
            <a:ext cx="388248" cy="332399"/>
          </a:xfrm>
          <a:prstGeom prst="rect">
            <a:avLst/>
          </a:prstGeom>
          <a:noFill/>
        </p:spPr>
        <p:txBody>
          <a:bodyPr wrap="none" rtlCol="0">
            <a:spAutoFit/>
          </a:bodyPr>
          <a:lstStyle/>
          <a:p>
            <a:pPr>
              <a:lnSpc>
                <a:spcPct val="130000"/>
              </a:lnSpc>
              <a:buClr>
                <a:srgbClr val="C5003D"/>
              </a:buClr>
            </a:pPr>
            <a:r>
              <a:rPr lang="en-US" altLang="ko-KR" sz="1200" dirty="0"/>
              <a:t>5.1</a:t>
            </a:r>
            <a:endParaRPr lang="ko-KR" altLang="en-US" sz="1200" dirty="0"/>
          </a:p>
        </p:txBody>
      </p:sp>
      <p:sp>
        <p:nvSpPr>
          <p:cNvPr id="12" name="TextBox 11"/>
          <p:cNvSpPr txBox="1"/>
          <p:nvPr/>
        </p:nvSpPr>
        <p:spPr>
          <a:xfrm>
            <a:off x="2760888" y="5443830"/>
            <a:ext cx="388248" cy="332399"/>
          </a:xfrm>
          <a:prstGeom prst="rect">
            <a:avLst/>
          </a:prstGeom>
          <a:noFill/>
        </p:spPr>
        <p:txBody>
          <a:bodyPr wrap="none" rtlCol="0">
            <a:spAutoFit/>
          </a:bodyPr>
          <a:lstStyle/>
          <a:p>
            <a:pPr>
              <a:lnSpc>
                <a:spcPct val="130000"/>
              </a:lnSpc>
              <a:buClr>
                <a:srgbClr val="C5003D"/>
              </a:buClr>
            </a:pPr>
            <a:r>
              <a:rPr lang="en-US" altLang="ko-KR" sz="1200" dirty="0"/>
              <a:t>5.2</a:t>
            </a:r>
            <a:endParaRPr lang="ko-KR" altLang="en-US" sz="1200" dirty="0"/>
          </a:p>
        </p:txBody>
      </p:sp>
      <p:sp>
        <p:nvSpPr>
          <p:cNvPr id="13" name="TextBox 12"/>
          <p:cNvSpPr txBox="1"/>
          <p:nvPr/>
        </p:nvSpPr>
        <p:spPr>
          <a:xfrm>
            <a:off x="3292640" y="5443830"/>
            <a:ext cx="388248" cy="332399"/>
          </a:xfrm>
          <a:prstGeom prst="rect">
            <a:avLst/>
          </a:prstGeom>
          <a:noFill/>
        </p:spPr>
        <p:txBody>
          <a:bodyPr wrap="none" rtlCol="0">
            <a:spAutoFit/>
          </a:bodyPr>
          <a:lstStyle/>
          <a:p>
            <a:pPr>
              <a:lnSpc>
                <a:spcPct val="130000"/>
              </a:lnSpc>
              <a:buClr>
                <a:srgbClr val="C5003D"/>
              </a:buClr>
            </a:pPr>
            <a:r>
              <a:rPr lang="en-US" altLang="ko-KR" sz="1200" dirty="0"/>
              <a:t>5.3</a:t>
            </a:r>
            <a:endParaRPr lang="ko-KR" altLang="en-US" sz="1200" dirty="0"/>
          </a:p>
        </p:txBody>
      </p:sp>
      <p:sp>
        <p:nvSpPr>
          <p:cNvPr id="14" name="TextBox 13"/>
          <p:cNvSpPr txBox="1"/>
          <p:nvPr/>
        </p:nvSpPr>
        <p:spPr>
          <a:xfrm>
            <a:off x="3824391" y="5443830"/>
            <a:ext cx="388248" cy="332399"/>
          </a:xfrm>
          <a:prstGeom prst="rect">
            <a:avLst/>
          </a:prstGeom>
          <a:noFill/>
        </p:spPr>
        <p:txBody>
          <a:bodyPr wrap="none" rtlCol="0">
            <a:spAutoFit/>
          </a:bodyPr>
          <a:lstStyle/>
          <a:p>
            <a:pPr>
              <a:lnSpc>
                <a:spcPct val="130000"/>
              </a:lnSpc>
              <a:buClr>
                <a:srgbClr val="C5003D"/>
              </a:buClr>
            </a:pPr>
            <a:r>
              <a:rPr lang="en-US" altLang="ko-KR" sz="1200" dirty="0"/>
              <a:t>5.4</a:t>
            </a:r>
            <a:endParaRPr lang="ko-KR" altLang="en-US" sz="1200" dirty="0"/>
          </a:p>
        </p:txBody>
      </p:sp>
      <p:sp>
        <p:nvSpPr>
          <p:cNvPr id="15" name="TextBox 14"/>
          <p:cNvSpPr txBox="1"/>
          <p:nvPr/>
        </p:nvSpPr>
        <p:spPr>
          <a:xfrm>
            <a:off x="4349459" y="5443830"/>
            <a:ext cx="388248" cy="332399"/>
          </a:xfrm>
          <a:prstGeom prst="rect">
            <a:avLst/>
          </a:prstGeom>
          <a:noFill/>
        </p:spPr>
        <p:txBody>
          <a:bodyPr wrap="none" rtlCol="0">
            <a:spAutoFit/>
          </a:bodyPr>
          <a:lstStyle/>
          <a:p>
            <a:pPr>
              <a:lnSpc>
                <a:spcPct val="130000"/>
              </a:lnSpc>
              <a:buClr>
                <a:srgbClr val="C5003D"/>
              </a:buClr>
            </a:pPr>
            <a:r>
              <a:rPr lang="en-US" altLang="ko-KR" sz="1200" dirty="0"/>
              <a:t>5.5</a:t>
            </a:r>
            <a:endParaRPr lang="ko-KR" altLang="en-US" sz="1200" dirty="0"/>
          </a:p>
        </p:txBody>
      </p:sp>
      <p:sp>
        <p:nvSpPr>
          <p:cNvPr id="16" name="TextBox 15"/>
          <p:cNvSpPr txBox="1"/>
          <p:nvPr/>
        </p:nvSpPr>
        <p:spPr>
          <a:xfrm>
            <a:off x="3359108"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17" name="TextBox 16"/>
          <p:cNvSpPr txBox="1"/>
          <p:nvPr/>
        </p:nvSpPr>
        <p:spPr>
          <a:xfrm>
            <a:off x="2296320"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18" name="TextBox 17"/>
          <p:cNvSpPr txBox="1"/>
          <p:nvPr/>
        </p:nvSpPr>
        <p:spPr>
          <a:xfrm>
            <a:off x="2828072"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19" name="TextBox 18"/>
          <p:cNvSpPr txBox="1"/>
          <p:nvPr/>
        </p:nvSpPr>
        <p:spPr>
          <a:xfrm>
            <a:off x="3890860"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0" name="TextBox 19"/>
          <p:cNvSpPr txBox="1"/>
          <p:nvPr/>
        </p:nvSpPr>
        <p:spPr>
          <a:xfrm>
            <a:off x="4422611" y="479575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1" name="TextBox 20"/>
          <p:cNvSpPr txBox="1"/>
          <p:nvPr/>
        </p:nvSpPr>
        <p:spPr>
          <a:xfrm>
            <a:off x="2827357" y="443571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2" name="TextBox 21"/>
          <p:cNvSpPr txBox="1"/>
          <p:nvPr/>
        </p:nvSpPr>
        <p:spPr>
          <a:xfrm>
            <a:off x="3359108" y="443571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3" name="TextBox 22"/>
          <p:cNvSpPr txBox="1"/>
          <p:nvPr/>
        </p:nvSpPr>
        <p:spPr>
          <a:xfrm>
            <a:off x="3359108" y="407567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4" name="TextBox 23"/>
          <p:cNvSpPr txBox="1"/>
          <p:nvPr/>
        </p:nvSpPr>
        <p:spPr>
          <a:xfrm>
            <a:off x="3359108" y="3715637"/>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sp>
        <p:nvSpPr>
          <p:cNvPr id="25" name="TextBox 24"/>
          <p:cNvSpPr txBox="1"/>
          <p:nvPr/>
        </p:nvSpPr>
        <p:spPr>
          <a:xfrm>
            <a:off x="2827357" y="4086188"/>
            <a:ext cx="280846" cy="412421"/>
          </a:xfrm>
          <a:prstGeom prst="rect">
            <a:avLst/>
          </a:prstGeom>
          <a:noFill/>
        </p:spPr>
        <p:txBody>
          <a:bodyPr wrap="none" rtlCol="0">
            <a:spAutoFit/>
          </a:bodyPr>
          <a:lstStyle/>
          <a:p>
            <a:pPr>
              <a:lnSpc>
                <a:spcPct val="130000"/>
              </a:lnSpc>
              <a:buClr>
                <a:srgbClr val="C5003D"/>
              </a:buClr>
            </a:pPr>
            <a:r>
              <a:rPr lang="en-US" altLang="ko-KR" sz="1600" dirty="0"/>
              <a:t>x</a:t>
            </a:r>
            <a:endParaRPr lang="ko-KR" altLang="en-US" sz="1600" dirty="0"/>
          </a:p>
        </p:txBody>
      </p:sp>
      <p:grpSp>
        <p:nvGrpSpPr>
          <p:cNvPr id="26" name="그룹 37"/>
          <p:cNvGrpSpPr/>
          <p:nvPr/>
        </p:nvGrpSpPr>
        <p:grpSpPr>
          <a:xfrm>
            <a:off x="1896792" y="3582132"/>
            <a:ext cx="5184576" cy="1800200"/>
            <a:chOff x="2054858" y="2636912"/>
            <a:chExt cx="5616624" cy="2592288"/>
          </a:xfrm>
        </p:grpSpPr>
        <p:cxnSp>
          <p:nvCxnSpPr>
            <p:cNvPr id="27" name="직선 연결선 26"/>
            <p:cNvCxnSpPr/>
            <p:nvPr/>
          </p:nvCxnSpPr>
          <p:spPr>
            <a:xfrm flipV="1">
              <a:off x="4935178" y="2636912"/>
              <a:ext cx="17822" cy="25922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p:cNvCxnSpPr/>
            <p:nvPr/>
          </p:nvCxnSpPr>
          <p:spPr>
            <a:xfrm>
              <a:off x="7671482" y="2708920"/>
              <a:ext cx="0" cy="25202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2054858" y="2708920"/>
              <a:ext cx="0" cy="25202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TextBox 33"/>
          <p:cNvSpPr txBox="1"/>
          <p:nvPr/>
        </p:nvSpPr>
        <p:spPr>
          <a:xfrm>
            <a:off x="1697385" y="5443830"/>
            <a:ext cx="388248" cy="332399"/>
          </a:xfrm>
          <a:prstGeom prst="rect">
            <a:avLst/>
          </a:prstGeom>
          <a:noFill/>
        </p:spPr>
        <p:txBody>
          <a:bodyPr wrap="none" rtlCol="0">
            <a:spAutoFit/>
          </a:bodyPr>
          <a:lstStyle/>
          <a:p>
            <a:pPr>
              <a:lnSpc>
                <a:spcPct val="130000"/>
              </a:lnSpc>
              <a:buClr>
                <a:srgbClr val="C5003D"/>
              </a:buClr>
            </a:pPr>
            <a:r>
              <a:rPr lang="en-US" altLang="ko-KR" sz="1200" dirty="0"/>
              <a:t>5.0</a:t>
            </a:r>
            <a:endParaRPr lang="ko-KR" altLang="en-US" sz="1200" dirty="0"/>
          </a:p>
        </p:txBody>
      </p:sp>
      <p:sp>
        <p:nvSpPr>
          <p:cNvPr id="35" name="TextBox 34"/>
          <p:cNvSpPr txBox="1"/>
          <p:nvPr/>
        </p:nvSpPr>
        <p:spPr>
          <a:xfrm>
            <a:off x="6898412" y="5454341"/>
            <a:ext cx="388248" cy="332399"/>
          </a:xfrm>
          <a:prstGeom prst="rect">
            <a:avLst/>
          </a:prstGeom>
          <a:noFill/>
        </p:spPr>
        <p:txBody>
          <a:bodyPr wrap="none" rtlCol="0">
            <a:spAutoFit/>
          </a:bodyPr>
          <a:lstStyle/>
          <a:p>
            <a:pPr>
              <a:lnSpc>
                <a:spcPct val="130000"/>
              </a:lnSpc>
              <a:buClr>
                <a:srgbClr val="C5003D"/>
              </a:buClr>
            </a:pPr>
            <a:r>
              <a:rPr lang="en-US" altLang="ko-KR" sz="1200" dirty="0"/>
              <a:t>6.0</a:t>
            </a:r>
            <a:endParaRPr lang="ko-KR" altLang="en-US" sz="1200" dirty="0"/>
          </a:p>
        </p:txBody>
      </p:sp>
      <p:grpSp>
        <p:nvGrpSpPr>
          <p:cNvPr id="28" name="Group 73"/>
          <p:cNvGrpSpPr>
            <a:grpSpLocks/>
          </p:cNvGrpSpPr>
          <p:nvPr/>
        </p:nvGrpSpPr>
        <p:grpSpPr bwMode="auto">
          <a:xfrm>
            <a:off x="1128482" y="3423972"/>
            <a:ext cx="4131333" cy="1931009"/>
            <a:chOff x="826" y="1347"/>
            <a:chExt cx="2492" cy="1713"/>
          </a:xfrm>
        </p:grpSpPr>
        <p:sp>
          <p:nvSpPr>
            <p:cNvPr id="46" name="Freeform 74"/>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8575" cap="rnd">
              <a:solidFill>
                <a:srgbClr val="0000FF"/>
              </a:solidFill>
              <a:round/>
              <a:headEnd type="none" w="sm" len="sm"/>
              <a:tailEnd type="none" w="sm" len="sm"/>
            </a:ln>
          </p:spPr>
          <p:txBody>
            <a:bodyPr/>
            <a:lstStyle/>
            <a:p>
              <a:endParaRPr lang="ko-KR" altLang="en-US"/>
            </a:p>
          </p:txBody>
        </p:sp>
        <p:sp>
          <p:nvSpPr>
            <p:cNvPr id="47" name="Freeform 75"/>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8575" cap="rnd">
              <a:solidFill>
                <a:srgbClr val="0000FF"/>
              </a:solidFill>
              <a:round/>
              <a:headEnd type="none" w="sm" len="sm"/>
              <a:tailEnd type="none" w="sm" len="sm"/>
            </a:ln>
          </p:spPr>
          <p:txBody>
            <a:bodyPr/>
            <a:lstStyle/>
            <a:p>
              <a:endParaRPr lang="ko-KR" altLang="en-US"/>
            </a:p>
          </p:txBody>
        </p:sp>
      </p:grpSp>
      <p:sp>
        <p:nvSpPr>
          <p:cNvPr id="43" name="Freeform 76"/>
          <p:cNvSpPr>
            <a:spLocks/>
          </p:cNvSpPr>
          <p:nvPr/>
        </p:nvSpPr>
        <p:spPr bwMode="auto">
          <a:xfrm>
            <a:off x="1087145" y="5179865"/>
            <a:ext cx="824706" cy="212979"/>
          </a:xfrm>
          <a:custGeom>
            <a:avLst/>
            <a:gdLst>
              <a:gd name="T0" fmla="*/ 317 w 317"/>
              <a:gd name="T1" fmla="*/ 0 h 90"/>
              <a:gd name="T2" fmla="*/ 317 w 317"/>
              <a:gd name="T3" fmla="*/ 90 h 90"/>
              <a:gd name="T4" fmla="*/ 0 w 317"/>
              <a:gd name="T5" fmla="*/ 90 h 90"/>
              <a:gd name="T6" fmla="*/ 317 w 317"/>
              <a:gd name="T7" fmla="*/ 0 h 90"/>
              <a:gd name="T8" fmla="*/ 0 60000 65536"/>
              <a:gd name="T9" fmla="*/ 0 60000 65536"/>
              <a:gd name="T10" fmla="*/ 0 60000 65536"/>
              <a:gd name="T11" fmla="*/ 0 60000 65536"/>
              <a:gd name="T12" fmla="*/ 0 w 317"/>
              <a:gd name="T13" fmla="*/ 0 h 90"/>
              <a:gd name="T14" fmla="*/ 317 w 317"/>
              <a:gd name="T15" fmla="*/ 90 h 90"/>
            </a:gdLst>
            <a:ahLst/>
            <a:cxnLst>
              <a:cxn ang="T8">
                <a:pos x="T0" y="T1"/>
              </a:cxn>
              <a:cxn ang="T9">
                <a:pos x="T2" y="T3"/>
              </a:cxn>
              <a:cxn ang="T10">
                <a:pos x="T4" y="T5"/>
              </a:cxn>
              <a:cxn ang="T11">
                <a:pos x="T6" y="T7"/>
              </a:cxn>
            </a:cxnLst>
            <a:rect l="T12" t="T13" r="T14" b="T15"/>
            <a:pathLst>
              <a:path w="317" h="90">
                <a:moveTo>
                  <a:pt x="317" y="0"/>
                </a:moveTo>
                <a:lnTo>
                  <a:pt x="317" y="90"/>
                </a:lnTo>
                <a:lnTo>
                  <a:pt x="0" y="90"/>
                </a:lnTo>
                <a:lnTo>
                  <a:pt x="317" y="0"/>
                </a:lnTo>
                <a:close/>
              </a:path>
            </a:pathLst>
          </a:custGeom>
          <a:solidFill>
            <a:srgbClr val="FF0000"/>
          </a:solidFill>
          <a:ln w="9525">
            <a:solidFill>
              <a:schemeClr val="tx1"/>
            </a:solidFill>
            <a:round/>
            <a:headEnd/>
            <a:tailEnd/>
          </a:ln>
        </p:spPr>
        <p:txBody>
          <a:bodyPr wrap="none" anchor="ctr"/>
          <a:lstStyle/>
          <a:p>
            <a:endParaRPr lang="ko-KR" altLang="en-US"/>
          </a:p>
        </p:txBody>
      </p:sp>
      <p:sp>
        <p:nvSpPr>
          <p:cNvPr id="44" name="AutoShape 77"/>
          <p:cNvSpPr>
            <a:spLocks noChangeArrowheads="1"/>
          </p:cNvSpPr>
          <p:nvPr/>
        </p:nvSpPr>
        <p:spPr bwMode="auto">
          <a:xfrm>
            <a:off x="968865" y="4528747"/>
            <a:ext cx="944379" cy="534814"/>
          </a:xfrm>
          <a:prstGeom prst="cloudCallout">
            <a:avLst>
              <a:gd name="adj1" fmla="val 16389"/>
              <a:gd name="adj2" fmla="val 86282"/>
            </a:avLst>
          </a:prstGeom>
          <a:solidFill>
            <a:srgbClr val="5F5F5F"/>
          </a:solidFill>
          <a:ln w="9525">
            <a:solidFill>
              <a:schemeClr val="bg1"/>
            </a:solidFill>
            <a:round/>
            <a:headEnd/>
            <a:tailEnd/>
          </a:ln>
        </p:spPr>
        <p:txBody>
          <a:bodyPr anchor="ctr"/>
          <a:lstStyle/>
          <a:p>
            <a:pPr algn="ctr"/>
            <a:endParaRPr lang="en-US" altLang="ko-KR" sz="900" b="1">
              <a:latin typeface="맑은 고딕" pitchFamily="50" charset="-127"/>
              <a:ea typeface="맑은 고딕" pitchFamily="50" charset="-127"/>
            </a:endParaRPr>
          </a:p>
        </p:txBody>
      </p:sp>
      <p:sp>
        <p:nvSpPr>
          <p:cNvPr id="45" name="Rectangle 78"/>
          <p:cNvSpPr>
            <a:spLocks noChangeArrowheads="1"/>
          </p:cNvSpPr>
          <p:nvPr/>
        </p:nvSpPr>
        <p:spPr bwMode="auto">
          <a:xfrm>
            <a:off x="1001206" y="4520734"/>
            <a:ext cx="1072730" cy="492443"/>
          </a:xfrm>
          <a:prstGeom prst="rect">
            <a:avLst/>
          </a:prstGeom>
          <a:noFill/>
          <a:ln w="9525" algn="ctr">
            <a:noFill/>
            <a:miter lim="800000"/>
            <a:headEnd/>
            <a:tailEnd/>
          </a:ln>
        </p:spPr>
        <p:txBody>
          <a:bodyPr wrap="none">
            <a:spAutoFit/>
          </a:bodyPr>
          <a:lstStyle/>
          <a:p>
            <a:pPr algn="ctr"/>
            <a:r>
              <a:rPr lang="en-US" altLang="ko-KR" sz="1200" b="1" dirty="0" err="1">
                <a:solidFill>
                  <a:schemeClr val="bg1"/>
                </a:solidFill>
                <a:latin typeface="맑은 고딕" pitchFamily="50" charset="-127"/>
                <a:ea typeface="맑은 고딕" pitchFamily="50" charset="-127"/>
              </a:rPr>
              <a:t>Tỉ</a:t>
            </a: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lệ</a:t>
            </a: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không</a:t>
            </a:r>
            <a:endParaRPr lang="en-US" altLang="ko-KR" sz="1200" b="1" dirty="0">
              <a:solidFill>
                <a:schemeClr val="bg1"/>
              </a:solidFill>
              <a:latin typeface="맑은 고딕" pitchFamily="50" charset="-127"/>
              <a:ea typeface="맑은 고딕" pitchFamily="50" charset="-127"/>
            </a:endParaRPr>
          </a:p>
          <a:p>
            <a:pPr algn="ctr"/>
            <a:r>
              <a:rPr lang="en-US" altLang="ko-KR" sz="1200" b="1" dirty="0">
                <a:solidFill>
                  <a:schemeClr val="bg1"/>
                </a:solidFill>
                <a:latin typeface="맑은 고딕" pitchFamily="50" charset="-127"/>
                <a:ea typeface="맑은 고딕" pitchFamily="50" charset="-127"/>
              </a:rPr>
              <a:t> </a:t>
            </a:r>
            <a:r>
              <a:rPr lang="en-US" altLang="ko-KR" sz="1200" b="1" dirty="0" err="1">
                <a:solidFill>
                  <a:schemeClr val="bg1"/>
                </a:solidFill>
                <a:latin typeface="맑은 고딕" pitchFamily="50" charset="-127"/>
                <a:ea typeface="맑은 고딕" pitchFamily="50" charset="-127"/>
              </a:rPr>
              <a:t>đạt</a:t>
            </a:r>
            <a:r>
              <a:rPr lang="ko-KR" altLang="en-US" sz="1200" b="1" dirty="0">
                <a:solidFill>
                  <a:schemeClr val="bg1"/>
                </a:solidFill>
                <a:latin typeface="맑은 고딕" pitchFamily="50" charset="-127"/>
                <a:ea typeface="맑은 고딕" pitchFamily="50" charset="-127"/>
              </a:rPr>
              <a:t> </a:t>
            </a:r>
            <a:r>
              <a:rPr lang="en-US" altLang="ko-KR" sz="1400" b="1" dirty="0">
                <a:solidFill>
                  <a:schemeClr val="bg1"/>
                </a:solidFill>
                <a:latin typeface="맑은 고딕" pitchFamily="50" charset="-127"/>
                <a:ea typeface="맑은 고딕" pitchFamily="50" charset="-127"/>
              </a:rPr>
              <a:t>?</a:t>
            </a:r>
          </a:p>
        </p:txBody>
      </p:sp>
      <p:sp>
        <p:nvSpPr>
          <p:cNvPr id="48" name="TextBox 47"/>
          <p:cNvSpPr txBox="1"/>
          <p:nvPr/>
        </p:nvSpPr>
        <p:spPr>
          <a:xfrm>
            <a:off x="1447961" y="3304611"/>
            <a:ext cx="511679" cy="412421"/>
          </a:xfrm>
          <a:prstGeom prst="rect">
            <a:avLst/>
          </a:prstGeom>
          <a:noFill/>
        </p:spPr>
        <p:txBody>
          <a:bodyPr wrap="none" rtlCol="0">
            <a:spAutoFit/>
          </a:bodyPr>
          <a:lstStyle/>
          <a:p>
            <a:pPr>
              <a:lnSpc>
                <a:spcPct val="130000"/>
              </a:lnSpc>
              <a:buClr>
                <a:srgbClr val="C5003D"/>
              </a:buClr>
            </a:pPr>
            <a:r>
              <a:rPr lang="en-US" altLang="ko-KR" sz="1600" b="1" dirty="0"/>
              <a:t>LSL</a:t>
            </a:r>
            <a:endParaRPr lang="ko-KR" altLang="en-US" sz="1600" b="1" dirty="0"/>
          </a:p>
        </p:txBody>
      </p:sp>
      <p:sp>
        <p:nvSpPr>
          <p:cNvPr id="50" name="TextBox 49"/>
          <p:cNvSpPr txBox="1"/>
          <p:nvPr/>
        </p:nvSpPr>
        <p:spPr>
          <a:xfrm>
            <a:off x="6632537" y="3304611"/>
            <a:ext cx="556563" cy="412421"/>
          </a:xfrm>
          <a:prstGeom prst="rect">
            <a:avLst/>
          </a:prstGeom>
          <a:noFill/>
        </p:spPr>
        <p:txBody>
          <a:bodyPr wrap="none" rtlCol="0">
            <a:spAutoFit/>
          </a:bodyPr>
          <a:lstStyle/>
          <a:p>
            <a:pPr>
              <a:lnSpc>
                <a:spcPct val="130000"/>
              </a:lnSpc>
              <a:buClr>
                <a:srgbClr val="C5003D"/>
              </a:buClr>
            </a:pPr>
            <a:r>
              <a:rPr lang="en-US" altLang="ko-KR" sz="1600" b="1" dirty="0"/>
              <a:t>USL</a:t>
            </a:r>
            <a:endParaRPr lang="ko-KR" altLang="en-US" sz="1600" b="1" dirty="0"/>
          </a:p>
        </p:txBody>
      </p:sp>
      <p:sp>
        <p:nvSpPr>
          <p:cNvPr id="51" name="TextBox 50"/>
          <p:cNvSpPr txBox="1"/>
          <p:nvPr/>
        </p:nvSpPr>
        <p:spPr>
          <a:xfrm>
            <a:off x="2843808" y="2492897"/>
            <a:ext cx="4751622" cy="412421"/>
          </a:xfrm>
          <a:prstGeom prst="rect">
            <a:avLst/>
          </a:prstGeom>
          <a:noFill/>
        </p:spPr>
        <p:txBody>
          <a:bodyPr wrap="none" rtlCol="0">
            <a:spAutoFit/>
          </a:bodyPr>
          <a:lstStyle/>
          <a:p>
            <a:pPr>
              <a:lnSpc>
                <a:spcPct val="130000"/>
              </a:lnSpc>
              <a:buClr>
                <a:srgbClr val="C5003D"/>
              </a:buClr>
            </a:pPr>
            <a:r>
              <a:rPr lang="en-US" altLang="ko-KR" sz="1600" b="1" u="sng" dirty="0" err="1"/>
              <a:t>Đo</a:t>
            </a:r>
            <a:r>
              <a:rPr lang="en-US" altLang="ko-KR" sz="1600" b="1" u="sng" dirty="0"/>
              <a:t> </a:t>
            </a:r>
            <a:r>
              <a:rPr lang="en-US" altLang="ko-KR" sz="1600" b="1" u="sng" dirty="0" err="1"/>
              <a:t>đạc</a:t>
            </a:r>
            <a:r>
              <a:rPr lang="en-US" altLang="ko-KR" sz="1600" b="1" u="sng" dirty="0"/>
              <a:t> </a:t>
            </a:r>
            <a:r>
              <a:rPr lang="en-US" altLang="ko-KR" sz="1600" b="1" u="sng" dirty="0" err="1"/>
              <a:t>tỷ</a:t>
            </a:r>
            <a:r>
              <a:rPr lang="en-US" altLang="ko-KR" sz="1600" b="1" u="sng" dirty="0"/>
              <a:t> </a:t>
            </a:r>
            <a:r>
              <a:rPr lang="en-US" altLang="ko-KR" sz="1600" b="1" u="sng" dirty="0" err="1"/>
              <a:t>lệ</a:t>
            </a:r>
            <a:r>
              <a:rPr lang="en-US" altLang="ko-KR" sz="1600" b="1" u="sng" dirty="0"/>
              <a:t> </a:t>
            </a:r>
            <a:r>
              <a:rPr lang="en-US" altLang="ko-KR" sz="1600" b="1" u="sng" dirty="0" err="1"/>
              <a:t>không</a:t>
            </a:r>
            <a:r>
              <a:rPr lang="en-US" altLang="ko-KR" sz="1600" b="1" u="sng" dirty="0"/>
              <a:t> </a:t>
            </a:r>
            <a:r>
              <a:rPr lang="en-US" altLang="ko-KR" sz="1600" b="1" u="sng" dirty="0" err="1"/>
              <a:t>đạt</a:t>
            </a:r>
            <a:r>
              <a:rPr lang="en-US" altLang="ko-KR" sz="1600" b="1" u="sng" dirty="0"/>
              <a:t> do </a:t>
            </a:r>
            <a:r>
              <a:rPr lang="en-US" altLang="ko-KR" sz="1600" b="1" u="sng" dirty="0" err="1"/>
              <a:t>phân</a:t>
            </a:r>
            <a:r>
              <a:rPr lang="en-US" altLang="ko-KR" sz="1600" b="1" u="sng" dirty="0"/>
              <a:t> </a:t>
            </a:r>
            <a:r>
              <a:rPr lang="en-US" altLang="ko-KR" sz="1600" b="1" u="sng" dirty="0" err="1"/>
              <a:t>bổ</a:t>
            </a:r>
            <a:r>
              <a:rPr lang="en-US" altLang="ko-KR" sz="1600" b="1" u="sng" dirty="0"/>
              <a:t> </a:t>
            </a:r>
            <a:r>
              <a:rPr lang="en-US" altLang="ko-KR" sz="1600" b="1" u="sng" dirty="0" err="1"/>
              <a:t>chính</a:t>
            </a:r>
            <a:r>
              <a:rPr lang="en-US" altLang="ko-KR" sz="1600" b="1" u="sng" dirty="0"/>
              <a:t> </a:t>
            </a:r>
            <a:r>
              <a:rPr lang="en-US" altLang="ko-KR" sz="1600" b="1" u="sng" dirty="0" err="1"/>
              <a:t>quy</a:t>
            </a:r>
            <a:endParaRPr lang="ko-KR" altLang="en-US" sz="1600" b="1" u="sng" dirty="0"/>
          </a:p>
        </p:txBody>
      </p:sp>
      <p:sp>
        <p:nvSpPr>
          <p:cNvPr id="41"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358622891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46" name="Text Box 111"/>
          <p:cNvSpPr txBox="1">
            <a:spLocks noChangeArrowheads="1"/>
          </p:cNvSpPr>
          <p:nvPr/>
        </p:nvSpPr>
        <p:spPr bwMode="auto">
          <a:xfrm>
            <a:off x="549491" y="1484785"/>
            <a:ext cx="3490758" cy="523862"/>
          </a:xfrm>
          <a:prstGeom prst="rect">
            <a:avLst/>
          </a:prstGeom>
          <a:solidFill>
            <a:srgbClr val="0000FF"/>
          </a:solidFill>
          <a:ln w="9525" algn="ctr">
            <a:noFill/>
            <a:miter lim="800000"/>
            <a:headEnd/>
            <a:tailEnd/>
          </a:ln>
        </p:spPr>
        <p:txBody>
          <a:bodyPr vert="horz" wrap="square" lIns="92075" tIns="46038" rIns="92075" bIns="46038"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lang="en-US" altLang="ko-KR" sz="1400" b="1" dirty="0" err="1">
                <a:solidFill>
                  <a:schemeClr val="bg1"/>
                </a:solidFill>
                <a:latin typeface="+mn-ea"/>
                <a:ea typeface="+mn-ea"/>
              </a:rPr>
              <a:t>Phân</a:t>
            </a:r>
            <a:r>
              <a:rPr lang="en-US" altLang="ko-KR" sz="1400" b="1" dirty="0">
                <a:solidFill>
                  <a:schemeClr val="bg1"/>
                </a:solidFill>
                <a:latin typeface="+mn-ea"/>
                <a:ea typeface="+mn-ea"/>
              </a:rPr>
              <a:t> </a:t>
            </a:r>
            <a:r>
              <a:rPr lang="en-US" altLang="ko-KR" sz="1400" b="1" dirty="0" err="1">
                <a:solidFill>
                  <a:schemeClr val="bg1"/>
                </a:solidFill>
                <a:latin typeface="+mn-ea"/>
                <a:ea typeface="+mn-ea"/>
              </a:rPr>
              <a:t>bổ</a:t>
            </a:r>
            <a:r>
              <a:rPr lang="en-US" altLang="ko-KR" sz="1400" b="1" dirty="0">
                <a:solidFill>
                  <a:schemeClr val="bg1"/>
                </a:solidFill>
                <a:latin typeface="+mn-ea"/>
                <a:ea typeface="+mn-ea"/>
              </a:rPr>
              <a:t> </a:t>
            </a:r>
            <a:r>
              <a:rPr lang="en-US" altLang="ko-KR" sz="1400" b="1" dirty="0" err="1">
                <a:solidFill>
                  <a:schemeClr val="bg1"/>
                </a:solidFill>
                <a:latin typeface="+mn-ea"/>
                <a:ea typeface="+mn-ea"/>
              </a:rPr>
              <a:t>chính</a:t>
            </a:r>
            <a:r>
              <a:rPr lang="en-US" altLang="ko-KR" sz="1400" b="1" dirty="0">
                <a:solidFill>
                  <a:schemeClr val="bg1"/>
                </a:solidFill>
                <a:latin typeface="+mn-ea"/>
                <a:ea typeface="+mn-ea"/>
              </a:rPr>
              <a:t> </a:t>
            </a:r>
            <a:r>
              <a:rPr lang="en-US" altLang="ko-KR" sz="1400" b="1" dirty="0" err="1">
                <a:solidFill>
                  <a:schemeClr val="bg1"/>
                </a:solidFill>
                <a:latin typeface="+mn-ea"/>
                <a:ea typeface="+mn-ea"/>
              </a:rPr>
              <a:t>quy</a:t>
            </a:r>
            <a:r>
              <a:rPr kumimoji="1" lang="en-US" altLang="ko-KR" sz="1400" b="1" i="0" u="none" strike="noStrike" cap="none" normalizeH="0" baseline="0" dirty="0">
                <a:ln>
                  <a:noFill/>
                </a:ln>
                <a:solidFill>
                  <a:schemeClr val="bg1"/>
                </a:solidFill>
                <a:effectLst/>
                <a:latin typeface="+mn-ea"/>
                <a:ea typeface="+mn-ea"/>
              </a:rPr>
              <a:t>(Normal Distribution)</a:t>
            </a:r>
            <a:endParaRPr kumimoji="1" lang="ko-KR" altLang="ko-KR" sz="2000" b="0" i="0" u="none" strike="noStrike" cap="none" normalizeH="0" baseline="0" dirty="0">
              <a:ln>
                <a:noFill/>
              </a:ln>
              <a:solidFill>
                <a:schemeClr val="tx1"/>
              </a:solidFill>
              <a:effectLst/>
              <a:latin typeface="+mn-ea"/>
              <a:ea typeface="+mn-ea"/>
            </a:endParaRPr>
          </a:p>
        </p:txBody>
      </p:sp>
      <p:sp>
        <p:nvSpPr>
          <p:cNvPr id="486447" name="Text Box 112"/>
          <p:cNvSpPr txBox="1">
            <a:spLocks noChangeArrowheads="1"/>
          </p:cNvSpPr>
          <p:nvPr/>
        </p:nvSpPr>
        <p:spPr bwMode="auto">
          <a:xfrm>
            <a:off x="549491" y="1854672"/>
            <a:ext cx="4907573" cy="738664"/>
          </a:xfrm>
          <a:prstGeom prst="rect">
            <a:avLst/>
          </a:prstGeom>
          <a:noFill/>
          <a:ln w="12700" algn="ctr">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400" b="0" i="0" u="none" strike="noStrike" cap="none" normalizeH="0" baseline="0" dirty="0">
                <a:ln>
                  <a:noFill/>
                </a:ln>
                <a:solidFill>
                  <a:schemeClr val="tx1"/>
                </a:solidFill>
                <a:effectLst/>
                <a:latin typeface="+mn-ea"/>
                <a:ea typeface="+mn-ea"/>
              </a:rPr>
              <a:t>- </a:t>
            </a:r>
            <a:r>
              <a:rPr lang="en-US" altLang="ko-KR" sz="1400" b="1" dirty="0" err="1">
                <a:latin typeface="+mn-ea"/>
                <a:ea typeface="+mn-ea"/>
              </a:rPr>
              <a:t>Đặc</a:t>
            </a:r>
            <a:r>
              <a:rPr lang="en-US" altLang="ko-KR" sz="1400" b="1" dirty="0">
                <a:latin typeface="+mn-ea"/>
                <a:ea typeface="+mn-ea"/>
              </a:rPr>
              <a:t> </a:t>
            </a:r>
            <a:r>
              <a:rPr lang="en-US" altLang="ko-KR" sz="1400" b="1" dirty="0" err="1">
                <a:latin typeface="+mn-ea"/>
                <a:ea typeface="+mn-ea"/>
              </a:rPr>
              <a:t>tính</a:t>
            </a:r>
            <a:r>
              <a:rPr lang="en-US" altLang="ko-KR" sz="1400" b="1" dirty="0">
                <a:latin typeface="+mn-ea"/>
                <a:ea typeface="+mn-ea"/>
              </a:rPr>
              <a:t> </a:t>
            </a:r>
            <a:r>
              <a:rPr lang="en-US" altLang="ko-KR" sz="1400" b="1" dirty="0" err="1">
                <a:latin typeface="+mn-ea"/>
                <a:ea typeface="+mn-ea"/>
              </a:rPr>
              <a:t>quan</a:t>
            </a:r>
            <a:r>
              <a:rPr lang="en-US" altLang="ko-KR" sz="1400" b="1" dirty="0">
                <a:latin typeface="+mn-ea"/>
                <a:ea typeface="+mn-ea"/>
              </a:rPr>
              <a:t> </a:t>
            </a:r>
            <a:r>
              <a:rPr lang="en-US" altLang="ko-KR" sz="1400" b="1" dirty="0" err="1">
                <a:latin typeface="+mn-ea"/>
                <a:ea typeface="+mn-ea"/>
              </a:rPr>
              <a:t>tâm</a:t>
            </a:r>
            <a:r>
              <a:rPr kumimoji="1" lang="ko-KR" sz="1400" b="0" i="0" u="none" strike="noStrike" cap="none" normalizeH="0" baseline="0" dirty="0">
                <a:ln>
                  <a:noFill/>
                </a:ln>
                <a:solidFill>
                  <a:schemeClr val="tx1"/>
                </a:solidFill>
                <a:effectLst/>
                <a:latin typeface="+mn-ea"/>
                <a:ea typeface="+mn-ea"/>
              </a:rPr>
              <a:t> </a:t>
            </a:r>
            <a:r>
              <a:rPr kumimoji="1" lang="en-US" altLang="ko-KR" sz="1400" b="0" i="0" u="none" strike="noStrike" cap="none" normalizeH="0" baseline="0" dirty="0">
                <a:ln>
                  <a:noFill/>
                </a:ln>
                <a:solidFill>
                  <a:schemeClr val="tx1"/>
                </a:solidFill>
                <a:effectLst/>
                <a:latin typeface="+mn-ea"/>
                <a:ea typeface="+mn-ea"/>
              </a:rPr>
              <a:t>: </a:t>
            </a:r>
            <a:r>
              <a:rPr kumimoji="1" lang="en-US" altLang="ko-KR" sz="1400" b="0" i="0" u="none" strike="noStrike" cap="none" normalizeH="0" baseline="0" dirty="0" err="1">
                <a:ln>
                  <a:noFill/>
                </a:ln>
                <a:solidFill>
                  <a:schemeClr val="tx1"/>
                </a:solidFill>
                <a:effectLst/>
                <a:latin typeface="+mn-ea"/>
                <a:ea typeface="+mn-ea"/>
              </a:rPr>
              <a:t>Giá</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trị</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đo</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đạc</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liên</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tục</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có</a:t>
            </a:r>
            <a:r>
              <a:rPr kumimoji="1" lang="en-US" altLang="ko-KR" sz="1400" b="0" i="0" u="none" strike="noStrike" cap="none" normalizeH="0" dirty="0">
                <a:ln>
                  <a:noFill/>
                </a:ln>
                <a:solidFill>
                  <a:schemeClr val="tx1"/>
                </a:solidFill>
                <a:effectLst/>
                <a:latin typeface="+mn-ea"/>
                <a:ea typeface="+mn-ea"/>
              </a:rPr>
              <a:t> </a:t>
            </a:r>
            <a:r>
              <a:rPr lang="en-US" altLang="ko-KR" sz="1400" dirty="0">
                <a:latin typeface="+mn-ea"/>
                <a:ea typeface="+mn-ea"/>
              </a:rPr>
              <a:t>c</a:t>
            </a:r>
            <a:r>
              <a:rPr kumimoji="1" lang="en-US" altLang="ko-KR" sz="1400" b="0" i="0" u="none" strike="noStrike" cap="none" normalizeH="0" baseline="0" dirty="0">
                <a:ln>
                  <a:noFill/>
                </a:ln>
                <a:solidFill>
                  <a:schemeClr val="tx1"/>
                </a:solidFill>
                <a:effectLst/>
                <a:latin typeface="+mn-ea"/>
                <a:ea typeface="+mn-ea"/>
              </a:rPr>
              <a:t>hi </a:t>
            </a:r>
            <a:r>
              <a:rPr kumimoji="1" lang="en-US" altLang="ko-KR" sz="1400" b="0" i="0" u="none" strike="noStrike" cap="none" normalizeH="0" baseline="0" dirty="0" err="1">
                <a:ln>
                  <a:noFill/>
                </a:ln>
                <a:solidFill>
                  <a:schemeClr val="tx1"/>
                </a:solidFill>
                <a:effectLst/>
                <a:latin typeface="+mn-ea"/>
                <a:ea typeface="+mn-ea"/>
              </a:rPr>
              <a:t>phối</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đối</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xứng</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và</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hình</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thái</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thẳng</a:t>
            </a:r>
            <a:r>
              <a:rPr kumimoji="1" lang="en-US" altLang="ko-KR" sz="1400" b="0" i="0" u="none" strike="noStrike" cap="none" normalizeH="0" dirty="0">
                <a:ln>
                  <a:noFill/>
                </a:ln>
                <a:solidFill>
                  <a:schemeClr val="tx1"/>
                </a:solidFill>
                <a:effectLst/>
                <a:latin typeface="+mn-ea"/>
                <a:ea typeface="+mn-ea"/>
              </a:rPr>
              <a:t> </a:t>
            </a:r>
            <a:r>
              <a:rPr kumimoji="1" lang="en-US" altLang="ko-KR" sz="1400" b="0" i="0" u="none" strike="noStrike" cap="none" normalizeH="0" dirty="0" err="1">
                <a:ln>
                  <a:noFill/>
                </a:ln>
                <a:solidFill>
                  <a:schemeClr val="tx1"/>
                </a:solidFill>
                <a:effectLst/>
                <a:latin typeface="+mn-ea"/>
                <a:ea typeface="+mn-ea"/>
              </a:rPr>
              <a:t>đứng</a:t>
            </a:r>
            <a:endParaRPr kumimoji="1" lang="ko-KR" sz="1400" b="0" i="0" u="none" strike="noStrike" cap="none" normalizeH="0" baseline="0" dirty="0">
              <a:ln>
                <a:noFill/>
              </a:ln>
              <a:solidFill>
                <a:schemeClr val="tx1"/>
              </a:solidFill>
              <a:effectLst/>
              <a:latin typeface="+mn-ea"/>
              <a:ea typeface="+mn-ea"/>
            </a:endParaRPr>
          </a:p>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400" b="0" i="0" u="none" strike="noStrike" cap="none" normalizeH="0" baseline="0" dirty="0">
                <a:ln>
                  <a:noFill/>
                </a:ln>
                <a:solidFill>
                  <a:schemeClr val="tx1"/>
                </a:solidFill>
                <a:effectLst/>
                <a:latin typeface="+mn-ea"/>
                <a:ea typeface="+mn-ea"/>
              </a:rPr>
              <a:t>- </a:t>
            </a:r>
            <a:r>
              <a:rPr lang="en-US" altLang="ko-KR" sz="1400" b="1" dirty="0" err="1">
                <a:latin typeface="+mn-ea"/>
                <a:ea typeface="+mn-ea"/>
              </a:rPr>
              <a:t>Thông</a:t>
            </a:r>
            <a:r>
              <a:rPr lang="en-US" altLang="ko-KR" sz="1400" b="1" dirty="0">
                <a:latin typeface="+mn-ea"/>
                <a:ea typeface="+mn-ea"/>
              </a:rPr>
              <a:t> </a:t>
            </a:r>
            <a:r>
              <a:rPr lang="en-US" altLang="ko-KR" sz="1400" b="1" dirty="0" err="1">
                <a:latin typeface="+mn-ea"/>
                <a:ea typeface="+mn-ea"/>
              </a:rPr>
              <a:t>số</a:t>
            </a:r>
            <a:r>
              <a:rPr lang="en-US" altLang="ko-KR" sz="1400" b="1" dirty="0">
                <a:latin typeface="+mn-ea"/>
                <a:ea typeface="+mn-ea"/>
              </a:rPr>
              <a:t> </a:t>
            </a:r>
            <a:r>
              <a:rPr lang="en-US" altLang="ko-KR" sz="1400" b="1" dirty="0" err="1">
                <a:latin typeface="+mn-ea"/>
                <a:ea typeface="+mn-ea"/>
              </a:rPr>
              <a:t>của</a:t>
            </a:r>
            <a:r>
              <a:rPr lang="en-US" altLang="ko-KR" sz="1400" b="1" dirty="0">
                <a:latin typeface="+mn-ea"/>
                <a:ea typeface="+mn-ea"/>
              </a:rPr>
              <a:t> </a:t>
            </a:r>
            <a:r>
              <a:rPr lang="en-US" altLang="ko-KR" sz="1400" b="1" dirty="0" err="1">
                <a:latin typeface="+mn-ea"/>
                <a:ea typeface="+mn-ea"/>
              </a:rPr>
              <a:t>phân</a:t>
            </a:r>
            <a:r>
              <a:rPr lang="en-US" altLang="ko-KR" sz="1400" b="1" dirty="0">
                <a:latin typeface="+mn-ea"/>
                <a:ea typeface="+mn-ea"/>
              </a:rPr>
              <a:t> </a:t>
            </a:r>
            <a:r>
              <a:rPr lang="en-US" altLang="ko-KR" sz="1400" b="1" dirty="0" err="1">
                <a:latin typeface="+mn-ea"/>
                <a:ea typeface="+mn-ea"/>
              </a:rPr>
              <a:t>bố</a:t>
            </a:r>
            <a:r>
              <a:rPr kumimoji="1" lang="ko-KR" sz="1400" b="0" i="0" u="none" strike="noStrike" cap="none" normalizeH="0" baseline="0" dirty="0">
                <a:ln>
                  <a:noFill/>
                </a:ln>
                <a:solidFill>
                  <a:schemeClr val="tx1"/>
                </a:solidFill>
                <a:effectLst/>
                <a:latin typeface="+mn-ea"/>
                <a:ea typeface="+mn-ea"/>
              </a:rPr>
              <a:t> </a:t>
            </a:r>
            <a:r>
              <a:rPr kumimoji="1" lang="en-US" altLang="ko-KR" sz="1400" b="0" i="0" u="none" strike="noStrike" cap="none" normalizeH="0" baseline="0" dirty="0">
                <a:ln>
                  <a:noFill/>
                </a:ln>
                <a:solidFill>
                  <a:schemeClr val="tx1"/>
                </a:solidFill>
                <a:effectLst/>
                <a:latin typeface="+mn-ea"/>
                <a:ea typeface="+mn-ea"/>
              </a:rPr>
              <a:t>: </a:t>
            </a:r>
            <a:r>
              <a:rPr lang="en-US" altLang="ko-KR" sz="1400" dirty="0" err="1">
                <a:latin typeface="+mn-ea"/>
                <a:ea typeface="+mn-ea"/>
              </a:rPr>
              <a:t>Bình</a:t>
            </a:r>
            <a:r>
              <a:rPr lang="en-US" altLang="ko-KR" sz="1400" dirty="0">
                <a:latin typeface="+mn-ea"/>
                <a:ea typeface="+mn-ea"/>
              </a:rPr>
              <a:t> </a:t>
            </a:r>
            <a:r>
              <a:rPr lang="en-US" altLang="ko-KR" sz="1400" dirty="0" err="1">
                <a:latin typeface="+mn-ea"/>
                <a:ea typeface="+mn-ea"/>
              </a:rPr>
              <a:t>quân</a:t>
            </a:r>
            <a:r>
              <a:rPr kumimoji="1" lang="en-US" altLang="ko-KR" sz="1400" b="0" i="0" u="none" strike="noStrike" cap="none" normalizeH="0" baseline="0" dirty="0">
                <a:ln>
                  <a:noFill/>
                </a:ln>
                <a:solidFill>
                  <a:schemeClr val="tx1"/>
                </a:solidFill>
                <a:effectLst/>
                <a:latin typeface="+mn-ea"/>
                <a:ea typeface="+mn-ea"/>
              </a:rPr>
              <a:t>(</a:t>
            </a:r>
            <a:r>
              <a:rPr kumimoji="1" lang="el-GR" altLang="ko-KR" sz="1400" b="0" i="0" u="none" strike="noStrike" cap="none" normalizeH="0" baseline="0" dirty="0">
                <a:ln>
                  <a:noFill/>
                </a:ln>
                <a:solidFill>
                  <a:schemeClr val="tx1"/>
                </a:solidFill>
                <a:effectLst/>
                <a:latin typeface="+mn-ea"/>
                <a:ea typeface="+mn-ea"/>
              </a:rPr>
              <a:t>μ</a:t>
            </a:r>
            <a:r>
              <a:rPr kumimoji="1" lang="en-US" altLang="ko-KR" sz="1400" b="0" i="0" u="none" strike="noStrike" cap="none" normalizeH="0" baseline="0" dirty="0">
                <a:ln>
                  <a:noFill/>
                </a:ln>
                <a:solidFill>
                  <a:schemeClr val="tx1"/>
                </a:solidFill>
                <a:effectLst/>
                <a:latin typeface="+mn-ea"/>
                <a:ea typeface="+mn-ea"/>
              </a:rPr>
              <a:t>), </a:t>
            </a:r>
            <a:r>
              <a:rPr lang="en-US" altLang="ko-KR" sz="1400" dirty="0" err="1">
                <a:latin typeface="+mn-ea"/>
                <a:ea typeface="+mn-ea"/>
              </a:rPr>
              <a:t>Phân</a:t>
            </a:r>
            <a:r>
              <a:rPr lang="en-US" altLang="ko-KR" sz="1400" dirty="0">
                <a:latin typeface="+mn-ea"/>
                <a:ea typeface="+mn-ea"/>
              </a:rPr>
              <a:t> </a:t>
            </a:r>
            <a:r>
              <a:rPr lang="en-US" altLang="ko-KR" sz="1400" dirty="0" err="1">
                <a:latin typeface="+mn-ea"/>
                <a:ea typeface="+mn-ea"/>
              </a:rPr>
              <a:t>tán</a:t>
            </a:r>
            <a:r>
              <a:rPr kumimoji="1" lang="en-US" altLang="ko-KR" sz="1400" b="0" i="0" u="none" strike="noStrike" cap="none" normalizeH="0" baseline="0" dirty="0">
                <a:ln>
                  <a:noFill/>
                </a:ln>
                <a:solidFill>
                  <a:schemeClr val="tx1"/>
                </a:solidFill>
                <a:effectLst/>
                <a:latin typeface="+mn-ea"/>
                <a:ea typeface="+mn-ea"/>
              </a:rPr>
              <a:t>(</a:t>
            </a:r>
            <a:r>
              <a:rPr kumimoji="1" lang="el-GR" altLang="ko-KR" sz="1400" b="0" i="0" u="none" strike="noStrike" cap="none" normalizeH="0" baseline="0" dirty="0">
                <a:ln>
                  <a:noFill/>
                </a:ln>
                <a:solidFill>
                  <a:schemeClr val="tx1"/>
                </a:solidFill>
                <a:effectLst/>
                <a:latin typeface="+mn-ea"/>
                <a:ea typeface="+mn-ea"/>
              </a:rPr>
              <a:t>σ</a:t>
            </a:r>
            <a:r>
              <a:rPr kumimoji="1" lang="en-US" altLang="ko-KR" sz="1400" b="0" i="0" u="none" strike="noStrike" cap="none" normalizeH="0" baseline="30000" dirty="0">
                <a:ln>
                  <a:noFill/>
                </a:ln>
                <a:solidFill>
                  <a:schemeClr val="tx1"/>
                </a:solidFill>
                <a:effectLst/>
                <a:latin typeface="+mn-ea"/>
                <a:ea typeface="+mn-ea"/>
              </a:rPr>
              <a:t>2</a:t>
            </a:r>
            <a:r>
              <a:rPr kumimoji="1" lang="en-US" altLang="ko-KR" sz="1400" b="0" i="0" u="none" strike="noStrike" cap="none" normalizeH="0" baseline="0" dirty="0">
                <a:ln>
                  <a:noFill/>
                </a:ln>
                <a:solidFill>
                  <a:schemeClr val="tx1"/>
                </a:solidFill>
                <a:effectLst/>
                <a:latin typeface="+mn-ea"/>
                <a:ea typeface="+mn-ea"/>
              </a:rPr>
              <a:t>)</a:t>
            </a:r>
            <a:endParaRPr kumimoji="1" lang="ko-KR" altLang="ko-KR" sz="2000" b="0" i="0" u="none" strike="noStrike" cap="none" normalizeH="0" baseline="0" dirty="0">
              <a:ln>
                <a:noFill/>
              </a:ln>
              <a:solidFill>
                <a:schemeClr val="tx1"/>
              </a:solidFill>
              <a:effectLst/>
              <a:latin typeface="+mn-ea"/>
              <a:ea typeface="+mn-ea"/>
            </a:endParaRPr>
          </a:p>
        </p:txBody>
      </p:sp>
      <p:pic>
        <p:nvPicPr>
          <p:cNvPr id="490497" name="그림 2" descr="설명: http://postfiles8.naver.net/20120510_55/lucifer246_1336636176340_6GVrgk_GIF/PICEFF6.GIF?type=w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98274" y="1484313"/>
            <a:ext cx="1820008" cy="590550"/>
          </a:xfrm>
          <a:prstGeom prst="rect">
            <a:avLst/>
          </a:prstGeom>
          <a:noFill/>
          <a:ln w="9525">
            <a:noFill/>
            <a:miter lim="800000"/>
            <a:headEnd/>
            <a:tailEnd/>
          </a:ln>
        </p:spPr>
      </p:pic>
      <p:pic>
        <p:nvPicPr>
          <p:cNvPr id="490498" name="그림 91" descr="http://postfiles3.naver.net/20120510_82/lucifer246_1336636176501_5fo92d_GIF/PICF016.GIF?type=w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8274" y="2276475"/>
            <a:ext cx="1526931" cy="1258888"/>
          </a:xfrm>
          <a:prstGeom prst="rect">
            <a:avLst/>
          </a:prstGeom>
          <a:noFill/>
          <a:ln w="9525">
            <a:noFill/>
            <a:miter lim="800000"/>
            <a:headEnd/>
            <a:tailEnd/>
          </a:ln>
        </p:spPr>
      </p:pic>
      <p:pic>
        <p:nvPicPr>
          <p:cNvPr id="490499" name="그림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98982" y="3860801"/>
            <a:ext cx="2252296" cy="1368425"/>
          </a:xfrm>
          <a:prstGeom prst="rect">
            <a:avLst/>
          </a:prstGeom>
          <a:noFill/>
          <a:ln w="9525">
            <a:noFill/>
            <a:miter lim="800000"/>
            <a:headEnd/>
            <a:tailEnd/>
          </a:ln>
        </p:spPr>
      </p:pic>
      <p:pic>
        <p:nvPicPr>
          <p:cNvPr id="490500" name="그림 9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98981" y="5300664"/>
            <a:ext cx="2261088" cy="1152525"/>
          </a:xfrm>
          <a:prstGeom prst="rect">
            <a:avLst/>
          </a:prstGeom>
          <a:noFill/>
          <a:ln w="9525">
            <a:noFill/>
            <a:miter lim="800000"/>
            <a:headEnd/>
            <a:tailEnd/>
          </a:ln>
        </p:spPr>
      </p:pic>
      <p:sp>
        <p:nvSpPr>
          <p:cNvPr id="4" name="TextBox 3"/>
          <p:cNvSpPr txBox="1"/>
          <p:nvPr/>
        </p:nvSpPr>
        <p:spPr>
          <a:xfrm>
            <a:off x="650631" y="1074222"/>
            <a:ext cx="6053260" cy="338554"/>
          </a:xfrm>
          <a:prstGeom prst="rect">
            <a:avLst/>
          </a:prstGeom>
          <a:noFill/>
        </p:spPr>
        <p:txBody>
          <a:bodyPr vert="horz" wrap="none" lIns="91440" tIns="45720" rIns="91440" bIns="45720"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600" b="1" i="0" u="none" strike="noStrike" cap="none" normalizeH="0" baseline="0" dirty="0">
                <a:ln>
                  <a:noFill/>
                </a:ln>
                <a:solidFill>
                  <a:schemeClr val="tx1"/>
                </a:solidFill>
                <a:effectLst/>
                <a:latin typeface="+mn-ea"/>
                <a:ea typeface="+mn-ea"/>
              </a:rPr>
              <a:t>- </a:t>
            </a:r>
            <a:r>
              <a:rPr kumimoji="1" lang="en-US" altLang="ko-KR" sz="1600" b="1" i="0" u="none" strike="noStrike" cap="none" normalizeH="0" baseline="0" dirty="0" err="1">
                <a:ln>
                  <a:noFill/>
                </a:ln>
                <a:solidFill>
                  <a:schemeClr val="tx1"/>
                </a:solidFill>
                <a:effectLst/>
                <a:latin typeface="+mn-ea"/>
                <a:ea typeface="+mn-ea"/>
              </a:rPr>
              <a:t>Phân</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bổ</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thông</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thường</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nhất</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thể</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hiện</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hiện</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tượng</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tự</a:t>
            </a:r>
            <a:r>
              <a:rPr kumimoji="1" lang="en-US" altLang="ko-KR" sz="1600" b="1" i="0" u="none" strike="noStrike" cap="none" normalizeH="0" dirty="0">
                <a:ln>
                  <a:noFill/>
                </a:ln>
                <a:solidFill>
                  <a:schemeClr val="tx1"/>
                </a:solidFill>
                <a:effectLst/>
                <a:latin typeface="+mn-ea"/>
                <a:ea typeface="+mn-ea"/>
              </a:rPr>
              <a:t> </a:t>
            </a:r>
            <a:r>
              <a:rPr kumimoji="1" lang="en-US" altLang="ko-KR" sz="1600" b="1" i="0" u="none" strike="noStrike" cap="none" normalizeH="0" dirty="0" err="1">
                <a:ln>
                  <a:noFill/>
                </a:ln>
                <a:solidFill>
                  <a:schemeClr val="tx1"/>
                </a:solidFill>
                <a:effectLst/>
                <a:latin typeface="+mn-ea"/>
                <a:ea typeface="+mn-ea"/>
              </a:rPr>
              <a:t>nhiên</a:t>
            </a:r>
            <a:endParaRPr kumimoji="1" lang="ko-KR" altLang="ko-KR" sz="1800" b="0" i="0" u="none" strike="noStrike" cap="none" normalizeH="0" baseline="0" dirty="0">
              <a:ln>
                <a:noFill/>
              </a:ln>
              <a:solidFill>
                <a:schemeClr val="tx1"/>
              </a:solidFill>
              <a:effectLst/>
              <a:latin typeface="+mn-ea"/>
              <a:ea typeface="+mn-ea"/>
            </a:endParaRPr>
          </a:p>
        </p:txBody>
      </p:sp>
      <p:sp>
        <p:nvSpPr>
          <p:cNvPr id="490502" name="제목 1"/>
          <p:cNvSpPr txBox="1">
            <a:spLocks/>
          </p:cNvSpPr>
          <p:nvPr/>
        </p:nvSpPr>
        <p:spPr bwMode="auto">
          <a:xfrm>
            <a:off x="118583" y="692697"/>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kumimoji="0" lang="en-US" altLang="ko-KR" sz="2000" b="1" dirty="0" err="1">
                <a:latin typeface="+mn-ea"/>
                <a:ea typeface="+mn-ea"/>
              </a:rPr>
              <a:t>Hiểu</a:t>
            </a:r>
            <a:r>
              <a:rPr kumimoji="0" lang="en-US" altLang="ko-KR" sz="2000" b="1" dirty="0">
                <a:latin typeface="+mn-ea"/>
                <a:ea typeface="+mn-ea"/>
              </a:rPr>
              <a:t> </a:t>
            </a:r>
            <a:r>
              <a:rPr kumimoji="0" lang="en-US" altLang="ko-KR" sz="2000" b="1" dirty="0" err="1">
                <a:latin typeface="+mn-ea"/>
                <a:ea typeface="+mn-ea"/>
              </a:rPr>
              <a:t>về</a:t>
            </a:r>
            <a:r>
              <a:rPr kumimoji="0" lang="en-US" altLang="ko-KR" sz="2000" b="1" dirty="0">
                <a:latin typeface="+mn-ea"/>
                <a:ea typeface="+mn-ea"/>
              </a:rPr>
              <a:t> </a:t>
            </a:r>
            <a:r>
              <a:rPr kumimoji="0" lang="en-US" altLang="ko-KR" sz="2000" b="1" dirty="0" err="1">
                <a:latin typeface="+mn-ea"/>
                <a:ea typeface="+mn-ea"/>
              </a:rPr>
              <a:t>phân</a:t>
            </a:r>
            <a:r>
              <a:rPr kumimoji="0" lang="en-US" altLang="ko-KR" sz="2000" b="1" dirty="0">
                <a:latin typeface="+mn-ea"/>
                <a:ea typeface="+mn-ea"/>
              </a:rPr>
              <a:t> </a:t>
            </a:r>
            <a:r>
              <a:rPr kumimoji="0" lang="en-US" altLang="ko-KR" sz="2000" b="1" dirty="0" err="1">
                <a:latin typeface="+mn-ea"/>
                <a:ea typeface="+mn-ea"/>
              </a:rPr>
              <a:t>bổ</a:t>
            </a:r>
            <a:r>
              <a:rPr kumimoji="0" lang="en-US" altLang="ko-KR" sz="2000" b="1" dirty="0">
                <a:latin typeface="+mn-ea"/>
                <a:ea typeface="+mn-ea"/>
              </a:rPr>
              <a:t> </a:t>
            </a:r>
            <a:r>
              <a:rPr kumimoji="0" lang="en-US" altLang="ko-KR" sz="2000" b="1" dirty="0" err="1">
                <a:latin typeface="+mn-ea"/>
                <a:ea typeface="+mn-ea"/>
              </a:rPr>
              <a:t>chính</a:t>
            </a:r>
            <a:r>
              <a:rPr kumimoji="0" lang="en-US" altLang="ko-KR" sz="2000" b="1" dirty="0">
                <a:latin typeface="+mn-ea"/>
                <a:ea typeface="+mn-ea"/>
              </a:rPr>
              <a:t> </a:t>
            </a:r>
            <a:r>
              <a:rPr kumimoji="0" lang="en-US" altLang="ko-KR" sz="2000" b="1" dirty="0" err="1">
                <a:latin typeface="+mn-ea"/>
                <a:ea typeface="+mn-ea"/>
              </a:rPr>
              <a:t>quy</a:t>
            </a:r>
            <a:endParaRPr kumimoji="1" lang="ko-KR" sz="1400" b="0" i="0" u="none" strike="noStrike" cap="none" normalizeH="0" baseline="0" dirty="0">
              <a:ln>
                <a:noFill/>
              </a:ln>
              <a:solidFill>
                <a:schemeClr val="tx1"/>
              </a:solidFill>
              <a:effectLst/>
              <a:latin typeface="+mn-ea"/>
              <a:ea typeface="+mn-ea"/>
            </a:endParaRPr>
          </a:p>
        </p:txBody>
      </p:sp>
      <p:grpSp>
        <p:nvGrpSpPr>
          <p:cNvPr id="2" name="Group 113"/>
          <p:cNvGrpSpPr>
            <a:grpSpLocks/>
          </p:cNvGrpSpPr>
          <p:nvPr/>
        </p:nvGrpSpPr>
        <p:grpSpPr bwMode="auto">
          <a:xfrm>
            <a:off x="650334" y="3209380"/>
            <a:ext cx="5114192" cy="2955925"/>
            <a:chOff x="716" y="1972"/>
            <a:chExt cx="3490" cy="1862"/>
          </a:xfrm>
        </p:grpSpPr>
        <p:sp>
          <p:nvSpPr>
            <p:cNvPr id="93" name="Line 64"/>
            <p:cNvSpPr>
              <a:spLocks noChangeShapeType="1"/>
            </p:cNvSpPr>
            <p:nvPr/>
          </p:nvSpPr>
          <p:spPr bwMode="auto">
            <a:xfrm>
              <a:off x="732" y="3600"/>
              <a:ext cx="347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4" name="Line 65"/>
            <p:cNvSpPr>
              <a:spLocks noChangeShapeType="1"/>
            </p:cNvSpPr>
            <p:nvPr/>
          </p:nvSpPr>
          <p:spPr bwMode="auto">
            <a:xfrm>
              <a:off x="2468" y="2857"/>
              <a:ext cx="0" cy="743"/>
            </a:xfrm>
            <a:prstGeom prst="line">
              <a:avLst/>
            </a:prstGeom>
            <a:noFill/>
            <a:ln w="12700">
              <a:solidFill>
                <a:srgbClr val="000000"/>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5" name="Line 66"/>
            <p:cNvSpPr>
              <a:spLocks noChangeShapeType="1"/>
            </p:cNvSpPr>
            <p:nvPr/>
          </p:nvSpPr>
          <p:spPr bwMode="auto">
            <a:xfrm>
              <a:off x="2750" y="2725"/>
              <a:ext cx="0" cy="8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6" name="Line 67"/>
            <p:cNvSpPr>
              <a:spLocks noChangeShapeType="1"/>
            </p:cNvSpPr>
            <p:nvPr/>
          </p:nvSpPr>
          <p:spPr bwMode="auto">
            <a:xfrm>
              <a:off x="3003" y="2595"/>
              <a:ext cx="0" cy="100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7" name="Line 68"/>
            <p:cNvSpPr>
              <a:spLocks noChangeShapeType="1"/>
            </p:cNvSpPr>
            <p:nvPr/>
          </p:nvSpPr>
          <p:spPr bwMode="auto">
            <a:xfrm>
              <a:off x="3271" y="2463"/>
              <a:ext cx="0" cy="1137"/>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8" name="Line 69"/>
            <p:cNvSpPr>
              <a:spLocks noChangeShapeType="1"/>
            </p:cNvSpPr>
            <p:nvPr/>
          </p:nvSpPr>
          <p:spPr bwMode="auto">
            <a:xfrm>
              <a:off x="1665" y="2463"/>
              <a:ext cx="0" cy="1137"/>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99" name="Line 70"/>
            <p:cNvSpPr>
              <a:spLocks noChangeShapeType="1"/>
            </p:cNvSpPr>
            <p:nvPr/>
          </p:nvSpPr>
          <p:spPr bwMode="auto">
            <a:xfrm>
              <a:off x="1933" y="2595"/>
              <a:ext cx="0" cy="100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00" name="Line 71"/>
            <p:cNvSpPr>
              <a:spLocks noChangeShapeType="1"/>
            </p:cNvSpPr>
            <p:nvPr/>
          </p:nvSpPr>
          <p:spPr bwMode="auto">
            <a:xfrm>
              <a:off x="2180" y="2725"/>
              <a:ext cx="0" cy="8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01" name="Rectangle 72"/>
            <p:cNvSpPr>
              <a:spLocks noChangeArrowheads="1"/>
            </p:cNvSpPr>
            <p:nvPr/>
          </p:nvSpPr>
          <p:spPr bwMode="auto">
            <a:xfrm>
              <a:off x="2369" y="3582"/>
              <a:ext cx="177"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p:txBody>
        </p:sp>
        <p:sp>
          <p:nvSpPr>
            <p:cNvPr id="102" name="Rectangle 73"/>
            <p:cNvSpPr>
              <a:spLocks noChangeArrowheads="1"/>
            </p:cNvSpPr>
            <p:nvPr/>
          </p:nvSpPr>
          <p:spPr bwMode="auto">
            <a:xfrm>
              <a:off x="2588" y="3582"/>
              <a:ext cx="22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+s</a:t>
              </a:r>
            </a:p>
          </p:txBody>
        </p:sp>
        <p:sp>
          <p:nvSpPr>
            <p:cNvPr id="103" name="Rectangle 74"/>
            <p:cNvSpPr>
              <a:spLocks noChangeArrowheads="1"/>
            </p:cNvSpPr>
            <p:nvPr/>
          </p:nvSpPr>
          <p:spPr bwMode="auto">
            <a:xfrm>
              <a:off x="2855"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+2s</a:t>
              </a:r>
            </a:p>
          </p:txBody>
        </p:sp>
        <p:sp>
          <p:nvSpPr>
            <p:cNvPr id="104" name="Rectangle 75"/>
            <p:cNvSpPr>
              <a:spLocks noChangeArrowheads="1"/>
            </p:cNvSpPr>
            <p:nvPr/>
          </p:nvSpPr>
          <p:spPr bwMode="auto">
            <a:xfrm>
              <a:off x="3123"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+3s</a:t>
              </a:r>
            </a:p>
          </p:txBody>
        </p:sp>
        <p:sp>
          <p:nvSpPr>
            <p:cNvPr id="105" name="Rectangle 76"/>
            <p:cNvSpPr>
              <a:spLocks noChangeArrowheads="1"/>
            </p:cNvSpPr>
            <p:nvPr/>
          </p:nvSpPr>
          <p:spPr bwMode="auto">
            <a:xfrm>
              <a:off x="2053" y="3582"/>
              <a:ext cx="22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-s</a:t>
              </a:r>
            </a:p>
          </p:txBody>
        </p:sp>
        <p:sp>
          <p:nvSpPr>
            <p:cNvPr id="106" name="Rectangle 77"/>
            <p:cNvSpPr>
              <a:spLocks noChangeArrowheads="1"/>
            </p:cNvSpPr>
            <p:nvPr/>
          </p:nvSpPr>
          <p:spPr bwMode="auto">
            <a:xfrm>
              <a:off x="1785"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-2s</a:t>
              </a:r>
            </a:p>
          </p:txBody>
        </p:sp>
        <p:sp>
          <p:nvSpPr>
            <p:cNvPr id="107" name="Rectangle 78"/>
            <p:cNvSpPr>
              <a:spLocks noChangeArrowheads="1"/>
            </p:cNvSpPr>
            <p:nvPr/>
          </p:nvSpPr>
          <p:spPr bwMode="auto">
            <a:xfrm>
              <a:off x="1520"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-3s</a:t>
              </a:r>
            </a:p>
          </p:txBody>
        </p:sp>
        <p:sp>
          <p:nvSpPr>
            <p:cNvPr id="108" name="Line 79"/>
            <p:cNvSpPr>
              <a:spLocks noChangeShapeType="1"/>
            </p:cNvSpPr>
            <p:nvPr/>
          </p:nvSpPr>
          <p:spPr bwMode="auto">
            <a:xfrm>
              <a:off x="2202" y="2858"/>
              <a:ext cx="502"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09" name="Line 80"/>
            <p:cNvSpPr>
              <a:spLocks noChangeShapeType="1"/>
            </p:cNvSpPr>
            <p:nvPr/>
          </p:nvSpPr>
          <p:spPr bwMode="auto">
            <a:xfrm>
              <a:off x="1935" y="2636"/>
              <a:ext cx="1035"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0" name="Line 81"/>
            <p:cNvSpPr>
              <a:spLocks noChangeShapeType="1"/>
            </p:cNvSpPr>
            <p:nvPr/>
          </p:nvSpPr>
          <p:spPr bwMode="auto">
            <a:xfrm>
              <a:off x="1667" y="2506"/>
              <a:ext cx="1636"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1" name="Rectangle 82"/>
            <p:cNvSpPr>
              <a:spLocks noChangeArrowheads="1"/>
            </p:cNvSpPr>
            <p:nvPr/>
          </p:nvSpPr>
          <p:spPr bwMode="auto">
            <a:xfrm>
              <a:off x="2288" y="2369"/>
              <a:ext cx="412"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99.73%</a:t>
              </a:r>
            </a:p>
          </p:txBody>
        </p:sp>
        <p:sp>
          <p:nvSpPr>
            <p:cNvPr id="112" name="Rectangle 83"/>
            <p:cNvSpPr>
              <a:spLocks noChangeArrowheads="1"/>
            </p:cNvSpPr>
            <p:nvPr/>
          </p:nvSpPr>
          <p:spPr bwMode="auto">
            <a:xfrm>
              <a:off x="2288" y="2506"/>
              <a:ext cx="412"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95.45%</a:t>
              </a:r>
            </a:p>
          </p:txBody>
        </p:sp>
        <p:sp>
          <p:nvSpPr>
            <p:cNvPr id="113" name="Rectangle 84"/>
            <p:cNvSpPr>
              <a:spLocks noChangeArrowheads="1"/>
            </p:cNvSpPr>
            <p:nvPr/>
          </p:nvSpPr>
          <p:spPr bwMode="auto">
            <a:xfrm>
              <a:off x="2288" y="2712"/>
              <a:ext cx="412"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68.27%</a:t>
              </a:r>
            </a:p>
          </p:txBody>
        </p:sp>
        <p:sp>
          <p:nvSpPr>
            <p:cNvPr id="114" name="Line 85"/>
            <p:cNvSpPr>
              <a:spLocks noChangeShapeType="1"/>
            </p:cNvSpPr>
            <p:nvPr/>
          </p:nvSpPr>
          <p:spPr bwMode="auto">
            <a:xfrm>
              <a:off x="1399" y="2332"/>
              <a:ext cx="0" cy="126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5" name="Line 86"/>
            <p:cNvSpPr>
              <a:spLocks noChangeShapeType="1"/>
            </p:cNvSpPr>
            <p:nvPr/>
          </p:nvSpPr>
          <p:spPr bwMode="auto">
            <a:xfrm>
              <a:off x="1131" y="2201"/>
              <a:ext cx="0" cy="1399"/>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6" name="Line 87"/>
            <p:cNvSpPr>
              <a:spLocks noChangeShapeType="1"/>
            </p:cNvSpPr>
            <p:nvPr/>
          </p:nvSpPr>
          <p:spPr bwMode="auto">
            <a:xfrm>
              <a:off x="864" y="2070"/>
              <a:ext cx="0" cy="15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7" name="Line 88"/>
            <p:cNvSpPr>
              <a:spLocks noChangeShapeType="1"/>
            </p:cNvSpPr>
            <p:nvPr/>
          </p:nvSpPr>
          <p:spPr bwMode="auto">
            <a:xfrm>
              <a:off x="3537" y="2332"/>
              <a:ext cx="0" cy="126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8" name="Line 89"/>
            <p:cNvSpPr>
              <a:spLocks noChangeShapeType="1"/>
            </p:cNvSpPr>
            <p:nvPr/>
          </p:nvSpPr>
          <p:spPr bwMode="auto">
            <a:xfrm>
              <a:off x="3805" y="2201"/>
              <a:ext cx="0" cy="1399"/>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19" name="Line 90"/>
            <p:cNvSpPr>
              <a:spLocks noChangeShapeType="1"/>
            </p:cNvSpPr>
            <p:nvPr/>
          </p:nvSpPr>
          <p:spPr bwMode="auto">
            <a:xfrm>
              <a:off x="4074" y="2070"/>
              <a:ext cx="0" cy="15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0" name="Line 91"/>
            <p:cNvSpPr>
              <a:spLocks noChangeShapeType="1"/>
            </p:cNvSpPr>
            <p:nvPr/>
          </p:nvSpPr>
          <p:spPr bwMode="auto">
            <a:xfrm>
              <a:off x="1400" y="2374"/>
              <a:ext cx="2106"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1" name="Line 92"/>
            <p:cNvSpPr>
              <a:spLocks noChangeShapeType="1"/>
            </p:cNvSpPr>
            <p:nvPr/>
          </p:nvSpPr>
          <p:spPr bwMode="auto">
            <a:xfrm>
              <a:off x="1132" y="2243"/>
              <a:ext cx="2706"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2" name="Line 93"/>
            <p:cNvSpPr>
              <a:spLocks noChangeShapeType="1"/>
            </p:cNvSpPr>
            <p:nvPr/>
          </p:nvSpPr>
          <p:spPr bwMode="auto">
            <a:xfrm>
              <a:off x="866" y="2112"/>
              <a:ext cx="3240" cy="0"/>
            </a:xfrm>
            <a:prstGeom prst="line">
              <a:avLst/>
            </a:prstGeom>
            <a:noFill/>
            <a:ln w="12700">
              <a:solidFill>
                <a:srgbClr val="000000"/>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sysClr val="windowText" lastClr="000000"/>
                </a:solidFill>
                <a:effectLst/>
                <a:uLnTx/>
                <a:uFillTx/>
              </a:endParaRPr>
            </a:p>
          </p:txBody>
        </p:sp>
        <p:sp>
          <p:nvSpPr>
            <p:cNvPr id="123" name="Rectangle 94"/>
            <p:cNvSpPr>
              <a:spLocks noChangeArrowheads="1"/>
            </p:cNvSpPr>
            <p:nvPr/>
          </p:nvSpPr>
          <p:spPr bwMode="auto">
            <a:xfrm>
              <a:off x="3391"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+4s</a:t>
              </a:r>
            </a:p>
          </p:txBody>
        </p:sp>
        <p:sp>
          <p:nvSpPr>
            <p:cNvPr id="124" name="Rectangle 95"/>
            <p:cNvSpPr>
              <a:spLocks noChangeArrowheads="1"/>
            </p:cNvSpPr>
            <p:nvPr/>
          </p:nvSpPr>
          <p:spPr bwMode="auto">
            <a:xfrm>
              <a:off x="3657"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+5s</a:t>
              </a:r>
            </a:p>
          </p:txBody>
        </p:sp>
        <p:sp>
          <p:nvSpPr>
            <p:cNvPr id="125" name="Rectangle 96"/>
            <p:cNvSpPr>
              <a:spLocks noChangeArrowheads="1"/>
            </p:cNvSpPr>
            <p:nvPr/>
          </p:nvSpPr>
          <p:spPr bwMode="auto">
            <a:xfrm>
              <a:off x="3925"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+6s</a:t>
              </a:r>
            </a:p>
          </p:txBody>
        </p:sp>
        <p:sp>
          <p:nvSpPr>
            <p:cNvPr id="126" name="Rectangle 97"/>
            <p:cNvSpPr>
              <a:spLocks noChangeArrowheads="1"/>
            </p:cNvSpPr>
            <p:nvPr/>
          </p:nvSpPr>
          <p:spPr bwMode="auto">
            <a:xfrm>
              <a:off x="1251"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-4s</a:t>
              </a:r>
            </a:p>
          </p:txBody>
        </p:sp>
        <p:sp>
          <p:nvSpPr>
            <p:cNvPr id="127" name="Rectangle 98"/>
            <p:cNvSpPr>
              <a:spLocks noChangeArrowheads="1"/>
            </p:cNvSpPr>
            <p:nvPr/>
          </p:nvSpPr>
          <p:spPr bwMode="auto">
            <a:xfrm>
              <a:off x="984"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-5s</a:t>
              </a:r>
            </a:p>
          </p:txBody>
        </p:sp>
        <p:sp>
          <p:nvSpPr>
            <p:cNvPr id="128" name="Rectangle 99"/>
            <p:cNvSpPr>
              <a:spLocks noChangeArrowheads="1"/>
            </p:cNvSpPr>
            <p:nvPr/>
          </p:nvSpPr>
          <p:spPr bwMode="auto">
            <a:xfrm>
              <a:off x="716" y="3582"/>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m</a:t>
              </a:r>
            </a:p>
            <a:p>
              <a:pPr marL="0" marR="0" lvl="0" indent="0" algn="l"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latin typeface="Symbol" pitchFamily="18" charset="2"/>
                  <a:ea typeface="돋움" pitchFamily="50" charset="-127"/>
                </a:rPr>
                <a:t>-6s</a:t>
              </a:r>
            </a:p>
          </p:txBody>
        </p:sp>
        <p:sp>
          <p:nvSpPr>
            <p:cNvPr id="129" name="Rectangle 100"/>
            <p:cNvSpPr>
              <a:spLocks noChangeArrowheads="1"/>
            </p:cNvSpPr>
            <p:nvPr/>
          </p:nvSpPr>
          <p:spPr bwMode="auto">
            <a:xfrm>
              <a:off x="2240" y="2242"/>
              <a:ext cx="509"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99.9937%</a:t>
              </a:r>
            </a:p>
          </p:txBody>
        </p:sp>
        <p:sp>
          <p:nvSpPr>
            <p:cNvPr id="130" name="Rectangle 101"/>
            <p:cNvSpPr>
              <a:spLocks noChangeArrowheads="1"/>
            </p:cNvSpPr>
            <p:nvPr/>
          </p:nvSpPr>
          <p:spPr bwMode="auto">
            <a:xfrm>
              <a:off x="2190" y="2111"/>
              <a:ext cx="605"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99.999943%</a:t>
              </a:r>
            </a:p>
          </p:txBody>
        </p:sp>
        <p:sp>
          <p:nvSpPr>
            <p:cNvPr id="131" name="Rectangle 102"/>
            <p:cNvSpPr>
              <a:spLocks noChangeArrowheads="1"/>
            </p:cNvSpPr>
            <p:nvPr/>
          </p:nvSpPr>
          <p:spPr bwMode="auto">
            <a:xfrm>
              <a:off x="2159" y="1972"/>
              <a:ext cx="653"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marL="0" marR="0" lvl="0" indent="0" defTabSz="7620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ysClr val="windowText" lastClr="000000"/>
                  </a:solidFill>
                  <a:effectLst/>
                  <a:uLnTx/>
                  <a:uFillTx/>
                  <a:ea typeface="돋움" pitchFamily="50" charset="-127"/>
                </a:rPr>
                <a:t>99.9999998%</a:t>
              </a:r>
            </a:p>
          </p:txBody>
        </p:sp>
        <p:pic>
          <p:nvPicPr>
            <p:cNvPr id="132" name="Picture 110"/>
            <p:cNvPicPr>
              <a:picLocks noChangeAspect="1" noChangeArrowheads="1"/>
            </p:cNvPicPr>
            <p:nvPr/>
          </p:nvPicPr>
          <p:blipFill>
            <a:blip r:embed="rId6" cstate="print">
              <a:clrChange>
                <a:clrFrom>
                  <a:srgbClr val="FFFFFF"/>
                </a:clrFrom>
                <a:clrTo>
                  <a:srgbClr val="FFFFFF">
                    <a:alpha val="0"/>
                  </a:srgbClr>
                </a:clrTo>
              </a:clrChange>
              <a:lum bright="6000" contrast="62000"/>
              <a:extLst>
                <a:ext uri="{28A0092B-C50C-407E-A947-70E740481C1C}">
                  <a14:useLocalDpi xmlns:a14="http://schemas.microsoft.com/office/drawing/2010/main" val="0"/>
                </a:ext>
              </a:extLst>
            </a:blip>
            <a:srcRect/>
            <a:stretch>
              <a:fillRect/>
            </a:stretch>
          </p:blipFill>
          <p:spPr bwMode="auto">
            <a:xfrm>
              <a:off x="1186" y="2857"/>
              <a:ext cx="2573" cy="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 name="TextBox 2"/>
          <p:cNvSpPr txBox="1"/>
          <p:nvPr/>
        </p:nvSpPr>
        <p:spPr>
          <a:xfrm>
            <a:off x="7074373" y="6394029"/>
            <a:ext cx="1444626" cy="312393"/>
          </a:xfrm>
          <a:prstGeom prst="rect">
            <a:avLst/>
          </a:prstGeom>
          <a:noFill/>
        </p:spPr>
        <p:txBody>
          <a:bodyPr wrap="none" rtlCol="0">
            <a:spAutoFit/>
          </a:bodyPr>
          <a:lstStyle/>
          <a:p>
            <a:pPr>
              <a:lnSpc>
                <a:spcPct val="130000"/>
              </a:lnSpc>
              <a:buClr>
                <a:srgbClr val="C5003D"/>
              </a:buClr>
            </a:pPr>
            <a:r>
              <a:rPr lang="en-US" altLang="ko-KR" sz="1100" b="1" u="sng" dirty="0" err="1">
                <a:latin typeface="+mn-ea"/>
                <a:ea typeface="+mn-ea"/>
              </a:rPr>
              <a:t>Tiền</a:t>
            </a:r>
            <a:r>
              <a:rPr lang="en-US" altLang="ko-KR" sz="1100" b="1" u="sng" dirty="0">
                <a:latin typeface="+mn-ea"/>
                <a:ea typeface="+mn-ea"/>
              </a:rPr>
              <a:t> </a:t>
            </a:r>
            <a:r>
              <a:rPr lang="en-US" altLang="ko-KR" sz="1100" b="1" u="sng" dirty="0" err="1">
                <a:latin typeface="+mn-ea"/>
                <a:ea typeface="+mn-ea"/>
              </a:rPr>
              <a:t>Đức</a:t>
            </a:r>
            <a:r>
              <a:rPr lang="ko-KR" altLang="en-US" sz="1100" b="1" u="sng" dirty="0">
                <a:latin typeface="+mn-ea"/>
                <a:ea typeface="+mn-ea"/>
              </a:rPr>
              <a:t> </a:t>
            </a:r>
            <a:r>
              <a:rPr lang="en-US" altLang="ko-KR" sz="1100" b="1" u="sng" dirty="0">
                <a:latin typeface="+mn-ea"/>
                <a:ea typeface="+mn-ea"/>
              </a:rPr>
              <a:t>10Mark</a:t>
            </a:r>
            <a:r>
              <a:rPr lang="ko-KR" altLang="en-US" sz="1100" b="1" u="sng" dirty="0">
                <a:latin typeface="+mn-ea"/>
                <a:ea typeface="+mn-ea"/>
              </a:rPr>
              <a:t> </a:t>
            </a:r>
          </a:p>
        </p:txBody>
      </p:sp>
      <p:sp>
        <p:nvSpPr>
          <p:cNvPr id="55" name="Rectangle 105"/>
          <p:cNvSpPr>
            <a:spLocks noChangeArrowheads="1"/>
          </p:cNvSpPr>
          <p:nvPr/>
        </p:nvSpPr>
        <p:spPr bwMode="auto">
          <a:xfrm>
            <a:off x="8594482" y="6429376"/>
            <a:ext cx="352661" cy="308419"/>
          </a:xfrm>
          <a:prstGeom prst="rect">
            <a:avLst/>
          </a:prstGeom>
          <a:noFill/>
          <a:ln w="9525">
            <a:noFill/>
            <a:miter lim="800000"/>
            <a:headEnd/>
            <a:tailEnd/>
          </a:ln>
        </p:spPr>
        <p:txBody>
          <a:bodyPr wrap="none" lIns="92075" tIns="46038" rIns="92075" bIns="46038">
            <a:spAutoFit/>
          </a:bodyPr>
          <a:lstStyle/>
          <a:p>
            <a:pPr algn="ctr" defTabSz="762000" latinLnBrk="0"/>
            <a:r>
              <a:rPr lang="en-US" altLang="ko-KR" sz="1400" dirty="0">
                <a:latin typeface="맑은 고딕" pitchFamily="50" charset="-127"/>
                <a:ea typeface="맑은 고딕" pitchFamily="50" charset="-127"/>
              </a:rPr>
              <a:t> </a:t>
            </a:r>
            <a:fld id="{C843D651-2E04-4ED4-876D-8B96CDA14598}" type="slidenum">
              <a:rPr lang="en-US" altLang="ko-KR" sz="1400" b="1">
                <a:solidFill>
                  <a:srgbClr val="FF0066"/>
                </a:solidFill>
                <a:latin typeface="맑은 고딕" pitchFamily="50" charset="-127"/>
                <a:ea typeface="맑은 고딕" pitchFamily="50" charset="-127"/>
              </a:rPr>
              <a:pPr algn="ctr" defTabSz="762000" latinLnBrk="0"/>
              <a:t>175</a:t>
            </a:fld>
            <a:endParaRPr lang="en-US" altLang="ko-KR" sz="1400" b="1" dirty="0">
              <a:solidFill>
                <a:srgbClr val="FF0066"/>
              </a:solidFill>
              <a:latin typeface="맑은 고딕" pitchFamily="50" charset="-127"/>
              <a:ea typeface="맑은 고딕" pitchFamily="50" charset="-127"/>
            </a:endParaRPr>
          </a:p>
        </p:txBody>
      </p:sp>
      <p:sp>
        <p:nvSpPr>
          <p:cNvPr id="5" name="TextBox 4"/>
          <p:cNvSpPr txBox="1"/>
          <p:nvPr/>
        </p:nvSpPr>
        <p:spPr>
          <a:xfrm>
            <a:off x="6566068" y="1052737"/>
            <a:ext cx="1936749" cy="412421"/>
          </a:xfrm>
          <a:prstGeom prst="rect">
            <a:avLst/>
          </a:prstGeom>
          <a:noFill/>
        </p:spPr>
        <p:txBody>
          <a:bodyPr wrap="none" rtlCol="0">
            <a:spAutoFit/>
          </a:bodyPr>
          <a:lstStyle/>
          <a:p>
            <a:pPr>
              <a:lnSpc>
                <a:spcPct val="130000"/>
              </a:lnSpc>
              <a:buClr>
                <a:srgbClr val="C5003D"/>
              </a:buClr>
            </a:pPr>
            <a:r>
              <a:rPr lang="en-US" altLang="ko-KR" sz="1600" b="1" dirty="0" err="1"/>
              <a:t>Phân</a:t>
            </a:r>
            <a:r>
              <a:rPr lang="en-US" altLang="ko-KR" sz="1600" b="1" dirty="0"/>
              <a:t> </a:t>
            </a:r>
            <a:r>
              <a:rPr lang="en-US" altLang="ko-KR" sz="1600" b="1" dirty="0" err="1"/>
              <a:t>bổ</a:t>
            </a:r>
            <a:r>
              <a:rPr lang="en-US" altLang="ko-KR" sz="1600" b="1" dirty="0"/>
              <a:t> Gaussian</a:t>
            </a:r>
            <a:endParaRPr lang="ko-KR" altLang="en-US" sz="1600" b="1" dirty="0"/>
          </a:p>
        </p:txBody>
      </p:sp>
      <p:sp>
        <p:nvSpPr>
          <p:cNvPr id="54"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55587416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
          <p:cNvGrpSpPr>
            <a:grpSpLocks/>
          </p:cNvGrpSpPr>
          <p:nvPr/>
        </p:nvGrpSpPr>
        <p:grpSpPr bwMode="auto">
          <a:xfrm>
            <a:off x="2920485" y="1862139"/>
            <a:ext cx="3441936" cy="4301263"/>
            <a:chOff x="1281" y="255"/>
            <a:chExt cx="2708" cy="3175"/>
          </a:xfrm>
        </p:grpSpPr>
        <p:grpSp>
          <p:nvGrpSpPr>
            <p:cNvPr id="5" name="Group 4"/>
            <p:cNvGrpSpPr>
              <a:grpSpLocks/>
            </p:cNvGrpSpPr>
            <p:nvPr/>
          </p:nvGrpSpPr>
          <p:grpSpPr bwMode="auto">
            <a:xfrm>
              <a:off x="1281" y="255"/>
              <a:ext cx="2708" cy="3175"/>
              <a:chOff x="1281" y="255"/>
              <a:chExt cx="2708" cy="3175"/>
            </a:xfrm>
          </p:grpSpPr>
          <p:pic>
            <p:nvPicPr>
              <p:cNvPr id="460804" name="Picture 5"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81" y="255"/>
                <a:ext cx="2688" cy="1427"/>
              </a:xfrm>
              <a:prstGeom prst="rect">
                <a:avLst/>
              </a:prstGeom>
              <a:noFill/>
              <a:ln w="9525">
                <a:solidFill>
                  <a:schemeClr val="bg1"/>
                </a:solidFill>
                <a:miter lim="800000"/>
                <a:headEnd/>
                <a:tailEnd/>
              </a:ln>
            </p:spPr>
          </p:pic>
          <p:sp>
            <p:nvSpPr>
              <p:cNvPr id="460805" name="Line 6"/>
              <p:cNvSpPr>
                <a:spLocks noChangeShapeType="1"/>
              </p:cNvSpPr>
              <p:nvPr/>
            </p:nvSpPr>
            <p:spPr bwMode="auto">
              <a:xfrm>
                <a:off x="2694" y="321"/>
                <a:ext cx="0" cy="1311"/>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06" name="Object 7"/>
              <p:cNvGraphicFramePr>
                <a:graphicFrameLocks noChangeAspect="1"/>
              </p:cNvGraphicFramePr>
              <p:nvPr/>
            </p:nvGraphicFramePr>
            <p:xfrm>
              <a:off x="2645" y="1713"/>
              <a:ext cx="94" cy="78"/>
            </p:xfrm>
            <a:graphic>
              <a:graphicData uri="http://schemas.openxmlformats.org/presentationml/2006/ole">
                <mc:AlternateContent xmlns:mc="http://schemas.openxmlformats.org/markup-compatibility/2006">
                  <mc:Choice xmlns:v="urn:schemas-microsoft-com:vml" Requires="v">
                    <p:oleObj name="Equation" r:id="rId3" imgW="152268" imgH="164957" progId="Equation.3">
                      <p:embed/>
                    </p:oleObj>
                  </mc:Choice>
                  <mc:Fallback>
                    <p:oleObj name="Equation" r:id="rId3" imgW="152268" imgH="164957" progId="Equation.3">
                      <p:embed/>
                      <p:pic>
                        <p:nvPicPr>
                          <p:cNvPr id="460806"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5" y="1713"/>
                            <a:ext cx="94"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07" name="Object 8"/>
              <p:cNvGraphicFramePr>
                <a:graphicFrameLocks noChangeAspect="1"/>
              </p:cNvGraphicFramePr>
              <p:nvPr/>
            </p:nvGraphicFramePr>
            <p:xfrm>
              <a:off x="2881" y="1713"/>
              <a:ext cx="241" cy="84"/>
            </p:xfrm>
            <a:graphic>
              <a:graphicData uri="http://schemas.openxmlformats.org/presentationml/2006/ole">
                <mc:AlternateContent xmlns:mc="http://schemas.openxmlformats.org/markup-compatibility/2006">
                  <mc:Choice xmlns:v="urn:schemas-microsoft-com:vml" Requires="v">
                    <p:oleObj name="Equation" r:id="rId5" imgW="393359" imgH="177646" progId="Equation.3">
                      <p:embed/>
                    </p:oleObj>
                  </mc:Choice>
                  <mc:Fallback>
                    <p:oleObj name="Equation" r:id="rId5" imgW="393359" imgH="177646" progId="Equation.3">
                      <p:embed/>
                      <p:pic>
                        <p:nvPicPr>
                          <p:cNvPr id="460807"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1" y="1713"/>
                            <a:ext cx="241"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08" name="Object 9"/>
              <p:cNvGraphicFramePr>
                <a:graphicFrameLocks noChangeAspect="1"/>
              </p:cNvGraphicFramePr>
              <p:nvPr/>
            </p:nvGraphicFramePr>
            <p:xfrm>
              <a:off x="2274" y="1713"/>
              <a:ext cx="226" cy="73"/>
            </p:xfrm>
            <a:graphic>
              <a:graphicData uri="http://schemas.openxmlformats.org/presentationml/2006/ole">
                <mc:AlternateContent xmlns:mc="http://schemas.openxmlformats.org/markup-compatibility/2006">
                  <mc:Choice xmlns:v="urn:schemas-microsoft-com:vml" Requires="v">
                    <p:oleObj name="Equation" r:id="rId7" imgW="393359" imgH="164957" progId="Equation.3">
                      <p:embed/>
                    </p:oleObj>
                  </mc:Choice>
                  <mc:Fallback>
                    <p:oleObj name="Equation" r:id="rId7" imgW="393359" imgH="164957" progId="Equation.3">
                      <p:embed/>
                      <p:pic>
                        <p:nvPicPr>
                          <p:cNvPr id="460808"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74" y="1713"/>
                            <a:ext cx="226" cy="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09" name="Line 10"/>
              <p:cNvSpPr>
                <a:spLocks noChangeShapeType="1"/>
              </p:cNvSpPr>
              <p:nvPr/>
            </p:nvSpPr>
            <p:spPr bwMode="auto">
              <a:xfrm flipV="1">
                <a:off x="2378" y="921"/>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0" name="Line 11"/>
              <p:cNvSpPr>
                <a:spLocks noChangeShapeType="1"/>
              </p:cNvSpPr>
              <p:nvPr/>
            </p:nvSpPr>
            <p:spPr bwMode="auto">
              <a:xfrm flipV="1">
                <a:off x="3030" y="921"/>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11" name="Object 12"/>
              <p:cNvGraphicFramePr>
                <a:graphicFrameLocks noChangeAspect="1"/>
              </p:cNvGraphicFramePr>
              <p:nvPr/>
            </p:nvGraphicFramePr>
            <p:xfrm>
              <a:off x="1960" y="1703"/>
              <a:ext cx="269" cy="91"/>
            </p:xfrm>
            <a:graphic>
              <a:graphicData uri="http://schemas.openxmlformats.org/presentationml/2006/ole">
                <mc:AlternateContent xmlns:mc="http://schemas.openxmlformats.org/markup-compatibility/2006">
                  <mc:Choice xmlns:v="urn:schemas-microsoft-com:vml" Requires="v">
                    <p:oleObj name="Equation" r:id="rId9" imgW="469696" imgH="203112" progId="Equation.3">
                      <p:embed/>
                    </p:oleObj>
                  </mc:Choice>
                  <mc:Fallback>
                    <p:oleObj name="Equation" r:id="rId9" imgW="469696" imgH="203112" progId="Equation.3">
                      <p:embed/>
                      <p:pic>
                        <p:nvPicPr>
                          <p:cNvPr id="460811"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60" y="1703"/>
                            <a:ext cx="269" cy="9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12" name="Object 13"/>
              <p:cNvGraphicFramePr>
                <a:graphicFrameLocks noChangeAspect="1"/>
              </p:cNvGraphicFramePr>
              <p:nvPr/>
            </p:nvGraphicFramePr>
            <p:xfrm>
              <a:off x="1659" y="1713"/>
              <a:ext cx="262" cy="90"/>
            </p:xfrm>
            <a:graphic>
              <a:graphicData uri="http://schemas.openxmlformats.org/presentationml/2006/ole">
                <mc:AlternateContent xmlns:mc="http://schemas.openxmlformats.org/markup-compatibility/2006">
                  <mc:Choice xmlns:v="urn:schemas-microsoft-com:vml" Requires="v">
                    <p:oleObj name="Equation" r:id="rId11" imgW="457002" imgH="203112" progId="Equation.3">
                      <p:embed/>
                    </p:oleObj>
                  </mc:Choice>
                  <mc:Fallback>
                    <p:oleObj name="Equation" r:id="rId11" imgW="457002" imgH="203112" progId="Equation.3">
                      <p:embed/>
                      <p:pic>
                        <p:nvPicPr>
                          <p:cNvPr id="460812"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59" y="1713"/>
                            <a:ext cx="262" cy="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13" name="Object 14"/>
              <p:cNvGraphicFramePr>
                <a:graphicFrameLocks noChangeAspect="1"/>
              </p:cNvGraphicFramePr>
              <p:nvPr/>
            </p:nvGraphicFramePr>
            <p:xfrm>
              <a:off x="3224" y="1697"/>
              <a:ext cx="288" cy="96"/>
            </p:xfrm>
            <a:graphic>
              <a:graphicData uri="http://schemas.openxmlformats.org/presentationml/2006/ole">
                <mc:AlternateContent xmlns:mc="http://schemas.openxmlformats.org/markup-compatibility/2006">
                  <mc:Choice xmlns:v="urn:schemas-microsoft-com:vml" Requires="v">
                    <p:oleObj name="Equation" r:id="rId13" imgW="469696" imgH="203112" progId="Equation.3">
                      <p:embed/>
                    </p:oleObj>
                  </mc:Choice>
                  <mc:Fallback>
                    <p:oleObj name="Equation" r:id="rId13" imgW="469696" imgH="203112" progId="Equation.3">
                      <p:embed/>
                      <p:pic>
                        <p:nvPicPr>
                          <p:cNvPr id="460813"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24" y="1697"/>
                            <a:ext cx="288" cy="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14" name="Object 15"/>
              <p:cNvGraphicFramePr>
                <a:graphicFrameLocks noChangeAspect="1"/>
              </p:cNvGraphicFramePr>
              <p:nvPr/>
            </p:nvGraphicFramePr>
            <p:xfrm>
              <a:off x="3523" y="1693"/>
              <a:ext cx="280" cy="96"/>
            </p:xfrm>
            <a:graphic>
              <a:graphicData uri="http://schemas.openxmlformats.org/presentationml/2006/ole">
                <mc:AlternateContent xmlns:mc="http://schemas.openxmlformats.org/markup-compatibility/2006">
                  <mc:Choice xmlns:v="urn:schemas-microsoft-com:vml" Requires="v">
                    <p:oleObj name="Equation" r:id="rId15" imgW="457002" imgH="203112" progId="Equation.3">
                      <p:embed/>
                    </p:oleObj>
                  </mc:Choice>
                  <mc:Fallback>
                    <p:oleObj name="Equation" r:id="rId15" imgW="457002" imgH="203112" progId="Equation.3">
                      <p:embed/>
                      <p:pic>
                        <p:nvPicPr>
                          <p:cNvPr id="460814" name="Object 1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23" y="1693"/>
                            <a:ext cx="280" cy="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15" name="Line 16"/>
              <p:cNvSpPr>
                <a:spLocks noChangeShapeType="1"/>
              </p:cNvSpPr>
              <p:nvPr/>
            </p:nvSpPr>
            <p:spPr bwMode="auto">
              <a:xfrm flipV="1">
                <a:off x="2049" y="1477"/>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6" name="Line 17"/>
              <p:cNvSpPr>
                <a:spLocks noChangeShapeType="1"/>
              </p:cNvSpPr>
              <p:nvPr/>
            </p:nvSpPr>
            <p:spPr bwMode="auto">
              <a:xfrm flipV="1">
                <a:off x="3353" y="1468"/>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7" name="Line 18"/>
              <p:cNvSpPr>
                <a:spLocks noChangeShapeType="1"/>
              </p:cNvSpPr>
              <p:nvPr/>
            </p:nvSpPr>
            <p:spPr bwMode="auto">
              <a:xfrm>
                <a:off x="1769" y="1599"/>
                <a:ext cx="0" cy="47"/>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8" name="Line 19"/>
              <p:cNvSpPr>
                <a:spLocks noChangeShapeType="1"/>
              </p:cNvSpPr>
              <p:nvPr/>
            </p:nvSpPr>
            <p:spPr bwMode="auto">
              <a:xfrm>
                <a:off x="3633" y="1595"/>
                <a:ext cx="0" cy="46"/>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pic>
            <p:nvPicPr>
              <p:cNvPr id="460819" name="Picture 20"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01" y="1888"/>
                <a:ext cx="2688" cy="1427"/>
              </a:xfrm>
              <a:prstGeom prst="rect">
                <a:avLst/>
              </a:prstGeom>
              <a:noFill/>
              <a:ln w="9525">
                <a:solidFill>
                  <a:schemeClr val="bg1"/>
                </a:solidFill>
                <a:miter lim="800000"/>
                <a:headEnd/>
                <a:tailEnd/>
              </a:ln>
            </p:spPr>
          </p:pic>
          <p:sp>
            <p:nvSpPr>
              <p:cNvPr id="460820" name="Line 21"/>
              <p:cNvSpPr>
                <a:spLocks noChangeShapeType="1"/>
              </p:cNvSpPr>
              <p:nvPr/>
            </p:nvSpPr>
            <p:spPr bwMode="auto">
              <a:xfrm>
                <a:off x="2714" y="1948"/>
                <a:ext cx="0" cy="1311"/>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21" name="Object 22"/>
              <p:cNvGraphicFramePr>
                <a:graphicFrameLocks noChangeAspect="1"/>
              </p:cNvGraphicFramePr>
              <p:nvPr/>
            </p:nvGraphicFramePr>
            <p:xfrm>
              <a:off x="2682" y="3346"/>
              <a:ext cx="78" cy="84"/>
            </p:xfrm>
            <a:graphic>
              <a:graphicData uri="http://schemas.openxmlformats.org/presentationml/2006/ole">
                <mc:AlternateContent xmlns:mc="http://schemas.openxmlformats.org/markup-compatibility/2006">
                  <mc:Choice xmlns:v="urn:schemas-microsoft-com:vml" Requires="v">
                    <p:oleObj name="Equation" r:id="rId17" imgW="126725" imgH="177415" progId="Equation.3">
                      <p:embed/>
                    </p:oleObj>
                  </mc:Choice>
                  <mc:Fallback>
                    <p:oleObj name="Equation" r:id="rId17" imgW="126725" imgH="177415" progId="Equation.3">
                      <p:embed/>
                      <p:pic>
                        <p:nvPicPr>
                          <p:cNvPr id="460821" name="Object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82" y="3346"/>
                            <a:ext cx="78"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2" name="Object 23"/>
              <p:cNvGraphicFramePr>
                <a:graphicFrameLocks noChangeAspect="1"/>
              </p:cNvGraphicFramePr>
              <p:nvPr/>
            </p:nvGraphicFramePr>
            <p:xfrm>
              <a:off x="2959" y="3343"/>
              <a:ext cx="125" cy="78"/>
            </p:xfrm>
            <a:graphic>
              <a:graphicData uri="http://schemas.openxmlformats.org/presentationml/2006/ole">
                <mc:AlternateContent xmlns:mc="http://schemas.openxmlformats.org/markup-compatibility/2006">
                  <mc:Choice xmlns:v="urn:schemas-microsoft-com:vml" Requires="v">
                    <p:oleObj name="Equation" r:id="rId19" imgW="203024" imgH="164957" progId="Equation.3">
                      <p:embed/>
                    </p:oleObj>
                  </mc:Choice>
                  <mc:Fallback>
                    <p:oleObj name="Equation" r:id="rId19" imgW="203024" imgH="164957" progId="Equation.3">
                      <p:embed/>
                      <p:pic>
                        <p:nvPicPr>
                          <p:cNvPr id="460822" name="Object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59" y="3343"/>
                            <a:ext cx="125"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3" name="Object 24"/>
              <p:cNvGraphicFramePr>
                <a:graphicFrameLocks noChangeAspect="1"/>
              </p:cNvGraphicFramePr>
              <p:nvPr/>
            </p:nvGraphicFramePr>
            <p:xfrm>
              <a:off x="2303" y="3340"/>
              <a:ext cx="117" cy="73"/>
            </p:xfrm>
            <a:graphic>
              <a:graphicData uri="http://schemas.openxmlformats.org/presentationml/2006/ole">
                <mc:AlternateContent xmlns:mc="http://schemas.openxmlformats.org/markup-compatibility/2006">
                  <mc:Choice xmlns:v="urn:schemas-microsoft-com:vml" Requires="v">
                    <p:oleObj name="Equation" r:id="rId21" imgW="203024" imgH="164957" progId="Equation.3">
                      <p:embed/>
                    </p:oleObj>
                  </mc:Choice>
                  <mc:Fallback>
                    <p:oleObj name="Equation" r:id="rId21" imgW="203024" imgH="164957" progId="Equation.3">
                      <p:embed/>
                      <p:pic>
                        <p:nvPicPr>
                          <p:cNvPr id="460823" name="Object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303" y="3340"/>
                            <a:ext cx="117" cy="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24" name="Line 25"/>
              <p:cNvSpPr>
                <a:spLocks noChangeShapeType="1"/>
              </p:cNvSpPr>
              <p:nvPr/>
            </p:nvSpPr>
            <p:spPr bwMode="auto">
              <a:xfrm flipV="1">
                <a:off x="2398" y="2548"/>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25" name="Line 26"/>
              <p:cNvSpPr>
                <a:spLocks noChangeShapeType="1"/>
              </p:cNvSpPr>
              <p:nvPr/>
            </p:nvSpPr>
            <p:spPr bwMode="auto">
              <a:xfrm flipV="1">
                <a:off x="3050" y="2548"/>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26" name="Object 27"/>
              <p:cNvGraphicFramePr>
                <a:graphicFrameLocks noChangeAspect="1"/>
              </p:cNvGraphicFramePr>
              <p:nvPr/>
            </p:nvGraphicFramePr>
            <p:xfrm>
              <a:off x="2004" y="3338"/>
              <a:ext cx="131" cy="74"/>
            </p:xfrm>
            <a:graphic>
              <a:graphicData uri="http://schemas.openxmlformats.org/presentationml/2006/ole">
                <mc:AlternateContent xmlns:mc="http://schemas.openxmlformats.org/markup-compatibility/2006">
                  <mc:Choice xmlns:v="urn:schemas-microsoft-com:vml" Requires="v">
                    <p:oleObj name="Equation" r:id="rId23" imgW="228501" imgH="165028" progId="Equation.3">
                      <p:embed/>
                    </p:oleObj>
                  </mc:Choice>
                  <mc:Fallback>
                    <p:oleObj name="Equation" r:id="rId23" imgW="228501" imgH="165028" progId="Equation.3">
                      <p:embed/>
                      <p:pic>
                        <p:nvPicPr>
                          <p:cNvPr id="460826" name="Object 2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004" y="3338"/>
                            <a:ext cx="131" cy="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7" name="Object 28"/>
              <p:cNvGraphicFramePr>
                <a:graphicFrameLocks noChangeAspect="1"/>
              </p:cNvGraphicFramePr>
              <p:nvPr/>
            </p:nvGraphicFramePr>
            <p:xfrm>
              <a:off x="1699" y="3346"/>
              <a:ext cx="131" cy="78"/>
            </p:xfrm>
            <a:graphic>
              <a:graphicData uri="http://schemas.openxmlformats.org/presentationml/2006/ole">
                <mc:AlternateContent xmlns:mc="http://schemas.openxmlformats.org/markup-compatibility/2006">
                  <mc:Choice xmlns:v="urn:schemas-microsoft-com:vml" Requires="v">
                    <p:oleObj name="Equation" r:id="rId25" imgW="228402" imgH="177646" progId="Equation.3">
                      <p:embed/>
                    </p:oleObj>
                  </mc:Choice>
                  <mc:Fallback>
                    <p:oleObj name="Equation" r:id="rId25" imgW="228402" imgH="177646" progId="Equation.3">
                      <p:embed/>
                      <p:pic>
                        <p:nvPicPr>
                          <p:cNvPr id="460827" name="Object 2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699" y="3346"/>
                            <a:ext cx="131"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8" name="Object 29"/>
              <p:cNvGraphicFramePr>
                <a:graphicFrameLocks noChangeAspect="1"/>
              </p:cNvGraphicFramePr>
              <p:nvPr/>
            </p:nvGraphicFramePr>
            <p:xfrm>
              <a:off x="3314" y="3333"/>
              <a:ext cx="148" cy="78"/>
            </p:xfrm>
            <a:graphic>
              <a:graphicData uri="http://schemas.openxmlformats.org/presentationml/2006/ole">
                <mc:AlternateContent xmlns:mc="http://schemas.openxmlformats.org/markup-compatibility/2006">
                  <mc:Choice xmlns:v="urn:schemas-microsoft-com:vml" Requires="v">
                    <p:oleObj name="Equation" r:id="rId27" imgW="241091" imgH="164957" progId="Equation.3">
                      <p:embed/>
                    </p:oleObj>
                  </mc:Choice>
                  <mc:Fallback>
                    <p:oleObj name="Equation" r:id="rId27" imgW="241091" imgH="164957" progId="Equation.3">
                      <p:embed/>
                      <p:pic>
                        <p:nvPicPr>
                          <p:cNvPr id="460828" name="Object 29"/>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14" y="3333"/>
                            <a:ext cx="148"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9" name="Object 30"/>
              <p:cNvGraphicFramePr>
                <a:graphicFrameLocks noChangeAspect="1"/>
              </p:cNvGraphicFramePr>
              <p:nvPr/>
            </p:nvGraphicFramePr>
            <p:xfrm>
              <a:off x="3613" y="3326"/>
              <a:ext cx="140" cy="84"/>
            </p:xfrm>
            <a:graphic>
              <a:graphicData uri="http://schemas.openxmlformats.org/presentationml/2006/ole">
                <mc:AlternateContent xmlns:mc="http://schemas.openxmlformats.org/markup-compatibility/2006">
                  <mc:Choice xmlns:v="urn:schemas-microsoft-com:vml" Requires="v">
                    <p:oleObj name="Equation" r:id="rId29" imgW="228402" imgH="177646" progId="Equation.3">
                      <p:embed/>
                    </p:oleObj>
                  </mc:Choice>
                  <mc:Fallback>
                    <p:oleObj name="Equation" r:id="rId29" imgW="228402" imgH="177646" progId="Equation.3">
                      <p:embed/>
                      <p:pic>
                        <p:nvPicPr>
                          <p:cNvPr id="460829" name="Object 30"/>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613" y="3326"/>
                            <a:ext cx="140"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30" name="Line 31"/>
              <p:cNvSpPr>
                <a:spLocks noChangeShapeType="1"/>
              </p:cNvSpPr>
              <p:nvPr/>
            </p:nvSpPr>
            <p:spPr bwMode="auto">
              <a:xfrm flipV="1">
                <a:off x="2069" y="3104"/>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1" name="Line 32"/>
              <p:cNvSpPr>
                <a:spLocks noChangeShapeType="1"/>
              </p:cNvSpPr>
              <p:nvPr/>
            </p:nvSpPr>
            <p:spPr bwMode="auto">
              <a:xfrm flipV="1">
                <a:off x="3373" y="3095"/>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2" name="Line 33"/>
              <p:cNvSpPr>
                <a:spLocks noChangeShapeType="1"/>
              </p:cNvSpPr>
              <p:nvPr/>
            </p:nvSpPr>
            <p:spPr bwMode="auto">
              <a:xfrm>
                <a:off x="1789" y="3226"/>
                <a:ext cx="0" cy="47"/>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3" name="Line 34"/>
              <p:cNvSpPr>
                <a:spLocks noChangeShapeType="1"/>
              </p:cNvSpPr>
              <p:nvPr/>
            </p:nvSpPr>
            <p:spPr bwMode="auto">
              <a:xfrm>
                <a:off x="3653" y="3222"/>
                <a:ext cx="0" cy="46"/>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4" name="Line 35"/>
              <p:cNvSpPr>
                <a:spLocks noChangeShapeType="1"/>
              </p:cNvSpPr>
              <p:nvPr/>
            </p:nvSpPr>
            <p:spPr bwMode="auto">
              <a:xfrm>
                <a:off x="1782" y="1834"/>
                <a:ext cx="0" cy="1179"/>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5" name="Line 36"/>
              <p:cNvSpPr>
                <a:spLocks noChangeShapeType="1"/>
              </p:cNvSpPr>
              <p:nvPr/>
            </p:nvSpPr>
            <p:spPr bwMode="auto">
              <a:xfrm>
                <a:off x="2054" y="1842"/>
                <a:ext cx="0" cy="953"/>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6" name="Line 37"/>
              <p:cNvSpPr>
                <a:spLocks noChangeShapeType="1"/>
              </p:cNvSpPr>
              <p:nvPr/>
            </p:nvSpPr>
            <p:spPr bwMode="auto">
              <a:xfrm>
                <a:off x="2381" y="1797"/>
                <a:ext cx="0" cy="454"/>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7" name="Line 38"/>
              <p:cNvSpPr>
                <a:spLocks noChangeShapeType="1"/>
              </p:cNvSpPr>
              <p:nvPr/>
            </p:nvSpPr>
            <p:spPr bwMode="auto">
              <a:xfrm flipH="1">
                <a:off x="3651" y="1842"/>
                <a:ext cx="0" cy="1179"/>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8" name="Line 39"/>
              <p:cNvSpPr>
                <a:spLocks noChangeShapeType="1"/>
              </p:cNvSpPr>
              <p:nvPr/>
            </p:nvSpPr>
            <p:spPr bwMode="auto">
              <a:xfrm flipH="1">
                <a:off x="3378" y="1842"/>
                <a:ext cx="0" cy="953"/>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9" name="Line 40"/>
              <p:cNvSpPr>
                <a:spLocks noChangeShapeType="1"/>
              </p:cNvSpPr>
              <p:nvPr/>
            </p:nvSpPr>
            <p:spPr bwMode="auto">
              <a:xfrm flipH="1">
                <a:off x="3043" y="1816"/>
                <a:ext cx="0" cy="454"/>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grpSp>
        <p:graphicFrame>
          <p:nvGraphicFramePr>
            <p:cNvPr id="460840" name="Object 41"/>
            <p:cNvGraphicFramePr>
              <a:graphicFrameLocks noChangeAspect="1"/>
            </p:cNvGraphicFramePr>
            <p:nvPr/>
          </p:nvGraphicFramePr>
          <p:xfrm>
            <a:off x="2971" y="436"/>
            <a:ext cx="384" cy="144"/>
          </p:xfrm>
          <a:graphic>
            <a:graphicData uri="http://schemas.openxmlformats.org/presentationml/2006/ole">
              <mc:AlternateContent xmlns:mc="http://schemas.openxmlformats.org/markup-compatibility/2006">
                <mc:Choice xmlns:v="urn:schemas-microsoft-com:vml" Requires="v">
                  <p:oleObj name="Equation" r:id="rId31" imgW="609600" imgH="228600" progId="Equation.3">
                    <p:embed/>
                  </p:oleObj>
                </mc:Choice>
                <mc:Fallback>
                  <p:oleObj name="Equation" r:id="rId31" imgW="609600" imgH="228600" progId="Equation.3">
                    <p:embed/>
                    <p:pic>
                      <p:nvPicPr>
                        <p:cNvPr id="460840" name="Object 4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2971" y="436"/>
                          <a:ext cx="384" cy="14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41" name="Object 42"/>
            <p:cNvGraphicFramePr>
              <a:graphicFrameLocks noChangeAspect="1"/>
            </p:cNvGraphicFramePr>
            <p:nvPr/>
          </p:nvGraphicFramePr>
          <p:xfrm>
            <a:off x="3008" y="1979"/>
            <a:ext cx="280" cy="128"/>
          </p:xfrm>
          <a:graphic>
            <a:graphicData uri="http://schemas.openxmlformats.org/presentationml/2006/ole">
              <mc:AlternateContent xmlns:mc="http://schemas.openxmlformats.org/markup-compatibility/2006">
                <mc:Choice xmlns:v="urn:schemas-microsoft-com:vml" Requires="v">
                  <p:oleObj name="Equation" r:id="rId33" imgW="444307" imgH="203112" progId="Equation.3">
                    <p:embed/>
                  </p:oleObj>
                </mc:Choice>
                <mc:Fallback>
                  <p:oleObj name="Equation" r:id="rId33" imgW="444307" imgH="203112" progId="Equation.3">
                    <p:embed/>
                    <p:pic>
                      <p:nvPicPr>
                        <p:cNvPr id="460841" name="Object 42"/>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008" y="1979"/>
                          <a:ext cx="280" cy="128"/>
                        </a:xfrm>
                        <a:prstGeom prst="rect">
                          <a:avLst/>
                        </a:prstGeom>
                        <a:solidFill>
                          <a:schemeClr val="bg1"/>
                        </a:solidFill>
                      </p:spPr>
                    </p:pic>
                  </p:oleObj>
                </mc:Fallback>
              </mc:AlternateContent>
            </a:graphicData>
          </a:graphic>
        </p:graphicFrame>
      </p:grpSp>
      <p:sp>
        <p:nvSpPr>
          <p:cNvPr id="460842" name="Text Box 43"/>
          <p:cNvSpPr txBox="1">
            <a:spLocks noChangeArrowheads="1"/>
          </p:cNvSpPr>
          <p:nvPr/>
        </p:nvSpPr>
        <p:spPr bwMode="auto">
          <a:xfrm>
            <a:off x="6245696" y="3657570"/>
            <a:ext cx="396866" cy="275144"/>
          </a:xfrm>
          <a:prstGeom prst="rect">
            <a:avLst/>
          </a:prstGeom>
          <a:noFill/>
          <a:ln w="9525" algn="ctr">
            <a:noFill/>
            <a:miter lim="800000"/>
            <a:headEnd/>
            <a:tailEnd/>
          </a:ln>
        </p:spPr>
        <p:txBody>
          <a:bodyPr vert="horz" wrap="squar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굴림" pitchFamily="50" charset="-127"/>
              </a:rPr>
              <a:t>X</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60843" name="Text Box 44"/>
          <p:cNvSpPr txBox="1">
            <a:spLocks noChangeArrowheads="1"/>
          </p:cNvSpPr>
          <p:nvPr/>
        </p:nvSpPr>
        <p:spPr bwMode="auto">
          <a:xfrm>
            <a:off x="6229647" y="5922456"/>
            <a:ext cx="396866" cy="275144"/>
          </a:xfrm>
          <a:prstGeom prst="rect">
            <a:avLst/>
          </a:prstGeom>
          <a:noFill/>
          <a:ln w="9525" algn="ctr">
            <a:noFill/>
            <a:miter lim="800000"/>
            <a:headEnd/>
            <a:tailEnd/>
          </a:ln>
        </p:spPr>
        <p:txBody>
          <a:bodyPr vert="horz" wrap="squar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굴림" pitchFamily="50" charset="-127"/>
              </a:rPr>
              <a:t>Z</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grpSp>
        <p:nvGrpSpPr>
          <p:cNvPr id="6" name="Group 65"/>
          <p:cNvGrpSpPr>
            <a:grpSpLocks/>
          </p:cNvGrpSpPr>
          <p:nvPr/>
        </p:nvGrpSpPr>
        <p:grpSpPr bwMode="auto">
          <a:xfrm>
            <a:off x="747319" y="2135188"/>
            <a:ext cx="2010508" cy="3941762"/>
            <a:chOff x="489" y="1092"/>
            <a:chExt cx="1372" cy="2483"/>
          </a:xfrm>
        </p:grpSpPr>
        <p:pic>
          <p:nvPicPr>
            <p:cNvPr id="460847" name="Picture 60" descr="UNI00000bc00065"/>
            <p:cNvPicPr>
              <a:picLocks noChangeAspect="1" noChangeArrowheads="1"/>
            </p:cNvPicPr>
            <p:nvPr/>
          </p:nvPicPr>
          <p:blipFill>
            <a:blip r:embed="rId35" cstate="print">
              <a:extLst>
                <a:ext uri="{28A0092B-C50C-407E-A947-70E740481C1C}">
                  <a14:useLocalDpi xmlns:a14="http://schemas.microsoft.com/office/drawing/2010/main" val="0"/>
                </a:ext>
              </a:extLst>
            </a:blip>
            <a:srcRect/>
            <a:stretch>
              <a:fillRect/>
            </a:stretch>
          </p:blipFill>
          <p:spPr bwMode="auto">
            <a:xfrm>
              <a:off x="489" y="1375"/>
              <a:ext cx="1354" cy="908"/>
            </a:xfrm>
            <a:prstGeom prst="rect">
              <a:avLst/>
            </a:prstGeom>
            <a:noFill/>
            <a:ln w="9525">
              <a:noFill/>
              <a:miter lim="800000"/>
              <a:headEnd/>
              <a:tailEnd/>
            </a:ln>
          </p:spPr>
        </p:pic>
        <p:pic>
          <p:nvPicPr>
            <p:cNvPr id="460848" name="Picture 61" descr="UNI00000bc00067"/>
            <p:cNvPicPr>
              <a:picLocks noChangeAspect="1" noChangeArrowheads="1"/>
            </p:cNvPicPr>
            <p:nvPr/>
          </p:nvPicPr>
          <p:blipFill>
            <a:blip r:embed="rId36" cstate="print">
              <a:extLst>
                <a:ext uri="{28A0092B-C50C-407E-A947-70E740481C1C}">
                  <a14:useLocalDpi xmlns:a14="http://schemas.microsoft.com/office/drawing/2010/main" val="0"/>
                </a:ext>
              </a:extLst>
            </a:blip>
            <a:srcRect/>
            <a:stretch>
              <a:fillRect/>
            </a:stretch>
          </p:blipFill>
          <p:spPr bwMode="auto">
            <a:xfrm>
              <a:off x="535" y="2624"/>
              <a:ext cx="1326" cy="889"/>
            </a:xfrm>
            <a:prstGeom prst="rect">
              <a:avLst/>
            </a:prstGeom>
            <a:noFill/>
            <a:ln w="9525">
              <a:noFill/>
              <a:miter lim="800000"/>
              <a:headEnd/>
              <a:tailEnd/>
            </a:ln>
          </p:spPr>
        </p:pic>
        <p:sp>
          <p:nvSpPr>
            <p:cNvPr id="460849" name="Text Box 62"/>
            <p:cNvSpPr txBox="1">
              <a:spLocks noChangeArrowheads="1"/>
            </p:cNvSpPr>
            <p:nvPr/>
          </p:nvSpPr>
          <p:spPr bwMode="auto">
            <a:xfrm>
              <a:off x="580" y="1162"/>
              <a:ext cx="1043" cy="173"/>
            </a:xfrm>
            <a:prstGeom prst="rect">
              <a:avLst/>
            </a:prstGeom>
            <a:noFill/>
            <a:ln w="12700" algn="ctr">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FF"/>
                  </a:solidFill>
                  <a:effectLst/>
                  <a:latin typeface="Arial" pitchFamily="34" charset="0"/>
                  <a:ea typeface="굴림" pitchFamily="50" charset="-127"/>
                </a:rPr>
                <a:t>Change Location</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60850" name="Text Box 63"/>
            <p:cNvSpPr txBox="1">
              <a:spLocks noChangeArrowheads="1"/>
            </p:cNvSpPr>
            <p:nvPr/>
          </p:nvSpPr>
          <p:spPr bwMode="auto">
            <a:xfrm>
              <a:off x="625" y="2387"/>
              <a:ext cx="1043" cy="173"/>
            </a:xfrm>
            <a:prstGeom prst="rect">
              <a:avLst/>
            </a:prstGeom>
            <a:noFill/>
            <a:ln w="12700" algn="ctr">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FF"/>
                  </a:solidFill>
                  <a:effectLst/>
                  <a:latin typeface="Arial" pitchFamily="34" charset="0"/>
                  <a:ea typeface="굴림" pitchFamily="50" charset="-127"/>
                </a:rPr>
                <a:t>Change Scale</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60851" name="Rectangle 64"/>
            <p:cNvSpPr>
              <a:spLocks noChangeArrowheads="1"/>
            </p:cNvSpPr>
            <p:nvPr/>
          </p:nvSpPr>
          <p:spPr bwMode="auto">
            <a:xfrm>
              <a:off x="535" y="1092"/>
              <a:ext cx="1308" cy="2483"/>
            </a:xfrm>
            <a:prstGeom prst="rect">
              <a:avLst/>
            </a:prstGeom>
            <a:noFill/>
            <a:ln w="12700" algn="ctr">
              <a:solidFill>
                <a:srgbClr val="0000FF"/>
              </a:solidFill>
              <a:miter lim="800000"/>
              <a:headEnd/>
              <a:tailEnd/>
            </a:ln>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grpSp>
      <p:pic>
        <p:nvPicPr>
          <p:cNvPr id="460852" name="Picture 66"/>
          <p:cNvPicPr>
            <a:picLocks noChangeAspect="1" noChangeArrowheads="1"/>
          </p:cNvPicPr>
          <p:nvPr/>
        </p:nvPicPr>
        <p:blipFill>
          <a:blip r:embed="rId37" cstate="print">
            <a:extLst>
              <a:ext uri="{28A0092B-C50C-407E-A947-70E740481C1C}">
                <a14:useLocalDpi xmlns:a14="http://schemas.microsoft.com/office/drawing/2010/main" val="0"/>
              </a:ext>
            </a:extLst>
          </a:blip>
          <a:srcRect/>
          <a:stretch>
            <a:fillRect/>
          </a:stretch>
        </p:blipFill>
        <p:spPr bwMode="auto">
          <a:xfrm>
            <a:off x="6814054" y="2000240"/>
            <a:ext cx="2124808" cy="982662"/>
          </a:xfrm>
          <a:prstGeom prst="rect">
            <a:avLst/>
          </a:prstGeom>
          <a:noFill/>
          <a:ln w="12700" algn="ctr">
            <a:noFill/>
            <a:miter lim="800000"/>
            <a:headEnd/>
            <a:tailEnd/>
          </a:ln>
        </p:spPr>
      </p:pic>
      <p:sp>
        <p:nvSpPr>
          <p:cNvPr id="4" name="TextBox 3"/>
          <p:cNvSpPr txBox="1"/>
          <p:nvPr/>
        </p:nvSpPr>
        <p:spPr>
          <a:xfrm>
            <a:off x="650631" y="1039814"/>
            <a:ext cx="8207649" cy="830997"/>
          </a:xfrm>
          <a:prstGeom prst="rect">
            <a:avLst/>
          </a:prstGeom>
          <a:noFill/>
        </p:spPr>
        <p:txBody>
          <a:bodyPr vert="horz" wrap="square" lIns="91440" tIns="45720" rIns="91440" bIns="45720" numCol="1" anchor="t" anchorCtr="0" compatLnSpc="1">
            <a:prstTxWarp prst="textNoShape">
              <a:avLst/>
            </a:prstTxWarp>
            <a:spAutoFit/>
          </a:bodyPr>
          <a:lstStyle/>
          <a:p>
            <a:pPr marL="285750" lvl="0" indent="-285750">
              <a:buFontTx/>
              <a:buChar char="-"/>
            </a:pPr>
            <a:r>
              <a:rPr lang="en-US" altLang="ko-KR" sz="1600" b="1" dirty="0">
                <a:latin typeface="맑은 고딕" pitchFamily="50" charset="-127"/>
                <a:ea typeface="맑은 고딕" pitchFamily="50" charset="-127"/>
              </a:rPr>
              <a:t>A standard normal distribution is a normal distribution with zero mean (0) and unit variance (1)</a:t>
            </a:r>
          </a:p>
          <a:p>
            <a:pPr marL="285750" lvl="0" indent="-285750">
              <a:buFontTx/>
              <a:buChar char="-"/>
            </a:pPr>
            <a:r>
              <a:rPr lang="en-US" altLang="ko-KR" sz="1600" b="1" dirty="0">
                <a:latin typeface="맑은 고딕" pitchFamily="50" charset="-127"/>
                <a:ea typeface="맑은 고딕" pitchFamily="50" charset="-127"/>
              </a:rPr>
              <a:t>The total area is 1, with a mean of 0 and a standard deviation of 1.</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2" name="제목 1"/>
          <p:cNvSpPr txBox="1">
            <a:spLocks/>
          </p:cNvSpPr>
          <p:nvPr/>
        </p:nvSpPr>
        <p:spPr bwMode="auto">
          <a:xfrm>
            <a:off x="118582" y="692697"/>
            <a:ext cx="8344041"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2000" b="1" i="0" u="none" strike="noStrike" cap="none" normalizeH="0" baseline="0" dirty="0">
                <a:ln>
                  <a:noFill/>
                </a:ln>
                <a:solidFill>
                  <a:schemeClr val="tx1"/>
                </a:solidFill>
                <a:effectLst/>
                <a:latin typeface="맑은 고딕" pitchFamily="50" charset="-127"/>
                <a:ea typeface="맑은 고딕" pitchFamily="50" charset="-127"/>
              </a:rPr>
              <a:t>Understanding the standard normal distribution</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56" name="Rectangle 105"/>
          <p:cNvSpPr>
            <a:spLocks noChangeArrowheads="1"/>
          </p:cNvSpPr>
          <p:nvPr/>
        </p:nvSpPr>
        <p:spPr bwMode="auto">
          <a:xfrm>
            <a:off x="8594482" y="6429376"/>
            <a:ext cx="352661" cy="308419"/>
          </a:xfrm>
          <a:prstGeom prst="rect">
            <a:avLst/>
          </a:prstGeom>
          <a:noFill/>
          <a:ln w="9525">
            <a:noFill/>
            <a:miter lim="800000"/>
            <a:headEnd/>
            <a:tailEnd/>
          </a:ln>
        </p:spPr>
        <p:txBody>
          <a:bodyPr wrap="none" lIns="92075" tIns="46038" rIns="92075" bIns="46038">
            <a:spAutoFit/>
          </a:bodyPr>
          <a:lstStyle/>
          <a:p>
            <a:pPr algn="ctr" defTabSz="762000" latinLnBrk="0"/>
            <a:r>
              <a:rPr lang="en-US" altLang="ko-KR" sz="1400" dirty="0">
                <a:latin typeface="맑은 고딕" pitchFamily="50" charset="-127"/>
                <a:ea typeface="맑은 고딕" pitchFamily="50" charset="-127"/>
              </a:rPr>
              <a:t> </a:t>
            </a:r>
            <a:fld id="{C843D651-2E04-4ED4-876D-8B96CDA14598}" type="slidenum">
              <a:rPr lang="en-US" altLang="ko-KR" sz="1400" b="1">
                <a:solidFill>
                  <a:srgbClr val="FF0066"/>
                </a:solidFill>
                <a:latin typeface="맑은 고딕" pitchFamily="50" charset="-127"/>
                <a:ea typeface="맑은 고딕" pitchFamily="50" charset="-127"/>
              </a:rPr>
              <a:pPr algn="ctr" defTabSz="762000" latinLnBrk="0"/>
              <a:t>176</a:t>
            </a:fld>
            <a:endParaRPr lang="en-US" altLang="ko-KR" sz="1400" b="1" dirty="0">
              <a:solidFill>
                <a:srgbClr val="FF0066"/>
              </a:solidFill>
              <a:latin typeface="맑은 고딕" pitchFamily="50" charset="-127"/>
              <a:ea typeface="맑은 고딕" pitchFamily="50" charset="-127"/>
            </a:endParaRPr>
          </a:p>
        </p:txBody>
      </p:sp>
      <p:sp>
        <p:nvSpPr>
          <p:cNvPr id="54"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02250045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177</a:t>
            </a:fld>
            <a:endParaRPr lang="ko-KR" altLang="en-US" dirty="0"/>
          </a:p>
        </p:txBody>
      </p:sp>
      <p:sp>
        <p:nvSpPr>
          <p:cNvPr id="3" name="제목 1"/>
          <p:cNvSpPr txBox="1">
            <a:spLocks/>
          </p:cNvSpPr>
          <p:nvPr/>
        </p:nvSpPr>
        <p:spPr bwMode="auto">
          <a:xfrm>
            <a:off x="118582" y="764705"/>
            <a:ext cx="9465068"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2000" b="1" i="0" u="none" strike="noStrike" cap="none" normalizeH="0" baseline="0" dirty="0">
                <a:ln>
                  <a:noFill/>
                </a:ln>
                <a:solidFill>
                  <a:schemeClr val="tx1"/>
                </a:solidFill>
                <a:effectLst/>
                <a:latin typeface="+mn-ea"/>
                <a:ea typeface="+mn-ea"/>
              </a:rPr>
              <a:t>Understanding the standard normal distribution</a:t>
            </a:r>
            <a:endParaRPr kumimoji="1" lang="ko-KR" sz="1800" b="0" i="0" u="none" strike="noStrike" cap="none" normalizeH="0" baseline="0" dirty="0">
              <a:ln>
                <a:noFill/>
              </a:ln>
              <a:solidFill>
                <a:schemeClr val="tx1"/>
              </a:solidFill>
              <a:effectLst/>
              <a:latin typeface="+mn-ea"/>
              <a:ea typeface="+mn-ea"/>
            </a:endParaRPr>
          </a:p>
        </p:txBody>
      </p:sp>
      <p:sp>
        <p:nvSpPr>
          <p:cNvPr id="4" name="TextBox 3"/>
          <p:cNvSpPr txBox="1"/>
          <p:nvPr/>
        </p:nvSpPr>
        <p:spPr>
          <a:xfrm>
            <a:off x="517396" y="1296285"/>
            <a:ext cx="7643926" cy="1092607"/>
          </a:xfrm>
          <a:prstGeom prst="rect">
            <a:avLst/>
          </a:prstGeom>
          <a:noFill/>
        </p:spPr>
        <p:txBody>
          <a:bodyPr wrap="square" rtlCol="0">
            <a:spAutoFit/>
          </a:bodyPr>
          <a:lstStyle/>
          <a:p>
            <a:pPr>
              <a:lnSpc>
                <a:spcPct val="130000"/>
              </a:lnSpc>
              <a:buClr>
                <a:srgbClr val="C5003D"/>
              </a:buClr>
            </a:pPr>
            <a:r>
              <a:rPr lang="en-US" altLang="ko-KR" sz="1600" b="1" dirty="0"/>
              <a:t>Case 2   There was a standard in this data. The specification is 5.5 ± 0.5.</a:t>
            </a:r>
          </a:p>
          <a:p>
            <a:pPr>
              <a:lnSpc>
                <a:spcPct val="130000"/>
              </a:lnSpc>
              <a:buClr>
                <a:srgbClr val="C5003D"/>
              </a:buClr>
            </a:pPr>
            <a:r>
              <a:rPr lang="en-US" altLang="ko-KR" sz="1600" b="1" dirty="0"/>
              <a:t>             Mean</a:t>
            </a:r>
            <a:r>
              <a:rPr lang="ko-KR" altLang="en-US" sz="1600" b="1" dirty="0"/>
              <a:t>  </a:t>
            </a:r>
            <a:r>
              <a:rPr lang="en-US" altLang="ko-KR" sz="1600" b="1" dirty="0"/>
              <a:t>5.28   Standard deviation</a:t>
            </a:r>
            <a:r>
              <a:rPr lang="ko-KR" altLang="en-US" sz="1600" b="1" dirty="0"/>
              <a:t> </a:t>
            </a:r>
            <a:r>
              <a:rPr lang="en-US" altLang="ko-KR" sz="1600" b="1" dirty="0"/>
              <a:t>0.1135 </a:t>
            </a:r>
          </a:p>
          <a:p>
            <a:pPr>
              <a:lnSpc>
                <a:spcPct val="130000"/>
              </a:lnSpc>
              <a:buClr>
                <a:srgbClr val="C5003D"/>
              </a:buClr>
            </a:pPr>
            <a:r>
              <a:rPr lang="en-US" altLang="ko-KR" sz="1600" b="1" dirty="0"/>
              <a:t>             How many defective products are included in 1,000?</a:t>
            </a:r>
            <a:endParaRPr lang="ko-KR" altLang="en-US" sz="1600" b="1" dirty="0"/>
          </a:p>
        </p:txBody>
      </p:sp>
      <p:pic>
        <p:nvPicPr>
          <p:cNvPr id="9" name="Picture 5"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400" y="2703067"/>
            <a:ext cx="3416515" cy="1933198"/>
          </a:xfrm>
          <a:prstGeom prst="rect">
            <a:avLst/>
          </a:prstGeom>
          <a:noFill/>
          <a:ln w="9525">
            <a:solidFill>
              <a:schemeClr val="bg1"/>
            </a:solidFill>
            <a:miter lim="800000"/>
            <a:headEnd/>
            <a:tailEnd/>
          </a:ln>
        </p:spPr>
      </p:pic>
      <p:sp>
        <p:nvSpPr>
          <p:cNvPr id="10" name="Line 6"/>
          <p:cNvSpPr>
            <a:spLocks noChangeShapeType="1"/>
          </p:cNvSpPr>
          <p:nvPr/>
        </p:nvSpPr>
        <p:spPr bwMode="auto">
          <a:xfrm>
            <a:off x="2875358" y="2792480"/>
            <a:ext cx="0" cy="1776049"/>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12" name="Object 8"/>
          <p:cNvGraphicFramePr>
            <a:graphicFrameLocks noChangeAspect="1"/>
          </p:cNvGraphicFramePr>
          <p:nvPr>
            <p:extLst>
              <p:ext uri="{D42A27DB-BD31-4B8C-83A1-F6EECF244321}">
                <p14:modId xmlns:p14="http://schemas.microsoft.com/office/powerpoint/2010/main" val="2831858544"/>
              </p:ext>
            </p:extLst>
          </p:nvPr>
        </p:nvGraphicFramePr>
        <p:xfrm>
          <a:off x="3113039" y="4678262"/>
          <a:ext cx="306317" cy="113797"/>
        </p:xfrm>
        <a:graphic>
          <a:graphicData uri="http://schemas.openxmlformats.org/presentationml/2006/ole">
            <mc:AlternateContent xmlns:mc="http://schemas.openxmlformats.org/markup-compatibility/2006">
              <mc:Choice xmlns:v="urn:schemas-microsoft-com:vml" Requires="v">
                <p:oleObj name="Equation" r:id="rId3" imgW="393359" imgH="177646" progId="Equation.3">
                  <p:embed/>
                </p:oleObj>
              </mc:Choice>
              <mc:Fallback>
                <p:oleObj name="Equation" r:id="rId3" imgW="393359" imgH="177646" progId="Equation.3">
                  <p:embed/>
                  <p:pic>
                    <p:nvPicPr>
                      <p:cNvPr id="12"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13039" y="4678262"/>
                        <a:ext cx="306317" cy="1137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9"/>
          <p:cNvGraphicFramePr>
            <a:graphicFrameLocks noChangeAspect="1"/>
          </p:cNvGraphicFramePr>
          <p:nvPr>
            <p:extLst>
              <p:ext uri="{D42A27DB-BD31-4B8C-83A1-F6EECF244321}">
                <p14:modId xmlns:p14="http://schemas.microsoft.com/office/powerpoint/2010/main" val="2596996027"/>
              </p:ext>
            </p:extLst>
          </p:nvPr>
        </p:nvGraphicFramePr>
        <p:xfrm>
          <a:off x="2341527" y="4678262"/>
          <a:ext cx="287251" cy="98895"/>
        </p:xfrm>
        <a:graphic>
          <a:graphicData uri="http://schemas.openxmlformats.org/presentationml/2006/ole">
            <mc:AlternateContent xmlns:mc="http://schemas.openxmlformats.org/markup-compatibility/2006">
              <mc:Choice xmlns:v="urn:schemas-microsoft-com:vml" Requires="v">
                <p:oleObj name="Equation" r:id="rId5" imgW="393359" imgH="164957" progId="Equation.3">
                  <p:embed/>
                </p:oleObj>
              </mc:Choice>
              <mc:Fallback>
                <p:oleObj name="Equation" r:id="rId5" imgW="393359" imgH="164957" progId="Equation.3">
                  <p:embed/>
                  <p:pic>
                    <p:nvPicPr>
                      <p:cNvPr id="13"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41527" y="4678262"/>
                        <a:ext cx="287251" cy="9889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Line 10"/>
          <p:cNvSpPr>
            <a:spLocks noChangeShapeType="1"/>
          </p:cNvSpPr>
          <p:nvPr/>
        </p:nvSpPr>
        <p:spPr bwMode="auto">
          <a:xfrm flipV="1">
            <a:off x="2473713" y="3605316"/>
            <a:ext cx="0" cy="982178"/>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5" name="Line 11"/>
          <p:cNvSpPr>
            <a:spLocks noChangeShapeType="1"/>
          </p:cNvSpPr>
          <p:nvPr/>
        </p:nvSpPr>
        <p:spPr bwMode="auto">
          <a:xfrm flipV="1">
            <a:off x="3302422" y="3605316"/>
            <a:ext cx="0" cy="982178"/>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0" name="Line 16"/>
          <p:cNvSpPr>
            <a:spLocks noChangeShapeType="1"/>
          </p:cNvSpPr>
          <p:nvPr/>
        </p:nvSpPr>
        <p:spPr bwMode="auto">
          <a:xfrm flipV="1">
            <a:off x="2055546" y="4358546"/>
            <a:ext cx="0" cy="22217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1" name="Line 17"/>
          <p:cNvSpPr>
            <a:spLocks noChangeShapeType="1"/>
          </p:cNvSpPr>
          <p:nvPr/>
        </p:nvSpPr>
        <p:spPr bwMode="auto">
          <a:xfrm flipV="1">
            <a:off x="3712963" y="4346354"/>
            <a:ext cx="0" cy="22217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2" name="Line 18"/>
          <p:cNvSpPr>
            <a:spLocks noChangeShapeType="1"/>
          </p:cNvSpPr>
          <p:nvPr/>
        </p:nvSpPr>
        <p:spPr bwMode="auto">
          <a:xfrm>
            <a:off x="1699660" y="4523822"/>
            <a:ext cx="0" cy="63672"/>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3" name="Line 19"/>
          <p:cNvSpPr>
            <a:spLocks noChangeShapeType="1"/>
          </p:cNvSpPr>
          <p:nvPr/>
        </p:nvSpPr>
        <p:spPr bwMode="auto">
          <a:xfrm>
            <a:off x="4068850" y="4518403"/>
            <a:ext cx="0" cy="62318"/>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 name="TextBox 45"/>
          <p:cNvSpPr txBox="1"/>
          <p:nvPr/>
        </p:nvSpPr>
        <p:spPr>
          <a:xfrm>
            <a:off x="2608184" y="4575276"/>
            <a:ext cx="466794" cy="312393"/>
          </a:xfrm>
          <a:prstGeom prst="rect">
            <a:avLst/>
          </a:prstGeom>
          <a:noFill/>
        </p:spPr>
        <p:txBody>
          <a:bodyPr wrap="none" rtlCol="0">
            <a:spAutoFit/>
          </a:bodyPr>
          <a:lstStyle/>
          <a:p>
            <a:pPr>
              <a:lnSpc>
                <a:spcPct val="130000"/>
              </a:lnSpc>
              <a:buClr>
                <a:srgbClr val="C5003D"/>
              </a:buClr>
            </a:pPr>
            <a:r>
              <a:rPr lang="en-US" altLang="ko-KR" sz="1100" b="1" dirty="0"/>
              <a:t>5.28</a:t>
            </a:r>
            <a:endParaRPr lang="ko-KR" altLang="en-US" sz="1100" b="1" dirty="0"/>
          </a:p>
        </p:txBody>
      </p:sp>
      <p:cxnSp>
        <p:nvCxnSpPr>
          <p:cNvPr id="48" name="직선 연결선 47"/>
          <p:cNvCxnSpPr/>
          <p:nvPr/>
        </p:nvCxnSpPr>
        <p:spPr>
          <a:xfrm>
            <a:off x="2767723" y="3704506"/>
            <a:ext cx="66468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직선 화살표 연결선 50"/>
          <p:cNvCxnSpPr/>
          <p:nvPr/>
        </p:nvCxnSpPr>
        <p:spPr>
          <a:xfrm>
            <a:off x="2568316" y="3704506"/>
            <a:ext cx="294008" cy="213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4" name="직선 화살표 연결선 53"/>
          <p:cNvCxnSpPr/>
          <p:nvPr/>
        </p:nvCxnSpPr>
        <p:spPr>
          <a:xfrm flipH="1">
            <a:off x="3311036" y="3704506"/>
            <a:ext cx="265876"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2767722" y="3344467"/>
            <a:ext cx="630301" cy="312393"/>
          </a:xfrm>
          <a:prstGeom prst="rect">
            <a:avLst/>
          </a:prstGeom>
          <a:noFill/>
        </p:spPr>
        <p:txBody>
          <a:bodyPr wrap="none" rtlCol="0">
            <a:spAutoFit/>
          </a:bodyPr>
          <a:lstStyle/>
          <a:p>
            <a:pPr>
              <a:lnSpc>
                <a:spcPct val="130000"/>
              </a:lnSpc>
              <a:buClr>
                <a:srgbClr val="C5003D"/>
              </a:buClr>
            </a:pPr>
            <a:r>
              <a:rPr lang="en-US" altLang="ko-KR" sz="1100" b="1" dirty="0"/>
              <a:t>0.1135</a:t>
            </a:r>
            <a:endParaRPr lang="ko-KR" altLang="en-US" sz="1100" b="1" dirty="0"/>
          </a:p>
        </p:txBody>
      </p:sp>
      <p:cxnSp>
        <p:nvCxnSpPr>
          <p:cNvPr id="57" name="직선 연결선 56"/>
          <p:cNvCxnSpPr/>
          <p:nvPr/>
        </p:nvCxnSpPr>
        <p:spPr>
          <a:xfrm flipV="1">
            <a:off x="1704220" y="2624386"/>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직선 연결선 57"/>
          <p:cNvCxnSpPr/>
          <p:nvPr/>
        </p:nvCxnSpPr>
        <p:spPr>
          <a:xfrm flipV="1">
            <a:off x="4429446" y="2624386"/>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p:cNvCxnSpPr/>
          <p:nvPr/>
        </p:nvCxnSpPr>
        <p:spPr>
          <a:xfrm flipV="1">
            <a:off x="6888796" y="2624386"/>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1172468" y="4556076"/>
            <a:ext cx="59157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4183169" y="4568602"/>
            <a:ext cx="795859" cy="732508"/>
          </a:xfrm>
          <a:prstGeom prst="rect">
            <a:avLst/>
          </a:prstGeom>
          <a:noFill/>
        </p:spPr>
        <p:txBody>
          <a:bodyPr wrap="none" rtlCol="0">
            <a:spAutoFit/>
          </a:bodyPr>
          <a:lstStyle/>
          <a:p>
            <a:pPr>
              <a:lnSpc>
                <a:spcPct val="130000"/>
              </a:lnSpc>
              <a:buClr>
                <a:srgbClr val="C5003D"/>
              </a:buClr>
            </a:pPr>
            <a:r>
              <a:rPr lang="en-US" altLang="ko-KR" sz="1600" b="1" dirty="0"/>
              <a:t>Target</a:t>
            </a:r>
          </a:p>
          <a:p>
            <a:pPr>
              <a:lnSpc>
                <a:spcPct val="130000"/>
              </a:lnSpc>
              <a:buClr>
                <a:srgbClr val="C5003D"/>
              </a:buClr>
            </a:pPr>
            <a:r>
              <a:rPr lang="en-US" altLang="ko-KR" sz="1600" b="1" dirty="0"/>
              <a:t>5.5</a:t>
            </a:r>
            <a:endParaRPr lang="ko-KR" altLang="en-US" sz="1600" b="1" dirty="0"/>
          </a:p>
        </p:txBody>
      </p:sp>
      <p:sp>
        <p:nvSpPr>
          <p:cNvPr id="63" name="TextBox 62"/>
          <p:cNvSpPr txBox="1"/>
          <p:nvPr/>
        </p:nvSpPr>
        <p:spPr>
          <a:xfrm>
            <a:off x="6689389" y="4568602"/>
            <a:ext cx="556563" cy="732508"/>
          </a:xfrm>
          <a:prstGeom prst="rect">
            <a:avLst/>
          </a:prstGeom>
          <a:noFill/>
        </p:spPr>
        <p:txBody>
          <a:bodyPr wrap="none" rtlCol="0">
            <a:spAutoFit/>
          </a:bodyPr>
          <a:lstStyle/>
          <a:p>
            <a:pPr>
              <a:lnSpc>
                <a:spcPct val="130000"/>
              </a:lnSpc>
              <a:buClr>
                <a:srgbClr val="C5003D"/>
              </a:buClr>
            </a:pPr>
            <a:r>
              <a:rPr lang="en-US" altLang="ko-KR" sz="1600" b="1" dirty="0"/>
              <a:t>USL</a:t>
            </a:r>
          </a:p>
          <a:p>
            <a:pPr>
              <a:lnSpc>
                <a:spcPct val="130000"/>
              </a:lnSpc>
              <a:buClr>
                <a:srgbClr val="C5003D"/>
              </a:buClr>
            </a:pPr>
            <a:r>
              <a:rPr lang="en-US" altLang="ko-KR" sz="1600" b="1" dirty="0"/>
              <a:t>6.0</a:t>
            </a:r>
            <a:endParaRPr lang="ko-KR" altLang="en-US" sz="1600" b="1" dirty="0"/>
          </a:p>
        </p:txBody>
      </p:sp>
      <p:sp>
        <p:nvSpPr>
          <p:cNvPr id="64" name="TextBox 63"/>
          <p:cNvSpPr txBox="1"/>
          <p:nvPr/>
        </p:nvSpPr>
        <p:spPr>
          <a:xfrm>
            <a:off x="1504814" y="4568602"/>
            <a:ext cx="511679" cy="732508"/>
          </a:xfrm>
          <a:prstGeom prst="rect">
            <a:avLst/>
          </a:prstGeom>
          <a:noFill/>
        </p:spPr>
        <p:txBody>
          <a:bodyPr wrap="none" rtlCol="0">
            <a:spAutoFit/>
          </a:bodyPr>
          <a:lstStyle/>
          <a:p>
            <a:pPr>
              <a:lnSpc>
                <a:spcPct val="130000"/>
              </a:lnSpc>
              <a:buClr>
                <a:srgbClr val="C5003D"/>
              </a:buClr>
            </a:pPr>
            <a:r>
              <a:rPr lang="en-US" altLang="ko-KR" sz="1600" b="1" dirty="0"/>
              <a:t>LSL</a:t>
            </a:r>
          </a:p>
          <a:p>
            <a:pPr>
              <a:lnSpc>
                <a:spcPct val="130000"/>
              </a:lnSpc>
              <a:buClr>
                <a:srgbClr val="C5003D"/>
              </a:buClr>
            </a:pPr>
            <a:r>
              <a:rPr lang="en-US" altLang="ko-KR" sz="1600" b="1" dirty="0"/>
              <a:t>5.0</a:t>
            </a:r>
            <a:endParaRPr lang="ko-KR" altLang="en-US" sz="1600" b="1" dirty="0"/>
          </a:p>
        </p:txBody>
      </p:sp>
      <p:sp>
        <p:nvSpPr>
          <p:cNvPr id="66" name="TextBox 65"/>
          <p:cNvSpPr txBox="1"/>
          <p:nvPr/>
        </p:nvSpPr>
        <p:spPr>
          <a:xfrm>
            <a:off x="982679" y="5517232"/>
            <a:ext cx="7414002" cy="732508"/>
          </a:xfrm>
          <a:prstGeom prst="rect">
            <a:avLst/>
          </a:prstGeom>
          <a:noFill/>
        </p:spPr>
        <p:txBody>
          <a:bodyPr wrap="square" rtlCol="0">
            <a:spAutoFit/>
          </a:bodyPr>
          <a:lstStyle/>
          <a:p>
            <a:pPr>
              <a:lnSpc>
                <a:spcPct val="130000"/>
              </a:lnSpc>
              <a:buClr>
                <a:srgbClr val="C5003D"/>
              </a:buClr>
            </a:pPr>
            <a:r>
              <a:rPr lang="en-US" altLang="ko-KR" sz="1600" b="1" dirty="0"/>
              <a:t>Probability of being smaller than LSL</a:t>
            </a:r>
            <a:r>
              <a:rPr lang="en-US" altLang="ko-KR" sz="1600" b="1" dirty="0">
                <a:sym typeface="Wingdings" panose="05000000000000000000" pitchFamily="2" charset="2"/>
              </a:rPr>
              <a:t>  </a:t>
            </a:r>
          </a:p>
          <a:p>
            <a:pPr>
              <a:lnSpc>
                <a:spcPct val="130000"/>
              </a:lnSpc>
              <a:buClr>
                <a:srgbClr val="C5003D"/>
              </a:buClr>
            </a:pPr>
            <a:r>
              <a:rPr lang="en-US" altLang="ko-KR" sz="1600" b="1" dirty="0"/>
              <a:t>How far is the LSL from the mean in the standard normal distribution?</a:t>
            </a:r>
            <a:endParaRPr lang="ko-KR" altLang="en-US" sz="1600" b="1" dirty="0"/>
          </a:p>
        </p:txBody>
      </p:sp>
      <p:sp>
        <p:nvSpPr>
          <p:cNvPr id="28"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026827370"/>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
          <p:cNvGrpSpPr>
            <a:grpSpLocks/>
          </p:cNvGrpSpPr>
          <p:nvPr/>
        </p:nvGrpSpPr>
        <p:grpSpPr bwMode="auto">
          <a:xfrm>
            <a:off x="2920485" y="1862139"/>
            <a:ext cx="3441936" cy="4301263"/>
            <a:chOff x="1281" y="255"/>
            <a:chExt cx="2708" cy="3175"/>
          </a:xfrm>
        </p:grpSpPr>
        <p:grpSp>
          <p:nvGrpSpPr>
            <p:cNvPr id="5" name="Group 4"/>
            <p:cNvGrpSpPr>
              <a:grpSpLocks/>
            </p:cNvGrpSpPr>
            <p:nvPr/>
          </p:nvGrpSpPr>
          <p:grpSpPr bwMode="auto">
            <a:xfrm>
              <a:off x="1281" y="255"/>
              <a:ext cx="2708" cy="3175"/>
              <a:chOff x="1281" y="255"/>
              <a:chExt cx="2708" cy="3175"/>
            </a:xfrm>
          </p:grpSpPr>
          <p:pic>
            <p:nvPicPr>
              <p:cNvPr id="460804" name="Picture 5"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81" y="255"/>
                <a:ext cx="2688" cy="1427"/>
              </a:xfrm>
              <a:prstGeom prst="rect">
                <a:avLst/>
              </a:prstGeom>
              <a:noFill/>
              <a:ln w="9525">
                <a:solidFill>
                  <a:schemeClr val="bg1"/>
                </a:solidFill>
                <a:miter lim="800000"/>
                <a:headEnd/>
                <a:tailEnd/>
              </a:ln>
            </p:spPr>
          </p:pic>
          <p:sp>
            <p:nvSpPr>
              <p:cNvPr id="460805" name="Line 6"/>
              <p:cNvSpPr>
                <a:spLocks noChangeShapeType="1"/>
              </p:cNvSpPr>
              <p:nvPr/>
            </p:nvSpPr>
            <p:spPr bwMode="auto">
              <a:xfrm>
                <a:off x="2694" y="321"/>
                <a:ext cx="0" cy="1311"/>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06" name="Object 7"/>
              <p:cNvGraphicFramePr>
                <a:graphicFrameLocks noChangeAspect="1"/>
              </p:cNvGraphicFramePr>
              <p:nvPr/>
            </p:nvGraphicFramePr>
            <p:xfrm>
              <a:off x="2645" y="1713"/>
              <a:ext cx="94" cy="78"/>
            </p:xfrm>
            <a:graphic>
              <a:graphicData uri="http://schemas.openxmlformats.org/presentationml/2006/ole">
                <mc:AlternateContent xmlns:mc="http://schemas.openxmlformats.org/markup-compatibility/2006">
                  <mc:Choice xmlns:v="urn:schemas-microsoft-com:vml" Requires="v">
                    <p:oleObj name="Equation" r:id="rId3" imgW="152268" imgH="164957" progId="Equation.3">
                      <p:embed/>
                    </p:oleObj>
                  </mc:Choice>
                  <mc:Fallback>
                    <p:oleObj name="Equation" r:id="rId3" imgW="152268" imgH="164957" progId="Equation.3">
                      <p:embed/>
                      <p:pic>
                        <p:nvPicPr>
                          <p:cNvPr id="460806"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5" y="1713"/>
                            <a:ext cx="94"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07" name="Object 8"/>
              <p:cNvGraphicFramePr>
                <a:graphicFrameLocks noChangeAspect="1"/>
              </p:cNvGraphicFramePr>
              <p:nvPr/>
            </p:nvGraphicFramePr>
            <p:xfrm>
              <a:off x="2881" y="1713"/>
              <a:ext cx="241" cy="84"/>
            </p:xfrm>
            <a:graphic>
              <a:graphicData uri="http://schemas.openxmlformats.org/presentationml/2006/ole">
                <mc:AlternateContent xmlns:mc="http://schemas.openxmlformats.org/markup-compatibility/2006">
                  <mc:Choice xmlns:v="urn:schemas-microsoft-com:vml" Requires="v">
                    <p:oleObj name="Equation" r:id="rId5" imgW="393359" imgH="177646" progId="Equation.3">
                      <p:embed/>
                    </p:oleObj>
                  </mc:Choice>
                  <mc:Fallback>
                    <p:oleObj name="Equation" r:id="rId5" imgW="393359" imgH="177646" progId="Equation.3">
                      <p:embed/>
                      <p:pic>
                        <p:nvPicPr>
                          <p:cNvPr id="460807"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1" y="1713"/>
                            <a:ext cx="241"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08" name="Object 9"/>
              <p:cNvGraphicFramePr>
                <a:graphicFrameLocks noChangeAspect="1"/>
              </p:cNvGraphicFramePr>
              <p:nvPr/>
            </p:nvGraphicFramePr>
            <p:xfrm>
              <a:off x="2274" y="1713"/>
              <a:ext cx="226" cy="73"/>
            </p:xfrm>
            <a:graphic>
              <a:graphicData uri="http://schemas.openxmlformats.org/presentationml/2006/ole">
                <mc:AlternateContent xmlns:mc="http://schemas.openxmlformats.org/markup-compatibility/2006">
                  <mc:Choice xmlns:v="urn:schemas-microsoft-com:vml" Requires="v">
                    <p:oleObj name="Equation" r:id="rId7" imgW="393359" imgH="164957" progId="Equation.3">
                      <p:embed/>
                    </p:oleObj>
                  </mc:Choice>
                  <mc:Fallback>
                    <p:oleObj name="Equation" r:id="rId7" imgW="393359" imgH="164957" progId="Equation.3">
                      <p:embed/>
                      <p:pic>
                        <p:nvPicPr>
                          <p:cNvPr id="460808"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74" y="1713"/>
                            <a:ext cx="226" cy="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09" name="Line 10"/>
              <p:cNvSpPr>
                <a:spLocks noChangeShapeType="1"/>
              </p:cNvSpPr>
              <p:nvPr/>
            </p:nvSpPr>
            <p:spPr bwMode="auto">
              <a:xfrm flipV="1">
                <a:off x="2378" y="921"/>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0" name="Line 11"/>
              <p:cNvSpPr>
                <a:spLocks noChangeShapeType="1"/>
              </p:cNvSpPr>
              <p:nvPr/>
            </p:nvSpPr>
            <p:spPr bwMode="auto">
              <a:xfrm flipV="1">
                <a:off x="3030" y="921"/>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11" name="Object 12"/>
              <p:cNvGraphicFramePr>
                <a:graphicFrameLocks noChangeAspect="1"/>
              </p:cNvGraphicFramePr>
              <p:nvPr/>
            </p:nvGraphicFramePr>
            <p:xfrm>
              <a:off x="1960" y="1703"/>
              <a:ext cx="269" cy="91"/>
            </p:xfrm>
            <a:graphic>
              <a:graphicData uri="http://schemas.openxmlformats.org/presentationml/2006/ole">
                <mc:AlternateContent xmlns:mc="http://schemas.openxmlformats.org/markup-compatibility/2006">
                  <mc:Choice xmlns:v="urn:schemas-microsoft-com:vml" Requires="v">
                    <p:oleObj name="Equation" r:id="rId9" imgW="469696" imgH="203112" progId="Equation.3">
                      <p:embed/>
                    </p:oleObj>
                  </mc:Choice>
                  <mc:Fallback>
                    <p:oleObj name="Equation" r:id="rId9" imgW="469696" imgH="203112" progId="Equation.3">
                      <p:embed/>
                      <p:pic>
                        <p:nvPicPr>
                          <p:cNvPr id="460811"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60" y="1703"/>
                            <a:ext cx="269" cy="9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12" name="Object 13"/>
              <p:cNvGraphicFramePr>
                <a:graphicFrameLocks noChangeAspect="1"/>
              </p:cNvGraphicFramePr>
              <p:nvPr/>
            </p:nvGraphicFramePr>
            <p:xfrm>
              <a:off x="1659" y="1713"/>
              <a:ext cx="262" cy="90"/>
            </p:xfrm>
            <a:graphic>
              <a:graphicData uri="http://schemas.openxmlformats.org/presentationml/2006/ole">
                <mc:AlternateContent xmlns:mc="http://schemas.openxmlformats.org/markup-compatibility/2006">
                  <mc:Choice xmlns:v="urn:schemas-microsoft-com:vml" Requires="v">
                    <p:oleObj name="Equation" r:id="rId11" imgW="457002" imgH="203112" progId="Equation.3">
                      <p:embed/>
                    </p:oleObj>
                  </mc:Choice>
                  <mc:Fallback>
                    <p:oleObj name="Equation" r:id="rId11" imgW="457002" imgH="203112" progId="Equation.3">
                      <p:embed/>
                      <p:pic>
                        <p:nvPicPr>
                          <p:cNvPr id="460812"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59" y="1713"/>
                            <a:ext cx="262" cy="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13" name="Object 14"/>
              <p:cNvGraphicFramePr>
                <a:graphicFrameLocks noChangeAspect="1"/>
              </p:cNvGraphicFramePr>
              <p:nvPr/>
            </p:nvGraphicFramePr>
            <p:xfrm>
              <a:off x="3224" y="1697"/>
              <a:ext cx="288" cy="96"/>
            </p:xfrm>
            <a:graphic>
              <a:graphicData uri="http://schemas.openxmlformats.org/presentationml/2006/ole">
                <mc:AlternateContent xmlns:mc="http://schemas.openxmlformats.org/markup-compatibility/2006">
                  <mc:Choice xmlns:v="urn:schemas-microsoft-com:vml" Requires="v">
                    <p:oleObj name="Equation" r:id="rId13" imgW="469696" imgH="203112" progId="Equation.3">
                      <p:embed/>
                    </p:oleObj>
                  </mc:Choice>
                  <mc:Fallback>
                    <p:oleObj name="Equation" r:id="rId13" imgW="469696" imgH="203112" progId="Equation.3">
                      <p:embed/>
                      <p:pic>
                        <p:nvPicPr>
                          <p:cNvPr id="460813"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24" y="1697"/>
                            <a:ext cx="288" cy="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14" name="Object 15"/>
              <p:cNvGraphicFramePr>
                <a:graphicFrameLocks noChangeAspect="1"/>
              </p:cNvGraphicFramePr>
              <p:nvPr/>
            </p:nvGraphicFramePr>
            <p:xfrm>
              <a:off x="3523" y="1693"/>
              <a:ext cx="280" cy="96"/>
            </p:xfrm>
            <a:graphic>
              <a:graphicData uri="http://schemas.openxmlformats.org/presentationml/2006/ole">
                <mc:AlternateContent xmlns:mc="http://schemas.openxmlformats.org/markup-compatibility/2006">
                  <mc:Choice xmlns:v="urn:schemas-microsoft-com:vml" Requires="v">
                    <p:oleObj name="Equation" r:id="rId15" imgW="457002" imgH="203112" progId="Equation.3">
                      <p:embed/>
                    </p:oleObj>
                  </mc:Choice>
                  <mc:Fallback>
                    <p:oleObj name="Equation" r:id="rId15" imgW="457002" imgH="203112" progId="Equation.3">
                      <p:embed/>
                      <p:pic>
                        <p:nvPicPr>
                          <p:cNvPr id="460814" name="Object 1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23" y="1693"/>
                            <a:ext cx="280" cy="9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15" name="Line 16"/>
              <p:cNvSpPr>
                <a:spLocks noChangeShapeType="1"/>
              </p:cNvSpPr>
              <p:nvPr/>
            </p:nvSpPr>
            <p:spPr bwMode="auto">
              <a:xfrm flipV="1">
                <a:off x="2049" y="1477"/>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6" name="Line 17"/>
              <p:cNvSpPr>
                <a:spLocks noChangeShapeType="1"/>
              </p:cNvSpPr>
              <p:nvPr/>
            </p:nvSpPr>
            <p:spPr bwMode="auto">
              <a:xfrm flipV="1">
                <a:off x="3353" y="1468"/>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7" name="Line 18"/>
              <p:cNvSpPr>
                <a:spLocks noChangeShapeType="1"/>
              </p:cNvSpPr>
              <p:nvPr/>
            </p:nvSpPr>
            <p:spPr bwMode="auto">
              <a:xfrm>
                <a:off x="1769" y="1599"/>
                <a:ext cx="0" cy="47"/>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18" name="Line 19"/>
              <p:cNvSpPr>
                <a:spLocks noChangeShapeType="1"/>
              </p:cNvSpPr>
              <p:nvPr/>
            </p:nvSpPr>
            <p:spPr bwMode="auto">
              <a:xfrm>
                <a:off x="3633" y="1595"/>
                <a:ext cx="0" cy="46"/>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pic>
            <p:nvPicPr>
              <p:cNvPr id="460819" name="Picture 20"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01" y="1888"/>
                <a:ext cx="2688" cy="1427"/>
              </a:xfrm>
              <a:prstGeom prst="rect">
                <a:avLst/>
              </a:prstGeom>
              <a:noFill/>
              <a:ln w="9525">
                <a:solidFill>
                  <a:schemeClr val="bg1"/>
                </a:solidFill>
                <a:miter lim="800000"/>
                <a:headEnd/>
                <a:tailEnd/>
              </a:ln>
            </p:spPr>
          </p:pic>
          <p:sp>
            <p:nvSpPr>
              <p:cNvPr id="460820" name="Line 21"/>
              <p:cNvSpPr>
                <a:spLocks noChangeShapeType="1"/>
              </p:cNvSpPr>
              <p:nvPr/>
            </p:nvSpPr>
            <p:spPr bwMode="auto">
              <a:xfrm>
                <a:off x="2714" y="1948"/>
                <a:ext cx="0" cy="1311"/>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21" name="Object 22"/>
              <p:cNvGraphicFramePr>
                <a:graphicFrameLocks noChangeAspect="1"/>
              </p:cNvGraphicFramePr>
              <p:nvPr/>
            </p:nvGraphicFramePr>
            <p:xfrm>
              <a:off x="2682" y="3346"/>
              <a:ext cx="78" cy="84"/>
            </p:xfrm>
            <a:graphic>
              <a:graphicData uri="http://schemas.openxmlformats.org/presentationml/2006/ole">
                <mc:AlternateContent xmlns:mc="http://schemas.openxmlformats.org/markup-compatibility/2006">
                  <mc:Choice xmlns:v="urn:schemas-microsoft-com:vml" Requires="v">
                    <p:oleObj name="Equation" r:id="rId17" imgW="126725" imgH="177415" progId="Equation.3">
                      <p:embed/>
                    </p:oleObj>
                  </mc:Choice>
                  <mc:Fallback>
                    <p:oleObj name="Equation" r:id="rId17" imgW="126725" imgH="177415" progId="Equation.3">
                      <p:embed/>
                      <p:pic>
                        <p:nvPicPr>
                          <p:cNvPr id="460821" name="Object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82" y="3346"/>
                            <a:ext cx="78"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2" name="Object 23"/>
              <p:cNvGraphicFramePr>
                <a:graphicFrameLocks noChangeAspect="1"/>
              </p:cNvGraphicFramePr>
              <p:nvPr/>
            </p:nvGraphicFramePr>
            <p:xfrm>
              <a:off x="2959" y="3343"/>
              <a:ext cx="125" cy="78"/>
            </p:xfrm>
            <a:graphic>
              <a:graphicData uri="http://schemas.openxmlformats.org/presentationml/2006/ole">
                <mc:AlternateContent xmlns:mc="http://schemas.openxmlformats.org/markup-compatibility/2006">
                  <mc:Choice xmlns:v="urn:schemas-microsoft-com:vml" Requires="v">
                    <p:oleObj name="Equation" r:id="rId19" imgW="203024" imgH="164957" progId="Equation.3">
                      <p:embed/>
                    </p:oleObj>
                  </mc:Choice>
                  <mc:Fallback>
                    <p:oleObj name="Equation" r:id="rId19" imgW="203024" imgH="164957" progId="Equation.3">
                      <p:embed/>
                      <p:pic>
                        <p:nvPicPr>
                          <p:cNvPr id="460822" name="Object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59" y="3343"/>
                            <a:ext cx="125"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3" name="Object 24"/>
              <p:cNvGraphicFramePr>
                <a:graphicFrameLocks noChangeAspect="1"/>
              </p:cNvGraphicFramePr>
              <p:nvPr/>
            </p:nvGraphicFramePr>
            <p:xfrm>
              <a:off x="2303" y="3340"/>
              <a:ext cx="117" cy="73"/>
            </p:xfrm>
            <a:graphic>
              <a:graphicData uri="http://schemas.openxmlformats.org/presentationml/2006/ole">
                <mc:AlternateContent xmlns:mc="http://schemas.openxmlformats.org/markup-compatibility/2006">
                  <mc:Choice xmlns:v="urn:schemas-microsoft-com:vml" Requires="v">
                    <p:oleObj name="Equation" r:id="rId21" imgW="203024" imgH="164957" progId="Equation.3">
                      <p:embed/>
                    </p:oleObj>
                  </mc:Choice>
                  <mc:Fallback>
                    <p:oleObj name="Equation" r:id="rId21" imgW="203024" imgH="164957" progId="Equation.3">
                      <p:embed/>
                      <p:pic>
                        <p:nvPicPr>
                          <p:cNvPr id="460823" name="Object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303" y="3340"/>
                            <a:ext cx="117" cy="7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24" name="Line 25"/>
              <p:cNvSpPr>
                <a:spLocks noChangeShapeType="1"/>
              </p:cNvSpPr>
              <p:nvPr/>
            </p:nvSpPr>
            <p:spPr bwMode="auto">
              <a:xfrm flipV="1">
                <a:off x="2398" y="2548"/>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25" name="Line 26"/>
              <p:cNvSpPr>
                <a:spLocks noChangeShapeType="1"/>
              </p:cNvSpPr>
              <p:nvPr/>
            </p:nvSpPr>
            <p:spPr bwMode="auto">
              <a:xfrm flipV="1">
                <a:off x="3050" y="2548"/>
                <a:ext cx="0" cy="72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460826" name="Object 27"/>
              <p:cNvGraphicFramePr>
                <a:graphicFrameLocks noChangeAspect="1"/>
              </p:cNvGraphicFramePr>
              <p:nvPr/>
            </p:nvGraphicFramePr>
            <p:xfrm>
              <a:off x="2004" y="3338"/>
              <a:ext cx="131" cy="74"/>
            </p:xfrm>
            <a:graphic>
              <a:graphicData uri="http://schemas.openxmlformats.org/presentationml/2006/ole">
                <mc:AlternateContent xmlns:mc="http://schemas.openxmlformats.org/markup-compatibility/2006">
                  <mc:Choice xmlns:v="urn:schemas-microsoft-com:vml" Requires="v">
                    <p:oleObj name="Equation" r:id="rId23" imgW="228501" imgH="165028" progId="Equation.3">
                      <p:embed/>
                    </p:oleObj>
                  </mc:Choice>
                  <mc:Fallback>
                    <p:oleObj name="Equation" r:id="rId23" imgW="228501" imgH="165028" progId="Equation.3">
                      <p:embed/>
                      <p:pic>
                        <p:nvPicPr>
                          <p:cNvPr id="460826" name="Object 2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004" y="3338"/>
                            <a:ext cx="131" cy="7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7" name="Object 28"/>
              <p:cNvGraphicFramePr>
                <a:graphicFrameLocks noChangeAspect="1"/>
              </p:cNvGraphicFramePr>
              <p:nvPr/>
            </p:nvGraphicFramePr>
            <p:xfrm>
              <a:off x="1699" y="3346"/>
              <a:ext cx="131" cy="78"/>
            </p:xfrm>
            <a:graphic>
              <a:graphicData uri="http://schemas.openxmlformats.org/presentationml/2006/ole">
                <mc:AlternateContent xmlns:mc="http://schemas.openxmlformats.org/markup-compatibility/2006">
                  <mc:Choice xmlns:v="urn:schemas-microsoft-com:vml" Requires="v">
                    <p:oleObj name="Equation" r:id="rId25" imgW="228402" imgH="177646" progId="Equation.3">
                      <p:embed/>
                    </p:oleObj>
                  </mc:Choice>
                  <mc:Fallback>
                    <p:oleObj name="Equation" r:id="rId25" imgW="228402" imgH="177646" progId="Equation.3">
                      <p:embed/>
                      <p:pic>
                        <p:nvPicPr>
                          <p:cNvPr id="460827" name="Object 2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699" y="3346"/>
                            <a:ext cx="131"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8" name="Object 29"/>
              <p:cNvGraphicFramePr>
                <a:graphicFrameLocks noChangeAspect="1"/>
              </p:cNvGraphicFramePr>
              <p:nvPr/>
            </p:nvGraphicFramePr>
            <p:xfrm>
              <a:off x="3314" y="3333"/>
              <a:ext cx="148" cy="78"/>
            </p:xfrm>
            <a:graphic>
              <a:graphicData uri="http://schemas.openxmlformats.org/presentationml/2006/ole">
                <mc:AlternateContent xmlns:mc="http://schemas.openxmlformats.org/markup-compatibility/2006">
                  <mc:Choice xmlns:v="urn:schemas-microsoft-com:vml" Requires="v">
                    <p:oleObj name="Equation" r:id="rId27" imgW="241091" imgH="164957" progId="Equation.3">
                      <p:embed/>
                    </p:oleObj>
                  </mc:Choice>
                  <mc:Fallback>
                    <p:oleObj name="Equation" r:id="rId27" imgW="241091" imgH="164957" progId="Equation.3">
                      <p:embed/>
                      <p:pic>
                        <p:nvPicPr>
                          <p:cNvPr id="460828" name="Object 29"/>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14" y="3333"/>
                            <a:ext cx="148" cy="7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29" name="Object 30"/>
              <p:cNvGraphicFramePr>
                <a:graphicFrameLocks noChangeAspect="1"/>
              </p:cNvGraphicFramePr>
              <p:nvPr/>
            </p:nvGraphicFramePr>
            <p:xfrm>
              <a:off x="3613" y="3326"/>
              <a:ext cx="140" cy="84"/>
            </p:xfrm>
            <a:graphic>
              <a:graphicData uri="http://schemas.openxmlformats.org/presentationml/2006/ole">
                <mc:AlternateContent xmlns:mc="http://schemas.openxmlformats.org/markup-compatibility/2006">
                  <mc:Choice xmlns:v="urn:schemas-microsoft-com:vml" Requires="v">
                    <p:oleObj name="Equation" r:id="rId29" imgW="228402" imgH="177646" progId="Equation.3">
                      <p:embed/>
                    </p:oleObj>
                  </mc:Choice>
                  <mc:Fallback>
                    <p:oleObj name="Equation" r:id="rId29" imgW="228402" imgH="177646" progId="Equation.3">
                      <p:embed/>
                      <p:pic>
                        <p:nvPicPr>
                          <p:cNvPr id="460829" name="Object 30"/>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613" y="3326"/>
                            <a:ext cx="140" cy="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30" name="Line 31"/>
              <p:cNvSpPr>
                <a:spLocks noChangeShapeType="1"/>
              </p:cNvSpPr>
              <p:nvPr/>
            </p:nvSpPr>
            <p:spPr bwMode="auto">
              <a:xfrm flipV="1">
                <a:off x="2069" y="3104"/>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1" name="Line 32"/>
              <p:cNvSpPr>
                <a:spLocks noChangeShapeType="1"/>
              </p:cNvSpPr>
              <p:nvPr/>
            </p:nvSpPr>
            <p:spPr bwMode="auto">
              <a:xfrm flipV="1">
                <a:off x="3373" y="3095"/>
                <a:ext cx="0" cy="164"/>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2" name="Line 33"/>
              <p:cNvSpPr>
                <a:spLocks noChangeShapeType="1"/>
              </p:cNvSpPr>
              <p:nvPr/>
            </p:nvSpPr>
            <p:spPr bwMode="auto">
              <a:xfrm>
                <a:off x="1789" y="3226"/>
                <a:ext cx="0" cy="47"/>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3" name="Line 34"/>
              <p:cNvSpPr>
                <a:spLocks noChangeShapeType="1"/>
              </p:cNvSpPr>
              <p:nvPr/>
            </p:nvSpPr>
            <p:spPr bwMode="auto">
              <a:xfrm>
                <a:off x="3653" y="3222"/>
                <a:ext cx="0" cy="46"/>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0834" name="Line 35"/>
              <p:cNvSpPr>
                <a:spLocks noChangeShapeType="1"/>
              </p:cNvSpPr>
              <p:nvPr/>
            </p:nvSpPr>
            <p:spPr bwMode="auto">
              <a:xfrm>
                <a:off x="1782" y="1834"/>
                <a:ext cx="0" cy="1179"/>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5" name="Line 36"/>
              <p:cNvSpPr>
                <a:spLocks noChangeShapeType="1"/>
              </p:cNvSpPr>
              <p:nvPr/>
            </p:nvSpPr>
            <p:spPr bwMode="auto">
              <a:xfrm>
                <a:off x="2054" y="1842"/>
                <a:ext cx="0" cy="953"/>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6" name="Line 37"/>
              <p:cNvSpPr>
                <a:spLocks noChangeShapeType="1"/>
              </p:cNvSpPr>
              <p:nvPr/>
            </p:nvSpPr>
            <p:spPr bwMode="auto">
              <a:xfrm>
                <a:off x="2381" y="1797"/>
                <a:ext cx="0" cy="454"/>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7" name="Line 38"/>
              <p:cNvSpPr>
                <a:spLocks noChangeShapeType="1"/>
              </p:cNvSpPr>
              <p:nvPr/>
            </p:nvSpPr>
            <p:spPr bwMode="auto">
              <a:xfrm flipH="1">
                <a:off x="3651" y="1842"/>
                <a:ext cx="0" cy="1179"/>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8" name="Line 39"/>
              <p:cNvSpPr>
                <a:spLocks noChangeShapeType="1"/>
              </p:cNvSpPr>
              <p:nvPr/>
            </p:nvSpPr>
            <p:spPr bwMode="auto">
              <a:xfrm flipH="1">
                <a:off x="3378" y="1842"/>
                <a:ext cx="0" cy="953"/>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sp>
            <p:nvSpPr>
              <p:cNvPr id="460839" name="Line 40"/>
              <p:cNvSpPr>
                <a:spLocks noChangeShapeType="1"/>
              </p:cNvSpPr>
              <p:nvPr/>
            </p:nvSpPr>
            <p:spPr bwMode="auto">
              <a:xfrm flipH="1">
                <a:off x="3043" y="1816"/>
                <a:ext cx="0" cy="454"/>
              </a:xfrm>
              <a:prstGeom prst="line">
                <a:avLst/>
              </a:prstGeom>
              <a:noFill/>
              <a:ln w="9525">
                <a:solidFill>
                  <a:schemeClr val="tx2"/>
                </a:solidFill>
                <a:round/>
                <a:headEnd/>
                <a:tailEnd type="triangle" w="med" len="med"/>
              </a:ln>
            </p:spPr>
            <p:txBody>
              <a:bodyPr vert="horz" wrap="none" lIns="91440" tIns="45720" rIns="91440" bIns="45720" numCol="1" anchor="ctr" anchorCtr="0" compatLnSpc="1">
                <a:prstTxWarp prst="textNoShape">
                  <a:avLst/>
                </a:prstTxWarp>
              </a:bodyPr>
              <a:lstStyle/>
              <a:p>
                <a:endParaRPr lang="ko-KR" altLang="en-US" dirty="0"/>
              </a:p>
            </p:txBody>
          </p:sp>
        </p:grpSp>
        <p:graphicFrame>
          <p:nvGraphicFramePr>
            <p:cNvPr id="460840" name="Object 41"/>
            <p:cNvGraphicFramePr>
              <a:graphicFrameLocks noChangeAspect="1"/>
            </p:cNvGraphicFramePr>
            <p:nvPr/>
          </p:nvGraphicFramePr>
          <p:xfrm>
            <a:off x="2971" y="436"/>
            <a:ext cx="384" cy="144"/>
          </p:xfrm>
          <a:graphic>
            <a:graphicData uri="http://schemas.openxmlformats.org/presentationml/2006/ole">
              <mc:AlternateContent xmlns:mc="http://schemas.openxmlformats.org/markup-compatibility/2006">
                <mc:Choice xmlns:v="urn:schemas-microsoft-com:vml" Requires="v">
                  <p:oleObj name="Equation" r:id="rId31" imgW="609600" imgH="228600" progId="Equation.3">
                    <p:embed/>
                  </p:oleObj>
                </mc:Choice>
                <mc:Fallback>
                  <p:oleObj name="Equation" r:id="rId31" imgW="609600" imgH="228600" progId="Equation.3">
                    <p:embed/>
                    <p:pic>
                      <p:nvPicPr>
                        <p:cNvPr id="460840" name="Object 4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2971" y="436"/>
                          <a:ext cx="384" cy="14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60841" name="Object 42"/>
            <p:cNvGraphicFramePr>
              <a:graphicFrameLocks noChangeAspect="1"/>
            </p:cNvGraphicFramePr>
            <p:nvPr/>
          </p:nvGraphicFramePr>
          <p:xfrm>
            <a:off x="3008" y="1979"/>
            <a:ext cx="280" cy="128"/>
          </p:xfrm>
          <a:graphic>
            <a:graphicData uri="http://schemas.openxmlformats.org/presentationml/2006/ole">
              <mc:AlternateContent xmlns:mc="http://schemas.openxmlformats.org/markup-compatibility/2006">
                <mc:Choice xmlns:v="urn:schemas-microsoft-com:vml" Requires="v">
                  <p:oleObj name="Equation" r:id="rId33" imgW="444307" imgH="203112" progId="Equation.3">
                    <p:embed/>
                  </p:oleObj>
                </mc:Choice>
                <mc:Fallback>
                  <p:oleObj name="Equation" r:id="rId33" imgW="444307" imgH="203112" progId="Equation.3">
                    <p:embed/>
                    <p:pic>
                      <p:nvPicPr>
                        <p:cNvPr id="460841" name="Object 42"/>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008" y="1979"/>
                          <a:ext cx="280" cy="128"/>
                        </a:xfrm>
                        <a:prstGeom prst="rect">
                          <a:avLst/>
                        </a:prstGeom>
                        <a:solidFill>
                          <a:schemeClr val="bg1"/>
                        </a:solidFill>
                      </p:spPr>
                    </p:pic>
                  </p:oleObj>
                </mc:Fallback>
              </mc:AlternateContent>
            </a:graphicData>
          </a:graphic>
        </p:graphicFrame>
      </p:grpSp>
      <p:sp>
        <p:nvSpPr>
          <p:cNvPr id="460842" name="Text Box 43"/>
          <p:cNvSpPr txBox="1">
            <a:spLocks noChangeArrowheads="1"/>
          </p:cNvSpPr>
          <p:nvPr/>
        </p:nvSpPr>
        <p:spPr bwMode="auto">
          <a:xfrm>
            <a:off x="6245696" y="3657570"/>
            <a:ext cx="396866" cy="275144"/>
          </a:xfrm>
          <a:prstGeom prst="rect">
            <a:avLst/>
          </a:prstGeom>
          <a:noFill/>
          <a:ln w="9525" algn="ctr">
            <a:noFill/>
            <a:miter lim="800000"/>
            <a:headEnd/>
            <a:tailEnd/>
          </a:ln>
        </p:spPr>
        <p:txBody>
          <a:bodyPr vert="horz" wrap="squar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굴림" pitchFamily="50" charset="-127"/>
              </a:rPr>
              <a:t>X</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60843" name="Text Box 44"/>
          <p:cNvSpPr txBox="1">
            <a:spLocks noChangeArrowheads="1"/>
          </p:cNvSpPr>
          <p:nvPr/>
        </p:nvSpPr>
        <p:spPr bwMode="auto">
          <a:xfrm>
            <a:off x="6229647" y="5922456"/>
            <a:ext cx="396866" cy="275144"/>
          </a:xfrm>
          <a:prstGeom prst="rect">
            <a:avLst/>
          </a:prstGeom>
          <a:noFill/>
          <a:ln w="9525" algn="ctr">
            <a:noFill/>
            <a:miter lim="800000"/>
            <a:headEnd/>
            <a:tailEnd/>
          </a:ln>
        </p:spPr>
        <p:txBody>
          <a:bodyPr vert="horz" wrap="square" lIns="92075" tIns="46038" rIns="92075" bIns="46038" numCol="1" anchor="t"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굴림" pitchFamily="50" charset="-127"/>
              </a:rPr>
              <a:t>Z</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grpSp>
        <p:nvGrpSpPr>
          <p:cNvPr id="6" name="Group 65"/>
          <p:cNvGrpSpPr>
            <a:grpSpLocks/>
          </p:cNvGrpSpPr>
          <p:nvPr/>
        </p:nvGrpSpPr>
        <p:grpSpPr bwMode="auto">
          <a:xfrm>
            <a:off x="747319" y="2135188"/>
            <a:ext cx="2010508" cy="3941762"/>
            <a:chOff x="489" y="1092"/>
            <a:chExt cx="1372" cy="2483"/>
          </a:xfrm>
        </p:grpSpPr>
        <p:pic>
          <p:nvPicPr>
            <p:cNvPr id="460847" name="Picture 60" descr="UNI00000bc00065"/>
            <p:cNvPicPr>
              <a:picLocks noChangeAspect="1" noChangeArrowheads="1"/>
            </p:cNvPicPr>
            <p:nvPr/>
          </p:nvPicPr>
          <p:blipFill>
            <a:blip r:embed="rId35" cstate="print">
              <a:extLst>
                <a:ext uri="{28A0092B-C50C-407E-A947-70E740481C1C}">
                  <a14:useLocalDpi xmlns:a14="http://schemas.microsoft.com/office/drawing/2010/main" val="0"/>
                </a:ext>
              </a:extLst>
            </a:blip>
            <a:srcRect/>
            <a:stretch>
              <a:fillRect/>
            </a:stretch>
          </p:blipFill>
          <p:spPr bwMode="auto">
            <a:xfrm>
              <a:off x="489" y="1375"/>
              <a:ext cx="1354" cy="908"/>
            </a:xfrm>
            <a:prstGeom prst="rect">
              <a:avLst/>
            </a:prstGeom>
            <a:noFill/>
            <a:ln w="9525">
              <a:noFill/>
              <a:miter lim="800000"/>
              <a:headEnd/>
              <a:tailEnd/>
            </a:ln>
          </p:spPr>
        </p:pic>
        <p:pic>
          <p:nvPicPr>
            <p:cNvPr id="460848" name="Picture 61" descr="UNI00000bc00067"/>
            <p:cNvPicPr>
              <a:picLocks noChangeAspect="1" noChangeArrowheads="1"/>
            </p:cNvPicPr>
            <p:nvPr/>
          </p:nvPicPr>
          <p:blipFill>
            <a:blip r:embed="rId36" cstate="print">
              <a:extLst>
                <a:ext uri="{28A0092B-C50C-407E-A947-70E740481C1C}">
                  <a14:useLocalDpi xmlns:a14="http://schemas.microsoft.com/office/drawing/2010/main" val="0"/>
                </a:ext>
              </a:extLst>
            </a:blip>
            <a:srcRect/>
            <a:stretch>
              <a:fillRect/>
            </a:stretch>
          </p:blipFill>
          <p:spPr bwMode="auto">
            <a:xfrm>
              <a:off x="535" y="2624"/>
              <a:ext cx="1326" cy="889"/>
            </a:xfrm>
            <a:prstGeom prst="rect">
              <a:avLst/>
            </a:prstGeom>
            <a:noFill/>
            <a:ln w="9525">
              <a:noFill/>
              <a:miter lim="800000"/>
              <a:headEnd/>
              <a:tailEnd/>
            </a:ln>
          </p:spPr>
        </p:pic>
        <p:sp>
          <p:nvSpPr>
            <p:cNvPr id="460849" name="Text Box 62"/>
            <p:cNvSpPr txBox="1">
              <a:spLocks noChangeArrowheads="1"/>
            </p:cNvSpPr>
            <p:nvPr/>
          </p:nvSpPr>
          <p:spPr bwMode="auto">
            <a:xfrm>
              <a:off x="580" y="1162"/>
              <a:ext cx="1043" cy="173"/>
            </a:xfrm>
            <a:prstGeom prst="rect">
              <a:avLst/>
            </a:prstGeom>
            <a:noFill/>
            <a:ln w="12700" algn="ctr">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FF"/>
                  </a:solidFill>
                  <a:effectLst/>
                  <a:latin typeface="Arial" pitchFamily="34" charset="0"/>
                  <a:ea typeface="굴림" pitchFamily="50" charset="-127"/>
                </a:rPr>
                <a:t>Change Location</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60850" name="Text Box 63"/>
            <p:cNvSpPr txBox="1">
              <a:spLocks noChangeArrowheads="1"/>
            </p:cNvSpPr>
            <p:nvPr/>
          </p:nvSpPr>
          <p:spPr bwMode="auto">
            <a:xfrm>
              <a:off x="625" y="2387"/>
              <a:ext cx="1043" cy="173"/>
            </a:xfrm>
            <a:prstGeom prst="rect">
              <a:avLst/>
            </a:prstGeom>
            <a:noFill/>
            <a:ln w="12700" algn="ctr">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b="0" i="0" u="none" strike="noStrike" cap="none" normalizeH="0" baseline="0" dirty="0">
                  <a:ln>
                    <a:noFill/>
                  </a:ln>
                  <a:solidFill>
                    <a:srgbClr val="0000FF"/>
                  </a:solidFill>
                  <a:effectLst/>
                  <a:latin typeface="Arial" pitchFamily="34" charset="0"/>
                  <a:ea typeface="굴림" pitchFamily="50" charset="-127"/>
                </a:rPr>
                <a:t>Change Scale</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460851" name="Rectangle 64"/>
            <p:cNvSpPr>
              <a:spLocks noChangeArrowheads="1"/>
            </p:cNvSpPr>
            <p:nvPr/>
          </p:nvSpPr>
          <p:spPr bwMode="auto">
            <a:xfrm>
              <a:off x="535" y="1092"/>
              <a:ext cx="1308" cy="2483"/>
            </a:xfrm>
            <a:prstGeom prst="rect">
              <a:avLst/>
            </a:prstGeom>
            <a:noFill/>
            <a:ln w="12700" algn="ctr">
              <a:solidFill>
                <a:srgbClr val="0000FF"/>
              </a:solidFill>
              <a:miter lim="800000"/>
              <a:headEnd/>
              <a:tailEnd/>
            </a:ln>
          </p:spPr>
          <p:txBody>
            <a:bodyPr vert="horz" wrap="none" lIns="91440" tIns="45720" rIns="91440" bIns="45720" numCol="1" anchor="ctr" anchorCtr="0" compatLnSpc="1">
              <a:prstTxWarp prst="textNoShape">
                <a:avLst/>
              </a:prstTxWarp>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grpSp>
      <p:pic>
        <p:nvPicPr>
          <p:cNvPr id="460852" name="Picture 66"/>
          <p:cNvPicPr>
            <a:picLocks noChangeAspect="1" noChangeArrowheads="1"/>
          </p:cNvPicPr>
          <p:nvPr/>
        </p:nvPicPr>
        <p:blipFill>
          <a:blip r:embed="rId37" cstate="print">
            <a:extLst>
              <a:ext uri="{28A0092B-C50C-407E-A947-70E740481C1C}">
                <a14:useLocalDpi xmlns:a14="http://schemas.microsoft.com/office/drawing/2010/main" val="0"/>
              </a:ext>
            </a:extLst>
          </a:blip>
          <a:srcRect/>
          <a:stretch>
            <a:fillRect/>
          </a:stretch>
        </p:blipFill>
        <p:spPr bwMode="auto">
          <a:xfrm>
            <a:off x="6765475" y="1844824"/>
            <a:ext cx="2124808" cy="982662"/>
          </a:xfrm>
          <a:prstGeom prst="rect">
            <a:avLst/>
          </a:prstGeom>
          <a:noFill/>
          <a:ln w="12700" algn="ctr">
            <a:noFill/>
            <a:miter lim="800000"/>
            <a:headEnd/>
            <a:tailEnd/>
          </a:ln>
        </p:spPr>
      </p:pic>
      <p:sp>
        <p:nvSpPr>
          <p:cNvPr id="4" name="TextBox 3"/>
          <p:cNvSpPr txBox="1"/>
          <p:nvPr/>
        </p:nvSpPr>
        <p:spPr>
          <a:xfrm>
            <a:off x="650631" y="1039814"/>
            <a:ext cx="8108911" cy="830997"/>
          </a:xfrm>
          <a:prstGeom prst="rect">
            <a:avLst/>
          </a:prstGeom>
          <a:noFill/>
        </p:spPr>
        <p:txBody>
          <a:bodyPr vert="horz" wrap="square" lIns="91440" tIns="45720" rIns="91440" bIns="45720" numCol="1" anchor="t" anchorCtr="0" compatLnSpc="1">
            <a:prstTxWarp prst="textNoShape">
              <a:avLst/>
            </a:prstTxWarp>
            <a:spAutoFit/>
          </a:bodyPr>
          <a:lstStyle/>
          <a:p>
            <a:pPr marL="285750" marR="0" lvl="0" indent="-285750" algn="l" defTabSz="914400" rtl="0" eaLnBrk="1" fontAlgn="base" latinLnBrk="1" hangingPunct="1">
              <a:lnSpc>
                <a:spcPct val="100000"/>
              </a:lnSpc>
              <a:spcBef>
                <a:spcPct val="0"/>
              </a:spcBef>
              <a:spcAft>
                <a:spcPct val="0"/>
              </a:spcAft>
              <a:buClrTx/>
              <a:buSzTx/>
              <a:buFontTx/>
              <a:buChar char="-"/>
              <a:tabLst/>
            </a:pPr>
            <a:r>
              <a:rPr kumimoji="1" lang="en-US" altLang="ko-KR" sz="1600" b="1" i="0" u="none" strike="noStrike" cap="none" normalizeH="0" baseline="0" dirty="0" err="1">
                <a:ln>
                  <a:noFill/>
                </a:ln>
                <a:solidFill>
                  <a:schemeClr val="tx1"/>
                </a:solidFill>
                <a:effectLst/>
                <a:latin typeface="맑은 고딕" pitchFamily="50" charset="-127"/>
                <a:ea typeface="맑은 고딕" pitchFamily="50" charset="-127"/>
              </a:rPr>
              <a:t>Phân</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bổ</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chính</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quy</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tiêu</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chuẩn</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kumimoji="1" lang="en-US" altLang="ko-KR" sz="1600" b="1" i="0" u="none" strike="noStrike" cap="none" normalizeH="0" dirty="0" err="1">
                <a:ln>
                  <a:noFill/>
                </a:ln>
                <a:solidFill>
                  <a:schemeClr val="tx1"/>
                </a:solidFill>
                <a:effectLst/>
                <a:latin typeface="맑은 고딕" pitchFamily="50" charset="-127"/>
                <a:ea typeface="맑은 고딕" pitchFamily="50" charset="-127"/>
              </a:rPr>
              <a:t>là</a:t>
            </a:r>
            <a:r>
              <a:rPr kumimoji="1" lang="en-US" altLang="ko-KR" sz="1600" b="1" i="0" u="none" strike="noStrike" cap="none" normalizeH="0" dirty="0">
                <a:ln>
                  <a:noFill/>
                </a:ln>
                <a:solidFill>
                  <a:schemeClr val="tx1"/>
                </a:solidFill>
                <a:effectLst/>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phân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bổ</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chính</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quy</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với</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bình</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quân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bằng</a:t>
            </a:r>
            <a:r>
              <a:rPr lang="en-US" altLang="ko-KR" sz="1600" b="1" dirty="0">
                <a:latin typeface="맑은 고딕" pitchFamily="50" charset="-127"/>
                <a:ea typeface="맑은 고딕" pitchFamily="50" charset="-127"/>
              </a:rPr>
              <a:t> 0 </a:t>
            </a:r>
            <a:r>
              <a:rPr lang="en-US" altLang="ko-KR" sz="1600" b="1" dirty="0" err="1">
                <a:latin typeface="맑은 고딕" pitchFamily="50" charset="-127"/>
                <a:ea typeface="맑은 고딕" pitchFamily="50" charset="-127"/>
              </a:rPr>
              <a:t>và</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phân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tán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được</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phân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bổ</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tiêu</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chuẩn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hóa</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từ</a:t>
            </a:r>
            <a:r>
              <a:rPr lang="en-US" altLang="ko-KR" sz="1600" b="1" dirty="0">
                <a:latin typeface="맑은 고딕" pitchFamily="50" charset="-127"/>
                <a:ea typeface="맑은 고딕" pitchFamily="50" charset="-127"/>
              </a:rPr>
              <a:t> 1</a:t>
            </a:r>
            <a:endParaRPr kumimoji="1" lang="en-US" altLang="ko-KR" sz="1600" b="1" i="0" u="none" strike="noStrike" cap="none" normalizeH="0" baseline="0" dirty="0">
              <a:ln>
                <a:noFill/>
              </a:ln>
              <a:solidFill>
                <a:schemeClr val="tx1"/>
              </a:solidFill>
              <a:effectLst/>
              <a:latin typeface="맑은 고딕" pitchFamily="50" charset="-127"/>
              <a:ea typeface="맑은 고딕" pitchFamily="50" charset="-127"/>
            </a:endParaRPr>
          </a:p>
          <a:p>
            <a:pPr marL="285750" marR="0" lvl="0" indent="-285750" algn="l" defTabSz="914400" rtl="0" eaLnBrk="1" fontAlgn="base" latinLnBrk="1" hangingPunct="1">
              <a:lnSpc>
                <a:spcPct val="100000"/>
              </a:lnSpc>
              <a:spcBef>
                <a:spcPct val="0"/>
              </a:spcBef>
              <a:spcAft>
                <a:spcPct val="0"/>
              </a:spcAft>
              <a:buClrTx/>
              <a:buSzTx/>
              <a:buFontTx/>
              <a:buChar char="-"/>
              <a:tabLst/>
            </a:pPr>
            <a:r>
              <a:rPr lang="en-US" altLang="ko-KR" sz="1600" b="1" dirty="0" err="1">
                <a:latin typeface="맑은 고딕" pitchFamily="50" charset="-127"/>
                <a:ea typeface="맑은 고딕" pitchFamily="50" charset="-127"/>
              </a:rPr>
              <a:t>Nếu</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diện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tích</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toàn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thể</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là</a:t>
            </a:r>
            <a:r>
              <a:rPr lang="en-US" altLang="ko-KR" sz="1600" b="1" dirty="0">
                <a:latin typeface="맑은 고딕" pitchFamily="50" charset="-127"/>
                <a:ea typeface="맑은 고딕" pitchFamily="50" charset="-127"/>
              </a:rPr>
              <a:t> 1, </a:t>
            </a:r>
            <a:r>
              <a:rPr lang="en-US" altLang="ko-KR" sz="1600" b="1" dirty="0" err="1">
                <a:latin typeface="맑은 고딕" pitchFamily="50" charset="-127"/>
                <a:ea typeface="맑은 고딕" pitchFamily="50" charset="-127"/>
              </a:rPr>
              <a:t>Bình</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quân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là</a:t>
            </a:r>
            <a:r>
              <a:rPr lang="en-US" altLang="ko-KR" sz="1600" b="1" dirty="0">
                <a:latin typeface="맑은 고딕" pitchFamily="50" charset="-127"/>
                <a:ea typeface="맑은 고딕" pitchFamily="50" charset="-127"/>
              </a:rPr>
              <a:t> 0</a:t>
            </a:r>
            <a:r>
              <a:rPr lang="ko-KR" altLang="en-US"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Độ</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lệch</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tiêu</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chuẩn</a:t>
            </a:r>
            <a:r>
              <a:rPr lang="en-US" altLang="ko-KR" sz="1600" b="1" dirty="0">
                <a:latin typeface="맑은 고딕" pitchFamily="50" charset="-127"/>
                <a:ea typeface="맑은 고딕" pitchFamily="50" charset="-127"/>
              </a:rPr>
              <a:t> </a:t>
            </a:r>
            <a:r>
              <a:rPr lang="en-US" altLang="ko-KR" sz="1600" b="1" dirty="0" err="1">
                <a:latin typeface="맑은 고딕" pitchFamily="50" charset="-127"/>
                <a:ea typeface="맑은 고딕" pitchFamily="50" charset="-127"/>
              </a:rPr>
              <a:t>là</a:t>
            </a:r>
            <a:r>
              <a:rPr lang="ko-KR" altLang="en-US" sz="1600" b="1" dirty="0">
                <a:latin typeface="맑은 고딕" pitchFamily="50" charset="-127"/>
                <a:ea typeface="맑은 고딕" pitchFamily="50" charset="-127"/>
              </a:rPr>
              <a:t> </a:t>
            </a:r>
            <a:r>
              <a:rPr lang="en-US" altLang="ko-KR" sz="1600" b="1" dirty="0">
                <a:latin typeface="맑은 고딕" pitchFamily="50" charset="-127"/>
                <a:ea typeface="맑은 고딕" pitchFamily="50" charset="-127"/>
              </a:rPr>
              <a:t>1 </a:t>
            </a:r>
            <a:endParaRPr kumimoji="1" lang="ko-KR" alt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2" name="제목 1"/>
          <p:cNvSpPr txBox="1">
            <a:spLocks/>
          </p:cNvSpPr>
          <p:nvPr/>
        </p:nvSpPr>
        <p:spPr bwMode="auto">
          <a:xfrm>
            <a:off x="118583" y="692697"/>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bổ</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chính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quy</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tiêu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chuẩn</a:t>
            </a:r>
            <a:endParaRPr kumimoji="1" lang="ko-KR" sz="1800" b="0" i="0" u="none" strike="noStrike" cap="none" normalizeH="0" baseline="0" dirty="0">
              <a:ln>
                <a:noFill/>
              </a:ln>
              <a:solidFill>
                <a:schemeClr val="tx1"/>
              </a:solidFill>
              <a:effectLst/>
              <a:latin typeface="굴림" pitchFamily="50" charset="-127"/>
              <a:ea typeface="굴림" pitchFamily="50" charset="-127"/>
            </a:endParaRPr>
          </a:p>
        </p:txBody>
      </p:sp>
      <p:sp>
        <p:nvSpPr>
          <p:cNvPr id="56" name="Rectangle 105"/>
          <p:cNvSpPr>
            <a:spLocks noChangeArrowheads="1"/>
          </p:cNvSpPr>
          <p:nvPr/>
        </p:nvSpPr>
        <p:spPr bwMode="auto">
          <a:xfrm>
            <a:off x="8594482" y="6429376"/>
            <a:ext cx="352661" cy="308419"/>
          </a:xfrm>
          <a:prstGeom prst="rect">
            <a:avLst/>
          </a:prstGeom>
          <a:noFill/>
          <a:ln w="9525">
            <a:noFill/>
            <a:miter lim="800000"/>
            <a:headEnd/>
            <a:tailEnd/>
          </a:ln>
        </p:spPr>
        <p:txBody>
          <a:bodyPr wrap="none" lIns="92075" tIns="46038" rIns="92075" bIns="46038">
            <a:spAutoFit/>
          </a:bodyPr>
          <a:lstStyle/>
          <a:p>
            <a:pPr algn="ctr" defTabSz="762000" latinLnBrk="0"/>
            <a:r>
              <a:rPr lang="en-US" altLang="ko-KR" sz="1400" dirty="0">
                <a:latin typeface="맑은 고딕" pitchFamily="50" charset="-127"/>
                <a:ea typeface="맑은 고딕" pitchFamily="50" charset="-127"/>
              </a:rPr>
              <a:t> </a:t>
            </a:r>
            <a:fld id="{C843D651-2E04-4ED4-876D-8B96CDA14598}" type="slidenum">
              <a:rPr lang="en-US" altLang="ko-KR" sz="1400" b="1">
                <a:solidFill>
                  <a:srgbClr val="FF0066"/>
                </a:solidFill>
                <a:latin typeface="맑은 고딕" pitchFamily="50" charset="-127"/>
                <a:ea typeface="맑은 고딕" pitchFamily="50" charset="-127"/>
              </a:rPr>
              <a:pPr algn="ctr" defTabSz="762000" latinLnBrk="0"/>
              <a:t>178</a:t>
            </a:fld>
            <a:endParaRPr lang="en-US" altLang="ko-KR" sz="1400" b="1" dirty="0">
              <a:solidFill>
                <a:srgbClr val="FF0066"/>
              </a:solidFill>
              <a:latin typeface="맑은 고딕" pitchFamily="50" charset="-127"/>
              <a:ea typeface="맑은 고딕" pitchFamily="50" charset="-127"/>
            </a:endParaRPr>
          </a:p>
        </p:txBody>
      </p:sp>
      <p:sp>
        <p:nvSpPr>
          <p:cNvPr id="54"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3022500456"/>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179</a:t>
            </a:fld>
            <a:endParaRPr lang="ko-KR" altLang="en-US" dirty="0"/>
          </a:p>
        </p:txBody>
      </p:sp>
      <p:sp>
        <p:nvSpPr>
          <p:cNvPr id="3" name="제목 1"/>
          <p:cNvSpPr txBox="1">
            <a:spLocks/>
          </p:cNvSpPr>
          <p:nvPr/>
        </p:nvSpPr>
        <p:spPr bwMode="auto">
          <a:xfrm>
            <a:off x="118583" y="764705"/>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2000" b="1" dirty="0" err="1">
                <a:latin typeface="+mn-ea"/>
                <a:ea typeface="+mn-ea"/>
              </a:rPr>
              <a:t>Hiểu</a:t>
            </a:r>
            <a:r>
              <a:rPr lang="en-US" altLang="ko-KR" sz="2000" b="1" dirty="0">
                <a:latin typeface="+mn-ea"/>
                <a:ea typeface="+mn-ea"/>
              </a:rPr>
              <a:t> </a:t>
            </a:r>
            <a:r>
              <a:rPr lang="en-US" altLang="ko-KR" sz="2000" b="1" dirty="0" err="1">
                <a:latin typeface="+mn-ea"/>
                <a:ea typeface="+mn-ea"/>
              </a:rPr>
              <a:t>về</a:t>
            </a:r>
            <a:r>
              <a:rPr lang="en-US" altLang="ko-KR" sz="2000" b="1" dirty="0">
                <a:latin typeface="+mn-ea"/>
                <a:ea typeface="+mn-ea"/>
              </a:rPr>
              <a:t> </a:t>
            </a:r>
            <a:r>
              <a:rPr lang="en-US" altLang="ko-KR" sz="2000" b="1" dirty="0" err="1">
                <a:latin typeface="+mn-ea"/>
                <a:ea typeface="+mn-ea"/>
              </a:rPr>
              <a:t>phân</a:t>
            </a:r>
            <a:r>
              <a:rPr lang="en-US" altLang="ko-KR" sz="2000" b="1" dirty="0">
                <a:latin typeface="+mn-ea"/>
                <a:ea typeface="+mn-ea"/>
              </a:rPr>
              <a:t> </a:t>
            </a:r>
            <a:r>
              <a:rPr lang="en-US" altLang="ko-KR" sz="2000" b="1" dirty="0" err="1">
                <a:latin typeface="+mn-ea"/>
                <a:ea typeface="+mn-ea"/>
              </a:rPr>
              <a:t>bổ</a:t>
            </a:r>
            <a:r>
              <a:rPr lang="en-US" altLang="ko-KR" sz="2000" b="1" dirty="0">
                <a:latin typeface="+mn-ea"/>
                <a:ea typeface="+mn-ea"/>
              </a:rPr>
              <a:t> </a:t>
            </a:r>
            <a:r>
              <a:rPr lang="en-US" altLang="ko-KR" sz="2000" b="1" dirty="0" err="1">
                <a:latin typeface="+mn-ea"/>
                <a:ea typeface="+mn-ea"/>
              </a:rPr>
              <a:t>chính</a:t>
            </a:r>
            <a:r>
              <a:rPr lang="en-US" altLang="ko-KR" sz="2000" b="1" dirty="0">
                <a:latin typeface="+mn-ea"/>
                <a:ea typeface="+mn-ea"/>
              </a:rPr>
              <a:t> </a:t>
            </a:r>
            <a:r>
              <a:rPr lang="en-US" altLang="ko-KR" sz="2000" b="1" dirty="0" err="1">
                <a:latin typeface="+mn-ea"/>
                <a:ea typeface="+mn-ea"/>
              </a:rPr>
              <a:t>quy</a:t>
            </a:r>
            <a:r>
              <a:rPr lang="en-US" altLang="ko-KR" sz="2000" b="1" dirty="0">
                <a:latin typeface="+mn-ea"/>
                <a:ea typeface="+mn-ea"/>
              </a:rPr>
              <a:t> </a:t>
            </a:r>
            <a:r>
              <a:rPr lang="en-US" altLang="ko-KR" sz="2000" b="1" dirty="0" err="1">
                <a:latin typeface="+mn-ea"/>
                <a:ea typeface="+mn-ea"/>
              </a:rPr>
              <a:t>tiêu</a:t>
            </a:r>
            <a:r>
              <a:rPr lang="en-US" altLang="ko-KR" sz="2000" b="1" dirty="0">
                <a:latin typeface="+mn-ea"/>
                <a:ea typeface="+mn-ea"/>
              </a:rPr>
              <a:t> </a:t>
            </a:r>
            <a:r>
              <a:rPr lang="en-US" altLang="ko-KR" sz="2000" b="1" dirty="0" err="1">
                <a:latin typeface="+mn-ea"/>
                <a:ea typeface="+mn-ea"/>
              </a:rPr>
              <a:t>chuẩn</a:t>
            </a:r>
            <a:endParaRPr kumimoji="1" lang="ko-KR" sz="1800" b="0" i="0" u="none" strike="noStrike" cap="none" normalizeH="0" baseline="0" dirty="0">
              <a:ln>
                <a:noFill/>
              </a:ln>
              <a:solidFill>
                <a:schemeClr val="tx1"/>
              </a:solidFill>
              <a:effectLst/>
              <a:latin typeface="+mn-ea"/>
              <a:ea typeface="+mn-ea"/>
            </a:endParaRPr>
          </a:p>
        </p:txBody>
      </p:sp>
      <p:sp>
        <p:nvSpPr>
          <p:cNvPr id="4" name="TextBox 3"/>
          <p:cNvSpPr txBox="1"/>
          <p:nvPr/>
        </p:nvSpPr>
        <p:spPr>
          <a:xfrm>
            <a:off x="517396" y="1296284"/>
            <a:ext cx="7643926" cy="1692771"/>
          </a:xfrm>
          <a:prstGeom prst="rect">
            <a:avLst/>
          </a:prstGeom>
          <a:noFill/>
        </p:spPr>
        <p:txBody>
          <a:bodyPr wrap="square" rtlCol="0">
            <a:spAutoFit/>
          </a:bodyPr>
          <a:lstStyle/>
          <a:p>
            <a:pPr>
              <a:lnSpc>
                <a:spcPct val="130000"/>
              </a:lnSpc>
              <a:buClr>
                <a:srgbClr val="C5003D"/>
              </a:buClr>
            </a:pPr>
            <a:r>
              <a:rPr lang="en-US" altLang="ko-KR" sz="1600" b="1" dirty="0"/>
              <a:t>Case 2   </a:t>
            </a:r>
            <a:r>
              <a:rPr lang="en-US" altLang="ko-KR" sz="1600" b="1" dirty="0" err="1"/>
              <a:t>Trong</a:t>
            </a:r>
            <a:r>
              <a:rPr lang="en-US" altLang="ko-KR" sz="1600" b="1" dirty="0"/>
              <a:t> data </a:t>
            </a:r>
            <a:r>
              <a:rPr lang="en-US" altLang="ko-KR" sz="1600" b="1" dirty="0" err="1"/>
              <a:t>này</a:t>
            </a:r>
            <a:r>
              <a:rPr lang="en-US" altLang="ko-KR" sz="1600" b="1" dirty="0"/>
              <a:t> </a:t>
            </a:r>
            <a:r>
              <a:rPr lang="en-US" altLang="ko-KR" sz="1600" b="1" dirty="0" err="1"/>
              <a:t>có</a:t>
            </a:r>
            <a:r>
              <a:rPr lang="en-US" altLang="ko-KR" sz="1600" b="1" dirty="0"/>
              <a:t> </a:t>
            </a:r>
            <a:r>
              <a:rPr lang="en-US" altLang="ko-KR" sz="1600" b="1" dirty="0" err="1"/>
              <a:t>quy</a:t>
            </a:r>
            <a:r>
              <a:rPr lang="en-US" altLang="ko-KR" sz="1600" b="1" dirty="0"/>
              <a:t> </a:t>
            </a:r>
            <a:r>
              <a:rPr lang="en-US" altLang="ko-KR" sz="1600" b="1" dirty="0" err="1"/>
              <a:t>cách</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Quy</a:t>
            </a:r>
            <a:r>
              <a:rPr lang="en-US" altLang="ko-KR" sz="1600" b="1" dirty="0"/>
              <a:t> </a:t>
            </a:r>
            <a:r>
              <a:rPr lang="en-US" altLang="ko-KR" sz="1600" b="1" dirty="0" err="1"/>
              <a:t>cách</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là</a:t>
            </a:r>
            <a:r>
              <a:rPr lang="en-US" altLang="ko-KR" sz="1600" b="1" dirty="0"/>
              <a:t> 5.5 ± 0.5 .  </a:t>
            </a:r>
          </a:p>
          <a:p>
            <a:pPr>
              <a:lnSpc>
                <a:spcPct val="130000"/>
              </a:lnSpc>
              <a:buClr>
                <a:srgbClr val="C5003D"/>
              </a:buClr>
            </a:pPr>
            <a:r>
              <a:rPr lang="en-US" altLang="ko-KR" sz="1600" b="1" dirty="0"/>
              <a:t>             </a:t>
            </a:r>
            <a:r>
              <a:rPr lang="en-US" altLang="ko-KR" sz="1600" b="1" dirty="0" err="1"/>
              <a:t>Bình</a:t>
            </a:r>
            <a:r>
              <a:rPr lang="en-US" altLang="ko-KR" sz="1600" b="1" dirty="0"/>
              <a:t> </a:t>
            </a:r>
            <a:r>
              <a:rPr lang="en-US" altLang="ko-KR" sz="1600" b="1" dirty="0" err="1"/>
              <a:t>quân</a:t>
            </a:r>
            <a:r>
              <a:rPr lang="en-US" altLang="ko-KR" sz="1600" b="1" dirty="0"/>
              <a:t> </a:t>
            </a:r>
            <a:r>
              <a:rPr lang="en-US" altLang="ko-KR" sz="1600" b="1" dirty="0" err="1"/>
              <a:t>là</a:t>
            </a:r>
            <a:r>
              <a:rPr lang="ko-KR" altLang="en-US" sz="1600" b="1" dirty="0"/>
              <a:t> </a:t>
            </a:r>
            <a:r>
              <a:rPr lang="en-US" altLang="ko-KR" sz="1600" b="1" dirty="0"/>
              <a:t>5.28   </a:t>
            </a:r>
            <a:r>
              <a:rPr lang="en-US" altLang="ko-KR" sz="1600" b="1" dirty="0" err="1"/>
              <a:t>Độ</a:t>
            </a:r>
            <a:r>
              <a:rPr lang="en-US" altLang="ko-KR" sz="1600" b="1" dirty="0"/>
              <a:t> </a:t>
            </a:r>
            <a:r>
              <a:rPr lang="en-US" altLang="ko-KR" sz="1600" b="1" dirty="0" err="1"/>
              <a:t>lệch</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là</a:t>
            </a:r>
            <a:r>
              <a:rPr lang="en-US" altLang="ko-KR" sz="1600" b="1" dirty="0"/>
              <a:t> 0.1135 </a:t>
            </a:r>
          </a:p>
          <a:p>
            <a:pPr>
              <a:lnSpc>
                <a:spcPct val="130000"/>
              </a:lnSpc>
              <a:buClr>
                <a:srgbClr val="C5003D"/>
              </a:buClr>
            </a:pPr>
            <a:r>
              <a:rPr lang="en-US" altLang="ko-KR" sz="1600" b="1" dirty="0"/>
              <a:t>             </a:t>
            </a:r>
            <a:r>
              <a:rPr lang="en-US" altLang="ko-KR" sz="1600" b="1" dirty="0" err="1"/>
              <a:t>Trong</a:t>
            </a:r>
            <a:r>
              <a:rPr lang="en-US" altLang="ko-KR" sz="1600" b="1" dirty="0"/>
              <a:t> 1,000 </a:t>
            </a:r>
            <a:r>
              <a:rPr lang="en-US" altLang="ko-KR" sz="1600" b="1" dirty="0" err="1"/>
              <a:t>sẽ</a:t>
            </a:r>
            <a:r>
              <a:rPr lang="en-US" altLang="ko-KR" sz="1600" b="1" dirty="0"/>
              <a:t> </a:t>
            </a:r>
            <a:r>
              <a:rPr lang="en-US" altLang="ko-KR" sz="1600" b="1" dirty="0" err="1"/>
              <a:t>bao</a:t>
            </a:r>
            <a:r>
              <a:rPr lang="en-US" altLang="ko-KR" sz="1600" b="1" dirty="0"/>
              <a:t> </a:t>
            </a:r>
            <a:r>
              <a:rPr lang="en-US" altLang="ko-KR" sz="1600" b="1" dirty="0" err="1"/>
              <a:t>gồm</a:t>
            </a:r>
            <a:r>
              <a:rPr lang="en-US" altLang="ko-KR" sz="1600" b="1" dirty="0"/>
              <a:t> </a:t>
            </a:r>
            <a:r>
              <a:rPr lang="en-US" altLang="ko-KR" sz="1600" b="1" dirty="0" err="1"/>
              <a:t>bao</a:t>
            </a:r>
            <a:r>
              <a:rPr lang="en-US" altLang="ko-KR" sz="1600" b="1" dirty="0"/>
              <a:t> </a:t>
            </a:r>
            <a:r>
              <a:rPr lang="en-US" altLang="ko-KR" sz="1600" b="1" dirty="0" err="1"/>
              <a:t>nhiêu</a:t>
            </a:r>
            <a:r>
              <a:rPr lang="en-US" altLang="ko-KR" sz="1600" b="1" dirty="0"/>
              <a:t> </a:t>
            </a:r>
            <a:r>
              <a:rPr lang="en-US" altLang="ko-KR" sz="1600" b="1" dirty="0" err="1"/>
              <a:t>sản</a:t>
            </a:r>
            <a:r>
              <a:rPr lang="en-US" altLang="ko-KR" sz="1600" b="1" dirty="0"/>
              <a:t> </a:t>
            </a:r>
            <a:r>
              <a:rPr lang="en-US" altLang="ko-KR" sz="1600" b="1" dirty="0" err="1"/>
              <a:t>phẩm</a:t>
            </a:r>
            <a:r>
              <a:rPr lang="en-US" altLang="ko-KR" sz="1600" b="1" dirty="0"/>
              <a:t> </a:t>
            </a:r>
            <a:r>
              <a:rPr lang="en-US" altLang="ko-KR" sz="1600" b="1" dirty="0" err="1"/>
              <a:t>không</a:t>
            </a:r>
            <a:r>
              <a:rPr lang="en-US" altLang="ko-KR" sz="1600" b="1" dirty="0"/>
              <a:t> </a:t>
            </a:r>
            <a:r>
              <a:rPr lang="en-US" altLang="ko-KR" sz="1600" b="1" dirty="0" err="1"/>
              <a:t>đạt</a:t>
            </a:r>
            <a:r>
              <a:rPr lang="en-US" altLang="ko-KR" sz="1600" b="1" dirty="0"/>
              <a:t> </a:t>
            </a:r>
            <a:r>
              <a:rPr lang="en-US" altLang="ko-KR" sz="1600" b="1" dirty="0" err="1"/>
              <a:t>chất</a:t>
            </a:r>
            <a:r>
              <a:rPr lang="en-US" altLang="ko-KR" sz="1600" b="1" dirty="0"/>
              <a:t> </a:t>
            </a:r>
            <a:r>
              <a:rPr lang="en-US" altLang="ko-KR" sz="1600" b="1" dirty="0" err="1"/>
              <a:t>lượng</a:t>
            </a:r>
            <a:r>
              <a:rPr lang="en-US" altLang="ko-KR" sz="1600" b="1" dirty="0"/>
              <a:t>? </a:t>
            </a:r>
            <a:endParaRPr lang="ko-KR" altLang="en-US" sz="1600" b="1" dirty="0"/>
          </a:p>
        </p:txBody>
      </p:sp>
      <p:pic>
        <p:nvPicPr>
          <p:cNvPr id="9" name="Picture 5"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9400" y="2703067"/>
            <a:ext cx="3416515" cy="1933198"/>
          </a:xfrm>
          <a:prstGeom prst="rect">
            <a:avLst/>
          </a:prstGeom>
          <a:noFill/>
          <a:ln w="9525">
            <a:solidFill>
              <a:schemeClr val="bg1"/>
            </a:solidFill>
            <a:miter lim="800000"/>
            <a:headEnd/>
            <a:tailEnd/>
          </a:ln>
        </p:spPr>
      </p:pic>
      <p:sp>
        <p:nvSpPr>
          <p:cNvPr id="10" name="Line 6"/>
          <p:cNvSpPr>
            <a:spLocks noChangeShapeType="1"/>
          </p:cNvSpPr>
          <p:nvPr/>
        </p:nvSpPr>
        <p:spPr bwMode="auto">
          <a:xfrm>
            <a:off x="2875358" y="2792480"/>
            <a:ext cx="0" cy="1776049"/>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graphicFrame>
        <p:nvGraphicFramePr>
          <p:cNvPr id="12" name="Object 8"/>
          <p:cNvGraphicFramePr>
            <a:graphicFrameLocks noChangeAspect="1"/>
          </p:cNvGraphicFramePr>
          <p:nvPr>
            <p:extLst>
              <p:ext uri="{D42A27DB-BD31-4B8C-83A1-F6EECF244321}">
                <p14:modId xmlns:p14="http://schemas.microsoft.com/office/powerpoint/2010/main" val="2831858544"/>
              </p:ext>
            </p:extLst>
          </p:nvPr>
        </p:nvGraphicFramePr>
        <p:xfrm>
          <a:off x="3113039" y="4678262"/>
          <a:ext cx="306317" cy="113797"/>
        </p:xfrm>
        <a:graphic>
          <a:graphicData uri="http://schemas.openxmlformats.org/presentationml/2006/ole">
            <mc:AlternateContent xmlns:mc="http://schemas.openxmlformats.org/markup-compatibility/2006">
              <mc:Choice xmlns:v="urn:schemas-microsoft-com:vml" Requires="v">
                <p:oleObj name="Equation" r:id="rId3" imgW="393359" imgH="177646" progId="Equation.3">
                  <p:embed/>
                </p:oleObj>
              </mc:Choice>
              <mc:Fallback>
                <p:oleObj name="Equation" r:id="rId3" imgW="393359" imgH="177646" progId="Equation.3">
                  <p:embed/>
                  <p:pic>
                    <p:nvPicPr>
                      <p:cNvPr id="12"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13039" y="4678262"/>
                        <a:ext cx="306317" cy="11379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9"/>
          <p:cNvGraphicFramePr>
            <a:graphicFrameLocks noChangeAspect="1"/>
          </p:cNvGraphicFramePr>
          <p:nvPr>
            <p:extLst>
              <p:ext uri="{D42A27DB-BD31-4B8C-83A1-F6EECF244321}">
                <p14:modId xmlns:p14="http://schemas.microsoft.com/office/powerpoint/2010/main" val="2596996027"/>
              </p:ext>
            </p:extLst>
          </p:nvPr>
        </p:nvGraphicFramePr>
        <p:xfrm>
          <a:off x="2341527" y="4678262"/>
          <a:ext cx="287251" cy="98895"/>
        </p:xfrm>
        <a:graphic>
          <a:graphicData uri="http://schemas.openxmlformats.org/presentationml/2006/ole">
            <mc:AlternateContent xmlns:mc="http://schemas.openxmlformats.org/markup-compatibility/2006">
              <mc:Choice xmlns:v="urn:schemas-microsoft-com:vml" Requires="v">
                <p:oleObj name="Equation" r:id="rId5" imgW="393359" imgH="164957" progId="Equation.3">
                  <p:embed/>
                </p:oleObj>
              </mc:Choice>
              <mc:Fallback>
                <p:oleObj name="Equation" r:id="rId5" imgW="393359" imgH="164957" progId="Equation.3">
                  <p:embed/>
                  <p:pic>
                    <p:nvPicPr>
                      <p:cNvPr id="13"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41527" y="4678262"/>
                        <a:ext cx="287251" cy="9889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 name="Line 10"/>
          <p:cNvSpPr>
            <a:spLocks noChangeShapeType="1"/>
          </p:cNvSpPr>
          <p:nvPr/>
        </p:nvSpPr>
        <p:spPr bwMode="auto">
          <a:xfrm flipV="1">
            <a:off x="2473713" y="3605316"/>
            <a:ext cx="0" cy="982178"/>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5" name="Line 11"/>
          <p:cNvSpPr>
            <a:spLocks noChangeShapeType="1"/>
          </p:cNvSpPr>
          <p:nvPr/>
        </p:nvSpPr>
        <p:spPr bwMode="auto">
          <a:xfrm flipV="1">
            <a:off x="3302422" y="3605316"/>
            <a:ext cx="0" cy="982178"/>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0" name="Line 16"/>
          <p:cNvSpPr>
            <a:spLocks noChangeShapeType="1"/>
          </p:cNvSpPr>
          <p:nvPr/>
        </p:nvSpPr>
        <p:spPr bwMode="auto">
          <a:xfrm flipV="1">
            <a:off x="2055546" y="4358546"/>
            <a:ext cx="0" cy="22217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1" name="Line 17"/>
          <p:cNvSpPr>
            <a:spLocks noChangeShapeType="1"/>
          </p:cNvSpPr>
          <p:nvPr/>
        </p:nvSpPr>
        <p:spPr bwMode="auto">
          <a:xfrm flipV="1">
            <a:off x="3712963" y="4346354"/>
            <a:ext cx="0" cy="222175"/>
          </a:xfrm>
          <a:prstGeom prst="line">
            <a:avLst/>
          </a:prstGeom>
          <a:noFill/>
          <a:ln w="9525">
            <a:solidFill>
              <a:schemeClr val="tx2"/>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2" name="Line 18"/>
          <p:cNvSpPr>
            <a:spLocks noChangeShapeType="1"/>
          </p:cNvSpPr>
          <p:nvPr/>
        </p:nvSpPr>
        <p:spPr bwMode="auto">
          <a:xfrm>
            <a:off x="1699660" y="4523822"/>
            <a:ext cx="0" cy="63672"/>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23" name="Line 19"/>
          <p:cNvSpPr>
            <a:spLocks noChangeShapeType="1"/>
          </p:cNvSpPr>
          <p:nvPr/>
        </p:nvSpPr>
        <p:spPr bwMode="auto">
          <a:xfrm>
            <a:off x="4068850" y="4518403"/>
            <a:ext cx="0" cy="62318"/>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46" name="TextBox 45"/>
          <p:cNvSpPr txBox="1"/>
          <p:nvPr/>
        </p:nvSpPr>
        <p:spPr>
          <a:xfrm>
            <a:off x="2608184" y="4575276"/>
            <a:ext cx="466794" cy="312393"/>
          </a:xfrm>
          <a:prstGeom prst="rect">
            <a:avLst/>
          </a:prstGeom>
          <a:noFill/>
        </p:spPr>
        <p:txBody>
          <a:bodyPr wrap="none" rtlCol="0">
            <a:spAutoFit/>
          </a:bodyPr>
          <a:lstStyle/>
          <a:p>
            <a:pPr>
              <a:lnSpc>
                <a:spcPct val="130000"/>
              </a:lnSpc>
              <a:buClr>
                <a:srgbClr val="C5003D"/>
              </a:buClr>
            </a:pPr>
            <a:r>
              <a:rPr lang="en-US" altLang="ko-KR" sz="1100" b="1" dirty="0"/>
              <a:t>5.28</a:t>
            </a:r>
            <a:endParaRPr lang="ko-KR" altLang="en-US" sz="1100" b="1" dirty="0"/>
          </a:p>
        </p:txBody>
      </p:sp>
      <p:cxnSp>
        <p:nvCxnSpPr>
          <p:cNvPr id="48" name="직선 연결선 47"/>
          <p:cNvCxnSpPr/>
          <p:nvPr/>
        </p:nvCxnSpPr>
        <p:spPr>
          <a:xfrm>
            <a:off x="2767723" y="3704506"/>
            <a:ext cx="66468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직선 화살표 연결선 50"/>
          <p:cNvCxnSpPr/>
          <p:nvPr/>
        </p:nvCxnSpPr>
        <p:spPr>
          <a:xfrm>
            <a:off x="2568316" y="3704506"/>
            <a:ext cx="294008" cy="213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4" name="직선 화살표 연결선 53"/>
          <p:cNvCxnSpPr/>
          <p:nvPr/>
        </p:nvCxnSpPr>
        <p:spPr>
          <a:xfrm flipH="1">
            <a:off x="3311036" y="3704506"/>
            <a:ext cx="265876"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2767722" y="3344467"/>
            <a:ext cx="630301" cy="312393"/>
          </a:xfrm>
          <a:prstGeom prst="rect">
            <a:avLst/>
          </a:prstGeom>
          <a:noFill/>
        </p:spPr>
        <p:txBody>
          <a:bodyPr wrap="none" rtlCol="0">
            <a:spAutoFit/>
          </a:bodyPr>
          <a:lstStyle/>
          <a:p>
            <a:pPr>
              <a:lnSpc>
                <a:spcPct val="130000"/>
              </a:lnSpc>
              <a:buClr>
                <a:srgbClr val="C5003D"/>
              </a:buClr>
            </a:pPr>
            <a:r>
              <a:rPr lang="en-US" altLang="ko-KR" sz="1100" b="1" dirty="0"/>
              <a:t>0.1135</a:t>
            </a:r>
            <a:endParaRPr lang="ko-KR" altLang="en-US" sz="1100" b="1" dirty="0"/>
          </a:p>
        </p:txBody>
      </p:sp>
      <p:cxnSp>
        <p:nvCxnSpPr>
          <p:cNvPr id="57" name="직선 연결선 56"/>
          <p:cNvCxnSpPr/>
          <p:nvPr/>
        </p:nvCxnSpPr>
        <p:spPr>
          <a:xfrm flipV="1">
            <a:off x="1704220" y="2624386"/>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직선 연결선 57"/>
          <p:cNvCxnSpPr/>
          <p:nvPr/>
        </p:nvCxnSpPr>
        <p:spPr>
          <a:xfrm flipV="1">
            <a:off x="4429446" y="2624386"/>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p:cNvCxnSpPr/>
          <p:nvPr/>
        </p:nvCxnSpPr>
        <p:spPr>
          <a:xfrm flipV="1">
            <a:off x="6888796" y="2624386"/>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1172468" y="4556076"/>
            <a:ext cx="59157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4183169" y="4568602"/>
            <a:ext cx="795859" cy="732508"/>
          </a:xfrm>
          <a:prstGeom prst="rect">
            <a:avLst/>
          </a:prstGeom>
          <a:noFill/>
        </p:spPr>
        <p:txBody>
          <a:bodyPr wrap="none" rtlCol="0">
            <a:spAutoFit/>
          </a:bodyPr>
          <a:lstStyle/>
          <a:p>
            <a:pPr>
              <a:lnSpc>
                <a:spcPct val="130000"/>
              </a:lnSpc>
              <a:buClr>
                <a:srgbClr val="C5003D"/>
              </a:buClr>
            </a:pPr>
            <a:r>
              <a:rPr lang="en-US" altLang="ko-KR" sz="1600" b="1" dirty="0"/>
              <a:t>Target</a:t>
            </a:r>
          </a:p>
          <a:p>
            <a:pPr>
              <a:lnSpc>
                <a:spcPct val="130000"/>
              </a:lnSpc>
              <a:buClr>
                <a:srgbClr val="C5003D"/>
              </a:buClr>
            </a:pPr>
            <a:r>
              <a:rPr lang="en-US" altLang="ko-KR" sz="1600" b="1" dirty="0"/>
              <a:t>5.5</a:t>
            </a:r>
            <a:endParaRPr lang="ko-KR" altLang="en-US" sz="1600" b="1" dirty="0"/>
          </a:p>
        </p:txBody>
      </p:sp>
      <p:sp>
        <p:nvSpPr>
          <p:cNvPr id="63" name="TextBox 62"/>
          <p:cNvSpPr txBox="1"/>
          <p:nvPr/>
        </p:nvSpPr>
        <p:spPr>
          <a:xfrm>
            <a:off x="6689389" y="4568602"/>
            <a:ext cx="556563" cy="732508"/>
          </a:xfrm>
          <a:prstGeom prst="rect">
            <a:avLst/>
          </a:prstGeom>
          <a:noFill/>
        </p:spPr>
        <p:txBody>
          <a:bodyPr wrap="none" rtlCol="0">
            <a:spAutoFit/>
          </a:bodyPr>
          <a:lstStyle/>
          <a:p>
            <a:pPr>
              <a:lnSpc>
                <a:spcPct val="130000"/>
              </a:lnSpc>
              <a:buClr>
                <a:srgbClr val="C5003D"/>
              </a:buClr>
            </a:pPr>
            <a:r>
              <a:rPr lang="en-US" altLang="ko-KR" sz="1600" b="1" dirty="0"/>
              <a:t>USL</a:t>
            </a:r>
          </a:p>
          <a:p>
            <a:pPr>
              <a:lnSpc>
                <a:spcPct val="130000"/>
              </a:lnSpc>
              <a:buClr>
                <a:srgbClr val="C5003D"/>
              </a:buClr>
            </a:pPr>
            <a:r>
              <a:rPr lang="en-US" altLang="ko-KR" sz="1600" b="1" dirty="0"/>
              <a:t>6.0</a:t>
            </a:r>
            <a:endParaRPr lang="ko-KR" altLang="en-US" sz="1600" b="1" dirty="0"/>
          </a:p>
        </p:txBody>
      </p:sp>
      <p:sp>
        <p:nvSpPr>
          <p:cNvPr id="64" name="TextBox 63"/>
          <p:cNvSpPr txBox="1"/>
          <p:nvPr/>
        </p:nvSpPr>
        <p:spPr>
          <a:xfrm>
            <a:off x="1504814" y="4568602"/>
            <a:ext cx="511679" cy="732508"/>
          </a:xfrm>
          <a:prstGeom prst="rect">
            <a:avLst/>
          </a:prstGeom>
          <a:noFill/>
        </p:spPr>
        <p:txBody>
          <a:bodyPr wrap="none" rtlCol="0">
            <a:spAutoFit/>
          </a:bodyPr>
          <a:lstStyle/>
          <a:p>
            <a:pPr>
              <a:lnSpc>
                <a:spcPct val="130000"/>
              </a:lnSpc>
              <a:buClr>
                <a:srgbClr val="C5003D"/>
              </a:buClr>
            </a:pPr>
            <a:r>
              <a:rPr lang="en-US" altLang="ko-KR" sz="1600" b="1" dirty="0"/>
              <a:t>LSL</a:t>
            </a:r>
          </a:p>
          <a:p>
            <a:pPr>
              <a:lnSpc>
                <a:spcPct val="130000"/>
              </a:lnSpc>
              <a:buClr>
                <a:srgbClr val="C5003D"/>
              </a:buClr>
            </a:pPr>
            <a:r>
              <a:rPr lang="en-US" altLang="ko-KR" sz="1600" b="1" dirty="0"/>
              <a:t>5.0</a:t>
            </a:r>
            <a:endParaRPr lang="ko-KR" altLang="en-US" sz="1600" b="1" dirty="0"/>
          </a:p>
        </p:txBody>
      </p:sp>
      <p:sp>
        <p:nvSpPr>
          <p:cNvPr id="66" name="TextBox 65"/>
          <p:cNvSpPr txBox="1"/>
          <p:nvPr/>
        </p:nvSpPr>
        <p:spPr>
          <a:xfrm>
            <a:off x="642910" y="5517232"/>
            <a:ext cx="8672374" cy="732508"/>
          </a:xfrm>
          <a:prstGeom prst="rect">
            <a:avLst/>
          </a:prstGeom>
          <a:noFill/>
        </p:spPr>
        <p:txBody>
          <a:bodyPr wrap="none" rtlCol="0">
            <a:spAutoFit/>
          </a:bodyPr>
          <a:lstStyle/>
          <a:p>
            <a:pPr>
              <a:lnSpc>
                <a:spcPct val="130000"/>
              </a:lnSpc>
              <a:buClr>
                <a:srgbClr val="C5003D"/>
              </a:buClr>
            </a:pPr>
            <a:r>
              <a:rPr lang="en-US" altLang="ko-KR" sz="1600" b="1" dirty="0" err="1"/>
              <a:t>Khả</a:t>
            </a:r>
            <a:r>
              <a:rPr lang="en-US" altLang="ko-KR" sz="1600" b="1" dirty="0"/>
              <a:t> </a:t>
            </a:r>
            <a:r>
              <a:rPr lang="en-US" altLang="ko-KR" sz="1600" b="1" dirty="0" err="1"/>
              <a:t>năng</a:t>
            </a:r>
            <a:r>
              <a:rPr lang="en-US" altLang="ko-KR" sz="1600" b="1" dirty="0"/>
              <a:t> </a:t>
            </a:r>
            <a:r>
              <a:rPr lang="en-US" altLang="ko-KR" sz="1600" b="1" dirty="0" err="1"/>
              <a:t>nhỏ</a:t>
            </a:r>
            <a:r>
              <a:rPr lang="en-US" altLang="ko-KR" sz="1600" b="1" dirty="0"/>
              <a:t> </a:t>
            </a:r>
            <a:r>
              <a:rPr lang="en-US" altLang="ko-KR" sz="1600" b="1" dirty="0" err="1"/>
              <a:t>hơn</a:t>
            </a:r>
            <a:r>
              <a:rPr lang="en-US" altLang="ko-KR" sz="1600" b="1" dirty="0"/>
              <a:t> LSL</a:t>
            </a:r>
            <a:r>
              <a:rPr lang="ko-KR" altLang="en-US" sz="1600" b="1" dirty="0"/>
              <a:t>   </a:t>
            </a:r>
            <a:r>
              <a:rPr lang="en-US" altLang="ko-KR" sz="1600" b="1" dirty="0">
                <a:sym typeface="Wingdings" panose="05000000000000000000" pitchFamily="2" charset="2"/>
              </a:rPr>
              <a:t>  </a:t>
            </a:r>
            <a:r>
              <a:rPr lang="en-US" altLang="ko-KR" sz="1600" b="1" dirty="0" err="1">
                <a:sym typeface="Wingdings" panose="05000000000000000000" pitchFamily="2" charset="2"/>
              </a:rPr>
              <a:t>Khi</a:t>
            </a:r>
            <a:r>
              <a:rPr lang="en-US" altLang="ko-KR" sz="1600" b="1" dirty="0">
                <a:sym typeface="Wingdings" panose="05000000000000000000" pitchFamily="2" charset="2"/>
              </a:rPr>
              <a:t> </a:t>
            </a:r>
            <a:r>
              <a:rPr lang="en-US" altLang="ko-KR" sz="1600" b="1" dirty="0" err="1">
                <a:sym typeface="Wingdings" panose="05000000000000000000" pitchFamily="2" charset="2"/>
              </a:rPr>
              <a:t>xem</a:t>
            </a:r>
            <a:r>
              <a:rPr lang="en-US" altLang="ko-KR" sz="1600" b="1" dirty="0">
                <a:sym typeface="Wingdings" panose="05000000000000000000" pitchFamily="2" charset="2"/>
              </a:rPr>
              <a:t> </a:t>
            </a:r>
            <a:r>
              <a:rPr lang="en-US" altLang="ko-KR" sz="1600" b="1" dirty="0" err="1">
                <a:sym typeface="Wingdings" panose="05000000000000000000" pitchFamily="2" charset="2"/>
              </a:rPr>
              <a:t>xét</a:t>
            </a:r>
            <a:r>
              <a:rPr lang="en-US" altLang="ko-KR" sz="1600" b="1" dirty="0">
                <a:sym typeface="Wingdings" panose="05000000000000000000" pitchFamily="2" charset="2"/>
              </a:rPr>
              <a:t> LSL </a:t>
            </a:r>
            <a:r>
              <a:rPr lang="en-US" altLang="ko-KR" sz="1600" b="1" dirty="0" err="1">
                <a:sym typeface="Wingdings" panose="05000000000000000000" pitchFamily="2" charset="2"/>
              </a:rPr>
              <a:t>trong</a:t>
            </a:r>
            <a:r>
              <a:rPr lang="en-US" altLang="ko-KR" sz="1600" b="1" dirty="0">
                <a:sym typeface="Wingdings" panose="05000000000000000000" pitchFamily="2" charset="2"/>
              </a:rPr>
              <a:t> </a:t>
            </a:r>
            <a:r>
              <a:rPr lang="en-US" altLang="ko-KR" sz="1600" b="1" dirty="0" err="1">
                <a:sym typeface="Wingdings" panose="05000000000000000000" pitchFamily="2" charset="2"/>
              </a:rPr>
              <a:t>phân</a:t>
            </a:r>
            <a:r>
              <a:rPr lang="en-US" altLang="ko-KR" sz="1600" b="1" dirty="0">
                <a:sym typeface="Wingdings" panose="05000000000000000000" pitchFamily="2" charset="2"/>
              </a:rPr>
              <a:t> </a:t>
            </a:r>
            <a:r>
              <a:rPr lang="en-US" altLang="ko-KR" sz="1600" b="1" dirty="0" err="1">
                <a:sym typeface="Wingdings" panose="05000000000000000000" pitchFamily="2" charset="2"/>
              </a:rPr>
              <a:t>bổ</a:t>
            </a:r>
            <a:r>
              <a:rPr lang="en-US" altLang="ko-KR" sz="1600" b="1" dirty="0">
                <a:sym typeface="Wingdings" panose="05000000000000000000" pitchFamily="2" charset="2"/>
              </a:rPr>
              <a:t> </a:t>
            </a:r>
            <a:r>
              <a:rPr lang="en-US" altLang="ko-KR" sz="1600" b="1" dirty="0" err="1">
                <a:sym typeface="Wingdings" panose="05000000000000000000" pitchFamily="2" charset="2"/>
              </a:rPr>
              <a:t>chính</a:t>
            </a:r>
            <a:r>
              <a:rPr lang="en-US" altLang="ko-KR" sz="1600" b="1" dirty="0">
                <a:sym typeface="Wingdings" panose="05000000000000000000" pitchFamily="2" charset="2"/>
              </a:rPr>
              <a:t> </a:t>
            </a:r>
            <a:r>
              <a:rPr lang="en-US" altLang="ko-KR" sz="1600" b="1" dirty="0" err="1">
                <a:sym typeface="Wingdings" panose="05000000000000000000" pitchFamily="2" charset="2"/>
              </a:rPr>
              <a:t>quy</a:t>
            </a:r>
            <a:r>
              <a:rPr lang="en-US" altLang="ko-KR" sz="1600" b="1" dirty="0">
                <a:sym typeface="Wingdings" panose="05000000000000000000" pitchFamily="2" charset="2"/>
              </a:rPr>
              <a:t> </a:t>
            </a:r>
            <a:r>
              <a:rPr lang="en-US" altLang="ko-KR" sz="1600" b="1" dirty="0" err="1">
                <a:sym typeface="Wingdings" panose="05000000000000000000" pitchFamily="2" charset="2"/>
              </a:rPr>
              <a:t>tiêu</a:t>
            </a:r>
            <a:r>
              <a:rPr lang="en-US" altLang="ko-KR" sz="1600" b="1" dirty="0">
                <a:sym typeface="Wingdings" panose="05000000000000000000" pitchFamily="2" charset="2"/>
              </a:rPr>
              <a:t> </a:t>
            </a:r>
            <a:r>
              <a:rPr lang="en-US" altLang="ko-KR" sz="1600" b="1" dirty="0" err="1">
                <a:sym typeface="Wingdings" panose="05000000000000000000" pitchFamily="2" charset="2"/>
              </a:rPr>
              <a:t>chuẩn</a:t>
            </a:r>
            <a:r>
              <a:rPr lang="en-US" altLang="ko-KR" sz="1600" b="1" dirty="0">
                <a:sym typeface="Wingdings" panose="05000000000000000000" pitchFamily="2" charset="2"/>
              </a:rPr>
              <a:t> LSL </a:t>
            </a:r>
          </a:p>
          <a:p>
            <a:pPr>
              <a:lnSpc>
                <a:spcPct val="130000"/>
              </a:lnSpc>
              <a:buClr>
                <a:srgbClr val="C5003D"/>
              </a:buClr>
            </a:pPr>
            <a:r>
              <a:rPr lang="en-US" altLang="ko-KR" sz="1600" b="1" dirty="0" err="1">
                <a:sym typeface="Wingdings" panose="05000000000000000000" pitchFamily="2" charset="2"/>
              </a:rPr>
              <a:t>sẽ</a:t>
            </a:r>
            <a:r>
              <a:rPr lang="en-US" altLang="ko-KR" sz="1600" b="1" dirty="0">
                <a:sym typeface="Wingdings" panose="05000000000000000000" pitchFamily="2" charset="2"/>
              </a:rPr>
              <a:t> </a:t>
            </a:r>
            <a:r>
              <a:rPr lang="en-US" altLang="ko-KR" sz="1600" b="1" dirty="0" err="1">
                <a:sym typeface="Wingdings" panose="05000000000000000000" pitchFamily="2" charset="2"/>
              </a:rPr>
              <a:t>khác</a:t>
            </a:r>
            <a:r>
              <a:rPr lang="en-US" altLang="ko-KR" sz="1600" b="1" dirty="0">
                <a:sym typeface="Wingdings" panose="05000000000000000000" pitchFamily="2" charset="2"/>
              </a:rPr>
              <a:t> </a:t>
            </a:r>
            <a:r>
              <a:rPr lang="en-US" altLang="ko-KR" sz="1600" b="1" dirty="0" err="1">
                <a:sym typeface="Wingdings" panose="05000000000000000000" pitchFamily="2" charset="2"/>
              </a:rPr>
              <a:t>bao</a:t>
            </a:r>
            <a:r>
              <a:rPr lang="en-US" altLang="ko-KR" sz="1600" b="1" dirty="0">
                <a:sym typeface="Wingdings" panose="05000000000000000000" pitchFamily="2" charset="2"/>
              </a:rPr>
              <a:t> </a:t>
            </a:r>
            <a:r>
              <a:rPr lang="en-US" altLang="ko-KR" sz="1600" b="1" dirty="0" err="1">
                <a:sym typeface="Wingdings" panose="05000000000000000000" pitchFamily="2" charset="2"/>
              </a:rPr>
              <a:t>nhiêu</a:t>
            </a:r>
            <a:r>
              <a:rPr lang="en-US" altLang="ko-KR" sz="1600" b="1" dirty="0">
                <a:sym typeface="Wingdings" panose="05000000000000000000" pitchFamily="2" charset="2"/>
              </a:rPr>
              <a:t> so </a:t>
            </a:r>
            <a:r>
              <a:rPr lang="en-US" altLang="ko-KR" sz="1600" b="1" dirty="0" err="1">
                <a:sym typeface="Wingdings" panose="05000000000000000000" pitchFamily="2" charset="2"/>
              </a:rPr>
              <a:t>với</a:t>
            </a:r>
            <a:r>
              <a:rPr lang="en-US" altLang="ko-KR" sz="1600" b="1" dirty="0">
                <a:sym typeface="Wingdings" panose="05000000000000000000" pitchFamily="2" charset="2"/>
              </a:rPr>
              <a:t> </a:t>
            </a:r>
            <a:r>
              <a:rPr lang="en-US" altLang="ko-KR" sz="1600" b="1" dirty="0" err="1">
                <a:sym typeface="Wingdings" panose="05000000000000000000" pitchFamily="2" charset="2"/>
              </a:rPr>
              <a:t>Bình</a:t>
            </a:r>
            <a:r>
              <a:rPr lang="en-US" altLang="ko-KR" sz="1600" b="1" dirty="0">
                <a:sym typeface="Wingdings" panose="05000000000000000000" pitchFamily="2" charset="2"/>
              </a:rPr>
              <a:t> </a:t>
            </a:r>
            <a:r>
              <a:rPr lang="en-US" altLang="ko-KR" sz="1600" b="1" dirty="0" err="1">
                <a:sym typeface="Wingdings" panose="05000000000000000000" pitchFamily="2" charset="2"/>
              </a:rPr>
              <a:t>quân</a:t>
            </a:r>
            <a:endParaRPr lang="ko-KR" altLang="en-US" sz="1600" b="1" dirty="0"/>
          </a:p>
        </p:txBody>
      </p:sp>
      <p:sp>
        <p:nvSpPr>
          <p:cNvPr id="28"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026827370"/>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180</a:t>
            </a:fld>
            <a:endParaRPr lang="ko-KR" altLang="en-US" dirty="0"/>
          </a:p>
        </p:txBody>
      </p:sp>
      <p:sp>
        <p:nvSpPr>
          <p:cNvPr id="3" name="제목 1"/>
          <p:cNvSpPr txBox="1">
            <a:spLocks/>
          </p:cNvSpPr>
          <p:nvPr/>
        </p:nvSpPr>
        <p:spPr bwMode="auto">
          <a:xfrm>
            <a:off x="118582" y="620689"/>
            <a:ext cx="8673755"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2000" b="1" i="0" u="none" strike="noStrike" cap="none" normalizeH="0" baseline="0" dirty="0">
                <a:ln>
                  <a:noFill/>
                </a:ln>
                <a:solidFill>
                  <a:schemeClr val="tx1"/>
                </a:solidFill>
                <a:effectLst/>
                <a:latin typeface="+mn-ea"/>
                <a:ea typeface="+mn-ea"/>
              </a:rPr>
              <a:t>Understanding the standard normal distribution</a:t>
            </a:r>
            <a:r>
              <a:rPr kumimoji="1" lang="ko-KR" altLang="en-US" sz="2000" b="1" i="0" u="none" strike="noStrike" cap="none" normalizeH="0" baseline="0" dirty="0">
                <a:ln>
                  <a:noFill/>
                </a:ln>
                <a:solidFill>
                  <a:schemeClr val="tx1"/>
                </a:solidFill>
                <a:effectLst/>
                <a:latin typeface="+mn-ea"/>
                <a:ea typeface="+mn-ea"/>
              </a:rPr>
              <a:t> </a:t>
            </a:r>
            <a:endParaRPr kumimoji="1" lang="ko-KR" sz="1800" b="0" i="0" u="none" strike="noStrike" cap="none" normalizeH="0" baseline="0" dirty="0">
              <a:ln>
                <a:noFill/>
              </a:ln>
              <a:solidFill>
                <a:schemeClr val="tx1"/>
              </a:solidFill>
              <a:effectLst/>
              <a:latin typeface="+mn-ea"/>
              <a:ea typeface="+mn-ea"/>
            </a:endParaRPr>
          </a:p>
        </p:txBody>
      </p:sp>
      <p:graphicFrame>
        <p:nvGraphicFramePr>
          <p:cNvPr id="4" name="개체 3"/>
          <p:cNvGraphicFramePr>
            <a:graphicFrameLocks noChangeAspect="1"/>
          </p:cNvGraphicFramePr>
          <p:nvPr>
            <p:extLst>
              <p:ext uri="{D42A27DB-BD31-4B8C-83A1-F6EECF244321}">
                <p14:modId xmlns:p14="http://schemas.microsoft.com/office/powerpoint/2010/main" val="264718917"/>
              </p:ext>
            </p:extLst>
          </p:nvPr>
        </p:nvGraphicFramePr>
        <p:xfrm>
          <a:off x="650333" y="1844824"/>
          <a:ext cx="997034" cy="416444"/>
        </p:xfrm>
        <a:graphic>
          <a:graphicData uri="http://schemas.openxmlformats.org/presentationml/2006/ole">
            <mc:AlternateContent xmlns:mc="http://schemas.openxmlformats.org/markup-compatibility/2006">
              <mc:Choice xmlns:v="urn:schemas-microsoft-com:vml" Requires="v">
                <p:oleObj name="수식" r:id="rId2" imgW="812520" imgH="406080" progId="Equation.3">
                  <p:embed/>
                </p:oleObj>
              </mc:Choice>
              <mc:Fallback>
                <p:oleObj name="수식" r:id="rId2" imgW="812520" imgH="406080" progId="Equation.3">
                  <p:embed/>
                  <p:pic>
                    <p:nvPicPr>
                      <p:cNvPr id="4" name="개체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333" y="1844824"/>
                        <a:ext cx="997034" cy="41644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TextBox 4"/>
          <p:cNvSpPr txBox="1"/>
          <p:nvPr/>
        </p:nvSpPr>
        <p:spPr>
          <a:xfrm>
            <a:off x="384458" y="1196753"/>
            <a:ext cx="1849096" cy="412421"/>
          </a:xfrm>
          <a:prstGeom prst="rect">
            <a:avLst/>
          </a:prstGeom>
          <a:noFill/>
        </p:spPr>
        <p:txBody>
          <a:bodyPr wrap="none" rtlCol="0">
            <a:spAutoFit/>
          </a:bodyPr>
          <a:lstStyle/>
          <a:p>
            <a:pPr>
              <a:lnSpc>
                <a:spcPct val="130000"/>
              </a:lnSpc>
              <a:buClr>
                <a:srgbClr val="C5003D"/>
              </a:buClr>
            </a:pPr>
            <a:r>
              <a:rPr lang="en-US" altLang="ko-KR" sz="1600" b="1" dirty="0"/>
              <a:t>Calculate Z value</a:t>
            </a:r>
            <a:endParaRPr lang="ko-KR" altLang="en-US" sz="1600" b="1" dirty="0"/>
          </a:p>
        </p:txBody>
      </p:sp>
      <p:graphicFrame>
        <p:nvGraphicFramePr>
          <p:cNvPr id="6" name="개체 5"/>
          <p:cNvGraphicFramePr>
            <a:graphicFrameLocks noChangeAspect="1"/>
          </p:cNvGraphicFramePr>
          <p:nvPr>
            <p:extLst>
              <p:ext uri="{D42A27DB-BD31-4B8C-83A1-F6EECF244321}">
                <p14:modId xmlns:p14="http://schemas.microsoft.com/office/powerpoint/2010/main" val="3398380370"/>
              </p:ext>
            </p:extLst>
          </p:nvPr>
        </p:nvGraphicFramePr>
        <p:xfrm>
          <a:off x="877766" y="2349501"/>
          <a:ext cx="918796" cy="417513"/>
        </p:xfrm>
        <a:graphic>
          <a:graphicData uri="http://schemas.openxmlformats.org/presentationml/2006/ole">
            <mc:AlternateContent xmlns:mc="http://schemas.openxmlformats.org/markup-compatibility/2006">
              <mc:Choice xmlns:v="urn:schemas-microsoft-com:vml" Requires="v">
                <p:oleObj name="수식" r:id="rId4" imgW="749160" imgH="406080" progId="Equation.3">
                  <p:embed/>
                </p:oleObj>
              </mc:Choice>
              <mc:Fallback>
                <p:oleObj name="수식" r:id="rId4" imgW="749160" imgH="406080" progId="Equation.3">
                  <p:embed/>
                  <p:pic>
                    <p:nvPicPr>
                      <p:cNvPr id="6" name="개체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7766" y="2349501"/>
                        <a:ext cx="918796" cy="4175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개체 6"/>
          <p:cNvGraphicFramePr>
            <a:graphicFrameLocks noChangeAspect="1"/>
          </p:cNvGraphicFramePr>
          <p:nvPr>
            <p:extLst>
              <p:ext uri="{D42A27DB-BD31-4B8C-83A1-F6EECF244321}">
                <p14:modId xmlns:p14="http://schemas.microsoft.com/office/powerpoint/2010/main" val="2425832095"/>
              </p:ext>
            </p:extLst>
          </p:nvPr>
        </p:nvGraphicFramePr>
        <p:xfrm>
          <a:off x="931116" y="2970660"/>
          <a:ext cx="810357" cy="182563"/>
        </p:xfrm>
        <a:graphic>
          <a:graphicData uri="http://schemas.openxmlformats.org/presentationml/2006/ole">
            <mc:AlternateContent xmlns:mc="http://schemas.openxmlformats.org/markup-compatibility/2006">
              <mc:Choice xmlns:v="urn:schemas-microsoft-com:vml" Requires="v">
                <p:oleObj name="수식" r:id="rId6" imgW="660240" imgH="177480" progId="Equation.3">
                  <p:embed/>
                </p:oleObj>
              </mc:Choice>
              <mc:Fallback>
                <p:oleObj name="수식" r:id="rId6" imgW="660240" imgH="177480" progId="Equation.3">
                  <p:embed/>
                  <p:pic>
                    <p:nvPicPr>
                      <p:cNvPr id="7" name="개체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1116" y="2970660"/>
                        <a:ext cx="810357" cy="1825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 name="TextBox 7"/>
          <p:cNvSpPr txBox="1"/>
          <p:nvPr/>
        </p:nvSpPr>
        <p:spPr>
          <a:xfrm>
            <a:off x="384459" y="3717032"/>
            <a:ext cx="2209259" cy="1212640"/>
          </a:xfrm>
          <a:prstGeom prst="rect">
            <a:avLst/>
          </a:prstGeom>
          <a:noFill/>
        </p:spPr>
        <p:txBody>
          <a:bodyPr wrap="square" rtlCol="0">
            <a:spAutoFit/>
          </a:bodyPr>
          <a:lstStyle/>
          <a:p>
            <a:pPr>
              <a:lnSpc>
                <a:spcPct val="130000"/>
              </a:lnSpc>
              <a:buClr>
                <a:srgbClr val="C5003D"/>
              </a:buClr>
            </a:pPr>
            <a:r>
              <a:rPr lang="en-US" altLang="ko-KR" sz="1400" b="1" dirty="0"/>
              <a:t>Let’s find at the table.</a:t>
            </a:r>
          </a:p>
          <a:p>
            <a:pPr marL="285750" indent="-285750">
              <a:lnSpc>
                <a:spcPct val="130000"/>
              </a:lnSpc>
              <a:buClr>
                <a:srgbClr val="C5003D"/>
              </a:buClr>
              <a:buFontTx/>
              <a:buChar char="-"/>
            </a:pPr>
            <a:r>
              <a:rPr lang="en-US" altLang="ko-KR" sz="1400" b="1" dirty="0"/>
              <a:t>The values are symmetry, so look for + values.</a:t>
            </a:r>
            <a:endParaRPr lang="ko-KR" altLang="en-US" sz="1400" b="1" dirty="0"/>
          </a:p>
        </p:txBody>
      </p:sp>
      <p:pic>
        <p:nvPicPr>
          <p:cNvPr id="2377736" name="Picture 8"/>
          <p:cNvPicPr>
            <a:picLocks noChangeAspect="1" noChangeArrowheads="1"/>
          </p:cNvPicPr>
          <p:nvPr/>
        </p:nvPicPr>
        <p:blipFill rotWithShape="1">
          <a:blip r:embed="rId8">
            <a:extLst>
              <a:ext uri="{28A0092B-C50C-407E-A947-70E740481C1C}">
                <a14:useLocalDpi xmlns:a14="http://schemas.microsoft.com/office/drawing/2010/main" val="0"/>
              </a:ext>
            </a:extLst>
          </a:blip>
          <a:srcRect r="19231" b="36487"/>
          <a:stretch/>
        </p:blipFill>
        <p:spPr bwMode="auto">
          <a:xfrm>
            <a:off x="2511464" y="1124744"/>
            <a:ext cx="6446419" cy="4248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377729" name="직선 연결선 2377728"/>
          <p:cNvCxnSpPr/>
          <p:nvPr/>
        </p:nvCxnSpPr>
        <p:spPr>
          <a:xfrm>
            <a:off x="2444994" y="4797152"/>
            <a:ext cx="656606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6" name="TextBox 575"/>
          <p:cNvSpPr txBox="1"/>
          <p:nvPr/>
        </p:nvSpPr>
        <p:spPr>
          <a:xfrm>
            <a:off x="583864" y="4869160"/>
            <a:ext cx="1423788" cy="372410"/>
          </a:xfrm>
          <a:prstGeom prst="rect">
            <a:avLst/>
          </a:prstGeom>
          <a:noFill/>
        </p:spPr>
        <p:txBody>
          <a:bodyPr wrap="none" rtlCol="0">
            <a:spAutoFit/>
          </a:bodyPr>
          <a:lstStyle/>
          <a:p>
            <a:pPr>
              <a:lnSpc>
                <a:spcPct val="130000"/>
              </a:lnSpc>
              <a:buClr>
                <a:srgbClr val="C5003D"/>
              </a:buClr>
            </a:pPr>
            <a:r>
              <a:rPr lang="en-US" altLang="ko-KR" sz="1400" b="1" dirty="0"/>
              <a:t>※  6.76 x 10 </a:t>
            </a:r>
            <a:r>
              <a:rPr lang="en-US" altLang="ko-KR" sz="1400" b="1" baseline="30000" dirty="0"/>
              <a:t>-3</a:t>
            </a:r>
            <a:endParaRPr lang="ko-KR" altLang="en-US" sz="1400" b="1" baseline="30000" dirty="0"/>
          </a:p>
        </p:txBody>
      </p:sp>
      <p:sp>
        <p:nvSpPr>
          <p:cNvPr id="577" name="TextBox 576"/>
          <p:cNvSpPr txBox="1"/>
          <p:nvPr/>
        </p:nvSpPr>
        <p:spPr>
          <a:xfrm>
            <a:off x="849740" y="5288838"/>
            <a:ext cx="1345240" cy="372410"/>
          </a:xfrm>
          <a:prstGeom prst="rect">
            <a:avLst/>
          </a:prstGeom>
          <a:noFill/>
        </p:spPr>
        <p:txBody>
          <a:bodyPr wrap="none" rtlCol="0">
            <a:spAutoFit/>
          </a:bodyPr>
          <a:lstStyle/>
          <a:p>
            <a:pPr>
              <a:lnSpc>
                <a:spcPct val="130000"/>
              </a:lnSpc>
              <a:buClr>
                <a:srgbClr val="C5003D"/>
              </a:buClr>
            </a:pPr>
            <a:r>
              <a:rPr lang="en-US" altLang="ko-KR" sz="1400" b="1" dirty="0">
                <a:sym typeface="Wingdings" panose="05000000000000000000" pitchFamily="2" charset="2"/>
              </a:rPr>
              <a:t> </a:t>
            </a:r>
            <a:r>
              <a:rPr lang="en-US" altLang="ko-KR" sz="1400" b="1" dirty="0"/>
              <a:t>  0.006.76 </a:t>
            </a:r>
            <a:endParaRPr lang="ko-KR" altLang="en-US" sz="1400" b="1" baseline="30000" dirty="0"/>
          </a:p>
        </p:txBody>
      </p:sp>
      <p:sp>
        <p:nvSpPr>
          <p:cNvPr id="13" name="TextBox 12"/>
          <p:cNvSpPr txBox="1"/>
          <p:nvPr/>
        </p:nvSpPr>
        <p:spPr>
          <a:xfrm>
            <a:off x="1852005" y="5949281"/>
            <a:ext cx="5589992" cy="412421"/>
          </a:xfrm>
          <a:prstGeom prst="rect">
            <a:avLst/>
          </a:prstGeom>
          <a:noFill/>
        </p:spPr>
        <p:txBody>
          <a:bodyPr wrap="none" rtlCol="0">
            <a:spAutoFit/>
          </a:bodyPr>
          <a:lstStyle/>
          <a:p>
            <a:pPr>
              <a:lnSpc>
                <a:spcPct val="130000"/>
              </a:lnSpc>
              <a:buClr>
                <a:srgbClr val="C5003D"/>
              </a:buClr>
            </a:pPr>
            <a:r>
              <a:rPr lang="en-US" altLang="ko-KR" sz="1600" b="1" dirty="0"/>
              <a:t>6~7 defect which is below LSL will be included in 1000</a:t>
            </a:r>
            <a:endParaRPr lang="ko-KR" altLang="en-US" sz="1600" b="1" dirty="0"/>
          </a:p>
        </p:txBody>
      </p:sp>
      <p:sp>
        <p:nvSpPr>
          <p:cNvPr id="14"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05413476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181</a:t>
            </a:fld>
            <a:endParaRPr lang="ko-KR" altLang="en-US" dirty="0"/>
          </a:p>
        </p:txBody>
      </p:sp>
      <p:sp>
        <p:nvSpPr>
          <p:cNvPr id="3" name="제목 1"/>
          <p:cNvSpPr txBox="1">
            <a:spLocks/>
          </p:cNvSpPr>
          <p:nvPr/>
        </p:nvSpPr>
        <p:spPr bwMode="auto">
          <a:xfrm>
            <a:off x="118582" y="692697"/>
            <a:ext cx="7157071"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2000" b="1" i="0" u="none" strike="noStrike" cap="none" normalizeH="0" baseline="0" dirty="0">
                <a:ln>
                  <a:noFill/>
                </a:ln>
                <a:solidFill>
                  <a:schemeClr val="tx1"/>
                </a:solidFill>
                <a:effectLst/>
                <a:latin typeface="+mn-ea"/>
                <a:ea typeface="+mn-ea"/>
              </a:rPr>
              <a:t>Understanding the standard normal distribution</a:t>
            </a:r>
            <a:endParaRPr kumimoji="1" lang="ko-KR" sz="1800" b="0" i="0" u="none" strike="noStrike" cap="none" normalizeH="0" baseline="0" dirty="0">
              <a:ln>
                <a:noFill/>
              </a:ln>
              <a:solidFill>
                <a:schemeClr val="tx1"/>
              </a:solidFill>
              <a:effectLst/>
              <a:latin typeface="+mn-ea"/>
              <a:ea typeface="+mn-ea"/>
            </a:endParaRPr>
          </a:p>
        </p:txBody>
      </p:sp>
      <p:sp>
        <p:nvSpPr>
          <p:cNvPr id="4" name="TextBox 3"/>
          <p:cNvSpPr txBox="1"/>
          <p:nvPr/>
        </p:nvSpPr>
        <p:spPr>
          <a:xfrm>
            <a:off x="384458" y="1196753"/>
            <a:ext cx="2493696" cy="412421"/>
          </a:xfrm>
          <a:prstGeom prst="rect">
            <a:avLst/>
          </a:prstGeom>
          <a:noFill/>
        </p:spPr>
        <p:txBody>
          <a:bodyPr wrap="none" rtlCol="0">
            <a:spAutoFit/>
          </a:bodyPr>
          <a:lstStyle/>
          <a:p>
            <a:pPr>
              <a:lnSpc>
                <a:spcPct val="130000"/>
              </a:lnSpc>
              <a:buClr>
                <a:srgbClr val="C5003D"/>
              </a:buClr>
            </a:pPr>
            <a:r>
              <a:rPr lang="en-US" altLang="ko-KR" sz="1600" b="1" dirty="0"/>
              <a:t>Calculate using Minitab</a:t>
            </a:r>
            <a:endParaRPr lang="ko-KR" altLang="en-US" sz="1600" b="1" dirty="0"/>
          </a:p>
        </p:txBody>
      </p:sp>
      <p:pic>
        <p:nvPicPr>
          <p:cNvPr id="237875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3271" y="2132856"/>
            <a:ext cx="3395638" cy="2016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650333" y="1700808"/>
            <a:ext cx="5166222" cy="372410"/>
          </a:xfrm>
          <a:prstGeom prst="rect">
            <a:avLst/>
          </a:prstGeom>
          <a:noFill/>
        </p:spPr>
        <p:txBody>
          <a:bodyPr wrap="none" rtlCol="0">
            <a:spAutoFit/>
          </a:bodyPr>
          <a:lstStyle/>
          <a:p>
            <a:pPr>
              <a:lnSpc>
                <a:spcPct val="130000"/>
              </a:lnSpc>
              <a:buClr>
                <a:srgbClr val="C5003D"/>
              </a:buClr>
            </a:pPr>
            <a:r>
              <a:rPr lang="en-US" altLang="ko-KR" sz="1400" b="1" dirty="0"/>
              <a:t>Graph &gt; Probability Distribution Plots &gt; View Probability </a:t>
            </a:r>
            <a:endParaRPr lang="ko-KR" altLang="en-US" sz="1400" b="1" dirty="0"/>
          </a:p>
        </p:txBody>
      </p:sp>
      <p:pic>
        <p:nvPicPr>
          <p:cNvPr id="23787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38650" y="2132856"/>
            <a:ext cx="4040249" cy="3820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765475" y="2564905"/>
            <a:ext cx="2141227" cy="332399"/>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Select Normal Distribution</a:t>
            </a:r>
            <a:endParaRPr lang="ko-KR" altLang="en-US" sz="1200" b="1" dirty="0">
              <a:solidFill>
                <a:srgbClr val="FF0000"/>
              </a:solidFill>
            </a:endParaRPr>
          </a:p>
        </p:txBody>
      </p:sp>
      <p:sp>
        <p:nvSpPr>
          <p:cNvPr id="9" name="TextBox 8"/>
          <p:cNvSpPr txBox="1"/>
          <p:nvPr/>
        </p:nvSpPr>
        <p:spPr>
          <a:xfrm>
            <a:off x="6372355" y="3212977"/>
            <a:ext cx="1107996" cy="332399"/>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Mean	</a:t>
            </a:r>
            <a:endParaRPr lang="ko-KR" altLang="en-US" sz="1200" b="1" dirty="0">
              <a:solidFill>
                <a:srgbClr val="FF0000"/>
              </a:solidFill>
            </a:endParaRPr>
          </a:p>
        </p:txBody>
      </p:sp>
      <p:sp>
        <p:nvSpPr>
          <p:cNvPr id="10" name="TextBox 9"/>
          <p:cNvSpPr txBox="1"/>
          <p:nvPr/>
        </p:nvSpPr>
        <p:spPr>
          <a:xfrm>
            <a:off x="6372355" y="3933057"/>
            <a:ext cx="1571007" cy="332399"/>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Standard deviation</a:t>
            </a:r>
            <a:endParaRPr lang="ko-KR" altLang="en-US" sz="1200" b="1" dirty="0">
              <a:solidFill>
                <a:srgbClr val="FF0000"/>
              </a:solidFill>
            </a:endParaRPr>
          </a:p>
        </p:txBody>
      </p:sp>
      <p:sp>
        <p:nvSpPr>
          <p:cNvPr id="11"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054134765"/>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182</a:t>
            </a:fld>
            <a:endParaRPr lang="ko-KR" altLang="en-US" dirty="0"/>
          </a:p>
        </p:txBody>
      </p:sp>
      <p:sp>
        <p:nvSpPr>
          <p:cNvPr id="3" name="제목 1"/>
          <p:cNvSpPr txBox="1">
            <a:spLocks/>
          </p:cNvSpPr>
          <p:nvPr/>
        </p:nvSpPr>
        <p:spPr bwMode="auto">
          <a:xfrm>
            <a:off x="118583" y="620689"/>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2000" b="1" dirty="0" err="1">
                <a:latin typeface="+mn-ea"/>
                <a:ea typeface="+mn-ea"/>
              </a:rPr>
              <a:t>Hiểu</a:t>
            </a:r>
            <a:r>
              <a:rPr lang="en-US" altLang="ko-KR" sz="2000" b="1" dirty="0">
                <a:latin typeface="+mn-ea"/>
                <a:ea typeface="+mn-ea"/>
              </a:rPr>
              <a:t> </a:t>
            </a:r>
            <a:r>
              <a:rPr lang="en-US" altLang="ko-KR" sz="2000" b="1" dirty="0" err="1">
                <a:latin typeface="+mn-ea"/>
                <a:ea typeface="+mn-ea"/>
              </a:rPr>
              <a:t>về</a:t>
            </a:r>
            <a:r>
              <a:rPr lang="en-US" altLang="ko-KR" sz="2000" b="1" dirty="0">
                <a:latin typeface="+mn-ea"/>
                <a:ea typeface="+mn-ea"/>
              </a:rPr>
              <a:t> </a:t>
            </a:r>
            <a:r>
              <a:rPr lang="en-US" altLang="ko-KR" sz="2000" b="1" dirty="0" err="1">
                <a:latin typeface="+mn-ea"/>
                <a:ea typeface="+mn-ea"/>
              </a:rPr>
              <a:t>phân</a:t>
            </a:r>
            <a:r>
              <a:rPr lang="en-US" altLang="ko-KR" sz="2000" b="1" dirty="0">
                <a:latin typeface="+mn-ea"/>
                <a:ea typeface="+mn-ea"/>
              </a:rPr>
              <a:t> </a:t>
            </a:r>
            <a:r>
              <a:rPr lang="en-US" altLang="ko-KR" sz="2000" b="1" dirty="0" err="1">
                <a:latin typeface="+mn-ea"/>
                <a:ea typeface="+mn-ea"/>
              </a:rPr>
              <a:t>bổ</a:t>
            </a:r>
            <a:r>
              <a:rPr lang="en-US" altLang="ko-KR" sz="2000" b="1" dirty="0">
                <a:latin typeface="+mn-ea"/>
                <a:ea typeface="+mn-ea"/>
              </a:rPr>
              <a:t> </a:t>
            </a:r>
            <a:r>
              <a:rPr lang="en-US" altLang="ko-KR" sz="2000" b="1" dirty="0" err="1">
                <a:latin typeface="+mn-ea"/>
                <a:ea typeface="+mn-ea"/>
              </a:rPr>
              <a:t>chính</a:t>
            </a:r>
            <a:r>
              <a:rPr lang="en-US" altLang="ko-KR" sz="2000" b="1" dirty="0">
                <a:latin typeface="+mn-ea"/>
                <a:ea typeface="+mn-ea"/>
              </a:rPr>
              <a:t> </a:t>
            </a:r>
            <a:r>
              <a:rPr lang="en-US" altLang="ko-KR" sz="2000" b="1" dirty="0" err="1">
                <a:latin typeface="+mn-ea"/>
                <a:ea typeface="+mn-ea"/>
              </a:rPr>
              <a:t>quy</a:t>
            </a:r>
            <a:r>
              <a:rPr lang="en-US" altLang="ko-KR" sz="2000" b="1" dirty="0">
                <a:latin typeface="+mn-ea"/>
                <a:ea typeface="+mn-ea"/>
              </a:rPr>
              <a:t> </a:t>
            </a:r>
            <a:r>
              <a:rPr lang="en-US" altLang="ko-KR" sz="2000" b="1" dirty="0" err="1">
                <a:latin typeface="+mn-ea"/>
                <a:ea typeface="+mn-ea"/>
              </a:rPr>
              <a:t>tiêu</a:t>
            </a:r>
            <a:r>
              <a:rPr lang="en-US" altLang="ko-KR" sz="2000" b="1" dirty="0">
                <a:latin typeface="+mn-ea"/>
                <a:ea typeface="+mn-ea"/>
              </a:rPr>
              <a:t> </a:t>
            </a:r>
            <a:r>
              <a:rPr lang="en-US" altLang="ko-KR" sz="2000" b="1" dirty="0" err="1">
                <a:latin typeface="+mn-ea"/>
                <a:ea typeface="+mn-ea"/>
              </a:rPr>
              <a:t>chuẩn</a:t>
            </a:r>
            <a:r>
              <a:rPr kumimoji="1" lang="ko-KR" altLang="en-US" sz="2000" b="1" i="0" u="none" strike="noStrike" cap="none" normalizeH="0" baseline="0" dirty="0">
                <a:ln>
                  <a:noFill/>
                </a:ln>
                <a:solidFill>
                  <a:schemeClr val="tx1"/>
                </a:solidFill>
                <a:effectLst/>
                <a:latin typeface="+mn-ea"/>
                <a:ea typeface="+mn-ea"/>
              </a:rPr>
              <a:t> </a:t>
            </a:r>
            <a:endParaRPr kumimoji="1" lang="ko-KR" sz="1800" b="0" i="0" u="none" strike="noStrike" cap="none" normalizeH="0" baseline="0" dirty="0">
              <a:ln>
                <a:noFill/>
              </a:ln>
              <a:solidFill>
                <a:schemeClr val="tx1"/>
              </a:solidFill>
              <a:effectLst/>
              <a:latin typeface="+mn-ea"/>
              <a:ea typeface="+mn-ea"/>
            </a:endParaRPr>
          </a:p>
        </p:txBody>
      </p:sp>
      <p:graphicFrame>
        <p:nvGraphicFramePr>
          <p:cNvPr id="4" name="개체 3"/>
          <p:cNvGraphicFramePr>
            <a:graphicFrameLocks noChangeAspect="1"/>
          </p:cNvGraphicFramePr>
          <p:nvPr>
            <p:extLst>
              <p:ext uri="{D42A27DB-BD31-4B8C-83A1-F6EECF244321}">
                <p14:modId xmlns:p14="http://schemas.microsoft.com/office/powerpoint/2010/main" val="264718917"/>
              </p:ext>
            </p:extLst>
          </p:nvPr>
        </p:nvGraphicFramePr>
        <p:xfrm>
          <a:off x="650333" y="1844824"/>
          <a:ext cx="997034" cy="416444"/>
        </p:xfrm>
        <a:graphic>
          <a:graphicData uri="http://schemas.openxmlformats.org/presentationml/2006/ole">
            <mc:AlternateContent xmlns:mc="http://schemas.openxmlformats.org/markup-compatibility/2006">
              <mc:Choice xmlns:v="urn:schemas-microsoft-com:vml" Requires="v">
                <p:oleObj name="수식" r:id="rId2" imgW="812520" imgH="406080" progId="Equation.3">
                  <p:embed/>
                </p:oleObj>
              </mc:Choice>
              <mc:Fallback>
                <p:oleObj name="수식" r:id="rId2" imgW="812520" imgH="406080" progId="Equation.3">
                  <p:embed/>
                  <p:pic>
                    <p:nvPicPr>
                      <p:cNvPr id="4" name="개체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333" y="1844824"/>
                        <a:ext cx="997034" cy="41644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TextBox 4"/>
          <p:cNvSpPr txBox="1"/>
          <p:nvPr/>
        </p:nvSpPr>
        <p:spPr>
          <a:xfrm>
            <a:off x="384458" y="1196753"/>
            <a:ext cx="2041264" cy="412421"/>
          </a:xfrm>
          <a:prstGeom prst="rect">
            <a:avLst/>
          </a:prstGeom>
          <a:noFill/>
        </p:spPr>
        <p:txBody>
          <a:bodyPr wrap="none" rtlCol="0">
            <a:spAutoFit/>
          </a:bodyPr>
          <a:lstStyle/>
          <a:p>
            <a:pPr>
              <a:lnSpc>
                <a:spcPct val="130000"/>
              </a:lnSpc>
              <a:buClr>
                <a:srgbClr val="C5003D"/>
              </a:buClr>
            </a:pP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giá</a:t>
            </a:r>
            <a:r>
              <a:rPr lang="en-US" altLang="ko-KR" sz="1600" b="1" dirty="0"/>
              <a:t> </a:t>
            </a:r>
            <a:r>
              <a:rPr lang="en-US" altLang="ko-KR" sz="1600" b="1" dirty="0" err="1"/>
              <a:t>trị</a:t>
            </a:r>
            <a:r>
              <a:rPr lang="en-US" altLang="ko-KR" sz="1600" b="1" dirty="0"/>
              <a:t> Z</a:t>
            </a:r>
            <a:endParaRPr lang="ko-KR" altLang="en-US" sz="1600" b="1" dirty="0"/>
          </a:p>
        </p:txBody>
      </p:sp>
      <p:graphicFrame>
        <p:nvGraphicFramePr>
          <p:cNvPr id="6" name="개체 5"/>
          <p:cNvGraphicFramePr>
            <a:graphicFrameLocks noChangeAspect="1"/>
          </p:cNvGraphicFramePr>
          <p:nvPr>
            <p:extLst>
              <p:ext uri="{D42A27DB-BD31-4B8C-83A1-F6EECF244321}">
                <p14:modId xmlns:p14="http://schemas.microsoft.com/office/powerpoint/2010/main" val="3398380370"/>
              </p:ext>
            </p:extLst>
          </p:nvPr>
        </p:nvGraphicFramePr>
        <p:xfrm>
          <a:off x="877766" y="2349501"/>
          <a:ext cx="918796" cy="417513"/>
        </p:xfrm>
        <a:graphic>
          <a:graphicData uri="http://schemas.openxmlformats.org/presentationml/2006/ole">
            <mc:AlternateContent xmlns:mc="http://schemas.openxmlformats.org/markup-compatibility/2006">
              <mc:Choice xmlns:v="urn:schemas-microsoft-com:vml" Requires="v">
                <p:oleObj name="수식" r:id="rId4" imgW="749160" imgH="406080" progId="Equation.3">
                  <p:embed/>
                </p:oleObj>
              </mc:Choice>
              <mc:Fallback>
                <p:oleObj name="수식" r:id="rId4" imgW="749160" imgH="406080" progId="Equation.3">
                  <p:embed/>
                  <p:pic>
                    <p:nvPicPr>
                      <p:cNvPr id="6" name="개체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7766" y="2349501"/>
                        <a:ext cx="918796" cy="4175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개체 6"/>
          <p:cNvGraphicFramePr>
            <a:graphicFrameLocks noChangeAspect="1"/>
          </p:cNvGraphicFramePr>
          <p:nvPr>
            <p:extLst>
              <p:ext uri="{D42A27DB-BD31-4B8C-83A1-F6EECF244321}">
                <p14:modId xmlns:p14="http://schemas.microsoft.com/office/powerpoint/2010/main" val="2425832095"/>
              </p:ext>
            </p:extLst>
          </p:nvPr>
        </p:nvGraphicFramePr>
        <p:xfrm>
          <a:off x="931116" y="2970660"/>
          <a:ext cx="810357" cy="182563"/>
        </p:xfrm>
        <a:graphic>
          <a:graphicData uri="http://schemas.openxmlformats.org/presentationml/2006/ole">
            <mc:AlternateContent xmlns:mc="http://schemas.openxmlformats.org/markup-compatibility/2006">
              <mc:Choice xmlns:v="urn:schemas-microsoft-com:vml" Requires="v">
                <p:oleObj name="수식" r:id="rId6" imgW="660240" imgH="177480" progId="Equation.3">
                  <p:embed/>
                </p:oleObj>
              </mc:Choice>
              <mc:Fallback>
                <p:oleObj name="수식" r:id="rId6" imgW="660240" imgH="177480" progId="Equation.3">
                  <p:embed/>
                  <p:pic>
                    <p:nvPicPr>
                      <p:cNvPr id="7" name="개체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1116" y="2970660"/>
                        <a:ext cx="810357" cy="1825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 name="TextBox 7"/>
          <p:cNvSpPr txBox="1"/>
          <p:nvPr/>
        </p:nvSpPr>
        <p:spPr>
          <a:xfrm>
            <a:off x="140461" y="3717032"/>
            <a:ext cx="2836033" cy="932563"/>
          </a:xfrm>
          <a:prstGeom prst="rect">
            <a:avLst/>
          </a:prstGeom>
          <a:noFill/>
        </p:spPr>
        <p:txBody>
          <a:bodyPr wrap="none" rtlCol="0">
            <a:spAutoFit/>
          </a:bodyPr>
          <a:lstStyle/>
          <a:p>
            <a:pPr>
              <a:lnSpc>
                <a:spcPct val="130000"/>
              </a:lnSpc>
              <a:buClr>
                <a:srgbClr val="C5003D"/>
              </a:buClr>
            </a:pPr>
            <a:r>
              <a:rPr lang="en-US" altLang="ko-KR" sz="1400" b="1" dirty="0" err="1"/>
              <a:t>Hãy</a:t>
            </a:r>
            <a:r>
              <a:rPr lang="en-US" altLang="ko-KR" sz="1400" b="1" dirty="0"/>
              <a:t> </a:t>
            </a:r>
            <a:r>
              <a:rPr lang="en-US" altLang="ko-KR" sz="1400" b="1" dirty="0" err="1"/>
              <a:t>tìm</a:t>
            </a:r>
            <a:r>
              <a:rPr lang="en-US" altLang="ko-KR" sz="1400" b="1" dirty="0"/>
              <a:t> </a:t>
            </a:r>
            <a:r>
              <a:rPr lang="en-US" altLang="ko-KR" sz="1400" b="1" dirty="0" err="1"/>
              <a:t>trong</a:t>
            </a:r>
            <a:r>
              <a:rPr lang="en-US" altLang="ko-KR" sz="1400" b="1" dirty="0"/>
              <a:t> Table.    </a:t>
            </a:r>
          </a:p>
          <a:p>
            <a:pPr marL="285750" indent="-285750">
              <a:lnSpc>
                <a:spcPct val="130000"/>
              </a:lnSpc>
              <a:buClr>
                <a:srgbClr val="C5003D"/>
              </a:buClr>
              <a:buFontTx/>
              <a:buChar char="-"/>
            </a:pPr>
            <a:r>
              <a:rPr lang="en-US" altLang="ko-KR" sz="1400" b="1" dirty="0" err="1"/>
              <a:t>Giá</a:t>
            </a:r>
            <a:r>
              <a:rPr lang="en-US" altLang="ko-KR" sz="1400" b="1" dirty="0"/>
              <a:t> </a:t>
            </a:r>
            <a:r>
              <a:rPr lang="en-US" altLang="ko-KR" sz="1400" b="1" dirty="0" err="1"/>
              <a:t>trị</a:t>
            </a:r>
            <a:r>
              <a:rPr lang="en-US" altLang="ko-KR" sz="1400" b="1" dirty="0"/>
              <a:t> </a:t>
            </a:r>
            <a:r>
              <a:rPr lang="en-US" altLang="ko-KR" sz="1400" b="1" dirty="0" err="1"/>
              <a:t>là</a:t>
            </a:r>
            <a:r>
              <a:rPr lang="en-US" altLang="ko-KR" sz="1400" b="1" dirty="0"/>
              <a:t> chi </a:t>
            </a:r>
            <a:r>
              <a:rPr lang="en-US" altLang="ko-KR" sz="1400" b="1" dirty="0" err="1"/>
              <a:t>phối</a:t>
            </a:r>
            <a:r>
              <a:rPr lang="en-US" altLang="ko-KR" sz="1400" b="1" dirty="0"/>
              <a:t> </a:t>
            </a:r>
            <a:r>
              <a:rPr lang="en-US" altLang="ko-KR" sz="1400" b="1" dirty="0" err="1"/>
              <a:t>cân</a:t>
            </a:r>
            <a:r>
              <a:rPr lang="en-US" altLang="ko-KR" sz="1400" b="1" dirty="0"/>
              <a:t> </a:t>
            </a:r>
            <a:r>
              <a:rPr lang="en-US" altLang="ko-KR" sz="1400" b="1" dirty="0" err="1"/>
              <a:t>đối</a:t>
            </a:r>
            <a:r>
              <a:rPr lang="en-US" altLang="ko-KR" sz="1400" b="1" dirty="0"/>
              <a:t> </a:t>
            </a:r>
            <a:r>
              <a:rPr lang="ko-KR" altLang="en-US" sz="1400" b="1" dirty="0"/>
              <a:t> </a:t>
            </a:r>
            <a:endParaRPr lang="en-US" altLang="ko-KR" sz="1400" b="1" dirty="0"/>
          </a:p>
          <a:p>
            <a:pPr marL="285750" indent="-285750">
              <a:lnSpc>
                <a:spcPct val="130000"/>
              </a:lnSpc>
              <a:buClr>
                <a:srgbClr val="C5003D"/>
              </a:buClr>
            </a:pPr>
            <a:r>
              <a:rPr lang="en-US" altLang="ko-KR" sz="1400" b="1" dirty="0" err="1"/>
              <a:t>vì</a:t>
            </a:r>
            <a:r>
              <a:rPr lang="en-US" altLang="ko-KR" sz="1400" b="1" dirty="0"/>
              <a:t> </a:t>
            </a:r>
            <a:r>
              <a:rPr lang="en-US" altLang="ko-KR" sz="1400" b="1" dirty="0" err="1"/>
              <a:t>vậy</a:t>
            </a:r>
            <a:r>
              <a:rPr lang="en-US" altLang="ko-KR" sz="1400" b="1" dirty="0"/>
              <a:t> </a:t>
            </a:r>
            <a:r>
              <a:rPr lang="en-US" altLang="ko-KR" sz="1400" b="1" dirty="0" err="1"/>
              <a:t>tìm</a:t>
            </a:r>
            <a:r>
              <a:rPr lang="en-US" altLang="ko-KR" sz="1400" b="1" dirty="0"/>
              <a:t> </a:t>
            </a:r>
            <a:r>
              <a:rPr lang="en-US" altLang="ko-KR" sz="1400" b="1" dirty="0" err="1"/>
              <a:t>giá</a:t>
            </a:r>
            <a:r>
              <a:rPr lang="en-US" altLang="ko-KR" sz="1400" b="1" dirty="0"/>
              <a:t> </a:t>
            </a:r>
            <a:r>
              <a:rPr lang="en-US" altLang="ko-KR" sz="1400" b="1" dirty="0" err="1"/>
              <a:t>trị</a:t>
            </a:r>
            <a:r>
              <a:rPr lang="en-US" altLang="ko-KR" sz="1400" b="1" dirty="0"/>
              <a:t>  + .  </a:t>
            </a:r>
            <a:endParaRPr lang="ko-KR" altLang="en-US" sz="1400" b="1" dirty="0"/>
          </a:p>
        </p:txBody>
      </p:sp>
      <p:pic>
        <p:nvPicPr>
          <p:cNvPr id="2377736" name="Picture 8"/>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r="19231" b="36487"/>
          <a:stretch/>
        </p:blipFill>
        <p:spPr bwMode="auto">
          <a:xfrm>
            <a:off x="2511464" y="1124744"/>
            <a:ext cx="6446419" cy="4248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377729" name="직선 연결선 2377728"/>
          <p:cNvCxnSpPr/>
          <p:nvPr/>
        </p:nvCxnSpPr>
        <p:spPr>
          <a:xfrm>
            <a:off x="2444994" y="4797152"/>
            <a:ext cx="656606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6" name="TextBox 575"/>
          <p:cNvSpPr txBox="1"/>
          <p:nvPr/>
        </p:nvSpPr>
        <p:spPr>
          <a:xfrm>
            <a:off x="583864" y="4869160"/>
            <a:ext cx="1423788" cy="372410"/>
          </a:xfrm>
          <a:prstGeom prst="rect">
            <a:avLst/>
          </a:prstGeom>
          <a:noFill/>
        </p:spPr>
        <p:txBody>
          <a:bodyPr wrap="none" rtlCol="0">
            <a:spAutoFit/>
          </a:bodyPr>
          <a:lstStyle/>
          <a:p>
            <a:pPr>
              <a:lnSpc>
                <a:spcPct val="130000"/>
              </a:lnSpc>
              <a:buClr>
                <a:srgbClr val="C5003D"/>
              </a:buClr>
            </a:pPr>
            <a:r>
              <a:rPr lang="en-US" altLang="ko-KR" sz="1400" b="1" dirty="0"/>
              <a:t>※  6.76 x 10 </a:t>
            </a:r>
            <a:r>
              <a:rPr lang="en-US" altLang="ko-KR" sz="1400" b="1" baseline="30000" dirty="0"/>
              <a:t>-3</a:t>
            </a:r>
            <a:endParaRPr lang="ko-KR" altLang="en-US" sz="1400" b="1" baseline="30000" dirty="0"/>
          </a:p>
        </p:txBody>
      </p:sp>
      <p:sp>
        <p:nvSpPr>
          <p:cNvPr id="577" name="TextBox 576"/>
          <p:cNvSpPr txBox="1"/>
          <p:nvPr/>
        </p:nvSpPr>
        <p:spPr>
          <a:xfrm>
            <a:off x="849740" y="5288838"/>
            <a:ext cx="1345240" cy="372410"/>
          </a:xfrm>
          <a:prstGeom prst="rect">
            <a:avLst/>
          </a:prstGeom>
          <a:noFill/>
        </p:spPr>
        <p:txBody>
          <a:bodyPr wrap="none" rtlCol="0">
            <a:spAutoFit/>
          </a:bodyPr>
          <a:lstStyle/>
          <a:p>
            <a:pPr>
              <a:lnSpc>
                <a:spcPct val="130000"/>
              </a:lnSpc>
              <a:buClr>
                <a:srgbClr val="C5003D"/>
              </a:buClr>
            </a:pPr>
            <a:r>
              <a:rPr lang="en-US" altLang="ko-KR" sz="1400" b="1" dirty="0">
                <a:sym typeface="Wingdings" panose="05000000000000000000" pitchFamily="2" charset="2"/>
              </a:rPr>
              <a:t> </a:t>
            </a:r>
            <a:r>
              <a:rPr lang="en-US" altLang="ko-KR" sz="1400" b="1" dirty="0"/>
              <a:t>  0.006.76 </a:t>
            </a:r>
            <a:endParaRPr lang="ko-KR" altLang="en-US" sz="1400" b="1" baseline="30000" dirty="0"/>
          </a:p>
        </p:txBody>
      </p:sp>
      <p:sp>
        <p:nvSpPr>
          <p:cNvPr id="13" name="TextBox 12"/>
          <p:cNvSpPr txBox="1"/>
          <p:nvPr/>
        </p:nvSpPr>
        <p:spPr>
          <a:xfrm>
            <a:off x="1852005" y="5949281"/>
            <a:ext cx="5638531" cy="412421"/>
          </a:xfrm>
          <a:prstGeom prst="rect">
            <a:avLst/>
          </a:prstGeom>
          <a:noFill/>
        </p:spPr>
        <p:txBody>
          <a:bodyPr wrap="none" rtlCol="0">
            <a:spAutoFit/>
          </a:bodyPr>
          <a:lstStyle/>
          <a:p>
            <a:pPr>
              <a:lnSpc>
                <a:spcPct val="130000"/>
              </a:lnSpc>
              <a:buClr>
                <a:srgbClr val="C5003D"/>
              </a:buClr>
            </a:pPr>
            <a:r>
              <a:rPr lang="en-US" altLang="ko-KR" sz="1600" b="1" dirty="0" err="1"/>
              <a:t>Trong</a:t>
            </a:r>
            <a:r>
              <a:rPr lang="en-US" altLang="ko-KR" sz="1600" b="1" dirty="0"/>
              <a:t> 1,000 </a:t>
            </a:r>
            <a:r>
              <a:rPr lang="en-US" altLang="ko-KR" sz="1600" b="1" dirty="0" err="1"/>
              <a:t>sẽ</a:t>
            </a:r>
            <a:r>
              <a:rPr lang="en-US" altLang="ko-KR" sz="1600" b="1" dirty="0"/>
              <a:t> </a:t>
            </a:r>
            <a:r>
              <a:rPr lang="en-US" altLang="ko-KR" sz="1600" b="1" dirty="0" err="1"/>
              <a:t>bao</a:t>
            </a:r>
            <a:r>
              <a:rPr lang="en-US" altLang="ko-KR" sz="1600" b="1" dirty="0"/>
              <a:t> </a:t>
            </a:r>
            <a:r>
              <a:rPr lang="en-US" altLang="ko-KR" sz="1600" b="1" dirty="0" err="1"/>
              <a:t>hàm</a:t>
            </a:r>
            <a:r>
              <a:rPr lang="en-US" altLang="ko-KR" sz="1600" b="1" dirty="0"/>
              <a:t> 6 ~ 7 </a:t>
            </a:r>
            <a:r>
              <a:rPr lang="en-US" altLang="ko-KR" sz="1600" b="1" dirty="0" err="1"/>
              <a:t>cái</a:t>
            </a:r>
            <a:r>
              <a:rPr lang="en-US" altLang="ko-KR" sz="1600" b="1" dirty="0"/>
              <a:t> </a:t>
            </a:r>
            <a:r>
              <a:rPr lang="en-US" altLang="ko-KR" sz="1600" b="1" dirty="0" err="1"/>
              <a:t>không</a:t>
            </a:r>
            <a:r>
              <a:rPr lang="en-US" altLang="ko-KR" sz="1600" b="1" dirty="0"/>
              <a:t> </a:t>
            </a:r>
            <a:r>
              <a:rPr lang="en-US" altLang="ko-KR" sz="1600" b="1" dirty="0" err="1"/>
              <a:t>đạt</a:t>
            </a:r>
            <a:r>
              <a:rPr lang="en-US" altLang="ko-KR" sz="1600" b="1" dirty="0"/>
              <a:t> </a:t>
            </a:r>
            <a:r>
              <a:rPr lang="en-US" altLang="ko-KR" sz="1600" b="1" dirty="0" err="1"/>
              <a:t>dưới</a:t>
            </a:r>
            <a:r>
              <a:rPr lang="en-US" altLang="ko-KR" sz="1600" b="1" dirty="0"/>
              <a:t> LSL. </a:t>
            </a:r>
            <a:endParaRPr lang="ko-KR" altLang="en-US" sz="1600" b="1" dirty="0"/>
          </a:p>
        </p:txBody>
      </p:sp>
      <p:sp>
        <p:nvSpPr>
          <p:cNvPr id="14"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305413476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183</a:t>
            </a:fld>
            <a:endParaRPr lang="ko-KR" altLang="en-US" dirty="0"/>
          </a:p>
        </p:txBody>
      </p:sp>
      <p:sp>
        <p:nvSpPr>
          <p:cNvPr id="3" name="제목 1"/>
          <p:cNvSpPr txBox="1">
            <a:spLocks/>
          </p:cNvSpPr>
          <p:nvPr/>
        </p:nvSpPr>
        <p:spPr bwMode="auto">
          <a:xfrm>
            <a:off x="118583" y="692697"/>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2000" b="1" dirty="0" err="1">
                <a:latin typeface="+mn-ea"/>
                <a:ea typeface="+mn-ea"/>
              </a:rPr>
              <a:t>Hiểu</a:t>
            </a:r>
            <a:r>
              <a:rPr lang="en-US" altLang="ko-KR" sz="2000" b="1" dirty="0">
                <a:latin typeface="+mn-ea"/>
                <a:ea typeface="+mn-ea"/>
              </a:rPr>
              <a:t> </a:t>
            </a:r>
            <a:r>
              <a:rPr lang="en-US" altLang="ko-KR" sz="2000" b="1" dirty="0" err="1">
                <a:latin typeface="+mn-ea"/>
                <a:ea typeface="+mn-ea"/>
              </a:rPr>
              <a:t>về</a:t>
            </a:r>
            <a:r>
              <a:rPr lang="en-US" altLang="ko-KR" sz="2000" b="1" dirty="0">
                <a:latin typeface="+mn-ea"/>
                <a:ea typeface="+mn-ea"/>
              </a:rPr>
              <a:t> </a:t>
            </a:r>
            <a:r>
              <a:rPr lang="en-US" altLang="ko-KR" sz="2000" b="1" dirty="0" err="1">
                <a:latin typeface="+mn-ea"/>
                <a:ea typeface="+mn-ea"/>
              </a:rPr>
              <a:t>phân</a:t>
            </a:r>
            <a:r>
              <a:rPr lang="en-US" altLang="ko-KR" sz="2000" b="1" dirty="0">
                <a:latin typeface="+mn-ea"/>
                <a:ea typeface="+mn-ea"/>
              </a:rPr>
              <a:t> </a:t>
            </a:r>
            <a:r>
              <a:rPr lang="en-US" altLang="ko-KR" sz="2000" b="1" dirty="0" err="1">
                <a:latin typeface="+mn-ea"/>
                <a:ea typeface="+mn-ea"/>
              </a:rPr>
              <a:t>bổ</a:t>
            </a:r>
            <a:r>
              <a:rPr lang="en-US" altLang="ko-KR" sz="2000" b="1" dirty="0">
                <a:latin typeface="+mn-ea"/>
                <a:ea typeface="+mn-ea"/>
              </a:rPr>
              <a:t> </a:t>
            </a:r>
            <a:r>
              <a:rPr lang="en-US" altLang="ko-KR" sz="2000" b="1" dirty="0" err="1">
                <a:latin typeface="+mn-ea"/>
                <a:ea typeface="+mn-ea"/>
              </a:rPr>
              <a:t>chính</a:t>
            </a:r>
            <a:r>
              <a:rPr lang="en-US" altLang="ko-KR" sz="2000" b="1" dirty="0">
                <a:latin typeface="+mn-ea"/>
                <a:ea typeface="+mn-ea"/>
              </a:rPr>
              <a:t> </a:t>
            </a:r>
            <a:r>
              <a:rPr lang="en-US" altLang="ko-KR" sz="2000" b="1" dirty="0" err="1">
                <a:latin typeface="+mn-ea"/>
                <a:ea typeface="+mn-ea"/>
              </a:rPr>
              <a:t>quy</a:t>
            </a:r>
            <a:r>
              <a:rPr lang="en-US" altLang="ko-KR" sz="2000" b="1" dirty="0">
                <a:latin typeface="+mn-ea"/>
                <a:ea typeface="+mn-ea"/>
              </a:rPr>
              <a:t> </a:t>
            </a:r>
            <a:r>
              <a:rPr lang="en-US" altLang="ko-KR" sz="2000" b="1" dirty="0" err="1">
                <a:latin typeface="+mn-ea"/>
                <a:ea typeface="+mn-ea"/>
              </a:rPr>
              <a:t>tiêu</a:t>
            </a:r>
            <a:r>
              <a:rPr lang="en-US" altLang="ko-KR" sz="2000" b="1" dirty="0">
                <a:latin typeface="+mn-ea"/>
                <a:ea typeface="+mn-ea"/>
              </a:rPr>
              <a:t> </a:t>
            </a:r>
            <a:r>
              <a:rPr lang="en-US" altLang="ko-KR" sz="2000" b="1" dirty="0" err="1">
                <a:latin typeface="+mn-ea"/>
                <a:ea typeface="+mn-ea"/>
              </a:rPr>
              <a:t>chuẩn</a:t>
            </a:r>
            <a:endParaRPr kumimoji="1" lang="ko-KR" sz="1800" b="0" i="0" u="none" strike="noStrike" cap="none" normalizeH="0" baseline="0" dirty="0">
              <a:ln>
                <a:noFill/>
              </a:ln>
              <a:solidFill>
                <a:schemeClr val="tx1"/>
              </a:solidFill>
              <a:effectLst/>
              <a:latin typeface="+mn-ea"/>
              <a:ea typeface="+mn-ea"/>
            </a:endParaRPr>
          </a:p>
        </p:txBody>
      </p:sp>
      <p:sp>
        <p:nvSpPr>
          <p:cNvPr id="4" name="TextBox 3"/>
          <p:cNvSpPr txBox="1"/>
          <p:nvPr/>
        </p:nvSpPr>
        <p:spPr>
          <a:xfrm>
            <a:off x="384459" y="1196753"/>
            <a:ext cx="3086551" cy="412421"/>
          </a:xfrm>
          <a:prstGeom prst="rect">
            <a:avLst/>
          </a:prstGeom>
          <a:noFill/>
        </p:spPr>
        <p:txBody>
          <a:bodyPr wrap="none" rtlCol="0">
            <a:spAutoFit/>
          </a:bodyPr>
          <a:lstStyle/>
          <a:p>
            <a:pPr>
              <a:lnSpc>
                <a:spcPct val="130000"/>
              </a:lnSpc>
              <a:buClr>
                <a:srgbClr val="C5003D"/>
              </a:buClr>
            </a:pPr>
            <a:r>
              <a:rPr lang="en-US" altLang="ko-KR" sz="1600" b="1" dirty="0" err="1"/>
              <a:t>Sử</a:t>
            </a:r>
            <a:r>
              <a:rPr lang="en-US" altLang="ko-KR" sz="1600" b="1" dirty="0"/>
              <a:t> </a:t>
            </a:r>
            <a:r>
              <a:rPr lang="en-US" altLang="ko-KR" sz="1600" b="1" dirty="0" err="1"/>
              <a:t>dụng</a:t>
            </a:r>
            <a:r>
              <a:rPr lang="en-US" altLang="ko-KR" sz="1600" b="1" dirty="0"/>
              <a:t> Minitab </a:t>
            </a:r>
            <a:r>
              <a:rPr lang="en-US" altLang="ko-KR" sz="1600" b="1" dirty="0" err="1"/>
              <a:t>và</a:t>
            </a:r>
            <a:r>
              <a:rPr lang="en-US" altLang="ko-KR" sz="1600" b="1" dirty="0"/>
              <a:t> </a:t>
            </a:r>
            <a:r>
              <a:rPr lang="en-US" altLang="ko-KR" sz="1600" b="1" dirty="0" err="1"/>
              <a:t>tính</a:t>
            </a:r>
            <a:r>
              <a:rPr lang="en-US" altLang="ko-KR" sz="1600" b="1" dirty="0"/>
              <a:t> </a:t>
            </a:r>
            <a:r>
              <a:rPr lang="en-US" altLang="ko-KR" sz="1600" b="1" dirty="0" err="1"/>
              <a:t>toán</a:t>
            </a:r>
            <a:endParaRPr lang="ko-KR" altLang="en-US" sz="1600" b="1" dirty="0"/>
          </a:p>
        </p:txBody>
      </p:sp>
      <p:pic>
        <p:nvPicPr>
          <p:cNvPr id="237875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3271" y="2132856"/>
            <a:ext cx="3395638" cy="2016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650333" y="1700808"/>
            <a:ext cx="5166222" cy="372410"/>
          </a:xfrm>
          <a:prstGeom prst="rect">
            <a:avLst/>
          </a:prstGeom>
          <a:noFill/>
        </p:spPr>
        <p:txBody>
          <a:bodyPr wrap="none" rtlCol="0">
            <a:spAutoFit/>
          </a:bodyPr>
          <a:lstStyle/>
          <a:p>
            <a:pPr>
              <a:lnSpc>
                <a:spcPct val="130000"/>
              </a:lnSpc>
              <a:buClr>
                <a:srgbClr val="C5003D"/>
              </a:buClr>
            </a:pPr>
            <a:r>
              <a:rPr lang="en-US" altLang="ko-KR" sz="1400" b="1" dirty="0"/>
              <a:t>Graph &gt; Probability Distribution Plots &gt; View Probability </a:t>
            </a:r>
            <a:endParaRPr lang="ko-KR" altLang="en-US" sz="1400" b="1" dirty="0"/>
          </a:p>
        </p:txBody>
      </p:sp>
      <p:pic>
        <p:nvPicPr>
          <p:cNvPr id="237875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38650" y="2132856"/>
            <a:ext cx="4040249" cy="3820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433130" y="2564905"/>
            <a:ext cx="2287806"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Lựa</a:t>
            </a:r>
            <a:r>
              <a:rPr lang="en-US" altLang="ko-KR" sz="1200" b="1" dirty="0">
                <a:solidFill>
                  <a:srgbClr val="FF0000"/>
                </a:solidFill>
              </a:rPr>
              <a:t> </a:t>
            </a:r>
            <a:r>
              <a:rPr lang="en-US" altLang="ko-KR" sz="1200" b="1" dirty="0" err="1">
                <a:solidFill>
                  <a:srgbClr val="FF0000"/>
                </a:solidFill>
              </a:rPr>
              <a:t>chọn</a:t>
            </a:r>
            <a:r>
              <a:rPr lang="en-US" altLang="ko-KR" sz="1200" b="1" dirty="0">
                <a:solidFill>
                  <a:srgbClr val="FF0000"/>
                </a:solidFill>
              </a:rPr>
              <a:t> </a:t>
            </a:r>
            <a:r>
              <a:rPr lang="en-US" altLang="ko-KR" sz="1200" b="1" dirty="0" err="1">
                <a:solidFill>
                  <a:srgbClr val="FF0000"/>
                </a:solidFill>
              </a:rPr>
              <a:t>phân</a:t>
            </a:r>
            <a:r>
              <a:rPr lang="en-US" altLang="ko-KR" sz="1200" b="1" dirty="0">
                <a:solidFill>
                  <a:srgbClr val="FF0000"/>
                </a:solidFill>
              </a:rPr>
              <a:t> </a:t>
            </a:r>
            <a:r>
              <a:rPr lang="en-US" altLang="ko-KR" sz="1200" b="1" dirty="0" err="1">
                <a:solidFill>
                  <a:srgbClr val="FF0000"/>
                </a:solidFill>
              </a:rPr>
              <a:t>bổ</a:t>
            </a:r>
            <a:r>
              <a:rPr lang="en-US" altLang="ko-KR" sz="1200" b="1" dirty="0">
                <a:solidFill>
                  <a:srgbClr val="FF0000"/>
                </a:solidFill>
              </a:rPr>
              <a:t> </a:t>
            </a:r>
            <a:r>
              <a:rPr lang="en-US" altLang="ko-KR" sz="1200" b="1" dirty="0" err="1">
                <a:solidFill>
                  <a:srgbClr val="FF0000"/>
                </a:solidFill>
              </a:rPr>
              <a:t>chính</a:t>
            </a:r>
            <a:r>
              <a:rPr lang="en-US" altLang="ko-KR" sz="1200" b="1" dirty="0">
                <a:solidFill>
                  <a:srgbClr val="FF0000"/>
                </a:solidFill>
              </a:rPr>
              <a:t> </a:t>
            </a:r>
            <a:r>
              <a:rPr lang="en-US" altLang="ko-KR" sz="1200" b="1" dirty="0" err="1">
                <a:solidFill>
                  <a:srgbClr val="FF0000"/>
                </a:solidFill>
              </a:rPr>
              <a:t>quy</a:t>
            </a:r>
            <a:endParaRPr lang="ko-KR" altLang="en-US" sz="1200" b="1" dirty="0">
              <a:solidFill>
                <a:srgbClr val="FF0000"/>
              </a:solidFill>
            </a:endParaRPr>
          </a:p>
        </p:txBody>
      </p:sp>
      <p:sp>
        <p:nvSpPr>
          <p:cNvPr id="9" name="TextBox 8"/>
          <p:cNvSpPr txBox="1"/>
          <p:nvPr/>
        </p:nvSpPr>
        <p:spPr>
          <a:xfrm>
            <a:off x="6372356" y="3212977"/>
            <a:ext cx="930063"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Bình</a:t>
            </a:r>
            <a:r>
              <a:rPr lang="en-US" altLang="ko-KR" sz="1200" b="1" dirty="0">
                <a:solidFill>
                  <a:srgbClr val="FF0000"/>
                </a:solidFill>
              </a:rPr>
              <a:t> </a:t>
            </a:r>
            <a:r>
              <a:rPr lang="en-US" altLang="ko-KR" sz="1200" b="1" dirty="0" err="1">
                <a:solidFill>
                  <a:srgbClr val="FF0000"/>
                </a:solidFill>
              </a:rPr>
              <a:t>quân</a:t>
            </a:r>
            <a:endParaRPr lang="ko-KR" altLang="en-US" sz="1200" b="1" dirty="0">
              <a:solidFill>
                <a:srgbClr val="FF0000"/>
              </a:solidFill>
            </a:endParaRPr>
          </a:p>
        </p:txBody>
      </p:sp>
      <p:sp>
        <p:nvSpPr>
          <p:cNvPr id="10" name="TextBox 9"/>
          <p:cNvSpPr txBox="1"/>
          <p:nvPr/>
        </p:nvSpPr>
        <p:spPr>
          <a:xfrm>
            <a:off x="6372355" y="3933056"/>
            <a:ext cx="1577676"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Độ</a:t>
            </a:r>
            <a:r>
              <a:rPr lang="en-US" altLang="ko-KR" sz="1200" b="1" dirty="0">
                <a:solidFill>
                  <a:srgbClr val="FF0000"/>
                </a:solidFill>
              </a:rPr>
              <a:t> </a:t>
            </a:r>
            <a:r>
              <a:rPr lang="en-US" altLang="ko-KR" sz="1200" b="1" dirty="0" err="1">
                <a:solidFill>
                  <a:srgbClr val="FF0000"/>
                </a:solidFill>
              </a:rPr>
              <a:t>lệch</a:t>
            </a:r>
            <a:r>
              <a:rPr lang="en-US" altLang="ko-KR" sz="1200" b="1" dirty="0">
                <a:solidFill>
                  <a:srgbClr val="FF0000"/>
                </a:solidFill>
              </a:rPr>
              <a:t> </a:t>
            </a:r>
            <a:r>
              <a:rPr lang="en-US" altLang="ko-KR" sz="1200" b="1" dirty="0" err="1">
                <a:solidFill>
                  <a:srgbClr val="FF0000"/>
                </a:solidFill>
              </a:rPr>
              <a:t>tiêu</a:t>
            </a:r>
            <a:r>
              <a:rPr lang="en-US" altLang="ko-KR" sz="1200" b="1" dirty="0">
                <a:solidFill>
                  <a:srgbClr val="FF0000"/>
                </a:solidFill>
              </a:rPr>
              <a:t> </a:t>
            </a:r>
            <a:r>
              <a:rPr lang="en-US" altLang="ko-KR" sz="1200" b="1" dirty="0" err="1">
                <a:solidFill>
                  <a:srgbClr val="FF0000"/>
                </a:solidFill>
              </a:rPr>
              <a:t>chuẩn</a:t>
            </a:r>
            <a:endParaRPr lang="ko-KR" altLang="en-US" sz="1200" b="1" dirty="0">
              <a:solidFill>
                <a:srgbClr val="FF0000"/>
              </a:solidFill>
            </a:endParaRPr>
          </a:p>
        </p:txBody>
      </p:sp>
      <p:sp>
        <p:nvSpPr>
          <p:cNvPr id="11"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305413476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184</a:t>
            </a:fld>
            <a:endParaRPr lang="ko-KR" altLang="en-US" dirty="0"/>
          </a:p>
        </p:txBody>
      </p:sp>
      <p:sp>
        <p:nvSpPr>
          <p:cNvPr id="3" name="제목 1"/>
          <p:cNvSpPr txBox="1">
            <a:spLocks/>
          </p:cNvSpPr>
          <p:nvPr/>
        </p:nvSpPr>
        <p:spPr bwMode="auto">
          <a:xfrm>
            <a:off x="118582" y="620689"/>
            <a:ext cx="8607812"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2000" b="1" i="0" u="none" strike="noStrike" cap="none" normalizeH="0" baseline="0" dirty="0">
                <a:ln>
                  <a:noFill/>
                </a:ln>
                <a:solidFill>
                  <a:schemeClr val="tx1"/>
                </a:solidFill>
                <a:effectLst/>
                <a:latin typeface="+mn-ea"/>
                <a:ea typeface="+mn-ea"/>
              </a:rPr>
              <a:t>Understanding the standard normal distribution</a:t>
            </a:r>
            <a:endParaRPr kumimoji="1" lang="ko-KR" sz="1800" b="0" i="0" u="none" strike="noStrike" cap="none" normalizeH="0" baseline="0" dirty="0">
              <a:ln>
                <a:noFill/>
              </a:ln>
              <a:solidFill>
                <a:schemeClr val="tx1"/>
              </a:solidFill>
              <a:effectLst/>
              <a:latin typeface="+mn-ea"/>
              <a:ea typeface="+mn-ea"/>
            </a:endParaRPr>
          </a:p>
        </p:txBody>
      </p:sp>
      <p:pic>
        <p:nvPicPr>
          <p:cNvPr id="237977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7396" y="1772817"/>
            <a:ext cx="3234333" cy="30584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8" y="1196752"/>
            <a:ext cx="1683474" cy="412421"/>
          </a:xfrm>
          <a:prstGeom prst="rect">
            <a:avLst/>
          </a:prstGeom>
          <a:noFill/>
        </p:spPr>
        <p:txBody>
          <a:bodyPr wrap="none" rtlCol="0">
            <a:spAutoFit/>
          </a:bodyPr>
          <a:lstStyle/>
          <a:p>
            <a:pPr>
              <a:lnSpc>
                <a:spcPct val="130000"/>
              </a:lnSpc>
              <a:buClr>
                <a:srgbClr val="C5003D"/>
              </a:buClr>
            </a:pPr>
            <a:r>
              <a:rPr lang="en-US" altLang="ko-KR" sz="1600" b="1" dirty="0"/>
              <a:t>Minitab setting</a:t>
            </a:r>
            <a:endParaRPr lang="ko-KR" altLang="en-US" sz="1600" b="1" dirty="0"/>
          </a:p>
        </p:txBody>
      </p:sp>
      <p:sp>
        <p:nvSpPr>
          <p:cNvPr id="7" name="TextBox 6"/>
          <p:cNvSpPr txBox="1"/>
          <p:nvPr/>
        </p:nvSpPr>
        <p:spPr>
          <a:xfrm>
            <a:off x="1514430" y="2611861"/>
            <a:ext cx="991618" cy="332399"/>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Set x value</a:t>
            </a:r>
            <a:endParaRPr lang="ko-KR" altLang="en-US" sz="1200" b="1" dirty="0">
              <a:solidFill>
                <a:srgbClr val="FF0000"/>
              </a:solidFill>
            </a:endParaRPr>
          </a:p>
        </p:txBody>
      </p:sp>
      <p:sp>
        <p:nvSpPr>
          <p:cNvPr id="8" name="TextBox 7"/>
          <p:cNvSpPr txBox="1"/>
          <p:nvPr/>
        </p:nvSpPr>
        <p:spPr>
          <a:xfrm>
            <a:off x="1547651" y="3501009"/>
            <a:ext cx="997389" cy="332399"/>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Set left tail</a:t>
            </a:r>
            <a:endParaRPr lang="ko-KR" altLang="en-US" sz="1200" b="1" dirty="0">
              <a:solidFill>
                <a:srgbClr val="FF0000"/>
              </a:solidFill>
            </a:endParaRPr>
          </a:p>
        </p:txBody>
      </p:sp>
      <p:sp>
        <p:nvSpPr>
          <p:cNvPr id="9" name="TextBox 8"/>
          <p:cNvSpPr txBox="1"/>
          <p:nvPr/>
        </p:nvSpPr>
        <p:spPr>
          <a:xfrm>
            <a:off x="1514430" y="3861049"/>
            <a:ext cx="713657" cy="332399"/>
          </a:xfrm>
          <a:prstGeom prst="rect">
            <a:avLst/>
          </a:prstGeom>
          <a:noFill/>
        </p:spPr>
        <p:txBody>
          <a:bodyPr wrap="none" rtlCol="0">
            <a:spAutoFit/>
          </a:bodyPr>
          <a:lstStyle/>
          <a:p>
            <a:pPr>
              <a:lnSpc>
                <a:spcPct val="130000"/>
              </a:lnSpc>
              <a:buClr>
                <a:srgbClr val="C5003D"/>
              </a:buClr>
            </a:pPr>
            <a:r>
              <a:rPr lang="en-US" altLang="ko-KR" sz="1200" b="1" dirty="0">
                <a:solidFill>
                  <a:srgbClr val="FF0000"/>
                </a:solidFill>
              </a:rPr>
              <a:t>Set LSL</a:t>
            </a:r>
            <a:endParaRPr lang="ko-KR" altLang="en-US" sz="1200" b="1" dirty="0">
              <a:solidFill>
                <a:srgbClr val="FF0000"/>
              </a:solidFill>
            </a:endParaRPr>
          </a:p>
        </p:txBody>
      </p:sp>
      <p:pic>
        <p:nvPicPr>
          <p:cNvPr id="23797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07311" y="1772816"/>
            <a:ext cx="4985169" cy="3600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Box 10"/>
          <p:cNvSpPr txBox="1"/>
          <p:nvPr/>
        </p:nvSpPr>
        <p:spPr>
          <a:xfrm>
            <a:off x="6034317" y="1268760"/>
            <a:ext cx="852285" cy="412421"/>
          </a:xfrm>
          <a:prstGeom prst="rect">
            <a:avLst/>
          </a:prstGeom>
          <a:noFill/>
        </p:spPr>
        <p:txBody>
          <a:bodyPr wrap="none" rtlCol="0">
            <a:spAutoFit/>
          </a:bodyPr>
          <a:lstStyle/>
          <a:p>
            <a:pPr>
              <a:lnSpc>
                <a:spcPct val="130000"/>
              </a:lnSpc>
              <a:buClr>
                <a:srgbClr val="C5003D"/>
              </a:buClr>
            </a:pPr>
            <a:r>
              <a:rPr lang="en-US" altLang="ko-KR" sz="1600" b="1" dirty="0"/>
              <a:t>Result</a:t>
            </a:r>
            <a:r>
              <a:rPr lang="ko-KR" altLang="en-US" sz="1600" b="1" dirty="0"/>
              <a:t> </a:t>
            </a:r>
          </a:p>
        </p:txBody>
      </p:sp>
      <p:sp>
        <p:nvSpPr>
          <p:cNvPr id="6" name="TextBox 5"/>
          <p:cNvSpPr txBox="1"/>
          <p:nvPr/>
        </p:nvSpPr>
        <p:spPr>
          <a:xfrm>
            <a:off x="517396" y="5877273"/>
            <a:ext cx="5555560" cy="412421"/>
          </a:xfrm>
          <a:prstGeom prst="rect">
            <a:avLst/>
          </a:prstGeom>
          <a:noFill/>
        </p:spPr>
        <p:txBody>
          <a:bodyPr wrap="none" rtlCol="0">
            <a:spAutoFit/>
          </a:bodyPr>
          <a:lstStyle/>
          <a:p>
            <a:pPr>
              <a:lnSpc>
                <a:spcPct val="130000"/>
              </a:lnSpc>
              <a:buClr>
                <a:srgbClr val="C5003D"/>
              </a:buClr>
            </a:pPr>
            <a:r>
              <a:rPr lang="en-US" altLang="ko-KR" sz="1600" b="1" dirty="0"/>
              <a:t>Check Excel:  NORM.S.DIST (-2.467, True)  = 0.006813 </a:t>
            </a:r>
            <a:endParaRPr lang="ko-KR" altLang="en-US" sz="1600" b="1" dirty="0"/>
          </a:p>
        </p:txBody>
      </p:sp>
      <p:sp>
        <p:nvSpPr>
          <p:cNvPr id="12"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054134765"/>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185</a:t>
            </a:fld>
            <a:endParaRPr lang="ko-KR" altLang="en-US" dirty="0"/>
          </a:p>
        </p:txBody>
      </p:sp>
      <p:sp>
        <p:nvSpPr>
          <p:cNvPr id="3" name="제목 1"/>
          <p:cNvSpPr txBox="1">
            <a:spLocks/>
          </p:cNvSpPr>
          <p:nvPr/>
        </p:nvSpPr>
        <p:spPr bwMode="auto">
          <a:xfrm>
            <a:off x="118582" y="620689"/>
            <a:ext cx="9465068"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en-US" altLang="ko-KR" sz="2000" b="1" i="0" u="none" strike="noStrike" cap="none" normalizeH="0" baseline="0" dirty="0">
                <a:ln>
                  <a:noFill/>
                </a:ln>
                <a:solidFill>
                  <a:schemeClr val="tx1"/>
                </a:solidFill>
                <a:effectLst/>
                <a:latin typeface="+mn-ea"/>
                <a:ea typeface="+mn-ea"/>
              </a:rPr>
              <a:t>Understanding the standard normal distribution</a:t>
            </a:r>
            <a:endParaRPr kumimoji="1" lang="ko-KR" sz="1800" b="0" i="0" u="none" strike="noStrike" cap="none" normalizeH="0" baseline="0" dirty="0">
              <a:ln>
                <a:noFill/>
              </a:ln>
              <a:solidFill>
                <a:schemeClr val="tx1"/>
              </a:solidFill>
              <a:effectLst/>
              <a:latin typeface="+mn-ea"/>
              <a:ea typeface="+mn-ea"/>
            </a:endParaRPr>
          </a:p>
        </p:txBody>
      </p:sp>
      <p:sp>
        <p:nvSpPr>
          <p:cNvPr id="4" name="TextBox 3"/>
          <p:cNvSpPr txBox="1"/>
          <p:nvPr/>
        </p:nvSpPr>
        <p:spPr>
          <a:xfrm>
            <a:off x="317989" y="980728"/>
            <a:ext cx="3925370" cy="412421"/>
          </a:xfrm>
          <a:prstGeom prst="rect">
            <a:avLst/>
          </a:prstGeom>
          <a:noFill/>
        </p:spPr>
        <p:txBody>
          <a:bodyPr wrap="none" rtlCol="0">
            <a:spAutoFit/>
          </a:bodyPr>
          <a:lstStyle/>
          <a:p>
            <a:pPr>
              <a:lnSpc>
                <a:spcPct val="130000"/>
              </a:lnSpc>
              <a:buClr>
                <a:srgbClr val="C5003D"/>
              </a:buClr>
            </a:pPr>
            <a:r>
              <a:rPr lang="en-US" altLang="ko-KR" sz="1600" b="1" dirty="0"/>
              <a:t>Standard Normal Distribution Practice</a:t>
            </a:r>
            <a:endParaRPr lang="ko-KR" altLang="en-US" sz="1600" b="1" dirty="0"/>
          </a:p>
        </p:txBody>
      </p:sp>
      <p:sp>
        <p:nvSpPr>
          <p:cNvPr id="5" name="직사각형 4"/>
          <p:cNvSpPr/>
          <p:nvPr/>
        </p:nvSpPr>
        <p:spPr>
          <a:xfrm>
            <a:off x="517396" y="1412776"/>
            <a:ext cx="8242146" cy="115896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982678" y="1556793"/>
            <a:ext cx="6912768" cy="932563"/>
          </a:xfrm>
          <a:prstGeom prst="rect">
            <a:avLst/>
          </a:prstGeom>
          <a:noFill/>
        </p:spPr>
        <p:txBody>
          <a:bodyPr wrap="square" rtlCol="0">
            <a:spAutoFit/>
          </a:bodyPr>
          <a:lstStyle/>
          <a:p>
            <a:pPr>
              <a:lnSpc>
                <a:spcPct val="130000"/>
              </a:lnSpc>
              <a:buClr>
                <a:srgbClr val="C5003D"/>
              </a:buClr>
            </a:pPr>
            <a:r>
              <a:rPr lang="en-US" altLang="ko-KR" sz="1400" b="1" dirty="0"/>
              <a:t>The dimensions of the parts produced in a process were measured and the mean was 5.67 and the standard deviation was 0.3.</a:t>
            </a:r>
          </a:p>
          <a:p>
            <a:pPr>
              <a:lnSpc>
                <a:spcPct val="130000"/>
              </a:lnSpc>
              <a:buClr>
                <a:srgbClr val="C5003D"/>
              </a:buClr>
            </a:pPr>
            <a:r>
              <a:rPr lang="en-US" altLang="ko-KR" sz="1400" b="1" dirty="0"/>
              <a:t>The specification is 5.5 ± 0.5. What is the total defect rate of this part?</a:t>
            </a:r>
            <a:endParaRPr lang="ko-KR" altLang="en-US" sz="1400" b="1" dirty="0"/>
          </a:p>
        </p:txBody>
      </p:sp>
      <p:pic>
        <p:nvPicPr>
          <p:cNvPr id="7" name="Picture 5"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6803" y="3191170"/>
            <a:ext cx="3416515" cy="1933198"/>
          </a:xfrm>
          <a:prstGeom prst="rect">
            <a:avLst/>
          </a:prstGeom>
          <a:noFill/>
          <a:ln w="9525">
            <a:solidFill>
              <a:schemeClr val="bg1"/>
            </a:solidFill>
            <a:miter lim="800000"/>
            <a:headEnd/>
            <a:tailEnd/>
          </a:ln>
        </p:spPr>
      </p:pic>
      <p:sp>
        <p:nvSpPr>
          <p:cNvPr id="8" name="Line 6"/>
          <p:cNvSpPr>
            <a:spLocks noChangeShapeType="1"/>
          </p:cNvSpPr>
          <p:nvPr/>
        </p:nvSpPr>
        <p:spPr bwMode="auto">
          <a:xfrm>
            <a:off x="2233995" y="3047153"/>
            <a:ext cx="2080" cy="2003723"/>
          </a:xfrm>
          <a:prstGeom prst="line">
            <a:avLst/>
          </a:prstGeom>
          <a:noFill/>
          <a:ln w="12700">
            <a:solidFill>
              <a:schemeClr val="tx1"/>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5" name="Line 18"/>
          <p:cNvSpPr>
            <a:spLocks noChangeShapeType="1"/>
          </p:cNvSpPr>
          <p:nvPr/>
        </p:nvSpPr>
        <p:spPr bwMode="auto">
          <a:xfrm>
            <a:off x="1551546" y="5006170"/>
            <a:ext cx="0" cy="63672"/>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6" name="Line 19"/>
          <p:cNvSpPr>
            <a:spLocks noChangeShapeType="1"/>
          </p:cNvSpPr>
          <p:nvPr/>
        </p:nvSpPr>
        <p:spPr bwMode="auto">
          <a:xfrm>
            <a:off x="2327846" y="5000751"/>
            <a:ext cx="0" cy="62318"/>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7" name="TextBox 16"/>
          <p:cNvSpPr txBox="1"/>
          <p:nvPr/>
        </p:nvSpPr>
        <p:spPr>
          <a:xfrm>
            <a:off x="2287106" y="5076468"/>
            <a:ext cx="466794" cy="312393"/>
          </a:xfrm>
          <a:prstGeom prst="rect">
            <a:avLst/>
          </a:prstGeom>
          <a:noFill/>
        </p:spPr>
        <p:txBody>
          <a:bodyPr wrap="none" rtlCol="0">
            <a:spAutoFit/>
          </a:bodyPr>
          <a:lstStyle/>
          <a:p>
            <a:pPr>
              <a:lnSpc>
                <a:spcPct val="130000"/>
              </a:lnSpc>
              <a:buClr>
                <a:srgbClr val="C5003D"/>
              </a:buClr>
            </a:pPr>
            <a:r>
              <a:rPr lang="en-US" altLang="ko-KR" sz="1100" b="1" dirty="0"/>
              <a:t>5.67</a:t>
            </a:r>
            <a:endParaRPr lang="ko-KR" altLang="en-US" sz="1100" b="1" dirty="0"/>
          </a:p>
        </p:txBody>
      </p:sp>
      <p:cxnSp>
        <p:nvCxnSpPr>
          <p:cNvPr id="22" name="직선 연결선 21"/>
          <p:cNvCxnSpPr/>
          <p:nvPr/>
        </p:nvCxnSpPr>
        <p:spPr>
          <a:xfrm flipV="1">
            <a:off x="1556106" y="3106734"/>
            <a:ext cx="0" cy="19442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 name="직선 연결선 22"/>
          <p:cNvCxnSpPr/>
          <p:nvPr/>
        </p:nvCxnSpPr>
        <p:spPr>
          <a:xfrm flipV="1">
            <a:off x="2937893" y="3106734"/>
            <a:ext cx="0" cy="19442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직선 연결선 23"/>
          <p:cNvCxnSpPr/>
          <p:nvPr/>
        </p:nvCxnSpPr>
        <p:spPr>
          <a:xfrm flipV="1">
            <a:off x="2511463" y="3106734"/>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p:cNvCxnSpPr/>
          <p:nvPr/>
        </p:nvCxnSpPr>
        <p:spPr>
          <a:xfrm flipV="1">
            <a:off x="829863" y="5038424"/>
            <a:ext cx="3487824" cy="12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1868347" y="5144764"/>
            <a:ext cx="731290" cy="732508"/>
          </a:xfrm>
          <a:prstGeom prst="rect">
            <a:avLst/>
          </a:prstGeom>
          <a:noFill/>
        </p:spPr>
        <p:txBody>
          <a:bodyPr wrap="none" rtlCol="0">
            <a:spAutoFit/>
          </a:bodyPr>
          <a:lstStyle/>
          <a:p>
            <a:pPr>
              <a:lnSpc>
                <a:spcPct val="130000"/>
              </a:lnSpc>
              <a:buClr>
                <a:srgbClr val="C5003D"/>
              </a:buClr>
            </a:pPr>
            <a:r>
              <a:rPr lang="en-US" altLang="ko-KR" sz="1600" b="1" dirty="0"/>
              <a:t>Mean</a:t>
            </a:r>
          </a:p>
          <a:p>
            <a:pPr>
              <a:lnSpc>
                <a:spcPct val="130000"/>
              </a:lnSpc>
              <a:buClr>
                <a:srgbClr val="C5003D"/>
              </a:buClr>
            </a:pPr>
            <a:r>
              <a:rPr lang="en-US" altLang="ko-KR" sz="1600" b="1" dirty="0"/>
              <a:t>5.5</a:t>
            </a:r>
            <a:endParaRPr lang="ko-KR" altLang="en-US" sz="1600" b="1" dirty="0"/>
          </a:p>
        </p:txBody>
      </p:sp>
      <p:sp>
        <p:nvSpPr>
          <p:cNvPr id="27" name="TextBox 26"/>
          <p:cNvSpPr txBox="1"/>
          <p:nvPr/>
        </p:nvSpPr>
        <p:spPr>
          <a:xfrm>
            <a:off x="2710870" y="5050950"/>
            <a:ext cx="556563" cy="732508"/>
          </a:xfrm>
          <a:prstGeom prst="rect">
            <a:avLst/>
          </a:prstGeom>
          <a:noFill/>
        </p:spPr>
        <p:txBody>
          <a:bodyPr wrap="none" rtlCol="0">
            <a:spAutoFit/>
          </a:bodyPr>
          <a:lstStyle/>
          <a:p>
            <a:pPr>
              <a:lnSpc>
                <a:spcPct val="130000"/>
              </a:lnSpc>
              <a:buClr>
                <a:srgbClr val="C5003D"/>
              </a:buClr>
            </a:pPr>
            <a:r>
              <a:rPr lang="en-US" altLang="ko-KR" sz="1600" b="1" dirty="0"/>
              <a:t>USL</a:t>
            </a:r>
          </a:p>
          <a:p>
            <a:pPr>
              <a:lnSpc>
                <a:spcPct val="130000"/>
              </a:lnSpc>
              <a:buClr>
                <a:srgbClr val="C5003D"/>
              </a:buClr>
            </a:pPr>
            <a:r>
              <a:rPr lang="en-US" altLang="ko-KR" sz="1600" b="1" dirty="0"/>
              <a:t>6.0</a:t>
            </a:r>
            <a:endParaRPr lang="ko-KR" altLang="en-US" sz="1600" b="1" dirty="0"/>
          </a:p>
        </p:txBody>
      </p:sp>
      <p:sp>
        <p:nvSpPr>
          <p:cNvPr id="28" name="TextBox 27"/>
          <p:cNvSpPr txBox="1"/>
          <p:nvPr/>
        </p:nvSpPr>
        <p:spPr>
          <a:xfrm>
            <a:off x="1356699" y="5050950"/>
            <a:ext cx="511679" cy="732508"/>
          </a:xfrm>
          <a:prstGeom prst="rect">
            <a:avLst/>
          </a:prstGeom>
          <a:noFill/>
        </p:spPr>
        <p:txBody>
          <a:bodyPr wrap="none" rtlCol="0">
            <a:spAutoFit/>
          </a:bodyPr>
          <a:lstStyle/>
          <a:p>
            <a:pPr>
              <a:lnSpc>
                <a:spcPct val="130000"/>
              </a:lnSpc>
              <a:buClr>
                <a:srgbClr val="C5003D"/>
              </a:buClr>
            </a:pPr>
            <a:r>
              <a:rPr lang="en-US" altLang="ko-KR" sz="1600" b="1" dirty="0"/>
              <a:t>LSL</a:t>
            </a:r>
          </a:p>
          <a:p>
            <a:pPr>
              <a:lnSpc>
                <a:spcPct val="130000"/>
              </a:lnSpc>
              <a:buClr>
                <a:srgbClr val="C5003D"/>
              </a:buClr>
            </a:pPr>
            <a:r>
              <a:rPr lang="en-US" altLang="ko-KR" sz="1600" b="1" dirty="0"/>
              <a:t>5.0</a:t>
            </a:r>
            <a:endParaRPr lang="ko-KR" altLang="en-US" sz="1600" b="1" dirty="0"/>
          </a:p>
        </p:txBody>
      </p:sp>
      <p:sp>
        <p:nvSpPr>
          <p:cNvPr id="30" name="TextBox 29"/>
          <p:cNvSpPr txBox="1"/>
          <p:nvPr/>
        </p:nvSpPr>
        <p:spPr>
          <a:xfrm>
            <a:off x="5037283" y="2899892"/>
            <a:ext cx="957313" cy="372410"/>
          </a:xfrm>
          <a:prstGeom prst="rect">
            <a:avLst/>
          </a:prstGeom>
          <a:noFill/>
        </p:spPr>
        <p:txBody>
          <a:bodyPr wrap="none" rtlCol="0">
            <a:spAutoFit/>
          </a:bodyPr>
          <a:lstStyle/>
          <a:p>
            <a:pPr>
              <a:lnSpc>
                <a:spcPct val="130000"/>
              </a:lnSpc>
              <a:buClr>
                <a:srgbClr val="C5003D"/>
              </a:buClr>
            </a:pPr>
            <a:r>
              <a:rPr lang="en-US" altLang="ko-KR" sz="1400" b="1" dirty="0"/>
              <a:t>Z LSL  = </a:t>
            </a:r>
            <a:endParaRPr lang="ko-KR" altLang="en-US" sz="1400" b="1" dirty="0"/>
          </a:p>
        </p:txBody>
      </p:sp>
      <p:sp>
        <p:nvSpPr>
          <p:cNvPr id="31" name="TextBox 30"/>
          <p:cNvSpPr txBox="1"/>
          <p:nvPr/>
        </p:nvSpPr>
        <p:spPr>
          <a:xfrm>
            <a:off x="5037283" y="4152228"/>
            <a:ext cx="934871" cy="372410"/>
          </a:xfrm>
          <a:prstGeom prst="rect">
            <a:avLst/>
          </a:prstGeom>
          <a:noFill/>
        </p:spPr>
        <p:txBody>
          <a:bodyPr wrap="none" rtlCol="0">
            <a:spAutoFit/>
          </a:bodyPr>
          <a:lstStyle/>
          <a:p>
            <a:pPr>
              <a:lnSpc>
                <a:spcPct val="130000"/>
              </a:lnSpc>
              <a:buClr>
                <a:srgbClr val="C5003D"/>
              </a:buClr>
            </a:pPr>
            <a:r>
              <a:rPr lang="en-US" altLang="ko-KR" sz="1400" b="1" dirty="0"/>
              <a:t>Z USL = </a:t>
            </a:r>
            <a:endParaRPr lang="ko-KR" altLang="en-US" sz="1400" b="1" dirty="0"/>
          </a:p>
        </p:txBody>
      </p:sp>
      <p:cxnSp>
        <p:nvCxnSpPr>
          <p:cNvPr id="33" name="직선 연결선 32"/>
          <p:cNvCxnSpPr/>
          <p:nvPr/>
        </p:nvCxnSpPr>
        <p:spPr>
          <a:xfrm>
            <a:off x="5901378" y="3043908"/>
            <a:ext cx="9970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5944723" y="2708920"/>
            <a:ext cx="1015021" cy="372410"/>
          </a:xfrm>
          <a:prstGeom prst="rect">
            <a:avLst/>
          </a:prstGeom>
          <a:noFill/>
        </p:spPr>
        <p:txBody>
          <a:bodyPr wrap="none" rtlCol="0">
            <a:spAutoFit/>
          </a:bodyPr>
          <a:lstStyle/>
          <a:p>
            <a:pPr>
              <a:lnSpc>
                <a:spcPct val="130000"/>
              </a:lnSpc>
              <a:buClr>
                <a:srgbClr val="C5003D"/>
              </a:buClr>
            </a:pPr>
            <a:r>
              <a:rPr lang="en-US" altLang="ko-KR" sz="1400" b="1" dirty="0"/>
              <a:t>5.0 – 5.67</a:t>
            </a:r>
            <a:endParaRPr lang="ko-KR" altLang="en-US" sz="1400" b="1" dirty="0"/>
          </a:p>
        </p:txBody>
      </p:sp>
      <p:sp>
        <p:nvSpPr>
          <p:cNvPr id="39" name="TextBox 38"/>
          <p:cNvSpPr txBox="1"/>
          <p:nvPr/>
        </p:nvSpPr>
        <p:spPr>
          <a:xfrm>
            <a:off x="6220885" y="3011618"/>
            <a:ext cx="439544" cy="372410"/>
          </a:xfrm>
          <a:prstGeom prst="rect">
            <a:avLst/>
          </a:prstGeom>
          <a:noFill/>
        </p:spPr>
        <p:txBody>
          <a:bodyPr wrap="none" rtlCol="0">
            <a:spAutoFit/>
          </a:bodyPr>
          <a:lstStyle/>
          <a:p>
            <a:pPr>
              <a:lnSpc>
                <a:spcPct val="130000"/>
              </a:lnSpc>
              <a:buClr>
                <a:srgbClr val="C5003D"/>
              </a:buClr>
            </a:pPr>
            <a:r>
              <a:rPr lang="en-US" altLang="ko-KR" sz="1400" b="1" dirty="0"/>
              <a:t>0.3</a:t>
            </a:r>
            <a:endParaRPr lang="ko-KR" altLang="en-US" sz="1400" b="1" dirty="0"/>
          </a:p>
        </p:txBody>
      </p:sp>
      <p:sp>
        <p:nvSpPr>
          <p:cNvPr id="40" name="TextBox 39"/>
          <p:cNvSpPr txBox="1"/>
          <p:nvPr/>
        </p:nvSpPr>
        <p:spPr>
          <a:xfrm>
            <a:off x="6964882" y="2899892"/>
            <a:ext cx="809837" cy="372410"/>
          </a:xfrm>
          <a:prstGeom prst="rect">
            <a:avLst/>
          </a:prstGeom>
          <a:noFill/>
        </p:spPr>
        <p:txBody>
          <a:bodyPr wrap="none" rtlCol="0">
            <a:spAutoFit/>
          </a:bodyPr>
          <a:lstStyle/>
          <a:p>
            <a:pPr>
              <a:lnSpc>
                <a:spcPct val="130000"/>
              </a:lnSpc>
              <a:buClr>
                <a:srgbClr val="C5003D"/>
              </a:buClr>
            </a:pPr>
            <a:r>
              <a:rPr lang="en-US" altLang="ko-KR" sz="1400" b="1" dirty="0"/>
              <a:t>= -2.23</a:t>
            </a:r>
            <a:endParaRPr lang="ko-KR" altLang="en-US" sz="1400" b="1" dirty="0"/>
          </a:p>
        </p:txBody>
      </p:sp>
      <p:cxnSp>
        <p:nvCxnSpPr>
          <p:cNvPr id="41" name="직선 연결선 40"/>
          <p:cNvCxnSpPr/>
          <p:nvPr/>
        </p:nvCxnSpPr>
        <p:spPr>
          <a:xfrm>
            <a:off x="5901378" y="4327526"/>
            <a:ext cx="9970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5944723" y="3992538"/>
            <a:ext cx="1015021" cy="372410"/>
          </a:xfrm>
          <a:prstGeom prst="rect">
            <a:avLst/>
          </a:prstGeom>
          <a:noFill/>
        </p:spPr>
        <p:txBody>
          <a:bodyPr wrap="none" rtlCol="0">
            <a:spAutoFit/>
          </a:bodyPr>
          <a:lstStyle/>
          <a:p>
            <a:pPr>
              <a:lnSpc>
                <a:spcPct val="130000"/>
              </a:lnSpc>
              <a:buClr>
                <a:srgbClr val="C5003D"/>
              </a:buClr>
            </a:pPr>
            <a:r>
              <a:rPr lang="en-US" altLang="ko-KR" sz="1400" b="1" dirty="0"/>
              <a:t>6.0 – 5.67</a:t>
            </a:r>
            <a:endParaRPr lang="ko-KR" altLang="en-US" sz="1400" b="1" dirty="0"/>
          </a:p>
        </p:txBody>
      </p:sp>
      <p:sp>
        <p:nvSpPr>
          <p:cNvPr id="43" name="TextBox 42"/>
          <p:cNvSpPr txBox="1"/>
          <p:nvPr/>
        </p:nvSpPr>
        <p:spPr>
          <a:xfrm>
            <a:off x="6220885" y="4295236"/>
            <a:ext cx="439544" cy="372410"/>
          </a:xfrm>
          <a:prstGeom prst="rect">
            <a:avLst/>
          </a:prstGeom>
          <a:noFill/>
        </p:spPr>
        <p:txBody>
          <a:bodyPr wrap="none" rtlCol="0">
            <a:spAutoFit/>
          </a:bodyPr>
          <a:lstStyle/>
          <a:p>
            <a:pPr>
              <a:lnSpc>
                <a:spcPct val="130000"/>
              </a:lnSpc>
              <a:buClr>
                <a:srgbClr val="C5003D"/>
              </a:buClr>
            </a:pPr>
            <a:r>
              <a:rPr lang="en-US" altLang="ko-KR" sz="1400" b="1" dirty="0"/>
              <a:t>0.3</a:t>
            </a:r>
            <a:endParaRPr lang="ko-KR" altLang="en-US" sz="1400" b="1" dirty="0"/>
          </a:p>
        </p:txBody>
      </p:sp>
      <p:sp>
        <p:nvSpPr>
          <p:cNvPr id="44" name="TextBox 43"/>
          <p:cNvSpPr txBox="1"/>
          <p:nvPr/>
        </p:nvSpPr>
        <p:spPr>
          <a:xfrm>
            <a:off x="6964881" y="4183510"/>
            <a:ext cx="631904" cy="372410"/>
          </a:xfrm>
          <a:prstGeom prst="rect">
            <a:avLst/>
          </a:prstGeom>
          <a:noFill/>
        </p:spPr>
        <p:txBody>
          <a:bodyPr wrap="none" rtlCol="0">
            <a:spAutoFit/>
          </a:bodyPr>
          <a:lstStyle/>
          <a:p>
            <a:pPr>
              <a:lnSpc>
                <a:spcPct val="130000"/>
              </a:lnSpc>
              <a:buClr>
                <a:srgbClr val="C5003D"/>
              </a:buClr>
            </a:pPr>
            <a:r>
              <a:rPr lang="en-US" altLang="ko-KR" sz="1400" b="1" dirty="0"/>
              <a:t>= 1.1</a:t>
            </a:r>
            <a:endParaRPr lang="ko-KR" altLang="en-US" sz="1400" b="1" dirty="0"/>
          </a:p>
        </p:txBody>
      </p:sp>
      <p:sp>
        <p:nvSpPr>
          <p:cNvPr id="45" name="TextBox 44"/>
          <p:cNvSpPr txBox="1"/>
          <p:nvPr/>
        </p:nvSpPr>
        <p:spPr>
          <a:xfrm>
            <a:off x="5037283" y="3475956"/>
            <a:ext cx="2459519" cy="372410"/>
          </a:xfrm>
          <a:prstGeom prst="rect">
            <a:avLst/>
          </a:prstGeom>
          <a:noFill/>
        </p:spPr>
        <p:txBody>
          <a:bodyPr wrap="none" rtlCol="0">
            <a:spAutoFit/>
          </a:bodyPr>
          <a:lstStyle/>
          <a:p>
            <a:pPr>
              <a:lnSpc>
                <a:spcPct val="130000"/>
              </a:lnSpc>
              <a:buClr>
                <a:srgbClr val="C5003D"/>
              </a:buClr>
            </a:pPr>
            <a:r>
              <a:rPr lang="en-US" altLang="ko-KR" sz="1400" b="1" dirty="0"/>
              <a:t>Probability(LSL) =  1.276%</a:t>
            </a:r>
            <a:endParaRPr lang="ko-KR" altLang="en-US" sz="1400" b="1" dirty="0"/>
          </a:p>
        </p:txBody>
      </p:sp>
      <p:sp>
        <p:nvSpPr>
          <p:cNvPr id="46" name="TextBox 45"/>
          <p:cNvSpPr txBox="1"/>
          <p:nvPr/>
        </p:nvSpPr>
        <p:spPr>
          <a:xfrm>
            <a:off x="5037283" y="4700092"/>
            <a:ext cx="2603790" cy="372410"/>
          </a:xfrm>
          <a:prstGeom prst="rect">
            <a:avLst/>
          </a:prstGeom>
          <a:noFill/>
        </p:spPr>
        <p:txBody>
          <a:bodyPr wrap="none" rtlCol="0">
            <a:spAutoFit/>
          </a:bodyPr>
          <a:lstStyle/>
          <a:p>
            <a:pPr>
              <a:lnSpc>
                <a:spcPct val="130000"/>
              </a:lnSpc>
              <a:buClr>
                <a:srgbClr val="C5003D"/>
              </a:buClr>
            </a:pPr>
            <a:r>
              <a:rPr lang="en-US" altLang="ko-KR" sz="1400" b="1" dirty="0"/>
              <a:t>Probability(USL) =  13.566%</a:t>
            </a:r>
            <a:endParaRPr lang="ko-KR" altLang="en-US" sz="1400" b="1" dirty="0"/>
          </a:p>
        </p:txBody>
      </p:sp>
      <p:sp>
        <p:nvSpPr>
          <p:cNvPr id="47" name="타원 46"/>
          <p:cNvSpPr/>
          <p:nvPr/>
        </p:nvSpPr>
        <p:spPr>
          <a:xfrm>
            <a:off x="3109684" y="4869160"/>
            <a:ext cx="132938" cy="1440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구부러진 연결선 48"/>
          <p:cNvCxnSpPr>
            <a:stCxn id="47" idx="6"/>
            <a:endCxn id="31" idx="1"/>
          </p:cNvCxnSpPr>
          <p:nvPr/>
        </p:nvCxnSpPr>
        <p:spPr>
          <a:xfrm flipV="1">
            <a:off x="3242622" y="4338433"/>
            <a:ext cx="1794661" cy="602735"/>
          </a:xfrm>
          <a:prstGeom prst="curvedConnector3">
            <a:avLst>
              <a:gd name="adj1" fmla="val 50000"/>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52" name="타원 51"/>
          <p:cNvSpPr/>
          <p:nvPr/>
        </p:nvSpPr>
        <p:spPr>
          <a:xfrm>
            <a:off x="1315023" y="4941168"/>
            <a:ext cx="132938" cy="1440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4" name="구부러진 연결선 53"/>
          <p:cNvCxnSpPr>
            <a:stCxn id="52" idx="0"/>
            <a:endCxn id="30" idx="1"/>
          </p:cNvCxnSpPr>
          <p:nvPr/>
        </p:nvCxnSpPr>
        <p:spPr>
          <a:xfrm rot="5400000" flipH="1" flipV="1">
            <a:off x="2281852" y="2185738"/>
            <a:ext cx="1855071" cy="3655791"/>
          </a:xfrm>
          <a:prstGeom prst="curvedConnector2">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5037282" y="5373216"/>
            <a:ext cx="2569101" cy="372410"/>
          </a:xfrm>
          <a:prstGeom prst="rect">
            <a:avLst/>
          </a:prstGeom>
          <a:noFill/>
        </p:spPr>
        <p:txBody>
          <a:bodyPr wrap="none" rtlCol="0">
            <a:spAutoFit/>
          </a:bodyPr>
          <a:lstStyle/>
          <a:p>
            <a:pPr>
              <a:lnSpc>
                <a:spcPct val="130000"/>
              </a:lnSpc>
              <a:buClr>
                <a:srgbClr val="C5003D"/>
              </a:buClr>
            </a:pPr>
            <a:r>
              <a:rPr lang="en-US" altLang="ko-KR" sz="1400" b="1" dirty="0"/>
              <a:t>Total  defect rate</a:t>
            </a:r>
            <a:r>
              <a:rPr lang="ko-KR" altLang="en-US" sz="1400" b="1" dirty="0"/>
              <a:t> </a:t>
            </a:r>
            <a:r>
              <a:rPr lang="en-US" altLang="ko-KR" sz="1400" b="1" dirty="0"/>
              <a:t>14.843 % </a:t>
            </a:r>
            <a:endParaRPr lang="ko-KR" altLang="en-US" sz="1400" b="1" dirty="0"/>
          </a:p>
        </p:txBody>
      </p:sp>
      <p:cxnSp>
        <p:nvCxnSpPr>
          <p:cNvPr id="57" name="직선 연결선 56"/>
          <p:cNvCxnSpPr/>
          <p:nvPr/>
        </p:nvCxnSpPr>
        <p:spPr>
          <a:xfrm>
            <a:off x="5103751" y="5733256"/>
            <a:ext cx="20605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31372366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186</a:t>
            </a:fld>
            <a:endParaRPr lang="ko-KR" altLang="en-US" dirty="0"/>
          </a:p>
        </p:txBody>
      </p:sp>
      <p:sp>
        <p:nvSpPr>
          <p:cNvPr id="3" name="제목 1"/>
          <p:cNvSpPr txBox="1">
            <a:spLocks/>
          </p:cNvSpPr>
          <p:nvPr/>
        </p:nvSpPr>
        <p:spPr bwMode="auto">
          <a:xfrm>
            <a:off x="118583" y="620689"/>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2000" b="1" dirty="0" err="1">
                <a:latin typeface="+mn-ea"/>
                <a:ea typeface="+mn-ea"/>
              </a:rPr>
              <a:t>Hiểu</a:t>
            </a:r>
            <a:r>
              <a:rPr lang="en-US" altLang="ko-KR" sz="2000" b="1" dirty="0">
                <a:latin typeface="+mn-ea"/>
                <a:ea typeface="+mn-ea"/>
              </a:rPr>
              <a:t> </a:t>
            </a:r>
            <a:r>
              <a:rPr lang="en-US" altLang="ko-KR" sz="2000" b="1" dirty="0" err="1">
                <a:latin typeface="+mn-ea"/>
                <a:ea typeface="+mn-ea"/>
              </a:rPr>
              <a:t>về</a:t>
            </a:r>
            <a:r>
              <a:rPr lang="en-US" altLang="ko-KR" sz="2000" b="1" dirty="0">
                <a:latin typeface="+mn-ea"/>
                <a:ea typeface="+mn-ea"/>
              </a:rPr>
              <a:t> </a:t>
            </a:r>
            <a:r>
              <a:rPr lang="en-US" altLang="ko-KR" sz="2000" b="1" dirty="0" err="1">
                <a:latin typeface="+mn-ea"/>
                <a:ea typeface="+mn-ea"/>
              </a:rPr>
              <a:t>phân</a:t>
            </a:r>
            <a:r>
              <a:rPr lang="en-US" altLang="ko-KR" sz="2000" b="1" dirty="0">
                <a:latin typeface="+mn-ea"/>
                <a:ea typeface="+mn-ea"/>
              </a:rPr>
              <a:t> </a:t>
            </a:r>
            <a:r>
              <a:rPr lang="en-US" altLang="ko-KR" sz="2000" b="1" dirty="0" err="1">
                <a:latin typeface="+mn-ea"/>
                <a:ea typeface="+mn-ea"/>
              </a:rPr>
              <a:t>bổ</a:t>
            </a:r>
            <a:r>
              <a:rPr lang="en-US" altLang="ko-KR" sz="2000" b="1" dirty="0">
                <a:latin typeface="+mn-ea"/>
                <a:ea typeface="+mn-ea"/>
              </a:rPr>
              <a:t> </a:t>
            </a:r>
            <a:r>
              <a:rPr lang="en-US" altLang="ko-KR" sz="2000" b="1" dirty="0" err="1">
                <a:latin typeface="+mn-ea"/>
                <a:ea typeface="+mn-ea"/>
              </a:rPr>
              <a:t>chính</a:t>
            </a:r>
            <a:r>
              <a:rPr lang="en-US" altLang="ko-KR" sz="2000" b="1" dirty="0">
                <a:latin typeface="+mn-ea"/>
                <a:ea typeface="+mn-ea"/>
              </a:rPr>
              <a:t> </a:t>
            </a:r>
            <a:r>
              <a:rPr lang="en-US" altLang="ko-KR" sz="2000" b="1" dirty="0" err="1">
                <a:latin typeface="+mn-ea"/>
                <a:ea typeface="+mn-ea"/>
              </a:rPr>
              <a:t>quy</a:t>
            </a:r>
            <a:r>
              <a:rPr lang="en-US" altLang="ko-KR" sz="2000" b="1" dirty="0">
                <a:latin typeface="+mn-ea"/>
                <a:ea typeface="+mn-ea"/>
              </a:rPr>
              <a:t> </a:t>
            </a:r>
            <a:r>
              <a:rPr lang="en-US" altLang="ko-KR" sz="2000" b="1" dirty="0" err="1">
                <a:latin typeface="+mn-ea"/>
                <a:ea typeface="+mn-ea"/>
              </a:rPr>
              <a:t>tiêu</a:t>
            </a:r>
            <a:r>
              <a:rPr lang="en-US" altLang="ko-KR" sz="2000" b="1" dirty="0">
                <a:latin typeface="+mn-ea"/>
                <a:ea typeface="+mn-ea"/>
              </a:rPr>
              <a:t> </a:t>
            </a:r>
            <a:r>
              <a:rPr lang="en-US" altLang="ko-KR" sz="2000" b="1" dirty="0" err="1">
                <a:latin typeface="+mn-ea"/>
                <a:ea typeface="+mn-ea"/>
              </a:rPr>
              <a:t>chuẩn</a:t>
            </a:r>
            <a:endParaRPr kumimoji="1" lang="ko-KR" sz="1800" b="0" i="0" u="none" strike="noStrike" cap="none" normalizeH="0" baseline="0" dirty="0">
              <a:ln>
                <a:noFill/>
              </a:ln>
              <a:solidFill>
                <a:schemeClr val="tx1"/>
              </a:solidFill>
              <a:effectLst/>
              <a:latin typeface="+mn-ea"/>
              <a:ea typeface="+mn-ea"/>
            </a:endParaRPr>
          </a:p>
        </p:txBody>
      </p:sp>
      <p:pic>
        <p:nvPicPr>
          <p:cNvPr id="237977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7396" y="1772817"/>
            <a:ext cx="3234333" cy="30584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8" y="1196753"/>
            <a:ext cx="1968809" cy="412421"/>
          </a:xfrm>
          <a:prstGeom prst="rect">
            <a:avLst/>
          </a:prstGeom>
          <a:noFill/>
        </p:spPr>
        <p:txBody>
          <a:bodyPr wrap="none" rtlCol="0">
            <a:spAutoFit/>
          </a:bodyPr>
          <a:lstStyle/>
          <a:p>
            <a:pPr>
              <a:lnSpc>
                <a:spcPct val="130000"/>
              </a:lnSpc>
              <a:buClr>
                <a:srgbClr val="C5003D"/>
              </a:buClr>
            </a:pPr>
            <a:r>
              <a:rPr lang="en-US" altLang="ko-KR" sz="1600" b="1" dirty="0" err="1"/>
              <a:t>Lựa</a:t>
            </a:r>
            <a:r>
              <a:rPr lang="en-US" altLang="ko-KR" sz="1600" b="1" dirty="0"/>
              <a:t> </a:t>
            </a:r>
            <a:r>
              <a:rPr lang="en-US" altLang="ko-KR" sz="1600" b="1" dirty="0" err="1"/>
              <a:t>chọn</a:t>
            </a:r>
            <a:r>
              <a:rPr lang="en-US" altLang="ko-KR" sz="1600" b="1" dirty="0"/>
              <a:t> Minitab</a:t>
            </a:r>
            <a:r>
              <a:rPr lang="ko-KR" altLang="en-US" sz="1600" b="1" dirty="0"/>
              <a:t> </a:t>
            </a:r>
          </a:p>
        </p:txBody>
      </p:sp>
      <p:sp>
        <p:nvSpPr>
          <p:cNvPr id="7" name="TextBox 6"/>
          <p:cNvSpPr txBox="1"/>
          <p:nvPr/>
        </p:nvSpPr>
        <p:spPr>
          <a:xfrm>
            <a:off x="1514429" y="2611861"/>
            <a:ext cx="1510350"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lựa</a:t>
            </a:r>
            <a:r>
              <a:rPr lang="en-US" altLang="ko-KR" sz="1200" b="1" dirty="0">
                <a:solidFill>
                  <a:srgbClr val="FF0000"/>
                </a:solidFill>
              </a:rPr>
              <a:t> </a:t>
            </a:r>
            <a:r>
              <a:rPr lang="en-US" altLang="ko-KR" sz="1200" b="1" dirty="0" err="1">
                <a:solidFill>
                  <a:srgbClr val="FF0000"/>
                </a:solidFill>
              </a:rPr>
              <a:t>chọn</a:t>
            </a:r>
            <a:r>
              <a:rPr lang="en-US" altLang="ko-KR" sz="1200" b="1" dirty="0">
                <a:solidFill>
                  <a:srgbClr val="FF0000"/>
                </a:solidFill>
              </a:rPr>
              <a:t> </a:t>
            </a:r>
            <a:r>
              <a:rPr lang="en-US" altLang="ko-KR" sz="1200" b="1" dirty="0" err="1">
                <a:solidFill>
                  <a:srgbClr val="FF0000"/>
                </a:solidFill>
              </a:rPr>
              <a:t>giá</a:t>
            </a:r>
            <a:r>
              <a:rPr lang="en-US" altLang="ko-KR" sz="1200" b="1" dirty="0">
                <a:solidFill>
                  <a:srgbClr val="FF0000"/>
                </a:solidFill>
              </a:rPr>
              <a:t> </a:t>
            </a:r>
            <a:r>
              <a:rPr lang="en-US" altLang="ko-KR" sz="1200" b="1" dirty="0" err="1">
                <a:solidFill>
                  <a:srgbClr val="FF0000"/>
                </a:solidFill>
              </a:rPr>
              <a:t>trị</a:t>
            </a:r>
            <a:r>
              <a:rPr lang="en-US" altLang="ko-KR" sz="1200" b="1" dirty="0">
                <a:solidFill>
                  <a:srgbClr val="FF0000"/>
                </a:solidFill>
              </a:rPr>
              <a:t> X</a:t>
            </a:r>
            <a:endParaRPr lang="ko-KR" altLang="en-US" sz="1200" b="1" dirty="0">
              <a:solidFill>
                <a:srgbClr val="FF0000"/>
              </a:solidFill>
            </a:endParaRPr>
          </a:p>
        </p:txBody>
      </p:sp>
      <p:sp>
        <p:nvSpPr>
          <p:cNvPr id="8" name="TextBox 7"/>
          <p:cNvSpPr txBox="1"/>
          <p:nvPr/>
        </p:nvSpPr>
        <p:spPr>
          <a:xfrm>
            <a:off x="1547651" y="3501009"/>
            <a:ext cx="1857945"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Lựa</a:t>
            </a:r>
            <a:r>
              <a:rPr lang="en-US" altLang="ko-KR" sz="1200" b="1" dirty="0">
                <a:solidFill>
                  <a:srgbClr val="FF0000"/>
                </a:solidFill>
              </a:rPr>
              <a:t> </a:t>
            </a:r>
            <a:r>
              <a:rPr lang="en-US" altLang="ko-KR" sz="1200" b="1" dirty="0" err="1">
                <a:solidFill>
                  <a:srgbClr val="FF0000"/>
                </a:solidFill>
              </a:rPr>
              <a:t>chọn</a:t>
            </a:r>
            <a:r>
              <a:rPr lang="en-US" altLang="ko-KR" sz="1200" b="1" dirty="0">
                <a:solidFill>
                  <a:srgbClr val="FF0000"/>
                </a:solidFill>
              </a:rPr>
              <a:t> </a:t>
            </a:r>
            <a:r>
              <a:rPr lang="en-US" altLang="ko-KR" sz="1200" b="1" dirty="0" err="1">
                <a:solidFill>
                  <a:srgbClr val="FF0000"/>
                </a:solidFill>
              </a:rPr>
              <a:t>đuôi</a:t>
            </a:r>
            <a:r>
              <a:rPr lang="en-US" altLang="ko-KR" sz="1200" b="1" dirty="0">
                <a:solidFill>
                  <a:srgbClr val="FF0000"/>
                </a:solidFill>
              </a:rPr>
              <a:t> </a:t>
            </a:r>
            <a:r>
              <a:rPr lang="en-US" altLang="ko-KR" sz="1200" b="1" dirty="0" err="1">
                <a:solidFill>
                  <a:srgbClr val="FF0000"/>
                </a:solidFill>
              </a:rPr>
              <a:t>bên</a:t>
            </a:r>
            <a:r>
              <a:rPr lang="en-US" altLang="ko-KR" sz="1200" b="1" dirty="0">
                <a:solidFill>
                  <a:srgbClr val="FF0000"/>
                </a:solidFill>
              </a:rPr>
              <a:t> </a:t>
            </a:r>
            <a:r>
              <a:rPr lang="en-US" altLang="ko-KR" sz="1200" b="1" dirty="0" err="1">
                <a:solidFill>
                  <a:srgbClr val="FF0000"/>
                </a:solidFill>
              </a:rPr>
              <a:t>trái</a:t>
            </a:r>
            <a:endParaRPr lang="ko-KR" altLang="en-US" sz="1200" b="1" dirty="0">
              <a:solidFill>
                <a:srgbClr val="FF0000"/>
              </a:solidFill>
            </a:endParaRPr>
          </a:p>
        </p:txBody>
      </p:sp>
      <p:sp>
        <p:nvSpPr>
          <p:cNvPr id="9" name="TextBox 8"/>
          <p:cNvSpPr txBox="1"/>
          <p:nvPr/>
        </p:nvSpPr>
        <p:spPr>
          <a:xfrm>
            <a:off x="1514430" y="3861049"/>
            <a:ext cx="1200970" cy="332399"/>
          </a:xfrm>
          <a:prstGeom prst="rect">
            <a:avLst/>
          </a:prstGeom>
          <a:noFill/>
        </p:spPr>
        <p:txBody>
          <a:bodyPr wrap="none" rtlCol="0">
            <a:spAutoFit/>
          </a:bodyPr>
          <a:lstStyle/>
          <a:p>
            <a:pPr>
              <a:lnSpc>
                <a:spcPct val="130000"/>
              </a:lnSpc>
              <a:buClr>
                <a:srgbClr val="C5003D"/>
              </a:buClr>
            </a:pPr>
            <a:r>
              <a:rPr lang="en-US" altLang="ko-KR" sz="1200" b="1" dirty="0" err="1">
                <a:solidFill>
                  <a:srgbClr val="FF0000"/>
                </a:solidFill>
              </a:rPr>
              <a:t>Lựa</a:t>
            </a:r>
            <a:r>
              <a:rPr lang="en-US" altLang="ko-KR" sz="1200" b="1" dirty="0">
                <a:solidFill>
                  <a:srgbClr val="FF0000"/>
                </a:solidFill>
              </a:rPr>
              <a:t> </a:t>
            </a:r>
            <a:r>
              <a:rPr lang="en-US" altLang="ko-KR" sz="1200" b="1" dirty="0" err="1">
                <a:solidFill>
                  <a:srgbClr val="FF0000"/>
                </a:solidFill>
              </a:rPr>
              <a:t>chọn</a:t>
            </a:r>
            <a:r>
              <a:rPr lang="en-US" altLang="ko-KR" sz="1200" b="1" dirty="0">
                <a:solidFill>
                  <a:srgbClr val="FF0000"/>
                </a:solidFill>
              </a:rPr>
              <a:t> LSL </a:t>
            </a:r>
            <a:endParaRPr lang="ko-KR" altLang="en-US" sz="1200" b="1" dirty="0">
              <a:solidFill>
                <a:srgbClr val="FF0000"/>
              </a:solidFill>
            </a:endParaRPr>
          </a:p>
        </p:txBody>
      </p:sp>
      <p:pic>
        <p:nvPicPr>
          <p:cNvPr id="237977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7311" y="1772816"/>
            <a:ext cx="4985169" cy="3600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Box 10"/>
          <p:cNvSpPr txBox="1"/>
          <p:nvPr/>
        </p:nvSpPr>
        <p:spPr>
          <a:xfrm>
            <a:off x="6034317" y="1268761"/>
            <a:ext cx="1103187" cy="412421"/>
          </a:xfrm>
          <a:prstGeom prst="rect">
            <a:avLst/>
          </a:prstGeom>
          <a:noFill/>
        </p:spPr>
        <p:txBody>
          <a:bodyPr wrap="none" rtlCol="0">
            <a:spAutoFit/>
          </a:bodyPr>
          <a:lstStyle/>
          <a:p>
            <a:pPr>
              <a:lnSpc>
                <a:spcPct val="130000"/>
              </a:lnSpc>
              <a:buClr>
                <a:srgbClr val="C5003D"/>
              </a:buClr>
            </a:pPr>
            <a:r>
              <a:rPr lang="en-US" altLang="ko-KR" sz="1600" b="1" dirty="0" err="1"/>
              <a:t>kết</a:t>
            </a:r>
            <a:r>
              <a:rPr lang="en-US" altLang="ko-KR" sz="1600" b="1" dirty="0"/>
              <a:t> </a:t>
            </a:r>
            <a:r>
              <a:rPr lang="en-US" altLang="ko-KR" sz="1600" b="1" dirty="0" err="1"/>
              <a:t>quả</a:t>
            </a:r>
            <a:r>
              <a:rPr lang="ko-KR" altLang="en-US" sz="1600" b="1" dirty="0"/>
              <a:t> </a:t>
            </a:r>
          </a:p>
        </p:txBody>
      </p:sp>
      <p:sp>
        <p:nvSpPr>
          <p:cNvPr id="6" name="TextBox 5"/>
          <p:cNvSpPr txBox="1"/>
          <p:nvPr/>
        </p:nvSpPr>
        <p:spPr>
          <a:xfrm>
            <a:off x="517396" y="5877273"/>
            <a:ext cx="6299353" cy="412421"/>
          </a:xfrm>
          <a:prstGeom prst="rect">
            <a:avLst/>
          </a:prstGeom>
          <a:noFill/>
        </p:spPr>
        <p:txBody>
          <a:bodyPr wrap="none" rtlCol="0">
            <a:spAutoFit/>
          </a:bodyPr>
          <a:lstStyle/>
          <a:p>
            <a:pPr>
              <a:lnSpc>
                <a:spcPct val="130000"/>
              </a:lnSpc>
              <a:buClr>
                <a:srgbClr val="C5003D"/>
              </a:buClr>
            </a:pPr>
            <a:r>
              <a:rPr lang="en-US" altLang="ko-KR" sz="1600" b="1" dirty="0" err="1"/>
              <a:t>Kiểm</a:t>
            </a:r>
            <a:r>
              <a:rPr lang="en-US" altLang="ko-KR" sz="1600" b="1" dirty="0"/>
              <a:t> </a:t>
            </a:r>
            <a:r>
              <a:rPr lang="en-US" altLang="ko-KR" sz="1600" b="1" dirty="0" err="1"/>
              <a:t>tra</a:t>
            </a:r>
            <a:r>
              <a:rPr lang="en-US" altLang="ko-KR" sz="1600" b="1" dirty="0"/>
              <a:t> </a:t>
            </a:r>
            <a:r>
              <a:rPr lang="en-US" altLang="ko-KR" sz="1600" b="1" dirty="0" err="1"/>
              <a:t>của</a:t>
            </a:r>
            <a:r>
              <a:rPr lang="en-US" altLang="ko-KR" sz="1600" b="1" dirty="0"/>
              <a:t> excel</a:t>
            </a:r>
            <a:r>
              <a:rPr lang="ko-KR" altLang="en-US" sz="1600" b="1" dirty="0"/>
              <a:t> </a:t>
            </a:r>
            <a:r>
              <a:rPr lang="en-US" altLang="ko-KR" sz="1600" b="1" dirty="0"/>
              <a:t>:  NORM.S.DIST (-2.467, True)  = 0.006813 </a:t>
            </a:r>
            <a:endParaRPr lang="ko-KR" altLang="en-US" sz="1600" b="1" dirty="0"/>
          </a:p>
        </p:txBody>
      </p:sp>
      <p:sp>
        <p:nvSpPr>
          <p:cNvPr id="12"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305413476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187</a:t>
            </a:fld>
            <a:endParaRPr lang="ko-KR" altLang="en-US" dirty="0"/>
          </a:p>
        </p:txBody>
      </p:sp>
      <p:sp>
        <p:nvSpPr>
          <p:cNvPr id="3" name="제목 1"/>
          <p:cNvSpPr txBox="1">
            <a:spLocks/>
          </p:cNvSpPr>
          <p:nvPr/>
        </p:nvSpPr>
        <p:spPr bwMode="auto">
          <a:xfrm>
            <a:off x="118583" y="620689"/>
            <a:ext cx="4925157" cy="41751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1" hangingPunct="1">
              <a:lnSpc>
                <a:spcPct val="100000"/>
              </a:lnSpc>
              <a:spcBef>
                <a:spcPct val="0"/>
              </a:spcBef>
              <a:spcAft>
                <a:spcPct val="0"/>
              </a:spcAft>
              <a:buClrTx/>
              <a:buSzTx/>
              <a:buFontTx/>
              <a:buNone/>
              <a:tabLst/>
            </a:pPr>
            <a:r>
              <a:rPr lang="en-US" altLang="ko-KR" sz="2000" b="1" dirty="0" err="1">
                <a:latin typeface="+mn-ea"/>
                <a:ea typeface="+mn-ea"/>
              </a:rPr>
              <a:t>Hiểu</a:t>
            </a:r>
            <a:r>
              <a:rPr lang="en-US" altLang="ko-KR" sz="2000" b="1" dirty="0">
                <a:latin typeface="+mn-ea"/>
                <a:ea typeface="+mn-ea"/>
              </a:rPr>
              <a:t> </a:t>
            </a:r>
            <a:r>
              <a:rPr lang="en-US" altLang="ko-KR" sz="2000" b="1" dirty="0" err="1">
                <a:latin typeface="+mn-ea"/>
                <a:ea typeface="+mn-ea"/>
              </a:rPr>
              <a:t>về</a:t>
            </a:r>
            <a:r>
              <a:rPr lang="en-US" altLang="ko-KR" sz="2000" b="1" dirty="0">
                <a:latin typeface="+mn-ea"/>
                <a:ea typeface="+mn-ea"/>
              </a:rPr>
              <a:t> </a:t>
            </a:r>
            <a:r>
              <a:rPr lang="en-US" altLang="ko-KR" sz="2000" b="1" dirty="0" err="1">
                <a:latin typeface="+mn-ea"/>
                <a:ea typeface="+mn-ea"/>
              </a:rPr>
              <a:t>phân</a:t>
            </a:r>
            <a:r>
              <a:rPr lang="en-US" altLang="ko-KR" sz="2000" b="1" dirty="0">
                <a:latin typeface="+mn-ea"/>
                <a:ea typeface="+mn-ea"/>
              </a:rPr>
              <a:t> </a:t>
            </a:r>
            <a:r>
              <a:rPr lang="en-US" altLang="ko-KR" sz="2000" b="1" dirty="0" err="1">
                <a:latin typeface="+mn-ea"/>
                <a:ea typeface="+mn-ea"/>
              </a:rPr>
              <a:t>bổ</a:t>
            </a:r>
            <a:r>
              <a:rPr lang="en-US" altLang="ko-KR" sz="2000" b="1" dirty="0">
                <a:latin typeface="+mn-ea"/>
                <a:ea typeface="+mn-ea"/>
              </a:rPr>
              <a:t> </a:t>
            </a:r>
            <a:r>
              <a:rPr lang="en-US" altLang="ko-KR" sz="2000" b="1" dirty="0" err="1">
                <a:latin typeface="+mn-ea"/>
                <a:ea typeface="+mn-ea"/>
              </a:rPr>
              <a:t>chính</a:t>
            </a:r>
            <a:r>
              <a:rPr lang="en-US" altLang="ko-KR" sz="2000" b="1" dirty="0">
                <a:latin typeface="+mn-ea"/>
                <a:ea typeface="+mn-ea"/>
              </a:rPr>
              <a:t> </a:t>
            </a:r>
            <a:r>
              <a:rPr lang="en-US" altLang="ko-KR" sz="2000" b="1" dirty="0" err="1">
                <a:latin typeface="+mn-ea"/>
                <a:ea typeface="+mn-ea"/>
              </a:rPr>
              <a:t>quy</a:t>
            </a:r>
            <a:r>
              <a:rPr lang="en-US" altLang="ko-KR" sz="2000" b="1" dirty="0">
                <a:latin typeface="+mn-ea"/>
                <a:ea typeface="+mn-ea"/>
              </a:rPr>
              <a:t> </a:t>
            </a:r>
            <a:r>
              <a:rPr lang="en-US" altLang="ko-KR" sz="2000" b="1" dirty="0" err="1">
                <a:latin typeface="+mn-ea"/>
                <a:ea typeface="+mn-ea"/>
              </a:rPr>
              <a:t>tiêu</a:t>
            </a:r>
            <a:r>
              <a:rPr lang="en-US" altLang="ko-KR" sz="2000" b="1" dirty="0">
                <a:latin typeface="+mn-ea"/>
                <a:ea typeface="+mn-ea"/>
              </a:rPr>
              <a:t> </a:t>
            </a:r>
            <a:r>
              <a:rPr lang="en-US" altLang="ko-KR" sz="2000" b="1" dirty="0" err="1">
                <a:latin typeface="+mn-ea"/>
                <a:ea typeface="+mn-ea"/>
              </a:rPr>
              <a:t>chuẩn</a:t>
            </a:r>
            <a:endParaRPr kumimoji="1" lang="ko-KR" sz="1800" b="0" i="0" u="none" strike="noStrike" cap="none" normalizeH="0" baseline="0" dirty="0">
              <a:ln>
                <a:noFill/>
              </a:ln>
              <a:solidFill>
                <a:schemeClr val="tx1"/>
              </a:solidFill>
              <a:effectLst/>
              <a:latin typeface="+mn-ea"/>
              <a:ea typeface="+mn-ea"/>
            </a:endParaRPr>
          </a:p>
        </p:txBody>
      </p:sp>
      <p:sp>
        <p:nvSpPr>
          <p:cNvPr id="4" name="TextBox 3"/>
          <p:cNvSpPr txBox="1"/>
          <p:nvPr/>
        </p:nvSpPr>
        <p:spPr>
          <a:xfrm>
            <a:off x="317989" y="980729"/>
            <a:ext cx="4288353" cy="412421"/>
          </a:xfrm>
          <a:prstGeom prst="rect">
            <a:avLst/>
          </a:prstGeom>
          <a:noFill/>
        </p:spPr>
        <p:txBody>
          <a:bodyPr wrap="none" rtlCol="0">
            <a:spAutoFit/>
          </a:bodyPr>
          <a:lstStyle/>
          <a:p>
            <a:pPr>
              <a:lnSpc>
                <a:spcPct val="130000"/>
              </a:lnSpc>
              <a:buClr>
                <a:srgbClr val="C5003D"/>
              </a:buClr>
            </a:pPr>
            <a:r>
              <a:rPr lang="en-US" altLang="ko-KR" sz="1600" b="1" dirty="0" err="1"/>
              <a:t>Luyện</a:t>
            </a:r>
            <a:r>
              <a:rPr lang="en-US" altLang="ko-KR" sz="1600" b="1" dirty="0"/>
              <a:t> </a:t>
            </a:r>
            <a:r>
              <a:rPr lang="en-US" altLang="ko-KR" sz="1600" b="1" dirty="0" err="1"/>
              <a:t>tập</a:t>
            </a:r>
            <a:r>
              <a:rPr lang="en-US" altLang="ko-KR" sz="1600" b="1" dirty="0"/>
              <a:t> </a:t>
            </a:r>
            <a:r>
              <a:rPr lang="en-US" altLang="ko-KR" sz="1600" b="1" dirty="0" err="1"/>
              <a:t>phân</a:t>
            </a:r>
            <a:r>
              <a:rPr lang="en-US" altLang="ko-KR" sz="1600" b="1" dirty="0"/>
              <a:t> </a:t>
            </a:r>
            <a:r>
              <a:rPr lang="en-US" altLang="ko-KR" sz="1600" b="1" dirty="0" err="1"/>
              <a:t>bổ</a:t>
            </a:r>
            <a:r>
              <a:rPr lang="en-US" altLang="ko-KR" sz="1600" b="1" dirty="0"/>
              <a:t> </a:t>
            </a:r>
            <a:r>
              <a:rPr lang="en-US" altLang="ko-KR" sz="1600" b="1" dirty="0" err="1"/>
              <a:t>chính</a:t>
            </a:r>
            <a:r>
              <a:rPr lang="en-US" altLang="ko-KR" sz="1600" b="1" dirty="0"/>
              <a:t> </a:t>
            </a:r>
            <a:r>
              <a:rPr lang="en-US" altLang="ko-KR" sz="1600" b="1" dirty="0" err="1"/>
              <a:t>quy</a:t>
            </a:r>
            <a:r>
              <a:rPr lang="en-US" altLang="ko-KR" sz="1600" b="1" dirty="0"/>
              <a:t> </a:t>
            </a:r>
            <a:r>
              <a:rPr lang="en-US" altLang="ko-KR" sz="1600" b="1" dirty="0" err="1"/>
              <a:t>tiêu</a:t>
            </a:r>
            <a:r>
              <a:rPr lang="en-US" altLang="ko-KR" sz="1600" b="1" dirty="0"/>
              <a:t> </a:t>
            </a:r>
            <a:r>
              <a:rPr lang="en-US" altLang="ko-KR" sz="1600" b="1" dirty="0" err="1"/>
              <a:t>chuẩn</a:t>
            </a:r>
            <a:r>
              <a:rPr lang="ko-KR" altLang="en-US" sz="1600" b="1" dirty="0"/>
              <a:t> </a:t>
            </a:r>
          </a:p>
        </p:txBody>
      </p:sp>
      <p:sp>
        <p:nvSpPr>
          <p:cNvPr id="5" name="직사각형 4"/>
          <p:cNvSpPr/>
          <p:nvPr/>
        </p:nvSpPr>
        <p:spPr>
          <a:xfrm>
            <a:off x="517396" y="1412776"/>
            <a:ext cx="8242146" cy="122413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849740" y="1412776"/>
            <a:ext cx="7510988" cy="1212640"/>
          </a:xfrm>
          <a:prstGeom prst="rect">
            <a:avLst/>
          </a:prstGeom>
          <a:noFill/>
        </p:spPr>
        <p:txBody>
          <a:bodyPr wrap="square" rtlCol="0">
            <a:spAutoFit/>
          </a:bodyPr>
          <a:lstStyle/>
          <a:p>
            <a:pPr>
              <a:lnSpc>
                <a:spcPct val="130000"/>
              </a:lnSpc>
              <a:buClr>
                <a:srgbClr val="C5003D"/>
              </a:buClr>
            </a:pPr>
            <a:r>
              <a:rPr lang="en-US" altLang="ko-KR" sz="1400" b="1" dirty="0" err="1"/>
              <a:t>Trong</a:t>
            </a:r>
            <a:r>
              <a:rPr lang="en-US" altLang="ko-KR" sz="1400" b="1" dirty="0"/>
              <a:t> </a:t>
            </a:r>
            <a:r>
              <a:rPr lang="en-US" altLang="ko-KR" sz="1400" b="1" dirty="0" err="1"/>
              <a:t>một</a:t>
            </a:r>
            <a:r>
              <a:rPr lang="en-US" altLang="ko-KR" sz="1400" b="1" dirty="0"/>
              <a:t> process </a:t>
            </a:r>
            <a:r>
              <a:rPr lang="en-US" altLang="ko-KR" sz="1400" b="1" dirty="0" err="1"/>
              <a:t>nào</a:t>
            </a:r>
            <a:r>
              <a:rPr lang="en-US" altLang="ko-KR" sz="1400" b="1" dirty="0"/>
              <a:t> </a:t>
            </a:r>
            <a:r>
              <a:rPr lang="en-US" altLang="ko-KR" sz="1400" b="1" dirty="0" err="1"/>
              <a:t>đó</a:t>
            </a:r>
            <a:r>
              <a:rPr lang="en-US" altLang="ko-KR" sz="1400" b="1" dirty="0"/>
              <a:t> </a:t>
            </a:r>
            <a:r>
              <a:rPr lang="en-US" altLang="ko-KR" sz="1400" b="1" dirty="0" err="1"/>
              <a:t>tiến</a:t>
            </a:r>
            <a:r>
              <a:rPr lang="en-US" altLang="ko-KR" sz="1400" b="1" dirty="0"/>
              <a:t> </a:t>
            </a:r>
            <a:r>
              <a:rPr lang="en-US" altLang="ko-KR" sz="1400" b="1" dirty="0" err="1"/>
              <a:t>hành</a:t>
            </a:r>
            <a:r>
              <a:rPr lang="en-US" altLang="ko-KR" sz="1400" b="1" dirty="0"/>
              <a:t> </a:t>
            </a:r>
            <a:r>
              <a:rPr lang="en-US" altLang="ko-KR" sz="1400" b="1" dirty="0" err="1"/>
              <a:t>đo</a:t>
            </a:r>
            <a:r>
              <a:rPr lang="en-US" altLang="ko-KR" sz="1400" b="1" dirty="0"/>
              <a:t> </a:t>
            </a:r>
            <a:r>
              <a:rPr lang="en-US" altLang="ko-KR" sz="1400" b="1" dirty="0" err="1"/>
              <a:t>đạc</a:t>
            </a:r>
            <a:r>
              <a:rPr lang="en-US" altLang="ko-KR" sz="1400" b="1" dirty="0"/>
              <a:t> </a:t>
            </a:r>
            <a:r>
              <a:rPr lang="en-US" altLang="ko-KR" sz="1400" b="1" dirty="0" err="1"/>
              <a:t>chỉ</a:t>
            </a:r>
            <a:r>
              <a:rPr lang="en-US" altLang="ko-KR" sz="1400" b="1" dirty="0"/>
              <a:t> </a:t>
            </a:r>
            <a:r>
              <a:rPr lang="en-US" altLang="ko-KR" sz="1400" b="1" dirty="0" err="1"/>
              <a:t>số</a:t>
            </a:r>
            <a:r>
              <a:rPr lang="en-US" altLang="ko-KR" sz="1400" b="1" dirty="0"/>
              <a:t> </a:t>
            </a:r>
            <a:r>
              <a:rPr lang="en-US" altLang="ko-KR" sz="1400" b="1" dirty="0" err="1"/>
              <a:t>của</a:t>
            </a:r>
            <a:r>
              <a:rPr lang="en-US" altLang="ko-KR" sz="1400" b="1" dirty="0"/>
              <a:t> </a:t>
            </a:r>
            <a:r>
              <a:rPr lang="en-US" altLang="ko-KR" sz="1400" b="1" dirty="0" err="1"/>
              <a:t>linh</a:t>
            </a:r>
            <a:r>
              <a:rPr lang="en-US" altLang="ko-KR" sz="1400" b="1" dirty="0"/>
              <a:t> </a:t>
            </a:r>
            <a:r>
              <a:rPr lang="en-US" altLang="ko-KR" sz="1400" b="1" dirty="0" err="1"/>
              <a:t>kiện</a:t>
            </a:r>
            <a:r>
              <a:rPr lang="en-US" altLang="ko-KR" sz="1400" b="1" dirty="0"/>
              <a:t> </a:t>
            </a:r>
            <a:r>
              <a:rPr lang="en-US" altLang="ko-KR" sz="1400" b="1" dirty="0" err="1"/>
              <a:t>sản</a:t>
            </a:r>
            <a:r>
              <a:rPr lang="en-US" altLang="ko-KR" sz="1400" b="1" dirty="0"/>
              <a:t> </a:t>
            </a:r>
            <a:r>
              <a:rPr lang="en-US" altLang="ko-KR" sz="1400" b="1" dirty="0" err="1"/>
              <a:t>xuất</a:t>
            </a:r>
            <a:r>
              <a:rPr lang="en-US" altLang="ko-KR" sz="1400" b="1" dirty="0"/>
              <a:t> </a:t>
            </a:r>
            <a:r>
              <a:rPr lang="en-US" altLang="ko-KR" sz="1400" b="1" dirty="0" err="1"/>
              <a:t>Bình</a:t>
            </a:r>
            <a:r>
              <a:rPr lang="en-US" altLang="ko-KR" sz="1400" b="1" dirty="0"/>
              <a:t> </a:t>
            </a:r>
            <a:r>
              <a:rPr lang="en-US" altLang="ko-KR" sz="1400" b="1" dirty="0" err="1"/>
              <a:t>quân</a:t>
            </a:r>
            <a:r>
              <a:rPr lang="en-US" altLang="ko-KR" sz="1400" b="1" dirty="0"/>
              <a:t> </a:t>
            </a:r>
            <a:r>
              <a:rPr lang="en-US" altLang="ko-KR" sz="1400" b="1" dirty="0" err="1"/>
              <a:t>là</a:t>
            </a:r>
            <a:r>
              <a:rPr lang="en-US" altLang="ko-KR" sz="1400" b="1" dirty="0"/>
              <a:t> </a:t>
            </a:r>
            <a:r>
              <a:rPr lang="ko-KR" altLang="en-US" sz="1400" b="1" dirty="0"/>
              <a:t> </a:t>
            </a:r>
            <a:r>
              <a:rPr lang="en-US" altLang="ko-KR" sz="1400" b="1" dirty="0"/>
              <a:t>5.67 </a:t>
            </a: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en-US" altLang="ko-KR" sz="1400" b="1" dirty="0"/>
              <a:t> </a:t>
            </a:r>
            <a:r>
              <a:rPr lang="en-US" altLang="ko-KR" sz="1400" b="1" dirty="0" err="1"/>
              <a:t>là</a:t>
            </a:r>
            <a:r>
              <a:rPr lang="en-US" altLang="ko-KR" sz="1400" b="1" dirty="0"/>
              <a:t> 0.3   </a:t>
            </a:r>
          </a:p>
          <a:p>
            <a:pPr>
              <a:lnSpc>
                <a:spcPct val="130000"/>
              </a:lnSpc>
              <a:buClr>
                <a:srgbClr val="C5003D"/>
              </a:buClr>
            </a:pPr>
            <a:r>
              <a:rPr lang="en-US" altLang="ko-KR" sz="1400" b="1" dirty="0" err="1"/>
              <a:t>Quy</a:t>
            </a:r>
            <a:r>
              <a:rPr lang="en-US" altLang="ko-KR" sz="1400" b="1" dirty="0"/>
              <a:t> </a:t>
            </a:r>
            <a:r>
              <a:rPr lang="en-US" altLang="ko-KR" sz="1400" b="1" dirty="0" err="1"/>
              <a:t>cách</a:t>
            </a:r>
            <a:r>
              <a:rPr lang="en-US" altLang="ko-KR" sz="1400" b="1" dirty="0"/>
              <a:t> </a:t>
            </a:r>
            <a:r>
              <a:rPr lang="en-US" altLang="ko-KR" sz="1400" b="1" dirty="0" err="1"/>
              <a:t>tiêu</a:t>
            </a:r>
            <a:r>
              <a:rPr lang="en-US" altLang="ko-KR" sz="1400" b="1" dirty="0"/>
              <a:t> </a:t>
            </a:r>
            <a:r>
              <a:rPr lang="en-US" altLang="ko-KR" sz="1400" b="1" dirty="0" err="1"/>
              <a:t>chuẩn</a:t>
            </a:r>
            <a:r>
              <a:rPr lang="en-US" altLang="ko-KR" sz="1400" b="1" dirty="0"/>
              <a:t> spec </a:t>
            </a:r>
            <a:r>
              <a:rPr lang="en-US" altLang="ko-KR" sz="1400" b="1" dirty="0" err="1"/>
              <a:t>là</a:t>
            </a:r>
            <a:r>
              <a:rPr lang="ko-KR" altLang="en-US" sz="1400" b="1" dirty="0"/>
              <a:t> </a:t>
            </a:r>
            <a:r>
              <a:rPr lang="en-US" altLang="ko-KR" sz="1400" b="1" dirty="0"/>
              <a:t>5.5 ± 0.5 </a:t>
            </a:r>
            <a:r>
              <a:rPr lang="ko-KR" altLang="en-US" sz="1400" b="1" dirty="0"/>
              <a:t>이다</a:t>
            </a:r>
            <a:r>
              <a:rPr lang="en-US" altLang="ko-KR" sz="1400" b="1" dirty="0"/>
              <a:t>.  </a:t>
            </a:r>
            <a:r>
              <a:rPr lang="en-US" altLang="ko-KR" sz="1400" b="1" dirty="0" err="1"/>
              <a:t>Tỷ</a:t>
            </a:r>
            <a:r>
              <a:rPr lang="en-US" altLang="ko-KR" sz="1400" b="1" dirty="0"/>
              <a:t> </a:t>
            </a:r>
            <a:r>
              <a:rPr lang="en-US" altLang="ko-KR" sz="1400" b="1" dirty="0" err="1"/>
              <a:t>lệ</a:t>
            </a:r>
            <a:r>
              <a:rPr lang="en-US" altLang="ko-KR" sz="1400" b="1" dirty="0"/>
              <a:t> </a:t>
            </a:r>
            <a:r>
              <a:rPr lang="en-US" altLang="ko-KR" sz="1400" b="1" dirty="0" err="1"/>
              <a:t>không</a:t>
            </a:r>
            <a:r>
              <a:rPr lang="en-US" altLang="ko-KR" sz="1400" b="1" dirty="0"/>
              <a:t> </a:t>
            </a:r>
            <a:r>
              <a:rPr lang="en-US" altLang="ko-KR" sz="1400" b="1" dirty="0" err="1"/>
              <a:t>đạt</a:t>
            </a:r>
            <a:r>
              <a:rPr lang="en-US" altLang="ko-KR" sz="1400" b="1" dirty="0"/>
              <a:t> </a:t>
            </a:r>
            <a:r>
              <a:rPr lang="en-US" altLang="ko-KR" sz="1400" b="1" dirty="0" err="1"/>
              <a:t>toàn</a:t>
            </a:r>
            <a:r>
              <a:rPr lang="en-US" altLang="ko-KR" sz="1400" b="1" dirty="0"/>
              <a:t> </a:t>
            </a:r>
            <a:r>
              <a:rPr lang="en-US" altLang="ko-KR" sz="1400" b="1" dirty="0" err="1"/>
              <a:t>thể</a:t>
            </a:r>
            <a:r>
              <a:rPr lang="en-US" altLang="ko-KR" sz="1400" b="1" dirty="0"/>
              <a:t> </a:t>
            </a:r>
            <a:r>
              <a:rPr lang="en-US" altLang="ko-KR" sz="1400" b="1" dirty="0" err="1"/>
              <a:t>của</a:t>
            </a:r>
            <a:r>
              <a:rPr lang="en-US" altLang="ko-KR" sz="1400" b="1" dirty="0"/>
              <a:t> </a:t>
            </a:r>
            <a:r>
              <a:rPr lang="en-US" altLang="ko-KR" sz="1400" b="1" dirty="0" err="1"/>
              <a:t>linh</a:t>
            </a:r>
            <a:r>
              <a:rPr lang="en-US" altLang="ko-KR" sz="1400" b="1" dirty="0"/>
              <a:t> </a:t>
            </a:r>
            <a:r>
              <a:rPr lang="en-US" altLang="ko-KR" sz="1400" b="1" dirty="0" err="1"/>
              <a:t>kiện</a:t>
            </a:r>
            <a:r>
              <a:rPr lang="en-US" altLang="ko-KR" sz="1400" b="1" dirty="0"/>
              <a:t> </a:t>
            </a:r>
            <a:r>
              <a:rPr lang="en-US" altLang="ko-KR" sz="1400" b="1" dirty="0" err="1"/>
              <a:t>này</a:t>
            </a:r>
            <a:r>
              <a:rPr lang="en-US" altLang="ko-KR" sz="1400" b="1" dirty="0"/>
              <a:t> </a:t>
            </a:r>
            <a:r>
              <a:rPr lang="en-US" altLang="ko-KR" sz="1400" b="1" dirty="0" err="1"/>
              <a:t>liệu</a:t>
            </a:r>
            <a:r>
              <a:rPr lang="en-US" altLang="ko-KR" sz="1400" b="1" dirty="0"/>
              <a:t> </a:t>
            </a:r>
            <a:r>
              <a:rPr lang="en-US" altLang="ko-KR" sz="1400" b="1" dirty="0" err="1"/>
              <a:t>sẽ</a:t>
            </a:r>
            <a:r>
              <a:rPr lang="en-US" altLang="ko-KR" sz="1400" b="1" dirty="0"/>
              <a:t> </a:t>
            </a:r>
            <a:r>
              <a:rPr lang="en-US" altLang="ko-KR" sz="1400" b="1" dirty="0" err="1"/>
              <a:t>là</a:t>
            </a:r>
            <a:r>
              <a:rPr lang="en-US" altLang="ko-KR" sz="1400" b="1" dirty="0"/>
              <a:t> </a:t>
            </a:r>
            <a:r>
              <a:rPr lang="en-US" altLang="ko-KR" sz="1400" b="1" dirty="0" err="1"/>
              <a:t>bao</a:t>
            </a:r>
            <a:r>
              <a:rPr lang="en-US" altLang="ko-KR" sz="1400" b="1" dirty="0"/>
              <a:t> </a:t>
            </a:r>
            <a:r>
              <a:rPr lang="en-US" altLang="ko-KR" sz="1400" b="1" dirty="0" err="1"/>
              <a:t>nhiêu</a:t>
            </a:r>
            <a:r>
              <a:rPr lang="en-US" altLang="ko-KR" sz="1400" b="1" dirty="0"/>
              <a:t> ?</a:t>
            </a:r>
            <a:endParaRPr lang="ko-KR" altLang="en-US" sz="1400" b="1" dirty="0"/>
          </a:p>
        </p:txBody>
      </p:sp>
      <p:pic>
        <p:nvPicPr>
          <p:cNvPr id="7" name="Picture 5" descr="정규기본"/>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6803" y="3191170"/>
            <a:ext cx="3416515" cy="1933198"/>
          </a:xfrm>
          <a:prstGeom prst="rect">
            <a:avLst/>
          </a:prstGeom>
          <a:noFill/>
          <a:ln w="9525">
            <a:solidFill>
              <a:schemeClr val="bg1"/>
            </a:solidFill>
            <a:miter lim="800000"/>
            <a:headEnd/>
            <a:tailEnd/>
          </a:ln>
        </p:spPr>
      </p:pic>
      <p:sp>
        <p:nvSpPr>
          <p:cNvPr id="8" name="Line 6"/>
          <p:cNvSpPr>
            <a:spLocks noChangeShapeType="1"/>
          </p:cNvSpPr>
          <p:nvPr/>
        </p:nvSpPr>
        <p:spPr bwMode="auto">
          <a:xfrm>
            <a:off x="2233995" y="3047153"/>
            <a:ext cx="2080" cy="2003723"/>
          </a:xfrm>
          <a:prstGeom prst="line">
            <a:avLst/>
          </a:prstGeom>
          <a:noFill/>
          <a:ln w="12700">
            <a:solidFill>
              <a:schemeClr val="tx1"/>
            </a:solidFill>
            <a:prstDash val="dash"/>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5" name="Line 18"/>
          <p:cNvSpPr>
            <a:spLocks noChangeShapeType="1"/>
          </p:cNvSpPr>
          <p:nvPr/>
        </p:nvSpPr>
        <p:spPr bwMode="auto">
          <a:xfrm>
            <a:off x="1551546" y="5006170"/>
            <a:ext cx="0" cy="63672"/>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6" name="Line 19"/>
          <p:cNvSpPr>
            <a:spLocks noChangeShapeType="1"/>
          </p:cNvSpPr>
          <p:nvPr/>
        </p:nvSpPr>
        <p:spPr bwMode="auto">
          <a:xfrm>
            <a:off x="2327846" y="5000751"/>
            <a:ext cx="0" cy="62318"/>
          </a:xfrm>
          <a:prstGeom prst="line">
            <a:avLst/>
          </a:prstGeom>
          <a:noFill/>
          <a:ln w="9525">
            <a:solidFill>
              <a:schemeClr val="tx2"/>
            </a:solidFill>
            <a:round/>
            <a:headEnd/>
            <a:tailEnd/>
          </a:ln>
        </p:spPr>
        <p:txBody>
          <a:bodyPr vert="horz" wrap="none" lIns="91440" tIns="45720" rIns="91440" bIns="45720" numCol="1" anchor="ctr" anchorCtr="0" compatLnSpc="1">
            <a:prstTxWarp prst="textNoShape">
              <a:avLst/>
            </a:prstTxWarp>
          </a:bodyPr>
          <a:lstStyle/>
          <a:p>
            <a:endParaRPr lang="ko-KR" altLang="en-US" dirty="0"/>
          </a:p>
        </p:txBody>
      </p:sp>
      <p:sp>
        <p:nvSpPr>
          <p:cNvPr id="17" name="TextBox 16"/>
          <p:cNvSpPr txBox="1"/>
          <p:nvPr/>
        </p:nvSpPr>
        <p:spPr>
          <a:xfrm>
            <a:off x="2287106" y="5135387"/>
            <a:ext cx="466794" cy="312393"/>
          </a:xfrm>
          <a:prstGeom prst="rect">
            <a:avLst/>
          </a:prstGeom>
          <a:noFill/>
        </p:spPr>
        <p:txBody>
          <a:bodyPr wrap="none" rtlCol="0">
            <a:spAutoFit/>
          </a:bodyPr>
          <a:lstStyle/>
          <a:p>
            <a:pPr>
              <a:lnSpc>
                <a:spcPct val="130000"/>
              </a:lnSpc>
              <a:buClr>
                <a:srgbClr val="C5003D"/>
              </a:buClr>
            </a:pPr>
            <a:r>
              <a:rPr lang="en-US" altLang="ko-KR" sz="1100" b="1" dirty="0"/>
              <a:t>5.67</a:t>
            </a:r>
            <a:endParaRPr lang="ko-KR" altLang="en-US" sz="1100" b="1" dirty="0"/>
          </a:p>
        </p:txBody>
      </p:sp>
      <p:cxnSp>
        <p:nvCxnSpPr>
          <p:cNvPr id="22" name="직선 연결선 21"/>
          <p:cNvCxnSpPr/>
          <p:nvPr/>
        </p:nvCxnSpPr>
        <p:spPr>
          <a:xfrm flipV="1">
            <a:off x="1556106" y="3106734"/>
            <a:ext cx="0" cy="19442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 name="직선 연결선 22"/>
          <p:cNvCxnSpPr/>
          <p:nvPr/>
        </p:nvCxnSpPr>
        <p:spPr>
          <a:xfrm flipV="1">
            <a:off x="2937893" y="3106734"/>
            <a:ext cx="0" cy="19442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직선 연결선 23"/>
          <p:cNvCxnSpPr/>
          <p:nvPr/>
        </p:nvCxnSpPr>
        <p:spPr>
          <a:xfrm flipV="1">
            <a:off x="2511463" y="3106734"/>
            <a:ext cx="0" cy="19442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p:cNvCxnSpPr/>
          <p:nvPr/>
        </p:nvCxnSpPr>
        <p:spPr>
          <a:xfrm flipV="1">
            <a:off x="829863" y="5038424"/>
            <a:ext cx="3487824" cy="12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1647368" y="5144764"/>
            <a:ext cx="1181734" cy="732508"/>
          </a:xfrm>
          <a:prstGeom prst="rect">
            <a:avLst/>
          </a:prstGeom>
          <a:noFill/>
        </p:spPr>
        <p:txBody>
          <a:bodyPr wrap="none" rtlCol="0">
            <a:spAutoFit/>
          </a:bodyPr>
          <a:lstStyle/>
          <a:p>
            <a:pPr>
              <a:lnSpc>
                <a:spcPct val="130000"/>
              </a:lnSpc>
              <a:buClr>
                <a:srgbClr val="C5003D"/>
              </a:buClr>
            </a:pPr>
            <a:r>
              <a:rPr lang="en-US" altLang="ko-KR" sz="1600" b="1" dirty="0" err="1"/>
              <a:t>bình</a:t>
            </a:r>
            <a:r>
              <a:rPr lang="en-US" altLang="ko-KR" sz="1600" b="1" dirty="0"/>
              <a:t> </a:t>
            </a:r>
            <a:r>
              <a:rPr lang="en-US" altLang="ko-KR" sz="1600" b="1" dirty="0" err="1"/>
              <a:t>quân</a:t>
            </a:r>
            <a:endParaRPr lang="en-US" altLang="ko-KR" sz="1600" b="1" dirty="0"/>
          </a:p>
          <a:p>
            <a:pPr>
              <a:lnSpc>
                <a:spcPct val="130000"/>
              </a:lnSpc>
              <a:buClr>
                <a:srgbClr val="C5003D"/>
              </a:buClr>
            </a:pPr>
            <a:r>
              <a:rPr lang="en-US" altLang="ko-KR" sz="1600" b="1" dirty="0"/>
              <a:t>5.5</a:t>
            </a:r>
            <a:endParaRPr lang="ko-KR" altLang="en-US" sz="1600" b="1" dirty="0"/>
          </a:p>
        </p:txBody>
      </p:sp>
      <p:sp>
        <p:nvSpPr>
          <p:cNvPr id="27" name="TextBox 26"/>
          <p:cNvSpPr txBox="1"/>
          <p:nvPr/>
        </p:nvSpPr>
        <p:spPr>
          <a:xfrm>
            <a:off x="2710870" y="5050950"/>
            <a:ext cx="556563" cy="732508"/>
          </a:xfrm>
          <a:prstGeom prst="rect">
            <a:avLst/>
          </a:prstGeom>
          <a:noFill/>
        </p:spPr>
        <p:txBody>
          <a:bodyPr wrap="none" rtlCol="0">
            <a:spAutoFit/>
          </a:bodyPr>
          <a:lstStyle/>
          <a:p>
            <a:pPr>
              <a:lnSpc>
                <a:spcPct val="130000"/>
              </a:lnSpc>
              <a:buClr>
                <a:srgbClr val="C5003D"/>
              </a:buClr>
            </a:pPr>
            <a:r>
              <a:rPr lang="en-US" altLang="ko-KR" sz="1600" b="1" dirty="0"/>
              <a:t>USL</a:t>
            </a:r>
          </a:p>
          <a:p>
            <a:pPr>
              <a:lnSpc>
                <a:spcPct val="130000"/>
              </a:lnSpc>
              <a:buClr>
                <a:srgbClr val="C5003D"/>
              </a:buClr>
            </a:pPr>
            <a:r>
              <a:rPr lang="en-US" altLang="ko-KR" sz="1600" b="1" dirty="0"/>
              <a:t>6.0</a:t>
            </a:r>
            <a:endParaRPr lang="ko-KR" altLang="en-US" sz="1600" b="1" dirty="0"/>
          </a:p>
        </p:txBody>
      </p:sp>
      <p:sp>
        <p:nvSpPr>
          <p:cNvPr id="28" name="TextBox 27"/>
          <p:cNvSpPr txBox="1"/>
          <p:nvPr/>
        </p:nvSpPr>
        <p:spPr>
          <a:xfrm>
            <a:off x="1356699" y="5050950"/>
            <a:ext cx="511679" cy="732508"/>
          </a:xfrm>
          <a:prstGeom prst="rect">
            <a:avLst/>
          </a:prstGeom>
          <a:noFill/>
        </p:spPr>
        <p:txBody>
          <a:bodyPr wrap="none" rtlCol="0">
            <a:spAutoFit/>
          </a:bodyPr>
          <a:lstStyle/>
          <a:p>
            <a:pPr>
              <a:lnSpc>
                <a:spcPct val="130000"/>
              </a:lnSpc>
              <a:buClr>
                <a:srgbClr val="C5003D"/>
              </a:buClr>
            </a:pPr>
            <a:r>
              <a:rPr lang="en-US" altLang="ko-KR" sz="1600" b="1" dirty="0"/>
              <a:t>LSL</a:t>
            </a:r>
          </a:p>
          <a:p>
            <a:pPr>
              <a:lnSpc>
                <a:spcPct val="130000"/>
              </a:lnSpc>
              <a:buClr>
                <a:srgbClr val="C5003D"/>
              </a:buClr>
            </a:pPr>
            <a:r>
              <a:rPr lang="en-US" altLang="ko-KR" sz="1600" b="1" dirty="0"/>
              <a:t>5.0</a:t>
            </a:r>
            <a:endParaRPr lang="ko-KR" altLang="en-US" sz="1600" b="1" dirty="0"/>
          </a:p>
        </p:txBody>
      </p:sp>
      <p:sp>
        <p:nvSpPr>
          <p:cNvPr id="30" name="TextBox 29"/>
          <p:cNvSpPr txBox="1"/>
          <p:nvPr/>
        </p:nvSpPr>
        <p:spPr>
          <a:xfrm>
            <a:off x="5037283" y="2899892"/>
            <a:ext cx="957313" cy="372410"/>
          </a:xfrm>
          <a:prstGeom prst="rect">
            <a:avLst/>
          </a:prstGeom>
          <a:noFill/>
        </p:spPr>
        <p:txBody>
          <a:bodyPr wrap="none" rtlCol="0">
            <a:spAutoFit/>
          </a:bodyPr>
          <a:lstStyle/>
          <a:p>
            <a:pPr>
              <a:lnSpc>
                <a:spcPct val="130000"/>
              </a:lnSpc>
              <a:buClr>
                <a:srgbClr val="C5003D"/>
              </a:buClr>
            </a:pPr>
            <a:r>
              <a:rPr lang="en-US" altLang="ko-KR" sz="1400" b="1" dirty="0"/>
              <a:t>Z LSL  = </a:t>
            </a:r>
            <a:endParaRPr lang="ko-KR" altLang="en-US" sz="1400" b="1" dirty="0"/>
          </a:p>
        </p:txBody>
      </p:sp>
      <p:sp>
        <p:nvSpPr>
          <p:cNvPr id="31" name="TextBox 30"/>
          <p:cNvSpPr txBox="1"/>
          <p:nvPr/>
        </p:nvSpPr>
        <p:spPr>
          <a:xfrm>
            <a:off x="5037283" y="4152228"/>
            <a:ext cx="934871" cy="372410"/>
          </a:xfrm>
          <a:prstGeom prst="rect">
            <a:avLst/>
          </a:prstGeom>
          <a:noFill/>
        </p:spPr>
        <p:txBody>
          <a:bodyPr wrap="none" rtlCol="0">
            <a:spAutoFit/>
          </a:bodyPr>
          <a:lstStyle/>
          <a:p>
            <a:pPr>
              <a:lnSpc>
                <a:spcPct val="130000"/>
              </a:lnSpc>
              <a:buClr>
                <a:srgbClr val="C5003D"/>
              </a:buClr>
            </a:pPr>
            <a:r>
              <a:rPr lang="en-US" altLang="ko-KR" sz="1400" b="1" dirty="0"/>
              <a:t>Z USL = </a:t>
            </a:r>
            <a:endParaRPr lang="ko-KR" altLang="en-US" sz="1400" b="1" dirty="0"/>
          </a:p>
        </p:txBody>
      </p:sp>
      <p:cxnSp>
        <p:nvCxnSpPr>
          <p:cNvPr id="33" name="직선 연결선 32"/>
          <p:cNvCxnSpPr/>
          <p:nvPr/>
        </p:nvCxnSpPr>
        <p:spPr>
          <a:xfrm>
            <a:off x="5901378" y="3043908"/>
            <a:ext cx="9970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5944723" y="2708920"/>
            <a:ext cx="1015021" cy="372410"/>
          </a:xfrm>
          <a:prstGeom prst="rect">
            <a:avLst/>
          </a:prstGeom>
          <a:noFill/>
        </p:spPr>
        <p:txBody>
          <a:bodyPr wrap="none" rtlCol="0">
            <a:spAutoFit/>
          </a:bodyPr>
          <a:lstStyle/>
          <a:p>
            <a:pPr>
              <a:lnSpc>
                <a:spcPct val="130000"/>
              </a:lnSpc>
              <a:buClr>
                <a:srgbClr val="C5003D"/>
              </a:buClr>
            </a:pPr>
            <a:r>
              <a:rPr lang="en-US" altLang="ko-KR" sz="1400" b="1" dirty="0"/>
              <a:t>5.0 – 5.67</a:t>
            </a:r>
            <a:endParaRPr lang="ko-KR" altLang="en-US" sz="1400" b="1" dirty="0"/>
          </a:p>
        </p:txBody>
      </p:sp>
      <p:sp>
        <p:nvSpPr>
          <p:cNvPr id="39" name="TextBox 38"/>
          <p:cNvSpPr txBox="1"/>
          <p:nvPr/>
        </p:nvSpPr>
        <p:spPr>
          <a:xfrm>
            <a:off x="6220885" y="3011618"/>
            <a:ext cx="439544" cy="372410"/>
          </a:xfrm>
          <a:prstGeom prst="rect">
            <a:avLst/>
          </a:prstGeom>
          <a:noFill/>
        </p:spPr>
        <p:txBody>
          <a:bodyPr wrap="none" rtlCol="0">
            <a:spAutoFit/>
          </a:bodyPr>
          <a:lstStyle/>
          <a:p>
            <a:pPr>
              <a:lnSpc>
                <a:spcPct val="130000"/>
              </a:lnSpc>
              <a:buClr>
                <a:srgbClr val="C5003D"/>
              </a:buClr>
            </a:pPr>
            <a:r>
              <a:rPr lang="en-US" altLang="ko-KR" sz="1400" b="1" dirty="0"/>
              <a:t>0.3</a:t>
            </a:r>
            <a:endParaRPr lang="ko-KR" altLang="en-US" sz="1400" b="1" dirty="0"/>
          </a:p>
        </p:txBody>
      </p:sp>
      <p:sp>
        <p:nvSpPr>
          <p:cNvPr id="40" name="TextBox 39"/>
          <p:cNvSpPr txBox="1"/>
          <p:nvPr/>
        </p:nvSpPr>
        <p:spPr>
          <a:xfrm>
            <a:off x="6964882" y="2899892"/>
            <a:ext cx="809837" cy="372410"/>
          </a:xfrm>
          <a:prstGeom prst="rect">
            <a:avLst/>
          </a:prstGeom>
          <a:noFill/>
        </p:spPr>
        <p:txBody>
          <a:bodyPr wrap="none" rtlCol="0">
            <a:spAutoFit/>
          </a:bodyPr>
          <a:lstStyle/>
          <a:p>
            <a:pPr>
              <a:lnSpc>
                <a:spcPct val="130000"/>
              </a:lnSpc>
              <a:buClr>
                <a:srgbClr val="C5003D"/>
              </a:buClr>
            </a:pPr>
            <a:r>
              <a:rPr lang="en-US" altLang="ko-KR" sz="1400" b="1" dirty="0"/>
              <a:t>= -2.23</a:t>
            </a:r>
            <a:endParaRPr lang="ko-KR" altLang="en-US" sz="1400" b="1" dirty="0"/>
          </a:p>
        </p:txBody>
      </p:sp>
      <p:cxnSp>
        <p:nvCxnSpPr>
          <p:cNvPr id="41" name="직선 연결선 40"/>
          <p:cNvCxnSpPr/>
          <p:nvPr/>
        </p:nvCxnSpPr>
        <p:spPr>
          <a:xfrm>
            <a:off x="5901378" y="4327526"/>
            <a:ext cx="9970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5944723" y="3992538"/>
            <a:ext cx="1015021" cy="372410"/>
          </a:xfrm>
          <a:prstGeom prst="rect">
            <a:avLst/>
          </a:prstGeom>
          <a:noFill/>
        </p:spPr>
        <p:txBody>
          <a:bodyPr wrap="none" rtlCol="0">
            <a:spAutoFit/>
          </a:bodyPr>
          <a:lstStyle/>
          <a:p>
            <a:pPr>
              <a:lnSpc>
                <a:spcPct val="130000"/>
              </a:lnSpc>
              <a:buClr>
                <a:srgbClr val="C5003D"/>
              </a:buClr>
            </a:pPr>
            <a:r>
              <a:rPr lang="en-US" altLang="ko-KR" sz="1400" b="1" dirty="0"/>
              <a:t>6.0 – 5.67</a:t>
            </a:r>
            <a:endParaRPr lang="ko-KR" altLang="en-US" sz="1400" b="1" dirty="0"/>
          </a:p>
        </p:txBody>
      </p:sp>
      <p:sp>
        <p:nvSpPr>
          <p:cNvPr id="43" name="TextBox 42"/>
          <p:cNvSpPr txBox="1"/>
          <p:nvPr/>
        </p:nvSpPr>
        <p:spPr>
          <a:xfrm>
            <a:off x="6220885" y="4295236"/>
            <a:ext cx="439544" cy="372410"/>
          </a:xfrm>
          <a:prstGeom prst="rect">
            <a:avLst/>
          </a:prstGeom>
          <a:noFill/>
        </p:spPr>
        <p:txBody>
          <a:bodyPr wrap="none" rtlCol="0">
            <a:spAutoFit/>
          </a:bodyPr>
          <a:lstStyle/>
          <a:p>
            <a:pPr>
              <a:lnSpc>
                <a:spcPct val="130000"/>
              </a:lnSpc>
              <a:buClr>
                <a:srgbClr val="C5003D"/>
              </a:buClr>
            </a:pPr>
            <a:r>
              <a:rPr lang="en-US" altLang="ko-KR" sz="1400" b="1" dirty="0"/>
              <a:t>0.3</a:t>
            </a:r>
            <a:endParaRPr lang="ko-KR" altLang="en-US" sz="1400" b="1" dirty="0"/>
          </a:p>
        </p:txBody>
      </p:sp>
      <p:sp>
        <p:nvSpPr>
          <p:cNvPr id="44" name="TextBox 43"/>
          <p:cNvSpPr txBox="1"/>
          <p:nvPr/>
        </p:nvSpPr>
        <p:spPr>
          <a:xfrm>
            <a:off x="6964881" y="4183510"/>
            <a:ext cx="631904" cy="372410"/>
          </a:xfrm>
          <a:prstGeom prst="rect">
            <a:avLst/>
          </a:prstGeom>
          <a:noFill/>
        </p:spPr>
        <p:txBody>
          <a:bodyPr wrap="none" rtlCol="0">
            <a:spAutoFit/>
          </a:bodyPr>
          <a:lstStyle/>
          <a:p>
            <a:pPr>
              <a:lnSpc>
                <a:spcPct val="130000"/>
              </a:lnSpc>
              <a:buClr>
                <a:srgbClr val="C5003D"/>
              </a:buClr>
            </a:pPr>
            <a:r>
              <a:rPr lang="en-US" altLang="ko-KR" sz="1400" b="1" dirty="0"/>
              <a:t>= 1.1</a:t>
            </a:r>
            <a:endParaRPr lang="ko-KR" altLang="en-US" sz="1400" b="1" dirty="0"/>
          </a:p>
        </p:txBody>
      </p:sp>
      <p:sp>
        <p:nvSpPr>
          <p:cNvPr id="45" name="TextBox 44"/>
          <p:cNvSpPr txBox="1"/>
          <p:nvPr/>
        </p:nvSpPr>
        <p:spPr>
          <a:xfrm>
            <a:off x="5037283" y="3475956"/>
            <a:ext cx="3241593" cy="372410"/>
          </a:xfrm>
          <a:prstGeom prst="rect">
            <a:avLst/>
          </a:prstGeom>
          <a:noFill/>
        </p:spPr>
        <p:txBody>
          <a:bodyPr wrap="none" rtlCol="0">
            <a:spAutoFit/>
          </a:bodyPr>
          <a:lstStyle/>
          <a:p>
            <a:pPr>
              <a:lnSpc>
                <a:spcPct val="130000"/>
              </a:lnSpc>
              <a:buClr>
                <a:srgbClr val="C5003D"/>
              </a:buClr>
            </a:pPr>
            <a:r>
              <a:rPr lang="en-US" altLang="ko-KR" sz="1400" b="1" dirty="0" err="1"/>
              <a:t>Giá</a:t>
            </a:r>
            <a:r>
              <a:rPr lang="en-US" altLang="ko-KR" sz="1400" b="1" dirty="0"/>
              <a:t> </a:t>
            </a:r>
            <a:r>
              <a:rPr lang="en-US" altLang="ko-KR" sz="1400" b="1" dirty="0" err="1"/>
              <a:t>trị</a:t>
            </a:r>
            <a:r>
              <a:rPr lang="en-US" altLang="ko-KR" sz="1400" b="1" dirty="0"/>
              <a:t> </a:t>
            </a:r>
            <a:r>
              <a:rPr lang="en-US" altLang="ko-KR" sz="1400" b="1" dirty="0" err="1"/>
              <a:t>có</a:t>
            </a:r>
            <a:r>
              <a:rPr lang="en-US" altLang="ko-KR" sz="1400" b="1" dirty="0"/>
              <a:t> </a:t>
            </a:r>
            <a:r>
              <a:rPr lang="en-US" altLang="ko-KR" sz="1400" b="1" dirty="0" err="1"/>
              <a:t>khả</a:t>
            </a:r>
            <a:r>
              <a:rPr lang="en-US" altLang="ko-KR" sz="1400" b="1" dirty="0"/>
              <a:t> </a:t>
            </a:r>
            <a:r>
              <a:rPr lang="en-US" altLang="ko-KR" sz="1400" b="1" dirty="0" err="1"/>
              <a:t>năng</a:t>
            </a:r>
            <a:r>
              <a:rPr lang="en-US" altLang="ko-KR" sz="1400" b="1" dirty="0"/>
              <a:t>(LSL) =  1.276%</a:t>
            </a:r>
            <a:endParaRPr lang="ko-KR" altLang="en-US" sz="1400" b="1" dirty="0"/>
          </a:p>
        </p:txBody>
      </p:sp>
      <p:sp>
        <p:nvSpPr>
          <p:cNvPr id="46" name="TextBox 45"/>
          <p:cNvSpPr txBox="1"/>
          <p:nvPr/>
        </p:nvSpPr>
        <p:spPr>
          <a:xfrm>
            <a:off x="5037282" y="4700092"/>
            <a:ext cx="3385863" cy="372410"/>
          </a:xfrm>
          <a:prstGeom prst="rect">
            <a:avLst/>
          </a:prstGeom>
          <a:noFill/>
        </p:spPr>
        <p:txBody>
          <a:bodyPr wrap="none" rtlCol="0">
            <a:spAutoFit/>
          </a:bodyPr>
          <a:lstStyle/>
          <a:p>
            <a:pPr>
              <a:lnSpc>
                <a:spcPct val="130000"/>
              </a:lnSpc>
              <a:buClr>
                <a:srgbClr val="C5003D"/>
              </a:buClr>
            </a:pPr>
            <a:r>
              <a:rPr lang="en-US" altLang="ko-KR" sz="1400" b="1" dirty="0" err="1"/>
              <a:t>Giá</a:t>
            </a:r>
            <a:r>
              <a:rPr lang="en-US" altLang="ko-KR" sz="1400" b="1" dirty="0"/>
              <a:t> </a:t>
            </a:r>
            <a:r>
              <a:rPr lang="en-US" altLang="ko-KR" sz="1400" b="1" dirty="0" err="1"/>
              <a:t>trị</a:t>
            </a:r>
            <a:r>
              <a:rPr lang="en-US" altLang="ko-KR" sz="1400" b="1" dirty="0"/>
              <a:t> </a:t>
            </a:r>
            <a:r>
              <a:rPr lang="en-US" altLang="ko-KR" sz="1400" b="1" dirty="0" err="1"/>
              <a:t>có</a:t>
            </a:r>
            <a:r>
              <a:rPr lang="en-US" altLang="ko-KR" sz="1400" b="1" dirty="0"/>
              <a:t> </a:t>
            </a:r>
            <a:r>
              <a:rPr lang="en-US" altLang="ko-KR" sz="1400" b="1" dirty="0" err="1"/>
              <a:t>khả</a:t>
            </a:r>
            <a:r>
              <a:rPr lang="en-US" altLang="ko-KR" sz="1400" b="1" dirty="0"/>
              <a:t> </a:t>
            </a:r>
            <a:r>
              <a:rPr lang="en-US" altLang="ko-KR" sz="1400" b="1" dirty="0" err="1"/>
              <a:t>năng</a:t>
            </a:r>
            <a:r>
              <a:rPr lang="en-US" altLang="ko-KR" sz="1400" b="1" dirty="0"/>
              <a:t>(USL) =  13.566%</a:t>
            </a:r>
            <a:endParaRPr lang="ko-KR" altLang="en-US" sz="1400" b="1" dirty="0"/>
          </a:p>
        </p:txBody>
      </p:sp>
      <p:sp>
        <p:nvSpPr>
          <p:cNvPr id="47" name="타원 46"/>
          <p:cNvSpPr/>
          <p:nvPr/>
        </p:nvSpPr>
        <p:spPr>
          <a:xfrm>
            <a:off x="3109684" y="4869160"/>
            <a:ext cx="132938" cy="1440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구부러진 연결선 48"/>
          <p:cNvCxnSpPr>
            <a:stCxn id="47" idx="6"/>
            <a:endCxn id="31" idx="1"/>
          </p:cNvCxnSpPr>
          <p:nvPr/>
        </p:nvCxnSpPr>
        <p:spPr>
          <a:xfrm flipV="1">
            <a:off x="3242622" y="4338433"/>
            <a:ext cx="1794661" cy="602735"/>
          </a:xfrm>
          <a:prstGeom prst="curvedConnector3">
            <a:avLst>
              <a:gd name="adj1" fmla="val 50000"/>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52" name="타원 51"/>
          <p:cNvSpPr/>
          <p:nvPr/>
        </p:nvSpPr>
        <p:spPr>
          <a:xfrm>
            <a:off x="1315023" y="4941168"/>
            <a:ext cx="132938" cy="1440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4" name="구부러진 연결선 53"/>
          <p:cNvCxnSpPr>
            <a:stCxn id="52" idx="0"/>
            <a:endCxn id="30" idx="1"/>
          </p:cNvCxnSpPr>
          <p:nvPr/>
        </p:nvCxnSpPr>
        <p:spPr>
          <a:xfrm rot="5400000" flipH="1" flipV="1">
            <a:off x="2281852" y="2185738"/>
            <a:ext cx="1855071" cy="3655791"/>
          </a:xfrm>
          <a:prstGeom prst="curvedConnector2">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5037283" y="5373216"/>
            <a:ext cx="3071610" cy="372410"/>
          </a:xfrm>
          <a:prstGeom prst="rect">
            <a:avLst/>
          </a:prstGeom>
          <a:noFill/>
        </p:spPr>
        <p:txBody>
          <a:bodyPr wrap="none" rtlCol="0">
            <a:spAutoFit/>
          </a:bodyPr>
          <a:lstStyle/>
          <a:p>
            <a:pPr>
              <a:lnSpc>
                <a:spcPct val="130000"/>
              </a:lnSpc>
              <a:buClr>
                <a:srgbClr val="C5003D"/>
              </a:buClr>
            </a:pPr>
            <a:r>
              <a:rPr lang="en-US" altLang="ko-KR" sz="1400" b="1" dirty="0"/>
              <a:t>Total </a:t>
            </a:r>
            <a:r>
              <a:rPr lang="en-US" altLang="ko-KR" sz="1400" b="1" dirty="0" err="1"/>
              <a:t>tỷ</a:t>
            </a:r>
            <a:r>
              <a:rPr lang="en-US" altLang="ko-KR" sz="1400" b="1" dirty="0"/>
              <a:t> </a:t>
            </a:r>
            <a:r>
              <a:rPr lang="en-US" altLang="ko-KR" sz="1400" b="1" dirty="0" err="1"/>
              <a:t>lệ</a:t>
            </a:r>
            <a:r>
              <a:rPr lang="en-US" altLang="ko-KR" sz="1400" b="1" dirty="0"/>
              <a:t> </a:t>
            </a:r>
            <a:r>
              <a:rPr lang="en-US" altLang="ko-KR" sz="1400" b="1" dirty="0" err="1"/>
              <a:t>không</a:t>
            </a:r>
            <a:r>
              <a:rPr lang="en-US" altLang="ko-KR" sz="1400" b="1" dirty="0"/>
              <a:t> </a:t>
            </a:r>
            <a:r>
              <a:rPr lang="en-US" altLang="ko-KR" sz="1400" b="1" dirty="0" err="1"/>
              <a:t>đạt</a:t>
            </a:r>
            <a:r>
              <a:rPr lang="en-US" altLang="ko-KR" sz="1400" b="1" dirty="0"/>
              <a:t> là14.843 % </a:t>
            </a:r>
            <a:endParaRPr lang="ko-KR" altLang="en-US" sz="1400" b="1" dirty="0"/>
          </a:p>
        </p:txBody>
      </p:sp>
      <p:cxnSp>
        <p:nvCxnSpPr>
          <p:cNvPr id="57" name="직선 연결선 56"/>
          <p:cNvCxnSpPr/>
          <p:nvPr/>
        </p:nvCxnSpPr>
        <p:spPr>
          <a:xfrm>
            <a:off x="5103751" y="5733256"/>
            <a:ext cx="20605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 Box 39"/>
          <p:cNvSpPr txBox="1">
            <a:spLocks noChangeArrowheads="1"/>
          </p:cNvSpPr>
          <p:nvPr/>
        </p:nvSpPr>
        <p:spPr bwMode="auto">
          <a:xfrm>
            <a:off x="234902" y="116632"/>
            <a:ext cx="2518253"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p>
        </p:txBody>
      </p:sp>
    </p:spTree>
    <p:extLst>
      <p:ext uri="{BB962C8B-B14F-4D97-AF65-F5344CB8AC3E}">
        <p14:creationId xmlns:p14="http://schemas.microsoft.com/office/powerpoint/2010/main" val="2313723661"/>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188</a:t>
            </a:fld>
            <a:endParaRPr lang="ko-KR" altLang="en-US" dirty="0"/>
          </a:p>
        </p:txBody>
      </p:sp>
      <p:sp>
        <p:nvSpPr>
          <p:cNvPr id="3" name="Text Box 39"/>
          <p:cNvSpPr txBox="1">
            <a:spLocks noChangeArrowheads="1"/>
          </p:cNvSpPr>
          <p:nvPr/>
        </p:nvSpPr>
        <p:spPr bwMode="auto">
          <a:xfrm>
            <a:off x="251520" y="692696"/>
            <a:ext cx="2823978"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Dispersion of process</a:t>
            </a:r>
          </a:p>
        </p:txBody>
      </p:sp>
      <p:sp>
        <p:nvSpPr>
          <p:cNvPr id="4" name="TextBox 3"/>
          <p:cNvSpPr txBox="1"/>
          <p:nvPr/>
        </p:nvSpPr>
        <p:spPr>
          <a:xfrm>
            <a:off x="338720" y="1164403"/>
            <a:ext cx="7034170" cy="412421"/>
          </a:xfrm>
          <a:prstGeom prst="rect">
            <a:avLst/>
          </a:prstGeom>
          <a:noFill/>
        </p:spPr>
        <p:txBody>
          <a:bodyPr wrap="none" rtlCol="0">
            <a:spAutoFit/>
          </a:bodyPr>
          <a:lstStyle/>
          <a:p>
            <a:pPr>
              <a:lnSpc>
                <a:spcPct val="130000"/>
              </a:lnSpc>
              <a:buClr>
                <a:srgbClr val="C5003D"/>
              </a:buClr>
            </a:pPr>
            <a:r>
              <a:rPr lang="en-US" altLang="ko-KR" sz="1600" b="1" dirty="0"/>
              <a:t>There are several characteristics of the data generated in the process.</a:t>
            </a:r>
            <a:endParaRPr lang="ko-KR" altLang="en-US" sz="1600" b="1" dirty="0"/>
          </a:p>
        </p:txBody>
      </p:sp>
      <p:sp>
        <p:nvSpPr>
          <p:cNvPr id="5" name="TextBox 4"/>
          <p:cNvSpPr txBox="1"/>
          <p:nvPr/>
        </p:nvSpPr>
        <p:spPr>
          <a:xfrm>
            <a:off x="650334" y="1648833"/>
            <a:ext cx="8339832" cy="2031325"/>
          </a:xfrm>
          <a:prstGeom prst="rect">
            <a:avLst/>
          </a:prstGeom>
          <a:noFill/>
        </p:spPr>
        <p:txBody>
          <a:bodyPr wrap="square" rtlCol="0">
            <a:spAutoFit/>
          </a:bodyPr>
          <a:lstStyle/>
          <a:p>
            <a:pPr marL="342900" indent="-342900">
              <a:lnSpc>
                <a:spcPct val="150000"/>
              </a:lnSpc>
              <a:buAutoNum type="arabicPeriod"/>
            </a:pPr>
            <a:r>
              <a:rPr lang="en-US" altLang="ko-KR" sz="1400" b="1" dirty="0"/>
              <a:t>No matter how many samples are measured, it is the sample's data.</a:t>
            </a:r>
          </a:p>
          <a:p>
            <a:pPr marL="342900" indent="-342900">
              <a:lnSpc>
                <a:spcPct val="150000"/>
              </a:lnSpc>
              <a:buAutoNum type="arabicPeriod"/>
            </a:pPr>
            <a:r>
              <a:rPr lang="en-US" altLang="ko-KR" sz="1400" b="1" dirty="0"/>
              <a:t>Data generated from a stable production line is normal distribution.</a:t>
            </a:r>
          </a:p>
          <a:p>
            <a:pPr marL="342900" indent="-342900">
              <a:lnSpc>
                <a:spcPct val="150000"/>
              </a:lnSpc>
              <a:buAutoNum type="arabicPeriod"/>
            </a:pPr>
            <a:r>
              <a:rPr lang="en-US" altLang="ko-KR" sz="1400" b="1" dirty="0"/>
              <a:t>In the process, there are fluctuations due to poor process control and fluctuations that occur even if process control is good.</a:t>
            </a:r>
          </a:p>
          <a:p>
            <a:pPr marL="342900" indent="-342900">
              <a:lnSpc>
                <a:spcPct val="150000"/>
              </a:lnSpc>
              <a:buFontTx/>
              <a:buAutoNum type="arabicPeriod"/>
            </a:pPr>
            <a:r>
              <a:rPr lang="en-US" altLang="ko-KR" sz="1400" b="1" dirty="0"/>
              <a:t>However, the results (data) do not distinguish between these two variations. </a:t>
            </a:r>
            <a:r>
              <a:rPr lang="ko-KR" altLang="en-US" sz="1400" b="1" dirty="0"/>
              <a:t>  </a:t>
            </a:r>
            <a:endParaRPr lang="en-US" altLang="ko-KR" sz="1400" b="1" dirty="0"/>
          </a:p>
          <a:p>
            <a:pPr marL="342900" indent="-342900">
              <a:lnSpc>
                <a:spcPct val="150000"/>
              </a:lnSpc>
              <a:buAutoNum type="arabicPeriod" startAt="2"/>
            </a:pPr>
            <a:r>
              <a:rPr lang="en-US" altLang="ko-KR" sz="1400" b="1" dirty="0"/>
              <a:t>Rational subgroups should be used to distinguish between these two variants.</a:t>
            </a:r>
            <a:endParaRPr lang="ko-KR" altLang="en-US" sz="1400" b="1" dirty="0"/>
          </a:p>
        </p:txBody>
      </p:sp>
      <p:sp>
        <p:nvSpPr>
          <p:cNvPr id="6" name="TextBox 5"/>
          <p:cNvSpPr txBox="1"/>
          <p:nvPr/>
        </p:nvSpPr>
        <p:spPr>
          <a:xfrm>
            <a:off x="338721" y="3659522"/>
            <a:ext cx="3451779" cy="412421"/>
          </a:xfrm>
          <a:prstGeom prst="rect">
            <a:avLst/>
          </a:prstGeom>
          <a:noFill/>
        </p:spPr>
        <p:txBody>
          <a:bodyPr wrap="none" rtlCol="0">
            <a:spAutoFit/>
          </a:bodyPr>
          <a:lstStyle/>
          <a:p>
            <a:pPr>
              <a:lnSpc>
                <a:spcPct val="130000"/>
              </a:lnSpc>
              <a:buClr>
                <a:srgbClr val="C5003D"/>
              </a:buClr>
            </a:pPr>
            <a:r>
              <a:rPr lang="en-US" altLang="ko-KR" sz="1600" b="1" dirty="0"/>
              <a:t>Dispersion of process</a:t>
            </a:r>
            <a:r>
              <a:rPr lang="ko-KR" altLang="en-US" sz="1600" b="1" dirty="0"/>
              <a:t> </a:t>
            </a:r>
            <a:r>
              <a:rPr lang="en-US" altLang="ko-KR" sz="1600" b="1" dirty="0"/>
              <a:t>(Variation) </a:t>
            </a:r>
            <a:endParaRPr lang="ko-KR" altLang="en-US" sz="1600" b="1" dirty="0"/>
          </a:p>
        </p:txBody>
      </p:sp>
      <p:sp>
        <p:nvSpPr>
          <p:cNvPr id="8" name="TextBox 7"/>
          <p:cNvSpPr txBox="1"/>
          <p:nvPr/>
        </p:nvSpPr>
        <p:spPr>
          <a:xfrm>
            <a:off x="1208919" y="4093623"/>
            <a:ext cx="2163285" cy="412421"/>
          </a:xfrm>
          <a:prstGeom prst="rect">
            <a:avLst/>
          </a:prstGeom>
          <a:noFill/>
        </p:spPr>
        <p:txBody>
          <a:bodyPr wrap="none" rtlCol="0">
            <a:spAutoFit/>
          </a:bodyPr>
          <a:lstStyle/>
          <a:p>
            <a:pPr>
              <a:lnSpc>
                <a:spcPct val="130000"/>
              </a:lnSpc>
              <a:buClr>
                <a:srgbClr val="C5003D"/>
              </a:buClr>
            </a:pPr>
            <a:r>
              <a:rPr lang="en-US" altLang="ko-KR" sz="1600" b="1" dirty="0"/>
              <a:t>Assignable variation</a:t>
            </a:r>
            <a:endParaRPr lang="ko-KR" altLang="en-US" sz="1600" b="1" dirty="0"/>
          </a:p>
        </p:txBody>
      </p:sp>
      <p:sp>
        <p:nvSpPr>
          <p:cNvPr id="9" name="TextBox 8"/>
          <p:cNvSpPr txBox="1"/>
          <p:nvPr/>
        </p:nvSpPr>
        <p:spPr>
          <a:xfrm>
            <a:off x="5503091" y="4093623"/>
            <a:ext cx="1817036" cy="412421"/>
          </a:xfrm>
          <a:prstGeom prst="rect">
            <a:avLst/>
          </a:prstGeom>
          <a:noFill/>
        </p:spPr>
        <p:txBody>
          <a:bodyPr wrap="none" rtlCol="0">
            <a:spAutoFit/>
          </a:bodyPr>
          <a:lstStyle/>
          <a:p>
            <a:pPr>
              <a:lnSpc>
                <a:spcPct val="130000"/>
              </a:lnSpc>
              <a:buClr>
                <a:srgbClr val="C5003D"/>
              </a:buClr>
            </a:pPr>
            <a:r>
              <a:rPr lang="en-US" altLang="ko-KR" sz="1600" b="1" dirty="0"/>
              <a:t>Chance variation</a:t>
            </a:r>
            <a:endParaRPr lang="ko-KR" altLang="en-US" sz="1600" b="1" dirty="0"/>
          </a:p>
        </p:txBody>
      </p:sp>
      <p:sp>
        <p:nvSpPr>
          <p:cNvPr id="10" name="TextBox 9"/>
          <p:cNvSpPr txBox="1"/>
          <p:nvPr/>
        </p:nvSpPr>
        <p:spPr>
          <a:xfrm>
            <a:off x="650334" y="4525671"/>
            <a:ext cx="4121578" cy="1384995"/>
          </a:xfrm>
          <a:prstGeom prst="rect">
            <a:avLst/>
          </a:prstGeom>
          <a:noFill/>
        </p:spPr>
        <p:txBody>
          <a:bodyPr wrap="none" rtlCol="0">
            <a:spAutoFit/>
          </a:bodyPr>
          <a:lstStyle/>
          <a:p>
            <a:pPr marL="342900" indent="-342900">
              <a:lnSpc>
                <a:spcPct val="150000"/>
              </a:lnSpc>
              <a:buAutoNum type="arabicPeriod"/>
            </a:pPr>
            <a:r>
              <a:rPr lang="en-US" altLang="ko-KR" sz="1400" b="1" dirty="0"/>
              <a:t>Variation due to process control failure</a:t>
            </a:r>
          </a:p>
          <a:p>
            <a:pPr marL="342900" indent="-342900">
              <a:lnSpc>
                <a:spcPct val="150000"/>
              </a:lnSpc>
              <a:buAutoNum type="arabicPeriod"/>
            </a:pPr>
            <a:r>
              <a:rPr lang="en-US" altLang="ko-KR" sz="1400" b="1" dirty="0"/>
              <a:t>Abnormality of tool or machine condition</a:t>
            </a:r>
          </a:p>
          <a:p>
            <a:pPr marL="342900" indent="-342900">
              <a:lnSpc>
                <a:spcPct val="150000"/>
              </a:lnSpc>
              <a:buAutoNum type="arabicPeriod"/>
            </a:pPr>
            <a:r>
              <a:rPr lang="en-US" altLang="ko-KR" sz="1400" b="1" dirty="0"/>
              <a:t>Worker’s mistake</a:t>
            </a:r>
          </a:p>
          <a:p>
            <a:pPr marL="342900" indent="-342900">
              <a:lnSpc>
                <a:spcPct val="150000"/>
              </a:lnSpc>
              <a:buAutoNum type="arabicPeriod"/>
            </a:pPr>
            <a:r>
              <a:rPr lang="en-US" altLang="ko-KR" sz="1400" b="1" dirty="0"/>
              <a:t>4M changes etc.</a:t>
            </a:r>
            <a:endParaRPr lang="ko-KR" altLang="en-US" sz="1400" b="1" dirty="0"/>
          </a:p>
        </p:txBody>
      </p:sp>
      <p:sp>
        <p:nvSpPr>
          <p:cNvPr id="11" name="TextBox 10"/>
          <p:cNvSpPr txBox="1"/>
          <p:nvPr/>
        </p:nvSpPr>
        <p:spPr>
          <a:xfrm>
            <a:off x="4506058" y="4525671"/>
            <a:ext cx="4637942" cy="2354491"/>
          </a:xfrm>
          <a:prstGeom prst="rect">
            <a:avLst/>
          </a:prstGeom>
          <a:noFill/>
        </p:spPr>
        <p:txBody>
          <a:bodyPr wrap="square" rtlCol="0">
            <a:spAutoFit/>
          </a:bodyPr>
          <a:lstStyle/>
          <a:p>
            <a:pPr marL="342900" indent="-342900">
              <a:lnSpc>
                <a:spcPct val="150000"/>
              </a:lnSpc>
              <a:buAutoNum type="arabicPeriod"/>
            </a:pPr>
            <a:r>
              <a:rPr lang="en-US" altLang="ko-KR" sz="1400" b="1" dirty="0"/>
              <a:t>Variations that occur even if process control is good</a:t>
            </a:r>
          </a:p>
          <a:p>
            <a:pPr marL="342900" indent="-342900">
              <a:lnSpc>
                <a:spcPct val="150000"/>
              </a:lnSpc>
              <a:buAutoNum type="arabicPeriod"/>
            </a:pPr>
            <a:r>
              <a:rPr lang="en-US" altLang="ko-KR" sz="1400" b="1" dirty="0"/>
              <a:t>Change of working environment (temperature, humidity, etc.)</a:t>
            </a:r>
          </a:p>
          <a:p>
            <a:pPr marL="342900" indent="-342900">
              <a:lnSpc>
                <a:spcPct val="150000"/>
              </a:lnSpc>
              <a:buAutoNum type="arabicPeriod"/>
            </a:pPr>
            <a:r>
              <a:rPr lang="en-US" altLang="ko-KR" sz="1400" b="1" dirty="0"/>
              <a:t>The cause of the variation can not be explained</a:t>
            </a:r>
          </a:p>
          <a:p>
            <a:pPr marL="342900" indent="-342900">
              <a:lnSpc>
                <a:spcPct val="150000"/>
              </a:lnSpc>
              <a:buAutoNum type="arabicPeriod"/>
            </a:pPr>
            <a:r>
              <a:rPr lang="en-US" altLang="ko-KR" sz="1400" b="1" dirty="0"/>
              <a:t>You can not manage the cause of the change even if you know reason of variation</a:t>
            </a:r>
            <a:endParaRPr lang="ko-KR" altLang="en-US" sz="1400" b="1" dirty="0"/>
          </a:p>
        </p:txBody>
      </p:sp>
      <p:sp>
        <p:nvSpPr>
          <p:cNvPr id="12"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516555276"/>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189</a:t>
            </a:fld>
            <a:endParaRPr lang="ko-KR" altLang="en-US" dirty="0"/>
          </a:p>
        </p:txBody>
      </p:sp>
      <p:sp>
        <p:nvSpPr>
          <p:cNvPr id="4" name="TextBox 3"/>
          <p:cNvSpPr txBox="1"/>
          <p:nvPr/>
        </p:nvSpPr>
        <p:spPr>
          <a:xfrm>
            <a:off x="355007" y="1096873"/>
            <a:ext cx="2086405" cy="412421"/>
          </a:xfrm>
          <a:prstGeom prst="rect">
            <a:avLst/>
          </a:prstGeom>
          <a:noFill/>
        </p:spPr>
        <p:txBody>
          <a:bodyPr wrap="none" rtlCol="0">
            <a:spAutoFit/>
          </a:bodyPr>
          <a:lstStyle/>
          <a:p>
            <a:pPr>
              <a:lnSpc>
                <a:spcPct val="130000"/>
              </a:lnSpc>
              <a:buClr>
                <a:srgbClr val="C5003D"/>
              </a:buClr>
            </a:pPr>
            <a:r>
              <a:rPr lang="en-US" altLang="ko-KR" sz="1600" b="1" dirty="0"/>
              <a:t>Rational Subgroup</a:t>
            </a:r>
            <a:r>
              <a:rPr lang="ko-KR" altLang="en-US" sz="1600" b="1" dirty="0"/>
              <a:t> </a:t>
            </a:r>
          </a:p>
        </p:txBody>
      </p:sp>
      <p:sp>
        <p:nvSpPr>
          <p:cNvPr id="5" name="TextBox 4"/>
          <p:cNvSpPr txBox="1"/>
          <p:nvPr/>
        </p:nvSpPr>
        <p:spPr>
          <a:xfrm>
            <a:off x="799560" y="1509295"/>
            <a:ext cx="8344441" cy="1384995"/>
          </a:xfrm>
          <a:prstGeom prst="rect">
            <a:avLst/>
          </a:prstGeom>
          <a:noFill/>
        </p:spPr>
        <p:txBody>
          <a:bodyPr wrap="square" rtlCol="0">
            <a:spAutoFit/>
          </a:bodyPr>
          <a:lstStyle/>
          <a:p>
            <a:pPr marL="285750" indent="-285750">
              <a:lnSpc>
                <a:spcPct val="150000"/>
              </a:lnSpc>
              <a:buFont typeface="Wingdings" panose="05000000000000000000" pitchFamily="2" charset="2"/>
              <a:buChar char="§"/>
            </a:pPr>
            <a:r>
              <a:rPr lang="en-US" sz="1400" dirty="0"/>
              <a:t>When sampling, the sample should be sampled so that the assumption is made that all conditions are the same</a:t>
            </a:r>
          </a:p>
          <a:p>
            <a:pPr marL="285750" indent="-285750">
              <a:lnSpc>
                <a:spcPct val="150000"/>
              </a:lnSpc>
              <a:buFont typeface="Wingdings" panose="05000000000000000000" pitchFamily="2" charset="2"/>
              <a:buChar char="§"/>
            </a:pPr>
            <a:r>
              <a:rPr lang="en-US" sz="1400" dirty="0"/>
              <a:t>Taking the sample like this, the variations in the groups are caused by the cause of assignable cause</a:t>
            </a:r>
            <a:endParaRPr lang="ko-KR" altLang="en-US" sz="1400" dirty="0"/>
          </a:p>
        </p:txBody>
      </p:sp>
      <p:sp>
        <p:nvSpPr>
          <p:cNvPr id="6" name="TextBox 5"/>
          <p:cNvSpPr txBox="1"/>
          <p:nvPr/>
        </p:nvSpPr>
        <p:spPr>
          <a:xfrm>
            <a:off x="384458" y="2529311"/>
            <a:ext cx="3340658" cy="412421"/>
          </a:xfrm>
          <a:prstGeom prst="rect">
            <a:avLst/>
          </a:prstGeom>
          <a:noFill/>
        </p:spPr>
        <p:txBody>
          <a:bodyPr wrap="none" rtlCol="0">
            <a:spAutoFit/>
          </a:bodyPr>
          <a:lstStyle/>
          <a:p>
            <a:pPr>
              <a:lnSpc>
                <a:spcPct val="130000"/>
              </a:lnSpc>
              <a:buClr>
                <a:srgbClr val="C5003D"/>
              </a:buClr>
            </a:pPr>
            <a:r>
              <a:rPr lang="en-US" altLang="ko-KR" sz="1600" b="1" dirty="0"/>
              <a:t>Rational Subgroup</a:t>
            </a:r>
            <a:r>
              <a:rPr lang="ko-KR" altLang="en-US" sz="1600" b="1" dirty="0"/>
              <a:t> </a:t>
            </a:r>
            <a:r>
              <a:rPr lang="en-US" altLang="ko-KR" sz="1600" b="1" dirty="0"/>
              <a:t>Description</a:t>
            </a:r>
            <a:r>
              <a:rPr lang="ko-KR" altLang="en-US" sz="1600" b="1" dirty="0"/>
              <a:t>  </a:t>
            </a:r>
          </a:p>
        </p:txBody>
      </p:sp>
      <p:sp>
        <p:nvSpPr>
          <p:cNvPr id="8" name="TextBox 7"/>
          <p:cNvSpPr txBox="1"/>
          <p:nvPr/>
        </p:nvSpPr>
        <p:spPr>
          <a:xfrm>
            <a:off x="783271" y="2968598"/>
            <a:ext cx="8360729" cy="1061829"/>
          </a:xfrm>
          <a:prstGeom prst="rect">
            <a:avLst/>
          </a:prstGeom>
          <a:noFill/>
        </p:spPr>
        <p:txBody>
          <a:bodyPr wrap="square" rtlCol="0">
            <a:spAutoFit/>
          </a:bodyPr>
          <a:lstStyle/>
          <a:p>
            <a:pPr>
              <a:lnSpc>
                <a:spcPct val="150000"/>
              </a:lnSpc>
            </a:pPr>
            <a:r>
              <a:rPr lang="en-US" sz="1400" dirty="0"/>
              <a:t>Let's say we produce and exchange 100 tools in a stable process.</a:t>
            </a:r>
            <a:r>
              <a:rPr lang="en-US" altLang="ko-KR" sz="1400" dirty="0"/>
              <a:t>   The exchanged tool is initially normal, but wears up as you use it and it gets bigger.   </a:t>
            </a:r>
            <a:r>
              <a:rPr lang="en-US" sz="1400" dirty="0"/>
              <a:t>When this happens, the approximate control chart is as follows.</a:t>
            </a:r>
            <a:endParaRPr lang="en-US" altLang="ko-KR" sz="1400" dirty="0"/>
          </a:p>
        </p:txBody>
      </p:sp>
      <p:cxnSp>
        <p:nvCxnSpPr>
          <p:cNvPr id="10" name="직선 연결선 9"/>
          <p:cNvCxnSpPr/>
          <p:nvPr/>
        </p:nvCxnSpPr>
        <p:spPr>
          <a:xfrm>
            <a:off x="849741" y="4133252"/>
            <a:ext cx="39881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849741" y="5069356"/>
            <a:ext cx="39881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4947689" y="3976711"/>
            <a:ext cx="461986" cy="332399"/>
          </a:xfrm>
          <a:prstGeom prst="rect">
            <a:avLst/>
          </a:prstGeom>
          <a:noFill/>
        </p:spPr>
        <p:txBody>
          <a:bodyPr wrap="none" rtlCol="0">
            <a:spAutoFit/>
          </a:bodyPr>
          <a:lstStyle/>
          <a:p>
            <a:pPr>
              <a:lnSpc>
                <a:spcPct val="130000"/>
              </a:lnSpc>
              <a:buClr>
                <a:srgbClr val="C5003D"/>
              </a:buClr>
            </a:pPr>
            <a:r>
              <a:rPr lang="en-US" altLang="ko-KR" sz="1200" b="1" dirty="0"/>
              <a:t>USL</a:t>
            </a:r>
            <a:endParaRPr lang="ko-KR" altLang="en-US" sz="1200" b="1" dirty="0"/>
          </a:p>
        </p:txBody>
      </p:sp>
      <p:sp>
        <p:nvSpPr>
          <p:cNvPr id="13" name="TextBox 12"/>
          <p:cNvSpPr txBox="1"/>
          <p:nvPr/>
        </p:nvSpPr>
        <p:spPr>
          <a:xfrm>
            <a:off x="4947689" y="4925341"/>
            <a:ext cx="428322" cy="332399"/>
          </a:xfrm>
          <a:prstGeom prst="rect">
            <a:avLst/>
          </a:prstGeom>
          <a:noFill/>
        </p:spPr>
        <p:txBody>
          <a:bodyPr wrap="none" rtlCol="0">
            <a:spAutoFit/>
          </a:bodyPr>
          <a:lstStyle/>
          <a:p>
            <a:pPr>
              <a:lnSpc>
                <a:spcPct val="130000"/>
              </a:lnSpc>
              <a:buClr>
                <a:srgbClr val="C5003D"/>
              </a:buClr>
            </a:pPr>
            <a:r>
              <a:rPr lang="en-US" altLang="ko-KR" sz="1200" b="1" dirty="0"/>
              <a:t>LSL</a:t>
            </a:r>
            <a:endParaRPr lang="ko-KR" altLang="en-US" sz="1200" b="1" dirty="0"/>
          </a:p>
        </p:txBody>
      </p:sp>
      <p:cxnSp>
        <p:nvCxnSpPr>
          <p:cNvPr id="15" name="직선 연결선 14"/>
          <p:cNvCxnSpPr/>
          <p:nvPr/>
        </p:nvCxnSpPr>
        <p:spPr>
          <a:xfrm flipV="1">
            <a:off x="1049147" y="4133252"/>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직선 연결선 16"/>
          <p:cNvCxnSpPr/>
          <p:nvPr/>
        </p:nvCxnSpPr>
        <p:spPr>
          <a:xfrm>
            <a:off x="1846774" y="4133252"/>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직선 연결선 17"/>
          <p:cNvCxnSpPr/>
          <p:nvPr/>
        </p:nvCxnSpPr>
        <p:spPr>
          <a:xfrm flipV="1">
            <a:off x="1846774" y="4133252"/>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a:xfrm>
            <a:off x="2644401" y="4133252"/>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p:nvCxnSpPr>
        <p:spPr>
          <a:xfrm flipV="1">
            <a:off x="2644401" y="4133252"/>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직선 연결선 20"/>
          <p:cNvCxnSpPr/>
          <p:nvPr/>
        </p:nvCxnSpPr>
        <p:spPr>
          <a:xfrm>
            <a:off x="3442028" y="4133252"/>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flipV="1">
            <a:off x="3442028" y="4133252"/>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직선 연결선 22"/>
          <p:cNvCxnSpPr/>
          <p:nvPr/>
        </p:nvCxnSpPr>
        <p:spPr>
          <a:xfrm>
            <a:off x="4239655" y="4133252"/>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1406748" y="5141365"/>
            <a:ext cx="976549" cy="302390"/>
          </a:xfrm>
          <a:prstGeom prst="rect">
            <a:avLst/>
          </a:prstGeom>
          <a:noFill/>
        </p:spPr>
        <p:txBody>
          <a:bodyPr wrap="none" rtlCol="0">
            <a:spAutoFit/>
          </a:bodyPr>
          <a:lstStyle/>
          <a:p>
            <a:pPr>
              <a:lnSpc>
                <a:spcPct val="130000"/>
              </a:lnSpc>
              <a:buClr>
                <a:srgbClr val="C5003D"/>
              </a:buClr>
            </a:pPr>
            <a:r>
              <a:rPr lang="en-US" altLang="ko-KR" sz="1050" b="1" dirty="0"/>
              <a:t>Tool change</a:t>
            </a:r>
            <a:endParaRPr lang="ko-KR" altLang="en-US" sz="1050" b="1" dirty="0"/>
          </a:p>
        </p:txBody>
      </p:sp>
      <p:sp>
        <p:nvSpPr>
          <p:cNvPr id="25" name="TextBox 24"/>
          <p:cNvSpPr txBox="1"/>
          <p:nvPr/>
        </p:nvSpPr>
        <p:spPr>
          <a:xfrm>
            <a:off x="2198061" y="5156562"/>
            <a:ext cx="976549" cy="302390"/>
          </a:xfrm>
          <a:prstGeom prst="rect">
            <a:avLst/>
          </a:prstGeom>
          <a:noFill/>
        </p:spPr>
        <p:txBody>
          <a:bodyPr wrap="none" rtlCol="0">
            <a:spAutoFit/>
          </a:bodyPr>
          <a:lstStyle/>
          <a:p>
            <a:pPr>
              <a:lnSpc>
                <a:spcPct val="130000"/>
              </a:lnSpc>
              <a:buClr>
                <a:srgbClr val="C5003D"/>
              </a:buClr>
            </a:pPr>
            <a:r>
              <a:rPr lang="en-US" altLang="ko-KR" sz="1050" b="1" dirty="0"/>
              <a:t>Tool change</a:t>
            </a:r>
            <a:endParaRPr lang="ko-KR" altLang="en-US" sz="1050" b="1" dirty="0"/>
          </a:p>
        </p:txBody>
      </p:sp>
      <p:sp>
        <p:nvSpPr>
          <p:cNvPr id="26" name="TextBox 25"/>
          <p:cNvSpPr txBox="1"/>
          <p:nvPr/>
        </p:nvSpPr>
        <p:spPr>
          <a:xfrm>
            <a:off x="2989374" y="5141365"/>
            <a:ext cx="976549" cy="302390"/>
          </a:xfrm>
          <a:prstGeom prst="rect">
            <a:avLst/>
          </a:prstGeom>
          <a:noFill/>
        </p:spPr>
        <p:txBody>
          <a:bodyPr wrap="none" rtlCol="0">
            <a:spAutoFit/>
          </a:bodyPr>
          <a:lstStyle/>
          <a:p>
            <a:pPr>
              <a:lnSpc>
                <a:spcPct val="130000"/>
              </a:lnSpc>
              <a:buClr>
                <a:srgbClr val="C5003D"/>
              </a:buClr>
            </a:pPr>
            <a:r>
              <a:rPr lang="en-US" altLang="ko-KR" sz="1050" b="1" dirty="0"/>
              <a:t>Tool change</a:t>
            </a:r>
            <a:endParaRPr lang="ko-KR" altLang="en-US" sz="1050" b="1" dirty="0"/>
          </a:p>
        </p:txBody>
      </p:sp>
      <p:sp>
        <p:nvSpPr>
          <p:cNvPr id="27" name="TextBox 26"/>
          <p:cNvSpPr txBox="1"/>
          <p:nvPr/>
        </p:nvSpPr>
        <p:spPr>
          <a:xfrm>
            <a:off x="3780687" y="5141365"/>
            <a:ext cx="976549" cy="302390"/>
          </a:xfrm>
          <a:prstGeom prst="rect">
            <a:avLst/>
          </a:prstGeom>
          <a:noFill/>
        </p:spPr>
        <p:txBody>
          <a:bodyPr wrap="none" rtlCol="0">
            <a:spAutoFit/>
          </a:bodyPr>
          <a:lstStyle/>
          <a:p>
            <a:pPr>
              <a:lnSpc>
                <a:spcPct val="130000"/>
              </a:lnSpc>
              <a:buClr>
                <a:srgbClr val="C5003D"/>
              </a:buClr>
            </a:pPr>
            <a:r>
              <a:rPr lang="en-US" altLang="ko-KR" sz="1050" b="1" dirty="0"/>
              <a:t>Tool change</a:t>
            </a:r>
            <a:endParaRPr lang="ko-KR" altLang="en-US" sz="1050" b="1" dirty="0"/>
          </a:p>
        </p:txBody>
      </p:sp>
      <p:sp>
        <p:nvSpPr>
          <p:cNvPr id="28" name="TextBox 27"/>
          <p:cNvSpPr txBox="1"/>
          <p:nvPr/>
        </p:nvSpPr>
        <p:spPr>
          <a:xfrm>
            <a:off x="5569034" y="4048718"/>
            <a:ext cx="3355189" cy="932563"/>
          </a:xfrm>
          <a:prstGeom prst="rect">
            <a:avLst/>
          </a:prstGeom>
          <a:noFill/>
        </p:spPr>
        <p:txBody>
          <a:bodyPr wrap="square" rtlCol="0">
            <a:spAutoFit/>
          </a:bodyPr>
          <a:lstStyle/>
          <a:p>
            <a:pPr>
              <a:lnSpc>
                <a:spcPct val="130000"/>
              </a:lnSpc>
              <a:buClr>
                <a:srgbClr val="C5003D"/>
              </a:buClr>
            </a:pPr>
            <a:r>
              <a:rPr lang="en-US" altLang="ko-KR" sz="1400" b="1" dirty="0"/>
              <a:t>At this time, the 100th production and the first production are clearly different.</a:t>
            </a:r>
            <a:endParaRPr lang="ko-KR" altLang="en-US" sz="1400" b="1" dirty="0"/>
          </a:p>
        </p:txBody>
      </p:sp>
      <p:sp>
        <p:nvSpPr>
          <p:cNvPr id="29" name="TextBox 28"/>
          <p:cNvSpPr txBox="1"/>
          <p:nvPr/>
        </p:nvSpPr>
        <p:spPr>
          <a:xfrm>
            <a:off x="5569034" y="4768800"/>
            <a:ext cx="3289246" cy="932563"/>
          </a:xfrm>
          <a:prstGeom prst="rect">
            <a:avLst/>
          </a:prstGeom>
          <a:noFill/>
        </p:spPr>
        <p:txBody>
          <a:bodyPr wrap="square" rtlCol="0">
            <a:spAutoFit/>
          </a:bodyPr>
          <a:lstStyle/>
          <a:p>
            <a:pPr>
              <a:lnSpc>
                <a:spcPct val="130000"/>
              </a:lnSpc>
              <a:buClr>
                <a:srgbClr val="C5003D"/>
              </a:buClr>
            </a:pPr>
            <a:r>
              <a:rPr lang="en-US" altLang="ko-KR" sz="1400" b="1" dirty="0"/>
              <a:t>What did the tenth and eleventh produce?</a:t>
            </a:r>
            <a:br>
              <a:rPr lang="en-US" altLang="ko-KR" sz="1400" b="1" dirty="0"/>
            </a:br>
            <a:r>
              <a:rPr lang="en-US" altLang="ko-KR" sz="1400" b="1" dirty="0"/>
              <a:t>The same can be said.</a:t>
            </a:r>
            <a:endParaRPr lang="ko-KR" altLang="en-US" sz="1400" b="1" dirty="0"/>
          </a:p>
        </p:txBody>
      </p:sp>
      <p:sp>
        <p:nvSpPr>
          <p:cNvPr id="30" name="TextBox 29"/>
          <p:cNvSpPr txBox="1"/>
          <p:nvPr/>
        </p:nvSpPr>
        <p:spPr>
          <a:xfrm>
            <a:off x="849740" y="5643578"/>
            <a:ext cx="7876654" cy="1212640"/>
          </a:xfrm>
          <a:prstGeom prst="rect">
            <a:avLst/>
          </a:prstGeom>
          <a:noFill/>
        </p:spPr>
        <p:txBody>
          <a:bodyPr wrap="square" rtlCol="0">
            <a:spAutoFit/>
          </a:bodyPr>
          <a:lstStyle/>
          <a:p>
            <a:pPr>
              <a:lnSpc>
                <a:spcPct val="130000"/>
              </a:lnSpc>
              <a:buClr>
                <a:srgbClr val="C5003D"/>
              </a:buClr>
            </a:pPr>
            <a:r>
              <a:rPr lang="en-US" altLang="ko-KR" sz="1400" b="1" dirty="0"/>
              <a:t>In the case of parts produced in a stable process, up to 4 to 5 consecutive parts are said to have the same conditions.</a:t>
            </a:r>
          </a:p>
          <a:p>
            <a:pPr>
              <a:lnSpc>
                <a:spcPct val="130000"/>
              </a:lnSpc>
              <a:buClr>
                <a:srgbClr val="C5003D"/>
              </a:buClr>
            </a:pPr>
            <a:r>
              <a:rPr lang="en-US" altLang="ko-KR" sz="1400" b="1" dirty="0"/>
              <a:t>This is the principle of sampling a sample in the </a:t>
            </a:r>
            <a:r>
              <a:rPr lang="en-US" altLang="ko-KR" sz="1400" b="1" dirty="0" err="1"/>
              <a:t>Xbar</a:t>
            </a:r>
            <a:r>
              <a:rPr lang="en-US" altLang="ko-KR" sz="1400" b="1" dirty="0"/>
              <a:t>-R control chart and is the principle used when measuring process capability.</a:t>
            </a:r>
            <a:endParaRPr lang="ko-KR" altLang="en-US" sz="1400" b="1" dirty="0"/>
          </a:p>
        </p:txBody>
      </p:sp>
      <p:sp>
        <p:nvSpPr>
          <p:cNvPr id="31" name="Text Box 39"/>
          <p:cNvSpPr txBox="1">
            <a:spLocks noChangeArrowheads="1"/>
          </p:cNvSpPr>
          <p:nvPr/>
        </p:nvSpPr>
        <p:spPr bwMode="auto">
          <a:xfrm>
            <a:off x="251520" y="692696"/>
            <a:ext cx="2823978"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Dispersion of process</a:t>
            </a:r>
          </a:p>
        </p:txBody>
      </p:sp>
      <p:sp>
        <p:nvSpPr>
          <p:cNvPr id="32"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161169663"/>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190</a:t>
            </a:fld>
            <a:endParaRPr lang="ko-KR" altLang="en-US" dirty="0"/>
          </a:p>
        </p:txBody>
      </p:sp>
      <p:sp>
        <p:nvSpPr>
          <p:cNvPr id="3" name="Text Box 39"/>
          <p:cNvSpPr txBox="1">
            <a:spLocks noChangeArrowheads="1"/>
          </p:cNvSpPr>
          <p:nvPr/>
        </p:nvSpPr>
        <p:spPr bwMode="auto">
          <a:xfrm>
            <a:off x="251520" y="692696"/>
            <a:ext cx="2794291"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process</a:t>
            </a:r>
          </a:p>
        </p:txBody>
      </p:sp>
      <p:sp>
        <p:nvSpPr>
          <p:cNvPr id="4" name="TextBox 3"/>
          <p:cNvSpPr txBox="1"/>
          <p:nvPr/>
        </p:nvSpPr>
        <p:spPr>
          <a:xfrm>
            <a:off x="338721" y="1164404"/>
            <a:ext cx="5690660" cy="412421"/>
          </a:xfrm>
          <a:prstGeom prst="rect">
            <a:avLst/>
          </a:prstGeom>
          <a:noFill/>
        </p:spPr>
        <p:txBody>
          <a:bodyPr wrap="none" rtlCol="0">
            <a:spAutoFit/>
          </a:bodyPr>
          <a:lstStyle/>
          <a:p>
            <a:pPr>
              <a:lnSpc>
                <a:spcPct val="130000"/>
              </a:lnSpc>
              <a:buClr>
                <a:srgbClr val="C5003D"/>
              </a:buClr>
            </a:pPr>
            <a:r>
              <a:rPr lang="en-US" altLang="ko-KR" sz="1600" b="1" dirty="0" err="1"/>
              <a:t>Những</a:t>
            </a:r>
            <a:r>
              <a:rPr lang="en-US" altLang="ko-KR" sz="1600" b="1" dirty="0"/>
              <a:t> data </a:t>
            </a:r>
            <a:r>
              <a:rPr lang="en-US" altLang="ko-KR" sz="1600" b="1" dirty="0" err="1"/>
              <a:t>phát</a:t>
            </a:r>
            <a:r>
              <a:rPr lang="en-US" altLang="ko-KR" sz="1600" b="1" dirty="0"/>
              <a:t> </a:t>
            </a:r>
            <a:r>
              <a:rPr lang="en-US" altLang="ko-KR" sz="1600" b="1" dirty="0" err="1"/>
              <a:t>sinh</a:t>
            </a:r>
            <a:r>
              <a:rPr lang="en-US" altLang="ko-KR" sz="1600" b="1" dirty="0"/>
              <a:t> </a:t>
            </a:r>
            <a:r>
              <a:rPr lang="en-US" altLang="ko-KR" sz="1600" b="1" dirty="0" err="1"/>
              <a:t>trong</a:t>
            </a:r>
            <a:r>
              <a:rPr lang="en-US" altLang="ko-KR" sz="1600" b="1" dirty="0"/>
              <a:t> process </a:t>
            </a:r>
            <a:r>
              <a:rPr lang="en-US" altLang="ko-KR" sz="1600" b="1" dirty="0" err="1"/>
              <a:t>có</a:t>
            </a:r>
            <a:r>
              <a:rPr lang="en-US" altLang="ko-KR" sz="1600" b="1" dirty="0"/>
              <a:t> </a:t>
            </a:r>
            <a:r>
              <a:rPr lang="en-US" altLang="ko-KR" sz="1600" b="1" dirty="0" err="1"/>
              <a:t>vài</a:t>
            </a:r>
            <a:r>
              <a:rPr lang="en-US" altLang="ko-KR" sz="1600" b="1" dirty="0"/>
              <a:t> </a:t>
            </a:r>
            <a:r>
              <a:rPr lang="en-US" altLang="ko-KR" sz="1600" b="1" dirty="0" err="1"/>
              <a:t>đặc</a:t>
            </a:r>
            <a:r>
              <a:rPr lang="en-US" altLang="ko-KR" sz="1600" b="1" dirty="0"/>
              <a:t> </a:t>
            </a:r>
            <a:r>
              <a:rPr lang="en-US" altLang="ko-KR" sz="1600" b="1" dirty="0" err="1"/>
              <a:t>tính</a:t>
            </a:r>
            <a:r>
              <a:rPr lang="en-US" altLang="ko-KR" sz="1600" b="1" dirty="0"/>
              <a:t> </a:t>
            </a:r>
            <a:r>
              <a:rPr lang="en-US" altLang="ko-KR" sz="1600" b="1" dirty="0" err="1"/>
              <a:t>sau</a:t>
            </a:r>
            <a:endParaRPr lang="ko-KR" altLang="en-US" sz="1600" b="1" dirty="0"/>
          </a:p>
        </p:txBody>
      </p:sp>
      <p:sp>
        <p:nvSpPr>
          <p:cNvPr id="5" name="TextBox 4"/>
          <p:cNvSpPr txBox="1"/>
          <p:nvPr/>
        </p:nvSpPr>
        <p:spPr>
          <a:xfrm>
            <a:off x="-32" y="1648833"/>
            <a:ext cx="9429313" cy="2031325"/>
          </a:xfrm>
          <a:prstGeom prst="rect">
            <a:avLst/>
          </a:prstGeom>
          <a:noFill/>
        </p:spPr>
        <p:txBody>
          <a:bodyPr wrap="none" rtlCol="0">
            <a:spAutoFit/>
          </a:bodyPr>
          <a:lstStyle/>
          <a:p>
            <a:pPr>
              <a:lnSpc>
                <a:spcPct val="150000"/>
              </a:lnSpc>
            </a:pPr>
            <a:r>
              <a:rPr lang="en-US" altLang="ko-KR" sz="1400" b="1" dirty="0"/>
              <a:t>1.   </a:t>
            </a:r>
            <a:r>
              <a:rPr lang="en-US" altLang="ko-KR" sz="1400" b="1" dirty="0" err="1"/>
              <a:t>Dù</a:t>
            </a:r>
            <a:r>
              <a:rPr lang="en-US" altLang="ko-KR" sz="1400" b="1" dirty="0"/>
              <a:t> </a:t>
            </a:r>
            <a:r>
              <a:rPr lang="en-US" altLang="ko-KR" sz="1400" b="1" dirty="0" err="1"/>
              <a:t>có</a:t>
            </a:r>
            <a:r>
              <a:rPr lang="en-US" altLang="ko-KR" sz="1400" b="1" dirty="0"/>
              <a:t> </a:t>
            </a:r>
            <a:r>
              <a:rPr lang="en-US" altLang="ko-KR" sz="1400" b="1" dirty="0" err="1"/>
              <a:t>đo</a:t>
            </a:r>
            <a:r>
              <a:rPr lang="en-US" altLang="ko-KR" sz="1400" b="1" dirty="0"/>
              <a:t> </a:t>
            </a:r>
            <a:r>
              <a:rPr lang="en-US" altLang="ko-KR" sz="1400" b="1" dirty="0" err="1"/>
              <a:t>đạc</a:t>
            </a:r>
            <a:r>
              <a:rPr lang="en-US" altLang="ko-KR" sz="1400" b="1" dirty="0"/>
              <a:t> </a:t>
            </a:r>
            <a:r>
              <a:rPr lang="en-US" altLang="ko-KR" sz="1400" b="1" dirty="0" err="1"/>
              <a:t>nhiều</a:t>
            </a:r>
            <a:r>
              <a:rPr lang="en-US" altLang="ko-KR" sz="1400" b="1" dirty="0"/>
              <a:t> sample </a:t>
            </a:r>
            <a:r>
              <a:rPr lang="en-US" altLang="ko-KR" sz="1400" b="1" dirty="0" err="1"/>
              <a:t>đi</a:t>
            </a:r>
            <a:r>
              <a:rPr lang="en-US" altLang="ko-KR" sz="1400" b="1" dirty="0"/>
              <a:t> </a:t>
            </a:r>
            <a:r>
              <a:rPr lang="en-US" altLang="ko-KR" sz="1400" b="1" dirty="0" err="1"/>
              <a:t>chăng</a:t>
            </a:r>
            <a:r>
              <a:rPr lang="en-US" altLang="ko-KR" sz="1400" b="1" dirty="0"/>
              <a:t> </a:t>
            </a:r>
            <a:r>
              <a:rPr lang="en-US" altLang="ko-KR" sz="1400" b="1" dirty="0" err="1"/>
              <a:t>nữa</a:t>
            </a:r>
            <a:r>
              <a:rPr lang="en-US" altLang="ko-KR" sz="1400" b="1" dirty="0"/>
              <a:t> </a:t>
            </a:r>
            <a:r>
              <a:rPr lang="en-US" altLang="ko-KR" sz="1400" b="1" dirty="0" err="1"/>
              <a:t>vẫn</a:t>
            </a:r>
            <a:r>
              <a:rPr lang="en-US" altLang="ko-KR" sz="1400" b="1" dirty="0"/>
              <a:t> </a:t>
            </a:r>
            <a:r>
              <a:rPr lang="en-US" altLang="ko-KR" sz="1400" b="1" dirty="0" err="1"/>
              <a:t>là</a:t>
            </a:r>
            <a:r>
              <a:rPr lang="en-US" altLang="ko-KR" sz="1400" b="1" dirty="0"/>
              <a:t> Data </a:t>
            </a:r>
            <a:r>
              <a:rPr lang="en-US" altLang="ko-KR" sz="1400" b="1" dirty="0" err="1"/>
              <a:t>của</a:t>
            </a:r>
            <a:r>
              <a:rPr lang="en-US" altLang="ko-KR" sz="1400" b="1" dirty="0"/>
              <a:t> </a:t>
            </a:r>
            <a:r>
              <a:rPr lang="en-US" altLang="ko-KR" sz="1400" b="1" dirty="0" err="1"/>
              <a:t>hàng</a:t>
            </a:r>
            <a:r>
              <a:rPr lang="en-US" altLang="ko-KR" sz="1400" b="1" dirty="0"/>
              <a:t> </a:t>
            </a:r>
            <a:r>
              <a:rPr lang="en-US" altLang="ko-KR" sz="1400" b="1" dirty="0" err="1"/>
              <a:t>mẫu</a:t>
            </a:r>
            <a:endParaRPr lang="en-US" altLang="ko-KR" sz="1400" b="1" dirty="0"/>
          </a:p>
          <a:p>
            <a:pPr marL="342900" indent="-342900">
              <a:lnSpc>
                <a:spcPct val="150000"/>
              </a:lnSpc>
              <a:buAutoNum type="arabicPeriod" startAt="2"/>
            </a:pPr>
            <a:r>
              <a:rPr lang="en-US" altLang="ko-KR" sz="1400" b="1" dirty="0" err="1"/>
              <a:t>Dữ</a:t>
            </a:r>
            <a:r>
              <a:rPr lang="en-US" altLang="ko-KR" sz="1400" b="1" dirty="0"/>
              <a:t> </a:t>
            </a:r>
            <a:r>
              <a:rPr lang="en-US" altLang="ko-KR" sz="1400" b="1" dirty="0" err="1"/>
              <a:t>liệu</a:t>
            </a:r>
            <a:r>
              <a:rPr lang="en-US" altLang="ko-KR" sz="1400" b="1" dirty="0"/>
              <a:t> </a:t>
            </a:r>
            <a:r>
              <a:rPr lang="en-US" altLang="ko-KR" sz="1400" b="1" dirty="0" err="1"/>
              <a:t>phát</a:t>
            </a:r>
            <a:r>
              <a:rPr lang="en-US" altLang="ko-KR" sz="1400" b="1" dirty="0"/>
              <a:t> </a:t>
            </a:r>
            <a:r>
              <a:rPr lang="en-US" altLang="ko-KR" sz="1400" b="1" dirty="0" err="1"/>
              <a:t>sinh</a:t>
            </a:r>
            <a:r>
              <a:rPr lang="en-US" altLang="ko-KR" sz="1400" b="1" dirty="0"/>
              <a:t> </a:t>
            </a:r>
            <a:r>
              <a:rPr lang="en-US" altLang="ko-KR" sz="1400" b="1" dirty="0" err="1"/>
              <a:t>từ</a:t>
            </a:r>
            <a:r>
              <a:rPr lang="en-US" altLang="ko-KR" sz="1400" b="1" dirty="0"/>
              <a:t> line </a:t>
            </a:r>
            <a:r>
              <a:rPr lang="en-US" altLang="ko-KR" sz="1400" b="1" dirty="0" err="1"/>
              <a:t>sản</a:t>
            </a:r>
            <a:r>
              <a:rPr lang="en-US" altLang="ko-KR" sz="1400" b="1" dirty="0"/>
              <a:t> </a:t>
            </a:r>
            <a:r>
              <a:rPr lang="en-US" altLang="ko-KR" sz="1400" b="1" dirty="0" err="1"/>
              <a:t>xuất</a:t>
            </a:r>
            <a:r>
              <a:rPr lang="en-US" altLang="ko-KR" sz="1400" b="1" dirty="0"/>
              <a:t> </a:t>
            </a:r>
            <a:r>
              <a:rPr lang="en-US" altLang="ko-KR" sz="1400" b="1" dirty="0" err="1"/>
              <a:t>ổn</a:t>
            </a:r>
            <a:r>
              <a:rPr lang="en-US" altLang="ko-KR" sz="1400" b="1" dirty="0"/>
              <a:t> </a:t>
            </a:r>
            <a:r>
              <a:rPr lang="en-US" altLang="ko-KR" sz="1400" b="1" dirty="0" err="1"/>
              <a:t>định</a:t>
            </a:r>
            <a:r>
              <a:rPr lang="en-US" altLang="ko-KR" sz="1400" b="1" dirty="0"/>
              <a:t> </a:t>
            </a:r>
            <a:r>
              <a:rPr lang="en-US" altLang="ko-KR" sz="1400" b="1" dirty="0" err="1"/>
              <a:t>là</a:t>
            </a:r>
            <a:r>
              <a:rPr lang="en-US" altLang="ko-KR" sz="1400" b="1" dirty="0"/>
              <a:t> </a:t>
            </a:r>
            <a:r>
              <a:rPr lang="en-US" altLang="ko-KR" sz="1400" b="1" dirty="0" err="1"/>
              <a:t>phân</a:t>
            </a:r>
            <a:r>
              <a:rPr lang="en-US" altLang="ko-KR" sz="1400" b="1" dirty="0"/>
              <a:t> </a:t>
            </a:r>
            <a:r>
              <a:rPr lang="en-US" altLang="ko-KR" sz="1400" b="1" dirty="0" err="1"/>
              <a:t>bổ</a:t>
            </a:r>
            <a:r>
              <a:rPr lang="en-US" altLang="ko-KR" sz="1400" b="1" dirty="0"/>
              <a:t> </a:t>
            </a:r>
            <a:r>
              <a:rPr lang="en-US" altLang="ko-KR" sz="1400" b="1" dirty="0" err="1"/>
              <a:t>chính</a:t>
            </a:r>
            <a:r>
              <a:rPr lang="en-US" altLang="ko-KR" sz="1400" b="1" dirty="0"/>
              <a:t> </a:t>
            </a:r>
            <a:r>
              <a:rPr lang="en-US" altLang="ko-KR" sz="1400" b="1" dirty="0" err="1"/>
              <a:t>quy</a:t>
            </a:r>
            <a:endParaRPr lang="en-US" altLang="ko-KR" sz="1400" b="1" dirty="0"/>
          </a:p>
          <a:p>
            <a:pPr marL="342900" indent="-342900">
              <a:lnSpc>
                <a:spcPct val="150000"/>
              </a:lnSpc>
              <a:buAutoNum type="arabicPeriod" startAt="2"/>
            </a:pPr>
            <a:r>
              <a:rPr lang="en-US" altLang="ko-KR" sz="1400" b="1" dirty="0"/>
              <a:t>Do </a:t>
            </a:r>
            <a:r>
              <a:rPr lang="en-US" altLang="ko-KR" sz="1400" b="1" dirty="0" err="1"/>
              <a:t>quản</a:t>
            </a:r>
            <a:r>
              <a:rPr lang="en-US" altLang="ko-KR" sz="1400" b="1" dirty="0"/>
              <a:t> </a:t>
            </a:r>
            <a:r>
              <a:rPr lang="en-US" altLang="ko-KR" sz="1400" b="1" dirty="0" err="1"/>
              <a:t>lý</a:t>
            </a:r>
            <a:r>
              <a:rPr lang="en-US" altLang="ko-KR" sz="1400" b="1" dirty="0"/>
              <a:t> process </a:t>
            </a:r>
            <a:r>
              <a:rPr lang="en-US" altLang="ko-KR" sz="1400" b="1" dirty="0" err="1"/>
              <a:t>không</a:t>
            </a:r>
            <a:r>
              <a:rPr lang="en-US" altLang="ko-KR" sz="1400" b="1" dirty="0"/>
              <a:t> </a:t>
            </a:r>
            <a:r>
              <a:rPr lang="en-US" altLang="ko-KR" sz="1400" b="1" dirty="0" err="1"/>
              <a:t>đạt</a:t>
            </a:r>
            <a:r>
              <a:rPr lang="en-US" altLang="ko-KR" sz="1400" b="1" dirty="0"/>
              <a:t> </a:t>
            </a:r>
            <a:r>
              <a:rPr lang="en-US" altLang="ko-KR" sz="1400" b="1" dirty="0" err="1"/>
              <a:t>trong</a:t>
            </a:r>
            <a:r>
              <a:rPr lang="en-US" altLang="ko-KR" sz="1400" b="1" dirty="0"/>
              <a:t> process  </a:t>
            </a:r>
            <a:r>
              <a:rPr lang="en-US" altLang="ko-KR" sz="1400" b="1" dirty="0" err="1"/>
              <a:t>dù</a:t>
            </a:r>
            <a:r>
              <a:rPr lang="en-US" altLang="ko-KR" sz="1400" b="1" dirty="0"/>
              <a:t> </a:t>
            </a: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và</a:t>
            </a:r>
            <a:r>
              <a:rPr lang="en-US" altLang="ko-KR" sz="1400" b="1" dirty="0"/>
              <a:t> </a:t>
            </a:r>
            <a:r>
              <a:rPr lang="en-US" altLang="ko-KR" sz="1400" b="1" dirty="0" err="1"/>
              <a:t>quản</a:t>
            </a:r>
            <a:r>
              <a:rPr lang="en-US" altLang="ko-KR" sz="1400" b="1" dirty="0"/>
              <a:t> </a:t>
            </a:r>
            <a:r>
              <a:rPr lang="en-US" altLang="ko-KR" sz="1400" b="1" dirty="0" err="1"/>
              <a:t>lý</a:t>
            </a:r>
            <a:r>
              <a:rPr lang="en-US" altLang="ko-KR" sz="1400" b="1" dirty="0"/>
              <a:t> process </a:t>
            </a:r>
            <a:r>
              <a:rPr lang="en-US" altLang="ko-KR" sz="1400" b="1" dirty="0" err="1"/>
              <a:t>có</a:t>
            </a:r>
            <a:r>
              <a:rPr lang="en-US" altLang="ko-KR" sz="1400" b="1" dirty="0"/>
              <a:t> </a:t>
            </a:r>
            <a:r>
              <a:rPr lang="en-US" altLang="ko-KR" sz="1400" b="1" dirty="0" err="1"/>
              <a:t>đúng</a:t>
            </a:r>
            <a:r>
              <a:rPr lang="en-US" altLang="ko-KR" sz="1400" b="1" dirty="0"/>
              <a:t> </a:t>
            </a:r>
            <a:r>
              <a:rPr lang="en-US" altLang="ko-KR" sz="1400" b="1" dirty="0" err="1"/>
              <a:t>đi</a:t>
            </a:r>
            <a:r>
              <a:rPr lang="en-US" altLang="ko-KR" sz="1400" b="1" dirty="0"/>
              <a:t> </a:t>
            </a:r>
            <a:r>
              <a:rPr lang="en-US" altLang="ko-KR" sz="1400" b="1" dirty="0" err="1"/>
              <a:t>chăng</a:t>
            </a:r>
            <a:r>
              <a:rPr lang="en-US" altLang="ko-KR" sz="1400" b="1" dirty="0"/>
              <a:t> </a:t>
            </a:r>
            <a:r>
              <a:rPr lang="en-US" altLang="ko-KR" sz="1400" b="1" dirty="0" err="1"/>
              <a:t>nữa</a:t>
            </a:r>
            <a:r>
              <a:rPr lang="en-US" altLang="ko-KR" sz="1400" b="1" dirty="0"/>
              <a:t> </a:t>
            </a:r>
          </a:p>
          <a:p>
            <a:pPr marL="342900" indent="-342900">
              <a:lnSpc>
                <a:spcPct val="150000"/>
              </a:lnSpc>
            </a:pPr>
            <a:r>
              <a:rPr lang="en-US" altLang="ko-KR" sz="1400" b="1" dirty="0" err="1"/>
              <a:t>vẫn</a:t>
            </a:r>
            <a:r>
              <a:rPr lang="en-US" altLang="ko-KR" sz="1400" b="1" dirty="0"/>
              <a:t> </a:t>
            </a:r>
            <a:r>
              <a:rPr lang="en-US" altLang="ko-KR" sz="1400" b="1" dirty="0" err="1"/>
              <a:t>sẽ</a:t>
            </a:r>
            <a:r>
              <a:rPr lang="en-US" altLang="ko-KR" sz="1400" b="1" dirty="0"/>
              <a:t> </a:t>
            </a:r>
            <a:r>
              <a:rPr lang="en-US" altLang="ko-KR" sz="1400" b="1" dirty="0" err="1"/>
              <a:t>có</a:t>
            </a:r>
            <a:r>
              <a:rPr lang="en-US" altLang="ko-KR" sz="1400" b="1" dirty="0"/>
              <a:t> </a:t>
            </a:r>
            <a:r>
              <a:rPr lang="en-US" altLang="ko-KR" sz="1400" b="1" dirty="0" err="1"/>
              <a:t>phát</a:t>
            </a:r>
            <a:r>
              <a:rPr lang="en-US" altLang="ko-KR" sz="1400" b="1" dirty="0"/>
              <a:t> </a:t>
            </a:r>
            <a:r>
              <a:rPr lang="en-US" altLang="ko-KR" sz="1400" b="1" dirty="0" err="1"/>
              <a:t>sinh</a:t>
            </a:r>
            <a:r>
              <a:rPr lang="en-US" altLang="ko-KR" sz="1400" b="1" dirty="0"/>
              <a:t> </a:t>
            </a:r>
            <a:r>
              <a:rPr lang="en-US" altLang="ko-KR" sz="1400" b="1" dirty="0" err="1"/>
              <a:t>biến</a:t>
            </a:r>
            <a:r>
              <a:rPr lang="en-US" altLang="ko-KR" sz="1400" b="1" dirty="0"/>
              <a:t> </a:t>
            </a:r>
            <a:r>
              <a:rPr lang="en-US" altLang="ko-KR" sz="1400" b="1" dirty="0" err="1"/>
              <a:t>động</a:t>
            </a:r>
            <a:r>
              <a:rPr lang="en-US" altLang="ko-KR" sz="1400" b="1" dirty="0"/>
              <a:t>.</a:t>
            </a:r>
          </a:p>
          <a:p>
            <a:pPr marL="342900" indent="-342900">
              <a:lnSpc>
                <a:spcPct val="150000"/>
              </a:lnSpc>
            </a:pPr>
            <a:r>
              <a:rPr lang="en-US" altLang="ko-KR" sz="1400" b="1" dirty="0"/>
              <a:t>4.   </a:t>
            </a:r>
            <a:r>
              <a:rPr lang="en-US" altLang="ko-KR" sz="1400" b="1" dirty="0" err="1"/>
              <a:t>Nhưng</a:t>
            </a:r>
            <a:r>
              <a:rPr lang="en-US" altLang="ko-KR" sz="1400" b="1" dirty="0"/>
              <a:t> </a:t>
            </a:r>
            <a:r>
              <a:rPr lang="en-US" altLang="ko-KR" sz="1400" b="1" dirty="0" err="1"/>
              <a:t>giá</a:t>
            </a:r>
            <a:r>
              <a:rPr lang="en-US" altLang="ko-KR" sz="1400" b="1" dirty="0"/>
              <a:t> </a:t>
            </a:r>
            <a:r>
              <a:rPr lang="en-US" altLang="ko-KR" sz="1400" b="1" dirty="0" err="1"/>
              <a:t>trị</a:t>
            </a:r>
            <a:r>
              <a:rPr lang="en-US" altLang="ko-KR" sz="1400" b="1" dirty="0"/>
              <a:t> </a:t>
            </a:r>
            <a:r>
              <a:rPr lang="en-US" altLang="ko-KR" sz="1400" b="1" dirty="0" err="1"/>
              <a:t>kết</a:t>
            </a:r>
            <a:r>
              <a:rPr lang="en-US" altLang="ko-KR" sz="1400" b="1" dirty="0"/>
              <a:t> </a:t>
            </a:r>
            <a:r>
              <a:rPr lang="en-US" altLang="ko-KR" sz="1400" b="1" dirty="0" err="1"/>
              <a:t>quả</a:t>
            </a:r>
            <a:r>
              <a:rPr lang="en-US" altLang="ko-KR" sz="1400" b="1" dirty="0"/>
              <a:t> (data) </a:t>
            </a:r>
            <a:r>
              <a:rPr lang="en-US" altLang="ko-KR" sz="1400" b="1" dirty="0" err="1"/>
              <a:t>không</a:t>
            </a:r>
            <a:r>
              <a:rPr lang="en-US" altLang="ko-KR" sz="1400" b="1" dirty="0"/>
              <a:t> </a:t>
            </a:r>
            <a:r>
              <a:rPr lang="en-US" altLang="ko-KR" sz="1400" b="1" dirty="0" err="1"/>
              <a:t>được</a:t>
            </a:r>
            <a:r>
              <a:rPr lang="en-US" altLang="ko-KR" sz="1400" b="1" dirty="0"/>
              <a:t> </a:t>
            </a:r>
            <a:r>
              <a:rPr lang="en-US" altLang="ko-KR" sz="1400" b="1" dirty="0" err="1"/>
              <a:t>phân</a:t>
            </a:r>
            <a:r>
              <a:rPr lang="en-US" altLang="ko-KR" sz="1400" b="1" dirty="0"/>
              <a:t> </a:t>
            </a:r>
            <a:r>
              <a:rPr lang="en-US" altLang="ko-KR" sz="1400" b="1" dirty="0" err="1"/>
              <a:t>biệt</a:t>
            </a:r>
            <a:r>
              <a:rPr lang="en-US" altLang="ko-KR" sz="1400" b="1" dirty="0"/>
              <a:t> </a:t>
            </a:r>
            <a:r>
              <a:rPr lang="en-US" altLang="ko-KR" sz="1400" b="1" dirty="0" err="1"/>
              <a:t>hai</a:t>
            </a:r>
            <a:r>
              <a:rPr lang="en-US" altLang="ko-KR" sz="1400" b="1" dirty="0"/>
              <a:t> </a:t>
            </a: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này</a:t>
            </a:r>
            <a:endParaRPr lang="en-US" altLang="ko-KR" sz="1400" b="1" dirty="0"/>
          </a:p>
          <a:p>
            <a:pPr marL="342900" indent="-342900">
              <a:lnSpc>
                <a:spcPct val="150000"/>
              </a:lnSpc>
            </a:pPr>
            <a:r>
              <a:rPr lang="en-US" altLang="ko-KR" sz="1400" b="1" dirty="0"/>
              <a:t>5.   </a:t>
            </a:r>
            <a:r>
              <a:rPr lang="en-US" altLang="ko-KR" sz="1400" b="1" dirty="0" err="1"/>
              <a:t>Để</a:t>
            </a:r>
            <a:r>
              <a:rPr lang="en-US" altLang="ko-KR" sz="1400" b="1" dirty="0"/>
              <a:t> </a:t>
            </a:r>
            <a:r>
              <a:rPr lang="en-US" altLang="ko-KR" sz="1400" b="1" dirty="0" err="1"/>
              <a:t>phân</a:t>
            </a:r>
            <a:r>
              <a:rPr lang="en-US" altLang="ko-KR" sz="1400" b="1" dirty="0"/>
              <a:t> </a:t>
            </a:r>
            <a:r>
              <a:rPr lang="en-US" altLang="ko-KR" sz="1400" b="1" dirty="0" err="1"/>
              <a:t>biệt</a:t>
            </a:r>
            <a:r>
              <a:rPr lang="en-US" altLang="ko-KR" sz="1400" b="1" dirty="0"/>
              <a:t> </a:t>
            </a:r>
            <a:r>
              <a:rPr lang="en-US" altLang="ko-KR" sz="1400" b="1" dirty="0" err="1"/>
              <a:t>hai</a:t>
            </a:r>
            <a:r>
              <a:rPr lang="en-US" altLang="ko-KR" sz="1400" b="1" dirty="0"/>
              <a:t> </a:t>
            </a:r>
            <a:r>
              <a:rPr lang="en-US" altLang="ko-KR" sz="1400" b="1" dirty="0" err="1"/>
              <a:t>loại</a:t>
            </a:r>
            <a:r>
              <a:rPr lang="en-US" altLang="ko-KR" sz="1400" b="1" dirty="0"/>
              <a:t> </a:t>
            </a: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này</a:t>
            </a:r>
            <a:r>
              <a:rPr lang="en-US" altLang="ko-KR" sz="1400" b="1" dirty="0"/>
              <a:t>  </a:t>
            </a:r>
            <a:r>
              <a:rPr lang="en-US" altLang="ko-KR" sz="1400" b="1" dirty="0" err="1"/>
              <a:t>phải</a:t>
            </a:r>
            <a:r>
              <a:rPr lang="en-US" altLang="ko-KR" sz="1400" b="1" dirty="0"/>
              <a:t> </a:t>
            </a:r>
            <a:r>
              <a:rPr lang="en-US" altLang="ko-KR" sz="1400" b="1" dirty="0" err="1"/>
              <a:t>thực</a:t>
            </a:r>
            <a:r>
              <a:rPr lang="en-US" altLang="ko-KR" sz="1400" b="1" dirty="0"/>
              <a:t> </a:t>
            </a:r>
            <a:r>
              <a:rPr lang="en-US" altLang="ko-KR" sz="1400" b="1" dirty="0" err="1"/>
              <a:t>hiện</a:t>
            </a:r>
            <a:r>
              <a:rPr lang="en-US" altLang="ko-KR" sz="1400" b="1" dirty="0"/>
              <a:t> </a:t>
            </a:r>
            <a:r>
              <a:rPr lang="en-US" altLang="ko-KR" sz="1400" b="1" dirty="0" err="1"/>
              <a:t>Nhóm</a:t>
            </a:r>
            <a:r>
              <a:rPr lang="en-US" altLang="ko-KR" sz="1400" b="1" dirty="0"/>
              <a:t> </a:t>
            </a:r>
            <a:r>
              <a:rPr lang="en-US" altLang="ko-KR" sz="1400" b="1" dirty="0" err="1"/>
              <a:t>kinh</a:t>
            </a:r>
            <a:r>
              <a:rPr lang="en-US" altLang="ko-KR" sz="1400" b="1" dirty="0"/>
              <a:t> </a:t>
            </a:r>
            <a:r>
              <a:rPr lang="en-US" altLang="ko-KR" sz="1400" b="1" dirty="0" err="1"/>
              <a:t>kiện</a:t>
            </a:r>
            <a:r>
              <a:rPr lang="en-US" altLang="ko-KR" sz="1400" b="1" dirty="0"/>
              <a:t> </a:t>
            </a:r>
            <a:r>
              <a:rPr lang="en-US" altLang="ko-KR" sz="1400" b="1" dirty="0" err="1"/>
              <a:t>hợp</a:t>
            </a:r>
            <a:r>
              <a:rPr lang="en-US" altLang="ko-KR" sz="1400" b="1" dirty="0"/>
              <a:t> </a:t>
            </a:r>
            <a:r>
              <a:rPr lang="en-US" altLang="ko-KR" sz="1400" b="1" dirty="0" err="1"/>
              <a:t>lý</a:t>
            </a:r>
            <a:r>
              <a:rPr lang="en-US" altLang="ko-KR" sz="1400" b="1" dirty="0"/>
              <a:t> ( Rational Subgroup )</a:t>
            </a:r>
            <a:endParaRPr lang="ko-KR" altLang="en-US" sz="1400" b="1" dirty="0"/>
          </a:p>
        </p:txBody>
      </p:sp>
      <p:sp>
        <p:nvSpPr>
          <p:cNvPr id="6" name="TextBox 5"/>
          <p:cNvSpPr txBox="1"/>
          <p:nvPr/>
        </p:nvSpPr>
        <p:spPr>
          <a:xfrm>
            <a:off x="338721" y="3664652"/>
            <a:ext cx="3658630" cy="412421"/>
          </a:xfrm>
          <a:prstGeom prst="rect">
            <a:avLst/>
          </a:prstGeom>
          <a:noFill/>
        </p:spPr>
        <p:txBody>
          <a:bodyPr wrap="none" rtlCol="0">
            <a:spAutoFit/>
          </a:bodyPr>
          <a:lstStyle/>
          <a:p>
            <a:pPr>
              <a:lnSpc>
                <a:spcPct val="130000"/>
              </a:lnSpc>
              <a:buClr>
                <a:srgbClr val="C5003D"/>
              </a:buClr>
            </a:pPr>
            <a:r>
              <a:rPr lang="en-US" altLang="ko-KR" sz="1600" b="1" dirty="0" err="1"/>
              <a:t>Phân</a:t>
            </a:r>
            <a:r>
              <a:rPr lang="en-US" altLang="ko-KR" sz="1600" b="1" dirty="0"/>
              <a:t> </a:t>
            </a:r>
            <a:r>
              <a:rPr lang="en-US" altLang="ko-KR" sz="1600" b="1" dirty="0" err="1"/>
              <a:t>tán</a:t>
            </a:r>
            <a:r>
              <a:rPr lang="en-US" altLang="ko-KR" sz="1600" b="1" dirty="0"/>
              <a:t> </a:t>
            </a:r>
            <a:r>
              <a:rPr lang="en-US" altLang="ko-KR" sz="1600" b="1" dirty="0" err="1"/>
              <a:t>của</a:t>
            </a:r>
            <a:r>
              <a:rPr lang="en-US" altLang="ko-KR" sz="1600" b="1" dirty="0"/>
              <a:t> Process</a:t>
            </a:r>
            <a:r>
              <a:rPr lang="ko-KR" altLang="en-US" sz="1600" b="1" dirty="0"/>
              <a:t> </a:t>
            </a:r>
            <a:r>
              <a:rPr lang="en-US" altLang="ko-KR" sz="1600" b="1" dirty="0"/>
              <a:t>(</a:t>
            </a:r>
            <a:r>
              <a:rPr lang="en-US" altLang="ko-KR" sz="1600" b="1" dirty="0" err="1"/>
              <a:t>biến</a:t>
            </a:r>
            <a:r>
              <a:rPr lang="en-US" altLang="ko-KR" sz="1600" b="1" dirty="0"/>
              <a:t> </a:t>
            </a:r>
            <a:r>
              <a:rPr lang="en-US" altLang="ko-KR" sz="1600" b="1" dirty="0" err="1"/>
              <a:t>động</a:t>
            </a:r>
            <a:r>
              <a:rPr lang="en-US" altLang="ko-KR" sz="1600" b="1" dirty="0"/>
              <a:t>) </a:t>
            </a:r>
            <a:endParaRPr lang="ko-KR" altLang="en-US" sz="1600" b="1" dirty="0"/>
          </a:p>
        </p:txBody>
      </p:sp>
      <p:sp>
        <p:nvSpPr>
          <p:cNvPr id="8" name="TextBox 7"/>
          <p:cNvSpPr txBox="1"/>
          <p:nvPr/>
        </p:nvSpPr>
        <p:spPr>
          <a:xfrm>
            <a:off x="726157" y="4093623"/>
            <a:ext cx="3161443" cy="412421"/>
          </a:xfrm>
          <a:prstGeom prst="rect">
            <a:avLst/>
          </a:prstGeom>
          <a:noFill/>
        </p:spPr>
        <p:txBody>
          <a:bodyPr wrap="none" rtlCol="0">
            <a:spAutoFit/>
          </a:bodyPr>
          <a:lstStyle/>
          <a:p>
            <a:pPr>
              <a:lnSpc>
                <a:spcPct val="130000"/>
              </a:lnSpc>
              <a:buClr>
                <a:srgbClr val="C5003D"/>
              </a:buClr>
            </a:pPr>
            <a:r>
              <a:rPr lang="en-US" altLang="ko-KR" sz="1600" b="1" dirty="0" err="1"/>
              <a:t>Biến</a:t>
            </a:r>
            <a:r>
              <a:rPr lang="en-US" altLang="ko-KR" sz="1600" b="1" dirty="0"/>
              <a:t> </a:t>
            </a:r>
            <a:r>
              <a:rPr lang="en-US" altLang="ko-KR" sz="1600" b="1" dirty="0" err="1"/>
              <a:t>động</a:t>
            </a:r>
            <a:r>
              <a:rPr lang="en-US" altLang="ko-KR" sz="1600" b="1" dirty="0"/>
              <a:t> </a:t>
            </a:r>
            <a:r>
              <a:rPr lang="en-US" altLang="ko-KR" sz="1600" b="1" dirty="0" err="1"/>
              <a:t>không</a:t>
            </a:r>
            <a:r>
              <a:rPr lang="en-US" altLang="ko-KR" sz="1600" b="1" dirty="0"/>
              <a:t> </a:t>
            </a:r>
            <a:r>
              <a:rPr lang="en-US" altLang="ko-KR" sz="1600" b="1" dirty="0" err="1"/>
              <a:t>ngẫu</a:t>
            </a:r>
            <a:r>
              <a:rPr lang="en-US" altLang="ko-KR" sz="1600" b="1" dirty="0"/>
              <a:t> </a:t>
            </a:r>
            <a:r>
              <a:rPr lang="en-US" altLang="ko-KR" sz="1600" b="1" dirty="0" err="1"/>
              <a:t>nhiên</a:t>
            </a:r>
            <a:endParaRPr lang="ko-KR" altLang="en-US" sz="1600" b="1" dirty="0"/>
          </a:p>
        </p:txBody>
      </p:sp>
      <p:sp>
        <p:nvSpPr>
          <p:cNvPr id="9" name="TextBox 8"/>
          <p:cNvSpPr txBox="1"/>
          <p:nvPr/>
        </p:nvSpPr>
        <p:spPr>
          <a:xfrm>
            <a:off x="5834910" y="4093623"/>
            <a:ext cx="2470548" cy="412421"/>
          </a:xfrm>
          <a:prstGeom prst="rect">
            <a:avLst/>
          </a:prstGeom>
          <a:noFill/>
        </p:spPr>
        <p:txBody>
          <a:bodyPr wrap="none" rtlCol="0">
            <a:spAutoFit/>
          </a:bodyPr>
          <a:lstStyle/>
          <a:p>
            <a:pPr>
              <a:lnSpc>
                <a:spcPct val="130000"/>
              </a:lnSpc>
              <a:buClr>
                <a:srgbClr val="C5003D"/>
              </a:buClr>
            </a:pPr>
            <a:r>
              <a:rPr lang="en-US" altLang="ko-KR" sz="1600" b="1" dirty="0" err="1"/>
              <a:t>Biến</a:t>
            </a:r>
            <a:r>
              <a:rPr lang="en-US" altLang="ko-KR" sz="1600" b="1" dirty="0"/>
              <a:t> </a:t>
            </a:r>
            <a:r>
              <a:rPr lang="en-US" altLang="ko-KR" sz="1600" b="1" dirty="0" err="1"/>
              <a:t>động</a:t>
            </a:r>
            <a:r>
              <a:rPr lang="en-US" altLang="ko-KR" sz="1600" b="1" dirty="0"/>
              <a:t> </a:t>
            </a:r>
            <a:r>
              <a:rPr lang="en-US" altLang="ko-KR" sz="1600" b="1" dirty="0" err="1"/>
              <a:t>ngẫu</a:t>
            </a:r>
            <a:r>
              <a:rPr lang="en-US" altLang="ko-KR" sz="1600" b="1" dirty="0"/>
              <a:t> </a:t>
            </a:r>
            <a:r>
              <a:rPr lang="en-US" altLang="ko-KR" sz="1600" b="1" dirty="0" err="1"/>
              <a:t>nhiên</a:t>
            </a:r>
            <a:endParaRPr lang="ko-KR" altLang="en-US" sz="1600" b="1" dirty="0"/>
          </a:p>
        </p:txBody>
      </p:sp>
      <p:sp>
        <p:nvSpPr>
          <p:cNvPr id="10" name="TextBox 9"/>
          <p:cNvSpPr txBox="1"/>
          <p:nvPr/>
        </p:nvSpPr>
        <p:spPr>
          <a:xfrm>
            <a:off x="-71470" y="4525671"/>
            <a:ext cx="4982454" cy="1384995"/>
          </a:xfrm>
          <a:prstGeom prst="rect">
            <a:avLst/>
          </a:prstGeom>
          <a:noFill/>
        </p:spPr>
        <p:txBody>
          <a:bodyPr wrap="none" rtlCol="0">
            <a:spAutoFit/>
          </a:bodyPr>
          <a:lstStyle/>
          <a:p>
            <a:pPr marL="342900" indent="-342900">
              <a:lnSpc>
                <a:spcPct val="150000"/>
              </a:lnSpc>
              <a:buAutoNum type="arabicPeriod"/>
            </a:pP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sinh</a:t>
            </a:r>
            <a:r>
              <a:rPr lang="en-US" altLang="ko-KR" sz="1400" b="1" dirty="0"/>
              <a:t> </a:t>
            </a:r>
            <a:r>
              <a:rPr lang="en-US" altLang="ko-KR" sz="1400" b="1" dirty="0" err="1"/>
              <a:t>ra</a:t>
            </a:r>
            <a:r>
              <a:rPr lang="en-US" altLang="ko-KR" sz="1400" b="1" dirty="0"/>
              <a:t> do </a:t>
            </a:r>
            <a:r>
              <a:rPr lang="en-US" altLang="ko-KR" sz="1400" b="1" dirty="0" err="1"/>
              <a:t>quản</a:t>
            </a:r>
            <a:r>
              <a:rPr lang="en-US" altLang="ko-KR" sz="1400" b="1" dirty="0"/>
              <a:t> </a:t>
            </a:r>
            <a:r>
              <a:rPr lang="en-US" altLang="ko-KR" sz="1400" b="1" dirty="0" err="1"/>
              <a:t>lý</a:t>
            </a:r>
            <a:r>
              <a:rPr lang="en-US" altLang="ko-KR" sz="1400" b="1" dirty="0"/>
              <a:t> </a:t>
            </a:r>
            <a:r>
              <a:rPr lang="en-US" altLang="ko-KR" sz="1400" b="1" dirty="0" err="1"/>
              <a:t>quá</a:t>
            </a:r>
            <a:r>
              <a:rPr lang="en-US" altLang="ko-KR" sz="1400" b="1" dirty="0"/>
              <a:t> </a:t>
            </a:r>
            <a:r>
              <a:rPr lang="en-US" altLang="ko-KR" sz="1400" b="1" dirty="0" err="1"/>
              <a:t>trình</a:t>
            </a:r>
            <a:r>
              <a:rPr lang="en-US" altLang="ko-KR" sz="1400" b="1" dirty="0"/>
              <a:t> </a:t>
            </a:r>
            <a:r>
              <a:rPr lang="en-US" altLang="ko-KR" sz="1400" b="1" dirty="0" err="1"/>
              <a:t>không</a:t>
            </a:r>
            <a:r>
              <a:rPr lang="en-US" altLang="ko-KR" sz="1400" b="1" dirty="0"/>
              <a:t> </a:t>
            </a:r>
            <a:r>
              <a:rPr lang="en-US" altLang="ko-KR" sz="1400" b="1" dirty="0" err="1"/>
              <a:t>đạt</a:t>
            </a:r>
            <a:endParaRPr lang="en-US" altLang="ko-KR" sz="1400" b="1" dirty="0"/>
          </a:p>
          <a:p>
            <a:pPr marL="342900" indent="-342900">
              <a:lnSpc>
                <a:spcPct val="150000"/>
              </a:lnSpc>
              <a:buAutoNum type="arabicPeriod"/>
            </a:pPr>
            <a:r>
              <a:rPr lang="en-US" altLang="ko-KR" sz="1400" b="1" dirty="0" err="1"/>
              <a:t>Khác</a:t>
            </a:r>
            <a:r>
              <a:rPr lang="en-US" altLang="ko-KR" sz="1400" b="1" dirty="0"/>
              <a:t> </a:t>
            </a:r>
            <a:r>
              <a:rPr lang="en-US" altLang="ko-KR" sz="1400" b="1" dirty="0" err="1"/>
              <a:t>thường</a:t>
            </a:r>
            <a:r>
              <a:rPr lang="en-US" altLang="ko-KR" sz="1400" b="1" dirty="0"/>
              <a:t> </a:t>
            </a:r>
            <a:r>
              <a:rPr lang="en-US" altLang="ko-KR" sz="1400" b="1" dirty="0" err="1"/>
              <a:t>của</a:t>
            </a:r>
            <a:r>
              <a:rPr lang="en-US" altLang="ko-KR" sz="1400" b="1" dirty="0"/>
              <a:t> </a:t>
            </a:r>
            <a:r>
              <a:rPr lang="en-US" altLang="ko-KR" sz="1400" b="1" dirty="0" err="1"/>
              <a:t>điều</a:t>
            </a:r>
            <a:r>
              <a:rPr lang="en-US" altLang="ko-KR" sz="1400" b="1" dirty="0"/>
              <a:t> </a:t>
            </a:r>
            <a:r>
              <a:rPr lang="en-US" altLang="ko-KR" sz="1400" b="1" dirty="0" err="1"/>
              <a:t>kiện</a:t>
            </a:r>
            <a:r>
              <a:rPr lang="en-US" altLang="ko-KR" sz="1400" b="1" dirty="0"/>
              <a:t> </a:t>
            </a:r>
            <a:r>
              <a:rPr lang="en-US" altLang="ko-KR" sz="1400" b="1" dirty="0" err="1"/>
              <a:t>công</a:t>
            </a:r>
            <a:r>
              <a:rPr lang="en-US" altLang="ko-KR" sz="1400" b="1" dirty="0"/>
              <a:t> </a:t>
            </a:r>
            <a:r>
              <a:rPr lang="en-US" altLang="ko-KR" sz="1400" b="1" dirty="0" err="1"/>
              <a:t>cụ</a:t>
            </a:r>
            <a:r>
              <a:rPr lang="en-US" altLang="ko-KR" sz="1400" b="1" dirty="0"/>
              <a:t> </a:t>
            </a:r>
            <a:r>
              <a:rPr lang="en-US" altLang="ko-KR" sz="1400" b="1" dirty="0" err="1"/>
              <a:t>hoặc</a:t>
            </a:r>
            <a:r>
              <a:rPr lang="en-US" altLang="ko-KR" sz="1400" b="1" dirty="0"/>
              <a:t> </a:t>
            </a:r>
            <a:r>
              <a:rPr lang="en-US" altLang="ko-KR" sz="1400" b="1" dirty="0" err="1"/>
              <a:t>máy</a:t>
            </a:r>
            <a:r>
              <a:rPr lang="en-US" altLang="ko-KR" sz="1400" b="1" dirty="0"/>
              <a:t> </a:t>
            </a:r>
            <a:r>
              <a:rPr lang="en-US" altLang="ko-KR" sz="1400" b="1" dirty="0" err="1"/>
              <a:t>móc</a:t>
            </a:r>
            <a:endParaRPr lang="en-US" altLang="ko-KR" sz="1400" b="1" dirty="0"/>
          </a:p>
          <a:p>
            <a:pPr marL="342900" indent="-342900">
              <a:lnSpc>
                <a:spcPct val="150000"/>
              </a:lnSpc>
              <a:buAutoNum type="arabicPeriod"/>
            </a:pPr>
            <a:r>
              <a:rPr lang="en-US" altLang="ko-KR" sz="1400" b="1" dirty="0" err="1"/>
              <a:t>Sai</a:t>
            </a:r>
            <a:r>
              <a:rPr lang="en-US" altLang="ko-KR" sz="1400" b="1" dirty="0"/>
              <a:t> </a:t>
            </a:r>
            <a:r>
              <a:rPr lang="en-US" altLang="ko-KR" sz="1400" b="1" dirty="0" err="1"/>
              <a:t>sót</a:t>
            </a:r>
            <a:r>
              <a:rPr lang="en-US" altLang="ko-KR" sz="1400" b="1" dirty="0"/>
              <a:t> </a:t>
            </a:r>
            <a:r>
              <a:rPr lang="en-US" altLang="ko-KR" sz="1400" b="1" dirty="0" err="1"/>
              <a:t>của</a:t>
            </a:r>
            <a:r>
              <a:rPr lang="en-US" altLang="ko-KR" sz="1400" b="1" dirty="0"/>
              <a:t> </a:t>
            </a:r>
            <a:r>
              <a:rPr lang="en-US" altLang="ko-KR" sz="1400" b="1" dirty="0" err="1"/>
              <a:t>công</a:t>
            </a:r>
            <a:r>
              <a:rPr lang="en-US" altLang="ko-KR" sz="1400" b="1" dirty="0"/>
              <a:t> </a:t>
            </a:r>
            <a:r>
              <a:rPr lang="en-US" altLang="ko-KR" sz="1400" b="1" dirty="0" err="1"/>
              <a:t>nhân</a:t>
            </a:r>
            <a:endParaRPr lang="en-US" altLang="ko-KR" sz="1400" b="1" dirty="0"/>
          </a:p>
          <a:p>
            <a:pPr marL="342900" indent="-342900">
              <a:lnSpc>
                <a:spcPct val="150000"/>
              </a:lnSpc>
              <a:buAutoNum type="arabicPeriod"/>
            </a:pPr>
            <a:r>
              <a:rPr lang="en-US" altLang="ko-KR" sz="1400" b="1" dirty="0" err="1"/>
              <a:t>Thay</a:t>
            </a:r>
            <a:r>
              <a:rPr lang="en-US" altLang="ko-KR" sz="1400" b="1" dirty="0"/>
              <a:t> </a:t>
            </a:r>
            <a:r>
              <a:rPr lang="en-US" altLang="ko-KR" sz="1400" b="1" dirty="0" err="1"/>
              <a:t>đổi</a:t>
            </a:r>
            <a:r>
              <a:rPr lang="en-US" altLang="ko-KR" sz="1400" b="1" dirty="0"/>
              <a:t> </a:t>
            </a:r>
            <a:r>
              <a:rPr lang="en-US" altLang="ko-KR" sz="1400" b="1" dirty="0" err="1"/>
              <a:t>về</a:t>
            </a:r>
            <a:r>
              <a:rPr lang="en-US" altLang="ko-KR" sz="1400" b="1" dirty="0"/>
              <a:t> 4M</a:t>
            </a:r>
            <a:endParaRPr lang="ko-KR" altLang="en-US" sz="1400" b="1" dirty="0"/>
          </a:p>
        </p:txBody>
      </p:sp>
      <p:sp>
        <p:nvSpPr>
          <p:cNvPr id="11" name="TextBox 10"/>
          <p:cNvSpPr txBox="1"/>
          <p:nvPr/>
        </p:nvSpPr>
        <p:spPr>
          <a:xfrm>
            <a:off x="4714876" y="4525670"/>
            <a:ext cx="4455194" cy="1453283"/>
          </a:xfrm>
          <a:prstGeom prst="rect">
            <a:avLst/>
          </a:prstGeom>
          <a:noFill/>
        </p:spPr>
        <p:txBody>
          <a:bodyPr wrap="none" rtlCol="0">
            <a:spAutoFit/>
          </a:bodyPr>
          <a:lstStyle/>
          <a:p>
            <a:pPr marL="342900" indent="-342900">
              <a:lnSpc>
                <a:spcPct val="150000"/>
              </a:lnSpc>
              <a:buAutoNum type="arabicPeriod"/>
            </a:pPr>
            <a:r>
              <a:rPr lang="en-US" altLang="ko-KR" sz="1200" b="1" dirty="0" err="1"/>
              <a:t>Quản</a:t>
            </a:r>
            <a:r>
              <a:rPr lang="en-US" altLang="ko-KR" sz="1200" b="1" dirty="0"/>
              <a:t> </a:t>
            </a:r>
            <a:r>
              <a:rPr lang="en-US" altLang="ko-KR" sz="1200" b="1" dirty="0" err="1"/>
              <a:t>lý</a:t>
            </a:r>
            <a:r>
              <a:rPr lang="en-US" altLang="ko-KR" sz="1200" b="1" dirty="0"/>
              <a:t> process </a:t>
            </a:r>
            <a:r>
              <a:rPr lang="en-US" altLang="ko-KR" sz="1200" b="1" dirty="0" err="1"/>
              <a:t>tốt</a:t>
            </a:r>
            <a:r>
              <a:rPr lang="en-US" altLang="ko-KR" sz="1200" b="1" dirty="0"/>
              <a:t> </a:t>
            </a:r>
            <a:r>
              <a:rPr lang="en-US" altLang="ko-KR" sz="1200" b="1" dirty="0" err="1"/>
              <a:t>vẫn</a:t>
            </a:r>
            <a:r>
              <a:rPr lang="en-US" altLang="ko-KR" sz="1200" b="1" dirty="0"/>
              <a:t> </a:t>
            </a:r>
            <a:r>
              <a:rPr lang="en-US" altLang="ko-KR" sz="1200" b="1" dirty="0" err="1"/>
              <a:t>phát</a:t>
            </a:r>
            <a:r>
              <a:rPr lang="en-US" altLang="ko-KR" sz="1200" b="1" dirty="0"/>
              <a:t> </a:t>
            </a:r>
            <a:r>
              <a:rPr lang="en-US" altLang="ko-KR" sz="1200" b="1" dirty="0" err="1"/>
              <a:t>sinh</a:t>
            </a:r>
            <a:r>
              <a:rPr lang="en-US" altLang="ko-KR" sz="1200" b="1" dirty="0"/>
              <a:t> </a:t>
            </a:r>
            <a:r>
              <a:rPr lang="en-US" altLang="ko-KR" sz="1200" b="1" dirty="0" err="1"/>
              <a:t>biến</a:t>
            </a:r>
            <a:r>
              <a:rPr lang="en-US" altLang="ko-KR" sz="1200" b="1" dirty="0"/>
              <a:t> </a:t>
            </a:r>
            <a:r>
              <a:rPr lang="en-US" altLang="ko-KR" sz="1200" b="1" dirty="0" err="1"/>
              <a:t>động</a:t>
            </a:r>
            <a:endParaRPr lang="en-US" altLang="ko-KR" sz="1200" b="1" dirty="0"/>
          </a:p>
          <a:p>
            <a:pPr marL="342900" indent="-342900">
              <a:lnSpc>
                <a:spcPct val="150000"/>
              </a:lnSpc>
              <a:buAutoNum type="arabicPeriod"/>
            </a:pPr>
            <a:r>
              <a:rPr lang="en-US" altLang="ko-KR" sz="1200" b="1" dirty="0" err="1"/>
              <a:t>Thay</a:t>
            </a:r>
            <a:r>
              <a:rPr lang="en-US" altLang="ko-KR" sz="1200" b="1" dirty="0"/>
              <a:t> </a:t>
            </a:r>
            <a:r>
              <a:rPr lang="en-US" altLang="ko-KR" sz="1200" b="1" dirty="0" err="1"/>
              <a:t>đổi</a:t>
            </a:r>
            <a:r>
              <a:rPr lang="en-US" altLang="ko-KR" sz="1200" b="1" dirty="0"/>
              <a:t> </a:t>
            </a:r>
            <a:r>
              <a:rPr lang="en-US" altLang="ko-KR" sz="1200" b="1" dirty="0" err="1"/>
              <a:t>môi</a:t>
            </a:r>
            <a:r>
              <a:rPr lang="en-US" altLang="ko-KR" sz="1200" b="1" dirty="0"/>
              <a:t> </a:t>
            </a:r>
            <a:r>
              <a:rPr lang="en-US" altLang="ko-KR" sz="1200" b="1" dirty="0" err="1"/>
              <a:t>trường</a:t>
            </a:r>
            <a:r>
              <a:rPr lang="en-US" altLang="ko-KR" sz="1200" b="1" dirty="0"/>
              <a:t> </a:t>
            </a:r>
            <a:r>
              <a:rPr lang="en-US" altLang="ko-KR" sz="1200" b="1" dirty="0" err="1"/>
              <a:t>làm</a:t>
            </a:r>
            <a:r>
              <a:rPr lang="en-US" altLang="ko-KR" sz="1200" b="1" dirty="0"/>
              <a:t> </a:t>
            </a:r>
            <a:r>
              <a:rPr lang="en-US" altLang="ko-KR" sz="1200" b="1" dirty="0" err="1"/>
              <a:t>việc</a:t>
            </a:r>
            <a:r>
              <a:rPr lang="ko-KR" altLang="en-US" sz="1200" b="1" dirty="0"/>
              <a:t> </a:t>
            </a:r>
            <a:r>
              <a:rPr lang="en-US" altLang="ko-KR" sz="1200" b="1" dirty="0"/>
              <a:t>( </a:t>
            </a:r>
            <a:r>
              <a:rPr lang="en-US" altLang="ko-KR" sz="1200" b="1" dirty="0" err="1"/>
              <a:t>Nhiệt</a:t>
            </a:r>
            <a:r>
              <a:rPr lang="en-US" altLang="ko-KR" sz="1200" b="1" dirty="0"/>
              <a:t> </a:t>
            </a:r>
            <a:r>
              <a:rPr lang="en-US" altLang="ko-KR" sz="1200" b="1" dirty="0" err="1"/>
              <a:t>độ</a:t>
            </a:r>
            <a:r>
              <a:rPr lang="en-US" altLang="ko-KR" sz="1200" b="1" dirty="0"/>
              <a:t>, </a:t>
            </a:r>
            <a:r>
              <a:rPr lang="en-US" altLang="ko-KR" sz="1200" b="1" dirty="0" err="1"/>
              <a:t>độ</a:t>
            </a:r>
            <a:r>
              <a:rPr lang="en-US" altLang="ko-KR" sz="1200" b="1" dirty="0"/>
              <a:t> </a:t>
            </a:r>
            <a:r>
              <a:rPr lang="en-US" altLang="ko-KR" sz="1200" b="1" dirty="0" err="1"/>
              <a:t>ẩm</a:t>
            </a:r>
            <a:r>
              <a:rPr lang="en-US" altLang="ko-KR" sz="1200" b="1" dirty="0"/>
              <a:t> ..) </a:t>
            </a:r>
          </a:p>
          <a:p>
            <a:pPr marL="342900" indent="-342900">
              <a:lnSpc>
                <a:spcPct val="150000"/>
              </a:lnSpc>
              <a:buAutoNum type="arabicPeriod"/>
            </a:pPr>
            <a:r>
              <a:rPr lang="en-US" altLang="ko-KR" sz="1200" b="1" dirty="0" err="1"/>
              <a:t>Không</a:t>
            </a:r>
            <a:r>
              <a:rPr lang="en-US" altLang="ko-KR" sz="1200" b="1" dirty="0"/>
              <a:t> </a:t>
            </a:r>
            <a:r>
              <a:rPr lang="en-US" altLang="ko-KR" sz="1200" b="1" dirty="0" err="1"/>
              <a:t>thể</a:t>
            </a:r>
            <a:r>
              <a:rPr lang="en-US" altLang="ko-KR" sz="1200" b="1" dirty="0"/>
              <a:t> </a:t>
            </a:r>
            <a:r>
              <a:rPr lang="en-US" altLang="ko-KR" sz="1200" b="1" dirty="0" err="1"/>
              <a:t>giải</a:t>
            </a:r>
            <a:r>
              <a:rPr lang="en-US" altLang="ko-KR" sz="1200" b="1" dirty="0"/>
              <a:t> </a:t>
            </a:r>
            <a:r>
              <a:rPr lang="en-US" altLang="ko-KR" sz="1200" b="1" dirty="0" err="1"/>
              <a:t>thích</a:t>
            </a:r>
            <a:r>
              <a:rPr lang="en-US" altLang="ko-KR" sz="1200" b="1" dirty="0"/>
              <a:t> </a:t>
            </a:r>
            <a:r>
              <a:rPr lang="en-US" altLang="ko-KR" sz="1200" b="1" dirty="0" err="1"/>
              <a:t>nguyên</a:t>
            </a:r>
            <a:r>
              <a:rPr lang="en-US" altLang="ko-KR" sz="1200" b="1" dirty="0"/>
              <a:t> </a:t>
            </a:r>
            <a:r>
              <a:rPr lang="en-US" altLang="ko-KR" sz="1200" b="1" dirty="0" err="1"/>
              <a:t>nhân</a:t>
            </a:r>
            <a:r>
              <a:rPr lang="en-US" altLang="ko-KR" sz="1200" b="1" dirty="0"/>
              <a:t> </a:t>
            </a:r>
            <a:r>
              <a:rPr lang="en-US" altLang="ko-KR" sz="1200" b="1" dirty="0" err="1"/>
              <a:t>của</a:t>
            </a:r>
            <a:r>
              <a:rPr lang="en-US" altLang="ko-KR" sz="1200" b="1" dirty="0"/>
              <a:t> </a:t>
            </a:r>
            <a:r>
              <a:rPr lang="en-US" altLang="ko-KR" sz="1200" b="1" dirty="0" err="1"/>
              <a:t>biến</a:t>
            </a:r>
            <a:r>
              <a:rPr lang="en-US" altLang="ko-KR" sz="1200" b="1" dirty="0"/>
              <a:t> </a:t>
            </a:r>
            <a:r>
              <a:rPr lang="en-US" altLang="ko-KR" sz="1200" b="1" dirty="0" err="1"/>
              <a:t>động</a:t>
            </a:r>
            <a:endParaRPr lang="en-US" altLang="ko-KR" sz="1200" b="1" dirty="0"/>
          </a:p>
          <a:p>
            <a:pPr marL="342900" indent="-342900">
              <a:lnSpc>
                <a:spcPct val="150000"/>
              </a:lnSpc>
              <a:buAutoNum type="arabicPeriod"/>
            </a:pPr>
            <a:r>
              <a:rPr lang="en-US" altLang="ko-KR" sz="1200" b="1" dirty="0" err="1"/>
              <a:t>Dù</a:t>
            </a:r>
            <a:r>
              <a:rPr lang="en-US" altLang="ko-KR" sz="1200" b="1" dirty="0"/>
              <a:t> </a:t>
            </a:r>
            <a:r>
              <a:rPr lang="en-US" altLang="ko-KR" sz="1200" b="1" dirty="0" err="1"/>
              <a:t>có</a:t>
            </a:r>
            <a:r>
              <a:rPr lang="en-US" altLang="ko-KR" sz="1200" b="1" dirty="0"/>
              <a:t> </a:t>
            </a:r>
            <a:r>
              <a:rPr lang="en-US" altLang="ko-KR" sz="1200" b="1" dirty="0" err="1"/>
              <a:t>biết</a:t>
            </a:r>
            <a:r>
              <a:rPr lang="en-US" altLang="ko-KR" sz="1200" b="1" dirty="0"/>
              <a:t> </a:t>
            </a:r>
            <a:r>
              <a:rPr lang="en-US" altLang="ko-KR" sz="1200" b="1" dirty="0" err="1"/>
              <a:t>nguyên</a:t>
            </a:r>
            <a:r>
              <a:rPr lang="en-US" altLang="ko-KR" sz="1200" b="1" dirty="0"/>
              <a:t> </a:t>
            </a:r>
            <a:r>
              <a:rPr lang="en-US" altLang="ko-KR" sz="1200" b="1" dirty="0" err="1"/>
              <a:t>nhân</a:t>
            </a:r>
            <a:r>
              <a:rPr lang="en-US" altLang="ko-KR" sz="1200" b="1" dirty="0"/>
              <a:t> </a:t>
            </a:r>
            <a:r>
              <a:rPr lang="en-US" altLang="ko-KR" sz="1200" b="1" dirty="0" err="1"/>
              <a:t>của</a:t>
            </a:r>
            <a:r>
              <a:rPr lang="en-US" altLang="ko-KR" sz="1200" b="1" dirty="0"/>
              <a:t> </a:t>
            </a:r>
            <a:r>
              <a:rPr lang="en-US" altLang="ko-KR" sz="1200" b="1" dirty="0" err="1"/>
              <a:t>biến</a:t>
            </a:r>
            <a:r>
              <a:rPr lang="en-US" altLang="ko-KR" sz="1200" b="1" dirty="0"/>
              <a:t> </a:t>
            </a:r>
            <a:r>
              <a:rPr lang="en-US" altLang="ko-KR" sz="1200" b="1" dirty="0" err="1"/>
              <a:t>động</a:t>
            </a:r>
            <a:r>
              <a:rPr lang="en-US" altLang="ko-KR" sz="1200" b="1" dirty="0"/>
              <a:t> </a:t>
            </a:r>
            <a:r>
              <a:rPr lang="en-US" altLang="ko-KR" sz="1200" b="1" dirty="0" err="1"/>
              <a:t>vẫn</a:t>
            </a:r>
            <a:r>
              <a:rPr lang="en-US" altLang="ko-KR" sz="1200" b="1" dirty="0"/>
              <a:t> </a:t>
            </a:r>
            <a:r>
              <a:rPr lang="en-US" altLang="ko-KR" sz="1200" b="1" dirty="0" err="1"/>
              <a:t>không</a:t>
            </a:r>
            <a:r>
              <a:rPr lang="en-US" altLang="ko-KR" sz="1200" b="1" dirty="0"/>
              <a:t> </a:t>
            </a:r>
          </a:p>
          <a:p>
            <a:pPr marL="342900" indent="-342900">
              <a:lnSpc>
                <a:spcPct val="150000"/>
              </a:lnSpc>
            </a:pPr>
            <a:r>
              <a:rPr lang="en-US" altLang="ko-KR" sz="1200" b="1" dirty="0" err="1"/>
              <a:t>thể</a:t>
            </a:r>
            <a:r>
              <a:rPr lang="en-US" altLang="ko-KR" sz="1200" b="1" dirty="0"/>
              <a:t> </a:t>
            </a:r>
            <a:r>
              <a:rPr lang="en-US" altLang="ko-KR" sz="1200" b="1" dirty="0" err="1"/>
              <a:t>quản</a:t>
            </a:r>
            <a:r>
              <a:rPr lang="en-US" altLang="ko-KR" sz="1200" b="1" dirty="0"/>
              <a:t> </a:t>
            </a:r>
            <a:r>
              <a:rPr lang="en-US" altLang="ko-KR" sz="1200" b="1" dirty="0" err="1"/>
              <a:t>lý</a:t>
            </a:r>
            <a:r>
              <a:rPr lang="en-US" altLang="ko-KR" sz="1200" b="1" dirty="0"/>
              <a:t> </a:t>
            </a:r>
            <a:r>
              <a:rPr lang="en-US" altLang="ko-KR" sz="1200" b="1" dirty="0" err="1"/>
              <a:t>được</a:t>
            </a:r>
            <a:endParaRPr lang="ko-KR" altLang="en-US" sz="1200" b="1" dirty="0"/>
          </a:p>
        </p:txBody>
      </p:sp>
      <p:sp>
        <p:nvSpPr>
          <p:cNvPr id="12"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516555276"/>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191</a:t>
            </a:fld>
            <a:endParaRPr lang="ko-KR" altLang="en-US" dirty="0"/>
          </a:p>
        </p:txBody>
      </p:sp>
      <p:sp>
        <p:nvSpPr>
          <p:cNvPr id="4" name="TextBox 3"/>
          <p:cNvSpPr txBox="1"/>
          <p:nvPr/>
        </p:nvSpPr>
        <p:spPr>
          <a:xfrm>
            <a:off x="355007" y="1096873"/>
            <a:ext cx="2086405" cy="412421"/>
          </a:xfrm>
          <a:prstGeom prst="rect">
            <a:avLst/>
          </a:prstGeom>
          <a:noFill/>
        </p:spPr>
        <p:txBody>
          <a:bodyPr wrap="none" rtlCol="0">
            <a:spAutoFit/>
          </a:bodyPr>
          <a:lstStyle/>
          <a:p>
            <a:pPr>
              <a:lnSpc>
                <a:spcPct val="130000"/>
              </a:lnSpc>
              <a:buClr>
                <a:srgbClr val="C5003D"/>
              </a:buClr>
            </a:pPr>
            <a:r>
              <a:rPr lang="en-US" altLang="ko-KR" sz="1600" b="1" dirty="0"/>
              <a:t>Rational Subgroup</a:t>
            </a:r>
            <a:r>
              <a:rPr lang="ko-KR" altLang="en-US" sz="1600" b="1" dirty="0"/>
              <a:t> </a:t>
            </a:r>
          </a:p>
        </p:txBody>
      </p:sp>
      <p:sp>
        <p:nvSpPr>
          <p:cNvPr id="5" name="TextBox 4"/>
          <p:cNvSpPr txBox="1"/>
          <p:nvPr/>
        </p:nvSpPr>
        <p:spPr>
          <a:xfrm>
            <a:off x="201456" y="1359060"/>
            <a:ext cx="8942576" cy="966483"/>
          </a:xfrm>
          <a:prstGeom prst="rect">
            <a:avLst/>
          </a:prstGeom>
          <a:noFill/>
        </p:spPr>
        <p:txBody>
          <a:bodyPr wrap="none" rtlCol="0">
            <a:spAutoFit/>
          </a:bodyPr>
          <a:lstStyle/>
          <a:p>
            <a:pPr marL="285750" indent="-285750">
              <a:lnSpc>
                <a:spcPct val="150000"/>
              </a:lnSpc>
              <a:buFont typeface="Wingdings" panose="05000000000000000000" pitchFamily="2" charset="2"/>
              <a:buChar char="§"/>
            </a:pPr>
            <a:r>
              <a:rPr lang="en-US" altLang="ko-KR" sz="1300" dirty="0" err="1"/>
              <a:t>Khi</a:t>
            </a:r>
            <a:r>
              <a:rPr lang="en-US" altLang="ko-KR" sz="1300" dirty="0"/>
              <a:t> </a:t>
            </a:r>
            <a:r>
              <a:rPr lang="en-US" altLang="ko-KR" sz="1300" dirty="0" err="1"/>
              <a:t>thu</a:t>
            </a:r>
            <a:r>
              <a:rPr lang="en-US" altLang="ko-KR" sz="1300" dirty="0"/>
              <a:t> </a:t>
            </a:r>
            <a:r>
              <a:rPr lang="en-US" altLang="ko-KR" sz="1300" dirty="0" err="1"/>
              <a:t>thập</a:t>
            </a:r>
            <a:r>
              <a:rPr lang="en-US" altLang="ko-KR" sz="1300" dirty="0"/>
              <a:t> sample </a:t>
            </a:r>
            <a:r>
              <a:rPr lang="en-US" altLang="ko-KR" sz="1300" dirty="0" err="1"/>
              <a:t>thiết</a:t>
            </a:r>
            <a:r>
              <a:rPr lang="en-US" altLang="ko-KR" sz="1300" dirty="0"/>
              <a:t> </a:t>
            </a:r>
            <a:r>
              <a:rPr lang="en-US" altLang="ko-KR" sz="1300" dirty="0" err="1"/>
              <a:t>lập</a:t>
            </a:r>
            <a:r>
              <a:rPr lang="en-US" altLang="ko-KR" sz="1300" dirty="0"/>
              <a:t> </a:t>
            </a:r>
            <a:r>
              <a:rPr lang="en-US" altLang="ko-KR" sz="1300" dirty="0" err="1"/>
              <a:t>giả</a:t>
            </a:r>
            <a:r>
              <a:rPr lang="en-US" altLang="ko-KR" sz="1300" dirty="0"/>
              <a:t> </a:t>
            </a:r>
            <a:r>
              <a:rPr lang="en-US" altLang="ko-KR" sz="1300" dirty="0" err="1"/>
              <a:t>định</a:t>
            </a:r>
            <a:r>
              <a:rPr lang="en-US" altLang="ko-KR" sz="1300" dirty="0"/>
              <a:t> </a:t>
            </a:r>
            <a:r>
              <a:rPr lang="en-US" altLang="ko-KR" sz="1300" dirty="0" err="1"/>
              <a:t>tất</a:t>
            </a:r>
            <a:r>
              <a:rPr lang="en-US" altLang="ko-KR" sz="1300" dirty="0"/>
              <a:t> </a:t>
            </a:r>
            <a:r>
              <a:rPr lang="en-US" altLang="ko-KR" sz="1300" dirty="0" err="1"/>
              <a:t>cả</a:t>
            </a:r>
            <a:r>
              <a:rPr lang="en-US" altLang="ko-KR" sz="1300" dirty="0"/>
              <a:t> </a:t>
            </a:r>
            <a:r>
              <a:rPr lang="en-US" altLang="ko-KR" sz="1300" dirty="0" err="1"/>
              <a:t>các</a:t>
            </a:r>
            <a:r>
              <a:rPr lang="en-US" altLang="ko-KR" sz="1300" dirty="0"/>
              <a:t> </a:t>
            </a:r>
            <a:r>
              <a:rPr lang="en-US" altLang="ko-KR" sz="1300" dirty="0" err="1"/>
              <a:t>điều</a:t>
            </a:r>
            <a:r>
              <a:rPr lang="en-US" altLang="ko-KR" sz="1300" dirty="0"/>
              <a:t> </a:t>
            </a:r>
            <a:r>
              <a:rPr lang="en-US" altLang="ko-KR" sz="1300" dirty="0" err="1"/>
              <a:t>kiện</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a:t>
            </a:r>
            <a:r>
              <a:rPr lang="en-US" altLang="ko-KR" sz="1300" dirty="0" err="1"/>
              <a:t>trong</a:t>
            </a:r>
            <a:r>
              <a:rPr lang="en-US" altLang="ko-KR" sz="1300" dirty="0"/>
              <a:t> </a:t>
            </a:r>
            <a:r>
              <a:rPr lang="en-US" altLang="ko-KR" sz="1300" dirty="0" err="1"/>
              <a:t>nhóm</a:t>
            </a:r>
            <a:r>
              <a:rPr lang="en-US" altLang="ko-KR" sz="1300" dirty="0"/>
              <a:t> </a:t>
            </a:r>
            <a:r>
              <a:rPr lang="en-US" altLang="ko-KR" sz="1300" dirty="0" err="1"/>
              <a:t>là</a:t>
            </a:r>
            <a:r>
              <a:rPr lang="en-US" altLang="ko-KR" sz="1300" dirty="0"/>
              <a:t> </a:t>
            </a:r>
            <a:r>
              <a:rPr lang="en-US" altLang="ko-KR" sz="1300" dirty="0" err="1"/>
              <a:t>đồng</a:t>
            </a:r>
            <a:r>
              <a:rPr lang="en-US" altLang="ko-KR" sz="1300" dirty="0"/>
              <a:t> </a:t>
            </a:r>
            <a:r>
              <a:rPr lang="en-US" altLang="ko-KR" sz="1300" dirty="0" err="1"/>
              <a:t>nhất</a:t>
            </a:r>
            <a:r>
              <a:rPr lang="en-US" altLang="ko-KR" sz="1300" dirty="0"/>
              <a:t> </a:t>
            </a:r>
            <a:r>
              <a:rPr lang="en-US" altLang="ko-KR" sz="1300" dirty="0" err="1"/>
              <a:t>và</a:t>
            </a:r>
            <a:r>
              <a:rPr lang="en-US" altLang="ko-KR" sz="1300" dirty="0"/>
              <a:t> </a:t>
            </a:r>
            <a:r>
              <a:rPr lang="en-US" altLang="ko-KR" sz="1300" dirty="0" err="1"/>
              <a:t>tiến</a:t>
            </a:r>
            <a:endParaRPr lang="en-US" altLang="ko-KR" sz="1300" dirty="0"/>
          </a:p>
          <a:p>
            <a:pPr marL="285750" indent="-285750">
              <a:lnSpc>
                <a:spcPct val="150000"/>
              </a:lnSpc>
            </a:pPr>
            <a:r>
              <a:rPr lang="en-US" altLang="ko-KR" sz="1300" dirty="0"/>
              <a:t> </a:t>
            </a:r>
            <a:r>
              <a:rPr lang="en-US" altLang="ko-KR" sz="1300" dirty="0" err="1"/>
              <a:t>hành</a:t>
            </a:r>
            <a:r>
              <a:rPr lang="en-US" altLang="ko-KR" sz="1300" dirty="0"/>
              <a:t> </a:t>
            </a:r>
            <a:r>
              <a:rPr lang="en-US" altLang="ko-KR" sz="1300" dirty="0" err="1"/>
              <a:t>thu</a:t>
            </a:r>
            <a:r>
              <a:rPr lang="en-US" altLang="ko-KR" sz="1300" dirty="0"/>
              <a:t> </a:t>
            </a:r>
            <a:r>
              <a:rPr lang="en-US" altLang="ko-KR" sz="1300" dirty="0" err="1"/>
              <a:t>thập</a:t>
            </a:r>
            <a:r>
              <a:rPr lang="en-US" altLang="ko-KR" sz="1300" dirty="0"/>
              <a:t> sample</a:t>
            </a:r>
          </a:p>
          <a:p>
            <a:pPr marL="285750" indent="-285750">
              <a:lnSpc>
                <a:spcPct val="150000"/>
              </a:lnSpc>
              <a:buFont typeface="Wingdings" panose="05000000000000000000" pitchFamily="2" charset="2"/>
              <a:buChar char="§"/>
            </a:pPr>
            <a:r>
              <a:rPr lang="en-US" altLang="ko-KR" sz="1300" dirty="0" err="1"/>
              <a:t>Nếu</a:t>
            </a:r>
            <a:r>
              <a:rPr lang="en-US" altLang="ko-KR" sz="1300" dirty="0"/>
              <a:t> </a:t>
            </a:r>
            <a:r>
              <a:rPr lang="en-US" altLang="ko-KR" sz="1300" dirty="0" err="1"/>
              <a:t>thu</a:t>
            </a:r>
            <a:r>
              <a:rPr lang="en-US" altLang="ko-KR" sz="1300" dirty="0"/>
              <a:t> sample </a:t>
            </a:r>
            <a:r>
              <a:rPr lang="en-US" altLang="ko-KR" sz="1300" dirty="0" err="1"/>
              <a:t>như</a:t>
            </a:r>
            <a:r>
              <a:rPr lang="en-US" altLang="ko-KR" sz="1300" dirty="0"/>
              <a:t> </a:t>
            </a:r>
            <a:r>
              <a:rPr lang="en-US" altLang="ko-KR" sz="1300" dirty="0" err="1"/>
              <a:t>thế</a:t>
            </a:r>
            <a:r>
              <a:rPr lang="en-US" altLang="ko-KR" sz="1300" dirty="0"/>
              <a:t> </a:t>
            </a:r>
            <a:r>
              <a:rPr lang="en-US" altLang="ko-KR" sz="1300" dirty="0" err="1"/>
              <a:t>này</a:t>
            </a:r>
            <a:r>
              <a:rPr lang="en-US" altLang="ko-KR" sz="1300" dirty="0"/>
              <a:t> </a:t>
            </a:r>
            <a:r>
              <a:rPr lang="en-US" altLang="ko-KR" sz="1300" dirty="0" err="1"/>
              <a:t>thì</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a:t>
            </a:r>
            <a:r>
              <a:rPr lang="en-US" altLang="ko-KR" sz="1300" dirty="0" err="1"/>
              <a:t>của</a:t>
            </a:r>
            <a:r>
              <a:rPr lang="en-US" altLang="ko-KR" sz="1300" dirty="0"/>
              <a:t> </a:t>
            </a:r>
            <a:r>
              <a:rPr lang="en-US" altLang="ko-KR" sz="1300" dirty="0" err="1"/>
              <a:t>nhóm</a:t>
            </a:r>
            <a:r>
              <a:rPr lang="en-US" altLang="ko-KR" sz="1300" dirty="0"/>
              <a:t> </a:t>
            </a:r>
            <a:r>
              <a:rPr lang="en-US" altLang="ko-KR" sz="1300" dirty="0" err="1"/>
              <a:t>sẽ</a:t>
            </a:r>
            <a:r>
              <a:rPr lang="en-US" altLang="ko-KR" sz="1300" dirty="0"/>
              <a:t> </a:t>
            </a:r>
            <a:r>
              <a:rPr lang="en-US" altLang="ko-KR" sz="1300" dirty="0" err="1"/>
              <a:t>là</a:t>
            </a:r>
            <a:r>
              <a:rPr lang="en-US" altLang="ko-KR" sz="1300" dirty="0"/>
              <a:t> </a:t>
            </a:r>
            <a:r>
              <a:rPr lang="en-US" altLang="ko-KR" sz="1300" dirty="0" err="1"/>
              <a:t>biến</a:t>
            </a:r>
            <a:r>
              <a:rPr lang="en-US" altLang="ko-KR" sz="1300" dirty="0"/>
              <a:t> </a:t>
            </a:r>
            <a:r>
              <a:rPr lang="en-US" altLang="ko-KR" sz="1300" dirty="0" err="1"/>
              <a:t>động</a:t>
            </a:r>
            <a:r>
              <a:rPr lang="en-US" altLang="ko-KR" sz="1300" dirty="0"/>
              <a:t> do </a:t>
            </a:r>
            <a:r>
              <a:rPr lang="en-US" altLang="ko-KR" sz="1300" dirty="0" err="1"/>
              <a:t>nguyên</a:t>
            </a:r>
            <a:r>
              <a:rPr lang="en-US" altLang="ko-KR" sz="1300" dirty="0"/>
              <a:t> </a:t>
            </a:r>
            <a:r>
              <a:rPr lang="en-US" altLang="ko-KR" sz="1300" dirty="0" err="1"/>
              <a:t>nhân</a:t>
            </a:r>
            <a:r>
              <a:rPr lang="en-US" altLang="ko-KR" sz="1300" dirty="0"/>
              <a:t> </a:t>
            </a:r>
            <a:r>
              <a:rPr lang="en-US" altLang="ko-KR" sz="1300" dirty="0" err="1"/>
              <a:t>không</a:t>
            </a:r>
            <a:r>
              <a:rPr lang="en-US" altLang="ko-KR" sz="1300" dirty="0"/>
              <a:t> </a:t>
            </a:r>
            <a:r>
              <a:rPr lang="en-US" altLang="ko-KR" sz="1300" dirty="0" err="1"/>
              <a:t>ngẫu</a:t>
            </a:r>
            <a:r>
              <a:rPr lang="en-US" altLang="ko-KR" sz="1300" dirty="0"/>
              <a:t> </a:t>
            </a:r>
            <a:r>
              <a:rPr lang="en-US" altLang="ko-KR" sz="1300" dirty="0" err="1"/>
              <a:t>nhiên</a:t>
            </a:r>
            <a:endParaRPr lang="ko-KR" altLang="en-US" sz="1300" dirty="0"/>
          </a:p>
        </p:txBody>
      </p:sp>
      <p:sp>
        <p:nvSpPr>
          <p:cNvPr id="6" name="TextBox 5"/>
          <p:cNvSpPr txBox="1"/>
          <p:nvPr/>
        </p:nvSpPr>
        <p:spPr>
          <a:xfrm>
            <a:off x="384458" y="2269633"/>
            <a:ext cx="3170035" cy="412421"/>
          </a:xfrm>
          <a:prstGeom prst="rect">
            <a:avLst/>
          </a:prstGeom>
          <a:noFill/>
        </p:spPr>
        <p:txBody>
          <a:bodyPr wrap="none" rtlCol="0">
            <a:spAutoFit/>
          </a:bodyPr>
          <a:lstStyle/>
          <a:p>
            <a:pPr>
              <a:lnSpc>
                <a:spcPct val="130000"/>
              </a:lnSpc>
              <a:buClr>
                <a:srgbClr val="C5003D"/>
              </a:buClr>
            </a:pPr>
            <a:r>
              <a:rPr lang="en-US" altLang="ko-KR" sz="1600" b="1" dirty="0" err="1"/>
              <a:t>Giải</a:t>
            </a:r>
            <a:r>
              <a:rPr lang="en-US" altLang="ko-KR" sz="1600" b="1" dirty="0"/>
              <a:t> </a:t>
            </a:r>
            <a:r>
              <a:rPr lang="en-US" altLang="ko-KR" sz="1600" b="1" dirty="0" err="1"/>
              <a:t>thích</a:t>
            </a:r>
            <a:r>
              <a:rPr lang="en-US" altLang="ko-KR" sz="1600" b="1" dirty="0"/>
              <a:t> Rational Subgroup</a:t>
            </a:r>
            <a:r>
              <a:rPr lang="ko-KR" altLang="en-US" sz="1600" b="1" dirty="0"/>
              <a:t>  </a:t>
            </a:r>
          </a:p>
        </p:txBody>
      </p:sp>
      <p:sp>
        <p:nvSpPr>
          <p:cNvPr id="8" name="TextBox 7"/>
          <p:cNvSpPr txBox="1"/>
          <p:nvPr/>
        </p:nvSpPr>
        <p:spPr>
          <a:xfrm>
            <a:off x="-32" y="2708921"/>
            <a:ext cx="9196685" cy="966483"/>
          </a:xfrm>
          <a:prstGeom prst="rect">
            <a:avLst/>
          </a:prstGeom>
          <a:noFill/>
        </p:spPr>
        <p:txBody>
          <a:bodyPr wrap="none" rtlCol="0">
            <a:spAutoFit/>
          </a:bodyPr>
          <a:lstStyle/>
          <a:p>
            <a:pPr>
              <a:lnSpc>
                <a:spcPct val="150000"/>
              </a:lnSpc>
            </a:pPr>
            <a:r>
              <a:rPr lang="en-US" altLang="ko-KR" sz="1300" dirty="0" err="1"/>
              <a:t>Trong</a:t>
            </a:r>
            <a:r>
              <a:rPr lang="en-US" altLang="ko-KR" sz="1300" dirty="0"/>
              <a:t> process </a:t>
            </a:r>
            <a:r>
              <a:rPr lang="en-US" altLang="ko-KR" sz="1300" dirty="0" err="1"/>
              <a:t>ổn</a:t>
            </a:r>
            <a:r>
              <a:rPr lang="en-US" altLang="ko-KR" sz="1300" dirty="0"/>
              <a:t> </a:t>
            </a:r>
            <a:r>
              <a:rPr lang="en-US" altLang="ko-KR" sz="1300" dirty="0" err="1"/>
              <a:t>định</a:t>
            </a:r>
            <a:r>
              <a:rPr lang="en-US" altLang="ko-KR" sz="1300" dirty="0"/>
              <a:t> </a:t>
            </a:r>
            <a:r>
              <a:rPr lang="en-US" altLang="ko-KR" sz="1300" dirty="0" err="1"/>
              <a:t>sản</a:t>
            </a:r>
            <a:r>
              <a:rPr lang="en-US" altLang="ko-KR" sz="1300" dirty="0"/>
              <a:t> </a:t>
            </a:r>
            <a:r>
              <a:rPr lang="en-US" altLang="ko-KR" sz="1300" dirty="0" err="1"/>
              <a:t>xuất</a:t>
            </a:r>
            <a:r>
              <a:rPr lang="en-US" altLang="ko-KR" sz="1300" dirty="0"/>
              <a:t> </a:t>
            </a:r>
            <a:r>
              <a:rPr lang="en-US" altLang="ko-KR" sz="1300" dirty="0" err="1"/>
              <a:t>và</a:t>
            </a:r>
            <a:r>
              <a:rPr lang="en-US" altLang="ko-KR" sz="1300" dirty="0"/>
              <a:t> </a:t>
            </a:r>
            <a:r>
              <a:rPr lang="en-US" altLang="ko-KR" sz="1300" dirty="0" err="1"/>
              <a:t>chuyển</a:t>
            </a:r>
            <a:r>
              <a:rPr lang="en-US" altLang="ko-KR" sz="1300" dirty="0"/>
              <a:t> </a:t>
            </a:r>
            <a:r>
              <a:rPr lang="en-US" altLang="ko-KR" sz="1300" dirty="0" err="1"/>
              <a:t>giao</a:t>
            </a:r>
            <a:r>
              <a:rPr lang="en-US" altLang="ko-KR" sz="1300" dirty="0"/>
              <a:t> 100 </a:t>
            </a:r>
            <a:r>
              <a:rPr lang="en-US" altLang="ko-KR" sz="1300" dirty="0" err="1"/>
              <a:t>dụng</a:t>
            </a:r>
            <a:r>
              <a:rPr lang="en-US" altLang="ko-KR" sz="1300" dirty="0"/>
              <a:t> </a:t>
            </a:r>
            <a:r>
              <a:rPr lang="en-US" altLang="ko-KR" sz="1300" dirty="0" err="1"/>
              <a:t>cụ</a:t>
            </a:r>
            <a:r>
              <a:rPr lang="en-US" altLang="ko-KR" sz="1300" dirty="0"/>
              <a:t>.  </a:t>
            </a:r>
            <a:r>
              <a:rPr lang="en-US" altLang="ko-KR" sz="1300" dirty="0" err="1"/>
              <a:t>Những</a:t>
            </a:r>
            <a:r>
              <a:rPr lang="en-US" altLang="ko-KR" sz="1300" dirty="0"/>
              <a:t> </a:t>
            </a:r>
            <a:r>
              <a:rPr lang="en-US" altLang="ko-KR" sz="1300" dirty="0" err="1"/>
              <a:t>công</a:t>
            </a:r>
            <a:r>
              <a:rPr lang="en-US" altLang="ko-KR" sz="1300" dirty="0"/>
              <a:t> </a:t>
            </a:r>
            <a:r>
              <a:rPr lang="en-US" altLang="ko-KR" sz="1300" dirty="0" err="1"/>
              <a:t>cụ</a:t>
            </a:r>
            <a:r>
              <a:rPr lang="en-US" altLang="ko-KR" sz="1300" dirty="0"/>
              <a:t> </a:t>
            </a:r>
            <a:r>
              <a:rPr lang="en-US" altLang="ko-KR" sz="1300" dirty="0" err="1"/>
              <a:t>được</a:t>
            </a:r>
            <a:r>
              <a:rPr lang="en-US" altLang="ko-KR" sz="1300" dirty="0"/>
              <a:t> </a:t>
            </a:r>
            <a:r>
              <a:rPr lang="en-US" altLang="ko-KR" sz="1300" dirty="0" err="1"/>
              <a:t>chuyển</a:t>
            </a:r>
            <a:r>
              <a:rPr lang="en-US" altLang="ko-KR" sz="1300" dirty="0"/>
              <a:t> </a:t>
            </a:r>
            <a:r>
              <a:rPr lang="en-US" altLang="ko-KR" sz="1300" dirty="0" err="1"/>
              <a:t>giao</a:t>
            </a:r>
            <a:r>
              <a:rPr lang="en-US" altLang="ko-KR" sz="1300" dirty="0"/>
              <a:t> </a:t>
            </a:r>
            <a:r>
              <a:rPr lang="en-US" altLang="ko-KR" sz="1300" dirty="0" err="1"/>
              <a:t>trong</a:t>
            </a:r>
            <a:r>
              <a:rPr lang="en-US" altLang="ko-KR" sz="1300" dirty="0"/>
              <a:t> </a:t>
            </a:r>
            <a:r>
              <a:rPr lang="en-US" altLang="ko-KR" sz="1300" dirty="0" err="1"/>
              <a:t>thời</a:t>
            </a:r>
            <a:r>
              <a:rPr lang="en-US" altLang="ko-KR" sz="1300" dirty="0"/>
              <a:t> </a:t>
            </a:r>
            <a:r>
              <a:rPr lang="en-US" altLang="ko-KR" sz="1300" dirty="0" err="1"/>
              <a:t>kì</a:t>
            </a:r>
            <a:r>
              <a:rPr lang="en-US" altLang="ko-KR" sz="1300" dirty="0"/>
              <a:t> </a:t>
            </a:r>
          </a:p>
          <a:p>
            <a:pPr>
              <a:lnSpc>
                <a:spcPct val="150000"/>
              </a:lnSpc>
            </a:pPr>
            <a:r>
              <a:rPr lang="en-US" altLang="ko-KR" sz="1300" dirty="0" err="1"/>
              <a:t>đầu</a:t>
            </a:r>
            <a:r>
              <a:rPr lang="en-US" altLang="ko-KR" sz="1300" dirty="0"/>
              <a:t> </a:t>
            </a:r>
            <a:r>
              <a:rPr lang="en-US" altLang="ko-KR" sz="1300" dirty="0" err="1"/>
              <a:t>thì</a:t>
            </a:r>
            <a:r>
              <a:rPr lang="en-US" altLang="ko-KR" sz="1300" dirty="0"/>
              <a:t> </a:t>
            </a:r>
            <a:r>
              <a:rPr lang="en-US" altLang="ko-KR" sz="1300" dirty="0" err="1"/>
              <a:t>không</a:t>
            </a:r>
            <a:r>
              <a:rPr lang="en-US" altLang="ko-KR" sz="1300" dirty="0"/>
              <a:t> </a:t>
            </a:r>
            <a:r>
              <a:rPr lang="en-US" altLang="ko-KR" sz="1300" dirty="0" err="1"/>
              <a:t>có</a:t>
            </a:r>
            <a:r>
              <a:rPr lang="en-US" altLang="ko-KR" sz="1300" dirty="0"/>
              <a:t> </a:t>
            </a:r>
            <a:r>
              <a:rPr lang="en-US" altLang="ko-KR" sz="1300" dirty="0" err="1"/>
              <a:t>vấn</a:t>
            </a:r>
            <a:r>
              <a:rPr lang="en-US" altLang="ko-KR" sz="1300" dirty="0"/>
              <a:t> </a:t>
            </a:r>
            <a:r>
              <a:rPr lang="en-US" altLang="ko-KR" sz="1300" dirty="0" err="1"/>
              <a:t>đề</a:t>
            </a:r>
            <a:r>
              <a:rPr lang="en-US" altLang="ko-KR" sz="1300" dirty="0"/>
              <a:t> </a:t>
            </a:r>
            <a:r>
              <a:rPr lang="en-US" altLang="ko-KR" sz="1300" dirty="0" err="1"/>
              <a:t>gì</a:t>
            </a:r>
            <a:r>
              <a:rPr lang="en-US" altLang="ko-KR" sz="1300" dirty="0"/>
              <a:t> </a:t>
            </a:r>
            <a:r>
              <a:rPr lang="en-US" altLang="ko-KR" sz="1300" dirty="0" err="1"/>
              <a:t>nhưng</a:t>
            </a:r>
            <a:r>
              <a:rPr lang="en-US" altLang="ko-KR" sz="1300" dirty="0"/>
              <a:t> </a:t>
            </a:r>
            <a:r>
              <a:rPr lang="en-US" altLang="ko-KR" sz="1300" dirty="0" err="1"/>
              <a:t>càng</a:t>
            </a:r>
            <a:r>
              <a:rPr lang="en-US" altLang="ko-KR" sz="1300" dirty="0"/>
              <a:t> </a:t>
            </a:r>
            <a:r>
              <a:rPr lang="en-US" altLang="ko-KR" sz="1300" dirty="0" err="1"/>
              <a:t>sử</a:t>
            </a:r>
            <a:r>
              <a:rPr lang="en-US" altLang="ko-KR" sz="1300" dirty="0"/>
              <a:t> </a:t>
            </a:r>
            <a:r>
              <a:rPr lang="en-US" altLang="ko-KR" sz="1300" dirty="0" err="1"/>
              <a:t>dụng</a:t>
            </a:r>
            <a:r>
              <a:rPr lang="en-US" altLang="ko-KR" sz="1300" dirty="0"/>
              <a:t> </a:t>
            </a:r>
            <a:r>
              <a:rPr lang="en-US" altLang="ko-KR" sz="1300" dirty="0" err="1"/>
              <a:t>thì</a:t>
            </a:r>
            <a:r>
              <a:rPr lang="en-US" altLang="ko-KR" sz="1300" dirty="0"/>
              <a:t> </a:t>
            </a:r>
            <a:r>
              <a:rPr lang="en-US" altLang="ko-KR" sz="1300" dirty="0" err="1"/>
              <a:t>càng</a:t>
            </a:r>
            <a:r>
              <a:rPr lang="en-US" altLang="ko-KR" sz="1300" dirty="0"/>
              <a:t> </a:t>
            </a:r>
            <a:r>
              <a:rPr lang="en-US" altLang="ko-KR" sz="1300" dirty="0" err="1"/>
              <a:t>bị</a:t>
            </a:r>
            <a:r>
              <a:rPr lang="en-US" altLang="ko-KR" sz="1300" dirty="0"/>
              <a:t> </a:t>
            </a:r>
            <a:r>
              <a:rPr lang="en-US" altLang="ko-KR" sz="1300" dirty="0" err="1"/>
              <a:t>mài</a:t>
            </a:r>
            <a:r>
              <a:rPr lang="en-US" altLang="ko-KR" sz="1300" dirty="0"/>
              <a:t> </a:t>
            </a:r>
            <a:r>
              <a:rPr lang="en-US" altLang="ko-KR" sz="1300" dirty="0" err="1"/>
              <a:t>mòn</a:t>
            </a:r>
            <a:r>
              <a:rPr lang="en-US" altLang="ko-KR" sz="1300" dirty="0"/>
              <a:t> </a:t>
            </a:r>
            <a:r>
              <a:rPr lang="en-US" altLang="ko-KR" sz="1300" dirty="0" err="1"/>
              <a:t>và</a:t>
            </a:r>
            <a:r>
              <a:rPr lang="en-US" altLang="ko-KR" sz="1300" dirty="0"/>
              <a:t> </a:t>
            </a:r>
            <a:r>
              <a:rPr lang="en-US" altLang="ko-KR" sz="1300" dirty="0" err="1"/>
              <a:t>chỉ</a:t>
            </a:r>
            <a:r>
              <a:rPr lang="en-US" altLang="ko-KR" sz="1300" dirty="0"/>
              <a:t> </a:t>
            </a:r>
            <a:r>
              <a:rPr lang="en-US" altLang="ko-KR" sz="1300" dirty="0" err="1"/>
              <a:t>số</a:t>
            </a:r>
            <a:r>
              <a:rPr lang="en-US" altLang="ko-KR" sz="1300" dirty="0"/>
              <a:t> </a:t>
            </a:r>
            <a:r>
              <a:rPr lang="en-US" altLang="ko-KR" sz="1300" dirty="0" err="1"/>
              <a:t>bị</a:t>
            </a:r>
            <a:r>
              <a:rPr lang="en-US" altLang="ko-KR" sz="1300" dirty="0"/>
              <a:t> </a:t>
            </a:r>
            <a:r>
              <a:rPr lang="en-US" altLang="ko-KR" sz="1300" dirty="0" err="1"/>
              <a:t>lớn</a:t>
            </a:r>
            <a:r>
              <a:rPr lang="en-US" altLang="ko-KR" sz="1300" dirty="0"/>
              <a:t> </a:t>
            </a:r>
            <a:r>
              <a:rPr lang="en-US" altLang="ko-KR" sz="1300" dirty="0" err="1"/>
              <a:t>hơn</a:t>
            </a:r>
            <a:r>
              <a:rPr lang="en-US" altLang="ko-KR" sz="1300" dirty="0"/>
              <a:t>. </a:t>
            </a:r>
            <a:r>
              <a:rPr lang="en-US" altLang="ko-KR" sz="1300" dirty="0" err="1"/>
              <a:t>Nếu</a:t>
            </a:r>
            <a:r>
              <a:rPr lang="en-US" altLang="ko-KR" sz="1300" dirty="0"/>
              <a:t> </a:t>
            </a:r>
            <a:r>
              <a:rPr lang="en-US" altLang="ko-KR" sz="1300" dirty="0" err="1"/>
              <a:t>như</a:t>
            </a:r>
            <a:r>
              <a:rPr lang="en-US" altLang="ko-KR" sz="1300" dirty="0"/>
              <a:t> </a:t>
            </a:r>
            <a:r>
              <a:rPr lang="en-US" altLang="ko-KR" sz="1300" dirty="0" err="1"/>
              <a:t>thế</a:t>
            </a:r>
            <a:r>
              <a:rPr lang="en-US" altLang="ko-KR" sz="1300" dirty="0"/>
              <a:t> </a:t>
            </a:r>
            <a:r>
              <a:rPr lang="en-US" altLang="ko-KR" sz="1300" dirty="0" err="1"/>
              <a:t>này</a:t>
            </a:r>
            <a:r>
              <a:rPr lang="en-US" altLang="ko-KR" sz="1300" dirty="0"/>
              <a:t> </a:t>
            </a:r>
            <a:r>
              <a:rPr lang="en-US" altLang="ko-KR" sz="1300" dirty="0" err="1"/>
              <a:t>thì</a:t>
            </a:r>
            <a:endParaRPr lang="en-US" altLang="ko-KR" sz="1300" dirty="0"/>
          </a:p>
          <a:p>
            <a:pPr>
              <a:lnSpc>
                <a:spcPct val="150000"/>
              </a:lnSpc>
            </a:pPr>
            <a:r>
              <a:rPr lang="en-US" altLang="ko-KR" sz="1300" dirty="0" err="1"/>
              <a:t>hình</a:t>
            </a:r>
            <a:r>
              <a:rPr lang="en-US" altLang="ko-KR" sz="1300" dirty="0"/>
              <a:t> </a:t>
            </a:r>
            <a:r>
              <a:rPr lang="en-US" altLang="ko-KR" sz="1300" dirty="0" err="1"/>
              <a:t>thái</a:t>
            </a:r>
            <a:r>
              <a:rPr lang="en-US" altLang="ko-KR" sz="1300" dirty="0"/>
              <a:t> </a:t>
            </a:r>
            <a:r>
              <a:rPr lang="en-US" altLang="ko-KR" sz="1300" dirty="0" err="1"/>
              <a:t>biểu</a:t>
            </a:r>
            <a:r>
              <a:rPr lang="en-US" altLang="ko-KR" sz="1300" dirty="0"/>
              <a:t> </a:t>
            </a:r>
            <a:r>
              <a:rPr lang="en-US" altLang="ko-KR" sz="1300" dirty="0" err="1"/>
              <a:t>đồ</a:t>
            </a:r>
            <a:r>
              <a:rPr lang="en-US" altLang="ko-KR" sz="1300" dirty="0"/>
              <a:t> </a:t>
            </a:r>
            <a:r>
              <a:rPr lang="en-US" altLang="ko-KR" sz="1300" dirty="0" err="1"/>
              <a:t>quản</a:t>
            </a:r>
            <a:r>
              <a:rPr lang="en-US" altLang="ko-KR" sz="1300" dirty="0"/>
              <a:t> </a:t>
            </a:r>
            <a:r>
              <a:rPr lang="en-US" altLang="ko-KR" sz="1300" dirty="0" err="1"/>
              <a:t>lý</a:t>
            </a:r>
            <a:r>
              <a:rPr lang="en-US" altLang="ko-KR" sz="1300" dirty="0"/>
              <a:t> </a:t>
            </a:r>
            <a:r>
              <a:rPr lang="en-US" altLang="ko-KR" sz="1300" dirty="0" err="1"/>
              <a:t>sẽ</a:t>
            </a:r>
            <a:r>
              <a:rPr lang="en-US" altLang="ko-KR" sz="1300" dirty="0"/>
              <a:t> </a:t>
            </a:r>
            <a:r>
              <a:rPr lang="en-US" altLang="ko-KR" sz="1300" dirty="0" err="1"/>
              <a:t>khoảng</a:t>
            </a:r>
            <a:r>
              <a:rPr lang="en-US" altLang="ko-KR" sz="1300" dirty="0"/>
              <a:t> </a:t>
            </a:r>
            <a:r>
              <a:rPr lang="en-US" altLang="ko-KR" sz="1300" dirty="0" err="1"/>
              <a:t>như</a:t>
            </a:r>
            <a:r>
              <a:rPr lang="en-US" altLang="ko-KR" sz="1300" dirty="0"/>
              <a:t> </a:t>
            </a:r>
            <a:r>
              <a:rPr lang="en-US" altLang="ko-KR" sz="1300" dirty="0" err="1"/>
              <a:t>sau</a:t>
            </a:r>
            <a:r>
              <a:rPr lang="en-US" altLang="ko-KR" sz="1300" dirty="0"/>
              <a:t>. </a:t>
            </a:r>
          </a:p>
        </p:txBody>
      </p:sp>
      <p:cxnSp>
        <p:nvCxnSpPr>
          <p:cNvPr id="10" name="직선 연결선 9"/>
          <p:cNvCxnSpPr/>
          <p:nvPr/>
        </p:nvCxnSpPr>
        <p:spPr>
          <a:xfrm>
            <a:off x="357158" y="3873574"/>
            <a:ext cx="39881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357158" y="4809678"/>
            <a:ext cx="39881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4714876" y="3717033"/>
            <a:ext cx="461986" cy="332399"/>
          </a:xfrm>
          <a:prstGeom prst="rect">
            <a:avLst/>
          </a:prstGeom>
          <a:noFill/>
        </p:spPr>
        <p:txBody>
          <a:bodyPr wrap="none" rtlCol="0">
            <a:spAutoFit/>
          </a:bodyPr>
          <a:lstStyle/>
          <a:p>
            <a:pPr>
              <a:lnSpc>
                <a:spcPct val="130000"/>
              </a:lnSpc>
              <a:buClr>
                <a:srgbClr val="C5003D"/>
              </a:buClr>
            </a:pPr>
            <a:r>
              <a:rPr lang="en-US" altLang="ko-KR" sz="1200" b="1" dirty="0"/>
              <a:t>USL</a:t>
            </a:r>
            <a:endParaRPr lang="ko-KR" altLang="en-US" sz="1200" b="1" dirty="0"/>
          </a:p>
        </p:txBody>
      </p:sp>
      <p:sp>
        <p:nvSpPr>
          <p:cNvPr id="13" name="TextBox 12"/>
          <p:cNvSpPr txBox="1"/>
          <p:nvPr/>
        </p:nvSpPr>
        <p:spPr>
          <a:xfrm>
            <a:off x="4714876" y="4665663"/>
            <a:ext cx="428322" cy="332399"/>
          </a:xfrm>
          <a:prstGeom prst="rect">
            <a:avLst/>
          </a:prstGeom>
          <a:noFill/>
        </p:spPr>
        <p:txBody>
          <a:bodyPr wrap="none" rtlCol="0">
            <a:spAutoFit/>
          </a:bodyPr>
          <a:lstStyle/>
          <a:p>
            <a:pPr>
              <a:lnSpc>
                <a:spcPct val="130000"/>
              </a:lnSpc>
              <a:buClr>
                <a:srgbClr val="C5003D"/>
              </a:buClr>
            </a:pPr>
            <a:r>
              <a:rPr lang="en-US" altLang="ko-KR" sz="1200" b="1" dirty="0"/>
              <a:t>LSL</a:t>
            </a:r>
            <a:endParaRPr lang="ko-KR" altLang="en-US" sz="1200" b="1" dirty="0"/>
          </a:p>
        </p:txBody>
      </p:sp>
      <p:cxnSp>
        <p:nvCxnSpPr>
          <p:cNvPr id="15" name="직선 연결선 14"/>
          <p:cNvCxnSpPr/>
          <p:nvPr/>
        </p:nvCxnSpPr>
        <p:spPr>
          <a:xfrm flipV="1">
            <a:off x="556564" y="3873574"/>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직선 연결선 16"/>
          <p:cNvCxnSpPr/>
          <p:nvPr/>
        </p:nvCxnSpPr>
        <p:spPr>
          <a:xfrm>
            <a:off x="1354191" y="3873574"/>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직선 연결선 17"/>
          <p:cNvCxnSpPr/>
          <p:nvPr/>
        </p:nvCxnSpPr>
        <p:spPr>
          <a:xfrm flipV="1">
            <a:off x="1354191" y="3873574"/>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a:xfrm>
            <a:off x="2151818" y="3873574"/>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p:nvCxnSpPr>
        <p:spPr>
          <a:xfrm flipV="1">
            <a:off x="2151818" y="3873574"/>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직선 연결선 20"/>
          <p:cNvCxnSpPr/>
          <p:nvPr/>
        </p:nvCxnSpPr>
        <p:spPr>
          <a:xfrm>
            <a:off x="2949445" y="3873574"/>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flipV="1">
            <a:off x="2949445" y="3873574"/>
            <a:ext cx="797627" cy="93610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직선 연결선 22"/>
          <p:cNvCxnSpPr/>
          <p:nvPr/>
        </p:nvCxnSpPr>
        <p:spPr>
          <a:xfrm>
            <a:off x="3747072" y="3873574"/>
            <a:ext cx="0" cy="93610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955378" y="4881687"/>
            <a:ext cx="974947" cy="512448"/>
          </a:xfrm>
          <a:prstGeom prst="rect">
            <a:avLst/>
          </a:prstGeom>
          <a:noFill/>
        </p:spPr>
        <p:txBody>
          <a:bodyPr wrap="none" rtlCol="0">
            <a:spAutoFit/>
          </a:bodyPr>
          <a:lstStyle/>
          <a:p>
            <a:pPr>
              <a:lnSpc>
                <a:spcPct val="130000"/>
              </a:lnSpc>
              <a:buClr>
                <a:srgbClr val="C5003D"/>
              </a:buClr>
            </a:pPr>
            <a:r>
              <a:rPr lang="en-US" altLang="ko-KR" sz="1050" b="1" dirty="0" err="1"/>
              <a:t>chuyển</a:t>
            </a:r>
            <a:r>
              <a:rPr lang="en-US" altLang="ko-KR" sz="1050" b="1" dirty="0"/>
              <a:t> </a:t>
            </a:r>
            <a:r>
              <a:rPr lang="en-US" altLang="ko-KR" sz="1050" b="1" dirty="0" err="1"/>
              <a:t>giao</a:t>
            </a:r>
            <a:endParaRPr lang="en-US" altLang="ko-KR" sz="1050" b="1" dirty="0"/>
          </a:p>
          <a:p>
            <a:pPr>
              <a:lnSpc>
                <a:spcPct val="130000"/>
              </a:lnSpc>
              <a:buClr>
                <a:srgbClr val="C5003D"/>
              </a:buClr>
            </a:pPr>
            <a:r>
              <a:rPr lang="en-US" altLang="ko-KR" sz="1050" b="1" dirty="0"/>
              <a:t> </a:t>
            </a:r>
            <a:r>
              <a:rPr lang="en-US" altLang="ko-KR" sz="1050" b="1" dirty="0" err="1"/>
              <a:t>công</a:t>
            </a:r>
            <a:r>
              <a:rPr lang="en-US" altLang="ko-KR" sz="1050" b="1" dirty="0"/>
              <a:t> </a:t>
            </a:r>
            <a:r>
              <a:rPr lang="en-US" altLang="ko-KR" sz="1050" b="1" dirty="0" err="1"/>
              <a:t>cụ</a:t>
            </a:r>
            <a:endParaRPr lang="ko-KR" altLang="en-US" sz="1050" b="1" dirty="0"/>
          </a:p>
        </p:txBody>
      </p:sp>
      <p:sp>
        <p:nvSpPr>
          <p:cNvPr id="25" name="TextBox 24"/>
          <p:cNvSpPr txBox="1"/>
          <p:nvPr/>
        </p:nvSpPr>
        <p:spPr>
          <a:xfrm>
            <a:off x="1819474" y="4881687"/>
            <a:ext cx="1023037" cy="512448"/>
          </a:xfrm>
          <a:prstGeom prst="rect">
            <a:avLst/>
          </a:prstGeom>
          <a:noFill/>
        </p:spPr>
        <p:txBody>
          <a:bodyPr wrap="none" rtlCol="0">
            <a:spAutoFit/>
          </a:bodyPr>
          <a:lstStyle/>
          <a:p>
            <a:pPr>
              <a:lnSpc>
                <a:spcPct val="130000"/>
              </a:lnSpc>
              <a:buClr>
                <a:srgbClr val="C5003D"/>
              </a:buClr>
            </a:pPr>
            <a:r>
              <a:rPr lang="en-US" altLang="ko-KR" sz="1050" b="1" dirty="0" err="1"/>
              <a:t>chuyển</a:t>
            </a:r>
            <a:r>
              <a:rPr lang="en-US" altLang="ko-KR" sz="1050" b="1" dirty="0"/>
              <a:t> </a:t>
            </a:r>
            <a:r>
              <a:rPr lang="en-US" altLang="ko-KR" sz="1050" b="1" dirty="0" err="1"/>
              <a:t>giao</a:t>
            </a:r>
            <a:r>
              <a:rPr lang="en-US" altLang="ko-KR" sz="1050" b="1" dirty="0"/>
              <a:t> </a:t>
            </a:r>
          </a:p>
          <a:p>
            <a:pPr>
              <a:lnSpc>
                <a:spcPct val="130000"/>
              </a:lnSpc>
              <a:buClr>
                <a:srgbClr val="C5003D"/>
              </a:buClr>
            </a:pPr>
            <a:r>
              <a:rPr lang="en-US" altLang="ko-KR" sz="1050" b="1" dirty="0" err="1"/>
              <a:t>công</a:t>
            </a:r>
            <a:r>
              <a:rPr lang="en-US" altLang="ko-KR" sz="1050" b="1" dirty="0"/>
              <a:t> </a:t>
            </a:r>
            <a:r>
              <a:rPr lang="en-US" altLang="ko-KR" sz="1050" b="1" dirty="0" err="1"/>
              <a:t>cụ</a:t>
            </a:r>
            <a:endParaRPr lang="ko-KR" altLang="en-US" sz="1050" b="1" dirty="0"/>
          </a:p>
        </p:txBody>
      </p:sp>
      <p:sp>
        <p:nvSpPr>
          <p:cNvPr id="26" name="TextBox 25"/>
          <p:cNvSpPr txBox="1"/>
          <p:nvPr/>
        </p:nvSpPr>
        <p:spPr>
          <a:xfrm>
            <a:off x="2617101" y="4881687"/>
            <a:ext cx="1043876" cy="512448"/>
          </a:xfrm>
          <a:prstGeom prst="rect">
            <a:avLst/>
          </a:prstGeom>
          <a:noFill/>
        </p:spPr>
        <p:txBody>
          <a:bodyPr wrap="none" rtlCol="0">
            <a:spAutoFit/>
          </a:bodyPr>
          <a:lstStyle/>
          <a:p>
            <a:pPr>
              <a:lnSpc>
                <a:spcPct val="130000"/>
              </a:lnSpc>
              <a:buClr>
                <a:srgbClr val="C5003D"/>
              </a:buClr>
            </a:pPr>
            <a:r>
              <a:rPr lang="en-US" altLang="ko-KR" sz="1050" b="1" dirty="0" err="1"/>
              <a:t>Chuyển</a:t>
            </a:r>
            <a:r>
              <a:rPr lang="en-US" altLang="ko-KR" sz="1050" b="1" dirty="0"/>
              <a:t> </a:t>
            </a:r>
            <a:r>
              <a:rPr lang="en-US" altLang="ko-KR" sz="1050" b="1" dirty="0" err="1"/>
              <a:t>giao</a:t>
            </a:r>
            <a:r>
              <a:rPr lang="en-US" altLang="ko-KR" sz="1050" b="1" dirty="0"/>
              <a:t> </a:t>
            </a:r>
          </a:p>
          <a:p>
            <a:pPr>
              <a:lnSpc>
                <a:spcPct val="130000"/>
              </a:lnSpc>
              <a:buClr>
                <a:srgbClr val="C5003D"/>
              </a:buClr>
            </a:pPr>
            <a:r>
              <a:rPr lang="en-US" altLang="ko-KR" sz="1050" b="1" dirty="0" err="1"/>
              <a:t>công</a:t>
            </a:r>
            <a:r>
              <a:rPr lang="en-US" altLang="ko-KR" sz="1050" b="1" dirty="0"/>
              <a:t> </a:t>
            </a:r>
            <a:r>
              <a:rPr lang="en-US" altLang="ko-KR" sz="1050" b="1" dirty="0" err="1"/>
              <a:t>cụ</a:t>
            </a:r>
            <a:endParaRPr lang="ko-KR" altLang="en-US" sz="1050" b="1" dirty="0"/>
          </a:p>
        </p:txBody>
      </p:sp>
      <p:sp>
        <p:nvSpPr>
          <p:cNvPr id="27" name="TextBox 26"/>
          <p:cNvSpPr txBox="1"/>
          <p:nvPr/>
        </p:nvSpPr>
        <p:spPr>
          <a:xfrm>
            <a:off x="3414728" y="4881687"/>
            <a:ext cx="974947" cy="512448"/>
          </a:xfrm>
          <a:prstGeom prst="rect">
            <a:avLst/>
          </a:prstGeom>
          <a:noFill/>
        </p:spPr>
        <p:txBody>
          <a:bodyPr wrap="none" rtlCol="0">
            <a:spAutoFit/>
          </a:bodyPr>
          <a:lstStyle/>
          <a:p>
            <a:pPr>
              <a:lnSpc>
                <a:spcPct val="130000"/>
              </a:lnSpc>
              <a:buClr>
                <a:srgbClr val="C5003D"/>
              </a:buClr>
            </a:pPr>
            <a:r>
              <a:rPr lang="en-US" altLang="ko-KR" sz="1050" b="1" dirty="0" err="1"/>
              <a:t>chuyển</a:t>
            </a:r>
            <a:r>
              <a:rPr lang="en-US" altLang="ko-KR" sz="1050" b="1" dirty="0"/>
              <a:t> </a:t>
            </a:r>
            <a:r>
              <a:rPr lang="en-US" altLang="ko-KR" sz="1050" b="1" dirty="0" err="1"/>
              <a:t>giao</a:t>
            </a:r>
            <a:endParaRPr lang="en-US" altLang="ko-KR" sz="1050" b="1" dirty="0"/>
          </a:p>
          <a:p>
            <a:pPr>
              <a:lnSpc>
                <a:spcPct val="130000"/>
              </a:lnSpc>
              <a:buClr>
                <a:srgbClr val="C5003D"/>
              </a:buClr>
            </a:pPr>
            <a:r>
              <a:rPr lang="en-US" altLang="ko-KR" sz="1050" b="1" dirty="0"/>
              <a:t> </a:t>
            </a:r>
            <a:r>
              <a:rPr lang="en-US" altLang="ko-KR" sz="1050" b="1" dirty="0" err="1"/>
              <a:t>công</a:t>
            </a:r>
            <a:r>
              <a:rPr lang="en-US" altLang="ko-KR" sz="1050" b="1" dirty="0"/>
              <a:t> </a:t>
            </a:r>
            <a:r>
              <a:rPr lang="en-US" altLang="ko-KR" sz="1050" b="1" dirty="0" err="1"/>
              <a:t>cụ</a:t>
            </a:r>
            <a:endParaRPr lang="ko-KR" altLang="en-US" sz="1050" b="1" dirty="0"/>
          </a:p>
        </p:txBody>
      </p:sp>
      <p:sp>
        <p:nvSpPr>
          <p:cNvPr id="28" name="TextBox 27"/>
          <p:cNvSpPr txBox="1"/>
          <p:nvPr/>
        </p:nvSpPr>
        <p:spPr>
          <a:xfrm>
            <a:off x="5136815" y="3789040"/>
            <a:ext cx="4054828" cy="652486"/>
          </a:xfrm>
          <a:prstGeom prst="rect">
            <a:avLst/>
          </a:prstGeom>
          <a:noFill/>
        </p:spPr>
        <p:txBody>
          <a:bodyPr wrap="none" rtlCol="0">
            <a:spAutoFit/>
          </a:bodyPr>
          <a:lstStyle/>
          <a:p>
            <a:pPr>
              <a:lnSpc>
                <a:spcPct val="130000"/>
              </a:lnSpc>
              <a:buClr>
                <a:srgbClr val="C5003D"/>
              </a:buClr>
            </a:pPr>
            <a:r>
              <a:rPr lang="en-US" altLang="ko-KR" sz="1400" b="1" dirty="0" err="1"/>
              <a:t>Lúc</a:t>
            </a:r>
            <a:r>
              <a:rPr lang="en-US" altLang="ko-KR" sz="1400" b="1" dirty="0"/>
              <a:t> </a:t>
            </a:r>
            <a:r>
              <a:rPr lang="en-US" altLang="ko-KR" sz="1400" b="1" dirty="0" err="1"/>
              <a:t>này</a:t>
            </a:r>
            <a:r>
              <a:rPr lang="en-US" altLang="ko-KR" sz="1400" b="1" dirty="0"/>
              <a:t> </a:t>
            </a:r>
            <a:r>
              <a:rPr lang="en-US" altLang="ko-KR" sz="1400" b="1" dirty="0" err="1"/>
              <a:t>cái</a:t>
            </a:r>
            <a:r>
              <a:rPr lang="en-US" altLang="ko-KR" sz="1400" b="1" dirty="0"/>
              <a:t> </a:t>
            </a:r>
            <a:r>
              <a:rPr lang="en-US" altLang="ko-KR" sz="1400" b="1" dirty="0" err="1"/>
              <a:t>sản</a:t>
            </a:r>
            <a:r>
              <a:rPr lang="en-US" altLang="ko-KR" sz="1400" b="1" dirty="0"/>
              <a:t> </a:t>
            </a:r>
            <a:r>
              <a:rPr lang="en-US" altLang="ko-KR" sz="1400" b="1" dirty="0" err="1"/>
              <a:t>xuất</a:t>
            </a:r>
            <a:r>
              <a:rPr lang="en-US" altLang="ko-KR" sz="1400" b="1" dirty="0"/>
              <a:t> </a:t>
            </a:r>
            <a:r>
              <a:rPr lang="en-US" altLang="ko-KR" sz="1400" b="1" dirty="0" err="1"/>
              <a:t>lần</a:t>
            </a:r>
            <a:r>
              <a:rPr lang="en-US" altLang="ko-KR" sz="1400" b="1" dirty="0"/>
              <a:t> </a:t>
            </a:r>
            <a:r>
              <a:rPr lang="en-US" altLang="ko-KR" sz="1400" b="1" dirty="0" err="1"/>
              <a:t>thứ</a:t>
            </a:r>
            <a:r>
              <a:rPr lang="en-US" altLang="ko-KR" sz="1400" b="1" dirty="0"/>
              <a:t> 100 </a:t>
            </a:r>
            <a:r>
              <a:rPr lang="en-US" altLang="ko-KR" sz="1400" b="1" dirty="0" err="1"/>
              <a:t>và</a:t>
            </a:r>
            <a:r>
              <a:rPr lang="en-US" altLang="ko-KR" sz="1400" b="1" dirty="0"/>
              <a:t> </a:t>
            </a:r>
            <a:r>
              <a:rPr lang="en-US" altLang="ko-KR" sz="1400" b="1" dirty="0" err="1"/>
              <a:t>sản</a:t>
            </a:r>
            <a:r>
              <a:rPr lang="en-US" altLang="ko-KR" sz="1400" b="1" dirty="0"/>
              <a:t> </a:t>
            </a:r>
            <a:r>
              <a:rPr lang="en-US" altLang="ko-KR" sz="1400" b="1" dirty="0" err="1"/>
              <a:t>xuất</a:t>
            </a:r>
            <a:endParaRPr lang="en-US" altLang="ko-KR" sz="1400" b="1" dirty="0"/>
          </a:p>
          <a:p>
            <a:pPr>
              <a:lnSpc>
                <a:spcPct val="130000"/>
              </a:lnSpc>
              <a:buClr>
                <a:srgbClr val="C5003D"/>
              </a:buClr>
            </a:pPr>
            <a:r>
              <a:rPr lang="en-US" altLang="ko-KR" sz="1400" b="1" dirty="0"/>
              <a:t> </a:t>
            </a:r>
            <a:r>
              <a:rPr lang="en-US" altLang="ko-KR" sz="1400" b="1" dirty="0" err="1"/>
              <a:t>lần</a:t>
            </a:r>
            <a:r>
              <a:rPr lang="en-US" altLang="ko-KR" sz="1400" b="1" dirty="0"/>
              <a:t> </a:t>
            </a:r>
            <a:r>
              <a:rPr lang="en-US" altLang="ko-KR" sz="1400" b="1" dirty="0" err="1"/>
              <a:t>thứ</a:t>
            </a:r>
            <a:r>
              <a:rPr lang="en-US" altLang="ko-KR" sz="1400" b="1" dirty="0"/>
              <a:t> 1 </a:t>
            </a:r>
            <a:r>
              <a:rPr lang="en-US" altLang="ko-KR" sz="1400" b="1" dirty="0" err="1"/>
              <a:t>chắc</a:t>
            </a:r>
            <a:r>
              <a:rPr lang="en-US" altLang="ko-KR" sz="1400" b="1" dirty="0"/>
              <a:t> </a:t>
            </a:r>
            <a:r>
              <a:rPr lang="en-US" altLang="ko-KR" sz="1400" b="1" dirty="0" err="1"/>
              <a:t>chắn</a:t>
            </a:r>
            <a:r>
              <a:rPr lang="en-US" altLang="ko-KR" sz="1400" b="1" dirty="0"/>
              <a:t> </a:t>
            </a:r>
            <a:r>
              <a:rPr lang="en-US" altLang="ko-KR" sz="1400" b="1" dirty="0" err="1"/>
              <a:t>khác</a:t>
            </a:r>
            <a:r>
              <a:rPr lang="en-US" altLang="ko-KR" sz="1400" b="1" dirty="0"/>
              <a:t> </a:t>
            </a:r>
            <a:r>
              <a:rPr lang="en-US" altLang="ko-KR" sz="1400" b="1" dirty="0" err="1"/>
              <a:t>nhau</a:t>
            </a:r>
            <a:endParaRPr lang="ko-KR" altLang="en-US" sz="1400" b="1" dirty="0"/>
          </a:p>
        </p:txBody>
      </p:sp>
      <p:sp>
        <p:nvSpPr>
          <p:cNvPr id="29" name="TextBox 28"/>
          <p:cNvSpPr txBox="1"/>
          <p:nvPr/>
        </p:nvSpPr>
        <p:spPr>
          <a:xfrm>
            <a:off x="5203283" y="4509120"/>
            <a:ext cx="3888116" cy="652486"/>
          </a:xfrm>
          <a:prstGeom prst="rect">
            <a:avLst/>
          </a:prstGeom>
          <a:noFill/>
        </p:spPr>
        <p:txBody>
          <a:bodyPr wrap="none" rtlCol="0">
            <a:spAutoFit/>
          </a:bodyPr>
          <a:lstStyle/>
          <a:p>
            <a:pPr>
              <a:lnSpc>
                <a:spcPct val="130000"/>
              </a:lnSpc>
              <a:buClr>
                <a:srgbClr val="C5003D"/>
              </a:buClr>
            </a:pPr>
            <a:r>
              <a:rPr lang="en-US" altLang="ko-KR" sz="1400" b="1" dirty="0" err="1"/>
              <a:t>Cái</a:t>
            </a:r>
            <a:r>
              <a:rPr lang="en-US" altLang="ko-KR" sz="1400" b="1" dirty="0"/>
              <a:t> </a:t>
            </a:r>
            <a:r>
              <a:rPr lang="en-US" altLang="ko-KR" sz="1400" b="1" dirty="0" err="1"/>
              <a:t>sản</a:t>
            </a:r>
            <a:r>
              <a:rPr lang="en-US" altLang="ko-KR" sz="1400" b="1" dirty="0"/>
              <a:t> </a:t>
            </a:r>
            <a:r>
              <a:rPr lang="en-US" altLang="ko-KR" sz="1400" b="1" dirty="0" err="1"/>
              <a:t>xuất</a:t>
            </a:r>
            <a:r>
              <a:rPr lang="en-US" altLang="ko-KR" sz="1400" b="1" dirty="0"/>
              <a:t> </a:t>
            </a:r>
            <a:r>
              <a:rPr lang="en-US" altLang="ko-KR" sz="1400" b="1" dirty="0" err="1"/>
              <a:t>lần</a:t>
            </a:r>
            <a:r>
              <a:rPr lang="en-US" altLang="ko-KR" sz="1400" b="1" dirty="0"/>
              <a:t> </a:t>
            </a:r>
            <a:r>
              <a:rPr lang="en-US" altLang="ko-KR" sz="1400" b="1" dirty="0" err="1"/>
              <a:t>thứ</a:t>
            </a:r>
            <a:r>
              <a:rPr lang="en-US" altLang="ko-KR" sz="1400" b="1" dirty="0"/>
              <a:t> 10 </a:t>
            </a:r>
            <a:r>
              <a:rPr lang="en-US" altLang="ko-KR" sz="1400" b="1" dirty="0" err="1"/>
              <a:t>và</a:t>
            </a:r>
            <a:r>
              <a:rPr lang="en-US" altLang="ko-KR" sz="1400" b="1" dirty="0"/>
              <a:t> </a:t>
            </a:r>
            <a:r>
              <a:rPr lang="en-US" altLang="ko-KR" sz="1400" b="1" dirty="0" err="1"/>
              <a:t>cái</a:t>
            </a:r>
            <a:r>
              <a:rPr lang="en-US" altLang="ko-KR" sz="1400" b="1" dirty="0"/>
              <a:t> </a:t>
            </a:r>
            <a:r>
              <a:rPr lang="en-US" altLang="ko-KR" sz="1400" b="1" dirty="0" err="1"/>
              <a:t>sản</a:t>
            </a:r>
            <a:r>
              <a:rPr lang="en-US" altLang="ko-KR" sz="1400" b="1" dirty="0"/>
              <a:t> </a:t>
            </a:r>
            <a:r>
              <a:rPr lang="en-US" altLang="ko-KR" sz="1400" b="1" dirty="0" err="1"/>
              <a:t>xuất</a:t>
            </a:r>
            <a:r>
              <a:rPr lang="en-US" altLang="ko-KR" sz="1400" b="1" dirty="0"/>
              <a:t> </a:t>
            </a:r>
            <a:r>
              <a:rPr lang="en-US" altLang="ko-KR" sz="1400" b="1" dirty="0" err="1"/>
              <a:t>lần</a:t>
            </a:r>
            <a:endParaRPr lang="en-US" altLang="ko-KR" sz="1400" b="1" dirty="0"/>
          </a:p>
          <a:p>
            <a:pPr>
              <a:lnSpc>
                <a:spcPct val="130000"/>
              </a:lnSpc>
              <a:buClr>
                <a:srgbClr val="C5003D"/>
              </a:buClr>
            </a:pPr>
            <a:r>
              <a:rPr lang="en-US" altLang="ko-KR" sz="1400" b="1" dirty="0"/>
              <a:t> </a:t>
            </a:r>
            <a:r>
              <a:rPr lang="en-US" altLang="ko-KR" sz="1400" b="1" dirty="0" err="1"/>
              <a:t>thứ</a:t>
            </a:r>
            <a:r>
              <a:rPr lang="en-US" altLang="ko-KR" sz="1400" b="1" dirty="0"/>
              <a:t> 11? </a:t>
            </a:r>
            <a:r>
              <a:rPr lang="en-US" altLang="ko-KR" sz="1400" b="1" dirty="0" err="1"/>
              <a:t>có</a:t>
            </a:r>
            <a:r>
              <a:rPr lang="en-US" altLang="ko-KR" sz="1400" b="1" dirty="0"/>
              <a:t> </a:t>
            </a:r>
            <a:r>
              <a:rPr lang="en-US" altLang="ko-KR" sz="1400" b="1" dirty="0" err="1"/>
              <a:t>thể</a:t>
            </a:r>
            <a:r>
              <a:rPr lang="en-US" altLang="ko-KR" sz="1400" b="1" dirty="0"/>
              <a:t> </a:t>
            </a:r>
            <a:r>
              <a:rPr lang="en-US" altLang="ko-KR" sz="1400" b="1" dirty="0" err="1"/>
              <a:t>xem</a:t>
            </a:r>
            <a:r>
              <a:rPr lang="en-US" altLang="ko-KR" sz="1400" b="1" dirty="0"/>
              <a:t> </a:t>
            </a:r>
            <a:r>
              <a:rPr lang="en-US" altLang="ko-KR" sz="1400" b="1" dirty="0" err="1"/>
              <a:t>là</a:t>
            </a:r>
            <a:r>
              <a:rPr lang="en-US" altLang="ko-KR" sz="1400" b="1" dirty="0"/>
              <a:t> </a:t>
            </a:r>
            <a:r>
              <a:rPr lang="en-US" altLang="ko-KR" sz="1400" b="1" dirty="0" err="1"/>
              <a:t>giống</a:t>
            </a:r>
            <a:r>
              <a:rPr lang="en-US" altLang="ko-KR" sz="1400" b="1" dirty="0"/>
              <a:t> </a:t>
            </a:r>
            <a:r>
              <a:rPr lang="en-US" altLang="ko-KR" sz="1400" b="1" dirty="0" err="1"/>
              <a:t>nhau</a:t>
            </a:r>
            <a:endParaRPr lang="en-US" altLang="ko-KR" sz="1400" b="1" dirty="0"/>
          </a:p>
        </p:txBody>
      </p:sp>
      <p:sp>
        <p:nvSpPr>
          <p:cNvPr id="30" name="TextBox 29"/>
          <p:cNvSpPr txBox="1"/>
          <p:nvPr/>
        </p:nvSpPr>
        <p:spPr>
          <a:xfrm>
            <a:off x="-60579" y="5517233"/>
            <a:ext cx="9418925" cy="932563"/>
          </a:xfrm>
          <a:prstGeom prst="rect">
            <a:avLst/>
          </a:prstGeom>
          <a:noFill/>
        </p:spPr>
        <p:txBody>
          <a:bodyPr wrap="none" rtlCol="0">
            <a:spAutoFit/>
          </a:bodyPr>
          <a:lstStyle/>
          <a:p>
            <a:pPr>
              <a:lnSpc>
                <a:spcPct val="130000"/>
              </a:lnSpc>
              <a:buClr>
                <a:srgbClr val="C5003D"/>
              </a:buClr>
            </a:pPr>
            <a:r>
              <a:rPr lang="vi-VN" altLang="ko-KR" sz="1400" b="1" dirty="0"/>
              <a:t>Trong trường hợp các</a:t>
            </a:r>
            <a:r>
              <a:rPr lang="en-US" altLang="ko-KR" sz="1400" b="1" dirty="0"/>
              <a:t> part</a:t>
            </a:r>
            <a:r>
              <a:rPr lang="vi-VN" altLang="ko-KR" sz="1400" b="1" dirty="0"/>
              <a:t> được sản xuất trong một quy trình ổn định, có tới 4 đến 5 </a:t>
            </a:r>
            <a:r>
              <a:rPr lang="en-US" altLang="ko-KR" sz="1400" b="1" dirty="0"/>
              <a:t>part</a:t>
            </a:r>
            <a:r>
              <a:rPr lang="vi-VN" altLang="ko-KR" sz="1400" b="1" dirty="0"/>
              <a:t> liên tiếp được</a:t>
            </a:r>
            <a:endParaRPr lang="en-US" altLang="ko-KR" sz="1400" b="1" dirty="0"/>
          </a:p>
          <a:p>
            <a:pPr>
              <a:lnSpc>
                <a:spcPct val="130000"/>
              </a:lnSpc>
              <a:buClr>
                <a:srgbClr val="C5003D"/>
              </a:buClr>
            </a:pPr>
            <a:r>
              <a:rPr lang="vi-VN" altLang="ko-KR" sz="1400" b="1" dirty="0"/>
              <a:t> cho là có cùng điều kiện.</a:t>
            </a:r>
            <a:r>
              <a:rPr lang="en-US" altLang="ko-KR" sz="1400" b="1" dirty="0"/>
              <a:t> </a:t>
            </a:r>
            <a:r>
              <a:rPr lang="en-US" altLang="ko-KR" sz="1400" b="1" dirty="0" err="1"/>
              <a:t>Nếu</a:t>
            </a:r>
            <a:r>
              <a:rPr lang="en-US" altLang="ko-KR" sz="1400" b="1" dirty="0"/>
              <a:t> </a:t>
            </a:r>
            <a:r>
              <a:rPr lang="en-US" altLang="ko-KR" sz="1400" b="1" dirty="0" err="1"/>
              <a:t>đây</a:t>
            </a:r>
            <a:r>
              <a:rPr lang="en-US" altLang="ko-KR" sz="1400" b="1" dirty="0"/>
              <a:t> </a:t>
            </a:r>
            <a:r>
              <a:rPr lang="en-US" altLang="ko-KR" sz="1400" b="1" dirty="0" err="1"/>
              <a:t>là</a:t>
            </a:r>
            <a:r>
              <a:rPr lang="en-US" altLang="ko-KR" sz="1400" b="1" dirty="0"/>
              <a:t> </a:t>
            </a:r>
            <a:r>
              <a:rPr lang="en-US" altLang="ko-KR" sz="1400" b="1" dirty="0" err="1"/>
              <a:t>nguyên</a:t>
            </a:r>
            <a:r>
              <a:rPr lang="en-US" altLang="ko-KR" sz="1400" b="1" dirty="0"/>
              <a:t> </a:t>
            </a:r>
            <a:r>
              <a:rPr lang="en-US" altLang="ko-KR" sz="1400" b="1" dirty="0" err="1"/>
              <a:t>lý</a:t>
            </a:r>
            <a:r>
              <a:rPr lang="en-US" altLang="ko-KR" sz="1400" b="1" dirty="0"/>
              <a:t> </a:t>
            </a:r>
            <a:r>
              <a:rPr lang="en-US" altLang="ko-KR" sz="1400" b="1" dirty="0" err="1"/>
              <a:t>chọn</a:t>
            </a:r>
            <a:r>
              <a:rPr lang="en-US" altLang="ko-KR" sz="1400" b="1" dirty="0"/>
              <a:t> sample </a:t>
            </a:r>
            <a:r>
              <a:rPr lang="en-US" altLang="ko-KR" sz="1400" b="1" dirty="0" err="1"/>
              <a:t>cơ</a:t>
            </a:r>
            <a:r>
              <a:rPr lang="en-US" altLang="ko-KR" sz="1400" b="1" dirty="0"/>
              <a:t> </a:t>
            </a:r>
            <a:r>
              <a:rPr lang="en-US" altLang="ko-KR" sz="1400" b="1" dirty="0" err="1"/>
              <a:t>bản</a:t>
            </a:r>
            <a:r>
              <a:rPr lang="en-US" altLang="ko-KR" sz="1400" b="1" dirty="0"/>
              <a:t> </a:t>
            </a:r>
            <a:r>
              <a:rPr lang="en-US" altLang="ko-KR" sz="1400" b="1" dirty="0" err="1"/>
              <a:t>của</a:t>
            </a:r>
            <a:r>
              <a:rPr lang="en-US" altLang="ko-KR" sz="1400" b="1" dirty="0"/>
              <a:t> </a:t>
            </a:r>
            <a:r>
              <a:rPr lang="en-US" altLang="ko-KR" sz="1400" b="1" dirty="0" err="1"/>
              <a:t>đồ</a:t>
            </a:r>
            <a:r>
              <a:rPr lang="en-US" altLang="ko-KR" sz="1400" b="1" dirty="0"/>
              <a:t> </a:t>
            </a:r>
            <a:r>
              <a:rPr lang="en-US" altLang="ko-KR" sz="1400" b="1" dirty="0" err="1"/>
              <a:t>thị</a:t>
            </a:r>
            <a:r>
              <a:rPr lang="en-US" altLang="ko-KR" sz="1400" b="1" dirty="0"/>
              <a:t> </a:t>
            </a:r>
            <a:r>
              <a:rPr lang="en-US" altLang="ko-KR" sz="1400" b="1" dirty="0" err="1"/>
              <a:t>quản</a:t>
            </a:r>
            <a:r>
              <a:rPr lang="en-US" altLang="ko-KR" sz="1400" b="1" dirty="0"/>
              <a:t> </a:t>
            </a:r>
            <a:r>
              <a:rPr lang="en-US" altLang="ko-KR" sz="1400" b="1" dirty="0" err="1"/>
              <a:t>lý</a:t>
            </a:r>
            <a:r>
              <a:rPr lang="en-US" altLang="ko-KR" sz="1400" b="1" dirty="0"/>
              <a:t> </a:t>
            </a:r>
            <a:r>
              <a:rPr lang="en-US" altLang="ko-KR" sz="1400" b="1" dirty="0" err="1"/>
              <a:t>Xbar</a:t>
            </a:r>
            <a:r>
              <a:rPr lang="en-US" altLang="ko-KR" sz="1400" b="1" dirty="0"/>
              <a:t> –R, </a:t>
            </a:r>
            <a:r>
              <a:rPr lang="en-US" altLang="ko-KR" sz="1400" b="1" dirty="0" err="1"/>
              <a:t>thì</a:t>
            </a:r>
            <a:r>
              <a:rPr lang="en-US" altLang="ko-KR" sz="1400" b="1" dirty="0"/>
              <a:t> </a:t>
            </a:r>
            <a:r>
              <a:rPr lang="en-US" altLang="ko-KR" sz="1400" b="1" dirty="0" err="1"/>
              <a:t>sẽ</a:t>
            </a:r>
            <a:r>
              <a:rPr lang="en-US" altLang="ko-KR" sz="1400" b="1" dirty="0"/>
              <a:t> </a:t>
            </a:r>
            <a:r>
              <a:rPr lang="en-US" altLang="ko-KR" sz="1400" b="1" dirty="0" err="1"/>
              <a:t>là</a:t>
            </a:r>
            <a:r>
              <a:rPr lang="en-US" altLang="ko-KR" sz="1400" b="1" dirty="0"/>
              <a:t> </a:t>
            </a:r>
          </a:p>
          <a:p>
            <a:pPr>
              <a:lnSpc>
                <a:spcPct val="130000"/>
              </a:lnSpc>
              <a:buClr>
                <a:srgbClr val="C5003D"/>
              </a:buClr>
            </a:pPr>
            <a:r>
              <a:rPr lang="en-US" altLang="ko-KR" sz="1400" b="1" dirty="0" err="1"/>
              <a:t>nguyên</a:t>
            </a:r>
            <a:r>
              <a:rPr lang="en-US" altLang="ko-KR" sz="1400" b="1" dirty="0"/>
              <a:t> </a:t>
            </a:r>
            <a:r>
              <a:rPr lang="en-US" altLang="ko-KR" sz="1400" b="1" dirty="0" err="1"/>
              <a:t>lý</a:t>
            </a:r>
            <a:r>
              <a:rPr lang="en-US" altLang="ko-KR" sz="1400" b="1" dirty="0"/>
              <a:t> </a:t>
            </a:r>
            <a:r>
              <a:rPr lang="en-US" altLang="ko-KR" sz="1400" b="1" dirty="0" err="1"/>
              <a:t>sử</a:t>
            </a:r>
            <a:r>
              <a:rPr lang="en-US" altLang="ko-KR" sz="1400" b="1" dirty="0"/>
              <a:t> </a:t>
            </a:r>
            <a:r>
              <a:rPr lang="en-US" altLang="ko-KR" sz="1400" b="1" dirty="0" err="1"/>
              <a:t>dụng</a:t>
            </a:r>
            <a:r>
              <a:rPr lang="en-US" altLang="ko-KR" sz="1400" b="1" dirty="0"/>
              <a:t> </a:t>
            </a:r>
            <a:r>
              <a:rPr lang="en-US" altLang="ko-KR" sz="1400" b="1" dirty="0" err="1"/>
              <a:t>khi</a:t>
            </a:r>
            <a:r>
              <a:rPr lang="en-US" altLang="ko-KR" sz="1400" b="1" dirty="0"/>
              <a:t> </a:t>
            </a:r>
            <a:r>
              <a:rPr lang="en-US" altLang="ko-KR" sz="1400" b="1" dirty="0" err="1"/>
              <a:t>đo</a:t>
            </a:r>
            <a:r>
              <a:rPr lang="en-US" altLang="ko-KR" sz="1400" b="1" dirty="0"/>
              <a:t> </a:t>
            </a:r>
            <a:r>
              <a:rPr lang="en-US" altLang="ko-KR" sz="1400" b="1" dirty="0" err="1"/>
              <a:t>đạc</a:t>
            </a:r>
            <a:r>
              <a:rPr lang="en-US" altLang="ko-KR" sz="1400" b="1" dirty="0"/>
              <a:t> </a:t>
            </a:r>
            <a:r>
              <a:rPr lang="en-US" altLang="ko-KR" sz="1400" b="1" dirty="0" err="1"/>
              <a:t>năng</a:t>
            </a:r>
            <a:r>
              <a:rPr lang="en-US" altLang="ko-KR" sz="1400" b="1" dirty="0"/>
              <a:t> </a:t>
            </a:r>
            <a:r>
              <a:rPr lang="en-US" altLang="ko-KR" sz="1400" b="1" dirty="0" err="1"/>
              <a:t>lực</a:t>
            </a:r>
            <a:r>
              <a:rPr lang="en-US" altLang="ko-KR" sz="1400" b="1" dirty="0"/>
              <a:t> process. </a:t>
            </a:r>
            <a:endParaRPr lang="ko-KR" altLang="en-US" sz="1400" b="1" dirty="0"/>
          </a:p>
        </p:txBody>
      </p:sp>
      <p:sp>
        <p:nvSpPr>
          <p:cNvPr id="31" name="Text Box 39"/>
          <p:cNvSpPr txBox="1">
            <a:spLocks noChangeArrowheads="1"/>
          </p:cNvSpPr>
          <p:nvPr/>
        </p:nvSpPr>
        <p:spPr bwMode="auto">
          <a:xfrm>
            <a:off x="251520" y="692696"/>
            <a:ext cx="2794291"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process</a:t>
            </a:r>
          </a:p>
        </p:txBody>
      </p:sp>
      <p:sp>
        <p:nvSpPr>
          <p:cNvPr id="32"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16116966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192</a:t>
            </a:fld>
            <a:endParaRPr lang="ko-KR" altLang="en-US" dirty="0"/>
          </a:p>
        </p:txBody>
      </p:sp>
      <p:sp>
        <p:nvSpPr>
          <p:cNvPr id="4" name="TextBox 3"/>
          <p:cNvSpPr txBox="1"/>
          <p:nvPr/>
        </p:nvSpPr>
        <p:spPr>
          <a:xfrm>
            <a:off x="338720" y="1268760"/>
            <a:ext cx="3719864" cy="412421"/>
          </a:xfrm>
          <a:prstGeom prst="rect">
            <a:avLst/>
          </a:prstGeom>
          <a:noFill/>
        </p:spPr>
        <p:txBody>
          <a:bodyPr wrap="none" rtlCol="0">
            <a:spAutoFit/>
          </a:bodyPr>
          <a:lstStyle/>
          <a:p>
            <a:pPr>
              <a:lnSpc>
                <a:spcPct val="130000"/>
              </a:lnSpc>
              <a:buClr>
                <a:srgbClr val="C5003D"/>
              </a:buClr>
            </a:pPr>
            <a:r>
              <a:rPr lang="en-US" altLang="ko-KR" sz="1600" b="1" dirty="0"/>
              <a:t>Not being a Rational Subgroup is ...</a:t>
            </a:r>
            <a:endParaRPr lang="ko-KR" altLang="en-US" sz="1600" b="1" dirty="0"/>
          </a:p>
        </p:txBody>
      </p:sp>
      <p:sp>
        <p:nvSpPr>
          <p:cNvPr id="5" name="TextBox 4"/>
          <p:cNvSpPr txBox="1"/>
          <p:nvPr/>
        </p:nvSpPr>
        <p:spPr>
          <a:xfrm>
            <a:off x="783271" y="1681182"/>
            <a:ext cx="6832640" cy="1061829"/>
          </a:xfrm>
          <a:prstGeom prst="rect">
            <a:avLst/>
          </a:prstGeom>
          <a:noFill/>
        </p:spPr>
        <p:txBody>
          <a:bodyPr wrap="none" rtlCol="0">
            <a:spAutoFit/>
          </a:bodyPr>
          <a:lstStyle/>
          <a:p>
            <a:pPr marL="285750" indent="-285750">
              <a:lnSpc>
                <a:spcPct val="150000"/>
              </a:lnSpc>
              <a:buFont typeface="Wingdings" panose="05000000000000000000" pitchFamily="2" charset="2"/>
              <a:buChar char="§"/>
            </a:pPr>
            <a:r>
              <a:rPr lang="en-US" sz="1400" dirty="0"/>
              <a:t>When sampling randomly in the process</a:t>
            </a:r>
          </a:p>
          <a:p>
            <a:pPr marL="285750" indent="-285750">
              <a:lnSpc>
                <a:spcPct val="150000"/>
              </a:lnSpc>
              <a:buFont typeface="Wingdings" panose="05000000000000000000" pitchFamily="2" charset="2"/>
              <a:buChar char="§"/>
            </a:pPr>
            <a:r>
              <a:rPr lang="en-US" sz="1400" dirty="0"/>
              <a:t>Random sampling without import history information from import inspection</a:t>
            </a:r>
          </a:p>
          <a:p>
            <a:pPr marL="285750" indent="-285750">
              <a:lnSpc>
                <a:spcPct val="150000"/>
              </a:lnSpc>
              <a:buFont typeface="Wingdings" panose="05000000000000000000" pitchFamily="2" charset="2"/>
              <a:buChar char="§"/>
            </a:pPr>
            <a:r>
              <a:rPr lang="en-US" sz="1400" dirty="0"/>
              <a:t>The presence of multiple abnormalities in the group</a:t>
            </a:r>
            <a:endParaRPr lang="en-US" altLang="ko-KR" sz="1400" dirty="0"/>
          </a:p>
        </p:txBody>
      </p:sp>
      <p:sp>
        <p:nvSpPr>
          <p:cNvPr id="6" name="TextBox 5"/>
          <p:cNvSpPr txBox="1"/>
          <p:nvPr/>
        </p:nvSpPr>
        <p:spPr>
          <a:xfrm>
            <a:off x="338720" y="2800555"/>
            <a:ext cx="4630370" cy="412421"/>
          </a:xfrm>
          <a:prstGeom prst="rect">
            <a:avLst/>
          </a:prstGeom>
          <a:noFill/>
        </p:spPr>
        <p:txBody>
          <a:bodyPr wrap="none" rtlCol="0">
            <a:spAutoFit/>
          </a:bodyPr>
          <a:lstStyle/>
          <a:p>
            <a:pPr>
              <a:lnSpc>
                <a:spcPct val="130000"/>
              </a:lnSpc>
              <a:buClr>
                <a:srgbClr val="C5003D"/>
              </a:buClr>
            </a:pPr>
            <a:r>
              <a:rPr lang="en-US" altLang="ko-KR" sz="1600" b="1" dirty="0"/>
              <a:t>If it does not become a Rational Subgroup ...</a:t>
            </a:r>
            <a:endParaRPr lang="ko-KR" altLang="en-US" sz="1600" b="1" dirty="0"/>
          </a:p>
        </p:txBody>
      </p:sp>
      <p:sp>
        <p:nvSpPr>
          <p:cNvPr id="8" name="TextBox 7"/>
          <p:cNvSpPr txBox="1"/>
          <p:nvPr/>
        </p:nvSpPr>
        <p:spPr>
          <a:xfrm>
            <a:off x="375190" y="3288082"/>
            <a:ext cx="5600572" cy="412421"/>
          </a:xfrm>
          <a:prstGeom prst="rect">
            <a:avLst/>
          </a:prstGeom>
          <a:noFill/>
        </p:spPr>
        <p:txBody>
          <a:bodyPr wrap="none" rtlCol="0">
            <a:spAutoFit/>
          </a:bodyPr>
          <a:lstStyle/>
          <a:p>
            <a:pPr>
              <a:lnSpc>
                <a:spcPct val="130000"/>
              </a:lnSpc>
              <a:buClr>
                <a:srgbClr val="C5003D"/>
              </a:buClr>
            </a:pPr>
            <a:r>
              <a:rPr lang="en-US" altLang="ko-KR" sz="1600" dirty="0"/>
              <a:t>Total variation=  Intra-group variation</a:t>
            </a:r>
            <a:r>
              <a:rPr lang="ko-KR" altLang="en-US" sz="1600" dirty="0"/>
              <a:t>  </a:t>
            </a:r>
            <a:r>
              <a:rPr lang="en-US" altLang="ko-KR" sz="1600" dirty="0"/>
              <a:t>+  Group variation</a:t>
            </a:r>
            <a:endParaRPr lang="ko-KR" altLang="en-US" sz="1600" dirty="0"/>
          </a:p>
        </p:txBody>
      </p:sp>
      <p:sp>
        <p:nvSpPr>
          <p:cNvPr id="9" name="TextBox 8"/>
          <p:cNvSpPr txBox="1"/>
          <p:nvPr/>
        </p:nvSpPr>
        <p:spPr>
          <a:xfrm>
            <a:off x="353241" y="3718420"/>
            <a:ext cx="5750613" cy="412421"/>
          </a:xfrm>
          <a:prstGeom prst="rect">
            <a:avLst/>
          </a:prstGeom>
          <a:noFill/>
        </p:spPr>
        <p:txBody>
          <a:bodyPr wrap="none" rtlCol="0">
            <a:spAutoFit/>
          </a:bodyPr>
          <a:lstStyle/>
          <a:p>
            <a:pPr>
              <a:lnSpc>
                <a:spcPct val="130000"/>
              </a:lnSpc>
              <a:buClr>
                <a:srgbClr val="C5003D"/>
              </a:buClr>
            </a:pPr>
            <a:r>
              <a:rPr lang="en-US" altLang="ko-KR" sz="1600" dirty="0"/>
              <a:t>Total variation</a:t>
            </a:r>
            <a:r>
              <a:rPr lang="ko-KR" altLang="en-US" sz="1600" dirty="0"/>
              <a:t>  </a:t>
            </a:r>
            <a:r>
              <a:rPr lang="en-US" altLang="ko-KR" sz="1600" dirty="0"/>
              <a:t>=  Chance variation</a:t>
            </a:r>
            <a:r>
              <a:rPr lang="ko-KR" altLang="en-US" sz="1600" dirty="0"/>
              <a:t>  </a:t>
            </a:r>
            <a:r>
              <a:rPr lang="en-US" altLang="ko-KR" sz="1600" dirty="0"/>
              <a:t>+  assignable variation</a:t>
            </a:r>
            <a:endParaRPr lang="ko-KR" altLang="en-US" sz="1600" dirty="0"/>
          </a:p>
        </p:txBody>
      </p:sp>
      <p:sp>
        <p:nvSpPr>
          <p:cNvPr id="10" name="TextBox 9"/>
          <p:cNvSpPr txBox="1"/>
          <p:nvPr/>
        </p:nvSpPr>
        <p:spPr>
          <a:xfrm>
            <a:off x="6088684" y="3643314"/>
            <a:ext cx="2684838" cy="732508"/>
          </a:xfrm>
          <a:prstGeom prst="rect">
            <a:avLst/>
          </a:prstGeom>
          <a:noFill/>
        </p:spPr>
        <p:txBody>
          <a:bodyPr wrap="none" rtlCol="0">
            <a:spAutoFit/>
          </a:bodyPr>
          <a:lstStyle/>
          <a:p>
            <a:pPr>
              <a:lnSpc>
                <a:spcPct val="130000"/>
              </a:lnSpc>
              <a:buClr>
                <a:srgbClr val="C5003D"/>
              </a:buClr>
            </a:pPr>
            <a:r>
              <a:rPr lang="en-US" sz="1600" dirty="0"/>
              <a:t>If intra-group variability = </a:t>
            </a:r>
          </a:p>
          <a:p>
            <a:pPr>
              <a:lnSpc>
                <a:spcPct val="130000"/>
              </a:lnSpc>
              <a:buClr>
                <a:srgbClr val="C5003D"/>
              </a:buClr>
            </a:pPr>
            <a:r>
              <a:rPr lang="en-US" sz="1600" dirty="0"/>
              <a:t>chance variation</a:t>
            </a:r>
            <a:endParaRPr lang="ko-KR" altLang="en-US" sz="1600" dirty="0"/>
          </a:p>
        </p:txBody>
      </p:sp>
      <p:sp>
        <p:nvSpPr>
          <p:cNvPr id="11" name="TextBox 10"/>
          <p:cNvSpPr txBox="1"/>
          <p:nvPr/>
        </p:nvSpPr>
        <p:spPr>
          <a:xfrm>
            <a:off x="353242" y="4438500"/>
            <a:ext cx="5579733" cy="412421"/>
          </a:xfrm>
          <a:prstGeom prst="rect">
            <a:avLst/>
          </a:prstGeom>
          <a:noFill/>
        </p:spPr>
        <p:txBody>
          <a:bodyPr wrap="none" rtlCol="0">
            <a:spAutoFit/>
          </a:bodyPr>
          <a:lstStyle/>
          <a:p>
            <a:pPr>
              <a:lnSpc>
                <a:spcPct val="130000"/>
              </a:lnSpc>
              <a:buClr>
                <a:srgbClr val="C5003D"/>
              </a:buClr>
            </a:pPr>
            <a:r>
              <a:rPr lang="en-US" altLang="ko-KR" sz="1600" dirty="0"/>
              <a:t>Total variation</a:t>
            </a:r>
            <a:r>
              <a:rPr lang="ko-KR" altLang="en-US" sz="1600" dirty="0"/>
              <a:t>  </a:t>
            </a:r>
            <a:r>
              <a:rPr lang="en-US" altLang="ko-KR" sz="1600" dirty="0"/>
              <a:t>=  Intra-group variation</a:t>
            </a:r>
            <a:r>
              <a:rPr lang="ko-KR" altLang="en-US" sz="1600" dirty="0"/>
              <a:t> </a:t>
            </a:r>
            <a:r>
              <a:rPr lang="en-US" altLang="ko-KR" sz="1600" dirty="0"/>
              <a:t>+ group variation</a:t>
            </a:r>
            <a:endParaRPr lang="ko-KR" altLang="en-US" sz="1600" dirty="0"/>
          </a:p>
        </p:txBody>
      </p:sp>
      <p:sp>
        <p:nvSpPr>
          <p:cNvPr id="12" name="TextBox 11"/>
          <p:cNvSpPr txBox="1"/>
          <p:nvPr/>
        </p:nvSpPr>
        <p:spPr>
          <a:xfrm>
            <a:off x="4901714" y="4857761"/>
            <a:ext cx="4125104" cy="412421"/>
          </a:xfrm>
          <a:prstGeom prst="rect">
            <a:avLst/>
          </a:prstGeom>
          <a:noFill/>
        </p:spPr>
        <p:txBody>
          <a:bodyPr wrap="none" rtlCol="0">
            <a:spAutoFit/>
          </a:bodyPr>
          <a:lstStyle/>
          <a:p>
            <a:pPr>
              <a:lnSpc>
                <a:spcPct val="130000"/>
              </a:lnSpc>
              <a:buClr>
                <a:srgbClr val="C5003D"/>
              </a:buClr>
            </a:pPr>
            <a:r>
              <a:rPr lang="en-US" altLang="ko-KR" sz="1600" dirty="0"/>
              <a:t>If</a:t>
            </a:r>
            <a:r>
              <a:rPr lang="ko-KR" altLang="en-US" sz="1600" dirty="0"/>
              <a:t> </a:t>
            </a:r>
            <a:r>
              <a:rPr lang="en-US" altLang="ko-KR" sz="1600" dirty="0"/>
              <a:t>Intra-group variation</a:t>
            </a:r>
            <a:r>
              <a:rPr lang="ko-KR" altLang="en-US" sz="1600" dirty="0"/>
              <a:t> ≥</a:t>
            </a:r>
            <a:r>
              <a:rPr lang="en-US" altLang="ko-KR" sz="1600" dirty="0"/>
              <a:t> chance variation</a:t>
            </a:r>
            <a:endParaRPr lang="ko-KR" altLang="en-US" sz="1600" dirty="0"/>
          </a:p>
        </p:txBody>
      </p:sp>
      <p:sp>
        <p:nvSpPr>
          <p:cNvPr id="13" name="TextBox 12"/>
          <p:cNvSpPr txBox="1"/>
          <p:nvPr/>
        </p:nvSpPr>
        <p:spPr>
          <a:xfrm>
            <a:off x="353242" y="4870548"/>
            <a:ext cx="4003275" cy="412421"/>
          </a:xfrm>
          <a:prstGeom prst="rect">
            <a:avLst/>
          </a:prstGeom>
          <a:noFill/>
        </p:spPr>
        <p:txBody>
          <a:bodyPr wrap="none" rtlCol="0">
            <a:spAutoFit/>
          </a:bodyPr>
          <a:lstStyle/>
          <a:p>
            <a:pPr>
              <a:lnSpc>
                <a:spcPct val="130000"/>
              </a:lnSpc>
              <a:buClr>
                <a:srgbClr val="C5003D"/>
              </a:buClr>
            </a:pPr>
            <a:r>
              <a:rPr lang="en-US" altLang="ko-KR" sz="1600" dirty="0"/>
              <a:t>Intra-group variation</a:t>
            </a:r>
            <a:r>
              <a:rPr lang="ko-KR" altLang="en-US" sz="1600" dirty="0"/>
              <a:t> ≥ </a:t>
            </a:r>
            <a:r>
              <a:rPr lang="en-US" altLang="ko-KR" sz="1600" dirty="0"/>
              <a:t>chance variation</a:t>
            </a:r>
            <a:r>
              <a:rPr lang="ko-KR" altLang="en-US" sz="1600" dirty="0"/>
              <a:t> </a:t>
            </a:r>
          </a:p>
        </p:txBody>
      </p:sp>
      <p:sp>
        <p:nvSpPr>
          <p:cNvPr id="14" name="TextBox 13"/>
          <p:cNvSpPr txBox="1"/>
          <p:nvPr/>
        </p:nvSpPr>
        <p:spPr>
          <a:xfrm>
            <a:off x="353242" y="5302596"/>
            <a:ext cx="3812519" cy="412421"/>
          </a:xfrm>
          <a:prstGeom prst="rect">
            <a:avLst/>
          </a:prstGeom>
          <a:noFill/>
        </p:spPr>
        <p:txBody>
          <a:bodyPr wrap="none" rtlCol="0">
            <a:spAutoFit/>
          </a:bodyPr>
          <a:lstStyle/>
          <a:p>
            <a:pPr>
              <a:lnSpc>
                <a:spcPct val="130000"/>
              </a:lnSpc>
              <a:buClr>
                <a:srgbClr val="C5003D"/>
              </a:buClr>
            </a:pPr>
            <a:r>
              <a:rPr lang="en-US" altLang="ko-KR" sz="1600" dirty="0"/>
              <a:t>group variation</a:t>
            </a:r>
            <a:r>
              <a:rPr lang="ko-KR" altLang="en-US" sz="1600" dirty="0"/>
              <a:t> ≤ </a:t>
            </a:r>
            <a:r>
              <a:rPr lang="en-US" altLang="ko-KR" sz="1600" dirty="0"/>
              <a:t>assignable variation</a:t>
            </a:r>
            <a:r>
              <a:rPr lang="ko-KR" altLang="en-US" sz="1600" dirty="0"/>
              <a:t> </a:t>
            </a:r>
          </a:p>
        </p:txBody>
      </p:sp>
      <p:cxnSp>
        <p:nvCxnSpPr>
          <p:cNvPr id="16" name="직선 연결선 15"/>
          <p:cNvCxnSpPr/>
          <p:nvPr/>
        </p:nvCxnSpPr>
        <p:spPr>
          <a:xfrm>
            <a:off x="353241" y="5662635"/>
            <a:ext cx="2127006"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182085" y="5896899"/>
            <a:ext cx="6307111" cy="412421"/>
          </a:xfrm>
          <a:prstGeom prst="rect">
            <a:avLst/>
          </a:prstGeom>
          <a:noFill/>
        </p:spPr>
        <p:txBody>
          <a:bodyPr wrap="none" rtlCol="0">
            <a:spAutoFit/>
          </a:bodyPr>
          <a:lstStyle/>
          <a:p>
            <a:pPr>
              <a:lnSpc>
                <a:spcPct val="130000"/>
              </a:lnSpc>
              <a:buClr>
                <a:srgbClr val="C5003D"/>
              </a:buClr>
            </a:pPr>
            <a:r>
              <a:rPr lang="en-US" altLang="ko-KR" sz="1600" b="1" dirty="0"/>
              <a:t>It can not be detected when a real fault occurs in the process.</a:t>
            </a:r>
            <a:endParaRPr lang="ko-KR" altLang="en-US" sz="1600" b="1" dirty="0"/>
          </a:p>
        </p:txBody>
      </p:sp>
      <p:sp>
        <p:nvSpPr>
          <p:cNvPr id="7" name="왼쪽 중괄호 6"/>
          <p:cNvSpPr/>
          <p:nvPr/>
        </p:nvSpPr>
        <p:spPr>
          <a:xfrm>
            <a:off x="175783" y="3432097"/>
            <a:ext cx="132938" cy="576064"/>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5" name="왼쪽 중괄호 14"/>
          <p:cNvSpPr/>
          <p:nvPr/>
        </p:nvSpPr>
        <p:spPr>
          <a:xfrm>
            <a:off x="153834" y="4582515"/>
            <a:ext cx="132938" cy="1080120"/>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 name="Text Box 39"/>
          <p:cNvSpPr txBox="1">
            <a:spLocks noChangeArrowheads="1"/>
          </p:cNvSpPr>
          <p:nvPr/>
        </p:nvSpPr>
        <p:spPr bwMode="auto">
          <a:xfrm>
            <a:off x="251520" y="692696"/>
            <a:ext cx="2823978"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Dispersion of process</a:t>
            </a:r>
          </a:p>
        </p:txBody>
      </p:sp>
      <p:sp>
        <p:nvSpPr>
          <p:cNvPr id="19"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171778620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193</a:t>
            </a:fld>
            <a:endParaRPr lang="ko-KR" altLang="en-US" dirty="0"/>
          </a:p>
        </p:txBody>
      </p:sp>
      <p:sp>
        <p:nvSpPr>
          <p:cNvPr id="3" name="TextBox 2"/>
          <p:cNvSpPr txBox="1"/>
          <p:nvPr/>
        </p:nvSpPr>
        <p:spPr>
          <a:xfrm>
            <a:off x="517396" y="1183756"/>
            <a:ext cx="8274942" cy="1492716"/>
          </a:xfrm>
          <a:prstGeom prst="rect">
            <a:avLst/>
          </a:prstGeom>
          <a:noFill/>
        </p:spPr>
        <p:txBody>
          <a:bodyPr wrap="square" rtlCol="0">
            <a:spAutoFit/>
          </a:bodyPr>
          <a:lstStyle/>
          <a:p>
            <a:pPr>
              <a:lnSpc>
                <a:spcPct val="130000"/>
              </a:lnSpc>
              <a:buClr>
                <a:srgbClr val="C5003D"/>
              </a:buClr>
            </a:pPr>
            <a:r>
              <a:rPr lang="en-US" altLang="ko-KR" sz="1400" dirty="0"/>
              <a:t>Case 3   </a:t>
            </a:r>
            <a:r>
              <a:rPr lang="en-US" sz="1400" dirty="0"/>
              <a:t>Let's assume a production line. If the tack time is 1 minute, it will produce 60 units per hour, and 580 units per day will produce 580 units</a:t>
            </a:r>
            <a:r>
              <a:rPr lang="en-US" altLang="ko-KR" sz="1400" dirty="0"/>
              <a:t>. </a:t>
            </a:r>
            <a:r>
              <a:rPr lang="en-US" sz="1400" dirty="0"/>
              <a:t>In some cases, an entire inspection system is provided to obtain data for all 580 units. In some cases, five units are sampled in two hours to manage the </a:t>
            </a:r>
            <a:r>
              <a:rPr lang="en-US" sz="1400" dirty="0" err="1"/>
              <a:t>Xbar</a:t>
            </a:r>
            <a:r>
              <a:rPr lang="en-US" sz="1400" dirty="0"/>
              <a:t>-R management road process. Calculate the dispersion assume that manage by </a:t>
            </a:r>
            <a:r>
              <a:rPr lang="en-US" sz="1400" dirty="0" err="1"/>
              <a:t>Xbar</a:t>
            </a:r>
            <a:r>
              <a:rPr lang="en-US" sz="1400" dirty="0"/>
              <a:t> –R control chart.</a:t>
            </a:r>
            <a:r>
              <a:rPr lang="en-US" altLang="ko-KR" sz="1400" dirty="0"/>
              <a:t> </a:t>
            </a:r>
            <a:r>
              <a:rPr lang="en-US" sz="1400" dirty="0"/>
              <a:t>Data were collected for ten groups of five. (Specification: 5.5 ± 0.5)</a:t>
            </a:r>
            <a:endParaRPr lang="ko-KR" altLang="en-US" sz="1400" dirty="0"/>
          </a:p>
        </p:txBody>
      </p:sp>
      <p:sp>
        <p:nvSpPr>
          <p:cNvPr id="4" name="Text Box 39"/>
          <p:cNvSpPr txBox="1">
            <a:spLocks noChangeArrowheads="1"/>
          </p:cNvSpPr>
          <p:nvPr/>
        </p:nvSpPr>
        <p:spPr bwMode="auto">
          <a:xfrm>
            <a:off x="234902" y="692696"/>
            <a:ext cx="3985002"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Calculate dispersion of process</a:t>
            </a:r>
          </a:p>
        </p:txBody>
      </p:sp>
      <p:graphicFrame>
        <p:nvGraphicFramePr>
          <p:cNvPr id="6" name="표 5"/>
          <p:cNvGraphicFramePr>
            <a:graphicFrameLocks noGrp="1"/>
          </p:cNvGraphicFramePr>
          <p:nvPr>
            <p:extLst>
              <p:ext uri="{D42A27DB-BD31-4B8C-83A1-F6EECF244321}">
                <p14:modId xmlns:p14="http://schemas.microsoft.com/office/powerpoint/2010/main" val="1278332459"/>
              </p:ext>
            </p:extLst>
          </p:nvPr>
        </p:nvGraphicFramePr>
        <p:xfrm>
          <a:off x="1524000" y="2780928"/>
          <a:ext cx="6096000" cy="1295400"/>
        </p:xfrm>
        <a:graphic>
          <a:graphicData uri="http://schemas.openxmlformats.org/drawingml/2006/table">
            <a:tbl>
              <a:tblPr/>
              <a:tblGrid>
                <a:gridCol w="6096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gridCol w="609600">
                  <a:extLst>
                    <a:ext uri="{9D8B030D-6E8A-4147-A177-3AD203B41FA5}">
                      <a16:colId xmlns:a16="http://schemas.microsoft.com/office/drawing/2014/main" val="20002"/>
                    </a:ext>
                  </a:extLst>
                </a:gridCol>
                <a:gridCol w="609600">
                  <a:extLst>
                    <a:ext uri="{9D8B030D-6E8A-4147-A177-3AD203B41FA5}">
                      <a16:colId xmlns:a16="http://schemas.microsoft.com/office/drawing/2014/main" val="20003"/>
                    </a:ext>
                  </a:extLst>
                </a:gridCol>
                <a:gridCol w="609600">
                  <a:extLst>
                    <a:ext uri="{9D8B030D-6E8A-4147-A177-3AD203B41FA5}">
                      <a16:colId xmlns:a16="http://schemas.microsoft.com/office/drawing/2014/main" val="20004"/>
                    </a:ext>
                  </a:extLst>
                </a:gridCol>
                <a:gridCol w="609600">
                  <a:extLst>
                    <a:ext uri="{9D8B030D-6E8A-4147-A177-3AD203B41FA5}">
                      <a16:colId xmlns:a16="http://schemas.microsoft.com/office/drawing/2014/main" val="20005"/>
                    </a:ext>
                  </a:extLst>
                </a:gridCol>
                <a:gridCol w="609600">
                  <a:extLst>
                    <a:ext uri="{9D8B030D-6E8A-4147-A177-3AD203B41FA5}">
                      <a16:colId xmlns:a16="http://schemas.microsoft.com/office/drawing/2014/main" val="20006"/>
                    </a:ext>
                  </a:extLst>
                </a:gridCol>
                <a:gridCol w="609600">
                  <a:extLst>
                    <a:ext uri="{9D8B030D-6E8A-4147-A177-3AD203B41FA5}">
                      <a16:colId xmlns:a16="http://schemas.microsoft.com/office/drawing/2014/main" val="20007"/>
                    </a:ext>
                  </a:extLst>
                </a:gridCol>
                <a:gridCol w="609600">
                  <a:extLst>
                    <a:ext uri="{9D8B030D-6E8A-4147-A177-3AD203B41FA5}">
                      <a16:colId xmlns:a16="http://schemas.microsoft.com/office/drawing/2014/main" val="20008"/>
                    </a:ext>
                  </a:extLst>
                </a:gridCol>
                <a:gridCol w="609600">
                  <a:extLst>
                    <a:ext uri="{9D8B030D-6E8A-4147-A177-3AD203B41FA5}">
                      <a16:colId xmlns:a16="http://schemas.microsoft.com/office/drawing/2014/main" val="20009"/>
                    </a:ext>
                  </a:extLst>
                </a:gridCol>
              </a:tblGrid>
              <a:tr h="215900">
                <a:tc>
                  <a:txBody>
                    <a:bodyPr/>
                    <a:lstStyle/>
                    <a:p>
                      <a:pPr algn="ctr" fontAlgn="ctr"/>
                      <a:r>
                        <a:rPr lang="en-US" altLang="ko-KR" sz="1200" b="0" i="0" u="none" strike="noStrike" dirty="0">
                          <a:solidFill>
                            <a:srgbClr val="000000"/>
                          </a:solidFill>
                          <a:effectLst/>
                          <a:latin typeface="맑은 고딕"/>
                        </a:rPr>
                        <a:t>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4.8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4.9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8709"/>
          <a:stretch/>
        </p:blipFill>
        <p:spPr bwMode="auto">
          <a:xfrm>
            <a:off x="1381492" y="4293096"/>
            <a:ext cx="6779830" cy="2160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TextBox 7"/>
          <p:cNvSpPr txBox="1"/>
          <p:nvPr/>
        </p:nvSpPr>
        <p:spPr>
          <a:xfrm>
            <a:off x="384458" y="4293096"/>
            <a:ext cx="845681" cy="412421"/>
          </a:xfrm>
          <a:prstGeom prst="rect">
            <a:avLst/>
          </a:prstGeom>
          <a:noFill/>
        </p:spPr>
        <p:txBody>
          <a:bodyPr wrap="none" rtlCol="0">
            <a:spAutoFit/>
          </a:bodyPr>
          <a:lstStyle/>
          <a:p>
            <a:pPr>
              <a:lnSpc>
                <a:spcPct val="130000"/>
              </a:lnSpc>
              <a:buClr>
                <a:srgbClr val="C5003D"/>
              </a:buClr>
            </a:pPr>
            <a:r>
              <a:rPr lang="en-US" altLang="ko-KR" sz="1600" b="1" dirty="0" err="1"/>
              <a:t>Xbar</a:t>
            </a:r>
            <a:r>
              <a:rPr lang="en-US" altLang="ko-KR" sz="1600" b="1" dirty="0"/>
              <a:t>-R</a:t>
            </a:r>
            <a:endParaRPr lang="ko-KR" altLang="en-US" sz="1600" b="1" dirty="0"/>
          </a:p>
        </p:txBody>
      </p:sp>
      <p:sp>
        <p:nvSpPr>
          <p:cNvPr id="9" name="TextBox 8"/>
          <p:cNvSpPr txBox="1"/>
          <p:nvPr/>
        </p:nvSpPr>
        <p:spPr>
          <a:xfrm>
            <a:off x="317989" y="2780929"/>
            <a:ext cx="712054" cy="412421"/>
          </a:xfrm>
          <a:prstGeom prst="rect">
            <a:avLst/>
          </a:prstGeom>
          <a:noFill/>
        </p:spPr>
        <p:txBody>
          <a:bodyPr wrap="none" rtlCol="0">
            <a:spAutoFit/>
          </a:bodyPr>
          <a:lstStyle/>
          <a:p>
            <a:pPr>
              <a:lnSpc>
                <a:spcPct val="130000"/>
              </a:lnSpc>
              <a:buClr>
                <a:srgbClr val="C5003D"/>
              </a:buClr>
            </a:pPr>
            <a:r>
              <a:rPr lang="en-US" altLang="ko-KR" sz="1600" b="1" dirty="0"/>
              <a:t>Data </a:t>
            </a:r>
            <a:endParaRPr lang="ko-KR" altLang="en-US" sz="1600" b="1" dirty="0"/>
          </a:p>
        </p:txBody>
      </p:sp>
      <p:sp>
        <p:nvSpPr>
          <p:cNvPr id="10"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53013734"/>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194</a:t>
            </a:fld>
            <a:endParaRPr lang="ko-KR" altLang="en-US" dirty="0"/>
          </a:p>
        </p:txBody>
      </p:sp>
      <p:sp>
        <p:nvSpPr>
          <p:cNvPr id="4" name="TextBox 3"/>
          <p:cNvSpPr txBox="1"/>
          <p:nvPr/>
        </p:nvSpPr>
        <p:spPr>
          <a:xfrm>
            <a:off x="338721" y="1268761"/>
            <a:ext cx="5130507" cy="412421"/>
          </a:xfrm>
          <a:prstGeom prst="rect">
            <a:avLst/>
          </a:prstGeom>
          <a:noFill/>
        </p:spPr>
        <p:txBody>
          <a:bodyPr wrap="none" rtlCol="0">
            <a:spAutoFit/>
          </a:bodyPr>
          <a:lstStyle/>
          <a:p>
            <a:pPr>
              <a:lnSpc>
                <a:spcPct val="130000"/>
              </a:lnSpc>
              <a:buClr>
                <a:srgbClr val="C5003D"/>
              </a:buClr>
            </a:pPr>
            <a:r>
              <a:rPr lang="en-US" altLang="ko-KR" sz="1600" b="1" dirty="0" err="1"/>
              <a:t>Không</a:t>
            </a:r>
            <a:r>
              <a:rPr lang="en-US" altLang="ko-KR" sz="1600" b="1" dirty="0"/>
              <a:t> </a:t>
            </a:r>
            <a:r>
              <a:rPr lang="en-US" altLang="ko-KR" sz="1600" b="1" dirty="0" err="1"/>
              <a:t>trở</a:t>
            </a:r>
            <a:r>
              <a:rPr lang="en-US" altLang="ko-KR" sz="1600" b="1" dirty="0"/>
              <a:t> </a:t>
            </a:r>
            <a:r>
              <a:rPr lang="en-US" altLang="ko-KR" sz="1600" b="1" dirty="0" err="1"/>
              <a:t>thành</a:t>
            </a:r>
            <a:r>
              <a:rPr lang="en-US" altLang="ko-KR" sz="1600" b="1" dirty="0"/>
              <a:t> Rational Subgroup </a:t>
            </a:r>
            <a:r>
              <a:rPr lang="en-US" altLang="ko-KR" sz="1600" b="1" dirty="0" err="1"/>
              <a:t>có</a:t>
            </a:r>
            <a:r>
              <a:rPr lang="en-US" altLang="ko-KR" sz="1600" b="1" dirty="0"/>
              <a:t> </a:t>
            </a:r>
            <a:r>
              <a:rPr lang="en-US" altLang="ko-KR" sz="1600" b="1" dirty="0" err="1"/>
              <a:t>nghĩa</a:t>
            </a:r>
            <a:r>
              <a:rPr lang="en-US" altLang="ko-KR" sz="1600" b="1" dirty="0"/>
              <a:t> </a:t>
            </a:r>
            <a:r>
              <a:rPr lang="en-US" altLang="ko-KR" sz="1600" b="1" dirty="0" err="1"/>
              <a:t>là</a:t>
            </a:r>
            <a:r>
              <a:rPr lang="en-US" altLang="ko-KR" sz="1600" b="1" dirty="0"/>
              <a:t> …</a:t>
            </a:r>
            <a:endParaRPr lang="ko-KR" altLang="en-US" sz="1600" b="1" dirty="0"/>
          </a:p>
        </p:txBody>
      </p:sp>
      <p:sp>
        <p:nvSpPr>
          <p:cNvPr id="5" name="TextBox 4"/>
          <p:cNvSpPr txBox="1"/>
          <p:nvPr/>
        </p:nvSpPr>
        <p:spPr>
          <a:xfrm>
            <a:off x="783271" y="1681182"/>
            <a:ext cx="7045840" cy="1061829"/>
          </a:xfrm>
          <a:prstGeom prst="rect">
            <a:avLst/>
          </a:prstGeom>
          <a:noFill/>
        </p:spPr>
        <p:txBody>
          <a:bodyPr wrap="none" rtlCol="0">
            <a:spAutoFit/>
          </a:bodyPr>
          <a:lstStyle/>
          <a:p>
            <a:pPr marL="285750" indent="-285750">
              <a:lnSpc>
                <a:spcPct val="150000"/>
              </a:lnSpc>
              <a:buFont typeface="Wingdings" panose="05000000000000000000" pitchFamily="2" charset="2"/>
              <a:buChar char="§"/>
            </a:pPr>
            <a:r>
              <a:rPr lang="en-US" altLang="ko-KR" sz="1400" dirty="0" err="1"/>
              <a:t>Khi</a:t>
            </a:r>
            <a:r>
              <a:rPr lang="en-US" altLang="ko-KR" sz="1400" dirty="0"/>
              <a:t> </a:t>
            </a:r>
            <a:r>
              <a:rPr lang="en-US" altLang="ko-KR" sz="1400" dirty="0" err="1"/>
              <a:t>lựa</a:t>
            </a:r>
            <a:r>
              <a:rPr lang="en-US" altLang="ko-KR" sz="1400" dirty="0"/>
              <a:t> </a:t>
            </a:r>
            <a:r>
              <a:rPr lang="en-US" altLang="ko-KR" sz="1400" dirty="0" err="1"/>
              <a:t>chọn</a:t>
            </a:r>
            <a:r>
              <a:rPr lang="en-US" altLang="ko-KR" sz="1400" dirty="0"/>
              <a:t> sample </a:t>
            </a:r>
            <a:r>
              <a:rPr lang="en-US" altLang="ko-KR" sz="1400" dirty="0" err="1"/>
              <a:t>ngẫu</a:t>
            </a:r>
            <a:r>
              <a:rPr lang="en-US" altLang="ko-KR" sz="1400" dirty="0"/>
              <a:t> </a:t>
            </a:r>
            <a:r>
              <a:rPr lang="en-US" altLang="ko-KR" sz="1400" dirty="0" err="1"/>
              <a:t>nhiên</a:t>
            </a:r>
            <a:r>
              <a:rPr lang="en-US" altLang="ko-KR" sz="1400" dirty="0"/>
              <a:t> </a:t>
            </a:r>
            <a:r>
              <a:rPr lang="en-US" altLang="ko-KR" sz="1400" dirty="0" err="1"/>
              <a:t>trong</a:t>
            </a:r>
            <a:r>
              <a:rPr lang="en-US" altLang="ko-KR" sz="1400" dirty="0"/>
              <a:t> process</a:t>
            </a:r>
          </a:p>
          <a:p>
            <a:pPr marL="285750" indent="-285750">
              <a:lnSpc>
                <a:spcPct val="150000"/>
              </a:lnSpc>
              <a:buFont typeface="Wingdings" panose="05000000000000000000" pitchFamily="2" charset="2"/>
              <a:buChar char="§"/>
            </a:pPr>
            <a:r>
              <a:rPr lang="en-US" altLang="ko-KR" sz="1400" dirty="0" err="1"/>
              <a:t>Khi</a:t>
            </a:r>
            <a:r>
              <a:rPr lang="en-US" altLang="ko-KR" sz="1400" dirty="0"/>
              <a:t> </a:t>
            </a:r>
            <a:r>
              <a:rPr lang="en-US" altLang="ko-KR" sz="1400" dirty="0" err="1"/>
              <a:t>lựa</a:t>
            </a:r>
            <a:r>
              <a:rPr lang="en-US" altLang="ko-KR" sz="1400" dirty="0"/>
              <a:t> </a:t>
            </a:r>
            <a:r>
              <a:rPr lang="en-US" altLang="ko-KR" sz="1400" dirty="0" err="1"/>
              <a:t>chọn</a:t>
            </a:r>
            <a:r>
              <a:rPr lang="en-US" altLang="ko-KR" sz="1400" dirty="0"/>
              <a:t> sample </a:t>
            </a:r>
            <a:r>
              <a:rPr lang="en-US" altLang="ko-KR" sz="1400" dirty="0" err="1"/>
              <a:t>mà</a:t>
            </a:r>
            <a:r>
              <a:rPr lang="en-US" altLang="ko-KR" sz="1400" dirty="0"/>
              <a:t> </a:t>
            </a:r>
            <a:r>
              <a:rPr lang="en-US" altLang="ko-KR" sz="1400" dirty="0" err="1"/>
              <a:t>trong</a:t>
            </a:r>
            <a:r>
              <a:rPr lang="en-US" altLang="ko-KR" sz="1400" dirty="0"/>
              <a:t> </a:t>
            </a:r>
            <a:r>
              <a:rPr lang="en-US" altLang="ko-KR" sz="1400" dirty="0" err="1"/>
              <a:t>khi</a:t>
            </a:r>
            <a:r>
              <a:rPr lang="en-US" altLang="ko-KR" sz="1400" dirty="0"/>
              <a:t> </a:t>
            </a:r>
            <a:r>
              <a:rPr lang="en-US" altLang="ko-KR" sz="1400" dirty="0" err="1"/>
              <a:t>kiểm</a:t>
            </a:r>
            <a:r>
              <a:rPr lang="en-US" altLang="ko-KR" sz="1400" dirty="0"/>
              <a:t> </a:t>
            </a:r>
            <a:r>
              <a:rPr lang="en-US" altLang="ko-KR" sz="1400" dirty="0" err="1"/>
              <a:t>tra</a:t>
            </a:r>
            <a:r>
              <a:rPr lang="en-US" altLang="ko-KR" sz="1400" dirty="0"/>
              <a:t> </a:t>
            </a:r>
            <a:r>
              <a:rPr lang="en-US" altLang="ko-KR" sz="1400" dirty="0" err="1"/>
              <a:t>đầu</a:t>
            </a:r>
            <a:r>
              <a:rPr lang="en-US" altLang="ko-KR" sz="1400" dirty="0"/>
              <a:t> </a:t>
            </a:r>
            <a:r>
              <a:rPr lang="en-US" altLang="ko-KR" sz="1400" dirty="0" err="1"/>
              <a:t>vào</a:t>
            </a:r>
            <a:r>
              <a:rPr lang="en-US" altLang="ko-KR" sz="1400" dirty="0"/>
              <a:t> </a:t>
            </a:r>
            <a:r>
              <a:rPr lang="en-US" altLang="ko-KR" sz="1400" dirty="0" err="1"/>
              <a:t>không</a:t>
            </a:r>
            <a:r>
              <a:rPr lang="en-US" altLang="ko-KR" sz="1400" dirty="0"/>
              <a:t> </a:t>
            </a:r>
            <a:r>
              <a:rPr lang="en-US" altLang="ko-KR" sz="1400" dirty="0" err="1"/>
              <a:t>có</a:t>
            </a:r>
            <a:r>
              <a:rPr lang="en-US" altLang="ko-KR" sz="1400" dirty="0"/>
              <a:t> </a:t>
            </a:r>
            <a:r>
              <a:rPr lang="en-US" altLang="ko-KR" sz="1400" dirty="0" err="1"/>
              <a:t>thông</a:t>
            </a:r>
            <a:r>
              <a:rPr lang="en-US" altLang="ko-KR" sz="1400" dirty="0"/>
              <a:t> tin </a:t>
            </a:r>
            <a:r>
              <a:rPr lang="en-US" altLang="ko-KR" sz="1400" dirty="0" err="1"/>
              <a:t>lịch</a:t>
            </a:r>
            <a:r>
              <a:rPr lang="en-US" altLang="ko-KR" sz="1400" dirty="0"/>
              <a:t> </a:t>
            </a:r>
            <a:r>
              <a:rPr lang="en-US" altLang="ko-KR" sz="1400" dirty="0" err="1"/>
              <a:t>sử</a:t>
            </a:r>
            <a:endParaRPr lang="en-US" altLang="ko-KR" sz="1400" dirty="0"/>
          </a:p>
          <a:p>
            <a:pPr marL="285750" indent="-285750">
              <a:lnSpc>
                <a:spcPct val="150000"/>
              </a:lnSpc>
              <a:buFont typeface="Wingdings" panose="05000000000000000000" pitchFamily="2" charset="2"/>
              <a:buChar char="§"/>
            </a:pPr>
            <a:r>
              <a:rPr lang="en-US" altLang="ko-KR" sz="1400" dirty="0" err="1"/>
              <a:t>Tồn</a:t>
            </a:r>
            <a:r>
              <a:rPr lang="en-US" altLang="ko-KR" sz="1400" dirty="0"/>
              <a:t> </a:t>
            </a:r>
            <a:r>
              <a:rPr lang="en-US" altLang="ko-KR" sz="1400" dirty="0" err="1"/>
              <a:t>tại</a:t>
            </a:r>
            <a:r>
              <a:rPr lang="en-US" altLang="ko-KR" sz="1400" dirty="0"/>
              <a:t> </a:t>
            </a:r>
            <a:r>
              <a:rPr lang="en-US" altLang="ko-KR" sz="1400" dirty="0" err="1"/>
              <a:t>nguyên</a:t>
            </a:r>
            <a:r>
              <a:rPr lang="en-US" altLang="ko-KR" sz="1400" dirty="0"/>
              <a:t> </a:t>
            </a:r>
            <a:r>
              <a:rPr lang="en-US" altLang="ko-KR" sz="1400" dirty="0" err="1"/>
              <a:t>nhân</a:t>
            </a:r>
            <a:r>
              <a:rPr lang="en-US" altLang="ko-KR" sz="1400" dirty="0"/>
              <a:t> </a:t>
            </a:r>
            <a:r>
              <a:rPr lang="en-US" altLang="ko-KR" sz="1400" dirty="0" err="1"/>
              <a:t>không</a:t>
            </a:r>
            <a:r>
              <a:rPr lang="en-US" altLang="ko-KR" sz="1400" dirty="0"/>
              <a:t> </a:t>
            </a:r>
            <a:r>
              <a:rPr lang="en-US" altLang="ko-KR" sz="1400" dirty="0" err="1"/>
              <a:t>ngẫu</a:t>
            </a:r>
            <a:r>
              <a:rPr lang="en-US" altLang="ko-KR" sz="1400" dirty="0"/>
              <a:t> </a:t>
            </a:r>
            <a:r>
              <a:rPr lang="en-US" altLang="ko-KR" sz="1400" dirty="0" err="1"/>
              <a:t>nhiên</a:t>
            </a:r>
            <a:r>
              <a:rPr lang="en-US" altLang="ko-KR" sz="1400" dirty="0"/>
              <a:t> </a:t>
            </a:r>
            <a:r>
              <a:rPr lang="en-US" altLang="ko-KR" sz="1400" dirty="0" err="1"/>
              <a:t>của</a:t>
            </a:r>
            <a:r>
              <a:rPr lang="en-US" altLang="ko-KR" sz="1400" dirty="0"/>
              <a:t> </a:t>
            </a:r>
            <a:r>
              <a:rPr lang="en-US" altLang="ko-KR" sz="1400" dirty="0" err="1"/>
              <a:t>nhiều</a:t>
            </a:r>
            <a:r>
              <a:rPr lang="en-US" altLang="ko-KR" sz="1400" dirty="0"/>
              <a:t> </a:t>
            </a:r>
            <a:r>
              <a:rPr lang="en-US" altLang="ko-KR" sz="1400" dirty="0" err="1"/>
              <a:t>cái</a:t>
            </a:r>
            <a:r>
              <a:rPr lang="en-US" altLang="ko-KR" sz="1400" dirty="0"/>
              <a:t> </a:t>
            </a:r>
            <a:r>
              <a:rPr lang="en-US" altLang="ko-KR" sz="1400" dirty="0" err="1"/>
              <a:t>trong</a:t>
            </a:r>
            <a:r>
              <a:rPr lang="en-US" altLang="ko-KR" sz="1400" dirty="0"/>
              <a:t> </a:t>
            </a:r>
            <a:r>
              <a:rPr lang="en-US" altLang="ko-KR" sz="1400" dirty="0" err="1"/>
              <a:t>nhóm</a:t>
            </a:r>
            <a:endParaRPr lang="en-US" altLang="ko-KR" sz="1400" dirty="0"/>
          </a:p>
        </p:txBody>
      </p:sp>
      <p:sp>
        <p:nvSpPr>
          <p:cNvPr id="6" name="TextBox 5"/>
          <p:cNvSpPr txBox="1"/>
          <p:nvPr/>
        </p:nvSpPr>
        <p:spPr>
          <a:xfrm>
            <a:off x="338720" y="2800556"/>
            <a:ext cx="4915705" cy="412421"/>
          </a:xfrm>
          <a:prstGeom prst="rect">
            <a:avLst/>
          </a:prstGeom>
          <a:noFill/>
        </p:spPr>
        <p:txBody>
          <a:bodyPr wrap="none" rtlCol="0">
            <a:spAutoFit/>
          </a:bodyPr>
          <a:lstStyle/>
          <a:p>
            <a:pPr>
              <a:lnSpc>
                <a:spcPct val="130000"/>
              </a:lnSpc>
              <a:buClr>
                <a:srgbClr val="C5003D"/>
              </a:buClr>
            </a:pPr>
            <a:r>
              <a:rPr lang="en-US" altLang="ko-KR" sz="1600" b="1" dirty="0" err="1"/>
              <a:t>Nếu</a:t>
            </a:r>
            <a:r>
              <a:rPr lang="en-US" altLang="ko-KR" sz="1600" b="1" dirty="0"/>
              <a:t> </a:t>
            </a:r>
            <a:r>
              <a:rPr lang="en-US" altLang="ko-KR" sz="1600" b="1" dirty="0" err="1"/>
              <a:t>không</a:t>
            </a:r>
            <a:r>
              <a:rPr lang="en-US" altLang="ko-KR" sz="1600" b="1" dirty="0"/>
              <a:t> </a:t>
            </a:r>
            <a:r>
              <a:rPr lang="en-US" altLang="ko-KR" sz="1600" b="1" dirty="0" err="1"/>
              <a:t>thể</a:t>
            </a:r>
            <a:r>
              <a:rPr lang="en-US" altLang="ko-KR" sz="1600" b="1" dirty="0"/>
              <a:t> </a:t>
            </a:r>
            <a:r>
              <a:rPr lang="en-US" altLang="ko-KR" sz="1600" b="1" dirty="0" err="1"/>
              <a:t>trở</a:t>
            </a:r>
            <a:r>
              <a:rPr lang="en-US" altLang="ko-KR" sz="1600" b="1" dirty="0"/>
              <a:t> </a:t>
            </a:r>
            <a:r>
              <a:rPr lang="en-US" altLang="ko-KR" sz="1600" b="1" dirty="0" err="1"/>
              <a:t>thành</a:t>
            </a:r>
            <a:r>
              <a:rPr lang="en-US" altLang="ko-KR" sz="1600" b="1" dirty="0"/>
              <a:t> Rational Subgroup</a:t>
            </a:r>
            <a:r>
              <a:rPr lang="ko-KR" altLang="en-US" sz="1600" b="1" dirty="0"/>
              <a:t> </a:t>
            </a:r>
            <a:r>
              <a:rPr lang="en-US" altLang="ko-KR" sz="1600" b="1" dirty="0"/>
              <a:t>…</a:t>
            </a:r>
            <a:endParaRPr lang="ko-KR" altLang="en-US" sz="1600" b="1" dirty="0"/>
          </a:p>
        </p:txBody>
      </p:sp>
      <p:sp>
        <p:nvSpPr>
          <p:cNvPr id="8" name="TextBox 7"/>
          <p:cNvSpPr txBox="1"/>
          <p:nvPr/>
        </p:nvSpPr>
        <p:spPr>
          <a:xfrm>
            <a:off x="270813" y="3227473"/>
            <a:ext cx="6141746" cy="412421"/>
          </a:xfrm>
          <a:prstGeom prst="rect">
            <a:avLst/>
          </a:prstGeom>
          <a:noFill/>
        </p:spPr>
        <p:txBody>
          <a:bodyPr wrap="none" rtlCol="0">
            <a:spAutoFit/>
          </a:bodyPr>
          <a:lstStyle/>
          <a:p>
            <a:pPr>
              <a:lnSpc>
                <a:spcPct val="130000"/>
              </a:lnSpc>
              <a:buClr>
                <a:srgbClr val="C5003D"/>
              </a:buClr>
            </a:pPr>
            <a:r>
              <a:rPr lang="en-US" altLang="ko-KR" sz="1600" dirty="0" err="1"/>
              <a:t>Tổng</a:t>
            </a:r>
            <a:r>
              <a:rPr lang="en-US" altLang="ko-KR" sz="1600" dirty="0"/>
              <a:t> </a:t>
            </a:r>
            <a:r>
              <a:rPr lang="en-US" altLang="ko-KR" sz="1600" dirty="0" err="1"/>
              <a:t>biến</a:t>
            </a:r>
            <a:r>
              <a:rPr lang="en-US" altLang="ko-KR" sz="1600" dirty="0"/>
              <a:t> </a:t>
            </a:r>
            <a:r>
              <a:rPr lang="en-US" altLang="ko-KR" sz="1600" dirty="0" err="1"/>
              <a:t>động</a:t>
            </a:r>
            <a:r>
              <a:rPr lang="ko-KR" altLang="en-US" sz="1600" dirty="0"/>
              <a:t> </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trong</a:t>
            </a:r>
            <a:r>
              <a:rPr lang="en-US" altLang="ko-KR" sz="1600" dirty="0"/>
              <a:t> </a:t>
            </a:r>
            <a:r>
              <a:rPr lang="en-US" altLang="ko-KR" sz="1600" dirty="0" err="1"/>
              <a:t>nhóm+Biến</a:t>
            </a:r>
            <a:r>
              <a:rPr lang="en-US" altLang="ko-KR" sz="1600" dirty="0"/>
              <a:t> </a:t>
            </a:r>
            <a:r>
              <a:rPr lang="en-US" altLang="ko-KR" sz="1600" dirty="0" err="1"/>
              <a:t>động</a:t>
            </a:r>
            <a:r>
              <a:rPr lang="en-US" altLang="ko-KR" sz="1600" dirty="0"/>
              <a:t> </a:t>
            </a:r>
            <a:r>
              <a:rPr lang="en-US" altLang="ko-KR" sz="1600" dirty="0" err="1"/>
              <a:t>nhóm</a:t>
            </a:r>
            <a:endParaRPr lang="ko-KR" altLang="en-US" sz="1600" dirty="0"/>
          </a:p>
        </p:txBody>
      </p:sp>
      <p:sp>
        <p:nvSpPr>
          <p:cNvPr id="9" name="TextBox 8"/>
          <p:cNvSpPr txBox="1"/>
          <p:nvPr/>
        </p:nvSpPr>
        <p:spPr>
          <a:xfrm>
            <a:off x="270814" y="3659521"/>
            <a:ext cx="7433445" cy="412421"/>
          </a:xfrm>
          <a:prstGeom prst="rect">
            <a:avLst/>
          </a:prstGeom>
          <a:noFill/>
        </p:spPr>
        <p:txBody>
          <a:bodyPr wrap="none" rtlCol="0">
            <a:spAutoFit/>
          </a:bodyPr>
          <a:lstStyle/>
          <a:p>
            <a:pPr>
              <a:lnSpc>
                <a:spcPct val="130000"/>
              </a:lnSpc>
              <a:buClr>
                <a:srgbClr val="C5003D"/>
              </a:buClr>
            </a:pPr>
            <a:r>
              <a:rPr lang="en-US" altLang="ko-KR" sz="1600" dirty="0" err="1"/>
              <a:t>Tổng</a:t>
            </a:r>
            <a:r>
              <a:rPr lang="en-US" altLang="ko-KR" sz="1600" dirty="0"/>
              <a:t> </a:t>
            </a:r>
            <a:r>
              <a:rPr lang="en-US" altLang="ko-KR" sz="1600" dirty="0" err="1"/>
              <a:t>biến</a:t>
            </a:r>
            <a:r>
              <a:rPr lang="en-US" altLang="ko-KR" sz="1600" dirty="0"/>
              <a:t> </a:t>
            </a:r>
            <a:r>
              <a:rPr lang="en-US" altLang="ko-KR" sz="1600" dirty="0" err="1"/>
              <a:t>động</a:t>
            </a:r>
            <a:r>
              <a:rPr lang="ko-KR" altLang="en-US" sz="1600" dirty="0"/>
              <a:t> </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không</a:t>
            </a:r>
            <a:r>
              <a:rPr lang="en-US" altLang="ko-KR" sz="1600" dirty="0"/>
              <a:t> </a:t>
            </a:r>
            <a:r>
              <a:rPr lang="en-US" altLang="ko-KR" sz="1600" dirty="0" err="1"/>
              <a:t>ngẫu</a:t>
            </a:r>
            <a:r>
              <a:rPr lang="en-US" altLang="ko-KR" sz="1600" dirty="0"/>
              <a:t> </a:t>
            </a:r>
            <a:r>
              <a:rPr lang="en-US" altLang="ko-KR" sz="1600" dirty="0" err="1"/>
              <a:t>nhiên</a:t>
            </a:r>
            <a:endParaRPr lang="ko-KR" altLang="en-US" sz="1600" dirty="0"/>
          </a:p>
        </p:txBody>
      </p:sp>
      <p:sp>
        <p:nvSpPr>
          <p:cNvPr id="10" name="TextBox 9"/>
          <p:cNvSpPr txBox="1"/>
          <p:nvPr/>
        </p:nvSpPr>
        <p:spPr>
          <a:xfrm>
            <a:off x="6072198" y="3071810"/>
            <a:ext cx="3289683" cy="732508"/>
          </a:xfrm>
          <a:prstGeom prst="rect">
            <a:avLst/>
          </a:prstGeom>
          <a:noFill/>
        </p:spPr>
        <p:txBody>
          <a:bodyPr wrap="none" rtlCol="0">
            <a:spAutoFit/>
          </a:bodyPr>
          <a:lstStyle/>
          <a:p>
            <a:pPr>
              <a:lnSpc>
                <a:spcPct val="130000"/>
              </a:lnSpc>
              <a:buClr>
                <a:srgbClr val="C5003D"/>
              </a:buClr>
            </a:pPr>
            <a:r>
              <a:rPr lang="en-US" altLang="ko-KR" sz="1600" dirty="0" err="1"/>
              <a:t>Nếu</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trong</a:t>
            </a:r>
            <a:r>
              <a:rPr lang="en-US" altLang="ko-KR" sz="1600" dirty="0"/>
              <a:t> </a:t>
            </a:r>
          </a:p>
          <a:p>
            <a:pPr>
              <a:lnSpc>
                <a:spcPct val="130000"/>
              </a:lnSpc>
              <a:buClr>
                <a:srgbClr val="C5003D"/>
              </a:buClr>
            </a:pPr>
            <a:r>
              <a:rPr lang="en-US" altLang="ko-KR" sz="1600" dirty="0" err="1"/>
              <a:t>nhóm</a:t>
            </a:r>
            <a:r>
              <a:rPr lang="ko-KR" altLang="en-US" sz="1600" dirty="0"/>
              <a:t> </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p>
        </p:txBody>
      </p:sp>
      <p:sp>
        <p:nvSpPr>
          <p:cNvPr id="11" name="TextBox 10"/>
          <p:cNvSpPr txBox="1"/>
          <p:nvPr/>
        </p:nvSpPr>
        <p:spPr>
          <a:xfrm>
            <a:off x="215507" y="4365105"/>
            <a:ext cx="6213881" cy="412421"/>
          </a:xfrm>
          <a:prstGeom prst="rect">
            <a:avLst/>
          </a:prstGeom>
          <a:noFill/>
        </p:spPr>
        <p:txBody>
          <a:bodyPr wrap="none" rtlCol="0">
            <a:spAutoFit/>
          </a:bodyPr>
          <a:lstStyle/>
          <a:p>
            <a:pPr>
              <a:lnSpc>
                <a:spcPct val="130000"/>
              </a:lnSpc>
              <a:buClr>
                <a:srgbClr val="C5003D"/>
              </a:buClr>
            </a:pPr>
            <a:r>
              <a:rPr lang="en-US" altLang="ko-KR" sz="1600" dirty="0" err="1"/>
              <a:t>Tổng</a:t>
            </a:r>
            <a:r>
              <a:rPr lang="en-US" altLang="ko-KR" sz="1600" dirty="0"/>
              <a:t> </a:t>
            </a:r>
            <a:r>
              <a:rPr lang="en-US" altLang="ko-KR" sz="1600" dirty="0" err="1"/>
              <a:t>biến</a:t>
            </a:r>
            <a:r>
              <a:rPr lang="en-US" altLang="ko-KR" sz="1600" dirty="0"/>
              <a:t> </a:t>
            </a:r>
            <a:r>
              <a:rPr lang="en-US" altLang="ko-KR" sz="1600" dirty="0" err="1"/>
              <a:t>động</a:t>
            </a:r>
            <a:r>
              <a:rPr lang="ko-KR" altLang="en-US" sz="1600" dirty="0"/>
              <a:t> </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trong</a:t>
            </a:r>
            <a:r>
              <a:rPr lang="en-US" altLang="ko-KR" sz="1600" dirty="0"/>
              <a:t> </a:t>
            </a:r>
            <a:r>
              <a:rPr lang="en-US" altLang="ko-KR" sz="1600" dirty="0" err="1"/>
              <a:t>nhóm</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nhóm</a:t>
            </a:r>
            <a:endParaRPr lang="ko-KR" altLang="en-US" sz="1600" dirty="0"/>
          </a:p>
        </p:txBody>
      </p:sp>
      <p:sp>
        <p:nvSpPr>
          <p:cNvPr id="12" name="TextBox 11"/>
          <p:cNvSpPr txBox="1"/>
          <p:nvPr/>
        </p:nvSpPr>
        <p:spPr>
          <a:xfrm>
            <a:off x="5286380" y="4768194"/>
            <a:ext cx="3844642" cy="732508"/>
          </a:xfrm>
          <a:prstGeom prst="rect">
            <a:avLst/>
          </a:prstGeom>
          <a:noFill/>
        </p:spPr>
        <p:txBody>
          <a:bodyPr wrap="none" rtlCol="0">
            <a:spAutoFit/>
          </a:bodyPr>
          <a:lstStyle/>
          <a:p>
            <a:pPr>
              <a:lnSpc>
                <a:spcPct val="130000"/>
              </a:lnSpc>
              <a:buClr>
                <a:srgbClr val="C5003D"/>
              </a:buClr>
            </a:pPr>
            <a:r>
              <a:rPr lang="en-US" altLang="ko-KR" sz="1600" dirty="0" err="1"/>
              <a:t>Nếu</a:t>
            </a:r>
            <a:r>
              <a:rPr lang="en-US" altLang="ko-KR" sz="1600" dirty="0"/>
              <a:t>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trong</a:t>
            </a:r>
            <a:r>
              <a:rPr lang="en-US" altLang="ko-KR" sz="1600" dirty="0"/>
              <a:t> </a:t>
            </a:r>
            <a:r>
              <a:rPr lang="en-US" altLang="ko-KR" sz="1600" dirty="0" err="1"/>
              <a:t>nhóm</a:t>
            </a:r>
            <a:r>
              <a:rPr lang="ko-KR" altLang="en-US" sz="1600" dirty="0"/>
              <a:t> ≥</a:t>
            </a:r>
            <a:r>
              <a:rPr lang="en-US" altLang="ko-KR" sz="1600" dirty="0"/>
              <a:t> </a:t>
            </a:r>
            <a:r>
              <a:rPr lang="en-US" altLang="ko-KR" sz="1600" dirty="0" err="1"/>
              <a:t>Biến</a:t>
            </a:r>
            <a:r>
              <a:rPr lang="en-US" altLang="ko-KR" sz="1600" dirty="0"/>
              <a:t> </a:t>
            </a:r>
          </a:p>
          <a:p>
            <a:pPr>
              <a:lnSpc>
                <a:spcPct val="130000"/>
              </a:lnSpc>
              <a:buClr>
                <a:srgbClr val="C5003D"/>
              </a:buClr>
            </a:pPr>
            <a:r>
              <a:rPr lang="en-US" altLang="ko-KR" sz="1600" dirty="0" err="1"/>
              <a:t>động</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p>
        </p:txBody>
      </p:sp>
      <p:sp>
        <p:nvSpPr>
          <p:cNvPr id="13" name="TextBox 12"/>
          <p:cNvSpPr txBox="1"/>
          <p:nvPr/>
        </p:nvSpPr>
        <p:spPr>
          <a:xfrm>
            <a:off x="215507" y="4797153"/>
            <a:ext cx="4995598" cy="412421"/>
          </a:xfrm>
          <a:prstGeom prst="rect">
            <a:avLst/>
          </a:prstGeom>
          <a:noFill/>
        </p:spPr>
        <p:txBody>
          <a:bodyPr wrap="none" rtlCol="0">
            <a:spAutoFit/>
          </a:bodyPr>
          <a:lstStyle/>
          <a:p>
            <a:pPr>
              <a:lnSpc>
                <a:spcPct val="130000"/>
              </a:lnSpc>
              <a:buClr>
                <a:srgbClr val="C5003D"/>
              </a:buClr>
            </a:pP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trong</a:t>
            </a:r>
            <a:r>
              <a:rPr lang="en-US" altLang="ko-KR" sz="1600" dirty="0"/>
              <a:t> </a:t>
            </a:r>
            <a:r>
              <a:rPr lang="en-US" altLang="ko-KR" sz="1600" dirty="0" err="1"/>
              <a:t>nhóm</a:t>
            </a:r>
            <a:r>
              <a:rPr lang="ko-KR" altLang="en-US" sz="1600" dirty="0"/>
              <a:t> ≥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p>
        </p:txBody>
      </p:sp>
      <p:sp>
        <p:nvSpPr>
          <p:cNvPr id="14" name="TextBox 13"/>
          <p:cNvSpPr txBox="1"/>
          <p:nvPr/>
        </p:nvSpPr>
        <p:spPr>
          <a:xfrm>
            <a:off x="215507" y="5229201"/>
            <a:ext cx="5078634" cy="412421"/>
          </a:xfrm>
          <a:prstGeom prst="rect">
            <a:avLst/>
          </a:prstGeom>
          <a:noFill/>
        </p:spPr>
        <p:txBody>
          <a:bodyPr wrap="none" rtlCol="0">
            <a:spAutoFit/>
          </a:bodyPr>
          <a:lstStyle/>
          <a:p>
            <a:pPr>
              <a:lnSpc>
                <a:spcPct val="130000"/>
              </a:lnSpc>
              <a:buClr>
                <a:srgbClr val="C5003D"/>
              </a:buClr>
            </a:pP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nhóm</a:t>
            </a:r>
            <a:r>
              <a:rPr lang="ko-KR" altLang="en-US" sz="1600" dirty="0"/>
              <a:t> ≤ </a:t>
            </a:r>
            <a:r>
              <a:rPr lang="en-US" altLang="ko-KR" sz="1600" dirty="0" err="1"/>
              <a:t>Biến</a:t>
            </a:r>
            <a:r>
              <a:rPr lang="en-US" altLang="ko-KR" sz="1600" dirty="0"/>
              <a:t> </a:t>
            </a:r>
            <a:r>
              <a:rPr lang="en-US" altLang="ko-KR" sz="1600" dirty="0" err="1"/>
              <a:t>động</a:t>
            </a:r>
            <a:r>
              <a:rPr lang="en-US" altLang="ko-KR" sz="1600" dirty="0"/>
              <a:t> </a:t>
            </a:r>
            <a:r>
              <a:rPr lang="en-US" altLang="ko-KR" sz="1600" dirty="0" err="1"/>
              <a:t>không</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p>
        </p:txBody>
      </p:sp>
      <p:cxnSp>
        <p:nvCxnSpPr>
          <p:cNvPr id="16" name="직선 연결선 15"/>
          <p:cNvCxnSpPr/>
          <p:nvPr/>
        </p:nvCxnSpPr>
        <p:spPr>
          <a:xfrm>
            <a:off x="1182085" y="5589240"/>
            <a:ext cx="2127006"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182085" y="5896900"/>
            <a:ext cx="8007577" cy="412421"/>
          </a:xfrm>
          <a:prstGeom prst="rect">
            <a:avLst/>
          </a:prstGeom>
          <a:noFill/>
        </p:spPr>
        <p:txBody>
          <a:bodyPr wrap="none" rtlCol="0">
            <a:spAutoFit/>
          </a:bodyPr>
          <a:lstStyle/>
          <a:p>
            <a:pPr>
              <a:lnSpc>
                <a:spcPct val="130000"/>
              </a:lnSpc>
              <a:buClr>
                <a:srgbClr val="C5003D"/>
              </a:buClr>
            </a:pPr>
            <a:r>
              <a:rPr lang="en-US" altLang="ko-KR" sz="1600" b="1" dirty="0" err="1"/>
              <a:t>Trong</a:t>
            </a:r>
            <a:r>
              <a:rPr lang="en-US" altLang="ko-KR" sz="1600" b="1" dirty="0"/>
              <a:t> process </a:t>
            </a:r>
            <a:r>
              <a:rPr lang="en-US" altLang="ko-KR" sz="1600" b="1" dirty="0" err="1"/>
              <a:t>khi</a:t>
            </a:r>
            <a:r>
              <a:rPr lang="en-US" altLang="ko-KR" sz="1600" b="1" dirty="0"/>
              <a:t> </a:t>
            </a:r>
            <a:r>
              <a:rPr lang="en-US" altLang="ko-KR" sz="1600" b="1" dirty="0" err="1"/>
              <a:t>xuất</a:t>
            </a:r>
            <a:r>
              <a:rPr lang="en-US" altLang="ko-KR" sz="1600" b="1" dirty="0"/>
              <a:t> </a:t>
            </a:r>
            <a:r>
              <a:rPr lang="en-US" altLang="ko-KR" sz="1600" b="1" dirty="0" err="1"/>
              <a:t>hiện</a:t>
            </a:r>
            <a:r>
              <a:rPr lang="en-US" altLang="ko-KR" sz="1600" b="1" dirty="0"/>
              <a:t> </a:t>
            </a:r>
            <a:r>
              <a:rPr lang="en-US" altLang="ko-KR" sz="1600" b="1" dirty="0" err="1"/>
              <a:t>những</a:t>
            </a:r>
            <a:r>
              <a:rPr lang="en-US" altLang="ko-KR" sz="1600" b="1" dirty="0"/>
              <a:t> </a:t>
            </a:r>
            <a:r>
              <a:rPr lang="en-US" altLang="ko-KR" sz="1600" b="1" dirty="0" err="1"/>
              <a:t>lỗi</a:t>
            </a:r>
            <a:r>
              <a:rPr lang="en-US" altLang="ko-KR" sz="1600" b="1" dirty="0"/>
              <a:t> </a:t>
            </a:r>
            <a:r>
              <a:rPr lang="en-US" altLang="ko-KR" sz="1600" b="1" dirty="0" err="1"/>
              <a:t>thực</a:t>
            </a:r>
            <a:r>
              <a:rPr lang="en-US" altLang="ko-KR" sz="1600" b="1" dirty="0"/>
              <a:t> </a:t>
            </a:r>
            <a:r>
              <a:rPr lang="en-US" altLang="ko-KR" sz="1600" b="1" dirty="0" err="1"/>
              <a:t>sự</a:t>
            </a:r>
            <a:r>
              <a:rPr lang="en-US" altLang="ko-KR" sz="1600" b="1" dirty="0"/>
              <a:t> </a:t>
            </a:r>
            <a:r>
              <a:rPr lang="en-US" altLang="ko-KR" sz="1600" b="1" dirty="0" err="1"/>
              <a:t>thì</a:t>
            </a:r>
            <a:r>
              <a:rPr lang="en-US" altLang="ko-KR" sz="1600" b="1" dirty="0"/>
              <a:t> </a:t>
            </a:r>
            <a:r>
              <a:rPr lang="en-US" altLang="ko-KR" sz="1600" b="1" dirty="0" err="1"/>
              <a:t>không</a:t>
            </a:r>
            <a:r>
              <a:rPr lang="en-US" altLang="ko-KR" sz="1600" b="1" dirty="0"/>
              <a:t> </a:t>
            </a:r>
            <a:r>
              <a:rPr lang="en-US" altLang="ko-KR" sz="1600" b="1" dirty="0" err="1"/>
              <a:t>thể</a:t>
            </a:r>
            <a:r>
              <a:rPr lang="en-US" altLang="ko-KR" sz="1600" b="1" dirty="0"/>
              <a:t> </a:t>
            </a:r>
            <a:r>
              <a:rPr lang="en-US" altLang="ko-KR" sz="1600" b="1" dirty="0" err="1"/>
              <a:t>nhận</a:t>
            </a:r>
            <a:r>
              <a:rPr lang="en-US" altLang="ko-KR" sz="1600" b="1" dirty="0"/>
              <a:t> </a:t>
            </a:r>
            <a:r>
              <a:rPr lang="en-US" altLang="ko-KR" sz="1600" b="1" dirty="0" err="1"/>
              <a:t>biết</a:t>
            </a:r>
            <a:r>
              <a:rPr lang="en-US" altLang="ko-KR" sz="1600" b="1" dirty="0"/>
              <a:t> </a:t>
            </a:r>
            <a:r>
              <a:rPr lang="en-US" altLang="ko-KR" sz="1600" b="1" dirty="0" err="1"/>
              <a:t>được</a:t>
            </a:r>
            <a:r>
              <a:rPr lang="en-US" altLang="ko-KR" sz="1600" b="1" dirty="0"/>
              <a:t>.  </a:t>
            </a:r>
            <a:endParaRPr lang="ko-KR" altLang="en-US" sz="1600" b="1" dirty="0"/>
          </a:p>
        </p:txBody>
      </p:sp>
      <p:sp>
        <p:nvSpPr>
          <p:cNvPr id="7" name="왼쪽 중괄호 6"/>
          <p:cNvSpPr/>
          <p:nvPr/>
        </p:nvSpPr>
        <p:spPr>
          <a:xfrm>
            <a:off x="71406" y="3371488"/>
            <a:ext cx="132938" cy="576064"/>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5" name="왼쪽 중괄호 14"/>
          <p:cNvSpPr/>
          <p:nvPr/>
        </p:nvSpPr>
        <p:spPr>
          <a:xfrm>
            <a:off x="16100" y="4509120"/>
            <a:ext cx="132938" cy="1080120"/>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 name="Text Box 39"/>
          <p:cNvSpPr txBox="1">
            <a:spLocks noChangeArrowheads="1"/>
          </p:cNvSpPr>
          <p:nvPr/>
        </p:nvSpPr>
        <p:spPr bwMode="auto">
          <a:xfrm>
            <a:off x="251520" y="692696"/>
            <a:ext cx="2794291"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process</a:t>
            </a:r>
          </a:p>
        </p:txBody>
      </p:sp>
      <p:sp>
        <p:nvSpPr>
          <p:cNvPr id="19" name="Text Box 39"/>
          <p:cNvSpPr txBox="1">
            <a:spLocks noChangeArrowheads="1"/>
          </p:cNvSpPr>
          <p:nvPr/>
        </p:nvSpPr>
        <p:spPr bwMode="auto">
          <a:xfrm>
            <a:off x="234903" y="116632"/>
            <a:ext cx="2428485"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171778620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195</a:t>
            </a:fld>
            <a:endParaRPr lang="ko-KR" altLang="en-US" dirty="0"/>
          </a:p>
        </p:txBody>
      </p:sp>
      <p:sp>
        <p:nvSpPr>
          <p:cNvPr id="3" name="TextBox 2"/>
          <p:cNvSpPr txBox="1"/>
          <p:nvPr/>
        </p:nvSpPr>
        <p:spPr>
          <a:xfrm>
            <a:off x="-34514" y="980729"/>
            <a:ext cx="9678612" cy="1772793"/>
          </a:xfrm>
          <a:prstGeom prst="rect">
            <a:avLst/>
          </a:prstGeom>
          <a:noFill/>
        </p:spPr>
        <p:txBody>
          <a:bodyPr wrap="none" rtlCol="0">
            <a:spAutoFit/>
          </a:bodyPr>
          <a:lstStyle/>
          <a:p>
            <a:pPr>
              <a:lnSpc>
                <a:spcPct val="130000"/>
              </a:lnSpc>
              <a:buClr>
                <a:srgbClr val="C5003D"/>
              </a:buClr>
            </a:pPr>
            <a:r>
              <a:rPr lang="en-US" altLang="ko-KR" sz="1400" dirty="0"/>
              <a:t>Case 3 </a:t>
            </a:r>
            <a:r>
              <a:rPr lang="en-US" altLang="ko-KR" sz="1400" dirty="0" err="1"/>
              <a:t>Hãy</a:t>
            </a:r>
            <a:r>
              <a:rPr lang="en-US" altLang="ko-KR" sz="1400" dirty="0"/>
              <a:t> </a:t>
            </a:r>
            <a:r>
              <a:rPr lang="en-US" altLang="ko-KR" sz="1400" dirty="0" err="1"/>
              <a:t>giả</a:t>
            </a:r>
            <a:r>
              <a:rPr lang="en-US" altLang="ko-KR" sz="1400" dirty="0"/>
              <a:t> </a:t>
            </a:r>
            <a:r>
              <a:rPr lang="en-US" altLang="ko-KR" sz="1400" dirty="0" err="1"/>
              <a:t>định</a:t>
            </a:r>
            <a:r>
              <a:rPr lang="en-US" altLang="ko-KR" sz="1400" dirty="0"/>
              <a:t> line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Nếu</a:t>
            </a:r>
            <a:r>
              <a:rPr lang="en-US" altLang="ko-KR" sz="1400" dirty="0"/>
              <a:t> Tack time </a:t>
            </a:r>
            <a:r>
              <a:rPr lang="en-US" altLang="ko-KR" sz="1400" dirty="0" err="1"/>
              <a:t>là</a:t>
            </a:r>
            <a:r>
              <a:rPr lang="en-US" altLang="ko-KR" sz="1400" dirty="0"/>
              <a:t> 1 </a:t>
            </a:r>
            <a:r>
              <a:rPr lang="en-US" altLang="ko-KR" sz="1400" dirty="0" err="1"/>
              <a:t>phút</a:t>
            </a:r>
            <a:r>
              <a:rPr lang="en-US" altLang="ko-KR" sz="1400" dirty="0"/>
              <a:t>, </a:t>
            </a:r>
            <a:r>
              <a:rPr lang="en-US" altLang="ko-KR" sz="1400" dirty="0" err="1"/>
              <a:t>Trong</a:t>
            </a:r>
            <a:r>
              <a:rPr lang="en-US" altLang="ko-KR" sz="1400" dirty="0"/>
              <a:t> </a:t>
            </a:r>
            <a:r>
              <a:rPr lang="en-US" altLang="ko-KR" sz="1400" dirty="0" err="1"/>
              <a:t>một</a:t>
            </a:r>
            <a:r>
              <a:rPr lang="en-US" altLang="ko-KR" sz="1400" dirty="0"/>
              <a:t> </a:t>
            </a:r>
            <a:r>
              <a:rPr lang="en-US" altLang="ko-KR" sz="1400" dirty="0" err="1"/>
              <a:t>giờ</a:t>
            </a:r>
            <a:r>
              <a:rPr lang="en-US" altLang="ko-KR" sz="1400" dirty="0"/>
              <a:t>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được</a:t>
            </a:r>
            <a:r>
              <a:rPr lang="en-US" altLang="ko-KR" sz="1400" dirty="0"/>
              <a:t> 60 </a:t>
            </a:r>
            <a:r>
              <a:rPr lang="en-US" altLang="ko-KR" sz="1400" dirty="0" err="1"/>
              <a:t>máy</a:t>
            </a:r>
            <a:r>
              <a:rPr lang="en-US" altLang="ko-KR" sz="1400" dirty="0"/>
              <a:t>,</a:t>
            </a:r>
          </a:p>
          <a:p>
            <a:pPr>
              <a:lnSpc>
                <a:spcPct val="130000"/>
              </a:lnSpc>
              <a:buClr>
                <a:srgbClr val="C5003D"/>
              </a:buClr>
            </a:pPr>
            <a:r>
              <a:rPr lang="en-US" altLang="ko-KR" sz="1400" dirty="0"/>
              <a:t>         </a:t>
            </a:r>
            <a:r>
              <a:rPr lang="en-US" altLang="ko-KR" sz="1400" dirty="0" err="1"/>
              <a:t>một</a:t>
            </a:r>
            <a:r>
              <a:rPr lang="en-US" altLang="ko-KR" sz="1400" dirty="0"/>
              <a:t> ngày1 </a:t>
            </a:r>
            <a:r>
              <a:rPr lang="en-US" altLang="ko-KR" sz="1400" dirty="0" err="1"/>
              <a:t>làm</a:t>
            </a:r>
            <a:r>
              <a:rPr lang="en-US" altLang="ko-KR" sz="1400" dirty="0"/>
              <a:t> </a:t>
            </a:r>
            <a:r>
              <a:rPr lang="en-US" altLang="ko-KR" sz="1400" dirty="0" err="1"/>
              <a:t>việc</a:t>
            </a:r>
            <a:r>
              <a:rPr lang="en-US" altLang="ko-KR" sz="1400" dirty="0"/>
              <a:t> 580 </a:t>
            </a:r>
            <a:r>
              <a:rPr lang="en-US" altLang="ko-KR" sz="1400" dirty="0" err="1"/>
              <a:t>phút</a:t>
            </a:r>
            <a:r>
              <a:rPr lang="en-US" altLang="ko-KR" sz="1400" dirty="0"/>
              <a:t> </a:t>
            </a:r>
            <a:r>
              <a:rPr lang="en-US" altLang="ko-KR" sz="1400" dirty="0" err="1"/>
              <a:t>thì</a:t>
            </a:r>
            <a:r>
              <a:rPr lang="en-US" altLang="ko-KR" sz="1400" dirty="0"/>
              <a:t> </a:t>
            </a:r>
            <a:r>
              <a:rPr lang="en-US" altLang="ko-KR" sz="1400" dirty="0" err="1"/>
              <a:t>sẽ</a:t>
            </a:r>
            <a:r>
              <a:rPr lang="en-US" altLang="ko-KR" sz="1400" dirty="0"/>
              <a:t> </a:t>
            </a:r>
            <a:r>
              <a:rPr lang="en-US" altLang="ko-KR" sz="1400" dirty="0" err="1"/>
              <a:t>sản</a:t>
            </a:r>
            <a:r>
              <a:rPr lang="en-US" altLang="ko-KR" sz="1400" dirty="0"/>
              <a:t> </a:t>
            </a:r>
            <a:r>
              <a:rPr lang="en-US" altLang="ko-KR" sz="1400" dirty="0" err="1"/>
              <a:t>xuất</a:t>
            </a:r>
            <a:r>
              <a:rPr lang="en-US" altLang="ko-KR" sz="1400" dirty="0"/>
              <a:t> </a:t>
            </a:r>
            <a:r>
              <a:rPr lang="en-US" altLang="ko-KR" sz="1400" dirty="0" err="1"/>
              <a:t>được</a:t>
            </a:r>
            <a:r>
              <a:rPr lang="en-US" altLang="ko-KR" sz="1400" dirty="0"/>
              <a:t> 580 </a:t>
            </a:r>
            <a:r>
              <a:rPr lang="en-US" altLang="ko-KR" sz="1400" dirty="0" err="1"/>
              <a:t>máy</a:t>
            </a:r>
            <a:r>
              <a:rPr lang="en-US" altLang="ko-KR" sz="1400" dirty="0"/>
              <a:t>. Theo </a:t>
            </a:r>
            <a:r>
              <a:rPr lang="en-US" altLang="ko-KR" sz="1400" dirty="0" err="1"/>
              <a:t>từng</a:t>
            </a:r>
            <a:r>
              <a:rPr lang="en-US" altLang="ko-KR" sz="1400" dirty="0"/>
              <a:t> </a:t>
            </a:r>
            <a:r>
              <a:rPr lang="en-US" altLang="ko-KR" sz="1400" dirty="0" err="1"/>
              <a:t>trường</a:t>
            </a:r>
            <a:r>
              <a:rPr lang="en-US" altLang="ko-KR" sz="1400" dirty="0"/>
              <a:t> </a:t>
            </a:r>
            <a:r>
              <a:rPr lang="en-US" altLang="ko-KR" sz="1400" dirty="0" err="1"/>
              <a:t>hợp</a:t>
            </a:r>
            <a:r>
              <a:rPr lang="en-US" altLang="ko-KR" sz="1400" dirty="0"/>
              <a:t> </a:t>
            </a:r>
            <a:r>
              <a:rPr lang="en-US" altLang="ko-KR" sz="1400" dirty="0" err="1"/>
              <a:t>có</a:t>
            </a:r>
            <a:r>
              <a:rPr lang="en-US" altLang="ko-KR" sz="1400" dirty="0"/>
              <a:t> </a:t>
            </a:r>
            <a:r>
              <a:rPr lang="en-US" altLang="ko-KR" sz="1400" dirty="0" err="1"/>
              <a:t>trường</a:t>
            </a:r>
            <a:r>
              <a:rPr lang="en-US" altLang="ko-KR" sz="1400" dirty="0"/>
              <a:t> </a:t>
            </a:r>
            <a:r>
              <a:rPr lang="en-US" altLang="ko-KR" sz="1400" dirty="0" err="1"/>
              <a:t>hợp</a:t>
            </a:r>
            <a:r>
              <a:rPr lang="en-US" altLang="ko-KR" sz="1400" dirty="0"/>
              <a:t> </a:t>
            </a:r>
          </a:p>
          <a:p>
            <a:pPr>
              <a:lnSpc>
                <a:spcPct val="130000"/>
              </a:lnSpc>
              <a:buClr>
                <a:srgbClr val="C5003D"/>
              </a:buClr>
            </a:pPr>
            <a:r>
              <a:rPr lang="en-US" altLang="ko-KR" sz="1400" dirty="0"/>
              <a:t>         </a:t>
            </a:r>
            <a:r>
              <a:rPr lang="en-US" altLang="ko-KR" sz="1400" dirty="0" err="1"/>
              <a:t>toàn</a:t>
            </a:r>
            <a:r>
              <a:rPr lang="en-US" altLang="ko-KR" sz="1400" dirty="0"/>
              <a:t> </a:t>
            </a:r>
            <a:r>
              <a:rPr lang="en-US" altLang="ko-KR" sz="1400" dirty="0" err="1"/>
              <a:t>bộ</a:t>
            </a:r>
            <a:r>
              <a:rPr lang="en-US" altLang="ko-KR" sz="1400" dirty="0"/>
              <a:t> </a:t>
            </a:r>
            <a:r>
              <a:rPr lang="en-US" altLang="ko-KR" sz="1400" dirty="0" err="1"/>
              <a:t>hệ</a:t>
            </a:r>
            <a:r>
              <a:rPr lang="en-US" altLang="ko-KR" sz="1400" dirty="0"/>
              <a:t> </a:t>
            </a:r>
            <a:r>
              <a:rPr lang="en-US" altLang="ko-KR" sz="1400" dirty="0" err="1"/>
              <a:t>thống</a:t>
            </a:r>
            <a:r>
              <a:rPr lang="en-US" altLang="ko-KR" sz="1400" dirty="0"/>
              <a:t> </a:t>
            </a:r>
            <a:r>
              <a:rPr lang="en-US" altLang="ko-KR" sz="1400" dirty="0" err="1"/>
              <a:t>kiểm</a:t>
            </a:r>
            <a:r>
              <a:rPr lang="en-US" altLang="ko-KR" sz="1400" dirty="0"/>
              <a:t> </a:t>
            </a:r>
            <a:r>
              <a:rPr lang="en-US" altLang="ko-KR" sz="1400" dirty="0" err="1"/>
              <a:t>tra</a:t>
            </a:r>
            <a:r>
              <a:rPr lang="en-US" altLang="ko-KR" sz="1400" dirty="0"/>
              <a:t> </a:t>
            </a:r>
            <a:r>
              <a:rPr lang="en-US" altLang="ko-KR" sz="1400" dirty="0" err="1"/>
              <a:t>trang</a:t>
            </a:r>
            <a:r>
              <a:rPr lang="en-US" altLang="ko-KR" sz="1400" dirty="0"/>
              <a:t> </a:t>
            </a:r>
            <a:r>
              <a:rPr lang="en-US" altLang="ko-KR" sz="1400" dirty="0" err="1"/>
              <a:t>bị</a:t>
            </a:r>
            <a:r>
              <a:rPr lang="en-US" altLang="ko-KR" sz="1400" dirty="0"/>
              <a:t> </a:t>
            </a:r>
            <a:r>
              <a:rPr lang="en-US" altLang="ko-KR" sz="1400" dirty="0" err="1"/>
              <a:t>thu</a:t>
            </a:r>
            <a:r>
              <a:rPr lang="en-US" altLang="ko-KR" sz="1400" dirty="0"/>
              <a:t> </a:t>
            </a:r>
            <a:r>
              <a:rPr lang="en-US" altLang="ko-KR" sz="1400" dirty="0" err="1"/>
              <a:t>thập</a:t>
            </a:r>
            <a:r>
              <a:rPr lang="en-US" altLang="ko-KR" sz="1400" dirty="0"/>
              <a:t> </a:t>
            </a:r>
            <a:r>
              <a:rPr lang="en-US" altLang="ko-KR" sz="1400" dirty="0" err="1"/>
              <a:t>thông</a:t>
            </a:r>
            <a:r>
              <a:rPr lang="en-US" altLang="ko-KR" sz="1400" dirty="0"/>
              <a:t> tin </a:t>
            </a:r>
            <a:r>
              <a:rPr lang="en-US" altLang="ko-KR" sz="1400" dirty="0" err="1"/>
              <a:t>của</a:t>
            </a:r>
            <a:r>
              <a:rPr lang="en-US" altLang="ko-KR" sz="1400" dirty="0"/>
              <a:t> </a:t>
            </a:r>
            <a:r>
              <a:rPr lang="en-US" altLang="ko-KR" sz="1400" dirty="0" err="1"/>
              <a:t>tất</a:t>
            </a:r>
            <a:r>
              <a:rPr lang="en-US" altLang="ko-KR" sz="1400" dirty="0"/>
              <a:t> </a:t>
            </a:r>
            <a:r>
              <a:rPr lang="en-US" altLang="ko-KR" sz="1400" dirty="0" err="1"/>
              <a:t>cả</a:t>
            </a:r>
            <a:r>
              <a:rPr lang="en-US" altLang="ko-KR" sz="1400" dirty="0"/>
              <a:t> 580 </a:t>
            </a:r>
            <a:r>
              <a:rPr lang="en-US" altLang="ko-KR" sz="1400" dirty="0" err="1"/>
              <a:t>máy</a:t>
            </a:r>
            <a:r>
              <a:rPr lang="en-US" altLang="ko-KR" sz="1400" dirty="0"/>
              <a:t>, </a:t>
            </a:r>
            <a:r>
              <a:rPr lang="en-US" altLang="ko-KR" sz="1400" dirty="0" err="1"/>
              <a:t>cũng</a:t>
            </a:r>
            <a:r>
              <a:rPr lang="en-US" altLang="ko-KR" sz="1400" dirty="0"/>
              <a:t> </a:t>
            </a:r>
            <a:r>
              <a:rPr lang="en-US" altLang="ko-KR" sz="1400" dirty="0" err="1"/>
              <a:t>có</a:t>
            </a:r>
            <a:r>
              <a:rPr lang="en-US" altLang="ko-KR" sz="1400" dirty="0"/>
              <a:t> </a:t>
            </a:r>
            <a:r>
              <a:rPr lang="en-US" altLang="ko-KR" sz="1400" dirty="0" err="1"/>
              <a:t>trường</a:t>
            </a:r>
            <a:r>
              <a:rPr lang="en-US" altLang="ko-KR" sz="1400" dirty="0"/>
              <a:t> </a:t>
            </a:r>
            <a:r>
              <a:rPr lang="en-US" altLang="ko-KR" sz="1400" dirty="0" err="1"/>
              <a:t>hợp</a:t>
            </a:r>
            <a:r>
              <a:rPr lang="en-US" altLang="ko-KR" sz="1400" dirty="0"/>
              <a:t> </a:t>
            </a:r>
            <a:r>
              <a:rPr lang="en-US" altLang="ko-KR" sz="1400" dirty="0" err="1"/>
              <a:t>trong</a:t>
            </a:r>
            <a:endParaRPr lang="en-US" altLang="ko-KR" sz="1400" dirty="0"/>
          </a:p>
          <a:p>
            <a:pPr>
              <a:lnSpc>
                <a:spcPct val="130000"/>
              </a:lnSpc>
              <a:buClr>
                <a:srgbClr val="C5003D"/>
              </a:buClr>
            </a:pPr>
            <a:r>
              <a:rPr lang="en-US" altLang="ko-KR" sz="1400" dirty="0"/>
              <a:t>         </a:t>
            </a:r>
            <a:r>
              <a:rPr lang="en-US" altLang="ko-KR" sz="1400" dirty="0" err="1"/>
              <a:t>một</a:t>
            </a:r>
            <a:r>
              <a:rPr lang="en-US" altLang="ko-KR" sz="1400" dirty="0"/>
              <a:t> </a:t>
            </a:r>
            <a:r>
              <a:rPr lang="en-US" altLang="ko-KR" sz="1400" dirty="0" err="1"/>
              <a:t>giờ</a:t>
            </a:r>
            <a:r>
              <a:rPr lang="en-US" altLang="ko-KR" sz="1400" dirty="0"/>
              <a:t> </a:t>
            </a:r>
            <a:r>
              <a:rPr lang="en-US" altLang="ko-KR" sz="1400" dirty="0" err="1"/>
              <a:t>lựa</a:t>
            </a:r>
            <a:r>
              <a:rPr lang="en-US" altLang="ko-KR" sz="1400" dirty="0"/>
              <a:t> </a:t>
            </a:r>
            <a:r>
              <a:rPr lang="en-US" altLang="ko-KR" sz="1400" dirty="0" err="1"/>
              <a:t>chọn</a:t>
            </a:r>
            <a:r>
              <a:rPr lang="en-US" altLang="ko-KR" sz="1400" dirty="0"/>
              <a:t> sample 5 </a:t>
            </a:r>
            <a:r>
              <a:rPr lang="en-US" altLang="ko-KR" sz="1400" dirty="0" err="1"/>
              <a:t>máy</a:t>
            </a:r>
            <a:r>
              <a:rPr lang="en-US" altLang="ko-KR" sz="1400" dirty="0"/>
              <a:t> </a:t>
            </a:r>
            <a:r>
              <a:rPr lang="en-US" altLang="ko-KR" sz="1400" dirty="0" err="1"/>
              <a:t>một</a:t>
            </a:r>
            <a:r>
              <a:rPr lang="en-US" altLang="ko-KR" sz="1400" dirty="0"/>
              <a:t> </a:t>
            </a:r>
            <a:r>
              <a:rPr lang="en-US" altLang="ko-KR" sz="1400" dirty="0" err="1"/>
              <a:t>và</a:t>
            </a:r>
            <a:r>
              <a:rPr lang="en-US" altLang="ko-KR" sz="1400" dirty="0"/>
              <a:t> </a:t>
            </a:r>
            <a:r>
              <a:rPr lang="en-US" altLang="ko-KR" sz="1400" dirty="0" err="1"/>
              <a:t>quản</a:t>
            </a:r>
            <a:r>
              <a:rPr lang="en-US" altLang="ko-KR" sz="1400" dirty="0"/>
              <a:t> </a:t>
            </a:r>
            <a:r>
              <a:rPr lang="en-US" altLang="ko-KR" sz="1400" dirty="0" err="1"/>
              <a:t>lý</a:t>
            </a:r>
            <a:r>
              <a:rPr lang="en-US" altLang="ko-KR" sz="1400" dirty="0"/>
              <a:t> </a:t>
            </a:r>
            <a:r>
              <a:rPr lang="en-US" altLang="ko-KR" sz="1400" dirty="0" err="1"/>
              <a:t>quá</a:t>
            </a:r>
            <a:r>
              <a:rPr lang="en-US" altLang="ko-KR" sz="1400" dirty="0"/>
              <a:t> </a:t>
            </a:r>
            <a:r>
              <a:rPr lang="en-US" altLang="ko-KR" sz="1400" dirty="0" err="1"/>
              <a:t>trình</a:t>
            </a:r>
            <a:r>
              <a:rPr lang="en-US" altLang="ko-KR" sz="1400" dirty="0"/>
              <a:t> </a:t>
            </a:r>
            <a:r>
              <a:rPr lang="en-US" altLang="ko-KR" sz="1400" dirty="0" err="1"/>
              <a:t>bằng</a:t>
            </a:r>
            <a:r>
              <a:rPr lang="en-US" altLang="ko-KR" sz="1400" dirty="0"/>
              <a:t> </a:t>
            </a:r>
            <a:r>
              <a:rPr lang="en-US" altLang="ko-KR" sz="1400" dirty="0" err="1"/>
              <a:t>đồ</a:t>
            </a:r>
            <a:r>
              <a:rPr lang="en-US" altLang="ko-KR" sz="1400" dirty="0"/>
              <a:t> </a:t>
            </a:r>
            <a:r>
              <a:rPr lang="en-US" altLang="ko-KR" sz="1400" dirty="0" err="1"/>
              <a:t>thị</a:t>
            </a:r>
            <a:r>
              <a:rPr lang="en-US" altLang="ko-KR" sz="1400" dirty="0"/>
              <a:t> </a:t>
            </a:r>
            <a:r>
              <a:rPr lang="en-US" altLang="ko-KR" sz="1400" dirty="0" err="1"/>
              <a:t>quản</a:t>
            </a:r>
            <a:r>
              <a:rPr lang="en-US" altLang="ko-KR" sz="1400" dirty="0"/>
              <a:t> </a:t>
            </a:r>
            <a:r>
              <a:rPr lang="en-US" altLang="ko-KR" sz="1400" dirty="0" err="1"/>
              <a:t>lý</a:t>
            </a:r>
            <a:r>
              <a:rPr lang="en-US" altLang="ko-KR" sz="1400" dirty="0"/>
              <a:t> </a:t>
            </a:r>
            <a:r>
              <a:rPr lang="en-US" altLang="ko-KR" sz="1400" dirty="0" err="1"/>
              <a:t>Xbar</a:t>
            </a:r>
            <a:r>
              <a:rPr lang="en-US" altLang="ko-KR" sz="1400" dirty="0"/>
              <a:t>-R. </a:t>
            </a:r>
            <a:r>
              <a:rPr lang="en-US" altLang="ko-KR" sz="1400" dirty="0" err="1"/>
              <a:t>Giả</a:t>
            </a:r>
            <a:r>
              <a:rPr lang="en-US" altLang="ko-KR" sz="1400" dirty="0"/>
              <a:t> </a:t>
            </a:r>
            <a:r>
              <a:rPr lang="en-US" altLang="ko-KR" sz="1400" dirty="0" err="1"/>
              <a:t>định</a:t>
            </a:r>
            <a:r>
              <a:rPr lang="en-US" altLang="ko-KR" sz="1400" dirty="0"/>
              <a:t> </a:t>
            </a:r>
            <a:r>
              <a:rPr lang="en-US" altLang="ko-KR" sz="1400" dirty="0" err="1"/>
              <a:t>trường</a:t>
            </a:r>
            <a:r>
              <a:rPr lang="en-US" altLang="ko-KR" sz="1400" dirty="0"/>
              <a:t> </a:t>
            </a:r>
          </a:p>
          <a:p>
            <a:pPr>
              <a:lnSpc>
                <a:spcPct val="130000"/>
              </a:lnSpc>
              <a:buClr>
                <a:srgbClr val="C5003D"/>
              </a:buClr>
            </a:pPr>
            <a:r>
              <a:rPr lang="en-US" altLang="ko-KR" sz="1400" dirty="0"/>
              <a:t>         </a:t>
            </a:r>
            <a:r>
              <a:rPr lang="en-US" altLang="ko-KR" sz="1400" dirty="0" err="1"/>
              <a:t>hợp</a:t>
            </a:r>
            <a:r>
              <a:rPr lang="en-US" altLang="ko-KR" sz="1400" dirty="0"/>
              <a:t> </a:t>
            </a:r>
            <a:r>
              <a:rPr lang="en-US" altLang="ko-KR" sz="1400" dirty="0" err="1"/>
              <a:t>quản</a:t>
            </a:r>
            <a:r>
              <a:rPr lang="en-US" altLang="ko-KR" sz="1400" dirty="0"/>
              <a:t> </a:t>
            </a:r>
            <a:r>
              <a:rPr lang="en-US" altLang="ko-KR" sz="1400" dirty="0" err="1"/>
              <a:t>lý</a:t>
            </a:r>
            <a:r>
              <a:rPr lang="en-US" altLang="ko-KR" sz="1400" dirty="0"/>
              <a:t> </a:t>
            </a:r>
            <a:r>
              <a:rPr lang="en-US" altLang="ko-KR" sz="1400" dirty="0" err="1"/>
              <a:t>bằng</a:t>
            </a:r>
            <a:r>
              <a:rPr lang="en-US" altLang="ko-KR" sz="1400" dirty="0"/>
              <a:t> </a:t>
            </a:r>
            <a:r>
              <a:rPr lang="en-US" altLang="ko-KR" sz="1400" dirty="0" err="1"/>
              <a:t>đồ</a:t>
            </a:r>
            <a:r>
              <a:rPr lang="en-US" altLang="ko-KR" sz="1400" dirty="0"/>
              <a:t> </a:t>
            </a:r>
            <a:r>
              <a:rPr lang="en-US" altLang="ko-KR" sz="1400" dirty="0" err="1"/>
              <a:t>thị</a:t>
            </a:r>
            <a:r>
              <a:rPr lang="en-US" altLang="ko-KR" sz="1400" dirty="0"/>
              <a:t> </a:t>
            </a:r>
            <a:r>
              <a:rPr lang="en-US" altLang="ko-KR" sz="1400" dirty="0" err="1"/>
              <a:t>quản</a:t>
            </a:r>
            <a:r>
              <a:rPr lang="en-US" altLang="ko-KR" sz="1400" dirty="0"/>
              <a:t> </a:t>
            </a:r>
            <a:r>
              <a:rPr lang="en-US" altLang="ko-KR" sz="1400" dirty="0" err="1"/>
              <a:t>lý</a:t>
            </a:r>
            <a:r>
              <a:rPr lang="en-US" altLang="ko-KR" sz="1400" dirty="0"/>
              <a:t> </a:t>
            </a:r>
            <a:r>
              <a:rPr lang="en-US" altLang="ko-KR" sz="1400" dirty="0" err="1"/>
              <a:t>Xbar</a:t>
            </a:r>
            <a:r>
              <a:rPr lang="en-US" altLang="ko-KR" sz="1400" dirty="0"/>
              <a:t> –R </a:t>
            </a:r>
            <a:r>
              <a:rPr lang="en-US" altLang="ko-KR" sz="1400" dirty="0" err="1"/>
              <a:t>hãy</a:t>
            </a:r>
            <a:r>
              <a:rPr lang="en-US" altLang="ko-KR" sz="1400" dirty="0"/>
              <a:t> </a:t>
            </a:r>
            <a:r>
              <a:rPr lang="en-US" altLang="ko-KR" sz="1400" dirty="0" err="1"/>
              <a:t>tính</a:t>
            </a:r>
            <a:r>
              <a:rPr lang="en-US" altLang="ko-KR" sz="1400" dirty="0"/>
              <a:t> </a:t>
            </a:r>
            <a:r>
              <a:rPr lang="en-US" altLang="ko-KR" sz="1400" dirty="0" err="1"/>
              <a:t>toán</a:t>
            </a:r>
            <a:r>
              <a:rPr lang="en-US" altLang="ko-KR" sz="1400" dirty="0"/>
              <a:t> </a:t>
            </a:r>
            <a:r>
              <a:rPr lang="en-US" altLang="ko-KR" sz="1400" dirty="0" err="1"/>
              <a:t>sự</a:t>
            </a:r>
            <a:r>
              <a:rPr lang="en-US" altLang="ko-KR" sz="1400" dirty="0"/>
              <a:t> </a:t>
            </a:r>
            <a:r>
              <a:rPr lang="en-US" altLang="ko-KR" sz="1400" dirty="0" err="1"/>
              <a:t>phân</a:t>
            </a:r>
            <a:r>
              <a:rPr lang="en-US" altLang="ko-KR" sz="1400" dirty="0"/>
              <a:t> </a:t>
            </a:r>
            <a:r>
              <a:rPr lang="en-US" altLang="ko-KR" sz="1400" dirty="0" err="1"/>
              <a:t>tán</a:t>
            </a:r>
            <a:r>
              <a:rPr lang="en-US" altLang="ko-KR" sz="1400" dirty="0"/>
              <a:t>. </a:t>
            </a:r>
            <a:r>
              <a:rPr lang="en-US" altLang="ko-KR" sz="1400" dirty="0" err="1"/>
              <a:t>Trong</a:t>
            </a:r>
            <a:r>
              <a:rPr lang="en-US" altLang="ko-KR" sz="1400" dirty="0"/>
              <a:t> </a:t>
            </a:r>
            <a:r>
              <a:rPr lang="en-US" altLang="ko-KR" sz="1400" dirty="0" err="1"/>
              <a:t>nhóm</a:t>
            </a:r>
            <a:r>
              <a:rPr lang="en-US" altLang="ko-KR" sz="1400" dirty="0"/>
              <a:t> 10 </a:t>
            </a:r>
            <a:r>
              <a:rPr lang="en-US" altLang="ko-KR" sz="1400" dirty="0" err="1"/>
              <a:t>cái</a:t>
            </a:r>
            <a:r>
              <a:rPr lang="en-US" altLang="ko-KR" sz="1400" dirty="0"/>
              <a:t> </a:t>
            </a:r>
            <a:r>
              <a:rPr lang="en-US" altLang="ko-KR" sz="1400" dirty="0" err="1"/>
              <a:t>thu</a:t>
            </a:r>
            <a:r>
              <a:rPr lang="en-US" altLang="ko-KR" sz="1400" dirty="0"/>
              <a:t> </a:t>
            </a:r>
            <a:r>
              <a:rPr lang="en-US" altLang="ko-KR" sz="1400" dirty="0" err="1"/>
              <a:t>thập</a:t>
            </a:r>
            <a:r>
              <a:rPr lang="en-US" altLang="ko-KR" sz="1400" dirty="0"/>
              <a:t> </a:t>
            </a:r>
            <a:r>
              <a:rPr lang="en-US" altLang="ko-KR" sz="1400" dirty="0" err="1"/>
              <a:t>được</a:t>
            </a:r>
            <a:r>
              <a:rPr lang="en-US" altLang="ko-KR" sz="1400" dirty="0"/>
              <a:t> </a:t>
            </a:r>
          </a:p>
          <a:p>
            <a:pPr>
              <a:lnSpc>
                <a:spcPct val="130000"/>
              </a:lnSpc>
              <a:buClr>
                <a:srgbClr val="C5003D"/>
              </a:buClr>
            </a:pPr>
            <a:r>
              <a:rPr lang="en-US" altLang="ko-KR" sz="1400" dirty="0"/>
              <a:t>         </a:t>
            </a:r>
            <a:r>
              <a:rPr lang="en-US" altLang="ko-KR" sz="1400" dirty="0" err="1"/>
              <a:t>dữ</a:t>
            </a:r>
            <a:r>
              <a:rPr lang="en-US" altLang="ko-KR" sz="1400" dirty="0"/>
              <a:t> </a:t>
            </a:r>
            <a:r>
              <a:rPr lang="en-US" altLang="ko-KR" sz="1400" dirty="0" err="1"/>
              <a:t>liệu</a:t>
            </a:r>
            <a:r>
              <a:rPr lang="en-US" altLang="ko-KR" sz="1400" dirty="0"/>
              <a:t> 5 </a:t>
            </a:r>
            <a:r>
              <a:rPr lang="en-US" altLang="ko-KR" sz="1400" dirty="0" err="1"/>
              <a:t>cái</a:t>
            </a:r>
            <a:r>
              <a:rPr lang="en-US" altLang="ko-KR" sz="1400" dirty="0"/>
              <a:t> </a:t>
            </a:r>
            <a:r>
              <a:rPr lang="en-US" altLang="ko-KR" sz="1400" dirty="0" err="1"/>
              <a:t>một</a:t>
            </a:r>
            <a:r>
              <a:rPr lang="en-US" altLang="ko-KR" sz="1400" dirty="0"/>
              <a:t> </a:t>
            </a:r>
            <a:r>
              <a:rPr lang="en-US" altLang="ko-KR" sz="1400" dirty="0" err="1"/>
              <a:t>như</a:t>
            </a:r>
            <a:r>
              <a:rPr lang="en-US" altLang="ko-KR" sz="1400" dirty="0"/>
              <a:t> </a:t>
            </a:r>
            <a:r>
              <a:rPr lang="en-US" altLang="ko-KR" sz="1400" dirty="0" err="1"/>
              <a:t>sau</a:t>
            </a:r>
            <a:r>
              <a:rPr lang="en-US" altLang="ko-KR" sz="1400" dirty="0"/>
              <a:t> .(spec 5.5 ± 0.5)            </a:t>
            </a:r>
            <a:r>
              <a:rPr lang="ko-KR" altLang="en-US" sz="1400" dirty="0"/>
              <a:t> </a:t>
            </a:r>
          </a:p>
        </p:txBody>
      </p:sp>
      <p:sp>
        <p:nvSpPr>
          <p:cNvPr id="4" name="Text Box 39"/>
          <p:cNvSpPr txBox="1">
            <a:spLocks noChangeArrowheads="1"/>
          </p:cNvSpPr>
          <p:nvPr/>
        </p:nvSpPr>
        <p:spPr bwMode="auto">
          <a:xfrm>
            <a:off x="234902" y="692696"/>
            <a:ext cx="4053417"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Tính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toán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process</a:t>
            </a:r>
          </a:p>
        </p:txBody>
      </p:sp>
      <p:graphicFrame>
        <p:nvGraphicFramePr>
          <p:cNvPr id="6" name="표 5"/>
          <p:cNvGraphicFramePr>
            <a:graphicFrameLocks noGrp="1"/>
          </p:cNvGraphicFramePr>
          <p:nvPr>
            <p:extLst>
              <p:ext uri="{D42A27DB-BD31-4B8C-83A1-F6EECF244321}">
                <p14:modId xmlns:p14="http://schemas.microsoft.com/office/powerpoint/2010/main" val="1278332459"/>
              </p:ext>
            </p:extLst>
          </p:nvPr>
        </p:nvGraphicFramePr>
        <p:xfrm>
          <a:off x="1524000" y="2780928"/>
          <a:ext cx="6096000" cy="1295400"/>
        </p:xfrm>
        <a:graphic>
          <a:graphicData uri="http://schemas.openxmlformats.org/drawingml/2006/table">
            <a:tbl>
              <a:tblPr/>
              <a:tblGrid>
                <a:gridCol w="6096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gridCol w="609600">
                  <a:extLst>
                    <a:ext uri="{9D8B030D-6E8A-4147-A177-3AD203B41FA5}">
                      <a16:colId xmlns:a16="http://schemas.microsoft.com/office/drawing/2014/main" val="20002"/>
                    </a:ext>
                  </a:extLst>
                </a:gridCol>
                <a:gridCol w="609600">
                  <a:extLst>
                    <a:ext uri="{9D8B030D-6E8A-4147-A177-3AD203B41FA5}">
                      <a16:colId xmlns:a16="http://schemas.microsoft.com/office/drawing/2014/main" val="20003"/>
                    </a:ext>
                  </a:extLst>
                </a:gridCol>
                <a:gridCol w="609600">
                  <a:extLst>
                    <a:ext uri="{9D8B030D-6E8A-4147-A177-3AD203B41FA5}">
                      <a16:colId xmlns:a16="http://schemas.microsoft.com/office/drawing/2014/main" val="20004"/>
                    </a:ext>
                  </a:extLst>
                </a:gridCol>
                <a:gridCol w="609600">
                  <a:extLst>
                    <a:ext uri="{9D8B030D-6E8A-4147-A177-3AD203B41FA5}">
                      <a16:colId xmlns:a16="http://schemas.microsoft.com/office/drawing/2014/main" val="20005"/>
                    </a:ext>
                  </a:extLst>
                </a:gridCol>
                <a:gridCol w="609600">
                  <a:extLst>
                    <a:ext uri="{9D8B030D-6E8A-4147-A177-3AD203B41FA5}">
                      <a16:colId xmlns:a16="http://schemas.microsoft.com/office/drawing/2014/main" val="20006"/>
                    </a:ext>
                  </a:extLst>
                </a:gridCol>
                <a:gridCol w="609600">
                  <a:extLst>
                    <a:ext uri="{9D8B030D-6E8A-4147-A177-3AD203B41FA5}">
                      <a16:colId xmlns:a16="http://schemas.microsoft.com/office/drawing/2014/main" val="20007"/>
                    </a:ext>
                  </a:extLst>
                </a:gridCol>
                <a:gridCol w="609600">
                  <a:extLst>
                    <a:ext uri="{9D8B030D-6E8A-4147-A177-3AD203B41FA5}">
                      <a16:colId xmlns:a16="http://schemas.microsoft.com/office/drawing/2014/main" val="20008"/>
                    </a:ext>
                  </a:extLst>
                </a:gridCol>
                <a:gridCol w="609600">
                  <a:extLst>
                    <a:ext uri="{9D8B030D-6E8A-4147-A177-3AD203B41FA5}">
                      <a16:colId xmlns:a16="http://schemas.microsoft.com/office/drawing/2014/main" val="20009"/>
                    </a:ext>
                  </a:extLst>
                </a:gridCol>
              </a:tblGrid>
              <a:tr h="215900">
                <a:tc>
                  <a:txBody>
                    <a:bodyPr/>
                    <a:lstStyle/>
                    <a:p>
                      <a:pPr algn="ctr" fontAlgn="ctr"/>
                      <a:r>
                        <a:rPr lang="en-US" altLang="ko-KR" sz="1200" b="0" i="0" u="none" strike="noStrike" dirty="0">
                          <a:solidFill>
                            <a:srgbClr val="000000"/>
                          </a:solidFill>
                          <a:effectLst/>
                          <a:latin typeface="맑은 고딕"/>
                        </a:rPr>
                        <a:t>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10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4.8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4.9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15900">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15900">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5900">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2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pic>
        <p:nvPicPr>
          <p:cNvPr id="7"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8709"/>
          <a:stretch/>
        </p:blipFill>
        <p:spPr bwMode="auto">
          <a:xfrm>
            <a:off x="1381492" y="4293096"/>
            <a:ext cx="6779830" cy="2160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TextBox 7"/>
          <p:cNvSpPr txBox="1"/>
          <p:nvPr/>
        </p:nvSpPr>
        <p:spPr>
          <a:xfrm>
            <a:off x="384458" y="4293096"/>
            <a:ext cx="845681" cy="412421"/>
          </a:xfrm>
          <a:prstGeom prst="rect">
            <a:avLst/>
          </a:prstGeom>
          <a:noFill/>
        </p:spPr>
        <p:txBody>
          <a:bodyPr wrap="none" rtlCol="0">
            <a:spAutoFit/>
          </a:bodyPr>
          <a:lstStyle/>
          <a:p>
            <a:pPr>
              <a:lnSpc>
                <a:spcPct val="130000"/>
              </a:lnSpc>
              <a:buClr>
                <a:srgbClr val="C5003D"/>
              </a:buClr>
            </a:pPr>
            <a:r>
              <a:rPr lang="en-US" altLang="ko-KR" sz="1600" b="1" dirty="0" err="1"/>
              <a:t>Xbar</a:t>
            </a:r>
            <a:r>
              <a:rPr lang="en-US" altLang="ko-KR" sz="1600" b="1" dirty="0"/>
              <a:t>-R</a:t>
            </a:r>
            <a:endParaRPr lang="ko-KR" altLang="en-US" sz="1600" b="1" dirty="0"/>
          </a:p>
        </p:txBody>
      </p:sp>
      <p:sp>
        <p:nvSpPr>
          <p:cNvPr id="9" name="TextBox 8"/>
          <p:cNvSpPr txBox="1"/>
          <p:nvPr/>
        </p:nvSpPr>
        <p:spPr>
          <a:xfrm>
            <a:off x="317989" y="2780929"/>
            <a:ext cx="712054" cy="412421"/>
          </a:xfrm>
          <a:prstGeom prst="rect">
            <a:avLst/>
          </a:prstGeom>
          <a:noFill/>
        </p:spPr>
        <p:txBody>
          <a:bodyPr wrap="none" rtlCol="0">
            <a:spAutoFit/>
          </a:bodyPr>
          <a:lstStyle/>
          <a:p>
            <a:pPr>
              <a:lnSpc>
                <a:spcPct val="130000"/>
              </a:lnSpc>
              <a:buClr>
                <a:srgbClr val="C5003D"/>
              </a:buClr>
            </a:pPr>
            <a:r>
              <a:rPr lang="en-US" altLang="ko-KR" sz="1600" b="1" dirty="0"/>
              <a:t>Data </a:t>
            </a:r>
            <a:endParaRPr lang="ko-KR" altLang="en-US" sz="1600" b="1" dirty="0"/>
          </a:p>
        </p:txBody>
      </p:sp>
      <p:sp>
        <p:nvSpPr>
          <p:cNvPr id="10" name="Text Box 39"/>
          <p:cNvSpPr txBox="1">
            <a:spLocks noChangeArrowheads="1"/>
          </p:cNvSpPr>
          <p:nvPr/>
        </p:nvSpPr>
        <p:spPr bwMode="auto">
          <a:xfrm>
            <a:off x="234902" y="116632"/>
            <a:ext cx="2790764"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sự</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353013734"/>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196</a:t>
            </a:fld>
            <a:endParaRPr lang="ko-KR" altLang="en-US" dirty="0"/>
          </a:p>
        </p:txBody>
      </p:sp>
      <p:sp>
        <p:nvSpPr>
          <p:cNvPr id="4" name="Text Box 39"/>
          <p:cNvSpPr txBox="1">
            <a:spLocks noChangeArrowheads="1"/>
          </p:cNvSpPr>
          <p:nvPr/>
        </p:nvSpPr>
        <p:spPr bwMode="auto">
          <a:xfrm>
            <a:off x="185051" y="692696"/>
            <a:ext cx="3985002"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Calculate dispersion of process</a:t>
            </a:r>
          </a:p>
        </p:txBody>
      </p:sp>
      <p:sp>
        <p:nvSpPr>
          <p:cNvPr id="6" name="TextBox 5"/>
          <p:cNvSpPr txBox="1"/>
          <p:nvPr/>
        </p:nvSpPr>
        <p:spPr>
          <a:xfrm>
            <a:off x="583865" y="1144372"/>
            <a:ext cx="4122475" cy="412421"/>
          </a:xfrm>
          <a:prstGeom prst="rect">
            <a:avLst/>
          </a:prstGeom>
          <a:noFill/>
        </p:spPr>
        <p:txBody>
          <a:bodyPr wrap="none" rtlCol="0">
            <a:spAutoFit/>
          </a:bodyPr>
          <a:lstStyle/>
          <a:p>
            <a:pPr>
              <a:lnSpc>
                <a:spcPct val="130000"/>
              </a:lnSpc>
              <a:buClr>
                <a:srgbClr val="C5003D"/>
              </a:buClr>
            </a:pPr>
            <a:r>
              <a:rPr lang="en-US" altLang="ko-KR" sz="1600" b="1" dirty="0"/>
              <a:t>Let's calculate the mean and dispersion!</a:t>
            </a:r>
            <a:endParaRPr lang="ko-KR" altLang="en-US" sz="1600" b="1" dirty="0"/>
          </a:p>
        </p:txBody>
      </p:sp>
      <p:graphicFrame>
        <p:nvGraphicFramePr>
          <p:cNvPr id="12" name="표 11"/>
          <p:cNvGraphicFramePr>
            <a:graphicFrameLocks noGrp="1"/>
          </p:cNvGraphicFramePr>
          <p:nvPr>
            <p:extLst>
              <p:ext uri="{D42A27DB-BD31-4B8C-83A1-F6EECF244321}">
                <p14:modId xmlns:p14="http://schemas.microsoft.com/office/powerpoint/2010/main" val="1992332034"/>
              </p:ext>
            </p:extLst>
          </p:nvPr>
        </p:nvGraphicFramePr>
        <p:xfrm>
          <a:off x="1115616" y="1702172"/>
          <a:ext cx="7186247" cy="2500630"/>
        </p:xfrm>
        <a:graphic>
          <a:graphicData uri="http://schemas.openxmlformats.org/drawingml/2006/table">
            <a:tbl>
              <a:tblPr/>
              <a:tblGrid>
                <a:gridCol w="609600">
                  <a:extLst>
                    <a:ext uri="{9D8B030D-6E8A-4147-A177-3AD203B41FA5}">
                      <a16:colId xmlns:a16="http://schemas.microsoft.com/office/drawing/2014/main" val="20000"/>
                    </a:ext>
                  </a:extLst>
                </a:gridCol>
                <a:gridCol w="597877">
                  <a:extLst>
                    <a:ext uri="{9D8B030D-6E8A-4147-A177-3AD203B41FA5}">
                      <a16:colId xmlns:a16="http://schemas.microsoft.com/office/drawing/2014/main" val="20001"/>
                    </a:ext>
                  </a:extLst>
                </a:gridCol>
                <a:gridCol w="597877">
                  <a:extLst>
                    <a:ext uri="{9D8B030D-6E8A-4147-A177-3AD203B41FA5}">
                      <a16:colId xmlns:a16="http://schemas.microsoft.com/office/drawing/2014/main" val="20002"/>
                    </a:ext>
                  </a:extLst>
                </a:gridCol>
                <a:gridCol w="597877">
                  <a:extLst>
                    <a:ext uri="{9D8B030D-6E8A-4147-A177-3AD203B41FA5}">
                      <a16:colId xmlns:a16="http://schemas.microsoft.com/office/drawing/2014/main" val="20003"/>
                    </a:ext>
                  </a:extLst>
                </a:gridCol>
                <a:gridCol w="597877">
                  <a:extLst>
                    <a:ext uri="{9D8B030D-6E8A-4147-A177-3AD203B41FA5}">
                      <a16:colId xmlns:a16="http://schemas.microsoft.com/office/drawing/2014/main" val="20004"/>
                    </a:ext>
                  </a:extLst>
                </a:gridCol>
                <a:gridCol w="597877">
                  <a:extLst>
                    <a:ext uri="{9D8B030D-6E8A-4147-A177-3AD203B41FA5}">
                      <a16:colId xmlns:a16="http://schemas.microsoft.com/office/drawing/2014/main" val="20005"/>
                    </a:ext>
                  </a:extLst>
                </a:gridCol>
                <a:gridCol w="597877">
                  <a:extLst>
                    <a:ext uri="{9D8B030D-6E8A-4147-A177-3AD203B41FA5}">
                      <a16:colId xmlns:a16="http://schemas.microsoft.com/office/drawing/2014/main" val="20006"/>
                    </a:ext>
                  </a:extLst>
                </a:gridCol>
                <a:gridCol w="597877">
                  <a:extLst>
                    <a:ext uri="{9D8B030D-6E8A-4147-A177-3AD203B41FA5}">
                      <a16:colId xmlns:a16="http://schemas.microsoft.com/office/drawing/2014/main" val="20007"/>
                    </a:ext>
                  </a:extLst>
                </a:gridCol>
                <a:gridCol w="597877">
                  <a:extLst>
                    <a:ext uri="{9D8B030D-6E8A-4147-A177-3AD203B41FA5}">
                      <a16:colId xmlns:a16="http://schemas.microsoft.com/office/drawing/2014/main" val="20008"/>
                    </a:ext>
                  </a:extLst>
                </a:gridCol>
                <a:gridCol w="597877">
                  <a:extLst>
                    <a:ext uri="{9D8B030D-6E8A-4147-A177-3AD203B41FA5}">
                      <a16:colId xmlns:a16="http://schemas.microsoft.com/office/drawing/2014/main" val="20009"/>
                    </a:ext>
                  </a:extLst>
                </a:gridCol>
                <a:gridCol w="597877">
                  <a:extLst>
                    <a:ext uri="{9D8B030D-6E8A-4147-A177-3AD203B41FA5}">
                      <a16:colId xmlns:a16="http://schemas.microsoft.com/office/drawing/2014/main" val="20010"/>
                    </a:ext>
                  </a:extLst>
                </a:gridCol>
                <a:gridCol w="597877">
                  <a:extLst>
                    <a:ext uri="{9D8B030D-6E8A-4147-A177-3AD203B41FA5}">
                      <a16:colId xmlns:a16="http://schemas.microsoft.com/office/drawing/2014/main" val="20011"/>
                    </a:ext>
                  </a:extLst>
                </a:gridCol>
              </a:tblGrid>
              <a:tr h="215900">
                <a:tc>
                  <a:txBody>
                    <a:bodyPr/>
                    <a:lstStyle/>
                    <a:p>
                      <a:pPr algn="l" fontAlgn="ctr"/>
                      <a:r>
                        <a:rPr lang="ko-KR" altLang="en-US" sz="1100" b="0" i="0" u="none" strike="noStrike" dirty="0">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10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0"/>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4.8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4.9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1"/>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2"/>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3"/>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4"/>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5"/>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dirty="0">
                          <a:solidFill>
                            <a:srgbClr val="000000"/>
                          </a:solidFill>
                          <a:effectLst/>
                          <a:latin typeface="맑은 고딕"/>
                        </a:rPr>
                        <a:t>Total</a:t>
                      </a:r>
                      <a:endParaRPr lang="ko-KR" altLang="en-US" sz="1100" b="0" i="0" u="none" strike="noStrike" dirty="0">
                        <a:solidFill>
                          <a:srgbClr val="000000"/>
                        </a:solidFill>
                        <a:effectLst/>
                        <a:latin typeface="맑은 고딕"/>
                      </a:endParaRPr>
                    </a:p>
                  </a:txBody>
                  <a:tcPr marL="5862" marR="5862" marT="6350" marB="0" anchor="ctr">
                    <a:lnL>
                      <a:noFill/>
                    </a:lnL>
                    <a:lnR>
                      <a:noFill/>
                    </a:lnR>
                    <a:lnT>
                      <a:noFill/>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l" fontAlgn="ctr"/>
                      <a:r>
                        <a:rPr lang="en-US" altLang="ko-KR" sz="1100" b="0" i="0" u="none" strike="noStrike" dirty="0">
                          <a:solidFill>
                            <a:srgbClr val="000000"/>
                          </a:solidFill>
                          <a:effectLst/>
                          <a:latin typeface="맑은 고딕"/>
                        </a:rPr>
                        <a:t>Mean</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5.34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5.44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5.18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5.12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5.22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5.16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l" fontAlgn="ctr"/>
                      <a:r>
                        <a:rPr lang="en-US" altLang="ko-KR" sz="1100" b="0" i="0" u="none" strike="noStrike" dirty="0">
                          <a:solidFill>
                            <a:srgbClr val="000000"/>
                          </a:solidFill>
                          <a:effectLst/>
                          <a:latin typeface="맑은 고딕"/>
                        </a:rPr>
                        <a:t>Standard deviation</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0.167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0.114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0.164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0.130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0.130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0.192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0.114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0.228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0.167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0.176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215900">
                <a:tc>
                  <a:txBody>
                    <a:bodyPr/>
                    <a:lstStyle/>
                    <a:p>
                      <a:pPr algn="l" fontAlgn="ctr"/>
                      <a:r>
                        <a:rPr lang="en-US" altLang="ko-KR" sz="1100" b="0" i="0" u="none" strike="noStrike" dirty="0">
                          <a:solidFill>
                            <a:srgbClr val="000000"/>
                          </a:solidFill>
                          <a:effectLst/>
                          <a:latin typeface="맑은 고딕"/>
                        </a:rPr>
                        <a:t>Median</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l" fontAlgn="ctr"/>
                      <a:r>
                        <a:rPr lang="en-US" altLang="ko-KR" sz="1100" b="0" i="0" u="none" strike="noStrike" dirty="0">
                          <a:solidFill>
                            <a:srgbClr val="000000"/>
                          </a:solidFill>
                          <a:effectLst/>
                          <a:latin typeface="맑은 고딕"/>
                        </a:rPr>
                        <a:t>Range</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0.5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0.6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
        <p:nvSpPr>
          <p:cNvPr id="13" name="TextBox 12"/>
          <p:cNvSpPr txBox="1"/>
          <p:nvPr/>
        </p:nvSpPr>
        <p:spPr>
          <a:xfrm>
            <a:off x="219777" y="4500571"/>
            <a:ext cx="1729448" cy="412421"/>
          </a:xfrm>
          <a:prstGeom prst="rect">
            <a:avLst/>
          </a:prstGeom>
          <a:noFill/>
        </p:spPr>
        <p:txBody>
          <a:bodyPr wrap="none" rtlCol="0">
            <a:spAutoFit/>
          </a:bodyPr>
          <a:lstStyle/>
          <a:p>
            <a:pPr>
              <a:lnSpc>
                <a:spcPct val="130000"/>
              </a:lnSpc>
              <a:buClr>
                <a:srgbClr val="C5003D"/>
              </a:buClr>
            </a:pPr>
            <a:r>
              <a:rPr lang="en-US" altLang="ko-KR" sz="1600" b="1" dirty="0"/>
              <a:t>Total variation</a:t>
            </a:r>
            <a:r>
              <a:rPr lang="ko-KR" altLang="en-US" sz="1600" b="1" dirty="0"/>
              <a:t> </a:t>
            </a:r>
            <a:r>
              <a:rPr lang="en-US" altLang="ko-KR" sz="1600" b="1" dirty="0"/>
              <a:t> </a:t>
            </a:r>
            <a:endParaRPr lang="ko-KR" altLang="en-US" sz="1600" b="1" dirty="0"/>
          </a:p>
        </p:txBody>
      </p:sp>
      <p:sp>
        <p:nvSpPr>
          <p:cNvPr id="14" name="TextBox 13"/>
          <p:cNvSpPr txBox="1"/>
          <p:nvPr/>
        </p:nvSpPr>
        <p:spPr>
          <a:xfrm>
            <a:off x="214282" y="5054004"/>
            <a:ext cx="2601803" cy="372410"/>
          </a:xfrm>
          <a:prstGeom prst="rect">
            <a:avLst/>
          </a:prstGeom>
          <a:noFill/>
        </p:spPr>
        <p:txBody>
          <a:bodyPr wrap="none" rtlCol="0">
            <a:spAutoFit/>
          </a:bodyPr>
          <a:lstStyle/>
          <a:p>
            <a:pPr>
              <a:lnSpc>
                <a:spcPct val="130000"/>
              </a:lnSpc>
              <a:buClr>
                <a:srgbClr val="C5003D"/>
              </a:buClr>
            </a:pPr>
            <a:r>
              <a:rPr lang="en-US" altLang="ko-KR" sz="1400" b="1" dirty="0"/>
              <a:t>Standard variation</a:t>
            </a:r>
            <a:r>
              <a:rPr lang="ko-KR" altLang="en-US" sz="1400" b="1" dirty="0"/>
              <a:t>  </a:t>
            </a:r>
            <a:r>
              <a:rPr lang="en-US" altLang="ko-KR" sz="1400" b="1" dirty="0"/>
              <a:t>=  0.176</a:t>
            </a:r>
            <a:endParaRPr lang="ko-KR" altLang="en-US" sz="1400" b="1" dirty="0"/>
          </a:p>
        </p:txBody>
      </p:sp>
      <p:sp>
        <p:nvSpPr>
          <p:cNvPr id="15" name="TextBox 14"/>
          <p:cNvSpPr txBox="1"/>
          <p:nvPr/>
        </p:nvSpPr>
        <p:spPr>
          <a:xfrm>
            <a:off x="214283" y="5414044"/>
            <a:ext cx="1671548" cy="372410"/>
          </a:xfrm>
          <a:prstGeom prst="rect">
            <a:avLst/>
          </a:prstGeom>
          <a:noFill/>
        </p:spPr>
        <p:txBody>
          <a:bodyPr wrap="none" rtlCol="0">
            <a:spAutoFit/>
          </a:bodyPr>
          <a:lstStyle/>
          <a:p>
            <a:pPr>
              <a:lnSpc>
                <a:spcPct val="130000"/>
              </a:lnSpc>
              <a:buClr>
                <a:srgbClr val="C5003D"/>
              </a:buClr>
            </a:pPr>
            <a:r>
              <a:rPr lang="en-US" altLang="ko-KR" sz="1400" b="1" dirty="0"/>
              <a:t>variance</a:t>
            </a:r>
            <a:r>
              <a:rPr lang="ko-KR" altLang="en-US" sz="1400" b="1" dirty="0"/>
              <a:t> </a:t>
            </a:r>
            <a:r>
              <a:rPr lang="en-US" altLang="ko-KR" sz="1400" b="1" dirty="0"/>
              <a:t>= 0.031 </a:t>
            </a:r>
            <a:endParaRPr lang="ko-KR" altLang="en-US" sz="1400" b="1" dirty="0"/>
          </a:p>
        </p:txBody>
      </p:sp>
      <p:sp>
        <p:nvSpPr>
          <p:cNvPr id="16" name="TextBox 15"/>
          <p:cNvSpPr txBox="1"/>
          <p:nvPr/>
        </p:nvSpPr>
        <p:spPr>
          <a:xfrm>
            <a:off x="3286116" y="4543551"/>
            <a:ext cx="5958747" cy="412421"/>
          </a:xfrm>
          <a:prstGeom prst="rect">
            <a:avLst/>
          </a:prstGeom>
          <a:noFill/>
        </p:spPr>
        <p:txBody>
          <a:bodyPr wrap="none" rtlCol="0">
            <a:spAutoFit/>
          </a:bodyPr>
          <a:lstStyle/>
          <a:p>
            <a:pPr>
              <a:lnSpc>
                <a:spcPct val="130000"/>
              </a:lnSpc>
              <a:buClr>
                <a:srgbClr val="C5003D"/>
              </a:buClr>
            </a:pPr>
            <a:r>
              <a:rPr lang="en-US" altLang="ko-KR" sz="1600" b="1" dirty="0"/>
              <a:t>Total variation</a:t>
            </a:r>
            <a:r>
              <a:rPr lang="ko-KR" altLang="en-US" sz="1600" b="1" dirty="0"/>
              <a:t> </a:t>
            </a:r>
            <a:r>
              <a:rPr lang="en-US" altLang="ko-KR" sz="1600" b="1" dirty="0"/>
              <a:t> =  Intra-group variation</a:t>
            </a:r>
            <a:r>
              <a:rPr lang="ko-KR" altLang="en-US" sz="1600" b="1" dirty="0"/>
              <a:t> </a:t>
            </a:r>
            <a:r>
              <a:rPr lang="en-US" altLang="ko-KR" sz="1600" b="1" dirty="0"/>
              <a:t>+ group variation</a:t>
            </a:r>
            <a:r>
              <a:rPr lang="ko-KR" altLang="en-US" sz="1600" b="1" dirty="0"/>
              <a:t> </a:t>
            </a:r>
          </a:p>
        </p:txBody>
      </p:sp>
      <p:sp>
        <p:nvSpPr>
          <p:cNvPr id="17" name="TextBox 16"/>
          <p:cNvSpPr txBox="1"/>
          <p:nvPr/>
        </p:nvSpPr>
        <p:spPr>
          <a:xfrm>
            <a:off x="3286117" y="5013177"/>
            <a:ext cx="5843331" cy="412421"/>
          </a:xfrm>
          <a:prstGeom prst="rect">
            <a:avLst/>
          </a:prstGeom>
          <a:noFill/>
        </p:spPr>
        <p:txBody>
          <a:bodyPr wrap="none" rtlCol="0">
            <a:spAutoFit/>
          </a:bodyPr>
          <a:lstStyle/>
          <a:p>
            <a:pPr>
              <a:lnSpc>
                <a:spcPct val="130000"/>
              </a:lnSpc>
              <a:buClr>
                <a:srgbClr val="C5003D"/>
              </a:buClr>
            </a:pPr>
            <a:r>
              <a:rPr lang="en-US" altLang="ko-KR" sz="1600" b="1" dirty="0"/>
              <a:t>Group variation</a:t>
            </a:r>
            <a:r>
              <a:rPr lang="ko-KR" altLang="en-US" sz="1600" b="1" dirty="0"/>
              <a:t> </a:t>
            </a:r>
            <a:r>
              <a:rPr lang="en-US" altLang="ko-KR" sz="1600" b="1" dirty="0"/>
              <a:t>= Total variation</a:t>
            </a:r>
            <a:r>
              <a:rPr lang="ko-KR" altLang="en-US" sz="1600" b="1" dirty="0"/>
              <a:t> </a:t>
            </a:r>
            <a:r>
              <a:rPr lang="en-US" altLang="ko-KR" sz="1600" b="1" dirty="0"/>
              <a:t>-  Intra-group variation</a:t>
            </a:r>
            <a:r>
              <a:rPr lang="ko-KR" altLang="en-US" sz="1600" b="1" dirty="0"/>
              <a:t> </a:t>
            </a:r>
          </a:p>
        </p:txBody>
      </p:sp>
      <p:sp>
        <p:nvSpPr>
          <p:cNvPr id="18" name="TextBox 17"/>
          <p:cNvSpPr txBox="1"/>
          <p:nvPr/>
        </p:nvSpPr>
        <p:spPr>
          <a:xfrm>
            <a:off x="3286117" y="5661249"/>
            <a:ext cx="3391762" cy="412421"/>
          </a:xfrm>
          <a:prstGeom prst="rect">
            <a:avLst/>
          </a:prstGeom>
          <a:noFill/>
        </p:spPr>
        <p:txBody>
          <a:bodyPr wrap="none" rtlCol="0">
            <a:spAutoFit/>
          </a:bodyPr>
          <a:lstStyle/>
          <a:p>
            <a:pPr>
              <a:lnSpc>
                <a:spcPct val="130000"/>
              </a:lnSpc>
              <a:buClr>
                <a:srgbClr val="C5003D"/>
              </a:buClr>
            </a:pPr>
            <a:r>
              <a:rPr lang="en-US" altLang="ko-KR" sz="1600" b="1" dirty="0"/>
              <a:t>Intra-group variation is the key!!</a:t>
            </a:r>
            <a:endParaRPr lang="ko-KR" altLang="en-US" sz="1600" b="1" dirty="0"/>
          </a:p>
        </p:txBody>
      </p:sp>
      <p:sp>
        <p:nvSpPr>
          <p:cNvPr id="19"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247001180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197</a:t>
            </a:fld>
            <a:endParaRPr lang="ko-KR" altLang="en-US" dirty="0"/>
          </a:p>
        </p:txBody>
      </p:sp>
      <p:sp>
        <p:nvSpPr>
          <p:cNvPr id="6" name="TextBox 5"/>
          <p:cNvSpPr txBox="1"/>
          <p:nvPr/>
        </p:nvSpPr>
        <p:spPr>
          <a:xfrm>
            <a:off x="1736461" y="1301230"/>
            <a:ext cx="6899709" cy="412421"/>
          </a:xfrm>
          <a:prstGeom prst="rect">
            <a:avLst/>
          </a:prstGeom>
          <a:noFill/>
        </p:spPr>
        <p:txBody>
          <a:bodyPr wrap="none" rtlCol="0">
            <a:spAutoFit/>
          </a:bodyPr>
          <a:lstStyle/>
          <a:p>
            <a:pPr>
              <a:lnSpc>
                <a:spcPct val="130000"/>
              </a:lnSpc>
              <a:buClr>
                <a:srgbClr val="C5003D"/>
              </a:buClr>
            </a:pPr>
            <a:r>
              <a:rPr lang="en-US" altLang="ko-KR" sz="1600" b="1" u="sng" dirty="0"/>
              <a:t>Finding the standard deviation for intra-group variation calculations</a:t>
            </a:r>
            <a:endParaRPr lang="ko-KR" altLang="en-US" sz="1600" b="1" u="sng" dirty="0"/>
          </a:p>
        </p:txBody>
      </p:sp>
      <p:sp>
        <p:nvSpPr>
          <p:cNvPr id="8" name="TextBox 7"/>
          <p:cNvSpPr txBox="1"/>
          <p:nvPr/>
        </p:nvSpPr>
        <p:spPr>
          <a:xfrm>
            <a:off x="849740" y="1807287"/>
            <a:ext cx="6239400" cy="372410"/>
          </a:xfrm>
          <a:prstGeom prst="rect">
            <a:avLst/>
          </a:prstGeom>
          <a:noFill/>
        </p:spPr>
        <p:txBody>
          <a:bodyPr wrap="none" rtlCol="0">
            <a:spAutoFit/>
          </a:bodyPr>
          <a:lstStyle/>
          <a:p>
            <a:pPr>
              <a:lnSpc>
                <a:spcPct val="130000"/>
              </a:lnSpc>
              <a:buClr>
                <a:srgbClr val="C5003D"/>
              </a:buClr>
            </a:pPr>
            <a:r>
              <a:rPr lang="en-US" altLang="ko-KR" sz="1400" b="1" dirty="0"/>
              <a:t>1. Adjust the mean range to the standard deviation of the population.</a:t>
            </a:r>
            <a:endParaRPr lang="ko-KR" altLang="en-US" sz="1400" b="1" dirty="0"/>
          </a:p>
        </p:txBody>
      </p:sp>
      <p:graphicFrame>
        <p:nvGraphicFramePr>
          <p:cNvPr id="14" name="개체 13"/>
          <p:cNvGraphicFramePr>
            <a:graphicFrameLocks noChangeAspect="1"/>
          </p:cNvGraphicFramePr>
          <p:nvPr>
            <p:extLst>
              <p:ext uri="{D42A27DB-BD31-4B8C-83A1-F6EECF244321}">
                <p14:modId xmlns:p14="http://schemas.microsoft.com/office/powerpoint/2010/main" val="3775579422"/>
              </p:ext>
            </p:extLst>
          </p:nvPr>
        </p:nvGraphicFramePr>
        <p:xfrm>
          <a:off x="7528276" y="1733279"/>
          <a:ext cx="633046" cy="650875"/>
        </p:xfrm>
        <a:graphic>
          <a:graphicData uri="http://schemas.openxmlformats.org/presentationml/2006/ole">
            <mc:AlternateContent xmlns:mc="http://schemas.openxmlformats.org/markup-compatibility/2006">
              <mc:Choice xmlns:v="urn:schemas-microsoft-com:vml" Requires="v">
                <p:oleObj name="수식" r:id="rId2" imgW="507960" imgH="482400" progId="Equation.3">
                  <p:embed/>
                </p:oleObj>
              </mc:Choice>
              <mc:Fallback>
                <p:oleObj name="수식" r:id="rId2" imgW="507960" imgH="482400" progId="Equation.3">
                  <p:embed/>
                  <p:pic>
                    <p:nvPicPr>
                      <p:cNvPr id="14" name="개체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28276" y="1733279"/>
                        <a:ext cx="633046" cy="650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TextBox 14"/>
          <p:cNvSpPr txBox="1"/>
          <p:nvPr/>
        </p:nvSpPr>
        <p:spPr>
          <a:xfrm>
            <a:off x="849741" y="3461470"/>
            <a:ext cx="5149487" cy="372410"/>
          </a:xfrm>
          <a:prstGeom prst="rect">
            <a:avLst/>
          </a:prstGeom>
          <a:noFill/>
        </p:spPr>
        <p:txBody>
          <a:bodyPr wrap="none" rtlCol="0">
            <a:spAutoFit/>
          </a:bodyPr>
          <a:lstStyle/>
          <a:p>
            <a:pPr>
              <a:lnSpc>
                <a:spcPct val="130000"/>
              </a:lnSpc>
              <a:buClr>
                <a:srgbClr val="C5003D"/>
              </a:buClr>
            </a:pPr>
            <a:r>
              <a:rPr lang="en-US" altLang="ko-KR" sz="1400" b="1" dirty="0"/>
              <a:t>2. Use the mean of the standard deviation of each group.</a:t>
            </a:r>
            <a:endParaRPr lang="ko-KR" altLang="en-US" sz="1400" b="1" dirty="0"/>
          </a:p>
        </p:txBody>
      </p:sp>
      <p:graphicFrame>
        <p:nvGraphicFramePr>
          <p:cNvPr id="16" name="개체 15"/>
          <p:cNvGraphicFramePr>
            <a:graphicFrameLocks noChangeAspect="1"/>
          </p:cNvGraphicFramePr>
          <p:nvPr>
            <p:extLst>
              <p:ext uri="{D42A27DB-BD31-4B8C-83A1-F6EECF244321}">
                <p14:modId xmlns:p14="http://schemas.microsoft.com/office/powerpoint/2010/main" val="2495470583"/>
              </p:ext>
            </p:extLst>
          </p:nvPr>
        </p:nvGraphicFramePr>
        <p:xfrm>
          <a:off x="7688529" y="3533478"/>
          <a:ext cx="539262" cy="239712"/>
        </p:xfrm>
        <a:graphic>
          <a:graphicData uri="http://schemas.openxmlformats.org/presentationml/2006/ole">
            <mc:AlternateContent xmlns:mc="http://schemas.openxmlformats.org/markup-compatibility/2006">
              <mc:Choice xmlns:v="urn:schemas-microsoft-com:vml" Requires="v">
                <p:oleObj name="수식" r:id="rId4" imgW="431640" imgH="177480" progId="Equation.3">
                  <p:embed/>
                </p:oleObj>
              </mc:Choice>
              <mc:Fallback>
                <p:oleObj name="수식" r:id="rId4" imgW="431640" imgH="177480" progId="Equation.3">
                  <p:embed/>
                  <p:pic>
                    <p:nvPicPr>
                      <p:cNvPr id="16" name="개체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88529" y="3533478"/>
                        <a:ext cx="539262" cy="2397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TextBox 16"/>
          <p:cNvSpPr txBox="1"/>
          <p:nvPr/>
        </p:nvSpPr>
        <p:spPr>
          <a:xfrm>
            <a:off x="849741" y="4357694"/>
            <a:ext cx="4447630" cy="652486"/>
          </a:xfrm>
          <a:prstGeom prst="rect">
            <a:avLst/>
          </a:prstGeom>
          <a:noFill/>
        </p:spPr>
        <p:txBody>
          <a:bodyPr wrap="square" rtlCol="0">
            <a:spAutoFit/>
          </a:bodyPr>
          <a:lstStyle/>
          <a:p>
            <a:pPr>
              <a:lnSpc>
                <a:spcPct val="130000"/>
              </a:lnSpc>
              <a:buClr>
                <a:srgbClr val="C5003D"/>
              </a:buClr>
            </a:pPr>
            <a:r>
              <a:rPr lang="en-US" altLang="ko-KR" sz="1400" b="1" dirty="0"/>
              <a:t>3. Obtain the joint standard deviation and use it as the standard deviation of the population.</a:t>
            </a:r>
            <a:endParaRPr lang="ko-KR" altLang="en-US" sz="1400" b="1" dirty="0"/>
          </a:p>
        </p:txBody>
      </p:sp>
      <p:graphicFrame>
        <p:nvGraphicFramePr>
          <p:cNvPr id="18" name="개체 17"/>
          <p:cNvGraphicFramePr>
            <a:graphicFrameLocks noChangeAspect="1"/>
          </p:cNvGraphicFramePr>
          <p:nvPr>
            <p:extLst>
              <p:ext uri="{D42A27DB-BD31-4B8C-83A1-F6EECF244321}">
                <p14:modId xmlns:p14="http://schemas.microsoft.com/office/powerpoint/2010/main" val="1046527170"/>
              </p:ext>
            </p:extLst>
          </p:nvPr>
        </p:nvGraphicFramePr>
        <p:xfrm>
          <a:off x="5323329" y="4528781"/>
          <a:ext cx="3635620" cy="650875"/>
        </p:xfrm>
        <a:graphic>
          <a:graphicData uri="http://schemas.openxmlformats.org/presentationml/2006/ole">
            <mc:AlternateContent xmlns:mc="http://schemas.openxmlformats.org/markup-compatibility/2006">
              <mc:Choice xmlns:v="urn:schemas-microsoft-com:vml" Requires="v">
                <p:oleObj name="수식" r:id="rId6" imgW="2946240" imgH="507960" progId="Equation.3">
                  <p:embed/>
                </p:oleObj>
              </mc:Choice>
              <mc:Fallback>
                <p:oleObj name="수식" r:id="rId6" imgW="2946240" imgH="507960" progId="Equation.3">
                  <p:embed/>
                  <p:pic>
                    <p:nvPicPr>
                      <p:cNvPr id="18" name="개체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23329" y="4528781"/>
                        <a:ext cx="3635620" cy="650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 name="TextBox 20"/>
          <p:cNvSpPr txBox="1"/>
          <p:nvPr/>
        </p:nvSpPr>
        <p:spPr>
          <a:xfrm>
            <a:off x="1115617" y="2165326"/>
            <a:ext cx="5545877" cy="372410"/>
          </a:xfrm>
          <a:prstGeom prst="rect">
            <a:avLst/>
          </a:prstGeom>
          <a:noFill/>
        </p:spPr>
        <p:txBody>
          <a:bodyPr wrap="none" rtlCol="0">
            <a:spAutoFit/>
          </a:bodyPr>
          <a:lstStyle/>
          <a:p>
            <a:pPr>
              <a:lnSpc>
                <a:spcPct val="130000"/>
              </a:lnSpc>
              <a:buClr>
                <a:srgbClr val="C5003D"/>
              </a:buClr>
            </a:pPr>
            <a:r>
              <a:rPr lang="en-US" sz="1400" dirty="0"/>
              <a:t>It is usually used when </a:t>
            </a:r>
            <a:r>
              <a:rPr lang="en-US" sz="1400" dirty="0" err="1"/>
              <a:t>subgrouping</a:t>
            </a:r>
            <a:r>
              <a:rPr lang="en-US" sz="1400" dirty="0"/>
              <a:t> is performed on stable lines.</a:t>
            </a:r>
            <a:endParaRPr lang="ko-KR" altLang="en-US" sz="1400" dirty="0"/>
          </a:p>
        </p:txBody>
      </p:sp>
      <p:sp>
        <p:nvSpPr>
          <p:cNvPr id="22" name="TextBox 21"/>
          <p:cNvSpPr txBox="1"/>
          <p:nvPr/>
        </p:nvSpPr>
        <p:spPr>
          <a:xfrm>
            <a:off x="1115616" y="5019902"/>
            <a:ext cx="4689874" cy="372410"/>
          </a:xfrm>
          <a:prstGeom prst="rect">
            <a:avLst/>
          </a:prstGeom>
          <a:noFill/>
        </p:spPr>
        <p:txBody>
          <a:bodyPr wrap="none" rtlCol="0">
            <a:spAutoFit/>
          </a:bodyPr>
          <a:lstStyle/>
          <a:p>
            <a:pPr>
              <a:lnSpc>
                <a:spcPct val="130000"/>
              </a:lnSpc>
              <a:buClr>
                <a:srgbClr val="C5003D"/>
              </a:buClr>
            </a:pPr>
            <a:r>
              <a:rPr lang="en-US" sz="1400" dirty="0"/>
              <a:t>This is generally used when </a:t>
            </a:r>
            <a:r>
              <a:rPr lang="en-US" sz="1400" dirty="0" err="1"/>
              <a:t>subgrouping</a:t>
            </a:r>
            <a:r>
              <a:rPr lang="en-US" sz="1400" dirty="0"/>
              <a:t> is performed.</a:t>
            </a:r>
            <a:endParaRPr lang="ko-KR" altLang="en-US" sz="1400" dirty="0"/>
          </a:p>
        </p:txBody>
      </p:sp>
      <p:sp>
        <p:nvSpPr>
          <p:cNvPr id="20" name="TextBox 19"/>
          <p:cNvSpPr txBox="1"/>
          <p:nvPr/>
        </p:nvSpPr>
        <p:spPr>
          <a:xfrm>
            <a:off x="1115616" y="2453358"/>
            <a:ext cx="1983235" cy="372410"/>
          </a:xfrm>
          <a:prstGeom prst="rect">
            <a:avLst/>
          </a:prstGeom>
          <a:noFill/>
        </p:spPr>
        <p:txBody>
          <a:bodyPr wrap="none" rtlCol="0">
            <a:spAutoFit/>
          </a:bodyPr>
          <a:lstStyle/>
          <a:p>
            <a:pPr>
              <a:lnSpc>
                <a:spcPct val="130000"/>
              </a:lnSpc>
              <a:buClr>
                <a:srgbClr val="C5003D"/>
              </a:buClr>
            </a:pPr>
            <a:r>
              <a:rPr lang="en-US" altLang="ko-KR" sz="1400" dirty="0"/>
              <a:t>Mean range=  0.390  </a:t>
            </a:r>
            <a:endParaRPr lang="ko-KR" altLang="en-US" sz="1400" dirty="0"/>
          </a:p>
        </p:txBody>
      </p:sp>
      <p:sp>
        <p:nvSpPr>
          <p:cNvPr id="23" name="TextBox 22"/>
          <p:cNvSpPr txBox="1"/>
          <p:nvPr/>
        </p:nvSpPr>
        <p:spPr>
          <a:xfrm>
            <a:off x="1115617" y="2741390"/>
            <a:ext cx="3817392" cy="372410"/>
          </a:xfrm>
          <a:prstGeom prst="rect">
            <a:avLst/>
          </a:prstGeom>
          <a:noFill/>
        </p:spPr>
        <p:txBody>
          <a:bodyPr wrap="none" rtlCol="0">
            <a:spAutoFit/>
          </a:bodyPr>
          <a:lstStyle/>
          <a:p>
            <a:pPr>
              <a:lnSpc>
                <a:spcPct val="130000"/>
              </a:lnSpc>
              <a:buClr>
                <a:srgbClr val="C5003D"/>
              </a:buClr>
            </a:pPr>
            <a:r>
              <a:rPr lang="en-US" altLang="ko-KR" sz="1400" dirty="0"/>
              <a:t>When the size of the group is 5 d2  = 2.326</a:t>
            </a:r>
            <a:endParaRPr lang="ko-KR" altLang="en-US" sz="1400" dirty="0"/>
          </a:p>
        </p:txBody>
      </p:sp>
      <p:sp>
        <p:nvSpPr>
          <p:cNvPr id="24" name="TextBox 23"/>
          <p:cNvSpPr txBox="1"/>
          <p:nvPr/>
        </p:nvSpPr>
        <p:spPr>
          <a:xfrm>
            <a:off x="1115616" y="3029422"/>
            <a:ext cx="2540311" cy="372410"/>
          </a:xfrm>
          <a:prstGeom prst="rect">
            <a:avLst/>
          </a:prstGeom>
          <a:noFill/>
        </p:spPr>
        <p:txBody>
          <a:bodyPr wrap="none" rtlCol="0">
            <a:spAutoFit/>
          </a:bodyPr>
          <a:lstStyle/>
          <a:p>
            <a:pPr>
              <a:lnSpc>
                <a:spcPct val="130000"/>
              </a:lnSpc>
              <a:buClr>
                <a:srgbClr val="C5003D"/>
              </a:buClr>
            </a:pPr>
            <a:r>
              <a:rPr lang="en-US" altLang="ko-KR" sz="1400" dirty="0"/>
              <a:t>Standard deviation</a:t>
            </a:r>
            <a:r>
              <a:rPr lang="ko-KR" altLang="en-US" sz="1400" dirty="0"/>
              <a:t>   </a:t>
            </a:r>
            <a:r>
              <a:rPr lang="en-US" altLang="ko-KR" sz="1400" dirty="0"/>
              <a:t>0.16767</a:t>
            </a:r>
            <a:endParaRPr lang="ko-KR" altLang="en-US" sz="1400" dirty="0"/>
          </a:p>
        </p:txBody>
      </p:sp>
      <p:sp>
        <p:nvSpPr>
          <p:cNvPr id="25" name="TextBox 24"/>
          <p:cNvSpPr txBox="1"/>
          <p:nvPr/>
        </p:nvSpPr>
        <p:spPr>
          <a:xfrm>
            <a:off x="1115616" y="3893518"/>
            <a:ext cx="4515339" cy="372410"/>
          </a:xfrm>
          <a:prstGeom prst="rect">
            <a:avLst/>
          </a:prstGeom>
          <a:noFill/>
        </p:spPr>
        <p:txBody>
          <a:bodyPr wrap="none" rtlCol="0">
            <a:spAutoFit/>
          </a:bodyPr>
          <a:lstStyle/>
          <a:p>
            <a:pPr>
              <a:lnSpc>
                <a:spcPct val="130000"/>
              </a:lnSpc>
              <a:buClr>
                <a:srgbClr val="C5003D"/>
              </a:buClr>
            </a:pPr>
            <a:r>
              <a:rPr lang="en-US" sz="1400" dirty="0"/>
              <a:t>The mean standard deviation of each group   </a:t>
            </a:r>
            <a:r>
              <a:rPr lang="en-US" altLang="ko-KR" sz="1400" dirty="0">
                <a:sym typeface="Wingdings" panose="05000000000000000000" pitchFamily="2" charset="2"/>
              </a:rPr>
              <a:t>0.1559</a:t>
            </a:r>
            <a:endParaRPr lang="ko-KR" altLang="en-US" sz="1400" dirty="0"/>
          </a:p>
        </p:txBody>
      </p:sp>
      <p:graphicFrame>
        <p:nvGraphicFramePr>
          <p:cNvPr id="26" name="개체 25"/>
          <p:cNvGraphicFramePr>
            <a:graphicFrameLocks noChangeAspect="1"/>
          </p:cNvGraphicFramePr>
          <p:nvPr>
            <p:extLst>
              <p:ext uri="{D42A27DB-BD31-4B8C-83A1-F6EECF244321}">
                <p14:modId xmlns:p14="http://schemas.microsoft.com/office/powerpoint/2010/main" val="1770360836"/>
              </p:ext>
            </p:extLst>
          </p:nvPr>
        </p:nvGraphicFramePr>
        <p:xfrm>
          <a:off x="1248554" y="5441385"/>
          <a:ext cx="3446585" cy="619125"/>
        </p:xfrm>
        <a:graphic>
          <a:graphicData uri="http://schemas.openxmlformats.org/presentationml/2006/ole">
            <mc:AlternateContent xmlns:mc="http://schemas.openxmlformats.org/markup-compatibility/2006">
              <mc:Choice xmlns:v="urn:schemas-microsoft-com:vml" Requires="v">
                <p:oleObj name="수식" r:id="rId8" imgW="2793960" imgH="482400" progId="Equation.3">
                  <p:embed/>
                </p:oleObj>
              </mc:Choice>
              <mc:Fallback>
                <p:oleObj name="수식" r:id="rId8" imgW="2793960" imgH="482400" progId="Equation.3">
                  <p:embed/>
                  <p:pic>
                    <p:nvPicPr>
                      <p:cNvPr id="26" name="개체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48554" y="5441385"/>
                        <a:ext cx="3446585" cy="619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7" name="TextBox 26"/>
          <p:cNvSpPr txBox="1"/>
          <p:nvPr/>
        </p:nvSpPr>
        <p:spPr>
          <a:xfrm>
            <a:off x="1182085" y="6056986"/>
            <a:ext cx="2748509" cy="372410"/>
          </a:xfrm>
          <a:prstGeom prst="rect">
            <a:avLst/>
          </a:prstGeom>
          <a:noFill/>
        </p:spPr>
        <p:txBody>
          <a:bodyPr wrap="none" rtlCol="0">
            <a:spAutoFit/>
          </a:bodyPr>
          <a:lstStyle/>
          <a:p>
            <a:pPr>
              <a:lnSpc>
                <a:spcPct val="130000"/>
              </a:lnSpc>
              <a:buClr>
                <a:srgbClr val="C5003D"/>
              </a:buClr>
            </a:pPr>
            <a:r>
              <a:rPr lang="en-US" altLang="ko-KR" sz="1400" dirty="0"/>
              <a:t>Joint standard deviation 0.1597</a:t>
            </a:r>
            <a:endParaRPr lang="ko-KR" altLang="en-US" sz="1400" dirty="0"/>
          </a:p>
        </p:txBody>
      </p:sp>
      <p:sp>
        <p:nvSpPr>
          <p:cNvPr id="28" name="Text Box 39"/>
          <p:cNvSpPr txBox="1">
            <a:spLocks noChangeArrowheads="1"/>
          </p:cNvSpPr>
          <p:nvPr/>
        </p:nvSpPr>
        <p:spPr bwMode="auto">
          <a:xfrm>
            <a:off x="251520" y="692696"/>
            <a:ext cx="3985002"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Calculate dispersion of process</a:t>
            </a:r>
          </a:p>
        </p:txBody>
      </p:sp>
      <p:sp>
        <p:nvSpPr>
          <p:cNvPr id="19" name="Text Box 39"/>
          <p:cNvSpPr txBox="1">
            <a:spLocks noChangeArrowheads="1"/>
          </p:cNvSpPr>
          <p:nvPr/>
        </p:nvSpPr>
        <p:spPr bwMode="auto">
          <a:xfrm>
            <a:off x="234902" y="116632"/>
            <a:ext cx="4160434"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Understanding of the dispersion</a:t>
            </a:r>
          </a:p>
        </p:txBody>
      </p:sp>
    </p:spTree>
    <p:extLst>
      <p:ext uri="{BB962C8B-B14F-4D97-AF65-F5344CB8AC3E}">
        <p14:creationId xmlns:p14="http://schemas.microsoft.com/office/powerpoint/2010/main" val="3572159181"/>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198</a:t>
            </a:fld>
            <a:endParaRPr lang="ko-KR" altLang="en-US" dirty="0"/>
          </a:p>
        </p:txBody>
      </p:sp>
      <p:sp>
        <p:nvSpPr>
          <p:cNvPr id="4" name="Text Box 39"/>
          <p:cNvSpPr txBox="1">
            <a:spLocks noChangeArrowheads="1"/>
          </p:cNvSpPr>
          <p:nvPr/>
        </p:nvSpPr>
        <p:spPr bwMode="auto">
          <a:xfrm>
            <a:off x="185052" y="692696"/>
            <a:ext cx="4053417"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Tính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toán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process</a:t>
            </a:r>
          </a:p>
        </p:txBody>
      </p:sp>
      <p:sp>
        <p:nvSpPr>
          <p:cNvPr id="6" name="TextBox 5"/>
          <p:cNvSpPr txBox="1"/>
          <p:nvPr/>
        </p:nvSpPr>
        <p:spPr>
          <a:xfrm>
            <a:off x="583865" y="1144372"/>
            <a:ext cx="4056047" cy="412421"/>
          </a:xfrm>
          <a:prstGeom prst="rect">
            <a:avLst/>
          </a:prstGeom>
          <a:noFill/>
        </p:spPr>
        <p:txBody>
          <a:bodyPr wrap="none" rtlCol="0">
            <a:spAutoFit/>
          </a:bodyPr>
          <a:lstStyle/>
          <a:p>
            <a:pPr>
              <a:lnSpc>
                <a:spcPct val="130000"/>
              </a:lnSpc>
              <a:buClr>
                <a:srgbClr val="C5003D"/>
              </a:buClr>
            </a:pPr>
            <a:r>
              <a:rPr lang="en-US" altLang="ko-KR" sz="1600" b="1" dirty="0" err="1"/>
              <a:t>Hãy</a:t>
            </a:r>
            <a:r>
              <a:rPr lang="en-US" altLang="ko-KR" sz="1600" b="1" dirty="0"/>
              <a:t> </a:t>
            </a: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bình</a:t>
            </a:r>
            <a:r>
              <a:rPr lang="en-US" altLang="ko-KR" sz="1600" b="1" dirty="0"/>
              <a:t> </a:t>
            </a:r>
            <a:r>
              <a:rPr lang="en-US" altLang="ko-KR" sz="1600" b="1" dirty="0" err="1"/>
              <a:t>quân</a:t>
            </a:r>
            <a:r>
              <a:rPr lang="en-US" altLang="ko-KR" sz="1600" b="1" dirty="0"/>
              <a:t> </a:t>
            </a:r>
            <a:r>
              <a:rPr lang="en-US" altLang="ko-KR" sz="1600" b="1" dirty="0" err="1"/>
              <a:t>và</a:t>
            </a:r>
            <a:r>
              <a:rPr lang="en-US" altLang="ko-KR" sz="1600" b="1" dirty="0"/>
              <a:t> </a:t>
            </a:r>
            <a:r>
              <a:rPr lang="en-US" altLang="ko-KR" sz="1600" b="1" dirty="0" err="1"/>
              <a:t>phân</a:t>
            </a:r>
            <a:r>
              <a:rPr lang="en-US" altLang="ko-KR" sz="1600" b="1" dirty="0"/>
              <a:t> </a:t>
            </a:r>
            <a:r>
              <a:rPr lang="en-US" altLang="ko-KR" sz="1600" b="1" dirty="0" err="1"/>
              <a:t>tán</a:t>
            </a:r>
            <a:r>
              <a:rPr lang="en-US" altLang="ko-KR" sz="1600" b="1" dirty="0"/>
              <a:t> ! </a:t>
            </a:r>
            <a:endParaRPr lang="ko-KR" altLang="en-US" sz="1600" b="1" dirty="0"/>
          </a:p>
        </p:txBody>
      </p:sp>
      <p:graphicFrame>
        <p:nvGraphicFramePr>
          <p:cNvPr id="12" name="표 11"/>
          <p:cNvGraphicFramePr>
            <a:graphicFrameLocks noGrp="1"/>
          </p:cNvGraphicFramePr>
          <p:nvPr>
            <p:extLst>
              <p:ext uri="{D42A27DB-BD31-4B8C-83A1-F6EECF244321}">
                <p14:modId xmlns:p14="http://schemas.microsoft.com/office/powerpoint/2010/main" val="1992332034"/>
              </p:ext>
            </p:extLst>
          </p:nvPr>
        </p:nvGraphicFramePr>
        <p:xfrm>
          <a:off x="1115616" y="1702172"/>
          <a:ext cx="7186247" cy="2626360"/>
        </p:xfrm>
        <a:graphic>
          <a:graphicData uri="http://schemas.openxmlformats.org/drawingml/2006/table">
            <a:tbl>
              <a:tblPr/>
              <a:tblGrid>
                <a:gridCol w="731158">
                  <a:extLst>
                    <a:ext uri="{9D8B030D-6E8A-4147-A177-3AD203B41FA5}">
                      <a16:colId xmlns:a16="http://schemas.microsoft.com/office/drawing/2014/main" val="20000"/>
                    </a:ext>
                  </a:extLst>
                </a:gridCol>
                <a:gridCol w="476319">
                  <a:extLst>
                    <a:ext uri="{9D8B030D-6E8A-4147-A177-3AD203B41FA5}">
                      <a16:colId xmlns:a16="http://schemas.microsoft.com/office/drawing/2014/main" val="20001"/>
                    </a:ext>
                  </a:extLst>
                </a:gridCol>
                <a:gridCol w="597877">
                  <a:extLst>
                    <a:ext uri="{9D8B030D-6E8A-4147-A177-3AD203B41FA5}">
                      <a16:colId xmlns:a16="http://schemas.microsoft.com/office/drawing/2014/main" val="20002"/>
                    </a:ext>
                  </a:extLst>
                </a:gridCol>
                <a:gridCol w="597877">
                  <a:extLst>
                    <a:ext uri="{9D8B030D-6E8A-4147-A177-3AD203B41FA5}">
                      <a16:colId xmlns:a16="http://schemas.microsoft.com/office/drawing/2014/main" val="20003"/>
                    </a:ext>
                  </a:extLst>
                </a:gridCol>
                <a:gridCol w="597877">
                  <a:extLst>
                    <a:ext uri="{9D8B030D-6E8A-4147-A177-3AD203B41FA5}">
                      <a16:colId xmlns:a16="http://schemas.microsoft.com/office/drawing/2014/main" val="20004"/>
                    </a:ext>
                  </a:extLst>
                </a:gridCol>
                <a:gridCol w="597877">
                  <a:extLst>
                    <a:ext uri="{9D8B030D-6E8A-4147-A177-3AD203B41FA5}">
                      <a16:colId xmlns:a16="http://schemas.microsoft.com/office/drawing/2014/main" val="20005"/>
                    </a:ext>
                  </a:extLst>
                </a:gridCol>
                <a:gridCol w="597877">
                  <a:extLst>
                    <a:ext uri="{9D8B030D-6E8A-4147-A177-3AD203B41FA5}">
                      <a16:colId xmlns:a16="http://schemas.microsoft.com/office/drawing/2014/main" val="20006"/>
                    </a:ext>
                  </a:extLst>
                </a:gridCol>
                <a:gridCol w="597877">
                  <a:extLst>
                    <a:ext uri="{9D8B030D-6E8A-4147-A177-3AD203B41FA5}">
                      <a16:colId xmlns:a16="http://schemas.microsoft.com/office/drawing/2014/main" val="20007"/>
                    </a:ext>
                  </a:extLst>
                </a:gridCol>
                <a:gridCol w="597877">
                  <a:extLst>
                    <a:ext uri="{9D8B030D-6E8A-4147-A177-3AD203B41FA5}">
                      <a16:colId xmlns:a16="http://schemas.microsoft.com/office/drawing/2014/main" val="20008"/>
                    </a:ext>
                  </a:extLst>
                </a:gridCol>
                <a:gridCol w="597877">
                  <a:extLst>
                    <a:ext uri="{9D8B030D-6E8A-4147-A177-3AD203B41FA5}">
                      <a16:colId xmlns:a16="http://schemas.microsoft.com/office/drawing/2014/main" val="20009"/>
                    </a:ext>
                  </a:extLst>
                </a:gridCol>
                <a:gridCol w="597877">
                  <a:extLst>
                    <a:ext uri="{9D8B030D-6E8A-4147-A177-3AD203B41FA5}">
                      <a16:colId xmlns:a16="http://schemas.microsoft.com/office/drawing/2014/main" val="20010"/>
                    </a:ext>
                  </a:extLst>
                </a:gridCol>
                <a:gridCol w="597877">
                  <a:extLst>
                    <a:ext uri="{9D8B030D-6E8A-4147-A177-3AD203B41FA5}">
                      <a16:colId xmlns:a16="http://schemas.microsoft.com/office/drawing/2014/main" val="20011"/>
                    </a:ext>
                  </a:extLst>
                </a:gridCol>
              </a:tblGrid>
              <a:tr h="215900">
                <a:tc>
                  <a:txBody>
                    <a:bodyPr/>
                    <a:lstStyle/>
                    <a:p>
                      <a:pPr algn="l" fontAlgn="ctr"/>
                      <a:r>
                        <a:rPr lang="ko-KR" altLang="en-US" sz="1100" b="0" i="0" u="none" strike="noStrike" dirty="0">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10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0"/>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4.8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4.9</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1"/>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5.5</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2"/>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3"/>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4"/>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5.1</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val="10005"/>
                  </a:ext>
                </a:extLst>
              </a:tr>
              <a:tr h="215900">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ko-KR" altLang="en-US" sz="1100" b="0" i="0" u="none" strike="noStrike">
                          <a:solidFill>
                            <a:srgbClr val="000000"/>
                          </a:solidFill>
                          <a:effectLst/>
                          <a:latin typeface="맑은 고딕"/>
                        </a:rPr>
                        <a:t>　</a:t>
                      </a:r>
                    </a:p>
                  </a:txBody>
                  <a:tcPr marL="5862" marR="5862" marT="635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ko-KR" sz="1100" b="0" i="0" u="none" strike="noStrike" dirty="0" err="1">
                          <a:solidFill>
                            <a:srgbClr val="000000"/>
                          </a:solidFill>
                          <a:effectLst/>
                          <a:latin typeface="맑은 고딕"/>
                        </a:rPr>
                        <a:t>Tổng</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thể</a:t>
                      </a:r>
                      <a:endParaRPr lang="ko-KR" altLang="en-US" sz="1100" b="0" i="0" u="none" strike="noStrike" dirty="0">
                        <a:solidFill>
                          <a:srgbClr val="000000"/>
                        </a:solidFill>
                        <a:effectLst/>
                        <a:latin typeface="맑은 고딕"/>
                      </a:endParaRPr>
                    </a:p>
                  </a:txBody>
                  <a:tcPr marL="5862" marR="5862" marT="6350" marB="0" anchor="ctr">
                    <a:lnL>
                      <a:noFill/>
                    </a:lnL>
                    <a:lnR>
                      <a:noFill/>
                    </a:lnR>
                    <a:lnT>
                      <a:noFill/>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15900">
                <a:tc>
                  <a:txBody>
                    <a:bodyPr/>
                    <a:lstStyle/>
                    <a:p>
                      <a:pPr algn="l" fontAlgn="ctr"/>
                      <a:r>
                        <a:rPr lang="en-US" altLang="ko-KR" sz="1100" b="0" i="0" u="none" strike="noStrike" dirty="0" err="1">
                          <a:solidFill>
                            <a:srgbClr val="000000"/>
                          </a:solidFill>
                          <a:effectLst/>
                          <a:latin typeface="맑은 고딕"/>
                        </a:rPr>
                        <a:t>Trung</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bình</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5.44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5.18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5.12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5.22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5.16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15900">
                <a:tc>
                  <a:txBody>
                    <a:bodyPr/>
                    <a:lstStyle/>
                    <a:p>
                      <a:pPr algn="l" fontAlgn="ctr"/>
                      <a:r>
                        <a:rPr lang="en-US" altLang="ko-KR" sz="1100" b="0" i="0" u="none" strike="noStrike" dirty="0" err="1">
                          <a:solidFill>
                            <a:srgbClr val="000000"/>
                          </a:solidFill>
                          <a:effectLst/>
                          <a:latin typeface="맑은 고딕"/>
                        </a:rPr>
                        <a:t>Độ</a:t>
                      </a:r>
                      <a:r>
                        <a:rPr lang="en-US" altLang="ko-KR" sz="1100" b="0" i="0" u="none" strike="noStrike" dirty="0">
                          <a:solidFill>
                            <a:srgbClr val="000000"/>
                          </a:solidFill>
                          <a:effectLst/>
                          <a:latin typeface="맑은 고딕"/>
                        </a:rPr>
                        <a:t> </a:t>
                      </a:r>
                      <a:r>
                        <a:rPr lang="en-US" altLang="ko-KR" sz="1100" b="0" i="0" u="none" strike="noStrike" dirty="0" err="1">
                          <a:solidFill>
                            <a:srgbClr val="000000"/>
                          </a:solidFill>
                          <a:effectLst/>
                          <a:latin typeface="맑은 고딕"/>
                        </a:rPr>
                        <a:t>lệch</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trung</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bình</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0.167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0.114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0.164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0.130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0.130</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0.192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0.114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0.228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0.167</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0.176</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215900">
                <a:tc>
                  <a:txBody>
                    <a:bodyPr/>
                    <a:lstStyle/>
                    <a:p>
                      <a:pPr algn="l" fontAlgn="ctr"/>
                      <a:r>
                        <a:rPr lang="en-US" altLang="ko-KR" sz="1100" b="0" i="0" u="none" strike="noStrike" dirty="0" err="1">
                          <a:solidFill>
                            <a:srgbClr val="000000"/>
                          </a:solidFill>
                          <a:effectLst/>
                          <a:latin typeface="맑은 고딕"/>
                        </a:rPr>
                        <a:t>Giá</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trị</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trung</a:t>
                      </a:r>
                      <a:r>
                        <a:rPr lang="en-US" altLang="ko-KR" sz="1100" b="0" i="0" u="none" strike="noStrike" baseline="0" dirty="0">
                          <a:solidFill>
                            <a:srgbClr val="000000"/>
                          </a:solidFill>
                          <a:effectLst/>
                          <a:latin typeface="맑은 고딕"/>
                        </a:rPr>
                        <a:t> </a:t>
                      </a:r>
                      <a:r>
                        <a:rPr lang="en-US" altLang="ko-KR" sz="1100" b="0" i="0" u="none" strike="noStrike" baseline="0" dirty="0" err="1">
                          <a:solidFill>
                            <a:srgbClr val="000000"/>
                          </a:solidFill>
                          <a:effectLst/>
                          <a:latin typeface="맑은 고딕"/>
                        </a:rPr>
                        <a:t>tâm</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5.4</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5.2</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5.3</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15900">
                <a:tc>
                  <a:txBody>
                    <a:bodyPr/>
                    <a:lstStyle/>
                    <a:p>
                      <a:pPr algn="l" fontAlgn="ctr"/>
                      <a:r>
                        <a:rPr lang="en-US" altLang="ko-KR" sz="1100" b="0" i="0" u="none" strike="noStrike" dirty="0" err="1">
                          <a:solidFill>
                            <a:srgbClr val="000000"/>
                          </a:solidFill>
                          <a:effectLst/>
                          <a:latin typeface="맑은 고딕"/>
                        </a:rPr>
                        <a:t>Phạm</a:t>
                      </a:r>
                      <a:r>
                        <a:rPr lang="en-US" altLang="ko-KR" sz="1100" b="0" i="0" u="none" strike="noStrike" baseline="0" dirty="0">
                          <a:solidFill>
                            <a:srgbClr val="000000"/>
                          </a:solidFill>
                          <a:effectLst/>
                          <a:latin typeface="맑은 고딕"/>
                        </a:rPr>
                        <a:t> vi</a:t>
                      </a:r>
                      <a:endParaRPr lang="ko-KR" altLang="en-US" sz="1100" b="0" i="0" u="none" strike="noStrike" dirty="0">
                        <a:solidFill>
                          <a:srgbClr val="000000"/>
                        </a:solidFill>
                        <a:effectLst/>
                        <a:latin typeface="맑은 고딕"/>
                      </a:endParaRP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0.5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0.3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0.6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a:solidFill>
                            <a:srgbClr val="000000"/>
                          </a:solidFill>
                          <a:effectLst/>
                          <a:latin typeface="맑은 고딕"/>
                        </a:rPr>
                        <a:t>0.4 </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r>
                        <a:rPr lang="en-US" altLang="ko-KR" sz="1100" b="0" i="0" u="none" strike="noStrike" dirty="0">
                          <a:solidFill>
                            <a:srgbClr val="000000"/>
                          </a:solidFill>
                          <a:effectLst/>
                          <a:latin typeface="맑은 고딕"/>
                        </a:rPr>
                        <a:t>0.8</a:t>
                      </a:r>
                    </a:p>
                  </a:txBody>
                  <a:tcPr marL="5862" marR="5862"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
        <p:nvSpPr>
          <p:cNvPr id="13" name="TextBox 12"/>
          <p:cNvSpPr txBox="1"/>
          <p:nvPr/>
        </p:nvSpPr>
        <p:spPr>
          <a:xfrm>
            <a:off x="118582" y="4581129"/>
            <a:ext cx="2259943" cy="412421"/>
          </a:xfrm>
          <a:prstGeom prst="rect">
            <a:avLst/>
          </a:prstGeom>
          <a:noFill/>
        </p:spPr>
        <p:txBody>
          <a:bodyPr wrap="square" rtlCol="0">
            <a:spAutoFit/>
          </a:bodyPr>
          <a:lstStyle/>
          <a:p>
            <a:pPr>
              <a:lnSpc>
                <a:spcPct val="130000"/>
              </a:lnSpc>
              <a:buClr>
                <a:srgbClr val="C5003D"/>
              </a:buClr>
            </a:pPr>
            <a:r>
              <a:rPr lang="en-US" altLang="ko-KR" sz="1600" b="1" dirty="0" err="1"/>
              <a:t>Tổng</a:t>
            </a:r>
            <a:r>
              <a:rPr lang="en-US" altLang="ko-KR" sz="1600" b="1" dirty="0"/>
              <a:t> </a:t>
            </a:r>
            <a:r>
              <a:rPr lang="en-US" altLang="ko-KR" sz="1600" b="1" dirty="0" err="1"/>
              <a:t>biến</a:t>
            </a:r>
            <a:r>
              <a:rPr lang="en-US" altLang="ko-KR" sz="1600" b="1" dirty="0"/>
              <a:t> </a:t>
            </a:r>
            <a:r>
              <a:rPr lang="en-US" altLang="ko-KR" sz="1600" b="1" dirty="0" err="1"/>
              <a:t>động</a:t>
            </a:r>
            <a:r>
              <a:rPr lang="ko-KR" altLang="en-US" sz="1600" b="1" dirty="0"/>
              <a:t> </a:t>
            </a:r>
            <a:r>
              <a:rPr lang="en-US" altLang="ko-KR" sz="1600" b="1" dirty="0"/>
              <a:t> </a:t>
            </a:r>
            <a:endParaRPr lang="ko-KR" altLang="en-US" sz="1600" b="1" dirty="0"/>
          </a:p>
        </p:txBody>
      </p:sp>
      <p:sp>
        <p:nvSpPr>
          <p:cNvPr id="14" name="TextBox 13"/>
          <p:cNvSpPr txBox="1"/>
          <p:nvPr/>
        </p:nvSpPr>
        <p:spPr>
          <a:xfrm>
            <a:off x="71406" y="5196880"/>
            <a:ext cx="2651688" cy="372410"/>
          </a:xfrm>
          <a:prstGeom prst="rect">
            <a:avLst/>
          </a:prstGeom>
          <a:noFill/>
        </p:spPr>
        <p:txBody>
          <a:bodyPr wrap="none" rtlCol="0">
            <a:spAutoFit/>
          </a:bodyPr>
          <a:lstStyle/>
          <a:p>
            <a:pPr>
              <a:lnSpc>
                <a:spcPct val="130000"/>
              </a:lnSpc>
              <a:buClr>
                <a:srgbClr val="C5003D"/>
              </a:buClr>
            </a:pP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ko-KR" altLang="en-US" sz="1400" b="1" dirty="0"/>
              <a:t>  </a:t>
            </a:r>
            <a:r>
              <a:rPr lang="en-US" altLang="ko-KR" sz="1400" b="1" dirty="0"/>
              <a:t>=  0.176</a:t>
            </a:r>
            <a:endParaRPr lang="ko-KR" altLang="en-US" sz="1400" b="1" dirty="0"/>
          </a:p>
        </p:txBody>
      </p:sp>
      <p:sp>
        <p:nvSpPr>
          <p:cNvPr id="15" name="TextBox 14"/>
          <p:cNvSpPr txBox="1"/>
          <p:nvPr/>
        </p:nvSpPr>
        <p:spPr>
          <a:xfrm>
            <a:off x="120083" y="5556920"/>
            <a:ext cx="1729704" cy="372410"/>
          </a:xfrm>
          <a:prstGeom prst="rect">
            <a:avLst/>
          </a:prstGeom>
          <a:noFill/>
        </p:spPr>
        <p:txBody>
          <a:bodyPr wrap="none" rtlCol="0">
            <a:spAutoFit/>
          </a:bodyPr>
          <a:lstStyle/>
          <a:p>
            <a:pPr>
              <a:lnSpc>
                <a:spcPct val="130000"/>
              </a:lnSpc>
              <a:buClr>
                <a:srgbClr val="C5003D"/>
              </a:buClr>
            </a:pPr>
            <a:r>
              <a:rPr lang="en-US" altLang="ko-KR" sz="1400" b="1" dirty="0" err="1"/>
              <a:t>Phân</a:t>
            </a:r>
            <a:r>
              <a:rPr lang="en-US" altLang="ko-KR" sz="1400" b="1" dirty="0"/>
              <a:t> </a:t>
            </a:r>
            <a:r>
              <a:rPr lang="en-US" altLang="ko-KR" sz="1400" b="1" dirty="0" err="1"/>
              <a:t>tán</a:t>
            </a:r>
            <a:r>
              <a:rPr lang="ko-KR" altLang="en-US" sz="1400" b="1" dirty="0"/>
              <a:t> </a:t>
            </a:r>
            <a:r>
              <a:rPr lang="en-US" altLang="ko-KR" sz="1400" b="1" dirty="0"/>
              <a:t>= 0.031 </a:t>
            </a:r>
            <a:endParaRPr lang="ko-KR" altLang="en-US" sz="1400" b="1" dirty="0"/>
          </a:p>
        </p:txBody>
      </p:sp>
      <p:sp>
        <p:nvSpPr>
          <p:cNvPr id="16" name="TextBox 15"/>
          <p:cNvSpPr txBox="1"/>
          <p:nvPr/>
        </p:nvSpPr>
        <p:spPr>
          <a:xfrm>
            <a:off x="2937569" y="4543550"/>
            <a:ext cx="5892062" cy="372410"/>
          </a:xfrm>
          <a:prstGeom prst="rect">
            <a:avLst/>
          </a:prstGeom>
          <a:noFill/>
        </p:spPr>
        <p:txBody>
          <a:bodyPr wrap="none" rtlCol="0">
            <a:spAutoFit/>
          </a:bodyPr>
          <a:lstStyle/>
          <a:p>
            <a:pPr>
              <a:lnSpc>
                <a:spcPct val="130000"/>
              </a:lnSpc>
              <a:buClr>
                <a:srgbClr val="C5003D"/>
              </a:buClr>
            </a:pPr>
            <a:r>
              <a:rPr lang="en-US" altLang="ko-KR" sz="1400" b="1" dirty="0" err="1"/>
              <a:t>Tổng</a:t>
            </a:r>
            <a:r>
              <a:rPr lang="en-US" altLang="ko-KR" sz="1400" b="1" dirty="0"/>
              <a:t> </a:t>
            </a:r>
            <a:r>
              <a:rPr lang="en-US" altLang="ko-KR" sz="1400" b="1" dirty="0" err="1"/>
              <a:t>biến</a:t>
            </a:r>
            <a:r>
              <a:rPr lang="en-US" altLang="ko-KR" sz="1400" b="1" dirty="0"/>
              <a:t> </a:t>
            </a:r>
            <a:r>
              <a:rPr lang="en-US" altLang="ko-KR" sz="1400" b="1" dirty="0" err="1"/>
              <a:t>động</a:t>
            </a:r>
            <a:r>
              <a:rPr lang="ko-KR" altLang="en-US" sz="1400" b="1" dirty="0"/>
              <a:t> </a:t>
            </a:r>
            <a:r>
              <a:rPr lang="en-US" altLang="ko-KR" sz="1400" b="1" dirty="0"/>
              <a:t> =  </a:t>
            </a: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trong</a:t>
            </a:r>
            <a:r>
              <a:rPr lang="en-US" altLang="ko-KR" sz="1400" b="1" dirty="0"/>
              <a:t> </a:t>
            </a:r>
            <a:r>
              <a:rPr lang="en-US" altLang="ko-KR" sz="1400" b="1" dirty="0" err="1"/>
              <a:t>nhóm</a:t>
            </a:r>
            <a:r>
              <a:rPr lang="ko-KR" altLang="en-US" sz="1400" b="1" dirty="0"/>
              <a:t> </a:t>
            </a:r>
            <a:r>
              <a:rPr lang="en-US" altLang="ko-KR" sz="1400" b="1" dirty="0"/>
              <a:t>+ </a:t>
            </a: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nhóm</a:t>
            </a:r>
            <a:r>
              <a:rPr lang="ko-KR" altLang="en-US" sz="1400" b="1" dirty="0"/>
              <a:t> </a:t>
            </a:r>
          </a:p>
        </p:txBody>
      </p:sp>
      <p:sp>
        <p:nvSpPr>
          <p:cNvPr id="17" name="TextBox 16"/>
          <p:cNvSpPr txBox="1"/>
          <p:nvPr/>
        </p:nvSpPr>
        <p:spPr>
          <a:xfrm>
            <a:off x="2928926" y="5013176"/>
            <a:ext cx="5773440" cy="372410"/>
          </a:xfrm>
          <a:prstGeom prst="rect">
            <a:avLst/>
          </a:prstGeom>
          <a:noFill/>
        </p:spPr>
        <p:txBody>
          <a:bodyPr wrap="none" rtlCol="0">
            <a:spAutoFit/>
          </a:bodyPr>
          <a:lstStyle/>
          <a:p>
            <a:pPr>
              <a:lnSpc>
                <a:spcPct val="130000"/>
              </a:lnSpc>
              <a:buClr>
                <a:srgbClr val="C5003D"/>
              </a:buClr>
            </a:pP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nhóm</a:t>
            </a:r>
            <a:r>
              <a:rPr lang="ko-KR" altLang="en-US" sz="1400" b="1" dirty="0"/>
              <a:t> </a:t>
            </a:r>
            <a:r>
              <a:rPr lang="en-US" altLang="ko-KR" sz="1400" b="1" dirty="0"/>
              <a:t>= </a:t>
            </a:r>
            <a:r>
              <a:rPr lang="en-US" altLang="ko-KR" sz="1400" b="1" dirty="0" err="1"/>
              <a:t>Tổng</a:t>
            </a:r>
            <a:r>
              <a:rPr lang="en-US" altLang="ko-KR" sz="1400" b="1" dirty="0"/>
              <a:t> </a:t>
            </a:r>
            <a:r>
              <a:rPr lang="en-US" altLang="ko-KR" sz="1400" b="1" dirty="0" err="1"/>
              <a:t>biến</a:t>
            </a:r>
            <a:r>
              <a:rPr lang="en-US" altLang="ko-KR" sz="1400" b="1" dirty="0"/>
              <a:t> </a:t>
            </a:r>
            <a:r>
              <a:rPr lang="en-US" altLang="ko-KR" sz="1400" b="1" dirty="0" err="1"/>
              <a:t>động</a:t>
            </a:r>
            <a:r>
              <a:rPr lang="ko-KR" altLang="en-US" sz="1400" b="1" dirty="0"/>
              <a:t> </a:t>
            </a:r>
            <a:r>
              <a:rPr lang="en-US" altLang="ko-KR" sz="1400" b="1" dirty="0"/>
              <a:t>-  </a:t>
            </a:r>
            <a:r>
              <a:rPr lang="en-US" altLang="ko-KR" sz="1400" b="1" dirty="0" err="1"/>
              <a:t>Biến</a:t>
            </a:r>
            <a:r>
              <a:rPr lang="en-US" altLang="ko-KR" sz="1400" b="1" dirty="0"/>
              <a:t> </a:t>
            </a:r>
            <a:r>
              <a:rPr lang="en-US" altLang="ko-KR" sz="1400" b="1" dirty="0" err="1"/>
              <a:t>động</a:t>
            </a:r>
            <a:r>
              <a:rPr lang="en-US" altLang="ko-KR" sz="1400" b="1" dirty="0"/>
              <a:t> </a:t>
            </a:r>
            <a:r>
              <a:rPr lang="en-US" altLang="ko-KR" sz="1400" b="1" dirty="0" err="1"/>
              <a:t>trong</a:t>
            </a:r>
            <a:r>
              <a:rPr lang="en-US" altLang="ko-KR" sz="1400" b="1" dirty="0"/>
              <a:t> </a:t>
            </a:r>
            <a:r>
              <a:rPr lang="en-US" altLang="ko-KR" sz="1400" b="1" dirty="0" err="1"/>
              <a:t>nhóm</a:t>
            </a:r>
            <a:r>
              <a:rPr lang="ko-KR" altLang="en-US" sz="1400" b="1" dirty="0"/>
              <a:t> </a:t>
            </a:r>
          </a:p>
        </p:txBody>
      </p:sp>
      <p:sp>
        <p:nvSpPr>
          <p:cNvPr id="18" name="TextBox 17"/>
          <p:cNvSpPr txBox="1"/>
          <p:nvPr/>
        </p:nvSpPr>
        <p:spPr>
          <a:xfrm>
            <a:off x="2973597" y="5661249"/>
            <a:ext cx="3723070" cy="412421"/>
          </a:xfrm>
          <a:prstGeom prst="rect">
            <a:avLst/>
          </a:prstGeom>
          <a:noFill/>
        </p:spPr>
        <p:txBody>
          <a:bodyPr wrap="none" rtlCol="0">
            <a:spAutoFit/>
          </a:bodyPr>
          <a:lstStyle/>
          <a:p>
            <a:pPr>
              <a:lnSpc>
                <a:spcPct val="130000"/>
              </a:lnSpc>
              <a:buClr>
                <a:srgbClr val="C5003D"/>
              </a:buClr>
            </a:pPr>
            <a:r>
              <a:rPr lang="en-US" altLang="ko-KR" sz="1600" b="1" dirty="0" err="1"/>
              <a:t>Biến</a:t>
            </a:r>
            <a:r>
              <a:rPr lang="en-US" altLang="ko-KR" sz="1600" b="1" dirty="0"/>
              <a:t> </a:t>
            </a:r>
            <a:r>
              <a:rPr lang="en-US" altLang="ko-KR" sz="1600" b="1" dirty="0" err="1"/>
              <a:t>động</a:t>
            </a:r>
            <a:r>
              <a:rPr lang="en-US" altLang="ko-KR" sz="1600" b="1" dirty="0"/>
              <a:t> </a:t>
            </a:r>
            <a:r>
              <a:rPr lang="en-US" altLang="ko-KR" sz="1600" b="1" dirty="0" err="1"/>
              <a:t>trong</a:t>
            </a:r>
            <a:r>
              <a:rPr lang="en-US" altLang="ko-KR" sz="1600" b="1" dirty="0"/>
              <a:t> </a:t>
            </a:r>
            <a:r>
              <a:rPr lang="en-US" altLang="ko-KR" sz="1600" b="1" dirty="0" err="1"/>
              <a:t>nhóm</a:t>
            </a:r>
            <a:r>
              <a:rPr lang="en-US" altLang="ko-KR" sz="1600" b="1" dirty="0"/>
              <a:t> </a:t>
            </a:r>
            <a:r>
              <a:rPr lang="en-US" altLang="ko-KR" sz="1600" b="1" dirty="0" err="1"/>
              <a:t>là</a:t>
            </a:r>
            <a:r>
              <a:rPr lang="en-US" altLang="ko-KR" sz="1600" b="1" dirty="0"/>
              <a:t> </a:t>
            </a:r>
            <a:r>
              <a:rPr lang="en-US" altLang="ko-KR" sz="1600" b="1" dirty="0" err="1"/>
              <a:t>cốt</a:t>
            </a:r>
            <a:r>
              <a:rPr lang="en-US" altLang="ko-KR" sz="1600" b="1" dirty="0"/>
              <a:t> </a:t>
            </a:r>
            <a:r>
              <a:rPr lang="en-US" altLang="ko-KR" sz="1600" b="1" dirty="0" err="1"/>
              <a:t>lõi</a:t>
            </a:r>
            <a:r>
              <a:rPr lang="en-US" altLang="ko-KR" sz="1600" b="1" dirty="0"/>
              <a:t> !!!</a:t>
            </a:r>
            <a:endParaRPr lang="ko-KR" altLang="en-US" sz="1600" b="1" dirty="0"/>
          </a:p>
        </p:txBody>
      </p:sp>
      <p:sp>
        <p:nvSpPr>
          <p:cNvPr id="19" name="Text Box 39"/>
          <p:cNvSpPr txBox="1">
            <a:spLocks noChangeArrowheads="1"/>
          </p:cNvSpPr>
          <p:nvPr/>
        </p:nvSpPr>
        <p:spPr bwMode="auto">
          <a:xfrm>
            <a:off x="234902" y="116632"/>
            <a:ext cx="2790764"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sự</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247001180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199</a:t>
            </a:fld>
            <a:endParaRPr lang="ko-KR" altLang="en-US" dirty="0"/>
          </a:p>
        </p:txBody>
      </p:sp>
      <p:sp>
        <p:nvSpPr>
          <p:cNvPr id="6" name="TextBox 5"/>
          <p:cNvSpPr txBox="1"/>
          <p:nvPr/>
        </p:nvSpPr>
        <p:spPr>
          <a:xfrm>
            <a:off x="1514430" y="1301231"/>
            <a:ext cx="7344575" cy="412421"/>
          </a:xfrm>
          <a:prstGeom prst="rect">
            <a:avLst/>
          </a:prstGeom>
          <a:noFill/>
        </p:spPr>
        <p:txBody>
          <a:bodyPr wrap="none" rtlCol="0">
            <a:spAutoFit/>
          </a:bodyPr>
          <a:lstStyle/>
          <a:p>
            <a:pPr>
              <a:lnSpc>
                <a:spcPct val="130000"/>
              </a:lnSpc>
              <a:buClr>
                <a:srgbClr val="C5003D"/>
              </a:buClr>
            </a:pPr>
            <a:r>
              <a:rPr lang="en-US" altLang="ko-KR" sz="1600" b="1" u="sng" dirty="0" err="1"/>
              <a:t>Phương</a:t>
            </a:r>
            <a:r>
              <a:rPr lang="en-US" altLang="ko-KR" sz="1600" b="1" u="sng" dirty="0"/>
              <a:t> </a:t>
            </a:r>
            <a:r>
              <a:rPr lang="en-US" altLang="ko-KR" sz="1600" b="1" u="sng" dirty="0" err="1"/>
              <a:t>pháp</a:t>
            </a:r>
            <a:r>
              <a:rPr lang="en-US" altLang="ko-KR" sz="1600" b="1" u="sng" dirty="0"/>
              <a:t> </a:t>
            </a:r>
            <a:r>
              <a:rPr lang="en-US" altLang="ko-KR" sz="1600" b="1" u="sng" dirty="0" err="1"/>
              <a:t>tìm</a:t>
            </a:r>
            <a:r>
              <a:rPr lang="en-US" altLang="ko-KR" sz="1600" b="1" u="sng" dirty="0"/>
              <a:t> </a:t>
            </a:r>
            <a:r>
              <a:rPr lang="en-US" altLang="ko-KR" sz="1600" b="1" u="sng" dirty="0" err="1"/>
              <a:t>sai</a:t>
            </a:r>
            <a:r>
              <a:rPr lang="en-US" altLang="ko-KR" sz="1600" b="1" u="sng" dirty="0"/>
              <a:t> </a:t>
            </a:r>
            <a:r>
              <a:rPr lang="en-US" altLang="ko-KR" sz="1600" b="1" u="sng" dirty="0" err="1"/>
              <a:t>số</a:t>
            </a:r>
            <a:r>
              <a:rPr lang="en-US" altLang="ko-KR" sz="1600" b="1" u="sng" dirty="0"/>
              <a:t> </a:t>
            </a:r>
            <a:r>
              <a:rPr lang="en-US" altLang="ko-KR" sz="1600" b="1" u="sng" dirty="0" err="1"/>
              <a:t>tiêu</a:t>
            </a:r>
            <a:r>
              <a:rPr lang="en-US" altLang="ko-KR" sz="1600" b="1" u="sng" dirty="0"/>
              <a:t> </a:t>
            </a:r>
            <a:r>
              <a:rPr lang="en-US" altLang="ko-KR" sz="1600" b="1" u="sng" dirty="0" err="1"/>
              <a:t>chuẩn</a:t>
            </a:r>
            <a:r>
              <a:rPr lang="en-US" altLang="ko-KR" sz="1600" b="1" u="sng" dirty="0"/>
              <a:t> </a:t>
            </a:r>
            <a:r>
              <a:rPr lang="en-US" altLang="ko-KR" sz="1600" b="1" u="sng" dirty="0" err="1"/>
              <a:t>để</a:t>
            </a:r>
            <a:r>
              <a:rPr lang="en-US" altLang="ko-KR" sz="1600" b="1" u="sng" dirty="0"/>
              <a:t> </a:t>
            </a:r>
            <a:r>
              <a:rPr lang="en-US" altLang="ko-KR" sz="1600" b="1" u="sng" dirty="0" err="1"/>
              <a:t>tính</a:t>
            </a:r>
            <a:r>
              <a:rPr lang="en-US" altLang="ko-KR" sz="1600" b="1" u="sng" dirty="0"/>
              <a:t> </a:t>
            </a:r>
            <a:r>
              <a:rPr lang="en-US" altLang="ko-KR" sz="1600" b="1" u="sng" dirty="0" err="1"/>
              <a:t>toán</a:t>
            </a:r>
            <a:r>
              <a:rPr lang="en-US" altLang="ko-KR" sz="1600" b="1" u="sng" dirty="0"/>
              <a:t> </a:t>
            </a:r>
            <a:r>
              <a:rPr lang="en-US" altLang="ko-KR" sz="1600" b="1" u="sng" dirty="0" err="1"/>
              <a:t>biến</a:t>
            </a:r>
            <a:r>
              <a:rPr lang="en-US" altLang="ko-KR" sz="1600" b="1" u="sng" dirty="0"/>
              <a:t> </a:t>
            </a:r>
            <a:r>
              <a:rPr lang="en-US" altLang="ko-KR" sz="1600" b="1" u="sng" dirty="0" err="1"/>
              <a:t>động</a:t>
            </a:r>
            <a:r>
              <a:rPr lang="en-US" altLang="ko-KR" sz="1600" b="1" u="sng" dirty="0"/>
              <a:t> </a:t>
            </a:r>
            <a:r>
              <a:rPr lang="en-US" altLang="ko-KR" sz="1600" b="1" u="sng" dirty="0" err="1"/>
              <a:t>trong</a:t>
            </a:r>
            <a:r>
              <a:rPr lang="en-US" altLang="ko-KR" sz="1600" b="1" u="sng" dirty="0"/>
              <a:t> </a:t>
            </a:r>
            <a:r>
              <a:rPr lang="en-US" altLang="ko-KR" sz="1600" b="1" u="sng" dirty="0" err="1"/>
              <a:t>nhóm</a:t>
            </a:r>
            <a:endParaRPr lang="ko-KR" altLang="en-US" sz="1600" b="1" u="sng" dirty="0"/>
          </a:p>
        </p:txBody>
      </p:sp>
      <p:sp>
        <p:nvSpPr>
          <p:cNvPr id="8" name="TextBox 7"/>
          <p:cNvSpPr txBox="1"/>
          <p:nvPr/>
        </p:nvSpPr>
        <p:spPr>
          <a:xfrm>
            <a:off x="849741" y="1807287"/>
            <a:ext cx="8124853" cy="372410"/>
          </a:xfrm>
          <a:prstGeom prst="rect">
            <a:avLst/>
          </a:prstGeom>
          <a:noFill/>
        </p:spPr>
        <p:txBody>
          <a:bodyPr wrap="none" rtlCol="0">
            <a:spAutoFit/>
          </a:bodyPr>
          <a:lstStyle/>
          <a:p>
            <a:pPr>
              <a:lnSpc>
                <a:spcPct val="130000"/>
              </a:lnSpc>
              <a:buClr>
                <a:srgbClr val="C5003D"/>
              </a:buClr>
            </a:pPr>
            <a:r>
              <a:rPr lang="en-US" altLang="ko-KR" sz="1400" b="1" dirty="0"/>
              <a:t>1.  </a:t>
            </a:r>
            <a:r>
              <a:rPr lang="en-US" altLang="ko-KR" sz="1400" b="1" dirty="0" err="1"/>
              <a:t>Điều</a:t>
            </a:r>
            <a:r>
              <a:rPr lang="en-US" altLang="ko-KR" sz="1400" b="1" dirty="0"/>
              <a:t> </a:t>
            </a:r>
            <a:r>
              <a:rPr lang="en-US" altLang="ko-KR" sz="1400" b="1" dirty="0" err="1"/>
              <a:t>chỉnh</a:t>
            </a:r>
            <a:r>
              <a:rPr lang="en-US" altLang="ko-KR" sz="1400" b="1" dirty="0"/>
              <a:t> </a:t>
            </a:r>
            <a:r>
              <a:rPr lang="en-US" altLang="ko-KR" sz="1400" b="1" dirty="0" err="1"/>
              <a:t>phạm</a:t>
            </a:r>
            <a:r>
              <a:rPr lang="en-US" altLang="ko-KR" sz="1400" b="1" dirty="0"/>
              <a:t> vi </a:t>
            </a:r>
            <a:r>
              <a:rPr lang="en-US" altLang="ko-KR" sz="1400" b="1" dirty="0" err="1"/>
              <a:t>bình</a:t>
            </a:r>
            <a:r>
              <a:rPr lang="en-US" altLang="ko-KR" sz="1400" b="1" dirty="0"/>
              <a:t> </a:t>
            </a:r>
            <a:r>
              <a:rPr lang="en-US" altLang="ko-KR" sz="1400" b="1" dirty="0" err="1"/>
              <a:t>quân</a:t>
            </a:r>
            <a:r>
              <a:rPr lang="en-US" altLang="ko-KR" sz="1400" b="1" dirty="0"/>
              <a:t> </a:t>
            </a:r>
            <a:r>
              <a:rPr lang="en-US" altLang="ko-KR" sz="1400" b="1" dirty="0" err="1"/>
              <a:t>và</a:t>
            </a:r>
            <a:r>
              <a:rPr lang="en-US" altLang="ko-KR" sz="1400" b="1" dirty="0"/>
              <a:t> </a:t>
            </a:r>
            <a:r>
              <a:rPr lang="en-US" altLang="ko-KR" sz="1400" b="1" dirty="0" err="1"/>
              <a:t>tiến</a:t>
            </a:r>
            <a:r>
              <a:rPr lang="en-US" altLang="ko-KR" sz="1400" b="1" dirty="0"/>
              <a:t> </a:t>
            </a:r>
            <a:r>
              <a:rPr lang="en-US" altLang="ko-KR" sz="1400" b="1" dirty="0" err="1"/>
              <a:t>hành</a:t>
            </a:r>
            <a:r>
              <a:rPr lang="en-US" altLang="ko-KR" sz="1400" b="1" dirty="0"/>
              <a:t> </a:t>
            </a:r>
            <a:r>
              <a:rPr lang="en-US" altLang="ko-KR" sz="1400" b="1" dirty="0" err="1"/>
              <a:t>theo</a:t>
            </a:r>
            <a:r>
              <a:rPr lang="en-US" altLang="ko-KR" sz="1400" b="1" dirty="0"/>
              <a:t> </a:t>
            </a: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en-US" altLang="ko-KR" sz="1400" b="1" dirty="0"/>
              <a:t> </a:t>
            </a:r>
            <a:r>
              <a:rPr lang="en-US" altLang="ko-KR" sz="1400" b="1" dirty="0" err="1"/>
              <a:t>của</a:t>
            </a:r>
            <a:r>
              <a:rPr lang="en-US" altLang="ko-KR" sz="1400" b="1" dirty="0"/>
              <a:t> population.   </a:t>
            </a:r>
            <a:endParaRPr lang="ko-KR" altLang="en-US" sz="1400" b="1" dirty="0"/>
          </a:p>
        </p:txBody>
      </p:sp>
      <p:graphicFrame>
        <p:nvGraphicFramePr>
          <p:cNvPr id="14" name="개체 13"/>
          <p:cNvGraphicFramePr>
            <a:graphicFrameLocks noChangeAspect="1"/>
          </p:cNvGraphicFramePr>
          <p:nvPr>
            <p:extLst>
              <p:ext uri="{D42A27DB-BD31-4B8C-83A1-F6EECF244321}">
                <p14:modId xmlns:p14="http://schemas.microsoft.com/office/powerpoint/2010/main" val="3775579422"/>
              </p:ext>
            </p:extLst>
          </p:nvPr>
        </p:nvGraphicFramePr>
        <p:xfrm>
          <a:off x="7528276" y="2135183"/>
          <a:ext cx="633046" cy="650875"/>
        </p:xfrm>
        <a:graphic>
          <a:graphicData uri="http://schemas.openxmlformats.org/presentationml/2006/ole">
            <mc:AlternateContent xmlns:mc="http://schemas.openxmlformats.org/markup-compatibility/2006">
              <mc:Choice xmlns:v="urn:schemas-microsoft-com:vml" Requires="v">
                <p:oleObj name="수식" r:id="rId2" imgW="507960" imgH="482400" progId="Equation.3">
                  <p:embed/>
                </p:oleObj>
              </mc:Choice>
              <mc:Fallback>
                <p:oleObj name="수식" r:id="rId2" imgW="507960" imgH="482400" progId="Equation.3">
                  <p:embed/>
                  <p:pic>
                    <p:nvPicPr>
                      <p:cNvPr id="14" name="개체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28276" y="2135183"/>
                        <a:ext cx="633046" cy="650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 name="TextBox 14"/>
          <p:cNvSpPr txBox="1"/>
          <p:nvPr/>
        </p:nvSpPr>
        <p:spPr>
          <a:xfrm>
            <a:off x="849741" y="3461470"/>
            <a:ext cx="5541902" cy="372410"/>
          </a:xfrm>
          <a:prstGeom prst="rect">
            <a:avLst/>
          </a:prstGeom>
          <a:noFill/>
        </p:spPr>
        <p:txBody>
          <a:bodyPr wrap="none" rtlCol="0">
            <a:spAutoFit/>
          </a:bodyPr>
          <a:lstStyle/>
          <a:p>
            <a:pPr>
              <a:lnSpc>
                <a:spcPct val="130000"/>
              </a:lnSpc>
              <a:buClr>
                <a:srgbClr val="C5003D"/>
              </a:buClr>
            </a:pPr>
            <a:r>
              <a:rPr lang="en-US" altLang="ko-KR" sz="1400" b="1" dirty="0"/>
              <a:t>2.  </a:t>
            </a:r>
            <a:r>
              <a:rPr lang="en-US" altLang="ko-KR" sz="1400" b="1" dirty="0" err="1"/>
              <a:t>Sử</a:t>
            </a:r>
            <a:r>
              <a:rPr lang="en-US" altLang="ko-KR" sz="1400" b="1" dirty="0"/>
              <a:t> </a:t>
            </a:r>
            <a:r>
              <a:rPr lang="en-US" altLang="ko-KR" sz="1400" b="1" dirty="0" err="1"/>
              <a:t>dụng</a:t>
            </a:r>
            <a:r>
              <a:rPr lang="en-US" altLang="ko-KR" sz="1400" b="1" dirty="0"/>
              <a:t> </a:t>
            </a:r>
            <a:r>
              <a:rPr lang="en-US" altLang="ko-KR" sz="1400" b="1" dirty="0" err="1"/>
              <a:t>bình</a:t>
            </a:r>
            <a:r>
              <a:rPr lang="en-US" altLang="ko-KR" sz="1400" b="1" dirty="0"/>
              <a:t> </a:t>
            </a:r>
            <a:r>
              <a:rPr lang="en-US" altLang="ko-KR" sz="1400" b="1" dirty="0" err="1"/>
              <a:t>quân</a:t>
            </a:r>
            <a:r>
              <a:rPr lang="en-US" altLang="ko-KR" sz="1400" b="1" dirty="0"/>
              <a:t> </a:t>
            </a:r>
            <a:r>
              <a:rPr lang="en-US" altLang="ko-KR" sz="1400" b="1" dirty="0" err="1"/>
              <a:t>của</a:t>
            </a:r>
            <a:r>
              <a:rPr lang="en-US" altLang="ko-KR" sz="1400" b="1" dirty="0"/>
              <a:t> </a:t>
            </a: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en-US" altLang="ko-KR" sz="1400" b="1" dirty="0"/>
              <a:t> </a:t>
            </a:r>
            <a:r>
              <a:rPr lang="en-US" altLang="ko-KR" sz="1400" b="1" dirty="0" err="1"/>
              <a:t>của</a:t>
            </a:r>
            <a:r>
              <a:rPr lang="en-US" altLang="ko-KR" sz="1400" b="1" dirty="0"/>
              <a:t> </a:t>
            </a:r>
            <a:r>
              <a:rPr lang="en-US" altLang="ko-KR" sz="1400" b="1" dirty="0" err="1"/>
              <a:t>mỗi</a:t>
            </a:r>
            <a:r>
              <a:rPr lang="en-US" altLang="ko-KR" sz="1400" b="1" dirty="0"/>
              <a:t> </a:t>
            </a:r>
            <a:r>
              <a:rPr lang="en-US" altLang="ko-KR" sz="1400" b="1" dirty="0" err="1"/>
              <a:t>nhóm</a:t>
            </a:r>
            <a:r>
              <a:rPr lang="en-US" altLang="ko-KR" sz="1400" b="1" dirty="0"/>
              <a:t>. </a:t>
            </a:r>
            <a:endParaRPr lang="ko-KR" altLang="en-US" sz="1400" b="1" dirty="0"/>
          </a:p>
        </p:txBody>
      </p:sp>
      <p:graphicFrame>
        <p:nvGraphicFramePr>
          <p:cNvPr id="16" name="개체 15"/>
          <p:cNvGraphicFramePr>
            <a:graphicFrameLocks noChangeAspect="1"/>
          </p:cNvGraphicFramePr>
          <p:nvPr>
            <p:extLst>
              <p:ext uri="{D42A27DB-BD31-4B8C-83A1-F6EECF244321}">
                <p14:modId xmlns:p14="http://schemas.microsoft.com/office/powerpoint/2010/main" val="2495470583"/>
              </p:ext>
            </p:extLst>
          </p:nvPr>
        </p:nvGraphicFramePr>
        <p:xfrm>
          <a:off x="7688529" y="3533478"/>
          <a:ext cx="539262" cy="239712"/>
        </p:xfrm>
        <a:graphic>
          <a:graphicData uri="http://schemas.openxmlformats.org/presentationml/2006/ole">
            <mc:AlternateContent xmlns:mc="http://schemas.openxmlformats.org/markup-compatibility/2006">
              <mc:Choice xmlns:v="urn:schemas-microsoft-com:vml" Requires="v">
                <p:oleObj name="수식" r:id="rId4" imgW="431640" imgH="177480" progId="Equation.3">
                  <p:embed/>
                </p:oleObj>
              </mc:Choice>
              <mc:Fallback>
                <p:oleObj name="수식" r:id="rId4" imgW="431640" imgH="177480" progId="Equation.3">
                  <p:embed/>
                  <p:pic>
                    <p:nvPicPr>
                      <p:cNvPr id="16" name="개체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88529" y="3533478"/>
                        <a:ext cx="539262" cy="2397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TextBox 16"/>
          <p:cNvSpPr txBox="1"/>
          <p:nvPr/>
        </p:nvSpPr>
        <p:spPr>
          <a:xfrm>
            <a:off x="849740" y="4208718"/>
            <a:ext cx="7954550" cy="372410"/>
          </a:xfrm>
          <a:prstGeom prst="rect">
            <a:avLst/>
          </a:prstGeom>
          <a:noFill/>
        </p:spPr>
        <p:txBody>
          <a:bodyPr wrap="none" rtlCol="0">
            <a:spAutoFit/>
          </a:bodyPr>
          <a:lstStyle/>
          <a:p>
            <a:pPr>
              <a:lnSpc>
                <a:spcPct val="130000"/>
              </a:lnSpc>
              <a:buClr>
                <a:srgbClr val="C5003D"/>
              </a:buClr>
            </a:pPr>
            <a:r>
              <a:rPr lang="en-US" altLang="ko-KR" sz="1400" b="1" dirty="0"/>
              <a:t>3.  </a:t>
            </a:r>
            <a:r>
              <a:rPr lang="en-US" altLang="ko-KR" sz="1400" b="1" dirty="0" err="1"/>
              <a:t>Tìm</a:t>
            </a:r>
            <a:r>
              <a:rPr lang="en-US" altLang="ko-KR" sz="1400" b="1" dirty="0"/>
              <a:t> </a:t>
            </a: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en-US" altLang="ko-KR" sz="1400" b="1" dirty="0"/>
              <a:t> </a:t>
            </a:r>
            <a:r>
              <a:rPr lang="en-US" altLang="ko-KR" sz="1400" b="1" dirty="0" err="1"/>
              <a:t>tổng</a:t>
            </a:r>
            <a:r>
              <a:rPr lang="en-US" altLang="ko-KR" sz="1400" b="1" dirty="0"/>
              <a:t> </a:t>
            </a:r>
            <a:r>
              <a:rPr lang="en-US" altLang="ko-KR" sz="1400" b="1" dirty="0" err="1"/>
              <a:t>hợp</a:t>
            </a:r>
            <a:r>
              <a:rPr lang="en-US" altLang="ko-KR" sz="1400" b="1" dirty="0"/>
              <a:t> </a:t>
            </a:r>
            <a:r>
              <a:rPr lang="en-US" altLang="ko-KR" sz="1400" b="1" dirty="0" err="1"/>
              <a:t>và</a:t>
            </a:r>
            <a:r>
              <a:rPr lang="en-US" altLang="ko-KR" sz="1400" b="1" dirty="0"/>
              <a:t> </a:t>
            </a:r>
            <a:r>
              <a:rPr lang="en-US" altLang="ko-KR" sz="1400" b="1" dirty="0" err="1"/>
              <a:t>thực</a:t>
            </a:r>
            <a:r>
              <a:rPr lang="en-US" altLang="ko-KR" sz="1400" b="1" dirty="0"/>
              <a:t> </a:t>
            </a:r>
            <a:r>
              <a:rPr lang="en-US" altLang="ko-KR" sz="1400" b="1" dirty="0" err="1"/>
              <a:t>hiện</a:t>
            </a:r>
            <a:r>
              <a:rPr lang="en-US" altLang="ko-KR" sz="1400" b="1" dirty="0"/>
              <a:t> </a:t>
            </a:r>
            <a:r>
              <a:rPr lang="en-US" altLang="ko-KR" sz="1400" b="1" dirty="0" err="1"/>
              <a:t>theo</a:t>
            </a:r>
            <a:r>
              <a:rPr lang="en-US" altLang="ko-KR" sz="1400" b="1" dirty="0"/>
              <a:t> </a:t>
            </a: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r>
              <a:rPr lang="en-US" altLang="ko-KR" sz="1400" b="1" dirty="0"/>
              <a:t> </a:t>
            </a:r>
            <a:r>
              <a:rPr lang="en-US" altLang="ko-KR" sz="1400" b="1" dirty="0" err="1"/>
              <a:t>của</a:t>
            </a:r>
            <a:r>
              <a:rPr lang="ko-KR" altLang="en-US" sz="1400" b="1" dirty="0"/>
              <a:t> </a:t>
            </a:r>
            <a:r>
              <a:rPr lang="en-US" altLang="ko-KR" sz="1400" b="1" dirty="0"/>
              <a:t>population.</a:t>
            </a:r>
            <a:endParaRPr lang="ko-KR" altLang="en-US" sz="1400" b="1" dirty="0"/>
          </a:p>
        </p:txBody>
      </p:sp>
      <p:graphicFrame>
        <p:nvGraphicFramePr>
          <p:cNvPr id="18" name="개체 17"/>
          <p:cNvGraphicFramePr>
            <a:graphicFrameLocks noChangeAspect="1"/>
          </p:cNvGraphicFramePr>
          <p:nvPr>
            <p:extLst>
              <p:ext uri="{D42A27DB-BD31-4B8C-83A1-F6EECF244321}">
                <p14:modId xmlns:p14="http://schemas.microsoft.com/office/powerpoint/2010/main" val="1046527170"/>
              </p:ext>
            </p:extLst>
          </p:nvPr>
        </p:nvGraphicFramePr>
        <p:xfrm>
          <a:off x="5323329" y="4528781"/>
          <a:ext cx="3635620" cy="650875"/>
        </p:xfrm>
        <a:graphic>
          <a:graphicData uri="http://schemas.openxmlformats.org/presentationml/2006/ole">
            <mc:AlternateContent xmlns:mc="http://schemas.openxmlformats.org/markup-compatibility/2006">
              <mc:Choice xmlns:v="urn:schemas-microsoft-com:vml" Requires="v">
                <p:oleObj name="수식" r:id="rId6" imgW="2946240" imgH="507960" progId="Equation.3">
                  <p:embed/>
                </p:oleObj>
              </mc:Choice>
              <mc:Fallback>
                <p:oleObj name="수식" r:id="rId6" imgW="2946240" imgH="507960" progId="Equation.3">
                  <p:embed/>
                  <p:pic>
                    <p:nvPicPr>
                      <p:cNvPr id="18" name="개체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23329" y="4528781"/>
                        <a:ext cx="3635620" cy="650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 name="TextBox 20"/>
          <p:cNvSpPr txBox="1"/>
          <p:nvPr/>
        </p:nvSpPr>
        <p:spPr>
          <a:xfrm>
            <a:off x="1115616" y="2165326"/>
            <a:ext cx="5559214" cy="372410"/>
          </a:xfrm>
          <a:prstGeom prst="rect">
            <a:avLst/>
          </a:prstGeom>
          <a:noFill/>
        </p:spPr>
        <p:txBody>
          <a:bodyPr wrap="none" rtlCol="0">
            <a:spAutoFit/>
          </a:bodyPr>
          <a:lstStyle/>
          <a:p>
            <a:pPr>
              <a:lnSpc>
                <a:spcPct val="130000"/>
              </a:lnSpc>
              <a:buClr>
                <a:srgbClr val="C5003D"/>
              </a:buClr>
            </a:pPr>
            <a:r>
              <a:rPr lang="en-US" altLang="ko-KR" sz="1400" dirty="0" err="1"/>
              <a:t>Sử</a:t>
            </a:r>
            <a:r>
              <a:rPr lang="en-US" altLang="ko-KR" sz="1400" dirty="0"/>
              <a:t> </a:t>
            </a:r>
            <a:r>
              <a:rPr lang="en-US" altLang="ko-KR" sz="1400" dirty="0" err="1"/>
              <a:t>dụng</a:t>
            </a:r>
            <a:r>
              <a:rPr lang="en-US" altLang="ko-KR" sz="1400" dirty="0"/>
              <a:t> </a:t>
            </a:r>
            <a:r>
              <a:rPr lang="en-US" altLang="ko-KR" sz="1400" dirty="0" err="1"/>
              <a:t>khi</a:t>
            </a:r>
            <a:r>
              <a:rPr lang="en-US" altLang="ko-KR" sz="1400" dirty="0"/>
              <a:t> </a:t>
            </a:r>
            <a:r>
              <a:rPr lang="en-US" altLang="ko-KR" sz="1400" dirty="0" err="1"/>
              <a:t>thực</a:t>
            </a:r>
            <a:r>
              <a:rPr lang="en-US" altLang="ko-KR" sz="1400" dirty="0"/>
              <a:t> </a:t>
            </a:r>
            <a:r>
              <a:rPr lang="en-US" altLang="ko-KR" sz="1400" dirty="0" err="1"/>
              <a:t>thi</a:t>
            </a:r>
            <a:r>
              <a:rPr lang="en-US" altLang="ko-KR" sz="1400" dirty="0"/>
              <a:t> Subgroup </a:t>
            </a:r>
            <a:r>
              <a:rPr lang="en-US" altLang="ko-KR" sz="1400" dirty="0" err="1"/>
              <a:t>thông</a:t>
            </a:r>
            <a:r>
              <a:rPr lang="en-US" altLang="ko-KR" sz="1400" dirty="0"/>
              <a:t> </a:t>
            </a:r>
            <a:r>
              <a:rPr lang="en-US" altLang="ko-KR" sz="1400" dirty="0" err="1"/>
              <a:t>thường</a:t>
            </a:r>
            <a:r>
              <a:rPr lang="en-US" altLang="ko-KR" sz="1400" dirty="0"/>
              <a:t> </a:t>
            </a:r>
            <a:r>
              <a:rPr lang="en-US" altLang="ko-KR" sz="1400" dirty="0" err="1"/>
              <a:t>trong</a:t>
            </a:r>
            <a:r>
              <a:rPr lang="en-US" altLang="ko-KR" sz="1400" dirty="0"/>
              <a:t> line </a:t>
            </a:r>
            <a:r>
              <a:rPr lang="en-US" altLang="ko-KR" sz="1400" dirty="0" err="1"/>
              <a:t>ổn</a:t>
            </a:r>
            <a:r>
              <a:rPr lang="en-US" altLang="ko-KR" sz="1400" dirty="0"/>
              <a:t> </a:t>
            </a:r>
            <a:r>
              <a:rPr lang="en-US" altLang="ko-KR" sz="1400" dirty="0" err="1"/>
              <a:t>định</a:t>
            </a:r>
            <a:endParaRPr lang="ko-KR" altLang="en-US" sz="1400" dirty="0"/>
          </a:p>
        </p:txBody>
      </p:sp>
      <p:sp>
        <p:nvSpPr>
          <p:cNvPr id="22" name="TextBox 21"/>
          <p:cNvSpPr txBox="1"/>
          <p:nvPr/>
        </p:nvSpPr>
        <p:spPr>
          <a:xfrm>
            <a:off x="1115616" y="4775248"/>
            <a:ext cx="3941144" cy="372410"/>
          </a:xfrm>
          <a:prstGeom prst="rect">
            <a:avLst/>
          </a:prstGeom>
          <a:noFill/>
        </p:spPr>
        <p:txBody>
          <a:bodyPr wrap="none" rtlCol="0">
            <a:spAutoFit/>
          </a:bodyPr>
          <a:lstStyle/>
          <a:p>
            <a:pPr>
              <a:lnSpc>
                <a:spcPct val="130000"/>
              </a:lnSpc>
              <a:buClr>
                <a:srgbClr val="C5003D"/>
              </a:buClr>
            </a:pPr>
            <a:r>
              <a:rPr lang="en-US" altLang="ko-KR" sz="1400" dirty="0" err="1"/>
              <a:t>Sử</a:t>
            </a:r>
            <a:r>
              <a:rPr lang="en-US" altLang="ko-KR" sz="1400" dirty="0"/>
              <a:t> </a:t>
            </a:r>
            <a:r>
              <a:rPr lang="en-US" altLang="ko-KR" sz="1400" dirty="0" err="1"/>
              <a:t>dụng</a:t>
            </a:r>
            <a:r>
              <a:rPr lang="en-US" altLang="ko-KR" sz="1400" dirty="0"/>
              <a:t> </a:t>
            </a:r>
            <a:r>
              <a:rPr lang="en-US" altLang="ko-KR" sz="1400" dirty="0" err="1"/>
              <a:t>khi</a:t>
            </a:r>
            <a:r>
              <a:rPr lang="en-US" altLang="ko-KR" sz="1400" dirty="0"/>
              <a:t> </a:t>
            </a:r>
            <a:r>
              <a:rPr lang="en-US" altLang="ko-KR" sz="1400" dirty="0" err="1"/>
              <a:t>thực</a:t>
            </a:r>
            <a:r>
              <a:rPr lang="en-US" altLang="ko-KR" sz="1400" dirty="0"/>
              <a:t> </a:t>
            </a:r>
            <a:r>
              <a:rPr lang="en-US" altLang="ko-KR" sz="1400" dirty="0" err="1"/>
              <a:t>thi</a:t>
            </a:r>
            <a:r>
              <a:rPr lang="en-US" altLang="ko-KR" sz="1400" dirty="0"/>
              <a:t> Subgroup </a:t>
            </a:r>
            <a:r>
              <a:rPr lang="en-US" altLang="ko-KR" sz="1400" dirty="0" err="1"/>
              <a:t>thông</a:t>
            </a:r>
            <a:r>
              <a:rPr lang="en-US" altLang="ko-KR" sz="1400" dirty="0"/>
              <a:t> </a:t>
            </a:r>
            <a:r>
              <a:rPr lang="en-US" altLang="ko-KR" sz="1400" dirty="0" err="1"/>
              <a:t>thường</a:t>
            </a:r>
            <a:endParaRPr lang="ko-KR" altLang="en-US" sz="1400" dirty="0"/>
          </a:p>
        </p:txBody>
      </p:sp>
      <p:sp>
        <p:nvSpPr>
          <p:cNvPr id="20" name="TextBox 19"/>
          <p:cNvSpPr txBox="1"/>
          <p:nvPr/>
        </p:nvSpPr>
        <p:spPr>
          <a:xfrm>
            <a:off x="1115616" y="2453358"/>
            <a:ext cx="2972289" cy="372410"/>
          </a:xfrm>
          <a:prstGeom prst="rect">
            <a:avLst/>
          </a:prstGeom>
          <a:noFill/>
        </p:spPr>
        <p:txBody>
          <a:bodyPr wrap="none" rtlCol="0">
            <a:spAutoFit/>
          </a:bodyPr>
          <a:lstStyle/>
          <a:p>
            <a:pPr>
              <a:lnSpc>
                <a:spcPct val="130000"/>
              </a:lnSpc>
              <a:buClr>
                <a:srgbClr val="C5003D"/>
              </a:buClr>
            </a:pPr>
            <a:r>
              <a:rPr lang="en-US" altLang="ko-KR" sz="1400" dirty="0" err="1"/>
              <a:t>Bình</a:t>
            </a:r>
            <a:r>
              <a:rPr lang="en-US" altLang="ko-KR" sz="1400" dirty="0"/>
              <a:t> </a:t>
            </a:r>
            <a:r>
              <a:rPr lang="en-US" altLang="ko-KR" sz="1400" dirty="0" err="1"/>
              <a:t>quân</a:t>
            </a:r>
            <a:r>
              <a:rPr lang="en-US" altLang="ko-KR" sz="1400" dirty="0"/>
              <a:t> </a:t>
            </a:r>
            <a:r>
              <a:rPr lang="en-US" altLang="ko-KR" sz="1400" dirty="0" err="1"/>
              <a:t>của</a:t>
            </a:r>
            <a:r>
              <a:rPr lang="en-US" altLang="ko-KR" sz="1400" dirty="0"/>
              <a:t> </a:t>
            </a:r>
            <a:r>
              <a:rPr lang="en-US" altLang="ko-KR" sz="1400" dirty="0" err="1"/>
              <a:t>phạm</a:t>
            </a:r>
            <a:r>
              <a:rPr lang="en-US" altLang="ko-KR" sz="1400" dirty="0"/>
              <a:t> vi =  0.390  </a:t>
            </a:r>
            <a:endParaRPr lang="ko-KR" altLang="en-US" sz="1400" dirty="0"/>
          </a:p>
        </p:txBody>
      </p:sp>
      <p:sp>
        <p:nvSpPr>
          <p:cNvPr id="23" name="TextBox 22"/>
          <p:cNvSpPr txBox="1"/>
          <p:nvPr/>
        </p:nvSpPr>
        <p:spPr>
          <a:xfrm>
            <a:off x="1115616" y="2741390"/>
            <a:ext cx="3302507" cy="372410"/>
          </a:xfrm>
          <a:prstGeom prst="rect">
            <a:avLst/>
          </a:prstGeom>
          <a:noFill/>
        </p:spPr>
        <p:txBody>
          <a:bodyPr wrap="none" rtlCol="0">
            <a:spAutoFit/>
          </a:bodyPr>
          <a:lstStyle/>
          <a:p>
            <a:pPr>
              <a:lnSpc>
                <a:spcPct val="130000"/>
              </a:lnSpc>
              <a:buClr>
                <a:srgbClr val="C5003D"/>
              </a:buClr>
            </a:pPr>
            <a:r>
              <a:rPr lang="en-US" altLang="ko-KR" sz="1400" dirty="0" err="1"/>
              <a:t>Khi</a:t>
            </a:r>
            <a:r>
              <a:rPr lang="en-US" altLang="ko-KR" sz="1400" dirty="0"/>
              <a:t> </a:t>
            </a:r>
            <a:r>
              <a:rPr lang="en-US" altLang="ko-KR" sz="1400" dirty="0" err="1"/>
              <a:t>độ</a:t>
            </a:r>
            <a:r>
              <a:rPr lang="en-US" altLang="ko-KR" sz="1400" dirty="0"/>
              <a:t> </a:t>
            </a:r>
            <a:r>
              <a:rPr lang="en-US" altLang="ko-KR" sz="1400" dirty="0" err="1"/>
              <a:t>lớn</a:t>
            </a:r>
            <a:r>
              <a:rPr lang="en-US" altLang="ko-KR" sz="1400" dirty="0"/>
              <a:t> </a:t>
            </a:r>
            <a:r>
              <a:rPr lang="en-US" altLang="ko-KR" sz="1400" dirty="0" err="1"/>
              <a:t>của</a:t>
            </a:r>
            <a:r>
              <a:rPr lang="en-US" altLang="ko-KR" sz="1400" dirty="0"/>
              <a:t> </a:t>
            </a:r>
            <a:r>
              <a:rPr lang="en-US" altLang="ko-KR" sz="1400" dirty="0" err="1"/>
              <a:t>nhóm</a:t>
            </a:r>
            <a:r>
              <a:rPr lang="en-US" altLang="ko-KR" sz="1400" dirty="0"/>
              <a:t> </a:t>
            </a:r>
            <a:r>
              <a:rPr lang="en-US" altLang="ko-KR" sz="1400" dirty="0" err="1"/>
              <a:t>là</a:t>
            </a:r>
            <a:r>
              <a:rPr lang="en-US" altLang="ko-KR" sz="1400" dirty="0"/>
              <a:t> 5</a:t>
            </a:r>
            <a:r>
              <a:rPr lang="ko-KR" altLang="en-US" sz="1400" dirty="0"/>
              <a:t> </a:t>
            </a:r>
            <a:r>
              <a:rPr lang="en-US" altLang="ko-KR" sz="1400" dirty="0"/>
              <a:t>d2  = 2.326</a:t>
            </a:r>
            <a:endParaRPr lang="ko-KR" altLang="en-US" sz="1400" dirty="0"/>
          </a:p>
        </p:txBody>
      </p:sp>
      <p:sp>
        <p:nvSpPr>
          <p:cNvPr id="24" name="TextBox 23"/>
          <p:cNvSpPr txBox="1"/>
          <p:nvPr/>
        </p:nvSpPr>
        <p:spPr>
          <a:xfrm>
            <a:off x="1115616" y="3029422"/>
            <a:ext cx="2584362" cy="372410"/>
          </a:xfrm>
          <a:prstGeom prst="rect">
            <a:avLst/>
          </a:prstGeom>
          <a:noFill/>
        </p:spPr>
        <p:txBody>
          <a:bodyPr wrap="none" rtlCol="0">
            <a:spAutoFit/>
          </a:bodyPr>
          <a:lstStyle/>
          <a:p>
            <a:pPr>
              <a:lnSpc>
                <a:spcPct val="130000"/>
              </a:lnSpc>
              <a:buClr>
                <a:srgbClr val="C5003D"/>
              </a:buClr>
            </a:pPr>
            <a:r>
              <a:rPr lang="en-US" altLang="ko-KR" sz="1400" dirty="0" err="1"/>
              <a:t>Độ</a:t>
            </a:r>
            <a:r>
              <a:rPr lang="en-US" altLang="ko-KR" sz="1400" dirty="0"/>
              <a:t> </a:t>
            </a:r>
            <a:r>
              <a:rPr lang="en-US" altLang="ko-KR" sz="1400" dirty="0" err="1"/>
              <a:t>lệch</a:t>
            </a:r>
            <a:r>
              <a:rPr lang="en-US" altLang="ko-KR" sz="1400" dirty="0"/>
              <a:t> </a:t>
            </a:r>
            <a:r>
              <a:rPr lang="en-US" altLang="ko-KR" sz="1400" dirty="0" err="1"/>
              <a:t>tiêu</a:t>
            </a:r>
            <a:r>
              <a:rPr lang="en-US" altLang="ko-KR" sz="1400" dirty="0"/>
              <a:t> </a:t>
            </a:r>
            <a:r>
              <a:rPr lang="en-US" altLang="ko-KR" sz="1400" dirty="0" err="1"/>
              <a:t>chuẩn</a:t>
            </a:r>
            <a:r>
              <a:rPr lang="ko-KR" altLang="en-US" sz="1400" dirty="0"/>
              <a:t>   </a:t>
            </a:r>
            <a:r>
              <a:rPr lang="en-US" altLang="ko-KR" sz="1400" dirty="0"/>
              <a:t>0.16767</a:t>
            </a:r>
            <a:endParaRPr lang="ko-KR" altLang="en-US" sz="1400" dirty="0"/>
          </a:p>
        </p:txBody>
      </p:sp>
      <p:sp>
        <p:nvSpPr>
          <p:cNvPr id="25" name="TextBox 24"/>
          <p:cNvSpPr txBox="1"/>
          <p:nvPr/>
        </p:nvSpPr>
        <p:spPr>
          <a:xfrm>
            <a:off x="1115616" y="3893518"/>
            <a:ext cx="4512774" cy="372410"/>
          </a:xfrm>
          <a:prstGeom prst="rect">
            <a:avLst/>
          </a:prstGeom>
          <a:noFill/>
        </p:spPr>
        <p:txBody>
          <a:bodyPr wrap="none" rtlCol="0">
            <a:spAutoFit/>
          </a:bodyPr>
          <a:lstStyle/>
          <a:p>
            <a:pPr>
              <a:lnSpc>
                <a:spcPct val="130000"/>
              </a:lnSpc>
              <a:buClr>
                <a:srgbClr val="C5003D"/>
              </a:buClr>
            </a:pPr>
            <a:r>
              <a:rPr lang="en-US" altLang="ko-KR" sz="1400" dirty="0" err="1">
                <a:sym typeface="Wingdings" panose="05000000000000000000" pitchFamily="2" charset="2"/>
              </a:rPr>
              <a:t>Độ</a:t>
            </a:r>
            <a:r>
              <a:rPr lang="en-US" altLang="ko-KR" sz="1400" dirty="0">
                <a:sym typeface="Wingdings" panose="05000000000000000000" pitchFamily="2" charset="2"/>
              </a:rPr>
              <a:t> </a:t>
            </a:r>
            <a:r>
              <a:rPr lang="en-US" altLang="ko-KR" sz="1400" dirty="0" err="1">
                <a:sym typeface="Wingdings" panose="05000000000000000000" pitchFamily="2" charset="2"/>
              </a:rPr>
              <a:t>lệch</a:t>
            </a:r>
            <a:r>
              <a:rPr lang="en-US" altLang="ko-KR" sz="1400" dirty="0">
                <a:sym typeface="Wingdings" panose="05000000000000000000" pitchFamily="2" charset="2"/>
              </a:rPr>
              <a:t> </a:t>
            </a:r>
            <a:r>
              <a:rPr lang="en-US" altLang="ko-KR" sz="1400" dirty="0" err="1">
                <a:sym typeface="Wingdings" panose="05000000000000000000" pitchFamily="2" charset="2"/>
              </a:rPr>
              <a:t>tiêu</a:t>
            </a:r>
            <a:r>
              <a:rPr lang="en-US" altLang="ko-KR" sz="1400" dirty="0">
                <a:sym typeface="Wingdings" panose="05000000000000000000" pitchFamily="2" charset="2"/>
              </a:rPr>
              <a:t> </a:t>
            </a:r>
            <a:r>
              <a:rPr lang="en-US" altLang="ko-KR" sz="1400" dirty="0" err="1">
                <a:sym typeface="Wingdings" panose="05000000000000000000" pitchFamily="2" charset="2"/>
              </a:rPr>
              <a:t>chuẩn</a:t>
            </a:r>
            <a:r>
              <a:rPr lang="en-US" altLang="ko-KR" sz="1400" dirty="0">
                <a:sym typeface="Wingdings" panose="05000000000000000000" pitchFamily="2" charset="2"/>
              </a:rPr>
              <a:t> </a:t>
            </a:r>
            <a:r>
              <a:rPr lang="en-US" altLang="ko-KR" sz="1400" dirty="0" err="1">
                <a:sym typeface="Wingdings" panose="05000000000000000000" pitchFamily="2" charset="2"/>
              </a:rPr>
              <a:t>bình</a:t>
            </a:r>
            <a:r>
              <a:rPr lang="en-US" altLang="ko-KR" sz="1400" dirty="0">
                <a:sym typeface="Wingdings" panose="05000000000000000000" pitchFamily="2" charset="2"/>
              </a:rPr>
              <a:t> </a:t>
            </a:r>
            <a:r>
              <a:rPr lang="en-US" altLang="ko-KR" sz="1400" dirty="0" err="1">
                <a:sym typeface="Wingdings" panose="05000000000000000000" pitchFamily="2" charset="2"/>
              </a:rPr>
              <a:t>quân</a:t>
            </a:r>
            <a:r>
              <a:rPr lang="en-US" altLang="ko-KR" sz="1400" dirty="0">
                <a:sym typeface="Wingdings" panose="05000000000000000000" pitchFamily="2" charset="2"/>
              </a:rPr>
              <a:t> </a:t>
            </a:r>
            <a:r>
              <a:rPr lang="en-US" altLang="ko-KR" sz="1400" dirty="0" err="1">
                <a:sym typeface="Wingdings" panose="05000000000000000000" pitchFamily="2" charset="2"/>
              </a:rPr>
              <a:t>của</a:t>
            </a:r>
            <a:r>
              <a:rPr lang="en-US" altLang="ko-KR" sz="1400" dirty="0">
                <a:sym typeface="Wingdings" panose="05000000000000000000" pitchFamily="2" charset="2"/>
              </a:rPr>
              <a:t> </a:t>
            </a:r>
            <a:r>
              <a:rPr lang="en-US" altLang="ko-KR" sz="1400" dirty="0" err="1">
                <a:sym typeface="Wingdings" panose="05000000000000000000" pitchFamily="2" charset="2"/>
              </a:rPr>
              <a:t>mỗi</a:t>
            </a:r>
            <a:r>
              <a:rPr lang="en-US" altLang="ko-KR" sz="1400" dirty="0">
                <a:sym typeface="Wingdings" panose="05000000000000000000" pitchFamily="2" charset="2"/>
              </a:rPr>
              <a:t> </a:t>
            </a:r>
            <a:r>
              <a:rPr lang="en-US" altLang="ko-KR" sz="1400" dirty="0" err="1">
                <a:sym typeface="Wingdings" panose="05000000000000000000" pitchFamily="2" charset="2"/>
              </a:rPr>
              <a:t>nhóm</a:t>
            </a:r>
            <a:r>
              <a:rPr lang="en-US" altLang="ko-KR" sz="1400" dirty="0">
                <a:sym typeface="Wingdings" panose="05000000000000000000" pitchFamily="2" charset="2"/>
              </a:rPr>
              <a:t> 0.1559</a:t>
            </a:r>
            <a:endParaRPr lang="ko-KR" altLang="en-US" sz="1400" dirty="0"/>
          </a:p>
        </p:txBody>
      </p:sp>
      <p:graphicFrame>
        <p:nvGraphicFramePr>
          <p:cNvPr id="26" name="개체 25"/>
          <p:cNvGraphicFramePr>
            <a:graphicFrameLocks noChangeAspect="1"/>
          </p:cNvGraphicFramePr>
          <p:nvPr>
            <p:extLst>
              <p:ext uri="{D42A27DB-BD31-4B8C-83A1-F6EECF244321}">
                <p14:modId xmlns:p14="http://schemas.microsoft.com/office/powerpoint/2010/main" val="1770360836"/>
              </p:ext>
            </p:extLst>
          </p:nvPr>
        </p:nvGraphicFramePr>
        <p:xfrm>
          <a:off x="1248554" y="5196731"/>
          <a:ext cx="3446585" cy="619125"/>
        </p:xfrm>
        <a:graphic>
          <a:graphicData uri="http://schemas.openxmlformats.org/presentationml/2006/ole">
            <mc:AlternateContent xmlns:mc="http://schemas.openxmlformats.org/markup-compatibility/2006">
              <mc:Choice xmlns:v="urn:schemas-microsoft-com:vml" Requires="v">
                <p:oleObj name="수식" r:id="rId8" imgW="2793960" imgH="482400" progId="Equation.3">
                  <p:embed/>
                </p:oleObj>
              </mc:Choice>
              <mc:Fallback>
                <p:oleObj name="수식" r:id="rId8" imgW="2793960" imgH="482400" progId="Equation.3">
                  <p:embed/>
                  <p:pic>
                    <p:nvPicPr>
                      <p:cNvPr id="26" name="개체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48554" y="5196731"/>
                        <a:ext cx="3446585" cy="619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7" name="TextBox 26"/>
          <p:cNvSpPr txBox="1"/>
          <p:nvPr/>
        </p:nvSpPr>
        <p:spPr>
          <a:xfrm>
            <a:off x="1182085" y="5812332"/>
            <a:ext cx="3248005" cy="372410"/>
          </a:xfrm>
          <a:prstGeom prst="rect">
            <a:avLst/>
          </a:prstGeom>
          <a:noFill/>
        </p:spPr>
        <p:txBody>
          <a:bodyPr wrap="none" rtlCol="0">
            <a:spAutoFit/>
          </a:bodyPr>
          <a:lstStyle/>
          <a:p>
            <a:pPr>
              <a:lnSpc>
                <a:spcPct val="130000"/>
              </a:lnSpc>
              <a:buClr>
                <a:srgbClr val="C5003D"/>
              </a:buClr>
            </a:pPr>
            <a:r>
              <a:rPr lang="en-US" altLang="ko-KR" sz="1400" dirty="0" err="1"/>
              <a:t>Độ</a:t>
            </a:r>
            <a:r>
              <a:rPr lang="en-US" altLang="ko-KR" sz="1400" dirty="0"/>
              <a:t> </a:t>
            </a:r>
            <a:r>
              <a:rPr lang="en-US" altLang="ko-KR" sz="1400" dirty="0" err="1"/>
              <a:t>lệch</a:t>
            </a:r>
            <a:r>
              <a:rPr lang="en-US" altLang="ko-KR" sz="1400" dirty="0"/>
              <a:t> </a:t>
            </a:r>
            <a:r>
              <a:rPr lang="en-US" altLang="ko-KR" sz="1400" dirty="0" err="1"/>
              <a:t>tiêu</a:t>
            </a:r>
            <a:r>
              <a:rPr lang="en-US" altLang="ko-KR" sz="1400" dirty="0"/>
              <a:t> </a:t>
            </a:r>
            <a:r>
              <a:rPr lang="en-US" altLang="ko-KR" sz="1400" dirty="0" err="1"/>
              <a:t>chuẩn</a:t>
            </a:r>
            <a:r>
              <a:rPr lang="en-US" altLang="ko-KR" sz="1400" dirty="0"/>
              <a:t> </a:t>
            </a:r>
            <a:r>
              <a:rPr lang="en-US" altLang="ko-KR" sz="1400" dirty="0" err="1"/>
              <a:t>tổng</a:t>
            </a:r>
            <a:r>
              <a:rPr lang="en-US" altLang="ko-KR" sz="1400" dirty="0"/>
              <a:t> </a:t>
            </a:r>
            <a:r>
              <a:rPr lang="en-US" altLang="ko-KR" sz="1400" dirty="0" err="1"/>
              <a:t>hợp</a:t>
            </a:r>
            <a:r>
              <a:rPr lang="ko-KR" altLang="en-US" sz="1400" dirty="0"/>
              <a:t>  </a:t>
            </a:r>
            <a:r>
              <a:rPr lang="en-US" altLang="ko-KR" sz="1400" dirty="0"/>
              <a:t>0.1597</a:t>
            </a:r>
            <a:endParaRPr lang="ko-KR" altLang="en-US" sz="1400" dirty="0"/>
          </a:p>
        </p:txBody>
      </p:sp>
      <p:sp>
        <p:nvSpPr>
          <p:cNvPr id="28" name="Text Box 39"/>
          <p:cNvSpPr txBox="1">
            <a:spLocks noChangeArrowheads="1"/>
          </p:cNvSpPr>
          <p:nvPr/>
        </p:nvSpPr>
        <p:spPr bwMode="auto">
          <a:xfrm>
            <a:off x="251521" y="692696"/>
            <a:ext cx="4053417"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Tính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toán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của</a:t>
            </a:r>
            <a:r>
              <a:rPr lang="en-US" altLang="ko-KR" sz="2000" b="1" dirty="0">
                <a:latin typeface="맑은 고딕" pitchFamily="50" charset="-127"/>
                <a:ea typeface="맑은 고딕" pitchFamily="50" charset="-127"/>
              </a:rPr>
              <a:t> process</a:t>
            </a:r>
          </a:p>
        </p:txBody>
      </p:sp>
      <p:sp>
        <p:nvSpPr>
          <p:cNvPr id="19" name="Text Box 39"/>
          <p:cNvSpPr txBox="1">
            <a:spLocks noChangeArrowheads="1"/>
          </p:cNvSpPr>
          <p:nvPr/>
        </p:nvSpPr>
        <p:spPr bwMode="auto">
          <a:xfrm>
            <a:off x="234902" y="116632"/>
            <a:ext cx="2518253"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Hiểu</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về</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tán</a:t>
            </a:r>
            <a:r>
              <a:rPr lang="en-US" altLang="ko-KR" sz="2000" b="1" dirty="0">
                <a:latin typeface="맑은 고딕" pitchFamily="50" charset="-127"/>
                <a:ea typeface="맑은 고딕" pitchFamily="50" charset="-127"/>
              </a:rPr>
              <a:t> </a:t>
            </a:r>
          </a:p>
        </p:txBody>
      </p:sp>
    </p:spTree>
    <p:extLst>
      <p:ext uri="{BB962C8B-B14F-4D97-AF65-F5344CB8AC3E}">
        <p14:creationId xmlns:p14="http://schemas.microsoft.com/office/powerpoint/2010/main" val="3572159181"/>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bwMode="auto">
          <a:xfrm>
            <a:off x="916219" y="1484784"/>
            <a:ext cx="7378051" cy="4320480"/>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0964" name="Text Box 55"/>
          <p:cNvSpPr txBox="1">
            <a:spLocks noChangeArrowheads="1"/>
          </p:cNvSpPr>
          <p:nvPr/>
        </p:nvSpPr>
        <p:spPr bwMode="auto">
          <a:xfrm>
            <a:off x="583869" y="980728"/>
            <a:ext cx="752621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Process Capability) is…</a:t>
            </a:r>
            <a:r>
              <a:rPr lang="ko-KR" altLang="en-US" sz="1600" b="1" baseline="0" dirty="0">
                <a:solidFill>
                  <a:srgbClr val="000000"/>
                </a:solidFill>
              </a:rPr>
              <a:t> </a:t>
            </a:r>
            <a:endParaRPr lang="en-US" altLang="ko-KR" sz="1600" b="1" baseline="0" dirty="0">
              <a:solidFill>
                <a:srgbClr val="000000"/>
              </a:solidFill>
            </a:endParaRPr>
          </a:p>
        </p:txBody>
      </p:sp>
      <p:sp>
        <p:nvSpPr>
          <p:cNvPr id="40967" name="Rectangle 2"/>
          <p:cNvSpPr>
            <a:spLocks noChangeArrowheads="1"/>
          </p:cNvSpPr>
          <p:nvPr/>
        </p:nvSpPr>
        <p:spPr bwMode="auto">
          <a:xfrm>
            <a:off x="1320322" y="1403351"/>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sp>
        <p:nvSpPr>
          <p:cNvPr id="40968" name="Oval 12"/>
          <p:cNvSpPr>
            <a:spLocks noChangeArrowheads="1"/>
          </p:cNvSpPr>
          <p:nvPr/>
        </p:nvSpPr>
        <p:spPr bwMode="auto">
          <a:xfrm>
            <a:off x="1081454" y="1817458"/>
            <a:ext cx="1129812" cy="1179513"/>
          </a:xfrm>
          <a:prstGeom prst="ellipse">
            <a:avLst/>
          </a:prstGeom>
          <a:solidFill>
            <a:srgbClr val="92D050"/>
          </a:solidFill>
          <a:ln w="76200" cmpd="tri">
            <a:solidFill>
              <a:srgbClr val="C0C0C0"/>
            </a:solidFill>
            <a:round/>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ko-KR" altLang="en-US" dirty="0">
              <a:solidFill>
                <a:srgbClr val="000000"/>
              </a:solidFill>
            </a:endParaRPr>
          </a:p>
        </p:txBody>
      </p:sp>
      <p:sp>
        <p:nvSpPr>
          <p:cNvPr id="40969" name="Rectangle 13"/>
          <p:cNvSpPr>
            <a:spLocks noChangeArrowheads="1"/>
          </p:cNvSpPr>
          <p:nvPr/>
        </p:nvSpPr>
        <p:spPr bwMode="auto">
          <a:xfrm>
            <a:off x="1142977" y="2006369"/>
            <a:ext cx="105926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lnSpc>
                <a:spcPct val="120000"/>
              </a:lnSpc>
            </a:pPr>
            <a:r>
              <a:rPr lang="en-US" altLang="ko-KR" sz="1500" b="1" baseline="0" dirty="0">
                <a:solidFill>
                  <a:srgbClr val="000000"/>
                </a:solidFill>
              </a:rPr>
              <a:t>What is </a:t>
            </a:r>
          </a:p>
          <a:p>
            <a:pPr algn="ctr" eaLnBrk="1" hangingPunct="1">
              <a:lnSpc>
                <a:spcPct val="120000"/>
              </a:lnSpc>
            </a:pPr>
            <a:r>
              <a:rPr lang="en-US" altLang="ko-KR" sz="1500" b="1" baseline="0" dirty="0">
                <a:solidFill>
                  <a:srgbClr val="000000"/>
                </a:solidFill>
              </a:rPr>
              <a:t>Process </a:t>
            </a:r>
          </a:p>
          <a:p>
            <a:pPr algn="ctr" eaLnBrk="1" hangingPunct="1">
              <a:lnSpc>
                <a:spcPct val="120000"/>
              </a:lnSpc>
            </a:pPr>
            <a:r>
              <a:rPr lang="en-US" altLang="ko-KR" sz="1500" b="1" baseline="0" dirty="0">
                <a:solidFill>
                  <a:srgbClr val="000000"/>
                </a:solidFill>
              </a:rPr>
              <a:t>capability</a:t>
            </a:r>
            <a:endParaRPr lang="ko-KR" altLang="en-US" sz="1500" b="1" baseline="0" dirty="0">
              <a:solidFill>
                <a:srgbClr val="000000"/>
              </a:solidFill>
            </a:endParaRPr>
          </a:p>
        </p:txBody>
      </p:sp>
      <p:sp>
        <p:nvSpPr>
          <p:cNvPr id="40970" name="Oval 14"/>
          <p:cNvSpPr>
            <a:spLocks noChangeArrowheads="1"/>
          </p:cNvSpPr>
          <p:nvPr/>
        </p:nvSpPr>
        <p:spPr bwMode="auto">
          <a:xfrm>
            <a:off x="1082923" y="3140970"/>
            <a:ext cx="1129811" cy="1182687"/>
          </a:xfrm>
          <a:prstGeom prst="ellipse">
            <a:avLst/>
          </a:prstGeom>
          <a:solidFill>
            <a:srgbClr val="92D050"/>
          </a:solidFill>
          <a:ln w="76200" cmpd="tri">
            <a:solidFill>
              <a:srgbClr val="C0C0C0"/>
            </a:solidFill>
            <a:round/>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ko-KR" altLang="en-US" dirty="0">
              <a:solidFill>
                <a:srgbClr val="000000"/>
              </a:solidFill>
            </a:endParaRPr>
          </a:p>
        </p:txBody>
      </p:sp>
      <p:sp>
        <p:nvSpPr>
          <p:cNvPr id="40971" name="Rectangle 15"/>
          <p:cNvSpPr>
            <a:spLocks noChangeArrowheads="1"/>
          </p:cNvSpPr>
          <p:nvPr/>
        </p:nvSpPr>
        <p:spPr bwMode="auto">
          <a:xfrm>
            <a:off x="1205278" y="3393385"/>
            <a:ext cx="108972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lnSpc>
                <a:spcPct val="120000"/>
              </a:lnSpc>
            </a:pPr>
            <a:r>
              <a:rPr lang="en-US" altLang="ko-KR" sz="1500" b="1" baseline="0" dirty="0">
                <a:solidFill>
                  <a:srgbClr val="000000"/>
                </a:solidFill>
              </a:rPr>
              <a:t>Process </a:t>
            </a:r>
          </a:p>
          <a:p>
            <a:pPr algn="ctr" eaLnBrk="1" hangingPunct="1">
              <a:lnSpc>
                <a:spcPct val="120000"/>
              </a:lnSpc>
            </a:pPr>
            <a:r>
              <a:rPr lang="en-US" altLang="ko-KR" sz="1500" b="1" baseline="0" dirty="0">
                <a:solidFill>
                  <a:srgbClr val="000000"/>
                </a:solidFill>
              </a:rPr>
              <a:t>Capability</a:t>
            </a:r>
          </a:p>
          <a:p>
            <a:pPr algn="ctr" eaLnBrk="1" hangingPunct="1">
              <a:lnSpc>
                <a:spcPct val="120000"/>
              </a:lnSpc>
            </a:pPr>
            <a:r>
              <a:rPr lang="en-US" altLang="ko-KR" sz="1500" b="1" baseline="0" dirty="0">
                <a:solidFill>
                  <a:srgbClr val="000000"/>
                </a:solidFill>
              </a:rPr>
              <a:t>index</a:t>
            </a:r>
            <a:endParaRPr lang="ko-KR" altLang="en-US" sz="1500" b="1" baseline="0" dirty="0">
              <a:solidFill>
                <a:srgbClr val="000000"/>
              </a:solidFill>
            </a:endParaRPr>
          </a:p>
        </p:txBody>
      </p:sp>
      <p:sp>
        <p:nvSpPr>
          <p:cNvPr id="40972" name="Oval 16"/>
          <p:cNvSpPr>
            <a:spLocks noChangeArrowheads="1"/>
          </p:cNvSpPr>
          <p:nvPr/>
        </p:nvSpPr>
        <p:spPr bwMode="auto">
          <a:xfrm>
            <a:off x="1082920" y="4481736"/>
            <a:ext cx="1128346" cy="1179512"/>
          </a:xfrm>
          <a:prstGeom prst="ellipse">
            <a:avLst/>
          </a:prstGeom>
          <a:solidFill>
            <a:srgbClr val="92D050"/>
          </a:solidFill>
          <a:ln w="76200" cmpd="tri">
            <a:solidFill>
              <a:srgbClr val="C0C0C0"/>
            </a:solidFill>
            <a:round/>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ko-KR" altLang="en-US" dirty="0">
              <a:solidFill>
                <a:srgbClr val="000000"/>
              </a:solidFill>
            </a:endParaRPr>
          </a:p>
        </p:txBody>
      </p:sp>
      <p:sp>
        <p:nvSpPr>
          <p:cNvPr id="40973" name="Rectangle 17"/>
          <p:cNvSpPr>
            <a:spLocks noChangeArrowheads="1"/>
          </p:cNvSpPr>
          <p:nvPr/>
        </p:nvSpPr>
        <p:spPr bwMode="auto">
          <a:xfrm>
            <a:off x="879205" y="4676126"/>
            <a:ext cx="166359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lnSpc>
                <a:spcPct val="120000"/>
              </a:lnSpc>
            </a:pPr>
            <a:r>
              <a:rPr lang="en-US" altLang="ko-KR" sz="1500" b="1" baseline="0" dirty="0">
                <a:solidFill>
                  <a:srgbClr val="000000"/>
                </a:solidFill>
              </a:rPr>
              <a:t>Types of</a:t>
            </a:r>
          </a:p>
          <a:p>
            <a:pPr algn="ctr" eaLnBrk="1" hangingPunct="1">
              <a:lnSpc>
                <a:spcPct val="120000"/>
              </a:lnSpc>
            </a:pPr>
            <a:r>
              <a:rPr lang="en-US" altLang="ko-KR" sz="1500" b="1" baseline="0" dirty="0">
                <a:solidFill>
                  <a:srgbClr val="000000"/>
                </a:solidFill>
              </a:rPr>
              <a:t> Process </a:t>
            </a:r>
          </a:p>
          <a:p>
            <a:pPr algn="ctr" eaLnBrk="1" hangingPunct="1">
              <a:lnSpc>
                <a:spcPct val="120000"/>
              </a:lnSpc>
            </a:pPr>
            <a:r>
              <a:rPr lang="en-US" altLang="ko-KR" sz="1500" b="1" baseline="0" dirty="0">
                <a:solidFill>
                  <a:srgbClr val="000000"/>
                </a:solidFill>
              </a:rPr>
              <a:t>Capability Index</a:t>
            </a:r>
            <a:endParaRPr lang="ko-KR" altLang="en-US" sz="1500" b="1" baseline="0" dirty="0">
              <a:solidFill>
                <a:srgbClr val="000000"/>
              </a:solidFill>
            </a:endParaRPr>
          </a:p>
        </p:txBody>
      </p:sp>
      <p:sp>
        <p:nvSpPr>
          <p:cNvPr id="40974" name="Rectangle 19"/>
          <p:cNvSpPr>
            <a:spLocks noChangeArrowheads="1"/>
          </p:cNvSpPr>
          <p:nvPr/>
        </p:nvSpPr>
        <p:spPr bwMode="auto">
          <a:xfrm>
            <a:off x="2417885" y="2127020"/>
            <a:ext cx="5443904"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lnSpc>
                <a:spcPct val="80000"/>
              </a:lnSpc>
              <a:spcBef>
                <a:spcPct val="50000"/>
              </a:spcBef>
            </a:pPr>
            <a:r>
              <a:rPr lang="en-US" altLang="ko-KR" b="1" baseline="0" dirty="0">
                <a:solidFill>
                  <a:srgbClr val="000000"/>
                </a:solidFill>
              </a:rPr>
              <a:t>How production processes can produce equal quality products in response to customer requirements, and thereby assess the future performance of the process</a:t>
            </a:r>
            <a:endParaRPr lang="ko-KR" altLang="en-US" b="1" baseline="0" dirty="0">
              <a:solidFill>
                <a:srgbClr val="000000"/>
              </a:solidFill>
            </a:endParaRPr>
          </a:p>
        </p:txBody>
      </p:sp>
      <p:sp>
        <p:nvSpPr>
          <p:cNvPr id="40975" name="Rectangle 21"/>
          <p:cNvSpPr>
            <a:spLocks noChangeArrowheads="1"/>
          </p:cNvSpPr>
          <p:nvPr/>
        </p:nvSpPr>
        <p:spPr bwMode="auto">
          <a:xfrm>
            <a:off x="2410558" y="3488631"/>
            <a:ext cx="5443903"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lnSpc>
                <a:spcPct val="80000"/>
              </a:lnSpc>
              <a:spcBef>
                <a:spcPct val="50000"/>
              </a:spcBef>
            </a:pPr>
            <a:r>
              <a:rPr lang="en-US" altLang="ko-KR" b="1" baseline="0" dirty="0">
                <a:solidFill>
                  <a:srgbClr val="000000"/>
                </a:solidFill>
              </a:rPr>
              <a:t>Numerical representation of the ability of the process to perform in preparation for Specification Limits</a:t>
            </a:r>
            <a:endParaRPr lang="ko-KR" altLang="en-US" b="1" baseline="0" dirty="0">
              <a:solidFill>
                <a:srgbClr val="000000"/>
              </a:solidFill>
            </a:endParaRPr>
          </a:p>
        </p:txBody>
      </p:sp>
      <p:sp>
        <p:nvSpPr>
          <p:cNvPr id="40976" name="Rectangle 22"/>
          <p:cNvSpPr>
            <a:spLocks noChangeArrowheads="1"/>
          </p:cNvSpPr>
          <p:nvPr/>
        </p:nvSpPr>
        <p:spPr bwMode="auto">
          <a:xfrm>
            <a:off x="2410558" y="4700588"/>
            <a:ext cx="5443903"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lnSpc>
                <a:spcPct val="120000"/>
              </a:lnSpc>
              <a:spcBef>
                <a:spcPct val="20000"/>
              </a:spcBef>
            </a:pPr>
            <a:r>
              <a:rPr lang="en-US" altLang="ko-KR" b="1" baseline="0" dirty="0">
                <a:solidFill>
                  <a:srgbClr val="000000"/>
                </a:solidFill>
              </a:rPr>
              <a:t>Types of process capability index</a:t>
            </a:r>
            <a:endParaRPr lang="ko-KR" altLang="en-US" b="1" baseline="0" dirty="0">
              <a:solidFill>
                <a:srgbClr val="000000"/>
              </a:solidFill>
            </a:endParaRPr>
          </a:p>
        </p:txBody>
      </p:sp>
      <p:sp>
        <p:nvSpPr>
          <p:cNvPr id="40977" name="Rectangle 24"/>
          <p:cNvSpPr>
            <a:spLocks noChangeArrowheads="1"/>
          </p:cNvSpPr>
          <p:nvPr/>
        </p:nvSpPr>
        <p:spPr bwMode="auto">
          <a:xfrm>
            <a:off x="2045677" y="4983181"/>
            <a:ext cx="4572000" cy="393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lgn="ctr">
                <a:solidFill>
                  <a:srgbClr val="000000"/>
                </a:solidFill>
                <a:miter lim="800000"/>
                <a:headEnd/>
                <a:tailEnd/>
              </a14:hiddenLine>
            </a:ext>
          </a:extLst>
        </p:spPr>
        <p:txBody>
          <a:bodyPr>
            <a:spAutoFit/>
          </a:bodyPr>
          <a:lstStyle>
            <a:lvl1pPr marL="342900" indent="-342900" eaLnBrk="0" hangingPunct="0">
              <a:defRPr kumimoji="1" sz="1400" baseline="-25000">
                <a:solidFill>
                  <a:schemeClr val="tx1"/>
                </a:solidFill>
                <a:latin typeface="맑은 고딕" pitchFamily="50" charset="-127"/>
                <a:ea typeface="맑은 고딕" pitchFamily="50" charset="-127"/>
              </a:defRPr>
            </a:lvl1pPr>
            <a:lvl2pPr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vl="1" eaLnBrk="1" hangingPunct="1">
              <a:lnSpc>
                <a:spcPct val="140000"/>
              </a:lnSpc>
            </a:pPr>
            <a:r>
              <a:rPr lang="en-US" altLang="ko-KR" b="1" baseline="0" dirty="0">
                <a:solidFill>
                  <a:srgbClr val="000000"/>
                </a:solidFill>
              </a:rPr>
              <a:t>Cp, Cpk, Pp, Ppk</a:t>
            </a:r>
          </a:p>
        </p:txBody>
      </p:sp>
      <p:sp>
        <p:nvSpPr>
          <p:cNvPr id="20"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
        <p:nvSpPr>
          <p:cNvPr id="17"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200</a:t>
            </a:fld>
            <a:endParaRPr lang="ko-KR" altLang="en-US" sz="1200" dirty="0"/>
          </a:p>
        </p:txBody>
      </p:sp>
    </p:spTree>
    <p:extLst>
      <p:ext uri="{BB962C8B-B14F-4D97-AF65-F5344CB8AC3E}">
        <p14:creationId xmlns:p14="http://schemas.microsoft.com/office/powerpoint/2010/main" val="3380089055"/>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직사각형 24"/>
          <p:cNvSpPr/>
          <p:nvPr/>
        </p:nvSpPr>
        <p:spPr bwMode="auto">
          <a:xfrm>
            <a:off x="921784" y="1286476"/>
            <a:ext cx="7408954" cy="1903011"/>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19" name="Text Box 39"/>
          <p:cNvSpPr txBox="1">
            <a:spLocks noChangeArrowheads="1"/>
          </p:cNvSpPr>
          <p:nvPr/>
        </p:nvSpPr>
        <p:spPr bwMode="auto">
          <a:xfrm>
            <a:off x="127741" y="7656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
        <p:nvSpPr>
          <p:cNvPr id="21" name="Rectangle 3"/>
          <p:cNvSpPr>
            <a:spLocks noChangeArrowheads="1"/>
          </p:cNvSpPr>
          <p:nvPr/>
        </p:nvSpPr>
        <p:spPr bwMode="auto">
          <a:xfrm>
            <a:off x="1064376" y="1358502"/>
            <a:ext cx="6804763" cy="18309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lnSpc>
                <a:spcPct val="120000"/>
              </a:lnSpc>
            </a:pPr>
            <a:r>
              <a:rPr lang="en-US" altLang="ko-KR" sz="1600" b="1" dirty="0">
                <a:latin typeface="+mn-lt"/>
              </a:rPr>
              <a:t>Evaluation of new equipment</a:t>
            </a:r>
          </a:p>
          <a:p>
            <a:pPr eaLnBrk="1" hangingPunct="1">
              <a:lnSpc>
                <a:spcPct val="120000"/>
              </a:lnSpc>
            </a:pPr>
            <a:r>
              <a:rPr lang="en-US" altLang="ko-KR" sz="1600" dirty="0">
                <a:latin typeface="+mn-lt"/>
              </a:rPr>
              <a:t>Tolerance based on process inherent or total variation</a:t>
            </a:r>
          </a:p>
          <a:p>
            <a:pPr eaLnBrk="1" hangingPunct="1">
              <a:lnSpc>
                <a:spcPct val="120000"/>
              </a:lnSpc>
            </a:pPr>
            <a:r>
              <a:rPr lang="en-US" altLang="ko-KR" sz="1600" b="1" dirty="0">
                <a:latin typeface="+mn-lt"/>
              </a:rPr>
              <a:t>Regular process performance survey</a:t>
            </a:r>
          </a:p>
          <a:p>
            <a:pPr eaLnBrk="1" hangingPunct="1">
              <a:lnSpc>
                <a:spcPct val="120000"/>
              </a:lnSpc>
            </a:pPr>
            <a:r>
              <a:rPr lang="en-US" altLang="ko-KR" sz="1600" b="1" dirty="0">
                <a:latin typeface="+mn-lt"/>
              </a:rPr>
              <a:t>To find the effect of adjustment during process operation</a:t>
            </a:r>
          </a:p>
          <a:p>
            <a:pPr eaLnBrk="1" hangingPunct="1">
              <a:lnSpc>
                <a:spcPct val="120000"/>
              </a:lnSpc>
            </a:pPr>
            <a:r>
              <a:rPr lang="en-US" altLang="ko-KR" sz="1600" dirty="0">
                <a:latin typeface="+mn-lt"/>
              </a:rPr>
              <a:t>Practical Specification Settings</a:t>
            </a:r>
            <a:endParaRPr lang="ko-KR" altLang="en-US" sz="1600" dirty="0">
              <a:latin typeface="+mn-lt"/>
            </a:endParaRPr>
          </a:p>
        </p:txBody>
      </p:sp>
      <p:sp>
        <p:nvSpPr>
          <p:cNvPr id="24" name="Text Box 55"/>
          <p:cNvSpPr txBox="1">
            <a:spLocks noChangeArrowheads="1"/>
          </p:cNvSpPr>
          <p:nvPr/>
        </p:nvSpPr>
        <p:spPr bwMode="auto">
          <a:xfrm>
            <a:off x="650334" y="836712"/>
            <a:ext cx="75262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Purpose of grasping process capability?</a:t>
            </a:r>
            <a:endParaRPr lang="ko-KR" altLang="en-US" sz="1600" b="1" baseline="0" dirty="0">
              <a:solidFill>
                <a:srgbClr val="000000"/>
              </a:solidFill>
            </a:endParaRPr>
          </a:p>
        </p:txBody>
      </p:sp>
      <p:sp>
        <p:nvSpPr>
          <p:cNvPr id="23" name="Rectangle 2"/>
          <p:cNvSpPr>
            <a:spLocks noChangeArrowheads="1"/>
          </p:cNvSpPr>
          <p:nvPr/>
        </p:nvSpPr>
        <p:spPr bwMode="auto">
          <a:xfrm>
            <a:off x="783272" y="4077072"/>
            <a:ext cx="7547466" cy="2352324"/>
          </a:xfrm>
          <a:prstGeom prst="rect">
            <a:avLst/>
          </a:prstGeom>
          <a:solidFill>
            <a:schemeClr val="bg2">
              <a:lumMod val="20000"/>
              <a:lumOff val="80000"/>
            </a:schemeClr>
          </a:solidFill>
          <a:ln>
            <a:noFill/>
          </a:ln>
          <a:effectLst/>
        </p:spPr>
        <p:txBody>
          <a:bodyPr/>
          <a:lstStyle>
            <a:lvl1pPr marL="342900" indent="-3429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Aft>
                <a:spcPct val="25000"/>
              </a:spcAft>
              <a:buClr>
                <a:schemeClr val="tx1"/>
              </a:buClr>
              <a:buSzPct val="115000"/>
              <a:buFont typeface="Wingdings" pitchFamily="2" charset="2"/>
              <a:buChar char="ü"/>
            </a:pPr>
            <a:endParaRPr lang="en-US" altLang="ko-KR" sz="1600" dirty="0">
              <a:latin typeface="+mn-lt"/>
            </a:endParaRPr>
          </a:p>
          <a:p>
            <a:pPr eaLnBrk="1" hangingPunct="1">
              <a:spcAft>
                <a:spcPct val="25000"/>
              </a:spcAft>
              <a:buClr>
                <a:schemeClr val="tx1"/>
              </a:buClr>
              <a:buSzPct val="115000"/>
              <a:buFont typeface="Wingdings" pitchFamily="2" charset="2"/>
              <a:buChar char="ü"/>
            </a:pPr>
            <a:r>
              <a:rPr lang="en-US" altLang="ko-KR" sz="1600" dirty="0">
                <a:latin typeface="+mn-lt"/>
              </a:rPr>
              <a:t>The process capability index is not used alone to describe the process.</a:t>
            </a:r>
          </a:p>
          <a:p>
            <a:pPr eaLnBrk="1" hangingPunct="1">
              <a:spcAft>
                <a:spcPct val="25000"/>
              </a:spcAft>
              <a:buClr>
                <a:schemeClr val="tx1"/>
              </a:buClr>
              <a:buSzPct val="115000"/>
              <a:buFont typeface="Wingdings" pitchFamily="2" charset="2"/>
              <a:buChar char="ü"/>
            </a:pPr>
            <a:r>
              <a:rPr lang="en-US" altLang="ko-KR" sz="1600" dirty="0">
                <a:latin typeface="+mn-lt"/>
              </a:rPr>
              <a:t>Two or more process capability evaluation indices are used to fully understand the process.</a:t>
            </a:r>
          </a:p>
          <a:p>
            <a:pPr eaLnBrk="1" hangingPunct="1">
              <a:spcAft>
                <a:spcPct val="25000"/>
              </a:spcAft>
              <a:buClr>
                <a:schemeClr val="tx1"/>
              </a:buClr>
              <a:buSzPct val="115000"/>
              <a:buFont typeface="Wingdings" pitchFamily="2" charset="2"/>
              <a:buChar char="ü"/>
            </a:pPr>
            <a:r>
              <a:rPr lang="en-US" altLang="ko-KR" sz="1600" dirty="0">
                <a:latin typeface="+mn-lt"/>
              </a:rPr>
              <a:t>Analyze process capability along with charts such as control chart, distribution chart, etc.</a:t>
            </a:r>
          </a:p>
          <a:p>
            <a:pPr eaLnBrk="1" hangingPunct="1">
              <a:spcAft>
                <a:spcPct val="25000"/>
              </a:spcAft>
              <a:buClr>
                <a:schemeClr val="tx1"/>
              </a:buClr>
              <a:buSzPct val="115000"/>
              <a:buFont typeface="Wingdings" pitchFamily="2" charset="2"/>
              <a:buChar char="ü"/>
            </a:pPr>
            <a:r>
              <a:rPr lang="en-US" altLang="ko-KR" sz="1600" dirty="0">
                <a:latin typeface="+mn-lt"/>
              </a:rPr>
              <a:t>Try to match the voice of the process (VOP) to the voice of the customer (VOC).</a:t>
            </a:r>
          </a:p>
        </p:txBody>
      </p:sp>
      <p:sp>
        <p:nvSpPr>
          <p:cNvPr id="27" name="Text Box 55"/>
          <p:cNvSpPr txBox="1">
            <a:spLocks noChangeArrowheads="1"/>
          </p:cNvSpPr>
          <p:nvPr/>
        </p:nvSpPr>
        <p:spPr bwMode="auto">
          <a:xfrm>
            <a:off x="650334" y="3573016"/>
            <a:ext cx="820794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Considerations when applying the Process Capability Index</a:t>
            </a:r>
          </a:p>
        </p:txBody>
      </p:sp>
      <p:sp>
        <p:nvSpPr>
          <p:cNvPr id="9"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201</a:t>
            </a:fld>
            <a:endParaRPr lang="ko-KR" altLang="en-US" sz="1200" dirty="0"/>
          </a:p>
        </p:txBody>
      </p:sp>
    </p:spTree>
    <p:extLst>
      <p:ext uri="{BB962C8B-B14F-4D97-AF65-F5344CB8AC3E}">
        <p14:creationId xmlns:p14="http://schemas.microsoft.com/office/powerpoint/2010/main" val="4015730907"/>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bwMode="auto">
          <a:xfrm>
            <a:off x="916210" y="1484784"/>
            <a:ext cx="7378051" cy="4320480"/>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0964" name="Text Box 55"/>
          <p:cNvSpPr txBox="1">
            <a:spLocks noChangeArrowheads="1"/>
          </p:cNvSpPr>
          <p:nvPr/>
        </p:nvSpPr>
        <p:spPr bwMode="auto">
          <a:xfrm>
            <a:off x="583869" y="980728"/>
            <a:ext cx="752621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 (Process Capability)</a:t>
            </a:r>
            <a:r>
              <a:rPr lang="ko-KR" altLang="en-US" sz="1600" b="1" baseline="0" dirty="0">
                <a:solidFill>
                  <a:srgbClr val="000000"/>
                </a:solidFill>
              </a:rPr>
              <a:t> </a:t>
            </a:r>
            <a:r>
              <a:rPr lang="en-US" altLang="ko-KR" sz="1600" b="1" baseline="0" dirty="0" err="1">
                <a:solidFill>
                  <a:srgbClr val="000000"/>
                </a:solidFill>
              </a:rPr>
              <a:t>là</a:t>
            </a:r>
            <a:r>
              <a:rPr lang="en-US" altLang="ko-KR" sz="1600" b="1" baseline="0" dirty="0">
                <a:solidFill>
                  <a:srgbClr val="000000"/>
                </a:solidFill>
              </a:rPr>
              <a:t> </a:t>
            </a:r>
            <a:r>
              <a:rPr lang="en-US" altLang="ko-KR" sz="1600" b="1" baseline="0" dirty="0" err="1">
                <a:solidFill>
                  <a:srgbClr val="000000"/>
                </a:solidFill>
              </a:rPr>
              <a:t>gì</a:t>
            </a:r>
            <a:r>
              <a:rPr lang="ko-KR" altLang="en-US" sz="1600" b="1" baseline="0" dirty="0">
                <a:solidFill>
                  <a:srgbClr val="000000"/>
                </a:solidFill>
              </a:rPr>
              <a:t> </a:t>
            </a:r>
            <a:endParaRPr lang="en-US" altLang="ko-KR" sz="1600" b="1" baseline="0" dirty="0">
              <a:solidFill>
                <a:srgbClr val="000000"/>
              </a:solidFill>
            </a:endParaRPr>
          </a:p>
        </p:txBody>
      </p:sp>
      <p:sp>
        <p:nvSpPr>
          <p:cNvPr id="40967" name="Rectangle 2"/>
          <p:cNvSpPr>
            <a:spLocks noChangeArrowheads="1"/>
          </p:cNvSpPr>
          <p:nvPr/>
        </p:nvSpPr>
        <p:spPr bwMode="auto">
          <a:xfrm>
            <a:off x="1320322" y="1403351"/>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sp>
        <p:nvSpPr>
          <p:cNvPr id="40968" name="Oval 12"/>
          <p:cNvSpPr>
            <a:spLocks noChangeArrowheads="1"/>
          </p:cNvSpPr>
          <p:nvPr/>
        </p:nvSpPr>
        <p:spPr bwMode="auto">
          <a:xfrm>
            <a:off x="1081454" y="1817458"/>
            <a:ext cx="1129812" cy="1179513"/>
          </a:xfrm>
          <a:prstGeom prst="ellipse">
            <a:avLst/>
          </a:prstGeom>
          <a:solidFill>
            <a:srgbClr val="92D050"/>
          </a:solidFill>
          <a:ln w="76200" cmpd="tri">
            <a:solidFill>
              <a:srgbClr val="C0C0C0"/>
            </a:solidFill>
            <a:round/>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ko-KR" altLang="en-US" dirty="0">
              <a:solidFill>
                <a:srgbClr val="000000"/>
              </a:solidFill>
            </a:endParaRPr>
          </a:p>
        </p:txBody>
      </p:sp>
      <p:sp>
        <p:nvSpPr>
          <p:cNvPr id="40969" name="Rectangle 13"/>
          <p:cNvSpPr>
            <a:spLocks noChangeArrowheads="1"/>
          </p:cNvSpPr>
          <p:nvPr/>
        </p:nvSpPr>
        <p:spPr bwMode="auto">
          <a:xfrm>
            <a:off x="1061055" y="2006369"/>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lnSpc>
                <a:spcPct val="120000"/>
              </a:lnSpc>
            </a:pPr>
            <a:r>
              <a:rPr lang="en-US" altLang="ko-KR" sz="1500" b="1" baseline="0" dirty="0" err="1">
                <a:solidFill>
                  <a:srgbClr val="000000"/>
                </a:solidFill>
              </a:rPr>
              <a:t>Định</a:t>
            </a:r>
            <a:r>
              <a:rPr lang="en-US" altLang="ko-KR" sz="1500" b="1" baseline="0" dirty="0">
                <a:solidFill>
                  <a:srgbClr val="000000"/>
                </a:solidFill>
              </a:rPr>
              <a:t> </a:t>
            </a:r>
            <a:r>
              <a:rPr lang="en-US" altLang="ko-KR" sz="1500" b="1" baseline="0" dirty="0" err="1">
                <a:solidFill>
                  <a:srgbClr val="000000"/>
                </a:solidFill>
              </a:rPr>
              <a:t>nghĩa</a:t>
            </a:r>
            <a:r>
              <a:rPr lang="en-US" altLang="ko-KR" sz="1500" b="1" baseline="0" dirty="0">
                <a:solidFill>
                  <a:srgbClr val="000000"/>
                </a:solidFill>
              </a:rPr>
              <a:t> </a:t>
            </a:r>
          </a:p>
          <a:p>
            <a:pPr algn="ctr" eaLnBrk="1" hangingPunct="1">
              <a:lnSpc>
                <a:spcPct val="120000"/>
              </a:lnSpc>
            </a:pPr>
            <a:r>
              <a:rPr lang="en-US" altLang="ko-KR" sz="1500" b="1" baseline="0" dirty="0" err="1">
                <a:solidFill>
                  <a:srgbClr val="000000"/>
                </a:solidFill>
              </a:rPr>
              <a:t>năng</a:t>
            </a:r>
            <a:r>
              <a:rPr lang="en-US" altLang="ko-KR" sz="1500" b="1" baseline="0" dirty="0">
                <a:solidFill>
                  <a:srgbClr val="000000"/>
                </a:solidFill>
              </a:rPr>
              <a:t> </a:t>
            </a:r>
            <a:r>
              <a:rPr lang="en-US" altLang="ko-KR" sz="1500" b="1" baseline="0" dirty="0" err="1">
                <a:solidFill>
                  <a:srgbClr val="000000"/>
                </a:solidFill>
              </a:rPr>
              <a:t>lực</a:t>
            </a:r>
            <a:r>
              <a:rPr lang="en-US" altLang="ko-KR" sz="1500" b="1" baseline="0" dirty="0">
                <a:solidFill>
                  <a:srgbClr val="000000"/>
                </a:solidFill>
              </a:rPr>
              <a:t> </a:t>
            </a:r>
          </a:p>
          <a:p>
            <a:pPr algn="ctr" eaLnBrk="1" hangingPunct="1">
              <a:lnSpc>
                <a:spcPct val="120000"/>
              </a:lnSpc>
            </a:pPr>
            <a:r>
              <a:rPr lang="en-US" altLang="ko-KR" sz="1500" b="1" baseline="0" dirty="0">
                <a:solidFill>
                  <a:srgbClr val="000000"/>
                </a:solidFill>
              </a:rPr>
              <a:t>process</a:t>
            </a:r>
            <a:endParaRPr lang="ko-KR" altLang="en-US" sz="1500" b="1" baseline="0" dirty="0">
              <a:solidFill>
                <a:srgbClr val="000000"/>
              </a:solidFill>
            </a:endParaRPr>
          </a:p>
        </p:txBody>
      </p:sp>
      <p:sp>
        <p:nvSpPr>
          <p:cNvPr id="40970" name="Oval 14"/>
          <p:cNvSpPr>
            <a:spLocks noChangeArrowheads="1"/>
          </p:cNvSpPr>
          <p:nvPr/>
        </p:nvSpPr>
        <p:spPr bwMode="auto">
          <a:xfrm>
            <a:off x="1082923" y="3140970"/>
            <a:ext cx="1129811" cy="1182687"/>
          </a:xfrm>
          <a:prstGeom prst="ellipse">
            <a:avLst/>
          </a:prstGeom>
          <a:solidFill>
            <a:srgbClr val="92D050"/>
          </a:solidFill>
          <a:ln w="76200" cmpd="tri">
            <a:solidFill>
              <a:srgbClr val="C0C0C0"/>
            </a:solidFill>
            <a:round/>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ko-KR" altLang="en-US" dirty="0">
              <a:solidFill>
                <a:srgbClr val="000000"/>
              </a:solidFill>
            </a:endParaRPr>
          </a:p>
        </p:txBody>
      </p:sp>
      <p:sp>
        <p:nvSpPr>
          <p:cNvPr id="40971" name="Rectangle 15"/>
          <p:cNvSpPr>
            <a:spLocks noChangeArrowheads="1"/>
          </p:cNvSpPr>
          <p:nvPr/>
        </p:nvSpPr>
        <p:spPr bwMode="auto">
          <a:xfrm>
            <a:off x="1184565" y="3140968"/>
            <a:ext cx="96212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lnSpc>
                <a:spcPct val="120000"/>
              </a:lnSpc>
            </a:pPr>
            <a:r>
              <a:rPr lang="en-US" altLang="ko-KR" sz="1500" b="1" baseline="0" dirty="0" err="1">
                <a:solidFill>
                  <a:srgbClr val="000000"/>
                </a:solidFill>
              </a:rPr>
              <a:t>Chỉ</a:t>
            </a:r>
            <a:r>
              <a:rPr lang="en-US" altLang="ko-KR" sz="1500" b="1" baseline="0" dirty="0">
                <a:solidFill>
                  <a:srgbClr val="000000"/>
                </a:solidFill>
              </a:rPr>
              <a:t> </a:t>
            </a:r>
            <a:r>
              <a:rPr lang="en-US" altLang="ko-KR" sz="1500" b="1" baseline="0" dirty="0" err="1">
                <a:solidFill>
                  <a:srgbClr val="000000"/>
                </a:solidFill>
              </a:rPr>
              <a:t>số</a:t>
            </a:r>
            <a:r>
              <a:rPr lang="en-US" altLang="ko-KR" sz="1500" b="1" baseline="0" dirty="0">
                <a:solidFill>
                  <a:srgbClr val="000000"/>
                </a:solidFill>
              </a:rPr>
              <a:t> </a:t>
            </a:r>
          </a:p>
          <a:p>
            <a:pPr algn="ctr" eaLnBrk="1" hangingPunct="1">
              <a:lnSpc>
                <a:spcPct val="120000"/>
              </a:lnSpc>
            </a:pPr>
            <a:r>
              <a:rPr lang="en-US" altLang="ko-KR" sz="1500" b="1" baseline="0" dirty="0" err="1">
                <a:solidFill>
                  <a:srgbClr val="000000"/>
                </a:solidFill>
              </a:rPr>
              <a:t>năng</a:t>
            </a:r>
            <a:r>
              <a:rPr lang="en-US" altLang="ko-KR" sz="1500" b="1" baseline="0" dirty="0">
                <a:solidFill>
                  <a:srgbClr val="000000"/>
                </a:solidFill>
              </a:rPr>
              <a:t> </a:t>
            </a:r>
            <a:r>
              <a:rPr lang="en-US" altLang="ko-KR" sz="1500" b="1" baseline="0" dirty="0" err="1">
                <a:solidFill>
                  <a:srgbClr val="000000"/>
                </a:solidFill>
              </a:rPr>
              <a:t>lực</a:t>
            </a:r>
            <a:endParaRPr lang="en-US" altLang="ko-KR" sz="1500" b="1" baseline="0" dirty="0">
              <a:solidFill>
                <a:srgbClr val="000000"/>
              </a:solidFill>
            </a:endParaRPr>
          </a:p>
          <a:p>
            <a:pPr algn="ctr" eaLnBrk="1" hangingPunct="1">
              <a:lnSpc>
                <a:spcPct val="120000"/>
              </a:lnSpc>
            </a:pPr>
            <a:r>
              <a:rPr lang="en-US" altLang="ko-KR" sz="1500" b="1" baseline="0" dirty="0">
                <a:solidFill>
                  <a:srgbClr val="000000"/>
                </a:solidFill>
              </a:rPr>
              <a:t> process</a:t>
            </a:r>
            <a:endParaRPr lang="ko-KR" altLang="en-US" sz="1500" b="1" baseline="0" dirty="0">
              <a:solidFill>
                <a:srgbClr val="000000"/>
              </a:solidFill>
            </a:endParaRPr>
          </a:p>
        </p:txBody>
      </p:sp>
      <p:sp>
        <p:nvSpPr>
          <p:cNvPr id="40972" name="Oval 16"/>
          <p:cNvSpPr>
            <a:spLocks noChangeArrowheads="1"/>
          </p:cNvSpPr>
          <p:nvPr/>
        </p:nvSpPr>
        <p:spPr bwMode="auto">
          <a:xfrm>
            <a:off x="1082920" y="4481736"/>
            <a:ext cx="1128346" cy="1179512"/>
          </a:xfrm>
          <a:prstGeom prst="ellipse">
            <a:avLst/>
          </a:prstGeom>
          <a:solidFill>
            <a:srgbClr val="92D050"/>
          </a:solidFill>
          <a:ln w="76200" cmpd="tri">
            <a:solidFill>
              <a:srgbClr val="C0C0C0"/>
            </a:solidFill>
            <a:round/>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ko-KR" altLang="en-US" dirty="0">
              <a:solidFill>
                <a:srgbClr val="000000"/>
              </a:solidFill>
            </a:endParaRPr>
          </a:p>
        </p:txBody>
      </p:sp>
      <p:sp>
        <p:nvSpPr>
          <p:cNvPr id="40973" name="Rectangle 17"/>
          <p:cNvSpPr>
            <a:spLocks noChangeArrowheads="1"/>
          </p:cNvSpPr>
          <p:nvPr/>
        </p:nvSpPr>
        <p:spPr bwMode="auto">
          <a:xfrm>
            <a:off x="1125884" y="4509121"/>
            <a:ext cx="118494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lnSpc>
                <a:spcPct val="120000"/>
              </a:lnSpc>
            </a:pPr>
            <a:r>
              <a:rPr lang="en-US" altLang="ko-KR" sz="1500" b="1" baseline="0" dirty="0" err="1">
                <a:solidFill>
                  <a:srgbClr val="000000"/>
                </a:solidFill>
              </a:rPr>
              <a:t>Chủng</a:t>
            </a:r>
            <a:r>
              <a:rPr lang="en-US" altLang="ko-KR" sz="1500" b="1" baseline="0" dirty="0">
                <a:solidFill>
                  <a:srgbClr val="000000"/>
                </a:solidFill>
              </a:rPr>
              <a:t> </a:t>
            </a:r>
            <a:r>
              <a:rPr lang="en-US" altLang="ko-KR" sz="1500" b="1" baseline="0" dirty="0" err="1">
                <a:solidFill>
                  <a:srgbClr val="000000"/>
                </a:solidFill>
              </a:rPr>
              <a:t>loại</a:t>
            </a:r>
            <a:endParaRPr lang="en-US" altLang="ko-KR" sz="1500" b="1" baseline="0" dirty="0">
              <a:solidFill>
                <a:srgbClr val="000000"/>
              </a:solidFill>
            </a:endParaRPr>
          </a:p>
          <a:p>
            <a:pPr algn="ctr" eaLnBrk="1" hangingPunct="1">
              <a:lnSpc>
                <a:spcPct val="120000"/>
              </a:lnSpc>
            </a:pPr>
            <a:r>
              <a:rPr lang="en-US" altLang="ko-KR" sz="1500" b="1" baseline="0" dirty="0" err="1">
                <a:solidFill>
                  <a:srgbClr val="000000"/>
                </a:solidFill>
              </a:rPr>
              <a:t>chỉ</a:t>
            </a:r>
            <a:r>
              <a:rPr lang="en-US" altLang="ko-KR" sz="1500" b="1" baseline="0" dirty="0">
                <a:solidFill>
                  <a:srgbClr val="000000"/>
                </a:solidFill>
              </a:rPr>
              <a:t> </a:t>
            </a:r>
            <a:r>
              <a:rPr lang="en-US" altLang="ko-KR" sz="1500" b="1" baseline="0" dirty="0" err="1">
                <a:solidFill>
                  <a:srgbClr val="000000"/>
                </a:solidFill>
              </a:rPr>
              <a:t>số</a:t>
            </a:r>
            <a:r>
              <a:rPr lang="en-US" altLang="ko-KR" sz="1500" b="1" baseline="0" dirty="0">
                <a:solidFill>
                  <a:srgbClr val="000000"/>
                </a:solidFill>
              </a:rPr>
              <a:t> </a:t>
            </a:r>
            <a:r>
              <a:rPr lang="en-US" altLang="ko-KR" sz="1500" b="1" baseline="0" dirty="0" err="1">
                <a:solidFill>
                  <a:srgbClr val="000000"/>
                </a:solidFill>
              </a:rPr>
              <a:t>của</a:t>
            </a:r>
            <a:endParaRPr lang="en-US" altLang="ko-KR" sz="1500" b="1" baseline="0" dirty="0">
              <a:solidFill>
                <a:srgbClr val="000000"/>
              </a:solidFill>
            </a:endParaRPr>
          </a:p>
          <a:p>
            <a:pPr algn="ctr" eaLnBrk="1" hangingPunct="1">
              <a:lnSpc>
                <a:spcPct val="120000"/>
              </a:lnSpc>
            </a:pPr>
            <a:r>
              <a:rPr lang="en-US" altLang="ko-KR" sz="1500" b="1" baseline="0" dirty="0" err="1">
                <a:solidFill>
                  <a:srgbClr val="000000"/>
                </a:solidFill>
              </a:rPr>
              <a:t>năng</a:t>
            </a:r>
            <a:r>
              <a:rPr lang="en-US" altLang="ko-KR" sz="1500" b="1" baseline="0" dirty="0">
                <a:solidFill>
                  <a:srgbClr val="000000"/>
                </a:solidFill>
              </a:rPr>
              <a:t> </a:t>
            </a:r>
            <a:r>
              <a:rPr lang="en-US" altLang="ko-KR" sz="1500" b="1" baseline="0" dirty="0" err="1">
                <a:solidFill>
                  <a:srgbClr val="000000"/>
                </a:solidFill>
              </a:rPr>
              <a:t>lực</a:t>
            </a:r>
            <a:endParaRPr lang="en-US" altLang="ko-KR" sz="1500" b="1" baseline="0" dirty="0">
              <a:solidFill>
                <a:srgbClr val="000000"/>
              </a:solidFill>
            </a:endParaRPr>
          </a:p>
          <a:p>
            <a:pPr algn="ctr" eaLnBrk="1" hangingPunct="1">
              <a:lnSpc>
                <a:spcPct val="120000"/>
              </a:lnSpc>
            </a:pPr>
            <a:r>
              <a:rPr lang="en-US" altLang="ko-KR" sz="1500" b="1" baseline="0" dirty="0">
                <a:solidFill>
                  <a:srgbClr val="000000"/>
                </a:solidFill>
              </a:rPr>
              <a:t>process</a:t>
            </a:r>
            <a:endParaRPr lang="ko-KR" altLang="en-US" sz="1500" b="1" baseline="0" dirty="0">
              <a:solidFill>
                <a:srgbClr val="000000"/>
              </a:solidFill>
            </a:endParaRPr>
          </a:p>
        </p:txBody>
      </p:sp>
      <p:sp>
        <p:nvSpPr>
          <p:cNvPr id="40974" name="Rectangle 19"/>
          <p:cNvSpPr>
            <a:spLocks noChangeArrowheads="1"/>
          </p:cNvSpPr>
          <p:nvPr/>
        </p:nvSpPr>
        <p:spPr bwMode="auto">
          <a:xfrm>
            <a:off x="2417885" y="2127020"/>
            <a:ext cx="5443904" cy="781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lnSpc>
                <a:spcPct val="80000"/>
              </a:lnSpc>
              <a:spcBef>
                <a:spcPct val="50000"/>
              </a:spcBef>
            </a:pPr>
            <a:r>
              <a:rPr lang="en-US" altLang="ko-KR" b="1" baseline="0" dirty="0">
                <a:solidFill>
                  <a:srgbClr val="000000"/>
                </a:solidFill>
              </a:rPr>
              <a:t>So </a:t>
            </a:r>
            <a:r>
              <a:rPr lang="en-US" altLang="ko-KR" b="1" baseline="0" dirty="0" err="1">
                <a:solidFill>
                  <a:srgbClr val="000000"/>
                </a:solidFill>
              </a:rPr>
              <a:t>sánh</a:t>
            </a:r>
            <a:r>
              <a:rPr lang="en-US" altLang="ko-KR" b="1" baseline="0" dirty="0">
                <a:solidFill>
                  <a:srgbClr val="000000"/>
                </a:solidFill>
              </a:rPr>
              <a:t> process </a:t>
            </a:r>
            <a:r>
              <a:rPr lang="en-US" altLang="ko-KR" b="1" baseline="0" dirty="0" err="1">
                <a:solidFill>
                  <a:srgbClr val="000000"/>
                </a:solidFill>
              </a:rPr>
              <a:t>sản</a:t>
            </a:r>
            <a:r>
              <a:rPr lang="en-US" altLang="ko-KR" b="1" baseline="0" dirty="0">
                <a:solidFill>
                  <a:srgbClr val="000000"/>
                </a:solidFill>
              </a:rPr>
              <a:t> </a:t>
            </a:r>
            <a:r>
              <a:rPr lang="en-US" altLang="ko-KR" b="1" baseline="0" dirty="0" err="1">
                <a:solidFill>
                  <a:srgbClr val="000000"/>
                </a:solidFill>
              </a:rPr>
              <a:t>xuất</a:t>
            </a:r>
            <a:r>
              <a:rPr lang="en-US" altLang="ko-KR" b="1" baseline="0" dirty="0">
                <a:solidFill>
                  <a:srgbClr val="000000"/>
                </a:solidFill>
              </a:rPr>
              <a:t> </a:t>
            </a:r>
            <a:r>
              <a:rPr lang="en-US" altLang="ko-KR" b="1" baseline="0" dirty="0" err="1">
                <a:solidFill>
                  <a:srgbClr val="000000"/>
                </a:solidFill>
              </a:rPr>
              <a:t>với</a:t>
            </a:r>
            <a:r>
              <a:rPr lang="en-US" altLang="ko-KR" b="1" baseline="0" dirty="0">
                <a:solidFill>
                  <a:srgbClr val="000000"/>
                </a:solidFill>
              </a:rPr>
              <a:t> </a:t>
            </a:r>
            <a:r>
              <a:rPr lang="en-US" altLang="ko-KR" b="1" baseline="0" dirty="0" err="1">
                <a:solidFill>
                  <a:srgbClr val="000000"/>
                </a:solidFill>
              </a:rPr>
              <a:t>nội</a:t>
            </a:r>
            <a:r>
              <a:rPr lang="en-US" altLang="ko-KR" b="1" baseline="0" dirty="0">
                <a:solidFill>
                  <a:srgbClr val="000000"/>
                </a:solidFill>
              </a:rPr>
              <a:t> dung </a:t>
            </a:r>
            <a:r>
              <a:rPr lang="en-US" altLang="ko-KR" b="1" baseline="0" dirty="0" err="1">
                <a:solidFill>
                  <a:srgbClr val="000000"/>
                </a:solidFill>
              </a:rPr>
              <a:t>yêu</a:t>
            </a:r>
            <a:r>
              <a:rPr lang="en-US" altLang="ko-KR" b="1" baseline="0" dirty="0">
                <a:solidFill>
                  <a:srgbClr val="000000"/>
                </a:solidFill>
              </a:rPr>
              <a:t> </a:t>
            </a:r>
            <a:r>
              <a:rPr lang="en-US" altLang="ko-KR" b="1" baseline="0" dirty="0" err="1">
                <a:solidFill>
                  <a:srgbClr val="000000"/>
                </a:solidFill>
              </a:rPr>
              <a:t>cầu</a:t>
            </a:r>
            <a:r>
              <a:rPr lang="en-US" altLang="ko-KR" b="1" baseline="0" dirty="0">
                <a:solidFill>
                  <a:srgbClr val="000000"/>
                </a:solidFill>
              </a:rPr>
              <a:t> </a:t>
            </a:r>
            <a:r>
              <a:rPr lang="en-US" altLang="ko-KR" b="1" baseline="0" dirty="0" err="1">
                <a:solidFill>
                  <a:srgbClr val="000000"/>
                </a:solidFill>
              </a:rPr>
              <a:t>của</a:t>
            </a:r>
            <a:r>
              <a:rPr lang="en-US" altLang="ko-KR" b="1" baseline="0" dirty="0">
                <a:solidFill>
                  <a:srgbClr val="000000"/>
                </a:solidFill>
              </a:rPr>
              <a:t> </a:t>
            </a:r>
            <a:r>
              <a:rPr lang="en-US" altLang="ko-KR" b="1" baseline="0" dirty="0" err="1">
                <a:solidFill>
                  <a:srgbClr val="000000"/>
                </a:solidFill>
              </a:rPr>
              <a:t>khách</a:t>
            </a:r>
            <a:r>
              <a:rPr lang="en-US" altLang="ko-KR" b="1" baseline="0" dirty="0">
                <a:solidFill>
                  <a:srgbClr val="000000"/>
                </a:solidFill>
              </a:rPr>
              <a:t> </a:t>
            </a:r>
            <a:r>
              <a:rPr lang="en-US" altLang="ko-KR" b="1" baseline="0" dirty="0" err="1">
                <a:solidFill>
                  <a:srgbClr val="000000"/>
                </a:solidFill>
              </a:rPr>
              <a:t>hàng</a:t>
            </a:r>
            <a:r>
              <a:rPr lang="en-US" altLang="ko-KR" b="1" baseline="0" dirty="0">
                <a:solidFill>
                  <a:srgbClr val="000000"/>
                </a:solidFill>
              </a:rPr>
              <a:t> </a:t>
            </a:r>
            <a:r>
              <a:rPr lang="en-US" altLang="ko-KR" b="1" baseline="0" dirty="0" err="1">
                <a:solidFill>
                  <a:srgbClr val="000000"/>
                </a:solidFill>
              </a:rPr>
              <a:t>xem</a:t>
            </a:r>
            <a:r>
              <a:rPr lang="en-US" altLang="ko-KR" b="1" baseline="0" dirty="0">
                <a:solidFill>
                  <a:srgbClr val="000000"/>
                </a:solidFill>
              </a:rPr>
              <a:t> </a:t>
            </a:r>
            <a:r>
              <a:rPr lang="en-US" altLang="ko-KR" b="1" baseline="0" dirty="0" err="1">
                <a:solidFill>
                  <a:srgbClr val="000000"/>
                </a:solidFill>
              </a:rPr>
              <a:t>có</a:t>
            </a:r>
            <a:r>
              <a:rPr lang="en-US" altLang="ko-KR" b="1" baseline="0" dirty="0">
                <a:solidFill>
                  <a:srgbClr val="000000"/>
                </a:solidFill>
              </a:rPr>
              <a:t> </a:t>
            </a:r>
            <a:r>
              <a:rPr lang="en-US" altLang="ko-KR" b="1" baseline="0" dirty="0" err="1">
                <a:solidFill>
                  <a:srgbClr val="000000"/>
                </a:solidFill>
              </a:rPr>
              <a:t>thể</a:t>
            </a:r>
            <a:r>
              <a:rPr lang="en-US" altLang="ko-KR" b="1" baseline="0" dirty="0">
                <a:solidFill>
                  <a:srgbClr val="000000"/>
                </a:solidFill>
              </a:rPr>
              <a:t> </a:t>
            </a:r>
            <a:r>
              <a:rPr lang="en-US" altLang="ko-KR" b="1" baseline="0" dirty="0" err="1">
                <a:solidFill>
                  <a:srgbClr val="000000"/>
                </a:solidFill>
              </a:rPr>
              <a:t>sản</a:t>
            </a:r>
            <a:r>
              <a:rPr lang="en-US" altLang="ko-KR" b="1" baseline="0" dirty="0">
                <a:solidFill>
                  <a:srgbClr val="000000"/>
                </a:solidFill>
              </a:rPr>
              <a:t> </a:t>
            </a:r>
            <a:r>
              <a:rPr lang="en-US" altLang="ko-KR" b="1" baseline="0" dirty="0" err="1">
                <a:solidFill>
                  <a:srgbClr val="000000"/>
                </a:solidFill>
              </a:rPr>
              <a:t>xuất</a:t>
            </a:r>
            <a:r>
              <a:rPr lang="en-US" altLang="ko-KR" b="1" baseline="0" dirty="0">
                <a:solidFill>
                  <a:srgbClr val="000000"/>
                </a:solidFill>
              </a:rPr>
              <a:t> </a:t>
            </a:r>
            <a:r>
              <a:rPr lang="en-US" altLang="ko-KR" b="1" baseline="0" dirty="0" err="1">
                <a:solidFill>
                  <a:srgbClr val="000000"/>
                </a:solidFill>
              </a:rPr>
              <a:t>sản</a:t>
            </a:r>
            <a:r>
              <a:rPr lang="en-US" altLang="ko-KR" b="1" baseline="0" dirty="0">
                <a:solidFill>
                  <a:srgbClr val="000000"/>
                </a:solidFill>
              </a:rPr>
              <a:t> </a:t>
            </a:r>
            <a:r>
              <a:rPr lang="en-US" altLang="ko-KR" b="1" baseline="0" dirty="0" err="1">
                <a:solidFill>
                  <a:srgbClr val="000000"/>
                </a:solidFill>
              </a:rPr>
              <a:t>phẩm</a:t>
            </a:r>
            <a:r>
              <a:rPr lang="en-US" altLang="ko-KR" b="1" baseline="0" dirty="0">
                <a:solidFill>
                  <a:srgbClr val="000000"/>
                </a:solidFill>
              </a:rPr>
              <a:t> </a:t>
            </a:r>
            <a:r>
              <a:rPr lang="en-US" altLang="ko-KR" b="1" baseline="0" dirty="0" err="1">
                <a:solidFill>
                  <a:srgbClr val="000000"/>
                </a:solidFill>
              </a:rPr>
              <a:t>có</a:t>
            </a:r>
            <a:r>
              <a:rPr lang="en-US" altLang="ko-KR" b="1" baseline="0" dirty="0">
                <a:solidFill>
                  <a:srgbClr val="000000"/>
                </a:solidFill>
              </a:rPr>
              <a:t> </a:t>
            </a:r>
            <a:r>
              <a:rPr lang="en-US" altLang="ko-KR" b="1" baseline="0" dirty="0" err="1">
                <a:solidFill>
                  <a:srgbClr val="000000"/>
                </a:solidFill>
              </a:rPr>
              <a:t>chất</a:t>
            </a:r>
            <a:r>
              <a:rPr lang="en-US" altLang="ko-KR" b="1" baseline="0" dirty="0">
                <a:solidFill>
                  <a:srgbClr val="000000"/>
                </a:solidFill>
              </a:rPr>
              <a:t> </a:t>
            </a:r>
            <a:r>
              <a:rPr lang="en-US" altLang="ko-KR" b="1" baseline="0" dirty="0" err="1">
                <a:solidFill>
                  <a:srgbClr val="000000"/>
                </a:solidFill>
              </a:rPr>
              <a:t>lượng</a:t>
            </a:r>
            <a:r>
              <a:rPr lang="en-US" altLang="ko-KR" b="1" baseline="0" dirty="0">
                <a:solidFill>
                  <a:srgbClr val="000000"/>
                </a:solidFill>
              </a:rPr>
              <a:t> </a:t>
            </a:r>
            <a:r>
              <a:rPr lang="en-US" altLang="ko-KR" b="1" baseline="0" dirty="0" err="1">
                <a:solidFill>
                  <a:srgbClr val="000000"/>
                </a:solidFill>
              </a:rPr>
              <a:t>tương</a:t>
            </a:r>
            <a:r>
              <a:rPr lang="en-US" altLang="ko-KR" b="1" baseline="0" dirty="0">
                <a:solidFill>
                  <a:srgbClr val="000000"/>
                </a:solidFill>
              </a:rPr>
              <a:t> </a:t>
            </a:r>
            <a:r>
              <a:rPr lang="en-US" altLang="ko-KR" b="1" baseline="0" dirty="0" err="1">
                <a:solidFill>
                  <a:srgbClr val="000000"/>
                </a:solidFill>
              </a:rPr>
              <a:t>đồng</a:t>
            </a:r>
            <a:r>
              <a:rPr lang="en-US" altLang="ko-KR" b="1" baseline="0" dirty="0">
                <a:solidFill>
                  <a:srgbClr val="000000"/>
                </a:solidFill>
              </a:rPr>
              <a:t> hay </a:t>
            </a:r>
            <a:r>
              <a:rPr lang="en-US" altLang="ko-KR" b="1" baseline="0" dirty="0" err="1">
                <a:solidFill>
                  <a:srgbClr val="000000"/>
                </a:solidFill>
              </a:rPr>
              <a:t>không</a:t>
            </a:r>
            <a:r>
              <a:rPr lang="en-US" altLang="ko-KR" b="1" baseline="0" dirty="0">
                <a:solidFill>
                  <a:srgbClr val="000000"/>
                </a:solidFill>
              </a:rPr>
              <a:t>, </a:t>
            </a:r>
            <a:r>
              <a:rPr lang="en-US" altLang="ko-KR" b="1" baseline="0" dirty="0" err="1">
                <a:solidFill>
                  <a:srgbClr val="000000"/>
                </a:solidFill>
              </a:rPr>
              <a:t>hoặc</a:t>
            </a:r>
            <a:r>
              <a:rPr lang="en-US" altLang="ko-KR" b="1" baseline="0" dirty="0">
                <a:solidFill>
                  <a:srgbClr val="000000"/>
                </a:solidFill>
              </a:rPr>
              <a:t> </a:t>
            </a:r>
            <a:r>
              <a:rPr lang="en-US" altLang="ko-KR" b="1" baseline="0" dirty="0" err="1">
                <a:solidFill>
                  <a:srgbClr val="000000"/>
                </a:solidFill>
              </a:rPr>
              <a:t>thông</a:t>
            </a:r>
            <a:r>
              <a:rPr lang="en-US" altLang="ko-KR" b="1" baseline="0" dirty="0">
                <a:solidFill>
                  <a:srgbClr val="000000"/>
                </a:solidFill>
              </a:rPr>
              <a:t> qua </a:t>
            </a:r>
            <a:r>
              <a:rPr lang="en-US" altLang="ko-KR" b="1" baseline="0" dirty="0" err="1">
                <a:solidFill>
                  <a:srgbClr val="000000"/>
                </a:solidFill>
              </a:rPr>
              <a:t>đây</a:t>
            </a:r>
            <a:r>
              <a:rPr lang="en-US" altLang="ko-KR" b="1" baseline="0" dirty="0">
                <a:solidFill>
                  <a:srgbClr val="000000"/>
                </a:solidFill>
              </a:rPr>
              <a:t> </a:t>
            </a:r>
            <a:r>
              <a:rPr lang="en-US" altLang="ko-KR" b="1" baseline="0" dirty="0" err="1">
                <a:solidFill>
                  <a:srgbClr val="000000"/>
                </a:solidFill>
              </a:rPr>
              <a:t>đánh</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a:t>
            </a:r>
            <a:r>
              <a:rPr lang="en-US" altLang="ko-KR" b="1" baseline="0" dirty="0" err="1">
                <a:solidFill>
                  <a:srgbClr val="000000"/>
                </a:solidFill>
              </a:rPr>
              <a:t>năng</a:t>
            </a:r>
            <a:r>
              <a:rPr lang="en-US" altLang="ko-KR" b="1" baseline="0" dirty="0">
                <a:solidFill>
                  <a:srgbClr val="000000"/>
                </a:solidFill>
              </a:rPr>
              <a:t> </a:t>
            </a:r>
            <a:r>
              <a:rPr lang="en-US" altLang="ko-KR" b="1" baseline="0" dirty="0" err="1">
                <a:solidFill>
                  <a:srgbClr val="000000"/>
                </a:solidFill>
              </a:rPr>
              <a:t>lực</a:t>
            </a:r>
            <a:r>
              <a:rPr lang="en-US" altLang="ko-KR" b="1" baseline="0" dirty="0">
                <a:solidFill>
                  <a:srgbClr val="000000"/>
                </a:solidFill>
              </a:rPr>
              <a:t> </a:t>
            </a:r>
            <a:r>
              <a:rPr lang="en-US" altLang="ko-KR" b="1" baseline="0" dirty="0" err="1">
                <a:solidFill>
                  <a:srgbClr val="000000"/>
                </a:solidFill>
              </a:rPr>
              <a:t>tiến</a:t>
            </a:r>
            <a:r>
              <a:rPr lang="en-US" altLang="ko-KR" b="1" baseline="0" dirty="0">
                <a:solidFill>
                  <a:srgbClr val="000000"/>
                </a:solidFill>
              </a:rPr>
              <a:t> </a:t>
            </a:r>
            <a:r>
              <a:rPr lang="en-US" altLang="ko-KR" b="1" baseline="0" dirty="0" err="1">
                <a:solidFill>
                  <a:srgbClr val="000000"/>
                </a:solidFill>
              </a:rPr>
              <a:t>hành</a:t>
            </a:r>
            <a:r>
              <a:rPr lang="en-US" altLang="ko-KR" b="1" baseline="0" dirty="0">
                <a:solidFill>
                  <a:srgbClr val="000000"/>
                </a:solidFill>
              </a:rPr>
              <a:t> </a:t>
            </a:r>
            <a:r>
              <a:rPr lang="en-US" altLang="ko-KR" b="1" baseline="0" dirty="0" err="1">
                <a:solidFill>
                  <a:srgbClr val="000000"/>
                </a:solidFill>
              </a:rPr>
              <a:t>tương</a:t>
            </a:r>
            <a:r>
              <a:rPr lang="en-US" altLang="ko-KR" b="1" baseline="0" dirty="0">
                <a:solidFill>
                  <a:srgbClr val="000000"/>
                </a:solidFill>
              </a:rPr>
              <a:t> </a:t>
            </a:r>
            <a:r>
              <a:rPr lang="en-US" altLang="ko-KR" b="1" baseline="0" dirty="0" err="1">
                <a:solidFill>
                  <a:srgbClr val="000000"/>
                </a:solidFill>
              </a:rPr>
              <a:t>lai</a:t>
            </a:r>
            <a:r>
              <a:rPr lang="en-US" altLang="ko-KR" b="1" baseline="0" dirty="0">
                <a:solidFill>
                  <a:srgbClr val="000000"/>
                </a:solidFill>
              </a:rPr>
              <a:t> </a:t>
            </a:r>
            <a:r>
              <a:rPr lang="en-US" altLang="ko-KR" b="1" baseline="0" dirty="0" err="1">
                <a:solidFill>
                  <a:srgbClr val="000000"/>
                </a:solidFill>
              </a:rPr>
              <a:t>của</a:t>
            </a:r>
            <a:r>
              <a:rPr lang="en-US" altLang="ko-KR" b="1" baseline="0" dirty="0">
                <a:solidFill>
                  <a:srgbClr val="000000"/>
                </a:solidFill>
              </a:rPr>
              <a:t> process</a:t>
            </a:r>
            <a:endParaRPr lang="ko-KR" altLang="en-US" b="1" baseline="0" dirty="0">
              <a:solidFill>
                <a:srgbClr val="000000"/>
              </a:solidFill>
            </a:endParaRPr>
          </a:p>
        </p:txBody>
      </p:sp>
      <p:sp>
        <p:nvSpPr>
          <p:cNvPr id="40975" name="Rectangle 21"/>
          <p:cNvSpPr>
            <a:spLocks noChangeArrowheads="1"/>
          </p:cNvSpPr>
          <p:nvPr/>
        </p:nvSpPr>
        <p:spPr bwMode="auto">
          <a:xfrm>
            <a:off x="2410558" y="3488631"/>
            <a:ext cx="5443903"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lnSpc>
                <a:spcPct val="80000"/>
              </a:lnSpc>
              <a:spcBef>
                <a:spcPct val="50000"/>
              </a:spcBef>
            </a:pPr>
            <a:r>
              <a:rPr lang="en-US" altLang="ko-KR" b="1" baseline="0" dirty="0">
                <a:solidFill>
                  <a:srgbClr val="000000"/>
                </a:solidFill>
              </a:rPr>
              <a:t>So </a:t>
            </a:r>
            <a:r>
              <a:rPr lang="en-US" altLang="ko-KR" b="1" baseline="0" dirty="0" err="1">
                <a:solidFill>
                  <a:srgbClr val="000000"/>
                </a:solidFill>
              </a:rPr>
              <a:t>với</a:t>
            </a:r>
            <a:r>
              <a:rPr lang="en-US" altLang="ko-KR" b="1" baseline="0" dirty="0">
                <a:solidFill>
                  <a:srgbClr val="000000"/>
                </a:solidFill>
              </a:rPr>
              <a:t> </a:t>
            </a:r>
            <a:r>
              <a:rPr lang="en-US" altLang="ko-KR" b="1" baseline="0" dirty="0" err="1">
                <a:solidFill>
                  <a:srgbClr val="000000"/>
                </a:solidFill>
              </a:rPr>
              <a:t>giới</a:t>
            </a:r>
            <a:r>
              <a:rPr lang="en-US" altLang="ko-KR" b="1" baseline="0" dirty="0">
                <a:solidFill>
                  <a:srgbClr val="000000"/>
                </a:solidFill>
              </a:rPr>
              <a:t> </a:t>
            </a:r>
            <a:r>
              <a:rPr lang="en-US" altLang="ko-KR" b="1" baseline="0" dirty="0" err="1">
                <a:solidFill>
                  <a:srgbClr val="000000"/>
                </a:solidFill>
              </a:rPr>
              <a:t>hạn</a:t>
            </a:r>
            <a:r>
              <a:rPr lang="en-US" altLang="ko-KR" b="1" baseline="0" dirty="0">
                <a:solidFill>
                  <a:srgbClr val="000000"/>
                </a:solidFill>
              </a:rPr>
              <a:t> </a:t>
            </a:r>
            <a:r>
              <a:rPr lang="en-US" altLang="ko-KR" b="1" baseline="0" dirty="0" err="1">
                <a:solidFill>
                  <a:srgbClr val="000000"/>
                </a:solidFill>
              </a:rPr>
              <a:t>quy</a:t>
            </a:r>
            <a:r>
              <a:rPr lang="en-US" altLang="ko-KR" b="1" baseline="0" dirty="0">
                <a:solidFill>
                  <a:srgbClr val="000000"/>
                </a:solidFill>
              </a:rPr>
              <a:t> </a:t>
            </a:r>
            <a:r>
              <a:rPr lang="en-US" altLang="ko-KR" b="1" baseline="0" dirty="0" err="1">
                <a:solidFill>
                  <a:srgbClr val="000000"/>
                </a:solidFill>
              </a:rPr>
              <a:t>cách</a:t>
            </a:r>
            <a:r>
              <a:rPr lang="en-US" altLang="ko-KR" b="1" baseline="0" dirty="0">
                <a:solidFill>
                  <a:srgbClr val="000000"/>
                </a:solidFill>
              </a:rPr>
              <a:t> </a:t>
            </a:r>
            <a:r>
              <a:rPr lang="en-US" altLang="ko-KR" b="1" baseline="0" dirty="0" err="1">
                <a:solidFill>
                  <a:srgbClr val="000000"/>
                </a:solidFill>
              </a:rPr>
              <a:t>tiêu</a:t>
            </a:r>
            <a:r>
              <a:rPr lang="en-US" altLang="ko-KR" b="1" baseline="0" dirty="0">
                <a:solidFill>
                  <a:srgbClr val="000000"/>
                </a:solidFill>
              </a:rPr>
              <a:t> </a:t>
            </a:r>
            <a:r>
              <a:rPr lang="en-US" altLang="ko-KR" b="1" baseline="0" dirty="0" err="1">
                <a:solidFill>
                  <a:srgbClr val="000000"/>
                </a:solidFill>
              </a:rPr>
              <a:t>chuẩn</a:t>
            </a:r>
            <a:r>
              <a:rPr lang="en-US" altLang="ko-KR" b="1" baseline="0" dirty="0">
                <a:solidFill>
                  <a:srgbClr val="000000"/>
                </a:solidFill>
              </a:rPr>
              <a:t>(Specification Limits) </a:t>
            </a:r>
            <a:r>
              <a:rPr lang="en-US" altLang="ko-KR" b="1" baseline="0" dirty="0" err="1">
                <a:solidFill>
                  <a:srgbClr val="000000"/>
                </a:solidFill>
              </a:rPr>
              <a:t>năng</a:t>
            </a:r>
            <a:r>
              <a:rPr lang="en-US" altLang="ko-KR" b="1" baseline="0" dirty="0">
                <a:solidFill>
                  <a:srgbClr val="000000"/>
                </a:solidFill>
              </a:rPr>
              <a:t> </a:t>
            </a:r>
            <a:r>
              <a:rPr lang="en-US" altLang="ko-KR" b="1" baseline="0" dirty="0" err="1">
                <a:solidFill>
                  <a:srgbClr val="000000"/>
                </a:solidFill>
              </a:rPr>
              <a:t>lực</a:t>
            </a:r>
            <a:r>
              <a:rPr lang="en-US" altLang="ko-KR" b="1" baseline="0" dirty="0">
                <a:solidFill>
                  <a:srgbClr val="000000"/>
                </a:solidFill>
              </a:rPr>
              <a:t> </a:t>
            </a:r>
            <a:r>
              <a:rPr lang="en-US" altLang="ko-KR" b="1" baseline="0" dirty="0" err="1">
                <a:solidFill>
                  <a:srgbClr val="000000"/>
                </a:solidFill>
              </a:rPr>
              <a:t>tiến</a:t>
            </a:r>
            <a:r>
              <a:rPr lang="en-US" altLang="ko-KR" b="1" baseline="0" dirty="0">
                <a:solidFill>
                  <a:srgbClr val="000000"/>
                </a:solidFill>
              </a:rPr>
              <a:t> </a:t>
            </a:r>
            <a:r>
              <a:rPr lang="en-US" altLang="ko-KR" b="1" baseline="0" dirty="0" err="1">
                <a:solidFill>
                  <a:srgbClr val="000000"/>
                </a:solidFill>
              </a:rPr>
              <a:t>hành</a:t>
            </a:r>
            <a:r>
              <a:rPr lang="en-US" altLang="ko-KR" b="1" baseline="0" dirty="0">
                <a:solidFill>
                  <a:srgbClr val="000000"/>
                </a:solidFill>
              </a:rPr>
              <a:t> process </a:t>
            </a:r>
            <a:r>
              <a:rPr lang="en-US" altLang="ko-KR" b="1" baseline="0" dirty="0" err="1">
                <a:solidFill>
                  <a:srgbClr val="000000"/>
                </a:solidFill>
              </a:rPr>
              <a:t>thể</a:t>
            </a:r>
            <a:r>
              <a:rPr lang="en-US" altLang="ko-KR" b="1" baseline="0" dirty="0">
                <a:solidFill>
                  <a:srgbClr val="000000"/>
                </a:solidFill>
              </a:rPr>
              <a:t> </a:t>
            </a:r>
            <a:r>
              <a:rPr lang="en-US" altLang="ko-KR" b="1" baseline="0" dirty="0" err="1">
                <a:solidFill>
                  <a:srgbClr val="000000"/>
                </a:solidFill>
              </a:rPr>
              <a:t>hiện</a:t>
            </a:r>
            <a:r>
              <a:rPr lang="en-US" altLang="ko-KR" b="1" baseline="0" dirty="0">
                <a:solidFill>
                  <a:srgbClr val="000000"/>
                </a:solidFill>
              </a:rPr>
              <a:t> </a:t>
            </a:r>
            <a:r>
              <a:rPr lang="en-US" altLang="ko-KR" b="1" baseline="0" dirty="0" err="1">
                <a:solidFill>
                  <a:srgbClr val="000000"/>
                </a:solidFill>
              </a:rPr>
              <a:t>được</a:t>
            </a:r>
            <a:r>
              <a:rPr lang="en-US" altLang="ko-KR" b="1" baseline="0" dirty="0">
                <a:solidFill>
                  <a:srgbClr val="000000"/>
                </a:solidFill>
              </a:rPr>
              <a:t> </a:t>
            </a:r>
            <a:r>
              <a:rPr lang="en-US" altLang="ko-KR" b="1" baseline="0" dirty="0" err="1">
                <a:solidFill>
                  <a:srgbClr val="000000"/>
                </a:solidFill>
              </a:rPr>
              <a:t>bao</a:t>
            </a:r>
            <a:r>
              <a:rPr lang="en-US" altLang="ko-KR" b="1" baseline="0" dirty="0">
                <a:solidFill>
                  <a:srgbClr val="000000"/>
                </a:solidFill>
              </a:rPr>
              <a:t> </a:t>
            </a:r>
            <a:r>
              <a:rPr lang="en-US" altLang="ko-KR" b="1" baseline="0" dirty="0" err="1">
                <a:solidFill>
                  <a:srgbClr val="000000"/>
                </a:solidFill>
              </a:rPr>
              <a:t>nhiêu</a:t>
            </a:r>
            <a:r>
              <a:rPr lang="en-US" altLang="ko-KR" b="1" baseline="0" dirty="0">
                <a:solidFill>
                  <a:srgbClr val="000000"/>
                </a:solidFill>
              </a:rPr>
              <a:t> </a:t>
            </a:r>
            <a:r>
              <a:rPr lang="en-US" altLang="ko-KR" b="1" baseline="0" dirty="0" err="1">
                <a:solidFill>
                  <a:srgbClr val="000000"/>
                </a:solidFill>
              </a:rPr>
              <a:t>thông</a:t>
            </a:r>
            <a:r>
              <a:rPr lang="en-US" altLang="ko-KR" b="1" baseline="0" dirty="0">
                <a:solidFill>
                  <a:srgbClr val="000000"/>
                </a:solidFill>
              </a:rPr>
              <a:t> qua </a:t>
            </a:r>
            <a:r>
              <a:rPr lang="en-US" altLang="ko-KR" b="1" baseline="0" dirty="0" err="1">
                <a:solidFill>
                  <a:srgbClr val="000000"/>
                </a:solidFill>
              </a:rPr>
              <a:t>các</a:t>
            </a:r>
            <a:r>
              <a:rPr lang="en-US" altLang="ko-KR" b="1" baseline="0" dirty="0">
                <a:solidFill>
                  <a:srgbClr val="000000"/>
                </a:solidFill>
              </a:rPr>
              <a:t> </a:t>
            </a:r>
            <a:r>
              <a:rPr lang="en-US" altLang="ko-KR" b="1" baseline="0" dirty="0" err="1">
                <a:solidFill>
                  <a:srgbClr val="000000"/>
                </a:solidFill>
              </a:rPr>
              <a:t>chỉ</a:t>
            </a:r>
            <a:r>
              <a:rPr lang="en-US" altLang="ko-KR" b="1" baseline="0" dirty="0">
                <a:solidFill>
                  <a:srgbClr val="000000"/>
                </a:solidFill>
              </a:rPr>
              <a:t> </a:t>
            </a:r>
            <a:r>
              <a:rPr lang="en-US" altLang="ko-KR" b="1" baseline="0" dirty="0" err="1">
                <a:solidFill>
                  <a:srgbClr val="000000"/>
                </a:solidFill>
              </a:rPr>
              <a:t>số</a:t>
            </a:r>
            <a:endParaRPr lang="ko-KR" altLang="en-US" b="1" baseline="0" dirty="0">
              <a:solidFill>
                <a:srgbClr val="000000"/>
              </a:solidFill>
            </a:endParaRPr>
          </a:p>
        </p:txBody>
      </p:sp>
      <p:sp>
        <p:nvSpPr>
          <p:cNvPr id="40976" name="Rectangle 22"/>
          <p:cNvSpPr>
            <a:spLocks noChangeArrowheads="1"/>
          </p:cNvSpPr>
          <p:nvPr/>
        </p:nvSpPr>
        <p:spPr bwMode="auto">
          <a:xfrm>
            <a:off x="2410558" y="4700589"/>
            <a:ext cx="5443903" cy="3508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lnSpc>
                <a:spcPct val="120000"/>
              </a:lnSpc>
              <a:spcBef>
                <a:spcPct val="20000"/>
              </a:spcBef>
            </a:pPr>
            <a:r>
              <a:rPr lang="en-US" altLang="ko-KR" b="1" baseline="0" dirty="0" err="1">
                <a:solidFill>
                  <a:srgbClr val="000000"/>
                </a:solidFill>
              </a:rPr>
              <a:t>Chủng</a:t>
            </a:r>
            <a:r>
              <a:rPr lang="en-US" altLang="ko-KR" b="1" baseline="0" dirty="0">
                <a:solidFill>
                  <a:srgbClr val="000000"/>
                </a:solidFill>
              </a:rPr>
              <a:t> </a:t>
            </a:r>
            <a:r>
              <a:rPr lang="en-US" altLang="ko-KR" b="1" baseline="0" dirty="0" err="1">
                <a:solidFill>
                  <a:srgbClr val="000000"/>
                </a:solidFill>
              </a:rPr>
              <a:t>loại</a:t>
            </a:r>
            <a:r>
              <a:rPr lang="en-US" altLang="ko-KR" b="1" baseline="0" dirty="0">
                <a:solidFill>
                  <a:srgbClr val="000000"/>
                </a:solidFill>
              </a:rPr>
              <a:t> </a:t>
            </a:r>
            <a:r>
              <a:rPr lang="en-US" altLang="ko-KR" b="1" baseline="0" dirty="0" err="1">
                <a:solidFill>
                  <a:srgbClr val="000000"/>
                </a:solidFill>
              </a:rPr>
              <a:t>của</a:t>
            </a:r>
            <a:r>
              <a:rPr lang="en-US" altLang="ko-KR" b="1" baseline="0" dirty="0">
                <a:solidFill>
                  <a:srgbClr val="000000"/>
                </a:solidFill>
              </a:rPr>
              <a:t> </a:t>
            </a:r>
            <a:r>
              <a:rPr lang="en-US" altLang="ko-KR" b="1" baseline="0" dirty="0" err="1">
                <a:solidFill>
                  <a:srgbClr val="000000"/>
                </a:solidFill>
              </a:rPr>
              <a:t>chỉ</a:t>
            </a:r>
            <a:r>
              <a:rPr lang="en-US" altLang="ko-KR" b="1" baseline="0" dirty="0">
                <a:solidFill>
                  <a:srgbClr val="000000"/>
                </a:solidFill>
              </a:rPr>
              <a:t> </a:t>
            </a:r>
            <a:r>
              <a:rPr lang="en-US" altLang="ko-KR" b="1" baseline="0" dirty="0" err="1">
                <a:solidFill>
                  <a:srgbClr val="000000"/>
                </a:solidFill>
              </a:rPr>
              <a:t>số</a:t>
            </a:r>
            <a:r>
              <a:rPr lang="en-US" altLang="ko-KR" b="1" baseline="0" dirty="0">
                <a:solidFill>
                  <a:srgbClr val="000000"/>
                </a:solidFill>
              </a:rPr>
              <a:t> </a:t>
            </a:r>
            <a:r>
              <a:rPr lang="en-US" altLang="ko-KR" b="1" baseline="0" dirty="0" err="1">
                <a:solidFill>
                  <a:srgbClr val="000000"/>
                </a:solidFill>
              </a:rPr>
              <a:t>năng</a:t>
            </a:r>
            <a:r>
              <a:rPr lang="en-US" altLang="ko-KR" b="1" baseline="0" dirty="0">
                <a:solidFill>
                  <a:srgbClr val="000000"/>
                </a:solidFill>
              </a:rPr>
              <a:t> </a:t>
            </a:r>
            <a:r>
              <a:rPr lang="en-US" altLang="ko-KR" b="1" baseline="0" dirty="0" err="1">
                <a:solidFill>
                  <a:srgbClr val="000000"/>
                </a:solidFill>
              </a:rPr>
              <a:t>lực</a:t>
            </a:r>
            <a:r>
              <a:rPr lang="en-US" altLang="ko-KR" b="1" baseline="0" dirty="0">
                <a:solidFill>
                  <a:srgbClr val="000000"/>
                </a:solidFill>
              </a:rPr>
              <a:t> process</a:t>
            </a:r>
            <a:endParaRPr lang="ko-KR" altLang="en-US" b="1" baseline="0" dirty="0">
              <a:solidFill>
                <a:srgbClr val="000000"/>
              </a:solidFill>
            </a:endParaRPr>
          </a:p>
        </p:txBody>
      </p:sp>
      <p:sp>
        <p:nvSpPr>
          <p:cNvPr id="40977" name="Rectangle 24"/>
          <p:cNvSpPr>
            <a:spLocks noChangeArrowheads="1"/>
          </p:cNvSpPr>
          <p:nvPr/>
        </p:nvSpPr>
        <p:spPr bwMode="auto">
          <a:xfrm>
            <a:off x="2045677" y="4983181"/>
            <a:ext cx="4572000" cy="393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lgn="ctr">
                <a:solidFill>
                  <a:srgbClr val="000000"/>
                </a:solidFill>
                <a:miter lim="800000"/>
                <a:headEnd/>
                <a:tailEnd/>
              </a14:hiddenLine>
            </a:ext>
          </a:extLst>
        </p:spPr>
        <p:txBody>
          <a:bodyPr>
            <a:spAutoFit/>
          </a:bodyPr>
          <a:lstStyle>
            <a:lvl1pPr marL="342900" indent="-342900" eaLnBrk="0" hangingPunct="0">
              <a:defRPr kumimoji="1" sz="1400" baseline="-25000">
                <a:solidFill>
                  <a:schemeClr val="tx1"/>
                </a:solidFill>
                <a:latin typeface="맑은 고딕" pitchFamily="50" charset="-127"/>
                <a:ea typeface="맑은 고딕" pitchFamily="50" charset="-127"/>
              </a:defRPr>
            </a:lvl1pPr>
            <a:lvl2pPr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vl="1" eaLnBrk="1" hangingPunct="1">
              <a:lnSpc>
                <a:spcPct val="140000"/>
              </a:lnSpc>
            </a:pPr>
            <a:r>
              <a:rPr lang="en-US" altLang="ko-KR" b="1" baseline="0" dirty="0">
                <a:solidFill>
                  <a:srgbClr val="000000"/>
                </a:solidFill>
              </a:rPr>
              <a:t>Cp, Cpk, Pp, Ppk</a:t>
            </a:r>
          </a:p>
        </p:txBody>
      </p:sp>
      <p:sp>
        <p:nvSpPr>
          <p:cNvPr id="20"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
        <p:nvSpPr>
          <p:cNvPr id="17"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202</a:t>
            </a:fld>
            <a:endParaRPr lang="ko-KR" altLang="en-US" sz="1200" dirty="0"/>
          </a:p>
        </p:txBody>
      </p:sp>
    </p:spTree>
    <p:extLst>
      <p:ext uri="{BB962C8B-B14F-4D97-AF65-F5344CB8AC3E}">
        <p14:creationId xmlns:p14="http://schemas.microsoft.com/office/powerpoint/2010/main" val="3380089055"/>
      </p:ext>
    </p:extLst>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직사각형 24"/>
          <p:cNvSpPr/>
          <p:nvPr/>
        </p:nvSpPr>
        <p:spPr bwMode="auto">
          <a:xfrm>
            <a:off x="921784" y="1286476"/>
            <a:ext cx="7040131" cy="2214533"/>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19" name="Text Box 39"/>
          <p:cNvSpPr txBox="1">
            <a:spLocks noChangeArrowheads="1"/>
          </p:cNvSpPr>
          <p:nvPr/>
        </p:nvSpPr>
        <p:spPr bwMode="auto">
          <a:xfrm>
            <a:off x="127741" y="7656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
        <p:nvSpPr>
          <p:cNvPr id="21" name="Rectangle 3"/>
          <p:cNvSpPr>
            <a:spLocks noChangeArrowheads="1"/>
          </p:cNvSpPr>
          <p:nvPr/>
        </p:nvSpPr>
        <p:spPr bwMode="auto">
          <a:xfrm>
            <a:off x="1064376" y="1358502"/>
            <a:ext cx="6831071" cy="2070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lnSpc>
                <a:spcPct val="120000"/>
              </a:lnSpc>
            </a:pPr>
            <a:r>
              <a:rPr lang="en-US" altLang="ko-KR" sz="1600" b="1" dirty="0" err="1">
                <a:latin typeface="+mn-lt"/>
              </a:rPr>
              <a:t>Đánh</a:t>
            </a:r>
            <a:r>
              <a:rPr lang="en-US" altLang="ko-KR" sz="1600" b="1" dirty="0">
                <a:latin typeface="+mn-lt"/>
              </a:rPr>
              <a:t> </a:t>
            </a:r>
            <a:r>
              <a:rPr lang="en-US" altLang="ko-KR" sz="1600" b="1" dirty="0" err="1">
                <a:latin typeface="+mn-lt"/>
              </a:rPr>
              <a:t>giá</a:t>
            </a:r>
            <a:r>
              <a:rPr lang="en-US" altLang="ko-KR" sz="1600" b="1" dirty="0">
                <a:latin typeface="+mn-lt"/>
              </a:rPr>
              <a:t> </a:t>
            </a:r>
            <a:r>
              <a:rPr lang="en-US" altLang="ko-KR" sz="1600" b="1" dirty="0" err="1">
                <a:latin typeface="+mn-lt"/>
              </a:rPr>
              <a:t>trang</a:t>
            </a:r>
            <a:r>
              <a:rPr lang="en-US" altLang="ko-KR" sz="1600" b="1" dirty="0">
                <a:latin typeface="+mn-lt"/>
              </a:rPr>
              <a:t> </a:t>
            </a:r>
            <a:r>
              <a:rPr lang="en-US" altLang="ko-KR" sz="1600" b="1" dirty="0" err="1">
                <a:latin typeface="+mn-lt"/>
              </a:rPr>
              <a:t>thiết</a:t>
            </a:r>
            <a:r>
              <a:rPr lang="en-US" altLang="ko-KR" sz="1600" b="1" dirty="0">
                <a:latin typeface="+mn-lt"/>
              </a:rPr>
              <a:t> </a:t>
            </a:r>
            <a:r>
              <a:rPr lang="en-US" altLang="ko-KR" sz="1600" b="1" dirty="0" err="1">
                <a:latin typeface="+mn-lt"/>
              </a:rPr>
              <a:t>bị</a:t>
            </a:r>
            <a:r>
              <a:rPr lang="en-US" altLang="ko-KR" sz="1600" b="1" dirty="0">
                <a:latin typeface="+mn-lt"/>
              </a:rPr>
              <a:t> </a:t>
            </a:r>
            <a:r>
              <a:rPr lang="en-US" altLang="ko-KR" sz="1600" b="1" dirty="0" err="1">
                <a:latin typeface="+mn-lt"/>
              </a:rPr>
              <a:t>mới</a:t>
            </a:r>
            <a:r>
              <a:rPr lang="en-US" altLang="ko-KR" sz="1600" b="1" dirty="0">
                <a:latin typeface="+mn-lt"/>
              </a:rPr>
              <a:t> </a:t>
            </a:r>
            <a:endParaRPr lang="ko-KR" altLang="en-US" sz="1600" b="1" dirty="0">
              <a:latin typeface="+mn-lt"/>
            </a:endParaRPr>
          </a:p>
          <a:p>
            <a:pPr eaLnBrk="1" hangingPunct="1">
              <a:lnSpc>
                <a:spcPct val="120000"/>
              </a:lnSpc>
            </a:pPr>
            <a:r>
              <a:rPr lang="en-US" altLang="ko-KR" sz="1600" dirty="0" err="1">
                <a:latin typeface="+mn-lt"/>
              </a:rPr>
              <a:t>Kiểm</a:t>
            </a:r>
            <a:r>
              <a:rPr lang="en-US" altLang="ko-KR" sz="1600" dirty="0">
                <a:latin typeface="+mn-lt"/>
              </a:rPr>
              <a:t> </a:t>
            </a:r>
            <a:r>
              <a:rPr lang="en-US" altLang="ko-KR" sz="1600" dirty="0" err="1">
                <a:latin typeface="+mn-lt"/>
              </a:rPr>
              <a:t>tra</a:t>
            </a:r>
            <a:r>
              <a:rPr lang="en-US" altLang="ko-KR" sz="1600" dirty="0">
                <a:latin typeface="+mn-lt"/>
              </a:rPr>
              <a:t> </a:t>
            </a:r>
            <a:r>
              <a:rPr lang="en-US" altLang="ko-KR" sz="1600" dirty="0" err="1">
                <a:latin typeface="+mn-lt"/>
              </a:rPr>
              <a:t>sai</a:t>
            </a:r>
            <a:r>
              <a:rPr lang="en-US" altLang="ko-KR" sz="1600" dirty="0">
                <a:latin typeface="+mn-lt"/>
              </a:rPr>
              <a:t> </a:t>
            </a:r>
            <a:r>
              <a:rPr lang="en-US" altLang="ko-KR" sz="1600" dirty="0" err="1">
                <a:latin typeface="+mn-lt"/>
              </a:rPr>
              <a:t>số</a:t>
            </a:r>
            <a:r>
              <a:rPr lang="en-US" altLang="ko-KR" sz="1600" dirty="0">
                <a:latin typeface="+mn-lt"/>
              </a:rPr>
              <a:t> </a:t>
            </a:r>
            <a:r>
              <a:rPr lang="en-US" altLang="ko-KR" sz="1600" dirty="0" err="1">
                <a:latin typeface="+mn-lt"/>
              </a:rPr>
              <a:t>cho</a:t>
            </a:r>
            <a:r>
              <a:rPr lang="en-US" altLang="ko-KR" sz="1600" dirty="0">
                <a:latin typeface="+mn-lt"/>
              </a:rPr>
              <a:t> </a:t>
            </a:r>
            <a:r>
              <a:rPr lang="en-US" altLang="ko-KR" sz="1600" dirty="0" err="1">
                <a:latin typeface="+mn-lt"/>
              </a:rPr>
              <a:t>phép</a:t>
            </a:r>
            <a:r>
              <a:rPr lang="en-US" altLang="ko-KR" sz="1600" dirty="0">
                <a:latin typeface="+mn-lt"/>
              </a:rPr>
              <a:t> </a:t>
            </a:r>
            <a:r>
              <a:rPr lang="en-US" altLang="ko-KR" sz="1600" dirty="0" err="1">
                <a:latin typeface="+mn-lt"/>
              </a:rPr>
              <a:t>căn</a:t>
            </a:r>
            <a:r>
              <a:rPr lang="en-US" altLang="ko-KR" sz="1600" dirty="0">
                <a:latin typeface="+mn-lt"/>
              </a:rPr>
              <a:t> </a:t>
            </a:r>
            <a:r>
              <a:rPr lang="en-US" altLang="ko-KR" sz="1600" dirty="0" err="1">
                <a:latin typeface="+mn-lt"/>
              </a:rPr>
              <a:t>cứ</a:t>
            </a:r>
            <a:r>
              <a:rPr lang="en-US" altLang="ko-KR" sz="1600" dirty="0">
                <a:latin typeface="+mn-lt"/>
              </a:rPr>
              <a:t> </a:t>
            </a:r>
            <a:r>
              <a:rPr lang="en-US" altLang="ko-KR" sz="1600" dirty="0" err="1">
                <a:latin typeface="+mn-lt"/>
              </a:rPr>
              <a:t>vào</a:t>
            </a:r>
            <a:r>
              <a:rPr lang="en-US" altLang="ko-KR" sz="1600" dirty="0">
                <a:latin typeface="+mn-lt"/>
              </a:rPr>
              <a:t> </a:t>
            </a:r>
            <a:r>
              <a:rPr lang="en-US" altLang="ko-KR" sz="1600" dirty="0" err="1">
                <a:latin typeface="+mn-lt"/>
              </a:rPr>
              <a:t>tính</a:t>
            </a:r>
            <a:r>
              <a:rPr lang="en-US" altLang="ko-KR" sz="1600" dirty="0">
                <a:latin typeface="+mn-lt"/>
              </a:rPr>
              <a:t> </a:t>
            </a:r>
            <a:r>
              <a:rPr lang="en-US" altLang="ko-KR" sz="1600" dirty="0" err="1">
                <a:latin typeface="+mn-lt"/>
              </a:rPr>
              <a:t>cố</a:t>
            </a:r>
            <a:r>
              <a:rPr lang="en-US" altLang="ko-KR" sz="1600" dirty="0">
                <a:latin typeface="+mn-lt"/>
              </a:rPr>
              <a:t> </a:t>
            </a:r>
            <a:r>
              <a:rPr lang="en-US" altLang="ko-KR" sz="1600" dirty="0" err="1">
                <a:latin typeface="+mn-lt"/>
              </a:rPr>
              <a:t>hữu</a:t>
            </a:r>
            <a:r>
              <a:rPr lang="en-US" altLang="ko-KR" sz="1600" dirty="0">
                <a:latin typeface="+mn-lt"/>
              </a:rPr>
              <a:t> </a:t>
            </a:r>
            <a:r>
              <a:rPr lang="en-US" altLang="ko-KR" sz="1600" dirty="0" err="1">
                <a:latin typeface="+mn-lt"/>
              </a:rPr>
              <a:t>của</a:t>
            </a:r>
            <a:r>
              <a:rPr lang="en-US" altLang="ko-KR" sz="1600" dirty="0">
                <a:latin typeface="+mn-lt"/>
              </a:rPr>
              <a:t> process </a:t>
            </a:r>
            <a:r>
              <a:rPr lang="en-US" altLang="ko-KR" sz="1600" dirty="0" err="1">
                <a:latin typeface="+mn-lt"/>
              </a:rPr>
              <a:t>hoặc</a:t>
            </a:r>
            <a:r>
              <a:rPr lang="en-US" altLang="ko-KR" sz="1600" dirty="0">
                <a:latin typeface="+mn-lt"/>
              </a:rPr>
              <a:t> </a:t>
            </a:r>
            <a:r>
              <a:rPr lang="en-US" altLang="ko-KR" sz="1600" dirty="0" err="1">
                <a:latin typeface="+mn-lt"/>
              </a:rPr>
              <a:t>tổng</a:t>
            </a:r>
            <a:r>
              <a:rPr lang="en-US" altLang="ko-KR" sz="1600" dirty="0">
                <a:latin typeface="+mn-lt"/>
              </a:rPr>
              <a:t> </a:t>
            </a:r>
            <a:r>
              <a:rPr lang="en-US" altLang="ko-KR" sz="1600" dirty="0" err="1">
                <a:latin typeface="+mn-lt"/>
              </a:rPr>
              <a:t>biến</a:t>
            </a:r>
            <a:r>
              <a:rPr lang="en-US" altLang="ko-KR" sz="1600" dirty="0">
                <a:latin typeface="+mn-lt"/>
              </a:rPr>
              <a:t> </a:t>
            </a:r>
            <a:r>
              <a:rPr lang="en-US" altLang="ko-KR" sz="1600" dirty="0" err="1">
                <a:latin typeface="+mn-lt"/>
              </a:rPr>
              <a:t>động</a:t>
            </a:r>
            <a:endParaRPr lang="ko-KR" altLang="en-US" sz="1600" dirty="0">
              <a:latin typeface="+mn-lt"/>
            </a:endParaRPr>
          </a:p>
          <a:p>
            <a:pPr eaLnBrk="1" hangingPunct="1">
              <a:lnSpc>
                <a:spcPct val="120000"/>
              </a:lnSpc>
            </a:pPr>
            <a:r>
              <a:rPr lang="en-US" altLang="ko-KR" sz="1600" b="1" dirty="0" err="1">
                <a:latin typeface="+mn-lt"/>
              </a:rPr>
              <a:t>Điều</a:t>
            </a:r>
            <a:r>
              <a:rPr lang="en-US" altLang="ko-KR" sz="1600" b="1" dirty="0">
                <a:latin typeface="+mn-lt"/>
              </a:rPr>
              <a:t> </a:t>
            </a:r>
            <a:r>
              <a:rPr lang="en-US" altLang="ko-KR" sz="1600" b="1" dirty="0" err="1">
                <a:latin typeface="+mn-lt"/>
              </a:rPr>
              <a:t>tra</a:t>
            </a:r>
            <a:r>
              <a:rPr lang="en-US" altLang="ko-KR" sz="1600" b="1" dirty="0">
                <a:latin typeface="+mn-lt"/>
              </a:rPr>
              <a:t> </a:t>
            </a:r>
            <a:r>
              <a:rPr lang="en-US" altLang="ko-KR" sz="1600" b="1" dirty="0" err="1">
                <a:latin typeface="+mn-lt"/>
              </a:rPr>
              <a:t>định</a:t>
            </a:r>
            <a:r>
              <a:rPr lang="en-US" altLang="ko-KR" sz="1600" b="1" dirty="0">
                <a:latin typeface="+mn-lt"/>
              </a:rPr>
              <a:t> </a:t>
            </a:r>
            <a:r>
              <a:rPr lang="en-US" altLang="ko-KR" sz="1600" b="1" dirty="0" err="1">
                <a:latin typeface="+mn-lt"/>
              </a:rPr>
              <a:t>kỳ</a:t>
            </a:r>
            <a:r>
              <a:rPr lang="en-US" altLang="ko-KR" sz="1600" b="1" dirty="0">
                <a:latin typeface="+mn-lt"/>
              </a:rPr>
              <a:t> </a:t>
            </a:r>
            <a:r>
              <a:rPr lang="en-US" altLang="ko-KR" sz="1600" b="1" dirty="0" err="1">
                <a:latin typeface="+mn-lt"/>
              </a:rPr>
              <a:t>thực</a:t>
            </a:r>
            <a:r>
              <a:rPr lang="en-US" altLang="ko-KR" sz="1600" b="1" dirty="0">
                <a:latin typeface="+mn-lt"/>
              </a:rPr>
              <a:t> </a:t>
            </a:r>
            <a:r>
              <a:rPr lang="en-US" altLang="ko-KR" sz="1600" b="1" dirty="0" err="1">
                <a:latin typeface="+mn-lt"/>
              </a:rPr>
              <a:t>hiện</a:t>
            </a:r>
            <a:r>
              <a:rPr lang="en-US" altLang="ko-KR" sz="1600" b="1" dirty="0">
                <a:latin typeface="+mn-lt"/>
              </a:rPr>
              <a:t> process</a:t>
            </a:r>
            <a:endParaRPr lang="ko-KR" altLang="en-US" sz="1600" b="1" dirty="0">
              <a:latin typeface="+mn-lt"/>
            </a:endParaRPr>
          </a:p>
          <a:p>
            <a:pPr eaLnBrk="1" hangingPunct="1">
              <a:lnSpc>
                <a:spcPct val="120000"/>
              </a:lnSpc>
            </a:pPr>
            <a:r>
              <a:rPr lang="en-US" altLang="ko-KR" sz="1600" b="1" dirty="0" err="1">
                <a:latin typeface="+mn-lt"/>
              </a:rPr>
              <a:t>Để</a:t>
            </a:r>
            <a:r>
              <a:rPr lang="en-US" altLang="ko-KR" sz="1600" b="1" dirty="0">
                <a:latin typeface="+mn-lt"/>
              </a:rPr>
              <a:t> </a:t>
            </a:r>
            <a:r>
              <a:rPr lang="en-US" altLang="ko-KR" sz="1600" b="1" dirty="0" err="1">
                <a:latin typeface="+mn-lt"/>
              </a:rPr>
              <a:t>tìm</a:t>
            </a:r>
            <a:r>
              <a:rPr lang="en-US" altLang="ko-KR" sz="1600" b="1" dirty="0">
                <a:latin typeface="+mn-lt"/>
              </a:rPr>
              <a:t> </a:t>
            </a:r>
            <a:r>
              <a:rPr lang="en-US" altLang="ko-KR" sz="1600" b="1" dirty="0" err="1">
                <a:latin typeface="+mn-lt"/>
              </a:rPr>
              <a:t>ảnh</a:t>
            </a:r>
            <a:r>
              <a:rPr lang="en-US" altLang="ko-KR" sz="1600" b="1" dirty="0">
                <a:latin typeface="+mn-lt"/>
              </a:rPr>
              <a:t> </a:t>
            </a:r>
            <a:r>
              <a:rPr lang="en-US" altLang="ko-KR" sz="1600" b="1" dirty="0" err="1">
                <a:latin typeface="+mn-lt"/>
              </a:rPr>
              <a:t>hưởng</a:t>
            </a:r>
            <a:r>
              <a:rPr lang="en-US" altLang="ko-KR" sz="1600" b="1" dirty="0">
                <a:latin typeface="+mn-lt"/>
              </a:rPr>
              <a:t> </a:t>
            </a:r>
            <a:r>
              <a:rPr lang="en-US" altLang="ko-KR" sz="1600" b="1" dirty="0" err="1">
                <a:latin typeface="+mn-lt"/>
              </a:rPr>
              <a:t>của</a:t>
            </a:r>
            <a:r>
              <a:rPr lang="en-US" altLang="ko-KR" sz="1600" b="1" dirty="0">
                <a:latin typeface="+mn-lt"/>
              </a:rPr>
              <a:t> </a:t>
            </a:r>
            <a:r>
              <a:rPr lang="en-US" altLang="ko-KR" sz="1600" b="1" dirty="0" err="1">
                <a:latin typeface="+mn-lt"/>
              </a:rPr>
              <a:t>việc</a:t>
            </a:r>
            <a:r>
              <a:rPr lang="en-US" altLang="ko-KR" sz="1600" b="1" dirty="0">
                <a:latin typeface="+mn-lt"/>
              </a:rPr>
              <a:t> </a:t>
            </a:r>
            <a:r>
              <a:rPr lang="en-US" altLang="ko-KR" sz="1600" b="1" dirty="0" err="1">
                <a:latin typeface="+mn-lt"/>
              </a:rPr>
              <a:t>điều</a:t>
            </a:r>
            <a:r>
              <a:rPr lang="en-US" altLang="ko-KR" sz="1600" b="1" dirty="0">
                <a:latin typeface="+mn-lt"/>
              </a:rPr>
              <a:t> </a:t>
            </a:r>
            <a:r>
              <a:rPr lang="en-US" altLang="ko-KR" sz="1600" b="1" dirty="0" err="1">
                <a:latin typeface="+mn-lt"/>
              </a:rPr>
              <a:t>hỉnh</a:t>
            </a:r>
            <a:r>
              <a:rPr lang="en-US" altLang="ko-KR" sz="1600" b="1" dirty="0">
                <a:latin typeface="+mn-lt"/>
              </a:rPr>
              <a:t> </a:t>
            </a:r>
            <a:r>
              <a:rPr lang="en-US" altLang="ko-KR" sz="1600" b="1" dirty="0" err="1">
                <a:latin typeface="+mn-lt"/>
              </a:rPr>
              <a:t>trong</a:t>
            </a:r>
            <a:r>
              <a:rPr lang="en-US" altLang="ko-KR" sz="1600" b="1" dirty="0">
                <a:latin typeface="+mn-lt"/>
              </a:rPr>
              <a:t> </a:t>
            </a:r>
            <a:r>
              <a:rPr lang="en-US" altLang="ko-KR" sz="1600" b="1" dirty="0" err="1">
                <a:latin typeface="+mn-lt"/>
              </a:rPr>
              <a:t>hoạt</a:t>
            </a:r>
            <a:r>
              <a:rPr lang="en-US" altLang="ko-KR" sz="1600" b="1" dirty="0">
                <a:latin typeface="+mn-lt"/>
              </a:rPr>
              <a:t> </a:t>
            </a:r>
            <a:r>
              <a:rPr lang="en-US" altLang="ko-KR" sz="1600" b="1" dirty="0" err="1">
                <a:latin typeface="+mn-lt"/>
              </a:rPr>
              <a:t>động</a:t>
            </a:r>
            <a:r>
              <a:rPr lang="en-US" altLang="ko-KR" sz="1600" b="1" dirty="0">
                <a:latin typeface="+mn-lt"/>
              </a:rPr>
              <a:t> process</a:t>
            </a:r>
            <a:endParaRPr lang="ko-KR" altLang="en-US" sz="1600" b="1" dirty="0">
              <a:latin typeface="+mn-lt"/>
            </a:endParaRPr>
          </a:p>
          <a:p>
            <a:pPr eaLnBrk="1" hangingPunct="1">
              <a:lnSpc>
                <a:spcPct val="120000"/>
              </a:lnSpc>
            </a:pPr>
            <a:r>
              <a:rPr lang="en-US" altLang="ko-KR" sz="1600" dirty="0" err="1">
                <a:latin typeface="+mn-lt"/>
              </a:rPr>
              <a:t>Thiết</a:t>
            </a:r>
            <a:r>
              <a:rPr lang="en-US" altLang="ko-KR" sz="1600" dirty="0">
                <a:latin typeface="+mn-lt"/>
              </a:rPr>
              <a:t> </a:t>
            </a:r>
            <a:r>
              <a:rPr lang="en-US" altLang="ko-KR" sz="1600" dirty="0" err="1">
                <a:latin typeface="+mn-lt"/>
              </a:rPr>
              <a:t>lập</a:t>
            </a:r>
            <a:r>
              <a:rPr lang="en-US" altLang="ko-KR" sz="1600" dirty="0">
                <a:latin typeface="+mn-lt"/>
              </a:rPr>
              <a:t> </a:t>
            </a:r>
            <a:r>
              <a:rPr lang="en-US" altLang="ko-KR" sz="1600" dirty="0" err="1">
                <a:latin typeface="+mn-lt"/>
              </a:rPr>
              <a:t>quy</a:t>
            </a:r>
            <a:r>
              <a:rPr lang="en-US" altLang="ko-KR" sz="1600" dirty="0">
                <a:latin typeface="+mn-lt"/>
              </a:rPr>
              <a:t> </a:t>
            </a:r>
            <a:r>
              <a:rPr lang="en-US" altLang="ko-KR" sz="1600" dirty="0" err="1">
                <a:latin typeface="+mn-lt"/>
              </a:rPr>
              <a:t>cách</a:t>
            </a:r>
            <a:r>
              <a:rPr lang="en-US" altLang="ko-KR" sz="1600" dirty="0">
                <a:latin typeface="+mn-lt"/>
              </a:rPr>
              <a:t> </a:t>
            </a:r>
            <a:r>
              <a:rPr lang="en-US" altLang="ko-KR" sz="1600" dirty="0" err="1">
                <a:latin typeface="+mn-lt"/>
              </a:rPr>
              <a:t>tiêu</a:t>
            </a:r>
            <a:r>
              <a:rPr lang="en-US" altLang="ko-KR" sz="1600" dirty="0">
                <a:latin typeface="+mn-lt"/>
              </a:rPr>
              <a:t> </a:t>
            </a:r>
            <a:r>
              <a:rPr lang="en-US" altLang="ko-KR" sz="1600" dirty="0" err="1">
                <a:latin typeface="+mn-lt"/>
              </a:rPr>
              <a:t>chuẩn</a:t>
            </a:r>
            <a:r>
              <a:rPr lang="en-US" altLang="ko-KR" sz="1600" dirty="0">
                <a:latin typeface="+mn-lt"/>
              </a:rPr>
              <a:t> </a:t>
            </a:r>
            <a:r>
              <a:rPr lang="en-US" altLang="ko-KR" sz="1600" dirty="0" err="1">
                <a:latin typeface="+mn-lt"/>
              </a:rPr>
              <a:t>thực</a:t>
            </a:r>
            <a:r>
              <a:rPr lang="en-US" altLang="ko-KR" sz="1600" dirty="0">
                <a:latin typeface="+mn-lt"/>
              </a:rPr>
              <a:t> </a:t>
            </a:r>
            <a:r>
              <a:rPr lang="en-US" altLang="ko-KR" sz="1600" dirty="0" err="1">
                <a:latin typeface="+mn-lt"/>
              </a:rPr>
              <a:t>tế</a:t>
            </a:r>
            <a:r>
              <a:rPr lang="en-US" altLang="ko-KR" sz="1600" dirty="0">
                <a:latin typeface="+mn-lt"/>
              </a:rPr>
              <a:t>/ </a:t>
            </a:r>
            <a:r>
              <a:rPr lang="en-US" altLang="ko-KR" sz="1600" dirty="0" err="1">
                <a:latin typeface="+mn-lt"/>
              </a:rPr>
              <a:t>thực</a:t>
            </a:r>
            <a:r>
              <a:rPr lang="en-US" altLang="ko-KR" sz="1600" dirty="0">
                <a:latin typeface="+mn-lt"/>
              </a:rPr>
              <a:t> </a:t>
            </a:r>
            <a:r>
              <a:rPr lang="en-US" altLang="ko-KR" sz="1600" dirty="0" err="1">
                <a:latin typeface="+mn-lt"/>
              </a:rPr>
              <a:t>chất</a:t>
            </a:r>
            <a:endParaRPr lang="ko-KR" altLang="en-US" sz="1600" dirty="0">
              <a:latin typeface="+mn-lt"/>
            </a:endParaRPr>
          </a:p>
        </p:txBody>
      </p:sp>
      <p:sp>
        <p:nvSpPr>
          <p:cNvPr id="24" name="Text Box 55"/>
          <p:cNvSpPr txBox="1">
            <a:spLocks noChangeArrowheads="1"/>
          </p:cNvSpPr>
          <p:nvPr/>
        </p:nvSpPr>
        <p:spPr bwMode="auto">
          <a:xfrm>
            <a:off x="650334" y="836712"/>
            <a:ext cx="752621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đích</a:t>
            </a:r>
            <a:r>
              <a:rPr lang="en-US" altLang="ko-KR" sz="1600" b="1" baseline="0" dirty="0">
                <a:solidFill>
                  <a:srgbClr val="000000"/>
                </a:solidFill>
              </a:rPr>
              <a:t> </a:t>
            </a:r>
            <a:r>
              <a:rPr lang="en-US" altLang="ko-KR" sz="1600" b="1" baseline="0" dirty="0" err="1">
                <a:solidFill>
                  <a:srgbClr val="000000"/>
                </a:solidFill>
              </a:rPr>
              <a:t>nắm</a:t>
            </a:r>
            <a:r>
              <a:rPr lang="en-US" altLang="ko-KR" sz="1600" b="1" baseline="0" dirty="0">
                <a:solidFill>
                  <a:srgbClr val="000000"/>
                </a:solidFill>
              </a:rPr>
              <a:t> </a:t>
            </a:r>
            <a:r>
              <a:rPr lang="en-US" altLang="ko-KR" sz="1600" b="1" baseline="0" dirty="0" err="1">
                <a:solidFill>
                  <a:srgbClr val="000000"/>
                </a:solidFill>
              </a:rPr>
              <a:t>bắt</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a:t>
            </a:r>
            <a:endParaRPr lang="ko-KR" altLang="en-US" sz="1600" b="1" baseline="0" dirty="0">
              <a:solidFill>
                <a:srgbClr val="000000"/>
              </a:solidFill>
            </a:endParaRPr>
          </a:p>
        </p:txBody>
      </p:sp>
      <p:sp>
        <p:nvSpPr>
          <p:cNvPr id="23" name="Rectangle 2"/>
          <p:cNvSpPr>
            <a:spLocks noChangeArrowheads="1"/>
          </p:cNvSpPr>
          <p:nvPr/>
        </p:nvSpPr>
        <p:spPr bwMode="auto">
          <a:xfrm>
            <a:off x="783271" y="4077072"/>
            <a:ext cx="7178644" cy="2232248"/>
          </a:xfrm>
          <a:prstGeom prst="rect">
            <a:avLst/>
          </a:prstGeom>
          <a:solidFill>
            <a:schemeClr val="bg2">
              <a:lumMod val="20000"/>
              <a:lumOff val="80000"/>
            </a:schemeClr>
          </a:solidFill>
          <a:ln>
            <a:noFill/>
          </a:ln>
          <a:effectLst/>
        </p:spPr>
        <p:txBody>
          <a:bodyPr/>
          <a:lstStyle>
            <a:lvl1pPr marL="342900" indent="-342900"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spcAft>
                <a:spcPct val="25000"/>
              </a:spcAft>
              <a:buClr>
                <a:schemeClr val="tx1"/>
              </a:buClr>
              <a:buSzPct val="115000"/>
              <a:buNone/>
            </a:pPr>
            <a:endParaRPr lang="en-US" altLang="ko-KR" sz="1600" dirty="0">
              <a:latin typeface="+mn-lt"/>
            </a:endParaRPr>
          </a:p>
          <a:p>
            <a:pPr eaLnBrk="1" hangingPunct="1">
              <a:spcAft>
                <a:spcPct val="25000"/>
              </a:spcAft>
              <a:buClr>
                <a:schemeClr val="tx1"/>
              </a:buClr>
              <a:buSzPct val="115000"/>
              <a:buFont typeface="Wingdings" pitchFamily="2" charset="2"/>
              <a:buChar char="ü"/>
            </a:pPr>
            <a:r>
              <a:rPr lang="en-US" altLang="ko-KR" sz="1600" dirty="0" err="1">
                <a:latin typeface="+mn-lt"/>
              </a:rPr>
              <a:t>Để</a:t>
            </a:r>
            <a:r>
              <a:rPr lang="en-US" altLang="ko-KR" sz="1600" dirty="0">
                <a:latin typeface="+mn-lt"/>
              </a:rPr>
              <a:t> </a:t>
            </a:r>
            <a:r>
              <a:rPr lang="en-US" altLang="ko-KR" sz="1600" dirty="0" err="1">
                <a:latin typeface="+mn-lt"/>
              </a:rPr>
              <a:t>giải</a:t>
            </a:r>
            <a:r>
              <a:rPr lang="en-US" altLang="ko-KR" sz="1600" dirty="0">
                <a:latin typeface="+mn-lt"/>
              </a:rPr>
              <a:t> </a:t>
            </a:r>
            <a:r>
              <a:rPr lang="en-US" altLang="ko-KR" sz="1600" dirty="0" err="1">
                <a:latin typeface="+mn-lt"/>
              </a:rPr>
              <a:t>thích</a:t>
            </a:r>
            <a:r>
              <a:rPr lang="en-US" altLang="ko-KR" sz="1600" dirty="0">
                <a:latin typeface="+mn-lt"/>
              </a:rPr>
              <a:t> process </a:t>
            </a:r>
            <a:r>
              <a:rPr lang="en-US" altLang="ko-KR" sz="1600" dirty="0" err="1">
                <a:latin typeface="+mn-lt"/>
              </a:rPr>
              <a:t>không</a:t>
            </a:r>
            <a:r>
              <a:rPr lang="en-US" altLang="ko-KR" sz="1600" dirty="0">
                <a:latin typeface="+mn-lt"/>
              </a:rPr>
              <a:t> </a:t>
            </a:r>
            <a:r>
              <a:rPr lang="en-US" altLang="ko-KR" sz="1600" dirty="0" err="1">
                <a:latin typeface="+mn-lt"/>
              </a:rPr>
              <a:t>sử</a:t>
            </a:r>
            <a:r>
              <a:rPr lang="en-US" altLang="ko-KR" sz="1600" dirty="0">
                <a:latin typeface="+mn-lt"/>
              </a:rPr>
              <a:t> </a:t>
            </a:r>
            <a:r>
              <a:rPr lang="en-US" altLang="ko-KR" sz="1600" dirty="0" err="1">
                <a:latin typeface="+mn-lt"/>
              </a:rPr>
              <a:t>dụng</a:t>
            </a:r>
            <a:r>
              <a:rPr lang="en-US" altLang="ko-KR" sz="1600" dirty="0">
                <a:latin typeface="+mn-lt"/>
              </a:rPr>
              <a:t> </a:t>
            </a:r>
            <a:r>
              <a:rPr lang="en-US" altLang="ko-KR" sz="1600" dirty="0" err="1">
                <a:latin typeface="+mn-lt"/>
              </a:rPr>
              <a:t>đơn</a:t>
            </a:r>
            <a:r>
              <a:rPr lang="en-US" altLang="ko-KR" sz="1600" dirty="0">
                <a:latin typeface="+mn-lt"/>
              </a:rPr>
              <a:t> </a:t>
            </a:r>
            <a:r>
              <a:rPr lang="en-US" altLang="ko-KR" sz="1600" dirty="0" err="1">
                <a:latin typeface="+mn-lt"/>
              </a:rPr>
              <a:t>độc</a:t>
            </a:r>
            <a:r>
              <a:rPr lang="en-US" altLang="ko-KR" sz="1600" dirty="0">
                <a:latin typeface="+mn-lt"/>
              </a:rPr>
              <a:t> </a:t>
            </a:r>
            <a:r>
              <a:rPr lang="en-US" altLang="ko-KR" sz="1600" dirty="0" err="1">
                <a:latin typeface="+mn-lt"/>
              </a:rPr>
              <a:t>chỉ</a:t>
            </a:r>
            <a:r>
              <a:rPr lang="en-US" altLang="ko-KR" sz="1600" dirty="0">
                <a:latin typeface="+mn-lt"/>
              </a:rPr>
              <a:t> </a:t>
            </a:r>
            <a:r>
              <a:rPr lang="en-US" altLang="ko-KR" sz="1600" dirty="0" err="1">
                <a:latin typeface="+mn-lt"/>
              </a:rPr>
              <a:t>số</a:t>
            </a:r>
            <a:r>
              <a:rPr lang="en-US" altLang="ko-KR" sz="1600" dirty="0">
                <a:latin typeface="+mn-lt"/>
              </a:rPr>
              <a:t> </a:t>
            </a:r>
            <a:r>
              <a:rPr lang="en-US" altLang="ko-KR" sz="1600" dirty="0" err="1">
                <a:latin typeface="+mn-lt"/>
              </a:rPr>
              <a:t>năng</a:t>
            </a:r>
            <a:r>
              <a:rPr lang="en-US" altLang="ko-KR" sz="1600" dirty="0">
                <a:latin typeface="+mn-lt"/>
              </a:rPr>
              <a:t> </a:t>
            </a:r>
            <a:r>
              <a:rPr lang="en-US" altLang="ko-KR" sz="1600" dirty="0" err="1">
                <a:latin typeface="+mn-lt"/>
              </a:rPr>
              <a:t>lực</a:t>
            </a:r>
            <a:r>
              <a:rPr lang="en-US" altLang="ko-KR" sz="1600" dirty="0">
                <a:latin typeface="+mn-lt"/>
              </a:rPr>
              <a:t> process</a:t>
            </a:r>
          </a:p>
          <a:p>
            <a:pPr eaLnBrk="1" hangingPunct="1">
              <a:spcAft>
                <a:spcPct val="25000"/>
              </a:spcAft>
              <a:buClr>
                <a:schemeClr val="tx1"/>
              </a:buClr>
              <a:buSzPct val="115000"/>
              <a:buFont typeface="Wingdings" pitchFamily="2" charset="2"/>
              <a:buChar char="ü"/>
            </a:pPr>
            <a:r>
              <a:rPr lang="en-US" altLang="ko-KR" sz="1600" dirty="0" err="1">
                <a:latin typeface="+mn-lt"/>
              </a:rPr>
              <a:t>Để</a:t>
            </a:r>
            <a:r>
              <a:rPr lang="en-US" altLang="ko-KR" sz="1600" dirty="0">
                <a:latin typeface="+mn-lt"/>
              </a:rPr>
              <a:t> </a:t>
            </a:r>
            <a:r>
              <a:rPr lang="en-US" altLang="ko-KR" sz="1600" dirty="0" err="1">
                <a:latin typeface="+mn-lt"/>
              </a:rPr>
              <a:t>hiểu</a:t>
            </a:r>
            <a:r>
              <a:rPr lang="en-US" altLang="ko-KR" sz="1600" dirty="0">
                <a:latin typeface="+mn-lt"/>
              </a:rPr>
              <a:t> </a:t>
            </a:r>
            <a:r>
              <a:rPr lang="en-US" altLang="ko-KR" sz="1600" dirty="0" err="1">
                <a:latin typeface="+mn-lt"/>
              </a:rPr>
              <a:t>hoàn</a:t>
            </a:r>
            <a:r>
              <a:rPr lang="en-US" altLang="ko-KR" sz="1600" dirty="0">
                <a:latin typeface="+mn-lt"/>
              </a:rPr>
              <a:t> </a:t>
            </a:r>
            <a:r>
              <a:rPr lang="en-US" altLang="ko-KR" sz="1600" dirty="0" err="1">
                <a:latin typeface="+mn-lt"/>
              </a:rPr>
              <a:t>toàn</a:t>
            </a:r>
            <a:r>
              <a:rPr lang="en-US" altLang="ko-KR" sz="1600" dirty="0">
                <a:latin typeface="+mn-lt"/>
              </a:rPr>
              <a:t> </a:t>
            </a:r>
            <a:r>
              <a:rPr lang="en-US" altLang="ko-KR" sz="1600" dirty="0" err="1">
                <a:latin typeface="+mn-lt"/>
              </a:rPr>
              <a:t>về</a:t>
            </a:r>
            <a:r>
              <a:rPr lang="en-US" altLang="ko-KR" sz="1600" dirty="0">
                <a:latin typeface="+mn-lt"/>
              </a:rPr>
              <a:t> process </a:t>
            </a:r>
            <a:r>
              <a:rPr lang="en-US" altLang="ko-KR" sz="1600" dirty="0" err="1">
                <a:latin typeface="+mn-lt"/>
              </a:rPr>
              <a:t>sử</a:t>
            </a:r>
            <a:r>
              <a:rPr lang="en-US" altLang="ko-KR" sz="1600" dirty="0">
                <a:latin typeface="+mn-lt"/>
              </a:rPr>
              <a:t> </a:t>
            </a:r>
            <a:r>
              <a:rPr lang="en-US" altLang="ko-KR" sz="1600" dirty="0" err="1">
                <a:latin typeface="+mn-lt"/>
              </a:rPr>
              <a:t>dụng</a:t>
            </a:r>
            <a:r>
              <a:rPr lang="en-US" altLang="ko-KR" sz="1600" dirty="0">
                <a:latin typeface="+mn-lt"/>
              </a:rPr>
              <a:t> </a:t>
            </a:r>
            <a:r>
              <a:rPr lang="en-US" altLang="ko-KR" sz="1600" dirty="0" err="1">
                <a:latin typeface="+mn-lt"/>
              </a:rPr>
              <a:t>trên</a:t>
            </a:r>
            <a:r>
              <a:rPr lang="en-US" altLang="ko-KR" sz="1600" dirty="0">
                <a:latin typeface="+mn-lt"/>
              </a:rPr>
              <a:t> 2 </a:t>
            </a:r>
            <a:r>
              <a:rPr lang="en-US" altLang="ko-KR" sz="1600" dirty="0" err="1">
                <a:latin typeface="+mn-lt"/>
              </a:rPr>
              <a:t>chỉ</a:t>
            </a:r>
            <a:r>
              <a:rPr lang="en-US" altLang="ko-KR" sz="1600" dirty="0">
                <a:latin typeface="+mn-lt"/>
              </a:rPr>
              <a:t> </a:t>
            </a:r>
            <a:r>
              <a:rPr lang="en-US" altLang="ko-KR" sz="1600" dirty="0" err="1">
                <a:latin typeface="+mn-lt"/>
              </a:rPr>
              <a:t>số</a:t>
            </a:r>
            <a:r>
              <a:rPr lang="en-US" altLang="ko-KR" sz="1600" dirty="0">
                <a:latin typeface="+mn-lt"/>
              </a:rPr>
              <a:t> </a:t>
            </a:r>
            <a:r>
              <a:rPr lang="en-US" altLang="ko-KR" sz="1600" dirty="0" err="1">
                <a:latin typeface="+mn-lt"/>
              </a:rPr>
              <a:t>đánh</a:t>
            </a:r>
            <a:r>
              <a:rPr lang="en-US" altLang="ko-KR" sz="1600" dirty="0">
                <a:latin typeface="+mn-lt"/>
              </a:rPr>
              <a:t> </a:t>
            </a:r>
            <a:r>
              <a:rPr lang="en-US" altLang="ko-KR" sz="1600" dirty="0" err="1">
                <a:latin typeface="+mn-lt"/>
              </a:rPr>
              <a:t>giá</a:t>
            </a:r>
            <a:r>
              <a:rPr lang="en-US" altLang="ko-KR" sz="1600" dirty="0">
                <a:latin typeface="+mn-lt"/>
              </a:rPr>
              <a:t> </a:t>
            </a:r>
            <a:r>
              <a:rPr lang="en-US" altLang="ko-KR" sz="1600" dirty="0" err="1">
                <a:latin typeface="+mn-lt"/>
              </a:rPr>
              <a:t>năng</a:t>
            </a:r>
            <a:r>
              <a:rPr lang="en-US" altLang="ko-KR" sz="1600" dirty="0">
                <a:latin typeface="+mn-lt"/>
              </a:rPr>
              <a:t> </a:t>
            </a:r>
            <a:r>
              <a:rPr lang="en-US" altLang="ko-KR" sz="1600" dirty="0" err="1">
                <a:latin typeface="+mn-lt"/>
              </a:rPr>
              <a:t>lực</a:t>
            </a:r>
            <a:r>
              <a:rPr lang="en-US" altLang="ko-KR" sz="1600" dirty="0">
                <a:latin typeface="+mn-lt"/>
              </a:rPr>
              <a:t> process</a:t>
            </a:r>
          </a:p>
          <a:p>
            <a:pPr eaLnBrk="1" hangingPunct="1">
              <a:buClr>
                <a:schemeClr val="tx1"/>
              </a:buClr>
              <a:buSzPct val="115000"/>
              <a:buFont typeface="Wingdings" pitchFamily="2" charset="2"/>
              <a:buChar char="ü"/>
            </a:pPr>
            <a:r>
              <a:rPr lang="en-US" altLang="ko-KR" sz="1600" dirty="0" err="1">
                <a:latin typeface="+mn-lt"/>
              </a:rPr>
              <a:t>Phân</a:t>
            </a:r>
            <a:r>
              <a:rPr lang="en-US" altLang="ko-KR" sz="1600" dirty="0">
                <a:latin typeface="+mn-lt"/>
              </a:rPr>
              <a:t> </a:t>
            </a:r>
            <a:r>
              <a:rPr lang="en-US" altLang="ko-KR" sz="1600" dirty="0" err="1">
                <a:latin typeface="+mn-lt"/>
              </a:rPr>
              <a:t>tích</a:t>
            </a:r>
            <a:r>
              <a:rPr lang="en-US" altLang="ko-KR" sz="1600" dirty="0">
                <a:latin typeface="+mn-lt"/>
              </a:rPr>
              <a:t> </a:t>
            </a:r>
            <a:r>
              <a:rPr lang="en-US" altLang="ko-KR" sz="1600" dirty="0" err="1">
                <a:latin typeface="+mn-lt"/>
              </a:rPr>
              <a:t>năng</a:t>
            </a:r>
            <a:r>
              <a:rPr lang="en-US" altLang="ko-KR" sz="1600" dirty="0">
                <a:latin typeface="+mn-lt"/>
              </a:rPr>
              <a:t> </a:t>
            </a:r>
            <a:r>
              <a:rPr lang="en-US" altLang="ko-KR" sz="1600" dirty="0" err="1">
                <a:latin typeface="+mn-lt"/>
              </a:rPr>
              <a:t>lực</a:t>
            </a:r>
            <a:r>
              <a:rPr lang="en-US" altLang="ko-KR" sz="1600" dirty="0">
                <a:latin typeface="+mn-lt"/>
              </a:rPr>
              <a:t> process </a:t>
            </a:r>
            <a:r>
              <a:rPr lang="en-US" altLang="ko-KR" sz="1600" dirty="0" err="1">
                <a:latin typeface="+mn-lt"/>
              </a:rPr>
              <a:t>cùng</a:t>
            </a:r>
            <a:r>
              <a:rPr lang="en-US" altLang="ko-KR" sz="1600" dirty="0">
                <a:latin typeface="+mn-lt"/>
              </a:rPr>
              <a:t> </a:t>
            </a:r>
            <a:r>
              <a:rPr lang="en-US" altLang="ko-KR" sz="1600" dirty="0" err="1">
                <a:latin typeface="+mn-lt"/>
              </a:rPr>
              <a:t>với</a:t>
            </a:r>
            <a:r>
              <a:rPr lang="en-US" altLang="ko-KR" sz="1600" dirty="0">
                <a:latin typeface="+mn-lt"/>
              </a:rPr>
              <a:t> </a:t>
            </a:r>
            <a:r>
              <a:rPr lang="en-US" altLang="ko-KR" sz="1600" dirty="0" err="1">
                <a:latin typeface="+mn-lt"/>
              </a:rPr>
              <a:t>đồ</a:t>
            </a:r>
            <a:r>
              <a:rPr lang="en-US" altLang="ko-KR" sz="1600" dirty="0">
                <a:latin typeface="+mn-lt"/>
              </a:rPr>
              <a:t> </a:t>
            </a:r>
            <a:r>
              <a:rPr lang="en-US" altLang="ko-KR" sz="1600" dirty="0" err="1">
                <a:latin typeface="+mn-lt"/>
              </a:rPr>
              <a:t>thị</a:t>
            </a:r>
            <a:r>
              <a:rPr lang="en-US" altLang="ko-KR" sz="1600" dirty="0">
                <a:latin typeface="+mn-lt"/>
              </a:rPr>
              <a:t>, </a:t>
            </a:r>
            <a:r>
              <a:rPr lang="en-US" altLang="ko-KR" sz="1600" dirty="0" err="1">
                <a:latin typeface="+mn-lt"/>
              </a:rPr>
              <a:t>độ</a:t>
            </a:r>
            <a:r>
              <a:rPr lang="en-US" altLang="ko-KR" sz="1600" dirty="0">
                <a:latin typeface="+mn-lt"/>
              </a:rPr>
              <a:t> </a:t>
            </a:r>
            <a:r>
              <a:rPr lang="en-US" altLang="ko-KR" sz="1600" dirty="0" err="1">
                <a:latin typeface="+mn-lt"/>
              </a:rPr>
              <a:t>quản</a:t>
            </a:r>
            <a:r>
              <a:rPr lang="en-US" altLang="ko-KR" sz="1600" dirty="0">
                <a:latin typeface="+mn-lt"/>
              </a:rPr>
              <a:t> </a:t>
            </a:r>
            <a:r>
              <a:rPr lang="en-US" altLang="ko-KR" sz="1600" dirty="0" err="1">
                <a:latin typeface="+mn-lt"/>
              </a:rPr>
              <a:t>lý</a:t>
            </a:r>
            <a:r>
              <a:rPr lang="en-US" altLang="ko-KR" sz="1600" dirty="0">
                <a:latin typeface="+mn-lt"/>
              </a:rPr>
              <a:t>, </a:t>
            </a:r>
            <a:r>
              <a:rPr lang="en-US" altLang="ko-KR" sz="1600" dirty="0" err="1">
                <a:latin typeface="+mn-lt"/>
              </a:rPr>
              <a:t>độ</a:t>
            </a:r>
            <a:r>
              <a:rPr lang="en-US" altLang="ko-KR" sz="1600" dirty="0">
                <a:latin typeface="+mn-lt"/>
              </a:rPr>
              <a:t> </a:t>
            </a:r>
            <a:r>
              <a:rPr lang="en-US" altLang="ko-KR" sz="1600" dirty="0" err="1">
                <a:latin typeface="+mn-lt"/>
              </a:rPr>
              <a:t>phân</a:t>
            </a:r>
            <a:r>
              <a:rPr lang="en-US" altLang="ko-KR" sz="1600" dirty="0">
                <a:latin typeface="+mn-lt"/>
              </a:rPr>
              <a:t> </a:t>
            </a:r>
            <a:r>
              <a:rPr lang="en-US" altLang="ko-KR" sz="1600" dirty="0" err="1">
                <a:latin typeface="+mn-lt"/>
              </a:rPr>
              <a:t>bố</a:t>
            </a:r>
            <a:r>
              <a:rPr lang="en-US" altLang="ko-KR" sz="1600" dirty="0">
                <a:latin typeface="+mn-lt"/>
              </a:rPr>
              <a:t> ...,</a:t>
            </a:r>
            <a:endParaRPr lang="ko-KR" altLang="en-US" sz="1600" dirty="0">
              <a:latin typeface="+mn-lt"/>
            </a:endParaRPr>
          </a:p>
          <a:p>
            <a:pPr eaLnBrk="1" hangingPunct="1">
              <a:buClr>
                <a:schemeClr val="tx1"/>
              </a:buClr>
              <a:buSzPct val="115000"/>
              <a:buFont typeface="Wingdings" pitchFamily="2" charset="2"/>
              <a:buChar char="ü"/>
            </a:pPr>
            <a:r>
              <a:rPr lang="en-US" altLang="ko-KR" sz="1600" dirty="0" err="1">
                <a:latin typeface="+mn-lt"/>
              </a:rPr>
              <a:t>Nỗ</a:t>
            </a:r>
            <a:r>
              <a:rPr lang="en-US" altLang="ko-KR" sz="1600" dirty="0">
                <a:latin typeface="+mn-lt"/>
              </a:rPr>
              <a:t> </a:t>
            </a:r>
            <a:r>
              <a:rPr lang="en-US" altLang="ko-KR" sz="1600" dirty="0" err="1">
                <a:latin typeface="+mn-lt"/>
              </a:rPr>
              <a:t>lực</a:t>
            </a:r>
            <a:r>
              <a:rPr lang="en-US" altLang="ko-KR" sz="1600" dirty="0">
                <a:latin typeface="+mn-lt"/>
              </a:rPr>
              <a:t> </a:t>
            </a:r>
            <a:r>
              <a:rPr lang="en-US" altLang="ko-KR" sz="1600" dirty="0" err="1">
                <a:latin typeface="+mn-lt"/>
              </a:rPr>
              <a:t>nhất</a:t>
            </a:r>
            <a:r>
              <a:rPr lang="en-US" altLang="ko-KR" sz="1600" dirty="0">
                <a:latin typeface="+mn-lt"/>
              </a:rPr>
              <a:t> </a:t>
            </a:r>
            <a:r>
              <a:rPr lang="en-US" altLang="ko-KR" sz="1600" dirty="0" err="1">
                <a:latin typeface="+mn-lt"/>
              </a:rPr>
              <a:t>trí</a:t>
            </a:r>
            <a:r>
              <a:rPr lang="en-US" altLang="ko-KR" sz="1600" dirty="0">
                <a:latin typeface="+mn-lt"/>
              </a:rPr>
              <a:t> </a:t>
            </a:r>
            <a:r>
              <a:rPr lang="en-US" altLang="ko-KR" sz="1600" dirty="0" err="1">
                <a:latin typeface="+mn-lt"/>
              </a:rPr>
              <a:t>giữa</a:t>
            </a:r>
            <a:r>
              <a:rPr lang="en-US" altLang="ko-KR" sz="1600" dirty="0">
                <a:latin typeface="+mn-lt"/>
              </a:rPr>
              <a:t> </a:t>
            </a:r>
            <a:r>
              <a:rPr lang="en-US" altLang="ko-KR" sz="1600" dirty="0" err="1">
                <a:latin typeface="+mn-lt"/>
              </a:rPr>
              <a:t>tiếng</a:t>
            </a:r>
            <a:r>
              <a:rPr lang="en-US" altLang="ko-KR" sz="1600" dirty="0">
                <a:latin typeface="+mn-lt"/>
              </a:rPr>
              <a:t> </a:t>
            </a:r>
            <a:r>
              <a:rPr lang="en-US" altLang="ko-KR" sz="1600" dirty="0" err="1">
                <a:latin typeface="+mn-lt"/>
              </a:rPr>
              <a:t>nói</a:t>
            </a:r>
            <a:r>
              <a:rPr lang="en-US" altLang="ko-KR" sz="1600" dirty="0">
                <a:latin typeface="+mn-lt"/>
              </a:rPr>
              <a:t>/</a:t>
            </a:r>
            <a:r>
              <a:rPr lang="en-US" altLang="ko-KR" sz="1600" dirty="0" err="1">
                <a:latin typeface="+mn-lt"/>
              </a:rPr>
              <a:t>âm</a:t>
            </a:r>
            <a:r>
              <a:rPr lang="en-US" altLang="ko-KR" sz="1600" dirty="0">
                <a:latin typeface="+mn-lt"/>
              </a:rPr>
              <a:t> </a:t>
            </a:r>
            <a:r>
              <a:rPr lang="en-US" altLang="ko-KR" sz="1600" dirty="0" err="1">
                <a:latin typeface="+mn-lt"/>
              </a:rPr>
              <a:t>thanh</a:t>
            </a:r>
            <a:r>
              <a:rPr lang="en-US" altLang="ko-KR" sz="1600" dirty="0">
                <a:latin typeface="+mn-lt"/>
              </a:rPr>
              <a:t> </a:t>
            </a:r>
            <a:r>
              <a:rPr lang="en-US" altLang="ko-KR" sz="1600" dirty="0" err="1">
                <a:latin typeface="+mn-lt"/>
              </a:rPr>
              <a:t>của</a:t>
            </a:r>
            <a:r>
              <a:rPr lang="en-US" altLang="ko-KR" sz="1600" dirty="0">
                <a:latin typeface="+mn-lt"/>
              </a:rPr>
              <a:t> process</a:t>
            </a:r>
            <a:r>
              <a:rPr lang="ko-KR" altLang="en-US" sz="1600" dirty="0">
                <a:latin typeface="+mn-lt"/>
              </a:rPr>
              <a:t> </a:t>
            </a:r>
            <a:r>
              <a:rPr lang="en-US" altLang="ko-KR" sz="1600" dirty="0">
                <a:latin typeface="+mn-lt"/>
              </a:rPr>
              <a:t>(VOP)</a:t>
            </a:r>
            <a:r>
              <a:rPr lang="ko-KR" altLang="en-US" sz="1600" dirty="0">
                <a:latin typeface="+mn-lt"/>
              </a:rPr>
              <a:t> </a:t>
            </a:r>
            <a:r>
              <a:rPr lang="en-US" altLang="ko-KR" sz="1600" dirty="0" err="1">
                <a:latin typeface="+mn-lt"/>
              </a:rPr>
              <a:t>tiếng</a:t>
            </a:r>
            <a:r>
              <a:rPr lang="en-US" altLang="ko-KR" sz="1600" dirty="0">
                <a:latin typeface="+mn-lt"/>
              </a:rPr>
              <a:t> </a:t>
            </a:r>
            <a:r>
              <a:rPr lang="en-US" altLang="ko-KR" sz="1600" dirty="0" err="1">
                <a:latin typeface="+mn-lt"/>
              </a:rPr>
              <a:t>nói</a:t>
            </a:r>
            <a:r>
              <a:rPr lang="en-US" altLang="ko-KR" sz="1600" dirty="0">
                <a:latin typeface="+mn-lt"/>
              </a:rPr>
              <a:t>/</a:t>
            </a:r>
            <a:r>
              <a:rPr lang="en-US" altLang="ko-KR" sz="1600" dirty="0" err="1">
                <a:latin typeface="+mn-lt"/>
              </a:rPr>
              <a:t>âm</a:t>
            </a:r>
            <a:r>
              <a:rPr lang="en-US" altLang="ko-KR" sz="1600" dirty="0">
                <a:latin typeface="+mn-lt"/>
              </a:rPr>
              <a:t> </a:t>
            </a:r>
            <a:r>
              <a:rPr lang="en-US" altLang="ko-KR" sz="1600" dirty="0" err="1">
                <a:latin typeface="+mn-lt"/>
              </a:rPr>
              <a:t>thanh</a:t>
            </a:r>
            <a:r>
              <a:rPr lang="en-US" altLang="ko-KR" sz="1600" dirty="0">
                <a:latin typeface="+mn-lt"/>
              </a:rPr>
              <a:t> </a:t>
            </a:r>
            <a:r>
              <a:rPr lang="en-US" altLang="ko-KR" sz="1600" dirty="0" err="1">
                <a:latin typeface="+mn-lt"/>
              </a:rPr>
              <a:t>của</a:t>
            </a:r>
            <a:r>
              <a:rPr lang="en-US" altLang="ko-KR" sz="1600" dirty="0">
                <a:latin typeface="+mn-lt"/>
              </a:rPr>
              <a:t> </a:t>
            </a:r>
            <a:r>
              <a:rPr lang="en-US" altLang="ko-KR" sz="1600" dirty="0" err="1">
                <a:latin typeface="+mn-lt"/>
              </a:rPr>
              <a:t>khách</a:t>
            </a:r>
            <a:r>
              <a:rPr lang="en-US" altLang="ko-KR" sz="1600" dirty="0">
                <a:latin typeface="+mn-lt"/>
              </a:rPr>
              <a:t> </a:t>
            </a:r>
            <a:r>
              <a:rPr lang="en-US" altLang="ko-KR" sz="1600" dirty="0" err="1">
                <a:latin typeface="+mn-lt"/>
              </a:rPr>
              <a:t>hàng</a:t>
            </a:r>
            <a:r>
              <a:rPr lang="en-US" altLang="ko-KR" sz="1600" dirty="0">
                <a:latin typeface="+mn-lt"/>
              </a:rPr>
              <a:t> (VOC)</a:t>
            </a:r>
          </a:p>
        </p:txBody>
      </p:sp>
      <p:sp>
        <p:nvSpPr>
          <p:cNvPr id="27" name="Text Box 55"/>
          <p:cNvSpPr txBox="1">
            <a:spLocks noChangeArrowheads="1"/>
          </p:cNvSpPr>
          <p:nvPr/>
        </p:nvSpPr>
        <p:spPr bwMode="auto">
          <a:xfrm>
            <a:off x="650333" y="3573016"/>
            <a:ext cx="7112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Hạng</a:t>
            </a:r>
            <a:r>
              <a:rPr lang="en-US" altLang="ko-KR" sz="1600" b="1" baseline="0" dirty="0">
                <a:solidFill>
                  <a:srgbClr val="000000"/>
                </a:solidFill>
              </a:rPr>
              <a:t> </a:t>
            </a:r>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cần</a:t>
            </a:r>
            <a:r>
              <a:rPr lang="en-US" altLang="ko-KR" sz="1600" b="1" baseline="0" dirty="0">
                <a:solidFill>
                  <a:srgbClr val="000000"/>
                </a:solidFill>
              </a:rPr>
              <a:t> </a:t>
            </a:r>
            <a:r>
              <a:rPr lang="en-US" altLang="ko-KR" sz="1600" b="1" baseline="0" dirty="0" err="1">
                <a:solidFill>
                  <a:srgbClr val="000000"/>
                </a:solidFill>
              </a:rPr>
              <a:t>xem</a:t>
            </a:r>
            <a:r>
              <a:rPr lang="en-US" altLang="ko-KR" sz="1600" b="1" baseline="0" dirty="0">
                <a:solidFill>
                  <a:srgbClr val="000000"/>
                </a:solidFill>
              </a:rPr>
              <a:t> </a:t>
            </a:r>
            <a:r>
              <a:rPr lang="en-US" altLang="ko-KR" sz="1600" b="1" baseline="0" dirty="0" err="1">
                <a:solidFill>
                  <a:srgbClr val="000000"/>
                </a:solidFill>
              </a:rPr>
              <a:t>xét</a:t>
            </a:r>
            <a:r>
              <a:rPr lang="en-US" altLang="ko-KR" sz="1600" b="1" baseline="0" dirty="0">
                <a:solidFill>
                  <a:srgbClr val="000000"/>
                </a:solidFill>
              </a:rPr>
              <a:t> </a:t>
            </a:r>
            <a:r>
              <a:rPr lang="en-US" altLang="ko-KR" sz="1600" b="1" baseline="0" dirty="0" err="1">
                <a:solidFill>
                  <a:srgbClr val="000000"/>
                </a:solidFill>
              </a:rPr>
              <a:t>khi</a:t>
            </a:r>
            <a:r>
              <a:rPr lang="en-US" altLang="ko-KR" sz="1600" b="1" baseline="0" dirty="0">
                <a:solidFill>
                  <a:srgbClr val="000000"/>
                </a:solidFill>
              </a:rPr>
              <a:t> </a:t>
            </a:r>
            <a:r>
              <a:rPr lang="en-US" altLang="ko-KR" sz="1600" b="1" baseline="0" dirty="0" err="1">
                <a:solidFill>
                  <a:srgbClr val="000000"/>
                </a:solidFill>
              </a:rPr>
              <a:t>sử</a:t>
            </a:r>
            <a:r>
              <a:rPr lang="en-US" altLang="ko-KR" sz="1600" b="1" baseline="0" dirty="0">
                <a:solidFill>
                  <a:srgbClr val="000000"/>
                </a:solidFill>
              </a:rPr>
              <a:t> </a:t>
            </a:r>
            <a:r>
              <a:rPr lang="en-US" altLang="ko-KR" sz="1600" b="1" baseline="0" dirty="0" err="1">
                <a:solidFill>
                  <a:srgbClr val="000000"/>
                </a:solidFill>
              </a:rPr>
              <a:t>dụng</a:t>
            </a:r>
            <a:r>
              <a:rPr lang="en-US" altLang="ko-KR" sz="1600" b="1" baseline="0" dirty="0">
                <a:solidFill>
                  <a:srgbClr val="000000"/>
                </a:solidFill>
              </a:rPr>
              <a:t> </a:t>
            </a:r>
            <a:r>
              <a:rPr lang="en-US" altLang="ko-KR" sz="1600" b="1" baseline="0" dirty="0" err="1">
                <a:solidFill>
                  <a:srgbClr val="000000"/>
                </a:solidFill>
              </a:rPr>
              <a:t>chỉ</a:t>
            </a:r>
            <a:r>
              <a:rPr lang="en-US" altLang="ko-KR" sz="1600" b="1" baseline="0" dirty="0">
                <a:solidFill>
                  <a:srgbClr val="000000"/>
                </a:solidFill>
              </a:rPr>
              <a:t> </a:t>
            </a:r>
            <a:r>
              <a:rPr lang="en-US" altLang="ko-KR" sz="1600" b="1" baseline="0" dirty="0" err="1">
                <a:solidFill>
                  <a:srgbClr val="000000"/>
                </a:solidFill>
              </a:rPr>
              <a:t>số</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a:t>
            </a:r>
          </a:p>
        </p:txBody>
      </p:sp>
      <p:sp>
        <p:nvSpPr>
          <p:cNvPr id="9"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203</a:t>
            </a:fld>
            <a:endParaRPr lang="ko-KR" altLang="en-US" sz="1200" dirty="0"/>
          </a:p>
        </p:txBody>
      </p:sp>
    </p:spTree>
    <p:extLst>
      <p:ext uri="{BB962C8B-B14F-4D97-AF65-F5344CB8AC3E}">
        <p14:creationId xmlns:p14="http://schemas.microsoft.com/office/powerpoint/2010/main" val="4015730907"/>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직사각형 98"/>
          <p:cNvSpPr/>
          <p:nvPr/>
        </p:nvSpPr>
        <p:spPr bwMode="auto">
          <a:xfrm>
            <a:off x="879205" y="2000240"/>
            <a:ext cx="7626159" cy="3096344"/>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5060" name="Rectangle 50"/>
          <p:cNvSpPr>
            <a:spLocks noChangeArrowheads="1"/>
          </p:cNvSpPr>
          <p:nvPr/>
        </p:nvSpPr>
        <p:spPr bwMode="auto">
          <a:xfrm>
            <a:off x="1091333" y="2414494"/>
            <a:ext cx="4544170" cy="1401763"/>
          </a:xfrm>
          <a:prstGeom prst="rect">
            <a:avLst/>
          </a:prstGeom>
          <a:solidFill>
            <a:srgbClr val="92D050"/>
          </a:solidFill>
          <a:ln w="9525">
            <a:solidFill>
              <a:schemeClr val="bg2"/>
            </a:solid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45065" name="Rectangle 2"/>
          <p:cNvSpPr>
            <a:spLocks noChangeArrowheads="1"/>
          </p:cNvSpPr>
          <p:nvPr/>
        </p:nvSpPr>
        <p:spPr bwMode="auto">
          <a:xfrm>
            <a:off x="1320322" y="1259137"/>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grpSp>
        <p:nvGrpSpPr>
          <p:cNvPr id="5" name="Group 55"/>
          <p:cNvGrpSpPr>
            <a:grpSpLocks/>
          </p:cNvGrpSpPr>
          <p:nvPr/>
        </p:nvGrpSpPr>
        <p:grpSpPr bwMode="auto">
          <a:xfrm>
            <a:off x="1554396" y="2465291"/>
            <a:ext cx="3760426" cy="1196929"/>
            <a:chOff x="857" y="2529"/>
            <a:chExt cx="2816" cy="827"/>
          </a:xfrm>
        </p:grpSpPr>
        <p:sp>
          <p:nvSpPr>
            <p:cNvPr id="45072" name="Line 56"/>
            <p:cNvSpPr>
              <a:spLocks noChangeShapeType="1"/>
            </p:cNvSpPr>
            <p:nvPr/>
          </p:nvSpPr>
          <p:spPr bwMode="auto">
            <a:xfrm>
              <a:off x="1200" y="2753"/>
              <a:ext cx="813" cy="1"/>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45073" name="Rectangle 57"/>
            <p:cNvSpPr>
              <a:spLocks noChangeArrowheads="1"/>
            </p:cNvSpPr>
            <p:nvPr/>
          </p:nvSpPr>
          <p:spPr bwMode="auto">
            <a:xfrm>
              <a:off x="1599" y="2758"/>
              <a:ext cx="11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45074" name="Rectangle 58"/>
            <p:cNvSpPr>
              <a:spLocks noChangeArrowheads="1"/>
            </p:cNvSpPr>
            <p:nvPr/>
          </p:nvSpPr>
          <p:spPr bwMode="auto">
            <a:xfrm>
              <a:off x="1573" y="2529"/>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75" name="Rectangle 59"/>
            <p:cNvSpPr>
              <a:spLocks noChangeArrowheads="1"/>
            </p:cNvSpPr>
            <p:nvPr/>
          </p:nvSpPr>
          <p:spPr bwMode="auto">
            <a:xfrm>
              <a:off x="1061" y="2631"/>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76" name="Rectangle 60"/>
            <p:cNvSpPr>
              <a:spLocks noChangeArrowheads="1"/>
            </p:cNvSpPr>
            <p:nvPr/>
          </p:nvSpPr>
          <p:spPr bwMode="auto">
            <a:xfrm>
              <a:off x="1512" y="2777"/>
              <a:ext cx="9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45077" name="Rectangle 61"/>
            <p:cNvSpPr>
              <a:spLocks noChangeArrowheads="1"/>
            </p:cNvSpPr>
            <p:nvPr/>
          </p:nvSpPr>
          <p:spPr bwMode="auto">
            <a:xfrm>
              <a:off x="1697" y="2547"/>
              <a:ext cx="32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45078" name="Rectangle 62"/>
            <p:cNvSpPr>
              <a:spLocks noChangeArrowheads="1"/>
            </p:cNvSpPr>
            <p:nvPr/>
          </p:nvSpPr>
          <p:spPr bwMode="auto">
            <a:xfrm>
              <a:off x="1213" y="2547"/>
              <a:ext cx="34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45079" name="Rectangle 63"/>
            <p:cNvSpPr>
              <a:spLocks noChangeArrowheads="1"/>
            </p:cNvSpPr>
            <p:nvPr/>
          </p:nvSpPr>
          <p:spPr bwMode="auto">
            <a:xfrm>
              <a:off x="859" y="2650"/>
              <a:ext cx="10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080" name="Rectangle 64"/>
            <p:cNvSpPr>
              <a:spLocks noChangeArrowheads="1"/>
            </p:cNvSpPr>
            <p:nvPr/>
          </p:nvSpPr>
          <p:spPr bwMode="auto">
            <a:xfrm>
              <a:off x="945" y="2749"/>
              <a:ext cx="5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081" name="Rectangle 65"/>
            <p:cNvSpPr>
              <a:spLocks noChangeArrowheads="1"/>
            </p:cNvSpPr>
            <p:nvPr/>
          </p:nvSpPr>
          <p:spPr bwMode="auto">
            <a:xfrm>
              <a:off x="1442" y="2977"/>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82" name="Rectangle 66"/>
            <p:cNvSpPr>
              <a:spLocks noChangeArrowheads="1"/>
            </p:cNvSpPr>
            <p:nvPr/>
          </p:nvSpPr>
          <p:spPr bwMode="auto">
            <a:xfrm>
              <a:off x="1972" y="2977"/>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83" name="Line 67"/>
            <p:cNvSpPr>
              <a:spLocks noChangeShapeType="1"/>
            </p:cNvSpPr>
            <p:nvPr/>
          </p:nvSpPr>
          <p:spPr bwMode="auto">
            <a:xfrm>
              <a:off x="2511" y="3144"/>
              <a:ext cx="536"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45084" name="Line 68"/>
            <p:cNvSpPr>
              <a:spLocks noChangeShapeType="1"/>
            </p:cNvSpPr>
            <p:nvPr/>
          </p:nvSpPr>
          <p:spPr bwMode="auto">
            <a:xfrm>
              <a:off x="3131" y="3144"/>
              <a:ext cx="517"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45085" name="Rectangle 69"/>
            <p:cNvSpPr>
              <a:spLocks noChangeArrowheads="1"/>
            </p:cNvSpPr>
            <p:nvPr/>
          </p:nvSpPr>
          <p:spPr bwMode="auto">
            <a:xfrm>
              <a:off x="3311" y="3148"/>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45086" name="Rectangle 70"/>
            <p:cNvSpPr>
              <a:spLocks noChangeArrowheads="1"/>
            </p:cNvSpPr>
            <p:nvPr/>
          </p:nvSpPr>
          <p:spPr bwMode="auto">
            <a:xfrm>
              <a:off x="3254" y="2929"/>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87" name="Rectangle 71"/>
            <p:cNvSpPr>
              <a:spLocks noChangeArrowheads="1"/>
            </p:cNvSpPr>
            <p:nvPr/>
          </p:nvSpPr>
          <p:spPr bwMode="auto">
            <a:xfrm>
              <a:off x="3137" y="2929"/>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45088" name="Rectangle 72"/>
            <p:cNvSpPr>
              <a:spLocks noChangeArrowheads="1"/>
            </p:cNvSpPr>
            <p:nvPr/>
          </p:nvSpPr>
          <p:spPr bwMode="auto">
            <a:xfrm>
              <a:off x="2700" y="3148"/>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45089" name="Rectangle 73"/>
            <p:cNvSpPr>
              <a:spLocks noChangeArrowheads="1"/>
            </p:cNvSpPr>
            <p:nvPr/>
          </p:nvSpPr>
          <p:spPr bwMode="auto">
            <a:xfrm>
              <a:off x="2951" y="2929"/>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45090" name="Rectangle 74"/>
            <p:cNvSpPr>
              <a:spLocks noChangeArrowheads="1"/>
            </p:cNvSpPr>
            <p:nvPr/>
          </p:nvSpPr>
          <p:spPr bwMode="auto">
            <a:xfrm>
              <a:off x="2844" y="2929"/>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91" name="Rectangle 75"/>
            <p:cNvSpPr>
              <a:spLocks noChangeArrowheads="1"/>
            </p:cNvSpPr>
            <p:nvPr/>
          </p:nvSpPr>
          <p:spPr bwMode="auto">
            <a:xfrm>
              <a:off x="2059" y="3028"/>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92" name="Rectangle 76"/>
            <p:cNvSpPr>
              <a:spLocks noChangeArrowheads="1"/>
            </p:cNvSpPr>
            <p:nvPr/>
          </p:nvSpPr>
          <p:spPr bwMode="auto">
            <a:xfrm>
              <a:off x="1080" y="3028"/>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95" name="Rectangle 79"/>
            <p:cNvSpPr>
              <a:spLocks noChangeArrowheads="1"/>
            </p:cNvSpPr>
            <p:nvPr/>
          </p:nvSpPr>
          <p:spPr bwMode="auto">
            <a:xfrm>
              <a:off x="1869" y="3141"/>
              <a:ext cx="7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45096" name="Rectangle 80"/>
            <p:cNvSpPr>
              <a:spLocks noChangeArrowheads="1"/>
            </p:cNvSpPr>
            <p:nvPr/>
          </p:nvSpPr>
          <p:spPr bwMode="auto">
            <a:xfrm>
              <a:off x="1598" y="3141"/>
              <a:ext cx="12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45097" name="Rectangle 81"/>
            <p:cNvSpPr>
              <a:spLocks noChangeArrowheads="1"/>
            </p:cNvSpPr>
            <p:nvPr/>
          </p:nvSpPr>
          <p:spPr bwMode="auto">
            <a:xfrm>
              <a:off x="933" y="3141"/>
              <a:ext cx="96"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45098" name="Rectangle 82"/>
            <p:cNvSpPr>
              <a:spLocks noChangeArrowheads="1"/>
            </p:cNvSpPr>
            <p:nvPr/>
          </p:nvSpPr>
          <p:spPr bwMode="auto">
            <a:xfrm>
              <a:off x="3238" y="3165"/>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45099" name="Rectangle 83"/>
            <p:cNvSpPr>
              <a:spLocks noChangeArrowheads="1"/>
            </p:cNvSpPr>
            <p:nvPr/>
          </p:nvSpPr>
          <p:spPr bwMode="auto">
            <a:xfrm>
              <a:off x="3366" y="2948"/>
              <a:ext cx="30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45100" name="Rectangle 84"/>
            <p:cNvSpPr>
              <a:spLocks noChangeArrowheads="1"/>
            </p:cNvSpPr>
            <p:nvPr/>
          </p:nvSpPr>
          <p:spPr bwMode="auto">
            <a:xfrm>
              <a:off x="3071" y="3044"/>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101" name="Rectangle 85"/>
            <p:cNvSpPr>
              <a:spLocks noChangeArrowheads="1"/>
            </p:cNvSpPr>
            <p:nvPr/>
          </p:nvSpPr>
          <p:spPr bwMode="auto">
            <a:xfrm>
              <a:off x="2629" y="3165"/>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45102" name="Rectangle 86"/>
            <p:cNvSpPr>
              <a:spLocks noChangeArrowheads="1"/>
            </p:cNvSpPr>
            <p:nvPr/>
          </p:nvSpPr>
          <p:spPr bwMode="auto">
            <a:xfrm>
              <a:off x="2523" y="2948"/>
              <a:ext cx="32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45103" name="Rectangle 87"/>
            <p:cNvSpPr>
              <a:spLocks noChangeArrowheads="1"/>
            </p:cNvSpPr>
            <p:nvPr/>
          </p:nvSpPr>
          <p:spPr bwMode="auto">
            <a:xfrm>
              <a:off x="2181" y="3044"/>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45104" name="Rectangle 88"/>
            <p:cNvSpPr>
              <a:spLocks noChangeArrowheads="1"/>
            </p:cNvSpPr>
            <p:nvPr/>
          </p:nvSpPr>
          <p:spPr bwMode="auto">
            <a:xfrm>
              <a:off x="1793" y="3044"/>
              <a:ext cx="9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105" name="Rectangle 89"/>
            <p:cNvSpPr>
              <a:spLocks noChangeArrowheads="1"/>
            </p:cNvSpPr>
            <p:nvPr/>
          </p:nvSpPr>
          <p:spPr bwMode="auto">
            <a:xfrm>
              <a:off x="1756" y="3044"/>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45106" name="Rectangle 90"/>
            <p:cNvSpPr>
              <a:spLocks noChangeArrowheads="1"/>
            </p:cNvSpPr>
            <p:nvPr/>
          </p:nvSpPr>
          <p:spPr bwMode="auto">
            <a:xfrm>
              <a:off x="1724" y="3044"/>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107" name="Rectangle 91"/>
            <p:cNvSpPr>
              <a:spLocks noChangeArrowheads="1"/>
            </p:cNvSpPr>
            <p:nvPr/>
          </p:nvSpPr>
          <p:spPr bwMode="auto">
            <a:xfrm>
              <a:off x="1490" y="3044"/>
              <a:ext cx="13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P</a:t>
              </a:r>
              <a:endParaRPr lang="en-US" altLang="ko-KR" sz="1600" baseline="0" dirty="0">
                <a:solidFill>
                  <a:srgbClr val="000000"/>
                </a:solidFill>
                <a:latin typeface="Times New Roman" pitchFamily="18" charset="0"/>
                <a:ea typeface="굴림" pitchFamily="50" charset="-127"/>
              </a:endParaRPr>
            </a:p>
          </p:txBody>
        </p:sp>
        <p:sp>
          <p:nvSpPr>
            <p:cNvPr id="45108" name="Rectangle 92"/>
            <p:cNvSpPr>
              <a:spLocks noChangeArrowheads="1"/>
            </p:cNvSpPr>
            <p:nvPr/>
          </p:nvSpPr>
          <p:spPr bwMode="auto">
            <a:xfrm>
              <a:off x="1201" y="3044"/>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45109" name="Rectangle 93"/>
            <p:cNvSpPr>
              <a:spLocks noChangeArrowheads="1"/>
            </p:cNvSpPr>
            <p:nvPr/>
          </p:nvSpPr>
          <p:spPr bwMode="auto">
            <a:xfrm>
              <a:off x="857" y="3044"/>
              <a:ext cx="9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110" name="Rectangle 94"/>
            <p:cNvSpPr>
              <a:spLocks noChangeArrowheads="1"/>
            </p:cNvSpPr>
            <p:nvPr/>
          </p:nvSpPr>
          <p:spPr bwMode="auto">
            <a:xfrm>
              <a:off x="1674" y="2830"/>
              <a:ext cx="138"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grpSp>
      <p:sp>
        <p:nvSpPr>
          <p:cNvPr id="45071" name="AutoShape 96"/>
          <p:cNvSpPr>
            <a:spLocks noChangeArrowheads="1"/>
          </p:cNvSpPr>
          <p:nvPr/>
        </p:nvSpPr>
        <p:spPr bwMode="auto">
          <a:xfrm>
            <a:off x="3646934" y="3089085"/>
            <a:ext cx="1730650" cy="555769"/>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95" name="Text Box 39"/>
          <p:cNvSpPr txBox="1">
            <a:spLocks noChangeArrowheads="1"/>
          </p:cNvSpPr>
          <p:nvPr/>
        </p:nvSpPr>
        <p:spPr bwMode="auto">
          <a:xfrm>
            <a:off x="251521" y="620688"/>
            <a:ext cx="4372223"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Index</a:t>
            </a:r>
            <a:r>
              <a:rPr lang="ko-KR" altLang="en-US" sz="2000" b="1" dirty="0">
                <a:latin typeface="맑은 고딕" pitchFamily="50" charset="-127"/>
                <a:ea typeface="맑은 고딕" pitchFamily="50" charset="-127"/>
              </a:rPr>
              <a:t> </a:t>
            </a:r>
            <a:r>
              <a:rPr lang="en-US" altLang="ko-KR" sz="2000" b="1" dirty="0">
                <a:latin typeface="맑은 고딕" pitchFamily="50" charset="-127"/>
                <a:ea typeface="맑은 고딕" pitchFamily="50" charset="-127"/>
              </a:rPr>
              <a:t>(Pp, </a:t>
            </a:r>
            <a:r>
              <a:rPr lang="en-US" altLang="ko-KR" sz="2000" b="1" dirty="0" err="1">
                <a:latin typeface="맑은 고딕" pitchFamily="50" charset="-127"/>
                <a:ea typeface="맑은 고딕" pitchFamily="50" charset="-127"/>
              </a:rPr>
              <a:t>Ppk</a:t>
            </a:r>
            <a:r>
              <a:rPr lang="en-US" altLang="ko-KR" sz="2000" b="1" dirty="0">
                <a:latin typeface="맑은 고딕" pitchFamily="50" charset="-127"/>
                <a:ea typeface="맑은 고딕" pitchFamily="50" charset="-127"/>
              </a:rPr>
              <a:t>)</a:t>
            </a:r>
          </a:p>
        </p:txBody>
      </p:sp>
      <p:sp>
        <p:nvSpPr>
          <p:cNvPr id="97" name="Text Box 52"/>
          <p:cNvSpPr txBox="1">
            <a:spLocks noChangeArrowheads="1"/>
          </p:cNvSpPr>
          <p:nvPr/>
        </p:nvSpPr>
        <p:spPr bwMode="auto">
          <a:xfrm>
            <a:off x="721097" y="1375032"/>
            <a:ext cx="8005297" cy="1245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ko-KR" altLang="en-US" b="1" baseline="0" dirty="0">
                <a:solidFill>
                  <a:srgbClr val="000000"/>
                </a:solidFill>
              </a:rPr>
              <a:t>  </a:t>
            </a:r>
            <a:r>
              <a:rPr lang="en-US" altLang="ko-KR" b="1" baseline="0" dirty="0">
                <a:solidFill>
                  <a:srgbClr val="000000"/>
                </a:solidFill>
              </a:rPr>
              <a:t>- Pp and </a:t>
            </a:r>
            <a:r>
              <a:rPr lang="en-US" altLang="ko-KR" b="1" baseline="0" dirty="0" err="1">
                <a:solidFill>
                  <a:srgbClr val="000000"/>
                </a:solidFill>
              </a:rPr>
              <a:t>Ppk</a:t>
            </a:r>
            <a:r>
              <a:rPr lang="en-US" altLang="ko-KR" b="1" baseline="0" dirty="0">
                <a:solidFill>
                  <a:srgbClr val="000000"/>
                </a:solidFill>
              </a:rPr>
              <a:t> can be used when the process can not be distinguished between the intra-group </a:t>
            </a:r>
          </a:p>
          <a:p>
            <a:pPr eaLnBrk="1" hangingPunct="1">
              <a:spcBef>
                <a:spcPct val="20000"/>
              </a:spcBef>
            </a:pPr>
            <a:r>
              <a:rPr lang="en-US" altLang="ko-KR" b="1" baseline="0" dirty="0">
                <a:solidFill>
                  <a:srgbClr val="000000"/>
                </a:solidFill>
              </a:rPr>
              <a:t>    and group of the process because the process can not be sure that the process is stable due to </a:t>
            </a:r>
          </a:p>
          <a:p>
            <a:pPr eaLnBrk="1" hangingPunct="1">
              <a:spcBef>
                <a:spcPct val="20000"/>
              </a:spcBef>
            </a:pPr>
            <a:r>
              <a:rPr lang="en-US" altLang="ko-KR" b="1" baseline="0" dirty="0">
                <a:solidFill>
                  <a:srgbClr val="000000"/>
                </a:solidFill>
              </a:rPr>
              <a:t>    the process of the development part.</a:t>
            </a:r>
          </a:p>
        </p:txBody>
      </p:sp>
      <p:graphicFrame>
        <p:nvGraphicFramePr>
          <p:cNvPr id="2" name="개체 1"/>
          <p:cNvGraphicFramePr>
            <a:graphicFrameLocks noChangeAspect="1"/>
          </p:cNvGraphicFramePr>
          <p:nvPr>
            <p:extLst>
              <p:ext uri="{D42A27DB-BD31-4B8C-83A1-F6EECF244321}">
                <p14:modId xmlns:p14="http://schemas.microsoft.com/office/powerpoint/2010/main" val="1209190962"/>
              </p:ext>
            </p:extLst>
          </p:nvPr>
        </p:nvGraphicFramePr>
        <p:xfrm>
          <a:off x="1082168" y="4093132"/>
          <a:ext cx="4683369" cy="819150"/>
        </p:xfrm>
        <a:graphic>
          <a:graphicData uri="http://schemas.openxmlformats.org/presentationml/2006/ole">
            <mc:AlternateContent xmlns:mc="http://schemas.openxmlformats.org/markup-compatibility/2006">
              <mc:Choice xmlns:v="urn:schemas-microsoft-com:vml" Requires="v">
                <p:oleObj name="Equation" r:id="rId3" imgW="2921000" imgH="584200" progId="Equation.3">
                  <p:embed/>
                </p:oleObj>
              </mc:Choice>
              <mc:Fallback>
                <p:oleObj name="Equation" r:id="rId3" imgW="2921000" imgH="584200" progId="Equation.3">
                  <p:embed/>
                  <p:pic>
                    <p:nvPicPr>
                      <p:cNvPr id="2" name="개체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2168" y="4093132"/>
                        <a:ext cx="4683369" cy="819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개체 2"/>
          <p:cNvGraphicFramePr>
            <a:graphicFrameLocks noChangeAspect="1"/>
          </p:cNvGraphicFramePr>
          <p:nvPr>
            <p:extLst>
              <p:ext uri="{D42A27DB-BD31-4B8C-83A1-F6EECF244321}">
                <p14:modId xmlns:p14="http://schemas.microsoft.com/office/powerpoint/2010/main" val="526827901"/>
              </p:ext>
            </p:extLst>
          </p:nvPr>
        </p:nvGraphicFramePr>
        <p:xfrm>
          <a:off x="6323842" y="4205844"/>
          <a:ext cx="1582615" cy="685800"/>
        </p:xfrm>
        <a:graphic>
          <a:graphicData uri="http://schemas.openxmlformats.org/presentationml/2006/ole">
            <mc:AlternateContent xmlns:mc="http://schemas.openxmlformats.org/markup-compatibility/2006">
              <mc:Choice xmlns:v="urn:schemas-microsoft-com:vml" Requires="v">
                <p:oleObj name="Equation" r:id="rId5" imgW="1270000" imgH="508000" progId="Equation.3">
                  <p:embed/>
                </p:oleObj>
              </mc:Choice>
              <mc:Fallback>
                <p:oleObj name="Equation" r:id="rId5" imgW="1270000" imgH="508000" progId="Equation.3">
                  <p:embed/>
                  <p:pic>
                    <p:nvPicPr>
                      <p:cNvPr id="3" name="개체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23842" y="4205844"/>
                        <a:ext cx="1582615" cy="685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6" name="Group 70"/>
          <p:cNvGrpSpPr>
            <a:grpSpLocks/>
          </p:cNvGrpSpPr>
          <p:nvPr/>
        </p:nvGrpSpPr>
        <p:grpSpPr bwMode="auto">
          <a:xfrm>
            <a:off x="1205783" y="5277130"/>
            <a:ext cx="3014371" cy="1248215"/>
            <a:chOff x="2866" y="2877"/>
            <a:chExt cx="2735" cy="1036"/>
          </a:xfrm>
        </p:grpSpPr>
        <p:sp>
          <p:nvSpPr>
            <p:cNvPr id="102" name="Line 71"/>
            <p:cNvSpPr>
              <a:spLocks noChangeShapeType="1"/>
            </p:cNvSpPr>
            <p:nvPr/>
          </p:nvSpPr>
          <p:spPr bwMode="auto">
            <a:xfrm flipV="1">
              <a:off x="2960" y="3155"/>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3" name="Line 72"/>
            <p:cNvSpPr>
              <a:spLocks noChangeShapeType="1"/>
            </p:cNvSpPr>
            <p:nvPr/>
          </p:nvSpPr>
          <p:spPr bwMode="auto">
            <a:xfrm flipV="1">
              <a:off x="2960" y="3184"/>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4" name="Line 73"/>
            <p:cNvSpPr>
              <a:spLocks noChangeShapeType="1"/>
            </p:cNvSpPr>
            <p:nvPr/>
          </p:nvSpPr>
          <p:spPr bwMode="auto">
            <a:xfrm flipV="1">
              <a:off x="2960" y="3216"/>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5" name="Line 74"/>
            <p:cNvSpPr>
              <a:spLocks noChangeShapeType="1"/>
            </p:cNvSpPr>
            <p:nvPr/>
          </p:nvSpPr>
          <p:spPr bwMode="auto">
            <a:xfrm flipV="1">
              <a:off x="2960" y="3244"/>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6" name="Line 75"/>
            <p:cNvSpPr>
              <a:spLocks noChangeShapeType="1"/>
            </p:cNvSpPr>
            <p:nvPr/>
          </p:nvSpPr>
          <p:spPr bwMode="auto">
            <a:xfrm flipV="1">
              <a:off x="2960" y="3276"/>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7" name="Line 76"/>
            <p:cNvSpPr>
              <a:spLocks noChangeShapeType="1"/>
            </p:cNvSpPr>
            <p:nvPr/>
          </p:nvSpPr>
          <p:spPr bwMode="auto">
            <a:xfrm>
              <a:off x="2960" y="3311"/>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8" name="Line 77"/>
            <p:cNvSpPr>
              <a:spLocks noChangeShapeType="1"/>
            </p:cNvSpPr>
            <p:nvPr/>
          </p:nvSpPr>
          <p:spPr bwMode="auto">
            <a:xfrm>
              <a:off x="2960" y="3341"/>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9" name="Line 78"/>
            <p:cNvSpPr>
              <a:spLocks noChangeShapeType="1"/>
            </p:cNvSpPr>
            <p:nvPr/>
          </p:nvSpPr>
          <p:spPr bwMode="auto">
            <a:xfrm flipV="1">
              <a:off x="2960" y="3369"/>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0" name="Line 79"/>
            <p:cNvSpPr>
              <a:spLocks noChangeShapeType="1"/>
            </p:cNvSpPr>
            <p:nvPr/>
          </p:nvSpPr>
          <p:spPr bwMode="auto">
            <a:xfrm>
              <a:off x="2960" y="3402"/>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1" name="Line 80"/>
            <p:cNvSpPr>
              <a:spLocks noChangeShapeType="1"/>
            </p:cNvSpPr>
            <p:nvPr/>
          </p:nvSpPr>
          <p:spPr bwMode="auto">
            <a:xfrm>
              <a:off x="2960" y="3433"/>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2" name="Line 81"/>
            <p:cNvSpPr>
              <a:spLocks noChangeShapeType="1"/>
            </p:cNvSpPr>
            <p:nvPr/>
          </p:nvSpPr>
          <p:spPr bwMode="auto">
            <a:xfrm>
              <a:off x="2960" y="3463"/>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3" name="Line 82"/>
            <p:cNvSpPr>
              <a:spLocks noChangeShapeType="1"/>
            </p:cNvSpPr>
            <p:nvPr/>
          </p:nvSpPr>
          <p:spPr bwMode="auto">
            <a:xfrm flipV="1">
              <a:off x="2960" y="3488"/>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4" name="Line 83"/>
            <p:cNvSpPr>
              <a:spLocks noChangeShapeType="1"/>
            </p:cNvSpPr>
            <p:nvPr/>
          </p:nvSpPr>
          <p:spPr bwMode="auto">
            <a:xfrm flipV="1">
              <a:off x="2960" y="3520"/>
              <a:ext cx="2608" cy="5"/>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5" name="Line 84"/>
            <p:cNvSpPr>
              <a:spLocks noChangeShapeType="1"/>
            </p:cNvSpPr>
            <p:nvPr/>
          </p:nvSpPr>
          <p:spPr bwMode="auto">
            <a:xfrm>
              <a:off x="2960" y="3555"/>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6" name="Line 85"/>
            <p:cNvSpPr>
              <a:spLocks noChangeShapeType="1"/>
            </p:cNvSpPr>
            <p:nvPr/>
          </p:nvSpPr>
          <p:spPr bwMode="auto">
            <a:xfrm>
              <a:off x="2960" y="3585"/>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7" name="Line 86"/>
            <p:cNvSpPr>
              <a:spLocks noChangeShapeType="1"/>
            </p:cNvSpPr>
            <p:nvPr/>
          </p:nvSpPr>
          <p:spPr bwMode="auto">
            <a:xfrm>
              <a:off x="2960" y="3617"/>
              <a:ext cx="261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8" name="Line 87"/>
            <p:cNvSpPr>
              <a:spLocks noChangeShapeType="1"/>
            </p:cNvSpPr>
            <p:nvPr/>
          </p:nvSpPr>
          <p:spPr bwMode="auto">
            <a:xfrm>
              <a:off x="2960" y="3127"/>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9" name="Line 88"/>
            <p:cNvSpPr>
              <a:spLocks noChangeShapeType="1"/>
            </p:cNvSpPr>
            <p:nvPr/>
          </p:nvSpPr>
          <p:spPr bwMode="auto">
            <a:xfrm>
              <a:off x="2960" y="3098"/>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0" name="Line 89"/>
            <p:cNvSpPr>
              <a:spLocks noChangeShapeType="1"/>
            </p:cNvSpPr>
            <p:nvPr/>
          </p:nvSpPr>
          <p:spPr bwMode="auto">
            <a:xfrm>
              <a:off x="2960" y="3066"/>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1" name="Line 90"/>
            <p:cNvSpPr>
              <a:spLocks noChangeShapeType="1"/>
            </p:cNvSpPr>
            <p:nvPr/>
          </p:nvSpPr>
          <p:spPr bwMode="auto">
            <a:xfrm flipV="1">
              <a:off x="2956" y="3032"/>
              <a:ext cx="2612" cy="1"/>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2" name="Line 91"/>
            <p:cNvSpPr>
              <a:spLocks noChangeShapeType="1"/>
            </p:cNvSpPr>
            <p:nvPr/>
          </p:nvSpPr>
          <p:spPr bwMode="auto">
            <a:xfrm flipV="1">
              <a:off x="2960" y="3641"/>
              <a:ext cx="2611" cy="8"/>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3" name="Line 92"/>
            <p:cNvSpPr>
              <a:spLocks noChangeShapeType="1"/>
            </p:cNvSpPr>
            <p:nvPr/>
          </p:nvSpPr>
          <p:spPr bwMode="auto">
            <a:xfrm>
              <a:off x="2960" y="3005"/>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4" name="Line 93"/>
            <p:cNvSpPr>
              <a:spLocks noChangeShapeType="1"/>
            </p:cNvSpPr>
            <p:nvPr/>
          </p:nvSpPr>
          <p:spPr bwMode="auto">
            <a:xfrm>
              <a:off x="2960" y="3678"/>
              <a:ext cx="2611"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5" name="Line 94"/>
            <p:cNvSpPr>
              <a:spLocks noChangeShapeType="1"/>
            </p:cNvSpPr>
            <p:nvPr/>
          </p:nvSpPr>
          <p:spPr bwMode="auto">
            <a:xfrm>
              <a:off x="2960" y="3005"/>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6" name="Line 95"/>
            <p:cNvSpPr>
              <a:spLocks noChangeShapeType="1"/>
            </p:cNvSpPr>
            <p:nvPr/>
          </p:nvSpPr>
          <p:spPr bwMode="auto">
            <a:xfrm>
              <a:off x="3168"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7" name="Line 96"/>
            <p:cNvSpPr>
              <a:spLocks noChangeShapeType="1"/>
            </p:cNvSpPr>
            <p:nvPr/>
          </p:nvSpPr>
          <p:spPr bwMode="auto">
            <a:xfrm>
              <a:off x="337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8" name="Line 97"/>
            <p:cNvSpPr>
              <a:spLocks noChangeShapeType="1"/>
            </p:cNvSpPr>
            <p:nvPr/>
          </p:nvSpPr>
          <p:spPr bwMode="auto">
            <a:xfrm>
              <a:off x="3572"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9" name="Line 98"/>
            <p:cNvSpPr>
              <a:spLocks noChangeShapeType="1"/>
            </p:cNvSpPr>
            <p:nvPr/>
          </p:nvSpPr>
          <p:spPr bwMode="auto">
            <a:xfrm>
              <a:off x="3778"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0" name="Line 99"/>
            <p:cNvSpPr>
              <a:spLocks noChangeShapeType="1"/>
            </p:cNvSpPr>
            <p:nvPr/>
          </p:nvSpPr>
          <p:spPr bwMode="auto">
            <a:xfrm>
              <a:off x="3984"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1" name="Line 100"/>
            <p:cNvSpPr>
              <a:spLocks noChangeShapeType="1"/>
            </p:cNvSpPr>
            <p:nvPr/>
          </p:nvSpPr>
          <p:spPr bwMode="auto">
            <a:xfrm>
              <a:off x="419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2" name="Line 101"/>
            <p:cNvSpPr>
              <a:spLocks noChangeShapeType="1"/>
            </p:cNvSpPr>
            <p:nvPr/>
          </p:nvSpPr>
          <p:spPr bwMode="auto">
            <a:xfrm>
              <a:off x="439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3" name="Line 102"/>
            <p:cNvSpPr>
              <a:spLocks noChangeShapeType="1"/>
            </p:cNvSpPr>
            <p:nvPr/>
          </p:nvSpPr>
          <p:spPr bwMode="auto">
            <a:xfrm>
              <a:off x="4598"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4" name="Line 103"/>
            <p:cNvSpPr>
              <a:spLocks noChangeShapeType="1"/>
            </p:cNvSpPr>
            <p:nvPr/>
          </p:nvSpPr>
          <p:spPr bwMode="auto">
            <a:xfrm>
              <a:off x="4800" y="3005"/>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5" name="Line 104"/>
            <p:cNvSpPr>
              <a:spLocks noChangeShapeType="1"/>
            </p:cNvSpPr>
            <p:nvPr/>
          </p:nvSpPr>
          <p:spPr bwMode="auto">
            <a:xfrm>
              <a:off x="5003"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6" name="Line 105"/>
            <p:cNvSpPr>
              <a:spLocks noChangeShapeType="1"/>
            </p:cNvSpPr>
            <p:nvPr/>
          </p:nvSpPr>
          <p:spPr bwMode="auto">
            <a:xfrm>
              <a:off x="521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7" name="Line 106"/>
            <p:cNvSpPr>
              <a:spLocks noChangeShapeType="1"/>
            </p:cNvSpPr>
            <p:nvPr/>
          </p:nvSpPr>
          <p:spPr bwMode="auto">
            <a:xfrm>
              <a:off x="5412"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8" name="Line 107"/>
            <p:cNvSpPr>
              <a:spLocks noChangeShapeType="1"/>
            </p:cNvSpPr>
            <p:nvPr/>
          </p:nvSpPr>
          <p:spPr bwMode="auto">
            <a:xfrm>
              <a:off x="2961" y="3366"/>
              <a:ext cx="2607" cy="8"/>
            </a:xfrm>
            <a:prstGeom prst="line">
              <a:avLst/>
            </a:prstGeom>
            <a:noFill/>
            <a:ln w="508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9" name="Line 108"/>
            <p:cNvSpPr>
              <a:spLocks noChangeShapeType="1"/>
            </p:cNvSpPr>
            <p:nvPr/>
          </p:nvSpPr>
          <p:spPr bwMode="auto">
            <a:xfrm flipV="1">
              <a:off x="2993" y="3564"/>
              <a:ext cx="2575" cy="3"/>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40" name="Rectangle 109"/>
            <p:cNvSpPr>
              <a:spLocks noChangeArrowheads="1"/>
            </p:cNvSpPr>
            <p:nvPr/>
          </p:nvSpPr>
          <p:spPr bwMode="auto">
            <a:xfrm>
              <a:off x="2866" y="311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1" name="Rectangle 110"/>
            <p:cNvSpPr>
              <a:spLocks noChangeArrowheads="1"/>
            </p:cNvSpPr>
            <p:nvPr/>
          </p:nvSpPr>
          <p:spPr bwMode="auto">
            <a:xfrm>
              <a:off x="3072" y="3504"/>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2" name="Rectangle 111"/>
            <p:cNvSpPr>
              <a:spLocks noChangeArrowheads="1"/>
            </p:cNvSpPr>
            <p:nvPr/>
          </p:nvSpPr>
          <p:spPr bwMode="auto">
            <a:xfrm>
              <a:off x="3272" y="2947"/>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3" name="Rectangle 112"/>
            <p:cNvSpPr>
              <a:spLocks noChangeArrowheads="1"/>
            </p:cNvSpPr>
            <p:nvPr/>
          </p:nvSpPr>
          <p:spPr bwMode="auto">
            <a:xfrm>
              <a:off x="3473" y="3341"/>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4" name="Rectangle 113"/>
            <p:cNvSpPr>
              <a:spLocks noChangeArrowheads="1"/>
            </p:cNvSpPr>
            <p:nvPr/>
          </p:nvSpPr>
          <p:spPr bwMode="auto">
            <a:xfrm>
              <a:off x="3678" y="3191"/>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5" name="Rectangle 114"/>
            <p:cNvSpPr>
              <a:spLocks noChangeArrowheads="1"/>
            </p:cNvSpPr>
            <p:nvPr/>
          </p:nvSpPr>
          <p:spPr bwMode="auto">
            <a:xfrm>
              <a:off x="3880" y="3284"/>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6" name="Rectangle 115"/>
            <p:cNvSpPr>
              <a:spLocks noChangeArrowheads="1"/>
            </p:cNvSpPr>
            <p:nvPr/>
          </p:nvSpPr>
          <p:spPr bwMode="auto">
            <a:xfrm>
              <a:off x="4099" y="329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7" name="Rectangle 116"/>
            <p:cNvSpPr>
              <a:spLocks noChangeArrowheads="1"/>
            </p:cNvSpPr>
            <p:nvPr/>
          </p:nvSpPr>
          <p:spPr bwMode="auto">
            <a:xfrm>
              <a:off x="4501" y="3287"/>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8" name="Rectangle 117"/>
            <p:cNvSpPr>
              <a:spLocks noChangeArrowheads="1"/>
            </p:cNvSpPr>
            <p:nvPr/>
          </p:nvSpPr>
          <p:spPr bwMode="auto">
            <a:xfrm>
              <a:off x="4290" y="2877"/>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9" name="Rectangle 118"/>
            <p:cNvSpPr>
              <a:spLocks noChangeArrowheads="1"/>
            </p:cNvSpPr>
            <p:nvPr/>
          </p:nvSpPr>
          <p:spPr bwMode="auto">
            <a:xfrm>
              <a:off x="4703" y="316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0" name="Rectangle 119"/>
            <p:cNvSpPr>
              <a:spLocks noChangeArrowheads="1"/>
            </p:cNvSpPr>
            <p:nvPr/>
          </p:nvSpPr>
          <p:spPr bwMode="auto">
            <a:xfrm>
              <a:off x="4908" y="3606"/>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1" name="Rectangle 120"/>
            <p:cNvSpPr>
              <a:spLocks noChangeArrowheads="1"/>
            </p:cNvSpPr>
            <p:nvPr/>
          </p:nvSpPr>
          <p:spPr bwMode="auto">
            <a:xfrm>
              <a:off x="5120" y="324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2" name="Rectangle 121"/>
            <p:cNvSpPr>
              <a:spLocks noChangeArrowheads="1"/>
            </p:cNvSpPr>
            <p:nvPr/>
          </p:nvSpPr>
          <p:spPr bwMode="auto">
            <a:xfrm>
              <a:off x="5316" y="3316"/>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3" name="Line 122"/>
            <p:cNvSpPr>
              <a:spLocks noChangeShapeType="1"/>
            </p:cNvSpPr>
            <p:nvPr/>
          </p:nvSpPr>
          <p:spPr bwMode="auto">
            <a:xfrm>
              <a:off x="2971" y="3237"/>
              <a:ext cx="196" cy="40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4" name="Line 123"/>
            <p:cNvSpPr>
              <a:spLocks noChangeShapeType="1"/>
            </p:cNvSpPr>
            <p:nvPr/>
          </p:nvSpPr>
          <p:spPr bwMode="auto">
            <a:xfrm flipV="1">
              <a:off x="3162" y="3068"/>
              <a:ext cx="211" cy="57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5" name="Line 124"/>
            <p:cNvSpPr>
              <a:spLocks noChangeShapeType="1"/>
            </p:cNvSpPr>
            <p:nvPr/>
          </p:nvSpPr>
          <p:spPr bwMode="auto">
            <a:xfrm>
              <a:off x="3363" y="3064"/>
              <a:ext cx="205" cy="403"/>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6" name="Line 125"/>
            <p:cNvSpPr>
              <a:spLocks noChangeShapeType="1"/>
            </p:cNvSpPr>
            <p:nvPr/>
          </p:nvSpPr>
          <p:spPr bwMode="auto">
            <a:xfrm flipV="1">
              <a:off x="3574" y="3308"/>
              <a:ext cx="207" cy="166"/>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7" name="Line 126"/>
            <p:cNvSpPr>
              <a:spLocks noChangeShapeType="1"/>
            </p:cNvSpPr>
            <p:nvPr/>
          </p:nvSpPr>
          <p:spPr bwMode="auto">
            <a:xfrm>
              <a:off x="3759" y="3311"/>
              <a:ext cx="213" cy="100"/>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8" name="Line 127"/>
            <p:cNvSpPr>
              <a:spLocks noChangeShapeType="1"/>
            </p:cNvSpPr>
            <p:nvPr/>
          </p:nvSpPr>
          <p:spPr bwMode="auto">
            <a:xfrm flipV="1">
              <a:off x="3979" y="3411"/>
              <a:ext cx="205" cy="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9" name="Line 128"/>
            <p:cNvSpPr>
              <a:spLocks noChangeShapeType="1"/>
            </p:cNvSpPr>
            <p:nvPr/>
          </p:nvSpPr>
          <p:spPr bwMode="auto">
            <a:xfrm flipV="1">
              <a:off x="4184" y="2996"/>
              <a:ext cx="211" cy="41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0" name="Line 129"/>
            <p:cNvSpPr>
              <a:spLocks noChangeShapeType="1"/>
            </p:cNvSpPr>
            <p:nvPr/>
          </p:nvSpPr>
          <p:spPr bwMode="auto">
            <a:xfrm>
              <a:off x="4388" y="3004"/>
              <a:ext cx="201" cy="410"/>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1" name="Line 130"/>
            <p:cNvSpPr>
              <a:spLocks noChangeShapeType="1"/>
            </p:cNvSpPr>
            <p:nvPr/>
          </p:nvSpPr>
          <p:spPr bwMode="auto">
            <a:xfrm flipV="1">
              <a:off x="4604" y="3279"/>
              <a:ext cx="198" cy="13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2" name="Line 131"/>
            <p:cNvSpPr>
              <a:spLocks noChangeShapeType="1"/>
            </p:cNvSpPr>
            <p:nvPr/>
          </p:nvSpPr>
          <p:spPr bwMode="auto">
            <a:xfrm>
              <a:off x="4795" y="3283"/>
              <a:ext cx="211" cy="44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3" name="Line 132"/>
            <p:cNvSpPr>
              <a:spLocks noChangeShapeType="1"/>
            </p:cNvSpPr>
            <p:nvPr/>
          </p:nvSpPr>
          <p:spPr bwMode="auto">
            <a:xfrm flipV="1">
              <a:off x="5005" y="3368"/>
              <a:ext cx="208" cy="356"/>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4" name="Line 133"/>
            <p:cNvSpPr>
              <a:spLocks noChangeShapeType="1"/>
            </p:cNvSpPr>
            <p:nvPr/>
          </p:nvSpPr>
          <p:spPr bwMode="auto">
            <a:xfrm>
              <a:off x="5221" y="3368"/>
              <a:ext cx="192" cy="8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5" name="Line 134"/>
            <p:cNvSpPr>
              <a:spLocks noChangeShapeType="1"/>
            </p:cNvSpPr>
            <p:nvPr/>
          </p:nvSpPr>
          <p:spPr bwMode="auto">
            <a:xfrm flipV="1">
              <a:off x="5416" y="3298"/>
              <a:ext cx="152" cy="14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6" name="Line 135"/>
            <p:cNvSpPr>
              <a:spLocks noChangeShapeType="1"/>
            </p:cNvSpPr>
            <p:nvPr/>
          </p:nvSpPr>
          <p:spPr bwMode="auto">
            <a:xfrm>
              <a:off x="3001" y="3159"/>
              <a:ext cx="2567" cy="10"/>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167" name="Text Box 138"/>
          <p:cNvSpPr txBox="1">
            <a:spLocks noChangeArrowheads="1"/>
          </p:cNvSpPr>
          <p:nvPr/>
        </p:nvSpPr>
        <p:spPr bwMode="auto">
          <a:xfrm>
            <a:off x="4804172" y="5508682"/>
            <a:ext cx="3954929" cy="430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2200" dirty="0">
                <a:latin typeface="Arial" charset="0"/>
              </a:rPr>
              <a:t>P</a:t>
            </a:r>
            <a:r>
              <a:rPr kumimoji="0" lang="en-US" altLang="ko-KR" sz="2200" baseline="-25000" dirty="0">
                <a:latin typeface="Arial" charset="0"/>
              </a:rPr>
              <a:t>pk</a:t>
            </a:r>
            <a:r>
              <a:rPr kumimoji="0" lang="en-US" altLang="ko-KR" sz="2200" dirty="0">
                <a:latin typeface="Arial" charset="0"/>
              </a:rPr>
              <a:t> = Randomly obtained data</a:t>
            </a:r>
            <a:endParaRPr kumimoji="0" lang="ko-KR" altLang="en-US" sz="2200" dirty="0">
              <a:latin typeface="Times New Roman" pitchFamily="18" charset="0"/>
            </a:endParaRPr>
          </a:p>
        </p:txBody>
      </p:sp>
      <p:sp>
        <p:nvSpPr>
          <p:cNvPr id="168" name="Text Box 55"/>
          <p:cNvSpPr txBox="1">
            <a:spLocks noChangeArrowheads="1"/>
          </p:cNvSpPr>
          <p:nvPr/>
        </p:nvSpPr>
        <p:spPr bwMode="auto">
          <a:xfrm>
            <a:off x="650337" y="1046323"/>
            <a:ext cx="80101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Development stage New process capability survey (Initial process capability survey)</a:t>
            </a:r>
          </a:p>
        </p:txBody>
      </p:sp>
      <p:sp>
        <p:nvSpPr>
          <p:cNvPr id="169" name="Rectangle 4"/>
          <p:cNvSpPr>
            <a:spLocks noChangeArrowheads="1"/>
          </p:cNvSpPr>
          <p:nvPr/>
        </p:nvSpPr>
        <p:spPr bwMode="auto">
          <a:xfrm>
            <a:off x="6269874" y="2599581"/>
            <a:ext cx="2075767" cy="1175840"/>
          </a:xfrm>
          <a:prstGeom prst="rect">
            <a:avLst/>
          </a:prstGeom>
          <a:solidFill>
            <a:schemeClr val="bg1">
              <a:lumMod val="75000"/>
              <a:alpha val="14117"/>
            </a:schemeClr>
          </a:solidFill>
          <a:ln w="12700" algn="ctr">
            <a:solidFill>
              <a:schemeClr val="bg2"/>
            </a:solidFill>
            <a:miter lim="800000"/>
            <a:headEnd/>
            <a:tailEnd/>
          </a:ln>
          <a:effectLst>
            <a:outerShdw blurRad="50800" dist="38100" dir="2700000" algn="tl" rotWithShape="0">
              <a:prstClr val="black">
                <a:alpha val="40000"/>
              </a:prstClr>
            </a:outerShdw>
          </a:effec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latinLnBrk="0">
              <a:spcBef>
                <a:spcPct val="0"/>
              </a:spcBef>
              <a:buFontTx/>
              <a:buNone/>
            </a:pPr>
            <a:r>
              <a:rPr kumimoji="0" lang="en-US" altLang="ko-KR" sz="2000" b="1" dirty="0">
                <a:latin typeface="Arial" charset="0"/>
              </a:rPr>
              <a:t>Ppk ≥ 1.67</a:t>
            </a:r>
          </a:p>
        </p:txBody>
      </p:sp>
      <p:sp>
        <p:nvSpPr>
          <p:cNvPr id="170" name="Text Box 5"/>
          <p:cNvSpPr txBox="1">
            <a:spLocks noChangeArrowheads="1"/>
          </p:cNvSpPr>
          <p:nvPr/>
        </p:nvSpPr>
        <p:spPr bwMode="auto">
          <a:xfrm>
            <a:off x="5956798" y="2232096"/>
            <a:ext cx="2791342" cy="338554"/>
          </a:xfrm>
          <a:prstGeom prst="rect">
            <a:avLst/>
          </a:prstGeom>
          <a:solidFill>
            <a:schemeClr val="bg1">
              <a:lumMod val="75000"/>
            </a:schemeClr>
          </a:solidFill>
          <a:ln w="12700" algn="ctr">
            <a:noFill/>
            <a:miter lim="800000"/>
            <a:headEnd/>
            <a:tailEnd/>
          </a:ln>
          <a:effectLst>
            <a:outerShdw blurRad="50800" dist="38100" dir="2700000" algn="tl" rotWithShape="0">
              <a:prstClr val="black">
                <a:alpha val="40000"/>
              </a:prstClr>
            </a:outerShdw>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600" dirty="0">
                <a:latin typeface="+mn-lt"/>
              </a:rPr>
              <a:t>Criteria(Development stage)</a:t>
            </a:r>
            <a:endParaRPr kumimoji="0" lang="ko-KR" altLang="en-US" sz="1600" dirty="0">
              <a:latin typeface="+mn-lt"/>
            </a:endParaRPr>
          </a:p>
        </p:txBody>
      </p:sp>
      <p:sp>
        <p:nvSpPr>
          <p:cNvPr id="171" name="오른쪽 화살표 170"/>
          <p:cNvSpPr/>
          <p:nvPr/>
        </p:nvSpPr>
        <p:spPr bwMode="auto">
          <a:xfrm>
            <a:off x="1368324" y="4946493"/>
            <a:ext cx="821676" cy="296266"/>
          </a:xfrm>
          <a:prstGeom prst="rightArrow">
            <a:avLst/>
          </a:prstGeom>
          <a:solidFill>
            <a:schemeClr val="tx1"/>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172" name="Text Box 51"/>
          <p:cNvSpPr txBox="1">
            <a:spLocks noChangeArrowheads="1"/>
          </p:cNvSpPr>
          <p:nvPr/>
        </p:nvSpPr>
        <p:spPr bwMode="auto">
          <a:xfrm>
            <a:off x="2298889" y="4950605"/>
            <a:ext cx="1196441" cy="29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en-US" altLang="ko-KR" b="1" baseline="0" dirty="0">
                <a:solidFill>
                  <a:srgbClr val="000000"/>
                </a:solidFill>
              </a:rPr>
              <a:t>Reflect bias</a:t>
            </a:r>
          </a:p>
        </p:txBody>
      </p:sp>
      <p:sp>
        <p:nvSpPr>
          <p:cNvPr id="174"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204</a:t>
            </a:fld>
            <a:endParaRPr lang="ko-KR" altLang="en-US" sz="1200" dirty="0"/>
          </a:p>
        </p:txBody>
      </p:sp>
      <p:sp>
        <p:nvSpPr>
          <p:cNvPr id="4" name="TextBox 3"/>
          <p:cNvSpPr txBox="1"/>
          <p:nvPr/>
        </p:nvSpPr>
        <p:spPr>
          <a:xfrm>
            <a:off x="2577932" y="2926653"/>
            <a:ext cx="433132"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173" name="TextBox 172"/>
          <p:cNvSpPr txBox="1"/>
          <p:nvPr/>
        </p:nvSpPr>
        <p:spPr>
          <a:xfrm>
            <a:off x="4030920" y="3494595"/>
            <a:ext cx="433132"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175" name="TextBox 174"/>
          <p:cNvSpPr txBox="1"/>
          <p:nvPr/>
        </p:nvSpPr>
        <p:spPr>
          <a:xfrm>
            <a:off x="4849438" y="3494595"/>
            <a:ext cx="433132"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177"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3799045521"/>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직사각형 98"/>
          <p:cNvSpPr/>
          <p:nvPr/>
        </p:nvSpPr>
        <p:spPr bwMode="auto">
          <a:xfrm>
            <a:off x="846872" y="2492896"/>
            <a:ext cx="7626159" cy="3528393"/>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5065" name="Rectangle 2"/>
          <p:cNvSpPr>
            <a:spLocks noChangeArrowheads="1"/>
          </p:cNvSpPr>
          <p:nvPr/>
        </p:nvSpPr>
        <p:spPr bwMode="auto">
          <a:xfrm>
            <a:off x="1320322" y="1259137"/>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sp>
        <p:nvSpPr>
          <p:cNvPr id="97" name="Text Box 52"/>
          <p:cNvSpPr txBox="1">
            <a:spLocks noChangeArrowheads="1"/>
          </p:cNvSpPr>
          <p:nvPr/>
        </p:nvSpPr>
        <p:spPr bwMode="auto">
          <a:xfrm>
            <a:off x="721097" y="1381448"/>
            <a:ext cx="8071240" cy="944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en-US" altLang="ko-KR" b="1" baseline="0" dirty="0">
                <a:solidFill>
                  <a:srgbClr val="000000"/>
                </a:solidFill>
              </a:rPr>
              <a:t>Cp and </a:t>
            </a:r>
            <a:r>
              <a:rPr lang="en-US" altLang="ko-KR" b="1" baseline="0" dirty="0" err="1">
                <a:solidFill>
                  <a:srgbClr val="000000"/>
                </a:solidFill>
              </a:rPr>
              <a:t>Cpk</a:t>
            </a:r>
            <a:r>
              <a:rPr lang="en-US" altLang="ko-KR" b="1" baseline="0" dirty="0">
                <a:solidFill>
                  <a:srgbClr val="000000"/>
                </a:solidFill>
              </a:rPr>
              <a:t> are used to determine the process capability when it is judged that Rational </a:t>
            </a:r>
            <a:r>
              <a:rPr lang="en-US" altLang="ko-KR" b="1" baseline="0" dirty="0" err="1">
                <a:solidFill>
                  <a:srgbClr val="000000"/>
                </a:solidFill>
              </a:rPr>
              <a:t>Subgrouping</a:t>
            </a:r>
            <a:r>
              <a:rPr lang="en-US" altLang="ko-KR" b="1" baseline="0" dirty="0">
                <a:solidFill>
                  <a:srgbClr val="000000"/>
                </a:solidFill>
              </a:rPr>
              <a:t> is possible because it is judged that the process is stabilized at the mass production stage and it is possible to distinguish between the intra-group (chance cause) and the group (assignable cause).</a:t>
            </a:r>
          </a:p>
        </p:txBody>
      </p:sp>
      <p:sp>
        <p:nvSpPr>
          <p:cNvPr id="169" name="Rectangle 50"/>
          <p:cNvSpPr>
            <a:spLocks noChangeArrowheads="1"/>
          </p:cNvSpPr>
          <p:nvPr/>
        </p:nvSpPr>
        <p:spPr bwMode="auto">
          <a:xfrm>
            <a:off x="1105960" y="2819003"/>
            <a:ext cx="4818185" cy="1441450"/>
          </a:xfrm>
          <a:prstGeom prst="rect">
            <a:avLst/>
          </a:prstGeom>
          <a:solidFill>
            <a:srgbClr val="92D050"/>
          </a:solidFill>
          <a:ln w="9525">
            <a:solidFill>
              <a:schemeClr val="bg2"/>
            </a:solid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grpSp>
        <p:nvGrpSpPr>
          <p:cNvPr id="2" name="Group 98"/>
          <p:cNvGrpSpPr>
            <a:grpSpLocks/>
          </p:cNvGrpSpPr>
          <p:nvPr/>
        </p:nvGrpSpPr>
        <p:grpSpPr bwMode="auto">
          <a:xfrm>
            <a:off x="1514799" y="2842817"/>
            <a:ext cx="3877408" cy="1337071"/>
            <a:chOff x="996" y="1008"/>
            <a:chExt cx="2904" cy="924"/>
          </a:xfrm>
        </p:grpSpPr>
        <p:grpSp>
          <p:nvGrpSpPr>
            <p:cNvPr id="3" name="Group 11"/>
            <p:cNvGrpSpPr>
              <a:grpSpLocks/>
            </p:cNvGrpSpPr>
            <p:nvPr/>
          </p:nvGrpSpPr>
          <p:grpSpPr bwMode="auto">
            <a:xfrm>
              <a:off x="996" y="1008"/>
              <a:ext cx="2824" cy="924"/>
              <a:chOff x="692" y="912"/>
              <a:chExt cx="2824" cy="924"/>
            </a:xfrm>
          </p:grpSpPr>
          <p:sp>
            <p:nvSpPr>
              <p:cNvPr id="173" name="Line 12"/>
              <p:cNvSpPr>
                <a:spLocks noChangeShapeType="1"/>
              </p:cNvSpPr>
              <p:nvPr/>
            </p:nvSpPr>
            <p:spPr bwMode="auto">
              <a:xfrm>
                <a:off x="1060" y="1138"/>
                <a:ext cx="786" cy="1"/>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75" name="Rectangle 14"/>
              <p:cNvSpPr>
                <a:spLocks noChangeArrowheads="1"/>
              </p:cNvSpPr>
              <p:nvPr/>
            </p:nvSpPr>
            <p:spPr bwMode="auto">
              <a:xfrm>
                <a:off x="814" y="1135"/>
                <a:ext cx="5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76" name="Rectangle 15"/>
              <p:cNvSpPr>
                <a:spLocks noChangeArrowheads="1"/>
              </p:cNvSpPr>
              <p:nvPr/>
            </p:nvSpPr>
            <p:spPr bwMode="auto">
              <a:xfrm>
                <a:off x="1292" y="1160"/>
                <a:ext cx="9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77" name="Rectangle 16"/>
              <p:cNvSpPr>
                <a:spLocks noChangeArrowheads="1"/>
              </p:cNvSpPr>
              <p:nvPr/>
            </p:nvSpPr>
            <p:spPr bwMode="auto">
              <a:xfrm>
                <a:off x="1541" y="931"/>
                <a:ext cx="32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78" name="Rectangle 17"/>
              <p:cNvSpPr>
                <a:spLocks noChangeArrowheads="1"/>
              </p:cNvSpPr>
              <p:nvPr/>
            </p:nvSpPr>
            <p:spPr bwMode="auto">
              <a:xfrm>
                <a:off x="1074" y="931"/>
                <a:ext cx="34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79" name="Rectangle 18"/>
              <p:cNvSpPr>
                <a:spLocks noChangeArrowheads="1"/>
              </p:cNvSpPr>
              <p:nvPr/>
            </p:nvSpPr>
            <p:spPr bwMode="auto">
              <a:xfrm>
                <a:off x="695" y="1033"/>
                <a:ext cx="12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80" name="Rectangle 19"/>
              <p:cNvSpPr>
                <a:spLocks noChangeArrowheads="1"/>
              </p:cNvSpPr>
              <p:nvPr/>
            </p:nvSpPr>
            <p:spPr bwMode="auto">
              <a:xfrm>
                <a:off x="1376" y="1141"/>
                <a:ext cx="11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81" name="Rectangle 20"/>
              <p:cNvSpPr>
                <a:spLocks noChangeArrowheads="1"/>
              </p:cNvSpPr>
              <p:nvPr/>
            </p:nvSpPr>
            <p:spPr bwMode="auto">
              <a:xfrm>
                <a:off x="1420" y="912"/>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2" name="Rectangle 21"/>
              <p:cNvSpPr>
                <a:spLocks noChangeArrowheads="1"/>
              </p:cNvSpPr>
              <p:nvPr/>
            </p:nvSpPr>
            <p:spPr bwMode="auto">
              <a:xfrm>
                <a:off x="927" y="1015"/>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3" name="Rectangle 22"/>
              <p:cNvSpPr>
                <a:spLocks noChangeArrowheads="1"/>
              </p:cNvSpPr>
              <p:nvPr/>
            </p:nvSpPr>
            <p:spPr bwMode="auto">
              <a:xfrm>
                <a:off x="1291" y="1382"/>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4" name="Rectangle 23"/>
              <p:cNvSpPr>
                <a:spLocks noChangeArrowheads="1"/>
              </p:cNvSpPr>
              <p:nvPr/>
            </p:nvSpPr>
            <p:spPr bwMode="auto">
              <a:xfrm>
                <a:off x="1862" y="1382"/>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5" name="Line 24"/>
              <p:cNvSpPr>
                <a:spLocks noChangeShapeType="1"/>
              </p:cNvSpPr>
              <p:nvPr/>
            </p:nvSpPr>
            <p:spPr bwMode="auto">
              <a:xfrm>
                <a:off x="2384" y="1549"/>
                <a:ext cx="5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86" name="Line 25"/>
              <p:cNvSpPr>
                <a:spLocks noChangeShapeType="1"/>
              </p:cNvSpPr>
              <p:nvPr/>
            </p:nvSpPr>
            <p:spPr bwMode="auto">
              <a:xfrm>
                <a:off x="2983" y="1549"/>
                <a:ext cx="49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87" name="Rectangle 26"/>
              <p:cNvSpPr>
                <a:spLocks noChangeArrowheads="1"/>
              </p:cNvSpPr>
              <p:nvPr/>
            </p:nvSpPr>
            <p:spPr bwMode="auto">
              <a:xfrm>
                <a:off x="3160" y="1554"/>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88" name="Rectangle 27"/>
              <p:cNvSpPr>
                <a:spLocks noChangeArrowheads="1"/>
              </p:cNvSpPr>
              <p:nvPr/>
            </p:nvSpPr>
            <p:spPr bwMode="auto">
              <a:xfrm>
                <a:off x="3101" y="1334"/>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9" name="Rectangle 28"/>
              <p:cNvSpPr>
                <a:spLocks noChangeArrowheads="1"/>
              </p:cNvSpPr>
              <p:nvPr/>
            </p:nvSpPr>
            <p:spPr bwMode="auto">
              <a:xfrm>
                <a:off x="2988" y="1334"/>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90" name="Rectangle 29"/>
              <p:cNvSpPr>
                <a:spLocks noChangeArrowheads="1"/>
              </p:cNvSpPr>
              <p:nvPr/>
            </p:nvSpPr>
            <p:spPr bwMode="auto">
              <a:xfrm>
                <a:off x="2570" y="1554"/>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91" name="Rectangle 30"/>
              <p:cNvSpPr>
                <a:spLocks noChangeArrowheads="1"/>
              </p:cNvSpPr>
              <p:nvPr/>
            </p:nvSpPr>
            <p:spPr bwMode="auto">
              <a:xfrm>
                <a:off x="2809" y="1334"/>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92" name="Rectangle 31"/>
              <p:cNvSpPr>
                <a:spLocks noChangeArrowheads="1"/>
              </p:cNvSpPr>
              <p:nvPr/>
            </p:nvSpPr>
            <p:spPr bwMode="auto">
              <a:xfrm>
                <a:off x="2706" y="1334"/>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3" name="Rectangle 32"/>
              <p:cNvSpPr>
                <a:spLocks noChangeArrowheads="1"/>
              </p:cNvSpPr>
              <p:nvPr/>
            </p:nvSpPr>
            <p:spPr bwMode="auto">
              <a:xfrm>
                <a:off x="1948" y="1432"/>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4" name="Rectangle 33"/>
              <p:cNvSpPr>
                <a:spLocks noChangeArrowheads="1"/>
              </p:cNvSpPr>
              <p:nvPr/>
            </p:nvSpPr>
            <p:spPr bwMode="auto">
              <a:xfrm>
                <a:off x="940" y="1432"/>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6" name="Rectangle 35"/>
              <p:cNvSpPr>
                <a:spLocks noChangeArrowheads="1"/>
              </p:cNvSpPr>
              <p:nvPr/>
            </p:nvSpPr>
            <p:spPr bwMode="auto">
              <a:xfrm>
                <a:off x="2665" y="1666"/>
                <a:ext cx="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endParaRPr lang="en-US" altLang="ko-KR" sz="1600" baseline="0" dirty="0">
                  <a:solidFill>
                    <a:srgbClr val="000000"/>
                  </a:solidFill>
                  <a:latin typeface="Times New Roman" pitchFamily="18" charset="0"/>
                  <a:ea typeface="굴림" pitchFamily="50" charset="-127"/>
                </a:endParaRPr>
              </a:p>
            </p:txBody>
          </p:sp>
          <p:sp>
            <p:nvSpPr>
              <p:cNvPr id="197" name="Rectangle 36"/>
              <p:cNvSpPr>
                <a:spLocks noChangeArrowheads="1"/>
              </p:cNvSpPr>
              <p:nvPr/>
            </p:nvSpPr>
            <p:spPr bwMode="auto">
              <a:xfrm>
                <a:off x="1748" y="1545"/>
                <a:ext cx="7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198" name="Rectangle 37"/>
              <p:cNvSpPr>
                <a:spLocks noChangeArrowheads="1"/>
              </p:cNvSpPr>
              <p:nvPr/>
            </p:nvSpPr>
            <p:spPr bwMode="auto">
              <a:xfrm>
                <a:off x="1451" y="1545"/>
                <a:ext cx="12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199" name="Rectangle 38"/>
              <p:cNvSpPr>
                <a:spLocks noChangeArrowheads="1"/>
              </p:cNvSpPr>
              <p:nvPr/>
            </p:nvSpPr>
            <p:spPr bwMode="auto">
              <a:xfrm>
                <a:off x="798" y="1545"/>
                <a:ext cx="96"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200" name="Rectangle 39"/>
              <p:cNvSpPr>
                <a:spLocks noChangeArrowheads="1"/>
              </p:cNvSpPr>
              <p:nvPr/>
            </p:nvSpPr>
            <p:spPr bwMode="auto">
              <a:xfrm>
                <a:off x="3090" y="1569"/>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201" name="Rectangle 40"/>
              <p:cNvSpPr>
                <a:spLocks noChangeArrowheads="1"/>
              </p:cNvSpPr>
              <p:nvPr/>
            </p:nvSpPr>
            <p:spPr bwMode="auto">
              <a:xfrm>
                <a:off x="3209" y="1351"/>
                <a:ext cx="30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202" name="Rectangle 41"/>
              <p:cNvSpPr>
                <a:spLocks noChangeArrowheads="1"/>
              </p:cNvSpPr>
              <p:nvPr/>
            </p:nvSpPr>
            <p:spPr bwMode="auto">
              <a:xfrm>
                <a:off x="2925" y="1449"/>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3" name="Rectangle 42"/>
              <p:cNvSpPr>
                <a:spLocks noChangeArrowheads="1"/>
              </p:cNvSpPr>
              <p:nvPr/>
            </p:nvSpPr>
            <p:spPr bwMode="auto">
              <a:xfrm>
                <a:off x="2501" y="1569"/>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204" name="Rectangle 43"/>
              <p:cNvSpPr>
                <a:spLocks noChangeArrowheads="1"/>
              </p:cNvSpPr>
              <p:nvPr/>
            </p:nvSpPr>
            <p:spPr bwMode="auto">
              <a:xfrm>
                <a:off x="2395" y="1351"/>
                <a:ext cx="32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205" name="Rectangle 44"/>
              <p:cNvSpPr>
                <a:spLocks noChangeArrowheads="1"/>
              </p:cNvSpPr>
              <p:nvPr/>
            </p:nvSpPr>
            <p:spPr bwMode="auto">
              <a:xfrm>
                <a:off x="2065" y="1449"/>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206" name="Rectangle 45"/>
              <p:cNvSpPr>
                <a:spLocks noChangeArrowheads="1"/>
              </p:cNvSpPr>
              <p:nvPr/>
            </p:nvSpPr>
            <p:spPr bwMode="auto">
              <a:xfrm>
                <a:off x="1643" y="1449"/>
                <a:ext cx="11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207" name="Rectangle 46"/>
              <p:cNvSpPr>
                <a:spLocks noChangeArrowheads="1"/>
              </p:cNvSpPr>
              <p:nvPr/>
            </p:nvSpPr>
            <p:spPr bwMode="auto">
              <a:xfrm>
                <a:off x="1608" y="1449"/>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208" name="Rectangle 47"/>
              <p:cNvSpPr>
                <a:spLocks noChangeArrowheads="1"/>
              </p:cNvSpPr>
              <p:nvPr/>
            </p:nvSpPr>
            <p:spPr bwMode="auto">
              <a:xfrm>
                <a:off x="1577" y="1449"/>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9" name="Rectangle 48"/>
              <p:cNvSpPr>
                <a:spLocks noChangeArrowheads="1"/>
              </p:cNvSpPr>
              <p:nvPr/>
            </p:nvSpPr>
            <p:spPr bwMode="auto">
              <a:xfrm>
                <a:off x="1342" y="1449"/>
                <a:ext cx="20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C </a:t>
                </a:r>
                <a:endParaRPr lang="en-US" altLang="ko-KR" sz="1600" baseline="0" dirty="0">
                  <a:solidFill>
                    <a:srgbClr val="000000"/>
                  </a:solidFill>
                  <a:latin typeface="Times New Roman" pitchFamily="18" charset="0"/>
                  <a:ea typeface="굴림" pitchFamily="50" charset="-127"/>
                </a:endParaRPr>
              </a:p>
            </p:txBody>
          </p:sp>
          <p:sp>
            <p:nvSpPr>
              <p:cNvPr id="210" name="Rectangle 49"/>
              <p:cNvSpPr>
                <a:spLocks noChangeArrowheads="1"/>
              </p:cNvSpPr>
              <p:nvPr/>
            </p:nvSpPr>
            <p:spPr bwMode="auto">
              <a:xfrm>
                <a:off x="1058" y="1449"/>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211" name="Rectangle 50"/>
              <p:cNvSpPr>
                <a:spLocks noChangeArrowheads="1"/>
              </p:cNvSpPr>
              <p:nvPr/>
            </p:nvSpPr>
            <p:spPr bwMode="auto">
              <a:xfrm>
                <a:off x="692" y="1449"/>
                <a:ext cx="11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grpSp>
        <p:sp>
          <p:nvSpPr>
            <p:cNvPr id="172" name="AutoShape 95"/>
            <p:cNvSpPr>
              <a:spLocks noChangeArrowheads="1"/>
            </p:cNvSpPr>
            <p:nvPr/>
          </p:nvSpPr>
          <p:spPr bwMode="auto">
            <a:xfrm>
              <a:off x="2604" y="1464"/>
              <a:ext cx="1296" cy="384"/>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grpSp>
      <p:grpSp>
        <p:nvGrpSpPr>
          <p:cNvPr id="4" name="Group 3"/>
          <p:cNvGrpSpPr>
            <a:grpSpLocks/>
          </p:cNvGrpSpPr>
          <p:nvPr/>
        </p:nvGrpSpPr>
        <p:grpSpPr bwMode="auto">
          <a:xfrm>
            <a:off x="1003738" y="4671677"/>
            <a:ext cx="3212123" cy="917575"/>
            <a:chOff x="3192" y="1229"/>
            <a:chExt cx="2192" cy="578"/>
          </a:xfrm>
        </p:grpSpPr>
        <p:sp>
          <p:nvSpPr>
            <p:cNvPr id="213" name="Line 4"/>
            <p:cNvSpPr>
              <a:spLocks noChangeShapeType="1"/>
            </p:cNvSpPr>
            <p:nvPr/>
          </p:nvSpPr>
          <p:spPr bwMode="auto">
            <a:xfrm flipV="1">
              <a:off x="3268" y="1358"/>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4" name="Line 5"/>
            <p:cNvSpPr>
              <a:spLocks noChangeShapeType="1"/>
            </p:cNvSpPr>
            <p:nvPr/>
          </p:nvSpPr>
          <p:spPr bwMode="auto">
            <a:xfrm flipV="1">
              <a:off x="3268" y="1383"/>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5" name="Line 6"/>
            <p:cNvSpPr>
              <a:spLocks noChangeShapeType="1"/>
            </p:cNvSpPr>
            <p:nvPr/>
          </p:nvSpPr>
          <p:spPr bwMode="auto">
            <a:xfrm flipV="1">
              <a:off x="3268" y="1411"/>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6" name="Line 7"/>
            <p:cNvSpPr>
              <a:spLocks noChangeShapeType="1"/>
            </p:cNvSpPr>
            <p:nvPr/>
          </p:nvSpPr>
          <p:spPr bwMode="auto">
            <a:xfrm flipV="1">
              <a:off x="3268" y="1435"/>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7" name="Line 8"/>
            <p:cNvSpPr>
              <a:spLocks noChangeShapeType="1"/>
            </p:cNvSpPr>
            <p:nvPr/>
          </p:nvSpPr>
          <p:spPr bwMode="auto">
            <a:xfrm flipV="1">
              <a:off x="3268" y="1462"/>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8" name="Line 9"/>
            <p:cNvSpPr>
              <a:spLocks noChangeShapeType="1"/>
            </p:cNvSpPr>
            <p:nvPr/>
          </p:nvSpPr>
          <p:spPr bwMode="auto">
            <a:xfrm>
              <a:off x="3268" y="1492"/>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9" name="Line 10"/>
            <p:cNvSpPr>
              <a:spLocks noChangeShapeType="1"/>
            </p:cNvSpPr>
            <p:nvPr/>
          </p:nvSpPr>
          <p:spPr bwMode="auto">
            <a:xfrm>
              <a:off x="3268" y="1518"/>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0" name="Line 11"/>
            <p:cNvSpPr>
              <a:spLocks noChangeShapeType="1"/>
            </p:cNvSpPr>
            <p:nvPr/>
          </p:nvSpPr>
          <p:spPr bwMode="auto">
            <a:xfrm flipV="1">
              <a:off x="3268" y="1542"/>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1" name="Line 12"/>
            <p:cNvSpPr>
              <a:spLocks noChangeShapeType="1"/>
            </p:cNvSpPr>
            <p:nvPr/>
          </p:nvSpPr>
          <p:spPr bwMode="auto">
            <a:xfrm>
              <a:off x="3268" y="1570"/>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2" name="Line 13"/>
            <p:cNvSpPr>
              <a:spLocks noChangeShapeType="1"/>
            </p:cNvSpPr>
            <p:nvPr/>
          </p:nvSpPr>
          <p:spPr bwMode="auto">
            <a:xfrm>
              <a:off x="3268" y="1597"/>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3" name="Line 14"/>
            <p:cNvSpPr>
              <a:spLocks noChangeShapeType="1"/>
            </p:cNvSpPr>
            <p:nvPr/>
          </p:nvSpPr>
          <p:spPr bwMode="auto">
            <a:xfrm>
              <a:off x="3268" y="1623"/>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4" name="Line 15"/>
            <p:cNvSpPr>
              <a:spLocks noChangeShapeType="1"/>
            </p:cNvSpPr>
            <p:nvPr/>
          </p:nvSpPr>
          <p:spPr bwMode="auto">
            <a:xfrm flipV="1">
              <a:off x="3268" y="1644"/>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5" name="Line 16"/>
            <p:cNvSpPr>
              <a:spLocks noChangeShapeType="1"/>
            </p:cNvSpPr>
            <p:nvPr/>
          </p:nvSpPr>
          <p:spPr bwMode="auto">
            <a:xfrm flipV="1">
              <a:off x="3268" y="1672"/>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6" name="Line 17"/>
            <p:cNvSpPr>
              <a:spLocks noChangeShapeType="1"/>
            </p:cNvSpPr>
            <p:nvPr/>
          </p:nvSpPr>
          <p:spPr bwMode="auto">
            <a:xfrm>
              <a:off x="3268" y="1702"/>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7" name="Line 18"/>
            <p:cNvSpPr>
              <a:spLocks noChangeShapeType="1"/>
            </p:cNvSpPr>
            <p:nvPr/>
          </p:nvSpPr>
          <p:spPr bwMode="auto">
            <a:xfrm>
              <a:off x="3268" y="1727"/>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8" name="Line 19"/>
            <p:cNvSpPr>
              <a:spLocks noChangeShapeType="1"/>
            </p:cNvSpPr>
            <p:nvPr/>
          </p:nvSpPr>
          <p:spPr bwMode="auto">
            <a:xfrm>
              <a:off x="3268" y="1755"/>
              <a:ext cx="2114"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9" name="Line 20"/>
            <p:cNvSpPr>
              <a:spLocks noChangeShapeType="1"/>
            </p:cNvSpPr>
            <p:nvPr/>
          </p:nvSpPr>
          <p:spPr bwMode="auto">
            <a:xfrm>
              <a:off x="3268" y="1334"/>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0" name="Line 21"/>
            <p:cNvSpPr>
              <a:spLocks noChangeShapeType="1"/>
            </p:cNvSpPr>
            <p:nvPr/>
          </p:nvSpPr>
          <p:spPr bwMode="auto">
            <a:xfrm>
              <a:off x="3268" y="1310"/>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1" name="Line 22"/>
            <p:cNvSpPr>
              <a:spLocks noChangeShapeType="1"/>
            </p:cNvSpPr>
            <p:nvPr/>
          </p:nvSpPr>
          <p:spPr bwMode="auto">
            <a:xfrm>
              <a:off x="3268" y="1282"/>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2" name="Line 23"/>
            <p:cNvSpPr>
              <a:spLocks noChangeShapeType="1"/>
            </p:cNvSpPr>
            <p:nvPr/>
          </p:nvSpPr>
          <p:spPr bwMode="auto">
            <a:xfrm flipV="1">
              <a:off x="3268" y="1253"/>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3" name="Line 24"/>
            <p:cNvSpPr>
              <a:spLocks noChangeShapeType="1"/>
            </p:cNvSpPr>
            <p:nvPr/>
          </p:nvSpPr>
          <p:spPr bwMode="auto">
            <a:xfrm flipV="1">
              <a:off x="3268" y="1775"/>
              <a:ext cx="2109" cy="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4" name="Line 25"/>
            <p:cNvSpPr>
              <a:spLocks noChangeShapeType="1"/>
            </p:cNvSpPr>
            <p:nvPr/>
          </p:nvSpPr>
          <p:spPr bwMode="auto">
            <a:xfrm>
              <a:off x="3268" y="1230"/>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5" name="Line 26"/>
            <p:cNvSpPr>
              <a:spLocks noChangeShapeType="1"/>
            </p:cNvSpPr>
            <p:nvPr/>
          </p:nvSpPr>
          <p:spPr bwMode="auto">
            <a:xfrm>
              <a:off x="3268" y="1807"/>
              <a:ext cx="2109"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6" name="Line 27"/>
            <p:cNvSpPr>
              <a:spLocks noChangeShapeType="1"/>
            </p:cNvSpPr>
            <p:nvPr/>
          </p:nvSpPr>
          <p:spPr bwMode="auto">
            <a:xfrm>
              <a:off x="3268" y="1230"/>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7" name="Line 28"/>
            <p:cNvSpPr>
              <a:spLocks noChangeShapeType="1"/>
            </p:cNvSpPr>
            <p:nvPr/>
          </p:nvSpPr>
          <p:spPr bwMode="auto">
            <a:xfrm>
              <a:off x="3436"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8" name="Line 29"/>
            <p:cNvSpPr>
              <a:spLocks noChangeShapeType="1"/>
            </p:cNvSpPr>
            <p:nvPr/>
          </p:nvSpPr>
          <p:spPr bwMode="auto">
            <a:xfrm>
              <a:off x="3599"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9" name="Line 30"/>
            <p:cNvSpPr>
              <a:spLocks noChangeShapeType="1"/>
            </p:cNvSpPr>
            <p:nvPr/>
          </p:nvSpPr>
          <p:spPr bwMode="auto">
            <a:xfrm>
              <a:off x="3762"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0" name="Line 31"/>
            <p:cNvSpPr>
              <a:spLocks noChangeShapeType="1"/>
            </p:cNvSpPr>
            <p:nvPr/>
          </p:nvSpPr>
          <p:spPr bwMode="auto">
            <a:xfrm>
              <a:off x="3929"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1" name="Line 32"/>
            <p:cNvSpPr>
              <a:spLocks noChangeShapeType="1"/>
            </p:cNvSpPr>
            <p:nvPr/>
          </p:nvSpPr>
          <p:spPr bwMode="auto">
            <a:xfrm>
              <a:off x="4095"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2" name="Line 33"/>
            <p:cNvSpPr>
              <a:spLocks noChangeShapeType="1"/>
            </p:cNvSpPr>
            <p:nvPr/>
          </p:nvSpPr>
          <p:spPr bwMode="auto">
            <a:xfrm>
              <a:off x="4262"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3" name="Line 34"/>
            <p:cNvSpPr>
              <a:spLocks noChangeShapeType="1"/>
            </p:cNvSpPr>
            <p:nvPr/>
          </p:nvSpPr>
          <p:spPr bwMode="auto">
            <a:xfrm>
              <a:off x="4423"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4" name="Line 35"/>
            <p:cNvSpPr>
              <a:spLocks noChangeShapeType="1"/>
            </p:cNvSpPr>
            <p:nvPr/>
          </p:nvSpPr>
          <p:spPr bwMode="auto">
            <a:xfrm>
              <a:off x="4591"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5" name="Line 36"/>
            <p:cNvSpPr>
              <a:spLocks noChangeShapeType="1"/>
            </p:cNvSpPr>
            <p:nvPr/>
          </p:nvSpPr>
          <p:spPr bwMode="auto">
            <a:xfrm>
              <a:off x="4754" y="1230"/>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6" name="Line 37"/>
            <p:cNvSpPr>
              <a:spLocks noChangeShapeType="1"/>
            </p:cNvSpPr>
            <p:nvPr/>
          </p:nvSpPr>
          <p:spPr bwMode="auto">
            <a:xfrm>
              <a:off x="4918"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7" name="Line 38"/>
            <p:cNvSpPr>
              <a:spLocks noChangeShapeType="1"/>
            </p:cNvSpPr>
            <p:nvPr/>
          </p:nvSpPr>
          <p:spPr bwMode="auto">
            <a:xfrm>
              <a:off x="5086"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8" name="Line 39"/>
            <p:cNvSpPr>
              <a:spLocks noChangeShapeType="1"/>
            </p:cNvSpPr>
            <p:nvPr/>
          </p:nvSpPr>
          <p:spPr bwMode="auto">
            <a:xfrm>
              <a:off x="5249"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9" name="Line 40"/>
            <p:cNvSpPr>
              <a:spLocks noChangeShapeType="1"/>
            </p:cNvSpPr>
            <p:nvPr/>
          </p:nvSpPr>
          <p:spPr bwMode="auto">
            <a:xfrm>
              <a:off x="3269" y="1539"/>
              <a:ext cx="2106" cy="7"/>
            </a:xfrm>
            <a:prstGeom prst="line">
              <a:avLst/>
            </a:prstGeom>
            <a:noFill/>
            <a:ln w="508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50" name="Line 41"/>
            <p:cNvSpPr>
              <a:spLocks noChangeShapeType="1"/>
            </p:cNvSpPr>
            <p:nvPr/>
          </p:nvSpPr>
          <p:spPr bwMode="auto">
            <a:xfrm flipV="1">
              <a:off x="3295" y="1709"/>
              <a:ext cx="2080" cy="3"/>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51" name="Rectangle 42"/>
            <p:cNvSpPr>
              <a:spLocks noChangeArrowheads="1"/>
            </p:cNvSpPr>
            <p:nvPr/>
          </p:nvSpPr>
          <p:spPr bwMode="auto">
            <a:xfrm>
              <a:off x="3192" y="1320"/>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2" name="Rectangle 43"/>
            <p:cNvSpPr>
              <a:spLocks noChangeArrowheads="1"/>
            </p:cNvSpPr>
            <p:nvPr/>
          </p:nvSpPr>
          <p:spPr bwMode="auto">
            <a:xfrm>
              <a:off x="3355" y="146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3" name="Rectangle 44"/>
            <p:cNvSpPr>
              <a:spLocks noChangeArrowheads="1"/>
            </p:cNvSpPr>
            <p:nvPr/>
          </p:nvSpPr>
          <p:spPr bwMode="auto">
            <a:xfrm>
              <a:off x="3519" y="137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4" name="Rectangle 45"/>
            <p:cNvSpPr>
              <a:spLocks noChangeArrowheads="1"/>
            </p:cNvSpPr>
            <p:nvPr/>
          </p:nvSpPr>
          <p:spPr bwMode="auto">
            <a:xfrm>
              <a:off x="3661" y="1338"/>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5" name="Rectangle 46"/>
            <p:cNvSpPr>
              <a:spLocks noChangeArrowheads="1"/>
            </p:cNvSpPr>
            <p:nvPr/>
          </p:nvSpPr>
          <p:spPr bwMode="auto">
            <a:xfrm>
              <a:off x="3830" y="1498"/>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6" name="Rectangle 47"/>
            <p:cNvSpPr>
              <a:spLocks noChangeArrowheads="1"/>
            </p:cNvSpPr>
            <p:nvPr/>
          </p:nvSpPr>
          <p:spPr bwMode="auto">
            <a:xfrm>
              <a:off x="3996" y="136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7" name="Rectangle 48"/>
            <p:cNvSpPr>
              <a:spLocks noChangeArrowheads="1"/>
            </p:cNvSpPr>
            <p:nvPr/>
          </p:nvSpPr>
          <p:spPr bwMode="auto">
            <a:xfrm>
              <a:off x="4163" y="1452"/>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8" name="Rectangle 49"/>
            <p:cNvSpPr>
              <a:spLocks noChangeArrowheads="1"/>
            </p:cNvSpPr>
            <p:nvPr/>
          </p:nvSpPr>
          <p:spPr bwMode="auto">
            <a:xfrm>
              <a:off x="4497" y="150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9" name="Rectangle 50"/>
            <p:cNvSpPr>
              <a:spLocks noChangeArrowheads="1"/>
            </p:cNvSpPr>
            <p:nvPr/>
          </p:nvSpPr>
          <p:spPr bwMode="auto">
            <a:xfrm>
              <a:off x="4322" y="1316"/>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0" name="Rectangle 51"/>
            <p:cNvSpPr>
              <a:spLocks noChangeArrowheads="1"/>
            </p:cNvSpPr>
            <p:nvPr/>
          </p:nvSpPr>
          <p:spPr bwMode="auto">
            <a:xfrm>
              <a:off x="4653" y="1340"/>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1" name="Rectangle 52"/>
            <p:cNvSpPr>
              <a:spLocks noChangeArrowheads="1"/>
            </p:cNvSpPr>
            <p:nvPr/>
          </p:nvSpPr>
          <p:spPr bwMode="auto">
            <a:xfrm>
              <a:off x="4817" y="1372"/>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2" name="Rectangle 53"/>
            <p:cNvSpPr>
              <a:spLocks noChangeArrowheads="1"/>
            </p:cNvSpPr>
            <p:nvPr/>
          </p:nvSpPr>
          <p:spPr bwMode="auto">
            <a:xfrm>
              <a:off x="4992" y="1520"/>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3" name="Rectangle 54"/>
            <p:cNvSpPr>
              <a:spLocks noChangeArrowheads="1"/>
            </p:cNvSpPr>
            <p:nvPr/>
          </p:nvSpPr>
          <p:spPr bwMode="auto">
            <a:xfrm>
              <a:off x="5170" y="1497"/>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4" name="Line 55"/>
            <p:cNvSpPr>
              <a:spLocks noChangeShapeType="1"/>
            </p:cNvSpPr>
            <p:nvPr/>
          </p:nvSpPr>
          <p:spPr bwMode="auto">
            <a:xfrm>
              <a:off x="3277" y="1429"/>
              <a:ext cx="155" cy="14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5" name="Line 56"/>
            <p:cNvSpPr>
              <a:spLocks noChangeShapeType="1"/>
            </p:cNvSpPr>
            <p:nvPr/>
          </p:nvSpPr>
          <p:spPr bwMode="auto">
            <a:xfrm flipV="1">
              <a:off x="3438" y="1490"/>
              <a:ext cx="154" cy="8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6" name="Line 57"/>
            <p:cNvSpPr>
              <a:spLocks noChangeShapeType="1"/>
            </p:cNvSpPr>
            <p:nvPr/>
          </p:nvSpPr>
          <p:spPr bwMode="auto">
            <a:xfrm flipV="1">
              <a:off x="3587" y="1462"/>
              <a:ext cx="172" cy="2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7" name="Line 58"/>
            <p:cNvSpPr>
              <a:spLocks noChangeShapeType="1"/>
            </p:cNvSpPr>
            <p:nvPr/>
          </p:nvSpPr>
          <p:spPr bwMode="auto">
            <a:xfrm>
              <a:off x="3764" y="1455"/>
              <a:ext cx="165" cy="16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8" name="Line 59"/>
            <p:cNvSpPr>
              <a:spLocks noChangeShapeType="1"/>
            </p:cNvSpPr>
            <p:nvPr/>
          </p:nvSpPr>
          <p:spPr bwMode="auto">
            <a:xfrm flipV="1">
              <a:off x="3929" y="1481"/>
              <a:ext cx="158" cy="14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9" name="Line 60"/>
            <p:cNvSpPr>
              <a:spLocks noChangeShapeType="1"/>
            </p:cNvSpPr>
            <p:nvPr/>
          </p:nvSpPr>
          <p:spPr bwMode="auto">
            <a:xfrm>
              <a:off x="4087" y="1492"/>
              <a:ext cx="170" cy="86"/>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0" name="Line 61"/>
            <p:cNvSpPr>
              <a:spLocks noChangeShapeType="1"/>
            </p:cNvSpPr>
            <p:nvPr/>
          </p:nvSpPr>
          <p:spPr bwMode="auto">
            <a:xfrm flipV="1">
              <a:off x="4257" y="1438"/>
              <a:ext cx="167" cy="143"/>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1" name="Line 62"/>
            <p:cNvSpPr>
              <a:spLocks noChangeShapeType="1"/>
            </p:cNvSpPr>
            <p:nvPr/>
          </p:nvSpPr>
          <p:spPr bwMode="auto">
            <a:xfrm flipV="1">
              <a:off x="4384" y="1474"/>
              <a:ext cx="0" cy="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2" name="Line 63"/>
            <p:cNvSpPr>
              <a:spLocks noChangeShapeType="1"/>
            </p:cNvSpPr>
            <p:nvPr/>
          </p:nvSpPr>
          <p:spPr bwMode="auto">
            <a:xfrm>
              <a:off x="4418" y="1442"/>
              <a:ext cx="169" cy="181"/>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3" name="Line 64"/>
            <p:cNvSpPr>
              <a:spLocks noChangeShapeType="1"/>
            </p:cNvSpPr>
            <p:nvPr/>
          </p:nvSpPr>
          <p:spPr bwMode="auto">
            <a:xfrm flipV="1">
              <a:off x="4587" y="1465"/>
              <a:ext cx="169" cy="15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4" name="Line 65"/>
            <p:cNvSpPr>
              <a:spLocks noChangeShapeType="1"/>
            </p:cNvSpPr>
            <p:nvPr/>
          </p:nvSpPr>
          <p:spPr bwMode="auto">
            <a:xfrm>
              <a:off x="4750" y="1468"/>
              <a:ext cx="161" cy="2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5" name="Line 66"/>
            <p:cNvSpPr>
              <a:spLocks noChangeShapeType="1"/>
            </p:cNvSpPr>
            <p:nvPr/>
          </p:nvSpPr>
          <p:spPr bwMode="auto">
            <a:xfrm>
              <a:off x="4911" y="1492"/>
              <a:ext cx="175" cy="15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6" name="Line 67"/>
            <p:cNvSpPr>
              <a:spLocks noChangeShapeType="1"/>
            </p:cNvSpPr>
            <p:nvPr/>
          </p:nvSpPr>
          <p:spPr bwMode="auto">
            <a:xfrm flipV="1">
              <a:off x="5088" y="1611"/>
              <a:ext cx="162" cy="33"/>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7" name="Line 68"/>
            <p:cNvSpPr>
              <a:spLocks noChangeShapeType="1"/>
            </p:cNvSpPr>
            <p:nvPr/>
          </p:nvSpPr>
          <p:spPr bwMode="auto">
            <a:xfrm flipV="1">
              <a:off x="5252" y="1481"/>
              <a:ext cx="123" cy="127"/>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8" name="Line 69"/>
            <p:cNvSpPr>
              <a:spLocks noChangeShapeType="1"/>
            </p:cNvSpPr>
            <p:nvPr/>
          </p:nvSpPr>
          <p:spPr bwMode="auto">
            <a:xfrm>
              <a:off x="3301" y="1362"/>
              <a:ext cx="2074" cy="8"/>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121" name="Text Box 55"/>
          <p:cNvSpPr txBox="1">
            <a:spLocks noChangeArrowheads="1"/>
          </p:cNvSpPr>
          <p:nvPr/>
        </p:nvSpPr>
        <p:spPr bwMode="auto">
          <a:xfrm>
            <a:off x="650337" y="1052729"/>
            <a:ext cx="75262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Mass production stage process ability investigation</a:t>
            </a:r>
          </a:p>
        </p:txBody>
      </p:sp>
      <p:sp>
        <p:nvSpPr>
          <p:cNvPr id="122" name="Rectangle 4"/>
          <p:cNvSpPr>
            <a:spLocks noChangeArrowheads="1"/>
          </p:cNvSpPr>
          <p:nvPr/>
        </p:nvSpPr>
        <p:spPr bwMode="auto">
          <a:xfrm>
            <a:off x="6236331" y="2988967"/>
            <a:ext cx="2075767" cy="1175840"/>
          </a:xfrm>
          <a:prstGeom prst="rect">
            <a:avLst/>
          </a:prstGeom>
          <a:solidFill>
            <a:schemeClr val="bg1">
              <a:lumMod val="75000"/>
              <a:alpha val="14117"/>
            </a:schemeClr>
          </a:solidFill>
          <a:ln w="12700" algn="ctr">
            <a:solidFill>
              <a:schemeClr val="bg2"/>
            </a:solidFill>
            <a:miter lim="800000"/>
            <a:headEnd/>
            <a:tailEnd/>
          </a:ln>
          <a:effectLst>
            <a:outerShdw blurRad="50800" dist="38100" dir="2700000" algn="tl" rotWithShape="0">
              <a:prstClr val="black">
                <a:alpha val="40000"/>
              </a:prstClr>
            </a:outerShdw>
          </a:effec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latinLnBrk="0">
              <a:spcBef>
                <a:spcPct val="0"/>
              </a:spcBef>
              <a:buNone/>
            </a:pPr>
            <a:r>
              <a:rPr kumimoji="0" lang="en-US" altLang="ko-KR" sz="2000" b="1" dirty="0" err="1">
                <a:latin typeface="Arial" charset="0"/>
              </a:rPr>
              <a:t>Cpk</a:t>
            </a:r>
            <a:r>
              <a:rPr kumimoji="0" lang="en-US" altLang="ko-KR" sz="2000" b="1" dirty="0">
                <a:latin typeface="Arial" charset="0"/>
              </a:rPr>
              <a:t>≥ 1.67</a:t>
            </a:r>
          </a:p>
        </p:txBody>
      </p:sp>
      <p:sp>
        <p:nvSpPr>
          <p:cNvPr id="123" name="Text Box 5"/>
          <p:cNvSpPr txBox="1">
            <a:spLocks noChangeArrowheads="1"/>
          </p:cNvSpPr>
          <p:nvPr/>
        </p:nvSpPr>
        <p:spPr bwMode="auto">
          <a:xfrm>
            <a:off x="5824913" y="2621482"/>
            <a:ext cx="3108736" cy="338554"/>
          </a:xfrm>
          <a:prstGeom prst="rect">
            <a:avLst/>
          </a:prstGeom>
          <a:solidFill>
            <a:schemeClr val="bg1">
              <a:lumMod val="75000"/>
            </a:schemeClr>
          </a:solidFill>
          <a:ln w="12700" algn="ctr">
            <a:noFill/>
            <a:miter lim="800000"/>
            <a:headEnd/>
            <a:tailEnd/>
          </a:ln>
          <a:effectLst>
            <a:outerShdw blurRad="50800" dist="38100" dir="2700000" algn="tl" rotWithShape="0">
              <a:prstClr val="black">
                <a:alpha val="40000"/>
              </a:prstClr>
            </a:outerShdw>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600" dirty="0">
                <a:latin typeface="+mn-lt"/>
              </a:rPr>
              <a:t>Criteria(Mass production stage)</a:t>
            </a:r>
            <a:endParaRPr kumimoji="0" lang="ko-KR" altLang="en-US" sz="1600" dirty="0">
              <a:latin typeface="+mn-lt"/>
            </a:endParaRPr>
          </a:p>
        </p:txBody>
      </p:sp>
      <p:sp>
        <p:nvSpPr>
          <p:cNvPr id="124" name="오른쪽 화살표 123"/>
          <p:cNvSpPr/>
          <p:nvPr/>
        </p:nvSpPr>
        <p:spPr bwMode="auto">
          <a:xfrm rot="5400000">
            <a:off x="2414042" y="3911122"/>
            <a:ext cx="286424" cy="485345"/>
          </a:xfrm>
          <a:prstGeom prst="rightArrow">
            <a:avLst/>
          </a:prstGeom>
          <a:solidFill>
            <a:schemeClr val="tx1"/>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125" name="Text Box 51"/>
          <p:cNvSpPr txBox="1">
            <a:spLocks noChangeArrowheads="1"/>
          </p:cNvSpPr>
          <p:nvPr/>
        </p:nvSpPr>
        <p:spPr bwMode="auto">
          <a:xfrm>
            <a:off x="2138713" y="4264566"/>
            <a:ext cx="1196441" cy="29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en-US" altLang="ko-KR" b="1" baseline="0" dirty="0">
                <a:solidFill>
                  <a:srgbClr val="000000"/>
                </a:solidFill>
              </a:rPr>
              <a:t>Reflect bias</a:t>
            </a:r>
          </a:p>
        </p:txBody>
      </p:sp>
      <p:graphicFrame>
        <p:nvGraphicFramePr>
          <p:cNvPr id="127" name="Object 136"/>
          <p:cNvGraphicFramePr>
            <a:graphicFrameLocks noChangeAspect="1"/>
          </p:cNvGraphicFramePr>
          <p:nvPr>
            <p:extLst>
              <p:ext uri="{D42A27DB-BD31-4B8C-83A1-F6EECF244321}">
                <p14:modId xmlns:p14="http://schemas.microsoft.com/office/powerpoint/2010/main" val="2696086617"/>
              </p:ext>
            </p:extLst>
          </p:nvPr>
        </p:nvGraphicFramePr>
        <p:xfrm>
          <a:off x="4469103" y="4553067"/>
          <a:ext cx="2096965" cy="361950"/>
        </p:xfrm>
        <a:graphic>
          <a:graphicData uri="http://schemas.openxmlformats.org/presentationml/2006/ole">
            <mc:AlternateContent xmlns:mc="http://schemas.openxmlformats.org/markup-compatibility/2006">
              <mc:Choice xmlns:v="urn:schemas-microsoft-com:vml" Requires="v">
                <p:oleObj name="수식" r:id="rId3" imgW="1447560" imgH="241200" progId="Equation.3">
                  <p:embed/>
                </p:oleObj>
              </mc:Choice>
              <mc:Fallback>
                <p:oleObj name="수식" r:id="rId3" imgW="1447560" imgH="241200" progId="Equation.3">
                  <p:embed/>
                  <p:pic>
                    <p:nvPicPr>
                      <p:cNvPr id="127" name="Object 13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69103" y="4553067"/>
                        <a:ext cx="2096965" cy="361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8" name="Object 136"/>
          <p:cNvGraphicFramePr>
            <a:graphicFrameLocks noChangeAspect="1"/>
          </p:cNvGraphicFramePr>
          <p:nvPr>
            <p:extLst>
              <p:ext uri="{D42A27DB-BD31-4B8C-83A1-F6EECF244321}">
                <p14:modId xmlns:p14="http://schemas.microsoft.com/office/powerpoint/2010/main" val="2770679799"/>
              </p:ext>
            </p:extLst>
          </p:nvPr>
        </p:nvGraphicFramePr>
        <p:xfrm>
          <a:off x="4703473" y="4979435"/>
          <a:ext cx="3524318" cy="651625"/>
        </p:xfrm>
        <a:graphic>
          <a:graphicData uri="http://schemas.openxmlformats.org/presentationml/2006/ole">
            <mc:AlternateContent xmlns:mc="http://schemas.openxmlformats.org/markup-compatibility/2006">
              <mc:Choice xmlns:v="urn:schemas-microsoft-com:vml" Requires="v">
                <p:oleObj name="수식" r:id="rId5" imgW="2857320" imgH="507960" progId="Equation.3">
                  <p:embed/>
                </p:oleObj>
              </mc:Choice>
              <mc:Fallback>
                <p:oleObj name="수식" r:id="rId5" imgW="2857320" imgH="507960" progId="Equation.3">
                  <p:embed/>
                  <p:pic>
                    <p:nvPicPr>
                      <p:cNvPr id="128" name="Object 1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03473" y="4979435"/>
                        <a:ext cx="3524318" cy="651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9"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205</a:t>
            </a:fld>
            <a:endParaRPr lang="ko-KR" altLang="en-US" sz="1200" dirty="0"/>
          </a:p>
        </p:txBody>
      </p:sp>
      <p:sp>
        <p:nvSpPr>
          <p:cNvPr id="126" name="TextBox 125"/>
          <p:cNvSpPr txBox="1"/>
          <p:nvPr/>
        </p:nvSpPr>
        <p:spPr>
          <a:xfrm>
            <a:off x="2468119" y="3318151"/>
            <a:ext cx="51167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30" name="TextBox 129"/>
          <p:cNvSpPr txBox="1"/>
          <p:nvPr/>
        </p:nvSpPr>
        <p:spPr>
          <a:xfrm>
            <a:off x="4062307" y="3862499"/>
            <a:ext cx="51167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31" name="TextBox 130"/>
          <p:cNvSpPr txBox="1"/>
          <p:nvPr/>
        </p:nvSpPr>
        <p:spPr>
          <a:xfrm>
            <a:off x="4837876" y="3861042"/>
            <a:ext cx="51167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32" name="Text Box 39"/>
          <p:cNvSpPr txBox="1">
            <a:spLocks noChangeArrowheads="1"/>
          </p:cNvSpPr>
          <p:nvPr/>
        </p:nvSpPr>
        <p:spPr bwMode="auto">
          <a:xfrm>
            <a:off x="251520" y="620688"/>
            <a:ext cx="433695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index</a:t>
            </a:r>
            <a:r>
              <a:rPr lang="ko-KR" altLang="en-US" sz="2000" b="1" dirty="0">
                <a:latin typeface="맑은 고딕" pitchFamily="50" charset="-127"/>
                <a:ea typeface="맑은 고딕" pitchFamily="50" charset="-127"/>
              </a:rPr>
              <a:t> </a:t>
            </a:r>
            <a:r>
              <a:rPr lang="en-US" altLang="ko-KR" sz="2000" b="1" dirty="0">
                <a:latin typeface="맑은 고딕" pitchFamily="50" charset="-127"/>
                <a:ea typeface="맑은 고딕" pitchFamily="50" charset="-127"/>
              </a:rPr>
              <a:t>(</a:t>
            </a:r>
            <a:r>
              <a:rPr lang="en-US" altLang="ko-KR" sz="2000" b="1" dirty="0" err="1">
                <a:latin typeface="맑은 고딕" pitchFamily="50" charset="-127"/>
                <a:ea typeface="맑은 고딕" pitchFamily="50" charset="-127"/>
              </a:rPr>
              <a:t>Cp</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Cpk</a:t>
            </a:r>
            <a:r>
              <a:rPr lang="en-US" altLang="ko-KR" sz="2000" b="1" dirty="0">
                <a:latin typeface="맑은 고딕" pitchFamily="50" charset="-127"/>
                <a:ea typeface="맑은 고딕" pitchFamily="50" charset="-127"/>
              </a:rPr>
              <a:t>)</a:t>
            </a:r>
          </a:p>
        </p:txBody>
      </p:sp>
      <p:sp>
        <p:nvSpPr>
          <p:cNvPr id="133"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895365500"/>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직사각형 98"/>
          <p:cNvSpPr/>
          <p:nvPr/>
        </p:nvSpPr>
        <p:spPr bwMode="auto">
          <a:xfrm>
            <a:off x="846872" y="2054435"/>
            <a:ext cx="7626159" cy="3096344"/>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5060" name="Rectangle 50"/>
          <p:cNvSpPr>
            <a:spLocks noChangeArrowheads="1"/>
          </p:cNvSpPr>
          <p:nvPr/>
        </p:nvSpPr>
        <p:spPr bwMode="auto">
          <a:xfrm>
            <a:off x="1091333" y="2414494"/>
            <a:ext cx="4544170" cy="1401763"/>
          </a:xfrm>
          <a:prstGeom prst="rect">
            <a:avLst/>
          </a:prstGeom>
          <a:solidFill>
            <a:srgbClr val="92D050"/>
          </a:solidFill>
          <a:ln w="9525">
            <a:solidFill>
              <a:schemeClr val="bg2"/>
            </a:solid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45065" name="Rectangle 2"/>
          <p:cNvSpPr>
            <a:spLocks noChangeArrowheads="1"/>
          </p:cNvSpPr>
          <p:nvPr/>
        </p:nvSpPr>
        <p:spPr bwMode="auto">
          <a:xfrm>
            <a:off x="1320322" y="1259137"/>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grpSp>
        <p:nvGrpSpPr>
          <p:cNvPr id="5" name="Group 55"/>
          <p:cNvGrpSpPr>
            <a:grpSpLocks/>
          </p:cNvGrpSpPr>
          <p:nvPr/>
        </p:nvGrpSpPr>
        <p:grpSpPr bwMode="auto">
          <a:xfrm>
            <a:off x="1554396" y="2465291"/>
            <a:ext cx="3760426" cy="1196929"/>
            <a:chOff x="857" y="2529"/>
            <a:chExt cx="2816" cy="827"/>
          </a:xfrm>
        </p:grpSpPr>
        <p:sp>
          <p:nvSpPr>
            <p:cNvPr id="45072" name="Line 56"/>
            <p:cNvSpPr>
              <a:spLocks noChangeShapeType="1"/>
            </p:cNvSpPr>
            <p:nvPr/>
          </p:nvSpPr>
          <p:spPr bwMode="auto">
            <a:xfrm>
              <a:off x="1200" y="2753"/>
              <a:ext cx="813" cy="1"/>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45073" name="Rectangle 57"/>
            <p:cNvSpPr>
              <a:spLocks noChangeArrowheads="1"/>
            </p:cNvSpPr>
            <p:nvPr/>
          </p:nvSpPr>
          <p:spPr bwMode="auto">
            <a:xfrm>
              <a:off x="1599" y="2758"/>
              <a:ext cx="11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45074" name="Rectangle 58"/>
            <p:cNvSpPr>
              <a:spLocks noChangeArrowheads="1"/>
            </p:cNvSpPr>
            <p:nvPr/>
          </p:nvSpPr>
          <p:spPr bwMode="auto">
            <a:xfrm>
              <a:off x="1573" y="2529"/>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75" name="Rectangle 59"/>
            <p:cNvSpPr>
              <a:spLocks noChangeArrowheads="1"/>
            </p:cNvSpPr>
            <p:nvPr/>
          </p:nvSpPr>
          <p:spPr bwMode="auto">
            <a:xfrm>
              <a:off x="1061" y="2631"/>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76" name="Rectangle 60"/>
            <p:cNvSpPr>
              <a:spLocks noChangeArrowheads="1"/>
            </p:cNvSpPr>
            <p:nvPr/>
          </p:nvSpPr>
          <p:spPr bwMode="auto">
            <a:xfrm>
              <a:off x="1512" y="2777"/>
              <a:ext cx="9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45077" name="Rectangle 61"/>
            <p:cNvSpPr>
              <a:spLocks noChangeArrowheads="1"/>
            </p:cNvSpPr>
            <p:nvPr/>
          </p:nvSpPr>
          <p:spPr bwMode="auto">
            <a:xfrm>
              <a:off x="1697" y="2547"/>
              <a:ext cx="32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45078" name="Rectangle 62"/>
            <p:cNvSpPr>
              <a:spLocks noChangeArrowheads="1"/>
            </p:cNvSpPr>
            <p:nvPr/>
          </p:nvSpPr>
          <p:spPr bwMode="auto">
            <a:xfrm>
              <a:off x="1213" y="2547"/>
              <a:ext cx="34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45079" name="Rectangle 63"/>
            <p:cNvSpPr>
              <a:spLocks noChangeArrowheads="1"/>
            </p:cNvSpPr>
            <p:nvPr/>
          </p:nvSpPr>
          <p:spPr bwMode="auto">
            <a:xfrm>
              <a:off x="859" y="2650"/>
              <a:ext cx="10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080" name="Rectangle 64"/>
            <p:cNvSpPr>
              <a:spLocks noChangeArrowheads="1"/>
            </p:cNvSpPr>
            <p:nvPr/>
          </p:nvSpPr>
          <p:spPr bwMode="auto">
            <a:xfrm>
              <a:off x="945" y="2749"/>
              <a:ext cx="5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081" name="Rectangle 65"/>
            <p:cNvSpPr>
              <a:spLocks noChangeArrowheads="1"/>
            </p:cNvSpPr>
            <p:nvPr/>
          </p:nvSpPr>
          <p:spPr bwMode="auto">
            <a:xfrm>
              <a:off x="1442" y="2977"/>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82" name="Rectangle 66"/>
            <p:cNvSpPr>
              <a:spLocks noChangeArrowheads="1"/>
            </p:cNvSpPr>
            <p:nvPr/>
          </p:nvSpPr>
          <p:spPr bwMode="auto">
            <a:xfrm>
              <a:off x="1972" y="2977"/>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83" name="Line 67"/>
            <p:cNvSpPr>
              <a:spLocks noChangeShapeType="1"/>
            </p:cNvSpPr>
            <p:nvPr/>
          </p:nvSpPr>
          <p:spPr bwMode="auto">
            <a:xfrm>
              <a:off x="2511" y="3144"/>
              <a:ext cx="536"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45084" name="Line 68"/>
            <p:cNvSpPr>
              <a:spLocks noChangeShapeType="1"/>
            </p:cNvSpPr>
            <p:nvPr/>
          </p:nvSpPr>
          <p:spPr bwMode="auto">
            <a:xfrm>
              <a:off x="3131" y="3144"/>
              <a:ext cx="517"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45085" name="Rectangle 69"/>
            <p:cNvSpPr>
              <a:spLocks noChangeArrowheads="1"/>
            </p:cNvSpPr>
            <p:nvPr/>
          </p:nvSpPr>
          <p:spPr bwMode="auto">
            <a:xfrm>
              <a:off x="3311" y="3148"/>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45086" name="Rectangle 70"/>
            <p:cNvSpPr>
              <a:spLocks noChangeArrowheads="1"/>
            </p:cNvSpPr>
            <p:nvPr/>
          </p:nvSpPr>
          <p:spPr bwMode="auto">
            <a:xfrm>
              <a:off x="3254" y="2929"/>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87" name="Rectangle 71"/>
            <p:cNvSpPr>
              <a:spLocks noChangeArrowheads="1"/>
            </p:cNvSpPr>
            <p:nvPr/>
          </p:nvSpPr>
          <p:spPr bwMode="auto">
            <a:xfrm>
              <a:off x="3137" y="2929"/>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45088" name="Rectangle 72"/>
            <p:cNvSpPr>
              <a:spLocks noChangeArrowheads="1"/>
            </p:cNvSpPr>
            <p:nvPr/>
          </p:nvSpPr>
          <p:spPr bwMode="auto">
            <a:xfrm>
              <a:off x="2700" y="3148"/>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45089" name="Rectangle 73"/>
            <p:cNvSpPr>
              <a:spLocks noChangeArrowheads="1"/>
            </p:cNvSpPr>
            <p:nvPr/>
          </p:nvSpPr>
          <p:spPr bwMode="auto">
            <a:xfrm>
              <a:off x="2951" y="2929"/>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45090" name="Rectangle 74"/>
            <p:cNvSpPr>
              <a:spLocks noChangeArrowheads="1"/>
            </p:cNvSpPr>
            <p:nvPr/>
          </p:nvSpPr>
          <p:spPr bwMode="auto">
            <a:xfrm>
              <a:off x="2844" y="2929"/>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91" name="Rectangle 75"/>
            <p:cNvSpPr>
              <a:spLocks noChangeArrowheads="1"/>
            </p:cNvSpPr>
            <p:nvPr/>
          </p:nvSpPr>
          <p:spPr bwMode="auto">
            <a:xfrm>
              <a:off x="2059" y="3028"/>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92" name="Rectangle 76"/>
            <p:cNvSpPr>
              <a:spLocks noChangeArrowheads="1"/>
            </p:cNvSpPr>
            <p:nvPr/>
          </p:nvSpPr>
          <p:spPr bwMode="auto">
            <a:xfrm>
              <a:off x="1080" y="3028"/>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095" name="Rectangle 79"/>
            <p:cNvSpPr>
              <a:spLocks noChangeArrowheads="1"/>
            </p:cNvSpPr>
            <p:nvPr/>
          </p:nvSpPr>
          <p:spPr bwMode="auto">
            <a:xfrm>
              <a:off x="1869" y="3141"/>
              <a:ext cx="7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45096" name="Rectangle 80"/>
            <p:cNvSpPr>
              <a:spLocks noChangeArrowheads="1"/>
            </p:cNvSpPr>
            <p:nvPr/>
          </p:nvSpPr>
          <p:spPr bwMode="auto">
            <a:xfrm>
              <a:off x="1598" y="3141"/>
              <a:ext cx="12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45097" name="Rectangle 81"/>
            <p:cNvSpPr>
              <a:spLocks noChangeArrowheads="1"/>
            </p:cNvSpPr>
            <p:nvPr/>
          </p:nvSpPr>
          <p:spPr bwMode="auto">
            <a:xfrm>
              <a:off x="933" y="3141"/>
              <a:ext cx="96"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45098" name="Rectangle 82"/>
            <p:cNvSpPr>
              <a:spLocks noChangeArrowheads="1"/>
            </p:cNvSpPr>
            <p:nvPr/>
          </p:nvSpPr>
          <p:spPr bwMode="auto">
            <a:xfrm>
              <a:off x="3238" y="3165"/>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45099" name="Rectangle 83"/>
            <p:cNvSpPr>
              <a:spLocks noChangeArrowheads="1"/>
            </p:cNvSpPr>
            <p:nvPr/>
          </p:nvSpPr>
          <p:spPr bwMode="auto">
            <a:xfrm>
              <a:off x="3366" y="2948"/>
              <a:ext cx="30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45100" name="Rectangle 84"/>
            <p:cNvSpPr>
              <a:spLocks noChangeArrowheads="1"/>
            </p:cNvSpPr>
            <p:nvPr/>
          </p:nvSpPr>
          <p:spPr bwMode="auto">
            <a:xfrm>
              <a:off x="3071" y="3044"/>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101" name="Rectangle 85"/>
            <p:cNvSpPr>
              <a:spLocks noChangeArrowheads="1"/>
            </p:cNvSpPr>
            <p:nvPr/>
          </p:nvSpPr>
          <p:spPr bwMode="auto">
            <a:xfrm>
              <a:off x="2629" y="3165"/>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45102" name="Rectangle 86"/>
            <p:cNvSpPr>
              <a:spLocks noChangeArrowheads="1"/>
            </p:cNvSpPr>
            <p:nvPr/>
          </p:nvSpPr>
          <p:spPr bwMode="auto">
            <a:xfrm>
              <a:off x="2523" y="2948"/>
              <a:ext cx="32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45103" name="Rectangle 87"/>
            <p:cNvSpPr>
              <a:spLocks noChangeArrowheads="1"/>
            </p:cNvSpPr>
            <p:nvPr/>
          </p:nvSpPr>
          <p:spPr bwMode="auto">
            <a:xfrm>
              <a:off x="2181" y="3044"/>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45104" name="Rectangle 88"/>
            <p:cNvSpPr>
              <a:spLocks noChangeArrowheads="1"/>
            </p:cNvSpPr>
            <p:nvPr/>
          </p:nvSpPr>
          <p:spPr bwMode="auto">
            <a:xfrm>
              <a:off x="1793" y="3044"/>
              <a:ext cx="9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105" name="Rectangle 89"/>
            <p:cNvSpPr>
              <a:spLocks noChangeArrowheads="1"/>
            </p:cNvSpPr>
            <p:nvPr/>
          </p:nvSpPr>
          <p:spPr bwMode="auto">
            <a:xfrm>
              <a:off x="1756" y="3044"/>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45106" name="Rectangle 90"/>
            <p:cNvSpPr>
              <a:spLocks noChangeArrowheads="1"/>
            </p:cNvSpPr>
            <p:nvPr/>
          </p:nvSpPr>
          <p:spPr bwMode="auto">
            <a:xfrm>
              <a:off x="1724" y="3044"/>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5107" name="Rectangle 91"/>
            <p:cNvSpPr>
              <a:spLocks noChangeArrowheads="1"/>
            </p:cNvSpPr>
            <p:nvPr/>
          </p:nvSpPr>
          <p:spPr bwMode="auto">
            <a:xfrm>
              <a:off x="1490" y="3044"/>
              <a:ext cx="13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P</a:t>
              </a:r>
              <a:endParaRPr lang="en-US" altLang="ko-KR" sz="1600" baseline="0" dirty="0">
                <a:solidFill>
                  <a:srgbClr val="000000"/>
                </a:solidFill>
                <a:latin typeface="Times New Roman" pitchFamily="18" charset="0"/>
                <a:ea typeface="굴림" pitchFamily="50" charset="-127"/>
              </a:endParaRPr>
            </a:p>
          </p:txBody>
        </p:sp>
        <p:sp>
          <p:nvSpPr>
            <p:cNvPr id="45108" name="Rectangle 92"/>
            <p:cNvSpPr>
              <a:spLocks noChangeArrowheads="1"/>
            </p:cNvSpPr>
            <p:nvPr/>
          </p:nvSpPr>
          <p:spPr bwMode="auto">
            <a:xfrm>
              <a:off x="1201" y="3044"/>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45109" name="Rectangle 93"/>
            <p:cNvSpPr>
              <a:spLocks noChangeArrowheads="1"/>
            </p:cNvSpPr>
            <p:nvPr/>
          </p:nvSpPr>
          <p:spPr bwMode="auto">
            <a:xfrm>
              <a:off x="857" y="3044"/>
              <a:ext cx="9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5110" name="Rectangle 94"/>
            <p:cNvSpPr>
              <a:spLocks noChangeArrowheads="1"/>
            </p:cNvSpPr>
            <p:nvPr/>
          </p:nvSpPr>
          <p:spPr bwMode="auto">
            <a:xfrm>
              <a:off x="1674" y="2830"/>
              <a:ext cx="138"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grpSp>
      <p:sp>
        <p:nvSpPr>
          <p:cNvPr id="45071" name="AutoShape 96"/>
          <p:cNvSpPr>
            <a:spLocks noChangeArrowheads="1"/>
          </p:cNvSpPr>
          <p:nvPr/>
        </p:nvSpPr>
        <p:spPr bwMode="auto">
          <a:xfrm>
            <a:off x="3646934" y="3089085"/>
            <a:ext cx="1730650" cy="555769"/>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95" name="Text Box 39"/>
          <p:cNvSpPr txBox="1">
            <a:spLocks noChangeArrowheads="1"/>
          </p:cNvSpPr>
          <p:nvPr/>
        </p:nvSpPr>
        <p:spPr bwMode="auto">
          <a:xfrm>
            <a:off x="251520" y="620688"/>
            <a:ext cx="4275851"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Chỉ</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số</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process(Pp, </a:t>
            </a:r>
            <a:r>
              <a:rPr lang="en-US" altLang="ko-KR" sz="2000" b="1" dirty="0" err="1">
                <a:latin typeface="맑은 고딕" pitchFamily="50" charset="-127"/>
                <a:ea typeface="맑은 고딕" pitchFamily="50" charset="-127"/>
              </a:rPr>
              <a:t>Ppk</a:t>
            </a:r>
            <a:r>
              <a:rPr lang="en-US" altLang="ko-KR" sz="2000" b="1" dirty="0">
                <a:latin typeface="맑은 고딕" pitchFamily="50" charset="-127"/>
                <a:ea typeface="맑은 고딕" pitchFamily="50" charset="-127"/>
              </a:rPr>
              <a:t>)</a:t>
            </a:r>
          </a:p>
        </p:txBody>
      </p:sp>
      <p:sp>
        <p:nvSpPr>
          <p:cNvPr id="97" name="Text Box 52"/>
          <p:cNvSpPr txBox="1">
            <a:spLocks noChangeArrowheads="1"/>
          </p:cNvSpPr>
          <p:nvPr/>
        </p:nvSpPr>
        <p:spPr bwMode="auto">
          <a:xfrm>
            <a:off x="450927" y="1375032"/>
            <a:ext cx="8104914" cy="771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ko-KR" altLang="en-US" b="1" baseline="0" dirty="0">
                <a:solidFill>
                  <a:srgbClr val="000000"/>
                </a:solidFill>
              </a:rPr>
              <a:t>  </a:t>
            </a:r>
            <a:r>
              <a:rPr lang="en-US" altLang="ko-KR" b="1" baseline="0" dirty="0">
                <a:solidFill>
                  <a:srgbClr val="000000"/>
                </a:solidFill>
              </a:rPr>
              <a:t>- </a:t>
            </a:r>
            <a:r>
              <a:rPr lang="en-US" altLang="ko-KR" b="1" baseline="0" dirty="0" err="1">
                <a:solidFill>
                  <a:srgbClr val="000000"/>
                </a:solidFill>
              </a:rPr>
              <a:t>Không</a:t>
            </a:r>
            <a:r>
              <a:rPr lang="en-US" altLang="ko-KR" b="1" baseline="0" dirty="0">
                <a:solidFill>
                  <a:srgbClr val="000000"/>
                </a:solidFill>
              </a:rPr>
              <a:t> </a:t>
            </a:r>
            <a:r>
              <a:rPr lang="en-US" altLang="ko-KR" b="1" baseline="0" dirty="0" err="1">
                <a:solidFill>
                  <a:srgbClr val="000000"/>
                </a:solidFill>
              </a:rPr>
              <a:t>thể</a:t>
            </a:r>
            <a:r>
              <a:rPr lang="en-US" altLang="ko-KR" b="1" baseline="0" dirty="0">
                <a:solidFill>
                  <a:srgbClr val="000000"/>
                </a:solidFill>
              </a:rPr>
              <a:t> </a:t>
            </a:r>
            <a:r>
              <a:rPr lang="en-US" altLang="ko-KR" b="1" baseline="0" dirty="0" err="1">
                <a:solidFill>
                  <a:srgbClr val="000000"/>
                </a:solidFill>
              </a:rPr>
              <a:t>chắc</a:t>
            </a:r>
            <a:r>
              <a:rPr lang="en-US" altLang="ko-KR" b="1" baseline="0" dirty="0">
                <a:solidFill>
                  <a:srgbClr val="000000"/>
                </a:solidFill>
              </a:rPr>
              <a:t> </a:t>
            </a:r>
            <a:r>
              <a:rPr lang="en-US" altLang="ko-KR" b="1" baseline="0" dirty="0" err="1">
                <a:solidFill>
                  <a:srgbClr val="000000"/>
                </a:solidFill>
              </a:rPr>
              <a:t>chắn</a:t>
            </a:r>
            <a:r>
              <a:rPr lang="en-US" altLang="ko-KR" b="1" baseline="0" dirty="0">
                <a:solidFill>
                  <a:srgbClr val="000000"/>
                </a:solidFill>
              </a:rPr>
              <a:t> </a:t>
            </a:r>
            <a:r>
              <a:rPr lang="en-US" altLang="ko-KR" b="1" baseline="0" dirty="0" err="1">
                <a:solidFill>
                  <a:srgbClr val="000000"/>
                </a:solidFill>
              </a:rPr>
              <a:t>về</a:t>
            </a:r>
            <a:r>
              <a:rPr lang="en-US" altLang="ko-KR" b="1" baseline="0" dirty="0">
                <a:solidFill>
                  <a:srgbClr val="000000"/>
                </a:solidFill>
              </a:rPr>
              <a:t> </a:t>
            </a:r>
            <a:r>
              <a:rPr lang="en-US" altLang="ko-KR" b="1" baseline="0" dirty="0" err="1">
                <a:solidFill>
                  <a:srgbClr val="000000"/>
                </a:solidFill>
              </a:rPr>
              <a:t>trạng</a:t>
            </a:r>
            <a:r>
              <a:rPr lang="en-US" altLang="ko-KR" b="1" baseline="0" dirty="0">
                <a:solidFill>
                  <a:srgbClr val="000000"/>
                </a:solidFill>
              </a:rPr>
              <a:t> </a:t>
            </a:r>
            <a:r>
              <a:rPr lang="en-US" altLang="ko-KR" b="1" baseline="0" dirty="0" err="1">
                <a:solidFill>
                  <a:srgbClr val="000000"/>
                </a:solidFill>
              </a:rPr>
              <a:t>thái</a:t>
            </a:r>
            <a:r>
              <a:rPr lang="en-US" altLang="ko-KR" b="1" baseline="0" dirty="0">
                <a:solidFill>
                  <a:srgbClr val="000000"/>
                </a:solidFill>
              </a:rPr>
              <a:t> </a:t>
            </a:r>
            <a:r>
              <a:rPr lang="en-US" altLang="ko-KR" b="1" baseline="0" dirty="0" err="1">
                <a:solidFill>
                  <a:srgbClr val="000000"/>
                </a:solidFill>
              </a:rPr>
              <a:t>ổn</a:t>
            </a:r>
            <a:r>
              <a:rPr lang="en-US" altLang="ko-KR" b="1" baseline="0" dirty="0">
                <a:solidFill>
                  <a:srgbClr val="000000"/>
                </a:solidFill>
              </a:rPr>
              <a:t> </a:t>
            </a:r>
            <a:r>
              <a:rPr lang="en-US" altLang="ko-KR" b="1" baseline="0" dirty="0" err="1">
                <a:solidFill>
                  <a:srgbClr val="000000"/>
                </a:solidFill>
              </a:rPr>
              <a:t>định</a:t>
            </a:r>
            <a:r>
              <a:rPr lang="en-US" altLang="ko-KR" b="1" baseline="0" dirty="0">
                <a:solidFill>
                  <a:srgbClr val="000000"/>
                </a:solidFill>
              </a:rPr>
              <a:t> process </a:t>
            </a:r>
            <a:r>
              <a:rPr lang="en-US" altLang="ko-KR" b="1" baseline="0" dirty="0" err="1">
                <a:solidFill>
                  <a:srgbClr val="000000"/>
                </a:solidFill>
              </a:rPr>
              <a:t>từ</a:t>
            </a:r>
            <a:r>
              <a:rPr lang="en-US" altLang="ko-KR" b="1" baseline="0" dirty="0">
                <a:solidFill>
                  <a:srgbClr val="000000"/>
                </a:solidFill>
              </a:rPr>
              <a:t> process </a:t>
            </a:r>
            <a:r>
              <a:rPr lang="en-US" altLang="ko-KR" b="1" baseline="0" dirty="0" err="1">
                <a:solidFill>
                  <a:srgbClr val="000000"/>
                </a:solidFill>
              </a:rPr>
              <a:t>của</a:t>
            </a:r>
            <a:r>
              <a:rPr lang="en-US" altLang="ko-KR" b="1" baseline="0" dirty="0">
                <a:solidFill>
                  <a:srgbClr val="000000"/>
                </a:solidFill>
              </a:rPr>
              <a:t> </a:t>
            </a:r>
            <a:r>
              <a:rPr lang="en-US" altLang="ko-KR" b="1" baseline="0" dirty="0" err="1">
                <a:solidFill>
                  <a:srgbClr val="000000"/>
                </a:solidFill>
              </a:rPr>
              <a:t>linh</a:t>
            </a:r>
            <a:r>
              <a:rPr lang="en-US" altLang="ko-KR" b="1" baseline="0" dirty="0">
                <a:solidFill>
                  <a:srgbClr val="000000"/>
                </a:solidFill>
              </a:rPr>
              <a:t> </a:t>
            </a:r>
            <a:r>
              <a:rPr lang="en-US" altLang="ko-KR" b="1" baseline="0" dirty="0" err="1">
                <a:solidFill>
                  <a:srgbClr val="000000"/>
                </a:solidFill>
              </a:rPr>
              <a:t>kiện</a:t>
            </a:r>
            <a:r>
              <a:rPr lang="en-US" altLang="ko-KR" b="1" baseline="0" dirty="0">
                <a:solidFill>
                  <a:srgbClr val="000000"/>
                </a:solidFill>
              </a:rPr>
              <a:t> </a:t>
            </a:r>
            <a:r>
              <a:rPr lang="en-US" altLang="ko-KR" b="1" baseline="0" dirty="0" err="1">
                <a:solidFill>
                  <a:srgbClr val="000000"/>
                </a:solidFill>
              </a:rPr>
              <a:t>mới</a:t>
            </a:r>
            <a:r>
              <a:rPr lang="en-US" altLang="ko-KR" b="1" baseline="0" dirty="0">
                <a:solidFill>
                  <a:srgbClr val="000000"/>
                </a:solidFill>
              </a:rPr>
              <a:t> </a:t>
            </a:r>
            <a:r>
              <a:rPr lang="en-US" altLang="ko-KR" b="1" baseline="0" dirty="0" err="1">
                <a:solidFill>
                  <a:srgbClr val="000000"/>
                </a:solidFill>
              </a:rPr>
              <a:t>trong</a:t>
            </a:r>
            <a:r>
              <a:rPr lang="en-US" altLang="ko-KR" b="1" baseline="0" dirty="0">
                <a:solidFill>
                  <a:srgbClr val="000000"/>
                </a:solidFill>
              </a:rPr>
              <a:t> </a:t>
            </a:r>
            <a:r>
              <a:rPr lang="en-US" altLang="ko-KR" b="1" baseline="0" dirty="0" err="1">
                <a:solidFill>
                  <a:srgbClr val="000000"/>
                </a:solidFill>
              </a:rPr>
              <a:t>giai</a:t>
            </a:r>
            <a:r>
              <a:rPr lang="en-US" altLang="ko-KR" b="1" baseline="0" dirty="0">
                <a:solidFill>
                  <a:srgbClr val="000000"/>
                </a:solidFill>
              </a:rPr>
              <a:t> </a:t>
            </a:r>
            <a:r>
              <a:rPr lang="en-US" altLang="ko-KR" b="1" baseline="0" dirty="0" err="1">
                <a:solidFill>
                  <a:srgbClr val="000000"/>
                </a:solidFill>
              </a:rPr>
              <a:t>đoạn</a:t>
            </a:r>
            <a:r>
              <a:rPr lang="en-US" altLang="ko-KR" b="1" baseline="0" dirty="0">
                <a:solidFill>
                  <a:srgbClr val="000000"/>
                </a:solidFill>
              </a:rPr>
              <a:t>    </a:t>
            </a:r>
          </a:p>
          <a:p>
            <a:pPr eaLnBrk="1" hangingPunct="1">
              <a:spcBef>
                <a:spcPct val="20000"/>
              </a:spcBef>
            </a:pPr>
            <a:r>
              <a:rPr lang="en-US" altLang="ko-KR" b="1" baseline="0" dirty="0">
                <a:solidFill>
                  <a:srgbClr val="000000"/>
                </a:solidFill>
              </a:rPr>
              <a:t>   </a:t>
            </a:r>
            <a:r>
              <a:rPr lang="en-US" altLang="ko-KR" b="1" baseline="0" dirty="0" err="1">
                <a:solidFill>
                  <a:srgbClr val="000000"/>
                </a:solidFill>
              </a:rPr>
              <a:t>phát</a:t>
            </a:r>
            <a:r>
              <a:rPr lang="en-US" altLang="ko-KR" b="1" baseline="0" dirty="0">
                <a:solidFill>
                  <a:srgbClr val="000000"/>
                </a:solidFill>
              </a:rPr>
              <a:t> </a:t>
            </a:r>
            <a:r>
              <a:rPr lang="en-US" altLang="ko-KR" b="1" baseline="0" dirty="0" err="1">
                <a:solidFill>
                  <a:srgbClr val="000000"/>
                </a:solidFill>
              </a:rPr>
              <a:t>triển</a:t>
            </a:r>
            <a:r>
              <a:rPr lang="en-US" altLang="ko-KR" b="1" baseline="0" dirty="0">
                <a:solidFill>
                  <a:srgbClr val="000000"/>
                </a:solidFill>
              </a:rPr>
              <a:t> </a:t>
            </a:r>
            <a:r>
              <a:rPr lang="en-US" altLang="ko-KR" b="1" baseline="0" dirty="0" err="1">
                <a:solidFill>
                  <a:srgbClr val="000000"/>
                </a:solidFill>
              </a:rPr>
              <a:t>trường</a:t>
            </a:r>
            <a:r>
              <a:rPr lang="en-US" altLang="ko-KR" b="1" baseline="0" dirty="0">
                <a:solidFill>
                  <a:srgbClr val="000000"/>
                </a:solidFill>
              </a:rPr>
              <a:t> </a:t>
            </a:r>
            <a:r>
              <a:rPr lang="en-US" altLang="ko-KR" b="1" baseline="0" dirty="0" err="1">
                <a:solidFill>
                  <a:srgbClr val="000000"/>
                </a:solidFill>
              </a:rPr>
              <a:t>hợp</a:t>
            </a:r>
            <a:r>
              <a:rPr lang="en-US" altLang="ko-KR" b="1" baseline="0" dirty="0">
                <a:solidFill>
                  <a:srgbClr val="000000"/>
                </a:solidFill>
              </a:rPr>
              <a:t> </a:t>
            </a:r>
            <a:r>
              <a:rPr lang="en-US" altLang="ko-KR" b="1" baseline="0" dirty="0" err="1">
                <a:solidFill>
                  <a:srgbClr val="000000"/>
                </a:solidFill>
              </a:rPr>
              <a:t>không</a:t>
            </a:r>
            <a:r>
              <a:rPr lang="en-US" altLang="ko-KR" b="1" baseline="0" dirty="0">
                <a:solidFill>
                  <a:srgbClr val="000000"/>
                </a:solidFill>
              </a:rPr>
              <a:t> </a:t>
            </a:r>
            <a:r>
              <a:rPr lang="en-US" altLang="ko-KR" b="1" baseline="0" dirty="0" err="1">
                <a:solidFill>
                  <a:srgbClr val="000000"/>
                </a:solidFill>
              </a:rPr>
              <a:t>thể</a:t>
            </a:r>
            <a:r>
              <a:rPr lang="en-US" altLang="ko-KR" b="1" baseline="0" dirty="0">
                <a:solidFill>
                  <a:srgbClr val="000000"/>
                </a:solidFill>
              </a:rPr>
              <a:t> </a:t>
            </a:r>
            <a:r>
              <a:rPr lang="en-US" altLang="ko-KR" b="1" baseline="0" dirty="0" err="1">
                <a:solidFill>
                  <a:srgbClr val="000000"/>
                </a:solidFill>
              </a:rPr>
              <a:t>phân</a:t>
            </a:r>
            <a:r>
              <a:rPr lang="en-US" altLang="ko-KR" b="1" baseline="0" dirty="0">
                <a:solidFill>
                  <a:srgbClr val="000000"/>
                </a:solidFill>
              </a:rPr>
              <a:t> </a:t>
            </a:r>
            <a:r>
              <a:rPr lang="en-US" altLang="ko-KR" b="1" baseline="0" dirty="0" err="1">
                <a:solidFill>
                  <a:srgbClr val="000000"/>
                </a:solidFill>
              </a:rPr>
              <a:t>biệt</a:t>
            </a:r>
            <a:r>
              <a:rPr lang="en-US" altLang="ko-KR" b="1" baseline="0" dirty="0">
                <a:solidFill>
                  <a:srgbClr val="000000"/>
                </a:solidFill>
              </a:rPr>
              <a:t> </a:t>
            </a:r>
            <a:r>
              <a:rPr lang="en-US" altLang="ko-KR" b="1" baseline="0" dirty="0" err="1">
                <a:solidFill>
                  <a:srgbClr val="000000"/>
                </a:solidFill>
              </a:rPr>
              <a:t>trong</a:t>
            </a:r>
            <a:r>
              <a:rPr lang="en-US" altLang="ko-KR" b="1" baseline="0" dirty="0">
                <a:solidFill>
                  <a:srgbClr val="000000"/>
                </a:solidFill>
              </a:rPr>
              <a:t> </a:t>
            </a:r>
            <a:r>
              <a:rPr lang="en-US" altLang="ko-KR" b="1" baseline="0" dirty="0" err="1">
                <a:solidFill>
                  <a:srgbClr val="000000"/>
                </a:solidFill>
              </a:rPr>
              <a:t>nhóm</a:t>
            </a:r>
            <a:r>
              <a:rPr lang="en-US" altLang="ko-KR" b="1" baseline="0" dirty="0">
                <a:solidFill>
                  <a:srgbClr val="000000"/>
                </a:solidFill>
              </a:rPr>
              <a:t> </a:t>
            </a:r>
            <a:r>
              <a:rPr lang="en-US" altLang="ko-KR" b="1" baseline="0" dirty="0" err="1">
                <a:solidFill>
                  <a:srgbClr val="000000"/>
                </a:solidFill>
              </a:rPr>
              <a:t>và</a:t>
            </a:r>
            <a:r>
              <a:rPr lang="en-US" altLang="ko-KR" b="1" baseline="0" dirty="0">
                <a:solidFill>
                  <a:srgbClr val="000000"/>
                </a:solidFill>
              </a:rPr>
              <a:t> </a:t>
            </a:r>
            <a:r>
              <a:rPr lang="en-US" altLang="ko-KR" b="1" baseline="0" dirty="0" err="1">
                <a:solidFill>
                  <a:srgbClr val="000000"/>
                </a:solidFill>
              </a:rPr>
              <a:t>nhóm</a:t>
            </a:r>
            <a:r>
              <a:rPr lang="en-US" altLang="ko-KR" b="1" baseline="0" dirty="0">
                <a:solidFill>
                  <a:srgbClr val="000000"/>
                </a:solidFill>
              </a:rPr>
              <a:t> </a:t>
            </a:r>
            <a:r>
              <a:rPr lang="en-US" altLang="ko-KR" b="1" baseline="0" dirty="0" err="1">
                <a:solidFill>
                  <a:srgbClr val="000000"/>
                </a:solidFill>
              </a:rPr>
              <a:t>ta</a:t>
            </a:r>
            <a:r>
              <a:rPr lang="en-US" altLang="ko-KR" b="1" baseline="0" dirty="0">
                <a:solidFill>
                  <a:srgbClr val="000000"/>
                </a:solidFill>
              </a:rPr>
              <a:t> </a:t>
            </a:r>
            <a:r>
              <a:rPr lang="en-US" altLang="ko-KR" b="1" baseline="0" dirty="0" err="1">
                <a:solidFill>
                  <a:srgbClr val="000000"/>
                </a:solidFill>
              </a:rPr>
              <a:t>sử</a:t>
            </a:r>
            <a:r>
              <a:rPr lang="en-US" altLang="ko-KR" b="1" baseline="0" dirty="0">
                <a:solidFill>
                  <a:srgbClr val="000000"/>
                </a:solidFill>
              </a:rPr>
              <a:t> </a:t>
            </a:r>
            <a:r>
              <a:rPr lang="en-US" altLang="ko-KR" b="1" baseline="0" dirty="0" err="1">
                <a:solidFill>
                  <a:srgbClr val="000000"/>
                </a:solidFill>
              </a:rPr>
              <a:t>dụng</a:t>
            </a:r>
            <a:r>
              <a:rPr lang="en-US" altLang="ko-KR" b="1" baseline="0" dirty="0">
                <a:solidFill>
                  <a:srgbClr val="000000"/>
                </a:solidFill>
              </a:rPr>
              <a:t> </a:t>
            </a:r>
            <a:r>
              <a:rPr lang="en-US" altLang="ko-KR" b="1" baseline="0" dirty="0" err="1">
                <a:solidFill>
                  <a:srgbClr val="000000"/>
                </a:solidFill>
              </a:rPr>
              <a:t>Pp,Ppk</a:t>
            </a:r>
            <a:endParaRPr lang="en-US" altLang="ko-KR" b="1" baseline="0" dirty="0">
              <a:solidFill>
                <a:srgbClr val="000000"/>
              </a:solidFill>
            </a:endParaRPr>
          </a:p>
        </p:txBody>
      </p:sp>
      <p:graphicFrame>
        <p:nvGraphicFramePr>
          <p:cNvPr id="2" name="개체 1"/>
          <p:cNvGraphicFramePr>
            <a:graphicFrameLocks noChangeAspect="1"/>
          </p:cNvGraphicFramePr>
          <p:nvPr>
            <p:extLst>
              <p:ext uri="{D42A27DB-BD31-4B8C-83A1-F6EECF244321}">
                <p14:modId xmlns:p14="http://schemas.microsoft.com/office/powerpoint/2010/main" val="1209190962"/>
              </p:ext>
            </p:extLst>
          </p:nvPr>
        </p:nvGraphicFramePr>
        <p:xfrm>
          <a:off x="1082168" y="4093132"/>
          <a:ext cx="4683369" cy="819150"/>
        </p:xfrm>
        <a:graphic>
          <a:graphicData uri="http://schemas.openxmlformats.org/presentationml/2006/ole">
            <mc:AlternateContent xmlns:mc="http://schemas.openxmlformats.org/markup-compatibility/2006">
              <mc:Choice xmlns:v="urn:schemas-microsoft-com:vml" Requires="v">
                <p:oleObj name="Equation" r:id="rId3" imgW="2921000" imgH="584200" progId="Equation.3">
                  <p:embed/>
                </p:oleObj>
              </mc:Choice>
              <mc:Fallback>
                <p:oleObj name="Equation" r:id="rId3" imgW="2921000" imgH="584200" progId="Equation.3">
                  <p:embed/>
                  <p:pic>
                    <p:nvPicPr>
                      <p:cNvPr id="2" name="개체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2168" y="4093132"/>
                        <a:ext cx="4683369" cy="819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개체 2"/>
          <p:cNvGraphicFramePr>
            <a:graphicFrameLocks noChangeAspect="1"/>
          </p:cNvGraphicFramePr>
          <p:nvPr>
            <p:extLst>
              <p:ext uri="{D42A27DB-BD31-4B8C-83A1-F6EECF244321}">
                <p14:modId xmlns:p14="http://schemas.microsoft.com/office/powerpoint/2010/main" val="526827901"/>
              </p:ext>
            </p:extLst>
          </p:nvPr>
        </p:nvGraphicFramePr>
        <p:xfrm>
          <a:off x="6323842" y="4205844"/>
          <a:ext cx="1582615" cy="685800"/>
        </p:xfrm>
        <a:graphic>
          <a:graphicData uri="http://schemas.openxmlformats.org/presentationml/2006/ole">
            <mc:AlternateContent xmlns:mc="http://schemas.openxmlformats.org/markup-compatibility/2006">
              <mc:Choice xmlns:v="urn:schemas-microsoft-com:vml" Requires="v">
                <p:oleObj name="Equation" r:id="rId5" imgW="1270000" imgH="508000" progId="Equation.3">
                  <p:embed/>
                </p:oleObj>
              </mc:Choice>
              <mc:Fallback>
                <p:oleObj name="Equation" r:id="rId5" imgW="1270000" imgH="508000" progId="Equation.3">
                  <p:embed/>
                  <p:pic>
                    <p:nvPicPr>
                      <p:cNvPr id="3" name="개체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23842" y="4205844"/>
                        <a:ext cx="1582615" cy="685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6" name="Group 70"/>
          <p:cNvGrpSpPr>
            <a:grpSpLocks/>
          </p:cNvGrpSpPr>
          <p:nvPr/>
        </p:nvGrpSpPr>
        <p:grpSpPr bwMode="auto">
          <a:xfrm>
            <a:off x="1205783" y="5277130"/>
            <a:ext cx="3014371" cy="1248215"/>
            <a:chOff x="2866" y="2877"/>
            <a:chExt cx="2735" cy="1036"/>
          </a:xfrm>
        </p:grpSpPr>
        <p:sp>
          <p:nvSpPr>
            <p:cNvPr id="102" name="Line 71"/>
            <p:cNvSpPr>
              <a:spLocks noChangeShapeType="1"/>
            </p:cNvSpPr>
            <p:nvPr/>
          </p:nvSpPr>
          <p:spPr bwMode="auto">
            <a:xfrm flipV="1">
              <a:off x="2960" y="3155"/>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3" name="Line 72"/>
            <p:cNvSpPr>
              <a:spLocks noChangeShapeType="1"/>
            </p:cNvSpPr>
            <p:nvPr/>
          </p:nvSpPr>
          <p:spPr bwMode="auto">
            <a:xfrm flipV="1">
              <a:off x="2960" y="3184"/>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4" name="Line 73"/>
            <p:cNvSpPr>
              <a:spLocks noChangeShapeType="1"/>
            </p:cNvSpPr>
            <p:nvPr/>
          </p:nvSpPr>
          <p:spPr bwMode="auto">
            <a:xfrm flipV="1">
              <a:off x="2960" y="3216"/>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5" name="Line 74"/>
            <p:cNvSpPr>
              <a:spLocks noChangeShapeType="1"/>
            </p:cNvSpPr>
            <p:nvPr/>
          </p:nvSpPr>
          <p:spPr bwMode="auto">
            <a:xfrm flipV="1">
              <a:off x="2960" y="3244"/>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6" name="Line 75"/>
            <p:cNvSpPr>
              <a:spLocks noChangeShapeType="1"/>
            </p:cNvSpPr>
            <p:nvPr/>
          </p:nvSpPr>
          <p:spPr bwMode="auto">
            <a:xfrm flipV="1">
              <a:off x="2960" y="3276"/>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7" name="Line 76"/>
            <p:cNvSpPr>
              <a:spLocks noChangeShapeType="1"/>
            </p:cNvSpPr>
            <p:nvPr/>
          </p:nvSpPr>
          <p:spPr bwMode="auto">
            <a:xfrm>
              <a:off x="2960" y="3311"/>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8" name="Line 77"/>
            <p:cNvSpPr>
              <a:spLocks noChangeShapeType="1"/>
            </p:cNvSpPr>
            <p:nvPr/>
          </p:nvSpPr>
          <p:spPr bwMode="auto">
            <a:xfrm>
              <a:off x="2960" y="3341"/>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09" name="Line 78"/>
            <p:cNvSpPr>
              <a:spLocks noChangeShapeType="1"/>
            </p:cNvSpPr>
            <p:nvPr/>
          </p:nvSpPr>
          <p:spPr bwMode="auto">
            <a:xfrm flipV="1">
              <a:off x="2960" y="3369"/>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0" name="Line 79"/>
            <p:cNvSpPr>
              <a:spLocks noChangeShapeType="1"/>
            </p:cNvSpPr>
            <p:nvPr/>
          </p:nvSpPr>
          <p:spPr bwMode="auto">
            <a:xfrm>
              <a:off x="2960" y="3402"/>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1" name="Line 80"/>
            <p:cNvSpPr>
              <a:spLocks noChangeShapeType="1"/>
            </p:cNvSpPr>
            <p:nvPr/>
          </p:nvSpPr>
          <p:spPr bwMode="auto">
            <a:xfrm>
              <a:off x="2960" y="3433"/>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2" name="Line 81"/>
            <p:cNvSpPr>
              <a:spLocks noChangeShapeType="1"/>
            </p:cNvSpPr>
            <p:nvPr/>
          </p:nvSpPr>
          <p:spPr bwMode="auto">
            <a:xfrm>
              <a:off x="2960" y="3463"/>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3" name="Line 82"/>
            <p:cNvSpPr>
              <a:spLocks noChangeShapeType="1"/>
            </p:cNvSpPr>
            <p:nvPr/>
          </p:nvSpPr>
          <p:spPr bwMode="auto">
            <a:xfrm flipV="1">
              <a:off x="2960" y="3488"/>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4" name="Line 83"/>
            <p:cNvSpPr>
              <a:spLocks noChangeShapeType="1"/>
            </p:cNvSpPr>
            <p:nvPr/>
          </p:nvSpPr>
          <p:spPr bwMode="auto">
            <a:xfrm flipV="1">
              <a:off x="2960" y="3520"/>
              <a:ext cx="2608" cy="5"/>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5" name="Line 84"/>
            <p:cNvSpPr>
              <a:spLocks noChangeShapeType="1"/>
            </p:cNvSpPr>
            <p:nvPr/>
          </p:nvSpPr>
          <p:spPr bwMode="auto">
            <a:xfrm>
              <a:off x="2960" y="3555"/>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6" name="Line 85"/>
            <p:cNvSpPr>
              <a:spLocks noChangeShapeType="1"/>
            </p:cNvSpPr>
            <p:nvPr/>
          </p:nvSpPr>
          <p:spPr bwMode="auto">
            <a:xfrm>
              <a:off x="2960" y="3585"/>
              <a:ext cx="2608"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7" name="Line 86"/>
            <p:cNvSpPr>
              <a:spLocks noChangeShapeType="1"/>
            </p:cNvSpPr>
            <p:nvPr/>
          </p:nvSpPr>
          <p:spPr bwMode="auto">
            <a:xfrm>
              <a:off x="2960" y="3617"/>
              <a:ext cx="261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8" name="Line 87"/>
            <p:cNvSpPr>
              <a:spLocks noChangeShapeType="1"/>
            </p:cNvSpPr>
            <p:nvPr/>
          </p:nvSpPr>
          <p:spPr bwMode="auto">
            <a:xfrm>
              <a:off x="2960" y="3127"/>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19" name="Line 88"/>
            <p:cNvSpPr>
              <a:spLocks noChangeShapeType="1"/>
            </p:cNvSpPr>
            <p:nvPr/>
          </p:nvSpPr>
          <p:spPr bwMode="auto">
            <a:xfrm>
              <a:off x="2960" y="3098"/>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0" name="Line 89"/>
            <p:cNvSpPr>
              <a:spLocks noChangeShapeType="1"/>
            </p:cNvSpPr>
            <p:nvPr/>
          </p:nvSpPr>
          <p:spPr bwMode="auto">
            <a:xfrm>
              <a:off x="2960" y="3066"/>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1" name="Line 90"/>
            <p:cNvSpPr>
              <a:spLocks noChangeShapeType="1"/>
            </p:cNvSpPr>
            <p:nvPr/>
          </p:nvSpPr>
          <p:spPr bwMode="auto">
            <a:xfrm flipV="1">
              <a:off x="2956" y="3032"/>
              <a:ext cx="2612" cy="1"/>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2" name="Line 91"/>
            <p:cNvSpPr>
              <a:spLocks noChangeShapeType="1"/>
            </p:cNvSpPr>
            <p:nvPr/>
          </p:nvSpPr>
          <p:spPr bwMode="auto">
            <a:xfrm flipV="1">
              <a:off x="2960" y="3641"/>
              <a:ext cx="2611" cy="8"/>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3" name="Line 92"/>
            <p:cNvSpPr>
              <a:spLocks noChangeShapeType="1"/>
            </p:cNvSpPr>
            <p:nvPr/>
          </p:nvSpPr>
          <p:spPr bwMode="auto">
            <a:xfrm>
              <a:off x="2960" y="3005"/>
              <a:ext cx="2608"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4" name="Line 93"/>
            <p:cNvSpPr>
              <a:spLocks noChangeShapeType="1"/>
            </p:cNvSpPr>
            <p:nvPr/>
          </p:nvSpPr>
          <p:spPr bwMode="auto">
            <a:xfrm>
              <a:off x="2960" y="3678"/>
              <a:ext cx="2611"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5" name="Line 94"/>
            <p:cNvSpPr>
              <a:spLocks noChangeShapeType="1"/>
            </p:cNvSpPr>
            <p:nvPr/>
          </p:nvSpPr>
          <p:spPr bwMode="auto">
            <a:xfrm>
              <a:off x="2960" y="3005"/>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6" name="Line 95"/>
            <p:cNvSpPr>
              <a:spLocks noChangeShapeType="1"/>
            </p:cNvSpPr>
            <p:nvPr/>
          </p:nvSpPr>
          <p:spPr bwMode="auto">
            <a:xfrm>
              <a:off x="3168"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7" name="Line 96"/>
            <p:cNvSpPr>
              <a:spLocks noChangeShapeType="1"/>
            </p:cNvSpPr>
            <p:nvPr/>
          </p:nvSpPr>
          <p:spPr bwMode="auto">
            <a:xfrm>
              <a:off x="337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8" name="Line 97"/>
            <p:cNvSpPr>
              <a:spLocks noChangeShapeType="1"/>
            </p:cNvSpPr>
            <p:nvPr/>
          </p:nvSpPr>
          <p:spPr bwMode="auto">
            <a:xfrm>
              <a:off x="3572"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29" name="Line 98"/>
            <p:cNvSpPr>
              <a:spLocks noChangeShapeType="1"/>
            </p:cNvSpPr>
            <p:nvPr/>
          </p:nvSpPr>
          <p:spPr bwMode="auto">
            <a:xfrm>
              <a:off x="3778"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0" name="Line 99"/>
            <p:cNvSpPr>
              <a:spLocks noChangeShapeType="1"/>
            </p:cNvSpPr>
            <p:nvPr/>
          </p:nvSpPr>
          <p:spPr bwMode="auto">
            <a:xfrm>
              <a:off x="3984"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1" name="Line 100"/>
            <p:cNvSpPr>
              <a:spLocks noChangeShapeType="1"/>
            </p:cNvSpPr>
            <p:nvPr/>
          </p:nvSpPr>
          <p:spPr bwMode="auto">
            <a:xfrm>
              <a:off x="419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2" name="Line 101"/>
            <p:cNvSpPr>
              <a:spLocks noChangeShapeType="1"/>
            </p:cNvSpPr>
            <p:nvPr/>
          </p:nvSpPr>
          <p:spPr bwMode="auto">
            <a:xfrm>
              <a:off x="439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3" name="Line 102"/>
            <p:cNvSpPr>
              <a:spLocks noChangeShapeType="1"/>
            </p:cNvSpPr>
            <p:nvPr/>
          </p:nvSpPr>
          <p:spPr bwMode="auto">
            <a:xfrm>
              <a:off x="4598"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4" name="Line 103"/>
            <p:cNvSpPr>
              <a:spLocks noChangeShapeType="1"/>
            </p:cNvSpPr>
            <p:nvPr/>
          </p:nvSpPr>
          <p:spPr bwMode="auto">
            <a:xfrm>
              <a:off x="4800" y="3005"/>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5" name="Line 104"/>
            <p:cNvSpPr>
              <a:spLocks noChangeShapeType="1"/>
            </p:cNvSpPr>
            <p:nvPr/>
          </p:nvSpPr>
          <p:spPr bwMode="auto">
            <a:xfrm>
              <a:off x="5003"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6" name="Line 105"/>
            <p:cNvSpPr>
              <a:spLocks noChangeShapeType="1"/>
            </p:cNvSpPr>
            <p:nvPr/>
          </p:nvSpPr>
          <p:spPr bwMode="auto">
            <a:xfrm>
              <a:off x="5210"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7" name="Line 106"/>
            <p:cNvSpPr>
              <a:spLocks noChangeShapeType="1"/>
            </p:cNvSpPr>
            <p:nvPr/>
          </p:nvSpPr>
          <p:spPr bwMode="auto">
            <a:xfrm>
              <a:off x="5412" y="3004"/>
              <a:ext cx="0" cy="67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8" name="Line 107"/>
            <p:cNvSpPr>
              <a:spLocks noChangeShapeType="1"/>
            </p:cNvSpPr>
            <p:nvPr/>
          </p:nvSpPr>
          <p:spPr bwMode="auto">
            <a:xfrm>
              <a:off x="2961" y="3366"/>
              <a:ext cx="2607" cy="8"/>
            </a:xfrm>
            <a:prstGeom prst="line">
              <a:avLst/>
            </a:prstGeom>
            <a:noFill/>
            <a:ln w="508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39" name="Line 108"/>
            <p:cNvSpPr>
              <a:spLocks noChangeShapeType="1"/>
            </p:cNvSpPr>
            <p:nvPr/>
          </p:nvSpPr>
          <p:spPr bwMode="auto">
            <a:xfrm flipV="1">
              <a:off x="2993" y="3564"/>
              <a:ext cx="2575" cy="3"/>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40" name="Rectangle 109"/>
            <p:cNvSpPr>
              <a:spLocks noChangeArrowheads="1"/>
            </p:cNvSpPr>
            <p:nvPr/>
          </p:nvSpPr>
          <p:spPr bwMode="auto">
            <a:xfrm>
              <a:off x="2866" y="311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1" name="Rectangle 110"/>
            <p:cNvSpPr>
              <a:spLocks noChangeArrowheads="1"/>
            </p:cNvSpPr>
            <p:nvPr/>
          </p:nvSpPr>
          <p:spPr bwMode="auto">
            <a:xfrm>
              <a:off x="3072" y="3504"/>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2" name="Rectangle 111"/>
            <p:cNvSpPr>
              <a:spLocks noChangeArrowheads="1"/>
            </p:cNvSpPr>
            <p:nvPr/>
          </p:nvSpPr>
          <p:spPr bwMode="auto">
            <a:xfrm>
              <a:off x="3272" y="2947"/>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3" name="Rectangle 112"/>
            <p:cNvSpPr>
              <a:spLocks noChangeArrowheads="1"/>
            </p:cNvSpPr>
            <p:nvPr/>
          </p:nvSpPr>
          <p:spPr bwMode="auto">
            <a:xfrm>
              <a:off x="3473" y="3341"/>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4" name="Rectangle 113"/>
            <p:cNvSpPr>
              <a:spLocks noChangeArrowheads="1"/>
            </p:cNvSpPr>
            <p:nvPr/>
          </p:nvSpPr>
          <p:spPr bwMode="auto">
            <a:xfrm>
              <a:off x="3678" y="3191"/>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5" name="Rectangle 114"/>
            <p:cNvSpPr>
              <a:spLocks noChangeArrowheads="1"/>
            </p:cNvSpPr>
            <p:nvPr/>
          </p:nvSpPr>
          <p:spPr bwMode="auto">
            <a:xfrm>
              <a:off x="3880" y="3284"/>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6" name="Rectangle 115"/>
            <p:cNvSpPr>
              <a:spLocks noChangeArrowheads="1"/>
            </p:cNvSpPr>
            <p:nvPr/>
          </p:nvSpPr>
          <p:spPr bwMode="auto">
            <a:xfrm>
              <a:off x="4099" y="329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7" name="Rectangle 116"/>
            <p:cNvSpPr>
              <a:spLocks noChangeArrowheads="1"/>
            </p:cNvSpPr>
            <p:nvPr/>
          </p:nvSpPr>
          <p:spPr bwMode="auto">
            <a:xfrm>
              <a:off x="4501" y="3287"/>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8" name="Rectangle 117"/>
            <p:cNvSpPr>
              <a:spLocks noChangeArrowheads="1"/>
            </p:cNvSpPr>
            <p:nvPr/>
          </p:nvSpPr>
          <p:spPr bwMode="auto">
            <a:xfrm>
              <a:off x="4290" y="2877"/>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49" name="Rectangle 118"/>
            <p:cNvSpPr>
              <a:spLocks noChangeArrowheads="1"/>
            </p:cNvSpPr>
            <p:nvPr/>
          </p:nvSpPr>
          <p:spPr bwMode="auto">
            <a:xfrm>
              <a:off x="4703" y="316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0" name="Rectangle 119"/>
            <p:cNvSpPr>
              <a:spLocks noChangeArrowheads="1"/>
            </p:cNvSpPr>
            <p:nvPr/>
          </p:nvSpPr>
          <p:spPr bwMode="auto">
            <a:xfrm>
              <a:off x="4908" y="3606"/>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1" name="Rectangle 120"/>
            <p:cNvSpPr>
              <a:spLocks noChangeArrowheads="1"/>
            </p:cNvSpPr>
            <p:nvPr/>
          </p:nvSpPr>
          <p:spPr bwMode="auto">
            <a:xfrm>
              <a:off x="5120" y="3242"/>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2" name="Rectangle 121"/>
            <p:cNvSpPr>
              <a:spLocks noChangeArrowheads="1"/>
            </p:cNvSpPr>
            <p:nvPr/>
          </p:nvSpPr>
          <p:spPr bwMode="auto">
            <a:xfrm>
              <a:off x="5316" y="3316"/>
              <a:ext cx="285"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153" name="Line 122"/>
            <p:cNvSpPr>
              <a:spLocks noChangeShapeType="1"/>
            </p:cNvSpPr>
            <p:nvPr/>
          </p:nvSpPr>
          <p:spPr bwMode="auto">
            <a:xfrm>
              <a:off x="2971" y="3237"/>
              <a:ext cx="196" cy="40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4" name="Line 123"/>
            <p:cNvSpPr>
              <a:spLocks noChangeShapeType="1"/>
            </p:cNvSpPr>
            <p:nvPr/>
          </p:nvSpPr>
          <p:spPr bwMode="auto">
            <a:xfrm flipV="1">
              <a:off x="3162" y="3068"/>
              <a:ext cx="211" cy="57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5" name="Line 124"/>
            <p:cNvSpPr>
              <a:spLocks noChangeShapeType="1"/>
            </p:cNvSpPr>
            <p:nvPr/>
          </p:nvSpPr>
          <p:spPr bwMode="auto">
            <a:xfrm>
              <a:off x="3363" y="3064"/>
              <a:ext cx="205" cy="403"/>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6" name="Line 125"/>
            <p:cNvSpPr>
              <a:spLocks noChangeShapeType="1"/>
            </p:cNvSpPr>
            <p:nvPr/>
          </p:nvSpPr>
          <p:spPr bwMode="auto">
            <a:xfrm flipV="1">
              <a:off x="3574" y="3308"/>
              <a:ext cx="207" cy="166"/>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7" name="Line 126"/>
            <p:cNvSpPr>
              <a:spLocks noChangeShapeType="1"/>
            </p:cNvSpPr>
            <p:nvPr/>
          </p:nvSpPr>
          <p:spPr bwMode="auto">
            <a:xfrm>
              <a:off x="3759" y="3311"/>
              <a:ext cx="213" cy="100"/>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8" name="Line 127"/>
            <p:cNvSpPr>
              <a:spLocks noChangeShapeType="1"/>
            </p:cNvSpPr>
            <p:nvPr/>
          </p:nvSpPr>
          <p:spPr bwMode="auto">
            <a:xfrm flipV="1">
              <a:off x="3979" y="3411"/>
              <a:ext cx="205" cy="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59" name="Line 128"/>
            <p:cNvSpPr>
              <a:spLocks noChangeShapeType="1"/>
            </p:cNvSpPr>
            <p:nvPr/>
          </p:nvSpPr>
          <p:spPr bwMode="auto">
            <a:xfrm flipV="1">
              <a:off x="4184" y="2996"/>
              <a:ext cx="211" cy="41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0" name="Line 129"/>
            <p:cNvSpPr>
              <a:spLocks noChangeShapeType="1"/>
            </p:cNvSpPr>
            <p:nvPr/>
          </p:nvSpPr>
          <p:spPr bwMode="auto">
            <a:xfrm>
              <a:off x="4388" y="3004"/>
              <a:ext cx="201" cy="410"/>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1" name="Line 130"/>
            <p:cNvSpPr>
              <a:spLocks noChangeShapeType="1"/>
            </p:cNvSpPr>
            <p:nvPr/>
          </p:nvSpPr>
          <p:spPr bwMode="auto">
            <a:xfrm flipV="1">
              <a:off x="4604" y="3279"/>
              <a:ext cx="198" cy="13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2" name="Line 131"/>
            <p:cNvSpPr>
              <a:spLocks noChangeShapeType="1"/>
            </p:cNvSpPr>
            <p:nvPr/>
          </p:nvSpPr>
          <p:spPr bwMode="auto">
            <a:xfrm>
              <a:off x="4795" y="3283"/>
              <a:ext cx="211" cy="44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3" name="Line 132"/>
            <p:cNvSpPr>
              <a:spLocks noChangeShapeType="1"/>
            </p:cNvSpPr>
            <p:nvPr/>
          </p:nvSpPr>
          <p:spPr bwMode="auto">
            <a:xfrm flipV="1">
              <a:off x="5005" y="3368"/>
              <a:ext cx="208" cy="356"/>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4" name="Line 133"/>
            <p:cNvSpPr>
              <a:spLocks noChangeShapeType="1"/>
            </p:cNvSpPr>
            <p:nvPr/>
          </p:nvSpPr>
          <p:spPr bwMode="auto">
            <a:xfrm>
              <a:off x="5221" y="3368"/>
              <a:ext cx="192" cy="8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5" name="Line 134"/>
            <p:cNvSpPr>
              <a:spLocks noChangeShapeType="1"/>
            </p:cNvSpPr>
            <p:nvPr/>
          </p:nvSpPr>
          <p:spPr bwMode="auto">
            <a:xfrm flipV="1">
              <a:off x="5416" y="3298"/>
              <a:ext cx="152" cy="14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166" name="Line 135"/>
            <p:cNvSpPr>
              <a:spLocks noChangeShapeType="1"/>
            </p:cNvSpPr>
            <p:nvPr/>
          </p:nvSpPr>
          <p:spPr bwMode="auto">
            <a:xfrm>
              <a:off x="3001" y="3159"/>
              <a:ext cx="2567" cy="10"/>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167" name="Text Box 138"/>
          <p:cNvSpPr txBox="1">
            <a:spLocks noChangeArrowheads="1"/>
          </p:cNvSpPr>
          <p:nvPr/>
        </p:nvSpPr>
        <p:spPr bwMode="auto">
          <a:xfrm>
            <a:off x="4804172" y="5508682"/>
            <a:ext cx="4065537" cy="430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2200" dirty="0">
                <a:latin typeface="Arial" charset="0"/>
              </a:rPr>
              <a:t>P</a:t>
            </a:r>
            <a:r>
              <a:rPr kumimoji="0" lang="en-US" altLang="ko-KR" sz="2200" baseline="-25000" dirty="0">
                <a:latin typeface="Arial" charset="0"/>
              </a:rPr>
              <a:t>pk</a:t>
            </a:r>
            <a:r>
              <a:rPr kumimoji="0" lang="en-US" altLang="ko-KR" sz="2200" dirty="0">
                <a:latin typeface="Arial" charset="0"/>
              </a:rPr>
              <a:t> = Data </a:t>
            </a:r>
            <a:r>
              <a:rPr kumimoji="0" lang="en-US" altLang="ko-KR" sz="2200" dirty="0" err="1">
                <a:latin typeface="Arial" charset="0"/>
              </a:rPr>
              <a:t>thu</a:t>
            </a:r>
            <a:r>
              <a:rPr kumimoji="0" lang="en-US" altLang="ko-KR" sz="2200" dirty="0">
                <a:latin typeface="Arial" charset="0"/>
              </a:rPr>
              <a:t> </a:t>
            </a:r>
            <a:r>
              <a:rPr kumimoji="0" lang="en-US" altLang="ko-KR" sz="2200" dirty="0" err="1">
                <a:latin typeface="Arial" charset="0"/>
              </a:rPr>
              <a:t>thập</a:t>
            </a:r>
            <a:r>
              <a:rPr kumimoji="0" lang="en-US" altLang="ko-KR" sz="2200" dirty="0">
                <a:latin typeface="Arial" charset="0"/>
              </a:rPr>
              <a:t> </a:t>
            </a:r>
            <a:r>
              <a:rPr kumimoji="0" lang="en-US" altLang="ko-KR" sz="2200" dirty="0" err="1">
                <a:latin typeface="Arial" charset="0"/>
              </a:rPr>
              <a:t>ngẫu</a:t>
            </a:r>
            <a:r>
              <a:rPr kumimoji="0" lang="en-US" altLang="ko-KR" sz="2200" dirty="0">
                <a:latin typeface="Arial" charset="0"/>
              </a:rPr>
              <a:t> </a:t>
            </a:r>
            <a:r>
              <a:rPr kumimoji="0" lang="en-US" altLang="ko-KR" sz="2200" dirty="0" err="1">
                <a:latin typeface="Arial" charset="0"/>
              </a:rPr>
              <a:t>nhiên</a:t>
            </a:r>
            <a:endParaRPr kumimoji="0" lang="ko-KR" altLang="en-US" sz="2200" dirty="0">
              <a:latin typeface="Times New Roman" pitchFamily="18" charset="0"/>
            </a:endParaRPr>
          </a:p>
        </p:txBody>
      </p:sp>
      <p:sp>
        <p:nvSpPr>
          <p:cNvPr id="168" name="Text Box 55"/>
          <p:cNvSpPr txBox="1">
            <a:spLocks noChangeArrowheads="1"/>
          </p:cNvSpPr>
          <p:nvPr/>
        </p:nvSpPr>
        <p:spPr bwMode="auto">
          <a:xfrm>
            <a:off x="317989" y="1046323"/>
            <a:ext cx="890683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Điều</a:t>
            </a:r>
            <a:r>
              <a:rPr lang="en-US" altLang="ko-KR" sz="1600" b="1" baseline="0" dirty="0">
                <a:solidFill>
                  <a:srgbClr val="000000"/>
                </a:solidFill>
              </a:rPr>
              <a:t> </a:t>
            </a:r>
            <a:r>
              <a:rPr lang="en-US" altLang="ko-KR" sz="1600" b="1" baseline="0" dirty="0" err="1">
                <a:solidFill>
                  <a:srgbClr val="000000"/>
                </a:solidFill>
              </a:rPr>
              <a:t>tra</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 </a:t>
            </a:r>
            <a:r>
              <a:rPr lang="en-US" altLang="ko-KR" sz="1600" b="1" baseline="0" dirty="0" err="1">
                <a:solidFill>
                  <a:srgbClr val="000000"/>
                </a:solidFill>
              </a:rPr>
              <a:t>mới</a:t>
            </a:r>
            <a:r>
              <a:rPr lang="en-US" altLang="ko-KR" sz="1600" b="1" baseline="0" dirty="0">
                <a:solidFill>
                  <a:srgbClr val="000000"/>
                </a:solidFill>
              </a:rPr>
              <a:t> </a:t>
            </a:r>
            <a:r>
              <a:rPr lang="en-US" altLang="ko-KR" sz="1600" b="1" baseline="0" dirty="0" err="1">
                <a:solidFill>
                  <a:srgbClr val="000000"/>
                </a:solidFill>
              </a:rPr>
              <a:t>giai</a:t>
            </a:r>
            <a:r>
              <a:rPr lang="en-US" altLang="ko-KR" sz="1600" b="1" baseline="0" dirty="0">
                <a:solidFill>
                  <a:srgbClr val="000000"/>
                </a:solidFill>
              </a:rPr>
              <a:t> </a:t>
            </a:r>
            <a:r>
              <a:rPr lang="en-US" altLang="ko-KR" sz="1600" b="1" baseline="0" dirty="0" err="1">
                <a:solidFill>
                  <a:srgbClr val="000000"/>
                </a:solidFill>
              </a:rPr>
              <a:t>đoạn</a:t>
            </a:r>
            <a:r>
              <a:rPr lang="en-US" altLang="ko-KR" sz="1600" b="1" baseline="0" dirty="0">
                <a:solidFill>
                  <a:srgbClr val="000000"/>
                </a:solidFill>
              </a:rPr>
              <a:t> </a:t>
            </a:r>
            <a:r>
              <a:rPr lang="en-US" altLang="ko-KR" sz="1600" b="1" baseline="0" dirty="0" err="1">
                <a:solidFill>
                  <a:srgbClr val="000000"/>
                </a:solidFill>
              </a:rPr>
              <a:t>phát</a:t>
            </a:r>
            <a:r>
              <a:rPr lang="en-US" altLang="ko-KR" sz="1600" b="1" baseline="0" dirty="0">
                <a:solidFill>
                  <a:srgbClr val="000000"/>
                </a:solidFill>
              </a:rPr>
              <a:t> </a:t>
            </a:r>
            <a:r>
              <a:rPr lang="en-US" altLang="ko-KR" sz="1600" b="1" baseline="0" dirty="0" err="1">
                <a:solidFill>
                  <a:srgbClr val="000000"/>
                </a:solidFill>
              </a:rPr>
              <a:t>triển</a:t>
            </a:r>
            <a:r>
              <a:rPr lang="ko-KR" altLang="en-US" sz="1600" b="1" baseline="0" dirty="0">
                <a:solidFill>
                  <a:srgbClr val="000000"/>
                </a:solidFill>
              </a:rPr>
              <a:t> </a:t>
            </a:r>
            <a:r>
              <a:rPr lang="en-US" altLang="ko-KR" sz="1600" b="1" baseline="0" dirty="0">
                <a:solidFill>
                  <a:srgbClr val="000000"/>
                </a:solidFill>
              </a:rPr>
              <a:t>(</a:t>
            </a:r>
            <a:r>
              <a:rPr lang="en-US" altLang="ko-KR" sz="1600" b="1" baseline="0" dirty="0" err="1">
                <a:solidFill>
                  <a:srgbClr val="000000"/>
                </a:solidFill>
              </a:rPr>
              <a:t>điều</a:t>
            </a:r>
            <a:r>
              <a:rPr lang="en-US" altLang="ko-KR" sz="1600" b="1" baseline="0" dirty="0">
                <a:solidFill>
                  <a:srgbClr val="000000"/>
                </a:solidFill>
              </a:rPr>
              <a:t> </a:t>
            </a:r>
            <a:r>
              <a:rPr lang="en-US" altLang="ko-KR" sz="1600" b="1" baseline="0" dirty="0" err="1">
                <a:solidFill>
                  <a:srgbClr val="000000"/>
                </a:solidFill>
              </a:rPr>
              <a:t>tra</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 </a:t>
            </a:r>
            <a:r>
              <a:rPr lang="en-US" altLang="ko-KR" sz="1600" b="1" baseline="0" dirty="0" err="1">
                <a:solidFill>
                  <a:srgbClr val="000000"/>
                </a:solidFill>
              </a:rPr>
              <a:t>giai</a:t>
            </a:r>
            <a:r>
              <a:rPr lang="en-US" altLang="ko-KR" sz="1600" b="1" baseline="0" dirty="0">
                <a:solidFill>
                  <a:srgbClr val="000000"/>
                </a:solidFill>
              </a:rPr>
              <a:t> </a:t>
            </a:r>
            <a:r>
              <a:rPr lang="en-US" altLang="ko-KR" sz="1600" b="1" baseline="0" dirty="0" err="1">
                <a:solidFill>
                  <a:srgbClr val="000000"/>
                </a:solidFill>
              </a:rPr>
              <a:t>đoạn</a:t>
            </a:r>
            <a:r>
              <a:rPr lang="en-US" altLang="ko-KR" sz="1600" b="1" baseline="0" dirty="0">
                <a:solidFill>
                  <a:srgbClr val="000000"/>
                </a:solidFill>
              </a:rPr>
              <a:t> </a:t>
            </a:r>
            <a:r>
              <a:rPr lang="en-US" altLang="ko-KR" sz="1600" b="1" baseline="0" dirty="0" err="1">
                <a:solidFill>
                  <a:srgbClr val="000000"/>
                </a:solidFill>
              </a:rPr>
              <a:t>đầu</a:t>
            </a:r>
            <a:r>
              <a:rPr lang="en-US" altLang="ko-KR" sz="1600" b="1" baseline="0" dirty="0">
                <a:solidFill>
                  <a:srgbClr val="000000"/>
                </a:solidFill>
              </a:rPr>
              <a:t>)</a:t>
            </a:r>
          </a:p>
        </p:txBody>
      </p:sp>
      <p:sp>
        <p:nvSpPr>
          <p:cNvPr id="169" name="Rectangle 4"/>
          <p:cNvSpPr>
            <a:spLocks noChangeArrowheads="1"/>
          </p:cNvSpPr>
          <p:nvPr/>
        </p:nvSpPr>
        <p:spPr bwMode="auto">
          <a:xfrm>
            <a:off x="6269874" y="2599581"/>
            <a:ext cx="2075767" cy="1175840"/>
          </a:xfrm>
          <a:prstGeom prst="rect">
            <a:avLst/>
          </a:prstGeom>
          <a:solidFill>
            <a:schemeClr val="bg1">
              <a:lumMod val="75000"/>
              <a:alpha val="14117"/>
            </a:schemeClr>
          </a:solidFill>
          <a:ln w="12700" algn="ctr">
            <a:solidFill>
              <a:schemeClr val="bg2"/>
            </a:solidFill>
            <a:miter lim="800000"/>
            <a:headEnd/>
            <a:tailEnd/>
          </a:ln>
          <a:effectLst>
            <a:outerShdw blurRad="50800" dist="38100" dir="2700000" algn="tl" rotWithShape="0">
              <a:prstClr val="black">
                <a:alpha val="40000"/>
              </a:prstClr>
            </a:outerShdw>
          </a:effec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latinLnBrk="0">
              <a:spcBef>
                <a:spcPct val="0"/>
              </a:spcBef>
              <a:buFontTx/>
              <a:buNone/>
            </a:pPr>
            <a:r>
              <a:rPr kumimoji="0" lang="en-US" altLang="ko-KR" sz="2000" b="1" dirty="0">
                <a:latin typeface="Arial" charset="0"/>
              </a:rPr>
              <a:t>Ppk ≥ 1.67</a:t>
            </a:r>
          </a:p>
        </p:txBody>
      </p:sp>
      <p:sp>
        <p:nvSpPr>
          <p:cNvPr id="170" name="Text Box 5"/>
          <p:cNvSpPr txBox="1">
            <a:spLocks noChangeArrowheads="1"/>
          </p:cNvSpPr>
          <p:nvPr/>
        </p:nvSpPr>
        <p:spPr bwMode="auto">
          <a:xfrm>
            <a:off x="6300192" y="2232097"/>
            <a:ext cx="2225289" cy="584775"/>
          </a:xfrm>
          <a:prstGeom prst="rect">
            <a:avLst/>
          </a:prstGeom>
          <a:solidFill>
            <a:schemeClr val="bg1">
              <a:lumMod val="75000"/>
            </a:schemeClr>
          </a:solidFill>
          <a:ln w="12700" algn="ctr">
            <a:noFill/>
            <a:miter lim="800000"/>
            <a:headEnd/>
            <a:tailEnd/>
          </a:ln>
          <a:effectLst>
            <a:outerShdw blurRad="50800" dist="38100" dir="2700000" algn="tl" rotWithShape="0">
              <a:prstClr val="black">
                <a:alpha val="40000"/>
              </a:prstClr>
            </a:outerShdw>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600" dirty="0" err="1">
                <a:latin typeface="+mn-lt"/>
              </a:rPr>
              <a:t>Tiêu</a:t>
            </a:r>
            <a:r>
              <a:rPr kumimoji="0" lang="en-US" altLang="ko-KR" sz="1600" dirty="0">
                <a:latin typeface="+mn-lt"/>
              </a:rPr>
              <a:t> </a:t>
            </a:r>
            <a:r>
              <a:rPr kumimoji="0" lang="en-US" altLang="ko-KR" sz="1600" dirty="0" err="1">
                <a:latin typeface="+mn-lt"/>
              </a:rPr>
              <a:t>chuẩn</a:t>
            </a:r>
            <a:r>
              <a:rPr kumimoji="0" lang="en-US" altLang="ko-KR" sz="1600" dirty="0">
                <a:latin typeface="+mn-lt"/>
              </a:rPr>
              <a:t> </a:t>
            </a:r>
            <a:r>
              <a:rPr kumimoji="0" lang="en-US" altLang="ko-KR" sz="1600" dirty="0" err="1">
                <a:latin typeface="+mn-lt"/>
              </a:rPr>
              <a:t>đánh</a:t>
            </a:r>
            <a:r>
              <a:rPr kumimoji="0" lang="en-US" altLang="ko-KR" sz="1600" dirty="0">
                <a:latin typeface="+mn-lt"/>
              </a:rPr>
              <a:t> </a:t>
            </a:r>
            <a:r>
              <a:rPr kumimoji="0" lang="en-US" altLang="ko-KR" sz="1600" dirty="0" err="1">
                <a:latin typeface="+mn-lt"/>
              </a:rPr>
              <a:t>giá</a:t>
            </a:r>
            <a:endParaRPr kumimoji="0" lang="en-US" altLang="ko-KR" sz="1600" dirty="0">
              <a:latin typeface="+mn-lt"/>
            </a:endParaRPr>
          </a:p>
          <a:p>
            <a:pPr latinLnBrk="0">
              <a:spcBef>
                <a:spcPct val="0"/>
              </a:spcBef>
              <a:buFontTx/>
              <a:buNone/>
            </a:pPr>
            <a:r>
              <a:rPr kumimoji="0" lang="en-US" altLang="ko-KR" sz="1600" dirty="0">
                <a:latin typeface="+mn-lt"/>
              </a:rPr>
              <a:t>(</a:t>
            </a:r>
            <a:r>
              <a:rPr kumimoji="0" lang="en-US" altLang="ko-KR" sz="1600" dirty="0" err="1">
                <a:latin typeface="+mn-lt"/>
              </a:rPr>
              <a:t>Giai</a:t>
            </a:r>
            <a:r>
              <a:rPr kumimoji="0" lang="en-US" altLang="ko-KR" sz="1600" dirty="0">
                <a:latin typeface="+mn-lt"/>
              </a:rPr>
              <a:t> </a:t>
            </a:r>
            <a:r>
              <a:rPr kumimoji="0" lang="en-US" altLang="ko-KR" sz="1600" dirty="0" err="1">
                <a:latin typeface="+mn-lt"/>
              </a:rPr>
              <a:t>đoạn</a:t>
            </a:r>
            <a:r>
              <a:rPr kumimoji="0" lang="en-US" altLang="ko-KR" sz="1600" dirty="0">
                <a:latin typeface="+mn-lt"/>
              </a:rPr>
              <a:t> </a:t>
            </a:r>
            <a:r>
              <a:rPr kumimoji="0" lang="en-US" altLang="ko-KR" sz="1600" dirty="0" err="1">
                <a:latin typeface="+mn-lt"/>
              </a:rPr>
              <a:t>phát</a:t>
            </a:r>
            <a:r>
              <a:rPr kumimoji="0" lang="en-US" altLang="ko-KR" sz="1600" dirty="0">
                <a:latin typeface="+mn-lt"/>
              </a:rPr>
              <a:t> </a:t>
            </a:r>
            <a:r>
              <a:rPr kumimoji="0" lang="en-US" altLang="ko-KR" sz="1600" dirty="0" err="1">
                <a:latin typeface="+mn-lt"/>
              </a:rPr>
              <a:t>triển</a:t>
            </a:r>
            <a:r>
              <a:rPr kumimoji="0" lang="en-US" altLang="ko-KR" sz="1600" dirty="0">
                <a:latin typeface="+mn-lt"/>
              </a:rPr>
              <a:t>)</a:t>
            </a:r>
            <a:endParaRPr kumimoji="0" lang="ko-KR" altLang="en-US" sz="1600" dirty="0">
              <a:latin typeface="+mn-lt"/>
            </a:endParaRPr>
          </a:p>
        </p:txBody>
      </p:sp>
      <p:sp>
        <p:nvSpPr>
          <p:cNvPr id="171" name="오른쪽 화살표 170"/>
          <p:cNvSpPr/>
          <p:nvPr/>
        </p:nvSpPr>
        <p:spPr bwMode="auto">
          <a:xfrm>
            <a:off x="1368324" y="4946493"/>
            <a:ext cx="821676" cy="296266"/>
          </a:xfrm>
          <a:prstGeom prst="rightArrow">
            <a:avLst/>
          </a:prstGeom>
          <a:solidFill>
            <a:schemeClr val="tx1"/>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172" name="Text Box 51"/>
          <p:cNvSpPr txBox="1">
            <a:spLocks noChangeArrowheads="1"/>
          </p:cNvSpPr>
          <p:nvPr/>
        </p:nvSpPr>
        <p:spPr bwMode="auto">
          <a:xfrm>
            <a:off x="2298888" y="4950605"/>
            <a:ext cx="1807829" cy="29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en-US" altLang="ko-KR" b="1" baseline="0" dirty="0" err="1">
                <a:solidFill>
                  <a:srgbClr val="000000"/>
                </a:solidFill>
              </a:rPr>
              <a:t>Phản</a:t>
            </a:r>
            <a:r>
              <a:rPr lang="en-US" altLang="ko-KR" b="1" baseline="0" dirty="0">
                <a:solidFill>
                  <a:srgbClr val="000000"/>
                </a:solidFill>
              </a:rPr>
              <a:t> </a:t>
            </a:r>
            <a:r>
              <a:rPr lang="en-US" altLang="ko-KR" b="1" baseline="0" dirty="0" err="1">
                <a:solidFill>
                  <a:srgbClr val="000000"/>
                </a:solidFill>
              </a:rPr>
              <a:t>ánh</a:t>
            </a:r>
            <a:r>
              <a:rPr lang="en-US" altLang="ko-KR" b="1" baseline="0" dirty="0">
                <a:solidFill>
                  <a:srgbClr val="000000"/>
                </a:solidFill>
              </a:rPr>
              <a:t> </a:t>
            </a:r>
            <a:r>
              <a:rPr lang="en-US" altLang="ko-KR" b="1" baseline="0" dirty="0" err="1">
                <a:solidFill>
                  <a:srgbClr val="000000"/>
                </a:solidFill>
              </a:rPr>
              <a:t>độ</a:t>
            </a:r>
            <a:r>
              <a:rPr lang="en-US" altLang="ko-KR" b="1" baseline="0" dirty="0">
                <a:solidFill>
                  <a:srgbClr val="000000"/>
                </a:solidFill>
              </a:rPr>
              <a:t> </a:t>
            </a:r>
            <a:r>
              <a:rPr lang="en-US" altLang="ko-KR" b="1" baseline="0" dirty="0" err="1">
                <a:solidFill>
                  <a:srgbClr val="000000"/>
                </a:solidFill>
              </a:rPr>
              <a:t>lệch</a:t>
            </a:r>
            <a:endParaRPr lang="en-US" altLang="ko-KR" b="1" baseline="0" dirty="0">
              <a:solidFill>
                <a:srgbClr val="000000"/>
              </a:solidFill>
            </a:endParaRPr>
          </a:p>
        </p:txBody>
      </p:sp>
      <p:sp>
        <p:nvSpPr>
          <p:cNvPr id="174"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206</a:t>
            </a:fld>
            <a:endParaRPr lang="ko-KR" altLang="en-US" sz="1200" dirty="0"/>
          </a:p>
        </p:txBody>
      </p:sp>
      <p:sp>
        <p:nvSpPr>
          <p:cNvPr id="4" name="TextBox 3"/>
          <p:cNvSpPr txBox="1"/>
          <p:nvPr/>
        </p:nvSpPr>
        <p:spPr>
          <a:xfrm>
            <a:off x="2577932" y="2926653"/>
            <a:ext cx="433132"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173" name="TextBox 172"/>
          <p:cNvSpPr txBox="1"/>
          <p:nvPr/>
        </p:nvSpPr>
        <p:spPr>
          <a:xfrm>
            <a:off x="4030920" y="3494595"/>
            <a:ext cx="433132"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175" name="TextBox 174"/>
          <p:cNvSpPr txBox="1"/>
          <p:nvPr/>
        </p:nvSpPr>
        <p:spPr>
          <a:xfrm>
            <a:off x="4849438" y="3494595"/>
            <a:ext cx="433132"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177" name="Text Box 39"/>
          <p:cNvSpPr txBox="1">
            <a:spLocks noChangeArrowheads="1"/>
          </p:cNvSpPr>
          <p:nvPr/>
        </p:nvSpPr>
        <p:spPr bwMode="auto">
          <a:xfrm>
            <a:off x="118582" y="116632"/>
            <a:ext cx="3466334"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3799045521"/>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직사각형 98"/>
          <p:cNvSpPr/>
          <p:nvPr/>
        </p:nvSpPr>
        <p:spPr bwMode="auto">
          <a:xfrm>
            <a:off x="846872" y="2492896"/>
            <a:ext cx="7626159" cy="3528393"/>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5065" name="Rectangle 2"/>
          <p:cNvSpPr>
            <a:spLocks noChangeArrowheads="1"/>
          </p:cNvSpPr>
          <p:nvPr/>
        </p:nvSpPr>
        <p:spPr bwMode="auto">
          <a:xfrm>
            <a:off x="1320322" y="1259137"/>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sp>
        <p:nvSpPr>
          <p:cNvPr id="97" name="Text Box 52"/>
          <p:cNvSpPr txBox="1">
            <a:spLocks noChangeArrowheads="1"/>
          </p:cNvSpPr>
          <p:nvPr/>
        </p:nvSpPr>
        <p:spPr bwMode="auto">
          <a:xfrm>
            <a:off x="650334" y="1381448"/>
            <a:ext cx="7710395" cy="1202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en-US" altLang="ko-KR" b="1" baseline="0" dirty="0" err="1">
                <a:solidFill>
                  <a:srgbClr val="000000"/>
                </a:solidFill>
              </a:rPr>
              <a:t>Trong</a:t>
            </a:r>
            <a:r>
              <a:rPr lang="en-US" altLang="ko-KR" b="1" baseline="0" dirty="0">
                <a:solidFill>
                  <a:srgbClr val="000000"/>
                </a:solidFill>
              </a:rPr>
              <a:t> </a:t>
            </a:r>
            <a:r>
              <a:rPr lang="en-US" altLang="ko-KR" b="1" baseline="0" dirty="0" err="1">
                <a:solidFill>
                  <a:srgbClr val="000000"/>
                </a:solidFill>
              </a:rPr>
              <a:t>giai</a:t>
            </a:r>
            <a:r>
              <a:rPr lang="en-US" altLang="ko-KR" b="1" baseline="0" dirty="0">
                <a:solidFill>
                  <a:srgbClr val="000000"/>
                </a:solidFill>
              </a:rPr>
              <a:t> </a:t>
            </a:r>
            <a:r>
              <a:rPr lang="en-US" altLang="ko-KR" b="1" baseline="0" dirty="0" err="1">
                <a:solidFill>
                  <a:srgbClr val="000000"/>
                </a:solidFill>
              </a:rPr>
              <a:t>đoạn</a:t>
            </a:r>
            <a:r>
              <a:rPr lang="en-US" altLang="ko-KR" b="1" baseline="0" dirty="0">
                <a:solidFill>
                  <a:srgbClr val="000000"/>
                </a:solidFill>
              </a:rPr>
              <a:t> </a:t>
            </a:r>
            <a:r>
              <a:rPr lang="en-US" altLang="ko-KR" b="1" baseline="0" dirty="0" err="1">
                <a:solidFill>
                  <a:srgbClr val="000000"/>
                </a:solidFill>
              </a:rPr>
              <a:t>sản</a:t>
            </a:r>
            <a:r>
              <a:rPr lang="en-US" altLang="ko-KR" b="1" baseline="0" dirty="0">
                <a:solidFill>
                  <a:srgbClr val="000000"/>
                </a:solidFill>
              </a:rPr>
              <a:t> </a:t>
            </a:r>
            <a:r>
              <a:rPr lang="en-US" altLang="ko-KR" b="1" baseline="0" dirty="0" err="1">
                <a:solidFill>
                  <a:srgbClr val="000000"/>
                </a:solidFill>
              </a:rPr>
              <a:t>xuất</a:t>
            </a:r>
            <a:r>
              <a:rPr lang="en-US" altLang="ko-KR" b="1" baseline="0" dirty="0">
                <a:solidFill>
                  <a:srgbClr val="000000"/>
                </a:solidFill>
              </a:rPr>
              <a:t> </a:t>
            </a:r>
            <a:r>
              <a:rPr lang="en-US" altLang="ko-KR" b="1" baseline="0" dirty="0" err="1">
                <a:solidFill>
                  <a:srgbClr val="000000"/>
                </a:solidFill>
              </a:rPr>
              <a:t>hàng</a:t>
            </a:r>
            <a:r>
              <a:rPr lang="en-US" altLang="ko-KR" b="1" baseline="0" dirty="0">
                <a:solidFill>
                  <a:srgbClr val="000000"/>
                </a:solidFill>
              </a:rPr>
              <a:t> </a:t>
            </a:r>
            <a:r>
              <a:rPr lang="en-US" altLang="ko-KR" b="1" baseline="0" dirty="0" err="1">
                <a:solidFill>
                  <a:srgbClr val="000000"/>
                </a:solidFill>
              </a:rPr>
              <a:t>loạt</a:t>
            </a:r>
            <a:r>
              <a:rPr lang="en-US" altLang="ko-KR" b="1" baseline="0" dirty="0">
                <a:solidFill>
                  <a:srgbClr val="000000"/>
                </a:solidFill>
              </a:rPr>
              <a:t> </a:t>
            </a:r>
            <a:r>
              <a:rPr lang="en-US" altLang="ko-KR" b="1" baseline="0" dirty="0" err="1">
                <a:solidFill>
                  <a:srgbClr val="000000"/>
                </a:solidFill>
              </a:rPr>
              <a:t>đánh</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process </a:t>
            </a:r>
            <a:r>
              <a:rPr lang="en-US" altLang="ko-KR" b="1" baseline="0" dirty="0" err="1">
                <a:solidFill>
                  <a:srgbClr val="000000"/>
                </a:solidFill>
              </a:rPr>
              <a:t>trong</a:t>
            </a:r>
            <a:r>
              <a:rPr lang="en-US" altLang="ko-KR" b="1" baseline="0" dirty="0">
                <a:solidFill>
                  <a:srgbClr val="000000"/>
                </a:solidFill>
              </a:rPr>
              <a:t> </a:t>
            </a:r>
            <a:r>
              <a:rPr lang="en-US" altLang="ko-KR" b="1" baseline="0" dirty="0" err="1">
                <a:solidFill>
                  <a:srgbClr val="000000"/>
                </a:solidFill>
              </a:rPr>
              <a:t>trạng</a:t>
            </a:r>
            <a:r>
              <a:rPr lang="en-US" altLang="ko-KR" b="1" baseline="0" dirty="0">
                <a:solidFill>
                  <a:srgbClr val="000000"/>
                </a:solidFill>
              </a:rPr>
              <a:t> </a:t>
            </a:r>
            <a:r>
              <a:rPr lang="en-US" altLang="ko-KR" b="1" baseline="0" dirty="0" err="1">
                <a:solidFill>
                  <a:srgbClr val="000000"/>
                </a:solidFill>
              </a:rPr>
              <a:t>thái</a:t>
            </a:r>
            <a:r>
              <a:rPr lang="en-US" altLang="ko-KR" b="1" baseline="0" dirty="0">
                <a:solidFill>
                  <a:srgbClr val="000000"/>
                </a:solidFill>
              </a:rPr>
              <a:t> </a:t>
            </a:r>
            <a:r>
              <a:rPr lang="en-US" altLang="ko-KR" b="1" baseline="0" dirty="0" err="1">
                <a:solidFill>
                  <a:srgbClr val="000000"/>
                </a:solidFill>
              </a:rPr>
              <a:t>được</a:t>
            </a:r>
            <a:r>
              <a:rPr lang="en-US" altLang="ko-KR" b="1" baseline="0" dirty="0">
                <a:solidFill>
                  <a:srgbClr val="000000"/>
                </a:solidFill>
              </a:rPr>
              <a:t> </a:t>
            </a:r>
            <a:r>
              <a:rPr lang="en-US" altLang="ko-KR" b="1" baseline="0" dirty="0" err="1">
                <a:solidFill>
                  <a:srgbClr val="000000"/>
                </a:solidFill>
              </a:rPr>
              <a:t>ổn</a:t>
            </a:r>
            <a:r>
              <a:rPr lang="en-US" altLang="ko-KR" b="1" baseline="0" dirty="0">
                <a:solidFill>
                  <a:srgbClr val="000000"/>
                </a:solidFill>
              </a:rPr>
              <a:t> </a:t>
            </a:r>
            <a:r>
              <a:rPr lang="en-US" altLang="ko-KR" b="1" baseline="0" dirty="0" err="1">
                <a:solidFill>
                  <a:srgbClr val="000000"/>
                </a:solidFill>
              </a:rPr>
              <a:t>định</a:t>
            </a:r>
            <a:r>
              <a:rPr lang="en-US" altLang="ko-KR" b="1" baseline="0" dirty="0">
                <a:solidFill>
                  <a:srgbClr val="000000"/>
                </a:solidFill>
              </a:rPr>
              <a:t> </a:t>
            </a:r>
            <a:r>
              <a:rPr lang="en-US" altLang="ko-KR" b="1" baseline="0" dirty="0" err="1">
                <a:solidFill>
                  <a:srgbClr val="000000"/>
                </a:solidFill>
              </a:rPr>
              <a:t>hóa</a:t>
            </a:r>
            <a:r>
              <a:rPr lang="en-US" altLang="ko-KR" b="1" baseline="0" dirty="0">
                <a:solidFill>
                  <a:srgbClr val="000000"/>
                </a:solidFill>
              </a:rPr>
              <a:t>  </a:t>
            </a:r>
          </a:p>
          <a:p>
            <a:pPr eaLnBrk="1" hangingPunct="1">
              <a:spcBef>
                <a:spcPct val="20000"/>
              </a:spcBef>
            </a:pPr>
            <a:r>
              <a:rPr lang="en-US" altLang="ko-KR" b="1" baseline="0" dirty="0" err="1">
                <a:solidFill>
                  <a:srgbClr val="000000"/>
                </a:solidFill>
              </a:rPr>
              <a:t>trường</a:t>
            </a:r>
            <a:r>
              <a:rPr lang="en-US" altLang="ko-KR" b="1" baseline="0" dirty="0">
                <a:solidFill>
                  <a:srgbClr val="000000"/>
                </a:solidFill>
              </a:rPr>
              <a:t> </a:t>
            </a:r>
            <a:r>
              <a:rPr lang="en-US" altLang="ko-KR" b="1" baseline="0" dirty="0" err="1">
                <a:solidFill>
                  <a:srgbClr val="000000"/>
                </a:solidFill>
              </a:rPr>
              <a:t>hợp</a:t>
            </a:r>
            <a:r>
              <a:rPr lang="en-US" altLang="ko-KR" b="1" baseline="0" dirty="0">
                <a:solidFill>
                  <a:srgbClr val="000000"/>
                </a:solidFill>
              </a:rPr>
              <a:t> Rational </a:t>
            </a:r>
            <a:r>
              <a:rPr lang="en-US" altLang="ko-KR" b="1" baseline="0" dirty="0" err="1">
                <a:solidFill>
                  <a:srgbClr val="000000"/>
                </a:solidFill>
              </a:rPr>
              <a:t>Subgrouping</a:t>
            </a:r>
            <a:r>
              <a:rPr lang="en-US" altLang="ko-KR" b="1" baseline="0" dirty="0">
                <a:solidFill>
                  <a:srgbClr val="000000"/>
                </a:solidFill>
              </a:rPr>
              <a:t> </a:t>
            </a:r>
            <a:r>
              <a:rPr lang="en-US" altLang="ko-KR" b="1" baseline="0" dirty="0" err="1">
                <a:solidFill>
                  <a:srgbClr val="000000"/>
                </a:solidFill>
              </a:rPr>
              <a:t>được</a:t>
            </a:r>
            <a:r>
              <a:rPr lang="en-US" altLang="ko-KR" b="1" baseline="0" dirty="0">
                <a:solidFill>
                  <a:srgbClr val="000000"/>
                </a:solidFill>
              </a:rPr>
              <a:t> </a:t>
            </a:r>
            <a:r>
              <a:rPr lang="en-US" altLang="ko-KR" b="1" baseline="0" dirty="0" err="1">
                <a:solidFill>
                  <a:srgbClr val="000000"/>
                </a:solidFill>
              </a:rPr>
              <a:t>đánh</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a:t>
            </a:r>
            <a:r>
              <a:rPr lang="en-US" altLang="ko-KR" b="1" baseline="0" dirty="0" err="1">
                <a:solidFill>
                  <a:srgbClr val="000000"/>
                </a:solidFill>
              </a:rPr>
              <a:t>có</a:t>
            </a:r>
            <a:r>
              <a:rPr lang="en-US" altLang="ko-KR" b="1" baseline="0" dirty="0">
                <a:solidFill>
                  <a:srgbClr val="000000"/>
                </a:solidFill>
              </a:rPr>
              <a:t> </a:t>
            </a:r>
            <a:r>
              <a:rPr lang="en-US" altLang="ko-KR" b="1" baseline="0" dirty="0" err="1">
                <a:solidFill>
                  <a:srgbClr val="000000"/>
                </a:solidFill>
              </a:rPr>
              <a:t>khả</a:t>
            </a:r>
            <a:r>
              <a:rPr lang="en-US" altLang="ko-KR" b="1" baseline="0" dirty="0">
                <a:solidFill>
                  <a:srgbClr val="000000"/>
                </a:solidFill>
              </a:rPr>
              <a:t> </a:t>
            </a:r>
            <a:r>
              <a:rPr lang="en-US" altLang="ko-KR" b="1" baseline="0" dirty="0" err="1">
                <a:solidFill>
                  <a:srgbClr val="000000"/>
                </a:solidFill>
              </a:rPr>
              <a:t>năng</a:t>
            </a:r>
            <a:r>
              <a:rPr lang="en-US" altLang="ko-KR" b="1" baseline="0" dirty="0">
                <a:solidFill>
                  <a:srgbClr val="000000"/>
                </a:solidFill>
              </a:rPr>
              <a:t> </a:t>
            </a:r>
            <a:r>
              <a:rPr lang="en-US" altLang="ko-KR" b="1" baseline="0" dirty="0" err="1">
                <a:solidFill>
                  <a:srgbClr val="000000"/>
                </a:solidFill>
              </a:rPr>
              <a:t>có</a:t>
            </a:r>
            <a:r>
              <a:rPr lang="en-US" altLang="ko-KR" b="1" baseline="0" dirty="0">
                <a:solidFill>
                  <a:srgbClr val="000000"/>
                </a:solidFill>
              </a:rPr>
              <a:t> </a:t>
            </a:r>
            <a:r>
              <a:rPr lang="en-US" altLang="ko-KR" b="1" baseline="0" dirty="0" err="1">
                <a:solidFill>
                  <a:srgbClr val="000000"/>
                </a:solidFill>
              </a:rPr>
              <a:t>thể</a:t>
            </a:r>
            <a:r>
              <a:rPr lang="en-US" altLang="ko-KR" b="1" baseline="0" dirty="0">
                <a:solidFill>
                  <a:srgbClr val="000000"/>
                </a:solidFill>
              </a:rPr>
              <a:t> </a:t>
            </a:r>
            <a:r>
              <a:rPr lang="en-US" altLang="ko-KR" b="1" baseline="0" dirty="0" err="1">
                <a:solidFill>
                  <a:srgbClr val="000000"/>
                </a:solidFill>
              </a:rPr>
              <a:t>phân</a:t>
            </a:r>
            <a:r>
              <a:rPr lang="en-US" altLang="ko-KR" b="1" baseline="0" dirty="0">
                <a:solidFill>
                  <a:srgbClr val="000000"/>
                </a:solidFill>
              </a:rPr>
              <a:t> </a:t>
            </a:r>
            <a:r>
              <a:rPr lang="en-US" altLang="ko-KR" b="1" baseline="0" dirty="0" err="1">
                <a:solidFill>
                  <a:srgbClr val="000000"/>
                </a:solidFill>
              </a:rPr>
              <a:t>biệt</a:t>
            </a:r>
            <a:r>
              <a:rPr lang="en-US" altLang="ko-KR" b="1" baseline="0" dirty="0">
                <a:solidFill>
                  <a:srgbClr val="000000"/>
                </a:solidFill>
              </a:rPr>
              <a:t> </a:t>
            </a:r>
            <a:r>
              <a:rPr lang="en-US" altLang="ko-KR" b="1" baseline="0" dirty="0" err="1">
                <a:solidFill>
                  <a:srgbClr val="000000"/>
                </a:solidFill>
              </a:rPr>
              <a:t>trong</a:t>
            </a:r>
            <a:r>
              <a:rPr lang="en-US" altLang="ko-KR" b="1" baseline="0" dirty="0">
                <a:solidFill>
                  <a:srgbClr val="000000"/>
                </a:solidFill>
              </a:rPr>
              <a:t> </a:t>
            </a:r>
            <a:r>
              <a:rPr lang="en-US" altLang="ko-KR" b="1" baseline="0" dirty="0" err="1">
                <a:solidFill>
                  <a:srgbClr val="000000"/>
                </a:solidFill>
              </a:rPr>
              <a:t>nhóm</a:t>
            </a:r>
            <a:r>
              <a:rPr lang="en-US" altLang="ko-KR" b="1" baseline="0" dirty="0">
                <a:solidFill>
                  <a:srgbClr val="000000"/>
                </a:solidFill>
              </a:rPr>
              <a:t> (</a:t>
            </a:r>
            <a:r>
              <a:rPr lang="en-US" altLang="ko-KR" b="1" baseline="0" dirty="0" err="1">
                <a:solidFill>
                  <a:srgbClr val="000000"/>
                </a:solidFill>
              </a:rPr>
              <a:t>nguyên</a:t>
            </a:r>
            <a:r>
              <a:rPr lang="en-US" altLang="ko-KR" b="1" baseline="0" dirty="0">
                <a:solidFill>
                  <a:srgbClr val="000000"/>
                </a:solidFill>
              </a:rPr>
              <a:t> </a:t>
            </a:r>
            <a:r>
              <a:rPr lang="en-US" altLang="ko-KR" b="1" baseline="0" dirty="0" err="1">
                <a:solidFill>
                  <a:srgbClr val="000000"/>
                </a:solidFill>
              </a:rPr>
              <a:t>nhân</a:t>
            </a:r>
            <a:r>
              <a:rPr lang="en-US" altLang="ko-KR" b="1" baseline="0" dirty="0">
                <a:solidFill>
                  <a:srgbClr val="000000"/>
                </a:solidFill>
              </a:rPr>
              <a:t> </a:t>
            </a:r>
            <a:r>
              <a:rPr lang="en-US" altLang="ko-KR" b="1" baseline="0" dirty="0" err="1">
                <a:solidFill>
                  <a:srgbClr val="000000"/>
                </a:solidFill>
              </a:rPr>
              <a:t>ngẫu</a:t>
            </a:r>
            <a:r>
              <a:rPr lang="en-US" altLang="ko-KR" b="1" baseline="0" dirty="0">
                <a:solidFill>
                  <a:srgbClr val="000000"/>
                </a:solidFill>
              </a:rPr>
              <a:t> </a:t>
            </a:r>
            <a:r>
              <a:rPr lang="en-US" altLang="ko-KR" b="1" baseline="0" dirty="0" err="1">
                <a:solidFill>
                  <a:srgbClr val="000000"/>
                </a:solidFill>
              </a:rPr>
              <a:t>nhiên</a:t>
            </a:r>
            <a:r>
              <a:rPr lang="en-US" altLang="ko-KR" b="1" baseline="0" dirty="0">
                <a:solidFill>
                  <a:srgbClr val="000000"/>
                </a:solidFill>
              </a:rPr>
              <a:t>), </a:t>
            </a:r>
            <a:r>
              <a:rPr lang="en-US" altLang="ko-KR" b="1" baseline="0" dirty="0" err="1">
                <a:solidFill>
                  <a:srgbClr val="000000"/>
                </a:solidFill>
              </a:rPr>
              <a:t>nhóm</a:t>
            </a:r>
            <a:r>
              <a:rPr lang="en-US" altLang="ko-KR" b="1" baseline="0" dirty="0">
                <a:solidFill>
                  <a:srgbClr val="000000"/>
                </a:solidFill>
              </a:rPr>
              <a:t> (</a:t>
            </a:r>
            <a:r>
              <a:rPr lang="en-US" altLang="ko-KR" b="1" baseline="0" dirty="0" err="1">
                <a:solidFill>
                  <a:srgbClr val="000000"/>
                </a:solidFill>
              </a:rPr>
              <a:t>nguyên</a:t>
            </a:r>
            <a:r>
              <a:rPr lang="en-US" altLang="ko-KR" b="1" baseline="0" dirty="0">
                <a:solidFill>
                  <a:srgbClr val="000000"/>
                </a:solidFill>
              </a:rPr>
              <a:t> </a:t>
            </a:r>
            <a:r>
              <a:rPr lang="en-US" altLang="ko-KR" b="1" baseline="0" dirty="0" err="1">
                <a:solidFill>
                  <a:srgbClr val="000000"/>
                </a:solidFill>
              </a:rPr>
              <a:t>nhân</a:t>
            </a:r>
            <a:r>
              <a:rPr lang="en-US" altLang="ko-KR" b="1" baseline="0" dirty="0">
                <a:solidFill>
                  <a:srgbClr val="000000"/>
                </a:solidFill>
              </a:rPr>
              <a:t> </a:t>
            </a:r>
            <a:r>
              <a:rPr lang="en-US" altLang="ko-KR" b="1" baseline="0" dirty="0" err="1">
                <a:solidFill>
                  <a:srgbClr val="000000"/>
                </a:solidFill>
              </a:rPr>
              <a:t>không</a:t>
            </a:r>
            <a:r>
              <a:rPr lang="en-US" altLang="ko-KR" b="1" baseline="0" dirty="0">
                <a:solidFill>
                  <a:srgbClr val="000000"/>
                </a:solidFill>
              </a:rPr>
              <a:t> </a:t>
            </a:r>
            <a:r>
              <a:rPr lang="en-US" altLang="ko-KR" b="1" baseline="0" dirty="0" err="1">
                <a:solidFill>
                  <a:srgbClr val="000000"/>
                </a:solidFill>
              </a:rPr>
              <a:t>ngẫu</a:t>
            </a:r>
            <a:r>
              <a:rPr lang="en-US" altLang="ko-KR" b="1" baseline="0" dirty="0">
                <a:solidFill>
                  <a:srgbClr val="000000"/>
                </a:solidFill>
              </a:rPr>
              <a:t> </a:t>
            </a:r>
            <a:r>
              <a:rPr lang="en-US" altLang="ko-KR" b="1" baseline="0" dirty="0" err="1">
                <a:solidFill>
                  <a:srgbClr val="000000"/>
                </a:solidFill>
              </a:rPr>
              <a:t>nhiên</a:t>
            </a:r>
            <a:r>
              <a:rPr lang="en-US" altLang="ko-KR" b="1" baseline="0" dirty="0">
                <a:solidFill>
                  <a:srgbClr val="000000"/>
                </a:solidFill>
              </a:rPr>
              <a:t>) </a:t>
            </a:r>
            <a:r>
              <a:rPr lang="en-US" altLang="ko-KR" b="1" baseline="0" dirty="0" err="1">
                <a:solidFill>
                  <a:srgbClr val="000000"/>
                </a:solidFill>
              </a:rPr>
              <a:t>để</a:t>
            </a:r>
            <a:r>
              <a:rPr lang="en-US" altLang="ko-KR" b="1" baseline="0" dirty="0">
                <a:solidFill>
                  <a:srgbClr val="000000"/>
                </a:solidFill>
              </a:rPr>
              <a:t> </a:t>
            </a:r>
            <a:r>
              <a:rPr lang="en-US" altLang="ko-KR" b="1" baseline="0" dirty="0" err="1">
                <a:solidFill>
                  <a:srgbClr val="000000"/>
                </a:solidFill>
              </a:rPr>
              <a:t>nắm</a:t>
            </a:r>
            <a:r>
              <a:rPr lang="en-US" altLang="ko-KR" b="1" baseline="0" dirty="0">
                <a:solidFill>
                  <a:srgbClr val="000000"/>
                </a:solidFill>
              </a:rPr>
              <a:t> </a:t>
            </a:r>
            <a:r>
              <a:rPr lang="en-US" altLang="ko-KR" b="1" baseline="0" dirty="0" err="1">
                <a:solidFill>
                  <a:srgbClr val="000000"/>
                </a:solidFill>
              </a:rPr>
              <a:t>bắt</a:t>
            </a:r>
            <a:r>
              <a:rPr lang="en-US" altLang="ko-KR" b="1" baseline="0" dirty="0">
                <a:solidFill>
                  <a:srgbClr val="000000"/>
                </a:solidFill>
              </a:rPr>
              <a:t> </a:t>
            </a:r>
            <a:r>
              <a:rPr lang="en-US" altLang="ko-KR" b="1" baseline="0" dirty="0" err="1">
                <a:solidFill>
                  <a:srgbClr val="000000"/>
                </a:solidFill>
              </a:rPr>
              <a:t>năng</a:t>
            </a:r>
            <a:r>
              <a:rPr lang="en-US" altLang="ko-KR" b="1" baseline="0" dirty="0">
                <a:solidFill>
                  <a:srgbClr val="000000"/>
                </a:solidFill>
              </a:rPr>
              <a:t> </a:t>
            </a:r>
            <a:r>
              <a:rPr lang="en-US" altLang="ko-KR" b="1" baseline="0" dirty="0" err="1">
                <a:solidFill>
                  <a:srgbClr val="000000"/>
                </a:solidFill>
              </a:rPr>
              <a:t>lực</a:t>
            </a:r>
            <a:r>
              <a:rPr lang="en-US" altLang="ko-KR" b="1" baseline="0" dirty="0">
                <a:solidFill>
                  <a:srgbClr val="000000"/>
                </a:solidFill>
              </a:rPr>
              <a:t> process </a:t>
            </a:r>
            <a:r>
              <a:rPr lang="en-US" altLang="ko-KR" b="1" baseline="0" dirty="0" err="1">
                <a:solidFill>
                  <a:srgbClr val="000000"/>
                </a:solidFill>
              </a:rPr>
              <a:t>ta</a:t>
            </a:r>
            <a:r>
              <a:rPr lang="en-US" altLang="ko-KR" b="1" baseline="0" dirty="0">
                <a:solidFill>
                  <a:srgbClr val="000000"/>
                </a:solidFill>
              </a:rPr>
              <a:t> </a:t>
            </a:r>
            <a:r>
              <a:rPr lang="en-US" altLang="ko-KR" b="1" baseline="0" dirty="0" err="1">
                <a:solidFill>
                  <a:srgbClr val="000000"/>
                </a:solidFill>
              </a:rPr>
              <a:t>sử</a:t>
            </a:r>
            <a:r>
              <a:rPr lang="en-US" altLang="ko-KR" b="1" baseline="0" dirty="0">
                <a:solidFill>
                  <a:srgbClr val="000000"/>
                </a:solidFill>
              </a:rPr>
              <a:t> </a:t>
            </a:r>
            <a:r>
              <a:rPr lang="en-US" altLang="ko-KR" b="1" baseline="0" dirty="0" err="1">
                <a:solidFill>
                  <a:srgbClr val="000000"/>
                </a:solidFill>
              </a:rPr>
              <a:t>dụng</a:t>
            </a:r>
            <a:r>
              <a:rPr lang="en-US" altLang="ko-KR" b="1" baseline="0" dirty="0">
                <a:solidFill>
                  <a:srgbClr val="000000"/>
                </a:solidFill>
              </a:rPr>
              <a:t> </a:t>
            </a:r>
            <a:r>
              <a:rPr lang="en-US" altLang="ko-KR" b="1" baseline="0" dirty="0" err="1">
                <a:solidFill>
                  <a:srgbClr val="000000"/>
                </a:solidFill>
              </a:rPr>
              <a:t>Cp,Cpk</a:t>
            </a:r>
            <a:r>
              <a:rPr lang="en-US" altLang="ko-KR" b="1" baseline="0" dirty="0">
                <a:solidFill>
                  <a:srgbClr val="000000"/>
                </a:solidFill>
              </a:rPr>
              <a:t>.</a:t>
            </a:r>
            <a:r>
              <a:rPr lang="ko-KR" altLang="en-US" b="1" baseline="0" dirty="0">
                <a:solidFill>
                  <a:srgbClr val="000000"/>
                </a:solidFill>
              </a:rPr>
              <a:t>   </a:t>
            </a:r>
            <a:endParaRPr lang="en-US" altLang="ko-KR" b="1" baseline="0" dirty="0">
              <a:solidFill>
                <a:srgbClr val="000000"/>
              </a:solidFill>
            </a:endParaRPr>
          </a:p>
        </p:txBody>
      </p:sp>
      <p:sp>
        <p:nvSpPr>
          <p:cNvPr id="169" name="Rectangle 50"/>
          <p:cNvSpPr>
            <a:spLocks noChangeArrowheads="1"/>
          </p:cNvSpPr>
          <p:nvPr/>
        </p:nvSpPr>
        <p:spPr bwMode="auto">
          <a:xfrm>
            <a:off x="1105960" y="2819003"/>
            <a:ext cx="4818185" cy="1441450"/>
          </a:xfrm>
          <a:prstGeom prst="rect">
            <a:avLst/>
          </a:prstGeom>
          <a:solidFill>
            <a:srgbClr val="92D050"/>
          </a:solidFill>
          <a:ln w="9525">
            <a:solidFill>
              <a:schemeClr val="bg2"/>
            </a:solid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grpSp>
        <p:nvGrpSpPr>
          <p:cNvPr id="2" name="Group 98"/>
          <p:cNvGrpSpPr>
            <a:grpSpLocks/>
          </p:cNvGrpSpPr>
          <p:nvPr/>
        </p:nvGrpSpPr>
        <p:grpSpPr bwMode="auto">
          <a:xfrm>
            <a:off x="1514799" y="2842817"/>
            <a:ext cx="3877408" cy="1337071"/>
            <a:chOff x="996" y="1008"/>
            <a:chExt cx="2904" cy="924"/>
          </a:xfrm>
        </p:grpSpPr>
        <p:grpSp>
          <p:nvGrpSpPr>
            <p:cNvPr id="3" name="Group 11"/>
            <p:cNvGrpSpPr>
              <a:grpSpLocks/>
            </p:cNvGrpSpPr>
            <p:nvPr/>
          </p:nvGrpSpPr>
          <p:grpSpPr bwMode="auto">
            <a:xfrm>
              <a:off x="996" y="1008"/>
              <a:ext cx="2824" cy="924"/>
              <a:chOff x="692" y="912"/>
              <a:chExt cx="2824" cy="924"/>
            </a:xfrm>
          </p:grpSpPr>
          <p:sp>
            <p:nvSpPr>
              <p:cNvPr id="173" name="Line 12"/>
              <p:cNvSpPr>
                <a:spLocks noChangeShapeType="1"/>
              </p:cNvSpPr>
              <p:nvPr/>
            </p:nvSpPr>
            <p:spPr bwMode="auto">
              <a:xfrm>
                <a:off x="1060" y="1138"/>
                <a:ext cx="786" cy="1"/>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75" name="Rectangle 14"/>
              <p:cNvSpPr>
                <a:spLocks noChangeArrowheads="1"/>
              </p:cNvSpPr>
              <p:nvPr/>
            </p:nvSpPr>
            <p:spPr bwMode="auto">
              <a:xfrm>
                <a:off x="814" y="1135"/>
                <a:ext cx="5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76" name="Rectangle 15"/>
              <p:cNvSpPr>
                <a:spLocks noChangeArrowheads="1"/>
              </p:cNvSpPr>
              <p:nvPr/>
            </p:nvSpPr>
            <p:spPr bwMode="auto">
              <a:xfrm>
                <a:off x="1292" y="1160"/>
                <a:ext cx="9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77" name="Rectangle 16"/>
              <p:cNvSpPr>
                <a:spLocks noChangeArrowheads="1"/>
              </p:cNvSpPr>
              <p:nvPr/>
            </p:nvSpPr>
            <p:spPr bwMode="auto">
              <a:xfrm>
                <a:off x="1541" y="931"/>
                <a:ext cx="32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78" name="Rectangle 17"/>
              <p:cNvSpPr>
                <a:spLocks noChangeArrowheads="1"/>
              </p:cNvSpPr>
              <p:nvPr/>
            </p:nvSpPr>
            <p:spPr bwMode="auto">
              <a:xfrm>
                <a:off x="1074" y="931"/>
                <a:ext cx="34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79" name="Rectangle 18"/>
              <p:cNvSpPr>
                <a:spLocks noChangeArrowheads="1"/>
              </p:cNvSpPr>
              <p:nvPr/>
            </p:nvSpPr>
            <p:spPr bwMode="auto">
              <a:xfrm>
                <a:off x="695" y="1033"/>
                <a:ext cx="12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80" name="Rectangle 19"/>
              <p:cNvSpPr>
                <a:spLocks noChangeArrowheads="1"/>
              </p:cNvSpPr>
              <p:nvPr/>
            </p:nvSpPr>
            <p:spPr bwMode="auto">
              <a:xfrm>
                <a:off x="1376" y="1141"/>
                <a:ext cx="11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81" name="Rectangle 20"/>
              <p:cNvSpPr>
                <a:spLocks noChangeArrowheads="1"/>
              </p:cNvSpPr>
              <p:nvPr/>
            </p:nvSpPr>
            <p:spPr bwMode="auto">
              <a:xfrm>
                <a:off x="1420" y="912"/>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2" name="Rectangle 21"/>
              <p:cNvSpPr>
                <a:spLocks noChangeArrowheads="1"/>
              </p:cNvSpPr>
              <p:nvPr/>
            </p:nvSpPr>
            <p:spPr bwMode="auto">
              <a:xfrm>
                <a:off x="927" y="1015"/>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3" name="Rectangle 22"/>
              <p:cNvSpPr>
                <a:spLocks noChangeArrowheads="1"/>
              </p:cNvSpPr>
              <p:nvPr/>
            </p:nvSpPr>
            <p:spPr bwMode="auto">
              <a:xfrm>
                <a:off x="1291" y="1382"/>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4" name="Rectangle 23"/>
              <p:cNvSpPr>
                <a:spLocks noChangeArrowheads="1"/>
              </p:cNvSpPr>
              <p:nvPr/>
            </p:nvSpPr>
            <p:spPr bwMode="auto">
              <a:xfrm>
                <a:off x="1862" y="1382"/>
                <a:ext cx="10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5" name="Line 24"/>
              <p:cNvSpPr>
                <a:spLocks noChangeShapeType="1"/>
              </p:cNvSpPr>
              <p:nvPr/>
            </p:nvSpPr>
            <p:spPr bwMode="auto">
              <a:xfrm>
                <a:off x="2384" y="1549"/>
                <a:ext cx="5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86" name="Line 25"/>
              <p:cNvSpPr>
                <a:spLocks noChangeShapeType="1"/>
              </p:cNvSpPr>
              <p:nvPr/>
            </p:nvSpPr>
            <p:spPr bwMode="auto">
              <a:xfrm>
                <a:off x="2983" y="1549"/>
                <a:ext cx="49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87" name="Rectangle 26"/>
              <p:cNvSpPr>
                <a:spLocks noChangeArrowheads="1"/>
              </p:cNvSpPr>
              <p:nvPr/>
            </p:nvSpPr>
            <p:spPr bwMode="auto">
              <a:xfrm>
                <a:off x="3160" y="1554"/>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88" name="Rectangle 27"/>
              <p:cNvSpPr>
                <a:spLocks noChangeArrowheads="1"/>
              </p:cNvSpPr>
              <p:nvPr/>
            </p:nvSpPr>
            <p:spPr bwMode="auto">
              <a:xfrm>
                <a:off x="3101" y="1334"/>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9" name="Rectangle 28"/>
              <p:cNvSpPr>
                <a:spLocks noChangeArrowheads="1"/>
              </p:cNvSpPr>
              <p:nvPr/>
            </p:nvSpPr>
            <p:spPr bwMode="auto">
              <a:xfrm>
                <a:off x="2988" y="1334"/>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90" name="Rectangle 29"/>
              <p:cNvSpPr>
                <a:spLocks noChangeArrowheads="1"/>
              </p:cNvSpPr>
              <p:nvPr/>
            </p:nvSpPr>
            <p:spPr bwMode="auto">
              <a:xfrm>
                <a:off x="2570" y="1554"/>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91" name="Rectangle 30"/>
              <p:cNvSpPr>
                <a:spLocks noChangeArrowheads="1"/>
              </p:cNvSpPr>
              <p:nvPr/>
            </p:nvSpPr>
            <p:spPr bwMode="auto">
              <a:xfrm>
                <a:off x="2809" y="1334"/>
                <a:ext cx="100"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92" name="Rectangle 31"/>
              <p:cNvSpPr>
                <a:spLocks noChangeArrowheads="1"/>
              </p:cNvSpPr>
              <p:nvPr/>
            </p:nvSpPr>
            <p:spPr bwMode="auto">
              <a:xfrm>
                <a:off x="2706" y="1334"/>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3" name="Rectangle 32"/>
              <p:cNvSpPr>
                <a:spLocks noChangeArrowheads="1"/>
              </p:cNvSpPr>
              <p:nvPr/>
            </p:nvSpPr>
            <p:spPr bwMode="auto">
              <a:xfrm>
                <a:off x="1948" y="1432"/>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4" name="Rectangle 33"/>
              <p:cNvSpPr>
                <a:spLocks noChangeArrowheads="1"/>
              </p:cNvSpPr>
              <p:nvPr/>
            </p:nvSpPr>
            <p:spPr bwMode="auto">
              <a:xfrm>
                <a:off x="940" y="1432"/>
                <a:ext cx="9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6" name="Rectangle 35"/>
              <p:cNvSpPr>
                <a:spLocks noChangeArrowheads="1"/>
              </p:cNvSpPr>
              <p:nvPr/>
            </p:nvSpPr>
            <p:spPr bwMode="auto">
              <a:xfrm>
                <a:off x="2665" y="1666"/>
                <a:ext cx="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endParaRPr lang="en-US" altLang="ko-KR" sz="1600" baseline="0" dirty="0">
                  <a:solidFill>
                    <a:srgbClr val="000000"/>
                  </a:solidFill>
                  <a:latin typeface="Times New Roman" pitchFamily="18" charset="0"/>
                  <a:ea typeface="굴림" pitchFamily="50" charset="-127"/>
                </a:endParaRPr>
              </a:p>
            </p:txBody>
          </p:sp>
          <p:sp>
            <p:nvSpPr>
              <p:cNvPr id="197" name="Rectangle 36"/>
              <p:cNvSpPr>
                <a:spLocks noChangeArrowheads="1"/>
              </p:cNvSpPr>
              <p:nvPr/>
            </p:nvSpPr>
            <p:spPr bwMode="auto">
              <a:xfrm>
                <a:off x="1748" y="1545"/>
                <a:ext cx="7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198" name="Rectangle 37"/>
              <p:cNvSpPr>
                <a:spLocks noChangeArrowheads="1"/>
              </p:cNvSpPr>
              <p:nvPr/>
            </p:nvSpPr>
            <p:spPr bwMode="auto">
              <a:xfrm>
                <a:off x="1451" y="1545"/>
                <a:ext cx="12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199" name="Rectangle 38"/>
              <p:cNvSpPr>
                <a:spLocks noChangeArrowheads="1"/>
              </p:cNvSpPr>
              <p:nvPr/>
            </p:nvSpPr>
            <p:spPr bwMode="auto">
              <a:xfrm>
                <a:off x="798" y="1545"/>
                <a:ext cx="96"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200" name="Rectangle 39"/>
              <p:cNvSpPr>
                <a:spLocks noChangeArrowheads="1"/>
              </p:cNvSpPr>
              <p:nvPr/>
            </p:nvSpPr>
            <p:spPr bwMode="auto">
              <a:xfrm>
                <a:off x="3090" y="1569"/>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201" name="Rectangle 40"/>
              <p:cNvSpPr>
                <a:spLocks noChangeArrowheads="1"/>
              </p:cNvSpPr>
              <p:nvPr/>
            </p:nvSpPr>
            <p:spPr bwMode="auto">
              <a:xfrm>
                <a:off x="3209" y="1351"/>
                <a:ext cx="30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202" name="Rectangle 41"/>
              <p:cNvSpPr>
                <a:spLocks noChangeArrowheads="1"/>
              </p:cNvSpPr>
              <p:nvPr/>
            </p:nvSpPr>
            <p:spPr bwMode="auto">
              <a:xfrm>
                <a:off x="2925" y="1449"/>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3" name="Rectangle 42"/>
              <p:cNvSpPr>
                <a:spLocks noChangeArrowheads="1"/>
              </p:cNvSpPr>
              <p:nvPr/>
            </p:nvSpPr>
            <p:spPr bwMode="auto">
              <a:xfrm>
                <a:off x="2501" y="1569"/>
                <a:ext cx="86"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204" name="Rectangle 43"/>
              <p:cNvSpPr>
                <a:spLocks noChangeArrowheads="1"/>
              </p:cNvSpPr>
              <p:nvPr/>
            </p:nvSpPr>
            <p:spPr bwMode="auto">
              <a:xfrm>
                <a:off x="2395" y="1351"/>
                <a:ext cx="327"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205" name="Rectangle 44"/>
              <p:cNvSpPr>
                <a:spLocks noChangeArrowheads="1"/>
              </p:cNvSpPr>
              <p:nvPr/>
            </p:nvSpPr>
            <p:spPr bwMode="auto">
              <a:xfrm>
                <a:off x="2065" y="1449"/>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206" name="Rectangle 45"/>
              <p:cNvSpPr>
                <a:spLocks noChangeArrowheads="1"/>
              </p:cNvSpPr>
              <p:nvPr/>
            </p:nvSpPr>
            <p:spPr bwMode="auto">
              <a:xfrm>
                <a:off x="1643" y="1449"/>
                <a:ext cx="11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207" name="Rectangle 46"/>
              <p:cNvSpPr>
                <a:spLocks noChangeArrowheads="1"/>
              </p:cNvSpPr>
              <p:nvPr/>
            </p:nvSpPr>
            <p:spPr bwMode="auto">
              <a:xfrm>
                <a:off x="1608" y="1449"/>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208" name="Rectangle 47"/>
              <p:cNvSpPr>
                <a:spLocks noChangeArrowheads="1"/>
              </p:cNvSpPr>
              <p:nvPr/>
            </p:nvSpPr>
            <p:spPr bwMode="auto">
              <a:xfrm>
                <a:off x="1577" y="1449"/>
                <a:ext cx="43"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9" name="Rectangle 48"/>
              <p:cNvSpPr>
                <a:spLocks noChangeArrowheads="1"/>
              </p:cNvSpPr>
              <p:nvPr/>
            </p:nvSpPr>
            <p:spPr bwMode="auto">
              <a:xfrm>
                <a:off x="1342" y="1449"/>
                <a:ext cx="202"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C </a:t>
                </a:r>
                <a:endParaRPr lang="en-US" altLang="ko-KR" sz="1600" baseline="0" dirty="0">
                  <a:solidFill>
                    <a:srgbClr val="000000"/>
                  </a:solidFill>
                  <a:latin typeface="Times New Roman" pitchFamily="18" charset="0"/>
                  <a:ea typeface="굴림" pitchFamily="50" charset="-127"/>
                </a:endParaRPr>
              </a:p>
            </p:txBody>
          </p:sp>
          <p:sp>
            <p:nvSpPr>
              <p:cNvPr id="210" name="Rectangle 49"/>
              <p:cNvSpPr>
                <a:spLocks noChangeArrowheads="1"/>
              </p:cNvSpPr>
              <p:nvPr/>
            </p:nvSpPr>
            <p:spPr bwMode="auto">
              <a:xfrm>
                <a:off x="1058" y="1449"/>
                <a:ext cx="26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211" name="Rectangle 50"/>
              <p:cNvSpPr>
                <a:spLocks noChangeArrowheads="1"/>
              </p:cNvSpPr>
              <p:nvPr/>
            </p:nvSpPr>
            <p:spPr bwMode="auto">
              <a:xfrm>
                <a:off x="692" y="1449"/>
                <a:ext cx="115"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grpSp>
        <p:sp>
          <p:nvSpPr>
            <p:cNvPr id="172" name="AutoShape 95"/>
            <p:cNvSpPr>
              <a:spLocks noChangeArrowheads="1"/>
            </p:cNvSpPr>
            <p:nvPr/>
          </p:nvSpPr>
          <p:spPr bwMode="auto">
            <a:xfrm>
              <a:off x="2604" y="1464"/>
              <a:ext cx="1296" cy="384"/>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grpSp>
      <p:grpSp>
        <p:nvGrpSpPr>
          <p:cNvPr id="4" name="Group 3"/>
          <p:cNvGrpSpPr>
            <a:grpSpLocks/>
          </p:cNvGrpSpPr>
          <p:nvPr/>
        </p:nvGrpSpPr>
        <p:grpSpPr bwMode="auto">
          <a:xfrm>
            <a:off x="1003738" y="4671677"/>
            <a:ext cx="3212123" cy="917575"/>
            <a:chOff x="3192" y="1229"/>
            <a:chExt cx="2192" cy="578"/>
          </a:xfrm>
        </p:grpSpPr>
        <p:sp>
          <p:nvSpPr>
            <p:cNvPr id="213" name="Line 4"/>
            <p:cNvSpPr>
              <a:spLocks noChangeShapeType="1"/>
            </p:cNvSpPr>
            <p:nvPr/>
          </p:nvSpPr>
          <p:spPr bwMode="auto">
            <a:xfrm flipV="1">
              <a:off x="3268" y="1358"/>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4" name="Line 5"/>
            <p:cNvSpPr>
              <a:spLocks noChangeShapeType="1"/>
            </p:cNvSpPr>
            <p:nvPr/>
          </p:nvSpPr>
          <p:spPr bwMode="auto">
            <a:xfrm flipV="1">
              <a:off x="3268" y="1383"/>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5" name="Line 6"/>
            <p:cNvSpPr>
              <a:spLocks noChangeShapeType="1"/>
            </p:cNvSpPr>
            <p:nvPr/>
          </p:nvSpPr>
          <p:spPr bwMode="auto">
            <a:xfrm flipV="1">
              <a:off x="3268" y="1411"/>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6" name="Line 7"/>
            <p:cNvSpPr>
              <a:spLocks noChangeShapeType="1"/>
            </p:cNvSpPr>
            <p:nvPr/>
          </p:nvSpPr>
          <p:spPr bwMode="auto">
            <a:xfrm flipV="1">
              <a:off x="3268" y="1435"/>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7" name="Line 8"/>
            <p:cNvSpPr>
              <a:spLocks noChangeShapeType="1"/>
            </p:cNvSpPr>
            <p:nvPr/>
          </p:nvSpPr>
          <p:spPr bwMode="auto">
            <a:xfrm flipV="1">
              <a:off x="3268" y="1462"/>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8" name="Line 9"/>
            <p:cNvSpPr>
              <a:spLocks noChangeShapeType="1"/>
            </p:cNvSpPr>
            <p:nvPr/>
          </p:nvSpPr>
          <p:spPr bwMode="auto">
            <a:xfrm>
              <a:off x="3268" y="1492"/>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19" name="Line 10"/>
            <p:cNvSpPr>
              <a:spLocks noChangeShapeType="1"/>
            </p:cNvSpPr>
            <p:nvPr/>
          </p:nvSpPr>
          <p:spPr bwMode="auto">
            <a:xfrm>
              <a:off x="3268" y="1518"/>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0" name="Line 11"/>
            <p:cNvSpPr>
              <a:spLocks noChangeShapeType="1"/>
            </p:cNvSpPr>
            <p:nvPr/>
          </p:nvSpPr>
          <p:spPr bwMode="auto">
            <a:xfrm flipV="1">
              <a:off x="3268" y="1542"/>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1" name="Line 12"/>
            <p:cNvSpPr>
              <a:spLocks noChangeShapeType="1"/>
            </p:cNvSpPr>
            <p:nvPr/>
          </p:nvSpPr>
          <p:spPr bwMode="auto">
            <a:xfrm>
              <a:off x="3268" y="1570"/>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2" name="Line 13"/>
            <p:cNvSpPr>
              <a:spLocks noChangeShapeType="1"/>
            </p:cNvSpPr>
            <p:nvPr/>
          </p:nvSpPr>
          <p:spPr bwMode="auto">
            <a:xfrm>
              <a:off x="3268" y="1597"/>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3" name="Line 14"/>
            <p:cNvSpPr>
              <a:spLocks noChangeShapeType="1"/>
            </p:cNvSpPr>
            <p:nvPr/>
          </p:nvSpPr>
          <p:spPr bwMode="auto">
            <a:xfrm>
              <a:off x="3268" y="1623"/>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4" name="Line 15"/>
            <p:cNvSpPr>
              <a:spLocks noChangeShapeType="1"/>
            </p:cNvSpPr>
            <p:nvPr/>
          </p:nvSpPr>
          <p:spPr bwMode="auto">
            <a:xfrm flipV="1">
              <a:off x="3268" y="1644"/>
              <a:ext cx="2107" cy="3"/>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5" name="Line 16"/>
            <p:cNvSpPr>
              <a:spLocks noChangeShapeType="1"/>
            </p:cNvSpPr>
            <p:nvPr/>
          </p:nvSpPr>
          <p:spPr bwMode="auto">
            <a:xfrm flipV="1">
              <a:off x="3268" y="1672"/>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6" name="Line 17"/>
            <p:cNvSpPr>
              <a:spLocks noChangeShapeType="1"/>
            </p:cNvSpPr>
            <p:nvPr/>
          </p:nvSpPr>
          <p:spPr bwMode="auto">
            <a:xfrm>
              <a:off x="3268" y="1702"/>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7" name="Line 18"/>
            <p:cNvSpPr>
              <a:spLocks noChangeShapeType="1"/>
            </p:cNvSpPr>
            <p:nvPr/>
          </p:nvSpPr>
          <p:spPr bwMode="auto">
            <a:xfrm>
              <a:off x="3268" y="1727"/>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8" name="Line 19"/>
            <p:cNvSpPr>
              <a:spLocks noChangeShapeType="1"/>
            </p:cNvSpPr>
            <p:nvPr/>
          </p:nvSpPr>
          <p:spPr bwMode="auto">
            <a:xfrm>
              <a:off x="3268" y="1755"/>
              <a:ext cx="2114"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29" name="Line 20"/>
            <p:cNvSpPr>
              <a:spLocks noChangeShapeType="1"/>
            </p:cNvSpPr>
            <p:nvPr/>
          </p:nvSpPr>
          <p:spPr bwMode="auto">
            <a:xfrm>
              <a:off x="3268" y="1334"/>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0" name="Line 21"/>
            <p:cNvSpPr>
              <a:spLocks noChangeShapeType="1"/>
            </p:cNvSpPr>
            <p:nvPr/>
          </p:nvSpPr>
          <p:spPr bwMode="auto">
            <a:xfrm>
              <a:off x="3268" y="1310"/>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1" name="Line 22"/>
            <p:cNvSpPr>
              <a:spLocks noChangeShapeType="1"/>
            </p:cNvSpPr>
            <p:nvPr/>
          </p:nvSpPr>
          <p:spPr bwMode="auto">
            <a:xfrm>
              <a:off x="3268" y="1282"/>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2" name="Line 23"/>
            <p:cNvSpPr>
              <a:spLocks noChangeShapeType="1"/>
            </p:cNvSpPr>
            <p:nvPr/>
          </p:nvSpPr>
          <p:spPr bwMode="auto">
            <a:xfrm flipV="1">
              <a:off x="3268" y="1253"/>
              <a:ext cx="2107" cy="4"/>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3" name="Line 24"/>
            <p:cNvSpPr>
              <a:spLocks noChangeShapeType="1"/>
            </p:cNvSpPr>
            <p:nvPr/>
          </p:nvSpPr>
          <p:spPr bwMode="auto">
            <a:xfrm flipV="1">
              <a:off x="3268" y="1775"/>
              <a:ext cx="2109" cy="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4" name="Line 25"/>
            <p:cNvSpPr>
              <a:spLocks noChangeShapeType="1"/>
            </p:cNvSpPr>
            <p:nvPr/>
          </p:nvSpPr>
          <p:spPr bwMode="auto">
            <a:xfrm>
              <a:off x="3268" y="1230"/>
              <a:ext cx="2107"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5" name="Line 26"/>
            <p:cNvSpPr>
              <a:spLocks noChangeShapeType="1"/>
            </p:cNvSpPr>
            <p:nvPr/>
          </p:nvSpPr>
          <p:spPr bwMode="auto">
            <a:xfrm>
              <a:off x="3268" y="1807"/>
              <a:ext cx="2109" cy="0"/>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6" name="Line 27"/>
            <p:cNvSpPr>
              <a:spLocks noChangeShapeType="1"/>
            </p:cNvSpPr>
            <p:nvPr/>
          </p:nvSpPr>
          <p:spPr bwMode="auto">
            <a:xfrm>
              <a:off x="3268" y="1230"/>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7" name="Line 28"/>
            <p:cNvSpPr>
              <a:spLocks noChangeShapeType="1"/>
            </p:cNvSpPr>
            <p:nvPr/>
          </p:nvSpPr>
          <p:spPr bwMode="auto">
            <a:xfrm>
              <a:off x="3436"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8" name="Line 29"/>
            <p:cNvSpPr>
              <a:spLocks noChangeShapeType="1"/>
            </p:cNvSpPr>
            <p:nvPr/>
          </p:nvSpPr>
          <p:spPr bwMode="auto">
            <a:xfrm>
              <a:off x="3599"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39" name="Line 30"/>
            <p:cNvSpPr>
              <a:spLocks noChangeShapeType="1"/>
            </p:cNvSpPr>
            <p:nvPr/>
          </p:nvSpPr>
          <p:spPr bwMode="auto">
            <a:xfrm>
              <a:off x="3762"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0" name="Line 31"/>
            <p:cNvSpPr>
              <a:spLocks noChangeShapeType="1"/>
            </p:cNvSpPr>
            <p:nvPr/>
          </p:nvSpPr>
          <p:spPr bwMode="auto">
            <a:xfrm>
              <a:off x="3929"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1" name="Line 32"/>
            <p:cNvSpPr>
              <a:spLocks noChangeShapeType="1"/>
            </p:cNvSpPr>
            <p:nvPr/>
          </p:nvSpPr>
          <p:spPr bwMode="auto">
            <a:xfrm>
              <a:off x="4095"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2" name="Line 33"/>
            <p:cNvSpPr>
              <a:spLocks noChangeShapeType="1"/>
            </p:cNvSpPr>
            <p:nvPr/>
          </p:nvSpPr>
          <p:spPr bwMode="auto">
            <a:xfrm>
              <a:off x="4262"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3" name="Line 34"/>
            <p:cNvSpPr>
              <a:spLocks noChangeShapeType="1"/>
            </p:cNvSpPr>
            <p:nvPr/>
          </p:nvSpPr>
          <p:spPr bwMode="auto">
            <a:xfrm>
              <a:off x="4423"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4" name="Line 35"/>
            <p:cNvSpPr>
              <a:spLocks noChangeShapeType="1"/>
            </p:cNvSpPr>
            <p:nvPr/>
          </p:nvSpPr>
          <p:spPr bwMode="auto">
            <a:xfrm>
              <a:off x="4591"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5" name="Line 36"/>
            <p:cNvSpPr>
              <a:spLocks noChangeShapeType="1"/>
            </p:cNvSpPr>
            <p:nvPr/>
          </p:nvSpPr>
          <p:spPr bwMode="auto">
            <a:xfrm>
              <a:off x="4754" y="1230"/>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6" name="Line 37"/>
            <p:cNvSpPr>
              <a:spLocks noChangeShapeType="1"/>
            </p:cNvSpPr>
            <p:nvPr/>
          </p:nvSpPr>
          <p:spPr bwMode="auto">
            <a:xfrm>
              <a:off x="4918"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7" name="Line 38"/>
            <p:cNvSpPr>
              <a:spLocks noChangeShapeType="1"/>
            </p:cNvSpPr>
            <p:nvPr/>
          </p:nvSpPr>
          <p:spPr bwMode="auto">
            <a:xfrm>
              <a:off x="5086"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8" name="Line 39"/>
            <p:cNvSpPr>
              <a:spLocks noChangeShapeType="1"/>
            </p:cNvSpPr>
            <p:nvPr/>
          </p:nvSpPr>
          <p:spPr bwMode="auto">
            <a:xfrm>
              <a:off x="5249" y="1229"/>
              <a:ext cx="0" cy="577"/>
            </a:xfrm>
            <a:prstGeom prst="line">
              <a:avLst/>
            </a:prstGeom>
            <a:noFill/>
            <a:ln w="12700">
              <a:solidFill>
                <a:srgbClr val="777777"/>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49" name="Line 40"/>
            <p:cNvSpPr>
              <a:spLocks noChangeShapeType="1"/>
            </p:cNvSpPr>
            <p:nvPr/>
          </p:nvSpPr>
          <p:spPr bwMode="auto">
            <a:xfrm>
              <a:off x="3269" y="1539"/>
              <a:ext cx="2106" cy="7"/>
            </a:xfrm>
            <a:prstGeom prst="line">
              <a:avLst/>
            </a:prstGeom>
            <a:noFill/>
            <a:ln w="508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50" name="Line 41"/>
            <p:cNvSpPr>
              <a:spLocks noChangeShapeType="1"/>
            </p:cNvSpPr>
            <p:nvPr/>
          </p:nvSpPr>
          <p:spPr bwMode="auto">
            <a:xfrm flipV="1">
              <a:off x="3295" y="1709"/>
              <a:ext cx="2080" cy="3"/>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51" name="Rectangle 42"/>
            <p:cNvSpPr>
              <a:spLocks noChangeArrowheads="1"/>
            </p:cNvSpPr>
            <p:nvPr/>
          </p:nvSpPr>
          <p:spPr bwMode="auto">
            <a:xfrm>
              <a:off x="3192" y="1320"/>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2" name="Rectangle 43"/>
            <p:cNvSpPr>
              <a:spLocks noChangeArrowheads="1"/>
            </p:cNvSpPr>
            <p:nvPr/>
          </p:nvSpPr>
          <p:spPr bwMode="auto">
            <a:xfrm>
              <a:off x="3355" y="146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3" name="Rectangle 44"/>
            <p:cNvSpPr>
              <a:spLocks noChangeArrowheads="1"/>
            </p:cNvSpPr>
            <p:nvPr/>
          </p:nvSpPr>
          <p:spPr bwMode="auto">
            <a:xfrm>
              <a:off x="3519" y="137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4" name="Rectangle 45"/>
            <p:cNvSpPr>
              <a:spLocks noChangeArrowheads="1"/>
            </p:cNvSpPr>
            <p:nvPr/>
          </p:nvSpPr>
          <p:spPr bwMode="auto">
            <a:xfrm>
              <a:off x="3661" y="1338"/>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5" name="Rectangle 46"/>
            <p:cNvSpPr>
              <a:spLocks noChangeArrowheads="1"/>
            </p:cNvSpPr>
            <p:nvPr/>
          </p:nvSpPr>
          <p:spPr bwMode="auto">
            <a:xfrm>
              <a:off x="3830" y="1498"/>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6" name="Rectangle 47"/>
            <p:cNvSpPr>
              <a:spLocks noChangeArrowheads="1"/>
            </p:cNvSpPr>
            <p:nvPr/>
          </p:nvSpPr>
          <p:spPr bwMode="auto">
            <a:xfrm>
              <a:off x="3996" y="136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7" name="Rectangle 48"/>
            <p:cNvSpPr>
              <a:spLocks noChangeArrowheads="1"/>
            </p:cNvSpPr>
            <p:nvPr/>
          </p:nvSpPr>
          <p:spPr bwMode="auto">
            <a:xfrm>
              <a:off x="4163" y="1452"/>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8" name="Rectangle 49"/>
            <p:cNvSpPr>
              <a:spLocks noChangeArrowheads="1"/>
            </p:cNvSpPr>
            <p:nvPr/>
          </p:nvSpPr>
          <p:spPr bwMode="auto">
            <a:xfrm>
              <a:off x="4497" y="1509"/>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59" name="Rectangle 50"/>
            <p:cNvSpPr>
              <a:spLocks noChangeArrowheads="1"/>
            </p:cNvSpPr>
            <p:nvPr/>
          </p:nvSpPr>
          <p:spPr bwMode="auto">
            <a:xfrm>
              <a:off x="4322" y="1316"/>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0" name="Rectangle 51"/>
            <p:cNvSpPr>
              <a:spLocks noChangeArrowheads="1"/>
            </p:cNvSpPr>
            <p:nvPr/>
          </p:nvSpPr>
          <p:spPr bwMode="auto">
            <a:xfrm>
              <a:off x="4653" y="1340"/>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1" name="Rectangle 52"/>
            <p:cNvSpPr>
              <a:spLocks noChangeArrowheads="1"/>
            </p:cNvSpPr>
            <p:nvPr/>
          </p:nvSpPr>
          <p:spPr bwMode="auto">
            <a:xfrm>
              <a:off x="4817" y="1372"/>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2" name="Rectangle 53"/>
            <p:cNvSpPr>
              <a:spLocks noChangeArrowheads="1"/>
            </p:cNvSpPr>
            <p:nvPr/>
          </p:nvSpPr>
          <p:spPr bwMode="auto">
            <a:xfrm>
              <a:off x="4992" y="1520"/>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3" name="Rectangle 54"/>
            <p:cNvSpPr>
              <a:spLocks noChangeArrowheads="1"/>
            </p:cNvSpPr>
            <p:nvPr/>
          </p:nvSpPr>
          <p:spPr bwMode="auto">
            <a:xfrm>
              <a:off x="5170" y="1497"/>
              <a:ext cx="21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800" b="1" dirty="0">
                  <a:latin typeface="Arial" charset="0"/>
                </a:rPr>
                <a:t>x</a:t>
              </a:r>
            </a:p>
          </p:txBody>
        </p:sp>
        <p:sp>
          <p:nvSpPr>
            <p:cNvPr id="264" name="Line 55"/>
            <p:cNvSpPr>
              <a:spLocks noChangeShapeType="1"/>
            </p:cNvSpPr>
            <p:nvPr/>
          </p:nvSpPr>
          <p:spPr bwMode="auto">
            <a:xfrm>
              <a:off x="3277" y="1429"/>
              <a:ext cx="155" cy="14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5" name="Line 56"/>
            <p:cNvSpPr>
              <a:spLocks noChangeShapeType="1"/>
            </p:cNvSpPr>
            <p:nvPr/>
          </p:nvSpPr>
          <p:spPr bwMode="auto">
            <a:xfrm flipV="1">
              <a:off x="3438" y="1490"/>
              <a:ext cx="154" cy="8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6" name="Line 57"/>
            <p:cNvSpPr>
              <a:spLocks noChangeShapeType="1"/>
            </p:cNvSpPr>
            <p:nvPr/>
          </p:nvSpPr>
          <p:spPr bwMode="auto">
            <a:xfrm flipV="1">
              <a:off x="3587" y="1462"/>
              <a:ext cx="172" cy="2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7" name="Line 58"/>
            <p:cNvSpPr>
              <a:spLocks noChangeShapeType="1"/>
            </p:cNvSpPr>
            <p:nvPr/>
          </p:nvSpPr>
          <p:spPr bwMode="auto">
            <a:xfrm>
              <a:off x="3764" y="1455"/>
              <a:ext cx="165" cy="16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8" name="Line 59"/>
            <p:cNvSpPr>
              <a:spLocks noChangeShapeType="1"/>
            </p:cNvSpPr>
            <p:nvPr/>
          </p:nvSpPr>
          <p:spPr bwMode="auto">
            <a:xfrm flipV="1">
              <a:off x="3929" y="1481"/>
              <a:ext cx="158" cy="14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69" name="Line 60"/>
            <p:cNvSpPr>
              <a:spLocks noChangeShapeType="1"/>
            </p:cNvSpPr>
            <p:nvPr/>
          </p:nvSpPr>
          <p:spPr bwMode="auto">
            <a:xfrm>
              <a:off x="4087" y="1492"/>
              <a:ext cx="170" cy="86"/>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0" name="Line 61"/>
            <p:cNvSpPr>
              <a:spLocks noChangeShapeType="1"/>
            </p:cNvSpPr>
            <p:nvPr/>
          </p:nvSpPr>
          <p:spPr bwMode="auto">
            <a:xfrm flipV="1">
              <a:off x="4257" y="1438"/>
              <a:ext cx="167" cy="143"/>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1" name="Line 62"/>
            <p:cNvSpPr>
              <a:spLocks noChangeShapeType="1"/>
            </p:cNvSpPr>
            <p:nvPr/>
          </p:nvSpPr>
          <p:spPr bwMode="auto">
            <a:xfrm flipV="1">
              <a:off x="4384" y="1474"/>
              <a:ext cx="0" cy="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2" name="Line 63"/>
            <p:cNvSpPr>
              <a:spLocks noChangeShapeType="1"/>
            </p:cNvSpPr>
            <p:nvPr/>
          </p:nvSpPr>
          <p:spPr bwMode="auto">
            <a:xfrm>
              <a:off x="4418" y="1442"/>
              <a:ext cx="169" cy="181"/>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3" name="Line 64"/>
            <p:cNvSpPr>
              <a:spLocks noChangeShapeType="1"/>
            </p:cNvSpPr>
            <p:nvPr/>
          </p:nvSpPr>
          <p:spPr bwMode="auto">
            <a:xfrm flipV="1">
              <a:off x="4587" y="1465"/>
              <a:ext cx="169" cy="158"/>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4" name="Line 65"/>
            <p:cNvSpPr>
              <a:spLocks noChangeShapeType="1"/>
            </p:cNvSpPr>
            <p:nvPr/>
          </p:nvSpPr>
          <p:spPr bwMode="auto">
            <a:xfrm>
              <a:off x="4750" y="1468"/>
              <a:ext cx="161" cy="2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5" name="Line 66"/>
            <p:cNvSpPr>
              <a:spLocks noChangeShapeType="1"/>
            </p:cNvSpPr>
            <p:nvPr/>
          </p:nvSpPr>
          <p:spPr bwMode="auto">
            <a:xfrm>
              <a:off x="4911" y="1492"/>
              <a:ext cx="175" cy="152"/>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6" name="Line 67"/>
            <p:cNvSpPr>
              <a:spLocks noChangeShapeType="1"/>
            </p:cNvSpPr>
            <p:nvPr/>
          </p:nvSpPr>
          <p:spPr bwMode="auto">
            <a:xfrm flipV="1">
              <a:off x="5088" y="1611"/>
              <a:ext cx="162" cy="33"/>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7" name="Line 68"/>
            <p:cNvSpPr>
              <a:spLocks noChangeShapeType="1"/>
            </p:cNvSpPr>
            <p:nvPr/>
          </p:nvSpPr>
          <p:spPr bwMode="auto">
            <a:xfrm flipV="1">
              <a:off x="5252" y="1481"/>
              <a:ext cx="123" cy="127"/>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278" name="Line 69"/>
            <p:cNvSpPr>
              <a:spLocks noChangeShapeType="1"/>
            </p:cNvSpPr>
            <p:nvPr/>
          </p:nvSpPr>
          <p:spPr bwMode="auto">
            <a:xfrm>
              <a:off x="3301" y="1362"/>
              <a:ext cx="2074" cy="8"/>
            </a:xfrm>
            <a:prstGeom prst="line">
              <a:avLst/>
            </a:prstGeom>
            <a:noFill/>
            <a:ln w="25400">
              <a:solidFill>
                <a:schemeClr val="tx1"/>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grpSp>
      <p:sp>
        <p:nvSpPr>
          <p:cNvPr id="121" name="Text Box 55"/>
          <p:cNvSpPr txBox="1">
            <a:spLocks noChangeArrowheads="1"/>
          </p:cNvSpPr>
          <p:nvPr/>
        </p:nvSpPr>
        <p:spPr bwMode="auto">
          <a:xfrm>
            <a:off x="650334" y="932210"/>
            <a:ext cx="752621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Điều</a:t>
            </a:r>
            <a:r>
              <a:rPr lang="en-US" altLang="ko-KR" sz="1600" b="1" baseline="0" dirty="0">
                <a:solidFill>
                  <a:srgbClr val="000000"/>
                </a:solidFill>
              </a:rPr>
              <a:t> </a:t>
            </a:r>
            <a:r>
              <a:rPr lang="en-US" altLang="ko-KR" sz="1600" b="1" baseline="0" dirty="0" err="1">
                <a:solidFill>
                  <a:srgbClr val="000000"/>
                </a:solidFill>
              </a:rPr>
              <a:t>tra</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 </a:t>
            </a:r>
            <a:r>
              <a:rPr lang="en-US" altLang="ko-KR" sz="1600" b="1" baseline="0" dirty="0" err="1">
                <a:solidFill>
                  <a:srgbClr val="000000"/>
                </a:solidFill>
              </a:rPr>
              <a:t>trong</a:t>
            </a:r>
            <a:r>
              <a:rPr lang="en-US" altLang="ko-KR" sz="1600" b="1" baseline="0" dirty="0">
                <a:solidFill>
                  <a:srgbClr val="000000"/>
                </a:solidFill>
              </a:rPr>
              <a:t> </a:t>
            </a:r>
            <a:r>
              <a:rPr lang="en-US" altLang="ko-KR" sz="1600" b="1" baseline="0" dirty="0" err="1">
                <a:solidFill>
                  <a:srgbClr val="000000"/>
                </a:solidFill>
              </a:rPr>
              <a:t>giai</a:t>
            </a:r>
            <a:r>
              <a:rPr lang="en-US" altLang="ko-KR" sz="1600" b="1" baseline="0" dirty="0">
                <a:solidFill>
                  <a:srgbClr val="000000"/>
                </a:solidFill>
              </a:rPr>
              <a:t> </a:t>
            </a:r>
            <a:r>
              <a:rPr lang="en-US" altLang="ko-KR" sz="1600" b="1" baseline="0" dirty="0" err="1">
                <a:solidFill>
                  <a:srgbClr val="000000"/>
                </a:solidFill>
              </a:rPr>
              <a:t>đoạn</a:t>
            </a:r>
            <a:r>
              <a:rPr lang="en-US" altLang="ko-KR" sz="1600" b="1" baseline="0" dirty="0">
                <a:solidFill>
                  <a:srgbClr val="000000"/>
                </a:solidFill>
              </a:rPr>
              <a:t> </a:t>
            </a:r>
            <a:r>
              <a:rPr lang="en-US" altLang="ko-KR" sz="1600" b="1" baseline="0" dirty="0" err="1">
                <a:solidFill>
                  <a:srgbClr val="000000"/>
                </a:solidFill>
              </a:rPr>
              <a:t>sản</a:t>
            </a:r>
            <a:r>
              <a:rPr lang="en-US" altLang="ko-KR" sz="1600" b="1" baseline="0" dirty="0">
                <a:solidFill>
                  <a:srgbClr val="000000"/>
                </a:solidFill>
              </a:rPr>
              <a:t> </a:t>
            </a:r>
            <a:r>
              <a:rPr lang="en-US" altLang="ko-KR" sz="1600" b="1" baseline="0" dirty="0" err="1">
                <a:solidFill>
                  <a:srgbClr val="000000"/>
                </a:solidFill>
              </a:rPr>
              <a:t>xuất</a:t>
            </a:r>
            <a:r>
              <a:rPr lang="en-US" altLang="ko-KR" sz="1600" b="1" baseline="0" dirty="0">
                <a:solidFill>
                  <a:srgbClr val="000000"/>
                </a:solidFill>
              </a:rPr>
              <a:t> </a:t>
            </a:r>
            <a:r>
              <a:rPr lang="en-US" altLang="ko-KR" sz="1600" b="1" baseline="0" dirty="0" err="1">
                <a:solidFill>
                  <a:srgbClr val="000000"/>
                </a:solidFill>
              </a:rPr>
              <a:t>hàng</a:t>
            </a:r>
            <a:r>
              <a:rPr lang="en-US" altLang="ko-KR" sz="1600" b="1" baseline="0" dirty="0">
                <a:solidFill>
                  <a:srgbClr val="000000"/>
                </a:solidFill>
              </a:rPr>
              <a:t> </a:t>
            </a:r>
            <a:r>
              <a:rPr lang="en-US" altLang="ko-KR" sz="1600" b="1" baseline="0" dirty="0" err="1">
                <a:solidFill>
                  <a:srgbClr val="000000"/>
                </a:solidFill>
              </a:rPr>
              <a:t>loại</a:t>
            </a:r>
            <a:endParaRPr lang="en-US" altLang="ko-KR" sz="1600" b="1" baseline="0" dirty="0">
              <a:solidFill>
                <a:srgbClr val="000000"/>
              </a:solidFill>
            </a:endParaRPr>
          </a:p>
        </p:txBody>
      </p:sp>
      <p:sp>
        <p:nvSpPr>
          <p:cNvPr id="122" name="Rectangle 4"/>
          <p:cNvSpPr>
            <a:spLocks noChangeArrowheads="1"/>
          </p:cNvSpPr>
          <p:nvPr/>
        </p:nvSpPr>
        <p:spPr bwMode="auto">
          <a:xfrm>
            <a:off x="6236331" y="2988967"/>
            <a:ext cx="2075767" cy="1175840"/>
          </a:xfrm>
          <a:prstGeom prst="rect">
            <a:avLst/>
          </a:prstGeom>
          <a:solidFill>
            <a:schemeClr val="bg1">
              <a:lumMod val="75000"/>
              <a:alpha val="14117"/>
            </a:schemeClr>
          </a:solidFill>
          <a:ln w="12700" algn="ctr">
            <a:solidFill>
              <a:schemeClr val="bg2"/>
            </a:solidFill>
            <a:miter lim="800000"/>
            <a:headEnd/>
            <a:tailEnd/>
          </a:ln>
          <a:effectLst>
            <a:outerShdw blurRad="50800" dist="38100" dir="2700000" algn="tl" rotWithShape="0">
              <a:prstClr val="black">
                <a:alpha val="40000"/>
              </a:prstClr>
            </a:outerShdw>
          </a:effec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latinLnBrk="0">
              <a:spcBef>
                <a:spcPct val="0"/>
              </a:spcBef>
              <a:buNone/>
            </a:pPr>
            <a:r>
              <a:rPr kumimoji="0" lang="en-US" altLang="ko-KR" sz="2000" b="1" dirty="0" err="1">
                <a:latin typeface="Arial" charset="0"/>
              </a:rPr>
              <a:t>Cpk</a:t>
            </a:r>
            <a:r>
              <a:rPr kumimoji="0" lang="en-US" altLang="ko-KR" sz="2000" b="1" dirty="0">
                <a:latin typeface="Arial" charset="0"/>
              </a:rPr>
              <a:t>≥ 1.67</a:t>
            </a:r>
          </a:p>
        </p:txBody>
      </p:sp>
      <p:sp>
        <p:nvSpPr>
          <p:cNvPr id="123" name="Text Box 5"/>
          <p:cNvSpPr txBox="1">
            <a:spLocks noChangeArrowheads="1"/>
          </p:cNvSpPr>
          <p:nvPr/>
        </p:nvSpPr>
        <p:spPr bwMode="auto">
          <a:xfrm>
            <a:off x="5967848" y="2621483"/>
            <a:ext cx="3068469" cy="584775"/>
          </a:xfrm>
          <a:prstGeom prst="rect">
            <a:avLst/>
          </a:prstGeom>
          <a:solidFill>
            <a:schemeClr val="bg1">
              <a:lumMod val="75000"/>
            </a:schemeClr>
          </a:solidFill>
          <a:ln w="12700" algn="ctr">
            <a:noFill/>
            <a:miter lim="800000"/>
            <a:headEnd/>
            <a:tailEnd/>
          </a:ln>
          <a:effectLst>
            <a:outerShdw blurRad="50800" dist="38100" dir="2700000" algn="tl" rotWithShape="0">
              <a:prstClr val="black">
                <a:alpha val="40000"/>
              </a:prstClr>
            </a:outerShdw>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600" dirty="0" err="1">
                <a:latin typeface="+mn-lt"/>
              </a:rPr>
              <a:t>Tiêu</a:t>
            </a:r>
            <a:r>
              <a:rPr kumimoji="0" lang="en-US" altLang="ko-KR" sz="1600" dirty="0">
                <a:latin typeface="+mn-lt"/>
              </a:rPr>
              <a:t> </a:t>
            </a:r>
            <a:r>
              <a:rPr kumimoji="0" lang="en-US" altLang="ko-KR" sz="1600" dirty="0" err="1">
                <a:latin typeface="+mn-lt"/>
              </a:rPr>
              <a:t>chuẩn</a:t>
            </a:r>
            <a:r>
              <a:rPr kumimoji="0" lang="en-US" altLang="ko-KR" sz="1600" dirty="0">
                <a:latin typeface="+mn-lt"/>
              </a:rPr>
              <a:t> </a:t>
            </a:r>
            <a:r>
              <a:rPr kumimoji="0" lang="en-US" altLang="ko-KR" sz="1600" dirty="0" err="1">
                <a:latin typeface="+mn-lt"/>
              </a:rPr>
              <a:t>đánh</a:t>
            </a:r>
            <a:r>
              <a:rPr kumimoji="0" lang="en-US" altLang="ko-KR" sz="1600" dirty="0">
                <a:latin typeface="+mn-lt"/>
              </a:rPr>
              <a:t> </a:t>
            </a:r>
            <a:r>
              <a:rPr kumimoji="0" lang="en-US" altLang="ko-KR" sz="1600" dirty="0" err="1">
                <a:latin typeface="+mn-lt"/>
              </a:rPr>
              <a:t>giá</a:t>
            </a:r>
            <a:r>
              <a:rPr kumimoji="0" lang="en-US" altLang="ko-KR" sz="1600" dirty="0">
                <a:latin typeface="+mn-lt"/>
              </a:rPr>
              <a:t> </a:t>
            </a:r>
          </a:p>
          <a:p>
            <a:pPr latinLnBrk="0">
              <a:spcBef>
                <a:spcPct val="0"/>
              </a:spcBef>
              <a:buFontTx/>
              <a:buNone/>
            </a:pPr>
            <a:r>
              <a:rPr kumimoji="0" lang="en-US" altLang="ko-KR" sz="1600" dirty="0">
                <a:latin typeface="+mn-lt"/>
              </a:rPr>
              <a:t>(</a:t>
            </a:r>
            <a:r>
              <a:rPr kumimoji="0" lang="en-US" altLang="ko-KR" sz="1600" dirty="0" err="1">
                <a:latin typeface="+mn-lt"/>
              </a:rPr>
              <a:t>giai</a:t>
            </a:r>
            <a:r>
              <a:rPr kumimoji="0" lang="en-US" altLang="ko-KR" sz="1600" dirty="0">
                <a:latin typeface="+mn-lt"/>
              </a:rPr>
              <a:t> </a:t>
            </a:r>
            <a:r>
              <a:rPr kumimoji="0" lang="en-US" altLang="ko-KR" sz="1600" dirty="0" err="1">
                <a:latin typeface="+mn-lt"/>
              </a:rPr>
              <a:t>đoạn</a:t>
            </a:r>
            <a:r>
              <a:rPr kumimoji="0" lang="en-US" altLang="ko-KR" sz="1600" dirty="0">
                <a:latin typeface="+mn-lt"/>
              </a:rPr>
              <a:t> </a:t>
            </a:r>
            <a:r>
              <a:rPr kumimoji="0" lang="en-US" altLang="ko-KR" sz="1600" dirty="0" err="1">
                <a:latin typeface="+mn-lt"/>
              </a:rPr>
              <a:t>sản</a:t>
            </a:r>
            <a:r>
              <a:rPr kumimoji="0" lang="en-US" altLang="ko-KR" sz="1600" dirty="0">
                <a:latin typeface="+mn-lt"/>
              </a:rPr>
              <a:t> </a:t>
            </a:r>
            <a:r>
              <a:rPr kumimoji="0" lang="en-US" altLang="ko-KR" sz="1600" dirty="0" err="1">
                <a:latin typeface="+mn-lt"/>
              </a:rPr>
              <a:t>xuất</a:t>
            </a:r>
            <a:r>
              <a:rPr kumimoji="0" lang="en-US" altLang="ko-KR" sz="1600" dirty="0">
                <a:latin typeface="+mn-lt"/>
              </a:rPr>
              <a:t> </a:t>
            </a:r>
            <a:r>
              <a:rPr kumimoji="0" lang="en-US" altLang="ko-KR" sz="1600" dirty="0" err="1">
                <a:latin typeface="+mn-lt"/>
              </a:rPr>
              <a:t>hàng</a:t>
            </a:r>
            <a:r>
              <a:rPr kumimoji="0" lang="en-US" altLang="ko-KR" sz="1600" dirty="0">
                <a:latin typeface="+mn-lt"/>
              </a:rPr>
              <a:t> </a:t>
            </a:r>
            <a:r>
              <a:rPr kumimoji="0" lang="en-US" altLang="ko-KR" sz="1600" dirty="0" err="1">
                <a:latin typeface="+mn-lt"/>
              </a:rPr>
              <a:t>loạt</a:t>
            </a:r>
            <a:r>
              <a:rPr kumimoji="0" lang="en-US" altLang="ko-KR" sz="1600" dirty="0">
                <a:latin typeface="+mn-lt"/>
              </a:rPr>
              <a:t>)</a:t>
            </a:r>
            <a:endParaRPr kumimoji="0" lang="ko-KR" altLang="en-US" sz="1600" dirty="0">
              <a:latin typeface="+mn-lt"/>
            </a:endParaRPr>
          </a:p>
        </p:txBody>
      </p:sp>
      <p:sp>
        <p:nvSpPr>
          <p:cNvPr id="124" name="오른쪽 화살표 123"/>
          <p:cNvSpPr/>
          <p:nvPr/>
        </p:nvSpPr>
        <p:spPr bwMode="auto">
          <a:xfrm rot="5400000">
            <a:off x="2414042" y="3911122"/>
            <a:ext cx="286424" cy="485345"/>
          </a:xfrm>
          <a:prstGeom prst="rightArrow">
            <a:avLst/>
          </a:prstGeom>
          <a:solidFill>
            <a:schemeClr val="tx1"/>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125" name="Text Box 51"/>
          <p:cNvSpPr txBox="1">
            <a:spLocks noChangeArrowheads="1"/>
          </p:cNvSpPr>
          <p:nvPr/>
        </p:nvSpPr>
        <p:spPr bwMode="auto">
          <a:xfrm>
            <a:off x="1846774" y="4264566"/>
            <a:ext cx="1861130" cy="297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en-US" altLang="ko-KR" b="1" baseline="0" dirty="0" err="1">
                <a:solidFill>
                  <a:srgbClr val="000000"/>
                </a:solidFill>
              </a:rPr>
              <a:t>Phản</a:t>
            </a:r>
            <a:r>
              <a:rPr lang="en-US" altLang="ko-KR" b="1" baseline="0" dirty="0">
                <a:solidFill>
                  <a:srgbClr val="000000"/>
                </a:solidFill>
              </a:rPr>
              <a:t> </a:t>
            </a:r>
            <a:r>
              <a:rPr lang="en-US" altLang="ko-KR" b="1" baseline="0" dirty="0" err="1">
                <a:solidFill>
                  <a:srgbClr val="000000"/>
                </a:solidFill>
              </a:rPr>
              <a:t>ánh</a:t>
            </a:r>
            <a:r>
              <a:rPr lang="en-US" altLang="ko-KR" b="1" baseline="0" dirty="0">
                <a:solidFill>
                  <a:srgbClr val="000000"/>
                </a:solidFill>
              </a:rPr>
              <a:t> </a:t>
            </a:r>
            <a:r>
              <a:rPr lang="en-US" altLang="ko-KR" b="1" baseline="0" dirty="0" err="1">
                <a:solidFill>
                  <a:srgbClr val="000000"/>
                </a:solidFill>
              </a:rPr>
              <a:t>độ</a:t>
            </a:r>
            <a:r>
              <a:rPr lang="en-US" altLang="ko-KR" b="1" baseline="0" dirty="0">
                <a:solidFill>
                  <a:srgbClr val="000000"/>
                </a:solidFill>
              </a:rPr>
              <a:t> </a:t>
            </a:r>
            <a:r>
              <a:rPr lang="en-US" altLang="ko-KR" b="1" baseline="0" dirty="0" err="1">
                <a:solidFill>
                  <a:srgbClr val="000000"/>
                </a:solidFill>
              </a:rPr>
              <a:t>lệch</a:t>
            </a:r>
            <a:endParaRPr lang="en-US" altLang="ko-KR" b="1" baseline="0" dirty="0">
              <a:solidFill>
                <a:srgbClr val="000000"/>
              </a:solidFill>
            </a:endParaRPr>
          </a:p>
        </p:txBody>
      </p:sp>
      <p:graphicFrame>
        <p:nvGraphicFramePr>
          <p:cNvPr id="127" name="Object 136"/>
          <p:cNvGraphicFramePr>
            <a:graphicFrameLocks noChangeAspect="1"/>
          </p:cNvGraphicFramePr>
          <p:nvPr>
            <p:extLst>
              <p:ext uri="{D42A27DB-BD31-4B8C-83A1-F6EECF244321}">
                <p14:modId xmlns:p14="http://schemas.microsoft.com/office/powerpoint/2010/main" val="2696086617"/>
              </p:ext>
            </p:extLst>
          </p:nvPr>
        </p:nvGraphicFramePr>
        <p:xfrm>
          <a:off x="4466492" y="4546600"/>
          <a:ext cx="2086708" cy="355600"/>
        </p:xfrm>
        <a:graphic>
          <a:graphicData uri="http://schemas.openxmlformats.org/presentationml/2006/ole">
            <mc:AlternateContent xmlns:mc="http://schemas.openxmlformats.org/markup-compatibility/2006">
              <mc:Choice xmlns:v="urn:schemas-microsoft-com:vml" Requires="v">
                <p:oleObj name="Equation" r:id="rId3" imgW="1447560" imgH="241200" progId="Equation.3">
                  <p:embed/>
                </p:oleObj>
              </mc:Choice>
              <mc:Fallback>
                <p:oleObj name="Equation" r:id="rId3" imgW="1447560" imgH="241200" progId="Equation.3">
                  <p:embed/>
                  <p:pic>
                    <p:nvPicPr>
                      <p:cNvPr id="127" name="Object 13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66492" y="4546600"/>
                        <a:ext cx="2086708"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8" name="Object 136"/>
          <p:cNvGraphicFramePr>
            <a:graphicFrameLocks noChangeAspect="1"/>
          </p:cNvGraphicFramePr>
          <p:nvPr>
            <p:extLst>
              <p:ext uri="{D42A27DB-BD31-4B8C-83A1-F6EECF244321}">
                <p14:modId xmlns:p14="http://schemas.microsoft.com/office/powerpoint/2010/main" val="2770679799"/>
              </p:ext>
            </p:extLst>
          </p:nvPr>
        </p:nvGraphicFramePr>
        <p:xfrm>
          <a:off x="4703473" y="4979435"/>
          <a:ext cx="3524318" cy="651625"/>
        </p:xfrm>
        <a:graphic>
          <a:graphicData uri="http://schemas.openxmlformats.org/presentationml/2006/ole">
            <mc:AlternateContent xmlns:mc="http://schemas.openxmlformats.org/markup-compatibility/2006">
              <mc:Choice xmlns:v="urn:schemas-microsoft-com:vml" Requires="v">
                <p:oleObj name="수식" r:id="rId5" imgW="2857320" imgH="507960" progId="Equation.3">
                  <p:embed/>
                </p:oleObj>
              </mc:Choice>
              <mc:Fallback>
                <p:oleObj name="수식" r:id="rId5" imgW="2857320" imgH="507960" progId="Equation.3">
                  <p:embed/>
                  <p:pic>
                    <p:nvPicPr>
                      <p:cNvPr id="128" name="Object 1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03473" y="4979435"/>
                        <a:ext cx="3524318" cy="651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9"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207</a:t>
            </a:fld>
            <a:endParaRPr lang="ko-KR" altLang="en-US" sz="1200" dirty="0"/>
          </a:p>
        </p:txBody>
      </p:sp>
      <p:sp>
        <p:nvSpPr>
          <p:cNvPr id="126" name="TextBox 125"/>
          <p:cNvSpPr txBox="1"/>
          <p:nvPr/>
        </p:nvSpPr>
        <p:spPr>
          <a:xfrm>
            <a:off x="2468119" y="3318151"/>
            <a:ext cx="51167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30" name="TextBox 129"/>
          <p:cNvSpPr txBox="1"/>
          <p:nvPr/>
        </p:nvSpPr>
        <p:spPr>
          <a:xfrm>
            <a:off x="4062307" y="3862499"/>
            <a:ext cx="51167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31" name="TextBox 130"/>
          <p:cNvSpPr txBox="1"/>
          <p:nvPr/>
        </p:nvSpPr>
        <p:spPr>
          <a:xfrm>
            <a:off x="4837876" y="3861042"/>
            <a:ext cx="51167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32" name="Text Box 39"/>
          <p:cNvSpPr txBox="1">
            <a:spLocks noChangeArrowheads="1"/>
          </p:cNvSpPr>
          <p:nvPr/>
        </p:nvSpPr>
        <p:spPr bwMode="auto">
          <a:xfrm>
            <a:off x="251520" y="620688"/>
            <a:ext cx="4378443"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Chỉ</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số</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 (Cp, </a:t>
            </a:r>
            <a:r>
              <a:rPr lang="en-US" altLang="ko-KR" sz="2000" b="1" dirty="0" err="1">
                <a:latin typeface="맑은 고딕" pitchFamily="50" charset="-127"/>
                <a:ea typeface="맑은 고딕" pitchFamily="50" charset="-127"/>
              </a:rPr>
              <a:t>Cpk</a:t>
            </a:r>
            <a:r>
              <a:rPr lang="en-US" altLang="ko-KR" sz="2000" b="1" dirty="0">
                <a:latin typeface="맑은 고딕" pitchFamily="50" charset="-127"/>
                <a:ea typeface="맑은 고딕" pitchFamily="50" charset="-127"/>
              </a:rPr>
              <a:t>)</a:t>
            </a:r>
          </a:p>
        </p:txBody>
      </p:sp>
      <p:sp>
        <p:nvSpPr>
          <p:cNvPr id="133"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
        <p:nvSpPr>
          <p:cNvPr id="134" name="TextBox 133"/>
          <p:cNvSpPr txBox="1"/>
          <p:nvPr/>
        </p:nvSpPr>
        <p:spPr>
          <a:xfrm>
            <a:off x="6433130" y="4509121"/>
            <a:ext cx="2060537" cy="572464"/>
          </a:xfrm>
          <a:prstGeom prst="rect">
            <a:avLst/>
          </a:prstGeom>
          <a:noFill/>
        </p:spPr>
        <p:txBody>
          <a:bodyPr wrap="square" rtlCol="0">
            <a:spAutoFit/>
          </a:bodyPr>
          <a:lstStyle/>
          <a:p>
            <a:pPr marL="266700" indent="-266700">
              <a:lnSpc>
                <a:spcPct val="130000"/>
              </a:lnSpc>
              <a:buClr>
                <a:srgbClr val="C5003D"/>
              </a:buClr>
            </a:pPr>
            <a:r>
              <a:rPr lang="en-US" sz="1200" b="1" dirty="0" err="1"/>
              <a:t>Độ</a:t>
            </a:r>
            <a:r>
              <a:rPr lang="en-US" sz="1200" b="1" dirty="0"/>
              <a:t> </a:t>
            </a:r>
            <a:r>
              <a:rPr lang="en-US" sz="1200" b="1" dirty="0" err="1"/>
              <a:t>lệch</a:t>
            </a:r>
            <a:r>
              <a:rPr lang="en-US" sz="1200" b="1" dirty="0"/>
              <a:t> </a:t>
            </a:r>
            <a:r>
              <a:rPr lang="en-US" sz="1200" b="1" dirty="0" err="1"/>
              <a:t>tiêu</a:t>
            </a:r>
            <a:r>
              <a:rPr lang="en-US" sz="1200" b="1" dirty="0"/>
              <a:t> </a:t>
            </a:r>
            <a:r>
              <a:rPr lang="en-US" sz="1200" b="1" dirty="0" err="1"/>
              <a:t>chuẩn</a:t>
            </a:r>
            <a:r>
              <a:rPr lang="en-US" sz="1200" b="1" dirty="0"/>
              <a:t> </a:t>
            </a:r>
            <a:r>
              <a:rPr lang="en-US" sz="1200" b="1" dirty="0" err="1"/>
              <a:t>tổng</a:t>
            </a:r>
            <a:r>
              <a:rPr lang="en-US" sz="1200" b="1" dirty="0"/>
              <a:t> </a:t>
            </a:r>
            <a:r>
              <a:rPr lang="en-US" sz="1200" b="1" dirty="0" err="1"/>
              <a:t>hợp</a:t>
            </a:r>
            <a:endParaRPr lang="en-US" sz="1200" b="1" dirty="0"/>
          </a:p>
        </p:txBody>
      </p:sp>
    </p:spTree>
    <p:extLst>
      <p:ext uri="{BB962C8B-B14F-4D97-AF65-F5344CB8AC3E}">
        <p14:creationId xmlns:p14="http://schemas.microsoft.com/office/powerpoint/2010/main" val="1895365500"/>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208</a:t>
            </a:fld>
            <a:endParaRPr lang="ko-KR" altLang="en-US" dirty="0"/>
          </a:p>
        </p:txBody>
      </p:sp>
      <p:sp>
        <p:nvSpPr>
          <p:cNvPr id="4" name="TextBox 3"/>
          <p:cNvSpPr txBox="1"/>
          <p:nvPr/>
        </p:nvSpPr>
        <p:spPr>
          <a:xfrm>
            <a:off x="384458" y="908720"/>
            <a:ext cx="4339906" cy="412421"/>
          </a:xfrm>
          <a:prstGeom prst="rect">
            <a:avLst/>
          </a:prstGeom>
          <a:noFill/>
        </p:spPr>
        <p:txBody>
          <a:bodyPr wrap="none" rtlCol="0">
            <a:spAutoFit/>
          </a:bodyPr>
          <a:lstStyle/>
          <a:p>
            <a:pPr>
              <a:lnSpc>
                <a:spcPct val="130000"/>
              </a:lnSpc>
              <a:buClr>
                <a:srgbClr val="C5003D"/>
              </a:buClr>
            </a:pPr>
            <a:r>
              <a:rPr lang="en-US" altLang="ko-KR" sz="1600" b="1" dirty="0"/>
              <a:t>Let's get the process capability for Case 3.</a:t>
            </a:r>
            <a:endParaRPr lang="ko-KR" altLang="en-US" sz="1600" b="1" dirty="0"/>
          </a:p>
        </p:txBody>
      </p:sp>
      <p:grpSp>
        <p:nvGrpSpPr>
          <p:cNvPr id="3" name="그룹 192"/>
          <p:cNvGrpSpPr/>
          <p:nvPr/>
        </p:nvGrpSpPr>
        <p:grpSpPr>
          <a:xfrm>
            <a:off x="549406" y="1679598"/>
            <a:ext cx="3823188" cy="1483941"/>
            <a:chOff x="488504" y="1679597"/>
            <a:chExt cx="4141787" cy="1483941"/>
          </a:xfrm>
        </p:grpSpPr>
        <p:sp>
          <p:nvSpPr>
            <p:cNvPr id="8" name="Line 56"/>
            <p:cNvSpPr>
              <a:spLocks noChangeShapeType="1"/>
            </p:cNvSpPr>
            <p:nvPr/>
          </p:nvSpPr>
          <p:spPr bwMode="auto">
            <a:xfrm>
              <a:off x="984708" y="2003795"/>
              <a:ext cx="117613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9" name="Rectangle 57"/>
            <p:cNvSpPr>
              <a:spLocks noChangeArrowheads="1"/>
            </p:cNvSpPr>
            <p:nvPr/>
          </p:nvSpPr>
          <p:spPr bwMode="auto">
            <a:xfrm>
              <a:off x="1561926" y="2011032"/>
              <a:ext cx="15976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0" name="Rectangle 58"/>
            <p:cNvSpPr>
              <a:spLocks noChangeArrowheads="1"/>
            </p:cNvSpPr>
            <p:nvPr/>
          </p:nvSpPr>
          <p:spPr bwMode="auto">
            <a:xfrm>
              <a:off x="1524311" y="1679597"/>
              <a:ext cx="14413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1" name="Rectangle 59"/>
            <p:cNvSpPr>
              <a:spLocks noChangeArrowheads="1"/>
            </p:cNvSpPr>
            <p:nvPr/>
          </p:nvSpPr>
          <p:spPr bwMode="auto">
            <a:xfrm>
              <a:off x="783623" y="1827223"/>
              <a:ext cx="14413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 name="Rectangle 60"/>
            <p:cNvSpPr>
              <a:spLocks noChangeArrowheads="1"/>
            </p:cNvSpPr>
            <p:nvPr/>
          </p:nvSpPr>
          <p:spPr bwMode="auto">
            <a:xfrm>
              <a:off x="1436066" y="2038531"/>
              <a:ext cx="1319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3" name="Rectangle 61"/>
            <p:cNvSpPr>
              <a:spLocks noChangeArrowheads="1"/>
            </p:cNvSpPr>
            <p:nvPr/>
          </p:nvSpPr>
          <p:spPr bwMode="auto">
            <a:xfrm>
              <a:off x="1703698" y="1705649"/>
              <a:ext cx="47061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4" name="Rectangle 62"/>
            <p:cNvSpPr>
              <a:spLocks noChangeArrowheads="1"/>
            </p:cNvSpPr>
            <p:nvPr/>
          </p:nvSpPr>
          <p:spPr bwMode="auto">
            <a:xfrm>
              <a:off x="1003515" y="1705649"/>
              <a:ext cx="500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5" name="Rectangle 63"/>
            <p:cNvSpPr>
              <a:spLocks noChangeArrowheads="1"/>
            </p:cNvSpPr>
            <p:nvPr/>
          </p:nvSpPr>
          <p:spPr bwMode="auto">
            <a:xfrm>
              <a:off x="491396" y="1854722"/>
              <a:ext cx="14761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6" name="Rectangle 64"/>
            <p:cNvSpPr>
              <a:spLocks noChangeArrowheads="1"/>
            </p:cNvSpPr>
            <p:nvPr/>
          </p:nvSpPr>
          <p:spPr bwMode="auto">
            <a:xfrm>
              <a:off x="615810" y="1998006"/>
              <a:ext cx="7641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7" name="Rectangle 65"/>
            <p:cNvSpPr>
              <a:spLocks noChangeArrowheads="1"/>
            </p:cNvSpPr>
            <p:nvPr/>
          </p:nvSpPr>
          <p:spPr bwMode="auto">
            <a:xfrm>
              <a:off x="1334800" y="2530253"/>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 name="Rectangle 66"/>
            <p:cNvSpPr>
              <a:spLocks noChangeArrowheads="1"/>
            </p:cNvSpPr>
            <p:nvPr/>
          </p:nvSpPr>
          <p:spPr bwMode="auto">
            <a:xfrm>
              <a:off x="2101530" y="2530253"/>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 name="Line 67"/>
            <p:cNvSpPr>
              <a:spLocks noChangeShapeType="1"/>
            </p:cNvSpPr>
            <p:nvPr/>
          </p:nvSpPr>
          <p:spPr bwMode="auto">
            <a:xfrm>
              <a:off x="2881279" y="2771954"/>
              <a:ext cx="775410" cy="1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0" name="Line 68"/>
            <p:cNvSpPr>
              <a:spLocks noChangeShapeType="1"/>
            </p:cNvSpPr>
            <p:nvPr/>
          </p:nvSpPr>
          <p:spPr bwMode="auto">
            <a:xfrm>
              <a:off x="3778209" y="2771954"/>
              <a:ext cx="747923" cy="1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1" name="Rectangle 69"/>
            <p:cNvSpPr>
              <a:spLocks noChangeArrowheads="1"/>
            </p:cNvSpPr>
            <p:nvPr/>
          </p:nvSpPr>
          <p:spPr bwMode="auto">
            <a:xfrm>
              <a:off x="4038607" y="2777744"/>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22" name="Rectangle 70"/>
            <p:cNvSpPr>
              <a:spLocks noChangeArrowheads="1"/>
            </p:cNvSpPr>
            <p:nvPr/>
          </p:nvSpPr>
          <p:spPr bwMode="auto">
            <a:xfrm>
              <a:off x="3956148" y="2460782"/>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3" name="Rectangle 71"/>
            <p:cNvSpPr>
              <a:spLocks noChangeArrowheads="1"/>
            </p:cNvSpPr>
            <p:nvPr/>
          </p:nvSpPr>
          <p:spPr bwMode="auto">
            <a:xfrm>
              <a:off x="3786888" y="2460782"/>
              <a:ext cx="1441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24" name="Rectangle 72"/>
            <p:cNvSpPr>
              <a:spLocks noChangeArrowheads="1"/>
            </p:cNvSpPr>
            <p:nvPr/>
          </p:nvSpPr>
          <p:spPr bwMode="auto">
            <a:xfrm>
              <a:off x="3154698" y="2777744"/>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25" name="Rectangle 73"/>
            <p:cNvSpPr>
              <a:spLocks noChangeArrowheads="1"/>
            </p:cNvSpPr>
            <p:nvPr/>
          </p:nvSpPr>
          <p:spPr bwMode="auto">
            <a:xfrm>
              <a:off x="3517809" y="2460782"/>
              <a:ext cx="1441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26" name="Rectangle 74"/>
            <p:cNvSpPr>
              <a:spLocks noChangeArrowheads="1"/>
            </p:cNvSpPr>
            <p:nvPr/>
          </p:nvSpPr>
          <p:spPr bwMode="auto">
            <a:xfrm>
              <a:off x="3363017" y="2460782"/>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7" name="Rectangle 75"/>
            <p:cNvSpPr>
              <a:spLocks noChangeArrowheads="1"/>
            </p:cNvSpPr>
            <p:nvPr/>
          </p:nvSpPr>
          <p:spPr bwMode="auto">
            <a:xfrm>
              <a:off x="2227389" y="2604066"/>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8" name="Rectangle 76"/>
            <p:cNvSpPr>
              <a:spLocks noChangeArrowheads="1"/>
            </p:cNvSpPr>
            <p:nvPr/>
          </p:nvSpPr>
          <p:spPr bwMode="auto">
            <a:xfrm>
              <a:off x="811109" y="2604066"/>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9" name="Rectangle 79"/>
            <p:cNvSpPr>
              <a:spLocks noChangeArrowheads="1"/>
            </p:cNvSpPr>
            <p:nvPr/>
          </p:nvSpPr>
          <p:spPr bwMode="auto">
            <a:xfrm>
              <a:off x="1952524" y="2767612"/>
              <a:ext cx="10766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30" name="Rectangle 80"/>
            <p:cNvSpPr>
              <a:spLocks noChangeArrowheads="1"/>
            </p:cNvSpPr>
            <p:nvPr/>
          </p:nvSpPr>
          <p:spPr bwMode="auto">
            <a:xfrm>
              <a:off x="1560479" y="2767612"/>
              <a:ext cx="17365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31" name="Rectangle 81"/>
            <p:cNvSpPr>
              <a:spLocks noChangeArrowheads="1"/>
            </p:cNvSpPr>
            <p:nvPr/>
          </p:nvSpPr>
          <p:spPr bwMode="auto">
            <a:xfrm>
              <a:off x="598450" y="2767612"/>
              <a:ext cx="13892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32" name="Rectangle 82"/>
            <p:cNvSpPr>
              <a:spLocks noChangeArrowheads="1"/>
            </p:cNvSpPr>
            <p:nvPr/>
          </p:nvSpPr>
          <p:spPr bwMode="auto">
            <a:xfrm>
              <a:off x="3933001" y="2802348"/>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33" name="Rectangle 83"/>
            <p:cNvSpPr>
              <a:spLocks noChangeArrowheads="1"/>
            </p:cNvSpPr>
            <p:nvPr/>
          </p:nvSpPr>
          <p:spPr bwMode="auto">
            <a:xfrm>
              <a:off x="4118174" y="2488281"/>
              <a:ext cx="4445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34" name="Rectangle 84"/>
            <p:cNvSpPr>
              <a:spLocks noChangeArrowheads="1"/>
            </p:cNvSpPr>
            <p:nvPr/>
          </p:nvSpPr>
          <p:spPr bwMode="auto">
            <a:xfrm>
              <a:off x="3691409" y="2627223"/>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35" name="Rectangle 85"/>
            <p:cNvSpPr>
              <a:spLocks noChangeArrowheads="1"/>
            </p:cNvSpPr>
            <p:nvPr/>
          </p:nvSpPr>
          <p:spPr bwMode="auto">
            <a:xfrm>
              <a:off x="3051985" y="2802348"/>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36" name="Rectangle 86"/>
            <p:cNvSpPr>
              <a:spLocks noChangeArrowheads="1"/>
            </p:cNvSpPr>
            <p:nvPr/>
          </p:nvSpPr>
          <p:spPr bwMode="auto">
            <a:xfrm>
              <a:off x="2898639" y="2488281"/>
              <a:ext cx="4723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37" name="Rectangle 87"/>
            <p:cNvSpPr>
              <a:spLocks noChangeArrowheads="1"/>
            </p:cNvSpPr>
            <p:nvPr/>
          </p:nvSpPr>
          <p:spPr bwMode="auto">
            <a:xfrm>
              <a:off x="2403882" y="2627223"/>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38" name="Rectangle 88"/>
            <p:cNvSpPr>
              <a:spLocks noChangeArrowheads="1"/>
            </p:cNvSpPr>
            <p:nvPr/>
          </p:nvSpPr>
          <p:spPr bwMode="auto">
            <a:xfrm>
              <a:off x="1842577" y="2627223"/>
              <a:ext cx="138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39" name="Rectangle 89"/>
            <p:cNvSpPr>
              <a:spLocks noChangeArrowheads="1"/>
            </p:cNvSpPr>
            <p:nvPr/>
          </p:nvSpPr>
          <p:spPr bwMode="auto">
            <a:xfrm>
              <a:off x="1789051" y="2627223"/>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40" name="Rectangle 90"/>
            <p:cNvSpPr>
              <a:spLocks noChangeArrowheads="1"/>
            </p:cNvSpPr>
            <p:nvPr/>
          </p:nvSpPr>
          <p:spPr bwMode="auto">
            <a:xfrm>
              <a:off x="1742758" y="2627223"/>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1" name="Rectangle 91"/>
            <p:cNvSpPr>
              <a:spLocks noChangeArrowheads="1"/>
            </p:cNvSpPr>
            <p:nvPr/>
          </p:nvSpPr>
          <p:spPr bwMode="auto">
            <a:xfrm>
              <a:off x="1404240" y="2627223"/>
              <a:ext cx="201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P</a:t>
              </a:r>
              <a:endParaRPr lang="en-US" altLang="ko-KR" sz="1600" baseline="0" dirty="0">
                <a:solidFill>
                  <a:srgbClr val="000000"/>
                </a:solidFill>
                <a:latin typeface="Times New Roman" pitchFamily="18" charset="0"/>
                <a:ea typeface="굴림" pitchFamily="50" charset="-127"/>
              </a:endParaRPr>
            </a:p>
          </p:txBody>
        </p:sp>
        <p:sp>
          <p:nvSpPr>
            <p:cNvPr id="42" name="Rectangle 92"/>
            <p:cNvSpPr>
              <a:spLocks noChangeArrowheads="1"/>
            </p:cNvSpPr>
            <p:nvPr/>
          </p:nvSpPr>
          <p:spPr bwMode="auto">
            <a:xfrm>
              <a:off x="986155" y="2627223"/>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43" name="Rectangle 93"/>
            <p:cNvSpPr>
              <a:spLocks noChangeArrowheads="1"/>
            </p:cNvSpPr>
            <p:nvPr/>
          </p:nvSpPr>
          <p:spPr bwMode="auto">
            <a:xfrm>
              <a:off x="488504" y="2627223"/>
              <a:ext cx="138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4" name="Rectangle 94"/>
            <p:cNvSpPr>
              <a:spLocks noChangeArrowheads="1"/>
            </p:cNvSpPr>
            <p:nvPr/>
          </p:nvSpPr>
          <p:spPr bwMode="auto">
            <a:xfrm>
              <a:off x="1670425" y="2115239"/>
              <a:ext cx="20012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sp>
          <p:nvSpPr>
            <p:cNvPr id="45" name="AutoShape 96"/>
            <p:cNvSpPr>
              <a:spLocks noChangeArrowheads="1"/>
            </p:cNvSpPr>
            <p:nvPr/>
          </p:nvSpPr>
          <p:spPr bwMode="auto">
            <a:xfrm>
              <a:off x="2755420" y="2505650"/>
              <a:ext cx="1874871" cy="555769"/>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46" name="TextBox 45"/>
            <p:cNvSpPr txBox="1"/>
            <p:nvPr/>
          </p:nvSpPr>
          <p:spPr>
            <a:xfrm>
              <a:off x="1597335" y="2140959"/>
              <a:ext cx="469226"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47" name="TextBox 46"/>
            <p:cNvSpPr txBox="1"/>
            <p:nvPr/>
          </p:nvSpPr>
          <p:spPr>
            <a:xfrm>
              <a:off x="3171405" y="2911161"/>
              <a:ext cx="469226"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48" name="TextBox 47"/>
            <p:cNvSpPr txBox="1"/>
            <p:nvPr/>
          </p:nvSpPr>
          <p:spPr>
            <a:xfrm>
              <a:off x="4058133" y="2911161"/>
              <a:ext cx="469226"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grpSp>
      <p:sp>
        <p:nvSpPr>
          <p:cNvPr id="50" name="Line 56"/>
          <p:cNvSpPr>
            <a:spLocks noChangeShapeType="1"/>
          </p:cNvSpPr>
          <p:nvPr/>
        </p:nvSpPr>
        <p:spPr bwMode="auto">
          <a:xfrm>
            <a:off x="1007440" y="3653975"/>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52" name="Rectangle 58"/>
          <p:cNvSpPr>
            <a:spLocks noChangeArrowheads="1"/>
          </p:cNvSpPr>
          <p:nvPr/>
        </p:nvSpPr>
        <p:spPr bwMode="auto">
          <a:xfrm>
            <a:off x="1505536" y="3329776"/>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53" name="Rectangle 59"/>
          <p:cNvSpPr>
            <a:spLocks noChangeArrowheads="1"/>
          </p:cNvSpPr>
          <p:nvPr/>
        </p:nvSpPr>
        <p:spPr bwMode="auto">
          <a:xfrm>
            <a:off x="821823" y="3477402"/>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54" name="Rectangle 60"/>
          <p:cNvSpPr>
            <a:spLocks noChangeArrowheads="1"/>
          </p:cNvSpPr>
          <p:nvPr/>
        </p:nvSpPr>
        <p:spPr bwMode="auto">
          <a:xfrm>
            <a:off x="1149845" y="3672760"/>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 x 0.176</a:t>
            </a:r>
            <a:endParaRPr lang="en-US" altLang="ko-KR" sz="1600" baseline="0" dirty="0">
              <a:solidFill>
                <a:srgbClr val="000000"/>
              </a:solidFill>
              <a:latin typeface="Times New Roman" pitchFamily="18" charset="0"/>
              <a:ea typeface="굴림" pitchFamily="50" charset="-127"/>
            </a:endParaRPr>
          </a:p>
        </p:txBody>
      </p:sp>
      <p:sp>
        <p:nvSpPr>
          <p:cNvPr id="55" name="Rectangle 61"/>
          <p:cNvSpPr>
            <a:spLocks noChangeArrowheads="1"/>
          </p:cNvSpPr>
          <p:nvPr/>
        </p:nvSpPr>
        <p:spPr bwMode="auto">
          <a:xfrm>
            <a:off x="1768546" y="335582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56" name="Rectangle 62"/>
          <p:cNvSpPr>
            <a:spLocks noChangeArrowheads="1"/>
          </p:cNvSpPr>
          <p:nvPr/>
        </p:nvSpPr>
        <p:spPr bwMode="auto">
          <a:xfrm>
            <a:off x="1282782" y="3329776"/>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57" name="Rectangle 63"/>
          <p:cNvSpPr>
            <a:spLocks noChangeArrowheads="1"/>
          </p:cNvSpPr>
          <p:nvPr/>
        </p:nvSpPr>
        <p:spPr bwMode="auto">
          <a:xfrm>
            <a:off x="552075" y="3504901"/>
            <a:ext cx="13625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58" name="Rectangle 64"/>
          <p:cNvSpPr>
            <a:spLocks noChangeArrowheads="1"/>
          </p:cNvSpPr>
          <p:nvPr/>
        </p:nvSpPr>
        <p:spPr bwMode="auto">
          <a:xfrm>
            <a:off x="666919" y="3648186"/>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69" name="Rectangle 75"/>
          <p:cNvSpPr>
            <a:spLocks noChangeArrowheads="1"/>
          </p:cNvSpPr>
          <p:nvPr/>
        </p:nvSpPr>
        <p:spPr bwMode="auto">
          <a:xfrm>
            <a:off x="881750" y="454048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73" name="Rectangle 81"/>
          <p:cNvSpPr>
            <a:spLocks noChangeArrowheads="1"/>
          </p:cNvSpPr>
          <p:nvPr/>
        </p:nvSpPr>
        <p:spPr bwMode="auto">
          <a:xfrm>
            <a:off x="650894" y="4704026"/>
            <a:ext cx="2420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PKL</a:t>
            </a:r>
            <a:endParaRPr lang="en-US" altLang="ko-KR" sz="1600" baseline="0" dirty="0">
              <a:solidFill>
                <a:srgbClr val="000000"/>
              </a:solidFill>
              <a:latin typeface="Times New Roman" pitchFamily="18" charset="0"/>
              <a:ea typeface="굴림" pitchFamily="50" charset="-127"/>
            </a:endParaRPr>
          </a:p>
        </p:txBody>
      </p:sp>
      <p:sp>
        <p:nvSpPr>
          <p:cNvPr id="85" name="Rectangle 93"/>
          <p:cNvSpPr>
            <a:spLocks noChangeArrowheads="1"/>
          </p:cNvSpPr>
          <p:nvPr/>
        </p:nvSpPr>
        <p:spPr bwMode="auto">
          <a:xfrm>
            <a:off x="549406" y="4563638"/>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30" name="Rectangle 59"/>
          <p:cNvSpPr>
            <a:spLocks noChangeArrowheads="1"/>
          </p:cNvSpPr>
          <p:nvPr/>
        </p:nvSpPr>
        <p:spPr bwMode="auto">
          <a:xfrm>
            <a:off x="2213348" y="3477402"/>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0.946</a:t>
            </a:r>
            <a:endParaRPr lang="en-US" altLang="ko-KR" sz="1600" baseline="0" dirty="0">
              <a:solidFill>
                <a:srgbClr val="000000"/>
              </a:solidFill>
              <a:latin typeface="Times New Roman" pitchFamily="18" charset="0"/>
              <a:ea typeface="굴림" pitchFamily="50" charset="-127"/>
            </a:endParaRPr>
          </a:p>
        </p:txBody>
      </p:sp>
      <p:sp>
        <p:nvSpPr>
          <p:cNvPr id="131" name="Line 56"/>
          <p:cNvSpPr>
            <a:spLocks noChangeShapeType="1"/>
          </p:cNvSpPr>
          <p:nvPr/>
        </p:nvSpPr>
        <p:spPr bwMode="auto">
          <a:xfrm>
            <a:off x="1073909" y="470200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32" name="Rectangle 58"/>
          <p:cNvSpPr>
            <a:spLocks noChangeArrowheads="1"/>
          </p:cNvSpPr>
          <p:nvPr/>
        </p:nvSpPr>
        <p:spPr bwMode="auto">
          <a:xfrm>
            <a:off x="1622991" y="4377804"/>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33" name="Rectangle 60"/>
          <p:cNvSpPr>
            <a:spLocks noChangeArrowheads="1"/>
          </p:cNvSpPr>
          <p:nvPr/>
        </p:nvSpPr>
        <p:spPr bwMode="auto">
          <a:xfrm>
            <a:off x="1216314" y="4720788"/>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0.176</a:t>
            </a:r>
            <a:endParaRPr lang="en-US" altLang="ko-KR" sz="1600" baseline="0" dirty="0">
              <a:solidFill>
                <a:srgbClr val="000000"/>
              </a:solidFill>
              <a:latin typeface="Times New Roman" pitchFamily="18" charset="0"/>
              <a:ea typeface="굴림" pitchFamily="50" charset="-127"/>
            </a:endParaRPr>
          </a:p>
        </p:txBody>
      </p:sp>
      <p:sp>
        <p:nvSpPr>
          <p:cNvPr id="134" name="Rectangle 61"/>
          <p:cNvSpPr>
            <a:spLocks noChangeArrowheads="1"/>
          </p:cNvSpPr>
          <p:nvPr/>
        </p:nvSpPr>
        <p:spPr bwMode="auto">
          <a:xfrm>
            <a:off x="1835015" y="4403856"/>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135" name="Rectangle 62"/>
          <p:cNvSpPr>
            <a:spLocks noChangeArrowheads="1"/>
          </p:cNvSpPr>
          <p:nvPr/>
        </p:nvSpPr>
        <p:spPr bwMode="auto">
          <a:xfrm>
            <a:off x="1147626" y="4377804"/>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136" name="Rectangle 59"/>
          <p:cNvSpPr>
            <a:spLocks noChangeArrowheads="1"/>
          </p:cNvSpPr>
          <p:nvPr/>
        </p:nvSpPr>
        <p:spPr bwMode="auto">
          <a:xfrm>
            <a:off x="2279817" y="4541212"/>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0.530</a:t>
            </a:r>
            <a:endParaRPr lang="en-US" altLang="ko-KR" sz="1600" baseline="0" dirty="0">
              <a:solidFill>
                <a:srgbClr val="000000"/>
              </a:solidFill>
              <a:latin typeface="Times New Roman" pitchFamily="18" charset="0"/>
              <a:ea typeface="굴림" pitchFamily="50" charset="-127"/>
            </a:endParaRPr>
          </a:p>
        </p:txBody>
      </p:sp>
      <p:grpSp>
        <p:nvGrpSpPr>
          <p:cNvPr id="5" name="그룹 191"/>
          <p:cNvGrpSpPr/>
          <p:nvPr/>
        </p:nvGrpSpPr>
        <p:grpSpPr>
          <a:xfrm>
            <a:off x="4815478" y="1724622"/>
            <a:ext cx="3877408" cy="1470316"/>
            <a:chOff x="5216768" y="1724621"/>
            <a:chExt cx="4200525" cy="1470316"/>
          </a:xfrm>
        </p:grpSpPr>
        <p:sp>
          <p:nvSpPr>
            <p:cNvPr id="141" name="Line 12"/>
            <p:cNvSpPr>
              <a:spLocks noChangeShapeType="1"/>
            </p:cNvSpPr>
            <p:nvPr/>
          </p:nvSpPr>
          <p:spPr bwMode="auto">
            <a:xfrm>
              <a:off x="5749066" y="2051654"/>
              <a:ext cx="1136919"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42" name="Rectangle 14"/>
            <p:cNvSpPr>
              <a:spLocks noChangeArrowheads="1"/>
            </p:cNvSpPr>
            <p:nvPr/>
          </p:nvSpPr>
          <p:spPr bwMode="auto">
            <a:xfrm>
              <a:off x="5393236" y="2047312"/>
              <a:ext cx="7641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43" name="Rectangle 15"/>
            <p:cNvSpPr>
              <a:spLocks noChangeArrowheads="1"/>
            </p:cNvSpPr>
            <p:nvPr/>
          </p:nvSpPr>
          <p:spPr bwMode="auto">
            <a:xfrm>
              <a:off x="6084645" y="2083489"/>
              <a:ext cx="1319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44" name="Rectangle 16"/>
            <p:cNvSpPr>
              <a:spLocks noChangeArrowheads="1"/>
            </p:cNvSpPr>
            <p:nvPr/>
          </p:nvSpPr>
          <p:spPr bwMode="auto">
            <a:xfrm>
              <a:off x="6444814" y="1752115"/>
              <a:ext cx="47061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45" name="Rectangle 17"/>
            <p:cNvSpPr>
              <a:spLocks noChangeArrowheads="1"/>
            </p:cNvSpPr>
            <p:nvPr/>
          </p:nvSpPr>
          <p:spPr bwMode="auto">
            <a:xfrm>
              <a:off x="5769316" y="1752115"/>
              <a:ext cx="500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46" name="Rectangle 18"/>
            <p:cNvSpPr>
              <a:spLocks noChangeArrowheads="1"/>
            </p:cNvSpPr>
            <p:nvPr/>
          </p:nvSpPr>
          <p:spPr bwMode="auto">
            <a:xfrm>
              <a:off x="5221107" y="1899714"/>
              <a:ext cx="17539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47" name="Rectangle 19"/>
            <p:cNvSpPr>
              <a:spLocks noChangeArrowheads="1"/>
            </p:cNvSpPr>
            <p:nvPr/>
          </p:nvSpPr>
          <p:spPr bwMode="auto">
            <a:xfrm>
              <a:off x="6206148" y="2055995"/>
              <a:ext cx="15976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48" name="Rectangle 20"/>
            <p:cNvSpPr>
              <a:spLocks noChangeArrowheads="1"/>
            </p:cNvSpPr>
            <p:nvPr/>
          </p:nvSpPr>
          <p:spPr bwMode="auto">
            <a:xfrm>
              <a:off x="6269792" y="1724621"/>
              <a:ext cx="144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49" name="Rectangle 21"/>
            <p:cNvSpPr>
              <a:spLocks noChangeArrowheads="1"/>
            </p:cNvSpPr>
            <p:nvPr/>
          </p:nvSpPr>
          <p:spPr bwMode="auto">
            <a:xfrm>
              <a:off x="5556685" y="1873667"/>
              <a:ext cx="144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0" name="Rectangle 22"/>
            <p:cNvSpPr>
              <a:spLocks noChangeArrowheads="1"/>
            </p:cNvSpPr>
            <p:nvPr/>
          </p:nvSpPr>
          <p:spPr bwMode="auto">
            <a:xfrm>
              <a:off x="6083200" y="2537755"/>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1" name="Rectangle 23"/>
            <p:cNvSpPr>
              <a:spLocks noChangeArrowheads="1"/>
            </p:cNvSpPr>
            <p:nvPr/>
          </p:nvSpPr>
          <p:spPr bwMode="auto">
            <a:xfrm>
              <a:off x="6909128" y="2537755"/>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2" name="Line 24"/>
            <p:cNvSpPr>
              <a:spLocks noChangeShapeType="1"/>
            </p:cNvSpPr>
            <p:nvPr/>
          </p:nvSpPr>
          <p:spPr bwMode="auto">
            <a:xfrm>
              <a:off x="7664181" y="2779412"/>
              <a:ext cx="75071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53" name="Line 25"/>
            <p:cNvSpPr>
              <a:spLocks noChangeShapeType="1"/>
            </p:cNvSpPr>
            <p:nvPr/>
          </p:nvSpPr>
          <p:spPr bwMode="auto">
            <a:xfrm>
              <a:off x="8530612" y="2779412"/>
              <a:ext cx="7203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54" name="Rectangle 26"/>
            <p:cNvSpPr>
              <a:spLocks noChangeArrowheads="1"/>
            </p:cNvSpPr>
            <p:nvPr/>
          </p:nvSpPr>
          <p:spPr bwMode="auto">
            <a:xfrm>
              <a:off x="8786635" y="2786647"/>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55" name="Rectangle 27"/>
            <p:cNvSpPr>
              <a:spLocks noChangeArrowheads="1"/>
            </p:cNvSpPr>
            <p:nvPr/>
          </p:nvSpPr>
          <p:spPr bwMode="auto">
            <a:xfrm>
              <a:off x="8701294" y="2335275"/>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6" name="Rectangle 28"/>
            <p:cNvSpPr>
              <a:spLocks noChangeArrowheads="1"/>
            </p:cNvSpPr>
            <p:nvPr/>
          </p:nvSpPr>
          <p:spPr bwMode="auto">
            <a:xfrm>
              <a:off x="8537844" y="2335275"/>
              <a:ext cx="1441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57" name="Rectangle 29"/>
            <p:cNvSpPr>
              <a:spLocks noChangeArrowheads="1"/>
            </p:cNvSpPr>
            <p:nvPr/>
          </p:nvSpPr>
          <p:spPr bwMode="auto">
            <a:xfrm>
              <a:off x="7933223" y="2786647"/>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58" name="Rectangle 30"/>
            <p:cNvSpPr>
              <a:spLocks noChangeArrowheads="1"/>
            </p:cNvSpPr>
            <p:nvPr/>
          </p:nvSpPr>
          <p:spPr bwMode="auto">
            <a:xfrm>
              <a:off x="8278928" y="2335275"/>
              <a:ext cx="1441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59" name="Rectangle 31"/>
            <p:cNvSpPr>
              <a:spLocks noChangeArrowheads="1"/>
            </p:cNvSpPr>
            <p:nvPr/>
          </p:nvSpPr>
          <p:spPr bwMode="auto">
            <a:xfrm>
              <a:off x="8129942" y="2335275"/>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0" name="Rectangle 32"/>
            <p:cNvSpPr>
              <a:spLocks noChangeArrowheads="1"/>
            </p:cNvSpPr>
            <p:nvPr/>
          </p:nvSpPr>
          <p:spPr bwMode="auto">
            <a:xfrm>
              <a:off x="7033524" y="2610107"/>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1" name="Rectangle 33"/>
            <p:cNvSpPr>
              <a:spLocks noChangeArrowheads="1"/>
            </p:cNvSpPr>
            <p:nvPr/>
          </p:nvSpPr>
          <p:spPr bwMode="auto">
            <a:xfrm>
              <a:off x="5575490" y="2610107"/>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2" name="Rectangle 35"/>
            <p:cNvSpPr>
              <a:spLocks noChangeArrowheads="1"/>
            </p:cNvSpPr>
            <p:nvPr/>
          </p:nvSpPr>
          <p:spPr bwMode="auto">
            <a:xfrm>
              <a:off x="8070637" y="2948716"/>
              <a:ext cx="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endParaRPr lang="en-US" altLang="ko-KR" sz="1600" baseline="0" dirty="0">
                <a:solidFill>
                  <a:srgbClr val="000000"/>
                </a:solidFill>
                <a:latin typeface="Times New Roman" pitchFamily="18" charset="0"/>
                <a:ea typeface="굴림" pitchFamily="50" charset="-127"/>
              </a:endParaRPr>
            </a:p>
          </p:txBody>
        </p:sp>
        <p:sp>
          <p:nvSpPr>
            <p:cNvPr id="163" name="Rectangle 36"/>
            <p:cNvSpPr>
              <a:spLocks noChangeArrowheads="1"/>
            </p:cNvSpPr>
            <p:nvPr/>
          </p:nvSpPr>
          <p:spPr bwMode="auto">
            <a:xfrm>
              <a:off x="6744231" y="2773623"/>
              <a:ext cx="10766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164" name="Rectangle 37"/>
            <p:cNvSpPr>
              <a:spLocks noChangeArrowheads="1"/>
            </p:cNvSpPr>
            <p:nvPr/>
          </p:nvSpPr>
          <p:spPr bwMode="auto">
            <a:xfrm>
              <a:off x="6314632" y="2773623"/>
              <a:ext cx="17365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165" name="Rectangle 38"/>
            <p:cNvSpPr>
              <a:spLocks noChangeArrowheads="1"/>
            </p:cNvSpPr>
            <p:nvPr/>
          </p:nvSpPr>
          <p:spPr bwMode="auto">
            <a:xfrm>
              <a:off x="5370093" y="2773623"/>
              <a:ext cx="13892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166" name="Rectangle 39"/>
            <p:cNvSpPr>
              <a:spLocks noChangeArrowheads="1"/>
            </p:cNvSpPr>
            <p:nvPr/>
          </p:nvSpPr>
          <p:spPr bwMode="auto">
            <a:xfrm>
              <a:off x="8685383" y="2808353"/>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167" name="Rectangle 40"/>
            <p:cNvSpPr>
              <a:spLocks noChangeArrowheads="1"/>
            </p:cNvSpPr>
            <p:nvPr/>
          </p:nvSpPr>
          <p:spPr bwMode="auto">
            <a:xfrm>
              <a:off x="8857512" y="2492896"/>
              <a:ext cx="4445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68" name="Rectangle 41"/>
            <p:cNvSpPr>
              <a:spLocks noChangeArrowheads="1"/>
            </p:cNvSpPr>
            <p:nvPr/>
          </p:nvSpPr>
          <p:spPr bwMode="auto">
            <a:xfrm>
              <a:off x="8446717" y="2634707"/>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9" name="Rectangle 42"/>
            <p:cNvSpPr>
              <a:spLocks noChangeArrowheads="1"/>
            </p:cNvSpPr>
            <p:nvPr/>
          </p:nvSpPr>
          <p:spPr bwMode="auto">
            <a:xfrm>
              <a:off x="7833416" y="2808353"/>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170" name="Rectangle 43"/>
            <p:cNvSpPr>
              <a:spLocks noChangeArrowheads="1"/>
            </p:cNvSpPr>
            <p:nvPr/>
          </p:nvSpPr>
          <p:spPr bwMode="auto">
            <a:xfrm>
              <a:off x="7680092" y="2492896"/>
              <a:ext cx="4723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71" name="Rectangle 44"/>
            <p:cNvSpPr>
              <a:spLocks noChangeArrowheads="1"/>
            </p:cNvSpPr>
            <p:nvPr/>
          </p:nvSpPr>
          <p:spPr bwMode="auto">
            <a:xfrm>
              <a:off x="7202761" y="2634707"/>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172" name="Rectangle 45"/>
            <p:cNvSpPr>
              <a:spLocks noChangeArrowheads="1"/>
            </p:cNvSpPr>
            <p:nvPr/>
          </p:nvSpPr>
          <p:spPr bwMode="auto">
            <a:xfrm>
              <a:off x="6592353" y="2634707"/>
              <a:ext cx="1667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73" name="Rectangle 46"/>
            <p:cNvSpPr>
              <a:spLocks noChangeArrowheads="1"/>
            </p:cNvSpPr>
            <p:nvPr/>
          </p:nvSpPr>
          <p:spPr bwMode="auto">
            <a:xfrm>
              <a:off x="6541727" y="2634707"/>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174" name="Rectangle 47"/>
            <p:cNvSpPr>
              <a:spLocks noChangeArrowheads="1"/>
            </p:cNvSpPr>
            <p:nvPr/>
          </p:nvSpPr>
          <p:spPr bwMode="auto">
            <a:xfrm>
              <a:off x="6496887" y="2634707"/>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75" name="Rectangle 48"/>
            <p:cNvSpPr>
              <a:spLocks noChangeArrowheads="1"/>
            </p:cNvSpPr>
            <p:nvPr/>
          </p:nvSpPr>
          <p:spPr bwMode="auto">
            <a:xfrm>
              <a:off x="6156968" y="2634707"/>
              <a:ext cx="2917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C </a:t>
              </a:r>
              <a:endParaRPr lang="en-US" altLang="ko-KR" sz="1600" baseline="0" dirty="0">
                <a:solidFill>
                  <a:srgbClr val="000000"/>
                </a:solidFill>
                <a:latin typeface="Times New Roman" pitchFamily="18" charset="0"/>
                <a:ea typeface="굴림" pitchFamily="50" charset="-127"/>
              </a:endParaRPr>
            </a:p>
          </p:txBody>
        </p:sp>
        <p:sp>
          <p:nvSpPr>
            <p:cNvPr id="176" name="Rectangle 49"/>
            <p:cNvSpPr>
              <a:spLocks noChangeArrowheads="1"/>
            </p:cNvSpPr>
            <p:nvPr/>
          </p:nvSpPr>
          <p:spPr bwMode="auto">
            <a:xfrm>
              <a:off x="5746173" y="2634707"/>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177" name="Rectangle 50"/>
            <p:cNvSpPr>
              <a:spLocks noChangeArrowheads="1"/>
            </p:cNvSpPr>
            <p:nvPr/>
          </p:nvSpPr>
          <p:spPr bwMode="auto">
            <a:xfrm>
              <a:off x="5216768" y="2634707"/>
              <a:ext cx="1667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40" name="AutoShape 95"/>
            <p:cNvSpPr>
              <a:spLocks noChangeArrowheads="1"/>
            </p:cNvSpPr>
            <p:nvPr/>
          </p:nvSpPr>
          <p:spPr bwMode="auto">
            <a:xfrm>
              <a:off x="7542679" y="2517496"/>
              <a:ext cx="1874614" cy="555666"/>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179" name="TextBox 178"/>
            <p:cNvSpPr txBox="1"/>
            <p:nvPr/>
          </p:nvSpPr>
          <p:spPr>
            <a:xfrm>
              <a:off x="6249532" y="2199955"/>
              <a:ext cx="55431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80" name="TextBox 179"/>
            <p:cNvSpPr txBox="1"/>
            <p:nvPr/>
          </p:nvSpPr>
          <p:spPr>
            <a:xfrm>
              <a:off x="7976568" y="2877325"/>
              <a:ext cx="55431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81" name="TextBox 180"/>
            <p:cNvSpPr txBox="1"/>
            <p:nvPr/>
          </p:nvSpPr>
          <p:spPr>
            <a:xfrm>
              <a:off x="8816768" y="2875868"/>
              <a:ext cx="55431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grpSp>
      <p:sp>
        <p:nvSpPr>
          <p:cNvPr id="182" name="Line 12"/>
          <p:cNvSpPr>
            <a:spLocks noChangeShapeType="1"/>
          </p:cNvSpPr>
          <p:nvPr/>
        </p:nvSpPr>
        <p:spPr bwMode="auto">
          <a:xfrm>
            <a:off x="5325223" y="3612018"/>
            <a:ext cx="104946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83" name="Rectangle 14"/>
          <p:cNvSpPr>
            <a:spLocks noChangeArrowheads="1"/>
          </p:cNvSpPr>
          <p:nvPr/>
        </p:nvSpPr>
        <p:spPr bwMode="auto">
          <a:xfrm>
            <a:off x="4996764" y="3607676"/>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84" name="Rectangle 15"/>
          <p:cNvSpPr>
            <a:spLocks noChangeArrowheads="1"/>
          </p:cNvSpPr>
          <p:nvPr/>
        </p:nvSpPr>
        <p:spPr bwMode="auto">
          <a:xfrm>
            <a:off x="5436096" y="3643852"/>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 x 0.160</a:t>
            </a:r>
            <a:endParaRPr lang="en-US" altLang="ko-KR" sz="1600" baseline="0" dirty="0">
              <a:solidFill>
                <a:srgbClr val="000000"/>
              </a:solidFill>
              <a:latin typeface="Times New Roman" pitchFamily="18" charset="0"/>
              <a:ea typeface="굴림" pitchFamily="50" charset="-127"/>
            </a:endParaRPr>
          </a:p>
        </p:txBody>
      </p:sp>
      <p:sp>
        <p:nvSpPr>
          <p:cNvPr id="185" name="Rectangle 16"/>
          <p:cNvSpPr>
            <a:spLocks noChangeArrowheads="1"/>
          </p:cNvSpPr>
          <p:nvPr/>
        </p:nvSpPr>
        <p:spPr bwMode="auto">
          <a:xfrm>
            <a:off x="6054797" y="331247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186" name="Rectangle 17"/>
          <p:cNvSpPr>
            <a:spLocks noChangeArrowheads="1"/>
          </p:cNvSpPr>
          <p:nvPr/>
        </p:nvSpPr>
        <p:spPr bwMode="auto">
          <a:xfrm>
            <a:off x="5569034" y="331247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87" name="Rectangle 18"/>
          <p:cNvSpPr>
            <a:spLocks noChangeArrowheads="1"/>
          </p:cNvSpPr>
          <p:nvPr/>
        </p:nvSpPr>
        <p:spPr bwMode="auto">
          <a:xfrm>
            <a:off x="4837876" y="3460078"/>
            <a:ext cx="1619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89" name="Rectangle 20"/>
          <p:cNvSpPr>
            <a:spLocks noChangeArrowheads="1"/>
          </p:cNvSpPr>
          <p:nvPr/>
        </p:nvSpPr>
        <p:spPr bwMode="auto">
          <a:xfrm>
            <a:off x="5805892" y="3284985"/>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0" name="Rectangle 21"/>
          <p:cNvSpPr>
            <a:spLocks noChangeArrowheads="1"/>
          </p:cNvSpPr>
          <p:nvPr/>
        </p:nvSpPr>
        <p:spPr bwMode="auto">
          <a:xfrm>
            <a:off x="5147641" y="3434031"/>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4" name="Rectangle 59"/>
          <p:cNvSpPr>
            <a:spLocks noChangeArrowheads="1"/>
          </p:cNvSpPr>
          <p:nvPr/>
        </p:nvSpPr>
        <p:spPr bwMode="auto">
          <a:xfrm>
            <a:off x="6433131" y="3477402"/>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1.044</a:t>
            </a:r>
            <a:endParaRPr lang="en-US" altLang="ko-KR" sz="1600" baseline="0" dirty="0">
              <a:solidFill>
                <a:srgbClr val="000000"/>
              </a:solidFill>
              <a:latin typeface="Times New Roman" pitchFamily="18" charset="0"/>
              <a:ea typeface="굴림" pitchFamily="50" charset="-127"/>
            </a:endParaRPr>
          </a:p>
        </p:txBody>
      </p:sp>
      <p:sp>
        <p:nvSpPr>
          <p:cNvPr id="195" name="Line 12"/>
          <p:cNvSpPr>
            <a:spLocks noChangeShapeType="1"/>
          </p:cNvSpPr>
          <p:nvPr/>
        </p:nvSpPr>
        <p:spPr bwMode="auto">
          <a:xfrm>
            <a:off x="5437750" y="4661061"/>
            <a:ext cx="104946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96" name="Rectangle 14"/>
          <p:cNvSpPr>
            <a:spLocks noChangeArrowheads="1"/>
          </p:cNvSpPr>
          <p:nvPr/>
        </p:nvSpPr>
        <p:spPr bwMode="auto">
          <a:xfrm>
            <a:off x="4996764" y="4656718"/>
            <a:ext cx="2420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PKL</a:t>
            </a:r>
            <a:endParaRPr lang="en-US" altLang="ko-KR" sz="1600" baseline="0" dirty="0">
              <a:solidFill>
                <a:srgbClr val="000000"/>
              </a:solidFill>
              <a:latin typeface="Times New Roman" pitchFamily="18" charset="0"/>
              <a:ea typeface="굴림" pitchFamily="50" charset="-127"/>
            </a:endParaRPr>
          </a:p>
        </p:txBody>
      </p:sp>
      <p:sp>
        <p:nvSpPr>
          <p:cNvPr id="197" name="Rectangle 15"/>
          <p:cNvSpPr>
            <a:spLocks noChangeArrowheads="1"/>
          </p:cNvSpPr>
          <p:nvPr/>
        </p:nvSpPr>
        <p:spPr bwMode="auto">
          <a:xfrm>
            <a:off x="5548624" y="4692895"/>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0.160</a:t>
            </a:r>
            <a:endParaRPr lang="en-US" altLang="ko-KR" sz="1600" baseline="0" dirty="0">
              <a:solidFill>
                <a:srgbClr val="000000"/>
              </a:solidFill>
              <a:latin typeface="Times New Roman" pitchFamily="18" charset="0"/>
              <a:ea typeface="굴림" pitchFamily="50" charset="-127"/>
            </a:endParaRPr>
          </a:p>
        </p:txBody>
      </p:sp>
      <p:sp>
        <p:nvSpPr>
          <p:cNvPr id="198" name="Rectangle 16"/>
          <p:cNvSpPr>
            <a:spLocks noChangeArrowheads="1"/>
          </p:cNvSpPr>
          <p:nvPr/>
        </p:nvSpPr>
        <p:spPr bwMode="auto">
          <a:xfrm>
            <a:off x="6300263" y="4361521"/>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199" name="Rectangle 17"/>
          <p:cNvSpPr>
            <a:spLocks noChangeArrowheads="1"/>
          </p:cNvSpPr>
          <p:nvPr/>
        </p:nvSpPr>
        <p:spPr bwMode="auto">
          <a:xfrm>
            <a:off x="5569034" y="4361521"/>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200" name="Rectangle 18"/>
          <p:cNvSpPr>
            <a:spLocks noChangeArrowheads="1"/>
          </p:cNvSpPr>
          <p:nvPr/>
        </p:nvSpPr>
        <p:spPr bwMode="auto">
          <a:xfrm>
            <a:off x="4837876" y="4509121"/>
            <a:ext cx="1619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201" name="Rectangle 20"/>
          <p:cNvSpPr>
            <a:spLocks noChangeArrowheads="1"/>
          </p:cNvSpPr>
          <p:nvPr/>
        </p:nvSpPr>
        <p:spPr bwMode="auto">
          <a:xfrm>
            <a:off x="6051358" y="4334028"/>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2" name="Rectangle 21"/>
          <p:cNvSpPr>
            <a:spLocks noChangeArrowheads="1"/>
          </p:cNvSpPr>
          <p:nvPr/>
        </p:nvSpPr>
        <p:spPr bwMode="auto">
          <a:xfrm>
            <a:off x="5260168" y="4483074"/>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3" name="Rectangle 59"/>
          <p:cNvSpPr>
            <a:spLocks noChangeArrowheads="1"/>
          </p:cNvSpPr>
          <p:nvPr/>
        </p:nvSpPr>
        <p:spPr bwMode="auto">
          <a:xfrm>
            <a:off x="6545658" y="4526445"/>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0.584</a:t>
            </a:r>
            <a:endParaRPr lang="en-US" altLang="ko-KR" sz="1600" baseline="0" dirty="0">
              <a:solidFill>
                <a:srgbClr val="000000"/>
              </a:solidFill>
              <a:latin typeface="Times New Roman" pitchFamily="18" charset="0"/>
              <a:ea typeface="굴림" pitchFamily="50" charset="-127"/>
            </a:endParaRPr>
          </a:p>
        </p:txBody>
      </p:sp>
      <p:sp>
        <p:nvSpPr>
          <p:cNvPr id="204" name="Rectangle 75"/>
          <p:cNvSpPr>
            <a:spLocks noChangeArrowheads="1"/>
          </p:cNvSpPr>
          <p:nvPr/>
        </p:nvSpPr>
        <p:spPr bwMode="auto">
          <a:xfrm>
            <a:off x="881750" y="531986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5" name="Rectangle 81"/>
          <p:cNvSpPr>
            <a:spLocks noChangeArrowheads="1"/>
          </p:cNvSpPr>
          <p:nvPr/>
        </p:nvSpPr>
        <p:spPr bwMode="auto">
          <a:xfrm>
            <a:off x="650894" y="5483414"/>
            <a:ext cx="25648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PKU</a:t>
            </a:r>
            <a:endParaRPr lang="en-US" altLang="ko-KR" sz="1600" baseline="0" dirty="0">
              <a:solidFill>
                <a:srgbClr val="000000"/>
              </a:solidFill>
              <a:latin typeface="Times New Roman" pitchFamily="18" charset="0"/>
              <a:ea typeface="굴림" pitchFamily="50" charset="-127"/>
            </a:endParaRPr>
          </a:p>
        </p:txBody>
      </p:sp>
      <p:sp>
        <p:nvSpPr>
          <p:cNvPr id="206" name="Rectangle 93"/>
          <p:cNvSpPr>
            <a:spLocks noChangeArrowheads="1"/>
          </p:cNvSpPr>
          <p:nvPr/>
        </p:nvSpPr>
        <p:spPr bwMode="auto">
          <a:xfrm>
            <a:off x="549406" y="5343026"/>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207" name="Line 56"/>
          <p:cNvSpPr>
            <a:spLocks noChangeShapeType="1"/>
          </p:cNvSpPr>
          <p:nvPr/>
        </p:nvSpPr>
        <p:spPr bwMode="auto">
          <a:xfrm>
            <a:off x="1073909" y="548139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08" name="Rectangle 58"/>
          <p:cNvSpPr>
            <a:spLocks noChangeArrowheads="1"/>
          </p:cNvSpPr>
          <p:nvPr/>
        </p:nvSpPr>
        <p:spPr bwMode="auto">
          <a:xfrm>
            <a:off x="1347033" y="5157192"/>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9" name="Rectangle 60"/>
          <p:cNvSpPr>
            <a:spLocks noChangeArrowheads="1"/>
          </p:cNvSpPr>
          <p:nvPr/>
        </p:nvSpPr>
        <p:spPr bwMode="auto">
          <a:xfrm>
            <a:off x="1216314" y="5500176"/>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0.176</a:t>
            </a:r>
            <a:endParaRPr lang="en-US" altLang="ko-KR" sz="1600" baseline="0" dirty="0">
              <a:solidFill>
                <a:srgbClr val="000000"/>
              </a:solidFill>
              <a:latin typeface="Times New Roman" pitchFamily="18" charset="0"/>
              <a:ea typeface="굴림" pitchFamily="50" charset="-127"/>
            </a:endParaRPr>
          </a:p>
        </p:txBody>
      </p:sp>
      <p:sp>
        <p:nvSpPr>
          <p:cNvPr id="210" name="Rectangle 61"/>
          <p:cNvSpPr>
            <a:spLocks noChangeArrowheads="1"/>
          </p:cNvSpPr>
          <p:nvPr/>
        </p:nvSpPr>
        <p:spPr bwMode="auto">
          <a:xfrm>
            <a:off x="1559057" y="5183244"/>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211" name="Rectangle 62"/>
          <p:cNvSpPr>
            <a:spLocks noChangeArrowheads="1"/>
          </p:cNvSpPr>
          <p:nvPr/>
        </p:nvSpPr>
        <p:spPr bwMode="auto">
          <a:xfrm>
            <a:off x="1147625" y="5157192"/>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212" name="Rectangle 59"/>
          <p:cNvSpPr>
            <a:spLocks noChangeArrowheads="1"/>
          </p:cNvSpPr>
          <p:nvPr/>
        </p:nvSpPr>
        <p:spPr bwMode="auto">
          <a:xfrm>
            <a:off x="2279817" y="5320600"/>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1.363</a:t>
            </a:r>
            <a:endParaRPr lang="en-US" altLang="ko-KR" sz="1600" baseline="0" dirty="0">
              <a:solidFill>
                <a:srgbClr val="000000"/>
              </a:solidFill>
              <a:latin typeface="Times New Roman" pitchFamily="18" charset="0"/>
              <a:ea typeface="굴림" pitchFamily="50" charset="-127"/>
            </a:endParaRPr>
          </a:p>
        </p:txBody>
      </p:sp>
      <p:sp>
        <p:nvSpPr>
          <p:cNvPr id="213" name="Line 12"/>
          <p:cNvSpPr>
            <a:spLocks noChangeShapeType="1"/>
          </p:cNvSpPr>
          <p:nvPr/>
        </p:nvSpPr>
        <p:spPr bwMode="auto">
          <a:xfrm>
            <a:off x="5437750" y="5440449"/>
            <a:ext cx="104946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14" name="Rectangle 14"/>
          <p:cNvSpPr>
            <a:spLocks noChangeArrowheads="1"/>
          </p:cNvSpPr>
          <p:nvPr/>
        </p:nvSpPr>
        <p:spPr bwMode="auto">
          <a:xfrm>
            <a:off x="4996764" y="5436106"/>
            <a:ext cx="2420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PKL</a:t>
            </a:r>
            <a:endParaRPr lang="en-US" altLang="ko-KR" sz="1600" baseline="0" dirty="0">
              <a:solidFill>
                <a:srgbClr val="000000"/>
              </a:solidFill>
              <a:latin typeface="Times New Roman" pitchFamily="18" charset="0"/>
              <a:ea typeface="굴림" pitchFamily="50" charset="-127"/>
            </a:endParaRPr>
          </a:p>
        </p:txBody>
      </p:sp>
      <p:sp>
        <p:nvSpPr>
          <p:cNvPr id="215" name="Rectangle 15"/>
          <p:cNvSpPr>
            <a:spLocks noChangeArrowheads="1"/>
          </p:cNvSpPr>
          <p:nvPr/>
        </p:nvSpPr>
        <p:spPr bwMode="auto">
          <a:xfrm>
            <a:off x="5548624" y="5472283"/>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0.160</a:t>
            </a:r>
            <a:endParaRPr lang="en-US" altLang="ko-KR" sz="1600" baseline="0" dirty="0">
              <a:solidFill>
                <a:srgbClr val="000000"/>
              </a:solidFill>
              <a:latin typeface="Times New Roman" pitchFamily="18" charset="0"/>
              <a:ea typeface="굴림" pitchFamily="50" charset="-127"/>
            </a:endParaRPr>
          </a:p>
        </p:txBody>
      </p:sp>
      <p:sp>
        <p:nvSpPr>
          <p:cNvPr id="216" name="Rectangle 16"/>
          <p:cNvSpPr>
            <a:spLocks noChangeArrowheads="1"/>
          </p:cNvSpPr>
          <p:nvPr/>
        </p:nvSpPr>
        <p:spPr bwMode="auto">
          <a:xfrm>
            <a:off x="5973062" y="5140909"/>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217" name="Rectangle 17"/>
          <p:cNvSpPr>
            <a:spLocks noChangeArrowheads="1"/>
          </p:cNvSpPr>
          <p:nvPr/>
        </p:nvSpPr>
        <p:spPr bwMode="auto">
          <a:xfrm>
            <a:off x="5569034" y="5140909"/>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218" name="Rectangle 18"/>
          <p:cNvSpPr>
            <a:spLocks noChangeArrowheads="1"/>
          </p:cNvSpPr>
          <p:nvPr/>
        </p:nvSpPr>
        <p:spPr bwMode="auto">
          <a:xfrm>
            <a:off x="4837876" y="5288509"/>
            <a:ext cx="1619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219" name="Rectangle 20"/>
          <p:cNvSpPr>
            <a:spLocks noChangeArrowheads="1"/>
          </p:cNvSpPr>
          <p:nvPr/>
        </p:nvSpPr>
        <p:spPr bwMode="auto">
          <a:xfrm>
            <a:off x="5768440" y="5113416"/>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20" name="Rectangle 21"/>
          <p:cNvSpPr>
            <a:spLocks noChangeArrowheads="1"/>
          </p:cNvSpPr>
          <p:nvPr/>
        </p:nvSpPr>
        <p:spPr bwMode="auto">
          <a:xfrm>
            <a:off x="5260168" y="5262462"/>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21" name="Rectangle 59"/>
          <p:cNvSpPr>
            <a:spLocks noChangeArrowheads="1"/>
          </p:cNvSpPr>
          <p:nvPr/>
        </p:nvSpPr>
        <p:spPr bwMode="auto">
          <a:xfrm>
            <a:off x="6545658" y="5305833"/>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1.503</a:t>
            </a:r>
            <a:endParaRPr lang="en-US" altLang="ko-KR" sz="1600" baseline="0" dirty="0">
              <a:solidFill>
                <a:srgbClr val="000000"/>
              </a:solidFill>
              <a:latin typeface="Times New Roman" pitchFamily="18" charset="0"/>
              <a:ea typeface="굴림" pitchFamily="50" charset="-127"/>
            </a:endParaRPr>
          </a:p>
        </p:txBody>
      </p:sp>
      <p:sp>
        <p:nvSpPr>
          <p:cNvPr id="188"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13777795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209</a:t>
            </a:fld>
            <a:endParaRPr lang="ko-KR" altLang="en-US" dirty="0"/>
          </a:p>
        </p:txBody>
      </p:sp>
      <p:sp>
        <p:nvSpPr>
          <p:cNvPr id="5" name="TextBox 4"/>
          <p:cNvSpPr txBox="1"/>
          <p:nvPr/>
        </p:nvSpPr>
        <p:spPr>
          <a:xfrm>
            <a:off x="705333" y="1556792"/>
            <a:ext cx="2536079" cy="372410"/>
          </a:xfrm>
          <a:prstGeom prst="rect">
            <a:avLst/>
          </a:prstGeom>
          <a:noFill/>
        </p:spPr>
        <p:txBody>
          <a:bodyPr wrap="none" rtlCol="0">
            <a:spAutoFit/>
          </a:bodyPr>
          <a:lstStyle/>
          <a:p>
            <a:pPr>
              <a:lnSpc>
                <a:spcPct val="130000"/>
              </a:lnSpc>
              <a:buClr>
                <a:srgbClr val="C5003D"/>
              </a:buClr>
            </a:pPr>
            <a:r>
              <a:rPr lang="en-US" altLang="ko-KR" sz="1400" b="1" dirty="0"/>
              <a:t>Data &gt; Stack &gt; Columns    </a:t>
            </a:r>
            <a:endParaRPr lang="ko-KR" altLang="en-US" sz="1400" b="1" dirty="0"/>
          </a:p>
        </p:txBody>
      </p:sp>
      <p:sp>
        <p:nvSpPr>
          <p:cNvPr id="6" name="TextBox 5"/>
          <p:cNvSpPr txBox="1"/>
          <p:nvPr/>
        </p:nvSpPr>
        <p:spPr>
          <a:xfrm>
            <a:off x="705332" y="1988840"/>
            <a:ext cx="4700005" cy="372410"/>
          </a:xfrm>
          <a:prstGeom prst="rect">
            <a:avLst/>
          </a:prstGeom>
          <a:noFill/>
        </p:spPr>
        <p:txBody>
          <a:bodyPr wrap="none" rtlCol="0">
            <a:spAutoFit/>
          </a:bodyPr>
          <a:lstStyle/>
          <a:p>
            <a:pPr>
              <a:lnSpc>
                <a:spcPct val="130000"/>
              </a:lnSpc>
              <a:buClr>
                <a:srgbClr val="C5003D"/>
              </a:buClr>
            </a:pPr>
            <a:r>
              <a:rPr lang="en-US" altLang="ko-KR" sz="1400" b="1" dirty="0"/>
              <a:t>Stat &gt; Quality Tools &gt; Capability Analysis &gt; Normal </a:t>
            </a:r>
            <a:endParaRPr lang="ko-KR" altLang="en-US" sz="1400" b="1" dirty="0"/>
          </a:p>
        </p:txBody>
      </p:sp>
      <p:sp>
        <p:nvSpPr>
          <p:cNvPr id="8" name="TextBox 7"/>
          <p:cNvSpPr txBox="1"/>
          <p:nvPr/>
        </p:nvSpPr>
        <p:spPr>
          <a:xfrm>
            <a:off x="2910277" y="1597896"/>
            <a:ext cx="5000087" cy="312393"/>
          </a:xfrm>
          <a:prstGeom prst="rect">
            <a:avLst/>
          </a:prstGeom>
          <a:noFill/>
        </p:spPr>
        <p:txBody>
          <a:bodyPr wrap="none" rtlCol="0">
            <a:spAutoFit/>
          </a:bodyPr>
          <a:lstStyle/>
          <a:p>
            <a:pPr>
              <a:lnSpc>
                <a:spcPct val="130000"/>
              </a:lnSpc>
              <a:buClr>
                <a:srgbClr val="C5003D"/>
              </a:buClr>
            </a:pPr>
            <a:r>
              <a:rPr lang="en-US" altLang="ko-KR" sz="1100" b="1" dirty="0">
                <a:solidFill>
                  <a:srgbClr val="00B050"/>
                </a:solidFill>
              </a:rPr>
              <a:t>Copy the Excel data into Minitab and set it as one column for analysis.</a:t>
            </a:r>
            <a:endParaRPr lang="ko-KR" altLang="en-US" sz="1100" b="1" dirty="0">
              <a:solidFill>
                <a:srgbClr val="00B050"/>
              </a:solidFill>
            </a:endParaRPr>
          </a:p>
        </p:txBody>
      </p:sp>
      <p:pic>
        <p:nvPicPr>
          <p:cNvPr id="237875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16802" y="2348880"/>
            <a:ext cx="4622376" cy="3456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787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69034" y="2348880"/>
            <a:ext cx="3389915" cy="2448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직사각형 8"/>
          <p:cNvSpPr/>
          <p:nvPr/>
        </p:nvSpPr>
        <p:spPr>
          <a:xfrm>
            <a:off x="4463721" y="2924944"/>
            <a:ext cx="706499" cy="21602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꺾인 연결선 10"/>
          <p:cNvCxnSpPr>
            <a:stCxn id="9" idx="3"/>
            <a:endCxn id="2378755" idx="1"/>
          </p:cNvCxnSpPr>
          <p:nvPr/>
        </p:nvCxnSpPr>
        <p:spPr>
          <a:xfrm>
            <a:off x="5170220" y="3032956"/>
            <a:ext cx="398814" cy="540060"/>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6656337" y="3000373"/>
            <a:ext cx="2824812" cy="312393"/>
          </a:xfrm>
          <a:prstGeom prst="rect">
            <a:avLst/>
          </a:prstGeom>
          <a:noFill/>
        </p:spPr>
        <p:txBody>
          <a:bodyPr wrap="none" rtlCol="0">
            <a:spAutoFit/>
          </a:bodyPr>
          <a:lstStyle/>
          <a:p>
            <a:pPr>
              <a:lnSpc>
                <a:spcPct val="130000"/>
              </a:lnSpc>
              <a:buClr>
                <a:srgbClr val="C5003D"/>
              </a:buClr>
            </a:pPr>
            <a:r>
              <a:rPr lang="en-US" altLang="ko-KR" sz="1100" b="1" dirty="0">
                <a:solidFill>
                  <a:srgbClr val="FF0000"/>
                </a:solidFill>
              </a:rPr>
              <a:t>Turn off </a:t>
            </a:r>
            <a:r>
              <a:rPr lang="en-US" altLang="ko-KR" sz="1100" b="1" dirty="0" err="1">
                <a:solidFill>
                  <a:srgbClr val="FF0000"/>
                </a:solidFill>
              </a:rPr>
              <a:t>Unbiasing</a:t>
            </a:r>
            <a:r>
              <a:rPr lang="en-US" altLang="ko-KR" sz="1100" b="1" dirty="0">
                <a:solidFill>
                  <a:srgbClr val="FF0000"/>
                </a:solidFill>
              </a:rPr>
              <a:t> constant correction</a:t>
            </a:r>
            <a:endParaRPr lang="ko-KR" altLang="en-US" sz="1100" b="1" dirty="0">
              <a:solidFill>
                <a:srgbClr val="FF0000"/>
              </a:solidFill>
            </a:endParaRPr>
          </a:p>
        </p:txBody>
      </p:sp>
      <p:sp>
        <p:nvSpPr>
          <p:cNvPr id="14" name="TextBox 13"/>
          <p:cNvSpPr txBox="1"/>
          <p:nvPr/>
        </p:nvSpPr>
        <p:spPr>
          <a:xfrm>
            <a:off x="384458" y="908720"/>
            <a:ext cx="4339906" cy="412421"/>
          </a:xfrm>
          <a:prstGeom prst="rect">
            <a:avLst/>
          </a:prstGeom>
          <a:noFill/>
        </p:spPr>
        <p:txBody>
          <a:bodyPr wrap="none" rtlCol="0">
            <a:spAutoFit/>
          </a:bodyPr>
          <a:lstStyle/>
          <a:p>
            <a:pPr>
              <a:lnSpc>
                <a:spcPct val="130000"/>
              </a:lnSpc>
              <a:buClr>
                <a:srgbClr val="C5003D"/>
              </a:buClr>
            </a:pPr>
            <a:r>
              <a:rPr lang="en-US" altLang="ko-KR" sz="1600" b="1" dirty="0"/>
              <a:t>Let's get the process capability for Case 3.</a:t>
            </a:r>
            <a:endParaRPr lang="ko-KR" altLang="en-US" sz="1600" b="1" dirty="0"/>
          </a:p>
        </p:txBody>
      </p:sp>
      <p:sp>
        <p:nvSpPr>
          <p:cNvPr id="15"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261410810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210</a:t>
            </a:fld>
            <a:endParaRPr lang="ko-KR" altLang="en-US" dirty="0"/>
          </a:p>
        </p:txBody>
      </p:sp>
      <p:sp>
        <p:nvSpPr>
          <p:cNvPr id="4" name="TextBox 3"/>
          <p:cNvSpPr txBox="1"/>
          <p:nvPr/>
        </p:nvSpPr>
        <p:spPr>
          <a:xfrm>
            <a:off x="384458" y="908721"/>
            <a:ext cx="3967048" cy="412421"/>
          </a:xfrm>
          <a:prstGeom prst="rect">
            <a:avLst/>
          </a:prstGeom>
          <a:noFill/>
        </p:spPr>
        <p:txBody>
          <a:bodyPr wrap="none" rtlCol="0">
            <a:spAutoFit/>
          </a:bodyPr>
          <a:lstStyle/>
          <a:p>
            <a:pPr>
              <a:lnSpc>
                <a:spcPct val="130000"/>
              </a:lnSpc>
              <a:buClr>
                <a:srgbClr val="C5003D"/>
              </a:buClr>
            </a:pP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năng</a:t>
            </a:r>
            <a:r>
              <a:rPr lang="en-US" altLang="ko-KR" sz="1600" b="1" dirty="0"/>
              <a:t> </a:t>
            </a:r>
            <a:r>
              <a:rPr lang="en-US" altLang="ko-KR" sz="1600" b="1" dirty="0" err="1"/>
              <a:t>lực</a:t>
            </a:r>
            <a:r>
              <a:rPr lang="en-US" altLang="ko-KR" sz="1600" b="1" dirty="0"/>
              <a:t> process </a:t>
            </a:r>
            <a:r>
              <a:rPr lang="en-US" altLang="ko-KR" sz="1600" b="1" dirty="0" err="1"/>
              <a:t>cho</a:t>
            </a:r>
            <a:r>
              <a:rPr lang="en-US" altLang="ko-KR" sz="1600" b="1" dirty="0"/>
              <a:t> Case 3</a:t>
            </a:r>
            <a:endParaRPr lang="ko-KR" altLang="en-US" sz="1600" b="1" dirty="0"/>
          </a:p>
        </p:txBody>
      </p:sp>
      <p:grpSp>
        <p:nvGrpSpPr>
          <p:cNvPr id="3" name="그룹 192"/>
          <p:cNvGrpSpPr/>
          <p:nvPr/>
        </p:nvGrpSpPr>
        <p:grpSpPr>
          <a:xfrm>
            <a:off x="549406" y="1679598"/>
            <a:ext cx="3823188" cy="1483941"/>
            <a:chOff x="488504" y="1679597"/>
            <a:chExt cx="4141787" cy="1483941"/>
          </a:xfrm>
        </p:grpSpPr>
        <p:sp>
          <p:nvSpPr>
            <p:cNvPr id="8" name="Line 56"/>
            <p:cNvSpPr>
              <a:spLocks noChangeShapeType="1"/>
            </p:cNvSpPr>
            <p:nvPr/>
          </p:nvSpPr>
          <p:spPr bwMode="auto">
            <a:xfrm>
              <a:off x="984708" y="2003795"/>
              <a:ext cx="117613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9" name="Rectangle 57"/>
            <p:cNvSpPr>
              <a:spLocks noChangeArrowheads="1"/>
            </p:cNvSpPr>
            <p:nvPr/>
          </p:nvSpPr>
          <p:spPr bwMode="auto">
            <a:xfrm>
              <a:off x="1561926" y="2011032"/>
              <a:ext cx="15976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0" name="Rectangle 58"/>
            <p:cNvSpPr>
              <a:spLocks noChangeArrowheads="1"/>
            </p:cNvSpPr>
            <p:nvPr/>
          </p:nvSpPr>
          <p:spPr bwMode="auto">
            <a:xfrm>
              <a:off x="1524311" y="1679597"/>
              <a:ext cx="14413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1" name="Rectangle 59"/>
            <p:cNvSpPr>
              <a:spLocks noChangeArrowheads="1"/>
            </p:cNvSpPr>
            <p:nvPr/>
          </p:nvSpPr>
          <p:spPr bwMode="auto">
            <a:xfrm>
              <a:off x="783623" y="1827223"/>
              <a:ext cx="14413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 name="Rectangle 60"/>
            <p:cNvSpPr>
              <a:spLocks noChangeArrowheads="1"/>
            </p:cNvSpPr>
            <p:nvPr/>
          </p:nvSpPr>
          <p:spPr bwMode="auto">
            <a:xfrm>
              <a:off x="1436066" y="2038531"/>
              <a:ext cx="1319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3" name="Rectangle 61"/>
            <p:cNvSpPr>
              <a:spLocks noChangeArrowheads="1"/>
            </p:cNvSpPr>
            <p:nvPr/>
          </p:nvSpPr>
          <p:spPr bwMode="auto">
            <a:xfrm>
              <a:off x="1703698" y="1705649"/>
              <a:ext cx="47061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4" name="Rectangle 62"/>
            <p:cNvSpPr>
              <a:spLocks noChangeArrowheads="1"/>
            </p:cNvSpPr>
            <p:nvPr/>
          </p:nvSpPr>
          <p:spPr bwMode="auto">
            <a:xfrm>
              <a:off x="1003515" y="1705649"/>
              <a:ext cx="500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5" name="Rectangle 63"/>
            <p:cNvSpPr>
              <a:spLocks noChangeArrowheads="1"/>
            </p:cNvSpPr>
            <p:nvPr/>
          </p:nvSpPr>
          <p:spPr bwMode="auto">
            <a:xfrm>
              <a:off x="491396" y="1854722"/>
              <a:ext cx="14761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6" name="Rectangle 64"/>
            <p:cNvSpPr>
              <a:spLocks noChangeArrowheads="1"/>
            </p:cNvSpPr>
            <p:nvPr/>
          </p:nvSpPr>
          <p:spPr bwMode="auto">
            <a:xfrm>
              <a:off x="615810" y="1998006"/>
              <a:ext cx="7641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7" name="Rectangle 65"/>
            <p:cNvSpPr>
              <a:spLocks noChangeArrowheads="1"/>
            </p:cNvSpPr>
            <p:nvPr/>
          </p:nvSpPr>
          <p:spPr bwMode="auto">
            <a:xfrm>
              <a:off x="1334800" y="2530253"/>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8" name="Rectangle 66"/>
            <p:cNvSpPr>
              <a:spLocks noChangeArrowheads="1"/>
            </p:cNvSpPr>
            <p:nvPr/>
          </p:nvSpPr>
          <p:spPr bwMode="auto">
            <a:xfrm>
              <a:off x="2101530" y="2530253"/>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 name="Line 67"/>
            <p:cNvSpPr>
              <a:spLocks noChangeShapeType="1"/>
            </p:cNvSpPr>
            <p:nvPr/>
          </p:nvSpPr>
          <p:spPr bwMode="auto">
            <a:xfrm>
              <a:off x="2881279" y="2771954"/>
              <a:ext cx="775410" cy="1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0" name="Line 68"/>
            <p:cNvSpPr>
              <a:spLocks noChangeShapeType="1"/>
            </p:cNvSpPr>
            <p:nvPr/>
          </p:nvSpPr>
          <p:spPr bwMode="auto">
            <a:xfrm>
              <a:off x="3778209" y="2771954"/>
              <a:ext cx="747923" cy="1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1" name="Rectangle 69"/>
            <p:cNvSpPr>
              <a:spLocks noChangeArrowheads="1"/>
            </p:cNvSpPr>
            <p:nvPr/>
          </p:nvSpPr>
          <p:spPr bwMode="auto">
            <a:xfrm>
              <a:off x="4038607" y="2777744"/>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22" name="Rectangle 70"/>
            <p:cNvSpPr>
              <a:spLocks noChangeArrowheads="1"/>
            </p:cNvSpPr>
            <p:nvPr/>
          </p:nvSpPr>
          <p:spPr bwMode="auto">
            <a:xfrm>
              <a:off x="3956148" y="2460782"/>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3" name="Rectangle 71"/>
            <p:cNvSpPr>
              <a:spLocks noChangeArrowheads="1"/>
            </p:cNvSpPr>
            <p:nvPr/>
          </p:nvSpPr>
          <p:spPr bwMode="auto">
            <a:xfrm>
              <a:off x="3786888" y="2460782"/>
              <a:ext cx="1441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24" name="Rectangle 72"/>
            <p:cNvSpPr>
              <a:spLocks noChangeArrowheads="1"/>
            </p:cNvSpPr>
            <p:nvPr/>
          </p:nvSpPr>
          <p:spPr bwMode="auto">
            <a:xfrm>
              <a:off x="3154698" y="2777744"/>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25" name="Rectangle 73"/>
            <p:cNvSpPr>
              <a:spLocks noChangeArrowheads="1"/>
            </p:cNvSpPr>
            <p:nvPr/>
          </p:nvSpPr>
          <p:spPr bwMode="auto">
            <a:xfrm>
              <a:off x="3517809" y="2460782"/>
              <a:ext cx="1441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26" name="Rectangle 74"/>
            <p:cNvSpPr>
              <a:spLocks noChangeArrowheads="1"/>
            </p:cNvSpPr>
            <p:nvPr/>
          </p:nvSpPr>
          <p:spPr bwMode="auto">
            <a:xfrm>
              <a:off x="3363017" y="2460782"/>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7" name="Rectangle 75"/>
            <p:cNvSpPr>
              <a:spLocks noChangeArrowheads="1"/>
            </p:cNvSpPr>
            <p:nvPr/>
          </p:nvSpPr>
          <p:spPr bwMode="auto">
            <a:xfrm>
              <a:off x="2227389" y="2604066"/>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8" name="Rectangle 76"/>
            <p:cNvSpPr>
              <a:spLocks noChangeArrowheads="1"/>
            </p:cNvSpPr>
            <p:nvPr/>
          </p:nvSpPr>
          <p:spPr bwMode="auto">
            <a:xfrm>
              <a:off x="811109" y="2604066"/>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9" name="Rectangle 79"/>
            <p:cNvSpPr>
              <a:spLocks noChangeArrowheads="1"/>
            </p:cNvSpPr>
            <p:nvPr/>
          </p:nvSpPr>
          <p:spPr bwMode="auto">
            <a:xfrm>
              <a:off x="1952524" y="2767612"/>
              <a:ext cx="10766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30" name="Rectangle 80"/>
            <p:cNvSpPr>
              <a:spLocks noChangeArrowheads="1"/>
            </p:cNvSpPr>
            <p:nvPr/>
          </p:nvSpPr>
          <p:spPr bwMode="auto">
            <a:xfrm>
              <a:off x="1560479" y="2767612"/>
              <a:ext cx="17365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31" name="Rectangle 81"/>
            <p:cNvSpPr>
              <a:spLocks noChangeArrowheads="1"/>
            </p:cNvSpPr>
            <p:nvPr/>
          </p:nvSpPr>
          <p:spPr bwMode="auto">
            <a:xfrm>
              <a:off x="598450" y="2767612"/>
              <a:ext cx="13892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32" name="Rectangle 82"/>
            <p:cNvSpPr>
              <a:spLocks noChangeArrowheads="1"/>
            </p:cNvSpPr>
            <p:nvPr/>
          </p:nvSpPr>
          <p:spPr bwMode="auto">
            <a:xfrm>
              <a:off x="3933001" y="2802348"/>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33" name="Rectangle 83"/>
            <p:cNvSpPr>
              <a:spLocks noChangeArrowheads="1"/>
            </p:cNvSpPr>
            <p:nvPr/>
          </p:nvSpPr>
          <p:spPr bwMode="auto">
            <a:xfrm>
              <a:off x="4118174" y="2488281"/>
              <a:ext cx="4445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34" name="Rectangle 84"/>
            <p:cNvSpPr>
              <a:spLocks noChangeArrowheads="1"/>
            </p:cNvSpPr>
            <p:nvPr/>
          </p:nvSpPr>
          <p:spPr bwMode="auto">
            <a:xfrm>
              <a:off x="3691409" y="2627223"/>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35" name="Rectangle 85"/>
            <p:cNvSpPr>
              <a:spLocks noChangeArrowheads="1"/>
            </p:cNvSpPr>
            <p:nvPr/>
          </p:nvSpPr>
          <p:spPr bwMode="auto">
            <a:xfrm>
              <a:off x="3051985" y="2802348"/>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36" name="Rectangle 86"/>
            <p:cNvSpPr>
              <a:spLocks noChangeArrowheads="1"/>
            </p:cNvSpPr>
            <p:nvPr/>
          </p:nvSpPr>
          <p:spPr bwMode="auto">
            <a:xfrm>
              <a:off x="2898639" y="2488281"/>
              <a:ext cx="4723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37" name="Rectangle 87"/>
            <p:cNvSpPr>
              <a:spLocks noChangeArrowheads="1"/>
            </p:cNvSpPr>
            <p:nvPr/>
          </p:nvSpPr>
          <p:spPr bwMode="auto">
            <a:xfrm>
              <a:off x="2403882" y="2627223"/>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38" name="Rectangle 88"/>
            <p:cNvSpPr>
              <a:spLocks noChangeArrowheads="1"/>
            </p:cNvSpPr>
            <p:nvPr/>
          </p:nvSpPr>
          <p:spPr bwMode="auto">
            <a:xfrm>
              <a:off x="1842577" y="2627223"/>
              <a:ext cx="138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39" name="Rectangle 89"/>
            <p:cNvSpPr>
              <a:spLocks noChangeArrowheads="1"/>
            </p:cNvSpPr>
            <p:nvPr/>
          </p:nvSpPr>
          <p:spPr bwMode="auto">
            <a:xfrm>
              <a:off x="1789051" y="2627223"/>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40" name="Rectangle 90"/>
            <p:cNvSpPr>
              <a:spLocks noChangeArrowheads="1"/>
            </p:cNvSpPr>
            <p:nvPr/>
          </p:nvSpPr>
          <p:spPr bwMode="auto">
            <a:xfrm>
              <a:off x="1742758" y="2627223"/>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41" name="Rectangle 91"/>
            <p:cNvSpPr>
              <a:spLocks noChangeArrowheads="1"/>
            </p:cNvSpPr>
            <p:nvPr/>
          </p:nvSpPr>
          <p:spPr bwMode="auto">
            <a:xfrm>
              <a:off x="1404240" y="2627223"/>
              <a:ext cx="201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P</a:t>
              </a:r>
              <a:endParaRPr lang="en-US" altLang="ko-KR" sz="1600" baseline="0" dirty="0">
                <a:solidFill>
                  <a:srgbClr val="000000"/>
                </a:solidFill>
                <a:latin typeface="Times New Roman" pitchFamily="18" charset="0"/>
                <a:ea typeface="굴림" pitchFamily="50" charset="-127"/>
              </a:endParaRPr>
            </a:p>
          </p:txBody>
        </p:sp>
        <p:sp>
          <p:nvSpPr>
            <p:cNvPr id="42" name="Rectangle 92"/>
            <p:cNvSpPr>
              <a:spLocks noChangeArrowheads="1"/>
            </p:cNvSpPr>
            <p:nvPr/>
          </p:nvSpPr>
          <p:spPr bwMode="auto">
            <a:xfrm>
              <a:off x="986155" y="2627223"/>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43" name="Rectangle 93"/>
            <p:cNvSpPr>
              <a:spLocks noChangeArrowheads="1"/>
            </p:cNvSpPr>
            <p:nvPr/>
          </p:nvSpPr>
          <p:spPr bwMode="auto">
            <a:xfrm>
              <a:off x="488504" y="2627223"/>
              <a:ext cx="138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44" name="Rectangle 94"/>
            <p:cNvSpPr>
              <a:spLocks noChangeArrowheads="1"/>
            </p:cNvSpPr>
            <p:nvPr/>
          </p:nvSpPr>
          <p:spPr bwMode="auto">
            <a:xfrm>
              <a:off x="1670425" y="2115239"/>
              <a:ext cx="20012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sp>
          <p:nvSpPr>
            <p:cNvPr id="45" name="AutoShape 96"/>
            <p:cNvSpPr>
              <a:spLocks noChangeArrowheads="1"/>
            </p:cNvSpPr>
            <p:nvPr/>
          </p:nvSpPr>
          <p:spPr bwMode="auto">
            <a:xfrm>
              <a:off x="2755420" y="2505650"/>
              <a:ext cx="1874871" cy="555769"/>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46" name="TextBox 45"/>
            <p:cNvSpPr txBox="1"/>
            <p:nvPr/>
          </p:nvSpPr>
          <p:spPr>
            <a:xfrm>
              <a:off x="1597335" y="2140959"/>
              <a:ext cx="469226"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47" name="TextBox 46"/>
            <p:cNvSpPr txBox="1"/>
            <p:nvPr/>
          </p:nvSpPr>
          <p:spPr>
            <a:xfrm>
              <a:off x="3171405" y="2911161"/>
              <a:ext cx="469226"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sp>
          <p:nvSpPr>
            <p:cNvPr id="48" name="TextBox 47"/>
            <p:cNvSpPr txBox="1"/>
            <p:nvPr/>
          </p:nvSpPr>
          <p:spPr>
            <a:xfrm>
              <a:off x="4058133" y="2911161"/>
              <a:ext cx="469226" cy="252377"/>
            </a:xfrm>
            <a:prstGeom prst="rect">
              <a:avLst/>
            </a:prstGeom>
            <a:noFill/>
          </p:spPr>
          <p:txBody>
            <a:bodyPr wrap="none" rtlCol="0">
              <a:spAutoFit/>
            </a:bodyPr>
            <a:lstStyle/>
            <a:p>
              <a:pPr>
                <a:lnSpc>
                  <a:spcPct val="130000"/>
                </a:lnSpc>
                <a:buClr>
                  <a:srgbClr val="C5003D"/>
                </a:buClr>
              </a:pPr>
              <a:r>
                <a:rPr lang="en-US" altLang="ko-KR" sz="800" b="1" dirty="0"/>
                <a:t>Total</a:t>
              </a:r>
              <a:endParaRPr lang="ko-KR" altLang="en-US" sz="800" b="1" dirty="0"/>
            </a:p>
          </p:txBody>
        </p:sp>
      </p:grpSp>
      <p:sp>
        <p:nvSpPr>
          <p:cNvPr id="50" name="Line 56"/>
          <p:cNvSpPr>
            <a:spLocks noChangeShapeType="1"/>
          </p:cNvSpPr>
          <p:nvPr/>
        </p:nvSpPr>
        <p:spPr bwMode="auto">
          <a:xfrm>
            <a:off x="1007440" y="3653975"/>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52" name="Rectangle 58"/>
          <p:cNvSpPr>
            <a:spLocks noChangeArrowheads="1"/>
          </p:cNvSpPr>
          <p:nvPr/>
        </p:nvSpPr>
        <p:spPr bwMode="auto">
          <a:xfrm>
            <a:off x="1505536" y="3329776"/>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53" name="Rectangle 59"/>
          <p:cNvSpPr>
            <a:spLocks noChangeArrowheads="1"/>
          </p:cNvSpPr>
          <p:nvPr/>
        </p:nvSpPr>
        <p:spPr bwMode="auto">
          <a:xfrm>
            <a:off x="821823" y="3477402"/>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54" name="Rectangle 60"/>
          <p:cNvSpPr>
            <a:spLocks noChangeArrowheads="1"/>
          </p:cNvSpPr>
          <p:nvPr/>
        </p:nvSpPr>
        <p:spPr bwMode="auto">
          <a:xfrm>
            <a:off x="1149845" y="3672760"/>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 x 0.176</a:t>
            </a:r>
            <a:endParaRPr lang="en-US" altLang="ko-KR" sz="1600" baseline="0" dirty="0">
              <a:solidFill>
                <a:srgbClr val="000000"/>
              </a:solidFill>
              <a:latin typeface="Times New Roman" pitchFamily="18" charset="0"/>
              <a:ea typeface="굴림" pitchFamily="50" charset="-127"/>
            </a:endParaRPr>
          </a:p>
        </p:txBody>
      </p:sp>
      <p:sp>
        <p:nvSpPr>
          <p:cNvPr id="55" name="Rectangle 61"/>
          <p:cNvSpPr>
            <a:spLocks noChangeArrowheads="1"/>
          </p:cNvSpPr>
          <p:nvPr/>
        </p:nvSpPr>
        <p:spPr bwMode="auto">
          <a:xfrm>
            <a:off x="1768546" y="335582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56" name="Rectangle 62"/>
          <p:cNvSpPr>
            <a:spLocks noChangeArrowheads="1"/>
          </p:cNvSpPr>
          <p:nvPr/>
        </p:nvSpPr>
        <p:spPr bwMode="auto">
          <a:xfrm>
            <a:off x="1282782" y="3329776"/>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57" name="Rectangle 63"/>
          <p:cNvSpPr>
            <a:spLocks noChangeArrowheads="1"/>
          </p:cNvSpPr>
          <p:nvPr/>
        </p:nvSpPr>
        <p:spPr bwMode="auto">
          <a:xfrm>
            <a:off x="552075" y="3504901"/>
            <a:ext cx="13625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58" name="Rectangle 64"/>
          <p:cNvSpPr>
            <a:spLocks noChangeArrowheads="1"/>
          </p:cNvSpPr>
          <p:nvPr/>
        </p:nvSpPr>
        <p:spPr bwMode="auto">
          <a:xfrm>
            <a:off x="666919" y="3648186"/>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69" name="Rectangle 75"/>
          <p:cNvSpPr>
            <a:spLocks noChangeArrowheads="1"/>
          </p:cNvSpPr>
          <p:nvPr/>
        </p:nvSpPr>
        <p:spPr bwMode="auto">
          <a:xfrm>
            <a:off x="881750" y="454048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73" name="Rectangle 81"/>
          <p:cNvSpPr>
            <a:spLocks noChangeArrowheads="1"/>
          </p:cNvSpPr>
          <p:nvPr/>
        </p:nvSpPr>
        <p:spPr bwMode="auto">
          <a:xfrm>
            <a:off x="650894" y="4704026"/>
            <a:ext cx="2420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PKL</a:t>
            </a:r>
            <a:endParaRPr lang="en-US" altLang="ko-KR" sz="1600" baseline="0" dirty="0">
              <a:solidFill>
                <a:srgbClr val="000000"/>
              </a:solidFill>
              <a:latin typeface="Times New Roman" pitchFamily="18" charset="0"/>
              <a:ea typeface="굴림" pitchFamily="50" charset="-127"/>
            </a:endParaRPr>
          </a:p>
        </p:txBody>
      </p:sp>
      <p:sp>
        <p:nvSpPr>
          <p:cNvPr id="85" name="Rectangle 93"/>
          <p:cNvSpPr>
            <a:spLocks noChangeArrowheads="1"/>
          </p:cNvSpPr>
          <p:nvPr/>
        </p:nvSpPr>
        <p:spPr bwMode="auto">
          <a:xfrm>
            <a:off x="549406" y="4563638"/>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30" name="Rectangle 59"/>
          <p:cNvSpPr>
            <a:spLocks noChangeArrowheads="1"/>
          </p:cNvSpPr>
          <p:nvPr/>
        </p:nvSpPr>
        <p:spPr bwMode="auto">
          <a:xfrm>
            <a:off x="2213348" y="3477402"/>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0.946</a:t>
            </a:r>
            <a:endParaRPr lang="en-US" altLang="ko-KR" sz="1600" baseline="0" dirty="0">
              <a:solidFill>
                <a:srgbClr val="000000"/>
              </a:solidFill>
              <a:latin typeface="Times New Roman" pitchFamily="18" charset="0"/>
              <a:ea typeface="굴림" pitchFamily="50" charset="-127"/>
            </a:endParaRPr>
          </a:p>
        </p:txBody>
      </p:sp>
      <p:sp>
        <p:nvSpPr>
          <p:cNvPr id="131" name="Line 56"/>
          <p:cNvSpPr>
            <a:spLocks noChangeShapeType="1"/>
          </p:cNvSpPr>
          <p:nvPr/>
        </p:nvSpPr>
        <p:spPr bwMode="auto">
          <a:xfrm>
            <a:off x="1073909" y="470200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32" name="Rectangle 58"/>
          <p:cNvSpPr>
            <a:spLocks noChangeArrowheads="1"/>
          </p:cNvSpPr>
          <p:nvPr/>
        </p:nvSpPr>
        <p:spPr bwMode="auto">
          <a:xfrm>
            <a:off x="1622991" y="4377804"/>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33" name="Rectangle 60"/>
          <p:cNvSpPr>
            <a:spLocks noChangeArrowheads="1"/>
          </p:cNvSpPr>
          <p:nvPr/>
        </p:nvSpPr>
        <p:spPr bwMode="auto">
          <a:xfrm>
            <a:off x="1216314" y="4720788"/>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0.176</a:t>
            </a:r>
            <a:endParaRPr lang="en-US" altLang="ko-KR" sz="1600" baseline="0" dirty="0">
              <a:solidFill>
                <a:srgbClr val="000000"/>
              </a:solidFill>
              <a:latin typeface="Times New Roman" pitchFamily="18" charset="0"/>
              <a:ea typeface="굴림" pitchFamily="50" charset="-127"/>
            </a:endParaRPr>
          </a:p>
        </p:txBody>
      </p:sp>
      <p:sp>
        <p:nvSpPr>
          <p:cNvPr id="134" name="Rectangle 61"/>
          <p:cNvSpPr>
            <a:spLocks noChangeArrowheads="1"/>
          </p:cNvSpPr>
          <p:nvPr/>
        </p:nvSpPr>
        <p:spPr bwMode="auto">
          <a:xfrm>
            <a:off x="1835015" y="4403856"/>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135" name="Rectangle 62"/>
          <p:cNvSpPr>
            <a:spLocks noChangeArrowheads="1"/>
          </p:cNvSpPr>
          <p:nvPr/>
        </p:nvSpPr>
        <p:spPr bwMode="auto">
          <a:xfrm>
            <a:off x="1147626" y="4377804"/>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136" name="Rectangle 59"/>
          <p:cNvSpPr>
            <a:spLocks noChangeArrowheads="1"/>
          </p:cNvSpPr>
          <p:nvPr/>
        </p:nvSpPr>
        <p:spPr bwMode="auto">
          <a:xfrm>
            <a:off x="2279817" y="4541212"/>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0.530</a:t>
            </a:r>
            <a:endParaRPr lang="en-US" altLang="ko-KR" sz="1600" baseline="0" dirty="0">
              <a:solidFill>
                <a:srgbClr val="000000"/>
              </a:solidFill>
              <a:latin typeface="Times New Roman" pitchFamily="18" charset="0"/>
              <a:ea typeface="굴림" pitchFamily="50" charset="-127"/>
            </a:endParaRPr>
          </a:p>
        </p:txBody>
      </p:sp>
      <p:grpSp>
        <p:nvGrpSpPr>
          <p:cNvPr id="5" name="그룹 191"/>
          <p:cNvGrpSpPr/>
          <p:nvPr/>
        </p:nvGrpSpPr>
        <p:grpSpPr>
          <a:xfrm>
            <a:off x="4815478" y="1724622"/>
            <a:ext cx="3877408" cy="1470316"/>
            <a:chOff x="5216768" y="1724621"/>
            <a:chExt cx="4200525" cy="1470316"/>
          </a:xfrm>
        </p:grpSpPr>
        <p:sp>
          <p:nvSpPr>
            <p:cNvPr id="141" name="Line 12"/>
            <p:cNvSpPr>
              <a:spLocks noChangeShapeType="1"/>
            </p:cNvSpPr>
            <p:nvPr/>
          </p:nvSpPr>
          <p:spPr bwMode="auto">
            <a:xfrm>
              <a:off x="5749066" y="2051654"/>
              <a:ext cx="1136919"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42" name="Rectangle 14"/>
            <p:cNvSpPr>
              <a:spLocks noChangeArrowheads="1"/>
            </p:cNvSpPr>
            <p:nvPr/>
          </p:nvSpPr>
          <p:spPr bwMode="auto">
            <a:xfrm>
              <a:off x="5393236" y="2047312"/>
              <a:ext cx="7641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43" name="Rectangle 15"/>
            <p:cNvSpPr>
              <a:spLocks noChangeArrowheads="1"/>
            </p:cNvSpPr>
            <p:nvPr/>
          </p:nvSpPr>
          <p:spPr bwMode="auto">
            <a:xfrm>
              <a:off x="6084645" y="2083489"/>
              <a:ext cx="1319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44" name="Rectangle 16"/>
            <p:cNvSpPr>
              <a:spLocks noChangeArrowheads="1"/>
            </p:cNvSpPr>
            <p:nvPr/>
          </p:nvSpPr>
          <p:spPr bwMode="auto">
            <a:xfrm>
              <a:off x="6444814" y="1752115"/>
              <a:ext cx="47061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45" name="Rectangle 17"/>
            <p:cNvSpPr>
              <a:spLocks noChangeArrowheads="1"/>
            </p:cNvSpPr>
            <p:nvPr/>
          </p:nvSpPr>
          <p:spPr bwMode="auto">
            <a:xfrm>
              <a:off x="5769316" y="1752115"/>
              <a:ext cx="500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46" name="Rectangle 18"/>
            <p:cNvSpPr>
              <a:spLocks noChangeArrowheads="1"/>
            </p:cNvSpPr>
            <p:nvPr/>
          </p:nvSpPr>
          <p:spPr bwMode="auto">
            <a:xfrm>
              <a:off x="5221107" y="1899714"/>
              <a:ext cx="17539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47" name="Rectangle 19"/>
            <p:cNvSpPr>
              <a:spLocks noChangeArrowheads="1"/>
            </p:cNvSpPr>
            <p:nvPr/>
          </p:nvSpPr>
          <p:spPr bwMode="auto">
            <a:xfrm>
              <a:off x="6206148" y="2055995"/>
              <a:ext cx="15976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48" name="Rectangle 20"/>
            <p:cNvSpPr>
              <a:spLocks noChangeArrowheads="1"/>
            </p:cNvSpPr>
            <p:nvPr/>
          </p:nvSpPr>
          <p:spPr bwMode="auto">
            <a:xfrm>
              <a:off x="6269792" y="1724621"/>
              <a:ext cx="144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49" name="Rectangle 21"/>
            <p:cNvSpPr>
              <a:spLocks noChangeArrowheads="1"/>
            </p:cNvSpPr>
            <p:nvPr/>
          </p:nvSpPr>
          <p:spPr bwMode="auto">
            <a:xfrm>
              <a:off x="5556685" y="1873667"/>
              <a:ext cx="1441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0" name="Rectangle 22"/>
            <p:cNvSpPr>
              <a:spLocks noChangeArrowheads="1"/>
            </p:cNvSpPr>
            <p:nvPr/>
          </p:nvSpPr>
          <p:spPr bwMode="auto">
            <a:xfrm>
              <a:off x="6083200" y="2537755"/>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1" name="Rectangle 23"/>
            <p:cNvSpPr>
              <a:spLocks noChangeArrowheads="1"/>
            </p:cNvSpPr>
            <p:nvPr/>
          </p:nvSpPr>
          <p:spPr bwMode="auto">
            <a:xfrm>
              <a:off x="6909128" y="2537755"/>
              <a:ext cx="152819"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23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2" name="Line 24"/>
            <p:cNvSpPr>
              <a:spLocks noChangeShapeType="1"/>
            </p:cNvSpPr>
            <p:nvPr/>
          </p:nvSpPr>
          <p:spPr bwMode="auto">
            <a:xfrm>
              <a:off x="7664181" y="2779412"/>
              <a:ext cx="75071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53" name="Line 25"/>
            <p:cNvSpPr>
              <a:spLocks noChangeShapeType="1"/>
            </p:cNvSpPr>
            <p:nvPr/>
          </p:nvSpPr>
          <p:spPr bwMode="auto">
            <a:xfrm>
              <a:off x="8530612" y="2779412"/>
              <a:ext cx="7203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54" name="Rectangle 26"/>
            <p:cNvSpPr>
              <a:spLocks noChangeArrowheads="1"/>
            </p:cNvSpPr>
            <p:nvPr/>
          </p:nvSpPr>
          <p:spPr bwMode="auto">
            <a:xfrm>
              <a:off x="8786635" y="2786647"/>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55" name="Rectangle 27"/>
            <p:cNvSpPr>
              <a:spLocks noChangeArrowheads="1"/>
            </p:cNvSpPr>
            <p:nvPr/>
          </p:nvSpPr>
          <p:spPr bwMode="auto">
            <a:xfrm>
              <a:off x="8701294" y="2335275"/>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56" name="Rectangle 28"/>
            <p:cNvSpPr>
              <a:spLocks noChangeArrowheads="1"/>
            </p:cNvSpPr>
            <p:nvPr/>
          </p:nvSpPr>
          <p:spPr bwMode="auto">
            <a:xfrm>
              <a:off x="8537844" y="2335275"/>
              <a:ext cx="1441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57" name="Rectangle 29"/>
            <p:cNvSpPr>
              <a:spLocks noChangeArrowheads="1"/>
            </p:cNvSpPr>
            <p:nvPr/>
          </p:nvSpPr>
          <p:spPr bwMode="auto">
            <a:xfrm>
              <a:off x="7933223" y="2786647"/>
              <a:ext cx="151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58" name="Rectangle 30"/>
            <p:cNvSpPr>
              <a:spLocks noChangeArrowheads="1"/>
            </p:cNvSpPr>
            <p:nvPr/>
          </p:nvSpPr>
          <p:spPr bwMode="auto">
            <a:xfrm>
              <a:off x="8278928" y="2335275"/>
              <a:ext cx="1441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m</a:t>
              </a:r>
              <a:endParaRPr lang="en-US" altLang="ko-KR" sz="1600" baseline="0" dirty="0">
                <a:solidFill>
                  <a:srgbClr val="000000"/>
                </a:solidFill>
                <a:latin typeface="Times New Roman" pitchFamily="18" charset="0"/>
                <a:ea typeface="굴림" pitchFamily="50" charset="-127"/>
              </a:endParaRPr>
            </a:p>
          </p:txBody>
        </p:sp>
        <p:sp>
          <p:nvSpPr>
            <p:cNvPr id="159" name="Rectangle 31"/>
            <p:cNvSpPr>
              <a:spLocks noChangeArrowheads="1"/>
            </p:cNvSpPr>
            <p:nvPr/>
          </p:nvSpPr>
          <p:spPr bwMode="auto">
            <a:xfrm>
              <a:off x="8129942" y="2335275"/>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0" name="Rectangle 32"/>
            <p:cNvSpPr>
              <a:spLocks noChangeArrowheads="1"/>
            </p:cNvSpPr>
            <p:nvPr/>
          </p:nvSpPr>
          <p:spPr bwMode="auto">
            <a:xfrm>
              <a:off x="7033524" y="2610107"/>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1" name="Rectangle 33"/>
            <p:cNvSpPr>
              <a:spLocks noChangeArrowheads="1"/>
            </p:cNvSpPr>
            <p:nvPr/>
          </p:nvSpPr>
          <p:spPr bwMode="auto">
            <a:xfrm>
              <a:off x="5575490" y="2610107"/>
              <a:ext cx="1371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2" name="Rectangle 35"/>
            <p:cNvSpPr>
              <a:spLocks noChangeArrowheads="1"/>
            </p:cNvSpPr>
            <p:nvPr/>
          </p:nvSpPr>
          <p:spPr bwMode="auto">
            <a:xfrm>
              <a:off x="8070637" y="2948716"/>
              <a:ext cx="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endParaRPr lang="en-US" altLang="ko-KR" sz="1600" baseline="0" dirty="0">
                <a:solidFill>
                  <a:srgbClr val="000000"/>
                </a:solidFill>
                <a:latin typeface="Times New Roman" pitchFamily="18" charset="0"/>
                <a:ea typeface="굴림" pitchFamily="50" charset="-127"/>
              </a:endParaRPr>
            </a:p>
          </p:txBody>
        </p:sp>
        <p:sp>
          <p:nvSpPr>
            <p:cNvPr id="163" name="Rectangle 36"/>
            <p:cNvSpPr>
              <a:spLocks noChangeArrowheads="1"/>
            </p:cNvSpPr>
            <p:nvPr/>
          </p:nvSpPr>
          <p:spPr bwMode="auto">
            <a:xfrm>
              <a:off x="6744231" y="2773623"/>
              <a:ext cx="10766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pl</a:t>
              </a:r>
              <a:endParaRPr lang="en-US" altLang="ko-KR" sz="1600" baseline="0" dirty="0">
                <a:solidFill>
                  <a:srgbClr val="000000"/>
                </a:solidFill>
                <a:latin typeface="Times New Roman" pitchFamily="18" charset="0"/>
                <a:ea typeface="굴림" pitchFamily="50" charset="-127"/>
              </a:endParaRPr>
            </a:p>
          </p:txBody>
        </p:sp>
        <p:sp>
          <p:nvSpPr>
            <p:cNvPr id="164" name="Rectangle 37"/>
            <p:cNvSpPr>
              <a:spLocks noChangeArrowheads="1"/>
            </p:cNvSpPr>
            <p:nvPr/>
          </p:nvSpPr>
          <p:spPr bwMode="auto">
            <a:xfrm>
              <a:off x="6314632" y="2773623"/>
              <a:ext cx="17365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 pu</a:t>
              </a:r>
              <a:endParaRPr lang="en-US" altLang="ko-KR" sz="1600" baseline="0" dirty="0">
                <a:solidFill>
                  <a:srgbClr val="000000"/>
                </a:solidFill>
                <a:latin typeface="Times New Roman" pitchFamily="18" charset="0"/>
                <a:ea typeface="굴림" pitchFamily="50" charset="-127"/>
              </a:endParaRPr>
            </a:p>
          </p:txBody>
        </p:sp>
        <p:sp>
          <p:nvSpPr>
            <p:cNvPr id="165" name="Rectangle 38"/>
            <p:cNvSpPr>
              <a:spLocks noChangeArrowheads="1"/>
            </p:cNvSpPr>
            <p:nvPr/>
          </p:nvSpPr>
          <p:spPr bwMode="auto">
            <a:xfrm>
              <a:off x="5370093" y="2773623"/>
              <a:ext cx="13892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a:t>
              </a:r>
              <a:endParaRPr lang="en-US" altLang="ko-KR" sz="1600" baseline="0" dirty="0">
                <a:solidFill>
                  <a:srgbClr val="000000"/>
                </a:solidFill>
                <a:latin typeface="Times New Roman" pitchFamily="18" charset="0"/>
                <a:ea typeface="굴림" pitchFamily="50" charset="-127"/>
              </a:endParaRPr>
            </a:p>
          </p:txBody>
        </p:sp>
        <p:sp>
          <p:nvSpPr>
            <p:cNvPr id="166" name="Rectangle 39"/>
            <p:cNvSpPr>
              <a:spLocks noChangeArrowheads="1"/>
            </p:cNvSpPr>
            <p:nvPr/>
          </p:nvSpPr>
          <p:spPr bwMode="auto">
            <a:xfrm>
              <a:off x="8685383" y="2808353"/>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167" name="Rectangle 40"/>
            <p:cNvSpPr>
              <a:spLocks noChangeArrowheads="1"/>
            </p:cNvSpPr>
            <p:nvPr/>
          </p:nvSpPr>
          <p:spPr bwMode="auto">
            <a:xfrm>
              <a:off x="8857512" y="2492896"/>
              <a:ext cx="4445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LSL</a:t>
              </a:r>
              <a:endParaRPr lang="en-US" altLang="ko-KR" sz="1600" baseline="0" dirty="0">
                <a:solidFill>
                  <a:srgbClr val="000000"/>
                </a:solidFill>
                <a:latin typeface="Times New Roman" pitchFamily="18" charset="0"/>
                <a:ea typeface="굴림" pitchFamily="50" charset="-127"/>
              </a:endParaRPr>
            </a:p>
          </p:txBody>
        </p:sp>
        <p:sp>
          <p:nvSpPr>
            <p:cNvPr id="168" name="Rectangle 41"/>
            <p:cNvSpPr>
              <a:spLocks noChangeArrowheads="1"/>
            </p:cNvSpPr>
            <p:nvPr/>
          </p:nvSpPr>
          <p:spPr bwMode="auto">
            <a:xfrm>
              <a:off x="8446717" y="2634707"/>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69" name="Rectangle 42"/>
            <p:cNvSpPr>
              <a:spLocks noChangeArrowheads="1"/>
            </p:cNvSpPr>
            <p:nvPr/>
          </p:nvSpPr>
          <p:spPr bwMode="auto">
            <a:xfrm>
              <a:off x="7833416" y="2808353"/>
              <a:ext cx="125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3</a:t>
              </a:r>
              <a:endParaRPr lang="en-US" altLang="ko-KR" sz="1600" baseline="0" dirty="0">
                <a:solidFill>
                  <a:srgbClr val="000000"/>
                </a:solidFill>
                <a:latin typeface="Times New Roman" pitchFamily="18" charset="0"/>
                <a:ea typeface="굴림" pitchFamily="50" charset="-127"/>
              </a:endParaRPr>
            </a:p>
          </p:txBody>
        </p:sp>
        <p:sp>
          <p:nvSpPr>
            <p:cNvPr id="170" name="Rectangle 43"/>
            <p:cNvSpPr>
              <a:spLocks noChangeArrowheads="1"/>
            </p:cNvSpPr>
            <p:nvPr/>
          </p:nvSpPr>
          <p:spPr bwMode="auto">
            <a:xfrm>
              <a:off x="7680092" y="2492896"/>
              <a:ext cx="4723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USL</a:t>
              </a:r>
              <a:endParaRPr lang="en-US" altLang="ko-KR" sz="1600" baseline="0" dirty="0">
                <a:solidFill>
                  <a:srgbClr val="000000"/>
                </a:solidFill>
                <a:latin typeface="Times New Roman" pitchFamily="18" charset="0"/>
                <a:ea typeface="굴림" pitchFamily="50" charset="-127"/>
              </a:endParaRPr>
            </a:p>
          </p:txBody>
        </p:sp>
        <p:sp>
          <p:nvSpPr>
            <p:cNvPr id="171" name="Rectangle 44"/>
            <p:cNvSpPr>
              <a:spLocks noChangeArrowheads="1"/>
            </p:cNvSpPr>
            <p:nvPr/>
          </p:nvSpPr>
          <p:spPr bwMode="auto">
            <a:xfrm>
              <a:off x="7202761" y="2634707"/>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172" name="Rectangle 45"/>
            <p:cNvSpPr>
              <a:spLocks noChangeArrowheads="1"/>
            </p:cNvSpPr>
            <p:nvPr/>
          </p:nvSpPr>
          <p:spPr bwMode="auto">
            <a:xfrm>
              <a:off x="6592353" y="2634707"/>
              <a:ext cx="1667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73" name="Rectangle 46"/>
            <p:cNvSpPr>
              <a:spLocks noChangeArrowheads="1"/>
            </p:cNvSpPr>
            <p:nvPr/>
          </p:nvSpPr>
          <p:spPr bwMode="auto">
            <a:xfrm>
              <a:off x="6541727" y="2634707"/>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a:t>
              </a:r>
              <a:endParaRPr lang="en-US" altLang="ko-KR" sz="1600" baseline="0" dirty="0">
                <a:solidFill>
                  <a:srgbClr val="000000"/>
                </a:solidFill>
                <a:latin typeface="Times New Roman" pitchFamily="18" charset="0"/>
                <a:ea typeface="굴림" pitchFamily="50" charset="-127"/>
              </a:endParaRPr>
            </a:p>
          </p:txBody>
        </p:sp>
        <p:sp>
          <p:nvSpPr>
            <p:cNvPr id="174" name="Rectangle 47"/>
            <p:cNvSpPr>
              <a:spLocks noChangeArrowheads="1"/>
            </p:cNvSpPr>
            <p:nvPr/>
          </p:nvSpPr>
          <p:spPr bwMode="auto">
            <a:xfrm>
              <a:off x="6496887" y="2634707"/>
              <a:ext cx="62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75" name="Rectangle 48"/>
            <p:cNvSpPr>
              <a:spLocks noChangeArrowheads="1"/>
            </p:cNvSpPr>
            <p:nvPr/>
          </p:nvSpPr>
          <p:spPr bwMode="auto">
            <a:xfrm>
              <a:off x="6156968" y="2634707"/>
              <a:ext cx="2917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 C </a:t>
              </a:r>
              <a:endParaRPr lang="en-US" altLang="ko-KR" sz="1600" baseline="0" dirty="0">
                <a:solidFill>
                  <a:srgbClr val="000000"/>
                </a:solidFill>
                <a:latin typeface="Times New Roman" pitchFamily="18" charset="0"/>
                <a:ea typeface="굴림" pitchFamily="50" charset="-127"/>
              </a:endParaRPr>
            </a:p>
          </p:txBody>
        </p:sp>
        <p:sp>
          <p:nvSpPr>
            <p:cNvPr id="176" name="Rectangle 49"/>
            <p:cNvSpPr>
              <a:spLocks noChangeArrowheads="1"/>
            </p:cNvSpPr>
            <p:nvPr/>
          </p:nvSpPr>
          <p:spPr bwMode="auto">
            <a:xfrm>
              <a:off x="5746173" y="2634707"/>
              <a:ext cx="388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min</a:t>
              </a:r>
              <a:endParaRPr lang="en-US" altLang="ko-KR" sz="1600" baseline="0" dirty="0">
                <a:solidFill>
                  <a:srgbClr val="000000"/>
                </a:solidFill>
                <a:latin typeface="Times New Roman" pitchFamily="18" charset="0"/>
                <a:ea typeface="굴림" pitchFamily="50" charset="-127"/>
              </a:endParaRPr>
            </a:p>
          </p:txBody>
        </p:sp>
        <p:sp>
          <p:nvSpPr>
            <p:cNvPr id="177" name="Rectangle 50"/>
            <p:cNvSpPr>
              <a:spLocks noChangeArrowheads="1"/>
            </p:cNvSpPr>
            <p:nvPr/>
          </p:nvSpPr>
          <p:spPr bwMode="auto">
            <a:xfrm>
              <a:off x="5216768" y="2634707"/>
              <a:ext cx="1667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40" name="AutoShape 95"/>
            <p:cNvSpPr>
              <a:spLocks noChangeArrowheads="1"/>
            </p:cNvSpPr>
            <p:nvPr/>
          </p:nvSpPr>
          <p:spPr bwMode="auto">
            <a:xfrm>
              <a:off x="7542679" y="2517496"/>
              <a:ext cx="1874614" cy="555666"/>
            </a:xfrm>
            <a:prstGeom prst="bracePair">
              <a:avLst>
                <a:gd name="adj" fmla="val 8333"/>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179" name="TextBox 178"/>
            <p:cNvSpPr txBox="1"/>
            <p:nvPr/>
          </p:nvSpPr>
          <p:spPr>
            <a:xfrm>
              <a:off x="6249532" y="2199955"/>
              <a:ext cx="55431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80" name="TextBox 179"/>
            <p:cNvSpPr txBox="1"/>
            <p:nvPr/>
          </p:nvSpPr>
          <p:spPr>
            <a:xfrm>
              <a:off x="7976568" y="2877325"/>
              <a:ext cx="55431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sp>
          <p:nvSpPr>
            <p:cNvPr id="181" name="TextBox 180"/>
            <p:cNvSpPr txBox="1"/>
            <p:nvPr/>
          </p:nvSpPr>
          <p:spPr>
            <a:xfrm>
              <a:off x="8816768" y="2875868"/>
              <a:ext cx="554319" cy="252377"/>
            </a:xfrm>
            <a:prstGeom prst="rect">
              <a:avLst/>
            </a:prstGeom>
            <a:noFill/>
          </p:spPr>
          <p:txBody>
            <a:bodyPr wrap="none" rtlCol="0">
              <a:spAutoFit/>
            </a:bodyPr>
            <a:lstStyle/>
            <a:p>
              <a:pPr>
                <a:lnSpc>
                  <a:spcPct val="130000"/>
                </a:lnSpc>
                <a:buClr>
                  <a:srgbClr val="C5003D"/>
                </a:buClr>
              </a:pPr>
              <a:r>
                <a:rPr lang="en-US" altLang="ko-KR" sz="800" b="1" dirty="0"/>
                <a:t>Within</a:t>
              </a:r>
              <a:endParaRPr lang="ko-KR" altLang="en-US" sz="800" b="1" dirty="0"/>
            </a:p>
          </p:txBody>
        </p:sp>
      </p:grpSp>
      <p:sp>
        <p:nvSpPr>
          <p:cNvPr id="182" name="Line 12"/>
          <p:cNvSpPr>
            <a:spLocks noChangeShapeType="1"/>
          </p:cNvSpPr>
          <p:nvPr/>
        </p:nvSpPr>
        <p:spPr bwMode="auto">
          <a:xfrm>
            <a:off x="5325223" y="3612018"/>
            <a:ext cx="104946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83" name="Rectangle 14"/>
          <p:cNvSpPr>
            <a:spLocks noChangeArrowheads="1"/>
          </p:cNvSpPr>
          <p:nvPr/>
        </p:nvSpPr>
        <p:spPr bwMode="auto">
          <a:xfrm>
            <a:off x="4996764" y="3607676"/>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184" name="Rectangle 15"/>
          <p:cNvSpPr>
            <a:spLocks noChangeArrowheads="1"/>
          </p:cNvSpPr>
          <p:nvPr/>
        </p:nvSpPr>
        <p:spPr bwMode="auto">
          <a:xfrm>
            <a:off x="5436096" y="3643852"/>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 x 0.160</a:t>
            </a:r>
            <a:endParaRPr lang="en-US" altLang="ko-KR" sz="1600" baseline="0" dirty="0">
              <a:solidFill>
                <a:srgbClr val="000000"/>
              </a:solidFill>
              <a:latin typeface="Times New Roman" pitchFamily="18" charset="0"/>
              <a:ea typeface="굴림" pitchFamily="50" charset="-127"/>
            </a:endParaRPr>
          </a:p>
        </p:txBody>
      </p:sp>
      <p:sp>
        <p:nvSpPr>
          <p:cNvPr id="185" name="Rectangle 16"/>
          <p:cNvSpPr>
            <a:spLocks noChangeArrowheads="1"/>
          </p:cNvSpPr>
          <p:nvPr/>
        </p:nvSpPr>
        <p:spPr bwMode="auto">
          <a:xfrm>
            <a:off x="6054797" y="331247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186" name="Rectangle 17"/>
          <p:cNvSpPr>
            <a:spLocks noChangeArrowheads="1"/>
          </p:cNvSpPr>
          <p:nvPr/>
        </p:nvSpPr>
        <p:spPr bwMode="auto">
          <a:xfrm>
            <a:off x="5569034" y="3312478"/>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187" name="Rectangle 18"/>
          <p:cNvSpPr>
            <a:spLocks noChangeArrowheads="1"/>
          </p:cNvSpPr>
          <p:nvPr/>
        </p:nvSpPr>
        <p:spPr bwMode="auto">
          <a:xfrm>
            <a:off x="4837876" y="3460078"/>
            <a:ext cx="1619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189" name="Rectangle 20"/>
          <p:cNvSpPr>
            <a:spLocks noChangeArrowheads="1"/>
          </p:cNvSpPr>
          <p:nvPr/>
        </p:nvSpPr>
        <p:spPr bwMode="auto">
          <a:xfrm>
            <a:off x="5805892" y="3284985"/>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0" name="Rectangle 21"/>
          <p:cNvSpPr>
            <a:spLocks noChangeArrowheads="1"/>
          </p:cNvSpPr>
          <p:nvPr/>
        </p:nvSpPr>
        <p:spPr bwMode="auto">
          <a:xfrm>
            <a:off x="5147641" y="3434031"/>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94" name="Rectangle 59"/>
          <p:cNvSpPr>
            <a:spLocks noChangeArrowheads="1"/>
          </p:cNvSpPr>
          <p:nvPr/>
        </p:nvSpPr>
        <p:spPr bwMode="auto">
          <a:xfrm>
            <a:off x="6433131" y="3477402"/>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1.044</a:t>
            </a:r>
            <a:endParaRPr lang="en-US" altLang="ko-KR" sz="1600" baseline="0" dirty="0">
              <a:solidFill>
                <a:srgbClr val="000000"/>
              </a:solidFill>
              <a:latin typeface="Times New Roman" pitchFamily="18" charset="0"/>
              <a:ea typeface="굴림" pitchFamily="50" charset="-127"/>
            </a:endParaRPr>
          </a:p>
        </p:txBody>
      </p:sp>
      <p:sp>
        <p:nvSpPr>
          <p:cNvPr id="195" name="Line 12"/>
          <p:cNvSpPr>
            <a:spLocks noChangeShapeType="1"/>
          </p:cNvSpPr>
          <p:nvPr/>
        </p:nvSpPr>
        <p:spPr bwMode="auto">
          <a:xfrm>
            <a:off x="5437750" y="4661061"/>
            <a:ext cx="104946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96" name="Rectangle 14"/>
          <p:cNvSpPr>
            <a:spLocks noChangeArrowheads="1"/>
          </p:cNvSpPr>
          <p:nvPr/>
        </p:nvSpPr>
        <p:spPr bwMode="auto">
          <a:xfrm>
            <a:off x="4996764" y="4656718"/>
            <a:ext cx="2420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PKL</a:t>
            </a:r>
            <a:endParaRPr lang="en-US" altLang="ko-KR" sz="1600" baseline="0" dirty="0">
              <a:solidFill>
                <a:srgbClr val="000000"/>
              </a:solidFill>
              <a:latin typeface="Times New Roman" pitchFamily="18" charset="0"/>
              <a:ea typeface="굴림" pitchFamily="50" charset="-127"/>
            </a:endParaRPr>
          </a:p>
        </p:txBody>
      </p:sp>
      <p:sp>
        <p:nvSpPr>
          <p:cNvPr id="197" name="Rectangle 15"/>
          <p:cNvSpPr>
            <a:spLocks noChangeArrowheads="1"/>
          </p:cNvSpPr>
          <p:nvPr/>
        </p:nvSpPr>
        <p:spPr bwMode="auto">
          <a:xfrm>
            <a:off x="5548624" y="4692895"/>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0.160</a:t>
            </a:r>
            <a:endParaRPr lang="en-US" altLang="ko-KR" sz="1600" baseline="0" dirty="0">
              <a:solidFill>
                <a:srgbClr val="000000"/>
              </a:solidFill>
              <a:latin typeface="Times New Roman" pitchFamily="18" charset="0"/>
              <a:ea typeface="굴림" pitchFamily="50" charset="-127"/>
            </a:endParaRPr>
          </a:p>
        </p:txBody>
      </p:sp>
      <p:sp>
        <p:nvSpPr>
          <p:cNvPr id="198" name="Rectangle 16"/>
          <p:cNvSpPr>
            <a:spLocks noChangeArrowheads="1"/>
          </p:cNvSpPr>
          <p:nvPr/>
        </p:nvSpPr>
        <p:spPr bwMode="auto">
          <a:xfrm>
            <a:off x="6300263" y="4361521"/>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a:t>
            </a:r>
            <a:endParaRPr lang="en-US" altLang="ko-KR" sz="1600" baseline="0" dirty="0">
              <a:solidFill>
                <a:srgbClr val="000000"/>
              </a:solidFill>
              <a:latin typeface="Times New Roman" pitchFamily="18" charset="0"/>
              <a:ea typeface="굴림" pitchFamily="50" charset="-127"/>
            </a:endParaRPr>
          </a:p>
        </p:txBody>
      </p:sp>
      <p:sp>
        <p:nvSpPr>
          <p:cNvPr id="199" name="Rectangle 17"/>
          <p:cNvSpPr>
            <a:spLocks noChangeArrowheads="1"/>
          </p:cNvSpPr>
          <p:nvPr/>
        </p:nvSpPr>
        <p:spPr bwMode="auto">
          <a:xfrm>
            <a:off x="5569034" y="4361521"/>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200" name="Rectangle 18"/>
          <p:cNvSpPr>
            <a:spLocks noChangeArrowheads="1"/>
          </p:cNvSpPr>
          <p:nvPr/>
        </p:nvSpPr>
        <p:spPr bwMode="auto">
          <a:xfrm>
            <a:off x="4837876" y="4509121"/>
            <a:ext cx="1619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201" name="Rectangle 20"/>
          <p:cNvSpPr>
            <a:spLocks noChangeArrowheads="1"/>
          </p:cNvSpPr>
          <p:nvPr/>
        </p:nvSpPr>
        <p:spPr bwMode="auto">
          <a:xfrm>
            <a:off x="6051358" y="4334028"/>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2" name="Rectangle 21"/>
          <p:cNvSpPr>
            <a:spLocks noChangeArrowheads="1"/>
          </p:cNvSpPr>
          <p:nvPr/>
        </p:nvSpPr>
        <p:spPr bwMode="auto">
          <a:xfrm>
            <a:off x="5260168" y="4483074"/>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3" name="Rectangle 59"/>
          <p:cNvSpPr>
            <a:spLocks noChangeArrowheads="1"/>
          </p:cNvSpPr>
          <p:nvPr/>
        </p:nvSpPr>
        <p:spPr bwMode="auto">
          <a:xfrm>
            <a:off x="6545658" y="4526445"/>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0.584</a:t>
            </a:r>
            <a:endParaRPr lang="en-US" altLang="ko-KR" sz="1600" baseline="0" dirty="0">
              <a:solidFill>
                <a:srgbClr val="000000"/>
              </a:solidFill>
              <a:latin typeface="Times New Roman" pitchFamily="18" charset="0"/>
              <a:ea typeface="굴림" pitchFamily="50" charset="-127"/>
            </a:endParaRPr>
          </a:p>
        </p:txBody>
      </p:sp>
      <p:sp>
        <p:nvSpPr>
          <p:cNvPr id="204" name="Rectangle 75"/>
          <p:cNvSpPr>
            <a:spLocks noChangeArrowheads="1"/>
          </p:cNvSpPr>
          <p:nvPr/>
        </p:nvSpPr>
        <p:spPr bwMode="auto">
          <a:xfrm>
            <a:off x="881750" y="531986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5" name="Rectangle 81"/>
          <p:cNvSpPr>
            <a:spLocks noChangeArrowheads="1"/>
          </p:cNvSpPr>
          <p:nvPr/>
        </p:nvSpPr>
        <p:spPr bwMode="auto">
          <a:xfrm>
            <a:off x="650894" y="5483414"/>
            <a:ext cx="25648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PKU</a:t>
            </a:r>
            <a:endParaRPr lang="en-US" altLang="ko-KR" sz="1600" baseline="0" dirty="0">
              <a:solidFill>
                <a:srgbClr val="000000"/>
              </a:solidFill>
              <a:latin typeface="Times New Roman" pitchFamily="18" charset="0"/>
              <a:ea typeface="굴림" pitchFamily="50" charset="-127"/>
            </a:endParaRPr>
          </a:p>
        </p:txBody>
      </p:sp>
      <p:sp>
        <p:nvSpPr>
          <p:cNvPr id="206" name="Rectangle 93"/>
          <p:cNvSpPr>
            <a:spLocks noChangeArrowheads="1"/>
          </p:cNvSpPr>
          <p:nvPr/>
        </p:nvSpPr>
        <p:spPr bwMode="auto">
          <a:xfrm>
            <a:off x="549406" y="5343026"/>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P</a:t>
            </a:r>
            <a:endParaRPr lang="en-US" altLang="ko-KR" sz="1600" baseline="0" dirty="0">
              <a:solidFill>
                <a:srgbClr val="000000"/>
              </a:solidFill>
              <a:latin typeface="Times New Roman" pitchFamily="18" charset="0"/>
              <a:ea typeface="굴림" pitchFamily="50" charset="-127"/>
            </a:endParaRPr>
          </a:p>
        </p:txBody>
      </p:sp>
      <p:sp>
        <p:nvSpPr>
          <p:cNvPr id="207" name="Line 56"/>
          <p:cNvSpPr>
            <a:spLocks noChangeShapeType="1"/>
          </p:cNvSpPr>
          <p:nvPr/>
        </p:nvSpPr>
        <p:spPr bwMode="auto">
          <a:xfrm>
            <a:off x="1073909" y="548139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08" name="Rectangle 58"/>
          <p:cNvSpPr>
            <a:spLocks noChangeArrowheads="1"/>
          </p:cNvSpPr>
          <p:nvPr/>
        </p:nvSpPr>
        <p:spPr bwMode="auto">
          <a:xfrm>
            <a:off x="1347033" y="5157192"/>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09" name="Rectangle 60"/>
          <p:cNvSpPr>
            <a:spLocks noChangeArrowheads="1"/>
          </p:cNvSpPr>
          <p:nvPr/>
        </p:nvSpPr>
        <p:spPr bwMode="auto">
          <a:xfrm>
            <a:off x="1216314" y="5500176"/>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0.176</a:t>
            </a:r>
            <a:endParaRPr lang="en-US" altLang="ko-KR" sz="1600" baseline="0" dirty="0">
              <a:solidFill>
                <a:srgbClr val="000000"/>
              </a:solidFill>
              <a:latin typeface="Times New Roman" pitchFamily="18" charset="0"/>
              <a:ea typeface="굴림" pitchFamily="50" charset="-127"/>
            </a:endParaRPr>
          </a:p>
        </p:txBody>
      </p:sp>
      <p:sp>
        <p:nvSpPr>
          <p:cNvPr id="210" name="Rectangle 61"/>
          <p:cNvSpPr>
            <a:spLocks noChangeArrowheads="1"/>
          </p:cNvSpPr>
          <p:nvPr/>
        </p:nvSpPr>
        <p:spPr bwMode="auto">
          <a:xfrm>
            <a:off x="1559057" y="5183244"/>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211" name="Rectangle 62"/>
          <p:cNvSpPr>
            <a:spLocks noChangeArrowheads="1"/>
          </p:cNvSpPr>
          <p:nvPr/>
        </p:nvSpPr>
        <p:spPr bwMode="auto">
          <a:xfrm>
            <a:off x="1147625" y="5157192"/>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212" name="Rectangle 59"/>
          <p:cNvSpPr>
            <a:spLocks noChangeArrowheads="1"/>
          </p:cNvSpPr>
          <p:nvPr/>
        </p:nvSpPr>
        <p:spPr bwMode="auto">
          <a:xfrm>
            <a:off x="2279817" y="5320600"/>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1.363</a:t>
            </a:r>
            <a:endParaRPr lang="en-US" altLang="ko-KR" sz="1600" baseline="0" dirty="0">
              <a:solidFill>
                <a:srgbClr val="000000"/>
              </a:solidFill>
              <a:latin typeface="Times New Roman" pitchFamily="18" charset="0"/>
              <a:ea typeface="굴림" pitchFamily="50" charset="-127"/>
            </a:endParaRPr>
          </a:p>
        </p:txBody>
      </p:sp>
      <p:sp>
        <p:nvSpPr>
          <p:cNvPr id="213" name="Line 12"/>
          <p:cNvSpPr>
            <a:spLocks noChangeShapeType="1"/>
          </p:cNvSpPr>
          <p:nvPr/>
        </p:nvSpPr>
        <p:spPr bwMode="auto">
          <a:xfrm>
            <a:off x="5437750" y="5440449"/>
            <a:ext cx="1049464"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214" name="Rectangle 14"/>
          <p:cNvSpPr>
            <a:spLocks noChangeArrowheads="1"/>
          </p:cNvSpPr>
          <p:nvPr/>
        </p:nvSpPr>
        <p:spPr bwMode="auto">
          <a:xfrm>
            <a:off x="4996764" y="5436106"/>
            <a:ext cx="2420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PKL</a:t>
            </a:r>
            <a:endParaRPr lang="en-US" altLang="ko-KR" sz="1600" baseline="0" dirty="0">
              <a:solidFill>
                <a:srgbClr val="000000"/>
              </a:solidFill>
              <a:latin typeface="Times New Roman" pitchFamily="18" charset="0"/>
              <a:ea typeface="굴림" pitchFamily="50" charset="-127"/>
            </a:endParaRPr>
          </a:p>
        </p:txBody>
      </p:sp>
      <p:sp>
        <p:nvSpPr>
          <p:cNvPr id="215" name="Rectangle 15"/>
          <p:cNvSpPr>
            <a:spLocks noChangeArrowheads="1"/>
          </p:cNvSpPr>
          <p:nvPr/>
        </p:nvSpPr>
        <p:spPr bwMode="auto">
          <a:xfrm>
            <a:off x="5548624" y="5472283"/>
            <a:ext cx="9137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3 x 0.160</a:t>
            </a:r>
            <a:endParaRPr lang="en-US" altLang="ko-KR" sz="1600" baseline="0" dirty="0">
              <a:solidFill>
                <a:srgbClr val="000000"/>
              </a:solidFill>
              <a:latin typeface="Times New Roman" pitchFamily="18" charset="0"/>
              <a:ea typeface="굴림" pitchFamily="50" charset="-127"/>
            </a:endParaRPr>
          </a:p>
        </p:txBody>
      </p:sp>
      <p:sp>
        <p:nvSpPr>
          <p:cNvPr id="216" name="Rectangle 16"/>
          <p:cNvSpPr>
            <a:spLocks noChangeArrowheads="1"/>
          </p:cNvSpPr>
          <p:nvPr/>
        </p:nvSpPr>
        <p:spPr bwMode="auto">
          <a:xfrm>
            <a:off x="5973062" y="5140909"/>
            <a:ext cx="42639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5.28</a:t>
            </a:r>
            <a:endParaRPr lang="en-US" altLang="ko-KR" sz="1600" baseline="0" dirty="0">
              <a:solidFill>
                <a:srgbClr val="000000"/>
              </a:solidFill>
              <a:latin typeface="Times New Roman" pitchFamily="18" charset="0"/>
              <a:ea typeface="굴림" pitchFamily="50" charset="-127"/>
            </a:endParaRPr>
          </a:p>
        </p:txBody>
      </p:sp>
      <p:sp>
        <p:nvSpPr>
          <p:cNvPr id="217" name="Rectangle 17"/>
          <p:cNvSpPr>
            <a:spLocks noChangeArrowheads="1"/>
          </p:cNvSpPr>
          <p:nvPr/>
        </p:nvSpPr>
        <p:spPr bwMode="auto">
          <a:xfrm>
            <a:off x="5569034" y="5140909"/>
            <a:ext cx="12182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6</a:t>
            </a:r>
            <a:endParaRPr lang="en-US" altLang="ko-KR" sz="1600" baseline="0" dirty="0">
              <a:solidFill>
                <a:srgbClr val="000000"/>
              </a:solidFill>
              <a:latin typeface="Times New Roman" pitchFamily="18" charset="0"/>
              <a:ea typeface="굴림" pitchFamily="50" charset="-127"/>
            </a:endParaRPr>
          </a:p>
        </p:txBody>
      </p:sp>
      <p:sp>
        <p:nvSpPr>
          <p:cNvPr id="218" name="Rectangle 18"/>
          <p:cNvSpPr>
            <a:spLocks noChangeArrowheads="1"/>
          </p:cNvSpPr>
          <p:nvPr/>
        </p:nvSpPr>
        <p:spPr bwMode="auto">
          <a:xfrm>
            <a:off x="4837876" y="5288509"/>
            <a:ext cx="16190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C</a:t>
            </a:r>
            <a:endParaRPr lang="en-US" altLang="ko-KR" sz="1600" baseline="0" dirty="0">
              <a:solidFill>
                <a:srgbClr val="000000"/>
              </a:solidFill>
              <a:latin typeface="Times New Roman" pitchFamily="18" charset="0"/>
              <a:ea typeface="굴림" pitchFamily="50" charset="-127"/>
            </a:endParaRPr>
          </a:p>
        </p:txBody>
      </p:sp>
      <p:sp>
        <p:nvSpPr>
          <p:cNvPr id="219" name="Rectangle 20"/>
          <p:cNvSpPr>
            <a:spLocks noChangeArrowheads="1"/>
          </p:cNvSpPr>
          <p:nvPr/>
        </p:nvSpPr>
        <p:spPr bwMode="auto">
          <a:xfrm>
            <a:off x="5768440" y="5113416"/>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20" name="Rectangle 21"/>
          <p:cNvSpPr>
            <a:spLocks noChangeArrowheads="1"/>
          </p:cNvSpPr>
          <p:nvPr/>
        </p:nvSpPr>
        <p:spPr bwMode="auto">
          <a:xfrm>
            <a:off x="5260168" y="5262462"/>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221" name="Rectangle 59"/>
          <p:cNvSpPr>
            <a:spLocks noChangeArrowheads="1"/>
          </p:cNvSpPr>
          <p:nvPr/>
        </p:nvSpPr>
        <p:spPr bwMode="auto">
          <a:xfrm>
            <a:off x="6545658" y="5305833"/>
            <a:ext cx="742191"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 1.503</a:t>
            </a:r>
            <a:endParaRPr lang="en-US" altLang="ko-KR" sz="1600" baseline="0" dirty="0">
              <a:solidFill>
                <a:srgbClr val="000000"/>
              </a:solidFill>
              <a:latin typeface="Times New Roman" pitchFamily="18" charset="0"/>
              <a:ea typeface="굴림" pitchFamily="50" charset="-127"/>
            </a:endParaRPr>
          </a:p>
        </p:txBody>
      </p:sp>
      <p:sp>
        <p:nvSpPr>
          <p:cNvPr id="188"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137777954"/>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211</a:t>
            </a:fld>
            <a:endParaRPr lang="ko-KR" altLang="en-US" dirty="0"/>
          </a:p>
        </p:txBody>
      </p:sp>
      <p:sp>
        <p:nvSpPr>
          <p:cNvPr id="5" name="TextBox 4"/>
          <p:cNvSpPr txBox="1"/>
          <p:nvPr/>
        </p:nvSpPr>
        <p:spPr>
          <a:xfrm>
            <a:off x="705333" y="1556792"/>
            <a:ext cx="2536079" cy="372410"/>
          </a:xfrm>
          <a:prstGeom prst="rect">
            <a:avLst/>
          </a:prstGeom>
          <a:noFill/>
        </p:spPr>
        <p:txBody>
          <a:bodyPr wrap="none" rtlCol="0">
            <a:spAutoFit/>
          </a:bodyPr>
          <a:lstStyle/>
          <a:p>
            <a:pPr>
              <a:lnSpc>
                <a:spcPct val="130000"/>
              </a:lnSpc>
              <a:buClr>
                <a:srgbClr val="C5003D"/>
              </a:buClr>
            </a:pPr>
            <a:r>
              <a:rPr lang="en-US" altLang="ko-KR" sz="1400" b="1" dirty="0"/>
              <a:t>Data &gt; Stack &gt; Columns    </a:t>
            </a:r>
            <a:endParaRPr lang="ko-KR" altLang="en-US" sz="1400" b="1" dirty="0"/>
          </a:p>
        </p:txBody>
      </p:sp>
      <p:sp>
        <p:nvSpPr>
          <p:cNvPr id="6" name="TextBox 5"/>
          <p:cNvSpPr txBox="1"/>
          <p:nvPr/>
        </p:nvSpPr>
        <p:spPr>
          <a:xfrm>
            <a:off x="705332" y="1988840"/>
            <a:ext cx="4700005" cy="372410"/>
          </a:xfrm>
          <a:prstGeom prst="rect">
            <a:avLst/>
          </a:prstGeom>
          <a:noFill/>
        </p:spPr>
        <p:txBody>
          <a:bodyPr wrap="none" rtlCol="0">
            <a:spAutoFit/>
          </a:bodyPr>
          <a:lstStyle/>
          <a:p>
            <a:pPr>
              <a:lnSpc>
                <a:spcPct val="130000"/>
              </a:lnSpc>
              <a:buClr>
                <a:srgbClr val="C5003D"/>
              </a:buClr>
            </a:pPr>
            <a:r>
              <a:rPr lang="en-US" altLang="ko-KR" sz="1400" b="1" dirty="0"/>
              <a:t>Stat &gt; Quality Tools &gt; Capability Analysis &gt; Normal </a:t>
            </a:r>
            <a:endParaRPr lang="ko-KR" altLang="en-US" sz="1400" b="1" dirty="0"/>
          </a:p>
        </p:txBody>
      </p:sp>
      <p:sp>
        <p:nvSpPr>
          <p:cNvPr id="8" name="TextBox 7"/>
          <p:cNvSpPr txBox="1"/>
          <p:nvPr/>
        </p:nvSpPr>
        <p:spPr>
          <a:xfrm>
            <a:off x="2910277" y="1597896"/>
            <a:ext cx="4608954" cy="312393"/>
          </a:xfrm>
          <a:prstGeom prst="rect">
            <a:avLst/>
          </a:prstGeom>
          <a:noFill/>
        </p:spPr>
        <p:txBody>
          <a:bodyPr wrap="none" rtlCol="0">
            <a:spAutoFit/>
          </a:bodyPr>
          <a:lstStyle/>
          <a:p>
            <a:pPr>
              <a:lnSpc>
                <a:spcPct val="130000"/>
              </a:lnSpc>
              <a:buClr>
                <a:srgbClr val="C5003D"/>
              </a:buClr>
            </a:pPr>
            <a:r>
              <a:rPr lang="en-US" altLang="ko-KR" sz="1100" b="1" dirty="0" err="1">
                <a:solidFill>
                  <a:srgbClr val="00B050"/>
                </a:solidFill>
              </a:rPr>
              <a:t>Sau</a:t>
            </a:r>
            <a:r>
              <a:rPr lang="en-US" altLang="ko-KR" sz="1100" b="1" dirty="0">
                <a:solidFill>
                  <a:srgbClr val="00B050"/>
                </a:solidFill>
              </a:rPr>
              <a:t> </a:t>
            </a:r>
            <a:r>
              <a:rPr lang="en-US" altLang="ko-KR" sz="1100" b="1" dirty="0" err="1">
                <a:solidFill>
                  <a:srgbClr val="00B050"/>
                </a:solidFill>
              </a:rPr>
              <a:t>khi</a:t>
            </a:r>
            <a:r>
              <a:rPr lang="en-US" altLang="ko-KR" sz="1100" b="1" dirty="0">
                <a:solidFill>
                  <a:srgbClr val="00B050"/>
                </a:solidFill>
              </a:rPr>
              <a:t> copy data </a:t>
            </a:r>
            <a:r>
              <a:rPr lang="en-US" altLang="ko-KR" sz="1100" b="1" dirty="0" err="1">
                <a:solidFill>
                  <a:srgbClr val="00B050"/>
                </a:solidFill>
              </a:rPr>
              <a:t>của</a:t>
            </a:r>
            <a:r>
              <a:rPr lang="en-US" altLang="ko-KR" sz="1100" b="1" dirty="0">
                <a:solidFill>
                  <a:srgbClr val="00B050"/>
                </a:solidFill>
              </a:rPr>
              <a:t> excel </a:t>
            </a:r>
            <a:r>
              <a:rPr lang="en-US" altLang="ko-KR" sz="1100" b="1" dirty="0" err="1">
                <a:solidFill>
                  <a:srgbClr val="00B050"/>
                </a:solidFill>
              </a:rPr>
              <a:t>vào</a:t>
            </a:r>
            <a:r>
              <a:rPr lang="en-US" altLang="ko-KR" sz="1100" b="1" dirty="0">
                <a:solidFill>
                  <a:srgbClr val="00B050"/>
                </a:solidFill>
              </a:rPr>
              <a:t> Minitab </a:t>
            </a:r>
            <a:r>
              <a:rPr lang="en-US" altLang="ko-KR" sz="1100" b="1" dirty="0" err="1">
                <a:solidFill>
                  <a:srgbClr val="00B050"/>
                </a:solidFill>
              </a:rPr>
              <a:t>để</a:t>
            </a:r>
            <a:r>
              <a:rPr lang="en-US" altLang="ko-KR" sz="1100" b="1" dirty="0">
                <a:solidFill>
                  <a:srgbClr val="00B050"/>
                </a:solidFill>
              </a:rPr>
              <a:t> </a:t>
            </a:r>
            <a:r>
              <a:rPr lang="en-US" altLang="ko-KR" sz="1100" b="1" dirty="0" err="1">
                <a:solidFill>
                  <a:srgbClr val="00B050"/>
                </a:solidFill>
              </a:rPr>
              <a:t>phân</a:t>
            </a:r>
            <a:r>
              <a:rPr lang="en-US" altLang="ko-KR" sz="1100" b="1" dirty="0">
                <a:solidFill>
                  <a:srgbClr val="00B050"/>
                </a:solidFill>
              </a:rPr>
              <a:t> </a:t>
            </a:r>
            <a:r>
              <a:rPr lang="en-US" altLang="ko-KR" sz="1100" b="1" dirty="0" err="1">
                <a:solidFill>
                  <a:srgbClr val="00B050"/>
                </a:solidFill>
              </a:rPr>
              <a:t>tích</a:t>
            </a:r>
            <a:r>
              <a:rPr lang="en-US" altLang="ko-KR" sz="1100" b="1" dirty="0">
                <a:solidFill>
                  <a:srgbClr val="00B050"/>
                </a:solidFill>
              </a:rPr>
              <a:t> </a:t>
            </a:r>
            <a:r>
              <a:rPr lang="en-US" altLang="ko-KR" sz="1100" b="1" dirty="0" err="1">
                <a:solidFill>
                  <a:srgbClr val="00B050"/>
                </a:solidFill>
              </a:rPr>
              <a:t>lập</a:t>
            </a:r>
            <a:r>
              <a:rPr lang="en-US" altLang="ko-KR" sz="1100" b="1" dirty="0">
                <a:solidFill>
                  <a:srgbClr val="00B050"/>
                </a:solidFill>
              </a:rPr>
              <a:t> 1 </a:t>
            </a:r>
            <a:r>
              <a:rPr lang="en-US" altLang="ko-KR" sz="1100" b="1" dirty="0" err="1">
                <a:solidFill>
                  <a:srgbClr val="00B050"/>
                </a:solidFill>
              </a:rPr>
              <a:t>hàng</a:t>
            </a:r>
            <a:endParaRPr lang="ko-KR" altLang="en-US" sz="1100" b="1" dirty="0">
              <a:solidFill>
                <a:srgbClr val="00B050"/>
              </a:solidFill>
            </a:endParaRPr>
          </a:p>
        </p:txBody>
      </p:sp>
      <p:pic>
        <p:nvPicPr>
          <p:cNvPr id="237875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6802" y="2348880"/>
            <a:ext cx="4622376" cy="3456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7875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69034" y="2348880"/>
            <a:ext cx="3389915" cy="2448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직사각형 8"/>
          <p:cNvSpPr/>
          <p:nvPr/>
        </p:nvSpPr>
        <p:spPr>
          <a:xfrm>
            <a:off x="4463721" y="2924944"/>
            <a:ext cx="706499" cy="21602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꺾인 연결선 10"/>
          <p:cNvCxnSpPr>
            <a:stCxn id="9" idx="3"/>
            <a:endCxn id="2378755" idx="1"/>
          </p:cNvCxnSpPr>
          <p:nvPr/>
        </p:nvCxnSpPr>
        <p:spPr>
          <a:xfrm>
            <a:off x="5170220" y="3032956"/>
            <a:ext cx="398814" cy="540060"/>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6898413" y="2993805"/>
            <a:ext cx="2215671" cy="312393"/>
          </a:xfrm>
          <a:prstGeom prst="rect">
            <a:avLst/>
          </a:prstGeom>
          <a:noFill/>
        </p:spPr>
        <p:txBody>
          <a:bodyPr wrap="none" rtlCol="0">
            <a:spAutoFit/>
          </a:bodyPr>
          <a:lstStyle/>
          <a:p>
            <a:pPr>
              <a:lnSpc>
                <a:spcPct val="130000"/>
              </a:lnSpc>
              <a:buClr>
                <a:srgbClr val="C5003D"/>
              </a:buClr>
            </a:pPr>
            <a:r>
              <a:rPr lang="en-US" altLang="ko-KR" sz="1100" b="1" dirty="0" err="1">
                <a:solidFill>
                  <a:srgbClr val="FF0000"/>
                </a:solidFill>
              </a:rPr>
              <a:t>Tắt</a:t>
            </a:r>
            <a:r>
              <a:rPr lang="en-US" altLang="ko-KR" sz="1100" b="1" dirty="0">
                <a:solidFill>
                  <a:srgbClr val="FF0000"/>
                </a:solidFill>
              </a:rPr>
              <a:t> </a:t>
            </a:r>
            <a:r>
              <a:rPr lang="en-US" altLang="ko-KR" sz="1100" b="1" dirty="0" err="1">
                <a:solidFill>
                  <a:srgbClr val="FF0000"/>
                </a:solidFill>
              </a:rPr>
              <a:t>sửa</a:t>
            </a:r>
            <a:r>
              <a:rPr lang="en-US" altLang="ko-KR" sz="1100" b="1" dirty="0">
                <a:solidFill>
                  <a:srgbClr val="FF0000"/>
                </a:solidFill>
              </a:rPr>
              <a:t> </a:t>
            </a:r>
            <a:r>
              <a:rPr lang="en-US" altLang="ko-KR" sz="1100" b="1" dirty="0" err="1">
                <a:solidFill>
                  <a:srgbClr val="FF0000"/>
                </a:solidFill>
              </a:rPr>
              <a:t>đổi</a:t>
            </a:r>
            <a:r>
              <a:rPr lang="en-US" altLang="ko-KR" sz="1100" b="1" dirty="0">
                <a:solidFill>
                  <a:srgbClr val="FF0000"/>
                </a:solidFill>
              </a:rPr>
              <a:t> </a:t>
            </a:r>
            <a:r>
              <a:rPr lang="en-US" altLang="ko-KR" sz="1100" b="1" dirty="0" err="1">
                <a:solidFill>
                  <a:srgbClr val="FF0000"/>
                </a:solidFill>
              </a:rPr>
              <a:t>liên</a:t>
            </a:r>
            <a:r>
              <a:rPr lang="en-US" altLang="ko-KR" sz="1100" b="1" dirty="0">
                <a:solidFill>
                  <a:srgbClr val="FF0000"/>
                </a:solidFill>
              </a:rPr>
              <a:t> </a:t>
            </a:r>
            <a:r>
              <a:rPr lang="en-US" altLang="ko-KR" sz="1100" b="1" dirty="0" err="1">
                <a:solidFill>
                  <a:srgbClr val="FF0000"/>
                </a:solidFill>
              </a:rPr>
              <a:t>tục</a:t>
            </a:r>
            <a:r>
              <a:rPr lang="en-US" altLang="ko-KR" sz="1100" b="1" dirty="0">
                <a:solidFill>
                  <a:srgbClr val="FF0000"/>
                </a:solidFill>
              </a:rPr>
              <a:t> </a:t>
            </a:r>
            <a:r>
              <a:rPr lang="en-US" altLang="ko-KR" sz="1100" b="1" dirty="0" err="1">
                <a:solidFill>
                  <a:srgbClr val="FF0000"/>
                </a:solidFill>
              </a:rPr>
              <a:t>Unbiasing</a:t>
            </a:r>
            <a:endParaRPr lang="ko-KR" altLang="en-US" sz="1100" b="1" dirty="0">
              <a:solidFill>
                <a:srgbClr val="FF0000"/>
              </a:solidFill>
            </a:endParaRPr>
          </a:p>
        </p:txBody>
      </p:sp>
      <p:sp>
        <p:nvSpPr>
          <p:cNvPr id="14" name="TextBox 13"/>
          <p:cNvSpPr txBox="1"/>
          <p:nvPr/>
        </p:nvSpPr>
        <p:spPr>
          <a:xfrm>
            <a:off x="384458" y="908721"/>
            <a:ext cx="3967048" cy="412421"/>
          </a:xfrm>
          <a:prstGeom prst="rect">
            <a:avLst/>
          </a:prstGeom>
          <a:noFill/>
        </p:spPr>
        <p:txBody>
          <a:bodyPr wrap="none" rtlCol="0">
            <a:spAutoFit/>
          </a:bodyPr>
          <a:lstStyle/>
          <a:p>
            <a:pPr>
              <a:lnSpc>
                <a:spcPct val="130000"/>
              </a:lnSpc>
              <a:buClr>
                <a:srgbClr val="C5003D"/>
              </a:buClr>
            </a:pP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năng</a:t>
            </a:r>
            <a:r>
              <a:rPr lang="en-US" altLang="ko-KR" sz="1600" b="1" dirty="0"/>
              <a:t> </a:t>
            </a:r>
            <a:r>
              <a:rPr lang="en-US" altLang="ko-KR" sz="1600" b="1" dirty="0" err="1"/>
              <a:t>lực</a:t>
            </a:r>
            <a:r>
              <a:rPr lang="en-US" altLang="ko-KR" sz="1600" b="1" dirty="0"/>
              <a:t> process </a:t>
            </a:r>
            <a:r>
              <a:rPr lang="en-US" altLang="ko-KR" sz="1600" b="1" dirty="0" err="1"/>
              <a:t>cho</a:t>
            </a:r>
            <a:r>
              <a:rPr lang="en-US" altLang="ko-KR" sz="1600" b="1" dirty="0"/>
              <a:t> Case 3</a:t>
            </a:r>
            <a:endParaRPr lang="ko-KR" altLang="en-US" sz="1600" b="1" dirty="0"/>
          </a:p>
        </p:txBody>
      </p:sp>
      <p:sp>
        <p:nvSpPr>
          <p:cNvPr id="15"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261410810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212</a:t>
            </a:fld>
            <a:endParaRPr lang="ko-KR" altLang="en-US" dirty="0"/>
          </a:p>
        </p:txBody>
      </p:sp>
      <p:pic>
        <p:nvPicPr>
          <p:cNvPr id="237977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02576" y="1628800"/>
            <a:ext cx="5140263"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8" y="980728"/>
            <a:ext cx="4339906" cy="412421"/>
          </a:xfrm>
          <a:prstGeom prst="rect">
            <a:avLst/>
          </a:prstGeom>
          <a:noFill/>
        </p:spPr>
        <p:txBody>
          <a:bodyPr wrap="none" rtlCol="0">
            <a:spAutoFit/>
          </a:bodyPr>
          <a:lstStyle/>
          <a:p>
            <a:pPr>
              <a:lnSpc>
                <a:spcPct val="130000"/>
              </a:lnSpc>
              <a:buClr>
                <a:srgbClr val="C5003D"/>
              </a:buClr>
            </a:pPr>
            <a:r>
              <a:rPr lang="en-US" altLang="ko-KR" sz="1600" b="1" dirty="0"/>
              <a:t>Let's get the process capability for Case 3.</a:t>
            </a:r>
            <a:endParaRPr lang="ko-KR" altLang="en-US" sz="1600" b="1" dirty="0"/>
          </a:p>
        </p:txBody>
      </p:sp>
      <p:sp>
        <p:nvSpPr>
          <p:cNvPr id="4" name="TextBox 3"/>
          <p:cNvSpPr txBox="1"/>
          <p:nvPr/>
        </p:nvSpPr>
        <p:spPr>
          <a:xfrm>
            <a:off x="7031351" y="2592096"/>
            <a:ext cx="838691" cy="372410"/>
          </a:xfrm>
          <a:prstGeom prst="rect">
            <a:avLst/>
          </a:prstGeom>
          <a:noFill/>
        </p:spPr>
        <p:txBody>
          <a:bodyPr wrap="none" rtlCol="0">
            <a:spAutoFit/>
          </a:bodyPr>
          <a:lstStyle/>
          <a:p>
            <a:pPr>
              <a:lnSpc>
                <a:spcPct val="130000"/>
              </a:lnSpc>
              <a:buClr>
                <a:srgbClr val="C5003D"/>
              </a:buClr>
            </a:pPr>
            <a:r>
              <a:rPr lang="en-US" altLang="ko-KR" sz="1400" b="1" dirty="0"/>
              <a:t>Pp, </a:t>
            </a:r>
            <a:r>
              <a:rPr lang="en-US" altLang="ko-KR" sz="1400" b="1" dirty="0" err="1"/>
              <a:t>Ppk</a:t>
            </a:r>
            <a:endParaRPr lang="ko-KR" altLang="en-US" sz="1400" b="1" dirty="0"/>
          </a:p>
        </p:txBody>
      </p:sp>
      <p:sp>
        <p:nvSpPr>
          <p:cNvPr id="7" name="TextBox 6"/>
          <p:cNvSpPr txBox="1"/>
          <p:nvPr/>
        </p:nvSpPr>
        <p:spPr>
          <a:xfrm>
            <a:off x="7031351" y="3356992"/>
            <a:ext cx="848309" cy="372410"/>
          </a:xfrm>
          <a:prstGeom prst="rect">
            <a:avLst/>
          </a:prstGeom>
          <a:noFill/>
        </p:spPr>
        <p:txBody>
          <a:bodyPr wrap="none" rtlCol="0">
            <a:spAutoFit/>
          </a:bodyPr>
          <a:lstStyle/>
          <a:p>
            <a:pPr>
              <a:lnSpc>
                <a:spcPct val="130000"/>
              </a:lnSpc>
              <a:buClr>
                <a:srgbClr val="C5003D"/>
              </a:buClr>
            </a:pPr>
            <a:r>
              <a:rPr lang="en-US" altLang="ko-KR" sz="1400" b="1" dirty="0" err="1"/>
              <a:t>Cp</a:t>
            </a:r>
            <a:r>
              <a:rPr lang="en-US" altLang="ko-KR" sz="1400" b="1" dirty="0"/>
              <a:t>, </a:t>
            </a:r>
            <a:r>
              <a:rPr lang="en-US" altLang="ko-KR" sz="1400" b="1" dirty="0" err="1"/>
              <a:t>Cpk</a:t>
            </a:r>
            <a:endParaRPr lang="ko-KR" altLang="en-US" sz="1400" b="1" dirty="0"/>
          </a:p>
        </p:txBody>
      </p:sp>
      <p:sp>
        <p:nvSpPr>
          <p:cNvPr id="8" name="TextBox 7"/>
          <p:cNvSpPr txBox="1"/>
          <p:nvPr/>
        </p:nvSpPr>
        <p:spPr>
          <a:xfrm>
            <a:off x="-43994" y="2492896"/>
            <a:ext cx="2408480" cy="372410"/>
          </a:xfrm>
          <a:prstGeom prst="rect">
            <a:avLst/>
          </a:prstGeom>
          <a:noFill/>
        </p:spPr>
        <p:txBody>
          <a:bodyPr wrap="none" rtlCol="0">
            <a:spAutoFit/>
          </a:bodyPr>
          <a:lstStyle/>
          <a:p>
            <a:pPr>
              <a:lnSpc>
                <a:spcPct val="130000"/>
              </a:lnSpc>
              <a:buClr>
                <a:srgbClr val="C5003D"/>
              </a:buClr>
            </a:pPr>
            <a:r>
              <a:rPr lang="en-US" altLang="ko-KR" sz="1400" b="1" dirty="0"/>
              <a:t>Standard deviation</a:t>
            </a:r>
            <a:r>
              <a:rPr lang="ko-KR" altLang="en-US" sz="1400" b="1" dirty="0"/>
              <a:t> </a:t>
            </a:r>
            <a:r>
              <a:rPr lang="en-US" altLang="ko-KR" sz="1400" b="1" dirty="0"/>
              <a:t>(Total)</a:t>
            </a:r>
            <a:endParaRPr lang="ko-KR" altLang="en-US" sz="1400" b="1" dirty="0"/>
          </a:p>
        </p:txBody>
      </p:sp>
      <p:sp>
        <p:nvSpPr>
          <p:cNvPr id="9" name="TextBox 8"/>
          <p:cNvSpPr txBox="1"/>
          <p:nvPr/>
        </p:nvSpPr>
        <p:spPr>
          <a:xfrm>
            <a:off x="7097820" y="1988840"/>
            <a:ext cx="1925271" cy="412421"/>
          </a:xfrm>
          <a:prstGeom prst="rect">
            <a:avLst/>
          </a:prstGeom>
          <a:noFill/>
        </p:spPr>
        <p:txBody>
          <a:bodyPr wrap="none" rtlCol="0">
            <a:spAutoFit/>
          </a:bodyPr>
          <a:lstStyle/>
          <a:p>
            <a:pPr>
              <a:lnSpc>
                <a:spcPct val="130000"/>
              </a:lnSpc>
              <a:buClr>
                <a:srgbClr val="C5003D"/>
              </a:buClr>
            </a:pPr>
            <a:r>
              <a:rPr lang="en-US" altLang="ko-KR" sz="1600" b="1" dirty="0"/>
              <a:t>Process capability</a:t>
            </a:r>
            <a:endParaRPr lang="ko-KR" altLang="en-US" sz="1600" b="1" dirty="0"/>
          </a:p>
        </p:txBody>
      </p:sp>
      <p:sp>
        <p:nvSpPr>
          <p:cNvPr id="10" name="TextBox 9"/>
          <p:cNvSpPr txBox="1"/>
          <p:nvPr/>
        </p:nvSpPr>
        <p:spPr>
          <a:xfrm>
            <a:off x="322203" y="3056590"/>
            <a:ext cx="2984728" cy="372410"/>
          </a:xfrm>
          <a:prstGeom prst="rect">
            <a:avLst/>
          </a:prstGeom>
          <a:noFill/>
        </p:spPr>
        <p:txBody>
          <a:bodyPr wrap="none" rtlCol="0">
            <a:spAutoFit/>
          </a:bodyPr>
          <a:lstStyle/>
          <a:p>
            <a:pPr>
              <a:lnSpc>
                <a:spcPct val="130000"/>
              </a:lnSpc>
              <a:buClr>
                <a:srgbClr val="C5003D"/>
              </a:buClr>
            </a:pPr>
            <a:r>
              <a:rPr lang="en-US" altLang="ko-KR" sz="1400" b="1" dirty="0"/>
              <a:t>Standard deviation(Intra- group)</a:t>
            </a:r>
            <a:endParaRPr lang="ko-KR" altLang="en-US" sz="1400" b="1" dirty="0"/>
          </a:p>
        </p:txBody>
      </p:sp>
      <p:sp>
        <p:nvSpPr>
          <p:cNvPr id="11"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8417044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50"/>
          <p:cNvSpPr>
            <a:spLocks noChangeArrowheads="1"/>
          </p:cNvSpPr>
          <p:nvPr/>
        </p:nvSpPr>
        <p:spPr bwMode="auto">
          <a:xfrm>
            <a:off x="451604" y="1134406"/>
            <a:ext cx="8441553" cy="360040"/>
          </a:xfrm>
          <a:prstGeom prst="rect">
            <a:avLst/>
          </a:prstGeom>
          <a:solidFill>
            <a:schemeClr val="accent5"/>
          </a:solidFill>
          <a:ln w="9525">
            <a:no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graphicFrame>
        <p:nvGraphicFramePr>
          <p:cNvPr id="19458" name="Group 2"/>
          <p:cNvGraphicFramePr>
            <a:graphicFrameLocks noGrp="1"/>
          </p:cNvGraphicFramePr>
          <p:nvPr>
            <p:extLst>
              <p:ext uri="{D42A27DB-BD31-4B8C-83A1-F6EECF244321}">
                <p14:modId xmlns:p14="http://schemas.microsoft.com/office/powerpoint/2010/main" val="1143191084"/>
              </p:ext>
            </p:extLst>
          </p:nvPr>
        </p:nvGraphicFramePr>
        <p:xfrm>
          <a:off x="445154" y="1124744"/>
          <a:ext cx="8448003" cy="5520169"/>
        </p:xfrm>
        <a:graphic>
          <a:graphicData uri="http://schemas.openxmlformats.org/drawingml/2006/table">
            <a:tbl>
              <a:tblPr/>
              <a:tblGrid>
                <a:gridCol w="926579">
                  <a:extLst>
                    <a:ext uri="{9D8B030D-6E8A-4147-A177-3AD203B41FA5}">
                      <a16:colId xmlns:a16="http://schemas.microsoft.com/office/drawing/2014/main" val="20000"/>
                    </a:ext>
                  </a:extLst>
                </a:gridCol>
                <a:gridCol w="1287927">
                  <a:extLst>
                    <a:ext uri="{9D8B030D-6E8A-4147-A177-3AD203B41FA5}">
                      <a16:colId xmlns:a16="http://schemas.microsoft.com/office/drawing/2014/main" val="20001"/>
                    </a:ext>
                  </a:extLst>
                </a:gridCol>
                <a:gridCol w="5605135">
                  <a:extLst>
                    <a:ext uri="{9D8B030D-6E8A-4147-A177-3AD203B41FA5}">
                      <a16:colId xmlns:a16="http://schemas.microsoft.com/office/drawing/2014/main" val="20002"/>
                    </a:ext>
                  </a:extLst>
                </a:gridCol>
                <a:gridCol w="628362">
                  <a:extLst>
                    <a:ext uri="{9D8B030D-6E8A-4147-A177-3AD203B41FA5}">
                      <a16:colId xmlns:a16="http://schemas.microsoft.com/office/drawing/2014/main" val="20003"/>
                    </a:ext>
                  </a:extLst>
                </a:gridCol>
              </a:tblGrid>
              <a:tr h="432048">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Rating</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Cp or Cpk</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Evaluation/ Action of Process Capability</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Improve</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04699">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4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Special</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2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Cp≥1.67</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Process capability is sufficient.</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Focus efforts on maintenance and share </a:t>
                      </a: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management measures</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rowSpan="5">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4612">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7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1 Grade</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11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1.67&gt;Cp ≥1.33</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100000"/>
                        </a:lnSpc>
                        <a:spcBef>
                          <a:spcPct val="20000"/>
                        </a:spcBef>
                        <a:spcAft>
                          <a:spcPct val="0"/>
                        </a:spcAft>
                        <a:buClrTx/>
                        <a:buSzTx/>
                        <a:buFontTx/>
                        <a:buNone/>
                        <a:tabLst/>
                        <a:defRPr/>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Process capability is sufficient.</a:t>
                      </a:r>
                    </a:p>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Keeping it in ideal condition, and promoting continual Improvement.</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2"/>
                  </a:ext>
                </a:extLst>
              </a:tr>
              <a:tr h="1035671">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ctr" defTabSz="914400" rtl="0" eaLnBrk="1" fontAlgn="base" latinLnBrk="1" hangingPunct="1">
                        <a:lnSpc>
                          <a:spcPct val="14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2 Grade</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21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1.33 &gt;Cp</a:t>
                      </a:r>
                    </a:p>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≥1.00</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*Process capability is okay.</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ko-KR" altLang="en-US"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Maintain management status by thoroughly managing the process.</a:t>
                      </a:r>
                    </a:p>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0" i="0" u="none" strike="noStrike" kern="1200" cap="none" normalizeH="0" baseline="0" dirty="0">
                          <a:ln>
                            <a:noFill/>
                          </a:ln>
                          <a:solidFill>
                            <a:schemeClr val="tx1"/>
                          </a:solidFill>
                          <a:effectLst/>
                          <a:latin typeface="굴림" pitchFamily="50" charset="-127"/>
                          <a:ea typeface="굴림" pitchFamily="50" charset="-127"/>
                          <a:cs typeface="+mn-cs"/>
                        </a:rPr>
                        <a:t>    If Cp is close to 1, there is a risk of generation of defective </a:t>
                      </a:r>
                    </a:p>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0" i="0" u="none" strike="noStrike" kern="1200" cap="none" normalizeH="0" baseline="0" dirty="0">
                          <a:ln>
                            <a:noFill/>
                          </a:ln>
                          <a:solidFill>
                            <a:schemeClr val="tx1"/>
                          </a:solidFill>
                          <a:effectLst/>
                          <a:latin typeface="굴림" pitchFamily="50" charset="-127"/>
                          <a:ea typeface="굴림" pitchFamily="50" charset="-127"/>
                          <a:cs typeface="+mn-cs"/>
                        </a:rPr>
                        <a:t>    products, so take measures as necessary.</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3"/>
                  </a:ext>
                </a:extLst>
              </a:tr>
              <a:tr h="881093">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22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3 Grade</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16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1.00 &gt;Cp</a:t>
                      </a:r>
                    </a:p>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≥0.67 </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Lack of process capability.</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ko-KR" altLang="en-US"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Defective products are being generated</a:t>
                      </a:r>
                    </a:p>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Need management and improvement of process</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4"/>
                  </a:ext>
                </a:extLst>
              </a:tr>
              <a:tr h="1159333">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33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4 Grade</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l" defTabSz="914400" rtl="0" eaLnBrk="1" fontAlgn="base" latinLnBrk="1" hangingPunct="1">
                        <a:lnSpc>
                          <a:spcPct val="33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0.67 &gt;Cp</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The process capability is very poor.</a:t>
                      </a:r>
                    </a:p>
                    <a:p>
                      <a:pPr marL="0" marR="0" lvl="0" indent="0" algn="just" defTabSz="914400" rtl="0" eaLnBrk="1" fontAlgn="base" latinLnBrk="1" hangingPunct="1">
                        <a:lnSpc>
                          <a:spcPct val="90000"/>
                        </a:lnSpc>
                        <a:spcBef>
                          <a:spcPct val="20000"/>
                        </a:spcBef>
                        <a:spcAft>
                          <a:spcPct val="0"/>
                        </a:spcAft>
                        <a:buClrTx/>
                        <a:buSzTx/>
                        <a:buFontTx/>
                        <a:buNone/>
                        <a:tabLst/>
                        <a:defRPr/>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It is not a state to satisfy quality.. </a:t>
                      </a: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Stop production, pursue the cause of improvement in quality, and </a:t>
                      </a: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take urgent measures.</a:t>
                      </a: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Or, review the specification.</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sp>
        <p:nvSpPr>
          <p:cNvPr id="23594" name="Line 42"/>
          <p:cNvSpPr>
            <a:spLocks noChangeShapeType="1"/>
          </p:cNvSpPr>
          <p:nvPr/>
        </p:nvSpPr>
        <p:spPr bwMode="auto">
          <a:xfrm flipV="1">
            <a:off x="8459788" y="1806575"/>
            <a:ext cx="0" cy="42672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7" name="Text Box 55"/>
          <p:cNvSpPr txBox="1">
            <a:spLocks noChangeArrowheads="1"/>
          </p:cNvSpPr>
          <p:nvPr/>
        </p:nvSpPr>
        <p:spPr bwMode="auto">
          <a:xfrm>
            <a:off x="369237" y="692696"/>
            <a:ext cx="75262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Criteria for Process Capability (General)</a:t>
            </a:r>
          </a:p>
        </p:txBody>
      </p:sp>
      <p:sp>
        <p:nvSpPr>
          <p:cNvPr id="10"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213</a:t>
            </a:fld>
            <a:endParaRPr lang="ko-KR" altLang="en-US" sz="1200" dirty="0"/>
          </a:p>
        </p:txBody>
      </p:sp>
      <p:sp>
        <p:nvSpPr>
          <p:cNvPr id="9"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332053381"/>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214</a:t>
            </a:fld>
            <a:endParaRPr lang="ko-KR" altLang="en-US" dirty="0"/>
          </a:p>
        </p:txBody>
      </p:sp>
      <p:pic>
        <p:nvPicPr>
          <p:cNvPr id="237977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02576" y="1628800"/>
            <a:ext cx="5140263"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8" y="980729"/>
            <a:ext cx="4165820" cy="412421"/>
          </a:xfrm>
          <a:prstGeom prst="rect">
            <a:avLst/>
          </a:prstGeom>
          <a:noFill/>
        </p:spPr>
        <p:txBody>
          <a:bodyPr wrap="none" rtlCol="0">
            <a:spAutoFit/>
          </a:bodyPr>
          <a:lstStyle/>
          <a:p>
            <a:pPr>
              <a:lnSpc>
                <a:spcPct val="130000"/>
              </a:lnSpc>
              <a:buClr>
                <a:srgbClr val="C5003D"/>
              </a:buClr>
            </a:pP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năng</a:t>
            </a:r>
            <a:r>
              <a:rPr lang="en-US" altLang="ko-KR" sz="1600" b="1" dirty="0"/>
              <a:t> </a:t>
            </a:r>
            <a:r>
              <a:rPr lang="en-US" altLang="ko-KR" sz="1600" b="1" dirty="0" err="1"/>
              <a:t>lực</a:t>
            </a:r>
            <a:r>
              <a:rPr lang="en-US" altLang="ko-KR" sz="1600" b="1" dirty="0"/>
              <a:t> process </a:t>
            </a:r>
            <a:r>
              <a:rPr lang="en-US" altLang="ko-KR" sz="1600" b="1" dirty="0" err="1"/>
              <a:t>cho</a:t>
            </a:r>
            <a:r>
              <a:rPr lang="en-US" altLang="ko-KR" sz="1600" b="1" dirty="0"/>
              <a:t> Case 3.  </a:t>
            </a:r>
            <a:endParaRPr lang="ko-KR" altLang="en-US" sz="1600" b="1" dirty="0"/>
          </a:p>
        </p:txBody>
      </p:sp>
      <p:sp>
        <p:nvSpPr>
          <p:cNvPr id="4" name="TextBox 3"/>
          <p:cNvSpPr txBox="1"/>
          <p:nvPr/>
        </p:nvSpPr>
        <p:spPr>
          <a:xfrm>
            <a:off x="7031351" y="2592096"/>
            <a:ext cx="838691" cy="372410"/>
          </a:xfrm>
          <a:prstGeom prst="rect">
            <a:avLst/>
          </a:prstGeom>
          <a:noFill/>
        </p:spPr>
        <p:txBody>
          <a:bodyPr wrap="none" rtlCol="0">
            <a:spAutoFit/>
          </a:bodyPr>
          <a:lstStyle/>
          <a:p>
            <a:pPr>
              <a:lnSpc>
                <a:spcPct val="130000"/>
              </a:lnSpc>
              <a:buClr>
                <a:srgbClr val="C5003D"/>
              </a:buClr>
            </a:pPr>
            <a:r>
              <a:rPr lang="en-US" altLang="ko-KR" sz="1400" b="1" dirty="0"/>
              <a:t>Pp, </a:t>
            </a:r>
            <a:r>
              <a:rPr lang="en-US" altLang="ko-KR" sz="1400" b="1" dirty="0" err="1"/>
              <a:t>Ppk</a:t>
            </a:r>
            <a:endParaRPr lang="ko-KR" altLang="en-US" sz="1400" b="1" dirty="0"/>
          </a:p>
        </p:txBody>
      </p:sp>
      <p:sp>
        <p:nvSpPr>
          <p:cNvPr id="7" name="TextBox 6"/>
          <p:cNvSpPr txBox="1"/>
          <p:nvPr/>
        </p:nvSpPr>
        <p:spPr>
          <a:xfrm>
            <a:off x="7031351" y="3356992"/>
            <a:ext cx="848309" cy="372410"/>
          </a:xfrm>
          <a:prstGeom prst="rect">
            <a:avLst/>
          </a:prstGeom>
          <a:noFill/>
        </p:spPr>
        <p:txBody>
          <a:bodyPr wrap="none" rtlCol="0">
            <a:spAutoFit/>
          </a:bodyPr>
          <a:lstStyle/>
          <a:p>
            <a:pPr>
              <a:lnSpc>
                <a:spcPct val="130000"/>
              </a:lnSpc>
              <a:buClr>
                <a:srgbClr val="C5003D"/>
              </a:buClr>
            </a:pPr>
            <a:r>
              <a:rPr lang="en-US" altLang="ko-KR" sz="1400" b="1" dirty="0" err="1"/>
              <a:t>Cp</a:t>
            </a:r>
            <a:r>
              <a:rPr lang="en-US" altLang="ko-KR" sz="1400" b="1" dirty="0"/>
              <a:t>, </a:t>
            </a:r>
            <a:r>
              <a:rPr lang="en-US" altLang="ko-KR" sz="1400" b="1" dirty="0" err="1"/>
              <a:t>Cpk</a:t>
            </a:r>
            <a:endParaRPr lang="ko-KR" altLang="en-US" sz="1400" b="1" dirty="0"/>
          </a:p>
        </p:txBody>
      </p:sp>
      <p:sp>
        <p:nvSpPr>
          <p:cNvPr id="8" name="TextBox 7"/>
          <p:cNvSpPr txBox="1"/>
          <p:nvPr/>
        </p:nvSpPr>
        <p:spPr>
          <a:xfrm>
            <a:off x="52113" y="2492897"/>
            <a:ext cx="2196050" cy="352404"/>
          </a:xfrm>
          <a:prstGeom prst="rect">
            <a:avLst/>
          </a:prstGeom>
          <a:noFill/>
        </p:spPr>
        <p:txBody>
          <a:bodyPr wrap="none" rtlCol="0">
            <a:spAutoFit/>
          </a:bodyPr>
          <a:lstStyle/>
          <a:p>
            <a:pPr>
              <a:lnSpc>
                <a:spcPct val="130000"/>
              </a:lnSpc>
              <a:buClr>
                <a:srgbClr val="C5003D"/>
              </a:buClr>
            </a:pPr>
            <a:r>
              <a:rPr lang="en-US" altLang="ko-KR" sz="1300" b="1" dirty="0" err="1"/>
              <a:t>Độ</a:t>
            </a:r>
            <a:r>
              <a:rPr lang="en-US" altLang="ko-KR" sz="1300" b="1" dirty="0"/>
              <a:t> </a:t>
            </a:r>
            <a:r>
              <a:rPr lang="en-US" altLang="ko-KR" sz="1300" b="1" dirty="0" err="1"/>
              <a:t>lệch</a:t>
            </a:r>
            <a:r>
              <a:rPr lang="en-US" altLang="ko-KR" sz="1300" b="1" dirty="0"/>
              <a:t> </a:t>
            </a:r>
            <a:r>
              <a:rPr lang="en-US" altLang="ko-KR" sz="1300" b="1" dirty="0" err="1"/>
              <a:t>tiêu</a:t>
            </a:r>
            <a:r>
              <a:rPr lang="en-US" altLang="ko-KR" sz="1300" b="1" dirty="0"/>
              <a:t> </a:t>
            </a:r>
            <a:r>
              <a:rPr lang="en-US" altLang="ko-KR" sz="1300" b="1" dirty="0" err="1"/>
              <a:t>chuẩn</a:t>
            </a:r>
            <a:r>
              <a:rPr lang="en-US" altLang="ko-KR" sz="1300" b="1" dirty="0"/>
              <a:t>(Total)</a:t>
            </a:r>
            <a:endParaRPr lang="ko-KR" altLang="en-US" sz="1300" b="1" dirty="0"/>
          </a:p>
        </p:txBody>
      </p:sp>
      <p:sp>
        <p:nvSpPr>
          <p:cNvPr id="9" name="TextBox 8"/>
          <p:cNvSpPr txBox="1"/>
          <p:nvPr/>
        </p:nvSpPr>
        <p:spPr>
          <a:xfrm>
            <a:off x="7097820" y="1988841"/>
            <a:ext cx="1821909" cy="412421"/>
          </a:xfrm>
          <a:prstGeom prst="rect">
            <a:avLst/>
          </a:prstGeom>
          <a:noFill/>
        </p:spPr>
        <p:txBody>
          <a:bodyPr wrap="none" rtlCol="0">
            <a:spAutoFit/>
          </a:bodyPr>
          <a:lstStyle/>
          <a:p>
            <a:pPr>
              <a:lnSpc>
                <a:spcPct val="130000"/>
              </a:lnSpc>
              <a:buClr>
                <a:srgbClr val="C5003D"/>
              </a:buClr>
            </a:pPr>
            <a:r>
              <a:rPr lang="en-US" altLang="ko-KR" sz="1600" b="1" dirty="0" err="1"/>
              <a:t>năng</a:t>
            </a:r>
            <a:r>
              <a:rPr lang="en-US" altLang="ko-KR" sz="1600" b="1" dirty="0"/>
              <a:t> </a:t>
            </a:r>
            <a:r>
              <a:rPr lang="en-US" altLang="ko-KR" sz="1600" b="1" dirty="0" err="1"/>
              <a:t>lực</a:t>
            </a:r>
            <a:r>
              <a:rPr lang="en-US" altLang="ko-KR" sz="1600" b="1" dirty="0"/>
              <a:t> process</a:t>
            </a:r>
            <a:endParaRPr lang="ko-KR" altLang="en-US" sz="1600" b="1" dirty="0"/>
          </a:p>
        </p:txBody>
      </p:sp>
      <p:sp>
        <p:nvSpPr>
          <p:cNvPr id="10" name="TextBox 9"/>
          <p:cNvSpPr txBox="1"/>
          <p:nvPr/>
        </p:nvSpPr>
        <p:spPr>
          <a:xfrm>
            <a:off x="52114" y="2852937"/>
            <a:ext cx="1808508" cy="652486"/>
          </a:xfrm>
          <a:prstGeom prst="rect">
            <a:avLst/>
          </a:prstGeom>
          <a:noFill/>
        </p:spPr>
        <p:txBody>
          <a:bodyPr wrap="none" rtlCol="0">
            <a:spAutoFit/>
          </a:bodyPr>
          <a:lstStyle/>
          <a:p>
            <a:pPr>
              <a:lnSpc>
                <a:spcPct val="130000"/>
              </a:lnSpc>
              <a:buClr>
                <a:srgbClr val="C5003D"/>
              </a:buClr>
            </a:pPr>
            <a:r>
              <a:rPr lang="en-US" altLang="ko-KR" sz="1400" b="1" dirty="0" err="1"/>
              <a:t>Độ</a:t>
            </a:r>
            <a:r>
              <a:rPr lang="en-US" altLang="ko-KR" sz="1400" b="1" dirty="0"/>
              <a:t> </a:t>
            </a:r>
            <a:r>
              <a:rPr lang="en-US" altLang="ko-KR" sz="1400" b="1" dirty="0" err="1"/>
              <a:t>lệch</a:t>
            </a:r>
            <a:r>
              <a:rPr lang="en-US" altLang="ko-KR" sz="1400" b="1" dirty="0"/>
              <a:t> </a:t>
            </a:r>
            <a:r>
              <a:rPr lang="en-US" altLang="ko-KR" sz="1400" b="1" dirty="0" err="1"/>
              <a:t>tiêu</a:t>
            </a:r>
            <a:r>
              <a:rPr lang="en-US" altLang="ko-KR" sz="1400" b="1" dirty="0"/>
              <a:t> </a:t>
            </a:r>
            <a:r>
              <a:rPr lang="en-US" altLang="ko-KR" sz="1400" b="1" dirty="0" err="1"/>
              <a:t>chuẩn</a:t>
            </a:r>
            <a:endParaRPr lang="en-US" altLang="ko-KR" sz="1400" b="1" dirty="0"/>
          </a:p>
          <a:p>
            <a:pPr>
              <a:lnSpc>
                <a:spcPct val="130000"/>
              </a:lnSpc>
              <a:buClr>
                <a:srgbClr val="C5003D"/>
              </a:buClr>
            </a:pPr>
            <a:r>
              <a:rPr lang="en-US" altLang="ko-KR" sz="1400" b="1" dirty="0"/>
              <a:t>(</a:t>
            </a:r>
            <a:r>
              <a:rPr lang="en-US" altLang="ko-KR" sz="1400" b="1" dirty="0" err="1"/>
              <a:t>trong</a:t>
            </a:r>
            <a:r>
              <a:rPr lang="en-US" altLang="ko-KR" sz="1400" b="1" dirty="0"/>
              <a:t> </a:t>
            </a:r>
            <a:r>
              <a:rPr lang="en-US" altLang="ko-KR" sz="1400" b="1" dirty="0" err="1"/>
              <a:t>nhóm</a:t>
            </a:r>
            <a:r>
              <a:rPr lang="en-US" altLang="ko-KR" sz="1400" b="1" dirty="0"/>
              <a:t>)</a:t>
            </a:r>
            <a:endParaRPr lang="ko-KR" altLang="en-US" sz="1400" b="1" dirty="0"/>
          </a:p>
        </p:txBody>
      </p:sp>
      <p:sp>
        <p:nvSpPr>
          <p:cNvPr id="11"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841704400"/>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50"/>
          <p:cNvSpPr>
            <a:spLocks noChangeArrowheads="1"/>
          </p:cNvSpPr>
          <p:nvPr/>
        </p:nvSpPr>
        <p:spPr bwMode="auto">
          <a:xfrm>
            <a:off x="451604" y="1134406"/>
            <a:ext cx="8441553" cy="360040"/>
          </a:xfrm>
          <a:prstGeom prst="rect">
            <a:avLst/>
          </a:prstGeom>
          <a:solidFill>
            <a:schemeClr val="accent5"/>
          </a:solidFill>
          <a:ln w="9525">
            <a:no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graphicFrame>
        <p:nvGraphicFramePr>
          <p:cNvPr id="19458" name="Group 2"/>
          <p:cNvGraphicFramePr>
            <a:graphicFrameLocks noGrp="1"/>
          </p:cNvGraphicFramePr>
          <p:nvPr>
            <p:extLst>
              <p:ext uri="{D42A27DB-BD31-4B8C-83A1-F6EECF244321}">
                <p14:modId xmlns:p14="http://schemas.microsoft.com/office/powerpoint/2010/main" val="1143191084"/>
              </p:ext>
            </p:extLst>
          </p:nvPr>
        </p:nvGraphicFramePr>
        <p:xfrm>
          <a:off x="445154" y="1124744"/>
          <a:ext cx="8448004" cy="5243673"/>
        </p:xfrm>
        <a:graphic>
          <a:graphicData uri="http://schemas.openxmlformats.org/drawingml/2006/table">
            <a:tbl>
              <a:tblPr/>
              <a:tblGrid>
                <a:gridCol w="926579">
                  <a:extLst>
                    <a:ext uri="{9D8B030D-6E8A-4147-A177-3AD203B41FA5}">
                      <a16:colId xmlns:a16="http://schemas.microsoft.com/office/drawing/2014/main" val="20000"/>
                    </a:ext>
                  </a:extLst>
                </a:gridCol>
                <a:gridCol w="1671482">
                  <a:extLst>
                    <a:ext uri="{9D8B030D-6E8A-4147-A177-3AD203B41FA5}">
                      <a16:colId xmlns:a16="http://schemas.microsoft.com/office/drawing/2014/main" val="20001"/>
                    </a:ext>
                  </a:extLst>
                </a:gridCol>
                <a:gridCol w="5129988">
                  <a:extLst>
                    <a:ext uri="{9D8B030D-6E8A-4147-A177-3AD203B41FA5}">
                      <a16:colId xmlns:a16="http://schemas.microsoft.com/office/drawing/2014/main" val="20002"/>
                    </a:ext>
                  </a:extLst>
                </a:gridCol>
                <a:gridCol w="719955">
                  <a:extLst>
                    <a:ext uri="{9D8B030D-6E8A-4147-A177-3AD203B41FA5}">
                      <a16:colId xmlns:a16="http://schemas.microsoft.com/office/drawing/2014/main" val="20003"/>
                    </a:ext>
                  </a:extLst>
                </a:gridCol>
              </a:tblGrid>
              <a:tr h="432048">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Cấp</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bậc</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Cp or Cpk</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Đánh</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giá</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của</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năng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process</a:t>
                      </a:r>
                      <a:r>
                        <a:rPr kumimoji="1" lang="ko-KR" altLang="en-US"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xử</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lý</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Cải</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thiện</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04699">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4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Cấp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đặc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biệt</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2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Cp≥1.67</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Năng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process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đầy</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đủ</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Tập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trung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nỗ</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quản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duy</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trì</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chia</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sẻ</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phương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án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quản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rowSpan="5">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l" defTabSz="914400" rtl="0" eaLnBrk="1" fontAlgn="base" latinLnBrk="1" hangingPunct="1">
                        <a:lnSpc>
                          <a:spcPct val="100000"/>
                        </a:lnSpc>
                        <a:spcBef>
                          <a:spcPct val="20000"/>
                        </a:spcBef>
                        <a:spcAft>
                          <a:spcPct val="0"/>
                        </a:spcAft>
                        <a:buClrTx/>
                        <a:buSzTx/>
                        <a:buFontTx/>
                        <a:buNone/>
                        <a:tabLst/>
                      </a:pPr>
                      <a:endParaRPr kumimoji="1" lang="ko-KR"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64612">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7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Cấp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1</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11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1.67&gt;Cp ≥1.33</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Năng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process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đầy</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đủ</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a:t>
                      </a:r>
                    </a:p>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Duy</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trì</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tình</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trạng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tưởng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xúc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tiến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liên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tục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biện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pháp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cải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thiện</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2"/>
                  </a:ext>
                </a:extLst>
              </a:tr>
              <a:tr h="1035671">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ctr" defTabSz="914400" rtl="0" eaLnBrk="1" fontAlgn="base" latinLnBrk="1" hangingPunct="1">
                        <a:lnSpc>
                          <a:spcPct val="14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Cấp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2</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21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1.33 &gt;Cp</a:t>
                      </a:r>
                    </a:p>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≥1.00</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Năng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process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được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bình</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thường</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ko-KR" altLang="en-US"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Quản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process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triệt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để</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duy</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trì</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tình</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trạng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quản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lí</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Nếu</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Cp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mà</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gần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tới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1,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tức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là</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có</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sự</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lo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lắng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về</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việc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phát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sinh</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phẩm</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không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đạt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chất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lượng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cần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đưa</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ra</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biện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pháp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xử</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nếu</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cần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thiết</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3"/>
                  </a:ext>
                </a:extLst>
              </a:tr>
              <a:tr h="881093">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22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Cấp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3</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16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1.00 &gt;Cp</a:t>
                      </a:r>
                    </a:p>
                    <a:p>
                      <a:pPr marL="0" marR="0" lvl="0" indent="0" algn="just" defTabSz="914400" rtl="0" eaLnBrk="1" fontAlgn="base" latinLnBrk="1" hangingPunct="1">
                        <a:lnSpc>
                          <a:spcPct val="10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≥0.67 </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Năng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quản</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không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đủ</a:t>
                      </a:r>
                      <a:endParaRPr kumimoji="1" lang="ko-KR" altLang="en-US" sz="1400" b="1"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ko-KR" altLang="en-US"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Đang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phát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sinh</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phẩm</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không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đạt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chất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lượng</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Phân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loại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toàn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bộ,quản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lý</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triệt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để</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toàn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bộ</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process,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cần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thiết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phải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cải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thiện</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4"/>
                  </a:ext>
                </a:extLst>
              </a:tr>
              <a:tr h="1159333">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ctr" defTabSz="914400" rtl="0" eaLnBrk="1" fontAlgn="base" latinLnBrk="1" hangingPunct="1">
                        <a:lnSpc>
                          <a:spcPct val="33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Cấp</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4</a:t>
                      </a:r>
                      <a:endParaRPr kumimoji="1" lang="ko-KR" altLang="en-US" sz="1400" b="0" i="0" u="none" strike="noStrike" cap="none" normalizeH="0" baseline="0" dirty="0">
                        <a:ln>
                          <a:noFill/>
                        </a:ln>
                        <a:solidFill>
                          <a:schemeClr val="tx1"/>
                        </a:solidFill>
                        <a:effectLst/>
                        <a:latin typeface="굴림" pitchFamily="50" charset="-127"/>
                        <a:ea typeface="굴림" pitchFamily="50" charset="-127"/>
                      </a:endParaRP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l" defTabSz="914400" rtl="0" eaLnBrk="1" fontAlgn="base" latinLnBrk="1" hangingPunct="1">
                        <a:lnSpc>
                          <a:spcPct val="330000"/>
                        </a:lnSpc>
                        <a:spcBef>
                          <a:spcPct val="20000"/>
                        </a:spcBef>
                        <a:spcAft>
                          <a:spcPct val="0"/>
                        </a:spcAft>
                        <a:buClrTx/>
                        <a:buSzTx/>
                        <a:buFontTx/>
                        <a:buNone/>
                        <a:tabLst/>
                      </a:pPr>
                      <a:r>
                        <a:rPr kumimoji="1" lang="en-US" altLang="ko-KR" sz="1400" b="0" i="0" u="none" strike="noStrike" cap="none" normalizeH="0" baseline="0" dirty="0">
                          <a:ln>
                            <a:noFill/>
                          </a:ln>
                          <a:solidFill>
                            <a:schemeClr val="tx1"/>
                          </a:solidFill>
                          <a:effectLst/>
                          <a:latin typeface="굴림" pitchFamily="50" charset="-127"/>
                          <a:ea typeface="굴림" pitchFamily="50" charset="-127"/>
                        </a:rPr>
                        <a:t>    0.67 &gt;Cp</a:t>
                      </a:r>
                    </a:p>
                  </a:txBody>
                  <a:tcPr marT="45722" marB="4572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kumimoji="1" sz="2800">
                          <a:solidFill>
                            <a:schemeClr val="tx1"/>
                          </a:solidFill>
                          <a:latin typeface="굴림" pitchFamily="50" charset="-127"/>
                          <a:ea typeface="굴림" pitchFamily="50" charset="-127"/>
                        </a:defRPr>
                      </a:lvl1pPr>
                      <a:lvl2pPr>
                        <a:spcBef>
                          <a:spcPct val="20000"/>
                        </a:spcBef>
                        <a:defRPr kumimoji="1" sz="2400">
                          <a:solidFill>
                            <a:schemeClr val="tx1"/>
                          </a:solidFill>
                          <a:latin typeface="굴림" pitchFamily="50" charset="-127"/>
                          <a:ea typeface="굴림" pitchFamily="50" charset="-127"/>
                        </a:defRPr>
                      </a:lvl2pPr>
                      <a:lvl3pPr>
                        <a:spcBef>
                          <a:spcPct val="20000"/>
                        </a:spcBef>
                        <a:defRPr kumimoji="1" sz="2000">
                          <a:solidFill>
                            <a:schemeClr val="tx1"/>
                          </a:solidFill>
                          <a:latin typeface="굴림" pitchFamily="50" charset="-127"/>
                          <a:ea typeface="굴림" pitchFamily="50" charset="-127"/>
                        </a:defRPr>
                      </a:lvl3pPr>
                      <a:lvl4pPr>
                        <a:spcBef>
                          <a:spcPct val="20000"/>
                        </a:spcBef>
                        <a:defRPr kumimoji="1">
                          <a:solidFill>
                            <a:schemeClr val="tx1"/>
                          </a:solidFill>
                          <a:latin typeface="굴림" pitchFamily="50" charset="-127"/>
                          <a:ea typeface="굴림" pitchFamily="50" charset="-127"/>
                        </a:defRPr>
                      </a:lvl4pPr>
                      <a:lvl5pPr>
                        <a:spcBef>
                          <a:spcPct val="20000"/>
                        </a:spcBef>
                        <a:defRPr kumimoji="1">
                          <a:solidFill>
                            <a:schemeClr val="tx1"/>
                          </a:solidFill>
                          <a:latin typeface="굴림" pitchFamily="50" charset="-127"/>
                          <a:ea typeface="굴림" pitchFamily="50" charset="-127"/>
                        </a:defRPr>
                      </a:lvl5pPr>
                      <a:lvl6pPr fontAlgn="base">
                        <a:spcBef>
                          <a:spcPct val="20000"/>
                        </a:spcBef>
                        <a:spcAft>
                          <a:spcPct val="0"/>
                        </a:spcAft>
                        <a:defRPr kumimoji="1">
                          <a:solidFill>
                            <a:schemeClr val="tx1"/>
                          </a:solidFill>
                          <a:latin typeface="굴림" pitchFamily="50" charset="-127"/>
                          <a:ea typeface="굴림" pitchFamily="50" charset="-127"/>
                        </a:defRPr>
                      </a:lvl6pPr>
                      <a:lvl7pPr fontAlgn="base">
                        <a:spcBef>
                          <a:spcPct val="20000"/>
                        </a:spcBef>
                        <a:spcAft>
                          <a:spcPct val="0"/>
                        </a:spcAft>
                        <a:defRPr kumimoji="1">
                          <a:solidFill>
                            <a:schemeClr val="tx1"/>
                          </a:solidFill>
                          <a:latin typeface="굴림" pitchFamily="50" charset="-127"/>
                          <a:ea typeface="굴림" pitchFamily="50" charset="-127"/>
                        </a:defRPr>
                      </a:lvl7pPr>
                      <a:lvl8pPr fontAlgn="base">
                        <a:spcBef>
                          <a:spcPct val="20000"/>
                        </a:spcBef>
                        <a:spcAft>
                          <a:spcPct val="0"/>
                        </a:spcAft>
                        <a:defRPr kumimoji="1">
                          <a:solidFill>
                            <a:schemeClr val="tx1"/>
                          </a:solidFill>
                          <a:latin typeface="굴림" pitchFamily="50" charset="-127"/>
                          <a:ea typeface="굴림" pitchFamily="50" charset="-127"/>
                        </a:defRPr>
                      </a:lvl8pPr>
                      <a:lvl9pPr fontAlgn="base">
                        <a:spcBef>
                          <a:spcPct val="20000"/>
                        </a:spcBef>
                        <a:spcAft>
                          <a:spcPct val="0"/>
                        </a:spcAft>
                        <a:defRPr kumimoji="1">
                          <a:solidFill>
                            <a:schemeClr val="tx1"/>
                          </a:solidFill>
                          <a:latin typeface="굴림" pitchFamily="50" charset="-127"/>
                          <a:ea typeface="굴림" pitchFamily="50" charset="-127"/>
                        </a:defRPr>
                      </a:lvl9pPr>
                    </a:lstStyle>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굴림" pitchFamily="50" charset="-127"/>
                          <a:ea typeface="굴림" pitchFamily="50" charset="-127"/>
                        </a:rPr>
                        <a:t>  *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Năng</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lực</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process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thiếu</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hụt</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trầm</a:t>
                      </a:r>
                      <a:r>
                        <a:rPr kumimoji="1" lang="en-US" altLang="ko-KR" sz="1400" b="1"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1" i="0" u="none" strike="noStrike" cap="none" normalizeH="0" baseline="0" dirty="0" err="1">
                          <a:ln>
                            <a:noFill/>
                          </a:ln>
                          <a:solidFill>
                            <a:schemeClr val="tx1"/>
                          </a:solidFill>
                          <a:effectLst/>
                          <a:latin typeface="굴림" pitchFamily="50" charset="-127"/>
                          <a:ea typeface="굴림" pitchFamily="50" charset="-127"/>
                        </a:rPr>
                        <a:t>trọng</a:t>
                      </a:r>
                      <a:endParaRPr kumimoji="1" lang="en-US" altLang="ko-KR" sz="1400" b="1"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Không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phải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trạng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thái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thỏa</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mãn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được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các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tiêu</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chuẩn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chất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lượng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dừng</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sản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xuất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cần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thiết</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đối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sách</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khẩn</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cấp</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p>
                      <a:pPr marL="0" marR="0" lvl="0" indent="0" algn="just" defTabSz="914400" rtl="0" eaLnBrk="1" fontAlgn="base" latinLnBrk="1" hangingPunct="1">
                        <a:lnSpc>
                          <a:spcPct val="90000"/>
                        </a:lnSpc>
                        <a:spcBef>
                          <a:spcPct val="20000"/>
                        </a:spcBef>
                        <a:spcAft>
                          <a:spcPct val="0"/>
                        </a:spcAft>
                        <a:buClrTx/>
                        <a:buSzTx/>
                        <a:buFontTx/>
                        <a:buNone/>
                        <a:tabLst/>
                      </a:pP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Hoặc</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kiểm</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tra</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lại</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quy</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cách</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tiêu</a:t>
                      </a:r>
                      <a:r>
                        <a:rPr kumimoji="1" lang="en-US" altLang="ko-KR" sz="1400" b="0" i="0" u="none" strike="noStrike" cap="none" normalizeH="0" baseline="0" dirty="0">
                          <a:ln>
                            <a:noFill/>
                          </a:ln>
                          <a:solidFill>
                            <a:schemeClr val="tx1"/>
                          </a:solidFill>
                          <a:effectLst/>
                          <a:latin typeface="굴림" pitchFamily="50" charset="-127"/>
                          <a:ea typeface="굴림" pitchFamily="50" charset="-127"/>
                        </a:rPr>
                        <a:t> </a:t>
                      </a:r>
                      <a:r>
                        <a:rPr kumimoji="1" lang="en-US" altLang="ko-KR" sz="1400" b="0" i="0" u="none" strike="noStrike" cap="none" normalizeH="0" baseline="0" dirty="0" err="1">
                          <a:ln>
                            <a:noFill/>
                          </a:ln>
                          <a:solidFill>
                            <a:schemeClr val="tx1"/>
                          </a:solidFill>
                          <a:effectLst/>
                          <a:latin typeface="굴림" pitchFamily="50" charset="-127"/>
                          <a:ea typeface="굴림" pitchFamily="50" charset="-127"/>
                        </a:rPr>
                        <a:t>chuẩn</a:t>
                      </a:r>
                      <a:endParaRPr kumimoji="1" lang="en-US" altLang="ko-KR" sz="1400" b="0" i="0" u="none" strike="noStrike" cap="none" normalizeH="0" baseline="0" dirty="0">
                        <a:ln>
                          <a:noFill/>
                        </a:ln>
                        <a:solidFill>
                          <a:schemeClr val="tx1"/>
                        </a:solidFill>
                        <a:effectLst/>
                        <a:latin typeface="굴림" pitchFamily="50" charset="-127"/>
                        <a:ea typeface="굴림" pitchFamily="50" charset="-127"/>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sp>
        <p:nvSpPr>
          <p:cNvPr id="23594" name="Line 42"/>
          <p:cNvSpPr>
            <a:spLocks noChangeShapeType="1"/>
          </p:cNvSpPr>
          <p:nvPr/>
        </p:nvSpPr>
        <p:spPr bwMode="auto">
          <a:xfrm flipV="1">
            <a:off x="8459788" y="1806575"/>
            <a:ext cx="0" cy="42672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ko-KR" altLang="en-US" dirty="0"/>
          </a:p>
        </p:txBody>
      </p:sp>
      <p:sp>
        <p:nvSpPr>
          <p:cNvPr id="7" name="Text Box 55"/>
          <p:cNvSpPr txBox="1">
            <a:spLocks noChangeArrowheads="1"/>
          </p:cNvSpPr>
          <p:nvPr/>
        </p:nvSpPr>
        <p:spPr bwMode="auto">
          <a:xfrm>
            <a:off x="369237" y="692696"/>
            <a:ext cx="752621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Tiêu</a:t>
            </a:r>
            <a:r>
              <a:rPr lang="en-US" altLang="ko-KR" sz="1600" b="1" baseline="0" dirty="0">
                <a:solidFill>
                  <a:srgbClr val="000000"/>
                </a:solidFill>
              </a:rPr>
              <a:t> </a:t>
            </a:r>
            <a:r>
              <a:rPr lang="en-US" altLang="ko-KR" sz="1600" b="1" baseline="0" dirty="0" err="1">
                <a:solidFill>
                  <a:srgbClr val="000000"/>
                </a:solidFill>
              </a:rPr>
              <a:t>chuẩn</a:t>
            </a:r>
            <a:r>
              <a:rPr lang="en-US" altLang="ko-KR" sz="1600" b="1" baseline="0" dirty="0">
                <a:solidFill>
                  <a:srgbClr val="000000"/>
                </a:solidFill>
              </a:rPr>
              <a:t> </a:t>
            </a:r>
            <a:r>
              <a:rPr lang="en-US" altLang="ko-KR" sz="1600" b="1" baseline="0" dirty="0" err="1">
                <a:solidFill>
                  <a:srgbClr val="000000"/>
                </a:solidFill>
              </a:rPr>
              <a:t>đánh</a:t>
            </a:r>
            <a:r>
              <a:rPr lang="en-US" altLang="ko-KR" sz="1600" b="1" baseline="0" dirty="0">
                <a:solidFill>
                  <a:srgbClr val="000000"/>
                </a:solidFill>
              </a:rPr>
              <a:t> </a:t>
            </a:r>
            <a:r>
              <a:rPr lang="en-US" altLang="ko-KR" sz="1600" b="1" baseline="0" dirty="0" err="1">
                <a:solidFill>
                  <a:srgbClr val="000000"/>
                </a:solidFill>
              </a:rPr>
              <a:t>giá</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process (</a:t>
            </a:r>
            <a:r>
              <a:rPr lang="en-US" altLang="ko-KR" sz="1600" b="1" baseline="0" dirty="0" err="1">
                <a:solidFill>
                  <a:srgbClr val="000000"/>
                </a:solidFill>
              </a:rPr>
              <a:t>thông</a:t>
            </a:r>
            <a:r>
              <a:rPr lang="en-US" altLang="ko-KR" sz="1600" b="1" baseline="0" dirty="0">
                <a:solidFill>
                  <a:srgbClr val="000000"/>
                </a:solidFill>
              </a:rPr>
              <a:t> </a:t>
            </a:r>
            <a:r>
              <a:rPr lang="en-US" altLang="ko-KR" sz="1600" b="1" baseline="0" dirty="0" err="1">
                <a:solidFill>
                  <a:srgbClr val="000000"/>
                </a:solidFill>
              </a:rPr>
              <a:t>thường</a:t>
            </a:r>
            <a:r>
              <a:rPr lang="en-US" altLang="ko-KR" sz="1600" b="1" baseline="0" dirty="0">
                <a:solidFill>
                  <a:srgbClr val="000000"/>
                </a:solidFill>
              </a:rPr>
              <a:t>)</a:t>
            </a:r>
          </a:p>
        </p:txBody>
      </p:sp>
      <p:sp>
        <p:nvSpPr>
          <p:cNvPr id="10"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215</a:t>
            </a:fld>
            <a:endParaRPr lang="ko-KR" altLang="en-US" sz="1200" dirty="0"/>
          </a:p>
        </p:txBody>
      </p:sp>
      <p:sp>
        <p:nvSpPr>
          <p:cNvPr id="9"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332053381"/>
      </p:ext>
    </p:extLst>
  </p:cSld>
  <p:clrMapOvr>
    <a:masterClrMapping/>
  </p:clrMapOvr>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3"/>
          <p:cNvGraphicFramePr>
            <a:graphicFrameLocks noGrp="1"/>
          </p:cNvGraphicFramePr>
          <p:nvPr>
            <p:extLst>
              <p:ext uri="{D42A27DB-BD31-4B8C-83A1-F6EECF244321}">
                <p14:modId xmlns:p14="http://schemas.microsoft.com/office/powerpoint/2010/main" val="843273913"/>
              </p:ext>
            </p:extLst>
          </p:nvPr>
        </p:nvGraphicFramePr>
        <p:xfrm>
          <a:off x="1843659" y="2598884"/>
          <a:ext cx="5121221" cy="3548666"/>
        </p:xfrm>
        <a:graphic>
          <a:graphicData uri="http://schemas.openxmlformats.org/drawingml/2006/table">
            <a:tbl>
              <a:tblPr firstRow="1" bandRow="1">
                <a:tableStyleId>{5C22544A-7EE6-4342-B048-85BDC9FD1C3A}</a:tableStyleId>
              </a:tblPr>
              <a:tblGrid>
                <a:gridCol w="1686251">
                  <a:extLst>
                    <a:ext uri="{9D8B030D-6E8A-4147-A177-3AD203B41FA5}">
                      <a16:colId xmlns:a16="http://schemas.microsoft.com/office/drawing/2014/main" val="20000"/>
                    </a:ext>
                  </a:extLst>
                </a:gridCol>
                <a:gridCol w="3434970">
                  <a:extLst>
                    <a:ext uri="{9D8B030D-6E8A-4147-A177-3AD203B41FA5}">
                      <a16:colId xmlns:a16="http://schemas.microsoft.com/office/drawing/2014/main" val="20001"/>
                    </a:ext>
                  </a:extLst>
                </a:gridCol>
              </a:tblGrid>
              <a:tr h="1835931">
                <a:tc>
                  <a:txBody>
                    <a:bodyPr/>
                    <a:lstStyle/>
                    <a:p>
                      <a:pPr algn="ctr" latinLnBrk="1"/>
                      <a:r>
                        <a:rPr lang="en-US" altLang="ko-KR" dirty="0">
                          <a:solidFill>
                            <a:schemeClr val="tx1"/>
                          </a:solidFill>
                        </a:rPr>
                        <a:t>Special Characteristics</a:t>
                      </a:r>
                      <a:endParaRPr lang="ko-KR" altLang="en-US" dirty="0">
                        <a:solidFill>
                          <a:schemeClr val="tx1"/>
                        </a:solidFill>
                      </a:endParaRPr>
                    </a:p>
                  </a:txBody>
                  <a:tcPr marL="84406" marR="8440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dirty="0"/>
                    </a:p>
                  </a:txBody>
                  <a:tcPr marL="84406" marR="84406">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12735">
                <a:tc>
                  <a:txBody>
                    <a:bodyPr/>
                    <a:lstStyle/>
                    <a:p>
                      <a:pPr algn="ctr" latinLnBrk="1"/>
                      <a:r>
                        <a:rPr lang="en-US" altLang="ko-KR" b="1" dirty="0">
                          <a:solidFill>
                            <a:schemeClr val="tx1"/>
                          </a:solidFill>
                        </a:rPr>
                        <a:t>General characteristics</a:t>
                      </a:r>
                      <a:endParaRPr lang="ko-KR" altLang="en-US" b="1" dirty="0">
                        <a:solidFill>
                          <a:schemeClr val="tx1"/>
                        </a:solidFill>
                      </a:endParaRPr>
                    </a:p>
                  </a:txBody>
                  <a:tcPr marL="84406" marR="8440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dirty="0"/>
                    </a:p>
                  </a:txBody>
                  <a:tcPr marL="84406" marR="84406">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bl>
          </a:graphicData>
        </a:graphic>
      </p:graphicFrame>
      <p:sp>
        <p:nvSpPr>
          <p:cNvPr id="30" name="Text Box 55"/>
          <p:cNvSpPr txBox="1">
            <a:spLocks noChangeArrowheads="1"/>
          </p:cNvSpPr>
          <p:nvPr/>
        </p:nvSpPr>
        <p:spPr bwMode="auto">
          <a:xfrm>
            <a:off x="251520" y="714182"/>
            <a:ext cx="73538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Criteria for Process Capability by Management Item</a:t>
            </a:r>
          </a:p>
        </p:txBody>
      </p:sp>
      <p:sp>
        <p:nvSpPr>
          <p:cNvPr id="52" name="Text Box 12"/>
          <p:cNvSpPr txBox="1">
            <a:spLocks noChangeArrowheads="1"/>
          </p:cNvSpPr>
          <p:nvPr/>
        </p:nvSpPr>
        <p:spPr bwMode="auto">
          <a:xfrm>
            <a:off x="5502565" y="3635458"/>
            <a:ext cx="1069975" cy="830997"/>
          </a:xfrm>
          <a:prstGeom prst="rect">
            <a:avLst/>
          </a:prstGeom>
          <a:noFill/>
          <a:ln>
            <a:noFill/>
          </a:ln>
          <a:effec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err="1">
                <a:latin typeface="Times New Roman" pitchFamily="18" charset="0"/>
                <a:cs typeface="Times New Roman" pitchFamily="18" charset="0"/>
              </a:rPr>
              <a:t>Xp</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2.0</a:t>
            </a:r>
          </a:p>
          <a:p>
            <a:pPr eaLnBrk="1" latinLnBrk="0" hangingPunct="1">
              <a:spcBef>
                <a:spcPct val="0"/>
              </a:spcBef>
              <a:buFontTx/>
              <a:buNone/>
            </a:pPr>
            <a:r>
              <a:rPr kumimoji="0" lang="en-US" altLang="ko-KR" sz="1600" b="1" dirty="0" err="1">
                <a:latin typeface="Times New Roman" pitchFamily="18" charset="0"/>
                <a:cs typeface="Times New Roman" pitchFamily="18" charset="0"/>
              </a:rPr>
              <a:t>Xpk</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1.67</a:t>
            </a:r>
            <a:endParaRPr kumimoji="0" lang="en-US" altLang="ko-KR" sz="1600" b="1" dirty="0">
              <a:latin typeface="Times New Roman" pitchFamily="18" charset="0"/>
              <a:cs typeface="Times New Roman" pitchFamily="18" charset="0"/>
            </a:endParaRPr>
          </a:p>
        </p:txBody>
      </p:sp>
      <p:sp>
        <p:nvSpPr>
          <p:cNvPr id="53" name="Text Box 13"/>
          <p:cNvSpPr txBox="1">
            <a:spLocks noChangeArrowheads="1"/>
          </p:cNvSpPr>
          <p:nvPr/>
        </p:nvSpPr>
        <p:spPr bwMode="auto">
          <a:xfrm>
            <a:off x="5502565" y="2836029"/>
            <a:ext cx="1069975" cy="830997"/>
          </a:xfrm>
          <a:prstGeom prst="rect">
            <a:avLst/>
          </a:prstGeom>
          <a:noFill/>
          <a:ln>
            <a:noFill/>
          </a:ln>
          <a:effec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a:latin typeface="Times New Roman" pitchFamily="18" charset="0"/>
                <a:cs typeface="Times New Roman" pitchFamily="18" charset="0"/>
              </a:rPr>
              <a:t>Xp</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2.0</a:t>
            </a:r>
          </a:p>
          <a:p>
            <a:pPr eaLnBrk="1" latinLnBrk="0" hangingPunct="1">
              <a:spcBef>
                <a:spcPct val="0"/>
              </a:spcBef>
              <a:buFontTx/>
              <a:buNone/>
            </a:pPr>
            <a:r>
              <a:rPr kumimoji="0" lang="en-US" altLang="ko-KR" sz="1600" b="1" dirty="0" err="1">
                <a:latin typeface="Times New Roman" pitchFamily="18" charset="0"/>
                <a:cs typeface="Times New Roman" pitchFamily="18" charset="0"/>
              </a:rPr>
              <a:t>Xpk</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1.67</a:t>
            </a:r>
          </a:p>
        </p:txBody>
      </p:sp>
      <p:sp>
        <p:nvSpPr>
          <p:cNvPr id="56" name="Text Box 55"/>
          <p:cNvSpPr txBox="1">
            <a:spLocks noChangeArrowheads="1"/>
          </p:cNvSpPr>
          <p:nvPr/>
        </p:nvSpPr>
        <p:spPr bwMode="auto">
          <a:xfrm>
            <a:off x="2000232" y="2202412"/>
            <a:ext cx="53413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800" b="1" u="sng" baseline="0" dirty="0">
                <a:solidFill>
                  <a:srgbClr val="000000"/>
                </a:solidFill>
              </a:rPr>
              <a:t>Mass production stage management standard</a:t>
            </a:r>
          </a:p>
        </p:txBody>
      </p:sp>
      <p:sp>
        <p:nvSpPr>
          <p:cNvPr id="57" name="Text Box 4"/>
          <p:cNvSpPr txBox="1">
            <a:spLocks noChangeArrowheads="1"/>
          </p:cNvSpPr>
          <p:nvPr/>
        </p:nvSpPr>
        <p:spPr bwMode="auto">
          <a:xfrm>
            <a:off x="4107843" y="2926290"/>
            <a:ext cx="686406" cy="338554"/>
          </a:xfrm>
          <a:prstGeom prst="rect">
            <a:avLst/>
          </a:prstGeom>
          <a:noFill/>
          <a:ln>
            <a:noFill/>
          </a:ln>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a:latin typeface="Times New Roman" pitchFamily="18" charset="0"/>
                <a:cs typeface="Times New Roman" pitchFamily="18" charset="0"/>
              </a:rPr>
              <a:t>KPC:</a:t>
            </a:r>
          </a:p>
        </p:txBody>
      </p:sp>
      <p:sp>
        <p:nvSpPr>
          <p:cNvPr id="58" name="Text Box 5"/>
          <p:cNvSpPr txBox="1">
            <a:spLocks noChangeArrowheads="1"/>
          </p:cNvSpPr>
          <p:nvPr/>
        </p:nvSpPr>
        <p:spPr bwMode="auto">
          <a:xfrm>
            <a:off x="4107843" y="3779295"/>
            <a:ext cx="686406" cy="338554"/>
          </a:xfrm>
          <a:prstGeom prst="rect">
            <a:avLst/>
          </a:prstGeom>
          <a:noFill/>
          <a:ln>
            <a:noFill/>
          </a:ln>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a:latin typeface="Times New Roman" pitchFamily="18" charset="0"/>
                <a:cs typeface="Times New Roman" pitchFamily="18" charset="0"/>
              </a:rPr>
              <a:t>PQC:</a:t>
            </a:r>
          </a:p>
        </p:txBody>
      </p:sp>
      <p:sp>
        <p:nvSpPr>
          <p:cNvPr id="61" name="Text Box 55"/>
          <p:cNvSpPr txBox="1">
            <a:spLocks noChangeArrowheads="1"/>
          </p:cNvSpPr>
          <p:nvPr/>
        </p:nvSpPr>
        <p:spPr bwMode="auto">
          <a:xfrm>
            <a:off x="517399" y="990428"/>
            <a:ext cx="8486867"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lnSpc>
                <a:spcPct val="150000"/>
              </a:lnSpc>
              <a:buFontTx/>
              <a:buChar char="-"/>
            </a:pPr>
            <a:r>
              <a:rPr lang="en-US" altLang="ko-KR" sz="1600" b="1" baseline="0" dirty="0">
                <a:solidFill>
                  <a:srgbClr val="000000"/>
                </a:solidFill>
              </a:rPr>
              <a:t> It is divided into special characteristics and general items according to the importance of </a:t>
            </a:r>
          </a:p>
          <a:p>
            <a:pPr latinLnBrk="0">
              <a:lnSpc>
                <a:spcPct val="150000"/>
              </a:lnSpc>
            </a:pPr>
            <a:r>
              <a:rPr lang="en-US" altLang="ko-KR" sz="1600" b="1" baseline="0" dirty="0">
                <a:solidFill>
                  <a:srgbClr val="000000"/>
                </a:solidFill>
              </a:rPr>
              <a:t>  management items. Depending on the item, the process capability requirement standard </a:t>
            </a:r>
          </a:p>
          <a:p>
            <a:pPr latinLnBrk="0">
              <a:lnSpc>
                <a:spcPct val="150000"/>
              </a:lnSpc>
            </a:pPr>
            <a:r>
              <a:rPr lang="en-US" altLang="ko-KR" sz="1600" b="1" baseline="0" dirty="0">
                <a:solidFill>
                  <a:srgbClr val="000000"/>
                </a:solidFill>
              </a:rPr>
              <a:t>  is different.</a:t>
            </a:r>
          </a:p>
        </p:txBody>
      </p:sp>
      <p:sp>
        <p:nvSpPr>
          <p:cNvPr id="33" name="TextBox 32"/>
          <p:cNvSpPr txBox="1"/>
          <p:nvPr/>
        </p:nvSpPr>
        <p:spPr>
          <a:xfrm>
            <a:off x="1798265" y="6235016"/>
            <a:ext cx="1039067" cy="307777"/>
          </a:xfrm>
          <a:prstGeom prst="rect">
            <a:avLst/>
          </a:prstGeom>
          <a:noFill/>
        </p:spPr>
        <p:txBody>
          <a:bodyPr wrap="none" rtlCol="0">
            <a:spAutoFit/>
          </a:bodyPr>
          <a:lstStyle/>
          <a:p>
            <a:r>
              <a:rPr lang="en-US" altLang="ko-KR" sz="1400" b="1" dirty="0">
                <a:latin typeface="+mn-lt"/>
              </a:rPr>
              <a:t>*</a:t>
            </a:r>
            <a:r>
              <a:rPr lang="en-US" altLang="ko-KR" sz="1400" b="1" dirty="0" err="1">
                <a:latin typeface="+mn-lt"/>
              </a:rPr>
              <a:t>Xp:Cp,Pp</a:t>
            </a:r>
            <a:endParaRPr lang="ko-KR" altLang="en-US" sz="1400" b="1" dirty="0">
              <a:latin typeface="+mn-lt"/>
            </a:endParaRPr>
          </a:p>
        </p:txBody>
      </p:sp>
      <p:sp>
        <p:nvSpPr>
          <p:cNvPr id="104" name="TextBox 103"/>
          <p:cNvSpPr txBox="1"/>
          <p:nvPr/>
        </p:nvSpPr>
        <p:spPr>
          <a:xfrm>
            <a:off x="2858151" y="6264496"/>
            <a:ext cx="1352614" cy="307777"/>
          </a:xfrm>
          <a:prstGeom prst="rect">
            <a:avLst/>
          </a:prstGeom>
          <a:noFill/>
        </p:spPr>
        <p:txBody>
          <a:bodyPr wrap="none" rtlCol="0">
            <a:spAutoFit/>
          </a:bodyPr>
          <a:lstStyle/>
          <a:p>
            <a:r>
              <a:rPr lang="en-US" altLang="ko-KR" sz="1400" b="1" dirty="0">
                <a:latin typeface="+mn-lt"/>
              </a:rPr>
              <a:t>*</a:t>
            </a:r>
            <a:r>
              <a:rPr lang="en-US" altLang="ko-KR" sz="1400" b="1" dirty="0" err="1">
                <a:latin typeface="+mn-lt"/>
              </a:rPr>
              <a:t>Xpk:Cpk,Ppk</a:t>
            </a:r>
            <a:endParaRPr lang="ko-KR" altLang="en-US" sz="1400" b="1" dirty="0">
              <a:latin typeface="+mn-lt"/>
            </a:endParaRPr>
          </a:p>
        </p:txBody>
      </p:sp>
      <p:sp>
        <p:nvSpPr>
          <p:cNvPr id="59" name="Text Box 6"/>
          <p:cNvSpPr txBox="1">
            <a:spLocks noChangeArrowheads="1"/>
          </p:cNvSpPr>
          <p:nvPr/>
        </p:nvSpPr>
        <p:spPr bwMode="auto">
          <a:xfrm>
            <a:off x="3783330" y="4783104"/>
            <a:ext cx="1510350" cy="830997"/>
          </a:xfrm>
          <a:prstGeom prst="rect">
            <a:avLst/>
          </a:prstGeom>
          <a:noFill/>
          <a:ln>
            <a:noFill/>
          </a:ln>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latinLnBrk="0" hangingPunct="1">
              <a:spcBef>
                <a:spcPct val="0"/>
              </a:spcBef>
              <a:buFontTx/>
              <a:buNone/>
            </a:pPr>
            <a:r>
              <a:rPr kumimoji="0" lang="en-US" altLang="ko-KR" sz="1600" b="1" dirty="0">
                <a:latin typeface="Times New Roman" pitchFamily="18" charset="0"/>
                <a:cs typeface="Times New Roman" pitchFamily="18" charset="0"/>
              </a:rPr>
              <a:t>Standard</a:t>
            </a:r>
          </a:p>
          <a:p>
            <a:pPr algn="ctr" eaLnBrk="1" latinLnBrk="0" hangingPunct="1">
              <a:spcBef>
                <a:spcPct val="0"/>
              </a:spcBef>
              <a:buFontTx/>
              <a:buNone/>
            </a:pPr>
            <a:r>
              <a:rPr kumimoji="0" lang="en-US" altLang="ko-KR" sz="1600" b="1" dirty="0">
                <a:latin typeface="Times New Roman" pitchFamily="18" charset="0"/>
                <a:cs typeface="Times New Roman" pitchFamily="18" charset="0"/>
              </a:rPr>
              <a:t>Product</a:t>
            </a:r>
          </a:p>
          <a:p>
            <a:pPr algn="ctr" eaLnBrk="1" latinLnBrk="0" hangingPunct="1">
              <a:spcBef>
                <a:spcPct val="0"/>
              </a:spcBef>
              <a:buFontTx/>
              <a:buNone/>
            </a:pPr>
            <a:r>
              <a:rPr kumimoji="0" lang="en-US" altLang="ko-KR" sz="1600" b="1" dirty="0">
                <a:latin typeface="Times New Roman" pitchFamily="18" charset="0"/>
                <a:cs typeface="Times New Roman" pitchFamily="18" charset="0"/>
              </a:rPr>
              <a:t>Characteristic:</a:t>
            </a:r>
          </a:p>
        </p:txBody>
      </p:sp>
      <p:sp>
        <p:nvSpPr>
          <p:cNvPr id="51" name="Text Box 11"/>
          <p:cNvSpPr txBox="1">
            <a:spLocks noChangeArrowheads="1"/>
          </p:cNvSpPr>
          <p:nvPr/>
        </p:nvSpPr>
        <p:spPr bwMode="auto">
          <a:xfrm>
            <a:off x="5502566" y="4906216"/>
            <a:ext cx="1429806" cy="584775"/>
          </a:xfrm>
          <a:prstGeom prst="rect">
            <a:avLst/>
          </a:prstGeom>
          <a:noFill/>
          <a:ln>
            <a:noFill/>
          </a:ln>
          <a:effectLst/>
        </p:spPr>
        <p:txBody>
          <a:bodyPr wrap="squar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err="1">
                <a:latin typeface="Times New Roman" pitchFamily="18" charset="0"/>
                <a:cs typeface="Times New Roman" pitchFamily="18" charset="0"/>
              </a:rPr>
              <a:t>Xp</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1.33</a:t>
            </a:r>
          </a:p>
          <a:p>
            <a:pPr eaLnBrk="1" latinLnBrk="0" hangingPunct="1">
              <a:spcBef>
                <a:spcPct val="0"/>
              </a:spcBef>
              <a:buFontTx/>
              <a:buNone/>
            </a:pPr>
            <a:r>
              <a:rPr kumimoji="0" lang="en-US" altLang="ko-KR" sz="1600" b="1" dirty="0" err="1">
                <a:latin typeface="Times New Roman" pitchFamily="18" charset="0"/>
                <a:cs typeface="Times New Roman" pitchFamily="18" charset="0"/>
              </a:rPr>
              <a:t>Xpk</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1.00</a:t>
            </a:r>
          </a:p>
        </p:txBody>
      </p:sp>
      <p:sp>
        <p:nvSpPr>
          <p:cNvPr id="16"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216</a:t>
            </a:fld>
            <a:endParaRPr lang="ko-KR" altLang="en-US" sz="1200" dirty="0"/>
          </a:p>
        </p:txBody>
      </p:sp>
      <p:sp>
        <p:nvSpPr>
          <p:cNvPr id="17"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206717852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217</a:t>
            </a:fld>
            <a:endParaRPr lang="ko-KR" altLang="en-US" dirty="0"/>
          </a:p>
        </p:txBody>
      </p:sp>
      <p:sp>
        <p:nvSpPr>
          <p:cNvPr id="3" name="직사각형 2"/>
          <p:cNvSpPr/>
          <p:nvPr/>
        </p:nvSpPr>
        <p:spPr bwMode="auto">
          <a:xfrm>
            <a:off x="849740" y="1844824"/>
            <a:ext cx="7626159" cy="4392464"/>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 name="Rectangle 50"/>
          <p:cNvSpPr>
            <a:spLocks noChangeArrowheads="1"/>
          </p:cNvSpPr>
          <p:nvPr/>
        </p:nvSpPr>
        <p:spPr bwMode="auto">
          <a:xfrm>
            <a:off x="1091333" y="2204883"/>
            <a:ext cx="4544170" cy="1401763"/>
          </a:xfrm>
          <a:prstGeom prst="rect">
            <a:avLst/>
          </a:prstGeom>
          <a:solidFill>
            <a:srgbClr val="92D050"/>
          </a:solidFill>
          <a:ln w="9525">
            <a:solidFill>
              <a:schemeClr val="bg2"/>
            </a:solid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5" name="Rectangle 2"/>
          <p:cNvSpPr>
            <a:spLocks noChangeArrowheads="1"/>
          </p:cNvSpPr>
          <p:nvPr/>
        </p:nvSpPr>
        <p:spPr bwMode="auto">
          <a:xfrm>
            <a:off x="1320322" y="1259137"/>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sp>
        <p:nvSpPr>
          <p:cNvPr id="7" name="Line 56"/>
          <p:cNvSpPr>
            <a:spLocks noChangeShapeType="1"/>
          </p:cNvSpPr>
          <p:nvPr/>
        </p:nvSpPr>
        <p:spPr bwMode="auto">
          <a:xfrm>
            <a:off x="1965012" y="2855490"/>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8" name="Rectangle 57"/>
          <p:cNvSpPr>
            <a:spLocks noChangeArrowheads="1"/>
          </p:cNvSpPr>
          <p:nvPr/>
        </p:nvSpPr>
        <p:spPr bwMode="auto">
          <a:xfrm>
            <a:off x="2378980" y="2862726"/>
            <a:ext cx="14747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9" name="Rectangle 58"/>
          <p:cNvSpPr>
            <a:spLocks noChangeArrowheads="1"/>
          </p:cNvSpPr>
          <p:nvPr/>
        </p:nvSpPr>
        <p:spPr bwMode="auto">
          <a:xfrm>
            <a:off x="2407023" y="2531291"/>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0" name="Rectangle 59"/>
          <p:cNvSpPr>
            <a:spLocks noChangeArrowheads="1"/>
          </p:cNvSpPr>
          <p:nvPr/>
        </p:nvSpPr>
        <p:spPr bwMode="auto">
          <a:xfrm>
            <a:off x="1779396" y="2678917"/>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 name="Rectangle 61"/>
          <p:cNvSpPr>
            <a:spLocks noChangeArrowheads="1"/>
          </p:cNvSpPr>
          <p:nvPr/>
        </p:nvSpPr>
        <p:spPr bwMode="auto">
          <a:xfrm>
            <a:off x="2676769" y="2557343"/>
            <a:ext cx="12984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μ</a:t>
            </a:r>
            <a:endParaRPr lang="en-US" altLang="ko-KR" sz="1600" baseline="0" dirty="0">
              <a:solidFill>
                <a:srgbClr val="000000"/>
              </a:solidFill>
              <a:latin typeface="Times New Roman" pitchFamily="18" charset="0"/>
              <a:ea typeface="굴림" pitchFamily="50" charset="-127"/>
            </a:endParaRPr>
          </a:p>
        </p:txBody>
      </p:sp>
      <p:sp>
        <p:nvSpPr>
          <p:cNvPr id="13" name="Rectangle 62"/>
          <p:cNvSpPr>
            <a:spLocks noChangeArrowheads="1"/>
          </p:cNvSpPr>
          <p:nvPr/>
        </p:nvSpPr>
        <p:spPr bwMode="auto">
          <a:xfrm>
            <a:off x="2067836" y="2557343"/>
            <a:ext cx="28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SL</a:t>
            </a:r>
            <a:endParaRPr lang="en-US" altLang="ko-KR" sz="1600" baseline="0" dirty="0">
              <a:solidFill>
                <a:srgbClr val="000000"/>
              </a:solidFill>
              <a:latin typeface="Times New Roman" pitchFamily="18" charset="0"/>
              <a:ea typeface="굴림" pitchFamily="50" charset="-127"/>
            </a:endParaRPr>
          </a:p>
        </p:txBody>
      </p:sp>
      <p:sp>
        <p:nvSpPr>
          <p:cNvPr id="14" name="Rectangle 63"/>
          <p:cNvSpPr>
            <a:spLocks noChangeArrowheads="1"/>
          </p:cNvSpPr>
          <p:nvPr/>
        </p:nvSpPr>
        <p:spPr bwMode="auto">
          <a:xfrm>
            <a:off x="1509648" y="2706416"/>
            <a:ext cx="1490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Z</a:t>
            </a:r>
            <a:endParaRPr lang="en-US" altLang="ko-KR" sz="1600" baseline="0" dirty="0">
              <a:solidFill>
                <a:srgbClr val="000000"/>
              </a:solidFill>
              <a:latin typeface="Times New Roman" pitchFamily="18" charset="0"/>
              <a:ea typeface="굴림" pitchFamily="50" charset="-127"/>
            </a:endParaRPr>
          </a:p>
        </p:txBody>
      </p:sp>
      <p:sp>
        <p:nvSpPr>
          <p:cNvPr id="15" name="Rectangle 64"/>
          <p:cNvSpPr>
            <a:spLocks noChangeArrowheads="1"/>
          </p:cNvSpPr>
          <p:nvPr/>
        </p:nvSpPr>
        <p:spPr bwMode="auto">
          <a:xfrm>
            <a:off x="1624491" y="2849701"/>
            <a:ext cx="15709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LT</a:t>
            </a:r>
            <a:endParaRPr lang="en-US" altLang="ko-KR" sz="1600" baseline="0" dirty="0">
              <a:solidFill>
                <a:srgbClr val="000000"/>
              </a:solidFill>
              <a:latin typeface="Times New Roman" pitchFamily="18" charset="0"/>
              <a:ea typeface="굴림" pitchFamily="50" charset="-127"/>
            </a:endParaRPr>
          </a:p>
        </p:txBody>
      </p:sp>
      <p:sp>
        <p:nvSpPr>
          <p:cNvPr id="43" name="Rectangle 94"/>
          <p:cNvSpPr>
            <a:spLocks noChangeArrowheads="1"/>
          </p:cNvSpPr>
          <p:nvPr/>
        </p:nvSpPr>
        <p:spPr bwMode="auto">
          <a:xfrm>
            <a:off x="2597982" y="2966934"/>
            <a:ext cx="1847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sp>
        <p:nvSpPr>
          <p:cNvPr id="45" name="Text Box 52"/>
          <p:cNvSpPr txBox="1">
            <a:spLocks noChangeArrowheads="1"/>
          </p:cNvSpPr>
          <p:nvPr/>
        </p:nvSpPr>
        <p:spPr bwMode="auto">
          <a:xfrm>
            <a:off x="721097" y="1165421"/>
            <a:ext cx="8104914" cy="55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ko-KR" altLang="en-US" b="1" baseline="0" dirty="0">
                <a:solidFill>
                  <a:srgbClr val="000000"/>
                </a:solidFill>
              </a:rPr>
              <a:t>  </a:t>
            </a:r>
            <a:r>
              <a:rPr lang="en-US" altLang="ko-KR" b="1" baseline="0" dirty="0">
                <a:solidFill>
                  <a:srgbClr val="000000"/>
                </a:solidFill>
              </a:rPr>
              <a:t>- To quantitatively evaluate whether to improve dispersion or to improve the mean when a </a:t>
            </a:r>
          </a:p>
          <a:p>
            <a:pPr eaLnBrk="1" hangingPunct="1">
              <a:spcBef>
                <a:spcPct val="20000"/>
              </a:spcBef>
            </a:pPr>
            <a:r>
              <a:rPr lang="en-US" altLang="ko-KR" b="1" baseline="0" dirty="0">
                <a:solidFill>
                  <a:srgbClr val="000000"/>
                </a:solidFill>
              </a:rPr>
              <a:t>    problem occurs in a process, evaluate the Z value using the normal distribution.</a:t>
            </a:r>
          </a:p>
        </p:txBody>
      </p:sp>
      <p:graphicFrame>
        <p:nvGraphicFramePr>
          <p:cNvPr id="47" name="개체 46"/>
          <p:cNvGraphicFramePr>
            <a:graphicFrameLocks noChangeAspect="1"/>
          </p:cNvGraphicFramePr>
          <p:nvPr>
            <p:extLst>
              <p:ext uri="{D42A27DB-BD31-4B8C-83A1-F6EECF244321}">
                <p14:modId xmlns:p14="http://schemas.microsoft.com/office/powerpoint/2010/main" val="2363499614"/>
              </p:ext>
            </p:extLst>
          </p:nvPr>
        </p:nvGraphicFramePr>
        <p:xfrm>
          <a:off x="1343185" y="4212506"/>
          <a:ext cx="1915258" cy="703262"/>
        </p:xfrm>
        <a:graphic>
          <a:graphicData uri="http://schemas.openxmlformats.org/presentationml/2006/ole">
            <mc:AlternateContent xmlns:mc="http://schemas.openxmlformats.org/markup-compatibility/2006">
              <mc:Choice xmlns:v="urn:schemas-microsoft-com:vml" Requires="v">
                <p:oleObj name="수식" r:id="rId2" imgW="1536480" imgH="520560" progId="Equation.3">
                  <p:embed/>
                </p:oleObj>
              </mc:Choice>
              <mc:Fallback>
                <p:oleObj name="수식" r:id="rId2" imgW="1536480" imgH="520560" progId="Equation.3">
                  <p:embed/>
                  <p:pic>
                    <p:nvPicPr>
                      <p:cNvPr id="47" name="개체 4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3185" y="4212506"/>
                        <a:ext cx="1915258" cy="703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5" name="Text Box 55"/>
          <p:cNvSpPr txBox="1">
            <a:spLocks noChangeArrowheads="1"/>
          </p:cNvSpPr>
          <p:nvPr/>
        </p:nvSpPr>
        <p:spPr bwMode="auto">
          <a:xfrm>
            <a:off x="650337" y="836712"/>
            <a:ext cx="75262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a:solidFill>
                  <a:srgbClr val="000000"/>
                </a:solidFill>
              </a:rPr>
              <a:t>Setting direction for improvement of Project</a:t>
            </a:r>
          </a:p>
        </p:txBody>
      </p:sp>
      <p:sp>
        <p:nvSpPr>
          <p:cNvPr id="116" name="Rectangle 4"/>
          <p:cNvSpPr>
            <a:spLocks noChangeArrowheads="1"/>
          </p:cNvSpPr>
          <p:nvPr/>
        </p:nvSpPr>
        <p:spPr bwMode="auto">
          <a:xfrm>
            <a:off x="6269874" y="2389970"/>
            <a:ext cx="2075767" cy="1175840"/>
          </a:xfrm>
          <a:prstGeom prst="rect">
            <a:avLst/>
          </a:prstGeom>
          <a:solidFill>
            <a:schemeClr val="bg1">
              <a:lumMod val="75000"/>
              <a:alpha val="14117"/>
            </a:schemeClr>
          </a:solidFill>
          <a:ln w="12700" algn="ctr">
            <a:solidFill>
              <a:schemeClr val="bg2"/>
            </a:solidFill>
            <a:miter lim="800000"/>
            <a:headEnd/>
            <a:tailEnd/>
          </a:ln>
          <a:effectLst>
            <a:outerShdw blurRad="50800" dist="38100" dir="2700000" algn="tl" rotWithShape="0">
              <a:prstClr val="black">
                <a:alpha val="40000"/>
              </a:prstClr>
            </a:outerShdw>
          </a:effec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latinLnBrk="0">
              <a:spcBef>
                <a:spcPct val="0"/>
              </a:spcBef>
              <a:buFontTx/>
              <a:buNone/>
            </a:pPr>
            <a:r>
              <a:rPr kumimoji="0" lang="en-US" altLang="ko-KR" sz="2000" b="1" dirty="0">
                <a:latin typeface="Arial" charset="0"/>
              </a:rPr>
              <a:t>Z</a:t>
            </a:r>
            <a:r>
              <a:rPr kumimoji="0" lang="en-US" altLang="ko-KR" sz="1100" b="1" dirty="0">
                <a:latin typeface="Arial" charset="0"/>
              </a:rPr>
              <a:t>ST</a:t>
            </a:r>
            <a:r>
              <a:rPr kumimoji="0" lang="en-US" altLang="ko-KR" sz="2000" b="1" dirty="0">
                <a:latin typeface="Arial" charset="0"/>
              </a:rPr>
              <a:t> ≥ 4.5</a:t>
            </a:r>
          </a:p>
        </p:txBody>
      </p:sp>
      <p:sp>
        <p:nvSpPr>
          <p:cNvPr id="117" name="Text Box 5"/>
          <p:cNvSpPr txBox="1">
            <a:spLocks noChangeArrowheads="1"/>
          </p:cNvSpPr>
          <p:nvPr/>
        </p:nvSpPr>
        <p:spPr bwMode="auto">
          <a:xfrm>
            <a:off x="6022741" y="2022485"/>
            <a:ext cx="2791342" cy="338554"/>
          </a:xfrm>
          <a:prstGeom prst="rect">
            <a:avLst/>
          </a:prstGeom>
          <a:solidFill>
            <a:schemeClr val="bg1">
              <a:lumMod val="75000"/>
            </a:schemeClr>
          </a:solidFill>
          <a:ln w="12700" algn="ctr">
            <a:noFill/>
            <a:miter lim="800000"/>
            <a:headEnd/>
            <a:tailEnd/>
          </a:ln>
          <a:effectLst>
            <a:outerShdw blurRad="50800" dist="38100" dir="2700000" algn="tl" rotWithShape="0">
              <a:prstClr val="black">
                <a:alpha val="40000"/>
              </a:prstClr>
            </a:outerShdw>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600" dirty="0">
                <a:latin typeface="+mn-lt"/>
              </a:rPr>
              <a:t>Criteria(Development stage)</a:t>
            </a:r>
            <a:endParaRPr kumimoji="0" lang="ko-KR" altLang="en-US" sz="1600" dirty="0">
              <a:latin typeface="+mn-lt"/>
            </a:endParaRPr>
          </a:p>
        </p:txBody>
      </p:sp>
      <p:sp>
        <p:nvSpPr>
          <p:cNvPr id="120" name="TextBox 119"/>
          <p:cNvSpPr txBox="1"/>
          <p:nvPr/>
        </p:nvSpPr>
        <p:spPr>
          <a:xfrm>
            <a:off x="2429483" y="2971833"/>
            <a:ext cx="296876" cy="252377"/>
          </a:xfrm>
          <a:prstGeom prst="rect">
            <a:avLst/>
          </a:prstGeom>
          <a:noFill/>
        </p:spPr>
        <p:txBody>
          <a:bodyPr wrap="none" rtlCol="0">
            <a:spAutoFit/>
          </a:bodyPr>
          <a:lstStyle/>
          <a:p>
            <a:pPr>
              <a:lnSpc>
                <a:spcPct val="130000"/>
              </a:lnSpc>
              <a:buClr>
                <a:srgbClr val="C5003D"/>
              </a:buClr>
            </a:pPr>
            <a:r>
              <a:rPr lang="en-US" altLang="ko-KR" sz="800" b="1" dirty="0"/>
              <a:t>LT</a:t>
            </a:r>
            <a:endParaRPr lang="ko-KR" altLang="en-US" sz="800" b="1" dirty="0"/>
          </a:p>
        </p:txBody>
      </p:sp>
      <p:sp>
        <p:nvSpPr>
          <p:cNvPr id="123" name="Line 56"/>
          <p:cNvSpPr>
            <a:spLocks noChangeShapeType="1"/>
          </p:cNvSpPr>
          <p:nvPr/>
        </p:nvSpPr>
        <p:spPr bwMode="auto">
          <a:xfrm>
            <a:off x="4138349" y="2855490"/>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24" name="Rectangle 57"/>
          <p:cNvSpPr>
            <a:spLocks noChangeArrowheads="1"/>
          </p:cNvSpPr>
          <p:nvPr/>
        </p:nvSpPr>
        <p:spPr bwMode="auto">
          <a:xfrm>
            <a:off x="4552317" y="2862726"/>
            <a:ext cx="14747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25" name="Rectangle 58"/>
          <p:cNvSpPr>
            <a:spLocks noChangeArrowheads="1"/>
          </p:cNvSpPr>
          <p:nvPr/>
        </p:nvSpPr>
        <p:spPr bwMode="auto">
          <a:xfrm>
            <a:off x="4580360" y="2531291"/>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6" name="Rectangle 59"/>
          <p:cNvSpPr>
            <a:spLocks noChangeArrowheads="1"/>
          </p:cNvSpPr>
          <p:nvPr/>
        </p:nvSpPr>
        <p:spPr bwMode="auto">
          <a:xfrm>
            <a:off x="3952732" y="2678917"/>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7" name="Rectangle 61"/>
          <p:cNvSpPr>
            <a:spLocks noChangeArrowheads="1"/>
          </p:cNvSpPr>
          <p:nvPr/>
        </p:nvSpPr>
        <p:spPr bwMode="auto">
          <a:xfrm>
            <a:off x="4850106" y="2557343"/>
            <a:ext cx="1490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T</a:t>
            </a:r>
            <a:endParaRPr lang="en-US" altLang="ko-KR" sz="1600" baseline="0" dirty="0">
              <a:solidFill>
                <a:srgbClr val="000000"/>
              </a:solidFill>
              <a:latin typeface="Times New Roman" pitchFamily="18" charset="0"/>
              <a:ea typeface="굴림" pitchFamily="50" charset="-127"/>
            </a:endParaRPr>
          </a:p>
        </p:txBody>
      </p:sp>
      <p:sp>
        <p:nvSpPr>
          <p:cNvPr id="128" name="Rectangle 62"/>
          <p:cNvSpPr>
            <a:spLocks noChangeArrowheads="1"/>
          </p:cNvSpPr>
          <p:nvPr/>
        </p:nvSpPr>
        <p:spPr bwMode="auto">
          <a:xfrm>
            <a:off x="4241173" y="2557343"/>
            <a:ext cx="28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SL</a:t>
            </a:r>
            <a:endParaRPr lang="en-US" altLang="ko-KR" sz="1600" baseline="0" dirty="0">
              <a:solidFill>
                <a:srgbClr val="000000"/>
              </a:solidFill>
              <a:latin typeface="Times New Roman" pitchFamily="18" charset="0"/>
              <a:ea typeface="굴림" pitchFamily="50" charset="-127"/>
            </a:endParaRPr>
          </a:p>
        </p:txBody>
      </p:sp>
      <p:sp>
        <p:nvSpPr>
          <p:cNvPr id="129" name="Rectangle 63"/>
          <p:cNvSpPr>
            <a:spLocks noChangeArrowheads="1"/>
          </p:cNvSpPr>
          <p:nvPr/>
        </p:nvSpPr>
        <p:spPr bwMode="auto">
          <a:xfrm>
            <a:off x="3682985" y="2706416"/>
            <a:ext cx="1490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Z</a:t>
            </a:r>
            <a:endParaRPr lang="en-US" altLang="ko-KR" sz="1600" baseline="0" dirty="0">
              <a:solidFill>
                <a:srgbClr val="000000"/>
              </a:solidFill>
              <a:latin typeface="Times New Roman" pitchFamily="18" charset="0"/>
              <a:ea typeface="굴림" pitchFamily="50" charset="-127"/>
            </a:endParaRPr>
          </a:p>
        </p:txBody>
      </p:sp>
      <p:sp>
        <p:nvSpPr>
          <p:cNvPr id="130" name="Rectangle 64"/>
          <p:cNvSpPr>
            <a:spLocks noChangeArrowheads="1"/>
          </p:cNvSpPr>
          <p:nvPr/>
        </p:nvSpPr>
        <p:spPr bwMode="auto">
          <a:xfrm>
            <a:off x="3797828" y="2849700"/>
            <a:ext cx="14908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ST</a:t>
            </a:r>
            <a:endParaRPr lang="en-US" altLang="ko-KR" sz="1600" baseline="0" dirty="0">
              <a:solidFill>
                <a:srgbClr val="000000"/>
              </a:solidFill>
              <a:latin typeface="Times New Roman" pitchFamily="18" charset="0"/>
              <a:ea typeface="굴림" pitchFamily="50" charset="-127"/>
            </a:endParaRPr>
          </a:p>
        </p:txBody>
      </p:sp>
      <p:sp>
        <p:nvSpPr>
          <p:cNvPr id="131" name="Rectangle 94"/>
          <p:cNvSpPr>
            <a:spLocks noChangeArrowheads="1"/>
          </p:cNvSpPr>
          <p:nvPr/>
        </p:nvSpPr>
        <p:spPr bwMode="auto">
          <a:xfrm>
            <a:off x="4771318" y="2966934"/>
            <a:ext cx="1847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sp>
        <p:nvSpPr>
          <p:cNvPr id="132" name="TextBox 131"/>
          <p:cNvSpPr txBox="1"/>
          <p:nvPr/>
        </p:nvSpPr>
        <p:spPr>
          <a:xfrm>
            <a:off x="4602820" y="2971833"/>
            <a:ext cx="301686" cy="252377"/>
          </a:xfrm>
          <a:prstGeom prst="rect">
            <a:avLst/>
          </a:prstGeom>
          <a:noFill/>
        </p:spPr>
        <p:txBody>
          <a:bodyPr wrap="none" rtlCol="0">
            <a:spAutoFit/>
          </a:bodyPr>
          <a:lstStyle/>
          <a:p>
            <a:pPr>
              <a:lnSpc>
                <a:spcPct val="130000"/>
              </a:lnSpc>
              <a:buClr>
                <a:srgbClr val="C5003D"/>
              </a:buClr>
            </a:pPr>
            <a:r>
              <a:rPr lang="en-US" altLang="ko-KR" sz="800" b="1" dirty="0"/>
              <a:t>ST</a:t>
            </a:r>
            <a:endParaRPr lang="ko-KR" altLang="en-US" sz="800" b="1" dirty="0"/>
          </a:p>
        </p:txBody>
      </p:sp>
      <p:graphicFrame>
        <p:nvGraphicFramePr>
          <p:cNvPr id="135" name="개체 134"/>
          <p:cNvGraphicFramePr>
            <a:graphicFrameLocks noChangeAspect="1"/>
          </p:cNvGraphicFramePr>
          <p:nvPr>
            <p:extLst>
              <p:ext uri="{D42A27DB-BD31-4B8C-83A1-F6EECF244321}">
                <p14:modId xmlns:p14="http://schemas.microsoft.com/office/powerpoint/2010/main" val="2560326584"/>
              </p:ext>
            </p:extLst>
          </p:nvPr>
        </p:nvGraphicFramePr>
        <p:xfrm>
          <a:off x="3630651" y="4290294"/>
          <a:ext cx="4198326" cy="650875"/>
        </p:xfrm>
        <a:graphic>
          <a:graphicData uri="http://schemas.openxmlformats.org/presentationml/2006/ole">
            <mc:AlternateContent xmlns:mc="http://schemas.openxmlformats.org/markup-compatibility/2006">
              <mc:Choice xmlns:v="urn:schemas-microsoft-com:vml" Requires="v">
                <p:oleObj name="수식" r:id="rId4" imgW="3403440" imgH="507960" progId="Equation.3">
                  <p:embed/>
                </p:oleObj>
              </mc:Choice>
              <mc:Fallback>
                <p:oleObj name="수식" r:id="rId4" imgW="3403440" imgH="507960" progId="Equation.3">
                  <p:embed/>
                  <p:pic>
                    <p:nvPicPr>
                      <p:cNvPr id="135" name="개체 1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30651" y="4290294"/>
                        <a:ext cx="4198326" cy="650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55006865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3"/>
          <p:cNvGraphicFramePr>
            <a:graphicFrameLocks noGrp="1"/>
          </p:cNvGraphicFramePr>
          <p:nvPr>
            <p:extLst>
              <p:ext uri="{D42A27DB-BD31-4B8C-83A1-F6EECF244321}">
                <p14:modId xmlns:p14="http://schemas.microsoft.com/office/powerpoint/2010/main" val="843273913"/>
              </p:ext>
            </p:extLst>
          </p:nvPr>
        </p:nvGraphicFramePr>
        <p:xfrm>
          <a:off x="1843659" y="2313149"/>
          <a:ext cx="5121221" cy="3548666"/>
        </p:xfrm>
        <a:graphic>
          <a:graphicData uri="http://schemas.openxmlformats.org/drawingml/2006/table">
            <a:tbl>
              <a:tblPr firstRow="1" bandRow="1">
                <a:tableStyleId>{5C22544A-7EE6-4342-B048-85BDC9FD1C3A}</a:tableStyleId>
              </a:tblPr>
              <a:tblGrid>
                <a:gridCol w="1686251">
                  <a:extLst>
                    <a:ext uri="{9D8B030D-6E8A-4147-A177-3AD203B41FA5}">
                      <a16:colId xmlns:a16="http://schemas.microsoft.com/office/drawing/2014/main" val="20000"/>
                    </a:ext>
                  </a:extLst>
                </a:gridCol>
                <a:gridCol w="3434970">
                  <a:extLst>
                    <a:ext uri="{9D8B030D-6E8A-4147-A177-3AD203B41FA5}">
                      <a16:colId xmlns:a16="http://schemas.microsoft.com/office/drawing/2014/main" val="20001"/>
                    </a:ext>
                  </a:extLst>
                </a:gridCol>
              </a:tblGrid>
              <a:tr h="1835931">
                <a:tc>
                  <a:txBody>
                    <a:bodyPr/>
                    <a:lstStyle/>
                    <a:p>
                      <a:pPr algn="ctr" latinLnBrk="1"/>
                      <a:r>
                        <a:rPr lang="en-US" altLang="ko-KR" dirty="0" err="1">
                          <a:solidFill>
                            <a:schemeClr val="tx1"/>
                          </a:solidFill>
                        </a:rPr>
                        <a:t>Đặc</a:t>
                      </a:r>
                      <a:r>
                        <a:rPr lang="en-US" altLang="ko-KR" dirty="0">
                          <a:solidFill>
                            <a:schemeClr val="tx1"/>
                          </a:solidFill>
                        </a:rPr>
                        <a:t> </a:t>
                      </a:r>
                      <a:r>
                        <a:rPr lang="en-US" altLang="ko-KR" dirty="0" err="1">
                          <a:solidFill>
                            <a:schemeClr val="tx1"/>
                          </a:solidFill>
                        </a:rPr>
                        <a:t>tính</a:t>
                      </a:r>
                      <a:r>
                        <a:rPr lang="en-US" altLang="ko-KR" baseline="0" dirty="0">
                          <a:solidFill>
                            <a:schemeClr val="tx1"/>
                          </a:solidFill>
                        </a:rPr>
                        <a:t> </a:t>
                      </a:r>
                      <a:r>
                        <a:rPr lang="en-US" altLang="ko-KR" baseline="0" dirty="0" err="1">
                          <a:solidFill>
                            <a:schemeClr val="tx1"/>
                          </a:solidFill>
                        </a:rPr>
                        <a:t>đặc</a:t>
                      </a:r>
                      <a:r>
                        <a:rPr lang="en-US" altLang="ko-KR" baseline="0" dirty="0">
                          <a:solidFill>
                            <a:schemeClr val="tx1"/>
                          </a:solidFill>
                        </a:rPr>
                        <a:t> </a:t>
                      </a:r>
                      <a:r>
                        <a:rPr lang="en-US" altLang="ko-KR" baseline="0" dirty="0" err="1">
                          <a:solidFill>
                            <a:schemeClr val="tx1"/>
                          </a:solidFill>
                        </a:rPr>
                        <a:t>biệt</a:t>
                      </a:r>
                      <a:endParaRPr lang="ko-KR" altLang="en-US" dirty="0">
                        <a:solidFill>
                          <a:schemeClr val="tx1"/>
                        </a:solidFill>
                      </a:endParaRPr>
                    </a:p>
                  </a:txBody>
                  <a:tcPr marL="84406" marR="8440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dirty="0"/>
                    </a:p>
                  </a:txBody>
                  <a:tcPr marL="84406" marR="84406">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12735">
                <a:tc>
                  <a:txBody>
                    <a:bodyPr/>
                    <a:lstStyle/>
                    <a:p>
                      <a:pPr algn="ctr" latinLnBrk="1"/>
                      <a:r>
                        <a:rPr lang="en-US" altLang="ko-KR" b="1" dirty="0" err="1">
                          <a:solidFill>
                            <a:schemeClr val="tx1"/>
                          </a:solidFill>
                        </a:rPr>
                        <a:t>Đặc</a:t>
                      </a:r>
                      <a:r>
                        <a:rPr lang="en-US" altLang="ko-KR" b="1" dirty="0">
                          <a:solidFill>
                            <a:schemeClr val="tx1"/>
                          </a:solidFill>
                        </a:rPr>
                        <a:t> </a:t>
                      </a:r>
                      <a:r>
                        <a:rPr lang="en-US" altLang="ko-KR" b="1" dirty="0" err="1">
                          <a:solidFill>
                            <a:schemeClr val="tx1"/>
                          </a:solidFill>
                        </a:rPr>
                        <a:t>tính</a:t>
                      </a:r>
                      <a:r>
                        <a:rPr lang="en-US" altLang="ko-KR" b="1" baseline="0" dirty="0">
                          <a:solidFill>
                            <a:schemeClr val="tx1"/>
                          </a:solidFill>
                        </a:rPr>
                        <a:t> </a:t>
                      </a:r>
                      <a:r>
                        <a:rPr lang="en-US" altLang="ko-KR" b="1" baseline="0" dirty="0" err="1">
                          <a:solidFill>
                            <a:schemeClr val="tx1"/>
                          </a:solidFill>
                        </a:rPr>
                        <a:t>thông</a:t>
                      </a:r>
                      <a:r>
                        <a:rPr lang="en-US" altLang="ko-KR" b="1" baseline="0" dirty="0">
                          <a:solidFill>
                            <a:schemeClr val="tx1"/>
                          </a:solidFill>
                        </a:rPr>
                        <a:t> </a:t>
                      </a:r>
                      <a:r>
                        <a:rPr lang="en-US" altLang="ko-KR" b="1" baseline="0" dirty="0" err="1">
                          <a:solidFill>
                            <a:schemeClr val="tx1"/>
                          </a:solidFill>
                        </a:rPr>
                        <a:t>thường</a:t>
                      </a:r>
                      <a:endParaRPr lang="ko-KR" altLang="en-US" b="1" dirty="0">
                        <a:solidFill>
                          <a:schemeClr val="tx1"/>
                        </a:solidFill>
                      </a:endParaRPr>
                    </a:p>
                  </a:txBody>
                  <a:tcPr marL="84406" marR="8440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dirty="0"/>
                    </a:p>
                  </a:txBody>
                  <a:tcPr marL="84406" marR="84406">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bl>
          </a:graphicData>
        </a:graphic>
      </p:graphicFrame>
      <p:sp>
        <p:nvSpPr>
          <p:cNvPr id="30" name="Text Box 55"/>
          <p:cNvSpPr txBox="1">
            <a:spLocks noChangeArrowheads="1"/>
          </p:cNvSpPr>
          <p:nvPr/>
        </p:nvSpPr>
        <p:spPr bwMode="auto">
          <a:xfrm>
            <a:off x="251520" y="714182"/>
            <a:ext cx="66468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Tiêu</a:t>
            </a:r>
            <a:r>
              <a:rPr lang="en-US" altLang="ko-KR" sz="1600" b="1" baseline="0" dirty="0">
                <a:solidFill>
                  <a:srgbClr val="000000"/>
                </a:solidFill>
              </a:rPr>
              <a:t> </a:t>
            </a:r>
            <a:r>
              <a:rPr lang="en-US" altLang="ko-KR" sz="1600" b="1" baseline="0" dirty="0" err="1">
                <a:solidFill>
                  <a:srgbClr val="000000"/>
                </a:solidFill>
              </a:rPr>
              <a:t>chuẩn</a:t>
            </a:r>
            <a:r>
              <a:rPr lang="en-US" altLang="ko-KR" sz="1600" b="1" baseline="0" dirty="0">
                <a:solidFill>
                  <a:srgbClr val="000000"/>
                </a:solidFill>
              </a:rPr>
              <a:t> </a:t>
            </a:r>
            <a:r>
              <a:rPr lang="en-US" altLang="ko-KR" sz="1600" b="1" baseline="0" dirty="0" err="1">
                <a:solidFill>
                  <a:srgbClr val="000000"/>
                </a:solidFill>
              </a:rPr>
              <a:t>đánh</a:t>
            </a:r>
            <a:r>
              <a:rPr lang="en-US" altLang="ko-KR" sz="1600" b="1" baseline="0" dirty="0">
                <a:solidFill>
                  <a:srgbClr val="000000"/>
                </a:solidFill>
              </a:rPr>
              <a:t> </a:t>
            </a:r>
            <a:r>
              <a:rPr lang="en-US" altLang="ko-KR" sz="1600" b="1" baseline="0" dirty="0" err="1">
                <a:solidFill>
                  <a:srgbClr val="000000"/>
                </a:solidFill>
              </a:rPr>
              <a:t>giá</a:t>
            </a:r>
            <a:r>
              <a:rPr lang="en-US" altLang="ko-KR" sz="1600" b="1" baseline="0" dirty="0">
                <a:solidFill>
                  <a:srgbClr val="000000"/>
                </a:solidFill>
              </a:rPr>
              <a:t> </a:t>
            </a:r>
            <a:r>
              <a:rPr lang="en-US" altLang="ko-KR" sz="1600" b="1" baseline="0" dirty="0" err="1">
                <a:solidFill>
                  <a:srgbClr val="000000"/>
                </a:solidFill>
              </a:rPr>
              <a:t>theo</a:t>
            </a:r>
            <a:r>
              <a:rPr lang="en-US" altLang="ko-KR" sz="1600" b="1" baseline="0" dirty="0">
                <a:solidFill>
                  <a:srgbClr val="000000"/>
                </a:solidFill>
              </a:rPr>
              <a:t> </a:t>
            </a:r>
            <a:r>
              <a:rPr lang="en-US" altLang="ko-KR" sz="1600" b="1" baseline="0" dirty="0" err="1">
                <a:solidFill>
                  <a:srgbClr val="000000"/>
                </a:solidFill>
              </a:rPr>
              <a:t>hạng</a:t>
            </a:r>
            <a:r>
              <a:rPr lang="en-US" altLang="ko-KR" sz="1600" b="1" baseline="0" dirty="0">
                <a:solidFill>
                  <a:srgbClr val="000000"/>
                </a:solidFill>
              </a:rPr>
              <a:t> </a:t>
            </a:r>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quản</a:t>
            </a:r>
            <a:r>
              <a:rPr lang="en-US" altLang="ko-KR" sz="1600" b="1" baseline="0" dirty="0">
                <a:solidFill>
                  <a:srgbClr val="000000"/>
                </a:solidFill>
              </a:rPr>
              <a:t> </a:t>
            </a:r>
            <a:r>
              <a:rPr lang="en-US" altLang="ko-KR" sz="1600" b="1" baseline="0" dirty="0" err="1">
                <a:solidFill>
                  <a:srgbClr val="000000"/>
                </a:solidFill>
              </a:rPr>
              <a:t>lý</a:t>
            </a:r>
            <a:endParaRPr lang="en-US" altLang="ko-KR" sz="1600" b="1" baseline="0" dirty="0">
              <a:solidFill>
                <a:srgbClr val="000000"/>
              </a:solidFill>
            </a:endParaRPr>
          </a:p>
        </p:txBody>
      </p:sp>
      <p:sp>
        <p:nvSpPr>
          <p:cNvPr id="52" name="Text Box 12"/>
          <p:cNvSpPr txBox="1">
            <a:spLocks noChangeArrowheads="1"/>
          </p:cNvSpPr>
          <p:nvPr/>
        </p:nvSpPr>
        <p:spPr bwMode="auto">
          <a:xfrm>
            <a:off x="5502565" y="3322566"/>
            <a:ext cx="1069975" cy="830997"/>
          </a:xfrm>
          <a:prstGeom prst="rect">
            <a:avLst/>
          </a:prstGeom>
          <a:noFill/>
          <a:ln>
            <a:noFill/>
          </a:ln>
          <a:effec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err="1">
                <a:latin typeface="Times New Roman" pitchFamily="18" charset="0"/>
                <a:cs typeface="Times New Roman" pitchFamily="18" charset="0"/>
              </a:rPr>
              <a:t>Xp</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2.0</a:t>
            </a:r>
          </a:p>
          <a:p>
            <a:pPr eaLnBrk="1" latinLnBrk="0" hangingPunct="1">
              <a:spcBef>
                <a:spcPct val="0"/>
              </a:spcBef>
              <a:buFontTx/>
              <a:buNone/>
            </a:pPr>
            <a:r>
              <a:rPr kumimoji="0" lang="en-US" altLang="ko-KR" sz="1600" b="1" dirty="0" err="1">
                <a:latin typeface="Times New Roman" pitchFamily="18" charset="0"/>
                <a:cs typeface="Times New Roman" pitchFamily="18" charset="0"/>
              </a:rPr>
              <a:t>Xpk</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1.67</a:t>
            </a:r>
            <a:endParaRPr kumimoji="0" lang="en-US" altLang="ko-KR" sz="1600" b="1" dirty="0">
              <a:latin typeface="Times New Roman" pitchFamily="18" charset="0"/>
              <a:cs typeface="Times New Roman" pitchFamily="18" charset="0"/>
            </a:endParaRPr>
          </a:p>
        </p:txBody>
      </p:sp>
      <p:sp>
        <p:nvSpPr>
          <p:cNvPr id="53" name="Text Box 13"/>
          <p:cNvSpPr txBox="1">
            <a:spLocks noChangeArrowheads="1"/>
          </p:cNvSpPr>
          <p:nvPr/>
        </p:nvSpPr>
        <p:spPr bwMode="auto">
          <a:xfrm>
            <a:off x="5502565" y="2523137"/>
            <a:ext cx="1069975" cy="830997"/>
          </a:xfrm>
          <a:prstGeom prst="rect">
            <a:avLst/>
          </a:prstGeom>
          <a:noFill/>
          <a:ln>
            <a:noFill/>
          </a:ln>
          <a:effectLst/>
        </p:spPr>
        <p:txBody>
          <a:bodyPr>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a:latin typeface="Times New Roman" pitchFamily="18" charset="0"/>
                <a:cs typeface="Times New Roman" pitchFamily="18" charset="0"/>
              </a:rPr>
              <a:t>Xp</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2.0</a:t>
            </a:r>
          </a:p>
          <a:p>
            <a:pPr eaLnBrk="1" latinLnBrk="0" hangingPunct="1">
              <a:spcBef>
                <a:spcPct val="0"/>
              </a:spcBef>
              <a:buFontTx/>
              <a:buNone/>
            </a:pPr>
            <a:r>
              <a:rPr kumimoji="0" lang="en-US" altLang="ko-KR" sz="1600" b="1" dirty="0" err="1">
                <a:latin typeface="Times New Roman" pitchFamily="18" charset="0"/>
                <a:cs typeface="Times New Roman" pitchFamily="18" charset="0"/>
              </a:rPr>
              <a:t>Xpk</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1.67</a:t>
            </a:r>
          </a:p>
        </p:txBody>
      </p:sp>
      <p:sp>
        <p:nvSpPr>
          <p:cNvPr id="56" name="Text Box 55"/>
          <p:cNvSpPr txBox="1">
            <a:spLocks noChangeArrowheads="1"/>
          </p:cNvSpPr>
          <p:nvPr/>
        </p:nvSpPr>
        <p:spPr bwMode="auto">
          <a:xfrm>
            <a:off x="3101843" y="1700809"/>
            <a:ext cx="266659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800" b="1" u="sng" baseline="0" dirty="0" err="1">
                <a:solidFill>
                  <a:srgbClr val="000000"/>
                </a:solidFill>
              </a:rPr>
              <a:t>Tiêu</a:t>
            </a:r>
            <a:r>
              <a:rPr lang="en-US" altLang="ko-KR" sz="1800" b="1" u="sng" baseline="0" dirty="0">
                <a:solidFill>
                  <a:srgbClr val="000000"/>
                </a:solidFill>
              </a:rPr>
              <a:t> </a:t>
            </a:r>
            <a:r>
              <a:rPr lang="en-US" altLang="ko-KR" sz="1800" b="1" u="sng" baseline="0" dirty="0" err="1">
                <a:solidFill>
                  <a:srgbClr val="000000"/>
                </a:solidFill>
              </a:rPr>
              <a:t>chuẩn</a:t>
            </a:r>
            <a:r>
              <a:rPr lang="en-US" altLang="ko-KR" sz="1800" b="1" u="sng" baseline="0" dirty="0">
                <a:solidFill>
                  <a:srgbClr val="000000"/>
                </a:solidFill>
              </a:rPr>
              <a:t> </a:t>
            </a:r>
            <a:r>
              <a:rPr lang="en-US" altLang="ko-KR" sz="1800" b="1" u="sng" baseline="0" dirty="0" err="1">
                <a:solidFill>
                  <a:srgbClr val="000000"/>
                </a:solidFill>
              </a:rPr>
              <a:t>quản</a:t>
            </a:r>
            <a:r>
              <a:rPr lang="en-US" altLang="ko-KR" sz="1800" b="1" u="sng" baseline="0" dirty="0">
                <a:solidFill>
                  <a:srgbClr val="000000"/>
                </a:solidFill>
              </a:rPr>
              <a:t> </a:t>
            </a:r>
            <a:r>
              <a:rPr lang="en-US" altLang="ko-KR" sz="1800" b="1" u="sng" baseline="0" dirty="0" err="1">
                <a:solidFill>
                  <a:srgbClr val="000000"/>
                </a:solidFill>
              </a:rPr>
              <a:t>lý</a:t>
            </a:r>
            <a:r>
              <a:rPr lang="en-US" altLang="ko-KR" sz="1800" b="1" u="sng" baseline="0" dirty="0">
                <a:solidFill>
                  <a:srgbClr val="000000"/>
                </a:solidFill>
              </a:rPr>
              <a:t> </a:t>
            </a:r>
            <a:r>
              <a:rPr lang="en-US" altLang="ko-KR" sz="1800" b="1" u="sng" baseline="0" dirty="0" err="1">
                <a:solidFill>
                  <a:srgbClr val="000000"/>
                </a:solidFill>
              </a:rPr>
              <a:t>giai</a:t>
            </a:r>
            <a:r>
              <a:rPr lang="en-US" altLang="ko-KR" sz="1800" b="1" u="sng" baseline="0" dirty="0">
                <a:solidFill>
                  <a:srgbClr val="000000"/>
                </a:solidFill>
              </a:rPr>
              <a:t> </a:t>
            </a:r>
            <a:r>
              <a:rPr lang="en-US" altLang="ko-KR" sz="1800" b="1" u="sng" baseline="0" dirty="0" err="1">
                <a:solidFill>
                  <a:srgbClr val="000000"/>
                </a:solidFill>
              </a:rPr>
              <a:t>đoạn</a:t>
            </a:r>
            <a:r>
              <a:rPr lang="en-US" altLang="ko-KR" sz="1800" b="1" u="sng" baseline="0" dirty="0">
                <a:solidFill>
                  <a:srgbClr val="000000"/>
                </a:solidFill>
              </a:rPr>
              <a:t> </a:t>
            </a:r>
            <a:r>
              <a:rPr lang="en-US" altLang="ko-KR" sz="1800" b="1" u="sng" baseline="0" dirty="0" err="1">
                <a:solidFill>
                  <a:srgbClr val="000000"/>
                </a:solidFill>
              </a:rPr>
              <a:t>sản</a:t>
            </a:r>
            <a:r>
              <a:rPr lang="en-US" altLang="ko-KR" sz="1800" b="1" u="sng" baseline="0" dirty="0">
                <a:solidFill>
                  <a:srgbClr val="000000"/>
                </a:solidFill>
              </a:rPr>
              <a:t> </a:t>
            </a:r>
            <a:r>
              <a:rPr lang="en-US" altLang="ko-KR" sz="1800" b="1" u="sng" baseline="0" dirty="0" err="1">
                <a:solidFill>
                  <a:srgbClr val="000000"/>
                </a:solidFill>
              </a:rPr>
              <a:t>xuất</a:t>
            </a:r>
            <a:r>
              <a:rPr lang="en-US" altLang="ko-KR" sz="1800" b="1" u="sng" baseline="0" dirty="0">
                <a:solidFill>
                  <a:srgbClr val="000000"/>
                </a:solidFill>
              </a:rPr>
              <a:t> </a:t>
            </a:r>
            <a:r>
              <a:rPr lang="en-US" altLang="ko-KR" sz="1800" b="1" u="sng" baseline="0" dirty="0" err="1">
                <a:solidFill>
                  <a:srgbClr val="000000"/>
                </a:solidFill>
              </a:rPr>
              <a:t>hàng</a:t>
            </a:r>
            <a:r>
              <a:rPr lang="en-US" altLang="ko-KR" sz="1800" b="1" u="sng" baseline="0" dirty="0">
                <a:solidFill>
                  <a:srgbClr val="000000"/>
                </a:solidFill>
              </a:rPr>
              <a:t> </a:t>
            </a:r>
            <a:r>
              <a:rPr lang="en-US" altLang="ko-KR" sz="1800" b="1" u="sng" baseline="0" dirty="0" err="1">
                <a:solidFill>
                  <a:srgbClr val="000000"/>
                </a:solidFill>
              </a:rPr>
              <a:t>loạt</a:t>
            </a:r>
            <a:endParaRPr lang="en-US" altLang="ko-KR" sz="1800" b="1" u="sng" baseline="0" dirty="0">
              <a:solidFill>
                <a:srgbClr val="000000"/>
              </a:solidFill>
            </a:endParaRPr>
          </a:p>
        </p:txBody>
      </p:sp>
      <p:sp>
        <p:nvSpPr>
          <p:cNvPr id="57" name="Text Box 4"/>
          <p:cNvSpPr txBox="1">
            <a:spLocks noChangeArrowheads="1"/>
          </p:cNvSpPr>
          <p:nvPr/>
        </p:nvSpPr>
        <p:spPr bwMode="auto">
          <a:xfrm>
            <a:off x="4107843" y="2613398"/>
            <a:ext cx="686406" cy="338554"/>
          </a:xfrm>
          <a:prstGeom prst="rect">
            <a:avLst/>
          </a:prstGeom>
          <a:noFill/>
          <a:ln>
            <a:noFill/>
          </a:ln>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a:latin typeface="Times New Roman" pitchFamily="18" charset="0"/>
                <a:cs typeface="Times New Roman" pitchFamily="18" charset="0"/>
              </a:rPr>
              <a:t>KPC:</a:t>
            </a:r>
          </a:p>
        </p:txBody>
      </p:sp>
      <p:sp>
        <p:nvSpPr>
          <p:cNvPr id="58" name="Text Box 5"/>
          <p:cNvSpPr txBox="1">
            <a:spLocks noChangeArrowheads="1"/>
          </p:cNvSpPr>
          <p:nvPr/>
        </p:nvSpPr>
        <p:spPr bwMode="auto">
          <a:xfrm>
            <a:off x="4107843" y="3466403"/>
            <a:ext cx="686406" cy="338554"/>
          </a:xfrm>
          <a:prstGeom prst="rect">
            <a:avLst/>
          </a:prstGeom>
          <a:noFill/>
          <a:ln>
            <a:noFill/>
          </a:ln>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a:latin typeface="Times New Roman" pitchFamily="18" charset="0"/>
                <a:cs typeface="Times New Roman" pitchFamily="18" charset="0"/>
              </a:rPr>
              <a:t>PQC:</a:t>
            </a:r>
          </a:p>
        </p:txBody>
      </p:sp>
      <p:sp>
        <p:nvSpPr>
          <p:cNvPr id="61" name="Text Box 55"/>
          <p:cNvSpPr txBox="1">
            <a:spLocks noChangeArrowheads="1"/>
          </p:cNvSpPr>
          <p:nvPr/>
        </p:nvSpPr>
        <p:spPr bwMode="auto">
          <a:xfrm>
            <a:off x="517399" y="908721"/>
            <a:ext cx="848686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lnSpc>
                <a:spcPct val="150000"/>
              </a:lnSpc>
            </a:pPr>
            <a:r>
              <a:rPr lang="en-US" altLang="ko-KR" sz="1600" b="1" baseline="0" dirty="0">
                <a:solidFill>
                  <a:srgbClr val="000000"/>
                </a:solidFill>
              </a:rPr>
              <a:t>- </a:t>
            </a:r>
            <a:r>
              <a:rPr lang="en-US" altLang="ko-KR" sz="1600" b="1" baseline="0" dirty="0" err="1">
                <a:solidFill>
                  <a:srgbClr val="000000"/>
                </a:solidFill>
              </a:rPr>
              <a:t>Tùy</a:t>
            </a:r>
            <a:r>
              <a:rPr lang="en-US" altLang="ko-KR" sz="1600" b="1" baseline="0" dirty="0">
                <a:solidFill>
                  <a:srgbClr val="000000"/>
                </a:solidFill>
              </a:rPr>
              <a:t> </a:t>
            </a:r>
            <a:r>
              <a:rPr lang="en-US" altLang="ko-KR" sz="1600" b="1" baseline="0" dirty="0" err="1">
                <a:solidFill>
                  <a:srgbClr val="000000"/>
                </a:solidFill>
              </a:rPr>
              <a:t>theo</a:t>
            </a:r>
            <a:r>
              <a:rPr lang="en-US" altLang="ko-KR" sz="1600" b="1" baseline="0" dirty="0">
                <a:solidFill>
                  <a:srgbClr val="000000"/>
                </a:solidFill>
              </a:rPr>
              <a:t> </a:t>
            </a:r>
            <a:r>
              <a:rPr lang="en-US" altLang="ko-KR" sz="1600" b="1" baseline="0" dirty="0" err="1">
                <a:solidFill>
                  <a:srgbClr val="000000"/>
                </a:solidFill>
              </a:rPr>
              <a:t>độ</a:t>
            </a:r>
            <a:r>
              <a:rPr lang="en-US" altLang="ko-KR" sz="1600" b="1" baseline="0" dirty="0">
                <a:solidFill>
                  <a:srgbClr val="000000"/>
                </a:solidFill>
              </a:rPr>
              <a:t> </a:t>
            </a:r>
            <a:r>
              <a:rPr lang="en-US" altLang="ko-KR" sz="1600" b="1" baseline="0" dirty="0" err="1">
                <a:solidFill>
                  <a:srgbClr val="000000"/>
                </a:solidFill>
              </a:rPr>
              <a:t>quan</a:t>
            </a:r>
            <a:r>
              <a:rPr lang="en-US" altLang="ko-KR" sz="1600" b="1" baseline="0" dirty="0">
                <a:solidFill>
                  <a:srgbClr val="000000"/>
                </a:solidFill>
              </a:rPr>
              <a:t> </a:t>
            </a:r>
            <a:r>
              <a:rPr lang="en-US" altLang="ko-KR" sz="1600" b="1" baseline="0" dirty="0" err="1">
                <a:solidFill>
                  <a:srgbClr val="000000"/>
                </a:solidFill>
              </a:rPr>
              <a:t>trọng</a:t>
            </a:r>
            <a:r>
              <a:rPr lang="en-US" altLang="ko-KR" sz="1600" b="1" baseline="0" dirty="0">
                <a:solidFill>
                  <a:srgbClr val="000000"/>
                </a:solidFill>
              </a:rPr>
              <a:t> </a:t>
            </a:r>
            <a:r>
              <a:rPr lang="en-US" altLang="ko-KR" sz="1600" b="1" baseline="0" dirty="0" err="1">
                <a:solidFill>
                  <a:srgbClr val="000000"/>
                </a:solidFill>
              </a:rPr>
              <a:t>của</a:t>
            </a:r>
            <a:r>
              <a:rPr lang="en-US" altLang="ko-KR" sz="1600" b="1" baseline="0" dirty="0">
                <a:solidFill>
                  <a:srgbClr val="000000"/>
                </a:solidFill>
              </a:rPr>
              <a:t> </a:t>
            </a:r>
            <a:r>
              <a:rPr lang="en-US" altLang="ko-KR" sz="1600" b="1" baseline="0" dirty="0" err="1">
                <a:solidFill>
                  <a:srgbClr val="000000"/>
                </a:solidFill>
              </a:rPr>
              <a:t>hạng</a:t>
            </a:r>
            <a:r>
              <a:rPr lang="en-US" altLang="ko-KR" sz="1600" b="1" baseline="0" dirty="0">
                <a:solidFill>
                  <a:srgbClr val="000000"/>
                </a:solidFill>
              </a:rPr>
              <a:t> </a:t>
            </a:r>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quản</a:t>
            </a:r>
            <a:r>
              <a:rPr lang="en-US" altLang="ko-KR" sz="1600" b="1" baseline="0" dirty="0">
                <a:solidFill>
                  <a:srgbClr val="000000"/>
                </a:solidFill>
              </a:rPr>
              <a:t> </a:t>
            </a:r>
            <a:r>
              <a:rPr lang="en-US" altLang="ko-KR" sz="1600" b="1" baseline="0" dirty="0" err="1">
                <a:solidFill>
                  <a:srgbClr val="000000"/>
                </a:solidFill>
              </a:rPr>
              <a:t>lý</a:t>
            </a:r>
            <a:r>
              <a:rPr lang="en-US" altLang="ko-KR" sz="1600" b="1" baseline="0" dirty="0">
                <a:solidFill>
                  <a:srgbClr val="000000"/>
                </a:solidFill>
              </a:rPr>
              <a:t> </a:t>
            </a:r>
            <a:r>
              <a:rPr lang="en-US" altLang="ko-KR" sz="1600" b="1" baseline="0" dirty="0" err="1">
                <a:solidFill>
                  <a:srgbClr val="000000"/>
                </a:solidFill>
              </a:rPr>
              <a:t>chia</a:t>
            </a:r>
            <a:r>
              <a:rPr lang="en-US" altLang="ko-KR" sz="1600" b="1" baseline="0" dirty="0">
                <a:solidFill>
                  <a:srgbClr val="000000"/>
                </a:solidFill>
              </a:rPr>
              <a:t> </a:t>
            </a:r>
            <a:r>
              <a:rPr lang="en-US" altLang="ko-KR" sz="1600" b="1" baseline="0" dirty="0" err="1">
                <a:solidFill>
                  <a:srgbClr val="000000"/>
                </a:solidFill>
              </a:rPr>
              <a:t>ra</a:t>
            </a:r>
            <a:r>
              <a:rPr lang="en-US" altLang="ko-KR" sz="1600" b="1" baseline="0" dirty="0">
                <a:solidFill>
                  <a:srgbClr val="000000"/>
                </a:solidFill>
              </a:rPr>
              <a:t> </a:t>
            </a:r>
            <a:r>
              <a:rPr lang="en-US" altLang="ko-KR" sz="1600" b="1" baseline="0" dirty="0" err="1">
                <a:solidFill>
                  <a:srgbClr val="000000"/>
                </a:solidFill>
              </a:rPr>
              <a:t>hạng</a:t>
            </a:r>
            <a:r>
              <a:rPr lang="en-US" altLang="ko-KR" sz="1600" b="1" baseline="0" dirty="0">
                <a:solidFill>
                  <a:srgbClr val="000000"/>
                </a:solidFill>
              </a:rPr>
              <a:t> </a:t>
            </a:r>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thông</a:t>
            </a:r>
            <a:r>
              <a:rPr lang="en-US" altLang="ko-KR" sz="1600" b="1" baseline="0" dirty="0">
                <a:solidFill>
                  <a:srgbClr val="000000"/>
                </a:solidFill>
              </a:rPr>
              <a:t> </a:t>
            </a:r>
            <a:r>
              <a:rPr lang="en-US" altLang="ko-KR" sz="1600" b="1" baseline="0" dirty="0" err="1">
                <a:solidFill>
                  <a:srgbClr val="000000"/>
                </a:solidFill>
              </a:rPr>
              <a:t>thường</a:t>
            </a:r>
            <a:r>
              <a:rPr lang="en-US" altLang="ko-KR" sz="1600" b="1" baseline="0" dirty="0">
                <a:solidFill>
                  <a:srgbClr val="000000"/>
                </a:solidFill>
              </a:rPr>
              <a:t> </a:t>
            </a:r>
            <a:r>
              <a:rPr lang="en-US" altLang="ko-KR" sz="1600" b="1" baseline="0" dirty="0" err="1">
                <a:solidFill>
                  <a:srgbClr val="000000"/>
                </a:solidFill>
              </a:rPr>
              <a:t>và</a:t>
            </a:r>
            <a:r>
              <a:rPr lang="en-US" altLang="ko-KR" sz="1600" b="1" baseline="0" dirty="0">
                <a:solidFill>
                  <a:srgbClr val="000000"/>
                </a:solidFill>
              </a:rPr>
              <a:t> </a:t>
            </a:r>
            <a:r>
              <a:rPr lang="en-US" altLang="ko-KR" sz="1600" b="1" baseline="0" dirty="0" err="1">
                <a:solidFill>
                  <a:srgbClr val="000000"/>
                </a:solidFill>
              </a:rPr>
              <a:t>hạng</a:t>
            </a:r>
            <a:r>
              <a:rPr lang="en-US" altLang="ko-KR" sz="1600" b="1" baseline="0" dirty="0">
                <a:solidFill>
                  <a:srgbClr val="000000"/>
                </a:solidFill>
              </a:rPr>
              <a:t> </a:t>
            </a:r>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đặc</a:t>
            </a:r>
            <a:r>
              <a:rPr lang="en-US" altLang="ko-KR" sz="1600" b="1" baseline="0" dirty="0">
                <a:solidFill>
                  <a:srgbClr val="000000"/>
                </a:solidFill>
              </a:rPr>
              <a:t> </a:t>
            </a:r>
            <a:r>
              <a:rPr lang="en-US" altLang="ko-KR" sz="1600" b="1" baseline="0" dirty="0" err="1">
                <a:solidFill>
                  <a:srgbClr val="000000"/>
                </a:solidFill>
              </a:rPr>
              <a:t>tính</a:t>
            </a:r>
            <a:r>
              <a:rPr lang="en-US" altLang="ko-KR" sz="1600" b="1" baseline="0" dirty="0">
                <a:solidFill>
                  <a:srgbClr val="000000"/>
                </a:solidFill>
              </a:rPr>
              <a:t> </a:t>
            </a:r>
            <a:r>
              <a:rPr lang="en-US" altLang="ko-KR" sz="1600" b="1" baseline="0" dirty="0" err="1">
                <a:solidFill>
                  <a:srgbClr val="000000"/>
                </a:solidFill>
              </a:rPr>
              <a:t>đặc</a:t>
            </a:r>
            <a:r>
              <a:rPr lang="en-US" altLang="ko-KR" sz="1600" b="1" baseline="0" dirty="0">
                <a:solidFill>
                  <a:srgbClr val="000000"/>
                </a:solidFill>
              </a:rPr>
              <a:t> </a:t>
            </a:r>
            <a:r>
              <a:rPr lang="en-US" altLang="ko-KR" sz="1600" b="1" baseline="0" dirty="0" err="1">
                <a:solidFill>
                  <a:srgbClr val="000000"/>
                </a:solidFill>
              </a:rPr>
              <a:t>biệt</a:t>
            </a:r>
            <a:r>
              <a:rPr lang="en-US" altLang="ko-KR" sz="1600" b="1" baseline="0" dirty="0">
                <a:solidFill>
                  <a:srgbClr val="000000"/>
                </a:solidFill>
              </a:rPr>
              <a:t>, </a:t>
            </a:r>
            <a:r>
              <a:rPr lang="en-US" altLang="ko-KR" sz="1600" b="1" baseline="0" dirty="0" err="1">
                <a:solidFill>
                  <a:srgbClr val="000000"/>
                </a:solidFill>
              </a:rPr>
              <a:t>tùy</a:t>
            </a:r>
            <a:r>
              <a:rPr lang="en-US" altLang="ko-KR" sz="1600" b="1" baseline="0" dirty="0">
                <a:solidFill>
                  <a:srgbClr val="000000"/>
                </a:solidFill>
              </a:rPr>
              <a:t> </a:t>
            </a:r>
            <a:r>
              <a:rPr lang="en-US" altLang="ko-KR" sz="1600" b="1" baseline="0" dirty="0" err="1">
                <a:solidFill>
                  <a:srgbClr val="000000"/>
                </a:solidFill>
              </a:rPr>
              <a:t>theo</a:t>
            </a:r>
            <a:r>
              <a:rPr lang="en-US" altLang="ko-KR" sz="1600" b="1" baseline="0" dirty="0">
                <a:solidFill>
                  <a:srgbClr val="000000"/>
                </a:solidFill>
              </a:rPr>
              <a:t> </a:t>
            </a:r>
            <a:r>
              <a:rPr lang="en-US" altLang="ko-KR" sz="1600" b="1" baseline="0" dirty="0" err="1">
                <a:solidFill>
                  <a:srgbClr val="000000"/>
                </a:solidFill>
              </a:rPr>
              <a:t>từng</a:t>
            </a:r>
            <a:r>
              <a:rPr lang="en-US" altLang="ko-KR" sz="1600" b="1" baseline="0" dirty="0">
                <a:solidFill>
                  <a:srgbClr val="000000"/>
                </a:solidFill>
              </a:rPr>
              <a:t> </a:t>
            </a:r>
            <a:r>
              <a:rPr lang="en-US" altLang="ko-KR" sz="1600" b="1" baseline="0" dirty="0" err="1">
                <a:solidFill>
                  <a:srgbClr val="000000"/>
                </a:solidFill>
              </a:rPr>
              <a:t>hạng</a:t>
            </a:r>
            <a:r>
              <a:rPr lang="en-US" altLang="ko-KR" sz="1600" b="1" baseline="0" dirty="0">
                <a:solidFill>
                  <a:srgbClr val="000000"/>
                </a:solidFill>
              </a:rPr>
              <a:t> </a:t>
            </a:r>
            <a:r>
              <a:rPr lang="en-US" altLang="ko-KR" sz="1600" b="1" baseline="0" dirty="0" err="1">
                <a:solidFill>
                  <a:srgbClr val="000000"/>
                </a:solidFill>
              </a:rPr>
              <a:t>mục</a:t>
            </a:r>
            <a:r>
              <a:rPr lang="en-US" altLang="ko-KR" sz="1600" b="1" baseline="0" dirty="0">
                <a:solidFill>
                  <a:srgbClr val="000000"/>
                </a:solidFill>
              </a:rPr>
              <a:t> </a:t>
            </a:r>
            <a:r>
              <a:rPr lang="en-US" altLang="ko-KR" sz="1600" b="1" baseline="0" dirty="0" err="1">
                <a:solidFill>
                  <a:srgbClr val="000000"/>
                </a:solidFill>
              </a:rPr>
              <a:t>tiêu</a:t>
            </a:r>
            <a:r>
              <a:rPr lang="en-US" altLang="ko-KR" sz="1600" b="1" baseline="0" dirty="0">
                <a:solidFill>
                  <a:srgbClr val="000000"/>
                </a:solidFill>
              </a:rPr>
              <a:t> </a:t>
            </a:r>
            <a:r>
              <a:rPr lang="en-US" altLang="ko-KR" sz="1600" b="1" baseline="0" dirty="0" err="1">
                <a:solidFill>
                  <a:srgbClr val="000000"/>
                </a:solidFill>
              </a:rPr>
              <a:t>chuẩn</a:t>
            </a:r>
            <a:r>
              <a:rPr lang="en-US" altLang="ko-KR" sz="1600" b="1" baseline="0" dirty="0">
                <a:solidFill>
                  <a:srgbClr val="000000"/>
                </a:solidFill>
              </a:rPr>
              <a:t> </a:t>
            </a:r>
            <a:r>
              <a:rPr lang="en-US" altLang="ko-KR" sz="1600" b="1" baseline="0" dirty="0" err="1">
                <a:solidFill>
                  <a:srgbClr val="000000"/>
                </a:solidFill>
              </a:rPr>
              <a:t>yêu</a:t>
            </a:r>
            <a:r>
              <a:rPr lang="en-US" altLang="ko-KR" sz="1600" b="1" baseline="0" dirty="0">
                <a:solidFill>
                  <a:srgbClr val="000000"/>
                </a:solidFill>
              </a:rPr>
              <a:t> </a:t>
            </a:r>
            <a:r>
              <a:rPr lang="en-US" altLang="ko-KR" sz="1600" b="1" baseline="0" dirty="0" err="1">
                <a:solidFill>
                  <a:srgbClr val="000000"/>
                </a:solidFill>
              </a:rPr>
              <a:t>cầu</a:t>
            </a:r>
            <a:r>
              <a:rPr lang="en-US" altLang="ko-KR" sz="1600" b="1" baseline="0" dirty="0">
                <a:solidFill>
                  <a:srgbClr val="000000"/>
                </a:solidFill>
              </a:rPr>
              <a:t> </a:t>
            </a:r>
            <a:r>
              <a:rPr lang="en-US" altLang="ko-KR" sz="1600" b="1" baseline="0" dirty="0" err="1">
                <a:solidFill>
                  <a:srgbClr val="000000"/>
                </a:solidFill>
              </a:rPr>
              <a:t>năng</a:t>
            </a:r>
            <a:r>
              <a:rPr lang="en-US" altLang="ko-KR" sz="1600" b="1" baseline="0" dirty="0">
                <a:solidFill>
                  <a:srgbClr val="000000"/>
                </a:solidFill>
              </a:rPr>
              <a:t> </a:t>
            </a:r>
            <a:r>
              <a:rPr lang="en-US" altLang="ko-KR" sz="1600" b="1" baseline="0" dirty="0" err="1">
                <a:solidFill>
                  <a:srgbClr val="000000"/>
                </a:solidFill>
              </a:rPr>
              <a:t>lực</a:t>
            </a:r>
            <a:r>
              <a:rPr lang="en-US" altLang="ko-KR" sz="1600" b="1" baseline="0" dirty="0">
                <a:solidFill>
                  <a:srgbClr val="000000"/>
                </a:solidFill>
              </a:rPr>
              <a:t> </a:t>
            </a:r>
            <a:r>
              <a:rPr lang="en-US" altLang="ko-KR" sz="1600" b="1" baseline="0" dirty="0" err="1">
                <a:solidFill>
                  <a:srgbClr val="000000"/>
                </a:solidFill>
              </a:rPr>
              <a:t>quá</a:t>
            </a:r>
            <a:r>
              <a:rPr lang="en-US" altLang="ko-KR" sz="1600" b="1" baseline="0" dirty="0">
                <a:solidFill>
                  <a:srgbClr val="000000"/>
                </a:solidFill>
              </a:rPr>
              <a:t> </a:t>
            </a:r>
            <a:r>
              <a:rPr lang="en-US" altLang="ko-KR" sz="1600" b="1" baseline="0" dirty="0" err="1">
                <a:solidFill>
                  <a:srgbClr val="000000"/>
                </a:solidFill>
              </a:rPr>
              <a:t>trình</a:t>
            </a:r>
            <a:r>
              <a:rPr lang="en-US" altLang="ko-KR" sz="1600" b="1" baseline="0" dirty="0">
                <a:solidFill>
                  <a:srgbClr val="000000"/>
                </a:solidFill>
              </a:rPr>
              <a:t> </a:t>
            </a:r>
            <a:r>
              <a:rPr lang="en-US" altLang="ko-KR" sz="1600" b="1" baseline="0" dirty="0" err="1">
                <a:solidFill>
                  <a:srgbClr val="000000"/>
                </a:solidFill>
              </a:rPr>
              <a:t>sẽ</a:t>
            </a:r>
            <a:r>
              <a:rPr lang="en-US" altLang="ko-KR" sz="1600" b="1" baseline="0" dirty="0">
                <a:solidFill>
                  <a:srgbClr val="000000"/>
                </a:solidFill>
              </a:rPr>
              <a:t> </a:t>
            </a:r>
            <a:r>
              <a:rPr lang="en-US" altLang="ko-KR" sz="1600" b="1" baseline="0" dirty="0" err="1">
                <a:solidFill>
                  <a:srgbClr val="000000"/>
                </a:solidFill>
              </a:rPr>
              <a:t>khác</a:t>
            </a:r>
            <a:r>
              <a:rPr lang="en-US" altLang="ko-KR" sz="1600" b="1" baseline="0" dirty="0">
                <a:solidFill>
                  <a:srgbClr val="000000"/>
                </a:solidFill>
              </a:rPr>
              <a:t> </a:t>
            </a:r>
            <a:r>
              <a:rPr lang="en-US" altLang="ko-KR" sz="1600" b="1" baseline="0" dirty="0" err="1">
                <a:solidFill>
                  <a:srgbClr val="000000"/>
                </a:solidFill>
              </a:rPr>
              <a:t>nhau</a:t>
            </a:r>
            <a:endParaRPr lang="en-US" altLang="ko-KR" sz="1600" b="1" baseline="0" dirty="0">
              <a:solidFill>
                <a:srgbClr val="000000"/>
              </a:solidFill>
            </a:endParaRPr>
          </a:p>
        </p:txBody>
      </p:sp>
      <p:sp>
        <p:nvSpPr>
          <p:cNvPr id="33" name="TextBox 32"/>
          <p:cNvSpPr txBox="1"/>
          <p:nvPr/>
        </p:nvSpPr>
        <p:spPr>
          <a:xfrm>
            <a:off x="1798265" y="5949281"/>
            <a:ext cx="1039067" cy="307777"/>
          </a:xfrm>
          <a:prstGeom prst="rect">
            <a:avLst/>
          </a:prstGeom>
          <a:noFill/>
        </p:spPr>
        <p:txBody>
          <a:bodyPr wrap="none" rtlCol="0">
            <a:spAutoFit/>
          </a:bodyPr>
          <a:lstStyle/>
          <a:p>
            <a:r>
              <a:rPr lang="en-US" altLang="ko-KR" sz="1400" b="1" dirty="0">
                <a:latin typeface="+mn-lt"/>
              </a:rPr>
              <a:t>*</a:t>
            </a:r>
            <a:r>
              <a:rPr lang="en-US" altLang="ko-KR" sz="1400" b="1" dirty="0" err="1">
                <a:latin typeface="+mn-lt"/>
              </a:rPr>
              <a:t>Xp:Cp,Pp</a:t>
            </a:r>
            <a:endParaRPr lang="ko-KR" altLang="en-US" sz="1400" b="1" dirty="0">
              <a:latin typeface="+mn-lt"/>
            </a:endParaRPr>
          </a:p>
        </p:txBody>
      </p:sp>
      <p:sp>
        <p:nvSpPr>
          <p:cNvPr id="104" name="TextBox 103"/>
          <p:cNvSpPr txBox="1"/>
          <p:nvPr/>
        </p:nvSpPr>
        <p:spPr>
          <a:xfrm>
            <a:off x="2858151" y="5978761"/>
            <a:ext cx="1352614" cy="307777"/>
          </a:xfrm>
          <a:prstGeom prst="rect">
            <a:avLst/>
          </a:prstGeom>
          <a:noFill/>
        </p:spPr>
        <p:txBody>
          <a:bodyPr wrap="none" rtlCol="0">
            <a:spAutoFit/>
          </a:bodyPr>
          <a:lstStyle/>
          <a:p>
            <a:r>
              <a:rPr lang="en-US" altLang="ko-KR" sz="1400" b="1" dirty="0">
                <a:latin typeface="+mn-lt"/>
              </a:rPr>
              <a:t>*</a:t>
            </a:r>
            <a:r>
              <a:rPr lang="en-US" altLang="ko-KR" sz="1400" b="1" dirty="0" err="1">
                <a:latin typeface="+mn-lt"/>
              </a:rPr>
              <a:t>Xpk:Cpk,Ppk</a:t>
            </a:r>
            <a:endParaRPr lang="ko-KR" altLang="en-US" sz="1400" b="1" dirty="0">
              <a:latin typeface="+mn-lt"/>
            </a:endParaRPr>
          </a:p>
        </p:txBody>
      </p:sp>
      <p:sp>
        <p:nvSpPr>
          <p:cNvPr id="59" name="Text Box 6"/>
          <p:cNvSpPr txBox="1">
            <a:spLocks noChangeArrowheads="1"/>
          </p:cNvSpPr>
          <p:nvPr/>
        </p:nvSpPr>
        <p:spPr bwMode="auto">
          <a:xfrm>
            <a:off x="3783330" y="4470212"/>
            <a:ext cx="1510350" cy="830997"/>
          </a:xfrm>
          <a:prstGeom prst="rect">
            <a:avLst/>
          </a:prstGeom>
          <a:noFill/>
          <a:ln>
            <a:noFill/>
          </a:ln>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eaLnBrk="1" latinLnBrk="0" hangingPunct="1">
              <a:spcBef>
                <a:spcPct val="0"/>
              </a:spcBef>
              <a:buFontTx/>
              <a:buNone/>
            </a:pPr>
            <a:r>
              <a:rPr kumimoji="0" lang="en-US" altLang="ko-KR" sz="1600" b="1" dirty="0">
                <a:latin typeface="Times New Roman" pitchFamily="18" charset="0"/>
                <a:cs typeface="Times New Roman" pitchFamily="18" charset="0"/>
              </a:rPr>
              <a:t>Standard</a:t>
            </a:r>
          </a:p>
          <a:p>
            <a:pPr algn="ctr" eaLnBrk="1" latinLnBrk="0" hangingPunct="1">
              <a:spcBef>
                <a:spcPct val="0"/>
              </a:spcBef>
              <a:buFontTx/>
              <a:buNone/>
            </a:pPr>
            <a:r>
              <a:rPr kumimoji="0" lang="en-US" altLang="ko-KR" sz="1600" b="1" dirty="0">
                <a:latin typeface="Times New Roman" pitchFamily="18" charset="0"/>
                <a:cs typeface="Times New Roman" pitchFamily="18" charset="0"/>
              </a:rPr>
              <a:t>Product</a:t>
            </a:r>
          </a:p>
          <a:p>
            <a:pPr algn="ctr" eaLnBrk="1" latinLnBrk="0" hangingPunct="1">
              <a:spcBef>
                <a:spcPct val="0"/>
              </a:spcBef>
              <a:buFontTx/>
              <a:buNone/>
            </a:pPr>
            <a:r>
              <a:rPr kumimoji="0" lang="en-US" altLang="ko-KR" sz="1600" b="1" dirty="0">
                <a:latin typeface="Times New Roman" pitchFamily="18" charset="0"/>
                <a:cs typeface="Times New Roman" pitchFamily="18" charset="0"/>
              </a:rPr>
              <a:t>Characteristic:</a:t>
            </a:r>
          </a:p>
        </p:txBody>
      </p:sp>
      <p:sp>
        <p:nvSpPr>
          <p:cNvPr id="51" name="Text Box 11"/>
          <p:cNvSpPr txBox="1">
            <a:spLocks noChangeArrowheads="1"/>
          </p:cNvSpPr>
          <p:nvPr/>
        </p:nvSpPr>
        <p:spPr bwMode="auto">
          <a:xfrm>
            <a:off x="5502566" y="4593324"/>
            <a:ext cx="1429806" cy="584775"/>
          </a:xfrm>
          <a:prstGeom prst="rect">
            <a:avLst/>
          </a:prstGeom>
          <a:noFill/>
          <a:ln>
            <a:noFill/>
          </a:ln>
          <a:effectLst/>
        </p:spPr>
        <p:txBody>
          <a:bodyPr wrap="squar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latinLnBrk="0" hangingPunct="1">
              <a:spcBef>
                <a:spcPct val="0"/>
              </a:spcBef>
              <a:buFontTx/>
              <a:buNone/>
            </a:pPr>
            <a:r>
              <a:rPr kumimoji="0" lang="en-US" altLang="ko-KR" sz="1600" b="1" dirty="0" err="1">
                <a:latin typeface="Times New Roman" pitchFamily="18" charset="0"/>
                <a:cs typeface="Times New Roman" pitchFamily="18" charset="0"/>
              </a:rPr>
              <a:t>Xp</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1.33</a:t>
            </a:r>
          </a:p>
          <a:p>
            <a:pPr eaLnBrk="1" latinLnBrk="0" hangingPunct="1">
              <a:spcBef>
                <a:spcPct val="0"/>
              </a:spcBef>
              <a:buFontTx/>
              <a:buNone/>
            </a:pPr>
            <a:r>
              <a:rPr kumimoji="0" lang="en-US" altLang="ko-KR" sz="1600" b="1" dirty="0" err="1">
                <a:latin typeface="Times New Roman" pitchFamily="18" charset="0"/>
                <a:cs typeface="Times New Roman" pitchFamily="18" charset="0"/>
              </a:rPr>
              <a:t>Xpk</a:t>
            </a:r>
            <a:r>
              <a:rPr kumimoji="0" lang="en-US" altLang="ko-KR" sz="1600" b="1" dirty="0">
                <a:latin typeface="Times New Roman" pitchFamily="18" charset="0"/>
                <a:cs typeface="Times New Roman" pitchFamily="18" charset="0"/>
              </a:rPr>
              <a:t> </a:t>
            </a:r>
            <a:r>
              <a:rPr kumimoji="0" lang="en-US" altLang="ko-KR" sz="1600" b="1" dirty="0">
                <a:latin typeface="Symbol" pitchFamily="18" charset="2"/>
                <a:cs typeface="Times New Roman" pitchFamily="18" charset="0"/>
              </a:rPr>
              <a:t>³ </a:t>
            </a:r>
            <a:r>
              <a:rPr kumimoji="0" lang="en-US" altLang="ko-KR" sz="1600" b="1" dirty="0">
                <a:latin typeface="Times New Roman" pitchFamily="18" charset="0"/>
                <a:cs typeface="Times New Roman" pitchFamily="18" charset="0"/>
              </a:rPr>
              <a:t>1.00</a:t>
            </a:r>
          </a:p>
        </p:txBody>
      </p:sp>
      <p:sp>
        <p:nvSpPr>
          <p:cNvPr id="16"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218</a:t>
            </a:fld>
            <a:endParaRPr lang="ko-KR" altLang="en-US" sz="1200" dirty="0"/>
          </a:p>
        </p:txBody>
      </p:sp>
      <p:sp>
        <p:nvSpPr>
          <p:cNvPr id="17" name="Text Box 39"/>
          <p:cNvSpPr txBox="1">
            <a:spLocks noChangeArrowheads="1"/>
          </p:cNvSpPr>
          <p:nvPr/>
        </p:nvSpPr>
        <p:spPr bwMode="auto">
          <a:xfrm>
            <a:off x="118582" y="116632"/>
            <a:ext cx="3466334"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206717852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219</a:t>
            </a:fld>
            <a:endParaRPr lang="ko-KR" altLang="en-US" dirty="0"/>
          </a:p>
        </p:txBody>
      </p:sp>
      <p:sp>
        <p:nvSpPr>
          <p:cNvPr id="3" name="직사각형 2"/>
          <p:cNvSpPr/>
          <p:nvPr/>
        </p:nvSpPr>
        <p:spPr bwMode="auto">
          <a:xfrm>
            <a:off x="849740" y="1844824"/>
            <a:ext cx="7626159" cy="4392464"/>
          </a:xfrm>
          <a:prstGeom prst="rect">
            <a:avLst/>
          </a:prstGeom>
          <a:solidFill>
            <a:schemeClr val="bg1">
              <a:lumMod val="95000"/>
            </a:schemeClr>
          </a:solidFill>
          <a:ln w="76200" cap="flat" cmpd="tri"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Tx/>
              <a:buNone/>
              <a:tabLst/>
            </a:pPr>
            <a:endParaRPr kumimoji="1" lang="ko-KR" altLang="en-US" sz="1400" b="0" i="0" u="none" strike="noStrike" cap="none" normalizeH="0" baseline="-25000" dirty="0">
              <a:ln>
                <a:noFill/>
              </a:ln>
              <a:solidFill>
                <a:schemeClr val="tx1"/>
              </a:solidFill>
              <a:effectLst/>
              <a:latin typeface="맑은 고딕" pitchFamily="50" charset="-127"/>
              <a:ea typeface="맑은 고딕" pitchFamily="50" charset="-127"/>
            </a:endParaRPr>
          </a:p>
        </p:txBody>
      </p:sp>
      <p:sp>
        <p:nvSpPr>
          <p:cNvPr id="4" name="Rectangle 50"/>
          <p:cNvSpPr>
            <a:spLocks noChangeArrowheads="1"/>
          </p:cNvSpPr>
          <p:nvPr/>
        </p:nvSpPr>
        <p:spPr bwMode="auto">
          <a:xfrm>
            <a:off x="1091333" y="2204883"/>
            <a:ext cx="4544170" cy="1401763"/>
          </a:xfrm>
          <a:prstGeom prst="rect">
            <a:avLst/>
          </a:prstGeom>
          <a:solidFill>
            <a:srgbClr val="92D050"/>
          </a:solidFill>
          <a:ln w="9525">
            <a:solidFill>
              <a:schemeClr val="bg2"/>
            </a:solidFill>
            <a:prstDash val="dash"/>
            <a:miter lim="800000"/>
            <a:headEnd/>
            <a:tailEnd/>
          </a:ln>
        </p:spPr>
        <p:txBody>
          <a:bodyPr wrap="none" anchor="ct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000" baseline="0" dirty="0">
              <a:solidFill>
                <a:srgbClr val="000000"/>
              </a:solidFill>
              <a:latin typeface="Arial" pitchFamily="34" charset="0"/>
              <a:ea typeface="돋움" pitchFamily="50" charset="-127"/>
            </a:endParaRPr>
          </a:p>
        </p:txBody>
      </p:sp>
      <p:sp>
        <p:nvSpPr>
          <p:cNvPr id="5" name="Rectangle 2"/>
          <p:cNvSpPr>
            <a:spLocks noChangeArrowheads="1"/>
          </p:cNvSpPr>
          <p:nvPr/>
        </p:nvSpPr>
        <p:spPr bwMode="auto">
          <a:xfrm>
            <a:off x="1320322" y="1259137"/>
            <a:ext cx="186013" cy="339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defTabSz="762000" eaLnBrk="0" hangingPunct="0">
              <a:defRPr kumimoji="1" sz="1400" baseline="-25000">
                <a:solidFill>
                  <a:schemeClr val="tx1"/>
                </a:solidFill>
                <a:latin typeface="맑은 고딕" pitchFamily="50" charset="-127"/>
                <a:ea typeface="맑은 고딕" pitchFamily="50" charset="-127"/>
              </a:defRPr>
            </a:lvl1pPr>
            <a:lvl2pPr marL="742950" indent="-285750" defTabSz="762000" eaLnBrk="0" hangingPunct="0">
              <a:defRPr kumimoji="1" sz="1400" baseline="-25000">
                <a:solidFill>
                  <a:schemeClr val="tx1"/>
                </a:solidFill>
                <a:latin typeface="맑은 고딕" pitchFamily="50" charset="-127"/>
                <a:ea typeface="맑은 고딕" pitchFamily="50" charset="-127"/>
              </a:defRPr>
            </a:lvl2pPr>
            <a:lvl3pPr marL="1143000" indent="-228600" defTabSz="762000" eaLnBrk="0" hangingPunct="0">
              <a:defRPr kumimoji="1" sz="1400" baseline="-25000">
                <a:solidFill>
                  <a:schemeClr val="tx1"/>
                </a:solidFill>
                <a:latin typeface="맑은 고딕" pitchFamily="50" charset="-127"/>
                <a:ea typeface="맑은 고딕" pitchFamily="50" charset="-127"/>
              </a:defRPr>
            </a:lvl3pPr>
            <a:lvl4pPr marL="1600200" indent="-228600" defTabSz="762000" eaLnBrk="0" hangingPunct="0">
              <a:defRPr kumimoji="1" sz="1400" baseline="-25000">
                <a:solidFill>
                  <a:schemeClr val="tx1"/>
                </a:solidFill>
                <a:latin typeface="맑은 고딕" pitchFamily="50" charset="-127"/>
                <a:ea typeface="맑은 고딕" pitchFamily="50" charset="-127"/>
              </a:defRPr>
            </a:lvl4pPr>
            <a:lvl5pPr marL="2057400" indent="-228600" defTabSz="762000" eaLnBrk="0" hangingPunct="0">
              <a:defRPr kumimoji="1" sz="1400" baseline="-25000">
                <a:solidFill>
                  <a:schemeClr val="tx1"/>
                </a:solidFill>
                <a:latin typeface="맑은 고딕" pitchFamily="50" charset="-127"/>
                <a:ea typeface="맑은 고딕" pitchFamily="50" charset="-127"/>
              </a:defRPr>
            </a:lvl5pPr>
            <a:lvl6pPr marL="25146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762000"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endParaRPr lang="ko-KR" altLang="ko-KR" sz="1600" baseline="0" dirty="0">
              <a:solidFill>
                <a:srgbClr val="000000"/>
              </a:solidFill>
              <a:latin typeface="Arial" pitchFamily="34" charset="0"/>
              <a:ea typeface="돋움" pitchFamily="50" charset="-127"/>
            </a:endParaRPr>
          </a:p>
        </p:txBody>
      </p:sp>
      <p:sp>
        <p:nvSpPr>
          <p:cNvPr id="7" name="Line 56"/>
          <p:cNvSpPr>
            <a:spLocks noChangeShapeType="1"/>
          </p:cNvSpPr>
          <p:nvPr/>
        </p:nvSpPr>
        <p:spPr bwMode="auto">
          <a:xfrm>
            <a:off x="1965012" y="2855490"/>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8" name="Rectangle 57"/>
          <p:cNvSpPr>
            <a:spLocks noChangeArrowheads="1"/>
          </p:cNvSpPr>
          <p:nvPr/>
        </p:nvSpPr>
        <p:spPr bwMode="auto">
          <a:xfrm>
            <a:off x="2378980" y="2862726"/>
            <a:ext cx="14747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9" name="Rectangle 58"/>
          <p:cNvSpPr>
            <a:spLocks noChangeArrowheads="1"/>
          </p:cNvSpPr>
          <p:nvPr/>
        </p:nvSpPr>
        <p:spPr bwMode="auto">
          <a:xfrm>
            <a:off x="2407023" y="2531291"/>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0" name="Rectangle 59"/>
          <p:cNvSpPr>
            <a:spLocks noChangeArrowheads="1"/>
          </p:cNvSpPr>
          <p:nvPr/>
        </p:nvSpPr>
        <p:spPr bwMode="auto">
          <a:xfrm>
            <a:off x="1779396" y="2678917"/>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 name="Rectangle 61"/>
          <p:cNvSpPr>
            <a:spLocks noChangeArrowheads="1"/>
          </p:cNvSpPr>
          <p:nvPr/>
        </p:nvSpPr>
        <p:spPr bwMode="auto">
          <a:xfrm>
            <a:off x="2676769" y="2557343"/>
            <a:ext cx="129844"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μ</a:t>
            </a:r>
            <a:endParaRPr lang="en-US" altLang="ko-KR" sz="1600" baseline="0" dirty="0">
              <a:solidFill>
                <a:srgbClr val="000000"/>
              </a:solidFill>
              <a:latin typeface="Times New Roman" pitchFamily="18" charset="0"/>
              <a:ea typeface="굴림" pitchFamily="50" charset="-127"/>
            </a:endParaRPr>
          </a:p>
        </p:txBody>
      </p:sp>
      <p:sp>
        <p:nvSpPr>
          <p:cNvPr id="13" name="Rectangle 62"/>
          <p:cNvSpPr>
            <a:spLocks noChangeArrowheads="1"/>
          </p:cNvSpPr>
          <p:nvPr/>
        </p:nvSpPr>
        <p:spPr bwMode="auto">
          <a:xfrm>
            <a:off x="2067836" y="2557343"/>
            <a:ext cx="28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SL</a:t>
            </a:r>
            <a:endParaRPr lang="en-US" altLang="ko-KR" sz="1600" baseline="0" dirty="0">
              <a:solidFill>
                <a:srgbClr val="000000"/>
              </a:solidFill>
              <a:latin typeface="Times New Roman" pitchFamily="18" charset="0"/>
              <a:ea typeface="굴림" pitchFamily="50" charset="-127"/>
            </a:endParaRPr>
          </a:p>
        </p:txBody>
      </p:sp>
      <p:sp>
        <p:nvSpPr>
          <p:cNvPr id="14" name="Rectangle 63"/>
          <p:cNvSpPr>
            <a:spLocks noChangeArrowheads="1"/>
          </p:cNvSpPr>
          <p:nvPr/>
        </p:nvSpPr>
        <p:spPr bwMode="auto">
          <a:xfrm>
            <a:off x="1509648" y="2706416"/>
            <a:ext cx="1490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Z</a:t>
            </a:r>
            <a:endParaRPr lang="en-US" altLang="ko-KR" sz="1600" baseline="0" dirty="0">
              <a:solidFill>
                <a:srgbClr val="000000"/>
              </a:solidFill>
              <a:latin typeface="Times New Roman" pitchFamily="18" charset="0"/>
              <a:ea typeface="굴림" pitchFamily="50" charset="-127"/>
            </a:endParaRPr>
          </a:p>
        </p:txBody>
      </p:sp>
      <p:sp>
        <p:nvSpPr>
          <p:cNvPr id="15" name="Rectangle 64"/>
          <p:cNvSpPr>
            <a:spLocks noChangeArrowheads="1"/>
          </p:cNvSpPr>
          <p:nvPr/>
        </p:nvSpPr>
        <p:spPr bwMode="auto">
          <a:xfrm>
            <a:off x="1624491" y="2849701"/>
            <a:ext cx="15709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LT</a:t>
            </a:r>
            <a:endParaRPr lang="en-US" altLang="ko-KR" sz="1600" baseline="0" dirty="0">
              <a:solidFill>
                <a:srgbClr val="000000"/>
              </a:solidFill>
              <a:latin typeface="Times New Roman" pitchFamily="18" charset="0"/>
              <a:ea typeface="굴림" pitchFamily="50" charset="-127"/>
            </a:endParaRPr>
          </a:p>
        </p:txBody>
      </p:sp>
      <p:sp>
        <p:nvSpPr>
          <p:cNvPr id="43" name="Rectangle 94"/>
          <p:cNvSpPr>
            <a:spLocks noChangeArrowheads="1"/>
          </p:cNvSpPr>
          <p:nvPr/>
        </p:nvSpPr>
        <p:spPr bwMode="auto">
          <a:xfrm>
            <a:off x="2597982" y="2966934"/>
            <a:ext cx="1847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sp>
        <p:nvSpPr>
          <p:cNvPr id="45" name="Text Box 52"/>
          <p:cNvSpPr txBox="1">
            <a:spLocks noChangeArrowheads="1"/>
          </p:cNvSpPr>
          <p:nvPr/>
        </p:nvSpPr>
        <p:spPr bwMode="auto">
          <a:xfrm>
            <a:off x="721097" y="1124745"/>
            <a:ext cx="8104914" cy="728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527" tIns="40764" rIns="81527" bIns="40764">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spcBef>
                <a:spcPct val="20000"/>
              </a:spcBef>
            </a:pPr>
            <a:r>
              <a:rPr lang="ko-KR" altLang="en-US" b="1" baseline="0" dirty="0">
                <a:solidFill>
                  <a:srgbClr val="000000"/>
                </a:solidFill>
              </a:rPr>
              <a:t>  </a:t>
            </a:r>
            <a:r>
              <a:rPr lang="en-US" altLang="ko-KR" b="1" baseline="0" dirty="0">
                <a:solidFill>
                  <a:srgbClr val="000000"/>
                </a:solidFill>
              </a:rPr>
              <a:t>- </a:t>
            </a:r>
            <a:r>
              <a:rPr lang="en-US" altLang="ko-KR" b="1" baseline="0" dirty="0" err="1">
                <a:solidFill>
                  <a:srgbClr val="000000"/>
                </a:solidFill>
              </a:rPr>
              <a:t>Khi</a:t>
            </a:r>
            <a:r>
              <a:rPr lang="en-US" altLang="ko-KR" b="1" baseline="0" dirty="0">
                <a:solidFill>
                  <a:srgbClr val="000000"/>
                </a:solidFill>
              </a:rPr>
              <a:t> </a:t>
            </a:r>
            <a:r>
              <a:rPr lang="en-US" altLang="ko-KR" b="1" baseline="0" dirty="0" err="1">
                <a:solidFill>
                  <a:srgbClr val="000000"/>
                </a:solidFill>
              </a:rPr>
              <a:t>phát</a:t>
            </a:r>
            <a:r>
              <a:rPr lang="en-US" altLang="ko-KR" b="1" baseline="0" dirty="0">
                <a:solidFill>
                  <a:srgbClr val="000000"/>
                </a:solidFill>
              </a:rPr>
              <a:t> </a:t>
            </a:r>
            <a:r>
              <a:rPr lang="en-US" altLang="ko-KR" b="1" baseline="0" dirty="0" err="1">
                <a:solidFill>
                  <a:srgbClr val="000000"/>
                </a:solidFill>
              </a:rPr>
              <a:t>sinh</a:t>
            </a:r>
            <a:r>
              <a:rPr lang="en-US" altLang="ko-KR" b="1" baseline="0" dirty="0">
                <a:solidFill>
                  <a:srgbClr val="000000"/>
                </a:solidFill>
              </a:rPr>
              <a:t> </a:t>
            </a:r>
            <a:r>
              <a:rPr lang="en-US" altLang="ko-KR" b="1" baseline="0" dirty="0" err="1">
                <a:solidFill>
                  <a:srgbClr val="000000"/>
                </a:solidFill>
              </a:rPr>
              <a:t>vấn</a:t>
            </a:r>
            <a:r>
              <a:rPr lang="en-US" altLang="ko-KR" b="1" baseline="0" dirty="0">
                <a:solidFill>
                  <a:srgbClr val="000000"/>
                </a:solidFill>
              </a:rPr>
              <a:t> </a:t>
            </a:r>
            <a:r>
              <a:rPr lang="en-US" altLang="ko-KR" b="1" baseline="0" dirty="0" err="1">
                <a:solidFill>
                  <a:srgbClr val="000000"/>
                </a:solidFill>
              </a:rPr>
              <a:t>đề</a:t>
            </a:r>
            <a:r>
              <a:rPr lang="en-US" altLang="ko-KR" b="1" baseline="0" dirty="0">
                <a:solidFill>
                  <a:srgbClr val="000000"/>
                </a:solidFill>
              </a:rPr>
              <a:t> </a:t>
            </a:r>
            <a:r>
              <a:rPr lang="en-US" altLang="ko-KR" b="1" baseline="0" dirty="0" err="1">
                <a:solidFill>
                  <a:srgbClr val="000000"/>
                </a:solidFill>
              </a:rPr>
              <a:t>trong</a:t>
            </a:r>
            <a:r>
              <a:rPr lang="en-US" altLang="ko-KR" b="1" baseline="0" dirty="0">
                <a:solidFill>
                  <a:srgbClr val="000000"/>
                </a:solidFill>
              </a:rPr>
              <a:t> process </a:t>
            </a:r>
            <a:r>
              <a:rPr lang="en-US" altLang="ko-KR" b="1" baseline="0" dirty="0" err="1">
                <a:solidFill>
                  <a:srgbClr val="000000"/>
                </a:solidFill>
              </a:rPr>
              <a:t>khi</a:t>
            </a:r>
            <a:r>
              <a:rPr lang="en-US" altLang="ko-KR" b="1" baseline="0" dirty="0">
                <a:solidFill>
                  <a:srgbClr val="000000"/>
                </a:solidFill>
              </a:rPr>
              <a:t> </a:t>
            </a:r>
            <a:r>
              <a:rPr lang="en-US" altLang="ko-KR" b="1" baseline="0" dirty="0" err="1">
                <a:solidFill>
                  <a:srgbClr val="000000"/>
                </a:solidFill>
              </a:rPr>
              <a:t>đánh</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a:t>
            </a:r>
            <a:r>
              <a:rPr lang="en-US" altLang="ko-KR" b="1" baseline="0" dirty="0" err="1">
                <a:solidFill>
                  <a:srgbClr val="000000"/>
                </a:solidFill>
              </a:rPr>
              <a:t>định</a:t>
            </a:r>
            <a:r>
              <a:rPr lang="en-US" altLang="ko-KR" b="1" baseline="0" dirty="0">
                <a:solidFill>
                  <a:srgbClr val="000000"/>
                </a:solidFill>
              </a:rPr>
              <a:t> </a:t>
            </a:r>
            <a:r>
              <a:rPr lang="en-US" altLang="ko-KR" b="1" baseline="0" dirty="0" err="1">
                <a:solidFill>
                  <a:srgbClr val="000000"/>
                </a:solidFill>
              </a:rPr>
              <a:t>lượng</a:t>
            </a:r>
            <a:r>
              <a:rPr lang="en-US" altLang="ko-KR" b="1" baseline="0" dirty="0">
                <a:solidFill>
                  <a:srgbClr val="000000"/>
                </a:solidFill>
              </a:rPr>
              <a:t> </a:t>
            </a:r>
            <a:r>
              <a:rPr lang="en-US" altLang="ko-KR" b="1" baseline="0" dirty="0" err="1">
                <a:solidFill>
                  <a:srgbClr val="000000"/>
                </a:solidFill>
              </a:rPr>
              <a:t>liệu</a:t>
            </a:r>
            <a:r>
              <a:rPr lang="en-US" altLang="ko-KR" b="1" baseline="0" dirty="0">
                <a:solidFill>
                  <a:srgbClr val="000000"/>
                </a:solidFill>
              </a:rPr>
              <a:t> </a:t>
            </a:r>
            <a:r>
              <a:rPr lang="en-US" altLang="ko-KR" b="1" baseline="0" dirty="0" err="1">
                <a:solidFill>
                  <a:srgbClr val="000000"/>
                </a:solidFill>
              </a:rPr>
              <a:t>có</a:t>
            </a:r>
            <a:r>
              <a:rPr lang="en-US" altLang="ko-KR" b="1" baseline="0" dirty="0">
                <a:solidFill>
                  <a:srgbClr val="000000"/>
                </a:solidFill>
              </a:rPr>
              <a:t> </a:t>
            </a:r>
            <a:r>
              <a:rPr lang="en-US" altLang="ko-KR" b="1" baseline="0" dirty="0" err="1">
                <a:solidFill>
                  <a:srgbClr val="000000"/>
                </a:solidFill>
              </a:rPr>
              <a:t>phải</a:t>
            </a:r>
            <a:r>
              <a:rPr lang="en-US" altLang="ko-KR" b="1" baseline="0" dirty="0">
                <a:solidFill>
                  <a:srgbClr val="000000"/>
                </a:solidFill>
              </a:rPr>
              <a:t> </a:t>
            </a:r>
            <a:r>
              <a:rPr lang="en-US" altLang="ko-KR" b="1" baseline="0" dirty="0" err="1">
                <a:solidFill>
                  <a:srgbClr val="000000"/>
                </a:solidFill>
              </a:rPr>
              <a:t>cải</a:t>
            </a:r>
            <a:r>
              <a:rPr lang="en-US" altLang="ko-KR" b="1" baseline="0" dirty="0">
                <a:solidFill>
                  <a:srgbClr val="000000"/>
                </a:solidFill>
              </a:rPr>
              <a:t> </a:t>
            </a:r>
            <a:r>
              <a:rPr lang="en-US" altLang="ko-KR" b="1" baseline="0" dirty="0" err="1">
                <a:solidFill>
                  <a:srgbClr val="000000"/>
                </a:solidFill>
              </a:rPr>
              <a:t>thiện</a:t>
            </a:r>
            <a:r>
              <a:rPr lang="en-US" altLang="ko-KR" b="1" baseline="0" dirty="0">
                <a:solidFill>
                  <a:srgbClr val="000000"/>
                </a:solidFill>
              </a:rPr>
              <a:t> </a:t>
            </a:r>
            <a:r>
              <a:rPr lang="en-US" altLang="ko-KR" b="1" baseline="0" dirty="0" err="1">
                <a:solidFill>
                  <a:srgbClr val="000000"/>
                </a:solidFill>
              </a:rPr>
              <a:t>sự</a:t>
            </a:r>
            <a:r>
              <a:rPr lang="en-US" altLang="ko-KR" b="1" baseline="0" dirty="0">
                <a:solidFill>
                  <a:srgbClr val="000000"/>
                </a:solidFill>
              </a:rPr>
              <a:t> </a:t>
            </a:r>
            <a:r>
              <a:rPr lang="en-US" altLang="ko-KR" b="1" baseline="0" dirty="0" err="1">
                <a:solidFill>
                  <a:srgbClr val="000000"/>
                </a:solidFill>
              </a:rPr>
              <a:t>phân</a:t>
            </a:r>
            <a:r>
              <a:rPr lang="en-US" altLang="ko-KR" b="1" baseline="0" dirty="0">
                <a:solidFill>
                  <a:srgbClr val="000000"/>
                </a:solidFill>
              </a:rPr>
              <a:t> </a:t>
            </a:r>
            <a:r>
              <a:rPr lang="en-US" altLang="ko-KR" b="1" baseline="0" dirty="0" err="1">
                <a:solidFill>
                  <a:srgbClr val="000000"/>
                </a:solidFill>
              </a:rPr>
              <a:t>tán</a:t>
            </a:r>
            <a:r>
              <a:rPr lang="en-US" altLang="ko-KR" b="1" baseline="0" dirty="0">
                <a:solidFill>
                  <a:srgbClr val="000000"/>
                </a:solidFill>
              </a:rPr>
              <a:t> hay </a:t>
            </a:r>
            <a:r>
              <a:rPr lang="en-US" altLang="ko-KR" b="1" baseline="0" dirty="0" err="1">
                <a:solidFill>
                  <a:srgbClr val="000000"/>
                </a:solidFill>
              </a:rPr>
              <a:t>không</a:t>
            </a:r>
            <a:r>
              <a:rPr lang="en-US" altLang="ko-KR" b="1" baseline="0" dirty="0">
                <a:solidFill>
                  <a:srgbClr val="000000"/>
                </a:solidFill>
              </a:rPr>
              <a:t> </a:t>
            </a:r>
            <a:r>
              <a:rPr lang="en-US" altLang="ko-KR" b="1" baseline="0" dirty="0" err="1">
                <a:solidFill>
                  <a:srgbClr val="000000"/>
                </a:solidFill>
              </a:rPr>
              <a:t>có</a:t>
            </a:r>
            <a:r>
              <a:rPr lang="en-US" altLang="ko-KR" b="1" baseline="0" dirty="0">
                <a:solidFill>
                  <a:srgbClr val="000000"/>
                </a:solidFill>
              </a:rPr>
              <a:t> </a:t>
            </a:r>
            <a:r>
              <a:rPr lang="en-US" altLang="ko-KR" b="1" baseline="0" dirty="0" err="1">
                <a:solidFill>
                  <a:srgbClr val="000000"/>
                </a:solidFill>
              </a:rPr>
              <a:t>phải</a:t>
            </a:r>
            <a:r>
              <a:rPr lang="en-US" altLang="ko-KR" b="1" baseline="0" dirty="0">
                <a:solidFill>
                  <a:srgbClr val="000000"/>
                </a:solidFill>
              </a:rPr>
              <a:t> </a:t>
            </a:r>
            <a:r>
              <a:rPr lang="en-US" altLang="ko-KR" b="1" baseline="0" dirty="0" err="1">
                <a:solidFill>
                  <a:srgbClr val="000000"/>
                </a:solidFill>
              </a:rPr>
              <a:t>cải</a:t>
            </a:r>
            <a:r>
              <a:rPr lang="en-US" altLang="ko-KR" b="1" baseline="0" dirty="0">
                <a:solidFill>
                  <a:srgbClr val="000000"/>
                </a:solidFill>
              </a:rPr>
              <a:t> </a:t>
            </a:r>
            <a:r>
              <a:rPr lang="en-US" altLang="ko-KR" b="1" baseline="0" dirty="0" err="1">
                <a:solidFill>
                  <a:srgbClr val="000000"/>
                </a:solidFill>
              </a:rPr>
              <a:t>thiện</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a:t>
            </a:r>
            <a:r>
              <a:rPr lang="en-US" altLang="ko-KR" b="1" baseline="0" dirty="0" err="1">
                <a:solidFill>
                  <a:srgbClr val="000000"/>
                </a:solidFill>
              </a:rPr>
              <a:t>trị</a:t>
            </a:r>
            <a:r>
              <a:rPr lang="en-US" altLang="ko-KR" b="1" baseline="0" dirty="0">
                <a:solidFill>
                  <a:srgbClr val="000000"/>
                </a:solidFill>
              </a:rPr>
              <a:t> </a:t>
            </a:r>
            <a:r>
              <a:rPr lang="en-US" altLang="ko-KR" b="1" baseline="0" dirty="0" err="1">
                <a:solidFill>
                  <a:srgbClr val="000000"/>
                </a:solidFill>
              </a:rPr>
              <a:t>bình</a:t>
            </a:r>
            <a:r>
              <a:rPr lang="en-US" altLang="ko-KR" b="1" baseline="0" dirty="0">
                <a:solidFill>
                  <a:srgbClr val="000000"/>
                </a:solidFill>
              </a:rPr>
              <a:t> </a:t>
            </a:r>
            <a:r>
              <a:rPr lang="en-US" altLang="ko-KR" b="1" baseline="0" dirty="0" err="1">
                <a:solidFill>
                  <a:srgbClr val="000000"/>
                </a:solidFill>
              </a:rPr>
              <a:t>quân</a:t>
            </a:r>
            <a:r>
              <a:rPr lang="en-US" altLang="ko-KR" b="1" baseline="0" dirty="0">
                <a:solidFill>
                  <a:srgbClr val="000000"/>
                </a:solidFill>
              </a:rPr>
              <a:t> hay </a:t>
            </a:r>
            <a:r>
              <a:rPr lang="en-US" altLang="ko-KR" b="1" baseline="0" dirty="0" err="1">
                <a:solidFill>
                  <a:srgbClr val="000000"/>
                </a:solidFill>
              </a:rPr>
              <a:t>không</a:t>
            </a:r>
            <a:r>
              <a:rPr lang="en-US" altLang="ko-KR" b="1" baseline="0" dirty="0">
                <a:solidFill>
                  <a:srgbClr val="000000"/>
                </a:solidFill>
              </a:rPr>
              <a:t> </a:t>
            </a:r>
            <a:r>
              <a:rPr lang="en-US" altLang="ko-KR" b="1" baseline="0" dirty="0" err="1">
                <a:solidFill>
                  <a:srgbClr val="000000"/>
                </a:solidFill>
              </a:rPr>
              <a:t>phải</a:t>
            </a:r>
            <a:r>
              <a:rPr lang="en-US" altLang="ko-KR" b="1" baseline="0" dirty="0">
                <a:solidFill>
                  <a:srgbClr val="000000"/>
                </a:solidFill>
              </a:rPr>
              <a:t> </a:t>
            </a:r>
            <a:r>
              <a:rPr lang="en-US" altLang="ko-KR" b="1" baseline="0" dirty="0" err="1">
                <a:solidFill>
                  <a:srgbClr val="000000"/>
                </a:solidFill>
              </a:rPr>
              <a:t>đánh</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a:t>
            </a:r>
            <a:r>
              <a:rPr lang="en-US" altLang="ko-KR" b="1" baseline="0" dirty="0" err="1">
                <a:solidFill>
                  <a:srgbClr val="000000"/>
                </a:solidFill>
              </a:rPr>
              <a:t>giá</a:t>
            </a:r>
            <a:r>
              <a:rPr lang="en-US" altLang="ko-KR" b="1" baseline="0" dirty="0">
                <a:solidFill>
                  <a:srgbClr val="000000"/>
                </a:solidFill>
              </a:rPr>
              <a:t> </a:t>
            </a:r>
            <a:r>
              <a:rPr lang="en-US" altLang="ko-KR" b="1" baseline="0" dirty="0" err="1">
                <a:solidFill>
                  <a:srgbClr val="000000"/>
                </a:solidFill>
              </a:rPr>
              <a:t>trị</a:t>
            </a:r>
            <a:r>
              <a:rPr lang="en-US" altLang="ko-KR" b="1" baseline="0" dirty="0">
                <a:solidFill>
                  <a:srgbClr val="000000"/>
                </a:solidFill>
              </a:rPr>
              <a:t> Z </a:t>
            </a:r>
            <a:r>
              <a:rPr lang="en-US" altLang="ko-KR" b="1" baseline="0" dirty="0" err="1">
                <a:solidFill>
                  <a:srgbClr val="000000"/>
                </a:solidFill>
              </a:rPr>
              <a:t>năng</a:t>
            </a:r>
            <a:r>
              <a:rPr lang="en-US" altLang="ko-KR" b="1" baseline="0" dirty="0">
                <a:solidFill>
                  <a:srgbClr val="000000"/>
                </a:solidFill>
              </a:rPr>
              <a:t> </a:t>
            </a:r>
            <a:r>
              <a:rPr lang="en-US" altLang="ko-KR" b="1" baseline="0" dirty="0" err="1">
                <a:solidFill>
                  <a:srgbClr val="000000"/>
                </a:solidFill>
              </a:rPr>
              <a:t>lực</a:t>
            </a:r>
            <a:r>
              <a:rPr lang="en-US" altLang="ko-KR" b="1" baseline="0" dirty="0">
                <a:solidFill>
                  <a:srgbClr val="000000"/>
                </a:solidFill>
              </a:rPr>
              <a:t> process </a:t>
            </a:r>
            <a:r>
              <a:rPr lang="en-US" altLang="ko-KR" b="1" baseline="0" dirty="0" err="1">
                <a:solidFill>
                  <a:srgbClr val="000000"/>
                </a:solidFill>
              </a:rPr>
              <a:t>hoạt</a:t>
            </a:r>
            <a:r>
              <a:rPr lang="en-US" altLang="ko-KR" b="1" baseline="0" dirty="0">
                <a:solidFill>
                  <a:srgbClr val="000000"/>
                </a:solidFill>
              </a:rPr>
              <a:t> </a:t>
            </a:r>
            <a:r>
              <a:rPr lang="en-US" altLang="ko-KR" b="1" baseline="0" dirty="0" err="1">
                <a:solidFill>
                  <a:srgbClr val="000000"/>
                </a:solidFill>
              </a:rPr>
              <a:t>động</a:t>
            </a:r>
            <a:r>
              <a:rPr lang="en-US" altLang="ko-KR" b="1" baseline="0" dirty="0">
                <a:solidFill>
                  <a:srgbClr val="000000"/>
                </a:solidFill>
              </a:rPr>
              <a:t> </a:t>
            </a:r>
            <a:r>
              <a:rPr lang="en-US" altLang="ko-KR" b="1" baseline="0" dirty="0" err="1">
                <a:solidFill>
                  <a:srgbClr val="000000"/>
                </a:solidFill>
              </a:rPr>
              <a:t>phân</a:t>
            </a:r>
            <a:r>
              <a:rPr lang="en-US" altLang="ko-KR" b="1" baseline="0" dirty="0">
                <a:solidFill>
                  <a:srgbClr val="000000"/>
                </a:solidFill>
              </a:rPr>
              <a:t> </a:t>
            </a:r>
            <a:r>
              <a:rPr lang="en-US" altLang="ko-KR" b="1" baseline="0" dirty="0" err="1">
                <a:solidFill>
                  <a:srgbClr val="000000"/>
                </a:solidFill>
              </a:rPr>
              <a:t>bố</a:t>
            </a:r>
            <a:r>
              <a:rPr lang="en-US" altLang="ko-KR" b="1" baseline="0" dirty="0">
                <a:solidFill>
                  <a:srgbClr val="000000"/>
                </a:solidFill>
              </a:rPr>
              <a:t> </a:t>
            </a:r>
            <a:r>
              <a:rPr lang="en-US" altLang="ko-KR" b="1" baseline="0" dirty="0" err="1">
                <a:solidFill>
                  <a:srgbClr val="000000"/>
                </a:solidFill>
              </a:rPr>
              <a:t>chính</a:t>
            </a:r>
            <a:r>
              <a:rPr lang="en-US" altLang="ko-KR" b="1" baseline="0" dirty="0">
                <a:solidFill>
                  <a:srgbClr val="000000"/>
                </a:solidFill>
              </a:rPr>
              <a:t> </a:t>
            </a:r>
            <a:r>
              <a:rPr lang="en-US" altLang="ko-KR" b="1" baseline="0" dirty="0" err="1">
                <a:solidFill>
                  <a:srgbClr val="000000"/>
                </a:solidFill>
              </a:rPr>
              <a:t>quy</a:t>
            </a:r>
            <a:endParaRPr lang="en-US" altLang="ko-KR" b="1" baseline="0" dirty="0">
              <a:solidFill>
                <a:srgbClr val="000000"/>
              </a:solidFill>
            </a:endParaRPr>
          </a:p>
        </p:txBody>
      </p:sp>
      <p:graphicFrame>
        <p:nvGraphicFramePr>
          <p:cNvPr id="47" name="개체 46"/>
          <p:cNvGraphicFramePr>
            <a:graphicFrameLocks noChangeAspect="1"/>
          </p:cNvGraphicFramePr>
          <p:nvPr>
            <p:extLst>
              <p:ext uri="{D42A27DB-BD31-4B8C-83A1-F6EECF244321}">
                <p14:modId xmlns:p14="http://schemas.microsoft.com/office/powerpoint/2010/main" val="2363499614"/>
              </p:ext>
            </p:extLst>
          </p:nvPr>
        </p:nvGraphicFramePr>
        <p:xfrm>
          <a:off x="1343185" y="4212506"/>
          <a:ext cx="1915258" cy="703262"/>
        </p:xfrm>
        <a:graphic>
          <a:graphicData uri="http://schemas.openxmlformats.org/presentationml/2006/ole">
            <mc:AlternateContent xmlns:mc="http://schemas.openxmlformats.org/markup-compatibility/2006">
              <mc:Choice xmlns:v="urn:schemas-microsoft-com:vml" Requires="v">
                <p:oleObj name="수식" r:id="rId2" imgW="1536480" imgH="520560" progId="Equation.3">
                  <p:embed/>
                </p:oleObj>
              </mc:Choice>
              <mc:Fallback>
                <p:oleObj name="수식" r:id="rId2" imgW="1536480" imgH="520560" progId="Equation.3">
                  <p:embed/>
                  <p:pic>
                    <p:nvPicPr>
                      <p:cNvPr id="47" name="개체 4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3185" y="4212506"/>
                        <a:ext cx="1915258" cy="7032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5" name="Text Box 55"/>
          <p:cNvSpPr txBox="1">
            <a:spLocks noChangeArrowheads="1"/>
          </p:cNvSpPr>
          <p:nvPr/>
        </p:nvSpPr>
        <p:spPr bwMode="auto">
          <a:xfrm>
            <a:off x="650337" y="836712"/>
            <a:ext cx="752621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latinLnBrk="0"/>
            <a:r>
              <a:rPr lang="en-US" altLang="ko-KR" sz="1600" b="1" baseline="0" dirty="0" err="1">
                <a:solidFill>
                  <a:srgbClr val="000000"/>
                </a:solidFill>
              </a:rPr>
              <a:t>Quyết</a:t>
            </a:r>
            <a:r>
              <a:rPr lang="en-US" altLang="ko-KR" sz="1600" b="1" baseline="0" dirty="0">
                <a:solidFill>
                  <a:srgbClr val="000000"/>
                </a:solidFill>
              </a:rPr>
              <a:t> </a:t>
            </a:r>
            <a:r>
              <a:rPr lang="en-US" altLang="ko-KR" sz="1600" b="1" baseline="0" dirty="0" err="1">
                <a:solidFill>
                  <a:srgbClr val="000000"/>
                </a:solidFill>
              </a:rPr>
              <a:t>định</a:t>
            </a:r>
            <a:r>
              <a:rPr lang="en-US" altLang="ko-KR" sz="1600" b="1" baseline="0" dirty="0">
                <a:solidFill>
                  <a:srgbClr val="000000"/>
                </a:solidFill>
              </a:rPr>
              <a:t> </a:t>
            </a:r>
            <a:r>
              <a:rPr lang="en-US" altLang="ko-KR" sz="1600" b="1" baseline="0" dirty="0" err="1">
                <a:solidFill>
                  <a:srgbClr val="000000"/>
                </a:solidFill>
              </a:rPr>
              <a:t>phương</a:t>
            </a:r>
            <a:r>
              <a:rPr lang="en-US" altLang="ko-KR" sz="1600" b="1" baseline="0" dirty="0">
                <a:solidFill>
                  <a:srgbClr val="000000"/>
                </a:solidFill>
              </a:rPr>
              <a:t> </a:t>
            </a:r>
            <a:r>
              <a:rPr lang="en-US" altLang="ko-KR" sz="1600" b="1" baseline="0" dirty="0" err="1">
                <a:solidFill>
                  <a:srgbClr val="000000"/>
                </a:solidFill>
              </a:rPr>
              <a:t>hướng</a:t>
            </a:r>
            <a:r>
              <a:rPr lang="en-US" altLang="ko-KR" sz="1600" b="1" baseline="0" dirty="0">
                <a:solidFill>
                  <a:srgbClr val="000000"/>
                </a:solidFill>
              </a:rPr>
              <a:t> </a:t>
            </a:r>
            <a:r>
              <a:rPr lang="en-US" altLang="ko-KR" sz="1600" b="1" baseline="0" dirty="0" err="1">
                <a:solidFill>
                  <a:srgbClr val="000000"/>
                </a:solidFill>
              </a:rPr>
              <a:t>cải</a:t>
            </a:r>
            <a:r>
              <a:rPr lang="en-US" altLang="ko-KR" sz="1600" b="1" baseline="0" dirty="0">
                <a:solidFill>
                  <a:srgbClr val="000000"/>
                </a:solidFill>
              </a:rPr>
              <a:t> </a:t>
            </a:r>
            <a:r>
              <a:rPr lang="en-US" altLang="ko-KR" sz="1600" b="1" baseline="0" dirty="0" err="1">
                <a:solidFill>
                  <a:srgbClr val="000000"/>
                </a:solidFill>
              </a:rPr>
              <a:t>thiện</a:t>
            </a:r>
            <a:r>
              <a:rPr lang="en-US" altLang="ko-KR" sz="1600" b="1" baseline="0" dirty="0">
                <a:solidFill>
                  <a:srgbClr val="000000"/>
                </a:solidFill>
              </a:rPr>
              <a:t> </a:t>
            </a:r>
            <a:r>
              <a:rPr lang="en-US" altLang="ko-KR" sz="1600" b="1" baseline="0" dirty="0" err="1">
                <a:solidFill>
                  <a:srgbClr val="000000"/>
                </a:solidFill>
              </a:rPr>
              <a:t>của</a:t>
            </a:r>
            <a:r>
              <a:rPr lang="en-US" altLang="ko-KR" sz="1600" b="1" baseline="0" dirty="0">
                <a:solidFill>
                  <a:srgbClr val="000000"/>
                </a:solidFill>
              </a:rPr>
              <a:t> Project</a:t>
            </a:r>
            <a:r>
              <a:rPr lang="ko-KR" altLang="en-US" sz="1600" b="1" baseline="0" dirty="0">
                <a:solidFill>
                  <a:srgbClr val="000000"/>
                </a:solidFill>
              </a:rPr>
              <a:t> </a:t>
            </a:r>
            <a:endParaRPr lang="en-US" altLang="ko-KR" sz="1600" b="1" baseline="0" dirty="0">
              <a:solidFill>
                <a:srgbClr val="000000"/>
              </a:solidFill>
            </a:endParaRPr>
          </a:p>
        </p:txBody>
      </p:sp>
      <p:sp>
        <p:nvSpPr>
          <p:cNvPr id="116" name="Rectangle 4"/>
          <p:cNvSpPr>
            <a:spLocks noChangeArrowheads="1"/>
          </p:cNvSpPr>
          <p:nvPr/>
        </p:nvSpPr>
        <p:spPr bwMode="auto">
          <a:xfrm>
            <a:off x="6269874" y="2389970"/>
            <a:ext cx="2075767" cy="1175840"/>
          </a:xfrm>
          <a:prstGeom prst="rect">
            <a:avLst/>
          </a:prstGeom>
          <a:solidFill>
            <a:schemeClr val="bg1">
              <a:lumMod val="75000"/>
              <a:alpha val="14117"/>
            </a:schemeClr>
          </a:solidFill>
          <a:ln w="12700" algn="ctr">
            <a:solidFill>
              <a:schemeClr val="bg2"/>
            </a:solidFill>
            <a:miter lim="800000"/>
            <a:headEnd/>
            <a:tailEnd/>
          </a:ln>
          <a:effectLst>
            <a:outerShdw blurRad="50800" dist="38100" dir="2700000" algn="tl" rotWithShape="0">
              <a:prstClr val="black">
                <a:alpha val="40000"/>
              </a:prstClr>
            </a:outerShdw>
          </a:effectLst>
        </p:spPr>
        <p:txBody>
          <a:bodyPr wrap="none" anchor="ct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algn="ctr" latinLnBrk="0">
              <a:spcBef>
                <a:spcPct val="0"/>
              </a:spcBef>
              <a:buFontTx/>
              <a:buNone/>
            </a:pPr>
            <a:r>
              <a:rPr kumimoji="0" lang="en-US" altLang="ko-KR" sz="2000" b="1" dirty="0">
                <a:latin typeface="Arial" charset="0"/>
              </a:rPr>
              <a:t>Z</a:t>
            </a:r>
            <a:r>
              <a:rPr kumimoji="0" lang="en-US" altLang="ko-KR" sz="1100" b="1" dirty="0">
                <a:latin typeface="Arial" charset="0"/>
              </a:rPr>
              <a:t>ST</a:t>
            </a:r>
            <a:r>
              <a:rPr kumimoji="0" lang="en-US" altLang="ko-KR" sz="2000" b="1" dirty="0">
                <a:latin typeface="Arial" charset="0"/>
              </a:rPr>
              <a:t> ≥ 4.5</a:t>
            </a:r>
          </a:p>
        </p:txBody>
      </p:sp>
      <p:sp>
        <p:nvSpPr>
          <p:cNvPr id="117" name="Text Box 5"/>
          <p:cNvSpPr txBox="1">
            <a:spLocks noChangeArrowheads="1"/>
          </p:cNvSpPr>
          <p:nvPr/>
        </p:nvSpPr>
        <p:spPr bwMode="auto">
          <a:xfrm>
            <a:off x="6324372" y="2022486"/>
            <a:ext cx="2225289" cy="584775"/>
          </a:xfrm>
          <a:prstGeom prst="rect">
            <a:avLst/>
          </a:prstGeom>
          <a:solidFill>
            <a:schemeClr val="bg1">
              <a:lumMod val="75000"/>
            </a:schemeClr>
          </a:solidFill>
          <a:ln w="12700" algn="ctr">
            <a:noFill/>
            <a:miter lim="800000"/>
            <a:headEnd/>
            <a:tailEnd/>
          </a:ln>
          <a:effectLst>
            <a:outerShdw blurRad="50800" dist="38100" dir="2700000" algn="tl" rotWithShape="0">
              <a:prstClr val="black">
                <a:alpha val="40000"/>
              </a:prstClr>
            </a:outerShdw>
          </a:effectLst>
        </p:spPr>
        <p:txBody>
          <a:bodyPr wrap="none">
            <a:spAutoFit/>
          </a:bodyPr>
          <a:lstStyle>
            <a:lvl1pPr eaLnBrk="0" hangingPunct="0">
              <a:spcBef>
                <a:spcPct val="20000"/>
              </a:spcBef>
              <a:buChar char="•"/>
              <a:defRPr kumimoji="1" sz="3200">
                <a:solidFill>
                  <a:schemeClr val="tx1"/>
                </a:solidFill>
                <a:latin typeface="굴림" charset="-127"/>
                <a:ea typeface="굴림" charset="-127"/>
              </a:defRPr>
            </a:lvl1pPr>
            <a:lvl2pPr marL="742950" indent="-285750" eaLnBrk="0" hangingPunct="0">
              <a:spcBef>
                <a:spcPct val="20000"/>
              </a:spcBef>
              <a:buChar char="–"/>
              <a:defRPr kumimoji="1" sz="2800">
                <a:solidFill>
                  <a:schemeClr val="tx1"/>
                </a:solidFill>
                <a:latin typeface="굴림" charset="-127"/>
                <a:ea typeface="굴림" charset="-127"/>
              </a:defRPr>
            </a:lvl2pPr>
            <a:lvl3pPr marL="1143000" indent="-228600" eaLnBrk="0" hangingPunct="0">
              <a:spcBef>
                <a:spcPct val="20000"/>
              </a:spcBef>
              <a:buChar char="•"/>
              <a:defRPr kumimoji="1" sz="2400">
                <a:solidFill>
                  <a:schemeClr val="tx1"/>
                </a:solidFill>
                <a:latin typeface="굴림" charset="-127"/>
                <a:ea typeface="굴림" charset="-127"/>
              </a:defRPr>
            </a:lvl3pPr>
            <a:lvl4pPr marL="1600200" indent="-228600" eaLnBrk="0" hangingPunct="0">
              <a:spcBef>
                <a:spcPct val="20000"/>
              </a:spcBef>
              <a:buChar char="–"/>
              <a:defRPr kumimoji="1" sz="2000">
                <a:solidFill>
                  <a:schemeClr val="tx1"/>
                </a:solidFill>
                <a:latin typeface="굴림" charset="-127"/>
                <a:ea typeface="굴림" charset="-127"/>
              </a:defRPr>
            </a:lvl4pPr>
            <a:lvl5pPr marL="2057400" indent="-228600" eaLnBrk="0" hangingPunct="0">
              <a:spcBef>
                <a:spcPct val="20000"/>
              </a:spcBef>
              <a:buChar char="»"/>
              <a:defRPr kumimoji="1" sz="2000">
                <a:solidFill>
                  <a:schemeClr val="tx1"/>
                </a:solidFill>
                <a:latin typeface="굴림" charset="-127"/>
                <a:ea typeface="굴림" charset="-127"/>
              </a:defRPr>
            </a:lvl5pPr>
            <a:lvl6pPr marL="251460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297180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2900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88620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latinLnBrk="0">
              <a:spcBef>
                <a:spcPct val="0"/>
              </a:spcBef>
              <a:buFontTx/>
              <a:buNone/>
            </a:pPr>
            <a:r>
              <a:rPr kumimoji="0" lang="en-US" altLang="ko-KR" sz="1600" dirty="0" err="1">
                <a:latin typeface="+mn-lt"/>
              </a:rPr>
              <a:t>Tiêu</a:t>
            </a:r>
            <a:r>
              <a:rPr kumimoji="0" lang="en-US" altLang="ko-KR" sz="1600" dirty="0">
                <a:latin typeface="+mn-lt"/>
              </a:rPr>
              <a:t> </a:t>
            </a:r>
            <a:r>
              <a:rPr kumimoji="0" lang="en-US" altLang="ko-KR" sz="1600" dirty="0" err="1">
                <a:latin typeface="+mn-lt"/>
              </a:rPr>
              <a:t>chuẩn</a:t>
            </a:r>
            <a:r>
              <a:rPr kumimoji="0" lang="en-US" altLang="ko-KR" sz="1600" dirty="0">
                <a:latin typeface="+mn-lt"/>
              </a:rPr>
              <a:t> </a:t>
            </a:r>
            <a:r>
              <a:rPr kumimoji="0" lang="en-US" altLang="ko-KR" sz="1600" dirty="0" err="1">
                <a:latin typeface="+mn-lt"/>
              </a:rPr>
              <a:t>đánh</a:t>
            </a:r>
            <a:r>
              <a:rPr kumimoji="0" lang="en-US" altLang="ko-KR" sz="1600" dirty="0">
                <a:latin typeface="+mn-lt"/>
              </a:rPr>
              <a:t> </a:t>
            </a:r>
            <a:r>
              <a:rPr kumimoji="0" lang="en-US" altLang="ko-KR" sz="1600" dirty="0" err="1">
                <a:latin typeface="+mn-lt"/>
              </a:rPr>
              <a:t>giá</a:t>
            </a:r>
            <a:endParaRPr kumimoji="0" lang="en-US" altLang="ko-KR" sz="1600" dirty="0">
              <a:latin typeface="+mn-lt"/>
            </a:endParaRPr>
          </a:p>
          <a:p>
            <a:pPr latinLnBrk="0">
              <a:spcBef>
                <a:spcPct val="0"/>
              </a:spcBef>
              <a:buFontTx/>
              <a:buNone/>
            </a:pPr>
            <a:r>
              <a:rPr kumimoji="0" lang="en-US" altLang="ko-KR" sz="1600" dirty="0">
                <a:latin typeface="+mn-lt"/>
              </a:rPr>
              <a:t>(</a:t>
            </a:r>
            <a:r>
              <a:rPr kumimoji="0" lang="en-US" altLang="ko-KR" sz="1600" dirty="0" err="1">
                <a:latin typeface="+mn-lt"/>
              </a:rPr>
              <a:t>Giai</a:t>
            </a:r>
            <a:r>
              <a:rPr kumimoji="0" lang="en-US" altLang="ko-KR" sz="1600" dirty="0">
                <a:latin typeface="+mn-lt"/>
              </a:rPr>
              <a:t> </a:t>
            </a:r>
            <a:r>
              <a:rPr kumimoji="0" lang="en-US" altLang="ko-KR" sz="1600" dirty="0" err="1">
                <a:latin typeface="+mn-lt"/>
              </a:rPr>
              <a:t>đoạn</a:t>
            </a:r>
            <a:r>
              <a:rPr kumimoji="0" lang="en-US" altLang="ko-KR" sz="1600" dirty="0">
                <a:latin typeface="+mn-lt"/>
              </a:rPr>
              <a:t> </a:t>
            </a:r>
            <a:r>
              <a:rPr kumimoji="0" lang="en-US" altLang="ko-KR" sz="1600" dirty="0" err="1">
                <a:latin typeface="+mn-lt"/>
              </a:rPr>
              <a:t>phát</a:t>
            </a:r>
            <a:r>
              <a:rPr kumimoji="0" lang="en-US" altLang="ko-KR" sz="1600" dirty="0">
                <a:latin typeface="+mn-lt"/>
              </a:rPr>
              <a:t> </a:t>
            </a:r>
            <a:r>
              <a:rPr kumimoji="0" lang="en-US" altLang="ko-KR" sz="1600" dirty="0" err="1">
                <a:latin typeface="+mn-lt"/>
              </a:rPr>
              <a:t>triển</a:t>
            </a:r>
            <a:r>
              <a:rPr kumimoji="0" lang="en-US" altLang="ko-KR" sz="1600" dirty="0">
                <a:latin typeface="+mn-lt"/>
              </a:rPr>
              <a:t>)</a:t>
            </a:r>
            <a:endParaRPr kumimoji="0" lang="ko-KR" altLang="en-US" sz="1600" dirty="0">
              <a:latin typeface="+mn-lt"/>
            </a:endParaRPr>
          </a:p>
        </p:txBody>
      </p:sp>
      <p:sp>
        <p:nvSpPr>
          <p:cNvPr id="120" name="TextBox 119"/>
          <p:cNvSpPr txBox="1"/>
          <p:nvPr/>
        </p:nvSpPr>
        <p:spPr>
          <a:xfrm>
            <a:off x="2429483" y="2971833"/>
            <a:ext cx="296876" cy="252377"/>
          </a:xfrm>
          <a:prstGeom prst="rect">
            <a:avLst/>
          </a:prstGeom>
          <a:noFill/>
        </p:spPr>
        <p:txBody>
          <a:bodyPr wrap="none" rtlCol="0">
            <a:spAutoFit/>
          </a:bodyPr>
          <a:lstStyle/>
          <a:p>
            <a:pPr>
              <a:lnSpc>
                <a:spcPct val="130000"/>
              </a:lnSpc>
              <a:buClr>
                <a:srgbClr val="C5003D"/>
              </a:buClr>
            </a:pPr>
            <a:r>
              <a:rPr lang="en-US" altLang="ko-KR" sz="800" b="1" dirty="0"/>
              <a:t>LT</a:t>
            </a:r>
            <a:endParaRPr lang="ko-KR" altLang="en-US" sz="800" b="1" dirty="0"/>
          </a:p>
        </p:txBody>
      </p:sp>
      <p:sp>
        <p:nvSpPr>
          <p:cNvPr id="123" name="Line 56"/>
          <p:cNvSpPr>
            <a:spLocks noChangeShapeType="1"/>
          </p:cNvSpPr>
          <p:nvPr/>
        </p:nvSpPr>
        <p:spPr bwMode="auto">
          <a:xfrm>
            <a:off x="4138349" y="2855490"/>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400" baseline="-25000" dirty="0">
              <a:solidFill>
                <a:srgbClr val="000000"/>
              </a:solidFill>
              <a:latin typeface="맑은 고딕" pitchFamily="50" charset="-127"/>
              <a:ea typeface="맑은 고딕" pitchFamily="50" charset="-127"/>
            </a:endParaRPr>
          </a:p>
        </p:txBody>
      </p:sp>
      <p:sp>
        <p:nvSpPr>
          <p:cNvPr id="124" name="Rectangle 57"/>
          <p:cNvSpPr>
            <a:spLocks noChangeArrowheads="1"/>
          </p:cNvSpPr>
          <p:nvPr/>
        </p:nvSpPr>
        <p:spPr bwMode="auto">
          <a:xfrm>
            <a:off x="4552317" y="2862726"/>
            <a:ext cx="14747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s</a:t>
            </a:r>
            <a:endParaRPr lang="en-US" altLang="ko-KR" sz="1600" baseline="0" dirty="0">
              <a:solidFill>
                <a:srgbClr val="000000"/>
              </a:solidFill>
              <a:latin typeface="Times New Roman" pitchFamily="18" charset="0"/>
              <a:ea typeface="굴림" pitchFamily="50" charset="-127"/>
            </a:endParaRPr>
          </a:p>
        </p:txBody>
      </p:sp>
      <p:sp>
        <p:nvSpPr>
          <p:cNvPr id="125" name="Rectangle 58"/>
          <p:cNvSpPr>
            <a:spLocks noChangeArrowheads="1"/>
          </p:cNvSpPr>
          <p:nvPr/>
        </p:nvSpPr>
        <p:spPr bwMode="auto">
          <a:xfrm>
            <a:off x="4580360" y="2531291"/>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6" name="Rectangle 59"/>
          <p:cNvSpPr>
            <a:spLocks noChangeArrowheads="1"/>
          </p:cNvSpPr>
          <p:nvPr/>
        </p:nvSpPr>
        <p:spPr bwMode="auto">
          <a:xfrm>
            <a:off x="3952732" y="2678917"/>
            <a:ext cx="13305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Symbol" pitchFamily="18" charset="2"/>
                <a:ea typeface="굴림" pitchFamily="50" charset="-127"/>
              </a:rPr>
              <a:t>=</a:t>
            </a:r>
            <a:endParaRPr lang="en-US" altLang="ko-KR" sz="1600" baseline="0" dirty="0">
              <a:solidFill>
                <a:srgbClr val="000000"/>
              </a:solidFill>
              <a:latin typeface="Times New Roman" pitchFamily="18" charset="0"/>
              <a:ea typeface="굴림" pitchFamily="50" charset="-127"/>
            </a:endParaRPr>
          </a:p>
        </p:txBody>
      </p:sp>
      <p:sp>
        <p:nvSpPr>
          <p:cNvPr id="127" name="Rectangle 61"/>
          <p:cNvSpPr>
            <a:spLocks noChangeArrowheads="1"/>
          </p:cNvSpPr>
          <p:nvPr/>
        </p:nvSpPr>
        <p:spPr bwMode="auto">
          <a:xfrm>
            <a:off x="4850106" y="2557343"/>
            <a:ext cx="1490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T</a:t>
            </a:r>
            <a:endParaRPr lang="en-US" altLang="ko-KR" sz="1600" baseline="0" dirty="0">
              <a:solidFill>
                <a:srgbClr val="000000"/>
              </a:solidFill>
              <a:latin typeface="Times New Roman" pitchFamily="18" charset="0"/>
              <a:ea typeface="굴림" pitchFamily="50" charset="-127"/>
            </a:endParaRPr>
          </a:p>
        </p:txBody>
      </p:sp>
      <p:sp>
        <p:nvSpPr>
          <p:cNvPr id="128" name="Rectangle 62"/>
          <p:cNvSpPr>
            <a:spLocks noChangeArrowheads="1"/>
          </p:cNvSpPr>
          <p:nvPr/>
        </p:nvSpPr>
        <p:spPr bwMode="auto">
          <a:xfrm>
            <a:off x="4241173" y="2557343"/>
            <a:ext cx="28533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SL</a:t>
            </a:r>
            <a:endParaRPr lang="en-US" altLang="ko-KR" sz="1600" baseline="0" dirty="0">
              <a:solidFill>
                <a:srgbClr val="000000"/>
              </a:solidFill>
              <a:latin typeface="Times New Roman" pitchFamily="18" charset="0"/>
              <a:ea typeface="굴림" pitchFamily="50" charset="-127"/>
            </a:endParaRPr>
          </a:p>
        </p:txBody>
      </p:sp>
      <p:sp>
        <p:nvSpPr>
          <p:cNvPr id="129" name="Rectangle 63"/>
          <p:cNvSpPr>
            <a:spLocks noChangeArrowheads="1"/>
          </p:cNvSpPr>
          <p:nvPr/>
        </p:nvSpPr>
        <p:spPr bwMode="auto">
          <a:xfrm>
            <a:off x="3682985" y="2706416"/>
            <a:ext cx="14908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900" baseline="0" dirty="0">
                <a:solidFill>
                  <a:srgbClr val="000000"/>
                </a:solidFill>
                <a:latin typeface="Times New Roman" pitchFamily="18" charset="0"/>
                <a:ea typeface="굴림" pitchFamily="50" charset="-127"/>
              </a:rPr>
              <a:t>Z</a:t>
            </a:r>
            <a:endParaRPr lang="en-US" altLang="ko-KR" sz="1600" baseline="0" dirty="0">
              <a:solidFill>
                <a:srgbClr val="000000"/>
              </a:solidFill>
              <a:latin typeface="Times New Roman" pitchFamily="18" charset="0"/>
              <a:ea typeface="굴림" pitchFamily="50" charset="-127"/>
            </a:endParaRPr>
          </a:p>
        </p:txBody>
      </p:sp>
      <p:sp>
        <p:nvSpPr>
          <p:cNvPr id="130" name="Rectangle 64"/>
          <p:cNvSpPr>
            <a:spLocks noChangeArrowheads="1"/>
          </p:cNvSpPr>
          <p:nvPr/>
        </p:nvSpPr>
        <p:spPr bwMode="auto">
          <a:xfrm>
            <a:off x="3797828" y="2849700"/>
            <a:ext cx="149080"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000" baseline="0" dirty="0">
                <a:solidFill>
                  <a:srgbClr val="000000"/>
                </a:solidFill>
                <a:latin typeface="Times New Roman" pitchFamily="18" charset="0"/>
                <a:ea typeface="굴림" pitchFamily="50" charset="-127"/>
              </a:rPr>
              <a:t>ST</a:t>
            </a:r>
            <a:endParaRPr lang="en-US" altLang="ko-KR" sz="1600" baseline="0" dirty="0">
              <a:solidFill>
                <a:srgbClr val="000000"/>
              </a:solidFill>
              <a:latin typeface="Times New Roman" pitchFamily="18" charset="0"/>
              <a:ea typeface="굴림" pitchFamily="50" charset="-127"/>
            </a:endParaRPr>
          </a:p>
        </p:txBody>
      </p:sp>
      <p:sp>
        <p:nvSpPr>
          <p:cNvPr id="131" name="Rectangle 94"/>
          <p:cNvSpPr>
            <a:spLocks noChangeArrowheads="1"/>
          </p:cNvSpPr>
          <p:nvPr/>
        </p:nvSpPr>
        <p:spPr bwMode="auto">
          <a:xfrm>
            <a:off x="4771318" y="2966934"/>
            <a:ext cx="1847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1000" baseline="0" dirty="0">
              <a:solidFill>
                <a:srgbClr val="000000"/>
              </a:solidFill>
              <a:latin typeface="Times New Roman" pitchFamily="18" charset="0"/>
              <a:ea typeface="굴림" pitchFamily="50" charset="-127"/>
            </a:endParaRPr>
          </a:p>
        </p:txBody>
      </p:sp>
      <p:sp>
        <p:nvSpPr>
          <p:cNvPr id="132" name="TextBox 131"/>
          <p:cNvSpPr txBox="1"/>
          <p:nvPr/>
        </p:nvSpPr>
        <p:spPr>
          <a:xfrm>
            <a:off x="4602820" y="2971833"/>
            <a:ext cx="301686" cy="252377"/>
          </a:xfrm>
          <a:prstGeom prst="rect">
            <a:avLst/>
          </a:prstGeom>
          <a:noFill/>
        </p:spPr>
        <p:txBody>
          <a:bodyPr wrap="none" rtlCol="0">
            <a:spAutoFit/>
          </a:bodyPr>
          <a:lstStyle/>
          <a:p>
            <a:pPr>
              <a:lnSpc>
                <a:spcPct val="130000"/>
              </a:lnSpc>
              <a:buClr>
                <a:srgbClr val="C5003D"/>
              </a:buClr>
            </a:pPr>
            <a:r>
              <a:rPr lang="en-US" altLang="ko-KR" sz="800" b="1" dirty="0"/>
              <a:t>ST</a:t>
            </a:r>
            <a:endParaRPr lang="ko-KR" altLang="en-US" sz="800" b="1" dirty="0"/>
          </a:p>
        </p:txBody>
      </p:sp>
      <p:graphicFrame>
        <p:nvGraphicFramePr>
          <p:cNvPr id="135" name="개체 134"/>
          <p:cNvGraphicFramePr>
            <a:graphicFrameLocks noChangeAspect="1"/>
          </p:cNvGraphicFramePr>
          <p:nvPr>
            <p:extLst>
              <p:ext uri="{D42A27DB-BD31-4B8C-83A1-F6EECF244321}">
                <p14:modId xmlns:p14="http://schemas.microsoft.com/office/powerpoint/2010/main" val="2560326584"/>
              </p:ext>
            </p:extLst>
          </p:nvPr>
        </p:nvGraphicFramePr>
        <p:xfrm>
          <a:off x="3630651" y="4290294"/>
          <a:ext cx="4198326" cy="650875"/>
        </p:xfrm>
        <a:graphic>
          <a:graphicData uri="http://schemas.openxmlformats.org/presentationml/2006/ole">
            <mc:AlternateContent xmlns:mc="http://schemas.openxmlformats.org/markup-compatibility/2006">
              <mc:Choice xmlns:v="urn:schemas-microsoft-com:vml" Requires="v">
                <p:oleObj name="수식" r:id="rId4" imgW="3403440" imgH="507960" progId="Equation.3">
                  <p:embed/>
                </p:oleObj>
              </mc:Choice>
              <mc:Fallback>
                <p:oleObj name="수식" r:id="rId4" imgW="3403440" imgH="507960" progId="Equation.3">
                  <p:embed/>
                  <p:pic>
                    <p:nvPicPr>
                      <p:cNvPr id="135" name="개체 1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30651" y="4290294"/>
                        <a:ext cx="4198326" cy="6508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550068659"/>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220</a:t>
            </a:fld>
            <a:endParaRPr lang="ko-KR" altLang="en-US" dirty="0"/>
          </a:p>
        </p:txBody>
      </p:sp>
      <p:sp>
        <p:nvSpPr>
          <p:cNvPr id="3" name="Rectangle 17"/>
          <p:cNvSpPr>
            <a:spLocks noChangeArrowheads="1"/>
          </p:cNvSpPr>
          <p:nvPr/>
        </p:nvSpPr>
        <p:spPr bwMode="auto">
          <a:xfrm>
            <a:off x="3037743" y="1736581"/>
            <a:ext cx="1534257" cy="1092200"/>
          </a:xfrm>
          <a:prstGeom prst="rect">
            <a:avLst/>
          </a:prstGeom>
          <a:solidFill>
            <a:schemeClr val="bg1"/>
          </a:solidFill>
          <a:ln w="12700">
            <a:solidFill>
              <a:schemeClr val="tx1"/>
            </a:solidFill>
            <a:miter lim="800000"/>
            <a:headEnd/>
            <a:tailEnd/>
          </a:ln>
          <a:effectLst>
            <a:outerShdw dist="71842" dir="2700000" algn="ctr" rotWithShape="0">
              <a:srgbClr val="919191"/>
            </a:outerShdw>
          </a:effectLst>
        </p:spPr>
        <p:txBody>
          <a:bodyPr wrap="none" anchor="ctr"/>
          <a:lstStyle/>
          <a:p>
            <a:pPr algn="ctr">
              <a:defRPr/>
            </a:pPr>
            <a:endParaRPr lang="ko-KR" altLang="en-US" sz="1000" dirty="0">
              <a:solidFill>
                <a:srgbClr val="000000"/>
              </a:solidFill>
              <a:latin typeface="Arial" pitchFamily="34" charset="0"/>
            </a:endParaRPr>
          </a:p>
        </p:txBody>
      </p:sp>
      <p:sp>
        <p:nvSpPr>
          <p:cNvPr id="4" name="Rectangle 17"/>
          <p:cNvSpPr>
            <a:spLocks noChangeArrowheads="1"/>
          </p:cNvSpPr>
          <p:nvPr/>
        </p:nvSpPr>
        <p:spPr bwMode="auto">
          <a:xfrm>
            <a:off x="4850424" y="1736581"/>
            <a:ext cx="1534258" cy="1092200"/>
          </a:xfrm>
          <a:prstGeom prst="rect">
            <a:avLst/>
          </a:prstGeom>
          <a:solidFill>
            <a:schemeClr val="bg1"/>
          </a:solidFill>
          <a:ln w="12700">
            <a:solidFill>
              <a:schemeClr val="tx1"/>
            </a:solidFill>
            <a:miter lim="800000"/>
            <a:headEnd/>
            <a:tailEnd/>
          </a:ln>
          <a:effectLst>
            <a:outerShdw dist="71842" dir="2700000" algn="ctr" rotWithShape="0">
              <a:srgbClr val="919191"/>
            </a:outerShdw>
          </a:effectLst>
        </p:spPr>
        <p:txBody>
          <a:bodyPr wrap="none" anchor="ctr"/>
          <a:lstStyle/>
          <a:p>
            <a:pPr algn="ctr">
              <a:defRPr/>
            </a:pPr>
            <a:endParaRPr lang="ko-KR" altLang="en-US" sz="1000" dirty="0">
              <a:solidFill>
                <a:srgbClr val="000000"/>
              </a:solidFill>
              <a:latin typeface="Arial" pitchFamily="34" charset="0"/>
            </a:endParaRPr>
          </a:p>
        </p:txBody>
      </p:sp>
      <p:sp>
        <p:nvSpPr>
          <p:cNvPr id="5" name="Rectangle 9"/>
          <p:cNvSpPr>
            <a:spLocks noChangeArrowheads="1"/>
          </p:cNvSpPr>
          <p:nvPr/>
        </p:nvSpPr>
        <p:spPr bwMode="auto">
          <a:xfrm>
            <a:off x="1131277" y="2514456"/>
            <a:ext cx="751743" cy="469900"/>
          </a:xfrm>
          <a:prstGeom prst="rect">
            <a:avLst/>
          </a:prstGeom>
          <a:solidFill>
            <a:schemeClr val="bg1"/>
          </a:solidFill>
          <a:ln w="9525">
            <a:no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Freeform 28"/>
          <p:cNvSpPr>
            <a:spLocks/>
          </p:cNvSpPr>
          <p:nvPr/>
        </p:nvSpPr>
        <p:spPr bwMode="auto">
          <a:xfrm>
            <a:off x="1279281" y="2219182"/>
            <a:ext cx="1113692" cy="798513"/>
          </a:xfrm>
          <a:custGeom>
            <a:avLst/>
            <a:gdLst>
              <a:gd name="T0" fmla="*/ 2147483647 w 760"/>
              <a:gd name="T1" fmla="*/ 2147483647 h 503"/>
              <a:gd name="T2" fmla="*/ 2147483647 w 760"/>
              <a:gd name="T3" fmla="*/ 2147483647 h 503"/>
              <a:gd name="T4" fmla="*/ 2147483647 w 760"/>
              <a:gd name="T5" fmla="*/ 2147483647 h 503"/>
              <a:gd name="T6" fmla="*/ 2147483647 w 760"/>
              <a:gd name="T7" fmla="*/ 2147483647 h 503"/>
              <a:gd name="T8" fmla="*/ 2147483647 w 760"/>
              <a:gd name="T9" fmla="*/ 2147483647 h 503"/>
              <a:gd name="T10" fmla="*/ 2147483647 w 760"/>
              <a:gd name="T11" fmla="*/ 2147483647 h 503"/>
              <a:gd name="T12" fmla="*/ 2147483647 w 760"/>
              <a:gd name="T13" fmla="*/ 2147483647 h 503"/>
              <a:gd name="T14" fmla="*/ 2147483647 w 760"/>
              <a:gd name="T15" fmla="*/ 2147483647 h 503"/>
              <a:gd name="T16" fmla="*/ 2147483647 w 760"/>
              <a:gd name="T17" fmla="*/ 2147483647 h 503"/>
              <a:gd name="T18" fmla="*/ 2147483647 w 760"/>
              <a:gd name="T19" fmla="*/ 2147483647 h 503"/>
              <a:gd name="T20" fmla="*/ 2147483647 w 760"/>
              <a:gd name="T21" fmla="*/ 2147483647 h 503"/>
              <a:gd name="T22" fmla="*/ 2147483647 w 760"/>
              <a:gd name="T23" fmla="*/ 2147483647 h 503"/>
              <a:gd name="T24" fmla="*/ 2147483647 w 760"/>
              <a:gd name="T25" fmla="*/ 2147483647 h 503"/>
              <a:gd name="T26" fmla="*/ 2147483647 w 760"/>
              <a:gd name="T27" fmla="*/ 2147483647 h 503"/>
              <a:gd name="T28" fmla="*/ 2147483647 w 760"/>
              <a:gd name="T29" fmla="*/ 2147483647 h 503"/>
              <a:gd name="T30" fmla="*/ 2147483647 w 760"/>
              <a:gd name="T31" fmla="*/ 2147483647 h 503"/>
              <a:gd name="T32" fmla="*/ 2147483647 w 760"/>
              <a:gd name="T33" fmla="*/ 2147483647 h 503"/>
              <a:gd name="T34" fmla="*/ 2147483647 w 760"/>
              <a:gd name="T35" fmla="*/ 2147483647 h 503"/>
              <a:gd name="T36" fmla="*/ 2147483647 w 760"/>
              <a:gd name="T37" fmla="*/ 2147483647 h 503"/>
              <a:gd name="T38" fmla="*/ 2147483647 w 760"/>
              <a:gd name="T39" fmla="*/ 2147483647 h 503"/>
              <a:gd name="T40" fmla="*/ 2147483647 w 760"/>
              <a:gd name="T41" fmla="*/ 2147483647 h 503"/>
              <a:gd name="T42" fmla="*/ 2147483647 w 760"/>
              <a:gd name="T43" fmla="*/ 2147483647 h 503"/>
              <a:gd name="T44" fmla="*/ 2147483647 w 760"/>
              <a:gd name="T45" fmla="*/ 2147483647 h 503"/>
              <a:gd name="T46" fmla="*/ 2147483647 w 760"/>
              <a:gd name="T47" fmla="*/ 2147483647 h 503"/>
              <a:gd name="T48" fmla="*/ 2147483647 w 760"/>
              <a:gd name="T49" fmla="*/ 2147483647 h 503"/>
              <a:gd name="T50" fmla="*/ 2147483647 w 760"/>
              <a:gd name="T51" fmla="*/ 2147483647 h 503"/>
              <a:gd name="T52" fmla="*/ 2147483647 w 760"/>
              <a:gd name="T53" fmla="*/ 2147483647 h 503"/>
              <a:gd name="T54" fmla="*/ 2147483647 w 760"/>
              <a:gd name="T55" fmla="*/ 2147483647 h 503"/>
              <a:gd name="T56" fmla="*/ 2147483647 w 760"/>
              <a:gd name="T57" fmla="*/ 2147483647 h 503"/>
              <a:gd name="T58" fmla="*/ 2147483647 w 760"/>
              <a:gd name="T59" fmla="*/ 2147483647 h 503"/>
              <a:gd name="T60" fmla="*/ 2147483647 w 760"/>
              <a:gd name="T61" fmla="*/ 2147483647 h 503"/>
              <a:gd name="T62" fmla="*/ 2147483647 w 760"/>
              <a:gd name="T63" fmla="*/ 2147483647 h 503"/>
              <a:gd name="T64" fmla="*/ 2147483647 w 760"/>
              <a:gd name="T65" fmla="*/ 2147483647 h 503"/>
              <a:gd name="T66" fmla="*/ 2147483647 w 760"/>
              <a:gd name="T67" fmla="*/ 2147483647 h 503"/>
              <a:gd name="T68" fmla="*/ 2147483647 w 760"/>
              <a:gd name="T69" fmla="*/ 2147483647 h 503"/>
              <a:gd name="T70" fmla="*/ 2147483647 w 760"/>
              <a:gd name="T71" fmla="*/ 2147483647 h 503"/>
              <a:gd name="T72" fmla="*/ 2147483647 w 760"/>
              <a:gd name="T73" fmla="*/ 2147483647 h 503"/>
              <a:gd name="T74" fmla="*/ 2147483647 w 760"/>
              <a:gd name="T75" fmla="*/ 2147483647 h 503"/>
              <a:gd name="T76" fmla="*/ 2147483647 w 760"/>
              <a:gd name="T77" fmla="*/ 2147483647 h 503"/>
              <a:gd name="T78" fmla="*/ 2147483647 w 760"/>
              <a:gd name="T79" fmla="*/ 2147483647 h 503"/>
              <a:gd name="T80" fmla="*/ 2147483647 w 760"/>
              <a:gd name="T81" fmla="*/ 2147483647 h 503"/>
              <a:gd name="T82" fmla="*/ 2147483647 w 760"/>
              <a:gd name="T83" fmla="*/ 2147483647 h 503"/>
              <a:gd name="T84" fmla="*/ 2147483647 w 760"/>
              <a:gd name="T85" fmla="*/ 2147483647 h 503"/>
              <a:gd name="T86" fmla="*/ 2147483647 w 760"/>
              <a:gd name="T87" fmla="*/ 2147483647 h 503"/>
              <a:gd name="T88" fmla="*/ 2147483647 w 760"/>
              <a:gd name="T89" fmla="*/ 2147483647 h 503"/>
              <a:gd name="T90" fmla="*/ 2147483647 w 760"/>
              <a:gd name="T91" fmla="*/ 2147483647 h 503"/>
              <a:gd name="T92" fmla="*/ 2147483647 w 760"/>
              <a:gd name="T93" fmla="*/ 2147483647 h 503"/>
              <a:gd name="T94" fmla="*/ 2147483647 w 760"/>
              <a:gd name="T95" fmla="*/ 2147483647 h 5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60"/>
              <a:gd name="T145" fmla="*/ 0 h 503"/>
              <a:gd name="T146" fmla="*/ 760 w 760"/>
              <a:gd name="T147" fmla="*/ 503 h 5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60" h="503">
                <a:moveTo>
                  <a:pt x="0" y="502"/>
                </a:moveTo>
                <a:lnTo>
                  <a:pt x="6" y="502"/>
                </a:lnTo>
                <a:lnTo>
                  <a:pt x="13" y="499"/>
                </a:lnTo>
                <a:lnTo>
                  <a:pt x="20" y="498"/>
                </a:lnTo>
                <a:lnTo>
                  <a:pt x="27" y="495"/>
                </a:lnTo>
                <a:lnTo>
                  <a:pt x="33" y="493"/>
                </a:lnTo>
                <a:lnTo>
                  <a:pt x="40" y="493"/>
                </a:lnTo>
                <a:lnTo>
                  <a:pt x="47" y="493"/>
                </a:lnTo>
                <a:lnTo>
                  <a:pt x="54" y="492"/>
                </a:lnTo>
                <a:lnTo>
                  <a:pt x="61" y="487"/>
                </a:lnTo>
                <a:lnTo>
                  <a:pt x="68" y="483"/>
                </a:lnTo>
                <a:lnTo>
                  <a:pt x="75" y="481"/>
                </a:lnTo>
                <a:lnTo>
                  <a:pt x="81" y="475"/>
                </a:lnTo>
                <a:lnTo>
                  <a:pt x="88" y="471"/>
                </a:lnTo>
                <a:lnTo>
                  <a:pt x="95" y="469"/>
                </a:lnTo>
                <a:lnTo>
                  <a:pt x="99" y="463"/>
                </a:lnTo>
                <a:lnTo>
                  <a:pt x="106" y="461"/>
                </a:lnTo>
                <a:lnTo>
                  <a:pt x="113" y="459"/>
                </a:lnTo>
                <a:lnTo>
                  <a:pt x="120" y="455"/>
                </a:lnTo>
                <a:lnTo>
                  <a:pt x="126" y="451"/>
                </a:lnTo>
                <a:lnTo>
                  <a:pt x="131" y="444"/>
                </a:lnTo>
                <a:lnTo>
                  <a:pt x="135" y="438"/>
                </a:lnTo>
                <a:lnTo>
                  <a:pt x="142" y="435"/>
                </a:lnTo>
                <a:lnTo>
                  <a:pt x="144" y="429"/>
                </a:lnTo>
                <a:lnTo>
                  <a:pt x="147" y="423"/>
                </a:lnTo>
                <a:lnTo>
                  <a:pt x="149" y="417"/>
                </a:lnTo>
                <a:lnTo>
                  <a:pt x="156" y="411"/>
                </a:lnTo>
                <a:lnTo>
                  <a:pt x="160" y="405"/>
                </a:lnTo>
                <a:lnTo>
                  <a:pt x="165" y="398"/>
                </a:lnTo>
                <a:lnTo>
                  <a:pt x="170" y="392"/>
                </a:lnTo>
                <a:lnTo>
                  <a:pt x="174" y="386"/>
                </a:lnTo>
                <a:lnTo>
                  <a:pt x="181" y="382"/>
                </a:lnTo>
                <a:lnTo>
                  <a:pt x="181" y="376"/>
                </a:lnTo>
                <a:lnTo>
                  <a:pt x="186" y="370"/>
                </a:lnTo>
                <a:lnTo>
                  <a:pt x="190" y="364"/>
                </a:lnTo>
                <a:lnTo>
                  <a:pt x="195" y="357"/>
                </a:lnTo>
                <a:lnTo>
                  <a:pt x="197" y="351"/>
                </a:lnTo>
                <a:lnTo>
                  <a:pt x="199" y="345"/>
                </a:lnTo>
                <a:lnTo>
                  <a:pt x="199" y="339"/>
                </a:lnTo>
                <a:lnTo>
                  <a:pt x="199" y="333"/>
                </a:lnTo>
                <a:lnTo>
                  <a:pt x="206" y="330"/>
                </a:lnTo>
                <a:lnTo>
                  <a:pt x="208" y="324"/>
                </a:lnTo>
                <a:lnTo>
                  <a:pt x="213" y="318"/>
                </a:lnTo>
                <a:lnTo>
                  <a:pt x="217" y="311"/>
                </a:lnTo>
                <a:lnTo>
                  <a:pt x="217" y="305"/>
                </a:lnTo>
                <a:lnTo>
                  <a:pt x="222" y="299"/>
                </a:lnTo>
                <a:lnTo>
                  <a:pt x="222" y="293"/>
                </a:lnTo>
                <a:lnTo>
                  <a:pt x="228" y="289"/>
                </a:lnTo>
                <a:lnTo>
                  <a:pt x="226" y="283"/>
                </a:lnTo>
                <a:lnTo>
                  <a:pt x="226" y="277"/>
                </a:lnTo>
                <a:lnTo>
                  <a:pt x="228" y="270"/>
                </a:lnTo>
                <a:lnTo>
                  <a:pt x="233" y="264"/>
                </a:lnTo>
                <a:lnTo>
                  <a:pt x="233" y="258"/>
                </a:lnTo>
                <a:lnTo>
                  <a:pt x="235" y="252"/>
                </a:lnTo>
                <a:lnTo>
                  <a:pt x="240" y="246"/>
                </a:lnTo>
                <a:lnTo>
                  <a:pt x="242" y="240"/>
                </a:lnTo>
                <a:lnTo>
                  <a:pt x="244" y="234"/>
                </a:lnTo>
                <a:lnTo>
                  <a:pt x="249" y="228"/>
                </a:lnTo>
                <a:lnTo>
                  <a:pt x="251" y="222"/>
                </a:lnTo>
                <a:lnTo>
                  <a:pt x="253" y="216"/>
                </a:lnTo>
                <a:lnTo>
                  <a:pt x="253" y="210"/>
                </a:lnTo>
                <a:lnTo>
                  <a:pt x="255" y="204"/>
                </a:lnTo>
                <a:lnTo>
                  <a:pt x="260" y="198"/>
                </a:lnTo>
                <a:lnTo>
                  <a:pt x="262" y="192"/>
                </a:lnTo>
                <a:lnTo>
                  <a:pt x="264" y="186"/>
                </a:lnTo>
                <a:lnTo>
                  <a:pt x="267" y="180"/>
                </a:lnTo>
                <a:lnTo>
                  <a:pt x="272" y="174"/>
                </a:lnTo>
                <a:lnTo>
                  <a:pt x="269" y="168"/>
                </a:lnTo>
                <a:lnTo>
                  <a:pt x="272" y="162"/>
                </a:lnTo>
                <a:lnTo>
                  <a:pt x="276" y="156"/>
                </a:lnTo>
                <a:lnTo>
                  <a:pt x="281" y="150"/>
                </a:lnTo>
                <a:lnTo>
                  <a:pt x="281" y="144"/>
                </a:lnTo>
                <a:lnTo>
                  <a:pt x="285" y="137"/>
                </a:lnTo>
                <a:lnTo>
                  <a:pt x="288" y="131"/>
                </a:lnTo>
                <a:lnTo>
                  <a:pt x="290" y="125"/>
                </a:lnTo>
                <a:lnTo>
                  <a:pt x="292" y="119"/>
                </a:lnTo>
                <a:lnTo>
                  <a:pt x="294" y="113"/>
                </a:lnTo>
                <a:lnTo>
                  <a:pt x="299" y="107"/>
                </a:lnTo>
                <a:lnTo>
                  <a:pt x="299" y="101"/>
                </a:lnTo>
                <a:lnTo>
                  <a:pt x="303" y="95"/>
                </a:lnTo>
                <a:lnTo>
                  <a:pt x="303" y="89"/>
                </a:lnTo>
                <a:lnTo>
                  <a:pt x="308" y="83"/>
                </a:lnTo>
                <a:lnTo>
                  <a:pt x="310" y="77"/>
                </a:lnTo>
                <a:lnTo>
                  <a:pt x="315" y="70"/>
                </a:lnTo>
                <a:lnTo>
                  <a:pt x="317" y="64"/>
                </a:lnTo>
                <a:lnTo>
                  <a:pt x="321" y="58"/>
                </a:lnTo>
                <a:lnTo>
                  <a:pt x="324" y="52"/>
                </a:lnTo>
                <a:lnTo>
                  <a:pt x="326" y="46"/>
                </a:lnTo>
                <a:lnTo>
                  <a:pt x="330" y="40"/>
                </a:lnTo>
                <a:lnTo>
                  <a:pt x="335" y="34"/>
                </a:lnTo>
                <a:lnTo>
                  <a:pt x="339" y="28"/>
                </a:lnTo>
                <a:lnTo>
                  <a:pt x="344" y="22"/>
                </a:lnTo>
                <a:lnTo>
                  <a:pt x="351" y="18"/>
                </a:lnTo>
                <a:lnTo>
                  <a:pt x="357" y="12"/>
                </a:lnTo>
                <a:lnTo>
                  <a:pt x="362" y="6"/>
                </a:lnTo>
                <a:lnTo>
                  <a:pt x="369" y="2"/>
                </a:lnTo>
                <a:lnTo>
                  <a:pt x="375" y="2"/>
                </a:lnTo>
                <a:lnTo>
                  <a:pt x="383" y="0"/>
                </a:lnTo>
                <a:lnTo>
                  <a:pt x="390" y="0"/>
                </a:lnTo>
                <a:lnTo>
                  <a:pt x="396" y="2"/>
                </a:lnTo>
                <a:lnTo>
                  <a:pt x="403" y="8"/>
                </a:lnTo>
                <a:lnTo>
                  <a:pt x="412" y="12"/>
                </a:lnTo>
                <a:lnTo>
                  <a:pt x="417" y="18"/>
                </a:lnTo>
                <a:lnTo>
                  <a:pt x="421" y="24"/>
                </a:lnTo>
                <a:lnTo>
                  <a:pt x="428" y="30"/>
                </a:lnTo>
                <a:lnTo>
                  <a:pt x="432" y="36"/>
                </a:lnTo>
                <a:lnTo>
                  <a:pt x="437" y="42"/>
                </a:lnTo>
                <a:lnTo>
                  <a:pt x="441" y="48"/>
                </a:lnTo>
                <a:lnTo>
                  <a:pt x="444" y="54"/>
                </a:lnTo>
                <a:lnTo>
                  <a:pt x="448" y="60"/>
                </a:lnTo>
                <a:lnTo>
                  <a:pt x="450" y="66"/>
                </a:lnTo>
                <a:lnTo>
                  <a:pt x="453" y="72"/>
                </a:lnTo>
                <a:lnTo>
                  <a:pt x="453" y="78"/>
                </a:lnTo>
                <a:lnTo>
                  <a:pt x="455" y="84"/>
                </a:lnTo>
                <a:lnTo>
                  <a:pt x="457" y="90"/>
                </a:lnTo>
                <a:lnTo>
                  <a:pt x="462" y="96"/>
                </a:lnTo>
                <a:lnTo>
                  <a:pt x="462" y="103"/>
                </a:lnTo>
                <a:lnTo>
                  <a:pt x="466" y="109"/>
                </a:lnTo>
                <a:lnTo>
                  <a:pt x="468" y="115"/>
                </a:lnTo>
                <a:lnTo>
                  <a:pt x="471" y="121"/>
                </a:lnTo>
                <a:lnTo>
                  <a:pt x="473" y="127"/>
                </a:lnTo>
                <a:lnTo>
                  <a:pt x="477" y="133"/>
                </a:lnTo>
                <a:lnTo>
                  <a:pt x="480" y="139"/>
                </a:lnTo>
                <a:lnTo>
                  <a:pt x="480" y="145"/>
                </a:lnTo>
                <a:lnTo>
                  <a:pt x="484" y="151"/>
                </a:lnTo>
                <a:lnTo>
                  <a:pt x="486" y="157"/>
                </a:lnTo>
                <a:lnTo>
                  <a:pt x="489" y="164"/>
                </a:lnTo>
                <a:lnTo>
                  <a:pt x="494" y="170"/>
                </a:lnTo>
                <a:lnTo>
                  <a:pt x="496" y="176"/>
                </a:lnTo>
                <a:lnTo>
                  <a:pt x="498" y="182"/>
                </a:lnTo>
                <a:lnTo>
                  <a:pt x="501" y="188"/>
                </a:lnTo>
                <a:lnTo>
                  <a:pt x="503" y="194"/>
                </a:lnTo>
                <a:lnTo>
                  <a:pt x="505" y="200"/>
                </a:lnTo>
                <a:lnTo>
                  <a:pt x="507" y="206"/>
                </a:lnTo>
                <a:lnTo>
                  <a:pt x="510" y="212"/>
                </a:lnTo>
                <a:lnTo>
                  <a:pt x="516" y="218"/>
                </a:lnTo>
                <a:lnTo>
                  <a:pt x="519" y="224"/>
                </a:lnTo>
                <a:lnTo>
                  <a:pt x="521" y="231"/>
                </a:lnTo>
                <a:lnTo>
                  <a:pt x="523" y="237"/>
                </a:lnTo>
                <a:lnTo>
                  <a:pt x="525" y="243"/>
                </a:lnTo>
                <a:lnTo>
                  <a:pt x="528" y="249"/>
                </a:lnTo>
                <a:lnTo>
                  <a:pt x="528" y="255"/>
                </a:lnTo>
                <a:lnTo>
                  <a:pt x="530" y="261"/>
                </a:lnTo>
                <a:lnTo>
                  <a:pt x="532" y="267"/>
                </a:lnTo>
                <a:lnTo>
                  <a:pt x="534" y="273"/>
                </a:lnTo>
                <a:lnTo>
                  <a:pt x="537" y="279"/>
                </a:lnTo>
                <a:lnTo>
                  <a:pt x="537" y="285"/>
                </a:lnTo>
                <a:lnTo>
                  <a:pt x="541" y="291"/>
                </a:lnTo>
                <a:lnTo>
                  <a:pt x="543" y="297"/>
                </a:lnTo>
                <a:lnTo>
                  <a:pt x="546" y="303"/>
                </a:lnTo>
                <a:lnTo>
                  <a:pt x="548" y="309"/>
                </a:lnTo>
                <a:lnTo>
                  <a:pt x="552" y="315"/>
                </a:lnTo>
                <a:lnTo>
                  <a:pt x="555" y="321"/>
                </a:lnTo>
                <a:lnTo>
                  <a:pt x="559" y="327"/>
                </a:lnTo>
                <a:lnTo>
                  <a:pt x="561" y="333"/>
                </a:lnTo>
                <a:lnTo>
                  <a:pt x="564" y="339"/>
                </a:lnTo>
                <a:lnTo>
                  <a:pt x="566" y="345"/>
                </a:lnTo>
                <a:lnTo>
                  <a:pt x="570" y="351"/>
                </a:lnTo>
                <a:lnTo>
                  <a:pt x="573" y="357"/>
                </a:lnTo>
                <a:lnTo>
                  <a:pt x="577" y="364"/>
                </a:lnTo>
                <a:lnTo>
                  <a:pt x="582" y="370"/>
                </a:lnTo>
                <a:lnTo>
                  <a:pt x="584" y="376"/>
                </a:lnTo>
                <a:lnTo>
                  <a:pt x="588" y="382"/>
                </a:lnTo>
                <a:lnTo>
                  <a:pt x="591" y="388"/>
                </a:lnTo>
                <a:lnTo>
                  <a:pt x="593" y="394"/>
                </a:lnTo>
                <a:lnTo>
                  <a:pt x="598" y="400"/>
                </a:lnTo>
                <a:lnTo>
                  <a:pt x="600" y="406"/>
                </a:lnTo>
                <a:lnTo>
                  <a:pt x="605" y="412"/>
                </a:lnTo>
                <a:lnTo>
                  <a:pt x="612" y="417"/>
                </a:lnTo>
                <a:lnTo>
                  <a:pt x="614" y="423"/>
                </a:lnTo>
                <a:lnTo>
                  <a:pt x="621" y="429"/>
                </a:lnTo>
                <a:lnTo>
                  <a:pt x="625" y="435"/>
                </a:lnTo>
                <a:lnTo>
                  <a:pt x="630" y="441"/>
                </a:lnTo>
                <a:lnTo>
                  <a:pt x="634" y="447"/>
                </a:lnTo>
                <a:lnTo>
                  <a:pt x="641" y="453"/>
                </a:lnTo>
                <a:lnTo>
                  <a:pt x="648" y="459"/>
                </a:lnTo>
                <a:lnTo>
                  <a:pt x="654" y="461"/>
                </a:lnTo>
                <a:lnTo>
                  <a:pt x="661" y="463"/>
                </a:lnTo>
                <a:lnTo>
                  <a:pt x="668" y="469"/>
                </a:lnTo>
                <a:lnTo>
                  <a:pt x="675" y="473"/>
                </a:lnTo>
                <a:lnTo>
                  <a:pt x="679" y="479"/>
                </a:lnTo>
                <a:lnTo>
                  <a:pt x="686" y="481"/>
                </a:lnTo>
                <a:lnTo>
                  <a:pt x="693" y="483"/>
                </a:lnTo>
                <a:lnTo>
                  <a:pt x="699" y="485"/>
                </a:lnTo>
                <a:lnTo>
                  <a:pt x="707" y="487"/>
                </a:lnTo>
                <a:lnTo>
                  <a:pt x="714" y="492"/>
                </a:lnTo>
                <a:lnTo>
                  <a:pt x="720" y="493"/>
                </a:lnTo>
                <a:lnTo>
                  <a:pt x="727" y="495"/>
                </a:lnTo>
                <a:lnTo>
                  <a:pt x="734" y="498"/>
                </a:lnTo>
                <a:lnTo>
                  <a:pt x="741" y="498"/>
                </a:lnTo>
                <a:lnTo>
                  <a:pt x="747" y="498"/>
                </a:lnTo>
                <a:lnTo>
                  <a:pt x="754" y="499"/>
                </a:lnTo>
                <a:lnTo>
                  <a:pt x="759" y="498"/>
                </a:lnTo>
              </a:path>
            </a:pathLst>
          </a:custGeom>
          <a:noFill/>
          <a:ln w="25400" cap="rnd">
            <a:solidFill>
              <a:schemeClr val="tx1"/>
            </a:solidFill>
            <a:round/>
            <a:headEnd type="none" w="sm" len="sm"/>
            <a:tailEnd type="none" w="sm" len="sm"/>
          </a:ln>
        </p:spPr>
        <p:txBody>
          <a:bodyPr/>
          <a:lstStyle/>
          <a:p>
            <a:endParaRPr lang="ko-KR" altLang="en-US" dirty="0"/>
          </a:p>
        </p:txBody>
      </p:sp>
      <p:sp>
        <p:nvSpPr>
          <p:cNvPr id="7" name="Line 29"/>
          <p:cNvSpPr>
            <a:spLocks noChangeShapeType="1"/>
          </p:cNvSpPr>
          <p:nvPr/>
        </p:nvSpPr>
        <p:spPr bwMode="auto">
          <a:xfrm>
            <a:off x="1840523" y="2165206"/>
            <a:ext cx="0" cy="89535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8" name="Line 30"/>
          <p:cNvSpPr>
            <a:spLocks noChangeShapeType="1"/>
          </p:cNvSpPr>
          <p:nvPr/>
        </p:nvSpPr>
        <p:spPr bwMode="auto">
          <a:xfrm>
            <a:off x="615462" y="3084369"/>
            <a:ext cx="2523392"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 name="Freeform 31"/>
          <p:cNvSpPr>
            <a:spLocks/>
          </p:cNvSpPr>
          <p:nvPr/>
        </p:nvSpPr>
        <p:spPr bwMode="auto">
          <a:xfrm>
            <a:off x="2384181" y="3004995"/>
            <a:ext cx="545123" cy="52387"/>
          </a:xfrm>
          <a:custGeom>
            <a:avLst/>
            <a:gdLst>
              <a:gd name="T0" fmla="*/ 0 w 372"/>
              <a:gd name="T1" fmla="*/ 0 h 33"/>
              <a:gd name="T2" fmla="*/ 0 w 372"/>
              <a:gd name="T3" fmla="*/ 0 h 33"/>
              <a:gd name="T4" fmla="*/ 0 w 372"/>
              <a:gd name="T5" fmla="*/ 2147483647 h 33"/>
              <a:gd name="T6" fmla="*/ 2147483647 w 372"/>
              <a:gd name="T7" fmla="*/ 2147483647 h 33"/>
              <a:gd name="T8" fmla="*/ 2147483647 w 372"/>
              <a:gd name="T9" fmla="*/ 2147483647 h 33"/>
              <a:gd name="T10" fmla="*/ 2147483647 w 372"/>
              <a:gd name="T11" fmla="*/ 2147483647 h 33"/>
              <a:gd name="T12" fmla="*/ 2147483647 w 372"/>
              <a:gd name="T13" fmla="*/ 2147483647 h 33"/>
              <a:gd name="T14" fmla="*/ 2147483647 w 372"/>
              <a:gd name="T15" fmla="*/ 2147483647 h 33"/>
              <a:gd name="T16" fmla="*/ 2147483647 w 372"/>
              <a:gd name="T17" fmla="*/ 2147483647 h 33"/>
              <a:gd name="T18" fmla="*/ 2147483647 w 372"/>
              <a:gd name="T19" fmla="*/ 2147483647 h 33"/>
              <a:gd name="T20" fmla="*/ 2147483647 w 372"/>
              <a:gd name="T21" fmla="*/ 2147483647 h 33"/>
              <a:gd name="T22" fmla="*/ 2147483647 w 372"/>
              <a:gd name="T23" fmla="*/ 2147483647 h 33"/>
              <a:gd name="T24" fmla="*/ 2147483647 w 372"/>
              <a:gd name="T25" fmla="*/ 2147483647 h 33"/>
              <a:gd name="T26" fmla="*/ 2147483647 w 372"/>
              <a:gd name="T27" fmla="*/ 2147483647 h 33"/>
              <a:gd name="T28" fmla="*/ 2147483647 w 372"/>
              <a:gd name="T29" fmla="*/ 2147483647 h 33"/>
              <a:gd name="T30" fmla="*/ 2147483647 w 372"/>
              <a:gd name="T31" fmla="*/ 2147483647 h 33"/>
              <a:gd name="T32" fmla="*/ 2147483647 w 372"/>
              <a:gd name="T33" fmla="*/ 2147483647 h 33"/>
              <a:gd name="T34" fmla="*/ 2147483647 w 372"/>
              <a:gd name="T35" fmla="*/ 2147483647 h 33"/>
              <a:gd name="T36" fmla="*/ 2147483647 w 372"/>
              <a:gd name="T37" fmla="*/ 2147483647 h 33"/>
              <a:gd name="T38" fmla="*/ 2147483647 w 372"/>
              <a:gd name="T39" fmla="*/ 2147483647 h 33"/>
              <a:gd name="T40" fmla="*/ 2147483647 w 372"/>
              <a:gd name="T41" fmla="*/ 2147483647 h 33"/>
              <a:gd name="T42" fmla="*/ 2147483647 w 372"/>
              <a:gd name="T43" fmla="*/ 2147483647 h 33"/>
              <a:gd name="T44" fmla="*/ 2147483647 w 372"/>
              <a:gd name="T45" fmla="*/ 2147483647 h 33"/>
              <a:gd name="T46" fmla="*/ 2147483647 w 372"/>
              <a:gd name="T47" fmla="*/ 2147483647 h 33"/>
              <a:gd name="T48" fmla="*/ 2147483647 w 372"/>
              <a:gd name="T49" fmla="*/ 2147483647 h 33"/>
              <a:gd name="T50" fmla="*/ 2147483647 w 372"/>
              <a:gd name="T51" fmla="*/ 2147483647 h 33"/>
              <a:gd name="T52" fmla="*/ 2147483647 w 372"/>
              <a:gd name="T53" fmla="*/ 2147483647 h 33"/>
              <a:gd name="T54" fmla="*/ 2147483647 w 372"/>
              <a:gd name="T55" fmla="*/ 2147483647 h 33"/>
              <a:gd name="T56" fmla="*/ 2147483647 w 372"/>
              <a:gd name="T57" fmla="*/ 2147483647 h 33"/>
              <a:gd name="T58" fmla="*/ 2147483647 w 372"/>
              <a:gd name="T59" fmla="*/ 2147483647 h 33"/>
              <a:gd name="T60" fmla="*/ 2147483647 w 372"/>
              <a:gd name="T61" fmla="*/ 2147483647 h 33"/>
              <a:gd name="T62" fmla="*/ 2147483647 w 372"/>
              <a:gd name="T63" fmla="*/ 2147483647 h 33"/>
              <a:gd name="T64" fmla="*/ 2147483647 w 372"/>
              <a:gd name="T65" fmla="*/ 2147483647 h 33"/>
              <a:gd name="T66" fmla="*/ 2147483647 w 372"/>
              <a:gd name="T67" fmla="*/ 2147483647 h 33"/>
              <a:gd name="T68" fmla="*/ 2147483647 w 372"/>
              <a:gd name="T69" fmla="*/ 2147483647 h 33"/>
              <a:gd name="T70" fmla="*/ 2147483647 w 372"/>
              <a:gd name="T71" fmla="*/ 2147483647 h 33"/>
              <a:gd name="T72" fmla="*/ 2147483647 w 372"/>
              <a:gd name="T73" fmla="*/ 2147483647 h 33"/>
              <a:gd name="T74" fmla="*/ 2147483647 w 372"/>
              <a:gd name="T75" fmla="*/ 2147483647 h 33"/>
              <a:gd name="T76" fmla="*/ 2147483647 w 372"/>
              <a:gd name="T77" fmla="*/ 2147483647 h 33"/>
              <a:gd name="T78" fmla="*/ 2147483647 w 372"/>
              <a:gd name="T79" fmla="*/ 2147483647 h 33"/>
              <a:gd name="T80" fmla="*/ 2147483647 w 372"/>
              <a:gd name="T81" fmla="*/ 2147483647 h 33"/>
              <a:gd name="T82" fmla="*/ 2147483647 w 372"/>
              <a:gd name="T83" fmla="*/ 2147483647 h 33"/>
              <a:gd name="T84" fmla="*/ 2147483647 w 372"/>
              <a:gd name="T85" fmla="*/ 2147483647 h 33"/>
              <a:gd name="T86" fmla="*/ 2147483647 w 372"/>
              <a:gd name="T87" fmla="*/ 2147483647 h 33"/>
              <a:gd name="T88" fmla="*/ 2147483647 w 372"/>
              <a:gd name="T89" fmla="*/ 2147483647 h 33"/>
              <a:gd name="T90" fmla="*/ 2147483647 w 372"/>
              <a:gd name="T91" fmla="*/ 2147483647 h 33"/>
              <a:gd name="T92" fmla="*/ 2147483647 w 372"/>
              <a:gd name="T93" fmla="*/ 2147483647 h 33"/>
              <a:gd name="T94" fmla="*/ 2147483647 w 372"/>
              <a:gd name="T95" fmla="*/ 2147483647 h 33"/>
              <a:gd name="T96" fmla="*/ 2147483647 w 372"/>
              <a:gd name="T97" fmla="*/ 2147483647 h 33"/>
              <a:gd name="T98" fmla="*/ 2147483647 w 372"/>
              <a:gd name="T99" fmla="*/ 2147483647 h 33"/>
              <a:gd name="T100" fmla="*/ 2147483647 w 372"/>
              <a:gd name="T101" fmla="*/ 2147483647 h 33"/>
              <a:gd name="T102" fmla="*/ 2147483647 w 372"/>
              <a:gd name="T103" fmla="*/ 2147483647 h 33"/>
              <a:gd name="T104" fmla="*/ 2147483647 w 372"/>
              <a:gd name="T105" fmla="*/ 2147483647 h 33"/>
              <a:gd name="T106" fmla="*/ 2147483647 w 372"/>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2"/>
              <a:gd name="T163" fmla="*/ 0 h 33"/>
              <a:gd name="T164" fmla="*/ 372 w 372"/>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2" h="33">
                <a:moveTo>
                  <a:pt x="0" y="0"/>
                </a:moveTo>
                <a:lnTo>
                  <a:pt x="0" y="0"/>
                </a:lnTo>
                <a:lnTo>
                  <a:pt x="0" y="4"/>
                </a:lnTo>
                <a:lnTo>
                  <a:pt x="8" y="7"/>
                </a:lnTo>
                <a:lnTo>
                  <a:pt x="11" y="10"/>
                </a:lnTo>
                <a:lnTo>
                  <a:pt x="17" y="10"/>
                </a:lnTo>
                <a:lnTo>
                  <a:pt x="23" y="14"/>
                </a:lnTo>
                <a:lnTo>
                  <a:pt x="32" y="16"/>
                </a:lnTo>
                <a:lnTo>
                  <a:pt x="40" y="16"/>
                </a:lnTo>
                <a:lnTo>
                  <a:pt x="48" y="17"/>
                </a:lnTo>
                <a:lnTo>
                  <a:pt x="56" y="17"/>
                </a:lnTo>
                <a:lnTo>
                  <a:pt x="61" y="18"/>
                </a:lnTo>
                <a:lnTo>
                  <a:pt x="67" y="20"/>
                </a:lnTo>
                <a:lnTo>
                  <a:pt x="74" y="20"/>
                </a:lnTo>
                <a:lnTo>
                  <a:pt x="80" y="22"/>
                </a:lnTo>
                <a:lnTo>
                  <a:pt x="88" y="21"/>
                </a:lnTo>
                <a:lnTo>
                  <a:pt x="96" y="21"/>
                </a:lnTo>
                <a:lnTo>
                  <a:pt x="104" y="23"/>
                </a:lnTo>
                <a:lnTo>
                  <a:pt x="113" y="23"/>
                </a:lnTo>
                <a:lnTo>
                  <a:pt x="120" y="24"/>
                </a:lnTo>
                <a:lnTo>
                  <a:pt x="128" y="26"/>
                </a:lnTo>
                <a:lnTo>
                  <a:pt x="137" y="26"/>
                </a:lnTo>
                <a:lnTo>
                  <a:pt x="145" y="26"/>
                </a:lnTo>
                <a:lnTo>
                  <a:pt x="152" y="26"/>
                </a:lnTo>
                <a:lnTo>
                  <a:pt x="161" y="26"/>
                </a:lnTo>
                <a:lnTo>
                  <a:pt x="169" y="26"/>
                </a:lnTo>
                <a:lnTo>
                  <a:pt x="177" y="26"/>
                </a:lnTo>
                <a:lnTo>
                  <a:pt x="185" y="26"/>
                </a:lnTo>
                <a:lnTo>
                  <a:pt x="193" y="26"/>
                </a:lnTo>
                <a:lnTo>
                  <a:pt x="201" y="26"/>
                </a:lnTo>
                <a:lnTo>
                  <a:pt x="209" y="26"/>
                </a:lnTo>
                <a:lnTo>
                  <a:pt x="215" y="27"/>
                </a:lnTo>
                <a:lnTo>
                  <a:pt x="221" y="28"/>
                </a:lnTo>
                <a:lnTo>
                  <a:pt x="225" y="28"/>
                </a:lnTo>
                <a:lnTo>
                  <a:pt x="233" y="28"/>
                </a:lnTo>
                <a:lnTo>
                  <a:pt x="242" y="28"/>
                </a:lnTo>
                <a:lnTo>
                  <a:pt x="250" y="28"/>
                </a:lnTo>
                <a:lnTo>
                  <a:pt x="257" y="28"/>
                </a:lnTo>
                <a:lnTo>
                  <a:pt x="266" y="28"/>
                </a:lnTo>
                <a:lnTo>
                  <a:pt x="272" y="30"/>
                </a:lnTo>
                <a:lnTo>
                  <a:pt x="278" y="30"/>
                </a:lnTo>
                <a:lnTo>
                  <a:pt x="284" y="32"/>
                </a:lnTo>
                <a:lnTo>
                  <a:pt x="290" y="32"/>
                </a:lnTo>
                <a:lnTo>
                  <a:pt x="298" y="32"/>
                </a:lnTo>
                <a:lnTo>
                  <a:pt x="306" y="32"/>
                </a:lnTo>
                <a:lnTo>
                  <a:pt x="314" y="32"/>
                </a:lnTo>
                <a:lnTo>
                  <a:pt x="322" y="32"/>
                </a:lnTo>
                <a:lnTo>
                  <a:pt x="329" y="32"/>
                </a:lnTo>
                <a:lnTo>
                  <a:pt x="335" y="32"/>
                </a:lnTo>
                <a:lnTo>
                  <a:pt x="341" y="32"/>
                </a:lnTo>
                <a:lnTo>
                  <a:pt x="348" y="32"/>
                </a:lnTo>
                <a:lnTo>
                  <a:pt x="354" y="32"/>
                </a:lnTo>
                <a:lnTo>
                  <a:pt x="362" y="32"/>
                </a:lnTo>
                <a:lnTo>
                  <a:pt x="371" y="32"/>
                </a:lnTo>
              </a:path>
            </a:pathLst>
          </a:custGeom>
          <a:noFill/>
          <a:ln w="25400" cap="rnd">
            <a:solidFill>
              <a:schemeClr val="tx1"/>
            </a:solidFill>
            <a:round/>
            <a:headEnd type="none" w="sm" len="sm"/>
            <a:tailEnd type="none" w="sm" len="sm"/>
          </a:ln>
        </p:spPr>
        <p:txBody>
          <a:bodyPr/>
          <a:lstStyle/>
          <a:p>
            <a:endParaRPr lang="ko-KR" altLang="en-US" dirty="0"/>
          </a:p>
        </p:txBody>
      </p:sp>
      <p:sp>
        <p:nvSpPr>
          <p:cNvPr id="10" name="Freeform 32"/>
          <p:cNvSpPr>
            <a:spLocks/>
          </p:cNvSpPr>
          <p:nvPr/>
        </p:nvSpPr>
        <p:spPr bwMode="auto">
          <a:xfrm>
            <a:off x="735624" y="3004995"/>
            <a:ext cx="542192" cy="52387"/>
          </a:xfrm>
          <a:custGeom>
            <a:avLst/>
            <a:gdLst>
              <a:gd name="T0" fmla="*/ 2147483647 w 370"/>
              <a:gd name="T1" fmla="*/ 0 h 33"/>
              <a:gd name="T2" fmla="*/ 2147483647 w 370"/>
              <a:gd name="T3" fmla="*/ 0 h 33"/>
              <a:gd name="T4" fmla="*/ 2147483647 w 370"/>
              <a:gd name="T5" fmla="*/ 2147483647 h 33"/>
              <a:gd name="T6" fmla="*/ 2147483647 w 370"/>
              <a:gd name="T7" fmla="*/ 2147483647 h 33"/>
              <a:gd name="T8" fmla="*/ 2147483647 w 370"/>
              <a:gd name="T9" fmla="*/ 2147483647 h 33"/>
              <a:gd name="T10" fmla="*/ 2147483647 w 370"/>
              <a:gd name="T11" fmla="*/ 2147483647 h 33"/>
              <a:gd name="T12" fmla="*/ 2147483647 w 370"/>
              <a:gd name="T13" fmla="*/ 2147483647 h 33"/>
              <a:gd name="T14" fmla="*/ 2147483647 w 370"/>
              <a:gd name="T15" fmla="*/ 2147483647 h 33"/>
              <a:gd name="T16" fmla="*/ 2147483647 w 370"/>
              <a:gd name="T17" fmla="*/ 2147483647 h 33"/>
              <a:gd name="T18" fmla="*/ 2147483647 w 370"/>
              <a:gd name="T19" fmla="*/ 2147483647 h 33"/>
              <a:gd name="T20" fmla="*/ 2147483647 w 370"/>
              <a:gd name="T21" fmla="*/ 2147483647 h 33"/>
              <a:gd name="T22" fmla="*/ 2147483647 w 370"/>
              <a:gd name="T23" fmla="*/ 2147483647 h 33"/>
              <a:gd name="T24" fmla="*/ 2147483647 w 370"/>
              <a:gd name="T25" fmla="*/ 2147483647 h 33"/>
              <a:gd name="T26" fmla="*/ 2147483647 w 370"/>
              <a:gd name="T27" fmla="*/ 2147483647 h 33"/>
              <a:gd name="T28" fmla="*/ 2147483647 w 370"/>
              <a:gd name="T29" fmla="*/ 2147483647 h 33"/>
              <a:gd name="T30" fmla="*/ 2147483647 w 370"/>
              <a:gd name="T31" fmla="*/ 2147483647 h 33"/>
              <a:gd name="T32" fmla="*/ 2147483647 w 370"/>
              <a:gd name="T33" fmla="*/ 2147483647 h 33"/>
              <a:gd name="T34" fmla="*/ 2147483647 w 370"/>
              <a:gd name="T35" fmla="*/ 2147483647 h 33"/>
              <a:gd name="T36" fmla="*/ 2147483647 w 370"/>
              <a:gd name="T37" fmla="*/ 2147483647 h 33"/>
              <a:gd name="T38" fmla="*/ 2147483647 w 370"/>
              <a:gd name="T39" fmla="*/ 2147483647 h 33"/>
              <a:gd name="T40" fmla="*/ 2147483647 w 370"/>
              <a:gd name="T41" fmla="*/ 2147483647 h 33"/>
              <a:gd name="T42" fmla="*/ 2147483647 w 370"/>
              <a:gd name="T43" fmla="*/ 2147483647 h 33"/>
              <a:gd name="T44" fmla="*/ 2147483647 w 370"/>
              <a:gd name="T45" fmla="*/ 2147483647 h 33"/>
              <a:gd name="T46" fmla="*/ 2147483647 w 370"/>
              <a:gd name="T47" fmla="*/ 2147483647 h 33"/>
              <a:gd name="T48" fmla="*/ 2147483647 w 370"/>
              <a:gd name="T49" fmla="*/ 2147483647 h 33"/>
              <a:gd name="T50" fmla="*/ 2147483647 w 370"/>
              <a:gd name="T51" fmla="*/ 2147483647 h 33"/>
              <a:gd name="T52" fmla="*/ 2147483647 w 370"/>
              <a:gd name="T53" fmla="*/ 2147483647 h 33"/>
              <a:gd name="T54" fmla="*/ 2147483647 w 370"/>
              <a:gd name="T55" fmla="*/ 2147483647 h 33"/>
              <a:gd name="T56" fmla="*/ 2147483647 w 370"/>
              <a:gd name="T57" fmla="*/ 2147483647 h 33"/>
              <a:gd name="T58" fmla="*/ 2147483647 w 370"/>
              <a:gd name="T59" fmla="*/ 2147483647 h 33"/>
              <a:gd name="T60" fmla="*/ 2147483647 w 370"/>
              <a:gd name="T61" fmla="*/ 2147483647 h 33"/>
              <a:gd name="T62" fmla="*/ 2147483647 w 370"/>
              <a:gd name="T63" fmla="*/ 2147483647 h 33"/>
              <a:gd name="T64" fmla="*/ 2147483647 w 370"/>
              <a:gd name="T65" fmla="*/ 2147483647 h 33"/>
              <a:gd name="T66" fmla="*/ 2147483647 w 370"/>
              <a:gd name="T67" fmla="*/ 2147483647 h 33"/>
              <a:gd name="T68" fmla="*/ 2147483647 w 370"/>
              <a:gd name="T69" fmla="*/ 2147483647 h 33"/>
              <a:gd name="T70" fmla="*/ 2147483647 w 370"/>
              <a:gd name="T71" fmla="*/ 2147483647 h 33"/>
              <a:gd name="T72" fmla="*/ 2147483647 w 370"/>
              <a:gd name="T73" fmla="*/ 2147483647 h 33"/>
              <a:gd name="T74" fmla="*/ 2147483647 w 370"/>
              <a:gd name="T75" fmla="*/ 2147483647 h 33"/>
              <a:gd name="T76" fmla="*/ 2147483647 w 370"/>
              <a:gd name="T77" fmla="*/ 2147483647 h 33"/>
              <a:gd name="T78" fmla="*/ 2147483647 w 370"/>
              <a:gd name="T79" fmla="*/ 2147483647 h 33"/>
              <a:gd name="T80" fmla="*/ 2147483647 w 370"/>
              <a:gd name="T81" fmla="*/ 2147483647 h 33"/>
              <a:gd name="T82" fmla="*/ 2147483647 w 370"/>
              <a:gd name="T83" fmla="*/ 2147483647 h 33"/>
              <a:gd name="T84" fmla="*/ 2147483647 w 370"/>
              <a:gd name="T85" fmla="*/ 2147483647 h 33"/>
              <a:gd name="T86" fmla="*/ 2147483647 w 370"/>
              <a:gd name="T87" fmla="*/ 2147483647 h 33"/>
              <a:gd name="T88" fmla="*/ 2147483647 w 370"/>
              <a:gd name="T89" fmla="*/ 2147483647 h 33"/>
              <a:gd name="T90" fmla="*/ 2147483647 w 370"/>
              <a:gd name="T91" fmla="*/ 2147483647 h 33"/>
              <a:gd name="T92" fmla="*/ 2147483647 w 370"/>
              <a:gd name="T93" fmla="*/ 2147483647 h 33"/>
              <a:gd name="T94" fmla="*/ 2147483647 w 370"/>
              <a:gd name="T95" fmla="*/ 2147483647 h 33"/>
              <a:gd name="T96" fmla="*/ 2147483647 w 370"/>
              <a:gd name="T97" fmla="*/ 2147483647 h 33"/>
              <a:gd name="T98" fmla="*/ 2147483647 w 370"/>
              <a:gd name="T99" fmla="*/ 2147483647 h 33"/>
              <a:gd name="T100" fmla="*/ 2147483647 w 370"/>
              <a:gd name="T101" fmla="*/ 2147483647 h 33"/>
              <a:gd name="T102" fmla="*/ 2147483647 w 370"/>
              <a:gd name="T103" fmla="*/ 2147483647 h 33"/>
              <a:gd name="T104" fmla="*/ 2147483647 w 370"/>
              <a:gd name="T105" fmla="*/ 2147483647 h 33"/>
              <a:gd name="T106" fmla="*/ 0 w 370"/>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0"/>
              <a:gd name="T163" fmla="*/ 0 h 33"/>
              <a:gd name="T164" fmla="*/ 370 w 370"/>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0" h="33">
                <a:moveTo>
                  <a:pt x="369" y="0"/>
                </a:moveTo>
                <a:lnTo>
                  <a:pt x="369" y="0"/>
                </a:lnTo>
                <a:lnTo>
                  <a:pt x="369" y="4"/>
                </a:lnTo>
                <a:lnTo>
                  <a:pt x="360" y="7"/>
                </a:lnTo>
                <a:lnTo>
                  <a:pt x="357" y="10"/>
                </a:lnTo>
                <a:lnTo>
                  <a:pt x="351" y="10"/>
                </a:lnTo>
                <a:lnTo>
                  <a:pt x="345" y="14"/>
                </a:lnTo>
                <a:lnTo>
                  <a:pt x="336" y="16"/>
                </a:lnTo>
                <a:lnTo>
                  <a:pt x="328" y="16"/>
                </a:lnTo>
                <a:lnTo>
                  <a:pt x="321" y="17"/>
                </a:lnTo>
                <a:lnTo>
                  <a:pt x="312" y="17"/>
                </a:lnTo>
                <a:lnTo>
                  <a:pt x="307" y="18"/>
                </a:lnTo>
                <a:lnTo>
                  <a:pt x="301" y="20"/>
                </a:lnTo>
                <a:lnTo>
                  <a:pt x="294" y="20"/>
                </a:lnTo>
                <a:lnTo>
                  <a:pt x="288" y="22"/>
                </a:lnTo>
                <a:lnTo>
                  <a:pt x="280" y="21"/>
                </a:lnTo>
                <a:lnTo>
                  <a:pt x="272" y="21"/>
                </a:lnTo>
                <a:lnTo>
                  <a:pt x="264" y="23"/>
                </a:lnTo>
                <a:lnTo>
                  <a:pt x="256" y="23"/>
                </a:lnTo>
                <a:lnTo>
                  <a:pt x="248" y="24"/>
                </a:lnTo>
                <a:lnTo>
                  <a:pt x="241" y="26"/>
                </a:lnTo>
                <a:lnTo>
                  <a:pt x="232" y="26"/>
                </a:lnTo>
                <a:lnTo>
                  <a:pt x="224" y="26"/>
                </a:lnTo>
                <a:lnTo>
                  <a:pt x="216" y="26"/>
                </a:lnTo>
                <a:lnTo>
                  <a:pt x="208" y="26"/>
                </a:lnTo>
                <a:lnTo>
                  <a:pt x="200" y="26"/>
                </a:lnTo>
                <a:lnTo>
                  <a:pt x="192" y="26"/>
                </a:lnTo>
                <a:lnTo>
                  <a:pt x="184" y="26"/>
                </a:lnTo>
                <a:lnTo>
                  <a:pt x="176" y="26"/>
                </a:lnTo>
                <a:lnTo>
                  <a:pt x="168" y="26"/>
                </a:lnTo>
                <a:lnTo>
                  <a:pt x="160" y="26"/>
                </a:lnTo>
                <a:lnTo>
                  <a:pt x="154" y="27"/>
                </a:lnTo>
                <a:lnTo>
                  <a:pt x="149" y="28"/>
                </a:lnTo>
                <a:lnTo>
                  <a:pt x="144" y="28"/>
                </a:lnTo>
                <a:lnTo>
                  <a:pt x="137" y="28"/>
                </a:lnTo>
                <a:lnTo>
                  <a:pt x="127" y="28"/>
                </a:lnTo>
                <a:lnTo>
                  <a:pt x="120" y="28"/>
                </a:lnTo>
                <a:lnTo>
                  <a:pt x="112" y="28"/>
                </a:lnTo>
                <a:lnTo>
                  <a:pt x="104" y="28"/>
                </a:lnTo>
                <a:lnTo>
                  <a:pt x="98" y="30"/>
                </a:lnTo>
                <a:lnTo>
                  <a:pt x="92" y="30"/>
                </a:lnTo>
                <a:lnTo>
                  <a:pt x="86" y="32"/>
                </a:lnTo>
                <a:lnTo>
                  <a:pt x="80" y="32"/>
                </a:lnTo>
                <a:lnTo>
                  <a:pt x="71" y="32"/>
                </a:lnTo>
                <a:lnTo>
                  <a:pt x="64" y="32"/>
                </a:lnTo>
                <a:lnTo>
                  <a:pt x="56" y="32"/>
                </a:lnTo>
                <a:lnTo>
                  <a:pt x="47" y="32"/>
                </a:lnTo>
                <a:lnTo>
                  <a:pt x="41" y="32"/>
                </a:lnTo>
                <a:lnTo>
                  <a:pt x="35" y="32"/>
                </a:lnTo>
                <a:lnTo>
                  <a:pt x="29" y="32"/>
                </a:lnTo>
                <a:lnTo>
                  <a:pt x="21" y="32"/>
                </a:lnTo>
                <a:lnTo>
                  <a:pt x="15" y="32"/>
                </a:lnTo>
                <a:lnTo>
                  <a:pt x="8" y="32"/>
                </a:lnTo>
                <a:lnTo>
                  <a:pt x="0" y="32"/>
                </a:lnTo>
              </a:path>
            </a:pathLst>
          </a:custGeom>
          <a:noFill/>
          <a:ln w="25400" cap="rnd">
            <a:solidFill>
              <a:schemeClr val="tx1"/>
            </a:solidFill>
            <a:round/>
            <a:headEnd type="none" w="sm" len="sm"/>
            <a:tailEnd type="none" w="sm" len="sm"/>
          </a:ln>
        </p:spPr>
        <p:txBody>
          <a:bodyPr/>
          <a:lstStyle/>
          <a:p>
            <a:endParaRPr lang="ko-KR" altLang="en-US" dirty="0"/>
          </a:p>
        </p:txBody>
      </p:sp>
      <p:grpSp>
        <p:nvGrpSpPr>
          <p:cNvPr id="11" name="Group 54"/>
          <p:cNvGrpSpPr>
            <a:grpSpLocks/>
          </p:cNvGrpSpPr>
          <p:nvPr/>
        </p:nvGrpSpPr>
        <p:grpSpPr bwMode="auto">
          <a:xfrm>
            <a:off x="1702777" y="4852844"/>
            <a:ext cx="1299797" cy="431800"/>
            <a:chOff x="1731" y="2548"/>
            <a:chExt cx="825" cy="516"/>
          </a:xfrm>
        </p:grpSpPr>
        <p:sp>
          <p:nvSpPr>
            <p:cNvPr id="12"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3"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4"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5"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6"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17" name="Group 60"/>
          <p:cNvGrpSpPr>
            <a:grpSpLocks/>
          </p:cNvGrpSpPr>
          <p:nvPr/>
        </p:nvGrpSpPr>
        <p:grpSpPr bwMode="auto">
          <a:xfrm>
            <a:off x="844062" y="4352781"/>
            <a:ext cx="1012581" cy="431800"/>
            <a:chOff x="1047" y="2224"/>
            <a:chExt cx="825" cy="407"/>
          </a:xfrm>
        </p:grpSpPr>
        <p:sp>
          <p:nvSpPr>
            <p:cNvPr id="18" name="Freeform 55"/>
            <p:cNvSpPr>
              <a:spLocks/>
            </p:cNvSpPr>
            <p:nvPr/>
          </p:nvSpPr>
          <p:spPr bwMode="auto">
            <a:xfrm>
              <a:off x="1262" y="2247"/>
              <a:ext cx="366" cy="355"/>
            </a:xfrm>
            <a:custGeom>
              <a:avLst/>
              <a:gdLst>
                <a:gd name="T0" fmla="*/ 9 w 366"/>
                <a:gd name="T1" fmla="*/ 351 h 355"/>
                <a:gd name="T2" fmla="*/ 22 w 366"/>
                <a:gd name="T3" fmla="*/ 348 h 355"/>
                <a:gd name="T4" fmla="*/ 36 w 366"/>
                <a:gd name="T5" fmla="*/ 339 h 355"/>
                <a:gd name="T6" fmla="*/ 48 w 366"/>
                <a:gd name="T7" fmla="*/ 327 h 355"/>
                <a:gd name="T8" fmla="*/ 60 w 366"/>
                <a:gd name="T9" fmla="*/ 318 h 355"/>
                <a:gd name="T10" fmla="*/ 69 w 366"/>
                <a:gd name="T11" fmla="*/ 302 h 355"/>
                <a:gd name="T12" fmla="*/ 77 w 366"/>
                <a:gd name="T13" fmla="*/ 285 h 355"/>
                <a:gd name="T14" fmla="*/ 87 w 366"/>
                <a:gd name="T15" fmla="*/ 270 h 355"/>
                <a:gd name="T16" fmla="*/ 93 w 366"/>
                <a:gd name="T17" fmla="*/ 252 h 355"/>
                <a:gd name="T18" fmla="*/ 96 w 366"/>
                <a:gd name="T19" fmla="*/ 235 h 355"/>
                <a:gd name="T20" fmla="*/ 104 w 366"/>
                <a:gd name="T21" fmla="*/ 219 h 355"/>
                <a:gd name="T22" fmla="*/ 110 w 366"/>
                <a:gd name="T23" fmla="*/ 204 h 355"/>
                <a:gd name="T24" fmla="*/ 111 w 366"/>
                <a:gd name="T25" fmla="*/ 186 h 355"/>
                <a:gd name="T26" fmla="*/ 116 w 366"/>
                <a:gd name="T27" fmla="*/ 169 h 355"/>
                <a:gd name="T28" fmla="*/ 121 w 366"/>
                <a:gd name="T29" fmla="*/ 153 h 355"/>
                <a:gd name="T30" fmla="*/ 126 w 366"/>
                <a:gd name="T31" fmla="*/ 135 h 355"/>
                <a:gd name="T32" fmla="*/ 129 w 366"/>
                <a:gd name="T33" fmla="*/ 118 h 355"/>
                <a:gd name="T34" fmla="*/ 135 w 366"/>
                <a:gd name="T35" fmla="*/ 101 h 355"/>
                <a:gd name="T36" fmla="*/ 140 w 366"/>
                <a:gd name="T37" fmla="*/ 84 h 355"/>
                <a:gd name="T38" fmla="*/ 145 w 366"/>
                <a:gd name="T39" fmla="*/ 66 h 355"/>
                <a:gd name="T40" fmla="*/ 151 w 366"/>
                <a:gd name="T41" fmla="*/ 50 h 355"/>
                <a:gd name="T42" fmla="*/ 156 w 366"/>
                <a:gd name="T43" fmla="*/ 33 h 355"/>
                <a:gd name="T44" fmla="*/ 165 w 366"/>
                <a:gd name="T45" fmla="*/ 15 h 355"/>
                <a:gd name="T46" fmla="*/ 177 w 366"/>
                <a:gd name="T47" fmla="*/ 1 h 355"/>
                <a:gd name="T48" fmla="*/ 190 w 366"/>
                <a:gd name="T49" fmla="*/ 1 h 355"/>
                <a:gd name="T50" fmla="*/ 202 w 366"/>
                <a:gd name="T51" fmla="*/ 17 h 355"/>
                <a:gd name="T52" fmla="*/ 212 w 366"/>
                <a:gd name="T53" fmla="*/ 34 h 355"/>
                <a:gd name="T54" fmla="*/ 217 w 366"/>
                <a:gd name="T55" fmla="*/ 51 h 355"/>
                <a:gd name="T56" fmla="*/ 222 w 366"/>
                <a:gd name="T57" fmla="*/ 68 h 355"/>
                <a:gd name="T58" fmla="*/ 226 w 366"/>
                <a:gd name="T59" fmla="*/ 85 h 355"/>
                <a:gd name="T60" fmla="*/ 231 w 366"/>
                <a:gd name="T61" fmla="*/ 102 h 355"/>
                <a:gd name="T62" fmla="*/ 237 w 366"/>
                <a:gd name="T63" fmla="*/ 120 h 355"/>
                <a:gd name="T64" fmla="*/ 241 w 366"/>
                <a:gd name="T65" fmla="*/ 137 h 355"/>
                <a:gd name="T66" fmla="*/ 248 w 366"/>
                <a:gd name="T67" fmla="*/ 154 h 355"/>
                <a:gd name="T68" fmla="*/ 253 w 366"/>
                <a:gd name="T69" fmla="*/ 171 h 355"/>
                <a:gd name="T70" fmla="*/ 256 w 366"/>
                <a:gd name="T71" fmla="*/ 188 h 355"/>
                <a:gd name="T72" fmla="*/ 260 w 366"/>
                <a:gd name="T73" fmla="*/ 205 h 355"/>
                <a:gd name="T74" fmla="*/ 265 w 366"/>
                <a:gd name="T75" fmla="*/ 222 h 355"/>
                <a:gd name="T76" fmla="*/ 271 w 366"/>
                <a:gd name="T77" fmla="*/ 240 h 355"/>
                <a:gd name="T78" fmla="*/ 277 w 366"/>
                <a:gd name="T79" fmla="*/ 257 h 355"/>
                <a:gd name="T80" fmla="*/ 284 w 366"/>
                <a:gd name="T81" fmla="*/ 273 h 355"/>
                <a:gd name="T82" fmla="*/ 290 w 366"/>
                <a:gd name="T83" fmla="*/ 291 h 355"/>
                <a:gd name="T84" fmla="*/ 300 w 366"/>
                <a:gd name="T85" fmla="*/ 306 h 355"/>
                <a:gd name="T86" fmla="*/ 311 w 366"/>
                <a:gd name="T87" fmla="*/ 324 h 355"/>
                <a:gd name="T88" fmla="*/ 324 w 366"/>
                <a:gd name="T89" fmla="*/ 333 h 355"/>
                <a:gd name="T90" fmla="*/ 336 w 366"/>
                <a:gd name="T91" fmla="*/ 342 h 355"/>
                <a:gd name="T92" fmla="*/ 349 w 366"/>
                <a:gd name="T93" fmla="*/ 349 h 355"/>
                <a:gd name="T94" fmla="*/ 362 w 366"/>
                <a:gd name="T95" fmla="*/ 352 h 3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55"/>
                <a:gd name="T146" fmla="*/ 366 w 366"/>
                <a:gd name="T147" fmla="*/ 355 h 3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55">
                  <a:moveTo>
                    <a:pt x="0" y="354"/>
                  </a:moveTo>
                  <a:lnTo>
                    <a:pt x="3" y="354"/>
                  </a:lnTo>
                  <a:lnTo>
                    <a:pt x="6" y="352"/>
                  </a:lnTo>
                  <a:lnTo>
                    <a:pt x="9" y="351"/>
                  </a:lnTo>
                  <a:lnTo>
                    <a:pt x="12" y="349"/>
                  </a:lnTo>
                  <a:lnTo>
                    <a:pt x="16" y="348"/>
                  </a:lnTo>
                  <a:lnTo>
                    <a:pt x="19" y="348"/>
                  </a:lnTo>
                  <a:lnTo>
                    <a:pt x="22" y="348"/>
                  </a:lnTo>
                  <a:lnTo>
                    <a:pt x="26" y="346"/>
                  </a:lnTo>
                  <a:lnTo>
                    <a:pt x="29" y="344"/>
                  </a:lnTo>
                  <a:lnTo>
                    <a:pt x="33" y="341"/>
                  </a:lnTo>
                  <a:lnTo>
                    <a:pt x="36" y="339"/>
                  </a:lnTo>
                  <a:lnTo>
                    <a:pt x="39" y="335"/>
                  </a:lnTo>
                  <a:lnTo>
                    <a:pt x="42" y="332"/>
                  </a:lnTo>
                  <a:lnTo>
                    <a:pt x="45" y="331"/>
                  </a:lnTo>
                  <a:lnTo>
                    <a:pt x="48" y="327"/>
                  </a:lnTo>
                  <a:lnTo>
                    <a:pt x="51" y="325"/>
                  </a:lnTo>
                  <a:lnTo>
                    <a:pt x="54" y="324"/>
                  </a:lnTo>
                  <a:lnTo>
                    <a:pt x="57" y="321"/>
                  </a:lnTo>
                  <a:lnTo>
                    <a:pt x="60" y="318"/>
                  </a:lnTo>
                  <a:lnTo>
                    <a:pt x="63" y="314"/>
                  </a:lnTo>
                  <a:lnTo>
                    <a:pt x="65" y="309"/>
                  </a:lnTo>
                  <a:lnTo>
                    <a:pt x="68" y="306"/>
                  </a:lnTo>
                  <a:lnTo>
                    <a:pt x="69" y="302"/>
                  </a:lnTo>
                  <a:lnTo>
                    <a:pt x="70" y="298"/>
                  </a:lnTo>
                  <a:lnTo>
                    <a:pt x="72" y="294"/>
                  </a:lnTo>
                  <a:lnTo>
                    <a:pt x="75" y="289"/>
                  </a:lnTo>
                  <a:lnTo>
                    <a:pt x="77" y="285"/>
                  </a:lnTo>
                  <a:lnTo>
                    <a:pt x="79" y="281"/>
                  </a:lnTo>
                  <a:lnTo>
                    <a:pt x="81" y="276"/>
                  </a:lnTo>
                  <a:lnTo>
                    <a:pt x="84" y="273"/>
                  </a:lnTo>
                  <a:lnTo>
                    <a:pt x="87" y="270"/>
                  </a:lnTo>
                  <a:lnTo>
                    <a:pt x="87" y="265"/>
                  </a:lnTo>
                  <a:lnTo>
                    <a:pt x="89" y="261"/>
                  </a:lnTo>
                  <a:lnTo>
                    <a:pt x="91" y="257"/>
                  </a:lnTo>
                  <a:lnTo>
                    <a:pt x="93" y="252"/>
                  </a:lnTo>
                  <a:lnTo>
                    <a:pt x="94" y="248"/>
                  </a:lnTo>
                  <a:lnTo>
                    <a:pt x="96" y="243"/>
                  </a:lnTo>
                  <a:lnTo>
                    <a:pt x="96" y="240"/>
                  </a:lnTo>
                  <a:lnTo>
                    <a:pt x="96" y="235"/>
                  </a:lnTo>
                  <a:lnTo>
                    <a:pt x="99" y="232"/>
                  </a:lnTo>
                  <a:lnTo>
                    <a:pt x="99" y="228"/>
                  </a:lnTo>
                  <a:lnTo>
                    <a:pt x="102" y="224"/>
                  </a:lnTo>
                  <a:lnTo>
                    <a:pt x="104" y="219"/>
                  </a:lnTo>
                  <a:lnTo>
                    <a:pt x="104" y="215"/>
                  </a:lnTo>
                  <a:lnTo>
                    <a:pt x="106" y="211"/>
                  </a:lnTo>
                  <a:lnTo>
                    <a:pt x="106" y="207"/>
                  </a:lnTo>
                  <a:lnTo>
                    <a:pt x="110" y="204"/>
                  </a:lnTo>
                  <a:lnTo>
                    <a:pt x="108" y="199"/>
                  </a:lnTo>
                  <a:lnTo>
                    <a:pt x="108" y="195"/>
                  </a:lnTo>
                  <a:lnTo>
                    <a:pt x="110" y="191"/>
                  </a:lnTo>
                  <a:lnTo>
                    <a:pt x="111" y="186"/>
                  </a:lnTo>
                  <a:lnTo>
                    <a:pt x="111" y="183"/>
                  </a:lnTo>
                  <a:lnTo>
                    <a:pt x="113" y="178"/>
                  </a:lnTo>
                  <a:lnTo>
                    <a:pt x="115" y="174"/>
                  </a:lnTo>
                  <a:lnTo>
                    <a:pt x="116" y="169"/>
                  </a:lnTo>
                  <a:lnTo>
                    <a:pt x="117" y="165"/>
                  </a:lnTo>
                  <a:lnTo>
                    <a:pt x="120" y="161"/>
                  </a:lnTo>
                  <a:lnTo>
                    <a:pt x="120" y="156"/>
                  </a:lnTo>
                  <a:lnTo>
                    <a:pt x="121" y="153"/>
                  </a:lnTo>
                  <a:lnTo>
                    <a:pt x="121" y="148"/>
                  </a:lnTo>
                  <a:lnTo>
                    <a:pt x="123" y="144"/>
                  </a:lnTo>
                  <a:lnTo>
                    <a:pt x="125" y="140"/>
                  </a:lnTo>
                  <a:lnTo>
                    <a:pt x="126" y="135"/>
                  </a:lnTo>
                  <a:lnTo>
                    <a:pt x="127" y="131"/>
                  </a:lnTo>
                  <a:lnTo>
                    <a:pt x="128" y="126"/>
                  </a:lnTo>
                  <a:lnTo>
                    <a:pt x="130" y="123"/>
                  </a:lnTo>
                  <a:lnTo>
                    <a:pt x="129" y="118"/>
                  </a:lnTo>
                  <a:lnTo>
                    <a:pt x="130" y="114"/>
                  </a:lnTo>
                  <a:lnTo>
                    <a:pt x="132" y="110"/>
                  </a:lnTo>
                  <a:lnTo>
                    <a:pt x="135" y="105"/>
                  </a:lnTo>
                  <a:lnTo>
                    <a:pt x="135" y="101"/>
                  </a:lnTo>
                  <a:lnTo>
                    <a:pt x="137" y="96"/>
                  </a:lnTo>
                  <a:lnTo>
                    <a:pt x="138" y="93"/>
                  </a:lnTo>
                  <a:lnTo>
                    <a:pt x="139" y="88"/>
                  </a:lnTo>
                  <a:lnTo>
                    <a:pt x="140" y="84"/>
                  </a:lnTo>
                  <a:lnTo>
                    <a:pt x="141" y="80"/>
                  </a:lnTo>
                  <a:lnTo>
                    <a:pt x="143" y="75"/>
                  </a:lnTo>
                  <a:lnTo>
                    <a:pt x="143" y="71"/>
                  </a:lnTo>
                  <a:lnTo>
                    <a:pt x="145" y="66"/>
                  </a:lnTo>
                  <a:lnTo>
                    <a:pt x="145" y="63"/>
                  </a:lnTo>
                  <a:lnTo>
                    <a:pt x="147" y="58"/>
                  </a:lnTo>
                  <a:lnTo>
                    <a:pt x="149" y="54"/>
                  </a:lnTo>
                  <a:lnTo>
                    <a:pt x="151" y="50"/>
                  </a:lnTo>
                  <a:lnTo>
                    <a:pt x="152" y="45"/>
                  </a:lnTo>
                  <a:lnTo>
                    <a:pt x="154" y="41"/>
                  </a:lnTo>
                  <a:lnTo>
                    <a:pt x="155" y="36"/>
                  </a:lnTo>
                  <a:lnTo>
                    <a:pt x="156" y="33"/>
                  </a:lnTo>
                  <a:lnTo>
                    <a:pt x="159" y="28"/>
                  </a:lnTo>
                  <a:lnTo>
                    <a:pt x="161" y="24"/>
                  </a:lnTo>
                  <a:lnTo>
                    <a:pt x="163" y="20"/>
                  </a:lnTo>
                  <a:lnTo>
                    <a:pt x="165" y="15"/>
                  </a:lnTo>
                  <a:lnTo>
                    <a:pt x="168" y="12"/>
                  </a:lnTo>
                  <a:lnTo>
                    <a:pt x="171" y="8"/>
                  </a:lnTo>
                  <a:lnTo>
                    <a:pt x="174" y="4"/>
                  </a:lnTo>
                  <a:lnTo>
                    <a:pt x="177" y="1"/>
                  </a:lnTo>
                  <a:lnTo>
                    <a:pt x="180" y="1"/>
                  </a:lnTo>
                  <a:lnTo>
                    <a:pt x="184" y="0"/>
                  </a:lnTo>
                  <a:lnTo>
                    <a:pt x="187" y="0"/>
                  </a:lnTo>
                  <a:lnTo>
                    <a:pt x="190" y="1"/>
                  </a:lnTo>
                  <a:lnTo>
                    <a:pt x="193" y="6"/>
                  </a:lnTo>
                  <a:lnTo>
                    <a:pt x="198" y="8"/>
                  </a:lnTo>
                  <a:lnTo>
                    <a:pt x="200" y="12"/>
                  </a:lnTo>
                  <a:lnTo>
                    <a:pt x="202" y="17"/>
                  </a:lnTo>
                  <a:lnTo>
                    <a:pt x="205" y="21"/>
                  </a:lnTo>
                  <a:lnTo>
                    <a:pt x="208" y="25"/>
                  </a:lnTo>
                  <a:lnTo>
                    <a:pt x="210" y="30"/>
                  </a:lnTo>
                  <a:lnTo>
                    <a:pt x="212" y="34"/>
                  </a:lnTo>
                  <a:lnTo>
                    <a:pt x="213" y="38"/>
                  </a:lnTo>
                  <a:lnTo>
                    <a:pt x="215" y="42"/>
                  </a:lnTo>
                  <a:lnTo>
                    <a:pt x="217" y="47"/>
                  </a:lnTo>
                  <a:lnTo>
                    <a:pt x="217" y="51"/>
                  </a:lnTo>
                  <a:lnTo>
                    <a:pt x="217" y="55"/>
                  </a:lnTo>
                  <a:lnTo>
                    <a:pt x="219" y="60"/>
                  </a:lnTo>
                  <a:lnTo>
                    <a:pt x="220" y="64"/>
                  </a:lnTo>
                  <a:lnTo>
                    <a:pt x="222" y="68"/>
                  </a:lnTo>
                  <a:lnTo>
                    <a:pt x="222" y="72"/>
                  </a:lnTo>
                  <a:lnTo>
                    <a:pt x="224" y="77"/>
                  </a:lnTo>
                  <a:lnTo>
                    <a:pt x="225" y="81"/>
                  </a:lnTo>
                  <a:lnTo>
                    <a:pt x="226" y="85"/>
                  </a:lnTo>
                  <a:lnTo>
                    <a:pt x="227" y="90"/>
                  </a:lnTo>
                  <a:lnTo>
                    <a:pt x="229" y="94"/>
                  </a:lnTo>
                  <a:lnTo>
                    <a:pt x="231" y="98"/>
                  </a:lnTo>
                  <a:lnTo>
                    <a:pt x="231" y="102"/>
                  </a:lnTo>
                  <a:lnTo>
                    <a:pt x="232" y="107"/>
                  </a:lnTo>
                  <a:lnTo>
                    <a:pt x="234" y="111"/>
                  </a:lnTo>
                  <a:lnTo>
                    <a:pt x="235" y="115"/>
                  </a:lnTo>
                  <a:lnTo>
                    <a:pt x="237" y="120"/>
                  </a:lnTo>
                  <a:lnTo>
                    <a:pt x="238" y="124"/>
                  </a:lnTo>
                  <a:lnTo>
                    <a:pt x="239" y="128"/>
                  </a:lnTo>
                  <a:lnTo>
                    <a:pt x="241" y="132"/>
                  </a:lnTo>
                  <a:lnTo>
                    <a:pt x="241" y="137"/>
                  </a:lnTo>
                  <a:lnTo>
                    <a:pt x="243" y="141"/>
                  </a:lnTo>
                  <a:lnTo>
                    <a:pt x="244" y="145"/>
                  </a:lnTo>
                  <a:lnTo>
                    <a:pt x="244" y="150"/>
                  </a:lnTo>
                  <a:lnTo>
                    <a:pt x="248" y="154"/>
                  </a:lnTo>
                  <a:lnTo>
                    <a:pt x="249" y="158"/>
                  </a:lnTo>
                  <a:lnTo>
                    <a:pt x="250" y="162"/>
                  </a:lnTo>
                  <a:lnTo>
                    <a:pt x="251" y="167"/>
                  </a:lnTo>
                  <a:lnTo>
                    <a:pt x="253" y="171"/>
                  </a:lnTo>
                  <a:lnTo>
                    <a:pt x="253" y="175"/>
                  </a:lnTo>
                  <a:lnTo>
                    <a:pt x="253" y="180"/>
                  </a:lnTo>
                  <a:lnTo>
                    <a:pt x="254" y="184"/>
                  </a:lnTo>
                  <a:lnTo>
                    <a:pt x="256" y="188"/>
                  </a:lnTo>
                  <a:lnTo>
                    <a:pt x="256" y="192"/>
                  </a:lnTo>
                  <a:lnTo>
                    <a:pt x="258" y="197"/>
                  </a:lnTo>
                  <a:lnTo>
                    <a:pt x="258" y="201"/>
                  </a:lnTo>
                  <a:lnTo>
                    <a:pt x="260" y="205"/>
                  </a:lnTo>
                  <a:lnTo>
                    <a:pt x="261" y="210"/>
                  </a:lnTo>
                  <a:lnTo>
                    <a:pt x="262" y="213"/>
                  </a:lnTo>
                  <a:lnTo>
                    <a:pt x="263" y="218"/>
                  </a:lnTo>
                  <a:lnTo>
                    <a:pt x="265" y="222"/>
                  </a:lnTo>
                  <a:lnTo>
                    <a:pt x="266" y="227"/>
                  </a:lnTo>
                  <a:lnTo>
                    <a:pt x="268" y="231"/>
                  </a:lnTo>
                  <a:lnTo>
                    <a:pt x="270" y="235"/>
                  </a:lnTo>
                  <a:lnTo>
                    <a:pt x="271" y="240"/>
                  </a:lnTo>
                  <a:lnTo>
                    <a:pt x="272" y="243"/>
                  </a:lnTo>
                  <a:lnTo>
                    <a:pt x="274" y="248"/>
                  </a:lnTo>
                  <a:lnTo>
                    <a:pt x="275" y="252"/>
                  </a:lnTo>
                  <a:lnTo>
                    <a:pt x="277" y="257"/>
                  </a:lnTo>
                  <a:lnTo>
                    <a:pt x="280" y="261"/>
                  </a:lnTo>
                  <a:lnTo>
                    <a:pt x="280" y="265"/>
                  </a:lnTo>
                  <a:lnTo>
                    <a:pt x="283" y="270"/>
                  </a:lnTo>
                  <a:lnTo>
                    <a:pt x="284" y="273"/>
                  </a:lnTo>
                  <a:lnTo>
                    <a:pt x="285" y="278"/>
                  </a:lnTo>
                  <a:lnTo>
                    <a:pt x="287" y="282"/>
                  </a:lnTo>
                  <a:lnTo>
                    <a:pt x="288" y="287"/>
                  </a:lnTo>
                  <a:lnTo>
                    <a:pt x="290" y="291"/>
                  </a:lnTo>
                  <a:lnTo>
                    <a:pt x="294" y="294"/>
                  </a:lnTo>
                  <a:lnTo>
                    <a:pt x="295" y="298"/>
                  </a:lnTo>
                  <a:lnTo>
                    <a:pt x="298" y="302"/>
                  </a:lnTo>
                  <a:lnTo>
                    <a:pt x="300" y="306"/>
                  </a:lnTo>
                  <a:lnTo>
                    <a:pt x="302" y="311"/>
                  </a:lnTo>
                  <a:lnTo>
                    <a:pt x="304" y="315"/>
                  </a:lnTo>
                  <a:lnTo>
                    <a:pt x="308" y="319"/>
                  </a:lnTo>
                  <a:lnTo>
                    <a:pt x="311" y="324"/>
                  </a:lnTo>
                  <a:lnTo>
                    <a:pt x="314" y="325"/>
                  </a:lnTo>
                  <a:lnTo>
                    <a:pt x="318" y="327"/>
                  </a:lnTo>
                  <a:lnTo>
                    <a:pt x="321" y="331"/>
                  </a:lnTo>
                  <a:lnTo>
                    <a:pt x="324" y="333"/>
                  </a:lnTo>
                  <a:lnTo>
                    <a:pt x="326" y="338"/>
                  </a:lnTo>
                  <a:lnTo>
                    <a:pt x="330" y="339"/>
                  </a:lnTo>
                  <a:lnTo>
                    <a:pt x="333" y="341"/>
                  </a:lnTo>
                  <a:lnTo>
                    <a:pt x="336" y="342"/>
                  </a:lnTo>
                  <a:lnTo>
                    <a:pt x="340" y="344"/>
                  </a:lnTo>
                  <a:lnTo>
                    <a:pt x="343" y="346"/>
                  </a:lnTo>
                  <a:lnTo>
                    <a:pt x="346" y="348"/>
                  </a:lnTo>
                  <a:lnTo>
                    <a:pt x="349" y="349"/>
                  </a:lnTo>
                  <a:lnTo>
                    <a:pt x="352" y="351"/>
                  </a:lnTo>
                  <a:lnTo>
                    <a:pt x="355" y="351"/>
                  </a:lnTo>
                  <a:lnTo>
                    <a:pt x="359" y="351"/>
                  </a:lnTo>
                  <a:lnTo>
                    <a:pt x="362" y="352"/>
                  </a:lnTo>
                  <a:lnTo>
                    <a:pt x="365" y="351"/>
                  </a:lnTo>
                </a:path>
              </a:pathLst>
            </a:custGeom>
            <a:noFill/>
            <a:ln w="12700" cap="rnd">
              <a:solidFill>
                <a:schemeClr val="tx1"/>
              </a:solidFill>
              <a:round/>
              <a:headEnd type="none" w="sm" len="sm"/>
              <a:tailEnd type="none" w="sm" len="sm"/>
            </a:ln>
          </p:spPr>
          <p:txBody>
            <a:bodyPr/>
            <a:lstStyle/>
            <a:p>
              <a:endParaRPr lang="ko-KR" altLang="en-US" dirty="0"/>
            </a:p>
          </p:txBody>
        </p:sp>
        <p:sp>
          <p:nvSpPr>
            <p:cNvPr id="19" name="Line 56"/>
            <p:cNvSpPr>
              <a:spLocks noChangeShapeType="1"/>
            </p:cNvSpPr>
            <p:nvPr/>
          </p:nvSpPr>
          <p:spPr bwMode="auto">
            <a:xfrm>
              <a:off x="1447" y="2224"/>
              <a:ext cx="0" cy="39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0" name="Line 57"/>
            <p:cNvSpPr>
              <a:spLocks noChangeShapeType="1"/>
            </p:cNvSpPr>
            <p:nvPr/>
          </p:nvSpPr>
          <p:spPr bwMode="auto">
            <a:xfrm>
              <a:off x="1047" y="2631"/>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1" name="Freeform 58"/>
            <p:cNvSpPr>
              <a:spLocks/>
            </p:cNvSpPr>
            <p:nvPr/>
          </p:nvSpPr>
          <p:spPr bwMode="auto">
            <a:xfrm>
              <a:off x="1625" y="2596"/>
              <a:ext cx="178" cy="24"/>
            </a:xfrm>
            <a:custGeom>
              <a:avLst/>
              <a:gdLst>
                <a:gd name="T0" fmla="*/ 0 w 178"/>
                <a:gd name="T1" fmla="*/ 0 h 24"/>
                <a:gd name="T2" fmla="*/ 0 w 178"/>
                <a:gd name="T3" fmla="*/ 0 h 24"/>
                <a:gd name="T4" fmla="*/ 0 w 178"/>
                <a:gd name="T5" fmla="*/ 2 h 24"/>
                <a:gd name="T6" fmla="*/ 3 w 178"/>
                <a:gd name="T7" fmla="*/ 5 h 24"/>
                <a:gd name="T8" fmla="*/ 5 w 178"/>
                <a:gd name="T9" fmla="*/ 7 h 24"/>
                <a:gd name="T10" fmla="*/ 8 w 178"/>
                <a:gd name="T11" fmla="*/ 7 h 24"/>
                <a:gd name="T12" fmla="*/ 11 w 178"/>
                <a:gd name="T13" fmla="*/ 10 h 24"/>
                <a:gd name="T14" fmla="*/ 15 w 178"/>
                <a:gd name="T15" fmla="*/ 11 h 24"/>
                <a:gd name="T16" fmla="*/ 19 w 178"/>
                <a:gd name="T17" fmla="*/ 11 h 24"/>
                <a:gd name="T18" fmla="*/ 23 w 178"/>
                <a:gd name="T19" fmla="*/ 12 h 24"/>
                <a:gd name="T20" fmla="*/ 26 w 178"/>
                <a:gd name="T21" fmla="*/ 12 h 24"/>
                <a:gd name="T22" fmla="*/ 29 w 178"/>
                <a:gd name="T23" fmla="*/ 13 h 24"/>
                <a:gd name="T24" fmla="*/ 32 w 178"/>
                <a:gd name="T25" fmla="*/ 14 h 24"/>
                <a:gd name="T26" fmla="*/ 35 w 178"/>
                <a:gd name="T27" fmla="*/ 14 h 24"/>
                <a:gd name="T28" fmla="*/ 38 w 178"/>
                <a:gd name="T29" fmla="*/ 16 h 24"/>
                <a:gd name="T30" fmla="*/ 42 w 178"/>
                <a:gd name="T31" fmla="*/ 15 h 24"/>
                <a:gd name="T32" fmla="*/ 46 w 178"/>
                <a:gd name="T33" fmla="*/ 15 h 24"/>
                <a:gd name="T34" fmla="*/ 50 w 178"/>
                <a:gd name="T35" fmla="*/ 16 h 24"/>
                <a:gd name="T36" fmla="*/ 53 w 178"/>
                <a:gd name="T37" fmla="*/ 16 h 24"/>
                <a:gd name="T38" fmla="*/ 57 w 178"/>
                <a:gd name="T39" fmla="*/ 17 h 24"/>
                <a:gd name="T40" fmla="*/ 61 w 178"/>
                <a:gd name="T41" fmla="*/ 19 h 24"/>
                <a:gd name="T42" fmla="*/ 65 w 178"/>
                <a:gd name="T43" fmla="*/ 19 h 24"/>
                <a:gd name="T44" fmla="*/ 69 w 178"/>
                <a:gd name="T45" fmla="*/ 19 h 24"/>
                <a:gd name="T46" fmla="*/ 73 w 178"/>
                <a:gd name="T47" fmla="*/ 19 h 24"/>
                <a:gd name="T48" fmla="*/ 76 w 178"/>
                <a:gd name="T49" fmla="*/ 19 h 24"/>
                <a:gd name="T50" fmla="*/ 80 w 178"/>
                <a:gd name="T51" fmla="*/ 19 h 24"/>
                <a:gd name="T52" fmla="*/ 84 w 178"/>
                <a:gd name="T53" fmla="*/ 19 h 24"/>
                <a:gd name="T54" fmla="*/ 88 w 178"/>
                <a:gd name="T55" fmla="*/ 19 h 24"/>
                <a:gd name="T56" fmla="*/ 92 w 178"/>
                <a:gd name="T57" fmla="*/ 19 h 24"/>
                <a:gd name="T58" fmla="*/ 96 w 178"/>
                <a:gd name="T59" fmla="*/ 19 h 24"/>
                <a:gd name="T60" fmla="*/ 100 w 178"/>
                <a:gd name="T61" fmla="*/ 19 h 24"/>
                <a:gd name="T62" fmla="*/ 103 w 178"/>
                <a:gd name="T63" fmla="*/ 20 h 24"/>
                <a:gd name="T64" fmla="*/ 105 w 178"/>
                <a:gd name="T65" fmla="*/ 20 h 24"/>
                <a:gd name="T66" fmla="*/ 107 w 178"/>
                <a:gd name="T67" fmla="*/ 20 h 24"/>
                <a:gd name="T68" fmla="*/ 111 w 178"/>
                <a:gd name="T69" fmla="*/ 20 h 24"/>
                <a:gd name="T70" fmla="*/ 115 w 178"/>
                <a:gd name="T71" fmla="*/ 20 h 24"/>
                <a:gd name="T72" fmla="*/ 119 w 178"/>
                <a:gd name="T73" fmla="*/ 20 h 24"/>
                <a:gd name="T74" fmla="*/ 123 w 178"/>
                <a:gd name="T75" fmla="*/ 20 h 24"/>
                <a:gd name="T76" fmla="*/ 126 w 178"/>
                <a:gd name="T77" fmla="*/ 20 h 24"/>
                <a:gd name="T78" fmla="*/ 129 w 178"/>
                <a:gd name="T79" fmla="*/ 21 h 24"/>
                <a:gd name="T80" fmla="*/ 132 w 178"/>
                <a:gd name="T81" fmla="*/ 21 h 24"/>
                <a:gd name="T82" fmla="*/ 135 w 178"/>
                <a:gd name="T83" fmla="*/ 23 h 24"/>
                <a:gd name="T84" fmla="*/ 138 w 178"/>
                <a:gd name="T85" fmla="*/ 23 h 24"/>
                <a:gd name="T86" fmla="*/ 142 w 178"/>
                <a:gd name="T87" fmla="*/ 23 h 24"/>
                <a:gd name="T88" fmla="*/ 146 w 178"/>
                <a:gd name="T89" fmla="*/ 23 h 24"/>
                <a:gd name="T90" fmla="*/ 150 w 178"/>
                <a:gd name="T91" fmla="*/ 23 h 24"/>
                <a:gd name="T92" fmla="*/ 153 w 178"/>
                <a:gd name="T93" fmla="*/ 23 h 24"/>
                <a:gd name="T94" fmla="*/ 156 w 178"/>
                <a:gd name="T95" fmla="*/ 23 h 24"/>
                <a:gd name="T96" fmla="*/ 159 w 178"/>
                <a:gd name="T97" fmla="*/ 23 h 24"/>
                <a:gd name="T98" fmla="*/ 162 w 178"/>
                <a:gd name="T99" fmla="*/ 23 h 24"/>
                <a:gd name="T100" fmla="*/ 166 w 178"/>
                <a:gd name="T101" fmla="*/ 23 h 24"/>
                <a:gd name="T102" fmla="*/ 169 w 178"/>
                <a:gd name="T103" fmla="*/ 23 h 24"/>
                <a:gd name="T104" fmla="*/ 173 w 178"/>
                <a:gd name="T105" fmla="*/ 23 h 24"/>
                <a:gd name="T106" fmla="*/ 177 w 178"/>
                <a:gd name="T107" fmla="*/ 23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0" y="0"/>
                  </a:moveTo>
                  <a:lnTo>
                    <a:pt x="0" y="0"/>
                  </a:lnTo>
                  <a:lnTo>
                    <a:pt x="0" y="2"/>
                  </a:lnTo>
                  <a:lnTo>
                    <a:pt x="3" y="5"/>
                  </a:lnTo>
                  <a:lnTo>
                    <a:pt x="5" y="7"/>
                  </a:lnTo>
                  <a:lnTo>
                    <a:pt x="8" y="7"/>
                  </a:lnTo>
                  <a:lnTo>
                    <a:pt x="11" y="10"/>
                  </a:lnTo>
                  <a:lnTo>
                    <a:pt x="15" y="11"/>
                  </a:lnTo>
                  <a:lnTo>
                    <a:pt x="19" y="11"/>
                  </a:lnTo>
                  <a:lnTo>
                    <a:pt x="23" y="12"/>
                  </a:lnTo>
                  <a:lnTo>
                    <a:pt x="26" y="12"/>
                  </a:lnTo>
                  <a:lnTo>
                    <a:pt x="29" y="13"/>
                  </a:lnTo>
                  <a:lnTo>
                    <a:pt x="32" y="14"/>
                  </a:lnTo>
                  <a:lnTo>
                    <a:pt x="35" y="14"/>
                  </a:lnTo>
                  <a:lnTo>
                    <a:pt x="38" y="16"/>
                  </a:lnTo>
                  <a:lnTo>
                    <a:pt x="42" y="15"/>
                  </a:lnTo>
                  <a:lnTo>
                    <a:pt x="46" y="15"/>
                  </a:lnTo>
                  <a:lnTo>
                    <a:pt x="50" y="16"/>
                  </a:lnTo>
                  <a:lnTo>
                    <a:pt x="53" y="16"/>
                  </a:lnTo>
                  <a:lnTo>
                    <a:pt x="57" y="17"/>
                  </a:lnTo>
                  <a:lnTo>
                    <a:pt x="61" y="19"/>
                  </a:lnTo>
                  <a:lnTo>
                    <a:pt x="65" y="19"/>
                  </a:lnTo>
                  <a:lnTo>
                    <a:pt x="69" y="19"/>
                  </a:lnTo>
                  <a:lnTo>
                    <a:pt x="73" y="19"/>
                  </a:lnTo>
                  <a:lnTo>
                    <a:pt x="76" y="19"/>
                  </a:lnTo>
                  <a:lnTo>
                    <a:pt x="80" y="19"/>
                  </a:lnTo>
                  <a:lnTo>
                    <a:pt x="84" y="19"/>
                  </a:lnTo>
                  <a:lnTo>
                    <a:pt x="88" y="19"/>
                  </a:lnTo>
                  <a:lnTo>
                    <a:pt x="92" y="19"/>
                  </a:lnTo>
                  <a:lnTo>
                    <a:pt x="96" y="19"/>
                  </a:lnTo>
                  <a:lnTo>
                    <a:pt x="100" y="19"/>
                  </a:lnTo>
                  <a:lnTo>
                    <a:pt x="103" y="20"/>
                  </a:lnTo>
                  <a:lnTo>
                    <a:pt x="105" y="20"/>
                  </a:lnTo>
                  <a:lnTo>
                    <a:pt x="107" y="20"/>
                  </a:lnTo>
                  <a:lnTo>
                    <a:pt x="111" y="20"/>
                  </a:lnTo>
                  <a:lnTo>
                    <a:pt x="115" y="20"/>
                  </a:lnTo>
                  <a:lnTo>
                    <a:pt x="119" y="20"/>
                  </a:lnTo>
                  <a:lnTo>
                    <a:pt x="123" y="20"/>
                  </a:lnTo>
                  <a:lnTo>
                    <a:pt x="126" y="20"/>
                  </a:lnTo>
                  <a:lnTo>
                    <a:pt x="129" y="21"/>
                  </a:lnTo>
                  <a:lnTo>
                    <a:pt x="132" y="21"/>
                  </a:lnTo>
                  <a:lnTo>
                    <a:pt x="135" y="23"/>
                  </a:lnTo>
                  <a:lnTo>
                    <a:pt x="138" y="23"/>
                  </a:lnTo>
                  <a:lnTo>
                    <a:pt x="142" y="23"/>
                  </a:lnTo>
                  <a:lnTo>
                    <a:pt x="146" y="23"/>
                  </a:lnTo>
                  <a:lnTo>
                    <a:pt x="150" y="23"/>
                  </a:lnTo>
                  <a:lnTo>
                    <a:pt x="153" y="23"/>
                  </a:lnTo>
                  <a:lnTo>
                    <a:pt x="156" y="23"/>
                  </a:lnTo>
                  <a:lnTo>
                    <a:pt x="159" y="23"/>
                  </a:lnTo>
                  <a:lnTo>
                    <a:pt x="162" y="23"/>
                  </a:lnTo>
                  <a:lnTo>
                    <a:pt x="166" y="23"/>
                  </a:lnTo>
                  <a:lnTo>
                    <a:pt x="169" y="23"/>
                  </a:lnTo>
                  <a:lnTo>
                    <a:pt x="173" y="23"/>
                  </a:lnTo>
                  <a:lnTo>
                    <a:pt x="177" y="23"/>
                  </a:lnTo>
                </a:path>
              </a:pathLst>
            </a:custGeom>
            <a:noFill/>
            <a:ln w="12700" cap="rnd">
              <a:solidFill>
                <a:schemeClr val="tx1"/>
              </a:solidFill>
              <a:round/>
              <a:headEnd type="none" w="sm" len="sm"/>
              <a:tailEnd type="none" w="sm" len="sm"/>
            </a:ln>
          </p:spPr>
          <p:txBody>
            <a:bodyPr/>
            <a:lstStyle/>
            <a:p>
              <a:endParaRPr lang="ko-KR" altLang="en-US" dirty="0"/>
            </a:p>
          </p:txBody>
        </p:sp>
        <p:sp>
          <p:nvSpPr>
            <p:cNvPr id="22" name="Freeform 59"/>
            <p:cNvSpPr>
              <a:spLocks/>
            </p:cNvSpPr>
            <p:nvPr/>
          </p:nvSpPr>
          <p:spPr bwMode="auto">
            <a:xfrm>
              <a:off x="1084" y="2596"/>
              <a:ext cx="178" cy="24"/>
            </a:xfrm>
            <a:custGeom>
              <a:avLst/>
              <a:gdLst>
                <a:gd name="T0" fmla="*/ 177 w 178"/>
                <a:gd name="T1" fmla="*/ 0 h 24"/>
                <a:gd name="T2" fmla="*/ 177 w 178"/>
                <a:gd name="T3" fmla="*/ 0 h 24"/>
                <a:gd name="T4" fmla="*/ 177 w 178"/>
                <a:gd name="T5" fmla="*/ 2 h 24"/>
                <a:gd name="T6" fmla="*/ 173 w 178"/>
                <a:gd name="T7" fmla="*/ 5 h 24"/>
                <a:gd name="T8" fmla="*/ 171 w 178"/>
                <a:gd name="T9" fmla="*/ 7 h 24"/>
                <a:gd name="T10" fmla="*/ 168 w 178"/>
                <a:gd name="T11" fmla="*/ 7 h 24"/>
                <a:gd name="T12" fmla="*/ 165 w 178"/>
                <a:gd name="T13" fmla="*/ 10 h 24"/>
                <a:gd name="T14" fmla="*/ 161 w 178"/>
                <a:gd name="T15" fmla="*/ 11 h 24"/>
                <a:gd name="T16" fmla="*/ 157 w 178"/>
                <a:gd name="T17" fmla="*/ 11 h 24"/>
                <a:gd name="T18" fmla="*/ 153 w 178"/>
                <a:gd name="T19" fmla="*/ 12 h 24"/>
                <a:gd name="T20" fmla="*/ 150 w 178"/>
                <a:gd name="T21" fmla="*/ 12 h 24"/>
                <a:gd name="T22" fmla="*/ 147 w 178"/>
                <a:gd name="T23" fmla="*/ 13 h 24"/>
                <a:gd name="T24" fmla="*/ 144 w 178"/>
                <a:gd name="T25" fmla="*/ 14 h 24"/>
                <a:gd name="T26" fmla="*/ 141 w 178"/>
                <a:gd name="T27" fmla="*/ 14 h 24"/>
                <a:gd name="T28" fmla="*/ 138 w 178"/>
                <a:gd name="T29" fmla="*/ 16 h 24"/>
                <a:gd name="T30" fmla="*/ 135 w 178"/>
                <a:gd name="T31" fmla="*/ 15 h 24"/>
                <a:gd name="T32" fmla="*/ 130 w 178"/>
                <a:gd name="T33" fmla="*/ 15 h 24"/>
                <a:gd name="T34" fmla="*/ 126 w 178"/>
                <a:gd name="T35" fmla="*/ 16 h 24"/>
                <a:gd name="T36" fmla="*/ 123 w 178"/>
                <a:gd name="T37" fmla="*/ 16 h 24"/>
                <a:gd name="T38" fmla="*/ 119 w 178"/>
                <a:gd name="T39" fmla="*/ 17 h 24"/>
                <a:gd name="T40" fmla="*/ 115 w 178"/>
                <a:gd name="T41" fmla="*/ 19 h 24"/>
                <a:gd name="T42" fmla="*/ 111 w 178"/>
                <a:gd name="T43" fmla="*/ 19 h 24"/>
                <a:gd name="T44" fmla="*/ 108 w 178"/>
                <a:gd name="T45" fmla="*/ 19 h 24"/>
                <a:gd name="T46" fmla="*/ 104 w 178"/>
                <a:gd name="T47" fmla="*/ 19 h 24"/>
                <a:gd name="T48" fmla="*/ 99 w 178"/>
                <a:gd name="T49" fmla="*/ 19 h 24"/>
                <a:gd name="T50" fmla="*/ 96 w 178"/>
                <a:gd name="T51" fmla="*/ 19 h 24"/>
                <a:gd name="T52" fmla="*/ 92 w 178"/>
                <a:gd name="T53" fmla="*/ 19 h 24"/>
                <a:gd name="T54" fmla="*/ 88 w 178"/>
                <a:gd name="T55" fmla="*/ 19 h 24"/>
                <a:gd name="T56" fmla="*/ 84 w 178"/>
                <a:gd name="T57" fmla="*/ 19 h 24"/>
                <a:gd name="T58" fmla="*/ 81 w 178"/>
                <a:gd name="T59" fmla="*/ 19 h 24"/>
                <a:gd name="T60" fmla="*/ 77 w 178"/>
                <a:gd name="T61" fmla="*/ 19 h 24"/>
                <a:gd name="T62" fmla="*/ 74 w 178"/>
                <a:gd name="T63" fmla="*/ 20 h 24"/>
                <a:gd name="T64" fmla="*/ 72 w 178"/>
                <a:gd name="T65" fmla="*/ 20 h 24"/>
                <a:gd name="T66" fmla="*/ 69 w 178"/>
                <a:gd name="T67" fmla="*/ 20 h 24"/>
                <a:gd name="T68" fmla="*/ 66 w 178"/>
                <a:gd name="T69" fmla="*/ 20 h 24"/>
                <a:gd name="T70" fmla="*/ 61 w 178"/>
                <a:gd name="T71" fmla="*/ 20 h 24"/>
                <a:gd name="T72" fmla="*/ 57 w 178"/>
                <a:gd name="T73" fmla="*/ 20 h 24"/>
                <a:gd name="T74" fmla="*/ 54 w 178"/>
                <a:gd name="T75" fmla="*/ 20 h 24"/>
                <a:gd name="T76" fmla="*/ 50 w 178"/>
                <a:gd name="T77" fmla="*/ 20 h 24"/>
                <a:gd name="T78" fmla="*/ 47 w 178"/>
                <a:gd name="T79" fmla="*/ 21 h 24"/>
                <a:gd name="T80" fmla="*/ 44 w 178"/>
                <a:gd name="T81" fmla="*/ 21 h 24"/>
                <a:gd name="T82" fmla="*/ 41 w 178"/>
                <a:gd name="T83" fmla="*/ 23 h 24"/>
                <a:gd name="T84" fmla="*/ 38 w 178"/>
                <a:gd name="T85" fmla="*/ 23 h 24"/>
                <a:gd name="T86" fmla="*/ 34 w 178"/>
                <a:gd name="T87" fmla="*/ 23 h 24"/>
                <a:gd name="T88" fmla="*/ 30 w 178"/>
                <a:gd name="T89" fmla="*/ 23 h 24"/>
                <a:gd name="T90" fmla="*/ 27 w 178"/>
                <a:gd name="T91" fmla="*/ 23 h 24"/>
                <a:gd name="T92" fmla="*/ 23 w 178"/>
                <a:gd name="T93" fmla="*/ 23 h 24"/>
                <a:gd name="T94" fmla="*/ 20 w 178"/>
                <a:gd name="T95" fmla="*/ 23 h 24"/>
                <a:gd name="T96" fmla="*/ 17 w 178"/>
                <a:gd name="T97" fmla="*/ 23 h 24"/>
                <a:gd name="T98" fmla="*/ 14 w 178"/>
                <a:gd name="T99" fmla="*/ 23 h 24"/>
                <a:gd name="T100" fmla="*/ 10 w 178"/>
                <a:gd name="T101" fmla="*/ 23 h 24"/>
                <a:gd name="T102" fmla="*/ 7 w 178"/>
                <a:gd name="T103" fmla="*/ 23 h 24"/>
                <a:gd name="T104" fmla="*/ 3 w 178"/>
                <a:gd name="T105" fmla="*/ 23 h 24"/>
                <a:gd name="T106" fmla="*/ 0 w 178"/>
                <a:gd name="T107" fmla="*/ 23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177" y="0"/>
                  </a:moveTo>
                  <a:lnTo>
                    <a:pt x="177" y="0"/>
                  </a:lnTo>
                  <a:lnTo>
                    <a:pt x="177" y="2"/>
                  </a:lnTo>
                  <a:lnTo>
                    <a:pt x="173" y="5"/>
                  </a:lnTo>
                  <a:lnTo>
                    <a:pt x="171" y="7"/>
                  </a:lnTo>
                  <a:lnTo>
                    <a:pt x="168" y="7"/>
                  </a:lnTo>
                  <a:lnTo>
                    <a:pt x="165" y="10"/>
                  </a:lnTo>
                  <a:lnTo>
                    <a:pt x="161" y="11"/>
                  </a:lnTo>
                  <a:lnTo>
                    <a:pt x="157" y="11"/>
                  </a:lnTo>
                  <a:lnTo>
                    <a:pt x="153" y="12"/>
                  </a:lnTo>
                  <a:lnTo>
                    <a:pt x="150" y="12"/>
                  </a:lnTo>
                  <a:lnTo>
                    <a:pt x="147" y="13"/>
                  </a:lnTo>
                  <a:lnTo>
                    <a:pt x="144" y="14"/>
                  </a:lnTo>
                  <a:lnTo>
                    <a:pt x="141" y="14"/>
                  </a:lnTo>
                  <a:lnTo>
                    <a:pt x="138" y="16"/>
                  </a:lnTo>
                  <a:lnTo>
                    <a:pt x="135" y="15"/>
                  </a:lnTo>
                  <a:lnTo>
                    <a:pt x="130" y="15"/>
                  </a:lnTo>
                  <a:lnTo>
                    <a:pt x="126" y="16"/>
                  </a:lnTo>
                  <a:lnTo>
                    <a:pt x="123" y="16"/>
                  </a:lnTo>
                  <a:lnTo>
                    <a:pt x="119" y="17"/>
                  </a:lnTo>
                  <a:lnTo>
                    <a:pt x="115" y="19"/>
                  </a:lnTo>
                  <a:lnTo>
                    <a:pt x="111" y="19"/>
                  </a:lnTo>
                  <a:lnTo>
                    <a:pt x="108" y="19"/>
                  </a:lnTo>
                  <a:lnTo>
                    <a:pt x="104" y="19"/>
                  </a:lnTo>
                  <a:lnTo>
                    <a:pt x="99" y="19"/>
                  </a:lnTo>
                  <a:lnTo>
                    <a:pt x="96" y="19"/>
                  </a:lnTo>
                  <a:lnTo>
                    <a:pt x="92" y="19"/>
                  </a:lnTo>
                  <a:lnTo>
                    <a:pt x="88" y="19"/>
                  </a:lnTo>
                  <a:lnTo>
                    <a:pt x="84" y="19"/>
                  </a:lnTo>
                  <a:lnTo>
                    <a:pt x="81" y="19"/>
                  </a:lnTo>
                  <a:lnTo>
                    <a:pt x="77" y="19"/>
                  </a:lnTo>
                  <a:lnTo>
                    <a:pt x="74" y="20"/>
                  </a:lnTo>
                  <a:lnTo>
                    <a:pt x="72" y="20"/>
                  </a:lnTo>
                  <a:lnTo>
                    <a:pt x="69" y="20"/>
                  </a:lnTo>
                  <a:lnTo>
                    <a:pt x="66" y="20"/>
                  </a:lnTo>
                  <a:lnTo>
                    <a:pt x="61" y="20"/>
                  </a:lnTo>
                  <a:lnTo>
                    <a:pt x="57" y="20"/>
                  </a:lnTo>
                  <a:lnTo>
                    <a:pt x="54" y="20"/>
                  </a:lnTo>
                  <a:lnTo>
                    <a:pt x="50" y="20"/>
                  </a:lnTo>
                  <a:lnTo>
                    <a:pt x="47" y="21"/>
                  </a:lnTo>
                  <a:lnTo>
                    <a:pt x="44" y="21"/>
                  </a:lnTo>
                  <a:lnTo>
                    <a:pt x="41" y="23"/>
                  </a:lnTo>
                  <a:lnTo>
                    <a:pt x="38" y="23"/>
                  </a:lnTo>
                  <a:lnTo>
                    <a:pt x="34" y="23"/>
                  </a:lnTo>
                  <a:lnTo>
                    <a:pt x="30" y="23"/>
                  </a:lnTo>
                  <a:lnTo>
                    <a:pt x="27" y="23"/>
                  </a:lnTo>
                  <a:lnTo>
                    <a:pt x="23" y="23"/>
                  </a:lnTo>
                  <a:lnTo>
                    <a:pt x="20" y="23"/>
                  </a:lnTo>
                  <a:lnTo>
                    <a:pt x="17" y="23"/>
                  </a:lnTo>
                  <a:lnTo>
                    <a:pt x="14" y="23"/>
                  </a:lnTo>
                  <a:lnTo>
                    <a:pt x="10" y="23"/>
                  </a:lnTo>
                  <a:lnTo>
                    <a:pt x="7" y="23"/>
                  </a:lnTo>
                  <a:lnTo>
                    <a:pt x="3" y="23"/>
                  </a:lnTo>
                  <a:lnTo>
                    <a:pt x="0" y="23"/>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23" name="Group 72"/>
          <p:cNvGrpSpPr>
            <a:grpSpLocks/>
          </p:cNvGrpSpPr>
          <p:nvPr/>
        </p:nvGrpSpPr>
        <p:grpSpPr bwMode="auto">
          <a:xfrm>
            <a:off x="1252905" y="3638406"/>
            <a:ext cx="1208942" cy="431800"/>
            <a:chOff x="1011" y="1504"/>
            <a:chExt cx="1185" cy="479"/>
          </a:xfrm>
        </p:grpSpPr>
        <p:sp>
          <p:nvSpPr>
            <p:cNvPr id="24" name="Freeform 67"/>
            <p:cNvSpPr>
              <a:spLocks/>
            </p:cNvSpPr>
            <p:nvPr/>
          </p:nvSpPr>
          <p:spPr bwMode="auto">
            <a:xfrm>
              <a:off x="1322" y="1532"/>
              <a:ext cx="524" cy="417"/>
            </a:xfrm>
            <a:custGeom>
              <a:avLst/>
              <a:gdLst>
                <a:gd name="T0" fmla="*/ 14 w 524"/>
                <a:gd name="T1" fmla="*/ 413 h 417"/>
                <a:gd name="T2" fmla="*/ 33 w 524"/>
                <a:gd name="T3" fmla="*/ 409 h 417"/>
                <a:gd name="T4" fmla="*/ 51 w 524"/>
                <a:gd name="T5" fmla="*/ 399 h 417"/>
                <a:gd name="T6" fmla="*/ 69 w 524"/>
                <a:gd name="T7" fmla="*/ 383 h 417"/>
                <a:gd name="T8" fmla="*/ 87 w 524"/>
                <a:gd name="T9" fmla="*/ 374 h 417"/>
                <a:gd name="T10" fmla="*/ 99 w 524"/>
                <a:gd name="T11" fmla="*/ 355 h 417"/>
                <a:gd name="T12" fmla="*/ 111 w 524"/>
                <a:gd name="T13" fmla="*/ 335 h 417"/>
                <a:gd name="T14" fmla="*/ 124 w 524"/>
                <a:gd name="T15" fmla="*/ 317 h 417"/>
                <a:gd name="T16" fmla="*/ 134 w 524"/>
                <a:gd name="T17" fmla="*/ 296 h 417"/>
                <a:gd name="T18" fmla="*/ 137 w 524"/>
                <a:gd name="T19" fmla="*/ 276 h 417"/>
                <a:gd name="T20" fmla="*/ 150 w 524"/>
                <a:gd name="T21" fmla="*/ 258 h 417"/>
                <a:gd name="T22" fmla="*/ 157 w 524"/>
                <a:gd name="T23" fmla="*/ 239 h 417"/>
                <a:gd name="T24" fmla="*/ 160 w 524"/>
                <a:gd name="T25" fmla="*/ 219 h 417"/>
                <a:gd name="T26" fmla="*/ 167 w 524"/>
                <a:gd name="T27" fmla="*/ 199 h 417"/>
                <a:gd name="T28" fmla="*/ 174 w 524"/>
                <a:gd name="T29" fmla="*/ 179 h 417"/>
                <a:gd name="T30" fmla="*/ 180 w 524"/>
                <a:gd name="T31" fmla="*/ 159 h 417"/>
                <a:gd name="T32" fmla="*/ 186 w 524"/>
                <a:gd name="T33" fmla="*/ 139 h 417"/>
                <a:gd name="T34" fmla="*/ 193 w 524"/>
                <a:gd name="T35" fmla="*/ 119 h 417"/>
                <a:gd name="T36" fmla="*/ 201 w 524"/>
                <a:gd name="T37" fmla="*/ 98 h 417"/>
                <a:gd name="T38" fmla="*/ 209 w 524"/>
                <a:gd name="T39" fmla="*/ 78 h 417"/>
                <a:gd name="T40" fmla="*/ 216 w 524"/>
                <a:gd name="T41" fmla="*/ 58 h 417"/>
                <a:gd name="T42" fmla="*/ 225 w 524"/>
                <a:gd name="T43" fmla="*/ 38 h 417"/>
                <a:gd name="T44" fmla="*/ 237 w 524"/>
                <a:gd name="T45" fmla="*/ 18 h 417"/>
                <a:gd name="T46" fmla="*/ 254 w 524"/>
                <a:gd name="T47" fmla="*/ 1 h 417"/>
                <a:gd name="T48" fmla="*/ 273 w 524"/>
                <a:gd name="T49" fmla="*/ 1 h 417"/>
                <a:gd name="T50" fmla="*/ 290 w 524"/>
                <a:gd name="T51" fmla="*/ 20 h 417"/>
                <a:gd name="T52" fmla="*/ 304 w 524"/>
                <a:gd name="T53" fmla="*/ 40 h 417"/>
                <a:gd name="T54" fmla="*/ 312 w 524"/>
                <a:gd name="T55" fmla="*/ 60 h 417"/>
                <a:gd name="T56" fmla="*/ 318 w 524"/>
                <a:gd name="T57" fmla="*/ 80 h 417"/>
                <a:gd name="T58" fmla="*/ 324 w 524"/>
                <a:gd name="T59" fmla="*/ 100 h 417"/>
                <a:gd name="T60" fmla="*/ 330 w 524"/>
                <a:gd name="T61" fmla="*/ 120 h 417"/>
                <a:gd name="T62" fmla="*/ 340 w 524"/>
                <a:gd name="T63" fmla="*/ 140 h 417"/>
                <a:gd name="T64" fmla="*/ 346 w 524"/>
                <a:gd name="T65" fmla="*/ 161 h 417"/>
                <a:gd name="T66" fmla="*/ 355 w 524"/>
                <a:gd name="T67" fmla="*/ 181 h 417"/>
                <a:gd name="T68" fmla="*/ 362 w 524"/>
                <a:gd name="T69" fmla="*/ 201 h 417"/>
                <a:gd name="T70" fmla="*/ 366 w 524"/>
                <a:gd name="T71" fmla="*/ 221 h 417"/>
                <a:gd name="T72" fmla="*/ 372 w 524"/>
                <a:gd name="T73" fmla="*/ 241 h 417"/>
                <a:gd name="T74" fmla="*/ 381 w 524"/>
                <a:gd name="T75" fmla="*/ 261 h 417"/>
                <a:gd name="T76" fmla="*/ 388 w 524"/>
                <a:gd name="T77" fmla="*/ 281 h 417"/>
                <a:gd name="T78" fmla="*/ 398 w 524"/>
                <a:gd name="T79" fmla="*/ 302 h 417"/>
                <a:gd name="T80" fmla="*/ 407 w 524"/>
                <a:gd name="T81" fmla="*/ 322 h 417"/>
                <a:gd name="T82" fmla="*/ 417 w 524"/>
                <a:gd name="T83" fmla="*/ 342 h 417"/>
                <a:gd name="T84" fmla="*/ 430 w 524"/>
                <a:gd name="T85" fmla="*/ 360 h 417"/>
                <a:gd name="T86" fmla="*/ 446 w 524"/>
                <a:gd name="T87" fmla="*/ 380 h 417"/>
                <a:gd name="T88" fmla="*/ 465 w 524"/>
                <a:gd name="T89" fmla="*/ 392 h 417"/>
                <a:gd name="T90" fmla="*/ 482 w 524"/>
                <a:gd name="T91" fmla="*/ 402 h 417"/>
                <a:gd name="T92" fmla="*/ 501 w 524"/>
                <a:gd name="T93" fmla="*/ 410 h 417"/>
                <a:gd name="T94" fmla="*/ 519 w 524"/>
                <a:gd name="T95" fmla="*/ 414 h 4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4"/>
                <a:gd name="T145" fmla="*/ 0 h 417"/>
                <a:gd name="T146" fmla="*/ 524 w 524"/>
                <a:gd name="T147" fmla="*/ 417 h 4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4" h="417">
                  <a:moveTo>
                    <a:pt x="0" y="416"/>
                  </a:moveTo>
                  <a:lnTo>
                    <a:pt x="4" y="416"/>
                  </a:lnTo>
                  <a:lnTo>
                    <a:pt x="9" y="414"/>
                  </a:lnTo>
                  <a:lnTo>
                    <a:pt x="14" y="413"/>
                  </a:lnTo>
                  <a:lnTo>
                    <a:pt x="18" y="410"/>
                  </a:lnTo>
                  <a:lnTo>
                    <a:pt x="23" y="409"/>
                  </a:lnTo>
                  <a:lnTo>
                    <a:pt x="27" y="409"/>
                  </a:lnTo>
                  <a:lnTo>
                    <a:pt x="33" y="409"/>
                  </a:lnTo>
                  <a:lnTo>
                    <a:pt x="37" y="407"/>
                  </a:lnTo>
                  <a:lnTo>
                    <a:pt x="42" y="404"/>
                  </a:lnTo>
                  <a:lnTo>
                    <a:pt x="46" y="401"/>
                  </a:lnTo>
                  <a:lnTo>
                    <a:pt x="51" y="399"/>
                  </a:lnTo>
                  <a:lnTo>
                    <a:pt x="56" y="394"/>
                  </a:lnTo>
                  <a:lnTo>
                    <a:pt x="60" y="390"/>
                  </a:lnTo>
                  <a:lnTo>
                    <a:pt x="65" y="389"/>
                  </a:lnTo>
                  <a:lnTo>
                    <a:pt x="69" y="383"/>
                  </a:lnTo>
                  <a:lnTo>
                    <a:pt x="73" y="382"/>
                  </a:lnTo>
                  <a:lnTo>
                    <a:pt x="78" y="380"/>
                  </a:lnTo>
                  <a:lnTo>
                    <a:pt x="82" y="377"/>
                  </a:lnTo>
                  <a:lnTo>
                    <a:pt x="87" y="374"/>
                  </a:lnTo>
                  <a:lnTo>
                    <a:pt x="90" y="368"/>
                  </a:lnTo>
                  <a:lnTo>
                    <a:pt x="93" y="364"/>
                  </a:lnTo>
                  <a:lnTo>
                    <a:pt x="98" y="360"/>
                  </a:lnTo>
                  <a:lnTo>
                    <a:pt x="99" y="355"/>
                  </a:lnTo>
                  <a:lnTo>
                    <a:pt x="101" y="350"/>
                  </a:lnTo>
                  <a:lnTo>
                    <a:pt x="102" y="345"/>
                  </a:lnTo>
                  <a:lnTo>
                    <a:pt x="108" y="340"/>
                  </a:lnTo>
                  <a:lnTo>
                    <a:pt x="111" y="335"/>
                  </a:lnTo>
                  <a:lnTo>
                    <a:pt x="114" y="330"/>
                  </a:lnTo>
                  <a:lnTo>
                    <a:pt x="117" y="325"/>
                  </a:lnTo>
                  <a:lnTo>
                    <a:pt x="120" y="320"/>
                  </a:lnTo>
                  <a:lnTo>
                    <a:pt x="124" y="317"/>
                  </a:lnTo>
                  <a:lnTo>
                    <a:pt x="124" y="311"/>
                  </a:lnTo>
                  <a:lnTo>
                    <a:pt x="128" y="307"/>
                  </a:lnTo>
                  <a:lnTo>
                    <a:pt x="131" y="302"/>
                  </a:lnTo>
                  <a:lnTo>
                    <a:pt x="134" y="296"/>
                  </a:lnTo>
                  <a:lnTo>
                    <a:pt x="135" y="291"/>
                  </a:lnTo>
                  <a:lnTo>
                    <a:pt x="137" y="287"/>
                  </a:lnTo>
                  <a:lnTo>
                    <a:pt x="137" y="281"/>
                  </a:lnTo>
                  <a:lnTo>
                    <a:pt x="137" y="276"/>
                  </a:lnTo>
                  <a:lnTo>
                    <a:pt x="141" y="273"/>
                  </a:lnTo>
                  <a:lnTo>
                    <a:pt x="143" y="268"/>
                  </a:lnTo>
                  <a:lnTo>
                    <a:pt x="147" y="263"/>
                  </a:lnTo>
                  <a:lnTo>
                    <a:pt x="150" y="258"/>
                  </a:lnTo>
                  <a:lnTo>
                    <a:pt x="150" y="253"/>
                  </a:lnTo>
                  <a:lnTo>
                    <a:pt x="153" y="248"/>
                  </a:lnTo>
                  <a:lnTo>
                    <a:pt x="153" y="242"/>
                  </a:lnTo>
                  <a:lnTo>
                    <a:pt x="157" y="239"/>
                  </a:lnTo>
                  <a:lnTo>
                    <a:pt x="156" y="234"/>
                  </a:lnTo>
                  <a:lnTo>
                    <a:pt x="156" y="230"/>
                  </a:lnTo>
                  <a:lnTo>
                    <a:pt x="157" y="224"/>
                  </a:lnTo>
                  <a:lnTo>
                    <a:pt x="160" y="219"/>
                  </a:lnTo>
                  <a:lnTo>
                    <a:pt x="160" y="214"/>
                  </a:lnTo>
                  <a:lnTo>
                    <a:pt x="162" y="209"/>
                  </a:lnTo>
                  <a:lnTo>
                    <a:pt x="165" y="204"/>
                  </a:lnTo>
                  <a:lnTo>
                    <a:pt x="167" y="199"/>
                  </a:lnTo>
                  <a:lnTo>
                    <a:pt x="168" y="194"/>
                  </a:lnTo>
                  <a:lnTo>
                    <a:pt x="171" y="189"/>
                  </a:lnTo>
                  <a:lnTo>
                    <a:pt x="173" y="184"/>
                  </a:lnTo>
                  <a:lnTo>
                    <a:pt x="174" y="179"/>
                  </a:lnTo>
                  <a:lnTo>
                    <a:pt x="174" y="174"/>
                  </a:lnTo>
                  <a:lnTo>
                    <a:pt x="176" y="169"/>
                  </a:lnTo>
                  <a:lnTo>
                    <a:pt x="179" y="164"/>
                  </a:lnTo>
                  <a:lnTo>
                    <a:pt x="180" y="159"/>
                  </a:lnTo>
                  <a:lnTo>
                    <a:pt x="182" y="154"/>
                  </a:lnTo>
                  <a:lnTo>
                    <a:pt x="184" y="149"/>
                  </a:lnTo>
                  <a:lnTo>
                    <a:pt x="187" y="143"/>
                  </a:lnTo>
                  <a:lnTo>
                    <a:pt x="186" y="139"/>
                  </a:lnTo>
                  <a:lnTo>
                    <a:pt x="187" y="134"/>
                  </a:lnTo>
                  <a:lnTo>
                    <a:pt x="190" y="128"/>
                  </a:lnTo>
                  <a:lnTo>
                    <a:pt x="193" y="124"/>
                  </a:lnTo>
                  <a:lnTo>
                    <a:pt x="193" y="119"/>
                  </a:lnTo>
                  <a:lnTo>
                    <a:pt x="196" y="113"/>
                  </a:lnTo>
                  <a:lnTo>
                    <a:pt x="198" y="108"/>
                  </a:lnTo>
                  <a:lnTo>
                    <a:pt x="199" y="104"/>
                  </a:lnTo>
                  <a:lnTo>
                    <a:pt x="201" y="98"/>
                  </a:lnTo>
                  <a:lnTo>
                    <a:pt x="202" y="93"/>
                  </a:lnTo>
                  <a:lnTo>
                    <a:pt x="206" y="89"/>
                  </a:lnTo>
                  <a:lnTo>
                    <a:pt x="206" y="83"/>
                  </a:lnTo>
                  <a:lnTo>
                    <a:pt x="209" y="78"/>
                  </a:lnTo>
                  <a:lnTo>
                    <a:pt x="209" y="73"/>
                  </a:lnTo>
                  <a:lnTo>
                    <a:pt x="212" y="68"/>
                  </a:lnTo>
                  <a:lnTo>
                    <a:pt x="213" y="63"/>
                  </a:lnTo>
                  <a:lnTo>
                    <a:pt x="216" y="58"/>
                  </a:lnTo>
                  <a:lnTo>
                    <a:pt x="218" y="53"/>
                  </a:lnTo>
                  <a:lnTo>
                    <a:pt x="221" y="48"/>
                  </a:lnTo>
                  <a:lnTo>
                    <a:pt x="223" y="43"/>
                  </a:lnTo>
                  <a:lnTo>
                    <a:pt x="225" y="38"/>
                  </a:lnTo>
                  <a:lnTo>
                    <a:pt x="228" y="33"/>
                  </a:lnTo>
                  <a:lnTo>
                    <a:pt x="231" y="28"/>
                  </a:lnTo>
                  <a:lnTo>
                    <a:pt x="234" y="23"/>
                  </a:lnTo>
                  <a:lnTo>
                    <a:pt x="237" y="18"/>
                  </a:lnTo>
                  <a:lnTo>
                    <a:pt x="241" y="14"/>
                  </a:lnTo>
                  <a:lnTo>
                    <a:pt x="246" y="9"/>
                  </a:lnTo>
                  <a:lnTo>
                    <a:pt x="249" y="5"/>
                  </a:lnTo>
                  <a:lnTo>
                    <a:pt x="254" y="1"/>
                  </a:lnTo>
                  <a:lnTo>
                    <a:pt x="258" y="1"/>
                  </a:lnTo>
                  <a:lnTo>
                    <a:pt x="264" y="0"/>
                  </a:lnTo>
                  <a:lnTo>
                    <a:pt x="268" y="0"/>
                  </a:lnTo>
                  <a:lnTo>
                    <a:pt x="273" y="1"/>
                  </a:lnTo>
                  <a:lnTo>
                    <a:pt x="277" y="6"/>
                  </a:lnTo>
                  <a:lnTo>
                    <a:pt x="284" y="9"/>
                  </a:lnTo>
                  <a:lnTo>
                    <a:pt x="287" y="14"/>
                  </a:lnTo>
                  <a:lnTo>
                    <a:pt x="290" y="20"/>
                  </a:lnTo>
                  <a:lnTo>
                    <a:pt x="294" y="25"/>
                  </a:lnTo>
                  <a:lnTo>
                    <a:pt x="297" y="29"/>
                  </a:lnTo>
                  <a:lnTo>
                    <a:pt x="301" y="35"/>
                  </a:lnTo>
                  <a:lnTo>
                    <a:pt x="304" y="40"/>
                  </a:lnTo>
                  <a:lnTo>
                    <a:pt x="306" y="44"/>
                  </a:lnTo>
                  <a:lnTo>
                    <a:pt x="309" y="50"/>
                  </a:lnTo>
                  <a:lnTo>
                    <a:pt x="310" y="55"/>
                  </a:lnTo>
                  <a:lnTo>
                    <a:pt x="312" y="60"/>
                  </a:lnTo>
                  <a:lnTo>
                    <a:pt x="312" y="65"/>
                  </a:lnTo>
                  <a:lnTo>
                    <a:pt x="313" y="70"/>
                  </a:lnTo>
                  <a:lnTo>
                    <a:pt x="315" y="75"/>
                  </a:lnTo>
                  <a:lnTo>
                    <a:pt x="318" y="80"/>
                  </a:lnTo>
                  <a:lnTo>
                    <a:pt x="318" y="85"/>
                  </a:lnTo>
                  <a:lnTo>
                    <a:pt x="321" y="90"/>
                  </a:lnTo>
                  <a:lnTo>
                    <a:pt x="323" y="95"/>
                  </a:lnTo>
                  <a:lnTo>
                    <a:pt x="324" y="100"/>
                  </a:lnTo>
                  <a:lnTo>
                    <a:pt x="326" y="105"/>
                  </a:lnTo>
                  <a:lnTo>
                    <a:pt x="329" y="110"/>
                  </a:lnTo>
                  <a:lnTo>
                    <a:pt x="330" y="115"/>
                  </a:lnTo>
                  <a:lnTo>
                    <a:pt x="330" y="120"/>
                  </a:lnTo>
                  <a:lnTo>
                    <a:pt x="333" y="125"/>
                  </a:lnTo>
                  <a:lnTo>
                    <a:pt x="335" y="131"/>
                  </a:lnTo>
                  <a:lnTo>
                    <a:pt x="336" y="135"/>
                  </a:lnTo>
                  <a:lnTo>
                    <a:pt x="340" y="140"/>
                  </a:lnTo>
                  <a:lnTo>
                    <a:pt x="342" y="146"/>
                  </a:lnTo>
                  <a:lnTo>
                    <a:pt x="343" y="150"/>
                  </a:lnTo>
                  <a:lnTo>
                    <a:pt x="345" y="155"/>
                  </a:lnTo>
                  <a:lnTo>
                    <a:pt x="346" y="161"/>
                  </a:lnTo>
                  <a:lnTo>
                    <a:pt x="348" y="166"/>
                  </a:lnTo>
                  <a:lnTo>
                    <a:pt x="349" y="170"/>
                  </a:lnTo>
                  <a:lnTo>
                    <a:pt x="351" y="176"/>
                  </a:lnTo>
                  <a:lnTo>
                    <a:pt x="355" y="181"/>
                  </a:lnTo>
                  <a:lnTo>
                    <a:pt x="357" y="185"/>
                  </a:lnTo>
                  <a:lnTo>
                    <a:pt x="359" y="191"/>
                  </a:lnTo>
                  <a:lnTo>
                    <a:pt x="360" y="196"/>
                  </a:lnTo>
                  <a:lnTo>
                    <a:pt x="362" y="201"/>
                  </a:lnTo>
                  <a:lnTo>
                    <a:pt x="363" y="206"/>
                  </a:lnTo>
                  <a:lnTo>
                    <a:pt x="363" y="211"/>
                  </a:lnTo>
                  <a:lnTo>
                    <a:pt x="365" y="216"/>
                  </a:lnTo>
                  <a:lnTo>
                    <a:pt x="366" y="221"/>
                  </a:lnTo>
                  <a:lnTo>
                    <a:pt x="368" y="226"/>
                  </a:lnTo>
                  <a:lnTo>
                    <a:pt x="369" y="231"/>
                  </a:lnTo>
                  <a:lnTo>
                    <a:pt x="369" y="236"/>
                  </a:lnTo>
                  <a:lnTo>
                    <a:pt x="372" y="241"/>
                  </a:lnTo>
                  <a:lnTo>
                    <a:pt x="374" y="246"/>
                  </a:lnTo>
                  <a:lnTo>
                    <a:pt x="375" y="251"/>
                  </a:lnTo>
                  <a:lnTo>
                    <a:pt x="378" y="256"/>
                  </a:lnTo>
                  <a:lnTo>
                    <a:pt x="381" y="261"/>
                  </a:lnTo>
                  <a:lnTo>
                    <a:pt x="382" y="266"/>
                  </a:lnTo>
                  <a:lnTo>
                    <a:pt x="385" y="272"/>
                  </a:lnTo>
                  <a:lnTo>
                    <a:pt x="387" y="276"/>
                  </a:lnTo>
                  <a:lnTo>
                    <a:pt x="388" y="281"/>
                  </a:lnTo>
                  <a:lnTo>
                    <a:pt x="390" y="287"/>
                  </a:lnTo>
                  <a:lnTo>
                    <a:pt x="393" y="291"/>
                  </a:lnTo>
                  <a:lnTo>
                    <a:pt x="394" y="296"/>
                  </a:lnTo>
                  <a:lnTo>
                    <a:pt x="398" y="302"/>
                  </a:lnTo>
                  <a:lnTo>
                    <a:pt x="401" y="307"/>
                  </a:lnTo>
                  <a:lnTo>
                    <a:pt x="402" y="311"/>
                  </a:lnTo>
                  <a:lnTo>
                    <a:pt x="405" y="317"/>
                  </a:lnTo>
                  <a:lnTo>
                    <a:pt x="407" y="322"/>
                  </a:lnTo>
                  <a:lnTo>
                    <a:pt x="408" y="326"/>
                  </a:lnTo>
                  <a:lnTo>
                    <a:pt x="411" y="332"/>
                  </a:lnTo>
                  <a:lnTo>
                    <a:pt x="413" y="337"/>
                  </a:lnTo>
                  <a:lnTo>
                    <a:pt x="417" y="342"/>
                  </a:lnTo>
                  <a:lnTo>
                    <a:pt x="421" y="345"/>
                  </a:lnTo>
                  <a:lnTo>
                    <a:pt x="423" y="350"/>
                  </a:lnTo>
                  <a:lnTo>
                    <a:pt x="427" y="355"/>
                  </a:lnTo>
                  <a:lnTo>
                    <a:pt x="430" y="360"/>
                  </a:lnTo>
                  <a:lnTo>
                    <a:pt x="433" y="365"/>
                  </a:lnTo>
                  <a:lnTo>
                    <a:pt x="437" y="371"/>
                  </a:lnTo>
                  <a:lnTo>
                    <a:pt x="441" y="375"/>
                  </a:lnTo>
                  <a:lnTo>
                    <a:pt x="446" y="380"/>
                  </a:lnTo>
                  <a:lnTo>
                    <a:pt x="450" y="382"/>
                  </a:lnTo>
                  <a:lnTo>
                    <a:pt x="456" y="383"/>
                  </a:lnTo>
                  <a:lnTo>
                    <a:pt x="460" y="389"/>
                  </a:lnTo>
                  <a:lnTo>
                    <a:pt x="465" y="392"/>
                  </a:lnTo>
                  <a:lnTo>
                    <a:pt x="468" y="397"/>
                  </a:lnTo>
                  <a:lnTo>
                    <a:pt x="472" y="399"/>
                  </a:lnTo>
                  <a:lnTo>
                    <a:pt x="477" y="401"/>
                  </a:lnTo>
                  <a:lnTo>
                    <a:pt x="482" y="402"/>
                  </a:lnTo>
                  <a:lnTo>
                    <a:pt x="486" y="404"/>
                  </a:lnTo>
                  <a:lnTo>
                    <a:pt x="491" y="407"/>
                  </a:lnTo>
                  <a:lnTo>
                    <a:pt x="496" y="409"/>
                  </a:lnTo>
                  <a:lnTo>
                    <a:pt x="501" y="410"/>
                  </a:lnTo>
                  <a:lnTo>
                    <a:pt x="505" y="413"/>
                  </a:lnTo>
                  <a:lnTo>
                    <a:pt x="510" y="413"/>
                  </a:lnTo>
                  <a:lnTo>
                    <a:pt x="515" y="413"/>
                  </a:lnTo>
                  <a:lnTo>
                    <a:pt x="519" y="414"/>
                  </a:lnTo>
                  <a:lnTo>
                    <a:pt x="523" y="413"/>
                  </a:lnTo>
                </a:path>
              </a:pathLst>
            </a:custGeom>
            <a:noFill/>
            <a:ln w="12700" cap="rnd">
              <a:solidFill>
                <a:schemeClr val="tx1"/>
              </a:solidFill>
              <a:round/>
              <a:headEnd type="none" w="sm" len="sm"/>
              <a:tailEnd type="none" w="sm" len="sm"/>
            </a:ln>
          </p:spPr>
          <p:txBody>
            <a:bodyPr/>
            <a:lstStyle/>
            <a:p>
              <a:endParaRPr lang="ko-KR" altLang="en-US" dirty="0"/>
            </a:p>
          </p:txBody>
        </p:sp>
        <p:sp>
          <p:nvSpPr>
            <p:cNvPr id="25" name="Line 68"/>
            <p:cNvSpPr>
              <a:spLocks noChangeShapeType="1"/>
            </p:cNvSpPr>
            <p:nvPr/>
          </p:nvSpPr>
          <p:spPr bwMode="auto">
            <a:xfrm>
              <a:off x="1586" y="1504"/>
              <a:ext cx="0" cy="467"/>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6" name="Line 69"/>
            <p:cNvSpPr>
              <a:spLocks noChangeShapeType="1"/>
            </p:cNvSpPr>
            <p:nvPr/>
          </p:nvSpPr>
          <p:spPr bwMode="auto">
            <a:xfrm>
              <a:off x="1011" y="1983"/>
              <a:ext cx="118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7" name="Freeform 70"/>
            <p:cNvSpPr>
              <a:spLocks/>
            </p:cNvSpPr>
            <p:nvPr/>
          </p:nvSpPr>
          <p:spPr bwMode="auto">
            <a:xfrm>
              <a:off x="1841" y="1941"/>
              <a:ext cx="256" cy="28"/>
            </a:xfrm>
            <a:custGeom>
              <a:avLst/>
              <a:gdLst>
                <a:gd name="T0" fmla="*/ 0 w 256"/>
                <a:gd name="T1" fmla="*/ 0 h 28"/>
                <a:gd name="T2" fmla="*/ 0 w 256"/>
                <a:gd name="T3" fmla="*/ 0 h 28"/>
                <a:gd name="T4" fmla="*/ 0 w 256"/>
                <a:gd name="T5" fmla="*/ 3 h 28"/>
                <a:gd name="T6" fmla="*/ 5 w 256"/>
                <a:gd name="T7" fmla="*/ 6 h 28"/>
                <a:gd name="T8" fmla="*/ 8 w 256"/>
                <a:gd name="T9" fmla="*/ 9 h 28"/>
                <a:gd name="T10" fmla="*/ 12 w 256"/>
                <a:gd name="T11" fmla="*/ 9 h 28"/>
                <a:gd name="T12" fmla="*/ 16 w 256"/>
                <a:gd name="T13" fmla="*/ 12 h 28"/>
                <a:gd name="T14" fmla="*/ 22 w 256"/>
                <a:gd name="T15" fmla="*/ 13 h 28"/>
                <a:gd name="T16" fmla="*/ 27 w 256"/>
                <a:gd name="T17" fmla="*/ 13 h 28"/>
                <a:gd name="T18" fmla="*/ 32 w 256"/>
                <a:gd name="T19" fmla="*/ 15 h 28"/>
                <a:gd name="T20" fmla="*/ 38 w 256"/>
                <a:gd name="T21" fmla="*/ 15 h 28"/>
                <a:gd name="T22" fmla="*/ 42 w 256"/>
                <a:gd name="T23" fmla="*/ 15 h 28"/>
                <a:gd name="T24" fmla="*/ 46 w 256"/>
                <a:gd name="T25" fmla="*/ 17 h 28"/>
                <a:gd name="T26" fmla="*/ 51 w 256"/>
                <a:gd name="T27" fmla="*/ 17 h 28"/>
                <a:gd name="T28" fmla="*/ 55 w 256"/>
                <a:gd name="T29" fmla="*/ 18 h 28"/>
                <a:gd name="T30" fmla="*/ 61 w 256"/>
                <a:gd name="T31" fmla="*/ 18 h 28"/>
                <a:gd name="T32" fmla="*/ 66 w 256"/>
                <a:gd name="T33" fmla="*/ 18 h 28"/>
                <a:gd name="T34" fmla="*/ 71 w 256"/>
                <a:gd name="T35" fmla="*/ 19 h 28"/>
                <a:gd name="T36" fmla="*/ 77 w 256"/>
                <a:gd name="T37" fmla="*/ 19 h 28"/>
                <a:gd name="T38" fmla="*/ 83 w 256"/>
                <a:gd name="T39" fmla="*/ 21 h 28"/>
                <a:gd name="T40" fmla="*/ 88 w 256"/>
                <a:gd name="T41" fmla="*/ 22 h 28"/>
                <a:gd name="T42" fmla="*/ 94 w 256"/>
                <a:gd name="T43" fmla="*/ 22 h 28"/>
                <a:gd name="T44" fmla="*/ 99 w 256"/>
                <a:gd name="T45" fmla="*/ 22 h 28"/>
                <a:gd name="T46" fmla="*/ 105 w 256"/>
                <a:gd name="T47" fmla="*/ 22 h 28"/>
                <a:gd name="T48" fmla="*/ 110 w 256"/>
                <a:gd name="T49" fmla="*/ 22 h 28"/>
                <a:gd name="T50" fmla="*/ 116 w 256"/>
                <a:gd name="T51" fmla="*/ 22 h 28"/>
                <a:gd name="T52" fmla="*/ 121 w 256"/>
                <a:gd name="T53" fmla="*/ 22 h 28"/>
                <a:gd name="T54" fmla="*/ 127 w 256"/>
                <a:gd name="T55" fmla="*/ 22 h 28"/>
                <a:gd name="T56" fmla="*/ 133 w 256"/>
                <a:gd name="T57" fmla="*/ 22 h 28"/>
                <a:gd name="T58" fmla="*/ 138 w 256"/>
                <a:gd name="T59" fmla="*/ 22 h 28"/>
                <a:gd name="T60" fmla="*/ 144 w 256"/>
                <a:gd name="T61" fmla="*/ 22 h 28"/>
                <a:gd name="T62" fmla="*/ 148 w 256"/>
                <a:gd name="T63" fmla="*/ 23 h 28"/>
                <a:gd name="T64" fmla="*/ 151 w 256"/>
                <a:gd name="T65" fmla="*/ 24 h 28"/>
                <a:gd name="T66" fmla="*/ 155 w 256"/>
                <a:gd name="T67" fmla="*/ 24 h 28"/>
                <a:gd name="T68" fmla="*/ 160 w 256"/>
                <a:gd name="T69" fmla="*/ 24 h 28"/>
                <a:gd name="T70" fmla="*/ 166 w 256"/>
                <a:gd name="T71" fmla="*/ 24 h 28"/>
                <a:gd name="T72" fmla="*/ 171 w 256"/>
                <a:gd name="T73" fmla="*/ 24 h 28"/>
                <a:gd name="T74" fmla="*/ 177 w 256"/>
                <a:gd name="T75" fmla="*/ 24 h 28"/>
                <a:gd name="T76" fmla="*/ 183 w 256"/>
                <a:gd name="T77" fmla="*/ 24 h 28"/>
                <a:gd name="T78" fmla="*/ 186 w 256"/>
                <a:gd name="T79" fmla="*/ 25 h 28"/>
                <a:gd name="T80" fmla="*/ 191 w 256"/>
                <a:gd name="T81" fmla="*/ 25 h 28"/>
                <a:gd name="T82" fmla="*/ 195 w 256"/>
                <a:gd name="T83" fmla="*/ 27 h 28"/>
                <a:gd name="T84" fmla="*/ 199 w 256"/>
                <a:gd name="T85" fmla="*/ 27 h 28"/>
                <a:gd name="T86" fmla="*/ 204 w 256"/>
                <a:gd name="T87" fmla="*/ 27 h 28"/>
                <a:gd name="T88" fmla="*/ 210 w 256"/>
                <a:gd name="T89" fmla="*/ 27 h 28"/>
                <a:gd name="T90" fmla="*/ 216 w 256"/>
                <a:gd name="T91" fmla="*/ 27 h 28"/>
                <a:gd name="T92" fmla="*/ 222 w 256"/>
                <a:gd name="T93" fmla="*/ 27 h 28"/>
                <a:gd name="T94" fmla="*/ 225 w 256"/>
                <a:gd name="T95" fmla="*/ 27 h 28"/>
                <a:gd name="T96" fmla="*/ 230 w 256"/>
                <a:gd name="T97" fmla="*/ 27 h 28"/>
                <a:gd name="T98" fmla="*/ 234 w 256"/>
                <a:gd name="T99" fmla="*/ 27 h 28"/>
                <a:gd name="T100" fmla="*/ 240 w 256"/>
                <a:gd name="T101" fmla="*/ 27 h 28"/>
                <a:gd name="T102" fmla="*/ 243 w 256"/>
                <a:gd name="T103" fmla="*/ 27 h 28"/>
                <a:gd name="T104" fmla="*/ 249 w 256"/>
                <a:gd name="T105" fmla="*/ 27 h 28"/>
                <a:gd name="T106" fmla="*/ 255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0" y="0"/>
                  </a:moveTo>
                  <a:lnTo>
                    <a:pt x="0" y="0"/>
                  </a:lnTo>
                  <a:lnTo>
                    <a:pt x="0" y="3"/>
                  </a:lnTo>
                  <a:lnTo>
                    <a:pt x="5" y="6"/>
                  </a:lnTo>
                  <a:lnTo>
                    <a:pt x="8" y="9"/>
                  </a:lnTo>
                  <a:lnTo>
                    <a:pt x="12" y="9"/>
                  </a:lnTo>
                  <a:lnTo>
                    <a:pt x="16" y="12"/>
                  </a:lnTo>
                  <a:lnTo>
                    <a:pt x="22" y="13"/>
                  </a:lnTo>
                  <a:lnTo>
                    <a:pt x="27" y="13"/>
                  </a:lnTo>
                  <a:lnTo>
                    <a:pt x="32" y="15"/>
                  </a:lnTo>
                  <a:lnTo>
                    <a:pt x="38" y="15"/>
                  </a:lnTo>
                  <a:lnTo>
                    <a:pt x="42" y="15"/>
                  </a:lnTo>
                  <a:lnTo>
                    <a:pt x="46" y="17"/>
                  </a:lnTo>
                  <a:lnTo>
                    <a:pt x="51" y="17"/>
                  </a:lnTo>
                  <a:lnTo>
                    <a:pt x="55" y="18"/>
                  </a:lnTo>
                  <a:lnTo>
                    <a:pt x="61" y="18"/>
                  </a:lnTo>
                  <a:lnTo>
                    <a:pt x="66" y="18"/>
                  </a:lnTo>
                  <a:lnTo>
                    <a:pt x="71" y="19"/>
                  </a:lnTo>
                  <a:lnTo>
                    <a:pt x="77" y="19"/>
                  </a:lnTo>
                  <a:lnTo>
                    <a:pt x="83" y="21"/>
                  </a:lnTo>
                  <a:lnTo>
                    <a:pt x="88" y="22"/>
                  </a:lnTo>
                  <a:lnTo>
                    <a:pt x="94" y="22"/>
                  </a:lnTo>
                  <a:lnTo>
                    <a:pt x="99" y="22"/>
                  </a:lnTo>
                  <a:lnTo>
                    <a:pt x="105" y="22"/>
                  </a:lnTo>
                  <a:lnTo>
                    <a:pt x="110" y="22"/>
                  </a:lnTo>
                  <a:lnTo>
                    <a:pt x="116" y="22"/>
                  </a:lnTo>
                  <a:lnTo>
                    <a:pt x="121" y="22"/>
                  </a:lnTo>
                  <a:lnTo>
                    <a:pt x="127" y="22"/>
                  </a:lnTo>
                  <a:lnTo>
                    <a:pt x="133" y="22"/>
                  </a:lnTo>
                  <a:lnTo>
                    <a:pt x="138" y="22"/>
                  </a:lnTo>
                  <a:lnTo>
                    <a:pt x="144" y="22"/>
                  </a:lnTo>
                  <a:lnTo>
                    <a:pt x="148" y="23"/>
                  </a:lnTo>
                  <a:lnTo>
                    <a:pt x="151" y="24"/>
                  </a:lnTo>
                  <a:lnTo>
                    <a:pt x="155" y="24"/>
                  </a:lnTo>
                  <a:lnTo>
                    <a:pt x="160" y="24"/>
                  </a:lnTo>
                  <a:lnTo>
                    <a:pt x="166" y="24"/>
                  </a:lnTo>
                  <a:lnTo>
                    <a:pt x="171" y="24"/>
                  </a:lnTo>
                  <a:lnTo>
                    <a:pt x="177" y="24"/>
                  </a:lnTo>
                  <a:lnTo>
                    <a:pt x="183" y="24"/>
                  </a:lnTo>
                  <a:lnTo>
                    <a:pt x="186" y="25"/>
                  </a:lnTo>
                  <a:lnTo>
                    <a:pt x="191" y="25"/>
                  </a:lnTo>
                  <a:lnTo>
                    <a:pt x="195" y="27"/>
                  </a:lnTo>
                  <a:lnTo>
                    <a:pt x="199" y="27"/>
                  </a:lnTo>
                  <a:lnTo>
                    <a:pt x="204" y="27"/>
                  </a:lnTo>
                  <a:lnTo>
                    <a:pt x="210" y="27"/>
                  </a:lnTo>
                  <a:lnTo>
                    <a:pt x="216" y="27"/>
                  </a:lnTo>
                  <a:lnTo>
                    <a:pt x="222" y="27"/>
                  </a:lnTo>
                  <a:lnTo>
                    <a:pt x="225" y="27"/>
                  </a:lnTo>
                  <a:lnTo>
                    <a:pt x="230" y="27"/>
                  </a:lnTo>
                  <a:lnTo>
                    <a:pt x="234" y="27"/>
                  </a:lnTo>
                  <a:lnTo>
                    <a:pt x="240" y="27"/>
                  </a:lnTo>
                  <a:lnTo>
                    <a:pt x="243" y="27"/>
                  </a:lnTo>
                  <a:lnTo>
                    <a:pt x="249" y="27"/>
                  </a:lnTo>
                  <a:lnTo>
                    <a:pt x="255" y="27"/>
                  </a:lnTo>
                </a:path>
              </a:pathLst>
            </a:custGeom>
            <a:noFill/>
            <a:ln w="12700" cap="rnd">
              <a:solidFill>
                <a:schemeClr val="tx1"/>
              </a:solidFill>
              <a:round/>
              <a:headEnd type="none" w="sm" len="sm"/>
              <a:tailEnd type="none" w="sm" len="sm"/>
            </a:ln>
          </p:spPr>
          <p:txBody>
            <a:bodyPr/>
            <a:lstStyle/>
            <a:p>
              <a:endParaRPr lang="ko-KR" altLang="en-US" dirty="0"/>
            </a:p>
          </p:txBody>
        </p:sp>
        <p:sp>
          <p:nvSpPr>
            <p:cNvPr id="28" name="Freeform 71"/>
            <p:cNvSpPr>
              <a:spLocks/>
            </p:cNvSpPr>
            <p:nvPr/>
          </p:nvSpPr>
          <p:spPr bwMode="auto">
            <a:xfrm>
              <a:off x="1065" y="1941"/>
              <a:ext cx="256" cy="28"/>
            </a:xfrm>
            <a:custGeom>
              <a:avLst/>
              <a:gdLst>
                <a:gd name="T0" fmla="*/ 255 w 256"/>
                <a:gd name="T1" fmla="*/ 0 h 28"/>
                <a:gd name="T2" fmla="*/ 255 w 256"/>
                <a:gd name="T3" fmla="*/ 0 h 28"/>
                <a:gd name="T4" fmla="*/ 255 w 256"/>
                <a:gd name="T5" fmla="*/ 3 h 28"/>
                <a:gd name="T6" fmla="*/ 249 w 256"/>
                <a:gd name="T7" fmla="*/ 6 h 28"/>
                <a:gd name="T8" fmla="*/ 246 w 256"/>
                <a:gd name="T9" fmla="*/ 9 h 28"/>
                <a:gd name="T10" fmla="*/ 242 w 256"/>
                <a:gd name="T11" fmla="*/ 9 h 28"/>
                <a:gd name="T12" fmla="*/ 238 w 256"/>
                <a:gd name="T13" fmla="*/ 12 h 28"/>
                <a:gd name="T14" fmla="*/ 232 w 256"/>
                <a:gd name="T15" fmla="*/ 13 h 28"/>
                <a:gd name="T16" fmla="*/ 227 w 256"/>
                <a:gd name="T17" fmla="*/ 13 h 28"/>
                <a:gd name="T18" fmla="*/ 222 w 256"/>
                <a:gd name="T19" fmla="*/ 15 h 28"/>
                <a:gd name="T20" fmla="*/ 216 w 256"/>
                <a:gd name="T21" fmla="*/ 15 h 28"/>
                <a:gd name="T22" fmla="*/ 213 w 256"/>
                <a:gd name="T23" fmla="*/ 15 h 28"/>
                <a:gd name="T24" fmla="*/ 208 w 256"/>
                <a:gd name="T25" fmla="*/ 17 h 28"/>
                <a:gd name="T26" fmla="*/ 204 w 256"/>
                <a:gd name="T27" fmla="*/ 17 h 28"/>
                <a:gd name="T28" fmla="*/ 199 w 256"/>
                <a:gd name="T29" fmla="*/ 18 h 28"/>
                <a:gd name="T30" fmla="*/ 194 w 256"/>
                <a:gd name="T31" fmla="*/ 18 h 28"/>
                <a:gd name="T32" fmla="*/ 188 w 256"/>
                <a:gd name="T33" fmla="*/ 18 h 28"/>
                <a:gd name="T34" fmla="*/ 183 w 256"/>
                <a:gd name="T35" fmla="*/ 19 h 28"/>
                <a:gd name="T36" fmla="*/ 177 w 256"/>
                <a:gd name="T37" fmla="*/ 19 h 28"/>
                <a:gd name="T38" fmla="*/ 171 w 256"/>
                <a:gd name="T39" fmla="*/ 21 h 28"/>
                <a:gd name="T40" fmla="*/ 166 w 256"/>
                <a:gd name="T41" fmla="*/ 22 h 28"/>
                <a:gd name="T42" fmla="*/ 160 w 256"/>
                <a:gd name="T43" fmla="*/ 22 h 28"/>
                <a:gd name="T44" fmla="*/ 155 w 256"/>
                <a:gd name="T45" fmla="*/ 22 h 28"/>
                <a:gd name="T46" fmla="*/ 150 w 256"/>
                <a:gd name="T47" fmla="*/ 22 h 28"/>
                <a:gd name="T48" fmla="*/ 144 w 256"/>
                <a:gd name="T49" fmla="*/ 22 h 28"/>
                <a:gd name="T50" fmla="*/ 138 w 256"/>
                <a:gd name="T51" fmla="*/ 22 h 28"/>
                <a:gd name="T52" fmla="*/ 132 w 256"/>
                <a:gd name="T53" fmla="*/ 22 h 28"/>
                <a:gd name="T54" fmla="*/ 127 w 256"/>
                <a:gd name="T55" fmla="*/ 22 h 28"/>
                <a:gd name="T56" fmla="*/ 122 w 256"/>
                <a:gd name="T57" fmla="*/ 22 h 28"/>
                <a:gd name="T58" fmla="*/ 116 w 256"/>
                <a:gd name="T59" fmla="*/ 22 h 28"/>
                <a:gd name="T60" fmla="*/ 111 w 256"/>
                <a:gd name="T61" fmla="*/ 22 h 28"/>
                <a:gd name="T62" fmla="*/ 106 w 256"/>
                <a:gd name="T63" fmla="*/ 23 h 28"/>
                <a:gd name="T64" fmla="*/ 103 w 256"/>
                <a:gd name="T65" fmla="*/ 24 h 28"/>
                <a:gd name="T66" fmla="*/ 99 w 256"/>
                <a:gd name="T67" fmla="*/ 24 h 28"/>
                <a:gd name="T68" fmla="*/ 95 w 256"/>
                <a:gd name="T69" fmla="*/ 24 h 28"/>
                <a:gd name="T70" fmla="*/ 88 w 256"/>
                <a:gd name="T71" fmla="*/ 24 h 28"/>
                <a:gd name="T72" fmla="*/ 83 w 256"/>
                <a:gd name="T73" fmla="*/ 24 h 28"/>
                <a:gd name="T74" fmla="*/ 77 w 256"/>
                <a:gd name="T75" fmla="*/ 24 h 28"/>
                <a:gd name="T76" fmla="*/ 72 w 256"/>
                <a:gd name="T77" fmla="*/ 24 h 28"/>
                <a:gd name="T78" fmla="*/ 68 w 256"/>
                <a:gd name="T79" fmla="*/ 25 h 28"/>
                <a:gd name="T80" fmla="*/ 63 w 256"/>
                <a:gd name="T81" fmla="*/ 25 h 28"/>
                <a:gd name="T82" fmla="*/ 59 w 256"/>
                <a:gd name="T83" fmla="*/ 27 h 28"/>
                <a:gd name="T84" fmla="*/ 55 w 256"/>
                <a:gd name="T85" fmla="*/ 27 h 28"/>
                <a:gd name="T86" fmla="*/ 50 w 256"/>
                <a:gd name="T87" fmla="*/ 27 h 28"/>
                <a:gd name="T88" fmla="*/ 44 w 256"/>
                <a:gd name="T89" fmla="*/ 27 h 28"/>
                <a:gd name="T90" fmla="*/ 39 w 256"/>
                <a:gd name="T91" fmla="*/ 27 h 28"/>
                <a:gd name="T92" fmla="*/ 33 w 256"/>
                <a:gd name="T93" fmla="*/ 27 h 28"/>
                <a:gd name="T94" fmla="*/ 29 w 256"/>
                <a:gd name="T95" fmla="*/ 27 h 28"/>
                <a:gd name="T96" fmla="*/ 24 w 256"/>
                <a:gd name="T97" fmla="*/ 27 h 28"/>
                <a:gd name="T98" fmla="*/ 21 w 256"/>
                <a:gd name="T99" fmla="*/ 27 h 28"/>
                <a:gd name="T100" fmla="*/ 15 w 256"/>
                <a:gd name="T101" fmla="*/ 27 h 28"/>
                <a:gd name="T102" fmla="*/ 11 w 256"/>
                <a:gd name="T103" fmla="*/ 27 h 28"/>
                <a:gd name="T104" fmla="*/ 5 w 256"/>
                <a:gd name="T105" fmla="*/ 27 h 28"/>
                <a:gd name="T106" fmla="*/ 0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255" y="0"/>
                  </a:moveTo>
                  <a:lnTo>
                    <a:pt x="255" y="0"/>
                  </a:lnTo>
                  <a:lnTo>
                    <a:pt x="255" y="3"/>
                  </a:lnTo>
                  <a:lnTo>
                    <a:pt x="249" y="6"/>
                  </a:lnTo>
                  <a:lnTo>
                    <a:pt x="246" y="9"/>
                  </a:lnTo>
                  <a:lnTo>
                    <a:pt x="242" y="9"/>
                  </a:lnTo>
                  <a:lnTo>
                    <a:pt x="238" y="12"/>
                  </a:lnTo>
                  <a:lnTo>
                    <a:pt x="232" y="13"/>
                  </a:lnTo>
                  <a:lnTo>
                    <a:pt x="227" y="13"/>
                  </a:lnTo>
                  <a:lnTo>
                    <a:pt x="222" y="15"/>
                  </a:lnTo>
                  <a:lnTo>
                    <a:pt x="216" y="15"/>
                  </a:lnTo>
                  <a:lnTo>
                    <a:pt x="213" y="15"/>
                  </a:lnTo>
                  <a:lnTo>
                    <a:pt x="208" y="17"/>
                  </a:lnTo>
                  <a:lnTo>
                    <a:pt x="204" y="17"/>
                  </a:lnTo>
                  <a:lnTo>
                    <a:pt x="199" y="18"/>
                  </a:lnTo>
                  <a:lnTo>
                    <a:pt x="194" y="18"/>
                  </a:lnTo>
                  <a:lnTo>
                    <a:pt x="188" y="18"/>
                  </a:lnTo>
                  <a:lnTo>
                    <a:pt x="183" y="19"/>
                  </a:lnTo>
                  <a:lnTo>
                    <a:pt x="177" y="19"/>
                  </a:lnTo>
                  <a:lnTo>
                    <a:pt x="171" y="21"/>
                  </a:lnTo>
                  <a:lnTo>
                    <a:pt x="166" y="22"/>
                  </a:lnTo>
                  <a:lnTo>
                    <a:pt x="160" y="22"/>
                  </a:lnTo>
                  <a:lnTo>
                    <a:pt x="155" y="22"/>
                  </a:lnTo>
                  <a:lnTo>
                    <a:pt x="150" y="22"/>
                  </a:lnTo>
                  <a:lnTo>
                    <a:pt x="144" y="22"/>
                  </a:lnTo>
                  <a:lnTo>
                    <a:pt x="138" y="22"/>
                  </a:lnTo>
                  <a:lnTo>
                    <a:pt x="132" y="22"/>
                  </a:lnTo>
                  <a:lnTo>
                    <a:pt x="127" y="22"/>
                  </a:lnTo>
                  <a:lnTo>
                    <a:pt x="122" y="22"/>
                  </a:lnTo>
                  <a:lnTo>
                    <a:pt x="116" y="22"/>
                  </a:lnTo>
                  <a:lnTo>
                    <a:pt x="111" y="22"/>
                  </a:lnTo>
                  <a:lnTo>
                    <a:pt x="106" y="23"/>
                  </a:lnTo>
                  <a:lnTo>
                    <a:pt x="103" y="24"/>
                  </a:lnTo>
                  <a:lnTo>
                    <a:pt x="99" y="24"/>
                  </a:lnTo>
                  <a:lnTo>
                    <a:pt x="95" y="24"/>
                  </a:lnTo>
                  <a:lnTo>
                    <a:pt x="88" y="24"/>
                  </a:lnTo>
                  <a:lnTo>
                    <a:pt x="83" y="24"/>
                  </a:lnTo>
                  <a:lnTo>
                    <a:pt x="77" y="24"/>
                  </a:lnTo>
                  <a:lnTo>
                    <a:pt x="72" y="24"/>
                  </a:lnTo>
                  <a:lnTo>
                    <a:pt x="68" y="25"/>
                  </a:lnTo>
                  <a:lnTo>
                    <a:pt x="63" y="25"/>
                  </a:lnTo>
                  <a:lnTo>
                    <a:pt x="59" y="27"/>
                  </a:lnTo>
                  <a:lnTo>
                    <a:pt x="55" y="27"/>
                  </a:lnTo>
                  <a:lnTo>
                    <a:pt x="50" y="27"/>
                  </a:lnTo>
                  <a:lnTo>
                    <a:pt x="44" y="27"/>
                  </a:lnTo>
                  <a:lnTo>
                    <a:pt x="39" y="27"/>
                  </a:lnTo>
                  <a:lnTo>
                    <a:pt x="33" y="27"/>
                  </a:lnTo>
                  <a:lnTo>
                    <a:pt x="29" y="27"/>
                  </a:lnTo>
                  <a:lnTo>
                    <a:pt x="24" y="27"/>
                  </a:lnTo>
                  <a:lnTo>
                    <a:pt x="21" y="27"/>
                  </a:lnTo>
                  <a:lnTo>
                    <a:pt x="15" y="27"/>
                  </a:lnTo>
                  <a:lnTo>
                    <a:pt x="11" y="27"/>
                  </a:lnTo>
                  <a:lnTo>
                    <a:pt x="5" y="27"/>
                  </a:lnTo>
                  <a:lnTo>
                    <a:pt x="0" y="27"/>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29" name="Line 97"/>
          <p:cNvSpPr>
            <a:spLocks noChangeShapeType="1"/>
          </p:cNvSpPr>
          <p:nvPr/>
        </p:nvSpPr>
        <p:spPr bwMode="auto">
          <a:xfrm flipV="1">
            <a:off x="2693377"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30" name="Line 98"/>
          <p:cNvSpPr>
            <a:spLocks noChangeShapeType="1"/>
          </p:cNvSpPr>
          <p:nvPr/>
        </p:nvSpPr>
        <p:spPr bwMode="auto">
          <a:xfrm flipV="1">
            <a:off x="952500"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31" name="Rectangle 101"/>
          <p:cNvSpPr>
            <a:spLocks noChangeArrowheads="1"/>
          </p:cNvSpPr>
          <p:nvPr/>
        </p:nvSpPr>
        <p:spPr bwMode="auto">
          <a:xfrm>
            <a:off x="783981" y="3117706"/>
            <a:ext cx="315792"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LSL</a:t>
            </a:r>
          </a:p>
        </p:txBody>
      </p:sp>
      <p:sp>
        <p:nvSpPr>
          <p:cNvPr id="32" name="Rectangle 102"/>
          <p:cNvSpPr>
            <a:spLocks noChangeArrowheads="1"/>
          </p:cNvSpPr>
          <p:nvPr/>
        </p:nvSpPr>
        <p:spPr bwMode="auto">
          <a:xfrm>
            <a:off x="2524858" y="3117706"/>
            <a:ext cx="341440"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USL</a:t>
            </a:r>
          </a:p>
        </p:txBody>
      </p:sp>
      <p:sp>
        <p:nvSpPr>
          <p:cNvPr id="33" name="Rectangle 105"/>
          <p:cNvSpPr>
            <a:spLocks noChangeArrowheads="1"/>
          </p:cNvSpPr>
          <p:nvPr/>
        </p:nvSpPr>
        <p:spPr bwMode="auto">
          <a:xfrm>
            <a:off x="1733550" y="3117706"/>
            <a:ext cx="209994"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X</a:t>
            </a:r>
          </a:p>
        </p:txBody>
      </p:sp>
      <p:sp>
        <p:nvSpPr>
          <p:cNvPr id="34" name="Line 107"/>
          <p:cNvSpPr>
            <a:spLocks noChangeShapeType="1"/>
          </p:cNvSpPr>
          <p:nvPr/>
        </p:nvSpPr>
        <p:spPr bwMode="auto">
          <a:xfrm>
            <a:off x="1777513" y="3128819"/>
            <a:ext cx="101111"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cxnSp>
        <p:nvCxnSpPr>
          <p:cNvPr id="35" name="직선 연결선 82"/>
          <p:cNvCxnSpPr>
            <a:cxnSpLocks noChangeShapeType="1"/>
          </p:cNvCxnSpPr>
          <p:nvPr/>
        </p:nvCxnSpPr>
        <p:spPr bwMode="auto">
          <a:xfrm rot="5400000">
            <a:off x="-769876" y="4965617"/>
            <a:ext cx="2795588" cy="1466"/>
          </a:xfrm>
          <a:prstGeom prst="line">
            <a:avLst/>
          </a:prstGeom>
          <a:noFill/>
          <a:ln w="12700" algn="ctr">
            <a:solidFill>
              <a:schemeClr val="tx1"/>
            </a:solidFill>
            <a:round/>
            <a:headEnd type="triangle" w="med" len="med"/>
            <a:tailEnd/>
          </a:ln>
        </p:spPr>
      </p:cxnSp>
      <p:sp>
        <p:nvSpPr>
          <p:cNvPr id="36" name="TextBox 83"/>
          <p:cNvSpPr txBox="1">
            <a:spLocks noChangeArrowheads="1"/>
          </p:cNvSpPr>
          <p:nvPr/>
        </p:nvSpPr>
        <p:spPr bwMode="auto">
          <a:xfrm>
            <a:off x="363415" y="3365357"/>
            <a:ext cx="521297"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Time</a:t>
            </a:r>
            <a:endParaRPr lang="ko-KR" altLang="en-US" sz="1200" dirty="0">
              <a:solidFill>
                <a:srgbClr val="000000"/>
              </a:solidFill>
              <a:latin typeface="맑은 고딕" pitchFamily="50" charset="-127"/>
              <a:ea typeface="맑은 고딕" pitchFamily="50" charset="-127"/>
            </a:endParaRPr>
          </a:p>
        </p:txBody>
      </p:sp>
      <p:sp>
        <p:nvSpPr>
          <p:cNvPr id="37" name="TextBox 84"/>
          <p:cNvSpPr txBox="1">
            <a:spLocks noChangeArrowheads="1"/>
          </p:cNvSpPr>
          <p:nvPr/>
        </p:nvSpPr>
        <p:spPr bwMode="auto">
          <a:xfrm>
            <a:off x="153866" y="5879957"/>
            <a:ext cx="537327"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Time1</a:t>
            </a:r>
            <a:endParaRPr lang="ko-KR" altLang="en-US" sz="1000" dirty="0">
              <a:solidFill>
                <a:srgbClr val="000000"/>
              </a:solidFill>
              <a:latin typeface="맑은 고딕" pitchFamily="50" charset="-127"/>
              <a:ea typeface="맑은 고딕" pitchFamily="50" charset="-127"/>
            </a:endParaRPr>
          </a:p>
        </p:txBody>
      </p:sp>
      <p:sp>
        <p:nvSpPr>
          <p:cNvPr id="38" name="TextBox 85"/>
          <p:cNvSpPr txBox="1">
            <a:spLocks noChangeArrowheads="1"/>
          </p:cNvSpPr>
          <p:nvPr/>
        </p:nvSpPr>
        <p:spPr bwMode="auto">
          <a:xfrm>
            <a:off x="153866" y="4741719"/>
            <a:ext cx="537327"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Time2</a:t>
            </a:r>
            <a:endParaRPr lang="ko-KR" altLang="en-US" sz="1000" dirty="0">
              <a:solidFill>
                <a:srgbClr val="000000"/>
              </a:solidFill>
              <a:latin typeface="맑은 고딕" pitchFamily="50" charset="-127"/>
              <a:ea typeface="맑은 고딕" pitchFamily="50" charset="-127"/>
            </a:endParaRPr>
          </a:p>
        </p:txBody>
      </p:sp>
      <p:sp>
        <p:nvSpPr>
          <p:cNvPr id="39" name="TextBox 86"/>
          <p:cNvSpPr txBox="1">
            <a:spLocks noChangeArrowheads="1"/>
          </p:cNvSpPr>
          <p:nvPr/>
        </p:nvSpPr>
        <p:spPr bwMode="auto">
          <a:xfrm>
            <a:off x="153867" y="3944794"/>
            <a:ext cx="585417"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Time n</a:t>
            </a:r>
            <a:endParaRPr lang="ko-KR" altLang="en-US" sz="1000" dirty="0">
              <a:solidFill>
                <a:srgbClr val="000000"/>
              </a:solidFill>
              <a:latin typeface="맑은 고딕" pitchFamily="50" charset="-127"/>
              <a:ea typeface="맑은 고딕" pitchFamily="50" charset="-127"/>
            </a:endParaRPr>
          </a:p>
        </p:txBody>
      </p:sp>
      <p:cxnSp>
        <p:nvCxnSpPr>
          <p:cNvPr id="40" name="직선 연결선 87"/>
          <p:cNvCxnSpPr>
            <a:cxnSpLocks noChangeShapeType="1"/>
          </p:cNvCxnSpPr>
          <p:nvPr/>
        </p:nvCxnSpPr>
        <p:spPr bwMode="auto">
          <a:xfrm rot="16200000" flipH="1">
            <a:off x="465016" y="4720349"/>
            <a:ext cx="2749550" cy="1465"/>
          </a:xfrm>
          <a:prstGeom prst="line">
            <a:avLst/>
          </a:prstGeom>
          <a:noFill/>
          <a:ln w="12700" algn="ctr">
            <a:solidFill>
              <a:schemeClr val="tx1"/>
            </a:solidFill>
            <a:prstDash val="dash"/>
            <a:round/>
            <a:headEnd/>
            <a:tailEnd/>
          </a:ln>
        </p:spPr>
      </p:cxnSp>
      <p:grpSp>
        <p:nvGrpSpPr>
          <p:cNvPr id="41" name="Group 54"/>
          <p:cNvGrpSpPr>
            <a:grpSpLocks/>
          </p:cNvGrpSpPr>
          <p:nvPr/>
        </p:nvGrpSpPr>
        <p:grpSpPr bwMode="auto">
          <a:xfrm>
            <a:off x="1185497" y="5494194"/>
            <a:ext cx="781050" cy="431800"/>
            <a:chOff x="1731" y="2548"/>
            <a:chExt cx="825" cy="516"/>
          </a:xfrm>
        </p:grpSpPr>
        <p:sp>
          <p:nvSpPr>
            <p:cNvPr id="42"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43"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44"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45"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46"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cxnSp>
        <p:nvCxnSpPr>
          <p:cNvPr id="47" name="직선 화살표 연결선 94"/>
          <p:cNvCxnSpPr>
            <a:cxnSpLocks noChangeShapeType="1"/>
          </p:cNvCxnSpPr>
          <p:nvPr/>
        </p:nvCxnSpPr>
        <p:spPr bwMode="auto">
          <a:xfrm>
            <a:off x="1853712" y="5186220"/>
            <a:ext cx="480646" cy="1587"/>
          </a:xfrm>
          <a:prstGeom prst="straightConnector1">
            <a:avLst/>
          </a:prstGeom>
          <a:noFill/>
          <a:ln w="12700" algn="ctr">
            <a:solidFill>
              <a:schemeClr val="tx1"/>
            </a:solidFill>
            <a:round/>
            <a:headEnd/>
            <a:tailEnd type="arrow" w="med" len="med"/>
          </a:ln>
        </p:spPr>
      </p:cxnSp>
      <p:sp>
        <p:nvSpPr>
          <p:cNvPr id="48" name="TextBox 95"/>
          <p:cNvSpPr txBox="1">
            <a:spLocks noChangeArrowheads="1"/>
          </p:cNvSpPr>
          <p:nvPr/>
        </p:nvSpPr>
        <p:spPr bwMode="auto">
          <a:xfrm>
            <a:off x="1849315" y="4957619"/>
            <a:ext cx="444352"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Shift</a:t>
            </a:r>
            <a:endParaRPr lang="ko-KR" altLang="en-US" sz="1000" dirty="0">
              <a:solidFill>
                <a:srgbClr val="000000"/>
              </a:solidFill>
              <a:latin typeface="맑은 고딕" pitchFamily="50" charset="-127"/>
              <a:ea typeface="맑은 고딕" pitchFamily="50" charset="-127"/>
            </a:endParaRPr>
          </a:p>
        </p:txBody>
      </p:sp>
      <p:cxnSp>
        <p:nvCxnSpPr>
          <p:cNvPr id="49" name="직선 화살표 연결선 96"/>
          <p:cNvCxnSpPr>
            <a:cxnSpLocks noChangeShapeType="1"/>
          </p:cNvCxnSpPr>
          <p:nvPr/>
        </p:nvCxnSpPr>
        <p:spPr bwMode="auto">
          <a:xfrm rot="10800000">
            <a:off x="1332036" y="4594081"/>
            <a:ext cx="507023" cy="1588"/>
          </a:xfrm>
          <a:prstGeom prst="straightConnector1">
            <a:avLst/>
          </a:prstGeom>
          <a:noFill/>
          <a:ln w="12700" algn="ctr">
            <a:solidFill>
              <a:schemeClr val="tx1"/>
            </a:solidFill>
            <a:round/>
            <a:headEnd/>
            <a:tailEnd type="arrow" w="med" len="med"/>
          </a:ln>
        </p:spPr>
      </p:cxnSp>
      <p:sp>
        <p:nvSpPr>
          <p:cNvPr id="50" name="TextBox 97"/>
          <p:cNvSpPr txBox="1">
            <a:spLocks noChangeArrowheads="1"/>
          </p:cNvSpPr>
          <p:nvPr/>
        </p:nvSpPr>
        <p:spPr bwMode="auto">
          <a:xfrm>
            <a:off x="1418492" y="4387707"/>
            <a:ext cx="444352"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Shift</a:t>
            </a:r>
            <a:endParaRPr lang="ko-KR" altLang="en-US" sz="1000" dirty="0">
              <a:solidFill>
                <a:srgbClr val="000000"/>
              </a:solidFill>
              <a:latin typeface="맑은 고딕" pitchFamily="50" charset="-127"/>
              <a:ea typeface="맑은 고딕" pitchFamily="50" charset="-127"/>
            </a:endParaRPr>
          </a:p>
        </p:txBody>
      </p:sp>
      <p:cxnSp>
        <p:nvCxnSpPr>
          <p:cNvPr id="51" name="직선 화살표 연결선 98"/>
          <p:cNvCxnSpPr>
            <a:cxnSpLocks noChangeShapeType="1"/>
          </p:cNvCxnSpPr>
          <p:nvPr/>
        </p:nvCxnSpPr>
        <p:spPr bwMode="auto">
          <a:xfrm rot="10800000" flipV="1">
            <a:off x="1553308" y="5781531"/>
            <a:ext cx="274027" cy="0"/>
          </a:xfrm>
          <a:prstGeom prst="straightConnector1">
            <a:avLst/>
          </a:prstGeom>
          <a:noFill/>
          <a:ln w="12700" algn="ctr">
            <a:solidFill>
              <a:schemeClr val="tx1"/>
            </a:solidFill>
            <a:round/>
            <a:headEnd/>
            <a:tailEnd type="arrow" w="med" len="med"/>
          </a:ln>
        </p:spPr>
      </p:cxnSp>
      <p:sp>
        <p:nvSpPr>
          <p:cNvPr id="52" name="TextBox 99"/>
          <p:cNvSpPr txBox="1">
            <a:spLocks noChangeArrowheads="1"/>
          </p:cNvSpPr>
          <p:nvPr/>
        </p:nvSpPr>
        <p:spPr bwMode="auto">
          <a:xfrm>
            <a:off x="1604596" y="5548169"/>
            <a:ext cx="444352"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Shift</a:t>
            </a:r>
            <a:endParaRPr lang="ko-KR" altLang="en-US" sz="1000" dirty="0">
              <a:solidFill>
                <a:srgbClr val="000000"/>
              </a:solidFill>
              <a:latin typeface="맑은 고딕" pitchFamily="50" charset="-127"/>
              <a:ea typeface="맑은 고딕" pitchFamily="50" charset="-127"/>
            </a:endParaRPr>
          </a:p>
        </p:txBody>
      </p:sp>
      <p:cxnSp>
        <p:nvCxnSpPr>
          <p:cNvPr id="53" name="직선 연결선 100"/>
          <p:cNvCxnSpPr>
            <a:cxnSpLocks noChangeShapeType="1"/>
          </p:cNvCxnSpPr>
          <p:nvPr/>
        </p:nvCxnSpPr>
        <p:spPr bwMode="auto">
          <a:xfrm rot="10800000" flipV="1">
            <a:off x="1849316" y="4020995"/>
            <a:ext cx="213946" cy="1587"/>
          </a:xfrm>
          <a:prstGeom prst="line">
            <a:avLst/>
          </a:prstGeom>
          <a:noFill/>
          <a:ln w="12700" algn="ctr">
            <a:solidFill>
              <a:schemeClr val="tx1"/>
            </a:solidFill>
            <a:round/>
            <a:headEnd type="triangle" w="sm" len="sm"/>
            <a:tailEnd type="triangle" w="sm" len="sm"/>
          </a:ln>
        </p:spPr>
      </p:cxnSp>
      <p:sp>
        <p:nvSpPr>
          <p:cNvPr id="54" name="TextBox 101"/>
          <p:cNvSpPr txBox="1">
            <a:spLocks noChangeArrowheads="1"/>
          </p:cNvSpPr>
          <p:nvPr/>
        </p:nvSpPr>
        <p:spPr bwMode="auto">
          <a:xfrm>
            <a:off x="1783374" y="3808269"/>
            <a:ext cx="37061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st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cxnSp>
        <p:nvCxnSpPr>
          <p:cNvPr id="55" name="직선 연결선 102"/>
          <p:cNvCxnSpPr>
            <a:cxnSpLocks noChangeShapeType="1"/>
          </p:cNvCxnSpPr>
          <p:nvPr/>
        </p:nvCxnSpPr>
        <p:spPr bwMode="auto">
          <a:xfrm rot="10800000">
            <a:off x="1852246" y="2925620"/>
            <a:ext cx="322385" cy="1587"/>
          </a:xfrm>
          <a:prstGeom prst="line">
            <a:avLst/>
          </a:prstGeom>
          <a:noFill/>
          <a:ln w="12700" algn="ctr">
            <a:solidFill>
              <a:schemeClr val="tx1"/>
            </a:solidFill>
            <a:round/>
            <a:headEnd type="triangle" w="sm" len="sm"/>
            <a:tailEnd type="triangle" w="sm" len="sm"/>
          </a:ln>
        </p:spPr>
      </p:cxnSp>
      <p:sp>
        <p:nvSpPr>
          <p:cNvPr id="56" name="TextBox 103"/>
          <p:cNvSpPr txBox="1">
            <a:spLocks noChangeArrowheads="1"/>
          </p:cNvSpPr>
          <p:nvPr/>
        </p:nvSpPr>
        <p:spPr bwMode="auto">
          <a:xfrm>
            <a:off x="1850781" y="2706544"/>
            <a:ext cx="35458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lt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sp>
        <p:nvSpPr>
          <p:cNvPr id="57" name="Line 30"/>
          <p:cNvSpPr>
            <a:spLocks noChangeShapeType="1"/>
          </p:cNvSpPr>
          <p:nvPr/>
        </p:nvSpPr>
        <p:spPr bwMode="auto">
          <a:xfrm>
            <a:off x="6220559" y="3084369"/>
            <a:ext cx="2523392"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grpSp>
        <p:nvGrpSpPr>
          <p:cNvPr id="58" name="그룹 185"/>
          <p:cNvGrpSpPr>
            <a:grpSpLocks/>
          </p:cNvGrpSpPr>
          <p:nvPr/>
        </p:nvGrpSpPr>
        <p:grpSpPr bwMode="auto">
          <a:xfrm>
            <a:off x="6859466" y="2219181"/>
            <a:ext cx="1156188" cy="838200"/>
            <a:chOff x="5168025" y="1697025"/>
            <a:chExt cx="2376488" cy="838200"/>
          </a:xfrm>
        </p:grpSpPr>
        <p:sp>
          <p:nvSpPr>
            <p:cNvPr id="59" name="Rectangle 9"/>
            <p:cNvSpPr>
              <a:spLocks noChangeArrowheads="1"/>
            </p:cNvSpPr>
            <p:nvPr/>
          </p:nvSpPr>
          <p:spPr bwMode="auto">
            <a:xfrm>
              <a:off x="5596650" y="1992300"/>
              <a:ext cx="814388" cy="469900"/>
            </a:xfrm>
            <a:prstGeom prst="rect">
              <a:avLst/>
            </a:prstGeom>
            <a:solidFill>
              <a:schemeClr val="bg1"/>
            </a:solidFill>
            <a:ln w="9525">
              <a:no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0" name="Freeform 28"/>
            <p:cNvSpPr>
              <a:spLocks/>
            </p:cNvSpPr>
            <p:nvPr/>
          </p:nvSpPr>
          <p:spPr bwMode="auto">
            <a:xfrm>
              <a:off x="5756988" y="1697025"/>
              <a:ext cx="1206500" cy="798513"/>
            </a:xfrm>
            <a:custGeom>
              <a:avLst/>
              <a:gdLst>
                <a:gd name="T0" fmla="*/ 2147483647 w 760"/>
                <a:gd name="T1" fmla="*/ 2147483647 h 503"/>
                <a:gd name="T2" fmla="*/ 2147483647 w 760"/>
                <a:gd name="T3" fmla="*/ 2147483647 h 503"/>
                <a:gd name="T4" fmla="*/ 2147483647 w 760"/>
                <a:gd name="T5" fmla="*/ 2147483647 h 503"/>
                <a:gd name="T6" fmla="*/ 2147483647 w 760"/>
                <a:gd name="T7" fmla="*/ 2147483647 h 503"/>
                <a:gd name="T8" fmla="*/ 2147483647 w 760"/>
                <a:gd name="T9" fmla="*/ 2147483647 h 503"/>
                <a:gd name="T10" fmla="*/ 2147483647 w 760"/>
                <a:gd name="T11" fmla="*/ 2147483647 h 503"/>
                <a:gd name="T12" fmla="*/ 2147483647 w 760"/>
                <a:gd name="T13" fmla="*/ 2147483647 h 503"/>
                <a:gd name="T14" fmla="*/ 2147483647 w 760"/>
                <a:gd name="T15" fmla="*/ 2147483647 h 503"/>
                <a:gd name="T16" fmla="*/ 2147483647 w 760"/>
                <a:gd name="T17" fmla="*/ 2147483647 h 503"/>
                <a:gd name="T18" fmla="*/ 2147483647 w 760"/>
                <a:gd name="T19" fmla="*/ 2147483647 h 503"/>
                <a:gd name="T20" fmla="*/ 2147483647 w 760"/>
                <a:gd name="T21" fmla="*/ 2147483647 h 503"/>
                <a:gd name="T22" fmla="*/ 2147483647 w 760"/>
                <a:gd name="T23" fmla="*/ 2147483647 h 503"/>
                <a:gd name="T24" fmla="*/ 2147483647 w 760"/>
                <a:gd name="T25" fmla="*/ 2147483647 h 503"/>
                <a:gd name="T26" fmla="*/ 2147483647 w 760"/>
                <a:gd name="T27" fmla="*/ 2147483647 h 503"/>
                <a:gd name="T28" fmla="*/ 2147483647 w 760"/>
                <a:gd name="T29" fmla="*/ 2147483647 h 503"/>
                <a:gd name="T30" fmla="*/ 2147483647 w 760"/>
                <a:gd name="T31" fmla="*/ 2147483647 h 503"/>
                <a:gd name="T32" fmla="*/ 2147483647 w 760"/>
                <a:gd name="T33" fmla="*/ 2147483647 h 503"/>
                <a:gd name="T34" fmla="*/ 2147483647 w 760"/>
                <a:gd name="T35" fmla="*/ 2147483647 h 503"/>
                <a:gd name="T36" fmla="*/ 2147483647 w 760"/>
                <a:gd name="T37" fmla="*/ 2147483647 h 503"/>
                <a:gd name="T38" fmla="*/ 2147483647 w 760"/>
                <a:gd name="T39" fmla="*/ 2147483647 h 503"/>
                <a:gd name="T40" fmla="*/ 2147483647 w 760"/>
                <a:gd name="T41" fmla="*/ 2147483647 h 503"/>
                <a:gd name="T42" fmla="*/ 2147483647 w 760"/>
                <a:gd name="T43" fmla="*/ 2147483647 h 503"/>
                <a:gd name="T44" fmla="*/ 2147483647 w 760"/>
                <a:gd name="T45" fmla="*/ 2147483647 h 503"/>
                <a:gd name="T46" fmla="*/ 2147483647 w 760"/>
                <a:gd name="T47" fmla="*/ 2147483647 h 503"/>
                <a:gd name="T48" fmla="*/ 2147483647 w 760"/>
                <a:gd name="T49" fmla="*/ 2147483647 h 503"/>
                <a:gd name="T50" fmla="*/ 2147483647 w 760"/>
                <a:gd name="T51" fmla="*/ 2147483647 h 503"/>
                <a:gd name="T52" fmla="*/ 2147483647 w 760"/>
                <a:gd name="T53" fmla="*/ 2147483647 h 503"/>
                <a:gd name="T54" fmla="*/ 2147483647 w 760"/>
                <a:gd name="T55" fmla="*/ 2147483647 h 503"/>
                <a:gd name="T56" fmla="*/ 2147483647 w 760"/>
                <a:gd name="T57" fmla="*/ 2147483647 h 503"/>
                <a:gd name="T58" fmla="*/ 2147483647 w 760"/>
                <a:gd name="T59" fmla="*/ 2147483647 h 503"/>
                <a:gd name="T60" fmla="*/ 2147483647 w 760"/>
                <a:gd name="T61" fmla="*/ 2147483647 h 503"/>
                <a:gd name="T62" fmla="*/ 2147483647 w 760"/>
                <a:gd name="T63" fmla="*/ 2147483647 h 503"/>
                <a:gd name="T64" fmla="*/ 2147483647 w 760"/>
                <a:gd name="T65" fmla="*/ 2147483647 h 503"/>
                <a:gd name="T66" fmla="*/ 2147483647 w 760"/>
                <a:gd name="T67" fmla="*/ 2147483647 h 503"/>
                <a:gd name="T68" fmla="*/ 2147483647 w 760"/>
                <a:gd name="T69" fmla="*/ 2147483647 h 503"/>
                <a:gd name="T70" fmla="*/ 2147483647 w 760"/>
                <a:gd name="T71" fmla="*/ 2147483647 h 503"/>
                <a:gd name="T72" fmla="*/ 2147483647 w 760"/>
                <a:gd name="T73" fmla="*/ 2147483647 h 503"/>
                <a:gd name="T74" fmla="*/ 2147483647 w 760"/>
                <a:gd name="T75" fmla="*/ 2147483647 h 503"/>
                <a:gd name="T76" fmla="*/ 2147483647 w 760"/>
                <a:gd name="T77" fmla="*/ 2147483647 h 503"/>
                <a:gd name="T78" fmla="*/ 2147483647 w 760"/>
                <a:gd name="T79" fmla="*/ 2147483647 h 503"/>
                <a:gd name="T80" fmla="*/ 2147483647 w 760"/>
                <a:gd name="T81" fmla="*/ 2147483647 h 503"/>
                <a:gd name="T82" fmla="*/ 2147483647 w 760"/>
                <a:gd name="T83" fmla="*/ 2147483647 h 503"/>
                <a:gd name="T84" fmla="*/ 2147483647 w 760"/>
                <a:gd name="T85" fmla="*/ 2147483647 h 503"/>
                <a:gd name="T86" fmla="*/ 2147483647 w 760"/>
                <a:gd name="T87" fmla="*/ 2147483647 h 503"/>
                <a:gd name="T88" fmla="*/ 2147483647 w 760"/>
                <a:gd name="T89" fmla="*/ 2147483647 h 503"/>
                <a:gd name="T90" fmla="*/ 2147483647 w 760"/>
                <a:gd name="T91" fmla="*/ 2147483647 h 503"/>
                <a:gd name="T92" fmla="*/ 2147483647 w 760"/>
                <a:gd name="T93" fmla="*/ 2147483647 h 503"/>
                <a:gd name="T94" fmla="*/ 2147483647 w 760"/>
                <a:gd name="T95" fmla="*/ 2147483647 h 5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60"/>
                <a:gd name="T145" fmla="*/ 0 h 503"/>
                <a:gd name="T146" fmla="*/ 760 w 760"/>
                <a:gd name="T147" fmla="*/ 503 h 5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60" h="503">
                  <a:moveTo>
                    <a:pt x="0" y="502"/>
                  </a:moveTo>
                  <a:lnTo>
                    <a:pt x="6" y="502"/>
                  </a:lnTo>
                  <a:lnTo>
                    <a:pt x="13" y="499"/>
                  </a:lnTo>
                  <a:lnTo>
                    <a:pt x="20" y="498"/>
                  </a:lnTo>
                  <a:lnTo>
                    <a:pt x="27" y="495"/>
                  </a:lnTo>
                  <a:lnTo>
                    <a:pt x="33" y="493"/>
                  </a:lnTo>
                  <a:lnTo>
                    <a:pt x="40" y="493"/>
                  </a:lnTo>
                  <a:lnTo>
                    <a:pt x="47" y="493"/>
                  </a:lnTo>
                  <a:lnTo>
                    <a:pt x="54" y="492"/>
                  </a:lnTo>
                  <a:lnTo>
                    <a:pt x="61" y="487"/>
                  </a:lnTo>
                  <a:lnTo>
                    <a:pt x="68" y="483"/>
                  </a:lnTo>
                  <a:lnTo>
                    <a:pt x="75" y="481"/>
                  </a:lnTo>
                  <a:lnTo>
                    <a:pt x="81" y="475"/>
                  </a:lnTo>
                  <a:lnTo>
                    <a:pt x="88" y="471"/>
                  </a:lnTo>
                  <a:lnTo>
                    <a:pt x="95" y="469"/>
                  </a:lnTo>
                  <a:lnTo>
                    <a:pt x="99" y="463"/>
                  </a:lnTo>
                  <a:lnTo>
                    <a:pt x="106" y="461"/>
                  </a:lnTo>
                  <a:lnTo>
                    <a:pt x="113" y="459"/>
                  </a:lnTo>
                  <a:lnTo>
                    <a:pt x="120" y="455"/>
                  </a:lnTo>
                  <a:lnTo>
                    <a:pt x="126" y="451"/>
                  </a:lnTo>
                  <a:lnTo>
                    <a:pt x="131" y="444"/>
                  </a:lnTo>
                  <a:lnTo>
                    <a:pt x="135" y="438"/>
                  </a:lnTo>
                  <a:lnTo>
                    <a:pt x="142" y="435"/>
                  </a:lnTo>
                  <a:lnTo>
                    <a:pt x="144" y="429"/>
                  </a:lnTo>
                  <a:lnTo>
                    <a:pt x="147" y="423"/>
                  </a:lnTo>
                  <a:lnTo>
                    <a:pt x="149" y="417"/>
                  </a:lnTo>
                  <a:lnTo>
                    <a:pt x="156" y="411"/>
                  </a:lnTo>
                  <a:lnTo>
                    <a:pt x="160" y="405"/>
                  </a:lnTo>
                  <a:lnTo>
                    <a:pt x="165" y="398"/>
                  </a:lnTo>
                  <a:lnTo>
                    <a:pt x="170" y="392"/>
                  </a:lnTo>
                  <a:lnTo>
                    <a:pt x="174" y="386"/>
                  </a:lnTo>
                  <a:lnTo>
                    <a:pt x="181" y="382"/>
                  </a:lnTo>
                  <a:lnTo>
                    <a:pt x="181" y="376"/>
                  </a:lnTo>
                  <a:lnTo>
                    <a:pt x="186" y="370"/>
                  </a:lnTo>
                  <a:lnTo>
                    <a:pt x="190" y="364"/>
                  </a:lnTo>
                  <a:lnTo>
                    <a:pt x="195" y="357"/>
                  </a:lnTo>
                  <a:lnTo>
                    <a:pt x="197" y="351"/>
                  </a:lnTo>
                  <a:lnTo>
                    <a:pt x="199" y="345"/>
                  </a:lnTo>
                  <a:lnTo>
                    <a:pt x="199" y="339"/>
                  </a:lnTo>
                  <a:lnTo>
                    <a:pt x="199" y="333"/>
                  </a:lnTo>
                  <a:lnTo>
                    <a:pt x="206" y="330"/>
                  </a:lnTo>
                  <a:lnTo>
                    <a:pt x="208" y="324"/>
                  </a:lnTo>
                  <a:lnTo>
                    <a:pt x="213" y="318"/>
                  </a:lnTo>
                  <a:lnTo>
                    <a:pt x="217" y="311"/>
                  </a:lnTo>
                  <a:lnTo>
                    <a:pt x="217" y="305"/>
                  </a:lnTo>
                  <a:lnTo>
                    <a:pt x="222" y="299"/>
                  </a:lnTo>
                  <a:lnTo>
                    <a:pt x="222" y="293"/>
                  </a:lnTo>
                  <a:lnTo>
                    <a:pt x="228" y="289"/>
                  </a:lnTo>
                  <a:lnTo>
                    <a:pt x="226" y="283"/>
                  </a:lnTo>
                  <a:lnTo>
                    <a:pt x="226" y="277"/>
                  </a:lnTo>
                  <a:lnTo>
                    <a:pt x="228" y="270"/>
                  </a:lnTo>
                  <a:lnTo>
                    <a:pt x="233" y="264"/>
                  </a:lnTo>
                  <a:lnTo>
                    <a:pt x="233" y="258"/>
                  </a:lnTo>
                  <a:lnTo>
                    <a:pt x="235" y="252"/>
                  </a:lnTo>
                  <a:lnTo>
                    <a:pt x="240" y="246"/>
                  </a:lnTo>
                  <a:lnTo>
                    <a:pt x="242" y="240"/>
                  </a:lnTo>
                  <a:lnTo>
                    <a:pt x="244" y="234"/>
                  </a:lnTo>
                  <a:lnTo>
                    <a:pt x="249" y="228"/>
                  </a:lnTo>
                  <a:lnTo>
                    <a:pt x="251" y="222"/>
                  </a:lnTo>
                  <a:lnTo>
                    <a:pt x="253" y="216"/>
                  </a:lnTo>
                  <a:lnTo>
                    <a:pt x="253" y="210"/>
                  </a:lnTo>
                  <a:lnTo>
                    <a:pt x="255" y="204"/>
                  </a:lnTo>
                  <a:lnTo>
                    <a:pt x="260" y="198"/>
                  </a:lnTo>
                  <a:lnTo>
                    <a:pt x="262" y="192"/>
                  </a:lnTo>
                  <a:lnTo>
                    <a:pt x="264" y="186"/>
                  </a:lnTo>
                  <a:lnTo>
                    <a:pt x="267" y="180"/>
                  </a:lnTo>
                  <a:lnTo>
                    <a:pt x="272" y="174"/>
                  </a:lnTo>
                  <a:lnTo>
                    <a:pt x="269" y="168"/>
                  </a:lnTo>
                  <a:lnTo>
                    <a:pt x="272" y="162"/>
                  </a:lnTo>
                  <a:lnTo>
                    <a:pt x="276" y="156"/>
                  </a:lnTo>
                  <a:lnTo>
                    <a:pt x="281" y="150"/>
                  </a:lnTo>
                  <a:lnTo>
                    <a:pt x="281" y="144"/>
                  </a:lnTo>
                  <a:lnTo>
                    <a:pt x="285" y="137"/>
                  </a:lnTo>
                  <a:lnTo>
                    <a:pt x="288" y="131"/>
                  </a:lnTo>
                  <a:lnTo>
                    <a:pt x="290" y="125"/>
                  </a:lnTo>
                  <a:lnTo>
                    <a:pt x="292" y="119"/>
                  </a:lnTo>
                  <a:lnTo>
                    <a:pt x="294" y="113"/>
                  </a:lnTo>
                  <a:lnTo>
                    <a:pt x="299" y="107"/>
                  </a:lnTo>
                  <a:lnTo>
                    <a:pt x="299" y="101"/>
                  </a:lnTo>
                  <a:lnTo>
                    <a:pt x="303" y="95"/>
                  </a:lnTo>
                  <a:lnTo>
                    <a:pt x="303" y="89"/>
                  </a:lnTo>
                  <a:lnTo>
                    <a:pt x="308" y="83"/>
                  </a:lnTo>
                  <a:lnTo>
                    <a:pt x="310" y="77"/>
                  </a:lnTo>
                  <a:lnTo>
                    <a:pt x="315" y="70"/>
                  </a:lnTo>
                  <a:lnTo>
                    <a:pt x="317" y="64"/>
                  </a:lnTo>
                  <a:lnTo>
                    <a:pt x="321" y="58"/>
                  </a:lnTo>
                  <a:lnTo>
                    <a:pt x="324" y="52"/>
                  </a:lnTo>
                  <a:lnTo>
                    <a:pt x="326" y="46"/>
                  </a:lnTo>
                  <a:lnTo>
                    <a:pt x="330" y="40"/>
                  </a:lnTo>
                  <a:lnTo>
                    <a:pt x="335" y="34"/>
                  </a:lnTo>
                  <a:lnTo>
                    <a:pt x="339" y="28"/>
                  </a:lnTo>
                  <a:lnTo>
                    <a:pt x="344" y="22"/>
                  </a:lnTo>
                  <a:lnTo>
                    <a:pt x="351" y="18"/>
                  </a:lnTo>
                  <a:lnTo>
                    <a:pt x="357" y="12"/>
                  </a:lnTo>
                  <a:lnTo>
                    <a:pt x="362" y="6"/>
                  </a:lnTo>
                  <a:lnTo>
                    <a:pt x="369" y="2"/>
                  </a:lnTo>
                  <a:lnTo>
                    <a:pt x="375" y="2"/>
                  </a:lnTo>
                  <a:lnTo>
                    <a:pt x="383" y="0"/>
                  </a:lnTo>
                  <a:lnTo>
                    <a:pt x="390" y="0"/>
                  </a:lnTo>
                  <a:lnTo>
                    <a:pt x="396" y="2"/>
                  </a:lnTo>
                  <a:lnTo>
                    <a:pt x="403" y="8"/>
                  </a:lnTo>
                  <a:lnTo>
                    <a:pt x="412" y="12"/>
                  </a:lnTo>
                  <a:lnTo>
                    <a:pt x="417" y="18"/>
                  </a:lnTo>
                  <a:lnTo>
                    <a:pt x="421" y="24"/>
                  </a:lnTo>
                  <a:lnTo>
                    <a:pt x="428" y="30"/>
                  </a:lnTo>
                  <a:lnTo>
                    <a:pt x="432" y="36"/>
                  </a:lnTo>
                  <a:lnTo>
                    <a:pt x="437" y="42"/>
                  </a:lnTo>
                  <a:lnTo>
                    <a:pt x="441" y="48"/>
                  </a:lnTo>
                  <a:lnTo>
                    <a:pt x="444" y="54"/>
                  </a:lnTo>
                  <a:lnTo>
                    <a:pt x="448" y="60"/>
                  </a:lnTo>
                  <a:lnTo>
                    <a:pt x="450" y="66"/>
                  </a:lnTo>
                  <a:lnTo>
                    <a:pt x="453" y="72"/>
                  </a:lnTo>
                  <a:lnTo>
                    <a:pt x="453" y="78"/>
                  </a:lnTo>
                  <a:lnTo>
                    <a:pt x="455" y="84"/>
                  </a:lnTo>
                  <a:lnTo>
                    <a:pt x="457" y="90"/>
                  </a:lnTo>
                  <a:lnTo>
                    <a:pt x="462" y="96"/>
                  </a:lnTo>
                  <a:lnTo>
                    <a:pt x="462" y="103"/>
                  </a:lnTo>
                  <a:lnTo>
                    <a:pt x="466" y="109"/>
                  </a:lnTo>
                  <a:lnTo>
                    <a:pt x="468" y="115"/>
                  </a:lnTo>
                  <a:lnTo>
                    <a:pt x="471" y="121"/>
                  </a:lnTo>
                  <a:lnTo>
                    <a:pt x="473" y="127"/>
                  </a:lnTo>
                  <a:lnTo>
                    <a:pt x="477" y="133"/>
                  </a:lnTo>
                  <a:lnTo>
                    <a:pt x="480" y="139"/>
                  </a:lnTo>
                  <a:lnTo>
                    <a:pt x="480" y="145"/>
                  </a:lnTo>
                  <a:lnTo>
                    <a:pt x="484" y="151"/>
                  </a:lnTo>
                  <a:lnTo>
                    <a:pt x="486" y="157"/>
                  </a:lnTo>
                  <a:lnTo>
                    <a:pt x="489" y="164"/>
                  </a:lnTo>
                  <a:lnTo>
                    <a:pt x="494" y="170"/>
                  </a:lnTo>
                  <a:lnTo>
                    <a:pt x="496" y="176"/>
                  </a:lnTo>
                  <a:lnTo>
                    <a:pt x="498" y="182"/>
                  </a:lnTo>
                  <a:lnTo>
                    <a:pt x="501" y="188"/>
                  </a:lnTo>
                  <a:lnTo>
                    <a:pt x="503" y="194"/>
                  </a:lnTo>
                  <a:lnTo>
                    <a:pt x="505" y="200"/>
                  </a:lnTo>
                  <a:lnTo>
                    <a:pt x="507" y="206"/>
                  </a:lnTo>
                  <a:lnTo>
                    <a:pt x="510" y="212"/>
                  </a:lnTo>
                  <a:lnTo>
                    <a:pt x="516" y="218"/>
                  </a:lnTo>
                  <a:lnTo>
                    <a:pt x="519" y="224"/>
                  </a:lnTo>
                  <a:lnTo>
                    <a:pt x="521" y="231"/>
                  </a:lnTo>
                  <a:lnTo>
                    <a:pt x="523" y="237"/>
                  </a:lnTo>
                  <a:lnTo>
                    <a:pt x="525" y="243"/>
                  </a:lnTo>
                  <a:lnTo>
                    <a:pt x="528" y="249"/>
                  </a:lnTo>
                  <a:lnTo>
                    <a:pt x="528" y="255"/>
                  </a:lnTo>
                  <a:lnTo>
                    <a:pt x="530" y="261"/>
                  </a:lnTo>
                  <a:lnTo>
                    <a:pt x="532" y="267"/>
                  </a:lnTo>
                  <a:lnTo>
                    <a:pt x="534" y="273"/>
                  </a:lnTo>
                  <a:lnTo>
                    <a:pt x="537" y="279"/>
                  </a:lnTo>
                  <a:lnTo>
                    <a:pt x="537" y="285"/>
                  </a:lnTo>
                  <a:lnTo>
                    <a:pt x="541" y="291"/>
                  </a:lnTo>
                  <a:lnTo>
                    <a:pt x="543" y="297"/>
                  </a:lnTo>
                  <a:lnTo>
                    <a:pt x="546" y="303"/>
                  </a:lnTo>
                  <a:lnTo>
                    <a:pt x="548" y="309"/>
                  </a:lnTo>
                  <a:lnTo>
                    <a:pt x="552" y="315"/>
                  </a:lnTo>
                  <a:lnTo>
                    <a:pt x="555" y="321"/>
                  </a:lnTo>
                  <a:lnTo>
                    <a:pt x="559" y="327"/>
                  </a:lnTo>
                  <a:lnTo>
                    <a:pt x="561" y="333"/>
                  </a:lnTo>
                  <a:lnTo>
                    <a:pt x="564" y="339"/>
                  </a:lnTo>
                  <a:lnTo>
                    <a:pt x="566" y="345"/>
                  </a:lnTo>
                  <a:lnTo>
                    <a:pt x="570" y="351"/>
                  </a:lnTo>
                  <a:lnTo>
                    <a:pt x="573" y="357"/>
                  </a:lnTo>
                  <a:lnTo>
                    <a:pt x="577" y="364"/>
                  </a:lnTo>
                  <a:lnTo>
                    <a:pt x="582" y="370"/>
                  </a:lnTo>
                  <a:lnTo>
                    <a:pt x="584" y="376"/>
                  </a:lnTo>
                  <a:lnTo>
                    <a:pt x="588" y="382"/>
                  </a:lnTo>
                  <a:lnTo>
                    <a:pt x="591" y="388"/>
                  </a:lnTo>
                  <a:lnTo>
                    <a:pt x="593" y="394"/>
                  </a:lnTo>
                  <a:lnTo>
                    <a:pt x="598" y="400"/>
                  </a:lnTo>
                  <a:lnTo>
                    <a:pt x="600" y="406"/>
                  </a:lnTo>
                  <a:lnTo>
                    <a:pt x="605" y="412"/>
                  </a:lnTo>
                  <a:lnTo>
                    <a:pt x="612" y="417"/>
                  </a:lnTo>
                  <a:lnTo>
                    <a:pt x="614" y="423"/>
                  </a:lnTo>
                  <a:lnTo>
                    <a:pt x="621" y="429"/>
                  </a:lnTo>
                  <a:lnTo>
                    <a:pt x="625" y="435"/>
                  </a:lnTo>
                  <a:lnTo>
                    <a:pt x="630" y="441"/>
                  </a:lnTo>
                  <a:lnTo>
                    <a:pt x="634" y="447"/>
                  </a:lnTo>
                  <a:lnTo>
                    <a:pt x="641" y="453"/>
                  </a:lnTo>
                  <a:lnTo>
                    <a:pt x="648" y="459"/>
                  </a:lnTo>
                  <a:lnTo>
                    <a:pt x="654" y="461"/>
                  </a:lnTo>
                  <a:lnTo>
                    <a:pt x="661" y="463"/>
                  </a:lnTo>
                  <a:lnTo>
                    <a:pt x="668" y="469"/>
                  </a:lnTo>
                  <a:lnTo>
                    <a:pt x="675" y="473"/>
                  </a:lnTo>
                  <a:lnTo>
                    <a:pt x="679" y="479"/>
                  </a:lnTo>
                  <a:lnTo>
                    <a:pt x="686" y="481"/>
                  </a:lnTo>
                  <a:lnTo>
                    <a:pt x="693" y="483"/>
                  </a:lnTo>
                  <a:lnTo>
                    <a:pt x="699" y="485"/>
                  </a:lnTo>
                  <a:lnTo>
                    <a:pt x="707" y="487"/>
                  </a:lnTo>
                  <a:lnTo>
                    <a:pt x="714" y="492"/>
                  </a:lnTo>
                  <a:lnTo>
                    <a:pt x="720" y="493"/>
                  </a:lnTo>
                  <a:lnTo>
                    <a:pt x="727" y="495"/>
                  </a:lnTo>
                  <a:lnTo>
                    <a:pt x="734" y="498"/>
                  </a:lnTo>
                  <a:lnTo>
                    <a:pt x="741" y="498"/>
                  </a:lnTo>
                  <a:lnTo>
                    <a:pt x="747" y="498"/>
                  </a:lnTo>
                  <a:lnTo>
                    <a:pt x="754" y="499"/>
                  </a:lnTo>
                  <a:lnTo>
                    <a:pt x="759" y="498"/>
                  </a:lnTo>
                </a:path>
              </a:pathLst>
            </a:custGeom>
            <a:noFill/>
            <a:ln w="25400" cap="rnd">
              <a:solidFill>
                <a:schemeClr val="tx1"/>
              </a:solidFill>
              <a:round/>
              <a:headEnd type="none" w="sm" len="sm"/>
              <a:tailEnd type="none" w="sm" len="sm"/>
            </a:ln>
          </p:spPr>
          <p:txBody>
            <a:bodyPr/>
            <a:lstStyle/>
            <a:p>
              <a:endParaRPr lang="ko-KR" altLang="en-US" dirty="0"/>
            </a:p>
          </p:txBody>
        </p:sp>
        <p:sp>
          <p:nvSpPr>
            <p:cNvPr id="61" name="Freeform 31"/>
            <p:cNvSpPr>
              <a:spLocks/>
            </p:cNvSpPr>
            <p:nvPr/>
          </p:nvSpPr>
          <p:spPr bwMode="auto">
            <a:xfrm>
              <a:off x="6953963" y="2482838"/>
              <a:ext cx="590550" cy="52387"/>
            </a:xfrm>
            <a:custGeom>
              <a:avLst/>
              <a:gdLst>
                <a:gd name="T0" fmla="*/ 0 w 372"/>
                <a:gd name="T1" fmla="*/ 0 h 33"/>
                <a:gd name="T2" fmla="*/ 0 w 372"/>
                <a:gd name="T3" fmla="*/ 0 h 33"/>
                <a:gd name="T4" fmla="*/ 0 w 372"/>
                <a:gd name="T5" fmla="*/ 2147483647 h 33"/>
                <a:gd name="T6" fmla="*/ 2147483647 w 372"/>
                <a:gd name="T7" fmla="*/ 2147483647 h 33"/>
                <a:gd name="T8" fmla="*/ 2147483647 w 372"/>
                <a:gd name="T9" fmla="*/ 2147483647 h 33"/>
                <a:gd name="T10" fmla="*/ 2147483647 w 372"/>
                <a:gd name="T11" fmla="*/ 2147483647 h 33"/>
                <a:gd name="T12" fmla="*/ 2147483647 w 372"/>
                <a:gd name="T13" fmla="*/ 2147483647 h 33"/>
                <a:gd name="T14" fmla="*/ 2147483647 w 372"/>
                <a:gd name="T15" fmla="*/ 2147483647 h 33"/>
                <a:gd name="T16" fmla="*/ 2147483647 w 372"/>
                <a:gd name="T17" fmla="*/ 2147483647 h 33"/>
                <a:gd name="T18" fmla="*/ 2147483647 w 372"/>
                <a:gd name="T19" fmla="*/ 2147483647 h 33"/>
                <a:gd name="T20" fmla="*/ 2147483647 w 372"/>
                <a:gd name="T21" fmla="*/ 2147483647 h 33"/>
                <a:gd name="T22" fmla="*/ 2147483647 w 372"/>
                <a:gd name="T23" fmla="*/ 2147483647 h 33"/>
                <a:gd name="T24" fmla="*/ 2147483647 w 372"/>
                <a:gd name="T25" fmla="*/ 2147483647 h 33"/>
                <a:gd name="T26" fmla="*/ 2147483647 w 372"/>
                <a:gd name="T27" fmla="*/ 2147483647 h 33"/>
                <a:gd name="T28" fmla="*/ 2147483647 w 372"/>
                <a:gd name="T29" fmla="*/ 2147483647 h 33"/>
                <a:gd name="T30" fmla="*/ 2147483647 w 372"/>
                <a:gd name="T31" fmla="*/ 2147483647 h 33"/>
                <a:gd name="T32" fmla="*/ 2147483647 w 372"/>
                <a:gd name="T33" fmla="*/ 2147483647 h 33"/>
                <a:gd name="T34" fmla="*/ 2147483647 w 372"/>
                <a:gd name="T35" fmla="*/ 2147483647 h 33"/>
                <a:gd name="T36" fmla="*/ 2147483647 w 372"/>
                <a:gd name="T37" fmla="*/ 2147483647 h 33"/>
                <a:gd name="T38" fmla="*/ 2147483647 w 372"/>
                <a:gd name="T39" fmla="*/ 2147483647 h 33"/>
                <a:gd name="T40" fmla="*/ 2147483647 w 372"/>
                <a:gd name="T41" fmla="*/ 2147483647 h 33"/>
                <a:gd name="T42" fmla="*/ 2147483647 w 372"/>
                <a:gd name="T43" fmla="*/ 2147483647 h 33"/>
                <a:gd name="T44" fmla="*/ 2147483647 w 372"/>
                <a:gd name="T45" fmla="*/ 2147483647 h 33"/>
                <a:gd name="T46" fmla="*/ 2147483647 w 372"/>
                <a:gd name="T47" fmla="*/ 2147483647 h 33"/>
                <a:gd name="T48" fmla="*/ 2147483647 w 372"/>
                <a:gd name="T49" fmla="*/ 2147483647 h 33"/>
                <a:gd name="T50" fmla="*/ 2147483647 w 372"/>
                <a:gd name="T51" fmla="*/ 2147483647 h 33"/>
                <a:gd name="T52" fmla="*/ 2147483647 w 372"/>
                <a:gd name="T53" fmla="*/ 2147483647 h 33"/>
                <a:gd name="T54" fmla="*/ 2147483647 w 372"/>
                <a:gd name="T55" fmla="*/ 2147483647 h 33"/>
                <a:gd name="T56" fmla="*/ 2147483647 w 372"/>
                <a:gd name="T57" fmla="*/ 2147483647 h 33"/>
                <a:gd name="T58" fmla="*/ 2147483647 w 372"/>
                <a:gd name="T59" fmla="*/ 2147483647 h 33"/>
                <a:gd name="T60" fmla="*/ 2147483647 w 372"/>
                <a:gd name="T61" fmla="*/ 2147483647 h 33"/>
                <a:gd name="T62" fmla="*/ 2147483647 w 372"/>
                <a:gd name="T63" fmla="*/ 2147483647 h 33"/>
                <a:gd name="T64" fmla="*/ 2147483647 w 372"/>
                <a:gd name="T65" fmla="*/ 2147483647 h 33"/>
                <a:gd name="T66" fmla="*/ 2147483647 w 372"/>
                <a:gd name="T67" fmla="*/ 2147483647 h 33"/>
                <a:gd name="T68" fmla="*/ 2147483647 w 372"/>
                <a:gd name="T69" fmla="*/ 2147483647 h 33"/>
                <a:gd name="T70" fmla="*/ 2147483647 w 372"/>
                <a:gd name="T71" fmla="*/ 2147483647 h 33"/>
                <a:gd name="T72" fmla="*/ 2147483647 w 372"/>
                <a:gd name="T73" fmla="*/ 2147483647 h 33"/>
                <a:gd name="T74" fmla="*/ 2147483647 w 372"/>
                <a:gd name="T75" fmla="*/ 2147483647 h 33"/>
                <a:gd name="T76" fmla="*/ 2147483647 w 372"/>
                <a:gd name="T77" fmla="*/ 2147483647 h 33"/>
                <a:gd name="T78" fmla="*/ 2147483647 w 372"/>
                <a:gd name="T79" fmla="*/ 2147483647 h 33"/>
                <a:gd name="T80" fmla="*/ 2147483647 w 372"/>
                <a:gd name="T81" fmla="*/ 2147483647 h 33"/>
                <a:gd name="T82" fmla="*/ 2147483647 w 372"/>
                <a:gd name="T83" fmla="*/ 2147483647 h 33"/>
                <a:gd name="T84" fmla="*/ 2147483647 w 372"/>
                <a:gd name="T85" fmla="*/ 2147483647 h 33"/>
                <a:gd name="T86" fmla="*/ 2147483647 w 372"/>
                <a:gd name="T87" fmla="*/ 2147483647 h 33"/>
                <a:gd name="T88" fmla="*/ 2147483647 w 372"/>
                <a:gd name="T89" fmla="*/ 2147483647 h 33"/>
                <a:gd name="T90" fmla="*/ 2147483647 w 372"/>
                <a:gd name="T91" fmla="*/ 2147483647 h 33"/>
                <a:gd name="T92" fmla="*/ 2147483647 w 372"/>
                <a:gd name="T93" fmla="*/ 2147483647 h 33"/>
                <a:gd name="T94" fmla="*/ 2147483647 w 372"/>
                <a:gd name="T95" fmla="*/ 2147483647 h 33"/>
                <a:gd name="T96" fmla="*/ 2147483647 w 372"/>
                <a:gd name="T97" fmla="*/ 2147483647 h 33"/>
                <a:gd name="T98" fmla="*/ 2147483647 w 372"/>
                <a:gd name="T99" fmla="*/ 2147483647 h 33"/>
                <a:gd name="T100" fmla="*/ 2147483647 w 372"/>
                <a:gd name="T101" fmla="*/ 2147483647 h 33"/>
                <a:gd name="T102" fmla="*/ 2147483647 w 372"/>
                <a:gd name="T103" fmla="*/ 2147483647 h 33"/>
                <a:gd name="T104" fmla="*/ 2147483647 w 372"/>
                <a:gd name="T105" fmla="*/ 2147483647 h 33"/>
                <a:gd name="T106" fmla="*/ 2147483647 w 372"/>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2"/>
                <a:gd name="T163" fmla="*/ 0 h 33"/>
                <a:gd name="T164" fmla="*/ 372 w 372"/>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2" h="33">
                  <a:moveTo>
                    <a:pt x="0" y="0"/>
                  </a:moveTo>
                  <a:lnTo>
                    <a:pt x="0" y="0"/>
                  </a:lnTo>
                  <a:lnTo>
                    <a:pt x="0" y="4"/>
                  </a:lnTo>
                  <a:lnTo>
                    <a:pt x="8" y="7"/>
                  </a:lnTo>
                  <a:lnTo>
                    <a:pt x="11" y="10"/>
                  </a:lnTo>
                  <a:lnTo>
                    <a:pt x="17" y="10"/>
                  </a:lnTo>
                  <a:lnTo>
                    <a:pt x="23" y="14"/>
                  </a:lnTo>
                  <a:lnTo>
                    <a:pt x="32" y="16"/>
                  </a:lnTo>
                  <a:lnTo>
                    <a:pt x="40" y="16"/>
                  </a:lnTo>
                  <a:lnTo>
                    <a:pt x="48" y="17"/>
                  </a:lnTo>
                  <a:lnTo>
                    <a:pt x="56" y="17"/>
                  </a:lnTo>
                  <a:lnTo>
                    <a:pt x="61" y="18"/>
                  </a:lnTo>
                  <a:lnTo>
                    <a:pt x="67" y="20"/>
                  </a:lnTo>
                  <a:lnTo>
                    <a:pt x="74" y="20"/>
                  </a:lnTo>
                  <a:lnTo>
                    <a:pt x="80" y="22"/>
                  </a:lnTo>
                  <a:lnTo>
                    <a:pt x="88" y="21"/>
                  </a:lnTo>
                  <a:lnTo>
                    <a:pt x="96" y="21"/>
                  </a:lnTo>
                  <a:lnTo>
                    <a:pt x="104" y="23"/>
                  </a:lnTo>
                  <a:lnTo>
                    <a:pt x="113" y="23"/>
                  </a:lnTo>
                  <a:lnTo>
                    <a:pt x="120" y="24"/>
                  </a:lnTo>
                  <a:lnTo>
                    <a:pt x="128" y="26"/>
                  </a:lnTo>
                  <a:lnTo>
                    <a:pt x="137" y="26"/>
                  </a:lnTo>
                  <a:lnTo>
                    <a:pt x="145" y="26"/>
                  </a:lnTo>
                  <a:lnTo>
                    <a:pt x="152" y="26"/>
                  </a:lnTo>
                  <a:lnTo>
                    <a:pt x="161" y="26"/>
                  </a:lnTo>
                  <a:lnTo>
                    <a:pt x="169" y="26"/>
                  </a:lnTo>
                  <a:lnTo>
                    <a:pt x="177" y="26"/>
                  </a:lnTo>
                  <a:lnTo>
                    <a:pt x="185" y="26"/>
                  </a:lnTo>
                  <a:lnTo>
                    <a:pt x="193" y="26"/>
                  </a:lnTo>
                  <a:lnTo>
                    <a:pt x="201" y="26"/>
                  </a:lnTo>
                  <a:lnTo>
                    <a:pt x="209" y="26"/>
                  </a:lnTo>
                  <a:lnTo>
                    <a:pt x="215" y="27"/>
                  </a:lnTo>
                  <a:lnTo>
                    <a:pt x="221" y="28"/>
                  </a:lnTo>
                  <a:lnTo>
                    <a:pt x="225" y="28"/>
                  </a:lnTo>
                  <a:lnTo>
                    <a:pt x="233" y="28"/>
                  </a:lnTo>
                  <a:lnTo>
                    <a:pt x="242" y="28"/>
                  </a:lnTo>
                  <a:lnTo>
                    <a:pt x="250" y="28"/>
                  </a:lnTo>
                  <a:lnTo>
                    <a:pt x="257" y="28"/>
                  </a:lnTo>
                  <a:lnTo>
                    <a:pt x="266" y="28"/>
                  </a:lnTo>
                  <a:lnTo>
                    <a:pt x="272" y="30"/>
                  </a:lnTo>
                  <a:lnTo>
                    <a:pt x="278" y="30"/>
                  </a:lnTo>
                  <a:lnTo>
                    <a:pt x="284" y="32"/>
                  </a:lnTo>
                  <a:lnTo>
                    <a:pt x="290" y="32"/>
                  </a:lnTo>
                  <a:lnTo>
                    <a:pt x="298" y="32"/>
                  </a:lnTo>
                  <a:lnTo>
                    <a:pt x="306" y="32"/>
                  </a:lnTo>
                  <a:lnTo>
                    <a:pt x="314" y="32"/>
                  </a:lnTo>
                  <a:lnTo>
                    <a:pt x="322" y="32"/>
                  </a:lnTo>
                  <a:lnTo>
                    <a:pt x="329" y="32"/>
                  </a:lnTo>
                  <a:lnTo>
                    <a:pt x="335" y="32"/>
                  </a:lnTo>
                  <a:lnTo>
                    <a:pt x="341" y="32"/>
                  </a:lnTo>
                  <a:lnTo>
                    <a:pt x="348" y="32"/>
                  </a:lnTo>
                  <a:lnTo>
                    <a:pt x="354" y="32"/>
                  </a:lnTo>
                  <a:lnTo>
                    <a:pt x="362" y="32"/>
                  </a:lnTo>
                  <a:lnTo>
                    <a:pt x="371" y="32"/>
                  </a:lnTo>
                </a:path>
              </a:pathLst>
            </a:custGeom>
            <a:noFill/>
            <a:ln w="25400" cap="rnd">
              <a:solidFill>
                <a:schemeClr val="tx1"/>
              </a:solidFill>
              <a:round/>
              <a:headEnd type="none" w="sm" len="sm"/>
              <a:tailEnd type="none" w="sm" len="sm"/>
            </a:ln>
          </p:spPr>
          <p:txBody>
            <a:bodyPr/>
            <a:lstStyle/>
            <a:p>
              <a:endParaRPr lang="ko-KR" altLang="en-US" dirty="0"/>
            </a:p>
          </p:txBody>
        </p:sp>
        <p:sp>
          <p:nvSpPr>
            <p:cNvPr id="62" name="Freeform 32"/>
            <p:cNvSpPr>
              <a:spLocks/>
            </p:cNvSpPr>
            <p:nvPr/>
          </p:nvSpPr>
          <p:spPr bwMode="auto">
            <a:xfrm>
              <a:off x="5168025" y="2482838"/>
              <a:ext cx="587375" cy="52387"/>
            </a:xfrm>
            <a:custGeom>
              <a:avLst/>
              <a:gdLst>
                <a:gd name="T0" fmla="*/ 2147483647 w 370"/>
                <a:gd name="T1" fmla="*/ 0 h 33"/>
                <a:gd name="T2" fmla="*/ 2147483647 w 370"/>
                <a:gd name="T3" fmla="*/ 0 h 33"/>
                <a:gd name="T4" fmla="*/ 2147483647 w 370"/>
                <a:gd name="T5" fmla="*/ 2147483647 h 33"/>
                <a:gd name="T6" fmla="*/ 2147483647 w 370"/>
                <a:gd name="T7" fmla="*/ 2147483647 h 33"/>
                <a:gd name="T8" fmla="*/ 2147483647 w 370"/>
                <a:gd name="T9" fmla="*/ 2147483647 h 33"/>
                <a:gd name="T10" fmla="*/ 2147483647 w 370"/>
                <a:gd name="T11" fmla="*/ 2147483647 h 33"/>
                <a:gd name="T12" fmla="*/ 2147483647 w 370"/>
                <a:gd name="T13" fmla="*/ 2147483647 h 33"/>
                <a:gd name="T14" fmla="*/ 2147483647 w 370"/>
                <a:gd name="T15" fmla="*/ 2147483647 h 33"/>
                <a:gd name="T16" fmla="*/ 2147483647 w 370"/>
                <a:gd name="T17" fmla="*/ 2147483647 h 33"/>
                <a:gd name="T18" fmla="*/ 2147483647 w 370"/>
                <a:gd name="T19" fmla="*/ 2147483647 h 33"/>
                <a:gd name="T20" fmla="*/ 2147483647 w 370"/>
                <a:gd name="T21" fmla="*/ 2147483647 h 33"/>
                <a:gd name="T22" fmla="*/ 2147483647 w 370"/>
                <a:gd name="T23" fmla="*/ 2147483647 h 33"/>
                <a:gd name="T24" fmla="*/ 2147483647 w 370"/>
                <a:gd name="T25" fmla="*/ 2147483647 h 33"/>
                <a:gd name="T26" fmla="*/ 2147483647 w 370"/>
                <a:gd name="T27" fmla="*/ 2147483647 h 33"/>
                <a:gd name="T28" fmla="*/ 2147483647 w 370"/>
                <a:gd name="T29" fmla="*/ 2147483647 h 33"/>
                <a:gd name="T30" fmla="*/ 2147483647 w 370"/>
                <a:gd name="T31" fmla="*/ 2147483647 h 33"/>
                <a:gd name="T32" fmla="*/ 2147483647 w 370"/>
                <a:gd name="T33" fmla="*/ 2147483647 h 33"/>
                <a:gd name="T34" fmla="*/ 2147483647 w 370"/>
                <a:gd name="T35" fmla="*/ 2147483647 h 33"/>
                <a:gd name="T36" fmla="*/ 2147483647 w 370"/>
                <a:gd name="T37" fmla="*/ 2147483647 h 33"/>
                <a:gd name="T38" fmla="*/ 2147483647 w 370"/>
                <a:gd name="T39" fmla="*/ 2147483647 h 33"/>
                <a:gd name="T40" fmla="*/ 2147483647 w 370"/>
                <a:gd name="T41" fmla="*/ 2147483647 h 33"/>
                <a:gd name="T42" fmla="*/ 2147483647 w 370"/>
                <a:gd name="T43" fmla="*/ 2147483647 h 33"/>
                <a:gd name="T44" fmla="*/ 2147483647 w 370"/>
                <a:gd name="T45" fmla="*/ 2147483647 h 33"/>
                <a:gd name="T46" fmla="*/ 2147483647 w 370"/>
                <a:gd name="T47" fmla="*/ 2147483647 h 33"/>
                <a:gd name="T48" fmla="*/ 2147483647 w 370"/>
                <a:gd name="T49" fmla="*/ 2147483647 h 33"/>
                <a:gd name="T50" fmla="*/ 2147483647 w 370"/>
                <a:gd name="T51" fmla="*/ 2147483647 h 33"/>
                <a:gd name="T52" fmla="*/ 2147483647 w 370"/>
                <a:gd name="T53" fmla="*/ 2147483647 h 33"/>
                <a:gd name="T54" fmla="*/ 2147483647 w 370"/>
                <a:gd name="T55" fmla="*/ 2147483647 h 33"/>
                <a:gd name="T56" fmla="*/ 2147483647 w 370"/>
                <a:gd name="T57" fmla="*/ 2147483647 h 33"/>
                <a:gd name="T58" fmla="*/ 2147483647 w 370"/>
                <a:gd name="T59" fmla="*/ 2147483647 h 33"/>
                <a:gd name="T60" fmla="*/ 2147483647 w 370"/>
                <a:gd name="T61" fmla="*/ 2147483647 h 33"/>
                <a:gd name="T62" fmla="*/ 2147483647 w 370"/>
                <a:gd name="T63" fmla="*/ 2147483647 h 33"/>
                <a:gd name="T64" fmla="*/ 2147483647 w 370"/>
                <a:gd name="T65" fmla="*/ 2147483647 h 33"/>
                <a:gd name="T66" fmla="*/ 2147483647 w 370"/>
                <a:gd name="T67" fmla="*/ 2147483647 h 33"/>
                <a:gd name="T68" fmla="*/ 2147483647 w 370"/>
                <a:gd name="T69" fmla="*/ 2147483647 h 33"/>
                <a:gd name="T70" fmla="*/ 2147483647 w 370"/>
                <a:gd name="T71" fmla="*/ 2147483647 h 33"/>
                <a:gd name="T72" fmla="*/ 2147483647 w 370"/>
                <a:gd name="T73" fmla="*/ 2147483647 h 33"/>
                <a:gd name="T74" fmla="*/ 2147483647 w 370"/>
                <a:gd name="T75" fmla="*/ 2147483647 h 33"/>
                <a:gd name="T76" fmla="*/ 2147483647 w 370"/>
                <a:gd name="T77" fmla="*/ 2147483647 h 33"/>
                <a:gd name="T78" fmla="*/ 2147483647 w 370"/>
                <a:gd name="T79" fmla="*/ 2147483647 h 33"/>
                <a:gd name="T80" fmla="*/ 2147483647 w 370"/>
                <a:gd name="T81" fmla="*/ 2147483647 h 33"/>
                <a:gd name="T82" fmla="*/ 2147483647 w 370"/>
                <a:gd name="T83" fmla="*/ 2147483647 h 33"/>
                <a:gd name="T84" fmla="*/ 2147483647 w 370"/>
                <a:gd name="T85" fmla="*/ 2147483647 h 33"/>
                <a:gd name="T86" fmla="*/ 2147483647 w 370"/>
                <a:gd name="T87" fmla="*/ 2147483647 h 33"/>
                <a:gd name="T88" fmla="*/ 2147483647 w 370"/>
                <a:gd name="T89" fmla="*/ 2147483647 h 33"/>
                <a:gd name="T90" fmla="*/ 2147483647 w 370"/>
                <a:gd name="T91" fmla="*/ 2147483647 h 33"/>
                <a:gd name="T92" fmla="*/ 2147483647 w 370"/>
                <a:gd name="T93" fmla="*/ 2147483647 h 33"/>
                <a:gd name="T94" fmla="*/ 2147483647 w 370"/>
                <a:gd name="T95" fmla="*/ 2147483647 h 33"/>
                <a:gd name="T96" fmla="*/ 2147483647 w 370"/>
                <a:gd name="T97" fmla="*/ 2147483647 h 33"/>
                <a:gd name="T98" fmla="*/ 2147483647 w 370"/>
                <a:gd name="T99" fmla="*/ 2147483647 h 33"/>
                <a:gd name="T100" fmla="*/ 2147483647 w 370"/>
                <a:gd name="T101" fmla="*/ 2147483647 h 33"/>
                <a:gd name="T102" fmla="*/ 2147483647 w 370"/>
                <a:gd name="T103" fmla="*/ 2147483647 h 33"/>
                <a:gd name="T104" fmla="*/ 2147483647 w 370"/>
                <a:gd name="T105" fmla="*/ 2147483647 h 33"/>
                <a:gd name="T106" fmla="*/ 0 w 370"/>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0"/>
                <a:gd name="T163" fmla="*/ 0 h 33"/>
                <a:gd name="T164" fmla="*/ 370 w 370"/>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0" h="33">
                  <a:moveTo>
                    <a:pt x="369" y="0"/>
                  </a:moveTo>
                  <a:lnTo>
                    <a:pt x="369" y="0"/>
                  </a:lnTo>
                  <a:lnTo>
                    <a:pt x="369" y="4"/>
                  </a:lnTo>
                  <a:lnTo>
                    <a:pt x="360" y="7"/>
                  </a:lnTo>
                  <a:lnTo>
                    <a:pt x="357" y="10"/>
                  </a:lnTo>
                  <a:lnTo>
                    <a:pt x="351" y="10"/>
                  </a:lnTo>
                  <a:lnTo>
                    <a:pt x="345" y="14"/>
                  </a:lnTo>
                  <a:lnTo>
                    <a:pt x="336" y="16"/>
                  </a:lnTo>
                  <a:lnTo>
                    <a:pt x="328" y="16"/>
                  </a:lnTo>
                  <a:lnTo>
                    <a:pt x="321" y="17"/>
                  </a:lnTo>
                  <a:lnTo>
                    <a:pt x="312" y="17"/>
                  </a:lnTo>
                  <a:lnTo>
                    <a:pt x="307" y="18"/>
                  </a:lnTo>
                  <a:lnTo>
                    <a:pt x="301" y="20"/>
                  </a:lnTo>
                  <a:lnTo>
                    <a:pt x="294" y="20"/>
                  </a:lnTo>
                  <a:lnTo>
                    <a:pt x="288" y="22"/>
                  </a:lnTo>
                  <a:lnTo>
                    <a:pt x="280" y="21"/>
                  </a:lnTo>
                  <a:lnTo>
                    <a:pt x="272" y="21"/>
                  </a:lnTo>
                  <a:lnTo>
                    <a:pt x="264" y="23"/>
                  </a:lnTo>
                  <a:lnTo>
                    <a:pt x="256" y="23"/>
                  </a:lnTo>
                  <a:lnTo>
                    <a:pt x="248" y="24"/>
                  </a:lnTo>
                  <a:lnTo>
                    <a:pt x="241" y="26"/>
                  </a:lnTo>
                  <a:lnTo>
                    <a:pt x="232" y="26"/>
                  </a:lnTo>
                  <a:lnTo>
                    <a:pt x="224" y="26"/>
                  </a:lnTo>
                  <a:lnTo>
                    <a:pt x="216" y="26"/>
                  </a:lnTo>
                  <a:lnTo>
                    <a:pt x="208" y="26"/>
                  </a:lnTo>
                  <a:lnTo>
                    <a:pt x="200" y="26"/>
                  </a:lnTo>
                  <a:lnTo>
                    <a:pt x="192" y="26"/>
                  </a:lnTo>
                  <a:lnTo>
                    <a:pt x="184" y="26"/>
                  </a:lnTo>
                  <a:lnTo>
                    <a:pt x="176" y="26"/>
                  </a:lnTo>
                  <a:lnTo>
                    <a:pt x="168" y="26"/>
                  </a:lnTo>
                  <a:lnTo>
                    <a:pt x="160" y="26"/>
                  </a:lnTo>
                  <a:lnTo>
                    <a:pt x="154" y="27"/>
                  </a:lnTo>
                  <a:lnTo>
                    <a:pt x="149" y="28"/>
                  </a:lnTo>
                  <a:lnTo>
                    <a:pt x="144" y="28"/>
                  </a:lnTo>
                  <a:lnTo>
                    <a:pt x="137" y="28"/>
                  </a:lnTo>
                  <a:lnTo>
                    <a:pt x="127" y="28"/>
                  </a:lnTo>
                  <a:lnTo>
                    <a:pt x="120" y="28"/>
                  </a:lnTo>
                  <a:lnTo>
                    <a:pt x="112" y="28"/>
                  </a:lnTo>
                  <a:lnTo>
                    <a:pt x="104" y="28"/>
                  </a:lnTo>
                  <a:lnTo>
                    <a:pt x="98" y="30"/>
                  </a:lnTo>
                  <a:lnTo>
                    <a:pt x="92" y="30"/>
                  </a:lnTo>
                  <a:lnTo>
                    <a:pt x="86" y="32"/>
                  </a:lnTo>
                  <a:lnTo>
                    <a:pt x="80" y="32"/>
                  </a:lnTo>
                  <a:lnTo>
                    <a:pt x="71" y="32"/>
                  </a:lnTo>
                  <a:lnTo>
                    <a:pt x="64" y="32"/>
                  </a:lnTo>
                  <a:lnTo>
                    <a:pt x="56" y="32"/>
                  </a:lnTo>
                  <a:lnTo>
                    <a:pt x="47" y="32"/>
                  </a:lnTo>
                  <a:lnTo>
                    <a:pt x="41" y="32"/>
                  </a:lnTo>
                  <a:lnTo>
                    <a:pt x="35" y="32"/>
                  </a:lnTo>
                  <a:lnTo>
                    <a:pt x="29" y="32"/>
                  </a:lnTo>
                  <a:lnTo>
                    <a:pt x="21" y="32"/>
                  </a:lnTo>
                  <a:lnTo>
                    <a:pt x="15" y="32"/>
                  </a:lnTo>
                  <a:lnTo>
                    <a:pt x="8" y="32"/>
                  </a:lnTo>
                  <a:lnTo>
                    <a:pt x="0" y="32"/>
                  </a:lnTo>
                </a:path>
              </a:pathLst>
            </a:custGeom>
            <a:noFill/>
            <a:ln w="25400" cap="rnd">
              <a:solidFill>
                <a:schemeClr val="tx1"/>
              </a:solidFill>
              <a:round/>
              <a:headEnd type="none" w="sm" len="sm"/>
              <a:tailEnd type="none" w="sm" len="sm"/>
            </a:ln>
          </p:spPr>
          <p:txBody>
            <a:bodyPr/>
            <a:lstStyle/>
            <a:p>
              <a:endParaRPr lang="ko-KR" altLang="en-US" dirty="0"/>
            </a:p>
          </p:txBody>
        </p:sp>
      </p:grpSp>
      <p:grpSp>
        <p:nvGrpSpPr>
          <p:cNvPr id="63" name="Group 54"/>
          <p:cNvGrpSpPr>
            <a:grpSpLocks/>
          </p:cNvGrpSpPr>
          <p:nvPr/>
        </p:nvGrpSpPr>
        <p:grpSpPr bwMode="auto">
          <a:xfrm>
            <a:off x="6806712" y="5022706"/>
            <a:ext cx="1299796" cy="431800"/>
            <a:chOff x="1731" y="2548"/>
            <a:chExt cx="825" cy="516"/>
          </a:xfrm>
        </p:grpSpPr>
        <p:sp>
          <p:nvSpPr>
            <p:cNvPr id="64"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65"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66"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67"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68"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69" name="그룹 189"/>
          <p:cNvGrpSpPr>
            <a:grpSpLocks/>
          </p:cNvGrpSpPr>
          <p:nvPr/>
        </p:nvGrpSpPr>
        <p:grpSpPr bwMode="auto">
          <a:xfrm>
            <a:off x="6950320" y="4538519"/>
            <a:ext cx="1012580" cy="431800"/>
            <a:chOff x="5780089" y="4016524"/>
            <a:chExt cx="1309687" cy="432000"/>
          </a:xfrm>
        </p:grpSpPr>
        <p:sp>
          <p:nvSpPr>
            <p:cNvPr id="70" name="Freeform 55"/>
            <p:cNvSpPr>
              <a:spLocks/>
            </p:cNvSpPr>
            <p:nvPr/>
          </p:nvSpPr>
          <p:spPr bwMode="auto">
            <a:xfrm>
              <a:off x="6121401" y="4040937"/>
              <a:ext cx="581025" cy="376806"/>
            </a:xfrm>
            <a:custGeom>
              <a:avLst/>
              <a:gdLst>
                <a:gd name="T0" fmla="*/ 2147483647 w 366"/>
                <a:gd name="T1" fmla="*/ 2147483647 h 355"/>
                <a:gd name="T2" fmla="*/ 2147483647 w 366"/>
                <a:gd name="T3" fmla="*/ 2147483647 h 355"/>
                <a:gd name="T4" fmla="*/ 2147483647 w 366"/>
                <a:gd name="T5" fmla="*/ 2147483647 h 355"/>
                <a:gd name="T6" fmla="*/ 2147483647 w 366"/>
                <a:gd name="T7" fmla="*/ 2147483647 h 355"/>
                <a:gd name="T8" fmla="*/ 2147483647 w 366"/>
                <a:gd name="T9" fmla="*/ 2147483647 h 355"/>
                <a:gd name="T10" fmla="*/ 2147483647 w 366"/>
                <a:gd name="T11" fmla="*/ 2147483647 h 355"/>
                <a:gd name="T12" fmla="*/ 2147483647 w 366"/>
                <a:gd name="T13" fmla="*/ 2147483647 h 355"/>
                <a:gd name="T14" fmla="*/ 2147483647 w 366"/>
                <a:gd name="T15" fmla="*/ 2147483647 h 355"/>
                <a:gd name="T16" fmla="*/ 2147483647 w 366"/>
                <a:gd name="T17" fmla="*/ 2147483647 h 355"/>
                <a:gd name="T18" fmla="*/ 2147483647 w 366"/>
                <a:gd name="T19" fmla="*/ 2147483647 h 355"/>
                <a:gd name="T20" fmla="*/ 2147483647 w 366"/>
                <a:gd name="T21" fmla="*/ 2147483647 h 355"/>
                <a:gd name="T22" fmla="*/ 2147483647 w 366"/>
                <a:gd name="T23" fmla="*/ 2147483647 h 355"/>
                <a:gd name="T24" fmla="*/ 2147483647 w 366"/>
                <a:gd name="T25" fmla="*/ 2147483647 h 355"/>
                <a:gd name="T26" fmla="*/ 2147483647 w 366"/>
                <a:gd name="T27" fmla="*/ 2147483647 h 355"/>
                <a:gd name="T28" fmla="*/ 2147483647 w 366"/>
                <a:gd name="T29" fmla="*/ 2147483647 h 355"/>
                <a:gd name="T30" fmla="*/ 2147483647 w 366"/>
                <a:gd name="T31" fmla="*/ 2147483647 h 355"/>
                <a:gd name="T32" fmla="*/ 2147483647 w 366"/>
                <a:gd name="T33" fmla="*/ 2147483647 h 355"/>
                <a:gd name="T34" fmla="*/ 2147483647 w 366"/>
                <a:gd name="T35" fmla="*/ 2147483647 h 355"/>
                <a:gd name="T36" fmla="*/ 2147483647 w 366"/>
                <a:gd name="T37" fmla="*/ 2147483647 h 355"/>
                <a:gd name="T38" fmla="*/ 2147483647 w 366"/>
                <a:gd name="T39" fmla="*/ 2147483647 h 355"/>
                <a:gd name="T40" fmla="*/ 2147483647 w 366"/>
                <a:gd name="T41" fmla="*/ 2147483647 h 355"/>
                <a:gd name="T42" fmla="*/ 2147483647 w 366"/>
                <a:gd name="T43" fmla="*/ 2147483647 h 355"/>
                <a:gd name="T44" fmla="*/ 2147483647 w 366"/>
                <a:gd name="T45" fmla="*/ 2147483647 h 355"/>
                <a:gd name="T46" fmla="*/ 2147483647 w 366"/>
                <a:gd name="T47" fmla="*/ 2147483647 h 355"/>
                <a:gd name="T48" fmla="*/ 2147483647 w 366"/>
                <a:gd name="T49" fmla="*/ 2147483647 h 355"/>
                <a:gd name="T50" fmla="*/ 2147483647 w 366"/>
                <a:gd name="T51" fmla="*/ 2147483647 h 355"/>
                <a:gd name="T52" fmla="*/ 2147483647 w 366"/>
                <a:gd name="T53" fmla="*/ 2147483647 h 355"/>
                <a:gd name="T54" fmla="*/ 2147483647 w 366"/>
                <a:gd name="T55" fmla="*/ 2147483647 h 355"/>
                <a:gd name="T56" fmla="*/ 2147483647 w 366"/>
                <a:gd name="T57" fmla="*/ 2147483647 h 355"/>
                <a:gd name="T58" fmla="*/ 2147483647 w 366"/>
                <a:gd name="T59" fmla="*/ 2147483647 h 355"/>
                <a:gd name="T60" fmla="*/ 2147483647 w 366"/>
                <a:gd name="T61" fmla="*/ 2147483647 h 355"/>
                <a:gd name="T62" fmla="*/ 2147483647 w 366"/>
                <a:gd name="T63" fmla="*/ 2147483647 h 355"/>
                <a:gd name="T64" fmla="*/ 2147483647 w 366"/>
                <a:gd name="T65" fmla="*/ 2147483647 h 355"/>
                <a:gd name="T66" fmla="*/ 2147483647 w 366"/>
                <a:gd name="T67" fmla="*/ 2147483647 h 355"/>
                <a:gd name="T68" fmla="*/ 2147483647 w 366"/>
                <a:gd name="T69" fmla="*/ 2147483647 h 355"/>
                <a:gd name="T70" fmla="*/ 2147483647 w 366"/>
                <a:gd name="T71" fmla="*/ 2147483647 h 355"/>
                <a:gd name="T72" fmla="*/ 2147483647 w 366"/>
                <a:gd name="T73" fmla="*/ 2147483647 h 355"/>
                <a:gd name="T74" fmla="*/ 2147483647 w 366"/>
                <a:gd name="T75" fmla="*/ 2147483647 h 355"/>
                <a:gd name="T76" fmla="*/ 2147483647 w 366"/>
                <a:gd name="T77" fmla="*/ 2147483647 h 355"/>
                <a:gd name="T78" fmla="*/ 2147483647 w 366"/>
                <a:gd name="T79" fmla="*/ 2147483647 h 355"/>
                <a:gd name="T80" fmla="*/ 2147483647 w 366"/>
                <a:gd name="T81" fmla="*/ 2147483647 h 355"/>
                <a:gd name="T82" fmla="*/ 2147483647 w 366"/>
                <a:gd name="T83" fmla="*/ 2147483647 h 355"/>
                <a:gd name="T84" fmla="*/ 2147483647 w 366"/>
                <a:gd name="T85" fmla="*/ 2147483647 h 355"/>
                <a:gd name="T86" fmla="*/ 2147483647 w 366"/>
                <a:gd name="T87" fmla="*/ 2147483647 h 355"/>
                <a:gd name="T88" fmla="*/ 2147483647 w 366"/>
                <a:gd name="T89" fmla="*/ 2147483647 h 355"/>
                <a:gd name="T90" fmla="*/ 2147483647 w 366"/>
                <a:gd name="T91" fmla="*/ 2147483647 h 355"/>
                <a:gd name="T92" fmla="*/ 2147483647 w 366"/>
                <a:gd name="T93" fmla="*/ 2147483647 h 355"/>
                <a:gd name="T94" fmla="*/ 2147483647 w 366"/>
                <a:gd name="T95" fmla="*/ 2147483647 h 3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55"/>
                <a:gd name="T146" fmla="*/ 366 w 366"/>
                <a:gd name="T147" fmla="*/ 355 h 3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55">
                  <a:moveTo>
                    <a:pt x="0" y="354"/>
                  </a:moveTo>
                  <a:lnTo>
                    <a:pt x="3" y="354"/>
                  </a:lnTo>
                  <a:lnTo>
                    <a:pt x="6" y="352"/>
                  </a:lnTo>
                  <a:lnTo>
                    <a:pt x="9" y="351"/>
                  </a:lnTo>
                  <a:lnTo>
                    <a:pt x="12" y="349"/>
                  </a:lnTo>
                  <a:lnTo>
                    <a:pt x="16" y="348"/>
                  </a:lnTo>
                  <a:lnTo>
                    <a:pt x="19" y="348"/>
                  </a:lnTo>
                  <a:lnTo>
                    <a:pt x="22" y="348"/>
                  </a:lnTo>
                  <a:lnTo>
                    <a:pt x="26" y="346"/>
                  </a:lnTo>
                  <a:lnTo>
                    <a:pt x="29" y="344"/>
                  </a:lnTo>
                  <a:lnTo>
                    <a:pt x="33" y="341"/>
                  </a:lnTo>
                  <a:lnTo>
                    <a:pt x="36" y="339"/>
                  </a:lnTo>
                  <a:lnTo>
                    <a:pt x="39" y="335"/>
                  </a:lnTo>
                  <a:lnTo>
                    <a:pt x="42" y="332"/>
                  </a:lnTo>
                  <a:lnTo>
                    <a:pt x="45" y="331"/>
                  </a:lnTo>
                  <a:lnTo>
                    <a:pt x="48" y="327"/>
                  </a:lnTo>
                  <a:lnTo>
                    <a:pt x="51" y="325"/>
                  </a:lnTo>
                  <a:lnTo>
                    <a:pt x="54" y="324"/>
                  </a:lnTo>
                  <a:lnTo>
                    <a:pt x="57" y="321"/>
                  </a:lnTo>
                  <a:lnTo>
                    <a:pt x="60" y="318"/>
                  </a:lnTo>
                  <a:lnTo>
                    <a:pt x="63" y="314"/>
                  </a:lnTo>
                  <a:lnTo>
                    <a:pt x="65" y="309"/>
                  </a:lnTo>
                  <a:lnTo>
                    <a:pt x="68" y="306"/>
                  </a:lnTo>
                  <a:lnTo>
                    <a:pt x="69" y="302"/>
                  </a:lnTo>
                  <a:lnTo>
                    <a:pt x="70" y="298"/>
                  </a:lnTo>
                  <a:lnTo>
                    <a:pt x="72" y="294"/>
                  </a:lnTo>
                  <a:lnTo>
                    <a:pt x="75" y="289"/>
                  </a:lnTo>
                  <a:lnTo>
                    <a:pt x="77" y="285"/>
                  </a:lnTo>
                  <a:lnTo>
                    <a:pt x="79" y="281"/>
                  </a:lnTo>
                  <a:lnTo>
                    <a:pt x="81" y="276"/>
                  </a:lnTo>
                  <a:lnTo>
                    <a:pt x="84" y="273"/>
                  </a:lnTo>
                  <a:lnTo>
                    <a:pt x="87" y="270"/>
                  </a:lnTo>
                  <a:lnTo>
                    <a:pt x="87" y="265"/>
                  </a:lnTo>
                  <a:lnTo>
                    <a:pt x="89" y="261"/>
                  </a:lnTo>
                  <a:lnTo>
                    <a:pt x="91" y="257"/>
                  </a:lnTo>
                  <a:lnTo>
                    <a:pt x="93" y="252"/>
                  </a:lnTo>
                  <a:lnTo>
                    <a:pt x="94" y="248"/>
                  </a:lnTo>
                  <a:lnTo>
                    <a:pt x="96" y="243"/>
                  </a:lnTo>
                  <a:lnTo>
                    <a:pt x="96" y="240"/>
                  </a:lnTo>
                  <a:lnTo>
                    <a:pt x="96" y="235"/>
                  </a:lnTo>
                  <a:lnTo>
                    <a:pt x="99" y="232"/>
                  </a:lnTo>
                  <a:lnTo>
                    <a:pt x="99" y="228"/>
                  </a:lnTo>
                  <a:lnTo>
                    <a:pt x="102" y="224"/>
                  </a:lnTo>
                  <a:lnTo>
                    <a:pt x="104" y="219"/>
                  </a:lnTo>
                  <a:lnTo>
                    <a:pt x="104" y="215"/>
                  </a:lnTo>
                  <a:lnTo>
                    <a:pt x="106" y="211"/>
                  </a:lnTo>
                  <a:lnTo>
                    <a:pt x="106" y="207"/>
                  </a:lnTo>
                  <a:lnTo>
                    <a:pt x="110" y="204"/>
                  </a:lnTo>
                  <a:lnTo>
                    <a:pt x="108" y="199"/>
                  </a:lnTo>
                  <a:lnTo>
                    <a:pt x="108" y="195"/>
                  </a:lnTo>
                  <a:lnTo>
                    <a:pt x="110" y="191"/>
                  </a:lnTo>
                  <a:lnTo>
                    <a:pt x="111" y="186"/>
                  </a:lnTo>
                  <a:lnTo>
                    <a:pt x="111" y="183"/>
                  </a:lnTo>
                  <a:lnTo>
                    <a:pt x="113" y="178"/>
                  </a:lnTo>
                  <a:lnTo>
                    <a:pt x="115" y="174"/>
                  </a:lnTo>
                  <a:lnTo>
                    <a:pt x="116" y="169"/>
                  </a:lnTo>
                  <a:lnTo>
                    <a:pt x="117" y="165"/>
                  </a:lnTo>
                  <a:lnTo>
                    <a:pt x="120" y="161"/>
                  </a:lnTo>
                  <a:lnTo>
                    <a:pt x="120" y="156"/>
                  </a:lnTo>
                  <a:lnTo>
                    <a:pt x="121" y="153"/>
                  </a:lnTo>
                  <a:lnTo>
                    <a:pt x="121" y="148"/>
                  </a:lnTo>
                  <a:lnTo>
                    <a:pt x="123" y="144"/>
                  </a:lnTo>
                  <a:lnTo>
                    <a:pt x="125" y="140"/>
                  </a:lnTo>
                  <a:lnTo>
                    <a:pt x="126" y="135"/>
                  </a:lnTo>
                  <a:lnTo>
                    <a:pt x="127" y="131"/>
                  </a:lnTo>
                  <a:lnTo>
                    <a:pt x="128" y="126"/>
                  </a:lnTo>
                  <a:lnTo>
                    <a:pt x="130" y="123"/>
                  </a:lnTo>
                  <a:lnTo>
                    <a:pt x="129" y="118"/>
                  </a:lnTo>
                  <a:lnTo>
                    <a:pt x="130" y="114"/>
                  </a:lnTo>
                  <a:lnTo>
                    <a:pt x="132" y="110"/>
                  </a:lnTo>
                  <a:lnTo>
                    <a:pt x="135" y="105"/>
                  </a:lnTo>
                  <a:lnTo>
                    <a:pt x="135" y="101"/>
                  </a:lnTo>
                  <a:lnTo>
                    <a:pt x="137" y="96"/>
                  </a:lnTo>
                  <a:lnTo>
                    <a:pt x="138" y="93"/>
                  </a:lnTo>
                  <a:lnTo>
                    <a:pt x="139" y="88"/>
                  </a:lnTo>
                  <a:lnTo>
                    <a:pt x="140" y="84"/>
                  </a:lnTo>
                  <a:lnTo>
                    <a:pt x="141" y="80"/>
                  </a:lnTo>
                  <a:lnTo>
                    <a:pt x="143" y="75"/>
                  </a:lnTo>
                  <a:lnTo>
                    <a:pt x="143" y="71"/>
                  </a:lnTo>
                  <a:lnTo>
                    <a:pt x="145" y="66"/>
                  </a:lnTo>
                  <a:lnTo>
                    <a:pt x="145" y="63"/>
                  </a:lnTo>
                  <a:lnTo>
                    <a:pt x="147" y="58"/>
                  </a:lnTo>
                  <a:lnTo>
                    <a:pt x="149" y="54"/>
                  </a:lnTo>
                  <a:lnTo>
                    <a:pt x="151" y="50"/>
                  </a:lnTo>
                  <a:lnTo>
                    <a:pt x="152" y="45"/>
                  </a:lnTo>
                  <a:lnTo>
                    <a:pt x="154" y="41"/>
                  </a:lnTo>
                  <a:lnTo>
                    <a:pt x="155" y="36"/>
                  </a:lnTo>
                  <a:lnTo>
                    <a:pt x="156" y="33"/>
                  </a:lnTo>
                  <a:lnTo>
                    <a:pt x="159" y="28"/>
                  </a:lnTo>
                  <a:lnTo>
                    <a:pt x="161" y="24"/>
                  </a:lnTo>
                  <a:lnTo>
                    <a:pt x="163" y="20"/>
                  </a:lnTo>
                  <a:lnTo>
                    <a:pt x="165" y="15"/>
                  </a:lnTo>
                  <a:lnTo>
                    <a:pt x="168" y="12"/>
                  </a:lnTo>
                  <a:lnTo>
                    <a:pt x="171" y="8"/>
                  </a:lnTo>
                  <a:lnTo>
                    <a:pt x="174" y="4"/>
                  </a:lnTo>
                  <a:lnTo>
                    <a:pt x="177" y="1"/>
                  </a:lnTo>
                  <a:lnTo>
                    <a:pt x="180" y="1"/>
                  </a:lnTo>
                  <a:lnTo>
                    <a:pt x="184" y="0"/>
                  </a:lnTo>
                  <a:lnTo>
                    <a:pt x="187" y="0"/>
                  </a:lnTo>
                  <a:lnTo>
                    <a:pt x="190" y="1"/>
                  </a:lnTo>
                  <a:lnTo>
                    <a:pt x="193" y="6"/>
                  </a:lnTo>
                  <a:lnTo>
                    <a:pt x="198" y="8"/>
                  </a:lnTo>
                  <a:lnTo>
                    <a:pt x="200" y="12"/>
                  </a:lnTo>
                  <a:lnTo>
                    <a:pt x="202" y="17"/>
                  </a:lnTo>
                  <a:lnTo>
                    <a:pt x="205" y="21"/>
                  </a:lnTo>
                  <a:lnTo>
                    <a:pt x="208" y="25"/>
                  </a:lnTo>
                  <a:lnTo>
                    <a:pt x="210" y="30"/>
                  </a:lnTo>
                  <a:lnTo>
                    <a:pt x="212" y="34"/>
                  </a:lnTo>
                  <a:lnTo>
                    <a:pt x="213" y="38"/>
                  </a:lnTo>
                  <a:lnTo>
                    <a:pt x="215" y="42"/>
                  </a:lnTo>
                  <a:lnTo>
                    <a:pt x="217" y="47"/>
                  </a:lnTo>
                  <a:lnTo>
                    <a:pt x="217" y="51"/>
                  </a:lnTo>
                  <a:lnTo>
                    <a:pt x="217" y="55"/>
                  </a:lnTo>
                  <a:lnTo>
                    <a:pt x="219" y="60"/>
                  </a:lnTo>
                  <a:lnTo>
                    <a:pt x="220" y="64"/>
                  </a:lnTo>
                  <a:lnTo>
                    <a:pt x="222" y="68"/>
                  </a:lnTo>
                  <a:lnTo>
                    <a:pt x="222" y="72"/>
                  </a:lnTo>
                  <a:lnTo>
                    <a:pt x="224" y="77"/>
                  </a:lnTo>
                  <a:lnTo>
                    <a:pt x="225" y="81"/>
                  </a:lnTo>
                  <a:lnTo>
                    <a:pt x="226" y="85"/>
                  </a:lnTo>
                  <a:lnTo>
                    <a:pt x="227" y="90"/>
                  </a:lnTo>
                  <a:lnTo>
                    <a:pt x="229" y="94"/>
                  </a:lnTo>
                  <a:lnTo>
                    <a:pt x="231" y="98"/>
                  </a:lnTo>
                  <a:lnTo>
                    <a:pt x="231" y="102"/>
                  </a:lnTo>
                  <a:lnTo>
                    <a:pt x="232" y="107"/>
                  </a:lnTo>
                  <a:lnTo>
                    <a:pt x="234" y="111"/>
                  </a:lnTo>
                  <a:lnTo>
                    <a:pt x="235" y="115"/>
                  </a:lnTo>
                  <a:lnTo>
                    <a:pt x="237" y="120"/>
                  </a:lnTo>
                  <a:lnTo>
                    <a:pt x="238" y="124"/>
                  </a:lnTo>
                  <a:lnTo>
                    <a:pt x="239" y="128"/>
                  </a:lnTo>
                  <a:lnTo>
                    <a:pt x="241" y="132"/>
                  </a:lnTo>
                  <a:lnTo>
                    <a:pt x="241" y="137"/>
                  </a:lnTo>
                  <a:lnTo>
                    <a:pt x="243" y="141"/>
                  </a:lnTo>
                  <a:lnTo>
                    <a:pt x="244" y="145"/>
                  </a:lnTo>
                  <a:lnTo>
                    <a:pt x="244" y="150"/>
                  </a:lnTo>
                  <a:lnTo>
                    <a:pt x="248" y="154"/>
                  </a:lnTo>
                  <a:lnTo>
                    <a:pt x="249" y="158"/>
                  </a:lnTo>
                  <a:lnTo>
                    <a:pt x="250" y="162"/>
                  </a:lnTo>
                  <a:lnTo>
                    <a:pt x="251" y="167"/>
                  </a:lnTo>
                  <a:lnTo>
                    <a:pt x="253" y="171"/>
                  </a:lnTo>
                  <a:lnTo>
                    <a:pt x="253" y="175"/>
                  </a:lnTo>
                  <a:lnTo>
                    <a:pt x="253" y="180"/>
                  </a:lnTo>
                  <a:lnTo>
                    <a:pt x="254" y="184"/>
                  </a:lnTo>
                  <a:lnTo>
                    <a:pt x="256" y="188"/>
                  </a:lnTo>
                  <a:lnTo>
                    <a:pt x="256" y="192"/>
                  </a:lnTo>
                  <a:lnTo>
                    <a:pt x="258" y="197"/>
                  </a:lnTo>
                  <a:lnTo>
                    <a:pt x="258" y="201"/>
                  </a:lnTo>
                  <a:lnTo>
                    <a:pt x="260" y="205"/>
                  </a:lnTo>
                  <a:lnTo>
                    <a:pt x="261" y="210"/>
                  </a:lnTo>
                  <a:lnTo>
                    <a:pt x="262" y="213"/>
                  </a:lnTo>
                  <a:lnTo>
                    <a:pt x="263" y="218"/>
                  </a:lnTo>
                  <a:lnTo>
                    <a:pt x="265" y="222"/>
                  </a:lnTo>
                  <a:lnTo>
                    <a:pt x="266" y="227"/>
                  </a:lnTo>
                  <a:lnTo>
                    <a:pt x="268" y="231"/>
                  </a:lnTo>
                  <a:lnTo>
                    <a:pt x="270" y="235"/>
                  </a:lnTo>
                  <a:lnTo>
                    <a:pt x="271" y="240"/>
                  </a:lnTo>
                  <a:lnTo>
                    <a:pt x="272" y="243"/>
                  </a:lnTo>
                  <a:lnTo>
                    <a:pt x="274" y="248"/>
                  </a:lnTo>
                  <a:lnTo>
                    <a:pt x="275" y="252"/>
                  </a:lnTo>
                  <a:lnTo>
                    <a:pt x="277" y="257"/>
                  </a:lnTo>
                  <a:lnTo>
                    <a:pt x="280" y="261"/>
                  </a:lnTo>
                  <a:lnTo>
                    <a:pt x="280" y="265"/>
                  </a:lnTo>
                  <a:lnTo>
                    <a:pt x="283" y="270"/>
                  </a:lnTo>
                  <a:lnTo>
                    <a:pt x="284" y="273"/>
                  </a:lnTo>
                  <a:lnTo>
                    <a:pt x="285" y="278"/>
                  </a:lnTo>
                  <a:lnTo>
                    <a:pt x="287" y="282"/>
                  </a:lnTo>
                  <a:lnTo>
                    <a:pt x="288" y="287"/>
                  </a:lnTo>
                  <a:lnTo>
                    <a:pt x="290" y="291"/>
                  </a:lnTo>
                  <a:lnTo>
                    <a:pt x="294" y="294"/>
                  </a:lnTo>
                  <a:lnTo>
                    <a:pt x="295" y="298"/>
                  </a:lnTo>
                  <a:lnTo>
                    <a:pt x="298" y="302"/>
                  </a:lnTo>
                  <a:lnTo>
                    <a:pt x="300" y="306"/>
                  </a:lnTo>
                  <a:lnTo>
                    <a:pt x="302" y="311"/>
                  </a:lnTo>
                  <a:lnTo>
                    <a:pt x="304" y="315"/>
                  </a:lnTo>
                  <a:lnTo>
                    <a:pt x="308" y="319"/>
                  </a:lnTo>
                  <a:lnTo>
                    <a:pt x="311" y="324"/>
                  </a:lnTo>
                  <a:lnTo>
                    <a:pt x="314" y="325"/>
                  </a:lnTo>
                  <a:lnTo>
                    <a:pt x="318" y="327"/>
                  </a:lnTo>
                  <a:lnTo>
                    <a:pt x="321" y="331"/>
                  </a:lnTo>
                  <a:lnTo>
                    <a:pt x="324" y="333"/>
                  </a:lnTo>
                  <a:lnTo>
                    <a:pt x="326" y="338"/>
                  </a:lnTo>
                  <a:lnTo>
                    <a:pt x="330" y="339"/>
                  </a:lnTo>
                  <a:lnTo>
                    <a:pt x="333" y="341"/>
                  </a:lnTo>
                  <a:lnTo>
                    <a:pt x="336" y="342"/>
                  </a:lnTo>
                  <a:lnTo>
                    <a:pt x="340" y="344"/>
                  </a:lnTo>
                  <a:lnTo>
                    <a:pt x="343" y="346"/>
                  </a:lnTo>
                  <a:lnTo>
                    <a:pt x="346" y="348"/>
                  </a:lnTo>
                  <a:lnTo>
                    <a:pt x="349" y="349"/>
                  </a:lnTo>
                  <a:lnTo>
                    <a:pt x="352" y="351"/>
                  </a:lnTo>
                  <a:lnTo>
                    <a:pt x="355" y="351"/>
                  </a:lnTo>
                  <a:lnTo>
                    <a:pt x="359" y="351"/>
                  </a:lnTo>
                  <a:lnTo>
                    <a:pt x="362" y="352"/>
                  </a:lnTo>
                  <a:lnTo>
                    <a:pt x="365" y="351"/>
                  </a:lnTo>
                </a:path>
              </a:pathLst>
            </a:custGeom>
            <a:noFill/>
            <a:ln w="12700" cap="rnd">
              <a:solidFill>
                <a:schemeClr val="tx1"/>
              </a:solidFill>
              <a:round/>
              <a:headEnd type="none" w="sm" len="sm"/>
              <a:tailEnd type="none" w="sm" len="sm"/>
            </a:ln>
          </p:spPr>
          <p:txBody>
            <a:bodyPr/>
            <a:lstStyle/>
            <a:p>
              <a:endParaRPr lang="ko-KR" altLang="en-US" dirty="0"/>
            </a:p>
          </p:txBody>
        </p:sp>
        <p:sp>
          <p:nvSpPr>
            <p:cNvPr id="71" name="Line 56"/>
            <p:cNvSpPr>
              <a:spLocks noChangeShapeType="1"/>
            </p:cNvSpPr>
            <p:nvPr/>
          </p:nvSpPr>
          <p:spPr bwMode="auto">
            <a:xfrm>
              <a:off x="6415089" y="4016524"/>
              <a:ext cx="0" cy="422447"/>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2" name="Line 57"/>
            <p:cNvSpPr>
              <a:spLocks noChangeShapeType="1"/>
            </p:cNvSpPr>
            <p:nvPr/>
          </p:nvSpPr>
          <p:spPr bwMode="auto">
            <a:xfrm>
              <a:off x="5780089" y="4448524"/>
              <a:ext cx="1309687"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3" name="Freeform 58"/>
            <p:cNvSpPr>
              <a:spLocks/>
            </p:cNvSpPr>
            <p:nvPr/>
          </p:nvSpPr>
          <p:spPr bwMode="auto">
            <a:xfrm>
              <a:off x="6697664" y="4411374"/>
              <a:ext cx="282575" cy="25474"/>
            </a:xfrm>
            <a:custGeom>
              <a:avLst/>
              <a:gdLst>
                <a:gd name="T0" fmla="*/ 0 w 178"/>
                <a:gd name="T1" fmla="*/ 0 h 24"/>
                <a:gd name="T2" fmla="*/ 0 w 178"/>
                <a:gd name="T3" fmla="*/ 0 h 24"/>
                <a:gd name="T4" fmla="*/ 0 w 178"/>
                <a:gd name="T5" fmla="*/ 2147483647 h 24"/>
                <a:gd name="T6" fmla="*/ 2147483647 w 178"/>
                <a:gd name="T7" fmla="*/ 2147483647 h 24"/>
                <a:gd name="T8" fmla="*/ 2147483647 w 178"/>
                <a:gd name="T9" fmla="*/ 2147483647 h 24"/>
                <a:gd name="T10" fmla="*/ 2147483647 w 178"/>
                <a:gd name="T11" fmla="*/ 2147483647 h 24"/>
                <a:gd name="T12" fmla="*/ 2147483647 w 178"/>
                <a:gd name="T13" fmla="*/ 2147483647 h 24"/>
                <a:gd name="T14" fmla="*/ 2147483647 w 178"/>
                <a:gd name="T15" fmla="*/ 2147483647 h 24"/>
                <a:gd name="T16" fmla="*/ 2147483647 w 178"/>
                <a:gd name="T17" fmla="*/ 2147483647 h 24"/>
                <a:gd name="T18" fmla="*/ 2147483647 w 178"/>
                <a:gd name="T19" fmla="*/ 2147483647 h 24"/>
                <a:gd name="T20" fmla="*/ 2147483647 w 178"/>
                <a:gd name="T21" fmla="*/ 2147483647 h 24"/>
                <a:gd name="T22" fmla="*/ 2147483647 w 178"/>
                <a:gd name="T23" fmla="*/ 2147483647 h 24"/>
                <a:gd name="T24" fmla="*/ 2147483647 w 178"/>
                <a:gd name="T25" fmla="*/ 2147483647 h 24"/>
                <a:gd name="T26" fmla="*/ 2147483647 w 178"/>
                <a:gd name="T27" fmla="*/ 2147483647 h 24"/>
                <a:gd name="T28" fmla="*/ 2147483647 w 178"/>
                <a:gd name="T29" fmla="*/ 2147483647 h 24"/>
                <a:gd name="T30" fmla="*/ 2147483647 w 178"/>
                <a:gd name="T31" fmla="*/ 2147483647 h 24"/>
                <a:gd name="T32" fmla="*/ 2147483647 w 178"/>
                <a:gd name="T33" fmla="*/ 2147483647 h 24"/>
                <a:gd name="T34" fmla="*/ 2147483647 w 178"/>
                <a:gd name="T35" fmla="*/ 2147483647 h 24"/>
                <a:gd name="T36" fmla="*/ 2147483647 w 178"/>
                <a:gd name="T37" fmla="*/ 2147483647 h 24"/>
                <a:gd name="T38" fmla="*/ 2147483647 w 178"/>
                <a:gd name="T39" fmla="*/ 2147483647 h 24"/>
                <a:gd name="T40" fmla="*/ 2147483647 w 178"/>
                <a:gd name="T41" fmla="*/ 2147483647 h 24"/>
                <a:gd name="T42" fmla="*/ 2147483647 w 178"/>
                <a:gd name="T43" fmla="*/ 2147483647 h 24"/>
                <a:gd name="T44" fmla="*/ 2147483647 w 178"/>
                <a:gd name="T45" fmla="*/ 2147483647 h 24"/>
                <a:gd name="T46" fmla="*/ 2147483647 w 178"/>
                <a:gd name="T47" fmla="*/ 2147483647 h 24"/>
                <a:gd name="T48" fmla="*/ 2147483647 w 178"/>
                <a:gd name="T49" fmla="*/ 2147483647 h 24"/>
                <a:gd name="T50" fmla="*/ 2147483647 w 178"/>
                <a:gd name="T51" fmla="*/ 2147483647 h 24"/>
                <a:gd name="T52" fmla="*/ 2147483647 w 178"/>
                <a:gd name="T53" fmla="*/ 2147483647 h 24"/>
                <a:gd name="T54" fmla="*/ 2147483647 w 178"/>
                <a:gd name="T55" fmla="*/ 2147483647 h 24"/>
                <a:gd name="T56" fmla="*/ 2147483647 w 178"/>
                <a:gd name="T57" fmla="*/ 2147483647 h 24"/>
                <a:gd name="T58" fmla="*/ 2147483647 w 178"/>
                <a:gd name="T59" fmla="*/ 2147483647 h 24"/>
                <a:gd name="T60" fmla="*/ 2147483647 w 178"/>
                <a:gd name="T61" fmla="*/ 2147483647 h 24"/>
                <a:gd name="T62" fmla="*/ 2147483647 w 178"/>
                <a:gd name="T63" fmla="*/ 2147483647 h 24"/>
                <a:gd name="T64" fmla="*/ 2147483647 w 178"/>
                <a:gd name="T65" fmla="*/ 2147483647 h 24"/>
                <a:gd name="T66" fmla="*/ 2147483647 w 178"/>
                <a:gd name="T67" fmla="*/ 2147483647 h 24"/>
                <a:gd name="T68" fmla="*/ 2147483647 w 178"/>
                <a:gd name="T69" fmla="*/ 2147483647 h 24"/>
                <a:gd name="T70" fmla="*/ 2147483647 w 178"/>
                <a:gd name="T71" fmla="*/ 2147483647 h 24"/>
                <a:gd name="T72" fmla="*/ 2147483647 w 178"/>
                <a:gd name="T73" fmla="*/ 2147483647 h 24"/>
                <a:gd name="T74" fmla="*/ 2147483647 w 178"/>
                <a:gd name="T75" fmla="*/ 2147483647 h 24"/>
                <a:gd name="T76" fmla="*/ 2147483647 w 178"/>
                <a:gd name="T77" fmla="*/ 2147483647 h 24"/>
                <a:gd name="T78" fmla="*/ 2147483647 w 178"/>
                <a:gd name="T79" fmla="*/ 2147483647 h 24"/>
                <a:gd name="T80" fmla="*/ 2147483647 w 178"/>
                <a:gd name="T81" fmla="*/ 2147483647 h 24"/>
                <a:gd name="T82" fmla="*/ 2147483647 w 178"/>
                <a:gd name="T83" fmla="*/ 2147483647 h 24"/>
                <a:gd name="T84" fmla="*/ 2147483647 w 178"/>
                <a:gd name="T85" fmla="*/ 2147483647 h 24"/>
                <a:gd name="T86" fmla="*/ 2147483647 w 178"/>
                <a:gd name="T87" fmla="*/ 2147483647 h 24"/>
                <a:gd name="T88" fmla="*/ 2147483647 w 178"/>
                <a:gd name="T89" fmla="*/ 2147483647 h 24"/>
                <a:gd name="T90" fmla="*/ 2147483647 w 178"/>
                <a:gd name="T91" fmla="*/ 2147483647 h 24"/>
                <a:gd name="T92" fmla="*/ 2147483647 w 178"/>
                <a:gd name="T93" fmla="*/ 2147483647 h 24"/>
                <a:gd name="T94" fmla="*/ 2147483647 w 178"/>
                <a:gd name="T95" fmla="*/ 2147483647 h 24"/>
                <a:gd name="T96" fmla="*/ 2147483647 w 178"/>
                <a:gd name="T97" fmla="*/ 2147483647 h 24"/>
                <a:gd name="T98" fmla="*/ 2147483647 w 178"/>
                <a:gd name="T99" fmla="*/ 2147483647 h 24"/>
                <a:gd name="T100" fmla="*/ 2147483647 w 178"/>
                <a:gd name="T101" fmla="*/ 2147483647 h 24"/>
                <a:gd name="T102" fmla="*/ 2147483647 w 178"/>
                <a:gd name="T103" fmla="*/ 2147483647 h 24"/>
                <a:gd name="T104" fmla="*/ 2147483647 w 178"/>
                <a:gd name="T105" fmla="*/ 2147483647 h 24"/>
                <a:gd name="T106" fmla="*/ 2147483647 w 178"/>
                <a:gd name="T107" fmla="*/ 2147483647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0" y="0"/>
                  </a:moveTo>
                  <a:lnTo>
                    <a:pt x="0" y="0"/>
                  </a:lnTo>
                  <a:lnTo>
                    <a:pt x="0" y="2"/>
                  </a:lnTo>
                  <a:lnTo>
                    <a:pt x="3" y="5"/>
                  </a:lnTo>
                  <a:lnTo>
                    <a:pt x="5" y="7"/>
                  </a:lnTo>
                  <a:lnTo>
                    <a:pt x="8" y="7"/>
                  </a:lnTo>
                  <a:lnTo>
                    <a:pt x="11" y="10"/>
                  </a:lnTo>
                  <a:lnTo>
                    <a:pt x="15" y="11"/>
                  </a:lnTo>
                  <a:lnTo>
                    <a:pt x="19" y="11"/>
                  </a:lnTo>
                  <a:lnTo>
                    <a:pt x="23" y="12"/>
                  </a:lnTo>
                  <a:lnTo>
                    <a:pt x="26" y="12"/>
                  </a:lnTo>
                  <a:lnTo>
                    <a:pt x="29" y="13"/>
                  </a:lnTo>
                  <a:lnTo>
                    <a:pt x="32" y="14"/>
                  </a:lnTo>
                  <a:lnTo>
                    <a:pt x="35" y="14"/>
                  </a:lnTo>
                  <a:lnTo>
                    <a:pt x="38" y="16"/>
                  </a:lnTo>
                  <a:lnTo>
                    <a:pt x="42" y="15"/>
                  </a:lnTo>
                  <a:lnTo>
                    <a:pt x="46" y="15"/>
                  </a:lnTo>
                  <a:lnTo>
                    <a:pt x="50" y="16"/>
                  </a:lnTo>
                  <a:lnTo>
                    <a:pt x="53" y="16"/>
                  </a:lnTo>
                  <a:lnTo>
                    <a:pt x="57" y="17"/>
                  </a:lnTo>
                  <a:lnTo>
                    <a:pt x="61" y="19"/>
                  </a:lnTo>
                  <a:lnTo>
                    <a:pt x="65" y="19"/>
                  </a:lnTo>
                  <a:lnTo>
                    <a:pt x="69" y="19"/>
                  </a:lnTo>
                  <a:lnTo>
                    <a:pt x="73" y="19"/>
                  </a:lnTo>
                  <a:lnTo>
                    <a:pt x="76" y="19"/>
                  </a:lnTo>
                  <a:lnTo>
                    <a:pt x="80" y="19"/>
                  </a:lnTo>
                  <a:lnTo>
                    <a:pt x="84" y="19"/>
                  </a:lnTo>
                  <a:lnTo>
                    <a:pt x="88" y="19"/>
                  </a:lnTo>
                  <a:lnTo>
                    <a:pt x="92" y="19"/>
                  </a:lnTo>
                  <a:lnTo>
                    <a:pt x="96" y="19"/>
                  </a:lnTo>
                  <a:lnTo>
                    <a:pt x="100" y="19"/>
                  </a:lnTo>
                  <a:lnTo>
                    <a:pt x="103" y="20"/>
                  </a:lnTo>
                  <a:lnTo>
                    <a:pt x="105" y="20"/>
                  </a:lnTo>
                  <a:lnTo>
                    <a:pt x="107" y="20"/>
                  </a:lnTo>
                  <a:lnTo>
                    <a:pt x="111" y="20"/>
                  </a:lnTo>
                  <a:lnTo>
                    <a:pt x="115" y="20"/>
                  </a:lnTo>
                  <a:lnTo>
                    <a:pt x="119" y="20"/>
                  </a:lnTo>
                  <a:lnTo>
                    <a:pt x="123" y="20"/>
                  </a:lnTo>
                  <a:lnTo>
                    <a:pt x="126" y="20"/>
                  </a:lnTo>
                  <a:lnTo>
                    <a:pt x="129" y="21"/>
                  </a:lnTo>
                  <a:lnTo>
                    <a:pt x="132" y="21"/>
                  </a:lnTo>
                  <a:lnTo>
                    <a:pt x="135" y="23"/>
                  </a:lnTo>
                  <a:lnTo>
                    <a:pt x="138" y="23"/>
                  </a:lnTo>
                  <a:lnTo>
                    <a:pt x="142" y="23"/>
                  </a:lnTo>
                  <a:lnTo>
                    <a:pt x="146" y="23"/>
                  </a:lnTo>
                  <a:lnTo>
                    <a:pt x="150" y="23"/>
                  </a:lnTo>
                  <a:lnTo>
                    <a:pt x="153" y="23"/>
                  </a:lnTo>
                  <a:lnTo>
                    <a:pt x="156" y="23"/>
                  </a:lnTo>
                  <a:lnTo>
                    <a:pt x="159" y="23"/>
                  </a:lnTo>
                  <a:lnTo>
                    <a:pt x="162" y="23"/>
                  </a:lnTo>
                  <a:lnTo>
                    <a:pt x="166" y="23"/>
                  </a:lnTo>
                  <a:lnTo>
                    <a:pt x="169" y="23"/>
                  </a:lnTo>
                  <a:lnTo>
                    <a:pt x="173" y="23"/>
                  </a:lnTo>
                  <a:lnTo>
                    <a:pt x="177" y="23"/>
                  </a:lnTo>
                </a:path>
              </a:pathLst>
            </a:custGeom>
            <a:noFill/>
            <a:ln w="12700" cap="rnd">
              <a:solidFill>
                <a:schemeClr val="tx1"/>
              </a:solidFill>
              <a:round/>
              <a:headEnd type="none" w="sm" len="sm"/>
              <a:tailEnd type="none" w="sm" len="sm"/>
            </a:ln>
          </p:spPr>
          <p:txBody>
            <a:bodyPr/>
            <a:lstStyle/>
            <a:p>
              <a:endParaRPr lang="ko-KR" altLang="en-US" dirty="0"/>
            </a:p>
          </p:txBody>
        </p:sp>
        <p:sp>
          <p:nvSpPr>
            <p:cNvPr id="74" name="Freeform 59"/>
            <p:cNvSpPr>
              <a:spLocks/>
            </p:cNvSpPr>
            <p:nvPr/>
          </p:nvSpPr>
          <p:spPr bwMode="auto">
            <a:xfrm>
              <a:off x="5838826" y="4411374"/>
              <a:ext cx="282575" cy="25474"/>
            </a:xfrm>
            <a:custGeom>
              <a:avLst/>
              <a:gdLst>
                <a:gd name="T0" fmla="*/ 2147483647 w 178"/>
                <a:gd name="T1" fmla="*/ 0 h 24"/>
                <a:gd name="T2" fmla="*/ 2147483647 w 178"/>
                <a:gd name="T3" fmla="*/ 0 h 24"/>
                <a:gd name="T4" fmla="*/ 2147483647 w 178"/>
                <a:gd name="T5" fmla="*/ 2147483647 h 24"/>
                <a:gd name="T6" fmla="*/ 2147483647 w 178"/>
                <a:gd name="T7" fmla="*/ 2147483647 h 24"/>
                <a:gd name="T8" fmla="*/ 2147483647 w 178"/>
                <a:gd name="T9" fmla="*/ 2147483647 h 24"/>
                <a:gd name="T10" fmla="*/ 2147483647 w 178"/>
                <a:gd name="T11" fmla="*/ 2147483647 h 24"/>
                <a:gd name="T12" fmla="*/ 2147483647 w 178"/>
                <a:gd name="T13" fmla="*/ 2147483647 h 24"/>
                <a:gd name="T14" fmla="*/ 2147483647 w 178"/>
                <a:gd name="T15" fmla="*/ 2147483647 h 24"/>
                <a:gd name="T16" fmla="*/ 2147483647 w 178"/>
                <a:gd name="T17" fmla="*/ 2147483647 h 24"/>
                <a:gd name="T18" fmla="*/ 2147483647 w 178"/>
                <a:gd name="T19" fmla="*/ 2147483647 h 24"/>
                <a:gd name="T20" fmla="*/ 2147483647 w 178"/>
                <a:gd name="T21" fmla="*/ 2147483647 h 24"/>
                <a:gd name="T22" fmla="*/ 2147483647 w 178"/>
                <a:gd name="T23" fmla="*/ 2147483647 h 24"/>
                <a:gd name="T24" fmla="*/ 2147483647 w 178"/>
                <a:gd name="T25" fmla="*/ 2147483647 h 24"/>
                <a:gd name="T26" fmla="*/ 2147483647 w 178"/>
                <a:gd name="T27" fmla="*/ 2147483647 h 24"/>
                <a:gd name="T28" fmla="*/ 2147483647 w 178"/>
                <a:gd name="T29" fmla="*/ 2147483647 h 24"/>
                <a:gd name="T30" fmla="*/ 2147483647 w 178"/>
                <a:gd name="T31" fmla="*/ 2147483647 h 24"/>
                <a:gd name="T32" fmla="*/ 2147483647 w 178"/>
                <a:gd name="T33" fmla="*/ 2147483647 h 24"/>
                <a:gd name="T34" fmla="*/ 2147483647 w 178"/>
                <a:gd name="T35" fmla="*/ 2147483647 h 24"/>
                <a:gd name="T36" fmla="*/ 2147483647 w 178"/>
                <a:gd name="T37" fmla="*/ 2147483647 h 24"/>
                <a:gd name="T38" fmla="*/ 2147483647 w 178"/>
                <a:gd name="T39" fmla="*/ 2147483647 h 24"/>
                <a:gd name="T40" fmla="*/ 2147483647 w 178"/>
                <a:gd name="T41" fmla="*/ 2147483647 h 24"/>
                <a:gd name="T42" fmla="*/ 2147483647 w 178"/>
                <a:gd name="T43" fmla="*/ 2147483647 h 24"/>
                <a:gd name="T44" fmla="*/ 2147483647 w 178"/>
                <a:gd name="T45" fmla="*/ 2147483647 h 24"/>
                <a:gd name="T46" fmla="*/ 2147483647 w 178"/>
                <a:gd name="T47" fmla="*/ 2147483647 h 24"/>
                <a:gd name="T48" fmla="*/ 2147483647 w 178"/>
                <a:gd name="T49" fmla="*/ 2147483647 h 24"/>
                <a:gd name="T50" fmla="*/ 2147483647 w 178"/>
                <a:gd name="T51" fmla="*/ 2147483647 h 24"/>
                <a:gd name="T52" fmla="*/ 2147483647 w 178"/>
                <a:gd name="T53" fmla="*/ 2147483647 h 24"/>
                <a:gd name="T54" fmla="*/ 2147483647 w 178"/>
                <a:gd name="T55" fmla="*/ 2147483647 h 24"/>
                <a:gd name="T56" fmla="*/ 2147483647 w 178"/>
                <a:gd name="T57" fmla="*/ 2147483647 h 24"/>
                <a:gd name="T58" fmla="*/ 2147483647 w 178"/>
                <a:gd name="T59" fmla="*/ 2147483647 h 24"/>
                <a:gd name="T60" fmla="*/ 2147483647 w 178"/>
                <a:gd name="T61" fmla="*/ 2147483647 h 24"/>
                <a:gd name="T62" fmla="*/ 2147483647 w 178"/>
                <a:gd name="T63" fmla="*/ 2147483647 h 24"/>
                <a:gd name="T64" fmla="*/ 2147483647 w 178"/>
                <a:gd name="T65" fmla="*/ 2147483647 h 24"/>
                <a:gd name="T66" fmla="*/ 2147483647 w 178"/>
                <a:gd name="T67" fmla="*/ 2147483647 h 24"/>
                <a:gd name="T68" fmla="*/ 2147483647 w 178"/>
                <a:gd name="T69" fmla="*/ 2147483647 h 24"/>
                <a:gd name="T70" fmla="*/ 2147483647 w 178"/>
                <a:gd name="T71" fmla="*/ 2147483647 h 24"/>
                <a:gd name="T72" fmla="*/ 2147483647 w 178"/>
                <a:gd name="T73" fmla="*/ 2147483647 h 24"/>
                <a:gd name="T74" fmla="*/ 2147483647 w 178"/>
                <a:gd name="T75" fmla="*/ 2147483647 h 24"/>
                <a:gd name="T76" fmla="*/ 2147483647 w 178"/>
                <a:gd name="T77" fmla="*/ 2147483647 h 24"/>
                <a:gd name="T78" fmla="*/ 2147483647 w 178"/>
                <a:gd name="T79" fmla="*/ 2147483647 h 24"/>
                <a:gd name="T80" fmla="*/ 2147483647 w 178"/>
                <a:gd name="T81" fmla="*/ 2147483647 h 24"/>
                <a:gd name="T82" fmla="*/ 2147483647 w 178"/>
                <a:gd name="T83" fmla="*/ 2147483647 h 24"/>
                <a:gd name="T84" fmla="*/ 2147483647 w 178"/>
                <a:gd name="T85" fmla="*/ 2147483647 h 24"/>
                <a:gd name="T86" fmla="*/ 2147483647 w 178"/>
                <a:gd name="T87" fmla="*/ 2147483647 h 24"/>
                <a:gd name="T88" fmla="*/ 2147483647 w 178"/>
                <a:gd name="T89" fmla="*/ 2147483647 h 24"/>
                <a:gd name="T90" fmla="*/ 2147483647 w 178"/>
                <a:gd name="T91" fmla="*/ 2147483647 h 24"/>
                <a:gd name="T92" fmla="*/ 2147483647 w 178"/>
                <a:gd name="T93" fmla="*/ 2147483647 h 24"/>
                <a:gd name="T94" fmla="*/ 2147483647 w 178"/>
                <a:gd name="T95" fmla="*/ 2147483647 h 24"/>
                <a:gd name="T96" fmla="*/ 2147483647 w 178"/>
                <a:gd name="T97" fmla="*/ 2147483647 h 24"/>
                <a:gd name="T98" fmla="*/ 2147483647 w 178"/>
                <a:gd name="T99" fmla="*/ 2147483647 h 24"/>
                <a:gd name="T100" fmla="*/ 2147483647 w 178"/>
                <a:gd name="T101" fmla="*/ 2147483647 h 24"/>
                <a:gd name="T102" fmla="*/ 2147483647 w 178"/>
                <a:gd name="T103" fmla="*/ 2147483647 h 24"/>
                <a:gd name="T104" fmla="*/ 2147483647 w 178"/>
                <a:gd name="T105" fmla="*/ 2147483647 h 24"/>
                <a:gd name="T106" fmla="*/ 0 w 178"/>
                <a:gd name="T107" fmla="*/ 2147483647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177" y="0"/>
                  </a:moveTo>
                  <a:lnTo>
                    <a:pt x="177" y="0"/>
                  </a:lnTo>
                  <a:lnTo>
                    <a:pt x="177" y="2"/>
                  </a:lnTo>
                  <a:lnTo>
                    <a:pt x="173" y="5"/>
                  </a:lnTo>
                  <a:lnTo>
                    <a:pt x="171" y="7"/>
                  </a:lnTo>
                  <a:lnTo>
                    <a:pt x="168" y="7"/>
                  </a:lnTo>
                  <a:lnTo>
                    <a:pt x="165" y="10"/>
                  </a:lnTo>
                  <a:lnTo>
                    <a:pt x="161" y="11"/>
                  </a:lnTo>
                  <a:lnTo>
                    <a:pt x="157" y="11"/>
                  </a:lnTo>
                  <a:lnTo>
                    <a:pt x="153" y="12"/>
                  </a:lnTo>
                  <a:lnTo>
                    <a:pt x="150" y="12"/>
                  </a:lnTo>
                  <a:lnTo>
                    <a:pt x="147" y="13"/>
                  </a:lnTo>
                  <a:lnTo>
                    <a:pt x="144" y="14"/>
                  </a:lnTo>
                  <a:lnTo>
                    <a:pt x="141" y="14"/>
                  </a:lnTo>
                  <a:lnTo>
                    <a:pt x="138" y="16"/>
                  </a:lnTo>
                  <a:lnTo>
                    <a:pt x="135" y="15"/>
                  </a:lnTo>
                  <a:lnTo>
                    <a:pt x="130" y="15"/>
                  </a:lnTo>
                  <a:lnTo>
                    <a:pt x="126" y="16"/>
                  </a:lnTo>
                  <a:lnTo>
                    <a:pt x="123" y="16"/>
                  </a:lnTo>
                  <a:lnTo>
                    <a:pt x="119" y="17"/>
                  </a:lnTo>
                  <a:lnTo>
                    <a:pt x="115" y="19"/>
                  </a:lnTo>
                  <a:lnTo>
                    <a:pt x="111" y="19"/>
                  </a:lnTo>
                  <a:lnTo>
                    <a:pt x="108" y="19"/>
                  </a:lnTo>
                  <a:lnTo>
                    <a:pt x="104" y="19"/>
                  </a:lnTo>
                  <a:lnTo>
                    <a:pt x="99" y="19"/>
                  </a:lnTo>
                  <a:lnTo>
                    <a:pt x="96" y="19"/>
                  </a:lnTo>
                  <a:lnTo>
                    <a:pt x="92" y="19"/>
                  </a:lnTo>
                  <a:lnTo>
                    <a:pt x="88" y="19"/>
                  </a:lnTo>
                  <a:lnTo>
                    <a:pt x="84" y="19"/>
                  </a:lnTo>
                  <a:lnTo>
                    <a:pt x="81" y="19"/>
                  </a:lnTo>
                  <a:lnTo>
                    <a:pt x="77" y="19"/>
                  </a:lnTo>
                  <a:lnTo>
                    <a:pt x="74" y="20"/>
                  </a:lnTo>
                  <a:lnTo>
                    <a:pt x="72" y="20"/>
                  </a:lnTo>
                  <a:lnTo>
                    <a:pt x="69" y="20"/>
                  </a:lnTo>
                  <a:lnTo>
                    <a:pt x="66" y="20"/>
                  </a:lnTo>
                  <a:lnTo>
                    <a:pt x="61" y="20"/>
                  </a:lnTo>
                  <a:lnTo>
                    <a:pt x="57" y="20"/>
                  </a:lnTo>
                  <a:lnTo>
                    <a:pt x="54" y="20"/>
                  </a:lnTo>
                  <a:lnTo>
                    <a:pt x="50" y="20"/>
                  </a:lnTo>
                  <a:lnTo>
                    <a:pt x="47" y="21"/>
                  </a:lnTo>
                  <a:lnTo>
                    <a:pt x="44" y="21"/>
                  </a:lnTo>
                  <a:lnTo>
                    <a:pt x="41" y="23"/>
                  </a:lnTo>
                  <a:lnTo>
                    <a:pt x="38" y="23"/>
                  </a:lnTo>
                  <a:lnTo>
                    <a:pt x="34" y="23"/>
                  </a:lnTo>
                  <a:lnTo>
                    <a:pt x="30" y="23"/>
                  </a:lnTo>
                  <a:lnTo>
                    <a:pt x="27" y="23"/>
                  </a:lnTo>
                  <a:lnTo>
                    <a:pt x="23" y="23"/>
                  </a:lnTo>
                  <a:lnTo>
                    <a:pt x="20" y="23"/>
                  </a:lnTo>
                  <a:lnTo>
                    <a:pt x="17" y="23"/>
                  </a:lnTo>
                  <a:lnTo>
                    <a:pt x="14" y="23"/>
                  </a:lnTo>
                  <a:lnTo>
                    <a:pt x="10" y="23"/>
                  </a:lnTo>
                  <a:lnTo>
                    <a:pt x="7" y="23"/>
                  </a:lnTo>
                  <a:lnTo>
                    <a:pt x="3" y="23"/>
                  </a:lnTo>
                  <a:lnTo>
                    <a:pt x="0" y="23"/>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75" name="Group 72"/>
          <p:cNvGrpSpPr>
            <a:grpSpLocks/>
          </p:cNvGrpSpPr>
          <p:nvPr/>
        </p:nvGrpSpPr>
        <p:grpSpPr bwMode="auto">
          <a:xfrm>
            <a:off x="6853605" y="3836844"/>
            <a:ext cx="1208942" cy="431800"/>
            <a:chOff x="1011" y="1504"/>
            <a:chExt cx="1185" cy="479"/>
          </a:xfrm>
        </p:grpSpPr>
        <p:sp>
          <p:nvSpPr>
            <p:cNvPr id="76" name="Freeform 67"/>
            <p:cNvSpPr>
              <a:spLocks/>
            </p:cNvSpPr>
            <p:nvPr/>
          </p:nvSpPr>
          <p:spPr bwMode="auto">
            <a:xfrm>
              <a:off x="1322" y="1532"/>
              <a:ext cx="524" cy="417"/>
            </a:xfrm>
            <a:custGeom>
              <a:avLst/>
              <a:gdLst>
                <a:gd name="T0" fmla="*/ 14 w 524"/>
                <a:gd name="T1" fmla="*/ 413 h 417"/>
                <a:gd name="T2" fmla="*/ 33 w 524"/>
                <a:gd name="T3" fmla="*/ 409 h 417"/>
                <a:gd name="T4" fmla="*/ 51 w 524"/>
                <a:gd name="T5" fmla="*/ 399 h 417"/>
                <a:gd name="T6" fmla="*/ 69 w 524"/>
                <a:gd name="T7" fmla="*/ 383 h 417"/>
                <a:gd name="T8" fmla="*/ 87 w 524"/>
                <a:gd name="T9" fmla="*/ 374 h 417"/>
                <a:gd name="T10" fmla="*/ 99 w 524"/>
                <a:gd name="T11" fmla="*/ 355 h 417"/>
                <a:gd name="T12" fmla="*/ 111 w 524"/>
                <a:gd name="T13" fmla="*/ 335 h 417"/>
                <a:gd name="T14" fmla="*/ 124 w 524"/>
                <a:gd name="T15" fmla="*/ 317 h 417"/>
                <a:gd name="T16" fmla="*/ 134 w 524"/>
                <a:gd name="T17" fmla="*/ 296 h 417"/>
                <a:gd name="T18" fmla="*/ 137 w 524"/>
                <a:gd name="T19" fmla="*/ 276 h 417"/>
                <a:gd name="T20" fmla="*/ 150 w 524"/>
                <a:gd name="T21" fmla="*/ 258 h 417"/>
                <a:gd name="T22" fmla="*/ 157 w 524"/>
                <a:gd name="T23" fmla="*/ 239 h 417"/>
                <a:gd name="T24" fmla="*/ 160 w 524"/>
                <a:gd name="T25" fmla="*/ 219 h 417"/>
                <a:gd name="T26" fmla="*/ 167 w 524"/>
                <a:gd name="T27" fmla="*/ 199 h 417"/>
                <a:gd name="T28" fmla="*/ 174 w 524"/>
                <a:gd name="T29" fmla="*/ 179 h 417"/>
                <a:gd name="T30" fmla="*/ 180 w 524"/>
                <a:gd name="T31" fmla="*/ 159 h 417"/>
                <a:gd name="T32" fmla="*/ 186 w 524"/>
                <a:gd name="T33" fmla="*/ 139 h 417"/>
                <a:gd name="T34" fmla="*/ 193 w 524"/>
                <a:gd name="T35" fmla="*/ 119 h 417"/>
                <a:gd name="T36" fmla="*/ 201 w 524"/>
                <a:gd name="T37" fmla="*/ 98 h 417"/>
                <a:gd name="T38" fmla="*/ 209 w 524"/>
                <a:gd name="T39" fmla="*/ 78 h 417"/>
                <a:gd name="T40" fmla="*/ 216 w 524"/>
                <a:gd name="T41" fmla="*/ 58 h 417"/>
                <a:gd name="T42" fmla="*/ 225 w 524"/>
                <a:gd name="T43" fmla="*/ 38 h 417"/>
                <a:gd name="T44" fmla="*/ 237 w 524"/>
                <a:gd name="T45" fmla="*/ 18 h 417"/>
                <a:gd name="T46" fmla="*/ 254 w 524"/>
                <a:gd name="T47" fmla="*/ 1 h 417"/>
                <a:gd name="T48" fmla="*/ 273 w 524"/>
                <a:gd name="T49" fmla="*/ 1 h 417"/>
                <a:gd name="T50" fmla="*/ 290 w 524"/>
                <a:gd name="T51" fmla="*/ 20 h 417"/>
                <a:gd name="T52" fmla="*/ 304 w 524"/>
                <a:gd name="T53" fmla="*/ 40 h 417"/>
                <a:gd name="T54" fmla="*/ 312 w 524"/>
                <a:gd name="T55" fmla="*/ 60 h 417"/>
                <a:gd name="T56" fmla="*/ 318 w 524"/>
                <a:gd name="T57" fmla="*/ 80 h 417"/>
                <a:gd name="T58" fmla="*/ 324 w 524"/>
                <a:gd name="T59" fmla="*/ 100 h 417"/>
                <a:gd name="T60" fmla="*/ 330 w 524"/>
                <a:gd name="T61" fmla="*/ 120 h 417"/>
                <a:gd name="T62" fmla="*/ 340 w 524"/>
                <a:gd name="T63" fmla="*/ 140 h 417"/>
                <a:gd name="T64" fmla="*/ 346 w 524"/>
                <a:gd name="T65" fmla="*/ 161 h 417"/>
                <a:gd name="T66" fmla="*/ 355 w 524"/>
                <a:gd name="T67" fmla="*/ 181 h 417"/>
                <a:gd name="T68" fmla="*/ 362 w 524"/>
                <a:gd name="T69" fmla="*/ 201 h 417"/>
                <a:gd name="T70" fmla="*/ 366 w 524"/>
                <a:gd name="T71" fmla="*/ 221 h 417"/>
                <a:gd name="T72" fmla="*/ 372 w 524"/>
                <a:gd name="T73" fmla="*/ 241 h 417"/>
                <a:gd name="T74" fmla="*/ 381 w 524"/>
                <a:gd name="T75" fmla="*/ 261 h 417"/>
                <a:gd name="T76" fmla="*/ 388 w 524"/>
                <a:gd name="T77" fmla="*/ 281 h 417"/>
                <a:gd name="T78" fmla="*/ 398 w 524"/>
                <a:gd name="T79" fmla="*/ 302 h 417"/>
                <a:gd name="T80" fmla="*/ 407 w 524"/>
                <a:gd name="T81" fmla="*/ 322 h 417"/>
                <a:gd name="T82" fmla="*/ 417 w 524"/>
                <a:gd name="T83" fmla="*/ 342 h 417"/>
                <a:gd name="T84" fmla="*/ 430 w 524"/>
                <a:gd name="T85" fmla="*/ 360 h 417"/>
                <a:gd name="T86" fmla="*/ 446 w 524"/>
                <a:gd name="T87" fmla="*/ 380 h 417"/>
                <a:gd name="T88" fmla="*/ 465 w 524"/>
                <a:gd name="T89" fmla="*/ 392 h 417"/>
                <a:gd name="T90" fmla="*/ 482 w 524"/>
                <a:gd name="T91" fmla="*/ 402 h 417"/>
                <a:gd name="T92" fmla="*/ 501 w 524"/>
                <a:gd name="T93" fmla="*/ 410 h 417"/>
                <a:gd name="T94" fmla="*/ 519 w 524"/>
                <a:gd name="T95" fmla="*/ 414 h 4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4"/>
                <a:gd name="T145" fmla="*/ 0 h 417"/>
                <a:gd name="T146" fmla="*/ 524 w 524"/>
                <a:gd name="T147" fmla="*/ 417 h 4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4" h="417">
                  <a:moveTo>
                    <a:pt x="0" y="416"/>
                  </a:moveTo>
                  <a:lnTo>
                    <a:pt x="4" y="416"/>
                  </a:lnTo>
                  <a:lnTo>
                    <a:pt x="9" y="414"/>
                  </a:lnTo>
                  <a:lnTo>
                    <a:pt x="14" y="413"/>
                  </a:lnTo>
                  <a:lnTo>
                    <a:pt x="18" y="410"/>
                  </a:lnTo>
                  <a:lnTo>
                    <a:pt x="23" y="409"/>
                  </a:lnTo>
                  <a:lnTo>
                    <a:pt x="27" y="409"/>
                  </a:lnTo>
                  <a:lnTo>
                    <a:pt x="33" y="409"/>
                  </a:lnTo>
                  <a:lnTo>
                    <a:pt x="37" y="407"/>
                  </a:lnTo>
                  <a:lnTo>
                    <a:pt x="42" y="404"/>
                  </a:lnTo>
                  <a:lnTo>
                    <a:pt x="46" y="401"/>
                  </a:lnTo>
                  <a:lnTo>
                    <a:pt x="51" y="399"/>
                  </a:lnTo>
                  <a:lnTo>
                    <a:pt x="56" y="394"/>
                  </a:lnTo>
                  <a:lnTo>
                    <a:pt x="60" y="390"/>
                  </a:lnTo>
                  <a:lnTo>
                    <a:pt x="65" y="389"/>
                  </a:lnTo>
                  <a:lnTo>
                    <a:pt x="69" y="383"/>
                  </a:lnTo>
                  <a:lnTo>
                    <a:pt x="73" y="382"/>
                  </a:lnTo>
                  <a:lnTo>
                    <a:pt x="78" y="380"/>
                  </a:lnTo>
                  <a:lnTo>
                    <a:pt x="82" y="377"/>
                  </a:lnTo>
                  <a:lnTo>
                    <a:pt x="87" y="374"/>
                  </a:lnTo>
                  <a:lnTo>
                    <a:pt x="90" y="368"/>
                  </a:lnTo>
                  <a:lnTo>
                    <a:pt x="93" y="364"/>
                  </a:lnTo>
                  <a:lnTo>
                    <a:pt x="98" y="360"/>
                  </a:lnTo>
                  <a:lnTo>
                    <a:pt x="99" y="355"/>
                  </a:lnTo>
                  <a:lnTo>
                    <a:pt x="101" y="350"/>
                  </a:lnTo>
                  <a:lnTo>
                    <a:pt x="102" y="345"/>
                  </a:lnTo>
                  <a:lnTo>
                    <a:pt x="108" y="340"/>
                  </a:lnTo>
                  <a:lnTo>
                    <a:pt x="111" y="335"/>
                  </a:lnTo>
                  <a:lnTo>
                    <a:pt x="114" y="330"/>
                  </a:lnTo>
                  <a:lnTo>
                    <a:pt x="117" y="325"/>
                  </a:lnTo>
                  <a:lnTo>
                    <a:pt x="120" y="320"/>
                  </a:lnTo>
                  <a:lnTo>
                    <a:pt x="124" y="317"/>
                  </a:lnTo>
                  <a:lnTo>
                    <a:pt x="124" y="311"/>
                  </a:lnTo>
                  <a:lnTo>
                    <a:pt x="128" y="307"/>
                  </a:lnTo>
                  <a:lnTo>
                    <a:pt x="131" y="302"/>
                  </a:lnTo>
                  <a:lnTo>
                    <a:pt x="134" y="296"/>
                  </a:lnTo>
                  <a:lnTo>
                    <a:pt x="135" y="291"/>
                  </a:lnTo>
                  <a:lnTo>
                    <a:pt x="137" y="287"/>
                  </a:lnTo>
                  <a:lnTo>
                    <a:pt x="137" y="281"/>
                  </a:lnTo>
                  <a:lnTo>
                    <a:pt x="137" y="276"/>
                  </a:lnTo>
                  <a:lnTo>
                    <a:pt x="141" y="273"/>
                  </a:lnTo>
                  <a:lnTo>
                    <a:pt x="143" y="268"/>
                  </a:lnTo>
                  <a:lnTo>
                    <a:pt x="147" y="263"/>
                  </a:lnTo>
                  <a:lnTo>
                    <a:pt x="150" y="258"/>
                  </a:lnTo>
                  <a:lnTo>
                    <a:pt x="150" y="253"/>
                  </a:lnTo>
                  <a:lnTo>
                    <a:pt x="153" y="248"/>
                  </a:lnTo>
                  <a:lnTo>
                    <a:pt x="153" y="242"/>
                  </a:lnTo>
                  <a:lnTo>
                    <a:pt x="157" y="239"/>
                  </a:lnTo>
                  <a:lnTo>
                    <a:pt x="156" y="234"/>
                  </a:lnTo>
                  <a:lnTo>
                    <a:pt x="156" y="230"/>
                  </a:lnTo>
                  <a:lnTo>
                    <a:pt x="157" y="224"/>
                  </a:lnTo>
                  <a:lnTo>
                    <a:pt x="160" y="219"/>
                  </a:lnTo>
                  <a:lnTo>
                    <a:pt x="160" y="214"/>
                  </a:lnTo>
                  <a:lnTo>
                    <a:pt x="162" y="209"/>
                  </a:lnTo>
                  <a:lnTo>
                    <a:pt x="165" y="204"/>
                  </a:lnTo>
                  <a:lnTo>
                    <a:pt x="167" y="199"/>
                  </a:lnTo>
                  <a:lnTo>
                    <a:pt x="168" y="194"/>
                  </a:lnTo>
                  <a:lnTo>
                    <a:pt x="171" y="189"/>
                  </a:lnTo>
                  <a:lnTo>
                    <a:pt x="173" y="184"/>
                  </a:lnTo>
                  <a:lnTo>
                    <a:pt x="174" y="179"/>
                  </a:lnTo>
                  <a:lnTo>
                    <a:pt x="174" y="174"/>
                  </a:lnTo>
                  <a:lnTo>
                    <a:pt x="176" y="169"/>
                  </a:lnTo>
                  <a:lnTo>
                    <a:pt x="179" y="164"/>
                  </a:lnTo>
                  <a:lnTo>
                    <a:pt x="180" y="159"/>
                  </a:lnTo>
                  <a:lnTo>
                    <a:pt x="182" y="154"/>
                  </a:lnTo>
                  <a:lnTo>
                    <a:pt x="184" y="149"/>
                  </a:lnTo>
                  <a:lnTo>
                    <a:pt x="187" y="143"/>
                  </a:lnTo>
                  <a:lnTo>
                    <a:pt x="186" y="139"/>
                  </a:lnTo>
                  <a:lnTo>
                    <a:pt x="187" y="134"/>
                  </a:lnTo>
                  <a:lnTo>
                    <a:pt x="190" y="128"/>
                  </a:lnTo>
                  <a:lnTo>
                    <a:pt x="193" y="124"/>
                  </a:lnTo>
                  <a:lnTo>
                    <a:pt x="193" y="119"/>
                  </a:lnTo>
                  <a:lnTo>
                    <a:pt x="196" y="113"/>
                  </a:lnTo>
                  <a:lnTo>
                    <a:pt x="198" y="108"/>
                  </a:lnTo>
                  <a:lnTo>
                    <a:pt x="199" y="104"/>
                  </a:lnTo>
                  <a:lnTo>
                    <a:pt x="201" y="98"/>
                  </a:lnTo>
                  <a:lnTo>
                    <a:pt x="202" y="93"/>
                  </a:lnTo>
                  <a:lnTo>
                    <a:pt x="206" y="89"/>
                  </a:lnTo>
                  <a:lnTo>
                    <a:pt x="206" y="83"/>
                  </a:lnTo>
                  <a:lnTo>
                    <a:pt x="209" y="78"/>
                  </a:lnTo>
                  <a:lnTo>
                    <a:pt x="209" y="73"/>
                  </a:lnTo>
                  <a:lnTo>
                    <a:pt x="212" y="68"/>
                  </a:lnTo>
                  <a:lnTo>
                    <a:pt x="213" y="63"/>
                  </a:lnTo>
                  <a:lnTo>
                    <a:pt x="216" y="58"/>
                  </a:lnTo>
                  <a:lnTo>
                    <a:pt x="218" y="53"/>
                  </a:lnTo>
                  <a:lnTo>
                    <a:pt x="221" y="48"/>
                  </a:lnTo>
                  <a:lnTo>
                    <a:pt x="223" y="43"/>
                  </a:lnTo>
                  <a:lnTo>
                    <a:pt x="225" y="38"/>
                  </a:lnTo>
                  <a:lnTo>
                    <a:pt x="228" y="33"/>
                  </a:lnTo>
                  <a:lnTo>
                    <a:pt x="231" y="28"/>
                  </a:lnTo>
                  <a:lnTo>
                    <a:pt x="234" y="23"/>
                  </a:lnTo>
                  <a:lnTo>
                    <a:pt x="237" y="18"/>
                  </a:lnTo>
                  <a:lnTo>
                    <a:pt x="241" y="14"/>
                  </a:lnTo>
                  <a:lnTo>
                    <a:pt x="246" y="9"/>
                  </a:lnTo>
                  <a:lnTo>
                    <a:pt x="249" y="5"/>
                  </a:lnTo>
                  <a:lnTo>
                    <a:pt x="254" y="1"/>
                  </a:lnTo>
                  <a:lnTo>
                    <a:pt x="258" y="1"/>
                  </a:lnTo>
                  <a:lnTo>
                    <a:pt x="264" y="0"/>
                  </a:lnTo>
                  <a:lnTo>
                    <a:pt x="268" y="0"/>
                  </a:lnTo>
                  <a:lnTo>
                    <a:pt x="273" y="1"/>
                  </a:lnTo>
                  <a:lnTo>
                    <a:pt x="277" y="6"/>
                  </a:lnTo>
                  <a:lnTo>
                    <a:pt x="284" y="9"/>
                  </a:lnTo>
                  <a:lnTo>
                    <a:pt x="287" y="14"/>
                  </a:lnTo>
                  <a:lnTo>
                    <a:pt x="290" y="20"/>
                  </a:lnTo>
                  <a:lnTo>
                    <a:pt x="294" y="25"/>
                  </a:lnTo>
                  <a:lnTo>
                    <a:pt x="297" y="29"/>
                  </a:lnTo>
                  <a:lnTo>
                    <a:pt x="301" y="35"/>
                  </a:lnTo>
                  <a:lnTo>
                    <a:pt x="304" y="40"/>
                  </a:lnTo>
                  <a:lnTo>
                    <a:pt x="306" y="44"/>
                  </a:lnTo>
                  <a:lnTo>
                    <a:pt x="309" y="50"/>
                  </a:lnTo>
                  <a:lnTo>
                    <a:pt x="310" y="55"/>
                  </a:lnTo>
                  <a:lnTo>
                    <a:pt x="312" y="60"/>
                  </a:lnTo>
                  <a:lnTo>
                    <a:pt x="312" y="65"/>
                  </a:lnTo>
                  <a:lnTo>
                    <a:pt x="313" y="70"/>
                  </a:lnTo>
                  <a:lnTo>
                    <a:pt x="315" y="75"/>
                  </a:lnTo>
                  <a:lnTo>
                    <a:pt x="318" y="80"/>
                  </a:lnTo>
                  <a:lnTo>
                    <a:pt x="318" y="85"/>
                  </a:lnTo>
                  <a:lnTo>
                    <a:pt x="321" y="90"/>
                  </a:lnTo>
                  <a:lnTo>
                    <a:pt x="323" y="95"/>
                  </a:lnTo>
                  <a:lnTo>
                    <a:pt x="324" y="100"/>
                  </a:lnTo>
                  <a:lnTo>
                    <a:pt x="326" y="105"/>
                  </a:lnTo>
                  <a:lnTo>
                    <a:pt x="329" y="110"/>
                  </a:lnTo>
                  <a:lnTo>
                    <a:pt x="330" y="115"/>
                  </a:lnTo>
                  <a:lnTo>
                    <a:pt x="330" y="120"/>
                  </a:lnTo>
                  <a:lnTo>
                    <a:pt x="333" y="125"/>
                  </a:lnTo>
                  <a:lnTo>
                    <a:pt x="335" y="131"/>
                  </a:lnTo>
                  <a:lnTo>
                    <a:pt x="336" y="135"/>
                  </a:lnTo>
                  <a:lnTo>
                    <a:pt x="340" y="140"/>
                  </a:lnTo>
                  <a:lnTo>
                    <a:pt x="342" y="146"/>
                  </a:lnTo>
                  <a:lnTo>
                    <a:pt x="343" y="150"/>
                  </a:lnTo>
                  <a:lnTo>
                    <a:pt x="345" y="155"/>
                  </a:lnTo>
                  <a:lnTo>
                    <a:pt x="346" y="161"/>
                  </a:lnTo>
                  <a:lnTo>
                    <a:pt x="348" y="166"/>
                  </a:lnTo>
                  <a:lnTo>
                    <a:pt x="349" y="170"/>
                  </a:lnTo>
                  <a:lnTo>
                    <a:pt x="351" y="176"/>
                  </a:lnTo>
                  <a:lnTo>
                    <a:pt x="355" y="181"/>
                  </a:lnTo>
                  <a:lnTo>
                    <a:pt x="357" y="185"/>
                  </a:lnTo>
                  <a:lnTo>
                    <a:pt x="359" y="191"/>
                  </a:lnTo>
                  <a:lnTo>
                    <a:pt x="360" y="196"/>
                  </a:lnTo>
                  <a:lnTo>
                    <a:pt x="362" y="201"/>
                  </a:lnTo>
                  <a:lnTo>
                    <a:pt x="363" y="206"/>
                  </a:lnTo>
                  <a:lnTo>
                    <a:pt x="363" y="211"/>
                  </a:lnTo>
                  <a:lnTo>
                    <a:pt x="365" y="216"/>
                  </a:lnTo>
                  <a:lnTo>
                    <a:pt x="366" y="221"/>
                  </a:lnTo>
                  <a:lnTo>
                    <a:pt x="368" y="226"/>
                  </a:lnTo>
                  <a:lnTo>
                    <a:pt x="369" y="231"/>
                  </a:lnTo>
                  <a:lnTo>
                    <a:pt x="369" y="236"/>
                  </a:lnTo>
                  <a:lnTo>
                    <a:pt x="372" y="241"/>
                  </a:lnTo>
                  <a:lnTo>
                    <a:pt x="374" y="246"/>
                  </a:lnTo>
                  <a:lnTo>
                    <a:pt x="375" y="251"/>
                  </a:lnTo>
                  <a:lnTo>
                    <a:pt x="378" y="256"/>
                  </a:lnTo>
                  <a:lnTo>
                    <a:pt x="381" y="261"/>
                  </a:lnTo>
                  <a:lnTo>
                    <a:pt x="382" y="266"/>
                  </a:lnTo>
                  <a:lnTo>
                    <a:pt x="385" y="272"/>
                  </a:lnTo>
                  <a:lnTo>
                    <a:pt x="387" y="276"/>
                  </a:lnTo>
                  <a:lnTo>
                    <a:pt x="388" y="281"/>
                  </a:lnTo>
                  <a:lnTo>
                    <a:pt x="390" y="287"/>
                  </a:lnTo>
                  <a:lnTo>
                    <a:pt x="393" y="291"/>
                  </a:lnTo>
                  <a:lnTo>
                    <a:pt x="394" y="296"/>
                  </a:lnTo>
                  <a:lnTo>
                    <a:pt x="398" y="302"/>
                  </a:lnTo>
                  <a:lnTo>
                    <a:pt x="401" y="307"/>
                  </a:lnTo>
                  <a:lnTo>
                    <a:pt x="402" y="311"/>
                  </a:lnTo>
                  <a:lnTo>
                    <a:pt x="405" y="317"/>
                  </a:lnTo>
                  <a:lnTo>
                    <a:pt x="407" y="322"/>
                  </a:lnTo>
                  <a:lnTo>
                    <a:pt x="408" y="326"/>
                  </a:lnTo>
                  <a:lnTo>
                    <a:pt x="411" y="332"/>
                  </a:lnTo>
                  <a:lnTo>
                    <a:pt x="413" y="337"/>
                  </a:lnTo>
                  <a:lnTo>
                    <a:pt x="417" y="342"/>
                  </a:lnTo>
                  <a:lnTo>
                    <a:pt x="421" y="345"/>
                  </a:lnTo>
                  <a:lnTo>
                    <a:pt x="423" y="350"/>
                  </a:lnTo>
                  <a:lnTo>
                    <a:pt x="427" y="355"/>
                  </a:lnTo>
                  <a:lnTo>
                    <a:pt x="430" y="360"/>
                  </a:lnTo>
                  <a:lnTo>
                    <a:pt x="433" y="365"/>
                  </a:lnTo>
                  <a:lnTo>
                    <a:pt x="437" y="371"/>
                  </a:lnTo>
                  <a:lnTo>
                    <a:pt x="441" y="375"/>
                  </a:lnTo>
                  <a:lnTo>
                    <a:pt x="446" y="380"/>
                  </a:lnTo>
                  <a:lnTo>
                    <a:pt x="450" y="382"/>
                  </a:lnTo>
                  <a:lnTo>
                    <a:pt x="456" y="383"/>
                  </a:lnTo>
                  <a:lnTo>
                    <a:pt x="460" y="389"/>
                  </a:lnTo>
                  <a:lnTo>
                    <a:pt x="465" y="392"/>
                  </a:lnTo>
                  <a:lnTo>
                    <a:pt x="468" y="397"/>
                  </a:lnTo>
                  <a:lnTo>
                    <a:pt x="472" y="399"/>
                  </a:lnTo>
                  <a:lnTo>
                    <a:pt x="477" y="401"/>
                  </a:lnTo>
                  <a:lnTo>
                    <a:pt x="482" y="402"/>
                  </a:lnTo>
                  <a:lnTo>
                    <a:pt x="486" y="404"/>
                  </a:lnTo>
                  <a:lnTo>
                    <a:pt x="491" y="407"/>
                  </a:lnTo>
                  <a:lnTo>
                    <a:pt x="496" y="409"/>
                  </a:lnTo>
                  <a:lnTo>
                    <a:pt x="501" y="410"/>
                  </a:lnTo>
                  <a:lnTo>
                    <a:pt x="505" y="413"/>
                  </a:lnTo>
                  <a:lnTo>
                    <a:pt x="510" y="413"/>
                  </a:lnTo>
                  <a:lnTo>
                    <a:pt x="515" y="413"/>
                  </a:lnTo>
                  <a:lnTo>
                    <a:pt x="519" y="414"/>
                  </a:lnTo>
                  <a:lnTo>
                    <a:pt x="523" y="413"/>
                  </a:lnTo>
                </a:path>
              </a:pathLst>
            </a:custGeom>
            <a:noFill/>
            <a:ln w="12700" cap="rnd">
              <a:solidFill>
                <a:schemeClr val="tx1"/>
              </a:solidFill>
              <a:round/>
              <a:headEnd type="none" w="sm" len="sm"/>
              <a:tailEnd type="none" w="sm" len="sm"/>
            </a:ln>
          </p:spPr>
          <p:txBody>
            <a:bodyPr/>
            <a:lstStyle/>
            <a:p>
              <a:endParaRPr lang="ko-KR" altLang="en-US" dirty="0"/>
            </a:p>
          </p:txBody>
        </p:sp>
        <p:sp>
          <p:nvSpPr>
            <p:cNvPr id="77" name="Line 68"/>
            <p:cNvSpPr>
              <a:spLocks noChangeShapeType="1"/>
            </p:cNvSpPr>
            <p:nvPr/>
          </p:nvSpPr>
          <p:spPr bwMode="auto">
            <a:xfrm>
              <a:off x="1586" y="1504"/>
              <a:ext cx="0" cy="467"/>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8" name="Line 69"/>
            <p:cNvSpPr>
              <a:spLocks noChangeShapeType="1"/>
            </p:cNvSpPr>
            <p:nvPr/>
          </p:nvSpPr>
          <p:spPr bwMode="auto">
            <a:xfrm>
              <a:off x="1011" y="1983"/>
              <a:ext cx="118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9" name="Freeform 70"/>
            <p:cNvSpPr>
              <a:spLocks/>
            </p:cNvSpPr>
            <p:nvPr/>
          </p:nvSpPr>
          <p:spPr bwMode="auto">
            <a:xfrm>
              <a:off x="1841" y="1941"/>
              <a:ext cx="256" cy="28"/>
            </a:xfrm>
            <a:custGeom>
              <a:avLst/>
              <a:gdLst>
                <a:gd name="T0" fmla="*/ 0 w 256"/>
                <a:gd name="T1" fmla="*/ 0 h 28"/>
                <a:gd name="T2" fmla="*/ 0 w 256"/>
                <a:gd name="T3" fmla="*/ 0 h 28"/>
                <a:gd name="T4" fmla="*/ 0 w 256"/>
                <a:gd name="T5" fmla="*/ 3 h 28"/>
                <a:gd name="T6" fmla="*/ 5 w 256"/>
                <a:gd name="T7" fmla="*/ 6 h 28"/>
                <a:gd name="T8" fmla="*/ 8 w 256"/>
                <a:gd name="T9" fmla="*/ 9 h 28"/>
                <a:gd name="T10" fmla="*/ 12 w 256"/>
                <a:gd name="T11" fmla="*/ 9 h 28"/>
                <a:gd name="T12" fmla="*/ 16 w 256"/>
                <a:gd name="T13" fmla="*/ 12 h 28"/>
                <a:gd name="T14" fmla="*/ 22 w 256"/>
                <a:gd name="T15" fmla="*/ 13 h 28"/>
                <a:gd name="T16" fmla="*/ 27 w 256"/>
                <a:gd name="T17" fmla="*/ 13 h 28"/>
                <a:gd name="T18" fmla="*/ 32 w 256"/>
                <a:gd name="T19" fmla="*/ 15 h 28"/>
                <a:gd name="T20" fmla="*/ 38 w 256"/>
                <a:gd name="T21" fmla="*/ 15 h 28"/>
                <a:gd name="T22" fmla="*/ 42 w 256"/>
                <a:gd name="T23" fmla="*/ 15 h 28"/>
                <a:gd name="T24" fmla="*/ 46 w 256"/>
                <a:gd name="T25" fmla="*/ 17 h 28"/>
                <a:gd name="T26" fmla="*/ 51 w 256"/>
                <a:gd name="T27" fmla="*/ 17 h 28"/>
                <a:gd name="T28" fmla="*/ 55 w 256"/>
                <a:gd name="T29" fmla="*/ 18 h 28"/>
                <a:gd name="T30" fmla="*/ 61 w 256"/>
                <a:gd name="T31" fmla="*/ 18 h 28"/>
                <a:gd name="T32" fmla="*/ 66 w 256"/>
                <a:gd name="T33" fmla="*/ 18 h 28"/>
                <a:gd name="T34" fmla="*/ 71 w 256"/>
                <a:gd name="T35" fmla="*/ 19 h 28"/>
                <a:gd name="T36" fmla="*/ 77 w 256"/>
                <a:gd name="T37" fmla="*/ 19 h 28"/>
                <a:gd name="T38" fmla="*/ 83 w 256"/>
                <a:gd name="T39" fmla="*/ 21 h 28"/>
                <a:gd name="T40" fmla="*/ 88 w 256"/>
                <a:gd name="T41" fmla="*/ 22 h 28"/>
                <a:gd name="T42" fmla="*/ 94 w 256"/>
                <a:gd name="T43" fmla="*/ 22 h 28"/>
                <a:gd name="T44" fmla="*/ 99 w 256"/>
                <a:gd name="T45" fmla="*/ 22 h 28"/>
                <a:gd name="T46" fmla="*/ 105 w 256"/>
                <a:gd name="T47" fmla="*/ 22 h 28"/>
                <a:gd name="T48" fmla="*/ 110 w 256"/>
                <a:gd name="T49" fmla="*/ 22 h 28"/>
                <a:gd name="T50" fmla="*/ 116 w 256"/>
                <a:gd name="T51" fmla="*/ 22 h 28"/>
                <a:gd name="T52" fmla="*/ 121 w 256"/>
                <a:gd name="T53" fmla="*/ 22 h 28"/>
                <a:gd name="T54" fmla="*/ 127 w 256"/>
                <a:gd name="T55" fmla="*/ 22 h 28"/>
                <a:gd name="T56" fmla="*/ 133 w 256"/>
                <a:gd name="T57" fmla="*/ 22 h 28"/>
                <a:gd name="T58" fmla="*/ 138 w 256"/>
                <a:gd name="T59" fmla="*/ 22 h 28"/>
                <a:gd name="T60" fmla="*/ 144 w 256"/>
                <a:gd name="T61" fmla="*/ 22 h 28"/>
                <a:gd name="T62" fmla="*/ 148 w 256"/>
                <a:gd name="T63" fmla="*/ 23 h 28"/>
                <a:gd name="T64" fmla="*/ 151 w 256"/>
                <a:gd name="T65" fmla="*/ 24 h 28"/>
                <a:gd name="T66" fmla="*/ 155 w 256"/>
                <a:gd name="T67" fmla="*/ 24 h 28"/>
                <a:gd name="T68" fmla="*/ 160 w 256"/>
                <a:gd name="T69" fmla="*/ 24 h 28"/>
                <a:gd name="T70" fmla="*/ 166 w 256"/>
                <a:gd name="T71" fmla="*/ 24 h 28"/>
                <a:gd name="T72" fmla="*/ 171 w 256"/>
                <a:gd name="T73" fmla="*/ 24 h 28"/>
                <a:gd name="T74" fmla="*/ 177 w 256"/>
                <a:gd name="T75" fmla="*/ 24 h 28"/>
                <a:gd name="T76" fmla="*/ 183 w 256"/>
                <a:gd name="T77" fmla="*/ 24 h 28"/>
                <a:gd name="T78" fmla="*/ 186 w 256"/>
                <a:gd name="T79" fmla="*/ 25 h 28"/>
                <a:gd name="T80" fmla="*/ 191 w 256"/>
                <a:gd name="T81" fmla="*/ 25 h 28"/>
                <a:gd name="T82" fmla="*/ 195 w 256"/>
                <a:gd name="T83" fmla="*/ 27 h 28"/>
                <a:gd name="T84" fmla="*/ 199 w 256"/>
                <a:gd name="T85" fmla="*/ 27 h 28"/>
                <a:gd name="T86" fmla="*/ 204 w 256"/>
                <a:gd name="T87" fmla="*/ 27 h 28"/>
                <a:gd name="T88" fmla="*/ 210 w 256"/>
                <a:gd name="T89" fmla="*/ 27 h 28"/>
                <a:gd name="T90" fmla="*/ 216 w 256"/>
                <a:gd name="T91" fmla="*/ 27 h 28"/>
                <a:gd name="T92" fmla="*/ 222 w 256"/>
                <a:gd name="T93" fmla="*/ 27 h 28"/>
                <a:gd name="T94" fmla="*/ 225 w 256"/>
                <a:gd name="T95" fmla="*/ 27 h 28"/>
                <a:gd name="T96" fmla="*/ 230 w 256"/>
                <a:gd name="T97" fmla="*/ 27 h 28"/>
                <a:gd name="T98" fmla="*/ 234 w 256"/>
                <a:gd name="T99" fmla="*/ 27 h 28"/>
                <a:gd name="T100" fmla="*/ 240 w 256"/>
                <a:gd name="T101" fmla="*/ 27 h 28"/>
                <a:gd name="T102" fmla="*/ 243 w 256"/>
                <a:gd name="T103" fmla="*/ 27 h 28"/>
                <a:gd name="T104" fmla="*/ 249 w 256"/>
                <a:gd name="T105" fmla="*/ 27 h 28"/>
                <a:gd name="T106" fmla="*/ 255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0" y="0"/>
                  </a:moveTo>
                  <a:lnTo>
                    <a:pt x="0" y="0"/>
                  </a:lnTo>
                  <a:lnTo>
                    <a:pt x="0" y="3"/>
                  </a:lnTo>
                  <a:lnTo>
                    <a:pt x="5" y="6"/>
                  </a:lnTo>
                  <a:lnTo>
                    <a:pt x="8" y="9"/>
                  </a:lnTo>
                  <a:lnTo>
                    <a:pt x="12" y="9"/>
                  </a:lnTo>
                  <a:lnTo>
                    <a:pt x="16" y="12"/>
                  </a:lnTo>
                  <a:lnTo>
                    <a:pt x="22" y="13"/>
                  </a:lnTo>
                  <a:lnTo>
                    <a:pt x="27" y="13"/>
                  </a:lnTo>
                  <a:lnTo>
                    <a:pt x="32" y="15"/>
                  </a:lnTo>
                  <a:lnTo>
                    <a:pt x="38" y="15"/>
                  </a:lnTo>
                  <a:lnTo>
                    <a:pt x="42" y="15"/>
                  </a:lnTo>
                  <a:lnTo>
                    <a:pt x="46" y="17"/>
                  </a:lnTo>
                  <a:lnTo>
                    <a:pt x="51" y="17"/>
                  </a:lnTo>
                  <a:lnTo>
                    <a:pt x="55" y="18"/>
                  </a:lnTo>
                  <a:lnTo>
                    <a:pt x="61" y="18"/>
                  </a:lnTo>
                  <a:lnTo>
                    <a:pt x="66" y="18"/>
                  </a:lnTo>
                  <a:lnTo>
                    <a:pt x="71" y="19"/>
                  </a:lnTo>
                  <a:lnTo>
                    <a:pt x="77" y="19"/>
                  </a:lnTo>
                  <a:lnTo>
                    <a:pt x="83" y="21"/>
                  </a:lnTo>
                  <a:lnTo>
                    <a:pt x="88" y="22"/>
                  </a:lnTo>
                  <a:lnTo>
                    <a:pt x="94" y="22"/>
                  </a:lnTo>
                  <a:lnTo>
                    <a:pt x="99" y="22"/>
                  </a:lnTo>
                  <a:lnTo>
                    <a:pt x="105" y="22"/>
                  </a:lnTo>
                  <a:lnTo>
                    <a:pt x="110" y="22"/>
                  </a:lnTo>
                  <a:lnTo>
                    <a:pt x="116" y="22"/>
                  </a:lnTo>
                  <a:lnTo>
                    <a:pt x="121" y="22"/>
                  </a:lnTo>
                  <a:lnTo>
                    <a:pt x="127" y="22"/>
                  </a:lnTo>
                  <a:lnTo>
                    <a:pt x="133" y="22"/>
                  </a:lnTo>
                  <a:lnTo>
                    <a:pt x="138" y="22"/>
                  </a:lnTo>
                  <a:lnTo>
                    <a:pt x="144" y="22"/>
                  </a:lnTo>
                  <a:lnTo>
                    <a:pt x="148" y="23"/>
                  </a:lnTo>
                  <a:lnTo>
                    <a:pt x="151" y="24"/>
                  </a:lnTo>
                  <a:lnTo>
                    <a:pt x="155" y="24"/>
                  </a:lnTo>
                  <a:lnTo>
                    <a:pt x="160" y="24"/>
                  </a:lnTo>
                  <a:lnTo>
                    <a:pt x="166" y="24"/>
                  </a:lnTo>
                  <a:lnTo>
                    <a:pt x="171" y="24"/>
                  </a:lnTo>
                  <a:lnTo>
                    <a:pt x="177" y="24"/>
                  </a:lnTo>
                  <a:lnTo>
                    <a:pt x="183" y="24"/>
                  </a:lnTo>
                  <a:lnTo>
                    <a:pt x="186" y="25"/>
                  </a:lnTo>
                  <a:lnTo>
                    <a:pt x="191" y="25"/>
                  </a:lnTo>
                  <a:lnTo>
                    <a:pt x="195" y="27"/>
                  </a:lnTo>
                  <a:lnTo>
                    <a:pt x="199" y="27"/>
                  </a:lnTo>
                  <a:lnTo>
                    <a:pt x="204" y="27"/>
                  </a:lnTo>
                  <a:lnTo>
                    <a:pt x="210" y="27"/>
                  </a:lnTo>
                  <a:lnTo>
                    <a:pt x="216" y="27"/>
                  </a:lnTo>
                  <a:lnTo>
                    <a:pt x="222" y="27"/>
                  </a:lnTo>
                  <a:lnTo>
                    <a:pt x="225" y="27"/>
                  </a:lnTo>
                  <a:lnTo>
                    <a:pt x="230" y="27"/>
                  </a:lnTo>
                  <a:lnTo>
                    <a:pt x="234" y="27"/>
                  </a:lnTo>
                  <a:lnTo>
                    <a:pt x="240" y="27"/>
                  </a:lnTo>
                  <a:lnTo>
                    <a:pt x="243" y="27"/>
                  </a:lnTo>
                  <a:lnTo>
                    <a:pt x="249" y="27"/>
                  </a:lnTo>
                  <a:lnTo>
                    <a:pt x="255" y="27"/>
                  </a:lnTo>
                </a:path>
              </a:pathLst>
            </a:custGeom>
            <a:noFill/>
            <a:ln w="12700" cap="rnd">
              <a:solidFill>
                <a:schemeClr val="tx1"/>
              </a:solidFill>
              <a:round/>
              <a:headEnd type="none" w="sm" len="sm"/>
              <a:tailEnd type="none" w="sm" len="sm"/>
            </a:ln>
          </p:spPr>
          <p:txBody>
            <a:bodyPr/>
            <a:lstStyle/>
            <a:p>
              <a:endParaRPr lang="ko-KR" altLang="en-US" dirty="0"/>
            </a:p>
          </p:txBody>
        </p:sp>
        <p:sp>
          <p:nvSpPr>
            <p:cNvPr id="80" name="Freeform 71"/>
            <p:cNvSpPr>
              <a:spLocks/>
            </p:cNvSpPr>
            <p:nvPr/>
          </p:nvSpPr>
          <p:spPr bwMode="auto">
            <a:xfrm>
              <a:off x="1065" y="1941"/>
              <a:ext cx="256" cy="28"/>
            </a:xfrm>
            <a:custGeom>
              <a:avLst/>
              <a:gdLst>
                <a:gd name="T0" fmla="*/ 255 w 256"/>
                <a:gd name="T1" fmla="*/ 0 h 28"/>
                <a:gd name="T2" fmla="*/ 255 w 256"/>
                <a:gd name="T3" fmla="*/ 0 h 28"/>
                <a:gd name="T4" fmla="*/ 255 w 256"/>
                <a:gd name="T5" fmla="*/ 3 h 28"/>
                <a:gd name="T6" fmla="*/ 249 w 256"/>
                <a:gd name="T7" fmla="*/ 6 h 28"/>
                <a:gd name="T8" fmla="*/ 246 w 256"/>
                <a:gd name="T9" fmla="*/ 9 h 28"/>
                <a:gd name="T10" fmla="*/ 242 w 256"/>
                <a:gd name="T11" fmla="*/ 9 h 28"/>
                <a:gd name="T12" fmla="*/ 238 w 256"/>
                <a:gd name="T13" fmla="*/ 12 h 28"/>
                <a:gd name="T14" fmla="*/ 232 w 256"/>
                <a:gd name="T15" fmla="*/ 13 h 28"/>
                <a:gd name="T16" fmla="*/ 227 w 256"/>
                <a:gd name="T17" fmla="*/ 13 h 28"/>
                <a:gd name="T18" fmla="*/ 222 w 256"/>
                <a:gd name="T19" fmla="*/ 15 h 28"/>
                <a:gd name="T20" fmla="*/ 216 w 256"/>
                <a:gd name="T21" fmla="*/ 15 h 28"/>
                <a:gd name="T22" fmla="*/ 213 w 256"/>
                <a:gd name="T23" fmla="*/ 15 h 28"/>
                <a:gd name="T24" fmla="*/ 208 w 256"/>
                <a:gd name="T25" fmla="*/ 17 h 28"/>
                <a:gd name="T26" fmla="*/ 204 w 256"/>
                <a:gd name="T27" fmla="*/ 17 h 28"/>
                <a:gd name="T28" fmla="*/ 199 w 256"/>
                <a:gd name="T29" fmla="*/ 18 h 28"/>
                <a:gd name="T30" fmla="*/ 194 w 256"/>
                <a:gd name="T31" fmla="*/ 18 h 28"/>
                <a:gd name="T32" fmla="*/ 188 w 256"/>
                <a:gd name="T33" fmla="*/ 18 h 28"/>
                <a:gd name="T34" fmla="*/ 183 w 256"/>
                <a:gd name="T35" fmla="*/ 19 h 28"/>
                <a:gd name="T36" fmla="*/ 177 w 256"/>
                <a:gd name="T37" fmla="*/ 19 h 28"/>
                <a:gd name="T38" fmla="*/ 171 w 256"/>
                <a:gd name="T39" fmla="*/ 21 h 28"/>
                <a:gd name="T40" fmla="*/ 166 w 256"/>
                <a:gd name="T41" fmla="*/ 22 h 28"/>
                <a:gd name="T42" fmla="*/ 160 w 256"/>
                <a:gd name="T43" fmla="*/ 22 h 28"/>
                <a:gd name="T44" fmla="*/ 155 w 256"/>
                <a:gd name="T45" fmla="*/ 22 h 28"/>
                <a:gd name="T46" fmla="*/ 150 w 256"/>
                <a:gd name="T47" fmla="*/ 22 h 28"/>
                <a:gd name="T48" fmla="*/ 144 w 256"/>
                <a:gd name="T49" fmla="*/ 22 h 28"/>
                <a:gd name="T50" fmla="*/ 138 w 256"/>
                <a:gd name="T51" fmla="*/ 22 h 28"/>
                <a:gd name="T52" fmla="*/ 132 w 256"/>
                <a:gd name="T53" fmla="*/ 22 h 28"/>
                <a:gd name="T54" fmla="*/ 127 w 256"/>
                <a:gd name="T55" fmla="*/ 22 h 28"/>
                <a:gd name="T56" fmla="*/ 122 w 256"/>
                <a:gd name="T57" fmla="*/ 22 h 28"/>
                <a:gd name="T58" fmla="*/ 116 w 256"/>
                <a:gd name="T59" fmla="*/ 22 h 28"/>
                <a:gd name="T60" fmla="*/ 111 w 256"/>
                <a:gd name="T61" fmla="*/ 22 h 28"/>
                <a:gd name="T62" fmla="*/ 106 w 256"/>
                <a:gd name="T63" fmla="*/ 23 h 28"/>
                <a:gd name="T64" fmla="*/ 103 w 256"/>
                <a:gd name="T65" fmla="*/ 24 h 28"/>
                <a:gd name="T66" fmla="*/ 99 w 256"/>
                <a:gd name="T67" fmla="*/ 24 h 28"/>
                <a:gd name="T68" fmla="*/ 95 w 256"/>
                <a:gd name="T69" fmla="*/ 24 h 28"/>
                <a:gd name="T70" fmla="*/ 88 w 256"/>
                <a:gd name="T71" fmla="*/ 24 h 28"/>
                <a:gd name="T72" fmla="*/ 83 w 256"/>
                <a:gd name="T73" fmla="*/ 24 h 28"/>
                <a:gd name="T74" fmla="*/ 77 w 256"/>
                <a:gd name="T75" fmla="*/ 24 h 28"/>
                <a:gd name="T76" fmla="*/ 72 w 256"/>
                <a:gd name="T77" fmla="*/ 24 h 28"/>
                <a:gd name="T78" fmla="*/ 68 w 256"/>
                <a:gd name="T79" fmla="*/ 25 h 28"/>
                <a:gd name="T80" fmla="*/ 63 w 256"/>
                <a:gd name="T81" fmla="*/ 25 h 28"/>
                <a:gd name="T82" fmla="*/ 59 w 256"/>
                <a:gd name="T83" fmla="*/ 27 h 28"/>
                <a:gd name="T84" fmla="*/ 55 w 256"/>
                <a:gd name="T85" fmla="*/ 27 h 28"/>
                <a:gd name="T86" fmla="*/ 50 w 256"/>
                <a:gd name="T87" fmla="*/ 27 h 28"/>
                <a:gd name="T88" fmla="*/ 44 w 256"/>
                <a:gd name="T89" fmla="*/ 27 h 28"/>
                <a:gd name="T90" fmla="*/ 39 w 256"/>
                <a:gd name="T91" fmla="*/ 27 h 28"/>
                <a:gd name="T92" fmla="*/ 33 w 256"/>
                <a:gd name="T93" fmla="*/ 27 h 28"/>
                <a:gd name="T94" fmla="*/ 29 w 256"/>
                <a:gd name="T95" fmla="*/ 27 h 28"/>
                <a:gd name="T96" fmla="*/ 24 w 256"/>
                <a:gd name="T97" fmla="*/ 27 h 28"/>
                <a:gd name="T98" fmla="*/ 21 w 256"/>
                <a:gd name="T99" fmla="*/ 27 h 28"/>
                <a:gd name="T100" fmla="*/ 15 w 256"/>
                <a:gd name="T101" fmla="*/ 27 h 28"/>
                <a:gd name="T102" fmla="*/ 11 w 256"/>
                <a:gd name="T103" fmla="*/ 27 h 28"/>
                <a:gd name="T104" fmla="*/ 5 w 256"/>
                <a:gd name="T105" fmla="*/ 27 h 28"/>
                <a:gd name="T106" fmla="*/ 0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255" y="0"/>
                  </a:moveTo>
                  <a:lnTo>
                    <a:pt x="255" y="0"/>
                  </a:lnTo>
                  <a:lnTo>
                    <a:pt x="255" y="3"/>
                  </a:lnTo>
                  <a:lnTo>
                    <a:pt x="249" y="6"/>
                  </a:lnTo>
                  <a:lnTo>
                    <a:pt x="246" y="9"/>
                  </a:lnTo>
                  <a:lnTo>
                    <a:pt x="242" y="9"/>
                  </a:lnTo>
                  <a:lnTo>
                    <a:pt x="238" y="12"/>
                  </a:lnTo>
                  <a:lnTo>
                    <a:pt x="232" y="13"/>
                  </a:lnTo>
                  <a:lnTo>
                    <a:pt x="227" y="13"/>
                  </a:lnTo>
                  <a:lnTo>
                    <a:pt x="222" y="15"/>
                  </a:lnTo>
                  <a:lnTo>
                    <a:pt x="216" y="15"/>
                  </a:lnTo>
                  <a:lnTo>
                    <a:pt x="213" y="15"/>
                  </a:lnTo>
                  <a:lnTo>
                    <a:pt x="208" y="17"/>
                  </a:lnTo>
                  <a:lnTo>
                    <a:pt x="204" y="17"/>
                  </a:lnTo>
                  <a:lnTo>
                    <a:pt x="199" y="18"/>
                  </a:lnTo>
                  <a:lnTo>
                    <a:pt x="194" y="18"/>
                  </a:lnTo>
                  <a:lnTo>
                    <a:pt x="188" y="18"/>
                  </a:lnTo>
                  <a:lnTo>
                    <a:pt x="183" y="19"/>
                  </a:lnTo>
                  <a:lnTo>
                    <a:pt x="177" y="19"/>
                  </a:lnTo>
                  <a:lnTo>
                    <a:pt x="171" y="21"/>
                  </a:lnTo>
                  <a:lnTo>
                    <a:pt x="166" y="22"/>
                  </a:lnTo>
                  <a:lnTo>
                    <a:pt x="160" y="22"/>
                  </a:lnTo>
                  <a:lnTo>
                    <a:pt x="155" y="22"/>
                  </a:lnTo>
                  <a:lnTo>
                    <a:pt x="150" y="22"/>
                  </a:lnTo>
                  <a:lnTo>
                    <a:pt x="144" y="22"/>
                  </a:lnTo>
                  <a:lnTo>
                    <a:pt x="138" y="22"/>
                  </a:lnTo>
                  <a:lnTo>
                    <a:pt x="132" y="22"/>
                  </a:lnTo>
                  <a:lnTo>
                    <a:pt x="127" y="22"/>
                  </a:lnTo>
                  <a:lnTo>
                    <a:pt x="122" y="22"/>
                  </a:lnTo>
                  <a:lnTo>
                    <a:pt x="116" y="22"/>
                  </a:lnTo>
                  <a:lnTo>
                    <a:pt x="111" y="22"/>
                  </a:lnTo>
                  <a:lnTo>
                    <a:pt x="106" y="23"/>
                  </a:lnTo>
                  <a:lnTo>
                    <a:pt x="103" y="24"/>
                  </a:lnTo>
                  <a:lnTo>
                    <a:pt x="99" y="24"/>
                  </a:lnTo>
                  <a:lnTo>
                    <a:pt x="95" y="24"/>
                  </a:lnTo>
                  <a:lnTo>
                    <a:pt x="88" y="24"/>
                  </a:lnTo>
                  <a:lnTo>
                    <a:pt x="83" y="24"/>
                  </a:lnTo>
                  <a:lnTo>
                    <a:pt x="77" y="24"/>
                  </a:lnTo>
                  <a:lnTo>
                    <a:pt x="72" y="24"/>
                  </a:lnTo>
                  <a:lnTo>
                    <a:pt x="68" y="25"/>
                  </a:lnTo>
                  <a:lnTo>
                    <a:pt x="63" y="25"/>
                  </a:lnTo>
                  <a:lnTo>
                    <a:pt x="59" y="27"/>
                  </a:lnTo>
                  <a:lnTo>
                    <a:pt x="55" y="27"/>
                  </a:lnTo>
                  <a:lnTo>
                    <a:pt x="50" y="27"/>
                  </a:lnTo>
                  <a:lnTo>
                    <a:pt x="44" y="27"/>
                  </a:lnTo>
                  <a:lnTo>
                    <a:pt x="39" y="27"/>
                  </a:lnTo>
                  <a:lnTo>
                    <a:pt x="33" y="27"/>
                  </a:lnTo>
                  <a:lnTo>
                    <a:pt x="29" y="27"/>
                  </a:lnTo>
                  <a:lnTo>
                    <a:pt x="24" y="27"/>
                  </a:lnTo>
                  <a:lnTo>
                    <a:pt x="21" y="27"/>
                  </a:lnTo>
                  <a:lnTo>
                    <a:pt x="15" y="27"/>
                  </a:lnTo>
                  <a:lnTo>
                    <a:pt x="11" y="27"/>
                  </a:lnTo>
                  <a:lnTo>
                    <a:pt x="5" y="27"/>
                  </a:lnTo>
                  <a:lnTo>
                    <a:pt x="0" y="27"/>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81" name="Line 97"/>
          <p:cNvSpPr>
            <a:spLocks noChangeShapeType="1"/>
          </p:cNvSpPr>
          <p:nvPr/>
        </p:nvSpPr>
        <p:spPr bwMode="auto">
          <a:xfrm flipV="1">
            <a:off x="8298474"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82" name="Line 98"/>
          <p:cNvSpPr>
            <a:spLocks noChangeShapeType="1"/>
          </p:cNvSpPr>
          <p:nvPr/>
        </p:nvSpPr>
        <p:spPr bwMode="auto">
          <a:xfrm flipV="1">
            <a:off x="6557597"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83" name="Rectangle 101"/>
          <p:cNvSpPr>
            <a:spLocks noChangeArrowheads="1"/>
          </p:cNvSpPr>
          <p:nvPr/>
        </p:nvSpPr>
        <p:spPr bwMode="auto">
          <a:xfrm>
            <a:off x="6389077" y="3117706"/>
            <a:ext cx="315792"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LSL</a:t>
            </a:r>
          </a:p>
        </p:txBody>
      </p:sp>
      <p:sp>
        <p:nvSpPr>
          <p:cNvPr id="84" name="Rectangle 102"/>
          <p:cNvSpPr>
            <a:spLocks noChangeArrowheads="1"/>
          </p:cNvSpPr>
          <p:nvPr/>
        </p:nvSpPr>
        <p:spPr bwMode="auto">
          <a:xfrm>
            <a:off x="8129954" y="3117706"/>
            <a:ext cx="341440"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USL</a:t>
            </a:r>
          </a:p>
        </p:txBody>
      </p:sp>
      <p:sp>
        <p:nvSpPr>
          <p:cNvPr id="85" name="Rectangle 105"/>
          <p:cNvSpPr>
            <a:spLocks noChangeArrowheads="1"/>
          </p:cNvSpPr>
          <p:nvPr/>
        </p:nvSpPr>
        <p:spPr bwMode="auto">
          <a:xfrm>
            <a:off x="7338646" y="3117706"/>
            <a:ext cx="209994"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X</a:t>
            </a:r>
          </a:p>
        </p:txBody>
      </p:sp>
      <p:sp>
        <p:nvSpPr>
          <p:cNvPr id="86" name="Line 107"/>
          <p:cNvSpPr>
            <a:spLocks noChangeShapeType="1"/>
          </p:cNvSpPr>
          <p:nvPr/>
        </p:nvSpPr>
        <p:spPr bwMode="auto">
          <a:xfrm>
            <a:off x="7382608" y="3128819"/>
            <a:ext cx="101112"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cxnSp>
        <p:nvCxnSpPr>
          <p:cNvPr id="87" name="직선 연결선 167"/>
          <p:cNvCxnSpPr>
            <a:cxnSpLocks noChangeShapeType="1"/>
          </p:cNvCxnSpPr>
          <p:nvPr/>
        </p:nvCxnSpPr>
        <p:spPr bwMode="auto">
          <a:xfrm rot="5400000">
            <a:off x="5985303" y="4803693"/>
            <a:ext cx="2916238" cy="1465"/>
          </a:xfrm>
          <a:prstGeom prst="line">
            <a:avLst/>
          </a:prstGeom>
          <a:noFill/>
          <a:ln w="12700" algn="ctr">
            <a:solidFill>
              <a:schemeClr val="tx1"/>
            </a:solidFill>
            <a:prstDash val="dash"/>
            <a:round/>
            <a:headEnd/>
            <a:tailEnd/>
          </a:ln>
        </p:spPr>
      </p:cxnSp>
      <p:grpSp>
        <p:nvGrpSpPr>
          <p:cNvPr id="88" name="Group 54"/>
          <p:cNvGrpSpPr>
            <a:grpSpLocks/>
          </p:cNvGrpSpPr>
          <p:nvPr/>
        </p:nvGrpSpPr>
        <p:grpSpPr bwMode="auto">
          <a:xfrm>
            <a:off x="7066085" y="5700569"/>
            <a:ext cx="781050" cy="431800"/>
            <a:chOff x="1731" y="2548"/>
            <a:chExt cx="825" cy="516"/>
          </a:xfrm>
        </p:grpSpPr>
        <p:sp>
          <p:nvSpPr>
            <p:cNvPr id="89"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90"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1"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2"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93"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cxnSp>
        <p:nvCxnSpPr>
          <p:cNvPr id="94" name="직선 연결선 180"/>
          <p:cNvCxnSpPr>
            <a:cxnSpLocks noChangeShapeType="1"/>
          </p:cNvCxnSpPr>
          <p:nvPr/>
        </p:nvCxnSpPr>
        <p:spPr bwMode="auto">
          <a:xfrm rot="10800000" flipV="1">
            <a:off x="7454413" y="4219431"/>
            <a:ext cx="213946" cy="1588"/>
          </a:xfrm>
          <a:prstGeom prst="line">
            <a:avLst/>
          </a:prstGeom>
          <a:noFill/>
          <a:ln w="12700" algn="ctr">
            <a:solidFill>
              <a:schemeClr val="tx1"/>
            </a:solidFill>
            <a:round/>
            <a:headEnd type="triangle" w="sm" len="sm"/>
            <a:tailEnd type="triangle" w="sm" len="sm"/>
          </a:ln>
        </p:spPr>
      </p:cxnSp>
      <p:sp>
        <p:nvSpPr>
          <p:cNvPr id="95" name="TextBox 181"/>
          <p:cNvSpPr txBox="1">
            <a:spLocks noChangeArrowheads="1"/>
          </p:cNvSpPr>
          <p:nvPr/>
        </p:nvSpPr>
        <p:spPr bwMode="auto">
          <a:xfrm>
            <a:off x="7388469" y="4006706"/>
            <a:ext cx="37061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st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sp>
        <p:nvSpPr>
          <p:cNvPr id="96" name="Line 29"/>
          <p:cNvSpPr>
            <a:spLocks noChangeShapeType="1"/>
          </p:cNvSpPr>
          <p:nvPr/>
        </p:nvSpPr>
        <p:spPr bwMode="auto">
          <a:xfrm>
            <a:off x="7445620" y="2165206"/>
            <a:ext cx="0" cy="89535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cxnSp>
        <p:nvCxnSpPr>
          <p:cNvPr id="97" name="직선 연결선 186"/>
          <p:cNvCxnSpPr>
            <a:cxnSpLocks noChangeShapeType="1"/>
          </p:cNvCxnSpPr>
          <p:nvPr/>
        </p:nvCxnSpPr>
        <p:spPr bwMode="auto">
          <a:xfrm rot="10800000" flipV="1">
            <a:off x="7454413" y="2990706"/>
            <a:ext cx="213946" cy="1588"/>
          </a:xfrm>
          <a:prstGeom prst="line">
            <a:avLst/>
          </a:prstGeom>
          <a:noFill/>
          <a:ln w="12700" algn="ctr">
            <a:solidFill>
              <a:schemeClr val="tx1"/>
            </a:solidFill>
            <a:round/>
            <a:headEnd type="triangle" w="sm" len="sm"/>
            <a:tailEnd type="triangle" w="sm" len="sm"/>
          </a:ln>
        </p:spPr>
      </p:cxnSp>
      <p:sp>
        <p:nvSpPr>
          <p:cNvPr id="98" name="TextBox 187"/>
          <p:cNvSpPr txBox="1">
            <a:spLocks noChangeArrowheads="1"/>
          </p:cNvSpPr>
          <p:nvPr/>
        </p:nvSpPr>
        <p:spPr bwMode="auto">
          <a:xfrm>
            <a:off x="7388469" y="2777982"/>
            <a:ext cx="37061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st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sp>
        <p:nvSpPr>
          <p:cNvPr id="99" name="TextBox 98"/>
          <p:cNvSpPr txBox="1"/>
          <p:nvPr/>
        </p:nvSpPr>
        <p:spPr>
          <a:xfrm>
            <a:off x="3055316" y="1714488"/>
            <a:ext cx="1730208" cy="523220"/>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The long-term</a:t>
            </a:r>
          </a:p>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 process capability </a:t>
            </a:r>
          </a:p>
        </p:txBody>
      </p:sp>
      <p:sp>
        <p:nvSpPr>
          <p:cNvPr id="100" name="TextBox 99"/>
          <p:cNvSpPr txBox="1"/>
          <p:nvPr/>
        </p:nvSpPr>
        <p:spPr>
          <a:xfrm>
            <a:off x="4967657" y="1714488"/>
            <a:ext cx="1667692" cy="523220"/>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The short-term </a:t>
            </a:r>
          </a:p>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process capability </a:t>
            </a:r>
          </a:p>
        </p:txBody>
      </p:sp>
      <p:sp>
        <p:nvSpPr>
          <p:cNvPr id="101" name="Rectangle 18"/>
          <p:cNvSpPr>
            <a:spLocks noChangeArrowheads="1"/>
          </p:cNvSpPr>
          <p:nvPr/>
        </p:nvSpPr>
        <p:spPr bwMode="auto">
          <a:xfrm>
            <a:off x="3033346" y="3929066"/>
            <a:ext cx="1524000" cy="993862"/>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The long-term process reflects overall intra-group/group variation.</a:t>
            </a:r>
          </a:p>
        </p:txBody>
      </p:sp>
      <p:grpSp>
        <p:nvGrpSpPr>
          <p:cNvPr id="102" name="그룹 223"/>
          <p:cNvGrpSpPr>
            <a:grpSpLocks/>
          </p:cNvGrpSpPr>
          <p:nvPr/>
        </p:nvGrpSpPr>
        <p:grpSpPr bwMode="auto">
          <a:xfrm>
            <a:off x="4944209" y="2217595"/>
            <a:ext cx="1402657" cy="509388"/>
            <a:chOff x="5436777" y="1695006"/>
            <a:chExt cx="1518659" cy="510202"/>
          </a:xfrm>
        </p:grpSpPr>
        <p:sp>
          <p:nvSpPr>
            <p:cNvPr id="103" name="TextBox 102"/>
            <p:cNvSpPr txBox="1"/>
            <p:nvPr/>
          </p:nvSpPr>
          <p:spPr>
            <a:xfrm>
              <a:off x="5436777" y="1804717"/>
              <a:ext cx="514345"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Z</a:t>
              </a:r>
              <a:r>
                <a:rPr kumimoji="0" lang="en-US" altLang="ko-KR" sz="1400" b="1" kern="0" baseline="-25000" dirty="0">
                  <a:solidFill>
                    <a:sysClr val="windowText" lastClr="000000"/>
                  </a:solidFill>
                  <a:latin typeface="맑은 고딕" pitchFamily="50" charset="-127"/>
                  <a:ea typeface="맑은 고딕" pitchFamily="50" charset="-127"/>
                </a:rPr>
                <a:t>st</a:t>
              </a:r>
              <a:r>
                <a:rPr kumimoji="0" lang="en-US" altLang="ko-KR" sz="1400" b="1" kern="0" dirty="0">
                  <a:solidFill>
                    <a:sysClr val="windowText" lastClr="000000"/>
                  </a:solidFill>
                  <a:latin typeface="맑은 고딕" pitchFamily="50" charset="-127"/>
                  <a:ea typeface="맑은 고딕" pitchFamily="50" charset="-127"/>
                </a:rPr>
                <a:t> =</a:t>
              </a:r>
            </a:p>
          </p:txBody>
        </p:sp>
        <p:cxnSp>
          <p:nvCxnSpPr>
            <p:cNvPr id="104" name="직선 연결선 203"/>
            <p:cNvCxnSpPr>
              <a:cxnSpLocks noChangeShapeType="1"/>
            </p:cNvCxnSpPr>
            <p:nvPr/>
          </p:nvCxnSpPr>
          <p:spPr bwMode="auto">
            <a:xfrm rot="10800000" flipV="1">
              <a:off x="5963130" y="1956529"/>
              <a:ext cx="849878" cy="4351"/>
            </a:xfrm>
            <a:prstGeom prst="line">
              <a:avLst/>
            </a:prstGeom>
            <a:noFill/>
            <a:ln w="12700" algn="ctr">
              <a:solidFill>
                <a:schemeClr val="tx1"/>
              </a:solidFill>
              <a:round/>
              <a:headEnd/>
              <a:tailEnd/>
            </a:ln>
          </p:spPr>
        </p:cxnSp>
        <p:sp>
          <p:nvSpPr>
            <p:cNvPr id="105" name="TextBox 104"/>
            <p:cNvSpPr txBox="1"/>
            <p:nvPr/>
          </p:nvSpPr>
          <p:spPr>
            <a:xfrm>
              <a:off x="6261795" y="1896939"/>
              <a:ext cx="352937"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l-GR" altLang="ko-KR" sz="1400" b="1" kern="0" dirty="0">
                  <a:solidFill>
                    <a:sysClr val="windowText" lastClr="000000"/>
                  </a:solidFill>
                  <a:latin typeface="맑은 고딕" pitchFamily="50" charset="-127"/>
                  <a:ea typeface="맑은 고딕" pitchFamily="50" charset="-127"/>
                </a:rPr>
                <a:t>σ</a:t>
              </a:r>
              <a:r>
                <a:rPr kumimoji="0" lang="en-US" altLang="ko-KR" sz="1400" b="1" kern="0" baseline="-25000" dirty="0">
                  <a:solidFill>
                    <a:sysClr val="windowText" lastClr="000000"/>
                  </a:solidFill>
                  <a:latin typeface="맑은 고딕" pitchFamily="50" charset="-127"/>
                  <a:ea typeface="맑은 고딕" pitchFamily="50" charset="-127"/>
                </a:rPr>
                <a:t>st </a:t>
              </a:r>
            </a:p>
          </p:txBody>
        </p:sp>
        <p:sp>
          <p:nvSpPr>
            <p:cNvPr id="106" name="TextBox 207"/>
            <p:cNvSpPr txBox="1">
              <a:spLocks noChangeArrowheads="1"/>
            </p:cNvSpPr>
            <p:nvPr/>
          </p:nvSpPr>
          <p:spPr bwMode="auto">
            <a:xfrm>
              <a:off x="5892084" y="1695006"/>
              <a:ext cx="1063352" cy="277442"/>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Target - SL</a:t>
              </a:r>
              <a:endParaRPr lang="ko-KR" altLang="en-US" sz="1200" b="1" dirty="0">
                <a:solidFill>
                  <a:srgbClr val="000000"/>
                </a:solidFill>
                <a:latin typeface="맑은 고딕" pitchFamily="50" charset="-127"/>
                <a:ea typeface="맑은 고딕" pitchFamily="50" charset="-127"/>
              </a:endParaRPr>
            </a:p>
          </p:txBody>
        </p:sp>
      </p:grpSp>
      <p:grpSp>
        <p:nvGrpSpPr>
          <p:cNvPr id="107" name="그룹 224"/>
          <p:cNvGrpSpPr>
            <a:grpSpLocks/>
          </p:cNvGrpSpPr>
          <p:nvPr/>
        </p:nvGrpSpPr>
        <p:grpSpPr bwMode="auto">
          <a:xfrm>
            <a:off x="3169628" y="2217595"/>
            <a:ext cx="1249973" cy="509388"/>
            <a:chOff x="3098822" y="1695006"/>
            <a:chExt cx="1354112" cy="510202"/>
          </a:xfrm>
        </p:grpSpPr>
        <p:sp>
          <p:nvSpPr>
            <p:cNvPr id="108" name="TextBox 107"/>
            <p:cNvSpPr txBox="1"/>
            <p:nvPr/>
          </p:nvSpPr>
          <p:spPr>
            <a:xfrm>
              <a:off x="3098822" y="1804717"/>
              <a:ext cx="490324"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Z</a:t>
              </a:r>
              <a:r>
                <a:rPr kumimoji="0" lang="en-US" altLang="ko-KR" sz="1400" b="1" kern="0" baseline="-25000" dirty="0">
                  <a:solidFill>
                    <a:sysClr val="windowText" lastClr="000000"/>
                  </a:solidFill>
                  <a:latin typeface="맑은 고딕" pitchFamily="50" charset="-127"/>
                  <a:ea typeface="맑은 고딕" pitchFamily="50" charset="-127"/>
                </a:rPr>
                <a:t>lt</a:t>
              </a:r>
              <a:r>
                <a:rPr kumimoji="0" lang="en-US" altLang="ko-KR" sz="1400" b="1" kern="0" dirty="0">
                  <a:solidFill>
                    <a:sysClr val="windowText" lastClr="000000"/>
                  </a:solidFill>
                  <a:latin typeface="맑은 고딕" pitchFamily="50" charset="-127"/>
                  <a:ea typeface="맑은 고딕" pitchFamily="50" charset="-127"/>
                </a:rPr>
                <a:t> =</a:t>
              </a:r>
            </a:p>
          </p:txBody>
        </p:sp>
        <p:cxnSp>
          <p:nvCxnSpPr>
            <p:cNvPr id="109" name="직선 연결선 196"/>
            <p:cNvCxnSpPr>
              <a:cxnSpLocks noChangeShapeType="1"/>
            </p:cNvCxnSpPr>
            <p:nvPr/>
          </p:nvCxnSpPr>
          <p:spPr bwMode="auto">
            <a:xfrm rot="10800000" flipV="1">
              <a:off x="3603056" y="1956529"/>
              <a:ext cx="849878" cy="4351"/>
            </a:xfrm>
            <a:prstGeom prst="line">
              <a:avLst/>
            </a:prstGeom>
            <a:noFill/>
            <a:ln w="12700" algn="ctr">
              <a:solidFill>
                <a:schemeClr val="tx1"/>
              </a:solidFill>
              <a:round/>
              <a:headEnd/>
              <a:tailEnd/>
            </a:ln>
          </p:spPr>
        </p:cxnSp>
        <p:sp>
          <p:nvSpPr>
            <p:cNvPr id="110" name="TextBox 109"/>
            <p:cNvSpPr txBox="1"/>
            <p:nvPr/>
          </p:nvSpPr>
          <p:spPr>
            <a:xfrm>
              <a:off x="3913194" y="1896939"/>
              <a:ext cx="328824"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l-GR" altLang="ko-KR" sz="1400" b="1" kern="0" dirty="0">
                  <a:solidFill>
                    <a:sysClr val="windowText" lastClr="000000"/>
                  </a:solidFill>
                  <a:latin typeface="맑은 고딕" pitchFamily="50" charset="-127"/>
                  <a:ea typeface="맑은 고딕" pitchFamily="50" charset="-127"/>
                </a:rPr>
                <a:t>σ</a:t>
              </a:r>
              <a:r>
                <a:rPr kumimoji="0" lang="en-US" altLang="ko-KR" sz="1400" b="1" kern="0" baseline="-25000" dirty="0">
                  <a:solidFill>
                    <a:sysClr val="windowText" lastClr="000000"/>
                  </a:solidFill>
                  <a:latin typeface="맑은 고딕" pitchFamily="50" charset="-127"/>
                  <a:ea typeface="맑은 고딕" pitchFamily="50" charset="-127"/>
                </a:rPr>
                <a:t>lt </a:t>
              </a:r>
            </a:p>
          </p:txBody>
        </p:sp>
        <p:sp>
          <p:nvSpPr>
            <p:cNvPr id="111" name="TextBox 206"/>
            <p:cNvSpPr txBox="1">
              <a:spLocks noChangeArrowheads="1"/>
            </p:cNvSpPr>
            <p:nvPr/>
          </p:nvSpPr>
          <p:spPr bwMode="auto">
            <a:xfrm>
              <a:off x="3727733" y="1695006"/>
              <a:ext cx="675867" cy="277442"/>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X - SL</a:t>
              </a:r>
              <a:endParaRPr lang="ko-KR" altLang="en-US" sz="1200" b="1" dirty="0">
                <a:solidFill>
                  <a:srgbClr val="000000"/>
                </a:solidFill>
                <a:latin typeface="맑은 고딕" pitchFamily="50" charset="-127"/>
                <a:ea typeface="맑은 고딕" pitchFamily="50" charset="-127"/>
              </a:endParaRPr>
            </a:p>
          </p:txBody>
        </p:sp>
        <p:cxnSp>
          <p:nvCxnSpPr>
            <p:cNvPr id="112" name="직선 연결선 209"/>
            <p:cNvCxnSpPr>
              <a:cxnSpLocks noChangeShapeType="1"/>
            </p:cNvCxnSpPr>
            <p:nvPr/>
          </p:nvCxnSpPr>
          <p:spPr bwMode="auto">
            <a:xfrm>
              <a:off x="3807884" y="1755760"/>
              <a:ext cx="114300" cy="1588"/>
            </a:xfrm>
            <a:prstGeom prst="line">
              <a:avLst/>
            </a:prstGeom>
            <a:noFill/>
            <a:ln w="12700" algn="ctr">
              <a:solidFill>
                <a:schemeClr val="tx1"/>
              </a:solidFill>
              <a:round/>
              <a:headEnd/>
              <a:tailEnd/>
            </a:ln>
          </p:spPr>
        </p:cxnSp>
      </p:grpSp>
      <p:sp>
        <p:nvSpPr>
          <p:cNvPr id="113" name="TextBox 211"/>
          <p:cNvSpPr txBox="1">
            <a:spLocks noChangeArrowheads="1"/>
          </p:cNvSpPr>
          <p:nvPr/>
        </p:nvSpPr>
        <p:spPr bwMode="auto">
          <a:xfrm>
            <a:off x="7154008" y="6291120"/>
            <a:ext cx="643894"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Target</a:t>
            </a:r>
            <a:endParaRPr lang="ko-KR" altLang="en-US" sz="1200" b="1" dirty="0">
              <a:solidFill>
                <a:srgbClr val="000000"/>
              </a:solidFill>
              <a:latin typeface="맑은 고딕" pitchFamily="50" charset="-127"/>
              <a:ea typeface="맑은 고딕" pitchFamily="50" charset="-127"/>
            </a:endParaRPr>
          </a:p>
        </p:txBody>
      </p:sp>
      <p:sp>
        <p:nvSpPr>
          <p:cNvPr id="114" name="TextBox 212"/>
          <p:cNvSpPr txBox="1">
            <a:spLocks noChangeArrowheads="1"/>
          </p:cNvSpPr>
          <p:nvPr/>
        </p:nvSpPr>
        <p:spPr bwMode="auto">
          <a:xfrm>
            <a:off x="1698381" y="6106969"/>
            <a:ext cx="28565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X</a:t>
            </a:r>
            <a:endParaRPr lang="ko-KR" altLang="en-US" sz="1200" b="1" dirty="0">
              <a:solidFill>
                <a:srgbClr val="000000"/>
              </a:solidFill>
              <a:latin typeface="맑은 고딕" pitchFamily="50" charset="-127"/>
              <a:ea typeface="맑은 고딕" pitchFamily="50" charset="-127"/>
            </a:endParaRPr>
          </a:p>
        </p:txBody>
      </p:sp>
      <p:cxnSp>
        <p:nvCxnSpPr>
          <p:cNvPr id="115" name="직선 연결선 213"/>
          <p:cNvCxnSpPr>
            <a:cxnSpLocks noChangeShapeType="1"/>
          </p:cNvCxnSpPr>
          <p:nvPr/>
        </p:nvCxnSpPr>
        <p:spPr bwMode="auto">
          <a:xfrm>
            <a:off x="1781908" y="6148245"/>
            <a:ext cx="105508" cy="1587"/>
          </a:xfrm>
          <a:prstGeom prst="line">
            <a:avLst/>
          </a:prstGeom>
          <a:noFill/>
          <a:ln w="12700" algn="ctr">
            <a:solidFill>
              <a:schemeClr val="tx1"/>
            </a:solidFill>
            <a:round/>
            <a:headEnd/>
            <a:tailEnd/>
          </a:ln>
        </p:spPr>
      </p:cxnSp>
      <p:sp>
        <p:nvSpPr>
          <p:cNvPr id="116" name="Text Box 7"/>
          <p:cNvSpPr txBox="1">
            <a:spLocks noChangeArrowheads="1"/>
          </p:cNvSpPr>
          <p:nvPr/>
        </p:nvSpPr>
        <p:spPr bwMode="auto">
          <a:xfrm>
            <a:off x="4769828" y="3395963"/>
            <a:ext cx="1664302" cy="461665"/>
          </a:xfrm>
          <a:prstGeom prst="rect">
            <a:avLst/>
          </a:prstGeom>
          <a:noFill/>
          <a:ln w="9525" algn="ctr">
            <a:noFill/>
            <a:miter lim="800000"/>
            <a:headEnd/>
            <a:tailEnd/>
          </a:ln>
        </p:spPr>
        <p:txBody>
          <a:bodyPr wrap="none">
            <a:spAutoFit/>
          </a:bodyPr>
          <a:lstStyle/>
          <a:p>
            <a:pPr algn="ctr"/>
            <a:r>
              <a:rPr lang="en-US" altLang="ko-KR" sz="1200" b="1" dirty="0">
                <a:solidFill>
                  <a:srgbClr val="FF0066"/>
                </a:solidFill>
                <a:latin typeface="맑은 고딕" pitchFamily="50" charset="-127"/>
                <a:ea typeface="맑은 고딕" pitchFamily="50" charset="-127"/>
              </a:rPr>
              <a:t>The best ability of</a:t>
            </a:r>
          </a:p>
          <a:p>
            <a:pPr algn="ctr"/>
            <a:r>
              <a:rPr lang="en-US" altLang="ko-KR" sz="1200" b="1" dirty="0">
                <a:solidFill>
                  <a:srgbClr val="FF0066"/>
                </a:solidFill>
                <a:latin typeface="맑은 고딕" pitchFamily="50" charset="-127"/>
                <a:ea typeface="맑은 고딕" pitchFamily="50" charset="-127"/>
              </a:rPr>
              <a:t> the current process</a:t>
            </a:r>
            <a:endParaRPr lang="ko-KR" altLang="en-US" sz="1200" b="1" dirty="0">
              <a:solidFill>
                <a:srgbClr val="FF0066"/>
              </a:solidFill>
              <a:latin typeface="맑은 고딕" pitchFamily="50" charset="-127"/>
              <a:ea typeface="맑은 고딕" pitchFamily="50" charset="-127"/>
            </a:endParaRPr>
          </a:p>
        </p:txBody>
      </p:sp>
      <p:sp>
        <p:nvSpPr>
          <p:cNvPr id="117" name="Text Box 9"/>
          <p:cNvSpPr txBox="1">
            <a:spLocks noChangeArrowheads="1"/>
          </p:cNvSpPr>
          <p:nvPr/>
        </p:nvSpPr>
        <p:spPr bwMode="auto">
          <a:xfrm>
            <a:off x="2989374" y="3346307"/>
            <a:ext cx="1757341" cy="461665"/>
          </a:xfrm>
          <a:prstGeom prst="rect">
            <a:avLst/>
          </a:prstGeom>
          <a:noFill/>
          <a:ln w="9525" algn="ctr">
            <a:noFill/>
            <a:miter lim="800000"/>
            <a:headEnd/>
            <a:tailEnd/>
          </a:ln>
        </p:spPr>
        <p:txBody>
          <a:bodyPr wrap="none">
            <a:spAutoFit/>
          </a:bodyPr>
          <a:lstStyle/>
          <a:p>
            <a:pPr algn="ctr"/>
            <a:r>
              <a:rPr lang="en-US" altLang="ko-KR" sz="1200" b="1" dirty="0">
                <a:solidFill>
                  <a:srgbClr val="FF0066"/>
                </a:solidFill>
                <a:latin typeface="맑은 고딕" pitchFamily="50" charset="-127"/>
                <a:ea typeface="맑은 고딕" pitchFamily="50" charset="-127"/>
              </a:rPr>
              <a:t>Process capability of </a:t>
            </a:r>
          </a:p>
          <a:p>
            <a:pPr algn="ctr"/>
            <a:r>
              <a:rPr lang="en-US" altLang="ko-KR" sz="1200" b="1" dirty="0">
                <a:solidFill>
                  <a:srgbClr val="FF0066"/>
                </a:solidFill>
                <a:latin typeface="맑은 고딕" pitchFamily="50" charset="-127"/>
                <a:ea typeface="맑은 고딕" pitchFamily="50" charset="-127"/>
              </a:rPr>
              <a:t>customer perspective</a:t>
            </a:r>
          </a:p>
        </p:txBody>
      </p:sp>
      <p:sp>
        <p:nvSpPr>
          <p:cNvPr id="118" name="Rectangle 18"/>
          <p:cNvSpPr>
            <a:spLocks noChangeArrowheads="1"/>
          </p:cNvSpPr>
          <p:nvPr/>
        </p:nvSpPr>
        <p:spPr bwMode="auto">
          <a:xfrm>
            <a:off x="4846027" y="3935336"/>
            <a:ext cx="1524000" cy="1178528"/>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The short-term process assumes that the average in the intra-group achieves the target.</a:t>
            </a:r>
          </a:p>
        </p:txBody>
      </p:sp>
      <p:sp>
        <p:nvSpPr>
          <p:cNvPr id="119" name="Rectangle 18"/>
          <p:cNvSpPr>
            <a:spLocks noChangeArrowheads="1"/>
          </p:cNvSpPr>
          <p:nvPr/>
        </p:nvSpPr>
        <p:spPr bwMode="auto">
          <a:xfrm>
            <a:off x="4862147" y="5000636"/>
            <a:ext cx="1522535" cy="809196"/>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It represents the technical capability of the process.</a:t>
            </a:r>
          </a:p>
        </p:txBody>
      </p:sp>
      <p:sp>
        <p:nvSpPr>
          <p:cNvPr id="120" name="Rectangle 18"/>
          <p:cNvSpPr>
            <a:spLocks noChangeArrowheads="1"/>
          </p:cNvSpPr>
          <p:nvPr/>
        </p:nvSpPr>
        <p:spPr bwMode="auto">
          <a:xfrm>
            <a:off x="3033346" y="5000636"/>
            <a:ext cx="1858108" cy="624530"/>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It represents the skill of the process and the ability of management.</a:t>
            </a:r>
          </a:p>
        </p:txBody>
      </p:sp>
      <p:sp>
        <p:nvSpPr>
          <p:cNvPr id="121" name="Rectangle 18"/>
          <p:cNvSpPr>
            <a:spLocks noChangeArrowheads="1"/>
          </p:cNvSpPr>
          <p:nvPr/>
        </p:nvSpPr>
        <p:spPr bwMode="auto">
          <a:xfrm>
            <a:off x="3033347" y="5661990"/>
            <a:ext cx="1811393" cy="624530"/>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Chance and assignable</a:t>
            </a:r>
          </a:p>
          <a:p>
            <a:pPr defTabSz="514350" eaLnBrk="0" latinLnBrk="0" hangingPunct="0"/>
            <a:r>
              <a:rPr lang="en-US" altLang="ko-KR" sz="1200" b="1" dirty="0">
                <a:solidFill>
                  <a:srgbClr val="000000"/>
                </a:solidFill>
                <a:latin typeface="맑은 고딕" pitchFamily="50" charset="-127"/>
                <a:ea typeface="맑은 고딕" pitchFamily="50" charset="-127"/>
              </a:rPr>
              <a:t> variation affect </a:t>
            </a:r>
          </a:p>
          <a:p>
            <a:pPr defTabSz="514350" eaLnBrk="0" latinLnBrk="0" hangingPunct="0"/>
            <a:r>
              <a:rPr lang="en-US" altLang="ko-KR" sz="1200" b="1" dirty="0">
                <a:solidFill>
                  <a:srgbClr val="000000"/>
                </a:solidFill>
                <a:latin typeface="맑은 고딕" pitchFamily="50" charset="-127"/>
                <a:ea typeface="맑은 고딕" pitchFamily="50" charset="-127"/>
              </a:rPr>
              <a:t>process capability</a:t>
            </a:r>
          </a:p>
        </p:txBody>
      </p:sp>
      <p:sp>
        <p:nvSpPr>
          <p:cNvPr id="122" name="Rectangle 18"/>
          <p:cNvSpPr>
            <a:spLocks noChangeArrowheads="1"/>
          </p:cNvSpPr>
          <p:nvPr/>
        </p:nvSpPr>
        <p:spPr bwMode="auto">
          <a:xfrm>
            <a:off x="4854820" y="5775344"/>
            <a:ext cx="1919436" cy="439864"/>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Chance variation</a:t>
            </a:r>
          </a:p>
          <a:p>
            <a:pPr defTabSz="514350" eaLnBrk="0" latinLnBrk="0" hangingPunct="0"/>
            <a:r>
              <a:rPr lang="en-US" altLang="ko-KR" sz="1200" b="1" dirty="0">
                <a:solidFill>
                  <a:srgbClr val="000000"/>
                </a:solidFill>
                <a:latin typeface="맑은 고딕" pitchFamily="50" charset="-127"/>
                <a:ea typeface="맑은 고딕" pitchFamily="50" charset="-127"/>
              </a:rPr>
              <a:t>affect process capability</a:t>
            </a:r>
          </a:p>
        </p:txBody>
      </p:sp>
      <p:sp>
        <p:nvSpPr>
          <p:cNvPr id="123" name="TextBox 122"/>
          <p:cNvSpPr txBox="1"/>
          <p:nvPr/>
        </p:nvSpPr>
        <p:spPr>
          <a:xfrm>
            <a:off x="395654" y="1104925"/>
            <a:ext cx="8748346" cy="738664"/>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The short-term process capability (</a:t>
            </a: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 represents the best capability of the current process.</a:t>
            </a:r>
          </a:p>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The long-term process capability (</a:t>
            </a:r>
            <a:r>
              <a:rPr kumimoji="0" lang="en-US" altLang="ko-KR" sz="1400" b="1" kern="0" dirty="0" err="1">
                <a:solidFill>
                  <a:sysClr val="windowText" lastClr="000000"/>
                </a:solidFill>
                <a:latin typeface="맑은 고딕" pitchFamily="50" charset="-127"/>
                <a:ea typeface="맑은 고딕" pitchFamily="50" charset="-127"/>
              </a:rPr>
              <a:t>Zlt</a:t>
            </a:r>
            <a:r>
              <a:rPr kumimoji="0" lang="en-US" altLang="ko-KR" sz="1400" b="1" kern="0" dirty="0">
                <a:solidFill>
                  <a:sysClr val="windowText" lastClr="000000"/>
                </a:solidFill>
                <a:latin typeface="맑은 고딕" pitchFamily="50" charset="-127"/>
                <a:ea typeface="맑은 고딕" pitchFamily="50" charset="-127"/>
              </a:rPr>
              <a:t>) represents the process capability of the customer's perspective.</a:t>
            </a:r>
          </a:p>
        </p:txBody>
      </p:sp>
      <p:sp>
        <p:nvSpPr>
          <p:cNvPr id="124" name="Rectangle 18"/>
          <p:cNvSpPr>
            <a:spLocks noChangeArrowheads="1"/>
          </p:cNvSpPr>
          <p:nvPr/>
        </p:nvSpPr>
        <p:spPr bwMode="auto">
          <a:xfrm>
            <a:off x="3033347" y="6317074"/>
            <a:ext cx="1356975" cy="255198"/>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Zlt</a:t>
            </a:r>
            <a:r>
              <a:rPr lang="en-US" altLang="ko-KR" sz="1200" b="1" dirty="0">
                <a:solidFill>
                  <a:srgbClr val="000000"/>
                </a:solidFill>
                <a:latin typeface="맑은 고딕" pitchFamily="50" charset="-127"/>
                <a:ea typeface="맑은 고딕" pitchFamily="50" charset="-127"/>
              </a:rPr>
              <a:t> target 4.5σ</a:t>
            </a:r>
            <a:r>
              <a:rPr lang="ko-KR" altLang="en-US" sz="1200" b="1" dirty="0">
                <a:solidFill>
                  <a:srgbClr val="000000"/>
                </a:solidFill>
                <a:latin typeface="맑은 고딕" pitchFamily="50" charset="-127"/>
                <a:ea typeface="맑은 고딕" pitchFamily="50" charset="-127"/>
              </a:rPr>
              <a:t>↑</a:t>
            </a:r>
            <a:endParaRPr lang="en-US" altLang="ko-KR" sz="1200" b="1" dirty="0">
              <a:solidFill>
                <a:srgbClr val="000000"/>
              </a:solidFill>
              <a:latin typeface="맑은 고딕" pitchFamily="50" charset="-127"/>
              <a:ea typeface="맑은 고딕" pitchFamily="50" charset="-127"/>
            </a:endParaRPr>
          </a:p>
        </p:txBody>
      </p:sp>
      <p:sp>
        <p:nvSpPr>
          <p:cNvPr id="125" name="Rectangle 18"/>
          <p:cNvSpPr>
            <a:spLocks noChangeArrowheads="1"/>
          </p:cNvSpPr>
          <p:nvPr/>
        </p:nvSpPr>
        <p:spPr bwMode="auto">
          <a:xfrm>
            <a:off x="4854820" y="6357958"/>
            <a:ext cx="1385829" cy="255198"/>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Zst</a:t>
            </a:r>
            <a:r>
              <a:rPr lang="en-US" altLang="ko-KR" sz="1200" b="1" dirty="0">
                <a:solidFill>
                  <a:srgbClr val="000000"/>
                </a:solidFill>
                <a:latin typeface="맑은 고딕" pitchFamily="50" charset="-127"/>
                <a:ea typeface="맑은 고딕" pitchFamily="50" charset="-127"/>
              </a:rPr>
              <a:t> target</a:t>
            </a:r>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6.0σ</a:t>
            </a:r>
            <a:r>
              <a:rPr lang="ko-KR" altLang="en-US" sz="1200" b="1" dirty="0">
                <a:solidFill>
                  <a:srgbClr val="000000"/>
                </a:solidFill>
                <a:latin typeface="맑은 고딕" pitchFamily="50" charset="-127"/>
                <a:ea typeface="맑은 고딕" pitchFamily="50" charset="-127"/>
              </a:rPr>
              <a:t>↑</a:t>
            </a:r>
            <a:endParaRPr lang="en-US" altLang="ko-KR" sz="1200" b="1" dirty="0">
              <a:solidFill>
                <a:srgbClr val="000000"/>
              </a:solidFill>
              <a:latin typeface="맑은 고딕" pitchFamily="50" charset="-127"/>
              <a:ea typeface="맑은 고딕" pitchFamily="50" charset="-127"/>
            </a:endParaRPr>
          </a:p>
        </p:txBody>
      </p:sp>
      <p:sp>
        <p:nvSpPr>
          <p:cNvPr id="126" name="TextBox 236"/>
          <p:cNvSpPr txBox="1">
            <a:spLocks noChangeArrowheads="1"/>
          </p:cNvSpPr>
          <p:nvPr/>
        </p:nvSpPr>
        <p:spPr bwMode="auto">
          <a:xfrm>
            <a:off x="1077033" y="6330806"/>
            <a:ext cx="1750287" cy="338554"/>
          </a:xfrm>
          <a:prstGeom prst="rect">
            <a:avLst/>
          </a:prstGeom>
          <a:noFill/>
          <a:ln w="9525">
            <a:noFill/>
            <a:miter lim="800000"/>
            <a:headEnd/>
            <a:tailEnd/>
          </a:ln>
        </p:spPr>
        <p:txBody>
          <a:bodyPr wrap="none">
            <a:spAutoFit/>
          </a:bodyPr>
          <a:lstStyle/>
          <a:p>
            <a:r>
              <a:rPr lang="en-US" altLang="ko-KR" sz="1600" b="1" dirty="0">
                <a:solidFill>
                  <a:srgbClr val="000000"/>
                </a:solidFill>
                <a:latin typeface="맑은 고딕" pitchFamily="50" charset="-127"/>
                <a:ea typeface="맑은 고딕" pitchFamily="50" charset="-127"/>
              </a:rPr>
              <a:t>Mean Shift 1.5σ</a:t>
            </a:r>
            <a:endParaRPr lang="ko-KR" altLang="en-US" sz="1600" b="1" dirty="0">
              <a:solidFill>
                <a:srgbClr val="000000"/>
              </a:solidFill>
              <a:latin typeface="맑은 고딕" pitchFamily="50" charset="-127"/>
              <a:ea typeface="맑은 고딕" pitchFamily="50" charset="-127"/>
            </a:endParaRPr>
          </a:p>
        </p:txBody>
      </p:sp>
      <p:sp>
        <p:nvSpPr>
          <p:cNvPr id="129" name="Text Box 39"/>
          <p:cNvSpPr txBox="1">
            <a:spLocks noChangeArrowheads="1"/>
          </p:cNvSpPr>
          <p:nvPr/>
        </p:nvSpPr>
        <p:spPr bwMode="auto">
          <a:xfrm>
            <a:off x="127731" y="620688"/>
            <a:ext cx="3997697"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 Set direction for improvement</a:t>
            </a:r>
          </a:p>
        </p:txBody>
      </p:sp>
      <p:sp>
        <p:nvSpPr>
          <p:cNvPr id="130"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2028613490"/>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221</a:t>
            </a:fld>
            <a:endParaRPr lang="ko-KR" altLang="en-US" dirty="0"/>
          </a:p>
        </p:txBody>
      </p:sp>
      <p:graphicFrame>
        <p:nvGraphicFramePr>
          <p:cNvPr id="3" name="Group 67"/>
          <p:cNvGraphicFramePr>
            <a:graphicFrameLocks noGrp="1"/>
          </p:cNvGraphicFramePr>
          <p:nvPr>
            <p:extLst>
              <p:ext uri="{D42A27DB-BD31-4B8C-83A1-F6EECF244321}">
                <p14:modId xmlns:p14="http://schemas.microsoft.com/office/powerpoint/2010/main" val="3792642266"/>
              </p:ext>
            </p:extLst>
          </p:nvPr>
        </p:nvGraphicFramePr>
        <p:xfrm>
          <a:off x="351664" y="1492954"/>
          <a:ext cx="8176904" cy="4436022"/>
        </p:xfrm>
        <a:graphic>
          <a:graphicData uri="http://schemas.openxmlformats.org/drawingml/2006/table">
            <a:tbl>
              <a:tblPr/>
              <a:tblGrid>
                <a:gridCol w="448591">
                  <a:extLst>
                    <a:ext uri="{9D8B030D-6E8A-4147-A177-3AD203B41FA5}">
                      <a16:colId xmlns:a16="http://schemas.microsoft.com/office/drawing/2014/main" val="20000"/>
                    </a:ext>
                  </a:extLst>
                </a:gridCol>
                <a:gridCol w="765962">
                  <a:extLst>
                    <a:ext uri="{9D8B030D-6E8A-4147-A177-3AD203B41FA5}">
                      <a16:colId xmlns:a16="http://schemas.microsoft.com/office/drawing/2014/main" val="20001"/>
                    </a:ext>
                  </a:extLst>
                </a:gridCol>
                <a:gridCol w="3048592">
                  <a:extLst>
                    <a:ext uri="{9D8B030D-6E8A-4147-A177-3AD203B41FA5}">
                      <a16:colId xmlns:a16="http://schemas.microsoft.com/office/drawing/2014/main" val="20002"/>
                    </a:ext>
                  </a:extLst>
                </a:gridCol>
                <a:gridCol w="3021147">
                  <a:extLst>
                    <a:ext uri="{9D8B030D-6E8A-4147-A177-3AD203B41FA5}">
                      <a16:colId xmlns:a16="http://schemas.microsoft.com/office/drawing/2014/main" val="20003"/>
                    </a:ext>
                  </a:extLst>
                </a:gridCol>
                <a:gridCol w="892612">
                  <a:extLst>
                    <a:ext uri="{9D8B030D-6E8A-4147-A177-3AD203B41FA5}">
                      <a16:colId xmlns:a16="http://schemas.microsoft.com/office/drawing/2014/main" val="20004"/>
                    </a:ext>
                  </a:extLst>
                </a:gridCol>
              </a:tblGrid>
              <a:tr h="308501">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Spec</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2700" cap="flat" cmpd="sng" algn="ctr">
                      <a:solidFill>
                        <a:schemeClr val="bg1"/>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st</a:t>
                      </a:r>
                      <a:endParaRPr kumimoji="0" lang="ko-KR" altLang="en-US" sz="1200" b="1" i="0" u="none" strike="noStrike" cap="none" normalizeH="0" baseline="-2500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lt</a:t>
                      </a:r>
                      <a:endParaRPr kumimoji="0" lang="ko-KR" altLang="en-US" sz="1200" b="1" i="0" u="none" strike="noStrike" cap="none" normalizeH="0" baseline="-2500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Zshift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2700" cap="flat" cmpd="sng" algn="ctr">
                      <a:solidFill>
                        <a:schemeClr val="bg1"/>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1042463">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Both</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Sides</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standard</a:t>
                      </a:r>
                    </a:p>
                  </a:txBody>
                  <a:tcPr marL="49846" marR="49846" anchor="ctr" horzOverflow="overflow">
                    <a:lnL w="12700" cap="flat" cmpd="sng" algn="ctr">
                      <a:solidFill>
                        <a:schemeClr val="bg1"/>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With</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Target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rowSpan="4">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st</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 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lt</a:t>
                      </a:r>
                      <a:endParaRPr kumimoji="0" lang="ko-KR" altLang="en-US" sz="1200" b="1" i="0" u="none" strike="noStrike" cap="none" normalizeH="0" baseline="-2500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2700" cap="flat" cmpd="sng" algn="ctr">
                      <a:solidFill>
                        <a:schemeClr val="bg1"/>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270001">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Without </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Target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a:ln>
                          <a:noFill/>
                        </a:ln>
                        <a:solidFill>
                          <a:schemeClr val="tx1"/>
                        </a:solidFill>
                        <a:effectLst/>
                        <a:latin typeface="맑은 고딕" pitchFamily="50" charset="-127"/>
                        <a:ea typeface="맑은 고딕" pitchFamily="50" charset="-127"/>
                      </a:endParaRPr>
                    </a:p>
                  </a:txBody>
                  <a:tcPr marL="54000" marR="54000"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extLst>
                  <a:ext uri="{0D108BD9-81ED-4DB2-BD59-A6C34878D82A}">
                    <a16:rowId xmlns:a16="http://schemas.microsoft.com/office/drawing/2014/main" val="10002"/>
                  </a:ext>
                </a:extLst>
              </a:tr>
              <a:tr h="928694">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One side standard</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2700" cap="flat" cmpd="sng" algn="ctr">
                      <a:solidFill>
                        <a:schemeClr val="bg1"/>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LSL Only</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2700" cap="flat" cmpd="sng" algn="ctr">
                      <a:solidFill>
                        <a:schemeClr val="folHlink"/>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2700" cap="flat" cmpd="sng" algn="ctr">
                      <a:solidFill>
                        <a:schemeClr val="folHlink"/>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extLst>
                  <a:ext uri="{0D108BD9-81ED-4DB2-BD59-A6C34878D82A}">
                    <a16:rowId xmlns:a16="http://schemas.microsoft.com/office/drawing/2014/main" val="10003"/>
                  </a:ext>
                </a:extLst>
              </a:tr>
              <a:tr h="886363">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USL Only</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2700" cap="flat" cmpd="sng" algn="ctr">
                      <a:solidFill>
                        <a:schemeClr val="folHlink"/>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2700" cap="flat" cmpd="sng" algn="ctr">
                      <a:solidFill>
                        <a:schemeClr val="folHlink"/>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extLst>
                  <a:ext uri="{0D108BD9-81ED-4DB2-BD59-A6C34878D82A}">
                    <a16:rowId xmlns:a16="http://schemas.microsoft.com/office/drawing/2014/main" val="10004"/>
                  </a:ext>
                </a:extLst>
              </a:tr>
            </a:tbl>
          </a:graphicData>
        </a:graphic>
      </p:graphicFrame>
      <p:sp>
        <p:nvSpPr>
          <p:cNvPr id="4" name="TextBox 17"/>
          <p:cNvSpPr txBox="1">
            <a:spLocks noChangeArrowheads="1"/>
          </p:cNvSpPr>
          <p:nvPr/>
        </p:nvSpPr>
        <p:spPr bwMode="auto">
          <a:xfrm>
            <a:off x="3127131" y="4555258"/>
            <a:ext cx="65" cy="138499"/>
          </a:xfrm>
          <a:prstGeom prst="rect">
            <a:avLst/>
          </a:prstGeom>
          <a:solidFill>
            <a:schemeClr val="bg1"/>
          </a:solidFill>
          <a:ln w="9525">
            <a:noFill/>
            <a:miter lim="800000"/>
            <a:headEnd/>
            <a:tailEnd/>
          </a:ln>
        </p:spPr>
        <p:txBody>
          <a:bodyPr wrap="none" lIns="0" tIns="0" rIns="0" bIns="0">
            <a:spAutoFit/>
          </a:bodyPr>
          <a:lstStyle/>
          <a:p>
            <a:endParaRPr lang="ko-KR" altLang="en-US" sz="900" b="1" i="1" dirty="0">
              <a:solidFill>
                <a:srgbClr val="000000"/>
              </a:solidFill>
              <a:latin typeface="HY신명조" pitchFamily="18" charset="-127"/>
              <a:ea typeface="HY신명조" pitchFamily="18" charset="-127"/>
            </a:endParaRPr>
          </a:p>
        </p:txBody>
      </p:sp>
      <p:sp>
        <p:nvSpPr>
          <p:cNvPr id="5" name="Text Box 57"/>
          <p:cNvSpPr txBox="1">
            <a:spLocks noChangeArrowheads="1"/>
          </p:cNvSpPr>
          <p:nvPr/>
        </p:nvSpPr>
        <p:spPr bwMode="auto">
          <a:xfrm>
            <a:off x="681404" y="5971307"/>
            <a:ext cx="6132651" cy="553998"/>
          </a:xfrm>
          <a:prstGeom prst="rect">
            <a:avLst/>
          </a:prstGeom>
          <a:noFill/>
          <a:ln w="9525" algn="ctr">
            <a:noFill/>
            <a:miter lim="800000"/>
            <a:headEnd/>
            <a:tailEnd/>
          </a:ln>
        </p:spPr>
        <p:txBody>
          <a:bodyPr wrap="square">
            <a:spAutoFit/>
          </a:bodyPr>
          <a:lstStyle/>
          <a:p>
            <a:r>
              <a:rPr lang="en-US" altLang="ko-KR" sz="1000" b="1" dirty="0">
                <a:solidFill>
                  <a:srgbClr val="0000FF"/>
                </a:solidFill>
                <a:latin typeface="맑은 고딕" pitchFamily="50" charset="-127"/>
                <a:ea typeface="맑은 고딕" pitchFamily="50" charset="-127"/>
              </a:rPr>
              <a:t>※ Caution</a:t>
            </a:r>
            <a:endParaRPr lang="ko-KR" altLang="en-US" sz="1000" b="1" dirty="0">
              <a:solidFill>
                <a:srgbClr val="0000FF"/>
              </a:solidFill>
              <a:latin typeface="맑은 고딕" pitchFamily="50" charset="-127"/>
              <a:ea typeface="맑은 고딕" pitchFamily="50" charset="-127"/>
            </a:endParaRPr>
          </a:p>
          <a:p>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Z</a:t>
            </a:r>
            <a:r>
              <a:rPr lang="en-US" altLang="ko-KR" sz="1000" baseline="-25000" dirty="0">
                <a:solidFill>
                  <a:srgbClr val="000000"/>
                </a:solidFill>
                <a:latin typeface="맑은 고딕" pitchFamily="50" charset="-127"/>
                <a:ea typeface="맑은 고딕" pitchFamily="50" charset="-127"/>
              </a:rPr>
              <a:t>ST</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and</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Z</a:t>
            </a:r>
            <a:r>
              <a:rPr lang="en-US" altLang="ko-KR" sz="1000" baseline="-25000" dirty="0">
                <a:solidFill>
                  <a:srgbClr val="000000"/>
                </a:solidFill>
                <a:latin typeface="맑은 고딕" pitchFamily="50" charset="-127"/>
                <a:ea typeface="맑은 고딕" pitchFamily="50" charset="-127"/>
              </a:rPr>
              <a:t>LT</a:t>
            </a:r>
            <a:r>
              <a:rPr lang="en-US" altLang="ko-KR" sz="1000" dirty="0">
                <a:solidFill>
                  <a:srgbClr val="000000"/>
                </a:solidFill>
                <a:latin typeface="맑은 고딕" pitchFamily="50" charset="-127"/>
                <a:ea typeface="맑은 고딕" pitchFamily="50" charset="-127"/>
              </a:rPr>
              <a:t>- can only be calculated for data collected by Rational </a:t>
            </a:r>
            <a:r>
              <a:rPr lang="en-US" altLang="ko-KR" sz="1000" dirty="0" err="1">
                <a:solidFill>
                  <a:srgbClr val="000000"/>
                </a:solidFill>
                <a:latin typeface="맑은 고딕" pitchFamily="50" charset="-127"/>
                <a:ea typeface="맑은 고딕" pitchFamily="50" charset="-127"/>
              </a:rPr>
              <a:t>Subgrouping</a:t>
            </a:r>
            <a:r>
              <a:rPr lang="en-US" altLang="ko-KR" sz="1000" dirty="0">
                <a:solidFill>
                  <a:srgbClr val="000000"/>
                </a:solidFill>
                <a:latin typeface="맑은 고딕" pitchFamily="50" charset="-127"/>
                <a:ea typeface="맑은 고딕" pitchFamily="50" charset="-127"/>
              </a:rPr>
              <a:t>.</a:t>
            </a:r>
          </a:p>
          <a:p>
            <a:r>
              <a:rPr lang="en-US" altLang="ko-KR" sz="1000" dirty="0">
                <a:solidFill>
                  <a:srgbClr val="000000"/>
                </a:solidFill>
                <a:latin typeface="맑은 고딕" pitchFamily="50" charset="-127"/>
                <a:ea typeface="맑은 고딕" pitchFamily="50" charset="-127"/>
              </a:rPr>
              <a:t> - </a:t>
            </a:r>
            <a:r>
              <a:rPr lang="en-US" sz="1000" dirty="0"/>
              <a:t>Other data can not be calculated for </a:t>
            </a:r>
            <a:r>
              <a:rPr lang="en-US" altLang="ko-KR" sz="1000" dirty="0">
                <a:solidFill>
                  <a:srgbClr val="000000"/>
                </a:solidFill>
                <a:latin typeface="맑은 고딕" pitchFamily="50" charset="-127"/>
                <a:ea typeface="맑은 고딕" pitchFamily="50" charset="-127"/>
              </a:rPr>
              <a:t>Z</a:t>
            </a:r>
            <a:r>
              <a:rPr lang="en-US" altLang="ko-KR" sz="1000" baseline="-25000" dirty="0">
                <a:solidFill>
                  <a:srgbClr val="000000"/>
                </a:solidFill>
                <a:latin typeface="맑은 고딕" pitchFamily="50" charset="-127"/>
                <a:ea typeface="맑은 고딕" pitchFamily="50" charset="-127"/>
              </a:rPr>
              <a:t>ST</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and</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Z</a:t>
            </a:r>
            <a:r>
              <a:rPr lang="en-US" altLang="ko-KR" sz="1000" baseline="-25000" dirty="0">
                <a:solidFill>
                  <a:srgbClr val="000000"/>
                </a:solidFill>
                <a:latin typeface="맑은 고딕" pitchFamily="50" charset="-127"/>
                <a:ea typeface="맑은 고딕" pitchFamily="50" charset="-127"/>
              </a:rPr>
              <a:t>LT</a:t>
            </a:r>
            <a:r>
              <a:rPr lang="en-US" sz="1000" dirty="0"/>
              <a:t> regardless of the period of collection.</a:t>
            </a:r>
            <a:endParaRPr lang="en-US" altLang="ko-KR" sz="1000" dirty="0">
              <a:solidFill>
                <a:srgbClr val="000000"/>
              </a:solidFill>
              <a:latin typeface="맑은 고딕" pitchFamily="50" charset="-127"/>
              <a:ea typeface="맑은 고딕" pitchFamily="50" charset="-127"/>
            </a:endParaRPr>
          </a:p>
        </p:txBody>
      </p:sp>
      <p:graphicFrame>
        <p:nvGraphicFramePr>
          <p:cNvPr id="6" name="Object 2"/>
          <p:cNvGraphicFramePr>
            <a:graphicFrameLocks noChangeAspect="1"/>
          </p:cNvGraphicFramePr>
          <p:nvPr>
            <p:extLst>
              <p:ext uri="{D42A27DB-BD31-4B8C-83A1-F6EECF244321}">
                <p14:modId xmlns:p14="http://schemas.microsoft.com/office/powerpoint/2010/main" val="2223633953"/>
              </p:ext>
            </p:extLst>
          </p:nvPr>
        </p:nvGraphicFramePr>
        <p:xfrm>
          <a:off x="1934289" y="2970917"/>
          <a:ext cx="2735599" cy="357184"/>
        </p:xfrm>
        <a:graphic>
          <a:graphicData uri="http://schemas.openxmlformats.org/presentationml/2006/ole">
            <mc:AlternateContent xmlns:mc="http://schemas.openxmlformats.org/markup-compatibility/2006">
              <mc:Choice xmlns:v="urn:schemas-microsoft-com:vml" Requires="v">
                <p:oleObj name="수식" r:id="rId2" imgW="1892300" imgH="241300" progId="Equation.3">
                  <p:embed/>
                </p:oleObj>
              </mc:Choice>
              <mc:Fallback>
                <p:oleObj name="수식" r:id="rId2" imgW="1892300" imgH="241300" progId="Equation.3">
                  <p:embed/>
                  <p:pic>
                    <p:nvPicPr>
                      <p:cNvPr id="6"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4289" y="2970917"/>
                        <a:ext cx="2735599" cy="3571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2"/>
          <p:cNvGraphicFramePr>
            <a:graphicFrameLocks noChangeAspect="1"/>
          </p:cNvGraphicFramePr>
          <p:nvPr>
            <p:extLst>
              <p:ext uri="{D42A27DB-BD31-4B8C-83A1-F6EECF244321}">
                <p14:modId xmlns:p14="http://schemas.microsoft.com/office/powerpoint/2010/main" val="646786067"/>
              </p:ext>
            </p:extLst>
          </p:nvPr>
        </p:nvGraphicFramePr>
        <p:xfrm>
          <a:off x="1875693" y="2271483"/>
          <a:ext cx="2762250" cy="485114"/>
        </p:xfrm>
        <a:graphic>
          <a:graphicData uri="http://schemas.openxmlformats.org/presentationml/2006/ole">
            <mc:AlternateContent xmlns:mc="http://schemas.openxmlformats.org/markup-compatibility/2006">
              <mc:Choice xmlns:v="urn:schemas-microsoft-com:vml" Requires="v">
                <p:oleObj name="Equation" r:id="rId4" imgW="2273300" imgH="431800" progId="Equation.3">
                  <p:embed/>
                </p:oleObj>
              </mc:Choice>
              <mc:Fallback>
                <p:oleObj name="Equation" r:id="rId4" imgW="2273300" imgH="431800" progId="Equation.3">
                  <p:embed/>
                  <p:pic>
                    <p:nvPicPr>
                      <p:cNvPr id="7"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75693" y="2271483"/>
                        <a:ext cx="2762250" cy="4851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2"/>
          <p:cNvGraphicFramePr>
            <a:graphicFrameLocks noChangeAspect="1"/>
          </p:cNvGraphicFramePr>
          <p:nvPr>
            <p:extLst>
              <p:ext uri="{D42A27DB-BD31-4B8C-83A1-F6EECF244321}">
                <p14:modId xmlns:p14="http://schemas.microsoft.com/office/powerpoint/2010/main" val="3497519107"/>
              </p:ext>
            </p:extLst>
          </p:nvPr>
        </p:nvGraphicFramePr>
        <p:xfrm>
          <a:off x="2085243" y="1886670"/>
          <a:ext cx="2451588" cy="355600"/>
        </p:xfrm>
        <a:graphic>
          <a:graphicData uri="http://schemas.openxmlformats.org/presentationml/2006/ole">
            <mc:AlternateContent xmlns:mc="http://schemas.openxmlformats.org/markup-compatibility/2006">
              <mc:Choice xmlns:v="urn:schemas-microsoft-com:vml" Requires="v">
                <p:oleObj name="수식" r:id="rId6" imgW="1701800" imgH="241300" progId="Equation.3">
                  <p:embed/>
                </p:oleObj>
              </mc:Choice>
              <mc:Fallback>
                <p:oleObj name="수식" r:id="rId6" imgW="1701800" imgH="241300" progId="Equation.3">
                  <p:embed/>
                  <p:pic>
                    <p:nvPicPr>
                      <p:cNvPr id="8"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5243" y="1886670"/>
                        <a:ext cx="2451588"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2"/>
          <p:cNvGraphicFramePr>
            <a:graphicFrameLocks noChangeAspect="1"/>
          </p:cNvGraphicFramePr>
          <p:nvPr>
            <p:extLst>
              <p:ext uri="{D42A27DB-BD31-4B8C-83A1-F6EECF244321}">
                <p14:modId xmlns:p14="http://schemas.microsoft.com/office/powerpoint/2010/main" val="2028498244"/>
              </p:ext>
            </p:extLst>
          </p:nvPr>
        </p:nvGraphicFramePr>
        <p:xfrm>
          <a:off x="1868347" y="3411699"/>
          <a:ext cx="2767142" cy="510147"/>
        </p:xfrm>
        <a:graphic>
          <a:graphicData uri="http://schemas.openxmlformats.org/presentationml/2006/ole">
            <mc:AlternateContent xmlns:mc="http://schemas.openxmlformats.org/markup-compatibility/2006">
              <mc:Choice xmlns:v="urn:schemas-microsoft-com:vml" Requires="v">
                <p:oleObj name="Equation" r:id="rId8" imgW="2286000" imgH="431800" progId="Equation.3">
                  <p:embed/>
                </p:oleObj>
              </mc:Choice>
              <mc:Fallback>
                <p:oleObj name="Equation" r:id="rId8" imgW="2286000" imgH="431800" progId="Equation.3">
                  <p:embed/>
                  <p:pic>
                    <p:nvPicPr>
                      <p:cNvPr id="9" name="Object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68347" y="3411699"/>
                        <a:ext cx="2767142" cy="51014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2"/>
          <p:cNvGraphicFramePr>
            <a:graphicFrameLocks noChangeAspect="1"/>
          </p:cNvGraphicFramePr>
          <p:nvPr>
            <p:extLst>
              <p:ext uri="{D42A27DB-BD31-4B8C-83A1-F6EECF244321}">
                <p14:modId xmlns:p14="http://schemas.microsoft.com/office/powerpoint/2010/main" val="3085298016"/>
              </p:ext>
            </p:extLst>
          </p:nvPr>
        </p:nvGraphicFramePr>
        <p:xfrm>
          <a:off x="5037283" y="2410818"/>
          <a:ext cx="2390043" cy="342900"/>
        </p:xfrm>
        <a:graphic>
          <a:graphicData uri="http://schemas.openxmlformats.org/presentationml/2006/ole">
            <mc:AlternateContent xmlns:mc="http://schemas.openxmlformats.org/markup-compatibility/2006">
              <mc:Choice xmlns:v="urn:schemas-microsoft-com:vml" Requires="v">
                <p:oleObj name="수식" r:id="rId10" imgW="1714500" imgH="241300" progId="Equation.3">
                  <p:embed/>
                </p:oleObj>
              </mc:Choice>
              <mc:Fallback>
                <p:oleObj name="수식" r:id="rId10" imgW="1714500" imgH="241300" progId="Equation.3">
                  <p:embed/>
                  <p:pic>
                    <p:nvPicPr>
                      <p:cNvPr id="10" name="Object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37283" y="2410818"/>
                        <a:ext cx="2390043" cy="342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2"/>
          <p:cNvGraphicFramePr>
            <a:graphicFrameLocks noChangeAspect="1"/>
          </p:cNvGraphicFramePr>
          <p:nvPr>
            <p:extLst>
              <p:ext uri="{D42A27DB-BD31-4B8C-83A1-F6EECF244321}">
                <p14:modId xmlns:p14="http://schemas.microsoft.com/office/powerpoint/2010/main" val="3113669134"/>
              </p:ext>
            </p:extLst>
          </p:nvPr>
        </p:nvGraphicFramePr>
        <p:xfrm>
          <a:off x="4769828" y="3113788"/>
          <a:ext cx="2769596" cy="485775"/>
        </p:xfrm>
        <a:graphic>
          <a:graphicData uri="http://schemas.openxmlformats.org/presentationml/2006/ole">
            <mc:AlternateContent xmlns:mc="http://schemas.openxmlformats.org/markup-compatibility/2006">
              <mc:Choice xmlns:v="urn:schemas-microsoft-com:vml" Requires="v">
                <p:oleObj name="Equation" r:id="rId12" imgW="2286000" imgH="431800" progId="Equation.3">
                  <p:embed/>
                </p:oleObj>
              </mc:Choice>
              <mc:Fallback>
                <p:oleObj name="Equation" r:id="rId12" imgW="2286000" imgH="431800" progId="Equation.3">
                  <p:embed/>
                  <p:pic>
                    <p:nvPicPr>
                      <p:cNvPr id="11" name="Object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69828" y="3113788"/>
                        <a:ext cx="2769596" cy="485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2"/>
          <p:cNvGraphicFramePr>
            <a:graphicFrameLocks noChangeAspect="1"/>
          </p:cNvGraphicFramePr>
          <p:nvPr>
            <p:extLst>
              <p:ext uri="{D42A27DB-BD31-4B8C-83A1-F6EECF244321}">
                <p14:modId xmlns:p14="http://schemas.microsoft.com/office/powerpoint/2010/main" val="559635084"/>
              </p:ext>
            </p:extLst>
          </p:nvPr>
        </p:nvGraphicFramePr>
        <p:xfrm>
          <a:off x="2395889" y="4328233"/>
          <a:ext cx="1714512" cy="500066"/>
        </p:xfrm>
        <a:graphic>
          <a:graphicData uri="http://schemas.openxmlformats.org/presentationml/2006/ole">
            <mc:AlternateContent xmlns:mc="http://schemas.openxmlformats.org/markup-compatibility/2006">
              <mc:Choice xmlns:v="urn:schemas-microsoft-com:vml" Requires="v">
                <p:oleObj name="Equation" r:id="rId14" imgW="1129810" imgH="431613" progId="Equation.3">
                  <p:embed/>
                </p:oleObj>
              </mc:Choice>
              <mc:Fallback>
                <p:oleObj name="Equation" r:id="rId14" imgW="1129810" imgH="431613" progId="Equation.3">
                  <p:embed/>
                  <p:pic>
                    <p:nvPicPr>
                      <p:cNvPr id="12" name="Object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395889" y="4328233"/>
                        <a:ext cx="1714512"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2"/>
          <p:cNvGraphicFramePr>
            <a:graphicFrameLocks noChangeAspect="1"/>
          </p:cNvGraphicFramePr>
          <p:nvPr>
            <p:extLst>
              <p:ext uri="{D42A27DB-BD31-4B8C-83A1-F6EECF244321}">
                <p14:modId xmlns:p14="http://schemas.microsoft.com/office/powerpoint/2010/main" val="4173265445"/>
              </p:ext>
            </p:extLst>
          </p:nvPr>
        </p:nvGraphicFramePr>
        <p:xfrm>
          <a:off x="5363313" y="4313895"/>
          <a:ext cx="1648570" cy="442967"/>
        </p:xfrm>
        <a:graphic>
          <a:graphicData uri="http://schemas.openxmlformats.org/presentationml/2006/ole">
            <mc:AlternateContent xmlns:mc="http://schemas.openxmlformats.org/markup-compatibility/2006">
              <mc:Choice xmlns:v="urn:schemas-microsoft-com:vml" Requires="v">
                <p:oleObj name="Equation" r:id="rId16" imgW="1155700" imgH="431800" progId="Equation.3">
                  <p:embed/>
                </p:oleObj>
              </mc:Choice>
              <mc:Fallback>
                <p:oleObj name="Equation" r:id="rId16" imgW="1155700" imgH="431800" progId="Equation.3">
                  <p:embed/>
                  <p:pic>
                    <p:nvPicPr>
                      <p:cNvPr id="13" name="Object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363313" y="4313895"/>
                        <a:ext cx="1648570" cy="44296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2"/>
          <p:cNvGraphicFramePr>
            <a:graphicFrameLocks noChangeAspect="1"/>
          </p:cNvGraphicFramePr>
          <p:nvPr>
            <p:extLst>
              <p:ext uri="{D42A27DB-BD31-4B8C-83A1-F6EECF244321}">
                <p14:modId xmlns:p14="http://schemas.microsoft.com/office/powerpoint/2010/main" val="1820930434"/>
              </p:ext>
            </p:extLst>
          </p:nvPr>
        </p:nvGraphicFramePr>
        <p:xfrm>
          <a:off x="2395890" y="5256927"/>
          <a:ext cx="1648569" cy="500066"/>
        </p:xfrm>
        <a:graphic>
          <a:graphicData uri="http://schemas.openxmlformats.org/presentationml/2006/ole">
            <mc:AlternateContent xmlns:mc="http://schemas.openxmlformats.org/markup-compatibility/2006">
              <mc:Choice xmlns:v="urn:schemas-microsoft-com:vml" Requires="v">
                <p:oleObj name="Equation" r:id="rId18" imgW="1143000" imgH="431800" progId="Equation.3">
                  <p:embed/>
                </p:oleObj>
              </mc:Choice>
              <mc:Fallback>
                <p:oleObj name="Equation" r:id="rId18" imgW="1143000" imgH="431800" progId="Equation.3">
                  <p:embed/>
                  <p:pic>
                    <p:nvPicPr>
                      <p:cNvPr id="14" name="Object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395890" y="5256927"/>
                        <a:ext cx="1648569"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2"/>
          <p:cNvGraphicFramePr>
            <a:graphicFrameLocks noChangeAspect="1"/>
          </p:cNvGraphicFramePr>
          <p:nvPr>
            <p:extLst>
              <p:ext uri="{D42A27DB-BD31-4B8C-83A1-F6EECF244321}">
                <p14:modId xmlns:p14="http://schemas.microsoft.com/office/powerpoint/2010/main" val="3718304732"/>
              </p:ext>
            </p:extLst>
          </p:nvPr>
        </p:nvGraphicFramePr>
        <p:xfrm>
          <a:off x="5363313" y="5185491"/>
          <a:ext cx="1714512" cy="500065"/>
        </p:xfrm>
        <a:graphic>
          <a:graphicData uri="http://schemas.openxmlformats.org/presentationml/2006/ole">
            <mc:AlternateContent xmlns:mc="http://schemas.openxmlformats.org/markup-compatibility/2006">
              <mc:Choice xmlns:v="urn:schemas-microsoft-com:vml" Requires="v">
                <p:oleObj name="Equation" r:id="rId20" imgW="1155700" imgH="431800" progId="Equation.3">
                  <p:embed/>
                </p:oleObj>
              </mc:Choice>
              <mc:Fallback>
                <p:oleObj name="Equation" r:id="rId20" imgW="1155700" imgH="431800" progId="Equation.3">
                  <p:embed/>
                  <p:pic>
                    <p:nvPicPr>
                      <p:cNvPr id="15" name="Object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363313" y="5185491"/>
                        <a:ext cx="1714512" cy="50006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TextBox 16"/>
          <p:cNvSpPr txBox="1"/>
          <p:nvPr/>
        </p:nvSpPr>
        <p:spPr>
          <a:xfrm>
            <a:off x="3450973" y="1062293"/>
            <a:ext cx="2852384" cy="412421"/>
          </a:xfrm>
          <a:prstGeom prst="rect">
            <a:avLst/>
          </a:prstGeom>
          <a:noFill/>
        </p:spPr>
        <p:txBody>
          <a:bodyPr wrap="none" rtlCol="0">
            <a:spAutoFit/>
          </a:bodyPr>
          <a:lstStyle/>
          <a:p>
            <a:pPr>
              <a:lnSpc>
                <a:spcPct val="130000"/>
              </a:lnSpc>
              <a:buClr>
                <a:srgbClr val="C5003D"/>
              </a:buClr>
            </a:pPr>
            <a:r>
              <a:rPr lang="en-US" altLang="ko-KR" sz="1600" b="1" dirty="0"/>
              <a:t>Z value calculation formula</a:t>
            </a:r>
            <a:endParaRPr lang="ko-KR" altLang="en-US" sz="1600" b="1" dirty="0"/>
          </a:p>
        </p:txBody>
      </p:sp>
      <p:sp>
        <p:nvSpPr>
          <p:cNvPr id="19" name="Text Box 39"/>
          <p:cNvSpPr txBox="1">
            <a:spLocks noChangeArrowheads="1"/>
          </p:cNvSpPr>
          <p:nvPr/>
        </p:nvSpPr>
        <p:spPr bwMode="auto">
          <a:xfrm>
            <a:off x="127731" y="620688"/>
            <a:ext cx="3997697"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 Set direction for improvement</a:t>
            </a:r>
          </a:p>
        </p:txBody>
      </p:sp>
      <p:sp>
        <p:nvSpPr>
          <p:cNvPr id="20"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57564414"/>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222</a:t>
            </a:fld>
            <a:endParaRPr lang="ko-KR" altLang="en-US" dirty="0"/>
          </a:p>
        </p:txBody>
      </p:sp>
      <p:sp>
        <p:nvSpPr>
          <p:cNvPr id="3" name="Rectangle 17"/>
          <p:cNvSpPr>
            <a:spLocks noChangeArrowheads="1"/>
          </p:cNvSpPr>
          <p:nvPr/>
        </p:nvSpPr>
        <p:spPr bwMode="auto">
          <a:xfrm>
            <a:off x="3037743" y="1736581"/>
            <a:ext cx="1534257" cy="1092200"/>
          </a:xfrm>
          <a:prstGeom prst="rect">
            <a:avLst/>
          </a:prstGeom>
          <a:solidFill>
            <a:schemeClr val="bg1"/>
          </a:solidFill>
          <a:ln w="12700">
            <a:solidFill>
              <a:schemeClr val="tx1"/>
            </a:solidFill>
            <a:miter lim="800000"/>
            <a:headEnd/>
            <a:tailEnd/>
          </a:ln>
          <a:effectLst>
            <a:outerShdw dist="71842" dir="2700000" algn="ctr" rotWithShape="0">
              <a:srgbClr val="919191"/>
            </a:outerShdw>
          </a:effectLst>
        </p:spPr>
        <p:txBody>
          <a:bodyPr wrap="none" anchor="ctr"/>
          <a:lstStyle/>
          <a:p>
            <a:pPr algn="ctr">
              <a:defRPr/>
            </a:pPr>
            <a:endParaRPr lang="ko-KR" altLang="en-US" sz="1000" dirty="0">
              <a:solidFill>
                <a:srgbClr val="000000"/>
              </a:solidFill>
              <a:latin typeface="Arial" pitchFamily="34" charset="0"/>
            </a:endParaRPr>
          </a:p>
        </p:txBody>
      </p:sp>
      <p:sp>
        <p:nvSpPr>
          <p:cNvPr id="4" name="Rectangle 17"/>
          <p:cNvSpPr>
            <a:spLocks noChangeArrowheads="1"/>
          </p:cNvSpPr>
          <p:nvPr/>
        </p:nvSpPr>
        <p:spPr bwMode="auto">
          <a:xfrm>
            <a:off x="4850424" y="1736581"/>
            <a:ext cx="1534258" cy="1092200"/>
          </a:xfrm>
          <a:prstGeom prst="rect">
            <a:avLst/>
          </a:prstGeom>
          <a:solidFill>
            <a:schemeClr val="bg1"/>
          </a:solidFill>
          <a:ln w="12700">
            <a:solidFill>
              <a:schemeClr val="tx1"/>
            </a:solidFill>
            <a:miter lim="800000"/>
            <a:headEnd/>
            <a:tailEnd/>
          </a:ln>
          <a:effectLst>
            <a:outerShdw dist="71842" dir="2700000" algn="ctr" rotWithShape="0">
              <a:srgbClr val="919191"/>
            </a:outerShdw>
          </a:effectLst>
        </p:spPr>
        <p:txBody>
          <a:bodyPr wrap="none" anchor="ctr"/>
          <a:lstStyle/>
          <a:p>
            <a:pPr algn="ctr">
              <a:defRPr/>
            </a:pPr>
            <a:endParaRPr lang="ko-KR" altLang="en-US" sz="1000" dirty="0">
              <a:solidFill>
                <a:srgbClr val="000000"/>
              </a:solidFill>
              <a:latin typeface="Arial" pitchFamily="34" charset="0"/>
            </a:endParaRPr>
          </a:p>
        </p:txBody>
      </p:sp>
      <p:sp>
        <p:nvSpPr>
          <p:cNvPr id="5" name="Rectangle 9"/>
          <p:cNvSpPr>
            <a:spLocks noChangeArrowheads="1"/>
          </p:cNvSpPr>
          <p:nvPr/>
        </p:nvSpPr>
        <p:spPr bwMode="auto">
          <a:xfrm>
            <a:off x="1131277" y="2514456"/>
            <a:ext cx="751743" cy="469900"/>
          </a:xfrm>
          <a:prstGeom prst="rect">
            <a:avLst/>
          </a:prstGeom>
          <a:solidFill>
            <a:schemeClr val="bg1"/>
          </a:solidFill>
          <a:ln w="9525">
            <a:no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Freeform 28"/>
          <p:cNvSpPr>
            <a:spLocks/>
          </p:cNvSpPr>
          <p:nvPr/>
        </p:nvSpPr>
        <p:spPr bwMode="auto">
          <a:xfrm>
            <a:off x="1279281" y="2219182"/>
            <a:ext cx="1113692" cy="798513"/>
          </a:xfrm>
          <a:custGeom>
            <a:avLst/>
            <a:gdLst>
              <a:gd name="T0" fmla="*/ 2147483647 w 760"/>
              <a:gd name="T1" fmla="*/ 2147483647 h 503"/>
              <a:gd name="T2" fmla="*/ 2147483647 w 760"/>
              <a:gd name="T3" fmla="*/ 2147483647 h 503"/>
              <a:gd name="T4" fmla="*/ 2147483647 w 760"/>
              <a:gd name="T5" fmla="*/ 2147483647 h 503"/>
              <a:gd name="T6" fmla="*/ 2147483647 w 760"/>
              <a:gd name="T7" fmla="*/ 2147483647 h 503"/>
              <a:gd name="T8" fmla="*/ 2147483647 w 760"/>
              <a:gd name="T9" fmla="*/ 2147483647 h 503"/>
              <a:gd name="T10" fmla="*/ 2147483647 w 760"/>
              <a:gd name="T11" fmla="*/ 2147483647 h 503"/>
              <a:gd name="T12" fmla="*/ 2147483647 w 760"/>
              <a:gd name="T13" fmla="*/ 2147483647 h 503"/>
              <a:gd name="T14" fmla="*/ 2147483647 w 760"/>
              <a:gd name="T15" fmla="*/ 2147483647 h 503"/>
              <a:gd name="T16" fmla="*/ 2147483647 w 760"/>
              <a:gd name="T17" fmla="*/ 2147483647 h 503"/>
              <a:gd name="T18" fmla="*/ 2147483647 w 760"/>
              <a:gd name="T19" fmla="*/ 2147483647 h 503"/>
              <a:gd name="T20" fmla="*/ 2147483647 w 760"/>
              <a:gd name="T21" fmla="*/ 2147483647 h 503"/>
              <a:gd name="T22" fmla="*/ 2147483647 w 760"/>
              <a:gd name="T23" fmla="*/ 2147483647 h 503"/>
              <a:gd name="T24" fmla="*/ 2147483647 w 760"/>
              <a:gd name="T25" fmla="*/ 2147483647 h 503"/>
              <a:gd name="T26" fmla="*/ 2147483647 w 760"/>
              <a:gd name="T27" fmla="*/ 2147483647 h 503"/>
              <a:gd name="T28" fmla="*/ 2147483647 w 760"/>
              <a:gd name="T29" fmla="*/ 2147483647 h 503"/>
              <a:gd name="T30" fmla="*/ 2147483647 w 760"/>
              <a:gd name="T31" fmla="*/ 2147483647 h 503"/>
              <a:gd name="T32" fmla="*/ 2147483647 w 760"/>
              <a:gd name="T33" fmla="*/ 2147483647 h 503"/>
              <a:gd name="T34" fmla="*/ 2147483647 w 760"/>
              <a:gd name="T35" fmla="*/ 2147483647 h 503"/>
              <a:gd name="T36" fmla="*/ 2147483647 w 760"/>
              <a:gd name="T37" fmla="*/ 2147483647 h 503"/>
              <a:gd name="T38" fmla="*/ 2147483647 w 760"/>
              <a:gd name="T39" fmla="*/ 2147483647 h 503"/>
              <a:gd name="T40" fmla="*/ 2147483647 w 760"/>
              <a:gd name="T41" fmla="*/ 2147483647 h 503"/>
              <a:gd name="T42" fmla="*/ 2147483647 w 760"/>
              <a:gd name="T43" fmla="*/ 2147483647 h 503"/>
              <a:gd name="T44" fmla="*/ 2147483647 w 760"/>
              <a:gd name="T45" fmla="*/ 2147483647 h 503"/>
              <a:gd name="T46" fmla="*/ 2147483647 w 760"/>
              <a:gd name="T47" fmla="*/ 2147483647 h 503"/>
              <a:gd name="T48" fmla="*/ 2147483647 w 760"/>
              <a:gd name="T49" fmla="*/ 2147483647 h 503"/>
              <a:gd name="T50" fmla="*/ 2147483647 w 760"/>
              <a:gd name="T51" fmla="*/ 2147483647 h 503"/>
              <a:gd name="T52" fmla="*/ 2147483647 w 760"/>
              <a:gd name="T53" fmla="*/ 2147483647 h 503"/>
              <a:gd name="T54" fmla="*/ 2147483647 w 760"/>
              <a:gd name="T55" fmla="*/ 2147483647 h 503"/>
              <a:gd name="T56" fmla="*/ 2147483647 w 760"/>
              <a:gd name="T57" fmla="*/ 2147483647 h 503"/>
              <a:gd name="T58" fmla="*/ 2147483647 w 760"/>
              <a:gd name="T59" fmla="*/ 2147483647 h 503"/>
              <a:gd name="T60" fmla="*/ 2147483647 w 760"/>
              <a:gd name="T61" fmla="*/ 2147483647 h 503"/>
              <a:gd name="T62" fmla="*/ 2147483647 w 760"/>
              <a:gd name="T63" fmla="*/ 2147483647 h 503"/>
              <a:gd name="T64" fmla="*/ 2147483647 w 760"/>
              <a:gd name="T65" fmla="*/ 2147483647 h 503"/>
              <a:gd name="T66" fmla="*/ 2147483647 w 760"/>
              <a:gd name="T67" fmla="*/ 2147483647 h 503"/>
              <a:gd name="T68" fmla="*/ 2147483647 w 760"/>
              <a:gd name="T69" fmla="*/ 2147483647 h 503"/>
              <a:gd name="T70" fmla="*/ 2147483647 w 760"/>
              <a:gd name="T71" fmla="*/ 2147483647 h 503"/>
              <a:gd name="T72" fmla="*/ 2147483647 w 760"/>
              <a:gd name="T73" fmla="*/ 2147483647 h 503"/>
              <a:gd name="T74" fmla="*/ 2147483647 w 760"/>
              <a:gd name="T75" fmla="*/ 2147483647 h 503"/>
              <a:gd name="T76" fmla="*/ 2147483647 w 760"/>
              <a:gd name="T77" fmla="*/ 2147483647 h 503"/>
              <a:gd name="T78" fmla="*/ 2147483647 w 760"/>
              <a:gd name="T79" fmla="*/ 2147483647 h 503"/>
              <a:gd name="T80" fmla="*/ 2147483647 w 760"/>
              <a:gd name="T81" fmla="*/ 2147483647 h 503"/>
              <a:gd name="T82" fmla="*/ 2147483647 w 760"/>
              <a:gd name="T83" fmla="*/ 2147483647 h 503"/>
              <a:gd name="T84" fmla="*/ 2147483647 w 760"/>
              <a:gd name="T85" fmla="*/ 2147483647 h 503"/>
              <a:gd name="T86" fmla="*/ 2147483647 w 760"/>
              <a:gd name="T87" fmla="*/ 2147483647 h 503"/>
              <a:gd name="T88" fmla="*/ 2147483647 w 760"/>
              <a:gd name="T89" fmla="*/ 2147483647 h 503"/>
              <a:gd name="T90" fmla="*/ 2147483647 w 760"/>
              <a:gd name="T91" fmla="*/ 2147483647 h 503"/>
              <a:gd name="T92" fmla="*/ 2147483647 w 760"/>
              <a:gd name="T93" fmla="*/ 2147483647 h 503"/>
              <a:gd name="T94" fmla="*/ 2147483647 w 760"/>
              <a:gd name="T95" fmla="*/ 2147483647 h 5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60"/>
              <a:gd name="T145" fmla="*/ 0 h 503"/>
              <a:gd name="T146" fmla="*/ 760 w 760"/>
              <a:gd name="T147" fmla="*/ 503 h 5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60" h="503">
                <a:moveTo>
                  <a:pt x="0" y="502"/>
                </a:moveTo>
                <a:lnTo>
                  <a:pt x="6" y="502"/>
                </a:lnTo>
                <a:lnTo>
                  <a:pt x="13" y="499"/>
                </a:lnTo>
                <a:lnTo>
                  <a:pt x="20" y="498"/>
                </a:lnTo>
                <a:lnTo>
                  <a:pt x="27" y="495"/>
                </a:lnTo>
                <a:lnTo>
                  <a:pt x="33" y="493"/>
                </a:lnTo>
                <a:lnTo>
                  <a:pt x="40" y="493"/>
                </a:lnTo>
                <a:lnTo>
                  <a:pt x="47" y="493"/>
                </a:lnTo>
                <a:lnTo>
                  <a:pt x="54" y="492"/>
                </a:lnTo>
                <a:lnTo>
                  <a:pt x="61" y="487"/>
                </a:lnTo>
                <a:lnTo>
                  <a:pt x="68" y="483"/>
                </a:lnTo>
                <a:lnTo>
                  <a:pt x="75" y="481"/>
                </a:lnTo>
                <a:lnTo>
                  <a:pt x="81" y="475"/>
                </a:lnTo>
                <a:lnTo>
                  <a:pt x="88" y="471"/>
                </a:lnTo>
                <a:lnTo>
                  <a:pt x="95" y="469"/>
                </a:lnTo>
                <a:lnTo>
                  <a:pt x="99" y="463"/>
                </a:lnTo>
                <a:lnTo>
                  <a:pt x="106" y="461"/>
                </a:lnTo>
                <a:lnTo>
                  <a:pt x="113" y="459"/>
                </a:lnTo>
                <a:lnTo>
                  <a:pt x="120" y="455"/>
                </a:lnTo>
                <a:lnTo>
                  <a:pt x="126" y="451"/>
                </a:lnTo>
                <a:lnTo>
                  <a:pt x="131" y="444"/>
                </a:lnTo>
                <a:lnTo>
                  <a:pt x="135" y="438"/>
                </a:lnTo>
                <a:lnTo>
                  <a:pt x="142" y="435"/>
                </a:lnTo>
                <a:lnTo>
                  <a:pt x="144" y="429"/>
                </a:lnTo>
                <a:lnTo>
                  <a:pt x="147" y="423"/>
                </a:lnTo>
                <a:lnTo>
                  <a:pt x="149" y="417"/>
                </a:lnTo>
                <a:lnTo>
                  <a:pt x="156" y="411"/>
                </a:lnTo>
                <a:lnTo>
                  <a:pt x="160" y="405"/>
                </a:lnTo>
                <a:lnTo>
                  <a:pt x="165" y="398"/>
                </a:lnTo>
                <a:lnTo>
                  <a:pt x="170" y="392"/>
                </a:lnTo>
                <a:lnTo>
                  <a:pt x="174" y="386"/>
                </a:lnTo>
                <a:lnTo>
                  <a:pt x="181" y="382"/>
                </a:lnTo>
                <a:lnTo>
                  <a:pt x="181" y="376"/>
                </a:lnTo>
                <a:lnTo>
                  <a:pt x="186" y="370"/>
                </a:lnTo>
                <a:lnTo>
                  <a:pt x="190" y="364"/>
                </a:lnTo>
                <a:lnTo>
                  <a:pt x="195" y="357"/>
                </a:lnTo>
                <a:lnTo>
                  <a:pt x="197" y="351"/>
                </a:lnTo>
                <a:lnTo>
                  <a:pt x="199" y="345"/>
                </a:lnTo>
                <a:lnTo>
                  <a:pt x="199" y="339"/>
                </a:lnTo>
                <a:lnTo>
                  <a:pt x="199" y="333"/>
                </a:lnTo>
                <a:lnTo>
                  <a:pt x="206" y="330"/>
                </a:lnTo>
                <a:lnTo>
                  <a:pt x="208" y="324"/>
                </a:lnTo>
                <a:lnTo>
                  <a:pt x="213" y="318"/>
                </a:lnTo>
                <a:lnTo>
                  <a:pt x="217" y="311"/>
                </a:lnTo>
                <a:lnTo>
                  <a:pt x="217" y="305"/>
                </a:lnTo>
                <a:lnTo>
                  <a:pt x="222" y="299"/>
                </a:lnTo>
                <a:lnTo>
                  <a:pt x="222" y="293"/>
                </a:lnTo>
                <a:lnTo>
                  <a:pt x="228" y="289"/>
                </a:lnTo>
                <a:lnTo>
                  <a:pt x="226" y="283"/>
                </a:lnTo>
                <a:lnTo>
                  <a:pt x="226" y="277"/>
                </a:lnTo>
                <a:lnTo>
                  <a:pt x="228" y="270"/>
                </a:lnTo>
                <a:lnTo>
                  <a:pt x="233" y="264"/>
                </a:lnTo>
                <a:lnTo>
                  <a:pt x="233" y="258"/>
                </a:lnTo>
                <a:lnTo>
                  <a:pt x="235" y="252"/>
                </a:lnTo>
                <a:lnTo>
                  <a:pt x="240" y="246"/>
                </a:lnTo>
                <a:lnTo>
                  <a:pt x="242" y="240"/>
                </a:lnTo>
                <a:lnTo>
                  <a:pt x="244" y="234"/>
                </a:lnTo>
                <a:lnTo>
                  <a:pt x="249" y="228"/>
                </a:lnTo>
                <a:lnTo>
                  <a:pt x="251" y="222"/>
                </a:lnTo>
                <a:lnTo>
                  <a:pt x="253" y="216"/>
                </a:lnTo>
                <a:lnTo>
                  <a:pt x="253" y="210"/>
                </a:lnTo>
                <a:lnTo>
                  <a:pt x="255" y="204"/>
                </a:lnTo>
                <a:lnTo>
                  <a:pt x="260" y="198"/>
                </a:lnTo>
                <a:lnTo>
                  <a:pt x="262" y="192"/>
                </a:lnTo>
                <a:lnTo>
                  <a:pt x="264" y="186"/>
                </a:lnTo>
                <a:lnTo>
                  <a:pt x="267" y="180"/>
                </a:lnTo>
                <a:lnTo>
                  <a:pt x="272" y="174"/>
                </a:lnTo>
                <a:lnTo>
                  <a:pt x="269" y="168"/>
                </a:lnTo>
                <a:lnTo>
                  <a:pt x="272" y="162"/>
                </a:lnTo>
                <a:lnTo>
                  <a:pt x="276" y="156"/>
                </a:lnTo>
                <a:lnTo>
                  <a:pt x="281" y="150"/>
                </a:lnTo>
                <a:lnTo>
                  <a:pt x="281" y="144"/>
                </a:lnTo>
                <a:lnTo>
                  <a:pt x="285" y="137"/>
                </a:lnTo>
                <a:lnTo>
                  <a:pt x="288" y="131"/>
                </a:lnTo>
                <a:lnTo>
                  <a:pt x="290" y="125"/>
                </a:lnTo>
                <a:lnTo>
                  <a:pt x="292" y="119"/>
                </a:lnTo>
                <a:lnTo>
                  <a:pt x="294" y="113"/>
                </a:lnTo>
                <a:lnTo>
                  <a:pt x="299" y="107"/>
                </a:lnTo>
                <a:lnTo>
                  <a:pt x="299" y="101"/>
                </a:lnTo>
                <a:lnTo>
                  <a:pt x="303" y="95"/>
                </a:lnTo>
                <a:lnTo>
                  <a:pt x="303" y="89"/>
                </a:lnTo>
                <a:lnTo>
                  <a:pt x="308" y="83"/>
                </a:lnTo>
                <a:lnTo>
                  <a:pt x="310" y="77"/>
                </a:lnTo>
                <a:lnTo>
                  <a:pt x="315" y="70"/>
                </a:lnTo>
                <a:lnTo>
                  <a:pt x="317" y="64"/>
                </a:lnTo>
                <a:lnTo>
                  <a:pt x="321" y="58"/>
                </a:lnTo>
                <a:lnTo>
                  <a:pt x="324" y="52"/>
                </a:lnTo>
                <a:lnTo>
                  <a:pt x="326" y="46"/>
                </a:lnTo>
                <a:lnTo>
                  <a:pt x="330" y="40"/>
                </a:lnTo>
                <a:lnTo>
                  <a:pt x="335" y="34"/>
                </a:lnTo>
                <a:lnTo>
                  <a:pt x="339" y="28"/>
                </a:lnTo>
                <a:lnTo>
                  <a:pt x="344" y="22"/>
                </a:lnTo>
                <a:lnTo>
                  <a:pt x="351" y="18"/>
                </a:lnTo>
                <a:lnTo>
                  <a:pt x="357" y="12"/>
                </a:lnTo>
                <a:lnTo>
                  <a:pt x="362" y="6"/>
                </a:lnTo>
                <a:lnTo>
                  <a:pt x="369" y="2"/>
                </a:lnTo>
                <a:lnTo>
                  <a:pt x="375" y="2"/>
                </a:lnTo>
                <a:lnTo>
                  <a:pt x="383" y="0"/>
                </a:lnTo>
                <a:lnTo>
                  <a:pt x="390" y="0"/>
                </a:lnTo>
                <a:lnTo>
                  <a:pt x="396" y="2"/>
                </a:lnTo>
                <a:lnTo>
                  <a:pt x="403" y="8"/>
                </a:lnTo>
                <a:lnTo>
                  <a:pt x="412" y="12"/>
                </a:lnTo>
                <a:lnTo>
                  <a:pt x="417" y="18"/>
                </a:lnTo>
                <a:lnTo>
                  <a:pt x="421" y="24"/>
                </a:lnTo>
                <a:lnTo>
                  <a:pt x="428" y="30"/>
                </a:lnTo>
                <a:lnTo>
                  <a:pt x="432" y="36"/>
                </a:lnTo>
                <a:lnTo>
                  <a:pt x="437" y="42"/>
                </a:lnTo>
                <a:lnTo>
                  <a:pt x="441" y="48"/>
                </a:lnTo>
                <a:lnTo>
                  <a:pt x="444" y="54"/>
                </a:lnTo>
                <a:lnTo>
                  <a:pt x="448" y="60"/>
                </a:lnTo>
                <a:lnTo>
                  <a:pt x="450" y="66"/>
                </a:lnTo>
                <a:lnTo>
                  <a:pt x="453" y="72"/>
                </a:lnTo>
                <a:lnTo>
                  <a:pt x="453" y="78"/>
                </a:lnTo>
                <a:lnTo>
                  <a:pt x="455" y="84"/>
                </a:lnTo>
                <a:lnTo>
                  <a:pt x="457" y="90"/>
                </a:lnTo>
                <a:lnTo>
                  <a:pt x="462" y="96"/>
                </a:lnTo>
                <a:lnTo>
                  <a:pt x="462" y="103"/>
                </a:lnTo>
                <a:lnTo>
                  <a:pt x="466" y="109"/>
                </a:lnTo>
                <a:lnTo>
                  <a:pt x="468" y="115"/>
                </a:lnTo>
                <a:lnTo>
                  <a:pt x="471" y="121"/>
                </a:lnTo>
                <a:lnTo>
                  <a:pt x="473" y="127"/>
                </a:lnTo>
                <a:lnTo>
                  <a:pt x="477" y="133"/>
                </a:lnTo>
                <a:lnTo>
                  <a:pt x="480" y="139"/>
                </a:lnTo>
                <a:lnTo>
                  <a:pt x="480" y="145"/>
                </a:lnTo>
                <a:lnTo>
                  <a:pt x="484" y="151"/>
                </a:lnTo>
                <a:lnTo>
                  <a:pt x="486" y="157"/>
                </a:lnTo>
                <a:lnTo>
                  <a:pt x="489" y="164"/>
                </a:lnTo>
                <a:lnTo>
                  <a:pt x="494" y="170"/>
                </a:lnTo>
                <a:lnTo>
                  <a:pt x="496" y="176"/>
                </a:lnTo>
                <a:lnTo>
                  <a:pt x="498" y="182"/>
                </a:lnTo>
                <a:lnTo>
                  <a:pt x="501" y="188"/>
                </a:lnTo>
                <a:lnTo>
                  <a:pt x="503" y="194"/>
                </a:lnTo>
                <a:lnTo>
                  <a:pt x="505" y="200"/>
                </a:lnTo>
                <a:lnTo>
                  <a:pt x="507" y="206"/>
                </a:lnTo>
                <a:lnTo>
                  <a:pt x="510" y="212"/>
                </a:lnTo>
                <a:lnTo>
                  <a:pt x="516" y="218"/>
                </a:lnTo>
                <a:lnTo>
                  <a:pt x="519" y="224"/>
                </a:lnTo>
                <a:lnTo>
                  <a:pt x="521" y="231"/>
                </a:lnTo>
                <a:lnTo>
                  <a:pt x="523" y="237"/>
                </a:lnTo>
                <a:lnTo>
                  <a:pt x="525" y="243"/>
                </a:lnTo>
                <a:lnTo>
                  <a:pt x="528" y="249"/>
                </a:lnTo>
                <a:lnTo>
                  <a:pt x="528" y="255"/>
                </a:lnTo>
                <a:lnTo>
                  <a:pt x="530" y="261"/>
                </a:lnTo>
                <a:lnTo>
                  <a:pt x="532" y="267"/>
                </a:lnTo>
                <a:lnTo>
                  <a:pt x="534" y="273"/>
                </a:lnTo>
                <a:lnTo>
                  <a:pt x="537" y="279"/>
                </a:lnTo>
                <a:lnTo>
                  <a:pt x="537" y="285"/>
                </a:lnTo>
                <a:lnTo>
                  <a:pt x="541" y="291"/>
                </a:lnTo>
                <a:lnTo>
                  <a:pt x="543" y="297"/>
                </a:lnTo>
                <a:lnTo>
                  <a:pt x="546" y="303"/>
                </a:lnTo>
                <a:lnTo>
                  <a:pt x="548" y="309"/>
                </a:lnTo>
                <a:lnTo>
                  <a:pt x="552" y="315"/>
                </a:lnTo>
                <a:lnTo>
                  <a:pt x="555" y="321"/>
                </a:lnTo>
                <a:lnTo>
                  <a:pt x="559" y="327"/>
                </a:lnTo>
                <a:lnTo>
                  <a:pt x="561" y="333"/>
                </a:lnTo>
                <a:lnTo>
                  <a:pt x="564" y="339"/>
                </a:lnTo>
                <a:lnTo>
                  <a:pt x="566" y="345"/>
                </a:lnTo>
                <a:lnTo>
                  <a:pt x="570" y="351"/>
                </a:lnTo>
                <a:lnTo>
                  <a:pt x="573" y="357"/>
                </a:lnTo>
                <a:lnTo>
                  <a:pt x="577" y="364"/>
                </a:lnTo>
                <a:lnTo>
                  <a:pt x="582" y="370"/>
                </a:lnTo>
                <a:lnTo>
                  <a:pt x="584" y="376"/>
                </a:lnTo>
                <a:lnTo>
                  <a:pt x="588" y="382"/>
                </a:lnTo>
                <a:lnTo>
                  <a:pt x="591" y="388"/>
                </a:lnTo>
                <a:lnTo>
                  <a:pt x="593" y="394"/>
                </a:lnTo>
                <a:lnTo>
                  <a:pt x="598" y="400"/>
                </a:lnTo>
                <a:lnTo>
                  <a:pt x="600" y="406"/>
                </a:lnTo>
                <a:lnTo>
                  <a:pt x="605" y="412"/>
                </a:lnTo>
                <a:lnTo>
                  <a:pt x="612" y="417"/>
                </a:lnTo>
                <a:lnTo>
                  <a:pt x="614" y="423"/>
                </a:lnTo>
                <a:lnTo>
                  <a:pt x="621" y="429"/>
                </a:lnTo>
                <a:lnTo>
                  <a:pt x="625" y="435"/>
                </a:lnTo>
                <a:lnTo>
                  <a:pt x="630" y="441"/>
                </a:lnTo>
                <a:lnTo>
                  <a:pt x="634" y="447"/>
                </a:lnTo>
                <a:lnTo>
                  <a:pt x="641" y="453"/>
                </a:lnTo>
                <a:lnTo>
                  <a:pt x="648" y="459"/>
                </a:lnTo>
                <a:lnTo>
                  <a:pt x="654" y="461"/>
                </a:lnTo>
                <a:lnTo>
                  <a:pt x="661" y="463"/>
                </a:lnTo>
                <a:lnTo>
                  <a:pt x="668" y="469"/>
                </a:lnTo>
                <a:lnTo>
                  <a:pt x="675" y="473"/>
                </a:lnTo>
                <a:lnTo>
                  <a:pt x="679" y="479"/>
                </a:lnTo>
                <a:lnTo>
                  <a:pt x="686" y="481"/>
                </a:lnTo>
                <a:lnTo>
                  <a:pt x="693" y="483"/>
                </a:lnTo>
                <a:lnTo>
                  <a:pt x="699" y="485"/>
                </a:lnTo>
                <a:lnTo>
                  <a:pt x="707" y="487"/>
                </a:lnTo>
                <a:lnTo>
                  <a:pt x="714" y="492"/>
                </a:lnTo>
                <a:lnTo>
                  <a:pt x="720" y="493"/>
                </a:lnTo>
                <a:lnTo>
                  <a:pt x="727" y="495"/>
                </a:lnTo>
                <a:lnTo>
                  <a:pt x="734" y="498"/>
                </a:lnTo>
                <a:lnTo>
                  <a:pt x="741" y="498"/>
                </a:lnTo>
                <a:lnTo>
                  <a:pt x="747" y="498"/>
                </a:lnTo>
                <a:lnTo>
                  <a:pt x="754" y="499"/>
                </a:lnTo>
                <a:lnTo>
                  <a:pt x="759" y="498"/>
                </a:lnTo>
              </a:path>
            </a:pathLst>
          </a:custGeom>
          <a:noFill/>
          <a:ln w="25400" cap="rnd">
            <a:solidFill>
              <a:schemeClr val="tx1"/>
            </a:solidFill>
            <a:round/>
            <a:headEnd type="none" w="sm" len="sm"/>
            <a:tailEnd type="none" w="sm" len="sm"/>
          </a:ln>
        </p:spPr>
        <p:txBody>
          <a:bodyPr/>
          <a:lstStyle/>
          <a:p>
            <a:endParaRPr lang="ko-KR" altLang="en-US" dirty="0"/>
          </a:p>
        </p:txBody>
      </p:sp>
      <p:sp>
        <p:nvSpPr>
          <p:cNvPr id="7" name="Line 29"/>
          <p:cNvSpPr>
            <a:spLocks noChangeShapeType="1"/>
          </p:cNvSpPr>
          <p:nvPr/>
        </p:nvSpPr>
        <p:spPr bwMode="auto">
          <a:xfrm>
            <a:off x="1840523" y="2165206"/>
            <a:ext cx="0" cy="89535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8" name="Line 30"/>
          <p:cNvSpPr>
            <a:spLocks noChangeShapeType="1"/>
          </p:cNvSpPr>
          <p:nvPr/>
        </p:nvSpPr>
        <p:spPr bwMode="auto">
          <a:xfrm>
            <a:off x="615462" y="3084369"/>
            <a:ext cx="2523392"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 name="Freeform 31"/>
          <p:cNvSpPr>
            <a:spLocks/>
          </p:cNvSpPr>
          <p:nvPr/>
        </p:nvSpPr>
        <p:spPr bwMode="auto">
          <a:xfrm>
            <a:off x="2384181" y="3004995"/>
            <a:ext cx="545123" cy="52387"/>
          </a:xfrm>
          <a:custGeom>
            <a:avLst/>
            <a:gdLst>
              <a:gd name="T0" fmla="*/ 0 w 372"/>
              <a:gd name="T1" fmla="*/ 0 h 33"/>
              <a:gd name="T2" fmla="*/ 0 w 372"/>
              <a:gd name="T3" fmla="*/ 0 h 33"/>
              <a:gd name="T4" fmla="*/ 0 w 372"/>
              <a:gd name="T5" fmla="*/ 2147483647 h 33"/>
              <a:gd name="T6" fmla="*/ 2147483647 w 372"/>
              <a:gd name="T7" fmla="*/ 2147483647 h 33"/>
              <a:gd name="T8" fmla="*/ 2147483647 w 372"/>
              <a:gd name="T9" fmla="*/ 2147483647 h 33"/>
              <a:gd name="T10" fmla="*/ 2147483647 w 372"/>
              <a:gd name="T11" fmla="*/ 2147483647 h 33"/>
              <a:gd name="T12" fmla="*/ 2147483647 w 372"/>
              <a:gd name="T13" fmla="*/ 2147483647 h 33"/>
              <a:gd name="T14" fmla="*/ 2147483647 w 372"/>
              <a:gd name="T15" fmla="*/ 2147483647 h 33"/>
              <a:gd name="T16" fmla="*/ 2147483647 w 372"/>
              <a:gd name="T17" fmla="*/ 2147483647 h 33"/>
              <a:gd name="T18" fmla="*/ 2147483647 w 372"/>
              <a:gd name="T19" fmla="*/ 2147483647 h 33"/>
              <a:gd name="T20" fmla="*/ 2147483647 w 372"/>
              <a:gd name="T21" fmla="*/ 2147483647 h 33"/>
              <a:gd name="T22" fmla="*/ 2147483647 w 372"/>
              <a:gd name="T23" fmla="*/ 2147483647 h 33"/>
              <a:gd name="T24" fmla="*/ 2147483647 w 372"/>
              <a:gd name="T25" fmla="*/ 2147483647 h 33"/>
              <a:gd name="T26" fmla="*/ 2147483647 w 372"/>
              <a:gd name="T27" fmla="*/ 2147483647 h 33"/>
              <a:gd name="T28" fmla="*/ 2147483647 w 372"/>
              <a:gd name="T29" fmla="*/ 2147483647 h 33"/>
              <a:gd name="T30" fmla="*/ 2147483647 w 372"/>
              <a:gd name="T31" fmla="*/ 2147483647 h 33"/>
              <a:gd name="T32" fmla="*/ 2147483647 w 372"/>
              <a:gd name="T33" fmla="*/ 2147483647 h 33"/>
              <a:gd name="T34" fmla="*/ 2147483647 w 372"/>
              <a:gd name="T35" fmla="*/ 2147483647 h 33"/>
              <a:gd name="T36" fmla="*/ 2147483647 w 372"/>
              <a:gd name="T37" fmla="*/ 2147483647 h 33"/>
              <a:gd name="T38" fmla="*/ 2147483647 w 372"/>
              <a:gd name="T39" fmla="*/ 2147483647 h 33"/>
              <a:gd name="T40" fmla="*/ 2147483647 w 372"/>
              <a:gd name="T41" fmla="*/ 2147483647 h 33"/>
              <a:gd name="T42" fmla="*/ 2147483647 w 372"/>
              <a:gd name="T43" fmla="*/ 2147483647 h 33"/>
              <a:gd name="T44" fmla="*/ 2147483647 w 372"/>
              <a:gd name="T45" fmla="*/ 2147483647 h 33"/>
              <a:gd name="T46" fmla="*/ 2147483647 w 372"/>
              <a:gd name="T47" fmla="*/ 2147483647 h 33"/>
              <a:gd name="T48" fmla="*/ 2147483647 w 372"/>
              <a:gd name="T49" fmla="*/ 2147483647 h 33"/>
              <a:gd name="T50" fmla="*/ 2147483647 w 372"/>
              <a:gd name="T51" fmla="*/ 2147483647 h 33"/>
              <a:gd name="T52" fmla="*/ 2147483647 w 372"/>
              <a:gd name="T53" fmla="*/ 2147483647 h 33"/>
              <a:gd name="T54" fmla="*/ 2147483647 w 372"/>
              <a:gd name="T55" fmla="*/ 2147483647 h 33"/>
              <a:gd name="T56" fmla="*/ 2147483647 w 372"/>
              <a:gd name="T57" fmla="*/ 2147483647 h 33"/>
              <a:gd name="T58" fmla="*/ 2147483647 w 372"/>
              <a:gd name="T59" fmla="*/ 2147483647 h 33"/>
              <a:gd name="T60" fmla="*/ 2147483647 w 372"/>
              <a:gd name="T61" fmla="*/ 2147483647 h 33"/>
              <a:gd name="T62" fmla="*/ 2147483647 w 372"/>
              <a:gd name="T63" fmla="*/ 2147483647 h 33"/>
              <a:gd name="T64" fmla="*/ 2147483647 w 372"/>
              <a:gd name="T65" fmla="*/ 2147483647 h 33"/>
              <a:gd name="T66" fmla="*/ 2147483647 w 372"/>
              <a:gd name="T67" fmla="*/ 2147483647 h 33"/>
              <a:gd name="T68" fmla="*/ 2147483647 w 372"/>
              <a:gd name="T69" fmla="*/ 2147483647 h 33"/>
              <a:gd name="T70" fmla="*/ 2147483647 w 372"/>
              <a:gd name="T71" fmla="*/ 2147483647 h 33"/>
              <a:gd name="T72" fmla="*/ 2147483647 w 372"/>
              <a:gd name="T73" fmla="*/ 2147483647 h 33"/>
              <a:gd name="T74" fmla="*/ 2147483647 w 372"/>
              <a:gd name="T75" fmla="*/ 2147483647 h 33"/>
              <a:gd name="T76" fmla="*/ 2147483647 w 372"/>
              <a:gd name="T77" fmla="*/ 2147483647 h 33"/>
              <a:gd name="T78" fmla="*/ 2147483647 w 372"/>
              <a:gd name="T79" fmla="*/ 2147483647 h 33"/>
              <a:gd name="T80" fmla="*/ 2147483647 w 372"/>
              <a:gd name="T81" fmla="*/ 2147483647 h 33"/>
              <a:gd name="T82" fmla="*/ 2147483647 w 372"/>
              <a:gd name="T83" fmla="*/ 2147483647 h 33"/>
              <a:gd name="T84" fmla="*/ 2147483647 w 372"/>
              <a:gd name="T85" fmla="*/ 2147483647 h 33"/>
              <a:gd name="T86" fmla="*/ 2147483647 w 372"/>
              <a:gd name="T87" fmla="*/ 2147483647 h 33"/>
              <a:gd name="T88" fmla="*/ 2147483647 w 372"/>
              <a:gd name="T89" fmla="*/ 2147483647 h 33"/>
              <a:gd name="T90" fmla="*/ 2147483647 w 372"/>
              <a:gd name="T91" fmla="*/ 2147483647 h 33"/>
              <a:gd name="T92" fmla="*/ 2147483647 w 372"/>
              <a:gd name="T93" fmla="*/ 2147483647 h 33"/>
              <a:gd name="T94" fmla="*/ 2147483647 w 372"/>
              <a:gd name="T95" fmla="*/ 2147483647 h 33"/>
              <a:gd name="T96" fmla="*/ 2147483647 w 372"/>
              <a:gd name="T97" fmla="*/ 2147483647 h 33"/>
              <a:gd name="T98" fmla="*/ 2147483647 w 372"/>
              <a:gd name="T99" fmla="*/ 2147483647 h 33"/>
              <a:gd name="T100" fmla="*/ 2147483647 w 372"/>
              <a:gd name="T101" fmla="*/ 2147483647 h 33"/>
              <a:gd name="T102" fmla="*/ 2147483647 w 372"/>
              <a:gd name="T103" fmla="*/ 2147483647 h 33"/>
              <a:gd name="T104" fmla="*/ 2147483647 w 372"/>
              <a:gd name="T105" fmla="*/ 2147483647 h 33"/>
              <a:gd name="T106" fmla="*/ 2147483647 w 372"/>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2"/>
              <a:gd name="T163" fmla="*/ 0 h 33"/>
              <a:gd name="T164" fmla="*/ 372 w 372"/>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2" h="33">
                <a:moveTo>
                  <a:pt x="0" y="0"/>
                </a:moveTo>
                <a:lnTo>
                  <a:pt x="0" y="0"/>
                </a:lnTo>
                <a:lnTo>
                  <a:pt x="0" y="4"/>
                </a:lnTo>
                <a:lnTo>
                  <a:pt x="8" y="7"/>
                </a:lnTo>
                <a:lnTo>
                  <a:pt x="11" y="10"/>
                </a:lnTo>
                <a:lnTo>
                  <a:pt x="17" y="10"/>
                </a:lnTo>
                <a:lnTo>
                  <a:pt x="23" y="14"/>
                </a:lnTo>
                <a:lnTo>
                  <a:pt x="32" y="16"/>
                </a:lnTo>
                <a:lnTo>
                  <a:pt x="40" y="16"/>
                </a:lnTo>
                <a:lnTo>
                  <a:pt x="48" y="17"/>
                </a:lnTo>
                <a:lnTo>
                  <a:pt x="56" y="17"/>
                </a:lnTo>
                <a:lnTo>
                  <a:pt x="61" y="18"/>
                </a:lnTo>
                <a:lnTo>
                  <a:pt x="67" y="20"/>
                </a:lnTo>
                <a:lnTo>
                  <a:pt x="74" y="20"/>
                </a:lnTo>
                <a:lnTo>
                  <a:pt x="80" y="22"/>
                </a:lnTo>
                <a:lnTo>
                  <a:pt x="88" y="21"/>
                </a:lnTo>
                <a:lnTo>
                  <a:pt x="96" y="21"/>
                </a:lnTo>
                <a:lnTo>
                  <a:pt x="104" y="23"/>
                </a:lnTo>
                <a:lnTo>
                  <a:pt x="113" y="23"/>
                </a:lnTo>
                <a:lnTo>
                  <a:pt x="120" y="24"/>
                </a:lnTo>
                <a:lnTo>
                  <a:pt x="128" y="26"/>
                </a:lnTo>
                <a:lnTo>
                  <a:pt x="137" y="26"/>
                </a:lnTo>
                <a:lnTo>
                  <a:pt x="145" y="26"/>
                </a:lnTo>
                <a:lnTo>
                  <a:pt x="152" y="26"/>
                </a:lnTo>
                <a:lnTo>
                  <a:pt x="161" y="26"/>
                </a:lnTo>
                <a:lnTo>
                  <a:pt x="169" y="26"/>
                </a:lnTo>
                <a:lnTo>
                  <a:pt x="177" y="26"/>
                </a:lnTo>
                <a:lnTo>
                  <a:pt x="185" y="26"/>
                </a:lnTo>
                <a:lnTo>
                  <a:pt x="193" y="26"/>
                </a:lnTo>
                <a:lnTo>
                  <a:pt x="201" y="26"/>
                </a:lnTo>
                <a:lnTo>
                  <a:pt x="209" y="26"/>
                </a:lnTo>
                <a:lnTo>
                  <a:pt x="215" y="27"/>
                </a:lnTo>
                <a:lnTo>
                  <a:pt x="221" y="28"/>
                </a:lnTo>
                <a:lnTo>
                  <a:pt x="225" y="28"/>
                </a:lnTo>
                <a:lnTo>
                  <a:pt x="233" y="28"/>
                </a:lnTo>
                <a:lnTo>
                  <a:pt x="242" y="28"/>
                </a:lnTo>
                <a:lnTo>
                  <a:pt x="250" y="28"/>
                </a:lnTo>
                <a:lnTo>
                  <a:pt x="257" y="28"/>
                </a:lnTo>
                <a:lnTo>
                  <a:pt x="266" y="28"/>
                </a:lnTo>
                <a:lnTo>
                  <a:pt x="272" y="30"/>
                </a:lnTo>
                <a:lnTo>
                  <a:pt x="278" y="30"/>
                </a:lnTo>
                <a:lnTo>
                  <a:pt x="284" y="32"/>
                </a:lnTo>
                <a:lnTo>
                  <a:pt x="290" y="32"/>
                </a:lnTo>
                <a:lnTo>
                  <a:pt x="298" y="32"/>
                </a:lnTo>
                <a:lnTo>
                  <a:pt x="306" y="32"/>
                </a:lnTo>
                <a:lnTo>
                  <a:pt x="314" y="32"/>
                </a:lnTo>
                <a:lnTo>
                  <a:pt x="322" y="32"/>
                </a:lnTo>
                <a:lnTo>
                  <a:pt x="329" y="32"/>
                </a:lnTo>
                <a:lnTo>
                  <a:pt x="335" y="32"/>
                </a:lnTo>
                <a:lnTo>
                  <a:pt x="341" y="32"/>
                </a:lnTo>
                <a:lnTo>
                  <a:pt x="348" y="32"/>
                </a:lnTo>
                <a:lnTo>
                  <a:pt x="354" y="32"/>
                </a:lnTo>
                <a:lnTo>
                  <a:pt x="362" y="32"/>
                </a:lnTo>
                <a:lnTo>
                  <a:pt x="371" y="32"/>
                </a:lnTo>
              </a:path>
            </a:pathLst>
          </a:custGeom>
          <a:noFill/>
          <a:ln w="25400" cap="rnd">
            <a:solidFill>
              <a:schemeClr val="tx1"/>
            </a:solidFill>
            <a:round/>
            <a:headEnd type="none" w="sm" len="sm"/>
            <a:tailEnd type="none" w="sm" len="sm"/>
          </a:ln>
        </p:spPr>
        <p:txBody>
          <a:bodyPr/>
          <a:lstStyle/>
          <a:p>
            <a:endParaRPr lang="ko-KR" altLang="en-US" dirty="0"/>
          </a:p>
        </p:txBody>
      </p:sp>
      <p:sp>
        <p:nvSpPr>
          <p:cNvPr id="10" name="Freeform 32"/>
          <p:cNvSpPr>
            <a:spLocks/>
          </p:cNvSpPr>
          <p:nvPr/>
        </p:nvSpPr>
        <p:spPr bwMode="auto">
          <a:xfrm>
            <a:off x="735624" y="3004995"/>
            <a:ext cx="542192" cy="52387"/>
          </a:xfrm>
          <a:custGeom>
            <a:avLst/>
            <a:gdLst>
              <a:gd name="T0" fmla="*/ 2147483647 w 370"/>
              <a:gd name="T1" fmla="*/ 0 h 33"/>
              <a:gd name="T2" fmla="*/ 2147483647 w 370"/>
              <a:gd name="T3" fmla="*/ 0 h 33"/>
              <a:gd name="T4" fmla="*/ 2147483647 w 370"/>
              <a:gd name="T5" fmla="*/ 2147483647 h 33"/>
              <a:gd name="T6" fmla="*/ 2147483647 w 370"/>
              <a:gd name="T7" fmla="*/ 2147483647 h 33"/>
              <a:gd name="T8" fmla="*/ 2147483647 w 370"/>
              <a:gd name="T9" fmla="*/ 2147483647 h 33"/>
              <a:gd name="T10" fmla="*/ 2147483647 w 370"/>
              <a:gd name="T11" fmla="*/ 2147483647 h 33"/>
              <a:gd name="T12" fmla="*/ 2147483647 w 370"/>
              <a:gd name="T13" fmla="*/ 2147483647 h 33"/>
              <a:gd name="T14" fmla="*/ 2147483647 w 370"/>
              <a:gd name="T15" fmla="*/ 2147483647 h 33"/>
              <a:gd name="T16" fmla="*/ 2147483647 w 370"/>
              <a:gd name="T17" fmla="*/ 2147483647 h 33"/>
              <a:gd name="T18" fmla="*/ 2147483647 w 370"/>
              <a:gd name="T19" fmla="*/ 2147483647 h 33"/>
              <a:gd name="T20" fmla="*/ 2147483647 w 370"/>
              <a:gd name="T21" fmla="*/ 2147483647 h 33"/>
              <a:gd name="T22" fmla="*/ 2147483647 w 370"/>
              <a:gd name="T23" fmla="*/ 2147483647 h 33"/>
              <a:gd name="T24" fmla="*/ 2147483647 w 370"/>
              <a:gd name="T25" fmla="*/ 2147483647 h 33"/>
              <a:gd name="T26" fmla="*/ 2147483647 w 370"/>
              <a:gd name="T27" fmla="*/ 2147483647 h 33"/>
              <a:gd name="T28" fmla="*/ 2147483647 w 370"/>
              <a:gd name="T29" fmla="*/ 2147483647 h 33"/>
              <a:gd name="T30" fmla="*/ 2147483647 w 370"/>
              <a:gd name="T31" fmla="*/ 2147483647 h 33"/>
              <a:gd name="T32" fmla="*/ 2147483647 w 370"/>
              <a:gd name="T33" fmla="*/ 2147483647 h 33"/>
              <a:gd name="T34" fmla="*/ 2147483647 w 370"/>
              <a:gd name="T35" fmla="*/ 2147483647 h 33"/>
              <a:gd name="T36" fmla="*/ 2147483647 w 370"/>
              <a:gd name="T37" fmla="*/ 2147483647 h 33"/>
              <a:gd name="T38" fmla="*/ 2147483647 w 370"/>
              <a:gd name="T39" fmla="*/ 2147483647 h 33"/>
              <a:gd name="T40" fmla="*/ 2147483647 w 370"/>
              <a:gd name="T41" fmla="*/ 2147483647 h 33"/>
              <a:gd name="T42" fmla="*/ 2147483647 w 370"/>
              <a:gd name="T43" fmla="*/ 2147483647 h 33"/>
              <a:gd name="T44" fmla="*/ 2147483647 w 370"/>
              <a:gd name="T45" fmla="*/ 2147483647 h 33"/>
              <a:gd name="T46" fmla="*/ 2147483647 w 370"/>
              <a:gd name="T47" fmla="*/ 2147483647 h 33"/>
              <a:gd name="T48" fmla="*/ 2147483647 w 370"/>
              <a:gd name="T49" fmla="*/ 2147483647 h 33"/>
              <a:gd name="T50" fmla="*/ 2147483647 w 370"/>
              <a:gd name="T51" fmla="*/ 2147483647 h 33"/>
              <a:gd name="T52" fmla="*/ 2147483647 w 370"/>
              <a:gd name="T53" fmla="*/ 2147483647 h 33"/>
              <a:gd name="T54" fmla="*/ 2147483647 w 370"/>
              <a:gd name="T55" fmla="*/ 2147483647 h 33"/>
              <a:gd name="T56" fmla="*/ 2147483647 w 370"/>
              <a:gd name="T57" fmla="*/ 2147483647 h 33"/>
              <a:gd name="T58" fmla="*/ 2147483647 w 370"/>
              <a:gd name="T59" fmla="*/ 2147483647 h 33"/>
              <a:gd name="T60" fmla="*/ 2147483647 w 370"/>
              <a:gd name="T61" fmla="*/ 2147483647 h 33"/>
              <a:gd name="T62" fmla="*/ 2147483647 w 370"/>
              <a:gd name="T63" fmla="*/ 2147483647 h 33"/>
              <a:gd name="T64" fmla="*/ 2147483647 w 370"/>
              <a:gd name="T65" fmla="*/ 2147483647 h 33"/>
              <a:gd name="T66" fmla="*/ 2147483647 w 370"/>
              <a:gd name="T67" fmla="*/ 2147483647 h 33"/>
              <a:gd name="T68" fmla="*/ 2147483647 w 370"/>
              <a:gd name="T69" fmla="*/ 2147483647 h 33"/>
              <a:gd name="T70" fmla="*/ 2147483647 w 370"/>
              <a:gd name="T71" fmla="*/ 2147483647 h 33"/>
              <a:gd name="T72" fmla="*/ 2147483647 w 370"/>
              <a:gd name="T73" fmla="*/ 2147483647 h 33"/>
              <a:gd name="T74" fmla="*/ 2147483647 w 370"/>
              <a:gd name="T75" fmla="*/ 2147483647 h 33"/>
              <a:gd name="T76" fmla="*/ 2147483647 w 370"/>
              <a:gd name="T77" fmla="*/ 2147483647 h 33"/>
              <a:gd name="T78" fmla="*/ 2147483647 w 370"/>
              <a:gd name="T79" fmla="*/ 2147483647 h 33"/>
              <a:gd name="T80" fmla="*/ 2147483647 w 370"/>
              <a:gd name="T81" fmla="*/ 2147483647 h 33"/>
              <a:gd name="T82" fmla="*/ 2147483647 w 370"/>
              <a:gd name="T83" fmla="*/ 2147483647 h 33"/>
              <a:gd name="T84" fmla="*/ 2147483647 w 370"/>
              <a:gd name="T85" fmla="*/ 2147483647 h 33"/>
              <a:gd name="T86" fmla="*/ 2147483647 w 370"/>
              <a:gd name="T87" fmla="*/ 2147483647 h 33"/>
              <a:gd name="T88" fmla="*/ 2147483647 w 370"/>
              <a:gd name="T89" fmla="*/ 2147483647 h 33"/>
              <a:gd name="T90" fmla="*/ 2147483647 w 370"/>
              <a:gd name="T91" fmla="*/ 2147483647 h 33"/>
              <a:gd name="T92" fmla="*/ 2147483647 w 370"/>
              <a:gd name="T93" fmla="*/ 2147483647 h 33"/>
              <a:gd name="T94" fmla="*/ 2147483647 w 370"/>
              <a:gd name="T95" fmla="*/ 2147483647 h 33"/>
              <a:gd name="T96" fmla="*/ 2147483647 w 370"/>
              <a:gd name="T97" fmla="*/ 2147483647 h 33"/>
              <a:gd name="T98" fmla="*/ 2147483647 w 370"/>
              <a:gd name="T99" fmla="*/ 2147483647 h 33"/>
              <a:gd name="T100" fmla="*/ 2147483647 w 370"/>
              <a:gd name="T101" fmla="*/ 2147483647 h 33"/>
              <a:gd name="T102" fmla="*/ 2147483647 w 370"/>
              <a:gd name="T103" fmla="*/ 2147483647 h 33"/>
              <a:gd name="T104" fmla="*/ 2147483647 w 370"/>
              <a:gd name="T105" fmla="*/ 2147483647 h 33"/>
              <a:gd name="T106" fmla="*/ 0 w 370"/>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0"/>
              <a:gd name="T163" fmla="*/ 0 h 33"/>
              <a:gd name="T164" fmla="*/ 370 w 370"/>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0" h="33">
                <a:moveTo>
                  <a:pt x="369" y="0"/>
                </a:moveTo>
                <a:lnTo>
                  <a:pt x="369" y="0"/>
                </a:lnTo>
                <a:lnTo>
                  <a:pt x="369" y="4"/>
                </a:lnTo>
                <a:lnTo>
                  <a:pt x="360" y="7"/>
                </a:lnTo>
                <a:lnTo>
                  <a:pt x="357" y="10"/>
                </a:lnTo>
                <a:lnTo>
                  <a:pt x="351" y="10"/>
                </a:lnTo>
                <a:lnTo>
                  <a:pt x="345" y="14"/>
                </a:lnTo>
                <a:lnTo>
                  <a:pt x="336" y="16"/>
                </a:lnTo>
                <a:lnTo>
                  <a:pt x="328" y="16"/>
                </a:lnTo>
                <a:lnTo>
                  <a:pt x="321" y="17"/>
                </a:lnTo>
                <a:lnTo>
                  <a:pt x="312" y="17"/>
                </a:lnTo>
                <a:lnTo>
                  <a:pt x="307" y="18"/>
                </a:lnTo>
                <a:lnTo>
                  <a:pt x="301" y="20"/>
                </a:lnTo>
                <a:lnTo>
                  <a:pt x="294" y="20"/>
                </a:lnTo>
                <a:lnTo>
                  <a:pt x="288" y="22"/>
                </a:lnTo>
                <a:lnTo>
                  <a:pt x="280" y="21"/>
                </a:lnTo>
                <a:lnTo>
                  <a:pt x="272" y="21"/>
                </a:lnTo>
                <a:lnTo>
                  <a:pt x="264" y="23"/>
                </a:lnTo>
                <a:lnTo>
                  <a:pt x="256" y="23"/>
                </a:lnTo>
                <a:lnTo>
                  <a:pt x="248" y="24"/>
                </a:lnTo>
                <a:lnTo>
                  <a:pt x="241" y="26"/>
                </a:lnTo>
                <a:lnTo>
                  <a:pt x="232" y="26"/>
                </a:lnTo>
                <a:lnTo>
                  <a:pt x="224" y="26"/>
                </a:lnTo>
                <a:lnTo>
                  <a:pt x="216" y="26"/>
                </a:lnTo>
                <a:lnTo>
                  <a:pt x="208" y="26"/>
                </a:lnTo>
                <a:lnTo>
                  <a:pt x="200" y="26"/>
                </a:lnTo>
                <a:lnTo>
                  <a:pt x="192" y="26"/>
                </a:lnTo>
                <a:lnTo>
                  <a:pt x="184" y="26"/>
                </a:lnTo>
                <a:lnTo>
                  <a:pt x="176" y="26"/>
                </a:lnTo>
                <a:lnTo>
                  <a:pt x="168" y="26"/>
                </a:lnTo>
                <a:lnTo>
                  <a:pt x="160" y="26"/>
                </a:lnTo>
                <a:lnTo>
                  <a:pt x="154" y="27"/>
                </a:lnTo>
                <a:lnTo>
                  <a:pt x="149" y="28"/>
                </a:lnTo>
                <a:lnTo>
                  <a:pt x="144" y="28"/>
                </a:lnTo>
                <a:lnTo>
                  <a:pt x="137" y="28"/>
                </a:lnTo>
                <a:lnTo>
                  <a:pt x="127" y="28"/>
                </a:lnTo>
                <a:lnTo>
                  <a:pt x="120" y="28"/>
                </a:lnTo>
                <a:lnTo>
                  <a:pt x="112" y="28"/>
                </a:lnTo>
                <a:lnTo>
                  <a:pt x="104" y="28"/>
                </a:lnTo>
                <a:lnTo>
                  <a:pt x="98" y="30"/>
                </a:lnTo>
                <a:lnTo>
                  <a:pt x="92" y="30"/>
                </a:lnTo>
                <a:lnTo>
                  <a:pt x="86" y="32"/>
                </a:lnTo>
                <a:lnTo>
                  <a:pt x="80" y="32"/>
                </a:lnTo>
                <a:lnTo>
                  <a:pt x="71" y="32"/>
                </a:lnTo>
                <a:lnTo>
                  <a:pt x="64" y="32"/>
                </a:lnTo>
                <a:lnTo>
                  <a:pt x="56" y="32"/>
                </a:lnTo>
                <a:lnTo>
                  <a:pt x="47" y="32"/>
                </a:lnTo>
                <a:lnTo>
                  <a:pt x="41" y="32"/>
                </a:lnTo>
                <a:lnTo>
                  <a:pt x="35" y="32"/>
                </a:lnTo>
                <a:lnTo>
                  <a:pt x="29" y="32"/>
                </a:lnTo>
                <a:lnTo>
                  <a:pt x="21" y="32"/>
                </a:lnTo>
                <a:lnTo>
                  <a:pt x="15" y="32"/>
                </a:lnTo>
                <a:lnTo>
                  <a:pt x="8" y="32"/>
                </a:lnTo>
                <a:lnTo>
                  <a:pt x="0" y="32"/>
                </a:lnTo>
              </a:path>
            </a:pathLst>
          </a:custGeom>
          <a:noFill/>
          <a:ln w="25400" cap="rnd">
            <a:solidFill>
              <a:schemeClr val="tx1"/>
            </a:solidFill>
            <a:round/>
            <a:headEnd type="none" w="sm" len="sm"/>
            <a:tailEnd type="none" w="sm" len="sm"/>
          </a:ln>
        </p:spPr>
        <p:txBody>
          <a:bodyPr/>
          <a:lstStyle/>
          <a:p>
            <a:endParaRPr lang="ko-KR" altLang="en-US" dirty="0"/>
          </a:p>
        </p:txBody>
      </p:sp>
      <p:grpSp>
        <p:nvGrpSpPr>
          <p:cNvPr id="11" name="Group 54"/>
          <p:cNvGrpSpPr>
            <a:grpSpLocks/>
          </p:cNvGrpSpPr>
          <p:nvPr/>
        </p:nvGrpSpPr>
        <p:grpSpPr bwMode="auto">
          <a:xfrm>
            <a:off x="1702777" y="4852844"/>
            <a:ext cx="1299797" cy="431800"/>
            <a:chOff x="1731" y="2548"/>
            <a:chExt cx="825" cy="516"/>
          </a:xfrm>
        </p:grpSpPr>
        <p:sp>
          <p:nvSpPr>
            <p:cNvPr id="12"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3"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4"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5"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6"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17" name="Group 60"/>
          <p:cNvGrpSpPr>
            <a:grpSpLocks/>
          </p:cNvGrpSpPr>
          <p:nvPr/>
        </p:nvGrpSpPr>
        <p:grpSpPr bwMode="auto">
          <a:xfrm>
            <a:off x="844062" y="4352781"/>
            <a:ext cx="1012581" cy="431800"/>
            <a:chOff x="1047" y="2224"/>
            <a:chExt cx="825" cy="407"/>
          </a:xfrm>
        </p:grpSpPr>
        <p:sp>
          <p:nvSpPr>
            <p:cNvPr id="18" name="Freeform 55"/>
            <p:cNvSpPr>
              <a:spLocks/>
            </p:cNvSpPr>
            <p:nvPr/>
          </p:nvSpPr>
          <p:spPr bwMode="auto">
            <a:xfrm>
              <a:off x="1262" y="2247"/>
              <a:ext cx="366" cy="355"/>
            </a:xfrm>
            <a:custGeom>
              <a:avLst/>
              <a:gdLst>
                <a:gd name="T0" fmla="*/ 9 w 366"/>
                <a:gd name="T1" fmla="*/ 351 h 355"/>
                <a:gd name="T2" fmla="*/ 22 w 366"/>
                <a:gd name="T3" fmla="*/ 348 h 355"/>
                <a:gd name="T4" fmla="*/ 36 w 366"/>
                <a:gd name="T5" fmla="*/ 339 h 355"/>
                <a:gd name="T6" fmla="*/ 48 w 366"/>
                <a:gd name="T7" fmla="*/ 327 h 355"/>
                <a:gd name="T8" fmla="*/ 60 w 366"/>
                <a:gd name="T9" fmla="*/ 318 h 355"/>
                <a:gd name="T10" fmla="*/ 69 w 366"/>
                <a:gd name="T11" fmla="*/ 302 h 355"/>
                <a:gd name="T12" fmla="*/ 77 w 366"/>
                <a:gd name="T13" fmla="*/ 285 h 355"/>
                <a:gd name="T14" fmla="*/ 87 w 366"/>
                <a:gd name="T15" fmla="*/ 270 h 355"/>
                <a:gd name="T16" fmla="*/ 93 w 366"/>
                <a:gd name="T17" fmla="*/ 252 h 355"/>
                <a:gd name="T18" fmla="*/ 96 w 366"/>
                <a:gd name="T19" fmla="*/ 235 h 355"/>
                <a:gd name="T20" fmla="*/ 104 w 366"/>
                <a:gd name="T21" fmla="*/ 219 h 355"/>
                <a:gd name="T22" fmla="*/ 110 w 366"/>
                <a:gd name="T23" fmla="*/ 204 h 355"/>
                <a:gd name="T24" fmla="*/ 111 w 366"/>
                <a:gd name="T25" fmla="*/ 186 h 355"/>
                <a:gd name="T26" fmla="*/ 116 w 366"/>
                <a:gd name="T27" fmla="*/ 169 h 355"/>
                <a:gd name="T28" fmla="*/ 121 w 366"/>
                <a:gd name="T29" fmla="*/ 153 h 355"/>
                <a:gd name="T30" fmla="*/ 126 w 366"/>
                <a:gd name="T31" fmla="*/ 135 h 355"/>
                <a:gd name="T32" fmla="*/ 129 w 366"/>
                <a:gd name="T33" fmla="*/ 118 h 355"/>
                <a:gd name="T34" fmla="*/ 135 w 366"/>
                <a:gd name="T35" fmla="*/ 101 h 355"/>
                <a:gd name="T36" fmla="*/ 140 w 366"/>
                <a:gd name="T37" fmla="*/ 84 h 355"/>
                <a:gd name="T38" fmla="*/ 145 w 366"/>
                <a:gd name="T39" fmla="*/ 66 h 355"/>
                <a:gd name="T40" fmla="*/ 151 w 366"/>
                <a:gd name="T41" fmla="*/ 50 h 355"/>
                <a:gd name="T42" fmla="*/ 156 w 366"/>
                <a:gd name="T43" fmla="*/ 33 h 355"/>
                <a:gd name="T44" fmla="*/ 165 w 366"/>
                <a:gd name="T45" fmla="*/ 15 h 355"/>
                <a:gd name="T46" fmla="*/ 177 w 366"/>
                <a:gd name="T47" fmla="*/ 1 h 355"/>
                <a:gd name="T48" fmla="*/ 190 w 366"/>
                <a:gd name="T49" fmla="*/ 1 h 355"/>
                <a:gd name="T50" fmla="*/ 202 w 366"/>
                <a:gd name="T51" fmla="*/ 17 h 355"/>
                <a:gd name="T52" fmla="*/ 212 w 366"/>
                <a:gd name="T53" fmla="*/ 34 h 355"/>
                <a:gd name="T54" fmla="*/ 217 w 366"/>
                <a:gd name="T55" fmla="*/ 51 h 355"/>
                <a:gd name="T56" fmla="*/ 222 w 366"/>
                <a:gd name="T57" fmla="*/ 68 h 355"/>
                <a:gd name="T58" fmla="*/ 226 w 366"/>
                <a:gd name="T59" fmla="*/ 85 h 355"/>
                <a:gd name="T60" fmla="*/ 231 w 366"/>
                <a:gd name="T61" fmla="*/ 102 h 355"/>
                <a:gd name="T62" fmla="*/ 237 w 366"/>
                <a:gd name="T63" fmla="*/ 120 h 355"/>
                <a:gd name="T64" fmla="*/ 241 w 366"/>
                <a:gd name="T65" fmla="*/ 137 h 355"/>
                <a:gd name="T66" fmla="*/ 248 w 366"/>
                <a:gd name="T67" fmla="*/ 154 h 355"/>
                <a:gd name="T68" fmla="*/ 253 w 366"/>
                <a:gd name="T69" fmla="*/ 171 h 355"/>
                <a:gd name="T70" fmla="*/ 256 w 366"/>
                <a:gd name="T71" fmla="*/ 188 h 355"/>
                <a:gd name="T72" fmla="*/ 260 w 366"/>
                <a:gd name="T73" fmla="*/ 205 h 355"/>
                <a:gd name="T74" fmla="*/ 265 w 366"/>
                <a:gd name="T75" fmla="*/ 222 h 355"/>
                <a:gd name="T76" fmla="*/ 271 w 366"/>
                <a:gd name="T77" fmla="*/ 240 h 355"/>
                <a:gd name="T78" fmla="*/ 277 w 366"/>
                <a:gd name="T79" fmla="*/ 257 h 355"/>
                <a:gd name="T80" fmla="*/ 284 w 366"/>
                <a:gd name="T81" fmla="*/ 273 h 355"/>
                <a:gd name="T82" fmla="*/ 290 w 366"/>
                <a:gd name="T83" fmla="*/ 291 h 355"/>
                <a:gd name="T84" fmla="*/ 300 w 366"/>
                <a:gd name="T85" fmla="*/ 306 h 355"/>
                <a:gd name="T86" fmla="*/ 311 w 366"/>
                <a:gd name="T87" fmla="*/ 324 h 355"/>
                <a:gd name="T88" fmla="*/ 324 w 366"/>
                <a:gd name="T89" fmla="*/ 333 h 355"/>
                <a:gd name="T90" fmla="*/ 336 w 366"/>
                <a:gd name="T91" fmla="*/ 342 h 355"/>
                <a:gd name="T92" fmla="*/ 349 w 366"/>
                <a:gd name="T93" fmla="*/ 349 h 355"/>
                <a:gd name="T94" fmla="*/ 362 w 366"/>
                <a:gd name="T95" fmla="*/ 352 h 3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55"/>
                <a:gd name="T146" fmla="*/ 366 w 366"/>
                <a:gd name="T147" fmla="*/ 355 h 3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55">
                  <a:moveTo>
                    <a:pt x="0" y="354"/>
                  </a:moveTo>
                  <a:lnTo>
                    <a:pt x="3" y="354"/>
                  </a:lnTo>
                  <a:lnTo>
                    <a:pt x="6" y="352"/>
                  </a:lnTo>
                  <a:lnTo>
                    <a:pt x="9" y="351"/>
                  </a:lnTo>
                  <a:lnTo>
                    <a:pt x="12" y="349"/>
                  </a:lnTo>
                  <a:lnTo>
                    <a:pt x="16" y="348"/>
                  </a:lnTo>
                  <a:lnTo>
                    <a:pt x="19" y="348"/>
                  </a:lnTo>
                  <a:lnTo>
                    <a:pt x="22" y="348"/>
                  </a:lnTo>
                  <a:lnTo>
                    <a:pt x="26" y="346"/>
                  </a:lnTo>
                  <a:lnTo>
                    <a:pt x="29" y="344"/>
                  </a:lnTo>
                  <a:lnTo>
                    <a:pt x="33" y="341"/>
                  </a:lnTo>
                  <a:lnTo>
                    <a:pt x="36" y="339"/>
                  </a:lnTo>
                  <a:lnTo>
                    <a:pt x="39" y="335"/>
                  </a:lnTo>
                  <a:lnTo>
                    <a:pt x="42" y="332"/>
                  </a:lnTo>
                  <a:lnTo>
                    <a:pt x="45" y="331"/>
                  </a:lnTo>
                  <a:lnTo>
                    <a:pt x="48" y="327"/>
                  </a:lnTo>
                  <a:lnTo>
                    <a:pt x="51" y="325"/>
                  </a:lnTo>
                  <a:lnTo>
                    <a:pt x="54" y="324"/>
                  </a:lnTo>
                  <a:lnTo>
                    <a:pt x="57" y="321"/>
                  </a:lnTo>
                  <a:lnTo>
                    <a:pt x="60" y="318"/>
                  </a:lnTo>
                  <a:lnTo>
                    <a:pt x="63" y="314"/>
                  </a:lnTo>
                  <a:lnTo>
                    <a:pt x="65" y="309"/>
                  </a:lnTo>
                  <a:lnTo>
                    <a:pt x="68" y="306"/>
                  </a:lnTo>
                  <a:lnTo>
                    <a:pt x="69" y="302"/>
                  </a:lnTo>
                  <a:lnTo>
                    <a:pt x="70" y="298"/>
                  </a:lnTo>
                  <a:lnTo>
                    <a:pt x="72" y="294"/>
                  </a:lnTo>
                  <a:lnTo>
                    <a:pt x="75" y="289"/>
                  </a:lnTo>
                  <a:lnTo>
                    <a:pt x="77" y="285"/>
                  </a:lnTo>
                  <a:lnTo>
                    <a:pt x="79" y="281"/>
                  </a:lnTo>
                  <a:lnTo>
                    <a:pt x="81" y="276"/>
                  </a:lnTo>
                  <a:lnTo>
                    <a:pt x="84" y="273"/>
                  </a:lnTo>
                  <a:lnTo>
                    <a:pt x="87" y="270"/>
                  </a:lnTo>
                  <a:lnTo>
                    <a:pt x="87" y="265"/>
                  </a:lnTo>
                  <a:lnTo>
                    <a:pt x="89" y="261"/>
                  </a:lnTo>
                  <a:lnTo>
                    <a:pt x="91" y="257"/>
                  </a:lnTo>
                  <a:lnTo>
                    <a:pt x="93" y="252"/>
                  </a:lnTo>
                  <a:lnTo>
                    <a:pt x="94" y="248"/>
                  </a:lnTo>
                  <a:lnTo>
                    <a:pt x="96" y="243"/>
                  </a:lnTo>
                  <a:lnTo>
                    <a:pt x="96" y="240"/>
                  </a:lnTo>
                  <a:lnTo>
                    <a:pt x="96" y="235"/>
                  </a:lnTo>
                  <a:lnTo>
                    <a:pt x="99" y="232"/>
                  </a:lnTo>
                  <a:lnTo>
                    <a:pt x="99" y="228"/>
                  </a:lnTo>
                  <a:lnTo>
                    <a:pt x="102" y="224"/>
                  </a:lnTo>
                  <a:lnTo>
                    <a:pt x="104" y="219"/>
                  </a:lnTo>
                  <a:lnTo>
                    <a:pt x="104" y="215"/>
                  </a:lnTo>
                  <a:lnTo>
                    <a:pt x="106" y="211"/>
                  </a:lnTo>
                  <a:lnTo>
                    <a:pt x="106" y="207"/>
                  </a:lnTo>
                  <a:lnTo>
                    <a:pt x="110" y="204"/>
                  </a:lnTo>
                  <a:lnTo>
                    <a:pt x="108" y="199"/>
                  </a:lnTo>
                  <a:lnTo>
                    <a:pt x="108" y="195"/>
                  </a:lnTo>
                  <a:lnTo>
                    <a:pt x="110" y="191"/>
                  </a:lnTo>
                  <a:lnTo>
                    <a:pt x="111" y="186"/>
                  </a:lnTo>
                  <a:lnTo>
                    <a:pt x="111" y="183"/>
                  </a:lnTo>
                  <a:lnTo>
                    <a:pt x="113" y="178"/>
                  </a:lnTo>
                  <a:lnTo>
                    <a:pt x="115" y="174"/>
                  </a:lnTo>
                  <a:lnTo>
                    <a:pt x="116" y="169"/>
                  </a:lnTo>
                  <a:lnTo>
                    <a:pt x="117" y="165"/>
                  </a:lnTo>
                  <a:lnTo>
                    <a:pt x="120" y="161"/>
                  </a:lnTo>
                  <a:lnTo>
                    <a:pt x="120" y="156"/>
                  </a:lnTo>
                  <a:lnTo>
                    <a:pt x="121" y="153"/>
                  </a:lnTo>
                  <a:lnTo>
                    <a:pt x="121" y="148"/>
                  </a:lnTo>
                  <a:lnTo>
                    <a:pt x="123" y="144"/>
                  </a:lnTo>
                  <a:lnTo>
                    <a:pt x="125" y="140"/>
                  </a:lnTo>
                  <a:lnTo>
                    <a:pt x="126" y="135"/>
                  </a:lnTo>
                  <a:lnTo>
                    <a:pt x="127" y="131"/>
                  </a:lnTo>
                  <a:lnTo>
                    <a:pt x="128" y="126"/>
                  </a:lnTo>
                  <a:lnTo>
                    <a:pt x="130" y="123"/>
                  </a:lnTo>
                  <a:lnTo>
                    <a:pt x="129" y="118"/>
                  </a:lnTo>
                  <a:lnTo>
                    <a:pt x="130" y="114"/>
                  </a:lnTo>
                  <a:lnTo>
                    <a:pt x="132" y="110"/>
                  </a:lnTo>
                  <a:lnTo>
                    <a:pt x="135" y="105"/>
                  </a:lnTo>
                  <a:lnTo>
                    <a:pt x="135" y="101"/>
                  </a:lnTo>
                  <a:lnTo>
                    <a:pt x="137" y="96"/>
                  </a:lnTo>
                  <a:lnTo>
                    <a:pt x="138" y="93"/>
                  </a:lnTo>
                  <a:lnTo>
                    <a:pt x="139" y="88"/>
                  </a:lnTo>
                  <a:lnTo>
                    <a:pt x="140" y="84"/>
                  </a:lnTo>
                  <a:lnTo>
                    <a:pt x="141" y="80"/>
                  </a:lnTo>
                  <a:lnTo>
                    <a:pt x="143" y="75"/>
                  </a:lnTo>
                  <a:lnTo>
                    <a:pt x="143" y="71"/>
                  </a:lnTo>
                  <a:lnTo>
                    <a:pt x="145" y="66"/>
                  </a:lnTo>
                  <a:lnTo>
                    <a:pt x="145" y="63"/>
                  </a:lnTo>
                  <a:lnTo>
                    <a:pt x="147" y="58"/>
                  </a:lnTo>
                  <a:lnTo>
                    <a:pt x="149" y="54"/>
                  </a:lnTo>
                  <a:lnTo>
                    <a:pt x="151" y="50"/>
                  </a:lnTo>
                  <a:lnTo>
                    <a:pt x="152" y="45"/>
                  </a:lnTo>
                  <a:lnTo>
                    <a:pt x="154" y="41"/>
                  </a:lnTo>
                  <a:lnTo>
                    <a:pt x="155" y="36"/>
                  </a:lnTo>
                  <a:lnTo>
                    <a:pt x="156" y="33"/>
                  </a:lnTo>
                  <a:lnTo>
                    <a:pt x="159" y="28"/>
                  </a:lnTo>
                  <a:lnTo>
                    <a:pt x="161" y="24"/>
                  </a:lnTo>
                  <a:lnTo>
                    <a:pt x="163" y="20"/>
                  </a:lnTo>
                  <a:lnTo>
                    <a:pt x="165" y="15"/>
                  </a:lnTo>
                  <a:lnTo>
                    <a:pt x="168" y="12"/>
                  </a:lnTo>
                  <a:lnTo>
                    <a:pt x="171" y="8"/>
                  </a:lnTo>
                  <a:lnTo>
                    <a:pt x="174" y="4"/>
                  </a:lnTo>
                  <a:lnTo>
                    <a:pt x="177" y="1"/>
                  </a:lnTo>
                  <a:lnTo>
                    <a:pt x="180" y="1"/>
                  </a:lnTo>
                  <a:lnTo>
                    <a:pt x="184" y="0"/>
                  </a:lnTo>
                  <a:lnTo>
                    <a:pt x="187" y="0"/>
                  </a:lnTo>
                  <a:lnTo>
                    <a:pt x="190" y="1"/>
                  </a:lnTo>
                  <a:lnTo>
                    <a:pt x="193" y="6"/>
                  </a:lnTo>
                  <a:lnTo>
                    <a:pt x="198" y="8"/>
                  </a:lnTo>
                  <a:lnTo>
                    <a:pt x="200" y="12"/>
                  </a:lnTo>
                  <a:lnTo>
                    <a:pt x="202" y="17"/>
                  </a:lnTo>
                  <a:lnTo>
                    <a:pt x="205" y="21"/>
                  </a:lnTo>
                  <a:lnTo>
                    <a:pt x="208" y="25"/>
                  </a:lnTo>
                  <a:lnTo>
                    <a:pt x="210" y="30"/>
                  </a:lnTo>
                  <a:lnTo>
                    <a:pt x="212" y="34"/>
                  </a:lnTo>
                  <a:lnTo>
                    <a:pt x="213" y="38"/>
                  </a:lnTo>
                  <a:lnTo>
                    <a:pt x="215" y="42"/>
                  </a:lnTo>
                  <a:lnTo>
                    <a:pt x="217" y="47"/>
                  </a:lnTo>
                  <a:lnTo>
                    <a:pt x="217" y="51"/>
                  </a:lnTo>
                  <a:lnTo>
                    <a:pt x="217" y="55"/>
                  </a:lnTo>
                  <a:lnTo>
                    <a:pt x="219" y="60"/>
                  </a:lnTo>
                  <a:lnTo>
                    <a:pt x="220" y="64"/>
                  </a:lnTo>
                  <a:lnTo>
                    <a:pt x="222" y="68"/>
                  </a:lnTo>
                  <a:lnTo>
                    <a:pt x="222" y="72"/>
                  </a:lnTo>
                  <a:lnTo>
                    <a:pt x="224" y="77"/>
                  </a:lnTo>
                  <a:lnTo>
                    <a:pt x="225" y="81"/>
                  </a:lnTo>
                  <a:lnTo>
                    <a:pt x="226" y="85"/>
                  </a:lnTo>
                  <a:lnTo>
                    <a:pt x="227" y="90"/>
                  </a:lnTo>
                  <a:lnTo>
                    <a:pt x="229" y="94"/>
                  </a:lnTo>
                  <a:lnTo>
                    <a:pt x="231" y="98"/>
                  </a:lnTo>
                  <a:lnTo>
                    <a:pt x="231" y="102"/>
                  </a:lnTo>
                  <a:lnTo>
                    <a:pt x="232" y="107"/>
                  </a:lnTo>
                  <a:lnTo>
                    <a:pt x="234" y="111"/>
                  </a:lnTo>
                  <a:lnTo>
                    <a:pt x="235" y="115"/>
                  </a:lnTo>
                  <a:lnTo>
                    <a:pt x="237" y="120"/>
                  </a:lnTo>
                  <a:lnTo>
                    <a:pt x="238" y="124"/>
                  </a:lnTo>
                  <a:lnTo>
                    <a:pt x="239" y="128"/>
                  </a:lnTo>
                  <a:lnTo>
                    <a:pt x="241" y="132"/>
                  </a:lnTo>
                  <a:lnTo>
                    <a:pt x="241" y="137"/>
                  </a:lnTo>
                  <a:lnTo>
                    <a:pt x="243" y="141"/>
                  </a:lnTo>
                  <a:lnTo>
                    <a:pt x="244" y="145"/>
                  </a:lnTo>
                  <a:lnTo>
                    <a:pt x="244" y="150"/>
                  </a:lnTo>
                  <a:lnTo>
                    <a:pt x="248" y="154"/>
                  </a:lnTo>
                  <a:lnTo>
                    <a:pt x="249" y="158"/>
                  </a:lnTo>
                  <a:lnTo>
                    <a:pt x="250" y="162"/>
                  </a:lnTo>
                  <a:lnTo>
                    <a:pt x="251" y="167"/>
                  </a:lnTo>
                  <a:lnTo>
                    <a:pt x="253" y="171"/>
                  </a:lnTo>
                  <a:lnTo>
                    <a:pt x="253" y="175"/>
                  </a:lnTo>
                  <a:lnTo>
                    <a:pt x="253" y="180"/>
                  </a:lnTo>
                  <a:lnTo>
                    <a:pt x="254" y="184"/>
                  </a:lnTo>
                  <a:lnTo>
                    <a:pt x="256" y="188"/>
                  </a:lnTo>
                  <a:lnTo>
                    <a:pt x="256" y="192"/>
                  </a:lnTo>
                  <a:lnTo>
                    <a:pt x="258" y="197"/>
                  </a:lnTo>
                  <a:lnTo>
                    <a:pt x="258" y="201"/>
                  </a:lnTo>
                  <a:lnTo>
                    <a:pt x="260" y="205"/>
                  </a:lnTo>
                  <a:lnTo>
                    <a:pt x="261" y="210"/>
                  </a:lnTo>
                  <a:lnTo>
                    <a:pt x="262" y="213"/>
                  </a:lnTo>
                  <a:lnTo>
                    <a:pt x="263" y="218"/>
                  </a:lnTo>
                  <a:lnTo>
                    <a:pt x="265" y="222"/>
                  </a:lnTo>
                  <a:lnTo>
                    <a:pt x="266" y="227"/>
                  </a:lnTo>
                  <a:lnTo>
                    <a:pt x="268" y="231"/>
                  </a:lnTo>
                  <a:lnTo>
                    <a:pt x="270" y="235"/>
                  </a:lnTo>
                  <a:lnTo>
                    <a:pt x="271" y="240"/>
                  </a:lnTo>
                  <a:lnTo>
                    <a:pt x="272" y="243"/>
                  </a:lnTo>
                  <a:lnTo>
                    <a:pt x="274" y="248"/>
                  </a:lnTo>
                  <a:lnTo>
                    <a:pt x="275" y="252"/>
                  </a:lnTo>
                  <a:lnTo>
                    <a:pt x="277" y="257"/>
                  </a:lnTo>
                  <a:lnTo>
                    <a:pt x="280" y="261"/>
                  </a:lnTo>
                  <a:lnTo>
                    <a:pt x="280" y="265"/>
                  </a:lnTo>
                  <a:lnTo>
                    <a:pt x="283" y="270"/>
                  </a:lnTo>
                  <a:lnTo>
                    <a:pt x="284" y="273"/>
                  </a:lnTo>
                  <a:lnTo>
                    <a:pt x="285" y="278"/>
                  </a:lnTo>
                  <a:lnTo>
                    <a:pt x="287" y="282"/>
                  </a:lnTo>
                  <a:lnTo>
                    <a:pt x="288" y="287"/>
                  </a:lnTo>
                  <a:lnTo>
                    <a:pt x="290" y="291"/>
                  </a:lnTo>
                  <a:lnTo>
                    <a:pt x="294" y="294"/>
                  </a:lnTo>
                  <a:lnTo>
                    <a:pt x="295" y="298"/>
                  </a:lnTo>
                  <a:lnTo>
                    <a:pt x="298" y="302"/>
                  </a:lnTo>
                  <a:lnTo>
                    <a:pt x="300" y="306"/>
                  </a:lnTo>
                  <a:lnTo>
                    <a:pt x="302" y="311"/>
                  </a:lnTo>
                  <a:lnTo>
                    <a:pt x="304" y="315"/>
                  </a:lnTo>
                  <a:lnTo>
                    <a:pt x="308" y="319"/>
                  </a:lnTo>
                  <a:lnTo>
                    <a:pt x="311" y="324"/>
                  </a:lnTo>
                  <a:lnTo>
                    <a:pt x="314" y="325"/>
                  </a:lnTo>
                  <a:lnTo>
                    <a:pt x="318" y="327"/>
                  </a:lnTo>
                  <a:lnTo>
                    <a:pt x="321" y="331"/>
                  </a:lnTo>
                  <a:lnTo>
                    <a:pt x="324" y="333"/>
                  </a:lnTo>
                  <a:lnTo>
                    <a:pt x="326" y="338"/>
                  </a:lnTo>
                  <a:lnTo>
                    <a:pt x="330" y="339"/>
                  </a:lnTo>
                  <a:lnTo>
                    <a:pt x="333" y="341"/>
                  </a:lnTo>
                  <a:lnTo>
                    <a:pt x="336" y="342"/>
                  </a:lnTo>
                  <a:lnTo>
                    <a:pt x="340" y="344"/>
                  </a:lnTo>
                  <a:lnTo>
                    <a:pt x="343" y="346"/>
                  </a:lnTo>
                  <a:lnTo>
                    <a:pt x="346" y="348"/>
                  </a:lnTo>
                  <a:lnTo>
                    <a:pt x="349" y="349"/>
                  </a:lnTo>
                  <a:lnTo>
                    <a:pt x="352" y="351"/>
                  </a:lnTo>
                  <a:lnTo>
                    <a:pt x="355" y="351"/>
                  </a:lnTo>
                  <a:lnTo>
                    <a:pt x="359" y="351"/>
                  </a:lnTo>
                  <a:lnTo>
                    <a:pt x="362" y="352"/>
                  </a:lnTo>
                  <a:lnTo>
                    <a:pt x="365" y="351"/>
                  </a:lnTo>
                </a:path>
              </a:pathLst>
            </a:custGeom>
            <a:noFill/>
            <a:ln w="12700" cap="rnd">
              <a:solidFill>
                <a:schemeClr val="tx1"/>
              </a:solidFill>
              <a:round/>
              <a:headEnd type="none" w="sm" len="sm"/>
              <a:tailEnd type="none" w="sm" len="sm"/>
            </a:ln>
          </p:spPr>
          <p:txBody>
            <a:bodyPr/>
            <a:lstStyle/>
            <a:p>
              <a:endParaRPr lang="ko-KR" altLang="en-US" dirty="0"/>
            </a:p>
          </p:txBody>
        </p:sp>
        <p:sp>
          <p:nvSpPr>
            <p:cNvPr id="19" name="Line 56"/>
            <p:cNvSpPr>
              <a:spLocks noChangeShapeType="1"/>
            </p:cNvSpPr>
            <p:nvPr/>
          </p:nvSpPr>
          <p:spPr bwMode="auto">
            <a:xfrm>
              <a:off x="1447" y="2224"/>
              <a:ext cx="0" cy="39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0" name="Line 57"/>
            <p:cNvSpPr>
              <a:spLocks noChangeShapeType="1"/>
            </p:cNvSpPr>
            <p:nvPr/>
          </p:nvSpPr>
          <p:spPr bwMode="auto">
            <a:xfrm>
              <a:off x="1047" y="2631"/>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1" name="Freeform 58"/>
            <p:cNvSpPr>
              <a:spLocks/>
            </p:cNvSpPr>
            <p:nvPr/>
          </p:nvSpPr>
          <p:spPr bwMode="auto">
            <a:xfrm>
              <a:off x="1625" y="2596"/>
              <a:ext cx="178" cy="24"/>
            </a:xfrm>
            <a:custGeom>
              <a:avLst/>
              <a:gdLst>
                <a:gd name="T0" fmla="*/ 0 w 178"/>
                <a:gd name="T1" fmla="*/ 0 h 24"/>
                <a:gd name="T2" fmla="*/ 0 w 178"/>
                <a:gd name="T3" fmla="*/ 0 h 24"/>
                <a:gd name="T4" fmla="*/ 0 w 178"/>
                <a:gd name="T5" fmla="*/ 2 h 24"/>
                <a:gd name="T6" fmla="*/ 3 w 178"/>
                <a:gd name="T7" fmla="*/ 5 h 24"/>
                <a:gd name="T8" fmla="*/ 5 w 178"/>
                <a:gd name="T9" fmla="*/ 7 h 24"/>
                <a:gd name="T10" fmla="*/ 8 w 178"/>
                <a:gd name="T11" fmla="*/ 7 h 24"/>
                <a:gd name="T12" fmla="*/ 11 w 178"/>
                <a:gd name="T13" fmla="*/ 10 h 24"/>
                <a:gd name="T14" fmla="*/ 15 w 178"/>
                <a:gd name="T15" fmla="*/ 11 h 24"/>
                <a:gd name="T16" fmla="*/ 19 w 178"/>
                <a:gd name="T17" fmla="*/ 11 h 24"/>
                <a:gd name="T18" fmla="*/ 23 w 178"/>
                <a:gd name="T19" fmla="*/ 12 h 24"/>
                <a:gd name="T20" fmla="*/ 26 w 178"/>
                <a:gd name="T21" fmla="*/ 12 h 24"/>
                <a:gd name="T22" fmla="*/ 29 w 178"/>
                <a:gd name="T23" fmla="*/ 13 h 24"/>
                <a:gd name="T24" fmla="*/ 32 w 178"/>
                <a:gd name="T25" fmla="*/ 14 h 24"/>
                <a:gd name="T26" fmla="*/ 35 w 178"/>
                <a:gd name="T27" fmla="*/ 14 h 24"/>
                <a:gd name="T28" fmla="*/ 38 w 178"/>
                <a:gd name="T29" fmla="*/ 16 h 24"/>
                <a:gd name="T30" fmla="*/ 42 w 178"/>
                <a:gd name="T31" fmla="*/ 15 h 24"/>
                <a:gd name="T32" fmla="*/ 46 w 178"/>
                <a:gd name="T33" fmla="*/ 15 h 24"/>
                <a:gd name="T34" fmla="*/ 50 w 178"/>
                <a:gd name="T35" fmla="*/ 16 h 24"/>
                <a:gd name="T36" fmla="*/ 53 w 178"/>
                <a:gd name="T37" fmla="*/ 16 h 24"/>
                <a:gd name="T38" fmla="*/ 57 w 178"/>
                <a:gd name="T39" fmla="*/ 17 h 24"/>
                <a:gd name="T40" fmla="*/ 61 w 178"/>
                <a:gd name="T41" fmla="*/ 19 h 24"/>
                <a:gd name="T42" fmla="*/ 65 w 178"/>
                <a:gd name="T43" fmla="*/ 19 h 24"/>
                <a:gd name="T44" fmla="*/ 69 w 178"/>
                <a:gd name="T45" fmla="*/ 19 h 24"/>
                <a:gd name="T46" fmla="*/ 73 w 178"/>
                <a:gd name="T47" fmla="*/ 19 h 24"/>
                <a:gd name="T48" fmla="*/ 76 w 178"/>
                <a:gd name="T49" fmla="*/ 19 h 24"/>
                <a:gd name="T50" fmla="*/ 80 w 178"/>
                <a:gd name="T51" fmla="*/ 19 h 24"/>
                <a:gd name="T52" fmla="*/ 84 w 178"/>
                <a:gd name="T53" fmla="*/ 19 h 24"/>
                <a:gd name="T54" fmla="*/ 88 w 178"/>
                <a:gd name="T55" fmla="*/ 19 h 24"/>
                <a:gd name="T56" fmla="*/ 92 w 178"/>
                <a:gd name="T57" fmla="*/ 19 h 24"/>
                <a:gd name="T58" fmla="*/ 96 w 178"/>
                <a:gd name="T59" fmla="*/ 19 h 24"/>
                <a:gd name="T60" fmla="*/ 100 w 178"/>
                <a:gd name="T61" fmla="*/ 19 h 24"/>
                <a:gd name="T62" fmla="*/ 103 w 178"/>
                <a:gd name="T63" fmla="*/ 20 h 24"/>
                <a:gd name="T64" fmla="*/ 105 w 178"/>
                <a:gd name="T65" fmla="*/ 20 h 24"/>
                <a:gd name="T66" fmla="*/ 107 w 178"/>
                <a:gd name="T67" fmla="*/ 20 h 24"/>
                <a:gd name="T68" fmla="*/ 111 w 178"/>
                <a:gd name="T69" fmla="*/ 20 h 24"/>
                <a:gd name="T70" fmla="*/ 115 w 178"/>
                <a:gd name="T71" fmla="*/ 20 h 24"/>
                <a:gd name="T72" fmla="*/ 119 w 178"/>
                <a:gd name="T73" fmla="*/ 20 h 24"/>
                <a:gd name="T74" fmla="*/ 123 w 178"/>
                <a:gd name="T75" fmla="*/ 20 h 24"/>
                <a:gd name="T76" fmla="*/ 126 w 178"/>
                <a:gd name="T77" fmla="*/ 20 h 24"/>
                <a:gd name="T78" fmla="*/ 129 w 178"/>
                <a:gd name="T79" fmla="*/ 21 h 24"/>
                <a:gd name="T80" fmla="*/ 132 w 178"/>
                <a:gd name="T81" fmla="*/ 21 h 24"/>
                <a:gd name="T82" fmla="*/ 135 w 178"/>
                <a:gd name="T83" fmla="*/ 23 h 24"/>
                <a:gd name="T84" fmla="*/ 138 w 178"/>
                <a:gd name="T85" fmla="*/ 23 h 24"/>
                <a:gd name="T86" fmla="*/ 142 w 178"/>
                <a:gd name="T87" fmla="*/ 23 h 24"/>
                <a:gd name="T88" fmla="*/ 146 w 178"/>
                <a:gd name="T89" fmla="*/ 23 h 24"/>
                <a:gd name="T90" fmla="*/ 150 w 178"/>
                <a:gd name="T91" fmla="*/ 23 h 24"/>
                <a:gd name="T92" fmla="*/ 153 w 178"/>
                <a:gd name="T93" fmla="*/ 23 h 24"/>
                <a:gd name="T94" fmla="*/ 156 w 178"/>
                <a:gd name="T95" fmla="*/ 23 h 24"/>
                <a:gd name="T96" fmla="*/ 159 w 178"/>
                <a:gd name="T97" fmla="*/ 23 h 24"/>
                <a:gd name="T98" fmla="*/ 162 w 178"/>
                <a:gd name="T99" fmla="*/ 23 h 24"/>
                <a:gd name="T100" fmla="*/ 166 w 178"/>
                <a:gd name="T101" fmla="*/ 23 h 24"/>
                <a:gd name="T102" fmla="*/ 169 w 178"/>
                <a:gd name="T103" fmla="*/ 23 h 24"/>
                <a:gd name="T104" fmla="*/ 173 w 178"/>
                <a:gd name="T105" fmla="*/ 23 h 24"/>
                <a:gd name="T106" fmla="*/ 177 w 178"/>
                <a:gd name="T107" fmla="*/ 23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0" y="0"/>
                  </a:moveTo>
                  <a:lnTo>
                    <a:pt x="0" y="0"/>
                  </a:lnTo>
                  <a:lnTo>
                    <a:pt x="0" y="2"/>
                  </a:lnTo>
                  <a:lnTo>
                    <a:pt x="3" y="5"/>
                  </a:lnTo>
                  <a:lnTo>
                    <a:pt x="5" y="7"/>
                  </a:lnTo>
                  <a:lnTo>
                    <a:pt x="8" y="7"/>
                  </a:lnTo>
                  <a:lnTo>
                    <a:pt x="11" y="10"/>
                  </a:lnTo>
                  <a:lnTo>
                    <a:pt x="15" y="11"/>
                  </a:lnTo>
                  <a:lnTo>
                    <a:pt x="19" y="11"/>
                  </a:lnTo>
                  <a:lnTo>
                    <a:pt x="23" y="12"/>
                  </a:lnTo>
                  <a:lnTo>
                    <a:pt x="26" y="12"/>
                  </a:lnTo>
                  <a:lnTo>
                    <a:pt x="29" y="13"/>
                  </a:lnTo>
                  <a:lnTo>
                    <a:pt x="32" y="14"/>
                  </a:lnTo>
                  <a:lnTo>
                    <a:pt x="35" y="14"/>
                  </a:lnTo>
                  <a:lnTo>
                    <a:pt x="38" y="16"/>
                  </a:lnTo>
                  <a:lnTo>
                    <a:pt x="42" y="15"/>
                  </a:lnTo>
                  <a:lnTo>
                    <a:pt x="46" y="15"/>
                  </a:lnTo>
                  <a:lnTo>
                    <a:pt x="50" y="16"/>
                  </a:lnTo>
                  <a:lnTo>
                    <a:pt x="53" y="16"/>
                  </a:lnTo>
                  <a:lnTo>
                    <a:pt x="57" y="17"/>
                  </a:lnTo>
                  <a:lnTo>
                    <a:pt x="61" y="19"/>
                  </a:lnTo>
                  <a:lnTo>
                    <a:pt x="65" y="19"/>
                  </a:lnTo>
                  <a:lnTo>
                    <a:pt x="69" y="19"/>
                  </a:lnTo>
                  <a:lnTo>
                    <a:pt x="73" y="19"/>
                  </a:lnTo>
                  <a:lnTo>
                    <a:pt x="76" y="19"/>
                  </a:lnTo>
                  <a:lnTo>
                    <a:pt x="80" y="19"/>
                  </a:lnTo>
                  <a:lnTo>
                    <a:pt x="84" y="19"/>
                  </a:lnTo>
                  <a:lnTo>
                    <a:pt x="88" y="19"/>
                  </a:lnTo>
                  <a:lnTo>
                    <a:pt x="92" y="19"/>
                  </a:lnTo>
                  <a:lnTo>
                    <a:pt x="96" y="19"/>
                  </a:lnTo>
                  <a:lnTo>
                    <a:pt x="100" y="19"/>
                  </a:lnTo>
                  <a:lnTo>
                    <a:pt x="103" y="20"/>
                  </a:lnTo>
                  <a:lnTo>
                    <a:pt x="105" y="20"/>
                  </a:lnTo>
                  <a:lnTo>
                    <a:pt x="107" y="20"/>
                  </a:lnTo>
                  <a:lnTo>
                    <a:pt x="111" y="20"/>
                  </a:lnTo>
                  <a:lnTo>
                    <a:pt x="115" y="20"/>
                  </a:lnTo>
                  <a:lnTo>
                    <a:pt x="119" y="20"/>
                  </a:lnTo>
                  <a:lnTo>
                    <a:pt x="123" y="20"/>
                  </a:lnTo>
                  <a:lnTo>
                    <a:pt x="126" y="20"/>
                  </a:lnTo>
                  <a:lnTo>
                    <a:pt x="129" y="21"/>
                  </a:lnTo>
                  <a:lnTo>
                    <a:pt x="132" y="21"/>
                  </a:lnTo>
                  <a:lnTo>
                    <a:pt x="135" y="23"/>
                  </a:lnTo>
                  <a:lnTo>
                    <a:pt x="138" y="23"/>
                  </a:lnTo>
                  <a:lnTo>
                    <a:pt x="142" y="23"/>
                  </a:lnTo>
                  <a:lnTo>
                    <a:pt x="146" y="23"/>
                  </a:lnTo>
                  <a:lnTo>
                    <a:pt x="150" y="23"/>
                  </a:lnTo>
                  <a:lnTo>
                    <a:pt x="153" y="23"/>
                  </a:lnTo>
                  <a:lnTo>
                    <a:pt x="156" y="23"/>
                  </a:lnTo>
                  <a:lnTo>
                    <a:pt x="159" y="23"/>
                  </a:lnTo>
                  <a:lnTo>
                    <a:pt x="162" y="23"/>
                  </a:lnTo>
                  <a:lnTo>
                    <a:pt x="166" y="23"/>
                  </a:lnTo>
                  <a:lnTo>
                    <a:pt x="169" y="23"/>
                  </a:lnTo>
                  <a:lnTo>
                    <a:pt x="173" y="23"/>
                  </a:lnTo>
                  <a:lnTo>
                    <a:pt x="177" y="23"/>
                  </a:lnTo>
                </a:path>
              </a:pathLst>
            </a:custGeom>
            <a:noFill/>
            <a:ln w="12700" cap="rnd">
              <a:solidFill>
                <a:schemeClr val="tx1"/>
              </a:solidFill>
              <a:round/>
              <a:headEnd type="none" w="sm" len="sm"/>
              <a:tailEnd type="none" w="sm" len="sm"/>
            </a:ln>
          </p:spPr>
          <p:txBody>
            <a:bodyPr/>
            <a:lstStyle/>
            <a:p>
              <a:endParaRPr lang="ko-KR" altLang="en-US" dirty="0"/>
            </a:p>
          </p:txBody>
        </p:sp>
        <p:sp>
          <p:nvSpPr>
            <p:cNvPr id="22" name="Freeform 59"/>
            <p:cNvSpPr>
              <a:spLocks/>
            </p:cNvSpPr>
            <p:nvPr/>
          </p:nvSpPr>
          <p:spPr bwMode="auto">
            <a:xfrm>
              <a:off x="1084" y="2596"/>
              <a:ext cx="178" cy="24"/>
            </a:xfrm>
            <a:custGeom>
              <a:avLst/>
              <a:gdLst>
                <a:gd name="T0" fmla="*/ 177 w 178"/>
                <a:gd name="T1" fmla="*/ 0 h 24"/>
                <a:gd name="T2" fmla="*/ 177 w 178"/>
                <a:gd name="T3" fmla="*/ 0 h 24"/>
                <a:gd name="T4" fmla="*/ 177 w 178"/>
                <a:gd name="T5" fmla="*/ 2 h 24"/>
                <a:gd name="T6" fmla="*/ 173 w 178"/>
                <a:gd name="T7" fmla="*/ 5 h 24"/>
                <a:gd name="T8" fmla="*/ 171 w 178"/>
                <a:gd name="T9" fmla="*/ 7 h 24"/>
                <a:gd name="T10" fmla="*/ 168 w 178"/>
                <a:gd name="T11" fmla="*/ 7 h 24"/>
                <a:gd name="T12" fmla="*/ 165 w 178"/>
                <a:gd name="T13" fmla="*/ 10 h 24"/>
                <a:gd name="T14" fmla="*/ 161 w 178"/>
                <a:gd name="T15" fmla="*/ 11 h 24"/>
                <a:gd name="T16" fmla="*/ 157 w 178"/>
                <a:gd name="T17" fmla="*/ 11 h 24"/>
                <a:gd name="T18" fmla="*/ 153 w 178"/>
                <a:gd name="T19" fmla="*/ 12 h 24"/>
                <a:gd name="T20" fmla="*/ 150 w 178"/>
                <a:gd name="T21" fmla="*/ 12 h 24"/>
                <a:gd name="T22" fmla="*/ 147 w 178"/>
                <a:gd name="T23" fmla="*/ 13 h 24"/>
                <a:gd name="T24" fmla="*/ 144 w 178"/>
                <a:gd name="T25" fmla="*/ 14 h 24"/>
                <a:gd name="T26" fmla="*/ 141 w 178"/>
                <a:gd name="T27" fmla="*/ 14 h 24"/>
                <a:gd name="T28" fmla="*/ 138 w 178"/>
                <a:gd name="T29" fmla="*/ 16 h 24"/>
                <a:gd name="T30" fmla="*/ 135 w 178"/>
                <a:gd name="T31" fmla="*/ 15 h 24"/>
                <a:gd name="T32" fmla="*/ 130 w 178"/>
                <a:gd name="T33" fmla="*/ 15 h 24"/>
                <a:gd name="T34" fmla="*/ 126 w 178"/>
                <a:gd name="T35" fmla="*/ 16 h 24"/>
                <a:gd name="T36" fmla="*/ 123 w 178"/>
                <a:gd name="T37" fmla="*/ 16 h 24"/>
                <a:gd name="T38" fmla="*/ 119 w 178"/>
                <a:gd name="T39" fmla="*/ 17 h 24"/>
                <a:gd name="T40" fmla="*/ 115 w 178"/>
                <a:gd name="T41" fmla="*/ 19 h 24"/>
                <a:gd name="T42" fmla="*/ 111 w 178"/>
                <a:gd name="T43" fmla="*/ 19 h 24"/>
                <a:gd name="T44" fmla="*/ 108 w 178"/>
                <a:gd name="T45" fmla="*/ 19 h 24"/>
                <a:gd name="T46" fmla="*/ 104 w 178"/>
                <a:gd name="T47" fmla="*/ 19 h 24"/>
                <a:gd name="T48" fmla="*/ 99 w 178"/>
                <a:gd name="T49" fmla="*/ 19 h 24"/>
                <a:gd name="T50" fmla="*/ 96 w 178"/>
                <a:gd name="T51" fmla="*/ 19 h 24"/>
                <a:gd name="T52" fmla="*/ 92 w 178"/>
                <a:gd name="T53" fmla="*/ 19 h 24"/>
                <a:gd name="T54" fmla="*/ 88 w 178"/>
                <a:gd name="T55" fmla="*/ 19 h 24"/>
                <a:gd name="T56" fmla="*/ 84 w 178"/>
                <a:gd name="T57" fmla="*/ 19 h 24"/>
                <a:gd name="T58" fmla="*/ 81 w 178"/>
                <a:gd name="T59" fmla="*/ 19 h 24"/>
                <a:gd name="T60" fmla="*/ 77 w 178"/>
                <a:gd name="T61" fmla="*/ 19 h 24"/>
                <a:gd name="T62" fmla="*/ 74 w 178"/>
                <a:gd name="T63" fmla="*/ 20 h 24"/>
                <a:gd name="T64" fmla="*/ 72 w 178"/>
                <a:gd name="T65" fmla="*/ 20 h 24"/>
                <a:gd name="T66" fmla="*/ 69 w 178"/>
                <a:gd name="T67" fmla="*/ 20 h 24"/>
                <a:gd name="T68" fmla="*/ 66 w 178"/>
                <a:gd name="T69" fmla="*/ 20 h 24"/>
                <a:gd name="T70" fmla="*/ 61 w 178"/>
                <a:gd name="T71" fmla="*/ 20 h 24"/>
                <a:gd name="T72" fmla="*/ 57 w 178"/>
                <a:gd name="T73" fmla="*/ 20 h 24"/>
                <a:gd name="T74" fmla="*/ 54 w 178"/>
                <a:gd name="T75" fmla="*/ 20 h 24"/>
                <a:gd name="T76" fmla="*/ 50 w 178"/>
                <a:gd name="T77" fmla="*/ 20 h 24"/>
                <a:gd name="T78" fmla="*/ 47 w 178"/>
                <a:gd name="T79" fmla="*/ 21 h 24"/>
                <a:gd name="T80" fmla="*/ 44 w 178"/>
                <a:gd name="T81" fmla="*/ 21 h 24"/>
                <a:gd name="T82" fmla="*/ 41 w 178"/>
                <a:gd name="T83" fmla="*/ 23 h 24"/>
                <a:gd name="T84" fmla="*/ 38 w 178"/>
                <a:gd name="T85" fmla="*/ 23 h 24"/>
                <a:gd name="T86" fmla="*/ 34 w 178"/>
                <a:gd name="T87" fmla="*/ 23 h 24"/>
                <a:gd name="T88" fmla="*/ 30 w 178"/>
                <a:gd name="T89" fmla="*/ 23 h 24"/>
                <a:gd name="T90" fmla="*/ 27 w 178"/>
                <a:gd name="T91" fmla="*/ 23 h 24"/>
                <a:gd name="T92" fmla="*/ 23 w 178"/>
                <a:gd name="T93" fmla="*/ 23 h 24"/>
                <a:gd name="T94" fmla="*/ 20 w 178"/>
                <a:gd name="T95" fmla="*/ 23 h 24"/>
                <a:gd name="T96" fmla="*/ 17 w 178"/>
                <a:gd name="T97" fmla="*/ 23 h 24"/>
                <a:gd name="T98" fmla="*/ 14 w 178"/>
                <a:gd name="T99" fmla="*/ 23 h 24"/>
                <a:gd name="T100" fmla="*/ 10 w 178"/>
                <a:gd name="T101" fmla="*/ 23 h 24"/>
                <a:gd name="T102" fmla="*/ 7 w 178"/>
                <a:gd name="T103" fmla="*/ 23 h 24"/>
                <a:gd name="T104" fmla="*/ 3 w 178"/>
                <a:gd name="T105" fmla="*/ 23 h 24"/>
                <a:gd name="T106" fmla="*/ 0 w 178"/>
                <a:gd name="T107" fmla="*/ 23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177" y="0"/>
                  </a:moveTo>
                  <a:lnTo>
                    <a:pt x="177" y="0"/>
                  </a:lnTo>
                  <a:lnTo>
                    <a:pt x="177" y="2"/>
                  </a:lnTo>
                  <a:lnTo>
                    <a:pt x="173" y="5"/>
                  </a:lnTo>
                  <a:lnTo>
                    <a:pt x="171" y="7"/>
                  </a:lnTo>
                  <a:lnTo>
                    <a:pt x="168" y="7"/>
                  </a:lnTo>
                  <a:lnTo>
                    <a:pt x="165" y="10"/>
                  </a:lnTo>
                  <a:lnTo>
                    <a:pt x="161" y="11"/>
                  </a:lnTo>
                  <a:lnTo>
                    <a:pt x="157" y="11"/>
                  </a:lnTo>
                  <a:lnTo>
                    <a:pt x="153" y="12"/>
                  </a:lnTo>
                  <a:lnTo>
                    <a:pt x="150" y="12"/>
                  </a:lnTo>
                  <a:lnTo>
                    <a:pt x="147" y="13"/>
                  </a:lnTo>
                  <a:lnTo>
                    <a:pt x="144" y="14"/>
                  </a:lnTo>
                  <a:lnTo>
                    <a:pt x="141" y="14"/>
                  </a:lnTo>
                  <a:lnTo>
                    <a:pt x="138" y="16"/>
                  </a:lnTo>
                  <a:lnTo>
                    <a:pt x="135" y="15"/>
                  </a:lnTo>
                  <a:lnTo>
                    <a:pt x="130" y="15"/>
                  </a:lnTo>
                  <a:lnTo>
                    <a:pt x="126" y="16"/>
                  </a:lnTo>
                  <a:lnTo>
                    <a:pt x="123" y="16"/>
                  </a:lnTo>
                  <a:lnTo>
                    <a:pt x="119" y="17"/>
                  </a:lnTo>
                  <a:lnTo>
                    <a:pt x="115" y="19"/>
                  </a:lnTo>
                  <a:lnTo>
                    <a:pt x="111" y="19"/>
                  </a:lnTo>
                  <a:lnTo>
                    <a:pt x="108" y="19"/>
                  </a:lnTo>
                  <a:lnTo>
                    <a:pt x="104" y="19"/>
                  </a:lnTo>
                  <a:lnTo>
                    <a:pt x="99" y="19"/>
                  </a:lnTo>
                  <a:lnTo>
                    <a:pt x="96" y="19"/>
                  </a:lnTo>
                  <a:lnTo>
                    <a:pt x="92" y="19"/>
                  </a:lnTo>
                  <a:lnTo>
                    <a:pt x="88" y="19"/>
                  </a:lnTo>
                  <a:lnTo>
                    <a:pt x="84" y="19"/>
                  </a:lnTo>
                  <a:lnTo>
                    <a:pt x="81" y="19"/>
                  </a:lnTo>
                  <a:lnTo>
                    <a:pt x="77" y="19"/>
                  </a:lnTo>
                  <a:lnTo>
                    <a:pt x="74" y="20"/>
                  </a:lnTo>
                  <a:lnTo>
                    <a:pt x="72" y="20"/>
                  </a:lnTo>
                  <a:lnTo>
                    <a:pt x="69" y="20"/>
                  </a:lnTo>
                  <a:lnTo>
                    <a:pt x="66" y="20"/>
                  </a:lnTo>
                  <a:lnTo>
                    <a:pt x="61" y="20"/>
                  </a:lnTo>
                  <a:lnTo>
                    <a:pt x="57" y="20"/>
                  </a:lnTo>
                  <a:lnTo>
                    <a:pt x="54" y="20"/>
                  </a:lnTo>
                  <a:lnTo>
                    <a:pt x="50" y="20"/>
                  </a:lnTo>
                  <a:lnTo>
                    <a:pt x="47" y="21"/>
                  </a:lnTo>
                  <a:lnTo>
                    <a:pt x="44" y="21"/>
                  </a:lnTo>
                  <a:lnTo>
                    <a:pt x="41" y="23"/>
                  </a:lnTo>
                  <a:lnTo>
                    <a:pt x="38" y="23"/>
                  </a:lnTo>
                  <a:lnTo>
                    <a:pt x="34" y="23"/>
                  </a:lnTo>
                  <a:lnTo>
                    <a:pt x="30" y="23"/>
                  </a:lnTo>
                  <a:lnTo>
                    <a:pt x="27" y="23"/>
                  </a:lnTo>
                  <a:lnTo>
                    <a:pt x="23" y="23"/>
                  </a:lnTo>
                  <a:lnTo>
                    <a:pt x="20" y="23"/>
                  </a:lnTo>
                  <a:lnTo>
                    <a:pt x="17" y="23"/>
                  </a:lnTo>
                  <a:lnTo>
                    <a:pt x="14" y="23"/>
                  </a:lnTo>
                  <a:lnTo>
                    <a:pt x="10" y="23"/>
                  </a:lnTo>
                  <a:lnTo>
                    <a:pt x="7" y="23"/>
                  </a:lnTo>
                  <a:lnTo>
                    <a:pt x="3" y="23"/>
                  </a:lnTo>
                  <a:lnTo>
                    <a:pt x="0" y="23"/>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23" name="Group 72"/>
          <p:cNvGrpSpPr>
            <a:grpSpLocks/>
          </p:cNvGrpSpPr>
          <p:nvPr/>
        </p:nvGrpSpPr>
        <p:grpSpPr bwMode="auto">
          <a:xfrm>
            <a:off x="1252905" y="3638406"/>
            <a:ext cx="1208942" cy="431800"/>
            <a:chOff x="1011" y="1504"/>
            <a:chExt cx="1185" cy="479"/>
          </a:xfrm>
        </p:grpSpPr>
        <p:sp>
          <p:nvSpPr>
            <p:cNvPr id="24" name="Freeform 67"/>
            <p:cNvSpPr>
              <a:spLocks/>
            </p:cNvSpPr>
            <p:nvPr/>
          </p:nvSpPr>
          <p:spPr bwMode="auto">
            <a:xfrm>
              <a:off x="1322" y="1532"/>
              <a:ext cx="524" cy="417"/>
            </a:xfrm>
            <a:custGeom>
              <a:avLst/>
              <a:gdLst>
                <a:gd name="T0" fmla="*/ 14 w 524"/>
                <a:gd name="T1" fmla="*/ 413 h 417"/>
                <a:gd name="T2" fmla="*/ 33 w 524"/>
                <a:gd name="T3" fmla="*/ 409 h 417"/>
                <a:gd name="T4" fmla="*/ 51 w 524"/>
                <a:gd name="T5" fmla="*/ 399 h 417"/>
                <a:gd name="T6" fmla="*/ 69 w 524"/>
                <a:gd name="T7" fmla="*/ 383 h 417"/>
                <a:gd name="T8" fmla="*/ 87 w 524"/>
                <a:gd name="T9" fmla="*/ 374 h 417"/>
                <a:gd name="T10" fmla="*/ 99 w 524"/>
                <a:gd name="T11" fmla="*/ 355 h 417"/>
                <a:gd name="T12" fmla="*/ 111 w 524"/>
                <a:gd name="T13" fmla="*/ 335 h 417"/>
                <a:gd name="T14" fmla="*/ 124 w 524"/>
                <a:gd name="T15" fmla="*/ 317 h 417"/>
                <a:gd name="T16" fmla="*/ 134 w 524"/>
                <a:gd name="T17" fmla="*/ 296 h 417"/>
                <a:gd name="T18" fmla="*/ 137 w 524"/>
                <a:gd name="T19" fmla="*/ 276 h 417"/>
                <a:gd name="T20" fmla="*/ 150 w 524"/>
                <a:gd name="T21" fmla="*/ 258 h 417"/>
                <a:gd name="T22" fmla="*/ 157 w 524"/>
                <a:gd name="T23" fmla="*/ 239 h 417"/>
                <a:gd name="T24" fmla="*/ 160 w 524"/>
                <a:gd name="T25" fmla="*/ 219 h 417"/>
                <a:gd name="T26" fmla="*/ 167 w 524"/>
                <a:gd name="T27" fmla="*/ 199 h 417"/>
                <a:gd name="T28" fmla="*/ 174 w 524"/>
                <a:gd name="T29" fmla="*/ 179 h 417"/>
                <a:gd name="T30" fmla="*/ 180 w 524"/>
                <a:gd name="T31" fmla="*/ 159 h 417"/>
                <a:gd name="T32" fmla="*/ 186 w 524"/>
                <a:gd name="T33" fmla="*/ 139 h 417"/>
                <a:gd name="T34" fmla="*/ 193 w 524"/>
                <a:gd name="T35" fmla="*/ 119 h 417"/>
                <a:gd name="T36" fmla="*/ 201 w 524"/>
                <a:gd name="T37" fmla="*/ 98 h 417"/>
                <a:gd name="T38" fmla="*/ 209 w 524"/>
                <a:gd name="T39" fmla="*/ 78 h 417"/>
                <a:gd name="T40" fmla="*/ 216 w 524"/>
                <a:gd name="T41" fmla="*/ 58 h 417"/>
                <a:gd name="T42" fmla="*/ 225 w 524"/>
                <a:gd name="T43" fmla="*/ 38 h 417"/>
                <a:gd name="T44" fmla="*/ 237 w 524"/>
                <a:gd name="T45" fmla="*/ 18 h 417"/>
                <a:gd name="T46" fmla="*/ 254 w 524"/>
                <a:gd name="T47" fmla="*/ 1 h 417"/>
                <a:gd name="T48" fmla="*/ 273 w 524"/>
                <a:gd name="T49" fmla="*/ 1 h 417"/>
                <a:gd name="T50" fmla="*/ 290 w 524"/>
                <a:gd name="T51" fmla="*/ 20 h 417"/>
                <a:gd name="T52" fmla="*/ 304 w 524"/>
                <a:gd name="T53" fmla="*/ 40 h 417"/>
                <a:gd name="T54" fmla="*/ 312 w 524"/>
                <a:gd name="T55" fmla="*/ 60 h 417"/>
                <a:gd name="T56" fmla="*/ 318 w 524"/>
                <a:gd name="T57" fmla="*/ 80 h 417"/>
                <a:gd name="T58" fmla="*/ 324 w 524"/>
                <a:gd name="T59" fmla="*/ 100 h 417"/>
                <a:gd name="T60" fmla="*/ 330 w 524"/>
                <a:gd name="T61" fmla="*/ 120 h 417"/>
                <a:gd name="T62" fmla="*/ 340 w 524"/>
                <a:gd name="T63" fmla="*/ 140 h 417"/>
                <a:gd name="T64" fmla="*/ 346 w 524"/>
                <a:gd name="T65" fmla="*/ 161 h 417"/>
                <a:gd name="T66" fmla="*/ 355 w 524"/>
                <a:gd name="T67" fmla="*/ 181 h 417"/>
                <a:gd name="T68" fmla="*/ 362 w 524"/>
                <a:gd name="T69" fmla="*/ 201 h 417"/>
                <a:gd name="T70" fmla="*/ 366 w 524"/>
                <a:gd name="T71" fmla="*/ 221 h 417"/>
                <a:gd name="T72" fmla="*/ 372 w 524"/>
                <a:gd name="T73" fmla="*/ 241 h 417"/>
                <a:gd name="T74" fmla="*/ 381 w 524"/>
                <a:gd name="T75" fmla="*/ 261 h 417"/>
                <a:gd name="T76" fmla="*/ 388 w 524"/>
                <a:gd name="T77" fmla="*/ 281 h 417"/>
                <a:gd name="T78" fmla="*/ 398 w 524"/>
                <a:gd name="T79" fmla="*/ 302 h 417"/>
                <a:gd name="T80" fmla="*/ 407 w 524"/>
                <a:gd name="T81" fmla="*/ 322 h 417"/>
                <a:gd name="T82" fmla="*/ 417 w 524"/>
                <a:gd name="T83" fmla="*/ 342 h 417"/>
                <a:gd name="T84" fmla="*/ 430 w 524"/>
                <a:gd name="T85" fmla="*/ 360 h 417"/>
                <a:gd name="T86" fmla="*/ 446 w 524"/>
                <a:gd name="T87" fmla="*/ 380 h 417"/>
                <a:gd name="T88" fmla="*/ 465 w 524"/>
                <a:gd name="T89" fmla="*/ 392 h 417"/>
                <a:gd name="T90" fmla="*/ 482 w 524"/>
                <a:gd name="T91" fmla="*/ 402 h 417"/>
                <a:gd name="T92" fmla="*/ 501 w 524"/>
                <a:gd name="T93" fmla="*/ 410 h 417"/>
                <a:gd name="T94" fmla="*/ 519 w 524"/>
                <a:gd name="T95" fmla="*/ 414 h 4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4"/>
                <a:gd name="T145" fmla="*/ 0 h 417"/>
                <a:gd name="T146" fmla="*/ 524 w 524"/>
                <a:gd name="T147" fmla="*/ 417 h 4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4" h="417">
                  <a:moveTo>
                    <a:pt x="0" y="416"/>
                  </a:moveTo>
                  <a:lnTo>
                    <a:pt x="4" y="416"/>
                  </a:lnTo>
                  <a:lnTo>
                    <a:pt x="9" y="414"/>
                  </a:lnTo>
                  <a:lnTo>
                    <a:pt x="14" y="413"/>
                  </a:lnTo>
                  <a:lnTo>
                    <a:pt x="18" y="410"/>
                  </a:lnTo>
                  <a:lnTo>
                    <a:pt x="23" y="409"/>
                  </a:lnTo>
                  <a:lnTo>
                    <a:pt x="27" y="409"/>
                  </a:lnTo>
                  <a:lnTo>
                    <a:pt x="33" y="409"/>
                  </a:lnTo>
                  <a:lnTo>
                    <a:pt x="37" y="407"/>
                  </a:lnTo>
                  <a:lnTo>
                    <a:pt x="42" y="404"/>
                  </a:lnTo>
                  <a:lnTo>
                    <a:pt x="46" y="401"/>
                  </a:lnTo>
                  <a:lnTo>
                    <a:pt x="51" y="399"/>
                  </a:lnTo>
                  <a:lnTo>
                    <a:pt x="56" y="394"/>
                  </a:lnTo>
                  <a:lnTo>
                    <a:pt x="60" y="390"/>
                  </a:lnTo>
                  <a:lnTo>
                    <a:pt x="65" y="389"/>
                  </a:lnTo>
                  <a:lnTo>
                    <a:pt x="69" y="383"/>
                  </a:lnTo>
                  <a:lnTo>
                    <a:pt x="73" y="382"/>
                  </a:lnTo>
                  <a:lnTo>
                    <a:pt x="78" y="380"/>
                  </a:lnTo>
                  <a:lnTo>
                    <a:pt x="82" y="377"/>
                  </a:lnTo>
                  <a:lnTo>
                    <a:pt x="87" y="374"/>
                  </a:lnTo>
                  <a:lnTo>
                    <a:pt x="90" y="368"/>
                  </a:lnTo>
                  <a:lnTo>
                    <a:pt x="93" y="364"/>
                  </a:lnTo>
                  <a:lnTo>
                    <a:pt x="98" y="360"/>
                  </a:lnTo>
                  <a:lnTo>
                    <a:pt x="99" y="355"/>
                  </a:lnTo>
                  <a:lnTo>
                    <a:pt x="101" y="350"/>
                  </a:lnTo>
                  <a:lnTo>
                    <a:pt x="102" y="345"/>
                  </a:lnTo>
                  <a:lnTo>
                    <a:pt x="108" y="340"/>
                  </a:lnTo>
                  <a:lnTo>
                    <a:pt x="111" y="335"/>
                  </a:lnTo>
                  <a:lnTo>
                    <a:pt x="114" y="330"/>
                  </a:lnTo>
                  <a:lnTo>
                    <a:pt x="117" y="325"/>
                  </a:lnTo>
                  <a:lnTo>
                    <a:pt x="120" y="320"/>
                  </a:lnTo>
                  <a:lnTo>
                    <a:pt x="124" y="317"/>
                  </a:lnTo>
                  <a:lnTo>
                    <a:pt x="124" y="311"/>
                  </a:lnTo>
                  <a:lnTo>
                    <a:pt x="128" y="307"/>
                  </a:lnTo>
                  <a:lnTo>
                    <a:pt x="131" y="302"/>
                  </a:lnTo>
                  <a:lnTo>
                    <a:pt x="134" y="296"/>
                  </a:lnTo>
                  <a:lnTo>
                    <a:pt x="135" y="291"/>
                  </a:lnTo>
                  <a:lnTo>
                    <a:pt x="137" y="287"/>
                  </a:lnTo>
                  <a:lnTo>
                    <a:pt x="137" y="281"/>
                  </a:lnTo>
                  <a:lnTo>
                    <a:pt x="137" y="276"/>
                  </a:lnTo>
                  <a:lnTo>
                    <a:pt x="141" y="273"/>
                  </a:lnTo>
                  <a:lnTo>
                    <a:pt x="143" y="268"/>
                  </a:lnTo>
                  <a:lnTo>
                    <a:pt x="147" y="263"/>
                  </a:lnTo>
                  <a:lnTo>
                    <a:pt x="150" y="258"/>
                  </a:lnTo>
                  <a:lnTo>
                    <a:pt x="150" y="253"/>
                  </a:lnTo>
                  <a:lnTo>
                    <a:pt x="153" y="248"/>
                  </a:lnTo>
                  <a:lnTo>
                    <a:pt x="153" y="242"/>
                  </a:lnTo>
                  <a:lnTo>
                    <a:pt x="157" y="239"/>
                  </a:lnTo>
                  <a:lnTo>
                    <a:pt x="156" y="234"/>
                  </a:lnTo>
                  <a:lnTo>
                    <a:pt x="156" y="230"/>
                  </a:lnTo>
                  <a:lnTo>
                    <a:pt x="157" y="224"/>
                  </a:lnTo>
                  <a:lnTo>
                    <a:pt x="160" y="219"/>
                  </a:lnTo>
                  <a:lnTo>
                    <a:pt x="160" y="214"/>
                  </a:lnTo>
                  <a:lnTo>
                    <a:pt x="162" y="209"/>
                  </a:lnTo>
                  <a:lnTo>
                    <a:pt x="165" y="204"/>
                  </a:lnTo>
                  <a:lnTo>
                    <a:pt x="167" y="199"/>
                  </a:lnTo>
                  <a:lnTo>
                    <a:pt x="168" y="194"/>
                  </a:lnTo>
                  <a:lnTo>
                    <a:pt x="171" y="189"/>
                  </a:lnTo>
                  <a:lnTo>
                    <a:pt x="173" y="184"/>
                  </a:lnTo>
                  <a:lnTo>
                    <a:pt x="174" y="179"/>
                  </a:lnTo>
                  <a:lnTo>
                    <a:pt x="174" y="174"/>
                  </a:lnTo>
                  <a:lnTo>
                    <a:pt x="176" y="169"/>
                  </a:lnTo>
                  <a:lnTo>
                    <a:pt x="179" y="164"/>
                  </a:lnTo>
                  <a:lnTo>
                    <a:pt x="180" y="159"/>
                  </a:lnTo>
                  <a:lnTo>
                    <a:pt x="182" y="154"/>
                  </a:lnTo>
                  <a:lnTo>
                    <a:pt x="184" y="149"/>
                  </a:lnTo>
                  <a:lnTo>
                    <a:pt x="187" y="143"/>
                  </a:lnTo>
                  <a:lnTo>
                    <a:pt x="186" y="139"/>
                  </a:lnTo>
                  <a:lnTo>
                    <a:pt x="187" y="134"/>
                  </a:lnTo>
                  <a:lnTo>
                    <a:pt x="190" y="128"/>
                  </a:lnTo>
                  <a:lnTo>
                    <a:pt x="193" y="124"/>
                  </a:lnTo>
                  <a:lnTo>
                    <a:pt x="193" y="119"/>
                  </a:lnTo>
                  <a:lnTo>
                    <a:pt x="196" y="113"/>
                  </a:lnTo>
                  <a:lnTo>
                    <a:pt x="198" y="108"/>
                  </a:lnTo>
                  <a:lnTo>
                    <a:pt x="199" y="104"/>
                  </a:lnTo>
                  <a:lnTo>
                    <a:pt x="201" y="98"/>
                  </a:lnTo>
                  <a:lnTo>
                    <a:pt x="202" y="93"/>
                  </a:lnTo>
                  <a:lnTo>
                    <a:pt x="206" y="89"/>
                  </a:lnTo>
                  <a:lnTo>
                    <a:pt x="206" y="83"/>
                  </a:lnTo>
                  <a:lnTo>
                    <a:pt x="209" y="78"/>
                  </a:lnTo>
                  <a:lnTo>
                    <a:pt x="209" y="73"/>
                  </a:lnTo>
                  <a:lnTo>
                    <a:pt x="212" y="68"/>
                  </a:lnTo>
                  <a:lnTo>
                    <a:pt x="213" y="63"/>
                  </a:lnTo>
                  <a:lnTo>
                    <a:pt x="216" y="58"/>
                  </a:lnTo>
                  <a:lnTo>
                    <a:pt x="218" y="53"/>
                  </a:lnTo>
                  <a:lnTo>
                    <a:pt x="221" y="48"/>
                  </a:lnTo>
                  <a:lnTo>
                    <a:pt x="223" y="43"/>
                  </a:lnTo>
                  <a:lnTo>
                    <a:pt x="225" y="38"/>
                  </a:lnTo>
                  <a:lnTo>
                    <a:pt x="228" y="33"/>
                  </a:lnTo>
                  <a:lnTo>
                    <a:pt x="231" y="28"/>
                  </a:lnTo>
                  <a:lnTo>
                    <a:pt x="234" y="23"/>
                  </a:lnTo>
                  <a:lnTo>
                    <a:pt x="237" y="18"/>
                  </a:lnTo>
                  <a:lnTo>
                    <a:pt x="241" y="14"/>
                  </a:lnTo>
                  <a:lnTo>
                    <a:pt x="246" y="9"/>
                  </a:lnTo>
                  <a:lnTo>
                    <a:pt x="249" y="5"/>
                  </a:lnTo>
                  <a:lnTo>
                    <a:pt x="254" y="1"/>
                  </a:lnTo>
                  <a:lnTo>
                    <a:pt x="258" y="1"/>
                  </a:lnTo>
                  <a:lnTo>
                    <a:pt x="264" y="0"/>
                  </a:lnTo>
                  <a:lnTo>
                    <a:pt x="268" y="0"/>
                  </a:lnTo>
                  <a:lnTo>
                    <a:pt x="273" y="1"/>
                  </a:lnTo>
                  <a:lnTo>
                    <a:pt x="277" y="6"/>
                  </a:lnTo>
                  <a:lnTo>
                    <a:pt x="284" y="9"/>
                  </a:lnTo>
                  <a:lnTo>
                    <a:pt x="287" y="14"/>
                  </a:lnTo>
                  <a:lnTo>
                    <a:pt x="290" y="20"/>
                  </a:lnTo>
                  <a:lnTo>
                    <a:pt x="294" y="25"/>
                  </a:lnTo>
                  <a:lnTo>
                    <a:pt x="297" y="29"/>
                  </a:lnTo>
                  <a:lnTo>
                    <a:pt x="301" y="35"/>
                  </a:lnTo>
                  <a:lnTo>
                    <a:pt x="304" y="40"/>
                  </a:lnTo>
                  <a:lnTo>
                    <a:pt x="306" y="44"/>
                  </a:lnTo>
                  <a:lnTo>
                    <a:pt x="309" y="50"/>
                  </a:lnTo>
                  <a:lnTo>
                    <a:pt x="310" y="55"/>
                  </a:lnTo>
                  <a:lnTo>
                    <a:pt x="312" y="60"/>
                  </a:lnTo>
                  <a:lnTo>
                    <a:pt x="312" y="65"/>
                  </a:lnTo>
                  <a:lnTo>
                    <a:pt x="313" y="70"/>
                  </a:lnTo>
                  <a:lnTo>
                    <a:pt x="315" y="75"/>
                  </a:lnTo>
                  <a:lnTo>
                    <a:pt x="318" y="80"/>
                  </a:lnTo>
                  <a:lnTo>
                    <a:pt x="318" y="85"/>
                  </a:lnTo>
                  <a:lnTo>
                    <a:pt x="321" y="90"/>
                  </a:lnTo>
                  <a:lnTo>
                    <a:pt x="323" y="95"/>
                  </a:lnTo>
                  <a:lnTo>
                    <a:pt x="324" y="100"/>
                  </a:lnTo>
                  <a:lnTo>
                    <a:pt x="326" y="105"/>
                  </a:lnTo>
                  <a:lnTo>
                    <a:pt x="329" y="110"/>
                  </a:lnTo>
                  <a:lnTo>
                    <a:pt x="330" y="115"/>
                  </a:lnTo>
                  <a:lnTo>
                    <a:pt x="330" y="120"/>
                  </a:lnTo>
                  <a:lnTo>
                    <a:pt x="333" y="125"/>
                  </a:lnTo>
                  <a:lnTo>
                    <a:pt x="335" y="131"/>
                  </a:lnTo>
                  <a:lnTo>
                    <a:pt x="336" y="135"/>
                  </a:lnTo>
                  <a:lnTo>
                    <a:pt x="340" y="140"/>
                  </a:lnTo>
                  <a:lnTo>
                    <a:pt x="342" y="146"/>
                  </a:lnTo>
                  <a:lnTo>
                    <a:pt x="343" y="150"/>
                  </a:lnTo>
                  <a:lnTo>
                    <a:pt x="345" y="155"/>
                  </a:lnTo>
                  <a:lnTo>
                    <a:pt x="346" y="161"/>
                  </a:lnTo>
                  <a:lnTo>
                    <a:pt x="348" y="166"/>
                  </a:lnTo>
                  <a:lnTo>
                    <a:pt x="349" y="170"/>
                  </a:lnTo>
                  <a:lnTo>
                    <a:pt x="351" y="176"/>
                  </a:lnTo>
                  <a:lnTo>
                    <a:pt x="355" y="181"/>
                  </a:lnTo>
                  <a:lnTo>
                    <a:pt x="357" y="185"/>
                  </a:lnTo>
                  <a:lnTo>
                    <a:pt x="359" y="191"/>
                  </a:lnTo>
                  <a:lnTo>
                    <a:pt x="360" y="196"/>
                  </a:lnTo>
                  <a:lnTo>
                    <a:pt x="362" y="201"/>
                  </a:lnTo>
                  <a:lnTo>
                    <a:pt x="363" y="206"/>
                  </a:lnTo>
                  <a:lnTo>
                    <a:pt x="363" y="211"/>
                  </a:lnTo>
                  <a:lnTo>
                    <a:pt x="365" y="216"/>
                  </a:lnTo>
                  <a:lnTo>
                    <a:pt x="366" y="221"/>
                  </a:lnTo>
                  <a:lnTo>
                    <a:pt x="368" y="226"/>
                  </a:lnTo>
                  <a:lnTo>
                    <a:pt x="369" y="231"/>
                  </a:lnTo>
                  <a:lnTo>
                    <a:pt x="369" y="236"/>
                  </a:lnTo>
                  <a:lnTo>
                    <a:pt x="372" y="241"/>
                  </a:lnTo>
                  <a:lnTo>
                    <a:pt x="374" y="246"/>
                  </a:lnTo>
                  <a:lnTo>
                    <a:pt x="375" y="251"/>
                  </a:lnTo>
                  <a:lnTo>
                    <a:pt x="378" y="256"/>
                  </a:lnTo>
                  <a:lnTo>
                    <a:pt x="381" y="261"/>
                  </a:lnTo>
                  <a:lnTo>
                    <a:pt x="382" y="266"/>
                  </a:lnTo>
                  <a:lnTo>
                    <a:pt x="385" y="272"/>
                  </a:lnTo>
                  <a:lnTo>
                    <a:pt x="387" y="276"/>
                  </a:lnTo>
                  <a:lnTo>
                    <a:pt x="388" y="281"/>
                  </a:lnTo>
                  <a:lnTo>
                    <a:pt x="390" y="287"/>
                  </a:lnTo>
                  <a:lnTo>
                    <a:pt x="393" y="291"/>
                  </a:lnTo>
                  <a:lnTo>
                    <a:pt x="394" y="296"/>
                  </a:lnTo>
                  <a:lnTo>
                    <a:pt x="398" y="302"/>
                  </a:lnTo>
                  <a:lnTo>
                    <a:pt x="401" y="307"/>
                  </a:lnTo>
                  <a:lnTo>
                    <a:pt x="402" y="311"/>
                  </a:lnTo>
                  <a:lnTo>
                    <a:pt x="405" y="317"/>
                  </a:lnTo>
                  <a:lnTo>
                    <a:pt x="407" y="322"/>
                  </a:lnTo>
                  <a:lnTo>
                    <a:pt x="408" y="326"/>
                  </a:lnTo>
                  <a:lnTo>
                    <a:pt x="411" y="332"/>
                  </a:lnTo>
                  <a:lnTo>
                    <a:pt x="413" y="337"/>
                  </a:lnTo>
                  <a:lnTo>
                    <a:pt x="417" y="342"/>
                  </a:lnTo>
                  <a:lnTo>
                    <a:pt x="421" y="345"/>
                  </a:lnTo>
                  <a:lnTo>
                    <a:pt x="423" y="350"/>
                  </a:lnTo>
                  <a:lnTo>
                    <a:pt x="427" y="355"/>
                  </a:lnTo>
                  <a:lnTo>
                    <a:pt x="430" y="360"/>
                  </a:lnTo>
                  <a:lnTo>
                    <a:pt x="433" y="365"/>
                  </a:lnTo>
                  <a:lnTo>
                    <a:pt x="437" y="371"/>
                  </a:lnTo>
                  <a:lnTo>
                    <a:pt x="441" y="375"/>
                  </a:lnTo>
                  <a:lnTo>
                    <a:pt x="446" y="380"/>
                  </a:lnTo>
                  <a:lnTo>
                    <a:pt x="450" y="382"/>
                  </a:lnTo>
                  <a:lnTo>
                    <a:pt x="456" y="383"/>
                  </a:lnTo>
                  <a:lnTo>
                    <a:pt x="460" y="389"/>
                  </a:lnTo>
                  <a:lnTo>
                    <a:pt x="465" y="392"/>
                  </a:lnTo>
                  <a:lnTo>
                    <a:pt x="468" y="397"/>
                  </a:lnTo>
                  <a:lnTo>
                    <a:pt x="472" y="399"/>
                  </a:lnTo>
                  <a:lnTo>
                    <a:pt x="477" y="401"/>
                  </a:lnTo>
                  <a:lnTo>
                    <a:pt x="482" y="402"/>
                  </a:lnTo>
                  <a:lnTo>
                    <a:pt x="486" y="404"/>
                  </a:lnTo>
                  <a:lnTo>
                    <a:pt x="491" y="407"/>
                  </a:lnTo>
                  <a:lnTo>
                    <a:pt x="496" y="409"/>
                  </a:lnTo>
                  <a:lnTo>
                    <a:pt x="501" y="410"/>
                  </a:lnTo>
                  <a:lnTo>
                    <a:pt x="505" y="413"/>
                  </a:lnTo>
                  <a:lnTo>
                    <a:pt x="510" y="413"/>
                  </a:lnTo>
                  <a:lnTo>
                    <a:pt x="515" y="413"/>
                  </a:lnTo>
                  <a:lnTo>
                    <a:pt x="519" y="414"/>
                  </a:lnTo>
                  <a:lnTo>
                    <a:pt x="523" y="413"/>
                  </a:lnTo>
                </a:path>
              </a:pathLst>
            </a:custGeom>
            <a:noFill/>
            <a:ln w="12700" cap="rnd">
              <a:solidFill>
                <a:schemeClr val="tx1"/>
              </a:solidFill>
              <a:round/>
              <a:headEnd type="none" w="sm" len="sm"/>
              <a:tailEnd type="none" w="sm" len="sm"/>
            </a:ln>
          </p:spPr>
          <p:txBody>
            <a:bodyPr/>
            <a:lstStyle/>
            <a:p>
              <a:endParaRPr lang="ko-KR" altLang="en-US" dirty="0"/>
            </a:p>
          </p:txBody>
        </p:sp>
        <p:sp>
          <p:nvSpPr>
            <p:cNvPr id="25" name="Line 68"/>
            <p:cNvSpPr>
              <a:spLocks noChangeShapeType="1"/>
            </p:cNvSpPr>
            <p:nvPr/>
          </p:nvSpPr>
          <p:spPr bwMode="auto">
            <a:xfrm>
              <a:off x="1586" y="1504"/>
              <a:ext cx="0" cy="467"/>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6" name="Line 69"/>
            <p:cNvSpPr>
              <a:spLocks noChangeShapeType="1"/>
            </p:cNvSpPr>
            <p:nvPr/>
          </p:nvSpPr>
          <p:spPr bwMode="auto">
            <a:xfrm>
              <a:off x="1011" y="1983"/>
              <a:ext cx="118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27" name="Freeform 70"/>
            <p:cNvSpPr>
              <a:spLocks/>
            </p:cNvSpPr>
            <p:nvPr/>
          </p:nvSpPr>
          <p:spPr bwMode="auto">
            <a:xfrm>
              <a:off x="1841" y="1941"/>
              <a:ext cx="256" cy="28"/>
            </a:xfrm>
            <a:custGeom>
              <a:avLst/>
              <a:gdLst>
                <a:gd name="T0" fmla="*/ 0 w 256"/>
                <a:gd name="T1" fmla="*/ 0 h 28"/>
                <a:gd name="T2" fmla="*/ 0 w 256"/>
                <a:gd name="T3" fmla="*/ 0 h 28"/>
                <a:gd name="T4" fmla="*/ 0 w 256"/>
                <a:gd name="T5" fmla="*/ 3 h 28"/>
                <a:gd name="T6" fmla="*/ 5 w 256"/>
                <a:gd name="T7" fmla="*/ 6 h 28"/>
                <a:gd name="T8" fmla="*/ 8 w 256"/>
                <a:gd name="T9" fmla="*/ 9 h 28"/>
                <a:gd name="T10" fmla="*/ 12 w 256"/>
                <a:gd name="T11" fmla="*/ 9 h 28"/>
                <a:gd name="T12" fmla="*/ 16 w 256"/>
                <a:gd name="T13" fmla="*/ 12 h 28"/>
                <a:gd name="T14" fmla="*/ 22 w 256"/>
                <a:gd name="T15" fmla="*/ 13 h 28"/>
                <a:gd name="T16" fmla="*/ 27 w 256"/>
                <a:gd name="T17" fmla="*/ 13 h 28"/>
                <a:gd name="T18" fmla="*/ 32 w 256"/>
                <a:gd name="T19" fmla="*/ 15 h 28"/>
                <a:gd name="T20" fmla="*/ 38 w 256"/>
                <a:gd name="T21" fmla="*/ 15 h 28"/>
                <a:gd name="T22" fmla="*/ 42 w 256"/>
                <a:gd name="T23" fmla="*/ 15 h 28"/>
                <a:gd name="T24" fmla="*/ 46 w 256"/>
                <a:gd name="T25" fmla="*/ 17 h 28"/>
                <a:gd name="T26" fmla="*/ 51 w 256"/>
                <a:gd name="T27" fmla="*/ 17 h 28"/>
                <a:gd name="T28" fmla="*/ 55 w 256"/>
                <a:gd name="T29" fmla="*/ 18 h 28"/>
                <a:gd name="T30" fmla="*/ 61 w 256"/>
                <a:gd name="T31" fmla="*/ 18 h 28"/>
                <a:gd name="T32" fmla="*/ 66 w 256"/>
                <a:gd name="T33" fmla="*/ 18 h 28"/>
                <a:gd name="T34" fmla="*/ 71 w 256"/>
                <a:gd name="T35" fmla="*/ 19 h 28"/>
                <a:gd name="T36" fmla="*/ 77 w 256"/>
                <a:gd name="T37" fmla="*/ 19 h 28"/>
                <a:gd name="T38" fmla="*/ 83 w 256"/>
                <a:gd name="T39" fmla="*/ 21 h 28"/>
                <a:gd name="T40" fmla="*/ 88 w 256"/>
                <a:gd name="T41" fmla="*/ 22 h 28"/>
                <a:gd name="T42" fmla="*/ 94 w 256"/>
                <a:gd name="T43" fmla="*/ 22 h 28"/>
                <a:gd name="T44" fmla="*/ 99 w 256"/>
                <a:gd name="T45" fmla="*/ 22 h 28"/>
                <a:gd name="T46" fmla="*/ 105 w 256"/>
                <a:gd name="T47" fmla="*/ 22 h 28"/>
                <a:gd name="T48" fmla="*/ 110 w 256"/>
                <a:gd name="T49" fmla="*/ 22 h 28"/>
                <a:gd name="T50" fmla="*/ 116 w 256"/>
                <a:gd name="T51" fmla="*/ 22 h 28"/>
                <a:gd name="T52" fmla="*/ 121 w 256"/>
                <a:gd name="T53" fmla="*/ 22 h 28"/>
                <a:gd name="T54" fmla="*/ 127 w 256"/>
                <a:gd name="T55" fmla="*/ 22 h 28"/>
                <a:gd name="T56" fmla="*/ 133 w 256"/>
                <a:gd name="T57" fmla="*/ 22 h 28"/>
                <a:gd name="T58" fmla="*/ 138 w 256"/>
                <a:gd name="T59" fmla="*/ 22 h 28"/>
                <a:gd name="T60" fmla="*/ 144 w 256"/>
                <a:gd name="T61" fmla="*/ 22 h 28"/>
                <a:gd name="T62" fmla="*/ 148 w 256"/>
                <a:gd name="T63" fmla="*/ 23 h 28"/>
                <a:gd name="T64" fmla="*/ 151 w 256"/>
                <a:gd name="T65" fmla="*/ 24 h 28"/>
                <a:gd name="T66" fmla="*/ 155 w 256"/>
                <a:gd name="T67" fmla="*/ 24 h 28"/>
                <a:gd name="T68" fmla="*/ 160 w 256"/>
                <a:gd name="T69" fmla="*/ 24 h 28"/>
                <a:gd name="T70" fmla="*/ 166 w 256"/>
                <a:gd name="T71" fmla="*/ 24 h 28"/>
                <a:gd name="T72" fmla="*/ 171 w 256"/>
                <a:gd name="T73" fmla="*/ 24 h 28"/>
                <a:gd name="T74" fmla="*/ 177 w 256"/>
                <a:gd name="T75" fmla="*/ 24 h 28"/>
                <a:gd name="T76" fmla="*/ 183 w 256"/>
                <a:gd name="T77" fmla="*/ 24 h 28"/>
                <a:gd name="T78" fmla="*/ 186 w 256"/>
                <a:gd name="T79" fmla="*/ 25 h 28"/>
                <a:gd name="T80" fmla="*/ 191 w 256"/>
                <a:gd name="T81" fmla="*/ 25 h 28"/>
                <a:gd name="T82" fmla="*/ 195 w 256"/>
                <a:gd name="T83" fmla="*/ 27 h 28"/>
                <a:gd name="T84" fmla="*/ 199 w 256"/>
                <a:gd name="T85" fmla="*/ 27 h 28"/>
                <a:gd name="T86" fmla="*/ 204 w 256"/>
                <a:gd name="T87" fmla="*/ 27 h 28"/>
                <a:gd name="T88" fmla="*/ 210 w 256"/>
                <a:gd name="T89" fmla="*/ 27 h 28"/>
                <a:gd name="T90" fmla="*/ 216 w 256"/>
                <a:gd name="T91" fmla="*/ 27 h 28"/>
                <a:gd name="T92" fmla="*/ 222 w 256"/>
                <a:gd name="T93" fmla="*/ 27 h 28"/>
                <a:gd name="T94" fmla="*/ 225 w 256"/>
                <a:gd name="T95" fmla="*/ 27 h 28"/>
                <a:gd name="T96" fmla="*/ 230 w 256"/>
                <a:gd name="T97" fmla="*/ 27 h 28"/>
                <a:gd name="T98" fmla="*/ 234 w 256"/>
                <a:gd name="T99" fmla="*/ 27 h 28"/>
                <a:gd name="T100" fmla="*/ 240 w 256"/>
                <a:gd name="T101" fmla="*/ 27 h 28"/>
                <a:gd name="T102" fmla="*/ 243 w 256"/>
                <a:gd name="T103" fmla="*/ 27 h 28"/>
                <a:gd name="T104" fmla="*/ 249 w 256"/>
                <a:gd name="T105" fmla="*/ 27 h 28"/>
                <a:gd name="T106" fmla="*/ 255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0" y="0"/>
                  </a:moveTo>
                  <a:lnTo>
                    <a:pt x="0" y="0"/>
                  </a:lnTo>
                  <a:lnTo>
                    <a:pt x="0" y="3"/>
                  </a:lnTo>
                  <a:lnTo>
                    <a:pt x="5" y="6"/>
                  </a:lnTo>
                  <a:lnTo>
                    <a:pt x="8" y="9"/>
                  </a:lnTo>
                  <a:lnTo>
                    <a:pt x="12" y="9"/>
                  </a:lnTo>
                  <a:lnTo>
                    <a:pt x="16" y="12"/>
                  </a:lnTo>
                  <a:lnTo>
                    <a:pt x="22" y="13"/>
                  </a:lnTo>
                  <a:lnTo>
                    <a:pt x="27" y="13"/>
                  </a:lnTo>
                  <a:lnTo>
                    <a:pt x="32" y="15"/>
                  </a:lnTo>
                  <a:lnTo>
                    <a:pt x="38" y="15"/>
                  </a:lnTo>
                  <a:lnTo>
                    <a:pt x="42" y="15"/>
                  </a:lnTo>
                  <a:lnTo>
                    <a:pt x="46" y="17"/>
                  </a:lnTo>
                  <a:lnTo>
                    <a:pt x="51" y="17"/>
                  </a:lnTo>
                  <a:lnTo>
                    <a:pt x="55" y="18"/>
                  </a:lnTo>
                  <a:lnTo>
                    <a:pt x="61" y="18"/>
                  </a:lnTo>
                  <a:lnTo>
                    <a:pt x="66" y="18"/>
                  </a:lnTo>
                  <a:lnTo>
                    <a:pt x="71" y="19"/>
                  </a:lnTo>
                  <a:lnTo>
                    <a:pt x="77" y="19"/>
                  </a:lnTo>
                  <a:lnTo>
                    <a:pt x="83" y="21"/>
                  </a:lnTo>
                  <a:lnTo>
                    <a:pt x="88" y="22"/>
                  </a:lnTo>
                  <a:lnTo>
                    <a:pt x="94" y="22"/>
                  </a:lnTo>
                  <a:lnTo>
                    <a:pt x="99" y="22"/>
                  </a:lnTo>
                  <a:lnTo>
                    <a:pt x="105" y="22"/>
                  </a:lnTo>
                  <a:lnTo>
                    <a:pt x="110" y="22"/>
                  </a:lnTo>
                  <a:lnTo>
                    <a:pt x="116" y="22"/>
                  </a:lnTo>
                  <a:lnTo>
                    <a:pt x="121" y="22"/>
                  </a:lnTo>
                  <a:lnTo>
                    <a:pt x="127" y="22"/>
                  </a:lnTo>
                  <a:lnTo>
                    <a:pt x="133" y="22"/>
                  </a:lnTo>
                  <a:lnTo>
                    <a:pt x="138" y="22"/>
                  </a:lnTo>
                  <a:lnTo>
                    <a:pt x="144" y="22"/>
                  </a:lnTo>
                  <a:lnTo>
                    <a:pt x="148" y="23"/>
                  </a:lnTo>
                  <a:lnTo>
                    <a:pt x="151" y="24"/>
                  </a:lnTo>
                  <a:lnTo>
                    <a:pt x="155" y="24"/>
                  </a:lnTo>
                  <a:lnTo>
                    <a:pt x="160" y="24"/>
                  </a:lnTo>
                  <a:lnTo>
                    <a:pt x="166" y="24"/>
                  </a:lnTo>
                  <a:lnTo>
                    <a:pt x="171" y="24"/>
                  </a:lnTo>
                  <a:lnTo>
                    <a:pt x="177" y="24"/>
                  </a:lnTo>
                  <a:lnTo>
                    <a:pt x="183" y="24"/>
                  </a:lnTo>
                  <a:lnTo>
                    <a:pt x="186" y="25"/>
                  </a:lnTo>
                  <a:lnTo>
                    <a:pt x="191" y="25"/>
                  </a:lnTo>
                  <a:lnTo>
                    <a:pt x="195" y="27"/>
                  </a:lnTo>
                  <a:lnTo>
                    <a:pt x="199" y="27"/>
                  </a:lnTo>
                  <a:lnTo>
                    <a:pt x="204" y="27"/>
                  </a:lnTo>
                  <a:lnTo>
                    <a:pt x="210" y="27"/>
                  </a:lnTo>
                  <a:lnTo>
                    <a:pt x="216" y="27"/>
                  </a:lnTo>
                  <a:lnTo>
                    <a:pt x="222" y="27"/>
                  </a:lnTo>
                  <a:lnTo>
                    <a:pt x="225" y="27"/>
                  </a:lnTo>
                  <a:lnTo>
                    <a:pt x="230" y="27"/>
                  </a:lnTo>
                  <a:lnTo>
                    <a:pt x="234" y="27"/>
                  </a:lnTo>
                  <a:lnTo>
                    <a:pt x="240" y="27"/>
                  </a:lnTo>
                  <a:lnTo>
                    <a:pt x="243" y="27"/>
                  </a:lnTo>
                  <a:lnTo>
                    <a:pt x="249" y="27"/>
                  </a:lnTo>
                  <a:lnTo>
                    <a:pt x="255" y="27"/>
                  </a:lnTo>
                </a:path>
              </a:pathLst>
            </a:custGeom>
            <a:noFill/>
            <a:ln w="12700" cap="rnd">
              <a:solidFill>
                <a:schemeClr val="tx1"/>
              </a:solidFill>
              <a:round/>
              <a:headEnd type="none" w="sm" len="sm"/>
              <a:tailEnd type="none" w="sm" len="sm"/>
            </a:ln>
          </p:spPr>
          <p:txBody>
            <a:bodyPr/>
            <a:lstStyle/>
            <a:p>
              <a:endParaRPr lang="ko-KR" altLang="en-US" dirty="0"/>
            </a:p>
          </p:txBody>
        </p:sp>
        <p:sp>
          <p:nvSpPr>
            <p:cNvPr id="28" name="Freeform 71"/>
            <p:cNvSpPr>
              <a:spLocks/>
            </p:cNvSpPr>
            <p:nvPr/>
          </p:nvSpPr>
          <p:spPr bwMode="auto">
            <a:xfrm>
              <a:off x="1065" y="1941"/>
              <a:ext cx="256" cy="28"/>
            </a:xfrm>
            <a:custGeom>
              <a:avLst/>
              <a:gdLst>
                <a:gd name="T0" fmla="*/ 255 w 256"/>
                <a:gd name="T1" fmla="*/ 0 h 28"/>
                <a:gd name="T2" fmla="*/ 255 w 256"/>
                <a:gd name="T3" fmla="*/ 0 h 28"/>
                <a:gd name="T4" fmla="*/ 255 w 256"/>
                <a:gd name="T5" fmla="*/ 3 h 28"/>
                <a:gd name="T6" fmla="*/ 249 w 256"/>
                <a:gd name="T7" fmla="*/ 6 h 28"/>
                <a:gd name="T8" fmla="*/ 246 w 256"/>
                <a:gd name="T9" fmla="*/ 9 h 28"/>
                <a:gd name="T10" fmla="*/ 242 w 256"/>
                <a:gd name="T11" fmla="*/ 9 h 28"/>
                <a:gd name="T12" fmla="*/ 238 w 256"/>
                <a:gd name="T13" fmla="*/ 12 h 28"/>
                <a:gd name="T14" fmla="*/ 232 w 256"/>
                <a:gd name="T15" fmla="*/ 13 h 28"/>
                <a:gd name="T16" fmla="*/ 227 w 256"/>
                <a:gd name="T17" fmla="*/ 13 h 28"/>
                <a:gd name="T18" fmla="*/ 222 w 256"/>
                <a:gd name="T19" fmla="*/ 15 h 28"/>
                <a:gd name="T20" fmla="*/ 216 w 256"/>
                <a:gd name="T21" fmla="*/ 15 h 28"/>
                <a:gd name="T22" fmla="*/ 213 w 256"/>
                <a:gd name="T23" fmla="*/ 15 h 28"/>
                <a:gd name="T24" fmla="*/ 208 w 256"/>
                <a:gd name="T25" fmla="*/ 17 h 28"/>
                <a:gd name="T26" fmla="*/ 204 w 256"/>
                <a:gd name="T27" fmla="*/ 17 h 28"/>
                <a:gd name="T28" fmla="*/ 199 w 256"/>
                <a:gd name="T29" fmla="*/ 18 h 28"/>
                <a:gd name="T30" fmla="*/ 194 w 256"/>
                <a:gd name="T31" fmla="*/ 18 h 28"/>
                <a:gd name="T32" fmla="*/ 188 w 256"/>
                <a:gd name="T33" fmla="*/ 18 h 28"/>
                <a:gd name="T34" fmla="*/ 183 w 256"/>
                <a:gd name="T35" fmla="*/ 19 h 28"/>
                <a:gd name="T36" fmla="*/ 177 w 256"/>
                <a:gd name="T37" fmla="*/ 19 h 28"/>
                <a:gd name="T38" fmla="*/ 171 w 256"/>
                <a:gd name="T39" fmla="*/ 21 h 28"/>
                <a:gd name="T40" fmla="*/ 166 w 256"/>
                <a:gd name="T41" fmla="*/ 22 h 28"/>
                <a:gd name="T42" fmla="*/ 160 w 256"/>
                <a:gd name="T43" fmla="*/ 22 h 28"/>
                <a:gd name="T44" fmla="*/ 155 w 256"/>
                <a:gd name="T45" fmla="*/ 22 h 28"/>
                <a:gd name="T46" fmla="*/ 150 w 256"/>
                <a:gd name="T47" fmla="*/ 22 h 28"/>
                <a:gd name="T48" fmla="*/ 144 w 256"/>
                <a:gd name="T49" fmla="*/ 22 h 28"/>
                <a:gd name="T50" fmla="*/ 138 w 256"/>
                <a:gd name="T51" fmla="*/ 22 h 28"/>
                <a:gd name="T52" fmla="*/ 132 w 256"/>
                <a:gd name="T53" fmla="*/ 22 h 28"/>
                <a:gd name="T54" fmla="*/ 127 w 256"/>
                <a:gd name="T55" fmla="*/ 22 h 28"/>
                <a:gd name="T56" fmla="*/ 122 w 256"/>
                <a:gd name="T57" fmla="*/ 22 h 28"/>
                <a:gd name="T58" fmla="*/ 116 w 256"/>
                <a:gd name="T59" fmla="*/ 22 h 28"/>
                <a:gd name="T60" fmla="*/ 111 w 256"/>
                <a:gd name="T61" fmla="*/ 22 h 28"/>
                <a:gd name="T62" fmla="*/ 106 w 256"/>
                <a:gd name="T63" fmla="*/ 23 h 28"/>
                <a:gd name="T64" fmla="*/ 103 w 256"/>
                <a:gd name="T65" fmla="*/ 24 h 28"/>
                <a:gd name="T66" fmla="*/ 99 w 256"/>
                <a:gd name="T67" fmla="*/ 24 h 28"/>
                <a:gd name="T68" fmla="*/ 95 w 256"/>
                <a:gd name="T69" fmla="*/ 24 h 28"/>
                <a:gd name="T70" fmla="*/ 88 w 256"/>
                <a:gd name="T71" fmla="*/ 24 h 28"/>
                <a:gd name="T72" fmla="*/ 83 w 256"/>
                <a:gd name="T73" fmla="*/ 24 h 28"/>
                <a:gd name="T74" fmla="*/ 77 w 256"/>
                <a:gd name="T75" fmla="*/ 24 h 28"/>
                <a:gd name="T76" fmla="*/ 72 w 256"/>
                <a:gd name="T77" fmla="*/ 24 h 28"/>
                <a:gd name="T78" fmla="*/ 68 w 256"/>
                <a:gd name="T79" fmla="*/ 25 h 28"/>
                <a:gd name="T80" fmla="*/ 63 w 256"/>
                <a:gd name="T81" fmla="*/ 25 h 28"/>
                <a:gd name="T82" fmla="*/ 59 w 256"/>
                <a:gd name="T83" fmla="*/ 27 h 28"/>
                <a:gd name="T84" fmla="*/ 55 w 256"/>
                <a:gd name="T85" fmla="*/ 27 h 28"/>
                <a:gd name="T86" fmla="*/ 50 w 256"/>
                <a:gd name="T87" fmla="*/ 27 h 28"/>
                <a:gd name="T88" fmla="*/ 44 w 256"/>
                <a:gd name="T89" fmla="*/ 27 h 28"/>
                <a:gd name="T90" fmla="*/ 39 w 256"/>
                <a:gd name="T91" fmla="*/ 27 h 28"/>
                <a:gd name="T92" fmla="*/ 33 w 256"/>
                <a:gd name="T93" fmla="*/ 27 h 28"/>
                <a:gd name="T94" fmla="*/ 29 w 256"/>
                <a:gd name="T95" fmla="*/ 27 h 28"/>
                <a:gd name="T96" fmla="*/ 24 w 256"/>
                <a:gd name="T97" fmla="*/ 27 h 28"/>
                <a:gd name="T98" fmla="*/ 21 w 256"/>
                <a:gd name="T99" fmla="*/ 27 h 28"/>
                <a:gd name="T100" fmla="*/ 15 w 256"/>
                <a:gd name="T101" fmla="*/ 27 h 28"/>
                <a:gd name="T102" fmla="*/ 11 w 256"/>
                <a:gd name="T103" fmla="*/ 27 h 28"/>
                <a:gd name="T104" fmla="*/ 5 w 256"/>
                <a:gd name="T105" fmla="*/ 27 h 28"/>
                <a:gd name="T106" fmla="*/ 0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255" y="0"/>
                  </a:moveTo>
                  <a:lnTo>
                    <a:pt x="255" y="0"/>
                  </a:lnTo>
                  <a:lnTo>
                    <a:pt x="255" y="3"/>
                  </a:lnTo>
                  <a:lnTo>
                    <a:pt x="249" y="6"/>
                  </a:lnTo>
                  <a:lnTo>
                    <a:pt x="246" y="9"/>
                  </a:lnTo>
                  <a:lnTo>
                    <a:pt x="242" y="9"/>
                  </a:lnTo>
                  <a:lnTo>
                    <a:pt x="238" y="12"/>
                  </a:lnTo>
                  <a:lnTo>
                    <a:pt x="232" y="13"/>
                  </a:lnTo>
                  <a:lnTo>
                    <a:pt x="227" y="13"/>
                  </a:lnTo>
                  <a:lnTo>
                    <a:pt x="222" y="15"/>
                  </a:lnTo>
                  <a:lnTo>
                    <a:pt x="216" y="15"/>
                  </a:lnTo>
                  <a:lnTo>
                    <a:pt x="213" y="15"/>
                  </a:lnTo>
                  <a:lnTo>
                    <a:pt x="208" y="17"/>
                  </a:lnTo>
                  <a:lnTo>
                    <a:pt x="204" y="17"/>
                  </a:lnTo>
                  <a:lnTo>
                    <a:pt x="199" y="18"/>
                  </a:lnTo>
                  <a:lnTo>
                    <a:pt x="194" y="18"/>
                  </a:lnTo>
                  <a:lnTo>
                    <a:pt x="188" y="18"/>
                  </a:lnTo>
                  <a:lnTo>
                    <a:pt x="183" y="19"/>
                  </a:lnTo>
                  <a:lnTo>
                    <a:pt x="177" y="19"/>
                  </a:lnTo>
                  <a:lnTo>
                    <a:pt x="171" y="21"/>
                  </a:lnTo>
                  <a:lnTo>
                    <a:pt x="166" y="22"/>
                  </a:lnTo>
                  <a:lnTo>
                    <a:pt x="160" y="22"/>
                  </a:lnTo>
                  <a:lnTo>
                    <a:pt x="155" y="22"/>
                  </a:lnTo>
                  <a:lnTo>
                    <a:pt x="150" y="22"/>
                  </a:lnTo>
                  <a:lnTo>
                    <a:pt x="144" y="22"/>
                  </a:lnTo>
                  <a:lnTo>
                    <a:pt x="138" y="22"/>
                  </a:lnTo>
                  <a:lnTo>
                    <a:pt x="132" y="22"/>
                  </a:lnTo>
                  <a:lnTo>
                    <a:pt x="127" y="22"/>
                  </a:lnTo>
                  <a:lnTo>
                    <a:pt x="122" y="22"/>
                  </a:lnTo>
                  <a:lnTo>
                    <a:pt x="116" y="22"/>
                  </a:lnTo>
                  <a:lnTo>
                    <a:pt x="111" y="22"/>
                  </a:lnTo>
                  <a:lnTo>
                    <a:pt x="106" y="23"/>
                  </a:lnTo>
                  <a:lnTo>
                    <a:pt x="103" y="24"/>
                  </a:lnTo>
                  <a:lnTo>
                    <a:pt x="99" y="24"/>
                  </a:lnTo>
                  <a:lnTo>
                    <a:pt x="95" y="24"/>
                  </a:lnTo>
                  <a:lnTo>
                    <a:pt x="88" y="24"/>
                  </a:lnTo>
                  <a:lnTo>
                    <a:pt x="83" y="24"/>
                  </a:lnTo>
                  <a:lnTo>
                    <a:pt x="77" y="24"/>
                  </a:lnTo>
                  <a:lnTo>
                    <a:pt x="72" y="24"/>
                  </a:lnTo>
                  <a:lnTo>
                    <a:pt x="68" y="25"/>
                  </a:lnTo>
                  <a:lnTo>
                    <a:pt x="63" y="25"/>
                  </a:lnTo>
                  <a:lnTo>
                    <a:pt x="59" y="27"/>
                  </a:lnTo>
                  <a:lnTo>
                    <a:pt x="55" y="27"/>
                  </a:lnTo>
                  <a:lnTo>
                    <a:pt x="50" y="27"/>
                  </a:lnTo>
                  <a:lnTo>
                    <a:pt x="44" y="27"/>
                  </a:lnTo>
                  <a:lnTo>
                    <a:pt x="39" y="27"/>
                  </a:lnTo>
                  <a:lnTo>
                    <a:pt x="33" y="27"/>
                  </a:lnTo>
                  <a:lnTo>
                    <a:pt x="29" y="27"/>
                  </a:lnTo>
                  <a:lnTo>
                    <a:pt x="24" y="27"/>
                  </a:lnTo>
                  <a:lnTo>
                    <a:pt x="21" y="27"/>
                  </a:lnTo>
                  <a:lnTo>
                    <a:pt x="15" y="27"/>
                  </a:lnTo>
                  <a:lnTo>
                    <a:pt x="11" y="27"/>
                  </a:lnTo>
                  <a:lnTo>
                    <a:pt x="5" y="27"/>
                  </a:lnTo>
                  <a:lnTo>
                    <a:pt x="0" y="27"/>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29" name="Line 97"/>
          <p:cNvSpPr>
            <a:spLocks noChangeShapeType="1"/>
          </p:cNvSpPr>
          <p:nvPr/>
        </p:nvSpPr>
        <p:spPr bwMode="auto">
          <a:xfrm flipV="1">
            <a:off x="2693377"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30" name="Line 98"/>
          <p:cNvSpPr>
            <a:spLocks noChangeShapeType="1"/>
          </p:cNvSpPr>
          <p:nvPr/>
        </p:nvSpPr>
        <p:spPr bwMode="auto">
          <a:xfrm flipV="1">
            <a:off x="952500"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31" name="Rectangle 101"/>
          <p:cNvSpPr>
            <a:spLocks noChangeArrowheads="1"/>
          </p:cNvSpPr>
          <p:nvPr/>
        </p:nvSpPr>
        <p:spPr bwMode="auto">
          <a:xfrm>
            <a:off x="783981" y="3117706"/>
            <a:ext cx="315792"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LSL</a:t>
            </a:r>
          </a:p>
        </p:txBody>
      </p:sp>
      <p:sp>
        <p:nvSpPr>
          <p:cNvPr id="32" name="Rectangle 102"/>
          <p:cNvSpPr>
            <a:spLocks noChangeArrowheads="1"/>
          </p:cNvSpPr>
          <p:nvPr/>
        </p:nvSpPr>
        <p:spPr bwMode="auto">
          <a:xfrm>
            <a:off x="2524858" y="3117706"/>
            <a:ext cx="341440"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USL</a:t>
            </a:r>
          </a:p>
        </p:txBody>
      </p:sp>
      <p:sp>
        <p:nvSpPr>
          <p:cNvPr id="33" name="Rectangle 105"/>
          <p:cNvSpPr>
            <a:spLocks noChangeArrowheads="1"/>
          </p:cNvSpPr>
          <p:nvPr/>
        </p:nvSpPr>
        <p:spPr bwMode="auto">
          <a:xfrm>
            <a:off x="1733550" y="3117706"/>
            <a:ext cx="209994"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X</a:t>
            </a:r>
          </a:p>
        </p:txBody>
      </p:sp>
      <p:sp>
        <p:nvSpPr>
          <p:cNvPr id="34" name="Line 107"/>
          <p:cNvSpPr>
            <a:spLocks noChangeShapeType="1"/>
          </p:cNvSpPr>
          <p:nvPr/>
        </p:nvSpPr>
        <p:spPr bwMode="auto">
          <a:xfrm>
            <a:off x="1777513" y="3128819"/>
            <a:ext cx="101111"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cxnSp>
        <p:nvCxnSpPr>
          <p:cNvPr id="35" name="직선 연결선 82"/>
          <p:cNvCxnSpPr>
            <a:cxnSpLocks noChangeShapeType="1"/>
          </p:cNvCxnSpPr>
          <p:nvPr/>
        </p:nvCxnSpPr>
        <p:spPr bwMode="auto">
          <a:xfrm rot="5400000">
            <a:off x="-769876" y="4965617"/>
            <a:ext cx="2795588" cy="1466"/>
          </a:xfrm>
          <a:prstGeom prst="line">
            <a:avLst/>
          </a:prstGeom>
          <a:noFill/>
          <a:ln w="12700" algn="ctr">
            <a:solidFill>
              <a:schemeClr val="tx1"/>
            </a:solidFill>
            <a:round/>
            <a:headEnd type="triangle" w="med" len="med"/>
            <a:tailEnd/>
          </a:ln>
        </p:spPr>
      </p:cxnSp>
      <p:sp>
        <p:nvSpPr>
          <p:cNvPr id="36" name="TextBox 83"/>
          <p:cNvSpPr txBox="1">
            <a:spLocks noChangeArrowheads="1"/>
          </p:cNvSpPr>
          <p:nvPr/>
        </p:nvSpPr>
        <p:spPr bwMode="auto">
          <a:xfrm>
            <a:off x="363415" y="3365357"/>
            <a:ext cx="521297" cy="276999"/>
          </a:xfrm>
          <a:prstGeom prst="rect">
            <a:avLst/>
          </a:prstGeom>
          <a:noFill/>
          <a:ln w="9525">
            <a:noFill/>
            <a:miter lim="800000"/>
            <a:headEnd/>
            <a:tailEnd/>
          </a:ln>
        </p:spPr>
        <p:txBody>
          <a:bodyPr wrap="none">
            <a:spAutoFit/>
          </a:bodyPr>
          <a:lstStyle/>
          <a:p>
            <a:r>
              <a:rPr lang="en-US" altLang="ko-KR" sz="1200" dirty="0">
                <a:solidFill>
                  <a:srgbClr val="000000"/>
                </a:solidFill>
                <a:latin typeface="맑은 고딕" pitchFamily="50" charset="-127"/>
                <a:ea typeface="맑은 고딕" pitchFamily="50" charset="-127"/>
              </a:rPr>
              <a:t>Time</a:t>
            </a:r>
            <a:endParaRPr lang="ko-KR" altLang="en-US" sz="1200" dirty="0">
              <a:solidFill>
                <a:srgbClr val="000000"/>
              </a:solidFill>
              <a:latin typeface="맑은 고딕" pitchFamily="50" charset="-127"/>
              <a:ea typeface="맑은 고딕" pitchFamily="50" charset="-127"/>
            </a:endParaRPr>
          </a:p>
        </p:txBody>
      </p:sp>
      <p:sp>
        <p:nvSpPr>
          <p:cNvPr id="37" name="TextBox 84"/>
          <p:cNvSpPr txBox="1">
            <a:spLocks noChangeArrowheads="1"/>
          </p:cNvSpPr>
          <p:nvPr/>
        </p:nvSpPr>
        <p:spPr bwMode="auto">
          <a:xfrm>
            <a:off x="153866" y="5879957"/>
            <a:ext cx="537327"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Time1</a:t>
            </a:r>
            <a:endParaRPr lang="ko-KR" altLang="en-US" sz="1000" dirty="0">
              <a:solidFill>
                <a:srgbClr val="000000"/>
              </a:solidFill>
              <a:latin typeface="맑은 고딕" pitchFamily="50" charset="-127"/>
              <a:ea typeface="맑은 고딕" pitchFamily="50" charset="-127"/>
            </a:endParaRPr>
          </a:p>
        </p:txBody>
      </p:sp>
      <p:sp>
        <p:nvSpPr>
          <p:cNvPr id="38" name="TextBox 85"/>
          <p:cNvSpPr txBox="1">
            <a:spLocks noChangeArrowheads="1"/>
          </p:cNvSpPr>
          <p:nvPr/>
        </p:nvSpPr>
        <p:spPr bwMode="auto">
          <a:xfrm>
            <a:off x="153866" y="4741719"/>
            <a:ext cx="537327"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Time2</a:t>
            </a:r>
            <a:endParaRPr lang="ko-KR" altLang="en-US" sz="1000" dirty="0">
              <a:solidFill>
                <a:srgbClr val="000000"/>
              </a:solidFill>
              <a:latin typeface="맑은 고딕" pitchFamily="50" charset="-127"/>
              <a:ea typeface="맑은 고딕" pitchFamily="50" charset="-127"/>
            </a:endParaRPr>
          </a:p>
        </p:txBody>
      </p:sp>
      <p:sp>
        <p:nvSpPr>
          <p:cNvPr id="39" name="TextBox 86"/>
          <p:cNvSpPr txBox="1">
            <a:spLocks noChangeArrowheads="1"/>
          </p:cNvSpPr>
          <p:nvPr/>
        </p:nvSpPr>
        <p:spPr bwMode="auto">
          <a:xfrm>
            <a:off x="153867" y="3944794"/>
            <a:ext cx="585417"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Time n</a:t>
            </a:r>
            <a:endParaRPr lang="ko-KR" altLang="en-US" sz="1000" dirty="0">
              <a:solidFill>
                <a:srgbClr val="000000"/>
              </a:solidFill>
              <a:latin typeface="맑은 고딕" pitchFamily="50" charset="-127"/>
              <a:ea typeface="맑은 고딕" pitchFamily="50" charset="-127"/>
            </a:endParaRPr>
          </a:p>
        </p:txBody>
      </p:sp>
      <p:cxnSp>
        <p:nvCxnSpPr>
          <p:cNvPr id="40" name="직선 연결선 87"/>
          <p:cNvCxnSpPr>
            <a:cxnSpLocks noChangeShapeType="1"/>
          </p:cNvCxnSpPr>
          <p:nvPr/>
        </p:nvCxnSpPr>
        <p:spPr bwMode="auto">
          <a:xfrm rot="16200000" flipH="1">
            <a:off x="465016" y="4720349"/>
            <a:ext cx="2749550" cy="1465"/>
          </a:xfrm>
          <a:prstGeom prst="line">
            <a:avLst/>
          </a:prstGeom>
          <a:noFill/>
          <a:ln w="12700" algn="ctr">
            <a:solidFill>
              <a:schemeClr val="tx1"/>
            </a:solidFill>
            <a:prstDash val="dash"/>
            <a:round/>
            <a:headEnd/>
            <a:tailEnd/>
          </a:ln>
        </p:spPr>
      </p:cxnSp>
      <p:grpSp>
        <p:nvGrpSpPr>
          <p:cNvPr id="41" name="Group 54"/>
          <p:cNvGrpSpPr>
            <a:grpSpLocks/>
          </p:cNvGrpSpPr>
          <p:nvPr/>
        </p:nvGrpSpPr>
        <p:grpSpPr bwMode="auto">
          <a:xfrm>
            <a:off x="1185497" y="5494194"/>
            <a:ext cx="781050" cy="431800"/>
            <a:chOff x="1731" y="2548"/>
            <a:chExt cx="825" cy="516"/>
          </a:xfrm>
        </p:grpSpPr>
        <p:sp>
          <p:nvSpPr>
            <p:cNvPr id="42"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43"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44"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45"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46"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cxnSp>
        <p:nvCxnSpPr>
          <p:cNvPr id="47" name="직선 화살표 연결선 94"/>
          <p:cNvCxnSpPr>
            <a:cxnSpLocks noChangeShapeType="1"/>
          </p:cNvCxnSpPr>
          <p:nvPr/>
        </p:nvCxnSpPr>
        <p:spPr bwMode="auto">
          <a:xfrm>
            <a:off x="1853712" y="5186220"/>
            <a:ext cx="480646" cy="1587"/>
          </a:xfrm>
          <a:prstGeom prst="straightConnector1">
            <a:avLst/>
          </a:prstGeom>
          <a:noFill/>
          <a:ln w="12700" algn="ctr">
            <a:solidFill>
              <a:schemeClr val="tx1"/>
            </a:solidFill>
            <a:round/>
            <a:headEnd/>
            <a:tailEnd type="arrow" w="med" len="med"/>
          </a:ln>
        </p:spPr>
      </p:cxnSp>
      <p:sp>
        <p:nvSpPr>
          <p:cNvPr id="48" name="TextBox 95"/>
          <p:cNvSpPr txBox="1">
            <a:spLocks noChangeArrowheads="1"/>
          </p:cNvSpPr>
          <p:nvPr/>
        </p:nvSpPr>
        <p:spPr bwMode="auto">
          <a:xfrm>
            <a:off x="1849315" y="4957619"/>
            <a:ext cx="444352"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Shift</a:t>
            </a:r>
            <a:endParaRPr lang="ko-KR" altLang="en-US" sz="1000" dirty="0">
              <a:solidFill>
                <a:srgbClr val="000000"/>
              </a:solidFill>
              <a:latin typeface="맑은 고딕" pitchFamily="50" charset="-127"/>
              <a:ea typeface="맑은 고딕" pitchFamily="50" charset="-127"/>
            </a:endParaRPr>
          </a:p>
        </p:txBody>
      </p:sp>
      <p:cxnSp>
        <p:nvCxnSpPr>
          <p:cNvPr id="49" name="직선 화살표 연결선 96"/>
          <p:cNvCxnSpPr>
            <a:cxnSpLocks noChangeShapeType="1"/>
          </p:cNvCxnSpPr>
          <p:nvPr/>
        </p:nvCxnSpPr>
        <p:spPr bwMode="auto">
          <a:xfrm rot="10800000">
            <a:off x="1332036" y="4594081"/>
            <a:ext cx="507023" cy="1588"/>
          </a:xfrm>
          <a:prstGeom prst="straightConnector1">
            <a:avLst/>
          </a:prstGeom>
          <a:noFill/>
          <a:ln w="12700" algn="ctr">
            <a:solidFill>
              <a:schemeClr val="tx1"/>
            </a:solidFill>
            <a:round/>
            <a:headEnd/>
            <a:tailEnd type="arrow" w="med" len="med"/>
          </a:ln>
        </p:spPr>
      </p:cxnSp>
      <p:sp>
        <p:nvSpPr>
          <p:cNvPr id="50" name="TextBox 97"/>
          <p:cNvSpPr txBox="1">
            <a:spLocks noChangeArrowheads="1"/>
          </p:cNvSpPr>
          <p:nvPr/>
        </p:nvSpPr>
        <p:spPr bwMode="auto">
          <a:xfrm>
            <a:off x="1418492" y="4387707"/>
            <a:ext cx="444352"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Shift</a:t>
            </a:r>
            <a:endParaRPr lang="ko-KR" altLang="en-US" sz="1000" dirty="0">
              <a:solidFill>
                <a:srgbClr val="000000"/>
              </a:solidFill>
              <a:latin typeface="맑은 고딕" pitchFamily="50" charset="-127"/>
              <a:ea typeface="맑은 고딕" pitchFamily="50" charset="-127"/>
            </a:endParaRPr>
          </a:p>
        </p:txBody>
      </p:sp>
      <p:cxnSp>
        <p:nvCxnSpPr>
          <p:cNvPr id="51" name="직선 화살표 연결선 98"/>
          <p:cNvCxnSpPr>
            <a:cxnSpLocks noChangeShapeType="1"/>
          </p:cNvCxnSpPr>
          <p:nvPr/>
        </p:nvCxnSpPr>
        <p:spPr bwMode="auto">
          <a:xfrm rot="10800000" flipV="1">
            <a:off x="1553308" y="5781531"/>
            <a:ext cx="274027" cy="0"/>
          </a:xfrm>
          <a:prstGeom prst="straightConnector1">
            <a:avLst/>
          </a:prstGeom>
          <a:noFill/>
          <a:ln w="12700" algn="ctr">
            <a:solidFill>
              <a:schemeClr val="tx1"/>
            </a:solidFill>
            <a:round/>
            <a:headEnd/>
            <a:tailEnd type="arrow" w="med" len="med"/>
          </a:ln>
        </p:spPr>
      </p:cxnSp>
      <p:sp>
        <p:nvSpPr>
          <p:cNvPr id="52" name="TextBox 99"/>
          <p:cNvSpPr txBox="1">
            <a:spLocks noChangeArrowheads="1"/>
          </p:cNvSpPr>
          <p:nvPr/>
        </p:nvSpPr>
        <p:spPr bwMode="auto">
          <a:xfrm>
            <a:off x="1604596" y="5548169"/>
            <a:ext cx="444352"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Shift</a:t>
            </a:r>
            <a:endParaRPr lang="ko-KR" altLang="en-US" sz="1000" dirty="0">
              <a:solidFill>
                <a:srgbClr val="000000"/>
              </a:solidFill>
              <a:latin typeface="맑은 고딕" pitchFamily="50" charset="-127"/>
              <a:ea typeface="맑은 고딕" pitchFamily="50" charset="-127"/>
            </a:endParaRPr>
          </a:p>
        </p:txBody>
      </p:sp>
      <p:cxnSp>
        <p:nvCxnSpPr>
          <p:cNvPr id="53" name="직선 연결선 100"/>
          <p:cNvCxnSpPr>
            <a:cxnSpLocks noChangeShapeType="1"/>
          </p:cNvCxnSpPr>
          <p:nvPr/>
        </p:nvCxnSpPr>
        <p:spPr bwMode="auto">
          <a:xfrm rot="10800000" flipV="1">
            <a:off x="1849316" y="4020995"/>
            <a:ext cx="213946" cy="1587"/>
          </a:xfrm>
          <a:prstGeom prst="line">
            <a:avLst/>
          </a:prstGeom>
          <a:noFill/>
          <a:ln w="12700" algn="ctr">
            <a:solidFill>
              <a:schemeClr val="tx1"/>
            </a:solidFill>
            <a:round/>
            <a:headEnd type="triangle" w="sm" len="sm"/>
            <a:tailEnd type="triangle" w="sm" len="sm"/>
          </a:ln>
        </p:spPr>
      </p:cxnSp>
      <p:sp>
        <p:nvSpPr>
          <p:cNvPr id="54" name="TextBox 101"/>
          <p:cNvSpPr txBox="1">
            <a:spLocks noChangeArrowheads="1"/>
          </p:cNvSpPr>
          <p:nvPr/>
        </p:nvSpPr>
        <p:spPr bwMode="auto">
          <a:xfrm>
            <a:off x="1783374" y="3808269"/>
            <a:ext cx="37061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st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cxnSp>
        <p:nvCxnSpPr>
          <p:cNvPr id="55" name="직선 연결선 102"/>
          <p:cNvCxnSpPr>
            <a:cxnSpLocks noChangeShapeType="1"/>
          </p:cNvCxnSpPr>
          <p:nvPr/>
        </p:nvCxnSpPr>
        <p:spPr bwMode="auto">
          <a:xfrm rot="10800000">
            <a:off x="1852246" y="2925620"/>
            <a:ext cx="322385" cy="1587"/>
          </a:xfrm>
          <a:prstGeom prst="line">
            <a:avLst/>
          </a:prstGeom>
          <a:noFill/>
          <a:ln w="12700" algn="ctr">
            <a:solidFill>
              <a:schemeClr val="tx1"/>
            </a:solidFill>
            <a:round/>
            <a:headEnd type="triangle" w="sm" len="sm"/>
            <a:tailEnd type="triangle" w="sm" len="sm"/>
          </a:ln>
        </p:spPr>
      </p:cxnSp>
      <p:sp>
        <p:nvSpPr>
          <p:cNvPr id="56" name="TextBox 103"/>
          <p:cNvSpPr txBox="1">
            <a:spLocks noChangeArrowheads="1"/>
          </p:cNvSpPr>
          <p:nvPr/>
        </p:nvSpPr>
        <p:spPr bwMode="auto">
          <a:xfrm>
            <a:off x="1850781" y="2706544"/>
            <a:ext cx="35458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lt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sp>
        <p:nvSpPr>
          <p:cNvPr id="57" name="Line 30"/>
          <p:cNvSpPr>
            <a:spLocks noChangeShapeType="1"/>
          </p:cNvSpPr>
          <p:nvPr/>
        </p:nvSpPr>
        <p:spPr bwMode="auto">
          <a:xfrm>
            <a:off x="6220559" y="3084369"/>
            <a:ext cx="2523392"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grpSp>
        <p:nvGrpSpPr>
          <p:cNvPr id="58" name="그룹 185"/>
          <p:cNvGrpSpPr>
            <a:grpSpLocks/>
          </p:cNvGrpSpPr>
          <p:nvPr/>
        </p:nvGrpSpPr>
        <p:grpSpPr bwMode="auto">
          <a:xfrm>
            <a:off x="6859466" y="2219181"/>
            <a:ext cx="1156188" cy="838200"/>
            <a:chOff x="5168025" y="1697025"/>
            <a:chExt cx="2376488" cy="838200"/>
          </a:xfrm>
        </p:grpSpPr>
        <p:sp>
          <p:nvSpPr>
            <p:cNvPr id="59" name="Rectangle 9"/>
            <p:cNvSpPr>
              <a:spLocks noChangeArrowheads="1"/>
            </p:cNvSpPr>
            <p:nvPr/>
          </p:nvSpPr>
          <p:spPr bwMode="auto">
            <a:xfrm>
              <a:off x="5596650" y="1992300"/>
              <a:ext cx="814388" cy="469900"/>
            </a:xfrm>
            <a:prstGeom prst="rect">
              <a:avLst/>
            </a:prstGeom>
            <a:solidFill>
              <a:schemeClr val="bg1"/>
            </a:solidFill>
            <a:ln w="9525">
              <a:noFill/>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0" name="Freeform 28"/>
            <p:cNvSpPr>
              <a:spLocks/>
            </p:cNvSpPr>
            <p:nvPr/>
          </p:nvSpPr>
          <p:spPr bwMode="auto">
            <a:xfrm>
              <a:off x="5756988" y="1697025"/>
              <a:ext cx="1206500" cy="798513"/>
            </a:xfrm>
            <a:custGeom>
              <a:avLst/>
              <a:gdLst>
                <a:gd name="T0" fmla="*/ 2147483647 w 760"/>
                <a:gd name="T1" fmla="*/ 2147483647 h 503"/>
                <a:gd name="T2" fmla="*/ 2147483647 w 760"/>
                <a:gd name="T3" fmla="*/ 2147483647 h 503"/>
                <a:gd name="T4" fmla="*/ 2147483647 w 760"/>
                <a:gd name="T5" fmla="*/ 2147483647 h 503"/>
                <a:gd name="T6" fmla="*/ 2147483647 w 760"/>
                <a:gd name="T7" fmla="*/ 2147483647 h 503"/>
                <a:gd name="T8" fmla="*/ 2147483647 w 760"/>
                <a:gd name="T9" fmla="*/ 2147483647 h 503"/>
                <a:gd name="T10" fmla="*/ 2147483647 w 760"/>
                <a:gd name="T11" fmla="*/ 2147483647 h 503"/>
                <a:gd name="T12" fmla="*/ 2147483647 w 760"/>
                <a:gd name="T13" fmla="*/ 2147483647 h 503"/>
                <a:gd name="T14" fmla="*/ 2147483647 w 760"/>
                <a:gd name="T15" fmla="*/ 2147483647 h 503"/>
                <a:gd name="T16" fmla="*/ 2147483647 w 760"/>
                <a:gd name="T17" fmla="*/ 2147483647 h 503"/>
                <a:gd name="T18" fmla="*/ 2147483647 w 760"/>
                <a:gd name="T19" fmla="*/ 2147483647 h 503"/>
                <a:gd name="T20" fmla="*/ 2147483647 w 760"/>
                <a:gd name="T21" fmla="*/ 2147483647 h 503"/>
                <a:gd name="T22" fmla="*/ 2147483647 w 760"/>
                <a:gd name="T23" fmla="*/ 2147483647 h 503"/>
                <a:gd name="T24" fmla="*/ 2147483647 w 760"/>
                <a:gd name="T25" fmla="*/ 2147483647 h 503"/>
                <a:gd name="T26" fmla="*/ 2147483647 w 760"/>
                <a:gd name="T27" fmla="*/ 2147483647 h 503"/>
                <a:gd name="T28" fmla="*/ 2147483647 w 760"/>
                <a:gd name="T29" fmla="*/ 2147483647 h 503"/>
                <a:gd name="T30" fmla="*/ 2147483647 w 760"/>
                <a:gd name="T31" fmla="*/ 2147483647 h 503"/>
                <a:gd name="T32" fmla="*/ 2147483647 w 760"/>
                <a:gd name="T33" fmla="*/ 2147483647 h 503"/>
                <a:gd name="T34" fmla="*/ 2147483647 w 760"/>
                <a:gd name="T35" fmla="*/ 2147483647 h 503"/>
                <a:gd name="T36" fmla="*/ 2147483647 w 760"/>
                <a:gd name="T37" fmla="*/ 2147483647 h 503"/>
                <a:gd name="T38" fmla="*/ 2147483647 w 760"/>
                <a:gd name="T39" fmla="*/ 2147483647 h 503"/>
                <a:gd name="T40" fmla="*/ 2147483647 w 760"/>
                <a:gd name="T41" fmla="*/ 2147483647 h 503"/>
                <a:gd name="T42" fmla="*/ 2147483647 w 760"/>
                <a:gd name="T43" fmla="*/ 2147483647 h 503"/>
                <a:gd name="T44" fmla="*/ 2147483647 w 760"/>
                <a:gd name="T45" fmla="*/ 2147483647 h 503"/>
                <a:gd name="T46" fmla="*/ 2147483647 w 760"/>
                <a:gd name="T47" fmla="*/ 2147483647 h 503"/>
                <a:gd name="T48" fmla="*/ 2147483647 w 760"/>
                <a:gd name="T49" fmla="*/ 2147483647 h 503"/>
                <a:gd name="T50" fmla="*/ 2147483647 w 760"/>
                <a:gd name="T51" fmla="*/ 2147483647 h 503"/>
                <a:gd name="T52" fmla="*/ 2147483647 w 760"/>
                <a:gd name="T53" fmla="*/ 2147483647 h 503"/>
                <a:gd name="T54" fmla="*/ 2147483647 w 760"/>
                <a:gd name="T55" fmla="*/ 2147483647 h 503"/>
                <a:gd name="T56" fmla="*/ 2147483647 w 760"/>
                <a:gd name="T57" fmla="*/ 2147483647 h 503"/>
                <a:gd name="T58" fmla="*/ 2147483647 w 760"/>
                <a:gd name="T59" fmla="*/ 2147483647 h 503"/>
                <a:gd name="T60" fmla="*/ 2147483647 w 760"/>
                <a:gd name="T61" fmla="*/ 2147483647 h 503"/>
                <a:gd name="T62" fmla="*/ 2147483647 w 760"/>
                <a:gd name="T63" fmla="*/ 2147483647 h 503"/>
                <a:gd name="T64" fmla="*/ 2147483647 w 760"/>
                <a:gd name="T65" fmla="*/ 2147483647 h 503"/>
                <a:gd name="T66" fmla="*/ 2147483647 w 760"/>
                <a:gd name="T67" fmla="*/ 2147483647 h 503"/>
                <a:gd name="T68" fmla="*/ 2147483647 w 760"/>
                <a:gd name="T69" fmla="*/ 2147483647 h 503"/>
                <a:gd name="T70" fmla="*/ 2147483647 w 760"/>
                <a:gd name="T71" fmla="*/ 2147483647 h 503"/>
                <a:gd name="T72" fmla="*/ 2147483647 w 760"/>
                <a:gd name="T73" fmla="*/ 2147483647 h 503"/>
                <a:gd name="T74" fmla="*/ 2147483647 w 760"/>
                <a:gd name="T75" fmla="*/ 2147483647 h 503"/>
                <a:gd name="T76" fmla="*/ 2147483647 w 760"/>
                <a:gd name="T77" fmla="*/ 2147483647 h 503"/>
                <a:gd name="T78" fmla="*/ 2147483647 w 760"/>
                <a:gd name="T79" fmla="*/ 2147483647 h 503"/>
                <a:gd name="T80" fmla="*/ 2147483647 w 760"/>
                <a:gd name="T81" fmla="*/ 2147483647 h 503"/>
                <a:gd name="T82" fmla="*/ 2147483647 w 760"/>
                <a:gd name="T83" fmla="*/ 2147483647 h 503"/>
                <a:gd name="T84" fmla="*/ 2147483647 w 760"/>
                <a:gd name="T85" fmla="*/ 2147483647 h 503"/>
                <a:gd name="T86" fmla="*/ 2147483647 w 760"/>
                <a:gd name="T87" fmla="*/ 2147483647 h 503"/>
                <a:gd name="T88" fmla="*/ 2147483647 w 760"/>
                <a:gd name="T89" fmla="*/ 2147483647 h 503"/>
                <a:gd name="T90" fmla="*/ 2147483647 w 760"/>
                <a:gd name="T91" fmla="*/ 2147483647 h 503"/>
                <a:gd name="T92" fmla="*/ 2147483647 w 760"/>
                <a:gd name="T93" fmla="*/ 2147483647 h 503"/>
                <a:gd name="T94" fmla="*/ 2147483647 w 760"/>
                <a:gd name="T95" fmla="*/ 2147483647 h 5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60"/>
                <a:gd name="T145" fmla="*/ 0 h 503"/>
                <a:gd name="T146" fmla="*/ 760 w 760"/>
                <a:gd name="T147" fmla="*/ 503 h 5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60" h="503">
                  <a:moveTo>
                    <a:pt x="0" y="502"/>
                  </a:moveTo>
                  <a:lnTo>
                    <a:pt x="6" y="502"/>
                  </a:lnTo>
                  <a:lnTo>
                    <a:pt x="13" y="499"/>
                  </a:lnTo>
                  <a:lnTo>
                    <a:pt x="20" y="498"/>
                  </a:lnTo>
                  <a:lnTo>
                    <a:pt x="27" y="495"/>
                  </a:lnTo>
                  <a:lnTo>
                    <a:pt x="33" y="493"/>
                  </a:lnTo>
                  <a:lnTo>
                    <a:pt x="40" y="493"/>
                  </a:lnTo>
                  <a:lnTo>
                    <a:pt x="47" y="493"/>
                  </a:lnTo>
                  <a:lnTo>
                    <a:pt x="54" y="492"/>
                  </a:lnTo>
                  <a:lnTo>
                    <a:pt x="61" y="487"/>
                  </a:lnTo>
                  <a:lnTo>
                    <a:pt x="68" y="483"/>
                  </a:lnTo>
                  <a:lnTo>
                    <a:pt x="75" y="481"/>
                  </a:lnTo>
                  <a:lnTo>
                    <a:pt x="81" y="475"/>
                  </a:lnTo>
                  <a:lnTo>
                    <a:pt x="88" y="471"/>
                  </a:lnTo>
                  <a:lnTo>
                    <a:pt x="95" y="469"/>
                  </a:lnTo>
                  <a:lnTo>
                    <a:pt x="99" y="463"/>
                  </a:lnTo>
                  <a:lnTo>
                    <a:pt x="106" y="461"/>
                  </a:lnTo>
                  <a:lnTo>
                    <a:pt x="113" y="459"/>
                  </a:lnTo>
                  <a:lnTo>
                    <a:pt x="120" y="455"/>
                  </a:lnTo>
                  <a:lnTo>
                    <a:pt x="126" y="451"/>
                  </a:lnTo>
                  <a:lnTo>
                    <a:pt x="131" y="444"/>
                  </a:lnTo>
                  <a:lnTo>
                    <a:pt x="135" y="438"/>
                  </a:lnTo>
                  <a:lnTo>
                    <a:pt x="142" y="435"/>
                  </a:lnTo>
                  <a:lnTo>
                    <a:pt x="144" y="429"/>
                  </a:lnTo>
                  <a:lnTo>
                    <a:pt x="147" y="423"/>
                  </a:lnTo>
                  <a:lnTo>
                    <a:pt x="149" y="417"/>
                  </a:lnTo>
                  <a:lnTo>
                    <a:pt x="156" y="411"/>
                  </a:lnTo>
                  <a:lnTo>
                    <a:pt x="160" y="405"/>
                  </a:lnTo>
                  <a:lnTo>
                    <a:pt x="165" y="398"/>
                  </a:lnTo>
                  <a:lnTo>
                    <a:pt x="170" y="392"/>
                  </a:lnTo>
                  <a:lnTo>
                    <a:pt x="174" y="386"/>
                  </a:lnTo>
                  <a:lnTo>
                    <a:pt x="181" y="382"/>
                  </a:lnTo>
                  <a:lnTo>
                    <a:pt x="181" y="376"/>
                  </a:lnTo>
                  <a:lnTo>
                    <a:pt x="186" y="370"/>
                  </a:lnTo>
                  <a:lnTo>
                    <a:pt x="190" y="364"/>
                  </a:lnTo>
                  <a:lnTo>
                    <a:pt x="195" y="357"/>
                  </a:lnTo>
                  <a:lnTo>
                    <a:pt x="197" y="351"/>
                  </a:lnTo>
                  <a:lnTo>
                    <a:pt x="199" y="345"/>
                  </a:lnTo>
                  <a:lnTo>
                    <a:pt x="199" y="339"/>
                  </a:lnTo>
                  <a:lnTo>
                    <a:pt x="199" y="333"/>
                  </a:lnTo>
                  <a:lnTo>
                    <a:pt x="206" y="330"/>
                  </a:lnTo>
                  <a:lnTo>
                    <a:pt x="208" y="324"/>
                  </a:lnTo>
                  <a:lnTo>
                    <a:pt x="213" y="318"/>
                  </a:lnTo>
                  <a:lnTo>
                    <a:pt x="217" y="311"/>
                  </a:lnTo>
                  <a:lnTo>
                    <a:pt x="217" y="305"/>
                  </a:lnTo>
                  <a:lnTo>
                    <a:pt x="222" y="299"/>
                  </a:lnTo>
                  <a:lnTo>
                    <a:pt x="222" y="293"/>
                  </a:lnTo>
                  <a:lnTo>
                    <a:pt x="228" y="289"/>
                  </a:lnTo>
                  <a:lnTo>
                    <a:pt x="226" y="283"/>
                  </a:lnTo>
                  <a:lnTo>
                    <a:pt x="226" y="277"/>
                  </a:lnTo>
                  <a:lnTo>
                    <a:pt x="228" y="270"/>
                  </a:lnTo>
                  <a:lnTo>
                    <a:pt x="233" y="264"/>
                  </a:lnTo>
                  <a:lnTo>
                    <a:pt x="233" y="258"/>
                  </a:lnTo>
                  <a:lnTo>
                    <a:pt x="235" y="252"/>
                  </a:lnTo>
                  <a:lnTo>
                    <a:pt x="240" y="246"/>
                  </a:lnTo>
                  <a:lnTo>
                    <a:pt x="242" y="240"/>
                  </a:lnTo>
                  <a:lnTo>
                    <a:pt x="244" y="234"/>
                  </a:lnTo>
                  <a:lnTo>
                    <a:pt x="249" y="228"/>
                  </a:lnTo>
                  <a:lnTo>
                    <a:pt x="251" y="222"/>
                  </a:lnTo>
                  <a:lnTo>
                    <a:pt x="253" y="216"/>
                  </a:lnTo>
                  <a:lnTo>
                    <a:pt x="253" y="210"/>
                  </a:lnTo>
                  <a:lnTo>
                    <a:pt x="255" y="204"/>
                  </a:lnTo>
                  <a:lnTo>
                    <a:pt x="260" y="198"/>
                  </a:lnTo>
                  <a:lnTo>
                    <a:pt x="262" y="192"/>
                  </a:lnTo>
                  <a:lnTo>
                    <a:pt x="264" y="186"/>
                  </a:lnTo>
                  <a:lnTo>
                    <a:pt x="267" y="180"/>
                  </a:lnTo>
                  <a:lnTo>
                    <a:pt x="272" y="174"/>
                  </a:lnTo>
                  <a:lnTo>
                    <a:pt x="269" y="168"/>
                  </a:lnTo>
                  <a:lnTo>
                    <a:pt x="272" y="162"/>
                  </a:lnTo>
                  <a:lnTo>
                    <a:pt x="276" y="156"/>
                  </a:lnTo>
                  <a:lnTo>
                    <a:pt x="281" y="150"/>
                  </a:lnTo>
                  <a:lnTo>
                    <a:pt x="281" y="144"/>
                  </a:lnTo>
                  <a:lnTo>
                    <a:pt x="285" y="137"/>
                  </a:lnTo>
                  <a:lnTo>
                    <a:pt x="288" y="131"/>
                  </a:lnTo>
                  <a:lnTo>
                    <a:pt x="290" y="125"/>
                  </a:lnTo>
                  <a:lnTo>
                    <a:pt x="292" y="119"/>
                  </a:lnTo>
                  <a:lnTo>
                    <a:pt x="294" y="113"/>
                  </a:lnTo>
                  <a:lnTo>
                    <a:pt x="299" y="107"/>
                  </a:lnTo>
                  <a:lnTo>
                    <a:pt x="299" y="101"/>
                  </a:lnTo>
                  <a:lnTo>
                    <a:pt x="303" y="95"/>
                  </a:lnTo>
                  <a:lnTo>
                    <a:pt x="303" y="89"/>
                  </a:lnTo>
                  <a:lnTo>
                    <a:pt x="308" y="83"/>
                  </a:lnTo>
                  <a:lnTo>
                    <a:pt x="310" y="77"/>
                  </a:lnTo>
                  <a:lnTo>
                    <a:pt x="315" y="70"/>
                  </a:lnTo>
                  <a:lnTo>
                    <a:pt x="317" y="64"/>
                  </a:lnTo>
                  <a:lnTo>
                    <a:pt x="321" y="58"/>
                  </a:lnTo>
                  <a:lnTo>
                    <a:pt x="324" y="52"/>
                  </a:lnTo>
                  <a:lnTo>
                    <a:pt x="326" y="46"/>
                  </a:lnTo>
                  <a:lnTo>
                    <a:pt x="330" y="40"/>
                  </a:lnTo>
                  <a:lnTo>
                    <a:pt x="335" y="34"/>
                  </a:lnTo>
                  <a:lnTo>
                    <a:pt x="339" y="28"/>
                  </a:lnTo>
                  <a:lnTo>
                    <a:pt x="344" y="22"/>
                  </a:lnTo>
                  <a:lnTo>
                    <a:pt x="351" y="18"/>
                  </a:lnTo>
                  <a:lnTo>
                    <a:pt x="357" y="12"/>
                  </a:lnTo>
                  <a:lnTo>
                    <a:pt x="362" y="6"/>
                  </a:lnTo>
                  <a:lnTo>
                    <a:pt x="369" y="2"/>
                  </a:lnTo>
                  <a:lnTo>
                    <a:pt x="375" y="2"/>
                  </a:lnTo>
                  <a:lnTo>
                    <a:pt x="383" y="0"/>
                  </a:lnTo>
                  <a:lnTo>
                    <a:pt x="390" y="0"/>
                  </a:lnTo>
                  <a:lnTo>
                    <a:pt x="396" y="2"/>
                  </a:lnTo>
                  <a:lnTo>
                    <a:pt x="403" y="8"/>
                  </a:lnTo>
                  <a:lnTo>
                    <a:pt x="412" y="12"/>
                  </a:lnTo>
                  <a:lnTo>
                    <a:pt x="417" y="18"/>
                  </a:lnTo>
                  <a:lnTo>
                    <a:pt x="421" y="24"/>
                  </a:lnTo>
                  <a:lnTo>
                    <a:pt x="428" y="30"/>
                  </a:lnTo>
                  <a:lnTo>
                    <a:pt x="432" y="36"/>
                  </a:lnTo>
                  <a:lnTo>
                    <a:pt x="437" y="42"/>
                  </a:lnTo>
                  <a:lnTo>
                    <a:pt x="441" y="48"/>
                  </a:lnTo>
                  <a:lnTo>
                    <a:pt x="444" y="54"/>
                  </a:lnTo>
                  <a:lnTo>
                    <a:pt x="448" y="60"/>
                  </a:lnTo>
                  <a:lnTo>
                    <a:pt x="450" y="66"/>
                  </a:lnTo>
                  <a:lnTo>
                    <a:pt x="453" y="72"/>
                  </a:lnTo>
                  <a:lnTo>
                    <a:pt x="453" y="78"/>
                  </a:lnTo>
                  <a:lnTo>
                    <a:pt x="455" y="84"/>
                  </a:lnTo>
                  <a:lnTo>
                    <a:pt x="457" y="90"/>
                  </a:lnTo>
                  <a:lnTo>
                    <a:pt x="462" y="96"/>
                  </a:lnTo>
                  <a:lnTo>
                    <a:pt x="462" y="103"/>
                  </a:lnTo>
                  <a:lnTo>
                    <a:pt x="466" y="109"/>
                  </a:lnTo>
                  <a:lnTo>
                    <a:pt x="468" y="115"/>
                  </a:lnTo>
                  <a:lnTo>
                    <a:pt x="471" y="121"/>
                  </a:lnTo>
                  <a:lnTo>
                    <a:pt x="473" y="127"/>
                  </a:lnTo>
                  <a:lnTo>
                    <a:pt x="477" y="133"/>
                  </a:lnTo>
                  <a:lnTo>
                    <a:pt x="480" y="139"/>
                  </a:lnTo>
                  <a:lnTo>
                    <a:pt x="480" y="145"/>
                  </a:lnTo>
                  <a:lnTo>
                    <a:pt x="484" y="151"/>
                  </a:lnTo>
                  <a:lnTo>
                    <a:pt x="486" y="157"/>
                  </a:lnTo>
                  <a:lnTo>
                    <a:pt x="489" y="164"/>
                  </a:lnTo>
                  <a:lnTo>
                    <a:pt x="494" y="170"/>
                  </a:lnTo>
                  <a:lnTo>
                    <a:pt x="496" y="176"/>
                  </a:lnTo>
                  <a:lnTo>
                    <a:pt x="498" y="182"/>
                  </a:lnTo>
                  <a:lnTo>
                    <a:pt x="501" y="188"/>
                  </a:lnTo>
                  <a:lnTo>
                    <a:pt x="503" y="194"/>
                  </a:lnTo>
                  <a:lnTo>
                    <a:pt x="505" y="200"/>
                  </a:lnTo>
                  <a:lnTo>
                    <a:pt x="507" y="206"/>
                  </a:lnTo>
                  <a:lnTo>
                    <a:pt x="510" y="212"/>
                  </a:lnTo>
                  <a:lnTo>
                    <a:pt x="516" y="218"/>
                  </a:lnTo>
                  <a:lnTo>
                    <a:pt x="519" y="224"/>
                  </a:lnTo>
                  <a:lnTo>
                    <a:pt x="521" y="231"/>
                  </a:lnTo>
                  <a:lnTo>
                    <a:pt x="523" y="237"/>
                  </a:lnTo>
                  <a:lnTo>
                    <a:pt x="525" y="243"/>
                  </a:lnTo>
                  <a:lnTo>
                    <a:pt x="528" y="249"/>
                  </a:lnTo>
                  <a:lnTo>
                    <a:pt x="528" y="255"/>
                  </a:lnTo>
                  <a:lnTo>
                    <a:pt x="530" y="261"/>
                  </a:lnTo>
                  <a:lnTo>
                    <a:pt x="532" y="267"/>
                  </a:lnTo>
                  <a:lnTo>
                    <a:pt x="534" y="273"/>
                  </a:lnTo>
                  <a:lnTo>
                    <a:pt x="537" y="279"/>
                  </a:lnTo>
                  <a:lnTo>
                    <a:pt x="537" y="285"/>
                  </a:lnTo>
                  <a:lnTo>
                    <a:pt x="541" y="291"/>
                  </a:lnTo>
                  <a:lnTo>
                    <a:pt x="543" y="297"/>
                  </a:lnTo>
                  <a:lnTo>
                    <a:pt x="546" y="303"/>
                  </a:lnTo>
                  <a:lnTo>
                    <a:pt x="548" y="309"/>
                  </a:lnTo>
                  <a:lnTo>
                    <a:pt x="552" y="315"/>
                  </a:lnTo>
                  <a:lnTo>
                    <a:pt x="555" y="321"/>
                  </a:lnTo>
                  <a:lnTo>
                    <a:pt x="559" y="327"/>
                  </a:lnTo>
                  <a:lnTo>
                    <a:pt x="561" y="333"/>
                  </a:lnTo>
                  <a:lnTo>
                    <a:pt x="564" y="339"/>
                  </a:lnTo>
                  <a:lnTo>
                    <a:pt x="566" y="345"/>
                  </a:lnTo>
                  <a:lnTo>
                    <a:pt x="570" y="351"/>
                  </a:lnTo>
                  <a:lnTo>
                    <a:pt x="573" y="357"/>
                  </a:lnTo>
                  <a:lnTo>
                    <a:pt x="577" y="364"/>
                  </a:lnTo>
                  <a:lnTo>
                    <a:pt x="582" y="370"/>
                  </a:lnTo>
                  <a:lnTo>
                    <a:pt x="584" y="376"/>
                  </a:lnTo>
                  <a:lnTo>
                    <a:pt x="588" y="382"/>
                  </a:lnTo>
                  <a:lnTo>
                    <a:pt x="591" y="388"/>
                  </a:lnTo>
                  <a:lnTo>
                    <a:pt x="593" y="394"/>
                  </a:lnTo>
                  <a:lnTo>
                    <a:pt x="598" y="400"/>
                  </a:lnTo>
                  <a:lnTo>
                    <a:pt x="600" y="406"/>
                  </a:lnTo>
                  <a:lnTo>
                    <a:pt x="605" y="412"/>
                  </a:lnTo>
                  <a:lnTo>
                    <a:pt x="612" y="417"/>
                  </a:lnTo>
                  <a:lnTo>
                    <a:pt x="614" y="423"/>
                  </a:lnTo>
                  <a:lnTo>
                    <a:pt x="621" y="429"/>
                  </a:lnTo>
                  <a:lnTo>
                    <a:pt x="625" y="435"/>
                  </a:lnTo>
                  <a:lnTo>
                    <a:pt x="630" y="441"/>
                  </a:lnTo>
                  <a:lnTo>
                    <a:pt x="634" y="447"/>
                  </a:lnTo>
                  <a:lnTo>
                    <a:pt x="641" y="453"/>
                  </a:lnTo>
                  <a:lnTo>
                    <a:pt x="648" y="459"/>
                  </a:lnTo>
                  <a:lnTo>
                    <a:pt x="654" y="461"/>
                  </a:lnTo>
                  <a:lnTo>
                    <a:pt x="661" y="463"/>
                  </a:lnTo>
                  <a:lnTo>
                    <a:pt x="668" y="469"/>
                  </a:lnTo>
                  <a:lnTo>
                    <a:pt x="675" y="473"/>
                  </a:lnTo>
                  <a:lnTo>
                    <a:pt x="679" y="479"/>
                  </a:lnTo>
                  <a:lnTo>
                    <a:pt x="686" y="481"/>
                  </a:lnTo>
                  <a:lnTo>
                    <a:pt x="693" y="483"/>
                  </a:lnTo>
                  <a:lnTo>
                    <a:pt x="699" y="485"/>
                  </a:lnTo>
                  <a:lnTo>
                    <a:pt x="707" y="487"/>
                  </a:lnTo>
                  <a:lnTo>
                    <a:pt x="714" y="492"/>
                  </a:lnTo>
                  <a:lnTo>
                    <a:pt x="720" y="493"/>
                  </a:lnTo>
                  <a:lnTo>
                    <a:pt x="727" y="495"/>
                  </a:lnTo>
                  <a:lnTo>
                    <a:pt x="734" y="498"/>
                  </a:lnTo>
                  <a:lnTo>
                    <a:pt x="741" y="498"/>
                  </a:lnTo>
                  <a:lnTo>
                    <a:pt x="747" y="498"/>
                  </a:lnTo>
                  <a:lnTo>
                    <a:pt x="754" y="499"/>
                  </a:lnTo>
                  <a:lnTo>
                    <a:pt x="759" y="498"/>
                  </a:lnTo>
                </a:path>
              </a:pathLst>
            </a:custGeom>
            <a:noFill/>
            <a:ln w="25400" cap="rnd">
              <a:solidFill>
                <a:schemeClr val="tx1"/>
              </a:solidFill>
              <a:round/>
              <a:headEnd type="none" w="sm" len="sm"/>
              <a:tailEnd type="none" w="sm" len="sm"/>
            </a:ln>
          </p:spPr>
          <p:txBody>
            <a:bodyPr/>
            <a:lstStyle/>
            <a:p>
              <a:endParaRPr lang="ko-KR" altLang="en-US" dirty="0"/>
            </a:p>
          </p:txBody>
        </p:sp>
        <p:sp>
          <p:nvSpPr>
            <p:cNvPr id="61" name="Freeform 31"/>
            <p:cNvSpPr>
              <a:spLocks/>
            </p:cNvSpPr>
            <p:nvPr/>
          </p:nvSpPr>
          <p:spPr bwMode="auto">
            <a:xfrm>
              <a:off x="6953963" y="2482838"/>
              <a:ext cx="590550" cy="52387"/>
            </a:xfrm>
            <a:custGeom>
              <a:avLst/>
              <a:gdLst>
                <a:gd name="T0" fmla="*/ 0 w 372"/>
                <a:gd name="T1" fmla="*/ 0 h 33"/>
                <a:gd name="T2" fmla="*/ 0 w 372"/>
                <a:gd name="T3" fmla="*/ 0 h 33"/>
                <a:gd name="T4" fmla="*/ 0 w 372"/>
                <a:gd name="T5" fmla="*/ 2147483647 h 33"/>
                <a:gd name="T6" fmla="*/ 2147483647 w 372"/>
                <a:gd name="T7" fmla="*/ 2147483647 h 33"/>
                <a:gd name="T8" fmla="*/ 2147483647 w 372"/>
                <a:gd name="T9" fmla="*/ 2147483647 h 33"/>
                <a:gd name="T10" fmla="*/ 2147483647 w 372"/>
                <a:gd name="T11" fmla="*/ 2147483647 h 33"/>
                <a:gd name="T12" fmla="*/ 2147483647 w 372"/>
                <a:gd name="T13" fmla="*/ 2147483647 h 33"/>
                <a:gd name="T14" fmla="*/ 2147483647 w 372"/>
                <a:gd name="T15" fmla="*/ 2147483647 h 33"/>
                <a:gd name="T16" fmla="*/ 2147483647 w 372"/>
                <a:gd name="T17" fmla="*/ 2147483647 h 33"/>
                <a:gd name="T18" fmla="*/ 2147483647 w 372"/>
                <a:gd name="T19" fmla="*/ 2147483647 h 33"/>
                <a:gd name="T20" fmla="*/ 2147483647 w 372"/>
                <a:gd name="T21" fmla="*/ 2147483647 h 33"/>
                <a:gd name="T22" fmla="*/ 2147483647 w 372"/>
                <a:gd name="T23" fmla="*/ 2147483647 h 33"/>
                <a:gd name="T24" fmla="*/ 2147483647 w 372"/>
                <a:gd name="T25" fmla="*/ 2147483647 h 33"/>
                <a:gd name="T26" fmla="*/ 2147483647 w 372"/>
                <a:gd name="T27" fmla="*/ 2147483647 h 33"/>
                <a:gd name="T28" fmla="*/ 2147483647 w 372"/>
                <a:gd name="T29" fmla="*/ 2147483647 h 33"/>
                <a:gd name="T30" fmla="*/ 2147483647 w 372"/>
                <a:gd name="T31" fmla="*/ 2147483647 h 33"/>
                <a:gd name="T32" fmla="*/ 2147483647 w 372"/>
                <a:gd name="T33" fmla="*/ 2147483647 h 33"/>
                <a:gd name="T34" fmla="*/ 2147483647 w 372"/>
                <a:gd name="T35" fmla="*/ 2147483647 h 33"/>
                <a:gd name="T36" fmla="*/ 2147483647 w 372"/>
                <a:gd name="T37" fmla="*/ 2147483647 h 33"/>
                <a:gd name="T38" fmla="*/ 2147483647 w 372"/>
                <a:gd name="T39" fmla="*/ 2147483647 h 33"/>
                <a:gd name="T40" fmla="*/ 2147483647 w 372"/>
                <a:gd name="T41" fmla="*/ 2147483647 h 33"/>
                <a:gd name="T42" fmla="*/ 2147483647 w 372"/>
                <a:gd name="T43" fmla="*/ 2147483647 h 33"/>
                <a:gd name="T44" fmla="*/ 2147483647 w 372"/>
                <a:gd name="T45" fmla="*/ 2147483647 h 33"/>
                <a:gd name="T46" fmla="*/ 2147483647 w 372"/>
                <a:gd name="T47" fmla="*/ 2147483647 h 33"/>
                <a:gd name="T48" fmla="*/ 2147483647 w 372"/>
                <a:gd name="T49" fmla="*/ 2147483647 h 33"/>
                <a:gd name="T50" fmla="*/ 2147483647 w 372"/>
                <a:gd name="T51" fmla="*/ 2147483647 h 33"/>
                <a:gd name="T52" fmla="*/ 2147483647 w 372"/>
                <a:gd name="T53" fmla="*/ 2147483647 h 33"/>
                <a:gd name="T54" fmla="*/ 2147483647 w 372"/>
                <a:gd name="T55" fmla="*/ 2147483647 h 33"/>
                <a:gd name="T56" fmla="*/ 2147483647 w 372"/>
                <a:gd name="T57" fmla="*/ 2147483647 h 33"/>
                <a:gd name="T58" fmla="*/ 2147483647 w 372"/>
                <a:gd name="T59" fmla="*/ 2147483647 h 33"/>
                <a:gd name="T60" fmla="*/ 2147483647 w 372"/>
                <a:gd name="T61" fmla="*/ 2147483647 h 33"/>
                <a:gd name="T62" fmla="*/ 2147483647 w 372"/>
                <a:gd name="T63" fmla="*/ 2147483647 h 33"/>
                <a:gd name="T64" fmla="*/ 2147483647 w 372"/>
                <a:gd name="T65" fmla="*/ 2147483647 h 33"/>
                <a:gd name="T66" fmla="*/ 2147483647 w 372"/>
                <a:gd name="T67" fmla="*/ 2147483647 h 33"/>
                <a:gd name="T68" fmla="*/ 2147483647 w 372"/>
                <a:gd name="T69" fmla="*/ 2147483647 h 33"/>
                <a:gd name="T70" fmla="*/ 2147483647 w 372"/>
                <a:gd name="T71" fmla="*/ 2147483647 h 33"/>
                <a:gd name="T72" fmla="*/ 2147483647 w 372"/>
                <a:gd name="T73" fmla="*/ 2147483647 h 33"/>
                <a:gd name="T74" fmla="*/ 2147483647 w 372"/>
                <a:gd name="T75" fmla="*/ 2147483647 h 33"/>
                <a:gd name="T76" fmla="*/ 2147483647 w 372"/>
                <a:gd name="T77" fmla="*/ 2147483647 h 33"/>
                <a:gd name="T78" fmla="*/ 2147483647 w 372"/>
                <a:gd name="T79" fmla="*/ 2147483647 h 33"/>
                <a:gd name="T80" fmla="*/ 2147483647 w 372"/>
                <a:gd name="T81" fmla="*/ 2147483647 h 33"/>
                <a:gd name="T82" fmla="*/ 2147483647 w 372"/>
                <a:gd name="T83" fmla="*/ 2147483647 h 33"/>
                <a:gd name="T84" fmla="*/ 2147483647 w 372"/>
                <a:gd name="T85" fmla="*/ 2147483647 h 33"/>
                <a:gd name="T86" fmla="*/ 2147483647 w 372"/>
                <a:gd name="T87" fmla="*/ 2147483647 h 33"/>
                <a:gd name="T88" fmla="*/ 2147483647 w 372"/>
                <a:gd name="T89" fmla="*/ 2147483647 h 33"/>
                <a:gd name="T90" fmla="*/ 2147483647 w 372"/>
                <a:gd name="T91" fmla="*/ 2147483647 h 33"/>
                <a:gd name="T92" fmla="*/ 2147483647 w 372"/>
                <a:gd name="T93" fmla="*/ 2147483647 h 33"/>
                <a:gd name="T94" fmla="*/ 2147483647 w 372"/>
                <a:gd name="T95" fmla="*/ 2147483647 h 33"/>
                <a:gd name="T96" fmla="*/ 2147483647 w 372"/>
                <a:gd name="T97" fmla="*/ 2147483647 h 33"/>
                <a:gd name="T98" fmla="*/ 2147483647 w 372"/>
                <a:gd name="T99" fmla="*/ 2147483647 h 33"/>
                <a:gd name="T100" fmla="*/ 2147483647 w 372"/>
                <a:gd name="T101" fmla="*/ 2147483647 h 33"/>
                <a:gd name="T102" fmla="*/ 2147483647 w 372"/>
                <a:gd name="T103" fmla="*/ 2147483647 h 33"/>
                <a:gd name="T104" fmla="*/ 2147483647 w 372"/>
                <a:gd name="T105" fmla="*/ 2147483647 h 33"/>
                <a:gd name="T106" fmla="*/ 2147483647 w 372"/>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2"/>
                <a:gd name="T163" fmla="*/ 0 h 33"/>
                <a:gd name="T164" fmla="*/ 372 w 372"/>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2" h="33">
                  <a:moveTo>
                    <a:pt x="0" y="0"/>
                  </a:moveTo>
                  <a:lnTo>
                    <a:pt x="0" y="0"/>
                  </a:lnTo>
                  <a:lnTo>
                    <a:pt x="0" y="4"/>
                  </a:lnTo>
                  <a:lnTo>
                    <a:pt x="8" y="7"/>
                  </a:lnTo>
                  <a:lnTo>
                    <a:pt x="11" y="10"/>
                  </a:lnTo>
                  <a:lnTo>
                    <a:pt x="17" y="10"/>
                  </a:lnTo>
                  <a:lnTo>
                    <a:pt x="23" y="14"/>
                  </a:lnTo>
                  <a:lnTo>
                    <a:pt x="32" y="16"/>
                  </a:lnTo>
                  <a:lnTo>
                    <a:pt x="40" y="16"/>
                  </a:lnTo>
                  <a:lnTo>
                    <a:pt x="48" y="17"/>
                  </a:lnTo>
                  <a:lnTo>
                    <a:pt x="56" y="17"/>
                  </a:lnTo>
                  <a:lnTo>
                    <a:pt x="61" y="18"/>
                  </a:lnTo>
                  <a:lnTo>
                    <a:pt x="67" y="20"/>
                  </a:lnTo>
                  <a:lnTo>
                    <a:pt x="74" y="20"/>
                  </a:lnTo>
                  <a:lnTo>
                    <a:pt x="80" y="22"/>
                  </a:lnTo>
                  <a:lnTo>
                    <a:pt x="88" y="21"/>
                  </a:lnTo>
                  <a:lnTo>
                    <a:pt x="96" y="21"/>
                  </a:lnTo>
                  <a:lnTo>
                    <a:pt x="104" y="23"/>
                  </a:lnTo>
                  <a:lnTo>
                    <a:pt x="113" y="23"/>
                  </a:lnTo>
                  <a:lnTo>
                    <a:pt x="120" y="24"/>
                  </a:lnTo>
                  <a:lnTo>
                    <a:pt x="128" y="26"/>
                  </a:lnTo>
                  <a:lnTo>
                    <a:pt x="137" y="26"/>
                  </a:lnTo>
                  <a:lnTo>
                    <a:pt x="145" y="26"/>
                  </a:lnTo>
                  <a:lnTo>
                    <a:pt x="152" y="26"/>
                  </a:lnTo>
                  <a:lnTo>
                    <a:pt x="161" y="26"/>
                  </a:lnTo>
                  <a:lnTo>
                    <a:pt x="169" y="26"/>
                  </a:lnTo>
                  <a:lnTo>
                    <a:pt x="177" y="26"/>
                  </a:lnTo>
                  <a:lnTo>
                    <a:pt x="185" y="26"/>
                  </a:lnTo>
                  <a:lnTo>
                    <a:pt x="193" y="26"/>
                  </a:lnTo>
                  <a:lnTo>
                    <a:pt x="201" y="26"/>
                  </a:lnTo>
                  <a:lnTo>
                    <a:pt x="209" y="26"/>
                  </a:lnTo>
                  <a:lnTo>
                    <a:pt x="215" y="27"/>
                  </a:lnTo>
                  <a:lnTo>
                    <a:pt x="221" y="28"/>
                  </a:lnTo>
                  <a:lnTo>
                    <a:pt x="225" y="28"/>
                  </a:lnTo>
                  <a:lnTo>
                    <a:pt x="233" y="28"/>
                  </a:lnTo>
                  <a:lnTo>
                    <a:pt x="242" y="28"/>
                  </a:lnTo>
                  <a:lnTo>
                    <a:pt x="250" y="28"/>
                  </a:lnTo>
                  <a:lnTo>
                    <a:pt x="257" y="28"/>
                  </a:lnTo>
                  <a:lnTo>
                    <a:pt x="266" y="28"/>
                  </a:lnTo>
                  <a:lnTo>
                    <a:pt x="272" y="30"/>
                  </a:lnTo>
                  <a:lnTo>
                    <a:pt x="278" y="30"/>
                  </a:lnTo>
                  <a:lnTo>
                    <a:pt x="284" y="32"/>
                  </a:lnTo>
                  <a:lnTo>
                    <a:pt x="290" y="32"/>
                  </a:lnTo>
                  <a:lnTo>
                    <a:pt x="298" y="32"/>
                  </a:lnTo>
                  <a:lnTo>
                    <a:pt x="306" y="32"/>
                  </a:lnTo>
                  <a:lnTo>
                    <a:pt x="314" y="32"/>
                  </a:lnTo>
                  <a:lnTo>
                    <a:pt x="322" y="32"/>
                  </a:lnTo>
                  <a:lnTo>
                    <a:pt x="329" y="32"/>
                  </a:lnTo>
                  <a:lnTo>
                    <a:pt x="335" y="32"/>
                  </a:lnTo>
                  <a:lnTo>
                    <a:pt x="341" y="32"/>
                  </a:lnTo>
                  <a:lnTo>
                    <a:pt x="348" y="32"/>
                  </a:lnTo>
                  <a:lnTo>
                    <a:pt x="354" y="32"/>
                  </a:lnTo>
                  <a:lnTo>
                    <a:pt x="362" y="32"/>
                  </a:lnTo>
                  <a:lnTo>
                    <a:pt x="371" y="32"/>
                  </a:lnTo>
                </a:path>
              </a:pathLst>
            </a:custGeom>
            <a:noFill/>
            <a:ln w="25400" cap="rnd">
              <a:solidFill>
                <a:schemeClr val="tx1"/>
              </a:solidFill>
              <a:round/>
              <a:headEnd type="none" w="sm" len="sm"/>
              <a:tailEnd type="none" w="sm" len="sm"/>
            </a:ln>
          </p:spPr>
          <p:txBody>
            <a:bodyPr/>
            <a:lstStyle/>
            <a:p>
              <a:endParaRPr lang="ko-KR" altLang="en-US" dirty="0"/>
            </a:p>
          </p:txBody>
        </p:sp>
        <p:sp>
          <p:nvSpPr>
            <p:cNvPr id="62" name="Freeform 32"/>
            <p:cNvSpPr>
              <a:spLocks/>
            </p:cNvSpPr>
            <p:nvPr/>
          </p:nvSpPr>
          <p:spPr bwMode="auto">
            <a:xfrm>
              <a:off x="5168025" y="2482838"/>
              <a:ext cx="587375" cy="52387"/>
            </a:xfrm>
            <a:custGeom>
              <a:avLst/>
              <a:gdLst>
                <a:gd name="T0" fmla="*/ 2147483647 w 370"/>
                <a:gd name="T1" fmla="*/ 0 h 33"/>
                <a:gd name="T2" fmla="*/ 2147483647 w 370"/>
                <a:gd name="T3" fmla="*/ 0 h 33"/>
                <a:gd name="T4" fmla="*/ 2147483647 w 370"/>
                <a:gd name="T5" fmla="*/ 2147483647 h 33"/>
                <a:gd name="T6" fmla="*/ 2147483647 w 370"/>
                <a:gd name="T7" fmla="*/ 2147483647 h 33"/>
                <a:gd name="T8" fmla="*/ 2147483647 w 370"/>
                <a:gd name="T9" fmla="*/ 2147483647 h 33"/>
                <a:gd name="T10" fmla="*/ 2147483647 w 370"/>
                <a:gd name="T11" fmla="*/ 2147483647 h 33"/>
                <a:gd name="T12" fmla="*/ 2147483647 w 370"/>
                <a:gd name="T13" fmla="*/ 2147483647 h 33"/>
                <a:gd name="T14" fmla="*/ 2147483647 w 370"/>
                <a:gd name="T15" fmla="*/ 2147483647 h 33"/>
                <a:gd name="T16" fmla="*/ 2147483647 w 370"/>
                <a:gd name="T17" fmla="*/ 2147483647 h 33"/>
                <a:gd name="T18" fmla="*/ 2147483647 w 370"/>
                <a:gd name="T19" fmla="*/ 2147483647 h 33"/>
                <a:gd name="T20" fmla="*/ 2147483647 w 370"/>
                <a:gd name="T21" fmla="*/ 2147483647 h 33"/>
                <a:gd name="T22" fmla="*/ 2147483647 w 370"/>
                <a:gd name="T23" fmla="*/ 2147483647 h 33"/>
                <a:gd name="T24" fmla="*/ 2147483647 w 370"/>
                <a:gd name="T25" fmla="*/ 2147483647 h 33"/>
                <a:gd name="T26" fmla="*/ 2147483647 w 370"/>
                <a:gd name="T27" fmla="*/ 2147483647 h 33"/>
                <a:gd name="T28" fmla="*/ 2147483647 w 370"/>
                <a:gd name="T29" fmla="*/ 2147483647 h 33"/>
                <a:gd name="T30" fmla="*/ 2147483647 w 370"/>
                <a:gd name="T31" fmla="*/ 2147483647 h 33"/>
                <a:gd name="T32" fmla="*/ 2147483647 w 370"/>
                <a:gd name="T33" fmla="*/ 2147483647 h 33"/>
                <a:gd name="T34" fmla="*/ 2147483647 w 370"/>
                <a:gd name="T35" fmla="*/ 2147483647 h 33"/>
                <a:gd name="T36" fmla="*/ 2147483647 w 370"/>
                <a:gd name="T37" fmla="*/ 2147483647 h 33"/>
                <a:gd name="T38" fmla="*/ 2147483647 w 370"/>
                <a:gd name="T39" fmla="*/ 2147483647 h 33"/>
                <a:gd name="T40" fmla="*/ 2147483647 w 370"/>
                <a:gd name="T41" fmla="*/ 2147483647 h 33"/>
                <a:gd name="T42" fmla="*/ 2147483647 w 370"/>
                <a:gd name="T43" fmla="*/ 2147483647 h 33"/>
                <a:gd name="T44" fmla="*/ 2147483647 w 370"/>
                <a:gd name="T45" fmla="*/ 2147483647 h 33"/>
                <a:gd name="T46" fmla="*/ 2147483647 w 370"/>
                <a:gd name="T47" fmla="*/ 2147483647 h 33"/>
                <a:gd name="T48" fmla="*/ 2147483647 w 370"/>
                <a:gd name="T49" fmla="*/ 2147483647 h 33"/>
                <a:gd name="T50" fmla="*/ 2147483647 w 370"/>
                <a:gd name="T51" fmla="*/ 2147483647 h 33"/>
                <a:gd name="T52" fmla="*/ 2147483647 w 370"/>
                <a:gd name="T53" fmla="*/ 2147483647 h 33"/>
                <a:gd name="T54" fmla="*/ 2147483647 w 370"/>
                <a:gd name="T55" fmla="*/ 2147483647 h 33"/>
                <a:gd name="T56" fmla="*/ 2147483647 w 370"/>
                <a:gd name="T57" fmla="*/ 2147483647 h 33"/>
                <a:gd name="T58" fmla="*/ 2147483647 w 370"/>
                <a:gd name="T59" fmla="*/ 2147483647 h 33"/>
                <a:gd name="T60" fmla="*/ 2147483647 w 370"/>
                <a:gd name="T61" fmla="*/ 2147483647 h 33"/>
                <a:gd name="T62" fmla="*/ 2147483647 w 370"/>
                <a:gd name="T63" fmla="*/ 2147483647 h 33"/>
                <a:gd name="T64" fmla="*/ 2147483647 w 370"/>
                <a:gd name="T65" fmla="*/ 2147483647 h 33"/>
                <a:gd name="T66" fmla="*/ 2147483647 w 370"/>
                <a:gd name="T67" fmla="*/ 2147483647 h 33"/>
                <a:gd name="T68" fmla="*/ 2147483647 w 370"/>
                <a:gd name="T69" fmla="*/ 2147483647 h 33"/>
                <a:gd name="T70" fmla="*/ 2147483647 w 370"/>
                <a:gd name="T71" fmla="*/ 2147483647 h 33"/>
                <a:gd name="T72" fmla="*/ 2147483647 w 370"/>
                <a:gd name="T73" fmla="*/ 2147483647 h 33"/>
                <a:gd name="T74" fmla="*/ 2147483647 w 370"/>
                <a:gd name="T75" fmla="*/ 2147483647 h 33"/>
                <a:gd name="T76" fmla="*/ 2147483647 w 370"/>
                <a:gd name="T77" fmla="*/ 2147483647 h 33"/>
                <a:gd name="T78" fmla="*/ 2147483647 w 370"/>
                <a:gd name="T79" fmla="*/ 2147483647 h 33"/>
                <a:gd name="T80" fmla="*/ 2147483647 w 370"/>
                <a:gd name="T81" fmla="*/ 2147483647 h 33"/>
                <a:gd name="T82" fmla="*/ 2147483647 w 370"/>
                <a:gd name="T83" fmla="*/ 2147483647 h 33"/>
                <a:gd name="T84" fmla="*/ 2147483647 w 370"/>
                <a:gd name="T85" fmla="*/ 2147483647 h 33"/>
                <a:gd name="T86" fmla="*/ 2147483647 w 370"/>
                <a:gd name="T87" fmla="*/ 2147483647 h 33"/>
                <a:gd name="T88" fmla="*/ 2147483647 w 370"/>
                <a:gd name="T89" fmla="*/ 2147483647 h 33"/>
                <a:gd name="T90" fmla="*/ 2147483647 w 370"/>
                <a:gd name="T91" fmla="*/ 2147483647 h 33"/>
                <a:gd name="T92" fmla="*/ 2147483647 w 370"/>
                <a:gd name="T93" fmla="*/ 2147483647 h 33"/>
                <a:gd name="T94" fmla="*/ 2147483647 w 370"/>
                <a:gd name="T95" fmla="*/ 2147483647 h 33"/>
                <a:gd name="T96" fmla="*/ 2147483647 w 370"/>
                <a:gd name="T97" fmla="*/ 2147483647 h 33"/>
                <a:gd name="T98" fmla="*/ 2147483647 w 370"/>
                <a:gd name="T99" fmla="*/ 2147483647 h 33"/>
                <a:gd name="T100" fmla="*/ 2147483647 w 370"/>
                <a:gd name="T101" fmla="*/ 2147483647 h 33"/>
                <a:gd name="T102" fmla="*/ 2147483647 w 370"/>
                <a:gd name="T103" fmla="*/ 2147483647 h 33"/>
                <a:gd name="T104" fmla="*/ 2147483647 w 370"/>
                <a:gd name="T105" fmla="*/ 2147483647 h 33"/>
                <a:gd name="T106" fmla="*/ 0 w 370"/>
                <a:gd name="T107" fmla="*/ 2147483647 h 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0"/>
                <a:gd name="T163" fmla="*/ 0 h 33"/>
                <a:gd name="T164" fmla="*/ 370 w 370"/>
                <a:gd name="T165" fmla="*/ 33 h 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0" h="33">
                  <a:moveTo>
                    <a:pt x="369" y="0"/>
                  </a:moveTo>
                  <a:lnTo>
                    <a:pt x="369" y="0"/>
                  </a:lnTo>
                  <a:lnTo>
                    <a:pt x="369" y="4"/>
                  </a:lnTo>
                  <a:lnTo>
                    <a:pt x="360" y="7"/>
                  </a:lnTo>
                  <a:lnTo>
                    <a:pt x="357" y="10"/>
                  </a:lnTo>
                  <a:lnTo>
                    <a:pt x="351" y="10"/>
                  </a:lnTo>
                  <a:lnTo>
                    <a:pt x="345" y="14"/>
                  </a:lnTo>
                  <a:lnTo>
                    <a:pt x="336" y="16"/>
                  </a:lnTo>
                  <a:lnTo>
                    <a:pt x="328" y="16"/>
                  </a:lnTo>
                  <a:lnTo>
                    <a:pt x="321" y="17"/>
                  </a:lnTo>
                  <a:lnTo>
                    <a:pt x="312" y="17"/>
                  </a:lnTo>
                  <a:lnTo>
                    <a:pt x="307" y="18"/>
                  </a:lnTo>
                  <a:lnTo>
                    <a:pt x="301" y="20"/>
                  </a:lnTo>
                  <a:lnTo>
                    <a:pt x="294" y="20"/>
                  </a:lnTo>
                  <a:lnTo>
                    <a:pt x="288" y="22"/>
                  </a:lnTo>
                  <a:lnTo>
                    <a:pt x="280" y="21"/>
                  </a:lnTo>
                  <a:lnTo>
                    <a:pt x="272" y="21"/>
                  </a:lnTo>
                  <a:lnTo>
                    <a:pt x="264" y="23"/>
                  </a:lnTo>
                  <a:lnTo>
                    <a:pt x="256" y="23"/>
                  </a:lnTo>
                  <a:lnTo>
                    <a:pt x="248" y="24"/>
                  </a:lnTo>
                  <a:lnTo>
                    <a:pt x="241" y="26"/>
                  </a:lnTo>
                  <a:lnTo>
                    <a:pt x="232" y="26"/>
                  </a:lnTo>
                  <a:lnTo>
                    <a:pt x="224" y="26"/>
                  </a:lnTo>
                  <a:lnTo>
                    <a:pt x="216" y="26"/>
                  </a:lnTo>
                  <a:lnTo>
                    <a:pt x="208" y="26"/>
                  </a:lnTo>
                  <a:lnTo>
                    <a:pt x="200" y="26"/>
                  </a:lnTo>
                  <a:lnTo>
                    <a:pt x="192" y="26"/>
                  </a:lnTo>
                  <a:lnTo>
                    <a:pt x="184" y="26"/>
                  </a:lnTo>
                  <a:lnTo>
                    <a:pt x="176" y="26"/>
                  </a:lnTo>
                  <a:lnTo>
                    <a:pt x="168" y="26"/>
                  </a:lnTo>
                  <a:lnTo>
                    <a:pt x="160" y="26"/>
                  </a:lnTo>
                  <a:lnTo>
                    <a:pt x="154" y="27"/>
                  </a:lnTo>
                  <a:lnTo>
                    <a:pt x="149" y="28"/>
                  </a:lnTo>
                  <a:lnTo>
                    <a:pt x="144" y="28"/>
                  </a:lnTo>
                  <a:lnTo>
                    <a:pt x="137" y="28"/>
                  </a:lnTo>
                  <a:lnTo>
                    <a:pt x="127" y="28"/>
                  </a:lnTo>
                  <a:lnTo>
                    <a:pt x="120" y="28"/>
                  </a:lnTo>
                  <a:lnTo>
                    <a:pt x="112" y="28"/>
                  </a:lnTo>
                  <a:lnTo>
                    <a:pt x="104" y="28"/>
                  </a:lnTo>
                  <a:lnTo>
                    <a:pt x="98" y="30"/>
                  </a:lnTo>
                  <a:lnTo>
                    <a:pt x="92" y="30"/>
                  </a:lnTo>
                  <a:lnTo>
                    <a:pt x="86" y="32"/>
                  </a:lnTo>
                  <a:lnTo>
                    <a:pt x="80" y="32"/>
                  </a:lnTo>
                  <a:lnTo>
                    <a:pt x="71" y="32"/>
                  </a:lnTo>
                  <a:lnTo>
                    <a:pt x="64" y="32"/>
                  </a:lnTo>
                  <a:lnTo>
                    <a:pt x="56" y="32"/>
                  </a:lnTo>
                  <a:lnTo>
                    <a:pt x="47" y="32"/>
                  </a:lnTo>
                  <a:lnTo>
                    <a:pt x="41" y="32"/>
                  </a:lnTo>
                  <a:lnTo>
                    <a:pt x="35" y="32"/>
                  </a:lnTo>
                  <a:lnTo>
                    <a:pt x="29" y="32"/>
                  </a:lnTo>
                  <a:lnTo>
                    <a:pt x="21" y="32"/>
                  </a:lnTo>
                  <a:lnTo>
                    <a:pt x="15" y="32"/>
                  </a:lnTo>
                  <a:lnTo>
                    <a:pt x="8" y="32"/>
                  </a:lnTo>
                  <a:lnTo>
                    <a:pt x="0" y="32"/>
                  </a:lnTo>
                </a:path>
              </a:pathLst>
            </a:custGeom>
            <a:noFill/>
            <a:ln w="25400" cap="rnd">
              <a:solidFill>
                <a:schemeClr val="tx1"/>
              </a:solidFill>
              <a:round/>
              <a:headEnd type="none" w="sm" len="sm"/>
              <a:tailEnd type="none" w="sm" len="sm"/>
            </a:ln>
          </p:spPr>
          <p:txBody>
            <a:bodyPr/>
            <a:lstStyle/>
            <a:p>
              <a:endParaRPr lang="ko-KR" altLang="en-US" dirty="0"/>
            </a:p>
          </p:txBody>
        </p:sp>
      </p:grpSp>
      <p:grpSp>
        <p:nvGrpSpPr>
          <p:cNvPr id="63" name="Group 54"/>
          <p:cNvGrpSpPr>
            <a:grpSpLocks/>
          </p:cNvGrpSpPr>
          <p:nvPr/>
        </p:nvGrpSpPr>
        <p:grpSpPr bwMode="auto">
          <a:xfrm>
            <a:off x="6806712" y="5022706"/>
            <a:ext cx="1299796" cy="431800"/>
            <a:chOff x="1731" y="2548"/>
            <a:chExt cx="825" cy="516"/>
          </a:xfrm>
        </p:grpSpPr>
        <p:sp>
          <p:nvSpPr>
            <p:cNvPr id="64"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65"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66"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67"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68"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69" name="그룹 189"/>
          <p:cNvGrpSpPr>
            <a:grpSpLocks/>
          </p:cNvGrpSpPr>
          <p:nvPr/>
        </p:nvGrpSpPr>
        <p:grpSpPr bwMode="auto">
          <a:xfrm>
            <a:off x="6950320" y="4538519"/>
            <a:ext cx="1012580" cy="431800"/>
            <a:chOff x="5780089" y="4016524"/>
            <a:chExt cx="1309687" cy="432000"/>
          </a:xfrm>
        </p:grpSpPr>
        <p:sp>
          <p:nvSpPr>
            <p:cNvPr id="70" name="Freeform 55"/>
            <p:cNvSpPr>
              <a:spLocks/>
            </p:cNvSpPr>
            <p:nvPr/>
          </p:nvSpPr>
          <p:spPr bwMode="auto">
            <a:xfrm>
              <a:off x="6121401" y="4040937"/>
              <a:ext cx="581025" cy="376806"/>
            </a:xfrm>
            <a:custGeom>
              <a:avLst/>
              <a:gdLst>
                <a:gd name="T0" fmla="*/ 2147483647 w 366"/>
                <a:gd name="T1" fmla="*/ 2147483647 h 355"/>
                <a:gd name="T2" fmla="*/ 2147483647 w 366"/>
                <a:gd name="T3" fmla="*/ 2147483647 h 355"/>
                <a:gd name="T4" fmla="*/ 2147483647 w 366"/>
                <a:gd name="T5" fmla="*/ 2147483647 h 355"/>
                <a:gd name="T6" fmla="*/ 2147483647 w 366"/>
                <a:gd name="T7" fmla="*/ 2147483647 h 355"/>
                <a:gd name="T8" fmla="*/ 2147483647 w 366"/>
                <a:gd name="T9" fmla="*/ 2147483647 h 355"/>
                <a:gd name="T10" fmla="*/ 2147483647 w 366"/>
                <a:gd name="T11" fmla="*/ 2147483647 h 355"/>
                <a:gd name="T12" fmla="*/ 2147483647 w 366"/>
                <a:gd name="T13" fmla="*/ 2147483647 h 355"/>
                <a:gd name="T14" fmla="*/ 2147483647 w 366"/>
                <a:gd name="T15" fmla="*/ 2147483647 h 355"/>
                <a:gd name="T16" fmla="*/ 2147483647 w 366"/>
                <a:gd name="T17" fmla="*/ 2147483647 h 355"/>
                <a:gd name="T18" fmla="*/ 2147483647 w 366"/>
                <a:gd name="T19" fmla="*/ 2147483647 h 355"/>
                <a:gd name="T20" fmla="*/ 2147483647 w 366"/>
                <a:gd name="T21" fmla="*/ 2147483647 h 355"/>
                <a:gd name="T22" fmla="*/ 2147483647 w 366"/>
                <a:gd name="T23" fmla="*/ 2147483647 h 355"/>
                <a:gd name="T24" fmla="*/ 2147483647 w 366"/>
                <a:gd name="T25" fmla="*/ 2147483647 h 355"/>
                <a:gd name="T26" fmla="*/ 2147483647 w 366"/>
                <a:gd name="T27" fmla="*/ 2147483647 h 355"/>
                <a:gd name="T28" fmla="*/ 2147483647 w 366"/>
                <a:gd name="T29" fmla="*/ 2147483647 h 355"/>
                <a:gd name="T30" fmla="*/ 2147483647 w 366"/>
                <a:gd name="T31" fmla="*/ 2147483647 h 355"/>
                <a:gd name="T32" fmla="*/ 2147483647 w 366"/>
                <a:gd name="T33" fmla="*/ 2147483647 h 355"/>
                <a:gd name="T34" fmla="*/ 2147483647 w 366"/>
                <a:gd name="T35" fmla="*/ 2147483647 h 355"/>
                <a:gd name="T36" fmla="*/ 2147483647 w 366"/>
                <a:gd name="T37" fmla="*/ 2147483647 h 355"/>
                <a:gd name="T38" fmla="*/ 2147483647 w 366"/>
                <a:gd name="T39" fmla="*/ 2147483647 h 355"/>
                <a:gd name="T40" fmla="*/ 2147483647 w 366"/>
                <a:gd name="T41" fmla="*/ 2147483647 h 355"/>
                <a:gd name="T42" fmla="*/ 2147483647 w 366"/>
                <a:gd name="T43" fmla="*/ 2147483647 h 355"/>
                <a:gd name="T44" fmla="*/ 2147483647 w 366"/>
                <a:gd name="T45" fmla="*/ 2147483647 h 355"/>
                <a:gd name="T46" fmla="*/ 2147483647 w 366"/>
                <a:gd name="T47" fmla="*/ 2147483647 h 355"/>
                <a:gd name="T48" fmla="*/ 2147483647 w 366"/>
                <a:gd name="T49" fmla="*/ 2147483647 h 355"/>
                <a:gd name="T50" fmla="*/ 2147483647 w 366"/>
                <a:gd name="T51" fmla="*/ 2147483647 h 355"/>
                <a:gd name="T52" fmla="*/ 2147483647 w 366"/>
                <a:gd name="T53" fmla="*/ 2147483647 h 355"/>
                <a:gd name="T54" fmla="*/ 2147483647 w 366"/>
                <a:gd name="T55" fmla="*/ 2147483647 h 355"/>
                <a:gd name="T56" fmla="*/ 2147483647 w 366"/>
                <a:gd name="T57" fmla="*/ 2147483647 h 355"/>
                <a:gd name="T58" fmla="*/ 2147483647 w 366"/>
                <a:gd name="T59" fmla="*/ 2147483647 h 355"/>
                <a:gd name="T60" fmla="*/ 2147483647 w 366"/>
                <a:gd name="T61" fmla="*/ 2147483647 h 355"/>
                <a:gd name="T62" fmla="*/ 2147483647 w 366"/>
                <a:gd name="T63" fmla="*/ 2147483647 h 355"/>
                <a:gd name="T64" fmla="*/ 2147483647 w 366"/>
                <a:gd name="T65" fmla="*/ 2147483647 h 355"/>
                <a:gd name="T66" fmla="*/ 2147483647 w 366"/>
                <a:gd name="T67" fmla="*/ 2147483647 h 355"/>
                <a:gd name="T68" fmla="*/ 2147483647 w 366"/>
                <a:gd name="T69" fmla="*/ 2147483647 h 355"/>
                <a:gd name="T70" fmla="*/ 2147483647 w 366"/>
                <a:gd name="T71" fmla="*/ 2147483647 h 355"/>
                <a:gd name="T72" fmla="*/ 2147483647 w 366"/>
                <a:gd name="T73" fmla="*/ 2147483647 h 355"/>
                <a:gd name="T74" fmla="*/ 2147483647 w 366"/>
                <a:gd name="T75" fmla="*/ 2147483647 h 355"/>
                <a:gd name="T76" fmla="*/ 2147483647 w 366"/>
                <a:gd name="T77" fmla="*/ 2147483647 h 355"/>
                <a:gd name="T78" fmla="*/ 2147483647 w 366"/>
                <a:gd name="T79" fmla="*/ 2147483647 h 355"/>
                <a:gd name="T80" fmla="*/ 2147483647 w 366"/>
                <a:gd name="T81" fmla="*/ 2147483647 h 355"/>
                <a:gd name="T82" fmla="*/ 2147483647 w 366"/>
                <a:gd name="T83" fmla="*/ 2147483647 h 355"/>
                <a:gd name="T84" fmla="*/ 2147483647 w 366"/>
                <a:gd name="T85" fmla="*/ 2147483647 h 355"/>
                <a:gd name="T86" fmla="*/ 2147483647 w 366"/>
                <a:gd name="T87" fmla="*/ 2147483647 h 355"/>
                <a:gd name="T88" fmla="*/ 2147483647 w 366"/>
                <a:gd name="T89" fmla="*/ 2147483647 h 355"/>
                <a:gd name="T90" fmla="*/ 2147483647 w 366"/>
                <a:gd name="T91" fmla="*/ 2147483647 h 355"/>
                <a:gd name="T92" fmla="*/ 2147483647 w 366"/>
                <a:gd name="T93" fmla="*/ 2147483647 h 355"/>
                <a:gd name="T94" fmla="*/ 2147483647 w 366"/>
                <a:gd name="T95" fmla="*/ 2147483647 h 3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55"/>
                <a:gd name="T146" fmla="*/ 366 w 366"/>
                <a:gd name="T147" fmla="*/ 355 h 3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55">
                  <a:moveTo>
                    <a:pt x="0" y="354"/>
                  </a:moveTo>
                  <a:lnTo>
                    <a:pt x="3" y="354"/>
                  </a:lnTo>
                  <a:lnTo>
                    <a:pt x="6" y="352"/>
                  </a:lnTo>
                  <a:lnTo>
                    <a:pt x="9" y="351"/>
                  </a:lnTo>
                  <a:lnTo>
                    <a:pt x="12" y="349"/>
                  </a:lnTo>
                  <a:lnTo>
                    <a:pt x="16" y="348"/>
                  </a:lnTo>
                  <a:lnTo>
                    <a:pt x="19" y="348"/>
                  </a:lnTo>
                  <a:lnTo>
                    <a:pt x="22" y="348"/>
                  </a:lnTo>
                  <a:lnTo>
                    <a:pt x="26" y="346"/>
                  </a:lnTo>
                  <a:lnTo>
                    <a:pt x="29" y="344"/>
                  </a:lnTo>
                  <a:lnTo>
                    <a:pt x="33" y="341"/>
                  </a:lnTo>
                  <a:lnTo>
                    <a:pt x="36" y="339"/>
                  </a:lnTo>
                  <a:lnTo>
                    <a:pt x="39" y="335"/>
                  </a:lnTo>
                  <a:lnTo>
                    <a:pt x="42" y="332"/>
                  </a:lnTo>
                  <a:lnTo>
                    <a:pt x="45" y="331"/>
                  </a:lnTo>
                  <a:lnTo>
                    <a:pt x="48" y="327"/>
                  </a:lnTo>
                  <a:lnTo>
                    <a:pt x="51" y="325"/>
                  </a:lnTo>
                  <a:lnTo>
                    <a:pt x="54" y="324"/>
                  </a:lnTo>
                  <a:lnTo>
                    <a:pt x="57" y="321"/>
                  </a:lnTo>
                  <a:lnTo>
                    <a:pt x="60" y="318"/>
                  </a:lnTo>
                  <a:lnTo>
                    <a:pt x="63" y="314"/>
                  </a:lnTo>
                  <a:lnTo>
                    <a:pt x="65" y="309"/>
                  </a:lnTo>
                  <a:lnTo>
                    <a:pt x="68" y="306"/>
                  </a:lnTo>
                  <a:lnTo>
                    <a:pt x="69" y="302"/>
                  </a:lnTo>
                  <a:lnTo>
                    <a:pt x="70" y="298"/>
                  </a:lnTo>
                  <a:lnTo>
                    <a:pt x="72" y="294"/>
                  </a:lnTo>
                  <a:lnTo>
                    <a:pt x="75" y="289"/>
                  </a:lnTo>
                  <a:lnTo>
                    <a:pt x="77" y="285"/>
                  </a:lnTo>
                  <a:lnTo>
                    <a:pt x="79" y="281"/>
                  </a:lnTo>
                  <a:lnTo>
                    <a:pt x="81" y="276"/>
                  </a:lnTo>
                  <a:lnTo>
                    <a:pt x="84" y="273"/>
                  </a:lnTo>
                  <a:lnTo>
                    <a:pt x="87" y="270"/>
                  </a:lnTo>
                  <a:lnTo>
                    <a:pt x="87" y="265"/>
                  </a:lnTo>
                  <a:lnTo>
                    <a:pt x="89" y="261"/>
                  </a:lnTo>
                  <a:lnTo>
                    <a:pt x="91" y="257"/>
                  </a:lnTo>
                  <a:lnTo>
                    <a:pt x="93" y="252"/>
                  </a:lnTo>
                  <a:lnTo>
                    <a:pt x="94" y="248"/>
                  </a:lnTo>
                  <a:lnTo>
                    <a:pt x="96" y="243"/>
                  </a:lnTo>
                  <a:lnTo>
                    <a:pt x="96" y="240"/>
                  </a:lnTo>
                  <a:lnTo>
                    <a:pt x="96" y="235"/>
                  </a:lnTo>
                  <a:lnTo>
                    <a:pt x="99" y="232"/>
                  </a:lnTo>
                  <a:lnTo>
                    <a:pt x="99" y="228"/>
                  </a:lnTo>
                  <a:lnTo>
                    <a:pt x="102" y="224"/>
                  </a:lnTo>
                  <a:lnTo>
                    <a:pt x="104" y="219"/>
                  </a:lnTo>
                  <a:lnTo>
                    <a:pt x="104" y="215"/>
                  </a:lnTo>
                  <a:lnTo>
                    <a:pt x="106" y="211"/>
                  </a:lnTo>
                  <a:lnTo>
                    <a:pt x="106" y="207"/>
                  </a:lnTo>
                  <a:lnTo>
                    <a:pt x="110" y="204"/>
                  </a:lnTo>
                  <a:lnTo>
                    <a:pt x="108" y="199"/>
                  </a:lnTo>
                  <a:lnTo>
                    <a:pt x="108" y="195"/>
                  </a:lnTo>
                  <a:lnTo>
                    <a:pt x="110" y="191"/>
                  </a:lnTo>
                  <a:lnTo>
                    <a:pt x="111" y="186"/>
                  </a:lnTo>
                  <a:lnTo>
                    <a:pt x="111" y="183"/>
                  </a:lnTo>
                  <a:lnTo>
                    <a:pt x="113" y="178"/>
                  </a:lnTo>
                  <a:lnTo>
                    <a:pt x="115" y="174"/>
                  </a:lnTo>
                  <a:lnTo>
                    <a:pt x="116" y="169"/>
                  </a:lnTo>
                  <a:lnTo>
                    <a:pt x="117" y="165"/>
                  </a:lnTo>
                  <a:lnTo>
                    <a:pt x="120" y="161"/>
                  </a:lnTo>
                  <a:lnTo>
                    <a:pt x="120" y="156"/>
                  </a:lnTo>
                  <a:lnTo>
                    <a:pt x="121" y="153"/>
                  </a:lnTo>
                  <a:lnTo>
                    <a:pt x="121" y="148"/>
                  </a:lnTo>
                  <a:lnTo>
                    <a:pt x="123" y="144"/>
                  </a:lnTo>
                  <a:lnTo>
                    <a:pt x="125" y="140"/>
                  </a:lnTo>
                  <a:lnTo>
                    <a:pt x="126" y="135"/>
                  </a:lnTo>
                  <a:lnTo>
                    <a:pt x="127" y="131"/>
                  </a:lnTo>
                  <a:lnTo>
                    <a:pt x="128" y="126"/>
                  </a:lnTo>
                  <a:lnTo>
                    <a:pt x="130" y="123"/>
                  </a:lnTo>
                  <a:lnTo>
                    <a:pt x="129" y="118"/>
                  </a:lnTo>
                  <a:lnTo>
                    <a:pt x="130" y="114"/>
                  </a:lnTo>
                  <a:lnTo>
                    <a:pt x="132" y="110"/>
                  </a:lnTo>
                  <a:lnTo>
                    <a:pt x="135" y="105"/>
                  </a:lnTo>
                  <a:lnTo>
                    <a:pt x="135" y="101"/>
                  </a:lnTo>
                  <a:lnTo>
                    <a:pt x="137" y="96"/>
                  </a:lnTo>
                  <a:lnTo>
                    <a:pt x="138" y="93"/>
                  </a:lnTo>
                  <a:lnTo>
                    <a:pt x="139" y="88"/>
                  </a:lnTo>
                  <a:lnTo>
                    <a:pt x="140" y="84"/>
                  </a:lnTo>
                  <a:lnTo>
                    <a:pt x="141" y="80"/>
                  </a:lnTo>
                  <a:lnTo>
                    <a:pt x="143" y="75"/>
                  </a:lnTo>
                  <a:lnTo>
                    <a:pt x="143" y="71"/>
                  </a:lnTo>
                  <a:lnTo>
                    <a:pt x="145" y="66"/>
                  </a:lnTo>
                  <a:lnTo>
                    <a:pt x="145" y="63"/>
                  </a:lnTo>
                  <a:lnTo>
                    <a:pt x="147" y="58"/>
                  </a:lnTo>
                  <a:lnTo>
                    <a:pt x="149" y="54"/>
                  </a:lnTo>
                  <a:lnTo>
                    <a:pt x="151" y="50"/>
                  </a:lnTo>
                  <a:lnTo>
                    <a:pt x="152" y="45"/>
                  </a:lnTo>
                  <a:lnTo>
                    <a:pt x="154" y="41"/>
                  </a:lnTo>
                  <a:lnTo>
                    <a:pt x="155" y="36"/>
                  </a:lnTo>
                  <a:lnTo>
                    <a:pt x="156" y="33"/>
                  </a:lnTo>
                  <a:lnTo>
                    <a:pt x="159" y="28"/>
                  </a:lnTo>
                  <a:lnTo>
                    <a:pt x="161" y="24"/>
                  </a:lnTo>
                  <a:lnTo>
                    <a:pt x="163" y="20"/>
                  </a:lnTo>
                  <a:lnTo>
                    <a:pt x="165" y="15"/>
                  </a:lnTo>
                  <a:lnTo>
                    <a:pt x="168" y="12"/>
                  </a:lnTo>
                  <a:lnTo>
                    <a:pt x="171" y="8"/>
                  </a:lnTo>
                  <a:lnTo>
                    <a:pt x="174" y="4"/>
                  </a:lnTo>
                  <a:lnTo>
                    <a:pt x="177" y="1"/>
                  </a:lnTo>
                  <a:lnTo>
                    <a:pt x="180" y="1"/>
                  </a:lnTo>
                  <a:lnTo>
                    <a:pt x="184" y="0"/>
                  </a:lnTo>
                  <a:lnTo>
                    <a:pt x="187" y="0"/>
                  </a:lnTo>
                  <a:lnTo>
                    <a:pt x="190" y="1"/>
                  </a:lnTo>
                  <a:lnTo>
                    <a:pt x="193" y="6"/>
                  </a:lnTo>
                  <a:lnTo>
                    <a:pt x="198" y="8"/>
                  </a:lnTo>
                  <a:lnTo>
                    <a:pt x="200" y="12"/>
                  </a:lnTo>
                  <a:lnTo>
                    <a:pt x="202" y="17"/>
                  </a:lnTo>
                  <a:lnTo>
                    <a:pt x="205" y="21"/>
                  </a:lnTo>
                  <a:lnTo>
                    <a:pt x="208" y="25"/>
                  </a:lnTo>
                  <a:lnTo>
                    <a:pt x="210" y="30"/>
                  </a:lnTo>
                  <a:lnTo>
                    <a:pt x="212" y="34"/>
                  </a:lnTo>
                  <a:lnTo>
                    <a:pt x="213" y="38"/>
                  </a:lnTo>
                  <a:lnTo>
                    <a:pt x="215" y="42"/>
                  </a:lnTo>
                  <a:lnTo>
                    <a:pt x="217" y="47"/>
                  </a:lnTo>
                  <a:lnTo>
                    <a:pt x="217" y="51"/>
                  </a:lnTo>
                  <a:lnTo>
                    <a:pt x="217" y="55"/>
                  </a:lnTo>
                  <a:lnTo>
                    <a:pt x="219" y="60"/>
                  </a:lnTo>
                  <a:lnTo>
                    <a:pt x="220" y="64"/>
                  </a:lnTo>
                  <a:lnTo>
                    <a:pt x="222" y="68"/>
                  </a:lnTo>
                  <a:lnTo>
                    <a:pt x="222" y="72"/>
                  </a:lnTo>
                  <a:lnTo>
                    <a:pt x="224" y="77"/>
                  </a:lnTo>
                  <a:lnTo>
                    <a:pt x="225" y="81"/>
                  </a:lnTo>
                  <a:lnTo>
                    <a:pt x="226" y="85"/>
                  </a:lnTo>
                  <a:lnTo>
                    <a:pt x="227" y="90"/>
                  </a:lnTo>
                  <a:lnTo>
                    <a:pt x="229" y="94"/>
                  </a:lnTo>
                  <a:lnTo>
                    <a:pt x="231" y="98"/>
                  </a:lnTo>
                  <a:lnTo>
                    <a:pt x="231" y="102"/>
                  </a:lnTo>
                  <a:lnTo>
                    <a:pt x="232" y="107"/>
                  </a:lnTo>
                  <a:lnTo>
                    <a:pt x="234" y="111"/>
                  </a:lnTo>
                  <a:lnTo>
                    <a:pt x="235" y="115"/>
                  </a:lnTo>
                  <a:lnTo>
                    <a:pt x="237" y="120"/>
                  </a:lnTo>
                  <a:lnTo>
                    <a:pt x="238" y="124"/>
                  </a:lnTo>
                  <a:lnTo>
                    <a:pt x="239" y="128"/>
                  </a:lnTo>
                  <a:lnTo>
                    <a:pt x="241" y="132"/>
                  </a:lnTo>
                  <a:lnTo>
                    <a:pt x="241" y="137"/>
                  </a:lnTo>
                  <a:lnTo>
                    <a:pt x="243" y="141"/>
                  </a:lnTo>
                  <a:lnTo>
                    <a:pt x="244" y="145"/>
                  </a:lnTo>
                  <a:lnTo>
                    <a:pt x="244" y="150"/>
                  </a:lnTo>
                  <a:lnTo>
                    <a:pt x="248" y="154"/>
                  </a:lnTo>
                  <a:lnTo>
                    <a:pt x="249" y="158"/>
                  </a:lnTo>
                  <a:lnTo>
                    <a:pt x="250" y="162"/>
                  </a:lnTo>
                  <a:lnTo>
                    <a:pt x="251" y="167"/>
                  </a:lnTo>
                  <a:lnTo>
                    <a:pt x="253" y="171"/>
                  </a:lnTo>
                  <a:lnTo>
                    <a:pt x="253" y="175"/>
                  </a:lnTo>
                  <a:lnTo>
                    <a:pt x="253" y="180"/>
                  </a:lnTo>
                  <a:lnTo>
                    <a:pt x="254" y="184"/>
                  </a:lnTo>
                  <a:lnTo>
                    <a:pt x="256" y="188"/>
                  </a:lnTo>
                  <a:lnTo>
                    <a:pt x="256" y="192"/>
                  </a:lnTo>
                  <a:lnTo>
                    <a:pt x="258" y="197"/>
                  </a:lnTo>
                  <a:lnTo>
                    <a:pt x="258" y="201"/>
                  </a:lnTo>
                  <a:lnTo>
                    <a:pt x="260" y="205"/>
                  </a:lnTo>
                  <a:lnTo>
                    <a:pt x="261" y="210"/>
                  </a:lnTo>
                  <a:lnTo>
                    <a:pt x="262" y="213"/>
                  </a:lnTo>
                  <a:lnTo>
                    <a:pt x="263" y="218"/>
                  </a:lnTo>
                  <a:lnTo>
                    <a:pt x="265" y="222"/>
                  </a:lnTo>
                  <a:lnTo>
                    <a:pt x="266" y="227"/>
                  </a:lnTo>
                  <a:lnTo>
                    <a:pt x="268" y="231"/>
                  </a:lnTo>
                  <a:lnTo>
                    <a:pt x="270" y="235"/>
                  </a:lnTo>
                  <a:lnTo>
                    <a:pt x="271" y="240"/>
                  </a:lnTo>
                  <a:lnTo>
                    <a:pt x="272" y="243"/>
                  </a:lnTo>
                  <a:lnTo>
                    <a:pt x="274" y="248"/>
                  </a:lnTo>
                  <a:lnTo>
                    <a:pt x="275" y="252"/>
                  </a:lnTo>
                  <a:lnTo>
                    <a:pt x="277" y="257"/>
                  </a:lnTo>
                  <a:lnTo>
                    <a:pt x="280" y="261"/>
                  </a:lnTo>
                  <a:lnTo>
                    <a:pt x="280" y="265"/>
                  </a:lnTo>
                  <a:lnTo>
                    <a:pt x="283" y="270"/>
                  </a:lnTo>
                  <a:lnTo>
                    <a:pt x="284" y="273"/>
                  </a:lnTo>
                  <a:lnTo>
                    <a:pt x="285" y="278"/>
                  </a:lnTo>
                  <a:lnTo>
                    <a:pt x="287" y="282"/>
                  </a:lnTo>
                  <a:lnTo>
                    <a:pt x="288" y="287"/>
                  </a:lnTo>
                  <a:lnTo>
                    <a:pt x="290" y="291"/>
                  </a:lnTo>
                  <a:lnTo>
                    <a:pt x="294" y="294"/>
                  </a:lnTo>
                  <a:lnTo>
                    <a:pt x="295" y="298"/>
                  </a:lnTo>
                  <a:lnTo>
                    <a:pt x="298" y="302"/>
                  </a:lnTo>
                  <a:lnTo>
                    <a:pt x="300" y="306"/>
                  </a:lnTo>
                  <a:lnTo>
                    <a:pt x="302" y="311"/>
                  </a:lnTo>
                  <a:lnTo>
                    <a:pt x="304" y="315"/>
                  </a:lnTo>
                  <a:lnTo>
                    <a:pt x="308" y="319"/>
                  </a:lnTo>
                  <a:lnTo>
                    <a:pt x="311" y="324"/>
                  </a:lnTo>
                  <a:lnTo>
                    <a:pt x="314" y="325"/>
                  </a:lnTo>
                  <a:lnTo>
                    <a:pt x="318" y="327"/>
                  </a:lnTo>
                  <a:lnTo>
                    <a:pt x="321" y="331"/>
                  </a:lnTo>
                  <a:lnTo>
                    <a:pt x="324" y="333"/>
                  </a:lnTo>
                  <a:lnTo>
                    <a:pt x="326" y="338"/>
                  </a:lnTo>
                  <a:lnTo>
                    <a:pt x="330" y="339"/>
                  </a:lnTo>
                  <a:lnTo>
                    <a:pt x="333" y="341"/>
                  </a:lnTo>
                  <a:lnTo>
                    <a:pt x="336" y="342"/>
                  </a:lnTo>
                  <a:lnTo>
                    <a:pt x="340" y="344"/>
                  </a:lnTo>
                  <a:lnTo>
                    <a:pt x="343" y="346"/>
                  </a:lnTo>
                  <a:lnTo>
                    <a:pt x="346" y="348"/>
                  </a:lnTo>
                  <a:lnTo>
                    <a:pt x="349" y="349"/>
                  </a:lnTo>
                  <a:lnTo>
                    <a:pt x="352" y="351"/>
                  </a:lnTo>
                  <a:lnTo>
                    <a:pt x="355" y="351"/>
                  </a:lnTo>
                  <a:lnTo>
                    <a:pt x="359" y="351"/>
                  </a:lnTo>
                  <a:lnTo>
                    <a:pt x="362" y="352"/>
                  </a:lnTo>
                  <a:lnTo>
                    <a:pt x="365" y="351"/>
                  </a:lnTo>
                </a:path>
              </a:pathLst>
            </a:custGeom>
            <a:noFill/>
            <a:ln w="12700" cap="rnd">
              <a:solidFill>
                <a:schemeClr val="tx1"/>
              </a:solidFill>
              <a:round/>
              <a:headEnd type="none" w="sm" len="sm"/>
              <a:tailEnd type="none" w="sm" len="sm"/>
            </a:ln>
          </p:spPr>
          <p:txBody>
            <a:bodyPr/>
            <a:lstStyle/>
            <a:p>
              <a:endParaRPr lang="ko-KR" altLang="en-US" dirty="0"/>
            </a:p>
          </p:txBody>
        </p:sp>
        <p:sp>
          <p:nvSpPr>
            <p:cNvPr id="71" name="Line 56"/>
            <p:cNvSpPr>
              <a:spLocks noChangeShapeType="1"/>
            </p:cNvSpPr>
            <p:nvPr/>
          </p:nvSpPr>
          <p:spPr bwMode="auto">
            <a:xfrm>
              <a:off x="6415089" y="4016524"/>
              <a:ext cx="0" cy="422447"/>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2" name="Line 57"/>
            <p:cNvSpPr>
              <a:spLocks noChangeShapeType="1"/>
            </p:cNvSpPr>
            <p:nvPr/>
          </p:nvSpPr>
          <p:spPr bwMode="auto">
            <a:xfrm>
              <a:off x="5780089" y="4448524"/>
              <a:ext cx="1309687"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3" name="Freeform 58"/>
            <p:cNvSpPr>
              <a:spLocks/>
            </p:cNvSpPr>
            <p:nvPr/>
          </p:nvSpPr>
          <p:spPr bwMode="auto">
            <a:xfrm>
              <a:off x="6697664" y="4411374"/>
              <a:ext cx="282575" cy="25474"/>
            </a:xfrm>
            <a:custGeom>
              <a:avLst/>
              <a:gdLst>
                <a:gd name="T0" fmla="*/ 0 w 178"/>
                <a:gd name="T1" fmla="*/ 0 h 24"/>
                <a:gd name="T2" fmla="*/ 0 w 178"/>
                <a:gd name="T3" fmla="*/ 0 h 24"/>
                <a:gd name="T4" fmla="*/ 0 w 178"/>
                <a:gd name="T5" fmla="*/ 2147483647 h 24"/>
                <a:gd name="T6" fmla="*/ 2147483647 w 178"/>
                <a:gd name="T7" fmla="*/ 2147483647 h 24"/>
                <a:gd name="T8" fmla="*/ 2147483647 w 178"/>
                <a:gd name="T9" fmla="*/ 2147483647 h 24"/>
                <a:gd name="T10" fmla="*/ 2147483647 w 178"/>
                <a:gd name="T11" fmla="*/ 2147483647 h 24"/>
                <a:gd name="T12" fmla="*/ 2147483647 w 178"/>
                <a:gd name="T13" fmla="*/ 2147483647 h 24"/>
                <a:gd name="T14" fmla="*/ 2147483647 w 178"/>
                <a:gd name="T15" fmla="*/ 2147483647 h 24"/>
                <a:gd name="T16" fmla="*/ 2147483647 w 178"/>
                <a:gd name="T17" fmla="*/ 2147483647 h 24"/>
                <a:gd name="T18" fmla="*/ 2147483647 w 178"/>
                <a:gd name="T19" fmla="*/ 2147483647 h 24"/>
                <a:gd name="T20" fmla="*/ 2147483647 w 178"/>
                <a:gd name="T21" fmla="*/ 2147483647 h 24"/>
                <a:gd name="T22" fmla="*/ 2147483647 w 178"/>
                <a:gd name="T23" fmla="*/ 2147483647 h 24"/>
                <a:gd name="T24" fmla="*/ 2147483647 w 178"/>
                <a:gd name="T25" fmla="*/ 2147483647 h 24"/>
                <a:gd name="T26" fmla="*/ 2147483647 w 178"/>
                <a:gd name="T27" fmla="*/ 2147483647 h 24"/>
                <a:gd name="T28" fmla="*/ 2147483647 w 178"/>
                <a:gd name="T29" fmla="*/ 2147483647 h 24"/>
                <a:gd name="T30" fmla="*/ 2147483647 w 178"/>
                <a:gd name="T31" fmla="*/ 2147483647 h 24"/>
                <a:gd name="T32" fmla="*/ 2147483647 w 178"/>
                <a:gd name="T33" fmla="*/ 2147483647 h 24"/>
                <a:gd name="T34" fmla="*/ 2147483647 w 178"/>
                <a:gd name="T35" fmla="*/ 2147483647 h 24"/>
                <a:gd name="T36" fmla="*/ 2147483647 w 178"/>
                <a:gd name="T37" fmla="*/ 2147483647 h 24"/>
                <a:gd name="T38" fmla="*/ 2147483647 w 178"/>
                <a:gd name="T39" fmla="*/ 2147483647 h 24"/>
                <a:gd name="T40" fmla="*/ 2147483647 w 178"/>
                <a:gd name="T41" fmla="*/ 2147483647 h 24"/>
                <a:gd name="T42" fmla="*/ 2147483647 w 178"/>
                <a:gd name="T43" fmla="*/ 2147483647 h 24"/>
                <a:gd name="T44" fmla="*/ 2147483647 w 178"/>
                <a:gd name="T45" fmla="*/ 2147483647 h 24"/>
                <a:gd name="T46" fmla="*/ 2147483647 w 178"/>
                <a:gd name="T47" fmla="*/ 2147483647 h 24"/>
                <a:gd name="T48" fmla="*/ 2147483647 w 178"/>
                <a:gd name="T49" fmla="*/ 2147483647 h 24"/>
                <a:gd name="T50" fmla="*/ 2147483647 w 178"/>
                <a:gd name="T51" fmla="*/ 2147483647 h 24"/>
                <a:gd name="T52" fmla="*/ 2147483647 w 178"/>
                <a:gd name="T53" fmla="*/ 2147483647 h 24"/>
                <a:gd name="T54" fmla="*/ 2147483647 w 178"/>
                <a:gd name="T55" fmla="*/ 2147483647 h 24"/>
                <a:gd name="T56" fmla="*/ 2147483647 w 178"/>
                <a:gd name="T57" fmla="*/ 2147483647 h 24"/>
                <a:gd name="T58" fmla="*/ 2147483647 w 178"/>
                <a:gd name="T59" fmla="*/ 2147483647 h 24"/>
                <a:gd name="T60" fmla="*/ 2147483647 w 178"/>
                <a:gd name="T61" fmla="*/ 2147483647 h 24"/>
                <a:gd name="T62" fmla="*/ 2147483647 w 178"/>
                <a:gd name="T63" fmla="*/ 2147483647 h 24"/>
                <a:gd name="T64" fmla="*/ 2147483647 w 178"/>
                <a:gd name="T65" fmla="*/ 2147483647 h 24"/>
                <a:gd name="T66" fmla="*/ 2147483647 w 178"/>
                <a:gd name="T67" fmla="*/ 2147483647 h 24"/>
                <a:gd name="T68" fmla="*/ 2147483647 w 178"/>
                <a:gd name="T69" fmla="*/ 2147483647 h 24"/>
                <a:gd name="T70" fmla="*/ 2147483647 w 178"/>
                <a:gd name="T71" fmla="*/ 2147483647 h 24"/>
                <a:gd name="T72" fmla="*/ 2147483647 w 178"/>
                <a:gd name="T73" fmla="*/ 2147483647 h 24"/>
                <a:gd name="T74" fmla="*/ 2147483647 w 178"/>
                <a:gd name="T75" fmla="*/ 2147483647 h 24"/>
                <a:gd name="T76" fmla="*/ 2147483647 w 178"/>
                <a:gd name="T77" fmla="*/ 2147483647 h 24"/>
                <a:gd name="T78" fmla="*/ 2147483647 w 178"/>
                <a:gd name="T79" fmla="*/ 2147483647 h 24"/>
                <a:gd name="T80" fmla="*/ 2147483647 w 178"/>
                <a:gd name="T81" fmla="*/ 2147483647 h 24"/>
                <a:gd name="T82" fmla="*/ 2147483647 w 178"/>
                <a:gd name="T83" fmla="*/ 2147483647 h 24"/>
                <a:gd name="T84" fmla="*/ 2147483647 w 178"/>
                <a:gd name="T85" fmla="*/ 2147483647 h 24"/>
                <a:gd name="T86" fmla="*/ 2147483647 w 178"/>
                <a:gd name="T87" fmla="*/ 2147483647 h 24"/>
                <a:gd name="T88" fmla="*/ 2147483647 w 178"/>
                <a:gd name="T89" fmla="*/ 2147483647 h 24"/>
                <a:gd name="T90" fmla="*/ 2147483647 w 178"/>
                <a:gd name="T91" fmla="*/ 2147483647 h 24"/>
                <a:gd name="T92" fmla="*/ 2147483647 w 178"/>
                <a:gd name="T93" fmla="*/ 2147483647 h 24"/>
                <a:gd name="T94" fmla="*/ 2147483647 w 178"/>
                <a:gd name="T95" fmla="*/ 2147483647 h 24"/>
                <a:gd name="T96" fmla="*/ 2147483647 w 178"/>
                <a:gd name="T97" fmla="*/ 2147483647 h 24"/>
                <a:gd name="T98" fmla="*/ 2147483647 w 178"/>
                <a:gd name="T99" fmla="*/ 2147483647 h 24"/>
                <a:gd name="T100" fmla="*/ 2147483647 w 178"/>
                <a:gd name="T101" fmla="*/ 2147483647 h 24"/>
                <a:gd name="T102" fmla="*/ 2147483647 w 178"/>
                <a:gd name="T103" fmla="*/ 2147483647 h 24"/>
                <a:gd name="T104" fmla="*/ 2147483647 w 178"/>
                <a:gd name="T105" fmla="*/ 2147483647 h 24"/>
                <a:gd name="T106" fmla="*/ 2147483647 w 178"/>
                <a:gd name="T107" fmla="*/ 2147483647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0" y="0"/>
                  </a:moveTo>
                  <a:lnTo>
                    <a:pt x="0" y="0"/>
                  </a:lnTo>
                  <a:lnTo>
                    <a:pt x="0" y="2"/>
                  </a:lnTo>
                  <a:lnTo>
                    <a:pt x="3" y="5"/>
                  </a:lnTo>
                  <a:lnTo>
                    <a:pt x="5" y="7"/>
                  </a:lnTo>
                  <a:lnTo>
                    <a:pt x="8" y="7"/>
                  </a:lnTo>
                  <a:lnTo>
                    <a:pt x="11" y="10"/>
                  </a:lnTo>
                  <a:lnTo>
                    <a:pt x="15" y="11"/>
                  </a:lnTo>
                  <a:lnTo>
                    <a:pt x="19" y="11"/>
                  </a:lnTo>
                  <a:lnTo>
                    <a:pt x="23" y="12"/>
                  </a:lnTo>
                  <a:lnTo>
                    <a:pt x="26" y="12"/>
                  </a:lnTo>
                  <a:lnTo>
                    <a:pt x="29" y="13"/>
                  </a:lnTo>
                  <a:lnTo>
                    <a:pt x="32" y="14"/>
                  </a:lnTo>
                  <a:lnTo>
                    <a:pt x="35" y="14"/>
                  </a:lnTo>
                  <a:lnTo>
                    <a:pt x="38" y="16"/>
                  </a:lnTo>
                  <a:lnTo>
                    <a:pt x="42" y="15"/>
                  </a:lnTo>
                  <a:lnTo>
                    <a:pt x="46" y="15"/>
                  </a:lnTo>
                  <a:lnTo>
                    <a:pt x="50" y="16"/>
                  </a:lnTo>
                  <a:lnTo>
                    <a:pt x="53" y="16"/>
                  </a:lnTo>
                  <a:lnTo>
                    <a:pt x="57" y="17"/>
                  </a:lnTo>
                  <a:lnTo>
                    <a:pt x="61" y="19"/>
                  </a:lnTo>
                  <a:lnTo>
                    <a:pt x="65" y="19"/>
                  </a:lnTo>
                  <a:lnTo>
                    <a:pt x="69" y="19"/>
                  </a:lnTo>
                  <a:lnTo>
                    <a:pt x="73" y="19"/>
                  </a:lnTo>
                  <a:lnTo>
                    <a:pt x="76" y="19"/>
                  </a:lnTo>
                  <a:lnTo>
                    <a:pt x="80" y="19"/>
                  </a:lnTo>
                  <a:lnTo>
                    <a:pt x="84" y="19"/>
                  </a:lnTo>
                  <a:lnTo>
                    <a:pt x="88" y="19"/>
                  </a:lnTo>
                  <a:lnTo>
                    <a:pt x="92" y="19"/>
                  </a:lnTo>
                  <a:lnTo>
                    <a:pt x="96" y="19"/>
                  </a:lnTo>
                  <a:lnTo>
                    <a:pt x="100" y="19"/>
                  </a:lnTo>
                  <a:lnTo>
                    <a:pt x="103" y="20"/>
                  </a:lnTo>
                  <a:lnTo>
                    <a:pt x="105" y="20"/>
                  </a:lnTo>
                  <a:lnTo>
                    <a:pt x="107" y="20"/>
                  </a:lnTo>
                  <a:lnTo>
                    <a:pt x="111" y="20"/>
                  </a:lnTo>
                  <a:lnTo>
                    <a:pt x="115" y="20"/>
                  </a:lnTo>
                  <a:lnTo>
                    <a:pt x="119" y="20"/>
                  </a:lnTo>
                  <a:lnTo>
                    <a:pt x="123" y="20"/>
                  </a:lnTo>
                  <a:lnTo>
                    <a:pt x="126" y="20"/>
                  </a:lnTo>
                  <a:lnTo>
                    <a:pt x="129" y="21"/>
                  </a:lnTo>
                  <a:lnTo>
                    <a:pt x="132" y="21"/>
                  </a:lnTo>
                  <a:lnTo>
                    <a:pt x="135" y="23"/>
                  </a:lnTo>
                  <a:lnTo>
                    <a:pt x="138" y="23"/>
                  </a:lnTo>
                  <a:lnTo>
                    <a:pt x="142" y="23"/>
                  </a:lnTo>
                  <a:lnTo>
                    <a:pt x="146" y="23"/>
                  </a:lnTo>
                  <a:lnTo>
                    <a:pt x="150" y="23"/>
                  </a:lnTo>
                  <a:lnTo>
                    <a:pt x="153" y="23"/>
                  </a:lnTo>
                  <a:lnTo>
                    <a:pt x="156" y="23"/>
                  </a:lnTo>
                  <a:lnTo>
                    <a:pt x="159" y="23"/>
                  </a:lnTo>
                  <a:lnTo>
                    <a:pt x="162" y="23"/>
                  </a:lnTo>
                  <a:lnTo>
                    <a:pt x="166" y="23"/>
                  </a:lnTo>
                  <a:lnTo>
                    <a:pt x="169" y="23"/>
                  </a:lnTo>
                  <a:lnTo>
                    <a:pt x="173" y="23"/>
                  </a:lnTo>
                  <a:lnTo>
                    <a:pt x="177" y="23"/>
                  </a:lnTo>
                </a:path>
              </a:pathLst>
            </a:custGeom>
            <a:noFill/>
            <a:ln w="12700" cap="rnd">
              <a:solidFill>
                <a:schemeClr val="tx1"/>
              </a:solidFill>
              <a:round/>
              <a:headEnd type="none" w="sm" len="sm"/>
              <a:tailEnd type="none" w="sm" len="sm"/>
            </a:ln>
          </p:spPr>
          <p:txBody>
            <a:bodyPr/>
            <a:lstStyle/>
            <a:p>
              <a:endParaRPr lang="ko-KR" altLang="en-US" dirty="0"/>
            </a:p>
          </p:txBody>
        </p:sp>
        <p:sp>
          <p:nvSpPr>
            <p:cNvPr id="74" name="Freeform 59"/>
            <p:cNvSpPr>
              <a:spLocks/>
            </p:cNvSpPr>
            <p:nvPr/>
          </p:nvSpPr>
          <p:spPr bwMode="auto">
            <a:xfrm>
              <a:off x="5838826" y="4411374"/>
              <a:ext cx="282575" cy="25474"/>
            </a:xfrm>
            <a:custGeom>
              <a:avLst/>
              <a:gdLst>
                <a:gd name="T0" fmla="*/ 2147483647 w 178"/>
                <a:gd name="T1" fmla="*/ 0 h 24"/>
                <a:gd name="T2" fmla="*/ 2147483647 w 178"/>
                <a:gd name="T3" fmla="*/ 0 h 24"/>
                <a:gd name="T4" fmla="*/ 2147483647 w 178"/>
                <a:gd name="T5" fmla="*/ 2147483647 h 24"/>
                <a:gd name="T6" fmla="*/ 2147483647 w 178"/>
                <a:gd name="T7" fmla="*/ 2147483647 h 24"/>
                <a:gd name="T8" fmla="*/ 2147483647 w 178"/>
                <a:gd name="T9" fmla="*/ 2147483647 h 24"/>
                <a:gd name="T10" fmla="*/ 2147483647 w 178"/>
                <a:gd name="T11" fmla="*/ 2147483647 h 24"/>
                <a:gd name="T12" fmla="*/ 2147483647 w 178"/>
                <a:gd name="T13" fmla="*/ 2147483647 h 24"/>
                <a:gd name="T14" fmla="*/ 2147483647 w 178"/>
                <a:gd name="T15" fmla="*/ 2147483647 h 24"/>
                <a:gd name="T16" fmla="*/ 2147483647 w 178"/>
                <a:gd name="T17" fmla="*/ 2147483647 h 24"/>
                <a:gd name="T18" fmla="*/ 2147483647 w 178"/>
                <a:gd name="T19" fmla="*/ 2147483647 h 24"/>
                <a:gd name="T20" fmla="*/ 2147483647 w 178"/>
                <a:gd name="T21" fmla="*/ 2147483647 h 24"/>
                <a:gd name="T22" fmla="*/ 2147483647 w 178"/>
                <a:gd name="T23" fmla="*/ 2147483647 h 24"/>
                <a:gd name="T24" fmla="*/ 2147483647 w 178"/>
                <a:gd name="T25" fmla="*/ 2147483647 h 24"/>
                <a:gd name="T26" fmla="*/ 2147483647 w 178"/>
                <a:gd name="T27" fmla="*/ 2147483647 h 24"/>
                <a:gd name="T28" fmla="*/ 2147483647 w 178"/>
                <a:gd name="T29" fmla="*/ 2147483647 h 24"/>
                <a:gd name="T30" fmla="*/ 2147483647 w 178"/>
                <a:gd name="T31" fmla="*/ 2147483647 h 24"/>
                <a:gd name="T32" fmla="*/ 2147483647 w 178"/>
                <a:gd name="T33" fmla="*/ 2147483647 h 24"/>
                <a:gd name="T34" fmla="*/ 2147483647 w 178"/>
                <a:gd name="T35" fmla="*/ 2147483647 h 24"/>
                <a:gd name="T36" fmla="*/ 2147483647 w 178"/>
                <a:gd name="T37" fmla="*/ 2147483647 h 24"/>
                <a:gd name="T38" fmla="*/ 2147483647 w 178"/>
                <a:gd name="T39" fmla="*/ 2147483647 h 24"/>
                <a:gd name="T40" fmla="*/ 2147483647 w 178"/>
                <a:gd name="T41" fmla="*/ 2147483647 h 24"/>
                <a:gd name="T42" fmla="*/ 2147483647 w 178"/>
                <a:gd name="T43" fmla="*/ 2147483647 h 24"/>
                <a:gd name="T44" fmla="*/ 2147483647 w 178"/>
                <a:gd name="T45" fmla="*/ 2147483647 h 24"/>
                <a:gd name="T46" fmla="*/ 2147483647 w 178"/>
                <a:gd name="T47" fmla="*/ 2147483647 h 24"/>
                <a:gd name="T48" fmla="*/ 2147483647 w 178"/>
                <a:gd name="T49" fmla="*/ 2147483647 h 24"/>
                <a:gd name="T50" fmla="*/ 2147483647 w 178"/>
                <a:gd name="T51" fmla="*/ 2147483647 h 24"/>
                <a:gd name="T52" fmla="*/ 2147483647 w 178"/>
                <a:gd name="T53" fmla="*/ 2147483647 h 24"/>
                <a:gd name="T54" fmla="*/ 2147483647 w 178"/>
                <a:gd name="T55" fmla="*/ 2147483647 h 24"/>
                <a:gd name="T56" fmla="*/ 2147483647 w 178"/>
                <a:gd name="T57" fmla="*/ 2147483647 h 24"/>
                <a:gd name="T58" fmla="*/ 2147483647 w 178"/>
                <a:gd name="T59" fmla="*/ 2147483647 h 24"/>
                <a:gd name="T60" fmla="*/ 2147483647 w 178"/>
                <a:gd name="T61" fmla="*/ 2147483647 h 24"/>
                <a:gd name="T62" fmla="*/ 2147483647 w 178"/>
                <a:gd name="T63" fmla="*/ 2147483647 h 24"/>
                <a:gd name="T64" fmla="*/ 2147483647 w 178"/>
                <a:gd name="T65" fmla="*/ 2147483647 h 24"/>
                <a:gd name="T66" fmla="*/ 2147483647 w 178"/>
                <a:gd name="T67" fmla="*/ 2147483647 h 24"/>
                <a:gd name="T68" fmla="*/ 2147483647 w 178"/>
                <a:gd name="T69" fmla="*/ 2147483647 h 24"/>
                <a:gd name="T70" fmla="*/ 2147483647 w 178"/>
                <a:gd name="T71" fmla="*/ 2147483647 h 24"/>
                <a:gd name="T72" fmla="*/ 2147483647 w 178"/>
                <a:gd name="T73" fmla="*/ 2147483647 h 24"/>
                <a:gd name="T74" fmla="*/ 2147483647 w 178"/>
                <a:gd name="T75" fmla="*/ 2147483647 h 24"/>
                <a:gd name="T76" fmla="*/ 2147483647 w 178"/>
                <a:gd name="T77" fmla="*/ 2147483647 h 24"/>
                <a:gd name="T78" fmla="*/ 2147483647 w 178"/>
                <a:gd name="T79" fmla="*/ 2147483647 h 24"/>
                <a:gd name="T80" fmla="*/ 2147483647 w 178"/>
                <a:gd name="T81" fmla="*/ 2147483647 h 24"/>
                <a:gd name="T82" fmla="*/ 2147483647 w 178"/>
                <a:gd name="T83" fmla="*/ 2147483647 h 24"/>
                <a:gd name="T84" fmla="*/ 2147483647 w 178"/>
                <a:gd name="T85" fmla="*/ 2147483647 h 24"/>
                <a:gd name="T86" fmla="*/ 2147483647 w 178"/>
                <a:gd name="T87" fmla="*/ 2147483647 h 24"/>
                <a:gd name="T88" fmla="*/ 2147483647 w 178"/>
                <a:gd name="T89" fmla="*/ 2147483647 h 24"/>
                <a:gd name="T90" fmla="*/ 2147483647 w 178"/>
                <a:gd name="T91" fmla="*/ 2147483647 h 24"/>
                <a:gd name="T92" fmla="*/ 2147483647 w 178"/>
                <a:gd name="T93" fmla="*/ 2147483647 h 24"/>
                <a:gd name="T94" fmla="*/ 2147483647 w 178"/>
                <a:gd name="T95" fmla="*/ 2147483647 h 24"/>
                <a:gd name="T96" fmla="*/ 2147483647 w 178"/>
                <a:gd name="T97" fmla="*/ 2147483647 h 24"/>
                <a:gd name="T98" fmla="*/ 2147483647 w 178"/>
                <a:gd name="T99" fmla="*/ 2147483647 h 24"/>
                <a:gd name="T100" fmla="*/ 2147483647 w 178"/>
                <a:gd name="T101" fmla="*/ 2147483647 h 24"/>
                <a:gd name="T102" fmla="*/ 2147483647 w 178"/>
                <a:gd name="T103" fmla="*/ 2147483647 h 24"/>
                <a:gd name="T104" fmla="*/ 2147483647 w 178"/>
                <a:gd name="T105" fmla="*/ 2147483647 h 24"/>
                <a:gd name="T106" fmla="*/ 0 w 178"/>
                <a:gd name="T107" fmla="*/ 2147483647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24"/>
                <a:gd name="T164" fmla="*/ 178 w 178"/>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24">
                  <a:moveTo>
                    <a:pt x="177" y="0"/>
                  </a:moveTo>
                  <a:lnTo>
                    <a:pt x="177" y="0"/>
                  </a:lnTo>
                  <a:lnTo>
                    <a:pt x="177" y="2"/>
                  </a:lnTo>
                  <a:lnTo>
                    <a:pt x="173" y="5"/>
                  </a:lnTo>
                  <a:lnTo>
                    <a:pt x="171" y="7"/>
                  </a:lnTo>
                  <a:lnTo>
                    <a:pt x="168" y="7"/>
                  </a:lnTo>
                  <a:lnTo>
                    <a:pt x="165" y="10"/>
                  </a:lnTo>
                  <a:lnTo>
                    <a:pt x="161" y="11"/>
                  </a:lnTo>
                  <a:lnTo>
                    <a:pt x="157" y="11"/>
                  </a:lnTo>
                  <a:lnTo>
                    <a:pt x="153" y="12"/>
                  </a:lnTo>
                  <a:lnTo>
                    <a:pt x="150" y="12"/>
                  </a:lnTo>
                  <a:lnTo>
                    <a:pt x="147" y="13"/>
                  </a:lnTo>
                  <a:lnTo>
                    <a:pt x="144" y="14"/>
                  </a:lnTo>
                  <a:lnTo>
                    <a:pt x="141" y="14"/>
                  </a:lnTo>
                  <a:lnTo>
                    <a:pt x="138" y="16"/>
                  </a:lnTo>
                  <a:lnTo>
                    <a:pt x="135" y="15"/>
                  </a:lnTo>
                  <a:lnTo>
                    <a:pt x="130" y="15"/>
                  </a:lnTo>
                  <a:lnTo>
                    <a:pt x="126" y="16"/>
                  </a:lnTo>
                  <a:lnTo>
                    <a:pt x="123" y="16"/>
                  </a:lnTo>
                  <a:lnTo>
                    <a:pt x="119" y="17"/>
                  </a:lnTo>
                  <a:lnTo>
                    <a:pt x="115" y="19"/>
                  </a:lnTo>
                  <a:lnTo>
                    <a:pt x="111" y="19"/>
                  </a:lnTo>
                  <a:lnTo>
                    <a:pt x="108" y="19"/>
                  </a:lnTo>
                  <a:lnTo>
                    <a:pt x="104" y="19"/>
                  </a:lnTo>
                  <a:lnTo>
                    <a:pt x="99" y="19"/>
                  </a:lnTo>
                  <a:lnTo>
                    <a:pt x="96" y="19"/>
                  </a:lnTo>
                  <a:lnTo>
                    <a:pt x="92" y="19"/>
                  </a:lnTo>
                  <a:lnTo>
                    <a:pt x="88" y="19"/>
                  </a:lnTo>
                  <a:lnTo>
                    <a:pt x="84" y="19"/>
                  </a:lnTo>
                  <a:lnTo>
                    <a:pt x="81" y="19"/>
                  </a:lnTo>
                  <a:lnTo>
                    <a:pt x="77" y="19"/>
                  </a:lnTo>
                  <a:lnTo>
                    <a:pt x="74" y="20"/>
                  </a:lnTo>
                  <a:lnTo>
                    <a:pt x="72" y="20"/>
                  </a:lnTo>
                  <a:lnTo>
                    <a:pt x="69" y="20"/>
                  </a:lnTo>
                  <a:lnTo>
                    <a:pt x="66" y="20"/>
                  </a:lnTo>
                  <a:lnTo>
                    <a:pt x="61" y="20"/>
                  </a:lnTo>
                  <a:lnTo>
                    <a:pt x="57" y="20"/>
                  </a:lnTo>
                  <a:lnTo>
                    <a:pt x="54" y="20"/>
                  </a:lnTo>
                  <a:lnTo>
                    <a:pt x="50" y="20"/>
                  </a:lnTo>
                  <a:lnTo>
                    <a:pt x="47" y="21"/>
                  </a:lnTo>
                  <a:lnTo>
                    <a:pt x="44" y="21"/>
                  </a:lnTo>
                  <a:lnTo>
                    <a:pt x="41" y="23"/>
                  </a:lnTo>
                  <a:lnTo>
                    <a:pt x="38" y="23"/>
                  </a:lnTo>
                  <a:lnTo>
                    <a:pt x="34" y="23"/>
                  </a:lnTo>
                  <a:lnTo>
                    <a:pt x="30" y="23"/>
                  </a:lnTo>
                  <a:lnTo>
                    <a:pt x="27" y="23"/>
                  </a:lnTo>
                  <a:lnTo>
                    <a:pt x="23" y="23"/>
                  </a:lnTo>
                  <a:lnTo>
                    <a:pt x="20" y="23"/>
                  </a:lnTo>
                  <a:lnTo>
                    <a:pt x="17" y="23"/>
                  </a:lnTo>
                  <a:lnTo>
                    <a:pt x="14" y="23"/>
                  </a:lnTo>
                  <a:lnTo>
                    <a:pt x="10" y="23"/>
                  </a:lnTo>
                  <a:lnTo>
                    <a:pt x="7" y="23"/>
                  </a:lnTo>
                  <a:lnTo>
                    <a:pt x="3" y="23"/>
                  </a:lnTo>
                  <a:lnTo>
                    <a:pt x="0" y="23"/>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75" name="Group 72"/>
          <p:cNvGrpSpPr>
            <a:grpSpLocks/>
          </p:cNvGrpSpPr>
          <p:nvPr/>
        </p:nvGrpSpPr>
        <p:grpSpPr bwMode="auto">
          <a:xfrm>
            <a:off x="6853605" y="3836844"/>
            <a:ext cx="1208942" cy="431800"/>
            <a:chOff x="1011" y="1504"/>
            <a:chExt cx="1185" cy="479"/>
          </a:xfrm>
        </p:grpSpPr>
        <p:sp>
          <p:nvSpPr>
            <p:cNvPr id="76" name="Freeform 67"/>
            <p:cNvSpPr>
              <a:spLocks/>
            </p:cNvSpPr>
            <p:nvPr/>
          </p:nvSpPr>
          <p:spPr bwMode="auto">
            <a:xfrm>
              <a:off x="1322" y="1532"/>
              <a:ext cx="524" cy="417"/>
            </a:xfrm>
            <a:custGeom>
              <a:avLst/>
              <a:gdLst>
                <a:gd name="T0" fmla="*/ 14 w 524"/>
                <a:gd name="T1" fmla="*/ 413 h 417"/>
                <a:gd name="T2" fmla="*/ 33 w 524"/>
                <a:gd name="T3" fmla="*/ 409 h 417"/>
                <a:gd name="T4" fmla="*/ 51 w 524"/>
                <a:gd name="T5" fmla="*/ 399 h 417"/>
                <a:gd name="T6" fmla="*/ 69 w 524"/>
                <a:gd name="T7" fmla="*/ 383 h 417"/>
                <a:gd name="T8" fmla="*/ 87 w 524"/>
                <a:gd name="T9" fmla="*/ 374 h 417"/>
                <a:gd name="T10" fmla="*/ 99 w 524"/>
                <a:gd name="T11" fmla="*/ 355 h 417"/>
                <a:gd name="T12" fmla="*/ 111 w 524"/>
                <a:gd name="T13" fmla="*/ 335 h 417"/>
                <a:gd name="T14" fmla="*/ 124 w 524"/>
                <a:gd name="T15" fmla="*/ 317 h 417"/>
                <a:gd name="T16" fmla="*/ 134 w 524"/>
                <a:gd name="T17" fmla="*/ 296 h 417"/>
                <a:gd name="T18" fmla="*/ 137 w 524"/>
                <a:gd name="T19" fmla="*/ 276 h 417"/>
                <a:gd name="T20" fmla="*/ 150 w 524"/>
                <a:gd name="T21" fmla="*/ 258 h 417"/>
                <a:gd name="T22" fmla="*/ 157 w 524"/>
                <a:gd name="T23" fmla="*/ 239 h 417"/>
                <a:gd name="T24" fmla="*/ 160 w 524"/>
                <a:gd name="T25" fmla="*/ 219 h 417"/>
                <a:gd name="T26" fmla="*/ 167 w 524"/>
                <a:gd name="T27" fmla="*/ 199 h 417"/>
                <a:gd name="T28" fmla="*/ 174 w 524"/>
                <a:gd name="T29" fmla="*/ 179 h 417"/>
                <a:gd name="T30" fmla="*/ 180 w 524"/>
                <a:gd name="T31" fmla="*/ 159 h 417"/>
                <a:gd name="T32" fmla="*/ 186 w 524"/>
                <a:gd name="T33" fmla="*/ 139 h 417"/>
                <a:gd name="T34" fmla="*/ 193 w 524"/>
                <a:gd name="T35" fmla="*/ 119 h 417"/>
                <a:gd name="T36" fmla="*/ 201 w 524"/>
                <a:gd name="T37" fmla="*/ 98 h 417"/>
                <a:gd name="T38" fmla="*/ 209 w 524"/>
                <a:gd name="T39" fmla="*/ 78 h 417"/>
                <a:gd name="T40" fmla="*/ 216 w 524"/>
                <a:gd name="T41" fmla="*/ 58 h 417"/>
                <a:gd name="T42" fmla="*/ 225 w 524"/>
                <a:gd name="T43" fmla="*/ 38 h 417"/>
                <a:gd name="T44" fmla="*/ 237 w 524"/>
                <a:gd name="T45" fmla="*/ 18 h 417"/>
                <a:gd name="T46" fmla="*/ 254 w 524"/>
                <a:gd name="T47" fmla="*/ 1 h 417"/>
                <a:gd name="T48" fmla="*/ 273 w 524"/>
                <a:gd name="T49" fmla="*/ 1 h 417"/>
                <a:gd name="T50" fmla="*/ 290 w 524"/>
                <a:gd name="T51" fmla="*/ 20 h 417"/>
                <a:gd name="T52" fmla="*/ 304 w 524"/>
                <a:gd name="T53" fmla="*/ 40 h 417"/>
                <a:gd name="T54" fmla="*/ 312 w 524"/>
                <a:gd name="T55" fmla="*/ 60 h 417"/>
                <a:gd name="T56" fmla="*/ 318 w 524"/>
                <a:gd name="T57" fmla="*/ 80 h 417"/>
                <a:gd name="T58" fmla="*/ 324 w 524"/>
                <a:gd name="T59" fmla="*/ 100 h 417"/>
                <a:gd name="T60" fmla="*/ 330 w 524"/>
                <a:gd name="T61" fmla="*/ 120 h 417"/>
                <a:gd name="T62" fmla="*/ 340 w 524"/>
                <a:gd name="T63" fmla="*/ 140 h 417"/>
                <a:gd name="T64" fmla="*/ 346 w 524"/>
                <a:gd name="T65" fmla="*/ 161 h 417"/>
                <a:gd name="T66" fmla="*/ 355 w 524"/>
                <a:gd name="T67" fmla="*/ 181 h 417"/>
                <a:gd name="T68" fmla="*/ 362 w 524"/>
                <a:gd name="T69" fmla="*/ 201 h 417"/>
                <a:gd name="T70" fmla="*/ 366 w 524"/>
                <a:gd name="T71" fmla="*/ 221 h 417"/>
                <a:gd name="T72" fmla="*/ 372 w 524"/>
                <a:gd name="T73" fmla="*/ 241 h 417"/>
                <a:gd name="T74" fmla="*/ 381 w 524"/>
                <a:gd name="T75" fmla="*/ 261 h 417"/>
                <a:gd name="T76" fmla="*/ 388 w 524"/>
                <a:gd name="T77" fmla="*/ 281 h 417"/>
                <a:gd name="T78" fmla="*/ 398 w 524"/>
                <a:gd name="T79" fmla="*/ 302 h 417"/>
                <a:gd name="T80" fmla="*/ 407 w 524"/>
                <a:gd name="T81" fmla="*/ 322 h 417"/>
                <a:gd name="T82" fmla="*/ 417 w 524"/>
                <a:gd name="T83" fmla="*/ 342 h 417"/>
                <a:gd name="T84" fmla="*/ 430 w 524"/>
                <a:gd name="T85" fmla="*/ 360 h 417"/>
                <a:gd name="T86" fmla="*/ 446 w 524"/>
                <a:gd name="T87" fmla="*/ 380 h 417"/>
                <a:gd name="T88" fmla="*/ 465 w 524"/>
                <a:gd name="T89" fmla="*/ 392 h 417"/>
                <a:gd name="T90" fmla="*/ 482 w 524"/>
                <a:gd name="T91" fmla="*/ 402 h 417"/>
                <a:gd name="T92" fmla="*/ 501 w 524"/>
                <a:gd name="T93" fmla="*/ 410 h 417"/>
                <a:gd name="T94" fmla="*/ 519 w 524"/>
                <a:gd name="T95" fmla="*/ 414 h 4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4"/>
                <a:gd name="T145" fmla="*/ 0 h 417"/>
                <a:gd name="T146" fmla="*/ 524 w 524"/>
                <a:gd name="T147" fmla="*/ 417 h 4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4" h="417">
                  <a:moveTo>
                    <a:pt x="0" y="416"/>
                  </a:moveTo>
                  <a:lnTo>
                    <a:pt x="4" y="416"/>
                  </a:lnTo>
                  <a:lnTo>
                    <a:pt x="9" y="414"/>
                  </a:lnTo>
                  <a:lnTo>
                    <a:pt x="14" y="413"/>
                  </a:lnTo>
                  <a:lnTo>
                    <a:pt x="18" y="410"/>
                  </a:lnTo>
                  <a:lnTo>
                    <a:pt x="23" y="409"/>
                  </a:lnTo>
                  <a:lnTo>
                    <a:pt x="27" y="409"/>
                  </a:lnTo>
                  <a:lnTo>
                    <a:pt x="33" y="409"/>
                  </a:lnTo>
                  <a:lnTo>
                    <a:pt x="37" y="407"/>
                  </a:lnTo>
                  <a:lnTo>
                    <a:pt x="42" y="404"/>
                  </a:lnTo>
                  <a:lnTo>
                    <a:pt x="46" y="401"/>
                  </a:lnTo>
                  <a:lnTo>
                    <a:pt x="51" y="399"/>
                  </a:lnTo>
                  <a:lnTo>
                    <a:pt x="56" y="394"/>
                  </a:lnTo>
                  <a:lnTo>
                    <a:pt x="60" y="390"/>
                  </a:lnTo>
                  <a:lnTo>
                    <a:pt x="65" y="389"/>
                  </a:lnTo>
                  <a:lnTo>
                    <a:pt x="69" y="383"/>
                  </a:lnTo>
                  <a:lnTo>
                    <a:pt x="73" y="382"/>
                  </a:lnTo>
                  <a:lnTo>
                    <a:pt x="78" y="380"/>
                  </a:lnTo>
                  <a:lnTo>
                    <a:pt x="82" y="377"/>
                  </a:lnTo>
                  <a:lnTo>
                    <a:pt x="87" y="374"/>
                  </a:lnTo>
                  <a:lnTo>
                    <a:pt x="90" y="368"/>
                  </a:lnTo>
                  <a:lnTo>
                    <a:pt x="93" y="364"/>
                  </a:lnTo>
                  <a:lnTo>
                    <a:pt x="98" y="360"/>
                  </a:lnTo>
                  <a:lnTo>
                    <a:pt x="99" y="355"/>
                  </a:lnTo>
                  <a:lnTo>
                    <a:pt x="101" y="350"/>
                  </a:lnTo>
                  <a:lnTo>
                    <a:pt x="102" y="345"/>
                  </a:lnTo>
                  <a:lnTo>
                    <a:pt x="108" y="340"/>
                  </a:lnTo>
                  <a:lnTo>
                    <a:pt x="111" y="335"/>
                  </a:lnTo>
                  <a:lnTo>
                    <a:pt x="114" y="330"/>
                  </a:lnTo>
                  <a:lnTo>
                    <a:pt x="117" y="325"/>
                  </a:lnTo>
                  <a:lnTo>
                    <a:pt x="120" y="320"/>
                  </a:lnTo>
                  <a:lnTo>
                    <a:pt x="124" y="317"/>
                  </a:lnTo>
                  <a:lnTo>
                    <a:pt x="124" y="311"/>
                  </a:lnTo>
                  <a:lnTo>
                    <a:pt x="128" y="307"/>
                  </a:lnTo>
                  <a:lnTo>
                    <a:pt x="131" y="302"/>
                  </a:lnTo>
                  <a:lnTo>
                    <a:pt x="134" y="296"/>
                  </a:lnTo>
                  <a:lnTo>
                    <a:pt x="135" y="291"/>
                  </a:lnTo>
                  <a:lnTo>
                    <a:pt x="137" y="287"/>
                  </a:lnTo>
                  <a:lnTo>
                    <a:pt x="137" y="281"/>
                  </a:lnTo>
                  <a:lnTo>
                    <a:pt x="137" y="276"/>
                  </a:lnTo>
                  <a:lnTo>
                    <a:pt x="141" y="273"/>
                  </a:lnTo>
                  <a:lnTo>
                    <a:pt x="143" y="268"/>
                  </a:lnTo>
                  <a:lnTo>
                    <a:pt x="147" y="263"/>
                  </a:lnTo>
                  <a:lnTo>
                    <a:pt x="150" y="258"/>
                  </a:lnTo>
                  <a:lnTo>
                    <a:pt x="150" y="253"/>
                  </a:lnTo>
                  <a:lnTo>
                    <a:pt x="153" y="248"/>
                  </a:lnTo>
                  <a:lnTo>
                    <a:pt x="153" y="242"/>
                  </a:lnTo>
                  <a:lnTo>
                    <a:pt x="157" y="239"/>
                  </a:lnTo>
                  <a:lnTo>
                    <a:pt x="156" y="234"/>
                  </a:lnTo>
                  <a:lnTo>
                    <a:pt x="156" y="230"/>
                  </a:lnTo>
                  <a:lnTo>
                    <a:pt x="157" y="224"/>
                  </a:lnTo>
                  <a:lnTo>
                    <a:pt x="160" y="219"/>
                  </a:lnTo>
                  <a:lnTo>
                    <a:pt x="160" y="214"/>
                  </a:lnTo>
                  <a:lnTo>
                    <a:pt x="162" y="209"/>
                  </a:lnTo>
                  <a:lnTo>
                    <a:pt x="165" y="204"/>
                  </a:lnTo>
                  <a:lnTo>
                    <a:pt x="167" y="199"/>
                  </a:lnTo>
                  <a:lnTo>
                    <a:pt x="168" y="194"/>
                  </a:lnTo>
                  <a:lnTo>
                    <a:pt x="171" y="189"/>
                  </a:lnTo>
                  <a:lnTo>
                    <a:pt x="173" y="184"/>
                  </a:lnTo>
                  <a:lnTo>
                    <a:pt x="174" y="179"/>
                  </a:lnTo>
                  <a:lnTo>
                    <a:pt x="174" y="174"/>
                  </a:lnTo>
                  <a:lnTo>
                    <a:pt x="176" y="169"/>
                  </a:lnTo>
                  <a:lnTo>
                    <a:pt x="179" y="164"/>
                  </a:lnTo>
                  <a:lnTo>
                    <a:pt x="180" y="159"/>
                  </a:lnTo>
                  <a:lnTo>
                    <a:pt x="182" y="154"/>
                  </a:lnTo>
                  <a:lnTo>
                    <a:pt x="184" y="149"/>
                  </a:lnTo>
                  <a:lnTo>
                    <a:pt x="187" y="143"/>
                  </a:lnTo>
                  <a:lnTo>
                    <a:pt x="186" y="139"/>
                  </a:lnTo>
                  <a:lnTo>
                    <a:pt x="187" y="134"/>
                  </a:lnTo>
                  <a:lnTo>
                    <a:pt x="190" y="128"/>
                  </a:lnTo>
                  <a:lnTo>
                    <a:pt x="193" y="124"/>
                  </a:lnTo>
                  <a:lnTo>
                    <a:pt x="193" y="119"/>
                  </a:lnTo>
                  <a:lnTo>
                    <a:pt x="196" y="113"/>
                  </a:lnTo>
                  <a:lnTo>
                    <a:pt x="198" y="108"/>
                  </a:lnTo>
                  <a:lnTo>
                    <a:pt x="199" y="104"/>
                  </a:lnTo>
                  <a:lnTo>
                    <a:pt x="201" y="98"/>
                  </a:lnTo>
                  <a:lnTo>
                    <a:pt x="202" y="93"/>
                  </a:lnTo>
                  <a:lnTo>
                    <a:pt x="206" y="89"/>
                  </a:lnTo>
                  <a:lnTo>
                    <a:pt x="206" y="83"/>
                  </a:lnTo>
                  <a:lnTo>
                    <a:pt x="209" y="78"/>
                  </a:lnTo>
                  <a:lnTo>
                    <a:pt x="209" y="73"/>
                  </a:lnTo>
                  <a:lnTo>
                    <a:pt x="212" y="68"/>
                  </a:lnTo>
                  <a:lnTo>
                    <a:pt x="213" y="63"/>
                  </a:lnTo>
                  <a:lnTo>
                    <a:pt x="216" y="58"/>
                  </a:lnTo>
                  <a:lnTo>
                    <a:pt x="218" y="53"/>
                  </a:lnTo>
                  <a:lnTo>
                    <a:pt x="221" y="48"/>
                  </a:lnTo>
                  <a:lnTo>
                    <a:pt x="223" y="43"/>
                  </a:lnTo>
                  <a:lnTo>
                    <a:pt x="225" y="38"/>
                  </a:lnTo>
                  <a:lnTo>
                    <a:pt x="228" y="33"/>
                  </a:lnTo>
                  <a:lnTo>
                    <a:pt x="231" y="28"/>
                  </a:lnTo>
                  <a:lnTo>
                    <a:pt x="234" y="23"/>
                  </a:lnTo>
                  <a:lnTo>
                    <a:pt x="237" y="18"/>
                  </a:lnTo>
                  <a:lnTo>
                    <a:pt x="241" y="14"/>
                  </a:lnTo>
                  <a:lnTo>
                    <a:pt x="246" y="9"/>
                  </a:lnTo>
                  <a:lnTo>
                    <a:pt x="249" y="5"/>
                  </a:lnTo>
                  <a:lnTo>
                    <a:pt x="254" y="1"/>
                  </a:lnTo>
                  <a:lnTo>
                    <a:pt x="258" y="1"/>
                  </a:lnTo>
                  <a:lnTo>
                    <a:pt x="264" y="0"/>
                  </a:lnTo>
                  <a:lnTo>
                    <a:pt x="268" y="0"/>
                  </a:lnTo>
                  <a:lnTo>
                    <a:pt x="273" y="1"/>
                  </a:lnTo>
                  <a:lnTo>
                    <a:pt x="277" y="6"/>
                  </a:lnTo>
                  <a:lnTo>
                    <a:pt x="284" y="9"/>
                  </a:lnTo>
                  <a:lnTo>
                    <a:pt x="287" y="14"/>
                  </a:lnTo>
                  <a:lnTo>
                    <a:pt x="290" y="20"/>
                  </a:lnTo>
                  <a:lnTo>
                    <a:pt x="294" y="25"/>
                  </a:lnTo>
                  <a:lnTo>
                    <a:pt x="297" y="29"/>
                  </a:lnTo>
                  <a:lnTo>
                    <a:pt x="301" y="35"/>
                  </a:lnTo>
                  <a:lnTo>
                    <a:pt x="304" y="40"/>
                  </a:lnTo>
                  <a:lnTo>
                    <a:pt x="306" y="44"/>
                  </a:lnTo>
                  <a:lnTo>
                    <a:pt x="309" y="50"/>
                  </a:lnTo>
                  <a:lnTo>
                    <a:pt x="310" y="55"/>
                  </a:lnTo>
                  <a:lnTo>
                    <a:pt x="312" y="60"/>
                  </a:lnTo>
                  <a:lnTo>
                    <a:pt x="312" y="65"/>
                  </a:lnTo>
                  <a:lnTo>
                    <a:pt x="313" y="70"/>
                  </a:lnTo>
                  <a:lnTo>
                    <a:pt x="315" y="75"/>
                  </a:lnTo>
                  <a:lnTo>
                    <a:pt x="318" y="80"/>
                  </a:lnTo>
                  <a:lnTo>
                    <a:pt x="318" y="85"/>
                  </a:lnTo>
                  <a:lnTo>
                    <a:pt x="321" y="90"/>
                  </a:lnTo>
                  <a:lnTo>
                    <a:pt x="323" y="95"/>
                  </a:lnTo>
                  <a:lnTo>
                    <a:pt x="324" y="100"/>
                  </a:lnTo>
                  <a:lnTo>
                    <a:pt x="326" y="105"/>
                  </a:lnTo>
                  <a:lnTo>
                    <a:pt x="329" y="110"/>
                  </a:lnTo>
                  <a:lnTo>
                    <a:pt x="330" y="115"/>
                  </a:lnTo>
                  <a:lnTo>
                    <a:pt x="330" y="120"/>
                  </a:lnTo>
                  <a:lnTo>
                    <a:pt x="333" y="125"/>
                  </a:lnTo>
                  <a:lnTo>
                    <a:pt x="335" y="131"/>
                  </a:lnTo>
                  <a:lnTo>
                    <a:pt x="336" y="135"/>
                  </a:lnTo>
                  <a:lnTo>
                    <a:pt x="340" y="140"/>
                  </a:lnTo>
                  <a:lnTo>
                    <a:pt x="342" y="146"/>
                  </a:lnTo>
                  <a:lnTo>
                    <a:pt x="343" y="150"/>
                  </a:lnTo>
                  <a:lnTo>
                    <a:pt x="345" y="155"/>
                  </a:lnTo>
                  <a:lnTo>
                    <a:pt x="346" y="161"/>
                  </a:lnTo>
                  <a:lnTo>
                    <a:pt x="348" y="166"/>
                  </a:lnTo>
                  <a:lnTo>
                    <a:pt x="349" y="170"/>
                  </a:lnTo>
                  <a:lnTo>
                    <a:pt x="351" y="176"/>
                  </a:lnTo>
                  <a:lnTo>
                    <a:pt x="355" y="181"/>
                  </a:lnTo>
                  <a:lnTo>
                    <a:pt x="357" y="185"/>
                  </a:lnTo>
                  <a:lnTo>
                    <a:pt x="359" y="191"/>
                  </a:lnTo>
                  <a:lnTo>
                    <a:pt x="360" y="196"/>
                  </a:lnTo>
                  <a:lnTo>
                    <a:pt x="362" y="201"/>
                  </a:lnTo>
                  <a:lnTo>
                    <a:pt x="363" y="206"/>
                  </a:lnTo>
                  <a:lnTo>
                    <a:pt x="363" y="211"/>
                  </a:lnTo>
                  <a:lnTo>
                    <a:pt x="365" y="216"/>
                  </a:lnTo>
                  <a:lnTo>
                    <a:pt x="366" y="221"/>
                  </a:lnTo>
                  <a:lnTo>
                    <a:pt x="368" y="226"/>
                  </a:lnTo>
                  <a:lnTo>
                    <a:pt x="369" y="231"/>
                  </a:lnTo>
                  <a:lnTo>
                    <a:pt x="369" y="236"/>
                  </a:lnTo>
                  <a:lnTo>
                    <a:pt x="372" y="241"/>
                  </a:lnTo>
                  <a:lnTo>
                    <a:pt x="374" y="246"/>
                  </a:lnTo>
                  <a:lnTo>
                    <a:pt x="375" y="251"/>
                  </a:lnTo>
                  <a:lnTo>
                    <a:pt x="378" y="256"/>
                  </a:lnTo>
                  <a:lnTo>
                    <a:pt x="381" y="261"/>
                  </a:lnTo>
                  <a:lnTo>
                    <a:pt x="382" y="266"/>
                  </a:lnTo>
                  <a:lnTo>
                    <a:pt x="385" y="272"/>
                  </a:lnTo>
                  <a:lnTo>
                    <a:pt x="387" y="276"/>
                  </a:lnTo>
                  <a:lnTo>
                    <a:pt x="388" y="281"/>
                  </a:lnTo>
                  <a:lnTo>
                    <a:pt x="390" y="287"/>
                  </a:lnTo>
                  <a:lnTo>
                    <a:pt x="393" y="291"/>
                  </a:lnTo>
                  <a:lnTo>
                    <a:pt x="394" y="296"/>
                  </a:lnTo>
                  <a:lnTo>
                    <a:pt x="398" y="302"/>
                  </a:lnTo>
                  <a:lnTo>
                    <a:pt x="401" y="307"/>
                  </a:lnTo>
                  <a:lnTo>
                    <a:pt x="402" y="311"/>
                  </a:lnTo>
                  <a:lnTo>
                    <a:pt x="405" y="317"/>
                  </a:lnTo>
                  <a:lnTo>
                    <a:pt x="407" y="322"/>
                  </a:lnTo>
                  <a:lnTo>
                    <a:pt x="408" y="326"/>
                  </a:lnTo>
                  <a:lnTo>
                    <a:pt x="411" y="332"/>
                  </a:lnTo>
                  <a:lnTo>
                    <a:pt x="413" y="337"/>
                  </a:lnTo>
                  <a:lnTo>
                    <a:pt x="417" y="342"/>
                  </a:lnTo>
                  <a:lnTo>
                    <a:pt x="421" y="345"/>
                  </a:lnTo>
                  <a:lnTo>
                    <a:pt x="423" y="350"/>
                  </a:lnTo>
                  <a:lnTo>
                    <a:pt x="427" y="355"/>
                  </a:lnTo>
                  <a:lnTo>
                    <a:pt x="430" y="360"/>
                  </a:lnTo>
                  <a:lnTo>
                    <a:pt x="433" y="365"/>
                  </a:lnTo>
                  <a:lnTo>
                    <a:pt x="437" y="371"/>
                  </a:lnTo>
                  <a:lnTo>
                    <a:pt x="441" y="375"/>
                  </a:lnTo>
                  <a:lnTo>
                    <a:pt x="446" y="380"/>
                  </a:lnTo>
                  <a:lnTo>
                    <a:pt x="450" y="382"/>
                  </a:lnTo>
                  <a:lnTo>
                    <a:pt x="456" y="383"/>
                  </a:lnTo>
                  <a:lnTo>
                    <a:pt x="460" y="389"/>
                  </a:lnTo>
                  <a:lnTo>
                    <a:pt x="465" y="392"/>
                  </a:lnTo>
                  <a:lnTo>
                    <a:pt x="468" y="397"/>
                  </a:lnTo>
                  <a:lnTo>
                    <a:pt x="472" y="399"/>
                  </a:lnTo>
                  <a:lnTo>
                    <a:pt x="477" y="401"/>
                  </a:lnTo>
                  <a:lnTo>
                    <a:pt x="482" y="402"/>
                  </a:lnTo>
                  <a:lnTo>
                    <a:pt x="486" y="404"/>
                  </a:lnTo>
                  <a:lnTo>
                    <a:pt x="491" y="407"/>
                  </a:lnTo>
                  <a:lnTo>
                    <a:pt x="496" y="409"/>
                  </a:lnTo>
                  <a:lnTo>
                    <a:pt x="501" y="410"/>
                  </a:lnTo>
                  <a:lnTo>
                    <a:pt x="505" y="413"/>
                  </a:lnTo>
                  <a:lnTo>
                    <a:pt x="510" y="413"/>
                  </a:lnTo>
                  <a:lnTo>
                    <a:pt x="515" y="413"/>
                  </a:lnTo>
                  <a:lnTo>
                    <a:pt x="519" y="414"/>
                  </a:lnTo>
                  <a:lnTo>
                    <a:pt x="523" y="413"/>
                  </a:lnTo>
                </a:path>
              </a:pathLst>
            </a:custGeom>
            <a:noFill/>
            <a:ln w="12700" cap="rnd">
              <a:solidFill>
                <a:schemeClr val="tx1"/>
              </a:solidFill>
              <a:round/>
              <a:headEnd type="none" w="sm" len="sm"/>
              <a:tailEnd type="none" w="sm" len="sm"/>
            </a:ln>
          </p:spPr>
          <p:txBody>
            <a:bodyPr/>
            <a:lstStyle/>
            <a:p>
              <a:endParaRPr lang="ko-KR" altLang="en-US" dirty="0"/>
            </a:p>
          </p:txBody>
        </p:sp>
        <p:sp>
          <p:nvSpPr>
            <p:cNvPr id="77" name="Line 68"/>
            <p:cNvSpPr>
              <a:spLocks noChangeShapeType="1"/>
            </p:cNvSpPr>
            <p:nvPr/>
          </p:nvSpPr>
          <p:spPr bwMode="auto">
            <a:xfrm>
              <a:off x="1586" y="1504"/>
              <a:ext cx="0" cy="467"/>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8" name="Line 69"/>
            <p:cNvSpPr>
              <a:spLocks noChangeShapeType="1"/>
            </p:cNvSpPr>
            <p:nvPr/>
          </p:nvSpPr>
          <p:spPr bwMode="auto">
            <a:xfrm>
              <a:off x="1011" y="1983"/>
              <a:ext cx="118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79" name="Freeform 70"/>
            <p:cNvSpPr>
              <a:spLocks/>
            </p:cNvSpPr>
            <p:nvPr/>
          </p:nvSpPr>
          <p:spPr bwMode="auto">
            <a:xfrm>
              <a:off x="1841" y="1941"/>
              <a:ext cx="256" cy="28"/>
            </a:xfrm>
            <a:custGeom>
              <a:avLst/>
              <a:gdLst>
                <a:gd name="T0" fmla="*/ 0 w 256"/>
                <a:gd name="T1" fmla="*/ 0 h 28"/>
                <a:gd name="T2" fmla="*/ 0 w 256"/>
                <a:gd name="T3" fmla="*/ 0 h 28"/>
                <a:gd name="T4" fmla="*/ 0 w 256"/>
                <a:gd name="T5" fmla="*/ 3 h 28"/>
                <a:gd name="T6" fmla="*/ 5 w 256"/>
                <a:gd name="T7" fmla="*/ 6 h 28"/>
                <a:gd name="T8" fmla="*/ 8 w 256"/>
                <a:gd name="T9" fmla="*/ 9 h 28"/>
                <a:gd name="T10" fmla="*/ 12 w 256"/>
                <a:gd name="T11" fmla="*/ 9 h 28"/>
                <a:gd name="T12" fmla="*/ 16 w 256"/>
                <a:gd name="T13" fmla="*/ 12 h 28"/>
                <a:gd name="T14" fmla="*/ 22 w 256"/>
                <a:gd name="T15" fmla="*/ 13 h 28"/>
                <a:gd name="T16" fmla="*/ 27 w 256"/>
                <a:gd name="T17" fmla="*/ 13 h 28"/>
                <a:gd name="T18" fmla="*/ 32 w 256"/>
                <a:gd name="T19" fmla="*/ 15 h 28"/>
                <a:gd name="T20" fmla="*/ 38 w 256"/>
                <a:gd name="T21" fmla="*/ 15 h 28"/>
                <a:gd name="T22" fmla="*/ 42 w 256"/>
                <a:gd name="T23" fmla="*/ 15 h 28"/>
                <a:gd name="T24" fmla="*/ 46 w 256"/>
                <a:gd name="T25" fmla="*/ 17 h 28"/>
                <a:gd name="T26" fmla="*/ 51 w 256"/>
                <a:gd name="T27" fmla="*/ 17 h 28"/>
                <a:gd name="T28" fmla="*/ 55 w 256"/>
                <a:gd name="T29" fmla="*/ 18 h 28"/>
                <a:gd name="T30" fmla="*/ 61 w 256"/>
                <a:gd name="T31" fmla="*/ 18 h 28"/>
                <a:gd name="T32" fmla="*/ 66 w 256"/>
                <a:gd name="T33" fmla="*/ 18 h 28"/>
                <a:gd name="T34" fmla="*/ 71 w 256"/>
                <a:gd name="T35" fmla="*/ 19 h 28"/>
                <a:gd name="T36" fmla="*/ 77 w 256"/>
                <a:gd name="T37" fmla="*/ 19 h 28"/>
                <a:gd name="T38" fmla="*/ 83 w 256"/>
                <a:gd name="T39" fmla="*/ 21 h 28"/>
                <a:gd name="T40" fmla="*/ 88 w 256"/>
                <a:gd name="T41" fmla="*/ 22 h 28"/>
                <a:gd name="T42" fmla="*/ 94 w 256"/>
                <a:gd name="T43" fmla="*/ 22 h 28"/>
                <a:gd name="T44" fmla="*/ 99 w 256"/>
                <a:gd name="T45" fmla="*/ 22 h 28"/>
                <a:gd name="T46" fmla="*/ 105 w 256"/>
                <a:gd name="T47" fmla="*/ 22 h 28"/>
                <a:gd name="T48" fmla="*/ 110 w 256"/>
                <a:gd name="T49" fmla="*/ 22 h 28"/>
                <a:gd name="T50" fmla="*/ 116 w 256"/>
                <a:gd name="T51" fmla="*/ 22 h 28"/>
                <a:gd name="T52" fmla="*/ 121 w 256"/>
                <a:gd name="T53" fmla="*/ 22 h 28"/>
                <a:gd name="T54" fmla="*/ 127 w 256"/>
                <a:gd name="T55" fmla="*/ 22 h 28"/>
                <a:gd name="T56" fmla="*/ 133 w 256"/>
                <a:gd name="T57" fmla="*/ 22 h 28"/>
                <a:gd name="T58" fmla="*/ 138 w 256"/>
                <a:gd name="T59" fmla="*/ 22 h 28"/>
                <a:gd name="T60" fmla="*/ 144 w 256"/>
                <a:gd name="T61" fmla="*/ 22 h 28"/>
                <a:gd name="T62" fmla="*/ 148 w 256"/>
                <a:gd name="T63" fmla="*/ 23 h 28"/>
                <a:gd name="T64" fmla="*/ 151 w 256"/>
                <a:gd name="T65" fmla="*/ 24 h 28"/>
                <a:gd name="T66" fmla="*/ 155 w 256"/>
                <a:gd name="T67" fmla="*/ 24 h 28"/>
                <a:gd name="T68" fmla="*/ 160 w 256"/>
                <a:gd name="T69" fmla="*/ 24 h 28"/>
                <a:gd name="T70" fmla="*/ 166 w 256"/>
                <a:gd name="T71" fmla="*/ 24 h 28"/>
                <a:gd name="T72" fmla="*/ 171 w 256"/>
                <a:gd name="T73" fmla="*/ 24 h 28"/>
                <a:gd name="T74" fmla="*/ 177 w 256"/>
                <a:gd name="T75" fmla="*/ 24 h 28"/>
                <a:gd name="T76" fmla="*/ 183 w 256"/>
                <a:gd name="T77" fmla="*/ 24 h 28"/>
                <a:gd name="T78" fmla="*/ 186 w 256"/>
                <a:gd name="T79" fmla="*/ 25 h 28"/>
                <a:gd name="T80" fmla="*/ 191 w 256"/>
                <a:gd name="T81" fmla="*/ 25 h 28"/>
                <a:gd name="T82" fmla="*/ 195 w 256"/>
                <a:gd name="T83" fmla="*/ 27 h 28"/>
                <a:gd name="T84" fmla="*/ 199 w 256"/>
                <a:gd name="T85" fmla="*/ 27 h 28"/>
                <a:gd name="T86" fmla="*/ 204 w 256"/>
                <a:gd name="T87" fmla="*/ 27 h 28"/>
                <a:gd name="T88" fmla="*/ 210 w 256"/>
                <a:gd name="T89" fmla="*/ 27 h 28"/>
                <a:gd name="T90" fmla="*/ 216 w 256"/>
                <a:gd name="T91" fmla="*/ 27 h 28"/>
                <a:gd name="T92" fmla="*/ 222 w 256"/>
                <a:gd name="T93" fmla="*/ 27 h 28"/>
                <a:gd name="T94" fmla="*/ 225 w 256"/>
                <a:gd name="T95" fmla="*/ 27 h 28"/>
                <a:gd name="T96" fmla="*/ 230 w 256"/>
                <a:gd name="T97" fmla="*/ 27 h 28"/>
                <a:gd name="T98" fmla="*/ 234 w 256"/>
                <a:gd name="T99" fmla="*/ 27 h 28"/>
                <a:gd name="T100" fmla="*/ 240 w 256"/>
                <a:gd name="T101" fmla="*/ 27 h 28"/>
                <a:gd name="T102" fmla="*/ 243 w 256"/>
                <a:gd name="T103" fmla="*/ 27 h 28"/>
                <a:gd name="T104" fmla="*/ 249 w 256"/>
                <a:gd name="T105" fmla="*/ 27 h 28"/>
                <a:gd name="T106" fmla="*/ 255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0" y="0"/>
                  </a:moveTo>
                  <a:lnTo>
                    <a:pt x="0" y="0"/>
                  </a:lnTo>
                  <a:lnTo>
                    <a:pt x="0" y="3"/>
                  </a:lnTo>
                  <a:lnTo>
                    <a:pt x="5" y="6"/>
                  </a:lnTo>
                  <a:lnTo>
                    <a:pt x="8" y="9"/>
                  </a:lnTo>
                  <a:lnTo>
                    <a:pt x="12" y="9"/>
                  </a:lnTo>
                  <a:lnTo>
                    <a:pt x="16" y="12"/>
                  </a:lnTo>
                  <a:lnTo>
                    <a:pt x="22" y="13"/>
                  </a:lnTo>
                  <a:lnTo>
                    <a:pt x="27" y="13"/>
                  </a:lnTo>
                  <a:lnTo>
                    <a:pt x="32" y="15"/>
                  </a:lnTo>
                  <a:lnTo>
                    <a:pt x="38" y="15"/>
                  </a:lnTo>
                  <a:lnTo>
                    <a:pt x="42" y="15"/>
                  </a:lnTo>
                  <a:lnTo>
                    <a:pt x="46" y="17"/>
                  </a:lnTo>
                  <a:lnTo>
                    <a:pt x="51" y="17"/>
                  </a:lnTo>
                  <a:lnTo>
                    <a:pt x="55" y="18"/>
                  </a:lnTo>
                  <a:lnTo>
                    <a:pt x="61" y="18"/>
                  </a:lnTo>
                  <a:lnTo>
                    <a:pt x="66" y="18"/>
                  </a:lnTo>
                  <a:lnTo>
                    <a:pt x="71" y="19"/>
                  </a:lnTo>
                  <a:lnTo>
                    <a:pt x="77" y="19"/>
                  </a:lnTo>
                  <a:lnTo>
                    <a:pt x="83" y="21"/>
                  </a:lnTo>
                  <a:lnTo>
                    <a:pt x="88" y="22"/>
                  </a:lnTo>
                  <a:lnTo>
                    <a:pt x="94" y="22"/>
                  </a:lnTo>
                  <a:lnTo>
                    <a:pt x="99" y="22"/>
                  </a:lnTo>
                  <a:lnTo>
                    <a:pt x="105" y="22"/>
                  </a:lnTo>
                  <a:lnTo>
                    <a:pt x="110" y="22"/>
                  </a:lnTo>
                  <a:lnTo>
                    <a:pt x="116" y="22"/>
                  </a:lnTo>
                  <a:lnTo>
                    <a:pt x="121" y="22"/>
                  </a:lnTo>
                  <a:lnTo>
                    <a:pt x="127" y="22"/>
                  </a:lnTo>
                  <a:lnTo>
                    <a:pt x="133" y="22"/>
                  </a:lnTo>
                  <a:lnTo>
                    <a:pt x="138" y="22"/>
                  </a:lnTo>
                  <a:lnTo>
                    <a:pt x="144" y="22"/>
                  </a:lnTo>
                  <a:lnTo>
                    <a:pt x="148" y="23"/>
                  </a:lnTo>
                  <a:lnTo>
                    <a:pt x="151" y="24"/>
                  </a:lnTo>
                  <a:lnTo>
                    <a:pt x="155" y="24"/>
                  </a:lnTo>
                  <a:lnTo>
                    <a:pt x="160" y="24"/>
                  </a:lnTo>
                  <a:lnTo>
                    <a:pt x="166" y="24"/>
                  </a:lnTo>
                  <a:lnTo>
                    <a:pt x="171" y="24"/>
                  </a:lnTo>
                  <a:lnTo>
                    <a:pt x="177" y="24"/>
                  </a:lnTo>
                  <a:lnTo>
                    <a:pt x="183" y="24"/>
                  </a:lnTo>
                  <a:lnTo>
                    <a:pt x="186" y="25"/>
                  </a:lnTo>
                  <a:lnTo>
                    <a:pt x="191" y="25"/>
                  </a:lnTo>
                  <a:lnTo>
                    <a:pt x="195" y="27"/>
                  </a:lnTo>
                  <a:lnTo>
                    <a:pt x="199" y="27"/>
                  </a:lnTo>
                  <a:lnTo>
                    <a:pt x="204" y="27"/>
                  </a:lnTo>
                  <a:lnTo>
                    <a:pt x="210" y="27"/>
                  </a:lnTo>
                  <a:lnTo>
                    <a:pt x="216" y="27"/>
                  </a:lnTo>
                  <a:lnTo>
                    <a:pt x="222" y="27"/>
                  </a:lnTo>
                  <a:lnTo>
                    <a:pt x="225" y="27"/>
                  </a:lnTo>
                  <a:lnTo>
                    <a:pt x="230" y="27"/>
                  </a:lnTo>
                  <a:lnTo>
                    <a:pt x="234" y="27"/>
                  </a:lnTo>
                  <a:lnTo>
                    <a:pt x="240" y="27"/>
                  </a:lnTo>
                  <a:lnTo>
                    <a:pt x="243" y="27"/>
                  </a:lnTo>
                  <a:lnTo>
                    <a:pt x="249" y="27"/>
                  </a:lnTo>
                  <a:lnTo>
                    <a:pt x="255" y="27"/>
                  </a:lnTo>
                </a:path>
              </a:pathLst>
            </a:custGeom>
            <a:noFill/>
            <a:ln w="12700" cap="rnd">
              <a:solidFill>
                <a:schemeClr val="tx1"/>
              </a:solidFill>
              <a:round/>
              <a:headEnd type="none" w="sm" len="sm"/>
              <a:tailEnd type="none" w="sm" len="sm"/>
            </a:ln>
          </p:spPr>
          <p:txBody>
            <a:bodyPr/>
            <a:lstStyle/>
            <a:p>
              <a:endParaRPr lang="ko-KR" altLang="en-US" dirty="0"/>
            </a:p>
          </p:txBody>
        </p:sp>
        <p:sp>
          <p:nvSpPr>
            <p:cNvPr id="80" name="Freeform 71"/>
            <p:cNvSpPr>
              <a:spLocks/>
            </p:cNvSpPr>
            <p:nvPr/>
          </p:nvSpPr>
          <p:spPr bwMode="auto">
            <a:xfrm>
              <a:off x="1065" y="1941"/>
              <a:ext cx="256" cy="28"/>
            </a:xfrm>
            <a:custGeom>
              <a:avLst/>
              <a:gdLst>
                <a:gd name="T0" fmla="*/ 255 w 256"/>
                <a:gd name="T1" fmla="*/ 0 h 28"/>
                <a:gd name="T2" fmla="*/ 255 w 256"/>
                <a:gd name="T3" fmla="*/ 0 h 28"/>
                <a:gd name="T4" fmla="*/ 255 w 256"/>
                <a:gd name="T5" fmla="*/ 3 h 28"/>
                <a:gd name="T6" fmla="*/ 249 w 256"/>
                <a:gd name="T7" fmla="*/ 6 h 28"/>
                <a:gd name="T8" fmla="*/ 246 w 256"/>
                <a:gd name="T9" fmla="*/ 9 h 28"/>
                <a:gd name="T10" fmla="*/ 242 w 256"/>
                <a:gd name="T11" fmla="*/ 9 h 28"/>
                <a:gd name="T12" fmla="*/ 238 w 256"/>
                <a:gd name="T13" fmla="*/ 12 h 28"/>
                <a:gd name="T14" fmla="*/ 232 w 256"/>
                <a:gd name="T15" fmla="*/ 13 h 28"/>
                <a:gd name="T16" fmla="*/ 227 w 256"/>
                <a:gd name="T17" fmla="*/ 13 h 28"/>
                <a:gd name="T18" fmla="*/ 222 w 256"/>
                <a:gd name="T19" fmla="*/ 15 h 28"/>
                <a:gd name="T20" fmla="*/ 216 w 256"/>
                <a:gd name="T21" fmla="*/ 15 h 28"/>
                <a:gd name="T22" fmla="*/ 213 w 256"/>
                <a:gd name="T23" fmla="*/ 15 h 28"/>
                <a:gd name="T24" fmla="*/ 208 w 256"/>
                <a:gd name="T25" fmla="*/ 17 h 28"/>
                <a:gd name="T26" fmla="*/ 204 w 256"/>
                <a:gd name="T27" fmla="*/ 17 h 28"/>
                <a:gd name="T28" fmla="*/ 199 w 256"/>
                <a:gd name="T29" fmla="*/ 18 h 28"/>
                <a:gd name="T30" fmla="*/ 194 w 256"/>
                <a:gd name="T31" fmla="*/ 18 h 28"/>
                <a:gd name="T32" fmla="*/ 188 w 256"/>
                <a:gd name="T33" fmla="*/ 18 h 28"/>
                <a:gd name="T34" fmla="*/ 183 w 256"/>
                <a:gd name="T35" fmla="*/ 19 h 28"/>
                <a:gd name="T36" fmla="*/ 177 w 256"/>
                <a:gd name="T37" fmla="*/ 19 h 28"/>
                <a:gd name="T38" fmla="*/ 171 w 256"/>
                <a:gd name="T39" fmla="*/ 21 h 28"/>
                <a:gd name="T40" fmla="*/ 166 w 256"/>
                <a:gd name="T41" fmla="*/ 22 h 28"/>
                <a:gd name="T42" fmla="*/ 160 w 256"/>
                <a:gd name="T43" fmla="*/ 22 h 28"/>
                <a:gd name="T44" fmla="*/ 155 w 256"/>
                <a:gd name="T45" fmla="*/ 22 h 28"/>
                <a:gd name="T46" fmla="*/ 150 w 256"/>
                <a:gd name="T47" fmla="*/ 22 h 28"/>
                <a:gd name="T48" fmla="*/ 144 w 256"/>
                <a:gd name="T49" fmla="*/ 22 h 28"/>
                <a:gd name="T50" fmla="*/ 138 w 256"/>
                <a:gd name="T51" fmla="*/ 22 h 28"/>
                <a:gd name="T52" fmla="*/ 132 w 256"/>
                <a:gd name="T53" fmla="*/ 22 h 28"/>
                <a:gd name="T54" fmla="*/ 127 w 256"/>
                <a:gd name="T55" fmla="*/ 22 h 28"/>
                <a:gd name="T56" fmla="*/ 122 w 256"/>
                <a:gd name="T57" fmla="*/ 22 h 28"/>
                <a:gd name="T58" fmla="*/ 116 w 256"/>
                <a:gd name="T59" fmla="*/ 22 h 28"/>
                <a:gd name="T60" fmla="*/ 111 w 256"/>
                <a:gd name="T61" fmla="*/ 22 h 28"/>
                <a:gd name="T62" fmla="*/ 106 w 256"/>
                <a:gd name="T63" fmla="*/ 23 h 28"/>
                <a:gd name="T64" fmla="*/ 103 w 256"/>
                <a:gd name="T65" fmla="*/ 24 h 28"/>
                <a:gd name="T66" fmla="*/ 99 w 256"/>
                <a:gd name="T67" fmla="*/ 24 h 28"/>
                <a:gd name="T68" fmla="*/ 95 w 256"/>
                <a:gd name="T69" fmla="*/ 24 h 28"/>
                <a:gd name="T70" fmla="*/ 88 w 256"/>
                <a:gd name="T71" fmla="*/ 24 h 28"/>
                <a:gd name="T72" fmla="*/ 83 w 256"/>
                <a:gd name="T73" fmla="*/ 24 h 28"/>
                <a:gd name="T74" fmla="*/ 77 w 256"/>
                <a:gd name="T75" fmla="*/ 24 h 28"/>
                <a:gd name="T76" fmla="*/ 72 w 256"/>
                <a:gd name="T77" fmla="*/ 24 h 28"/>
                <a:gd name="T78" fmla="*/ 68 w 256"/>
                <a:gd name="T79" fmla="*/ 25 h 28"/>
                <a:gd name="T80" fmla="*/ 63 w 256"/>
                <a:gd name="T81" fmla="*/ 25 h 28"/>
                <a:gd name="T82" fmla="*/ 59 w 256"/>
                <a:gd name="T83" fmla="*/ 27 h 28"/>
                <a:gd name="T84" fmla="*/ 55 w 256"/>
                <a:gd name="T85" fmla="*/ 27 h 28"/>
                <a:gd name="T86" fmla="*/ 50 w 256"/>
                <a:gd name="T87" fmla="*/ 27 h 28"/>
                <a:gd name="T88" fmla="*/ 44 w 256"/>
                <a:gd name="T89" fmla="*/ 27 h 28"/>
                <a:gd name="T90" fmla="*/ 39 w 256"/>
                <a:gd name="T91" fmla="*/ 27 h 28"/>
                <a:gd name="T92" fmla="*/ 33 w 256"/>
                <a:gd name="T93" fmla="*/ 27 h 28"/>
                <a:gd name="T94" fmla="*/ 29 w 256"/>
                <a:gd name="T95" fmla="*/ 27 h 28"/>
                <a:gd name="T96" fmla="*/ 24 w 256"/>
                <a:gd name="T97" fmla="*/ 27 h 28"/>
                <a:gd name="T98" fmla="*/ 21 w 256"/>
                <a:gd name="T99" fmla="*/ 27 h 28"/>
                <a:gd name="T100" fmla="*/ 15 w 256"/>
                <a:gd name="T101" fmla="*/ 27 h 28"/>
                <a:gd name="T102" fmla="*/ 11 w 256"/>
                <a:gd name="T103" fmla="*/ 27 h 28"/>
                <a:gd name="T104" fmla="*/ 5 w 256"/>
                <a:gd name="T105" fmla="*/ 27 h 28"/>
                <a:gd name="T106" fmla="*/ 0 w 256"/>
                <a:gd name="T107" fmla="*/ 27 h 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6"/>
                <a:gd name="T163" fmla="*/ 0 h 28"/>
                <a:gd name="T164" fmla="*/ 256 w 256"/>
                <a:gd name="T165" fmla="*/ 28 h 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6" h="28">
                  <a:moveTo>
                    <a:pt x="255" y="0"/>
                  </a:moveTo>
                  <a:lnTo>
                    <a:pt x="255" y="0"/>
                  </a:lnTo>
                  <a:lnTo>
                    <a:pt x="255" y="3"/>
                  </a:lnTo>
                  <a:lnTo>
                    <a:pt x="249" y="6"/>
                  </a:lnTo>
                  <a:lnTo>
                    <a:pt x="246" y="9"/>
                  </a:lnTo>
                  <a:lnTo>
                    <a:pt x="242" y="9"/>
                  </a:lnTo>
                  <a:lnTo>
                    <a:pt x="238" y="12"/>
                  </a:lnTo>
                  <a:lnTo>
                    <a:pt x="232" y="13"/>
                  </a:lnTo>
                  <a:lnTo>
                    <a:pt x="227" y="13"/>
                  </a:lnTo>
                  <a:lnTo>
                    <a:pt x="222" y="15"/>
                  </a:lnTo>
                  <a:lnTo>
                    <a:pt x="216" y="15"/>
                  </a:lnTo>
                  <a:lnTo>
                    <a:pt x="213" y="15"/>
                  </a:lnTo>
                  <a:lnTo>
                    <a:pt x="208" y="17"/>
                  </a:lnTo>
                  <a:lnTo>
                    <a:pt x="204" y="17"/>
                  </a:lnTo>
                  <a:lnTo>
                    <a:pt x="199" y="18"/>
                  </a:lnTo>
                  <a:lnTo>
                    <a:pt x="194" y="18"/>
                  </a:lnTo>
                  <a:lnTo>
                    <a:pt x="188" y="18"/>
                  </a:lnTo>
                  <a:lnTo>
                    <a:pt x="183" y="19"/>
                  </a:lnTo>
                  <a:lnTo>
                    <a:pt x="177" y="19"/>
                  </a:lnTo>
                  <a:lnTo>
                    <a:pt x="171" y="21"/>
                  </a:lnTo>
                  <a:lnTo>
                    <a:pt x="166" y="22"/>
                  </a:lnTo>
                  <a:lnTo>
                    <a:pt x="160" y="22"/>
                  </a:lnTo>
                  <a:lnTo>
                    <a:pt x="155" y="22"/>
                  </a:lnTo>
                  <a:lnTo>
                    <a:pt x="150" y="22"/>
                  </a:lnTo>
                  <a:lnTo>
                    <a:pt x="144" y="22"/>
                  </a:lnTo>
                  <a:lnTo>
                    <a:pt x="138" y="22"/>
                  </a:lnTo>
                  <a:lnTo>
                    <a:pt x="132" y="22"/>
                  </a:lnTo>
                  <a:lnTo>
                    <a:pt x="127" y="22"/>
                  </a:lnTo>
                  <a:lnTo>
                    <a:pt x="122" y="22"/>
                  </a:lnTo>
                  <a:lnTo>
                    <a:pt x="116" y="22"/>
                  </a:lnTo>
                  <a:lnTo>
                    <a:pt x="111" y="22"/>
                  </a:lnTo>
                  <a:lnTo>
                    <a:pt x="106" y="23"/>
                  </a:lnTo>
                  <a:lnTo>
                    <a:pt x="103" y="24"/>
                  </a:lnTo>
                  <a:lnTo>
                    <a:pt x="99" y="24"/>
                  </a:lnTo>
                  <a:lnTo>
                    <a:pt x="95" y="24"/>
                  </a:lnTo>
                  <a:lnTo>
                    <a:pt x="88" y="24"/>
                  </a:lnTo>
                  <a:lnTo>
                    <a:pt x="83" y="24"/>
                  </a:lnTo>
                  <a:lnTo>
                    <a:pt x="77" y="24"/>
                  </a:lnTo>
                  <a:lnTo>
                    <a:pt x="72" y="24"/>
                  </a:lnTo>
                  <a:lnTo>
                    <a:pt x="68" y="25"/>
                  </a:lnTo>
                  <a:lnTo>
                    <a:pt x="63" y="25"/>
                  </a:lnTo>
                  <a:lnTo>
                    <a:pt x="59" y="27"/>
                  </a:lnTo>
                  <a:lnTo>
                    <a:pt x="55" y="27"/>
                  </a:lnTo>
                  <a:lnTo>
                    <a:pt x="50" y="27"/>
                  </a:lnTo>
                  <a:lnTo>
                    <a:pt x="44" y="27"/>
                  </a:lnTo>
                  <a:lnTo>
                    <a:pt x="39" y="27"/>
                  </a:lnTo>
                  <a:lnTo>
                    <a:pt x="33" y="27"/>
                  </a:lnTo>
                  <a:lnTo>
                    <a:pt x="29" y="27"/>
                  </a:lnTo>
                  <a:lnTo>
                    <a:pt x="24" y="27"/>
                  </a:lnTo>
                  <a:lnTo>
                    <a:pt x="21" y="27"/>
                  </a:lnTo>
                  <a:lnTo>
                    <a:pt x="15" y="27"/>
                  </a:lnTo>
                  <a:lnTo>
                    <a:pt x="11" y="27"/>
                  </a:lnTo>
                  <a:lnTo>
                    <a:pt x="5" y="27"/>
                  </a:lnTo>
                  <a:lnTo>
                    <a:pt x="0" y="27"/>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81" name="Line 97"/>
          <p:cNvSpPr>
            <a:spLocks noChangeShapeType="1"/>
          </p:cNvSpPr>
          <p:nvPr/>
        </p:nvSpPr>
        <p:spPr bwMode="auto">
          <a:xfrm flipV="1">
            <a:off x="8298474"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82" name="Line 98"/>
          <p:cNvSpPr>
            <a:spLocks noChangeShapeType="1"/>
          </p:cNvSpPr>
          <p:nvPr/>
        </p:nvSpPr>
        <p:spPr bwMode="auto">
          <a:xfrm flipV="1">
            <a:off x="6557597" y="2777981"/>
            <a:ext cx="0" cy="280988"/>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83" name="Rectangle 101"/>
          <p:cNvSpPr>
            <a:spLocks noChangeArrowheads="1"/>
          </p:cNvSpPr>
          <p:nvPr/>
        </p:nvSpPr>
        <p:spPr bwMode="auto">
          <a:xfrm>
            <a:off x="6389077" y="3117706"/>
            <a:ext cx="315792"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LSL</a:t>
            </a:r>
          </a:p>
        </p:txBody>
      </p:sp>
      <p:sp>
        <p:nvSpPr>
          <p:cNvPr id="84" name="Rectangle 102"/>
          <p:cNvSpPr>
            <a:spLocks noChangeArrowheads="1"/>
          </p:cNvSpPr>
          <p:nvPr/>
        </p:nvSpPr>
        <p:spPr bwMode="auto">
          <a:xfrm>
            <a:off x="8129954" y="3117706"/>
            <a:ext cx="341440"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USL</a:t>
            </a:r>
          </a:p>
        </p:txBody>
      </p:sp>
      <p:sp>
        <p:nvSpPr>
          <p:cNvPr id="85" name="Rectangle 105"/>
          <p:cNvSpPr>
            <a:spLocks noChangeArrowheads="1"/>
          </p:cNvSpPr>
          <p:nvPr/>
        </p:nvSpPr>
        <p:spPr bwMode="auto">
          <a:xfrm>
            <a:off x="7338646" y="3117706"/>
            <a:ext cx="209994" cy="209032"/>
          </a:xfrm>
          <a:prstGeom prst="rect">
            <a:avLst/>
          </a:prstGeom>
          <a:noFill/>
          <a:ln w="9525">
            <a:noFill/>
            <a:miter lim="800000"/>
            <a:headEnd/>
            <a:tailEnd/>
          </a:ln>
        </p:spPr>
        <p:txBody>
          <a:bodyPr wrap="none" lIns="69850" tIns="34925" rIns="69850" bIns="34925">
            <a:spAutoFit/>
          </a:bodyPr>
          <a:lstStyle/>
          <a:p>
            <a:pPr algn="ctr" defTabSz="514350" eaLnBrk="0" latinLnBrk="0" hangingPunct="0"/>
            <a:r>
              <a:rPr lang="en-US" altLang="ko-KR" sz="900" dirty="0">
                <a:solidFill>
                  <a:srgbClr val="000000"/>
                </a:solidFill>
                <a:latin typeface="맑은 고딕" pitchFamily="50" charset="-127"/>
                <a:ea typeface="맑은 고딕" pitchFamily="50" charset="-127"/>
              </a:rPr>
              <a:t>X</a:t>
            </a:r>
          </a:p>
        </p:txBody>
      </p:sp>
      <p:sp>
        <p:nvSpPr>
          <p:cNvPr id="86" name="Line 107"/>
          <p:cNvSpPr>
            <a:spLocks noChangeShapeType="1"/>
          </p:cNvSpPr>
          <p:nvPr/>
        </p:nvSpPr>
        <p:spPr bwMode="auto">
          <a:xfrm>
            <a:off x="7382608" y="3128819"/>
            <a:ext cx="101112"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cxnSp>
        <p:nvCxnSpPr>
          <p:cNvPr id="87" name="직선 연결선 167"/>
          <p:cNvCxnSpPr>
            <a:cxnSpLocks noChangeShapeType="1"/>
          </p:cNvCxnSpPr>
          <p:nvPr/>
        </p:nvCxnSpPr>
        <p:spPr bwMode="auto">
          <a:xfrm rot="5400000">
            <a:off x="5985303" y="4803693"/>
            <a:ext cx="2916238" cy="1465"/>
          </a:xfrm>
          <a:prstGeom prst="line">
            <a:avLst/>
          </a:prstGeom>
          <a:noFill/>
          <a:ln w="12700" algn="ctr">
            <a:solidFill>
              <a:schemeClr val="tx1"/>
            </a:solidFill>
            <a:prstDash val="dash"/>
            <a:round/>
            <a:headEnd/>
            <a:tailEnd/>
          </a:ln>
        </p:spPr>
      </p:cxnSp>
      <p:grpSp>
        <p:nvGrpSpPr>
          <p:cNvPr id="88" name="Group 54"/>
          <p:cNvGrpSpPr>
            <a:grpSpLocks/>
          </p:cNvGrpSpPr>
          <p:nvPr/>
        </p:nvGrpSpPr>
        <p:grpSpPr bwMode="auto">
          <a:xfrm>
            <a:off x="7066085" y="5700569"/>
            <a:ext cx="781050" cy="431800"/>
            <a:chOff x="1731" y="2548"/>
            <a:chExt cx="825" cy="516"/>
          </a:xfrm>
        </p:grpSpPr>
        <p:sp>
          <p:nvSpPr>
            <p:cNvPr id="89"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90"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1"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2"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93"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cxnSp>
        <p:nvCxnSpPr>
          <p:cNvPr id="94" name="직선 연결선 180"/>
          <p:cNvCxnSpPr>
            <a:cxnSpLocks noChangeShapeType="1"/>
          </p:cNvCxnSpPr>
          <p:nvPr/>
        </p:nvCxnSpPr>
        <p:spPr bwMode="auto">
          <a:xfrm rot="10800000" flipV="1">
            <a:off x="7454413" y="4219431"/>
            <a:ext cx="213946" cy="1588"/>
          </a:xfrm>
          <a:prstGeom prst="line">
            <a:avLst/>
          </a:prstGeom>
          <a:noFill/>
          <a:ln w="12700" algn="ctr">
            <a:solidFill>
              <a:schemeClr val="tx1"/>
            </a:solidFill>
            <a:round/>
            <a:headEnd type="triangle" w="sm" len="sm"/>
            <a:tailEnd type="triangle" w="sm" len="sm"/>
          </a:ln>
        </p:spPr>
      </p:cxnSp>
      <p:sp>
        <p:nvSpPr>
          <p:cNvPr id="95" name="TextBox 181"/>
          <p:cNvSpPr txBox="1">
            <a:spLocks noChangeArrowheads="1"/>
          </p:cNvSpPr>
          <p:nvPr/>
        </p:nvSpPr>
        <p:spPr bwMode="auto">
          <a:xfrm>
            <a:off x="7388469" y="4006706"/>
            <a:ext cx="37061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st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sp>
        <p:nvSpPr>
          <p:cNvPr id="96" name="Line 29"/>
          <p:cNvSpPr>
            <a:spLocks noChangeShapeType="1"/>
          </p:cNvSpPr>
          <p:nvPr/>
        </p:nvSpPr>
        <p:spPr bwMode="auto">
          <a:xfrm>
            <a:off x="7445620" y="2165206"/>
            <a:ext cx="0" cy="89535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cxnSp>
        <p:nvCxnSpPr>
          <p:cNvPr id="97" name="직선 연결선 186"/>
          <p:cNvCxnSpPr>
            <a:cxnSpLocks noChangeShapeType="1"/>
          </p:cNvCxnSpPr>
          <p:nvPr/>
        </p:nvCxnSpPr>
        <p:spPr bwMode="auto">
          <a:xfrm rot="10800000" flipV="1">
            <a:off x="7454413" y="2990706"/>
            <a:ext cx="213946" cy="1588"/>
          </a:xfrm>
          <a:prstGeom prst="line">
            <a:avLst/>
          </a:prstGeom>
          <a:noFill/>
          <a:ln w="12700" algn="ctr">
            <a:solidFill>
              <a:schemeClr val="tx1"/>
            </a:solidFill>
            <a:round/>
            <a:headEnd type="triangle" w="sm" len="sm"/>
            <a:tailEnd type="triangle" w="sm" len="sm"/>
          </a:ln>
        </p:spPr>
      </p:cxnSp>
      <p:sp>
        <p:nvSpPr>
          <p:cNvPr id="98" name="TextBox 187"/>
          <p:cNvSpPr txBox="1">
            <a:spLocks noChangeArrowheads="1"/>
          </p:cNvSpPr>
          <p:nvPr/>
        </p:nvSpPr>
        <p:spPr bwMode="auto">
          <a:xfrm>
            <a:off x="7388469" y="2777982"/>
            <a:ext cx="370614" cy="246221"/>
          </a:xfrm>
          <a:prstGeom prst="rect">
            <a:avLst/>
          </a:prstGeom>
          <a:noFill/>
          <a:ln w="9525">
            <a:noFill/>
            <a:miter lim="800000"/>
            <a:headEnd/>
            <a:tailEnd/>
          </a:ln>
        </p:spPr>
        <p:txBody>
          <a:bodyPr wrap="none">
            <a:spAutoFit/>
          </a:bodyPr>
          <a:lstStyle/>
          <a:p>
            <a:r>
              <a:rPr lang="en-US" altLang="ko-KR" sz="1000" dirty="0">
                <a:solidFill>
                  <a:srgbClr val="000000"/>
                </a:solidFill>
                <a:latin typeface="맑은 고딕" pitchFamily="50" charset="-127"/>
                <a:ea typeface="맑은 고딕" pitchFamily="50" charset="-127"/>
              </a:rPr>
              <a:t>σ</a:t>
            </a:r>
            <a:r>
              <a:rPr lang="en-US" altLang="ko-KR" sz="1000" baseline="-25000" dirty="0">
                <a:solidFill>
                  <a:srgbClr val="000000"/>
                </a:solidFill>
                <a:latin typeface="맑은 고딕" pitchFamily="50" charset="-127"/>
                <a:ea typeface="맑은 고딕" pitchFamily="50" charset="-127"/>
              </a:rPr>
              <a:t>st</a:t>
            </a:r>
            <a:r>
              <a:rPr lang="en-US" altLang="ko-KR" sz="1000" dirty="0">
                <a:solidFill>
                  <a:srgbClr val="000000"/>
                </a:solidFill>
                <a:latin typeface="맑은 고딕" pitchFamily="50" charset="-127"/>
                <a:ea typeface="맑은 고딕" pitchFamily="50" charset="-127"/>
              </a:rPr>
              <a:t> </a:t>
            </a:r>
            <a:endParaRPr lang="ko-KR" altLang="en-US" sz="1000" dirty="0">
              <a:solidFill>
                <a:srgbClr val="000000"/>
              </a:solidFill>
              <a:latin typeface="맑은 고딕" pitchFamily="50" charset="-127"/>
              <a:ea typeface="맑은 고딕" pitchFamily="50" charset="-127"/>
            </a:endParaRPr>
          </a:p>
        </p:txBody>
      </p:sp>
      <p:sp>
        <p:nvSpPr>
          <p:cNvPr id="99" name="TextBox 98"/>
          <p:cNvSpPr txBox="1"/>
          <p:nvPr/>
        </p:nvSpPr>
        <p:spPr>
          <a:xfrm>
            <a:off x="2777340" y="1772817"/>
            <a:ext cx="2130959" cy="27699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200" b="1" kern="0" dirty="0" err="1">
                <a:solidFill>
                  <a:sysClr val="windowText" lastClr="000000"/>
                </a:solidFill>
                <a:latin typeface="맑은 고딕" pitchFamily="50" charset="-127"/>
                <a:ea typeface="맑은 고딕" pitchFamily="50" charset="-127"/>
              </a:rPr>
              <a:t>Năng</a:t>
            </a:r>
            <a:r>
              <a:rPr kumimoji="0" lang="en-US" altLang="ko-KR" sz="1200" b="1" kern="0" dirty="0">
                <a:solidFill>
                  <a:sysClr val="windowText" lastClr="000000"/>
                </a:solidFill>
                <a:latin typeface="맑은 고딕" pitchFamily="50" charset="-127"/>
                <a:ea typeface="맑은 고딕" pitchFamily="50" charset="-127"/>
              </a:rPr>
              <a:t> </a:t>
            </a:r>
            <a:r>
              <a:rPr kumimoji="0" lang="en-US" altLang="ko-KR" sz="1200" b="1" kern="0" dirty="0" err="1">
                <a:solidFill>
                  <a:sysClr val="windowText" lastClr="000000"/>
                </a:solidFill>
                <a:latin typeface="맑은 고딕" pitchFamily="50" charset="-127"/>
                <a:ea typeface="맑은 고딕" pitchFamily="50" charset="-127"/>
              </a:rPr>
              <a:t>lực</a:t>
            </a:r>
            <a:r>
              <a:rPr kumimoji="0" lang="en-US" altLang="ko-KR" sz="1200" b="1" kern="0" dirty="0">
                <a:solidFill>
                  <a:sysClr val="windowText" lastClr="000000"/>
                </a:solidFill>
                <a:latin typeface="맑은 고딕" pitchFamily="50" charset="-127"/>
                <a:ea typeface="맑은 고딕" pitchFamily="50" charset="-127"/>
              </a:rPr>
              <a:t> process </a:t>
            </a:r>
            <a:r>
              <a:rPr kumimoji="0" lang="en-US" altLang="ko-KR" sz="1200" b="1" kern="0" dirty="0" err="1">
                <a:solidFill>
                  <a:sysClr val="windowText" lastClr="000000"/>
                </a:solidFill>
                <a:latin typeface="맑은 고딕" pitchFamily="50" charset="-127"/>
                <a:ea typeface="맑은 고딕" pitchFamily="50" charset="-127"/>
              </a:rPr>
              <a:t>thời</a:t>
            </a:r>
            <a:r>
              <a:rPr kumimoji="0" lang="en-US" altLang="ko-KR" sz="1200" b="1" kern="0" dirty="0">
                <a:solidFill>
                  <a:sysClr val="windowText" lastClr="000000"/>
                </a:solidFill>
                <a:latin typeface="맑은 고딕" pitchFamily="50" charset="-127"/>
                <a:ea typeface="맑은 고딕" pitchFamily="50" charset="-127"/>
              </a:rPr>
              <a:t> </a:t>
            </a:r>
            <a:r>
              <a:rPr kumimoji="0" lang="en-US" altLang="ko-KR" sz="1200" b="1" kern="0" dirty="0" err="1">
                <a:solidFill>
                  <a:sysClr val="windowText" lastClr="000000"/>
                </a:solidFill>
                <a:latin typeface="맑은 고딕" pitchFamily="50" charset="-127"/>
                <a:ea typeface="맑은 고딕" pitchFamily="50" charset="-127"/>
              </a:rPr>
              <a:t>kì</a:t>
            </a:r>
            <a:r>
              <a:rPr kumimoji="0" lang="en-US" altLang="ko-KR" sz="1200" b="1" kern="0" dirty="0">
                <a:solidFill>
                  <a:sysClr val="windowText" lastClr="000000"/>
                </a:solidFill>
                <a:latin typeface="맑은 고딕" pitchFamily="50" charset="-127"/>
                <a:ea typeface="맑은 고딕" pitchFamily="50" charset="-127"/>
              </a:rPr>
              <a:t> </a:t>
            </a:r>
            <a:r>
              <a:rPr kumimoji="0" lang="en-US" altLang="ko-KR" sz="1200" b="1" kern="0" dirty="0" err="1">
                <a:solidFill>
                  <a:sysClr val="windowText" lastClr="000000"/>
                </a:solidFill>
                <a:latin typeface="맑은 고딕" pitchFamily="50" charset="-127"/>
                <a:ea typeface="맑은 고딕" pitchFamily="50" charset="-127"/>
              </a:rPr>
              <a:t>dài</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100" name="TextBox 99"/>
          <p:cNvSpPr txBox="1"/>
          <p:nvPr/>
        </p:nvSpPr>
        <p:spPr>
          <a:xfrm>
            <a:off x="4806375" y="1772817"/>
            <a:ext cx="2284847" cy="27699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200" b="1" kern="0" dirty="0" err="1">
                <a:solidFill>
                  <a:sysClr val="windowText" lastClr="000000"/>
                </a:solidFill>
                <a:latin typeface="맑은 고딕" pitchFamily="50" charset="-127"/>
                <a:ea typeface="맑은 고딕" pitchFamily="50" charset="-127"/>
              </a:rPr>
              <a:t>Năng</a:t>
            </a:r>
            <a:r>
              <a:rPr kumimoji="0" lang="en-US" altLang="ko-KR" sz="1200" b="1" kern="0" dirty="0">
                <a:solidFill>
                  <a:sysClr val="windowText" lastClr="000000"/>
                </a:solidFill>
                <a:latin typeface="맑은 고딕" pitchFamily="50" charset="-127"/>
                <a:ea typeface="맑은 고딕" pitchFamily="50" charset="-127"/>
              </a:rPr>
              <a:t> </a:t>
            </a:r>
            <a:r>
              <a:rPr kumimoji="0" lang="en-US" altLang="ko-KR" sz="1200" b="1" kern="0" dirty="0" err="1">
                <a:solidFill>
                  <a:sysClr val="windowText" lastClr="000000"/>
                </a:solidFill>
                <a:latin typeface="맑은 고딕" pitchFamily="50" charset="-127"/>
                <a:ea typeface="맑은 고딕" pitchFamily="50" charset="-127"/>
              </a:rPr>
              <a:t>lực</a:t>
            </a:r>
            <a:r>
              <a:rPr kumimoji="0" lang="en-US" altLang="ko-KR" sz="1200" b="1" kern="0" dirty="0">
                <a:solidFill>
                  <a:sysClr val="windowText" lastClr="000000"/>
                </a:solidFill>
                <a:latin typeface="맑은 고딕" pitchFamily="50" charset="-127"/>
                <a:ea typeface="맑은 고딕" pitchFamily="50" charset="-127"/>
              </a:rPr>
              <a:t> process </a:t>
            </a:r>
            <a:r>
              <a:rPr kumimoji="0" lang="en-US" altLang="ko-KR" sz="1200" b="1" kern="0" dirty="0" err="1">
                <a:solidFill>
                  <a:sysClr val="windowText" lastClr="000000"/>
                </a:solidFill>
                <a:latin typeface="맑은 고딕" pitchFamily="50" charset="-127"/>
                <a:ea typeface="맑은 고딕" pitchFamily="50" charset="-127"/>
              </a:rPr>
              <a:t>thời</a:t>
            </a:r>
            <a:r>
              <a:rPr kumimoji="0" lang="en-US" altLang="ko-KR" sz="1200" b="1" kern="0" dirty="0">
                <a:solidFill>
                  <a:sysClr val="windowText" lastClr="000000"/>
                </a:solidFill>
                <a:latin typeface="맑은 고딕" pitchFamily="50" charset="-127"/>
                <a:ea typeface="맑은 고딕" pitchFamily="50" charset="-127"/>
              </a:rPr>
              <a:t> </a:t>
            </a:r>
            <a:r>
              <a:rPr kumimoji="0" lang="en-US" altLang="ko-KR" sz="1200" b="1" kern="0" dirty="0" err="1">
                <a:solidFill>
                  <a:sysClr val="windowText" lastClr="000000"/>
                </a:solidFill>
                <a:latin typeface="맑은 고딕" pitchFamily="50" charset="-127"/>
                <a:ea typeface="맑은 고딕" pitchFamily="50" charset="-127"/>
              </a:rPr>
              <a:t>kì</a:t>
            </a:r>
            <a:r>
              <a:rPr kumimoji="0" lang="en-US" altLang="ko-KR" sz="1200" b="1" kern="0" dirty="0">
                <a:solidFill>
                  <a:sysClr val="windowText" lastClr="000000"/>
                </a:solidFill>
                <a:latin typeface="맑은 고딕" pitchFamily="50" charset="-127"/>
                <a:ea typeface="맑은 고딕" pitchFamily="50" charset="-127"/>
              </a:rPr>
              <a:t> </a:t>
            </a:r>
            <a:r>
              <a:rPr kumimoji="0" lang="en-US" altLang="ko-KR" sz="1200" b="1" kern="0" dirty="0" err="1">
                <a:solidFill>
                  <a:sysClr val="windowText" lastClr="000000"/>
                </a:solidFill>
                <a:latin typeface="맑은 고딕" pitchFamily="50" charset="-127"/>
                <a:ea typeface="맑은 고딕" pitchFamily="50" charset="-127"/>
              </a:rPr>
              <a:t>ngắn</a:t>
            </a:r>
            <a:endParaRPr kumimoji="0" lang="en-US" altLang="ko-KR" sz="1200" b="1" kern="0" dirty="0">
              <a:solidFill>
                <a:sysClr val="windowText" lastClr="000000"/>
              </a:solidFill>
              <a:latin typeface="맑은 고딕" pitchFamily="50" charset="-127"/>
              <a:ea typeface="맑은 고딕" pitchFamily="50" charset="-127"/>
            </a:endParaRPr>
          </a:p>
        </p:txBody>
      </p:sp>
      <p:sp>
        <p:nvSpPr>
          <p:cNvPr id="101" name="Rectangle 18"/>
          <p:cNvSpPr>
            <a:spLocks noChangeArrowheads="1"/>
          </p:cNvSpPr>
          <p:nvPr/>
        </p:nvSpPr>
        <p:spPr bwMode="auto">
          <a:xfrm>
            <a:off x="3033346" y="4019406"/>
            <a:ext cx="1524000" cy="809196"/>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Process </a:t>
            </a:r>
            <a:r>
              <a:rPr lang="en-US" altLang="ko-KR" sz="1200" b="1" dirty="0" err="1">
                <a:solidFill>
                  <a:srgbClr val="000000"/>
                </a:solidFill>
                <a:latin typeface="맑은 고딕" pitchFamily="50" charset="-127"/>
                <a:ea typeface="맑은 고딕" pitchFamily="50" charset="-127"/>
              </a:rPr>
              <a:t>thời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kì</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dài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phản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ánh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toàn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thể</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nhóm</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và</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trong</a:t>
            </a:r>
            <a:endParaRPr lang="en-US" altLang="ko-KR" sz="1200" b="1" dirty="0">
              <a:solidFill>
                <a:srgbClr val="000000"/>
              </a:solidFill>
              <a:latin typeface="맑은 고딕" pitchFamily="50" charset="-127"/>
              <a:ea typeface="맑은 고딕" pitchFamily="50" charset="-127"/>
            </a:endParaRPr>
          </a:p>
        </p:txBody>
      </p:sp>
      <p:grpSp>
        <p:nvGrpSpPr>
          <p:cNvPr id="102" name="그룹 223"/>
          <p:cNvGrpSpPr>
            <a:grpSpLocks/>
          </p:cNvGrpSpPr>
          <p:nvPr/>
        </p:nvGrpSpPr>
        <p:grpSpPr bwMode="auto">
          <a:xfrm>
            <a:off x="4944209" y="2217595"/>
            <a:ext cx="1402657" cy="509388"/>
            <a:chOff x="5436777" y="1695006"/>
            <a:chExt cx="1518659" cy="510202"/>
          </a:xfrm>
        </p:grpSpPr>
        <p:sp>
          <p:nvSpPr>
            <p:cNvPr id="103" name="TextBox 102"/>
            <p:cNvSpPr txBox="1"/>
            <p:nvPr/>
          </p:nvSpPr>
          <p:spPr>
            <a:xfrm>
              <a:off x="5436777" y="1804717"/>
              <a:ext cx="514345"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Z</a:t>
              </a:r>
              <a:r>
                <a:rPr kumimoji="0" lang="en-US" altLang="ko-KR" sz="1400" b="1" kern="0" baseline="-25000" dirty="0">
                  <a:solidFill>
                    <a:sysClr val="windowText" lastClr="000000"/>
                  </a:solidFill>
                  <a:latin typeface="맑은 고딕" pitchFamily="50" charset="-127"/>
                  <a:ea typeface="맑은 고딕" pitchFamily="50" charset="-127"/>
                </a:rPr>
                <a:t>st</a:t>
              </a:r>
              <a:r>
                <a:rPr kumimoji="0" lang="en-US" altLang="ko-KR" sz="1400" b="1" kern="0" dirty="0">
                  <a:solidFill>
                    <a:sysClr val="windowText" lastClr="000000"/>
                  </a:solidFill>
                  <a:latin typeface="맑은 고딕" pitchFamily="50" charset="-127"/>
                  <a:ea typeface="맑은 고딕" pitchFamily="50" charset="-127"/>
                </a:rPr>
                <a:t> =</a:t>
              </a:r>
            </a:p>
          </p:txBody>
        </p:sp>
        <p:cxnSp>
          <p:nvCxnSpPr>
            <p:cNvPr id="104" name="직선 연결선 203"/>
            <p:cNvCxnSpPr>
              <a:cxnSpLocks noChangeShapeType="1"/>
            </p:cNvCxnSpPr>
            <p:nvPr/>
          </p:nvCxnSpPr>
          <p:spPr bwMode="auto">
            <a:xfrm rot="10800000" flipV="1">
              <a:off x="5963130" y="1956529"/>
              <a:ext cx="849878" cy="4351"/>
            </a:xfrm>
            <a:prstGeom prst="line">
              <a:avLst/>
            </a:prstGeom>
            <a:noFill/>
            <a:ln w="12700" algn="ctr">
              <a:solidFill>
                <a:schemeClr val="tx1"/>
              </a:solidFill>
              <a:round/>
              <a:headEnd/>
              <a:tailEnd/>
            </a:ln>
          </p:spPr>
        </p:cxnSp>
        <p:sp>
          <p:nvSpPr>
            <p:cNvPr id="105" name="TextBox 104"/>
            <p:cNvSpPr txBox="1"/>
            <p:nvPr/>
          </p:nvSpPr>
          <p:spPr>
            <a:xfrm>
              <a:off x="6261795" y="1896939"/>
              <a:ext cx="352937"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l-GR" altLang="ko-KR" sz="1400" b="1" kern="0" dirty="0">
                  <a:solidFill>
                    <a:sysClr val="windowText" lastClr="000000"/>
                  </a:solidFill>
                  <a:latin typeface="맑은 고딕" pitchFamily="50" charset="-127"/>
                  <a:ea typeface="맑은 고딕" pitchFamily="50" charset="-127"/>
                </a:rPr>
                <a:t>σ</a:t>
              </a:r>
              <a:r>
                <a:rPr kumimoji="0" lang="en-US" altLang="ko-KR" sz="1400" b="1" kern="0" baseline="-25000" dirty="0">
                  <a:solidFill>
                    <a:sysClr val="windowText" lastClr="000000"/>
                  </a:solidFill>
                  <a:latin typeface="맑은 고딕" pitchFamily="50" charset="-127"/>
                  <a:ea typeface="맑은 고딕" pitchFamily="50" charset="-127"/>
                </a:rPr>
                <a:t>st </a:t>
              </a:r>
            </a:p>
          </p:txBody>
        </p:sp>
        <p:sp>
          <p:nvSpPr>
            <p:cNvPr id="106" name="TextBox 207"/>
            <p:cNvSpPr txBox="1">
              <a:spLocks noChangeArrowheads="1"/>
            </p:cNvSpPr>
            <p:nvPr/>
          </p:nvSpPr>
          <p:spPr bwMode="auto">
            <a:xfrm>
              <a:off x="5892084" y="1695006"/>
              <a:ext cx="1063352" cy="277442"/>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Target - SL</a:t>
              </a:r>
              <a:endParaRPr lang="ko-KR" altLang="en-US" sz="1200" b="1" dirty="0">
                <a:solidFill>
                  <a:srgbClr val="000000"/>
                </a:solidFill>
                <a:latin typeface="맑은 고딕" pitchFamily="50" charset="-127"/>
                <a:ea typeface="맑은 고딕" pitchFamily="50" charset="-127"/>
              </a:endParaRPr>
            </a:p>
          </p:txBody>
        </p:sp>
      </p:grpSp>
      <p:grpSp>
        <p:nvGrpSpPr>
          <p:cNvPr id="107" name="그룹 224"/>
          <p:cNvGrpSpPr>
            <a:grpSpLocks/>
          </p:cNvGrpSpPr>
          <p:nvPr/>
        </p:nvGrpSpPr>
        <p:grpSpPr bwMode="auto">
          <a:xfrm>
            <a:off x="3169628" y="2217595"/>
            <a:ext cx="1249973" cy="509388"/>
            <a:chOff x="3098822" y="1695006"/>
            <a:chExt cx="1354112" cy="510202"/>
          </a:xfrm>
        </p:grpSpPr>
        <p:sp>
          <p:nvSpPr>
            <p:cNvPr id="108" name="TextBox 107"/>
            <p:cNvSpPr txBox="1"/>
            <p:nvPr/>
          </p:nvSpPr>
          <p:spPr>
            <a:xfrm>
              <a:off x="3098822" y="1804717"/>
              <a:ext cx="490324"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Z</a:t>
              </a:r>
              <a:r>
                <a:rPr kumimoji="0" lang="en-US" altLang="ko-KR" sz="1400" b="1" kern="0" baseline="-25000" dirty="0">
                  <a:solidFill>
                    <a:sysClr val="windowText" lastClr="000000"/>
                  </a:solidFill>
                  <a:latin typeface="맑은 고딕" pitchFamily="50" charset="-127"/>
                  <a:ea typeface="맑은 고딕" pitchFamily="50" charset="-127"/>
                </a:rPr>
                <a:t>lt</a:t>
              </a:r>
              <a:r>
                <a:rPr kumimoji="0" lang="en-US" altLang="ko-KR" sz="1400" b="1" kern="0" dirty="0">
                  <a:solidFill>
                    <a:sysClr val="windowText" lastClr="000000"/>
                  </a:solidFill>
                  <a:latin typeface="맑은 고딕" pitchFamily="50" charset="-127"/>
                  <a:ea typeface="맑은 고딕" pitchFamily="50" charset="-127"/>
                </a:rPr>
                <a:t> =</a:t>
              </a:r>
            </a:p>
          </p:txBody>
        </p:sp>
        <p:cxnSp>
          <p:nvCxnSpPr>
            <p:cNvPr id="109" name="직선 연결선 196"/>
            <p:cNvCxnSpPr>
              <a:cxnSpLocks noChangeShapeType="1"/>
            </p:cNvCxnSpPr>
            <p:nvPr/>
          </p:nvCxnSpPr>
          <p:spPr bwMode="auto">
            <a:xfrm rot="10800000" flipV="1">
              <a:off x="3603056" y="1956529"/>
              <a:ext cx="849878" cy="4351"/>
            </a:xfrm>
            <a:prstGeom prst="line">
              <a:avLst/>
            </a:prstGeom>
            <a:noFill/>
            <a:ln w="12700" algn="ctr">
              <a:solidFill>
                <a:schemeClr val="tx1"/>
              </a:solidFill>
              <a:round/>
              <a:headEnd/>
              <a:tailEnd/>
            </a:ln>
          </p:spPr>
        </p:cxnSp>
        <p:sp>
          <p:nvSpPr>
            <p:cNvPr id="110" name="TextBox 109"/>
            <p:cNvSpPr txBox="1"/>
            <p:nvPr/>
          </p:nvSpPr>
          <p:spPr>
            <a:xfrm>
              <a:off x="3913194" y="1896939"/>
              <a:ext cx="328824" cy="308269"/>
            </a:xfrm>
            <a:prstGeom prst="rect">
              <a:avLst/>
            </a:prstGeom>
            <a:noFill/>
          </p:spPr>
          <p:txBody>
            <a:bodyPr wrap="none" lIns="36000" rIns="36000">
              <a:spAutoFit/>
            </a:bodyPr>
            <a:lstStyle/>
            <a:p>
              <a:pPr fontAlgn="auto" latinLnBrk="0">
                <a:spcBef>
                  <a:spcPts val="0"/>
                </a:spcBef>
                <a:spcAft>
                  <a:spcPts val="0"/>
                </a:spcAft>
                <a:buClr>
                  <a:srgbClr val="595959"/>
                </a:buClr>
                <a:defRPr/>
              </a:pPr>
              <a:r>
                <a:rPr kumimoji="0" lang="el-GR" altLang="ko-KR" sz="1400" b="1" kern="0" dirty="0">
                  <a:solidFill>
                    <a:sysClr val="windowText" lastClr="000000"/>
                  </a:solidFill>
                  <a:latin typeface="맑은 고딕" pitchFamily="50" charset="-127"/>
                  <a:ea typeface="맑은 고딕" pitchFamily="50" charset="-127"/>
                </a:rPr>
                <a:t>σ</a:t>
              </a:r>
              <a:r>
                <a:rPr kumimoji="0" lang="en-US" altLang="ko-KR" sz="1400" b="1" kern="0" baseline="-25000" dirty="0">
                  <a:solidFill>
                    <a:sysClr val="windowText" lastClr="000000"/>
                  </a:solidFill>
                  <a:latin typeface="맑은 고딕" pitchFamily="50" charset="-127"/>
                  <a:ea typeface="맑은 고딕" pitchFamily="50" charset="-127"/>
                </a:rPr>
                <a:t>lt </a:t>
              </a:r>
            </a:p>
          </p:txBody>
        </p:sp>
        <p:sp>
          <p:nvSpPr>
            <p:cNvPr id="111" name="TextBox 206"/>
            <p:cNvSpPr txBox="1">
              <a:spLocks noChangeArrowheads="1"/>
            </p:cNvSpPr>
            <p:nvPr/>
          </p:nvSpPr>
          <p:spPr bwMode="auto">
            <a:xfrm>
              <a:off x="3727733" y="1695006"/>
              <a:ext cx="675867" cy="277442"/>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X - SL</a:t>
              </a:r>
              <a:endParaRPr lang="ko-KR" altLang="en-US" sz="1200" b="1" dirty="0">
                <a:solidFill>
                  <a:srgbClr val="000000"/>
                </a:solidFill>
                <a:latin typeface="맑은 고딕" pitchFamily="50" charset="-127"/>
                <a:ea typeface="맑은 고딕" pitchFamily="50" charset="-127"/>
              </a:endParaRPr>
            </a:p>
          </p:txBody>
        </p:sp>
        <p:cxnSp>
          <p:nvCxnSpPr>
            <p:cNvPr id="112" name="직선 연결선 209"/>
            <p:cNvCxnSpPr>
              <a:cxnSpLocks noChangeShapeType="1"/>
            </p:cNvCxnSpPr>
            <p:nvPr/>
          </p:nvCxnSpPr>
          <p:spPr bwMode="auto">
            <a:xfrm>
              <a:off x="3807884" y="1755760"/>
              <a:ext cx="114300" cy="1588"/>
            </a:xfrm>
            <a:prstGeom prst="line">
              <a:avLst/>
            </a:prstGeom>
            <a:noFill/>
            <a:ln w="12700" algn="ctr">
              <a:solidFill>
                <a:schemeClr val="tx1"/>
              </a:solidFill>
              <a:round/>
              <a:headEnd/>
              <a:tailEnd/>
            </a:ln>
          </p:spPr>
        </p:cxnSp>
      </p:grpSp>
      <p:sp>
        <p:nvSpPr>
          <p:cNvPr id="113" name="TextBox 211"/>
          <p:cNvSpPr txBox="1">
            <a:spLocks noChangeArrowheads="1"/>
          </p:cNvSpPr>
          <p:nvPr/>
        </p:nvSpPr>
        <p:spPr bwMode="auto">
          <a:xfrm>
            <a:off x="7154008" y="6291120"/>
            <a:ext cx="643894"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Target</a:t>
            </a:r>
            <a:endParaRPr lang="ko-KR" altLang="en-US" sz="1200" b="1" dirty="0">
              <a:solidFill>
                <a:srgbClr val="000000"/>
              </a:solidFill>
              <a:latin typeface="맑은 고딕" pitchFamily="50" charset="-127"/>
              <a:ea typeface="맑은 고딕" pitchFamily="50" charset="-127"/>
            </a:endParaRPr>
          </a:p>
        </p:txBody>
      </p:sp>
      <p:sp>
        <p:nvSpPr>
          <p:cNvPr id="114" name="TextBox 212"/>
          <p:cNvSpPr txBox="1">
            <a:spLocks noChangeArrowheads="1"/>
          </p:cNvSpPr>
          <p:nvPr/>
        </p:nvSpPr>
        <p:spPr bwMode="auto">
          <a:xfrm>
            <a:off x="1698381" y="6106969"/>
            <a:ext cx="285656" cy="276999"/>
          </a:xfrm>
          <a:prstGeom prst="rect">
            <a:avLst/>
          </a:prstGeom>
          <a:noFill/>
          <a:ln w="9525">
            <a:noFill/>
            <a:miter lim="800000"/>
            <a:headEnd/>
            <a:tailEnd/>
          </a:ln>
        </p:spPr>
        <p:txBody>
          <a:bodyPr wrap="none">
            <a:spAutoFit/>
          </a:bodyPr>
          <a:lstStyle/>
          <a:p>
            <a:r>
              <a:rPr lang="en-US" altLang="ko-KR" sz="1200" b="1" dirty="0">
                <a:solidFill>
                  <a:srgbClr val="000000"/>
                </a:solidFill>
                <a:latin typeface="맑은 고딕" pitchFamily="50" charset="-127"/>
                <a:ea typeface="맑은 고딕" pitchFamily="50" charset="-127"/>
              </a:rPr>
              <a:t>X</a:t>
            </a:r>
            <a:endParaRPr lang="ko-KR" altLang="en-US" sz="1200" b="1" dirty="0">
              <a:solidFill>
                <a:srgbClr val="000000"/>
              </a:solidFill>
              <a:latin typeface="맑은 고딕" pitchFamily="50" charset="-127"/>
              <a:ea typeface="맑은 고딕" pitchFamily="50" charset="-127"/>
            </a:endParaRPr>
          </a:p>
        </p:txBody>
      </p:sp>
      <p:cxnSp>
        <p:nvCxnSpPr>
          <p:cNvPr id="115" name="직선 연결선 213"/>
          <p:cNvCxnSpPr>
            <a:cxnSpLocks noChangeShapeType="1"/>
          </p:cNvCxnSpPr>
          <p:nvPr/>
        </p:nvCxnSpPr>
        <p:spPr bwMode="auto">
          <a:xfrm>
            <a:off x="1781908" y="6148245"/>
            <a:ext cx="105508" cy="1587"/>
          </a:xfrm>
          <a:prstGeom prst="line">
            <a:avLst/>
          </a:prstGeom>
          <a:noFill/>
          <a:ln w="12700" algn="ctr">
            <a:solidFill>
              <a:schemeClr val="tx1"/>
            </a:solidFill>
            <a:round/>
            <a:headEnd/>
            <a:tailEnd/>
          </a:ln>
        </p:spPr>
      </p:cxnSp>
      <p:sp>
        <p:nvSpPr>
          <p:cNvPr id="116" name="Text Box 7"/>
          <p:cNvSpPr txBox="1">
            <a:spLocks noChangeArrowheads="1"/>
          </p:cNvSpPr>
          <p:nvPr/>
        </p:nvSpPr>
        <p:spPr bwMode="auto">
          <a:xfrm>
            <a:off x="4740046" y="3308206"/>
            <a:ext cx="1856598" cy="461665"/>
          </a:xfrm>
          <a:prstGeom prst="rect">
            <a:avLst/>
          </a:prstGeom>
          <a:noFill/>
          <a:ln w="9525" algn="ctr">
            <a:noFill/>
            <a:miter lim="800000"/>
            <a:headEnd/>
            <a:tailEnd/>
          </a:ln>
        </p:spPr>
        <p:txBody>
          <a:bodyPr wrap="none">
            <a:spAutoFit/>
          </a:bodyPr>
          <a:lstStyle/>
          <a:p>
            <a:pPr algn="ctr"/>
            <a:r>
              <a:rPr lang="en-US" altLang="ko-KR" sz="1200" b="1" dirty="0" err="1">
                <a:solidFill>
                  <a:srgbClr val="FF0066"/>
                </a:solidFill>
                <a:latin typeface="맑은 고딕" pitchFamily="50" charset="-127"/>
                <a:ea typeface="맑은 고딕" pitchFamily="50" charset="-127"/>
              </a:rPr>
              <a:t>Năng</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lực</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tốt</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nhất</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của</a:t>
            </a:r>
            <a:r>
              <a:rPr lang="en-US" altLang="ko-KR" sz="1200" b="1" dirty="0">
                <a:solidFill>
                  <a:srgbClr val="FF0066"/>
                </a:solidFill>
                <a:latin typeface="맑은 고딕" pitchFamily="50" charset="-127"/>
                <a:ea typeface="맑은 고딕" pitchFamily="50" charset="-127"/>
              </a:rPr>
              <a:t> </a:t>
            </a:r>
          </a:p>
          <a:p>
            <a:pPr algn="ctr"/>
            <a:r>
              <a:rPr lang="en-US" altLang="ko-KR" sz="1200" b="1" dirty="0">
                <a:solidFill>
                  <a:srgbClr val="FF0066"/>
                </a:solidFill>
                <a:latin typeface="맑은 고딕" pitchFamily="50" charset="-127"/>
                <a:ea typeface="맑은 고딕" pitchFamily="50" charset="-127"/>
              </a:rPr>
              <a:t>process </a:t>
            </a:r>
            <a:r>
              <a:rPr lang="en-US" altLang="ko-KR" sz="1200" b="1" dirty="0" err="1">
                <a:solidFill>
                  <a:srgbClr val="FF0066"/>
                </a:solidFill>
                <a:latin typeface="맑은 고딕" pitchFamily="50" charset="-127"/>
                <a:ea typeface="맑은 고딕" pitchFamily="50" charset="-127"/>
              </a:rPr>
              <a:t>hiện</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tại</a:t>
            </a:r>
            <a:endParaRPr lang="ko-KR" altLang="en-US" sz="1200" b="1" dirty="0">
              <a:solidFill>
                <a:srgbClr val="FF0066"/>
              </a:solidFill>
              <a:latin typeface="맑은 고딕" pitchFamily="50" charset="-127"/>
              <a:ea typeface="맑은 고딕" pitchFamily="50" charset="-127"/>
            </a:endParaRPr>
          </a:p>
        </p:txBody>
      </p:sp>
      <p:sp>
        <p:nvSpPr>
          <p:cNvPr id="117" name="Text Box 9"/>
          <p:cNvSpPr txBox="1">
            <a:spLocks noChangeArrowheads="1"/>
          </p:cNvSpPr>
          <p:nvPr/>
        </p:nvSpPr>
        <p:spPr bwMode="auto">
          <a:xfrm>
            <a:off x="2929587" y="3346307"/>
            <a:ext cx="1883849" cy="461665"/>
          </a:xfrm>
          <a:prstGeom prst="rect">
            <a:avLst/>
          </a:prstGeom>
          <a:noFill/>
          <a:ln w="9525" algn="ctr">
            <a:noFill/>
            <a:miter lim="800000"/>
            <a:headEnd/>
            <a:tailEnd/>
          </a:ln>
        </p:spPr>
        <p:txBody>
          <a:bodyPr wrap="none">
            <a:spAutoFit/>
          </a:bodyPr>
          <a:lstStyle/>
          <a:p>
            <a:pPr algn="ctr"/>
            <a:r>
              <a:rPr lang="en-US" altLang="ko-KR" sz="1200" b="1" dirty="0" err="1">
                <a:solidFill>
                  <a:srgbClr val="FF0066"/>
                </a:solidFill>
                <a:latin typeface="맑은 고딕" pitchFamily="50" charset="-127"/>
                <a:ea typeface="맑은 고딕" pitchFamily="50" charset="-127"/>
              </a:rPr>
              <a:t>Năng</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lực</a:t>
            </a:r>
            <a:r>
              <a:rPr lang="en-US" altLang="ko-KR" sz="1200" b="1" dirty="0">
                <a:solidFill>
                  <a:srgbClr val="FF0066"/>
                </a:solidFill>
                <a:latin typeface="맑은 고딕" pitchFamily="50" charset="-127"/>
                <a:ea typeface="맑은 고딕" pitchFamily="50" charset="-127"/>
              </a:rPr>
              <a:t> process </a:t>
            </a:r>
            <a:r>
              <a:rPr lang="en-US" altLang="ko-KR" sz="1200" b="1" dirty="0" err="1">
                <a:solidFill>
                  <a:srgbClr val="FF0066"/>
                </a:solidFill>
                <a:latin typeface="맑은 고딕" pitchFamily="50" charset="-127"/>
                <a:ea typeface="맑은 고딕" pitchFamily="50" charset="-127"/>
              </a:rPr>
              <a:t>của</a:t>
            </a:r>
            <a:r>
              <a:rPr lang="en-US" altLang="ko-KR" sz="1200" b="1" dirty="0">
                <a:solidFill>
                  <a:srgbClr val="FF0066"/>
                </a:solidFill>
                <a:latin typeface="맑은 고딕" pitchFamily="50" charset="-127"/>
                <a:ea typeface="맑은 고딕" pitchFamily="50" charset="-127"/>
              </a:rPr>
              <a:t> </a:t>
            </a:r>
          </a:p>
          <a:p>
            <a:pPr algn="ctr"/>
            <a:r>
              <a:rPr lang="en-US" altLang="ko-KR" sz="1200" b="1" dirty="0" err="1">
                <a:solidFill>
                  <a:srgbClr val="FF0066"/>
                </a:solidFill>
                <a:latin typeface="맑은 고딕" pitchFamily="50" charset="-127"/>
                <a:ea typeface="맑은 고딕" pitchFamily="50" charset="-127"/>
              </a:rPr>
              <a:t>quan</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điểm</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khách</a:t>
            </a:r>
            <a:r>
              <a:rPr lang="en-US" altLang="ko-KR" sz="1200" b="1" dirty="0">
                <a:solidFill>
                  <a:srgbClr val="FF0066"/>
                </a:solidFill>
                <a:latin typeface="맑은 고딕" pitchFamily="50" charset="-127"/>
                <a:ea typeface="맑은 고딕" pitchFamily="50" charset="-127"/>
              </a:rPr>
              <a:t> </a:t>
            </a:r>
            <a:r>
              <a:rPr lang="en-US" altLang="ko-KR" sz="1200" b="1" dirty="0" err="1">
                <a:solidFill>
                  <a:srgbClr val="FF0066"/>
                </a:solidFill>
                <a:latin typeface="맑은 고딕" pitchFamily="50" charset="-127"/>
                <a:ea typeface="맑은 고딕" pitchFamily="50" charset="-127"/>
              </a:rPr>
              <a:t>hàng</a:t>
            </a:r>
            <a:endParaRPr lang="ko-KR" altLang="en-US" sz="1200" b="1" dirty="0">
              <a:solidFill>
                <a:srgbClr val="FF0066"/>
              </a:solidFill>
              <a:latin typeface="맑은 고딕" pitchFamily="50" charset="-127"/>
              <a:ea typeface="맑은 고딕" pitchFamily="50" charset="-127"/>
            </a:endParaRPr>
          </a:p>
        </p:txBody>
      </p:sp>
      <p:sp>
        <p:nvSpPr>
          <p:cNvPr id="118" name="Rectangle 18"/>
          <p:cNvSpPr>
            <a:spLocks noChangeArrowheads="1"/>
          </p:cNvSpPr>
          <p:nvPr/>
        </p:nvSpPr>
        <p:spPr bwMode="auto">
          <a:xfrm>
            <a:off x="4846027" y="4019406"/>
            <a:ext cx="1524000" cy="993862"/>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a:solidFill>
                  <a:srgbClr val="000000"/>
                </a:solidFill>
                <a:latin typeface="맑은 고딕" pitchFamily="50" charset="-127"/>
                <a:ea typeface="맑은 고딕" pitchFamily="50" charset="-127"/>
              </a:rPr>
              <a:t>Process </a:t>
            </a:r>
            <a:r>
              <a:rPr lang="en-US" altLang="ko-KR" sz="1200" b="1" dirty="0" err="1">
                <a:solidFill>
                  <a:srgbClr val="000000"/>
                </a:solidFill>
                <a:latin typeface="맑은 고딕" pitchFamily="50" charset="-127"/>
                <a:ea typeface="맑은 고딕" pitchFamily="50" charset="-127"/>
              </a:rPr>
              <a:t>thời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kì</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ngắn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giả</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định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bình</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quân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trong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nhóm</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đạt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được</a:t>
            </a:r>
            <a:r>
              <a:rPr lang="en-US" altLang="ko-KR" sz="1200" b="1" dirty="0">
                <a:solidFill>
                  <a:srgbClr val="000000"/>
                </a:solidFill>
                <a:latin typeface="맑은 고딕" pitchFamily="50" charset="-127"/>
                <a:ea typeface="맑은 고딕" pitchFamily="50" charset="-127"/>
              </a:rPr>
              <a:t> Target.</a:t>
            </a:r>
          </a:p>
        </p:txBody>
      </p:sp>
      <p:sp>
        <p:nvSpPr>
          <p:cNvPr id="119" name="Rectangle 18"/>
          <p:cNvSpPr>
            <a:spLocks noChangeArrowheads="1"/>
          </p:cNvSpPr>
          <p:nvPr/>
        </p:nvSpPr>
        <p:spPr bwMode="auto">
          <a:xfrm>
            <a:off x="4862147" y="4852844"/>
            <a:ext cx="1522535" cy="624530"/>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Thể</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hiện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năng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lực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về</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kỹ</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thuật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của</a:t>
            </a:r>
            <a:r>
              <a:rPr lang="en-US" altLang="ko-KR" sz="1200" b="1" dirty="0">
                <a:solidFill>
                  <a:srgbClr val="000000"/>
                </a:solidFill>
                <a:latin typeface="맑은 고딕" pitchFamily="50" charset="-127"/>
                <a:ea typeface="맑은 고딕" pitchFamily="50" charset="-127"/>
              </a:rPr>
              <a:t> process</a:t>
            </a:r>
          </a:p>
        </p:txBody>
      </p:sp>
      <p:sp>
        <p:nvSpPr>
          <p:cNvPr id="120" name="Rectangle 18"/>
          <p:cNvSpPr>
            <a:spLocks noChangeArrowheads="1"/>
          </p:cNvSpPr>
          <p:nvPr/>
        </p:nvSpPr>
        <p:spPr bwMode="auto">
          <a:xfrm>
            <a:off x="3033346" y="4852844"/>
            <a:ext cx="1858108" cy="624530"/>
          </a:xfrm>
          <a:prstGeom prst="rect">
            <a:avLst/>
          </a:prstGeom>
          <a:noFill/>
          <a:ln w="9525">
            <a:noFill/>
            <a:miter lim="800000"/>
            <a:headEnd/>
            <a:tailEnd/>
          </a:ln>
        </p:spPr>
        <p:txBody>
          <a:bodyPr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Thể</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hiện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năng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lực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kỹ</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thuật</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và</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quản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lý</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của</a:t>
            </a:r>
            <a:r>
              <a:rPr lang="en-US" altLang="ko-KR" sz="1200" b="1" dirty="0">
                <a:solidFill>
                  <a:srgbClr val="000000"/>
                </a:solidFill>
                <a:latin typeface="맑은 고딕" pitchFamily="50" charset="-127"/>
                <a:ea typeface="맑은 고딕" pitchFamily="50" charset="-127"/>
              </a:rPr>
              <a:t> process</a:t>
            </a:r>
          </a:p>
        </p:txBody>
      </p:sp>
      <p:sp>
        <p:nvSpPr>
          <p:cNvPr id="121" name="Rectangle 18"/>
          <p:cNvSpPr>
            <a:spLocks noChangeArrowheads="1"/>
          </p:cNvSpPr>
          <p:nvPr/>
        </p:nvSpPr>
        <p:spPr bwMode="auto">
          <a:xfrm>
            <a:off x="3033347" y="5543406"/>
            <a:ext cx="2135200" cy="624530"/>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ngẫu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nhiên</a:t>
            </a:r>
            <a:endParaRPr lang="en-US" altLang="ko-KR" sz="1200" b="1" dirty="0">
              <a:solidFill>
                <a:srgbClr val="000000"/>
              </a:solidFill>
              <a:latin typeface="맑은 고딕" pitchFamily="50" charset="-127"/>
              <a:ea typeface="맑은 고딕" pitchFamily="50" charset="-127"/>
            </a:endParaRPr>
          </a:p>
          <a:p>
            <a:pPr defTabSz="514350" eaLnBrk="0" latinLnBrk="0" hangingPunct="0"/>
            <a:r>
              <a:rPr lang="en-US" altLang="ko-KR" sz="1200" b="1" dirty="0" err="1">
                <a:solidFill>
                  <a:srgbClr val="000000"/>
                </a:solidFill>
                <a:latin typeface="맑은 고딕" pitchFamily="50" charset="-127"/>
                <a:ea typeface="맑은 고딕" pitchFamily="50" charset="-127"/>
              </a:rPr>
              <a:t>và</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không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ngẫu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nhiên</a:t>
            </a:r>
            <a:r>
              <a:rPr lang="en-US" altLang="ko-KR" sz="1200" b="1" dirty="0">
                <a:solidFill>
                  <a:srgbClr val="000000"/>
                </a:solidFill>
                <a:latin typeface="맑은 고딕" pitchFamily="50" charset="-127"/>
                <a:ea typeface="맑은 고딕" pitchFamily="50" charset="-127"/>
              </a:rPr>
              <a:t> </a:t>
            </a:r>
          </a:p>
          <a:p>
            <a:pPr defTabSz="514350" eaLnBrk="0" latinLnBrk="0" hangingPunct="0"/>
            <a:r>
              <a:rPr lang="en-US" altLang="ko-KR" sz="1200" b="1" dirty="0">
                <a:solidFill>
                  <a:srgbClr val="000000"/>
                </a:solidFill>
                <a:latin typeface="맑은 고딕" pitchFamily="50" charset="-127"/>
                <a:ea typeface="맑은 고딕" pitchFamily="50" charset="-127"/>
              </a:rPr>
              <a:t>chi </a:t>
            </a:r>
            <a:r>
              <a:rPr lang="en-US" altLang="ko-KR" sz="1200" b="1" dirty="0" err="1">
                <a:solidFill>
                  <a:srgbClr val="000000"/>
                </a:solidFill>
                <a:latin typeface="맑은 고딕" pitchFamily="50" charset="-127"/>
                <a:ea typeface="맑은 고딕" pitchFamily="50" charset="-127"/>
              </a:rPr>
              <a:t>phối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năng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lực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hệ</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thống</a:t>
            </a:r>
            <a:endParaRPr lang="en-US" altLang="ko-KR" sz="1200" b="1" dirty="0">
              <a:solidFill>
                <a:srgbClr val="000000"/>
              </a:solidFill>
              <a:latin typeface="맑은 고딕" pitchFamily="50" charset="-127"/>
              <a:ea typeface="맑은 고딕" pitchFamily="50" charset="-127"/>
            </a:endParaRPr>
          </a:p>
        </p:txBody>
      </p:sp>
      <p:sp>
        <p:nvSpPr>
          <p:cNvPr id="122" name="Rectangle 18"/>
          <p:cNvSpPr>
            <a:spLocks noChangeArrowheads="1"/>
          </p:cNvSpPr>
          <p:nvPr/>
        </p:nvSpPr>
        <p:spPr bwMode="auto">
          <a:xfrm>
            <a:off x="4854820" y="5543406"/>
            <a:ext cx="2135200" cy="439864"/>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Biến</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động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ngẫu</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nhiên</a:t>
            </a:r>
            <a:endParaRPr lang="en-US" altLang="ko-KR" sz="1200" b="1" dirty="0">
              <a:solidFill>
                <a:srgbClr val="000000"/>
              </a:solidFill>
              <a:latin typeface="맑은 고딕" pitchFamily="50" charset="-127"/>
              <a:ea typeface="맑은 고딕" pitchFamily="50" charset="-127"/>
            </a:endParaRPr>
          </a:p>
          <a:p>
            <a:pPr defTabSz="514350" eaLnBrk="0" latinLnBrk="0" hangingPunct="0"/>
            <a:r>
              <a:rPr lang="en-US" altLang="ko-KR" sz="1200" b="1" dirty="0">
                <a:solidFill>
                  <a:srgbClr val="000000"/>
                </a:solidFill>
                <a:latin typeface="맑은 고딕" pitchFamily="50" charset="-127"/>
                <a:ea typeface="맑은 고딕" pitchFamily="50" charset="-127"/>
              </a:rPr>
              <a:t>chi </a:t>
            </a:r>
            <a:r>
              <a:rPr lang="en-US" altLang="ko-KR" sz="1200" b="1" dirty="0" err="1">
                <a:solidFill>
                  <a:srgbClr val="000000"/>
                </a:solidFill>
                <a:latin typeface="맑은 고딕" pitchFamily="50" charset="-127"/>
                <a:ea typeface="맑은 고딕" pitchFamily="50" charset="-127"/>
              </a:rPr>
              <a:t>phối</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năng</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lực</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hệ</a:t>
            </a:r>
            <a:r>
              <a:rPr lang="en-US" altLang="ko-KR" sz="1200" b="1" dirty="0">
                <a:solidFill>
                  <a:srgbClr val="000000"/>
                </a:solidFill>
                <a:latin typeface="맑은 고딕" pitchFamily="50" charset="-127"/>
                <a:ea typeface="맑은 고딕" pitchFamily="50" charset="-127"/>
              </a:rPr>
              <a:t> </a:t>
            </a:r>
            <a:r>
              <a:rPr lang="en-US" altLang="ko-KR" sz="1200" b="1" dirty="0" err="1">
                <a:solidFill>
                  <a:srgbClr val="000000"/>
                </a:solidFill>
                <a:latin typeface="맑은 고딕" pitchFamily="50" charset="-127"/>
                <a:ea typeface="맑은 고딕" pitchFamily="50" charset="-127"/>
              </a:rPr>
              <a:t>thống</a:t>
            </a:r>
            <a:endParaRPr lang="en-US" altLang="ko-KR" sz="1200" b="1" dirty="0">
              <a:solidFill>
                <a:srgbClr val="000000"/>
              </a:solidFill>
              <a:latin typeface="맑은 고딕" pitchFamily="50" charset="-127"/>
              <a:ea typeface="맑은 고딕" pitchFamily="50" charset="-127"/>
            </a:endParaRPr>
          </a:p>
        </p:txBody>
      </p:sp>
      <p:sp>
        <p:nvSpPr>
          <p:cNvPr id="123" name="TextBox 122"/>
          <p:cNvSpPr txBox="1"/>
          <p:nvPr/>
        </p:nvSpPr>
        <p:spPr>
          <a:xfrm>
            <a:off x="395654" y="1104925"/>
            <a:ext cx="8280889" cy="523220"/>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err="1">
                <a:solidFill>
                  <a:sysClr val="windowText" lastClr="000000"/>
                </a:solidFill>
                <a:latin typeface="맑은 고딕" pitchFamily="50" charset="-127"/>
                <a:ea typeface="맑은 고딕" pitchFamily="50" charset="-127"/>
              </a:rPr>
              <a:t>Năng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lực</a:t>
            </a:r>
            <a:r>
              <a:rPr kumimoji="0" lang="en-US" altLang="ko-KR" sz="1400" b="1" kern="0" dirty="0">
                <a:solidFill>
                  <a:sysClr val="windowText" lastClr="000000"/>
                </a:solidFill>
                <a:latin typeface="맑은 고딕" pitchFamily="50" charset="-127"/>
                <a:ea typeface="맑은 고딕" pitchFamily="50" charset="-127"/>
              </a:rPr>
              <a:t> process </a:t>
            </a:r>
            <a:r>
              <a:rPr kumimoji="0" lang="en-US" altLang="ko-KR" sz="1400" b="1" kern="0" dirty="0" err="1">
                <a:solidFill>
                  <a:sysClr val="windowText" lastClr="000000"/>
                </a:solidFill>
                <a:latin typeface="맑은 고딕" pitchFamily="50" charset="-127"/>
                <a:ea typeface="맑은 고딕" pitchFamily="50" charset="-127"/>
              </a:rPr>
              <a:t>thời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kì</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ngắn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thể</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hiện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năng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lực</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tốt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nhất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của</a:t>
            </a:r>
            <a:r>
              <a:rPr kumimoji="0" lang="en-US" altLang="ko-KR" sz="1400" b="1" kern="0" dirty="0">
                <a:solidFill>
                  <a:sysClr val="windowText" lastClr="000000"/>
                </a:solidFill>
                <a:latin typeface="맑은 고딕" pitchFamily="50" charset="-127"/>
                <a:ea typeface="맑은 고딕" pitchFamily="50" charset="-127"/>
              </a:rPr>
              <a:t> process </a:t>
            </a:r>
            <a:r>
              <a:rPr kumimoji="0" lang="en-US" altLang="ko-KR" sz="1400" b="1" kern="0" dirty="0" err="1">
                <a:solidFill>
                  <a:sysClr val="windowText" lastClr="000000"/>
                </a:solidFill>
                <a:latin typeface="맑은 고딕" pitchFamily="50" charset="-127"/>
                <a:ea typeface="맑은 고딕" pitchFamily="50" charset="-127"/>
              </a:rPr>
              <a:t>hiện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tại</a:t>
            </a:r>
            <a:r>
              <a:rPr kumimoji="0" lang="en-US" altLang="ko-KR" sz="1400" b="1" kern="0" dirty="0">
                <a:solidFill>
                  <a:sysClr val="windowText" lastClr="000000"/>
                </a:solidFill>
                <a:latin typeface="맑은 고딕" pitchFamily="50" charset="-127"/>
                <a:ea typeface="맑은 고딕" pitchFamily="50" charset="-127"/>
              </a:rPr>
              <a:t>.</a:t>
            </a:r>
          </a:p>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Năng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lực</a:t>
            </a:r>
            <a:r>
              <a:rPr kumimoji="0" lang="en-US" altLang="ko-KR" sz="1400" b="1" kern="0" dirty="0">
                <a:solidFill>
                  <a:sysClr val="windowText" lastClr="000000"/>
                </a:solidFill>
                <a:latin typeface="맑은 고딕" pitchFamily="50" charset="-127"/>
                <a:ea typeface="맑은 고딕" pitchFamily="50" charset="-127"/>
              </a:rPr>
              <a:t> process </a:t>
            </a:r>
            <a:r>
              <a:rPr kumimoji="0" lang="en-US" altLang="ko-KR" sz="1400" b="1" kern="0" dirty="0" err="1">
                <a:solidFill>
                  <a:sysClr val="windowText" lastClr="000000"/>
                </a:solidFill>
                <a:latin typeface="맑은 고딕" pitchFamily="50" charset="-127"/>
                <a:ea typeface="맑은 고딕" pitchFamily="50" charset="-127"/>
              </a:rPr>
              <a:t>thời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kì</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dài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Zlt</a:t>
            </a:r>
            <a:r>
              <a:rPr kumimoji="0" lang="en-US" altLang="ko-KR" sz="1400" b="1" kern="0" dirty="0">
                <a:solidFill>
                  <a:sysClr val="windowText" lastClr="000000"/>
                </a:solidFill>
                <a:latin typeface="맑은 고딕" pitchFamily="50" charset="-127"/>
                <a:ea typeface="맑은 고딕" pitchFamily="50" charset="-127"/>
              </a:rPr>
              <a: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thể</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hiện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năng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lực</a:t>
            </a:r>
            <a:r>
              <a:rPr kumimoji="0" lang="en-US" altLang="ko-KR" sz="1400" b="1" kern="0" dirty="0">
                <a:solidFill>
                  <a:sysClr val="windowText" lastClr="000000"/>
                </a:solidFill>
                <a:latin typeface="맑은 고딕" pitchFamily="50" charset="-127"/>
                <a:ea typeface="맑은 고딕" pitchFamily="50" charset="-127"/>
              </a:rPr>
              <a:t> process </a:t>
            </a:r>
            <a:r>
              <a:rPr kumimoji="0" lang="en-US" altLang="ko-KR" sz="1400" b="1" kern="0" dirty="0" err="1">
                <a:solidFill>
                  <a:sysClr val="windowText" lastClr="000000"/>
                </a:solidFill>
                <a:latin typeface="맑은 고딕" pitchFamily="50" charset="-127"/>
                <a:ea typeface="맑은 고딕" pitchFamily="50" charset="-127"/>
              </a:rPr>
              <a:t>của</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quan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điểm</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khách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hàng</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124" name="Rectangle 18"/>
          <p:cNvSpPr>
            <a:spLocks noChangeArrowheads="1"/>
          </p:cNvSpPr>
          <p:nvPr/>
        </p:nvSpPr>
        <p:spPr bwMode="auto">
          <a:xfrm>
            <a:off x="3033347" y="6176819"/>
            <a:ext cx="1356975" cy="255198"/>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Zlt</a:t>
            </a:r>
            <a:r>
              <a:rPr lang="en-US" altLang="ko-KR" sz="1200" b="1" dirty="0">
                <a:solidFill>
                  <a:srgbClr val="000000"/>
                </a:solidFill>
                <a:latin typeface="맑은 고딕" pitchFamily="50" charset="-127"/>
                <a:ea typeface="맑은 고딕" pitchFamily="50" charset="-127"/>
              </a:rPr>
              <a:t> target 4.5σ</a:t>
            </a:r>
            <a:r>
              <a:rPr lang="ko-KR" altLang="en-US" sz="1200" b="1" dirty="0">
                <a:solidFill>
                  <a:srgbClr val="000000"/>
                </a:solidFill>
                <a:latin typeface="맑은 고딕" pitchFamily="50" charset="-127"/>
                <a:ea typeface="맑은 고딕" pitchFamily="50" charset="-127"/>
              </a:rPr>
              <a:t>↑</a:t>
            </a:r>
            <a:endParaRPr lang="en-US" altLang="ko-KR" sz="1200" b="1" dirty="0">
              <a:solidFill>
                <a:srgbClr val="000000"/>
              </a:solidFill>
              <a:latin typeface="맑은 고딕" pitchFamily="50" charset="-127"/>
              <a:ea typeface="맑은 고딕" pitchFamily="50" charset="-127"/>
            </a:endParaRPr>
          </a:p>
        </p:txBody>
      </p:sp>
      <p:sp>
        <p:nvSpPr>
          <p:cNvPr id="125" name="Rectangle 18"/>
          <p:cNvSpPr>
            <a:spLocks noChangeArrowheads="1"/>
          </p:cNvSpPr>
          <p:nvPr/>
        </p:nvSpPr>
        <p:spPr bwMode="auto">
          <a:xfrm>
            <a:off x="4854820" y="6176819"/>
            <a:ext cx="1385829" cy="255198"/>
          </a:xfrm>
          <a:prstGeom prst="rect">
            <a:avLst/>
          </a:prstGeom>
          <a:noFill/>
          <a:ln w="9525">
            <a:noFill/>
            <a:miter lim="800000"/>
            <a:headEnd/>
            <a:tailEnd/>
          </a:ln>
        </p:spPr>
        <p:txBody>
          <a:bodyPr wrap="none" lIns="69850" tIns="34925" rIns="69850" bIns="34925">
            <a:spAutoFit/>
          </a:bodyPr>
          <a:lstStyle/>
          <a:p>
            <a:pPr defTabSz="514350" eaLnBrk="0" latinLnBrk="0" hangingPunct="0"/>
            <a:r>
              <a:rPr lang="en-US" altLang="ko-KR" sz="1200" b="1" dirty="0" err="1">
                <a:solidFill>
                  <a:srgbClr val="000000"/>
                </a:solidFill>
                <a:latin typeface="맑은 고딕" pitchFamily="50" charset="-127"/>
                <a:ea typeface="맑은 고딕" pitchFamily="50" charset="-127"/>
              </a:rPr>
              <a:t>Zst</a:t>
            </a:r>
            <a:r>
              <a:rPr lang="en-US" altLang="ko-KR" sz="1200" b="1" dirty="0">
                <a:solidFill>
                  <a:srgbClr val="000000"/>
                </a:solidFill>
                <a:latin typeface="맑은 고딕" pitchFamily="50" charset="-127"/>
                <a:ea typeface="맑은 고딕" pitchFamily="50" charset="-127"/>
              </a:rPr>
              <a:t> target</a:t>
            </a:r>
            <a:r>
              <a:rPr lang="ko-KR" altLang="en-US" sz="1200" b="1" dirty="0">
                <a:solidFill>
                  <a:srgbClr val="000000"/>
                </a:solidFill>
                <a:latin typeface="맑은 고딕" pitchFamily="50" charset="-127"/>
                <a:ea typeface="맑은 고딕" pitchFamily="50" charset="-127"/>
              </a:rPr>
              <a:t> </a:t>
            </a:r>
            <a:r>
              <a:rPr lang="en-US" altLang="ko-KR" sz="1200" b="1" dirty="0">
                <a:solidFill>
                  <a:srgbClr val="000000"/>
                </a:solidFill>
                <a:latin typeface="맑은 고딕" pitchFamily="50" charset="-127"/>
                <a:ea typeface="맑은 고딕" pitchFamily="50" charset="-127"/>
              </a:rPr>
              <a:t>6.0σ</a:t>
            </a:r>
            <a:r>
              <a:rPr lang="ko-KR" altLang="en-US" sz="1200" b="1" dirty="0">
                <a:solidFill>
                  <a:srgbClr val="000000"/>
                </a:solidFill>
                <a:latin typeface="맑은 고딕" pitchFamily="50" charset="-127"/>
                <a:ea typeface="맑은 고딕" pitchFamily="50" charset="-127"/>
              </a:rPr>
              <a:t>↑</a:t>
            </a:r>
            <a:endParaRPr lang="en-US" altLang="ko-KR" sz="1200" b="1" dirty="0">
              <a:solidFill>
                <a:srgbClr val="000000"/>
              </a:solidFill>
              <a:latin typeface="맑은 고딕" pitchFamily="50" charset="-127"/>
              <a:ea typeface="맑은 고딕" pitchFamily="50" charset="-127"/>
            </a:endParaRPr>
          </a:p>
        </p:txBody>
      </p:sp>
      <p:sp>
        <p:nvSpPr>
          <p:cNvPr id="126" name="TextBox 236"/>
          <p:cNvSpPr txBox="1">
            <a:spLocks noChangeArrowheads="1"/>
          </p:cNvSpPr>
          <p:nvPr/>
        </p:nvSpPr>
        <p:spPr bwMode="auto">
          <a:xfrm>
            <a:off x="1077033" y="6330806"/>
            <a:ext cx="1750287" cy="338554"/>
          </a:xfrm>
          <a:prstGeom prst="rect">
            <a:avLst/>
          </a:prstGeom>
          <a:noFill/>
          <a:ln w="9525">
            <a:noFill/>
            <a:miter lim="800000"/>
            <a:headEnd/>
            <a:tailEnd/>
          </a:ln>
        </p:spPr>
        <p:txBody>
          <a:bodyPr wrap="none">
            <a:spAutoFit/>
          </a:bodyPr>
          <a:lstStyle/>
          <a:p>
            <a:r>
              <a:rPr lang="en-US" altLang="ko-KR" sz="1600" b="1" dirty="0">
                <a:solidFill>
                  <a:srgbClr val="000000"/>
                </a:solidFill>
                <a:latin typeface="맑은 고딕" pitchFamily="50" charset="-127"/>
                <a:ea typeface="맑은 고딕" pitchFamily="50" charset="-127"/>
              </a:rPr>
              <a:t>Mean Shift 1.5σ</a:t>
            </a:r>
            <a:endParaRPr lang="ko-KR" altLang="en-US" sz="1600" b="1" dirty="0">
              <a:solidFill>
                <a:srgbClr val="000000"/>
              </a:solidFill>
              <a:latin typeface="맑은 고딕" pitchFamily="50" charset="-127"/>
              <a:ea typeface="맑은 고딕" pitchFamily="50" charset="-127"/>
            </a:endParaRPr>
          </a:p>
        </p:txBody>
      </p:sp>
      <p:sp>
        <p:nvSpPr>
          <p:cNvPr id="129" name="Text Box 39"/>
          <p:cNvSpPr txBox="1">
            <a:spLocks noChangeArrowheads="1"/>
          </p:cNvSpPr>
          <p:nvPr/>
        </p:nvSpPr>
        <p:spPr bwMode="auto">
          <a:xfrm>
            <a:off x="127731" y="620688"/>
            <a:ext cx="4899098"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Quyết</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định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phương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hướng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cải</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thiện</a:t>
            </a:r>
            <a:endParaRPr lang="en-US" altLang="ko-KR" sz="2000" b="1" dirty="0">
              <a:latin typeface="맑은 고딕" pitchFamily="50" charset="-127"/>
              <a:ea typeface="맑은 고딕" pitchFamily="50" charset="-127"/>
            </a:endParaRPr>
          </a:p>
        </p:txBody>
      </p:sp>
      <p:sp>
        <p:nvSpPr>
          <p:cNvPr id="130" name="Text Box 39"/>
          <p:cNvSpPr txBox="1">
            <a:spLocks noChangeArrowheads="1"/>
          </p:cNvSpPr>
          <p:nvPr/>
        </p:nvSpPr>
        <p:spPr bwMode="auto">
          <a:xfrm>
            <a:off x="118582" y="116632"/>
            <a:ext cx="3466334"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202861349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223</a:t>
            </a:fld>
            <a:endParaRPr lang="ko-KR" altLang="en-US" dirty="0"/>
          </a:p>
        </p:txBody>
      </p:sp>
      <p:graphicFrame>
        <p:nvGraphicFramePr>
          <p:cNvPr id="3" name="Group 67"/>
          <p:cNvGraphicFramePr>
            <a:graphicFrameLocks noGrp="1"/>
          </p:cNvGraphicFramePr>
          <p:nvPr>
            <p:extLst>
              <p:ext uri="{D42A27DB-BD31-4B8C-83A1-F6EECF244321}">
                <p14:modId xmlns:p14="http://schemas.microsoft.com/office/powerpoint/2010/main" val="3792642266"/>
              </p:ext>
            </p:extLst>
          </p:nvPr>
        </p:nvGraphicFramePr>
        <p:xfrm>
          <a:off x="450928" y="1492954"/>
          <a:ext cx="8077639" cy="4436022"/>
        </p:xfrm>
        <a:graphic>
          <a:graphicData uri="http://schemas.openxmlformats.org/drawingml/2006/table">
            <a:tbl>
              <a:tblPr/>
              <a:tblGrid>
                <a:gridCol w="531750">
                  <a:extLst>
                    <a:ext uri="{9D8B030D-6E8A-4147-A177-3AD203B41FA5}">
                      <a16:colId xmlns:a16="http://schemas.microsoft.com/office/drawing/2014/main" val="20000"/>
                    </a:ext>
                  </a:extLst>
                </a:gridCol>
                <a:gridCol w="668058">
                  <a:extLst>
                    <a:ext uri="{9D8B030D-6E8A-4147-A177-3AD203B41FA5}">
                      <a16:colId xmlns:a16="http://schemas.microsoft.com/office/drawing/2014/main" val="20001"/>
                    </a:ext>
                  </a:extLst>
                </a:gridCol>
                <a:gridCol w="3011584">
                  <a:extLst>
                    <a:ext uri="{9D8B030D-6E8A-4147-A177-3AD203B41FA5}">
                      <a16:colId xmlns:a16="http://schemas.microsoft.com/office/drawing/2014/main" val="20002"/>
                    </a:ext>
                  </a:extLst>
                </a:gridCol>
                <a:gridCol w="2984471">
                  <a:extLst>
                    <a:ext uri="{9D8B030D-6E8A-4147-A177-3AD203B41FA5}">
                      <a16:colId xmlns:a16="http://schemas.microsoft.com/office/drawing/2014/main" val="20003"/>
                    </a:ext>
                  </a:extLst>
                </a:gridCol>
                <a:gridCol w="881776">
                  <a:extLst>
                    <a:ext uri="{9D8B030D-6E8A-4147-A177-3AD203B41FA5}">
                      <a16:colId xmlns:a16="http://schemas.microsoft.com/office/drawing/2014/main" val="20004"/>
                    </a:ext>
                  </a:extLst>
                </a:gridCol>
              </a:tblGrid>
              <a:tr h="308501">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Spec</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2700" cap="flat" cmpd="sng" algn="ctr">
                      <a:solidFill>
                        <a:schemeClr val="bg1"/>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st</a:t>
                      </a:r>
                      <a:endParaRPr kumimoji="0" lang="ko-KR" altLang="en-US" sz="1200" b="1" i="0" u="none" strike="noStrike" cap="none" normalizeH="0" baseline="-2500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lt</a:t>
                      </a:r>
                      <a:endParaRPr kumimoji="0" lang="ko-KR" altLang="en-US" sz="1200" b="1" i="0" u="none" strike="noStrike" cap="none" normalizeH="0" baseline="-2500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Zshift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2700" cap="flat" cmpd="sng" algn="ctr">
                      <a:solidFill>
                        <a:schemeClr val="bg1"/>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1042463">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Quy</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cách</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tiêu</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hai</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mặt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2700" cap="flat" cmpd="sng" algn="ctr">
                      <a:solidFill>
                        <a:schemeClr val="bg1"/>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With</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Target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rowSpan="4">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st</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 Z</a:t>
                      </a:r>
                      <a:r>
                        <a:rPr kumimoji="0" lang="en-US" altLang="ko-KR" sz="1200" b="1" i="0" u="none" strike="noStrike" cap="none" normalizeH="0" baseline="-25000" dirty="0">
                          <a:ln>
                            <a:noFill/>
                          </a:ln>
                          <a:solidFill>
                            <a:schemeClr val="tx1"/>
                          </a:solidFill>
                          <a:effectLst/>
                          <a:latin typeface="맑은 고딕" pitchFamily="50" charset="-127"/>
                          <a:ea typeface="맑은 고딕" pitchFamily="50" charset="-127"/>
                        </a:rPr>
                        <a:t>lt</a:t>
                      </a:r>
                      <a:endParaRPr kumimoji="0" lang="ko-KR" altLang="en-US" sz="1200" b="1" i="0" u="none" strike="noStrike" cap="none" normalizeH="0" baseline="-2500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2700" cap="flat" cmpd="sng" algn="ctr">
                      <a:solidFill>
                        <a:schemeClr val="bg1"/>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270001">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Without </a:t>
                      </a: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Target</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a:ln>
                          <a:noFill/>
                        </a:ln>
                        <a:solidFill>
                          <a:schemeClr val="tx1"/>
                        </a:solidFill>
                        <a:effectLst/>
                        <a:latin typeface="맑은 고딕" pitchFamily="50" charset="-127"/>
                        <a:ea typeface="맑은 고딕" pitchFamily="50" charset="-127"/>
                      </a:endParaRPr>
                    </a:p>
                  </a:txBody>
                  <a:tcPr marL="54000" marR="54000"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extLst>
                  <a:ext uri="{0D108BD9-81ED-4DB2-BD59-A6C34878D82A}">
                    <a16:rowId xmlns:a16="http://schemas.microsoft.com/office/drawing/2014/main" val="10002"/>
                  </a:ext>
                </a:extLst>
              </a:tr>
              <a:tr h="928694">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Quy</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cách</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tiêu</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một</a:t>
                      </a: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 </a:t>
                      </a:r>
                      <a:r>
                        <a:rPr kumimoji="0" lang="en-US" altLang="ko-KR" sz="1200" b="1" i="0" u="none" strike="noStrike" cap="none" normalizeH="0" baseline="0" dirty="0" err="1">
                          <a:ln>
                            <a:noFill/>
                          </a:ln>
                          <a:solidFill>
                            <a:schemeClr val="tx1"/>
                          </a:solidFill>
                          <a:effectLst/>
                          <a:latin typeface="맑은 고딕" pitchFamily="50" charset="-127"/>
                          <a:ea typeface="맑은 고딕" pitchFamily="50" charset="-127"/>
                        </a:rPr>
                        <a:t>mặt</a:t>
                      </a:r>
                      <a:endPar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2700" cap="flat" cmpd="sng" algn="ctr">
                      <a:solidFill>
                        <a:schemeClr val="bg1"/>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LSL Only</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2700" cap="flat" cmpd="sng" algn="ctr">
                      <a:solidFill>
                        <a:schemeClr val="folHlink"/>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2700" cap="flat" cmpd="sng" algn="ctr">
                      <a:solidFill>
                        <a:schemeClr val="folHlink"/>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extLst>
                  <a:ext uri="{0D108BD9-81ED-4DB2-BD59-A6C34878D82A}">
                    <a16:rowId xmlns:a16="http://schemas.microsoft.com/office/drawing/2014/main" val="10003"/>
                  </a:ext>
                </a:extLst>
              </a:tr>
              <a:tr h="886363">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200" b="1" i="0" u="none" strike="noStrike" cap="none" normalizeH="0" baseline="0" dirty="0">
                          <a:ln>
                            <a:noFill/>
                          </a:ln>
                          <a:solidFill>
                            <a:schemeClr val="tx1"/>
                          </a:solidFill>
                          <a:effectLst/>
                          <a:latin typeface="맑은 고딕" pitchFamily="50" charset="-127"/>
                          <a:ea typeface="맑은 고딕" pitchFamily="50" charset="-127"/>
                        </a:rPr>
                        <a:t>USL Only</a:t>
                      </a: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9050" cap="flat" cmpd="sng" algn="ctr">
                      <a:solidFill>
                        <a:srgbClr val="B3B3B3"/>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2700" cap="flat" cmpd="sng" algn="ctr">
                      <a:solidFill>
                        <a:schemeClr val="folHlink"/>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200" b="1" i="0" u="none" strike="noStrike" cap="none" normalizeH="0" baseline="0" dirty="0">
                        <a:ln>
                          <a:noFill/>
                        </a:ln>
                        <a:solidFill>
                          <a:schemeClr val="tx1"/>
                        </a:solidFill>
                        <a:effectLst/>
                        <a:latin typeface="맑은 고딕" pitchFamily="50" charset="-127"/>
                        <a:ea typeface="맑은 고딕" pitchFamily="50" charset="-127"/>
                      </a:endParaRPr>
                    </a:p>
                  </a:txBody>
                  <a:tcPr marL="49846" marR="49846" anchor="ctr" horzOverflow="overflow">
                    <a:lnL w="19050" cap="flat" cmpd="sng" algn="ctr">
                      <a:solidFill>
                        <a:srgbClr val="B3B3B3"/>
                      </a:solidFill>
                      <a:prstDash val="solid"/>
                      <a:round/>
                      <a:headEnd type="none" w="med" len="med"/>
                      <a:tailEnd type="none" w="med" len="med"/>
                    </a:lnL>
                    <a:lnR w="19050" cap="flat" cmpd="sng" algn="ctr">
                      <a:solidFill>
                        <a:srgbClr val="B3B3B3"/>
                      </a:solidFill>
                      <a:prstDash val="solid"/>
                      <a:round/>
                      <a:headEnd type="none" w="med" len="med"/>
                      <a:tailEnd type="none" w="med" len="med"/>
                    </a:lnR>
                    <a:lnT w="12700" cap="flat" cmpd="sng" algn="ctr">
                      <a:solidFill>
                        <a:schemeClr val="folHlink"/>
                      </a:solidFill>
                      <a:prstDash val="solid"/>
                      <a:round/>
                      <a:headEnd type="none" w="med" len="med"/>
                      <a:tailEnd type="none" w="med" len="med"/>
                    </a:lnT>
                    <a:lnB w="19050" cap="flat" cmpd="sng" algn="ctr">
                      <a:solidFill>
                        <a:srgbClr val="B3B3B3"/>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extLst>
                  <a:ext uri="{0D108BD9-81ED-4DB2-BD59-A6C34878D82A}">
                    <a16:rowId xmlns:a16="http://schemas.microsoft.com/office/drawing/2014/main" val="10004"/>
                  </a:ext>
                </a:extLst>
              </a:tr>
            </a:tbl>
          </a:graphicData>
        </a:graphic>
      </p:graphicFrame>
      <p:sp>
        <p:nvSpPr>
          <p:cNvPr id="4" name="TextBox 17"/>
          <p:cNvSpPr txBox="1">
            <a:spLocks noChangeArrowheads="1"/>
          </p:cNvSpPr>
          <p:nvPr/>
        </p:nvSpPr>
        <p:spPr bwMode="auto">
          <a:xfrm>
            <a:off x="3127131" y="4555258"/>
            <a:ext cx="65" cy="138499"/>
          </a:xfrm>
          <a:prstGeom prst="rect">
            <a:avLst/>
          </a:prstGeom>
          <a:solidFill>
            <a:schemeClr val="bg1"/>
          </a:solidFill>
          <a:ln w="9525">
            <a:noFill/>
            <a:miter lim="800000"/>
            <a:headEnd/>
            <a:tailEnd/>
          </a:ln>
        </p:spPr>
        <p:txBody>
          <a:bodyPr wrap="none" lIns="0" tIns="0" rIns="0" bIns="0">
            <a:spAutoFit/>
          </a:bodyPr>
          <a:lstStyle/>
          <a:p>
            <a:endParaRPr lang="ko-KR" altLang="en-US" sz="900" b="1" i="1" dirty="0">
              <a:solidFill>
                <a:srgbClr val="000000"/>
              </a:solidFill>
              <a:latin typeface="HY신명조" pitchFamily="18" charset="-127"/>
              <a:ea typeface="HY신명조" pitchFamily="18" charset="-127"/>
            </a:endParaRPr>
          </a:p>
        </p:txBody>
      </p:sp>
      <p:sp>
        <p:nvSpPr>
          <p:cNvPr id="5" name="Text Box 57"/>
          <p:cNvSpPr txBox="1">
            <a:spLocks noChangeArrowheads="1"/>
          </p:cNvSpPr>
          <p:nvPr/>
        </p:nvSpPr>
        <p:spPr bwMode="auto">
          <a:xfrm>
            <a:off x="681404" y="5971307"/>
            <a:ext cx="6084071" cy="707886"/>
          </a:xfrm>
          <a:prstGeom prst="rect">
            <a:avLst/>
          </a:prstGeom>
          <a:noFill/>
          <a:ln w="9525" algn="ctr">
            <a:noFill/>
            <a:miter lim="800000"/>
            <a:headEnd/>
            <a:tailEnd/>
          </a:ln>
        </p:spPr>
        <p:txBody>
          <a:bodyPr wrap="square">
            <a:spAutoFit/>
          </a:bodyPr>
          <a:lstStyle/>
          <a:p>
            <a:r>
              <a:rPr lang="en-US" altLang="ko-KR" sz="1000" b="1" dirty="0">
                <a:solidFill>
                  <a:srgbClr val="0000FF"/>
                </a:solidFill>
                <a:latin typeface="맑은 고딕" pitchFamily="50" charset="-127"/>
                <a:ea typeface="맑은 고딕" pitchFamily="50" charset="-127"/>
              </a:rPr>
              <a:t>※ </a:t>
            </a:r>
            <a:r>
              <a:rPr lang="en-US" altLang="ko-KR" sz="1000" b="1" dirty="0" err="1">
                <a:solidFill>
                  <a:srgbClr val="0000FF"/>
                </a:solidFill>
                <a:latin typeface="맑은 고딕" pitchFamily="50" charset="-127"/>
                <a:ea typeface="맑은 고딕" pitchFamily="50" charset="-127"/>
              </a:rPr>
              <a:t>Chú</a:t>
            </a:r>
            <a:r>
              <a:rPr lang="en-US" altLang="ko-KR" sz="1000" b="1" dirty="0">
                <a:solidFill>
                  <a:srgbClr val="0000FF"/>
                </a:solidFill>
                <a:latin typeface="맑은 고딕" pitchFamily="50" charset="-127"/>
                <a:ea typeface="맑은 고딕" pitchFamily="50" charset="-127"/>
              </a:rPr>
              <a:t> ý</a:t>
            </a:r>
            <a:endParaRPr lang="ko-KR" altLang="en-US" sz="1000" b="1" dirty="0">
              <a:solidFill>
                <a:srgbClr val="0000FF"/>
              </a:solidFill>
              <a:latin typeface="맑은 고딕" pitchFamily="50" charset="-127"/>
              <a:ea typeface="맑은 고딕" pitchFamily="50" charset="-127"/>
            </a:endParaRPr>
          </a:p>
          <a:p>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Z</a:t>
            </a:r>
            <a:r>
              <a:rPr lang="en-US" altLang="ko-KR" sz="1000" baseline="-25000" dirty="0">
                <a:solidFill>
                  <a:srgbClr val="000000"/>
                </a:solidFill>
                <a:latin typeface="맑은 고딕" pitchFamily="50" charset="-127"/>
                <a:ea typeface="맑은 고딕" pitchFamily="50" charset="-127"/>
              </a:rPr>
              <a:t>ST </a:t>
            </a:r>
            <a:r>
              <a:rPr lang="en-US" altLang="ko-KR" sz="1000" dirty="0" err="1">
                <a:solidFill>
                  <a:srgbClr val="000000"/>
                </a:solidFill>
                <a:latin typeface="맑은 고딕" pitchFamily="50" charset="-127"/>
                <a:ea typeface="맑은 고딕" pitchFamily="50" charset="-127"/>
              </a:rPr>
              <a:t>và</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Z</a:t>
            </a:r>
            <a:r>
              <a:rPr lang="en-US" altLang="ko-KR" sz="1000" baseline="-25000" dirty="0">
                <a:solidFill>
                  <a:srgbClr val="000000"/>
                </a:solidFill>
                <a:latin typeface="맑은 고딕" pitchFamily="50" charset="-127"/>
                <a:ea typeface="맑은 고딕" pitchFamily="50" charset="-127"/>
              </a:rPr>
              <a:t>LT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chỉ</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có</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thể</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được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tính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toán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trong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trường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hợp</a:t>
            </a:r>
            <a:r>
              <a:rPr lang="en-US" altLang="ko-KR" sz="1000" dirty="0">
                <a:solidFill>
                  <a:srgbClr val="000000"/>
                </a:solidFill>
                <a:latin typeface="맑은 고딕" pitchFamily="50" charset="-127"/>
                <a:ea typeface="맑은 고딕" pitchFamily="50" charset="-127"/>
              </a:rPr>
              <a:t> data </a:t>
            </a:r>
            <a:r>
              <a:rPr lang="en-US" altLang="ko-KR" sz="1000" dirty="0" err="1">
                <a:solidFill>
                  <a:srgbClr val="000000"/>
                </a:solidFill>
                <a:latin typeface="맑은 고딕" pitchFamily="50" charset="-127"/>
                <a:ea typeface="맑은 고딕" pitchFamily="50" charset="-127"/>
              </a:rPr>
              <a:t>được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thập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bởi</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Rational </a:t>
            </a:r>
            <a:r>
              <a:rPr lang="en-US" altLang="ko-KR" sz="1000" dirty="0" err="1">
                <a:solidFill>
                  <a:srgbClr val="000000"/>
                </a:solidFill>
                <a:latin typeface="맑은 고딕" pitchFamily="50" charset="-127"/>
                <a:ea typeface="맑은 고딕" pitchFamily="50" charset="-127"/>
              </a:rPr>
              <a:t>Subgrouping</a:t>
            </a:r>
            <a:r>
              <a:rPr lang="en-US" altLang="ko-KR" sz="1000" dirty="0">
                <a:solidFill>
                  <a:srgbClr val="000000"/>
                </a:solidFill>
                <a:latin typeface="맑은 고딕" pitchFamily="50" charset="-127"/>
                <a:ea typeface="맑은 고딕" pitchFamily="50" charset="-127"/>
              </a:rPr>
              <a:t>.</a:t>
            </a:r>
          </a:p>
          <a:p>
            <a:r>
              <a:rPr lang="en-US" altLang="ko-KR" sz="1000" dirty="0">
                <a:solidFill>
                  <a:srgbClr val="000000"/>
                </a:solidFill>
                <a:latin typeface="맑은 고딕" pitchFamily="50" charset="-127"/>
                <a:ea typeface="맑은 고딕" pitchFamily="50" charset="-127"/>
              </a:rPr>
              <a:t> - </a:t>
            </a:r>
            <a:r>
              <a:rPr lang="en-US" altLang="ko-KR" sz="1000" dirty="0" err="1">
                <a:solidFill>
                  <a:srgbClr val="000000"/>
                </a:solidFill>
                <a:latin typeface="맑은 고딕" pitchFamily="50" charset="-127"/>
                <a:ea typeface="맑은 고딕" pitchFamily="50" charset="-127"/>
              </a:rPr>
              <a:t>Những</a:t>
            </a:r>
            <a:r>
              <a:rPr lang="en-US" altLang="ko-KR" sz="1000" dirty="0">
                <a:solidFill>
                  <a:srgbClr val="000000"/>
                </a:solidFill>
                <a:latin typeface="맑은 고딕" pitchFamily="50" charset="-127"/>
                <a:ea typeface="맑은 고딕" pitchFamily="50" charset="-127"/>
              </a:rPr>
              <a:t> data </a:t>
            </a:r>
            <a:r>
              <a:rPr lang="en-US" altLang="ko-KR" sz="1000" dirty="0" err="1">
                <a:solidFill>
                  <a:srgbClr val="000000"/>
                </a:solidFill>
                <a:latin typeface="맑은 고딕" pitchFamily="50" charset="-127"/>
                <a:ea typeface="맑은 고딕" pitchFamily="50" charset="-127"/>
              </a:rPr>
              <a:t>thu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thập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khác</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bất</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kể</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thời</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gian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thập</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đều</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không</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thể</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tính</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toán</a:t>
            </a:r>
            <a:r>
              <a:rPr lang="en-US" altLang="ko-KR"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được</a:t>
            </a:r>
            <a:r>
              <a:rPr lang="en-US" altLang="ko-KR" sz="1000" dirty="0">
                <a:solidFill>
                  <a:srgbClr val="000000"/>
                </a:solidFill>
                <a:latin typeface="맑은 고딕" pitchFamily="50" charset="-127"/>
                <a:ea typeface="맑은 고딕" pitchFamily="50" charset="-127"/>
              </a:rPr>
              <a:t> Z</a:t>
            </a:r>
            <a:r>
              <a:rPr lang="en-US" altLang="ko-KR" sz="1000" baseline="-25000" dirty="0">
                <a:solidFill>
                  <a:srgbClr val="000000"/>
                </a:solidFill>
                <a:latin typeface="맑은 고딕" pitchFamily="50" charset="-127"/>
                <a:ea typeface="맑은 고딕" pitchFamily="50" charset="-127"/>
              </a:rPr>
              <a:t>ST</a:t>
            </a:r>
            <a:r>
              <a:rPr lang="ko-KR" altLang="en-US" sz="1000" dirty="0">
                <a:solidFill>
                  <a:srgbClr val="000000"/>
                </a:solidFill>
                <a:latin typeface="맑은 고딕" pitchFamily="50" charset="-127"/>
                <a:ea typeface="맑은 고딕" pitchFamily="50" charset="-127"/>
              </a:rPr>
              <a:t> </a:t>
            </a:r>
            <a:r>
              <a:rPr lang="en-US" altLang="ko-KR" sz="1000" dirty="0" err="1">
                <a:solidFill>
                  <a:srgbClr val="000000"/>
                </a:solidFill>
                <a:latin typeface="맑은 고딕" pitchFamily="50" charset="-127"/>
                <a:ea typeface="맑은 고딕" pitchFamily="50" charset="-127"/>
              </a:rPr>
              <a:t>và</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Z</a:t>
            </a:r>
            <a:r>
              <a:rPr lang="en-US" altLang="ko-KR" sz="1000" baseline="-25000" dirty="0">
                <a:solidFill>
                  <a:srgbClr val="000000"/>
                </a:solidFill>
                <a:latin typeface="맑은 고딕" pitchFamily="50" charset="-127"/>
                <a:ea typeface="맑은 고딕" pitchFamily="50" charset="-127"/>
              </a:rPr>
              <a:t>LT</a:t>
            </a:r>
            <a:r>
              <a:rPr lang="ko-KR" altLang="en-US" sz="1000" dirty="0">
                <a:solidFill>
                  <a:srgbClr val="000000"/>
                </a:solidFill>
                <a:latin typeface="맑은 고딕" pitchFamily="50" charset="-127"/>
                <a:ea typeface="맑은 고딕" pitchFamily="50" charset="-127"/>
              </a:rPr>
              <a:t> </a:t>
            </a:r>
            <a:r>
              <a:rPr lang="en-US" altLang="ko-KR" sz="1000" dirty="0">
                <a:solidFill>
                  <a:srgbClr val="000000"/>
                </a:solidFill>
                <a:latin typeface="맑은 고딕" pitchFamily="50" charset="-127"/>
                <a:ea typeface="맑은 고딕" pitchFamily="50" charset="-127"/>
              </a:rPr>
              <a:t>. </a:t>
            </a:r>
          </a:p>
        </p:txBody>
      </p:sp>
      <p:graphicFrame>
        <p:nvGraphicFramePr>
          <p:cNvPr id="6" name="Object 2"/>
          <p:cNvGraphicFramePr>
            <a:graphicFrameLocks noChangeAspect="1"/>
          </p:cNvGraphicFramePr>
          <p:nvPr>
            <p:extLst>
              <p:ext uri="{D42A27DB-BD31-4B8C-83A1-F6EECF244321}">
                <p14:modId xmlns:p14="http://schemas.microsoft.com/office/powerpoint/2010/main" val="2223633953"/>
              </p:ext>
            </p:extLst>
          </p:nvPr>
        </p:nvGraphicFramePr>
        <p:xfrm>
          <a:off x="1934289" y="2970917"/>
          <a:ext cx="2735599" cy="357184"/>
        </p:xfrm>
        <a:graphic>
          <a:graphicData uri="http://schemas.openxmlformats.org/presentationml/2006/ole">
            <mc:AlternateContent xmlns:mc="http://schemas.openxmlformats.org/markup-compatibility/2006">
              <mc:Choice xmlns:v="urn:schemas-microsoft-com:vml" Requires="v">
                <p:oleObj name="수식" r:id="rId2" imgW="1892300" imgH="241300" progId="Equation.3">
                  <p:embed/>
                </p:oleObj>
              </mc:Choice>
              <mc:Fallback>
                <p:oleObj name="수식" r:id="rId2" imgW="1892300" imgH="241300" progId="Equation.3">
                  <p:embed/>
                  <p:pic>
                    <p:nvPicPr>
                      <p:cNvPr id="6"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4289" y="2970917"/>
                        <a:ext cx="2735599" cy="35718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 name="Object 2"/>
          <p:cNvGraphicFramePr>
            <a:graphicFrameLocks noChangeAspect="1"/>
          </p:cNvGraphicFramePr>
          <p:nvPr>
            <p:extLst>
              <p:ext uri="{D42A27DB-BD31-4B8C-83A1-F6EECF244321}">
                <p14:modId xmlns:p14="http://schemas.microsoft.com/office/powerpoint/2010/main" val="646786067"/>
              </p:ext>
            </p:extLst>
          </p:nvPr>
        </p:nvGraphicFramePr>
        <p:xfrm>
          <a:off x="1875693" y="2271483"/>
          <a:ext cx="2762250" cy="485114"/>
        </p:xfrm>
        <a:graphic>
          <a:graphicData uri="http://schemas.openxmlformats.org/presentationml/2006/ole">
            <mc:AlternateContent xmlns:mc="http://schemas.openxmlformats.org/markup-compatibility/2006">
              <mc:Choice xmlns:v="urn:schemas-microsoft-com:vml" Requires="v">
                <p:oleObj name="Equation" r:id="rId4" imgW="2273300" imgH="431800" progId="Equation.3">
                  <p:embed/>
                </p:oleObj>
              </mc:Choice>
              <mc:Fallback>
                <p:oleObj name="Equation" r:id="rId4" imgW="2273300" imgH="431800" progId="Equation.3">
                  <p:embed/>
                  <p:pic>
                    <p:nvPicPr>
                      <p:cNvPr id="7"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75693" y="2271483"/>
                        <a:ext cx="2762250" cy="4851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 name="Object 2"/>
          <p:cNvGraphicFramePr>
            <a:graphicFrameLocks noChangeAspect="1"/>
          </p:cNvGraphicFramePr>
          <p:nvPr>
            <p:extLst>
              <p:ext uri="{D42A27DB-BD31-4B8C-83A1-F6EECF244321}">
                <p14:modId xmlns:p14="http://schemas.microsoft.com/office/powerpoint/2010/main" val="3497519107"/>
              </p:ext>
            </p:extLst>
          </p:nvPr>
        </p:nvGraphicFramePr>
        <p:xfrm>
          <a:off x="2085243" y="1886670"/>
          <a:ext cx="2451588" cy="355600"/>
        </p:xfrm>
        <a:graphic>
          <a:graphicData uri="http://schemas.openxmlformats.org/presentationml/2006/ole">
            <mc:AlternateContent xmlns:mc="http://schemas.openxmlformats.org/markup-compatibility/2006">
              <mc:Choice xmlns:v="urn:schemas-microsoft-com:vml" Requires="v">
                <p:oleObj name="수식" r:id="rId6" imgW="1701800" imgH="241300" progId="Equation.3">
                  <p:embed/>
                </p:oleObj>
              </mc:Choice>
              <mc:Fallback>
                <p:oleObj name="수식" r:id="rId6" imgW="1701800" imgH="241300" progId="Equation.3">
                  <p:embed/>
                  <p:pic>
                    <p:nvPicPr>
                      <p:cNvPr id="8"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5243" y="1886670"/>
                        <a:ext cx="2451588" cy="35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Object 2"/>
          <p:cNvGraphicFramePr>
            <a:graphicFrameLocks noChangeAspect="1"/>
          </p:cNvGraphicFramePr>
          <p:nvPr>
            <p:extLst>
              <p:ext uri="{D42A27DB-BD31-4B8C-83A1-F6EECF244321}">
                <p14:modId xmlns:p14="http://schemas.microsoft.com/office/powerpoint/2010/main" val="2028498244"/>
              </p:ext>
            </p:extLst>
          </p:nvPr>
        </p:nvGraphicFramePr>
        <p:xfrm>
          <a:off x="1868347" y="3411699"/>
          <a:ext cx="2767142" cy="510147"/>
        </p:xfrm>
        <a:graphic>
          <a:graphicData uri="http://schemas.openxmlformats.org/presentationml/2006/ole">
            <mc:AlternateContent xmlns:mc="http://schemas.openxmlformats.org/markup-compatibility/2006">
              <mc:Choice xmlns:v="urn:schemas-microsoft-com:vml" Requires="v">
                <p:oleObj name="Equation" r:id="rId8" imgW="2286000" imgH="431800" progId="Equation.3">
                  <p:embed/>
                </p:oleObj>
              </mc:Choice>
              <mc:Fallback>
                <p:oleObj name="Equation" r:id="rId8" imgW="2286000" imgH="431800" progId="Equation.3">
                  <p:embed/>
                  <p:pic>
                    <p:nvPicPr>
                      <p:cNvPr id="9" name="Object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68347" y="3411699"/>
                        <a:ext cx="2767142" cy="51014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 name="Object 2"/>
          <p:cNvGraphicFramePr>
            <a:graphicFrameLocks noChangeAspect="1"/>
          </p:cNvGraphicFramePr>
          <p:nvPr>
            <p:extLst>
              <p:ext uri="{D42A27DB-BD31-4B8C-83A1-F6EECF244321}">
                <p14:modId xmlns:p14="http://schemas.microsoft.com/office/powerpoint/2010/main" val="3085298016"/>
              </p:ext>
            </p:extLst>
          </p:nvPr>
        </p:nvGraphicFramePr>
        <p:xfrm>
          <a:off x="5037283" y="2410818"/>
          <a:ext cx="2390043" cy="342900"/>
        </p:xfrm>
        <a:graphic>
          <a:graphicData uri="http://schemas.openxmlformats.org/presentationml/2006/ole">
            <mc:AlternateContent xmlns:mc="http://schemas.openxmlformats.org/markup-compatibility/2006">
              <mc:Choice xmlns:v="urn:schemas-microsoft-com:vml" Requires="v">
                <p:oleObj name="수식" r:id="rId10" imgW="1714500" imgH="241300" progId="Equation.3">
                  <p:embed/>
                </p:oleObj>
              </mc:Choice>
              <mc:Fallback>
                <p:oleObj name="수식" r:id="rId10" imgW="1714500" imgH="241300" progId="Equation.3">
                  <p:embed/>
                  <p:pic>
                    <p:nvPicPr>
                      <p:cNvPr id="10" name="Object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37283" y="2410818"/>
                        <a:ext cx="2390043" cy="342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 name="Object 2"/>
          <p:cNvGraphicFramePr>
            <a:graphicFrameLocks noChangeAspect="1"/>
          </p:cNvGraphicFramePr>
          <p:nvPr>
            <p:extLst>
              <p:ext uri="{D42A27DB-BD31-4B8C-83A1-F6EECF244321}">
                <p14:modId xmlns:p14="http://schemas.microsoft.com/office/powerpoint/2010/main" val="3113669134"/>
              </p:ext>
            </p:extLst>
          </p:nvPr>
        </p:nvGraphicFramePr>
        <p:xfrm>
          <a:off x="4769828" y="3113788"/>
          <a:ext cx="2769596" cy="485775"/>
        </p:xfrm>
        <a:graphic>
          <a:graphicData uri="http://schemas.openxmlformats.org/presentationml/2006/ole">
            <mc:AlternateContent xmlns:mc="http://schemas.openxmlformats.org/markup-compatibility/2006">
              <mc:Choice xmlns:v="urn:schemas-microsoft-com:vml" Requires="v">
                <p:oleObj name="Equation" r:id="rId12" imgW="2286000" imgH="431800" progId="Equation.3">
                  <p:embed/>
                </p:oleObj>
              </mc:Choice>
              <mc:Fallback>
                <p:oleObj name="Equation" r:id="rId12" imgW="2286000" imgH="431800" progId="Equation.3">
                  <p:embed/>
                  <p:pic>
                    <p:nvPicPr>
                      <p:cNvPr id="11" name="Object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69828" y="3113788"/>
                        <a:ext cx="2769596" cy="485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Object 2"/>
          <p:cNvGraphicFramePr>
            <a:graphicFrameLocks noChangeAspect="1"/>
          </p:cNvGraphicFramePr>
          <p:nvPr>
            <p:extLst>
              <p:ext uri="{D42A27DB-BD31-4B8C-83A1-F6EECF244321}">
                <p14:modId xmlns:p14="http://schemas.microsoft.com/office/powerpoint/2010/main" val="559635084"/>
              </p:ext>
            </p:extLst>
          </p:nvPr>
        </p:nvGraphicFramePr>
        <p:xfrm>
          <a:off x="2395889" y="4328233"/>
          <a:ext cx="1714512" cy="500066"/>
        </p:xfrm>
        <a:graphic>
          <a:graphicData uri="http://schemas.openxmlformats.org/presentationml/2006/ole">
            <mc:AlternateContent xmlns:mc="http://schemas.openxmlformats.org/markup-compatibility/2006">
              <mc:Choice xmlns:v="urn:schemas-microsoft-com:vml" Requires="v">
                <p:oleObj name="Equation" r:id="rId14" imgW="1129810" imgH="431613" progId="Equation.3">
                  <p:embed/>
                </p:oleObj>
              </mc:Choice>
              <mc:Fallback>
                <p:oleObj name="Equation" r:id="rId14" imgW="1129810" imgH="431613" progId="Equation.3">
                  <p:embed/>
                  <p:pic>
                    <p:nvPicPr>
                      <p:cNvPr id="12" name="Object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395889" y="4328233"/>
                        <a:ext cx="1714512"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 name="Object 2"/>
          <p:cNvGraphicFramePr>
            <a:graphicFrameLocks noChangeAspect="1"/>
          </p:cNvGraphicFramePr>
          <p:nvPr>
            <p:extLst>
              <p:ext uri="{D42A27DB-BD31-4B8C-83A1-F6EECF244321}">
                <p14:modId xmlns:p14="http://schemas.microsoft.com/office/powerpoint/2010/main" val="4173265445"/>
              </p:ext>
            </p:extLst>
          </p:nvPr>
        </p:nvGraphicFramePr>
        <p:xfrm>
          <a:off x="5363313" y="4313895"/>
          <a:ext cx="1648570" cy="442967"/>
        </p:xfrm>
        <a:graphic>
          <a:graphicData uri="http://schemas.openxmlformats.org/presentationml/2006/ole">
            <mc:AlternateContent xmlns:mc="http://schemas.openxmlformats.org/markup-compatibility/2006">
              <mc:Choice xmlns:v="urn:schemas-microsoft-com:vml" Requires="v">
                <p:oleObj name="Equation" r:id="rId16" imgW="1155700" imgH="431800" progId="Equation.3">
                  <p:embed/>
                </p:oleObj>
              </mc:Choice>
              <mc:Fallback>
                <p:oleObj name="Equation" r:id="rId16" imgW="1155700" imgH="431800" progId="Equation.3">
                  <p:embed/>
                  <p:pic>
                    <p:nvPicPr>
                      <p:cNvPr id="13" name="Object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363313" y="4313895"/>
                        <a:ext cx="1648570" cy="44296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4" name="Object 2"/>
          <p:cNvGraphicFramePr>
            <a:graphicFrameLocks noChangeAspect="1"/>
          </p:cNvGraphicFramePr>
          <p:nvPr>
            <p:extLst>
              <p:ext uri="{D42A27DB-BD31-4B8C-83A1-F6EECF244321}">
                <p14:modId xmlns:p14="http://schemas.microsoft.com/office/powerpoint/2010/main" val="1820930434"/>
              </p:ext>
            </p:extLst>
          </p:nvPr>
        </p:nvGraphicFramePr>
        <p:xfrm>
          <a:off x="2395890" y="5256927"/>
          <a:ext cx="1648569" cy="500066"/>
        </p:xfrm>
        <a:graphic>
          <a:graphicData uri="http://schemas.openxmlformats.org/presentationml/2006/ole">
            <mc:AlternateContent xmlns:mc="http://schemas.openxmlformats.org/markup-compatibility/2006">
              <mc:Choice xmlns:v="urn:schemas-microsoft-com:vml" Requires="v">
                <p:oleObj name="Equation" r:id="rId18" imgW="1143000" imgH="431800" progId="Equation.3">
                  <p:embed/>
                </p:oleObj>
              </mc:Choice>
              <mc:Fallback>
                <p:oleObj name="Equation" r:id="rId18" imgW="1143000" imgH="431800" progId="Equation.3">
                  <p:embed/>
                  <p:pic>
                    <p:nvPicPr>
                      <p:cNvPr id="14" name="Object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395890" y="5256927"/>
                        <a:ext cx="1648569" cy="5000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5" name="Object 2"/>
          <p:cNvGraphicFramePr>
            <a:graphicFrameLocks noChangeAspect="1"/>
          </p:cNvGraphicFramePr>
          <p:nvPr>
            <p:extLst>
              <p:ext uri="{D42A27DB-BD31-4B8C-83A1-F6EECF244321}">
                <p14:modId xmlns:p14="http://schemas.microsoft.com/office/powerpoint/2010/main" val="3718304732"/>
              </p:ext>
            </p:extLst>
          </p:nvPr>
        </p:nvGraphicFramePr>
        <p:xfrm>
          <a:off x="5363313" y="5185491"/>
          <a:ext cx="1714512" cy="500065"/>
        </p:xfrm>
        <a:graphic>
          <a:graphicData uri="http://schemas.openxmlformats.org/presentationml/2006/ole">
            <mc:AlternateContent xmlns:mc="http://schemas.openxmlformats.org/markup-compatibility/2006">
              <mc:Choice xmlns:v="urn:schemas-microsoft-com:vml" Requires="v">
                <p:oleObj name="Equation" r:id="rId20" imgW="1155700" imgH="431800" progId="Equation.3">
                  <p:embed/>
                </p:oleObj>
              </mc:Choice>
              <mc:Fallback>
                <p:oleObj name="Equation" r:id="rId20" imgW="1155700" imgH="431800" progId="Equation.3">
                  <p:embed/>
                  <p:pic>
                    <p:nvPicPr>
                      <p:cNvPr id="15" name="Object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363313" y="5185491"/>
                        <a:ext cx="1714512" cy="50006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 name="TextBox 16"/>
          <p:cNvSpPr txBox="1"/>
          <p:nvPr/>
        </p:nvSpPr>
        <p:spPr>
          <a:xfrm>
            <a:off x="3707904" y="1062294"/>
            <a:ext cx="2571538" cy="412421"/>
          </a:xfrm>
          <a:prstGeom prst="rect">
            <a:avLst/>
          </a:prstGeom>
          <a:noFill/>
        </p:spPr>
        <p:txBody>
          <a:bodyPr wrap="none" rtlCol="0">
            <a:spAutoFit/>
          </a:bodyPr>
          <a:lstStyle/>
          <a:p>
            <a:pPr>
              <a:lnSpc>
                <a:spcPct val="130000"/>
              </a:lnSpc>
              <a:buClr>
                <a:srgbClr val="C5003D"/>
              </a:buClr>
            </a:pPr>
            <a:r>
              <a:rPr lang="en-US" altLang="ko-KR" sz="1600" b="1" dirty="0" err="1"/>
              <a:t>Công</a:t>
            </a:r>
            <a:r>
              <a:rPr lang="en-US" altLang="ko-KR" sz="1600" b="1" dirty="0"/>
              <a:t> </a:t>
            </a:r>
            <a:r>
              <a:rPr lang="en-US" altLang="ko-KR" sz="1600" b="1" dirty="0" err="1"/>
              <a:t>thức</a:t>
            </a:r>
            <a:r>
              <a:rPr lang="en-US" altLang="ko-KR" sz="1600" b="1" dirty="0"/>
              <a:t> </a:t>
            </a:r>
            <a:r>
              <a:rPr lang="en-US" altLang="ko-KR" sz="1600" b="1" dirty="0" err="1"/>
              <a:t>tính</a:t>
            </a:r>
            <a:r>
              <a:rPr lang="en-US" altLang="ko-KR" sz="1600" b="1" dirty="0"/>
              <a:t> </a:t>
            </a:r>
            <a:r>
              <a:rPr lang="en-US" altLang="ko-KR" sz="1600" b="1" dirty="0" err="1"/>
              <a:t>giá</a:t>
            </a:r>
            <a:r>
              <a:rPr lang="en-US" altLang="ko-KR" sz="1600" b="1" dirty="0"/>
              <a:t> </a:t>
            </a:r>
            <a:r>
              <a:rPr lang="en-US" altLang="ko-KR" sz="1600" b="1" dirty="0" err="1"/>
              <a:t>trị</a:t>
            </a:r>
            <a:r>
              <a:rPr lang="en-US" altLang="ko-KR" sz="1600" b="1" dirty="0"/>
              <a:t> Z</a:t>
            </a:r>
            <a:endParaRPr lang="ko-KR" altLang="en-US" sz="1600" b="1" dirty="0"/>
          </a:p>
        </p:txBody>
      </p:sp>
      <p:sp>
        <p:nvSpPr>
          <p:cNvPr id="19" name="Text Box 39"/>
          <p:cNvSpPr txBox="1">
            <a:spLocks noChangeArrowheads="1"/>
          </p:cNvSpPr>
          <p:nvPr/>
        </p:nvSpPr>
        <p:spPr bwMode="auto">
          <a:xfrm>
            <a:off x="127731" y="620688"/>
            <a:ext cx="498886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Quyết</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định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phương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hướng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cải</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thiện</a:t>
            </a:r>
            <a:r>
              <a:rPr lang="en-US" altLang="ko-KR" sz="2000" b="1" dirty="0">
                <a:latin typeface="맑은 고딕" pitchFamily="50" charset="-127"/>
                <a:ea typeface="맑은 고딕" pitchFamily="50" charset="-127"/>
              </a:rPr>
              <a:t> </a:t>
            </a:r>
          </a:p>
        </p:txBody>
      </p:sp>
      <p:sp>
        <p:nvSpPr>
          <p:cNvPr id="20"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57564414"/>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224</a:t>
            </a:fld>
            <a:endParaRPr lang="ko-KR" altLang="en-US" dirty="0"/>
          </a:p>
        </p:txBody>
      </p:sp>
      <p:sp>
        <p:nvSpPr>
          <p:cNvPr id="4" name="TextBox 3"/>
          <p:cNvSpPr txBox="1"/>
          <p:nvPr/>
        </p:nvSpPr>
        <p:spPr>
          <a:xfrm>
            <a:off x="650334" y="1052736"/>
            <a:ext cx="1847044" cy="452432"/>
          </a:xfrm>
          <a:prstGeom prst="rect">
            <a:avLst/>
          </a:prstGeom>
          <a:noFill/>
        </p:spPr>
        <p:txBody>
          <a:bodyPr wrap="none" rtlCol="0">
            <a:spAutoFit/>
          </a:bodyPr>
          <a:lstStyle/>
          <a:p>
            <a:pPr>
              <a:lnSpc>
                <a:spcPct val="130000"/>
              </a:lnSpc>
              <a:buClr>
                <a:srgbClr val="C5003D"/>
              </a:buClr>
            </a:pPr>
            <a:r>
              <a:rPr lang="en-US" altLang="ko-KR" b="1" dirty="0" err="1"/>
              <a:t>Zshift</a:t>
            </a:r>
            <a:r>
              <a:rPr lang="en-US" altLang="ko-KR" b="1" dirty="0"/>
              <a:t> concept</a:t>
            </a:r>
            <a:r>
              <a:rPr lang="ko-KR" altLang="en-US" b="1" dirty="0"/>
              <a:t> </a:t>
            </a:r>
          </a:p>
        </p:txBody>
      </p:sp>
      <p:sp>
        <p:nvSpPr>
          <p:cNvPr id="5" name="TextBox 4"/>
          <p:cNvSpPr txBox="1"/>
          <p:nvPr/>
        </p:nvSpPr>
        <p:spPr>
          <a:xfrm>
            <a:off x="681377" y="1710195"/>
            <a:ext cx="8009065" cy="4893647"/>
          </a:xfrm>
          <a:prstGeom prst="rect">
            <a:avLst/>
          </a:prstGeom>
          <a:noFill/>
        </p:spPr>
        <p:txBody>
          <a:bodyPr wrap="square" rtlCol="0">
            <a:spAutoFit/>
          </a:bodyPr>
          <a:lstStyle/>
          <a:p>
            <a:pPr>
              <a:lnSpc>
                <a:spcPct val="130000"/>
              </a:lnSpc>
              <a:buClr>
                <a:srgbClr val="C5003D"/>
              </a:buClr>
            </a:pPr>
            <a:r>
              <a:rPr lang="en-US" altLang="ko-KR" sz="1600" b="1" dirty="0"/>
              <a:t>In the early days of development, when the current capability is considered to be the best, the quality will deteriorate due to wear of tool and equipment, variation of worker, change of environment as time flows. Indicating a degree of deterioration, and a value of 1.0 to 1.5 is deteriorated based on the Z value.</a:t>
            </a:r>
          </a:p>
          <a:p>
            <a:pPr>
              <a:lnSpc>
                <a:spcPct val="130000"/>
              </a:lnSpc>
              <a:buClr>
                <a:srgbClr val="C5003D"/>
              </a:buClr>
            </a:pPr>
            <a:endParaRPr lang="en-US" altLang="ko-KR" sz="1600" b="1" dirty="0"/>
          </a:p>
          <a:p>
            <a:pPr>
              <a:lnSpc>
                <a:spcPct val="130000"/>
              </a:lnSpc>
              <a:buClr>
                <a:srgbClr val="C5003D"/>
              </a:buClr>
            </a:pPr>
            <a:r>
              <a:rPr lang="en-US" altLang="ko-KR" sz="1600" b="1" dirty="0"/>
              <a:t>In general, the degree of deterioration is about 1.0 in the case of a stable line, and is about 1.5 in the case of dispersion of the process. So in general case it is assumed to be 1.5 shift in case of Worst case.</a:t>
            </a:r>
          </a:p>
          <a:p>
            <a:pPr>
              <a:lnSpc>
                <a:spcPct val="130000"/>
              </a:lnSpc>
              <a:buClr>
                <a:srgbClr val="C5003D"/>
              </a:buClr>
            </a:pPr>
            <a:endParaRPr lang="en-US" altLang="ko-KR" sz="1600" b="1" dirty="0"/>
          </a:p>
          <a:p>
            <a:pPr>
              <a:lnSpc>
                <a:spcPct val="130000"/>
              </a:lnSpc>
              <a:buClr>
                <a:srgbClr val="C5003D"/>
              </a:buClr>
            </a:pPr>
            <a:r>
              <a:rPr lang="en-US" altLang="ko-KR" sz="1600" b="1" dirty="0" err="1"/>
              <a:t>Zshift</a:t>
            </a:r>
            <a:r>
              <a:rPr lang="en-US" altLang="ko-KR" sz="1600" b="1" dirty="0"/>
              <a:t> can be calculated because </a:t>
            </a:r>
            <a:r>
              <a:rPr lang="en-US" altLang="ko-KR" sz="1600" b="1" dirty="0" err="1"/>
              <a:t>Zst</a:t>
            </a:r>
            <a:r>
              <a:rPr lang="en-US" altLang="ko-KR" sz="1600" b="1" dirty="0"/>
              <a:t> and </a:t>
            </a:r>
            <a:r>
              <a:rPr lang="en-US" altLang="ko-KR" sz="1600" b="1" dirty="0" err="1"/>
              <a:t>Zlt</a:t>
            </a:r>
            <a:r>
              <a:rPr lang="en-US" altLang="ko-KR" sz="1600" b="1" dirty="0"/>
              <a:t> can be distinguished only when a sample is sampled by the method of Rational Subgroup.</a:t>
            </a:r>
          </a:p>
          <a:p>
            <a:pPr>
              <a:lnSpc>
                <a:spcPct val="130000"/>
              </a:lnSpc>
              <a:buClr>
                <a:srgbClr val="C5003D"/>
              </a:buClr>
            </a:pPr>
            <a:endParaRPr lang="en-US" altLang="ko-KR" sz="1600" b="1" dirty="0"/>
          </a:p>
          <a:p>
            <a:pPr>
              <a:lnSpc>
                <a:spcPct val="130000"/>
              </a:lnSpc>
              <a:buClr>
                <a:srgbClr val="C5003D"/>
              </a:buClr>
            </a:pPr>
            <a:r>
              <a:rPr lang="en-US" altLang="ko-KR" sz="1600" b="1" dirty="0"/>
              <a:t>When setting the direction of improvement, it is judged that management is not good if </a:t>
            </a:r>
            <a:r>
              <a:rPr lang="en-US" altLang="ko-KR" sz="1600" b="1" dirty="0" err="1"/>
              <a:t>Zshift</a:t>
            </a:r>
            <a:r>
              <a:rPr lang="en-US" altLang="ko-KR" sz="1600" b="1" dirty="0"/>
              <a:t> amount is greater than 1.5 and </a:t>
            </a:r>
            <a:r>
              <a:rPr lang="en-US" altLang="ko-KR" sz="1600" b="1" dirty="0" err="1"/>
              <a:t>Zshift</a:t>
            </a:r>
            <a:r>
              <a:rPr lang="en-US" altLang="ko-KR" sz="1600" b="1" dirty="0"/>
              <a:t> amount is less than 1.5, judged management is good</a:t>
            </a:r>
          </a:p>
        </p:txBody>
      </p:sp>
      <p:sp>
        <p:nvSpPr>
          <p:cNvPr id="9"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409598763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50927" y="1484785"/>
            <a:ext cx="4450787"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Input Minitab and interpret the results</a:t>
            </a:r>
          </a:p>
        </p:txBody>
      </p:sp>
      <p:sp>
        <p:nvSpPr>
          <p:cNvPr id="5" name="Rectangle 31"/>
          <p:cNvSpPr>
            <a:spLocks noChangeArrowheads="1"/>
          </p:cNvSpPr>
          <p:nvPr/>
        </p:nvSpPr>
        <p:spPr bwMode="auto">
          <a:xfrm>
            <a:off x="650334" y="2015579"/>
            <a:ext cx="5608026" cy="336550"/>
          </a:xfrm>
          <a:prstGeom prst="rect">
            <a:avLst/>
          </a:prstGeom>
          <a:solidFill>
            <a:schemeClr val="bg1"/>
          </a:solidFill>
          <a:ln w="12700" algn="ctr">
            <a:noFill/>
            <a:miter lim="800000"/>
            <a:headEnd/>
            <a:tailEnd/>
          </a:ln>
        </p:spPr>
        <p:txBody>
          <a:bodyPr wrap="none" anchor="ctr"/>
          <a:lstStyle/>
          <a:p>
            <a:pPr defTabSz="762000">
              <a:spcBef>
                <a:spcPct val="50000"/>
              </a:spcBef>
              <a:defRPr/>
            </a:pPr>
            <a:r>
              <a:rPr lang="en-US" altLang="ko-KR" sz="1200" b="1" dirty="0">
                <a:solidFill>
                  <a:srgbClr val="000000"/>
                </a:solidFill>
                <a:latin typeface="맑은 고딕" pitchFamily="50" charset="-127"/>
                <a:ea typeface="맑은 고딕" pitchFamily="50" charset="-127"/>
              </a:rPr>
              <a:t>Stat  &gt; Quality Tools &gt;  Capability Analysis &gt; Normal</a:t>
            </a: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225</a:t>
            </a:fld>
            <a:endParaRPr lang="ko-KR" altLang="en-US" dirty="0">
              <a:solidFill>
                <a:prstClr val="black"/>
              </a:solidFill>
            </a:endParaRPr>
          </a:p>
        </p:txBody>
      </p:sp>
      <p:pic>
        <p:nvPicPr>
          <p:cNvPr id="23848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0334" y="2358505"/>
            <a:ext cx="3909069" cy="29230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848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7876" y="2358504"/>
            <a:ext cx="3589322" cy="2928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직사각형 3"/>
          <p:cNvSpPr/>
          <p:nvPr/>
        </p:nvSpPr>
        <p:spPr>
          <a:xfrm>
            <a:off x="3840842" y="3006576"/>
            <a:ext cx="531866" cy="21602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583865" y="980729"/>
            <a:ext cx="4774769" cy="412421"/>
          </a:xfrm>
          <a:prstGeom prst="rect">
            <a:avLst/>
          </a:prstGeom>
          <a:noFill/>
        </p:spPr>
        <p:txBody>
          <a:bodyPr wrap="none" rtlCol="0">
            <a:spAutoFit/>
          </a:bodyPr>
          <a:lstStyle/>
          <a:p>
            <a:pPr>
              <a:lnSpc>
                <a:spcPct val="130000"/>
              </a:lnSpc>
              <a:buClr>
                <a:srgbClr val="C5003D"/>
              </a:buClr>
            </a:pPr>
            <a:r>
              <a:rPr lang="en-US" altLang="ko-KR" sz="1600" b="1" dirty="0"/>
              <a:t>Let's calculate </a:t>
            </a:r>
            <a:r>
              <a:rPr lang="en-US" altLang="ko-KR" sz="1600" b="1" dirty="0" err="1"/>
              <a:t>Zst</a:t>
            </a:r>
            <a:r>
              <a:rPr lang="en-US" altLang="ko-KR" sz="1600" b="1" dirty="0"/>
              <a:t>, </a:t>
            </a:r>
            <a:r>
              <a:rPr lang="en-US" altLang="ko-KR" sz="1600" b="1" dirty="0" err="1"/>
              <a:t>Zlt</a:t>
            </a:r>
            <a:r>
              <a:rPr lang="en-US" altLang="ko-KR" sz="1600" b="1" dirty="0"/>
              <a:t>, and </a:t>
            </a:r>
            <a:r>
              <a:rPr lang="en-US" altLang="ko-KR" sz="1600" b="1" dirty="0" err="1"/>
              <a:t>Zshift</a:t>
            </a:r>
            <a:r>
              <a:rPr lang="en-US" altLang="ko-KR" sz="1600" b="1" dirty="0"/>
              <a:t> using case 3!</a:t>
            </a:r>
            <a:endParaRPr lang="ko-KR" altLang="en-US" sz="1600" b="1" dirty="0"/>
          </a:p>
        </p:txBody>
      </p:sp>
      <p:cxnSp>
        <p:nvCxnSpPr>
          <p:cNvPr id="9" name="꺾인 연결선 8"/>
          <p:cNvCxnSpPr>
            <a:stCxn id="4" idx="3"/>
            <a:endCxn id="2384899" idx="1"/>
          </p:cNvCxnSpPr>
          <p:nvPr/>
        </p:nvCxnSpPr>
        <p:spPr>
          <a:xfrm>
            <a:off x="4372708" y="3114588"/>
            <a:ext cx="465168" cy="708318"/>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0" name="타원 9"/>
          <p:cNvSpPr/>
          <p:nvPr/>
        </p:nvSpPr>
        <p:spPr>
          <a:xfrm>
            <a:off x="6523045" y="3776340"/>
            <a:ext cx="132938" cy="144016"/>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p:cNvSpPr txBox="1"/>
          <p:nvPr/>
        </p:nvSpPr>
        <p:spPr>
          <a:xfrm>
            <a:off x="7552754" y="3645025"/>
            <a:ext cx="1120820" cy="312393"/>
          </a:xfrm>
          <a:prstGeom prst="rect">
            <a:avLst/>
          </a:prstGeom>
          <a:noFill/>
        </p:spPr>
        <p:txBody>
          <a:bodyPr wrap="none" rtlCol="0">
            <a:spAutoFit/>
          </a:bodyPr>
          <a:lstStyle/>
          <a:p>
            <a:pPr>
              <a:lnSpc>
                <a:spcPct val="130000"/>
              </a:lnSpc>
              <a:buClr>
                <a:srgbClr val="C5003D"/>
              </a:buClr>
            </a:pPr>
            <a:r>
              <a:rPr lang="en-US" altLang="ko-KR" sz="1100" b="1" dirty="0">
                <a:solidFill>
                  <a:srgbClr val="FF0000"/>
                </a:solidFill>
              </a:rPr>
              <a:t>Select Z value</a:t>
            </a:r>
            <a:endParaRPr lang="ko-KR" altLang="en-US" sz="1100" b="1" dirty="0">
              <a:solidFill>
                <a:srgbClr val="FF0000"/>
              </a:solidFill>
            </a:endParaRPr>
          </a:p>
        </p:txBody>
      </p:sp>
      <p:sp>
        <p:nvSpPr>
          <p:cNvPr id="16"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779795339"/>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226</a:t>
            </a:fld>
            <a:endParaRPr lang="ko-KR" altLang="en-US" dirty="0"/>
          </a:p>
        </p:txBody>
      </p:sp>
      <p:sp>
        <p:nvSpPr>
          <p:cNvPr id="4" name="TextBox 3"/>
          <p:cNvSpPr txBox="1"/>
          <p:nvPr/>
        </p:nvSpPr>
        <p:spPr>
          <a:xfrm>
            <a:off x="650334" y="1052737"/>
            <a:ext cx="2095510" cy="452432"/>
          </a:xfrm>
          <a:prstGeom prst="rect">
            <a:avLst/>
          </a:prstGeom>
          <a:noFill/>
        </p:spPr>
        <p:txBody>
          <a:bodyPr wrap="none" rtlCol="0">
            <a:spAutoFit/>
          </a:bodyPr>
          <a:lstStyle/>
          <a:p>
            <a:pPr>
              <a:lnSpc>
                <a:spcPct val="130000"/>
              </a:lnSpc>
              <a:buClr>
                <a:srgbClr val="C5003D"/>
              </a:buClr>
            </a:pPr>
            <a:r>
              <a:rPr lang="en-US" altLang="ko-KR" b="1" dirty="0" err="1"/>
              <a:t>Khái</a:t>
            </a:r>
            <a:r>
              <a:rPr lang="en-US" altLang="ko-KR" b="1" dirty="0"/>
              <a:t> </a:t>
            </a:r>
            <a:r>
              <a:rPr lang="en-US" altLang="ko-KR" b="1" dirty="0" err="1"/>
              <a:t>niệm</a:t>
            </a:r>
            <a:r>
              <a:rPr lang="en-US" altLang="ko-KR" b="1" dirty="0"/>
              <a:t> </a:t>
            </a:r>
            <a:r>
              <a:rPr lang="en-US" altLang="ko-KR" b="1" dirty="0" err="1"/>
              <a:t>Zshift</a:t>
            </a:r>
            <a:r>
              <a:rPr lang="en-US" altLang="ko-KR" b="1" dirty="0"/>
              <a:t> </a:t>
            </a:r>
            <a:endParaRPr lang="ko-KR" altLang="en-US" b="1" dirty="0"/>
          </a:p>
        </p:txBody>
      </p:sp>
      <p:sp>
        <p:nvSpPr>
          <p:cNvPr id="5" name="TextBox 4"/>
          <p:cNvSpPr txBox="1"/>
          <p:nvPr/>
        </p:nvSpPr>
        <p:spPr>
          <a:xfrm>
            <a:off x="517396" y="1628800"/>
            <a:ext cx="9913035" cy="4573560"/>
          </a:xfrm>
          <a:prstGeom prst="rect">
            <a:avLst/>
          </a:prstGeom>
          <a:noFill/>
        </p:spPr>
        <p:txBody>
          <a:bodyPr wrap="none" rtlCol="0">
            <a:spAutoFit/>
          </a:bodyPr>
          <a:lstStyle/>
          <a:p>
            <a:pPr>
              <a:lnSpc>
                <a:spcPct val="130000"/>
              </a:lnSpc>
              <a:buClr>
                <a:srgbClr val="C5003D"/>
              </a:buClr>
            </a:pPr>
            <a:r>
              <a:rPr lang="en-US" altLang="ko-KR" sz="1600" b="1" dirty="0" err="1"/>
              <a:t>Trong</a:t>
            </a:r>
            <a:r>
              <a:rPr lang="en-US" altLang="ko-KR" sz="1600" b="1" dirty="0"/>
              <a:t> </a:t>
            </a:r>
            <a:r>
              <a:rPr lang="en-US" altLang="ko-KR" sz="1600" b="1" dirty="0" err="1"/>
              <a:t>thời</a:t>
            </a:r>
            <a:r>
              <a:rPr lang="en-US" altLang="ko-KR" sz="1600" b="1" dirty="0"/>
              <a:t> </a:t>
            </a:r>
            <a:r>
              <a:rPr lang="en-US" altLang="ko-KR" sz="1600" b="1" dirty="0" err="1"/>
              <a:t>kì</a:t>
            </a:r>
            <a:r>
              <a:rPr lang="en-US" altLang="ko-KR" sz="1600" b="1" dirty="0"/>
              <a:t> </a:t>
            </a:r>
            <a:r>
              <a:rPr lang="en-US" altLang="ko-KR" sz="1600" b="1" dirty="0" err="1"/>
              <a:t>phát</a:t>
            </a:r>
            <a:r>
              <a:rPr lang="en-US" altLang="ko-KR" sz="1600" b="1" dirty="0"/>
              <a:t> </a:t>
            </a:r>
            <a:r>
              <a:rPr lang="en-US" altLang="ko-KR" sz="1600" b="1" dirty="0" err="1"/>
              <a:t>triển</a:t>
            </a:r>
            <a:r>
              <a:rPr lang="en-US" altLang="ko-KR" sz="1600" b="1" dirty="0"/>
              <a:t> </a:t>
            </a:r>
            <a:r>
              <a:rPr lang="en-US" altLang="ko-KR" sz="1600" b="1" dirty="0" err="1"/>
              <a:t>sớm</a:t>
            </a:r>
            <a:r>
              <a:rPr lang="en-US" altLang="ko-KR" sz="1600" b="1" dirty="0"/>
              <a:t> </a:t>
            </a:r>
            <a:r>
              <a:rPr lang="en-US" altLang="ko-KR" sz="1600" b="1" dirty="0" err="1"/>
              <a:t>đầu</a:t>
            </a:r>
            <a:r>
              <a:rPr lang="en-US" altLang="ko-KR" sz="1600" b="1" dirty="0"/>
              <a:t> </a:t>
            </a:r>
            <a:r>
              <a:rPr lang="en-US" altLang="ko-KR" sz="1600" b="1" dirty="0" err="1"/>
              <a:t>tiên</a:t>
            </a:r>
            <a:r>
              <a:rPr lang="en-US" altLang="ko-KR" sz="1600" b="1" dirty="0"/>
              <a:t>, </a:t>
            </a:r>
            <a:r>
              <a:rPr lang="en-US" altLang="ko-KR" sz="1600" b="1" dirty="0" err="1"/>
              <a:t>khi</a:t>
            </a:r>
            <a:r>
              <a:rPr lang="en-US" altLang="ko-KR" sz="1600" b="1" dirty="0"/>
              <a:t> </a:t>
            </a:r>
            <a:r>
              <a:rPr lang="en-US" altLang="ko-KR" sz="1600" b="1" dirty="0" err="1"/>
              <a:t>xem</a:t>
            </a:r>
            <a:r>
              <a:rPr lang="en-US" altLang="ko-KR" sz="1600" b="1" dirty="0"/>
              <a:t> </a:t>
            </a:r>
            <a:r>
              <a:rPr lang="en-US" altLang="ko-KR" sz="1600" b="1" dirty="0" err="1"/>
              <a:t>năng</a:t>
            </a:r>
            <a:r>
              <a:rPr lang="en-US" altLang="ko-KR" sz="1600" b="1" dirty="0"/>
              <a:t> </a:t>
            </a:r>
            <a:r>
              <a:rPr lang="en-US" altLang="ko-KR" sz="1600" b="1" dirty="0" err="1"/>
              <a:t>lực</a:t>
            </a:r>
            <a:r>
              <a:rPr lang="en-US" altLang="ko-KR" sz="1600" b="1" dirty="0"/>
              <a:t> </a:t>
            </a:r>
            <a:r>
              <a:rPr lang="en-US" altLang="ko-KR" sz="1600" b="1" dirty="0" err="1"/>
              <a:t>hiện</a:t>
            </a:r>
            <a:r>
              <a:rPr lang="en-US" altLang="ko-KR" sz="1600" b="1" dirty="0"/>
              <a:t> </a:t>
            </a:r>
            <a:r>
              <a:rPr lang="en-US" altLang="ko-KR" sz="1600" b="1" dirty="0" err="1"/>
              <a:t>tại</a:t>
            </a:r>
            <a:r>
              <a:rPr lang="en-US" altLang="ko-KR" sz="1600" b="1" dirty="0"/>
              <a:t> </a:t>
            </a:r>
            <a:r>
              <a:rPr lang="en-US" altLang="ko-KR" sz="1600" b="1" dirty="0" err="1"/>
              <a:t>là</a:t>
            </a:r>
            <a:r>
              <a:rPr lang="en-US" altLang="ko-KR" sz="1600" b="1" dirty="0"/>
              <a:t> </a:t>
            </a:r>
            <a:r>
              <a:rPr lang="en-US" altLang="ko-KR" sz="1600" b="1" dirty="0" err="1"/>
              <a:t>tốt</a:t>
            </a:r>
            <a:r>
              <a:rPr lang="en-US" altLang="ko-KR" sz="1600" b="1" dirty="0"/>
              <a:t> </a:t>
            </a:r>
            <a:r>
              <a:rPr lang="en-US" altLang="ko-KR" sz="1600" b="1" dirty="0" err="1"/>
              <a:t>nhất</a:t>
            </a:r>
            <a:r>
              <a:rPr lang="en-US" altLang="ko-KR" sz="1600" b="1" dirty="0"/>
              <a:t> qua </a:t>
            </a:r>
            <a:r>
              <a:rPr lang="en-US" altLang="ko-KR" sz="1600" b="1" dirty="0" err="1"/>
              <a:t>thời</a:t>
            </a:r>
            <a:r>
              <a:rPr lang="en-US" altLang="ko-KR" sz="1600" b="1" dirty="0"/>
              <a:t> </a:t>
            </a:r>
            <a:r>
              <a:rPr lang="en-US" altLang="ko-KR" sz="1600" b="1" dirty="0" err="1"/>
              <a:t>gian</a:t>
            </a:r>
            <a:r>
              <a:rPr lang="en-US" altLang="ko-KR" sz="1600" b="1" dirty="0"/>
              <a:t> tool </a:t>
            </a:r>
          </a:p>
          <a:p>
            <a:pPr>
              <a:lnSpc>
                <a:spcPct val="130000"/>
              </a:lnSpc>
              <a:buClr>
                <a:srgbClr val="C5003D"/>
              </a:buClr>
            </a:pPr>
            <a:r>
              <a:rPr lang="en-US" altLang="ko-KR" sz="1600" b="1" dirty="0" err="1"/>
              <a:t>và</a:t>
            </a:r>
            <a:r>
              <a:rPr lang="en-US" altLang="ko-KR" sz="1600" b="1" dirty="0"/>
              <a:t> </a:t>
            </a:r>
            <a:r>
              <a:rPr lang="en-US" altLang="ko-KR" sz="1600" b="1" dirty="0" err="1"/>
              <a:t>thiết</a:t>
            </a:r>
            <a:r>
              <a:rPr lang="en-US" altLang="ko-KR" sz="1600" b="1" dirty="0"/>
              <a:t> </a:t>
            </a:r>
            <a:r>
              <a:rPr lang="en-US" altLang="ko-KR" sz="1600" b="1" dirty="0" err="1"/>
              <a:t>bị</a:t>
            </a:r>
            <a:r>
              <a:rPr lang="en-US" altLang="ko-KR" sz="1600" b="1" dirty="0"/>
              <a:t> </a:t>
            </a:r>
            <a:r>
              <a:rPr lang="en-US" altLang="ko-KR" sz="1600" b="1" dirty="0" err="1"/>
              <a:t>bị</a:t>
            </a:r>
            <a:r>
              <a:rPr lang="en-US" altLang="ko-KR" sz="1600" b="1" dirty="0"/>
              <a:t> </a:t>
            </a:r>
            <a:r>
              <a:rPr lang="en-US" altLang="ko-KR" sz="1600" b="1" dirty="0" err="1"/>
              <a:t>mài</a:t>
            </a:r>
            <a:r>
              <a:rPr lang="en-US" altLang="ko-KR" sz="1600" b="1" dirty="0"/>
              <a:t> </a:t>
            </a:r>
            <a:r>
              <a:rPr lang="en-US" altLang="ko-KR" sz="1600" b="1" dirty="0" err="1"/>
              <a:t>mòn</a:t>
            </a:r>
            <a:r>
              <a:rPr lang="en-US" altLang="ko-KR" sz="1600" b="1" dirty="0"/>
              <a:t> </a:t>
            </a:r>
            <a:r>
              <a:rPr lang="en-US" altLang="ko-KR" sz="1600" b="1" dirty="0" err="1"/>
              <a:t>hoặc</a:t>
            </a:r>
            <a:r>
              <a:rPr lang="en-US" altLang="ko-KR" sz="1600" b="1" dirty="0"/>
              <a:t> </a:t>
            </a:r>
            <a:r>
              <a:rPr lang="en-US" altLang="ko-KR" sz="1600" b="1" dirty="0" err="1"/>
              <a:t>phát</a:t>
            </a:r>
            <a:r>
              <a:rPr lang="en-US" altLang="ko-KR" sz="1600" b="1" dirty="0"/>
              <a:t> </a:t>
            </a:r>
            <a:r>
              <a:rPr lang="en-US" altLang="ko-KR" sz="1600" b="1" dirty="0" err="1"/>
              <a:t>sinh</a:t>
            </a:r>
            <a:r>
              <a:rPr lang="en-US" altLang="ko-KR" sz="1600" b="1" dirty="0"/>
              <a:t> </a:t>
            </a:r>
            <a:r>
              <a:rPr lang="en-US" altLang="ko-KR" sz="1600" b="1" dirty="0" err="1"/>
              <a:t>biến</a:t>
            </a:r>
            <a:r>
              <a:rPr lang="en-US" altLang="ko-KR" sz="1600" b="1" dirty="0"/>
              <a:t> </a:t>
            </a:r>
            <a:r>
              <a:rPr lang="en-US" altLang="ko-KR" sz="1600" b="1" dirty="0" err="1"/>
              <a:t>động</a:t>
            </a:r>
            <a:r>
              <a:rPr lang="en-US" altLang="ko-KR" sz="1600" b="1" dirty="0"/>
              <a:t> </a:t>
            </a:r>
            <a:r>
              <a:rPr lang="en-US" altLang="ko-KR" sz="1600" b="1" dirty="0" err="1"/>
              <a:t>về</a:t>
            </a:r>
            <a:r>
              <a:rPr lang="en-US" altLang="ko-KR" sz="1600" b="1" dirty="0"/>
              <a:t> </a:t>
            </a:r>
            <a:r>
              <a:rPr lang="en-US" altLang="ko-KR" sz="1600" b="1" dirty="0" err="1"/>
              <a:t>người</a:t>
            </a:r>
            <a:r>
              <a:rPr lang="en-US" altLang="ko-KR" sz="1600" b="1" dirty="0"/>
              <a:t> </a:t>
            </a:r>
            <a:r>
              <a:rPr lang="en-US" altLang="ko-KR" sz="1600" b="1" dirty="0" err="1"/>
              <a:t>đo</a:t>
            </a:r>
            <a:r>
              <a:rPr lang="en-US" altLang="ko-KR" sz="1600" b="1" dirty="0"/>
              <a:t> </a:t>
            </a:r>
            <a:r>
              <a:rPr lang="en-US" altLang="ko-KR" sz="1600" b="1" dirty="0" err="1"/>
              <a:t>đạc</a:t>
            </a:r>
            <a:r>
              <a:rPr lang="en-US" altLang="ko-KR" sz="1600" b="1" dirty="0"/>
              <a:t>, </a:t>
            </a:r>
            <a:r>
              <a:rPr lang="en-US" altLang="ko-KR" sz="1600" b="1" dirty="0" err="1"/>
              <a:t>hoàn</a:t>
            </a:r>
            <a:r>
              <a:rPr lang="en-US" altLang="ko-KR" sz="1600" b="1" dirty="0"/>
              <a:t> </a:t>
            </a:r>
            <a:r>
              <a:rPr lang="en-US" altLang="ko-KR" sz="1600" b="1" dirty="0" err="1"/>
              <a:t>cảnh</a:t>
            </a:r>
            <a:r>
              <a:rPr lang="en-US" altLang="ko-KR" sz="1600" b="1" dirty="0"/>
              <a:t> </a:t>
            </a:r>
            <a:r>
              <a:rPr lang="en-US" altLang="ko-KR" sz="1600" b="1" dirty="0" err="1"/>
              <a:t>môi</a:t>
            </a:r>
            <a:r>
              <a:rPr lang="en-US" altLang="ko-KR" sz="1600" b="1" dirty="0"/>
              <a:t> </a:t>
            </a:r>
            <a:r>
              <a:rPr lang="en-US" altLang="ko-KR" sz="1600" b="1" dirty="0" err="1"/>
              <a:t>trường</a:t>
            </a:r>
            <a:r>
              <a:rPr lang="en-US" altLang="ko-KR" sz="1600" b="1" dirty="0"/>
              <a:t> </a:t>
            </a:r>
            <a:r>
              <a:rPr lang="en-US" altLang="ko-KR" sz="1600" b="1" dirty="0" err="1"/>
              <a:t>thay</a:t>
            </a:r>
            <a:endParaRPr lang="en-US" altLang="ko-KR" sz="1600" b="1" dirty="0"/>
          </a:p>
          <a:p>
            <a:pPr>
              <a:lnSpc>
                <a:spcPct val="130000"/>
              </a:lnSpc>
              <a:buClr>
                <a:srgbClr val="C5003D"/>
              </a:buClr>
            </a:pPr>
            <a:r>
              <a:rPr lang="en-US" altLang="ko-KR" sz="1600" b="1" dirty="0"/>
              <a:t> </a:t>
            </a:r>
            <a:r>
              <a:rPr lang="en-US" altLang="ko-KR" sz="1600" b="1" dirty="0" err="1"/>
              <a:t>đổi</a:t>
            </a:r>
            <a:r>
              <a:rPr lang="en-US" altLang="ko-KR" sz="1600" b="1" dirty="0"/>
              <a:t> ..</a:t>
            </a:r>
            <a:r>
              <a:rPr lang="en-US" altLang="ko-KR" sz="1600" b="1" dirty="0" err="1"/>
              <a:t>thì</a:t>
            </a:r>
            <a:r>
              <a:rPr lang="en-US" altLang="ko-KR" sz="1600" b="1" dirty="0"/>
              <a:t> </a:t>
            </a:r>
            <a:r>
              <a:rPr lang="en-US" altLang="ko-KR" sz="1600" b="1" dirty="0" err="1"/>
              <a:t>chất</a:t>
            </a:r>
            <a:r>
              <a:rPr lang="en-US" altLang="ko-KR" sz="1600" b="1" dirty="0"/>
              <a:t> </a:t>
            </a:r>
            <a:r>
              <a:rPr lang="en-US" altLang="ko-KR" sz="1600" b="1" dirty="0" err="1"/>
              <a:t>lượng</a:t>
            </a:r>
            <a:r>
              <a:rPr lang="en-US" altLang="ko-KR" sz="1600" b="1" dirty="0"/>
              <a:t> </a:t>
            </a:r>
            <a:r>
              <a:rPr lang="en-US" altLang="ko-KR" sz="1600" b="1" dirty="0" err="1"/>
              <a:t>sản</a:t>
            </a:r>
            <a:r>
              <a:rPr lang="en-US" altLang="ko-KR" sz="1600" b="1" dirty="0"/>
              <a:t> </a:t>
            </a:r>
            <a:r>
              <a:rPr lang="en-US" altLang="ko-KR" sz="1600" b="1" dirty="0" err="1"/>
              <a:t>phẩm</a:t>
            </a:r>
            <a:r>
              <a:rPr lang="en-US" altLang="ko-KR" sz="1600" b="1" dirty="0"/>
              <a:t> </a:t>
            </a:r>
            <a:r>
              <a:rPr lang="en-US" altLang="ko-KR" sz="1600" b="1" dirty="0" err="1"/>
              <a:t>sẽ</a:t>
            </a:r>
            <a:r>
              <a:rPr lang="en-US" altLang="ko-KR" sz="1600" b="1" dirty="0"/>
              <a:t> </a:t>
            </a:r>
            <a:r>
              <a:rPr lang="en-US" altLang="ko-KR" sz="1600" b="1" dirty="0" err="1"/>
              <a:t>xấu</a:t>
            </a:r>
            <a:r>
              <a:rPr lang="en-US" altLang="ko-KR" sz="1600" b="1" dirty="0"/>
              <a:t> </a:t>
            </a:r>
            <a:r>
              <a:rPr lang="en-US" altLang="ko-KR" sz="1600" b="1" dirty="0" err="1"/>
              <a:t>đi</a:t>
            </a:r>
            <a:endParaRPr lang="en-US" altLang="ko-KR" sz="1600" b="1" dirty="0"/>
          </a:p>
          <a:p>
            <a:pPr>
              <a:lnSpc>
                <a:spcPct val="130000"/>
              </a:lnSpc>
              <a:buClr>
                <a:srgbClr val="C5003D"/>
              </a:buClr>
            </a:pPr>
            <a:r>
              <a:rPr lang="en-US" altLang="ko-KR" sz="1600" b="1" dirty="0" err="1"/>
              <a:t>Nếu</a:t>
            </a:r>
            <a:r>
              <a:rPr lang="en-US" altLang="ko-KR" sz="1600" b="1" dirty="0"/>
              <a:t> </a:t>
            </a:r>
            <a:r>
              <a:rPr lang="en-US" altLang="ko-KR" sz="1600" b="1" dirty="0" err="1"/>
              <a:t>xảy</a:t>
            </a:r>
            <a:r>
              <a:rPr lang="en-US" altLang="ko-KR" sz="1600" b="1" dirty="0"/>
              <a:t> </a:t>
            </a:r>
            <a:r>
              <a:rPr lang="en-US" altLang="ko-KR" sz="1600" b="1" dirty="0" err="1"/>
              <a:t>ra</a:t>
            </a:r>
            <a:r>
              <a:rPr lang="en-US" altLang="ko-KR" sz="1600" b="1" dirty="0"/>
              <a:t> </a:t>
            </a:r>
            <a:r>
              <a:rPr lang="en-US" altLang="ko-KR" sz="1600" b="1" dirty="0" err="1"/>
              <a:t>mức</a:t>
            </a:r>
            <a:r>
              <a:rPr lang="en-US" altLang="ko-KR" sz="1600" b="1" dirty="0"/>
              <a:t> </a:t>
            </a:r>
            <a:r>
              <a:rPr lang="en-US" altLang="ko-KR" sz="1600" b="1" dirty="0" err="1"/>
              <a:t>độ</a:t>
            </a:r>
            <a:r>
              <a:rPr lang="en-US" altLang="ko-KR" sz="1600" b="1" dirty="0"/>
              <a:t> </a:t>
            </a:r>
            <a:r>
              <a:rPr lang="en-US" altLang="ko-KR" sz="1600" b="1" dirty="0" err="1"/>
              <a:t>như</a:t>
            </a:r>
            <a:r>
              <a:rPr lang="en-US" altLang="ko-KR" sz="1600" b="1" dirty="0"/>
              <a:t> </a:t>
            </a:r>
            <a:r>
              <a:rPr lang="en-US" altLang="ko-KR" sz="1600" b="1" dirty="0" err="1"/>
              <a:t>vậy</a:t>
            </a:r>
            <a:r>
              <a:rPr lang="en-US" altLang="ko-KR" sz="1600" b="1" dirty="0"/>
              <a:t> </a:t>
            </a:r>
            <a:r>
              <a:rPr lang="en-US" altLang="ko-KR" sz="1600" b="1" dirty="0" err="1"/>
              <a:t>thì</a:t>
            </a:r>
            <a:r>
              <a:rPr lang="en-US" altLang="ko-KR" sz="1600" b="1" dirty="0"/>
              <a:t> </a:t>
            </a:r>
            <a:r>
              <a:rPr lang="en-US" altLang="ko-KR" sz="1600" b="1" dirty="0" err="1"/>
              <a:t>tiêu</a:t>
            </a:r>
            <a:r>
              <a:rPr lang="en-US" altLang="ko-KR" sz="1600" b="1" dirty="0"/>
              <a:t> </a:t>
            </a:r>
            <a:r>
              <a:rPr lang="en-US" altLang="ko-KR" sz="1600" b="1" dirty="0" err="1"/>
              <a:t>chuẩn</a:t>
            </a:r>
            <a:r>
              <a:rPr lang="en-US" altLang="ko-KR" sz="1600" b="1" dirty="0"/>
              <a:t> </a:t>
            </a:r>
            <a:r>
              <a:rPr lang="en-US" altLang="ko-KR" sz="1600" b="1" dirty="0" err="1"/>
              <a:t>giá</a:t>
            </a:r>
            <a:r>
              <a:rPr lang="en-US" altLang="ko-KR" sz="1600" b="1" dirty="0"/>
              <a:t> </a:t>
            </a:r>
            <a:r>
              <a:rPr lang="en-US" altLang="ko-KR" sz="1600" b="1" dirty="0" err="1"/>
              <a:t>trị</a:t>
            </a:r>
            <a:r>
              <a:rPr lang="en-US" altLang="ko-KR" sz="1600" b="1" dirty="0"/>
              <a:t> Z </a:t>
            </a:r>
            <a:r>
              <a:rPr lang="en-US" altLang="ko-KR" sz="1600" b="1" dirty="0" err="1"/>
              <a:t>sẽ</a:t>
            </a:r>
            <a:r>
              <a:rPr lang="en-US" altLang="ko-KR" sz="1600" b="1" dirty="0"/>
              <a:t> </a:t>
            </a:r>
            <a:r>
              <a:rPr lang="en-US" altLang="ko-KR" sz="1600" b="1" dirty="0" err="1"/>
              <a:t>xấu</a:t>
            </a:r>
            <a:r>
              <a:rPr lang="en-US" altLang="ko-KR" sz="1600" b="1" dirty="0"/>
              <a:t> </a:t>
            </a:r>
            <a:r>
              <a:rPr lang="en-US" altLang="ko-KR" sz="1600" b="1" dirty="0" err="1"/>
              <a:t>đi</a:t>
            </a:r>
            <a:r>
              <a:rPr lang="en-US" altLang="ko-KR" sz="1600" b="1" dirty="0"/>
              <a:t> 1.0 ~ 1.5</a:t>
            </a:r>
          </a:p>
          <a:p>
            <a:pPr>
              <a:lnSpc>
                <a:spcPct val="130000"/>
              </a:lnSpc>
              <a:buClr>
                <a:srgbClr val="C5003D"/>
              </a:buClr>
            </a:pPr>
            <a:endParaRPr lang="en-US" altLang="ko-KR" sz="1600" b="1" dirty="0"/>
          </a:p>
          <a:p>
            <a:pPr>
              <a:lnSpc>
                <a:spcPct val="130000"/>
              </a:lnSpc>
              <a:buClr>
                <a:srgbClr val="C5003D"/>
              </a:buClr>
            </a:pPr>
            <a:r>
              <a:rPr lang="en-US" altLang="ko-KR" sz="1600" b="1" dirty="0" err="1"/>
              <a:t>Trong</a:t>
            </a:r>
            <a:r>
              <a:rPr lang="en-US" altLang="ko-KR" sz="1600" b="1" dirty="0"/>
              <a:t> </a:t>
            </a:r>
            <a:r>
              <a:rPr lang="en-US" altLang="ko-KR" sz="1600" b="1" dirty="0" err="1"/>
              <a:t>trường</a:t>
            </a:r>
            <a:r>
              <a:rPr lang="en-US" altLang="ko-KR" sz="1600" b="1" dirty="0"/>
              <a:t> </a:t>
            </a:r>
            <a:r>
              <a:rPr lang="en-US" altLang="ko-KR" sz="1600" b="1" dirty="0" err="1"/>
              <a:t>hợp</a:t>
            </a:r>
            <a:r>
              <a:rPr lang="en-US" altLang="ko-KR" sz="1600" b="1" dirty="0"/>
              <a:t> line </a:t>
            </a:r>
            <a:r>
              <a:rPr lang="en-US" altLang="ko-KR" sz="1600" b="1" dirty="0" err="1"/>
              <a:t>được</a:t>
            </a:r>
            <a:r>
              <a:rPr lang="en-US" altLang="ko-KR" sz="1600" b="1" dirty="0"/>
              <a:t> </a:t>
            </a:r>
            <a:r>
              <a:rPr lang="en-US" altLang="ko-KR" sz="1600" b="1" dirty="0" err="1"/>
              <a:t>ổn</a:t>
            </a:r>
            <a:r>
              <a:rPr lang="en-US" altLang="ko-KR" sz="1600" b="1" dirty="0"/>
              <a:t> </a:t>
            </a:r>
            <a:r>
              <a:rPr lang="en-US" altLang="ko-KR" sz="1600" b="1" dirty="0" err="1"/>
              <a:t>đinh</a:t>
            </a:r>
            <a:r>
              <a:rPr lang="en-US" altLang="ko-KR" sz="1600" b="1" dirty="0"/>
              <a:t> </a:t>
            </a:r>
            <a:r>
              <a:rPr lang="en-US" altLang="ko-KR" sz="1600" b="1" dirty="0" err="1"/>
              <a:t>bình</a:t>
            </a:r>
            <a:r>
              <a:rPr lang="en-US" altLang="ko-KR" sz="1600" b="1" dirty="0"/>
              <a:t> </a:t>
            </a:r>
            <a:r>
              <a:rPr lang="en-US" altLang="ko-KR" sz="1600" b="1" dirty="0" err="1"/>
              <a:t>thường</a:t>
            </a:r>
            <a:r>
              <a:rPr lang="en-US" altLang="ko-KR" sz="1600" b="1" dirty="0"/>
              <a:t> </a:t>
            </a:r>
            <a:r>
              <a:rPr lang="en-US" altLang="ko-KR" sz="1600" b="1" dirty="0" err="1"/>
              <a:t>nếu</a:t>
            </a:r>
            <a:r>
              <a:rPr lang="en-US" altLang="ko-KR" sz="1600" b="1" dirty="0"/>
              <a:t> </a:t>
            </a:r>
            <a:r>
              <a:rPr lang="en-US" altLang="ko-KR" sz="1600" b="1" dirty="0" err="1"/>
              <a:t>mức</a:t>
            </a:r>
            <a:r>
              <a:rPr lang="en-US" altLang="ko-KR" sz="1600" b="1" dirty="0"/>
              <a:t> </a:t>
            </a:r>
            <a:r>
              <a:rPr lang="en-US" altLang="ko-KR" sz="1600" b="1" dirty="0" err="1"/>
              <a:t>độ</a:t>
            </a:r>
            <a:r>
              <a:rPr lang="en-US" altLang="ko-KR" sz="1600" b="1" dirty="0"/>
              <a:t> </a:t>
            </a:r>
            <a:r>
              <a:rPr lang="en-US" altLang="ko-KR" sz="1600" b="1" dirty="0" err="1"/>
              <a:t>xấu</a:t>
            </a:r>
            <a:r>
              <a:rPr lang="en-US" altLang="ko-KR" sz="1600" b="1" dirty="0"/>
              <a:t> </a:t>
            </a:r>
            <a:r>
              <a:rPr lang="en-US" altLang="ko-KR" sz="1600" b="1" dirty="0" err="1"/>
              <a:t>đi</a:t>
            </a:r>
            <a:r>
              <a:rPr lang="en-US" altLang="ko-KR" sz="1600" b="1" dirty="0"/>
              <a:t> </a:t>
            </a:r>
            <a:r>
              <a:rPr lang="en-US" altLang="ko-KR" sz="1600" b="1" dirty="0" err="1"/>
              <a:t>là</a:t>
            </a:r>
            <a:r>
              <a:rPr lang="en-US" altLang="ko-KR" sz="1600" b="1" dirty="0"/>
              <a:t> 1.0, </a:t>
            </a:r>
            <a:r>
              <a:rPr lang="en-US" altLang="ko-KR" sz="1600" b="1" dirty="0" err="1"/>
              <a:t>thì</a:t>
            </a:r>
            <a:r>
              <a:rPr lang="en-US" altLang="ko-KR" sz="1600" b="1" dirty="0"/>
              <a:t> </a:t>
            </a:r>
            <a:r>
              <a:rPr lang="en-US" altLang="ko-KR" sz="1600" b="1" dirty="0" err="1"/>
              <a:t>trường</a:t>
            </a:r>
            <a:r>
              <a:rPr lang="en-US" altLang="ko-KR" sz="1600" b="1" dirty="0"/>
              <a:t> </a:t>
            </a:r>
            <a:r>
              <a:rPr lang="en-US" altLang="ko-KR" sz="1600" b="1" dirty="0" err="1"/>
              <a:t>hợp</a:t>
            </a:r>
            <a:endParaRPr lang="en-US" altLang="ko-KR" sz="1600" b="1" dirty="0"/>
          </a:p>
          <a:p>
            <a:pPr>
              <a:lnSpc>
                <a:spcPct val="130000"/>
              </a:lnSpc>
              <a:buClr>
                <a:srgbClr val="C5003D"/>
              </a:buClr>
            </a:pPr>
            <a:r>
              <a:rPr lang="en-US" altLang="ko-KR" sz="1600" b="1" dirty="0" err="1"/>
              <a:t>phân</a:t>
            </a:r>
            <a:r>
              <a:rPr lang="en-US" altLang="ko-KR" sz="1600" b="1" dirty="0"/>
              <a:t> </a:t>
            </a:r>
            <a:r>
              <a:rPr lang="en-US" altLang="ko-KR" sz="1600" b="1" dirty="0" err="1"/>
              <a:t>bổ</a:t>
            </a:r>
            <a:r>
              <a:rPr lang="en-US" altLang="ko-KR" sz="1600" b="1" dirty="0"/>
              <a:t> </a:t>
            </a:r>
            <a:r>
              <a:rPr lang="en-US" altLang="ko-KR" sz="1600" b="1" dirty="0" err="1"/>
              <a:t>của</a:t>
            </a:r>
            <a:r>
              <a:rPr lang="en-US" altLang="ko-KR" sz="1600" b="1" dirty="0"/>
              <a:t> process </a:t>
            </a:r>
            <a:r>
              <a:rPr lang="en-US" altLang="ko-KR" sz="1600" b="1" dirty="0" err="1"/>
              <a:t>sẽ</a:t>
            </a:r>
            <a:r>
              <a:rPr lang="en-US" altLang="ko-KR" sz="1600" b="1" dirty="0"/>
              <a:t> </a:t>
            </a:r>
            <a:r>
              <a:rPr lang="en-US" altLang="ko-KR" sz="1600" b="1" dirty="0" err="1"/>
              <a:t>xấu</a:t>
            </a:r>
            <a:r>
              <a:rPr lang="en-US" altLang="ko-KR" sz="1600" b="1" dirty="0"/>
              <a:t> </a:t>
            </a:r>
            <a:r>
              <a:rPr lang="en-US" altLang="ko-KR" sz="1600" b="1" dirty="0" err="1"/>
              <a:t>đi</a:t>
            </a:r>
            <a:r>
              <a:rPr lang="en-US" altLang="ko-KR" sz="1600" b="1" dirty="0"/>
              <a:t> </a:t>
            </a:r>
            <a:r>
              <a:rPr lang="en-US" altLang="ko-KR" sz="1600" b="1" dirty="0" err="1"/>
              <a:t>mức</a:t>
            </a:r>
            <a:r>
              <a:rPr lang="en-US" altLang="ko-KR" sz="1600" b="1" dirty="0"/>
              <a:t> </a:t>
            </a:r>
            <a:r>
              <a:rPr lang="en-US" altLang="ko-KR" sz="1600" b="1" dirty="0" err="1"/>
              <a:t>độ</a:t>
            </a:r>
            <a:r>
              <a:rPr lang="en-US" altLang="ko-KR" sz="1600" b="1" dirty="0"/>
              <a:t> 1.5</a:t>
            </a:r>
            <a:r>
              <a:rPr lang="ko-KR" altLang="en-US" sz="1600" b="1" dirty="0"/>
              <a:t> </a:t>
            </a:r>
            <a:r>
              <a:rPr lang="en-US" altLang="ko-KR" sz="1600" b="1" dirty="0"/>
              <a:t>. </a:t>
            </a:r>
            <a:r>
              <a:rPr lang="en-US" altLang="ko-KR" sz="1600" b="1" dirty="0" err="1"/>
              <a:t>Vì</a:t>
            </a:r>
            <a:r>
              <a:rPr lang="en-US" altLang="ko-KR" sz="1600" b="1" dirty="0"/>
              <a:t> </a:t>
            </a:r>
            <a:r>
              <a:rPr lang="en-US" altLang="ko-KR" sz="1600" b="1" dirty="0" err="1"/>
              <a:t>vậy</a:t>
            </a:r>
            <a:r>
              <a:rPr lang="en-US" altLang="ko-KR" sz="1600" b="1" dirty="0"/>
              <a:t> </a:t>
            </a:r>
            <a:r>
              <a:rPr lang="en-US" altLang="ko-KR" sz="1600" b="1" dirty="0" err="1"/>
              <a:t>trong</a:t>
            </a:r>
            <a:r>
              <a:rPr lang="en-US" altLang="ko-KR" sz="1600" b="1" dirty="0"/>
              <a:t> </a:t>
            </a:r>
            <a:r>
              <a:rPr lang="en-US" altLang="ko-KR" sz="1600" b="1" dirty="0" err="1"/>
              <a:t>trường</a:t>
            </a:r>
            <a:r>
              <a:rPr lang="en-US" altLang="ko-KR" sz="1600" b="1" dirty="0"/>
              <a:t> </a:t>
            </a:r>
            <a:r>
              <a:rPr lang="en-US" altLang="ko-KR" sz="1600" b="1" dirty="0" err="1"/>
              <a:t>hợp</a:t>
            </a:r>
            <a:r>
              <a:rPr lang="en-US" altLang="ko-KR" sz="1600" b="1" dirty="0"/>
              <a:t> </a:t>
            </a:r>
            <a:r>
              <a:rPr lang="en-US" altLang="ko-KR" sz="1600" b="1" dirty="0" err="1"/>
              <a:t>thông</a:t>
            </a:r>
            <a:r>
              <a:rPr lang="en-US" altLang="ko-KR" sz="1600" b="1" dirty="0"/>
              <a:t> </a:t>
            </a:r>
            <a:r>
              <a:rPr lang="en-US" altLang="ko-KR" sz="1600" b="1" dirty="0" err="1"/>
              <a:t>thường</a:t>
            </a:r>
            <a:r>
              <a:rPr lang="en-US" altLang="ko-KR" sz="1600" b="1" dirty="0"/>
              <a:t> </a:t>
            </a:r>
            <a:r>
              <a:rPr lang="en-US" altLang="ko-KR" sz="1600" b="1" dirty="0" err="1"/>
              <a:t>xem</a:t>
            </a:r>
            <a:r>
              <a:rPr lang="en-US" altLang="ko-KR" sz="1600" b="1" dirty="0"/>
              <a:t> </a:t>
            </a:r>
          </a:p>
          <a:p>
            <a:pPr>
              <a:lnSpc>
                <a:spcPct val="130000"/>
              </a:lnSpc>
              <a:buClr>
                <a:srgbClr val="C5003D"/>
              </a:buClr>
            </a:pPr>
            <a:r>
              <a:rPr lang="en-US" altLang="ko-KR" sz="1600" b="1" dirty="0" err="1"/>
              <a:t>xét</a:t>
            </a:r>
            <a:r>
              <a:rPr lang="en-US" altLang="ko-KR" sz="1600" b="1" dirty="0"/>
              <a:t> </a:t>
            </a:r>
            <a:r>
              <a:rPr lang="en-US" altLang="ko-KR" sz="1600" b="1" dirty="0" err="1"/>
              <a:t>trườn</a:t>
            </a:r>
            <a:r>
              <a:rPr lang="en-US" altLang="ko-KR" sz="1600" b="1" dirty="0"/>
              <a:t> </a:t>
            </a:r>
            <a:r>
              <a:rPr lang="en-US" altLang="ko-KR" sz="1600" b="1" dirty="0" err="1"/>
              <a:t>hợp</a:t>
            </a:r>
            <a:r>
              <a:rPr lang="en-US" altLang="ko-KR" sz="1600" b="1" dirty="0"/>
              <a:t> Worst </a:t>
            </a:r>
            <a:r>
              <a:rPr lang="en-US" altLang="ko-KR" sz="1600" b="1" dirty="0" err="1"/>
              <a:t>và</a:t>
            </a:r>
            <a:r>
              <a:rPr lang="en-US" altLang="ko-KR" sz="1600" b="1" dirty="0"/>
              <a:t> </a:t>
            </a:r>
            <a:r>
              <a:rPr lang="en-US" altLang="ko-KR" sz="1600" b="1" dirty="0" err="1"/>
              <a:t>giả</a:t>
            </a:r>
            <a:r>
              <a:rPr lang="en-US" altLang="ko-KR" sz="1600" b="1" dirty="0"/>
              <a:t> </a:t>
            </a:r>
            <a:r>
              <a:rPr lang="en-US" altLang="ko-KR" sz="1600" b="1" dirty="0" err="1"/>
              <a:t>định</a:t>
            </a:r>
            <a:r>
              <a:rPr lang="en-US" altLang="ko-KR" sz="1600" b="1" dirty="0"/>
              <a:t> 1.5 Shift. </a:t>
            </a:r>
          </a:p>
          <a:p>
            <a:pPr>
              <a:lnSpc>
                <a:spcPct val="130000"/>
              </a:lnSpc>
              <a:buClr>
                <a:srgbClr val="C5003D"/>
              </a:buClr>
            </a:pPr>
            <a:endParaRPr lang="en-US" altLang="ko-KR" sz="1600" b="1" dirty="0"/>
          </a:p>
          <a:p>
            <a:pPr>
              <a:lnSpc>
                <a:spcPct val="130000"/>
              </a:lnSpc>
              <a:buClr>
                <a:srgbClr val="C5003D"/>
              </a:buClr>
            </a:pPr>
            <a:r>
              <a:rPr lang="en-US" altLang="ko-KR" sz="1600" b="1" dirty="0" err="1"/>
              <a:t>Có</a:t>
            </a:r>
            <a:r>
              <a:rPr lang="en-US" altLang="ko-KR" sz="1600" b="1" dirty="0"/>
              <a:t> </a:t>
            </a:r>
            <a:r>
              <a:rPr lang="en-US" altLang="ko-KR" sz="1600" b="1" dirty="0" err="1"/>
              <a:t>thể</a:t>
            </a:r>
            <a:r>
              <a:rPr lang="en-US" altLang="ko-KR" sz="1600" b="1" dirty="0"/>
              <a:t> </a:t>
            </a: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được</a:t>
            </a:r>
            <a:r>
              <a:rPr lang="en-US" altLang="ko-KR" sz="1600" b="1" dirty="0"/>
              <a:t> </a:t>
            </a:r>
            <a:r>
              <a:rPr lang="en-US" altLang="ko-KR" sz="1600" b="1" dirty="0" err="1"/>
              <a:t>Zshift</a:t>
            </a:r>
            <a:r>
              <a:rPr lang="en-US" altLang="ko-KR" sz="1600" b="1" dirty="0"/>
              <a:t> </a:t>
            </a:r>
            <a:r>
              <a:rPr lang="vi-VN" altLang="ko-KR" sz="1600" b="1" dirty="0"/>
              <a:t>vì Zst và Zlt chỉ có thể được phân biệt khi một mẫu được lấy mẫu</a:t>
            </a:r>
            <a:endParaRPr lang="en-US" altLang="ko-KR" sz="1600" b="1" dirty="0"/>
          </a:p>
          <a:p>
            <a:pPr>
              <a:lnSpc>
                <a:spcPct val="130000"/>
              </a:lnSpc>
              <a:buClr>
                <a:srgbClr val="C5003D"/>
              </a:buClr>
            </a:pPr>
            <a:r>
              <a:rPr lang="vi-VN" altLang="ko-KR" sz="1600" b="1" dirty="0"/>
              <a:t> bằng phương pháp Rational Subgroup. </a:t>
            </a:r>
            <a:endParaRPr lang="en-US" altLang="ko-KR" sz="1600" b="1" dirty="0"/>
          </a:p>
          <a:p>
            <a:pPr>
              <a:lnSpc>
                <a:spcPct val="130000"/>
              </a:lnSpc>
              <a:buClr>
                <a:srgbClr val="C5003D"/>
              </a:buClr>
            </a:pPr>
            <a:endParaRPr lang="en-US" altLang="ko-KR" sz="1600" b="1" dirty="0"/>
          </a:p>
          <a:p>
            <a:pPr>
              <a:lnSpc>
                <a:spcPct val="130000"/>
              </a:lnSpc>
              <a:buClr>
                <a:srgbClr val="C5003D"/>
              </a:buClr>
            </a:pPr>
            <a:r>
              <a:rPr lang="en-US" altLang="ko-KR" sz="1600" b="1" dirty="0" err="1"/>
              <a:t>Khi</a:t>
            </a:r>
            <a:r>
              <a:rPr lang="en-US" altLang="ko-KR" sz="1600" b="1" dirty="0"/>
              <a:t> </a:t>
            </a:r>
            <a:r>
              <a:rPr lang="en-US" altLang="ko-KR" sz="1600" b="1" dirty="0" err="1"/>
              <a:t>quyết</a:t>
            </a:r>
            <a:r>
              <a:rPr lang="en-US" altLang="ko-KR" sz="1600" b="1" dirty="0"/>
              <a:t> </a:t>
            </a:r>
            <a:r>
              <a:rPr lang="en-US" altLang="ko-KR" sz="1600" b="1" dirty="0" err="1"/>
              <a:t>định</a:t>
            </a:r>
            <a:r>
              <a:rPr lang="en-US" altLang="ko-KR" sz="1600" b="1" dirty="0"/>
              <a:t> </a:t>
            </a:r>
            <a:r>
              <a:rPr lang="en-US" altLang="ko-KR" sz="1600" b="1" dirty="0" err="1"/>
              <a:t>phương</a:t>
            </a:r>
            <a:r>
              <a:rPr lang="en-US" altLang="ko-KR" sz="1600" b="1" dirty="0"/>
              <a:t> </a:t>
            </a:r>
            <a:r>
              <a:rPr lang="en-US" altLang="ko-KR" sz="1600" b="1" dirty="0" err="1"/>
              <a:t>hướng</a:t>
            </a:r>
            <a:r>
              <a:rPr lang="en-US" altLang="ko-KR" sz="1600" b="1" dirty="0"/>
              <a:t> </a:t>
            </a:r>
            <a:r>
              <a:rPr lang="en-US" altLang="ko-KR" sz="1600" b="1" dirty="0" err="1"/>
              <a:t>cải</a:t>
            </a:r>
            <a:r>
              <a:rPr lang="en-US" altLang="ko-KR" sz="1600" b="1" dirty="0"/>
              <a:t> </a:t>
            </a:r>
            <a:r>
              <a:rPr lang="en-US" altLang="ko-KR" sz="1600" b="1" dirty="0" err="1"/>
              <a:t>thiện</a:t>
            </a:r>
            <a:r>
              <a:rPr lang="en-US" altLang="ko-KR" sz="1600" b="1" dirty="0"/>
              <a:t> </a:t>
            </a:r>
            <a:r>
              <a:rPr lang="en-US" altLang="ko-KR" sz="1600" b="1" dirty="0" err="1"/>
              <a:t>lượng</a:t>
            </a:r>
            <a:r>
              <a:rPr lang="en-US" altLang="ko-KR" sz="1600" b="1" dirty="0"/>
              <a:t> </a:t>
            </a:r>
            <a:r>
              <a:rPr lang="en-US" altLang="ko-KR" sz="1600" b="1" dirty="0" err="1"/>
              <a:t>Zshift</a:t>
            </a:r>
            <a:r>
              <a:rPr lang="en-US" altLang="ko-KR" sz="1600" b="1" dirty="0"/>
              <a:t> </a:t>
            </a:r>
            <a:r>
              <a:rPr lang="en-US" altLang="ko-KR" sz="1600" b="1" dirty="0" err="1"/>
              <a:t>lớn</a:t>
            </a:r>
            <a:r>
              <a:rPr lang="en-US" altLang="ko-KR" sz="1600" b="1" dirty="0"/>
              <a:t> </a:t>
            </a:r>
            <a:r>
              <a:rPr lang="en-US" altLang="ko-KR" sz="1600" b="1" dirty="0" err="1"/>
              <a:t>hơn</a:t>
            </a:r>
            <a:r>
              <a:rPr lang="en-US" altLang="ko-KR" sz="1600" b="1" dirty="0"/>
              <a:t> so </a:t>
            </a:r>
            <a:r>
              <a:rPr lang="en-US" altLang="ko-KR" sz="1600" b="1" dirty="0" err="1"/>
              <a:t>với</a:t>
            </a:r>
            <a:r>
              <a:rPr lang="en-US" altLang="ko-KR" sz="1600" b="1" dirty="0"/>
              <a:t> 1.5 </a:t>
            </a:r>
            <a:r>
              <a:rPr lang="en-US" altLang="ko-KR" sz="1600" b="1" dirty="0" err="1"/>
              <a:t>thì</a:t>
            </a:r>
            <a:r>
              <a:rPr lang="en-US" altLang="ko-KR" sz="1600" b="1" dirty="0"/>
              <a:t> </a:t>
            </a:r>
            <a:r>
              <a:rPr lang="en-US" altLang="ko-KR" sz="1600" b="1" dirty="0" err="1"/>
              <a:t>phán</a:t>
            </a:r>
            <a:r>
              <a:rPr lang="en-US" altLang="ko-KR" sz="1600" b="1" dirty="0"/>
              <a:t> </a:t>
            </a:r>
            <a:r>
              <a:rPr lang="en-US" altLang="ko-KR" sz="1600" b="1" dirty="0" err="1"/>
              <a:t>đoán</a:t>
            </a:r>
            <a:r>
              <a:rPr lang="en-US" altLang="ko-KR" sz="1600" b="1" dirty="0"/>
              <a:t> </a:t>
            </a:r>
            <a:r>
              <a:rPr lang="en-US" altLang="ko-KR" sz="1600" b="1" dirty="0" err="1"/>
              <a:t>là</a:t>
            </a:r>
            <a:r>
              <a:rPr lang="en-US" altLang="ko-KR" sz="1600" b="1" dirty="0"/>
              <a:t> </a:t>
            </a:r>
            <a:r>
              <a:rPr lang="en-US" altLang="ko-KR" sz="1600" b="1" dirty="0" err="1"/>
              <a:t>quản</a:t>
            </a:r>
            <a:endParaRPr lang="en-US" altLang="ko-KR" sz="1600" b="1" dirty="0"/>
          </a:p>
          <a:p>
            <a:pPr>
              <a:lnSpc>
                <a:spcPct val="130000"/>
              </a:lnSpc>
              <a:buClr>
                <a:srgbClr val="C5003D"/>
              </a:buClr>
            </a:pPr>
            <a:r>
              <a:rPr lang="en-US" altLang="ko-KR" sz="1600" b="1" dirty="0" err="1"/>
              <a:t>lý</a:t>
            </a:r>
            <a:r>
              <a:rPr lang="en-US" altLang="ko-KR" sz="1600" b="1" dirty="0"/>
              <a:t> </a:t>
            </a:r>
            <a:r>
              <a:rPr lang="en-US" altLang="ko-KR" sz="1600" b="1" dirty="0" err="1"/>
              <a:t>đang</a:t>
            </a:r>
            <a:r>
              <a:rPr lang="en-US" altLang="ko-KR" sz="1600" b="1" dirty="0"/>
              <a:t> </a:t>
            </a:r>
            <a:r>
              <a:rPr lang="en-US" altLang="ko-KR" sz="1600" b="1" dirty="0" err="1"/>
              <a:t>không</a:t>
            </a:r>
            <a:r>
              <a:rPr lang="en-US" altLang="ko-KR" sz="1600" b="1" dirty="0"/>
              <a:t> </a:t>
            </a:r>
            <a:r>
              <a:rPr lang="en-US" altLang="ko-KR" sz="1600" b="1" dirty="0" err="1"/>
              <a:t>tốt</a:t>
            </a:r>
            <a:r>
              <a:rPr lang="en-US" altLang="ko-KR" sz="1600" b="1" dirty="0"/>
              <a:t>, </a:t>
            </a:r>
            <a:r>
              <a:rPr lang="en-US" altLang="ko-KR" sz="1600" b="1" dirty="0" err="1"/>
              <a:t>nếu</a:t>
            </a:r>
            <a:r>
              <a:rPr lang="en-US" altLang="ko-KR" sz="1600" b="1" dirty="0"/>
              <a:t> </a:t>
            </a:r>
            <a:r>
              <a:rPr lang="en-US" altLang="ko-KR" sz="1600" b="1" dirty="0" err="1"/>
              <a:t>lượng</a:t>
            </a:r>
            <a:r>
              <a:rPr lang="en-US" altLang="ko-KR" sz="1600" b="1" dirty="0"/>
              <a:t> </a:t>
            </a:r>
            <a:r>
              <a:rPr lang="en-US" altLang="ko-KR" sz="1600" b="1" dirty="0" err="1"/>
              <a:t>Zshift</a:t>
            </a:r>
            <a:r>
              <a:rPr lang="en-US" altLang="ko-KR" sz="1600" b="1" dirty="0"/>
              <a:t> </a:t>
            </a:r>
            <a:r>
              <a:rPr lang="en-US" altLang="ko-KR" sz="1600" b="1" dirty="0" err="1"/>
              <a:t>nhỏ</a:t>
            </a:r>
            <a:r>
              <a:rPr lang="en-US" altLang="ko-KR" sz="1600" b="1" dirty="0"/>
              <a:t> </a:t>
            </a:r>
            <a:r>
              <a:rPr lang="en-US" altLang="ko-KR" sz="1600" b="1" dirty="0" err="1"/>
              <a:t>hơn</a:t>
            </a:r>
            <a:r>
              <a:rPr lang="en-US" altLang="ko-KR" sz="1600" b="1" dirty="0"/>
              <a:t> 1.5 </a:t>
            </a:r>
            <a:r>
              <a:rPr lang="en-US" altLang="ko-KR" sz="1600" b="1" dirty="0" err="1"/>
              <a:t>thì</a:t>
            </a:r>
            <a:r>
              <a:rPr lang="en-US" altLang="ko-KR" sz="1600" b="1" dirty="0"/>
              <a:t> </a:t>
            </a:r>
            <a:r>
              <a:rPr lang="en-US" altLang="ko-KR" sz="1600" b="1" dirty="0" err="1"/>
              <a:t>phán</a:t>
            </a:r>
            <a:r>
              <a:rPr lang="en-US" altLang="ko-KR" sz="1600" b="1" dirty="0"/>
              <a:t> </a:t>
            </a:r>
            <a:r>
              <a:rPr lang="en-US" altLang="ko-KR" sz="1600" b="1" dirty="0" err="1"/>
              <a:t>đoán</a:t>
            </a:r>
            <a:r>
              <a:rPr lang="en-US" altLang="ko-KR" sz="1600" b="1" dirty="0"/>
              <a:t> </a:t>
            </a:r>
            <a:r>
              <a:rPr lang="en-US" altLang="ko-KR" sz="1600" b="1" dirty="0" err="1"/>
              <a:t>là</a:t>
            </a:r>
            <a:r>
              <a:rPr lang="en-US" altLang="ko-KR" sz="1600" b="1" dirty="0"/>
              <a:t> </a:t>
            </a:r>
            <a:r>
              <a:rPr lang="en-US" altLang="ko-KR" sz="1600" b="1" dirty="0" err="1"/>
              <a:t>quản</a:t>
            </a:r>
            <a:r>
              <a:rPr lang="en-US" altLang="ko-KR" sz="1600" b="1" dirty="0"/>
              <a:t> </a:t>
            </a:r>
            <a:r>
              <a:rPr lang="en-US" altLang="ko-KR" sz="1600" b="1" dirty="0" err="1"/>
              <a:t>lý</a:t>
            </a:r>
            <a:r>
              <a:rPr lang="en-US" altLang="ko-KR" sz="1600" b="1" dirty="0"/>
              <a:t> </a:t>
            </a:r>
            <a:r>
              <a:rPr lang="en-US" altLang="ko-KR" sz="1600" b="1" dirty="0" err="1"/>
              <a:t>tốt</a:t>
            </a:r>
            <a:endParaRPr lang="en-US" altLang="ko-KR" sz="1600" b="1" dirty="0"/>
          </a:p>
        </p:txBody>
      </p:sp>
      <p:sp>
        <p:nvSpPr>
          <p:cNvPr id="9"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4095987633"/>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50927" y="1484785"/>
            <a:ext cx="4054604"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Minitab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và</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giải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thích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kết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quả</a:t>
            </a:r>
            <a:endParaRPr kumimoji="0" lang="en-US" altLang="ko-KR" sz="1400" b="1" kern="0" dirty="0">
              <a:solidFill>
                <a:sysClr val="windowText" lastClr="000000"/>
              </a:solidFill>
              <a:latin typeface="맑은 고딕" pitchFamily="50" charset="-127"/>
              <a:ea typeface="맑은 고딕" pitchFamily="50" charset="-127"/>
            </a:endParaRPr>
          </a:p>
        </p:txBody>
      </p:sp>
      <p:sp>
        <p:nvSpPr>
          <p:cNvPr id="5" name="Rectangle 31"/>
          <p:cNvSpPr>
            <a:spLocks noChangeArrowheads="1"/>
          </p:cNvSpPr>
          <p:nvPr/>
        </p:nvSpPr>
        <p:spPr bwMode="auto">
          <a:xfrm>
            <a:off x="650334" y="2015579"/>
            <a:ext cx="5608026" cy="336550"/>
          </a:xfrm>
          <a:prstGeom prst="rect">
            <a:avLst/>
          </a:prstGeom>
          <a:solidFill>
            <a:schemeClr val="bg1"/>
          </a:solidFill>
          <a:ln w="12700" algn="ctr">
            <a:noFill/>
            <a:miter lim="800000"/>
            <a:headEnd/>
            <a:tailEnd/>
          </a:ln>
        </p:spPr>
        <p:txBody>
          <a:bodyPr wrap="none" anchor="ctr"/>
          <a:lstStyle/>
          <a:p>
            <a:pPr defTabSz="762000">
              <a:spcBef>
                <a:spcPct val="50000"/>
              </a:spcBef>
              <a:defRPr/>
            </a:pPr>
            <a:r>
              <a:rPr lang="en-US" altLang="ko-KR" sz="1200" b="1" dirty="0">
                <a:solidFill>
                  <a:srgbClr val="000000"/>
                </a:solidFill>
                <a:latin typeface="맑은 고딕" pitchFamily="50" charset="-127"/>
                <a:ea typeface="맑은 고딕" pitchFamily="50" charset="-127"/>
              </a:rPr>
              <a:t>Stat  &gt; Quality Tools &gt;  Capability Analysis &gt; Normal</a:t>
            </a: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227</a:t>
            </a:fld>
            <a:endParaRPr lang="ko-KR" altLang="en-US" dirty="0">
              <a:solidFill>
                <a:prstClr val="black"/>
              </a:solidFill>
            </a:endParaRPr>
          </a:p>
        </p:txBody>
      </p:sp>
      <p:pic>
        <p:nvPicPr>
          <p:cNvPr id="238489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50334" y="2358505"/>
            <a:ext cx="3909069" cy="29230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8489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37876" y="2358504"/>
            <a:ext cx="3589322" cy="2928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직사각형 3"/>
          <p:cNvSpPr/>
          <p:nvPr/>
        </p:nvSpPr>
        <p:spPr>
          <a:xfrm>
            <a:off x="3840842" y="3006576"/>
            <a:ext cx="531866" cy="21602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583865" y="980729"/>
            <a:ext cx="4898713" cy="412421"/>
          </a:xfrm>
          <a:prstGeom prst="rect">
            <a:avLst/>
          </a:prstGeom>
          <a:noFill/>
        </p:spPr>
        <p:txBody>
          <a:bodyPr wrap="none" rtlCol="0">
            <a:spAutoFit/>
          </a:bodyPr>
          <a:lstStyle/>
          <a:p>
            <a:pPr>
              <a:lnSpc>
                <a:spcPct val="130000"/>
              </a:lnSpc>
              <a:buClr>
                <a:srgbClr val="C5003D"/>
              </a:buClr>
            </a:pPr>
            <a:r>
              <a:rPr lang="en-US" altLang="ko-KR" sz="1600" b="1" dirty="0" err="1"/>
              <a:t>Sử</a:t>
            </a:r>
            <a:r>
              <a:rPr lang="en-US" altLang="ko-KR" sz="1600" b="1" dirty="0"/>
              <a:t> </a:t>
            </a:r>
            <a:r>
              <a:rPr lang="en-US" altLang="ko-KR" sz="1600" b="1" dirty="0" err="1"/>
              <a:t>dụng</a:t>
            </a:r>
            <a:r>
              <a:rPr lang="en-US" altLang="ko-KR" sz="1600" b="1" dirty="0"/>
              <a:t> </a:t>
            </a:r>
            <a:r>
              <a:rPr lang="en-US" altLang="ko-KR" sz="1600" b="1" dirty="0" err="1"/>
              <a:t>ví</a:t>
            </a:r>
            <a:r>
              <a:rPr lang="en-US" altLang="ko-KR" sz="1600" b="1" dirty="0"/>
              <a:t> </a:t>
            </a:r>
            <a:r>
              <a:rPr lang="en-US" altLang="ko-KR" sz="1600" b="1" dirty="0" err="1"/>
              <a:t>dụ</a:t>
            </a:r>
            <a:r>
              <a:rPr lang="en-US" altLang="ko-KR" sz="1600" b="1" dirty="0"/>
              <a:t> </a:t>
            </a:r>
            <a:r>
              <a:rPr lang="en-US" altLang="ko-KR" sz="1600" b="1" dirty="0" err="1"/>
              <a:t>của</a:t>
            </a:r>
            <a:r>
              <a:rPr lang="en-US" altLang="ko-KR" sz="1600" b="1" dirty="0"/>
              <a:t> Case 3 </a:t>
            </a:r>
            <a:r>
              <a:rPr lang="en-US" altLang="ko-KR" sz="1600" b="1" dirty="0" err="1"/>
              <a:t>tìm</a:t>
            </a:r>
            <a:r>
              <a:rPr lang="en-US" altLang="ko-KR" sz="1600" b="1" dirty="0"/>
              <a:t> </a:t>
            </a:r>
            <a:r>
              <a:rPr lang="en-US" altLang="ko-KR" sz="1600" b="1" dirty="0" err="1"/>
              <a:t>Zst</a:t>
            </a:r>
            <a:r>
              <a:rPr lang="en-US" altLang="ko-KR" sz="1600" b="1" dirty="0"/>
              <a:t> </a:t>
            </a:r>
            <a:r>
              <a:rPr lang="en-US" altLang="ko-KR" sz="1600" b="1" dirty="0" err="1"/>
              <a:t>và</a:t>
            </a:r>
            <a:r>
              <a:rPr lang="en-US" altLang="ko-KR" sz="1600" b="1" dirty="0"/>
              <a:t> </a:t>
            </a:r>
            <a:r>
              <a:rPr lang="en-US" altLang="ko-KR" sz="1600" b="1" dirty="0" err="1"/>
              <a:t>Zlt</a:t>
            </a:r>
            <a:r>
              <a:rPr lang="en-US" altLang="ko-KR" sz="1600" b="1" dirty="0"/>
              <a:t>, </a:t>
            </a:r>
            <a:r>
              <a:rPr lang="en-US" altLang="ko-KR" sz="1600" b="1" dirty="0" err="1"/>
              <a:t>Zshift</a:t>
            </a:r>
            <a:r>
              <a:rPr lang="ko-KR" altLang="en-US" sz="1600" b="1" dirty="0"/>
              <a:t> </a:t>
            </a:r>
            <a:r>
              <a:rPr lang="en-US" altLang="ko-KR" sz="1600" b="1" dirty="0"/>
              <a:t>!</a:t>
            </a:r>
            <a:endParaRPr lang="ko-KR" altLang="en-US" sz="1600" b="1" dirty="0"/>
          </a:p>
        </p:txBody>
      </p:sp>
      <p:cxnSp>
        <p:nvCxnSpPr>
          <p:cNvPr id="9" name="꺾인 연결선 8"/>
          <p:cNvCxnSpPr>
            <a:stCxn id="4" idx="3"/>
            <a:endCxn id="2384899" idx="1"/>
          </p:cNvCxnSpPr>
          <p:nvPr/>
        </p:nvCxnSpPr>
        <p:spPr>
          <a:xfrm>
            <a:off x="4372708" y="3114588"/>
            <a:ext cx="465168" cy="708318"/>
          </a:xfrm>
          <a:prstGeom prst="bentConnector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0" name="타원 9"/>
          <p:cNvSpPr/>
          <p:nvPr/>
        </p:nvSpPr>
        <p:spPr>
          <a:xfrm>
            <a:off x="6523045" y="3776340"/>
            <a:ext cx="132938" cy="144016"/>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p:cNvSpPr txBox="1"/>
          <p:nvPr/>
        </p:nvSpPr>
        <p:spPr>
          <a:xfrm>
            <a:off x="7552754" y="3645025"/>
            <a:ext cx="1394934" cy="312393"/>
          </a:xfrm>
          <a:prstGeom prst="rect">
            <a:avLst/>
          </a:prstGeom>
          <a:noFill/>
        </p:spPr>
        <p:txBody>
          <a:bodyPr wrap="none" rtlCol="0">
            <a:spAutoFit/>
          </a:bodyPr>
          <a:lstStyle/>
          <a:p>
            <a:pPr>
              <a:lnSpc>
                <a:spcPct val="130000"/>
              </a:lnSpc>
              <a:buClr>
                <a:srgbClr val="C5003D"/>
              </a:buClr>
            </a:pPr>
            <a:r>
              <a:rPr lang="en-US" altLang="ko-KR" sz="1100" b="1" dirty="0" err="1">
                <a:solidFill>
                  <a:srgbClr val="FF0000"/>
                </a:solidFill>
              </a:rPr>
              <a:t>lựa</a:t>
            </a:r>
            <a:r>
              <a:rPr lang="en-US" altLang="ko-KR" sz="1100" b="1" dirty="0">
                <a:solidFill>
                  <a:srgbClr val="FF0000"/>
                </a:solidFill>
              </a:rPr>
              <a:t> </a:t>
            </a:r>
            <a:r>
              <a:rPr lang="en-US" altLang="ko-KR" sz="1100" b="1" dirty="0" err="1">
                <a:solidFill>
                  <a:srgbClr val="FF0000"/>
                </a:solidFill>
              </a:rPr>
              <a:t>chọn</a:t>
            </a:r>
            <a:r>
              <a:rPr lang="en-US" altLang="ko-KR" sz="1100" b="1" dirty="0">
                <a:solidFill>
                  <a:srgbClr val="FF0000"/>
                </a:solidFill>
              </a:rPr>
              <a:t> </a:t>
            </a:r>
            <a:r>
              <a:rPr lang="en-US" altLang="ko-KR" sz="1100" b="1" dirty="0" err="1">
                <a:solidFill>
                  <a:srgbClr val="FF0000"/>
                </a:solidFill>
              </a:rPr>
              <a:t>giá</a:t>
            </a:r>
            <a:r>
              <a:rPr lang="en-US" altLang="ko-KR" sz="1100" b="1" dirty="0">
                <a:solidFill>
                  <a:srgbClr val="FF0000"/>
                </a:solidFill>
              </a:rPr>
              <a:t> </a:t>
            </a:r>
            <a:r>
              <a:rPr lang="en-US" altLang="ko-KR" sz="1100" b="1" dirty="0" err="1">
                <a:solidFill>
                  <a:srgbClr val="FF0000"/>
                </a:solidFill>
              </a:rPr>
              <a:t>trị</a:t>
            </a:r>
            <a:r>
              <a:rPr lang="en-US" altLang="ko-KR" sz="1100" b="1" dirty="0">
                <a:solidFill>
                  <a:srgbClr val="FF0000"/>
                </a:solidFill>
              </a:rPr>
              <a:t> Z</a:t>
            </a:r>
            <a:endParaRPr lang="ko-KR" altLang="en-US" sz="1100" b="1" dirty="0">
              <a:solidFill>
                <a:srgbClr val="FF0000"/>
              </a:solidFill>
            </a:endParaRPr>
          </a:p>
        </p:txBody>
      </p:sp>
      <p:sp>
        <p:nvSpPr>
          <p:cNvPr id="16"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779795339"/>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69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95446" y="1603400"/>
            <a:ext cx="6447486" cy="4635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395654" y="827088"/>
            <a:ext cx="2791548"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Deriving the </a:t>
            </a:r>
            <a:r>
              <a:rPr kumimoji="0" lang="en-US" altLang="ko-KR" sz="1400" b="1" kern="0" dirty="0" err="1">
                <a:solidFill>
                  <a:sysClr val="windowText" lastClr="000000"/>
                </a:solidFill>
                <a:latin typeface="맑은 고딕" pitchFamily="50" charset="-127"/>
                <a:ea typeface="맑은 고딕" pitchFamily="50" charset="-127"/>
              </a:rPr>
              <a:t>Zlt</a:t>
            </a:r>
            <a:r>
              <a:rPr kumimoji="0" lang="en-US" altLang="ko-KR" sz="1400" b="1" kern="0" dirty="0">
                <a:solidFill>
                  <a:sysClr val="windowText" lastClr="000000"/>
                </a:solidFill>
                <a:latin typeface="맑은 고딕" pitchFamily="50" charset="-127"/>
                <a:ea typeface="맑은 고딕" pitchFamily="50" charset="-127"/>
              </a:rPr>
              <a:t> value 1.59</a:t>
            </a:r>
          </a:p>
        </p:txBody>
      </p:sp>
      <p:sp>
        <p:nvSpPr>
          <p:cNvPr id="5" name="Rectangle 5"/>
          <p:cNvSpPr>
            <a:spLocks noChangeArrowheads="1"/>
          </p:cNvSpPr>
          <p:nvPr/>
        </p:nvSpPr>
        <p:spPr bwMode="auto">
          <a:xfrm>
            <a:off x="6409041" y="2724225"/>
            <a:ext cx="816220" cy="158676"/>
          </a:xfrm>
          <a:prstGeom prst="rect">
            <a:avLst/>
          </a:prstGeom>
          <a:noFill/>
          <a:ln w="19050" algn="ctr">
            <a:solidFill>
              <a:srgbClr val="FF0000"/>
            </a:solidFill>
            <a:prstDash val="sysDash"/>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TextBox 6"/>
          <p:cNvSpPr txBox="1">
            <a:spLocks noChangeArrowheads="1"/>
          </p:cNvSpPr>
          <p:nvPr/>
        </p:nvSpPr>
        <p:spPr bwMode="auto">
          <a:xfrm>
            <a:off x="6098380" y="2684537"/>
            <a:ext cx="380232" cy="276999"/>
          </a:xfrm>
          <a:prstGeom prst="rect">
            <a:avLst/>
          </a:prstGeom>
          <a:noFill/>
          <a:ln w="9525">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Zlt</a:t>
            </a:r>
            <a:endParaRPr lang="ko-KR" altLang="en-US" sz="1200" b="1" dirty="0">
              <a:solidFill>
                <a:srgbClr val="FF0000"/>
              </a:solidFill>
              <a:latin typeface="맑은 고딕" pitchFamily="50" charset="-127"/>
              <a:ea typeface="맑은 고딕" pitchFamily="50" charset="-127"/>
            </a:endParaRPr>
          </a:p>
        </p:txBody>
      </p:sp>
      <p:sp>
        <p:nvSpPr>
          <p:cNvPr id="9" name="Text Box 26"/>
          <p:cNvSpPr txBox="1">
            <a:spLocks noChangeArrowheads="1"/>
          </p:cNvSpPr>
          <p:nvPr/>
        </p:nvSpPr>
        <p:spPr bwMode="auto">
          <a:xfrm>
            <a:off x="4173187" y="6280794"/>
            <a:ext cx="1727689" cy="553998"/>
          </a:xfrm>
          <a:prstGeom prst="rect">
            <a:avLst/>
          </a:prstGeom>
          <a:noFill/>
          <a:ln w="9525">
            <a:noFill/>
            <a:miter lim="800000"/>
            <a:headEnd/>
            <a:tailEnd/>
          </a:ln>
        </p:spPr>
        <p:txBody>
          <a:bodyPr>
            <a:spAutoFit/>
          </a:bodyPr>
          <a:lstStyle/>
          <a:p>
            <a:r>
              <a:rPr lang="en-US" altLang="ko-KR" sz="1000" b="1" dirty="0">
                <a:solidFill>
                  <a:srgbClr val="000000"/>
                </a:solidFill>
                <a:latin typeface="맑은 고딕" pitchFamily="50" charset="-127"/>
                <a:ea typeface="맑은 고딕" pitchFamily="50" charset="-127"/>
              </a:rPr>
              <a:t>Estimated process capability (PPM) from long term (LT)</a:t>
            </a:r>
          </a:p>
        </p:txBody>
      </p:sp>
      <p:sp>
        <p:nvSpPr>
          <p:cNvPr id="10" name="Text Box 28"/>
          <p:cNvSpPr txBox="1">
            <a:spLocks noChangeArrowheads="1"/>
          </p:cNvSpPr>
          <p:nvPr/>
        </p:nvSpPr>
        <p:spPr bwMode="auto">
          <a:xfrm>
            <a:off x="783271" y="6341318"/>
            <a:ext cx="1727688" cy="553998"/>
          </a:xfrm>
          <a:prstGeom prst="rect">
            <a:avLst/>
          </a:prstGeom>
          <a:noFill/>
          <a:ln w="9525">
            <a:noFill/>
            <a:miter lim="800000"/>
            <a:headEnd/>
            <a:tailEnd/>
          </a:ln>
        </p:spPr>
        <p:txBody>
          <a:bodyPr>
            <a:spAutoFit/>
          </a:bodyPr>
          <a:lstStyle/>
          <a:p>
            <a:r>
              <a:rPr lang="en-US" altLang="ko-KR" sz="1000" b="1" dirty="0">
                <a:solidFill>
                  <a:srgbClr val="000000"/>
                </a:solidFill>
                <a:latin typeface="맑은 고딕" pitchFamily="50" charset="-127"/>
                <a:ea typeface="맑은 고딕" pitchFamily="50" charset="-127"/>
              </a:rPr>
              <a:t>Process capability (PPM) calculated from currently observed data</a:t>
            </a:r>
          </a:p>
        </p:txBody>
      </p:sp>
      <p:sp>
        <p:nvSpPr>
          <p:cNvPr id="11" name="자유형 19"/>
          <p:cNvSpPr>
            <a:spLocks/>
          </p:cNvSpPr>
          <p:nvPr/>
        </p:nvSpPr>
        <p:spPr bwMode="auto">
          <a:xfrm>
            <a:off x="2312056" y="6104781"/>
            <a:ext cx="332345" cy="423863"/>
          </a:xfrm>
          <a:custGeom>
            <a:avLst/>
            <a:gdLst>
              <a:gd name="T0" fmla="*/ 1873 w 509155"/>
              <a:gd name="T1" fmla="*/ 0 h 2088573"/>
              <a:gd name="T2" fmla="*/ 1873 w 509155"/>
              <a:gd name="T3" fmla="*/ 30 h 2088573"/>
              <a:gd name="T4" fmla="*/ 0 w 509155"/>
              <a:gd name="T5" fmla="*/ 30 h 2088573"/>
              <a:gd name="T6" fmla="*/ 0 60000 65536"/>
              <a:gd name="T7" fmla="*/ 0 60000 65536"/>
              <a:gd name="T8" fmla="*/ 0 60000 65536"/>
              <a:gd name="T9" fmla="*/ 0 w 509155"/>
              <a:gd name="T10" fmla="*/ 0 h 2088573"/>
              <a:gd name="T11" fmla="*/ 509155 w 509155"/>
              <a:gd name="T12" fmla="*/ 2088573 h 2088573"/>
            </a:gdLst>
            <a:ahLst/>
            <a:cxnLst>
              <a:cxn ang="T6">
                <a:pos x="T0" y="T1"/>
              </a:cxn>
              <a:cxn ang="T7">
                <a:pos x="T2" y="T3"/>
              </a:cxn>
              <a:cxn ang="T8">
                <a:pos x="T4" y="T5"/>
              </a:cxn>
            </a:cxnLst>
            <a:rect l="T9" t="T10" r="T11" b="T12"/>
            <a:pathLst>
              <a:path w="509155" h="2088573">
                <a:moveTo>
                  <a:pt x="509155" y="0"/>
                </a:moveTo>
                <a:lnTo>
                  <a:pt x="509155" y="2088573"/>
                </a:lnTo>
                <a:lnTo>
                  <a:pt x="0" y="2088573"/>
                </a:lnTo>
              </a:path>
            </a:pathLst>
          </a:custGeom>
          <a:noFill/>
          <a:ln w="19050" algn="ctr">
            <a:solidFill>
              <a:srgbClr val="FF0000"/>
            </a:solidFill>
            <a:prstDash val="sysDash"/>
            <a:round/>
            <a:headEnd type="oval" w="med" len="med"/>
            <a:tailEnd type="triangle" w="med" len="med"/>
          </a:ln>
        </p:spPr>
        <p:txBody>
          <a:bodyPr anchor="ctr"/>
          <a:lstStyle/>
          <a:p>
            <a:endParaRPr lang="ko-KR" altLang="en-US" dirty="0">
              <a:solidFill>
                <a:prstClr val="black"/>
              </a:solidFill>
            </a:endParaRPr>
          </a:p>
        </p:txBody>
      </p:sp>
      <p:sp>
        <p:nvSpPr>
          <p:cNvPr id="12" name="자유형 20"/>
          <p:cNvSpPr>
            <a:spLocks/>
          </p:cNvSpPr>
          <p:nvPr/>
        </p:nvSpPr>
        <p:spPr bwMode="auto">
          <a:xfrm flipH="1">
            <a:off x="3406489" y="6104781"/>
            <a:ext cx="633756" cy="436563"/>
          </a:xfrm>
          <a:custGeom>
            <a:avLst/>
            <a:gdLst>
              <a:gd name="T0" fmla="*/ 1873 w 509155"/>
              <a:gd name="T1" fmla="*/ 0 h 2088573"/>
              <a:gd name="T2" fmla="*/ 1873 w 509155"/>
              <a:gd name="T3" fmla="*/ 30 h 2088573"/>
              <a:gd name="T4" fmla="*/ 0 w 509155"/>
              <a:gd name="T5" fmla="*/ 30 h 2088573"/>
              <a:gd name="T6" fmla="*/ 0 60000 65536"/>
              <a:gd name="T7" fmla="*/ 0 60000 65536"/>
              <a:gd name="T8" fmla="*/ 0 60000 65536"/>
              <a:gd name="T9" fmla="*/ 0 w 509155"/>
              <a:gd name="T10" fmla="*/ 0 h 2088573"/>
              <a:gd name="T11" fmla="*/ 509155 w 509155"/>
              <a:gd name="T12" fmla="*/ 2088573 h 2088573"/>
            </a:gdLst>
            <a:ahLst/>
            <a:cxnLst>
              <a:cxn ang="T6">
                <a:pos x="T0" y="T1"/>
              </a:cxn>
              <a:cxn ang="T7">
                <a:pos x="T2" y="T3"/>
              </a:cxn>
              <a:cxn ang="T8">
                <a:pos x="T4" y="T5"/>
              </a:cxn>
            </a:cxnLst>
            <a:rect l="T9" t="T10" r="T11" b="T12"/>
            <a:pathLst>
              <a:path w="509155" h="2088573">
                <a:moveTo>
                  <a:pt x="509155" y="0"/>
                </a:moveTo>
                <a:lnTo>
                  <a:pt x="509155" y="2088573"/>
                </a:lnTo>
                <a:lnTo>
                  <a:pt x="0" y="2088573"/>
                </a:lnTo>
              </a:path>
            </a:pathLst>
          </a:custGeom>
          <a:noFill/>
          <a:ln w="19050" algn="ctr">
            <a:solidFill>
              <a:srgbClr val="FF0000"/>
            </a:solidFill>
            <a:prstDash val="sysDash"/>
            <a:round/>
            <a:headEnd type="oval" w="med" len="med"/>
            <a:tailEnd type="triangle" w="med" len="med"/>
          </a:ln>
        </p:spPr>
        <p:txBody>
          <a:bodyPr anchor="ctr"/>
          <a:lstStyle/>
          <a:p>
            <a:endParaRPr lang="ko-KR" altLang="en-US" dirty="0">
              <a:solidFill>
                <a:prstClr val="black"/>
              </a:solidFill>
            </a:endParaRPr>
          </a:p>
        </p:txBody>
      </p:sp>
      <p:sp>
        <p:nvSpPr>
          <p:cNvPr id="16" name="TextBox 15"/>
          <p:cNvSpPr txBox="1"/>
          <p:nvPr/>
        </p:nvSpPr>
        <p:spPr>
          <a:xfrm>
            <a:off x="417606" y="1214423"/>
            <a:ext cx="2835539" cy="523220"/>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StDev</a:t>
            </a:r>
            <a:r>
              <a:rPr kumimoji="0" lang="en-US" altLang="ko-KR" sz="1400" b="1" kern="0" dirty="0">
                <a:solidFill>
                  <a:sysClr val="windowText" lastClr="000000"/>
                </a:solidFill>
                <a:latin typeface="맑은 고딕" pitchFamily="50" charset="-127"/>
                <a:ea typeface="맑은 고딕" pitchFamily="50" charset="-127"/>
              </a:rPr>
              <a:t>(Overall) value</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0.176126</a:t>
            </a:r>
          </a:p>
        </p:txBody>
      </p:sp>
      <p:cxnSp>
        <p:nvCxnSpPr>
          <p:cNvPr id="3" name="직선 연결선 2"/>
          <p:cNvCxnSpPr/>
          <p:nvPr/>
        </p:nvCxnSpPr>
        <p:spPr>
          <a:xfrm>
            <a:off x="6098380" y="3356992"/>
            <a:ext cx="1464722" cy="64807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p:nvCxnSpPr>
        <p:spPr>
          <a:xfrm flipV="1">
            <a:off x="6098380" y="3356992"/>
            <a:ext cx="1464722" cy="64807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228</a:t>
            </a:fld>
            <a:endParaRPr lang="ko-KR" altLang="en-US" dirty="0">
              <a:solidFill>
                <a:prstClr val="black"/>
              </a:solidFill>
            </a:endParaRPr>
          </a:p>
        </p:txBody>
      </p:sp>
      <p:sp>
        <p:nvSpPr>
          <p:cNvPr id="7" name="TextBox 6"/>
          <p:cNvSpPr txBox="1"/>
          <p:nvPr/>
        </p:nvSpPr>
        <p:spPr>
          <a:xfrm>
            <a:off x="7539425" y="2919390"/>
            <a:ext cx="1890902" cy="652486"/>
          </a:xfrm>
          <a:prstGeom prst="rect">
            <a:avLst/>
          </a:prstGeom>
          <a:noFill/>
        </p:spPr>
        <p:txBody>
          <a:bodyPr wrap="none" rtlCol="0">
            <a:spAutoFit/>
          </a:bodyPr>
          <a:lstStyle/>
          <a:p>
            <a:pPr marL="285750" indent="-285750">
              <a:lnSpc>
                <a:spcPct val="130000"/>
              </a:lnSpc>
              <a:buClr>
                <a:srgbClr val="C5003D"/>
              </a:buClr>
              <a:buFont typeface="Wingdings"/>
              <a:buChar char="è"/>
            </a:pPr>
            <a:r>
              <a:rPr lang="en-US" altLang="ko-KR" sz="1400" b="1" dirty="0">
                <a:solidFill>
                  <a:srgbClr val="FF0000"/>
                </a:solidFill>
                <a:sym typeface="Wingdings" panose="05000000000000000000" pitchFamily="2" charset="2"/>
              </a:rPr>
              <a:t>Next Page,</a:t>
            </a:r>
          </a:p>
          <a:p>
            <a:pPr>
              <a:lnSpc>
                <a:spcPct val="130000"/>
              </a:lnSpc>
              <a:buClr>
                <a:srgbClr val="C5003D"/>
              </a:buClr>
            </a:pPr>
            <a:r>
              <a:rPr lang="en-US" altLang="ko-KR" sz="1400" b="1" dirty="0">
                <a:solidFill>
                  <a:srgbClr val="FF0000"/>
                </a:solidFill>
                <a:sym typeface="Wingdings" panose="05000000000000000000" pitchFamily="2" charset="2"/>
              </a:rPr>
              <a:t>detailed description</a:t>
            </a:r>
            <a:endParaRPr lang="ko-KR" altLang="en-US" sz="1400" b="1" dirty="0">
              <a:solidFill>
                <a:srgbClr val="FF0000"/>
              </a:solidFill>
            </a:endParaRPr>
          </a:p>
        </p:txBody>
      </p:sp>
      <p:sp>
        <p:nvSpPr>
          <p:cNvPr id="18"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2216180149"/>
      </p:ext>
    </p:extLst>
  </p:cSld>
  <p:clrMapOvr>
    <a:masterClrMapping/>
  </p:clrMapOvr>
  <p:transition spd="med">
    <p:fade/>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229</a:t>
            </a:fld>
            <a:endParaRPr lang="ko-KR" altLang="en-US" dirty="0">
              <a:solidFill>
                <a:prstClr val="black"/>
              </a:solidFill>
            </a:endParaRPr>
          </a:p>
        </p:txBody>
      </p:sp>
      <p:sp>
        <p:nvSpPr>
          <p:cNvPr id="3" name="TextBox 2"/>
          <p:cNvSpPr txBox="1"/>
          <p:nvPr/>
        </p:nvSpPr>
        <p:spPr>
          <a:xfrm>
            <a:off x="583865" y="836712"/>
            <a:ext cx="3140732" cy="412421"/>
          </a:xfrm>
          <a:prstGeom prst="rect">
            <a:avLst/>
          </a:prstGeom>
          <a:noFill/>
        </p:spPr>
        <p:txBody>
          <a:bodyPr wrap="none" rtlCol="0">
            <a:spAutoFit/>
          </a:bodyPr>
          <a:lstStyle/>
          <a:p>
            <a:pPr marL="342900" indent="-342900">
              <a:lnSpc>
                <a:spcPct val="130000"/>
              </a:lnSpc>
              <a:buClr>
                <a:schemeClr val="tx1"/>
              </a:buClr>
              <a:buFont typeface="Wingdings" panose="05000000000000000000" pitchFamily="2" charset="2"/>
              <a:buChar char="u"/>
            </a:pPr>
            <a:r>
              <a:rPr lang="en-US" altLang="ko-KR" sz="1600" b="1" dirty="0"/>
              <a:t>Calculate </a:t>
            </a:r>
            <a:r>
              <a:rPr lang="en-US" altLang="ko-KR" sz="1600" b="1" dirty="0" err="1"/>
              <a:t>Zlt</a:t>
            </a:r>
            <a:r>
              <a:rPr lang="en-US" altLang="ko-KR" sz="1600" b="1" dirty="0"/>
              <a:t> value in Excel</a:t>
            </a:r>
            <a:endParaRPr lang="ko-KR" altLang="en-US" sz="1600" b="1" dirty="0"/>
          </a:p>
        </p:txBody>
      </p:sp>
      <p:sp>
        <p:nvSpPr>
          <p:cNvPr id="4" name="TextBox 3"/>
          <p:cNvSpPr txBox="1"/>
          <p:nvPr/>
        </p:nvSpPr>
        <p:spPr>
          <a:xfrm>
            <a:off x="3428024" y="908721"/>
            <a:ext cx="4540025" cy="307777"/>
          </a:xfrm>
          <a:prstGeom prst="rect">
            <a:avLst/>
          </a:prstGeom>
          <a:noFill/>
        </p:spPr>
        <p:txBody>
          <a:bodyPr wrap="none" rtlCol="0">
            <a:spAutoFit/>
          </a:bodyPr>
          <a:lstStyle/>
          <a:p>
            <a:pPr fontAlgn="auto" latinLnBrk="0">
              <a:spcBef>
                <a:spcPts val="0"/>
              </a:spcBef>
              <a:spcAft>
                <a:spcPts val="0"/>
              </a:spcAft>
              <a:buClr>
                <a:srgbClr val="595959"/>
              </a:buClr>
              <a:defRPr/>
            </a:pPr>
            <a:r>
              <a:rPr kumimoji="0" lang="en-US" altLang="ko-KR" sz="1400" kern="0" dirty="0" err="1">
                <a:solidFill>
                  <a:srgbClr val="00B050"/>
                </a:solidFill>
                <a:latin typeface="맑은 고딕" pitchFamily="50" charset="-127"/>
                <a:ea typeface="맑은 고딕" pitchFamily="50" charset="-127"/>
              </a:rPr>
              <a:t>StDev</a:t>
            </a:r>
            <a:r>
              <a:rPr kumimoji="0" lang="en-US" altLang="ko-KR" sz="1400" kern="0" dirty="0">
                <a:solidFill>
                  <a:srgbClr val="00B050"/>
                </a:solidFill>
                <a:latin typeface="맑은 고딕" pitchFamily="50" charset="-127"/>
                <a:ea typeface="맑은 고딕" pitchFamily="50" charset="-127"/>
              </a:rPr>
              <a:t>(Overall) </a:t>
            </a:r>
            <a:r>
              <a:rPr kumimoji="0" lang="ko-KR" altLang="en-US" sz="1400" kern="0" dirty="0">
                <a:solidFill>
                  <a:srgbClr val="00B050"/>
                </a:solidFill>
                <a:latin typeface="맑은 고딕" pitchFamily="50" charset="-127"/>
                <a:ea typeface="맑은 고딕" pitchFamily="50" charset="-127"/>
              </a:rPr>
              <a:t> </a:t>
            </a:r>
            <a:r>
              <a:rPr kumimoji="0" lang="en-US" altLang="ko-KR" sz="1400" kern="0" dirty="0">
                <a:solidFill>
                  <a:srgbClr val="00B050"/>
                </a:solidFill>
                <a:latin typeface="맑은 고딕" pitchFamily="50" charset="-127"/>
                <a:ea typeface="맑은 고딕" pitchFamily="50" charset="-127"/>
              </a:rPr>
              <a:t>0.176126   </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Overall standard deviation</a:t>
            </a:r>
            <a:endParaRPr kumimoji="0" lang="en-US" altLang="ko-KR" sz="1400" kern="0" dirty="0">
              <a:solidFill>
                <a:srgbClr val="00B050"/>
              </a:solidFill>
              <a:latin typeface="맑은 고딕" pitchFamily="50" charset="-127"/>
              <a:ea typeface="맑은 고딕" pitchFamily="50" charset="-127"/>
            </a:endParaRPr>
          </a:p>
        </p:txBody>
      </p:sp>
      <p:sp>
        <p:nvSpPr>
          <p:cNvPr id="5" name="Line 56"/>
          <p:cNvSpPr>
            <a:spLocks noChangeShapeType="1"/>
          </p:cNvSpPr>
          <p:nvPr/>
        </p:nvSpPr>
        <p:spPr bwMode="auto">
          <a:xfrm>
            <a:off x="1691677" y="180898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6" name="Rectangle 57"/>
          <p:cNvSpPr>
            <a:spLocks noChangeArrowheads="1"/>
          </p:cNvSpPr>
          <p:nvPr/>
        </p:nvSpPr>
        <p:spPr bwMode="auto">
          <a:xfrm>
            <a:off x="2105645" y="1816220"/>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7" name="Rectangle 58"/>
          <p:cNvSpPr>
            <a:spLocks noChangeArrowheads="1"/>
          </p:cNvSpPr>
          <p:nvPr/>
        </p:nvSpPr>
        <p:spPr bwMode="auto">
          <a:xfrm>
            <a:off x="2133688" y="148478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8" name="Rectangle 59"/>
          <p:cNvSpPr>
            <a:spLocks noChangeArrowheads="1"/>
          </p:cNvSpPr>
          <p:nvPr/>
        </p:nvSpPr>
        <p:spPr bwMode="auto">
          <a:xfrm>
            <a:off x="1506060" y="163241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9" name="Rectangle 61"/>
          <p:cNvSpPr>
            <a:spLocks noChangeArrowheads="1"/>
          </p:cNvSpPr>
          <p:nvPr/>
        </p:nvSpPr>
        <p:spPr bwMode="auto">
          <a:xfrm>
            <a:off x="2403434" y="1510837"/>
            <a:ext cx="1234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μ</a:t>
            </a:r>
            <a:endParaRPr lang="en-US" altLang="ko-KR" baseline="0" dirty="0">
              <a:solidFill>
                <a:srgbClr val="000000"/>
              </a:solidFill>
              <a:latin typeface="Times New Roman" pitchFamily="18" charset="0"/>
              <a:ea typeface="굴림" pitchFamily="50" charset="-127"/>
            </a:endParaRPr>
          </a:p>
        </p:txBody>
      </p:sp>
      <p:sp>
        <p:nvSpPr>
          <p:cNvPr id="10" name="Rectangle 62"/>
          <p:cNvSpPr>
            <a:spLocks noChangeArrowheads="1"/>
          </p:cNvSpPr>
          <p:nvPr/>
        </p:nvSpPr>
        <p:spPr bwMode="auto">
          <a:xfrm>
            <a:off x="1794501" y="1510837"/>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11" name="Rectangle 63"/>
          <p:cNvSpPr>
            <a:spLocks noChangeArrowheads="1"/>
          </p:cNvSpPr>
          <p:nvPr/>
        </p:nvSpPr>
        <p:spPr bwMode="auto">
          <a:xfrm>
            <a:off x="916209" y="1659910"/>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12" name="Rectangle 64"/>
          <p:cNvSpPr>
            <a:spLocks noChangeArrowheads="1"/>
          </p:cNvSpPr>
          <p:nvPr/>
        </p:nvSpPr>
        <p:spPr bwMode="auto">
          <a:xfrm>
            <a:off x="1031053" y="1803194"/>
            <a:ext cx="436017"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LT(USL)</a:t>
            </a:r>
            <a:endParaRPr lang="en-US" altLang="ko-KR" baseline="0" dirty="0">
              <a:solidFill>
                <a:srgbClr val="000000"/>
              </a:solidFill>
              <a:latin typeface="Times New Roman" pitchFamily="18" charset="0"/>
              <a:ea typeface="굴림" pitchFamily="50" charset="-127"/>
            </a:endParaRPr>
          </a:p>
        </p:txBody>
      </p:sp>
      <p:sp>
        <p:nvSpPr>
          <p:cNvPr id="13" name="Rectangle 94"/>
          <p:cNvSpPr>
            <a:spLocks noChangeArrowheads="1"/>
          </p:cNvSpPr>
          <p:nvPr/>
        </p:nvSpPr>
        <p:spPr bwMode="auto">
          <a:xfrm>
            <a:off x="2324850" y="192042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14" name="TextBox 13"/>
          <p:cNvSpPr txBox="1"/>
          <p:nvPr/>
        </p:nvSpPr>
        <p:spPr>
          <a:xfrm>
            <a:off x="2156148" y="1925326"/>
            <a:ext cx="284052" cy="232371"/>
          </a:xfrm>
          <a:prstGeom prst="rect">
            <a:avLst/>
          </a:prstGeom>
          <a:noFill/>
        </p:spPr>
        <p:txBody>
          <a:bodyPr wrap="none" rtlCol="0">
            <a:spAutoFit/>
          </a:bodyPr>
          <a:lstStyle/>
          <a:p>
            <a:pPr>
              <a:lnSpc>
                <a:spcPct val="130000"/>
              </a:lnSpc>
              <a:buClr>
                <a:srgbClr val="C5003D"/>
              </a:buClr>
            </a:pPr>
            <a:r>
              <a:rPr lang="en-US" altLang="ko-KR" sz="700" b="1" dirty="0"/>
              <a:t>LT</a:t>
            </a:r>
            <a:endParaRPr lang="ko-KR" altLang="en-US" sz="700" b="1" dirty="0"/>
          </a:p>
        </p:txBody>
      </p:sp>
      <p:sp>
        <p:nvSpPr>
          <p:cNvPr id="15" name="Line 56"/>
          <p:cNvSpPr>
            <a:spLocks noChangeShapeType="1"/>
          </p:cNvSpPr>
          <p:nvPr/>
        </p:nvSpPr>
        <p:spPr bwMode="auto">
          <a:xfrm>
            <a:off x="1700047" y="252906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16" name="Rectangle 57"/>
          <p:cNvSpPr>
            <a:spLocks noChangeArrowheads="1"/>
          </p:cNvSpPr>
          <p:nvPr/>
        </p:nvSpPr>
        <p:spPr bwMode="auto">
          <a:xfrm>
            <a:off x="2012100" y="2536300"/>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0.1761</a:t>
            </a:r>
            <a:endParaRPr lang="en-US" altLang="ko-KR" baseline="0" dirty="0">
              <a:solidFill>
                <a:srgbClr val="000000"/>
              </a:solidFill>
              <a:latin typeface="Times New Roman" pitchFamily="18" charset="0"/>
              <a:ea typeface="굴림" pitchFamily="50" charset="-127"/>
            </a:endParaRPr>
          </a:p>
        </p:txBody>
      </p:sp>
      <p:sp>
        <p:nvSpPr>
          <p:cNvPr id="17" name="Rectangle 58"/>
          <p:cNvSpPr>
            <a:spLocks noChangeArrowheads="1"/>
          </p:cNvSpPr>
          <p:nvPr/>
        </p:nvSpPr>
        <p:spPr bwMode="auto">
          <a:xfrm>
            <a:off x="2142057" y="220486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8" name="Rectangle 59"/>
          <p:cNvSpPr>
            <a:spLocks noChangeArrowheads="1"/>
          </p:cNvSpPr>
          <p:nvPr/>
        </p:nvSpPr>
        <p:spPr bwMode="auto">
          <a:xfrm>
            <a:off x="1514429" y="235249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9" name="Rectangle 61"/>
          <p:cNvSpPr>
            <a:spLocks noChangeArrowheads="1"/>
          </p:cNvSpPr>
          <p:nvPr/>
        </p:nvSpPr>
        <p:spPr bwMode="auto">
          <a:xfrm>
            <a:off x="2411804" y="2230917"/>
            <a:ext cx="4039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5.28</a:t>
            </a:r>
            <a:endParaRPr lang="en-US" altLang="ko-KR" baseline="0" dirty="0">
              <a:solidFill>
                <a:srgbClr val="000000"/>
              </a:solidFill>
              <a:latin typeface="Times New Roman" pitchFamily="18" charset="0"/>
              <a:ea typeface="굴림" pitchFamily="50" charset="-127"/>
            </a:endParaRPr>
          </a:p>
        </p:txBody>
      </p:sp>
      <p:sp>
        <p:nvSpPr>
          <p:cNvPr id="20" name="Rectangle 62"/>
          <p:cNvSpPr>
            <a:spLocks noChangeArrowheads="1"/>
          </p:cNvSpPr>
          <p:nvPr/>
        </p:nvSpPr>
        <p:spPr bwMode="auto">
          <a:xfrm>
            <a:off x="1802871" y="2230917"/>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6</a:t>
            </a:r>
            <a:endParaRPr lang="en-US" altLang="ko-KR" baseline="0" dirty="0">
              <a:solidFill>
                <a:srgbClr val="000000"/>
              </a:solidFill>
              <a:latin typeface="Times New Roman" pitchFamily="18" charset="0"/>
              <a:ea typeface="굴림" pitchFamily="50" charset="-127"/>
            </a:endParaRPr>
          </a:p>
        </p:txBody>
      </p:sp>
      <p:sp>
        <p:nvSpPr>
          <p:cNvPr id="21" name="Rectangle 94"/>
          <p:cNvSpPr>
            <a:spLocks noChangeArrowheads="1"/>
          </p:cNvSpPr>
          <p:nvPr/>
        </p:nvSpPr>
        <p:spPr bwMode="auto">
          <a:xfrm>
            <a:off x="2333220" y="264050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23" name="Rectangle 59"/>
          <p:cNvSpPr>
            <a:spLocks noChangeArrowheads="1"/>
          </p:cNvSpPr>
          <p:nvPr/>
        </p:nvSpPr>
        <p:spPr bwMode="auto">
          <a:xfrm>
            <a:off x="2901643" y="2352491"/>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4.0880</a:t>
            </a:r>
            <a:endParaRPr lang="en-US" altLang="ko-KR" baseline="0" dirty="0">
              <a:solidFill>
                <a:srgbClr val="000000"/>
              </a:solidFill>
              <a:latin typeface="Times New Roman" pitchFamily="18" charset="0"/>
              <a:ea typeface="굴림" pitchFamily="50" charset="-127"/>
            </a:endParaRPr>
          </a:p>
        </p:txBody>
      </p:sp>
      <p:sp>
        <p:nvSpPr>
          <p:cNvPr id="24" name="Line 56"/>
          <p:cNvSpPr>
            <a:spLocks noChangeShapeType="1"/>
          </p:cNvSpPr>
          <p:nvPr/>
        </p:nvSpPr>
        <p:spPr bwMode="auto">
          <a:xfrm>
            <a:off x="1691677" y="332115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25" name="Rectangle 57"/>
          <p:cNvSpPr>
            <a:spLocks noChangeArrowheads="1"/>
          </p:cNvSpPr>
          <p:nvPr/>
        </p:nvSpPr>
        <p:spPr bwMode="auto">
          <a:xfrm>
            <a:off x="2105645" y="3328388"/>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26" name="Rectangle 58"/>
          <p:cNvSpPr>
            <a:spLocks noChangeArrowheads="1"/>
          </p:cNvSpPr>
          <p:nvPr/>
        </p:nvSpPr>
        <p:spPr bwMode="auto">
          <a:xfrm>
            <a:off x="2133688" y="299695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7" name="Rectangle 59"/>
          <p:cNvSpPr>
            <a:spLocks noChangeArrowheads="1"/>
          </p:cNvSpPr>
          <p:nvPr/>
        </p:nvSpPr>
        <p:spPr bwMode="auto">
          <a:xfrm>
            <a:off x="1506060" y="314457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8" name="Rectangle 61"/>
          <p:cNvSpPr>
            <a:spLocks noChangeArrowheads="1"/>
          </p:cNvSpPr>
          <p:nvPr/>
        </p:nvSpPr>
        <p:spPr bwMode="auto">
          <a:xfrm>
            <a:off x="1859528" y="3023005"/>
            <a:ext cx="1234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μ</a:t>
            </a:r>
            <a:endParaRPr lang="en-US" altLang="ko-KR" baseline="0" dirty="0">
              <a:solidFill>
                <a:srgbClr val="000000"/>
              </a:solidFill>
              <a:latin typeface="Times New Roman" pitchFamily="18" charset="0"/>
              <a:ea typeface="굴림" pitchFamily="50" charset="-127"/>
            </a:endParaRPr>
          </a:p>
        </p:txBody>
      </p:sp>
      <p:sp>
        <p:nvSpPr>
          <p:cNvPr id="29" name="Rectangle 62"/>
          <p:cNvSpPr>
            <a:spLocks noChangeArrowheads="1"/>
          </p:cNvSpPr>
          <p:nvPr/>
        </p:nvSpPr>
        <p:spPr bwMode="auto">
          <a:xfrm>
            <a:off x="2378526" y="3023005"/>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30" name="Rectangle 63"/>
          <p:cNvSpPr>
            <a:spLocks noChangeArrowheads="1"/>
          </p:cNvSpPr>
          <p:nvPr/>
        </p:nvSpPr>
        <p:spPr bwMode="auto">
          <a:xfrm>
            <a:off x="916209" y="3172078"/>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31" name="Rectangle 64"/>
          <p:cNvSpPr>
            <a:spLocks noChangeArrowheads="1"/>
          </p:cNvSpPr>
          <p:nvPr/>
        </p:nvSpPr>
        <p:spPr bwMode="auto">
          <a:xfrm>
            <a:off x="1031052" y="3315362"/>
            <a:ext cx="423193"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LT(LSL)</a:t>
            </a:r>
            <a:endParaRPr lang="en-US" altLang="ko-KR" baseline="0" dirty="0">
              <a:solidFill>
                <a:srgbClr val="000000"/>
              </a:solidFill>
              <a:latin typeface="Times New Roman" pitchFamily="18" charset="0"/>
              <a:ea typeface="굴림" pitchFamily="50" charset="-127"/>
            </a:endParaRPr>
          </a:p>
        </p:txBody>
      </p:sp>
      <p:sp>
        <p:nvSpPr>
          <p:cNvPr id="32" name="Rectangle 94"/>
          <p:cNvSpPr>
            <a:spLocks noChangeArrowheads="1"/>
          </p:cNvSpPr>
          <p:nvPr/>
        </p:nvSpPr>
        <p:spPr bwMode="auto">
          <a:xfrm>
            <a:off x="2324850" y="343259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33" name="TextBox 32"/>
          <p:cNvSpPr txBox="1"/>
          <p:nvPr/>
        </p:nvSpPr>
        <p:spPr>
          <a:xfrm>
            <a:off x="2156148" y="3437493"/>
            <a:ext cx="284052" cy="232371"/>
          </a:xfrm>
          <a:prstGeom prst="rect">
            <a:avLst/>
          </a:prstGeom>
          <a:noFill/>
        </p:spPr>
        <p:txBody>
          <a:bodyPr wrap="none" rtlCol="0">
            <a:spAutoFit/>
          </a:bodyPr>
          <a:lstStyle/>
          <a:p>
            <a:pPr>
              <a:lnSpc>
                <a:spcPct val="130000"/>
              </a:lnSpc>
              <a:buClr>
                <a:srgbClr val="C5003D"/>
              </a:buClr>
            </a:pPr>
            <a:r>
              <a:rPr lang="en-US" altLang="ko-KR" sz="700" b="1" dirty="0"/>
              <a:t>LT</a:t>
            </a:r>
            <a:endParaRPr lang="ko-KR" altLang="en-US" sz="700" b="1" dirty="0"/>
          </a:p>
        </p:txBody>
      </p:sp>
      <p:sp>
        <p:nvSpPr>
          <p:cNvPr id="34" name="Line 56"/>
          <p:cNvSpPr>
            <a:spLocks noChangeShapeType="1"/>
          </p:cNvSpPr>
          <p:nvPr/>
        </p:nvSpPr>
        <p:spPr bwMode="auto">
          <a:xfrm>
            <a:off x="1657915" y="404123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35" name="Rectangle 57"/>
          <p:cNvSpPr>
            <a:spLocks noChangeArrowheads="1"/>
          </p:cNvSpPr>
          <p:nvPr/>
        </p:nvSpPr>
        <p:spPr bwMode="auto">
          <a:xfrm>
            <a:off x="1969968" y="4048468"/>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0.1761</a:t>
            </a:r>
            <a:endParaRPr lang="en-US" altLang="ko-KR" baseline="0" dirty="0">
              <a:solidFill>
                <a:srgbClr val="000000"/>
              </a:solidFill>
              <a:latin typeface="Times New Roman" pitchFamily="18" charset="0"/>
              <a:ea typeface="굴림" pitchFamily="50" charset="-127"/>
            </a:endParaRPr>
          </a:p>
        </p:txBody>
      </p:sp>
      <p:sp>
        <p:nvSpPr>
          <p:cNvPr id="36" name="Rectangle 58"/>
          <p:cNvSpPr>
            <a:spLocks noChangeArrowheads="1"/>
          </p:cNvSpPr>
          <p:nvPr/>
        </p:nvSpPr>
        <p:spPr bwMode="auto">
          <a:xfrm>
            <a:off x="2232863" y="371703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7" name="Rectangle 59"/>
          <p:cNvSpPr>
            <a:spLocks noChangeArrowheads="1"/>
          </p:cNvSpPr>
          <p:nvPr/>
        </p:nvSpPr>
        <p:spPr bwMode="auto">
          <a:xfrm>
            <a:off x="1472297" y="386465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8" name="Rectangle 61"/>
          <p:cNvSpPr>
            <a:spLocks noChangeArrowheads="1"/>
          </p:cNvSpPr>
          <p:nvPr/>
        </p:nvSpPr>
        <p:spPr bwMode="auto">
          <a:xfrm>
            <a:off x="2502609" y="3743085"/>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a:t>
            </a:r>
            <a:endParaRPr lang="en-US" altLang="ko-KR" baseline="0" dirty="0">
              <a:solidFill>
                <a:srgbClr val="000000"/>
              </a:solidFill>
              <a:latin typeface="Times New Roman" pitchFamily="18" charset="0"/>
              <a:ea typeface="굴림" pitchFamily="50" charset="-127"/>
            </a:endParaRPr>
          </a:p>
        </p:txBody>
      </p:sp>
      <p:sp>
        <p:nvSpPr>
          <p:cNvPr id="39" name="Rectangle 62"/>
          <p:cNvSpPr>
            <a:spLocks noChangeArrowheads="1"/>
          </p:cNvSpPr>
          <p:nvPr/>
        </p:nvSpPr>
        <p:spPr bwMode="auto">
          <a:xfrm>
            <a:off x="1790853" y="3743085"/>
            <a:ext cx="4039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5.28</a:t>
            </a:r>
            <a:endParaRPr lang="en-US" altLang="ko-KR" baseline="0" dirty="0">
              <a:solidFill>
                <a:srgbClr val="000000"/>
              </a:solidFill>
              <a:latin typeface="Times New Roman" pitchFamily="18" charset="0"/>
              <a:ea typeface="굴림" pitchFamily="50" charset="-127"/>
            </a:endParaRPr>
          </a:p>
        </p:txBody>
      </p:sp>
      <p:sp>
        <p:nvSpPr>
          <p:cNvPr id="40" name="Rectangle 94"/>
          <p:cNvSpPr>
            <a:spLocks noChangeArrowheads="1"/>
          </p:cNvSpPr>
          <p:nvPr/>
        </p:nvSpPr>
        <p:spPr bwMode="auto">
          <a:xfrm>
            <a:off x="2291088" y="415267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41" name="Rectangle 59"/>
          <p:cNvSpPr>
            <a:spLocks noChangeArrowheads="1"/>
          </p:cNvSpPr>
          <p:nvPr/>
        </p:nvSpPr>
        <p:spPr bwMode="auto">
          <a:xfrm>
            <a:off x="2859511" y="3864659"/>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1.5898</a:t>
            </a:r>
            <a:endParaRPr lang="en-US" altLang="ko-KR" baseline="0" dirty="0">
              <a:solidFill>
                <a:srgbClr val="000000"/>
              </a:solidFill>
              <a:latin typeface="Times New Roman" pitchFamily="18" charset="0"/>
              <a:ea typeface="굴림" pitchFamily="50" charset="-127"/>
            </a:endParaRPr>
          </a:p>
        </p:txBody>
      </p:sp>
      <p:sp>
        <p:nvSpPr>
          <p:cNvPr id="42" name="Rectangle 63"/>
          <p:cNvSpPr>
            <a:spLocks noChangeArrowheads="1"/>
          </p:cNvSpPr>
          <p:nvPr/>
        </p:nvSpPr>
        <p:spPr bwMode="auto">
          <a:xfrm>
            <a:off x="4505531" y="1628800"/>
            <a:ext cx="38039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P(4.0880)  =  1 – NORM.S.DIST(4.0880,true)</a:t>
            </a:r>
          </a:p>
        </p:txBody>
      </p:sp>
      <p:sp>
        <p:nvSpPr>
          <p:cNvPr id="44" name="Rectangle 63"/>
          <p:cNvSpPr>
            <a:spLocks noChangeArrowheads="1"/>
          </p:cNvSpPr>
          <p:nvPr/>
        </p:nvSpPr>
        <p:spPr bwMode="auto">
          <a:xfrm>
            <a:off x="5326462" y="2060849"/>
            <a:ext cx="216886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0.00002176= 2.176 E -5</a:t>
            </a:r>
          </a:p>
        </p:txBody>
      </p:sp>
      <p:sp>
        <p:nvSpPr>
          <p:cNvPr id="45" name="Rectangle 63"/>
          <p:cNvSpPr>
            <a:spLocks noChangeArrowheads="1"/>
          </p:cNvSpPr>
          <p:nvPr/>
        </p:nvSpPr>
        <p:spPr bwMode="auto">
          <a:xfrm>
            <a:off x="4505531" y="3174582"/>
            <a:ext cx="38039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P(1.5898)  =  1 – NORM.S.DIST(1.4898,true)</a:t>
            </a:r>
          </a:p>
        </p:txBody>
      </p:sp>
      <p:sp>
        <p:nvSpPr>
          <p:cNvPr id="46" name="Rectangle 63"/>
          <p:cNvSpPr>
            <a:spLocks noChangeArrowheads="1"/>
          </p:cNvSpPr>
          <p:nvPr/>
        </p:nvSpPr>
        <p:spPr bwMode="auto">
          <a:xfrm>
            <a:off x="5326462" y="3717033"/>
            <a:ext cx="186108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0.05594= 5.594 E -2</a:t>
            </a:r>
          </a:p>
        </p:txBody>
      </p:sp>
      <p:sp>
        <p:nvSpPr>
          <p:cNvPr id="47" name="Rectangle 59"/>
          <p:cNvSpPr>
            <a:spLocks noChangeArrowheads="1"/>
          </p:cNvSpPr>
          <p:nvPr/>
        </p:nvSpPr>
        <p:spPr bwMode="auto">
          <a:xfrm>
            <a:off x="1580898" y="4653137"/>
            <a:ext cx="15788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P(Total))</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48" name="Rectangle 63"/>
          <p:cNvSpPr>
            <a:spLocks noChangeArrowheads="1"/>
          </p:cNvSpPr>
          <p:nvPr/>
        </p:nvSpPr>
        <p:spPr bwMode="auto">
          <a:xfrm>
            <a:off x="916209" y="4680636"/>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49" name="Rectangle 64"/>
          <p:cNvSpPr>
            <a:spLocks noChangeArrowheads="1"/>
          </p:cNvSpPr>
          <p:nvPr/>
        </p:nvSpPr>
        <p:spPr bwMode="auto">
          <a:xfrm>
            <a:off x="1031053" y="4823920"/>
            <a:ext cx="512961"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LT(Bench)</a:t>
            </a:r>
            <a:endParaRPr lang="en-US" altLang="ko-KR" baseline="0" dirty="0">
              <a:solidFill>
                <a:srgbClr val="000000"/>
              </a:solidFill>
              <a:latin typeface="Times New Roman" pitchFamily="18" charset="0"/>
              <a:ea typeface="굴림" pitchFamily="50" charset="-127"/>
            </a:endParaRPr>
          </a:p>
        </p:txBody>
      </p:sp>
      <p:sp>
        <p:nvSpPr>
          <p:cNvPr id="50" name="Rectangle 63"/>
          <p:cNvSpPr>
            <a:spLocks noChangeArrowheads="1"/>
          </p:cNvSpPr>
          <p:nvPr/>
        </p:nvSpPr>
        <p:spPr bwMode="auto">
          <a:xfrm>
            <a:off x="4505531" y="4694948"/>
            <a:ext cx="38809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P(Total)  = P(4.0880) + P(1.5898)  = 0.05596   </a:t>
            </a:r>
          </a:p>
        </p:txBody>
      </p:sp>
      <p:sp>
        <p:nvSpPr>
          <p:cNvPr id="51" name="TextBox 50"/>
          <p:cNvSpPr txBox="1"/>
          <p:nvPr/>
        </p:nvSpPr>
        <p:spPr>
          <a:xfrm>
            <a:off x="1873428" y="4600379"/>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2" name="Rectangle 59"/>
          <p:cNvSpPr>
            <a:spLocks noChangeArrowheads="1"/>
          </p:cNvSpPr>
          <p:nvPr/>
        </p:nvSpPr>
        <p:spPr bwMode="auto">
          <a:xfrm>
            <a:off x="1580899" y="5085185"/>
            <a:ext cx="18578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P(0.05596))</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53" name="TextBox 52"/>
          <p:cNvSpPr txBox="1"/>
          <p:nvPr/>
        </p:nvSpPr>
        <p:spPr>
          <a:xfrm>
            <a:off x="1873428" y="5042052"/>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5" name="TextBox 54"/>
          <p:cNvSpPr txBox="1"/>
          <p:nvPr/>
        </p:nvSpPr>
        <p:spPr>
          <a:xfrm>
            <a:off x="1508619" y="5425974"/>
            <a:ext cx="3089307" cy="452432"/>
          </a:xfrm>
          <a:prstGeom prst="rect">
            <a:avLst/>
          </a:prstGeom>
          <a:noFill/>
        </p:spPr>
        <p:txBody>
          <a:bodyPr wrap="none" rtlCol="0">
            <a:spAutoFit/>
          </a:bodyPr>
          <a:lstStyle/>
          <a:p>
            <a:pPr>
              <a:lnSpc>
                <a:spcPct val="130000"/>
              </a:lnSpc>
              <a:buClr>
                <a:srgbClr val="C5003D"/>
              </a:buClr>
            </a:pPr>
            <a:r>
              <a:rPr lang="en-US" altLang="ko-KR" b="1" dirty="0"/>
              <a:t>= NORM.S.INV(1-0.05599)</a:t>
            </a:r>
            <a:endParaRPr lang="ko-KR" altLang="en-US" b="1" dirty="0"/>
          </a:p>
        </p:txBody>
      </p:sp>
      <p:sp>
        <p:nvSpPr>
          <p:cNvPr id="56" name="TextBox 55"/>
          <p:cNvSpPr txBox="1"/>
          <p:nvPr/>
        </p:nvSpPr>
        <p:spPr>
          <a:xfrm>
            <a:off x="1508618" y="5877272"/>
            <a:ext cx="1159292" cy="452432"/>
          </a:xfrm>
          <a:prstGeom prst="rect">
            <a:avLst/>
          </a:prstGeom>
          <a:noFill/>
        </p:spPr>
        <p:txBody>
          <a:bodyPr wrap="none" rtlCol="0">
            <a:spAutoFit/>
          </a:bodyPr>
          <a:lstStyle/>
          <a:p>
            <a:pPr>
              <a:lnSpc>
                <a:spcPct val="130000"/>
              </a:lnSpc>
              <a:buClr>
                <a:srgbClr val="C5003D"/>
              </a:buClr>
            </a:pPr>
            <a:r>
              <a:rPr lang="en-US" altLang="ko-KR" b="1" dirty="0"/>
              <a:t>= 1.5896</a:t>
            </a:r>
            <a:endParaRPr lang="ko-KR" altLang="en-US" b="1" dirty="0"/>
          </a:p>
        </p:txBody>
      </p:sp>
      <p:sp>
        <p:nvSpPr>
          <p:cNvPr id="57"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91465070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694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95446" y="1603400"/>
            <a:ext cx="6447486" cy="4635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395654" y="827088"/>
            <a:ext cx="3378719" cy="307777"/>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Rút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ra</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giá</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trị</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Zlt</a:t>
            </a:r>
            <a:r>
              <a:rPr kumimoji="0" lang="en-US" altLang="ko-KR" sz="1400" b="1" kern="0" dirty="0">
                <a:solidFill>
                  <a:sysClr val="windowText" lastClr="000000"/>
                </a:solidFill>
                <a:latin typeface="맑은 고딕" pitchFamily="50" charset="-127"/>
                <a:ea typeface="맑은 고딕" pitchFamily="50" charset="-127"/>
              </a:rPr>
              <a:t> 1.59</a:t>
            </a:r>
          </a:p>
        </p:txBody>
      </p:sp>
      <p:sp>
        <p:nvSpPr>
          <p:cNvPr id="5" name="Rectangle 5"/>
          <p:cNvSpPr>
            <a:spLocks noChangeArrowheads="1"/>
          </p:cNvSpPr>
          <p:nvPr/>
        </p:nvSpPr>
        <p:spPr bwMode="auto">
          <a:xfrm>
            <a:off x="6409041" y="2724225"/>
            <a:ext cx="816220" cy="158676"/>
          </a:xfrm>
          <a:prstGeom prst="rect">
            <a:avLst/>
          </a:prstGeom>
          <a:noFill/>
          <a:ln w="19050" algn="ctr">
            <a:solidFill>
              <a:srgbClr val="FF0000"/>
            </a:solidFill>
            <a:prstDash val="sysDash"/>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TextBox 6"/>
          <p:cNvSpPr txBox="1">
            <a:spLocks noChangeArrowheads="1"/>
          </p:cNvSpPr>
          <p:nvPr/>
        </p:nvSpPr>
        <p:spPr bwMode="auto">
          <a:xfrm>
            <a:off x="6098380" y="2684537"/>
            <a:ext cx="380232" cy="276999"/>
          </a:xfrm>
          <a:prstGeom prst="rect">
            <a:avLst/>
          </a:prstGeom>
          <a:noFill/>
          <a:ln w="9525">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Zlt</a:t>
            </a:r>
            <a:endParaRPr lang="ko-KR" altLang="en-US" sz="1200" b="1" dirty="0">
              <a:solidFill>
                <a:srgbClr val="FF0000"/>
              </a:solidFill>
              <a:latin typeface="맑은 고딕" pitchFamily="50" charset="-127"/>
              <a:ea typeface="맑은 고딕" pitchFamily="50" charset="-127"/>
            </a:endParaRPr>
          </a:p>
        </p:txBody>
      </p:sp>
      <p:sp>
        <p:nvSpPr>
          <p:cNvPr id="9" name="Text Box 26"/>
          <p:cNvSpPr txBox="1">
            <a:spLocks noChangeArrowheads="1"/>
          </p:cNvSpPr>
          <p:nvPr/>
        </p:nvSpPr>
        <p:spPr bwMode="auto">
          <a:xfrm>
            <a:off x="4173187" y="6280794"/>
            <a:ext cx="1727689" cy="553998"/>
          </a:xfrm>
          <a:prstGeom prst="rect">
            <a:avLst/>
          </a:prstGeom>
          <a:noFill/>
          <a:ln w="9525">
            <a:noFill/>
            <a:miter lim="800000"/>
            <a:headEnd/>
            <a:tailEnd/>
          </a:ln>
        </p:spPr>
        <p:txBody>
          <a:bodyPr>
            <a:spAutoFit/>
          </a:bodyPr>
          <a:lstStyle/>
          <a:p>
            <a:r>
              <a:rPr lang="en-US" altLang="ko-KR" sz="1000" b="1" dirty="0" err="1">
                <a:solidFill>
                  <a:srgbClr val="000000"/>
                </a:solidFill>
                <a:latin typeface="맑은 고딕" pitchFamily="50" charset="-127"/>
                <a:ea typeface="맑은 고딕" pitchFamily="50" charset="-127"/>
              </a:rPr>
              <a:t>Năng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lực</a:t>
            </a:r>
            <a:r>
              <a:rPr lang="en-US" altLang="ko-KR" sz="1000" b="1" dirty="0">
                <a:solidFill>
                  <a:srgbClr val="000000"/>
                </a:solidFill>
                <a:latin typeface="맑은 고딕" pitchFamily="50" charset="-127"/>
                <a:ea typeface="맑은 고딕" pitchFamily="50" charset="-127"/>
              </a:rPr>
              <a:t> process </a:t>
            </a:r>
            <a:r>
              <a:rPr lang="en-US" altLang="ko-KR" sz="1000" b="1" dirty="0" err="1">
                <a:solidFill>
                  <a:srgbClr val="000000"/>
                </a:solidFill>
                <a:latin typeface="맑은 고딕" pitchFamily="50" charset="-127"/>
                <a:ea typeface="맑은 고딕" pitchFamily="50" charset="-127"/>
              </a:rPr>
              <a:t>ước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tính</a:t>
            </a:r>
            <a:r>
              <a:rPr lang="en-US" altLang="ko-KR" sz="1000" b="1" dirty="0">
                <a:solidFill>
                  <a:srgbClr val="000000"/>
                </a:solidFill>
                <a:latin typeface="맑은 고딕" pitchFamily="50" charset="-127"/>
                <a:ea typeface="맑은 고딕" pitchFamily="50" charset="-127"/>
              </a:rPr>
              <a:t> (PPM) </a:t>
            </a:r>
            <a:r>
              <a:rPr lang="en-US" altLang="ko-KR" sz="1000" b="1" dirty="0" err="1">
                <a:solidFill>
                  <a:srgbClr val="000000"/>
                </a:solidFill>
                <a:latin typeface="맑은 고딕" pitchFamily="50" charset="-127"/>
                <a:ea typeface="맑은 고딕" pitchFamily="50" charset="-127"/>
              </a:rPr>
              <a:t>trong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thời</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kì</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dài</a:t>
            </a:r>
            <a:r>
              <a:rPr lang="en-US" altLang="ko-KR" sz="1000" b="1" dirty="0">
                <a:solidFill>
                  <a:srgbClr val="000000"/>
                </a:solidFill>
                <a:latin typeface="맑은 고딕" pitchFamily="50" charset="-127"/>
                <a:ea typeface="맑은 고딕" pitchFamily="50" charset="-127"/>
              </a:rPr>
              <a:t> (LT)</a:t>
            </a:r>
          </a:p>
        </p:txBody>
      </p:sp>
      <p:sp>
        <p:nvSpPr>
          <p:cNvPr id="10" name="Text Box 28"/>
          <p:cNvSpPr txBox="1">
            <a:spLocks noChangeArrowheads="1"/>
          </p:cNvSpPr>
          <p:nvPr/>
        </p:nvSpPr>
        <p:spPr bwMode="auto">
          <a:xfrm>
            <a:off x="783271" y="6237312"/>
            <a:ext cx="1727688" cy="553998"/>
          </a:xfrm>
          <a:prstGeom prst="rect">
            <a:avLst/>
          </a:prstGeom>
          <a:noFill/>
          <a:ln w="9525">
            <a:noFill/>
            <a:miter lim="800000"/>
            <a:headEnd/>
            <a:tailEnd/>
          </a:ln>
        </p:spPr>
        <p:txBody>
          <a:bodyPr>
            <a:spAutoFit/>
          </a:bodyPr>
          <a:lstStyle/>
          <a:p>
            <a:r>
              <a:rPr lang="en-US" altLang="ko-KR" sz="1000" b="1" dirty="0" err="1">
                <a:solidFill>
                  <a:srgbClr val="000000"/>
                </a:solidFill>
                <a:latin typeface="맑은 고딕" pitchFamily="50" charset="-127"/>
                <a:ea typeface="맑은 고딕" pitchFamily="50" charset="-127"/>
              </a:rPr>
              <a:t>Năng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lực</a:t>
            </a:r>
            <a:r>
              <a:rPr lang="en-US" altLang="ko-KR" sz="1000" b="1" dirty="0">
                <a:solidFill>
                  <a:srgbClr val="000000"/>
                </a:solidFill>
                <a:latin typeface="맑은 고딕" pitchFamily="50" charset="-127"/>
                <a:ea typeface="맑은 고딕" pitchFamily="50" charset="-127"/>
              </a:rPr>
              <a:t> process </a:t>
            </a:r>
            <a:r>
              <a:rPr lang="en-US" altLang="ko-KR" sz="1000" b="1" dirty="0" err="1">
                <a:solidFill>
                  <a:srgbClr val="000000"/>
                </a:solidFill>
                <a:latin typeface="맑은 고딕" pitchFamily="50" charset="-127"/>
                <a:ea typeface="맑은 고딕" pitchFamily="50" charset="-127"/>
              </a:rPr>
              <a:t>tính</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toán</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từ</a:t>
            </a:r>
            <a:r>
              <a:rPr lang="en-US" altLang="ko-KR" sz="1000" b="1" dirty="0">
                <a:solidFill>
                  <a:srgbClr val="000000"/>
                </a:solidFill>
                <a:latin typeface="맑은 고딕" pitchFamily="50" charset="-127"/>
                <a:ea typeface="맑은 고딕" pitchFamily="50" charset="-127"/>
              </a:rPr>
              <a:t> data </a:t>
            </a:r>
            <a:r>
              <a:rPr lang="en-US" altLang="ko-KR" sz="1000" b="1" dirty="0" err="1">
                <a:solidFill>
                  <a:srgbClr val="000000"/>
                </a:solidFill>
                <a:latin typeface="맑은 고딕" pitchFamily="50" charset="-127"/>
                <a:ea typeface="맑은 고딕" pitchFamily="50" charset="-127"/>
              </a:rPr>
              <a:t>quan</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sát</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được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hiện</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tại</a:t>
            </a:r>
            <a:endParaRPr lang="en-US" altLang="ko-KR" sz="1000" b="1" dirty="0">
              <a:solidFill>
                <a:srgbClr val="000000"/>
              </a:solidFill>
              <a:latin typeface="맑은 고딕" pitchFamily="50" charset="-127"/>
              <a:ea typeface="맑은 고딕" pitchFamily="50" charset="-127"/>
            </a:endParaRPr>
          </a:p>
        </p:txBody>
      </p:sp>
      <p:sp>
        <p:nvSpPr>
          <p:cNvPr id="11" name="자유형 19"/>
          <p:cNvSpPr>
            <a:spLocks/>
          </p:cNvSpPr>
          <p:nvPr/>
        </p:nvSpPr>
        <p:spPr bwMode="auto">
          <a:xfrm>
            <a:off x="2312056" y="6104781"/>
            <a:ext cx="332345" cy="423863"/>
          </a:xfrm>
          <a:custGeom>
            <a:avLst/>
            <a:gdLst>
              <a:gd name="T0" fmla="*/ 1873 w 509155"/>
              <a:gd name="T1" fmla="*/ 0 h 2088573"/>
              <a:gd name="T2" fmla="*/ 1873 w 509155"/>
              <a:gd name="T3" fmla="*/ 30 h 2088573"/>
              <a:gd name="T4" fmla="*/ 0 w 509155"/>
              <a:gd name="T5" fmla="*/ 30 h 2088573"/>
              <a:gd name="T6" fmla="*/ 0 60000 65536"/>
              <a:gd name="T7" fmla="*/ 0 60000 65536"/>
              <a:gd name="T8" fmla="*/ 0 60000 65536"/>
              <a:gd name="T9" fmla="*/ 0 w 509155"/>
              <a:gd name="T10" fmla="*/ 0 h 2088573"/>
              <a:gd name="T11" fmla="*/ 509155 w 509155"/>
              <a:gd name="T12" fmla="*/ 2088573 h 2088573"/>
            </a:gdLst>
            <a:ahLst/>
            <a:cxnLst>
              <a:cxn ang="T6">
                <a:pos x="T0" y="T1"/>
              </a:cxn>
              <a:cxn ang="T7">
                <a:pos x="T2" y="T3"/>
              </a:cxn>
              <a:cxn ang="T8">
                <a:pos x="T4" y="T5"/>
              </a:cxn>
            </a:cxnLst>
            <a:rect l="T9" t="T10" r="T11" b="T12"/>
            <a:pathLst>
              <a:path w="509155" h="2088573">
                <a:moveTo>
                  <a:pt x="509155" y="0"/>
                </a:moveTo>
                <a:lnTo>
                  <a:pt x="509155" y="2088573"/>
                </a:lnTo>
                <a:lnTo>
                  <a:pt x="0" y="2088573"/>
                </a:lnTo>
              </a:path>
            </a:pathLst>
          </a:custGeom>
          <a:noFill/>
          <a:ln w="19050" algn="ctr">
            <a:solidFill>
              <a:srgbClr val="FF0000"/>
            </a:solidFill>
            <a:prstDash val="sysDash"/>
            <a:round/>
            <a:headEnd type="oval" w="med" len="med"/>
            <a:tailEnd type="triangle" w="med" len="med"/>
          </a:ln>
        </p:spPr>
        <p:txBody>
          <a:bodyPr anchor="ctr"/>
          <a:lstStyle/>
          <a:p>
            <a:endParaRPr lang="ko-KR" altLang="en-US" dirty="0">
              <a:solidFill>
                <a:prstClr val="black"/>
              </a:solidFill>
            </a:endParaRPr>
          </a:p>
        </p:txBody>
      </p:sp>
      <p:sp>
        <p:nvSpPr>
          <p:cNvPr id="12" name="자유형 20"/>
          <p:cNvSpPr>
            <a:spLocks/>
          </p:cNvSpPr>
          <p:nvPr/>
        </p:nvSpPr>
        <p:spPr bwMode="auto">
          <a:xfrm flipH="1">
            <a:off x="3406489" y="6104781"/>
            <a:ext cx="633756" cy="436563"/>
          </a:xfrm>
          <a:custGeom>
            <a:avLst/>
            <a:gdLst>
              <a:gd name="T0" fmla="*/ 1873 w 509155"/>
              <a:gd name="T1" fmla="*/ 0 h 2088573"/>
              <a:gd name="T2" fmla="*/ 1873 w 509155"/>
              <a:gd name="T3" fmla="*/ 30 h 2088573"/>
              <a:gd name="T4" fmla="*/ 0 w 509155"/>
              <a:gd name="T5" fmla="*/ 30 h 2088573"/>
              <a:gd name="T6" fmla="*/ 0 60000 65536"/>
              <a:gd name="T7" fmla="*/ 0 60000 65536"/>
              <a:gd name="T8" fmla="*/ 0 60000 65536"/>
              <a:gd name="T9" fmla="*/ 0 w 509155"/>
              <a:gd name="T10" fmla="*/ 0 h 2088573"/>
              <a:gd name="T11" fmla="*/ 509155 w 509155"/>
              <a:gd name="T12" fmla="*/ 2088573 h 2088573"/>
            </a:gdLst>
            <a:ahLst/>
            <a:cxnLst>
              <a:cxn ang="T6">
                <a:pos x="T0" y="T1"/>
              </a:cxn>
              <a:cxn ang="T7">
                <a:pos x="T2" y="T3"/>
              </a:cxn>
              <a:cxn ang="T8">
                <a:pos x="T4" y="T5"/>
              </a:cxn>
            </a:cxnLst>
            <a:rect l="T9" t="T10" r="T11" b="T12"/>
            <a:pathLst>
              <a:path w="509155" h="2088573">
                <a:moveTo>
                  <a:pt x="509155" y="0"/>
                </a:moveTo>
                <a:lnTo>
                  <a:pt x="509155" y="2088573"/>
                </a:lnTo>
                <a:lnTo>
                  <a:pt x="0" y="2088573"/>
                </a:lnTo>
              </a:path>
            </a:pathLst>
          </a:custGeom>
          <a:noFill/>
          <a:ln w="19050" algn="ctr">
            <a:solidFill>
              <a:srgbClr val="FF0000"/>
            </a:solidFill>
            <a:prstDash val="sysDash"/>
            <a:round/>
            <a:headEnd type="oval" w="med" len="med"/>
            <a:tailEnd type="triangle" w="med" len="med"/>
          </a:ln>
        </p:spPr>
        <p:txBody>
          <a:bodyPr anchor="ctr"/>
          <a:lstStyle/>
          <a:p>
            <a:endParaRPr lang="ko-KR" altLang="en-US" dirty="0">
              <a:solidFill>
                <a:prstClr val="black"/>
              </a:solidFill>
            </a:endParaRPr>
          </a:p>
        </p:txBody>
      </p:sp>
      <p:sp>
        <p:nvSpPr>
          <p:cNvPr id="16" name="TextBox 15"/>
          <p:cNvSpPr txBox="1"/>
          <p:nvPr/>
        </p:nvSpPr>
        <p:spPr>
          <a:xfrm>
            <a:off x="417606" y="1214423"/>
            <a:ext cx="2835539" cy="523220"/>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Giá</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trị</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StDev</a:t>
            </a:r>
            <a:r>
              <a:rPr kumimoji="0" lang="en-US" altLang="ko-KR" sz="1400" b="1" kern="0" dirty="0">
                <a:solidFill>
                  <a:sysClr val="windowText" lastClr="000000"/>
                </a:solidFill>
                <a:latin typeface="맑은 고딕" pitchFamily="50" charset="-127"/>
                <a:ea typeface="맑은 고딕" pitchFamily="50" charset="-127"/>
              </a:rPr>
              <a:t>(Overall)</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0.176126</a:t>
            </a:r>
          </a:p>
        </p:txBody>
      </p:sp>
      <p:cxnSp>
        <p:nvCxnSpPr>
          <p:cNvPr id="3" name="직선 연결선 2"/>
          <p:cNvCxnSpPr/>
          <p:nvPr/>
        </p:nvCxnSpPr>
        <p:spPr>
          <a:xfrm>
            <a:off x="6098380" y="3356992"/>
            <a:ext cx="1464722" cy="64807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p:nvCxnSpPr>
        <p:spPr>
          <a:xfrm flipV="1">
            <a:off x="6098380" y="3356992"/>
            <a:ext cx="1464722" cy="64807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230</a:t>
            </a:fld>
            <a:endParaRPr lang="ko-KR" altLang="en-US" dirty="0">
              <a:solidFill>
                <a:prstClr val="black"/>
              </a:solidFill>
            </a:endParaRPr>
          </a:p>
        </p:txBody>
      </p:sp>
      <p:sp>
        <p:nvSpPr>
          <p:cNvPr id="7" name="TextBox 6"/>
          <p:cNvSpPr txBox="1"/>
          <p:nvPr/>
        </p:nvSpPr>
        <p:spPr>
          <a:xfrm>
            <a:off x="7566377" y="2852936"/>
            <a:ext cx="1465466" cy="652486"/>
          </a:xfrm>
          <a:prstGeom prst="rect">
            <a:avLst/>
          </a:prstGeom>
          <a:noFill/>
        </p:spPr>
        <p:txBody>
          <a:bodyPr wrap="none" rtlCol="0">
            <a:spAutoFit/>
          </a:bodyPr>
          <a:lstStyle/>
          <a:p>
            <a:pPr marL="285750" indent="-285750">
              <a:lnSpc>
                <a:spcPct val="130000"/>
              </a:lnSpc>
              <a:buClr>
                <a:srgbClr val="C5003D"/>
              </a:buClr>
              <a:buFont typeface="Wingdings"/>
              <a:buChar char="è"/>
            </a:pPr>
            <a:r>
              <a:rPr lang="en-US" altLang="ko-KR" sz="1400" b="1" dirty="0">
                <a:solidFill>
                  <a:srgbClr val="FF0000"/>
                </a:solidFill>
                <a:sym typeface="Wingdings" panose="05000000000000000000" pitchFamily="2" charset="2"/>
              </a:rPr>
              <a:t>Next Page</a:t>
            </a:r>
          </a:p>
          <a:p>
            <a:pPr>
              <a:lnSpc>
                <a:spcPct val="130000"/>
              </a:lnSpc>
              <a:buClr>
                <a:srgbClr val="C5003D"/>
              </a:buClr>
            </a:pPr>
            <a:r>
              <a:rPr lang="en-US" altLang="ko-KR" sz="1400" b="1" dirty="0">
                <a:solidFill>
                  <a:srgbClr val="FF0000"/>
                </a:solidFill>
                <a:sym typeface="Wingdings" panose="05000000000000000000" pitchFamily="2" charset="2"/>
              </a:rPr>
              <a:t>   </a:t>
            </a:r>
            <a:r>
              <a:rPr lang="en-US" altLang="ko-KR" sz="1400" b="1" dirty="0" err="1">
                <a:solidFill>
                  <a:srgbClr val="FF0000"/>
                </a:solidFill>
                <a:sym typeface="Wingdings" panose="05000000000000000000" pitchFamily="2" charset="2"/>
              </a:rPr>
              <a:t>Giải</a:t>
            </a:r>
            <a:r>
              <a:rPr lang="en-US" altLang="ko-KR" sz="1400" b="1" dirty="0">
                <a:solidFill>
                  <a:srgbClr val="FF0000"/>
                </a:solidFill>
                <a:sym typeface="Wingdings" panose="05000000000000000000" pitchFamily="2" charset="2"/>
              </a:rPr>
              <a:t> </a:t>
            </a:r>
            <a:r>
              <a:rPr lang="en-US" altLang="ko-KR" sz="1400" b="1" dirty="0" err="1">
                <a:solidFill>
                  <a:srgbClr val="FF0000"/>
                </a:solidFill>
                <a:sym typeface="Wingdings" panose="05000000000000000000" pitchFamily="2" charset="2"/>
              </a:rPr>
              <a:t>thích</a:t>
            </a:r>
            <a:r>
              <a:rPr lang="en-US" altLang="ko-KR" sz="1400" b="1" dirty="0">
                <a:solidFill>
                  <a:srgbClr val="FF0000"/>
                </a:solidFill>
                <a:sym typeface="Wingdings" panose="05000000000000000000" pitchFamily="2" charset="2"/>
              </a:rPr>
              <a:t> </a:t>
            </a:r>
            <a:r>
              <a:rPr lang="en-US" altLang="ko-KR" sz="1400" b="1" dirty="0" err="1">
                <a:solidFill>
                  <a:srgbClr val="FF0000"/>
                </a:solidFill>
                <a:sym typeface="Wingdings" panose="05000000000000000000" pitchFamily="2" charset="2"/>
              </a:rPr>
              <a:t>kỹ</a:t>
            </a:r>
            <a:endParaRPr lang="ko-KR" altLang="en-US" sz="1400" b="1" dirty="0">
              <a:solidFill>
                <a:srgbClr val="FF0000"/>
              </a:solidFill>
            </a:endParaRPr>
          </a:p>
        </p:txBody>
      </p:sp>
      <p:sp>
        <p:nvSpPr>
          <p:cNvPr id="18"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2216180149"/>
      </p:ext>
    </p:extLst>
  </p:cSld>
  <p:clrMapOvr>
    <a:masterClrMapping/>
  </p:clrMapOvr>
  <p:transition spd="med">
    <p:fade/>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231</a:t>
            </a:fld>
            <a:endParaRPr lang="ko-KR" altLang="en-US" dirty="0">
              <a:solidFill>
                <a:prstClr val="black"/>
              </a:solidFill>
            </a:endParaRPr>
          </a:p>
        </p:txBody>
      </p:sp>
      <p:sp>
        <p:nvSpPr>
          <p:cNvPr id="3" name="TextBox 2"/>
          <p:cNvSpPr txBox="1"/>
          <p:nvPr/>
        </p:nvSpPr>
        <p:spPr>
          <a:xfrm>
            <a:off x="317989" y="836713"/>
            <a:ext cx="3690947" cy="412421"/>
          </a:xfrm>
          <a:prstGeom prst="rect">
            <a:avLst/>
          </a:prstGeom>
          <a:noFill/>
        </p:spPr>
        <p:txBody>
          <a:bodyPr wrap="none" rtlCol="0">
            <a:spAutoFit/>
          </a:bodyPr>
          <a:lstStyle/>
          <a:p>
            <a:pPr marL="342900" indent="-342900">
              <a:lnSpc>
                <a:spcPct val="130000"/>
              </a:lnSpc>
              <a:buClr>
                <a:schemeClr val="tx1"/>
              </a:buClr>
              <a:buFont typeface="Wingdings" panose="05000000000000000000" pitchFamily="2" charset="2"/>
              <a:buChar char="u"/>
            </a:pP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giá</a:t>
            </a:r>
            <a:r>
              <a:rPr lang="en-US" altLang="ko-KR" sz="1600" b="1" dirty="0"/>
              <a:t> </a:t>
            </a:r>
            <a:r>
              <a:rPr lang="en-US" altLang="ko-KR" sz="1600" b="1" dirty="0" err="1"/>
              <a:t>trị</a:t>
            </a:r>
            <a:r>
              <a:rPr lang="en-US" altLang="ko-KR" sz="1600" b="1" dirty="0"/>
              <a:t> </a:t>
            </a:r>
            <a:r>
              <a:rPr lang="en-US" altLang="ko-KR" sz="1600" b="1" dirty="0" err="1"/>
              <a:t>Zlt</a:t>
            </a:r>
            <a:r>
              <a:rPr lang="en-US" altLang="ko-KR" sz="1600" b="1" dirty="0"/>
              <a:t> </a:t>
            </a:r>
            <a:r>
              <a:rPr lang="en-US" altLang="ko-KR" sz="1600" b="1" dirty="0" err="1"/>
              <a:t>trong</a:t>
            </a:r>
            <a:r>
              <a:rPr lang="en-US" altLang="ko-KR" sz="1600" b="1" dirty="0"/>
              <a:t> excel</a:t>
            </a:r>
            <a:endParaRPr lang="ko-KR" altLang="en-US" sz="1600" b="1" dirty="0"/>
          </a:p>
        </p:txBody>
      </p:sp>
      <p:sp>
        <p:nvSpPr>
          <p:cNvPr id="4" name="TextBox 3"/>
          <p:cNvSpPr txBox="1"/>
          <p:nvPr/>
        </p:nvSpPr>
        <p:spPr>
          <a:xfrm>
            <a:off x="3777205" y="908721"/>
            <a:ext cx="4583306" cy="307777"/>
          </a:xfrm>
          <a:prstGeom prst="rect">
            <a:avLst/>
          </a:prstGeom>
          <a:noFill/>
        </p:spPr>
        <p:txBody>
          <a:bodyPr wrap="none" rtlCol="0">
            <a:spAutoFit/>
          </a:bodyPr>
          <a:lstStyle/>
          <a:p>
            <a:pPr fontAlgn="auto" latinLnBrk="0">
              <a:spcBef>
                <a:spcPts val="0"/>
              </a:spcBef>
              <a:spcAft>
                <a:spcPts val="0"/>
              </a:spcAft>
              <a:buClr>
                <a:srgbClr val="595959"/>
              </a:buClr>
              <a:defRPr/>
            </a:pPr>
            <a:r>
              <a:rPr kumimoji="0" lang="en-US" altLang="ko-KR" sz="1400" kern="0" dirty="0" err="1">
                <a:solidFill>
                  <a:srgbClr val="00B050"/>
                </a:solidFill>
                <a:latin typeface="맑은 고딕" pitchFamily="50" charset="-127"/>
                <a:ea typeface="맑은 고딕" pitchFamily="50" charset="-127"/>
              </a:rPr>
              <a:t>StDev</a:t>
            </a:r>
            <a:r>
              <a:rPr kumimoji="0" lang="en-US" altLang="ko-KR" sz="1400" kern="0" dirty="0">
                <a:solidFill>
                  <a:srgbClr val="00B050"/>
                </a:solidFill>
                <a:latin typeface="맑은 고딕" pitchFamily="50" charset="-127"/>
                <a:ea typeface="맑은 고딕" pitchFamily="50" charset="-127"/>
              </a:rPr>
              <a:t>(Overall) </a:t>
            </a:r>
            <a:r>
              <a:rPr kumimoji="0" lang="ko-KR" altLang="en-US" sz="1400" kern="0" dirty="0">
                <a:solidFill>
                  <a:srgbClr val="00B050"/>
                </a:solidFill>
                <a:latin typeface="맑은 고딕" pitchFamily="50" charset="-127"/>
                <a:ea typeface="맑은 고딕" pitchFamily="50" charset="-127"/>
              </a:rPr>
              <a:t> </a:t>
            </a:r>
            <a:r>
              <a:rPr kumimoji="0" lang="en-US" altLang="ko-KR" sz="1400" kern="0" dirty="0">
                <a:solidFill>
                  <a:srgbClr val="00B050"/>
                </a:solidFill>
                <a:latin typeface="맑은 고딕" pitchFamily="50" charset="-127"/>
                <a:ea typeface="맑은 고딕" pitchFamily="50" charset="-127"/>
              </a:rPr>
              <a:t>0.176126 </a:t>
            </a:r>
            <a:r>
              <a:rPr kumimoji="0" lang="en-US" altLang="ko-KR" sz="1400" kern="0" dirty="0" err="1">
                <a:solidFill>
                  <a:srgbClr val="00B050"/>
                </a:solidFill>
                <a:latin typeface="맑은 고딕" pitchFamily="50" charset="-127"/>
                <a:ea typeface="맑은 고딕" pitchFamily="50" charset="-127"/>
              </a:rPr>
              <a:t>toàn</a:t>
            </a:r>
            <a:r>
              <a:rPr kumimoji="0" lang="en-US" altLang="ko-KR" sz="1400" kern="0" dirty="0">
                <a:solidFill>
                  <a:srgbClr val="00B050"/>
                </a:solidFill>
                <a:latin typeface="맑은 고딕" pitchFamily="50" charset="-127"/>
                <a:ea typeface="맑은 고딕" pitchFamily="50" charset="-127"/>
              </a:rPr>
              <a:t> </a:t>
            </a:r>
            <a:r>
              <a:rPr kumimoji="0" lang="en-US" altLang="ko-KR" sz="1400" kern="0" dirty="0" err="1">
                <a:solidFill>
                  <a:srgbClr val="00B050"/>
                </a:solidFill>
                <a:latin typeface="맑은 고딕" pitchFamily="50" charset="-127"/>
                <a:ea typeface="맑은 고딕" pitchFamily="50" charset="-127"/>
              </a:rPr>
              <a:t>thể</a:t>
            </a:r>
            <a:r>
              <a:rPr kumimoji="0" lang="en-US" altLang="ko-KR" sz="1400" kern="0" dirty="0">
                <a:solidFill>
                  <a:srgbClr val="00B050"/>
                </a:solidFill>
                <a:latin typeface="맑은 고딕" pitchFamily="50" charset="-127"/>
                <a:ea typeface="맑은 고딕" pitchFamily="50" charset="-127"/>
              </a:rPr>
              <a:t> </a:t>
            </a:r>
            <a:r>
              <a:rPr kumimoji="0" lang="en-US" altLang="ko-KR" sz="1400" kern="0" dirty="0" err="1">
                <a:solidFill>
                  <a:srgbClr val="00B050"/>
                </a:solidFill>
                <a:latin typeface="맑은 고딕" pitchFamily="50" charset="-127"/>
                <a:ea typeface="맑은 고딕" pitchFamily="50" charset="-127"/>
              </a:rPr>
              <a:t>độ</a:t>
            </a:r>
            <a:r>
              <a:rPr kumimoji="0" lang="en-US" altLang="ko-KR" sz="1400" kern="0" dirty="0">
                <a:solidFill>
                  <a:srgbClr val="00B050"/>
                </a:solidFill>
                <a:latin typeface="맑은 고딕" pitchFamily="50" charset="-127"/>
                <a:ea typeface="맑은 고딕" pitchFamily="50" charset="-127"/>
              </a:rPr>
              <a:t> </a:t>
            </a:r>
            <a:r>
              <a:rPr kumimoji="0" lang="en-US" altLang="ko-KR" sz="1400" kern="0" dirty="0" err="1">
                <a:solidFill>
                  <a:srgbClr val="00B050"/>
                </a:solidFill>
                <a:latin typeface="맑은 고딕" pitchFamily="50" charset="-127"/>
                <a:ea typeface="맑은 고딕" pitchFamily="50" charset="-127"/>
              </a:rPr>
              <a:t>lệch</a:t>
            </a:r>
            <a:r>
              <a:rPr kumimoji="0" lang="en-US" altLang="ko-KR" sz="1400" kern="0" dirty="0">
                <a:solidFill>
                  <a:srgbClr val="00B050"/>
                </a:solidFill>
                <a:latin typeface="맑은 고딕" pitchFamily="50" charset="-127"/>
                <a:ea typeface="맑은 고딕" pitchFamily="50" charset="-127"/>
              </a:rPr>
              <a:t> </a:t>
            </a:r>
            <a:r>
              <a:rPr kumimoji="0" lang="en-US" altLang="ko-KR" sz="1400" kern="0" dirty="0" err="1">
                <a:solidFill>
                  <a:srgbClr val="00B050"/>
                </a:solidFill>
                <a:latin typeface="맑은 고딕" pitchFamily="50" charset="-127"/>
                <a:ea typeface="맑은 고딕" pitchFamily="50" charset="-127"/>
              </a:rPr>
              <a:t>tiêu</a:t>
            </a:r>
            <a:r>
              <a:rPr kumimoji="0" lang="en-US" altLang="ko-KR" sz="1400" kern="0" dirty="0">
                <a:solidFill>
                  <a:srgbClr val="00B050"/>
                </a:solidFill>
                <a:latin typeface="맑은 고딕" pitchFamily="50" charset="-127"/>
                <a:ea typeface="맑은 고딕" pitchFamily="50" charset="-127"/>
              </a:rPr>
              <a:t> </a:t>
            </a:r>
            <a:r>
              <a:rPr kumimoji="0" lang="en-US" altLang="ko-KR" sz="1400" kern="0" dirty="0" err="1">
                <a:solidFill>
                  <a:srgbClr val="00B050"/>
                </a:solidFill>
                <a:latin typeface="맑은 고딕" pitchFamily="50" charset="-127"/>
                <a:ea typeface="맑은 고딕" pitchFamily="50" charset="-127"/>
              </a:rPr>
              <a:t>chuẩn</a:t>
            </a:r>
            <a:endParaRPr kumimoji="0" lang="en-US" altLang="ko-KR" sz="1400" kern="0" dirty="0">
              <a:solidFill>
                <a:srgbClr val="00B050"/>
              </a:solidFill>
              <a:latin typeface="맑은 고딕" pitchFamily="50" charset="-127"/>
              <a:ea typeface="맑은 고딕" pitchFamily="50" charset="-127"/>
            </a:endParaRPr>
          </a:p>
        </p:txBody>
      </p:sp>
      <p:sp>
        <p:nvSpPr>
          <p:cNvPr id="5" name="Line 56"/>
          <p:cNvSpPr>
            <a:spLocks noChangeShapeType="1"/>
          </p:cNvSpPr>
          <p:nvPr/>
        </p:nvSpPr>
        <p:spPr bwMode="auto">
          <a:xfrm>
            <a:off x="1691677" y="180898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6" name="Rectangle 57"/>
          <p:cNvSpPr>
            <a:spLocks noChangeArrowheads="1"/>
          </p:cNvSpPr>
          <p:nvPr/>
        </p:nvSpPr>
        <p:spPr bwMode="auto">
          <a:xfrm>
            <a:off x="2105645" y="1816220"/>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7" name="Rectangle 58"/>
          <p:cNvSpPr>
            <a:spLocks noChangeArrowheads="1"/>
          </p:cNvSpPr>
          <p:nvPr/>
        </p:nvSpPr>
        <p:spPr bwMode="auto">
          <a:xfrm>
            <a:off x="2133688" y="148478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8" name="Rectangle 59"/>
          <p:cNvSpPr>
            <a:spLocks noChangeArrowheads="1"/>
          </p:cNvSpPr>
          <p:nvPr/>
        </p:nvSpPr>
        <p:spPr bwMode="auto">
          <a:xfrm>
            <a:off x="1506060" y="163241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9" name="Rectangle 61"/>
          <p:cNvSpPr>
            <a:spLocks noChangeArrowheads="1"/>
          </p:cNvSpPr>
          <p:nvPr/>
        </p:nvSpPr>
        <p:spPr bwMode="auto">
          <a:xfrm>
            <a:off x="2403434" y="1510837"/>
            <a:ext cx="1234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μ</a:t>
            </a:r>
            <a:endParaRPr lang="en-US" altLang="ko-KR" baseline="0" dirty="0">
              <a:solidFill>
                <a:srgbClr val="000000"/>
              </a:solidFill>
              <a:latin typeface="Times New Roman" pitchFamily="18" charset="0"/>
              <a:ea typeface="굴림" pitchFamily="50" charset="-127"/>
            </a:endParaRPr>
          </a:p>
        </p:txBody>
      </p:sp>
      <p:sp>
        <p:nvSpPr>
          <p:cNvPr id="10" name="Rectangle 62"/>
          <p:cNvSpPr>
            <a:spLocks noChangeArrowheads="1"/>
          </p:cNvSpPr>
          <p:nvPr/>
        </p:nvSpPr>
        <p:spPr bwMode="auto">
          <a:xfrm>
            <a:off x="1794501" y="1510837"/>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11" name="Rectangle 63"/>
          <p:cNvSpPr>
            <a:spLocks noChangeArrowheads="1"/>
          </p:cNvSpPr>
          <p:nvPr/>
        </p:nvSpPr>
        <p:spPr bwMode="auto">
          <a:xfrm>
            <a:off x="916209" y="1659910"/>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12" name="Rectangle 64"/>
          <p:cNvSpPr>
            <a:spLocks noChangeArrowheads="1"/>
          </p:cNvSpPr>
          <p:nvPr/>
        </p:nvSpPr>
        <p:spPr bwMode="auto">
          <a:xfrm>
            <a:off x="1031053" y="1803194"/>
            <a:ext cx="436017"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LT(USL)</a:t>
            </a:r>
            <a:endParaRPr lang="en-US" altLang="ko-KR" baseline="0" dirty="0">
              <a:solidFill>
                <a:srgbClr val="000000"/>
              </a:solidFill>
              <a:latin typeface="Times New Roman" pitchFamily="18" charset="0"/>
              <a:ea typeface="굴림" pitchFamily="50" charset="-127"/>
            </a:endParaRPr>
          </a:p>
        </p:txBody>
      </p:sp>
      <p:sp>
        <p:nvSpPr>
          <p:cNvPr id="13" name="Rectangle 94"/>
          <p:cNvSpPr>
            <a:spLocks noChangeArrowheads="1"/>
          </p:cNvSpPr>
          <p:nvPr/>
        </p:nvSpPr>
        <p:spPr bwMode="auto">
          <a:xfrm>
            <a:off x="2324850" y="192042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14" name="TextBox 13"/>
          <p:cNvSpPr txBox="1"/>
          <p:nvPr/>
        </p:nvSpPr>
        <p:spPr>
          <a:xfrm>
            <a:off x="2156148" y="1925326"/>
            <a:ext cx="284052" cy="232371"/>
          </a:xfrm>
          <a:prstGeom prst="rect">
            <a:avLst/>
          </a:prstGeom>
          <a:noFill/>
        </p:spPr>
        <p:txBody>
          <a:bodyPr wrap="none" rtlCol="0">
            <a:spAutoFit/>
          </a:bodyPr>
          <a:lstStyle/>
          <a:p>
            <a:pPr>
              <a:lnSpc>
                <a:spcPct val="130000"/>
              </a:lnSpc>
              <a:buClr>
                <a:srgbClr val="C5003D"/>
              </a:buClr>
            </a:pPr>
            <a:r>
              <a:rPr lang="en-US" altLang="ko-KR" sz="700" b="1" dirty="0"/>
              <a:t>LT</a:t>
            </a:r>
            <a:endParaRPr lang="ko-KR" altLang="en-US" sz="700" b="1" dirty="0"/>
          </a:p>
        </p:txBody>
      </p:sp>
      <p:sp>
        <p:nvSpPr>
          <p:cNvPr id="15" name="Line 56"/>
          <p:cNvSpPr>
            <a:spLocks noChangeShapeType="1"/>
          </p:cNvSpPr>
          <p:nvPr/>
        </p:nvSpPr>
        <p:spPr bwMode="auto">
          <a:xfrm>
            <a:off x="1700047" y="252906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16" name="Rectangle 57"/>
          <p:cNvSpPr>
            <a:spLocks noChangeArrowheads="1"/>
          </p:cNvSpPr>
          <p:nvPr/>
        </p:nvSpPr>
        <p:spPr bwMode="auto">
          <a:xfrm>
            <a:off x="2012100" y="2536300"/>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0.1761</a:t>
            </a:r>
            <a:endParaRPr lang="en-US" altLang="ko-KR" baseline="0" dirty="0">
              <a:solidFill>
                <a:srgbClr val="000000"/>
              </a:solidFill>
              <a:latin typeface="Times New Roman" pitchFamily="18" charset="0"/>
              <a:ea typeface="굴림" pitchFamily="50" charset="-127"/>
            </a:endParaRPr>
          </a:p>
        </p:txBody>
      </p:sp>
      <p:sp>
        <p:nvSpPr>
          <p:cNvPr id="17" name="Rectangle 58"/>
          <p:cNvSpPr>
            <a:spLocks noChangeArrowheads="1"/>
          </p:cNvSpPr>
          <p:nvPr/>
        </p:nvSpPr>
        <p:spPr bwMode="auto">
          <a:xfrm>
            <a:off x="2142057" y="220486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8" name="Rectangle 59"/>
          <p:cNvSpPr>
            <a:spLocks noChangeArrowheads="1"/>
          </p:cNvSpPr>
          <p:nvPr/>
        </p:nvSpPr>
        <p:spPr bwMode="auto">
          <a:xfrm>
            <a:off x="1514429" y="235249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9" name="Rectangle 61"/>
          <p:cNvSpPr>
            <a:spLocks noChangeArrowheads="1"/>
          </p:cNvSpPr>
          <p:nvPr/>
        </p:nvSpPr>
        <p:spPr bwMode="auto">
          <a:xfrm>
            <a:off x="2411804" y="2230917"/>
            <a:ext cx="4039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5.28</a:t>
            </a:r>
            <a:endParaRPr lang="en-US" altLang="ko-KR" baseline="0" dirty="0">
              <a:solidFill>
                <a:srgbClr val="000000"/>
              </a:solidFill>
              <a:latin typeface="Times New Roman" pitchFamily="18" charset="0"/>
              <a:ea typeface="굴림" pitchFamily="50" charset="-127"/>
            </a:endParaRPr>
          </a:p>
        </p:txBody>
      </p:sp>
      <p:sp>
        <p:nvSpPr>
          <p:cNvPr id="20" name="Rectangle 62"/>
          <p:cNvSpPr>
            <a:spLocks noChangeArrowheads="1"/>
          </p:cNvSpPr>
          <p:nvPr/>
        </p:nvSpPr>
        <p:spPr bwMode="auto">
          <a:xfrm>
            <a:off x="1802871" y="2230917"/>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6</a:t>
            </a:r>
            <a:endParaRPr lang="en-US" altLang="ko-KR" baseline="0" dirty="0">
              <a:solidFill>
                <a:srgbClr val="000000"/>
              </a:solidFill>
              <a:latin typeface="Times New Roman" pitchFamily="18" charset="0"/>
              <a:ea typeface="굴림" pitchFamily="50" charset="-127"/>
            </a:endParaRPr>
          </a:p>
        </p:txBody>
      </p:sp>
      <p:sp>
        <p:nvSpPr>
          <p:cNvPr id="21" name="Rectangle 94"/>
          <p:cNvSpPr>
            <a:spLocks noChangeArrowheads="1"/>
          </p:cNvSpPr>
          <p:nvPr/>
        </p:nvSpPr>
        <p:spPr bwMode="auto">
          <a:xfrm>
            <a:off x="2333220" y="264050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23" name="Rectangle 59"/>
          <p:cNvSpPr>
            <a:spLocks noChangeArrowheads="1"/>
          </p:cNvSpPr>
          <p:nvPr/>
        </p:nvSpPr>
        <p:spPr bwMode="auto">
          <a:xfrm>
            <a:off x="2901643" y="2352491"/>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4.0880</a:t>
            </a:r>
            <a:endParaRPr lang="en-US" altLang="ko-KR" baseline="0" dirty="0">
              <a:solidFill>
                <a:srgbClr val="000000"/>
              </a:solidFill>
              <a:latin typeface="Times New Roman" pitchFamily="18" charset="0"/>
              <a:ea typeface="굴림" pitchFamily="50" charset="-127"/>
            </a:endParaRPr>
          </a:p>
        </p:txBody>
      </p:sp>
      <p:sp>
        <p:nvSpPr>
          <p:cNvPr id="24" name="Line 56"/>
          <p:cNvSpPr>
            <a:spLocks noChangeShapeType="1"/>
          </p:cNvSpPr>
          <p:nvPr/>
        </p:nvSpPr>
        <p:spPr bwMode="auto">
          <a:xfrm>
            <a:off x="1691677" y="332115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25" name="Rectangle 57"/>
          <p:cNvSpPr>
            <a:spLocks noChangeArrowheads="1"/>
          </p:cNvSpPr>
          <p:nvPr/>
        </p:nvSpPr>
        <p:spPr bwMode="auto">
          <a:xfrm>
            <a:off x="2105645" y="3328388"/>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26" name="Rectangle 58"/>
          <p:cNvSpPr>
            <a:spLocks noChangeArrowheads="1"/>
          </p:cNvSpPr>
          <p:nvPr/>
        </p:nvSpPr>
        <p:spPr bwMode="auto">
          <a:xfrm>
            <a:off x="2133688" y="299695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7" name="Rectangle 59"/>
          <p:cNvSpPr>
            <a:spLocks noChangeArrowheads="1"/>
          </p:cNvSpPr>
          <p:nvPr/>
        </p:nvSpPr>
        <p:spPr bwMode="auto">
          <a:xfrm>
            <a:off x="1506060" y="314457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8" name="Rectangle 61"/>
          <p:cNvSpPr>
            <a:spLocks noChangeArrowheads="1"/>
          </p:cNvSpPr>
          <p:nvPr/>
        </p:nvSpPr>
        <p:spPr bwMode="auto">
          <a:xfrm>
            <a:off x="1859528" y="3023005"/>
            <a:ext cx="1234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μ</a:t>
            </a:r>
            <a:endParaRPr lang="en-US" altLang="ko-KR" baseline="0" dirty="0">
              <a:solidFill>
                <a:srgbClr val="000000"/>
              </a:solidFill>
              <a:latin typeface="Times New Roman" pitchFamily="18" charset="0"/>
              <a:ea typeface="굴림" pitchFamily="50" charset="-127"/>
            </a:endParaRPr>
          </a:p>
        </p:txBody>
      </p:sp>
      <p:sp>
        <p:nvSpPr>
          <p:cNvPr id="29" name="Rectangle 62"/>
          <p:cNvSpPr>
            <a:spLocks noChangeArrowheads="1"/>
          </p:cNvSpPr>
          <p:nvPr/>
        </p:nvSpPr>
        <p:spPr bwMode="auto">
          <a:xfrm>
            <a:off x="2378526" y="3023005"/>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30" name="Rectangle 63"/>
          <p:cNvSpPr>
            <a:spLocks noChangeArrowheads="1"/>
          </p:cNvSpPr>
          <p:nvPr/>
        </p:nvSpPr>
        <p:spPr bwMode="auto">
          <a:xfrm>
            <a:off x="916209" y="3172078"/>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31" name="Rectangle 64"/>
          <p:cNvSpPr>
            <a:spLocks noChangeArrowheads="1"/>
          </p:cNvSpPr>
          <p:nvPr/>
        </p:nvSpPr>
        <p:spPr bwMode="auto">
          <a:xfrm>
            <a:off x="1031052" y="3315362"/>
            <a:ext cx="423193"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LT(LSL)</a:t>
            </a:r>
            <a:endParaRPr lang="en-US" altLang="ko-KR" baseline="0" dirty="0">
              <a:solidFill>
                <a:srgbClr val="000000"/>
              </a:solidFill>
              <a:latin typeface="Times New Roman" pitchFamily="18" charset="0"/>
              <a:ea typeface="굴림" pitchFamily="50" charset="-127"/>
            </a:endParaRPr>
          </a:p>
        </p:txBody>
      </p:sp>
      <p:sp>
        <p:nvSpPr>
          <p:cNvPr id="32" name="Rectangle 94"/>
          <p:cNvSpPr>
            <a:spLocks noChangeArrowheads="1"/>
          </p:cNvSpPr>
          <p:nvPr/>
        </p:nvSpPr>
        <p:spPr bwMode="auto">
          <a:xfrm>
            <a:off x="2324850" y="343259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33" name="TextBox 32"/>
          <p:cNvSpPr txBox="1"/>
          <p:nvPr/>
        </p:nvSpPr>
        <p:spPr>
          <a:xfrm>
            <a:off x="2156148" y="3437493"/>
            <a:ext cx="284052" cy="232371"/>
          </a:xfrm>
          <a:prstGeom prst="rect">
            <a:avLst/>
          </a:prstGeom>
          <a:noFill/>
        </p:spPr>
        <p:txBody>
          <a:bodyPr wrap="none" rtlCol="0">
            <a:spAutoFit/>
          </a:bodyPr>
          <a:lstStyle/>
          <a:p>
            <a:pPr>
              <a:lnSpc>
                <a:spcPct val="130000"/>
              </a:lnSpc>
              <a:buClr>
                <a:srgbClr val="C5003D"/>
              </a:buClr>
            </a:pPr>
            <a:r>
              <a:rPr lang="en-US" altLang="ko-KR" sz="700" b="1" dirty="0"/>
              <a:t>LT</a:t>
            </a:r>
            <a:endParaRPr lang="ko-KR" altLang="en-US" sz="700" b="1" dirty="0"/>
          </a:p>
        </p:txBody>
      </p:sp>
      <p:sp>
        <p:nvSpPr>
          <p:cNvPr id="34" name="Line 56"/>
          <p:cNvSpPr>
            <a:spLocks noChangeShapeType="1"/>
          </p:cNvSpPr>
          <p:nvPr/>
        </p:nvSpPr>
        <p:spPr bwMode="auto">
          <a:xfrm>
            <a:off x="1657915" y="404123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35" name="Rectangle 57"/>
          <p:cNvSpPr>
            <a:spLocks noChangeArrowheads="1"/>
          </p:cNvSpPr>
          <p:nvPr/>
        </p:nvSpPr>
        <p:spPr bwMode="auto">
          <a:xfrm>
            <a:off x="1969968" y="4048468"/>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0.1761</a:t>
            </a:r>
            <a:endParaRPr lang="en-US" altLang="ko-KR" baseline="0" dirty="0">
              <a:solidFill>
                <a:srgbClr val="000000"/>
              </a:solidFill>
              <a:latin typeface="Times New Roman" pitchFamily="18" charset="0"/>
              <a:ea typeface="굴림" pitchFamily="50" charset="-127"/>
            </a:endParaRPr>
          </a:p>
        </p:txBody>
      </p:sp>
      <p:sp>
        <p:nvSpPr>
          <p:cNvPr id="36" name="Rectangle 58"/>
          <p:cNvSpPr>
            <a:spLocks noChangeArrowheads="1"/>
          </p:cNvSpPr>
          <p:nvPr/>
        </p:nvSpPr>
        <p:spPr bwMode="auto">
          <a:xfrm>
            <a:off x="2232863" y="371703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7" name="Rectangle 59"/>
          <p:cNvSpPr>
            <a:spLocks noChangeArrowheads="1"/>
          </p:cNvSpPr>
          <p:nvPr/>
        </p:nvSpPr>
        <p:spPr bwMode="auto">
          <a:xfrm>
            <a:off x="1472297" y="386465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8" name="Rectangle 61"/>
          <p:cNvSpPr>
            <a:spLocks noChangeArrowheads="1"/>
          </p:cNvSpPr>
          <p:nvPr/>
        </p:nvSpPr>
        <p:spPr bwMode="auto">
          <a:xfrm>
            <a:off x="2502609" y="3743085"/>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a:t>
            </a:r>
            <a:endParaRPr lang="en-US" altLang="ko-KR" baseline="0" dirty="0">
              <a:solidFill>
                <a:srgbClr val="000000"/>
              </a:solidFill>
              <a:latin typeface="Times New Roman" pitchFamily="18" charset="0"/>
              <a:ea typeface="굴림" pitchFamily="50" charset="-127"/>
            </a:endParaRPr>
          </a:p>
        </p:txBody>
      </p:sp>
      <p:sp>
        <p:nvSpPr>
          <p:cNvPr id="39" name="Rectangle 62"/>
          <p:cNvSpPr>
            <a:spLocks noChangeArrowheads="1"/>
          </p:cNvSpPr>
          <p:nvPr/>
        </p:nvSpPr>
        <p:spPr bwMode="auto">
          <a:xfrm>
            <a:off x="1790853" y="3743085"/>
            <a:ext cx="4039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5.28</a:t>
            </a:r>
            <a:endParaRPr lang="en-US" altLang="ko-KR" baseline="0" dirty="0">
              <a:solidFill>
                <a:srgbClr val="000000"/>
              </a:solidFill>
              <a:latin typeface="Times New Roman" pitchFamily="18" charset="0"/>
              <a:ea typeface="굴림" pitchFamily="50" charset="-127"/>
            </a:endParaRPr>
          </a:p>
        </p:txBody>
      </p:sp>
      <p:sp>
        <p:nvSpPr>
          <p:cNvPr id="40" name="Rectangle 94"/>
          <p:cNvSpPr>
            <a:spLocks noChangeArrowheads="1"/>
          </p:cNvSpPr>
          <p:nvPr/>
        </p:nvSpPr>
        <p:spPr bwMode="auto">
          <a:xfrm>
            <a:off x="2291088" y="415267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41" name="Rectangle 59"/>
          <p:cNvSpPr>
            <a:spLocks noChangeArrowheads="1"/>
          </p:cNvSpPr>
          <p:nvPr/>
        </p:nvSpPr>
        <p:spPr bwMode="auto">
          <a:xfrm>
            <a:off x="2859511" y="3864659"/>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1.5898</a:t>
            </a:r>
            <a:endParaRPr lang="en-US" altLang="ko-KR" baseline="0" dirty="0">
              <a:solidFill>
                <a:srgbClr val="000000"/>
              </a:solidFill>
              <a:latin typeface="Times New Roman" pitchFamily="18" charset="0"/>
              <a:ea typeface="굴림" pitchFamily="50" charset="-127"/>
            </a:endParaRPr>
          </a:p>
        </p:txBody>
      </p:sp>
      <p:sp>
        <p:nvSpPr>
          <p:cNvPr id="42" name="Rectangle 63"/>
          <p:cNvSpPr>
            <a:spLocks noChangeArrowheads="1"/>
          </p:cNvSpPr>
          <p:nvPr/>
        </p:nvSpPr>
        <p:spPr bwMode="auto">
          <a:xfrm>
            <a:off x="4505531" y="1628800"/>
            <a:ext cx="38039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P(4.0880)  =  1 – NORM.S.DIST(4.0880,true)</a:t>
            </a:r>
          </a:p>
        </p:txBody>
      </p:sp>
      <p:sp>
        <p:nvSpPr>
          <p:cNvPr id="44" name="Rectangle 63"/>
          <p:cNvSpPr>
            <a:spLocks noChangeArrowheads="1"/>
          </p:cNvSpPr>
          <p:nvPr/>
        </p:nvSpPr>
        <p:spPr bwMode="auto">
          <a:xfrm>
            <a:off x="5326462" y="2060849"/>
            <a:ext cx="216886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0.00002176= 2.176 E -5</a:t>
            </a:r>
          </a:p>
        </p:txBody>
      </p:sp>
      <p:sp>
        <p:nvSpPr>
          <p:cNvPr id="45" name="Rectangle 63"/>
          <p:cNvSpPr>
            <a:spLocks noChangeArrowheads="1"/>
          </p:cNvSpPr>
          <p:nvPr/>
        </p:nvSpPr>
        <p:spPr bwMode="auto">
          <a:xfrm>
            <a:off x="4505531" y="3174582"/>
            <a:ext cx="38039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P(1.5898)  =  1 – NORM.S.DIST(1.4898,true)</a:t>
            </a:r>
          </a:p>
        </p:txBody>
      </p:sp>
      <p:sp>
        <p:nvSpPr>
          <p:cNvPr id="46" name="Rectangle 63"/>
          <p:cNvSpPr>
            <a:spLocks noChangeArrowheads="1"/>
          </p:cNvSpPr>
          <p:nvPr/>
        </p:nvSpPr>
        <p:spPr bwMode="auto">
          <a:xfrm>
            <a:off x="5326462" y="3717033"/>
            <a:ext cx="186108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0.05594= 5.594 E -2</a:t>
            </a:r>
          </a:p>
        </p:txBody>
      </p:sp>
      <p:sp>
        <p:nvSpPr>
          <p:cNvPr id="47" name="Rectangle 59"/>
          <p:cNvSpPr>
            <a:spLocks noChangeArrowheads="1"/>
          </p:cNvSpPr>
          <p:nvPr/>
        </p:nvSpPr>
        <p:spPr bwMode="auto">
          <a:xfrm>
            <a:off x="1580898" y="4653137"/>
            <a:ext cx="15788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P(Total))</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48" name="Rectangle 63"/>
          <p:cNvSpPr>
            <a:spLocks noChangeArrowheads="1"/>
          </p:cNvSpPr>
          <p:nvPr/>
        </p:nvSpPr>
        <p:spPr bwMode="auto">
          <a:xfrm>
            <a:off x="916209" y="4680636"/>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49" name="Rectangle 64"/>
          <p:cNvSpPr>
            <a:spLocks noChangeArrowheads="1"/>
          </p:cNvSpPr>
          <p:nvPr/>
        </p:nvSpPr>
        <p:spPr bwMode="auto">
          <a:xfrm>
            <a:off x="1031053" y="4823920"/>
            <a:ext cx="512961"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LT(Bench)</a:t>
            </a:r>
            <a:endParaRPr lang="en-US" altLang="ko-KR" baseline="0" dirty="0">
              <a:solidFill>
                <a:srgbClr val="000000"/>
              </a:solidFill>
              <a:latin typeface="Times New Roman" pitchFamily="18" charset="0"/>
              <a:ea typeface="굴림" pitchFamily="50" charset="-127"/>
            </a:endParaRPr>
          </a:p>
        </p:txBody>
      </p:sp>
      <p:sp>
        <p:nvSpPr>
          <p:cNvPr id="50" name="Rectangle 63"/>
          <p:cNvSpPr>
            <a:spLocks noChangeArrowheads="1"/>
          </p:cNvSpPr>
          <p:nvPr/>
        </p:nvSpPr>
        <p:spPr bwMode="auto">
          <a:xfrm>
            <a:off x="4505531" y="4694948"/>
            <a:ext cx="38809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P(Total)  = P(4.0880) + P(1.5898)  = 0.05596   </a:t>
            </a:r>
          </a:p>
        </p:txBody>
      </p:sp>
      <p:sp>
        <p:nvSpPr>
          <p:cNvPr id="51" name="TextBox 50"/>
          <p:cNvSpPr txBox="1"/>
          <p:nvPr/>
        </p:nvSpPr>
        <p:spPr>
          <a:xfrm>
            <a:off x="1873428" y="4600379"/>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2" name="Rectangle 59"/>
          <p:cNvSpPr>
            <a:spLocks noChangeArrowheads="1"/>
          </p:cNvSpPr>
          <p:nvPr/>
        </p:nvSpPr>
        <p:spPr bwMode="auto">
          <a:xfrm>
            <a:off x="1580899" y="5085185"/>
            <a:ext cx="18578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P(0.05596))</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53" name="TextBox 52"/>
          <p:cNvSpPr txBox="1"/>
          <p:nvPr/>
        </p:nvSpPr>
        <p:spPr>
          <a:xfrm>
            <a:off x="1873428" y="5042052"/>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5" name="TextBox 54"/>
          <p:cNvSpPr txBox="1"/>
          <p:nvPr/>
        </p:nvSpPr>
        <p:spPr>
          <a:xfrm>
            <a:off x="1508619" y="5425974"/>
            <a:ext cx="3089307" cy="452432"/>
          </a:xfrm>
          <a:prstGeom prst="rect">
            <a:avLst/>
          </a:prstGeom>
          <a:noFill/>
        </p:spPr>
        <p:txBody>
          <a:bodyPr wrap="none" rtlCol="0">
            <a:spAutoFit/>
          </a:bodyPr>
          <a:lstStyle/>
          <a:p>
            <a:pPr>
              <a:lnSpc>
                <a:spcPct val="130000"/>
              </a:lnSpc>
              <a:buClr>
                <a:srgbClr val="C5003D"/>
              </a:buClr>
            </a:pPr>
            <a:r>
              <a:rPr lang="en-US" altLang="ko-KR" b="1" dirty="0"/>
              <a:t>= NORM.S.INV(1-0.05599)</a:t>
            </a:r>
            <a:endParaRPr lang="ko-KR" altLang="en-US" b="1" dirty="0"/>
          </a:p>
        </p:txBody>
      </p:sp>
      <p:sp>
        <p:nvSpPr>
          <p:cNvPr id="56" name="TextBox 55"/>
          <p:cNvSpPr txBox="1"/>
          <p:nvPr/>
        </p:nvSpPr>
        <p:spPr>
          <a:xfrm>
            <a:off x="1508618" y="5877272"/>
            <a:ext cx="1159292" cy="452432"/>
          </a:xfrm>
          <a:prstGeom prst="rect">
            <a:avLst/>
          </a:prstGeom>
          <a:noFill/>
        </p:spPr>
        <p:txBody>
          <a:bodyPr wrap="none" rtlCol="0">
            <a:spAutoFit/>
          </a:bodyPr>
          <a:lstStyle/>
          <a:p>
            <a:pPr>
              <a:lnSpc>
                <a:spcPct val="130000"/>
              </a:lnSpc>
              <a:buClr>
                <a:srgbClr val="C5003D"/>
              </a:buClr>
            </a:pPr>
            <a:r>
              <a:rPr lang="en-US" altLang="ko-KR" b="1" dirty="0"/>
              <a:t>= 1.5896</a:t>
            </a:r>
            <a:endParaRPr lang="ko-KR" altLang="en-US" b="1" dirty="0"/>
          </a:p>
        </p:txBody>
      </p:sp>
      <p:sp>
        <p:nvSpPr>
          <p:cNvPr id="57"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914650707"/>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79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80716" y="1484785"/>
            <a:ext cx="5383983" cy="38000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395654" y="827088"/>
            <a:ext cx="8280889" cy="307777"/>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 calculation - Enter target value</a:t>
            </a:r>
          </a:p>
        </p:txBody>
      </p:sp>
      <p:sp>
        <p:nvSpPr>
          <p:cNvPr id="5" name="Rectangle 5"/>
          <p:cNvSpPr>
            <a:spLocks noChangeArrowheads="1"/>
          </p:cNvSpPr>
          <p:nvPr/>
        </p:nvSpPr>
        <p:spPr bwMode="auto">
          <a:xfrm>
            <a:off x="4728384" y="4117975"/>
            <a:ext cx="774180" cy="234429"/>
          </a:xfrm>
          <a:prstGeom prst="rect">
            <a:avLst/>
          </a:prstGeom>
          <a:noFill/>
          <a:ln w="19050" algn="ctr">
            <a:solidFill>
              <a:srgbClr val="FF0000"/>
            </a:solidFill>
            <a:prstDash val="sysDash"/>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TextBox 5"/>
          <p:cNvSpPr txBox="1">
            <a:spLocks noChangeArrowheads="1"/>
          </p:cNvSpPr>
          <p:nvPr/>
        </p:nvSpPr>
        <p:spPr bwMode="auto">
          <a:xfrm>
            <a:off x="4911574" y="5299076"/>
            <a:ext cx="1691054" cy="246063"/>
          </a:xfrm>
          <a:prstGeom prst="rect">
            <a:avLst/>
          </a:prstGeom>
          <a:noFill/>
          <a:ln w="9525">
            <a:noFill/>
            <a:miter lim="800000"/>
            <a:headEnd/>
            <a:tailEnd/>
          </a:ln>
        </p:spPr>
        <p:txBody>
          <a:bodyPr>
            <a:spAutoFit/>
          </a:bodyPr>
          <a:lstStyle/>
          <a:p>
            <a:r>
              <a:rPr lang="en-US" altLang="ko-KR" sz="1000" b="1" dirty="0">
                <a:solidFill>
                  <a:srgbClr val="000000"/>
                </a:solidFill>
                <a:latin typeface="맑은 고딕" pitchFamily="50" charset="-127"/>
                <a:ea typeface="맑은 고딕" pitchFamily="50" charset="-127"/>
              </a:rPr>
              <a:t>Input Target</a:t>
            </a:r>
          </a:p>
        </p:txBody>
      </p:sp>
      <p:cxnSp>
        <p:nvCxnSpPr>
          <p:cNvPr id="7" name="꺾인 연결선 19"/>
          <p:cNvCxnSpPr>
            <a:cxnSpLocks noChangeShapeType="1"/>
            <a:stCxn id="6" idx="1"/>
            <a:endCxn id="5" idx="1"/>
          </p:cNvCxnSpPr>
          <p:nvPr/>
        </p:nvCxnSpPr>
        <p:spPr bwMode="auto">
          <a:xfrm rot="10800000">
            <a:off x="4728386" y="4235189"/>
            <a:ext cx="183189" cy="1186918"/>
          </a:xfrm>
          <a:prstGeom prst="bentConnector3">
            <a:avLst>
              <a:gd name="adj1" fmla="val 215190"/>
            </a:avLst>
          </a:prstGeom>
          <a:noFill/>
          <a:ln w="12700" algn="ctr">
            <a:solidFill>
              <a:srgbClr val="FF0000"/>
            </a:solidFill>
            <a:prstDash val="sysDash"/>
            <a:round/>
            <a:headEnd/>
            <a:tailEnd type="arrow" w="med" len="med"/>
          </a:ln>
        </p:spPr>
      </p:cxn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232</a:t>
            </a:fld>
            <a:endParaRPr lang="ko-KR" altLang="en-US" dirty="0">
              <a:solidFill>
                <a:prstClr val="black"/>
              </a:solidFill>
            </a:endParaRPr>
          </a:p>
        </p:txBody>
      </p:sp>
      <p:sp>
        <p:nvSpPr>
          <p:cNvPr id="11"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309010961"/>
      </p:ext>
    </p:extLst>
  </p:cSld>
  <p:clrMapOvr>
    <a:masterClrMapping/>
  </p:clrMapOvr>
  <p:transition spd="med">
    <p:fade/>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899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80899" y="1671092"/>
            <a:ext cx="5849265"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 value</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2.92 </a:t>
            </a:r>
          </a:p>
        </p:txBody>
      </p:sp>
      <p:sp>
        <p:nvSpPr>
          <p:cNvPr id="5" name="Rectangle 5"/>
          <p:cNvSpPr>
            <a:spLocks noChangeArrowheads="1"/>
          </p:cNvSpPr>
          <p:nvPr/>
        </p:nvSpPr>
        <p:spPr bwMode="auto">
          <a:xfrm>
            <a:off x="6192535" y="3358132"/>
            <a:ext cx="816220" cy="179387"/>
          </a:xfrm>
          <a:prstGeom prst="rect">
            <a:avLst/>
          </a:prstGeom>
          <a:noFill/>
          <a:ln w="19050" algn="ctr">
            <a:solidFill>
              <a:srgbClr val="FF0000"/>
            </a:solidFill>
            <a:prstDash val="sysDash"/>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TextBox 5"/>
          <p:cNvSpPr txBox="1">
            <a:spLocks noChangeArrowheads="1"/>
          </p:cNvSpPr>
          <p:nvPr/>
        </p:nvSpPr>
        <p:spPr bwMode="auto">
          <a:xfrm>
            <a:off x="5881874" y="3318444"/>
            <a:ext cx="409086" cy="276999"/>
          </a:xfrm>
          <a:prstGeom prst="rect">
            <a:avLst/>
          </a:prstGeom>
          <a:noFill/>
          <a:ln w="9525">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Zst</a:t>
            </a:r>
            <a:endParaRPr lang="ko-KR" altLang="en-US" sz="1200" b="1" dirty="0">
              <a:solidFill>
                <a:srgbClr val="FF0000"/>
              </a:solidFill>
              <a:latin typeface="맑은 고딕" pitchFamily="50" charset="-127"/>
              <a:ea typeface="맑은 고딕" pitchFamily="50" charset="-127"/>
            </a:endParaRPr>
          </a:p>
        </p:txBody>
      </p:sp>
      <p:cxnSp>
        <p:nvCxnSpPr>
          <p:cNvPr id="7" name="직선 연결선 6"/>
          <p:cNvCxnSpPr>
            <a:cxnSpLocks noChangeShapeType="1"/>
          </p:cNvCxnSpPr>
          <p:nvPr/>
        </p:nvCxnSpPr>
        <p:spPr bwMode="auto">
          <a:xfrm flipH="1" flipV="1">
            <a:off x="5960654" y="2572512"/>
            <a:ext cx="1370428" cy="664848"/>
          </a:xfrm>
          <a:prstGeom prst="line">
            <a:avLst/>
          </a:prstGeom>
          <a:noFill/>
          <a:ln w="19050" algn="ctr">
            <a:solidFill>
              <a:srgbClr val="FF0000"/>
            </a:solidFill>
            <a:round/>
            <a:headEnd/>
            <a:tailEnd/>
          </a:ln>
        </p:spPr>
      </p:cxnSp>
      <p:cxnSp>
        <p:nvCxnSpPr>
          <p:cNvPr id="8" name="직선 연결선 7"/>
          <p:cNvCxnSpPr>
            <a:cxnSpLocks noChangeShapeType="1"/>
          </p:cNvCxnSpPr>
          <p:nvPr/>
        </p:nvCxnSpPr>
        <p:spPr bwMode="auto">
          <a:xfrm flipH="1">
            <a:off x="5956259" y="2572512"/>
            <a:ext cx="1374822" cy="664848"/>
          </a:xfrm>
          <a:prstGeom prst="line">
            <a:avLst/>
          </a:prstGeom>
          <a:noFill/>
          <a:ln w="19050" algn="ctr">
            <a:solidFill>
              <a:srgbClr val="FF0000"/>
            </a:solidFill>
            <a:round/>
            <a:headEnd/>
            <a:tailEnd/>
          </a:ln>
        </p:spPr>
      </p:cxnSp>
      <p:sp>
        <p:nvSpPr>
          <p:cNvPr id="9" name="TextBox 8"/>
          <p:cNvSpPr txBox="1">
            <a:spLocks noChangeArrowheads="1"/>
          </p:cNvSpPr>
          <p:nvPr/>
        </p:nvSpPr>
        <p:spPr bwMode="auto">
          <a:xfrm>
            <a:off x="6471435" y="5799138"/>
            <a:ext cx="2022231" cy="553998"/>
          </a:xfrm>
          <a:prstGeom prst="rect">
            <a:avLst/>
          </a:prstGeom>
          <a:noFill/>
          <a:ln w="9525">
            <a:noFill/>
            <a:miter lim="800000"/>
            <a:headEnd/>
            <a:tailEnd/>
          </a:ln>
        </p:spPr>
        <p:txBody>
          <a:bodyPr>
            <a:spAutoFit/>
          </a:bodyPr>
          <a:lstStyle/>
          <a:p>
            <a:r>
              <a:rPr lang="en-US" altLang="ko-KR" sz="1000" b="1" dirty="0">
                <a:solidFill>
                  <a:srgbClr val="000000"/>
                </a:solidFill>
                <a:latin typeface="맑은 고딕" pitchFamily="50" charset="-127"/>
                <a:ea typeface="맑은 고딕" pitchFamily="50" charset="-127"/>
              </a:rPr>
              <a:t>Assuming that the average in intra-group (Data average) attains the target value</a:t>
            </a:r>
          </a:p>
        </p:txBody>
      </p:sp>
      <p:sp>
        <p:nvSpPr>
          <p:cNvPr id="10" name="자유형 11"/>
          <p:cNvSpPr>
            <a:spLocks/>
          </p:cNvSpPr>
          <p:nvPr/>
        </p:nvSpPr>
        <p:spPr bwMode="auto">
          <a:xfrm>
            <a:off x="5303159" y="4437112"/>
            <a:ext cx="1121209" cy="1557289"/>
          </a:xfrm>
          <a:custGeom>
            <a:avLst/>
            <a:gdLst>
              <a:gd name="T0" fmla="*/ 0 w 623455"/>
              <a:gd name="T1" fmla="*/ 0 h 2088573"/>
              <a:gd name="T2" fmla="*/ 626051 w 623455"/>
              <a:gd name="T3" fmla="*/ 0 h 2088573"/>
              <a:gd name="T4" fmla="*/ 626051 w 623455"/>
              <a:gd name="T5" fmla="*/ 1169161 h 2088573"/>
              <a:gd name="T6" fmla="*/ 114774 w 623455"/>
              <a:gd name="T7" fmla="*/ 1169161 h 2088573"/>
              <a:gd name="T8" fmla="*/ 0 60000 65536"/>
              <a:gd name="T9" fmla="*/ 0 60000 65536"/>
              <a:gd name="T10" fmla="*/ 0 60000 65536"/>
              <a:gd name="T11" fmla="*/ 0 60000 65536"/>
              <a:gd name="T12" fmla="*/ 0 w 623455"/>
              <a:gd name="T13" fmla="*/ 0 h 2088573"/>
              <a:gd name="T14" fmla="*/ 623455 w 623455"/>
              <a:gd name="T15" fmla="*/ 2088573 h 2088573"/>
              <a:gd name="connsiteX0" fmla="*/ 0 w 976330"/>
              <a:gd name="connsiteY0" fmla="*/ 5578 h 2088573"/>
              <a:gd name="connsiteX1" fmla="*/ 976330 w 976330"/>
              <a:gd name="connsiteY1" fmla="*/ 0 h 2088573"/>
              <a:gd name="connsiteX2" fmla="*/ 976330 w 976330"/>
              <a:gd name="connsiteY2" fmla="*/ 2088573 h 2088573"/>
              <a:gd name="connsiteX3" fmla="*/ 467175 w 976330"/>
              <a:gd name="connsiteY3" fmla="*/ 2088573 h 2088573"/>
              <a:gd name="connsiteX0" fmla="*/ 0 w 760456"/>
              <a:gd name="connsiteY0" fmla="*/ 0 h 2088573"/>
              <a:gd name="connsiteX1" fmla="*/ 760456 w 760456"/>
              <a:gd name="connsiteY1" fmla="*/ 0 h 2088573"/>
              <a:gd name="connsiteX2" fmla="*/ 760456 w 760456"/>
              <a:gd name="connsiteY2" fmla="*/ 2088573 h 2088573"/>
              <a:gd name="connsiteX3" fmla="*/ 251301 w 760456"/>
              <a:gd name="connsiteY3" fmla="*/ 2088573 h 2088573"/>
              <a:gd name="connsiteX0" fmla="*/ 0 w 1119724"/>
              <a:gd name="connsiteY0" fmla="*/ 0 h 2104924"/>
              <a:gd name="connsiteX1" fmla="*/ 760456 w 1119724"/>
              <a:gd name="connsiteY1" fmla="*/ 0 h 2104924"/>
              <a:gd name="connsiteX2" fmla="*/ 760456 w 1119724"/>
              <a:gd name="connsiteY2" fmla="*/ 2088573 h 2104924"/>
              <a:gd name="connsiteX3" fmla="*/ 1091966 w 1119724"/>
              <a:gd name="connsiteY3" fmla="*/ 2104924 h 2104924"/>
              <a:gd name="connsiteX0" fmla="*/ 0 w 1202249"/>
              <a:gd name="connsiteY0" fmla="*/ 0 h 2121275"/>
              <a:gd name="connsiteX1" fmla="*/ 760456 w 1202249"/>
              <a:gd name="connsiteY1" fmla="*/ 0 h 2121275"/>
              <a:gd name="connsiteX2" fmla="*/ 760456 w 1202249"/>
              <a:gd name="connsiteY2" fmla="*/ 2088573 h 2121275"/>
              <a:gd name="connsiteX3" fmla="*/ 1177251 w 1202249"/>
              <a:gd name="connsiteY3" fmla="*/ 2121275 h 2121275"/>
              <a:gd name="connsiteX0" fmla="*/ 0 w 1213802"/>
              <a:gd name="connsiteY0" fmla="*/ 0 h 2088573"/>
              <a:gd name="connsiteX1" fmla="*/ 760456 w 1213802"/>
              <a:gd name="connsiteY1" fmla="*/ 0 h 2088573"/>
              <a:gd name="connsiteX2" fmla="*/ 760456 w 1213802"/>
              <a:gd name="connsiteY2" fmla="*/ 2088573 h 2088573"/>
              <a:gd name="connsiteX3" fmla="*/ 1213802 w 1213802"/>
              <a:gd name="connsiteY3" fmla="*/ 2088572 h 2088573"/>
            </a:gdLst>
            <a:ahLst/>
            <a:cxnLst>
              <a:cxn ang="0">
                <a:pos x="connsiteX0" y="connsiteY0"/>
              </a:cxn>
              <a:cxn ang="0">
                <a:pos x="connsiteX1" y="connsiteY1"/>
              </a:cxn>
              <a:cxn ang="0">
                <a:pos x="connsiteX2" y="connsiteY2"/>
              </a:cxn>
              <a:cxn ang="0">
                <a:pos x="connsiteX3" y="connsiteY3"/>
              </a:cxn>
            </a:cxnLst>
            <a:rect l="l" t="t" r="r" b="b"/>
            <a:pathLst>
              <a:path w="1213802" h="2088573">
                <a:moveTo>
                  <a:pt x="0" y="0"/>
                </a:moveTo>
                <a:lnTo>
                  <a:pt x="760456" y="0"/>
                </a:lnTo>
                <a:lnTo>
                  <a:pt x="760456" y="2088573"/>
                </a:lnTo>
                <a:lnTo>
                  <a:pt x="1213802" y="2088572"/>
                </a:lnTo>
              </a:path>
            </a:pathLst>
          </a:custGeom>
          <a:noFill/>
          <a:ln w="19050" algn="ctr">
            <a:solidFill>
              <a:srgbClr val="FF0000"/>
            </a:solidFill>
            <a:prstDash val="dash"/>
            <a:round/>
            <a:headEnd type="oval" w="med" len="med"/>
            <a:tailEnd type="triangle" w="med" len="med"/>
          </a:ln>
        </p:spPr>
        <p:txBody>
          <a:bodyPr anchor="ctr"/>
          <a:lstStyle/>
          <a:p>
            <a:endParaRPr lang="ko-KR" altLang="en-US" dirty="0">
              <a:solidFill>
                <a:prstClr val="black"/>
              </a:solidFill>
            </a:endParaRPr>
          </a:p>
        </p:txBody>
      </p:sp>
      <p:sp>
        <p:nvSpPr>
          <p:cNvPr id="11" name="자유형 12"/>
          <p:cNvSpPr>
            <a:spLocks/>
          </p:cNvSpPr>
          <p:nvPr/>
        </p:nvSpPr>
        <p:spPr bwMode="auto">
          <a:xfrm flipH="1" flipV="1">
            <a:off x="3164215" y="1349376"/>
            <a:ext cx="980197" cy="2727696"/>
          </a:xfrm>
          <a:custGeom>
            <a:avLst/>
            <a:gdLst>
              <a:gd name="T0" fmla="*/ 0 w 623455"/>
              <a:gd name="T1" fmla="*/ 0 h 2088573"/>
              <a:gd name="T2" fmla="*/ 616557 w 623455"/>
              <a:gd name="T3" fmla="*/ 0 h 2088573"/>
              <a:gd name="T4" fmla="*/ 616557 w 623455"/>
              <a:gd name="T5" fmla="*/ 13357539 h 2088573"/>
              <a:gd name="T6" fmla="*/ 113035 w 623455"/>
              <a:gd name="T7" fmla="*/ 13357539 h 2088573"/>
              <a:gd name="T8" fmla="*/ 0 60000 65536"/>
              <a:gd name="T9" fmla="*/ 0 60000 65536"/>
              <a:gd name="T10" fmla="*/ 0 60000 65536"/>
              <a:gd name="T11" fmla="*/ 0 60000 65536"/>
              <a:gd name="T12" fmla="*/ 0 w 623455"/>
              <a:gd name="T13" fmla="*/ 0 h 2088573"/>
              <a:gd name="T14" fmla="*/ 623455 w 623455"/>
              <a:gd name="T15" fmla="*/ 2088573 h 2088573"/>
              <a:gd name="connsiteX0" fmla="*/ 0 w 1063851"/>
              <a:gd name="connsiteY0" fmla="*/ 0 h 2092511"/>
              <a:gd name="connsiteX1" fmla="*/ 1063851 w 1063851"/>
              <a:gd name="connsiteY1" fmla="*/ 3938 h 2092511"/>
              <a:gd name="connsiteX2" fmla="*/ 1063851 w 1063851"/>
              <a:gd name="connsiteY2" fmla="*/ 2092511 h 2092511"/>
              <a:gd name="connsiteX3" fmla="*/ 554696 w 1063851"/>
              <a:gd name="connsiteY3" fmla="*/ 2092511 h 2092511"/>
            </a:gdLst>
            <a:ahLst/>
            <a:cxnLst>
              <a:cxn ang="0">
                <a:pos x="connsiteX0" y="connsiteY0"/>
              </a:cxn>
              <a:cxn ang="0">
                <a:pos x="connsiteX1" y="connsiteY1"/>
              </a:cxn>
              <a:cxn ang="0">
                <a:pos x="connsiteX2" y="connsiteY2"/>
              </a:cxn>
              <a:cxn ang="0">
                <a:pos x="connsiteX3" y="connsiteY3"/>
              </a:cxn>
            </a:cxnLst>
            <a:rect l="l" t="t" r="r" b="b"/>
            <a:pathLst>
              <a:path w="1063851" h="2092511">
                <a:moveTo>
                  <a:pt x="0" y="0"/>
                </a:moveTo>
                <a:lnTo>
                  <a:pt x="1063851" y="3938"/>
                </a:lnTo>
                <a:lnTo>
                  <a:pt x="1063851" y="2092511"/>
                </a:lnTo>
                <a:lnTo>
                  <a:pt x="554696" y="2092511"/>
                </a:lnTo>
              </a:path>
            </a:pathLst>
          </a:custGeom>
          <a:noFill/>
          <a:ln w="19050" algn="ctr">
            <a:solidFill>
              <a:srgbClr val="FF0000"/>
            </a:solidFill>
            <a:prstDash val="dash"/>
            <a:round/>
            <a:headEnd type="oval" w="med" len="med"/>
            <a:tailEnd type="triangle" w="med" len="med"/>
          </a:ln>
        </p:spPr>
        <p:txBody>
          <a:bodyPr anchor="ctr"/>
          <a:lstStyle/>
          <a:p>
            <a:endParaRPr lang="ko-KR" altLang="en-US" dirty="0">
              <a:solidFill>
                <a:prstClr val="black"/>
              </a:solidFill>
            </a:endParaRPr>
          </a:p>
        </p:txBody>
      </p:sp>
      <p:sp>
        <p:nvSpPr>
          <p:cNvPr id="12" name="TextBox 13"/>
          <p:cNvSpPr txBox="1">
            <a:spLocks noChangeArrowheads="1"/>
          </p:cNvSpPr>
          <p:nvPr/>
        </p:nvSpPr>
        <p:spPr bwMode="auto">
          <a:xfrm>
            <a:off x="3583332" y="1214439"/>
            <a:ext cx="2020766" cy="400110"/>
          </a:xfrm>
          <a:prstGeom prst="rect">
            <a:avLst/>
          </a:prstGeom>
          <a:noFill/>
          <a:ln w="9525">
            <a:noFill/>
            <a:miter lim="800000"/>
            <a:headEnd/>
            <a:tailEnd/>
          </a:ln>
        </p:spPr>
        <p:txBody>
          <a:bodyPr>
            <a:spAutoFit/>
          </a:bodyPr>
          <a:lstStyle/>
          <a:p>
            <a:r>
              <a:rPr lang="en-US" altLang="ko-KR" sz="1000" b="1" dirty="0">
                <a:solidFill>
                  <a:srgbClr val="000000"/>
                </a:solidFill>
                <a:latin typeface="맑은 고딕" pitchFamily="50" charset="-127"/>
                <a:ea typeface="맑은 고딕" pitchFamily="50" charset="-127"/>
              </a:rPr>
              <a:t>Actual shape of measured data </a:t>
            </a:r>
          </a:p>
        </p:txBody>
      </p:sp>
      <p:sp>
        <p:nvSpPr>
          <p:cNvPr id="13" name="Text Box 20"/>
          <p:cNvSpPr txBox="1">
            <a:spLocks noChangeArrowheads="1"/>
          </p:cNvSpPr>
          <p:nvPr/>
        </p:nvSpPr>
        <p:spPr bwMode="auto">
          <a:xfrm>
            <a:off x="2579489" y="5815013"/>
            <a:ext cx="1727689" cy="553998"/>
          </a:xfrm>
          <a:prstGeom prst="rect">
            <a:avLst/>
          </a:prstGeom>
          <a:noFill/>
          <a:ln w="9525">
            <a:noFill/>
            <a:miter lim="800000"/>
            <a:headEnd/>
            <a:tailEnd/>
          </a:ln>
        </p:spPr>
        <p:txBody>
          <a:bodyPr>
            <a:spAutoFit/>
          </a:bodyPr>
          <a:lstStyle/>
          <a:p>
            <a:r>
              <a:rPr lang="en-US" altLang="ko-KR" sz="1000" b="1" dirty="0">
                <a:solidFill>
                  <a:srgbClr val="000000"/>
                </a:solidFill>
                <a:latin typeface="맑은 고딕" pitchFamily="50" charset="-127"/>
                <a:ea typeface="맑은 고딕" pitchFamily="50" charset="-127"/>
              </a:rPr>
              <a:t>Estimated process capability (PPM) from the short-term (ST)</a:t>
            </a:r>
          </a:p>
        </p:txBody>
      </p:sp>
      <p:sp>
        <p:nvSpPr>
          <p:cNvPr id="14" name="자유형 15"/>
          <p:cNvSpPr>
            <a:spLocks/>
          </p:cNvSpPr>
          <p:nvPr/>
        </p:nvSpPr>
        <p:spPr bwMode="auto">
          <a:xfrm>
            <a:off x="3968673" y="5641976"/>
            <a:ext cx="470389" cy="423863"/>
          </a:xfrm>
          <a:custGeom>
            <a:avLst/>
            <a:gdLst>
              <a:gd name="T0" fmla="*/ 511758 w 509155"/>
              <a:gd name="T1" fmla="*/ 0 h 2088573"/>
              <a:gd name="T2" fmla="*/ 511758 w 509155"/>
              <a:gd name="T3" fmla="*/ 30 h 2088573"/>
              <a:gd name="T4" fmla="*/ 0 w 509155"/>
              <a:gd name="T5" fmla="*/ 30 h 2088573"/>
              <a:gd name="T6" fmla="*/ 0 60000 65536"/>
              <a:gd name="T7" fmla="*/ 0 60000 65536"/>
              <a:gd name="T8" fmla="*/ 0 60000 65536"/>
              <a:gd name="T9" fmla="*/ 0 w 509155"/>
              <a:gd name="T10" fmla="*/ 0 h 2088573"/>
              <a:gd name="T11" fmla="*/ 509155 w 509155"/>
              <a:gd name="T12" fmla="*/ 2088573 h 2088573"/>
            </a:gdLst>
            <a:ahLst/>
            <a:cxnLst>
              <a:cxn ang="T6">
                <a:pos x="T0" y="T1"/>
              </a:cxn>
              <a:cxn ang="T7">
                <a:pos x="T2" y="T3"/>
              </a:cxn>
              <a:cxn ang="T8">
                <a:pos x="T4" y="T5"/>
              </a:cxn>
            </a:cxnLst>
            <a:rect l="T9" t="T10" r="T11" b="T12"/>
            <a:pathLst>
              <a:path w="509155" h="2088573">
                <a:moveTo>
                  <a:pt x="509155" y="0"/>
                </a:moveTo>
                <a:lnTo>
                  <a:pt x="509155" y="2088573"/>
                </a:lnTo>
                <a:lnTo>
                  <a:pt x="0" y="2088573"/>
                </a:lnTo>
              </a:path>
            </a:pathLst>
          </a:custGeom>
          <a:noFill/>
          <a:ln w="19050" algn="ctr">
            <a:solidFill>
              <a:srgbClr val="FF0000"/>
            </a:solidFill>
            <a:prstDash val="dash"/>
            <a:round/>
            <a:headEnd type="oval" w="med" len="med"/>
            <a:tailEnd type="triangle" w="med" len="med"/>
          </a:ln>
        </p:spPr>
        <p:txBody>
          <a:bodyPr anchor="ctr"/>
          <a:lstStyle/>
          <a:p>
            <a:endParaRPr lang="ko-KR" altLang="en-US" dirty="0">
              <a:solidFill>
                <a:prstClr val="black"/>
              </a:solidFill>
            </a:endParaRPr>
          </a:p>
        </p:txBody>
      </p: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233</a:t>
            </a:fld>
            <a:endParaRPr lang="ko-KR" altLang="en-US" dirty="0">
              <a:solidFill>
                <a:prstClr val="black"/>
              </a:solidFill>
            </a:endParaRPr>
          </a:p>
        </p:txBody>
      </p:sp>
      <p:sp>
        <p:nvSpPr>
          <p:cNvPr id="17"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1251226780"/>
      </p:ext>
    </p:extLst>
  </p:cSld>
  <p:clrMapOvr>
    <a:masterClrMapping/>
  </p:clrMapOvr>
  <p:transition spd="med">
    <p:fade/>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797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80716" y="1484785"/>
            <a:ext cx="5383983" cy="38000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Tính</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toán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 – </a:t>
            </a:r>
            <a:r>
              <a:rPr kumimoji="0" lang="en-US" altLang="ko-KR" sz="1400" b="1" kern="0" dirty="0" err="1">
                <a:solidFill>
                  <a:sysClr val="windowText" lastClr="000000"/>
                </a:solidFill>
                <a:latin typeface="맑은 고딕" pitchFamily="50" charset="-127"/>
                <a:ea typeface="맑은 고딕" pitchFamily="50" charset="-127"/>
              </a:rPr>
              <a:t>Nhập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giá</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trị</a:t>
            </a:r>
            <a:r>
              <a:rPr kumimoji="0" lang="en-US" altLang="ko-KR" sz="1400" b="1" kern="0" dirty="0">
                <a:solidFill>
                  <a:sysClr val="windowText" lastClr="000000"/>
                </a:solidFill>
                <a:latin typeface="맑은 고딕" pitchFamily="50" charset="-127"/>
                <a:ea typeface="맑은 고딕" pitchFamily="50" charset="-127"/>
              </a:rPr>
              <a:t> Target</a:t>
            </a:r>
          </a:p>
        </p:txBody>
      </p:sp>
      <p:sp>
        <p:nvSpPr>
          <p:cNvPr id="5" name="Rectangle 5"/>
          <p:cNvSpPr>
            <a:spLocks noChangeArrowheads="1"/>
          </p:cNvSpPr>
          <p:nvPr/>
        </p:nvSpPr>
        <p:spPr bwMode="auto">
          <a:xfrm>
            <a:off x="4728384" y="4117975"/>
            <a:ext cx="774180" cy="234429"/>
          </a:xfrm>
          <a:prstGeom prst="rect">
            <a:avLst/>
          </a:prstGeom>
          <a:noFill/>
          <a:ln w="19050" algn="ctr">
            <a:solidFill>
              <a:srgbClr val="FF0000"/>
            </a:solidFill>
            <a:prstDash val="sysDash"/>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TextBox 5"/>
          <p:cNvSpPr txBox="1">
            <a:spLocks noChangeArrowheads="1"/>
          </p:cNvSpPr>
          <p:nvPr/>
        </p:nvSpPr>
        <p:spPr bwMode="auto">
          <a:xfrm>
            <a:off x="4911574" y="5299075"/>
            <a:ext cx="1691054" cy="400110"/>
          </a:xfrm>
          <a:prstGeom prst="rect">
            <a:avLst/>
          </a:prstGeom>
          <a:noFill/>
          <a:ln w="9525">
            <a:noFill/>
            <a:miter lim="800000"/>
            <a:headEnd/>
            <a:tailEnd/>
          </a:ln>
        </p:spPr>
        <p:txBody>
          <a:bodyPr>
            <a:spAutoFit/>
          </a:bodyPr>
          <a:lstStyle/>
          <a:p>
            <a:r>
              <a:rPr lang="en-US" altLang="ko-KR" sz="1000" b="1" dirty="0" err="1">
                <a:solidFill>
                  <a:srgbClr val="000000"/>
                </a:solidFill>
                <a:latin typeface="맑은 고딕" pitchFamily="50" charset="-127"/>
                <a:ea typeface="맑은 고딕" pitchFamily="50" charset="-127"/>
              </a:rPr>
              <a:t>nhập</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giá</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trị</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mục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tiêu</a:t>
            </a:r>
            <a:r>
              <a:rPr lang="ko-KR" altLang="en-US" sz="1000" b="1" dirty="0">
                <a:solidFill>
                  <a:srgbClr val="000000"/>
                </a:solidFill>
                <a:latin typeface="맑은 고딕" pitchFamily="50" charset="-127"/>
                <a:ea typeface="맑은 고딕" pitchFamily="50" charset="-127"/>
              </a:rPr>
              <a:t> </a:t>
            </a:r>
            <a:r>
              <a:rPr lang="en-US" altLang="ko-KR" sz="1000" b="1" dirty="0">
                <a:solidFill>
                  <a:srgbClr val="000000"/>
                </a:solidFill>
                <a:latin typeface="맑은 고딕" pitchFamily="50" charset="-127"/>
                <a:ea typeface="맑은 고딕" pitchFamily="50" charset="-127"/>
              </a:rPr>
              <a:t>(Target)</a:t>
            </a:r>
          </a:p>
        </p:txBody>
      </p:sp>
      <p:cxnSp>
        <p:nvCxnSpPr>
          <p:cNvPr id="7" name="꺾인 연결선 19"/>
          <p:cNvCxnSpPr>
            <a:cxnSpLocks noChangeShapeType="1"/>
            <a:stCxn id="6" idx="1"/>
            <a:endCxn id="5" idx="1"/>
          </p:cNvCxnSpPr>
          <p:nvPr/>
        </p:nvCxnSpPr>
        <p:spPr bwMode="auto">
          <a:xfrm rot="10800000">
            <a:off x="4728386" y="4235191"/>
            <a:ext cx="183189" cy="1263941"/>
          </a:xfrm>
          <a:prstGeom prst="bentConnector3">
            <a:avLst>
              <a:gd name="adj1" fmla="val 215190"/>
            </a:avLst>
          </a:prstGeom>
          <a:noFill/>
          <a:ln w="12700" algn="ctr">
            <a:solidFill>
              <a:srgbClr val="FF0000"/>
            </a:solidFill>
            <a:prstDash val="sysDash"/>
            <a:round/>
            <a:headEnd/>
            <a:tailEnd type="arrow" w="med" len="med"/>
          </a:ln>
        </p:spPr>
      </p:cxn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234</a:t>
            </a:fld>
            <a:endParaRPr lang="ko-KR" altLang="en-US" dirty="0">
              <a:solidFill>
                <a:prstClr val="black"/>
              </a:solidFill>
            </a:endParaRPr>
          </a:p>
        </p:txBody>
      </p:sp>
      <p:sp>
        <p:nvSpPr>
          <p:cNvPr id="11" name="Text Box 39"/>
          <p:cNvSpPr txBox="1">
            <a:spLocks noChangeArrowheads="1"/>
          </p:cNvSpPr>
          <p:nvPr/>
        </p:nvSpPr>
        <p:spPr bwMode="auto">
          <a:xfrm>
            <a:off x="118582" y="116632"/>
            <a:ext cx="3466334"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309010961"/>
      </p:ext>
    </p:extLst>
  </p:cSld>
  <p:clrMapOvr>
    <a:masterClrMapping/>
  </p:clrMapOvr>
  <p:transition spd="med">
    <p:fade/>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899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80899" y="1671092"/>
            <a:ext cx="5849265"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Giá</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trị</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Zst</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2.92 </a:t>
            </a:r>
          </a:p>
        </p:txBody>
      </p:sp>
      <p:sp>
        <p:nvSpPr>
          <p:cNvPr id="5" name="Rectangle 5"/>
          <p:cNvSpPr>
            <a:spLocks noChangeArrowheads="1"/>
          </p:cNvSpPr>
          <p:nvPr/>
        </p:nvSpPr>
        <p:spPr bwMode="auto">
          <a:xfrm>
            <a:off x="6192535" y="3358132"/>
            <a:ext cx="816220" cy="179387"/>
          </a:xfrm>
          <a:prstGeom prst="rect">
            <a:avLst/>
          </a:prstGeom>
          <a:noFill/>
          <a:ln w="19050" algn="ctr">
            <a:solidFill>
              <a:srgbClr val="FF0000"/>
            </a:solidFill>
            <a:prstDash val="sysDash"/>
            <a:miter lim="800000"/>
            <a:headEnd/>
            <a:tailEnd/>
          </a:ln>
        </p:spPr>
        <p:txBody>
          <a:bodyPr wrap="none" anchor="ctr"/>
          <a:lstStyle/>
          <a:p>
            <a:pPr algn="ctr"/>
            <a:endParaRPr lang="ko-KR" altLang="en-US" sz="1000" dirty="0">
              <a:solidFill>
                <a:srgbClr val="000000"/>
              </a:solidFill>
              <a:latin typeface="Arial" pitchFamily="34" charset="0"/>
            </a:endParaRPr>
          </a:p>
        </p:txBody>
      </p:sp>
      <p:sp>
        <p:nvSpPr>
          <p:cNvPr id="6" name="TextBox 5"/>
          <p:cNvSpPr txBox="1">
            <a:spLocks noChangeArrowheads="1"/>
          </p:cNvSpPr>
          <p:nvPr/>
        </p:nvSpPr>
        <p:spPr bwMode="auto">
          <a:xfrm>
            <a:off x="5881874" y="3318444"/>
            <a:ext cx="409086" cy="276999"/>
          </a:xfrm>
          <a:prstGeom prst="rect">
            <a:avLst/>
          </a:prstGeom>
          <a:noFill/>
          <a:ln w="9525">
            <a:noFill/>
            <a:miter lim="800000"/>
            <a:headEnd/>
            <a:tailEnd/>
          </a:ln>
        </p:spPr>
        <p:txBody>
          <a:bodyPr wrap="none">
            <a:spAutoFit/>
          </a:bodyPr>
          <a:lstStyle/>
          <a:p>
            <a:r>
              <a:rPr lang="en-US" altLang="ko-KR" sz="1200" b="1" dirty="0">
                <a:solidFill>
                  <a:srgbClr val="FF0000"/>
                </a:solidFill>
                <a:latin typeface="맑은 고딕" pitchFamily="50" charset="-127"/>
                <a:ea typeface="맑은 고딕" pitchFamily="50" charset="-127"/>
              </a:rPr>
              <a:t>Zst</a:t>
            </a:r>
            <a:endParaRPr lang="ko-KR" altLang="en-US" sz="1200" b="1" dirty="0">
              <a:solidFill>
                <a:srgbClr val="FF0000"/>
              </a:solidFill>
              <a:latin typeface="맑은 고딕" pitchFamily="50" charset="-127"/>
              <a:ea typeface="맑은 고딕" pitchFamily="50" charset="-127"/>
            </a:endParaRPr>
          </a:p>
        </p:txBody>
      </p:sp>
      <p:cxnSp>
        <p:nvCxnSpPr>
          <p:cNvPr id="7" name="직선 연결선 6"/>
          <p:cNvCxnSpPr>
            <a:cxnSpLocks noChangeShapeType="1"/>
          </p:cNvCxnSpPr>
          <p:nvPr/>
        </p:nvCxnSpPr>
        <p:spPr bwMode="auto">
          <a:xfrm flipH="1" flipV="1">
            <a:off x="5960654" y="2572512"/>
            <a:ext cx="1370428" cy="664848"/>
          </a:xfrm>
          <a:prstGeom prst="line">
            <a:avLst/>
          </a:prstGeom>
          <a:noFill/>
          <a:ln w="19050" algn="ctr">
            <a:solidFill>
              <a:srgbClr val="FF0000"/>
            </a:solidFill>
            <a:round/>
            <a:headEnd/>
            <a:tailEnd/>
          </a:ln>
        </p:spPr>
      </p:cxnSp>
      <p:cxnSp>
        <p:nvCxnSpPr>
          <p:cNvPr id="8" name="직선 연결선 7"/>
          <p:cNvCxnSpPr>
            <a:cxnSpLocks noChangeShapeType="1"/>
          </p:cNvCxnSpPr>
          <p:nvPr/>
        </p:nvCxnSpPr>
        <p:spPr bwMode="auto">
          <a:xfrm flipH="1">
            <a:off x="5956259" y="2572512"/>
            <a:ext cx="1374822" cy="664848"/>
          </a:xfrm>
          <a:prstGeom prst="line">
            <a:avLst/>
          </a:prstGeom>
          <a:noFill/>
          <a:ln w="19050" algn="ctr">
            <a:solidFill>
              <a:srgbClr val="FF0000"/>
            </a:solidFill>
            <a:round/>
            <a:headEnd/>
            <a:tailEnd/>
          </a:ln>
        </p:spPr>
      </p:cxnSp>
      <p:sp>
        <p:nvSpPr>
          <p:cNvPr id="9" name="TextBox 8"/>
          <p:cNvSpPr txBox="1">
            <a:spLocks noChangeArrowheads="1"/>
          </p:cNvSpPr>
          <p:nvPr/>
        </p:nvSpPr>
        <p:spPr bwMode="auto">
          <a:xfrm>
            <a:off x="6471435" y="5799138"/>
            <a:ext cx="2022231" cy="707886"/>
          </a:xfrm>
          <a:prstGeom prst="rect">
            <a:avLst/>
          </a:prstGeom>
          <a:noFill/>
          <a:ln w="9525">
            <a:noFill/>
            <a:miter lim="800000"/>
            <a:headEnd/>
            <a:tailEnd/>
          </a:ln>
        </p:spPr>
        <p:txBody>
          <a:bodyPr>
            <a:spAutoFit/>
          </a:bodyPr>
          <a:lstStyle/>
          <a:p>
            <a:r>
              <a:rPr lang="en-US" altLang="ko-KR" sz="1000" b="1" dirty="0" err="1">
                <a:solidFill>
                  <a:srgbClr val="000000"/>
                </a:solidFill>
                <a:latin typeface="맑은 고딕" pitchFamily="50" charset="-127"/>
                <a:ea typeface="맑은 고딕" pitchFamily="50" charset="-127"/>
              </a:rPr>
              <a:t>tình</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trạng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giả</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định</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Bình</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quân</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trong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nhóm</a:t>
            </a:r>
            <a:r>
              <a:rPr lang="en-US" altLang="ko-KR" sz="1000" b="1" dirty="0">
                <a:solidFill>
                  <a:srgbClr val="000000"/>
                </a:solidFill>
                <a:latin typeface="맑은 고딕" pitchFamily="50" charset="-127"/>
                <a:ea typeface="맑은 고딕" pitchFamily="50" charset="-127"/>
              </a:rPr>
              <a:t> (Data </a:t>
            </a:r>
            <a:r>
              <a:rPr lang="en-US" altLang="ko-KR" sz="1000" b="1" dirty="0" err="1">
                <a:solidFill>
                  <a:srgbClr val="000000"/>
                </a:solidFill>
                <a:latin typeface="맑은 고딕" pitchFamily="50" charset="-127"/>
                <a:ea typeface="맑은 고딕" pitchFamily="50" charset="-127"/>
              </a:rPr>
              <a:t>bình</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quân</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đạt</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được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giá</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trị</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mục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tiêu</a:t>
            </a:r>
            <a:endParaRPr lang="en-US" altLang="ko-KR" sz="1000" b="1" dirty="0">
              <a:solidFill>
                <a:srgbClr val="000000"/>
              </a:solidFill>
              <a:latin typeface="맑은 고딕" pitchFamily="50" charset="-127"/>
              <a:ea typeface="맑은 고딕" pitchFamily="50" charset="-127"/>
            </a:endParaRPr>
          </a:p>
        </p:txBody>
      </p:sp>
      <p:sp>
        <p:nvSpPr>
          <p:cNvPr id="10" name="자유형 11"/>
          <p:cNvSpPr>
            <a:spLocks/>
          </p:cNvSpPr>
          <p:nvPr/>
        </p:nvSpPr>
        <p:spPr bwMode="auto">
          <a:xfrm>
            <a:off x="5303159" y="4437112"/>
            <a:ext cx="1121209" cy="1557289"/>
          </a:xfrm>
          <a:custGeom>
            <a:avLst/>
            <a:gdLst>
              <a:gd name="T0" fmla="*/ 0 w 623455"/>
              <a:gd name="T1" fmla="*/ 0 h 2088573"/>
              <a:gd name="T2" fmla="*/ 626051 w 623455"/>
              <a:gd name="T3" fmla="*/ 0 h 2088573"/>
              <a:gd name="T4" fmla="*/ 626051 w 623455"/>
              <a:gd name="T5" fmla="*/ 1169161 h 2088573"/>
              <a:gd name="T6" fmla="*/ 114774 w 623455"/>
              <a:gd name="T7" fmla="*/ 1169161 h 2088573"/>
              <a:gd name="T8" fmla="*/ 0 60000 65536"/>
              <a:gd name="T9" fmla="*/ 0 60000 65536"/>
              <a:gd name="T10" fmla="*/ 0 60000 65536"/>
              <a:gd name="T11" fmla="*/ 0 60000 65536"/>
              <a:gd name="T12" fmla="*/ 0 w 623455"/>
              <a:gd name="T13" fmla="*/ 0 h 2088573"/>
              <a:gd name="T14" fmla="*/ 623455 w 623455"/>
              <a:gd name="T15" fmla="*/ 2088573 h 2088573"/>
              <a:gd name="connsiteX0" fmla="*/ 0 w 976330"/>
              <a:gd name="connsiteY0" fmla="*/ 5578 h 2088573"/>
              <a:gd name="connsiteX1" fmla="*/ 976330 w 976330"/>
              <a:gd name="connsiteY1" fmla="*/ 0 h 2088573"/>
              <a:gd name="connsiteX2" fmla="*/ 976330 w 976330"/>
              <a:gd name="connsiteY2" fmla="*/ 2088573 h 2088573"/>
              <a:gd name="connsiteX3" fmla="*/ 467175 w 976330"/>
              <a:gd name="connsiteY3" fmla="*/ 2088573 h 2088573"/>
              <a:gd name="connsiteX0" fmla="*/ 0 w 760456"/>
              <a:gd name="connsiteY0" fmla="*/ 0 h 2088573"/>
              <a:gd name="connsiteX1" fmla="*/ 760456 w 760456"/>
              <a:gd name="connsiteY1" fmla="*/ 0 h 2088573"/>
              <a:gd name="connsiteX2" fmla="*/ 760456 w 760456"/>
              <a:gd name="connsiteY2" fmla="*/ 2088573 h 2088573"/>
              <a:gd name="connsiteX3" fmla="*/ 251301 w 760456"/>
              <a:gd name="connsiteY3" fmla="*/ 2088573 h 2088573"/>
              <a:gd name="connsiteX0" fmla="*/ 0 w 1119724"/>
              <a:gd name="connsiteY0" fmla="*/ 0 h 2104924"/>
              <a:gd name="connsiteX1" fmla="*/ 760456 w 1119724"/>
              <a:gd name="connsiteY1" fmla="*/ 0 h 2104924"/>
              <a:gd name="connsiteX2" fmla="*/ 760456 w 1119724"/>
              <a:gd name="connsiteY2" fmla="*/ 2088573 h 2104924"/>
              <a:gd name="connsiteX3" fmla="*/ 1091966 w 1119724"/>
              <a:gd name="connsiteY3" fmla="*/ 2104924 h 2104924"/>
              <a:gd name="connsiteX0" fmla="*/ 0 w 1202249"/>
              <a:gd name="connsiteY0" fmla="*/ 0 h 2121275"/>
              <a:gd name="connsiteX1" fmla="*/ 760456 w 1202249"/>
              <a:gd name="connsiteY1" fmla="*/ 0 h 2121275"/>
              <a:gd name="connsiteX2" fmla="*/ 760456 w 1202249"/>
              <a:gd name="connsiteY2" fmla="*/ 2088573 h 2121275"/>
              <a:gd name="connsiteX3" fmla="*/ 1177251 w 1202249"/>
              <a:gd name="connsiteY3" fmla="*/ 2121275 h 2121275"/>
              <a:gd name="connsiteX0" fmla="*/ 0 w 1213802"/>
              <a:gd name="connsiteY0" fmla="*/ 0 h 2088573"/>
              <a:gd name="connsiteX1" fmla="*/ 760456 w 1213802"/>
              <a:gd name="connsiteY1" fmla="*/ 0 h 2088573"/>
              <a:gd name="connsiteX2" fmla="*/ 760456 w 1213802"/>
              <a:gd name="connsiteY2" fmla="*/ 2088573 h 2088573"/>
              <a:gd name="connsiteX3" fmla="*/ 1213802 w 1213802"/>
              <a:gd name="connsiteY3" fmla="*/ 2088572 h 2088573"/>
            </a:gdLst>
            <a:ahLst/>
            <a:cxnLst>
              <a:cxn ang="0">
                <a:pos x="connsiteX0" y="connsiteY0"/>
              </a:cxn>
              <a:cxn ang="0">
                <a:pos x="connsiteX1" y="connsiteY1"/>
              </a:cxn>
              <a:cxn ang="0">
                <a:pos x="connsiteX2" y="connsiteY2"/>
              </a:cxn>
              <a:cxn ang="0">
                <a:pos x="connsiteX3" y="connsiteY3"/>
              </a:cxn>
            </a:cxnLst>
            <a:rect l="l" t="t" r="r" b="b"/>
            <a:pathLst>
              <a:path w="1213802" h="2088573">
                <a:moveTo>
                  <a:pt x="0" y="0"/>
                </a:moveTo>
                <a:lnTo>
                  <a:pt x="760456" y="0"/>
                </a:lnTo>
                <a:lnTo>
                  <a:pt x="760456" y="2088573"/>
                </a:lnTo>
                <a:lnTo>
                  <a:pt x="1213802" y="2088572"/>
                </a:lnTo>
              </a:path>
            </a:pathLst>
          </a:custGeom>
          <a:noFill/>
          <a:ln w="19050" algn="ctr">
            <a:solidFill>
              <a:srgbClr val="FF0000"/>
            </a:solidFill>
            <a:prstDash val="dash"/>
            <a:round/>
            <a:headEnd type="oval" w="med" len="med"/>
            <a:tailEnd type="triangle" w="med" len="med"/>
          </a:ln>
        </p:spPr>
        <p:txBody>
          <a:bodyPr anchor="ctr"/>
          <a:lstStyle/>
          <a:p>
            <a:endParaRPr lang="ko-KR" altLang="en-US" dirty="0">
              <a:solidFill>
                <a:prstClr val="black"/>
              </a:solidFill>
            </a:endParaRPr>
          </a:p>
        </p:txBody>
      </p:sp>
      <p:sp>
        <p:nvSpPr>
          <p:cNvPr id="11" name="자유형 12"/>
          <p:cNvSpPr>
            <a:spLocks/>
          </p:cNvSpPr>
          <p:nvPr/>
        </p:nvSpPr>
        <p:spPr bwMode="auto">
          <a:xfrm flipH="1" flipV="1">
            <a:off x="3164215" y="1349376"/>
            <a:ext cx="980197" cy="2727696"/>
          </a:xfrm>
          <a:custGeom>
            <a:avLst/>
            <a:gdLst>
              <a:gd name="T0" fmla="*/ 0 w 623455"/>
              <a:gd name="T1" fmla="*/ 0 h 2088573"/>
              <a:gd name="T2" fmla="*/ 616557 w 623455"/>
              <a:gd name="T3" fmla="*/ 0 h 2088573"/>
              <a:gd name="T4" fmla="*/ 616557 w 623455"/>
              <a:gd name="T5" fmla="*/ 13357539 h 2088573"/>
              <a:gd name="T6" fmla="*/ 113035 w 623455"/>
              <a:gd name="T7" fmla="*/ 13357539 h 2088573"/>
              <a:gd name="T8" fmla="*/ 0 60000 65536"/>
              <a:gd name="T9" fmla="*/ 0 60000 65536"/>
              <a:gd name="T10" fmla="*/ 0 60000 65536"/>
              <a:gd name="T11" fmla="*/ 0 60000 65536"/>
              <a:gd name="T12" fmla="*/ 0 w 623455"/>
              <a:gd name="T13" fmla="*/ 0 h 2088573"/>
              <a:gd name="T14" fmla="*/ 623455 w 623455"/>
              <a:gd name="T15" fmla="*/ 2088573 h 2088573"/>
              <a:gd name="connsiteX0" fmla="*/ 0 w 1063851"/>
              <a:gd name="connsiteY0" fmla="*/ 0 h 2092511"/>
              <a:gd name="connsiteX1" fmla="*/ 1063851 w 1063851"/>
              <a:gd name="connsiteY1" fmla="*/ 3938 h 2092511"/>
              <a:gd name="connsiteX2" fmla="*/ 1063851 w 1063851"/>
              <a:gd name="connsiteY2" fmla="*/ 2092511 h 2092511"/>
              <a:gd name="connsiteX3" fmla="*/ 554696 w 1063851"/>
              <a:gd name="connsiteY3" fmla="*/ 2092511 h 2092511"/>
            </a:gdLst>
            <a:ahLst/>
            <a:cxnLst>
              <a:cxn ang="0">
                <a:pos x="connsiteX0" y="connsiteY0"/>
              </a:cxn>
              <a:cxn ang="0">
                <a:pos x="connsiteX1" y="connsiteY1"/>
              </a:cxn>
              <a:cxn ang="0">
                <a:pos x="connsiteX2" y="connsiteY2"/>
              </a:cxn>
              <a:cxn ang="0">
                <a:pos x="connsiteX3" y="connsiteY3"/>
              </a:cxn>
            </a:cxnLst>
            <a:rect l="l" t="t" r="r" b="b"/>
            <a:pathLst>
              <a:path w="1063851" h="2092511">
                <a:moveTo>
                  <a:pt x="0" y="0"/>
                </a:moveTo>
                <a:lnTo>
                  <a:pt x="1063851" y="3938"/>
                </a:lnTo>
                <a:lnTo>
                  <a:pt x="1063851" y="2092511"/>
                </a:lnTo>
                <a:lnTo>
                  <a:pt x="554696" y="2092511"/>
                </a:lnTo>
              </a:path>
            </a:pathLst>
          </a:custGeom>
          <a:noFill/>
          <a:ln w="19050" algn="ctr">
            <a:solidFill>
              <a:srgbClr val="FF0000"/>
            </a:solidFill>
            <a:prstDash val="dash"/>
            <a:round/>
            <a:headEnd type="oval" w="med" len="med"/>
            <a:tailEnd type="triangle" w="med" len="med"/>
          </a:ln>
        </p:spPr>
        <p:txBody>
          <a:bodyPr anchor="ctr"/>
          <a:lstStyle/>
          <a:p>
            <a:endParaRPr lang="ko-KR" altLang="en-US" dirty="0">
              <a:solidFill>
                <a:prstClr val="black"/>
              </a:solidFill>
            </a:endParaRPr>
          </a:p>
        </p:txBody>
      </p:sp>
      <p:sp>
        <p:nvSpPr>
          <p:cNvPr id="12" name="TextBox 13"/>
          <p:cNvSpPr txBox="1">
            <a:spLocks noChangeArrowheads="1"/>
          </p:cNvSpPr>
          <p:nvPr/>
        </p:nvSpPr>
        <p:spPr bwMode="auto">
          <a:xfrm>
            <a:off x="3583332" y="1214439"/>
            <a:ext cx="2916267" cy="246221"/>
          </a:xfrm>
          <a:prstGeom prst="rect">
            <a:avLst/>
          </a:prstGeom>
          <a:noFill/>
          <a:ln w="9525">
            <a:noFill/>
            <a:miter lim="800000"/>
            <a:headEnd/>
            <a:tailEnd/>
          </a:ln>
        </p:spPr>
        <p:txBody>
          <a:bodyPr wrap="square">
            <a:spAutoFit/>
          </a:bodyPr>
          <a:lstStyle/>
          <a:p>
            <a:r>
              <a:rPr lang="en-US" altLang="ko-KR" sz="1000" b="1" dirty="0" err="1">
                <a:solidFill>
                  <a:srgbClr val="000000"/>
                </a:solidFill>
                <a:latin typeface="맑은 고딕" pitchFamily="50" charset="-127"/>
                <a:ea typeface="맑은 고딕" pitchFamily="50" charset="-127"/>
              </a:rPr>
              <a:t>Hình</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dạng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thực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tế</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của</a:t>
            </a:r>
            <a:r>
              <a:rPr lang="en-US" altLang="ko-KR" sz="1000" b="1" dirty="0">
                <a:solidFill>
                  <a:srgbClr val="000000"/>
                </a:solidFill>
                <a:latin typeface="맑은 고딕" pitchFamily="50" charset="-127"/>
                <a:ea typeface="맑은 고딕" pitchFamily="50" charset="-127"/>
              </a:rPr>
              <a:t> data </a:t>
            </a:r>
            <a:r>
              <a:rPr lang="en-US" altLang="ko-KR" sz="1000" b="1" dirty="0" err="1">
                <a:solidFill>
                  <a:srgbClr val="000000"/>
                </a:solidFill>
                <a:latin typeface="맑은 고딕" pitchFamily="50" charset="-127"/>
                <a:ea typeface="맑은 고딕" pitchFamily="50" charset="-127"/>
              </a:rPr>
              <a:t>đã</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đo</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đạc</a:t>
            </a:r>
            <a:endParaRPr lang="en-US" altLang="ko-KR" sz="1000" b="1" dirty="0">
              <a:solidFill>
                <a:srgbClr val="000000"/>
              </a:solidFill>
              <a:latin typeface="맑은 고딕" pitchFamily="50" charset="-127"/>
              <a:ea typeface="맑은 고딕" pitchFamily="50" charset="-127"/>
            </a:endParaRPr>
          </a:p>
        </p:txBody>
      </p:sp>
      <p:sp>
        <p:nvSpPr>
          <p:cNvPr id="13" name="Text Box 20"/>
          <p:cNvSpPr txBox="1">
            <a:spLocks noChangeArrowheads="1"/>
          </p:cNvSpPr>
          <p:nvPr/>
        </p:nvSpPr>
        <p:spPr bwMode="auto">
          <a:xfrm>
            <a:off x="2579489" y="5815013"/>
            <a:ext cx="1727689" cy="553998"/>
          </a:xfrm>
          <a:prstGeom prst="rect">
            <a:avLst/>
          </a:prstGeom>
          <a:noFill/>
          <a:ln w="9525">
            <a:noFill/>
            <a:miter lim="800000"/>
            <a:headEnd/>
            <a:tailEnd/>
          </a:ln>
        </p:spPr>
        <p:txBody>
          <a:bodyPr>
            <a:spAutoFit/>
          </a:bodyPr>
          <a:lstStyle/>
          <a:p>
            <a:r>
              <a:rPr lang="en-US" altLang="ko-KR" sz="1000" b="1" dirty="0" err="1">
                <a:solidFill>
                  <a:srgbClr val="000000"/>
                </a:solidFill>
                <a:latin typeface="맑은 고딕" pitchFamily="50" charset="-127"/>
                <a:ea typeface="맑은 고딕" pitchFamily="50" charset="-127"/>
              </a:rPr>
              <a:t>Năng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lực</a:t>
            </a:r>
            <a:r>
              <a:rPr lang="en-US" altLang="ko-KR" sz="1000" b="1" dirty="0">
                <a:solidFill>
                  <a:srgbClr val="000000"/>
                </a:solidFill>
                <a:latin typeface="맑은 고딕" pitchFamily="50" charset="-127"/>
                <a:ea typeface="맑은 고딕" pitchFamily="50" charset="-127"/>
              </a:rPr>
              <a:t> process </a:t>
            </a:r>
            <a:r>
              <a:rPr lang="en-US" altLang="ko-KR" sz="1000" b="1" dirty="0" err="1">
                <a:solidFill>
                  <a:srgbClr val="000000"/>
                </a:solidFill>
                <a:latin typeface="맑은 고딕" pitchFamily="50" charset="-127"/>
                <a:ea typeface="맑은 고딕" pitchFamily="50" charset="-127"/>
              </a:rPr>
              <a:t>ước</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tính</a:t>
            </a:r>
            <a:r>
              <a:rPr lang="en-US" altLang="ko-KR" sz="1000" b="1" dirty="0">
                <a:solidFill>
                  <a:srgbClr val="000000"/>
                </a:solidFill>
                <a:latin typeface="맑은 고딕" pitchFamily="50" charset="-127"/>
                <a:ea typeface="맑은 고딕" pitchFamily="50" charset="-127"/>
              </a:rPr>
              <a:t> (PPM) </a:t>
            </a:r>
            <a:r>
              <a:rPr lang="en-US" altLang="ko-KR" sz="1000" b="1" dirty="0" err="1">
                <a:solidFill>
                  <a:srgbClr val="000000"/>
                </a:solidFill>
                <a:latin typeface="맑은 고딕" pitchFamily="50" charset="-127"/>
                <a:ea typeface="맑은 고딕" pitchFamily="50" charset="-127"/>
              </a:rPr>
              <a:t>trong</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thời</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kì</a:t>
            </a:r>
            <a:r>
              <a:rPr lang="en-US" altLang="ko-KR"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ngắn</a:t>
            </a:r>
            <a:r>
              <a:rPr lang="en-US" altLang="ko-KR" sz="1000" b="1" dirty="0">
                <a:solidFill>
                  <a:srgbClr val="000000"/>
                </a:solidFill>
                <a:latin typeface="맑은 고딕" pitchFamily="50" charset="-127"/>
                <a:ea typeface="맑은 고딕" pitchFamily="50" charset="-127"/>
              </a:rPr>
              <a:t> (ST)</a:t>
            </a:r>
          </a:p>
        </p:txBody>
      </p:sp>
      <p:sp>
        <p:nvSpPr>
          <p:cNvPr id="14" name="자유형 15"/>
          <p:cNvSpPr>
            <a:spLocks/>
          </p:cNvSpPr>
          <p:nvPr/>
        </p:nvSpPr>
        <p:spPr bwMode="auto">
          <a:xfrm>
            <a:off x="3968673" y="5641976"/>
            <a:ext cx="470389" cy="423863"/>
          </a:xfrm>
          <a:custGeom>
            <a:avLst/>
            <a:gdLst>
              <a:gd name="T0" fmla="*/ 511758 w 509155"/>
              <a:gd name="T1" fmla="*/ 0 h 2088573"/>
              <a:gd name="T2" fmla="*/ 511758 w 509155"/>
              <a:gd name="T3" fmla="*/ 30 h 2088573"/>
              <a:gd name="T4" fmla="*/ 0 w 509155"/>
              <a:gd name="T5" fmla="*/ 30 h 2088573"/>
              <a:gd name="T6" fmla="*/ 0 60000 65536"/>
              <a:gd name="T7" fmla="*/ 0 60000 65536"/>
              <a:gd name="T8" fmla="*/ 0 60000 65536"/>
              <a:gd name="T9" fmla="*/ 0 w 509155"/>
              <a:gd name="T10" fmla="*/ 0 h 2088573"/>
              <a:gd name="T11" fmla="*/ 509155 w 509155"/>
              <a:gd name="T12" fmla="*/ 2088573 h 2088573"/>
            </a:gdLst>
            <a:ahLst/>
            <a:cxnLst>
              <a:cxn ang="T6">
                <a:pos x="T0" y="T1"/>
              </a:cxn>
              <a:cxn ang="T7">
                <a:pos x="T2" y="T3"/>
              </a:cxn>
              <a:cxn ang="T8">
                <a:pos x="T4" y="T5"/>
              </a:cxn>
            </a:cxnLst>
            <a:rect l="T9" t="T10" r="T11" b="T12"/>
            <a:pathLst>
              <a:path w="509155" h="2088573">
                <a:moveTo>
                  <a:pt x="509155" y="0"/>
                </a:moveTo>
                <a:lnTo>
                  <a:pt x="509155" y="2088573"/>
                </a:lnTo>
                <a:lnTo>
                  <a:pt x="0" y="2088573"/>
                </a:lnTo>
              </a:path>
            </a:pathLst>
          </a:custGeom>
          <a:noFill/>
          <a:ln w="19050" algn="ctr">
            <a:solidFill>
              <a:srgbClr val="FF0000"/>
            </a:solidFill>
            <a:prstDash val="dash"/>
            <a:round/>
            <a:headEnd type="oval" w="med" len="med"/>
            <a:tailEnd type="triangle" w="med" len="med"/>
          </a:ln>
        </p:spPr>
        <p:txBody>
          <a:bodyPr anchor="ctr"/>
          <a:lstStyle/>
          <a:p>
            <a:endParaRPr lang="ko-KR" altLang="en-US" dirty="0">
              <a:solidFill>
                <a:prstClr val="black"/>
              </a:solidFill>
            </a:endParaRPr>
          </a:p>
        </p:txBody>
      </p:sp>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235</a:t>
            </a:fld>
            <a:endParaRPr lang="ko-KR" altLang="en-US" dirty="0">
              <a:solidFill>
                <a:prstClr val="black"/>
              </a:solidFill>
            </a:endParaRPr>
          </a:p>
        </p:txBody>
      </p:sp>
      <p:sp>
        <p:nvSpPr>
          <p:cNvPr id="17"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1251226780"/>
      </p:ext>
    </p:extLst>
  </p:cSld>
  <p:clrMapOvr>
    <a:masterClrMapping/>
  </p:clrMapOvr>
  <p:transition spd="med">
    <p:fade/>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236</a:t>
            </a:fld>
            <a:endParaRPr lang="ko-KR" altLang="en-US" dirty="0">
              <a:solidFill>
                <a:prstClr val="black"/>
              </a:solidFill>
            </a:endParaRPr>
          </a:p>
        </p:txBody>
      </p:sp>
      <p:sp>
        <p:nvSpPr>
          <p:cNvPr id="3" name="TextBox 2"/>
          <p:cNvSpPr txBox="1"/>
          <p:nvPr/>
        </p:nvSpPr>
        <p:spPr>
          <a:xfrm>
            <a:off x="583865" y="836712"/>
            <a:ext cx="3179204" cy="412421"/>
          </a:xfrm>
          <a:prstGeom prst="rect">
            <a:avLst/>
          </a:prstGeom>
          <a:noFill/>
        </p:spPr>
        <p:txBody>
          <a:bodyPr wrap="none" rtlCol="0">
            <a:spAutoFit/>
          </a:bodyPr>
          <a:lstStyle/>
          <a:p>
            <a:pPr marL="342900" indent="-342900">
              <a:lnSpc>
                <a:spcPct val="130000"/>
              </a:lnSpc>
              <a:buClr>
                <a:schemeClr val="tx1"/>
              </a:buClr>
              <a:buFont typeface="Wingdings" panose="05000000000000000000" pitchFamily="2" charset="2"/>
              <a:buChar char="u"/>
            </a:pPr>
            <a:r>
              <a:rPr lang="en-US" altLang="ko-KR" sz="1600" b="1" dirty="0"/>
              <a:t>Calculate </a:t>
            </a:r>
            <a:r>
              <a:rPr lang="en-US" altLang="ko-KR" sz="1600" b="1" dirty="0" err="1"/>
              <a:t>Zst</a:t>
            </a:r>
            <a:r>
              <a:rPr lang="en-US" altLang="ko-KR" sz="1600" b="1" dirty="0"/>
              <a:t> value in Excel</a:t>
            </a:r>
            <a:endParaRPr lang="ko-KR" altLang="en-US" sz="1600" b="1" dirty="0"/>
          </a:p>
        </p:txBody>
      </p:sp>
      <p:sp>
        <p:nvSpPr>
          <p:cNvPr id="4" name="TextBox 3"/>
          <p:cNvSpPr txBox="1"/>
          <p:nvPr/>
        </p:nvSpPr>
        <p:spPr>
          <a:xfrm>
            <a:off x="3520342" y="908721"/>
            <a:ext cx="4528804" cy="307777"/>
          </a:xfrm>
          <a:prstGeom prst="rect">
            <a:avLst/>
          </a:prstGeom>
          <a:noFill/>
        </p:spPr>
        <p:txBody>
          <a:bodyPr wrap="none" rtlCol="0">
            <a:spAutoFit/>
          </a:bodyPr>
          <a:lstStyle/>
          <a:p>
            <a:pPr fontAlgn="auto" latinLnBrk="0">
              <a:spcBef>
                <a:spcPts val="0"/>
              </a:spcBef>
              <a:spcAft>
                <a:spcPts val="0"/>
              </a:spcAft>
              <a:buClr>
                <a:srgbClr val="595959"/>
              </a:buClr>
              <a:defRPr/>
            </a:pPr>
            <a:r>
              <a:rPr kumimoji="0" lang="en-US" altLang="ko-KR" sz="1400" kern="0" dirty="0" err="1">
                <a:solidFill>
                  <a:srgbClr val="00B050"/>
                </a:solidFill>
                <a:latin typeface="맑은 고딕" pitchFamily="50" charset="-127"/>
                <a:ea typeface="맑은 고딕" pitchFamily="50" charset="-127"/>
              </a:rPr>
              <a:t>StDev</a:t>
            </a:r>
            <a:r>
              <a:rPr kumimoji="0" lang="en-US" altLang="ko-KR" sz="1400" kern="0" dirty="0">
                <a:solidFill>
                  <a:srgbClr val="00B050"/>
                </a:solidFill>
                <a:latin typeface="맑은 고딕" pitchFamily="50" charset="-127"/>
                <a:ea typeface="맑은 고딕" pitchFamily="50" charset="-127"/>
              </a:rPr>
              <a:t>(within) </a:t>
            </a:r>
            <a:r>
              <a:rPr kumimoji="0" lang="ko-KR" altLang="en-US" sz="1400" kern="0" dirty="0">
                <a:solidFill>
                  <a:srgbClr val="00B050"/>
                </a:solidFill>
                <a:latin typeface="맑은 고딕" pitchFamily="50" charset="-127"/>
                <a:ea typeface="맑은 고딕" pitchFamily="50" charset="-127"/>
              </a:rPr>
              <a:t> </a:t>
            </a:r>
            <a:r>
              <a:rPr kumimoji="0" lang="en-US" altLang="ko-KR" sz="1400" kern="0" dirty="0">
                <a:solidFill>
                  <a:srgbClr val="00B050"/>
                </a:solidFill>
                <a:latin typeface="맑은 고딕" pitchFamily="50" charset="-127"/>
                <a:ea typeface="맑은 고딕" pitchFamily="50" charset="-127"/>
              </a:rPr>
              <a:t>0.159687  </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  Joint standard deviation</a:t>
            </a:r>
            <a:endParaRPr kumimoji="0" lang="en-US" altLang="ko-KR" sz="1400" kern="0" dirty="0">
              <a:solidFill>
                <a:srgbClr val="00B050"/>
              </a:solidFill>
              <a:latin typeface="맑은 고딕" pitchFamily="50" charset="-127"/>
              <a:ea typeface="맑은 고딕" pitchFamily="50" charset="-127"/>
            </a:endParaRPr>
          </a:p>
        </p:txBody>
      </p:sp>
      <p:sp>
        <p:nvSpPr>
          <p:cNvPr id="5" name="Line 56"/>
          <p:cNvSpPr>
            <a:spLocks noChangeShapeType="1"/>
          </p:cNvSpPr>
          <p:nvPr/>
        </p:nvSpPr>
        <p:spPr bwMode="auto">
          <a:xfrm>
            <a:off x="1691677" y="180898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6" name="Rectangle 57"/>
          <p:cNvSpPr>
            <a:spLocks noChangeArrowheads="1"/>
          </p:cNvSpPr>
          <p:nvPr/>
        </p:nvSpPr>
        <p:spPr bwMode="auto">
          <a:xfrm>
            <a:off x="2105645" y="1816220"/>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7" name="Rectangle 58"/>
          <p:cNvSpPr>
            <a:spLocks noChangeArrowheads="1"/>
          </p:cNvSpPr>
          <p:nvPr/>
        </p:nvSpPr>
        <p:spPr bwMode="auto">
          <a:xfrm>
            <a:off x="2133688" y="148478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8" name="Rectangle 59"/>
          <p:cNvSpPr>
            <a:spLocks noChangeArrowheads="1"/>
          </p:cNvSpPr>
          <p:nvPr/>
        </p:nvSpPr>
        <p:spPr bwMode="auto">
          <a:xfrm>
            <a:off x="1506060" y="163241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9" name="Rectangle 61"/>
          <p:cNvSpPr>
            <a:spLocks noChangeArrowheads="1"/>
          </p:cNvSpPr>
          <p:nvPr/>
        </p:nvSpPr>
        <p:spPr bwMode="auto">
          <a:xfrm>
            <a:off x="2403434" y="1510837"/>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T</a:t>
            </a:r>
            <a:endParaRPr lang="en-US" altLang="ko-KR" baseline="0" dirty="0">
              <a:solidFill>
                <a:srgbClr val="000000"/>
              </a:solidFill>
              <a:latin typeface="Times New Roman" pitchFamily="18" charset="0"/>
              <a:ea typeface="굴림" pitchFamily="50" charset="-127"/>
            </a:endParaRPr>
          </a:p>
        </p:txBody>
      </p:sp>
      <p:sp>
        <p:nvSpPr>
          <p:cNvPr id="10" name="Rectangle 62"/>
          <p:cNvSpPr>
            <a:spLocks noChangeArrowheads="1"/>
          </p:cNvSpPr>
          <p:nvPr/>
        </p:nvSpPr>
        <p:spPr bwMode="auto">
          <a:xfrm>
            <a:off x="1794501" y="1510837"/>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11" name="Rectangle 63"/>
          <p:cNvSpPr>
            <a:spLocks noChangeArrowheads="1"/>
          </p:cNvSpPr>
          <p:nvPr/>
        </p:nvSpPr>
        <p:spPr bwMode="auto">
          <a:xfrm>
            <a:off x="916209" y="1659910"/>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12" name="Rectangle 64"/>
          <p:cNvSpPr>
            <a:spLocks noChangeArrowheads="1"/>
          </p:cNvSpPr>
          <p:nvPr/>
        </p:nvSpPr>
        <p:spPr bwMode="auto">
          <a:xfrm>
            <a:off x="1031053" y="1803194"/>
            <a:ext cx="429605"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ST(USL)</a:t>
            </a:r>
            <a:endParaRPr lang="en-US" altLang="ko-KR" baseline="0" dirty="0">
              <a:solidFill>
                <a:srgbClr val="000000"/>
              </a:solidFill>
              <a:latin typeface="Times New Roman" pitchFamily="18" charset="0"/>
              <a:ea typeface="굴림" pitchFamily="50" charset="-127"/>
            </a:endParaRPr>
          </a:p>
        </p:txBody>
      </p:sp>
      <p:sp>
        <p:nvSpPr>
          <p:cNvPr id="13" name="Rectangle 94"/>
          <p:cNvSpPr>
            <a:spLocks noChangeArrowheads="1"/>
          </p:cNvSpPr>
          <p:nvPr/>
        </p:nvSpPr>
        <p:spPr bwMode="auto">
          <a:xfrm>
            <a:off x="2324850" y="192042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14" name="TextBox 13"/>
          <p:cNvSpPr txBox="1"/>
          <p:nvPr/>
        </p:nvSpPr>
        <p:spPr>
          <a:xfrm>
            <a:off x="2156148" y="1925325"/>
            <a:ext cx="288862" cy="232371"/>
          </a:xfrm>
          <a:prstGeom prst="rect">
            <a:avLst/>
          </a:prstGeom>
          <a:noFill/>
        </p:spPr>
        <p:txBody>
          <a:bodyPr wrap="none" rtlCol="0">
            <a:spAutoFit/>
          </a:bodyPr>
          <a:lstStyle/>
          <a:p>
            <a:pPr>
              <a:lnSpc>
                <a:spcPct val="130000"/>
              </a:lnSpc>
              <a:buClr>
                <a:srgbClr val="C5003D"/>
              </a:buClr>
            </a:pPr>
            <a:r>
              <a:rPr lang="en-US" altLang="ko-KR" sz="700" b="1" dirty="0"/>
              <a:t>ST</a:t>
            </a:r>
            <a:endParaRPr lang="ko-KR" altLang="en-US" sz="700" b="1" dirty="0"/>
          </a:p>
        </p:txBody>
      </p:sp>
      <p:sp>
        <p:nvSpPr>
          <p:cNvPr id="15" name="Line 56"/>
          <p:cNvSpPr>
            <a:spLocks noChangeShapeType="1"/>
          </p:cNvSpPr>
          <p:nvPr/>
        </p:nvSpPr>
        <p:spPr bwMode="auto">
          <a:xfrm>
            <a:off x="1700047" y="252906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16" name="Rectangle 57"/>
          <p:cNvSpPr>
            <a:spLocks noChangeArrowheads="1"/>
          </p:cNvSpPr>
          <p:nvPr/>
        </p:nvSpPr>
        <p:spPr bwMode="auto">
          <a:xfrm>
            <a:off x="2012100" y="2536300"/>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0.1597</a:t>
            </a:r>
            <a:endParaRPr lang="en-US" altLang="ko-KR" baseline="0" dirty="0">
              <a:solidFill>
                <a:srgbClr val="000000"/>
              </a:solidFill>
              <a:latin typeface="Times New Roman" pitchFamily="18" charset="0"/>
              <a:ea typeface="굴림" pitchFamily="50" charset="-127"/>
            </a:endParaRPr>
          </a:p>
        </p:txBody>
      </p:sp>
      <p:sp>
        <p:nvSpPr>
          <p:cNvPr id="17" name="Rectangle 58"/>
          <p:cNvSpPr>
            <a:spLocks noChangeArrowheads="1"/>
          </p:cNvSpPr>
          <p:nvPr/>
        </p:nvSpPr>
        <p:spPr bwMode="auto">
          <a:xfrm>
            <a:off x="2046181" y="220486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8" name="Rectangle 59"/>
          <p:cNvSpPr>
            <a:spLocks noChangeArrowheads="1"/>
          </p:cNvSpPr>
          <p:nvPr/>
        </p:nvSpPr>
        <p:spPr bwMode="auto">
          <a:xfrm>
            <a:off x="1514429" y="235249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9" name="Rectangle 61"/>
          <p:cNvSpPr>
            <a:spLocks noChangeArrowheads="1"/>
          </p:cNvSpPr>
          <p:nvPr/>
        </p:nvSpPr>
        <p:spPr bwMode="auto">
          <a:xfrm>
            <a:off x="2315927" y="2230917"/>
            <a:ext cx="2885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5.5</a:t>
            </a:r>
            <a:endParaRPr lang="en-US" altLang="ko-KR" baseline="0" dirty="0">
              <a:solidFill>
                <a:srgbClr val="000000"/>
              </a:solidFill>
              <a:latin typeface="Times New Roman" pitchFamily="18" charset="0"/>
              <a:ea typeface="굴림" pitchFamily="50" charset="-127"/>
            </a:endParaRPr>
          </a:p>
        </p:txBody>
      </p:sp>
      <p:sp>
        <p:nvSpPr>
          <p:cNvPr id="20" name="Rectangle 62"/>
          <p:cNvSpPr>
            <a:spLocks noChangeArrowheads="1"/>
          </p:cNvSpPr>
          <p:nvPr/>
        </p:nvSpPr>
        <p:spPr bwMode="auto">
          <a:xfrm>
            <a:off x="1802871" y="2230917"/>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6</a:t>
            </a:r>
            <a:endParaRPr lang="en-US" altLang="ko-KR" baseline="0" dirty="0">
              <a:solidFill>
                <a:srgbClr val="000000"/>
              </a:solidFill>
              <a:latin typeface="Times New Roman" pitchFamily="18" charset="0"/>
              <a:ea typeface="굴림" pitchFamily="50" charset="-127"/>
            </a:endParaRPr>
          </a:p>
        </p:txBody>
      </p:sp>
      <p:sp>
        <p:nvSpPr>
          <p:cNvPr id="21" name="Rectangle 94"/>
          <p:cNvSpPr>
            <a:spLocks noChangeArrowheads="1"/>
          </p:cNvSpPr>
          <p:nvPr/>
        </p:nvSpPr>
        <p:spPr bwMode="auto">
          <a:xfrm>
            <a:off x="2333220" y="264050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23" name="Rectangle 59"/>
          <p:cNvSpPr>
            <a:spLocks noChangeArrowheads="1"/>
          </p:cNvSpPr>
          <p:nvPr/>
        </p:nvSpPr>
        <p:spPr bwMode="auto">
          <a:xfrm>
            <a:off x="2901643" y="2352491"/>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3.1311</a:t>
            </a:r>
            <a:endParaRPr lang="en-US" altLang="ko-KR" baseline="0" dirty="0">
              <a:solidFill>
                <a:srgbClr val="000000"/>
              </a:solidFill>
              <a:latin typeface="Times New Roman" pitchFamily="18" charset="0"/>
              <a:ea typeface="굴림" pitchFamily="50" charset="-127"/>
            </a:endParaRPr>
          </a:p>
        </p:txBody>
      </p:sp>
      <p:sp>
        <p:nvSpPr>
          <p:cNvPr id="24" name="Line 56"/>
          <p:cNvSpPr>
            <a:spLocks noChangeShapeType="1"/>
          </p:cNvSpPr>
          <p:nvPr/>
        </p:nvSpPr>
        <p:spPr bwMode="auto">
          <a:xfrm>
            <a:off x="1691677" y="332115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25" name="Rectangle 57"/>
          <p:cNvSpPr>
            <a:spLocks noChangeArrowheads="1"/>
          </p:cNvSpPr>
          <p:nvPr/>
        </p:nvSpPr>
        <p:spPr bwMode="auto">
          <a:xfrm>
            <a:off x="2105645" y="3328388"/>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26" name="Rectangle 58"/>
          <p:cNvSpPr>
            <a:spLocks noChangeArrowheads="1"/>
          </p:cNvSpPr>
          <p:nvPr/>
        </p:nvSpPr>
        <p:spPr bwMode="auto">
          <a:xfrm>
            <a:off x="2133688" y="299695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7" name="Rectangle 59"/>
          <p:cNvSpPr>
            <a:spLocks noChangeArrowheads="1"/>
          </p:cNvSpPr>
          <p:nvPr/>
        </p:nvSpPr>
        <p:spPr bwMode="auto">
          <a:xfrm>
            <a:off x="1506060" y="314457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8" name="Rectangle 61"/>
          <p:cNvSpPr>
            <a:spLocks noChangeArrowheads="1"/>
          </p:cNvSpPr>
          <p:nvPr/>
        </p:nvSpPr>
        <p:spPr bwMode="auto">
          <a:xfrm>
            <a:off x="1859528" y="3023005"/>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T</a:t>
            </a:r>
            <a:endParaRPr lang="en-US" altLang="ko-KR" baseline="0" dirty="0">
              <a:solidFill>
                <a:srgbClr val="000000"/>
              </a:solidFill>
              <a:latin typeface="Times New Roman" pitchFamily="18" charset="0"/>
              <a:ea typeface="굴림" pitchFamily="50" charset="-127"/>
            </a:endParaRPr>
          </a:p>
        </p:txBody>
      </p:sp>
      <p:sp>
        <p:nvSpPr>
          <p:cNvPr id="29" name="Rectangle 62"/>
          <p:cNvSpPr>
            <a:spLocks noChangeArrowheads="1"/>
          </p:cNvSpPr>
          <p:nvPr/>
        </p:nvSpPr>
        <p:spPr bwMode="auto">
          <a:xfrm>
            <a:off x="2378526" y="3023005"/>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30" name="Rectangle 63"/>
          <p:cNvSpPr>
            <a:spLocks noChangeArrowheads="1"/>
          </p:cNvSpPr>
          <p:nvPr/>
        </p:nvSpPr>
        <p:spPr bwMode="auto">
          <a:xfrm>
            <a:off x="916209" y="3172078"/>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31" name="Rectangle 64"/>
          <p:cNvSpPr>
            <a:spLocks noChangeArrowheads="1"/>
          </p:cNvSpPr>
          <p:nvPr/>
        </p:nvSpPr>
        <p:spPr bwMode="auto">
          <a:xfrm>
            <a:off x="1031052" y="3315362"/>
            <a:ext cx="416781"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ST(LSL)</a:t>
            </a:r>
            <a:endParaRPr lang="en-US" altLang="ko-KR" baseline="0" dirty="0">
              <a:solidFill>
                <a:srgbClr val="000000"/>
              </a:solidFill>
              <a:latin typeface="Times New Roman" pitchFamily="18" charset="0"/>
              <a:ea typeface="굴림" pitchFamily="50" charset="-127"/>
            </a:endParaRPr>
          </a:p>
        </p:txBody>
      </p:sp>
      <p:sp>
        <p:nvSpPr>
          <p:cNvPr id="32" name="Rectangle 94"/>
          <p:cNvSpPr>
            <a:spLocks noChangeArrowheads="1"/>
          </p:cNvSpPr>
          <p:nvPr/>
        </p:nvSpPr>
        <p:spPr bwMode="auto">
          <a:xfrm>
            <a:off x="2324850" y="343259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33" name="TextBox 32"/>
          <p:cNvSpPr txBox="1"/>
          <p:nvPr/>
        </p:nvSpPr>
        <p:spPr>
          <a:xfrm>
            <a:off x="2156148" y="3437493"/>
            <a:ext cx="288862" cy="232371"/>
          </a:xfrm>
          <a:prstGeom prst="rect">
            <a:avLst/>
          </a:prstGeom>
          <a:noFill/>
        </p:spPr>
        <p:txBody>
          <a:bodyPr wrap="none" rtlCol="0">
            <a:spAutoFit/>
          </a:bodyPr>
          <a:lstStyle/>
          <a:p>
            <a:pPr>
              <a:lnSpc>
                <a:spcPct val="130000"/>
              </a:lnSpc>
              <a:buClr>
                <a:srgbClr val="C5003D"/>
              </a:buClr>
            </a:pPr>
            <a:r>
              <a:rPr lang="en-US" altLang="ko-KR" sz="700" b="1" dirty="0"/>
              <a:t>ST</a:t>
            </a:r>
            <a:endParaRPr lang="ko-KR" altLang="en-US" sz="700" b="1" dirty="0"/>
          </a:p>
        </p:txBody>
      </p:sp>
      <p:sp>
        <p:nvSpPr>
          <p:cNvPr id="34" name="Line 56"/>
          <p:cNvSpPr>
            <a:spLocks noChangeShapeType="1"/>
          </p:cNvSpPr>
          <p:nvPr/>
        </p:nvSpPr>
        <p:spPr bwMode="auto">
          <a:xfrm>
            <a:off x="1657915" y="404123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35" name="Rectangle 57"/>
          <p:cNvSpPr>
            <a:spLocks noChangeArrowheads="1"/>
          </p:cNvSpPr>
          <p:nvPr/>
        </p:nvSpPr>
        <p:spPr bwMode="auto">
          <a:xfrm>
            <a:off x="1969968" y="4048468"/>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0.1597</a:t>
            </a:r>
            <a:endParaRPr lang="en-US" altLang="ko-KR" baseline="0" dirty="0">
              <a:solidFill>
                <a:srgbClr val="000000"/>
              </a:solidFill>
              <a:latin typeface="Times New Roman" pitchFamily="18" charset="0"/>
              <a:ea typeface="굴림" pitchFamily="50" charset="-127"/>
            </a:endParaRPr>
          </a:p>
        </p:txBody>
      </p:sp>
      <p:sp>
        <p:nvSpPr>
          <p:cNvPr id="36" name="Rectangle 58"/>
          <p:cNvSpPr>
            <a:spLocks noChangeArrowheads="1"/>
          </p:cNvSpPr>
          <p:nvPr/>
        </p:nvSpPr>
        <p:spPr bwMode="auto">
          <a:xfrm>
            <a:off x="2232863" y="371703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7" name="Rectangle 59"/>
          <p:cNvSpPr>
            <a:spLocks noChangeArrowheads="1"/>
          </p:cNvSpPr>
          <p:nvPr/>
        </p:nvSpPr>
        <p:spPr bwMode="auto">
          <a:xfrm>
            <a:off x="1472297" y="386465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8" name="Rectangle 61"/>
          <p:cNvSpPr>
            <a:spLocks noChangeArrowheads="1"/>
          </p:cNvSpPr>
          <p:nvPr/>
        </p:nvSpPr>
        <p:spPr bwMode="auto">
          <a:xfrm>
            <a:off x="2502609" y="3743085"/>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a:t>
            </a:r>
            <a:endParaRPr lang="en-US" altLang="ko-KR" baseline="0" dirty="0">
              <a:solidFill>
                <a:srgbClr val="000000"/>
              </a:solidFill>
              <a:latin typeface="Times New Roman" pitchFamily="18" charset="0"/>
              <a:ea typeface="굴림" pitchFamily="50" charset="-127"/>
            </a:endParaRPr>
          </a:p>
        </p:txBody>
      </p:sp>
      <p:sp>
        <p:nvSpPr>
          <p:cNvPr id="39" name="Rectangle 62"/>
          <p:cNvSpPr>
            <a:spLocks noChangeArrowheads="1"/>
          </p:cNvSpPr>
          <p:nvPr/>
        </p:nvSpPr>
        <p:spPr bwMode="auto">
          <a:xfrm>
            <a:off x="1790853" y="3743085"/>
            <a:ext cx="2885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5.5</a:t>
            </a:r>
            <a:endParaRPr lang="en-US" altLang="ko-KR" baseline="0" dirty="0">
              <a:solidFill>
                <a:srgbClr val="000000"/>
              </a:solidFill>
              <a:latin typeface="Times New Roman" pitchFamily="18" charset="0"/>
              <a:ea typeface="굴림" pitchFamily="50" charset="-127"/>
            </a:endParaRPr>
          </a:p>
        </p:txBody>
      </p:sp>
      <p:sp>
        <p:nvSpPr>
          <p:cNvPr id="40" name="Rectangle 94"/>
          <p:cNvSpPr>
            <a:spLocks noChangeArrowheads="1"/>
          </p:cNvSpPr>
          <p:nvPr/>
        </p:nvSpPr>
        <p:spPr bwMode="auto">
          <a:xfrm>
            <a:off x="2291088" y="415267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41" name="Rectangle 59"/>
          <p:cNvSpPr>
            <a:spLocks noChangeArrowheads="1"/>
          </p:cNvSpPr>
          <p:nvPr/>
        </p:nvSpPr>
        <p:spPr bwMode="auto">
          <a:xfrm>
            <a:off x="2859511" y="3864659"/>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3.1311</a:t>
            </a:r>
            <a:endParaRPr lang="en-US" altLang="ko-KR" baseline="0" dirty="0">
              <a:solidFill>
                <a:srgbClr val="000000"/>
              </a:solidFill>
              <a:latin typeface="Times New Roman" pitchFamily="18" charset="0"/>
              <a:ea typeface="굴림" pitchFamily="50" charset="-127"/>
            </a:endParaRPr>
          </a:p>
        </p:txBody>
      </p:sp>
      <p:sp>
        <p:nvSpPr>
          <p:cNvPr id="42" name="Rectangle 63"/>
          <p:cNvSpPr>
            <a:spLocks noChangeArrowheads="1"/>
          </p:cNvSpPr>
          <p:nvPr/>
        </p:nvSpPr>
        <p:spPr bwMode="auto">
          <a:xfrm>
            <a:off x="4505531" y="1628800"/>
            <a:ext cx="37886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P(3.1311)  =  1 – NORM.S.DIST(3.1311,true)</a:t>
            </a:r>
          </a:p>
        </p:txBody>
      </p:sp>
      <p:sp>
        <p:nvSpPr>
          <p:cNvPr id="44" name="Rectangle 63"/>
          <p:cNvSpPr>
            <a:spLocks noChangeArrowheads="1"/>
          </p:cNvSpPr>
          <p:nvPr/>
        </p:nvSpPr>
        <p:spPr bwMode="auto">
          <a:xfrm>
            <a:off x="5326462" y="2060849"/>
            <a:ext cx="21175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0.0008707 = 8.707 E -4</a:t>
            </a:r>
          </a:p>
        </p:txBody>
      </p:sp>
      <p:sp>
        <p:nvSpPr>
          <p:cNvPr id="45" name="Rectangle 63"/>
          <p:cNvSpPr>
            <a:spLocks noChangeArrowheads="1"/>
          </p:cNvSpPr>
          <p:nvPr/>
        </p:nvSpPr>
        <p:spPr bwMode="auto">
          <a:xfrm>
            <a:off x="4505531" y="3174582"/>
            <a:ext cx="37886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P(3.1311)  =  1 – NORM.S.DIST(3.1311,true)</a:t>
            </a:r>
          </a:p>
        </p:txBody>
      </p:sp>
      <p:sp>
        <p:nvSpPr>
          <p:cNvPr id="46" name="Rectangle 63"/>
          <p:cNvSpPr>
            <a:spLocks noChangeArrowheads="1"/>
          </p:cNvSpPr>
          <p:nvPr/>
        </p:nvSpPr>
        <p:spPr bwMode="auto">
          <a:xfrm>
            <a:off x="5326462" y="3717033"/>
            <a:ext cx="21175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0.0008707 = 8.707 E -4</a:t>
            </a:r>
          </a:p>
        </p:txBody>
      </p:sp>
      <p:sp>
        <p:nvSpPr>
          <p:cNvPr id="47" name="Rectangle 59"/>
          <p:cNvSpPr>
            <a:spLocks noChangeArrowheads="1"/>
          </p:cNvSpPr>
          <p:nvPr/>
        </p:nvSpPr>
        <p:spPr bwMode="auto">
          <a:xfrm>
            <a:off x="1580898" y="4653137"/>
            <a:ext cx="15788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P(Total))</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48" name="Rectangle 63"/>
          <p:cNvSpPr>
            <a:spLocks noChangeArrowheads="1"/>
          </p:cNvSpPr>
          <p:nvPr/>
        </p:nvSpPr>
        <p:spPr bwMode="auto">
          <a:xfrm>
            <a:off x="916209" y="4680636"/>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49" name="Rectangle 64"/>
          <p:cNvSpPr>
            <a:spLocks noChangeArrowheads="1"/>
          </p:cNvSpPr>
          <p:nvPr/>
        </p:nvSpPr>
        <p:spPr bwMode="auto">
          <a:xfrm>
            <a:off x="1031053" y="4823920"/>
            <a:ext cx="506549"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ST(Bench)</a:t>
            </a:r>
            <a:endParaRPr lang="en-US" altLang="ko-KR" baseline="0" dirty="0">
              <a:solidFill>
                <a:srgbClr val="000000"/>
              </a:solidFill>
              <a:latin typeface="Times New Roman" pitchFamily="18" charset="0"/>
              <a:ea typeface="굴림" pitchFamily="50" charset="-127"/>
            </a:endParaRPr>
          </a:p>
        </p:txBody>
      </p:sp>
      <p:sp>
        <p:nvSpPr>
          <p:cNvPr id="50" name="Rectangle 63"/>
          <p:cNvSpPr>
            <a:spLocks noChangeArrowheads="1"/>
          </p:cNvSpPr>
          <p:nvPr/>
        </p:nvSpPr>
        <p:spPr bwMode="auto">
          <a:xfrm>
            <a:off x="4505531" y="4694948"/>
            <a:ext cx="39683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P(Total)  = P(3.1311) + P(3.1311)  = 0.001741   </a:t>
            </a:r>
          </a:p>
        </p:txBody>
      </p:sp>
      <p:sp>
        <p:nvSpPr>
          <p:cNvPr id="51" name="TextBox 50"/>
          <p:cNvSpPr txBox="1"/>
          <p:nvPr/>
        </p:nvSpPr>
        <p:spPr>
          <a:xfrm>
            <a:off x="1873428" y="4600379"/>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2" name="Rectangle 59"/>
          <p:cNvSpPr>
            <a:spLocks noChangeArrowheads="1"/>
          </p:cNvSpPr>
          <p:nvPr/>
        </p:nvSpPr>
        <p:spPr bwMode="auto">
          <a:xfrm>
            <a:off x="1580899" y="5085185"/>
            <a:ext cx="20310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P(0. 001741))</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53" name="TextBox 52"/>
          <p:cNvSpPr txBox="1"/>
          <p:nvPr/>
        </p:nvSpPr>
        <p:spPr>
          <a:xfrm>
            <a:off x="1873428" y="5042052"/>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5" name="TextBox 54"/>
          <p:cNvSpPr txBox="1"/>
          <p:nvPr/>
        </p:nvSpPr>
        <p:spPr>
          <a:xfrm>
            <a:off x="1508618" y="5425974"/>
            <a:ext cx="3222357" cy="452432"/>
          </a:xfrm>
          <a:prstGeom prst="rect">
            <a:avLst/>
          </a:prstGeom>
          <a:noFill/>
        </p:spPr>
        <p:txBody>
          <a:bodyPr wrap="none" rtlCol="0">
            <a:spAutoFit/>
          </a:bodyPr>
          <a:lstStyle/>
          <a:p>
            <a:pPr>
              <a:lnSpc>
                <a:spcPct val="130000"/>
              </a:lnSpc>
              <a:buClr>
                <a:srgbClr val="C5003D"/>
              </a:buClr>
            </a:pPr>
            <a:r>
              <a:rPr lang="en-US" altLang="ko-KR" b="1" dirty="0"/>
              <a:t>= NORM.S.INV(1-0.001741)</a:t>
            </a:r>
            <a:endParaRPr lang="ko-KR" altLang="en-US" b="1" dirty="0"/>
          </a:p>
        </p:txBody>
      </p:sp>
      <p:sp>
        <p:nvSpPr>
          <p:cNvPr id="56" name="TextBox 55"/>
          <p:cNvSpPr txBox="1"/>
          <p:nvPr/>
        </p:nvSpPr>
        <p:spPr>
          <a:xfrm>
            <a:off x="1508618" y="5877272"/>
            <a:ext cx="1159292" cy="452432"/>
          </a:xfrm>
          <a:prstGeom prst="rect">
            <a:avLst/>
          </a:prstGeom>
          <a:noFill/>
        </p:spPr>
        <p:txBody>
          <a:bodyPr wrap="none" rtlCol="0">
            <a:spAutoFit/>
          </a:bodyPr>
          <a:lstStyle/>
          <a:p>
            <a:pPr>
              <a:lnSpc>
                <a:spcPct val="130000"/>
              </a:lnSpc>
              <a:buClr>
                <a:srgbClr val="C5003D"/>
              </a:buClr>
            </a:pPr>
            <a:r>
              <a:rPr lang="en-US" altLang="ko-KR" b="1" dirty="0"/>
              <a:t>= 2.9216</a:t>
            </a:r>
            <a:endParaRPr lang="ko-KR" altLang="en-US" b="1" dirty="0"/>
          </a:p>
        </p:txBody>
      </p:sp>
      <p:sp>
        <p:nvSpPr>
          <p:cNvPr id="54"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3539951811"/>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Process capability Summary</a:t>
            </a:r>
          </a:p>
        </p:txBody>
      </p:sp>
      <p:graphicFrame>
        <p:nvGraphicFramePr>
          <p:cNvPr id="5" name="표 4"/>
          <p:cNvGraphicFramePr>
            <a:graphicFrameLocks noGrp="1"/>
          </p:cNvGraphicFramePr>
          <p:nvPr>
            <p:extLst>
              <p:ext uri="{D42A27DB-BD31-4B8C-83A1-F6EECF244321}">
                <p14:modId xmlns:p14="http://schemas.microsoft.com/office/powerpoint/2010/main" val="3579688406"/>
              </p:ext>
            </p:extLst>
          </p:nvPr>
        </p:nvGraphicFramePr>
        <p:xfrm>
          <a:off x="1724758" y="1124745"/>
          <a:ext cx="5023926" cy="5631725"/>
        </p:xfrm>
        <a:graphic>
          <a:graphicData uri="http://schemas.openxmlformats.org/drawingml/2006/table">
            <a:tbl>
              <a:tblPr firstRow="1" bandRow="1">
                <a:tableStyleId>{5C22544A-7EE6-4342-B048-85BDC9FD1C3A}</a:tableStyleId>
              </a:tblPr>
              <a:tblGrid>
                <a:gridCol w="718332">
                  <a:extLst>
                    <a:ext uri="{9D8B030D-6E8A-4147-A177-3AD203B41FA5}">
                      <a16:colId xmlns:a16="http://schemas.microsoft.com/office/drawing/2014/main" val="20000"/>
                    </a:ext>
                  </a:extLst>
                </a:gridCol>
                <a:gridCol w="1257594">
                  <a:extLst>
                    <a:ext uri="{9D8B030D-6E8A-4147-A177-3AD203B41FA5}">
                      <a16:colId xmlns:a16="http://schemas.microsoft.com/office/drawing/2014/main" val="20001"/>
                    </a:ext>
                  </a:extLst>
                </a:gridCol>
                <a:gridCol w="1524000">
                  <a:extLst>
                    <a:ext uri="{9D8B030D-6E8A-4147-A177-3AD203B41FA5}">
                      <a16:colId xmlns:a16="http://schemas.microsoft.com/office/drawing/2014/main" val="20002"/>
                    </a:ext>
                  </a:extLst>
                </a:gridCol>
                <a:gridCol w="1524000">
                  <a:extLst>
                    <a:ext uri="{9D8B030D-6E8A-4147-A177-3AD203B41FA5}">
                      <a16:colId xmlns:a16="http://schemas.microsoft.com/office/drawing/2014/main" val="20003"/>
                    </a:ext>
                  </a:extLst>
                </a:gridCol>
              </a:tblGrid>
              <a:tr h="1401493">
                <a:tc gridSpan="2">
                  <a:txBody>
                    <a:bodyPr/>
                    <a:lstStyle/>
                    <a:p>
                      <a:pPr lvl="0" algn="ctr" latinLnBrk="1"/>
                      <a:r>
                        <a:rPr lang="en-US" altLang="ko-KR" sz="1400" b="1" i="0" baseline="0" dirty="0">
                          <a:solidFill>
                            <a:schemeClr val="tx1"/>
                          </a:solidFill>
                          <a:latin typeface="맑은 고딕" pitchFamily="50" charset="-127"/>
                          <a:ea typeface="맑은 고딕" pitchFamily="50" charset="-127"/>
                        </a:rPr>
                        <a:t>Basic</a:t>
                      </a:r>
                    </a:p>
                    <a:p>
                      <a:pPr lvl="0" algn="ctr" latinLnBrk="1"/>
                      <a:r>
                        <a:rPr lang="en-US" altLang="ko-KR" sz="1400" b="1" i="0" baseline="0" dirty="0">
                          <a:solidFill>
                            <a:schemeClr val="tx1"/>
                          </a:solidFill>
                          <a:latin typeface="맑은 고딕" pitchFamily="50" charset="-127"/>
                          <a:ea typeface="맑은 고딕" pitchFamily="50" charset="-127"/>
                        </a:rPr>
                        <a:t>Information</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09640">
                <a:tc rowSpan="2" gridSpan="2">
                  <a:txBody>
                    <a:bodyPr/>
                    <a:lstStyle/>
                    <a:p>
                      <a:pPr lvl="0" algn="ctr" latinLnBrk="1"/>
                      <a:r>
                        <a:rPr lang="en-US" altLang="ko-KR" sz="1400" b="1" i="0" baseline="0" dirty="0">
                          <a:solidFill>
                            <a:schemeClr val="tx1"/>
                          </a:solidFill>
                          <a:latin typeface="맑은 고딕" pitchFamily="50" charset="-127"/>
                          <a:ea typeface="맑은 고딕" pitchFamily="50" charset="-127"/>
                        </a:rPr>
                        <a:t>Pp, </a:t>
                      </a:r>
                      <a:r>
                        <a:rPr lang="en-US" altLang="ko-KR" sz="1400" b="1" i="0" baseline="0" dirty="0" err="1">
                          <a:solidFill>
                            <a:schemeClr val="tx1"/>
                          </a:solidFill>
                          <a:latin typeface="맑은 고딕" pitchFamily="50" charset="-127"/>
                          <a:ea typeface="맑은 고딕" pitchFamily="50" charset="-127"/>
                        </a:rPr>
                        <a:t>Ppk</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hMerge="1">
                  <a:txBody>
                    <a:bodyPr/>
                    <a:lstStyle/>
                    <a:p>
                      <a:pPr latinLnBrk="1"/>
                      <a:endParaRPr lang="ko-KR" altLang="en-US"/>
                    </a:p>
                  </a:txBody>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Pp = 0.95</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09640">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atinLnBrk="1"/>
                      <a:endParaRPr lang="ko-KR" altLang="en-US"/>
                    </a:p>
                  </a:txBody>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Ppk</a:t>
                      </a:r>
                      <a:r>
                        <a:rPr lang="en-US" altLang="ko-KR" sz="1400" b="1" i="0" baseline="0" dirty="0">
                          <a:solidFill>
                            <a:schemeClr val="tx1"/>
                          </a:solidFill>
                          <a:latin typeface="맑은 고딕" pitchFamily="50" charset="-127"/>
                          <a:ea typeface="맑은 고딕" pitchFamily="50" charset="-127"/>
                        </a:rPr>
                        <a:t> = 0.53</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09640">
                <a:tc rowSpan="2" gridSpan="2">
                  <a:txBody>
                    <a:bodyPr/>
                    <a:lstStyle/>
                    <a:p>
                      <a:pPr lvl="0" algn="ctr" latinLnBrk="1"/>
                      <a:r>
                        <a:rPr lang="en-US" altLang="ko-KR" sz="1400" b="1" i="0" baseline="0" dirty="0" err="1">
                          <a:solidFill>
                            <a:schemeClr val="tx1"/>
                          </a:solidFill>
                          <a:latin typeface="맑은 고딕" pitchFamily="50" charset="-127"/>
                          <a:ea typeface="맑은 고딕" pitchFamily="50" charset="-127"/>
                        </a:rPr>
                        <a:t>Cp</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Cpk</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hMerge="1">
                  <a:txBody>
                    <a:bodyPr/>
                    <a:lstStyle/>
                    <a:p>
                      <a:pPr latinLnBrk="1"/>
                      <a:endParaRPr lang="ko-KR" altLang="en-US"/>
                    </a:p>
                  </a:txBody>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Cp</a:t>
                      </a:r>
                      <a:r>
                        <a:rPr lang="en-US" altLang="ko-KR" sz="1400" b="1" i="0" baseline="0" dirty="0">
                          <a:solidFill>
                            <a:schemeClr val="tx1"/>
                          </a:solidFill>
                          <a:latin typeface="맑은 고딕" pitchFamily="50" charset="-127"/>
                          <a:ea typeface="맑은 고딕" pitchFamily="50" charset="-127"/>
                        </a:rPr>
                        <a:t> = 1.04</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09640">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atinLnBrk="1"/>
                      <a:endParaRPr lang="ko-KR" altLang="en-US"/>
                    </a:p>
                  </a:txBody>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Cpk</a:t>
                      </a:r>
                      <a:r>
                        <a:rPr lang="en-US" altLang="ko-KR" sz="1400" b="1" i="0" baseline="0" dirty="0">
                          <a:solidFill>
                            <a:schemeClr val="tx1"/>
                          </a:solidFill>
                          <a:latin typeface="맑은 고딕" pitchFamily="50" charset="-127"/>
                          <a:ea typeface="맑은 고딕" pitchFamily="50" charset="-127"/>
                        </a:rPr>
                        <a:t> = 0.58</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09640">
                <a:tc rowSpan="2" gridSpan="2">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Bench</a:t>
                      </a:r>
                      <a:r>
                        <a:rPr lang="en-US" altLang="ko-KR" sz="1400" b="1" i="0" baseline="0" dirty="0">
                          <a:solidFill>
                            <a:schemeClr val="tx1"/>
                          </a:solidFill>
                          <a:latin typeface="맑은 고딕" pitchFamily="50" charset="-127"/>
                          <a:ea typeface="맑은 고딕" pitchFamily="50" charset="-127"/>
                        </a:rPr>
                        <a:t> - Value</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h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Bench</a:t>
                      </a:r>
                      <a:r>
                        <a:rPr lang="en-US" altLang="ko-KR" sz="1400" b="1" i="0" baseline="0" dirty="0">
                          <a:solidFill>
                            <a:schemeClr val="tx1"/>
                          </a:solidFill>
                          <a:latin typeface="맑은 고딕" pitchFamily="50" charset="-127"/>
                          <a:ea typeface="맑은 고딕" pitchFamily="50" charset="-127"/>
                        </a:rPr>
                        <a:t>.</a:t>
                      </a:r>
                      <a:r>
                        <a:rPr lang="en-US" altLang="ko-KR" sz="1000" b="1" i="0" baseline="0" dirty="0">
                          <a:solidFill>
                            <a:schemeClr val="tx1"/>
                          </a:solidFill>
                          <a:latin typeface="맑은 고딕" pitchFamily="50" charset="-127"/>
                          <a:ea typeface="맑은 고딕" pitchFamily="50" charset="-127"/>
                        </a:rPr>
                        <a:t>ST</a:t>
                      </a:r>
                      <a:r>
                        <a:rPr lang="en-US" altLang="ko-KR" sz="1400" b="1" i="0" baseline="0" dirty="0">
                          <a:solidFill>
                            <a:schemeClr val="tx1"/>
                          </a:solidFill>
                          <a:latin typeface="맑은 고딕" pitchFamily="50" charset="-127"/>
                          <a:ea typeface="맑은 고딕" pitchFamily="50" charset="-127"/>
                        </a:rPr>
                        <a:t> = 2.92</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Shift</a:t>
                      </a:r>
                      <a:r>
                        <a:rPr lang="en-US" altLang="ko-KR" sz="1400" b="1" i="0" baseline="0" dirty="0">
                          <a:solidFill>
                            <a:schemeClr val="tx1"/>
                          </a:solidFill>
                          <a:latin typeface="맑은 고딕" pitchFamily="50" charset="-127"/>
                          <a:ea typeface="맑은 고딕" pitchFamily="50" charset="-127"/>
                        </a:rPr>
                        <a:t> = 1.33</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09640">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bench</a:t>
                      </a:r>
                      <a:r>
                        <a:rPr lang="en-US" altLang="ko-KR" sz="1400" b="1" i="0" baseline="0" dirty="0">
                          <a:solidFill>
                            <a:schemeClr val="tx1"/>
                          </a:solidFill>
                          <a:latin typeface="맑은 고딕" pitchFamily="50" charset="-127"/>
                          <a:ea typeface="맑은 고딕" pitchFamily="50" charset="-127"/>
                        </a:rPr>
                        <a:t>.</a:t>
                      </a:r>
                      <a:r>
                        <a:rPr lang="en-US" altLang="ko-KR" sz="1000" b="1" i="0" baseline="0" dirty="0">
                          <a:solidFill>
                            <a:schemeClr val="tx1"/>
                          </a:solidFill>
                          <a:latin typeface="맑은 고딕" pitchFamily="50" charset="-127"/>
                          <a:ea typeface="맑은 고딕" pitchFamily="50" charset="-127"/>
                        </a:rPr>
                        <a:t>LT</a:t>
                      </a:r>
                      <a:r>
                        <a:rPr lang="en-US" altLang="ko-KR" sz="1400" b="1" i="0" baseline="0" dirty="0">
                          <a:solidFill>
                            <a:schemeClr val="tx1"/>
                          </a:solidFill>
                          <a:latin typeface="맑은 고딕" pitchFamily="50" charset="-127"/>
                          <a:ea typeface="맑은 고딕" pitchFamily="50" charset="-127"/>
                        </a:rPr>
                        <a:t> = 1.59</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713756">
                <a:tc rowSpan="3">
                  <a:txBody>
                    <a:bodyPr/>
                    <a:lstStyle/>
                    <a:p>
                      <a:pPr lvl="0" algn="ctr" latinLnBrk="1"/>
                      <a:r>
                        <a:rPr lang="en-US" altLang="ko-KR" sz="1400" b="1" i="0" baseline="0" dirty="0">
                          <a:solidFill>
                            <a:schemeClr val="tx1"/>
                          </a:solidFill>
                          <a:latin typeface="맑은 고딕" pitchFamily="50" charset="-127"/>
                          <a:ea typeface="맑은 고딕" pitchFamily="50" charset="-127"/>
                        </a:rPr>
                        <a:t>Defect rate</a:t>
                      </a:r>
                    </a:p>
                    <a:p>
                      <a:pPr lvl="0" algn="ctr" latinLnBrk="1"/>
                      <a:r>
                        <a:rPr lang="en-US" altLang="ko-KR" sz="1400" b="1" i="0" baseline="0" dirty="0">
                          <a:solidFill>
                            <a:schemeClr val="tx1"/>
                          </a:solidFill>
                          <a:latin typeface="맑은 고딕" pitchFamily="50" charset="-127"/>
                          <a:ea typeface="맑은 고딕" pitchFamily="50" charset="-127"/>
                        </a:rPr>
                        <a:t>(</a:t>
                      </a:r>
                      <a:r>
                        <a:rPr lang="en-US" altLang="ko-KR" sz="1400" b="1" i="0" baseline="0" dirty="0" err="1">
                          <a:solidFill>
                            <a:schemeClr val="tx1"/>
                          </a:solidFill>
                          <a:latin typeface="맑은 고딕" pitchFamily="50" charset="-127"/>
                          <a:ea typeface="맑은 고딕" pitchFamily="50" charset="-127"/>
                        </a:rPr>
                        <a:t>ppm</a:t>
                      </a:r>
                      <a:r>
                        <a:rPr lang="en-US" altLang="ko-KR" sz="1400" b="1" i="0" baseline="0" dirty="0">
                          <a:solidFill>
                            <a:schemeClr val="tx1"/>
                          </a:solidFill>
                          <a:latin typeface="맑은 고딕" pitchFamily="50" charset="-127"/>
                          <a:ea typeface="맑은 고딕" pitchFamily="50" charset="-127"/>
                        </a:rPr>
                        <a:t>)</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Observe defect</a:t>
                      </a:r>
                    </a:p>
                    <a:p>
                      <a:pPr lvl="0" algn="ctr" latinLnBrk="1"/>
                      <a:r>
                        <a:rPr lang="en-US" altLang="ko-KR" sz="1400" b="1" i="0" baseline="0" dirty="0">
                          <a:solidFill>
                            <a:schemeClr val="tx1"/>
                          </a:solidFill>
                          <a:latin typeface="맑은 고딕" pitchFamily="50" charset="-127"/>
                          <a:ea typeface="맑은 고딕" pitchFamily="50" charset="-127"/>
                        </a:rPr>
                        <a:t>(Measured</a:t>
                      </a:r>
                      <a:r>
                        <a:rPr lang="ko-KR" altLang="en-US" sz="1400" b="1" i="0" baseline="0" dirty="0">
                          <a:solidFill>
                            <a:schemeClr val="tx1"/>
                          </a:solidFill>
                          <a:latin typeface="맑은 고딕" pitchFamily="50" charset="-127"/>
                          <a:ea typeface="맑은 고딕" pitchFamily="50" charset="-127"/>
                        </a:rPr>
                        <a:t> </a:t>
                      </a:r>
                      <a:r>
                        <a:rPr lang="en-US" altLang="ko-KR" sz="1400" b="1" i="0" baseline="0" dirty="0">
                          <a:solidFill>
                            <a:schemeClr val="tx1"/>
                          </a:solidFill>
                          <a:latin typeface="맑은 고딕" pitchFamily="50" charset="-127"/>
                          <a:ea typeface="맑은 고딕" pitchFamily="50" charset="-127"/>
                        </a:rPr>
                        <a:t>Data)</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713756">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Short-Term</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713756">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1" i="0" baseline="0" dirty="0">
                          <a:solidFill>
                            <a:schemeClr val="tx1"/>
                          </a:solidFill>
                          <a:latin typeface="맑은 고딕" pitchFamily="50" charset="-127"/>
                          <a:ea typeface="맑은 고딕" pitchFamily="50" charset="-127"/>
                        </a:rPr>
                        <a:t>Long-Term</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12"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2516" t="15983" r="76916" b="64556"/>
          <a:stretch/>
        </p:blipFill>
        <p:spPr bwMode="auto">
          <a:xfrm>
            <a:off x="3763400" y="1175540"/>
            <a:ext cx="1399050" cy="1296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790" t="85941" r="78372" b="4175"/>
          <a:stretch/>
        </p:blipFill>
        <p:spPr bwMode="auto">
          <a:xfrm>
            <a:off x="3774373" y="4415904"/>
            <a:ext cx="1395847" cy="6274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6477" t="85486" r="50295" b="3871"/>
          <a:stretch/>
        </p:blipFill>
        <p:spPr bwMode="auto">
          <a:xfrm>
            <a:off x="3774373" y="5160590"/>
            <a:ext cx="1395847" cy="576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22895" t="85718" r="64026" b="4259"/>
          <a:stretch/>
        </p:blipFill>
        <p:spPr bwMode="auto">
          <a:xfrm>
            <a:off x="3798277" y="5830664"/>
            <a:ext cx="1371943" cy="686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790" t="88809" r="86743" b="4175"/>
          <a:stretch/>
        </p:blipFill>
        <p:spPr bwMode="auto">
          <a:xfrm>
            <a:off x="3791887" y="6038180"/>
            <a:ext cx="676414" cy="464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389" t="88209" r="86743" b="4175"/>
          <a:stretch/>
        </p:blipFill>
        <p:spPr bwMode="auto">
          <a:xfrm>
            <a:off x="3840842" y="5304606"/>
            <a:ext cx="627460" cy="437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237</a:t>
            </a:fld>
            <a:endParaRPr lang="ko-KR" altLang="en-US" dirty="0">
              <a:solidFill>
                <a:prstClr val="black"/>
              </a:solidFill>
            </a:endParaRPr>
          </a:p>
        </p:txBody>
      </p:sp>
    </p:spTree>
    <p:extLst>
      <p:ext uri="{BB962C8B-B14F-4D97-AF65-F5344CB8AC3E}">
        <p14:creationId xmlns:p14="http://schemas.microsoft.com/office/powerpoint/2010/main" val="1559444753"/>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238</a:t>
            </a:fld>
            <a:endParaRPr lang="ko-KR" altLang="en-US" dirty="0">
              <a:solidFill>
                <a:prstClr val="black"/>
              </a:solidFill>
            </a:endParaRPr>
          </a:p>
        </p:txBody>
      </p:sp>
      <p:sp>
        <p:nvSpPr>
          <p:cNvPr id="3" name="TextBox 2"/>
          <p:cNvSpPr txBox="1"/>
          <p:nvPr/>
        </p:nvSpPr>
        <p:spPr>
          <a:xfrm>
            <a:off x="317989" y="836713"/>
            <a:ext cx="3729419" cy="412421"/>
          </a:xfrm>
          <a:prstGeom prst="rect">
            <a:avLst/>
          </a:prstGeom>
          <a:noFill/>
        </p:spPr>
        <p:txBody>
          <a:bodyPr wrap="none" rtlCol="0">
            <a:spAutoFit/>
          </a:bodyPr>
          <a:lstStyle/>
          <a:p>
            <a:pPr marL="342900" indent="-342900">
              <a:lnSpc>
                <a:spcPct val="130000"/>
              </a:lnSpc>
              <a:buClr>
                <a:schemeClr val="tx1"/>
              </a:buClr>
              <a:buFont typeface="Wingdings" panose="05000000000000000000" pitchFamily="2" charset="2"/>
              <a:buChar char="u"/>
            </a:pPr>
            <a:r>
              <a:rPr lang="en-US" altLang="ko-KR" sz="1600" b="1" dirty="0" err="1"/>
              <a:t>Tính</a:t>
            </a:r>
            <a:r>
              <a:rPr lang="en-US" altLang="ko-KR" sz="1600" b="1" dirty="0"/>
              <a:t> </a:t>
            </a:r>
            <a:r>
              <a:rPr lang="en-US" altLang="ko-KR" sz="1600" b="1" dirty="0" err="1"/>
              <a:t>toán</a:t>
            </a:r>
            <a:r>
              <a:rPr lang="en-US" altLang="ko-KR" sz="1600" b="1" dirty="0"/>
              <a:t> </a:t>
            </a:r>
            <a:r>
              <a:rPr lang="en-US" altLang="ko-KR" sz="1600" b="1" dirty="0" err="1"/>
              <a:t>giá</a:t>
            </a:r>
            <a:r>
              <a:rPr lang="en-US" altLang="ko-KR" sz="1600" b="1" dirty="0"/>
              <a:t> </a:t>
            </a:r>
            <a:r>
              <a:rPr lang="en-US" altLang="ko-KR" sz="1600" b="1" dirty="0" err="1"/>
              <a:t>trị</a:t>
            </a:r>
            <a:r>
              <a:rPr lang="ko-KR" altLang="en-US" sz="1600" b="1" dirty="0"/>
              <a:t> </a:t>
            </a:r>
            <a:r>
              <a:rPr lang="en-US" altLang="ko-KR" sz="1600" b="1" dirty="0" err="1"/>
              <a:t>Zst</a:t>
            </a:r>
            <a:r>
              <a:rPr lang="en-US" altLang="ko-KR" sz="1600" b="1" dirty="0"/>
              <a:t> </a:t>
            </a:r>
            <a:r>
              <a:rPr lang="en-US" altLang="ko-KR" sz="1600" b="1" dirty="0" err="1"/>
              <a:t>trong</a:t>
            </a:r>
            <a:r>
              <a:rPr lang="en-US" altLang="ko-KR" sz="1600" b="1" dirty="0"/>
              <a:t> excel</a:t>
            </a:r>
            <a:endParaRPr lang="ko-KR" altLang="en-US" sz="1600" b="1" dirty="0"/>
          </a:p>
        </p:txBody>
      </p:sp>
      <p:sp>
        <p:nvSpPr>
          <p:cNvPr id="4" name="TextBox 3"/>
          <p:cNvSpPr txBox="1"/>
          <p:nvPr/>
        </p:nvSpPr>
        <p:spPr>
          <a:xfrm>
            <a:off x="3606805" y="908721"/>
            <a:ext cx="4580100" cy="307777"/>
          </a:xfrm>
          <a:prstGeom prst="rect">
            <a:avLst/>
          </a:prstGeom>
          <a:noFill/>
        </p:spPr>
        <p:txBody>
          <a:bodyPr wrap="none" rtlCol="0">
            <a:spAutoFit/>
          </a:bodyPr>
          <a:lstStyle/>
          <a:p>
            <a:pPr fontAlgn="auto" latinLnBrk="0">
              <a:spcBef>
                <a:spcPts val="0"/>
              </a:spcBef>
              <a:spcAft>
                <a:spcPts val="0"/>
              </a:spcAft>
              <a:buClr>
                <a:srgbClr val="595959"/>
              </a:buClr>
              <a:defRPr/>
            </a:pPr>
            <a:r>
              <a:rPr kumimoji="0" lang="en-US" altLang="ko-KR" sz="1400" kern="0" dirty="0" err="1">
                <a:solidFill>
                  <a:srgbClr val="00B050"/>
                </a:solidFill>
                <a:latin typeface="맑은 고딕" pitchFamily="50" charset="-127"/>
                <a:ea typeface="맑은 고딕" pitchFamily="50" charset="-127"/>
              </a:rPr>
              <a:t>StDev</a:t>
            </a:r>
            <a:r>
              <a:rPr kumimoji="0" lang="en-US" altLang="ko-KR" sz="1400" kern="0" dirty="0">
                <a:solidFill>
                  <a:srgbClr val="00B050"/>
                </a:solidFill>
                <a:latin typeface="맑은 고딕" pitchFamily="50" charset="-127"/>
                <a:ea typeface="맑은 고딕" pitchFamily="50" charset="-127"/>
              </a:rPr>
              <a:t>(within) </a:t>
            </a:r>
            <a:r>
              <a:rPr kumimoji="0" lang="ko-KR" altLang="en-US" sz="1400" kern="0" dirty="0">
                <a:solidFill>
                  <a:srgbClr val="00B050"/>
                </a:solidFill>
                <a:latin typeface="맑은 고딕" pitchFamily="50" charset="-127"/>
                <a:ea typeface="맑은 고딕" pitchFamily="50" charset="-127"/>
              </a:rPr>
              <a:t> </a:t>
            </a:r>
            <a:r>
              <a:rPr kumimoji="0" lang="en-US" altLang="ko-KR" sz="1400" kern="0" dirty="0">
                <a:solidFill>
                  <a:srgbClr val="00B050"/>
                </a:solidFill>
                <a:latin typeface="맑은 고딕" pitchFamily="50" charset="-127"/>
                <a:ea typeface="맑은 고딕" pitchFamily="50" charset="-127"/>
              </a:rPr>
              <a:t>0.159687  </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a:t>
            </a:r>
            <a:r>
              <a:rPr kumimoji="0" lang="en-US" altLang="ko-KR" sz="1400" kern="0" dirty="0" err="1">
                <a:solidFill>
                  <a:srgbClr val="00B050"/>
                </a:solidFill>
                <a:latin typeface="맑은 고딕" pitchFamily="50" charset="-127"/>
                <a:ea typeface="맑은 고딕" pitchFamily="50" charset="-127"/>
                <a:sym typeface="Wingdings" panose="05000000000000000000" pitchFamily="2" charset="2"/>
              </a:rPr>
              <a:t>Độ</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 </a:t>
            </a:r>
            <a:r>
              <a:rPr kumimoji="0" lang="en-US" altLang="ko-KR" sz="1400" kern="0" dirty="0" err="1">
                <a:solidFill>
                  <a:srgbClr val="00B050"/>
                </a:solidFill>
                <a:latin typeface="맑은 고딕" pitchFamily="50" charset="-127"/>
                <a:ea typeface="맑은 고딕" pitchFamily="50" charset="-127"/>
                <a:sym typeface="Wingdings" panose="05000000000000000000" pitchFamily="2" charset="2"/>
              </a:rPr>
              <a:t>lệch</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 </a:t>
            </a:r>
            <a:r>
              <a:rPr kumimoji="0" lang="en-US" altLang="ko-KR" sz="1400" kern="0" dirty="0" err="1">
                <a:solidFill>
                  <a:srgbClr val="00B050"/>
                </a:solidFill>
                <a:latin typeface="맑은 고딕" pitchFamily="50" charset="-127"/>
                <a:ea typeface="맑은 고딕" pitchFamily="50" charset="-127"/>
                <a:sym typeface="Wingdings" panose="05000000000000000000" pitchFamily="2" charset="2"/>
              </a:rPr>
              <a:t>tiêu</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 </a:t>
            </a:r>
            <a:r>
              <a:rPr kumimoji="0" lang="en-US" altLang="ko-KR" sz="1400" kern="0" dirty="0" err="1">
                <a:solidFill>
                  <a:srgbClr val="00B050"/>
                </a:solidFill>
                <a:latin typeface="맑은 고딕" pitchFamily="50" charset="-127"/>
                <a:ea typeface="맑은 고딕" pitchFamily="50" charset="-127"/>
                <a:sym typeface="Wingdings" panose="05000000000000000000" pitchFamily="2" charset="2"/>
              </a:rPr>
              <a:t>chuẩn</a:t>
            </a:r>
            <a:r>
              <a:rPr kumimoji="0" lang="en-US" altLang="ko-KR" sz="1400" kern="0" dirty="0">
                <a:solidFill>
                  <a:srgbClr val="00B050"/>
                </a:solidFill>
                <a:latin typeface="맑은 고딕" pitchFamily="50" charset="-127"/>
                <a:ea typeface="맑은 고딕" pitchFamily="50" charset="-127"/>
                <a:sym typeface="Wingdings" panose="05000000000000000000" pitchFamily="2" charset="2"/>
              </a:rPr>
              <a:t> </a:t>
            </a:r>
            <a:r>
              <a:rPr kumimoji="0" lang="en-US" altLang="ko-KR" sz="1400" kern="0" dirty="0" err="1">
                <a:solidFill>
                  <a:srgbClr val="00B050"/>
                </a:solidFill>
                <a:latin typeface="맑은 고딕" pitchFamily="50" charset="-127"/>
                <a:ea typeface="맑은 고딕" pitchFamily="50" charset="-127"/>
                <a:sym typeface="Wingdings" panose="05000000000000000000" pitchFamily="2" charset="2"/>
              </a:rPr>
              <a:t>chung</a:t>
            </a:r>
            <a:endParaRPr kumimoji="0" lang="en-US" altLang="ko-KR" sz="1400" kern="0" dirty="0">
              <a:solidFill>
                <a:srgbClr val="00B050"/>
              </a:solidFill>
              <a:latin typeface="맑은 고딕" pitchFamily="50" charset="-127"/>
              <a:ea typeface="맑은 고딕" pitchFamily="50" charset="-127"/>
            </a:endParaRPr>
          </a:p>
        </p:txBody>
      </p:sp>
      <p:sp>
        <p:nvSpPr>
          <p:cNvPr id="5" name="Line 56"/>
          <p:cNvSpPr>
            <a:spLocks noChangeShapeType="1"/>
          </p:cNvSpPr>
          <p:nvPr/>
        </p:nvSpPr>
        <p:spPr bwMode="auto">
          <a:xfrm>
            <a:off x="1691677" y="180898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6" name="Rectangle 57"/>
          <p:cNvSpPr>
            <a:spLocks noChangeArrowheads="1"/>
          </p:cNvSpPr>
          <p:nvPr/>
        </p:nvSpPr>
        <p:spPr bwMode="auto">
          <a:xfrm>
            <a:off x="2105645" y="1816220"/>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7" name="Rectangle 58"/>
          <p:cNvSpPr>
            <a:spLocks noChangeArrowheads="1"/>
          </p:cNvSpPr>
          <p:nvPr/>
        </p:nvSpPr>
        <p:spPr bwMode="auto">
          <a:xfrm>
            <a:off x="2133688" y="148478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8" name="Rectangle 59"/>
          <p:cNvSpPr>
            <a:spLocks noChangeArrowheads="1"/>
          </p:cNvSpPr>
          <p:nvPr/>
        </p:nvSpPr>
        <p:spPr bwMode="auto">
          <a:xfrm>
            <a:off x="1506060" y="163241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9" name="Rectangle 61"/>
          <p:cNvSpPr>
            <a:spLocks noChangeArrowheads="1"/>
          </p:cNvSpPr>
          <p:nvPr/>
        </p:nvSpPr>
        <p:spPr bwMode="auto">
          <a:xfrm>
            <a:off x="2403434" y="1510837"/>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T</a:t>
            </a:r>
            <a:endParaRPr lang="en-US" altLang="ko-KR" baseline="0" dirty="0">
              <a:solidFill>
                <a:srgbClr val="000000"/>
              </a:solidFill>
              <a:latin typeface="Times New Roman" pitchFamily="18" charset="0"/>
              <a:ea typeface="굴림" pitchFamily="50" charset="-127"/>
            </a:endParaRPr>
          </a:p>
        </p:txBody>
      </p:sp>
      <p:sp>
        <p:nvSpPr>
          <p:cNvPr id="10" name="Rectangle 62"/>
          <p:cNvSpPr>
            <a:spLocks noChangeArrowheads="1"/>
          </p:cNvSpPr>
          <p:nvPr/>
        </p:nvSpPr>
        <p:spPr bwMode="auto">
          <a:xfrm>
            <a:off x="1794501" y="1510837"/>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11" name="Rectangle 63"/>
          <p:cNvSpPr>
            <a:spLocks noChangeArrowheads="1"/>
          </p:cNvSpPr>
          <p:nvPr/>
        </p:nvSpPr>
        <p:spPr bwMode="auto">
          <a:xfrm>
            <a:off x="916209" y="1659910"/>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12" name="Rectangle 64"/>
          <p:cNvSpPr>
            <a:spLocks noChangeArrowheads="1"/>
          </p:cNvSpPr>
          <p:nvPr/>
        </p:nvSpPr>
        <p:spPr bwMode="auto">
          <a:xfrm>
            <a:off x="1031053" y="1803194"/>
            <a:ext cx="429605"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ST(USL)</a:t>
            </a:r>
            <a:endParaRPr lang="en-US" altLang="ko-KR" baseline="0" dirty="0">
              <a:solidFill>
                <a:srgbClr val="000000"/>
              </a:solidFill>
              <a:latin typeface="Times New Roman" pitchFamily="18" charset="0"/>
              <a:ea typeface="굴림" pitchFamily="50" charset="-127"/>
            </a:endParaRPr>
          </a:p>
        </p:txBody>
      </p:sp>
      <p:sp>
        <p:nvSpPr>
          <p:cNvPr id="13" name="Rectangle 94"/>
          <p:cNvSpPr>
            <a:spLocks noChangeArrowheads="1"/>
          </p:cNvSpPr>
          <p:nvPr/>
        </p:nvSpPr>
        <p:spPr bwMode="auto">
          <a:xfrm>
            <a:off x="2324850" y="192042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14" name="TextBox 13"/>
          <p:cNvSpPr txBox="1"/>
          <p:nvPr/>
        </p:nvSpPr>
        <p:spPr>
          <a:xfrm>
            <a:off x="2156148" y="1925325"/>
            <a:ext cx="288862" cy="232371"/>
          </a:xfrm>
          <a:prstGeom prst="rect">
            <a:avLst/>
          </a:prstGeom>
          <a:noFill/>
        </p:spPr>
        <p:txBody>
          <a:bodyPr wrap="none" rtlCol="0">
            <a:spAutoFit/>
          </a:bodyPr>
          <a:lstStyle/>
          <a:p>
            <a:pPr>
              <a:lnSpc>
                <a:spcPct val="130000"/>
              </a:lnSpc>
              <a:buClr>
                <a:srgbClr val="C5003D"/>
              </a:buClr>
            </a:pPr>
            <a:r>
              <a:rPr lang="en-US" altLang="ko-KR" sz="700" b="1" dirty="0"/>
              <a:t>ST</a:t>
            </a:r>
            <a:endParaRPr lang="ko-KR" altLang="en-US" sz="700" b="1" dirty="0"/>
          </a:p>
        </p:txBody>
      </p:sp>
      <p:sp>
        <p:nvSpPr>
          <p:cNvPr id="15" name="Line 56"/>
          <p:cNvSpPr>
            <a:spLocks noChangeShapeType="1"/>
          </p:cNvSpPr>
          <p:nvPr/>
        </p:nvSpPr>
        <p:spPr bwMode="auto">
          <a:xfrm>
            <a:off x="1700047" y="2529063"/>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16" name="Rectangle 57"/>
          <p:cNvSpPr>
            <a:spLocks noChangeArrowheads="1"/>
          </p:cNvSpPr>
          <p:nvPr/>
        </p:nvSpPr>
        <p:spPr bwMode="auto">
          <a:xfrm>
            <a:off x="2012100" y="2536300"/>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0.1597</a:t>
            </a:r>
            <a:endParaRPr lang="en-US" altLang="ko-KR" baseline="0" dirty="0">
              <a:solidFill>
                <a:srgbClr val="000000"/>
              </a:solidFill>
              <a:latin typeface="Times New Roman" pitchFamily="18" charset="0"/>
              <a:ea typeface="굴림" pitchFamily="50" charset="-127"/>
            </a:endParaRPr>
          </a:p>
        </p:txBody>
      </p:sp>
      <p:sp>
        <p:nvSpPr>
          <p:cNvPr id="17" name="Rectangle 58"/>
          <p:cNvSpPr>
            <a:spLocks noChangeArrowheads="1"/>
          </p:cNvSpPr>
          <p:nvPr/>
        </p:nvSpPr>
        <p:spPr bwMode="auto">
          <a:xfrm>
            <a:off x="2046181" y="2204865"/>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8" name="Rectangle 59"/>
          <p:cNvSpPr>
            <a:spLocks noChangeArrowheads="1"/>
          </p:cNvSpPr>
          <p:nvPr/>
        </p:nvSpPr>
        <p:spPr bwMode="auto">
          <a:xfrm>
            <a:off x="1514429" y="2352491"/>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19" name="Rectangle 61"/>
          <p:cNvSpPr>
            <a:spLocks noChangeArrowheads="1"/>
          </p:cNvSpPr>
          <p:nvPr/>
        </p:nvSpPr>
        <p:spPr bwMode="auto">
          <a:xfrm>
            <a:off x="2315927" y="2230917"/>
            <a:ext cx="2885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5.5</a:t>
            </a:r>
            <a:endParaRPr lang="en-US" altLang="ko-KR" baseline="0" dirty="0">
              <a:solidFill>
                <a:srgbClr val="000000"/>
              </a:solidFill>
              <a:latin typeface="Times New Roman" pitchFamily="18" charset="0"/>
              <a:ea typeface="굴림" pitchFamily="50" charset="-127"/>
            </a:endParaRPr>
          </a:p>
        </p:txBody>
      </p:sp>
      <p:sp>
        <p:nvSpPr>
          <p:cNvPr id="20" name="Rectangle 62"/>
          <p:cNvSpPr>
            <a:spLocks noChangeArrowheads="1"/>
          </p:cNvSpPr>
          <p:nvPr/>
        </p:nvSpPr>
        <p:spPr bwMode="auto">
          <a:xfrm>
            <a:off x="1802871" y="2230917"/>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6</a:t>
            </a:r>
            <a:endParaRPr lang="en-US" altLang="ko-KR" baseline="0" dirty="0">
              <a:solidFill>
                <a:srgbClr val="000000"/>
              </a:solidFill>
              <a:latin typeface="Times New Roman" pitchFamily="18" charset="0"/>
              <a:ea typeface="굴림" pitchFamily="50" charset="-127"/>
            </a:endParaRPr>
          </a:p>
        </p:txBody>
      </p:sp>
      <p:sp>
        <p:nvSpPr>
          <p:cNvPr id="21" name="Rectangle 94"/>
          <p:cNvSpPr>
            <a:spLocks noChangeArrowheads="1"/>
          </p:cNvSpPr>
          <p:nvPr/>
        </p:nvSpPr>
        <p:spPr bwMode="auto">
          <a:xfrm>
            <a:off x="2333220" y="2640506"/>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23" name="Rectangle 59"/>
          <p:cNvSpPr>
            <a:spLocks noChangeArrowheads="1"/>
          </p:cNvSpPr>
          <p:nvPr/>
        </p:nvSpPr>
        <p:spPr bwMode="auto">
          <a:xfrm>
            <a:off x="2901643" y="2352491"/>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3.1311</a:t>
            </a:r>
            <a:endParaRPr lang="en-US" altLang="ko-KR" baseline="0" dirty="0">
              <a:solidFill>
                <a:srgbClr val="000000"/>
              </a:solidFill>
              <a:latin typeface="Times New Roman" pitchFamily="18" charset="0"/>
              <a:ea typeface="굴림" pitchFamily="50" charset="-127"/>
            </a:endParaRPr>
          </a:p>
        </p:txBody>
      </p:sp>
      <p:sp>
        <p:nvSpPr>
          <p:cNvPr id="24" name="Line 56"/>
          <p:cNvSpPr>
            <a:spLocks noChangeShapeType="1"/>
          </p:cNvSpPr>
          <p:nvPr/>
        </p:nvSpPr>
        <p:spPr bwMode="auto">
          <a:xfrm>
            <a:off x="1691677" y="332115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25" name="Rectangle 57"/>
          <p:cNvSpPr>
            <a:spLocks noChangeArrowheads="1"/>
          </p:cNvSpPr>
          <p:nvPr/>
        </p:nvSpPr>
        <p:spPr bwMode="auto">
          <a:xfrm>
            <a:off x="2105645" y="3328388"/>
            <a:ext cx="13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s</a:t>
            </a:r>
            <a:endParaRPr lang="en-US" altLang="ko-KR" baseline="0" dirty="0">
              <a:solidFill>
                <a:srgbClr val="000000"/>
              </a:solidFill>
              <a:latin typeface="Times New Roman" pitchFamily="18" charset="0"/>
              <a:ea typeface="굴림" pitchFamily="50" charset="-127"/>
            </a:endParaRPr>
          </a:p>
        </p:txBody>
      </p:sp>
      <p:sp>
        <p:nvSpPr>
          <p:cNvPr id="26" name="Rectangle 58"/>
          <p:cNvSpPr>
            <a:spLocks noChangeArrowheads="1"/>
          </p:cNvSpPr>
          <p:nvPr/>
        </p:nvSpPr>
        <p:spPr bwMode="auto">
          <a:xfrm>
            <a:off x="2133688" y="299695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7" name="Rectangle 59"/>
          <p:cNvSpPr>
            <a:spLocks noChangeArrowheads="1"/>
          </p:cNvSpPr>
          <p:nvPr/>
        </p:nvSpPr>
        <p:spPr bwMode="auto">
          <a:xfrm>
            <a:off x="1506060" y="314457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28" name="Rectangle 61"/>
          <p:cNvSpPr>
            <a:spLocks noChangeArrowheads="1"/>
          </p:cNvSpPr>
          <p:nvPr/>
        </p:nvSpPr>
        <p:spPr bwMode="auto">
          <a:xfrm>
            <a:off x="1859528" y="3023005"/>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T</a:t>
            </a:r>
            <a:endParaRPr lang="en-US" altLang="ko-KR" baseline="0" dirty="0">
              <a:solidFill>
                <a:srgbClr val="000000"/>
              </a:solidFill>
              <a:latin typeface="Times New Roman" pitchFamily="18" charset="0"/>
              <a:ea typeface="굴림" pitchFamily="50" charset="-127"/>
            </a:endParaRPr>
          </a:p>
        </p:txBody>
      </p:sp>
      <p:sp>
        <p:nvSpPr>
          <p:cNvPr id="29" name="Rectangle 62"/>
          <p:cNvSpPr>
            <a:spLocks noChangeArrowheads="1"/>
          </p:cNvSpPr>
          <p:nvPr/>
        </p:nvSpPr>
        <p:spPr bwMode="auto">
          <a:xfrm>
            <a:off x="2378526" y="3023005"/>
            <a:ext cx="269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SL</a:t>
            </a:r>
            <a:endParaRPr lang="en-US" altLang="ko-KR" baseline="0" dirty="0">
              <a:solidFill>
                <a:srgbClr val="000000"/>
              </a:solidFill>
              <a:latin typeface="Times New Roman" pitchFamily="18" charset="0"/>
              <a:ea typeface="굴림" pitchFamily="50" charset="-127"/>
            </a:endParaRPr>
          </a:p>
        </p:txBody>
      </p:sp>
      <p:sp>
        <p:nvSpPr>
          <p:cNvPr id="30" name="Rectangle 63"/>
          <p:cNvSpPr>
            <a:spLocks noChangeArrowheads="1"/>
          </p:cNvSpPr>
          <p:nvPr/>
        </p:nvSpPr>
        <p:spPr bwMode="auto">
          <a:xfrm>
            <a:off x="916209" y="3172078"/>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31" name="Rectangle 64"/>
          <p:cNvSpPr>
            <a:spLocks noChangeArrowheads="1"/>
          </p:cNvSpPr>
          <p:nvPr/>
        </p:nvSpPr>
        <p:spPr bwMode="auto">
          <a:xfrm>
            <a:off x="1031052" y="3315362"/>
            <a:ext cx="416781"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ST(LSL)</a:t>
            </a:r>
            <a:endParaRPr lang="en-US" altLang="ko-KR" baseline="0" dirty="0">
              <a:solidFill>
                <a:srgbClr val="000000"/>
              </a:solidFill>
              <a:latin typeface="Times New Roman" pitchFamily="18" charset="0"/>
              <a:ea typeface="굴림" pitchFamily="50" charset="-127"/>
            </a:endParaRPr>
          </a:p>
        </p:txBody>
      </p:sp>
      <p:sp>
        <p:nvSpPr>
          <p:cNvPr id="32" name="Rectangle 94"/>
          <p:cNvSpPr>
            <a:spLocks noChangeArrowheads="1"/>
          </p:cNvSpPr>
          <p:nvPr/>
        </p:nvSpPr>
        <p:spPr bwMode="auto">
          <a:xfrm>
            <a:off x="2324850" y="343259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33" name="TextBox 32"/>
          <p:cNvSpPr txBox="1"/>
          <p:nvPr/>
        </p:nvSpPr>
        <p:spPr>
          <a:xfrm>
            <a:off x="2156148" y="3437493"/>
            <a:ext cx="288862" cy="232371"/>
          </a:xfrm>
          <a:prstGeom prst="rect">
            <a:avLst/>
          </a:prstGeom>
          <a:noFill/>
        </p:spPr>
        <p:txBody>
          <a:bodyPr wrap="none" rtlCol="0">
            <a:spAutoFit/>
          </a:bodyPr>
          <a:lstStyle/>
          <a:p>
            <a:pPr>
              <a:lnSpc>
                <a:spcPct val="130000"/>
              </a:lnSpc>
              <a:buClr>
                <a:srgbClr val="C5003D"/>
              </a:buClr>
            </a:pPr>
            <a:r>
              <a:rPr lang="en-US" altLang="ko-KR" sz="700" b="1" dirty="0"/>
              <a:t>ST</a:t>
            </a:r>
            <a:endParaRPr lang="ko-KR" altLang="en-US" sz="700" b="1" dirty="0"/>
          </a:p>
        </p:txBody>
      </p:sp>
      <p:sp>
        <p:nvSpPr>
          <p:cNvPr id="34" name="Line 56"/>
          <p:cNvSpPr>
            <a:spLocks noChangeShapeType="1"/>
          </p:cNvSpPr>
          <p:nvPr/>
        </p:nvSpPr>
        <p:spPr bwMode="auto">
          <a:xfrm>
            <a:off x="1657915" y="4041231"/>
            <a:ext cx="1085662" cy="1447"/>
          </a:xfrm>
          <a:prstGeom prst="line">
            <a:avLst/>
          </a:prstGeom>
          <a:noFill/>
          <a:ln w="11113">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ko-KR" altLang="en-US" sz="1200" baseline="-25000" dirty="0">
              <a:solidFill>
                <a:srgbClr val="000000"/>
              </a:solidFill>
              <a:latin typeface="맑은 고딕" pitchFamily="50" charset="-127"/>
              <a:ea typeface="맑은 고딕" pitchFamily="50" charset="-127"/>
            </a:endParaRPr>
          </a:p>
        </p:txBody>
      </p:sp>
      <p:sp>
        <p:nvSpPr>
          <p:cNvPr id="35" name="Rectangle 57"/>
          <p:cNvSpPr>
            <a:spLocks noChangeArrowheads="1"/>
          </p:cNvSpPr>
          <p:nvPr/>
        </p:nvSpPr>
        <p:spPr bwMode="auto">
          <a:xfrm>
            <a:off x="1969968" y="4048468"/>
            <a:ext cx="6347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0.1597</a:t>
            </a:r>
            <a:endParaRPr lang="en-US" altLang="ko-KR" baseline="0" dirty="0">
              <a:solidFill>
                <a:srgbClr val="000000"/>
              </a:solidFill>
              <a:latin typeface="Times New Roman" pitchFamily="18" charset="0"/>
              <a:ea typeface="굴림" pitchFamily="50" charset="-127"/>
            </a:endParaRPr>
          </a:p>
        </p:txBody>
      </p:sp>
      <p:sp>
        <p:nvSpPr>
          <p:cNvPr id="36" name="Rectangle 58"/>
          <p:cNvSpPr>
            <a:spLocks noChangeArrowheads="1"/>
          </p:cNvSpPr>
          <p:nvPr/>
        </p:nvSpPr>
        <p:spPr bwMode="auto">
          <a:xfrm>
            <a:off x="2232863" y="3717033"/>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7" name="Rectangle 59"/>
          <p:cNvSpPr>
            <a:spLocks noChangeArrowheads="1"/>
          </p:cNvSpPr>
          <p:nvPr/>
        </p:nvSpPr>
        <p:spPr bwMode="auto">
          <a:xfrm>
            <a:off x="1472297" y="3864659"/>
            <a:ext cx="12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a:t>
            </a:r>
            <a:endParaRPr lang="en-US" altLang="ko-KR" baseline="0" dirty="0">
              <a:solidFill>
                <a:srgbClr val="000000"/>
              </a:solidFill>
              <a:latin typeface="Times New Roman" pitchFamily="18" charset="0"/>
              <a:ea typeface="굴림" pitchFamily="50" charset="-127"/>
            </a:endParaRPr>
          </a:p>
        </p:txBody>
      </p:sp>
      <p:sp>
        <p:nvSpPr>
          <p:cNvPr id="38" name="Rectangle 61"/>
          <p:cNvSpPr>
            <a:spLocks noChangeArrowheads="1"/>
          </p:cNvSpPr>
          <p:nvPr/>
        </p:nvSpPr>
        <p:spPr bwMode="auto">
          <a:xfrm>
            <a:off x="2502609" y="3743085"/>
            <a:ext cx="1154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a:t>
            </a:r>
            <a:endParaRPr lang="en-US" altLang="ko-KR" baseline="0" dirty="0">
              <a:solidFill>
                <a:srgbClr val="000000"/>
              </a:solidFill>
              <a:latin typeface="Times New Roman" pitchFamily="18" charset="0"/>
              <a:ea typeface="굴림" pitchFamily="50" charset="-127"/>
            </a:endParaRPr>
          </a:p>
        </p:txBody>
      </p:sp>
      <p:sp>
        <p:nvSpPr>
          <p:cNvPr id="39" name="Rectangle 62"/>
          <p:cNvSpPr>
            <a:spLocks noChangeArrowheads="1"/>
          </p:cNvSpPr>
          <p:nvPr/>
        </p:nvSpPr>
        <p:spPr bwMode="auto">
          <a:xfrm>
            <a:off x="1790853" y="3743085"/>
            <a:ext cx="2885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5.5</a:t>
            </a:r>
            <a:endParaRPr lang="en-US" altLang="ko-KR" baseline="0" dirty="0">
              <a:solidFill>
                <a:srgbClr val="000000"/>
              </a:solidFill>
              <a:latin typeface="Times New Roman" pitchFamily="18" charset="0"/>
              <a:ea typeface="굴림" pitchFamily="50" charset="-127"/>
            </a:endParaRPr>
          </a:p>
        </p:txBody>
      </p:sp>
      <p:sp>
        <p:nvSpPr>
          <p:cNvPr id="40" name="Rectangle 94"/>
          <p:cNvSpPr>
            <a:spLocks noChangeArrowheads="1"/>
          </p:cNvSpPr>
          <p:nvPr/>
        </p:nvSpPr>
        <p:spPr bwMode="auto">
          <a:xfrm>
            <a:off x="2291088" y="4152674"/>
            <a:ext cx="18473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1400" baseline="-25000">
                <a:solidFill>
                  <a:schemeClr val="tx1"/>
                </a:solidFill>
                <a:latin typeface="맑은 고딕" pitchFamily="50" charset="-127"/>
                <a:ea typeface="맑은 고딕" pitchFamily="50" charset="-127"/>
              </a:defRPr>
            </a:lvl1pPr>
            <a:lvl2pPr marL="742950" indent="-285750" eaLnBrk="0" hangingPunct="0">
              <a:defRPr kumimoji="1" sz="1400" baseline="-25000">
                <a:solidFill>
                  <a:schemeClr val="tx1"/>
                </a:solidFill>
                <a:latin typeface="맑은 고딕" pitchFamily="50" charset="-127"/>
                <a:ea typeface="맑은 고딕" pitchFamily="50" charset="-127"/>
              </a:defRPr>
            </a:lvl2pPr>
            <a:lvl3pPr marL="1143000" indent="-228600" eaLnBrk="0" hangingPunct="0">
              <a:defRPr kumimoji="1" sz="1400" baseline="-25000">
                <a:solidFill>
                  <a:schemeClr val="tx1"/>
                </a:solidFill>
                <a:latin typeface="맑은 고딕" pitchFamily="50" charset="-127"/>
                <a:ea typeface="맑은 고딕" pitchFamily="50" charset="-127"/>
              </a:defRPr>
            </a:lvl3pPr>
            <a:lvl4pPr marL="1600200" indent="-228600" eaLnBrk="0" hangingPunct="0">
              <a:defRPr kumimoji="1" sz="1400" baseline="-25000">
                <a:solidFill>
                  <a:schemeClr val="tx1"/>
                </a:solidFill>
                <a:latin typeface="맑은 고딕" pitchFamily="50" charset="-127"/>
                <a:ea typeface="맑은 고딕" pitchFamily="50" charset="-127"/>
              </a:defRPr>
            </a:lvl4pPr>
            <a:lvl5pPr marL="2057400" indent="-228600" eaLnBrk="0" hangingPunct="0">
              <a:defRPr kumimoji="1" sz="1400" baseline="-25000">
                <a:solidFill>
                  <a:schemeClr val="tx1"/>
                </a:solidFill>
                <a:latin typeface="맑은 고딕" pitchFamily="50" charset="-127"/>
                <a:ea typeface="맑은 고딕" pitchFamily="50" charset="-127"/>
              </a:defRPr>
            </a:lvl5pPr>
            <a:lvl6pPr marL="25146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algn="ctr" eaLnBrk="1" hangingPunct="1"/>
            <a:endParaRPr lang="en-US" altLang="ko-KR" sz="900" baseline="0" dirty="0">
              <a:solidFill>
                <a:srgbClr val="000000"/>
              </a:solidFill>
              <a:latin typeface="Times New Roman" pitchFamily="18" charset="0"/>
              <a:ea typeface="굴림" pitchFamily="50" charset="-127"/>
            </a:endParaRPr>
          </a:p>
        </p:txBody>
      </p:sp>
      <p:sp>
        <p:nvSpPr>
          <p:cNvPr id="41" name="Rectangle 59"/>
          <p:cNvSpPr>
            <a:spLocks noChangeArrowheads="1"/>
          </p:cNvSpPr>
          <p:nvPr/>
        </p:nvSpPr>
        <p:spPr bwMode="auto">
          <a:xfrm>
            <a:off x="2859511" y="3864659"/>
            <a:ext cx="8191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3.1311</a:t>
            </a:r>
            <a:endParaRPr lang="en-US" altLang="ko-KR" baseline="0" dirty="0">
              <a:solidFill>
                <a:srgbClr val="000000"/>
              </a:solidFill>
              <a:latin typeface="Times New Roman" pitchFamily="18" charset="0"/>
              <a:ea typeface="굴림" pitchFamily="50" charset="-127"/>
            </a:endParaRPr>
          </a:p>
        </p:txBody>
      </p:sp>
      <p:sp>
        <p:nvSpPr>
          <p:cNvPr id="42" name="Rectangle 63"/>
          <p:cNvSpPr>
            <a:spLocks noChangeArrowheads="1"/>
          </p:cNvSpPr>
          <p:nvPr/>
        </p:nvSpPr>
        <p:spPr bwMode="auto">
          <a:xfrm>
            <a:off x="4505531" y="1628800"/>
            <a:ext cx="37886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P(3.1311)  =  1 – NORM.S.DIST(3.1311,true)</a:t>
            </a:r>
          </a:p>
        </p:txBody>
      </p:sp>
      <p:sp>
        <p:nvSpPr>
          <p:cNvPr id="44" name="Rectangle 63"/>
          <p:cNvSpPr>
            <a:spLocks noChangeArrowheads="1"/>
          </p:cNvSpPr>
          <p:nvPr/>
        </p:nvSpPr>
        <p:spPr bwMode="auto">
          <a:xfrm>
            <a:off x="5326462" y="2060849"/>
            <a:ext cx="21175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0.0008707 = 8.707 E -4</a:t>
            </a:r>
          </a:p>
        </p:txBody>
      </p:sp>
      <p:sp>
        <p:nvSpPr>
          <p:cNvPr id="45" name="Rectangle 63"/>
          <p:cNvSpPr>
            <a:spLocks noChangeArrowheads="1"/>
          </p:cNvSpPr>
          <p:nvPr/>
        </p:nvSpPr>
        <p:spPr bwMode="auto">
          <a:xfrm>
            <a:off x="4505531" y="3174582"/>
            <a:ext cx="37886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P(3.1311)  =  1 – NORM.S.DIST(3.1311,true)</a:t>
            </a:r>
          </a:p>
        </p:txBody>
      </p:sp>
      <p:sp>
        <p:nvSpPr>
          <p:cNvPr id="46" name="Rectangle 63"/>
          <p:cNvSpPr>
            <a:spLocks noChangeArrowheads="1"/>
          </p:cNvSpPr>
          <p:nvPr/>
        </p:nvSpPr>
        <p:spPr bwMode="auto">
          <a:xfrm>
            <a:off x="5326462" y="3717033"/>
            <a:ext cx="21175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 0.0008707 = 8.707 E -4</a:t>
            </a:r>
          </a:p>
        </p:txBody>
      </p:sp>
      <p:sp>
        <p:nvSpPr>
          <p:cNvPr id="47" name="Rectangle 59"/>
          <p:cNvSpPr>
            <a:spLocks noChangeArrowheads="1"/>
          </p:cNvSpPr>
          <p:nvPr/>
        </p:nvSpPr>
        <p:spPr bwMode="auto">
          <a:xfrm>
            <a:off x="1580898" y="4653137"/>
            <a:ext cx="15788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P(Total))</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48" name="Rectangle 63"/>
          <p:cNvSpPr>
            <a:spLocks noChangeArrowheads="1"/>
          </p:cNvSpPr>
          <p:nvPr/>
        </p:nvSpPr>
        <p:spPr bwMode="auto">
          <a:xfrm>
            <a:off x="916209" y="4680636"/>
            <a:ext cx="1410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Times New Roman" pitchFamily="18" charset="0"/>
                <a:ea typeface="굴림" pitchFamily="50" charset="-127"/>
              </a:rPr>
              <a:t>Z</a:t>
            </a:r>
            <a:endParaRPr lang="en-US" altLang="ko-KR" baseline="0" dirty="0">
              <a:solidFill>
                <a:srgbClr val="000000"/>
              </a:solidFill>
              <a:latin typeface="Times New Roman" pitchFamily="18" charset="0"/>
              <a:ea typeface="굴림" pitchFamily="50" charset="-127"/>
            </a:endParaRPr>
          </a:p>
        </p:txBody>
      </p:sp>
      <p:sp>
        <p:nvSpPr>
          <p:cNvPr id="49" name="Rectangle 64"/>
          <p:cNvSpPr>
            <a:spLocks noChangeArrowheads="1"/>
          </p:cNvSpPr>
          <p:nvPr/>
        </p:nvSpPr>
        <p:spPr bwMode="auto">
          <a:xfrm>
            <a:off x="1031053" y="4823920"/>
            <a:ext cx="506549"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900" baseline="0" dirty="0">
                <a:solidFill>
                  <a:srgbClr val="000000"/>
                </a:solidFill>
                <a:latin typeface="Times New Roman" pitchFamily="18" charset="0"/>
                <a:ea typeface="굴림" pitchFamily="50" charset="-127"/>
              </a:rPr>
              <a:t>ST(Bench)</a:t>
            </a:r>
            <a:endParaRPr lang="en-US" altLang="ko-KR" baseline="0" dirty="0">
              <a:solidFill>
                <a:srgbClr val="000000"/>
              </a:solidFill>
              <a:latin typeface="Times New Roman" pitchFamily="18" charset="0"/>
              <a:ea typeface="굴림" pitchFamily="50" charset="-127"/>
            </a:endParaRPr>
          </a:p>
        </p:txBody>
      </p:sp>
      <p:sp>
        <p:nvSpPr>
          <p:cNvPr id="50" name="Rectangle 63"/>
          <p:cNvSpPr>
            <a:spLocks noChangeArrowheads="1"/>
          </p:cNvSpPr>
          <p:nvPr/>
        </p:nvSpPr>
        <p:spPr bwMode="auto">
          <a:xfrm>
            <a:off x="4505531" y="4694948"/>
            <a:ext cx="39683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600" baseline="0" dirty="0">
                <a:solidFill>
                  <a:srgbClr val="000000"/>
                </a:solidFill>
                <a:latin typeface="Times New Roman" pitchFamily="18" charset="0"/>
                <a:ea typeface="굴림" pitchFamily="50" charset="-127"/>
              </a:rPr>
              <a:t>P(Total)  = P(3.1311) + P(3.1311)  = 0.001741   </a:t>
            </a:r>
          </a:p>
        </p:txBody>
      </p:sp>
      <p:sp>
        <p:nvSpPr>
          <p:cNvPr id="51" name="TextBox 50"/>
          <p:cNvSpPr txBox="1"/>
          <p:nvPr/>
        </p:nvSpPr>
        <p:spPr>
          <a:xfrm>
            <a:off x="1873428" y="4600379"/>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2" name="Rectangle 59"/>
          <p:cNvSpPr>
            <a:spLocks noChangeArrowheads="1"/>
          </p:cNvSpPr>
          <p:nvPr/>
        </p:nvSpPr>
        <p:spPr bwMode="auto">
          <a:xfrm>
            <a:off x="1580899" y="5085185"/>
            <a:ext cx="20310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815975" eaLnBrk="0" hangingPunct="0">
              <a:defRPr kumimoji="1" sz="1400" baseline="-25000">
                <a:solidFill>
                  <a:schemeClr val="tx1"/>
                </a:solidFill>
                <a:latin typeface="맑은 고딕" pitchFamily="50" charset="-127"/>
                <a:ea typeface="맑은 고딕" pitchFamily="50" charset="-127"/>
              </a:defRPr>
            </a:lvl1pPr>
            <a:lvl2pPr marL="742950" indent="-285750" defTabSz="815975" eaLnBrk="0" hangingPunct="0">
              <a:defRPr kumimoji="1" sz="1400" baseline="-25000">
                <a:solidFill>
                  <a:schemeClr val="tx1"/>
                </a:solidFill>
                <a:latin typeface="맑은 고딕" pitchFamily="50" charset="-127"/>
                <a:ea typeface="맑은 고딕" pitchFamily="50" charset="-127"/>
              </a:defRPr>
            </a:lvl2pPr>
            <a:lvl3pPr marL="1143000" indent="-228600" defTabSz="815975" eaLnBrk="0" hangingPunct="0">
              <a:defRPr kumimoji="1" sz="1400" baseline="-25000">
                <a:solidFill>
                  <a:schemeClr val="tx1"/>
                </a:solidFill>
                <a:latin typeface="맑은 고딕" pitchFamily="50" charset="-127"/>
                <a:ea typeface="맑은 고딕" pitchFamily="50" charset="-127"/>
              </a:defRPr>
            </a:lvl3pPr>
            <a:lvl4pPr marL="1600200" indent="-228600" defTabSz="815975" eaLnBrk="0" hangingPunct="0">
              <a:defRPr kumimoji="1" sz="1400" baseline="-25000">
                <a:solidFill>
                  <a:schemeClr val="tx1"/>
                </a:solidFill>
                <a:latin typeface="맑은 고딕" pitchFamily="50" charset="-127"/>
                <a:ea typeface="맑은 고딕" pitchFamily="50" charset="-127"/>
              </a:defRPr>
            </a:lvl4pPr>
            <a:lvl5pPr marL="2057400" indent="-228600" defTabSz="815975" eaLnBrk="0" hangingPunct="0">
              <a:defRPr kumimoji="1" sz="1400" baseline="-25000">
                <a:solidFill>
                  <a:schemeClr val="tx1"/>
                </a:solidFill>
                <a:latin typeface="맑은 고딕" pitchFamily="50" charset="-127"/>
                <a:ea typeface="맑은 고딕" pitchFamily="50" charset="-127"/>
              </a:defRPr>
            </a:lvl5pPr>
            <a:lvl6pPr marL="25146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6pPr>
            <a:lvl7pPr marL="29718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7pPr>
            <a:lvl8pPr marL="34290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8pPr>
            <a:lvl9pPr marL="3886200" indent="-228600" algn="ctr" defTabSz="815975" eaLnBrk="0" fontAlgn="base" hangingPunct="0">
              <a:spcBef>
                <a:spcPct val="0"/>
              </a:spcBef>
              <a:spcAft>
                <a:spcPct val="0"/>
              </a:spcAft>
              <a:defRPr kumimoji="1" sz="1400" baseline="-25000">
                <a:solidFill>
                  <a:schemeClr val="tx1"/>
                </a:solidFill>
                <a:latin typeface="맑은 고딕" pitchFamily="50" charset="-127"/>
                <a:ea typeface="맑은 고딕" pitchFamily="50" charset="-127"/>
              </a:defRPr>
            </a:lvl9pPr>
          </a:lstStyle>
          <a:p>
            <a:pPr eaLnBrk="1" hangingPunct="1"/>
            <a:r>
              <a:rPr lang="en-US" altLang="ko-KR" sz="1800" baseline="0" dirty="0">
                <a:solidFill>
                  <a:srgbClr val="000000"/>
                </a:solidFill>
                <a:latin typeface="Symbol" pitchFamily="18" charset="2"/>
                <a:ea typeface="굴림" pitchFamily="50" charset="-127"/>
              </a:rPr>
              <a:t>=  Z  (</a:t>
            </a:r>
            <a:r>
              <a:rPr lang="en-US" altLang="ko-KR" sz="1800" baseline="0" dirty="0">
                <a:solidFill>
                  <a:srgbClr val="000000"/>
                </a:solidFill>
                <a:latin typeface="Times New Roman" pitchFamily="18" charset="0"/>
                <a:ea typeface="굴림" pitchFamily="50" charset="-127"/>
              </a:rPr>
              <a:t>P(0. 001741))</a:t>
            </a:r>
            <a:r>
              <a:rPr lang="en-US" altLang="ko-KR" sz="1800" baseline="0" dirty="0">
                <a:solidFill>
                  <a:srgbClr val="000000"/>
                </a:solidFill>
                <a:latin typeface="Symbol" pitchFamily="18" charset="2"/>
                <a:ea typeface="굴림" pitchFamily="50" charset="-127"/>
              </a:rPr>
              <a:t>   </a:t>
            </a:r>
            <a:endParaRPr lang="en-US" altLang="ko-KR" baseline="0" dirty="0">
              <a:solidFill>
                <a:srgbClr val="000000"/>
              </a:solidFill>
              <a:latin typeface="Times New Roman" pitchFamily="18" charset="0"/>
              <a:ea typeface="굴림" pitchFamily="50" charset="-127"/>
            </a:endParaRPr>
          </a:p>
        </p:txBody>
      </p:sp>
      <p:sp>
        <p:nvSpPr>
          <p:cNvPr id="53" name="TextBox 52"/>
          <p:cNvSpPr txBox="1"/>
          <p:nvPr/>
        </p:nvSpPr>
        <p:spPr>
          <a:xfrm>
            <a:off x="1873428" y="5042052"/>
            <a:ext cx="272832" cy="232371"/>
          </a:xfrm>
          <a:prstGeom prst="rect">
            <a:avLst/>
          </a:prstGeom>
          <a:noFill/>
        </p:spPr>
        <p:txBody>
          <a:bodyPr wrap="none" rtlCol="0">
            <a:spAutoFit/>
          </a:bodyPr>
          <a:lstStyle/>
          <a:p>
            <a:pPr>
              <a:lnSpc>
                <a:spcPct val="130000"/>
              </a:lnSpc>
              <a:buClr>
                <a:srgbClr val="C5003D"/>
              </a:buClr>
            </a:pPr>
            <a:r>
              <a:rPr lang="en-US" altLang="ko-KR" sz="700" b="1" dirty="0"/>
              <a:t>-1</a:t>
            </a:r>
            <a:endParaRPr lang="ko-KR" altLang="en-US" sz="700" b="1" dirty="0"/>
          </a:p>
        </p:txBody>
      </p:sp>
      <p:sp>
        <p:nvSpPr>
          <p:cNvPr id="55" name="TextBox 54"/>
          <p:cNvSpPr txBox="1"/>
          <p:nvPr/>
        </p:nvSpPr>
        <p:spPr>
          <a:xfrm>
            <a:off x="1508618" y="5425974"/>
            <a:ext cx="3222357" cy="452432"/>
          </a:xfrm>
          <a:prstGeom prst="rect">
            <a:avLst/>
          </a:prstGeom>
          <a:noFill/>
        </p:spPr>
        <p:txBody>
          <a:bodyPr wrap="none" rtlCol="0">
            <a:spAutoFit/>
          </a:bodyPr>
          <a:lstStyle/>
          <a:p>
            <a:pPr>
              <a:lnSpc>
                <a:spcPct val="130000"/>
              </a:lnSpc>
              <a:buClr>
                <a:srgbClr val="C5003D"/>
              </a:buClr>
            </a:pPr>
            <a:r>
              <a:rPr lang="en-US" altLang="ko-KR" b="1" dirty="0"/>
              <a:t>= NORM.S.INV(1-0.001741)</a:t>
            </a:r>
            <a:endParaRPr lang="ko-KR" altLang="en-US" b="1" dirty="0"/>
          </a:p>
        </p:txBody>
      </p:sp>
      <p:sp>
        <p:nvSpPr>
          <p:cNvPr id="56" name="TextBox 55"/>
          <p:cNvSpPr txBox="1"/>
          <p:nvPr/>
        </p:nvSpPr>
        <p:spPr>
          <a:xfrm>
            <a:off x="1508618" y="5877272"/>
            <a:ext cx="1159292" cy="452432"/>
          </a:xfrm>
          <a:prstGeom prst="rect">
            <a:avLst/>
          </a:prstGeom>
          <a:noFill/>
        </p:spPr>
        <p:txBody>
          <a:bodyPr wrap="none" rtlCol="0">
            <a:spAutoFit/>
          </a:bodyPr>
          <a:lstStyle/>
          <a:p>
            <a:pPr>
              <a:lnSpc>
                <a:spcPct val="130000"/>
              </a:lnSpc>
              <a:buClr>
                <a:srgbClr val="C5003D"/>
              </a:buClr>
            </a:pPr>
            <a:r>
              <a:rPr lang="en-US" altLang="ko-KR" b="1" dirty="0"/>
              <a:t>= 2.9216</a:t>
            </a:r>
            <a:endParaRPr lang="ko-KR" altLang="en-US" b="1" dirty="0"/>
          </a:p>
        </p:txBody>
      </p:sp>
      <p:sp>
        <p:nvSpPr>
          <p:cNvPr id="54"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3539951811"/>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95654" y="827089"/>
            <a:ext cx="8280889" cy="307975"/>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Năng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lực</a:t>
            </a:r>
            <a:r>
              <a:rPr kumimoji="0" lang="en-US" altLang="ko-KR" sz="1400" b="1" kern="0" dirty="0">
                <a:solidFill>
                  <a:sysClr val="windowText" lastClr="000000"/>
                </a:solidFill>
                <a:latin typeface="맑은 고딕" pitchFamily="50" charset="-127"/>
                <a:ea typeface="맑은 고딕" pitchFamily="50" charset="-127"/>
              </a:rPr>
              <a:t> process</a:t>
            </a:r>
            <a:r>
              <a:rPr kumimoji="0" lang="ko-KR" altLang="en-US" sz="1400" b="1" kern="0" dirty="0">
                <a:solidFill>
                  <a:sysClr val="windowText" lastClr="000000"/>
                </a:solidFill>
                <a:latin typeface="맑은 고딕" pitchFamily="50" charset="-127"/>
                <a:ea typeface="맑은 고딕" pitchFamily="50" charset="-127"/>
              </a:rPr>
              <a:t> </a:t>
            </a:r>
            <a:r>
              <a:rPr kumimoji="0" lang="en-US" altLang="ko-KR" sz="1400" b="1" kern="0" dirty="0">
                <a:solidFill>
                  <a:sysClr val="windowText" lastClr="000000"/>
                </a:solidFill>
                <a:latin typeface="맑은 고딕" pitchFamily="50" charset="-127"/>
                <a:ea typeface="맑은 고딕" pitchFamily="50" charset="-127"/>
              </a:rPr>
              <a:t>Summary</a:t>
            </a:r>
          </a:p>
        </p:txBody>
      </p:sp>
      <p:graphicFrame>
        <p:nvGraphicFramePr>
          <p:cNvPr id="5" name="표 4"/>
          <p:cNvGraphicFramePr>
            <a:graphicFrameLocks noGrp="1"/>
          </p:cNvGraphicFramePr>
          <p:nvPr>
            <p:extLst>
              <p:ext uri="{D42A27DB-BD31-4B8C-83A1-F6EECF244321}">
                <p14:modId xmlns:p14="http://schemas.microsoft.com/office/powerpoint/2010/main" val="3579688406"/>
              </p:ext>
            </p:extLst>
          </p:nvPr>
        </p:nvGraphicFramePr>
        <p:xfrm>
          <a:off x="1724758" y="1124745"/>
          <a:ext cx="5023926" cy="5631725"/>
        </p:xfrm>
        <a:graphic>
          <a:graphicData uri="http://schemas.openxmlformats.org/drawingml/2006/table">
            <a:tbl>
              <a:tblPr firstRow="1" bandRow="1">
                <a:tableStyleId>{5C22544A-7EE6-4342-B048-85BDC9FD1C3A}</a:tableStyleId>
              </a:tblPr>
              <a:tblGrid>
                <a:gridCol w="718332">
                  <a:extLst>
                    <a:ext uri="{9D8B030D-6E8A-4147-A177-3AD203B41FA5}">
                      <a16:colId xmlns:a16="http://schemas.microsoft.com/office/drawing/2014/main" val="20000"/>
                    </a:ext>
                  </a:extLst>
                </a:gridCol>
                <a:gridCol w="1257594">
                  <a:extLst>
                    <a:ext uri="{9D8B030D-6E8A-4147-A177-3AD203B41FA5}">
                      <a16:colId xmlns:a16="http://schemas.microsoft.com/office/drawing/2014/main" val="20001"/>
                    </a:ext>
                  </a:extLst>
                </a:gridCol>
                <a:gridCol w="1524000">
                  <a:extLst>
                    <a:ext uri="{9D8B030D-6E8A-4147-A177-3AD203B41FA5}">
                      <a16:colId xmlns:a16="http://schemas.microsoft.com/office/drawing/2014/main" val="20002"/>
                    </a:ext>
                  </a:extLst>
                </a:gridCol>
                <a:gridCol w="1524000">
                  <a:extLst>
                    <a:ext uri="{9D8B030D-6E8A-4147-A177-3AD203B41FA5}">
                      <a16:colId xmlns:a16="http://schemas.microsoft.com/office/drawing/2014/main" val="20003"/>
                    </a:ext>
                  </a:extLst>
                </a:gridCol>
              </a:tblGrid>
              <a:tr h="1401493">
                <a:tc gridSpan="2">
                  <a:txBody>
                    <a:bodyPr/>
                    <a:lstStyle/>
                    <a:p>
                      <a:pPr lvl="0" algn="ctr" latinLnBrk="1"/>
                      <a:r>
                        <a:rPr lang="en-US" altLang="ko-KR" sz="1400" b="1" i="0" baseline="0" dirty="0">
                          <a:solidFill>
                            <a:schemeClr val="tx1"/>
                          </a:solidFill>
                          <a:latin typeface="맑은 고딕" pitchFamily="50" charset="-127"/>
                          <a:ea typeface="맑은 고딕" pitchFamily="50" charset="-127"/>
                        </a:rPr>
                        <a:t>Basic</a:t>
                      </a:r>
                    </a:p>
                    <a:p>
                      <a:pPr lvl="0" algn="ctr" latinLnBrk="1"/>
                      <a:r>
                        <a:rPr lang="en-US" altLang="ko-KR" sz="1400" b="1" i="0" baseline="0" dirty="0">
                          <a:solidFill>
                            <a:schemeClr val="tx1"/>
                          </a:solidFill>
                          <a:latin typeface="맑은 고딕" pitchFamily="50" charset="-127"/>
                          <a:ea typeface="맑은 고딕" pitchFamily="50" charset="-127"/>
                        </a:rPr>
                        <a:t>Information</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28575"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09640">
                <a:tc rowSpan="2" gridSpan="2">
                  <a:txBody>
                    <a:bodyPr/>
                    <a:lstStyle/>
                    <a:p>
                      <a:pPr lvl="0" algn="ctr" latinLnBrk="1"/>
                      <a:r>
                        <a:rPr lang="en-US" altLang="ko-KR" sz="1400" b="1" i="0" baseline="0" dirty="0">
                          <a:solidFill>
                            <a:schemeClr val="tx1"/>
                          </a:solidFill>
                          <a:latin typeface="맑은 고딕" pitchFamily="50" charset="-127"/>
                          <a:ea typeface="맑은 고딕" pitchFamily="50" charset="-127"/>
                        </a:rPr>
                        <a:t>Pp, </a:t>
                      </a:r>
                      <a:r>
                        <a:rPr lang="en-US" altLang="ko-KR" sz="1400" b="1" i="0" baseline="0" dirty="0" err="1">
                          <a:solidFill>
                            <a:schemeClr val="tx1"/>
                          </a:solidFill>
                          <a:latin typeface="맑은 고딕" pitchFamily="50" charset="-127"/>
                          <a:ea typeface="맑은 고딕" pitchFamily="50" charset="-127"/>
                        </a:rPr>
                        <a:t>Ppk</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hMerge="1">
                  <a:txBody>
                    <a:bodyPr/>
                    <a:lstStyle/>
                    <a:p>
                      <a:pPr latinLnBrk="1"/>
                      <a:endParaRPr lang="ko-KR" altLang="en-US"/>
                    </a:p>
                  </a:txBody>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Pp = 0.95</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09640">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atinLnBrk="1"/>
                      <a:endParaRPr lang="ko-KR" altLang="en-US"/>
                    </a:p>
                  </a:txBody>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Ppk</a:t>
                      </a:r>
                      <a:r>
                        <a:rPr lang="en-US" altLang="ko-KR" sz="1400" b="1" i="0" baseline="0" dirty="0">
                          <a:solidFill>
                            <a:schemeClr val="tx1"/>
                          </a:solidFill>
                          <a:latin typeface="맑은 고딕" pitchFamily="50" charset="-127"/>
                          <a:ea typeface="맑은 고딕" pitchFamily="50" charset="-127"/>
                        </a:rPr>
                        <a:t> = 0.53</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09640">
                <a:tc rowSpan="2" gridSpan="2">
                  <a:txBody>
                    <a:bodyPr/>
                    <a:lstStyle/>
                    <a:p>
                      <a:pPr lvl="0" algn="ctr" latinLnBrk="1"/>
                      <a:r>
                        <a:rPr lang="en-US" altLang="ko-KR" sz="1400" b="1" i="0" baseline="0" dirty="0" err="1">
                          <a:solidFill>
                            <a:schemeClr val="tx1"/>
                          </a:solidFill>
                          <a:latin typeface="맑은 고딕" pitchFamily="50" charset="-127"/>
                          <a:ea typeface="맑은 고딕" pitchFamily="50" charset="-127"/>
                        </a:rPr>
                        <a:t>Cp</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Cpk</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hMerge="1">
                  <a:txBody>
                    <a:bodyPr/>
                    <a:lstStyle/>
                    <a:p>
                      <a:pPr latinLnBrk="1"/>
                      <a:endParaRPr lang="ko-KR" altLang="en-US"/>
                    </a:p>
                  </a:txBody>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Cp</a:t>
                      </a:r>
                      <a:r>
                        <a:rPr lang="en-US" altLang="ko-KR" sz="1400" b="1" i="0" baseline="0" dirty="0">
                          <a:solidFill>
                            <a:schemeClr val="tx1"/>
                          </a:solidFill>
                          <a:latin typeface="맑은 고딕" pitchFamily="50" charset="-127"/>
                          <a:ea typeface="맑은 고딕" pitchFamily="50" charset="-127"/>
                        </a:rPr>
                        <a:t> = 1.04</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09640">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atinLnBrk="1"/>
                      <a:endParaRPr lang="ko-KR" altLang="en-US"/>
                    </a:p>
                  </a:txBody>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Cpk</a:t>
                      </a:r>
                      <a:r>
                        <a:rPr lang="en-US" altLang="ko-KR" sz="1400" b="1" i="0" baseline="0" dirty="0">
                          <a:solidFill>
                            <a:schemeClr val="tx1"/>
                          </a:solidFill>
                          <a:latin typeface="맑은 고딕" pitchFamily="50" charset="-127"/>
                          <a:ea typeface="맑은 고딕" pitchFamily="50" charset="-127"/>
                        </a:rPr>
                        <a:t> = 0.58</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09640">
                <a:tc rowSpan="2" gridSpan="2">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Bench</a:t>
                      </a:r>
                      <a:r>
                        <a:rPr lang="en-US" altLang="ko-KR" sz="1400" b="1" i="0" baseline="0" dirty="0">
                          <a:solidFill>
                            <a:schemeClr val="tx1"/>
                          </a:solidFill>
                          <a:latin typeface="맑은 고딕" pitchFamily="50" charset="-127"/>
                          <a:ea typeface="맑은 고딕" pitchFamily="50" charset="-127"/>
                        </a:rPr>
                        <a:t> - Value</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h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Bench</a:t>
                      </a:r>
                      <a:r>
                        <a:rPr lang="en-US" altLang="ko-KR" sz="1400" b="1" i="0" baseline="0" dirty="0">
                          <a:solidFill>
                            <a:schemeClr val="tx1"/>
                          </a:solidFill>
                          <a:latin typeface="맑은 고딕" pitchFamily="50" charset="-127"/>
                          <a:ea typeface="맑은 고딕" pitchFamily="50" charset="-127"/>
                        </a:rPr>
                        <a:t>.</a:t>
                      </a:r>
                      <a:r>
                        <a:rPr lang="en-US" altLang="ko-KR" sz="1000" b="1" i="0" baseline="0" dirty="0">
                          <a:solidFill>
                            <a:schemeClr val="tx1"/>
                          </a:solidFill>
                          <a:latin typeface="맑은 고딕" pitchFamily="50" charset="-127"/>
                          <a:ea typeface="맑은 고딕" pitchFamily="50" charset="-127"/>
                        </a:rPr>
                        <a:t>ST</a:t>
                      </a:r>
                      <a:r>
                        <a:rPr lang="en-US" altLang="ko-KR" sz="1400" b="1" i="0" baseline="0" dirty="0">
                          <a:solidFill>
                            <a:schemeClr val="tx1"/>
                          </a:solidFill>
                          <a:latin typeface="맑은 고딕" pitchFamily="50" charset="-127"/>
                          <a:ea typeface="맑은 고딕" pitchFamily="50" charset="-127"/>
                        </a:rPr>
                        <a:t> = 2.92</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rowSpan="2">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Shift</a:t>
                      </a:r>
                      <a:r>
                        <a:rPr lang="en-US" altLang="ko-KR" sz="1400" b="1" i="0" baseline="0" dirty="0">
                          <a:solidFill>
                            <a:schemeClr val="tx1"/>
                          </a:solidFill>
                          <a:latin typeface="맑은 고딕" pitchFamily="50" charset="-127"/>
                          <a:ea typeface="맑은 고딕" pitchFamily="50" charset="-127"/>
                        </a:rPr>
                        <a:t> = 1.33</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09640">
                <a:tc gridSpan="2"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hMerge="1"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Z</a:t>
                      </a:r>
                      <a:r>
                        <a:rPr lang="en-US" altLang="ko-KR" sz="1400" b="1" i="0" baseline="-25000" dirty="0">
                          <a:solidFill>
                            <a:schemeClr val="tx1"/>
                          </a:solidFill>
                          <a:latin typeface="맑은 고딕" pitchFamily="50" charset="-127"/>
                          <a:ea typeface="맑은 고딕" pitchFamily="50" charset="-127"/>
                        </a:rPr>
                        <a:t>bench</a:t>
                      </a:r>
                      <a:r>
                        <a:rPr lang="en-US" altLang="ko-KR" sz="1400" b="1" i="0" baseline="0" dirty="0">
                          <a:solidFill>
                            <a:schemeClr val="tx1"/>
                          </a:solidFill>
                          <a:latin typeface="맑은 고딕" pitchFamily="50" charset="-127"/>
                          <a:ea typeface="맑은 고딕" pitchFamily="50" charset="-127"/>
                        </a:rPr>
                        <a:t>.</a:t>
                      </a:r>
                      <a:r>
                        <a:rPr lang="en-US" altLang="ko-KR" sz="1000" b="1" i="0" baseline="0" dirty="0">
                          <a:solidFill>
                            <a:schemeClr val="tx1"/>
                          </a:solidFill>
                          <a:latin typeface="맑은 고딕" pitchFamily="50" charset="-127"/>
                          <a:ea typeface="맑은 고딕" pitchFamily="50" charset="-127"/>
                        </a:rPr>
                        <a:t>LT</a:t>
                      </a:r>
                      <a:r>
                        <a:rPr lang="en-US" altLang="ko-KR" sz="1400" b="1" i="0" baseline="0" dirty="0">
                          <a:solidFill>
                            <a:schemeClr val="tx1"/>
                          </a:solidFill>
                          <a:latin typeface="맑은 고딕" pitchFamily="50" charset="-127"/>
                          <a:ea typeface="맑은 고딕" pitchFamily="50" charset="-127"/>
                        </a:rPr>
                        <a:t> = 1.59</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713756">
                <a:tc rowSpan="3">
                  <a:txBody>
                    <a:bodyPr/>
                    <a:lstStyle/>
                    <a:p>
                      <a:pPr lvl="0" algn="ctr" latinLnBrk="1"/>
                      <a:r>
                        <a:rPr lang="en-US" altLang="ko-KR" sz="1400" b="1" i="0" baseline="0" dirty="0" err="1">
                          <a:solidFill>
                            <a:schemeClr val="tx1"/>
                          </a:solidFill>
                          <a:latin typeface="맑은 고딕" pitchFamily="50" charset="-127"/>
                          <a:ea typeface="맑은 고딕" pitchFamily="50" charset="-127"/>
                        </a:rPr>
                        <a:t>Tỉ</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lệ</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không</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đạt</a:t>
                      </a:r>
                      <a:endParaRPr lang="en-US" altLang="ko-KR" sz="1400" b="1" i="0" baseline="0" dirty="0">
                        <a:solidFill>
                          <a:schemeClr val="tx1"/>
                        </a:solidFill>
                        <a:latin typeface="맑은 고딕" pitchFamily="50" charset="-127"/>
                        <a:ea typeface="맑은 고딕" pitchFamily="50" charset="-127"/>
                      </a:endParaRPr>
                    </a:p>
                    <a:p>
                      <a:pPr lvl="0" algn="ctr" latinLnBrk="1"/>
                      <a:r>
                        <a:rPr lang="en-US" altLang="ko-KR" sz="1400" b="1" i="0" baseline="0" dirty="0">
                          <a:solidFill>
                            <a:schemeClr val="tx1"/>
                          </a:solidFill>
                          <a:latin typeface="맑은 고딕" pitchFamily="50" charset="-127"/>
                          <a:ea typeface="맑은 고딕" pitchFamily="50" charset="-127"/>
                        </a:rPr>
                        <a:t>(ppm)</a:t>
                      </a:r>
                      <a:endParaRPr lang="ko-KR" altLang="en-US" sz="1400" b="1" i="0" baseline="0" dirty="0">
                        <a:solidFill>
                          <a:schemeClr val="tx1"/>
                        </a:solidFill>
                        <a:latin typeface="맑은 고딕" pitchFamily="50" charset="-127"/>
                        <a:ea typeface="맑은 고딕" pitchFamily="50" charset="-127"/>
                      </a:endParaRPr>
                    </a:p>
                  </a:txBody>
                  <a:tcPr marL="84406" marR="84406"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err="1">
                          <a:solidFill>
                            <a:schemeClr val="tx1"/>
                          </a:solidFill>
                          <a:latin typeface="맑은 고딕" pitchFamily="50" charset="-127"/>
                          <a:ea typeface="맑은 고딕" pitchFamily="50" charset="-127"/>
                        </a:rPr>
                        <a:t>Quan</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sát</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không</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đạt</a:t>
                      </a:r>
                      <a:endParaRPr lang="en-US" altLang="ko-KR" sz="1400" b="1" i="0" baseline="0" dirty="0">
                        <a:solidFill>
                          <a:schemeClr val="tx1"/>
                        </a:solidFill>
                        <a:latin typeface="맑은 고딕" pitchFamily="50" charset="-127"/>
                        <a:ea typeface="맑은 고딕" pitchFamily="50" charset="-127"/>
                      </a:endParaRPr>
                    </a:p>
                    <a:p>
                      <a:pPr lvl="0" algn="ctr" latinLnBrk="1"/>
                      <a:r>
                        <a:rPr lang="en-US" altLang="ko-KR" sz="1400" b="1" i="0" baseline="0" dirty="0">
                          <a:solidFill>
                            <a:schemeClr val="tx1"/>
                          </a:solidFill>
                          <a:latin typeface="맑은 고딕" pitchFamily="50" charset="-127"/>
                          <a:ea typeface="맑은 고딕" pitchFamily="50" charset="-127"/>
                        </a:rPr>
                        <a:t>(Data </a:t>
                      </a:r>
                      <a:r>
                        <a:rPr lang="en-US" altLang="ko-KR" sz="1400" b="1" i="0" baseline="0" dirty="0" err="1">
                          <a:solidFill>
                            <a:schemeClr val="tx1"/>
                          </a:solidFill>
                          <a:latin typeface="맑은 고딕" pitchFamily="50" charset="-127"/>
                          <a:ea typeface="맑은 고딕" pitchFamily="50" charset="-127"/>
                        </a:rPr>
                        <a:t>đã</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được</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đo</a:t>
                      </a:r>
                      <a:r>
                        <a:rPr lang="en-US" altLang="ko-KR" sz="1400" b="1" i="0" baseline="0" dirty="0">
                          <a:solidFill>
                            <a:schemeClr val="tx1"/>
                          </a:solidFill>
                          <a:latin typeface="맑은 고딕" pitchFamily="50" charset="-127"/>
                          <a:ea typeface="맑은 고딕" pitchFamily="50" charset="-127"/>
                        </a:rPr>
                        <a:t> </a:t>
                      </a:r>
                      <a:r>
                        <a:rPr lang="en-US" altLang="ko-KR" sz="1400" b="1" i="0" baseline="0" dirty="0" err="1">
                          <a:solidFill>
                            <a:schemeClr val="tx1"/>
                          </a:solidFill>
                          <a:latin typeface="맑은 고딕" pitchFamily="50" charset="-127"/>
                          <a:ea typeface="맑은 고딕" pitchFamily="50" charset="-127"/>
                        </a:rPr>
                        <a:t>đạc</a:t>
                      </a:r>
                      <a:r>
                        <a:rPr lang="en-US" altLang="ko-KR" sz="1400" b="1" i="0" baseline="0" dirty="0">
                          <a:solidFill>
                            <a:schemeClr val="tx1"/>
                          </a:solidFill>
                          <a:latin typeface="맑은 고딕" pitchFamily="50" charset="-127"/>
                          <a:ea typeface="맑은 고딕" pitchFamily="50" charset="-127"/>
                        </a:rPr>
                        <a:t>)</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713756">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r>
                        <a:rPr lang="en-US" altLang="ko-KR" sz="1400" b="1" i="0" baseline="0" dirty="0">
                          <a:solidFill>
                            <a:schemeClr val="tx1"/>
                          </a:solidFill>
                          <a:latin typeface="맑은 고딕" pitchFamily="50" charset="-127"/>
                          <a:ea typeface="맑은 고딕" pitchFamily="50" charset="-127"/>
                        </a:rPr>
                        <a:t>Short-Term</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713756">
                <a:tc vMerge="1">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anchor="ctr">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1" i="0" baseline="0" dirty="0">
                          <a:solidFill>
                            <a:schemeClr val="tx1"/>
                          </a:solidFill>
                          <a:latin typeface="맑은 고딕" pitchFamily="50" charset="-127"/>
                          <a:ea typeface="맑은 고딕" pitchFamily="50" charset="-127"/>
                        </a:rPr>
                        <a:t>Long-Term</a:t>
                      </a:r>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tc>
                  <a:txBody>
                    <a:bodyPr/>
                    <a:lstStyle/>
                    <a:p>
                      <a:pPr lvl="0" algn="ctr" latinLnBrk="1"/>
                      <a:endParaRPr lang="ko-KR" altLang="en-US" sz="1400" b="1" i="0" baseline="0" dirty="0">
                        <a:solidFill>
                          <a:schemeClr val="tx1"/>
                        </a:solidFill>
                        <a:latin typeface="맑은 고딕" pitchFamily="50" charset="-127"/>
                        <a:ea typeface="맑은 고딕" pitchFamily="50" charset="-127"/>
                      </a:endParaRPr>
                    </a:p>
                  </a:txBody>
                  <a:tcPr marL="84406" marR="84406" anchor="ctr">
                    <a:lnL w="12700" cap="flat" cmpd="sng" algn="ctr">
                      <a:solidFill>
                        <a:schemeClr val="bg2">
                          <a:lumMod val="75000"/>
                        </a:schemeClr>
                      </a:solidFill>
                      <a:prstDash val="solid"/>
                      <a:round/>
                      <a:headEnd type="none" w="med" len="med"/>
                      <a:tailEnd type="none" w="med" len="med"/>
                    </a:lnL>
                    <a:lnT w="12700" cap="flat" cmpd="sng" algn="ctr">
                      <a:solidFill>
                        <a:schemeClr val="bg2">
                          <a:lumMod val="75000"/>
                        </a:schemeClr>
                      </a:solidFill>
                      <a:prstDash val="solid"/>
                      <a:round/>
                      <a:headEnd type="none" w="med" len="med"/>
                      <a:tailEnd type="none" w="med" len="med"/>
                    </a:lnT>
                    <a:lnB w="28575" cap="flat" cmpd="sng" algn="ctr">
                      <a:solidFill>
                        <a:schemeClr val="bg2">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pic>
        <p:nvPicPr>
          <p:cNvPr id="12"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516" t="15983" r="76916" b="64556"/>
          <a:stretch/>
        </p:blipFill>
        <p:spPr bwMode="auto">
          <a:xfrm>
            <a:off x="3763400" y="1175540"/>
            <a:ext cx="1399050" cy="1296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3790" t="85941" r="78372" b="4175"/>
          <a:stretch/>
        </p:blipFill>
        <p:spPr bwMode="auto">
          <a:xfrm>
            <a:off x="3774373" y="4415904"/>
            <a:ext cx="1395847" cy="6274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36477" t="85486" r="50295" b="3871"/>
          <a:stretch/>
        </p:blipFill>
        <p:spPr bwMode="auto">
          <a:xfrm>
            <a:off x="3774373" y="5160590"/>
            <a:ext cx="1395847" cy="576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895" t="85718" r="64026" b="4259"/>
          <a:stretch/>
        </p:blipFill>
        <p:spPr bwMode="auto">
          <a:xfrm>
            <a:off x="3798277" y="5830664"/>
            <a:ext cx="1371943" cy="686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3790" t="88809" r="86743" b="4175"/>
          <a:stretch/>
        </p:blipFill>
        <p:spPr bwMode="auto">
          <a:xfrm>
            <a:off x="3791887" y="6038180"/>
            <a:ext cx="676414" cy="464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4389" t="88209" r="86743" b="4175"/>
          <a:stretch/>
        </p:blipFill>
        <p:spPr bwMode="auto">
          <a:xfrm>
            <a:off x="3840842" y="5304606"/>
            <a:ext cx="627460" cy="437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239</a:t>
            </a:fld>
            <a:endParaRPr lang="ko-KR" altLang="en-US" dirty="0"/>
          </a:p>
        </p:txBody>
      </p:sp>
    </p:spTree>
    <p:extLst>
      <p:ext uri="{BB962C8B-B14F-4D97-AF65-F5344CB8AC3E}">
        <p14:creationId xmlns:p14="http://schemas.microsoft.com/office/powerpoint/2010/main" val="1559444753"/>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18582" y="707802"/>
            <a:ext cx="5772273" cy="488950"/>
          </a:xfrm>
          <a:prstGeom prst="rect">
            <a:avLst/>
          </a:prstGeom>
          <a:noFill/>
          <a:ln>
            <a:miter lim="800000"/>
            <a:headEnd/>
            <a:tailEnd/>
          </a:ln>
        </p:spPr>
        <p:txBody>
          <a:bodyPr/>
          <a:lstStyle/>
          <a:p>
            <a:pPr>
              <a:defRPr/>
            </a:pPr>
            <a:r>
              <a:rPr kumimoji="0" lang="en-US" altLang="ko-KR" sz="2000" b="1" kern="0" dirty="0">
                <a:solidFill>
                  <a:sysClr val="windowText" lastClr="000000">
                    <a:lumMod val="75000"/>
                    <a:lumOff val="25000"/>
                  </a:sysClr>
                </a:solidFill>
                <a:latin typeface="맑은 고딕" pitchFamily="50" charset="-127"/>
                <a:ea typeface="맑은 고딕" pitchFamily="50" charset="-127"/>
              </a:rPr>
              <a:t>Establish direction for improvement</a:t>
            </a:r>
            <a:endParaRPr kumimoji="0" lang="ko-KR" altLang="en-US" sz="2000" b="1" kern="0" dirty="0">
              <a:solidFill>
                <a:sysClr val="windowText" lastClr="000000">
                  <a:lumMod val="75000"/>
                  <a:lumOff val="25000"/>
                </a:sysClr>
              </a:solidFill>
              <a:latin typeface="맑은 고딕" pitchFamily="50" charset="-127"/>
              <a:ea typeface="맑은 고딕" pitchFamily="50" charset="-127"/>
            </a:endParaRPr>
          </a:p>
        </p:txBody>
      </p:sp>
      <p:sp>
        <p:nvSpPr>
          <p:cNvPr id="4" name="TextBox 3"/>
          <p:cNvSpPr txBox="1"/>
          <p:nvPr/>
        </p:nvSpPr>
        <p:spPr>
          <a:xfrm>
            <a:off x="395654" y="1105580"/>
            <a:ext cx="8280889" cy="523220"/>
          </a:xfrm>
          <a:prstGeom prst="rect">
            <a:avLst/>
          </a:prstGeom>
          <a:noFill/>
        </p:spPr>
        <p:txBody>
          <a:bodyPr>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If you know the current level of </a:t>
            </a: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Zlt</a:t>
            </a:r>
            <a:r>
              <a:rPr kumimoji="0" lang="en-US" altLang="ko-KR" sz="1400" b="1" kern="0" dirty="0">
                <a:solidFill>
                  <a:sysClr val="windowText" lastClr="000000"/>
                </a:solidFill>
                <a:latin typeface="맑은 고딕" pitchFamily="50" charset="-127"/>
                <a:ea typeface="맑은 고딕" pitchFamily="50" charset="-127"/>
              </a:rPr>
              <a:t> in Project Y through Rational </a:t>
            </a:r>
            <a:r>
              <a:rPr kumimoji="0" lang="en-US" altLang="ko-KR" sz="1400" b="1" kern="0" dirty="0" err="1">
                <a:solidFill>
                  <a:sysClr val="windowText" lastClr="000000"/>
                </a:solidFill>
                <a:latin typeface="맑은 고딕" pitchFamily="50" charset="-127"/>
                <a:ea typeface="맑은 고딕" pitchFamily="50" charset="-127"/>
              </a:rPr>
              <a:t>Subgrouping</a:t>
            </a:r>
            <a:r>
              <a:rPr kumimoji="0" lang="en-US" altLang="ko-KR" sz="1400" b="1" kern="0" dirty="0">
                <a:solidFill>
                  <a:sysClr val="windowText" lastClr="000000"/>
                </a:solidFill>
                <a:latin typeface="맑은 고딕" pitchFamily="50" charset="-127"/>
                <a:ea typeface="맑은 고딕" pitchFamily="50" charset="-127"/>
              </a:rPr>
              <a:t>, you can </a:t>
            </a:r>
          </a:p>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   establish the direction of improvement through the 4 Block Diagram.</a:t>
            </a:r>
          </a:p>
        </p:txBody>
      </p:sp>
      <p:sp>
        <p:nvSpPr>
          <p:cNvPr id="4102" name="Text Box 7"/>
          <p:cNvSpPr txBox="1">
            <a:spLocks noChangeArrowheads="1"/>
          </p:cNvSpPr>
          <p:nvPr/>
        </p:nvSpPr>
        <p:spPr bwMode="auto">
          <a:xfrm>
            <a:off x="1137761" y="1928804"/>
            <a:ext cx="2042908" cy="307777"/>
          </a:xfrm>
          <a:prstGeom prst="rect">
            <a:avLst/>
          </a:prstGeom>
          <a:noFill/>
          <a:ln w="9525" algn="ctr">
            <a:noFill/>
            <a:miter lim="800000"/>
            <a:headEnd/>
            <a:tailEnd/>
          </a:ln>
        </p:spPr>
        <p:txBody>
          <a:bodyPr>
            <a:spAutoFit/>
          </a:bodyPr>
          <a:lstStyle/>
          <a:p>
            <a:pPr>
              <a:spcBef>
                <a:spcPct val="50000"/>
              </a:spcBef>
            </a:pPr>
            <a:r>
              <a:rPr lang="en-US" altLang="ko-KR" sz="1400" b="1" dirty="0">
                <a:solidFill>
                  <a:srgbClr val="000000"/>
                </a:solidFill>
                <a:latin typeface="맑은 고딕" pitchFamily="50" charset="-127"/>
                <a:ea typeface="맑은 고딕" pitchFamily="50" charset="-127"/>
              </a:rPr>
              <a:t>4 Block Diagram</a:t>
            </a:r>
          </a:p>
        </p:txBody>
      </p:sp>
      <p:sp>
        <p:nvSpPr>
          <p:cNvPr id="6" name="Rectangle 9"/>
          <p:cNvSpPr>
            <a:spLocks noChangeArrowheads="1"/>
          </p:cNvSpPr>
          <p:nvPr/>
        </p:nvSpPr>
        <p:spPr bwMode="auto">
          <a:xfrm>
            <a:off x="1172784" y="2308417"/>
            <a:ext cx="3423745" cy="2667792"/>
          </a:xfrm>
          <a:prstGeom prst="rect">
            <a:avLst/>
          </a:prstGeom>
          <a:solidFill>
            <a:schemeClr val="bg2">
              <a:lumMod val="20000"/>
              <a:lumOff val="80000"/>
            </a:schemeClr>
          </a:solidFill>
          <a:ln w="12700">
            <a:solidFill>
              <a:schemeClr val="tx1"/>
            </a:solidFill>
            <a:miter lim="800000"/>
            <a:headEnd/>
            <a:tailEnd/>
          </a:ln>
        </p:spPr>
        <p:txBody>
          <a:bodyPr wrap="none" anchor="ctr"/>
          <a:lstStyle/>
          <a:p>
            <a:pPr algn="ctr">
              <a:defRPr/>
            </a:pPr>
            <a:endParaRPr lang="ko-KR" altLang="en-US" sz="1000" dirty="0">
              <a:solidFill>
                <a:srgbClr val="000000"/>
              </a:solidFill>
              <a:latin typeface="맑은 고딕" pitchFamily="50" charset="-127"/>
              <a:ea typeface="맑은 고딕" pitchFamily="50" charset="-127"/>
            </a:endParaRPr>
          </a:p>
        </p:txBody>
      </p:sp>
      <p:sp>
        <p:nvSpPr>
          <p:cNvPr id="4104" name="Line 10"/>
          <p:cNvSpPr>
            <a:spLocks noChangeShapeType="1"/>
          </p:cNvSpPr>
          <p:nvPr/>
        </p:nvSpPr>
        <p:spPr bwMode="auto">
          <a:xfrm>
            <a:off x="3399135" y="2303169"/>
            <a:ext cx="0" cy="2664294"/>
          </a:xfrm>
          <a:prstGeom prst="line">
            <a:avLst/>
          </a:prstGeom>
          <a:noFill/>
          <a:ln w="12700">
            <a:solidFill>
              <a:schemeClr val="tx1"/>
            </a:solidFill>
            <a:round/>
            <a:headEnd type="none" w="sm" len="sm"/>
            <a:tailEnd type="none" w="sm" len="sm"/>
          </a:ln>
        </p:spPr>
        <p:txBody>
          <a:bodyPr/>
          <a:lstStyle/>
          <a:p>
            <a:endParaRPr lang="ko-KR" altLang="en-US" dirty="0">
              <a:solidFill>
                <a:prstClr val="black"/>
              </a:solidFill>
            </a:endParaRPr>
          </a:p>
        </p:txBody>
      </p:sp>
      <p:sp>
        <p:nvSpPr>
          <p:cNvPr id="4105" name="Line 11"/>
          <p:cNvSpPr>
            <a:spLocks noChangeShapeType="1"/>
          </p:cNvSpPr>
          <p:nvPr/>
        </p:nvSpPr>
        <p:spPr bwMode="auto">
          <a:xfrm>
            <a:off x="1176119" y="3643188"/>
            <a:ext cx="3412072" cy="0"/>
          </a:xfrm>
          <a:prstGeom prst="line">
            <a:avLst/>
          </a:prstGeom>
          <a:noFill/>
          <a:ln w="12700">
            <a:solidFill>
              <a:schemeClr val="tx1"/>
            </a:solidFill>
            <a:round/>
            <a:headEnd type="none" w="sm" len="sm"/>
            <a:tailEnd type="none" w="sm" len="sm"/>
          </a:ln>
        </p:spPr>
        <p:txBody>
          <a:bodyPr/>
          <a:lstStyle/>
          <a:p>
            <a:endParaRPr lang="ko-KR" altLang="en-US" dirty="0">
              <a:solidFill>
                <a:prstClr val="black"/>
              </a:solidFill>
            </a:endParaRPr>
          </a:p>
        </p:txBody>
      </p:sp>
      <p:sp>
        <p:nvSpPr>
          <p:cNvPr id="4106" name="Rectangle 12"/>
          <p:cNvSpPr>
            <a:spLocks noChangeArrowheads="1"/>
          </p:cNvSpPr>
          <p:nvPr/>
        </p:nvSpPr>
        <p:spPr bwMode="auto">
          <a:xfrm>
            <a:off x="817568" y="3482247"/>
            <a:ext cx="405560" cy="296108"/>
          </a:xfrm>
          <a:prstGeom prst="rect">
            <a:avLst/>
          </a:prstGeom>
          <a:noFill/>
          <a:ln w="9525">
            <a:noFill/>
            <a:miter lim="800000"/>
            <a:headEnd/>
            <a:tailEnd/>
          </a:ln>
        </p:spPr>
        <p:txBody>
          <a:bodyPr wrap="none" lIns="92075" tIns="46038" rIns="92075" bIns="46038">
            <a:spAutoFit/>
          </a:bodyPr>
          <a:lstStyle/>
          <a:p>
            <a:pPr latinLnBrk="0">
              <a:lnSpc>
                <a:spcPct val="110000"/>
              </a:lnSpc>
            </a:pPr>
            <a:r>
              <a:rPr lang="en-US" altLang="ko-KR" sz="1200" b="1" dirty="0">
                <a:solidFill>
                  <a:srgbClr val="000000"/>
                </a:solidFill>
                <a:latin typeface="맑은 고딕" pitchFamily="50" charset="-127"/>
                <a:ea typeface="맑은 고딕" pitchFamily="50" charset="-127"/>
              </a:rPr>
              <a:t>1.5</a:t>
            </a:r>
          </a:p>
        </p:txBody>
      </p:sp>
      <p:sp>
        <p:nvSpPr>
          <p:cNvPr id="4107" name="Rectangle 13"/>
          <p:cNvSpPr>
            <a:spLocks noChangeArrowheads="1"/>
          </p:cNvSpPr>
          <p:nvPr/>
        </p:nvSpPr>
        <p:spPr bwMode="auto">
          <a:xfrm>
            <a:off x="647464" y="2220949"/>
            <a:ext cx="610039" cy="308419"/>
          </a:xfrm>
          <a:prstGeom prst="rect">
            <a:avLst/>
          </a:prstGeom>
          <a:noFill/>
          <a:ln w="9525">
            <a:noFill/>
            <a:miter lim="800000"/>
            <a:headEnd/>
            <a:tailEnd/>
          </a:ln>
        </p:spPr>
        <p:txBody>
          <a:bodyPr wrap="none" lIns="92075" tIns="46038" rIns="92075" bIns="46038">
            <a:spAutoFit/>
          </a:bodyPr>
          <a:lstStyle/>
          <a:p>
            <a:pPr algn="ctr" latinLnBrk="0"/>
            <a:r>
              <a:rPr lang="en-US" altLang="ko-KR" sz="1400" b="1" dirty="0">
                <a:solidFill>
                  <a:srgbClr val="000000"/>
                </a:solidFill>
                <a:latin typeface="맑은 고딕" pitchFamily="50" charset="-127"/>
                <a:ea typeface="맑은 고딕" pitchFamily="50" charset="-127"/>
              </a:rPr>
              <a:t>Z </a:t>
            </a:r>
            <a:r>
              <a:rPr lang="en-US" altLang="ko-KR" sz="1400" b="1" baseline="-25000" dirty="0">
                <a:solidFill>
                  <a:srgbClr val="000000"/>
                </a:solidFill>
                <a:latin typeface="맑은 고딕" pitchFamily="50" charset="-127"/>
                <a:ea typeface="맑은 고딕" pitchFamily="50" charset="-127"/>
              </a:rPr>
              <a:t>shift</a:t>
            </a:r>
          </a:p>
        </p:txBody>
      </p:sp>
      <p:sp>
        <p:nvSpPr>
          <p:cNvPr id="4108" name="Rectangle 15"/>
          <p:cNvSpPr>
            <a:spLocks noChangeArrowheads="1"/>
          </p:cNvSpPr>
          <p:nvPr/>
        </p:nvSpPr>
        <p:spPr bwMode="auto">
          <a:xfrm>
            <a:off x="3189008" y="4967463"/>
            <a:ext cx="405560" cy="296108"/>
          </a:xfrm>
          <a:prstGeom prst="rect">
            <a:avLst/>
          </a:prstGeom>
          <a:noFill/>
          <a:ln w="9525">
            <a:noFill/>
            <a:miter lim="800000"/>
            <a:headEnd/>
            <a:tailEnd/>
          </a:ln>
        </p:spPr>
        <p:txBody>
          <a:bodyPr wrap="none" lIns="92075" tIns="46038" rIns="92075" bIns="46038">
            <a:spAutoFit/>
          </a:bodyPr>
          <a:lstStyle/>
          <a:p>
            <a:pPr latinLnBrk="0">
              <a:lnSpc>
                <a:spcPct val="110000"/>
              </a:lnSpc>
            </a:pPr>
            <a:r>
              <a:rPr lang="en-US" altLang="ko-KR" sz="1200" b="1" dirty="0">
                <a:solidFill>
                  <a:srgbClr val="000000"/>
                </a:solidFill>
                <a:latin typeface="맑은 고딕" pitchFamily="50" charset="-127"/>
                <a:ea typeface="맑은 고딕" pitchFamily="50" charset="-127"/>
              </a:rPr>
              <a:t>4.5</a:t>
            </a:r>
          </a:p>
        </p:txBody>
      </p:sp>
      <p:sp>
        <p:nvSpPr>
          <p:cNvPr id="4109" name="Text Box 16"/>
          <p:cNvSpPr txBox="1">
            <a:spLocks noChangeArrowheads="1"/>
          </p:cNvSpPr>
          <p:nvPr/>
        </p:nvSpPr>
        <p:spPr bwMode="auto">
          <a:xfrm>
            <a:off x="1256167" y="3713163"/>
            <a:ext cx="278502" cy="369332"/>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C</a:t>
            </a:r>
          </a:p>
        </p:txBody>
      </p:sp>
      <p:sp>
        <p:nvSpPr>
          <p:cNvPr id="4110" name="Text Box 17"/>
          <p:cNvSpPr txBox="1">
            <a:spLocks noChangeArrowheads="1"/>
          </p:cNvSpPr>
          <p:nvPr/>
        </p:nvSpPr>
        <p:spPr bwMode="auto">
          <a:xfrm>
            <a:off x="1256167" y="2394136"/>
            <a:ext cx="278502" cy="369332"/>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A</a:t>
            </a:r>
          </a:p>
        </p:txBody>
      </p:sp>
      <p:sp>
        <p:nvSpPr>
          <p:cNvPr id="4111" name="Text Box 18"/>
          <p:cNvSpPr txBox="1">
            <a:spLocks noChangeArrowheads="1"/>
          </p:cNvSpPr>
          <p:nvPr/>
        </p:nvSpPr>
        <p:spPr bwMode="auto">
          <a:xfrm>
            <a:off x="3479183" y="2388888"/>
            <a:ext cx="280170" cy="369332"/>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B</a:t>
            </a:r>
          </a:p>
        </p:txBody>
      </p:sp>
      <p:sp>
        <p:nvSpPr>
          <p:cNvPr id="4112" name="Text Box 19"/>
          <p:cNvSpPr txBox="1">
            <a:spLocks noChangeArrowheads="1"/>
          </p:cNvSpPr>
          <p:nvPr/>
        </p:nvSpPr>
        <p:spPr bwMode="auto">
          <a:xfrm>
            <a:off x="3479183" y="3676427"/>
            <a:ext cx="280170" cy="369332"/>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D</a:t>
            </a:r>
          </a:p>
        </p:txBody>
      </p:sp>
      <p:sp>
        <p:nvSpPr>
          <p:cNvPr id="4113" name="Text Box 20"/>
          <p:cNvSpPr txBox="1">
            <a:spLocks noChangeArrowheads="1"/>
          </p:cNvSpPr>
          <p:nvPr/>
        </p:nvSpPr>
        <p:spPr bwMode="auto">
          <a:xfrm>
            <a:off x="1638640" y="2531457"/>
            <a:ext cx="1303327" cy="738664"/>
          </a:xfrm>
          <a:prstGeom prst="rect">
            <a:avLst/>
          </a:prstGeom>
          <a:noFill/>
          <a:ln w="9525">
            <a:noFill/>
            <a:miter lim="800000"/>
            <a:headEnd/>
            <a:tailEnd/>
          </a:ln>
        </p:spPr>
        <p:txBody>
          <a:bodyPr wrap="square">
            <a:spAutoFit/>
          </a:bodyPr>
          <a:lstStyle/>
          <a:p>
            <a:pPr>
              <a:spcBef>
                <a:spcPct val="50000"/>
              </a:spcBef>
            </a:pPr>
            <a:r>
              <a:rPr lang="en-US" altLang="ko-KR" sz="1200" dirty="0">
                <a:solidFill>
                  <a:srgbClr val="000000"/>
                </a:solidFill>
                <a:latin typeface="맑은 고딕" pitchFamily="50" charset="-127"/>
                <a:ea typeface="맑은 고딕" pitchFamily="50" charset="-127"/>
              </a:rPr>
              <a:t>Lack of management</a:t>
            </a:r>
          </a:p>
          <a:p>
            <a:pPr>
              <a:spcBef>
                <a:spcPct val="50000"/>
              </a:spcBef>
            </a:pPr>
            <a:endParaRPr lang="ko-KR" altLang="en-US" sz="1200" dirty="0">
              <a:solidFill>
                <a:srgbClr val="000000"/>
              </a:solidFill>
              <a:latin typeface="맑은 고딕" pitchFamily="50" charset="-127"/>
              <a:ea typeface="맑은 고딕" pitchFamily="50" charset="-127"/>
            </a:endParaRPr>
          </a:p>
        </p:txBody>
      </p:sp>
      <p:sp>
        <p:nvSpPr>
          <p:cNvPr id="4114" name="Text Box 21"/>
          <p:cNvSpPr txBox="1">
            <a:spLocks noChangeArrowheads="1"/>
          </p:cNvSpPr>
          <p:nvPr/>
        </p:nvSpPr>
        <p:spPr bwMode="auto">
          <a:xfrm>
            <a:off x="1708108" y="3973821"/>
            <a:ext cx="1117345" cy="646331"/>
          </a:xfrm>
          <a:prstGeom prst="rect">
            <a:avLst/>
          </a:prstGeom>
          <a:noFill/>
          <a:ln w="9525">
            <a:noFill/>
            <a:miter lim="800000"/>
            <a:headEnd/>
            <a:tailEnd/>
          </a:ln>
        </p:spPr>
        <p:txBody>
          <a:bodyPr>
            <a:spAutoFit/>
          </a:bodyPr>
          <a:lstStyle/>
          <a:p>
            <a:pPr>
              <a:spcBef>
                <a:spcPct val="50000"/>
              </a:spcBef>
            </a:pPr>
            <a:r>
              <a:rPr lang="en-US" altLang="ko-KR" sz="1200" dirty="0">
                <a:solidFill>
                  <a:srgbClr val="000000"/>
                </a:solidFill>
                <a:latin typeface="맑은 고딕" pitchFamily="50" charset="-127"/>
                <a:ea typeface="맑은 고딕" pitchFamily="50" charset="-127"/>
              </a:rPr>
              <a:t>Proper management</a:t>
            </a:r>
            <a:endParaRPr lang="ko-KR" altLang="en-US" sz="1200" dirty="0">
              <a:solidFill>
                <a:srgbClr val="000000"/>
              </a:solidFill>
              <a:latin typeface="맑은 고딕" pitchFamily="50" charset="-127"/>
              <a:ea typeface="맑은 고딕" pitchFamily="50" charset="-127"/>
            </a:endParaRPr>
          </a:p>
          <a:p>
            <a:pPr>
              <a:lnSpc>
                <a:spcPct val="50000"/>
              </a:lnSpc>
              <a:spcBef>
                <a:spcPct val="50000"/>
              </a:spcBef>
            </a:pPr>
            <a:r>
              <a:rPr lang="en-US" altLang="ko-KR" sz="1200" dirty="0">
                <a:solidFill>
                  <a:srgbClr val="000000"/>
                </a:solidFill>
                <a:latin typeface="맑은 고딕" pitchFamily="50" charset="-127"/>
                <a:ea typeface="맑은 고딕" pitchFamily="50" charset="-127"/>
              </a:rPr>
              <a:t>Lack of skills</a:t>
            </a:r>
            <a:endParaRPr lang="ko-KR" altLang="en-US" sz="1200" dirty="0">
              <a:solidFill>
                <a:srgbClr val="000000"/>
              </a:solidFill>
              <a:latin typeface="맑은 고딕" pitchFamily="50" charset="-127"/>
              <a:ea typeface="맑은 고딕" pitchFamily="50" charset="-127"/>
            </a:endParaRPr>
          </a:p>
        </p:txBody>
      </p:sp>
      <p:sp>
        <p:nvSpPr>
          <p:cNvPr id="4115" name="Text Box 22"/>
          <p:cNvSpPr txBox="1">
            <a:spLocks noChangeArrowheads="1"/>
          </p:cNvSpPr>
          <p:nvPr/>
        </p:nvSpPr>
        <p:spPr bwMode="auto">
          <a:xfrm>
            <a:off x="3501618" y="2662141"/>
            <a:ext cx="1213911" cy="738664"/>
          </a:xfrm>
          <a:prstGeom prst="rect">
            <a:avLst/>
          </a:prstGeom>
          <a:noFill/>
          <a:ln w="9525">
            <a:noFill/>
            <a:miter lim="800000"/>
            <a:headEnd/>
            <a:tailEnd/>
          </a:ln>
        </p:spPr>
        <p:txBody>
          <a:bodyPr wrap="square">
            <a:spAutoFit/>
          </a:bodyPr>
          <a:lstStyle/>
          <a:p>
            <a:pPr>
              <a:spcBef>
                <a:spcPct val="50000"/>
              </a:spcBef>
            </a:pPr>
            <a:r>
              <a:rPr lang="en-US" altLang="ko-KR" sz="1200" dirty="0">
                <a:solidFill>
                  <a:srgbClr val="000000"/>
                </a:solidFill>
                <a:latin typeface="맑은 고딕" pitchFamily="50" charset="-127"/>
                <a:ea typeface="맑은 고딕" pitchFamily="50" charset="-127"/>
              </a:rPr>
              <a:t>Lack of management</a:t>
            </a:r>
          </a:p>
          <a:p>
            <a:pPr>
              <a:spcBef>
                <a:spcPct val="50000"/>
              </a:spcBef>
            </a:pPr>
            <a:r>
              <a:rPr lang="en-US" altLang="ko-KR" sz="1200" dirty="0">
                <a:solidFill>
                  <a:srgbClr val="000000"/>
                </a:solidFill>
                <a:latin typeface="맑은 고딕" pitchFamily="50" charset="-127"/>
                <a:ea typeface="맑은 고딕" pitchFamily="50" charset="-127"/>
              </a:rPr>
              <a:t>Proper skills</a:t>
            </a:r>
            <a:endParaRPr lang="ko-KR" altLang="en-US" sz="1200" dirty="0">
              <a:solidFill>
                <a:srgbClr val="000000"/>
              </a:solidFill>
              <a:latin typeface="맑은 고딕" pitchFamily="50" charset="-127"/>
              <a:ea typeface="맑은 고딕" pitchFamily="50" charset="-127"/>
            </a:endParaRPr>
          </a:p>
        </p:txBody>
      </p:sp>
      <p:sp>
        <p:nvSpPr>
          <p:cNvPr id="4116" name="Text Box 23"/>
          <p:cNvSpPr txBox="1">
            <a:spLocks noChangeArrowheads="1"/>
          </p:cNvSpPr>
          <p:nvPr/>
        </p:nvSpPr>
        <p:spPr bwMode="auto">
          <a:xfrm>
            <a:off x="3697650" y="3930085"/>
            <a:ext cx="1138122" cy="738664"/>
          </a:xfrm>
          <a:prstGeom prst="rect">
            <a:avLst/>
          </a:prstGeom>
          <a:noFill/>
          <a:ln w="9525">
            <a:noFill/>
            <a:miter lim="800000"/>
            <a:headEnd/>
            <a:tailEnd/>
          </a:ln>
        </p:spPr>
        <p:txBody>
          <a:bodyPr wrap="square">
            <a:spAutoFit/>
          </a:bodyPr>
          <a:lstStyle/>
          <a:p>
            <a:pPr>
              <a:spcBef>
                <a:spcPct val="50000"/>
              </a:spcBef>
            </a:pPr>
            <a:r>
              <a:rPr lang="en-US" altLang="ko-KR" sz="1200" dirty="0">
                <a:solidFill>
                  <a:srgbClr val="000000"/>
                </a:solidFill>
                <a:latin typeface="맑은 고딕" pitchFamily="50" charset="-127"/>
                <a:ea typeface="맑은 고딕" pitchFamily="50" charset="-127"/>
              </a:rPr>
              <a:t>Proper management</a:t>
            </a:r>
          </a:p>
          <a:p>
            <a:pPr>
              <a:spcBef>
                <a:spcPct val="50000"/>
              </a:spcBef>
            </a:pPr>
            <a:r>
              <a:rPr lang="en-US" altLang="ko-KR" sz="1200" dirty="0">
                <a:solidFill>
                  <a:srgbClr val="000000"/>
                </a:solidFill>
                <a:latin typeface="맑은 고딕" pitchFamily="50" charset="-127"/>
                <a:ea typeface="맑은 고딕" pitchFamily="50" charset="-127"/>
              </a:rPr>
              <a:t>Proper skills</a:t>
            </a:r>
            <a:endParaRPr lang="ko-KR" altLang="en-US" sz="1200" dirty="0">
              <a:solidFill>
                <a:srgbClr val="000000"/>
              </a:solidFill>
              <a:latin typeface="맑은 고딕" pitchFamily="50" charset="-127"/>
              <a:ea typeface="맑은 고딕" pitchFamily="50" charset="-127"/>
            </a:endParaRPr>
          </a:p>
        </p:txBody>
      </p:sp>
      <p:sp>
        <p:nvSpPr>
          <p:cNvPr id="4117" name="Oval 24"/>
          <p:cNvSpPr>
            <a:spLocks noChangeArrowheads="1"/>
          </p:cNvSpPr>
          <p:nvPr/>
        </p:nvSpPr>
        <p:spPr bwMode="auto">
          <a:xfrm>
            <a:off x="2902166" y="2677535"/>
            <a:ext cx="111735" cy="118957"/>
          </a:xfrm>
          <a:prstGeom prst="ellipse">
            <a:avLst/>
          </a:prstGeom>
          <a:solidFill>
            <a:srgbClr val="FF0000"/>
          </a:solidFill>
          <a:ln w="9525" algn="ctr">
            <a:solidFill>
              <a:srgbClr val="FF0000"/>
            </a:solidFill>
            <a:round/>
            <a:headEnd/>
            <a:tailEnd/>
          </a:ln>
        </p:spPr>
        <p:txBody>
          <a:bodyPr wrap="none" anchor="ctr"/>
          <a:lstStyle/>
          <a:p>
            <a:pPr algn="ctr"/>
            <a:endParaRPr lang="ko-KR" altLang="en-US" sz="1000" dirty="0">
              <a:solidFill>
                <a:srgbClr val="000000"/>
              </a:solidFill>
              <a:latin typeface="맑은 고딕" pitchFamily="50" charset="-127"/>
              <a:ea typeface="맑은 고딕" pitchFamily="50" charset="-127"/>
            </a:endParaRPr>
          </a:p>
        </p:txBody>
      </p:sp>
      <p:sp>
        <p:nvSpPr>
          <p:cNvPr id="4118" name="Oval 25"/>
          <p:cNvSpPr>
            <a:spLocks noChangeArrowheads="1"/>
          </p:cNvSpPr>
          <p:nvPr/>
        </p:nvSpPr>
        <p:spPr bwMode="auto">
          <a:xfrm>
            <a:off x="2902166" y="4481138"/>
            <a:ext cx="111735" cy="120706"/>
          </a:xfrm>
          <a:prstGeom prst="ellipse">
            <a:avLst/>
          </a:prstGeom>
          <a:solidFill>
            <a:srgbClr val="FF0000"/>
          </a:solidFill>
          <a:ln w="9525" algn="ctr">
            <a:solidFill>
              <a:srgbClr val="FF0000"/>
            </a:solidFill>
            <a:round/>
            <a:headEnd/>
            <a:tailEnd/>
          </a:ln>
        </p:spPr>
        <p:txBody>
          <a:bodyPr wrap="none" anchor="ctr"/>
          <a:lstStyle/>
          <a:p>
            <a:pPr algn="ctr"/>
            <a:endParaRPr lang="ko-KR" altLang="en-US" sz="1000" dirty="0">
              <a:solidFill>
                <a:srgbClr val="000000"/>
              </a:solidFill>
              <a:latin typeface="맑은 고딕" pitchFamily="50" charset="-127"/>
              <a:ea typeface="맑은 고딕" pitchFamily="50" charset="-127"/>
            </a:endParaRPr>
          </a:p>
        </p:txBody>
      </p:sp>
      <p:sp>
        <p:nvSpPr>
          <p:cNvPr id="4119" name="Oval 26"/>
          <p:cNvSpPr>
            <a:spLocks noChangeArrowheads="1"/>
          </p:cNvSpPr>
          <p:nvPr/>
        </p:nvSpPr>
        <p:spPr bwMode="auto">
          <a:xfrm>
            <a:off x="4328033" y="3219841"/>
            <a:ext cx="111734" cy="118957"/>
          </a:xfrm>
          <a:prstGeom prst="ellipse">
            <a:avLst/>
          </a:prstGeom>
          <a:solidFill>
            <a:srgbClr val="FF0000"/>
          </a:solidFill>
          <a:ln w="9525" algn="ctr">
            <a:solidFill>
              <a:srgbClr val="FF0000"/>
            </a:solidFill>
            <a:round/>
            <a:headEnd/>
            <a:tailEnd/>
          </a:ln>
        </p:spPr>
        <p:txBody>
          <a:bodyPr wrap="none" anchor="ctr"/>
          <a:lstStyle/>
          <a:p>
            <a:pPr algn="ctr"/>
            <a:endParaRPr lang="ko-KR" altLang="en-US" sz="1000" dirty="0">
              <a:solidFill>
                <a:srgbClr val="000000"/>
              </a:solidFill>
              <a:latin typeface="맑은 고딕" pitchFamily="50" charset="-127"/>
              <a:ea typeface="맑은 고딕" pitchFamily="50" charset="-127"/>
            </a:endParaRPr>
          </a:p>
        </p:txBody>
      </p:sp>
      <p:sp>
        <p:nvSpPr>
          <p:cNvPr id="4120" name="Line 27"/>
          <p:cNvSpPr>
            <a:spLocks noChangeShapeType="1"/>
          </p:cNvSpPr>
          <p:nvPr/>
        </p:nvSpPr>
        <p:spPr bwMode="auto">
          <a:xfrm>
            <a:off x="3005563" y="2805240"/>
            <a:ext cx="833839" cy="1084611"/>
          </a:xfrm>
          <a:prstGeom prst="line">
            <a:avLst/>
          </a:prstGeom>
          <a:noFill/>
          <a:ln w="9525">
            <a:solidFill>
              <a:srgbClr val="FF0000"/>
            </a:solidFill>
            <a:round/>
            <a:headEnd/>
            <a:tailEnd type="triangle" w="med" len="med"/>
          </a:ln>
        </p:spPr>
        <p:txBody>
          <a:bodyPr anchor="ctr"/>
          <a:lstStyle/>
          <a:p>
            <a:endParaRPr lang="ko-KR" altLang="en-US" dirty="0">
              <a:solidFill>
                <a:prstClr val="black"/>
              </a:solidFill>
            </a:endParaRPr>
          </a:p>
        </p:txBody>
      </p:sp>
      <p:sp>
        <p:nvSpPr>
          <p:cNvPr id="4121" name="Line 28"/>
          <p:cNvSpPr>
            <a:spLocks noChangeShapeType="1"/>
          </p:cNvSpPr>
          <p:nvPr/>
        </p:nvSpPr>
        <p:spPr bwMode="auto">
          <a:xfrm flipV="1">
            <a:off x="3027243" y="4276462"/>
            <a:ext cx="720438" cy="241413"/>
          </a:xfrm>
          <a:prstGeom prst="line">
            <a:avLst/>
          </a:prstGeom>
          <a:noFill/>
          <a:ln w="9525">
            <a:solidFill>
              <a:srgbClr val="FF0000"/>
            </a:solidFill>
            <a:round/>
            <a:headEnd/>
            <a:tailEnd type="triangle" w="med" len="med"/>
          </a:ln>
        </p:spPr>
        <p:txBody>
          <a:bodyPr anchor="ctr"/>
          <a:lstStyle/>
          <a:p>
            <a:endParaRPr lang="ko-KR" altLang="en-US" dirty="0">
              <a:solidFill>
                <a:prstClr val="black"/>
              </a:solidFill>
            </a:endParaRPr>
          </a:p>
        </p:txBody>
      </p:sp>
      <p:sp>
        <p:nvSpPr>
          <p:cNvPr id="4122" name="Line 29"/>
          <p:cNvSpPr>
            <a:spLocks noChangeShapeType="1"/>
          </p:cNvSpPr>
          <p:nvPr/>
        </p:nvSpPr>
        <p:spPr bwMode="auto">
          <a:xfrm flipH="1">
            <a:off x="4237978" y="3398277"/>
            <a:ext cx="110067" cy="482827"/>
          </a:xfrm>
          <a:prstGeom prst="line">
            <a:avLst/>
          </a:prstGeom>
          <a:noFill/>
          <a:ln w="9525">
            <a:solidFill>
              <a:srgbClr val="FF0000"/>
            </a:solidFill>
            <a:round/>
            <a:headEnd/>
            <a:tailEnd type="triangle" w="med" len="med"/>
          </a:ln>
        </p:spPr>
        <p:txBody>
          <a:bodyPr anchor="ctr"/>
          <a:lstStyle/>
          <a:p>
            <a:endParaRPr lang="ko-KR" altLang="en-US" dirty="0">
              <a:solidFill>
                <a:prstClr val="black"/>
              </a:solidFill>
            </a:endParaRPr>
          </a:p>
        </p:txBody>
      </p:sp>
      <p:sp>
        <p:nvSpPr>
          <p:cNvPr id="4123" name="Line 30"/>
          <p:cNvSpPr>
            <a:spLocks noChangeShapeType="1"/>
          </p:cNvSpPr>
          <p:nvPr/>
        </p:nvSpPr>
        <p:spPr bwMode="auto">
          <a:xfrm>
            <a:off x="845919" y="2569073"/>
            <a:ext cx="0" cy="2380896"/>
          </a:xfrm>
          <a:prstGeom prst="line">
            <a:avLst/>
          </a:prstGeom>
          <a:noFill/>
          <a:ln w="9525">
            <a:solidFill>
              <a:srgbClr val="FF0000"/>
            </a:solidFill>
            <a:round/>
            <a:headEnd type="triangle" w="med" len="med"/>
            <a:tailEnd type="triangle" w="med" len="med"/>
          </a:ln>
        </p:spPr>
        <p:txBody>
          <a:bodyPr anchor="ctr"/>
          <a:lstStyle/>
          <a:p>
            <a:endParaRPr lang="ko-KR" altLang="en-US" dirty="0">
              <a:solidFill>
                <a:prstClr val="black"/>
              </a:solidFill>
            </a:endParaRPr>
          </a:p>
        </p:txBody>
      </p:sp>
      <p:sp>
        <p:nvSpPr>
          <p:cNvPr id="4124" name="Line 31"/>
          <p:cNvSpPr>
            <a:spLocks noChangeShapeType="1"/>
          </p:cNvSpPr>
          <p:nvPr/>
        </p:nvSpPr>
        <p:spPr bwMode="auto">
          <a:xfrm>
            <a:off x="1166113" y="5534260"/>
            <a:ext cx="3403733" cy="0"/>
          </a:xfrm>
          <a:prstGeom prst="line">
            <a:avLst/>
          </a:prstGeom>
          <a:noFill/>
          <a:ln w="9525">
            <a:solidFill>
              <a:srgbClr val="FF0000"/>
            </a:solidFill>
            <a:round/>
            <a:headEnd type="triangle" w="med" len="med"/>
            <a:tailEnd type="triangle" w="med" len="med"/>
          </a:ln>
        </p:spPr>
        <p:txBody>
          <a:bodyPr anchor="ctr"/>
          <a:lstStyle/>
          <a:p>
            <a:endParaRPr lang="ko-KR" altLang="en-US" dirty="0">
              <a:solidFill>
                <a:prstClr val="black"/>
              </a:solidFill>
            </a:endParaRPr>
          </a:p>
        </p:txBody>
      </p:sp>
      <p:sp>
        <p:nvSpPr>
          <p:cNvPr id="4125" name="Text Box 32"/>
          <p:cNvSpPr txBox="1">
            <a:spLocks noChangeArrowheads="1"/>
          </p:cNvSpPr>
          <p:nvPr/>
        </p:nvSpPr>
        <p:spPr bwMode="auto">
          <a:xfrm>
            <a:off x="275573" y="2453615"/>
            <a:ext cx="605367" cy="276999"/>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Poor</a:t>
            </a:r>
          </a:p>
        </p:txBody>
      </p:sp>
      <p:sp>
        <p:nvSpPr>
          <p:cNvPr id="4126" name="Text Box 33"/>
          <p:cNvSpPr txBox="1">
            <a:spLocks noChangeArrowheads="1"/>
          </p:cNvSpPr>
          <p:nvPr/>
        </p:nvSpPr>
        <p:spPr bwMode="auto">
          <a:xfrm>
            <a:off x="270569" y="4726051"/>
            <a:ext cx="605368" cy="276999"/>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Good</a:t>
            </a:r>
          </a:p>
        </p:txBody>
      </p:sp>
      <p:sp>
        <p:nvSpPr>
          <p:cNvPr id="4127" name="Text Box 34"/>
          <p:cNvSpPr txBox="1">
            <a:spLocks noChangeArrowheads="1"/>
          </p:cNvSpPr>
          <p:nvPr/>
        </p:nvSpPr>
        <p:spPr bwMode="auto">
          <a:xfrm>
            <a:off x="4214630" y="5555253"/>
            <a:ext cx="605367" cy="276999"/>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Good</a:t>
            </a:r>
          </a:p>
        </p:txBody>
      </p:sp>
      <p:sp>
        <p:nvSpPr>
          <p:cNvPr id="4128" name="Text Box 35"/>
          <p:cNvSpPr txBox="1">
            <a:spLocks noChangeArrowheads="1"/>
          </p:cNvSpPr>
          <p:nvPr/>
        </p:nvSpPr>
        <p:spPr bwMode="auto">
          <a:xfrm>
            <a:off x="939308" y="5518515"/>
            <a:ext cx="605367" cy="276999"/>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Poor</a:t>
            </a:r>
          </a:p>
        </p:txBody>
      </p:sp>
      <p:sp>
        <p:nvSpPr>
          <p:cNvPr id="4129" name="Text Box 36"/>
          <p:cNvSpPr txBox="1">
            <a:spLocks noChangeArrowheads="1"/>
          </p:cNvSpPr>
          <p:nvPr/>
        </p:nvSpPr>
        <p:spPr bwMode="auto">
          <a:xfrm rot="16200000">
            <a:off x="19946" y="3511688"/>
            <a:ext cx="1270044" cy="276999"/>
          </a:xfrm>
          <a:prstGeom prst="rect">
            <a:avLst/>
          </a:prstGeom>
          <a:noFill/>
          <a:ln w="9525" algn="ctr">
            <a:noFill/>
            <a:miter lim="800000"/>
            <a:headEnd/>
            <a:tailEnd/>
          </a:ln>
        </p:spPr>
        <p:txBody>
          <a:bodyPr>
            <a:spAutoFit/>
          </a:bodyPr>
          <a:lstStyle/>
          <a:p>
            <a:pPr algn="ctr">
              <a:spcBef>
                <a:spcPct val="50000"/>
              </a:spcBef>
            </a:pPr>
            <a:r>
              <a:rPr lang="en-US" altLang="ko-KR" sz="1200" b="1" dirty="0">
                <a:solidFill>
                  <a:srgbClr val="000000"/>
                </a:solidFill>
                <a:latin typeface="맑은 고딕" pitchFamily="50" charset="-127"/>
                <a:ea typeface="맑은 고딕" pitchFamily="50" charset="-127"/>
              </a:rPr>
              <a:t>Control</a:t>
            </a:r>
          </a:p>
        </p:txBody>
      </p:sp>
      <p:sp>
        <p:nvSpPr>
          <p:cNvPr id="4130" name="Text Box 37"/>
          <p:cNvSpPr txBox="1">
            <a:spLocks noChangeArrowheads="1"/>
          </p:cNvSpPr>
          <p:nvPr/>
        </p:nvSpPr>
        <p:spPr bwMode="auto">
          <a:xfrm>
            <a:off x="2375180" y="5506271"/>
            <a:ext cx="1210735" cy="276999"/>
          </a:xfrm>
          <a:prstGeom prst="rect">
            <a:avLst/>
          </a:prstGeom>
          <a:noFill/>
          <a:ln w="9525" algn="ctr">
            <a:noFill/>
            <a:miter lim="800000"/>
            <a:headEnd/>
            <a:tailEnd/>
          </a:ln>
        </p:spPr>
        <p:txBody>
          <a:bodyPr>
            <a:spAutoFit/>
          </a:bodyPr>
          <a:lstStyle/>
          <a:p>
            <a:pPr algn="ctr">
              <a:spcBef>
                <a:spcPct val="50000"/>
              </a:spcBef>
            </a:pPr>
            <a:r>
              <a:rPr lang="en-US" altLang="ko-KR" sz="1200" b="1" dirty="0">
                <a:solidFill>
                  <a:srgbClr val="000000"/>
                </a:solidFill>
                <a:latin typeface="맑은 고딕" pitchFamily="50" charset="-127"/>
                <a:ea typeface="맑은 고딕" pitchFamily="50" charset="-127"/>
              </a:rPr>
              <a:t>Technology</a:t>
            </a:r>
          </a:p>
        </p:txBody>
      </p:sp>
      <p:sp>
        <p:nvSpPr>
          <p:cNvPr id="4131" name="Rectangle 55"/>
          <p:cNvSpPr>
            <a:spLocks noChangeArrowheads="1"/>
          </p:cNvSpPr>
          <p:nvPr/>
        </p:nvSpPr>
        <p:spPr bwMode="auto">
          <a:xfrm>
            <a:off x="3814388" y="4890491"/>
            <a:ext cx="1087326" cy="523220"/>
          </a:xfrm>
          <a:prstGeom prst="rect">
            <a:avLst/>
          </a:prstGeom>
          <a:noFill/>
          <a:ln w="9525">
            <a:noFill/>
            <a:miter lim="800000"/>
            <a:headEnd/>
            <a:tailEnd/>
          </a:ln>
        </p:spPr>
        <p:txBody>
          <a:bodyPr>
            <a:spAutoFit/>
          </a:bodyPr>
          <a:lstStyle/>
          <a:p>
            <a:r>
              <a:rPr lang="en-US" altLang="ko-KR" sz="1400" b="1" dirty="0">
                <a:solidFill>
                  <a:srgbClr val="000000"/>
                </a:solidFill>
                <a:latin typeface="맑은 고딕" pitchFamily="50" charset="-127"/>
                <a:ea typeface="맑은 고딕" pitchFamily="50" charset="-127"/>
              </a:rPr>
              <a:t>Z</a:t>
            </a:r>
            <a:r>
              <a:rPr lang="en-US" altLang="ko-KR" sz="1400" b="1" baseline="-25000" dirty="0">
                <a:solidFill>
                  <a:srgbClr val="000000"/>
                </a:solidFill>
                <a:latin typeface="맑은 고딕" pitchFamily="50" charset="-127"/>
                <a:ea typeface="맑은 고딕" pitchFamily="50" charset="-127"/>
              </a:rPr>
              <a:t>ST </a:t>
            </a:r>
            <a:r>
              <a:rPr lang="ko-KR" altLang="en-US" sz="14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Or Z</a:t>
            </a:r>
            <a:r>
              <a:rPr lang="en-US" altLang="ko-KR" sz="1400" b="1" baseline="-25000" dirty="0">
                <a:solidFill>
                  <a:srgbClr val="000000"/>
                </a:solidFill>
                <a:latin typeface="맑은 고딕" pitchFamily="50" charset="-127"/>
                <a:ea typeface="맑은 고딕" pitchFamily="50" charset="-127"/>
              </a:rPr>
              <a:t>ST</a:t>
            </a:r>
            <a:r>
              <a:rPr lang="en-US" altLang="ko-KR" sz="1400" b="1" dirty="0">
                <a:solidFill>
                  <a:srgbClr val="000000"/>
                </a:solidFill>
                <a:latin typeface="맑은 고딕" pitchFamily="50" charset="-127"/>
                <a:ea typeface="맑은 고딕" pitchFamily="50" charset="-127"/>
              </a:rPr>
              <a:t>(Bench)</a:t>
            </a:r>
          </a:p>
        </p:txBody>
      </p:sp>
      <p:sp>
        <p:nvSpPr>
          <p:cNvPr id="4155" name="TextBox 59"/>
          <p:cNvSpPr txBox="1">
            <a:spLocks noChangeArrowheads="1"/>
          </p:cNvSpPr>
          <p:nvPr/>
        </p:nvSpPr>
        <p:spPr bwMode="auto">
          <a:xfrm>
            <a:off x="251520" y="1643051"/>
            <a:ext cx="2544992"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Rational Subgrouping(O)</a:t>
            </a:r>
            <a:endParaRPr lang="ko-KR" altLang="en-US" sz="1400" b="1" dirty="0">
              <a:solidFill>
                <a:srgbClr val="000000"/>
              </a:solidFill>
              <a:latin typeface="맑은 고딕" pitchFamily="50" charset="-127"/>
              <a:ea typeface="맑은 고딕" pitchFamily="50" charset="-127"/>
            </a:endParaRP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240</a:t>
            </a:fld>
            <a:endParaRPr lang="ko-KR" altLang="en-US" dirty="0">
              <a:solidFill>
                <a:prstClr val="black"/>
              </a:solidFill>
            </a:endParaRPr>
          </a:p>
        </p:txBody>
      </p:sp>
      <p:sp>
        <p:nvSpPr>
          <p:cNvPr id="94" name="TextBox 59"/>
          <p:cNvSpPr txBox="1">
            <a:spLocks noChangeArrowheads="1"/>
          </p:cNvSpPr>
          <p:nvPr/>
        </p:nvSpPr>
        <p:spPr bwMode="auto">
          <a:xfrm>
            <a:off x="4804547" y="2007679"/>
            <a:ext cx="2522550"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Rational Subgrouping(X)</a:t>
            </a:r>
            <a:endParaRPr lang="ko-KR" altLang="en-US" sz="1400" b="1" dirty="0">
              <a:solidFill>
                <a:srgbClr val="000000"/>
              </a:solidFill>
              <a:latin typeface="맑은 고딕" pitchFamily="50" charset="-127"/>
              <a:ea typeface="맑은 고딕" pitchFamily="50" charset="-127"/>
            </a:endParaRPr>
          </a:p>
        </p:txBody>
      </p:sp>
      <p:grpSp>
        <p:nvGrpSpPr>
          <p:cNvPr id="5" name="Group 54"/>
          <p:cNvGrpSpPr>
            <a:grpSpLocks/>
          </p:cNvGrpSpPr>
          <p:nvPr/>
        </p:nvGrpSpPr>
        <p:grpSpPr bwMode="auto">
          <a:xfrm>
            <a:off x="4967657" y="3443820"/>
            <a:ext cx="2791695" cy="431800"/>
            <a:chOff x="1731" y="2548"/>
            <a:chExt cx="825" cy="516"/>
          </a:xfrm>
        </p:grpSpPr>
        <p:sp>
          <p:nvSpPr>
            <p:cNvPr id="96"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97"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8"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9"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00"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101" name="Text Box 7"/>
          <p:cNvSpPr txBox="1">
            <a:spLocks noChangeArrowheads="1"/>
          </p:cNvSpPr>
          <p:nvPr/>
        </p:nvSpPr>
        <p:spPr bwMode="auto">
          <a:xfrm>
            <a:off x="5045053" y="2371215"/>
            <a:ext cx="3855198" cy="523220"/>
          </a:xfrm>
          <a:prstGeom prst="rect">
            <a:avLst/>
          </a:prstGeom>
          <a:noFill/>
          <a:ln w="9525" algn="ctr">
            <a:noFill/>
            <a:miter lim="800000"/>
            <a:headEnd/>
            <a:tailEnd/>
          </a:ln>
        </p:spPr>
        <p:txBody>
          <a:bodyPr wrap="square">
            <a:spAutoFit/>
          </a:bodyPr>
          <a:lstStyle/>
          <a:p>
            <a:pPr>
              <a:spcBef>
                <a:spcPct val="50000"/>
              </a:spcBef>
            </a:pPr>
            <a:r>
              <a:rPr lang="en-US" altLang="ko-KR" sz="1400" b="1" dirty="0">
                <a:solidFill>
                  <a:srgbClr val="000000"/>
                </a:solidFill>
                <a:latin typeface="맑은 고딕" pitchFamily="50" charset="-127"/>
                <a:ea typeface="맑은 고딕" pitchFamily="50" charset="-127"/>
              </a:rPr>
              <a:t>Setting the improvement direction by the standard and dispersion shape</a:t>
            </a:r>
          </a:p>
        </p:txBody>
      </p:sp>
      <p:grpSp>
        <p:nvGrpSpPr>
          <p:cNvPr id="8" name="Group 54"/>
          <p:cNvGrpSpPr>
            <a:grpSpLocks/>
          </p:cNvGrpSpPr>
          <p:nvPr/>
        </p:nvGrpSpPr>
        <p:grpSpPr bwMode="auto">
          <a:xfrm>
            <a:off x="7480035" y="3429570"/>
            <a:ext cx="1299797" cy="431800"/>
            <a:chOff x="1731" y="2548"/>
            <a:chExt cx="825" cy="516"/>
          </a:xfrm>
        </p:grpSpPr>
        <p:sp>
          <p:nvSpPr>
            <p:cNvPr id="103"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04"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05"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06"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07"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12" name="Group 54"/>
          <p:cNvGrpSpPr>
            <a:grpSpLocks/>
          </p:cNvGrpSpPr>
          <p:nvPr/>
        </p:nvGrpSpPr>
        <p:grpSpPr bwMode="auto">
          <a:xfrm>
            <a:off x="7371466" y="4496580"/>
            <a:ext cx="1299797" cy="431800"/>
            <a:chOff x="1731" y="2548"/>
            <a:chExt cx="825" cy="516"/>
          </a:xfrm>
        </p:grpSpPr>
        <p:sp>
          <p:nvSpPr>
            <p:cNvPr id="115"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16"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17"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18"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19"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cxnSp>
        <p:nvCxnSpPr>
          <p:cNvPr id="7" name="직선 연결선 6"/>
          <p:cNvCxnSpPr/>
          <p:nvPr/>
        </p:nvCxnSpPr>
        <p:spPr>
          <a:xfrm>
            <a:off x="5565877" y="335756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직선 연결선 121"/>
          <p:cNvCxnSpPr/>
          <p:nvPr/>
        </p:nvCxnSpPr>
        <p:spPr>
          <a:xfrm>
            <a:off x="6562911" y="335756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p:cNvCxnSpPr/>
          <p:nvPr/>
        </p:nvCxnSpPr>
        <p:spPr>
          <a:xfrm>
            <a:off x="5776211" y="442457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직선 연결선 123"/>
          <p:cNvCxnSpPr/>
          <p:nvPr/>
        </p:nvCxnSpPr>
        <p:spPr>
          <a:xfrm>
            <a:off x="6773245" y="442457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직선 연결선 124"/>
          <p:cNvCxnSpPr/>
          <p:nvPr/>
        </p:nvCxnSpPr>
        <p:spPr>
          <a:xfrm>
            <a:off x="7294069" y="335756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직선 연결선 125"/>
          <p:cNvCxnSpPr/>
          <p:nvPr/>
        </p:nvCxnSpPr>
        <p:spPr>
          <a:xfrm>
            <a:off x="8291103" y="335756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직선 연결선 126"/>
          <p:cNvCxnSpPr/>
          <p:nvPr/>
        </p:nvCxnSpPr>
        <p:spPr>
          <a:xfrm>
            <a:off x="7504403" y="442457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직선 연결선 127"/>
          <p:cNvCxnSpPr/>
          <p:nvPr/>
        </p:nvCxnSpPr>
        <p:spPr>
          <a:xfrm>
            <a:off x="8501437" y="4424572"/>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7161131" y="3861618"/>
            <a:ext cx="139584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oup 54"/>
          <p:cNvGrpSpPr>
            <a:grpSpLocks/>
          </p:cNvGrpSpPr>
          <p:nvPr/>
        </p:nvGrpSpPr>
        <p:grpSpPr bwMode="auto">
          <a:xfrm>
            <a:off x="4912115" y="4496580"/>
            <a:ext cx="2791695" cy="431800"/>
            <a:chOff x="1731" y="2548"/>
            <a:chExt cx="825" cy="516"/>
          </a:xfrm>
        </p:grpSpPr>
        <p:sp>
          <p:nvSpPr>
            <p:cNvPr id="132"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33"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34"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35"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36"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10" name="TextBox 9"/>
          <p:cNvSpPr txBox="1"/>
          <p:nvPr/>
        </p:nvSpPr>
        <p:spPr>
          <a:xfrm>
            <a:off x="4978585" y="2840396"/>
            <a:ext cx="2165208" cy="572464"/>
          </a:xfrm>
          <a:prstGeom prst="rect">
            <a:avLst/>
          </a:prstGeom>
          <a:noFill/>
        </p:spPr>
        <p:txBody>
          <a:bodyPr wrap="none" rtlCol="0">
            <a:spAutoFit/>
          </a:bodyPr>
          <a:lstStyle/>
          <a:p>
            <a:pPr>
              <a:lnSpc>
                <a:spcPct val="130000"/>
              </a:lnSpc>
              <a:buClr>
                <a:srgbClr val="C5003D"/>
              </a:buClr>
            </a:pPr>
            <a:r>
              <a:rPr lang="en-US" altLang="ko-KR" sz="1200" b="1" dirty="0"/>
              <a:t>A  dispersion and average </a:t>
            </a:r>
          </a:p>
          <a:p>
            <a:pPr>
              <a:lnSpc>
                <a:spcPct val="130000"/>
              </a:lnSpc>
              <a:buClr>
                <a:srgbClr val="C5003D"/>
              </a:buClr>
            </a:pPr>
            <a:r>
              <a:rPr lang="en-US" altLang="ko-KR" sz="1200" b="1" dirty="0"/>
              <a:t>     improvement</a:t>
            </a:r>
            <a:endParaRPr lang="ko-KR" altLang="en-US" sz="1200" b="1" dirty="0"/>
          </a:p>
        </p:txBody>
      </p:sp>
      <p:sp>
        <p:nvSpPr>
          <p:cNvPr id="138" name="TextBox 137"/>
          <p:cNvSpPr txBox="1"/>
          <p:nvPr/>
        </p:nvSpPr>
        <p:spPr>
          <a:xfrm>
            <a:off x="7105590" y="2840397"/>
            <a:ext cx="1970668" cy="332399"/>
          </a:xfrm>
          <a:prstGeom prst="rect">
            <a:avLst/>
          </a:prstGeom>
          <a:noFill/>
        </p:spPr>
        <p:txBody>
          <a:bodyPr wrap="none" rtlCol="0">
            <a:spAutoFit/>
          </a:bodyPr>
          <a:lstStyle/>
          <a:p>
            <a:pPr>
              <a:lnSpc>
                <a:spcPct val="130000"/>
              </a:lnSpc>
              <a:buClr>
                <a:srgbClr val="C5003D"/>
              </a:buClr>
            </a:pPr>
            <a:r>
              <a:rPr lang="en-US" altLang="ko-KR" sz="1200" b="1" dirty="0"/>
              <a:t>B Average improvement</a:t>
            </a:r>
            <a:endParaRPr lang="ko-KR" altLang="en-US" sz="1200" b="1" dirty="0"/>
          </a:p>
        </p:txBody>
      </p:sp>
      <p:sp>
        <p:nvSpPr>
          <p:cNvPr id="139" name="TextBox 138"/>
          <p:cNvSpPr txBox="1"/>
          <p:nvPr/>
        </p:nvSpPr>
        <p:spPr>
          <a:xfrm>
            <a:off x="4978584" y="4064533"/>
            <a:ext cx="2198102" cy="332399"/>
          </a:xfrm>
          <a:prstGeom prst="rect">
            <a:avLst/>
          </a:prstGeom>
          <a:noFill/>
        </p:spPr>
        <p:txBody>
          <a:bodyPr wrap="none" rtlCol="0">
            <a:spAutoFit/>
          </a:bodyPr>
          <a:lstStyle/>
          <a:p>
            <a:pPr>
              <a:lnSpc>
                <a:spcPct val="130000"/>
              </a:lnSpc>
              <a:buClr>
                <a:srgbClr val="C5003D"/>
              </a:buClr>
            </a:pPr>
            <a:r>
              <a:rPr lang="en-US" altLang="ko-KR" sz="1200" b="1" dirty="0"/>
              <a:t>C  Dispersion improvement</a:t>
            </a:r>
            <a:endParaRPr lang="ko-KR" altLang="en-US" sz="1200" b="1" dirty="0"/>
          </a:p>
        </p:txBody>
      </p:sp>
      <p:sp>
        <p:nvSpPr>
          <p:cNvPr id="140" name="TextBox 139"/>
          <p:cNvSpPr txBox="1"/>
          <p:nvPr/>
        </p:nvSpPr>
        <p:spPr>
          <a:xfrm>
            <a:off x="7105590" y="4064533"/>
            <a:ext cx="813813" cy="332399"/>
          </a:xfrm>
          <a:prstGeom prst="rect">
            <a:avLst/>
          </a:prstGeom>
          <a:noFill/>
        </p:spPr>
        <p:txBody>
          <a:bodyPr wrap="none" rtlCol="0">
            <a:spAutoFit/>
          </a:bodyPr>
          <a:lstStyle/>
          <a:p>
            <a:pPr>
              <a:lnSpc>
                <a:spcPct val="130000"/>
              </a:lnSpc>
              <a:buClr>
                <a:srgbClr val="C5003D"/>
              </a:buClr>
            </a:pPr>
            <a:r>
              <a:rPr lang="en-US" altLang="ko-KR" sz="1200" b="1" dirty="0"/>
              <a:t>D Target</a:t>
            </a:r>
            <a:endParaRPr lang="ko-KR" altLang="en-US" sz="1200" b="1" dirty="0"/>
          </a:p>
        </p:txBody>
      </p:sp>
      <p:sp>
        <p:nvSpPr>
          <p:cNvPr id="11" name="TextBox 10"/>
          <p:cNvSpPr txBox="1"/>
          <p:nvPr/>
        </p:nvSpPr>
        <p:spPr>
          <a:xfrm>
            <a:off x="1616626" y="6125516"/>
            <a:ext cx="4417043" cy="732508"/>
          </a:xfrm>
          <a:prstGeom prst="rect">
            <a:avLst/>
          </a:prstGeom>
          <a:noFill/>
        </p:spPr>
        <p:txBody>
          <a:bodyPr wrap="none" rtlCol="0">
            <a:spAutoFit/>
          </a:bodyPr>
          <a:lstStyle/>
          <a:p>
            <a:pPr>
              <a:lnSpc>
                <a:spcPct val="130000"/>
              </a:lnSpc>
              <a:buClr>
                <a:srgbClr val="C5003D"/>
              </a:buClr>
            </a:pPr>
            <a:r>
              <a:rPr lang="en-US" altLang="ko-KR" sz="1600" b="1" dirty="0"/>
              <a:t>Management problem </a:t>
            </a:r>
            <a:r>
              <a:rPr lang="en-US" altLang="ko-KR" sz="1600" b="1" dirty="0">
                <a:sym typeface="Wingdings" panose="05000000000000000000" pitchFamily="2" charset="2"/>
              </a:rPr>
              <a:t> Average problem</a:t>
            </a:r>
          </a:p>
          <a:p>
            <a:pPr>
              <a:lnSpc>
                <a:spcPct val="130000"/>
              </a:lnSpc>
              <a:buClr>
                <a:srgbClr val="C5003D"/>
              </a:buClr>
            </a:pPr>
            <a:r>
              <a:rPr lang="en-US" altLang="ko-KR" sz="1600" b="1" dirty="0">
                <a:sym typeface="Wingdings" panose="05000000000000000000" pitchFamily="2" charset="2"/>
              </a:rPr>
              <a:t>Technical problems  Dispersion problem</a:t>
            </a:r>
            <a:endParaRPr lang="ko-KR" altLang="en-US" sz="1600" b="1" dirty="0"/>
          </a:p>
        </p:txBody>
      </p:sp>
      <p:sp>
        <p:nvSpPr>
          <p:cNvPr id="142"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Tree>
    <p:extLst>
      <p:ext uri="{BB962C8B-B14F-4D97-AF65-F5344CB8AC3E}">
        <p14:creationId xmlns:p14="http://schemas.microsoft.com/office/powerpoint/2010/main" val="22686261"/>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1" name="Rectangle 5"/>
          <p:cNvSpPr>
            <a:spLocks noChangeArrowheads="1"/>
          </p:cNvSpPr>
          <p:nvPr/>
        </p:nvSpPr>
        <p:spPr bwMode="auto">
          <a:xfrm>
            <a:off x="219777" y="1357298"/>
            <a:ext cx="8726394" cy="4586852"/>
          </a:xfrm>
          <a:prstGeom prst="rect">
            <a:avLst/>
          </a:prstGeom>
          <a:solidFill>
            <a:schemeClr val="bg1">
              <a:lumMod val="95000"/>
            </a:schemeClr>
          </a:solidFill>
          <a:ln>
            <a:noFill/>
          </a:ln>
          <a:effectLst/>
        </p:spPr>
        <p:txBody>
          <a:bodyPr anchor="ctr"/>
          <a:lstStyle>
            <a:lvl1pPr marL="355600" indent="-355600" eaLnBrk="0" hangingPunct="0">
              <a:spcBef>
                <a:spcPct val="20000"/>
              </a:spcBef>
              <a:buChar char="•"/>
              <a:defRPr kumimoji="1" sz="3200">
                <a:solidFill>
                  <a:schemeClr val="tx1"/>
                </a:solidFill>
                <a:latin typeface="굴림" charset="-127"/>
                <a:ea typeface="굴림" charset="-127"/>
              </a:defRPr>
            </a:lvl1pPr>
            <a:lvl2pPr marL="857250" indent="-285750" eaLnBrk="0" hangingPunct="0">
              <a:spcBef>
                <a:spcPct val="20000"/>
              </a:spcBef>
              <a:buChar char="–"/>
              <a:defRPr kumimoji="1" sz="2800">
                <a:solidFill>
                  <a:schemeClr val="tx1"/>
                </a:solidFill>
                <a:latin typeface="굴림" charset="-127"/>
                <a:ea typeface="굴림" charset="-127"/>
              </a:defRPr>
            </a:lvl2pPr>
            <a:lvl3pPr marL="1276350" indent="-228600" eaLnBrk="0" hangingPunct="0">
              <a:spcBef>
                <a:spcPct val="20000"/>
              </a:spcBef>
              <a:buChar char="•"/>
              <a:defRPr kumimoji="1" sz="2400">
                <a:solidFill>
                  <a:schemeClr val="tx1"/>
                </a:solidFill>
                <a:latin typeface="굴림" charset="-127"/>
                <a:ea typeface="굴림" charset="-127"/>
              </a:defRPr>
            </a:lvl3pPr>
            <a:lvl4pPr marL="1695450" indent="-228600" eaLnBrk="0" hangingPunct="0">
              <a:spcBef>
                <a:spcPct val="20000"/>
              </a:spcBef>
              <a:buChar char="–"/>
              <a:defRPr kumimoji="1" sz="2000">
                <a:solidFill>
                  <a:schemeClr val="tx1"/>
                </a:solidFill>
                <a:latin typeface="굴림" charset="-127"/>
                <a:ea typeface="굴림" charset="-127"/>
              </a:defRPr>
            </a:lvl4pPr>
            <a:lvl5pPr marL="2114550" indent="-228600" eaLnBrk="0" hangingPunct="0">
              <a:spcBef>
                <a:spcPct val="20000"/>
              </a:spcBef>
              <a:buChar char="»"/>
              <a:defRPr kumimoji="1" sz="2000">
                <a:solidFill>
                  <a:schemeClr val="tx1"/>
                </a:solidFill>
                <a:latin typeface="굴림" charset="-127"/>
                <a:ea typeface="굴림" charset="-127"/>
              </a:defRPr>
            </a:lvl5pPr>
            <a:lvl6pPr marL="257175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302895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8615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94335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buFontTx/>
              <a:buNone/>
            </a:pPr>
            <a:r>
              <a:rPr lang="en-US" altLang="ko-KR" sz="2000" b="1" dirty="0">
                <a:latin typeface="+mn-lt"/>
              </a:rPr>
              <a:t>If the process evaluation results are not favorable, consider the following</a:t>
            </a:r>
            <a:endParaRPr lang="en-US" altLang="ko-KR" sz="2000" dirty="0">
              <a:latin typeface="+mn-lt"/>
            </a:endParaRPr>
          </a:p>
          <a:p>
            <a:pPr eaLnBrk="1" hangingPunct="1"/>
            <a:r>
              <a:rPr lang="en-US" altLang="ko-KR" sz="2000" dirty="0">
                <a:latin typeface="+mn-lt"/>
              </a:rPr>
              <a:t>If more than one cause exists, remove all cause and evaluate the process again.</a:t>
            </a:r>
          </a:p>
          <a:p>
            <a:pPr eaLnBrk="1" hangingPunct="1"/>
            <a:r>
              <a:rPr lang="en-US" altLang="ko-KR" sz="2000" dirty="0">
                <a:latin typeface="+mn-lt"/>
              </a:rPr>
              <a:t>Match the process center position to the standard goal</a:t>
            </a:r>
          </a:p>
          <a:p>
            <a:pPr eaLnBrk="1" hangingPunct="1"/>
            <a:r>
              <a:rPr lang="en-US" altLang="ko-KR" sz="2000" dirty="0">
                <a:latin typeface="+mn-lt"/>
              </a:rPr>
              <a:t>Review whether standards should be changed.</a:t>
            </a:r>
          </a:p>
          <a:p>
            <a:pPr eaLnBrk="1" hangingPunct="1"/>
            <a:r>
              <a:rPr lang="en-US" altLang="ko-KR" sz="2000" dirty="0">
                <a:latin typeface="+mn-lt"/>
              </a:rPr>
              <a:t>Reduce process dispersion.</a:t>
            </a:r>
          </a:p>
          <a:p>
            <a:pPr eaLnBrk="1" hangingPunct="1"/>
            <a:r>
              <a:rPr lang="en-US" altLang="ko-KR" sz="2000" dirty="0">
                <a:latin typeface="+mn-lt"/>
              </a:rPr>
              <a:t>Changes(Improve) the process.</a:t>
            </a:r>
          </a:p>
          <a:p>
            <a:pPr eaLnBrk="1" hangingPunct="1"/>
            <a:r>
              <a:rPr lang="en-US" altLang="ko-KR" sz="2000" dirty="0">
                <a:latin typeface="+mn-lt"/>
              </a:rPr>
              <a:t>Better manage the process. </a:t>
            </a:r>
          </a:p>
          <a:p>
            <a:pPr eaLnBrk="1" hangingPunct="1"/>
            <a:endParaRPr lang="en-US" altLang="ko-KR" sz="2000" dirty="0">
              <a:latin typeface="+mn-lt"/>
            </a:endParaRPr>
          </a:p>
        </p:txBody>
      </p:sp>
      <p:graphicFrame>
        <p:nvGraphicFramePr>
          <p:cNvPr id="14338" name="Object 2"/>
          <p:cNvGraphicFramePr>
            <a:graphicFrameLocks/>
          </p:cNvGraphicFramePr>
          <p:nvPr>
            <p:extLst>
              <p:ext uri="{D42A27DB-BD31-4B8C-83A1-F6EECF244321}">
                <p14:modId xmlns:p14="http://schemas.microsoft.com/office/powerpoint/2010/main" val="14019115"/>
              </p:ext>
            </p:extLst>
          </p:nvPr>
        </p:nvGraphicFramePr>
        <p:xfrm>
          <a:off x="7275654" y="3571877"/>
          <a:ext cx="1238250" cy="2024063"/>
        </p:xfrm>
        <a:graphic>
          <a:graphicData uri="http://schemas.openxmlformats.org/presentationml/2006/ole">
            <mc:AlternateContent xmlns:mc="http://schemas.openxmlformats.org/markup-compatibility/2006">
              <mc:Choice xmlns:v="urn:schemas-microsoft-com:vml" Requires="v">
                <p:oleObj name="Clip" r:id="rId3" imgW="2193533" imgH="3657600" progId="">
                  <p:embed/>
                </p:oleObj>
              </mc:Choice>
              <mc:Fallback>
                <p:oleObj name="Clip" r:id="rId3" imgW="2193533" imgH="3657600" progId="">
                  <p:embed/>
                  <p:pic>
                    <p:nvPicPr>
                      <p:cNvPr id="14338"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75654" y="3571877"/>
                        <a:ext cx="1238250" cy="2024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241</a:t>
            </a:fld>
            <a:endParaRPr lang="ko-KR" altLang="en-US" sz="1200" dirty="0"/>
          </a:p>
        </p:txBody>
      </p:sp>
      <p:sp>
        <p:nvSpPr>
          <p:cNvPr id="9"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
        <p:nvSpPr>
          <p:cNvPr id="11" name="Text Box 39"/>
          <p:cNvSpPr txBox="1">
            <a:spLocks noChangeArrowheads="1"/>
          </p:cNvSpPr>
          <p:nvPr/>
        </p:nvSpPr>
        <p:spPr bwMode="auto">
          <a:xfrm>
            <a:off x="317989" y="692696"/>
            <a:ext cx="1349857"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Summary</a:t>
            </a:r>
          </a:p>
        </p:txBody>
      </p:sp>
    </p:spTree>
    <p:extLst>
      <p:ext uri="{BB962C8B-B14F-4D97-AF65-F5344CB8AC3E}">
        <p14:creationId xmlns:p14="http://schemas.microsoft.com/office/powerpoint/2010/main" val="1453394279"/>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8"/>
          <p:cNvSpPr txBox="1">
            <a:spLocks/>
          </p:cNvSpPr>
          <p:nvPr/>
        </p:nvSpPr>
        <p:spPr bwMode="auto">
          <a:xfrm>
            <a:off x="118582" y="707802"/>
            <a:ext cx="5184576" cy="488950"/>
          </a:xfrm>
          <a:prstGeom prst="rect">
            <a:avLst/>
          </a:prstGeom>
          <a:noFill/>
          <a:ln>
            <a:miter lim="800000"/>
            <a:headEnd/>
            <a:tailEnd/>
          </a:ln>
        </p:spPr>
        <p:txBody>
          <a:bodyPr/>
          <a:lstStyle/>
          <a:p>
            <a:pPr>
              <a:defRPr/>
            </a:pP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Thiết</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lập</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phương</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hướng</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cải</a:t>
            </a:r>
            <a:r>
              <a:rPr kumimoji="0" lang="en-US" altLang="ko-KR" sz="2000" b="1" kern="0" dirty="0">
                <a:solidFill>
                  <a:sysClr val="windowText" lastClr="000000">
                    <a:lumMod val="75000"/>
                    <a:lumOff val="25000"/>
                  </a:sysClr>
                </a:solidFill>
                <a:latin typeface="맑은 고딕" pitchFamily="50" charset="-127"/>
                <a:ea typeface="맑은 고딕" pitchFamily="50" charset="-127"/>
              </a:rPr>
              <a:t> </a:t>
            </a:r>
            <a:r>
              <a:rPr kumimoji="0" lang="en-US" altLang="ko-KR" sz="2000" b="1" kern="0" dirty="0" err="1">
                <a:solidFill>
                  <a:sysClr val="windowText" lastClr="000000">
                    <a:lumMod val="75000"/>
                    <a:lumOff val="25000"/>
                  </a:sysClr>
                </a:solidFill>
                <a:latin typeface="맑은 고딕" pitchFamily="50" charset="-127"/>
                <a:ea typeface="맑은 고딕" pitchFamily="50" charset="-127"/>
              </a:rPr>
              <a:t>thiện</a:t>
            </a:r>
            <a:endParaRPr kumimoji="0" lang="ko-KR" altLang="en-US" sz="2000" b="1" kern="0" dirty="0">
              <a:solidFill>
                <a:sysClr val="windowText" lastClr="000000">
                  <a:lumMod val="75000"/>
                  <a:lumOff val="25000"/>
                </a:sysClr>
              </a:solidFill>
              <a:latin typeface="맑은 고딕" pitchFamily="50" charset="-127"/>
              <a:ea typeface="맑은 고딕" pitchFamily="50" charset="-127"/>
            </a:endParaRPr>
          </a:p>
        </p:txBody>
      </p:sp>
      <p:sp>
        <p:nvSpPr>
          <p:cNvPr id="4" name="TextBox 3"/>
          <p:cNvSpPr txBox="1"/>
          <p:nvPr/>
        </p:nvSpPr>
        <p:spPr>
          <a:xfrm>
            <a:off x="317990" y="1105580"/>
            <a:ext cx="8640960" cy="738664"/>
          </a:xfrm>
          <a:prstGeom prst="rect">
            <a:avLst/>
          </a:prstGeom>
          <a:noFill/>
        </p:spPr>
        <p:txBody>
          <a:bodyPr wrap="square">
            <a:spAutoFit/>
          </a:bodyPr>
          <a:lstStyle/>
          <a:p>
            <a:pPr fontAlgn="auto" latinLnBrk="0">
              <a:spcBef>
                <a:spcPts val="0"/>
              </a:spcBef>
              <a:spcAft>
                <a:spcPts val="0"/>
              </a:spcAft>
              <a:buClr>
                <a:srgbClr val="595959"/>
              </a:buClr>
              <a:buFont typeface="Wingdings" pitchFamily="2" charset="2"/>
              <a:buChar char="u"/>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thông</a:t>
            </a:r>
            <a:r>
              <a:rPr kumimoji="0" lang="en-US" altLang="ko-KR" sz="1400" b="1" kern="0" dirty="0">
                <a:solidFill>
                  <a:sysClr val="windowText" lastClr="000000"/>
                </a:solidFill>
                <a:latin typeface="맑은 고딕" pitchFamily="50" charset="-127"/>
                <a:ea typeface="맑은 고딕" pitchFamily="50" charset="-127"/>
              </a:rPr>
              <a:t> qua Rational </a:t>
            </a:r>
            <a:r>
              <a:rPr kumimoji="0" lang="en-US" altLang="ko-KR" sz="1400" b="1" kern="0" dirty="0" err="1">
                <a:solidFill>
                  <a:sysClr val="windowText" lastClr="000000"/>
                </a:solidFill>
                <a:latin typeface="맑은 고딕" pitchFamily="50" charset="-127"/>
                <a:ea typeface="맑은 고딕" pitchFamily="50" charset="-127"/>
              </a:rPr>
              <a:t>Subgrouping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nếu</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đã</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biết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năng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lực</a:t>
            </a:r>
            <a:r>
              <a:rPr kumimoji="0" lang="en-US" altLang="ko-KR" sz="1400" b="1" kern="0" dirty="0">
                <a:solidFill>
                  <a:sysClr val="windowText" lastClr="000000"/>
                </a:solidFill>
                <a:latin typeface="맑은 고딕" pitchFamily="50" charset="-127"/>
                <a:ea typeface="맑은 고딕" pitchFamily="50" charset="-127"/>
              </a:rPr>
              <a:t> process </a:t>
            </a:r>
            <a:r>
              <a:rPr kumimoji="0" lang="en-US" altLang="ko-KR" sz="1400" b="1" kern="0" dirty="0" err="1">
                <a:solidFill>
                  <a:sysClr val="windowText" lastClr="000000"/>
                </a:solidFill>
                <a:latin typeface="맑은 고딕" pitchFamily="50" charset="-127"/>
                <a:ea typeface="맑은 고딕" pitchFamily="50" charset="-127"/>
              </a:rPr>
              <a:t>tiêu</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chuẩn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tiện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tại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Zst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Zlt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của</a:t>
            </a:r>
            <a:r>
              <a:rPr kumimoji="0" lang="en-US" altLang="ko-KR" sz="1400" b="1" kern="0" dirty="0">
                <a:solidFill>
                  <a:sysClr val="windowText" lastClr="000000"/>
                </a:solidFill>
                <a:latin typeface="맑은 고딕" pitchFamily="50" charset="-127"/>
                <a:ea typeface="맑은 고딕" pitchFamily="50" charset="-127"/>
              </a:rPr>
              <a:t> Project Y</a:t>
            </a:r>
          </a:p>
          <a:p>
            <a:pPr fontAlgn="auto" latinLnBrk="0">
              <a:spcBef>
                <a:spcPts val="0"/>
              </a:spcBef>
              <a:spcAft>
                <a:spcPts val="0"/>
              </a:spcAft>
              <a:buClr>
                <a:srgbClr val="595959"/>
              </a:buClr>
              <a:defRPr/>
            </a:pP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Có</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thể</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thiết</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lập</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phương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hướng</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cải</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thiện</a:t>
            </a:r>
            <a:r>
              <a:rPr kumimoji="0" lang="en-US" altLang="ko-KR" sz="1400" b="1" kern="0" dirty="0">
                <a:solidFill>
                  <a:sysClr val="windowText" lastClr="000000"/>
                </a:solidFill>
                <a:latin typeface="맑은 고딕" pitchFamily="50" charset="-127"/>
                <a:ea typeface="맑은 고딕" pitchFamily="50" charset="-127"/>
              </a:rPr>
              <a:t> </a:t>
            </a:r>
            <a:r>
              <a:rPr kumimoji="0" lang="en-US" altLang="ko-KR" sz="1400" b="1" kern="0" dirty="0" err="1">
                <a:solidFill>
                  <a:sysClr val="windowText" lastClr="000000"/>
                </a:solidFill>
                <a:latin typeface="맑은 고딕" pitchFamily="50" charset="-127"/>
                <a:ea typeface="맑은 고딕" pitchFamily="50" charset="-127"/>
              </a:rPr>
              <a:t>thông</a:t>
            </a:r>
            <a:r>
              <a:rPr kumimoji="0" lang="en-US" altLang="ko-KR" sz="1400" b="1" kern="0" dirty="0">
                <a:solidFill>
                  <a:sysClr val="windowText" lastClr="000000"/>
                </a:solidFill>
                <a:latin typeface="맑은 고딕" pitchFamily="50" charset="-127"/>
                <a:ea typeface="맑은 고딕" pitchFamily="50" charset="-127"/>
              </a:rPr>
              <a:t> qua 4 Block Diagram.</a:t>
            </a:r>
          </a:p>
        </p:txBody>
      </p:sp>
      <p:sp>
        <p:nvSpPr>
          <p:cNvPr id="4102" name="Text Box 7"/>
          <p:cNvSpPr txBox="1">
            <a:spLocks noChangeArrowheads="1"/>
          </p:cNvSpPr>
          <p:nvPr/>
        </p:nvSpPr>
        <p:spPr bwMode="auto">
          <a:xfrm>
            <a:off x="1032569" y="2167731"/>
            <a:ext cx="1795097" cy="304800"/>
          </a:xfrm>
          <a:prstGeom prst="rect">
            <a:avLst/>
          </a:prstGeom>
          <a:noFill/>
          <a:ln w="9525" algn="ctr">
            <a:noFill/>
            <a:miter lim="800000"/>
            <a:headEnd/>
            <a:tailEnd/>
          </a:ln>
        </p:spPr>
        <p:txBody>
          <a:bodyPr>
            <a:spAutoFit/>
          </a:bodyPr>
          <a:lstStyle/>
          <a:p>
            <a:pPr>
              <a:spcBef>
                <a:spcPct val="50000"/>
              </a:spcBef>
            </a:pPr>
            <a:r>
              <a:rPr lang="en-US" altLang="ko-KR" sz="1400" b="1" dirty="0">
                <a:solidFill>
                  <a:srgbClr val="000000"/>
                </a:solidFill>
                <a:latin typeface="맑은 고딕" pitchFamily="50" charset="-127"/>
                <a:ea typeface="맑은 고딕" pitchFamily="50" charset="-127"/>
              </a:rPr>
              <a:t>4 Block Diagram</a:t>
            </a:r>
          </a:p>
        </p:txBody>
      </p:sp>
      <p:sp>
        <p:nvSpPr>
          <p:cNvPr id="6" name="Rectangle 9"/>
          <p:cNvSpPr>
            <a:spLocks noChangeArrowheads="1"/>
          </p:cNvSpPr>
          <p:nvPr/>
        </p:nvSpPr>
        <p:spPr bwMode="auto">
          <a:xfrm>
            <a:off x="1063344" y="2512220"/>
            <a:ext cx="3008434" cy="2420937"/>
          </a:xfrm>
          <a:prstGeom prst="rect">
            <a:avLst/>
          </a:prstGeom>
          <a:solidFill>
            <a:schemeClr val="bg2">
              <a:lumMod val="20000"/>
              <a:lumOff val="80000"/>
            </a:schemeClr>
          </a:solidFill>
          <a:ln w="12700">
            <a:solidFill>
              <a:schemeClr val="tx1"/>
            </a:solidFill>
            <a:miter lim="800000"/>
            <a:headEnd/>
            <a:tailEnd/>
          </a:ln>
        </p:spPr>
        <p:txBody>
          <a:bodyPr wrap="none" anchor="ctr"/>
          <a:lstStyle/>
          <a:p>
            <a:pPr algn="ctr">
              <a:defRPr/>
            </a:pPr>
            <a:endParaRPr lang="ko-KR" altLang="en-US" sz="1000" dirty="0">
              <a:solidFill>
                <a:srgbClr val="000000"/>
              </a:solidFill>
              <a:latin typeface="맑은 고딕" pitchFamily="50" charset="-127"/>
              <a:ea typeface="맑은 고딕" pitchFamily="50" charset="-127"/>
            </a:endParaRPr>
          </a:p>
        </p:txBody>
      </p:sp>
      <p:sp>
        <p:nvSpPr>
          <p:cNvPr id="4104" name="Line 10"/>
          <p:cNvSpPr>
            <a:spLocks noChangeShapeType="1"/>
          </p:cNvSpPr>
          <p:nvPr/>
        </p:nvSpPr>
        <p:spPr bwMode="auto">
          <a:xfrm>
            <a:off x="3019631" y="2507457"/>
            <a:ext cx="0" cy="2417763"/>
          </a:xfrm>
          <a:prstGeom prst="line">
            <a:avLst/>
          </a:prstGeom>
          <a:noFill/>
          <a:ln w="12700">
            <a:solidFill>
              <a:schemeClr val="tx1"/>
            </a:solidFill>
            <a:round/>
            <a:headEnd type="none" w="sm" len="sm"/>
            <a:tailEnd type="none" w="sm" len="sm"/>
          </a:ln>
        </p:spPr>
        <p:txBody>
          <a:bodyPr/>
          <a:lstStyle/>
          <a:p>
            <a:endParaRPr lang="ko-KR" altLang="en-US" dirty="0">
              <a:solidFill>
                <a:prstClr val="black"/>
              </a:solidFill>
            </a:endParaRPr>
          </a:p>
        </p:txBody>
      </p:sp>
      <p:sp>
        <p:nvSpPr>
          <p:cNvPr id="4105" name="Line 11"/>
          <p:cNvSpPr>
            <a:spLocks noChangeShapeType="1"/>
          </p:cNvSpPr>
          <p:nvPr/>
        </p:nvSpPr>
        <p:spPr bwMode="auto">
          <a:xfrm>
            <a:off x="1066274" y="3723481"/>
            <a:ext cx="2998177" cy="0"/>
          </a:xfrm>
          <a:prstGeom prst="line">
            <a:avLst/>
          </a:prstGeom>
          <a:noFill/>
          <a:ln w="12700">
            <a:solidFill>
              <a:schemeClr val="tx1"/>
            </a:solidFill>
            <a:round/>
            <a:headEnd type="none" w="sm" len="sm"/>
            <a:tailEnd type="none" w="sm" len="sm"/>
          </a:ln>
        </p:spPr>
        <p:txBody>
          <a:bodyPr/>
          <a:lstStyle/>
          <a:p>
            <a:endParaRPr lang="ko-KR" altLang="en-US" dirty="0">
              <a:solidFill>
                <a:prstClr val="black"/>
              </a:solidFill>
            </a:endParaRPr>
          </a:p>
        </p:txBody>
      </p:sp>
      <p:sp>
        <p:nvSpPr>
          <p:cNvPr id="4106" name="Rectangle 12"/>
          <p:cNvSpPr>
            <a:spLocks noChangeArrowheads="1"/>
          </p:cNvSpPr>
          <p:nvPr/>
        </p:nvSpPr>
        <p:spPr bwMode="auto">
          <a:xfrm>
            <a:off x="751216" y="3577432"/>
            <a:ext cx="405560" cy="296108"/>
          </a:xfrm>
          <a:prstGeom prst="rect">
            <a:avLst/>
          </a:prstGeom>
          <a:noFill/>
          <a:ln w="9525">
            <a:noFill/>
            <a:miter lim="800000"/>
            <a:headEnd/>
            <a:tailEnd/>
          </a:ln>
        </p:spPr>
        <p:txBody>
          <a:bodyPr wrap="none" lIns="92075" tIns="46038" rIns="92075" bIns="46038">
            <a:spAutoFit/>
          </a:bodyPr>
          <a:lstStyle/>
          <a:p>
            <a:pPr latinLnBrk="0">
              <a:lnSpc>
                <a:spcPct val="110000"/>
              </a:lnSpc>
            </a:pPr>
            <a:r>
              <a:rPr lang="en-US" altLang="ko-KR" sz="1200" b="1" dirty="0">
                <a:solidFill>
                  <a:srgbClr val="000000"/>
                </a:solidFill>
                <a:latin typeface="맑은 고딕" pitchFamily="50" charset="-127"/>
                <a:ea typeface="맑은 고딕" pitchFamily="50" charset="-127"/>
              </a:rPr>
              <a:t>1.5</a:t>
            </a:r>
          </a:p>
        </p:txBody>
      </p:sp>
      <p:sp>
        <p:nvSpPr>
          <p:cNvPr id="4107" name="Rectangle 13"/>
          <p:cNvSpPr>
            <a:spLocks noChangeArrowheads="1"/>
          </p:cNvSpPr>
          <p:nvPr/>
        </p:nvSpPr>
        <p:spPr bwMode="auto">
          <a:xfrm>
            <a:off x="601746" y="2432845"/>
            <a:ext cx="610039" cy="308419"/>
          </a:xfrm>
          <a:prstGeom prst="rect">
            <a:avLst/>
          </a:prstGeom>
          <a:noFill/>
          <a:ln w="9525">
            <a:noFill/>
            <a:miter lim="800000"/>
            <a:headEnd/>
            <a:tailEnd/>
          </a:ln>
        </p:spPr>
        <p:txBody>
          <a:bodyPr wrap="none" lIns="92075" tIns="46038" rIns="92075" bIns="46038">
            <a:spAutoFit/>
          </a:bodyPr>
          <a:lstStyle/>
          <a:p>
            <a:pPr algn="ctr" latinLnBrk="0"/>
            <a:r>
              <a:rPr lang="en-US" altLang="ko-KR" sz="1400" b="1" dirty="0">
                <a:solidFill>
                  <a:srgbClr val="000000"/>
                </a:solidFill>
                <a:latin typeface="맑은 고딕" pitchFamily="50" charset="-127"/>
                <a:ea typeface="맑은 고딕" pitchFamily="50" charset="-127"/>
              </a:rPr>
              <a:t>Z </a:t>
            </a:r>
            <a:r>
              <a:rPr lang="en-US" altLang="ko-KR" sz="1400" b="1" baseline="-25000" dirty="0">
                <a:solidFill>
                  <a:srgbClr val="000000"/>
                </a:solidFill>
                <a:latin typeface="맑은 고딕" pitchFamily="50" charset="-127"/>
                <a:ea typeface="맑은 고딕" pitchFamily="50" charset="-127"/>
              </a:rPr>
              <a:t>shift</a:t>
            </a:r>
          </a:p>
        </p:txBody>
      </p:sp>
      <p:sp>
        <p:nvSpPr>
          <p:cNvPr id="4108" name="Rectangle 15"/>
          <p:cNvSpPr>
            <a:spLocks noChangeArrowheads="1"/>
          </p:cNvSpPr>
          <p:nvPr/>
        </p:nvSpPr>
        <p:spPr bwMode="auto">
          <a:xfrm>
            <a:off x="2834993" y="4925219"/>
            <a:ext cx="405560" cy="296108"/>
          </a:xfrm>
          <a:prstGeom prst="rect">
            <a:avLst/>
          </a:prstGeom>
          <a:noFill/>
          <a:ln w="9525">
            <a:noFill/>
            <a:miter lim="800000"/>
            <a:headEnd/>
            <a:tailEnd/>
          </a:ln>
        </p:spPr>
        <p:txBody>
          <a:bodyPr wrap="none" lIns="92075" tIns="46038" rIns="92075" bIns="46038">
            <a:spAutoFit/>
          </a:bodyPr>
          <a:lstStyle/>
          <a:p>
            <a:pPr latinLnBrk="0">
              <a:lnSpc>
                <a:spcPct val="110000"/>
              </a:lnSpc>
            </a:pPr>
            <a:r>
              <a:rPr lang="en-US" altLang="ko-KR" sz="1200" b="1" dirty="0">
                <a:solidFill>
                  <a:srgbClr val="000000"/>
                </a:solidFill>
                <a:latin typeface="맑은 고딕" pitchFamily="50" charset="-127"/>
                <a:ea typeface="맑은 고딕" pitchFamily="50" charset="-127"/>
              </a:rPr>
              <a:t>4.5</a:t>
            </a:r>
          </a:p>
        </p:txBody>
      </p:sp>
      <p:sp>
        <p:nvSpPr>
          <p:cNvPr id="4109" name="Text Box 16"/>
          <p:cNvSpPr txBox="1">
            <a:spLocks noChangeArrowheads="1"/>
          </p:cNvSpPr>
          <p:nvPr/>
        </p:nvSpPr>
        <p:spPr bwMode="auto">
          <a:xfrm>
            <a:off x="1136612" y="3786981"/>
            <a:ext cx="244719" cy="369888"/>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C</a:t>
            </a:r>
          </a:p>
        </p:txBody>
      </p:sp>
      <p:sp>
        <p:nvSpPr>
          <p:cNvPr id="4110" name="Text Box 17"/>
          <p:cNvSpPr txBox="1">
            <a:spLocks noChangeArrowheads="1"/>
          </p:cNvSpPr>
          <p:nvPr/>
        </p:nvSpPr>
        <p:spPr bwMode="auto">
          <a:xfrm>
            <a:off x="1136612" y="2590007"/>
            <a:ext cx="244719" cy="366713"/>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A</a:t>
            </a:r>
          </a:p>
        </p:txBody>
      </p:sp>
      <p:sp>
        <p:nvSpPr>
          <p:cNvPr id="4111" name="Text Box 18"/>
          <p:cNvSpPr txBox="1">
            <a:spLocks noChangeArrowheads="1"/>
          </p:cNvSpPr>
          <p:nvPr/>
        </p:nvSpPr>
        <p:spPr bwMode="auto">
          <a:xfrm>
            <a:off x="3089969" y="2585244"/>
            <a:ext cx="246185" cy="366712"/>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B</a:t>
            </a:r>
          </a:p>
        </p:txBody>
      </p:sp>
      <p:sp>
        <p:nvSpPr>
          <p:cNvPr id="4112" name="Text Box 19"/>
          <p:cNvSpPr txBox="1">
            <a:spLocks noChangeArrowheads="1"/>
          </p:cNvSpPr>
          <p:nvPr/>
        </p:nvSpPr>
        <p:spPr bwMode="auto">
          <a:xfrm>
            <a:off x="3089969" y="3753644"/>
            <a:ext cx="246185" cy="369887"/>
          </a:xfrm>
          <a:prstGeom prst="rect">
            <a:avLst/>
          </a:prstGeom>
          <a:noFill/>
          <a:ln w="9525">
            <a:noFill/>
            <a:miter lim="800000"/>
            <a:headEnd/>
            <a:tailEnd/>
          </a:ln>
        </p:spPr>
        <p:txBody>
          <a:bodyPr>
            <a:spAutoFit/>
          </a:bodyPr>
          <a:lstStyle/>
          <a:p>
            <a:pPr>
              <a:spcBef>
                <a:spcPct val="50000"/>
              </a:spcBef>
            </a:pPr>
            <a:r>
              <a:rPr lang="en-US" altLang="ko-KR" b="1" dirty="0">
                <a:solidFill>
                  <a:srgbClr val="000000"/>
                </a:solidFill>
                <a:latin typeface="맑은 고딕" pitchFamily="50" charset="-127"/>
                <a:ea typeface="맑은 고딕" pitchFamily="50" charset="-127"/>
              </a:rPr>
              <a:t>D</a:t>
            </a:r>
          </a:p>
        </p:txBody>
      </p:sp>
      <p:sp>
        <p:nvSpPr>
          <p:cNvPr id="4113" name="Text Box 20"/>
          <p:cNvSpPr txBox="1">
            <a:spLocks noChangeArrowheads="1"/>
          </p:cNvSpPr>
          <p:nvPr/>
        </p:nvSpPr>
        <p:spPr bwMode="auto">
          <a:xfrm>
            <a:off x="1248554" y="2985802"/>
            <a:ext cx="1395847" cy="923330"/>
          </a:xfrm>
          <a:prstGeom prst="rect">
            <a:avLst/>
          </a:prstGeom>
          <a:noFill/>
          <a:ln w="9525">
            <a:noFill/>
            <a:miter lim="800000"/>
            <a:headEnd/>
            <a:tailEnd/>
          </a:ln>
        </p:spPr>
        <p:txBody>
          <a:bodyPr wrap="square">
            <a:spAutoFit/>
          </a:bodyPr>
          <a:lstStyle/>
          <a:p>
            <a:pPr>
              <a:spcBef>
                <a:spcPct val="50000"/>
              </a:spcBef>
            </a:pPr>
            <a:r>
              <a:rPr lang="en-US" altLang="ko-KR" sz="1200" dirty="0" err="1">
                <a:solidFill>
                  <a:srgbClr val="000000"/>
                </a:solidFill>
                <a:latin typeface="맑은 고딕" pitchFamily="50" charset="-127"/>
                <a:ea typeface="맑은 고딕" pitchFamily="50" charset="-127"/>
              </a:rPr>
              <a:t>Quản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r>
              <a:rPr lang="ko-KR" altLang="en-US" sz="1200" dirty="0">
                <a:solidFill>
                  <a:srgbClr val="000000"/>
                </a:solidFill>
                <a:latin typeface="맑은 고딕" pitchFamily="50" charset="-127"/>
                <a:ea typeface="맑은 고딕" pitchFamily="50" charset="-127"/>
              </a:rPr>
              <a:t> </a:t>
            </a:r>
            <a:endParaRPr lang="en-US" altLang="ko-KR" sz="1200" dirty="0">
              <a:solidFill>
                <a:srgbClr val="000000"/>
              </a:solidFill>
              <a:latin typeface="맑은 고딕" pitchFamily="50" charset="-127"/>
              <a:ea typeface="맑은 고딕" pitchFamily="50" charset="-127"/>
            </a:endParaRPr>
          </a:p>
          <a:p>
            <a:pPr>
              <a:spcBef>
                <a:spcPct val="50000"/>
              </a:spcBef>
            </a:pPr>
            <a:r>
              <a:rPr lang="en-US" altLang="ko-KR" sz="1200" dirty="0" err="1">
                <a:solidFill>
                  <a:srgbClr val="000000"/>
                </a:solidFill>
                <a:latin typeface="맑은 고딕" pitchFamily="50" charset="-127"/>
                <a:ea typeface="맑은 고딕" pitchFamily="50" charset="-127"/>
              </a:rPr>
              <a:t>Kỹ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thuật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endParaRPr lang="ko-KR" altLang="en-US" sz="1200" dirty="0">
              <a:solidFill>
                <a:srgbClr val="000000"/>
              </a:solidFill>
              <a:latin typeface="맑은 고딕" pitchFamily="50" charset="-127"/>
              <a:ea typeface="맑은 고딕" pitchFamily="50" charset="-127"/>
            </a:endParaRPr>
          </a:p>
        </p:txBody>
      </p:sp>
      <p:sp>
        <p:nvSpPr>
          <p:cNvPr id="4114" name="Text Box 21"/>
          <p:cNvSpPr txBox="1">
            <a:spLocks noChangeArrowheads="1"/>
          </p:cNvSpPr>
          <p:nvPr/>
        </p:nvSpPr>
        <p:spPr bwMode="auto">
          <a:xfrm>
            <a:off x="1315023" y="4023520"/>
            <a:ext cx="1595254" cy="461665"/>
          </a:xfrm>
          <a:prstGeom prst="rect">
            <a:avLst/>
          </a:prstGeom>
          <a:noFill/>
          <a:ln w="9525">
            <a:noFill/>
            <a:miter lim="800000"/>
            <a:headEnd/>
            <a:tailEnd/>
          </a:ln>
        </p:spPr>
        <p:txBody>
          <a:bodyPr wrap="square">
            <a:spAutoFit/>
          </a:bodyPr>
          <a:lstStyle/>
          <a:p>
            <a:pPr>
              <a:spcBef>
                <a:spcPct val="50000"/>
              </a:spcBef>
            </a:pPr>
            <a:r>
              <a:rPr lang="en-US" altLang="ko-KR" sz="1200" dirty="0" err="1">
                <a:solidFill>
                  <a:srgbClr val="000000"/>
                </a:solidFill>
                <a:latin typeface="맑은 고딕" pitchFamily="50" charset="-127"/>
                <a:ea typeface="맑은 고딕" pitchFamily="50" charset="-127"/>
              </a:rPr>
              <a:t>Quản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endParaRPr lang="ko-KR" altLang="en-US" sz="1200" dirty="0">
              <a:solidFill>
                <a:srgbClr val="000000"/>
              </a:solidFill>
              <a:latin typeface="맑은 고딕" pitchFamily="50" charset="-127"/>
              <a:ea typeface="맑은 고딕" pitchFamily="50" charset="-127"/>
            </a:endParaRPr>
          </a:p>
          <a:p>
            <a:pPr>
              <a:lnSpc>
                <a:spcPct val="50000"/>
              </a:lnSpc>
              <a:spcBef>
                <a:spcPct val="50000"/>
              </a:spcBef>
            </a:pPr>
            <a:r>
              <a:rPr lang="en-US" altLang="ko-KR" sz="1200" dirty="0" err="1">
                <a:solidFill>
                  <a:srgbClr val="000000"/>
                </a:solidFill>
                <a:latin typeface="맑은 고딕" pitchFamily="50" charset="-127"/>
                <a:ea typeface="맑은 고딕" pitchFamily="50" charset="-127"/>
              </a:rPr>
              <a:t>Kỹ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thuật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endParaRPr lang="ko-KR" altLang="en-US" sz="1200" dirty="0">
              <a:solidFill>
                <a:srgbClr val="000000"/>
              </a:solidFill>
              <a:latin typeface="맑은 고딕" pitchFamily="50" charset="-127"/>
              <a:ea typeface="맑은 고딕" pitchFamily="50" charset="-127"/>
            </a:endParaRPr>
          </a:p>
        </p:txBody>
      </p:sp>
      <p:sp>
        <p:nvSpPr>
          <p:cNvPr id="4115" name="Text Box 22"/>
          <p:cNvSpPr txBox="1">
            <a:spLocks noChangeArrowheads="1"/>
          </p:cNvSpPr>
          <p:nvPr/>
        </p:nvSpPr>
        <p:spPr bwMode="auto">
          <a:xfrm>
            <a:off x="2910277" y="2852936"/>
            <a:ext cx="1462316" cy="923330"/>
          </a:xfrm>
          <a:prstGeom prst="rect">
            <a:avLst/>
          </a:prstGeom>
          <a:noFill/>
          <a:ln w="9525">
            <a:noFill/>
            <a:miter lim="800000"/>
            <a:headEnd/>
            <a:tailEnd/>
          </a:ln>
        </p:spPr>
        <p:txBody>
          <a:bodyPr wrap="square">
            <a:spAutoFit/>
          </a:bodyPr>
          <a:lstStyle/>
          <a:p>
            <a:pPr>
              <a:spcBef>
                <a:spcPct val="50000"/>
              </a:spcBef>
            </a:pPr>
            <a:r>
              <a:rPr lang="en-US" altLang="ko-KR" sz="1200" dirty="0" err="1">
                <a:solidFill>
                  <a:srgbClr val="000000"/>
                </a:solidFill>
                <a:latin typeface="맑은 고딕" pitchFamily="50" charset="-127"/>
                <a:ea typeface="맑은 고딕" pitchFamily="50" charset="-127"/>
              </a:rPr>
              <a:t>Quản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endParaRPr lang="en-US" altLang="ko-KR" sz="1200" dirty="0">
              <a:solidFill>
                <a:srgbClr val="000000"/>
              </a:solidFill>
              <a:latin typeface="맑은 고딕" pitchFamily="50" charset="-127"/>
              <a:ea typeface="맑은 고딕" pitchFamily="50" charset="-127"/>
            </a:endParaRPr>
          </a:p>
          <a:p>
            <a:pPr>
              <a:spcBef>
                <a:spcPct val="50000"/>
              </a:spcBef>
            </a:pPr>
            <a:r>
              <a:rPr lang="en-US" altLang="ko-KR" sz="1200" dirty="0" err="1">
                <a:solidFill>
                  <a:srgbClr val="000000"/>
                </a:solidFill>
                <a:latin typeface="맑은 고딕" pitchFamily="50" charset="-127"/>
                <a:ea typeface="맑은 고딕" pitchFamily="50" charset="-127"/>
              </a:rPr>
              <a:t>Kỹ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thuật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không</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đủ</a:t>
            </a:r>
            <a:endParaRPr lang="ko-KR" altLang="en-US" sz="1200" dirty="0">
              <a:solidFill>
                <a:srgbClr val="000000"/>
              </a:solidFill>
              <a:latin typeface="맑은 고딕" pitchFamily="50" charset="-127"/>
              <a:ea typeface="맑은 고딕" pitchFamily="50" charset="-127"/>
            </a:endParaRPr>
          </a:p>
        </p:txBody>
      </p:sp>
      <p:sp>
        <p:nvSpPr>
          <p:cNvPr id="4116" name="Text Box 23"/>
          <p:cNvSpPr txBox="1">
            <a:spLocks noChangeArrowheads="1"/>
          </p:cNvSpPr>
          <p:nvPr/>
        </p:nvSpPr>
        <p:spPr bwMode="auto">
          <a:xfrm>
            <a:off x="3242621" y="3983831"/>
            <a:ext cx="1196441" cy="923330"/>
          </a:xfrm>
          <a:prstGeom prst="rect">
            <a:avLst/>
          </a:prstGeom>
          <a:noFill/>
          <a:ln w="9525">
            <a:noFill/>
            <a:miter lim="800000"/>
            <a:headEnd/>
            <a:tailEnd/>
          </a:ln>
        </p:spPr>
        <p:txBody>
          <a:bodyPr wrap="square">
            <a:spAutoFit/>
          </a:bodyPr>
          <a:lstStyle/>
          <a:p>
            <a:pPr>
              <a:spcBef>
                <a:spcPct val="50000"/>
              </a:spcBef>
            </a:pPr>
            <a:r>
              <a:rPr lang="en-US" altLang="ko-KR" sz="1200" dirty="0" err="1">
                <a:solidFill>
                  <a:srgbClr val="000000"/>
                </a:solidFill>
                <a:latin typeface="맑은 고딕" pitchFamily="50" charset="-127"/>
                <a:ea typeface="맑은 고딕" pitchFamily="50" charset="-127"/>
              </a:rPr>
              <a:t>Quản</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endParaRPr lang="en-US" altLang="ko-KR" sz="1200" dirty="0">
              <a:solidFill>
                <a:srgbClr val="000000"/>
              </a:solidFill>
              <a:latin typeface="맑은 고딕" pitchFamily="50" charset="-127"/>
              <a:ea typeface="맑은 고딕" pitchFamily="50" charset="-127"/>
            </a:endParaRPr>
          </a:p>
          <a:p>
            <a:pPr>
              <a:spcBef>
                <a:spcPct val="50000"/>
              </a:spcBef>
            </a:pPr>
            <a:r>
              <a:rPr lang="en-US" altLang="ko-KR" sz="1200" dirty="0" err="1">
                <a:solidFill>
                  <a:srgbClr val="000000"/>
                </a:solidFill>
                <a:latin typeface="맑은 고딕" pitchFamily="50" charset="-127"/>
                <a:ea typeface="맑은 고딕" pitchFamily="50" charset="-127"/>
              </a:rPr>
              <a:t>Kỹ</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thuật</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hợp</a:t>
            </a:r>
            <a:r>
              <a:rPr lang="en-US" altLang="ko-KR" sz="1200" dirty="0">
                <a:solidFill>
                  <a:srgbClr val="000000"/>
                </a:solidFill>
                <a:latin typeface="맑은 고딕" pitchFamily="50" charset="-127"/>
                <a:ea typeface="맑은 고딕" pitchFamily="50" charset="-127"/>
              </a:rPr>
              <a:t> </a:t>
            </a:r>
            <a:r>
              <a:rPr lang="en-US" altLang="ko-KR" sz="1200" dirty="0" err="1">
                <a:solidFill>
                  <a:srgbClr val="000000"/>
                </a:solidFill>
                <a:latin typeface="맑은 고딕" pitchFamily="50" charset="-127"/>
                <a:ea typeface="맑은 고딕" pitchFamily="50" charset="-127"/>
              </a:rPr>
              <a:t>lý</a:t>
            </a:r>
            <a:endParaRPr lang="ko-KR" altLang="en-US" sz="1200" dirty="0">
              <a:solidFill>
                <a:srgbClr val="000000"/>
              </a:solidFill>
              <a:latin typeface="맑은 고딕" pitchFamily="50" charset="-127"/>
              <a:ea typeface="맑은 고딕" pitchFamily="50" charset="-127"/>
            </a:endParaRPr>
          </a:p>
        </p:txBody>
      </p:sp>
      <p:sp>
        <p:nvSpPr>
          <p:cNvPr id="4117" name="Oval 24"/>
          <p:cNvSpPr>
            <a:spLocks noChangeArrowheads="1"/>
          </p:cNvSpPr>
          <p:nvPr/>
        </p:nvSpPr>
        <p:spPr bwMode="auto">
          <a:xfrm>
            <a:off x="2582947" y="2847181"/>
            <a:ext cx="98181" cy="107950"/>
          </a:xfrm>
          <a:prstGeom prst="ellipse">
            <a:avLst/>
          </a:prstGeom>
          <a:solidFill>
            <a:srgbClr val="FF0000"/>
          </a:solidFill>
          <a:ln w="9525" algn="ctr">
            <a:solidFill>
              <a:srgbClr val="FF0000"/>
            </a:solidFill>
            <a:round/>
            <a:headEnd/>
            <a:tailEnd/>
          </a:ln>
        </p:spPr>
        <p:txBody>
          <a:bodyPr wrap="none" anchor="ctr"/>
          <a:lstStyle/>
          <a:p>
            <a:pPr algn="ctr"/>
            <a:endParaRPr lang="ko-KR" altLang="en-US" sz="1000" dirty="0">
              <a:solidFill>
                <a:srgbClr val="000000"/>
              </a:solidFill>
              <a:latin typeface="맑은 고딕" pitchFamily="50" charset="-127"/>
              <a:ea typeface="맑은 고딕" pitchFamily="50" charset="-127"/>
            </a:endParaRPr>
          </a:p>
        </p:txBody>
      </p:sp>
      <p:sp>
        <p:nvSpPr>
          <p:cNvPr id="4118" name="Oval 25"/>
          <p:cNvSpPr>
            <a:spLocks noChangeArrowheads="1"/>
          </p:cNvSpPr>
          <p:nvPr/>
        </p:nvSpPr>
        <p:spPr bwMode="auto">
          <a:xfrm>
            <a:off x="2582947" y="4483895"/>
            <a:ext cx="98181" cy="109537"/>
          </a:xfrm>
          <a:prstGeom prst="ellipse">
            <a:avLst/>
          </a:prstGeom>
          <a:solidFill>
            <a:srgbClr val="FF0000"/>
          </a:solidFill>
          <a:ln w="9525" algn="ctr">
            <a:solidFill>
              <a:srgbClr val="FF0000"/>
            </a:solidFill>
            <a:round/>
            <a:headEnd/>
            <a:tailEnd/>
          </a:ln>
        </p:spPr>
        <p:txBody>
          <a:bodyPr wrap="none" anchor="ctr"/>
          <a:lstStyle/>
          <a:p>
            <a:pPr algn="ctr"/>
            <a:endParaRPr lang="ko-KR" altLang="en-US" sz="1000" dirty="0">
              <a:solidFill>
                <a:srgbClr val="000000"/>
              </a:solidFill>
              <a:latin typeface="맑은 고딕" pitchFamily="50" charset="-127"/>
              <a:ea typeface="맑은 고딕" pitchFamily="50" charset="-127"/>
            </a:endParaRPr>
          </a:p>
        </p:txBody>
      </p:sp>
      <p:sp>
        <p:nvSpPr>
          <p:cNvPr id="4119" name="Oval 26"/>
          <p:cNvSpPr>
            <a:spLocks noChangeArrowheads="1"/>
          </p:cNvSpPr>
          <p:nvPr/>
        </p:nvSpPr>
        <p:spPr bwMode="auto">
          <a:xfrm>
            <a:off x="3835851" y="3339306"/>
            <a:ext cx="98180" cy="107950"/>
          </a:xfrm>
          <a:prstGeom prst="ellipse">
            <a:avLst/>
          </a:prstGeom>
          <a:solidFill>
            <a:srgbClr val="FF0000"/>
          </a:solidFill>
          <a:ln w="9525" algn="ctr">
            <a:solidFill>
              <a:srgbClr val="FF0000"/>
            </a:solidFill>
            <a:round/>
            <a:headEnd/>
            <a:tailEnd/>
          </a:ln>
        </p:spPr>
        <p:txBody>
          <a:bodyPr wrap="none" anchor="ctr"/>
          <a:lstStyle/>
          <a:p>
            <a:pPr algn="ctr"/>
            <a:endParaRPr lang="ko-KR" altLang="en-US" sz="1000" dirty="0">
              <a:solidFill>
                <a:srgbClr val="000000"/>
              </a:solidFill>
              <a:latin typeface="맑은 고딕" pitchFamily="50" charset="-127"/>
              <a:ea typeface="맑은 고딕" pitchFamily="50" charset="-127"/>
            </a:endParaRPr>
          </a:p>
        </p:txBody>
      </p:sp>
      <p:sp>
        <p:nvSpPr>
          <p:cNvPr id="4120" name="Line 27"/>
          <p:cNvSpPr>
            <a:spLocks noChangeShapeType="1"/>
          </p:cNvSpPr>
          <p:nvPr/>
        </p:nvSpPr>
        <p:spPr bwMode="auto">
          <a:xfrm>
            <a:off x="2673800" y="2963069"/>
            <a:ext cx="732692" cy="984250"/>
          </a:xfrm>
          <a:prstGeom prst="line">
            <a:avLst/>
          </a:prstGeom>
          <a:noFill/>
          <a:ln w="9525">
            <a:solidFill>
              <a:srgbClr val="FF0000"/>
            </a:solidFill>
            <a:round/>
            <a:headEnd/>
            <a:tailEnd type="triangle" w="med" len="med"/>
          </a:ln>
        </p:spPr>
        <p:txBody>
          <a:bodyPr anchor="ctr"/>
          <a:lstStyle/>
          <a:p>
            <a:endParaRPr lang="ko-KR" altLang="en-US" dirty="0">
              <a:solidFill>
                <a:prstClr val="black"/>
              </a:solidFill>
            </a:endParaRPr>
          </a:p>
        </p:txBody>
      </p:sp>
      <p:sp>
        <p:nvSpPr>
          <p:cNvPr id="4121" name="Line 28"/>
          <p:cNvSpPr>
            <a:spLocks noChangeShapeType="1"/>
          </p:cNvSpPr>
          <p:nvPr/>
        </p:nvSpPr>
        <p:spPr bwMode="auto">
          <a:xfrm flipV="1">
            <a:off x="2692851" y="4298157"/>
            <a:ext cx="633046" cy="219075"/>
          </a:xfrm>
          <a:prstGeom prst="line">
            <a:avLst/>
          </a:prstGeom>
          <a:noFill/>
          <a:ln w="9525">
            <a:solidFill>
              <a:srgbClr val="FF0000"/>
            </a:solidFill>
            <a:round/>
            <a:headEnd/>
            <a:tailEnd type="triangle" w="med" len="med"/>
          </a:ln>
        </p:spPr>
        <p:txBody>
          <a:bodyPr anchor="ctr"/>
          <a:lstStyle/>
          <a:p>
            <a:endParaRPr lang="ko-KR" altLang="en-US" dirty="0">
              <a:solidFill>
                <a:prstClr val="black"/>
              </a:solidFill>
            </a:endParaRPr>
          </a:p>
        </p:txBody>
      </p:sp>
      <p:sp>
        <p:nvSpPr>
          <p:cNvPr id="4122" name="Line 29"/>
          <p:cNvSpPr>
            <a:spLocks noChangeShapeType="1"/>
          </p:cNvSpPr>
          <p:nvPr/>
        </p:nvSpPr>
        <p:spPr bwMode="auto">
          <a:xfrm flipH="1">
            <a:off x="3756721" y="3501231"/>
            <a:ext cx="96715" cy="438150"/>
          </a:xfrm>
          <a:prstGeom prst="line">
            <a:avLst/>
          </a:prstGeom>
          <a:noFill/>
          <a:ln w="9525">
            <a:solidFill>
              <a:srgbClr val="FF0000"/>
            </a:solidFill>
            <a:round/>
            <a:headEnd/>
            <a:tailEnd type="triangle" w="med" len="med"/>
          </a:ln>
        </p:spPr>
        <p:txBody>
          <a:bodyPr anchor="ctr"/>
          <a:lstStyle/>
          <a:p>
            <a:endParaRPr lang="ko-KR" altLang="en-US" dirty="0">
              <a:solidFill>
                <a:prstClr val="black"/>
              </a:solidFill>
            </a:endParaRPr>
          </a:p>
        </p:txBody>
      </p:sp>
      <p:sp>
        <p:nvSpPr>
          <p:cNvPr id="4123" name="Line 30"/>
          <p:cNvSpPr>
            <a:spLocks noChangeShapeType="1"/>
          </p:cNvSpPr>
          <p:nvPr/>
        </p:nvSpPr>
        <p:spPr bwMode="auto">
          <a:xfrm>
            <a:off x="776128" y="2748756"/>
            <a:ext cx="0" cy="2160588"/>
          </a:xfrm>
          <a:prstGeom prst="line">
            <a:avLst/>
          </a:prstGeom>
          <a:noFill/>
          <a:ln w="9525">
            <a:solidFill>
              <a:srgbClr val="FF0000"/>
            </a:solidFill>
            <a:round/>
            <a:headEnd type="triangle" w="med" len="med"/>
            <a:tailEnd type="triangle" w="med" len="med"/>
          </a:ln>
        </p:spPr>
        <p:txBody>
          <a:bodyPr anchor="ctr"/>
          <a:lstStyle/>
          <a:p>
            <a:endParaRPr lang="ko-KR" altLang="en-US" dirty="0">
              <a:solidFill>
                <a:prstClr val="black"/>
              </a:solidFill>
            </a:endParaRPr>
          </a:p>
        </p:txBody>
      </p:sp>
      <p:sp>
        <p:nvSpPr>
          <p:cNvPr id="4124" name="Line 31"/>
          <p:cNvSpPr>
            <a:spLocks noChangeShapeType="1"/>
          </p:cNvSpPr>
          <p:nvPr/>
        </p:nvSpPr>
        <p:spPr bwMode="auto">
          <a:xfrm>
            <a:off x="1057482" y="5439569"/>
            <a:ext cx="2990850" cy="0"/>
          </a:xfrm>
          <a:prstGeom prst="line">
            <a:avLst/>
          </a:prstGeom>
          <a:noFill/>
          <a:ln w="9525">
            <a:solidFill>
              <a:srgbClr val="FF0000"/>
            </a:solidFill>
            <a:round/>
            <a:headEnd type="triangle" w="med" len="med"/>
            <a:tailEnd type="triangle" w="med" len="med"/>
          </a:ln>
        </p:spPr>
        <p:txBody>
          <a:bodyPr anchor="ctr"/>
          <a:lstStyle/>
          <a:p>
            <a:endParaRPr lang="ko-KR" altLang="en-US" dirty="0">
              <a:solidFill>
                <a:prstClr val="black"/>
              </a:solidFill>
            </a:endParaRPr>
          </a:p>
        </p:txBody>
      </p:sp>
      <p:sp>
        <p:nvSpPr>
          <p:cNvPr id="4125" name="Text Box 32"/>
          <p:cNvSpPr txBox="1">
            <a:spLocks noChangeArrowheads="1"/>
          </p:cNvSpPr>
          <p:nvPr/>
        </p:nvSpPr>
        <p:spPr bwMode="auto">
          <a:xfrm>
            <a:off x="274966" y="2643981"/>
            <a:ext cx="531934" cy="274638"/>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Poor</a:t>
            </a:r>
          </a:p>
        </p:txBody>
      </p:sp>
      <p:sp>
        <p:nvSpPr>
          <p:cNvPr id="4126" name="Text Box 33"/>
          <p:cNvSpPr txBox="1">
            <a:spLocks noChangeArrowheads="1"/>
          </p:cNvSpPr>
          <p:nvPr/>
        </p:nvSpPr>
        <p:spPr bwMode="auto">
          <a:xfrm>
            <a:off x="270570" y="4706145"/>
            <a:ext cx="531935" cy="461665"/>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Good</a:t>
            </a:r>
          </a:p>
        </p:txBody>
      </p:sp>
      <p:sp>
        <p:nvSpPr>
          <p:cNvPr id="4127" name="Text Box 34"/>
          <p:cNvSpPr txBox="1">
            <a:spLocks noChangeArrowheads="1"/>
          </p:cNvSpPr>
          <p:nvPr/>
        </p:nvSpPr>
        <p:spPr bwMode="auto">
          <a:xfrm>
            <a:off x="3736205" y="5458620"/>
            <a:ext cx="531934" cy="461665"/>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Good</a:t>
            </a:r>
          </a:p>
        </p:txBody>
      </p:sp>
      <p:sp>
        <p:nvSpPr>
          <p:cNvPr id="4128" name="Text Box 35"/>
          <p:cNvSpPr txBox="1">
            <a:spLocks noChangeArrowheads="1"/>
          </p:cNvSpPr>
          <p:nvPr/>
        </p:nvSpPr>
        <p:spPr bwMode="auto">
          <a:xfrm>
            <a:off x="858189" y="5425281"/>
            <a:ext cx="531934" cy="274638"/>
          </a:xfrm>
          <a:prstGeom prst="rect">
            <a:avLst/>
          </a:prstGeom>
          <a:noFill/>
          <a:ln w="9525" algn="ctr">
            <a:noFill/>
            <a:miter lim="800000"/>
            <a:headEnd/>
            <a:tailEnd/>
          </a:ln>
        </p:spPr>
        <p:txBody>
          <a:bodyPr>
            <a:spAutoFit/>
          </a:bodyPr>
          <a:lstStyle/>
          <a:p>
            <a:pPr algn="ctr">
              <a:spcBef>
                <a:spcPct val="50000"/>
              </a:spcBef>
            </a:pPr>
            <a:r>
              <a:rPr lang="en-US" altLang="ko-KR" sz="1200" dirty="0">
                <a:solidFill>
                  <a:srgbClr val="000000"/>
                </a:solidFill>
                <a:latin typeface="맑은 고딕" pitchFamily="50" charset="-127"/>
                <a:ea typeface="맑은 고딕" pitchFamily="50" charset="-127"/>
              </a:rPr>
              <a:t>Poor</a:t>
            </a:r>
          </a:p>
        </p:txBody>
      </p:sp>
      <p:sp>
        <p:nvSpPr>
          <p:cNvPr id="4129" name="Text Box 36"/>
          <p:cNvSpPr txBox="1">
            <a:spLocks noChangeArrowheads="1"/>
          </p:cNvSpPr>
          <p:nvPr/>
        </p:nvSpPr>
        <p:spPr bwMode="auto">
          <a:xfrm rot="16200000">
            <a:off x="32078" y="3591333"/>
            <a:ext cx="1152525" cy="276999"/>
          </a:xfrm>
          <a:prstGeom prst="rect">
            <a:avLst/>
          </a:prstGeom>
          <a:noFill/>
          <a:ln w="9525" algn="ctr">
            <a:noFill/>
            <a:miter lim="800000"/>
            <a:headEnd/>
            <a:tailEnd/>
          </a:ln>
        </p:spPr>
        <p:txBody>
          <a:bodyPr>
            <a:spAutoFit/>
          </a:bodyPr>
          <a:lstStyle/>
          <a:p>
            <a:pPr algn="ctr">
              <a:spcBef>
                <a:spcPct val="50000"/>
              </a:spcBef>
            </a:pPr>
            <a:r>
              <a:rPr lang="en-US" altLang="ko-KR" sz="1200" b="1" dirty="0">
                <a:solidFill>
                  <a:srgbClr val="000000"/>
                </a:solidFill>
                <a:latin typeface="맑은 고딕" pitchFamily="50" charset="-127"/>
                <a:ea typeface="맑은 고딕" pitchFamily="50" charset="-127"/>
              </a:rPr>
              <a:t>Control</a:t>
            </a:r>
          </a:p>
        </p:txBody>
      </p:sp>
      <p:sp>
        <p:nvSpPr>
          <p:cNvPr id="4130" name="Text Box 37"/>
          <p:cNvSpPr txBox="1">
            <a:spLocks noChangeArrowheads="1"/>
          </p:cNvSpPr>
          <p:nvPr/>
        </p:nvSpPr>
        <p:spPr bwMode="auto">
          <a:xfrm>
            <a:off x="2119886" y="5414170"/>
            <a:ext cx="1063869" cy="274637"/>
          </a:xfrm>
          <a:prstGeom prst="rect">
            <a:avLst/>
          </a:prstGeom>
          <a:noFill/>
          <a:ln w="9525" algn="ctr">
            <a:noFill/>
            <a:miter lim="800000"/>
            <a:headEnd/>
            <a:tailEnd/>
          </a:ln>
        </p:spPr>
        <p:txBody>
          <a:bodyPr>
            <a:spAutoFit/>
          </a:bodyPr>
          <a:lstStyle/>
          <a:p>
            <a:pPr algn="ctr">
              <a:spcBef>
                <a:spcPct val="50000"/>
              </a:spcBef>
            </a:pPr>
            <a:r>
              <a:rPr lang="en-US" altLang="ko-KR" sz="1200" b="1" dirty="0">
                <a:solidFill>
                  <a:srgbClr val="000000"/>
                </a:solidFill>
                <a:latin typeface="맑은 고딕" pitchFamily="50" charset="-127"/>
                <a:ea typeface="맑은 고딕" pitchFamily="50" charset="-127"/>
              </a:rPr>
              <a:t>Technology</a:t>
            </a:r>
          </a:p>
        </p:txBody>
      </p:sp>
      <p:sp>
        <p:nvSpPr>
          <p:cNvPr id="4131" name="Rectangle 55"/>
          <p:cNvSpPr>
            <a:spLocks noChangeArrowheads="1"/>
          </p:cNvSpPr>
          <p:nvPr/>
        </p:nvSpPr>
        <p:spPr bwMode="auto">
          <a:xfrm>
            <a:off x="3384512" y="4855369"/>
            <a:ext cx="955431" cy="738664"/>
          </a:xfrm>
          <a:prstGeom prst="rect">
            <a:avLst/>
          </a:prstGeom>
          <a:noFill/>
          <a:ln w="9525">
            <a:noFill/>
            <a:miter lim="800000"/>
            <a:headEnd/>
            <a:tailEnd/>
          </a:ln>
        </p:spPr>
        <p:txBody>
          <a:bodyPr>
            <a:spAutoFit/>
          </a:bodyPr>
          <a:lstStyle/>
          <a:p>
            <a:r>
              <a:rPr lang="en-US" altLang="ko-KR" sz="1400" b="1" dirty="0">
                <a:solidFill>
                  <a:srgbClr val="000000"/>
                </a:solidFill>
                <a:latin typeface="맑은 고딕" pitchFamily="50" charset="-127"/>
                <a:ea typeface="맑은 고딕" pitchFamily="50" charset="-127"/>
              </a:rPr>
              <a:t>Z</a:t>
            </a:r>
            <a:r>
              <a:rPr lang="en-US" altLang="ko-KR" sz="1400" b="1" baseline="-25000" dirty="0">
                <a:solidFill>
                  <a:srgbClr val="000000"/>
                </a:solidFill>
                <a:latin typeface="맑은 고딕" pitchFamily="50" charset="-127"/>
                <a:ea typeface="맑은 고딕" pitchFamily="50" charset="-127"/>
              </a:rPr>
              <a:t>ST </a:t>
            </a:r>
            <a:r>
              <a:rPr lang="ko-KR" altLang="en-US" sz="1000" b="1" dirty="0">
                <a:solidFill>
                  <a:srgbClr val="000000"/>
                </a:solidFill>
                <a:latin typeface="맑은 고딕" pitchFamily="50" charset="-127"/>
                <a:ea typeface="맑은 고딕" pitchFamily="50" charset="-127"/>
              </a:rPr>
              <a:t> </a:t>
            </a:r>
            <a:r>
              <a:rPr lang="en-US" altLang="ko-KR" sz="1000" b="1" dirty="0" err="1">
                <a:solidFill>
                  <a:srgbClr val="000000"/>
                </a:solidFill>
                <a:latin typeface="맑은 고딕" pitchFamily="50" charset="-127"/>
                <a:ea typeface="맑은 고딕" pitchFamily="50" charset="-127"/>
              </a:rPr>
              <a:t>hoặc</a:t>
            </a:r>
            <a:r>
              <a:rPr lang="en-US" altLang="ko-KR" sz="1000" b="1" dirty="0">
                <a:solidFill>
                  <a:srgbClr val="000000"/>
                </a:solidFill>
                <a:latin typeface="맑은 고딕" pitchFamily="50" charset="-127"/>
                <a:ea typeface="맑은 고딕" pitchFamily="50" charset="-127"/>
              </a:rPr>
              <a:t> </a:t>
            </a:r>
            <a:r>
              <a:rPr lang="en-US" altLang="ko-KR" sz="1400" b="1" dirty="0">
                <a:solidFill>
                  <a:srgbClr val="000000"/>
                </a:solidFill>
                <a:latin typeface="맑은 고딕" pitchFamily="50" charset="-127"/>
                <a:ea typeface="맑은 고딕" pitchFamily="50" charset="-127"/>
              </a:rPr>
              <a:t>Z</a:t>
            </a:r>
            <a:r>
              <a:rPr lang="en-US" altLang="ko-KR" sz="1400" b="1" baseline="-25000" dirty="0">
                <a:solidFill>
                  <a:srgbClr val="000000"/>
                </a:solidFill>
                <a:latin typeface="맑은 고딕" pitchFamily="50" charset="-127"/>
                <a:ea typeface="맑은 고딕" pitchFamily="50" charset="-127"/>
              </a:rPr>
              <a:t>ST</a:t>
            </a:r>
            <a:r>
              <a:rPr lang="en-US" altLang="ko-KR" sz="1400" b="1" dirty="0">
                <a:solidFill>
                  <a:srgbClr val="000000"/>
                </a:solidFill>
                <a:latin typeface="맑은 고딕" pitchFamily="50" charset="-127"/>
                <a:ea typeface="맑은 고딕" pitchFamily="50" charset="-127"/>
              </a:rPr>
              <a:t>(Bench)</a:t>
            </a:r>
          </a:p>
        </p:txBody>
      </p:sp>
      <p:sp>
        <p:nvSpPr>
          <p:cNvPr id="4155" name="TextBox 59"/>
          <p:cNvSpPr txBox="1">
            <a:spLocks noChangeArrowheads="1"/>
          </p:cNvSpPr>
          <p:nvPr/>
        </p:nvSpPr>
        <p:spPr bwMode="auto">
          <a:xfrm>
            <a:off x="251520" y="1804195"/>
            <a:ext cx="2544992"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Rational Subgrouping(O)</a:t>
            </a:r>
            <a:endParaRPr lang="ko-KR" altLang="en-US" sz="1400" b="1" dirty="0">
              <a:solidFill>
                <a:srgbClr val="000000"/>
              </a:solidFill>
              <a:latin typeface="맑은 고딕" pitchFamily="50" charset="-127"/>
              <a:ea typeface="맑은 고딕" pitchFamily="50" charset="-127"/>
            </a:endParaRPr>
          </a:p>
        </p:txBody>
      </p:sp>
      <p:sp>
        <p:nvSpPr>
          <p:cNvPr id="2" name="슬라이드 번호 개체 틀 1"/>
          <p:cNvSpPr>
            <a:spLocks noGrp="1"/>
          </p:cNvSpPr>
          <p:nvPr>
            <p:ph type="sldNum" sz="quarter" idx="4"/>
          </p:nvPr>
        </p:nvSpPr>
        <p:spPr>
          <a:xfrm>
            <a:off x="8560136" y="6475414"/>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242</a:t>
            </a:fld>
            <a:endParaRPr lang="ko-KR" altLang="en-US" dirty="0">
              <a:solidFill>
                <a:prstClr val="black"/>
              </a:solidFill>
            </a:endParaRPr>
          </a:p>
        </p:txBody>
      </p:sp>
      <p:sp>
        <p:nvSpPr>
          <p:cNvPr id="94" name="TextBox 59"/>
          <p:cNvSpPr txBox="1">
            <a:spLocks noChangeArrowheads="1"/>
          </p:cNvSpPr>
          <p:nvPr/>
        </p:nvSpPr>
        <p:spPr bwMode="auto">
          <a:xfrm>
            <a:off x="4397963" y="1804195"/>
            <a:ext cx="2522550" cy="307777"/>
          </a:xfrm>
          <a:prstGeom prst="rect">
            <a:avLst/>
          </a:prstGeom>
          <a:noFill/>
          <a:ln w="9525">
            <a:noFill/>
            <a:miter lim="800000"/>
            <a:headEnd/>
            <a:tailEnd/>
          </a:ln>
        </p:spPr>
        <p:txBody>
          <a:bodyPr wrap="none">
            <a:spAutoFit/>
          </a:bodyPr>
          <a:lstStyle/>
          <a:p>
            <a:pPr>
              <a:buFont typeface="Wingdings" pitchFamily="2" charset="2"/>
              <a:buChar char="v"/>
            </a:pPr>
            <a:r>
              <a:rPr lang="en-US" altLang="ko-KR" sz="1400" b="1" dirty="0">
                <a:solidFill>
                  <a:srgbClr val="000000"/>
                </a:solidFill>
                <a:latin typeface="맑은 고딕" pitchFamily="50" charset="-127"/>
                <a:ea typeface="맑은 고딕" pitchFamily="50" charset="-127"/>
              </a:rPr>
              <a:t> Rational Subgrouping(X)</a:t>
            </a:r>
            <a:endParaRPr lang="ko-KR" altLang="en-US" sz="1400" b="1" dirty="0">
              <a:solidFill>
                <a:srgbClr val="000000"/>
              </a:solidFill>
              <a:latin typeface="맑은 고딕" pitchFamily="50" charset="-127"/>
              <a:ea typeface="맑은 고딕" pitchFamily="50" charset="-127"/>
            </a:endParaRPr>
          </a:p>
        </p:txBody>
      </p:sp>
      <p:grpSp>
        <p:nvGrpSpPr>
          <p:cNvPr id="5" name="Group 54"/>
          <p:cNvGrpSpPr>
            <a:grpSpLocks/>
          </p:cNvGrpSpPr>
          <p:nvPr/>
        </p:nvGrpSpPr>
        <p:grpSpPr bwMode="auto">
          <a:xfrm>
            <a:off x="4771407" y="2996952"/>
            <a:ext cx="2791695" cy="431800"/>
            <a:chOff x="1731" y="2548"/>
            <a:chExt cx="825" cy="516"/>
          </a:xfrm>
        </p:grpSpPr>
        <p:sp>
          <p:nvSpPr>
            <p:cNvPr id="96"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97"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8"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99"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00"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101" name="Text Box 7"/>
          <p:cNvSpPr txBox="1">
            <a:spLocks noChangeArrowheads="1"/>
          </p:cNvSpPr>
          <p:nvPr/>
        </p:nvSpPr>
        <p:spPr bwMode="auto">
          <a:xfrm>
            <a:off x="4638469" y="2060848"/>
            <a:ext cx="3855198" cy="738664"/>
          </a:xfrm>
          <a:prstGeom prst="rect">
            <a:avLst/>
          </a:prstGeom>
          <a:noFill/>
          <a:ln w="9525" algn="ctr">
            <a:noFill/>
            <a:miter lim="800000"/>
            <a:headEnd/>
            <a:tailEnd/>
          </a:ln>
        </p:spPr>
        <p:txBody>
          <a:bodyPr wrap="square">
            <a:spAutoFit/>
          </a:bodyPr>
          <a:lstStyle/>
          <a:p>
            <a:pPr>
              <a:spcBef>
                <a:spcPct val="50000"/>
              </a:spcBef>
            </a:pPr>
            <a:r>
              <a:rPr lang="vi-VN" altLang="ko-KR" sz="1400" b="1" dirty="0">
                <a:solidFill>
                  <a:srgbClr val="000000"/>
                </a:solidFill>
                <a:latin typeface="맑은 고딕" pitchFamily="50" charset="-127"/>
                <a:ea typeface="맑은 고딕" pitchFamily="50" charset="-127"/>
              </a:rPr>
              <a:t>Thiết lập </a:t>
            </a:r>
            <a:r>
              <a:rPr lang="en-US" altLang="ko-KR" sz="1400" b="1" dirty="0" err="1">
                <a:solidFill>
                  <a:srgbClr val="000000"/>
                </a:solidFill>
                <a:latin typeface="맑은 고딕" pitchFamily="50" charset="-127"/>
                <a:ea typeface="맑은 고딕" pitchFamily="50" charset="-127"/>
              </a:rPr>
              <a:t>phương</a:t>
            </a:r>
            <a:r>
              <a:rPr lang="en-US" altLang="ko-KR" sz="1400" b="1" dirty="0">
                <a:solidFill>
                  <a:srgbClr val="000000"/>
                </a:solidFill>
                <a:latin typeface="맑은 고딕" pitchFamily="50" charset="-127"/>
                <a:ea typeface="맑은 고딕" pitchFamily="50" charset="-127"/>
              </a:rPr>
              <a:t> </a:t>
            </a:r>
            <a:r>
              <a:rPr lang="vi-VN" altLang="ko-KR" sz="1400" b="1" dirty="0">
                <a:solidFill>
                  <a:srgbClr val="000000"/>
                </a:solidFill>
                <a:latin typeface="맑은 고딕" pitchFamily="50" charset="-127"/>
                <a:ea typeface="맑은 고딕" pitchFamily="50" charset="-127"/>
              </a:rPr>
              <a:t>hướng cải thiện theo </a:t>
            </a:r>
            <a:r>
              <a:rPr lang="en-US" altLang="ko-KR" sz="1400" b="1" dirty="0" err="1">
                <a:solidFill>
                  <a:srgbClr val="000000"/>
                </a:solidFill>
                <a:latin typeface="맑은 고딕" pitchFamily="50" charset="-127"/>
                <a:ea typeface="맑은 고딕" pitchFamily="50" charset="-127"/>
              </a:rPr>
              <a:t>quy</a:t>
            </a:r>
            <a:r>
              <a:rPr lang="en-US" altLang="ko-KR" sz="1400" b="1" dirty="0">
                <a:solidFill>
                  <a:srgbClr val="000000"/>
                </a:solidFill>
                <a:latin typeface="맑은 고딕" pitchFamily="50" charset="-127"/>
                <a:ea typeface="맑은 고딕" pitchFamily="50" charset="-127"/>
              </a:rPr>
              <a:t> </a:t>
            </a:r>
            <a:r>
              <a:rPr lang="en-US" altLang="ko-KR" sz="1400" b="1" dirty="0" err="1">
                <a:solidFill>
                  <a:srgbClr val="000000"/>
                </a:solidFill>
                <a:latin typeface="맑은 고딕" pitchFamily="50" charset="-127"/>
                <a:ea typeface="맑은 고딕" pitchFamily="50" charset="-127"/>
              </a:rPr>
              <a:t>cách</a:t>
            </a:r>
            <a:r>
              <a:rPr lang="en-US" altLang="ko-KR" sz="1400" b="1" dirty="0">
                <a:solidFill>
                  <a:srgbClr val="000000"/>
                </a:solidFill>
                <a:latin typeface="맑은 고딕" pitchFamily="50" charset="-127"/>
                <a:ea typeface="맑은 고딕" pitchFamily="50" charset="-127"/>
              </a:rPr>
              <a:t> </a:t>
            </a:r>
            <a:r>
              <a:rPr lang="vi-VN" altLang="ko-KR" sz="1400" b="1" dirty="0">
                <a:solidFill>
                  <a:srgbClr val="000000"/>
                </a:solidFill>
                <a:latin typeface="맑은 고딕" pitchFamily="50" charset="-127"/>
                <a:ea typeface="맑은 고딕" pitchFamily="50" charset="-127"/>
              </a:rPr>
              <a:t>tiêu chuẩn và hình dạng phân tán</a:t>
            </a:r>
            <a:endParaRPr lang="en-US" altLang="ko-KR" sz="1400" b="1" dirty="0">
              <a:solidFill>
                <a:srgbClr val="000000"/>
              </a:solidFill>
              <a:latin typeface="맑은 고딕" pitchFamily="50" charset="-127"/>
              <a:ea typeface="맑은 고딕" pitchFamily="50" charset="-127"/>
            </a:endParaRPr>
          </a:p>
        </p:txBody>
      </p:sp>
      <p:grpSp>
        <p:nvGrpSpPr>
          <p:cNvPr id="8" name="Group 54"/>
          <p:cNvGrpSpPr>
            <a:grpSpLocks/>
          </p:cNvGrpSpPr>
          <p:nvPr/>
        </p:nvGrpSpPr>
        <p:grpSpPr bwMode="auto">
          <a:xfrm>
            <a:off x="7283785" y="2996952"/>
            <a:ext cx="1299797" cy="431800"/>
            <a:chOff x="1731" y="2548"/>
            <a:chExt cx="825" cy="516"/>
          </a:xfrm>
        </p:grpSpPr>
        <p:sp>
          <p:nvSpPr>
            <p:cNvPr id="103"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04"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05"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06"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07"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grpSp>
        <p:nvGrpSpPr>
          <p:cNvPr id="12" name="Group 54"/>
          <p:cNvGrpSpPr>
            <a:grpSpLocks/>
          </p:cNvGrpSpPr>
          <p:nvPr/>
        </p:nvGrpSpPr>
        <p:grpSpPr bwMode="auto">
          <a:xfrm>
            <a:off x="6964882" y="4293096"/>
            <a:ext cx="1299797" cy="431800"/>
            <a:chOff x="1731" y="2548"/>
            <a:chExt cx="825" cy="516"/>
          </a:xfrm>
        </p:grpSpPr>
        <p:sp>
          <p:nvSpPr>
            <p:cNvPr id="115"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16"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17"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18"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19"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cxnSp>
        <p:nvCxnSpPr>
          <p:cNvPr id="7" name="직선 연결선 6"/>
          <p:cNvCxnSpPr/>
          <p:nvPr/>
        </p:nvCxnSpPr>
        <p:spPr>
          <a:xfrm>
            <a:off x="5369627" y="2924944"/>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직선 연결선 121"/>
          <p:cNvCxnSpPr/>
          <p:nvPr/>
        </p:nvCxnSpPr>
        <p:spPr>
          <a:xfrm>
            <a:off x="6366661" y="2924944"/>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p:cNvCxnSpPr/>
          <p:nvPr/>
        </p:nvCxnSpPr>
        <p:spPr>
          <a:xfrm>
            <a:off x="5369627" y="4221088"/>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직선 연결선 123"/>
          <p:cNvCxnSpPr/>
          <p:nvPr/>
        </p:nvCxnSpPr>
        <p:spPr>
          <a:xfrm>
            <a:off x="6366661" y="4221088"/>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직선 연결선 124"/>
          <p:cNvCxnSpPr/>
          <p:nvPr/>
        </p:nvCxnSpPr>
        <p:spPr>
          <a:xfrm>
            <a:off x="7097819" y="2924944"/>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직선 연결선 125"/>
          <p:cNvCxnSpPr/>
          <p:nvPr/>
        </p:nvCxnSpPr>
        <p:spPr>
          <a:xfrm>
            <a:off x="8094853" y="2924944"/>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직선 연결선 126"/>
          <p:cNvCxnSpPr/>
          <p:nvPr/>
        </p:nvCxnSpPr>
        <p:spPr>
          <a:xfrm>
            <a:off x="7097819" y="4221088"/>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직선 연결선 127"/>
          <p:cNvCxnSpPr/>
          <p:nvPr/>
        </p:nvCxnSpPr>
        <p:spPr>
          <a:xfrm>
            <a:off x="8094853" y="4221088"/>
            <a:ext cx="0" cy="576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6964881" y="3429000"/>
            <a:ext cx="139584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oup 54"/>
          <p:cNvGrpSpPr>
            <a:grpSpLocks/>
          </p:cNvGrpSpPr>
          <p:nvPr/>
        </p:nvGrpSpPr>
        <p:grpSpPr bwMode="auto">
          <a:xfrm>
            <a:off x="4505531" y="4293096"/>
            <a:ext cx="2791695" cy="431800"/>
            <a:chOff x="1731" y="2548"/>
            <a:chExt cx="825" cy="516"/>
          </a:xfrm>
        </p:grpSpPr>
        <p:sp>
          <p:nvSpPr>
            <p:cNvPr id="132" name="Freeform 49"/>
            <p:cNvSpPr>
              <a:spLocks/>
            </p:cNvSpPr>
            <p:nvPr/>
          </p:nvSpPr>
          <p:spPr bwMode="auto">
            <a:xfrm>
              <a:off x="1946" y="2579"/>
              <a:ext cx="366" cy="447"/>
            </a:xfrm>
            <a:custGeom>
              <a:avLst/>
              <a:gdLst>
                <a:gd name="T0" fmla="*/ 9 w 366"/>
                <a:gd name="T1" fmla="*/ 442 h 447"/>
                <a:gd name="T2" fmla="*/ 22 w 366"/>
                <a:gd name="T3" fmla="*/ 438 h 447"/>
                <a:gd name="T4" fmla="*/ 36 w 366"/>
                <a:gd name="T5" fmla="*/ 428 h 447"/>
                <a:gd name="T6" fmla="*/ 48 w 366"/>
                <a:gd name="T7" fmla="*/ 411 h 447"/>
                <a:gd name="T8" fmla="*/ 60 w 366"/>
                <a:gd name="T9" fmla="*/ 401 h 447"/>
                <a:gd name="T10" fmla="*/ 69 w 366"/>
                <a:gd name="T11" fmla="*/ 381 h 447"/>
                <a:gd name="T12" fmla="*/ 77 w 366"/>
                <a:gd name="T13" fmla="*/ 359 h 447"/>
                <a:gd name="T14" fmla="*/ 87 w 366"/>
                <a:gd name="T15" fmla="*/ 339 h 447"/>
                <a:gd name="T16" fmla="*/ 93 w 366"/>
                <a:gd name="T17" fmla="*/ 318 h 447"/>
                <a:gd name="T18" fmla="*/ 96 w 366"/>
                <a:gd name="T19" fmla="*/ 296 h 447"/>
                <a:gd name="T20" fmla="*/ 104 w 366"/>
                <a:gd name="T21" fmla="*/ 276 h 447"/>
                <a:gd name="T22" fmla="*/ 110 w 366"/>
                <a:gd name="T23" fmla="*/ 257 h 447"/>
                <a:gd name="T24" fmla="*/ 111 w 366"/>
                <a:gd name="T25" fmla="*/ 235 h 447"/>
                <a:gd name="T26" fmla="*/ 116 w 366"/>
                <a:gd name="T27" fmla="*/ 214 h 447"/>
                <a:gd name="T28" fmla="*/ 121 w 366"/>
                <a:gd name="T29" fmla="*/ 192 h 447"/>
                <a:gd name="T30" fmla="*/ 126 w 366"/>
                <a:gd name="T31" fmla="*/ 170 h 447"/>
                <a:gd name="T32" fmla="*/ 129 w 366"/>
                <a:gd name="T33" fmla="*/ 149 h 447"/>
                <a:gd name="T34" fmla="*/ 135 w 366"/>
                <a:gd name="T35" fmla="*/ 127 h 447"/>
                <a:gd name="T36" fmla="*/ 140 w 366"/>
                <a:gd name="T37" fmla="*/ 106 h 447"/>
                <a:gd name="T38" fmla="*/ 145 w 366"/>
                <a:gd name="T39" fmla="*/ 84 h 447"/>
                <a:gd name="T40" fmla="*/ 151 w 366"/>
                <a:gd name="T41" fmla="*/ 62 h 447"/>
                <a:gd name="T42" fmla="*/ 156 w 366"/>
                <a:gd name="T43" fmla="*/ 41 h 447"/>
                <a:gd name="T44" fmla="*/ 165 w 366"/>
                <a:gd name="T45" fmla="*/ 19 h 447"/>
                <a:gd name="T46" fmla="*/ 177 w 366"/>
                <a:gd name="T47" fmla="*/ 1 h 447"/>
                <a:gd name="T48" fmla="*/ 190 w 366"/>
                <a:gd name="T49" fmla="*/ 1 h 447"/>
                <a:gd name="T50" fmla="*/ 202 w 366"/>
                <a:gd name="T51" fmla="*/ 21 h 447"/>
                <a:gd name="T52" fmla="*/ 212 w 366"/>
                <a:gd name="T53" fmla="*/ 43 h 447"/>
                <a:gd name="T54" fmla="*/ 217 w 366"/>
                <a:gd name="T55" fmla="*/ 64 h 447"/>
                <a:gd name="T56" fmla="*/ 222 w 366"/>
                <a:gd name="T57" fmla="*/ 86 h 447"/>
                <a:gd name="T58" fmla="*/ 226 w 366"/>
                <a:gd name="T59" fmla="*/ 107 h 447"/>
                <a:gd name="T60" fmla="*/ 231 w 366"/>
                <a:gd name="T61" fmla="*/ 129 h 447"/>
                <a:gd name="T62" fmla="*/ 237 w 366"/>
                <a:gd name="T63" fmla="*/ 151 h 447"/>
                <a:gd name="T64" fmla="*/ 241 w 366"/>
                <a:gd name="T65" fmla="*/ 172 h 447"/>
                <a:gd name="T66" fmla="*/ 248 w 366"/>
                <a:gd name="T67" fmla="*/ 194 h 447"/>
                <a:gd name="T68" fmla="*/ 253 w 366"/>
                <a:gd name="T69" fmla="*/ 215 h 447"/>
                <a:gd name="T70" fmla="*/ 256 w 366"/>
                <a:gd name="T71" fmla="*/ 237 h 447"/>
                <a:gd name="T72" fmla="*/ 260 w 366"/>
                <a:gd name="T73" fmla="*/ 258 h 447"/>
                <a:gd name="T74" fmla="*/ 265 w 366"/>
                <a:gd name="T75" fmla="*/ 280 h 447"/>
                <a:gd name="T76" fmla="*/ 271 w 366"/>
                <a:gd name="T77" fmla="*/ 302 h 447"/>
                <a:gd name="T78" fmla="*/ 277 w 366"/>
                <a:gd name="T79" fmla="*/ 323 h 447"/>
                <a:gd name="T80" fmla="*/ 284 w 366"/>
                <a:gd name="T81" fmla="*/ 345 h 447"/>
                <a:gd name="T82" fmla="*/ 290 w 366"/>
                <a:gd name="T83" fmla="*/ 366 h 447"/>
                <a:gd name="T84" fmla="*/ 300 w 366"/>
                <a:gd name="T85" fmla="*/ 386 h 447"/>
                <a:gd name="T86" fmla="*/ 311 w 366"/>
                <a:gd name="T87" fmla="*/ 408 h 447"/>
                <a:gd name="T88" fmla="*/ 324 w 366"/>
                <a:gd name="T89" fmla="*/ 420 h 447"/>
                <a:gd name="T90" fmla="*/ 336 w 366"/>
                <a:gd name="T91" fmla="*/ 431 h 447"/>
                <a:gd name="T92" fmla="*/ 349 w 366"/>
                <a:gd name="T93" fmla="*/ 440 h 447"/>
                <a:gd name="T94" fmla="*/ 362 w 366"/>
                <a:gd name="T95" fmla="*/ 444 h 4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447"/>
                <a:gd name="T146" fmla="*/ 366 w 366"/>
                <a:gd name="T147" fmla="*/ 447 h 4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447">
                  <a:moveTo>
                    <a:pt x="0" y="446"/>
                  </a:moveTo>
                  <a:lnTo>
                    <a:pt x="3" y="446"/>
                  </a:lnTo>
                  <a:lnTo>
                    <a:pt x="6" y="444"/>
                  </a:lnTo>
                  <a:lnTo>
                    <a:pt x="9" y="442"/>
                  </a:lnTo>
                  <a:lnTo>
                    <a:pt x="12" y="440"/>
                  </a:lnTo>
                  <a:lnTo>
                    <a:pt x="16" y="438"/>
                  </a:lnTo>
                  <a:lnTo>
                    <a:pt x="19" y="438"/>
                  </a:lnTo>
                  <a:lnTo>
                    <a:pt x="22" y="438"/>
                  </a:lnTo>
                  <a:lnTo>
                    <a:pt x="26" y="437"/>
                  </a:lnTo>
                  <a:lnTo>
                    <a:pt x="29" y="433"/>
                  </a:lnTo>
                  <a:lnTo>
                    <a:pt x="33" y="429"/>
                  </a:lnTo>
                  <a:lnTo>
                    <a:pt x="36" y="428"/>
                  </a:lnTo>
                  <a:lnTo>
                    <a:pt x="39" y="422"/>
                  </a:lnTo>
                  <a:lnTo>
                    <a:pt x="42" y="419"/>
                  </a:lnTo>
                  <a:lnTo>
                    <a:pt x="45" y="417"/>
                  </a:lnTo>
                  <a:lnTo>
                    <a:pt x="48" y="411"/>
                  </a:lnTo>
                  <a:lnTo>
                    <a:pt x="51" y="410"/>
                  </a:lnTo>
                  <a:lnTo>
                    <a:pt x="54" y="408"/>
                  </a:lnTo>
                  <a:lnTo>
                    <a:pt x="57" y="404"/>
                  </a:lnTo>
                  <a:lnTo>
                    <a:pt x="60" y="401"/>
                  </a:lnTo>
                  <a:lnTo>
                    <a:pt x="63" y="395"/>
                  </a:lnTo>
                  <a:lnTo>
                    <a:pt x="65" y="390"/>
                  </a:lnTo>
                  <a:lnTo>
                    <a:pt x="68" y="386"/>
                  </a:lnTo>
                  <a:lnTo>
                    <a:pt x="69" y="381"/>
                  </a:lnTo>
                  <a:lnTo>
                    <a:pt x="70" y="375"/>
                  </a:lnTo>
                  <a:lnTo>
                    <a:pt x="72" y="370"/>
                  </a:lnTo>
                  <a:lnTo>
                    <a:pt x="75" y="365"/>
                  </a:lnTo>
                  <a:lnTo>
                    <a:pt x="77" y="359"/>
                  </a:lnTo>
                  <a:lnTo>
                    <a:pt x="79" y="354"/>
                  </a:lnTo>
                  <a:lnTo>
                    <a:pt x="81" y="348"/>
                  </a:lnTo>
                  <a:lnTo>
                    <a:pt x="84" y="343"/>
                  </a:lnTo>
                  <a:lnTo>
                    <a:pt x="87" y="339"/>
                  </a:lnTo>
                  <a:lnTo>
                    <a:pt x="87" y="334"/>
                  </a:lnTo>
                  <a:lnTo>
                    <a:pt x="89" y="329"/>
                  </a:lnTo>
                  <a:lnTo>
                    <a:pt x="91" y="323"/>
                  </a:lnTo>
                  <a:lnTo>
                    <a:pt x="93" y="318"/>
                  </a:lnTo>
                  <a:lnTo>
                    <a:pt x="94" y="312"/>
                  </a:lnTo>
                  <a:lnTo>
                    <a:pt x="96" y="307"/>
                  </a:lnTo>
                  <a:lnTo>
                    <a:pt x="96" y="302"/>
                  </a:lnTo>
                  <a:lnTo>
                    <a:pt x="96" y="296"/>
                  </a:lnTo>
                  <a:lnTo>
                    <a:pt x="99" y="293"/>
                  </a:lnTo>
                  <a:lnTo>
                    <a:pt x="99" y="287"/>
                  </a:lnTo>
                  <a:lnTo>
                    <a:pt x="102" y="282"/>
                  </a:lnTo>
                  <a:lnTo>
                    <a:pt x="104" y="276"/>
                  </a:lnTo>
                  <a:lnTo>
                    <a:pt x="104" y="271"/>
                  </a:lnTo>
                  <a:lnTo>
                    <a:pt x="106" y="266"/>
                  </a:lnTo>
                  <a:lnTo>
                    <a:pt x="106" y="260"/>
                  </a:lnTo>
                  <a:lnTo>
                    <a:pt x="110" y="257"/>
                  </a:lnTo>
                  <a:lnTo>
                    <a:pt x="108" y="251"/>
                  </a:lnTo>
                  <a:lnTo>
                    <a:pt x="108" y="246"/>
                  </a:lnTo>
                  <a:lnTo>
                    <a:pt x="110" y="240"/>
                  </a:lnTo>
                  <a:lnTo>
                    <a:pt x="111" y="235"/>
                  </a:lnTo>
                  <a:lnTo>
                    <a:pt x="111" y="230"/>
                  </a:lnTo>
                  <a:lnTo>
                    <a:pt x="113" y="224"/>
                  </a:lnTo>
                  <a:lnTo>
                    <a:pt x="115" y="219"/>
                  </a:lnTo>
                  <a:lnTo>
                    <a:pt x="116" y="214"/>
                  </a:lnTo>
                  <a:lnTo>
                    <a:pt x="117" y="208"/>
                  </a:lnTo>
                  <a:lnTo>
                    <a:pt x="120" y="203"/>
                  </a:lnTo>
                  <a:lnTo>
                    <a:pt x="120" y="197"/>
                  </a:lnTo>
                  <a:lnTo>
                    <a:pt x="121" y="192"/>
                  </a:lnTo>
                  <a:lnTo>
                    <a:pt x="121" y="187"/>
                  </a:lnTo>
                  <a:lnTo>
                    <a:pt x="123" y="181"/>
                  </a:lnTo>
                  <a:lnTo>
                    <a:pt x="125" y="176"/>
                  </a:lnTo>
                  <a:lnTo>
                    <a:pt x="126" y="170"/>
                  </a:lnTo>
                  <a:lnTo>
                    <a:pt x="127" y="165"/>
                  </a:lnTo>
                  <a:lnTo>
                    <a:pt x="128" y="160"/>
                  </a:lnTo>
                  <a:lnTo>
                    <a:pt x="130" y="154"/>
                  </a:lnTo>
                  <a:lnTo>
                    <a:pt x="129" y="149"/>
                  </a:lnTo>
                  <a:lnTo>
                    <a:pt x="130" y="143"/>
                  </a:lnTo>
                  <a:lnTo>
                    <a:pt x="132" y="138"/>
                  </a:lnTo>
                  <a:lnTo>
                    <a:pt x="135" y="133"/>
                  </a:lnTo>
                  <a:lnTo>
                    <a:pt x="135" y="127"/>
                  </a:lnTo>
                  <a:lnTo>
                    <a:pt x="137" y="122"/>
                  </a:lnTo>
                  <a:lnTo>
                    <a:pt x="138" y="116"/>
                  </a:lnTo>
                  <a:lnTo>
                    <a:pt x="139" y="111"/>
                  </a:lnTo>
                  <a:lnTo>
                    <a:pt x="140" y="106"/>
                  </a:lnTo>
                  <a:lnTo>
                    <a:pt x="141" y="100"/>
                  </a:lnTo>
                  <a:lnTo>
                    <a:pt x="143" y="95"/>
                  </a:lnTo>
                  <a:lnTo>
                    <a:pt x="143" y="89"/>
                  </a:lnTo>
                  <a:lnTo>
                    <a:pt x="145" y="84"/>
                  </a:lnTo>
                  <a:lnTo>
                    <a:pt x="145" y="79"/>
                  </a:lnTo>
                  <a:lnTo>
                    <a:pt x="147" y="73"/>
                  </a:lnTo>
                  <a:lnTo>
                    <a:pt x="149" y="68"/>
                  </a:lnTo>
                  <a:lnTo>
                    <a:pt x="151" y="62"/>
                  </a:lnTo>
                  <a:lnTo>
                    <a:pt x="152" y="57"/>
                  </a:lnTo>
                  <a:lnTo>
                    <a:pt x="154" y="52"/>
                  </a:lnTo>
                  <a:lnTo>
                    <a:pt x="155" y="46"/>
                  </a:lnTo>
                  <a:lnTo>
                    <a:pt x="156" y="41"/>
                  </a:lnTo>
                  <a:lnTo>
                    <a:pt x="159" y="35"/>
                  </a:lnTo>
                  <a:lnTo>
                    <a:pt x="161" y="30"/>
                  </a:lnTo>
                  <a:lnTo>
                    <a:pt x="163" y="25"/>
                  </a:lnTo>
                  <a:lnTo>
                    <a:pt x="165" y="19"/>
                  </a:lnTo>
                  <a:lnTo>
                    <a:pt x="168" y="16"/>
                  </a:lnTo>
                  <a:lnTo>
                    <a:pt x="171" y="10"/>
                  </a:lnTo>
                  <a:lnTo>
                    <a:pt x="174" y="5"/>
                  </a:lnTo>
                  <a:lnTo>
                    <a:pt x="177" y="1"/>
                  </a:lnTo>
                  <a:lnTo>
                    <a:pt x="180" y="1"/>
                  </a:lnTo>
                  <a:lnTo>
                    <a:pt x="184" y="0"/>
                  </a:lnTo>
                  <a:lnTo>
                    <a:pt x="187" y="0"/>
                  </a:lnTo>
                  <a:lnTo>
                    <a:pt x="190" y="1"/>
                  </a:lnTo>
                  <a:lnTo>
                    <a:pt x="193" y="7"/>
                  </a:lnTo>
                  <a:lnTo>
                    <a:pt x="198" y="10"/>
                  </a:lnTo>
                  <a:lnTo>
                    <a:pt x="200" y="16"/>
                  </a:lnTo>
                  <a:lnTo>
                    <a:pt x="202" y="21"/>
                  </a:lnTo>
                  <a:lnTo>
                    <a:pt x="205" y="26"/>
                  </a:lnTo>
                  <a:lnTo>
                    <a:pt x="208" y="32"/>
                  </a:lnTo>
                  <a:lnTo>
                    <a:pt x="210" y="37"/>
                  </a:lnTo>
                  <a:lnTo>
                    <a:pt x="212" y="43"/>
                  </a:lnTo>
                  <a:lnTo>
                    <a:pt x="213" y="48"/>
                  </a:lnTo>
                  <a:lnTo>
                    <a:pt x="215" y="53"/>
                  </a:lnTo>
                  <a:lnTo>
                    <a:pt x="217" y="59"/>
                  </a:lnTo>
                  <a:lnTo>
                    <a:pt x="217" y="64"/>
                  </a:lnTo>
                  <a:lnTo>
                    <a:pt x="217" y="70"/>
                  </a:lnTo>
                  <a:lnTo>
                    <a:pt x="219" y="75"/>
                  </a:lnTo>
                  <a:lnTo>
                    <a:pt x="220" y="80"/>
                  </a:lnTo>
                  <a:lnTo>
                    <a:pt x="222" y="86"/>
                  </a:lnTo>
                  <a:lnTo>
                    <a:pt x="222" y="91"/>
                  </a:lnTo>
                  <a:lnTo>
                    <a:pt x="224" y="97"/>
                  </a:lnTo>
                  <a:lnTo>
                    <a:pt x="225" y="102"/>
                  </a:lnTo>
                  <a:lnTo>
                    <a:pt x="226" y="107"/>
                  </a:lnTo>
                  <a:lnTo>
                    <a:pt x="227" y="113"/>
                  </a:lnTo>
                  <a:lnTo>
                    <a:pt x="229" y="118"/>
                  </a:lnTo>
                  <a:lnTo>
                    <a:pt x="231" y="124"/>
                  </a:lnTo>
                  <a:lnTo>
                    <a:pt x="231" y="129"/>
                  </a:lnTo>
                  <a:lnTo>
                    <a:pt x="232" y="134"/>
                  </a:lnTo>
                  <a:lnTo>
                    <a:pt x="234" y="140"/>
                  </a:lnTo>
                  <a:lnTo>
                    <a:pt x="235" y="145"/>
                  </a:lnTo>
                  <a:lnTo>
                    <a:pt x="237" y="151"/>
                  </a:lnTo>
                  <a:lnTo>
                    <a:pt x="238" y="156"/>
                  </a:lnTo>
                  <a:lnTo>
                    <a:pt x="239" y="161"/>
                  </a:lnTo>
                  <a:lnTo>
                    <a:pt x="241" y="167"/>
                  </a:lnTo>
                  <a:lnTo>
                    <a:pt x="241" y="172"/>
                  </a:lnTo>
                  <a:lnTo>
                    <a:pt x="243" y="178"/>
                  </a:lnTo>
                  <a:lnTo>
                    <a:pt x="244" y="183"/>
                  </a:lnTo>
                  <a:lnTo>
                    <a:pt x="244" y="188"/>
                  </a:lnTo>
                  <a:lnTo>
                    <a:pt x="248" y="194"/>
                  </a:lnTo>
                  <a:lnTo>
                    <a:pt x="249" y="199"/>
                  </a:lnTo>
                  <a:lnTo>
                    <a:pt x="250" y="205"/>
                  </a:lnTo>
                  <a:lnTo>
                    <a:pt x="251" y="210"/>
                  </a:lnTo>
                  <a:lnTo>
                    <a:pt x="253" y="215"/>
                  </a:lnTo>
                  <a:lnTo>
                    <a:pt x="253" y="221"/>
                  </a:lnTo>
                  <a:lnTo>
                    <a:pt x="253" y="226"/>
                  </a:lnTo>
                  <a:lnTo>
                    <a:pt x="254" y="231"/>
                  </a:lnTo>
                  <a:lnTo>
                    <a:pt x="256" y="237"/>
                  </a:lnTo>
                  <a:lnTo>
                    <a:pt x="256" y="242"/>
                  </a:lnTo>
                  <a:lnTo>
                    <a:pt x="258" y="248"/>
                  </a:lnTo>
                  <a:lnTo>
                    <a:pt x="258" y="253"/>
                  </a:lnTo>
                  <a:lnTo>
                    <a:pt x="260" y="258"/>
                  </a:lnTo>
                  <a:lnTo>
                    <a:pt x="261" y="264"/>
                  </a:lnTo>
                  <a:lnTo>
                    <a:pt x="262" y="269"/>
                  </a:lnTo>
                  <a:lnTo>
                    <a:pt x="263" y="275"/>
                  </a:lnTo>
                  <a:lnTo>
                    <a:pt x="265" y="280"/>
                  </a:lnTo>
                  <a:lnTo>
                    <a:pt x="266" y="285"/>
                  </a:lnTo>
                  <a:lnTo>
                    <a:pt x="268" y="291"/>
                  </a:lnTo>
                  <a:lnTo>
                    <a:pt x="270" y="296"/>
                  </a:lnTo>
                  <a:lnTo>
                    <a:pt x="271" y="302"/>
                  </a:lnTo>
                  <a:lnTo>
                    <a:pt x="272" y="307"/>
                  </a:lnTo>
                  <a:lnTo>
                    <a:pt x="274" y="312"/>
                  </a:lnTo>
                  <a:lnTo>
                    <a:pt x="275" y="318"/>
                  </a:lnTo>
                  <a:lnTo>
                    <a:pt x="277" y="323"/>
                  </a:lnTo>
                  <a:lnTo>
                    <a:pt x="280" y="329"/>
                  </a:lnTo>
                  <a:lnTo>
                    <a:pt x="280" y="334"/>
                  </a:lnTo>
                  <a:lnTo>
                    <a:pt x="283" y="339"/>
                  </a:lnTo>
                  <a:lnTo>
                    <a:pt x="284" y="345"/>
                  </a:lnTo>
                  <a:lnTo>
                    <a:pt x="285" y="350"/>
                  </a:lnTo>
                  <a:lnTo>
                    <a:pt x="287" y="356"/>
                  </a:lnTo>
                  <a:lnTo>
                    <a:pt x="288" y="361"/>
                  </a:lnTo>
                  <a:lnTo>
                    <a:pt x="290" y="366"/>
                  </a:lnTo>
                  <a:lnTo>
                    <a:pt x="294" y="370"/>
                  </a:lnTo>
                  <a:lnTo>
                    <a:pt x="295" y="375"/>
                  </a:lnTo>
                  <a:lnTo>
                    <a:pt x="298" y="381"/>
                  </a:lnTo>
                  <a:lnTo>
                    <a:pt x="300" y="386"/>
                  </a:lnTo>
                  <a:lnTo>
                    <a:pt x="302" y="392"/>
                  </a:lnTo>
                  <a:lnTo>
                    <a:pt x="304" y="397"/>
                  </a:lnTo>
                  <a:lnTo>
                    <a:pt x="308" y="402"/>
                  </a:lnTo>
                  <a:lnTo>
                    <a:pt x="311" y="408"/>
                  </a:lnTo>
                  <a:lnTo>
                    <a:pt x="314" y="410"/>
                  </a:lnTo>
                  <a:lnTo>
                    <a:pt x="318" y="411"/>
                  </a:lnTo>
                  <a:lnTo>
                    <a:pt x="321" y="417"/>
                  </a:lnTo>
                  <a:lnTo>
                    <a:pt x="324" y="420"/>
                  </a:lnTo>
                  <a:lnTo>
                    <a:pt x="326" y="426"/>
                  </a:lnTo>
                  <a:lnTo>
                    <a:pt x="330" y="428"/>
                  </a:lnTo>
                  <a:lnTo>
                    <a:pt x="333" y="429"/>
                  </a:lnTo>
                  <a:lnTo>
                    <a:pt x="336" y="431"/>
                  </a:lnTo>
                  <a:lnTo>
                    <a:pt x="340" y="433"/>
                  </a:lnTo>
                  <a:lnTo>
                    <a:pt x="343" y="437"/>
                  </a:lnTo>
                  <a:lnTo>
                    <a:pt x="346" y="438"/>
                  </a:lnTo>
                  <a:lnTo>
                    <a:pt x="349" y="440"/>
                  </a:lnTo>
                  <a:lnTo>
                    <a:pt x="352" y="442"/>
                  </a:lnTo>
                  <a:lnTo>
                    <a:pt x="355" y="442"/>
                  </a:lnTo>
                  <a:lnTo>
                    <a:pt x="359" y="442"/>
                  </a:lnTo>
                  <a:lnTo>
                    <a:pt x="362" y="444"/>
                  </a:lnTo>
                  <a:lnTo>
                    <a:pt x="365" y="442"/>
                  </a:lnTo>
                </a:path>
              </a:pathLst>
            </a:custGeom>
            <a:noFill/>
            <a:ln w="12700" cap="rnd">
              <a:solidFill>
                <a:schemeClr val="tx1"/>
              </a:solidFill>
              <a:round/>
              <a:headEnd type="none" w="sm" len="sm"/>
              <a:tailEnd type="none" w="sm" len="sm"/>
            </a:ln>
          </p:spPr>
          <p:txBody>
            <a:bodyPr/>
            <a:lstStyle/>
            <a:p>
              <a:endParaRPr lang="ko-KR" altLang="en-US" dirty="0"/>
            </a:p>
          </p:txBody>
        </p:sp>
        <p:sp>
          <p:nvSpPr>
            <p:cNvPr id="133" name="Line 50"/>
            <p:cNvSpPr>
              <a:spLocks noChangeShapeType="1"/>
            </p:cNvSpPr>
            <p:nvPr/>
          </p:nvSpPr>
          <p:spPr bwMode="auto">
            <a:xfrm>
              <a:off x="2131" y="2548"/>
              <a:ext cx="0" cy="503"/>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34" name="Line 51"/>
            <p:cNvSpPr>
              <a:spLocks noChangeShapeType="1"/>
            </p:cNvSpPr>
            <p:nvPr/>
          </p:nvSpPr>
          <p:spPr bwMode="auto">
            <a:xfrm>
              <a:off x="1731" y="3064"/>
              <a:ext cx="825" cy="0"/>
            </a:xfrm>
            <a:prstGeom prst="line">
              <a:avLst/>
            </a:prstGeom>
            <a:noFill/>
            <a:ln w="12700">
              <a:solidFill>
                <a:schemeClr val="tx1"/>
              </a:solidFill>
              <a:round/>
              <a:headEnd type="none" w="sm" len="sm"/>
              <a:tailEnd type="none" w="sm" len="sm"/>
            </a:ln>
          </p:spPr>
          <p:txBody>
            <a:bodyPr wrap="none" anchor="ctr"/>
            <a:lstStyle/>
            <a:p>
              <a:endParaRPr lang="ko-KR" altLang="en-US" dirty="0"/>
            </a:p>
          </p:txBody>
        </p:sp>
        <p:sp>
          <p:nvSpPr>
            <p:cNvPr id="135" name="Freeform 52"/>
            <p:cNvSpPr>
              <a:spLocks/>
            </p:cNvSpPr>
            <p:nvPr/>
          </p:nvSpPr>
          <p:spPr bwMode="auto">
            <a:xfrm>
              <a:off x="2309" y="3019"/>
              <a:ext cx="178" cy="31"/>
            </a:xfrm>
            <a:custGeom>
              <a:avLst/>
              <a:gdLst>
                <a:gd name="T0" fmla="*/ 0 w 178"/>
                <a:gd name="T1" fmla="*/ 0 h 31"/>
                <a:gd name="T2" fmla="*/ 0 w 178"/>
                <a:gd name="T3" fmla="*/ 0 h 31"/>
                <a:gd name="T4" fmla="*/ 0 w 178"/>
                <a:gd name="T5" fmla="*/ 3 h 31"/>
                <a:gd name="T6" fmla="*/ 3 w 178"/>
                <a:gd name="T7" fmla="*/ 6 h 31"/>
                <a:gd name="T8" fmla="*/ 5 w 178"/>
                <a:gd name="T9" fmla="*/ 10 h 31"/>
                <a:gd name="T10" fmla="*/ 8 w 178"/>
                <a:gd name="T11" fmla="*/ 10 h 31"/>
                <a:gd name="T12" fmla="*/ 11 w 178"/>
                <a:gd name="T13" fmla="*/ 13 h 31"/>
                <a:gd name="T14" fmla="*/ 15 w 178"/>
                <a:gd name="T15" fmla="*/ 15 h 31"/>
                <a:gd name="T16" fmla="*/ 19 w 178"/>
                <a:gd name="T17" fmla="*/ 15 h 31"/>
                <a:gd name="T18" fmla="*/ 23 w 178"/>
                <a:gd name="T19" fmla="*/ 16 h 31"/>
                <a:gd name="T20" fmla="*/ 26 w 178"/>
                <a:gd name="T21" fmla="*/ 16 h 31"/>
                <a:gd name="T22" fmla="*/ 29 w 178"/>
                <a:gd name="T23" fmla="*/ 17 h 31"/>
                <a:gd name="T24" fmla="*/ 32 w 178"/>
                <a:gd name="T25" fmla="*/ 19 h 31"/>
                <a:gd name="T26" fmla="*/ 35 w 178"/>
                <a:gd name="T27" fmla="*/ 19 h 31"/>
                <a:gd name="T28" fmla="*/ 38 w 178"/>
                <a:gd name="T29" fmla="*/ 20 h 31"/>
                <a:gd name="T30" fmla="*/ 42 w 178"/>
                <a:gd name="T31" fmla="*/ 20 h 31"/>
                <a:gd name="T32" fmla="*/ 46 w 178"/>
                <a:gd name="T33" fmla="*/ 20 h 31"/>
                <a:gd name="T34" fmla="*/ 50 w 178"/>
                <a:gd name="T35" fmla="*/ 21 h 31"/>
                <a:gd name="T36" fmla="*/ 53 w 178"/>
                <a:gd name="T37" fmla="*/ 21 h 31"/>
                <a:gd name="T38" fmla="*/ 57 w 178"/>
                <a:gd name="T39" fmla="*/ 23 h 31"/>
                <a:gd name="T40" fmla="*/ 61 w 178"/>
                <a:gd name="T41" fmla="*/ 25 h 31"/>
                <a:gd name="T42" fmla="*/ 65 w 178"/>
                <a:gd name="T43" fmla="*/ 25 h 31"/>
                <a:gd name="T44" fmla="*/ 69 w 178"/>
                <a:gd name="T45" fmla="*/ 25 h 31"/>
                <a:gd name="T46" fmla="*/ 73 w 178"/>
                <a:gd name="T47" fmla="*/ 25 h 31"/>
                <a:gd name="T48" fmla="*/ 76 w 178"/>
                <a:gd name="T49" fmla="*/ 25 h 31"/>
                <a:gd name="T50" fmla="*/ 80 w 178"/>
                <a:gd name="T51" fmla="*/ 25 h 31"/>
                <a:gd name="T52" fmla="*/ 84 w 178"/>
                <a:gd name="T53" fmla="*/ 25 h 31"/>
                <a:gd name="T54" fmla="*/ 88 w 178"/>
                <a:gd name="T55" fmla="*/ 25 h 31"/>
                <a:gd name="T56" fmla="*/ 92 w 178"/>
                <a:gd name="T57" fmla="*/ 25 h 31"/>
                <a:gd name="T58" fmla="*/ 96 w 178"/>
                <a:gd name="T59" fmla="*/ 25 h 31"/>
                <a:gd name="T60" fmla="*/ 100 w 178"/>
                <a:gd name="T61" fmla="*/ 25 h 31"/>
                <a:gd name="T62" fmla="*/ 103 w 178"/>
                <a:gd name="T63" fmla="*/ 26 h 31"/>
                <a:gd name="T64" fmla="*/ 105 w 178"/>
                <a:gd name="T65" fmla="*/ 26 h 31"/>
                <a:gd name="T66" fmla="*/ 107 w 178"/>
                <a:gd name="T67" fmla="*/ 26 h 31"/>
                <a:gd name="T68" fmla="*/ 111 w 178"/>
                <a:gd name="T69" fmla="*/ 26 h 31"/>
                <a:gd name="T70" fmla="*/ 115 w 178"/>
                <a:gd name="T71" fmla="*/ 26 h 31"/>
                <a:gd name="T72" fmla="*/ 119 w 178"/>
                <a:gd name="T73" fmla="*/ 26 h 31"/>
                <a:gd name="T74" fmla="*/ 123 w 178"/>
                <a:gd name="T75" fmla="*/ 26 h 31"/>
                <a:gd name="T76" fmla="*/ 126 w 178"/>
                <a:gd name="T77" fmla="*/ 26 h 31"/>
                <a:gd name="T78" fmla="*/ 129 w 178"/>
                <a:gd name="T79" fmla="*/ 28 h 31"/>
                <a:gd name="T80" fmla="*/ 132 w 178"/>
                <a:gd name="T81" fmla="*/ 28 h 31"/>
                <a:gd name="T82" fmla="*/ 135 w 178"/>
                <a:gd name="T83" fmla="*/ 30 h 31"/>
                <a:gd name="T84" fmla="*/ 138 w 178"/>
                <a:gd name="T85" fmla="*/ 30 h 31"/>
                <a:gd name="T86" fmla="*/ 142 w 178"/>
                <a:gd name="T87" fmla="*/ 30 h 31"/>
                <a:gd name="T88" fmla="*/ 146 w 178"/>
                <a:gd name="T89" fmla="*/ 30 h 31"/>
                <a:gd name="T90" fmla="*/ 150 w 178"/>
                <a:gd name="T91" fmla="*/ 30 h 31"/>
                <a:gd name="T92" fmla="*/ 153 w 178"/>
                <a:gd name="T93" fmla="*/ 30 h 31"/>
                <a:gd name="T94" fmla="*/ 156 w 178"/>
                <a:gd name="T95" fmla="*/ 30 h 31"/>
                <a:gd name="T96" fmla="*/ 159 w 178"/>
                <a:gd name="T97" fmla="*/ 30 h 31"/>
                <a:gd name="T98" fmla="*/ 162 w 178"/>
                <a:gd name="T99" fmla="*/ 30 h 31"/>
                <a:gd name="T100" fmla="*/ 166 w 178"/>
                <a:gd name="T101" fmla="*/ 30 h 31"/>
                <a:gd name="T102" fmla="*/ 169 w 178"/>
                <a:gd name="T103" fmla="*/ 30 h 31"/>
                <a:gd name="T104" fmla="*/ 173 w 178"/>
                <a:gd name="T105" fmla="*/ 30 h 31"/>
                <a:gd name="T106" fmla="*/ 177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0" y="0"/>
                  </a:moveTo>
                  <a:lnTo>
                    <a:pt x="0" y="0"/>
                  </a:lnTo>
                  <a:lnTo>
                    <a:pt x="0" y="3"/>
                  </a:lnTo>
                  <a:lnTo>
                    <a:pt x="3" y="6"/>
                  </a:lnTo>
                  <a:lnTo>
                    <a:pt x="5" y="10"/>
                  </a:lnTo>
                  <a:lnTo>
                    <a:pt x="8" y="10"/>
                  </a:lnTo>
                  <a:lnTo>
                    <a:pt x="11" y="13"/>
                  </a:lnTo>
                  <a:lnTo>
                    <a:pt x="15" y="15"/>
                  </a:lnTo>
                  <a:lnTo>
                    <a:pt x="19" y="15"/>
                  </a:lnTo>
                  <a:lnTo>
                    <a:pt x="23" y="16"/>
                  </a:lnTo>
                  <a:lnTo>
                    <a:pt x="26" y="16"/>
                  </a:lnTo>
                  <a:lnTo>
                    <a:pt x="29" y="17"/>
                  </a:lnTo>
                  <a:lnTo>
                    <a:pt x="32" y="19"/>
                  </a:lnTo>
                  <a:lnTo>
                    <a:pt x="35" y="19"/>
                  </a:lnTo>
                  <a:lnTo>
                    <a:pt x="38" y="20"/>
                  </a:lnTo>
                  <a:lnTo>
                    <a:pt x="42" y="20"/>
                  </a:lnTo>
                  <a:lnTo>
                    <a:pt x="46" y="20"/>
                  </a:lnTo>
                  <a:lnTo>
                    <a:pt x="50" y="21"/>
                  </a:lnTo>
                  <a:lnTo>
                    <a:pt x="53" y="21"/>
                  </a:lnTo>
                  <a:lnTo>
                    <a:pt x="57" y="23"/>
                  </a:lnTo>
                  <a:lnTo>
                    <a:pt x="61" y="25"/>
                  </a:lnTo>
                  <a:lnTo>
                    <a:pt x="65" y="25"/>
                  </a:lnTo>
                  <a:lnTo>
                    <a:pt x="69" y="25"/>
                  </a:lnTo>
                  <a:lnTo>
                    <a:pt x="73" y="25"/>
                  </a:lnTo>
                  <a:lnTo>
                    <a:pt x="76" y="25"/>
                  </a:lnTo>
                  <a:lnTo>
                    <a:pt x="80" y="25"/>
                  </a:lnTo>
                  <a:lnTo>
                    <a:pt x="84" y="25"/>
                  </a:lnTo>
                  <a:lnTo>
                    <a:pt x="88" y="25"/>
                  </a:lnTo>
                  <a:lnTo>
                    <a:pt x="92" y="25"/>
                  </a:lnTo>
                  <a:lnTo>
                    <a:pt x="96" y="25"/>
                  </a:lnTo>
                  <a:lnTo>
                    <a:pt x="100" y="25"/>
                  </a:lnTo>
                  <a:lnTo>
                    <a:pt x="103" y="26"/>
                  </a:lnTo>
                  <a:lnTo>
                    <a:pt x="105" y="26"/>
                  </a:lnTo>
                  <a:lnTo>
                    <a:pt x="107" y="26"/>
                  </a:lnTo>
                  <a:lnTo>
                    <a:pt x="111" y="26"/>
                  </a:lnTo>
                  <a:lnTo>
                    <a:pt x="115" y="26"/>
                  </a:lnTo>
                  <a:lnTo>
                    <a:pt x="119" y="26"/>
                  </a:lnTo>
                  <a:lnTo>
                    <a:pt x="123" y="26"/>
                  </a:lnTo>
                  <a:lnTo>
                    <a:pt x="126" y="26"/>
                  </a:lnTo>
                  <a:lnTo>
                    <a:pt x="129" y="28"/>
                  </a:lnTo>
                  <a:lnTo>
                    <a:pt x="132" y="28"/>
                  </a:lnTo>
                  <a:lnTo>
                    <a:pt x="135" y="30"/>
                  </a:lnTo>
                  <a:lnTo>
                    <a:pt x="138" y="30"/>
                  </a:lnTo>
                  <a:lnTo>
                    <a:pt x="142" y="30"/>
                  </a:lnTo>
                  <a:lnTo>
                    <a:pt x="146" y="30"/>
                  </a:lnTo>
                  <a:lnTo>
                    <a:pt x="150" y="30"/>
                  </a:lnTo>
                  <a:lnTo>
                    <a:pt x="153" y="30"/>
                  </a:lnTo>
                  <a:lnTo>
                    <a:pt x="156" y="30"/>
                  </a:lnTo>
                  <a:lnTo>
                    <a:pt x="159" y="30"/>
                  </a:lnTo>
                  <a:lnTo>
                    <a:pt x="162" y="30"/>
                  </a:lnTo>
                  <a:lnTo>
                    <a:pt x="166" y="30"/>
                  </a:lnTo>
                  <a:lnTo>
                    <a:pt x="169" y="30"/>
                  </a:lnTo>
                  <a:lnTo>
                    <a:pt x="173" y="30"/>
                  </a:lnTo>
                  <a:lnTo>
                    <a:pt x="177" y="30"/>
                  </a:lnTo>
                </a:path>
              </a:pathLst>
            </a:custGeom>
            <a:noFill/>
            <a:ln w="12700" cap="rnd">
              <a:solidFill>
                <a:schemeClr val="tx1"/>
              </a:solidFill>
              <a:round/>
              <a:headEnd type="none" w="sm" len="sm"/>
              <a:tailEnd type="none" w="sm" len="sm"/>
            </a:ln>
          </p:spPr>
          <p:txBody>
            <a:bodyPr/>
            <a:lstStyle/>
            <a:p>
              <a:endParaRPr lang="ko-KR" altLang="en-US" dirty="0"/>
            </a:p>
          </p:txBody>
        </p:sp>
        <p:sp>
          <p:nvSpPr>
            <p:cNvPr id="136" name="Freeform 53"/>
            <p:cNvSpPr>
              <a:spLocks/>
            </p:cNvSpPr>
            <p:nvPr/>
          </p:nvSpPr>
          <p:spPr bwMode="auto">
            <a:xfrm>
              <a:off x="1768" y="3019"/>
              <a:ext cx="178" cy="31"/>
            </a:xfrm>
            <a:custGeom>
              <a:avLst/>
              <a:gdLst>
                <a:gd name="T0" fmla="*/ 177 w 178"/>
                <a:gd name="T1" fmla="*/ 0 h 31"/>
                <a:gd name="T2" fmla="*/ 177 w 178"/>
                <a:gd name="T3" fmla="*/ 0 h 31"/>
                <a:gd name="T4" fmla="*/ 177 w 178"/>
                <a:gd name="T5" fmla="*/ 3 h 31"/>
                <a:gd name="T6" fmla="*/ 173 w 178"/>
                <a:gd name="T7" fmla="*/ 6 h 31"/>
                <a:gd name="T8" fmla="*/ 171 w 178"/>
                <a:gd name="T9" fmla="*/ 10 h 31"/>
                <a:gd name="T10" fmla="*/ 168 w 178"/>
                <a:gd name="T11" fmla="*/ 10 h 31"/>
                <a:gd name="T12" fmla="*/ 165 w 178"/>
                <a:gd name="T13" fmla="*/ 13 h 31"/>
                <a:gd name="T14" fmla="*/ 161 w 178"/>
                <a:gd name="T15" fmla="*/ 15 h 31"/>
                <a:gd name="T16" fmla="*/ 157 w 178"/>
                <a:gd name="T17" fmla="*/ 15 h 31"/>
                <a:gd name="T18" fmla="*/ 153 w 178"/>
                <a:gd name="T19" fmla="*/ 16 h 31"/>
                <a:gd name="T20" fmla="*/ 150 w 178"/>
                <a:gd name="T21" fmla="*/ 16 h 31"/>
                <a:gd name="T22" fmla="*/ 147 w 178"/>
                <a:gd name="T23" fmla="*/ 17 h 31"/>
                <a:gd name="T24" fmla="*/ 144 w 178"/>
                <a:gd name="T25" fmla="*/ 19 h 31"/>
                <a:gd name="T26" fmla="*/ 141 w 178"/>
                <a:gd name="T27" fmla="*/ 19 h 31"/>
                <a:gd name="T28" fmla="*/ 138 w 178"/>
                <a:gd name="T29" fmla="*/ 20 h 31"/>
                <a:gd name="T30" fmla="*/ 135 w 178"/>
                <a:gd name="T31" fmla="*/ 20 h 31"/>
                <a:gd name="T32" fmla="*/ 130 w 178"/>
                <a:gd name="T33" fmla="*/ 20 h 31"/>
                <a:gd name="T34" fmla="*/ 126 w 178"/>
                <a:gd name="T35" fmla="*/ 21 h 31"/>
                <a:gd name="T36" fmla="*/ 123 w 178"/>
                <a:gd name="T37" fmla="*/ 21 h 31"/>
                <a:gd name="T38" fmla="*/ 119 w 178"/>
                <a:gd name="T39" fmla="*/ 23 h 31"/>
                <a:gd name="T40" fmla="*/ 115 w 178"/>
                <a:gd name="T41" fmla="*/ 25 h 31"/>
                <a:gd name="T42" fmla="*/ 111 w 178"/>
                <a:gd name="T43" fmla="*/ 25 h 31"/>
                <a:gd name="T44" fmla="*/ 108 w 178"/>
                <a:gd name="T45" fmla="*/ 25 h 31"/>
                <a:gd name="T46" fmla="*/ 104 w 178"/>
                <a:gd name="T47" fmla="*/ 25 h 31"/>
                <a:gd name="T48" fmla="*/ 99 w 178"/>
                <a:gd name="T49" fmla="*/ 25 h 31"/>
                <a:gd name="T50" fmla="*/ 96 w 178"/>
                <a:gd name="T51" fmla="*/ 25 h 31"/>
                <a:gd name="T52" fmla="*/ 92 w 178"/>
                <a:gd name="T53" fmla="*/ 25 h 31"/>
                <a:gd name="T54" fmla="*/ 88 w 178"/>
                <a:gd name="T55" fmla="*/ 25 h 31"/>
                <a:gd name="T56" fmla="*/ 84 w 178"/>
                <a:gd name="T57" fmla="*/ 25 h 31"/>
                <a:gd name="T58" fmla="*/ 81 w 178"/>
                <a:gd name="T59" fmla="*/ 25 h 31"/>
                <a:gd name="T60" fmla="*/ 77 w 178"/>
                <a:gd name="T61" fmla="*/ 25 h 31"/>
                <a:gd name="T62" fmla="*/ 74 w 178"/>
                <a:gd name="T63" fmla="*/ 26 h 31"/>
                <a:gd name="T64" fmla="*/ 72 w 178"/>
                <a:gd name="T65" fmla="*/ 26 h 31"/>
                <a:gd name="T66" fmla="*/ 69 w 178"/>
                <a:gd name="T67" fmla="*/ 26 h 31"/>
                <a:gd name="T68" fmla="*/ 66 w 178"/>
                <a:gd name="T69" fmla="*/ 26 h 31"/>
                <a:gd name="T70" fmla="*/ 61 w 178"/>
                <a:gd name="T71" fmla="*/ 26 h 31"/>
                <a:gd name="T72" fmla="*/ 57 w 178"/>
                <a:gd name="T73" fmla="*/ 26 h 31"/>
                <a:gd name="T74" fmla="*/ 54 w 178"/>
                <a:gd name="T75" fmla="*/ 26 h 31"/>
                <a:gd name="T76" fmla="*/ 50 w 178"/>
                <a:gd name="T77" fmla="*/ 26 h 31"/>
                <a:gd name="T78" fmla="*/ 47 w 178"/>
                <a:gd name="T79" fmla="*/ 28 h 31"/>
                <a:gd name="T80" fmla="*/ 44 w 178"/>
                <a:gd name="T81" fmla="*/ 28 h 31"/>
                <a:gd name="T82" fmla="*/ 41 w 178"/>
                <a:gd name="T83" fmla="*/ 30 h 31"/>
                <a:gd name="T84" fmla="*/ 38 w 178"/>
                <a:gd name="T85" fmla="*/ 30 h 31"/>
                <a:gd name="T86" fmla="*/ 34 w 178"/>
                <a:gd name="T87" fmla="*/ 30 h 31"/>
                <a:gd name="T88" fmla="*/ 30 w 178"/>
                <a:gd name="T89" fmla="*/ 30 h 31"/>
                <a:gd name="T90" fmla="*/ 27 w 178"/>
                <a:gd name="T91" fmla="*/ 30 h 31"/>
                <a:gd name="T92" fmla="*/ 23 w 178"/>
                <a:gd name="T93" fmla="*/ 30 h 31"/>
                <a:gd name="T94" fmla="*/ 20 w 178"/>
                <a:gd name="T95" fmla="*/ 30 h 31"/>
                <a:gd name="T96" fmla="*/ 17 w 178"/>
                <a:gd name="T97" fmla="*/ 30 h 31"/>
                <a:gd name="T98" fmla="*/ 14 w 178"/>
                <a:gd name="T99" fmla="*/ 30 h 31"/>
                <a:gd name="T100" fmla="*/ 10 w 178"/>
                <a:gd name="T101" fmla="*/ 30 h 31"/>
                <a:gd name="T102" fmla="*/ 7 w 178"/>
                <a:gd name="T103" fmla="*/ 30 h 31"/>
                <a:gd name="T104" fmla="*/ 3 w 178"/>
                <a:gd name="T105" fmla="*/ 30 h 31"/>
                <a:gd name="T106" fmla="*/ 0 w 178"/>
                <a:gd name="T107" fmla="*/ 30 h 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31"/>
                <a:gd name="T164" fmla="*/ 178 w 178"/>
                <a:gd name="T165" fmla="*/ 31 h 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31">
                  <a:moveTo>
                    <a:pt x="177" y="0"/>
                  </a:moveTo>
                  <a:lnTo>
                    <a:pt x="177" y="0"/>
                  </a:lnTo>
                  <a:lnTo>
                    <a:pt x="177" y="3"/>
                  </a:lnTo>
                  <a:lnTo>
                    <a:pt x="173" y="6"/>
                  </a:lnTo>
                  <a:lnTo>
                    <a:pt x="171" y="10"/>
                  </a:lnTo>
                  <a:lnTo>
                    <a:pt x="168" y="10"/>
                  </a:lnTo>
                  <a:lnTo>
                    <a:pt x="165" y="13"/>
                  </a:lnTo>
                  <a:lnTo>
                    <a:pt x="161" y="15"/>
                  </a:lnTo>
                  <a:lnTo>
                    <a:pt x="157" y="15"/>
                  </a:lnTo>
                  <a:lnTo>
                    <a:pt x="153" y="16"/>
                  </a:lnTo>
                  <a:lnTo>
                    <a:pt x="150" y="16"/>
                  </a:lnTo>
                  <a:lnTo>
                    <a:pt x="147" y="17"/>
                  </a:lnTo>
                  <a:lnTo>
                    <a:pt x="144" y="19"/>
                  </a:lnTo>
                  <a:lnTo>
                    <a:pt x="141" y="19"/>
                  </a:lnTo>
                  <a:lnTo>
                    <a:pt x="138" y="20"/>
                  </a:lnTo>
                  <a:lnTo>
                    <a:pt x="135" y="20"/>
                  </a:lnTo>
                  <a:lnTo>
                    <a:pt x="130" y="20"/>
                  </a:lnTo>
                  <a:lnTo>
                    <a:pt x="126" y="21"/>
                  </a:lnTo>
                  <a:lnTo>
                    <a:pt x="123" y="21"/>
                  </a:lnTo>
                  <a:lnTo>
                    <a:pt x="119" y="23"/>
                  </a:lnTo>
                  <a:lnTo>
                    <a:pt x="115" y="25"/>
                  </a:lnTo>
                  <a:lnTo>
                    <a:pt x="111" y="25"/>
                  </a:lnTo>
                  <a:lnTo>
                    <a:pt x="108" y="25"/>
                  </a:lnTo>
                  <a:lnTo>
                    <a:pt x="104" y="25"/>
                  </a:lnTo>
                  <a:lnTo>
                    <a:pt x="99" y="25"/>
                  </a:lnTo>
                  <a:lnTo>
                    <a:pt x="96" y="25"/>
                  </a:lnTo>
                  <a:lnTo>
                    <a:pt x="92" y="25"/>
                  </a:lnTo>
                  <a:lnTo>
                    <a:pt x="88" y="25"/>
                  </a:lnTo>
                  <a:lnTo>
                    <a:pt x="84" y="25"/>
                  </a:lnTo>
                  <a:lnTo>
                    <a:pt x="81" y="25"/>
                  </a:lnTo>
                  <a:lnTo>
                    <a:pt x="77" y="25"/>
                  </a:lnTo>
                  <a:lnTo>
                    <a:pt x="74" y="26"/>
                  </a:lnTo>
                  <a:lnTo>
                    <a:pt x="72" y="26"/>
                  </a:lnTo>
                  <a:lnTo>
                    <a:pt x="69" y="26"/>
                  </a:lnTo>
                  <a:lnTo>
                    <a:pt x="66" y="26"/>
                  </a:lnTo>
                  <a:lnTo>
                    <a:pt x="61" y="26"/>
                  </a:lnTo>
                  <a:lnTo>
                    <a:pt x="57" y="26"/>
                  </a:lnTo>
                  <a:lnTo>
                    <a:pt x="54" y="26"/>
                  </a:lnTo>
                  <a:lnTo>
                    <a:pt x="50" y="26"/>
                  </a:lnTo>
                  <a:lnTo>
                    <a:pt x="47" y="28"/>
                  </a:lnTo>
                  <a:lnTo>
                    <a:pt x="44" y="28"/>
                  </a:lnTo>
                  <a:lnTo>
                    <a:pt x="41" y="30"/>
                  </a:lnTo>
                  <a:lnTo>
                    <a:pt x="38" y="30"/>
                  </a:lnTo>
                  <a:lnTo>
                    <a:pt x="34" y="30"/>
                  </a:lnTo>
                  <a:lnTo>
                    <a:pt x="30" y="30"/>
                  </a:lnTo>
                  <a:lnTo>
                    <a:pt x="27" y="30"/>
                  </a:lnTo>
                  <a:lnTo>
                    <a:pt x="23" y="30"/>
                  </a:lnTo>
                  <a:lnTo>
                    <a:pt x="20" y="30"/>
                  </a:lnTo>
                  <a:lnTo>
                    <a:pt x="17" y="30"/>
                  </a:lnTo>
                  <a:lnTo>
                    <a:pt x="14" y="30"/>
                  </a:lnTo>
                  <a:lnTo>
                    <a:pt x="10" y="30"/>
                  </a:lnTo>
                  <a:lnTo>
                    <a:pt x="7" y="30"/>
                  </a:lnTo>
                  <a:lnTo>
                    <a:pt x="3" y="30"/>
                  </a:lnTo>
                  <a:lnTo>
                    <a:pt x="0" y="30"/>
                  </a:lnTo>
                </a:path>
              </a:pathLst>
            </a:custGeom>
            <a:noFill/>
            <a:ln w="12700" cap="rnd">
              <a:solidFill>
                <a:schemeClr val="tx1"/>
              </a:solidFill>
              <a:round/>
              <a:headEnd type="none" w="sm" len="sm"/>
              <a:tailEnd type="none" w="sm" len="sm"/>
            </a:ln>
          </p:spPr>
          <p:txBody>
            <a:bodyPr/>
            <a:lstStyle/>
            <a:p>
              <a:endParaRPr lang="ko-KR" altLang="en-US" dirty="0"/>
            </a:p>
          </p:txBody>
        </p:sp>
      </p:grpSp>
      <p:sp>
        <p:nvSpPr>
          <p:cNvPr id="10" name="TextBox 9"/>
          <p:cNvSpPr txBox="1"/>
          <p:nvPr/>
        </p:nvSpPr>
        <p:spPr>
          <a:xfrm>
            <a:off x="4572000" y="2523042"/>
            <a:ext cx="2248372" cy="572464"/>
          </a:xfrm>
          <a:prstGeom prst="rect">
            <a:avLst/>
          </a:prstGeom>
          <a:noFill/>
        </p:spPr>
        <p:txBody>
          <a:bodyPr wrap="none" rtlCol="0">
            <a:spAutoFit/>
          </a:bodyPr>
          <a:lstStyle/>
          <a:p>
            <a:pPr>
              <a:lnSpc>
                <a:spcPct val="130000"/>
              </a:lnSpc>
              <a:buClr>
                <a:srgbClr val="C5003D"/>
              </a:buClr>
            </a:pPr>
            <a:r>
              <a:rPr lang="en-US" altLang="ko-KR" sz="1200" b="1" dirty="0"/>
              <a:t>A  </a:t>
            </a:r>
            <a:r>
              <a:rPr lang="en-US" altLang="ko-KR" sz="1200" b="1" dirty="0" err="1"/>
              <a:t>cải</a:t>
            </a:r>
            <a:r>
              <a:rPr lang="en-US" altLang="ko-KR" sz="1200" b="1" dirty="0"/>
              <a:t> </a:t>
            </a:r>
            <a:r>
              <a:rPr lang="en-US" altLang="ko-KR" sz="1200" b="1" dirty="0" err="1"/>
              <a:t>thiện</a:t>
            </a:r>
            <a:r>
              <a:rPr lang="en-US" altLang="ko-KR" sz="1200" b="1" dirty="0"/>
              <a:t> </a:t>
            </a:r>
            <a:r>
              <a:rPr lang="en-US" altLang="ko-KR" sz="1200" b="1" dirty="0" err="1"/>
              <a:t>sự</a:t>
            </a:r>
            <a:r>
              <a:rPr lang="en-US" altLang="ko-KR" sz="1200" b="1" dirty="0"/>
              <a:t> </a:t>
            </a:r>
            <a:r>
              <a:rPr lang="en-US" altLang="ko-KR" sz="1200" b="1" dirty="0" err="1"/>
              <a:t>phân</a:t>
            </a:r>
            <a:r>
              <a:rPr lang="en-US" altLang="ko-KR" sz="1200" b="1" dirty="0"/>
              <a:t> </a:t>
            </a:r>
            <a:r>
              <a:rPr lang="en-US" altLang="ko-KR" sz="1200" b="1" dirty="0" err="1"/>
              <a:t>tán</a:t>
            </a:r>
            <a:r>
              <a:rPr lang="en-US" altLang="ko-KR" sz="1200" b="1" dirty="0"/>
              <a:t> </a:t>
            </a:r>
            <a:r>
              <a:rPr lang="en-US" altLang="ko-KR" sz="1200" b="1" dirty="0" err="1"/>
              <a:t>và</a:t>
            </a:r>
            <a:r>
              <a:rPr lang="en-US" altLang="ko-KR" sz="1200" b="1" dirty="0"/>
              <a:t> </a:t>
            </a:r>
          </a:p>
          <a:p>
            <a:pPr>
              <a:lnSpc>
                <a:spcPct val="130000"/>
              </a:lnSpc>
              <a:buClr>
                <a:srgbClr val="C5003D"/>
              </a:buClr>
            </a:pPr>
            <a:r>
              <a:rPr lang="en-US" altLang="ko-KR" sz="1200" b="1" dirty="0" err="1"/>
              <a:t>giá</a:t>
            </a:r>
            <a:r>
              <a:rPr lang="en-US" altLang="ko-KR" sz="1200" b="1" dirty="0"/>
              <a:t> </a:t>
            </a:r>
            <a:r>
              <a:rPr lang="en-US" altLang="ko-KR" sz="1200" b="1" dirty="0" err="1"/>
              <a:t>trị</a:t>
            </a:r>
            <a:r>
              <a:rPr lang="en-US" altLang="ko-KR" sz="1200" b="1" dirty="0"/>
              <a:t> </a:t>
            </a:r>
            <a:r>
              <a:rPr lang="en-US" altLang="ko-KR" sz="1200" b="1" dirty="0" err="1"/>
              <a:t>trung</a:t>
            </a:r>
            <a:r>
              <a:rPr lang="en-US" altLang="ko-KR" sz="1200" b="1" dirty="0"/>
              <a:t> </a:t>
            </a:r>
            <a:r>
              <a:rPr lang="en-US" altLang="ko-KR" sz="1200" b="1" dirty="0" err="1"/>
              <a:t>bình</a:t>
            </a:r>
            <a:endParaRPr lang="ko-KR" altLang="en-US" sz="1200" b="1" dirty="0"/>
          </a:p>
        </p:txBody>
      </p:sp>
      <p:sp>
        <p:nvSpPr>
          <p:cNvPr id="138" name="TextBox 137"/>
          <p:cNvSpPr txBox="1"/>
          <p:nvPr/>
        </p:nvSpPr>
        <p:spPr>
          <a:xfrm>
            <a:off x="6699006" y="2636913"/>
            <a:ext cx="2360326" cy="332399"/>
          </a:xfrm>
          <a:prstGeom prst="rect">
            <a:avLst/>
          </a:prstGeom>
          <a:noFill/>
        </p:spPr>
        <p:txBody>
          <a:bodyPr wrap="none" rtlCol="0">
            <a:spAutoFit/>
          </a:bodyPr>
          <a:lstStyle/>
          <a:p>
            <a:pPr>
              <a:lnSpc>
                <a:spcPct val="130000"/>
              </a:lnSpc>
              <a:buClr>
                <a:srgbClr val="C5003D"/>
              </a:buClr>
            </a:pPr>
            <a:r>
              <a:rPr lang="en-US" altLang="ko-KR" sz="1200" b="1" dirty="0"/>
              <a:t>B </a:t>
            </a:r>
            <a:r>
              <a:rPr lang="en-US" altLang="ko-KR" sz="1200" b="1" dirty="0" err="1"/>
              <a:t>cải</a:t>
            </a:r>
            <a:r>
              <a:rPr lang="en-US" altLang="ko-KR" sz="1200" b="1" dirty="0"/>
              <a:t> </a:t>
            </a:r>
            <a:r>
              <a:rPr lang="en-US" altLang="ko-KR" sz="1200" b="1" dirty="0" err="1"/>
              <a:t>thiện</a:t>
            </a:r>
            <a:r>
              <a:rPr lang="en-US" altLang="ko-KR" sz="1200" b="1" dirty="0"/>
              <a:t> </a:t>
            </a:r>
            <a:r>
              <a:rPr lang="en-US" altLang="ko-KR" sz="1200" b="1" dirty="0" err="1"/>
              <a:t>giá</a:t>
            </a:r>
            <a:r>
              <a:rPr lang="en-US" altLang="ko-KR" sz="1200" b="1" dirty="0"/>
              <a:t> </a:t>
            </a:r>
            <a:r>
              <a:rPr lang="en-US" altLang="ko-KR" sz="1200" b="1" dirty="0" err="1"/>
              <a:t>trị</a:t>
            </a:r>
            <a:r>
              <a:rPr lang="en-US" altLang="ko-KR" sz="1200" b="1" dirty="0"/>
              <a:t> </a:t>
            </a:r>
            <a:r>
              <a:rPr lang="en-US" altLang="ko-KR" sz="1200" b="1" dirty="0" err="1"/>
              <a:t>trung</a:t>
            </a:r>
            <a:r>
              <a:rPr lang="en-US" altLang="ko-KR" sz="1200" b="1" dirty="0"/>
              <a:t> </a:t>
            </a:r>
            <a:r>
              <a:rPr lang="en-US" altLang="ko-KR" sz="1200" b="1" dirty="0" err="1"/>
              <a:t>bình</a:t>
            </a:r>
            <a:endParaRPr lang="ko-KR" altLang="en-US" sz="1200" b="1" dirty="0"/>
          </a:p>
        </p:txBody>
      </p:sp>
      <p:sp>
        <p:nvSpPr>
          <p:cNvPr id="139" name="TextBox 138"/>
          <p:cNvSpPr txBox="1"/>
          <p:nvPr/>
        </p:nvSpPr>
        <p:spPr>
          <a:xfrm>
            <a:off x="4572001" y="3861049"/>
            <a:ext cx="1963743" cy="332399"/>
          </a:xfrm>
          <a:prstGeom prst="rect">
            <a:avLst/>
          </a:prstGeom>
          <a:noFill/>
        </p:spPr>
        <p:txBody>
          <a:bodyPr wrap="none" rtlCol="0">
            <a:spAutoFit/>
          </a:bodyPr>
          <a:lstStyle/>
          <a:p>
            <a:pPr>
              <a:lnSpc>
                <a:spcPct val="130000"/>
              </a:lnSpc>
              <a:buClr>
                <a:srgbClr val="C5003D"/>
              </a:buClr>
            </a:pPr>
            <a:r>
              <a:rPr lang="en-US" altLang="ko-KR" sz="1200" b="1" dirty="0"/>
              <a:t>C  </a:t>
            </a:r>
            <a:r>
              <a:rPr lang="en-US" altLang="ko-KR" sz="1200" b="1" dirty="0" err="1"/>
              <a:t>cải</a:t>
            </a:r>
            <a:r>
              <a:rPr lang="en-US" altLang="ko-KR" sz="1200" b="1" dirty="0"/>
              <a:t> </a:t>
            </a:r>
            <a:r>
              <a:rPr lang="en-US" altLang="ko-KR" sz="1200" b="1" dirty="0" err="1"/>
              <a:t>thiện</a:t>
            </a:r>
            <a:r>
              <a:rPr lang="en-US" altLang="ko-KR" sz="1200" b="1" dirty="0"/>
              <a:t> </a:t>
            </a:r>
            <a:r>
              <a:rPr lang="en-US" altLang="ko-KR" sz="1200" b="1" dirty="0" err="1"/>
              <a:t>sự</a:t>
            </a:r>
            <a:r>
              <a:rPr lang="en-US" altLang="ko-KR" sz="1200" b="1" dirty="0"/>
              <a:t> </a:t>
            </a:r>
            <a:r>
              <a:rPr lang="en-US" altLang="ko-KR" sz="1200" b="1" dirty="0" err="1"/>
              <a:t>phân</a:t>
            </a:r>
            <a:r>
              <a:rPr lang="en-US" altLang="ko-KR" sz="1200" b="1" dirty="0"/>
              <a:t> </a:t>
            </a:r>
            <a:r>
              <a:rPr lang="en-US" altLang="ko-KR" sz="1200" b="1" dirty="0" err="1"/>
              <a:t>tán</a:t>
            </a:r>
            <a:endParaRPr lang="ko-KR" altLang="en-US" sz="1200" b="1" dirty="0"/>
          </a:p>
        </p:txBody>
      </p:sp>
      <p:sp>
        <p:nvSpPr>
          <p:cNvPr id="140" name="TextBox 139"/>
          <p:cNvSpPr txBox="1"/>
          <p:nvPr/>
        </p:nvSpPr>
        <p:spPr>
          <a:xfrm>
            <a:off x="6699006" y="3861049"/>
            <a:ext cx="1428596" cy="332399"/>
          </a:xfrm>
          <a:prstGeom prst="rect">
            <a:avLst/>
          </a:prstGeom>
          <a:noFill/>
        </p:spPr>
        <p:txBody>
          <a:bodyPr wrap="none" rtlCol="0">
            <a:spAutoFit/>
          </a:bodyPr>
          <a:lstStyle/>
          <a:p>
            <a:pPr>
              <a:lnSpc>
                <a:spcPct val="130000"/>
              </a:lnSpc>
              <a:buClr>
                <a:srgbClr val="C5003D"/>
              </a:buClr>
            </a:pPr>
            <a:r>
              <a:rPr lang="en-US" altLang="ko-KR" sz="1200" b="1" dirty="0"/>
              <a:t>D </a:t>
            </a:r>
            <a:r>
              <a:rPr lang="en-US" altLang="ko-KR" sz="1200" b="1" dirty="0" err="1"/>
              <a:t>điểm</a:t>
            </a:r>
            <a:r>
              <a:rPr lang="en-US" altLang="ko-KR" sz="1200" b="1" dirty="0"/>
              <a:t> </a:t>
            </a:r>
            <a:r>
              <a:rPr lang="en-US" altLang="ko-KR" sz="1200" b="1" dirty="0" err="1"/>
              <a:t>mục</a:t>
            </a:r>
            <a:r>
              <a:rPr lang="en-US" altLang="ko-KR" sz="1200" b="1" dirty="0"/>
              <a:t> </a:t>
            </a:r>
            <a:r>
              <a:rPr lang="en-US" altLang="ko-KR" sz="1200" b="1" dirty="0" err="1"/>
              <a:t>tiêu</a:t>
            </a:r>
            <a:endParaRPr lang="ko-KR" altLang="en-US" sz="1200" b="1" dirty="0"/>
          </a:p>
        </p:txBody>
      </p:sp>
      <p:sp>
        <p:nvSpPr>
          <p:cNvPr id="11" name="TextBox 10"/>
          <p:cNvSpPr txBox="1"/>
          <p:nvPr/>
        </p:nvSpPr>
        <p:spPr>
          <a:xfrm>
            <a:off x="1381492" y="5877272"/>
            <a:ext cx="4615879" cy="732508"/>
          </a:xfrm>
          <a:prstGeom prst="rect">
            <a:avLst/>
          </a:prstGeom>
          <a:noFill/>
        </p:spPr>
        <p:txBody>
          <a:bodyPr wrap="none" rtlCol="0">
            <a:spAutoFit/>
          </a:bodyPr>
          <a:lstStyle/>
          <a:p>
            <a:pPr>
              <a:lnSpc>
                <a:spcPct val="130000"/>
              </a:lnSpc>
              <a:buClr>
                <a:srgbClr val="C5003D"/>
              </a:buClr>
            </a:pPr>
            <a:r>
              <a:rPr lang="en-US" altLang="ko-KR" sz="1600" b="1" dirty="0" err="1">
                <a:sym typeface="Wingdings" panose="05000000000000000000" pitchFamily="2" charset="2"/>
              </a:rPr>
              <a:t>Vấn</a:t>
            </a:r>
            <a:r>
              <a:rPr lang="en-US" altLang="ko-KR" sz="1600" b="1" dirty="0">
                <a:sym typeface="Wingdings" panose="05000000000000000000" pitchFamily="2" charset="2"/>
              </a:rPr>
              <a:t> </a:t>
            </a:r>
            <a:r>
              <a:rPr lang="en-US" altLang="ko-KR" sz="1600" b="1" dirty="0" err="1">
                <a:sym typeface="Wingdings" panose="05000000000000000000" pitchFamily="2" charset="2"/>
              </a:rPr>
              <a:t>đề</a:t>
            </a:r>
            <a:r>
              <a:rPr lang="en-US" altLang="ko-KR" sz="1600" b="1" dirty="0">
                <a:sym typeface="Wingdings" panose="05000000000000000000" pitchFamily="2" charset="2"/>
              </a:rPr>
              <a:t> </a:t>
            </a:r>
            <a:r>
              <a:rPr lang="en-US" altLang="ko-KR" sz="1600" b="1" dirty="0" err="1">
                <a:sym typeface="Wingdings" panose="05000000000000000000" pitchFamily="2" charset="2"/>
              </a:rPr>
              <a:t>quản</a:t>
            </a:r>
            <a:r>
              <a:rPr lang="en-US" altLang="ko-KR" sz="1600" b="1" dirty="0">
                <a:sym typeface="Wingdings" panose="05000000000000000000" pitchFamily="2" charset="2"/>
              </a:rPr>
              <a:t> </a:t>
            </a:r>
            <a:r>
              <a:rPr lang="en-US" altLang="ko-KR" sz="1600" b="1" dirty="0" err="1">
                <a:sym typeface="Wingdings" panose="05000000000000000000" pitchFamily="2" charset="2"/>
              </a:rPr>
              <a:t>lývấn</a:t>
            </a:r>
            <a:r>
              <a:rPr lang="en-US" altLang="ko-KR" sz="1600" b="1" dirty="0">
                <a:sym typeface="Wingdings" panose="05000000000000000000" pitchFamily="2" charset="2"/>
              </a:rPr>
              <a:t> </a:t>
            </a:r>
            <a:r>
              <a:rPr lang="en-US" altLang="ko-KR" sz="1600" b="1" dirty="0" err="1">
                <a:sym typeface="Wingdings" panose="05000000000000000000" pitchFamily="2" charset="2"/>
              </a:rPr>
              <a:t>đề</a:t>
            </a:r>
            <a:r>
              <a:rPr lang="en-US" altLang="ko-KR" sz="1600" b="1" dirty="0">
                <a:sym typeface="Wingdings" panose="05000000000000000000" pitchFamily="2" charset="2"/>
              </a:rPr>
              <a:t> </a:t>
            </a:r>
            <a:r>
              <a:rPr lang="en-US" altLang="ko-KR" sz="1600" b="1" dirty="0" err="1">
                <a:sym typeface="Wingdings" panose="05000000000000000000" pitchFamily="2" charset="2"/>
              </a:rPr>
              <a:t>giá</a:t>
            </a:r>
            <a:r>
              <a:rPr lang="en-US" altLang="ko-KR" sz="1600" b="1" dirty="0">
                <a:sym typeface="Wingdings" panose="05000000000000000000" pitchFamily="2" charset="2"/>
              </a:rPr>
              <a:t> </a:t>
            </a:r>
            <a:r>
              <a:rPr lang="en-US" altLang="ko-KR" sz="1600" b="1" dirty="0" err="1">
                <a:sym typeface="Wingdings" panose="05000000000000000000" pitchFamily="2" charset="2"/>
              </a:rPr>
              <a:t>trị</a:t>
            </a:r>
            <a:r>
              <a:rPr lang="en-US" altLang="ko-KR" sz="1600" b="1" dirty="0">
                <a:sym typeface="Wingdings" panose="05000000000000000000" pitchFamily="2" charset="2"/>
              </a:rPr>
              <a:t> </a:t>
            </a:r>
            <a:r>
              <a:rPr lang="en-US" altLang="ko-KR" sz="1600" b="1" dirty="0" err="1">
                <a:sym typeface="Wingdings" panose="05000000000000000000" pitchFamily="2" charset="2"/>
              </a:rPr>
              <a:t>trung</a:t>
            </a:r>
            <a:r>
              <a:rPr lang="en-US" altLang="ko-KR" sz="1600" b="1" dirty="0">
                <a:sym typeface="Wingdings" panose="05000000000000000000" pitchFamily="2" charset="2"/>
              </a:rPr>
              <a:t> </a:t>
            </a:r>
            <a:r>
              <a:rPr lang="en-US" altLang="ko-KR" sz="1600" b="1" dirty="0" err="1">
                <a:sym typeface="Wingdings" panose="05000000000000000000" pitchFamily="2" charset="2"/>
              </a:rPr>
              <a:t>bình</a:t>
            </a:r>
            <a:endParaRPr lang="en-US" altLang="ko-KR" sz="1600" b="1" dirty="0">
              <a:sym typeface="Wingdings" panose="05000000000000000000" pitchFamily="2" charset="2"/>
            </a:endParaRPr>
          </a:p>
          <a:p>
            <a:pPr>
              <a:lnSpc>
                <a:spcPct val="130000"/>
              </a:lnSpc>
              <a:buClr>
                <a:srgbClr val="C5003D"/>
              </a:buClr>
            </a:pPr>
            <a:r>
              <a:rPr lang="en-US" altLang="ko-KR" sz="1600" b="1" dirty="0" err="1">
                <a:sym typeface="Wingdings" panose="05000000000000000000" pitchFamily="2" charset="2"/>
              </a:rPr>
              <a:t>Vấn</a:t>
            </a:r>
            <a:r>
              <a:rPr lang="en-US" altLang="ko-KR" sz="1600" b="1" dirty="0">
                <a:sym typeface="Wingdings" panose="05000000000000000000" pitchFamily="2" charset="2"/>
              </a:rPr>
              <a:t> </a:t>
            </a:r>
            <a:r>
              <a:rPr lang="en-US" altLang="ko-KR" sz="1600" b="1" dirty="0" err="1">
                <a:sym typeface="Wingdings" panose="05000000000000000000" pitchFamily="2" charset="2"/>
              </a:rPr>
              <a:t>đề</a:t>
            </a:r>
            <a:r>
              <a:rPr lang="en-US" altLang="ko-KR" sz="1600" b="1" dirty="0">
                <a:sym typeface="Wingdings" panose="05000000000000000000" pitchFamily="2" charset="2"/>
              </a:rPr>
              <a:t> </a:t>
            </a:r>
            <a:r>
              <a:rPr lang="en-US" altLang="ko-KR" sz="1600" b="1" dirty="0" err="1">
                <a:sym typeface="Wingdings" panose="05000000000000000000" pitchFamily="2" charset="2"/>
              </a:rPr>
              <a:t>ký</a:t>
            </a:r>
            <a:r>
              <a:rPr lang="en-US" altLang="ko-KR" sz="1600" b="1" dirty="0">
                <a:sym typeface="Wingdings" panose="05000000000000000000" pitchFamily="2" charset="2"/>
              </a:rPr>
              <a:t> </a:t>
            </a:r>
            <a:r>
              <a:rPr lang="en-US" altLang="ko-KR" sz="1600" b="1" dirty="0" err="1">
                <a:sym typeface="Wingdings" panose="05000000000000000000" pitchFamily="2" charset="2"/>
              </a:rPr>
              <a:t>thuật</a:t>
            </a:r>
            <a:r>
              <a:rPr lang="ko-KR" altLang="en-US" sz="1600" b="1" dirty="0">
                <a:sym typeface="Wingdings" panose="05000000000000000000" pitchFamily="2" charset="2"/>
              </a:rPr>
              <a:t> </a:t>
            </a:r>
            <a:r>
              <a:rPr lang="en-US" altLang="ko-KR" sz="1600" b="1" dirty="0">
                <a:sym typeface="Wingdings" panose="05000000000000000000" pitchFamily="2" charset="2"/>
              </a:rPr>
              <a:t> </a:t>
            </a:r>
            <a:r>
              <a:rPr lang="en-US" altLang="ko-KR" sz="1600" b="1" dirty="0" err="1">
                <a:sym typeface="Wingdings" panose="05000000000000000000" pitchFamily="2" charset="2"/>
              </a:rPr>
              <a:t>vấn</a:t>
            </a:r>
            <a:r>
              <a:rPr lang="en-US" altLang="ko-KR" sz="1600" b="1" dirty="0">
                <a:sym typeface="Wingdings" panose="05000000000000000000" pitchFamily="2" charset="2"/>
              </a:rPr>
              <a:t> </a:t>
            </a:r>
            <a:r>
              <a:rPr lang="en-US" altLang="ko-KR" sz="1600" b="1" dirty="0" err="1">
                <a:sym typeface="Wingdings" panose="05000000000000000000" pitchFamily="2" charset="2"/>
              </a:rPr>
              <a:t>đề</a:t>
            </a:r>
            <a:r>
              <a:rPr lang="en-US" altLang="ko-KR" sz="1600" b="1" dirty="0">
                <a:sym typeface="Wingdings" panose="05000000000000000000" pitchFamily="2" charset="2"/>
              </a:rPr>
              <a:t> </a:t>
            </a:r>
            <a:r>
              <a:rPr lang="en-US" altLang="ko-KR" sz="1600" b="1" dirty="0" err="1">
                <a:sym typeface="Wingdings" panose="05000000000000000000" pitchFamily="2" charset="2"/>
              </a:rPr>
              <a:t>phân</a:t>
            </a:r>
            <a:r>
              <a:rPr lang="en-US" altLang="ko-KR" sz="1600" b="1" dirty="0">
                <a:sym typeface="Wingdings" panose="05000000000000000000" pitchFamily="2" charset="2"/>
              </a:rPr>
              <a:t> </a:t>
            </a:r>
            <a:r>
              <a:rPr lang="en-US" altLang="ko-KR" sz="1600" b="1" dirty="0" err="1">
                <a:sym typeface="Wingdings" panose="05000000000000000000" pitchFamily="2" charset="2"/>
              </a:rPr>
              <a:t>tán</a:t>
            </a:r>
            <a:endParaRPr lang="ko-KR" altLang="en-US" sz="1600" b="1" dirty="0"/>
          </a:p>
        </p:txBody>
      </p:sp>
      <p:sp>
        <p:nvSpPr>
          <p:cNvPr id="142"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Tree>
    <p:extLst>
      <p:ext uri="{BB962C8B-B14F-4D97-AF65-F5344CB8AC3E}">
        <p14:creationId xmlns:p14="http://schemas.microsoft.com/office/powerpoint/2010/main" val="2268626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1" name="Rectangle 5"/>
          <p:cNvSpPr>
            <a:spLocks noChangeArrowheads="1"/>
          </p:cNvSpPr>
          <p:nvPr/>
        </p:nvSpPr>
        <p:spPr bwMode="auto">
          <a:xfrm>
            <a:off x="849741" y="1196752"/>
            <a:ext cx="7190550" cy="4248472"/>
          </a:xfrm>
          <a:prstGeom prst="rect">
            <a:avLst/>
          </a:prstGeom>
          <a:solidFill>
            <a:schemeClr val="bg1">
              <a:lumMod val="95000"/>
            </a:schemeClr>
          </a:solidFill>
          <a:ln>
            <a:noFill/>
          </a:ln>
          <a:effectLst/>
        </p:spPr>
        <p:txBody>
          <a:bodyPr anchor="ctr"/>
          <a:lstStyle>
            <a:lvl1pPr marL="355600" indent="-355600" eaLnBrk="0" hangingPunct="0">
              <a:spcBef>
                <a:spcPct val="20000"/>
              </a:spcBef>
              <a:buChar char="•"/>
              <a:defRPr kumimoji="1" sz="3200">
                <a:solidFill>
                  <a:schemeClr val="tx1"/>
                </a:solidFill>
                <a:latin typeface="굴림" charset="-127"/>
                <a:ea typeface="굴림" charset="-127"/>
              </a:defRPr>
            </a:lvl1pPr>
            <a:lvl2pPr marL="857250" indent="-285750" eaLnBrk="0" hangingPunct="0">
              <a:spcBef>
                <a:spcPct val="20000"/>
              </a:spcBef>
              <a:buChar char="–"/>
              <a:defRPr kumimoji="1" sz="2800">
                <a:solidFill>
                  <a:schemeClr val="tx1"/>
                </a:solidFill>
                <a:latin typeface="굴림" charset="-127"/>
                <a:ea typeface="굴림" charset="-127"/>
              </a:defRPr>
            </a:lvl2pPr>
            <a:lvl3pPr marL="1276350" indent="-228600" eaLnBrk="0" hangingPunct="0">
              <a:spcBef>
                <a:spcPct val="20000"/>
              </a:spcBef>
              <a:buChar char="•"/>
              <a:defRPr kumimoji="1" sz="2400">
                <a:solidFill>
                  <a:schemeClr val="tx1"/>
                </a:solidFill>
                <a:latin typeface="굴림" charset="-127"/>
                <a:ea typeface="굴림" charset="-127"/>
              </a:defRPr>
            </a:lvl3pPr>
            <a:lvl4pPr marL="1695450" indent="-228600" eaLnBrk="0" hangingPunct="0">
              <a:spcBef>
                <a:spcPct val="20000"/>
              </a:spcBef>
              <a:buChar char="–"/>
              <a:defRPr kumimoji="1" sz="2000">
                <a:solidFill>
                  <a:schemeClr val="tx1"/>
                </a:solidFill>
                <a:latin typeface="굴림" charset="-127"/>
                <a:ea typeface="굴림" charset="-127"/>
              </a:defRPr>
            </a:lvl4pPr>
            <a:lvl5pPr marL="2114550" indent="-228600" eaLnBrk="0" hangingPunct="0">
              <a:spcBef>
                <a:spcPct val="20000"/>
              </a:spcBef>
              <a:buChar char="»"/>
              <a:defRPr kumimoji="1" sz="2000">
                <a:solidFill>
                  <a:schemeClr val="tx1"/>
                </a:solidFill>
                <a:latin typeface="굴림" charset="-127"/>
                <a:ea typeface="굴림" charset="-127"/>
              </a:defRPr>
            </a:lvl5pPr>
            <a:lvl6pPr marL="2571750" indent="-228600" eaLnBrk="0" fontAlgn="base" hangingPunct="0">
              <a:spcBef>
                <a:spcPct val="20000"/>
              </a:spcBef>
              <a:spcAft>
                <a:spcPct val="0"/>
              </a:spcAft>
              <a:buChar char="»"/>
              <a:defRPr kumimoji="1" sz="2000">
                <a:solidFill>
                  <a:schemeClr val="tx1"/>
                </a:solidFill>
                <a:latin typeface="굴림" charset="-127"/>
                <a:ea typeface="굴림" charset="-127"/>
              </a:defRPr>
            </a:lvl6pPr>
            <a:lvl7pPr marL="3028950" indent="-228600" eaLnBrk="0" fontAlgn="base" hangingPunct="0">
              <a:spcBef>
                <a:spcPct val="20000"/>
              </a:spcBef>
              <a:spcAft>
                <a:spcPct val="0"/>
              </a:spcAft>
              <a:buChar char="»"/>
              <a:defRPr kumimoji="1" sz="2000">
                <a:solidFill>
                  <a:schemeClr val="tx1"/>
                </a:solidFill>
                <a:latin typeface="굴림" charset="-127"/>
                <a:ea typeface="굴림" charset="-127"/>
              </a:defRPr>
            </a:lvl7pPr>
            <a:lvl8pPr marL="3486150" indent="-228600" eaLnBrk="0" fontAlgn="base" hangingPunct="0">
              <a:spcBef>
                <a:spcPct val="20000"/>
              </a:spcBef>
              <a:spcAft>
                <a:spcPct val="0"/>
              </a:spcAft>
              <a:buChar char="»"/>
              <a:defRPr kumimoji="1" sz="2000">
                <a:solidFill>
                  <a:schemeClr val="tx1"/>
                </a:solidFill>
                <a:latin typeface="굴림" charset="-127"/>
                <a:ea typeface="굴림" charset="-127"/>
              </a:defRPr>
            </a:lvl8pPr>
            <a:lvl9pPr marL="3943350" indent="-228600" eaLnBrk="0" fontAlgn="base" hangingPunct="0">
              <a:spcBef>
                <a:spcPct val="20000"/>
              </a:spcBef>
              <a:spcAft>
                <a:spcPct val="0"/>
              </a:spcAft>
              <a:buChar char="»"/>
              <a:defRPr kumimoji="1" sz="2000">
                <a:solidFill>
                  <a:schemeClr val="tx1"/>
                </a:solidFill>
                <a:latin typeface="굴림" charset="-127"/>
                <a:ea typeface="굴림" charset="-127"/>
              </a:defRPr>
            </a:lvl9pPr>
          </a:lstStyle>
          <a:p>
            <a:pPr eaLnBrk="1" hangingPunct="1">
              <a:buFontTx/>
              <a:buNone/>
            </a:pPr>
            <a:r>
              <a:rPr lang="en-US" altLang="ko-KR" sz="1800" b="1" dirty="0" err="1">
                <a:latin typeface="+mn-lt"/>
              </a:rPr>
              <a:t>Nếu</a:t>
            </a:r>
            <a:r>
              <a:rPr lang="en-US" altLang="ko-KR" sz="1800" b="1" dirty="0">
                <a:latin typeface="+mn-lt"/>
              </a:rPr>
              <a:t> </a:t>
            </a:r>
            <a:r>
              <a:rPr lang="en-US" altLang="ko-KR" sz="1800" b="1" dirty="0" err="1">
                <a:latin typeface="+mn-lt"/>
              </a:rPr>
              <a:t>kết</a:t>
            </a:r>
            <a:r>
              <a:rPr lang="en-US" altLang="ko-KR" sz="1800" b="1" dirty="0">
                <a:latin typeface="+mn-lt"/>
              </a:rPr>
              <a:t> </a:t>
            </a:r>
            <a:r>
              <a:rPr lang="en-US" altLang="ko-KR" sz="1800" b="1" dirty="0" err="1">
                <a:latin typeface="+mn-lt"/>
              </a:rPr>
              <a:t>quả</a:t>
            </a:r>
            <a:r>
              <a:rPr lang="en-US" altLang="ko-KR" sz="1800" b="1" dirty="0">
                <a:latin typeface="+mn-lt"/>
              </a:rPr>
              <a:t> </a:t>
            </a:r>
            <a:r>
              <a:rPr lang="en-US" altLang="ko-KR" sz="1800" b="1" dirty="0" err="1">
                <a:latin typeface="+mn-lt"/>
              </a:rPr>
              <a:t>đánh</a:t>
            </a:r>
            <a:r>
              <a:rPr lang="en-US" altLang="ko-KR" sz="1800" b="1" dirty="0">
                <a:latin typeface="+mn-lt"/>
              </a:rPr>
              <a:t> </a:t>
            </a:r>
            <a:r>
              <a:rPr lang="en-US" altLang="ko-KR" sz="1800" b="1" dirty="0" err="1">
                <a:latin typeface="+mn-lt"/>
              </a:rPr>
              <a:t>giá</a:t>
            </a:r>
            <a:r>
              <a:rPr lang="en-US" altLang="ko-KR" sz="1800" b="1" dirty="0">
                <a:latin typeface="+mn-lt"/>
              </a:rPr>
              <a:t> process </a:t>
            </a:r>
            <a:r>
              <a:rPr lang="en-US" altLang="ko-KR" sz="1800" b="1" dirty="0" err="1">
                <a:latin typeface="+mn-lt"/>
              </a:rPr>
              <a:t>là</a:t>
            </a:r>
            <a:r>
              <a:rPr lang="en-US" altLang="ko-KR" sz="1800" b="1" dirty="0">
                <a:latin typeface="+mn-lt"/>
              </a:rPr>
              <a:t> </a:t>
            </a:r>
            <a:r>
              <a:rPr lang="en-US" altLang="ko-KR" sz="1800" b="1" dirty="0" err="1">
                <a:latin typeface="+mn-lt"/>
              </a:rPr>
              <a:t>không</a:t>
            </a:r>
            <a:r>
              <a:rPr lang="en-US" altLang="ko-KR" sz="1800" b="1" dirty="0">
                <a:latin typeface="+mn-lt"/>
              </a:rPr>
              <a:t> </a:t>
            </a:r>
            <a:r>
              <a:rPr lang="en-US" altLang="ko-KR" sz="1800" b="1" dirty="0" err="1">
                <a:latin typeface="+mn-lt"/>
              </a:rPr>
              <a:t>đúng</a:t>
            </a:r>
            <a:r>
              <a:rPr lang="en-US" altLang="ko-KR" sz="1800" b="1" dirty="0">
                <a:latin typeface="+mn-lt"/>
              </a:rPr>
              <a:t>, </a:t>
            </a:r>
            <a:r>
              <a:rPr lang="en-US" altLang="ko-KR" sz="1800" b="1" dirty="0" err="1">
                <a:latin typeface="+mn-lt"/>
              </a:rPr>
              <a:t>xem</a:t>
            </a:r>
            <a:r>
              <a:rPr lang="en-US" altLang="ko-KR" sz="1800" b="1" dirty="0">
                <a:latin typeface="+mn-lt"/>
              </a:rPr>
              <a:t> </a:t>
            </a:r>
            <a:r>
              <a:rPr lang="en-US" altLang="ko-KR" sz="1800" b="1" dirty="0" err="1">
                <a:latin typeface="+mn-lt"/>
              </a:rPr>
              <a:t>xét</a:t>
            </a:r>
            <a:r>
              <a:rPr lang="en-US" altLang="ko-KR" sz="1800" b="1" dirty="0">
                <a:latin typeface="+mn-lt"/>
              </a:rPr>
              <a:t> </a:t>
            </a:r>
            <a:r>
              <a:rPr lang="en-US" altLang="ko-KR" sz="1800" b="1" dirty="0" err="1">
                <a:latin typeface="+mn-lt"/>
              </a:rPr>
              <a:t>như</a:t>
            </a:r>
            <a:r>
              <a:rPr lang="en-US" altLang="ko-KR" sz="1800" b="1" dirty="0">
                <a:latin typeface="+mn-lt"/>
              </a:rPr>
              <a:t> </a:t>
            </a:r>
            <a:r>
              <a:rPr lang="en-US" altLang="ko-KR" sz="1800" b="1" dirty="0" err="1">
                <a:latin typeface="+mn-lt"/>
              </a:rPr>
              <a:t>sau</a:t>
            </a:r>
            <a:endParaRPr lang="en-US" altLang="ko-KR" sz="1800" b="1" dirty="0">
              <a:latin typeface="+mn-lt"/>
            </a:endParaRPr>
          </a:p>
          <a:p>
            <a:pPr eaLnBrk="1" hangingPunct="1">
              <a:lnSpc>
                <a:spcPct val="50000"/>
              </a:lnSpc>
              <a:buFontTx/>
              <a:buNone/>
            </a:pPr>
            <a:endParaRPr lang="en-US" altLang="ko-KR" sz="2000" dirty="0">
              <a:latin typeface="+mn-lt"/>
            </a:endParaRPr>
          </a:p>
          <a:p>
            <a:pPr eaLnBrk="1" hangingPunct="1"/>
            <a:r>
              <a:rPr lang="en-US" altLang="ko-KR" sz="2000" dirty="0" err="1">
                <a:latin typeface="+mn-lt"/>
              </a:rPr>
              <a:t>Trường</a:t>
            </a:r>
            <a:r>
              <a:rPr lang="en-US" altLang="ko-KR" sz="2000" dirty="0">
                <a:latin typeface="+mn-lt"/>
              </a:rPr>
              <a:t> </a:t>
            </a:r>
            <a:r>
              <a:rPr lang="en-US" altLang="ko-KR" sz="2000" dirty="0" err="1">
                <a:latin typeface="+mn-lt"/>
              </a:rPr>
              <a:t>hợp</a:t>
            </a:r>
            <a:r>
              <a:rPr lang="en-US" altLang="ko-KR" sz="2000" dirty="0">
                <a:latin typeface="+mn-lt"/>
              </a:rPr>
              <a:t> </a:t>
            </a:r>
            <a:r>
              <a:rPr lang="en-US" altLang="ko-KR" sz="2000" dirty="0" err="1">
                <a:latin typeface="+mn-lt"/>
              </a:rPr>
              <a:t>tồn</a:t>
            </a:r>
            <a:r>
              <a:rPr lang="en-US" altLang="ko-KR" sz="2000" dirty="0">
                <a:latin typeface="+mn-lt"/>
              </a:rPr>
              <a:t> </a:t>
            </a:r>
            <a:r>
              <a:rPr lang="en-US" altLang="ko-KR" sz="2000" dirty="0" err="1">
                <a:latin typeface="+mn-lt"/>
              </a:rPr>
              <a:t>tại</a:t>
            </a:r>
            <a:r>
              <a:rPr lang="en-US" altLang="ko-KR" sz="2000" dirty="0">
                <a:latin typeface="+mn-lt"/>
              </a:rPr>
              <a:t> </a:t>
            </a:r>
            <a:r>
              <a:rPr lang="en-US" altLang="ko-KR" sz="2000" dirty="0" err="1">
                <a:latin typeface="+mn-lt"/>
              </a:rPr>
              <a:t>trên</a:t>
            </a:r>
            <a:r>
              <a:rPr lang="en-US" altLang="ko-KR" sz="2000" dirty="0">
                <a:latin typeface="+mn-lt"/>
              </a:rPr>
              <a:t> </a:t>
            </a:r>
            <a:r>
              <a:rPr lang="en-US" altLang="ko-KR" sz="2000" dirty="0" err="1">
                <a:latin typeface="+mn-lt"/>
              </a:rPr>
              <a:t>một</a:t>
            </a:r>
            <a:r>
              <a:rPr lang="en-US" altLang="ko-KR" sz="2000" dirty="0">
                <a:latin typeface="+mn-lt"/>
              </a:rPr>
              <a:t> </a:t>
            </a:r>
            <a:r>
              <a:rPr lang="en-US" altLang="ko-KR" sz="2000" dirty="0" err="1">
                <a:latin typeface="+mn-lt"/>
              </a:rPr>
              <a:t>nguyên</a:t>
            </a:r>
            <a:r>
              <a:rPr lang="en-US" altLang="ko-KR" sz="2000" dirty="0">
                <a:latin typeface="+mn-lt"/>
              </a:rPr>
              <a:t> </a:t>
            </a:r>
            <a:r>
              <a:rPr lang="en-US" altLang="ko-KR" sz="2000" dirty="0" err="1">
                <a:latin typeface="+mn-lt"/>
              </a:rPr>
              <a:t>nhân</a:t>
            </a:r>
            <a:r>
              <a:rPr lang="en-US" altLang="ko-KR" sz="2000" dirty="0">
                <a:latin typeface="+mn-lt"/>
              </a:rPr>
              <a:t> </a:t>
            </a:r>
            <a:r>
              <a:rPr lang="en-US" altLang="ko-KR" sz="2000" dirty="0" err="1">
                <a:latin typeface="+mn-lt"/>
              </a:rPr>
              <a:t>không</a:t>
            </a:r>
            <a:r>
              <a:rPr lang="en-US" altLang="ko-KR" sz="2000" dirty="0">
                <a:latin typeface="+mn-lt"/>
              </a:rPr>
              <a:t> </a:t>
            </a:r>
            <a:r>
              <a:rPr lang="en-US" altLang="ko-KR" sz="2000" dirty="0" err="1">
                <a:latin typeface="+mn-lt"/>
              </a:rPr>
              <a:t>ngẫu</a:t>
            </a:r>
            <a:r>
              <a:rPr lang="en-US" altLang="ko-KR" sz="2000" dirty="0">
                <a:latin typeface="+mn-lt"/>
              </a:rPr>
              <a:t> </a:t>
            </a:r>
            <a:r>
              <a:rPr lang="en-US" altLang="ko-KR" sz="2000" dirty="0" err="1">
                <a:latin typeface="+mn-lt"/>
              </a:rPr>
              <a:t>nhiên</a:t>
            </a:r>
            <a:r>
              <a:rPr lang="en-US" altLang="ko-KR" sz="2000" dirty="0">
                <a:latin typeface="+mn-lt"/>
              </a:rPr>
              <a:t>, </a:t>
            </a:r>
            <a:r>
              <a:rPr lang="en-US" altLang="ko-KR" sz="2000" dirty="0" err="1">
                <a:latin typeface="+mn-lt"/>
              </a:rPr>
              <a:t>loại</a:t>
            </a:r>
            <a:r>
              <a:rPr lang="en-US" altLang="ko-KR" sz="2000" dirty="0">
                <a:latin typeface="+mn-lt"/>
              </a:rPr>
              <a:t> </a:t>
            </a:r>
            <a:r>
              <a:rPr lang="en-US" altLang="ko-KR" sz="2000" dirty="0" err="1">
                <a:latin typeface="+mn-lt"/>
              </a:rPr>
              <a:t>bỏ</a:t>
            </a:r>
            <a:r>
              <a:rPr lang="en-US" altLang="ko-KR" sz="2000" dirty="0">
                <a:latin typeface="+mn-lt"/>
              </a:rPr>
              <a:t> </a:t>
            </a:r>
            <a:r>
              <a:rPr lang="en-US" altLang="ko-KR" sz="2000" dirty="0" err="1">
                <a:latin typeface="+mn-lt"/>
              </a:rPr>
              <a:t>hế</a:t>
            </a:r>
            <a:r>
              <a:rPr lang="en-US" altLang="ko-KR" sz="2000" dirty="0">
                <a:latin typeface="+mn-lt"/>
              </a:rPr>
              <a:t> </a:t>
            </a:r>
            <a:r>
              <a:rPr lang="en-US" altLang="ko-KR" sz="2000" dirty="0" err="1">
                <a:latin typeface="+mn-lt"/>
              </a:rPr>
              <a:t>tất</a:t>
            </a:r>
            <a:r>
              <a:rPr lang="en-US" altLang="ko-KR" sz="2000" dirty="0">
                <a:latin typeface="+mn-lt"/>
              </a:rPr>
              <a:t> </a:t>
            </a:r>
            <a:r>
              <a:rPr lang="en-US" altLang="ko-KR" sz="2000" dirty="0" err="1">
                <a:latin typeface="+mn-lt"/>
              </a:rPr>
              <a:t>cả</a:t>
            </a:r>
            <a:r>
              <a:rPr lang="en-US" altLang="ko-KR" sz="2000" dirty="0">
                <a:latin typeface="+mn-lt"/>
              </a:rPr>
              <a:t> </a:t>
            </a:r>
            <a:r>
              <a:rPr lang="en-US" altLang="ko-KR" sz="2000" dirty="0" err="1">
                <a:latin typeface="+mn-lt"/>
              </a:rPr>
              <a:t>các</a:t>
            </a:r>
            <a:r>
              <a:rPr lang="en-US" altLang="ko-KR" sz="2000" dirty="0">
                <a:latin typeface="+mn-lt"/>
              </a:rPr>
              <a:t> </a:t>
            </a:r>
            <a:r>
              <a:rPr lang="en-US" altLang="ko-KR" sz="2000" dirty="0" err="1">
                <a:latin typeface="+mn-lt"/>
              </a:rPr>
              <a:t>nguyên</a:t>
            </a:r>
            <a:r>
              <a:rPr lang="en-US" altLang="ko-KR" sz="2000" dirty="0">
                <a:latin typeface="+mn-lt"/>
              </a:rPr>
              <a:t> </a:t>
            </a:r>
            <a:r>
              <a:rPr lang="en-US" altLang="ko-KR" sz="2000" dirty="0" err="1">
                <a:latin typeface="+mn-lt"/>
              </a:rPr>
              <a:t>nhân</a:t>
            </a:r>
            <a:r>
              <a:rPr lang="en-US" altLang="ko-KR" sz="2000" dirty="0">
                <a:latin typeface="+mn-lt"/>
              </a:rPr>
              <a:t> </a:t>
            </a:r>
            <a:r>
              <a:rPr lang="en-US" altLang="ko-KR" sz="2000" dirty="0" err="1">
                <a:latin typeface="+mn-lt"/>
              </a:rPr>
              <a:t>và</a:t>
            </a:r>
            <a:r>
              <a:rPr lang="en-US" altLang="ko-KR" sz="2000" dirty="0">
                <a:latin typeface="+mn-lt"/>
              </a:rPr>
              <a:t> </a:t>
            </a:r>
            <a:r>
              <a:rPr lang="en-US" altLang="ko-KR" sz="2000" dirty="0" err="1">
                <a:latin typeface="+mn-lt"/>
              </a:rPr>
              <a:t>đánh</a:t>
            </a:r>
            <a:r>
              <a:rPr lang="en-US" altLang="ko-KR" sz="2000" dirty="0">
                <a:latin typeface="+mn-lt"/>
              </a:rPr>
              <a:t> </a:t>
            </a:r>
            <a:r>
              <a:rPr lang="en-US" altLang="ko-KR" sz="2000" dirty="0" err="1">
                <a:latin typeface="+mn-lt"/>
              </a:rPr>
              <a:t>giá</a:t>
            </a:r>
            <a:r>
              <a:rPr lang="en-US" altLang="ko-KR" sz="2000" dirty="0">
                <a:latin typeface="+mn-lt"/>
              </a:rPr>
              <a:t> </a:t>
            </a:r>
            <a:r>
              <a:rPr lang="en-US" altLang="ko-KR" sz="2000" dirty="0" err="1">
                <a:latin typeface="+mn-lt"/>
              </a:rPr>
              <a:t>lại</a:t>
            </a:r>
            <a:r>
              <a:rPr lang="en-US" altLang="ko-KR" sz="2000" dirty="0">
                <a:latin typeface="+mn-lt"/>
              </a:rPr>
              <a:t> Process</a:t>
            </a:r>
          </a:p>
          <a:p>
            <a:pPr eaLnBrk="1" hangingPunct="1"/>
            <a:r>
              <a:rPr lang="en-US" altLang="ko-KR" sz="2000" dirty="0" err="1">
                <a:latin typeface="+mn-lt"/>
              </a:rPr>
              <a:t>Vị</a:t>
            </a:r>
            <a:r>
              <a:rPr lang="en-US" altLang="ko-KR" sz="2000" dirty="0">
                <a:latin typeface="+mn-lt"/>
              </a:rPr>
              <a:t> </a:t>
            </a:r>
            <a:r>
              <a:rPr lang="en-US" altLang="ko-KR" sz="2000" dirty="0" err="1">
                <a:latin typeface="+mn-lt"/>
              </a:rPr>
              <a:t>trí</a:t>
            </a:r>
            <a:r>
              <a:rPr lang="en-US" altLang="ko-KR" sz="2000" dirty="0">
                <a:latin typeface="+mn-lt"/>
              </a:rPr>
              <a:t> </a:t>
            </a:r>
            <a:r>
              <a:rPr lang="en-US" altLang="ko-KR" sz="2000" dirty="0" err="1">
                <a:latin typeface="+mn-lt"/>
              </a:rPr>
              <a:t>trung</a:t>
            </a:r>
            <a:r>
              <a:rPr lang="en-US" altLang="ko-KR" sz="2000" dirty="0">
                <a:latin typeface="+mn-lt"/>
              </a:rPr>
              <a:t> </a:t>
            </a:r>
            <a:r>
              <a:rPr lang="en-US" altLang="ko-KR" sz="2000" dirty="0" err="1">
                <a:latin typeface="+mn-lt"/>
              </a:rPr>
              <a:t>tâm</a:t>
            </a:r>
            <a:r>
              <a:rPr lang="en-US" altLang="ko-KR" sz="2000" dirty="0">
                <a:latin typeface="+mn-lt"/>
              </a:rPr>
              <a:t> process </a:t>
            </a:r>
            <a:r>
              <a:rPr lang="en-US" altLang="ko-KR" sz="2000" dirty="0" err="1">
                <a:latin typeface="+mn-lt"/>
              </a:rPr>
              <a:t>phù</a:t>
            </a:r>
            <a:r>
              <a:rPr lang="en-US" altLang="ko-KR" sz="2000" dirty="0">
                <a:latin typeface="+mn-lt"/>
              </a:rPr>
              <a:t> </a:t>
            </a:r>
            <a:r>
              <a:rPr lang="en-US" altLang="ko-KR" sz="2000" dirty="0" err="1">
                <a:latin typeface="+mn-lt"/>
              </a:rPr>
              <a:t>hợp</a:t>
            </a:r>
            <a:r>
              <a:rPr lang="en-US" altLang="ko-KR" sz="2000" dirty="0">
                <a:latin typeface="+mn-lt"/>
              </a:rPr>
              <a:t> </a:t>
            </a:r>
            <a:r>
              <a:rPr lang="en-US" altLang="ko-KR" sz="2000" dirty="0" err="1">
                <a:latin typeface="+mn-lt"/>
              </a:rPr>
              <a:t>với</a:t>
            </a:r>
            <a:r>
              <a:rPr lang="en-US" altLang="ko-KR" sz="2000" dirty="0">
                <a:latin typeface="+mn-lt"/>
              </a:rPr>
              <a:t> </a:t>
            </a:r>
            <a:r>
              <a:rPr lang="en-US" altLang="ko-KR" sz="2000" dirty="0" err="1">
                <a:latin typeface="+mn-lt"/>
              </a:rPr>
              <a:t>quy</a:t>
            </a:r>
            <a:r>
              <a:rPr lang="en-US" altLang="ko-KR" sz="2000" dirty="0">
                <a:latin typeface="+mn-lt"/>
              </a:rPr>
              <a:t> </a:t>
            </a:r>
            <a:r>
              <a:rPr lang="en-US" altLang="ko-KR" sz="2000" dirty="0" err="1">
                <a:latin typeface="+mn-lt"/>
              </a:rPr>
              <a:t>cách</a:t>
            </a:r>
            <a:r>
              <a:rPr lang="en-US" altLang="ko-KR" sz="2000" dirty="0">
                <a:latin typeface="+mn-lt"/>
              </a:rPr>
              <a:t> </a:t>
            </a:r>
            <a:r>
              <a:rPr lang="en-US" altLang="ko-KR" sz="2000" dirty="0" err="1">
                <a:latin typeface="+mn-lt"/>
              </a:rPr>
              <a:t>tiêu</a:t>
            </a:r>
            <a:endParaRPr lang="en-US" altLang="ko-KR" sz="2000" dirty="0">
              <a:latin typeface="+mn-lt"/>
            </a:endParaRPr>
          </a:p>
          <a:p>
            <a:pPr eaLnBrk="1" hangingPunct="1">
              <a:buNone/>
            </a:pPr>
            <a:r>
              <a:rPr lang="en-US" altLang="ko-KR" sz="2000" dirty="0">
                <a:latin typeface="+mn-lt"/>
              </a:rPr>
              <a:t>    </a:t>
            </a:r>
            <a:r>
              <a:rPr lang="en-US" altLang="ko-KR" sz="2000" dirty="0" err="1">
                <a:latin typeface="+mn-lt"/>
              </a:rPr>
              <a:t>chuẩn</a:t>
            </a:r>
            <a:r>
              <a:rPr lang="en-US" altLang="ko-KR" sz="2000" dirty="0">
                <a:latin typeface="+mn-lt"/>
              </a:rPr>
              <a:t> </a:t>
            </a:r>
            <a:r>
              <a:rPr lang="en-US" altLang="ko-KR" sz="2000" dirty="0" err="1">
                <a:latin typeface="+mn-lt"/>
              </a:rPr>
              <a:t>mục</a:t>
            </a:r>
            <a:r>
              <a:rPr lang="en-US" altLang="ko-KR" sz="2000" dirty="0">
                <a:latin typeface="+mn-lt"/>
              </a:rPr>
              <a:t> </a:t>
            </a:r>
            <a:r>
              <a:rPr lang="en-US" altLang="ko-KR" sz="2000" dirty="0" err="1">
                <a:latin typeface="+mn-lt"/>
              </a:rPr>
              <a:t>tiêu</a:t>
            </a:r>
            <a:endParaRPr lang="ko-KR" altLang="en-US" sz="2000" dirty="0">
              <a:latin typeface="+mn-lt"/>
            </a:endParaRPr>
          </a:p>
          <a:p>
            <a:pPr eaLnBrk="1" hangingPunct="1"/>
            <a:r>
              <a:rPr lang="en-US" altLang="ko-KR" sz="2000" dirty="0" err="1">
                <a:latin typeface="+mn-lt"/>
              </a:rPr>
              <a:t>Kiểm</a:t>
            </a:r>
            <a:r>
              <a:rPr lang="en-US" altLang="ko-KR" sz="2000" dirty="0">
                <a:latin typeface="+mn-lt"/>
              </a:rPr>
              <a:t> </a:t>
            </a:r>
            <a:r>
              <a:rPr lang="en-US" altLang="ko-KR" sz="2000" dirty="0" err="1">
                <a:latin typeface="+mn-lt"/>
              </a:rPr>
              <a:t>tra</a:t>
            </a:r>
            <a:r>
              <a:rPr lang="en-US" altLang="ko-KR" sz="2000" dirty="0">
                <a:latin typeface="+mn-lt"/>
              </a:rPr>
              <a:t> </a:t>
            </a:r>
            <a:r>
              <a:rPr lang="en-US" altLang="ko-KR" sz="2000" dirty="0" err="1">
                <a:latin typeface="+mn-lt"/>
              </a:rPr>
              <a:t>xem</a:t>
            </a:r>
            <a:r>
              <a:rPr lang="en-US" altLang="ko-KR" sz="2000" dirty="0">
                <a:latin typeface="+mn-lt"/>
              </a:rPr>
              <a:t> </a:t>
            </a:r>
            <a:r>
              <a:rPr lang="en-US" altLang="ko-KR" sz="2000" dirty="0" err="1">
                <a:latin typeface="+mn-lt"/>
              </a:rPr>
              <a:t>quy</a:t>
            </a:r>
            <a:r>
              <a:rPr lang="en-US" altLang="ko-KR" sz="2000" dirty="0">
                <a:latin typeface="+mn-lt"/>
              </a:rPr>
              <a:t> </a:t>
            </a:r>
            <a:r>
              <a:rPr lang="en-US" altLang="ko-KR" sz="2000" dirty="0" err="1">
                <a:latin typeface="+mn-lt"/>
              </a:rPr>
              <a:t>cách</a:t>
            </a:r>
            <a:r>
              <a:rPr lang="en-US" altLang="ko-KR" sz="2000" dirty="0">
                <a:latin typeface="+mn-lt"/>
              </a:rPr>
              <a:t> </a:t>
            </a:r>
            <a:r>
              <a:rPr lang="en-US" altLang="ko-KR" sz="2000" dirty="0" err="1">
                <a:latin typeface="+mn-lt"/>
              </a:rPr>
              <a:t>tiêu</a:t>
            </a:r>
            <a:r>
              <a:rPr lang="en-US" altLang="ko-KR" sz="2000" dirty="0">
                <a:latin typeface="+mn-lt"/>
              </a:rPr>
              <a:t> </a:t>
            </a:r>
            <a:r>
              <a:rPr lang="en-US" altLang="ko-KR" sz="2000" dirty="0" err="1">
                <a:latin typeface="+mn-lt"/>
              </a:rPr>
              <a:t>chuẩn</a:t>
            </a:r>
            <a:r>
              <a:rPr lang="en-US" altLang="ko-KR" sz="2000" dirty="0">
                <a:latin typeface="+mn-lt"/>
              </a:rPr>
              <a:t> </a:t>
            </a:r>
            <a:r>
              <a:rPr lang="en-US" altLang="ko-KR" sz="2000" dirty="0" err="1">
                <a:latin typeface="+mn-lt"/>
              </a:rPr>
              <a:t>đã</a:t>
            </a:r>
            <a:r>
              <a:rPr lang="en-US" altLang="ko-KR" sz="2000" dirty="0">
                <a:latin typeface="+mn-lt"/>
              </a:rPr>
              <a:t> </a:t>
            </a:r>
            <a:r>
              <a:rPr lang="en-US" altLang="ko-KR" sz="2000" dirty="0" err="1">
                <a:latin typeface="+mn-lt"/>
              </a:rPr>
              <a:t>được</a:t>
            </a:r>
            <a:r>
              <a:rPr lang="en-US" altLang="ko-KR" sz="2000" dirty="0">
                <a:latin typeface="+mn-lt"/>
              </a:rPr>
              <a:t> </a:t>
            </a:r>
          </a:p>
          <a:p>
            <a:pPr eaLnBrk="1" hangingPunct="1">
              <a:buNone/>
            </a:pPr>
            <a:r>
              <a:rPr lang="en-US" altLang="ko-KR" sz="2000" dirty="0">
                <a:latin typeface="+mn-lt"/>
              </a:rPr>
              <a:t>    </a:t>
            </a:r>
            <a:r>
              <a:rPr lang="en-US" altLang="ko-KR" sz="2000" dirty="0" err="1">
                <a:latin typeface="+mn-lt"/>
              </a:rPr>
              <a:t>thay</a:t>
            </a:r>
            <a:r>
              <a:rPr lang="en-US" altLang="ko-KR" sz="2000" dirty="0">
                <a:latin typeface="+mn-lt"/>
              </a:rPr>
              <a:t> </a:t>
            </a:r>
            <a:r>
              <a:rPr lang="en-US" altLang="ko-KR" sz="2000" dirty="0" err="1">
                <a:latin typeface="+mn-lt"/>
              </a:rPr>
              <a:t>đổi</a:t>
            </a:r>
            <a:r>
              <a:rPr lang="en-US" altLang="ko-KR" sz="2000" dirty="0">
                <a:latin typeface="+mn-lt"/>
              </a:rPr>
              <a:t> hay </a:t>
            </a:r>
            <a:r>
              <a:rPr lang="en-US" altLang="ko-KR" sz="2000" dirty="0" err="1">
                <a:latin typeface="+mn-lt"/>
              </a:rPr>
              <a:t>chưa</a:t>
            </a:r>
            <a:r>
              <a:rPr lang="en-US" altLang="ko-KR" sz="2000" dirty="0">
                <a:latin typeface="+mn-lt"/>
              </a:rPr>
              <a:t>. </a:t>
            </a:r>
          </a:p>
          <a:p>
            <a:pPr eaLnBrk="1" hangingPunct="1"/>
            <a:r>
              <a:rPr lang="en-US" altLang="ko-KR" sz="2000" dirty="0" err="1">
                <a:latin typeface="+mn-lt"/>
              </a:rPr>
              <a:t>Giảm</a:t>
            </a:r>
            <a:r>
              <a:rPr lang="en-US" altLang="ko-KR" sz="2000" dirty="0">
                <a:latin typeface="+mn-lt"/>
              </a:rPr>
              <a:t> </a:t>
            </a:r>
            <a:r>
              <a:rPr lang="en-US" altLang="ko-KR" sz="2000" dirty="0" err="1">
                <a:latin typeface="+mn-lt"/>
              </a:rPr>
              <a:t>sự</a:t>
            </a:r>
            <a:r>
              <a:rPr lang="en-US" altLang="ko-KR" sz="2000" dirty="0">
                <a:latin typeface="+mn-lt"/>
              </a:rPr>
              <a:t> </a:t>
            </a:r>
            <a:r>
              <a:rPr lang="en-US" altLang="ko-KR" sz="2000" dirty="0" err="1">
                <a:latin typeface="+mn-lt"/>
              </a:rPr>
              <a:t>phân</a:t>
            </a:r>
            <a:r>
              <a:rPr lang="en-US" altLang="ko-KR" sz="2000" dirty="0">
                <a:latin typeface="+mn-lt"/>
              </a:rPr>
              <a:t> </a:t>
            </a:r>
            <a:r>
              <a:rPr lang="en-US" altLang="ko-KR" sz="2000" dirty="0" err="1">
                <a:latin typeface="+mn-lt"/>
              </a:rPr>
              <a:t>tán</a:t>
            </a:r>
            <a:r>
              <a:rPr lang="en-US" altLang="ko-KR" sz="2000" dirty="0">
                <a:latin typeface="+mn-lt"/>
              </a:rPr>
              <a:t> process. </a:t>
            </a:r>
          </a:p>
          <a:p>
            <a:pPr eaLnBrk="1" hangingPunct="1"/>
            <a:r>
              <a:rPr lang="en-US" altLang="ko-KR" sz="2000" dirty="0" err="1">
                <a:latin typeface="+mn-lt"/>
              </a:rPr>
              <a:t>Biến</a:t>
            </a:r>
            <a:r>
              <a:rPr lang="en-US" altLang="ko-KR" sz="2000" dirty="0">
                <a:latin typeface="+mn-lt"/>
              </a:rPr>
              <a:t> </a:t>
            </a:r>
            <a:r>
              <a:rPr lang="en-US" altLang="ko-KR" sz="2000" dirty="0" err="1">
                <a:latin typeface="+mn-lt"/>
              </a:rPr>
              <a:t>đổi</a:t>
            </a:r>
            <a:r>
              <a:rPr lang="en-US" altLang="ko-KR" sz="2000" dirty="0">
                <a:latin typeface="+mn-lt"/>
              </a:rPr>
              <a:t> (</a:t>
            </a:r>
            <a:r>
              <a:rPr lang="en-US" altLang="ko-KR" sz="2000" dirty="0" err="1">
                <a:latin typeface="+mn-lt"/>
              </a:rPr>
              <a:t>cải</a:t>
            </a:r>
            <a:r>
              <a:rPr lang="en-US" altLang="ko-KR" sz="2000" dirty="0">
                <a:latin typeface="+mn-lt"/>
              </a:rPr>
              <a:t> </a:t>
            </a:r>
            <a:r>
              <a:rPr lang="en-US" altLang="ko-KR" sz="2000" dirty="0" err="1">
                <a:latin typeface="+mn-lt"/>
              </a:rPr>
              <a:t>thiện</a:t>
            </a:r>
            <a:r>
              <a:rPr lang="en-US" altLang="ko-KR" sz="2000" dirty="0">
                <a:latin typeface="+mn-lt"/>
              </a:rPr>
              <a:t>) process.</a:t>
            </a:r>
          </a:p>
          <a:p>
            <a:pPr eaLnBrk="1" hangingPunct="1"/>
            <a:r>
              <a:rPr lang="en-US" altLang="ko-KR" sz="2000" dirty="0" err="1">
                <a:latin typeface="+mn-lt"/>
              </a:rPr>
              <a:t>Tiến</a:t>
            </a:r>
            <a:r>
              <a:rPr lang="en-US" altLang="ko-KR" sz="2000" dirty="0">
                <a:latin typeface="+mn-lt"/>
              </a:rPr>
              <a:t> </a:t>
            </a:r>
            <a:r>
              <a:rPr lang="en-US" altLang="ko-KR" sz="2000" dirty="0" err="1">
                <a:latin typeface="+mn-lt"/>
              </a:rPr>
              <a:t>hành</a:t>
            </a:r>
            <a:r>
              <a:rPr lang="en-US" altLang="ko-KR" sz="2000" dirty="0">
                <a:latin typeface="+mn-lt"/>
              </a:rPr>
              <a:t> </a:t>
            </a:r>
            <a:r>
              <a:rPr lang="en-US" altLang="ko-KR" sz="2000" dirty="0" err="1">
                <a:latin typeface="+mn-lt"/>
              </a:rPr>
              <a:t>quản</a:t>
            </a:r>
            <a:r>
              <a:rPr lang="en-US" altLang="ko-KR" sz="2000" dirty="0">
                <a:latin typeface="+mn-lt"/>
              </a:rPr>
              <a:t> </a:t>
            </a:r>
            <a:r>
              <a:rPr lang="en-US" altLang="ko-KR" sz="2000" dirty="0" err="1">
                <a:latin typeface="+mn-lt"/>
              </a:rPr>
              <a:t>lý</a:t>
            </a:r>
            <a:r>
              <a:rPr lang="en-US" altLang="ko-KR" sz="2000" dirty="0">
                <a:latin typeface="+mn-lt"/>
              </a:rPr>
              <a:t> process </a:t>
            </a:r>
            <a:r>
              <a:rPr lang="en-US" altLang="ko-KR" sz="2000" dirty="0" err="1">
                <a:latin typeface="+mn-lt"/>
              </a:rPr>
              <a:t>tốt</a:t>
            </a:r>
            <a:r>
              <a:rPr lang="en-US" altLang="ko-KR" sz="2000" dirty="0">
                <a:latin typeface="+mn-lt"/>
              </a:rPr>
              <a:t> </a:t>
            </a:r>
            <a:r>
              <a:rPr lang="en-US" altLang="ko-KR" sz="2000" dirty="0" err="1">
                <a:latin typeface="+mn-lt"/>
              </a:rPr>
              <a:t>hơn</a:t>
            </a:r>
            <a:r>
              <a:rPr lang="en-US" altLang="ko-KR" sz="2000" dirty="0">
                <a:latin typeface="+mn-lt"/>
              </a:rPr>
              <a:t> </a:t>
            </a:r>
            <a:r>
              <a:rPr lang="en-US" altLang="ko-KR" sz="2000" dirty="0" err="1">
                <a:latin typeface="+mn-lt"/>
              </a:rPr>
              <a:t>nữa</a:t>
            </a:r>
            <a:endParaRPr lang="en-US" altLang="ko-KR" sz="2000" dirty="0">
              <a:latin typeface="+mn-lt"/>
            </a:endParaRPr>
          </a:p>
        </p:txBody>
      </p:sp>
      <p:graphicFrame>
        <p:nvGraphicFramePr>
          <p:cNvPr id="14338" name="Object 2"/>
          <p:cNvGraphicFramePr>
            <a:graphicFrameLocks/>
          </p:cNvGraphicFramePr>
          <p:nvPr>
            <p:extLst>
              <p:ext uri="{D42A27DB-BD31-4B8C-83A1-F6EECF244321}">
                <p14:modId xmlns:p14="http://schemas.microsoft.com/office/powerpoint/2010/main" val="14019115"/>
              </p:ext>
            </p:extLst>
          </p:nvPr>
        </p:nvGraphicFramePr>
        <p:xfrm>
          <a:off x="7072330" y="3357562"/>
          <a:ext cx="1238250" cy="2024063"/>
        </p:xfrm>
        <a:graphic>
          <a:graphicData uri="http://schemas.openxmlformats.org/presentationml/2006/ole">
            <mc:AlternateContent xmlns:mc="http://schemas.openxmlformats.org/markup-compatibility/2006">
              <mc:Choice xmlns:v="urn:schemas-microsoft-com:vml" Requires="v">
                <p:oleObj name="Clip" r:id="rId3" imgW="2193533" imgH="3657600" progId="">
                  <p:embed/>
                </p:oleObj>
              </mc:Choice>
              <mc:Fallback>
                <p:oleObj name="Clip" r:id="rId3" imgW="2193533" imgH="3657600" progId="">
                  <p:embed/>
                  <p:pic>
                    <p:nvPicPr>
                      <p:cNvPr id="14338"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72330" y="3357562"/>
                        <a:ext cx="1238250" cy="2024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243</a:t>
            </a:fld>
            <a:endParaRPr lang="ko-KR" altLang="en-US" sz="1200" dirty="0"/>
          </a:p>
        </p:txBody>
      </p:sp>
      <p:sp>
        <p:nvSpPr>
          <p:cNvPr id="9"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
        <p:nvSpPr>
          <p:cNvPr id="11" name="Text Box 39"/>
          <p:cNvSpPr txBox="1">
            <a:spLocks noChangeArrowheads="1"/>
          </p:cNvSpPr>
          <p:nvPr/>
        </p:nvSpPr>
        <p:spPr bwMode="auto">
          <a:xfrm>
            <a:off x="317989" y="692696"/>
            <a:ext cx="1266693"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Chỉnh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lý</a:t>
            </a:r>
            <a:endParaRPr lang="en-US" altLang="ko-KR" sz="2000" b="1" dirty="0">
              <a:latin typeface="맑은 고딕" pitchFamily="50" charset="-127"/>
              <a:ea typeface="맑은 고딕" pitchFamily="50" charset="-127"/>
            </a:endParaRPr>
          </a:p>
        </p:txBody>
      </p:sp>
    </p:spTree>
    <p:extLst>
      <p:ext uri="{BB962C8B-B14F-4D97-AF65-F5344CB8AC3E}">
        <p14:creationId xmlns:p14="http://schemas.microsoft.com/office/powerpoint/2010/main" val="145339427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244</a:t>
            </a:fld>
            <a:endParaRPr lang="ko-KR" altLang="en-US" dirty="0"/>
          </a:p>
        </p:txBody>
      </p:sp>
      <p:sp>
        <p:nvSpPr>
          <p:cNvPr id="3" name="Text Box 39"/>
          <p:cNvSpPr txBox="1">
            <a:spLocks noChangeArrowheads="1"/>
          </p:cNvSpPr>
          <p:nvPr/>
        </p:nvSpPr>
        <p:spPr bwMode="auto">
          <a:xfrm>
            <a:off x="118582" y="116632"/>
            <a:ext cx="3402406"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Process capability analysis</a:t>
            </a:r>
          </a:p>
        </p:txBody>
      </p:sp>
      <p:sp>
        <p:nvSpPr>
          <p:cNvPr id="4" name="Text Box 39"/>
          <p:cNvSpPr txBox="1">
            <a:spLocks noChangeArrowheads="1"/>
          </p:cNvSpPr>
          <p:nvPr/>
        </p:nvSpPr>
        <p:spPr bwMode="auto">
          <a:xfrm>
            <a:off x="214282" y="980728"/>
            <a:ext cx="747320" cy="400110"/>
          </a:xfrm>
          <a:prstGeom prst="rect">
            <a:avLst/>
          </a:prstGeom>
          <a:noFill/>
          <a:ln w="9525">
            <a:noFill/>
            <a:miter lim="800000"/>
            <a:headEnd/>
            <a:tailEnd/>
          </a:ln>
        </p:spPr>
        <p:txBody>
          <a:bodyPr wrap="none">
            <a:spAutoFit/>
          </a:bodyPr>
          <a:lstStyle/>
          <a:p>
            <a:r>
              <a:rPr lang="en-US" altLang="ko-KR" sz="2000" b="1" dirty="0">
                <a:latin typeface="맑은 고딕" pitchFamily="50" charset="-127"/>
                <a:ea typeface="맑은 고딕" pitchFamily="50" charset="-127"/>
              </a:rPr>
              <a:t>Case</a:t>
            </a:r>
          </a:p>
        </p:txBody>
      </p:sp>
      <p:sp>
        <p:nvSpPr>
          <p:cNvPr id="5" name="TextBox 4"/>
          <p:cNvSpPr txBox="1"/>
          <p:nvPr/>
        </p:nvSpPr>
        <p:spPr>
          <a:xfrm>
            <a:off x="375633" y="1700808"/>
            <a:ext cx="8951618" cy="452432"/>
          </a:xfrm>
          <a:prstGeom prst="rect">
            <a:avLst/>
          </a:prstGeom>
          <a:noFill/>
        </p:spPr>
        <p:txBody>
          <a:bodyPr wrap="none" rtlCol="0">
            <a:spAutoFit/>
          </a:bodyPr>
          <a:lstStyle/>
          <a:p>
            <a:pPr>
              <a:lnSpc>
                <a:spcPct val="130000"/>
              </a:lnSpc>
              <a:buClr>
                <a:srgbClr val="C5003D"/>
              </a:buClr>
            </a:pPr>
            <a:r>
              <a:rPr lang="en-US" altLang="ko-KR" b="1" dirty="0"/>
              <a:t>Open the Excel sheet for process capability analysis and practice the following.</a:t>
            </a:r>
            <a:endParaRPr lang="ko-KR" altLang="en-US" b="1" dirty="0"/>
          </a:p>
        </p:txBody>
      </p:sp>
      <p:sp>
        <p:nvSpPr>
          <p:cNvPr id="7" name="TextBox 6"/>
          <p:cNvSpPr txBox="1"/>
          <p:nvPr/>
        </p:nvSpPr>
        <p:spPr>
          <a:xfrm>
            <a:off x="878972" y="2780928"/>
            <a:ext cx="5283241" cy="412421"/>
          </a:xfrm>
          <a:prstGeom prst="rect">
            <a:avLst/>
          </a:prstGeom>
          <a:noFill/>
        </p:spPr>
        <p:txBody>
          <a:bodyPr wrap="none" rtlCol="0">
            <a:spAutoFit/>
          </a:bodyPr>
          <a:lstStyle/>
          <a:p>
            <a:pPr>
              <a:lnSpc>
                <a:spcPct val="130000"/>
              </a:lnSpc>
              <a:buClr>
                <a:srgbClr val="C5003D"/>
              </a:buClr>
            </a:pPr>
            <a:r>
              <a:rPr lang="en-US" altLang="ko-KR" sz="1600" b="1" dirty="0"/>
              <a:t>1. Analyze the data of Case 3 using the Excel Sheet.</a:t>
            </a:r>
            <a:endParaRPr lang="ko-KR" altLang="en-US" sz="1600" b="1" dirty="0"/>
          </a:p>
        </p:txBody>
      </p:sp>
      <p:sp>
        <p:nvSpPr>
          <p:cNvPr id="8" name="TextBox 7"/>
          <p:cNvSpPr txBox="1"/>
          <p:nvPr/>
        </p:nvSpPr>
        <p:spPr>
          <a:xfrm>
            <a:off x="878972" y="3501008"/>
            <a:ext cx="7629570" cy="1372683"/>
          </a:xfrm>
          <a:prstGeom prst="rect">
            <a:avLst/>
          </a:prstGeom>
          <a:noFill/>
        </p:spPr>
        <p:txBody>
          <a:bodyPr wrap="square" rtlCol="0">
            <a:spAutoFit/>
          </a:bodyPr>
          <a:lstStyle/>
          <a:p>
            <a:pPr marL="342900" indent="-342900">
              <a:lnSpc>
                <a:spcPct val="130000"/>
              </a:lnSpc>
              <a:buClr>
                <a:srgbClr val="C5003D"/>
              </a:buClr>
            </a:pPr>
            <a:r>
              <a:rPr lang="en-US" altLang="ko-KR" sz="1600" b="1" dirty="0"/>
              <a:t>2. Analyze the case analysis capability of Excel and present directions for </a:t>
            </a:r>
          </a:p>
          <a:p>
            <a:pPr marL="342900" indent="-342900">
              <a:lnSpc>
                <a:spcPct val="130000"/>
              </a:lnSpc>
              <a:buClr>
                <a:srgbClr val="C5003D"/>
              </a:buClr>
            </a:pPr>
            <a:r>
              <a:rPr lang="en-US" altLang="ko-KR" sz="1600" b="1" dirty="0"/>
              <a:t>    improvement. This sample was collected by the method of Rational Subgroup, and </a:t>
            </a:r>
          </a:p>
          <a:p>
            <a:pPr marL="342900" indent="-342900">
              <a:lnSpc>
                <a:spcPct val="130000"/>
              </a:lnSpc>
              <a:buClr>
                <a:srgbClr val="C5003D"/>
              </a:buClr>
            </a:pPr>
            <a:r>
              <a:rPr lang="en-US" altLang="ko-KR" sz="1600" b="1" dirty="0"/>
              <a:t>    the specification is 7.5 ± 0.5.</a:t>
            </a:r>
            <a:endParaRPr lang="ko-KR" altLang="en-US" sz="1600" b="1" dirty="0"/>
          </a:p>
        </p:txBody>
      </p:sp>
    </p:spTree>
    <p:extLst>
      <p:ext uri="{BB962C8B-B14F-4D97-AF65-F5344CB8AC3E}">
        <p14:creationId xmlns:p14="http://schemas.microsoft.com/office/powerpoint/2010/main" val="68346408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245</a:t>
            </a:fld>
            <a:endParaRPr lang="ko-KR" altLang="en-US" dirty="0"/>
          </a:p>
        </p:txBody>
      </p:sp>
    </p:spTree>
    <p:extLst>
      <p:ext uri="{BB962C8B-B14F-4D97-AF65-F5344CB8AC3E}">
        <p14:creationId xmlns:p14="http://schemas.microsoft.com/office/powerpoint/2010/main" val="683464088"/>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246</a:t>
            </a:fld>
            <a:endParaRPr lang="ko-KR" altLang="en-US" dirty="0"/>
          </a:p>
        </p:txBody>
      </p:sp>
      <p:sp>
        <p:nvSpPr>
          <p:cNvPr id="3" name="Text Box 39"/>
          <p:cNvSpPr txBox="1">
            <a:spLocks noChangeArrowheads="1"/>
          </p:cNvSpPr>
          <p:nvPr/>
        </p:nvSpPr>
        <p:spPr bwMode="auto">
          <a:xfrm>
            <a:off x="118582" y="116632"/>
            <a:ext cx="3469540"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Phân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tích</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năng</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lực</a:t>
            </a:r>
            <a:r>
              <a:rPr lang="en-US" altLang="ko-KR" sz="2000" b="1" dirty="0">
                <a:latin typeface="맑은 고딕" pitchFamily="50" charset="-127"/>
                <a:ea typeface="맑은 고딕" pitchFamily="50" charset="-127"/>
              </a:rPr>
              <a:t> process</a:t>
            </a:r>
          </a:p>
        </p:txBody>
      </p:sp>
      <p:sp>
        <p:nvSpPr>
          <p:cNvPr id="4" name="Text Box 39"/>
          <p:cNvSpPr txBox="1">
            <a:spLocks noChangeArrowheads="1"/>
          </p:cNvSpPr>
          <p:nvPr/>
        </p:nvSpPr>
        <p:spPr bwMode="auto">
          <a:xfrm>
            <a:off x="849740" y="980728"/>
            <a:ext cx="1837362" cy="400110"/>
          </a:xfrm>
          <a:prstGeom prst="rect">
            <a:avLst/>
          </a:prstGeom>
          <a:noFill/>
          <a:ln w="9525">
            <a:noFill/>
            <a:miter lim="800000"/>
            <a:headEnd/>
            <a:tailEnd/>
          </a:ln>
        </p:spPr>
        <p:txBody>
          <a:bodyPr wrap="none">
            <a:spAutoFit/>
          </a:bodyPr>
          <a:lstStyle/>
          <a:p>
            <a:r>
              <a:rPr lang="en-US" altLang="ko-KR" sz="2000" b="1" dirty="0" err="1">
                <a:latin typeface="맑은 고딕" pitchFamily="50" charset="-127"/>
                <a:ea typeface="맑은 고딕" pitchFamily="50" charset="-127"/>
              </a:rPr>
              <a:t>Ví</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dụ</a:t>
            </a:r>
            <a:r>
              <a:rPr lang="en-US" altLang="ko-KR" sz="2000" b="1" dirty="0">
                <a:latin typeface="맑은 고딕" pitchFamily="50" charset="-127"/>
                <a:ea typeface="맑은 고딕" pitchFamily="50" charset="-127"/>
              </a:rPr>
              <a:t>/</a:t>
            </a:r>
            <a:r>
              <a:rPr lang="en-US" altLang="ko-KR" sz="2000" b="1" dirty="0" err="1">
                <a:latin typeface="맑은 고딕" pitchFamily="50" charset="-127"/>
                <a:ea typeface="맑은 고딕" pitchFamily="50" charset="-127"/>
              </a:rPr>
              <a:t>tiền</a:t>
            </a:r>
            <a:r>
              <a:rPr lang="en-US" altLang="ko-KR" sz="2000" b="1" dirty="0">
                <a:latin typeface="맑은 고딕" pitchFamily="50" charset="-127"/>
                <a:ea typeface="맑은 고딕" pitchFamily="50" charset="-127"/>
              </a:rPr>
              <a:t> </a:t>
            </a:r>
            <a:r>
              <a:rPr lang="en-US" altLang="ko-KR" sz="2000" b="1" dirty="0" err="1">
                <a:latin typeface="맑은 고딕" pitchFamily="50" charset="-127"/>
                <a:ea typeface="맑은 고딕" pitchFamily="50" charset="-127"/>
              </a:rPr>
              <a:t>lệ</a:t>
            </a:r>
            <a:endParaRPr lang="en-US" altLang="ko-KR" sz="2000" b="1" dirty="0">
              <a:latin typeface="맑은 고딕" pitchFamily="50" charset="-127"/>
              <a:ea typeface="맑은 고딕" pitchFamily="50" charset="-127"/>
            </a:endParaRPr>
          </a:p>
        </p:txBody>
      </p:sp>
      <p:sp>
        <p:nvSpPr>
          <p:cNvPr id="5" name="TextBox 4"/>
          <p:cNvSpPr txBox="1"/>
          <p:nvPr/>
        </p:nvSpPr>
        <p:spPr>
          <a:xfrm>
            <a:off x="357158" y="1700808"/>
            <a:ext cx="8838638" cy="452432"/>
          </a:xfrm>
          <a:prstGeom prst="rect">
            <a:avLst/>
          </a:prstGeom>
          <a:noFill/>
        </p:spPr>
        <p:txBody>
          <a:bodyPr wrap="none" rtlCol="0">
            <a:spAutoFit/>
          </a:bodyPr>
          <a:lstStyle/>
          <a:p>
            <a:pPr>
              <a:lnSpc>
                <a:spcPct val="130000"/>
              </a:lnSpc>
              <a:buClr>
                <a:srgbClr val="C5003D"/>
              </a:buClr>
            </a:pPr>
            <a:r>
              <a:rPr lang="en-US" altLang="ko-KR" b="1" dirty="0" err="1"/>
              <a:t>Hãy</a:t>
            </a:r>
            <a:r>
              <a:rPr lang="en-US" altLang="ko-KR" b="1" dirty="0"/>
              <a:t> </a:t>
            </a:r>
            <a:r>
              <a:rPr lang="en-US" altLang="ko-KR" b="1" dirty="0" err="1"/>
              <a:t>mở</a:t>
            </a:r>
            <a:r>
              <a:rPr lang="en-US" altLang="ko-KR" b="1" dirty="0"/>
              <a:t> sheet excel </a:t>
            </a:r>
            <a:r>
              <a:rPr lang="en-US" altLang="ko-KR" b="1" dirty="0" err="1"/>
              <a:t>sử</a:t>
            </a:r>
            <a:r>
              <a:rPr lang="en-US" altLang="ko-KR" b="1" dirty="0"/>
              <a:t> </a:t>
            </a:r>
            <a:r>
              <a:rPr lang="en-US" altLang="ko-KR" b="1" dirty="0" err="1"/>
              <a:t>dụng</a:t>
            </a:r>
            <a:r>
              <a:rPr lang="en-US" altLang="ko-KR" b="1" dirty="0"/>
              <a:t> </a:t>
            </a:r>
            <a:r>
              <a:rPr lang="en-US" altLang="ko-KR" b="1" dirty="0" err="1"/>
              <a:t>phân</a:t>
            </a:r>
            <a:r>
              <a:rPr lang="en-US" altLang="ko-KR" b="1" dirty="0"/>
              <a:t> </a:t>
            </a:r>
            <a:r>
              <a:rPr lang="en-US" altLang="ko-KR" b="1" dirty="0" err="1"/>
              <a:t>tích</a:t>
            </a:r>
            <a:r>
              <a:rPr lang="en-US" altLang="ko-KR" b="1" dirty="0"/>
              <a:t> </a:t>
            </a:r>
            <a:r>
              <a:rPr lang="en-US" altLang="ko-KR" b="1" dirty="0" err="1"/>
              <a:t>năng</a:t>
            </a:r>
            <a:r>
              <a:rPr lang="en-US" altLang="ko-KR" b="1" dirty="0"/>
              <a:t> </a:t>
            </a:r>
            <a:r>
              <a:rPr lang="en-US" altLang="ko-KR" b="1" dirty="0" err="1"/>
              <a:t>lực</a:t>
            </a:r>
            <a:r>
              <a:rPr lang="en-US" altLang="ko-KR" b="1" dirty="0"/>
              <a:t> process </a:t>
            </a:r>
            <a:r>
              <a:rPr lang="en-US" altLang="ko-KR" b="1" dirty="0" err="1"/>
              <a:t>và</a:t>
            </a:r>
            <a:r>
              <a:rPr lang="en-US" altLang="ko-KR" b="1" dirty="0"/>
              <a:t> </a:t>
            </a:r>
            <a:r>
              <a:rPr lang="en-US" altLang="ko-KR" b="1" dirty="0" err="1"/>
              <a:t>thực</a:t>
            </a:r>
            <a:r>
              <a:rPr lang="en-US" altLang="ko-KR" b="1" dirty="0"/>
              <a:t> </a:t>
            </a:r>
            <a:r>
              <a:rPr lang="en-US" altLang="ko-KR" b="1" dirty="0" err="1"/>
              <a:t>hành</a:t>
            </a:r>
            <a:r>
              <a:rPr lang="en-US" altLang="ko-KR" b="1" dirty="0"/>
              <a:t> </a:t>
            </a:r>
            <a:r>
              <a:rPr lang="en-US" altLang="ko-KR" b="1" dirty="0" err="1"/>
              <a:t>như</a:t>
            </a:r>
            <a:r>
              <a:rPr lang="en-US" altLang="ko-KR" b="1" dirty="0"/>
              <a:t> </a:t>
            </a:r>
            <a:r>
              <a:rPr lang="en-US" altLang="ko-KR" b="1" dirty="0" err="1"/>
              <a:t>sau</a:t>
            </a:r>
            <a:endParaRPr lang="ko-KR" altLang="en-US" b="1" dirty="0"/>
          </a:p>
        </p:txBody>
      </p:sp>
      <p:sp>
        <p:nvSpPr>
          <p:cNvPr id="7" name="TextBox 6"/>
          <p:cNvSpPr txBox="1"/>
          <p:nvPr/>
        </p:nvSpPr>
        <p:spPr>
          <a:xfrm>
            <a:off x="142844" y="2780929"/>
            <a:ext cx="5642635" cy="412421"/>
          </a:xfrm>
          <a:prstGeom prst="rect">
            <a:avLst/>
          </a:prstGeom>
          <a:noFill/>
        </p:spPr>
        <p:txBody>
          <a:bodyPr wrap="none" rtlCol="0">
            <a:spAutoFit/>
          </a:bodyPr>
          <a:lstStyle/>
          <a:p>
            <a:pPr>
              <a:lnSpc>
                <a:spcPct val="130000"/>
              </a:lnSpc>
              <a:buClr>
                <a:srgbClr val="C5003D"/>
              </a:buClr>
            </a:pPr>
            <a:r>
              <a:rPr lang="en-US" altLang="ko-KR" sz="1600" b="1" dirty="0"/>
              <a:t>1.  </a:t>
            </a:r>
            <a:r>
              <a:rPr lang="en-US" altLang="ko-KR" sz="1600" b="1" dirty="0" err="1"/>
              <a:t>Sử</a:t>
            </a:r>
            <a:r>
              <a:rPr lang="en-US" altLang="ko-KR" sz="1600" b="1" dirty="0"/>
              <a:t> </a:t>
            </a:r>
            <a:r>
              <a:rPr lang="en-US" altLang="ko-KR" sz="1600" b="1" dirty="0" err="1"/>
              <a:t>dụng</a:t>
            </a:r>
            <a:r>
              <a:rPr lang="en-US" altLang="ko-KR" sz="1600" b="1" dirty="0"/>
              <a:t> excel sheet </a:t>
            </a:r>
            <a:r>
              <a:rPr lang="en-US" altLang="ko-KR" sz="1600" b="1" dirty="0" err="1"/>
              <a:t>và</a:t>
            </a:r>
            <a:r>
              <a:rPr lang="en-US" altLang="ko-KR" sz="1600" b="1" dirty="0"/>
              <a:t> </a:t>
            </a:r>
            <a:r>
              <a:rPr lang="en-US" altLang="ko-KR" sz="1600" b="1" dirty="0" err="1"/>
              <a:t>phân</a:t>
            </a:r>
            <a:r>
              <a:rPr lang="en-US" altLang="ko-KR" sz="1600" b="1" dirty="0"/>
              <a:t> </a:t>
            </a:r>
            <a:r>
              <a:rPr lang="en-US" altLang="ko-KR" sz="1600" b="1" dirty="0" err="1"/>
              <a:t>tích</a:t>
            </a:r>
            <a:r>
              <a:rPr lang="en-US" altLang="ko-KR" sz="1600" b="1" dirty="0"/>
              <a:t> sample </a:t>
            </a:r>
            <a:r>
              <a:rPr lang="en-US" altLang="ko-KR" sz="1600" b="1" dirty="0" err="1"/>
              <a:t>của</a:t>
            </a:r>
            <a:r>
              <a:rPr lang="en-US" altLang="ko-KR" sz="1600" b="1" dirty="0"/>
              <a:t> Case 3</a:t>
            </a:r>
            <a:endParaRPr lang="ko-KR" altLang="en-US" sz="1600" b="1" dirty="0"/>
          </a:p>
        </p:txBody>
      </p:sp>
      <p:sp>
        <p:nvSpPr>
          <p:cNvPr id="8" name="TextBox 7"/>
          <p:cNvSpPr txBox="1"/>
          <p:nvPr/>
        </p:nvSpPr>
        <p:spPr>
          <a:xfrm>
            <a:off x="142844" y="3501008"/>
            <a:ext cx="9128012" cy="1052596"/>
          </a:xfrm>
          <a:prstGeom prst="rect">
            <a:avLst/>
          </a:prstGeom>
          <a:noFill/>
        </p:spPr>
        <p:txBody>
          <a:bodyPr wrap="none" rtlCol="0">
            <a:spAutoFit/>
          </a:bodyPr>
          <a:lstStyle/>
          <a:p>
            <a:pPr marL="342900" indent="-342900">
              <a:lnSpc>
                <a:spcPct val="130000"/>
              </a:lnSpc>
              <a:buClr>
                <a:srgbClr val="C5003D"/>
              </a:buClr>
              <a:buAutoNum type="arabicPeriod" startAt="2"/>
            </a:pPr>
            <a:r>
              <a:rPr lang="en-US" altLang="ko-KR" sz="1600" b="1" dirty="0" err="1"/>
              <a:t>Phân</a:t>
            </a:r>
            <a:r>
              <a:rPr lang="en-US" altLang="ko-KR" sz="1600" b="1" dirty="0"/>
              <a:t> </a:t>
            </a:r>
            <a:r>
              <a:rPr lang="en-US" altLang="ko-KR" sz="1600" b="1" dirty="0" err="1"/>
              <a:t>tích</a:t>
            </a:r>
            <a:r>
              <a:rPr lang="en-US" altLang="ko-KR" sz="1600" b="1" dirty="0"/>
              <a:t> </a:t>
            </a:r>
            <a:r>
              <a:rPr lang="en-US" altLang="ko-KR" sz="1600" b="1" dirty="0" err="1"/>
              <a:t>và</a:t>
            </a:r>
            <a:r>
              <a:rPr lang="en-US" altLang="ko-KR" sz="1600" b="1" dirty="0"/>
              <a:t> </a:t>
            </a:r>
            <a:r>
              <a:rPr lang="en-US" altLang="ko-KR" sz="1600" b="1" dirty="0" err="1"/>
              <a:t>đưa</a:t>
            </a:r>
            <a:r>
              <a:rPr lang="en-US" altLang="ko-KR" sz="1600" b="1" dirty="0"/>
              <a:t> </a:t>
            </a:r>
            <a:r>
              <a:rPr lang="en-US" altLang="ko-KR" sz="1600" b="1" dirty="0" err="1"/>
              <a:t>ra</a:t>
            </a:r>
            <a:r>
              <a:rPr lang="en-US" altLang="ko-KR" sz="1600" b="1" dirty="0"/>
              <a:t> </a:t>
            </a:r>
            <a:r>
              <a:rPr lang="en-US" altLang="ko-KR" sz="1600" b="1" dirty="0" err="1"/>
              <a:t>phương</a:t>
            </a:r>
            <a:r>
              <a:rPr lang="en-US" altLang="ko-KR" sz="1600" b="1" dirty="0"/>
              <a:t> </a:t>
            </a:r>
            <a:r>
              <a:rPr lang="en-US" altLang="ko-KR" sz="1600" b="1" dirty="0" err="1"/>
              <a:t>hướng</a:t>
            </a:r>
            <a:r>
              <a:rPr lang="en-US" altLang="ko-KR" sz="1600" b="1" dirty="0"/>
              <a:t> </a:t>
            </a:r>
            <a:r>
              <a:rPr lang="en-US" altLang="ko-KR" sz="1600" b="1" dirty="0" err="1"/>
              <a:t>cải</a:t>
            </a:r>
            <a:r>
              <a:rPr lang="en-US" altLang="ko-KR" sz="1600" b="1" dirty="0"/>
              <a:t> </a:t>
            </a:r>
            <a:r>
              <a:rPr lang="en-US" altLang="ko-KR" sz="1600" b="1" dirty="0" err="1"/>
              <a:t>thiện</a:t>
            </a:r>
            <a:r>
              <a:rPr lang="en-US" altLang="ko-KR" sz="1600" b="1" dirty="0"/>
              <a:t> </a:t>
            </a:r>
            <a:r>
              <a:rPr lang="en-US" altLang="ko-KR" sz="1600" b="1" dirty="0" err="1"/>
              <a:t>ví</a:t>
            </a:r>
            <a:r>
              <a:rPr lang="en-US" altLang="ko-KR" sz="1600" b="1" dirty="0"/>
              <a:t> </a:t>
            </a:r>
            <a:r>
              <a:rPr lang="en-US" altLang="ko-KR" sz="1600" b="1" dirty="0" err="1"/>
              <a:t>dụ</a:t>
            </a:r>
            <a:r>
              <a:rPr lang="en-US" altLang="ko-KR" sz="1600" b="1" dirty="0"/>
              <a:t> </a:t>
            </a:r>
            <a:r>
              <a:rPr lang="en-US" altLang="ko-KR" sz="1600" b="1" dirty="0" err="1"/>
              <a:t>phân</a:t>
            </a:r>
            <a:r>
              <a:rPr lang="en-US" altLang="ko-KR" sz="1600" b="1" dirty="0"/>
              <a:t> </a:t>
            </a:r>
            <a:r>
              <a:rPr lang="en-US" altLang="ko-KR" sz="1600" b="1" dirty="0" err="1"/>
              <a:t>tích</a:t>
            </a:r>
            <a:r>
              <a:rPr lang="en-US" altLang="ko-KR" sz="1600" b="1" dirty="0"/>
              <a:t> </a:t>
            </a:r>
            <a:r>
              <a:rPr lang="en-US" altLang="ko-KR" sz="1600" b="1" dirty="0" err="1"/>
              <a:t>năng</a:t>
            </a:r>
            <a:r>
              <a:rPr lang="en-US" altLang="ko-KR" sz="1600" b="1" dirty="0"/>
              <a:t> </a:t>
            </a:r>
            <a:r>
              <a:rPr lang="en-US" altLang="ko-KR" sz="1600" b="1" dirty="0" err="1"/>
              <a:t>lực</a:t>
            </a:r>
            <a:r>
              <a:rPr lang="en-US" altLang="ko-KR" sz="1600" b="1" dirty="0"/>
              <a:t> Process </a:t>
            </a:r>
            <a:r>
              <a:rPr lang="en-US" altLang="ko-KR" sz="1600" b="1" dirty="0" err="1"/>
              <a:t>của</a:t>
            </a:r>
            <a:r>
              <a:rPr lang="en-US" altLang="ko-KR" sz="1600" b="1" dirty="0"/>
              <a:t> </a:t>
            </a:r>
          </a:p>
          <a:p>
            <a:pPr marL="342900" indent="-342900">
              <a:lnSpc>
                <a:spcPct val="130000"/>
              </a:lnSpc>
              <a:buClr>
                <a:srgbClr val="C5003D"/>
              </a:buClr>
            </a:pPr>
            <a:r>
              <a:rPr lang="en-US" altLang="ko-KR" sz="1600" b="1" dirty="0"/>
              <a:t>excel. Sample </a:t>
            </a:r>
            <a:r>
              <a:rPr lang="en-US" altLang="ko-KR" sz="1600" b="1" dirty="0" err="1"/>
              <a:t>này</a:t>
            </a:r>
            <a:r>
              <a:rPr lang="en-US" altLang="ko-KR" sz="1600" b="1" dirty="0"/>
              <a:t> </a:t>
            </a:r>
            <a:r>
              <a:rPr lang="en-US" altLang="ko-KR" sz="1600" b="1" dirty="0" err="1"/>
              <a:t>được</a:t>
            </a:r>
            <a:r>
              <a:rPr lang="en-US" altLang="ko-KR" sz="1600" b="1" dirty="0"/>
              <a:t> </a:t>
            </a:r>
            <a:r>
              <a:rPr lang="en-US" altLang="ko-KR" sz="1600" b="1" dirty="0" err="1"/>
              <a:t>thu</a:t>
            </a:r>
            <a:r>
              <a:rPr lang="en-US" altLang="ko-KR" sz="1600" b="1" dirty="0"/>
              <a:t> </a:t>
            </a:r>
            <a:r>
              <a:rPr lang="en-US" altLang="ko-KR" sz="1600" b="1" dirty="0" err="1"/>
              <a:t>thập</a:t>
            </a:r>
            <a:r>
              <a:rPr lang="en-US" altLang="ko-KR" sz="1600" b="1" dirty="0"/>
              <a:t> </a:t>
            </a:r>
            <a:r>
              <a:rPr lang="en-US" altLang="ko-KR" sz="1600" b="1" dirty="0" err="1"/>
              <a:t>bằng</a:t>
            </a:r>
            <a:r>
              <a:rPr lang="en-US" altLang="ko-KR" sz="1600" b="1" dirty="0"/>
              <a:t> </a:t>
            </a:r>
            <a:r>
              <a:rPr lang="en-US" altLang="ko-KR" sz="1600" b="1" dirty="0" err="1"/>
              <a:t>phương</a:t>
            </a:r>
            <a:r>
              <a:rPr lang="en-US" altLang="ko-KR" sz="1600" b="1" dirty="0"/>
              <a:t> </a:t>
            </a:r>
            <a:r>
              <a:rPr lang="en-US" altLang="ko-KR" sz="1600" b="1" dirty="0" err="1"/>
              <a:t>pháp</a:t>
            </a:r>
            <a:r>
              <a:rPr lang="en-US" altLang="ko-KR" sz="1600" b="1" dirty="0"/>
              <a:t> </a:t>
            </a:r>
            <a:r>
              <a:rPr lang="en-US" altLang="ko-KR" sz="1600" b="1" dirty="0" err="1"/>
              <a:t>của</a:t>
            </a:r>
            <a:r>
              <a:rPr lang="en-US" altLang="ko-KR" sz="1600" b="1" dirty="0"/>
              <a:t> Rational Subgroup, </a:t>
            </a:r>
            <a:r>
              <a:rPr lang="en-US" altLang="ko-KR" sz="1600" b="1" dirty="0" err="1"/>
              <a:t>quy</a:t>
            </a:r>
            <a:r>
              <a:rPr lang="en-US" altLang="ko-KR" sz="1600" b="1" dirty="0"/>
              <a:t> </a:t>
            </a:r>
            <a:r>
              <a:rPr lang="en-US" altLang="ko-KR" sz="1600" b="1" dirty="0" err="1"/>
              <a:t>cách</a:t>
            </a:r>
            <a:r>
              <a:rPr lang="en-US" altLang="ko-KR" sz="1600" b="1" dirty="0"/>
              <a:t> </a:t>
            </a:r>
            <a:r>
              <a:rPr lang="en-US" altLang="ko-KR" sz="1600" b="1" dirty="0" err="1"/>
              <a:t>tiêu</a:t>
            </a:r>
            <a:endParaRPr lang="en-US" altLang="ko-KR" sz="1600" b="1" dirty="0"/>
          </a:p>
          <a:p>
            <a:pPr marL="342900" indent="-342900">
              <a:lnSpc>
                <a:spcPct val="130000"/>
              </a:lnSpc>
              <a:buClr>
                <a:srgbClr val="C5003D"/>
              </a:buClr>
            </a:pPr>
            <a:r>
              <a:rPr lang="en-US" altLang="ko-KR" sz="1600" b="1" dirty="0"/>
              <a:t> </a:t>
            </a:r>
            <a:r>
              <a:rPr lang="en-US" altLang="ko-KR" sz="1600" b="1" dirty="0" err="1"/>
              <a:t>chuẩn</a:t>
            </a:r>
            <a:r>
              <a:rPr lang="en-US" altLang="ko-KR" sz="1600" b="1" dirty="0"/>
              <a:t> </a:t>
            </a:r>
            <a:r>
              <a:rPr lang="en-US" altLang="ko-KR" sz="1600" b="1" dirty="0" err="1"/>
              <a:t>là</a:t>
            </a:r>
            <a:r>
              <a:rPr lang="en-US" altLang="ko-KR" sz="1600" b="1" dirty="0"/>
              <a:t> 7.5 ± 0.5</a:t>
            </a:r>
            <a:endParaRPr lang="ko-KR" altLang="en-US" sz="1600" b="1" dirty="0"/>
          </a:p>
        </p:txBody>
      </p:sp>
    </p:spTree>
    <p:extLst>
      <p:ext uri="{BB962C8B-B14F-4D97-AF65-F5344CB8AC3E}">
        <p14:creationId xmlns:p14="http://schemas.microsoft.com/office/powerpoint/2010/main" val="68346408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a:xfrm>
            <a:off x="8560139" y="6475432"/>
            <a:ext cx="504734" cy="365125"/>
          </a:xfrm>
          <a:prstGeom prst="rect">
            <a:avLst/>
          </a:prstGeom>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247</a:t>
            </a:fld>
            <a:endParaRPr lang="ko-KR" altLang="en-US" dirty="0"/>
          </a:p>
        </p:txBody>
      </p:sp>
    </p:spTree>
    <p:extLst>
      <p:ext uri="{BB962C8B-B14F-4D97-AF65-F5344CB8AC3E}">
        <p14:creationId xmlns:p14="http://schemas.microsoft.com/office/powerpoint/2010/main" val="683464088"/>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제목 5"/>
          <p:cNvSpPr txBox="1">
            <a:spLocks/>
          </p:cNvSpPr>
          <p:nvPr/>
        </p:nvSpPr>
        <p:spPr bwMode="auto">
          <a:xfrm>
            <a:off x="1500166" y="980728"/>
            <a:ext cx="6312033" cy="706438"/>
          </a:xfrm>
          <a:prstGeom prst="rect">
            <a:avLst/>
          </a:prstGeom>
          <a:noFill/>
          <a:ln w="9525">
            <a:noFill/>
            <a:prstDash val="sysDash"/>
            <a:miter lim="800000"/>
            <a:headEnd/>
            <a:tailEnd/>
          </a:ln>
        </p:spPr>
        <p:txBody>
          <a:bodyPr anchor="ctr"/>
          <a:lstStyle/>
          <a:p>
            <a:pPr algn="ctr" fontAlgn="base">
              <a:spcBef>
                <a:spcPct val="0"/>
              </a:spcBef>
              <a:spcAft>
                <a:spcPct val="0"/>
              </a:spcAft>
            </a:pPr>
            <a:r>
              <a:rPr kumimoji="1" lang="en-US" altLang="ko-KR" sz="3600" b="1" dirty="0">
                <a:solidFill>
                  <a:srgbClr val="C5003D"/>
                </a:solidFill>
              </a:rPr>
              <a:t>Chapter 4. Control chart</a:t>
            </a:r>
            <a:endParaRPr kumimoji="1" lang="ko-KR" altLang="en-US" sz="3600" b="1" dirty="0">
              <a:solidFill>
                <a:srgbClr val="C5003D"/>
              </a:solidFill>
            </a:endParaRPr>
          </a:p>
        </p:txBody>
      </p:sp>
      <p:sp>
        <p:nvSpPr>
          <p:cNvPr id="5" name="직사각형 4"/>
          <p:cNvSpPr/>
          <p:nvPr/>
        </p:nvSpPr>
        <p:spPr>
          <a:xfrm>
            <a:off x="2369527" y="3673521"/>
            <a:ext cx="4564673" cy="1646605"/>
          </a:xfrm>
          <a:prstGeom prst="rect">
            <a:avLst/>
          </a:prstGeom>
        </p:spPr>
        <p:txBody>
          <a:bodyPr>
            <a:spAutoFit/>
          </a:bodyPr>
          <a:lstStyle/>
          <a:p>
            <a:pPr marL="342900" indent="-342900">
              <a:lnSpc>
                <a:spcPct val="150000"/>
              </a:lnSpc>
              <a:spcBef>
                <a:spcPts val="200"/>
              </a:spcBef>
              <a:buFontTx/>
              <a:buAutoNum type="arabicPeriod"/>
              <a:defRPr/>
            </a:pPr>
            <a:r>
              <a:rPr lang="en-US" altLang="ko-KR" sz="1600" b="1" dirty="0">
                <a:solidFill>
                  <a:prstClr val="black">
                    <a:lumMod val="75000"/>
                    <a:lumOff val="25000"/>
                  </a:prstClr>
                </a:solidFill>
              </a:rPr>
              <a:t>The need for the control chart</a:t>
            </a:r>
          </a:p>
          <a:p>
            <a:pPr marL="342900" indent="-342900">
              <a:lnSpc>
                <a:spcPct val="150000"/>
              </a:lnSpc>
              <a:spcBef>
                <a:spcPts val="200"/>
              </a:spcBef>
              <a:buFontTx/>
              <a:buAutoNum type="arabicPeriod"/>
              <a:defRPr/>
            </a:pPr>
            <a:r>
              <a:rPr lang="en-US" altLang="ko-KR" sz="1600" b="1" dirty="0">
                <a:solidFill>
                  <a:prstClr val="black">
                    <a:lumMod val="75000"/>
                    <a:lumOff val="25000"/>
                  </a:prstClr>
                </a:solidFill>
              </a:rPr>
              <a:t>The need for periodic data management</a:t>
            </a:r>
          </a:p>
          <a:p>
            <a:pPr marL="342900" indent="-342900">
              <a:lnSpc>
                <a:spcPct val="150000"/>
              </a:lnSpc>
              <a:spcBef>
                <a:spcPts val="200"/>
              </a:spcBef>
              <a:buFontTx/>
              <a:buAutoNum type="arabicPeriod"/>
              <a:defRPr/>
            </a:pPr>
            <a:r>
              <a:rPr lang="en-US" altLang="ko-KR" sz="1600" b="1" dirty="0">
                <a:solidFill>
                  <a:prstClr val="black">
                    <a:lumMod val="75000"/>
                    <a:lumOff val="25000"/>
                  </a:prstClr>
                </a:solidFill>
              </a:rPr>
              <a:t>Quality control area of control chart</a:t>
            </a:r>
          </a:p>
          <a:p>
            <a:pPr marL="342900" indent="-342900">
              <a:lnSpc>
                <a:spcPct val="150000"/>
              </a:lnSpc>
              <a:spcBef>
                <a:spcPts val="200"/>
              </a:spcBef>
              <a:buFontTx/>
              <a:buAutoNum type="arabicPeriod"/>
              <a:defRPr/>
            </a:pPr>
            <a:r>
              <a:rPr lang="en-US" altLang="ko-KR" sz="1600" b="1" dirty="0">
                <a:solidFill>
                  <a:prstClr val="black">
                    <a:lumMod val="75000"/>
                    <a:lumOff val="25000"/>
                  </a:prstClr>
                </a:solidFill>
              </a:rPr>
              <a:t>Excel Practice</a:t>
            </a:r>
            <a:endParaRPr kumimoji="1" lang="en-US" altLang="ko-KR" sz="1400" b="1" dirty="0">
              <a:solidFill>
                <a:prstClr val="black"/>
              </a:solidFill>
            </a:endParaRPr>
          </a:p>
        </p:txBody>
      </p:sp>
      <p:cxnSp>
        <p:nvCxnSpPr>
          <p:cNvPr id="6" name="직선 연결선 5"/>
          <p:cNvCxnSpPr/>
          <p:nvPr/>
        </p:nvCxnSpPr>
        <p:spPr>
          <a:xfrm>
            <a:off x="2123353" y="3573116"/>
            <a:ext cx="4825511"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272319" y="6093296"/>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2123353" y="3646141"/>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253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9569" y="2201516"/>
            <a:ext cx="678474" cy="679450"/>
          </a:xfrm>
          <a:prstGeom prst="rect">
            <a:avLst/>
          </a:prstGeom>
          <a:noFill/>
          <a:ln w="9525">
            <a:noFill/>
            <a:miter lim="800000"/>
            <a:headEnd/>
            <a:tailEnd/>
          </a:ln>
        </p:spPr>
      </p:pic>
      <p:sp>
        <p:nvSpPr>
          <p:cNvPr id="10" name="모서리가 둥근 직사각형 9"/>
          <p:cNvSpPr/>
          <p:nvPr/>
        </p:nvSpPr>
        <p:spPr>
          <a:xfrm>
            <a:off x="732699" y="1917374"/>
            <a:ext cx="7728438" cy="1223963"/>
          </a:xfrm>
          <a:prstGeom prst="roundRect">
            <a:avLst>
              <a:gd name="adj" fmla="val 8852"/>
            </a:avLst>
          </a:prstGeom>
          <a:noFill/>
          <a:ln>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solidFill>
                <a:prstClr val="white"/>
              </a:solidFill>
            </a:endParaRPr>
          </a:p>
        </p:txBody>
      </p:sp>
      <p:sp>
        <p:nvSpPr>
          <p:cNvPr id="21" name="TextBox 20"/>
          <p:cNvSpPr txBox="1"/>
          <p:nvPr/>
        </p:nvSpPr>
        <p:spPr>
          <a:xfrm>
            <a:off x="1764326" y="2161849"/>
            <a:ext cx="6663104" cy="697179"/>
          </a:xfrm>
          <a:prstGeom prst="rect">
            <a:avLst/>
          </a:prstGeom>
          <a:noFill/>
        </p:spPr>
        <p:txBody>
          <a:bodyPr>
            <a:spAutoFit/>
          </a:bodyPr>
          <a:lstStyle/>
          <a:p>
            <a:pPr marL="266700" indent="-266700">
              <a:lnSpc>
                <a:spcPct val="130000"/>
              </a:lnSpc>
              <a:buClr>
                <a:prstClr val="white">
                  <a:lumMod val="50000"/>
                </a:prstClr>
              </a:buClr>
              <a:buFont typeface="Wingdings" pitchFamily="2" charset="2"/>
              <a:buChar char="u"/>
              <a:defRPr/>
            </a:pPr>
            <a:r>
              <a:rPr lang="en-US" altLang="ko-KR" sz="1600" b="1" dirty="0">
                <a:solidFill>
                  <a:prstClr val="black"/>
                </a:solidFill>
              </a:rPr>
              <a:t>  You can understand the control chart and use the X Bar R control chart in practice.</a:t>
            </a:r>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248</a:t>
            </a:fld>
            <a:endParaRPr lang="ko-KR" altLang="en-US" dirty="0"/>
          </a:p>
        </p:txBody>
      </p:sp>
    </p:spTree>
    <p:extLst>
      <p:ext uri="{BB962C8B-B14F-4D97-AF65-F5344CB8AC3E}">
        <p14:creationId xmlns:p14="http://schemas.microsoft.com/office/powerpoint/2010/main" val="422419553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pic>
        <p:nvPicPr>
          <p:cNvPr id="1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r="64276"/>
          <a:stretch/>
        </p:blipFill>
        <p:spPr bwMode="auto">
          <a:xfrm>
            <a:off x="6010546" y="1277405"/>
            <a:ext cx="2620398" cy="4560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68004"/>
          <a:stretch/>
        </p:blipFill>
        <p:spPr bwMode="auto">
          <a:xfrm>
            <a:off x="583865" y="1262013"/>
            <a:ext cx="2810355" cy="4504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36308" r="31846"/>
          <a:stretch/>
        </p:blipFill>
        <p:spPr bwMode="auto">
          <a:xfrm>
            <a:off x="3217051" y="1052739"/>
            <a:ext cx="2797218" cy="47454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 Box 10"/>
          <p:cNvSpPr txBox="1">
            <a:spLocks noChangeArrowheads="1"/>
          </p:cNvSpPr>
          <p:nvPr/>
        </p:nvSpPr>
        <p:spPr bwMode="auto">
          <a:xfrm>
            <a:off x="2500298" y="1101860"/>
            <a:ext cx="4164445" cy="4000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2000" b="1" u="sng" dirty="0">
                <a:solidFill>
                  <a:prstClr val="black"/>
                </a:solidFill>
                <a:latin typeface="맑은 고딕"/>
                <a:ea typeface="맑은 고딕"/>
              </a:rPr>
              <a:t>Quality Characteristics Summary</a:t>
            </a:r>
            <a:endParaRPr lang="ko-KR" altLang="en-US" sz="1600" b="1" u="sng" dirty="0">
              <a:solidFill>
                <a:prstClr val="black"/>
              </a:solidFill>
              <a:latin typeface="맑은 고딕"/>
              <a:ea typeface="맑은 고딕"/>
            </a:endParaRPr>
          </a:p>
        </p:txBody>
      </p:sp>
      <p:sp>
        <p:nvSpPr>
          <p:cNvPr id="9"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249</a:t>
            </a:fld>
            <a:endParaRPr lang="ko-KR" altLang="en-US" sz="1200" dirty="0">
              <a:solidFill>
                <a:prstClr val="black"/>
              </a:solidFill>
            </a:endParaRPr>
          </a:p>
        </p:txBody>
      </p:sp>
    </p:spTree>
    <p:extLst>
      <p:ext uri="{BB962C8B-B14F-4D97-AF65-F5344CB8AC3E}">
        <p14:creationId xmlns:p14="http://schemas.microsoft.com/office/powerpoint/2010/main" val="3101416946"/>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제목 5"/>
          <p:cNvSpPr txBox="1">
            <a:spLocks/>
          </p:cNvSpPr>
          <p:nvPr/>
        </p:nvSpPr>
        <p:spPr bwMode="auto">
          <a:xfrm>
            <a:off x="1295400" y="980728"/>
            <a:ext cx="6476999" cy="706438"/>
          </a:xfrm>
          <a:prstGeom prst="rect">
            <a:avLst/>
          </a:prstGeom>
          <a:noFill/>
          <a:ln w="9525">
            <a:noFill/>
            <a:prstDash val="sysDash"/>
            <a:miter lim="800000"/>
            <a:headEnd/>
            <a:tailEnd/>
          </a:ln>
        </p:spPr>
        <p:txBody>
          <a:bodyPr anchor="ctr"/>
          <a:lstStyle/>
          <a:p>
            <a:pPr algn="ctr" fontAlgn="base">
              <a:spcBef>
                <a:spcPct val="0"/>
              </a:spcBef>
              <a:spcAft>
                <a:spcPct val="0"/>
              </a:spcAft>
            </a:pPr>
            <a:r>
              <a:rPr kumimoji="1" lang="en-US" altLang="ko-KR" sz="3600" b="1" dirty="0">
                <a:solidFill>
                  <a:srgbClr val="C5003D"/>
                </a:solidFill>
              </a:rPr>
              <a:t>Chapter 4</a:t>
            </a:r>
            <a:r>
              <a:rPr kumimoji="1" lang="en-US" altLang="ko-KR" sz="3600" b="1">
                <a:solidFill>
                  <a:srgbClr val="C5003D"/>
                </a:solidFill>
              </a:rPr>
              <a:t>. Đồ thị quản lí</a:t>
            </a:r>
            <a:endParaRPr kumimoji="1" lang="ko-KR" altLang="en-US" sz="3600" b="1" dirty="0">
              <a:solidFill>
                <a:srgbClr val="C5003D"/>
              </a:solidFill>
            </a:endParaRPr>
          </a:p>
        </p:txBody>
      </p:sp>
      <p:sp>
        <p:nvSpPr>
          <p:cNvPr id="5" name="직사각형 4"/>
          <p:cNvSpPr/>
          <p:nvPr/>
        </p:nvSpPr>
        <p:spPr>
          <a:xfrm>
            <a:off x="1981200" y="3673521"/>
            <a:ext cx="5555273" cy="2015936"/>
          </a:xfrm>
          <a:prstGeom prst="rect">
            <a:avLst/>
          </a:prstGeom>
        </p:spPr>
        <p:txBody>
          <a:bodyPr wrap="square">
            <a:spAutoFit/>
          </a:bodyPr>
          <a:lstStyle/>
          <a:p>
            <a:pPr marL="342900" indent="-342900">
              <a:lnSpc>
                <a:spcPct val="150000"/>
              </a:lnSpc>
              <a:spcBef>
                <a:spcPts val="200"/>
              </a:spcBef>
              <a:buFontTx/>
              <a:buAutoNum type="arabicPeriod"/>
              <a:defRPr/>
            </a:pPr>
            <a:r>
              <a:rPr lang="en-US" altLang="ko-KR" sz="1600" b="1">
                <a:solidFill>
                  <a:prstClr val="black">
                    <a:lumMod val="75000"/>
                    <a:lumOff val="25000"/>
                  </a:prstClr>
                </a:solidFill>
              </a:rPr>
              <a:t>Tính cần thiết của đồ thị quản lí</a:t>
            </a:r>
            <a:endParaRPr lang="en-US" altLang="ko-KR" sz="1600" b="1" dirty="0">
              <a:solidFill>
                <a:prstClr val="black">
                  <a:lumMod val="75000"/>
                  <a:lumOff val="25000"/>
                </a:prstClr>
              </a:solidFill>
            </a:endParaRPr>
          </a:p>
          <a:p>
            <a:pPr marL="342900" indent="-342900">
              <a:lnSpc>
                <a:spcPct val="150000"/>
              </a:lnSpc>
              <a:spcBef>
                <a:spcPts val="200"/>
              </a:spcBef>
              <a:buFontTx/>
              <a:buAutoNum type="arabicPeriod"/>
              <a:defRPr/>
            </a:pPr>
            <a:r>
              <a:rPr lang="en-US" altLang="ko-KR" sz="1600" b="1">
                <a:solidFill>
                  <a:prstClr val="black">
                    <a:lumMod val="75000"/>
                    <a:lumOff val="25000"/>
                  </a:prstClr>
                </a:solidFill>
              </a:rPr>
              <a:t>Tính cần thiết của việc quản lí Data theo chu kì</a:t>
            </a:r>
            <a:endParaRPr lang="en-US" altLang="ko-KR" sz="1600" b="1" dirty="0">
              <a:solidFill>
                <a:prstClr val="black">
                  <a:lumMod val="75000"/>
                  <a:lumOff val="25000"/>
                </a:prstClr>
              </a:solidFill>
            </a:endParaRPr>
          </a:p>
          <a:p>
            <a:pPr>
              <a:lnSpc>
                <a:spcPct val="150000"/>
              </a:lnSpc>
              <a:spcBef>
                <a:spcPts val="200"/>
              </a:spcBef>
              <a:defRPr/>
            </a:pPr>
            <a:r>
              <a:rPr lang="en-US" altLang="ko-KR" sz="1600" b="1" dirty="0">
                <a:solidFill>
                  <a:prstClr val="black">
                    <a:lumMod val="75000"/>
                    <a:lumOff val="25000"/>
                  </a:prstClr>
                </a:solidFill>
              </a:rPr>
              <a:t>4</a:t>
            </a:r>
            <a:r>
              <a:rPr lang="en-US" altLang="ko-KR" sz="1600" b="1">
                <a:solidFill>
                  <a:prstClr val="black">
                    <a:lumMod val="75000"/>
                    <a:lumOff val="25000"/>
                  </a:prstClr>
                </a:solidFill>
              </a:rPr>
              <a:t>.  Khu vực biến động chất lượng sản phẩm của đồ thị quản lí</a:t>
            </a:r>
            <a:endParaRPr lang="en-US" altLang="ko-KR" sz="1600" b="1" dirty="0">
              <a:solidFill>
                <a:prstClr val="black">
                  <a:lumMod val="75000"/>
                  <a:lumOff val="25000"/>
                </a:prstClr>
              </a:solidFill>
            </a:endParaRPr>
          </a:p>
          <a:p>
            <a:pPr>
              <a:lnSpc>
                <a:spcPct val="150000"/>
              </a:lnSpc>
              <a:spcBef>
                <a:spcPts val="200"/>
              </a:spcBef>
              <a:defRPr/>
            </a:pPr>
            <a:r>
              <a:rPr lang="en-US" altLang="ko-KR" sz="1600" b="1" dirty="0">
                <a:solidFill>
                  <a:prstClr val="black">
                    <a:lumMod val="75000"/>
                    <a:lumOff val="25000"/>
                  </a:prstClr>
                </a:solidFill>
              </a:rPr>
              <a:t>5</a:t>
            </a:r>
            <a:r>
              <a:rPr lang="en-US" altLang="ko-KR" sz="1600" b="1">
                <a:solidFill>
                  <a:prstClr val="black">
                    <a:lumMod val="75000"/>
                    <a:lumOff val="25000"/>
                  </a:prstClr>
                </a:solidFill>
              </a:rPr>
              <a:t>.  Luyện tập thực tế trên Excel </a:t>
            </a:r>
            <a:endParaRPr kumimoji="1" lang="en-US" altLang="ko-KR" sz="1400" b="1" dirty="0">
              <a:solidFill>
                <a:prstClr val="black"/>
              </a:solidFill>
            </a:endParaRPr>
          </a:p>
        </p:txBody>
      </p:sp>
      <p:cxnSp>
        <p:nvCxnSpPr>
          <p:cNvPr id="6" name="직선 연결선 5"/>
          <p:cNvCxnSpPr/>
          <p:nvPr/>
        </p:nvCxnSpPr>
        <p:spPr>
          <a:xfrm>
            <a:off x="2123353" y="3573116"/>
            <a:ext cx="4825511"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272319" y="6093296"/>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2123353" y="3646141"/>
            <a:ext cx="482551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253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9569" y="2201516"/>
            <a:ext cx="678474" cy="679450"/>
          </a:xfrm>
          <a:prstGeom prst="rect">
            <a:avLst/>
          </a:prstGeom>
          <a:noFill/>
          <a:ln w="9525">
            <a:noFill/>
            <a:miter lim="800000"/>
            <a:headEnd/>
            <a:tailEnd/>
          </a:ln>
        </p:spPr>
      </p:pic>
      <p:sp>
        <p:nvSpPr>
          <p:cNvPr id="10" name="모서리가 둥근 직사각형 9"/>
          <p:cNvSpPr/>
          <p:nvPr/>
        </p:nvSpPr>
        <p:spPr>
          <a:xfrm>
            <a:off x="732699" y="1917374"/>
            <a:ext cx="7728438" cy="1223963"/>
          </a:xfrm>
          <a:prstGeom prst="roundRect">
            <a:avLst>
              <a:gd name="adj" fmla="val 8852"/>
            </a:avLst>
          </a:prstGeom>
          <a:noFill/>
          <a:ln>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solidFill>
                <a:prstClr val="white"/>
              </a:solidFill>
            </a:endParaRPr>
          </a:p>
        </p:txBody>
      </p:sp>
      <p:sp>
        <p:nvSpPr>
          <p:cNvPr id="21" name="TextBox 20"/>
          <p:cNvSpPr txBox="1"/>
          <p:nvPr/>
        </p:nvSpPr>
        <p:spPr>
          <a:xfrm>
            <a:off x="1764326" y="2161849"/>
            <a:ext cx="6663104" cy="732508"/>
          </a:xfrm>
          <a:prstGeom prst="rect">
            <a:avLst/>
          </a:prstGeom>
          <a:noFill/>
        </p:spPr>
        <p:txBody>
          <a:bodyPr>
            <a:spAutoFit/>
          </a:bodyPr>
          <a:lstStyle/>
          <a:p>
            <a:pPr marL="266700" indent="-266700">
              <a:lnSpc>
                <a:spcPct val="130000"/>
              </a:lnSpc>
              <a:buClr>
                <a:prstClr val="white">
                  <a:lumMod val="50000"/>
                </a:prstClr>
              </a:buClr>
              <a:buFont typeface="Wingdings" pitchFamily="2" charset="2"/>
              <a:buChar char="u"/>
              <a:defRPr/>
            </a:pPr>
            <a:r>
              <a:rPr lang="en-US" altLang="ko-KR" sz="1600" b="1">
                <a:solidFill>
                  <a:prstClr val="black"/>
                </a:solidFill>
              </a:rPr>
              <a:t>  Tìm hiểu về đồ thị quản lí, có thể sử dụng đồ thị quản lí X </a:t>
            </a:r>
            <a:r>
              <a:rPr lang="en-US" altLang="ko-KR" sz="1600" b="1" dirty="0">
                <a:solidFill>
                  <a:prstClr val="black"/>
                </a:solidFill>
              </a:rPr>
              <a:t>Bar </a:t>
            </a:r>
            <a:r>
              <a:rPr lang="en-US" altLang="ko-KR" sz="1600" b="1">
                <a:solidFill>
                  <a:prstClr val="black"/>
                </a:solidFill>
              </a:rPr>
              <a:t>R trong công việc thực tế.</a:t>
            </a:r>
            <a:endParaRPr lang="en-US" altLang="ko-KR" sz="1600" b="1" dirty="0">
              <a:solidFill>
                <a:prstClr val="black"/>
              </a:solidFill>
            </a:endParaRPr>
          </a:p>
        </p:txBody>
      </p:sp>
      <p:sp>
        <p:nvSpPr>
          <p:cNvPr id="11" name="슬라이드 번호 개체 틀 1"/>
          <p:cNvSpPr>
            <a:spLocks noGrp="1"/>
          </p:cNvSpPr>
          <p:nvPr>
            <p:ph type="sldNum" sz="quarter" idx="4"/>
          </p:nvPr>
        </p:nvSpPr>
        <p:spPr>
          <a:xfrm>
            <a:off x="8560136" y="6475414"/>
            <a:ext cx="504734" cy="365125"/>
          </a:xfrm>
          <a:prstGeom prst="rect">
            <a:avLst/>
          </a:prstGeom>
        </p:spPr>
        <p:txBody>
          <a:bodyPr/>
          <a:lstStyle>
            <a:lvl1pPr>
              <a:defRPr sz="1100"/>
            </a:lvl1p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250</a:t>
            </a:fld>
            <a:endParaRPr lang="ko-KR" altLang="en-US" dirty="0"/>
          </a:p>
        </p:txBody>
      </p:sp>
    </p:spTree>
    <p:extLst>
      <p:ext uri="{BB962C8B-B14F-4D97-AF65-F5344CB8AC3E}">
        <p14:creationId xmlns:p14="http://schemas.microsoft.com/office/powerpoint/2010/main" val="422419553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39"/>
          <p:cNvSpPr txBox="1">
            <a:spLocks noChangeArrowheads="1"/>
          </p:cNvSpPr>
          <p:nvPr/>
        </p:nvSpPr>
        <p:spPr bwMode="auto">
          <a:xfrm>
            <a:off x="127732" y="76562"/>
            <a:ext cx="4456285"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a:t>
            </a:r>
            <a:r>
              <a:rPr kumimoji="1" lang="en-US" altLang="ko-KR" sz="2000" b="1">
                <a:solidFill>
                  <a:prstClr val="black"/>
                </a:solidFill>
              </a:rPr>
              <a:t>. Tính cần thiết của đồ thị quản lí</a:t>
            </a:r>
            <a:endParaRPr kumimoji="1" lang="en-US" altLang="ko-KR" sz="2000" b="1" dirty="0">
              <a:solidFill>
                <a:prstClr val="black"/>
              </a:solidFill>
            </a:endParaRPr>
          </a:p>
        </p:txBody>
      </p:sp>
      <p:pic>
        <p:nvPicPr>
          <p:cNvPr id="10"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64276"/>
          <a:stretch/>
        </p:blipFill>
        <p:spPr bwMode="auto">
          <a:xfrm>
            <a:off x="6010546" y="1277405"/>
            <a:ext cx="2620398" cy="4560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68004"/>
          <a:stretch/>
        </p:blipFill>
        <p:spPr bwMode="auto">
          <a:xfrm>
            <a:off x="583865" y="1262013"/>
            <a:ext cx="2810355" cy="4504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6308" r="31846"/>
          <a:stretch/>
        </p:blipFill>
        <p:spPr bwMode="auto">
          <a:xfrm>
            <a:off x="3217051" y="1052739"/>
            <a:ext cx="2797218" cy="47454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Text Box 10"/>
          <p:cNvSpPr txBox="1">
            <a:spLocks noChangeArrowheads="1"/>
          </p:cNvSpPr>
          <p:nvPr/>
        </p:nvSpPr>
        <p:spPr bwMode="auto">
          <a:xfrm>
            <a:off x="2029141" y="1101860"/>
            <a:ext cx="5209859" cy="4000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2000" b="1" u="sng">
                <a:solidFill>
                  <a:prstClr val="black"/>
                </a:solidFill>
                <a:latin typeface="맑은 고딕"/>
                <a:ea typeface="맑은 고딕"/>
              </a:rPr>
              <a:t>Đặc tính chất lượng sản phẩm</a:t>
            </a:r>
            <a:r>
              <a:rPr lang="ko-KR" altLang="en-US" sz="2000" b="1" u="sng">
                <a:solidFill>
                  <a:prstClr val="black"/>
                </a:solidFill>
                <a:latin typeface="맑은 고딕"/>
                <a:ea typeface="맑은 고딕"/>
              </a:rPr>
              <a:t> </a:t>
            </a:r>
            <a:r>
              <a:rPr lang="en-US" altLang="ko-KR" sz="2000" b="1" u="sng" dirty="0">
                <a:solidFill>
                  <a:prstClr val="black"/>
                </a:solidFill>
                <a:latin typeface="맑은 고딕"/>
                <a:ea typeface="맑은 고딕"/>
              </a:rPr>
              <a:t>Summary</a:t>
            </a:r>
            <a:endParaRPr lang="ko-KR" altLang="en-US" sz="1600" b="1" u="sng" dirty="0">
              <a:solidFill>
                <a:prstClr val="black"/>
              </a:solidFill>
              <a:latin typeface="맑은 고딕"/>
              <a:ea typeface="맑은 고딕"/>
            </a:endParaRPr>
          </a:p>
        </p:txBody>
      </p:sp>
      <p:sp>
        <p:nvSpPr>
          <p:cNvPr id="9"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251</a:t>
            </a:fld>
            <a:endParaRPr lang="ko-KR" altLang="en-US" sz="1200" dirty="0">
              <a:solidFill>
                <a:prstClr val="black"/>
              </a:solidFill>
            </a:endParaRPr>
          </a:p>
        </p:txBody>
      </p:sp>
    </p:spTree>
    <p:extLst>
      <p:ext uri="{BB962C8B-B14F-4D97-AF65-F5344CB8AC3E}">
        <p14:creationId xmlns:p14="http://schemas.microsoft.com/office/powerpoint/2010/main" val="3101416946"/>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p:cNvSpPr/>
          <p:nvPr/>
        </p:nvSpPr>
        <p:spPr>
          <a:xfrm>
            <a:off x="916209" y="1556792"/>
            <a:ext cx="7510988" cy="208652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2"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
        <p:nvSpPr>
          <p:cNvPr id="16" name="Text Box 10"/>
          <p:cNvSpPr txBox="1">
            <a:spLocks noChangeArrowheads="1"/>
          </p:cNvSpPr>
          <p:nvPr/>
        </p:nvSpPr>
        <p:spPr bwMode="auto">
          <a:xfrm>
            <a:off x="1785918" y="980731"/>
            <a:ext cx="5729938" cy="4000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2000" b="1" dirty="0">
                <a:solidFill>
                  <a:prstClr val="black"/>
                </a:solidFill>
                <a:latin typeface="맑은 고딕"/>
                <a:ea typeface="맑은 고딕"/>
              </a:rPr>
              <a:t>Definition of Statistical Process Control (SPC)</a:t>
            </a:r>
            <a:endParaRPr lang="ko-KR" altLang="en-US" sz="1600" b="1" dirty="0">
              <a:solidFill>
                <a:prstClr val="black"/>
              </a:solidFill>
              <a:latin typeface="맑은 고딕"/>
              <a:ea typeface="맑은 고딕"/>
            </a:endParaRPr>
          </a:p>
        </p:txBody>
      </p:sp>
      <p:sp>
        <p:nvSpPr>
          <p:cNvPr id="17" name="Text Box 10"/>
          <p:cNvSpPr txBox="1">
            <a:spLocks noChangeArrowheads="1"/>
          </p:cNvSpPr>
          <p:nvPr/>
        </p:nvSpPr>
        <p:spPr bwMode="auto">
          <a:xfrm>
            <a:off x="1315025" y="1628800"/>
            <a:ext cx="7186066" cy="1761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defTabSz="762000" fontAlgn="base" latinLnBrk="0">
              <a:lnSpc>
                <a:spcPct val="140000"/>
              </a:lnSpc>
              <a:spcBef>
                <a:spcPct val="0"/>
              </a:spcBef>
              <a:spcAft>
                <a:spcPct val="0"/>
              </a:spcAft>
            </a:pPr>
            <a:r>
              <a:rPr kumimoji="0" lang="en-US" altLang="ko-KR" sz="2000" b="1" dirty="0">
                <a:solidFill>
                  <a:srgbClr val="000000"/>
                </a:solidFill>
                <a:latin typeface="맑은 고딕" pitchFamily="50" charset="-127"/>
                <a:ea typeface="맑은 고딕" pitchFamily="50" charset="-127"/>
              </a:rPr>
              <a:t>Process to identify the quality standard and process capability status and to manage it so that it can be maintained in a desired state with the help of statistical data and analysis technique</a:t>
            </a:r>
            <a:endParaRPr kumimoji="0" lang="ko-KR" altLang="en-US" sz="2000" b="1" dirty="0">
              <a:solidFill>
                <a:srgbClr val="000000"/>
              </a:solidFill>
              <a:latin typeface="맑은 고딕" pitchFamily="50" charset="-127"/>
              <a:ea typeface="맑은 고딕" pitchFamily="50" charset="-127"/>
            </a:endParaRPr>
          </a:p>
        </p:txBody>
      </p:sp>
      <p:sp>
        <p:nvSpPr>
          <p:cNvPr id="18" name="Text Box 10"/>
          <p:cNvSpPr txBox="1">
            <a:spLocks noChangeArrowheads="1"/>
          </p:cNvSpPr>
          <p:nvPr/>
        </p:nvSpPr>
        <p:spPr bwMode="auto">
          <a:xfrm>
            <a:off x="2214546" y="3894849"/>
            <a:ext cx="5204217" cy="4000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2000" b="1" dirty="0">
                <a:solidFill>
                  <a:prstClr val="black"/>
                </a:solidFill>
                <a:latin typeface="맑은 고딕"/>
                <a:ea typeface="맑은 고딕"/>
              </a:rPr>
              <a:t>Statistical process control (SPC) progress</a:t>
            </a:r>
            <a:endParaRPr lang="ko-KR" altLang="en-US" sz="1600" b="1" dirty="0">
              <a:solidFill>
                <a:prstClr val="black"/>
              </a:solidFill>
              <a:latin typeface="맑은 고딕"/>
              <a:ea typeface="맑은 고딕"/>
            </a:endParaRPr>
          </a:p>
        </p:txBody>
      </p:sp>
      <p:sp>
        <p:nvSpPr>
          <p:cNvPr id="6" name="TextBox 5"/>
          <p:cNvSpPr txBox="1"/>
          <p:nvPr/>
        </p:nvSpPr>
        <p:spPr>
          <a:xfrm>
            <a:off x="1357290" y="4902960"/>
            <a:ext cx="2068195"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1.  Process settings</a:t>
            </a:r>
            <a:endParaRPr kumimoji="1" lang="ko-KR" altLang="en-US" sz="1600" b="1" dirty="0">
              <a:solidFill>
                <a:prstClr val="black"/>
              </a:solidFill>
              <a:latin typeface="굴림" pitchFamily="50" charset="-127"/>
              <a:ea typeface="굴림" pitchFamily="50" charset="-127"/>
            </a:endParaRPr>
          </a:p>
        </p:txBody>
      </p:sp>
      <p:sp>
        <p:nvSpPr>
          <p:cNvPr id="19" name="TextBox 18"/>
          <p:cNvSpPr txBox="1"/>
          <p:nvPr/>
        </p:nvSpPr>
        <p:spPr>
          <a:xfrm>
            <a:off x="1357290" y="5315382"/>
            <a:ext cx="286649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2.  Stable process operation</a:t>
            </a:r>
            <a:endParaRPr kumimoji="1" lang="ko-KR" altLang="en-US" sz="1600" b="1" dirty="0">
              <a:solidFill>
                <a:prstClr val="black"/>
              </a:solidFill>
              <a:latin typeface="굴림" pitchFamily="50" charset="-127"/>
              <a:ea typeface="굴림" pitchFamily="50" charset="-127"/>
            </a:endParaRPr>
          </a:p>
        </p:txBody>
      </p:sp>
      <p:sp>
        <p:nvSpPr>
          <p:cNvPr id="20" name="TextBox 19"/>
          <p:cNvSpPr txBox="1"/>
          <p:nvPr/>
        </p:nvSpPr>
        <p:spPr>
          <a:xfrm>
            <a:off x="1357290" y="5747430"/>
            <a:ext cx="2922595" cy="68736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3.  If an abnormality occurs, </a:t>
            </a:r>
          </a:p>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     the cause should derived</a:t>
            </a:r>
            <a:endParaRPr kumimoji="1" lang="ko-KR" altLang="en-US" sz="1600" b="1" dirty="0">
              <a:solidFill>
                <a:prstClr val="black"/>
              </a:solidFill>
              <a:latin typeface="굴림" pitchFamily="50" charset="-127"/>
              <a:ea typeface="굴림" pitchFamily="50" charset="-127"/>
            </a:endParaRPr>
          </a:p>
        </p:txBody>
      </p:sp>
      <p:sp>
        <p:nvSpPr>
          <p:cNvPr id="21" name="TextBox 20"/>
          <p:cNvSpPr txBox="1"/>
          <p:nvPr/>
        </p:nvSpPr>
        <p:spPr>
          <a:xfrm>
            <a:off x="1357290" y="6374165"/>
            <a:ext cx="2446504"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4.  Improvement activity</a:t>
            </a:r>
            <a:endParaRPr kumimoji="1" lang="ko-KR" altLang="en-US" sz="1600" b="1" dirty="0">
              <a:solidFill>
                <a:prstClr val="black"/>
              </a:solidFill>
              <a:latin typeface="굴림" pitchFamily="50" charset="-127"/>
              <a:ea typeface="굴림" pitchFamily="50" charset="-127"/>
            </a:endParaRPr>
          </a:p>
        </p:txBody>
      </p:sp>
      <p:sp>
        <p:nvSpPr>
          <p:cNvPr id="22" name="TextBox 21"/>
          <p:cNvSpPr txBox="1"/>
          <p:nvPr/>
        </p:nvSpPr>
        <p:spPr>
          <a:xfrm>
            <a:off x="4771407" y="4902961"/>
            <a:ext cx="167385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DFMEA, PFMEA</a:t>
            </a:r>
            <a:endParaRPr kumimoji="1" lang="ko-KR" altLang="en-US" sz="1600" b="1" dirty="0">
              <a:solidFill>
                <a:prstClr val="black"/>
              </a:solidFill>
              <a:latin typeface="굴림" pitchFamily="50" charset="-127"/>
              <a:ea typeface="굴림" pitchFamily="50" charset="-127"/>
            </a:endParaRPr>
          </a:p>
        </p:txBody>
      </p:sp>
      <p:sp>
        <p:nvSpPr>
          <p:cNvPr id="23" name="TextBox 22"/>
          <p:cNvSpPr txBox="1"/>
          <p:nvPr/>
        </p:nvSpPr>
        <p:spPr>
          <a:xfrm>
            <a:off x="4771407" y="5315382"/>
            <a:ext cx="4259499"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control chart, Process capability evaluation</a:t>
            </a:r>
            <a:endParaRPr kumimoji="1" lang="ko-KR" altLang="en-US" sz="1600" b="1" dirty="0">
              <a:solidFill>
                <a:prstClr val="black"/>
              </a:solidFill>
              <a:latin typeface="굴림" pitchFamily="50" charset="-127"/>
              <a:ea typeface="굴림" pitchFamily="50" charset="-127"/>
            </a:endParaRPr>
          </a:p>
        </p:txBody>
      </p:sp>
      <p:sp>
        <p:nvSpPr>
          <p:cNvPr id="24" name="TextBox 23"/>
          <p:cNvSpPr txBox="1"/>
          <p:nvPr/>
        </p:nvSpPr>
        <p:spPr>
          <a:xfrm>
            <a:off x="4771407" y="5919240"/>
            <a:ext cx="1645002"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Hypothesis test</a:t>
            </a:r>
            <a:endParaRPr kumimoji="1" lang="ko-KR" altLang="en-US" sz="1600" b="1" dirty="0">
              <a:solidFill>
                <a:prstClr val="black"/>
              </a:solidFill>
              <a:latin typeface="굴림" pitchFamily="50" charset="-127"/>
              <a:ea typeface="굴림" pitchFamily="50" charset="-127"/>
            </a:endParaRPr>
          </a:p>
        </p:txBody>
      </p:sp>
      <p:sp>
        <p:nvSpPr>
          <p:cNvPr id="25" name="TextBox 24"/>
          <p:cNvSpPr txBox="1"/>
          <p:nvPr/>
        </p:nvSpPr>
        <p:spPr>
          <a:xfrm>
            <a:off x="4771407" y="6419306"/>
            <a:ext cx="1697901"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Experiment plan</a:t>
            </a:r>
            <a:endParaRPr kumimoji="1" lang="ko-KR" altLang="en-US" sz="1600" b="1" dirty="0">
              <a:solidFill>
                <a:prstClr val="black"/>
              </a:solidFill>
              <a:latin typeface="굴림" pitchFamily="50" charset="-127"/>
              <a:ea typeface="굴림" pitchFamily="50" charset="-127"/>
            </a:endParaRPr>
          </a:p>
        </p:txBody>
      </p:sp>
      <p:sp>
        <p:nvSpPr>
          <p:cNvPr id="26" name="TextBox 25"/>
          <p:cNvSpPr txBox="1"/>
          <p:nvPr/>
        </p:nvSpPr>
        <p:spPr>
          <a:xfrm>
            <a:off x="1861285" y="4470912"/>
            <a:ext cx="710451"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dirty="0">
                <a:solidFill>
                  <a:prstClr val="black"/>
                </a:solidFill>
                <a:latin typeface="굴림" pitchFamily="50" charset="-127"/>
                <a:ea typeface="굴림" pitchFamily="50" charset="-127"/>
              </a:rPr>
              <a:t>Order</a:t>
            </a:r>
            <a:endParaRPr kumimoji="1" lang="ko-KR" altLang="en-US" sz="1600" b="1" u="sng" dirty="0">
              <a:solidFill>
                <a:prstClr val="black"/>
              </a:solidFill>
              <a:latin typeface="굴림" pitchFamily="50" charset="-127"/>
              <a:ea typeface="굴림" pitchFamily="50" charset="-127"/>
            </a:endParaRPr>
          </a:p>
        </p:txBody>
      </p:sp>
      <p:sp>
        <p:nvSpPr>
          <p:cNvPr id="27" name="TextBox 26"/>
          <p:cNvSpPr txBox="1"/>
          <p:nvPr/>
        </p:nvSpPr>
        <p:spPr>
          <a:xfrm>
            <a:off x="5072066" y="4470912"/>
            <a:ext cx="1101584"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dirty="0">
                <a:solidFill>
                  <a:prstClr val="black"/>
                </a:solidFill>
                <a:latin typeface="굴림" pitchFamily="50" charset="-127"/>
                <a:ea typeface="굴림" pitchFamily="50" charset="-127"/>
              </a:rPr>
              <a:t>Main</a:t>
            </a:r>
            <a:r>
              <a:rPr kumimoji="1" lang="ko-KR" altLang="en-US" sz="1600" b="1" u="sng" dirty="0">
                <a:solidFill>
                  <a:prstClr val="black"/>
                </a:solidFill>
                <a:latin typeface="굴림" pitchFamily="50" charset="-127"/>
                <a:ea typeface="굴림" pitchFamily="50" charset="-127"/>
              </a:rPr>
              <a:t> </a:t>
            </a:r>
            <a:r>
              <a:rPr kumimoji="1" lang="en-US" altLang="ko-KR" sz="1600" b="1" u="sng" dirty="0">
                <a:solidFill>
                  <a:prstClr val="black"/>
                </a:solidFill>
                <a:latin typeface="굴림" pitchFamily="50" charset="-127"/>
                <a:ea typeface="굴림" pitchFamily="50" charset="-127"/>
              </a:rPr>
              <a:t>Tool</a:t>
            </a:r>
            <a:endParaRPr kumimoji="1" lang="ko-KR" altLang="en-US" sz="1600" b="1" u="sng" dirty="0">
              <a:solidFill>
                <a:prstClr val="black"/>
              </a:solidFill>
              <a:latin typeface="굴림" pitchFamily="50" charset="-127"/>
              <a:ea typeface="굴림" pitchFamily="50" charset="-127"/>
            </a:endParaRPr>
          </a:p>
        </p:txBody>
      </p:sp>
      <p:sp>
        <p:nvSpPr>
          <p:cNvPr id="28"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252</a:t>
            </a:fld>
            <a:endParaRPr lang="ko-KR" altLang="en-US" sz="1200" dirty="0">
              <a:solidFill>
                <a:prstClr val="black"/>
              </a:solidFill>
            </a:endParaRPr>
          </a:p>
        </p:txBody>
      </p:sp>
    </p:spTree>
    <p:extLst>
      <p:ext uri="{BB962C8B-B14F-4D97-AF65-F5344CB8AC3E}">
        <p14:creationId xmlns:p14="http://schemas.microsoft.com/office/powerpoint/2010/main" val="1196900824"/>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517396" y="1042129"/>
            <a:ext cx="4016484" cy="596317"/>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latin typeface="+mn-lt"/>
              </a:rPr>
              <a:t>1.  </a:t>
            </a:r>
            <a:r>
              <a:rPr lang="en-US" sz="1600" dirty="0"/>
              <a:t>The Importance of Process Stability</a:t>
            </a:r>
            <a:endParaRPr lang="en-US" altLang="ko-KR" sz="1600" dirty="0">
              <a:latin typeface="+mn-lt"/>
            </a:endParaRPr>
          </a:p>
          <a:p>
            <a:pPr fontAlgn="base">
              <a:spcBef>
                <a:spcPct val="0"/>
              </a:spcBef>
              <a:spcAft>
                <a:spcPct val="0"/>
              </a:spcAft>
              <a:defRPr/>
            </a:pPr>
            <a:r>
              <a:rPr lang="en-US" altLang="ko-KR" sz="1600" dirty="0">
                <a:latin typeface="+mn-lt"/>
              </a:rPr>
              <a:t>   </a:t>
            </a:r>
          </a:p>
        </p:txBody>
      </p:sp>
      <p:sp>
        <p:nvSpPr>
          <p:cNvPr id="12"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
        <p:nvSpPr>
          <p:cNvPr id="3" name="직사각형 2"/>
          <p:cNvSpPr/>
          <p:nvPr/>
        </p:nvSpPr>
        <p:spPr>
          <a:xfrm>
            <a:off x="831767" y="1515330"/>
            <a:ext cx="7378050" cy="697179"/>
          </a:xfrm>
          <a:prstGeom prst="rect">
            <a:avLst/>
          </a:prstGeom>
        </p:spPr>
        <p:txBody>
          <a:bodyPr wrap="square">
            <a:spAutoFit/>
          </a:bodyPr>
          <a:lstStyle/>
          <a:p>
            <a:pPr fontAlgn="base">
              <a:lnSpc>
                <a:spcPct val="130000"/>
              </a:lnSpc>
              <a:spcBef>
                <a:spcPct val="0"/>
              </a:spcBef>
              <a:spcAft>
                <a:spcPct val="0"/>
              </a:spcAft>
              <a:defRPr/>
            </a:pPr>
            <a:r>
              <a:rPr kumimoji="1" lang="en-US" altLang="ko-KR" sz="1600" b="1" dirty="0">
                <a:solidFill>
                  <a:prstClr val="black"/>
                </a:solidFill>
                <a:ea typeface="굴림" pitchFamily="50" charset="-127"/>
              </a:rPr>
              <a:t>- Process capability is to predict the output of the process in the future </a:t>
            </a:r>
          </a:p>
          <a:p>
            <a:pPr fontAlgn="base">
              <a:lnSpc>
                <a:spcPct val="130000"/>
              </a:lnSpc>
              <a:spcBef>
                <a:spcPct val="0"/>
              </a:spcBef>
              <a:spcAft>
                <a:spcPct val="0"/>
              </a:spcAft>
              <a:defRPr/>
            </a:pPr>
            <a:r>
              <a:rPr kumimoji="1" lang="en-US" altLang="ko-KR" sz="1600" b="1" dirty="0">
                <a:solidFill>
                  <a:prstClr val="black"/>
                </a:solidFill>
                <a:ea typeface="굴림" pitchFamily="50" charset="-127"/>
              </a:rPr>
              <a:t>  and </a:t>
            </a:r>
            <a:r>
              <a:rPr kumimoji="1" lang="en-US" altLang="ko-KR" sz="1600" b="1" dirty="0">
                <a:solidFill>
                  <a:srgbClr val="FF0000"/>
                </a:solidFill>
                <a:ea typeface="굴림" pitchFamily="50" charset="-127"/>
              </a:rPr>
              <a:t>the process must be stable to predict process capability</a:t>
            </a:r>
          </a:p>
        </p:txBody>
      </p:sp>
      <p:sp>
        <p:nvSpPr>
          <p:cNvPr id="7" name="직사각형 6"/>
          <p:cNvSpPr/>
          <p:nvPr/>
        </p:nvSpPr>
        <p:spPr>
          <a:xfrm>
            <a:off x="831767" y="2276872"/>
            <a:ext cx="7378050" cy="338554"/>
          </a:xfrm>
          <a:prstGeom prst="rect">
            <a:avLst/>
          </a:prstGeom>
        </p:spPr>
        <p:txBody>
          <a:bodyPr wrap="square">
            <a:spAutoFit/>
          </a:bodyPr>
          <a:lstStyle/>
          <a:p>
            <a:pPr fontAlgn="base">
              <a:spcBef>
                <a:spcPct val="0"/>
              </a:spcBef>
              <a:spcAft>
                <a:spcPct val="0"/>
              </a:spcAft>
              <a:defRPr/>
            </a:pPr>
            <a:r>
              <a:rPr kumimoji="1" lang="en-US" altLang="ko-KR" sz="1600" b="1" dirty="0">
                <a:solidFill>
                  <a:prstClr val="black"/>
                </a:solidFill>
                <a:ea typeface="굴림" pitchFamily="50" charset="-127"/>
              </a:rPr>
              <a:t>- The process is not stable ...</a:t>
            </a:r>
          </a:p>
        </p:txBody>
      </p:sp>
      <p:sp>
        <p:nvSpPr>
          <p:cNvPr id="2" name="TextBox 1"/>
          <p:cNvSpPr txBox="1"/>
          <p:nvPr/>
        </p:nvSpPr>
        <p:spPr>
          <a:xfrm>
            <a:off x="998105" y="2551025"/>
            <a:ext cx="7788738" cy="732508"/>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ea typeface="굴림" pitchFamily="50" charset="-127"/>
              </a:rPr>
              <a:t>It means stop of production line due to equipment failure, jig breakage, mixing of materials, defective, etc.</a:t>
            </a:r>
            <a:endParaRPr kumimoji="1" lang="ko-KR" altLang="en-US" sz="1600" b="1" dirty="0">
              <a:solidFill>
                <a:prstClr val="black"/>
              </a:solidFill>
              <a:ea typeface="굴림" pitchFamily="50" charset="-127"/>
            </a:endParaRPr>
          </a:p>
        </p:txBody>
      </p:sp>
      <p:sp>
        <p:nvSpPr>
          <p:cNvPr id="1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253</a:t>
            </a:fld>
            <a:endParaRPr lang="ko-KR" altLang="en-US" sz="1200" dirty="0">
              <a:solidFill>
                <a:prstClr val="black"/>
              </a:solidFill>
            </a:endParaRPr>
          </a:p>
        </p:txBody>
      </p:sp>
      <p:sp>
        <p:nvSpPr>
          <p:cNvPr id="13" name="Text Box 3"/>
          <p:cNvSpPr txBox="1">
            <a:spLocks noChangeArrowheads="1"/>
          </p:cNvSpPr>
          <p:nvPr/>
        </p:nvSpPr>
        <p:spPr bwMode="auto">
          <a:xfrm>
            <a:off x="517396" y="3272556"/>
            <a:ext cx="2675348" cy="350096"/>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latin typeface="+mn-lt"/>
              </a:rPr>
              <a:t>2.  The process is stable..</a:t>
            </a:r>
          </a:p>
        </p:txBody>
      </p:sp>
      <p:sp>
        <p:nvSpPr>
          <p:cNvPr id="14" name="Rectangle 3"/>
          <p:cNvSpPr>
            <a:spLocks noChangeArrowheads="1"/>
          </p:cNvSpPr>
          <p:nvPr/>
        </p:nvSpPr>
        <p:spPr bwMode="auto">
          <a:xfrm>
            <a:off x="831767" y="3714687"/>
            <a:ext cx="8097951" cy="697821"/>
          </a:xfrm>
          <a:prstGeom prst="rect">
            <a:avLst/>
          </a:prstGeom>
          <a:noFill/>
          <a:ln>
            <a:noFill/>
          </a:ln>
          <a:effectLst/>
        </p:spPr>
        <p:txBody>
          <a:bodyPr wrap="square" lIns="92075" tIns="46038" rIns="92075" bIns="46038">
            <a:spAutoFit/>
          </a:bodyPr>
          <a:lstStyle>
            <a:lvl1pPr defTabSz="762000" latinLnBrk="1">
              <a:defRPr kumimoji="1" sz="2400">
                <a:solidFill>
                  <a:schemeClr val="tx1"/>
                </a:solidFill>
                <a:latin typeface="Times New Roman" pitchFamily="18" charset="0"/>
                <a:ea typeface="굴림" pitchFamily="50" charset="-127"/>
              </a:defRPr>
            </a:lvl1pPr>
            <a:lvl2pPr marL="571500" defTabSz="762000" latinLnBrk="1">
              <a:defRPr kumimoji="1" sz="2400">
                <a:solidFill>
                  <a:schemeClr val="tx1"/>
                </a:solidFill>
                <a:latin typeface="Times New Roman" pitchFamily="18" charset="0"/>
                <a:ea typeface="굴림" pitchFamily="50" charset="-127"/>
              </a:defRPr>
            </a:lvl2pPr>
            <a:lvl3pPr marL="1143000" defTabSz="762000" latinLnBrk="1">
              <a:defRPr kumimoji="1" sz="2400">
                <a:solidFill>
                  <a:schemeClr val="tx1"/>
                </a:solidFill>
                <a:latin typeface="Times New Roman" pitchFamily="18" charset="0"/>
                <a:ea typeface="굴림" pitchFamily="50" charset="-127"/>
              </a:defRPr>
            </a:lvl3pPr>
            <a:lvl4pPr marL="1714500" defTabSz="762000" latinLnBrk="1">
              <a:defRPr kumimoji="1" sz="2400">
                <a:solidFill>
                  <a:schemeClr val="tx1"/>
                </a:solidFill>
                <a:latin typeface="Times New Roman" pitchFamily="18" charset="0"/>
                <a:ea typeface="굴림" pitchFamily="50" charset="-127"/>
              </a:defRPr>
            </a:lvl4pPr>
            <a:lvl5pPr marL="2286000" defTabSz="762000" latinLnBrk="1">
              <a:defRPr kumimoji="1" sz="2400">
                <a:solidFill>
                  <a:schemeClr val="tx1"/>
                </a:solidFill>
                <a:latin typeface="Times New Roman" pitchFamily="18" charset="0"/>
                <a:ea typeface="굴림" pitchFamily="50" charset="-127"/>
              </a:defRPr>
            </a:lvl5pPr>
            <a:lvl6pPr marL="2743200" defTabSz="762000" fontAlgn="base">
              <a:spcBef>
                <a:spcPct val="0"/>
              </a:spcBef>
              <a:spcAft>
                <a:spcPct val="0"/>
              </a:spcAft>
              <a:defRPr kumimoji="1" sz="2400">
                <a:solidFill>
                  <a:schemeClr val="tx1"/>
                </a:solidFill>
                <a:latin typeface="Times New Roman" pitchFamily="18" charset="0"/>
                <a:ea typeface="굴림" pitchFamily="50" charset="-127"/>
              </a:defRPr>
            </a:lvl6pPr>
            <a:lvl7pPr marL="3200400" defTabSz="762000" fontAlgn="base">
              <a:spcBef>
                <a:spcPct val="0"/>
              </a:spcBef>
              <a:spcAft>
                <a:spcPct val="0"/>
              </a:spcAft>
              <a:defRPr kumimoji="1" sz="2400">
                <a:solidFill>
                  <a:schemeClr val="tx1"/>
                </a:solidFill>
                <a:latin typeface="Times New Roman" pitchFamily="18" charset="0"/>
                <a:ea typeface="굴림" pitchFamily="50" charset="-127"/>
              </a:defRPr>
            </a:lvl7pPr>
            <a:lvl8pPr marL="3657600" defTabSz="762000" fontAlgn="base">
              <a:spcBef>
                <a:spcPct val="0"/>
              </a:spcBef>
              <a:spcAft>
                <a:spcPct val="0"/>
              </a:spcAft>
              <a:defRPr kumimoji="1" sz="2400">
                <a:solidFill>
                  <a:schemeClr val="tx1"/>
                </a:solidFill>
                <a:latin typeface="Times New Roman" pitchFamily="18" charset="0"/>
                <a:ea typeface="굴림" pitchFamily="50" charset="-127"/>
              </a:defRPr>
            </a:lvl8pPr>
            <a:lvl9pPr marL="4114800" defTabSz="762000" fontAlgn="base">
              <a:spcBef>
                <a:spcPct val="0"/>
              </a:spcBef>
              <a:spcAft>
                <a:spcPct val="0"/>
              </a:spcAft>
              <a:defRPr kumimoji="1" sz="2400">
                <a:solidFill>
                  <a:schemeClr val="tx1"/>
                </a:solidFill>
                <a:latin typeface="Times New Roman" pitchFamily="18" charset="0"/>
                <a:ea typeface="굴림" pitchFamily="50" charset="-127"/>
              </a:defRPr>
            </a:lvl9pPr>
          </a:lstStyle>
          <a:p>
            <a:pPr fontAlgn="base" latinLnBrk="0">
              <a:lnSpc>
                <a:spcPct val="130000"/>
              </a:lnSpc>
              <a:spcBef>
                <a:spcPct val="0"/>
              </a:spcBef>
              <a:spcAft>
                <a:spcPct val="0"/>
              </a:spcAft>
            </a:pPr>
            <a:r>
              <a:rPr lang="en-US" altLang="ko-KR" sz="1600" b="1" dirty="0">
                <a:solidFill>
                  <a:prstClr val="black"/>
                </a:solidFill>
                <a:latin typeface="+mn-lt"/>
                <a:ea typeface="돋움" pitchFamily="50" charset="-127"/>
              </a:rPr>
              <a:t>-  Defines that </a:t>
            </a:r>
            <a:r>
              <a:rPr lang="en-US" altLang="ko-KR" sz="1600" b="1" dirty="0">
                <a:solidFill>
                  <a:srgbClr val="FF0000"/>
                </a:solidFill>
                <a:latin typeface="+mn-lt"/>
                <a:ea typeface="돋움" pitchFamily="50" charset="-127"/>
              </a:rPr>
              <a:t>the process is in a stable</a:t>
            </a:r>
            <a:r>
              <a:rPr lang="en-US" altLang="ko-KR" sz="1600" b="1" dirty="0">
                <a:solidFill>
                  <a:prstClr val="black"/>
                </a:solidFill>
                <a:latin typeface="+mn-lt"/>
                <a:ea typeface="돋움" pitchFamily="50" charset="-127"/>
              </a:rPr>
              <a:t> state when the output of </a:t>
            </a:r>
            <a:r>
              <a:rPr lang="en-US" altLang="ko-KR" sz="1600" b="1" dirty="0">
                <a:solidFill>
                  <a:srgbClr val="FF0000"/>
                </a:solidFill>
                <a:latin typeface="+mn-lt"/>
                <a:ea typeface="돋움" pitchFamily="50" charset="-127"/>
              </a:rPr>
              <a:t>the process is    </a:t>
            </a:r>
          </a:p>
          <a:p>
            <a:pPr fontAlgn="base" latinLnBrk="0">
              <a:lnSpc>
                <a:spcPct val="130000"/>
              </a:lnSpc>
              <a:spcBef>
                <a:spcPct val="0"/>
              </a:spcBef>
              <a:spcAft>
                <a:spcPct val="0"/>
              </a:spcAft>
            </a:pPr>
            <a:r>
              <a:rPr lang="en-US" altLang="ko-KR" sz="1600" b="1" dirty="0">
                <a:solidFill>
                  <a:srgbClr val="FF0000"/>
                </a:solidFill>
                <a:latin typeface="+mn-lt"/>
                <a:ea typeface="돋움" pitchFamily="50" charset="-127"/>
              </a:rPr>
              <a:t>   constructed only as a cause of chance.</a:t>
            </a:r>
          </a:p>
        </p:txBody>
      </p:sp>
      <p:sp>
        <p:nvSpPr>
          <p:cNvPr id="4" name="직사각형 3"/>
          <p:cNvSpPr/>
          <p:nvPr/>
        </p:nvSpPr>
        <p:spPr>
          <a:xfrm>
            <a:off x="831767" y="5376800"/>
            <a:ext cx="8280920" cy="1052596"/>
          </a:xfrm>
          <a:prstGeom prst="rect">
            <a:avLst/>
          </a:prstGeom>
        </p:spPr>
        <p:txBody>
          <a:bodyPr wrap="square">
            <a:spAutoFit/>
          </a:bodyPr>
          <a:lstStyle/>
          <a:p>
            <a:pPr fontAlgn="base" latinLnBrk="0">
              <a:lnSpc>
                <a:spcPct val="130000"/>
              </a:lnSpc>
              <a:spcBef>
                <a:spcPct val="0"/>
              </a:spcBef>
              <a:spcAft>
                <a:spcPct val="0"/>
              </a:spcAft>
            </a:pPr>
            <a:r>
              <a:rPr lang="en-US" altLang="ko-KR" sz="1600" b="1" dirty="0">
                <a:solidFill>
                  <a:prstClr val="black"/>
                </a:solidFill>
                <a:ea typeface="돋움" pitchFamily="50" charset="-127"/>
              </a:rPr>
              <a:t>- If there is a point out of the control limit line on the control chart, or if the </a:t>
            </a:r>
          </a:p>
          <a:p>
            <a:pPr fontAlgn="base" latinLnBrk="0">
              <a:lnSpc>
                <a:spcPct val="130000"/>
              </a:lnSpc>
              <a:spcBef>
                <a:spcPct val="0"/>
              </a:spcBef>
              <a:spcAft>
                <a:spcPct val="0"/>
              </a:spcAft>
            </a:pPr>
            <a:r>
              <a:rPr lang="en-US" altLang="ko-KR" sz="1600" b="1" dirty="0">
                <a:solidFill>
                  <a:prstClr val="black"/>
                </a:solidFill>
                <a:ea typeface="돋움" pitchFamily="50" charset="-127"/>
              </a:rPr>
              <a:t>  distribution of data values is not randomly distributed, that is, if there is any   </a:t>
            </a:r>
          </a:p>
          <a:p>
            <a:pPr fontAlgn="base" latinLnBrk="0">
              <a:lnSpc>
                <a:spcPct val="130000"/>
              </a:lnSpc>
              <a:spcBef>
                <a:spcPct val="0"/>
              </a:spcBef>
              <a:spcAft>
                <a:spcPct val="0"/>
              </a:spcAft>
            </a:pPr>
            <a:r>
              <a:rPr lang="en-US" altLang="ko-KR" sz="1600" b="1" dirty="0">
                <a:solidFill>
                  <a:prstClr val="black"/>
                </a:solidFill>
                <a:ea typeface="돋움" pitchFamily="50" charset="-127"/>
              </a:rPr>
              <a:t>  tendency, it can be said that there is a strong assignable cause.</a:t>
            </a:r>
          </a:p>
        </p:txBody>
      </p:sp>
      <p:sp>
        <p:nvSpPr>
          <p:cNvPr id="5" name="직사각형 4"/>
          <p:cNvSpPr/>
          <p:nvPr/>
        </p:nvSpPr>
        <p:spPr>
          <a:xfrm>
            <a:off x="831767" y="4392432"/>
            <a:ext cx="8316416" cy="1052596"/>
          </a:xfrm>
          <a:prstGeom prst="rect">
            <a:avLst/>
          </a:prstGeom>
        </p:spPr>
        <p:txBody>
          <a:bodyPr wrap="square">
            <a:spAutoFit/>
          </a:bodyPr>
          <a:lstStyle/>
          <a:p>
            <a:pPr lvl="0" fontAlgn="base" latinLnBrk="0">
              <a:lnSpc>
                <a:spcPct val="130000"/>
              </a:lnSpc>
              <a:spcBef>
                <a:spcPct val="0"/>
              </a:spcBef>
              <a:spcAft>
                <a:spcPct val="0"/>
              </a:spcAft>
            </a:pPr>
            <a:r>
              <a:rPr lang="en-US" altLang="ko-KR" sz="1600" b="1" dirty="0">
                <a:solidFill>
                  <a:prstClr val="black"/>
                </a:solidFill>
                <a:ea typeface="돋움" pitchFamily="50" charset="-127"/>
              </a:rPr>
              <a:t>- Stability means that the mean value and range of all subgroups are all within the </a:t>
            </a:r>
          </a:p>
          <a:p>
            <a:pPr lvl="0" fontAlgn="base" latinLnBrk="0">
              <a:lnSpc>
                <a:spcPct val="130000"/>
              </a:lnSpc>
              <a:spcBef>
                <a:spcPct val="0"/>
              </a:spcBef>
              <a:spcAft>
                <a:spcPct val="0"/>
              </a:spcAft>
            </a:pPr>
            <a:r>
              <a:rPr lang="en-US" altLang="ko-KR" sz="1600" b="1" dirty="0">
                <a:solidFill>
                  <a:prstClr val="black"/>
                </a:solidFill>
                <a:ea typeface="돋움" pitchFamily="50" charset="-127"/>
              </a:rPr>
              <a:t>  UCL &amp; LCL and there is no evidence that the generated variation is the  </a:t>
            </a:r>
          </a:p>
          <a:p>
            <a:pPr lvl="0" fontAlgn="base" latinLnBrk="0">
              <a:lnSpc>
                <a:spcPct val="130000"/>
              </a:lnSpc>
              <a:spcBef>
                <a:spcPct val="0"/>
              </a:spcBef>
              <a:spcAft>
                <a:spcPct val="0"/>
              </a:spcAft>
            </a:pPr>
            <a:r>
              <a:rPr lang="en-US" altLang="ko-KR" sz="1600" b="1" dirty="0">
                <a:solidFill>
                  <a:prstClr val="black"/>
                </a:solidFill>
                <a:ea typeface="돋움" pitchFamily="50" charset="-127"/>
              </a:rPr>
              <a:t>  assignable cause.</a:t>
            </a:r>
          </a:p>
        </p:txBody>
      </p:sp>
    </p:spTree>
    <p:extLst>
      <p:ext uri="{BB962C8B-B14F-4D97-AF65-F5344CB8AC3E}">
        <p14:creationId xmlns:p14="http://schemas.microsoft.com/office/powerpoint/2010/main" val="240643631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p:cNvSpPr/>
          <p:nvPr/>
        </p:nvSpPr>
        <p:spPr>
          <a:xfrm>
            <a:off x="609600" y="1524000"/>
            <a:ext cx="8153399" cy="17526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2" name="Text Box 39"/>
          <p:cNvSpPr txBox="1">
            <a:spLocks noChangeArrowheads="1"/>
          </p:cNvSpPr>
          <p:nvPr/>
        </p:nvSpPr>
        <p:spPr bwMode="auto">
          <a:xfrm>
            <a:off x="127732" y="76562"/>
            <a:ext cx="4456285"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a:t>
            </a:r>
            <a:r>
              <a:rPr kumimoji="1" lang="en-US" altLang="ko-KR" sz="2000" b="1">
                <a:solidFill>
                  <a:prstClr val="black"/>
                </a:solidFill>
              </a:rPr>
              <a:t>. Tính cần thiết của đồ thị quản lí</a:t>
            </a:r>
            <a:endParaRPr kumimoji="1" lang="en-US" altLang="ko-KR" sz="2000" b="1" dirty="0">
              <a:solidFill>
                <a:prstClr val="black"/>
              </a:solidFill>
            </a:endParaRPr>
          </a:p>
        </p:txBody>
      </p:sp>
      <p:sp>
        <p:nvSpPr>
          <p:cNvPr id="16" name="Text Box 10"/>
          <p:cNvSpPr txBox="1">
            <a:spLocks noChangeArrowheads="1"/>
          </p:cNvSpPr>
          <p:nvPr/>
        </p:nvSpPr>
        <p:spPr bwMode="auto">
          <a:xfrm>
            <a:off x="1828800" y="980731"/>
            <a:ext cx="5764820" cy="4000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2000" b="1">
                <a:solidFill>
                  <a:prstClr val="black"/>
                </a:solidFill>
                <a:latin typeface="맑은 고딕"/>
                <a:ea typeface="맑은 고딕"/>
              </a:rPr>
              <a:t>Định nghĩa về quản lí process thống kê</a:t>
            </a:r>
            <a:r>
              <a:rPr lang="ko-KR" altLang="en-US" sz="2000" b="1">
                <a:solidFill>
                  <a:prstClr val="black"/>
                </a:solidFill>
                <a:latin typeface="맑은 고딕"/>
                <a:ea typeface="맑은 고딕"/>
              </a:rPr>
              <a:t> </a:t>
            </a:r>
            <a:r>
              <a:rPr lang="en-US" altLang="ko-KR" sz="2000" b="1">
                <a:solidFill>
                  <a:prstClr val="black"/>
                </a:solidFill>
                <a:latin typeface="맑은 고딕"/>
                <a:ea typeface="맑은 고딕"/>
              </a:rPr>
              <a:t>(SPC)</a:t>
            </a:r>
            <a:endParaRPr lang="ko-KR" altLang="en-US" sz="1600" b="1" dirty="0">
              <a:solidFill>
                <a:prstClr val="black"/>
              </a:solidFill>
              <a:latin typeface="맑은 고딕"/>
              <a:ea typeface="맑은 고딕"/>
            </a:endParaRPr>
          </a:p>
        </p:txBody>
      </p:sp>
      <p:sp>
        <p:nvSpPr>
          <p:cNvPr id="17" name="Text Box 10"/>
          <p:cNvSpPr txBox="1">
            <a:spLocks noChangeArrowheads="1"/>
          </p:cNvSpPr>
          <p:nvPr/>
        </p:nvSpPr>
        <p:spPr bwMode="auto">
          <a:xfrm>
            <a:off x="609600" y="1447800"/>
            <a:ext cx="8077200" cy="1815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defTabSz="762000" fontAlgn="base" latinLnBrk="0">
              <a:lnSpc>
                <a:spcPct val="140000"/>
              </a:lnSpc>
              <a:spcBef>
                <a:spcPct val="0"/>
              </a:spcBef>
              <a:spcAft>
                <a:spcPct val="0"/>
              </a:spcAft>
            </a:pPr>
            <a:r>
              <a:rPr kumimoji="0" lang="en-US" altLang="ko-KR" sz="2000" b="1">
                <a:solidFill>
                  <a:srgbClr val="000000"/>
                </a:solidFill>
                <a:latin typeface="맑은 고딕" pitchFamily="50" charset="-127"/>
                <a:ea typeface="맑은 고딕" pitchFamily="50" charset="-127"/>
              </a:rPr>
              <a:t>Nắm bắt quy cách tiêu chuẩn chất lượng sản phẩm và trạng thái năng lực process, sử dụng tài liệu thống kê và phương pháp phân tích, đưa ra phương pháp quản lý để có thể duy trì trạng thái mong muốn</a:t>
            </a:r>
            <a:endParaRPr kumimoji="0" lang="en-US" altLang="ko-KR" sz="2000" b="1" dirty="0">
              <a:solidFill>
                <a:srgbClr val="000000"/>
              </a:solidFill>
              <a:latin typeface="맑은 고딕" pitchFamily="50" charset="-127"/>
              <a:ea typeface="맑은 고딕" pitchFamily="50" charset="-127"/>
            </a:endParaRPr>
          </a:p>
        </p:txBody>
      </p:sp>
      <p:sp>
        <p:nvSpPr>
          <p:cNvPr id="18" name="Text Box 10"/>
          <p:cNvSpPr txBox="1">
            <a:spLocks noChangeArrowheads="1"/>
          </p:cNvSpPr>
          <p:nvPr/>
        </p:nvSpPr>
        <p:spPr bwMode="auto">
          <a:xfrm>
            <a:off x="1981200" y="3501011"/>
            <a:ext cx="5269491" cy="4000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2000" b="1">
                <a:solidFill>
                  <a:prstClr val="black"/>
                </a:solidFill>
                <a:latin typeface="맑은 고딕"/>
                <a:ea typeface="맑은 고딕"/>
              </a:rPr>
              <a:t>Tiến hành quản lí process thống kê</a:t>
            </a:r>
            <a:r>
              <a:rPr lang="ko-KR" altLang="en-US" sz="2000" b="1">
                <a:solidFill>
                  <a:prstClr val="black"/>
                </a:solidFill>
                <a:latin typeface="맑은 고딕"/>
                <a:ea typeface="맑은 고딕"/>
              </a:rPr>
              <a:t> </a:t>
            </a:r>
            <a:r>
              <a:rPr lang="en-US" altLang="ko-KR" sz="2000" b="1">
                <a:solidFill>
                  <a:prstClr val="black"/>
                </a:solidFill>
                <a:latin typeface="맑은 고딕"/>
                <a:ea typeface="맑은 고딕"/>
              </a:rPr>
              <a:t>(SPC)</a:t>
            </a:r>
            <a:endParaRPr lang="ko-KR" altLang="en-US" sz="1600" b="1" dirty="0">
              <a:solidFill>
                <a:prstClr val="black"/>
              </a:solidFill>
              <a:latin typeface="맑은 고딕"/>
              <a:ea typeface="맑은 고딕"/>
            </a:endParaRPr>
          </a:p>
        </p:txBody>
      </p:sp>
      <p:sp>
        <p:nvSpPr>
          <p:cNvPr id="6" name="TextBox 5"/>
          <p:cNvSpPr txBox="1"/>
          <p:nvPr/>
        </p:nvSpPr>
        <p:spPr>
          <a:xfrm>
            <a:off x="609600" y="4343400"/>
            <a:ext cx="2129109"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1</a:t>
            </a:r>
            <a:r>
              <a:rPr kumimoji="1" lang="en-US" altLang="ko-KR" sz="1600" b="1">
                <a:solidFill>
                  <a:prstClr val="black"/>
                </a:solidFill>
                <a:latin typeface="굴림" pitchFamily="50" charset="-127"/>
                <a:ea typeface="굴림" pitchFamily="50" charset="-127"/>
              </a:rPr>
              <a:t>.  Thiết lập process</a:t>
            </a:r>
            <a:endParaRPr kumimoji="1" lang="ko-KR" altLang="en-US" sz="1600" b="1" dirty="0">
              <a:solidFill>
                <a:prstClr val="black"/>
              </a:solidFill>
              <a:latin typeface="굴림" pitchFamily="50" charset="-127"/>
              <a:ea typeface="굴림" pitchFamily="50" charset="-127"/>
            </a:endParaRPr>
          </a:p>
        </p:txBody>
      </p:sp>
      <p:sp>
        <p:nvSpPr>
          <p:cNvPr id="19" name="TextBox 18"/>
          <p:cNvSpPr txBox="1"/>
          <p:nvPr/>
        </p:nvSpPr>
        <p:spPr>
          <a:xfrm>
            <a:off x="609600" y="4724400"/>
            <a:ext cx="3065263"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2</a:t>
            </a:r>
            <a:r>
              <a:rPr kumimoji="1" lang="en-US" altLang="ko-KR" sz="1600" b="1">
                <a:solidFill>
                  <a:prstClr val="black"/>
                </a:solidFill>
                <a:latin typeface="굴림" pitchFamily="50" charset="-127"/>
                <a:ea typeface="굴림" pitchFamily="50" charset="-127"/>
              </a:rPr>
              <a:t>.  Vận hành  process ổn định</a:t>
            </a:r>
            <a:endParaRPr kumimoji="1" lang="ko-KR" altLang="en-US" sz="1600" b="1" dirty="0">
              <a:solidFill>
                <a:prstClr val="black"/>
              </a:solidFill>
              <a:latin typeface="굴림" pitchFamily="50" charset="-127"/>
              <a:ea typeface="굴림" pitchFamily="50" charset="-127"/>
            </a:endParaRPr>
          </a:p>
        </p:txBody>
      </p:sp>
      <p:sp>
        <p:nvSpPr>
          <p:cNvPr id="20" name="TextBox 19"/>
          <p:cNvSpPr txBox="1"/>
          <p:nvPr/>
        </p:nvSpPr>
        <p:spPr>
          <a:xfrm>
            <a:off x="609600" y="5105400"/>
            <a:ext cx="3749744" cy="732508"/>
          </a:xfrm>
          <a:prstGeom prst="rect">
            <a:avLst/>
          </a:prstGeom>
          <a:noFill/>
        </p:spPr>
        <p:txBody>
          <a:bodyPr wrap="none" rtlCol="0">
            <a:spAutoFit/>
          </a:bodyPr>
          <a:lstStyle/>
          <a:p>
            <a:pPr marL="342900" indent="-342900" fontAlgn="base">
              <a:lnSpc>
                <a:spcPct val="130000"/>
              </a:lnSpc>
              <a:spcBef>
                <a:spcPct val="0"/>
              </a:spcBef>
              <a:spcAft>
                <a:spcPct val="0"/>
              </a:spcAft>
              <a:buClr>
                <a:srgbClr val="C5003D"/>
              </a:buClr>
              <a:buAutoNum type="arabicPeriod" startAt="3"/>
            </a:pPr>
            <a:r>
              <a:rPr kumimoji="1" lang="en-US" altLang="ko-KR" sz="1600" b="1">
                <a:solidFill>
                  <a:prstClr val="black"/>
                </a:solidFill>
                <a:latin typeface="굴림" pitchFamily="50" charset="-127"/>
                <a:ea typeface="굴림" pitchFamily="50" charset="-127"/>
              </a:rPr>
              <a:t>Tìm ra nguyên nhân khi phát sinh </a:t>
            </a:r>
          </a:p>
          <a:p>
            <a:pPr marL="342900" indent="-342900" fontAlgn="base">
              <a:lnSpc>
                <a:spcPct val="130000"/>
              </a:lnSpc>
              <a:spcBef>
                <a:spcPct val="0"/>
              </a:spcBef>
              <a:spcAft>
                <a:spcPct val="0"/>
              </a:spcAft>
              <a:buClr>
                <a:srgbClr val="C5003D"/>
              </a:buClr>
            </a:pPr>
            <a:r>
              <a:rPr kumimoji="1" lang="en-US" altLang="ko-KR" sz="1600" b="1">
                <a:solidFill>
                  <a:prstClr val="black"/>
                </a:solidFill>
                <a:latin typeface="굴림" pitchFamily="50" charset="-127"/>
                <a:ea typeface="굴림" pitchFamily="50" charset="-127"/>
              </a:rPr>
              <a:t>những bất hường</a:t>
            </a:r>
            <a:endParaRPr kumimoji="1" lang="ko-KR" altLang="en-US" sz="1600" b="1" dirty="0">
              <a:solidFill>
                <a:prstClr val="black"/>
              </a:solidFill>
              <a:latin typeface="굴림" pitchFamily="50" charset="-127"/>
              <a:ea typeface="굴림" pitchFamily="50" charset="-127"/>
            </a:endParaRPr>
          </a:p>
        </p:txBody>
      </p:sp>
      <p:sp>
        <p:nvSpPr>
          <p:cNvPr id="21" name="TextBox 20"/>
          <p:cNvSpPr txBox="1"/>
          <p:nvPr/>
        </p:nvSpPr>
        <p:spPr>
          <a:xfrm>
            <a:off x="609600" y="5766013"/>
            <a:ext cx="2377574"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4</a:t>
            </a:r>
            <a:r>
              <a:rPr kumimoji="1" lang="en-US" altLang="ko-KR" sz="1600" b="1">
                <a:solidFill>
                  <a:prstClr val="black"/>
                </a:solidFill>
                <a:latin typeface="굴림" pitchFamily="50" charset="-127"/>
                <a:ea typeface="굴림" pitchFamily="50" charset="-127"/>
              </a:rPr>
              <a:t>.  Hoạt động cải thiện</a:t>
            </a:r>
            <a:endParaRPr kumimoji="1" lang="ko-KR" altLang="en-US" sz="1600" b="1" dirty="0">
              <a:solidFill>
                <a:prstClr val="black"/>
              </a:solidFill>
              <a:latin typeface="굴림" pitchFamily="50" charset="-127"/>
              <a:ea typeface="굴림" pitchFamily="50" charset="-127"/>
            </a:endParaRPr>
          </a:p>
        </p:txBody>
      </p:sp>
      <p:sp>
        <p:nvSpPr>
          <p:cNvPr id="22" name="TextBox 21"/>
          <p:cNvSpPr txBox="1"/>
          <p:nvPr/>
        </p:nvSpPr>
        <p:spPr>
          <a:xfrm>
            <a:off x="4771407" y="4509123"/>
            <a:ext cx="167385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DFMEA, PFMEA</a:t>
            </a:r>
            <a:endParaRPr kumimoji="1" lang="ko-KR" altLang="en-US" sz="1600" b="1" dirty="0">
              <a:solidFill>
                <a:prstClr val="black"/>
              </a:solidFill>
              <a:latin typeface="굴림" pitchFamily="50" charset="-127"/>
              <a:ea typeface="굴림" pitchFamily="50" charset="-127"/>
            </a:endParaRPr>
          </a:p>
        </p:txBody>
      </p:sp>
      <p:sp>
        <p:nvSpPr>
          <p:cNvPr id="23" name="TextBox 22"/>
          <p:cNvSpPr txBox="1"/>
          <p:nvPr/>
        </p:nvSpPr>
        <p:spPr>
          <a:xfrm>
            <a:off x="4771407" y="4921544"/>
            <a:ext cx="4217821"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a:solidFill>
                  <a:prstClr val="black"/>
                </a:solidFill>
                <a:latin typeface="굴림" pitchFamily="50" charset="-127"/>
                <a:ea typeface="굴림" pitchFamily="50" charset="-127"/>
              </a:rPr>
              <a:t>Đánh giá đồ thị quản lý, năng lực process</a:t>
            </a:r>
            <a:endParaRPr kumimoji="1" lang="ko-KR" altLang="en-US" sz="1600" b="1" dirty="0">
              <a:solidFill>
                <a:prstClr val="black"/>
              </a:solidFill>
              <a:latin typeface="굴림" pitchFamily="50" charset="-127"/>
              <a:ea typeface="굴림" pitchFamily="50" charset="-127"/>
            </a:endParaRPr>
          </a:p>
        </p:txBody>
      </p:sp>
      <p:sp>
        <p:nvSpPr>
          <p:cNvPr id="24" name="TextBox 23"/>
          <p:cNvSpPr txBox="1"/>
          <p:nvPr/>
        </p:nvSpPr>
        <p:spPr>
          <a:xfrm>
            <a:off x="4771407" y="5353591"/>
            <a:ext cx="2169184"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a:solidFill>
                  <a:prstClr val="black"/>
                </a:solidFill>
                <a:latin typeface="굴림" pitchFamily="50" charset="-127"/>
                <a:ea typeface="굴림" pitchFamily="50" charset="-127"/>
              </a:rPr>
              <a:t>Kiểm chứng giả định</a:t>
            </a:r>
            <a:endParaRPr kumimoji="1" lang="ko-KR" altLang="en-US" sz="1600" b="1" dirty="0">
              <a:solidFill>
                <a:prstClr val="black"/>
              </a:solidFill>
              <a:latin typeface="굴림" pitchFamily="50" charset="-127"/>
              <a:ea typeface="굴림" pitchFamily="50" charset="-127"/>
            </a:endParaRPr>
          </a:p>
        </p:txBody>
      </p:sp>
      <p:sp>
        <p:nvSpPr>
          <p:cNvPr id="25" name="TextBox 24"/>
          <p:cNvSpPr txBox="1"/>
          <p:nvPr/>
        </p:nvSpPr>
        <p:spPr>
          <a:xfrm>
            <a:off x="4771407" y="5766012"/>
            <a:ext cx="2228495"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a:solidFill>
                  <a:prstClr val="black"/>
                </a:solidFill>
                <a:latin typeface="굴림" pitchFamily="50" charset="-127"/>
                <a:ea typeface="굴림" pitchFamily="50" charset="-127"/>
              </a:rPr>
              <a:t>Kế hoạch thử nghiệm</a:t>
            </a:r>
            <a:endParaRPr kumimoji="1" lang="ko-KR" altLang="en-US" sz="1600" b="1" dirty="0">
              <a:solidFill>
                <a:prstClr val="black"/>
              </a:solidFill>
              <a:latin typeface="굴림" pitchFamily="50" charset="-127"/>
              <a:ea typeface="굴림" pitchFamily="50" charset="-127"/>
            </a:endParaRPr>
          </a:p>
        </p:txBody>
      </p:sp>
      <p:sp>
        <p:nvSpPr>
          <p:cNvPr id="26" name="TextBox 25"/>
          <p:cNvSpPr txBox="1"/>
          <p:nvPr/>
        </p:nvSpPr>
        <p:spPr>
          <a:xfrm>
            <a:off x="1371600" y="3962400"/>
            <a:ext cx="846707" cy="3769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a:solidFill>
                  <a:prstClr val="black"/>
                </a:solidFill>
                <a:latin typeface="굴림" pitchFamily="50" charset="-127"/>
                <a:ea typeface="굴림" pitchFamily="50" charset="-127"/>
              </a:rPr>
              <a:t>Thứ tự</a:t>
            </a:r>
            <a:endParaRPr kumimoji="1" lang="ko-KR" altLang="en-US" sz="1600" b="1" u="sng" dirty="0">
              <a:solidFill>
                <a:prstClr val="black"/>
              </a:solidFill>
              <a:latin typeface="굴림" pitchFamily="50" charset="-127"/>
              <a:ea typeface="굴림" pitchFamily="50" charset="-127"/>
            </a:endParaRPr>
          </a:p>
        </p:txBody>
      </p:sp>
      <p:sp>
        <p:nvSpPr>
          <p:cNvPr id="27" name="TextBox 26"/>
          <p:cNvSpPr txBox="1"/>
          <p:nvPr/>
        </p:nvSpPr>
        <p:spPr>
          <a:xfrm>
            <a:off x="5029200" y="4077074"/>
            <a:ext cx="141256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a:solidFill>
                  <a:prstClr val="black"/>
                </a:solidFill>
                <a:latin typeface="굴림" pitchFamily="50" charset="-127"/>
                <a:ea typeface="굴림" pitchFamily="50" charset="-127"/>
              </a:rPr>
              <a:t>Tool chủ yếu</a:t>
            </a:r>
            <a:endParaRPr kumimoji="1" lang="ko-KR" altLang="en-US" sz="1600" b="1" u="sng" dirty="0">
              <a:solidFill>
                <a:prstClr val="black"/>
              </a:solidFill>
              <a:latin typeface="굴림" pitchFamily="50" charset="-127"/>
              <a:ea typeface="굴림" pitchFamily="50" charset="-127"/>
            </a:endParaRPr>
          </a:p>
        </p:txBody>
      </p:sp>
      <p:sp>
        <p:nvSpPr>
          <p:cNvPr id="28"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254</a:t>
            </a:fld>
            <a:endParaRPr lang="ko-KR" altLang="en-US" sz="1200" dirty="0">
              <a:solidFill>
                <a:prstClr val="black"/>
              </a:solidFill>
            </a:endParaRPr>
          </a:p>
        </p:txBody>
      </p:sp>
    </p:spTree>
    <p:extLst>
      <p:ext uri="{BB962C8B-B14F-4D97-AF65-F5344CB8AC3E}">
        <p14:creationId xmlns:p14="http://schemas.microsoft.com/office/powerpoint/2010/main" val="119690082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3"/>
          <p:cNvSpPr txBox="1">
            <a:spLocks noChangeArrowheads="1"/>
          </p:cNvSpPr>
          <p:nvPr/>
        </p:nvSpPr>
        <p:spPr bwMode="auto">
          <a:xfrm>
            <a:off x="517396" y="762000"/>
            <a:ext cx="4473917" cy="596317"/>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latin typeface="+mn-lt"/>
              </a:rPr>
              <a:t>1.  </a:t>
            </a:r>
            <a:r>
              <a:rPr lang="en-US" altLang="ko-KR" sz="1600" dirty="0" err="1">
                <a:latin typeface="+mn-lt"/>
              </a:rPr>
              <a:t>Độ</a:t>
            </a:r>
            <a:r>
              <a:rPr lang="en-US" altLang="ko-KR" sz="1600" dirty="0">
                <a:latin typeface="+mn-lt"/>
              </a:rPr>
              <a:t> </a:t>
            </a:r>
            <a:r>
              <a:rPr lang="en-US" altLang="ko-KR" sz="1600" dirty="0" err="1">
                <a:latin typeface="+mn-lt"/>
              </a:rPr>
              <a:t>quan</a:t>
            </a:r>
            <a:r>
              <a:rPr lang="en-US" altLang="ko-KR" sz="1600" dirty="0">
                <a:latin typeface="+mn-lt"/>
              </a:rPr>
              <a:t> </a:t>
            </a:r>
            <a:r>
              <a:rPr lang="en-US" altLang="ko-KR" sz="1600" dirty="0" err="1">
                <a:latin typeface="+mn-lt"/>
              </a:rPr>
              <a:t>trọng</a:t>
            </a:r>
            <a:r>
              <a:rPr lang="en-US" altLang="ko-KR" sz="1600" dirty="0">
                <a:latin typeface="+mn-lt"/>
              </a:rPr>
              <a:t> </a:t>
            </a:r>
            <a:r>
              <a:rPr lang="en-US" altLang="ko-KR" sz="1600" dirty="0" err="1">
                <a:latin typeface="+mn-lt"/>
              </a:rPr>
              <a:t>của</a:t>
            </a:r>
            <a:r>
              <a:rPr lang="en-US" altLang="ko-KR" sz="1600" dirty="0">
                <a:latin typeface="+mn-lt"/>
              </a:rPr>
              <a:t> </a:t>
            </a:r>
            <a:r>
              <a:rPr lang="en-US" altLang="ko-KR" sz="1600" dirty="0" err="1">
                <a:latin typeface="+mn-lt"/>
              </a:rPr>
              <a:t>tính</a:t>
            </a:r>
            <a:r>
              <a:rPr lang="en-US" altLang="ko-KR" sz="1600" dirty="0">
                <a:latin typeface="+mn-lt"/>
              </a:rPr>
              <a:t> </a:t>
            </a:r>
            <a:r>
              <a:rPr lang="en-US" altLang="ko-KR" sz="1600" dirty="0" err="1">
                <a:latin typeface="+mn-lt"/>
              </a:rPr>
              <a:t>ổn</a:t>
            </a:r>
            <a:r>
              <a:rPr lang="en-US" altLang="ko-KR" sz="1600" dirty="0">
                <a:latin typeface="+mn-lt"/>
              </a:rPr>
              <a:t> </a:t>
            </a:r>
            <a:r>
              <a:rPr lang="en-US" altLang="ko-KR" sz="1600" dirty="0" err="1">
                <a:latin typeface="+mn-lt"/>
              </a:rPr>
              <a:t>định</a:t>
            </a:r>
            <a:r>
              <a:rPr lang="en-US" altLang="ko-KR" sz="1600" dirty="0">
                <a:latin typeface="+mn-lt"/>
              </a:rPr>
              <a:t> process</a:t>
            </a:r>
          </a:p>
          <a:p>
            <a:pPr fontAlgn="base">
              <a:spcBef>
                <a:spcPct val="0"/>
              </a:spcBef>
              <a:spcAft>
                <a:spcPct val="0"/>
              </a:spcAft>
              <a:defRPr/>
            </a:pPr>
            <a:r>
              <a:rPr lang="en-US" altLang="ko-KR" sz="1600" dirty="0">
                <a:latin typeface="+mn-lt"/>
              </a:rPr>
              <a:t>   </a:t>
            </a:r>
          </a:p>
        </p:txBody>
      </p:sp>
      <p:sp>
        <p:nvSpPr>
          <p:cNvPr id="12" name="Text Box 39"/>
          <p:cNvSpPr txBox="1">
            <a:spLocks noChangeArrowheads="1"/>
          </p:cNvSpPr>
          <p:nvPr/>
        </p:nvSpPr>
        <p:spPr bwMode="auto">
          <a:xfrm>
            <a:off x="127732" y="76562"/>
            <a:ext cx="45236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a:t>
            </a:r>
            <a:r>
              <a:rPr kumimoji="1" lang="en-US" altLang="ko-KR" sz="2000" b="1">
                <a:solidFill>
                  <a:prstClr val="black"/>
                </a:solidFill>
              </a:rPr>
              <a:t>. Tính cần thiết của đồ thị quản lý</a:t>
            </a:r>
            <a:endParaRPr kumimoji="1" lang="en-US" altLang="ko-KR" sz="2000" b="1" dirty="0">
              <a:solidFill>
                <a:prstClr val="black"/>
              </a:solidFill>
            </a:endParaRPr>
          </a:p>
        </p:txBody>
      </p:sp>
      <p:sp>
        <p:nvSpPr>
          <p:cNvPr id="3" name="직사각형 2"/>
          <p:cNvSpPr/>
          <p:nvPr/>
        </p:nvSpPr>
        <p:spPr>
          <a:xfrm>
            <a:off x="851550" y="1066800"/>
            <a:ext cx="7378050" cy="1052596"/>
          </a:xfrm>
          <a:prstGeom prst="rect">
            <a:avLst/>
          </a:prstGeom>
        </p:spPr>
        <p:txBody>
          <a:bodyPr wrap="square">
            <a:spAutoFit/>
          </a:bodyPr>
          <a:lstStyle/>
          <a:p>
            <a:pPr fontAlgn="base">
              <a:lnSpc>
                <a:spcPct val="130000"/>
              </a:lnSpc>
              <a:spcBef>
                <a:spcPct val="0"/>
              </a:spcBef>
              <a:spcAft>
                <a:spcPct val="0"/>
              </a:spcAft>
              <a:defRPr/>
            </a:pP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Năng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lực</a:t>
            </a:r>
            <a:r>
              <a:rPr kumimoji="1" lang="en-US" altLang="ko-KR" sz="1600" b="1" dirty="0">
                <a:solidFill>
                  <a:prstClr val="black"/>
                </a:solidFill>
                <a:ea typeface="굴림" pitchFamily="50" charset="-127"/>
              </a:rPr>
              <a:t> process </a:t>
            </a:r>
            <a:r>
              <a:rPr kumimoji="1" lang="en-US" altLang="ko-KR" sz="1600" b="1" dirty="0" err="1">
                <a:solidFill>
                  <a:prstClr val="black"/>
                </a:solidFill>
                <a:ea typeface="굴림" pitchFamily="50" charset="-127"/>
              </a:rPr>
              <a:t>nghĩa</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là</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dự</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đoán</a:t>
            </a:r>
            <a:r>
              <a:rPr kumimoji="1" lang="en-US" altLang="ko-KR" sz="1600" b="1" dirty="0">
                <a:solidFill>
                  <a:prstClr val="black"/>
                </a:solidFill>
                <a:ea typeface="굴림" pitchFamily="50" charset="-127"/>
              </a:rPr>
              <a:t> Output </a:t>
            </a:r>
            <a:r>
              <a:rPr kumimoji="1" lang="en-US" altLang="ko-KR" sz="1600" b="1" dirty="0" err="1">
                <a:solidFill>
                  <a:prstClr val="black"/>
                </a:solidFill>
                <a:ea typeface="굴림" pitchFamily="50" charset="-127"/>
              </a:rPr>
              <a:t>đối</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với</a:t>
            </a:r>
            <a:r>
              <a:rPr kumimoji="1" lang="en-US" altLang="ko-KR" sz="1600" b="1" dirty="0">
                <a:solidFill>
                  <a:prstClr val="black"/>
                </a:solidFill>
                <a:ea typeface="굴림" pitchFamily="50" charset="-127"/>
              </a:rPr>
              <a:t> process </a:t>
            </a:r>
            <a:r>
              <a:rPr kumimoji="1" lang="en-US" altLang="ko-KR" sz="1600" b="1" dirty="0" err="1">
                <a:solidFill>
                  <a:prstClr val="black"/>
                </a:solidFill>
                <a:ea typeface="굴림" pitchFamily="50" charset="-127"/>
              </a:rPr>
              <a:t>tương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lai</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để</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dự</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tính</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năng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lực</a:t>
            </a:r>
            <a:r>
              <a:rPr kumimoji="1" lang="en-US" altLang="ko-KR" sz="1600" b="1" dirty="0">
                <a:solidFill>
                  <a:prstClr val="black"/>
                </a:solidFill>
                <a:ea typeface="굴림" pitchFamily="50" charset="-127"/>
              </a:rPr>
              <a:t> process </a:t>
            </a:r>
            <a:r>
              <a:rPr kumimoji="1" lang="en-US" altLang="ko-KR" sz="1600" b="1" dirty="0" err="1">
                <a:solidFill>
                  <a:prstClr val="black"/>
                </a:solidFill>
                <a:ea typeface="굴림" pitchFamily="50" charset="-127"/>
              </a:rPr>
              <a:t>thì</a:t>
            </a:r>
            <a:r>
              <a:rPr kumimoji="1" lang="en-US" altLang="ko-KR" sz="1600" b="1" dirty="0">
                <a:solidFill>
                  <a:prstClr val="black"/>
                </a:solidFill>
                <a:ea typeface="굴림" pitchFamily="50" charset="-127"/>
              </a:rPr>
              <a:t> Process </a:t>
            </a:r>
            <a:r>
              <a:rPr kumimoji="1" lang="en-US" altLang="ko-KR" sz="1600" b="1" dirty="0" err="1">
                <a:solidFill>
                  <a:prstClr val="black"/>
                </a:solidFill>
                <a:ea typeface="굴림" pitchFamily="50" charset="-127"/>
              </a:rPr>
              <a:t>phải</a:t>
            </a:r>
            <a:r>
              <a:rPr kumimoji="1" lang="en-US" altLang="ko-KR" sz="1600" b="1" dirty="0">
                <a:solidFill>
                  <a:prstClr val="black"/>
                </a:solidFill>
                <a:ea typeface="굴림" pitchFamily="50" charset="-127"/>
              </a:rPr>
              <a:t> ở </a:t>
            </a:r>
            <a:r>
              <a:rPr kumimoji="1" lang="en-US" altLang="ko-KR" sz="1600" b="1" dirty="0" err="1">
                <a:solidFill>
                  <a:prstClr val="black"/>
                </a:solidFill>
                <a:ea typeface="굴림" pitchFamily="50" charset="-127"/>
              </a:rPr>
              <a:t>trạng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thái</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ổn</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định</a:t>
            </a:r>
            <a:r>
              <a:rPr kumimoji="1" lang="en-US" altLang="ko-KR" sz="1600" b="1" dirty="0">
                <a:solidFill>
                  <a:prstClr val="black"/>
                </a:solidFill>
                <a:ea typeface="굴림" pitchFamily="50" charset="-127"/>
              </a:rPr>
              <a:t>  Output.</a:t>
            </a:r>
          </a:p>
        </p:txBody>
      </p:sp>
      <p:sp>
        <p:nvSpPr>
          <p:cNvPr id="7" name="직사각형 6"/>
          <p:cNvSpPr/>
          <p:nvPr/>
        </p:nvSpPr>
        <p:spPr>
          <a:xfrm>
            <a:off x="831767" y="2057400"/>
            <a:ext cx="7378050" cy="338554"/>
          </a:xfrm>
          <a:prstGeom prst="rect">
            <a:avLst/>
          </a:prstGeom>
        </p:spPr>
        <p:txBody>
          <a:bodyPr wrap="square">
            <a:spAutoFit/>
          </a:bodyPr>
          <a:lstStyle/>
          <a:p>
            <a:pPr fontAlgn="base">
              <a:spcBef>
                <a:spcPct val="0"/>
              </a:spcBef>
              <a:spcAft>
                <a:spcPct val="0"/>
              </a:spcAft>
              <a:defRPr/>
            </a:pPr>
            <a:r>
              <a:rPr kumimoji="1" lang="en-US" altLang="ko-KR" sz="1600" b="1" dirty="0">
                <a:solidFill>
                  <a:prstClr val="black"/>
                </a:solidFill>
                <a:ea typeface="굴림" pitchFamily="50" charset="-127"/>
              </a:rPr>
              <a:t>- Process </a:t>
            </a:r>
            <a:r>
              <a:rPr kumimoji="1" lang="en-US" altLang="ko-KR" sz="1600" b="1" dirty="0" err="1">
                <a:solidFill>
                  <a:prstClr val="black"/>
                </a:solidFill>
                <a:ea typeface="굴림" pitchFamily="50" charset="-127"/>
              </a:rPr>
              <a:t>không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ổn</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định</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nghĩa</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là</a:t>
            </a:r>
            <a:r>
              <a:rPr kumimoji="1" lang="en-US" altLang="ko-KR" sz="1600" b="1" dirty="0">
                <a:solidFill>
                  <a:prstClr val="black"/>
                </a:solidFill>
                <a:ea typeface="굴림" pitchFamily="50" charset="-127"/>
              </a:rPr>
              <a:t>…</a:t>
            </a:r>
          </a:p>
        </p:txBody>
      </p:sp>
      <p:sp>
        <p:nvSpPr>
          <p:cNvPr id="2" name="TextBox 1"/>
          <p:cNvSpPr txBox="1"/>
          <p:nvPr/>
        </p:nvSpPr>
        <p:spPr>
          <a:xfrm>
            <a:off x="998104" y="2362200"/>
            <a:ext cx="7954613"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ea typeface="굴림" pitchFamily="50" charset="-127"/>
              </a:rPr>
              <a:t>Line </a:t>
            </a:r>
            <a:r>
              <a:rPr kumimoji="1" lang="en-US" altLang="ko-KR" sz="1600" b="1" dirty="0" err="1">
                <a:solidFill>
                  <a:prstClr val="black"/>
                </a:solidFill>
                <a:ea typeface="굴림" pitchFamily="50" charset="-127"/>
              </a:rPr>
              <a:t>sản</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xuất</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bị</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dừng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lại</a:t>
            </a:r>
            <a:r>
              <a:rPr kumimoji="1" lang="en-US" altLang="ko-KR" sz="1600" b="1" dirty="0">
                <a:solidFill>
                  <a:prstClr val="black"/>
                </a:solidFill>
                <a:ea typeface="굴림" pitchFamily="50" charset="-127"/>
              </a:rPr>
              <a:t> do </a:t>
            </a:r>
            <a:r>
              <a:rPr kumimoji="1" lang="en-US" altLang="ko-KR" sz="1600" b="1" dirty="0" err="1">
                <a:solidFill>
                  <a:prstClr val="black"/>
                </a:solidFill>
                <a:ea typeface="굴림" pitchFamily="50" charset="-127"/>
              </a:rPr>
              <a:t>thiết</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bị</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hỏng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hóc</a:t>
            </a:r>
            <a:r>
              <a:rPr kumimoji="1" lang="en-US" altLang="ko-KR" sz="1600" b="1" dirty="0">
                <a:solidFill>
                  <a:prstClr val="black"/>
                </a:solidFill>
                <a:ea typeface="굴림" pitchFamily="50" charset="-127"/>
              </a:rPr>
              <a:t>, Jig </a:t>
            </a:r>
            <a:r>
              <a:rPr kumimoji="1" lang="en-US" altLang="ko-KR" sz="1600" b="1" dirty="0" err="1">
                <a:solidFill>
                  <a:prstClr val="black"/>
                </a:solidFill>
                <a:ea typeface="굴림" pitchFamily="50" charset="-127"/>
              </a:rPr>
              <a:t>bị</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phá</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vỡ</a:t>
            </a:r>
            <a:r>
              <a:rPr kumimoji="1" lang="en-US" altLang="ko-KR" sz="1600" b="1" dirty="0">
                <a:solidFill>
                  <a:prstClr val="black"/>
                </a:solidFill>
                <a:ea typeface="굴림" pitchFamily="50" charset="-127"/>
              </a:rPr>
              <a:t>/</a:t>
            </a:r>
            <a:r>
              <a:rPr kumimoji="1" lang="en-US" altLang="ko-KR" sz="1600" b="1" dirty="0" err="1">
                <a:solidFill>
                  <a:prstClr val="black"/>
                </a:solidFill>
                <a:ea typeface="굴림" pitchFamily="50" charset="-127"/>
              </a:rPr>
              <a:t>gãy</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nguyên</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liệu</a:t>
            </a:r>
            <a:r>
              <a:rPr kumimoji="1" lang="en-US" altLang="ko-KR" sz="1600" b="1" dirty="0">
                <a:solidFill>
                  <a:prstClr val="black"/>
                </a:solidFill>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ea typeface="굴림" pitchFamily="50" charset="-127"/>
              </a:rPr>
              <a:t>nhập</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vào</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sai</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phát</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sinh</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những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thứ</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không</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đạt</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tiêu</a:t>
            </a:r>
            <a:r>
              <a:rPr kumimoji="1" lang="en-US" altLang="ko-KR" sz="1600" b="1" dirty="0">
                <a:solidFill>
                  <a:prstClr val="black"/>
                </a:solidFill>
                <a:ea typeface="굴림" pitchFamily="50" charset="-127"/>
              </a:rPr>
              <a:t> </a:t>
            </a:r>
            <a:r>
              <a:rPr kumimoji="1" lang="en-US" altLang="ko-KR" sz="1600" b="1" dirty="0" err="1">
                <a:solidFill>
                  <a:prstClr val="black"/>
                </a:solidFill>
                <a:ea typeface="굴림" pitchFamily="50" charset="-127"/>
              </a:rPr>
              <a:t>chuẩn</a:t>
            </a:r>
            <a:r>
              <a:rPr kumimoji="1" lang="en-US" altLang="ko-KR" sz="1600" b="1" dirty="0">
                <a:solidFill>
                  <a:prstClr val="black"/>
                </a:solidFill>
                <a:ea typeface="굴림" pitchFamily="50" charset="-127"/>
              </a:rPr>
              <a:t> .. </a:t>
            </a:r>
            <a:endParaRPr kumimoji="1" lang="ko-KR" altLang="en-US" sz="1600" b="1" dirty="0">
              <a:solidFill>
                <a:prstClr val="black"/>
              </a:solidFill>
              <a:ea typeface="굴림" pitchFamily="50" charset="-127"/>
            </a:endParaRPr>
          </a:p>
        </p:txBody>
      </p:sp>
      <p:sp>
        <p:nvSpPr>
          <p:cNvPr id="1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255</a:t>
            </a:fld>
            <a:endParaRPr lang="ko-KR" altLang="en-US" sz="1200" dirty="0">
              <a:solidFill>
                <a:prstClr val="black"/>
              </a:solidFill>
            </a:endParaRPr>
          </a:p>
        </p:txBody>
      </p:sp>
      <p:sp>
        <p:nvSpPr>
          <p:cNvPr id="13" name="Text Box 3"/>
          <p:cNvSpPr txBox="1">
            <a:spLocks noChangeArrowheads="1"/>
          </p:cNvSpPr>
          <p:nvPr/>
        </p:nvSpPr>
        <p:spPr bwMode="auto">
          <a:xfrm>
            <a:off x="517396" y="3048000"/>
            <a:ext cx="4778488" cy="350096"/>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latin typeface="+mn-lt"/>
              </a:rPr>
              <a:t>2.  Process </a:t>
            </a:r>
            <a:r>
              <a:rPr lang="en-US" altLang="ko-KR" sz="1600" dirty="0" err="1">
                <a:latin typeface="+mn-lt"/>
              </a:rPr>
              <a:t>đang</a:t>
            </a:r>
            <a:r>
              <a:rPr lang="en-US" altLang="ko-KR" sz="1600" dirty="0">
                <a:latin typeface="+mn-lt"/>
              </a:rPr>
              <a:t> ở </a:t>
            </a:r>
            <a:r>
              <a:rPr lang="en-US" altLang="ko-KR" sz="1600" dirty="0" err="1">
                <a:latin typeface="+mn-lt"/>
              </a:rPr>
              <a:t>trạng</a:t>
            </a:r>
            <a:r>
              <a:rPr lang="en-US" altLang="ko-KR" sz="1600" dirty="0">
                <a:latin typeface="+mn-lt"/>
              </a:rPr>
              <a:t> </a:t>
            </a:r>
            <a:r>
              <a:rPr lang="en-US" altLang="ko-KR" sz="1600" dirty="0" err="1">
                <a:latin typeface="+mn-lt"/>
              </a:rPr>
              <a:t>thái</a:t>
            </a:r>
            <a:r>
              <a:rPr lang="en-US" altLang="ko-KR" sz="1600" dirty="0">
                <a:latin typeface="+mn-lt"/>
              </a:rPr>
              <a:t> </a:t>
            </a:r>
            <a:r>
              <a:rPr lang="en-US" altLang="ko-KR" sz="1600" dirty="0" err="1">
                <a:latin typeface="+mn-lt"/>
              </a:rPr>
              <a:t>ổn</a:t>
            </a:r>
            <a:r>
              <a:rPr lang="en-US" altLang="ko-KR" sz="1600" dirty="0">
                <a:latin typeface="+mn-lt"/>
              </a:rPr>
              <a:t> </a:t>
            </a:r>
            <a:r>
              <a:rPr lang="en-US" altLang="ko-KR" sz="1600" dirty="0" err="1">
                <a:latin typeface="+mn-lt"/>
              </a:rPr>
              <a:t>định</a:t>
            </a:r>
            <a:r>
              <a:rPr lang="en-US" altLang="ko-KR" sz="1600" dirty="0">
                <a:latin typeface="+mn-lt"/>
              </a:rPr>
              <a:t> </a:t>
            </a:r>
            <a:r>
              <a:rPr lang="en-US" altLang="ko-KR" sz="1600" dirty="0" err="1">
                <a:latin typeface="+mn-lt"/>
              </a:rPr>
              <a:t>nghĩa</a:t>
            </a:r>
            <a:r>
              <a:rPr lang="en-US" altLang="ko-KR" sz="1600" dirty="0">
                <a:latin typeface="+mn-lt"/>
              </a:rPr>
              <a:t> </a:t>
            </a:r>
            <a:r>
              <a:rPr lang="en-US" altLang="ko-KR" sz="1600" dirty="0" err="1">
                <a:latin typeface="+mn-lt"/>
              </a:rPr>
              <a:t>là</a:t>
            </a:r>
            <a:endParaRPr lang="en-US" altLang="ko-KR" sz="1600" dirty="0">
              <a:latin typeface="+mn-lt"/>
            </a:endParaRPr>
          </a:p>
        </p:txBody>
      </p:sp>
      <p:sp>
        <p:nvSpPr>
          <p:cNvPr id="14" name="Rectangle 3"/>
          <p:cNvSpPr>
            <a:spLocks noChangeArrowheads="1"/>
          </p:cNvSpPr>
          <p:nvPr/>
        </p:nvSpPr>
        <p:spPr bwMode="auto">
          <a:xfrm>
            <a:off x="831767" y="3352800"/>
            <a:ext cx="8199552" cy="733150"/>
          </a:xfrm>
          <a:prstGeom prst="rect">
            <a:avLst/>
          </a:prstGeom>
          <a:noFill/>
          <a:ln>
            <a:noFill/>
          </a:ln>
          <a:effectLst/>
        </p:spPr>
        <p:txBody>
          <a:bodyPr wrap="none" lIns="92075" tIns="46038" rIns="92075" bIns="46038">
            <a:spAutoFit/>
          </a:bodyPr>
          <a:lstStyle>
            <a:lvl1pPr defTabSz="762000" latinLnBrk="1">
              <a:defRPr kumimoji="1" sz="2400">
                <a:solidFill>
                  <a:schemeClr val="tx1"/>
                </a:solidFill>
                <a:latin typeface="Times New Roman" pitchFamily="18" charset="0"/>
                <a:ea typeface="굴림" pitchFamily="50" charset="-127"/>
              </a:defRPr>
            </a:lvl1pPr>
            <a:lvl2pPr marL="571500" defTabSz="762000" latinLnBrk="1">
              <a:defRPr kumimoji="1" sz="2400">
                <a:solidFill>
                  <a:schemeClr val="tx1"/>
                </a:solidFill>
                <a:latin typeface="Times New Roman" pitchFamily="18" charset="0"/>
                <a:ea typeface="굴림" pitchFamily="50" charset="-127"/>
              </a:defRPr>
            </a:lvl2pPr>
            <a:lvl3pPr marL="1143000" defTabSz="762000" latinLnBrk="1">
              <a:defRPr kumimoji="1" sz="2400">
                <a:solidFill>
                  <a:schemeClr val="tx1"/>
                </a:solidFill>
                <a:latin typeface="Times New Roman" pitchFamily="18" charset="0"/>
                <a:ea typeface="굴림" pitchFamily="50" charset="-127"/>
              </a:defRPr>
            </a:lvl3pPr>
            <a:lvl4pPr marL="1714500" defTabSz="762000" latinLnBrk="1">
              <a:defRPr kumimoji="1" sz="2400">
                <a:solidFill>
                  <a:schemeClr val="tx1"/>
                </a:solidFill>
                <a:latin typeface="Times New Roman" pitchFamily="18" charset="0"/>
                <a:ea typeface="굴림" pitchFamily="50" charset="-127"/>
              </a:defRPr>
            </a:lvl4pPr>
            <a:lvl5pPr marL="2286000" defTabSz="762000" latinLnBrk="1">
              <a:defRPr kumimoji="1" sz="2400">
                <a:solidFill>
                  <a:schemeClr val="tx1"/>
                </a:solidFill>
                <a:latin typeface="Times New Roman" pitchFamily="18" charset="0"/>
                <a:ea typeface="굴림" pitchFamily="50" charset="-127"/>
              </a:defRPr>
            </a:lvl5pPr>
            <a:lvl6pPr marL="2743200" defTabSz="762000" fontAlgn="base">
              <a:spcBef>
                <a:spcPct val="0"/>
              </a:spcBef>
              <a:spcAft>
                <a:spcPct val="0"/>
              </a:spcAft>
              <a:defRPr kumimoji="1" sz="2400">
                <a:solidFill>
                  <a:schemeClr val="tx1"/>
                </a:solidFill>
                <a:latin typeface="Times New Roman" pitchFamily="18" charset="0"/>
                <a:ea typeface="굴림" pitchFamily="50" charset="-127"/>
              </a:defRPr>
            </a:lvl6pPr>
            <a:lvl7pPr marL="3200400" defTabSz="762000" fontAlgn="base">
              <a:spcBef>
                <a:spcPct val="0"/>
              </a:spcBef>
              <a:spcAft>
                <a:spcPct val="0"/>
              </a:spcAft>
              <a:defRPr kumimoji="1" sz="2400">
                <a:solidFill>
                  <a:schemeClr val="tx1"/>
                </a:solidFill>
                <a:latin typeface="Times New Roman" pitchFamily="18" charset="0"/>
                <a:ea typeface="굴림" pitchFamily="50" charset="-127"/>
              </a:defRPr>
            </a:lvl7pPr>
            <a:lvl8pPr marL="3657600" defTabSz="762000" fontAlgn="base">
              <a:spcBef>
                <a:spcPct val="0"/>
              </a:spcBef>
              <a:spcAft>
                <a:spcPct val="0"/>
              </a:spcAft>
              <a:defRPr kumimoji="1" sz="2400">
                <a:solidFill>
                  <a:schemeClr val="tx1"/>
                </a:solidFill>
                <a:latin typeface="Times New Roman" pitchFamily="18" charset="0"/>
                <a:ea typeface="굴림" pitchFamily="50" charset="-127"/>
              </a:defRPr>
            </a:lvl8pPr>
            <a:lvl9pPr marL="4114800" defTabSz="762000" fontAlgn="base">
              <a:spcBef>
                <a:spcPct val="0"/>
              </a:spcBef>
              <a:spcAft>
                <a:spcPct val="0"/>
              </a:spcAft>
              <a:defRPr kumimoji="1" sz="2400">
                <a:solidFill>
                  <a:schemeClr val="tx1"/>
                </a:solidFill>
                <a:latin typeface="Times New Roman" pitchFamily="18" charset="0"/>
                <a:ea typeface="굴림" pitchFamily="50" charset="-127"/>
              </a:defRPr>
            </a:lvl9pPr>
          </a:lstStyle>
          <a:p>
            <a:pPr fontAlgn="base" latinLnBrk="0">
              <a:lnSpc>
                <a:spcPct val="130000"/>
              </a:lnSpc>
              <a:spcBef>
                <a:spcPct val="0"/>
              </a:spcBef>
              <a:spcAft>
                <a:spcPct val="0"/>
              </a:spcAft>
              <a:buFontTx/>
              <a:buChar char="-"/>
            </a:pPr>
            <a:r>
              <a:rPr lang="en-US" altLang="ko-KR" sz="1600" b="1" dirty="0" err="1">
                <a:solidFill>
                  <a:prstClr val="black"/>
                </a:solidFill>
                <a:latin typeface="+mn-lt"/>
                <a:ea typeface="돋움" pitchFamily="50" charset="-127"/>
              </a:rPr>
              <a:t>Khi</a:t>
            </a:r>
            <a:r>
              <a:rPr lang="en-US" altLang="ko-KR" sz="1600" b="1" dirty="0">
                <a:solidFill>
                  <a:prstClr val="black"/>
                </a:solidFill>
                <a:latin typeface="+mn-lt"/>
                <a:ea typeface="돋움" pitchFamily="50" charset="-127"/>
              </a:rPr>
              <a:t> Output </a:t>
            </a:r>
            <a:r>
              <a:rPr lang="en-US" altLang="ko-KR" sz="1600" b="1" dirty="0" err="1">
                <a:solidFill>
                  <a:prstClr val="black"/>
                </a:solidFill>
                <a:latin typeface="+mn-lt"/>
                <a:ea typeface="돋움" pitchFamily="50" charset="-127"/>
              </a:rPr>
              <a:t>của</a:t>
            </a:r>
            <a:r>
              <a:rPr lang="en-US" altLang="ko-KR" sz="1600" b="1" dirty="0">
                <a:solidFill>
                  <a:prstClr val="black"/>
                </a:solidFill>
                <a:latin typeface="+mn-lt"/>
                <a:ea typeface="돋움" pitchFamily="50" charset="-127"/>
              </a:rPr>
              <a:t> Process </a:t>
            </a:r>
            <a:r>
              <a:rPr lang="en-US" altLang="ko-KR" sz="1600" b="1" dirty="0" err="1">
                <a:solidFill>
                  <a:prstClr val="black"/>
                </a:solidFill>
                <a:latin typeface="+mn-lt"/>
                <a:ea typeface="돋움" pitchFamily="50" charset="-127"/>
              </a:rPr>
              <a:t>được</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cấu</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thành</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chỉ</a:t>
            </a:r>
            <a:r>
              <a:rPr lang="en-US" altLang="ko-KR" sz="1600" b="1" dirty="0">
                <a:solidFill>
                  <a:prstClr val="black"/>
                </a:solidFill>
                <a:latin typeface="+mn-lt"/>
                <a:ea typeface="돋움" pitchFamily="50" charset="-127"/>
              </a:rPr>
              <a:t> do </a:t>
            </a:r>
            <a:r>
              <a:rPr lang="en-US" altLang="ko-KR" sz="1600" b="1" dirty="0" err="1">
                <a:solidFill>
                  <a:prstClr val="black"/>
                </a:solidFill>
                <a:latin typeface="+mn-lt"/>
                <a:ea typeface="돋움" pitchFamily="50" charset="-127"/>
              </a:rPr>
              <a:t>nguyên</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nhân</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ngẫu</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nhiên</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ta</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định</a:t>
            </a:r>
            <a:endParaRPr lang="en-US" altLang="ko-KR" sz="1600" b="1" dirty="0">
              <a:solidFill>
                <a:prstClr val="black"/>
              </a:solidFill>
              <a:latin typeface="+mn-lt"/>
              <a:ea typeface="돋움" pitchFamily="50" charset="-127"/>
            </a:endParaRPr>
          </a:p>
          <a:p>
            <a:pPr fontAlgn="base" latinLnBrk="0">
              <a:lnSpc>
                <a:spcPct val="130000"/>
              </a:lnSpc>
              <a:spcBef>
                <a:spcPct val="0"/>
              </a:spcBef>
              <a:spcAft>
                <a:spcPct val="0"/>
              </a:spcAft>
            </a:pP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nghĩa</a:t>
            </a:r>
            <a:r>
              <a:rPr lang="en-US" altLang="ko-KR" sz="1600" b="1" dirty="0">
                <a:solidFill>
                  <a:prstClr val="black"/>
                </a:solidFill>
                <a:latin typeface="+mn-lt"/>
                <a:ea typeface="돋움" pitchFamily="50" charset="-127"/>
              </a:rPr>
              <a:t> process </a:t>
            </a:r>
            <a:r>
              <a:rPr lang="en-US" altLang="ko-KR" sz="1600" b="1" dirty="0" err="1">
                <a:solidFill>
                  <a:prstClr val="black"/>
                </a:solidFill>
                <a:latin typeface="+mn-lt"/>
                <a:ea typeface="돋움" pitchFamily="50" charset="-127"/>
              </a:rPr>
              <a:t>đang</a:t>
            </a:r>
            <a:r>
              <a:rPr lang="en-US" altLang="ko-KR" sz="1600" b="1" dirty="0">
                <a:solidFill>
                  <a:prstClr val="black"/>
                </a:solidFill>
                <a:latin typeface="+mn-lt"/>
                <a:ea typeface="돋움" pitchFamily="50" charset="-127"/>
              </a:rPr>
              <a:t> ở </a:t>
            </a:r>
            <a:r>
              <a:rPr lang="en-US" altLang="ko-KR" sz="1600" b="1" dirty="0" err="1">
                <a:solidFill>
                  <a:prstClr val="black"/>
                </a:solidFill>
                <a:latin typeface="+mn-lt"/>
                <a:ea typeface="돋움" pitchFamily="50" charset="-127"/>
              </a:rPr>
              <a:t>trạng</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thái</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ổn</a:t>
            </a:r>
            <a:r>
              <a:rPr lang="en-US" altLang="ko-KR" sz="1600" b="1" dirty="0">
                <a:solidFill>
                  <a:prstClr val="black"/>
                </a:solidFill>
                <a:latin typeface="+mn-lt"/>
                <a:ea typeface="돋움" pitchFamily="50" charset="-127"/>
              </a:rPr>
              <a:t> </a:t>
            </a:r>
            <a:r>
              <a:rPr lang="en-US" altLang="ko-KR" sz="1600" b="1" dirty="0" err="1">
                <a:solidFill>
                  <a:prstClr val="black"/>
                </a:solidFill>
                <a:latin typeface="+mn-lt"/>
                <a:ea typeface="돋움" pitchFamily="50" charset="-127"/>
              </a:rPr>
              <a:t>định</a:t>
            </a:r>
            <a:endParaRPr lang="en-US" altLang="ko-KR" sz="1600" b="1" dirty="0">
              <a:solidFill>
                <a:prstClr val="black"/>
              </a:solidFill>
              <a:latin typeface="+mn-lt"/>
              <a:ea typeface="돋움" pitchFamily="50" charset="-127"/>
            </a:endParaRPr>
          </a:p>
        </p:txBody>
      </p:sp>
      <p:sp>
        <p:nvSpPr>
          <p:cNvPr id="4" name="직사각형 3"/>
          <p:cNvSpPr/>
          <p:nvPr/>
        </p:nvSpPr>
        <p:spPr>
          <a:xfrm>
            <a:off x="831767" y="5105400"/>
            <a:ext cx="8280920" cy="1692771"/>
          </a:xfrm>
          <a:prstGeom prst="rect">
            <a:avLst/>
          </a:prstGeom>
        </p:spPr>
        <p:txBody>
          <a:bodyPr wrap="square">
            <a:spAutoFit/>
          </a:bodyPr>
          <a:lstStyle/>
          <a:p>
            <a:pPr fontAlgn="base" latinLnBrk="0">
              <a:lnSpc>
                <a:spcPct val="130000"/>
              </a:lnSpc>
              <a:spcBef>
                <a:spcPct val="0"/>
              </a:spcBef>
              <a:spcAft>
                <a:spcPct val="0"/>
              </a:spcAft>
            </a:pP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Nếu</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trên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đồ</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thị</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quản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lý</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có</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điểm</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nào</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vượt</a:t>
            </a:r>
            <a:r>
              <a:rPr lang="en-US" altLang="ko-KR" sz="1600" b="1" dirty="0">
                <a:solidFill>
                  <a:prstClr val="black"/>
                </a:solidFill>
                <a:ea typeface="돋움" pitchFamily="50" charset="-127"/>
              </a:rPr>
              <a:t> qua </a:t>
            </a:r>
            <a:r>
              <a:rPr lang="en-US" altLang="ko-KR" sz="1600" b="1" dirty="0" err="1">
                <a:solidFill>
                  <a:prstClr val="black"/>
                </a:solidFill>
                <a:ea typeface="돋움" pitchFamily="50" charset="-127"/>
              </a:rPr>
              <a:t>đường</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giới</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hạn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quản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lí</a:t>
            </a:r>
            <a:r>
              <a:rPr lang="vi-VN" altLang="ko-KR" sz="1600" b="1" dirty="0">
                <a:solidFill>
                  <a:prstClr val="black"/>
                </a:solidFill>
                <a:ea typeface="돋움" pitchFamily="50" charset="-127"/>
              </a:rPr>
              <a:t>, hoặc nếu sự phân bố các giá trị dữ liệu không phân bố ngẫu nhiên, có nghĩa là, nếu có bất kỳ xu hướng nào, có thể</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xem</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là</a:t>
            </a:r>
            <a:r>
              <a:rPr lang="vi-VN" altLang="ko-KR" sz="1600" b="1" dirty="0">
                <a:solidFill>
                  <a:prstClr val="black"/>
                </a:solidFill>
                <a:ea typeface="돋움" pitchFamily="50" charset="-127"/>
              </a:rPr>
              <a:t> có một nguyên nhân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không</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ngẫu</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nhiên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lớn</a:t>
            </a:r>
            <a:r>
              <a:rPr lang="vi-VN" altLang="ko-KR" sz="1600" b="1" dirty="0">
                <a:solidFill>
                  <a:prstClr val="black"/>
                </a:solidFill>
                <a:ea typeface="돋움" pitchFamily="50" charset="-127"/>
              </a:rPr>
              <a:t> có thể chuyển nhượng được.</a:t>
            </a:r>
            <a:endParaRPr lang="en-US" altLang="ko-KR" sz="1600" b="1" dirty="0">
              <a:solidFill>
                <a:prstClr val="black"/>
              </a:solidFill>
              <a:ea typeface="돋움" pitchFamily="50" charset="-127"/>
            </a:endParaRPr>
          </a:p>
          <a:p>
            <a:pPr lvl="0" fontAlgn="base" latinLnBrk="0">
              <a:lnSpc>
                <a:spcPct val="130000"/>
              </a:lnSpc>
              <a:spcBef>
                <a:spcPct val="0"/>
              </a:spcBef>
              <a:spcAft>
                <a:spcPct val="0"/>
              </a:spcAft>
            </a:pPr>
            <a:r>
              <a:rPr lang="en-US" altLang="ko-KR" sz="1600" b="1" dirty="0">
                <a:solidFill>
                  <a:prstClr val="black"/>
                </a:solidFill>
                <a:ea typeface="돋움" pitchFamily="50" charset="-127"/>
              </a:rPr>
              <a:t>  </a:t>
            </a:r>
          </a:p>
        </p:txBody>
      </p:sp>
      <p:sp>
        <p:nvSpPr>
          <p:cNvPr id="5" name="직사각형 4"/>
          <p:cNvSpPr/>
          <p:nvPr/>
        </p:nvSpPr>
        <p:spPr>
          <a:xfrm>
            <a:off x="831767" y="4038600"/>
            <a:ext cx="8316416" cy="1052596"/>
          </a:xfrm>
          <a:prstGeom prst="rect">
            <a:avLst/>
          </a:prstGeom>
        </p:spPr>
        <p:txBody>
          <a:bodyPr wrap="square">
            <a:spAutoFit/>
          </a:bodyPr>
          <a:lstStyle/>
          <a:p>
            <a:pPr fontAlgn="base" latinLnBrk="0">
              <a:lnSpc>
                <a:spcPct val="130000"/>
              </a:lnSpc>
              <a:spcBef>
                <a:spcPct val="0"/>
              </a:spcBef>
              <a:spcAft>
                <a:spcPct val="0"/>
              </a:spcAft>
            </a:pP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Ổn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định</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có</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nghĩa</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là</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tất</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cả</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giá</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trị</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bình</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quân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và</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phạm</a:t>
            </a:r>
            <a:r>
              <a:rPr lang="en-US" altLang="ko-KR" sz="1600" b="1" dirty="0">
                <a:solidFill>
                  <a:prstClr val="black"/>
                </a:solidFill>
                <a:ea typeface="돋움" pitchFamily="50" charset="-127"/>
              </a:rPr>
              <a:t> vi </a:t>
            </a:r>
            <a:r>
              <a:rPr lang="en-US" altLang="ko-KR" sz="1600" b="1" dirty="0" err="1">
                <a:solidFill>
                  <a:prstClr val="black"/>
                </a:solidFill>
                <a:ea typeface="돋움" pitchFamily="50" charset="-127"/>
              </a:rPr>
              <a:t>của</a:t>
            </a:r>
            <a:r>
              <a:rPr lang="en-US" altLang="ko-KR" sz="1600" b="1" dirty="0">
                <a:solidFill>
                  <a:prstClr val="black"/>
                </a:solidFill>
                <a:ea typeface="돋움" pitchFamily="50" charset="-127"/>
              </a:rPr>
              <a:t> Subgroup</a:t>
            </a:r>
            <a:r>
              <a:rPr lang="ko-KR" altLang="en-US" sz="1600" b="1" dirty="0">
                <a:solidFill>
                  <a:prstClr val="black"/>
                </a:solidFill>
                <a:ea typeface="돋움" pitchFamily="50" charset="-127"/>
              </a:rPr>
              <a:t> </a:t>
            </a:r>
            <a:r>
              <a:rPr lang="en-US" altLang="ko-KR" sz="1600" b="1" dirty="0" err="1">
                <a:solidFill>
                  <a:prstClr val="black"/>
                </a:solidFill>
                <a:ea typeface="돋움" pitchFamily="50" charset="-127"/>
              </a:rPr>
              <a:t>đều</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tồn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tại</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trong</a:t>
            </a:r>
            <a:r>
              <a:rPr lang="en-US" altLang="ko-KR" sz="1600" b="1" dirty="0">
                <a:solidFill>
                  <a:prstClr val="black"/>
                </a:solidFill>
                <a:ea typeface="돋움" pitchFamily="50" charset="-127"/>
              </a:rPr>
              <a:t> LSL USL, </a:t>
            </a:r>
            <a:r>
              <a:rPr lang="vi-VN" altLang="ko-KR" sz="1600" b="1" dirty="0">
                <a:solidFill>
                  <a:prstClr val="black"/>
                </a:solidFill>
                <a:ea typeface="돋움" pitchFamily="50" charset="-127"/>
              </a:rPr>
              <a:t>không có bằng chứng cho thấy sự </a:t>
            </a:r>
            <a:r>
              <a:rPr lang="en-US" altLang="ko-KR" sz="1600" b="1" dirty="0" err="1">
                <a:solidFill>
                  <a:prstClr val="black"/>
                </a:solidFill>
                <a:ea typeface="돋움" pitchFamily="50" charset="-127"/>
              </a:rPr>
              <a:t>biến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động</a:t>
            </a:r>
            <a:r>
              <a:rPr lang="vi-VN" altLang="ko-KR" sz="1600" b="1" dirty="0">
                <a:solidFill>
                  <a:prstClr val="black"/>
                </a:solidFill>
                <a:ea typeface="돋움" pitchFamily="50" charset="-127"/>
              </a:rPr>
              <a:t> được </a:t>
            </a:r>
            <a:r>
              <a:rPr lang="en-US" altLang="ko-KR" sz="1600" b="1" dirty="0" err="1">
                <a:solidFill>
                  <a:prstClr val="black"/>
                </a:solidFill>
                <a:ea typeface="돋움" pitchFamily="50" charset="-127"/>
              </a:rPr>
              <a:t>phát</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sinh</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ra</a:t>
            </a:r>
            <a:r>
              <a:rPr lang="vi-VN" altLang="ko-KR" sz="1600" b="1" dirty="0">
                <a:solidFill>
                  <a:prstClr val="black"/>
                </a:solidFill>
                <a:ea typeface="돋움" pitchFamily="50" charset="-127"/>
              </a:rPr>
              <a:t> là nguyên nhân</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không</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ngẫu</a:t>
            </a:r>
            <a:r>
              <a:rPr lang="en-US" altLang="ko-KR" sz="1600" b="1" dirty="0">
                <a:solidFill>
                  <a:prstClr val="black"/>
                </a:solidFill>
                <a:ea typeface="돋움" pitchFamily="50" charset="-127"/>
              </a:rPr>
              <a:t> </a:t>
            </a:r>
            <a:r>
              <a:rPr lang="en-US" altLang="ko-KR" sz="1600" b="1" dirty="0" err="1">
                <a:solidFill>
                  <a:prstClr val="black"/>
                </a:solidFill>
                <a:ea typeface="돋움" pitchFamily="50" charset="-127"/>
              </a:rPr>
              <a:t>nhiên</a:t>
            </a:r>
            <a:endParaRPr lang="vi-VN" altLang="ko-KR" sz="1600" b="1" dirty="0">
              <a:solidFill>
                <a:prstClr val="black"/>
              </a:solidFill>
              <a:ea typeface="돋움" pitchFamily="50" charset="-127"/>
            </a:endParaRPr>
          </a:p>
        </p:txBody>
      </p:sp>
    </p:spTree>
    <p:extLst>
      <p:ext uri="{BB962C8B-B14F-4D97-AF65-F5344CB8AC3E}">
        <p14:creationId xmlns:p14="http://schemas.microsoft.com/office/powerpoint/2010/main" val="240643631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직사각형 42"/>
          <p:cNvSpPr/>
          <p:nvPr/>
        </p:nvSpPr>
        <p:spPr>
          <a:xfrm>
            <a:off x="1662454" y="2190696"/>
            <a:ext cx="5764110" cy="2362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4" name="직사각형 23"/>
          <p:cNvSpPr/>
          <p:nvPr/>
        </p:nvSpPr>
        <p:spPr>
          <a:xfrm>
            <a:off x="1637258" y="3656845"/>
            <a:ext cx="5764110" cy="2362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3" name="Rectangle 20"/>
          <p:cNvSpPr>
            <a:spLocks noChangeArrowheads="1"/>
          </p:cNvSpPr>
          <p:nvPr/>
        </p:nvSpPr>
        <p:spPr bwMode="auto">
          <a:xfrm>
            <a:off x="1071538" y="4454749"/>
            <a:ext cx="7314036" cy="831639"/>
          </a:xfrm>
          <a:prstGeom prst="rect">
            <a:avLst/>
          </a:prstGeom>
          <a:noFill/>
          <a:ln w="12700">
            <a:noFill/>
            <a:miter lim="800000"/>
            <a:headEnd/>
            <a:tailEnd/>
          </a:ln>
          <a:effectLst>
            <a:outerShdw dist="107763" dir="2700000" algn="ctr" rotWithShape="0">
              <a:schemeClr val="bg2"/>
            </a:outerShdw>
          </a:effectLst>
        </p:spPr>
        <p:txBody>
          <a:bodyPr wrap="square" lIns="92075" tIns="46038" rIns="92075" bIns="46038">
            <a:spAutoFit/>
          </a:bodyPr>
          <a:lstStyle/>
          <a:p>
            <a:pPr fontAlgn="base">
              <a:lnSpc>
                <a:spcPct val="150000"/>
              </a:lnSpc>
              <a:spcBef>
                <a:spcPct val="0"/>
              </a:spcBef>
              <a:spcAft>
                <a:spcPct val="0"/>
              </a:spcAft>
            </a:pPr>
            <a:r>
              <a:rPr kumimoji="1" lang="en-US" altLang="ko-KR" sz="1600" b="1" dirty="0">
                <a:solidFill>
                  <a:srgbClr val="A9072E"/>
                </a:solidFill>
                <a:latin typeface="굴림" pitchFamily="50" charset="-127"/>
                <a:ea typeface="굴림" pitchFamily="50" charset="-127"/>
              </a:rPr>
              <a:t>assumption:  If the process is stable, it is extremely unlikely that any </a:t>
            </a:r>
          </a:p>
          <a:p>
            <a:pPr fontAlgn="base">
              <a:lnSpc>
                <a:spcPct val="150000"/>
              </a:lnSpc>
              <a:spcBef>
                <a:spcPct val="0"/>
              </a:spcBef>
              <a:spcAft>
                <a:spcPct val="0"/>
              </a:spcAft>
            </a:pPr>
            <a:r>
              <a:rPr kumimoji="1" lang="en-US" altLang="ko-KR" sz="1600" b="1" dirty="0">
                <a:solidFill>
                  <a:srgbClr val="A9072E"/>
                </a:solidFill>
                <a:latin typeface="굴림" pitchFamily="50" charset="-127"/>
                <a:ea typeface="굴림" pitchFamily="50" charset="-127"/>
              </a:rPr>
              <a:t>                   output will be outside of the stable variation range of ± 3σ.</a:t>
            </a:r>
          </a:p>
        </p:txBody>
      </p:sp>
      <p:sp>
        <p:nvSpPr>
          <p:cNvPr id="26"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
        <p:nvSpPr>
          <p:cNvPr id="27" name="Text Box 10"/>
          <p:cNvSpPr txBox="1">
            <a:spLocks noChangeArrowheads="1"/>
          </p:cNvSpPr>
          <p:nvPr/>
        </p:nvSpPr>
        <p:spPr bwMode="auto">
          <a:xfrm>
            <a:off x="6072198" y="122914"/>
            <a:ext cx="3065619"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Concept of process stability</a:t>
            </a:r>
            <a:endParaRPr lang="ko-KR" altLang="en-US" sz="1600" b="1" dirty="0">
              <a:solidFill>
                <a:prstClr val="black"/>
              </a:solidFill>
              <a:latin typeface="맑은 고딕"/>
              <a:ea typeface="맑은 고딕"/>
            </a:endParaRPr>
          </a:p>
        </p:txBody>
      </p:sp>
      <p:sp>
        <p:nvSpPr>
          <p:cNvPr id="28" name="Line 4"/>
          <p:cNvSpPr>
            <a:spLocks noChangeShapeType="1"/>
          </p:cNvSpPr>
          <p:nvPr/>
        </p:nvSpPr>
        <p:spPr bwMode="auto">
          <a:xfrm flipV="1">
            <a:off x="1628274" y="3653641"/>
            <a:ext cx="5816765" cy="3997"/>
          </a:xfrm>
          <a:prstGeom prst="line">
            <a:avLst/>
          </a:prstGeom>
          <a:noFill/>
          <a:ln w="25400">
            <a:solidFill>
              <a:srgbClr val="063DE8"/>
            </a:solidFill>
            <a:prstDash val="dash"/>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29" name="Line 5"/>
          <p:cNvSpPr>
            <a:spLocks noChangeShapeType="1"/>
          </p:cNvSpPr>
          <p:nvPr/>
        </p:nvSpPr>
        <p:spPr bwMode="auto">
          <a:xfrm>
            <a:off x="7525872" y="2946248"/>
            <a:ext cx="118674" cy="0"/>
          </a:xfrm>
          <a:prstGeom prst="line">
            <a:avLst/>
          </a:prstGeom>
          <a:noFill/>
          <a:ln w="38100" cmpd="dbl">
            <a:solidFill>
              <a:schemeClr val="tx1"/>
            </a:solidFill>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30" name="Line 8"/>
          <p:cNvSpPr>
            <a:spLocks noChangeShapeType="1"/>
          </p:cNvSpPr>
          <p:nvPr/>
        </p:nvSpPr>
        <p:spPr bwMode="auto">
          <a:xfrm>
            <a:off x="1655792" y="2438686"/>
            <a:ext cx="5813324" cy="0"/>
          </a:xfrm>
          <a:prstGeom prst="line">
            <a:avLst/>
          </a:prstGeom>
          <a:noFill/>
          <a:ln w="25400">
            <a:solidFill>
              <a:srgbClr val="063DE8"/>
            </a:solidFill>
            <a:prstDash val="dash"/>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31" name="Rectangle 9"/>
          <p:cNvSpPr>
            <a:spLocks noChangeArrowheads="1"/>
          </p:cNvSpPr>
          <p:nvPr/>
        </p:nvSpPr>
        <p:spPr bwMode="auto">
          <a:xfrm>
            <a:off x="1640313" y="2460669"/>
            <a:ext cx="5794406" cy="1157003"/>
          </a:xfrm>
          <a:prstGeom prst="rect">
            <a:avLst/>
          </a:prstGeom>
          <a:solidFill>
            <a:srgbClr val="FFCC00">
              <a:alpha val="67058"/>
            </a:srgbClr>
          </a:solidFill>
          <a:ln w="12700">
            <a:noFill/>
            <a:miter lim="800000"/>
            <a:headEnd/>
            <a:tailEnd/>
          </a:ln>
        </p:spPr>
        <p:txBody>
          <a:bodyPr wrap="none" anchor="ctr"/>
          <a:lstStyle/>
          <a:p>
            <a:pPr eaLnBrk="0" fontAlgn="base" latinLnBrk="0" hangingPunct="0">
              <a:spcBef>
                <a:spcPct val="0"/>
              </a:spcBef>
              <a:spcAft>
                <a:spcPct val="0"/>
              </a:spcAft>
            </a:pPr>
            <a:endParaRPr lang="ko-KR" altLang="ko-KR" b="1" dirty="0">
              <a:solidFill>
                <a:srgbClr val="000000"/>
              </a:solidFill>
            </a:endParaRPr>
          </a:p>
        </p:txBody>
      </p:sp>
      <p:sp>
        <p:nvSpPr>
          <p:cNvPr id="32" name="Line 10"/>
          <p:cNvSpPr>
            <a:spLocks noChangeShapeType="1"/>
          </p:cNvSpPr>
          <p:nvPr/>
        </p:nvSpPr>
        <p:spPr bwMode="auto">
          <a:xfrm>
            <a:off x="1619672" y="2172917"/>
            <a:ext cx="0" cy="1794453"/>
          </a:xfrm>
          <a:prstGeom prst="line">
            <a:avLst/>
          </a:prstGeom>
          <a:noFill/>
          <a:ln w="25400">
            <a:solidFill>
              <a:schemeClr val="bg2"/>
            </a:solidFill>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33" name="Line 11"/>
          <p:cNvSpPr>
            <a:spLocks noChangeShapeType="1"/>
          </p:cNvSpPr>
          <p:nvPr/>
        </p:nvSpPr>
        <p:spPr bwMode="auto">
          <a:xfrm>
            <a:off x="1654071" y="3036170"/>
            <a:ext cx="5813324" cy="0"/>
          </a:xfrm>
          <a:prstGeom prst="line">
            <a:avLst/>
          </a:prstGeom>
          <a:noFill/>
          <a:ln w="12700">
            <a:solidFill>
              <a:srgbClr val="FF0000"/>
            </a:solidFill>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grpSp>
        <p:nvGrpSpPr>
          <p:cNvPr id="3" name="Group 13"/>
          <p:cNvGrpSpPr>
            <a:grpSpLocks/>
          </p:cNvGrpSpPr>
          <p:nvPr/>
        </p:nvGrpSpPr>
        <p:grpSpPr bwMode="auto">
          <a:xfrm>
            <a:off x="7389894" y="2284819"/>
            <a:ext cx="557366" cy="1518191"/>
            <a:chOff x="3307" y="3097"/>
            <a:chExt cx="243" cy="1013"/>
          </a:xfrm>
        </p:grpSpPr>
        <p:sp>
          <p:nvSpPr>
            <p:cNvPr id="38" name="Rectangle 14"/>
            <p:cNvSpPr>
              <a:spLocks noChangeArrowheads="1"/>
            </p:cNvSpPr>
            <p:nvPr/>
          </p:nvSpPr>
          <p:spPr bwMode="auto">
            <a:xfrm>
              <a:off x="3312" y="3097"/>
              <a:ext cx="238" cy="201"/>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00"/>
                  </a:solidFill>
                </a:rPr>
                <a:t>UCL</a:t>
              </a:r>
            </a:p>
          </p:txBody>
        </p:sp>
        <p:sp>
          <p:nvSpPr>
            <p:cNvPr id="39" name="Rectangle 15"/>
            <p:cNvSpPr>
              <a:spLocks noChangeArrowheads="1"/>
            </p:cNvSpPr>
            <p:nvPr/>
          </p:nvSpPr>
          <p:spPr bwMode="auto">
            <a:xfrm>
              <a:off x="3307" y="3909"/>
              <a:ext cx="216" cy="201"/>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00"/>
                  </a:solidFill>
                </a:rPr>
                <a:t>LCL</a:t>
              </a:r>
            </a:p>
          </p:txBody>
        </p:sp>
        <p:sp>
          <p:nvSpPr>
            <p:cNvPr id="40" name="Rectangle 16"/>
            <p:cNvSpPr>
              <a:spLocks noChangeArrowheads="1"/>
            </p:cNvSpPr>
            <p:nvPr/>
          </p:nvSpPr>
          <p:spPr bwMode="auto">
            <a:xfrm>
              <a:off x="3333" y="3494"/>
              <a:ext cx="127" cy="201"/>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00"/>
                  </a:solidFill>
                </a:rPr>
                <a:t>X</a:t>
              </a:r>
            </a:p>
          </p:txBody>
        </p:sp>
      </p:grpSp>
      <p:sp>
        <p:nvSpPr>
          <p:cNvPr id="36" name="Rectangle 17"/>
          <p:cNvSpPr>
            <a:spLocks noChangeArrowheads="1"/>
          </p:cNvSpPr>
          <p:nvPr/>
        </p:nvSpPr>
        <p:spPr bwMode="auto">
          <a:xfrm>
            <a:off x="2786050" y="2116961"/>
            <a:ext cx="3227616" cy="301750"/>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FF"/>
                </a:solidFill>
              </a:rPr>
              <a:t>Assignable Cause Variable Area</a:t>
            </a:r>
            <a:endParaRPr lang="ko-KR" altLang="en-US" sz="1600" b="1" dirty="0">
              <a:solidFill>
                <a:srgbClr val="0000FF"/>
              </a:solidFill>
            </a:endParaRPr>
          </a:p>
        </p:txBody>
      </p:sp>
      <p:sp>
        <p:nvSpPr>
          <p:cNvPr id="37" name="Rectangle 18"/>
          <p:cNvSpPr>
            <a:spLocks noChangeArrowheads="1"/>
          </p:cNvSpPr>
          <p:nvPr/>
        </p:nvSpPr>
        <p:spPr bwMode="auto">
          <a:xfrm>
            <a:off x="2857488" y="3647142"/>
            <a:ext cx="3227616" cy="301750"/>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FF"/>
                </a:solidFill>
              </a:rPr>
              <a:t>Assignable Cause Variable Area</a:t>
            </a:r>
            <a:endParaRPr lang="ko-KR" altLang="en-US" sz="1600" b="1" dirty="0">
              <a:solidFill>
                <a:srgbClr val="0000FF"/>
              </a:solidFill>
            </a:endParaRPr>
          </a:p>
        </p:txBody>
      </p:sp>
      <p:sp>
        <p:nvSpPr>
          <p:cNvPr id="41" name="Rectangle 19"/>
          <p:cNvSpPr>
            <a:spLocks noChangeArrowheads="1"/>
          </p:cNvSpPr>
          <p:nvPr/>
        </p:nvSpPr>
        <p:spPr bwMode="auto">
          <a:xfrm>
            <a:off x="3893405" y="2594553"/>
            <a:ext cx="3007043" cy="818815"/>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150000"/>
              </a:lnSpc>
              <a:spcBef>
                <a:spcPct val="0"/>
              </a:spcBef>
              <a:spcAft>
                <a:spcPct val="0"/>
              </a:spcAft>
            </a:pPr>
            <a:r>
              <a:rPr lang="en-US" altLang="ko-KR" sz="1600" b="1" dirty="0">
                <a:solidFill>
                  <a:srgbClr val="000000"/>
                </a:solidFill>
              </a:rPr>
              <a:t>Stable process variation area</a:t>
            </a:r>
          </a:p>
          <a:p>
            <a:pPr defTabSz="661988" eaLnBrk="0" fontAlgn="base" latinLnBrk="0" hangingPunct="0">
              <a:lnSpc>
                <a:spcPct val="150000"/>
              </a:lnSpc>
              <a:spcBef>
                <a:spcPct val="0"/>
              </a:spcBef>
              <a:spcAft>
                <a:spcPct val="0"/>
              </a:spcAft>
            </a:pPr>
            <a:r>
              <a:rPr lang="en-US" altLang="ko-KR" sz="1600" b="1" dirty="0">
                <a:solidFill>
                  <a:srgbClr val="000000"/>
                </a:solidFill>
              </a:rPr>
              <a:t>(Only chance cause exists)</a:t>
            </a:r>
          </a:p>
        </p:txBody>
      </p:sp>
      <p:sp>
        <p:nvSpPr>
          <p:cNvPr id="23"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256</a:t>
            </a:fld>
            <a:endParaRPr lang="ko-KR" altLang="en-US" sz="1200" dirty="0">
              <a:solidFill>
                <a:prstClr val="black"/>
              </a:solidFill>
            </a:endParaRPr>
          </a:p>
        </p:txBody>
      </p:sp>
      <p:sp>
        <p:nvSpPr>
          <p:cNvPr id="2" name="TextBox 1"/>
          <p:cNvSpPr txBox="1"/>
          <p:nvPr/>
        </p:nvSpPr>
        <p:spPr>
          <a:xfrm>
            <a:off x="2714612" y="1412776"/>
            <a:ext cx="3065647" cy="377091"/>
          </a:xfrm>
          <a:prstGeom prst="rect">
            <a:avLst/>
          </a:prstGeom>
          <a:noFill/>
        </p:spPr>
        <p:txBody>
          <a:bodyPr wrap="none" rtlCol="0">
            <a:spAutoFit/>
          </a:bodyPr>
          <a:lstStyle/>
          <a:p>
            <a:pPr>
              <a:lnSpc>
                <a:spcPct val="130000"/>
              </a:lnSpc>
              <a:buClr>
                <a:srgbClr val="C5003D"/>
              </a:buClr>
            </a:pPr>
            <a:r>
              <a:rPr lang="en-US" altLang="ko-KR" sz="1600" b="1" dirty="0"/>
              <a:t>- Concept of process stability</a:t>
            </a:r>
            <a:endParaRPr lang="ko-KR" altLang="en-US" sz="1600" b="1" dirty="0"/>
          </a:p>
        </p:txBody>
      </p:sp>
      <p:pic>
        <p:nvPicPr>
          <p:cNvPr id="25" name="Picture 14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57064" y="2271124"/>
            <a:ext cx="1011356" cy="1543310"/>
          </a:xfrm>
          <a:prstGeom prst="rect">
            <a:avLst/>
          </a:prstGeom>
          <a:noFill/>
          <a:ln w="9525">
            <a:noFill/>
            <a:miter lim="800000"/>
            <a:headEnd/>
            <a:tailEnd/>
          </a:ln>
        </p:spPr>
      </p:pic>
      <p:cxnSp>
        <p:nvCxnSpPr>
          <p:cNvPr id="4" name="직선 연결선 3"/>
          <p:cNvCxnSpPr/>
          <p:nvPr/>
        </p:nvCxnSpPr>
        <p:spPr>
          <a:xfrm>
            <a:off x="2699792" y="1844824"/>
            <a:ext cx="32403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5058404"/>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17989" y="836715"/>
            <a:ext cx="8358467" cy="732508"/>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It is the control chart that the data generated in the process is taken point by time.</a:t>
            </a:r>
          </a:p>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If this is collected as a whole, it becomes a normal distribution.</a:t>
            </a:r>
            <a:endParaRPr kumimoji="1" lang="ko-KR" altLang="en-US" sz="1600" b="1" dirty="0">
              <a:solidFill>
                <a:prstClr val="black"/>
              </a:solidFill>
              <a:latin typeface="굴림" pitchFamily="50" charset="-127"/>
              <a:ea typeface="굴림" pitchFamily="50" charset="-127"/>
            </a:endParaRPr>
          </a:p>
        </p:txBody>
      </p:sp>
      <p:sp>
        <p:nvSpPr>
          <p:cNvPr id="5" name="Rectangle 189"/>
          <p:cNvSpPr>
            <a:spLocks noChangeArrowheads="1"/>
          </p:cNvSpPr>
          <p:nvPr/>
        </p:nvSpPr>
        <p:spPr bwMode="auto">
          <a:xfrm>
            <a:off x="251520" y="1742367"/>
            <a:ext cx="8456812" cy="2943525"/>
          </a:xfrm>
          <a:prstGeom prst="rect">
            <a:avLst/>
          </a:prstGeom>
          <a:solidFill>
            <a:schemeClr val="bg1">
              <a:lumMod val="95000"/>
            </a:schemeClr>
          </a:solidFill>
          <a:ln w="9525" algn="ctr">
            <a:noFill/>
            <a:miter lim="800000"/>
            <a:headEnd/>
            <a:tailEnd/>
          </a:ln>
        </p:spPr>
        <p:txBody>
          <a:bodyPr wrap="none" anchor="ctr"/>
          <a:lstStyle/>
          <a:p>
            <a:pPr algn="ctr" fontAlgn="base">
              <a:spcBef>
                <a:spcPct val="0"/>
              </a:spcBef>
              <a:spcAft>
                <a:spcPct val="0"/>
              </a:spcAft>
            </a:pPr>
            <a:endParaRPr kumimoji="1" lang="ko-KR" altLang="en-US" sz="1600" b="1" dirty="0">
              <a:solidFill>
                <a:srgbClr val="000000"/>
              </a:solidFill>
            </a:endParaRPr>
          </a:p>
        </p:txBody>
      </p:sp>
      <p:sp>
        <p:nvSpPr>
          <p:cNvPr id="6" name="직사각형 5"/>
          <p:cNvSpPr/>
          <p:nvPr/>
        </p:nvSpPr>
        <p:spPr>
          <a:xfrm>
            <a:off x="2467007" y="2250025"/>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 name="직사각형 6"/>
          <p:cNvSpPr/>
          <p:nvPr/>
        </p:nvSpPr>
        <p:spPr>
          <a:xfrm>
            <a:off x="2270471" y="4293932"/>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pic>
        <p:nvPicPr>
          <p:cNvPr id="8" name="Picture 14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44294" y="2223376"/>
            <a:ext cx="1443404" cy="2293938"/>
          </a:xfrm>
          <a:prstGeom prst="rect">
            <a:avLst/>
          </a:prstGeom>
          <a:noFill/>
          <a:ln w="9525">
            <a:noFill/>
            <a:miter lim="800000"/>
            <a:headEnd/>
            <a:tailEnd/>
          </a:ln>
        </p:spPr>
      </p:pic>
      <p:sp>
        <p:nvSpPr>
          <p:cNvPr id="9" name="Text Box 158"/>
          <p:cNvSpPr txBox="1">
            <a:spLocks noChangeArrowheads="1"/>
          </p:cNvSpPr>
          <p:nvPr/>
        </p:nvSpPr>
        <p:spPr bwMode="auto">
          <a:xfrm>
            <a:off x="285720" y="2285992"/>
            <a:ext cx="1839148" cy="830997"/>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200" b="1" dirty="0">
                <a:solidFill>
                  <a:srgbClr val="0000FF"/>
                </a:solidFill>
              </a:rPr>
              <a:t>Upper Control Level</a:t>
            </a:r>
          </a:p>
          <a:p>
            <a:pPr algn="ctr" fontAlgn="base">
              <a:spcBef>
                <a:spcPct val="50000"/>
              </a:spcBef>
              <a:spcAft>
                <a:spcPct val="0"/>
              </a:spcAft>
            </a:pPr>
            <a:r>
              <a:rPr kumimoji="1" lang="en-US" altLang="ko-KR" sz="1200" b="1" dirty="0">
                <a:solidFill>
                  <a:srgbClr val="0000FF"/>
                </a:solidFill>
              </a:rPr>
              <a:t>(UCL)</a:t>
            </a:r>
          </a:p>
          <a:p>
            <a:pPr algn="ctr" fontAlgn="base">
              <a:spcBef>
                <a:spcPct val="50000"/>
              </a:spcBef>
              <a:spcAft>
                <a:spcPct val="0"/>
              </a:spcAft>
            </a:pPr>
            <a:r>
              <a:rPr kumimoji="1" lang="en-US" altLang="ko-KR" sz="1200" b="1" dirty="0">
                <a:solidFill>
                  <a:srgbClr val="0000FF"/>
                </a:solidFill>
              </a:rPr>
              <a:t> μ + 3σ</a:t>
            </a:r>
          </a:p>
        </p:txBody>
      </p:sp>
      <p:sp>
        <p:nvSpPr>
          <p:cNvPr id="10" name="Text Box 159"/>
          <p:cNvSpPr txBox="1">
            <a:spLocks noChangeArrowheads="1"/>
          </p:cNvSpPr>
          <p:nvPr/>
        </p:nvSpPr>
        <p:spPr bwMode="auto">
          <a:xfrm>
            <a:off x="214282" y="4080754"/>
            <a:ext cx="1895347" cy="830997"/>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200" b="1" dirty="0">
                <a:solidFill>
                  <a:srgbClr val="0000FF"/>
                </a:solidFill>
              </a:rPr>
              <a:t>Lower Control Level</a:t>
            </a:r>
          </a:p>
          <a:p>
            <a:pPr algn="ctr" fontAlgn="base">
              <a:spcBef>
                <a:spcPct val="50000"/>
              </a:spcBef>
              <a:spcAft>
                <a:spcPct val="0"/>
              </a:spcAft>
            </a:pPr>
            <a:r>
              <a:rPr kumimoji="1" lang="en-US" altLang="ko-KR" sz="1200" b="1" dirty="0">
                <a:solidFill>
                  <a:srgbClr val="0000FF"/>
                </a:solidFill>
              </a:rPr>
              <a:t>(LCL)</a:t>
            </a:r>
          </a:p>
          <a:p>
            <a:pPr algn="ctr" fontAlgn="base">
              <a:spcBef>
                <a:spcPct val="50000"/>
              </a:spcBef>
              <a:spcAft>
                <a:spcPct val="0"/>
              </a:spcAft>
            </a:pPr>
            <a:r>
              <a:rPr kumimoji="1" lang="en-US" altLang="ko-KR" sz="1200" b="1" dirty="0">
                <a:solidFill>
                  <a:srgbClr val="0000FF"/>
                </a:solidFill>
              </a:rPr>
              <a:t>μ – 3σ</a:t>
            </a:r>
          </a:p>
        </p:txBody>
      </p:sp>
      <p:cxnSp>
        <p:nvCxnSpPr>
          <p:cNvPr id="11" name="AutoShape 160"/>
          <p:cNvCxnSpPr>
            <a:cxnSpLocks noChangeShapeType="1"/>
            <a:stCxn id="10" idx="3"/>
          </p:cNvCxnSpPr>
          <p:nvPr/>
        </p:nvCxnSpPr>
        <p:spPr bwMode="auto">
          <a:xfrm flipV="1">
            <a:off x="2109629" y="4276018"/>
            <a:ext cx="445478" cy="220235"/>
          </a:xfrm>
          <a:prstGeom prst="curvedConnector3">
            <a:avLst>
              <a:gd name="adj1" fmla="val 50000"/>
            </a:avLst>
          </a:prstGeom>
          <a:noFill/>
          <a:ln w="19050">
            <a:solidFill>
              <a:srgbClr val="0000FF"/>
            </a:solidFill>
            <a:prstDash val="sysDot"/>
            <a:round/>
            <a:headEnd/>
            <a:tailEnd type="triangle" w="med" len="med"/>
          </a:ln>
        </p:spPr>
      </p:cxnSp>
      <p:cxnSp>
        <p:nvCxnSpPr>
          <p:cNvPr id="12" name="AutoShape 161"/>
          <p:cNvCxnSpPr>
            <a:cxnSpLocks noChangeShapeType="1"/>
            <a:stCxn id="9" idx="3"/>
          </p:cNvCxnSpPr>
          <p:nvPr/>
        </p:nvCxnSpPr>
        <p:spPr bwMode="auto">
          <a:xfrm flipV="1">
            <a:off x="2124868" y="2500306"/>
            <a:ext cx="375430" cy="201185"/>
          </a:xfrm>
          <a:prstGeom prst="curvedConnector3">
            <a:avLst>
              <a:gd name="adj1" fmla="val 50000"/>
            </a:avLst>
          </a:prstGeom>
          <a:noFill/>
          <a:ln w="19050">
            <a:solidFill>
              <a:srgbClr val="0000FF"/>
            </a:solidFill>
            <a:prstDash val="sysDot"/>
            <a:round/>
            <a:headEnd/>
            <a:tailEnd type="triangle" w="med" len="med"/>
          </a:ln>
        </p:spPr>
      </p:cxnSp>
      <p:sp>
        <p:nvSpPr>
          <p:cNvPr id="13" name="Oval 162"/>
          <p:cNvSpPr>
            <a:spLocks noChangeArrowheads="1"/>
          </p:cNvSpPr>
          <p:nvPr/>
        </p:nvSpPr>
        <p:spPr bwMode="auto">
          <a:xfrm>
            <a:off x="2959551" y="3110789"/>
            <a:ext cx="133350" cy="144462"/>
          </a:xfrm>
          <a:prstGeom prst="ellipse">
            <a:avLst/>
          </a:prstGeom>
          <a:noFill/>
          <a:ln w="19050" algn="ctr">
            <a:solidFill>
              <a:srgbClr val="0000FF"/>
            </a:solidFill>
            <a:prstDash val="sysDot"/>
            <a:round/>
            <a:headEnd/>
            <a:tailEnd/>
          </a:ln>
        </p:spPr>
        <p:txBody>
          <a:bodyPr wrap="none" anchor="ctr"/>
          <a:lstStyle/>
          <a:p>
            <a:pPr algn="ctr" fontAlgn="base">
              <a:spcBef>
                <a:spcPct val="0"/>
              </a:spcBef>
              <a:spcAft>
                <a:spcPct val="0"/>
              </a:spcAft>
            </a:pPr>
            <a:endParaRPr kumimoji="1" lang="ko-KR" altLang="en-US" sz="1000" dirty="0">
              <a:solidFill>
                <a:srgbClr val="000000"/>
              </a:solidFill>
            </a:endParaRPr>
          </a:p>
        </p:txBody>
      </p:sp>
      <p:cxnSp>
        <p:nvCxnSpPr>
          <p:cNvPr id="17" name="직선 연결선 16"/>
          <p:cNvCxnSpPr/>
          <p:nvPr/>
        </p:nvCxnSpPr>
        <p:spPr>
          <a:xfrm>
            <a:off x="2549246" y="3366376"/>
            <a:ext cx="4363915" cy="15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nvGrpSpPr>
          <p:cNvPr id="2" name="그룹 91"/>
          <p:cNvGrpSpPr>
            <a:grpSpLocks/>
          </p:cNvGrpSpPr>
          <p:nvPr/>
        </p:nvGrpSpPr>
        <p:grpSpPr bwMode="auto">
          <a:xfrm>
            <a:off x="2550710" y="3090151"/>
            <a:ext cx="4889989" cy="571500"/>
            <a:chOff x="2870186" y="3009900"/>
            <a:chExt cx="5268496" cy="571500"/>
          </a:xfrm>
        </p:grpSpPr>
        <p:sp>
          <p:nvSpPr>
            <p:cNvPr id="19" name="Line 151"/>
            <p:cNvSpPr>
              <a:spLocks noChangeShapeType="1"/>
            </p:cNvSpPr>
            <p:nvPr/>
          </p:nvSpPr>
          <p:spPr bwMode="auto">
            <a:xfrm>
              <a:off x="2870186" y="30099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0" name="Line 152"/>
            <p:cNvSpPr>
              <a:spLocks noChangeShapeType="1"/>
            </p:cNvSpPr>
            <p:nvPr/>
          </p:nvSpPr>
          <p:spPr bwMode="auto">
            <a:xfrm>
              <a:off x="2889132" y="35814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grpSp>
      <p:sp>
        <p:nvSpPr>
          <p:cNvPr id="21" name="Line 150"/>
          <p:cNvSpPr>
            <a:spLocks noChangeShapeType="1"/>
          </p:cNvSpPr>
          <p:nvPr/>
        </p:nvSpPr>
        <p:spPr bwMode="auto">
          <a:xfrm>
            <a:off x="2550710" y="2774239"/>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2" name="Line 153"/>
          <p:cNvSpPr>
            <a:spLocks noChangeShapeType="1"/>
          </p:cNvSpPr>
          <p:nvPr/>
        </p:nvSpPr>
        <p:spPr bwMode="auto">
          <a:xfrm>
            <a:off x="2565366" y="3960101"/>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3" name="Text Box 166"/>
          <p:cNvSpPr txBox="1">
            <a:spLocks noChangeArrowheads="1"/>
          </p:cNvSpPr>
          <p:nvPr/>
        </p:nvSpPr>
        <p:spPr bwMode="auto">
          <a:xfrm>
            <a:off x="3030940" y="3240482"/>
            <a:ext cx="1050256" cy="430887"/>
          </a:xfrm>
          <a:prstGeom prst="rect">
            <a:avLst/>
          </a:prstGeom>
          <a:solidFill>
            <a:schemeClr val="bg1"/>
          </a:solidFill>
          <a:ln w="9525" algn="ctr">
            <a:noFill/>
            <a:miter lim="800000"/>
            <a:headEnd/>
            <a:tailEnd/>
          </a:ln>
        </p:spPr>
        <p:txBody>
          <a:bodyPr wrap="square">
            <a:spAutoFit/>
          </a:bodyPr>
          <a:lstStyle/>
          <a:p>
            <a:pPr algn="ctr" fontAlgn="base">
              <a:spcBef>
                <a:spcPct val="50000"/>
              </a:spcBef>
              <a:spcAft>
                <a:spcPct val="0"/>
              </a:spcAft>
            </a:pPr>
            <a:r>
              <a:rPr kumimoji="1" lang="en-US" altLang="ko-KR" sz="1100" b="1" dirty="0">
                <a:solidFill>
                  <a:srgbClr val="0000FF"/>
                </a:solidFill>
              </a:rPr>
              <a:t>Overall mean</a:t>
            </a:r>
            <a:r>
              <a:rPr kumimoji="1" lang="ko-KR" altLang="en-US" sz="1100" b="1" dirty="0">
                <a:solidFill>
                  <a:srgbClr val="0000FF"/>
                </a:solidFill>
              </a:rPr>
              <a:t> </a:t>
            </a:r>
            <a:r>
              <a:rPr kumimoji="1" lang="en-US" altLang="ko-KR" sz="1100" b="1" dirty="0">
                <a:solidFill>
                  <a:srgbClr val="0000FF"/>
                </a:solidFill>
              </a:rPr>
              <a:t>μ </a:t>
            </a:r>
            <a:endParaRPr kumimoji="1" lang="ko-KR" altLang="en-US" sz="1100" b="1" dirty="0">
              <a:solidFill>
                <a:srgbClr val="0000FF"/>
              </a:solidFill>
            </a:endParaRPr>
          </a:p>
        </p:txBody>
      </p:sp>
      <p:sp>
        <p:nvSpPr>
          <p:cNvPr id="24" name="Text Box 177"/>
          <p:cNvSpPr txBox="1">
            <a:spLocks noChangeArrowheads="1"/>
          </p:cNvSpPr>
          <p:nvPr/>
        </p:nvSpPr>
        <p:spPr bwMode="auto">
          <a:xfrm>
            <a:off x="6124782" y="2239320"/>
            <a:ext cx="930519" cy="246062"/>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25" name="Text Box 178"/>
          <p:cNvSpPr txBox="1">
            <a:spLocks noChangeArrowheads="1"/>
          </p:cNvSpPr>
          <p:nvPr/>
        </p:nvSpPr>
        <p:spPr bwMode="auto">
          <a:xfrm>
            <a:off x="6124782" y="2493254"/>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26" name="Text Box 179"/>
          <p:cNvSpPr txBox="1">
            <a:spLocks noChangeArrowheads="1"/>
          </p:cNvSpPr>
          <p:nvPr/>
        </p:nvSpPr>
        <p:spPr bwMode="auto">
          <a:xfrm>
            <a:off x="6124782" y="278852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27" name="Text Box 180"/>
          <p:cNvSpPr txBox="1">
            <a:spLocks noChangeArrowheads="1"/>
          </p:cNvSpPr>
          <p:nvPr/>
        </p:nvSpPr>
        <p:spPr bwMode="auto">
          <a:xfrm>
            <a:off x="6124782" y="310602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8" name="Text Box 181"/>
          <p:cNvSpPr txBox="1">
            <a:spLocks noChangeArrowheads="1"/>
          </p:cNvSpPr>
          <p:nvPr/>
        </p:nvSpPr>
        <p:spPr bwMode="auto">
          <a:xfrm>
            <a:off x="6124782" y="337907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9" name="Text Box 182"/>
          <p:cNvSpPr txBox="1">
            <a:spLocks noChangeArrowheads="1"/>
          </p:cNvSpPr>
          <p:nvPr/>
        </p:nvSpPr>
        <p:spPr bwMode="auto">
          <a:xfrm>
            <a:off x="6124782" y="3674353"/>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30" name="Text Box 183"/>
          <p:cNvSpPr txBox="1">
            <a:spLocks noChangeArrowheads="1"/>
          </p:cNvSpPr>
          <p:nvPr/>
        </p:nvSpPr>
        <p:spPr bwMode="auto">
          <a:xfrm>
            <a:off x="6124782" y="396962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31" name="Text Box 184"/>
          <p:cNvSpPr txBox="1">
            <a:spLocks noChangeArrowheads="1"/>
          </p:cNvSpPr>
          <p:nvPr/>
        </p:nvSpPr>
        <p:spPr bwMode="auto">
          <a:xfrm>
            <a:off x="6124782" y="4304660"/>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32" name="Text Box 195"/>
          <p:cNvSpPr txBox="1">
            <a:spLocks noChangeArrowheads="1"/>
          </p:cNvSpPr>
          <p:nvPr/>
        </p:nvSpPr>
        <p:spPr bwMode="auto">
          <a:xfrm>
            <a:off x="5408737" y="1988840"/>
            <a:ext cx="2092221" cy="246221"/>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000" b="1" dirty="0">
                <a:solidFill>
                  <a:srgbClr val="0000FF"/>
                </a:solidFill>
              </a:rPr>
              <a:t>Occupancy rate per area</a:t>
            </a:r>
            <a:endParaRPr kumimoji="1" lang="ko-KR" altLang="en-US" sz="1000" b="1" dirty="0">
              <a:solidFill>
                <a:srgbClr val="0000FF"/>
              </a:solidFill>
            </a:endParaRPr>
          </a:p>
        </p:txBody>
      </p:sp>
      <p:cxnSp>
        <p:nvCxnSpPr>
          <p:cNvPr id="33" name="직선 연결선 32"/>
          <p:cNvCxnSpPr/>
          <p:nvPr/>
        </p:nvCxnSpPr>
        <p:spPr>
          <a:xfrm rot="5400000">
            <a:off x="5110736" y="3366376"/>
            <a:ext cx="2286000" cy="0"/>
          </a:xfrm>
          <a:prstGeom prst="line">
            <a:avLst/>
          </a:prstGeom>
          <a:ln w="28575">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rot="5400000">
            <a:off x="7023002" y="3366440"/>
            <a:ext cx="573088"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5" name="Text Box 172"/>
          <p:cNvSpPr txBox="1">
            <a:spLocks noChangeArrowheads="1"/>
          </p:cNvSpPr>
          <p:nvPr/>
        </p:nvSpPr>
        <p:spPr bwMode="auto">
          <a:xfrm>
            <a:off x="7110986" y="322350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 σ</a:t>
            </a:r>
          </a:p>
        </p:txBody>
      </p:sp>
      <p:cxnSp>
        <p:nvCxnSpPr>
          <p:cNvPr id="36" name="직선 연결선 35"/>
          <p:cNvCxnSpPr/>
          <p:nvPr/>
        </p:nvCxnSpPr>
        <p:spPr>
          <a:xfrm rot="5400000">
            <a:off x="7198115" y="3367170"/>
            <a:ext cx="1144588" cy="0"/>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7" name="Text Box 172"/>
          <p:cNvSpPr txBox="1">
            <a:spLocks noChangeArrowheads="1"/>
          </p:cNvSpPr>
          <p:nvPr/>
        </p:nvSpPr>
        <p:spPr bwMode="auto">
          <a:xfrm>
            <a:off x="7572583" y="322350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 σ</a:t>
            </a:r>
          </a:p>
        </p:txBody>
      </p:sp>
      <p:cxnSp>
        <p:nvCxnSpPr>
          <p:cNvPr id="38" name="직선 연결선 37"/>
          <p:cNvCxnSpPr/>
          <p:nvPr/>
        </p:nvCxnSpPr>
        <p:spPr>
          <a:xfrm rot="5400000">
            <a:off x="7304052" y="3365647"/>
            <a:ext cx="1857375"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Text Box 172"/>
          <p:cNvSpPr txBox="1">
            <a:spLocks noChangeArrowheads="1"/>
          </p:cNvSpPr>
          <p:nvPr/>
        </p:nvSpPr>
        <p:spPr bwMode="auto">
          <a:xfrm>
            <a:off x="8035644" y="322350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 σ</a:t>
            </a:r>
          </a:p>
        </p:txBody>
      </p:sp>
      <p:sp>
        <p:nvSpPr>
          <p:cNvPr id="40" name="타원 39"/>
          <p:cNvSpPr/>
          <p:nvPr/>
        </p:nvSpPr>
        <p:spPr>
          <a:xfrm>
            <a:off x="1165921" y="33473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1" name="타원 40"/>
          <p:cNvSpPr/>
          <p:nvPr/>
        </p:nvSpPr>
        <p:spPr>
          <a:xfrm>
            <a:off x="1375470" y="346004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2" name="타원 41"/>
          <p:cNvSpPr/>
          <p:nvPr/>
        </p:nvSpPr>
        <p:spPr>
          <a:xfrm>
            <a:off x="1631915" y="35632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3" name="타원 42"/>
          <p:cNvSpPr/>
          <p:nvPr/>
        </p:nvSpPr>
        <p:spPr>
          <a:xfrm>
            <a:off x="1631915" y="31107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4" name="타원 43"/>
          <p:cNvSpPr/>
          <p:nvPr/>
        </p:nvSpPr>
        <p:spPr>
          <a:xfrm>
            <a:off x="1375470" y="321715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5" name="타원 44"/>
          <p:cNvSpPr/>
          <p:nvPr/>
        </p:nvSpPr>
        <p:spPr>
          <a:xfrm>
            <a:off x="1375470" y="3336217"/>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6" name="타원 45"/>
          <p:cNvSpPr/>
          <p:nvPr/>
        </p:nvSpPr>
        <p:spPr>
          <a:xfrm>
            <a:off x="1631915" y="344734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7" name="타원 46"/>
          <p:cNvSpPr/>
          <p:nvPr/>
        </p:nvSpPr>
        <p:spPr>
          <a:xfrm>
            <a:off x="1631915" y="32171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8" name="타원 47"/>
          <p:cNvSpPr/>
          <p:nvPr/>
        </p:nvSpPr>
        <p:spPr>
          <a:xfrm>
            <a:off x="1631915" y="333621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9" name="타원 48"/>
          <p:cNvSpPr/>
          <p:nvPr/>
        </p:nvSpPr>
        <p:spPr>
          <a:xfrm>
            <a:off x="1889821" y="35632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0" name="타원 49"/>
          <p:cNvSpPr/>
          <p:nvPr/>
        </p:nvSpPr>
        <p:spPr>
          <a:xfrm>
            <a:off x="1889821" y="31107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1" name="타원 50"/>
          <p:cNvSpPr/>
          <p:nvPr/>
        </p:nvSpPr>
        <p:spPr>
          <a:xfrm>
            <a:off x="1889821" y="346004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2" name="타원 51"/>
          <p:cNvSpPr/>
          <p:nvPr/>
        </p:nvSpPr>
        <p:spPr>
          <a:xfrm>
            <a:off x="1889821" y="32171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3" name="타원 52"/>
          <p:cNvSpPr/>
          <p:nvPr/>
        </p:nvSpPr>
        <p:spPr>
          <a:xfrm>
            <a:off x="1889821" y="333621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4" name="타원 53"/>
          <p:cNvSpPr/>
          <p:nvPr/>
        </p:nvSpPr>
        <p:spPr>
          <a:xfrm>
            <a:off x="1889821" y="366958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5" name="타원 54"/>
          <p:cNvSpPr/>
          <p:nvPr/>
        </p:nvSpPr>
        <p:spPr>
          <a:xfrm>
            <a:off x="1889821" y="30091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6" name="타원 55"/>
          <p:cNvSpPr/>
          <p:nvPr/>
        </p:nvSpPr>
        <p:spPr>
          <a:xfrm>
            <a:off x="2165315" y="35632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7" name="타원 56"/>
          <p:cNvSpPr/>
          <p:nvPr/>
        </p:nvSpPr>
        <p:spPr>
          <a:xfrm>
            <a:off x="2165315" y="31107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8" name="타원 57"/>
          <p:cNvSpPr/>
          <p:nvPr/>
        </p:nvSpPr>
        <p:spPr>
          <a:xfrm>
            <a:off x="2165315" y="346004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9" name="타원 58"/>
          <p:cNvSpPr/>
          <p:nvPr/>
        </p:nvSpPr>
        <p:spPr>
          <a:xfrm>
            <a:off x="2165315" y="32171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0" name="타원 59"/>
          <p:cNvSpPr/>
          <p:nvPr/>
        </p:nvSpPr>
        <p:spPr>
          <a:xfrm>
            <a:off x="2165315" y="333621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1" name="타원 60"/>
          <p:cNvSpPr/>
          <p:nvPr/>
        </p:nvSpPr>
        <p:spPr>
          <a:xfrm>
            <a:off x="2165315" y="366958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2" name="타원 61"/>
          <p:cNvSpPr/>
          <p:nvPr/>
        </p:nvSpPr>
        <p:spPr>
          <a:xfrm>
            <a:off x="2165315" y="30091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3" name="타원 62"/>
          <p:cNvSpPr/>
          <p:nvPr/>
        </p:nvSpPr>
        <p:spPr>
          <a:xfrm>
            <a:off x="2165315" y="28901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4" name="타원 63"/>
          <p:cNvSpPr/>
          <p:nvPr/>
        </p:nvSpPr>
        <p:spPr>
          <a:xfrm>
            <a:off x="2165315" y="379500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5" name="타원 64"/>
          <p:cNvSpPr/>
          <p:nvPr/>
        </p:nvSpPr>
        <p:spPr>
          <a:xfrm>
            <a:off x="2728021" y="35806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6" name="타원 65"/>
          <p:cNvSpPr/>
          <p:nvPr/>
        </p:nvSpPr>
        <p:spPr>
          <a:xfrm>
            <a:off x="2991791" y="315206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7" name="타원 66"/>
          <p:cNvSpPr/>
          <p:nvPr/>
        </p:nvSpPr>
        <p:spPr>
          <a:xfrm>
            <a:off x="3387444" y="30806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8" name="타원 67"/>
          <p:cNvSpPr/>
          <p:nvPr/>
        </p:nvSpPr>
        <p:spPr>
          <a:xfrm>
            <a:off x="3717156" y="272344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9" name="타원 68"/>
          <p:cNvSpPr/>
          <p:nvPr/>
        </p:nvSpPr>
        <p:spPr>
          <a:xfrm>
            <a:off x="4046867" y="336637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0" name="타원 69"/>
          <p:cNvSpPr/>
          <p:nvPr/>
        </p:nvSpPr>
        <p:spPr>
          <a:xfrm>
            <a:off x="4442521" y="36521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1" name="타원 70"/>
          <p:cNvSpPr/>
          <p:nvPr/>
        </p:nvSpPr>
        <p:spPr>
          <a:xfrm>
            <a:off x="4706291" y="30091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2" name="타원 71"/>
          <p:cNvSpPr/>
          <p:nvPr/>
        </p:nvSpPr>
        <p:spPr>
          <a:xfrm>
            <a:off x="5021347" y="329494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3" name="타원 72"/>
          <p:cNvSpPr/>
          <p:nvPr/>
        </p:nvSpPr>
        <p:spPr>
          <a:xfrm>
            <a:off x="5367179" y="322350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4" name="직선 연결선 73"/>
          <p:cNvCxnSpPr>
            <a:stCxn id="65" idx="7"/>
            <a:endCxn id="66" idx="3"/>
          </p:cNvCxnSpPr>
          <p:nvPr/>
        </p:nvCxnSpPr>
        <p:spPr>
          <a:xfrm rot="5400000" flipH="1" flipV="1">
            <a:off x="2703903" y="3293658"/>
            <a:ext cx="379412"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5" name="직선 연결선 74"/>
          <p:cNvCxnSpPr>
            <a:stCxn id="66" idx="6"/>
            <a:endCxn id="67" idx="3"/>
          </p:cNvCxnSpPr>
          <p:nvPr/>
        </p:nvCxnSpPr>
        <p:spPr>
          <a:xfrm flipV="1">
            <a:off x="3057732" y="3140951"/>
            <a:ext cx="339969" cy="460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6" name="직선 연결선 75"/>
          <p:cNvCxnSpPr>
            <a:stCxn id="67" idx="7"/>
            <a:endCxn id="68" idx="2"/>
          </p:cNvCxnSpPr>
          <p:nvPr/>
        </p:nvCxnSpPr>
        <p:spPr>
          <a:xfrm rot="5400000" flipH="1" flipV="1">
            <a:off x="3414188" y="2788771"/>
            <a:ext cx="333375" cy="2725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7" name="직선 연결선 76"/>
          <p:cNvCxnSpPr>
            <a:stCxn id="69" idx="5"/>
            <a:endCxn id="70" idx="1"/>
          </p:cNvCxnSpPr>
          <p:nvPr/>
        </p:nvCxnSpPr>
        <p:spPr>
          <a:xfrm rot="16200000" flipH="1">
            <a:off x="4160129" y="3370589"/>
            <a:ext cx="236538" cy="3487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1165921" y="334097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9" name="직선 연결선 78"/>
          <p:cNvCxnSpPr>
            <a:stCxn id="68" idx="5"/>
            <a:endCxn id="69" idx="1"/>
          </p:cNvCxnSpPr>
          <p:nvPr/>
        </p:nvCxnSpPr>
        <p:spPr>
          <a:xfrm rot="16200000" flipH="1">
            <a:off x="3618854" y="2939220"/>
            <a:ext cx="593725" cy="282819"/>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0" name="직선 연결선 79"/>
          <p:cNvCxnSpPr>
            <a:stCxn id="70" idx="7"/>
            <a:endCxn id="71" idx="3"/>
          </p:cNvCxnSpPr>
          <p:nvPr/>
        </p:nvCxnSpPr>
        <p:spPr>
          <a:xfrm rot="5400000" flipH="1" flipV="1">
            <a:off x="4311247" y="3257940"/>
            <a:ext cx="593725"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1" name="직선 연결선 80"/>
          <p:cNvCxnSpPr>
            <a:stCxn id="71" idx="5"/>
            <a:endCxn id="72" idx="1"/>
          </p:cNvCxnSpPr>
          <p:nvPr/>
        </p:nvCxnSpPr>
        <p:spPr>
          <a:xfrm rot="16200000" flipH="1">
            <a:off x="4779256" y="3053701"/>
            <a:ext cx="236537" cy="268166"/>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2" name="직선 연결선 81"/>
          <p:cNvCxnSpPr>
            <a:stCxn id="72" idx="6"/>
            <a:endCxn id="73" idx="2"/>
          </p:cNvCxnSpPr>
          <p:nvPr/>
        </p:nvCxnSpPr>
        <p:spPr>
          <a:xfrm flipV="1">
            <a:off x="5087290" y="3258426"/>
            <a:ext cx="279888" cy="714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4" name="타원 83"/>
          <p:cNvSpPr/>
          <p:nvPr/>
        </p:nvSpPr>
        <p:spPr>
          <a:xfrm>
            <a:off x="5696891" y="30806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5" name="타원 84"/>
          <p:cNvSpPr/>
          <p:nvPr/>
        </p:nvSpPr>
        <p:spPr>
          <a:xfrm>
            <a:off x="5934284" y="35092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86" name="직선 연결선 85"/>
          <p:cNvCxnSpPr>
            <a:stCxn id="73" idx="7"/>
            <a:endCxn id="84" idx="2"/>
          </p:cNvCxnSpPr>
          <p:nvPr/>
        </p:nvCxnSpPr>
        <p:spPr>
          <a:xfrm rot="5400000" flipH="1" flipV="1">
            <a:off x="5500346" y="3038072"/>
            <a:ext cx="119063" cy="27402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7" name="직선 연결선 86"/>
          <p:cNvCxnSpPr>
            <a:stCxn id="84" idx="5"/>
            <a:endCxn id="85" idx="1"/>
          </p:cNvCxnSpPr>
          <p:nvPr/>
        </p:nvCxnSpPr>
        <p:spPr>
          <a:xfrm rot="16200000" flipH="1">
            <a:off x="5658852" y="3234677"/>
            <a:ext cx="379413" cy="191965"/>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8" name="Line 149"/>
          <p:cNvSpPr>
            <a:spLocks noChangeShapeType="1"/>
          </p:cNvSpPr>
          <p:nvPr/>
        </p:nvSpPr>
        <p:spPr bwMode="auto">
          <a:xfrm>
            <a:off x="2577086" y="2475789"/>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89" name="Line 154"/>
          <p:cNvSpPr>
            <a:spLocks noChangeShapeType="1"/>
          </p:cNvSpPr>
          <p:nvPr/>
        </p:nvSpPr>
        <p:spPr bwMode="auto">
          <a:xfrm>
            <a:off x="2555106" y="4276014"/>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90" name="Rectangle 189"/>
          <p:cNvSpPr>
            <a:spLocks noChangeArrowheads="1"/>
          </p:cNvSpPr>
          <p:nvPr/>
        </p:nvSpPr>
        <p:spPr bwMode="auto">
          <a:xfrm>
            <a:off x="3635896" y="1714488"/>
            <a:ext cx="1717432" cy="360362"/>
          </a:xfrm>
          <a:prstGeom prst="rect">
            <a:avLst/>
          </a:prstGeom>
          <a:noFill/>
          <a:ln w="9525" algn="ctr">
            <a:noFill/>
            <a:miter lim="800000"/>
            <a:headEnd/>
            <a:tailEnd/>
          </a:ln>
        </p:spPr>
        <p:txBody>
          <a:bodyPr wrap="none" anchor="ctr"/>
          <a:lstStyle/>
          <a:p>
            <a:pPr algn="ctr" fontAlgn="base">
              <a:spcBef>
                <a:spcPct val="0"/>
              </a:spcBef>
              <a:spcAft>
                <a:spcPct val="0"/>
              </a:spcAft>
            </a:pPr>
            <a:r>
              <a:rPr kumimoji="1" lang="en-US" altLang="ko-KR" sz="1600" b="1" u="sng" dirty="0">
                <a:solidFill>
                  <a:srgbClr val="000000"/>
                </a:solidFill>
              </a:rPr>
              <a:t>the occupancy rate per normal distribution area.</a:t>
            </a:r>
            <a:endParaRPr kumimoji="1" lang="ko-KR" altLang="en-US" sz="1600" b="1" u="sng" dirty="0">
              <a:solidFill>
                <a:srgbClr val="000000"/>
              </a:solidFill>
            </a:endParaRPr>
          </a:p>
        </p:txBody>
      </p:sp>
      <p:sp>
        <p:nvSpPr>
          <p:cNvPr id="94" name="Text Box 159"/>
          <p:cNvSpPr txBox="1">
            <a:spLocks noChangeArrowheads="1"/>
          </p:cNvSpPr>
          <p:nvPr/>
        </p:nvSpPr>
        <p:spPr bwMode="auto">
          <a:xfrm>
            <a:off x="2651821"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a:t>
            </a:r>
          </a:p>
        </p:txBody>
      </p:sp>
      <p:sp>
        <p:nvSpPr>
          <p:cNvPr id="95" name="Text Box 159"/>
          <p:cNvSpPr txBox="1">
            <a:spLocks noChangeArrowheads="1"/>
          </p:cNvSpPr>
          <p:nvPr/>
        </p:nvSpPr>
        <p:spPr bwMode="auto">
          <a:xfrm>
            <a:off x="2936106"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a:t>
            </a:r>
          </a:p>
        </p:txBody>
      </p:sp>
      <p:sp>
        <p:nvSpPr>
          <p:cNvPr id="96" name="Text Box 159"/>
          <p:cNvSpPr txBox="1">
            <a:spLocks noChangeArrowheads="1"/>
          </p:cNvSpPr>
          <p:nvPr/>
        </p:nvSpPr>
        <p:spPr bwMode="auto">
          <a:xfrm>
            <a:off x="3292195" y="422362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a:t>
            </a:r>
          </a:p>
        </p:txBody>
      </p:sp>
      <p:sp>
        <p:nvSpPr>
          <p:cNvPr id="97" name="Text Box 159"/>
          <p:cNvSpPr txBox="1">
            <a:spLocks noChangeArrowheads="1"/>
          </p:cNvSpPr>
          <p:nvPr/>
        </p:nvSpPr>
        <p:spPr bwMode="auto">
          <a:xfrm>
            <a:off x="3585272" y="422362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4</a:t>
            </a:r>
          </a:p>
        </p:txBody>
      </p:sp>
      <p:sp>
        <p:nvSpPr>
          <p:cNvPr id="98" name="Text Box 159"/>
          <p:cNvSpPr txBox="1">
            <a:spLocks noChangeArrowheads="1"/>
          </p:cNvSpPr>
          <p:nvPr/>
        </p:nvSpPr>
        <p:spPr bwMode="auto">
          <a:xfrm>
            <a:off x="3956013"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5</a:t>
            </a:r>
          </a:p>
        </p:txBody>
      </p:sp>
      <p:sp>
        <p:nvSpPr>
          <p:cNvPr id="99" name="Text Box 159"/>
          <p:cNvSpPr txBox="1">
            <a:spLocks noChangeArrowheads="1"/>
          </p:cNvSpPr>
          <p:nvPr/>
        </p:nvSpPr>
        <p:spPr bwMode="auto">
          <a:xfrm>
            <a:off x="4331152"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6</a:t>
            </a:r>
          </a:p>
        </p:txBody>
      </p:sp>
      <p:sp>
        <p:nvSpPr>
          <p:cNvPr id="100" name="Text Box 159"/>
          <p:cNvSpPr txBox="1">
            <a:spLocks noChangeArrowheads="1"/>
          </p:cNvSpPr>
          <p:nvPr/>
        </p:nvSpPr>
        <p:spPr bwMode="auto">
          <a:xfrm>
            <a:off x="4600783"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7</a:t>
            </a:r>
          </a:p>
        </p:txBody>
      </p:sp>
      <p:sp>
        <p:nvSpPr>
          <p:cNvPr id="101" name="Text Box 159"/>
          <p:cNvSpPr txBox="1">
            <a:spLocks noChangeArrowheads="1"/>
          </p:cNvSpPr>
          <p:nvPr/>
        </p:nvSpPr>
        <p:spPr bwMode="auto">
          <a:xfrm>
            <a:off x="4893860"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8</a:t>
            </a:r>
          </a:p>
        </p:txBody>
      </p:sp>
      <p:sp>
        <p:nvSpPr>
          <p:cNvPr id="102" name="Text Box 159"/>
          <p:cNvSpPr txBox="1">
            <a:spLocks noChangeArrowheads="1"/>
          </p:cNvSpPr>
          <p:nvPr/>
        </p:nvSpPr>
        <p:spPr bwMode="auto">
          <a:xfrm>
            <a:off x="5264603" y="422362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9</a:t>
            </a:r>
          </a:p>
        </p:txBody>
      </p:sp>
      <p:sp>
        <p:nvSpPr>
          <p:cNvPr id="103" name="Text Box 159"/>
          <p:cNvSpPr txBox="1">
            <a:spLocks noChangeArrowheads="1"/>
          </p:cNvSpPr>
          <p:nvPr/>
        </p:nvSpPr>
        <p:spPr bwMode="auto">
          <a:xfrm>
            <a:off x="5497599" y="422362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10</a:t>
            </a:r>
          </a:p>
        </p:txBody>
      </p:sp>
      <p:sp>
        <p:nvSpPr>
          <p:cNvPr id="104" name="Text Box 159"/>
          <p:cNvSpPr txBox="1">
            <a:spLocks noChangeArrowheads="1"/>
          </p:cNvSpPr>
          <p:nvPr/>
        </p:nvSpPr>
        <p:spPr bwMode="auto">
          <a:xfrm>
            <a:off x="5812656" y="422362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11</a:t>
            </a:r>
          </a:p>
        </p:txBody>
      </p:sp>
      <p:sp>
        <p:nvSpPr>
          <p:cNvPr id="105" name="Text Box 33"/>
          <p:cNvSpPr txBox="1">
            <a:spLocks noChangeArrowheads="1"/>
          </p:cNvSpPr>
          <p:nvPr/>
        </p:nvSpPr>
        <p:spPr bwMode="auto">
          <a:xfrm>
            <a:off x="7149367" y="2161290"/>
            <a:ext cx="18517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CC0000"/>
                </a:solidFill>
                <a:latin typeface="맑은 고딕"/>
                <a:ea typeface="맑은 고딕" pitchFamily="50" charset="-127"/>
              </a:rPr>
              <a:t>Assignable cause</a:t>
            </a:r>
            <a:endParaRPr lang="ko-KR" altLang="en-US" sz="1600" b="1" dirty="0">
              <a:solidFill>
                <a:srgbClr val="CC0000"/>
              </a:solidFill>
              <a:latin typeface="맑은 고딕"/>
              <a:ea typeface="맑은 고딕" pitchFamily="50" charset="-127"/>
            </a:endParaRPr>
          </a:p>
        </p:txBody>
      </p:sp>
      <p:sp>
        <p:nvSpPr>
          <p:cNvPr id="106" name="Text Box 35"/>
          <p:cNvSpPr txBox="1">
            <a:spLocks noChangeArrowheads="1"/>
          </p:cNvSpPr>
          <p:nvPr/>
        </p:nvSpPr>
        <p:spPr bwMode="auto">
          <a:xfrm>
            <a:off x="7143768" y="4223626"/>
            <a:ext cx="18517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CC0000"/>
                </a:solidFill>
                <a:latin typeface="맑은 고딕"/>
                <a:ea typeface="맑은 고딕" pitchFamily="50" charset="-127"/>
              </a:rPr>
              <a:t>Assignable cause</a:t>
            </a:r>
            <a:endParaRPr lang="ko-KR" altLang="en-US" sz="1600" b="1" dirty="0">
              <a:solidFill>
                <a:srgbClr val="CC0000"/>
              </a:solidFill>
              <a:latin typeface="맑은 고딕"/>
              <a:ea typeface="맑은 고딕" pitchFamily="50" charset="-127"/>
            </a:endParaRPr>
          </a:p>
        </p:txBody>
      </p:sp>
      <p:sp>
        <p:nvSpPr>
          <p:cNvPr id="107" name="TextBox 106"/>
          <p:cNvSpPr txBox="1"/>
          <p:nvPr/>
        </p:nvSpPr>
        <p:spPr>
          <a:xfrm>
            <a:off x="179512" y="4941168"/>
            <a:ext cx="8640960" cy="1212640"/>
          </a:xfrm>
          <a:prstGeom prst="rect">
            <a:avLst/>
          </a:prstGeom>
          <a:noFill/>
        </p:spPr>
        <p:txBody>
          <a:bodyPr wrap="square" rtlCol="0">
            <a:spAutoFit/>
          </a:bodyPr>
          <a:lstStyle/>
          <a:p>
            <a:pPr fontAlgn="base">
              <a:lnSpc>
                <a:spcPct val="130000"/>
              </a:lnSpc>
              <a:spcBef>
                <a:spcPct val="0"/>
              </a:spcBef>
              <a:spcAft>
                <a:spcPct val="0"/>
              </a:spcAft>
              <a:buClr>
                <a:srgbClr val="C5003D"/>
              </a:buClr>
            </a:pPr>
            <a:r>
              <a:rPr lang="en-US" sz="1400" dirty="0"/>
              <a:t>The odds of escaping the UCL in the process are only one-thousandth.  If you produce 1,000 units a day, it will happen once or twice.  This is not to say that the defect has occurred, but the process has changed from the previous one.  The fact that an outlier appeared on the control chart occurred in such a rare case.  We should check the process in this case.</a:t>
            </a:r>
            <a:endParaRPr kumimoji="1" lang="ko-KR" altLang="en-US" sz="1400" b="1" dirty="0">
              <a:solidFill>
                <a:prstClr val="black"/>
              </a:solidFill>
              <a:latin typeface="굴림" pitchFamily="50" charset="-127"/>
              <a:ea typeface="굴림" pitchFamily="50" charset="-127"/>
            </a:endParaRPr>
          </a:p>
        </p:txBody>
      </p:sp>
      <p:sp>
        <p:nvSpPr>
          <p:cNvPr id="109"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257</a:t>
            </a:fld>
            <a:endParaRPr lang="ko-KR" altLang="en-US" sz="1200" dirty="0">
              <a:solidFill>
                <a:prstClr val="black"/>
              </a:solidFill>
            </a:endParaRPr>
          </a:p>
        </p:txBody>
      </p:sp>
      <p:sp>
        <p:nvSpPr>
          <p:cNvPr id="110"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2452098205"/>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직사각형 42"/>
          <p:cNvSpPr/>
          <p:nvPr/>
        </p:nvSpPr>
        <p:spPr>
          <a:xfrm>
            <a:off x="1662454" y="2190696"/>
            <a:ext cx="5764110" cy="2362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4" name="직사각형 23"/>
          <p:cNvSpPr/>
          <p:nvPr/>
        </p:nvSpPr>
        <p:spPr>
          <a:xfrm>
            <a:off x="1637258" y="3656845"/>
            <a:ext cx="5764110" cy="2362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3" name="Rectangle 20"/>
          <p:cNvSpPr>
            <a:spLocks noChangeArrowheads="1"/>
          </p:cNvSpPr>
          <p:nvPr/>
        </p:nvSpPr>
        <p:spPr bwMode="auto">
          <a:xfrm>
            <a:off x="1115616" y="4191000"/>
            <a:ext cx="7342584" cy="1200971"/>
          </a:xfrm>
          <a:prstGeom prst="rect">
            <a:avLst/>
          </a:prstGeom>
          <a:noFill/>
          <a:ln w="12700">
            <a:noFill/>
            <a:miter lim="800000"/>
            <a:headEnd/>
            <a:tailEnd/>
          </a:ln>
          <a:effectLst>
            <a:outerShdw dist="107763" dir="2700000" algn="ctr" rotWithShape="0">
              <a:schemeClr val="bg2"/>
            </a:outerShdw>
          </a:effectLst>
        </p:spPr>
        <p:txBody>
          <a:bodyPr wrap="square" lIns="92075" tIns="46038" rIns="92075" bIns="46038">
            <a:spAutoFit/>
          </a:bodyPr>
          <a:lstStyle/>
          <a:p>
            <a:pPr fontAlgn="base">
              <a:lnSpc>
                <a:spcPct val="150000"/>
              </a:lnSpc>
              <a:spcBef>
                <a:spcPct val="0"/>
              </a:spcBef>
              <a:spcAft>
                <a:spcPct val="0"/>
              </a:spcAft>
            </a:pPr>
            <a:r>
              <a:rPr kumimoji="1" lang="en-US" altLang="ko-KR" sz="1600" b="1" dirty="0" err="1">
                <a:solidFill>
                  <a:srgbClr val="A9072E"/>
                </a:solidFill>
                <a:latin typeface="굴림" pitchFamily="50" charset="-127"/>
                <a:ea typeface="굴림" pitchFamily="50" charset="-127"/>
              </a:rPr>
              <a:t>Giả</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định</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Nếu</a:t>
            </a:r>
            <a:r>
              <a:rPr kumimoji="1" lang="en-US" altLang="ko-KR" sz="1600" b="1" dirty="0">
                <a:solidFill>
                  <a:srgbClr val="A9072E"/>
                </a:solidFill>
                <a:latin typeface="굴림" pitchFamily="50" charset="-127"/>
                <a:ea typeface="굴림" pitchFamily="50" charset="-127"/>
              </a:rPr>
              <a:t> Process </a:t>
            </a:r>
            <a:r>
              <a:rPr kumimoji="1" lang="en-US" altLang="ko-KR" sz="1600" b="1" dirty="0" err="1">
                <a:solidFill>
                  <a:srgbClr val="A9072E"/>
                </a:solidFill>
                <a:latin typeface="굴림" pitchFamily="50" charset="-127"/>
                <a:ea typeface="굴림" pitchFamily="50" charset="-127"/>
              </a:rPr>
              <a:t>là</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trạng</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thái</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được</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ổn</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định</a:t>
            </a:r>
            <a:r>
              <a:rPr kumimoji="1" lang="en-US" altLang="ko-KR" sz="1600" b="1" dirty="0">
                <a:solidFill>
                  <a:srgbClr val="A9072E"/>
                </a:solidFill>
                <a:latin typeface="굴림" pitchFamily="50" charset="-127"/>
                <a:ea typeface="굴림" pitchFamily="50" charset="-127"/>
              </a:rPr>
              <a:t> Output</a:t>
            </a:r>
            <a:r>
              <a:rPr kumimoji="1" lang="ko-KR" altLang="en-US"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nào</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đó</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thì</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trường</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hợp</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giá</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trị</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đo</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đạc</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được</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đặt</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ngoài</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vùng</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biến</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động</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ổn</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định</a:t>
            </a:r>
            <a:r>
              <a:rPr kumimoji="1" lang="en-US" altLang="ko-KR" sz="1600" b="1" dirty="0">
                <a:solidFill>
                  <a:srgbClr val="A9072E"/>
                </a:solidFill>
                <a:latin typeface="굴림" pitchFamily="50" charset="-127"/>
                <a:ea typeface="굴림" pitchFamily="50" charset="-127"/>
              </a:rPr>
              <a:t> ±3σ </a:t>
            </a:r>
            <a:r>
              <a:rPr kumimoji="1" lang="en-US" altLang="ko-KR" sz="1600" b="1" dirty="0" err="1">
                <a:solidFill>
                  <a:srgbClr val="A9072E"/>
                </a:solidFill>
                <a:latin typeface="굴림" pitchFamily="50" charset="-127"/>
                <a:ea typeface="굴림" pitchFamily="50" charset="-127"/>
              </a:rPr>
              <a:t>là</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cực</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kì</a:t>
            </a:r>
            <a:r>
              <a:rPr kumimoji="1" lang="en-US" altLang="ko-KR" sz="1600" b="1" dirty="0">
                <a:solidFill>
                  <a:srgbClr val="A9072E"/>
                </a:solidFill>
                <a:latin typeface="굴림" pitchFamily="50" charset="-127"/>
                <a:ea typeface="굴림" pitchFamily="50" charset="-127"/>
              </a:rPr>
              <a:t> </a:t>
            </a:r>
            <a:r>
              <a:rPr kumimoji="1" lang="en-US" altLang="ko-KR" sz="1600" b="1" dirty="0" err="1">
                <a:solidFill>
                  <a:srgbClr val="A9072E"/>
                </a:solidFill>
                <a:latin typeface="굴림" pitchFamily="50" charset="-127"/>
                <a:ea typeface="굴림" pitchFamily="50" charset="-127"/>
              </a:rPr>
              <a:t>hiếm</a:t>
            </a:r>
            <a:r>
              <a:rPr kumimoji="1" lang="en-US" altLang="ko-KR" sz="1600" b="1" dirty="0">
                <a:solidFill>
                  <a:srgbClr val="A9072E"/>
                </a:solidFill>
                <a:latin typeface="굴림" pitchFamily="50" charset="-127"/>
                <a:ea typeface="굴림" pitchFamily="50" charset="-127"/>
              </a:rPr>
              <a:t> </a:t>
            </a:r>
          </a:p>
        </p:txBody>
      </p:sp>
      <p:sp>
        <p:nvSpPr>
          <p:cNvPr id="26" name="Text Box 39"/>
          <p:cNvSpPr txBox="1">
            <a:spLocks noChangeArrowheads="1"/>
          </p:cNvSpPr>
          <p:nvPr/>
        </p:nvSpPr>
        <p:spPr bwMode="auto">
          <a:xfrm>
            <a:off x="127732" y="76562"/>
            <a:ext cx="4456285"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a:t>
            </a:r>
            <a:r>
              <a:rPr kumimoji="1" lang="en-US" altLang="ko-KR" sz="2000" b="1">
                <a:solidFill>
                  <a:prstClr val="black"/>
                </a:solidFill>
              </a:rPr>
              <a:t>. Tính cần thiết của đồ thị quản lí</a:t>
            </a:r>
            <a:endParaRPr kumimoji="1" lang="en-US" altLang="ko-KR" sz="2000" b="1" dirty="0">
              <a:solidFill>
                <a:prstClr val="black"/>
              </a:solidFill>
            </a:endParaRPr>
          </a:p>
        </p:txBody>
      </p:sp>
      <p:sp>
        <p:nvSpPr>
          <p:cNvPr id="27" name="Text Box 10"/>
          <p:cNvSpPr txBox="1">
            <a:spLocks noChangeArrowheads="1"/>
          </p:cNvSpPr>
          <p:nvPr/>
        </p:nvSpPr>
        <p:spPr bwMode="auto">
          <a:xfrm>
            <a:off x="5236786" y="122914"/>
            <a:ext cx="3827238"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a:solidFill>
                  <a:prstClr val="black"/>
                </a:solidFill>
                <a:latin typeface="맑은 고딕"/>
                <a:ea typeface="맑은 고딕"/>
              </a:rPr>
              <a:t>- Khái niệm tính ổn định của Process</a:t>
            </a:r>
            <a:endParaRPr lang="ko-KR" altLang="en-US" sz="1600" b="1" dirty="0">
              <a:solidFill>
                <a:prstClr val="black"/>
              </a:solidFill>
              <a:latin typeface="맑은 고딕"/>
              <a:ea typeface="맑은 고딕"/>
            </a:endParaRPr>
          </a:p>
        </p:txBody>
      </p:sp>
      <p:sp>
        <p:nvSpPr>
          <p:cNvPr id="28" name="Line 4"/>
          <p:cNvSpPr>
            <a:spLocks noChangeShapeType="1"/>
          </p:cNvSpPr>
          <p:nvPr/>
        </p:nvSpPr>
        <p:spPr bwMode="auto">
          <a:xfrm flipV="1">
            <a:off x="1628274" y="3653641"/>
            <a:ext cx="5816765" cy="3997"/>
          </a:xfrm>
          <a:prstGeom prst="line">
            <a:avLst/>
          </a:prstGeom>
          <a:noFill/>
          <a:ln w="25400">
            <a:solidFill>
              <a:srgbClr val="063DE8"/>
            </a:solidFill>
            <a:prstDash val="dash"/>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29" name="Line 5"/>
          <p:cNvSpPr>
            <a:spLocks noChangeShapeType="1"/>
          </p:cNvSpPr>
          <p:nvPr/>
        </p:nvSpPr>
        <p:spPr bwMode="auto">
          <a:xfrm>
            <a:off x="7525872" y="2946248"/>
            <a:ext cx="118674" cy="0"/>
          </a:xfrm>
          <a:prstGeom prst="line">
            <a:avLst/>
          </a:prstGeom>
          <a:noFill/>
          <a:ln w="38100" cmpd="dbl">
            <a:solidFill>
              <a:schemeClr val="tx1"/>
            </a:solidFill>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30" name="Line 8"/>
          <p:cNvSpPr>
            <a:spLocks noChangeShapeType="1"/>
          </p:cNvSpPr>
          <p:nvPr/>
        </p:nvSpPr>
        <p:spPr bwMode="auto">
          <a:xfrm>
            <a:off x="1655792" y="2438686"/>
            <a:ext cx="5813324" cy="0"/>
          </a:xfrm>
          <a:prstGeom prst="line">
            <a:avLst/>
          </a:prstGeom>
          <a:noFill/>
          <a:ln w="25400">
            <a:solidFill>
              <a:srgbClr val="063DE8"/>
            </a:solidFill>
            <a:prstDash val="dash"/>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31" name="Rectangle 9"/>
          <p:cNvSpPr>
            <a:spLocks noChangeArrowheads="1"/>
          </p:cNvSpPr>
          <p:nvPr/>
        </p:nvSpPr>
        <p:spPr bwMode="auto">
          <a:xfrm>
            <a:off x="1640313" y="2460669"/>
            <a:ext cx="5794406" cy="1157003"/>
          </a:xfrm>
          <a:prstGeom prst="rect">
            <a:avLst/>
          </a:prstGeom>
          <a:solidFill>
            <a:srgbClr val="FFCC00">
              <a:alpha val="67058"/>
            </a:srgbClr>
          </a:solidFill>
          <a:ln w="12700">
            <a:noFill/>
            <a:miter lim="800000"/>
            <a:headEnd/>
            <a:tailEnd/>
          </a:ln>
        </p:spPr>
        <p:txBody>
          <a:bodyPr wrap="none" anchor="ctr"/>
          <a:lstStyle/>
          <a:p>
            <a:pPr eaLnBrk="0" fontAlgn="base" latinLnBrk="0" hangingPunct="0">
              <a:spcBef>
                <a:spcPct val="0"/>
              </a:spcBef>
              <a:spcAft>
                <a:spcPct val="0"/>
              </a:spcAft>
            </a:pPr>
            <a:endParaRPr lang="ko-KR" altLang="ko-KR" b="1" dirty="0">
              <a:solidFill>
                <a:srgbClr val="000000"/>
              </a:solidFill>
            </a:endParaRPr>
          </a:p>
        </p:txBody>
      </p:sp>
      <p:sp>
        <p:nvSpPr>
          <p:cNvPr id="32" name="Line 10"/>
          <p:cNvSpPr>
            <a:spLocks noChangeShapeType="1"/>
          </p:cNvSpPr>
          <p:nvPr/>
        </p:nvSpPr>
        <p:spPr bwMode="auto">
          <a:xfrm>
            <a:off x="1619672" y="2172917"/>
            <a:ext cx="0" cy="1794453"/>
          </a:xfrm>
          <a:prstGeom prst="line">
            <a:avLst/>
          </a:prstGeom>
          <a:noFill/>
          <a:ln w="25400">
            <a:solidFill>
              <a:schemeClr val="bg2"/>
            </a:solidFill>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sp>
        <p:nvSpPr>
          <p:cNvPr id="33" name="Line 11"/>
          <p:cNvSpPr>
            <a:spLocks noChangeShapeType="1"/>
          </p:cNvSpPr>
          <p:nvPr/>
        </p:nvSpPr>
        <p:spPr bwMode="auto">
          <a:xfrm>
            <a:off x="1654071" y="3036170"/>
            <a:ext cx="5813324" cy="0"/>
          </a:xfrm>
          <a:prstGeom prst="line">
            <a:avLst/>
          </a:prstGeom>
          <a:noFill/>
          <a:ln w="12700">
            <a:solidFill>
              <a:srgbClr val="FF0000"/>
            </a:solidFill>
            <a:round/>
            <a:headEnd type="none" w="sm" len="sm"/>
            <a:tailEnd type="none" w="sm" len="sm"/>
          </a:ln>
        </p:spPr>
        <p:txBody>
          <a:bodyPr wrap="none" anchor="ctr"/>
          <a:lstStyle/>
          <a:p>
            <a:pPr fontAlgn="base">
              <a:spcBef>
                <a:spcPct val="0"/>
              </a:spcBef>
              <a:spcAft>
                <a:spcPct val="0"/>
              </a:spcAft>
            </a:pPr>
            <a:endParaRPr kumimoji="1" lang="ko-KR" altLang="en-US" sz="2400" dirty="0">
              <a:solidFill>
                <a:prstClr val="black"/>
              </a:solidFill>
              <a:latin typeface="굴림" pitchFamily="50" charset="-127"/>
              <a:ea typeface="굴림" pitchFamily="50" charset="-127"/>
            </a:endParaRPr>
          </a:p>
        </p:txBody>
      </p:sp>
      <p:grpSp>
        <p:nvGrpSpPr>
          <p:cNvPr id="3" name="Group 13"/>
          <p:cNvGrpSpPr>
            <a:grpSpLocks/>
          </p:cNvGrpSpPr>
          <p:nvPr/>
        </p:nvGrpSpPr>
        <p:grpSpPr bwMode="auto">
          <a:xfrm>
            <a:off x="7389894" y="2284819"/>
            <a:ext cx="557366" cy="1518191"/>
            <a:chOff x="3307" y="3097"/>
            <a:chExt cx="243" cy="1013"/>
          </a:xfrm>
        </p:grpSpPr>
        <p:sp>
          <p:nvSpPr>
            <p:cNvPr id="38" name="Rectangle 14"/>
            <p:cNvSpPr>
              <a:spLocks noChangeArrowheads="1"/>
            </p:cNvSpPr>
            <p:nvPr/>
          </p:nvSpPr>
          <p:spPr bwMode="auto">
            <a:xfrm>
              <a:off x="3312" y="3097"/>
              <a:ext cx="238" cy="201"/>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00"/>
                  </a:solidFill>
                </a:rPr>
                <a:t>UCL</a:t>
              </a:r>
            </a:p>
          </p:txBody>
        </p:sp>
        <p:sp>
          <p:nvSpPr>
            <p:cNvPr id="39" name="Rectangle 15"/>
            <p:cNvSpPr>
              <a:spLocks noChangeArrowheads="1"/>
            </p:cNvSpPr>
            <p:nvPr/>
          </p:nvSpPr>
          <p:spPr bwMode="auto">
            <a:xfrm>
              <a:off x="3307" y="3909"/>
              <a:ext cx="216" cy="201"/>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00"/>
                  </a:solidFill>
                </a:rPr>
                <a:t>LCL</a:t>
              </a:r>
            </a:p>
          </p:txBody>
        </p:sp>
        <p:sp>
          <p:nvSpPr>
            <p:cNvPr id="40" name="Rectangle 16"/>
            <p:cNvSpPr>
              <a:spLocks noChangeArrowheads="1"/>
            </p:cNvSpPr>
            <p:nvPr/>
          </p:nvSpPr>
          <p:spPr bwMode="auto">
            <a:xfrm>
              <a:off x="3333" y="3494"/>
              <a:ext cx="127" cy="201"/>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dirty="0">
                  <a:solidFill>
                    <a:srgbClr val="000000"/>
                  </a:solidFill>
                </a:rPr>
                <a:t>X</a:t>
              </a:r>
            </a:p>
          </p:txBody>
        </p:sp>
      </p:grpSp>
      <p:sp>
        <p:nvSpPr>
          <p:cNvPr id="36" name="Rectangle 17"/>
          <p:cNvSpPr>
            <a:spLocks noChangeArrowheads="1"/>
          </p:cNvSpPr>
          <p:nvPr/>
        </p:nvSpPr>
        <p:spPr bwMode="auto">
          <a:xfrm>
            <a:off x="1981200" y="2116961"/>
            <a:ext cx="5273496" cy="301750"/>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a:solidFill>
                  <a:srgbClr val="0000FF"/>
                </a:solidFill>
              </a:rPr>
              <a:t>Khu vực biến động nguyên nhân không ngẫu nhiên</a:t>
            </a:r>
            <a:endParaRPr lang="ko-KR" altLang="en-US" sz="1600" b="1" dirty="0">
              <a:solidFill>
                <a:srgbClr val="0000FF"/>
              </a:solidFill>
            </a:endParaRPr>
          </a:p>
        </p:txBody>
      </p:sp>
      <p:sp>
        <p:nvSpPr>
          <p:cNvPr id="37" name="Rectangle 18"/>
          <p:cNvSpPr>
            <a:spLocks noChangeArrowheads="1"/>
          </p:cNvSpPr>
          <p:nvPr/>
        </p:nvSpPr>
        <p:spPr bwMode="auto">
          <a:xfrm>
            <a:off x="2057400" y="3647142"/>
            <a:ext cx="5273496" cy="301750"/>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90000"/>
              </a:lnSpc>
              <a:spcBef>
                <a:spcPct val="0"/>
              </a:spcBef>
              <a:spcAft>
                <a:spcPct val="0"/>
              </a:spcAft>
            </a:pPr>
            <a:r>
              <a:rPr lang="en-US" altLang="ko-KR" sz="1600" b="1">
                <a:solidFill>
                  <a:srgbClr val="0000FF"/>
                </a:solidFill>
              </a:rPr>
              <a:t>Khu vực biến động nguyên nhân không ngẫu nhiên</a:t>
            </a:r>
            <a:endParaRPr lang="ko-KR" altLang="en-US" sz="1600" b="1" dirty="0">
              <a:solidFill>
                <a:srgbClr val="0000FF"/>
              </a:solidFill>
            </a:endParaRPr>
          </a:p>
        </p:txBody>
      </p:sp>
      <p:sp>
        <p:nvSpPr>
          <p:cNvPr id="41" name="Rectangle 19"/>
          <p:cNvSpPr>
            <a:spLocks noChangeArrowheads="1"/>
          </p:cNvSpPr>
          <p:nvPr/>
        </p:nvSpPr>
        <p:spPr bwMode="auto">
          <a:xfrm>
            <a:off x="2895600" y="2594553"/>
            <a:ext cx="3801939" cy="818815"/>
          </a:xfrm>
          <a:prstGeom prst="rect">
            <a:avLst/>
          </a:prstGeom>
          <a:noFill/>
          <a:ln w="9525">
            <a:noFill/>
            <a:miter lim="800000"/>
            <a:headEnd/>
            <a:tailEnd/>
          </a:ln>
        </p:spPr>
        <p:txBody>
          <a:bodyPr wrap="none" lIns="77788" tIns="39688" rIns="77788" bIns="39688">
            <a:spAutoFit/>
          </a:bodyPr>
          <a:lstStyle/>
          <a:p>
            <a:pPr defTabSz="661988" eaLnBrk="0" fontAlgn="base" latinLnBrk="0" hangingPunct="0">
              <a:lnSpc>
                <a:spcPct val="150000"/>
              </a:lnSpc>
              <a:spcBef>
                <a:spcPct val="0"/>
              </a:spcBef>
              <a:spcAft>
                <a:spcPct val="0"/>
              </a:spcAft>
            </a:pPr>
            <a:r>
              <a:rPr lang="en-US" altLang="ko-KR" sz="1600" b="1">
                <a:solidFill>
                  <a:srgbClr val="000000"/>
                </a:solidFill>
              </a:rPr>
              <a:t>Khu vực biến động process ổn định</a:t>
            </a:r>
            <a:endParaRPr lang="ko-KR" altLang="en-US" sz="1600" b="1" dirty="0">
              <a:solidFill>
                <a:srgbClr val="000000"/>
              </a:solidFill>
            </a:endParaRPr>
          </a:p>
          <a:p>
            <a:pPr defTabSz="661988" eaLnBrk="0" fontAlgn="base" latinLnBrk="0" hangingPunct="0">
              <a:lnSpc>
                <a:spcPct val="150000"/>
              </a:lnSpc>
              <a:spcBef>
                <a:spcPct val="0"/>
              </a:spcBef>
              <a:spcAft>
                <a:spcPct val="0"/>
              </a:spcAft>
            </a:pPr>
            <a:r>
              <a:rPr lang="en-US" altLang="ko-KR" sz="1600" b="1">
                <a:solidFill>
                  <a:srgbClr val="000000"/>
                </a:solidFill>
              </a:rPr>
              <a:t>(Chỉ tồn tại nguyên nhân ngẫu nhiên</a:t>
            </a:r>
            <a:endParaRPr lang="en-US" altLang="ko-KR" sz="1600" b="1" dirty="0">
              <a:solidFill>
                <a:srgbClr val="000000"/>
              </a:solidFill>
            </a:endParaRPr>
          </a:p>
        </p:txBody>
      </p:sp>
      <p:sp>
        <p:nvSpPr>
          <p:cNvPr id="23"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258</a:t>
            </a:fld>
            <a:endParaRPr lang="ko-KR" altLang="en-US" sz="1200" dirty="0">
              <a:solidFill>
                <a:prstClr val="black"/>
              </a:solidFill>
            </a:endParaRPr>
          </a:p>
        </p:txBody>
      </p:sp>
      <p:sp>
        <p:nvSpPr>
          <p:cNvPr id="2" name="TextBox 1"/>
          <p:cNvSpPr txBox="1"/>
          <p:nvPr/>
        </p:nvSpPr>
        <p:spPr>
          <a:xfrm>
            <a:off x="2438400" y="1412776"/>
            <a:ext cx="3670172" cy="412421"/>
          </a:xfrm>
          <a:prstGeom prst="rect">
            <a:avLst/>
          </a:prstGeom>
          <a:noFill/>
        </p:spPr>
        <p:txBody>
          <a:bodyPr wrap="none" rtlCol="0">
            <a:spAutoFit/>
          </a:bodyPr>
          <a:lstStyle/>
          <a:p>
            <a:pPr>
              <a:lnSpc>
                <a:spcPct val="130000"/>
              </a:lnSpc>
              <a:buClr>
                <a:srgbClr val="C5003D"/>
              </a:buClr>
            </a:pPr>
            <a:r>
              <a:rPr lang="en-US" altLang="ko-KR" sz="1600" b="1" dirty="0" err="1"/>
              <a:t>Khái</a:t>
            </a:r>
            <a:r>
              <a:rPr lang="en-US" altLang="ko-KR" sz="1600" b="1" dirty="0"/>
              <a:t> </a:t>
            </a:r>
            <a:r>
              <a:rPr lang="en-US" altLang="ko-KR" sz="1600" b="1" dirty="0" err="1"/>
              <a:t>niệm</a:t>
            </a:r>
            <a:r>
              <a:rPr lang="en-US" altLang="ko-KR" sz="1600" b="1" dirty="0"/>
              <a:t> </a:t>
            </a:r>
            <a:r>
              <a:rPr lang="en-US" altLang="ko-KR" sz="1600" b="1" dirty="0" err="1"/>
              <a:t>tính</a:t>
            </a:r>
            <a:r>
              <a:rPr lang="en-US" altLang="ko-KR" sz="1600" b="1" dirty="0"/>
              <a:t> </a:t>
            </a:r>
            <a:r>
              <a:rPr lang="en-US" altLang="ko-KR" sz="1600" b="1" dirty="0" err="1"/>
              <a:t>ổn</a:t>
            </a:r>
            <a:r>
              <a:rPr lang="en-US" altLang="ko-KR" sz="1600" b="1" dirty="0"/>
              <a:t> </a:t>
            </a:r>
            <a:r>
              <a:rPr lang="en-US" altLang="ko-KR" sz="1600" b="1" dirty="0" err="1"/>
              <a:t>định</a:t>
            </a:r>
            <a:r>
              <a:rPr lang="en-US" altLang="ko-KR" sz="1600" b="1" dirty="0"/>
              <a:t> </a:t>
            </a:r>
            <a:r>
              <a:rPr lang="en-US" altLang="ko-KR" sz="1600" b="1" dirty="0" err="1"/>
              <a:t>của</a:t>
            </a:r>
            <a:r>
              <a:rPr lang="en-US" altLang="ko-KR" sz="1600" b="1" dirty="0"/>
              <a:t> Process</a:t>
            </a:r>
            <a:endParaRPr lang="ko-KR" altLang="en-US" sz="1600" b="1" dirty="0"/>
          </a:p>
        </p:txBody>
      </p:sp>
      <p:pic>
        <p:nvPicPr>
          <p:cNvPr id="25" name="Picture 148"/>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57064" y="2271124"/>
            <a:ext cx="1011356" cy="1543310"/>
          </a:xfrm>
          <a:prstGeom prst="rect">
            <a:avLst/>
          </a:prstGeom>
          <a:noFill/>
          <a:ln w="9525">
            <a:noFill/>
            <a:miter lim="800000"/>
            <a:headEnd/>
            <a:tailEnd/>
          </a:ln>
        </p:spPr>
      </p:pic>
      <p:cxnSp>
        <p:nvCxnSpPr>
          <p:cNvPr id="4" name="직선 연결선 3"/>
          <p:cNvCxnSpPr/>
          <p:nvPr/>
        </p:nvCxnSpPr>
        <p:spPr>
          <a:xfrm>
            <a:off x="2699792" y="1844824"/>
            <a:ext cx="32403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5058404"/>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17989" y="836715"/>
            <a:ext cx="8521211" cy="732508"/>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lí</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tiến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hành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đánh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dấu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Data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theo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thời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gian</a:t>
            </a:r>
            <a:r>
              <a:rPr kumimoji="1" lang="en-US" altLang="ko-KR" sz="1600" b="1" dirty="0">
                <a:solidFill>
                  <a:prstClr val="black"/>
                </a:solidFill>
                <a:latin typeface="굴림" pitchFamily="50" charset="-127"/>
                <a:ea typeface="굴림" pitchFamily="50" charset="-127"/>
              </a:rPr>
              <a:t>.</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Nếu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tập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hợp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toàn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cái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lại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chính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chính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quy</a:t>
            </a:r>
            <a:r>
              <a:rPr kumimoji="1" lang="en-US" altLang="ko-KR" sz="1600" b="1" dirty="0">
                <a:solidFill>
                  <a:prstClr val="black"/>
                </a:solidFill>
                <a:latin typeface="굴림" pitchFamily="50" charset="-127"/>
                <a:ea typeface="굴림" pitchFamily="50" charset="-127"/>
              </a:rPr>
              <a:t>.</a:t>
            </a:r>
            <a:endParaRPr kumimoji="1" lang="ko-KR" altLang="en-US" sz="1600" b="1" dirty="0">
              <a:solidFill>
                <a:prstClr val="black"/>
              </a:solidFill>
              <a:latin typeface="굴림" pitchFamily="50" charset="-127"/>
              <a:ea typeface="굴림" pitchFamily="50" charset="-127"/>
            </a:endParaRPr>
          </a:p>
        </p:txBody>
      </p:sp>
      <p:sp>
        <p:nvSpPr>
          <p:cNvPr id="5" name="Rectangle 189"/>
          <p:cNvSpPr>
            <a:spLocks noChangeArrowheads="1"/>
          </p:cNvSpPr>
          <p:nvPr/>
        </p:nvSpPr>
        <p:spPr bwMode="auto">
          <a:xfrm>
            <a:off x="251520" y="1742367"/>
            <a:ext cx="8456812" cy="2943525"/>
          </a:xfrm>
          <a:prstGeom prst="rect">
            <a:avLst/>
          </a:prstGeom>
          <a:solidFill>
            <a:schemeClr val="bg1">
              <a:lumMod val="95000"/>
            </a:schemeClr>
          </a:solidFill>
          <a:ln w="9525" algn="ctr">
            <a:noFill/>
            <a:miter lim="800000"/>
            <a:headEnd/>
            <a:tailEnd/>
          </a:ln>
        </p:spPr>
        <p:txBody>
          <a:bodyPr wrap="none" anchor="ctr"/>
          <a:lstStyle/>
          <a:p>
            <a:pPr algn="ctr" fontAlgn="base">
              <a:spcBef>
                <a:spcPct val="0"/>
              </a:spcBef>
              <a:spcAft>
                <a:spcPct val="0"/>
              </a:spcAft>
            </a:pPr>
            <a:endParaRPr kumimoji="1" lang="ko-KR" altLang="en-US" sz="1600" b="1" dirty="0">
              <a:solidFill>
                <a:srgbClr val="000000"/>
              </a:solidFill>
            </a:endParaRPr>
          </a:p>
        </p:txBody>
      </p:sp>
      <p:sp>
        <p:nvSpPr>
          <p:cNvPr id="6" name="직사각형 5"/>
          <p:cNvSpPr/>
          <p:nvPr/>
        </p:nvSpPr>
        <p:spPr>
          <a:xfrm>
            <a:off x="2467007" y="2250025"/>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 name="직사각형 6"/>
          <p:cNvSpPr/>
          <p:nvPr/>
        </p:nvSpPr>
        <p:spPr>
          <a:xfrm>
            <a:off x="2270471" y="4293932"/>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pic>
        <p:nvPicPr>
          <p:cNvPr id="8" name="Picture 14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44294" y="2223376"/>
            <a:ext cx="1443404" cy="2293938"/>
          </a:xfrm>
          <a:prstGeom prst="rect">
            <a:avLst/>
          </a:prstGeom>
          <a:noFill/>
          <a:ln w="9525">
            <a:noFill/>
            <a:miter lim="800000"/>
            <a:headEnd/>
            <a:tailEnd/>
          </a:ln>
        </p:spPr>
      </p:pic>
      <p:sp>
        <p:nvSpPr>
          <p:cNvPr id="9" name="Text Box 158"/>
          <p:cNvSpPr txBox="1">
            <a:spLocks noChangeArrowheads="1"/>
          </p:cNvSpPr>
          <p:nvPr/>
        </p:nvSpPr>
        <p:spPr bwMode="auto">
          <a:xfrm>
            <a:off x="609600" y="2298938"/>
            <a:ext cx="1658144" cy="830997"/>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200" b="1" dirty="0">
                <a:solidFill>
                  <a:srgbClr val="0000FF"/>
                </a:solidFill>
              </a:rPr>
              <a:t>Upper Control Level</a:t>
            </a:r>
          </a:p>
          <a:p>
            <a:pPr algn="ctr" fontAlgn="base">
              <a:spcBef>
                <a:spcPct val="50000"/>
              </a:spcBef>
              <a:spcAft>
                <a:spcPct val="0"/>
              </a:spcAft>
            </a:pPr>
            <a:r>
              <a:rPr kumimoji="1" lang="en-US" altLang="ko-KR" sz="1200" b="1" dirty="0">
                <a:solidFill>
                  <a:srgbClr val="0000FF"/>
                </a:solidFill>
              </a:rPr>
              <a:t>(UCL)</a:t>
            </a:r>
          </a:p>
          <a:p>
            <a:pPr algn="ctr" fontAlgn="base">
              <a:spcBef>
                <a:spcPct val="50000"/>
              </a:spcBef>
              <a:spcAft>
                <a:spcPct val="0"/>
              </a:spcAft>
            </a:pPr>
            <a:r>
              <a:rPr kumimoji="1" lang="en-US" altLang="ko-KR" sz="1200" b="1" dirty="0">
                <a:solidFill>
                  <a:srgbClr val="0000FF"/>
                </a:solidFill>
              </a:rPr>
              <a:t> μ + 3σ</a:t>
            </a:r>
          </a:p>
        </p:txBody>
      </p:sp>
      <p:sp>
        <p:nvSpPr>
          <p:cNvPr id="10" name="Text Box 159"/>
          <p:cNvSpPr txBox="1">
            <a:spLocks noChangeArrowheads="1"/>
          </p:cNvSpPr>
          <p:nvPr/>
        </p:nvSpPr>
        <p:spPr bwMode="auto">
          <a:xfrm>
            <a:off x="304800" y="4045803"/>
            <a:ext cx="1804829" cy="830997"/>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200" b="1" dirty="0">
                <a:solidFill>
                  <a:srgbClr val="0000FF"/>
                </a:solidFill>
              </a:rPr>
              <a:t>Lower Control Level</a:t>
            </a:r>
          </a:p>
          <a:p>
            <a:pPr algn="ctr" fontAlgn="base">
              <a:spcBef>
                <a:spcPct val="50000"/>
              </a:spcBef>
              <a:spcAft>
                <a:spcPct val="0"/>
              </a:spcAft>
            </a:pPr>
            <a:r>
              <a:rPr kumimoji="1" lang="en-US" altLang="ko-KR" sz="1200" b="1" dirty="0">
                <a:solidFill>
                  <a:srgbClr val="0000FF"/>
                </a:solidFill>
              </a:rPr>
              <a:t>(LCL)</a:t>
            </a:r>
          </a:p>
          <a:p>
            <a:pPr algn="ctr" fontAlgn="base">
              <a:spcBef>
                <a:spcPct val="50000"/>
              </a:spcBef>
              <a:spcAft>
                <a:spcPct val="0"/>
              </a:spcAft>
            </a:pPr>
            <a:r>
              <a:rPr kumimoji="1" lang="en-US" altLang="ko-KR" sz="1200" b="1" dirty="0">
                <a:solidFill>
                  <a:srgbClr val="0000FF"/>
                </a:solidFill>
              </a:rPr>
              <a:t>μ – 3σ</a:t>
            </a:r>
          </a:p>
        </p:txBody>
      </p:sp>
      <p:cxnSp>
        <p:nvCxnSpPr>
          <p:cNvPr id="11" name="AutoShape 160"/>
          <p:cNvCxnSpPr>
            <a:cxnSpLocks noChangeShapeType="1"/>
            <a:stCxn id="10" idx="3"/>
          </p:cNvCxnSpPr>
          <p:nvPr/>
        </p:nvCxnSpPr>
        <p:spPr bwMode="auto">
          <a:xfrm flipV="1">
            <a:off x="2109629" y="4241065"/>
            <a:ext cx="445478" cy="220237"/>
          </a:xfrm>
          <a:prstGeom prst="curvedConnector3">
            <a:avLst>
              <a:gd name="adj1" fmla="val 50000"/>
            </a:avLst>
          </a:prstGeom>
          <a:noFill/>
          <a:ln w="19050">
            <a:solidFill>
              <a:srgbClr val="0000FF"/>
            </a:solidFill>
            <a:prstDash val="sysDot"/>
            <a:round/>
            <a:headEnd/>
            <a:tailEnd type="triangle" w="med" len="med"/>
          </a:ln>
        </p:spPr>
      </p:cxnSp>
      <p:cxnSp>
        <p:nvCxnSpPr>
          <p:cNvPr id="12" name="AutoShape 161"/>
          <p:cNvCxnSpPr>
            <a:cxnSpLocks noChangeShapeType="1"/>
            <a:stCxn id="9" idx="3"/>
          </p:cNvCxnSpPr>
          <p:nvPr/>
        </p:nvCxnSpPr>
        <p:spPr bwMode="auto">
          <a:xfrm flipV="1">
            <a:off x="2267744" y="2470386"/>
            <a:ext cx="290460" cy="244051"/>
          </a:xfrm>
          <a:prstGeom prst="curvedConnector3">
            <a:avLst>
              <a:gd name="adj1" fmla="val 50000"/>
            </a:avLst>
          </a:prstGeom>
          <a:noFill/>
          <a:ln w="19050">
            <a:solidFill>
              <a:srgbClr val="0000FF"/>
            </a:solidFill>
            <a:prstDash val="sysDot"/>
            <a:round/>
            <a:headEnd/>
            <a:tailEnd type="triangle" w="med" len="med"/>
          </a:ln>
        </p:spPr>
      </p:cxnSp>
      <p:sp>
        <p:nvSpPr>
          <p:cNvPr id="13" name="Oval 162"/>
          <p:cNvSpPr>
            <a:spLocks noChangeArrowheads="1"/>
          </p:cNvSpPr>
          <p:nvPr/>
        </p:nvSpPr>
        <p:spPr bwMode="auto">
          <a:xfrm>
            <a:off x="2959551" y="3110789"/>
            <a:ext cx="133350" cy="144462"/>
          </a:xfrm>
          <a:prstGeom prst="ellipse">
            <a:avLst/>
          </a:prstGeom>
          <a:noFill/>
          <a:ln w="19050" algn="ctr">
            <a:solidFill>
              <a:srgbClr val="0000FF"/>
            </a:solidFill>
            <a:prstDash val="sysDot"/>
            <a:round/>
            <a:headEnd/>
            <a:tailEnd/>
          </a:ln>
        </p:spPr>
        <p:txBody>
          <a:bodyPr wrap="none" anchor="ctr"/>
          <a:lstStyle/>
          <a:p>
            <a:pPr algn="ctr" fontAlgn="base">
              <a:spcBef>
                <a:spcPct val="0"/>
              </a:spcBef>
              <a:spcAft>
                <a:spcPct val="0"/>
              </a:spcAft>
            </a:pPr>
            <a:endParaRPr kumimoji="1" lang="ko-KR" altLang="en-US" sz="1000" dirty="0">
              <a:solidFill>
                <a:srgbClr val="000000"/>
              </a:solidFill>
            </a:endParaRPr>
          </a:p>
        </p:txBody>
      </p:sp>
      <p:cxnSp>
        <p:nvCxnSpPr>
          <p:cNvPr id="17" name="직선 연결선 16"/>
          <p:cNvCxnSpPr/>
          <p:nvPr/>
        </p:nvCxnSpPr>
        <p:spPr>
          <a:xfrm>
            <a:off x="2549246" y="3366376"/>
            <a:ext cx="4363915" cy="15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nvGrpSpPr>
          <p:cNvPr id="2" name="그룹 91"/>
          <p:cNvGrpSpPr>
            <a:grpSpLocks/>
          </p:cNvGrpSpPr>
          <p:nvPr/>
        </p:nvGrpSpPr>
        <p:grpSpPr bwMode="auto">
          <a:xfrm>
            <a:off x="2550710" y="3090151"/>
            <a:ext cx="4889989" cy="571500"/>
            <a:chOff x="2870186" y="3009900"/>
            <a:chExt cx="5268496" cy="571500"/>
          </a:xfrm>
        </p:grpSpPr>
        <p:sp>
          <p:nvSpPr>
            <p:cNvPr id="19" name="Line 151"/>
            <p:cNvSpPr>
              <a:spLocks noChangeShapeType="1"/>
            </p:cNvSpPr>
            <p:nvPr/>
          </p:nvSpPr>
          <p:spPr bwMode="auto">
            <a:xfrm>
              <a:off x="2870186" y="30099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0" name="Line 152"/>
            <p:cNvSpPr>
              <a:spLocks noChangeShapeType="1"/>
            </p:cNvSpPr>
            <p:nvPr/>
          </p:nvSpPr>
          <p:spPr bwMode="auto">
            <a:xfrm>
              <a:off x="2889132" y="35814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grpSp>
      <p:sp>
        <p:nvSpPr>
          <p:cNvPr id="21" name="Line 150"/>
          <p:cNvSpPr>
            <a:spLocks noChangeShapeType="1"/>
          </p:cNvSpPr>
          <p:nvPr/>
        </p:nvSpPr>
        <p:spPr bwMode="auto">
          <a:xfrm>
            <a:off x="2550710" y="2774239"/>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2" name="Line 153"/>
          <p:cNvSpPr>
            <a:spLocks noChangeShapeType="1"/>
          </p:cNvSpPr>
          <p:nvPr/>
        </p:nvSpPr>
        <p:spPr bwMode="auto">
          <a:xfrm>
            <a:off x="2565366" y="3960101"/>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3" name="Text Box 166"/>
          <p:cNvSpPr txBox="1">
            <a:spLocks noChangeArrowheads="1"/>
          </p:cNvSpPr>
          <p:nvPr/>
        </p:nvSpPr>
        <p:spPr bwMode="auto">
          <a:xfrm>
            <a:off x="3030940" y="3240482"/>
            <a:ext cx="1050256" cy="430887"/>
          </a:xfrm>
          <a:prstGeom prst="rect">
            <a:avLst/>
          </a:prstGeom>
          <a:solidFill>
            <a:schemeClr val="bg1"/>
          </a:solidFill>
          <a:ln w="9525" algn="ctr">
            <a:noFill/>
            <a:miter lim="800000"/>
            <a:headEnd/>
            <a:tailEnd/>
          </a:ln>
        </p:spPr>
        <p:txBody>
          <a:bodyPr wrap="square">
            <a:spAutoFit/>
          </a:bodyPr>
          <a:lstStyle/>
          <a:p>
            <a:pPr algn="ctr" fontAlgn="base">
              <a:spcBef>
                <a:spcPct val="50000"/>
              </a:spcBef>
              <a:spcAft>
                <a:spcPct val="0"/>
              </a:spcAft>
            </a:pPr>
            <a:r>
              <a:rPr kumimoji="1" lang="en-US" altLang="ko-KR" sz="1100" b="1" dirty="0" err="1">
                <a:solidFill>
                  <a:srgbClr val="0000FF"/>
                </a:solidFill>
              </a:rPr>
              <a:t>Bình</a:t>
            </a:r>
            <a:r>
              <a:rPr kumimoji="1" lang="en-US" altLang="ko-KR" sz="1100" b="1" dirty="0">
                <a:solidFill>
                  <a:srgbClr val="0000FF"/>
                </a:solidFill>
              </a:rPr>
              <a:t> </a:t>
            </a:r>
            <a:r>
              <a:rPr kumimoji="1" lang="en-US" altLang="ko-KR" sz="1100" b="1" dirty="0" err="1">
                <a:solidFill>
                  <a:srgbClr val="0000FF"/>
                </a:solidFill>
              </a:rPr>
              <a:t>quân</a:t>
            </a:r>
            <a:r>
              <a:rPr kumimoji="1" lang="en-US" altLang="ko-KR" sz="1100" b="1" dirty="0">
                <a:solidFill>
                  <a:srgbClr val="0000FF"/>
                </a:solidFill>
              </a:rPr>
              <a:t> </a:t>
            </a:r>
            <a:r>
              <a:rPr kumimoji="1" lang="en-US" altLang="ko-KR" sz="1100" b="1" dirty="0" err="1">
                <a:solidFill>
                  <a:srgbClr val="0000FF"/>
                </a:solidFill>
              </a:rPr>
              <a:t>tổng</a:t>
            </a:r>
            <a:r>
              <a:rPr kumimoji="1" lang="en-US" altLang="ko-KR" sz="1100" b="1" dirty="0">
                <a:solidFill>
                  <a:srgbClr val="0000FF"/>
                </a:solidFill>
              </a:rPr>
              <a:t> </a:t>
            </a:r>
            <a:r>
              <a:rPr kumimoji="1" lang="en-US" altLang="ko-KR" sz="1100" b="1" dirty="0" err="1">
                <a:solidFill>
                  <a:srgbClr val="0000FF"/>
                </a:solidFill>
              </a:rPr>
              <a:t>thể</a:t>
            </a:r>
            <a:r>
              <a:rPr kumimoji="1" lang="ko-KR" altLang="en-US" sz="1100" b="1" dirty="0">
                <a:solidFill>
                  <a:srgbClr val="0000FF"/>
                </a:solidFill>
              </a:rPr>
              <a:t> </a:t>
            </a:r>
            <a:r>
              <a:rPr kumimoji="1" lang="en-US" altLang="ko-KR" sz="1100" b="1" dirty="0">
                <a:solidFill>
                  <a:srgbClr val="0000FF"/>
                </a:solidFill>
              </a:rPr>
              <a:t>μ </a:t>
            </a:r>
            <a:endParaRPr kumimoji="1" lang="ko-KR" altLang="en-US" sz="1100" b="1" dirty="0">
              <a:solidFill>
                <a:srgbClr val="0000FF"/>
              </a:solidFill>
            </a:endParaRPr>
          </a:p>
        </p:txBody>
      </p:sp>
      <p:sp>
        <p:nvSpPr>
          <p:cNvPr id="24" name="Text Box 177"/>
          <p:cNvSpPr txBox="1">
            <a:spLocks noChangeArrowheads="1"/>
          </p:cNvSpPr>
          <p:nvPr/>
        </p:nvSpPr>
        <p:spPr bwMode="auto">
          <a:xfrm>
            <a:off x="6124782" y="2239320"/>
            <a:ext cx="930519" cy="246062"/>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25" name="Text Box 178"/>
          <p:cNvSpPr txBox="1">
            <a:spLocks noChangeArrowheads="1"/>
          </p:cNvSpPr>
          <p:nvPr/>
        </p:nvSpPr>
        <p:spPr bwMode="auto">
          <a:xfrm>
            <a:off x="6124782" y="2493254"/>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26" name="Text Box 179"/>
          <p:cNvSpPr txBox="1">
            <a:spLocks noChangeArrowheads="1"/>
          </p:cNvSpPr>
          <p:nvPr/>
        </p:nvSpPr>
        <p:spPr bwMode="auto">
          <a:xfrm>
            <a:off x="6124782" y="278852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27" name="Text Box 180"/>
          <p:cNvSpPr txBox="1">
            <a:spLocks noChangeArrowheads="1"/>
          </p:cNvSpPr>
          <p:nvPr/>
        </p:nvSpPr>
        <p:spPr bwMode="auto">
          <a:xfrm>
            <a:off x="6124782" y="310602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8" name="Text Box 181"/>
          <p:cNvSpPr txBox="1">
            <a:spLocks noChangeArrowheads="1"/>
          </p:cNvSpPr>
          <p:nvPr/>
        </p:nvSpPr>
        <p:spPr bwMode="auto">
          <a:xfrm>
            <a:off x="6124782" y="337907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9" name="Text Box 182"/>
          <p:cNvSpPr txBox="1">
            <a:spLocks noChangeArrowheads="1"/>
          </p:cNvSpPr>
          <p:nvPr/>
        </p:nvSpPr>
        <p:spPr bwMode="auto">
          <a:xfrm>
            <a:off x="6124782" y="3674353"/>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30" name="Text Box 183"/>
          <p:cNvSpPr txBox="1">
            <a:spLocks noChangeArrowheads="1"/>
          </p:cNvSpPr>
          <p:nvPr/>
        </p:nvSpPr>
        <p:spPr bwMode="auto">
          <a:xfrm>
            <a:off x="6124782" y="396962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31" name="Text Box 184"/>
          <p:cNvSpPr txBox="1">
            <a:spLocks noChangeArrowheads="1"/>
          </p:cNvSpPr>
          <p:nvPr/>
        </p:nvSpPr>
        <p:spPr bwMode="auto">
          <a:xfrm>
            <a:off x="6124782" y="4304660"/>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32" name="Text Box 195"/>
          <p:cNvSpPr txBox="1">
            <a:spLocks noChangeArrowheads="1"/>
          </p:cNvSpPr>
          <p:nvPr/>
        </p:nvSpPr>
        <p:spPr bwMode="auto">
          <a:xfrm>
            <a:off x="5868144" y="1988840"/>
            <a:ext cx="2056656" cy="246221"/>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000" b="1" dirty="0" err="1">
                <a:solidFill>
                  <a:srgbClr val="0000FF"/>
                </a:solidFill>
              </a:rPr>
              <a:t>tỉ</a:t>
            </a:r>
            <a:r>
              <a:rPr kumimoji="1" lang="en-US" altLang="ko-KR" sz="1000" b="1" dirty="0">
                <a:solidFill>
                  <a:srgbClr val="0000FF"/>
                </a:solidFill>
              </a:rPr>
              <a:t> </a:t>
            </a:r>
            <a:r>
              <a:rPr kumimoji="1" lang="en-US" altLang="ko-KR" sz="1000" b="1" dirty="0" err="1">
                <a:solidFill>
                  <a:srgbClr val="0000FF"/>
                </a:solidFill>
              </a:rPr>
              <a:t>lệ</a:t>
            </a:r>
            <a:r>
              <a:rPr kumimoji="1" lang="en-US" altLang="ko-KR" sz="1000" b="1" dirty="0">
                <a:solidFill>
                  <a:srgbClr val="0000FF"/>
                </a:solidFill>
              </a:rPr>
              <a:t> </a:t>
            </a:r>
            <a:r>
              <a:rPr kumimoji="1" lang="en-US" altLang="ko-KR" sz="1000" b="1" dirty="0" err="1">
                <a:solidFill>
                  <a:srgbClr val="0000FF"/>
                </a:solidFill>
              </a:rPr>
              <a:t>chiếm</a:t>
            </a:r>
            <a:r>
              <a:rPr kumimoji="1" lang="en-US" altLang="ko-KR" sz="1000" b="1" dirty="0">
                <a:solidFill>
                  <a:srgbClr val="0000FF"/>
                </a:solidFill>
              </a:rPr>
              <a:t> </a:t>
            </a:r>
            <a:r>
              <a:rPr kumimoji="1" lang="en-US" altLang="ko-KR" sz="1000" b="1" dirty="0" err="1">
                <a:solidFill>
                  <a:srgbClr val="0000FF"/>
                </a:solidFill>
              </a:rPr>
              <a:t>hữu</a:t>
            </a:r>
            <a:r>
              <a:rPr kumimoji="1" lang="en-US" altLang="ko-KR" sz="1000" b="1" dirty="0">
                <a:solidFill>
                  <a:srgbClr val="0000FF"/>
                </a:solidFill>
              </a:rPr>
              <a:t> </a:t>
            </a:r>
            <a:r>
              <a:rPr kumimoji="1" lang="en-US" altLang="ko-KR" sz="1000" b="1" dirty="0" err="1">
                <a:solidFill>
                  <a:srgbClr val="0000FF"/>
                </a:solidFill>
              </a:rPr>
              <a:t>theo</a:t>
            </a:r>
            <a:r>
              <a:rPr kumimoji="1" lang="en-US" altLang="ko-KR" sz="1000" b="1" dirty="0">
                <a:solidFill>
                  <a:srgbClr val="0000FF"/>
                </a:solidFill>
              </a:rPr>
              <a:t> </a:t>
            </a:r>
            <a:r>
              <a:rPr kumimoji="1" lang="en-US" altLang="ko-KR" sz="1000" b="1" dirty="0" err="1">
                <a:solidFill>
                  <a:srgbClr val="0000FF"/>
                </a:solidFill>
              </a:rPr>
              <a:t>khu</a:t>
            </a:r>
            <a:r>
              <a:rPr kumimoji="1" lang="en-US" altLang="ko-KR" sz="1000" b="1" dirty="0">
                <a:solidFill>
                  <a:srgbClr val="0000FF"/>
                </a:solidFill>
              </a:rPr>
              <a:t> </a:t>
            </a:r>
            <a:r>
              <a:rPr kumimoji="1" lang="en-US" altLang="ko-KR" sz="1000" b="1" dirty="0" err="1">
                <a:solidFill>
                  <a:srgbClr val="0000FF"/>
                </a:solidFill>
              </a:rPr>
              <a:t>vực</a:t>
            </a:r>
            <a:endParaRPr kumimoji="1" lang="ko-KR" altLang="en-US" sz="1000" b="1" dirty="0">
              <a:solidFill>
                <a:srgbClr val="0000FF"/>
              </a:solidFill>
            </a:endParaRPr>
          </a:p>
        </p:txBody>
      </p:sp>
      <p:cxnSp>
        <p:nvCxnSpPr>
          <p:cNvPr id="33" name="직선 연결선 32"/>
          <p:cNvCxnSpPr/>
          <p:nvPr/>
        </p:nvCxnSpPr>
        <p:spPr>
          <a:xfrm rot="5400000">
            <a:off x="5110736" y="3366376"/>
            <a:ext cx="2286000" cy="0"/>
          </a:xfrm>
          <a:prstGeom prst="line">
            <a:avLst/>
          </a:prstGeom>
          <a:ln w="28575">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rot="5400000">
            <a:off x="7023002" y="3366440"/>
            <a:ext cx="573088"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5" name="Text Box 172"/>
          <p:cNvSpPr txBox="1">
            <a:spLocks noChangeArrowheads="1"/>
          </p:cNvSpPr>
          <p:nvPr/>
        </p:nvSpPr>
        <p:spPr bwMode="auto">
          <a:xfrm>
            <a:off x="7110986" y="322350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 σ</a:t>
            </a:r>
          </a:p>
        </p:txBody>
      </p:sp>
      <p:cxnSp>
        <p:nvCxnSpPr>
          <p:cNvPr id="36" name="직선 연결선 35"/>
          <p:cNvCxnSpPr/>
          <p:nvPr/>
        </p:nvCxnSpPr>
        <p:spPr>
          <a:xfrm rot="5400000">
            <a:off x="7198115" y="3367170"/>
            <a:ext cx="1144588" cy="0"/>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7" name="Text Box 172"/>
          <p:cNvSpPr txBox="1">
            <a:spLocks noChangeArrowheads="1"/>
          </p:cNvSpPr>
          <p:nvPr/>
        </p:nvSpPr>
        <p:spPr bwMode="auto">
          <a:xfrm>
            <a:off x="7572583" y="322350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 σ</a:t>
            </a:r>
          </a:p>
        </p:txBody>
      </p:sp>
      <p:cxnSp>
        <p:nvCxnSpPr>
          <p:cNvPr id="38" name="직선 연결선 37"/>
          <p:cNvCxnSpPr/>
          <p:nvPr/>
        </p:nvCxnSpPr>
        <p:spPr>
          <a:xfrm rot="5400000">
            <a:off x="7304052" y="3365647"/>
            <a:ext cx="1857375"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Text Box 172"/>
          <p:cNvSpPr txBox="1">
            <a:spLocks noChangeArrowheads="1"/>
          </p:cNvSpPr>
          <p:nvPr/>
        </p:nvSpPr>
        <p:spPr bwMode="auto">
          <a:xfrm>
            <a:off x="8035644" y="322350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 σ</a:t>
            </a:r>
          </a:p>
        </p:txBody>
      </p:sp>
      <p:sp>
        <p:nvSpPr>
          <p:cNvPr id="40" name="타원 39"/>
          <p:cNvSpPr/>
          <p:nvPr/>
        </p:nvSpPr>
        <p:spPr>
          <a:xfrm>
            <a:off x="1165921" y="33473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1" name="타원 40"/>
          <p:cNvSpPr/>
          <p:nvPr/>
        </p:nvSpPr>
        <p:spPr>
          <a:xfrm>
            <a:off x="1375470" y="346004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2" name="타원 41"/>
          <p:cNvSpPr/>
          <p:nvPr/>
        </p:nvSpPr>
        <p:spPr>
          <a:xfrm>
            <a:off x="1631915" y="35632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3" name="타원 42"/>
          <p:cNvSpPr/>
          <p:nvPr/>
        </p:nvSpPr>
        <p:spPr>
          <a:xfrm>
            <a:off x="1631915" y="31107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4" name="타원 43"/>
          <p:cNvSpPr/>
          <p:nvPr/>
        </p:nvSpPr>
        <p:spPr>
          <a:xfrm>
            <a:off x="1375470" y="321715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5" name="타원 44"/>
          <p:cNvSpPr/>
          <p:nvPr/>
        </p:nvSpPr>
        <p:spPr>
          <a:xfrm>
            <a:off x="1375470" y="3336217"/>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6" name="타원 45"/>
          <p:cNvSpPr/>
          <p:nvPr/>
        </p:nvSpPr>
        <p:spPr>
          <a:xfrm>
            <a:off x="1631915" y="344734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7" name="타원 46"/>
          <p:cNvSpPr/>
          <p:nvPr/>
        </p:nvSpPr>
        <p:spPr>
          <a:xfrm>
            <a:off x="1631915" y="32171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8" name="타원 47"/>
          <p:cNvSpPr/>
          <p:nvPr/>
        </p:nvSpPr>
        <p:spPr>
          <a:xfrm>
            <a:off x="1631915" y="333621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9" name="타원 48"/>
          <p:cNvSpPr/>
          <p:nvPr/>
        </p:nvSpPr>
        <p:spPr>
          <a:xfrm>
            <a:off x="1889821" y="35632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0" name="타원 49"/>
          <p:cNvSpPr/>
          <p:nvPr/>
        </p:nvSpPr>
        <p:spPr>
          <a:xfrm>
            <a:off x="1889821" y="31107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1" name="타원 50"/>
          <p:cNvSpPr/>
          <p:nvPr/>
        </p:nvSpPr>
        <p:spPr>
          <a:xfrm>
            <a:off x="1889821" y="346004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2" name="타원 51"/>
          <p:cNvSpPr/>
          <p:nvPr/>
        </p:nvSpPr>
        <p:spPr>
          <a:xfrm>
            <a:off x="1889821" y="32171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3" name="타원 52"/>
          <p:cNvSpPr/>
          <p:nvPr/>
        </p:nvSpPr>
        <p:spPr>
          <a:xfrm>
            <a:off x="1889821" y="333621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4" name="타원 53"/>
          <p:cNvSpPr/>
          <p:nvPr/>
        </p:nvSpPr>
        <p:spPr>
          <a:xfrm>
            <a:off x="1889821" y="366958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5" name="타원 54"/>
          <p:cNvSpPr/>
          <p:nvPr/>
        </p:nvSpPr>
        <p:spPr>
          <a:xfrm>
            <a:off x="1889821" y="30091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6" name="타원 55"/>
          <p:cNvSpPr/>
          <p:nvPr/>
        </p:nvSpPr>
        <p:spPr>
          <a:xfrm>
            <a:off x="2165315" y="35632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7" name="타원 56"/>
          <p:cNvSpPr/>
          <p:nvPr/>
        </p:nvSpPr>
        <p:spPr>
          <a:xfrm>
            <a:off x="2165315" y="31107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8" name="타원 57"/>
          <p:cNvSpPr/>
          <p:nvPr/>
        </p:nvSpPr>
        <p:spPr>
          <a:xfrm>
            <a:off x="2165315" y="346004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9" name="타원 58"/>
          <p:cNvSpPr/>
          <p:nvPr/>
        </p:nvSpPr>
        <p:spPr>
          <a:xfrm>
            <a:off x="2165315" y="32171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0" name="타원 59"/>
          <p:cNvSpPr/>
          <p:nvPr/>
        </p:nvSpPr>
        <p:spPr>
          <a:xfrm>
            <a:off x="2165315" y="333621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1" name="타원 60"/>
          <p:cNvSpPr/>
          <p:nvPr/>
        </p:nvSpPr>
        <p:spPr>
          <a:xfrm>
            <a:off x="2165315" y="366958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2" name="타원 61"/>
          <p:cNvSpPr/>
          <p:nvPr/>
        </p:nvSpPr>
        <p:spPr>
          <a:xfrm>
            <a:off x="2165315" y="30091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3" name="타원 62"/>
          <p:cNvSpPr/>
          <p:nvPr/>
        </p:nvSpPr>
        <p:spPr>
          <a:xfrm>
            <a:off x="2165315" y="28901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4" name="타원 63"/>
          <p:cNvSpPr/>
          <p:nvPr/>
        </p:nvSpPr>
        <p:spPr>
          <a:xfrm>
            <a:off x="2165315" y="379500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5" name="타원 64"/>
          <p:cNvSpPr/>
          <p:nvPr/>
        </p:nvSpPr>
        <p:spPr>
          <a:xfrm>
            <a:off x="2728021" y="35806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6" name="타원 65"/>
          <p:cNvSpPr/>
          <p:nvPr/>
        </p:nvSpPr>
        <p:spPr>
          <a:xfrm>
            <a:off x="2991791" y="315206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7" name="타원 66"/>
          <p:cNvSpPr/>
          <p:nvPr/>
        </p:nvSpPr>
        <p:spPr>
          <a:xfrm>
            <a:off x="3387444" y="30806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8" name="타원 67"/>
          <p:cNvSpPr/>
          <p:nvPr/>
        </p:nvSpPr>
        <p:spPr>
          <a:xfrm>
            <a:off x="3717156" y="272344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9" name="타원 68"/>
          <p:cNvSpPr/>
          <p:nvPr/>
        </p:nvSpPr>
        <p:spPr>
          <a:xfrm>
            <a:off x="4046867" y="336637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0" name="타원 69"/>
          <p:cNvSpPr/>
          <p:nvPr/>
        </p:nvSpPr>
        <p:spPr>
          <a:xfrm>
            <a:off x="4442521" y="36521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1" name="타원 70"/>
          <p:cNvSpPr/>
          <p:nvPr/>
        </p:nvSpPr>
        <p:spPr>
          <a:xfrm>
            <a:off x="4706291" y="300919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2" name="타원 71"/>
          <p:cNvSpPr/>
          <p:nvPr/>
        </p:nvSpPr>
        <p:spPr>
          <a:xfrm>
            <a:off x="5021347" y="329494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3" name="타원 72"/>
          <p:cNvSpPr/>
          <p:nvPr/>
        </p:nvSpPr>
        <p:spPr>
          <a:xfrm>
            <a:off x="5367179" y="322350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4" name="직선 연결선 73"/>
          <p:cNvCxnSpPr>
            <a:stCxn id="65" idx="7"/>
            <a:endCxn id="66" idx="3"/>
          </p:cNvCxnSpPr>
          <p:nvPr/>
        </p:nvCxnSpPr>
        <p:spPr>
          <a:xfrm rot="5400000" flipH="1" flipV="1">
            <a:off x="2703903" y="3293658"/>
            <a:ext cx="379412"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5" name="직선 연결선 74"/>
          <p:cNvCxnSpPr>
            <a:stCxn id="66" idx="6"/>
            <a:endCxn id="67" idx="3"/>
          </p:cNvCxnSpPr>
          <p:nvPr/>
        </p:nvCxnSpPr>
        <p:spPr>
          <a:xfrm flipV="1">
            <a:off x="3057732" y="3140951"/>
            <a:ext cx="339969" cy="460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6" name="직선 연결선 75"/>
          <p:cNvCxnSpPr>
            <a:stCxn id="67" idx="7"/>
            <a:endCxn id="68" idx="2"/>
          </p:cNvCxnSpPr>
          <p:nvPr/>
        </p:nvCxnSpPr>
        <p:spPr>
          <a:xfrm rot="5400000" flipH="1" flipV="1">
            <a:off x="3414188" y="2788771"/>
            <a:ext cx="333375" cy="2725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7" name="직선 연결선 76"/>
          <p:cNvCxnSpPr>
            <a:stCxn id="69" idx="5"/>
            <a:endCxn id="70" idx="1"/>
          </p:cNvCxnSpPr>
          <p:nvPr/>
        </p:nvCxnSpPr>
        <p:spPr>
          <a:xfrm rot="16200000" flipH="1">
            <a:off x="4160129" y="3370589"/>
            <a:ext cx="236538" cy="3487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1165921" y="334097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9" name="직선 연결선 78"/>
          <p:cNvCxnSpPr>
            <a:stCxn id="68" idx="5"/>
            <a:endCxn id="69" idx="1"/>
          </p:cNvCxnSpPr>
          <p:nvPr/>
        </p:nvCxnSpPr>
        <p:spPr>
          <a:xfrm rot="16200000" flipH="1">
            <a:off x="3618854" y="2939220"/>
            <a:ext cx="593725" cy="282819"/>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0" name="직선 연결선 79"/>
          <p:cNvCxnSpPr>
            <a:stCxn id="70" idx="7"/>
            <a:endCxn id="71" idx="3"/>
          </p:cNvCxnSpPr>
          <p:nvPr/>
        </p:nvCxnSpPr>
        <p:spPr>
          <a:xfrm rot="5400000" flipH="1" flipV="1">
            <a:off x="4311247" y="3257940"/>
            <a:ext cx="593725"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1" name="직선 연결선 80"/>
          <p:cNvCxnSpPr>
            <a:stCxn id="71" idx="5"/>
            <a:endCxn id="72" idx="1"/>
          </p:cNvCxnSpPr>
          <p:nvPr/>
        </p:nvCxnSpPr>
        <p:spPr>
          <a:xfrm rot="16200000" flipH="1">
            <a:off x="4779256" y="3053701"/>
            <a:ext cx="236537" cy="268166"/>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2" name="직선 연결선 81"/>
          <p:cNvCxnSpPr>
            <a:stCxn id="72" idx="6"/>
            <a:endCxn id="73" idx="2"/>
          </p:cNvCxnSpPr>
          <p:nvPr/>
        </p:nvCxnSpPr>
        <p:spPr>
          <a:xfrm flipV="1">
            <a:off x="5087290" y="3258426"/>
            <a:ext cx="279888" cy="714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4" name="타원 83"/>
          <p:cNvSpPr/>
          <p:nvPr/>
        </p:nvSpPr>
        <p:spPr>
          <a:xfrm>
            <a:off x="5696891" y="308062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5" name="타원 84"/>
          <p:cNvSpPr/>
          <p:nvPr/>
        </p:nvSpPr>
        <p:spPr>
          <a:xfrm>
            <a:off x="5934284" y="350925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86" name="직선 연결선 85"/>
          <p:cNvCxnSpPr>
            <a:stCxn id="73" idx="7"/>
            <a:endCxn id="84" idx="2"/>
          </p:cNvCxnSpPr>
          <p:nvPr/>
        </p:nvCxnSpPr>
        <p:spPr>
          <a:xfrm rot="5400000" flipH="1" flipV="1">
            <a:off x="5500346" y="3038072"/>
            <a:ext cx="119063" cy="27402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7" name="직선 연결선 86"/>
          <p:cNvCxnSpPr>
            <a:stCxn id="84" idx="5"/>
            <a:endCxn id="85" idx="1"/>
          </p:cNvCxnSpPr>
          <p:nvPr/>
        </p:nvCxnSpPr>
        <p:spPr>
          <a:xfrm rot="16200000" flipH="1">
            <a:off x="5658852" y="3234677"/>
            <a:ext cx="379413" cy="191965"/>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8" name="Line 149"/>
          <p:cNvSpPr>
            <a:spLocks noChangeShapeType="1"/>
          </p:cNvSpPr>
          <p:nvPr/>
        </p:nvSpPr>
        <p:spPr bwMode="auto">
          <a:xfrm>
            <a:off x="2577086" y="2475789"/>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89" name="Line 154"/>
          <p:cNvSpPr>
            <a:spLocks noChangeShapeType="1"/>
          </p:cNvSpPr>
          <p:nvPr/>
        </p:nvSpPr>
        <p:spPr bwMode="auto">
          <a:xfrm>
            <a:off x="2555106" y="4276014"/>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90" name="Rectangle 189"/>
          <p:cNvSpPr>
            <a:spLocks noChangeArrowheads="1"/>
          </p:cNvSpPr>
          <p:nvPr/>
        </p:nvSpPr>
        <p:spPr bwMode="auto">
          <a:xfrm>
            <a:off x="3635896" y="1676400"/>
            <a:ext cx="1717432" cy="360362"/>
          </a:xfrm>
          <a:prstGeom prst="rect">
            <a:avLst/>
          </a:prstGeom>
          <a:noFill/>
          <a:ln w="9525" algn="ctr">
            <a:noFill/>
            <a:miter lim="800000"/>
            <a:headEnd/>
            <a:tailEnd/>
          </a:ln>
        </p:spPr>
        <p:txBody>
          <a:bodyPr wrap="none" anchor="ctr"/>
          <a:lstStyle/>
          <a:p>
            <a:pPr algn="ctr" fontAlgn="base">
              <a:spcBef>
                <a:spcPct val="0"/>
              </a:spcBef>
              <a:spcAft>
                <a:spcPct val="0"/>
              </a:spcAft>
            </a:pPr>
            <a:r>
              <a:rPr kumimoji="1" lang="en-US" altLang="ko-KR" sz="1600" b="1" u="sng" dirty="0" err="1">
                <a:solidFill>
                  <a:srgbClr val="000000"/>
                </a:solidFill>
              </a:rPr>
              <a:t>Tỉ</a:t>
            </a:r>
            <a:r>
              <a:rPr kumimoji="1" lang="en-US" altLang="ko-KR" sz="1600" b="1" u="sng" dirty="0">
                <a:solidFill>
                  <a:srgbClr val="000000"/>
                </a:solidFill>
              </a:rPr>
              <a:t> </a:t>
            </a:r>
            <a:r>
              <a:rPr kumimoji="1" lang="en-US" altLang="ko-KR" sz="1600" b="1" u="sng" dirty="0" err="1">
                <a:solidFill>
                  <a:srgbClr val="000000"/>
                </a:solidFill>
              </a:rPr>
              <a:t>lệ</a:t>
            </a:r>
            <a:r>
              <a:rPr kumimoji="1" lang="en-US" altLang="ko-KR" sz="1600" b="1" u="sng" dirty="0">
                <a:solidFill>
                  <a:srgbClr val="000000"/>
                </a:solidFill>
              </a:rPr>
              <a:t> </a:t>
            </a:r>
            <a:r>
              <a:rPr kumimoji="1" lang="en-US" altLang="ko-KR" sz="1600" b="1" u="sng" dirty="0" err="1">
                <a:solidFill>
                  <a:srgbClr val="000000"/>
                </a:solidFill>
              </a:rPr>
              <a:t>chiếm</a:t>
            </a:r>
            <a:r>
              <a:rPr kumimoji="1" lang="en-US" altLang="ko-KR" sz="1600" b="1" u="sng" dirty="0">
                <a:solidFill>
                  <a:srgbClr val="000000"/>
                </a:solidFill>
              </a:rPr>
              <a:t> </a:t>
            </a:r>
            <a:r>
              <a:rPr kumimoji="1" lang="en-US" altLang="ko-KR" sz="1600" b="1" u="sng" dirty="0" err="1">
                <a:solidFill>
                  <a:srgbClr val="000000"/>
                </a:solidFill>
              </a:rPr>
              <a:t>hữu</a:t>
            </a:r>
            <a:r>
              <a:rPr kumimoji="1" lang="en-US" altLang="ko-KR" sz="1600" b="1" u="sng" dirty="0">
                <a:solidFill>
                  <a:srgbClr val="000000"/>
                </a:solidFill>
              </a:rPr>
              <a:t> </a:t>
            </a:r>
            <a:r>
              <a:rPr kumimoji="1" lang="en-US" altLang="ko-KR" sz="1600" b="1" u="sng" dirty="0" err="1">
                <a:solidFill>
                  <a:srgbClr val="000000"/>
                </a:solidFill>
              </a:rPr>
              <a:t>theo</a:t>
            </a:r>
            <a:r>
              <a:rPr kumimoji="1" lang="en-US" altLang="ko-KR" sz="1600" b="1" u="sng" dirty="0">
                <a:solidFill>
                  <a:srgbClr val="000000"/>
                </a:solidFill>
              </a:rPr>
              <a:t> </a:t>
            </a:r>
            <a:r>
              <a:rPr kumimoji="1" lang="en-US" altLang="ko-KR" sz="1600" b="1" u="sng" dirty="0" err="1">
                <a:solidFill>
                  <a:srgbClr val="000000"/>
                </a:solidFill>
              </a:rPr>
              <a:t>khu</a:t>
            </a:r>
            <a:r>
              <a:rPr kumimoji="1" lang="en-US" altLang="ko-KR" sz="1600" b="1" u="sng" dirty="0">
                <a:solidFill>
                  <a:srgbClr val="000000"/>
                </a:solidFill>
              </a:rPr>
              <a:t> </a:t>
            </a:r>
            <a:r>
              <a:rPr kumimoji="1" lang="en-US" altLang="ko-KR" sz="1600" b="1" u="sng" dirty="0" err="1">
                <a:solidFill>
                  <a:srgbClr val="000000"/>
                </a:solidFill>
              </a:rPr>
              <a:t>vực</a:t>
            </a:r>
            <a:r>
              <a:rPr kumimoji="1" lang="en-US" altLang="ko-KR" sz="1600" b="1" u="sng" dirty="0">
                <a:solidFill>
                  <a:srgbClr val="000000"/>
                </a:solidFill>
              </a:rPr>
              <a:t> </a:t>
            </a:r>
            <a:r>
              <a:rPr kumimoji="1" lang="en-US" altLang="ko-KR" sz="1600" b="1" u="sng" dirty="0" err="1">
                <a:solidFill>
                  <a:srgbClr val="000000"/>
                </a:solidFill>
              </a:rPr>
              <a:t>phân</a:t>
            </a:r>
            <a:r>
              <a:rPr kumimoji="1" lang="en-US" altLang="ko-KR" sz="1600" b="1" u="sng" dirty="0">
                <a:solidFill>
                  <a:srgbClr val="000000"/>
                </a:solidFill>
              </a:rPr>
              <a:t> </a:t>
            </a:r>
            <a:r>
              <a:rPr kumimoji="1" lang="en-US" altLang="ko-KR" sz="1600" b="1" u="sng" dirty="0" err="1">
                <a:solidFill>
                  <a:srgbClr val="000000"/>
                </a:solidFill>
              </a:rPr>
              <a:t>bố</a:t>
            </a:r>
            <a:r>
              <a:rPr kumimoji="1" lang="en-US" altLang="ko-KR" sz="1600" b="1" u="sng" dirty="0">
                <a:solidFill>
                  <a:srgbClr val="000000"/>
                </a:solidFill>
              </a:rPr>
              <a:t> </a:t>
            </a:r>
            <a:r>
              <a:rPr kumimoji="1" lang="en-US" altLang="ko-KR" sz="1600" b="1" u="sng" dirty="0" err="1">
                <a:solidFill>
                  <a:srgbClr val="000000"/>
                </a:solidFill>
              </a:rPr>
              <a:t>chính</a:t>
            </a:r>
            <a:r>
              <a:rPr kumimoji="1" lang="en-US" altLang="ko-KR" sz="1600" b="1" u="sng" dirty="0">
                <a:solidFill>
                  <a:srgbClr val="000000"/>
                </a:solidFill>
              </a:rPr>
              <a:t> </a:t>
            </a:r>
            <a:r>
              <a:rPr kumimoji="1" lang="en-US" altLang="ko-KR" sz="1600" b="1" u="sng" dirty="0" err="1">
                <a:solidFill>
                  <a:srgbClr val="000000"/>
                </a:solidFill>
              </a:rPr>
              <a:t>quy</a:t>
            </a:r>
            <a:endParaRPr kumimoji="1" lang="ko-KR" altLang="en-US" sz="1600" b="1" u="sng" dirty="0">
              <a:solidFill>
                <a:srgbClr val="000000"/>
              </a:solidFill>
            </a:endParaRPr>
          </a:p>
        </p:txBody>
      </p:sp>
      <p:sp>
        <p:nvSpPr>
          <p:cNvPr id="94" name="Text Box 159"/>
          <p:cNvSpPr txBox="1">
            <a:spLocks noChangeArrowheads="1"/>
          </p:cNvSpPr>
          <p:nvPr/>
        </p:nvSpPr>
        <p:spPr bwMode="auto">
          <a:xfrm>
            <a:off x="2651821"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a:t>
            </a:r>
          </a:p>
        </p:txBody>
      </p:sp>
      <p:sp>
        <p:nvSpPr>
          <p:cNvPr id="95" name="Text Box 159"/>
          <p:cNvSpPr txBox="1">
            <a:spLocks noChangeArrowheads="1"/>
          </p:cNvSpPr>
          <p:nvPr/>
        </p:nvSpPr>
        <p:spPr bwMode="auto">
          <a:xfrm>
            <a:off x="2936106"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a:t>
            </a:r>
          </a:p>
        </p:txBody>
      </p:sp>
      <p:sp>
        <p:nvSpPr>
          <p:cNvPr id="96" name="Text Box 159"/>
          <p:cNvSpPr txBox="1">
            <a:spLocks noChangeArrowheads="1"/>
          </p:cNvSpPr>
          <p:nvPr/>
        </p:nvSpPr>
        <p:spPr bwMode="auto">
          <a:xfrm>
            <a:off x="3292195" y="422362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a:t>
            </a:r>
          </a:p>
        </p:txBody>
      </p:sp>
      <p:sp>
        <p:nvSpPr>
          <p:cNvPr id="97" name="Text Box 159"/>
          <p:cNvSpPr txBox="1">
            <a:spLocks noChangeArrowheads="1"/>
          </p:cNvSpPr>
          <p:nvPr/>
        </p:nvSpPr>
        <p:spPr bwMode="auto">
          <a:xfrm>
            <a:off x="3585272" y="422362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4</a:t>
            </a:r>
          </a:p>
        </p:txBody>
      </p:sp>
      <p:sp>
        <p:nvSpPr>
          <p:cNvPr id="98" name="Text Box 159"/>
          <p:cNvSpPr txBox="1">
            <a:spLocks noChangeArrowheads="1"/>
          </p:cNvSpPr>
          <p:nvPr/>
        </p:nvSpPr>
        <p:spPr bwMode="auto">
          <a:xfrm>
            <a:off x="3956013"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5</a:t>
            </a:r>
          </a:p>
        </p:txBody>
      </p:sp>
      <p:sp>
        <p:nvSpPr>
          <p:cNvPr id="99" name="Text Box 159"/>
          <p:cNvSpPr txBox="1">
            <a:spLocks noChangeArrowheads="1"/>
          </p:cNvSpPr>
          <p:nvPr/>
        </p:nvSpPr>
        <p:spPr bwMode="auto">
          <a:xfrm>
            <a:off x="4331152"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6</a:t>
            </a:r>
          </a:p>
        </p:txBody>
      </p:sp>
      <p:sp>
        <p:nvSpPr>
          <p:cNvPr id="100" name="Text Box 159"/>
          <p:cNvSpPr txBox="1">
            <a:spLocks noChangeArrowheads="1"/>
          </p:cNvSpPr>
          <p:nvPr/>
        </p:nvSpPr>
        <p:spPr bwMode="auto">
          <a:xfrm>
            <a:off x="4600783"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7</a:t>
            </a:r>
          </a:p>
        </p:txBody>
      </p:sp>
      <p:sp>
        <p:nvSpPr>
          <p:cNvPr id="101" name="Text Box 159"/>
          <p:cNvSpPr txBox="1">
            <a:spLocks noChangeArrowheads="1"/>
          </p:cNvSpPr>
          <p:nvPr/>
        </p:nvSpPr>
        <p:spPr bwMode="auto">
          <a:xfrm>
            <a:off x="4893860" y="422362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8</a:t>
            </a:r>
          </a:p>
        </p:txBody>
      </p:sp>
      <p:sp>
        <p:nvSpPr>
          <p:cNvPr id="102" name="Text Box 159"/>
          <p:cNvSpPr txBox="1">
            <a:spLocks noChangeArrowheads="1"/>
          </p:cNvSpPr>
          <p:nvPr/>
        </p:nvSpPr>
        <p:spPr bwMode="auto">
          <a:xfrm>
            <a:off x="5264603" y="422362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9</a:t>
            </a:r>
          </a:p>
        </p:txBody>
      </p:sp>
      <p:sp>
        <p:nvSpPr>
          <p:cNvPr id="103" name="Text Box 159"/>
          <p:cNvSpPr txBox="1">
            <a:spLocks noChangeArrowheads="1"/>
          </p:cNvSpPr>
          <p:nvPr/>
        </p:nvSpPr>
        <p:spPr bwMode="auto">
          <a:xfrm>
            <a:off x="5497599" y="422362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10</a:t>
            </a:r>
          </a:p>
        </p:txBody>
      </p:sp>
      <p:sp>
        <p:nvSpPr>
          <p:cNvPr id="104" name="Text Box 159"/>
          <p:cNvSpPr txBox="1">
            <a:spLocks noChangeArrowheads="1"/>
          </p:cNvSpPr>
          <p:nvPr/>
        </p:nvSpPr>
        <p:spPr bwMode="auto">
          <a:xfrm>
            <a:off x="5812656" y="422362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11</a:t>
            </a:r>
          </a:p>
        </p:txBody>
      </p:sp>
      <p:sp>
        <p:nvSpPr>
          <p:cNvPr id="105" name="Text Box 33"/>
          <p:cNvSpPr txBox="1">
            <a:spLocks noChangeArrowheads="1"/>
          </p:cNvSpPr>
          <p:nvPr/>
        </p:nvSpPr>
        <p:spPr bwMode="auto">
          <a:xfrm>
            <a:off x="6934200" y="2133600"/>
            <a:ext cx="20574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300" b="1" dirty="0" err="1">
                <a:solidFill>
                  <a:srgbClr val="CC0000"/>
                </a:solidFill>
                <a:latin typeface="맑은 고딕"/>
                <a:ea typeface="맑은 고딕" pitchFamily="50" charset="-127"/>
              </a:rPr>
              <a:t>Nguyên</a:t>
            </a:r>
            <a:r>
              <a:rPr lang="en-US" altLang="ko-KR" sz="1300" b="1" dirty="0">
                <a:solidFill>
                  <a:srgbClr val="CC0000"/>
                </a:solidFill>
                <a:latin typeface="맑은 고딕"/>
                <a:ea typeface="맑은 고딕" pitchFamily="50" charset="-127"/>
              </a:rPr>
              <a:t> </a:t>
            </a:r>
            <a:r>
              <a:rPr lang="en-US" altLang="ko-KR" sz="1300" b="1" dirty="0" err="1">
                <a:solidFill>
                  <a:srgbClr val="CC0000"/>
                </a:solidFill>
                <a:latin typeface="맑은 고딕"/>
                <a:ea typeface="맑은 고딕" pitchFamily="50" charset="-127"/>
              </a:rPr>
              <a:t>nhân</a:t>
            </a:r>
            <a:r>
              <a:rPr lang="en-US" altLang="ko-KR" sz="1300" b="1" dirty="0">
                <a:solidFill>
                  <a:srgbClr val="CC0000"/>
                </a:solidFill>
                <a:latin typeface="맑은 고딕"/>
                <a:ea typeface="맑은 고딕" pitchFamily="50" charset="-127"/>
              </a:rPr>
              <a:t> </a:t>
            </a:r>
            <a:r>
              <a:rPr lang="en-US" altLang="ko-KR" sz="1300" b="1" dirty="0" err="1">
                <a:solidFill>
                  <a:srgbClr val="CC0000"/>
                </a:solidFill>
                <a:latin typeface="맑은 고딕"/>
                <a:ea typeface="맑은 고딕" pitchFamily="50" charset="-127"/>
              </a:rPr>
              <a:t>không</a:t>
            </a:r>
            <a:r>
              <a:rPr lang="en-US" altLang="ko-KR" sz="1300" b="1" dirty="0">
                <a:solidFill>
                  <a:srgbClr val="CC0000"/>
                </a:solidFill>
                <a:latin typeface="맑은 고딕"/>
                <a:ea typeface="맑은 고딕" pitchFamily="50" charset="-127"/>
              </a:rPr>
              <a:t> </a:t>
            </a:r>
            <a:r>
              <a:rPr lang="en-US" altLang="ko-KR" sz="1300" b="1" dirty="0" err="1">
                <a:solidFill>
                  <a:srgbClr val="CC0000"/>
                </a:solidFill>
                <a:latin typeface="맑은 고딕"/>
                <a:ea typeface="맑은 고딕" pitchFamily="50" charset="-127"/>
              </a:rPr>
              <a:t>ngẫu</a:t>
            </a:r>
            <a:r>
              <a:rPr lang="en-US" altLang="ko-KR" sz="1300" b="1" dirty="0">
                <a:solidFill>
                  <a:srgbClr val="CC0000"/>
                </a:solidFill>
                <a:latin typeface="맑은 고딕"/>
                <a:ea typeface="맑은 고딕" pitchFamily="50" charset="-127"/>
              </a:rPr>
              <a:t> </a:t>
            </a:r>
            <a:r>
              <a:rPr lang="en-US" altLang="ko-KR" sz="1300" b="1" dirty="0" err="1">
                <a:solidFill>
                  <a:srgbClr val="CC0000"/>
                </a:solidFill>
                <a:latin typeface="맑은 고딕"/>
                <a:ea typeface="맑은 고딕" pitchFamily="50" charset="-127"/>
              </a:rPr>
              <a:t>nhiên</a:t>
            </a:r>
            <a:r>
              <a:rPr lang="en-US" altLang="ko-KR" sz="1300" b="1" dirty="0">
                <a:solidFill>
                  <a:srgbClr val="CC0000"/>
                </a:solidFill>
                <a:latin typeface="맑은 고딕"/>
                <a:ea typeface="맑은 고딕" pitchFamily="50" charset="-127"/>
              </a:rPr>
              <a:t> </a:t>
            </a:r>
            <a:endParaRPr lang="ko-KR" altLang="en-US" sz="1300" b="1" dirty="0">
              <a:solidFill>
                <a:srgbClr val="CC0000"/>
              </a:solidFill>
              <a:latin typeface="맑은 고딕"/>
              <a:ea typeface="맑은 고딕" pitchFamily="50" charset="-127"/>
            </a:endParaRPr>
          </a:p>
        </p:txBody>
      </p:sp>
      <p:sp>
        <p:nvSpPr>
          <p:cNvPr id="106" name="Text Box 35"/>
          <p:cNvSpPr txBox="1">
            <a:spLocks noChangeArrowheads="1"/>
          </p:cNvSpPr>
          <p:nvPr/>
        </p:nvSpPr>
        <p:spPr bwMode="auto">
          <a:xfrm>
            <a:off x="7074589" y="4295001"/>
            <a:ext cx="1688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err="1">
                <a:solidFill>
                  <a:srgbClr val="CC0000"/>
                </a:solidFill>
                <a:latin typeface="맑은 고딕"/>
                <a:ea typeface="맑은 고딕" pitchFamily="50" charset="-127"/>
              </a:rPr>
              <a:t>Nguyên</a:t>
            </a: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nhân</a:t>
            </a: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không</a:t>
            </a:r>
            <a:endParaRPr lang="en-US" altLang="ko-KR" sz="1200" b="1" dirty="0">
              <a:solidFill>
                <a:srgbClr val="CC0000"/>
              </a:solidFill>
              <a:latin typeface="맑은 고딕"/>
              <a:ea typeface="맑은 고딕" pitchFamily="50" charset="-127"/>
            </a:endParaRPr>
          </a:p>
          <a:p>
            <a:pPr eaLnBrk="1" fontAlgn="base" hangingPunct="1">
              <a:spcBef>
                <a:spcPct val="0"/>
              </a:spcBef>
              <a:spcAft>
                <a:spcPct val="0"/>
              </a:spcAft>
            </a:pP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ngẫu</a:t>
            </a: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nhiên</a:t>
            </a:r>
            <a:endParaRPr lang="ko-KR" altLang="en-US" sz="1200" b="1" dirty="0">
              <a:solidFill>
                <a:srgbClr val="CC0000"/>
              </a:solidFill>
              <a:latin typeface="맑은 고딕"/>
              <a:ea typeface="맑은 고딕" pitchFamily="50" charset="-127"/>
            </a:endParaRPr>
          </a:p>
        </p:txBody>
      </p:sp>
      <p:sp>
        <p:nvSpPr>
          <p:cNvPr id="107" name="TextBox 106"/>
          <p:cNvSpPr txBox="1"/>
          <p:nvPr/>
        </p:nvSpPr>
        <p:spPr>
          <a:xfrm>
            <a:off x="179512" y="4941168"/>
            <a:ext cx="8640960" cy="149271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Tỉ</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lệ</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sinh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điểm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ngoài</a:t>
            </a:r>
            <a:r>
              <a:rPr kumimoji="1" lang="en-US" altLang="ko-KR" sz="1400" b="1" dirty="0">
                <a:solidFill>
                  <a:prstClr val="black"/>
                </a:solidFill>
                <a:latin typeface="굴림" pitchFamily="50" charset="-127"/>
                <a:ea typeface="굴림" pitchFamily="50" charset="-127"/>
              </a:rPr>
              <a:t> UCL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chỉ</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1~2 </a:t>
            </a:r>
            <a:r>
              <a:rPr kumimoji="1" lang="en-US" altLang="ko-KR" sz="1400" b="1" dirty="0" err="1">
                <a:solidFill>
                  <a:prstClr val="black"/>
                </a:solidFill>
                <a:latin typeface="굴림" pitchFamily="50" charset="-127"/>
                <a:ea typeface="굴림" pitchFamily="50" charset="-127"/>
              </a:rPr>
              <a:t>phần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nghìn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Nếu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một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xuất</a:t>
            </a:r>
            <a:r>
              <a:rPr kumimoji="1" lang="en-US" altLang="ko-KR" sz="1400" b="1" dirty="0">
                <a:solidFill>
                  <a:prstClr val="black"/>
                </a:solidFill>
                <a:latin typeface="굴림" pitchFamily="50" charset="-127"/>
                <a:ea typeface="굴림" pitchFamily="50" charset="-127"/>
              </a:rPr>
              <a:t> 1000 </a:t>
            </a:r>
            <a:r>
              <a:rPr kumimoji="1" lang="en-US" altLang="ko-KR" sz="1400" b="1" dirty="0" err="1">
                <a:solidFill>
                  <a:prstClr val="black"/>
                </a:solidFill>
                <a:latin typeface="굴림" pitchFamily="50" charset="-127"/>
                <a:ea typeface="굴림" pitchFamily="50" charset="-127"/>
              </a:rPr>
              <a:t>chiếc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thì</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sinh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khoảng</a:t>
            </a:r>
            <a:r>
              <a:rPr kumimoji="1" lang="en-US" altLang="ko-KR" sz="1400" b="1" dirty="0">
                <a:solidFill>
                  <a:prstClr val="black"/>
                </a:solidFill>
                <a:latin typeface="굴림" pitchFamily="50" charset="-127"/>
                <a:ea typeface="굴림" pitchFamily="50" charset="-127"/>
              </a:rPr>
              <a:t> 1~2.  </a:t>
            </a:r>
            <a:r>
              <a:rPr kumimoji="1" lang="en-US" altLang="ko-KR" sz="1400" b="1" dirty="0" err="1">
                <a:solidFill>
                  <a:prstClr val="black"/>
                </a:solidFill>
                <a:latin typeface="굴림" pitchFamily="50" charset="-127"/>
                <a:ea typeface="굴림" pitchFamily="50" charset="-127"/>
              </a:rPr>
              <a:t>Đây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phải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số</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sinh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lượng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sự</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thay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đổi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khác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a:t>
            </a:r>
            <a:r>
              <a:rPr kumimoji="1" lang="en-US" altLang="ko-KR" sz="1400" b="1" dirty="0">
                <a:solidFill>
                  <a:prstClr val="black"/>
                </a:solidFill>
                <a:latin typeface="굴림" pitchFamily="50" charset="-127"/>
                <a:ea typeface="굴림" pitchFamily="50" charset="-127"/>
              </a:rPr>
              <a:t> so </a:t>
            </a:r>
            <a:r>
              <a:rPr kumimoji="1" lang="en-US" altLang="ko-KR" sz="1400" b="1" dirty="0" err="1">
                <a:solidFill>
                  <a:prstClr val="black"/>
                </a:solidFill>
                <a:latin typeface="굴림" pitchFamily="50" charset="-127"/>
                <a:ea typeface="굴림" pitchFamily="50" charset="-127"/>
              </a:rPr>
              <a:t>với</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trước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đây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Nói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trên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xuất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hiện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những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điểm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chấm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kì</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lạ</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nghĩa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với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mức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độ</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ít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trường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hợp</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đã</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sinh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Với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mức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độ</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liệu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phải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kiểm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lại</a:t>
            </a:r>
            <a:r>
              <a:rPr kumimoji="1" lang="en-US" altLang="ko-KR" sz="1400" b="1" dirty="0">
                <a:solidFill>
                  <a:prstClr val="black"/>
                </a:solidFill>
                <a:latin typeface="굴림" pitchFamily="50" charset="-127"/>
                <a:ea typeface="굴림" pitchFamily="50" charset="-127"/>
              </a:rPr>
              <a:t> process hay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a:t>
            </a:r>
            <a:endParaRPr kumimoji="1" lang="ko-KR" altLang="en-US" sz="1400" b="1" dirty="0">
              <a:solidFill>
                <a:prstClr val="black"/>
              </a:solidFill>
              <a:latin typeface="굴림" pitchFamily="50" charset="-127"/>
              <a:ea typeface="굴림" pitchFamily="50" charset="-127"/>
            </a:endParaRPr>
          </a:p>
        </p:txBody>
      </p:sp>
      <p:sp>
        <p:nvSpPr>
          <p:cNvPr id="109"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259</a:t>
            </a:fld>
            <a:endParaRPr lang="ko-KR" altLang="en-US" sz="1200" dirty="0">
              <a:solidFill>
                <a:prstClr val="black"/>
              </a:solidFill>
            </a:endParaRPr>
          </a:p>
        </p:txBody>
      </p:sp>
      <p:sp>
        <p:nvSpPr>
          <p:cNvPr id="110" name="Text Box 39"/>
          <p:cNvSpPr txBox="1">
            <a:spLocks noChangeArrowheads="1"/>
          </p:cNvSpPr>
          <p:nvPr/>
        </p:nvSpPr>
        <p:spPr bwMode="auto">
          <a:xfrm>
            <a:off x="127732" y="76562"/>
            <a:ext cx="432644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a:t>
            </a:r>
            <a:r>
              <a:rPr kumimoji="1" lang="en-US" altLang="ko-KR" sz="2000" b="1">
                <a:solidFill>
                  <a:prstClr val="black"/>
                </a:solidFill>
              </a:rPr>
              <a:t>. Tính ổn định của đồ thị quản lí</a:t>
            </a:r>
            <a:endParaRPr kumimoji="1" lang="en-US" altLang="ko-KR" sz="2000" b="1" dirty="0">
              <a:solidFill>
                <a:prstClr val="black"/>
              </a:solidFill>
            </a:endParaRPr>
          </a:p>
        </p:txBody>
      </p:sp>
    </p:spTree>
    <p:extLst>
      <p:ext uri="{BB962C8B-B14F-4D97-AF65-F5344CB8AC3E}">
        <p14:creationId xmlns:p14="http://schemas.microsoft.com/office/powerpoint/2010/main" val="245209820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2"/>
          <p:cNvSpPr txBox="1">
            <a:spLocks noChangeArrowheads="1"/>
          </p:cNvSpPr>
          <p:nvPr/>
        </p:nvSpPr>
        <p:spPr bwMode="auto">
          <a:xfrm>
            <a:off x="517397" y="1052736"/>
            <a:ext cx="476925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kumimoji="1" lang="en-US" altLang="ko-KR" b="1" dirty="0">
                <a:solidFill>
                  <a:prstClr val="black"/>
                </a:solidFill>
                <a:latin typeface="굴림" pitchFamily="50" charset="-127"/>
                <a:ea typeface="굴림" pitchFamily="50" charset="-127"/>
              </a:rPr>
              <a:t>1. Definition of control chart(control chart) </a:t>
            </a:r>
            <a:endParaRPr kumimoji="1" lang="ko-KR" altLang="en-US" b="1" dirty="0">
              <a:solidFill>
                <a:prstClr val="black"/>
              </a:solidFill>
              <a:latin typeface="굴림" pitchFamily="50" charset="-127"/>
              <a:ea typeface="굴림" pitchFamily="50" charset="-127"/>
            </a:endParaRPr>
          </a:p>
        </p:txBody>
      </p:sp>
      <p:sp>
        <p:nvSpPr>
          <p:cNvPr id="9" name="Text Box 13"/>
          <p:cNvSpPr txBox="1">
            <a:spLocks noChangeArrowheads="1"/>
          </p:cNvSpPr>
          <p:nvPr/>
        </p:nvSpPr>
        <p:spPr bwMode="auto">
          <a:xfrm>
            <a:off x="900113" y="1545176"/>
            <a:ext cx="7680648" cy="2677656"/>
          </a:xfrm>
          <a:prstGeom prst="rect">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txBody>
          <a:bodyPr wrap="square">
            <a:spAutoFit/>
          </a:bodyPr>
          <a:lstStyle/>
          <a:p>
            <a:pPr fontAlgn="base">
              <a:lnSpc>
                <a:spcPct val="150000"/>
              </a:lnSpc>
              <a:spcBef>
                <a:spcPct val="0"/>
              </a:spcBef>
              <a:spcAft>
                <a:spcPct val="0"/>
              </a:spcAft>
            </a:pPr>
            <a:r>
              <a:rPr kumimoji="1" lang="en-US" altLang="ko-KR" sz="1600" b="1" dirty="0">
                <a:ea typeface="굴림" pitchFamily="50" charset="-127"/>
              </a:rPr>
              <a:t> - A type of management technique used to maintain a stable state of the </a:t>
            </a:r>
          </a:p>
          <a:p>
            <a:pPr fontAlgn="base">
              <a:lnSpc>
                <a:spcPct val="150000"/>
              </a:lnSpc>
              <a:spcBef>
                <a:spcPct val="0"/>
              </a:spcBef>
              <a:spcAft>
                <a:spcPct val="0"/>
              </a:spcAft>
            </a:pPr>
            <a:r>
              <a:rPr kumimoji="1" lang="en-US" altLang="ko-KR" sz="1600" b="1" dirty="0">
                <a:ea typeface="굴림" pitchFamily="50" charset="-127"/>
              </a:rPr>
              <a:t>   process</a:t>
            </a:r>
          </a:p>
          <a:p>
            <a:pPr fontAlgn="base">
              <a:lnSpc>
                <a:spcPct val="150000"/>
              </a:lnSpc>
              <a:spcBef>
                <a:spcPct val="0"/>
              </a:spcBef>
              <a:spcAft>
                <a:spcPct val="0"/>
              </a:spcAft>
              <a:buFontTx/>
              <a:buChar char="-"/>
            </a:pPr>
            <a:r>
              <a:rPr kumimoji="1" lang="en-US" altLang="ko-KR" sz="1600" b="1" dirty="0">
                <a:ea typeface="굴림" pitchFamily="50" charset="-127"/>
              </a:rPr>
              <a:t> Statistical procedures to quickly detect changes in quality in continuous </a:t>
            </a:r>
          </a:p>
          <a:p>
            <a:pPr fontAlgn="base">
              <a:lnSpc>
                <a:spcPct val="150000"/>
              </a:lnSpc>
              <a:spcBef>
                <a:spcPct val="0"/>
              </a:spcBef>
              <a:spcAft>
                <a:spcPct val="0"/>
              </a:spcAft>
            </a:pPr>
            <a:r>
              <a:rPr kumimoji="1" lang="en-US" altLang="ko-KR" sz="1600" b="1" dirty="0">
                <a:ea typeface="굴림" pitchFamily="50" charset="-127"/>
              </a:rPr>
              <a:t>   processes</a:t>
            </a:r>
          </a:p>
          <a:p>
            <a:pPr fontAlgn="base">
              <a:lnSpc>
                <a:spcPct val="150000"/>
              </a:lnSpc>
              <a:spcBef>
                <a:spcPct val="0"/>
              </a:spcBef>
              <a:spcAft>
                <a:spcPct val="0"/>
              </a:spcAft>
              <a:buFontTx/>
              <a:buChar char="-"/>
            </a:pPr>
            <a:r>
              <a:rPr kumimoji="1" lang="en-US" altLang="ko-KR" sz="1600" b="1" dirty="0">
                <a:ea typeface="굴림" pitchFamily="50" charset="-127"/>
              </a:rPr>
              <a:t>  </a:t>
            </a:r>
            <a:r>
              <a:rPr lang="en-US" altLang="ko-KR" sz="1600" b="1" dirty="0"/>
              <a:t>Statistical management method to keep the process stable and to </a:t>
            </a:r>
          </a:p>
          <a:p>
            <a:pPr fontAlgn="base">
              <a:lnSpc>
                <a:spcPct val="150000"/>
              </a:lnSpc>
              <a:spcBef>
                <a:spcPct val="0"/>
              </a:spcBef>
              <a:spcAft>
                <a:spcPct val="0"/>
              </a:spcAft>
            </a:pPr>
            <a:r>
              <a:rPr lang="en-US" altLang="ko-KR" sz="1600" b="1" dirty="0"/>
              <a:t>   equalize the quality by determining whether the dispersion of quality is    </a:t>
            </a:r>
          </a:p>
          <a:p>
            <a:pPr fontAlgn="base">
              <a:lnSpc>
                <a:spcPct val="150000"/>
              </a:lnSpc>
              <a:spcBef>
                <a:spcPct val="0"/>
              </a:spcBef>
              <a:spcAft>
                <a:spcPct val="0"/>
              </a:spcAft>
            </a:pPr>
            <a:r>
              <a:rPr lang="en-US" altLang="ko-KR" sz="1600" b="1" dirty="0"/>
              <a:t>   due to chance cause or due to assignable cause</a:t>
            </a:r>
          </a:p>
        </p:txBody>
      </p:sp>
      <p:sp>
        <p:nvSpPr>
          <p:cNvPr id="13" name="Rectangle 18"/>
          <p:cNvSpPr>
            <a:spLocks noChangeArrowheads="1"/>
          </p:cNvSpPr>
          <p:nvPr/>
        </p:nvSpPr>
        <p:spPr bwMode="auto">
          <a:xfrm>
            <a:off x="899593" y="4857760"/>
            <a:ext cx="7704657" cy="2000548"/>
          </a:xfrm>
          <a:prstGeom prst="rect">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txBody>
          <a:bodyPr wrap="square">
            <a:spAutoFit/>
          </a:bodyPr>
          <a:lstStyle/>
          <a:p>
            <a:pPr fontAlgn="base">
              <a:lnSpc>
                <a:spcPct val="150000"/>
              </a:lnSpc>
              <a:spcBef>
                <a:spcPct val="50000"/>
              </a:spcBef>
              <a:spcAft>
                <a:spcPct val="0"/>
              </a:spcAft>
              <a:buFontTx/>
              <a:buChar char="-"/>
            </a:pPr>
            <a:r>
              <a:rPr kumimoji="1" lang="en-US" altLang="ko-KR" sz="1600" b="1" dirty="0">
                <a:solidFill>
                  <a:prstClr val="black"/>
                </a:solidFill>
                <a:latin typeface="굴림" pitchFamily="50" charset="-127"/>
                <a:ea typeface="굴림" pitchFamily="50" charset="-127"/>
              </a:rPr>
              <a:t>In order to detect the variation due to the assignable cause in the process at  </a:t>
            </a:r>
          </a:p>
          <a:p>
            <a:pPr fontAlgn="base">
              <a:lnSpc>
                <a:spcPct val="150000"/>
              </a:lnSpc>
              <a:spcBef>
                <a:spcPct val="50000"/>
              </a:spcBef>
              <a:spcAft>
                <a:spcPct val="0"/>
              </a:spcAft>
            </a:pPr>
            <a:r>
              <a:rPr kumimoji="1" lang="en-US" altLang="ko-KR" sz="1600" b="1" dirty="0">
                <a:solidFill>
                  <a:prstClr val="black"/>
                </a:solidFill>
                <a:latin typeface="굴림" pitchFamily="50" charset="-127"/>
                <a:ea typeface="굴림" pitchFamily="50" charset="-127"/>
              </a:rPr>
              <a:t>  an early stage</a:t>
            </a:r>
          </a:p>
          <a:p>
            <a:pPr fontAlgn="base">
              <a:lnSpc>
                <a:spcPct val="150000"/>
              </a:lnSpc>
              <a:spcBef>
                <a:spcPct val="50000"/>
              </a:spcBef>
              <a:spcAft>
                <a:spcPct val="0"/>
              </a:spcAft>
            </a:pPr>
            <a:r>
              <a:rPr kumimoji="1" lang="en-US" altLang="ko-KR" sz="1600" b="1" dirty="0">
                <a:solidFill>
                  <a:prstClr val="black"/>
                </a:solidFill>
                <a:latin typeface="굴림" pitchFamily="50" charset="-127"/>
                <a:ea typeface="굴림" pitchFamily="50" charset="-127"/>
              </a:rPr>
              <a:t>- To check if the quality will be maintained normally</a:t>
            </a:r>
          </a:p>
          <a:p>
            <a:pPr fontAlgn="base">
              <a:lnSpc>
                <a:spcPct val="150000"/>
              </a:lnSpc>
              <a:spcBef>
                <a:spcPct val="50000"/>
              </a:spcBef>
              <a:spcAft>
                <a:spcPct val="0"/>
              </a:spcAft>
            </a:pPr>
            <a:r>
              <a:rPr kumimoji="1" lang="en-US" altLang="ko-KR" sz="1600" b="1" dirty="0">
                <a:solidFill>
                  <a:prstClr val="black"/>
                </a:solidFill>
                <a:latin typeface="굴림" pitchFamily="50" charset="-127"/>
                <a:ea typeface="굴림" pitchFamily="50" charset="-127"/>
              </a:rPr>
              <a:t>- To keep the process stable</a:t>
            </a:r>
            <a:endParaRPr kumimoji="1" lang="ko-KR" altLang="en-US" sz="1600" b="1" dirty="0">
              <a:solidFill>
                <a:prstClr val="black"/>
              </a:solidFill>
              <a:latin typeface="굴림" pitchFamily="50" charset="-127"/>
              <a:ea typeface="굴림" pitchFamily="50" charset="-127"/>
            </a:endParaRPr>
          </a:p>
        </p:txBody>
      </p:sp>
      <p:sp>
        <p:nvSpPr>
          <p:cNvPr id="16" name="Text Box 21"/>
          <p:cNvSpPr txBox="1">
            <a:spLocks noChangeArrowheads="1"/>
          </p:cNvSpPr>
          <p:nvPr/>
        </p:nvSpPr>
        <p:spPr bwMode="auto">
          <a:xfrm>
            <a:off x="583863" y="4413172"/>
            <a:ext cx="304762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50000"/>
              </a:spcBef>
              <a:spcAft>
                <a:spcPct val="0"/>
              </a:spcAft>
            </a:pPr>
            <a:r>
              <a:rPr kumimoji="1" lang="en-US" altLang="ko-KR" b="1" dirty="0">
                <a:solidFill>
                  <a:prstClr val="black"/>
                </a:solidFill>
                <a:latin typeface="굴림" pitchFamily="50" charset="-127"/>
                <a:ea typeface="굴림" pitchFamily="50" charset="-127"/>
              </a:rPr>
              <a:t>2. Purpose of control chart</a:t>
            </a:r>
            <a:endParaRPr kumimoji="1" lang="ko-KR" altLang="en-US" b="1" dirty="0">
              <a:solidFill>
                <a:prstClr val="black"/>
              </a:solidFill>
              <a:latin typeface="굴림" pitchFamily="50" charset="-127"/>
              <a:ea typeface="굴림" pitchFamily="50" charset="-127"/>
            </a:endParaRPr>
          </a:p>
        </p:txBody>
      </p:sp>
      <p:sp>
        <p:nvSpPr>
          <p:cNvPr id="20"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
        <p:nvSpPr>
          <p:cNvPr id="22" name="Text Box 10"/>
          <p:cNvSpPr txBox="1">
            <a:spLocks noChangeArrowheads="1"/>
          </p:cNvSpPr>
          <p:nvPr/>
        </p:nvSpPr>
        <p:spPr bwMode="auto">
          <a:xfrm>
            <a:off x="4929190" y="122914"/>
            <a:ext cx="4221256"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Definition and purpose of control chart</a:t>
            </a:r>
            <a:endParaRPr lang="ko-KR" altLang="en-US" sz="1600" b="1" dirty="0">
              <a:solidFill>
                <a:prstClr val="black"/>
              </a:solidFill>
              <a:latin typeface="맑은 고딕"/>
              <a:ea typeface="맑은 고딕"/>
            </a:endParaRPr>
          </a:p>
        </p:txBody>
      </p:sp>
      <p:sp>
        <p:nvSpPr>
          <p:cNvPr id="10"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260</a:t>
            </a:fld>
            <a:endParaRPr lang="ko-KR" altLang="en-US" sz="1200" dirty="0">
              <a:solidFill>
                <a:prstClr val="black"/>
              </a:solidFill>
            </a:endParaRPr>
          </a:p>
        </p:txBody>
      </p:sp>
    </p:spTree>
    <p:extLst>
      <p:ext uri="{BB962C8B-B14F-4D97-AF65-F5344CB8AC3E}">
        <p14:creationId xmlns:p14="http://schemas.microsoft.com/office/powerpoint/2010/main" val="2870552514"/>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644997" y="1714489"/>
            <a:ext cx="3461731" cy="37147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dirty="0">
              <a:solidFill>
                <a:prstClr val="white"/>
              </a:solidFill>
            </a:endParaRPr>
          </a:p>
        </p:txBody>
      </p:sp>
      <p:sp>
        <p:nvSpPr>
          <p:cNvPr id="16" name="Rectangle 4"/>
          <p:cNvSpPr>
            <a:spLocks noChangeArrowheads="1"/>
          </p:cNvSpPr>
          <p:nvPr/>
        </p:nvSpPr>
        <p:spPr bwMode="auto">
          <a:xfrm>
            <a:off x="351692" y="1756274"/>
            <a:ext cx="8840666" cy="3304751"/>
          </a:xfrm>
          <a:prstGeom prst="rect">
            <a:avLst/>
          </a:prstGeom>
          <a:noFill/>
          <a:ln>
            <a:noFill/>
          </a:ln>
          <a:effectLst/>
        </p:spPr>
        <p:txBody>
          <a:bodyPr lIns="102870" tIns="51435" rIns="102870" bIns="51435">
            <a:spAutoFit/>
          </a:bodyPr>
          <a:lstStyle>
            <a:lvl1pPr marL="211138" indent="-211138" algn="l" defTabSz="1028700">
              <a:defRPr kumimoji="1" sz="2400">
                <a:solidFill>
                  <a:schemeClr val="tx1"/>
                </a:solidFill>
                <a:latin typeface="Times New Roman" pitchFamily="18" charset="0"/>
                <a:ea typeface="굴림" pitchFamily="50" charset="-127"/>
              </a:defRPr>
            </a:lvl1pPr>
            <a:lvl2pPr marL="1271588" indent="-514350" algn="l" defTabSz="1028700">
              <a:defRPr kumimoji="1" sz="2400">
                <a:solidFill>
                  <a:schemeClr val="tx1"/>
                </a:solidFill>
                <a:latin typeface="Times New Roman" pitchFamily="18" charset="0"/>
                <a:ea typeface="굴림" pitchFamily="50" charset="-127"/>
              </a:defRPr>
            </a:lvl2pPr>
            <a:lvl3pPr marL="2000250" indent="-514350" algn="l" defTabSz="1028700">
              <a:defRPr kumimoji="1" sz="2400">
                <a:solidFill>
                  <a:schemeClr val="tx1"/>
                </a:solidFill>
                <a:latin typeface="Times New Roman" pitchFamily="18" charset="0"/>
                <a:ea typeface="굴림" pitchFamily="50" charset="-127"/>
              </a:defRPr>
            </a:lvl3pPr>
            <a:lvl4pPr marL="2728913" indent="-514350" algn="l" defTabSz="1028700">
              <a:defRPr kumimoji="1" sz="2400">
                <a:solidFill>
                  <a:schemeClr val="tx1"/>
                </a:solidFill>
                <a:latin typeface="Times New Roman" pitchFamily="18" charset="0"/>
                <a:ea typeface="굴림" pitchFamily="50" charset="-127"/>
              </a:defRPr>
            </a:lvl4pPr>
            <a:lvl5pPr marL="3457575" indent="-514350" algn="l" defTabSz="1028700">
              <a:defRPr kumimoji="1" sz="2400">
                <a:solidFill>
                  <a:schemeClr val="tx1"/>
                </a:solidFill>
                <a:latin typeface="Times New Roman" pitchFamily="18" charset="0"/>
                <a:ea typeface="굴림" pitchFamily="50" charset="-127"/>
              </a:defRPr>
            </a:lvl5pPr>
            <a:lvl6pPr marL="3914775" indent="-51435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4371975" indent="-51435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4829175" indent="-51435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5286375" indent="-51435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eaLnBrk="0" fontAlgn="base" latinLnBrk="0" hangingPunct="0">
              <a:spcBef>
                <a:spcPct val="0"/>
              </a:spcBef>
              <a:spcAft>
                <a:spcPct val="0"/>
              </a:spcAft>
              <a:buFont typeface="Wingdings" pitchFamily="2" charset="2"/>
              <a:buNone/>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buFont typeface="Wingdings" pitchFamily="2" charset="2"/>
              <a:buNone/>
              <a:defRPr/>
            </a:pPr>
            <a:endParaRPr kumimoji="0" lang="ko-KR" altLang="en-US"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i="1"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p:txBody>
      </p:sp>
      <p:sp>
        <p:nvSpPr>
          <p:cNvPr id="17" name="Rectangle 6"/>
          <p:cNvSpPr>
            <a:spLocks noChangeArrowheads="1"/>
          </p:cNvSpPr>
          <p:nvPr/>
        </p:nvSpPr>
        <p:spPr bwMode="auto">
          <a:xfrm>
            <a:off x="4572011" y="1844824"/>
            <a:ext cx="4365381" cy="3211513"/>
          </a:xfrm>
          <a:prstGeom prst="rect">
            <a:avLst/>
          </a:prstGeom>
          <a:noFill/>
          <a:ln w="12700" algn="ctr">
            <a:solidFill>
              <a:srgbClr val="000000"/>
            </a:solidFill>
            <a:miter lim="800000"/>
            <a:headEnd/>
            <a:tailEnd/>
          </a:ln>
          <a:effectLst/>
        </p:spPr>
        <p:txBody>
          <a:bodyPr wrap="none" lIns="162000" rIns="162000" anchor="ctr"/>
          <a:lstStyle/>
          <a:p>
            <a:pPr fontAlgn="base">
              <a:spcBef>
                <a:spcPct val="0"/>
              </a:spcBef>
              <a:spcAft>
                <a:spcPct val="0"/>
              </a:spcAft>
              <a:defRPr/>
            </a:pPr>
            <a:endParaRPr kumimoji="1" lang="ko-KR" altLang="en-US" dirty="0">
              <a:solidFill>
                <a:prstClr val="black"/>
              </a:solidFill>
            </a:endParaRPr>
          </a:p>
        </p:txBody>
      </p:sp>
      <p:sp>
        <p:nvSpPr>
          <p:cNvPr id="18" name="Text Box 7"/>
          <p:cNvSpPr txBox="1">
            <a:spLocks noChangeArrowheads="1"/>
          </p:cNvSpPr>
          <p:nvPr/>
        </p:nvSpPr>
        <p:spPr bwMode="auto">
          <a:xfrm>
            <a:off x="4786314" y="1857364"/>
            <a:ext cx="4080846" cy="577850"/>
          </a:xfrm>
          <a:prstGeom prst="rect">
            <a:avLst/>
          </a:prstGeom>
          <a:noFill/>
          <a:ln>
            <a:noFill/>
          </a:ln>
          <a:effectLst/>
        </p:spPr>
        <p:txBody>
          <a:bodyPr wrap="square" lIns="102870" tIns="51435" rIns="102870" bIns="51435">
            <a:spAutoFit/>
          </a:bodyPr>
          <a:lstStyle>
            <a:lvl1pPr algn="l" defTabSz="1028700">
              <a:defRPr kumimoji="1" sz="2400">
                <a:solidFill>
                  <a:schemeClr val="tx1"/>
                </a:solidFill>
                <a:latin typeface="Times New Roman" pitchFamily="18" charset="0"/>
                <a:ea typeface="굴림" pitchFamily="50" charset="-127"/>
              </a:defRPr>
            </a:lvl1pPr>
            <a:lvl2pPr marL="514350" algn="l" defTabSz="1028700">
              <a:defRPr kumimoji="1" sz="2400">
                <a:solidFill>
                  <a:schemeClr val="tx1"/>
                </a:solidFill>
                <a:latin typeface="Times New Roman" pitchFamily="18" charset="0"/>
                <a:ea typeface="굴림" pitchFamily="50" charset="-127"/>
              </a:defRPr>
            </a:lvl2pPr>
            <a:lvl3pPr marL="1028700" algn="l" defTabSz="1028700">
              <a:defRPr kumimoji="1" sz="2400">
                <a:solidFill>
                  <a:schemeClr val="tx1"/>
                </a:solidFill>
                <a:latin typeface="Times New Roman" pitchFamily="18" charset="0"/>
                <a:ea typeface="굴림" pitchFamily="50" charset="-127"/>
              </a:defRPr>
            </a:lvl3pPr>
            <a:lvl4pPr marL="1543050" algn="l" defTabSz="1028700">
              <a:defRPr kumimoji="1" sz="2400">
                <a:solidFill>
                  <a:schemeClr val="tx1"/>
                </a:solidFill>
                <a:latin typeface="Times New Roman" pitchFamily="18" charset="0"/>
                <a:ea typeface="굴림" pitchFamily="50" charset="-127"/>
              </a:defRPr>
            </a:lvl4pPr>
            <a:lvl5pPr marL="2057400" algn="l" defTabSz="1028700">
              <a:defRPr kumimoji="1" sz="2400">
                <a:solidFill>
                  <a:schemeClr val="tx1"/>
                </a:solidFill>
                <a:latin typeface="Times New Roman" pitchFamily="18" charset="0"/>
                <a:ea typeface="굴림" pitchFamily="50" charset="-127"/>
              </a:defRPr>
            </a:lvl5pPr>
            <a:lvl6pPr marL="251460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297180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342900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388620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eaLnBrk="0" fontAlgn="base" latinLnBrk="0" hangingPunct="0">
              <a:lnSpc>
                <a:spcPct val="110000"/>
              </a:lnSpc>
              <a:spcBef>
                <a:spcPct val="0"/>
              </a:spcBef>
              <a:spcAft>
                <a:spcPct val="0"/>
              </a:spcAft>
              <a:defRPr/>
            </a:pPr>
            <a:r>
              <a:rPr kumimoji="0" lang="en-US" altLang="ko-KR" sz="1400" dirty="0">
                <a:solidFill>
                  <a:srgbClr val="000000"/>
                </a:solidFill>
                <a:latin typeface="맑은 고딕"/>
                <a:ea typeface="맑은 고딕"/>
              </a:rPr>
              <a:t>The process by chance causes to be in a stable state, which makes it possible to predict.</a:t>
            </a:r>
            <a:endParaRPr lang="en-US" altLang="ko-KR" dirty="0">
              <a:solidFill>
                <a:prstClr val="black"/>
              </a:solidFill>
              <a:latin typeface="맑은 고딕"/>
              <a:ea typeface="맑은 고딕"/>
            </a:endParaRPr>
          </a:p>
        </p:txBody>
      </p:sp>
      <p:pic>
        <p:nvPicPr>
          <p:cNvPr id="6151" name="Picture 5" descr="우연원인"/>
          <p:cNvPicPr>
            <a:picLocks noChangeAspect="1" noChangeArrowheads="1"/>
          </p:cNvPicPr>
          <p:nvPr/>
        </p:nvPicPr>
        <p:blipFill>
          <a:blip r:embed="rId3" cstate="print">
            <a:lum bright="-14000" contrast="48000"/>
            <a:extLst>
              <a:ext uri="{28A0092B-C50C-407E-A947-70E740481C1C}">
                <a14:useLocalDpi xmlns:a14="http://schemas.microsoft.com/office/drawing/2010/main" val="0"/>
              </a:ext>
            </a:extLst>
          </a:blip>
          <a:srcRect l="883" t="7355"/>
          <a:stretch>
            <a:fillRect/>
          </a:stretch>
        </p:blipFill>
        <p:spPr bwMode="auto">
          <a:xfrm>
            <a:off x="4802066" y="2617945"/>
            <a:ext cx="3905250" cy="219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Rectangle 9"/>
          <p:cNvSpPr>
            <a:spLocks noChangeArrowheads="1"/>
          </p:cNvSpPr>
          <p:nvPr/>
        </p:nvSpPr>
        <p:spPr bwMode="auto">
          <a:xfrm>
            <a:off x="4802066" y="2606824"/>
            <a:ext cx="633046" cy="152400"/>
          </a:xfrm>
          <a:prstGeom prst="rect">
            <a:avLst/>
          </a:prstGeom>
          <a:solidFill>
            <a:schemeClr val="bg1"/>
          </a:solidFill>
          <a:ln>
            <a:noFill/>
          </a:ln>
          <a:effectLst/>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1" name="Line 17"/>
          <p:cNvSpPr>
            <a:spLocks noChangeShapeType="1"/>
          </p:cNvSpPr>
          <p:nvPr/>
        </p:nvSpPr>
        <p:spPr bwMode="auto">
          <a:xfrm flipV="1">
            <a:off x="7290289" y="3237062"/>
            <a:ext cx="46892" cy="25400"/>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2" name="Line 18"/>
          <p:cNvSpPr>
            <a:spLocks noChangeShapeType="1"/>
          </p:cNvSpPr>
          <p:nvPr/>
        </p:nvSpPr>
        <p:spPr bwMode="auto">
          <a:xfrm flipV="1">
            <a:off x="7384073" y="3160862"/>
            <a:ext cx="52754" cy="50800"/>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3" name="Line 19"/>
          <p:cNvSpPr>
            <a:spLocks noChangeShapeType="1"/>
          </p:cNvSpPr>
          <p:nvPr/>
        </p:nvSpPr>
        <p:spPr bwMode="auto">
          <a:xfrm flipV="1">
            <a:off x="7471997" y="3032274"/>
            <a:ext cx="52754" cy="69850"/>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4" name="Line 20"/>
          <p:cNvSpPr>
            <a:spLocks noChangeShapeType="1"/>
          </p:cNvSpPr>
          <p:nvPr/>
        </p:nvSpPr>
        <p:spPr bwMode="auto">
          <a:xfrm flipV="1">
            <a:off x="7564315" y="2898945"/>
            <a:ext cx="30774" cy="603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5" name="Line 21"/>
          <p:cNvSpPr>
            <a:spLocks noChangeShapeType="1"/>
          </p:cNvSpPr>
          <p:nvPr/>
        </p:nvSpPr>
        <p:spPr bwMode="auto">
          <a:xfrm flipV="1">
            <a:off x="7630268" y="2779883"/>
            <a:ext cx="30773" cy="603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6" name="Line 22"/>
          <p:cNvSpPr>
            <a:spLocks noChangeShapeType="1"/>
          </p:cNvSpPr>
          <p:nvPr/>
        </p:nvSpPr>
        <p:spPr bwMode="auto">
          <a:xfrm flipV="1">
            <a:off x="7691815" y="2670345"/>
            <a:ext cx="30773" cy="603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7" name="Line 23"/>
          <p:cNvSpPr>
            <a:spLocks noChangeShapeType="1"/>
          </p:cNvSpPr>
          <p:nvPr/>
        </p:nvSpPr>
        <p:spPr bwMode="auto">
          <a:xfrm flipV="1">
            <a:off x="7718181" y="2632245"/>
            <a:ext cx="43962" cy="4127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8" name="Line 24"/>
          <p:cNvSpPr>
            <a:spLocks noChangeShapeType="1"/>
          </p:cNvSpPr>
          <p:nvPr/>
        </p:nvSpPr>
        <p:spPr bwMode="auto">
          <a:xfrm>
            <a:off x="7801718" y="2625874"/>
            <a:ext cx="79131" cy="20638"/>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9" name="Line 25"/>
          <p:cNvSpPr>
            <a:spLocks noChangeShapeType="1"/>
          </p:cNvSpPr>
          <p:nvPr/>
        </p:nvSpPr>
        <p:spPr bwMode="auto">
          <a:xfrm>
            <a:off x="7920415" y="2687787"/>
            <a:ext cx="26377" cy="49212"/>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0" name="Line 26"/>
          <p:cNvSpPr>
            <a:spLocks noChangeShapeType="1"/>
          </p:cNvSpPr>
          <p:nvPr/>
        </p:nvSpPr>
        <p:spPr bwMode="auto">
          <a:xfrm>
            <a:off x="7981952" y="2797345"/>
            <a:ext cx="35169" cy="730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1" name="Line 27"/>
          <p:cNvSpPr>
            <a:spLocks noChangeShapeType="1"/>
          </p:cNvSpPr>
          <p:nvPr/>
        </p:nvSpPr>
        <p:spPr bwMode="auto">
          <a:xfrm>
            <a:off x="8047893" y="2916387"/>
            <a:ext cx="43962" cy="68262"/>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2" name="Line 28"/>
          <p:cNvSpPr>
            <a:spLocks noChangeShapeType="1"/>
          </p:cNvSpPr>
          <p:nvPr/>
        </p:nvSpPr>
        <p:spPr bwMode="auto">
          <a:xfrm>
            <a:off x="8118231" y="3030687"/>
            <a:ext cx="43962" cy="68262"/>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3" name="Line 29"/>
          <p:cNvSpPr>
            <a:spLocks noChangeShapeType="1"/>
          </p:cNvSpPr>
          <p:nvPr/>
        </p:nvSpPr>
        <p:spPr bwMode="auto">
          <a:xfrm>
            <a:off x="8188575" y="3121174"/>
            <a:ext cx="57150" cy="58738"/>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4" name="Line 30"/>
          <p:cNvSpPr>
            <a:spLocks noChangeShapeType="1"/>
          </p:cNvSpPr>
          <p:nvPr/>
        </p:nvSpPr>
        <p:spPr bwMode="auto">
          <a:xfrm>
            <a:off x="8263315" y="3202158"/>
            <a:ext cx="79131" cy="5397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5" name="Line 31"/>
          <p:cNvSpPr>
            <a:spLocks noChangeShapeType="1"/>
          </p:cNvSpPr>
          <p:nvPr/>
        </p:nvSpPr>
        <p:spPr bwMode="auto">
          <a:xfrm>
            <a:off x="7811966" y="2624287"/>
            <a:ext cx="0" cy="647700"/>
          </a:xfrm>
          <a:prstGeom prst="line">
            <a:avLst/>
          </a:prstGeom>
          <a:noFill/>
          <a:ln w="12700">
            <a:solidFill>
              <a:schemeClr val="tx1"/>
            </a:solidFill>
            <a:prstDash val="dash"/>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6" name="Line 32"/>
          <p:cNvSpPr>
            <a:spLocks noChangeShapeType="1"/>
          </p:cNvSpPr>
          <p:nvPr/>
        </p:nvSpPr>
        <p:spPr bwMode="auto">
          <a:xfrm flipH="1">
            <a:off x="8159272" y="2900533"/>
            <a:ext cx="360485" cy="180975"/>
          </a:xfrm>
          <a:prstGeom prst="line">
            <a:avLst/>
          </a:prstGeom>
          <a:noFill/>
          <a:ln w="12700">
            <a:solidFill>
              <a:schemeClr val="tx1"/>
            </a:solidFill>
            <a:round/>
            <a:headEnd type="triangle" w="med" len="me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7" name="Text Box 33"/>
          <p:cNvSpPr txBox="1">
            <a:spLocks noChangeArrowheads="1"/>
          </p:cNvSpPr>
          <p:nvPr/>
        </p:nvSpPr>
        <p:spPr bwMode="auto">
          <a:xfrm>
            <a:off x="4731738" y="4568985"/>
            <a:ext cx="454269" cy="227755"/>
          </a:xfrm>
          <a:prstGeom prst="rect">
            <a:avLst/>
          </a:prstGeom>
          <a:solidFill>
            <a:schemeClr val="bg1"/>
          </a:solid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r>
              <a:rPr lang="en-US" altLang="ko-KR" sz="1100" b="1" dirty="0">
                <a:solidFill>
                  <a:prstClr val="black"/>
                </a:solidFill>
                <a:latin typeface="맑은 고딕"/>
                <a:ea typeface="맑은 고딕"/>
              </a:rPr>
              <a:t>Size</a:t>
            </a:r>
            <a:endParaRPr lang="ko-KR" altLang="en-US" sz="1100" b="1" dirty="0">
              <a:solidFill>
                <a:prstClr val="black"/>
              </a:solidFill>
              <a:latin typeface="맑은 고딕"/>
              <a:ea typeface="맑은 고딕"/>
            </a:endParaRPr>
          </a:p>
        </p:txBody>
      </p:sp>
      <p:sp>
        <p:nvSpPr>
          <p:cNvPr id="38" name="Text Box 34"/>
          <p:cNvSpPr txBox="1">
            <a:spLocks noChangeArrowheads="1"/>
          </p:cNvSpPr>
          <p:nvPr/>
        </p:nvSpPr>
        <p:spPr bwMode="auto">
          <a:xfrm rot="19963531">
            <a:off x="6673372" y="4276895"/>
            <a:ext cx="782515" cy="227013"/>
          </a:xfrm>
          <a:prstGeom prst="rect">
            <a:avLst/>
          </a:prstGeom>
          <a:no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r>
              <a:rPr lang="en-US" altLang="ko-KR" sz="1100" b="1" dirty="0">
                <a:solidFill>
                  <a:prstClr val="black"/>
                </a:solidFill>
                <a:latin typeface="맑은 고딕"/>
                <a:ea typeface="맑은 고딕"/>
              </a:rPr>
              <a:t>Time</a:t>
            </a:r>
            <a:endParaRPr lang="ko-KR" altLang="en-US" sz="1100" b="1" dirty="0">
              <a:solidFill>
                <a:prstClr val="black"/>
              </a:solidFill>
              <a:latin typeface="맑은 고딕"/>
              <a:ea typeface="맑은 고딕"/>
            </a:endParaRPr>
          </a:p>
        </p:txBody>
      </p:sp>
      <p:sp>
        <p:nvSpPr>
          <p:cNvPr id="39" name="Text Box 37"/>
          <p:cNvSpPr txBox="1">
            <a:spLocks noChangeArrowheads="1"/>
          </p:cNvSpPr>
          <p:nvPr/>
        </p:nvSpPr>
        <p:spPr bwMode="auto">
          <a:xfrm rot="19963531">
            <a:off x="6463814" y="4124495"/>
            <a:ext cx="999392" cy="214313"/>
          </a:xfrm>
          <a:prstGeom prst="rect">
            <a:avLst/>
          </a:prstGeom>
          <a:solidFill>
            <a:schemeClr val="bg1"/>
          </a:solid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endParaRPr lang="ko-KR" altLang="ko-KR" sz="1000" dirty="0">
              <a:solidFill>
                <a:prstClr val="black"/>
              </a:solidFill>
              <a:latin typeface="맑은 고딕"/>
              <a:ea typeface="맑은 고딕"/>
            </a:endParaRPr>
          </a:p>
        </p:txBody>
      </p:sp>
      <p:sp>
        <p:nvSpPr>
          <p:cNvPr id="40" name="Line 35"/>
          <p:cNvSpPr>
            <a:spLocks noChangeShapeType="1"/>
          </p:cNvSpPr>
          <p:nvPr/>
        </p:nvSpPr>
        <p:spPr bwMode="auto">
          <a:xfrm rot="21337706" flipV="1">
            <a:off x="6633797" y="4014937"/>
            <a:ext cx="760534" cy="398462"/>
          </a:xfrm>
          <a:prstGeom prst="line">
            <a:avLst/>
          </a:prstGeom>
          <a:noFill/>
          <a:ln w="28575">
            <a:solidFill>
              <a:schemeClr val="tx1"/>
            </a:solidFill>
            <a:round/>
            <a:headEnd/>
            <a:tailEnd type="triangle" w="sm" len="med"/>
          </a:ln>
          <a:effectLst/>
        </p:spPr>
        <p:txBody>
          <a:bodyPr/>
          <a:lstStyle/>
          <a:p>
            <a:pPr fontAlgn="base">
              <a:spcBef>
                <a:spcPct val="0"/>
              </a:spcBef>
              <a:spcAft>
                <a:spcPct val="0"/>
              </a:spcAft>
              <a:defRPr/>
            </a:pPr>
            <a:endParaRPr kumimoji="1" lang="ko-KR" altLang="en-US" dirty="0">
              <a:solidFill>
                <a:prstClr val="black"/>
              </a:solidFill>
            </a:endParaRPr>
          </a:p>
        </p:txBody>
      </p:sp>
      <p:sp>
        <p:nvSpPr>
          <p:cNvPr id="41" name="Text Box 38"/>
          <p:cNvSpPr txBox="1">
            <a:spLocks noChangeArrowheads="1"/>
          </p:cNvSpPr>
          <p:nvPr/>
        </p:nvSpPr>
        <p:spPr bwMode="auto">
          <a:xfrm>
            <a:off x="7750420" y="3333906"/>
            <a:ext cx="1036422" cy="227755"/>
          </a:xfrm>
          <a:prstGeom prst="rect">
            <a:avLst/>
          </a:prstGeom>
          <a:solidFill>
            <a:schemeClr val="bg1"/>
          </a:solidFill>
          <a:ln>
            <a:noFill/>
          </a:ln>
          <a:effectLst/>
        </p:spPr>
        <p:txBody>
          <a:bodyPr wrap="square">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r>
              <a:rPr lang="en-US" altLang="ko-KR" sz="1100" b="1" dirty="0">
                <a:solidFill>
                  <a:prstClr val="black"/>
                </a:solidFill>
                <a:latin typeface="맑은 고딕"/>
                <a:ea typeface="맑은 고딕"/>
              </a:rPr>
              <a:t>Predictable</a:t>
            </a:r>
            <a:endParaRPr lang="ko-KR" altLang="en-US" sz="1100" b="1" dirty="0">
              <a:solidFill>
                <a:prstClr val="black"/>
              </a:solidFill>
              <a:latin typeface="맑은 고딕"/>
              <a:ea typeface="맑은 고딕"/>
            </a:endParaRPr>
          </a:p>
        </p:txBody>
      </p:sp>
      <p:sp>
        <p:nvSpPr>
          <p:cNvPr id="5" name="직사각형 4"/>
          <p:cNvSpPr/>
          <p:nvPr/>
        </p:nvSpPr>
        <p:spPr>
          <a:xfrm>
            <a:off x="456855" y="1196771"/>
            <a:ext cx="8137626" cy="584775"/>
          </a:xfrm>
          <a:prstGeom prst="rect">
            <a:avLst/>
          </a:prstGeom>
        </p:spPr>
        <p:txBody>
          <a:bodyPr wrap="square">
            <a:spAutoFit/>
          </a:bodyPr>
          <a:lstStyle/>
          <a:p>
            <a:pPr eaLnBrk="0" fontAlgn="base" latinLnBrk="0" hangingPunct="0">
              <a:spcBef>
                <a:spcPct val="0"/>
              </a:spcBef>
              <a:spcAft>
                <a:spcPct val="0"/>
              </a:spcAft>
              <a:defRPr/>
            </a:pPr>
            <a:r>
              <a:rPr lang="en-US" altLang="ko-KR" sz="1600" b="1" dirty="0">
                <a:solidFill>
                  <a:prstClr val="black"/>
                </a:solidFill>
              </a:rPr>
              <a:t>Some unavoidable variations that occur under strictly controlled production conditions</a:t>
            </a:r>
            <a:endParaRPr lang="ko-KR" altLang="en-US" sz="1600" dirty="0">
              <a:solidFill>
                <a:prstClr val="black"/>
              </a:solidFill>
            </a:endParaRPr>
          </a:p>
        </p:txBody>
      </p:sp>
      <p:sp>
        <p:nvSpPr>
          <p:cNvPr id="7" name="직사각형 6"/>
          <p:cNvSpPr/>
          <p:nvPr/>
        </p:nvSpPr>
        <p:spPr>
          <a:xfrm>
            <a:off x="683568" y="1714488"/>
            <a:ext cx="3423150" cy="3785652"/>
          </a:xfrm>
          <a:prstGeom prst="rect">
            <a:avLst/>
          </a:prstGeom>
        </p:spPr>
        <p:txBody>
          <a:bodyPr wrap="square">
            <a:spAutoFit/>
          </a:bodyPr>
          <a:lstStyle/>
          <a:p>
            <a:pPr marL="185738" indent="-185738" eaLnBrk="0" fontAlgn="base" latinLnBrk="0" hangingPunct="0">
              <a:spcBef>
                <a:spcPct val="0"/>
              </a:spcBef>
              <a:spcAft>
                <a:spcPct val="0"/>
              </a:spcAft>
              <a:buFontTx/>
              <a:buChar char="•"/>
              <a:defRPr/>
            </a:pPr>
            <a:r>
              <a:rPr lang="en-US" sz="1600" dirty="0"/>
              <a:t>Difference in worker skill</a:t>
            </a:r>
          </a:p>
          <a:p>
            <a:pPr marL="185738" indent="-185738" eaLnBrk="0" fontAlgn="base" latinLnBrk="0" hangingPunct="0">
              <a:spcBef>
                <a:spcPct val="0"/>
              </a:spcBef>
              <a:spcAft>
                <a:spcPct val="0"/>
              </a:spcAft>
              <a:buFontTx/>
              <a:buChar char="•"/>
              <a:defRPr/>
            </a:pPr>
            <a:r>
              <a:rPr lang="en-US" sz="1600" dirty="0"/>
              <a:t>Difference in working </a:t>
            </a:r>
          </a:p>
          <a:p>
            <a:pPr marL="185738" indent="-185738" eaLnBrk="0" fontAlgn="base" latinLnBrk="0" hangingPunct="0">
              <a:spcBef>
                <a:spcPct val="0"/>
              </a:spcBef>
              <a:spcAft>
                <a:spcPct val="0"/>
              </a:spcAft>
              <a:buFontTx/>
              <a:buChar char="•"/>
              <a:defRPr/>
            </a:pPr>
            <a:r>
              <a:rPr lang="en-US" sz="1600" dirty="0"/>
              <a:t>Environment</a:t>
            </a:r>
          </a:p>
          <a:p>
            <a:pPr marL="185738" indent="-185738" eaLnBrk="0" fontAlgn="base" latinLnBrk="0" hangingPunct="0">
              <a:spcBef>
                <a:spcPct val="0"/>
              </a:spcBef>
              <a:spcAft>
                <a:spcPct val="0"/>
              </a:spcAft>
              <a:buFontTx/>
              <a:buChar char="•"/>
              <a:defRPr/>
            </a:pPr>
            <a:r>
              <a:rPr lang="en-US" sz="1600" dirty="0"/>
              <a:t>Subtle quality differences </a:t>
            </a:r>
          </a:p>
          <a:p>
            <a:pPr marL="185738" indent="-185738" eaLnBrk="0" fontAlgn="base" latinLnBrk="0" hangingPunct="0">
              <a:spcBef>
                <a:spcPct val="0"/>
              </a:spcBef>
              <a:spcAft>
                <a:spcPct val="0"/>
              </a:spcAft>
              <a:buFontTx/>
              <a:buChar char="•"/>
              <a:defRPr/>
            </a:pPr>
            <a:r>
              <a:rPr lang="en-US" sz="1600" dirty="0"/>
              <a:t>between materials</a:t>
            </a:r>
          </a:p>
          <a:p>
            <a:pPr marL="185738" indent="-185738" eaLnBrk="0" fontAlgn="base" latinLnBrk="0" hangingPunct="0">
              <a:spcBef>
                <a:spcPct val="0"/>
              </a:spcBef>
              <a:spcAft>
                <a:spcPct val="0"/>
              </a:spcAft>
              <a:buFontTx/>
              <a:buChar char="•"/>
              <a:defRPr/>
            </a:pPr>
            <a:r>
              <a:rPr lang="en-US" sz="1600" dirty="0"/>
              <a:t>Differences between identical </a:t>
            </a:r>
          </a:p>
          <a:p>
            <a:pPr marL="185738" indent="-185738" eaLnBrk="0" fontAlgn="base" latinLnBrk="0" hangingPunct="0">
              <a:spcBef>
                <a:spcPct val="0"/>
              </a:spcBef>
              <a:spcAft>
                <a:spcPct val="0"/>
              </a:spcAft>
              <a:buFontTx/>
              <a:buChar char="•"/>
              <a:defRPr/>
            </a:pPr>
            <a:r>
              <a:rPr lang="en-US" sz="1600" dirty="0"/>
              <a:t>production facilities</a:t>
            </a:r>
          </a:p>
          <a:p>
            <a:pPr marL="185738" indent="-185738" eaLnBrk="0" fontAlgn="base" latinLnBrk="0" hangingPunct="0">
              <a:spcBef>
                <a:spcPct val="0"/>
              </a:spcBef>
              <a:spcAft>
                <a:spcPct val="0"/>
              </a:spcAft>
              <a:buFontTx/>
              <a:buChar char="•"/>
              <a:defRPr/>
            </a:pPr>
            <a:r>
              <a:rPr lang="en-US" sz="1600" dirty="0"/>
              <a:t>Difference in climate, </a:t>
            </a:r>
          </a:p>
          <a:p>
            <a:pPr marL="185738" indent="-185738" eaLnBrk="0" fontAlgn="base" latinLnBrk="0" hangingPunct="0">
              <a:spcBef>
                <a:spcPct val="0"/>
              </a:spcBef>
              <a:spcAft>
                <a:spcPct val="0"/>
              </a:spcAft>
              <a:defRPr/>
            </a:pPr>
            <a:r>
              <a:rPr lang="en-US" sz="1600" dirty="0"/>
              <a:t>   temperature, humidity, working </a:t>
            </a:r>
          </a:p>
          <a:p>
            <a:pPr marL="185738" indent="-185738" eaLnBrk="0" fontAlgn="base" latinLnBrk="0" hangingPunct="0">
              <a:spcBef>
                <a:spcPct val="0"/>
              </a:spcBef>
              <a:spcAft>
                <a:spcPct val="0"/>
              </a:spcAft>
              <a:defRPr/>
            </a:pPr>
            <a:r>
              <a:rPr lang="en-US" sz="1600" dirty="0"/>
              <a:t>   time, etc.</a:t>
            </a:r>
          </a:p>
          <a:p>
            <a:pPr marL="185738" indent="-185738" eaLnBrk="0" fontAlgn="base" latinLnBrk="0" hangingPunct="0">
              <a:spcBef>
                <a:spcPct val="0"/>
              </a:spcBef>
              <a:spcAft>
                <a:spcPct val="0"/>
              </a:spcAft>
              <a:buFontTx/>
              <a:buChar char="•"/>
              <a:defRPr/>
            </a:pPr>
            <a:r>
              <a:rPr lang="en-US" sz="1600" dirty="0"/>
              <a:t>Difference due to vibration of </a:t>
            </a:r>
          </a:p>
          <a:p>
            <a:pPr marL="185738" indent="-185738" eaLnBrk="0" fontAlgn="base" latinLnBrk="0" hangingPunct="0">
              <a:spcBef>
                <a:spcPct val="0"/>
              </a:spcBef>
              <a:spcAft>
                <a:spcPct val="0"/>
              </a:spcAft>
              <a:buFontTx/>
              <a:buChar char="•"/>
              <a:defRPr/>
            </a:pPr>
            <a:r>
              <a:rPr lang="en-US" sz="1600" dirty="0"/>
              <a:t>working environment</a:t>
            </a:r>
          </a:p>
          <a:p>
            <a:pPr marL="185738" indent="-185738" eaLnBrk="0" fontAlgn="base" latinLnBrk="0" hangingPunct="0">
              <a:spcBef>
                <a:spcPct val="0"/>
              </a:spcBef>
              <a:spcAft>
                <a:spcPct val="0"/>
              </a:spcAft>
              <a:buFontTx/>
              <a:buChar char="•"/>
              <a:defRPr/>
            </a:pPr>
            <a:r>
              <a:rPr lang="en-US" sz="1600" dirty="0"/>
              <a:t>And the difference due to the tolerance of the entire process.</a:t>
            </a:r>
          </a:p>
          <a:p>
            <a:pPr marL="185738" indent="-185738" eaLnBrk="0" fontAlgn="base" latinLnBrk="0" hangingPunct="0">
              <a:spcBef>
                <a:spcPct val="0"/>
              </a:spcBef>
              <a:spcAft>
                <a:spcPct val="0"/>
              </a:spcAft>
              <a:buFontTx/>
              <a:buChar char="•"/>
              <a:defRPr/>
            </a:pPr>
            <a:r>
              <a:rPr lang="en-US" altLang="ko-KR" sz="1600" dirty="0">
                <a:solidFill>
                  <a:prstClr val="black"/>
                </a:solidFill>
              </a:rPr>
              <a:t>And etc.</a:t>
            </a:r>
          </a:p>
        </p:txBody>
      </p:sp>
      <p:sp>
        <p:nvSpPr>
          <p:cNvPr id="48" name="Text Box 3"/>
          <p:cNvSpPr txBox="1">
            <a:spLocks noChangeArrowheads="1"/>
          </p:cNvSpPr>
          <p:nvPr/>
        </p:nvSpPr>
        <p:spPr bwMode="auto">
          <a:xfrm>
            <a:off x="251520" y="692696"/>
            <a:ext cx="3485891" cy="350096"/>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t>(1) Chance cause(common cause)</a:t>
            </a:r>
          </a:p>
        </p:txBody>
      </p:sp>
      <p:sp>
        <p:nvSpPr>
          <p:cNvPr id="42" name="Text Box 10"/>
          <p:cNvSpPr txBox="1">
            <a:spLocks noChangeArrowheads="1"/>
          </p:cNvSpPr>
          <p:nvPr/>
        </p:nvSpPr>
        <p:spPr bwMode="auto">
          <a:xfrm>
            <a:off x="7500958" y="138132"/>
            <a:ext cx="1662606"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Chance cause</a:t>
            </a:r>
            <a:endParaRPr lang="ko-KR" altLang="en-US" sz="1600" b="1" dirty="0">
              <a:solidFill>
                <a:prstClr val="black"/>
              </a:solidFill>
              <a:latin typeface="맑은 고딕"/>
              <a:ea typeface="맑은 고딕"/>
            </a:endParaRPr>
          </a:p>
        </p:txBody>
      </p:sp>
      <p:sp>
        <p:nvSpPr>
          <p:cNvPr id="43"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261</a:t>
            </a:fld>
            <a:endParaRPr lang="ko-KR" altLang="en-US" sz="1200" dirty="0">
              <a:solidFill>
                <a:prstClr val="black"/>
              </a:solidFill>
            </a:endParaRPr>
          </a:p>
        </p:txBody>
      </p:sp>
      <p:sp>
        <p:nvSpPr>
          <p:cNvPr id="3" name="직사각형 2"/>
          <p:cNvSpPr/>
          <p:nvPr/>
        </p:nvSpPr>
        <p:spPr>
          <a:xfrm>
            <a:off x="611560" y="5301208"/>
            <a:ext cx="8352928" cy="1522020"/>
          </a:xfrm>
          <a:prstGeom prst="rect">
            <a:avLst/>
          </a:prstGeom>
        </p:spPr>
        <p:txBody>
          <a:bodyPr wrap="square">
            <a:spAutoFit/>
          </a:bodyPr>
          <a:lstStyle/>
          <a:p>
            <a:pPr lvl="0" eaLnBrk="0" fontAlgn="base" latinLnBrk="0" hangingPunct="0">
              <a:lnSpc>
                <a:spcPct val="150000"/>
              </a:lnSpc>
              <a:spcBef>
                <a:spcPct val="0"/>
              </a:spcBef>
              <a:spcAft>
                <a:spcPct val="0"/>
              </a:spcAft>
              <a:defRPr/>
            </a:pPr>
            <a:r>
              <a:rPr lang="en-US" sz="1600" dirty="0"/>
              <a:t>This can be seen as the inherent variation of the production system or product. In order to reduce this variation, it is necessary to perform fundamental analysis and investigation on the product or process, and it is necessary to change the equipment or change the material and shape of the product.</a:t>
            </a:r>
            <a:endParaRPr lang="en-US" altLang="ko-KR" sz="1600" dirty="0">
              <a:solidFill>
                <a:prstClr val="black"/>
              </a:solidFill>
            </a:endParaRPr>
          </a:p>
        </p:txBody>
      </p:sp>
      <p:sp>
        <p:nvSpPr>
          <p:cNvPr id="45"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3508561641"/>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2"/>
          <p:cNvSpPr txBox="1">
            <a:spLocks noChangeArrowheads="1"/>
          </p:cNvSpPr>
          <p:nvPr/>
        </p:nvSpPr>
        <p:spPr bwMode="auto">
          <a:xfrm>
            <a:off x="517397" y="609600"/>
            <a:ext cx="46858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kumimoji="1" lang="en-US" altLang="ko-KR" b="1" dirty="0">
                <a:solidFill>
                  <a:prstClr val="black"/>
                </a:solidFill>
                <a:latin typeface="굴림" pitchFamily="50" charset="-127"/>
                <a:ea typeface="굴림" pitchFamily="50" charset="-127"/>
              </a:rPr>
              <a:t>1. </a:t>
            </a:r>
            <a:r>
              <a:rPr kumimoji="1" lang="en-US" altLang="ko-KR" b="1" dirty="0" err="1">
                <a:solidFill>
                  <a:prstClr val="black"/>
                </a:solidFill>
                <a:latin typeface="굴림" pitchFamily="50" charset="-127"/>
                <a:ea typeface="굴림" pitchFamily="50" charset="-127"/>
              </a:rPr>
              <a:t>Định</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nghĩa</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đồ</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thị</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quản</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lý</a:t>
            </a:r>
            <a:r>
              <a:rPr kumimoji="1" lang="en-US" altLang="ko-KR" b="1" dirty="0">
                <a:solidFill>
                  <a:prstClr val="black"/>
                </a:solidFill>
                <a:latin typeface="굴림" pitchFamily="50" charset="-127"/>
                <a:ea typeface="굴림" pitchFamily="50" charset="-127"/>
              </a:rPr>
              <a:t>(control chart)</a:t>
            </a:r>
            <a:endParaRPr kumimoji="1" lang="ko-KR" altLang="en-US" b="1" dirty="0">
              <a:solidFill>
                <a:prstClr val="black"/>
              </a:solidFill>
              <a:latin typeface="굴림" pitchFamily="50" charset="-127"/>
              <a:ea typeface="굴림" pitchFamily="50" charset="-127"/>
            </a:endParaRPr>
          </a:p>
        </p:txBody>
      </p:sp>
      <p:sp>
        <p:nvSpPr>
          <p:cNvPr id="9" name="Text Box 13"/>
          <p:cNvSpPr txBox="1">
            <a:spLocks noChangeArrowheads="1"/>
          </p:cNvSpPr>
          <p:nvPr/>
        </p:nvSpPr>
        <p:spPr bwMode="auto">
          <a:xfrm>
            <a:off x="900113" y="914400"/>
            <a:ext cx="7680648" cy="3046988"/>
          </a:xfrm>
          <a:prstGeom prst="rect">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txBody>
          <a:bodyPr wrap="square">
            <a:spAutoFit/>
          </a:bodyPr>
          <a:lstStyle/>
          <a:p>
            <a:pPr fontAlgn="base">
              <a:lnSpc>
                <a:spcPct val="150000"/>
              </a:lnSpc>
              <a:spcBef>
                <a:spcPct val="0"/>
              </a:spcBef>
              <a:spcAft>
                <a:spcPct val="0"/>
              </a:spcAft>
            </a:pPr>
            <a:r>
              <a:rPr kumimoji="1" lang="en-US" altLang="ko-KR" sz="1600" b="1" dirty="0">
                <a:ea typeface="굴림" pitchFamily="50" charset="-127"/>
              </a:rPr>
              <a:t> - </a:t>
            </a:r>
            <a:r>
              <a:rPr kumimoji="1" lang="en-US" altLang="ko-KR" sz="1600" b="1" dirty="0" err="1">
                <a:ea typeface="굴림" pitchFamily="50" charset="-127"/>
              </a:rPr>
              <a:t>Là</a:t>
            </a:r>
            <a:r>
              <a:rPr kumimoji="1" lang="en-US" altLang="ko-KR" sz="1600" b="1" dirty="0">
                <a:ea typeface="굴림" pitchFamily="50" charset="-127"/>
              </a:rPr>
              <a:t> </a:t>
            </a:r>
            <a:r>
              <a:rPr kumimoji="1" lang="en-US" altLang="ko-KR" sz="1600" b="1" dirty="0" err="1">
                <a:ea typeface="굴림" pitchFamily="50" charset="-127"/>
              </a:rPr>
              <a:t>một</a:t>
            </a:r>
            <a:r>
              <a:rPr kumimoji="1" lang="en-US" altLang="ko-KR" sz="1600" b="1" dirty="0">
                <a:ea typeface="굴림" pitchFamily="50" charset="-127"/>
              </a:rPr>
              <a:t> </a:t>
            </a:r>
            <a:r>
              <a:rPr kumimoji="1" lang="en-US" altLang="ko-KR" sz="1600" b="1" dirty="0" err="1">
                <a:ea typeface="굴림" pitchFamily="50" charset="-127"/>
              </a:rPr>
              <a:t>loại</a:t>
            </a:r>
            <a:r>
              <a:rPr kumimoji="1" lang="en-US" altLang="ko-KR" sz="1600" b="1" dirty="0">
                <a:ea typeface="굴림" pitchFamily="50" charset="-127"/>
              </a:rPr>
              <a:t> </a:t>
            </a:r>
            <a:r>
              <a:rPr kumimoji="1" lang="en-US" altLang="ko-KR" sz="1600" b="1" dirty="0" err="1">
                <a:ea typeface="굴림" pitchFamily="50" charset="-127"/>
              </a:rPr>
              <a:t>phương</a:t>
            </a:r>
            <a:r>
              <a:rPr kumimoji="1" lang="en-US" altLang="ko-KR" sz="1600" b="1" dirty="0">
                <a:ea typeface="굴림" pitchFamily="50" charset="-127"/>
              </a:rPr>
              <a:t> </a:t>
            </a:r>
            <a:r>
              <a:rPr kumimoji="1" lang="en-US" altLang="ko-KR" sz="1600" b="1" dirty="0" err="1">
                <a:ea typeface="굴림" pitchFamily="50" charset="-127"/>
              </a:rPr>
              <a:t>pháp</a:t>
            </a:r>
            <a:r>
              <a:rPr kumimoji="1" lang="en-US" altLang="ko-KR" sz="1600" b="1" dirty="0">
                <a:ea typeface="굴림" pitchFamily="50" charset="-127"/>
              </a:rPr>
              <a:t> </a:t>
            </a:r>
            <a:r>
              <a:rPr kumimoji="1" lang="en-US" altLang="ko-KR" sz="1600" b="1" dirty="0" err="1">
                <a:ea typeface="굴림" pitchFamily="50" charset="-127"/>
              </a:rPr>
              <a:t>sử</a:t>
            </a:r>
            <a:r>
              <a:rPr kumimoji="1" lang="en-US" altLang="ko-KR" sz="1600" b="1" dirty="0">
                <a:ea typeface="굴림" pitchFamily="50" charset="-127"/>
              </a:rPr>
              <a:t> </a:t>
            </a:r>
            <a:r>
              <a:rPr kumimoji="1" lang="en-US" altLang="ko-KR" sz="1600" b="1" dirty="0" err="1">
                <a:ea typeface="굴림" pitchFamily="50" charset="-127"/>
              </a:rPr>
              <a:t>dụng</a:t>
            </a:r>
            <a:r>
              <a:rPr kumimoji="1" lang="en-US" altLang="ko-KR" sz="1600" b="1" dirty="0">
                <a:ea typeface="굴림" pitchFamily="50" charset="-127"/>
              </a:rPr>
              <a:t> </a:t>
            </a:r>
            <a:r>
              <a:rPr kumimoji="1" lang="en-US" altLang="ko-KR" sz="1600" b="1" dirty="0" err="1">
                <a:ea typeface="굴림" pitchFamily="50" charset="-127"/>
              </a:rPr>
              <a:t>để</a:t>
            </a:r>
            <a:r>
              <a:rPr kumimoji="1" lang="en-US" altLang="ko-KR" sz="1600" b="1" dirty="0">
                <a:ea typeface="굴림" pitchFamily="50" charset="-127"/>
              </a:rPr>
              <a:t> </a:t>
            </a:r>
            <a:r>
              <a:rPr kumimoji="1" lang="en-US" altLang="ko-KR" sz="1600" b="1" dirty="0" err="1">
                <a:ea typeface="굴림" pitchFamily="50" charset="-127"/>
              </a:rPr>
              <a:t>duy</a:t>
            </a:r>
            <a:r>
              <a:rPr kumimoji="1" lang="en-US" altLang="ko-KR" sz="1600" b="1" dirty="0">
                <a:ea typeface="굴림" pitchFamily="50" charset="-127"/>
              </a:rPr>
              <a:t> </a:t>
            </a:r>
            <a:r>
              <a:rPr kumimoji="1" lang="en-US" altLang="ko-KR" sz="1600" b="1" dirty="0" err="1">
                <a:ea typeface="굴림" pitchFamily="50" charset="-127"/>
              </a:rPr>
              <a:t>trì</a:t>
            </a:r>
            <a:r>
              <a:rPr kumimoji="1" lang="en-US" altLang="ko-KR" sz="1600" b="1" dirty="0">
                <a:ea typeface="굴림" pitchFamily="50" charset="-127"/>
              </a:rPr>
              <a:t> </a:t>
            </a:r>
            <a:r>
              <a:rPr kumimoji="1" lang="en-US" altLang="ko-KR" sz="1600" b="1" dirty="0" err="1">
                <a:ea typeface="굴림" pitchFamily="50" charset="-127"/>
              </a:rPr>
              <a:t>trạng</a:t>
            </a:r>
            <a:r>
              <a:rPr kumimoji="1" lang="en-US" altLang="ko-KR" sz="1600" b="1" dirty="0">
                <a:ea typeface="굴림" pitchFamily="50" charset="-127"/>
              </a:rPr>
              <a:t> </a:t>
            </a:r>
            <a:r>
              <a:rPr kumimoji="1" lang="en-US" altLang="ko-KR" sz="1600" b="1" dirty="0" err="1">
                <a:ea typeface="굴림" pitchFamily="50" charset="-127"/>
              </a:rPr>
              <a:t>thái</a:t>
            </a:r>
            <a:r>
              <a:rPr kumimoji="1" lang="en-US" altLang="ko-KR" sz="1600" b="1" dirty="0">
                <a:ea typeface="굴림" pitchFamily="50" charset="-127"/>
              </a:rPr>
              <a:t> </a:t>
            </a:r>
            <a:r>
              <a:rPr kumimoji="1" lang="en-US" altLang="ko-KR" sz="1600" b="1" dirty="0" err="1">
                <a:ea typeface="굴림" pitchFamily="50" charset="-127"/>
              </a:rPr>
              <a:t>ổn</a:t>
            </a:r>
            <a:r>
              <a:rPr kumimoji="1" lang="en-US" altLang="ko-KR" sz="1600" b="1" dirty="0">
                <a:ea typeface="굴림" pitchFamily="50" charset="-127"/>
              </a:rPr>
              <a:t> </a:t>
            </a:r>
            <a:r>
              <a:rPr kumimoji="1" lang="en-US" altLang="ko-KR" sz="1600" b="1" dirty="0" err="1">
                <a:ea typeface="굴림" pitchFamily="50" charset="-127"/>
              </a:rPr>
              <a:t>định</a:t>
            </a:r>
            <a:r>
              <a:rPr kumimoji="1" lang="en-US" altLang="ko-KR" sz="1600" b="1" dirty="0">
                <a:ea typeface="굴림" pitchFamily="50" charset="-127"/>
              </a:rPr>
              <a:t> </a:t>
            </a:r>
            <a:r>
              <a:rPr kumimoji="1" lang="en-US" altLang="ko-KR" sz="1600" b="1" dirty="0" err="1">
                <a:ea typeface="굴림" pitchFamily="50" charset="-127"/>
              </a:rPr>
              <a:t>của</a:t>
            </a:r>
            <a:r>
              <a:rPr kumimoji="1" lang="en-US" altLang="ko-KR" sz="1600" b="1" dirty="0">
                <a:ea typeface="굴림" pitchFamily="50" charset="-127"/>
              </a:rPr>
              <a:t> Process.</a:t>
            </a:r>
          </a:p>
          <a:p>
            <a:pPr fontAlgn="base">
              <a:lnSpc>
                <a:spcPct val="150000"/>
              </a:lnSpc>
              <a:spcBef>
                <a:spcPct val="0"/>
              </a:spcBef>
              <a:spcAft>
                <a:spcPct val="0"/>
              </a:spcAft>
            </a:pPr>
            <a:r>
              <a:rPr kumimoji="1" lang="en-US" altLang="ko-KR" sz="1600" b="1" dirty="0">
                <a:ea typeface="굴림" pitchFamily="50" charset="-127"/>
              </a:rPr>
              <a:t> - </a:t>
            </a:r>
            <a:r>
              <a:rPr kumimoji="1" lang="en-US" altLang="ko-KR" sz="1600" b="1" dirty="0" err="1">
                <a:ea typeface="굴림" pitchFamily="50" charset="-127"/>
              </a:rPr>
              <a:t>Là</a:t>
            </a:r>
            <a:r>
              <a:rPr kumimoji="1" lang="en-US" altLang="ko-KR" sz="1600" b="1" dirty="0">
                <a:ea typeface="굴림" pitchFamily="50" charset="-127"/>
              </a:rPr>
              <a:t> </a:t>
            </a:r>
            <a:r>
              <a:rPr kumimoji="1" lang="en-US" altLang="ko-KR" sz="1600" b="1" dirty="0" err="1">
                <a:ea typeface="굴림" pitchFamily="50" charset="-127"/>
              </a:rPr>
              <a:t>trình</a:t>
            </a:r>
            <a:r>
              <a:rPr kumimoji="1" lang="en-US" altLang="ko-KR" sz="1600" b="1" dirty="0">
                <a:ea typeface="굴림" pitchFamily="50" charset="-127"/>
              </a:rPr>
              <a:t> </a:t>
            </a:r>
            <a:r>
              <a:rPr kumimoji="1" lang="en-US" altLang="ko-KR" sz="1600" b="1" dirty="0" err="1">
                <a:ea typeface="굴림" pitchFamily="50" charset="-127"/>
              </a:rPr>
              <a:t>tự</a:t>
            </a:r>
            <a:r>
              <a:rPr kumimoji="1" lang="en-US" altLang="ko-KR" sz="1600" b="1" dirty="0">
                <a:ea typeface="굴림" pitchFamily="50" charset="-127"/>
              </a:rPr>
              <a:t> </a:t>
            </a:r>
            <a:r>
              <a:rPr kumimoji="1" lang="en-US" altLang="ko-KR" sz="1600" b="1" dirty="0" err="1">
                <a:ea typeface="굴림" pitchFamily="50" charset="-127"/>
              </a:rPr>
              <a:t>thống</a:t>
            </a:r>
            <a:r>
              <a:rPr kumimoji="1" lang="en-US" altLang="ko-KR" sz="1600" b="1" dirty="0">
                <a:ea typeface="굴림" pitchFamily="50" charset="-127"/>
              </a:rPr>
              <a:t> </a:t>
            </a:r>
            <a:r>
              <a:rPr kumimoji="1" lang="en-US" altLang="ko-KR" sz="1600" b="1" dirty="0" err="1">
                <a:ea typeface="굴림" pitchFamily="50" charset="-127"/>
              </a:rPr>
              <a:t>kê</a:t>
            </a:r>
            <a:r>
              <a:rPr kumimoji="1" lang="en-US" altLang="ko-KR" sz="1600" b="1" dirty="0">
                <a:ea typeface="굴림" pitchFamily="50" charset="-127"/>
              </a:rPr>
              <a:t> </a:t>
            </a:r>
            <a:r>
              <a:rPr kumimoji="1" lang="en-US" altLang="ko-KR" sz="1600" b="1" dirty="0" err="1">
                <a:ea typeface="굴림" pitchFamily="50" charset="-127"/>
              </a:rPr>
              <a:t>học</a:t>
            </a:r>
            <a:r>
              <a:rPr kumimoji="1" lang="en-US" altLang="ko-KR" sz="1600" b="1" dirty="0">
                <a:ea typeface="굴림" pitchFamily="50" charset="-127"/>
              </a:rPr>
              <a:t> </a:t>
            </a:r>
            <a:r>
              <a:rPr kumimoji="1" lang="en-US" altLang="ko-KR" sz="1600" b="1" dirty="0" err="1">
                <a:ea typeface="굴림" pitchFamily="50" charset="-127"/>
              </a:rPr>
              <a:t>có</a:t>
            </a:r>
            <a:r>
              <a:rPr kumimoji="1" lang="en-US" altLang="ko-KR" sz="1600" b="1" dirty="0">
                <a:ea typeface="굴림" pitchFamily="50" charset="-127"/>
              </a:rPr>
              <a:t> </a:t>
            </a:r>
            <a:r>
              <a:rPr kumimoji="1" lang="en-US" altLang="ko-KR" sz="1600" b="1" dirty="0" err="1">
                <a:ea typeface="굴림" pitchFamily="50" charset="-127"/>
              </a:rPr>
              <a:t>thể</a:t>
            </a:r>
            <a:r>
              <a:rPr kumimoji="1" lang="en-US" altLang="ko-KR" sz="1600" b="1" dirty="0">
                <a:ea typeface="굴림" pitchFamily="50" charset="-127"/>
              </a:rPr>
              <a:t> </a:t>
            </a:r>
            <a:r>
              <a:rPr kumimoji="1" lang="en-US" altLang="ko-KR" sz="1600" b="1" dirty="0" err="1">
                <a:ea typeface="굴림" pitchFamily="50" charset="-127"/>
              </a:rPr>
              <a:t>tìm</a:t>
            </a:r>
            <a:r>
              <a:rPr kumimoji="1" lang="en-US" altLang="ko-KR" sz="1600" b="1" dirty="0">
                <a:ea typeface="굴림" pitchFamily="50" charset="-127"/>
              </a:rPr>
              <a:t> </a:t>
            </a:r>
            <a:r>
              <a:rPr kumimoji="1" lang="en-US" altLang="ko-KR" sz="1600" b="1" dirty="0" err="1">
                <a:ea typeface="굴림" pitchFamily="50" charset="-127"/>
              </a:rPr>
              <a:t>hiểu</a:t>
            </a:r>
            <a:r>
              <a:rPr kumimoji="1" lang="en-US" altLang="ko-KR" sz="1600" b="1" dirty="0">
                <a:ea typeface="굴림" pitchFamily="50" charset="-127"/>
              </a:rPr>
              <a:t> </a:t>
            </a:r>
            <a:r>
              <a:rPr kumimoji="1" lang="en-US" altLang="ko-KR" sz="1600" b="1" dirty="0" err="1">
                <a:ea typeface="굴림" pitchFamily="50" charset="-127"/>
              </a:rPr>
              <a:t>nhanh</a:t>
            </a:r>
            <a:r>
              <a:rPr kumimoji="1" lang="en-US" altLang="ko-KR" sz="1600" b="1" dirty="0">
                <a:ea typeface="굴림" pitchFamily="50" charset="-127"/>
              </a:rPr>
              <a:t> </a:t>
            </a:r>
            <a:r>
              <a:rPr kumimoji="1" lang="en-US" altLang="ko-KR" sz="1600" b="1" dirty="0" err="1">
                <a:ea typeface="굴림" pitchFamily="50" charset="-127"/>
              </a:rPr>
              <a:t>chóng</a:t>
            </a:r>
            <a:r>
              <a:rPr kumimoji="1" lang="en-US" altLang="ko-KR" sz="1600" b="1" dirty="0">
                <a:ea typeface="굴림" pitchFamily="50" charset="-127"/>
              </a:rPr>
              <a:t> </a:t>
            </a:r>
            <a:r>
              <a:rPr kumimoji="1" lang="en-US" altLang="ko-KR" sz="1600" b="1" dirty="0" err="1">
                <a:ea typeface="굴림" pitchFamily="50" charset="-127"/>
              </a:rPr>
              <a:t>những</a:t>
            </a:r>
            <a:r>
              <a:rPr kumimoji="1" lang="en-US" altLang="ko-KR" sz="1600" b="1" dirty="0">
                <a:ea typeface="굴림" pitchFamily="50" charset="-127"/>
              </a:rPr>
              <a:t> </a:t>
            </a:r>
            <a:r>
              <a:rPr kumimoji="1" lang="en-US" altLang="ko-KR" sz="1600" b="1" dirty="0" err="1">
                <a:ea typeface="굴림" pitchFamily="50" charset="-127"/>
              </a:rPr>
              <a:t>biến</a:t>
            </a:r>
            <a:r>
              <a:rPr kumimoji="1" lang="en-US" altLang="ko-KR" sz="1600" b="1" dirty="0">
                <a:ea typeface="굴림" pitchFamily="50" charset="-127"/>
              </a:rPr>
              <a:t> </a:t>
            </a:r>
            <a:r>
              <a:rPr kumimoji="1" lang="en-US" altLang="ko-KR" sz="1600" b="1" dirty="0" err="1">
                <a:ea typeface="굴림" pitchFamily="50" charset="-127"/>
              </a:rPr>
              <a:t>động</a:t>
            </a:r>
            <a:r>
              <a:rPr kumimoji="1" lang="en-US" altLang="ko-KR" sz="1600" b="1" dirty="0">
                <a:ea typeface="굴림" pitchFamily="50" charset="-127"/>
              </a:rPr>
              <a:t>/ </a:t>
            </a:r>
            <a:r>
              <a:rPr kumimoji="1" lang="en-US" altLang="ko-KR" sz="1600" b="1" dirty="0" err="1">
                <a:ea typeface="굴림" pitchFamily="50" charset="-127"/>
              </a:rPr>
              <a:t>biến</a:t>
            </a:r>
            <a:r>
              <a:rPr kumimoji="1" lang="en-US" altLang="ko-KR" sz="1600" b="1" dirty="0">
                <a:ea typeface="굴림" pitchFamily="50" charset="-127"/>
              </a:rPr>
              <a:t> </a:t>
            </a:r>
            <a:r>
              <a:rPr kumimoji="1" lang="en-US" altLang="ko-KR" sz="1600" b="1" dirty="0" err="1">
                <a:ea typeface="굴림" pitchFamily="50" charset="-127"/>
              </a:rPr>
              <a:t>hóa</a:t>
            </a:r>
            <a:r>
              <a:rPr kumimoji="1" lang="en-US" altLang="ko-KR" sz="1600" b="1" dirty="0">
                <a:ea typeface="굴림" pitchFamily="50" charset="-127"/>
              </a:rPr>
              <a:t> </a:t>
            </a:r>
            <a:r>
              <a:rPr kumimoji="1" lang="en-US" altLang="ko-KR" sz="1600" b="1" dirty="0" err="1">
                <a:ea typeface="굴림" pitchFamily="50" charset="-127"/>
              </a:rPr>
              <a:t>của</a:t>
            </a:r>
            <a:r>
              <a:rPr kumimoji="1" lang="en-US" altLang="ko-KR" sz="1600" b="1" dirty="0">
                <a:ea typeface="굴림" pitchFamily="50" charset="-127"/>
              </a:rPr>
              <a:t> </a:t>
            </a:r>
            <a:r>
              <a:rPr kumimoji="1" lang="en-US" altLang="ko-KR" sz="1600" b="1" dirty="0" err="1">
                <a:ea typeface="굴림" pitchFamily="50" charset="-127"/>
              </a:rPr>
              <a:t>chất</a:t>
            </a:r>
            <a:r>
              <a:rPr kumimoji="1" lang="en-US" altLang="ko-KR" sz="1600" b="1" dirty="0">
                <a:ea typeface="굴림" pitchFamily="50" charset="-127"/>
              </a:rPr>
              <a:t> </a:t>
            </a:r>
            <a:r>
              <a:rPr kumimoji="1" lang="en-US" altLang="ko-KR" sz="1600" b="1" dirty="0" err="1">
                <a:ea typeface="굴림" pitchFamily="50" charset="-127"/>
              </a:rPr>
              <a:t>lượng</a:t>
            </a:r>
            <a:r>
              <a:rPr kumimoji="1" lang="en-US" altLang="ko-KR" sz="1600" b="1" dirty="0">
                <a:ea typeface="굴림" pitchFamily="50" charset="-127"/>
              </a:rPr>
              <a:t> </a:t>
            </a:r>
            <a:r>
              <a:rPr kumimoji="1" lang="en-US" altLang="ko-KR" sz="1600" b="1" dirty="0" err="1">
                <a:ea typeface="굴림" pitchFamily="50" charset="-127"/>
              </a:rPr>
              <a:t>sản</a:t>
            </a:r>
            <a:r>
              <a:rPr kumimoji="1" lang="en-US" altLang="ko-KR" sz="1600" b="1" dirty="0">
                <a:ea typeface="굴림" pitchFamily="50" charset="-127"/>
              </a:rPr>
              <a:t> </a:t>
            </a:r>
            <a:r>
              <a:rPr kumimoji="1" lang="en-US" altLang="ko-KR" sz="1600" b="1" dirty="0" err="1">
                <a:ea typeface="굴림" pitchFamily="50" charset="-127"/>
              </a:rPr>
              <a:t>phẩm</a:t>
            </a:r>
            <a:r>
              <a:rPr kumimoji="1" lang="en-US" altLang="ko-KR" sz="1600" b="1" dirty="0">
                <a:ea typeface="굴림" pitchFamily="50" charset="-127"/>
              </a:rPr>
              <a:t> </a:t>
            </a:r>
            <a:r>
              <a:rPr kumimoji="1" lang="en-US" altLang="ko-KR" sz="1600" b="1" dirty="0" err="1">
                <a:ea typeface="굴림" pitchFamily="50" charset="-127"/>
              </a:rPr>
              <a:t>trong</a:t>
            </a:r>
            <a:r>
              <a:rPr kumimoji="1" lang="en-US" altLang="ko-KR" sz="1600" b="1" dirty="0">
                <a:ea typeface="굴림" pitchFamily="50" charset="-127"/>
              </a:rPr>
              <a:t> process </a:t>
            </a:r>
            <a:r>
              <a:rPr kumimoji="1" lang="en-US" altLang="ko-KR" sz="1600" b="1" dirty="0" err="1">
                <a:ea typeface="굴림" pitchFamily="50" charset="-127"/>
              </a:rPr>
              <a:t>liên</a:t>
            </a:r>
            <a:r>
              <a:rPr kumimoji="1" lang="en-US" altLang="ko-KR" sz="1600" b="1" dirty="0">
                <a:ea typeface="굴림" pitchFamily="50" charset="-127"/>
              </a:rPr>
              <a:t> </a:t>
            </a:r>
            <a:r>
              <a:rPr kumimoji="1" lang="en-US" altLang="ko-KR" sz="1600" b="1" dirty="0" err="1">
                <a:ea typeface="굴림" pitchFamily="50" charset="-127"/>
              </a:rPr>
              <a:t>tục</a:t>
            </a:r>
            <a:r>
              <a:rPr kumimoji="1" lang="en-US" altLang="ko-KR" sz="1600" b="1" dirty="0">
                <a:ea typeface="굴림" pitchFamily="50" charset="-127"/>
              </a:rPr>
              <a:t>.</a:t>
            </a:r>
          </a:p>
          <a:p>
            <a:pPr fontAlgn="base">
              <a:lnSpc>
                <a:spcPct val="150000"/>
              </a:lnSpc>
              <a:spcBef>
                <a:spcPct val="0"/>
              </a:spcBef>
              <a:spcAft>
                <a:spcPct val="0"/>
              </a:spcAft>
            </a:pPr>
            <a:r>
              <a:rPr kumimoji="1" lang="en-US" altLang="ko-KR" sz="1600" b="1" dirty="0">
                <a:ea typeface="굴림" pitchFamily="50" charset="-127"/>
              </a:rPr>
              <a:t> - </a:t>
            </a:r>
            <a:r>
              <a:rPr kumimoji="1" lang="en-US" altLang="ko-KR" sz="1600" b="1" dirty="0" err="1">
                <a:ea typeface="굴림" pitchFamily="50" charset="-127"/>
              </a:rPr>
              <a:t>Là</a:t>
            </a:r>
            <a:r>
              <a:rPr kumimoji="1" lang="en-US" altLang="ko-KR" sz="1600" b="1" dirty="0">
                <a:ea typeface="굴림" pitchFamily="50" charset="-127"/>
              </a:rPr>
              <a:t> </a:t>
            </a:r>
            <a:r>
              <a:rPr kumimoji="1" lang="en-US" altLang="ko-KR" sz="1600" b="1" dirty="0" err="1">
                <a:ea typeface="굴림" pitchFamily="50" charset="-127"/>
              </a:rPr>
              <a:t>phương</a:t>
            </a:r>
            <a:r>
              <a:rPr kumimoji="1" lang="en-US" altLang="ko-KR" sz="1600" b="1" dirty="0">
                <a:ea typeface="굴림" pitchFamily="50" charset="-127"/>
              </a:rPr>
              <a:t> </a:t>
            </a:r>
            <a:r>
              <a:rPr kumimoji="1" lang="en-US" altLang="ko-KR" sz="1600" b="1" dirty="0" err="1">
                <a:ea typeface="굴림" pitchFamily="50" charset="-127"/>
              </a:rPr>
              <a:t>pháp</a:t>
            </a:r>
            <a:r>
              <a:rPr kumimoji="1" lang="en-US" altLang="ko-KR" sz="1600" b="1" dirty="0">
                <a:ea typeface="굴림" pitchFamily="50" charset="-127"/>
              </a:rPr>
              <a:t> </a:t>
            </a:r>
            <a:r>
              <a:rPr kumimoji="1" lang="en-US" altLang="ko-KR" sz="1600" b="1" dirty="0" err="1">
                <a:ea typeface="굴림" pitchFamily="50" charset="-127"/>
              </a:rPr>
              <a:t>quản</a:t>
            </a:r>
            <a:r>
              <a:rPr kumimoji="1" lang="en-US" altLang="ko-KR" sz="1600" b="1" dirty="0">
                <a:ea typeface="굴림" pitchFamily="50" charset="-127"/>
              </a:rPr>
              <a:t> </a:t>
            </a:r>
            <a:r>
              <a:rPr kumimoji="1" lang="en-US" altLang="ko-KR" sz="1600" b="1" dirty="0" err="1">
                <a:ea typeface="굴림" pitchFamily="50" charset="-127"/>
              </a:rPr>
              <a:t>lí</a:t>
            </a:r>
            <a:r>
              <a:rPr kumimoji="1" lang="en-US" altLang="ko-KR" sz="1600" b="1" dirty="0">
                <a:ea typeface="굴림" pitchFamily="50" charset="-127"/>
              </a:rPr>
              <a:t> </a:t>
            </a:r>
            <a:r>
              <a:rPr kumimoji="1" lang="en-US" altLang="ko-KR" sz="1600" b="1" dirty="0" err="1">
                <a:ea typeface="굴림" pitchFamily="50" charset="-127"/>
              </a:rPr>
              <a:t>thống</a:t>
            </a:r>
            <a:r>
              <a:rPr kumimoji="1" lang="en-US" altLang="ko-KR" sz="1600" b="1" dirty="0">
                <a:ea typeface="굴림" pitchFamily="50" charset="-127"/>
              </a:rPr>
              <a:t> </a:t>
            </a:r>
            <a:r>
              <a:rPr kumimoji="1" lang="en-US" altLang="ko-KR" sz="1600" b="1" dirty="0" err="1">
                <a:ea typeface="굴림" pitchFamily="50" charset="-127"/>
              </a:rPr>
              <a:t>kê</a:t>
            </a:r>
            <a:r>
              <a:rPr kumimoji="1" lang="en-US" altLang="ko-KR" sz="1600" b="1" dirty="0">
                <a:ea typeface="굴림" pitchFamily="50" charset="-127"/>
              </a:rPr>
              <a:t> </a:t>
            </a:r>
            <a:r>
              <a:rPr kumimoji="1" lang="en-US" altLang="ko-KR" sz="1600" b="1" dirty="0" err="1">
                <a:ea typeface="굴림" pitchFamily="50" charset="-127"/>
              </a:rPr>
              <a:t>học</a:t>
            </a:r>
            <a:r>
              <a:rPr kumimoji="1" lang="en-US" altLang="ko-KR" sz="1600" b="1" dirty="0">
                <a:ea typeface="굴림" pitchFamily="50" charset="-127"/>
              </a:rPr>
              <a:t> </a:t>
            </a:r>
            <a:r>
              <a:rPr kumimoji="1" lang="en-US" altLang="ko-KR" sz="1600" b="1" dirty="0" err="1">
                <a:ea typeface="굴림" pitchFamily="50" charset="-127"/>
              </a:rPr>
              <a:t>để</a:t>
            </a:r>
            <a:r>
              <a:rPr kumimoji="1" lang="en-US" altLang="ko-KR" sz="1600" b="1" dirty="0">
                <a:ea typeface="굴림" pitchFamily="50" charset="-127"/>
              </a:rPr>
              <a:t> </a:t>
            </a:r>
            <a:r>
              <a:rPr kumimoji="1" lang="en-US" altLang="ko-KR" sz="1600" b="1" dirty="0" err="1">
                <a:ea typeface="굴림" pitchFamily="50" charset="-127"/>
              </a:rPr>
              <a:t>phân</a:t>
            </a:r>
            <a:r>
              <a:rPr kumimoji="1" lang="en-US" altLang="ko-KR" sz="1600" b="1" dirty="0">
                <a:ea typeface="굴림" pitchFamily="50" charset="-127"/>
              </a:rPr>
              <a:t> </a:t>
            </a:r>
            <a:r>
              <a:rPr kumimoji="1" lang="en-US" altLang="ko-KR" sz="1600" b="1" dirty="0" err="1">
                <a:ea typeface="굴림" pitchFamily="50" charset="-127"/>
              </a:rPr>
              <a:t>biệt</a:t>
            </a:r>
            <a:r>
              <a:rPr kumimoji="1" lang="en-US" altLang="ko-KR" sz="1600" b="1" dirty="0">
                <a:ea typeface="굴림" pitchFamily="50" charset="-127"/>
              </a:rPr>
              <a:t> </a:t>
            </a:r>
            <a:r>
              <a:rPr kumimoji="1" lang="en-US" altLang="ko-KR" sz="1600" b="1" dirty="0" err="1">
                <a:ea typeface="굴림" pitchFamily="50" charset="-127"/>
              </a:rPr>
              <a:t>sự</a:t>
            </a:r>
            <a:r>
              <a:rPr kumimoji="1" lang="en-US" altLang="ko-KR" sz="1600" b="1" dirty="0">
                <a:ea typeface="굴림" pitchFamily="50" charset="-127"/>
              </a:rPr>
              <a:t> </a:t>
            </a:r>
            <a:r>
              <a:rPr kumimoji="1" lang="en-US" altLang="ko-KR" sz="1600" b="1" dirty="0" err="1">
                <a:ea typeface="굴림" pitchFamily="50" charset="-127"/>
              </a:rPr>
              <a:t>phân</a:t>
            </a:r>
            <a:r>
              <a:rPr kumimoji="1" lang="en-US" altLang="ko-KR" sz="1600" b="1" dirty="0">
                <a:ea typeface="굴림" pitchFamily="50" charset="-127"/>
              </a:rPr>
              <a:t> </a:t>
            </a:r>
            <a:r>
              <a:rPr kumimoji="1" lang="en-US" altLang="ko-KR" sz="1600" b="1" dirty="0" err="1">
                <a:ea typeface="굴림" pitchFamily="50" charset="-127"/>
              </a:rPr>
              <a:t>tán</a:t>
            </a:r>
            <a:r>
              <a:rPr kumimoji="1" lang="en-US" altLang="ko-KR" sz="1600" b="1" dirty="0">
                <a:ea typeface="굴림" pitchFamily="50" charset="-127"/>
              </a:rPr>
              <a:t> </a:t>
            </a:r>
            <a:r>
              <a:rPr kumimoji="1" lang="en-US" altLang="ko-KR" sz="1600" b="1" dirty="0" err="1">
                <a:ea typeface="굴림" pitchFamily="50" charset="-127"/>
              </a:rPr>
              <a:t>của</a:t>
            </a:r>
            <a:r>
              <a:rPr kumimoji="1" lang="en-US" altLang="ko-KR" sz="1600" b="1" dirty="0">
                <a:ea typeface="굴림" pitchFamily="50" charset="-127"/>
              </a:rPr>
              <a:t> </a:t>
            </a:r>
            <a:r>
              <a:rPr kumimoji="1" lang="en-US" altLang="ko-KR" sz="1600" b="1" dirty="0" err="1">
                <a:ea typeface="굴림" pitchFamily="50" charset="-127"/>
              </a:rPr>
              <a:t>chất</a:t>
            </a:r>
            <a:r>
              <a:rPr kumimoji="1" lang="en-US" altLang="ko-KR" sz="1600" b="1" dirty="0">
                <a:ea typeface="굴림" pitchFamily="50" charset="-127"/>
              </a:rPr>
              <a:t> </a:t>
            </a:r>
            <a:r>
              <a:rPr kumimoji="1" lang="en-US" altLang="ko-KR" sz="1600" b="1" dirty="0" err="1">
                <a:ea typeface="굴림" pitchFamily="50" charset="-127"/>
              </a:rPr>
              <a:t>lượng</a:t>
            </a:r>
            <a:r>
              <a:rPr kumimoji="1" lang="en-US" altLang="ko-KR" sz="1600" b="1" dirty="0">
                <a:ea typeface="굴림" pitchFamily="50" charset="-127"/>
              </a:rPr>
              <a:t> </a:t>
            </a:r>
            <a:r>
              <a:rPr kumimoji="1" lang="en-US" altLang="ko-KR" sz="1600" b="1" dirty="0" err="1">
                <a:ea typeface="굴림" pitchFamily="50" charset="-127"/>
              </a:rPr>
              <a:t>sản</a:t>
            </a:r>
            <a:r>
              <a:rPr kumimoji="1" lang="en-US" altLang="ko-KR" sz="1600" b="1" dirty="0">
                <a:ea typeface="굴림" pitchFamily="50" charset="-127"/>
              </a:rPr>
              <a:t> </a:t>
            </a:r>
            <a:r>
              <a:rPr kumimoji="1" lang="en-US" altLang="ko-KR" sz="1600" b="1" dirty="0" err="1">
                <a:ea typeface="굴림" pitchFamily="50" charset="-127"/>
              </a:rPr>
              <a:t>phẩm</a:t>
            </a:r>
            <a:r>
              <a:rPr kumimoji="1" lang="en-US" altLang="ko-KR" sz="1600" b="1" dirty="0">
                <a:ea typeface="굴림" pitchFamily="50" charset="-127"/>
              </a:rPr>
              <a:t> </a:t>
            </a:r>
            <a:r>
              <a:rPr kumimoji="1" lang="en-US" altLang="ko-KR" sz="1600" b="1" dirty="0" err="1">
                <a:ea typeface="굴림" pitchFamily="50" charset="-127"/>
              </a:rPr>
              <a:t>là</a:t>
            </a:r>
            <a:r>
              <a:rPr kumimoji="1" lang="en-US" altLang="ko-KR" sz="1600" b="1" dirty="0">
                <a:ea typeface="굴림" pitchFamily="50" charset="-127"/>
              </a:rPr>
              <a:t> do </a:t>
            </a:r>
            <a:r>
              <a:rPr kumimoji="1" lang="en-US" altLang="ko-KR" sz="1600" b="1" dirty="0" err="1">
                <a:ea typeface="굴림" pitchFamily="50" charset="-127"/>
              </a:rPr>
              <a:t>nguyên</a:t>
            </a:r>
            <a:r>
              <a:rPr kumimoji="1" lang="en-US" altLang="ko-KR" sz="1600" b="1" dirty="0">
                <a:ea typeface="굴림" pitchFamily="50" charset="-127"/>
              </a:rPr>
              <a:t> </a:t>
            </a:r>
            <a:r>
              <a:rPr kumimoji="1" lang="en-US" altLang="ko-KR" sz="1600" b="1" dirty="0" err="1">
                <a:ea typeface="굴림" pitchFamily="50" charset="-127"/>
              </a:rPr>
              <a:t>nhân</a:t>
            </a:r>
            <a:r>
              <a:rPr kumimoji="1" lang="en-US" altLang="ko-KR" sz="1600" b="1" dirty="0">
                <a:ea typeface="굴림" pitchFamily="50" charset="-127"/>
              </a:rPr>
              <a:t> </a:t>
            </a:r>
            <a:r>
              <a:rPr kumimoji="1" lang="en-US" altLang="ko-KR" sz="1600" b="1" dirty="0" err="1">
                <a:ea typeface="굴림" pitchFamily="50" charset="-127"/>
              </a:rPr>
              <a:t>ngẫu</a:t>
            </a:r>
            <a:r>
              <a:rPr kumimoji="1" lang="en-US" altLang="ko-KR" sz="1600" b="1" dirty="0">
                <a:ea typeface="굴림" pitchFamily="50" charset="-127"/>
              </a:rPr>
              <a:t> </a:t>
            </a:r>
            <a:r>
              <a:rPr kumimoji="1" lang="en-US" altLang="ko-KR" sz="1600" b="1" dirty="0" err="1">
                <a:ea typeface="굴림" pitchFamily="50" charset="-127"/>
              </a:rPr>
              <a:t>nhiên</a:t>
            </a:r>
            <a:r>
              <a:rPr kumimoji="1" lang="en-US" altLang="ko-KR" sz="1600" b="1" dirty="0">
                <a:ea typeface="굴림" pitchFamily="50" charset="-127"/>
              </a:rPr>
              <a:t> hay </a:t>
            </a:r>
            <a:r>
              <a:rPr kumimoji="1" lang="en-US" altLang="ko-KR" sz="1600" b="1" dirty="0" err="1">
                <a:ea typeface="굴림" pitchFamily="50" charset="-127"/>
              </a:rPr>
              <a:t>nguyên</a:t>
            </a:r>
            <a:r>
              <a:rPr kumimoji="1" lang="en-US" altLang="ko-KR" sz="1600" b="1" dirty="0">
                <a:ea typeface="굴림" pitchFamily="50" charset="-127"/>
              </a:rPr>
              <a:t> </a:t>
            </a:r>
            <a:r>
              <a:rPr kumimoji="1" lang="en-US" altLang="ko-KR" sz="1600" b="1" dirty="0" err="1">
                <a:ea typeface="굴림" pitchFamily="50" charset="-127"/>
              </a:rPr>
              <a:t>nhân</a:t>
            </a:r>
            <a:r>
              <a:rPr kumimoji="1" lang="en-US" altLang="ko-KR" sz="1600" b="1" dirty="0">
                <a:ea typeface="굴림" pitchFamily="50" charset="-127"/>
              </a:rPr>
              <a:t> </a:t>
            </a:r>
            <a:r>
              <a:rPr kumimoji="1" lang="en-US" altLang="ko-KR" sz="1600" b="1" dirty="0" err="1">
                <a:ea typeface="굴림" pitchFamily="50" charset="-127"/>
              </a:rPr>
              <a:t>không</a:t>
            </a:r>
            <a:r>
              <a:rPr kumimoji="1" lang="en-US" altLang="ko-KR" sz="1600" b="1" dirty="0">
                <a:ea typeface="굴림" pitchFamily="50" charset="-127"/>
              </a:rPr>
              <a:t> </a:t>
            </a:r>
            <a:r>
              <a:rPr kumimoji="1" lang="en-US" altLang="ko-KR" sz="1600" b="1" dirty="0" err="1">
                <a:ea typeface="굴림" pitchFamily="50" charset="-127"/>
              </a:rPr>
              <a:t>ngẫu</a:t>
            </a:r>
            <a:r>
              <a:rPr kumimoji="1" lang="en-US" altLang="ko-KR" sz="1600" b="1" dirty="0">
                <a:ea typeface="굴림" pitchFamily="50" charset="-127"/>
              </a:rPr>
              <a:t> </a:t>
            </a:r>
            <a:r>
              <a:rPr kumimoji="1" lang="en-US" altLang="ko-KR" sz="1600" b="1" dirty="0" err="1">
                <a:ea typeface="굴림" pitchFamily="50" charset="-127"/>
              </a:rPr>
              <a:t>nhiên</a:t>
            </a:r>
            <a:r>
              <a:rPr kumimoji="1" lang="en-US" altLang="ko-KR" sz="1600" b="1" dirty="0">
                <a:ea typeface="굴림" pitchFamily="50" charset="-127"/>
              </a:rPr>
              <a:t>, </a:t>
            </a:r>
            <a:r>
              <a:rPr kumimoji="1" lang="en-US" altLang="ko-KR" sz="1600" b="1" dirty="0" err="1">
                <a:ea typeface="굴림" pitchFamily="50" charset="-127"/>
              </a:rPr>
              <a:t>duy</a:t>
            </a:r>
            <a:r>
              <a:rPr kumimoji="1" lang="en-US" altLang="ko-KR" sz="1600" b="1" dirty="0">
                <a:ea typeface="굴림" pitchFamily="50" charset="-127"/>
              </a:rPr>
              <a:t> </a:t>
            </a:r>
            <a:r>
              <a:rPr kumimoji="1" lang="en-US" altLang="ko-KR" sz="1600" b="1" dirty="0" err="1">
                <a:ea typeface="굴림" pitchFamily="50" charset="-127"/>
              </a:rPr>
              <a:t>trì</a:t>
            </a:r>
            <a:r>
              <a:rPr kumimoji="1" lang="en-US" altLang="ko-KR" sz="1600" b="1" dirty="0">
                <a:ea typeface="굴림" pitchFamily="50" charset="-127"/>
              </a:rPr>
              <a:t> </a:t>
            </a:r>
            <a:r>
              <a:rPr kumimoji="1" lang="en-US" altLang="ko-KR" sz="1600" b="1" dirty="0" err="1">
                <a:ea typeface="굴림" pitchFamily="50" charset="-127"/>
              </a:rPr>
              <a:t>trạng</a:t>
            </a:r>
            <a:r>
              <a:rPr kumimoji="1" lang="en-US" altLang="ko-KR" sz="1600" b="1" dirty="0">
                <a:ea typeface="굴림" pitchFamily="50" charset="-127"/>
              </a:rPr>
              <a:t> </a:t>
            </a:r>
            <a:r>
              <a:rPr kumimoji="1" lang="en-US" altLang="ko-KR" sz="1600" b="1" dirty="0" err="1">
                <a:ea typeface="굴림" pitchFamily="50" charset="-127"/>
              </a:rPr>
              <a:t>thái</a:t>
            </a:r>
            <a:r>
              <a:rPr kumimoji="1" lang="en-US" altLang="ko-KR" sz="1600" b="1" dirty="0">
                <a:ea typeface="굴림" pitchFamily="50" charset="-127"/>
              </a:rPr>
              <a:t> </a:t>
            </a:r>
            <a:r>
              <a:rPr kumimoji="1" lang="en-US" altLang="ko-KR" sz="1600" b="1" dirty="0" err="1">
                <a:ea typeface="굴림" pitchFamily="50" charset="-127"/>
              </a:rPr>
              <a:t>ổn</a:t>
            </a:r>
            <a:r>
              <a:rPr kumimoji="1" lang="en-US" altLang="ko-KR" sz="1600" b="1" dirty="0">
                <a:ea typeface="굴림" pitchFamily="50" charset="-127"/>
              </a:rPr>
              <a:t> </a:t>
            </a:r>
            <a:r>
              <a:rPr kumimoji="1" lang="en-US" altLang="ko-KR" sz="1600" b="1" dirty="0" err="1">
                <a:ea typeface="굴림" pitchFamily="50" charset="-127"/>
              </a:rPr>
              <a:t>định</a:t>
            </a:r>
            <a:r>
              <a:rPr kumimoji="1" lang="en-US" altLang="ko-KR" sz="1600" b="1" dirty="0">
                <a:ea typeface="굴림" pitchFamily="50" charset="-127"/>
              </a:rPr>
              <a:t> </a:t>
            </a:r>
            <a:r>
              <a:rPr kumimoji="1" lang="en-US" altLang="ko-KR" sz="1600" b="1" dirty="0" err="1">
                <a:ea typeface="굴림" pitchFamily="50" charset="-127"/>
              </a:rPr>
              <a:t>của</a:t>
            </a:r>
            <a:r>
              <a:rPr kumimoji="1" lang="en-US" altLang="ko-KR" sz="1600" b="1" dirty="0">
                <a:ea typeface="굴림" pitchFamily="50" charset="-127"/>
              </a:rPr>
              <a:t> process </a:t>
            </a:r>
            <a:r>
              <a:rPr kumimoji="1" lang="en-US" altLang="ko-KR" sz="1600" b="1" dirty="0" err="1">
                <a:ea typeface="굴림" pitchFamily="50" charset="-127"/>
              </a:rPr>
              <a:t>và</a:t>
            </a:r>
            <a:r>
              <a:rPr kumimoji="1" lang="en-US" altLang="ko-KR" sz="1600" b="1" dirty="0">
                <a:ea typeface="굴림" pitchFamily="50" charset="-127"/>
              </a:rPr>
              <a:t> </a:t>
            </a:r>
            <a:r>
              <a:rPr kumimoji="1" lang="en-US" altLang="ko-KR" sz="1600" b="1" dirty="0" err="1">
                <a:ea typeface="굴림" pitchFamily="50" charset="-127"/>
              </a:rPr>
              <a:t>đồng</a:t>
            </a:r>
            <a:r>
              <a:rPr kumimoji="1" lang="en-US" altLang="ko-KR" sz="1600" b="1" dirty="0">
                <a:ea typeface="굴림" pitchFamily="50" charset="-127"/>
              </a:rPr>
              <a:t> </a:t>
            </a:r>
            <a:r>
              <a:rPr kumimoji="1" lang="en-US" altLang="ko-KR" sz="1600" b="1" dirty="0" err="1">
                <a:ea typeface="굴림" pitchFamily="50" charset="-127"/>
              </a:rPr>
              <a:t>nhất</a:t>
            </a:r>
            <a:r>
              <a:rPr kumimoji="1" lang="en-US" altLang="ko-KR" sz="1600" b="1" dirty="0">
                <a:ea typeface="굴림" pitchFamily="50" charset="-127"/>
              </a:rPr>
              <a:t> </a:t>
            </a:r>
            <a:r>
              <a:rPr kumimoji="1" lang="en-US" altLang="ko-KR" sz="1600" b="1" dirty="0" err="1">
                <a:ea typeface="굴림" pitchFamily="50" charset="-127"/>
              </a:rPr>
              <a:t>hóa</a:t>
            </a:r>
            <a:r>
              <a:rPr kumimoji="1" lang="en-US" altLang="ko-KR" sz="1600" b="1" dirty="0">
                <a:ea typeface="굴림" pitchFamily="50" charset="-127"/>
              </a:rPr>
              <a:t> </a:t>
            </a:r>
            <a:r>
              <a:rPr kumimoji="1" lang="en-US" altLang="ko-KR" sz="1600" b="1" dirty="0" err="1">
                <a:ea typeface="굴림" pitchFamily="50" charset="-127"/>
              </a:rPr>
              <a:t>chất</a:t>
            </a:r>
            <a:r>
              <a:rPr kumimoji="1" lang="en-US" altLang="ko-KR" sz="1600" b="1" dirty="0">
                <a:ea typeface="굴림" pitchFamily="50" charset="-127"/>
              </a:rPr>
              <a:t> </a:t>
            </a:r>
            <a:r>
              <a:rPr kumimoji="1" lang="en-US" altLang="ko-KR" sz="1600" b="1" dirty="0" err="1">
                <a:ea typeface="굴림" pitchFamily="50" charset="-127"/>
              </a:rPr>
              <a:t>lượng</a:t>
            </a:r>
            <a:r>
              <a:rPr kumimoji="1" lang="en-US" altLang="ko-KR" sz="1600" b="1" dirty="0">
                <a:ea typeface="굴림" pitchFamily="50" charset="-127"/>
              </a:rPr>
              <a:t> </a:t>
            </a:r>
            <a:r>
              <a:rPr kumimoji="1" lang="en-US" altLang="ko-KR" sz="1600" b="1" dirty="0" err="1">
                <a:ea typeface="굴림" pitchFamily="50" charset="-127"/>
              </a:rPr>
              <a:t>sản</a:t>
            </a:r>
            <a:r>
              <a:rPr kumimoji="1" lang="en-US" altLang="ko-KR" sz="1600" b="1" dirty="0">
                <a:ea typeface="굴림" pitchFamily="50" charset="-127"/>
              </a:rPr>
              <a:t> </a:t>
            </a:r>
            <a:r>
              <a:rPr kumimoji="1" lang="en-US" altLang="ko-KR" sz="1600" b="1" dirty="0" err="1">
                <a:ea typeface="굴림" pitchFamily="50" charset="-127"/>
              </a:rPr>
              <a:t>phẩm</a:t>
            </a:r>
            <a:endParaRPr lang="en-US" altLang="ko-KR" sz="1600" b="1" dirty="0"/>
          </a:p>
        </p:txBody>
      </p:sp>
      <p:sp>
        <p:nvSpPr>
          <p:cNvPr id="13" name="Rectangle 18"/>
          <p:cNvSpPr>
            <a:spLocks noChangeArrowheads="1"/>
          </p:cNvSpPr>
          <p:nvPr/>
        </p:nvSpPr>
        <p:spPr bwMode="auto">
          <a:xfrm>
            <a:off x="899593" y="4343400"/>
            <a:ext cx="7704657" cy="2185214"/>
          </a:xfrm>
          <a:prstGeom prst="rect">
            <a:avLst/>
          </a:prstGeom>
          <a:solidFill>
            <a:schemeClr val="bg1"/>
          </a:solidFill>
          <a:ln>
            <a:solidFill>
              <a:schemeClr val="bg1">
                <a:lumMod val="75000"/>
              </a:schemeClr>
            </a:solidFill>
          </a:ln>
          <a:effectLst>
            <a:outerShdw blurRad="50800" dist="38100" dir="2700000" algn="tl" rotWithShape="0">
              <a:prstClr val="black">
                <a:alpha val="40000"/>
              </a:prstClr>
            </a:outerShdw>
          </a:effectLst>
        </p:spPr>
        <p:txBody>
          <a:bodyPr wrap="square">
            <a:spAutoFit/>
          </a:bodyPr>
          <a:lstStyle/>
          <a:p>
            <a:pPr fontAlgn="base">
              <a:lnSpc>
                <a:spcPct val="150000"/>
              </a:lnSpc>
              <a:spcBef>
                <a:spcPct val="50000"/>
              </a:spcBef>
              <a:spcAft>
                <a:spcPct val="0"/>
              </a:spcAft>
            </a:pP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hiện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sớm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biến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động</a:t>
            </a:r>
            <a:r>
              <a:rPr kumimoji="1" lang="en-US" altLang="ko-KR" sz="1600" b="1" dirty="0">
                <a:solidFill>
                  <a:prstClr val="black"/>
                </a:solidFill>
                <a:latin typeface="굴림" pitchFamily="50" charset="-127"/>
                <a:ea typeface="굴림" pitchFamily="50" charset="-127"/>
              </a:rPr>
              <a:t> do </a:t>
            </a:r>
            <a:r>
              <a:rPr kumimoji="1" lang="en-US" altLang="ko-KR" sz="1600" b="1" dirty="0" err="1">
                <a:solidFill>
                  <a:prstClr val="black"/>
                </a:solidFill>
                <a:latin typeface="굴림" pitchFamily="50" charset="-127"/>
                <a:ea typeface="굴림" pitchFamily="50" charset="-127"/>
              </a:rPr>
              <a:t>nguyên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ngẫu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nhiên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process</a:t>
            </a:r>
          </a:p>
          <a:p>
            <a:pPr fontAlgn="base">
              <a:lnSpc>
                <a:spcPct val="150000"/>
              </a:lnSpc>
              <a:spcBef>
                <a:spcPct val="50000"/>
              </a:spcBef>
              <a:spcAft>
                <a:spcPct val="0"/>
              </a:spcAft>
            </a:pP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kiểm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xem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lượng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phẩm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được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duy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một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cách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bình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hay </a:t>
            </a:r>
            <a:r>
              <a:rPr kumimoji="1" lang="en-US" altLang="ko-KR" sz="1600" b="1" dirty="0" err="1">
                <a:solidFill>
                  <a:prstClr val="black"/>
                </a:solidFill>
                <a:latin typeface="굴림" pitchFamily="50" charset="-127"/>
                <a:ea typeface="굴림" pitchFamily="50" charset="-127"/>
              </a:rPr>
              <a:t>không</a:t>
            </a:r>
            <a:endParaRPr kumimoji="1" lang="en-US" altLang="ko-KR" sz="1600" b="1" dirty="0">
              <a:solidFill>
                <a:prstClr val="black"/>
              </a:solidFill>
              <a:latin typeface="굴림" pitchFamily="50" charset="-127"/>
              <a:ea typeface="굴림" pitchFamily="50" charset="-127"/>
            </a:endParaRPr>
          </a:p>
          <a:p>
            <a:pPr fontAlgn="base">
              <a:lnSpc>
                <a:spcPct val="150000"/>
              </a:lnSpc>
              <a:spcBef>
                <a:spcPct val="50000"/>
              </a:spcBef>
              <a:spcAft>
                <a:spcPct val="0"/>
              </a:spcAft>
            </a:pP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duy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trạng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thái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ổn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định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của</a:t>
            </a:r>
            <a:r>
              <a:rPr kumimoji="1" lang="en-US" altLang="ko-KR" sz="1600" b="1" dirty="0">
                <a:solidFill>
                  <a:prstClr val="black"/>
                </a:solidFill>
                <a:latin typeface="굴림" pitchFamily="50" charset="-127"/>
                <a:ea typeface="굴림" pitchFamily="50" charset="-127"/>
              </a:rPr>
              <a:t> process</a:t>
            </a:r>
            <a:endParaRPr kumimoji="1" lang="ko-KR" altLang="en-US" sz="1600" b="1" dirty="0">
              <a:solidFill>
                <a:prstClr val="black"/>
              </a:solidFill>
              <a:latin typeface="굴림" pitchFamily="50" charset="-127"/>
              <a:ea typeface="굴림" pitchFamily="50" charset="-127"/>
            </a:endParaRPr>
          </a:p>
        </p:txBody>
      </p:sp>
      <p:sp>
        <p:nvSpPr>
          <p:cNvPr id="16" name="Text Box 21"/>
          <p:cNvSpPr txBox="1">
            <a:spLocks noChangeArrowheads="1"/>
          </p:cNvSpPr>
          <p:nvPr/>
        </p:nvSpPr>
        <p:spPr bwMode="auto">
          <a:xfrm>
            <a:off x="583863" y="3962400"/>
            <a:ext cx="34099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50000"/>
              </a:spcBef>
              <a:spcAft>
                <a:spcPct val="0"/>
              </a:spcAft>
            </a:pPr>
            <a:r>
              <a:rPr kumimoji="1" lang="en-US" altLang="ko-KR" b="1" dirty="0">
                <a:solidFill>
                  <a:prstClr val="black"/>
                </a:solidFill>
                <a:latin typeface="굴림" pitchFamily="50" charset="-127"/>
                <a:ea typeface="굴림" pitchFamily="50" charset="-127"/>
              </a:rPr>
              <a:t>2. </a:t>
            </a:r>
            <a:r>
              <a:rPr kumimoji="1" lang="en-US" altLang="ko-KR" b="1" dirty="0" err="1">
                <a:solidFill>
                  <a:prstClr val="black"/>
                </a:solidFill>
                <a:latin typeface="굴림" pitchFamily="50" charset="-127"/>
                <a:ea typeface="굴림" pitchFamily="50" charset="-127"/>
              </a:rPr>
              <a:t>Mục</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đích</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của</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đồ</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thị</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quản</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lí</a:t>
            </a:r>
            <a:endParaRPr kumimoji="1" lang="ko-KR" altLang="en-US" b="1" dirty="0">
              <a:solidFill>
                <a:prstClr val="black"/>
              </a:solidFill>
              <a:latin typeface="굴림" pitchFamily="50" charset="-127"/>
              <a:ea typeface="굴림" pitchFamily="50" charset="-127"/>
            </a:endParaRPr>
          </a:p>
        </p:txBody>
      </p:sp>
      <p:sp>
        <p:nvSpPr>
          <p:cNvPr id="20" name="Text Box 39"/>
          <p:cNvSpPr txBox="1">
            <a:spLocks noChangeArrowheads="1"/>
          </p:cNvSpPr>
          <p:nvPr/>
        </p:nvSpPr>
        <p:spPr bwMode="auto">
          <a:xfrm>
            <a:off x="127732" y="76562"/>
            <a:ext cx="45236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
        <p:nvSpPr>
          <p:cNvPr id="22" name="Text Box 10"/>
          <p:cNvSpPr txBox="1">
            <a:spLocks noChangeArrowheads="1"/>
          </p:cNvSpPr>
          <p:nvPr/>
        </p:nvSpPr>
        <p:spPr bwMode="auto">
          <a:xfrm>
            <a:off x="4648200" y="122914"/>
            <a:ext cx="4549743"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Định</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nghĩa</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và</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mục</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đích</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của</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đồ</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thị</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quản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lý</a:t>
            </a:r>
            <a:endParaRPr lang="ko-KR" altLang="en-US" sz="1600" b="1" dirty="0">
              <a:solidFill>
                <a:prstClr val="black"/>
              </a:solidFill>
              <a:latin typeface="맑은 고딕"/>
              <a:ea typeface="맑은 고딕"/>
            </a:endParaRPr>
          </a:p>
        </p:txBody>
      </p:sp>
      <p:sp>
        <p:nvSpPr>
          <p:cNvPr id="10"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262</a:t>
            </a:fld>
            <a:endParaRPr lang="ko-KR" altLang="en-US" sz="1200" dirty="0">
              <a:solidFill>
                <a:prstClr val="black"/>
              </a:solidFill>
            </a:endParaRPr>
          </a:p>
        </p:txBody>
      </p:sp>
    </p:spTree>
    <p:extLst>
      <p:ext uri="{BB962C8B-B14F-4D97-AF65-F5344CB8AC3E}">
        <p14:creationId xmlns:p14="http://schemas.microsoft.com/office/powerpoint/2010/main" val="2870552514"/>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644997" y="1844827"/>
            <a:ext cx="3461731" cy="29523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dirty="0">
              <a:solidFill>
                <a:prstClr val="white"/>
              </a:solidFill>
            </a:endParaRPr>
          </a:p>
        </p:txBody>
      </p:sp>
      <p:sp>
        <p:nvSpPr>
          <p:cNvPr id="16" name="Rectangle 4"/>
          <p:cNvSpPr>
            <a:spLocks noChangeArrowheads="1"/>
          </p:cNvSpPr>
          <p:nvPr/>
        </p:nvSpPr>
        <p:spPr bwMode="auto">
          <a:xfrm>
            <a:off x="351692" y="1756274"/>
            <a:ext cx="8840666" cy="3304751"/>
          </a:xfrm>
          <a:prstGeom prst="rect">
            <a:avLst/>
          </a:prstGeom>
          <a:noFill/>
          <a:ln>
            <a:noFill/>
          </a:ln>
          <a:effectLst/>
        </p:spPr>
        <p:txBody>
          <a:bodyPr lIns="102870" tIns="51435" rIns="102870" bIns="51435">
            <a:spAutoFit/>
          </a:bodyPr>
          <a:lstStyle>
            <a:lvl1pPr marL="211138" indent="-211138" algn="l" defTabSz="1028700">
              <a:defRPr kumimoji="1" sz="2400">
                <a:solidFill>
                  <a:schemeClr val="tx1"/>
                </a:solidFill>
                <a:latin typeface="Times New Roman" pitchFamily="18" charset="0"/>
                <a:ea typeface="굴림" pitchFamily="50" charset="-127"/>
              </a:defRPr>
            </a:lvl1pPr>
            <a:lvl2pPr marL="1271588" indent="-514350" algn="l" defTabSz="1028700">
              <a:defRPr kumimoji="1" sz="2400">
                <a:solidFill>
                  <a:schemeClr val="tx1"/>
                </a:solidFill>
                <a:latin typeface="Times New Roman" pitchFamily="18" charset="0"/>
                <a:ea typeface="굴림" pitchFamily="50" charset="-127"/>
              </a:defRPr>
            </a:lvl2pPr>
            <a:lvl3pPr marL="2000250" indent="-514350" algn="l" defTabSz="1028700">
              <a:defRPr kumimoji="1" sz="2400">
                <a:solidFill>
                  <a:schemeClr val="tx1"/>
                </a:solidFill>
                <a:latin typeface="Times New Roman" pitchFamily="18" charset="0"/>
                <a:ea typeface="굴림" pitchFamily="50" charset="-127"/>
              </a:defRPr>
            </a:lvl3pPr>
            <a:lvl4pPr marL="2728913" indent="-514350" algn="l" defTabSz="1028700">
              <a:defRPr kumimoji="1" sz="2400">
                <a:solidFill>
                  <a:schemeClr val="tx1"/>
                </a:solidFill>
                <a:latin typeface="Times New Roman" pitchFamily="18" charset="0"/>
                <a:ea typeface="굴림" pitchFamily="50" charset="-127"/>
              </a:defRPr>
            </a:lvl4pPr>
            <a:lvl5pPr marL="3457575" indent="-514350" algn="l" defTabSz="1028700">
              <a:defRPr kumimoji="1" sz="2400">
                <a:solidFill>
                  <a:schemeClr val="tx1"/>
                </a:solidFill>
                <a:latin typeface="Times New Roman" pitchFamily="18" charset="0"/>
                <a:ea typeface="굴림" pitchFamily="50" charset="-127"/>
              </a:defRPr>
            </a:lvl5pPr>
            <a:lvl6pPr marL="3914775" indent="-51435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4371975" indent="-51435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4829175" indent="-51435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5286375" indent="-51435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eaLnBrk="0" fontAlgn="base" latinLnBrk="0" hangingPunct="0">
              <a:spcBef>
                <a:spcPct val="0"/>
              </a:spcBef>
              <a:spcAft>
                <a:spcPct val="0"/>
              </a:spcAft>
              <a:buFont typeface="Wingdings" pitchFamily="2" charset="2"/>
              <a:buNone/>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buFont typeface="Wingdings" pitchFamily="2" charset="2"/>
              <a:buNone/>
              <a:defRPr/>
            </a:pPr>
            <a:endParaRPr kumimoji="0" lang="ko-KR" altLang="en-US"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i="1" dirty="0">
              <a:solidFill>
                <a:prstClr val="black"/>
              </a:solidFill>
              <a:latin typeface="맑은 고딕"/>
              <a:ea typeface="맑은 고딕"/>
            </a:endParaRPr>
          </a:p>
          <a:p>
            <a:pPr eaLnBrk="0" fontAlgn="base" latinLnBrk="0" hangingPunct="0">
              <a:spcBef>
                <a:spcPct val="0"/>
              </a:spcBef>
              <a:spcAft>
                <a:spcPct val="0"/>
              </a:spcAft>
              <a:defRPr/>
            </a:pPr>
            <a:endParaRPr kumimoji="0" lang="en-US" altLang="ko-KR" sz="1600" dirty="0">
              <a:solidFill>
                <a:prstClr val="black"/>
              </a:solidFill>
              <a:latin typeface="맑은 고딕"/>
              <a:ea typeface="맑은 고딕"/>
            </a:endParaRPr>
          </a:p>
        </p:txBody>
      </p:sp>
      <p:sp>
        <p:nvSpPr>
          <p:cNvPr id="17" name="Rectangle 6"/>
          <p:cNvSpPr>
            <a:spLocks noChangeArrowheads="1"/>
          </p:cNvSpPr>
          <p:nvPr/>
        </p:nvSpPr>
        <p:spPr bwMode="auto">
          <a:xfrm>
            <a:off x="4572011" y="1844824"/>
            <a:ext cx="4365381" cy="3211513"/>
          </a:xfrm>
          <a:prstGeom prst="rect">
            <a:avLst/>
          </a:prstGeom>
          <a:noFill/>
          <a:ln w="12700" algn="ctr">
            <a:solidFill>
              <a:srgbClr val="000000"/>
            </a:solidFill>
            <a:miter lim="800000"/>
            <a:headEnd/>
            <a:tailEnd/>
          </a:ln>
          <a:effectLst/>
        </p:spPr>
        <p:txBody>
          <a:bodyPr wrap="none" lIns="162000" rIns="162000" anchor="ctr"/>
          <a:lstStyle/>
          <a:p>
            <a:pPr fontAlgn="base">
              <a:spcBef>
                <a:spcPct val="0"/>
              </a:spcBef>
              <a:spcAft>
                <a:spcPct val="0"/>
              </a:spcAft>
              <a:defRPr/>
            </a:pPr>
            <a:endParaRPr kumimoji="1" lang="ko-KR" altLang="en-US" dirty="0">
              <a:solidFill>
                <a:prstClr val="black"/>
              </a:solidFill>
            </a:endParaRPr>
          </a:p>
        </p:txBody>
      </p:sp>
      <p:sp>
        <p:nvSpPr>
          <p:cNvPr id="18" name="Text Box 7"/>
          <p:cNvSpPr txBox="1">
            <a:spLocks noChangeArrowheads="1"/>
          </p:cNvSpPr>
          <p:nvPr/>
        </p:nvSpPr>
        <p:spPr bwMode="auto">
          <a:xfrm>
            <a:off x="4495800" y="1828800"/>
            <a:ext cx="4800600" cy="559127"/>
          </a:xfrm>
          <a:prstGeom prst="rect">
            <a:avLst/>
          </a:prstGeom>
          <a:noFill/>
          <a:ln>
            <a:noFill/>
          </a:ln>
          <a:effectLst/>
        </p:spPr>
        <p:txBody>
          <a:bodyPr wrap="square" lIns="102870" tIns="51435" rIns="102870" bIns="51435">
            <a:spAutoFit/>
          </a:bodyPr>
          <a:lstStyle>
            <a:lvl1pPr algn="l" defTabSz="1028700">
              <a:defRPr kumimoji="1" sz="2400">
                <a:solidFill>
                  <a:schemeClr val="tx1"/>
                </a:solidFill>
                <a:latin typeface="Times New Roman" pitchFamily="18" charset="0"/>
                <a:ea typeface="굴림" pitchFamily="50" charset="-127"/>
              </a:defRPr>
            </a:lvl1pPr>
            <a:lvl2pPr marL="514350" algn="l" defTabSz="1028700">
              <a:defRPr kumimoji="1" sz="2400">
                <a:solidFill>
                  <a:schemeClr val="tx1"/>
                </a:solidFill>
                <a:latin typeface="Times New Roman" pitchFamily="18" charset="0"/>
                <a:ea typeface="굴림" pitchFamily="50" charset="-127"/>
              </a:defRPr>
            </a:lvl2pPr>
            <a:lvl3pPr marL="1028700" algn="l" defTabSz="1028700">
              <a:defRPr kumimoji="1" sz="2400">
                <a:solidFill>
                  <a:schemeClr val="tx1"/>
                </a:solidFill>
                <a:latin typeface="Times New Roman" pitchFamily="18" charset="0"/>
                <a:ea typeface="굴림" pitchFamily="50" charset="-127"/>
              </a:defRPr>
            </a:lvl3pPr>
            <a:lvl4pPr marL="1543050" algn="l" defTabSz="1028700">
              <a:defRPr kumimoji="1" sz="2400">
                <a:solidFill>
                  <a:schemeClr val="tx1"/>
                </a:solidFill>
                <a:latin typeface="Times New Roman" pitchFamily="18" charset="0"/>
                <a:ea typeface="굴림" pitchFamily="50" charset="-127"/>
              </a:defRPr>
            </a:lvl4pPr>
            <a:lvl5pPr marL="2057400" algn="l" defTabSz="1028700">
              <a:defRPr kumimoji="1" sz="2400">
                <a:solidFill>
                  <a:schemeClr val="tx1"/>
                </a:solidFill>
                <a:latin typeface="Times New Roman" pitchFamily="18" charset="0"/>
                <a:ea typeface="굴림" pitchFamily="50" charset="-127"/>
              </a:defRPr>
            </a:lvl5pPr>
            <a:lvl6pPr marL="2514600" defTabSz="1028700" fontAlgn="base">
              <a:spcBef>
                <a:spcPct val="0"/>
              </a:spcBef>
              <a:spcAft>
                <a:spcPct val="0"/>
              </a:spcAft>
              <a:defRPr kumimoji="1" sz="2400">
                <a:solidFill>
                  <a:schemeClr val="tx1"/>
                </a:solidFill>
                <a:latin typeface="Times New Roman" pitchFamily="18" charset="0"/>
                <a:ea typeface="굴림" pitchFamily="50" charset="-127"/>
              </a:defRPr>
            </a:lvl6pPr>
            <a:lvl7pPr marL="2971800" defTabSz="1028700" fontAlgn="base">
              <a:spcBef>
                <a:spcPct val="0"/>
              </a:spcBef>
              <a:spcAft>
                <a:spcPct val="0"/>
              </a:spcAft>
              <a:defRPr kumimoji="1" sz="2400">
                <a:solidFill>
                  <a:schemeClr val="tx1"/>
                </a:solidFill>
                <a:latin typeface="Times New Roman" pitchFamily="18" charset="0"/>
                <a:ea typeface="굴림" pitchFamily="50" charset="-127"/>
              </a:defRPr>
            </a:lvl7pPr>
            <a:lvl8pPr marL="3429000" defTabSz="1028700" fontAlgn="base">
              <a:spcBef>
                <a:spcPct val="0"/>
              </a:spcBef>
              <a:spcAft>
                <a:spcPct val="0"/>
              </a:spcAft>
              <a:defRPr kumimoji="1" sz="2400">
                <a:solidFill>
                  <a:schemeClr val="tx1"/>
                </a:solidFill>
                <a:latin typeface="Times New Roman" pitchFamily="18" charset="0"/>
                <a:ea typeface="굴림" pitchFamily="50" charset="-127"/>
              </a:defRPr>
            </a:lvl8pPr>
            <a:lvl9pPr marL="3886200" defTabSz="1028700" fontAlgn="base">
              <a:spcBef>
                <a:spcPct val="0"/>
              </a:spcBef>
              <a:spcAft>
                <a:spcPct val="0"/>
              </a:spcAft>
              <a:defRPr kumimoji="1" sz="2400">
                <a:solidFill>
                  <a:schemeClr val="tx1"/>
                </a:solidFill>
                <a:latin typeface="Times New Roman" pitchFamily="18" charset="0"/>
                <a:ea typeface="굴림" pitchFamily="50" charset="-127"/>
              </a:defRPr>
            </a:lvl9pPr>
          </a:lstStyle>
          <a:p>
            <a:pPr eaLnBrk="0" fontAlgn="base" latinLnBrk="0" hangingPunct="0">
              <a:lnSpc>
                <a:spcPct val="110000"/>
              </a:lnSpc>
              <a:spcBef>
                <a:spcPct val="0"/>
              </a:spcBef>
              <a:spcAft>
                <a:spcPct val="0"/>
              </a:spcAft>
              <a:defRPr/>
            </a:pPr>
            <a:r>
              <a:rPr kumimoji="0" lang="en-US" altLang="ko-KR" sz="1400" dirty="0">
                <a:solidFill>
                  <a:srgbClr val="000000"/>
                </a:solidFill>
                <a:latin typeface="맑은 고딕"/>
                <a:ea typeface="맑은 고딕"/>
              </a:rPr>
              <a:t>Do </a:t>
            </a:r>
            <a:r>
              <a:rPr kumimoji="0" lang="en-US" altLang="ko-KR" sz="1400" dirty="0" err="1">
                <a:solidFill>
                  <a:srgbClr val="000000"/>
                </a:solidFill>
                <a:latin typeface="맑은 고딕"/>
                <a:ea typeface="맑은 고딕"/>
              </a:rPr>
              <a:t>nguyên</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nhân</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ngẫu</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nhiên</a:t>
            </a:r>
            <a:r>
              <a:rPr kumimoji="0" lang="en-US" altLang="ko-KR" sz="1400" dirty="0">
                <a:solidFill>
                  <a:srgbClr val="000000"/>
                </a:solidFill>
                <a:latin typeface="맑은 고딕"/>
                <a:ea typeface="맑은 고딕"/>
              </a:rPr>
              <a:t> process </a:t>
            </a:r>
            <a:r>
              <a:rPr kumimoji="0" lang="en-US" altLang="ko-KR" sz="1400" dirty="0" err="1">
                <a:solidFill>
                  <a:srgbClr val="000000"/>
                </a:solidFill>
                <a:latin typeface="맑은 고딕"/>
                <a:ea typeface="맑은 고딕"/>
              </a:rPr>
              <a:t>được</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đặt</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trong</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trạng</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thái</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ổn</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định</a:t>
            </a:r>
            <a:r>
              <a:rPr kumimoji="0" lang="en-US" altLang="ko-KR" sz="1400" dirty="0">
                <a:solidFill>
                  <a:srgbClr val="000000"/>
                </a:solidFill>
                <a:latin typeface="맑은 고딕"/>
                <a:ea typeface="맑은 고딕"/>
              </a:rPr>
              <a:t>. Do </a:t>
            </a:r>
            <a:r>
              <a:rPr kumimoji="0" lang="en-US" altLang="ko-KR" sz="1400" dirty="0" err="1">
                <a:solidFill>
                  <a:srgbClr val="000000"/>
                </a:solidFill>
                <a:latin typeface="맑은 고딕"/>
                <a:ea typeface="맑은 고딕"/>
              </a:rPr>
              <a:t>đó</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có</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khả</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năng</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đo</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đạc</a:t>
            </a:r>
            <a:r>
              <a:rPr kumimoji="0" lang="en-US" altLang="ko-KR" sz="1400" dirty="0">
                <a:solidFill>
                  <a:srgbClr val="000000"/>
                </a:solidFill>
                <a:latin typeface="맑은 고딕"/>
                <a:ea typeface="맑은 고딕"/>
              </a:rPr>
              <a:t> </a:t>
            </a:r>
            <a:r>
              <a:rPr kumimoji="0" lang="en-US" altLang="ko-KR" sz="1400" dirty="0" err="1">
                <a:solidFill>
                  <a:srgbClr val="000000"/>
                </a:solidFill>
                <a:latin typeface="맑은 고딕"/>
                <a:ea typeface="맑은 고딕"/>
              </a:rPr>
              <a:t>được</a:t>
            </a:r>
            <a:endParaRPr kumimoji="0" lang="en-US" altLang="ko-KR" sz="1400" dirty="0">
              <a:solidFill>
                <a:srgbClr val="000000"/>
              </a:solidFill>
              <a:latin typeface="맑은 고딕"/>
              <a:ea typeface="맑은 고딕"/>
            </a:endParaRPr>
          </a:p>
        </p:txBody>
      </p:sp>
      <p:pic>
        <p:nvPicPr>
          <p:cNvPr id="6151" name="Picture 5" descr="우연원인"/>
          <p:cNvPicPr>
            <a:picLocks noChangeAspect="1" noChangeArrowheads="1"/>
          </p:cNvPicPr>
          <p:nvPr/>
        </p:nvPicPr>
        <p:blipFill>
          <a:blip r:embed="rId3" cstate="print">
            <a:lum bright="-14000" contrast="48000"/>
            <a:extLst>
              <a:ext uri="{28A0092B-C50C-407E-A947-70E740481C1C}">
                <a14:useLocalDpi xmlns:a14="http://schemas.microsoft.com/office/drawing/2010/main" val="0"/>
              </a:ext>
            </a:extLst>
          </a:blip>
          <a:srcRect l="883" t="7355"/>
          <a:stretch>
            <a:fillRect/>
          </a:stretch>
        </p:blipFill>
        <p:spPr bwMode="auto">
          <a:xfrm>
            <a:off x="4802066" y="2617945"/>
            <a:ext cx="3905250" cy="219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Rectangle 9"/>
          <p:cNvSpPr>
            <a:spLocks noChangeArrowheads="1"/>
          </p:cNvSpPr>
          <p:nvPr/>
        </p:nvSpPr>
        <p:spPr bwMode="auto">
          <a:xfrm>
            <a:off x="4802066" y="2606824"/>
            <a:ext cx="633046" cy="152400"/>
          </a:xfrm>
          <a:prstGeom prst="rect">
            <a:avLst/>
          </a:prstGeom>
          <a:solidFill>
            <a:schemeClr val="bg1"/>
          </a:solidFill>
          <a:ln>
            <a:noFill/>
          </a:ln>
          <a:effectLst/>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1" name="Line 17"/>
          <p:cNvSpPr>
            <a:spLocks noChangeShapeType="1"/>
          </p:cNvSpPr>
          <p:nvPr/>
        </p:nvSpPr>
        <p:spPr bwMode="auto">
          <a:xfrm flipV="1">
            <a:off x="7290289" y="3237062"/>
            <a:ext cx="46892" cy="25400"/>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2" name="Line 18"/>
          <p:cNvSpPr>
            <a:spLocks noChangeShapeType="1"/>
          </p:cNvSpPr>
          <p:nvPr/>
        </p:nvSpPr>
        <p:spPr bwMode="auto">
          <a:xfrm flipV="1">
            <a:off x="7384073" y="3160862"/>
            <a:ext cx="52754" cy="50800"/>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3" name="Line 19"/>
          <p:cNvSpPr>
            <a:spLocks noChangeShapeType="1"/>
          </p:cNvSpPr>
          <p:nvPr/>
        </p:nvSpPr>
        <p:spPr bwMode="auto">
          <a:xfrm flipV="1">
            <a:off x="7471997" y="3032274"/>
            <a:ext cx="52754" cy="69850"/>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4" name="Line 20"/>
          <p:cNvSpPr>
            <a:spLocks noChangeShapeType="1"/>
          </p:cNvSpPr>
          <p:nvPr/>
        </p:nvSpPr>
        <p:spPr bwMode="auto">
          <a:xfrm flipV="1">
            <a:off x="7564315" y="2898945"/>
            <a:ext cx="30774" cy="603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5" name="Line 21"/>
          <p:cNvSpPr>
            <a:spLocks noChangeShapeType="1"/>
          </p:cNvSpPr>
          <p:nvPr/>
        </p:nvSpPr>
        <p:spPr bwMode="auto">
          <a:xfrm flipV="1">
            <a:off x="7630268" y="2779883"/>
            <a:ext cx="30773" cy="603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6" name="Line 22"/>
          <p:cNvSpPr>
            <a:spLocks noChangeShapeType="1"/>
          </p:cNvSpPr>
          <p:nvPr/>
        </p:nvSpPr>
        <p:spPr bwMode="auto">
          <a:xfrm flipV="1">
            <a:off x="7691815" y="2670345"/>
            <a:ext cx="30773" cy="603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7" name="Line 23"/>
          <p:cNvSpPr>
            <a:spLocks noChangeShapeType="1"/>
          </p:cNvSpPr>
          <p:nvPr/>
        </p:nvSpPr>
        <p:spPr bwMode="auto">
          <a:xfrm flipV="1">
            <a:off x="7718181" y="2632245"/>
            <a:ext cx="43962" cy="4127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8" name="Line 24"/>
          <p:cNvSpPr>
            <a:spLocks noChangeShapeType="1"/>
          </p:cNvSpPr>
          <p:nvPr/>
        </p:nvSpPr>
        <p:spPr bwMode="auto">
          <a:xfrm>
            <a:off x="7801718" y="2625874"/>
            <a:ext cx="79131" cy="20638"/>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29" name="Line 25"/>
          <p:cNvSpPr>
            <a:spLocks noChangeShapeType="1"/>
          </p:cNvSpPr>
          <p:nvPr/>
        </p:nvSpPr>
        <p:spPr bwMode="auto">
          <a:xfrm>
            <a:off x="7920415" y="2687787"/>
            <a:ext cx="26377" cy="49212"/>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0" name="Line 26"/>
          <p:cNvSpPr>
            <a:spLocks noChangeShapeType="1"/>
          </p:cNvSpPr>
          <p:nvPr/>
        </p:nvSpPr>
        <p:spPr bwMode="auto">
          <a:xfrm>
            <a:off x="7981952" y="2797345"/>
            <a:ext cx="35169" cy="7302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1" name="Line 27"/>
          <p:cNvSpPr>
            <a:spLocks noChangeShapeType="1"/>
          </p:cNvSpPr>
          <p:nvPr/>
        </p:nvSpPr>
        <p:spPr bwMode="auto">
          <a:xfrm>
            <a:off x="8047893" y="2916387"/>
            <a:ext cx="43962" cy="68262"/>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2" name="Line 28"/>
          <p:cNvSpPr>
            <a:spLocks noChangeShapeType="1"/>
          </p:cNvSpPr>
          <p:nvPr/>
        </p:nvSpPr>
        <p:spPr bwMode="auto">
          <a:xfrm>
            <a:off x="8118231" y="3030687"/>
            <a:ext cx="43962" cy="68262"/>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3" name="Line 29"/>
          <p:cNvSpPr>
            <a:spLocks noChangeShapeType="1"/>
          </p:cNvSpPr>
          <p:nvPr/>
        </p:nvSpPr>
        <p:spPr bwMode="auto">
          <a:xfrm>
            <a:off x="8188575" y="3121174"/>
            <a:ext cx="57150" cy="58738"/>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4" name="Line 30"/>
          <p:cNvSpPr>
            <a:spLocks noChangeShapeType="1"/>
          </p:cNvSpPr>
          <p:nvPr/>
        </p:nvSpPr>
        <p:spPr bwMode="auto">
          <a:xfrm>
            <a:off x="8263315" y="3202158"/>
            <a:ext cx="79131" cy="53975"/>
          </a:xfrm>
          <a:prstGeom prst="line">
            <a:avLst/>
          </a:prstGeom>
          <a:noFill/>
          <a:ln w="12700">
            <a:solidFill>
              <a:schemeClr val="tx1"/>
            </a:solidFill>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5" name="Line 31"/>
          <p:cNvSpPr>
            <a:spLocks noChangeShapeType="1"/>
          </p:cNvSpPr>
          <p:nvPr/>
        </p:nvSpPr>
        <p:spPr bwMode="auto">
          <a:xfrm>
            <a:off x="7811966" y="2624287"/>
            <a:ext cx="0" cy="647700"/>
          </a:xfrm>
          <a:prstGeom prst="line">
            <a:avLst/>
          </a:prstGeom>
          <a:noFill/>
          <a:ln w="12700">
            <a:solidFill>
              <a:schemeClr val="tx1"/>
            </a:solidFill>
            <a:prstDash val="dash"/>
            <a:round/>
            <a:headEn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6" name="Line 32"/>
          <p:cNvSpPr>
            <a:spLocks noChangeShapeType="1"/>
          </p:cNvSpPr>
          <p:nvPr/>
        </p:nvSpPr>
        <p:spPr bwMode="auto">
          <a:xfrm flipH="1">
            <a:off x="8159272" y="2900533"/>
            <a:ext cx="360485" cy="180975"/>
          </a:xfrm>
          <a:prstGeom prst="line">
            <a:avLst/>
          </a:prstGeom>
          <a:noFill/>
          <a:ln w="12700">
            <a:solidFill>
              <a:schemeClr val="tx1"/>
            </a:solidFill>
            <a:round/>
            <a:headEnd type="triangle" w="med" len="med"/>
            <a:tailEnd/>
          </a:ln>
          <a:effectLst/>
        </p:spPr>
        <p:txBody>
          <a:bodyPr/>
          <a:lstStyle/>
          <a:p>
            <a:pPr fontAlgn="base">
              <a:spcBef>
                <a:spcPct val="0"/>
              </a:spcBef>
              <a:spcAft>
                <a:spcPct val="0"/>
              </a:spcAft>
              <a:defRPr/>
            </a:pPr>
            <a:endParaRPr kumimoji="1" lang="ko-KR" altLang="en-US" dirty="0">
              <a:solidFill>
                <a:prstClr val="black"/>
              </a:solidFill>
            </a:endParaRPr>
          </a:p>
        </p:txBody>
      </p:sp>
      <p:sp>
        <p:nvSpPr>
          <p:cNvPr id="37" name="Text Box 33"/>
          <p:cNvSpPr txBox="1">
            <a:spLocks noChangeArrowheads="1"/>
          </p:cNvSpPr>
          <p:nvPr/>
        </p:nvSpPr>
        <p:spPr bwMode="auto">
          <a:xfrm>
            <a:off x="4579338" y="4568985"/>
            <a:ext cx="678462" cy="363176"/>
          </a:xfrm>
          <a:prstGeom prst="rect">
            <a:avLst/>
          </a:prstGeom>
          <a:solidFill>
            <a:schemeClr val="bg1"/>
          </a:solidFill>
          <a:ln>
            <a:noFill/>
          </a:ln>
          <a:effectLst/>
        </p:spPr>
        <p:txBody>
          <a:bodyPr wrap="square">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r>
              <a:rPr lang="en-US" altLang="ko-KR" sz="1100" b="1" dirty="0" err="1">
                <a:solidFill>
                  <a:prstClr val="black"/>
                </a:solidFill>
                <a:latin typeface="맑은 고딕"/>
                <a:ea typeface="맑은 고딕"/>
              </a:rPr>
              <a:t>kích</a:t>
            </a:r>
            <a:r>
              <a:rPr lang="en-US" altLang="ko-KR" sz="1100" b="1" dirty="0">
                <a:solidFill>
                  <a:prstClr val="black"/>
                </a:solidFill>
                <a:latin typeface="맑은 고딕"/>
                <a:ea typeface="맑은 고딕"/>
              </a:rPr>
              <a:t> </a:t>
            </a:r>
            <a:r>
              <a:rPr lang="en-US" altLang="ko-KR" sz="1100" b="1" dirty="0" err="1">
                <a:solidFill>
                  <a:prstClr val="black"/>
                </a:solidFill>
                <a:latin typeface="맑은 고딕"/>
                <a:ea typeface="맑은 고딕"/>
              </a:rPr>
              <a:t>thước</a:t>
            </a:r>
            <a:endParaRPr lang="ko-KR" altLang="en-US" sz="1100" b="1" dirty="0">
              <a:solidFill>
                <a:prstClr val="black"/>
              </a:solidFill>
              <a:latin typeface="맑은 고딕"/>
              <a:ea typeface="맑은 고딕"/>
            </a:endParaRPr>
          </a:p>
        </p:txBody>
      </p:sp>
      <p:sp>
        <p:nvSpPr>
          <p:cNvPr id="38" name="Text Box 34"/>
          <p:cNvSpPr txBox="1">
            <a:spLocks noChangeArrowheads="1"/>
          </p:cNvSpPr>
          <p:nvPr/>
        </p:nvSpPr>
        <p:spPr bwMode="auto">
          <a:xfrm rot="19963531">
            <a:off x="6656895" y="4208613"/>
            <a:ext cx="1078907" cy="227755"/>
          </a:xfrm>
          <a:prstGeom prst="rect">
            <a:avLst/>
          </a:prstGeom>
          <a:noFill/>
          <a:ln>
            <a:noFill/>
          </a:ln>
          <a:effectLst/>
        </p:spPr>
        <p:txBody>
          <a:bodyPr wrap="square">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r>
              <a:rPr lang="en-US" altLang="ko-KR" sz="1100" b="1" dirty="0" err="1">
                <a:solidFill>
                  <a:prstClr val="black"/>
                </a:solidFill>
                <a:latin typeface="맑은 고딕"/>
                <a:ea typeface="맑은 고딕"/>
              </a:rPr>
              <a:t>Thời</a:t>
            </a:r>
            <a:r>
              <a:rPr lang="en-US" altLang="ko-KR" sz="1100" b="1" dirty="0">
                <a:solidFill>
                  <a:prstClr val="black"/>
                </a:solidFill>
                <a:latin typeface="맑은 고딕"/>
                <a:ea typeface="맑은 고딕"/>
              </a:rPr>
              <a:t> </a:t>
            </a:r>
            <a:r>
              <a:rPr lang="en-US" altLang="ko-KR" sz="1100" b="1" dirty="0" err="1">
                <a:solidFill>
                  <a:prstClr val="black"/>
                </a:solidFill>
                <a:latin typeface="맑은 고딕"/>
                <a:ea typeface="맑은 고딕"/>
              </a:rPr>
              <a:t>gian</a:t>
            </a:r>
            <a:endParaRPr lang="ko-KR" altLang="en-US" sz="1100" b="1" dirty="0">
              <a:solidFill>
                <a:prstClr val="black"/>
              </a:solidFill>
              <a:latin typeface="맑은 고딕"/>
              <a:ea typeface="맑은 고딕"/>
            </a:endParaRPr>
          </a:p>
        </p:txBody>
      </p:sp>
      <p:sp>
        <p:nvSpPr>
          <p:cNvPr id="39" name="Text Box 37"/>
          <p:cNvSpPr txBox="1">
            <a:spLocks noChangeArrowheads="1"/>
          </p:cNvSpPr>
          <p:nvPr/>
        </p:nvSpPr>
        <p:spPr bwMode="auto">
          <a:xfrm rot="19963531">
            <a:off x="6463814" y="4124495"/>
            <a:ext cx="999392" cy="214313"/>
          </a:xfrm>
          <a:prstGeom prst="rect">
            <a:avLst/>
          </a:prstGeom>
          <a:solidFill>
            <a:schemeClr val="bg1"/>
          </a:solid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endParaRPr lang="ko-KR" altLang="ko-KR" sz="1000" dirty="0">
              <a:solidFill>
                <a:prstClr val="black"/>
              </a:solidFill>
              <a:latin typeface="맑은 고딕"/>
              <a:ea typeface="맑은 고딕"/>
            </a:endParaRPr>
          </a:p>
        </p:txBody>
      </p:sp>
      <p:sp>
        <p:nvSpPr>
          <p:cNvPr id="40" name="Line 35"/>
          <p:cNvSpPr>
            <a:spLocks noChangeShapeType="1"/>
          </p:cNvSpPr>
          <p:nvPr/>
        </p:nvSpPr>
        <p:spPr bwMode="auto">
          <a:xfrm rot="21337706" flipV="1">
            <a:off x="6633797" y="4014937"/>
            <a:ext cx="760534" cy="398462"/>
          </a:xfrm>
          <a:prstGeom prst="line">
            <a:avLst/>
          </a:prstGeom>
          <a:noFill/>
          <a:ln w="28575">
            <a:solidFill>
              <a:schemeClr val="tx1"/>
            </a:solidFill>
            <a:round/>
            <a:headEnd/>
            <a:tailEnd type="triangle" w="sm" len="med"/>
          </a:ln>
          <a:effectLst/>
        </p:spPr>
        <p:txBody>
          <a:bodyPr/>
          <a:lstStyle/>
          <a:p>
            <a:pPr fontAlgn="base">
              <a:spcBef>
                <a:spcPct val="0"/>
              </a:spcBef>
              <a:spcAft>
                <a:spcPct val="0"/>
              </a:spcAft>
              <a:defRPr/>
            </a:pPr>
            <a:endParaRPr kumimoji="1" lang="ko-KR" altLang="en-US" dirty="0">
              <a:solidFill>
                <a:prstClr val="black"/>
              </a:solidFill>
            </a:endParaRPr>
          </a:p>
        </p:txBody>
      </p:sp>
      <p:sp>
        <p:nvSpPr>
          <p:cNvPr id="41" name="Text Box 38"/>
          <p:cNvSpPr txBox="1">
            <a:spLocks noChangeArrowheads="1"/>
          </p:cNvSpPr>
          <p:nvPr/>
        </p:nvSpPr>
        <p:spPr bwMode="auto">
          <a:xfrm>
            <a:off x="7750420" y="3333906"/>
            <a:ext cx="800100" cy="363176"/>
          </a:xfrm>
          <a:prstGeom prst="rect">
            <a:avLst/>
          </a:prstGeom>
          <a:solidFill>
            <a:schemeClr val="bg1"/>
          </a:solidFill>
          <a:ln>
            <a:noFill/>
          </a:ln>
          <a:effectLst/>
        </p:spPr>
        <p:txBody>
          <a:bodyPr>
            <a:spAutoFit/>
          </a:bodyPr>
          <a:lstStyle>
            <a:lvl1pPr algn="l" defTabSz="911225">
              <a:defRPr kumimoji="1" sz="2400">
                <a:solidFill>
                  <a:schemeClr val="tx1"/>
                </a:solidFill>
                <a:latin typeface="Times New Roman" pitchFamily="18" charset="0"/>
                <a:ea typeface="굴림" pitchFamily="50" charset="-127"/>
              </a:defRPr>
            </a:lvl1pPr>
            <a:lvl2pPr algn="l" defTabSz="911225">
              <a:defRPr kumimoji="1" sz="2400">
                <a:solidFill>
                  <a:schemeClr val="tx1"/>
                </a:solidFill>
                <a:latin typeface="Times New Roman" pitchFamily="18" charset="0"/>
                <a:ea typeface="굴림" pitchFamily="50" charset="-127"/>
              </a:defRPr>
            </a:lvl2pPr>
            <a:lvl3pPr algn="l" defTabSz="911225">
              <a:defRPr kumimoji="1" sz="2400">
                <a:solidFill>
                  <a:schemeClr val="tx1"/>
                </a:solidFill>
                <a:latin typeface="Times New Roman" pitchFamily="18" charset="0"/>
                <a:ea typeface="굴림" pitchFamily="50" charset="-127"/>
              </a:defRPr>
            </a:lvl3pPr>
            <a:lvl4pPr algn="l" defTabSz="911225">
              <a:defRPr kumimoji="1" sz="2400">
                <a:solidFill>
                  <a:schemeClr val="tx1"/>
                </a:solidFill>
                <a:latin typeface="Times New Roman" pitchFamily="18" charset="0"/>
                <a:ea typeface="굴림" pitchFamily="50" charset="-127"/>
              </a:defRPr>
            </a:lvl4pPr>
            <a:lvl5pPr algn="l" defTabSz="911225">
              <a:defRPr kumimoji="1" sz="2400">
                <a:solidFill>
                  <a:schemeClr val="tx1"/>
                </a:solidFill>
                <a:latin typeface="Times New Roman" pitchFamily="18" charset="0"/>
                <a:ea typeface="굴림" pitchFamily="50" charset="-127"/>
              </a:defRPr>
            </a:lvl5pPr>
            <a:lvl6pPr defTabSz="911225" fontAlgn="base">
              <a:spcBef>
                <a:spcPct val="0"/>
              </a:spcBef>
              <a:spcAft>
                <a:spcPct val="0"/>
              </a:spcAft>
              <a:defRPr kumimoji="1" sz="2400">
                <a:solidFill>
                  <a:schemeClr val="tx1"/>
                </a:solidFill>
                <a:latin typeface="Times New Roman" pitchFamily="18" charset="0"/>
                <a:ea typeface="굴림" pitchFamily="50" charset="-127"/>
              </a:defRPr>
            </a:lvl6pPr>
            <a:lvl7pPr defTabSz="911225" fontAlgn="base">
              <a:spcBef>
                <a:spcPct val="0"/>
              </a:spcBef>
              <a:spcAft>
                <a:spcPct val="0"/>
              </a:spcAft>
              <a:defRPr kumimoji="1" sz="2400">
                <a:solidFill>
                  <a:schemeClr val="tx1"/>
                </a:solidFill>
                <a:latin typeface="Times New Roman" pitchFamily="18" charset="0"/>
                <a:ea typeface="굴림" pitchFamily="50" charset="-127"/>
              </a:defRPr>
            </a:lvl7pPr>
            <a:lvl8pPr defTabSz="911225" fontAlgn="base">
              <a:spcBef>
                <a:spcPct val="0"/>
              </a:spcBef>
              <a:spcAft>
                <a:spcPct val="0"/>
              </a:spcAft>
              <a:defRPr kumimoji="1" sz="2400">
                <a:solidFill>
                  <a:schemeClr val="tx1"/>
                </a:solidFill>
                <a:latin typeface="Times New Roman" pitchFamily="18" charset="0"/>
                <a:ea typeface="굴림" pitchFamily="50" charset="-127"/>
              </a:defRPr>
            </a:lvl8pPr>
            <a:lvl9pPr defTabSz="911225" fontAlgn="base">
              <a:spcBef>
                <a:spcPct val="0"/>
              </a:spcBef>
              <a:spcAft>
                <a:spcPct val="0"/>
              </a:spcAft>
              <a:defRPr kumimoji="1" sz="2400">
                <a:solidFill>
                  <a:schemeClr val="tx1"/>
                </a:solidFill>
                <a:latin typeface="Times New Roman" pitchFamily="18" charset="0"/>
                <a:ea typeface="굴림" pitchFamily="50" charset="-127"/>
              </a:defRPr>
            </a:lvl9pPr>
          </a:lstStyle>
          <a:p>
            <a:pPr algn="ctr" fontAlgn="base">
              <a:lnSpc>
                <a:spcPct val="80000"/>
              </a:lnSpc>
              <a:spcBef>
                <a:spcPct val="0"/>
              </a:spcBef>
              <a:spcAft>
                <a:spcPct val="0"/>
              </a:spcAft>
              <a:defRPr/>
            </a:pPr>
            <a:r>
              <a:rPr lang="en-US" altLang="ko-KR" sz="1100" b="1" dirty="0" err="1">
                <a:solidFill>
                  <a:prstClr val="black"/>
                </a:solidFill>
                <a:latin typeface="맑은 고딕"/>
                <a:ea typeface="맑은 고딕"/>
              </a:rPr>
              <a:t>Có</a:t>
            </a:r>
            <a:r>
              <a:rPr lang="en-US" altLang="ko-KR" sz="1100" b="1" dirty="0">
                <a:solidFill>
                  <a:prstClr val="black"/>
                </a:solidFill>
                <a:latin typeface="맑은 고딕"/>
                <a:ea typeface="맑은 고딕"/>
              </a:rPr>
              <a:t> </a:t>
            </a:r>
            <a:r>
              <a:rPr lang="en-US" altLang="ko-KR" sz="1100" b="1" dirty="0" err="1">
                <a:solidFill>
                  <a:prstClr val="black"/>
                </a:solidFill>
                <a:latin typeface="맑은 고딕"/>
                <a:ea typeface="맑은 고딕"/>
              </a:rPr>
              <a:t>thể</a:t>
            </a:r>
            <a:r>
              <a:rPr lang="en-US" altLang="ko-KR" sz="1100" b="1" dirty="0">
                <a:solidFill>
                  <a:prstClr val="black"/>
                </a:solidFill>
                <a:latin typeface="맑은 고딕"/>
                <a:ea typeface="맑은 고딕"/>
              </a:rPr>
              <a:t> </a:t>
            </a:r>
            <a:r>
              <a:rPr lang="en-US" altLang="ko-KR" sz="1100" b="1" dirty="0" err="1">
                <a:solidFill>
                  <a:prstClr val="black"/>
                </a:solidFill>
                <a:latin typeface="맑은 고딕"/>
                <a:ea typeface="맑은 고딕"/>
              </a:rPr>
              <a:t>đo</a:t>
            </a:r>
            <a:r>
              <a:rPr lang="en-US" altLang="ko-KR" sz="1100" b="1" dirty="0">
                <a:solidFill>
                  <a:prstClr val="black"/>
                </a:solidFill>
                <a:latin typeface="맑은 고딕"/>
                <a:ea typeface="맑은 고딕"/>
              </a:rPr>
              <a:t> </a:t>
            </a:r>
            <a:r>
              <a:rPr lang="en-US" altLang="ko-KR" sz="1100" b="1" dirty="0" err="1">
                <a:solidFill>
                  <a:prstClr val="black"/>
                </a:solidFill>
                <a:latin typeface="맑은 고딕"/>
                <a:ea typeface="맑은 고딕"/>
              </a:rPr>
              <a:t>đạc</a:t>
            </a:r>
            <a:endParaRPr lang="ko-KR" altLang="en-US" sz="1100" b="1" dirty="0">
              <a:solidFill>
                <a:prstClr val="black"/>
              </a:solidFill>
              <a:latin typeface="맑은 고딕"/>
              <a:ea typeface="맑은 고딕"/>
            </a:endParaRPr>
          </a:p>
        </p:txBody>
      </p:sp>
      <p:sp>
        <p:nvSpPr>
          <p:cNvPr id="5" name="직사각형 4"/>
          <p:cNvSpPr/>
          <p:nvPr/>
        </p:nvSpPr>
        <p:spPr>
          <a:xfrm>
            <a:off x="456855" y="1015425"/>
            <a:ext cx="8137626" cy="584775"/>
          </a:xfrm>
          <a:prstGeom prst="rect">
            <a:avLst/>
          </a:prstGeom>
        </p:spPr>
        <p:txBody>
          <a:bodyPr wrap="square">
            <a:spAutoFit/>
          </a:bodyPr>
          <a:lstStyle/>
          <a:p>
            <a:pPr eaLnBrk="0" fontAlgn="base" latinLnBrk="0" hangingPunct="0">
              <a:spcBef>
                <a:spcPct val="0"/>
              </a:spcBef>
              <a:spcAft>
                <a:spcPct val="0"/>
              </a:spcAft>
              <a:defRPr/>
            </a:pPr>
            <a:r>
              <a:rPr lang="en-US" altLang="ko-KR" sz="1600" b="1" dirty="0" err="1">
                <a:solidFill>
                  <a:prstClr val="black"/>
                </a:solidFill>
              </a:rPr>
              <a:t>Những</a:t>
            </a:r>
            <a:r>
              <a:rPr lang="en-US" altLang="ko-KR" sz="1600" b="1" dirty="0">
                <a:solidFill>
                  <a:prstClr val="black"/>
                </a:solidFill>
              </a:rPr>
              <a:t> </a:t>
            </a:r>
            <a:r>
              <a:rPr lang="en-US" altLang="ko-KR" sz="1600" b="1" dirty="0" err="1">
                <a:solidFill>
                  <a:prstClr val="black"/>
                </a:solidFill>
              </a:rPr>
              <a:t>biến</a:t>
            </a:r>
            <a:r>
              <a:rPr lang="en-US" altLang="ko-KR" sz="1600" b="1" dirty="0">
                <a:solidFill>
                  <a:prstClr val="black"/>
                </a:solidFill>
              </a:rPr>
              <a:t> </a:t>
            </a:r>
            <a:r>
              <a:rPr lang="en-US" altLang="ko-KR" sz="1600" b="1" dirty="0" err="1">
                <a:solidFill>
                  <a:prstClr val="black"/>
                </a:solidFill>
              </a:rPr>
              <a:t>động</a:t>
            </a:r>
            <a:r>
              <a:rPr lang="en-US" altLang="ko-KR" sz="1600" b="1" dirty="0">
                <a:solidFill>
                  <a:prstClr val="black"/>
                </a:solidFill>
              </a:rPr>
              <a:t> </a:t>
            </a:r>
            <a:r>
              <a:rPr lang="en-US" altLang="ko-KR" sz="1600" b="1" dirty="0" err="1">
                <a:solidFill>
                  <a:prstClr val="black"/>
                </a:solidFill>
              </a:rPr>
              <a:t>phát</a:t>
            </a:r>
            <a:r>
              <a:rPr lang="en-US" altLang="ko-KR" sz="1600" b="1" dirty="0">
                <a:solidFill>
                  <a:prstClr val="black"/>
                </a:solidFill>
              </a:rPr>
              <a:t> </a:t>
            </a:r>
            <a:r>
              <a:rPr lang="en-US" altLang="ko-KR" sz="1600" b="1" dirty="0" err="1">
                <a:solidFill>
                  <a:prstClr val="black"/>
                </a:solidFill>
              </a:rPr>
              <a:t>sinh</a:t>
            </a:r>
            <a:r>
              <a:rPr lang="en-US" altLang="ko-KR" sz="1600" b="1" dirty="0">
                <a:solidFill>
                  <a:prstClr val="black"/>
                </a:solidFill>
              </a:rPr>
              <a:t> </a:t>
            </a:r>
            <a:r>
              <a:rPr lang="en-US" altLang="ko-KR" sz="1600" b="1" dirty="0" err="1">
                <a:solidFill>
                  <a:prstClr val="black"/>
                </a:solidFill>
              </a:rPr>
              <a:t>không</a:t>
            </a:r>
            <a:r>
              <a:rPr lang="en-US" altLang="ko-KR" sz="1600" b="1" dirty="0">
                <a:solidFill>
                  <a:prstClr val="black"/>
                </a:solidFill>
              </a:rPr>
              <a:t> </a:t>
            </a:r>
            <a:r>
              <a:rPr lang="en-US" altLang="ko-KR" sz="1600" b="1" dirty="0" err="1">
                <a:solidFill>
                  <a:prstClr val="black"/>
                </a:solidFill>
              </a:rPr>
              <a:t>thể</a:t>
            </a:r>
            <a:r>
              <a:rPr lang="en-US" altLang="ko-KR" sz="1600" b="1" dirty="0">
                <a:solidFill>
                  <a:prstClr val="black"/>
                </a:solidFill>
              </a:rPr>
              <a:t> </a:t>
            </a:r>
            <a:r>
              <a:rPr lang="en-US" altLang="ko-KR" sz="1600" b="1" dirty="0" err="1">
                <a:solidFill>
                  <a:prstClr val="black"/>
                </a:solidFill>
              </a:rPr>
              <a:t>tránh</a:t>
            </a:r>
            <a:r>
              <a:rPr lang="en-US" altLang="ko-KR" sz="1600" b="1" dirty="0">
                <a:solidFill>
                  <a:prstClr val="black"/>
                </a:solidFill>
              </a:rPr>
              <a:t> </a:t>
            </a:r>
            <a:r>
              <a:rPr lang="en-US" altLang="ko-KR" sz="1600" b="1" dirty="0" err="1">
                <a:solidFill>
                  <a:prstClr val="black"/>
                </a:solidFill>
              </a:rPr>
              <a:t>khỏi</a:t>
            </a:r>
            <a:r>
              <a:rPr lang="en-US" altLang="ko-KR" sz="1600" b="1" dirty="0">
                <a:solidFill>
                  <a:prstClr val="black"/>
                </a:solidFill>
              </a:rPr>
              <a:t> ở </a:t>
            </a:r>
            <a:r>
              <a:rPr lang="en-US" altLang="ko-KR" sz="1600" b="1" dirty="0" err="1">
                <a:solidFill>
                  <a:prstClr val="black"/>
                </a:solidFill>
              </a:rPr>
              <a:t>một</a:t>
            </a:r>
            <a:r>
              <a:rPr lang="en-US" altLang="ko-KR" sz="1600" b="1" dirty="0">
                <a:solidFill>
                  <a:prstClr val="black"/>
                </a:solidFill>
              </a:rPr>
              <a:t> </a:t>
            </a:r>
            <a:r>
              <a:rPr lang="en-US" altLang="ko-KR" sz="1600" b="1" dirty="0" err="1">
                <a:solidFill>
                  <a:prstClr val="black"/>
                </a:solidFill>
              </a:rPr>
              <a:t>mức</a:t>
            </a:r>
            <a:r>
              <a:rPr lang="en-US" altLang="ko-KR" sz="1600" b="1" dirty="0">
                <a:solidFill>
                  <a:prstClr val="black"/>
                </a:solidFill>
              </a:rPr>
              <a:t> </a:t>
            </a:r>
            <a:r>
              <a:rPr lang="en-US" altLang="ko-KR" sz="1600" b="1" dirty="0" err="1">
                <a:solidFill>
                  <a:prstClr val="black"/>
                </a:solidFill>
              </a:rPr>
              <a:t>độ</a:t>
            </a:r>
            <a:r>
              <a:rPr lang="en-US" altLang="ko-KR" sz="1600" b="1" dirty="0">
                <a:solidFill>
                  <a:prstClr val="black"/>
                </a:solidFill>
              </a:rPr>
              <a:t> </a:t>
            </a:r>
            <a:r>
              <a:rPr lang="en-US" altLang="ko-KR" sz="1600" b="1" dirty="0" err="1">
                <a:solidFill>
                  <a:prstClr val="black"/>
                </a:solidFill>
              </a:rPr>
              <a:t>nào</a:t>
            </a:r>
            <a:r>
              <a:rPr lang="en-US" altLang="ko-KR" sz="1600" b="1" dirty="0">
                <a:solidFill>
                  <a:prstClr val="black"/>
                </a:solidFill>
              </a:rPr>
              <a:t> </a:t>
            </a:r>
            <a:r>
              <a:rPr lang="en-US" altLang="ko-KR" sz="1600" b="1" dirty="0" err="1">
                <a:solidFill>
                  <a:prstClr val="black"/>
                </a:solidFill>
              </a:rPr>
              <a:t>đó</a:t>
            </a:r>
            <a:r>
              <a:rPr lang="en-US" altLang="ko-KR" sz="1600" b="1" dirty="0">
                <a:solidFill>
                  <a:prstClr val="black"/>
                </a:solidFill>
              </a:rPr>
              <a:t> </a:t>
            </a:r>
            <a:r>
              <a:rPr lang="en-US" altLang="ko-KR" sz="1600" b="1" dirty="0" err="1">
                <a:solidFill>
                  <a:prstClr val="black"/>
                </a:solidFill>
              </a:rPr>
              <a:t>dưới</a:t>
            </a:r>
            <a:r>
              <a:rPr lang="en-US" altLang="ko-KR" sz="1600" b="1" dirty="0">
                <a:solidFill>
                  <a:prstClr val="black"/>
                </a:solidFill>
              </a:rPr>
              <a:t> </a:t>
            </a:r>
            <a:r>
              <a:rPr lang="en-US" altLang="ko-KR" sz="1600" b="1" dirty="0" err="1">
                <a:solidFill>
                  <a:prstClr val="black"/>
                </a:solidFill>
              </a:rPr>
              <a:t>sự</a:t>
            </a:r>
            <a:r>
              <a:rPr lang="en-US" altLang="ko-KR" sz="1600" b="1" dirty="0">
                <a:solidFill>
                  <a:prstClr val="black"/>
                </a:solidFill>
              </a:rPr>
              <a:t> </a:t>
            </a:r>
            <a:r>
              <a:rPr lang="en-US" altLang="ko-KR" sz="1600" b="1" dirty="0" err="1">
                <a:solidFill>
                  <a:prstClr val="black"/>
                </a:solidFill>
              </a:rPr>
              <a:t>quản</a:t>
            </a:r>
            <a:r>
              <a:rPr lang="en-US" altLang="ko-KR" sz="1600" b="1" dirty="0">
                <a:solidFill>
                  <a:prstClr val="black"/>
                </a:solidFill>
              </a:rPr>
              <a:t> </a:t>
            </a:r>
            <a:r>
              <a:rPr lang="en-US" altLang="ko-KR" sz="1600" b="1" dirty="0" err="1">
                <a:solidFill>
                  <a:prstClr val="black"/>
                </a:solidFill>
              </a:rPr>
              <a:t>lí</a:t>
            </a:r>
            <a:r>
              <a:rPr lang="en-US" altLang="ko-KR" sz="1600" b="1" dirty="0">
                <a:solidFill>
                  <a:prstClr val="black"/>
                </a:solidFill>
              </a:rPr>
              <a:t> </a:t>
            </a:r>
            <a:r>
              <a:rPr lang="en-US" altLang="ko-KR" sz="1600" b="1" dirty="0" err="1">
                <a:solidFill>
                  <a:prstClr val="black"/>
                </a:solidFill>
              </a:rPr>
              <a:t>nghiêm</a:t>
            </a:r>
            <a:r>
              <a:rPr lang="en-US" altLang="ko-KR" sz="1600" b="1" dirty="0">
                <a:solidFill>
                  <a:prstClr val="black"/>
                </a:solidFill>
              </a:rPr>
              <a:t> </a:t>
            </a:r>
            <a:r>
              <a:rPr lang="en-US" altLang="ko-KR" sz="1600" b="1" dirty="0" err="1">
                <a:solidFill>
                  <a:prstClr val="black"/>
                </a:solidFill>
              </a:rPr>
              <a:t>khắc</a:t>
            </a:r>
            <a:r>
              <a:rPr lang="en-US" altLang="ko-KR" sz="1600" b="1" dirty="0">
                <a:solidFill>
                  <a:prstClr val="black"/>
                </a:solidFill>
              </a:rPr>
              <a:t> </a:t>
            </a:r>
            <a:r>
              <a:rPr lang="en-US" altLang="ko-KR" sz="1600" b="1" dirty="0" err="1">
                <a:solidFill>
                  <a:prstClr val="black"/>
                </a:solidFill>
              </a:rPr>
              <a:t>các</a:t>
            </a:r>
            <a:r>
              <a:rPr lang="en-US" altLang="ko-KR" sz="1600" b="1" dirty="0">
                <a:solidFill>
                  <a:prstClr val="black"/>
                </a:solidFill>
              </a:rPr>
              <a:t> </a:t>
            </a:r>
            <a:r>
              <a:rPr lang="en-US" altLang="ko-KR" sz="1600" b="1" dirty="0" err="1">
                <a:solidFill>
                  <a:prstClr val="black"/>
                </a:solidFill>
              </a:rPr>
              <a:t>điều</a:t>
            </a:r>
            <a:r>
              <a:rPr lang="en-US" altLang="ko-KR" sz="1600" b="1" dirty="0">
                <a:solidFill>
                  <a:prstClr val="black"/>
                </a:solidFill>
              </a:rPr>
              <a:t> </a:t>
            </a:r>
            <a:r>
              <a:rPr lang="en-US" altLang="ko-KR" sz="1600" b="1" dirty="0" err="1">
                <a:solidFill>
                  <a:prstClr val="black"/>
                </a:solidFill>
              </a:rPr>
              <a:t>kiện</a:t>
            </a:r>
            <a:r>
              <a:rPr lang="en-US" altLang="ko-KR" sz="1600" b="1" dirty="0">
                <a:solidFill>
                  <a:prstClr val="black"/>
                </a:solidFill>
              </a:rPr>
              <a:t> </a:t>
            </a:r>
            <a:r>
              <a:rPr lang="en-US" altLang="ko-KR" sz="1600" b="1" dirty="0" err="1">
                <a:solidFill>
                  <a:prstClr val="black"/>
                </a:solidFill>
              </a:rPr>
              <a:t>sản</a:t>
            </a:r>
            <a:r>
              <a:rPr lang="en-US" altLang="ko-KR" sz="1600" b="1" dirty="0">
                <a:solidFill>
                  <a:prstClr val="black"/>
                </a:solidFill>
              </a:rPr>
              <a:t> </a:t>
            </a:r>
            <a:r>
              <a:rPr lang="en-US" altLang="ko-KR" sz="1600" b="1" dirty="0" err="1">
                <a:solidFill>
                  <a:prstClr val="black"/>
                </a:solidFill>
              </a:rPr>
              <a:t>xuất</a:t>
            </a:r>
            <a:endParaRPr lang="ko-KR" altLang="en-US" sz="1600" dirty="0">
              <a:solidFill>
                <a:prstClr val="black"/>
              </a:solidFill>
            </a:endParaRPr>
          </a:p>
        </p:txBody>
      </p:sp>
      <p:sp>
        <p:nvSpPr>
          <p:cNvPr id="7" name="직사각형 6"/>
          <p:cNvSpPr/>
          <p:nvPr/>
        </p:nvSpPr>
        <p:spPr>
          <a:xfrm>
            <a:off x="381000" y="1716036"/>
            <a:ext cx="4343400" cy="3859518"/>
          </a:xfrm>
          <a:prstGeom prst="rect">
            <a:avLst/>
          </a:prstGeom>
        </p:spPr>
        <p:txBody>
          <a:bodyPr wrap="square">
            <a:spAutoFit/>
          </a:bodyPr>
          <a:lstStyle/>
          <a:p>
            <a:pPr marL="185738" indent="-185738" eaLnBrk="0" fontAlgn="base" latinLnBrk="0" hangingPunct="0">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a:t>
            </a:r>
            <a:r>
              <a:rPr lang="en-US" altLang="ko-KR" sz="1600" dirty="0" err="1">
                <a:solidFill>
                  <a:prstClr val="black"/>
                </a:solidFill>
              </a:rPr>
              <a:t>về</a:t>
            </a:r>
            <a:r>
              <a:rPr lang="en-US" altLang="ko-KR" sz="1600" dirty="0">
                <a:solidFill>
                  <a:prstClr val="black"/>
                </a:solidFill>
              </a:rPr>
              <a:t> </a:t>
            </a:r>
            <a:r>
              <a:rPr lang="en-US" altLang="ko-KR" sz="1600" dirty="0" err="1">
                <a:solidFill>
                  <a:prstClr val="black"/>
                </a:solidFill>
              </a:rPr>
              <a:t>tay</a:t>
            </a:r>
            <a:r>
              <a:rPr lang="en-US" altLang="ko-KR" sz="1600" dirty="0">
                <a:solidFill>
                  <a:prstClr val="black"/>
                </a:solidFill>
              </a:rPr>
              <a:t> </a:t>
            </a:r>
            <a:r>
              <a:rPr lang="en-US" altLang="ko-KR" sz="1600" dirty="0" err="1">
                <a:solidFill>
                  <a:prstClr val="black"/>
                </a:solidFill>
              </a:rPr>
              <a:t>nghề</a:t>
            </a:r>
            <a:r>
              <a:rPr lang="en-US" altLang="ko-KR" sz="1600" dirty="0">
                <a:solidFill>
                  <a:prstClr val="black"/>
                </a:solidFill>
              </a:rPr>
              <a:t> </a:t>
            </a:r>
            <a:r>
              <a:rPr lang="en-US" altLang="ko-KR" sz="1600" dirty="0" err="1">
                <a:solidFill>
                  <a:prstClr val="black"/>
                </a:solidFill>
              </a:rPr>
              <a:t>công</a:t>
            </a:r>
            <a:r>
              <a:rPr lang="en-US" altLang="ko-KR" sz="1600" dirty="0">
                <a:solidFill>
                  <a:prstClr val="black"/>
                </a:solidFill>
              </a:rPr>
              <a:t> </a:t>
            </a:r>
            <a:r>
              <a:rPr lang="en-US" altLang="ko-KR" sz="1600" dirty="0" err="1">
                <a:solidFill>
                  <a:prstClr val="black"/>
                </a:solidFill>
              </a:rPr>
              <a:t>nhân</a:t>
            </a:r>
            <a:endParaRPr lang="ko-KR" altLang="en-US" sz="1600" dirty="0">
              <a:solidFill>
                <a:prstClr val="black"/>
              </a:solidFill>
            </a:endParaRPr>
          </a:p>
          <a:p>
            <a:pPr marL="185738" indent="-185738" eaLnBrk="0" fontAlgn="base" latinLnBrk="0" hangingPunct="0">
              <a:lnSpc>
                <a:spcPct val="130000"/>
              </a:lnSpc>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a:t>
            </a:r>
            <a:r>
              <a:rPr lang="en-US" altLang="ko-KR" sz="1600" dirty="0" err="1">
                <a:solidFill>
                  <a:prstClr val="black"/>
                </a:solidFill>
              </a:rPr>
              <a:t>về</a:t>
            </a:r>
            <a:r>
              <a:rPr lang="en-US" altLang="ko-KR" sz="1600" dirty="0">
                <a:solidFill>
                  <a:prstClr val="black"/>
                </a:solidFill>
              </a:rPr>
              <a:t> </a:t>
            </a:r>
            <a:r>
              <a:rPr lang="en-US" altLang="ko-KR" sz="1600" dirty="0" err="1">
                <a:solidFill>
                  <a:prstClr val="black"/>
                </a:solidFill>
              </a:rPr>
              <a:t>môi</a:t>
            </a:r>
            <a:r>
              <a:rPr lang="en-US" altLang="ko-KR" sz="1600" dirty="0">
                <a:solidFill>
                  <a:prstClr val="black"/>
                </a:solidFill>
              </a:rPr>
              <a:t> </a:t>
            </a:r>
            <a:r>
              <a:rPr lang="en-US" altLang="ko-KR" sz="1600" dirty="0" err="1">
                <a:solidFill>
                  <a:prstClr val="black"/>
                </a:solidFill>
              </a:rPr>
              <a:t>trường</a:t>
            </a:r>
            <a:r>
              <a:rPr lang="en-US" altLang="ko-KR" sz="1600" dirty="0">
                <a:solidFill>
                  <a:prstClr val="black"/>
                </a:solidFill>
              </a:rPr>
              <a:t> </a:t>
            </a:r>
            <a:r>
              <a:rPr lang="en-US" altLang="ko-KR" sz="1600" dirty="0" err="1">
                <a:solidFill>
                  <a:prstClr val="black"/>
                </a:solidFill>
              </a:rPr>
              <a:t>làm</a:t>
            </a:r>
            <a:r>
              <a:rPr lang="en-US" altLang="ko-KR" sz="1600" dirty="0">
                <a:solidFill>
                  <a:prstClr val="black"/>
                </a:solidFill>
              </a:rPr>
              <a:t> </a:t>
            </a:r>
            <a:r>
              <a:rPr lang="en-US" altLang="ko-KR" sz="1600" dirty="0" err="1">
                <a:solidFill>
                  <a:prstClr val="black"/>
                </a:solidFill>
              </a:rPr>
              <a:t>việc</a:t>
            </a:r>
            <a:endParaRPr lang="en-US" altLang="ko-KR" sz="1600" dirty="0">
              <a:solidFill>
                <a:prstClr val="black"/>
              </a:solidFill>
            </a:endParaRPr>
          </a:p>
          <a:p>
            <a:pPr marL="185738" indent="-185738" eaLnBrk="0" fontAlgn="base" latinLnBrk="0" hangingPunct="0">
              <a:lnSpc>
                <a:spcPct val="130000"/>
              </a:lnSpc>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a:t>
            </a:r>
            <a:r>
              <a:rPr lang="en-US" altLang="ko-KR" sz="1600" dirty="0" err="1">
                <a:solidFill>
                  <a:prstClr val="black"/>
                </a:solidFill>
              </a:rPr>
              <a:t>rất</a:t>
            </a:r>
            <a:r>
              <a:rPr lang="en-US" altLang="ko-KR" sz="1600" dirty="0">
                <a:solidFill>
                  <a:prstClr val="black"/>
                </a:solidFill>
              </a:rPr>
              <a:t> </a:t>
            </a:r>
            <a:r>
              <a:rPr lang="en-US" altLang="ko-KR" sz="1600" dirty="0" err="1">
                <a:solidFill>
                  <a:prstClr val="black"/>
                </a:solidFill>
              </a:rPr>
              <a:t>nhỏ</a:t>
            </a:r>
            <a:r>
              <a:rPr lang="en-US" altLang="ko-KR" sz="1600" dirty="0">
                <a:solidFill>
                  <a:prstClr val="black"/>
                </a:solidFill>
              </a:rPr>
              <a:t> </a:t>
            </a:r>
            <a:r>
              <a:rPr lang="en-US" altLang="ko-KR" sz="1600" dirty="0" err="1">
                <a:solidFill>
                  <a:prstClr val="black"/>
                </a:solidFill>
              </a:rPr>
              <a:t>về</a:t>
            </a:r>
            <a:r>
              <a:rPr lang="en-US" altLang="ko-KR" sz="1600" dirty="0">
                <a:solidFill>
                  <a:prstClr val="black"/>
                </a:solidFill>
              </a:rPr>
              <a:t> </a:t>
            </a:r>
            <a:r>
              <a:rPr lang="en-US" altLang="ko-KR" sz="1600" dirty="0" err="1">
                <a:solidFill>
                  <a:prstClr val="black"/>
                </a:solidFill>
              </a:rPr>
              <a:t>chất</a:t>
            </a:r>
            <a:r>
              <a:rPr lang="en-US" altLang="ko-KR" sz="1600" dirty="0">
                <a:solidFill>
                  <a:prstClr val="black"/>
                </a:solidFill>
              </a:rPr>
              <a:t> </a:t>
            </a:r>
            <a:r>
              <a:rPr lang="en-US" altLang="ko-KR" sz="1600" dirty="0" err="1">
                <a:solidFill>
                  <a:prstClr val="black"/>
                </a:solidFill>
              </a:rPr>
              <a:t>lượng</a:t>
            </a:r>
            <a:r>
              <a:rPr lang="en-US" altLang="ko-KR" sz="1600" dirty="0">
                <a:solidFill>
                  <a:prstClr val="black"/>
                </a:solidFill>
              </a:rPr>
              <a:t> </a:t>
            </a:r>
            <a:r>
              <a:rPr lang="en-US" altLang="ko-KR" sz="1600" dirty="0" err="1">
                <a:solidFill>
                  <a:prstClr val="black"/>
                </a:solidFill>
              </a:rPr>
              <a:t>giữa</a:t>
            </a:r>
            <a:r>
              <a:rPr lang="en-US" altLang="ko-KR" sz="1600" dirty="0">
                <a:solidFill>
                  <a:prstClr val="black"/>
                </a:solidFill>
              </a:rPr>
              <a:t> </a:t>
            </a:r>
            <a:r>
              <a:rPr lang="en-US" altLang="ko-KR" sz="1600" dirty="0" err="1">
                <a:solidFill>
                  <a:prstClr val="black"/>
                </a:solidFill>
              </a:rPr>
              <a:t>các</a:t>
            </a:r>
            <a:r>
              <a:rPr lang="en-US" altLang="ko-KR" sz="1600" dirty="0">
                <a:solidFill>
                  <a:prstClr val="black"/>
                </a:solidFill>
              </a:rPr>
              <a:t> </a:t>
            </a:r>
            <a:r>
              <a:rPr lang="en-US" altLang="ko-KR" sz="1600" dirty="0" err="1">
                <a:solidFill>
                  <a:prstClr val="black"/>
                </a:solidFill>
              </a:rPr>
              <a:t>nguyên</a:t>
            </a:r>
            <a:r>
              <a:rPr lang="en-US" altLang="ko-KR" sz="1600" dirty="0">
                <a:solidFill>
                  <a:prstClr val="black"/>
                </a:solidFill>
              </a:rPr>
              <a:t> </a:t>
            </a:r>
            <a:r>
              <a:rPr lang="en-US" altLang="ko-KR" sz="1600" dirty="0" err="1">
                <a:solidFill>
                  <a:prstClr val="black"/>
                </a:solidFill>
              </a:rPr>
              <a:t>vật</a:t>
            </a:r>
            <a:r>
              <a:rPr lang="en-US" altLang="ko-KR" sz="1600" dirty="0">
                <a:solidFill>
                  <a:prstClr val="black"/>
                </a:solidFill>
              </a:rPr>
              <a:t> </a:t>
            </a:r>
            <a:r>
              <a:rPr lang="en-US" altLang="ko-KR" sz="1600" dirty="0" err="1">
                <a:solidFill>
                  <a:prstClr val="black"/>
                </a:solidFill>
              </a:rPr>
              <a:t>liệu</a:t>
            </a:r>
            <a:endParaRPr lang="ko-KR" altLang="en-US" sz="1600" dirty="0">
              <a:solidFill>
                <a:prstClr val="black"/>
              </a:solidFill>
            </a:endParaRPr>
          </a:p>
          <a:p>
            <a:pPr marL="185738" indent="-185738" eaLnBrk="0" fontAlgn="base" latinLnBrk="0" hangingPunct="0">
              <a:lnSpc>
                <a:spcPct val="130000"/>
              </a:lnSpc>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a:t>
            </a:r>
            <a:r>
              <a:rPr lang="en-US" altLang="ko-KR" sz="1600" dirty="0" err="1">
                <a:solidFill>
                  <a:prstClr val="black"/>
                </a:solidFill>
              </a:rPr>
              <a:t>giữa</a:t>
            </a:r>
            <a:r>
              <a:rPr lang="en-US" altLang="ko-KR" sz="1600" dirty="0">
                <a:solidFill>
                  <a:prstClr val="black"/>
                </a:solidFill>
              </a:rPr>
              <a:t> </a:t>
            </a:r>
            <a:r>
              <a:rPr lang="en-US" altLang="ko-KR" sz="1600" dirty="0" err="1">
                <a:solidFill>
                  <a:prstClr val="black"/>
                </a:solidFill>
              </a:rPr>
              <a:t>những</a:t>
            </a:r>
            <a:r>
              <a:rPr lang="en-US" altLang="ko-KR" sz="1600" dirty="0">
                <a:solidFill>
                  <a:prstClr val="black"/>
                </a:solidFill>
              </a:rPr>
              <a:t> </a:t>
            </a:r>
            <a:r>
              <a:rPr lang="en-US" altLang="ko-KR" sz="1600" dirty="0" err="1">
                <a:solidFill>
                  <a:prstClr val="black"/>
                </a:solidFill>
              </a:rPr>
              <a:t>máy</a:t>
            </a:r>
            <a:r>
              <a:rPr lang="en-US" altLang="ko-KR" sz="1600" dirty="0">
                <a:solidFill>
                  <a:prstClr val="black"/>
                </a:solidFill>
              </a:rPr>
              <a:t> </a:t>
            </a:r>
            <a:r>
              <a:rPr lang="en-US" altLang="ko-KR" sz="1600" dirty="0" err="1">
                <a:solidFill>
                  <a:prstClr val="black"/>
                </a:solidFill>
              </a:rPr>
              <a:t>móc</a:t>
            </a:r>
            <a:r>
              <a:rPr lang="en-US" altLang="ko-KR" sz="1600" dirty="0">
                <a:solidFill>
                  <a:prstClr val="black"/>
                </a:solidFill>
              </a:rPr>
              <a:t> </a:t>
            </a:r>
            <a:r>
              <a:rPr lang="en-US" altLang="ko-KR" sz="1600" dirty="0" err="1">
                <a:solidFill>
                  <a:prstClr val="black"/>
                </a:solidFill>
              </a:rPr>
              <a:t>thiết</a:t>
            </a:r>
            <a:r>
              <a:rPr lang="en-US" altLang="ko-KR" sz="1600" dirty="0">
                <a:solidFill>
                  <a:prstClr val="black"/>
                </a:solidFill>
              </a:rPr>
              <a:t> </a:t>
            </a:r>
            <a:r>
              <a:rPr lang="en-US" altLang="ko-KR" sz="1600" dirty="0" err="1">
                <a:solidFill>
                  <a:prstClr val="black"/>
                </a:solidFill>
              </a:rPr>
              <a:t>bị</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xuất</a:t>
            </a:r>
            <a:r>
              <a:rPr lang="en-US" altLang="ko-KR" sz="1600" dirty="0">
                <a:solidFill>
                  <a:prstClr val="black"/>
                </a:solidFill>
              </a:rPr>
              <a:t> </a:t>
            </a:r>
            <a:r>
              <a:rPr lang="en-US" altLang="ko-KR" sz="1600" dirty="0" err="1">
                <a:solidFill>
                  <a:prstClr val="black"/>
                </a:solidFill>
              </a:rPr>
              <a:t>tương</a:t>
            </a:r>
            <a:r>
              <a:rPr lang="en-US" altLang="ko-KR" sz="1600" dirty="0">
                <a:solidFill>
                  <a:prstClr val="black"/>
                </a:solidFill>
              </a:rPr>
              <a:t> </a:t>
            </a:r>
            <a:r>
              <a:rPr lang="en-US" altLang="ko-KR" sz="1600" dirty="0" err="1">
                <a:solidFill>
                  <a:prstClr val="black"/>
                </a:solidFill>
              </a:rPr>
              <a:t>tự</a:t>
            </a:r>
            <a:endParaRPr lang="ko-KR" altLang="en-US" sz="1600" dirty="0">
              <a:solidFill>
                <a:prstClr val="black"/>
              </a:solidFill>
            </a:endParaRPr>
          </a:p>
          <a:p>
            <a:pPr marL="185738" indent="-185738" eaLnBrk="0" fontAlgn="base" latinLnBrk="0" hangingPunct="0">
              <a:lnSpc>
                <a:spcPct val="130000"/>
              </a:lnSpc>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a:t>
            </a:r>
            <a:r>
              <a:rPr lang="en-US" altLang="ko-KR" sz="1600" dirty="0" err="1">
                <a:solidFill>
                  <a:prstClr val="black"/>
                </a:solidFill>
              </a:rPr>
              <a:t>giữa</a:t>
            </a:r>
            <a:r>
              <a:rPr lang="en-US" altLang="ko-KR" sz="1600" dirty="0">
                <a:solidFill>
                  <a:prstClr val="black"/>
                </a:solidFill>
              </a:rPr>
              <a:t> </a:t>
            </a:r>
            <a:r>
              <a:rPr lang="en-US" altLang="ko-KR" sz="1600" dirty="0" err="1">
                <a:solidFill>
                  <a:prstClr val="black"/>
                </a:solidFill>
              </a:rPr>
              <a:t>Khí</a:t>
            </a:r>
            <a:r>
              <a:rPr lang="en-US" altLang="ko-KR" sz="1600" dirty="0">
                <a:solidFill>
                  <a:prstClr val="black"/>
                </a:solidFill>
              </a:rPr>
              <a:t> </a:t>
            </a:r>
            <a:r>
              <a:rPr lang="en-US" altLang="ko-KR" sz="1600" dirty="0" err="1">
                <a:solidFill>
                  <a:prstClr val="black"/>
                </a:solidFill>
              </a:rPr>
              <a:t>hậu</a:t>
            </a:r>
            <a:r>
              <a:rPr lang="en-US" altLang="ko-KR" sz="1600" dirty="0">
                <a:solidFill>
                  <a:prstClr val="black"/>
                </a:solidFill>
              </a:rPr>
              <a:t>, </a:t>
            </a:r>
            <a:r>
              <a:rPr lang="en-US" altLang="ko-KR" sz="1600" dirty="0" err="1">
                <a:solidFill>
                  <a:prstClr val="black"/>
                </a:solidFill>
              </a:rPr>
              <a:t>Nhiệt</a:t>
            </a:r>
            <a:r>
              <a:rPr lang="en-US" altLang="ko-KR" sz="1600" dirty="0">
                <a:solidFill>
                  <a:prstClr val="black"/>
                </a:solidFill>
              </a:rPr>
              <a:t> </a:t>
            </a:r>
            <a:r>
              <a:rPr lang="en-US" altLang="ko-KR" sz="1600" dirty="0" err="1">
                <a:solidFill>
                  <a:prstClr val="black"/>
                </a:solidFill>
              </a:rPr>
              <a:t>độ</a:t>
            </a:r>
            <a:r>
              <a:rPr lang="en-US" altLang="ko-KR" sz="1600" dirty="0">
                <a:solidFill>
                  <a:prstClr val="black"/>
                </a:solidFill>
              </a:rPr>
              <a:t>, </a:t>
            </a:r>
            <a:r>
              <a:rPr lang="en-US" altLang="ko-KR" sz="1600" dirty="0" err="1">
                <a:solidFill>
                  <a:prstClr val="black"/>
                </a:solidFill>
              </a:rPr>
              <a:t>Độ</a:t>
            </a:r>
            <a:r>
              <a:rPr lang="en-US" altLang="ko-KR" sz="1600" dirty="0">
                <a:solidFill>
                  <a:prstClr val="black"/>
                </a:solidFill>
              </a:rPr>
              <a:t> </a:t>
            </a:r>
            <a:r>
              <a:rPr lang="en-US" altLang="ko-KR" sz="1600" dirty="0" err="1">
                <a:solidFill>
                  <a:prstClr val="black"/>
                </a:solidFill>
              </a:rPr>
              <a:t>ẩm</a:t>
            </a:r>
            <a:r>
              <a:rPr lang="en-US" altLang="ko-KR" sz="1600" dirty="0">
                <a:solidFill>
                  <a:prstClr val="black"/>
                </a:solidFill>
              </a:rPr>
              <a:t>, </a:t>
            </a:r>
            <a:r>
              <a:rPr lang="en-US" altLang="ko-KR" sz="1600" dirty="0" err="1">
                <a:solidFill>
                  <a:prstClr val="black"/>
                </a:solidFill>
              </a:rPr>
              <a:t>Thời</a:t>
            </a:r>
            <a:r>
              <a:rPr lang="en-US" altLang="ko-KR" sz="1600" dirty="0">
                <a:solidFill>
                  <a:prstClr val="black"/>
                </a:solidFill>
              </a:rPr>
              <a:t> </a:t>
            </a:r>
            <a:r>
              <a:rPr lang="en-US" altLang="ko-KR" sz="1600" dirty="0" err="1">
                <a:solidFill>
                  <a:prstClr val="black"/>
                </a:solidFill>
              </a:rPr>
              <a:t>gian</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xuất</a:t>
            </a:r>
            <a:endParaRPr lang="ko-KR" altLang="en-US" sz="1600" dirty="0">
              <a:solidFill>
                <a:prstClr val="black"/>
              </a:solidFill>
            </a:endParaRPr>
          </a:p>
          <a:p>
            <a:pPr marL="185738" indent="-185738" eaLnBrk="0" fontAlgn="base" latinLnBrk="0" hangingPunct="0">
              <a:lnSpc>
                <a:spcPct val="130000"/>
              </a:lnSpc>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do </a:t>
            </a:r>
            <a:r>
              <a:rPr lang="en-US" altLang="ko-KR" sz="1600" dirty="0" err="1">
                <a:solidFill>
                  <a:prstClr val="black"/>
                </a:solidFill>
              </a:rPr>
              <a:t>các</a:t>
            </a:r>
            <a:r>
              <a:rPr lang="en-US" altLang="ko-KR" sz="1600" dirty="0">
                <a:solidFill>
                  <a:prstClr val="black"/>
                </a:solidFill>
              </a:rPr>
              <a:t> </a:t>
            </a:r>
            <a:r>
              <a:rPr lang="en-US" altLang="ko-KR" sz="1600" dirty="0" err="1">
                <a:solidFill>
                  <a:prstClr val="black"/>
                </a:solidFill>
              </a:rPr>
              <a:t>chấn</a:t>
            </a:r>
            <a:r>
              <a:rPr lang="en-US" altLang="ko-KR" sz="1600" dirty="0">
                <a:solidFill>
                  <a:prstClr val="black"/>
                </a:solidFill>
              </a:rPr>
              <a:t> </a:t>
            </a:r>
            <a:r>
              <a:rPr lang="en-US" altLang="ko-KR" sz="1600" dirty="0" err="1">
                <a:solidFill>
                  <a:prstClr val="black"/>
                </a:solidFill>
              </a:rPr>
              <a:t>động</a:t>
            </a:r>
            <a:r>
              <a:rPr lang="en-US" altLang="ko-KR" sz="1600" dirty="0">
                <a:solidFill>
                  <a:prstClr val="black"/>
                </a:solidFill>
              </a:rPr>
              <a:t>/ </a:t>
            </a:r>
            <a:r>
              <a:rPr lang="en-US" altLang="ko-KR" sz="1600" dirty="0" err="1">
                <a:solidFill>
                  <a:prstClr val="black"/>
                </a:solidFill>
              </a:rPr>
              <a:t>dao</a:t>
            </a:r>
            <a:r>
              <a:rPr lang="en-US" altLang="ko-KR" sz="1600" dirty="0">
                <a:solidFill>
                  <a:prstClr val="black"/>
                </a:solidFill>
              </a:rPr>
              <a:t> </a:t>
            </a:r>
            <a:r>
              <a:rPr lang="en-US" altLang="ko-KR" sz="1600" dirty="0" err="1">
                <a:solidFill>
                  <a:prstClr val="black"/>
                </a:solidFill>
              </a:rPr>
              <a:t>động</a:t>
            </a:r>
            <a:r>
              <a:rPr lang="en-US" altLang="ko-KR" sz="1600" dirty="0">
                <a:solidFill>
                  <a:prstClr val="black"/>
                </a:solidFill>
              </a:rPr>
              <a:t> </a:t>
            </a:r>
            <a:r>
              <a:rPr lang="en-US" altLang="ko-KR" sz="1600" dirty="0" err="1">
                <a:solidFill>
                  <a:prstClr val="black"/>
                </a:solidFill>
              </a:rPr>
              <a:t>của</a:t>
            </a:r>
            <a:r>
              <a:rPr lang="en-US" altLang="ko-KR" sz="1600" dirty="0">
                <a:solidFill>
                  <a:prstClr val="black"/>
                </a:solidFill>
              </a:rPr>
              <a:t> </a:t>
            </a:r>
            <a:r>
              <a:rPr lang="en-US" altLang="ko-KR" sz="1600" dirty="0" err="1">
                <a:solidFill>
                  <a:prstClr val="black"/>
                </a:solidFill>
              </a:rPr>
              <a:t>môi</a:t>
            </a:r>
            <a:r>
              <a:rPr lang="en-US" altLang="ko-KR" sz="1600" dirty="0">
                <a:solidFill>
                  <a:prstClr val="black"/>
                </a:solidFill>
              </a:rPr>
              <a:t> </a:t>
            </a:r>
            <a:r>
              <a:rPr lang="en-US" altLang="ko-KR" sz="1600" dirty="0" err="1">
                <a:solidFill>
                  <a:prstClr val="black"/>
                </a:solidFill>
              </a:rPr>
              <a:t>trường</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xuất</a:t>
            </a:r>
            <a:endParaRPr lang="ko-KR" altLang="en-US" sz="1600" dirty="0">
              <a:solidFill>
                <a:prstClr val="black"/>
              </a:solidFill>
            </a:endParaRPr>
          </a:p>
          <a:p>
            <a:pPr marL="185738" indent="-185738" eaLnBrk="0" fontAlgn="base" latinLnBrk="0" hangingPunct="0">
              <a:lnSpc>
                <a:spcPct val="130000"/>
              </a:lnSpc>
              <a:spcBef>
                <a:spcPct val="0"/>
              </a:spcBef>
              <a:spcAft>
                <a:spcPct val="0"/>
              </a:spcAft>
              <a:buFontTx/>
              <a:buChar char="•"/>
              <a:defRPr/>
            </a:pP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nhau</a:t>
            </a:r>
            <a:r>
              <a:rPr lang="en-US" altLang="ko-KR" sz="1600" dirty="0">
                <a:solidFill>
                  <a:prstClr val="black"/>
                </a:solidFill>
              </a:rPr>
              <a:t> do </a:t>
            </a:r>
            <a:r>
              <a:rPr lang="en-US" altLang="ko-KR" sz="1600" dirty="0" err="1">
                <a:solidFill>
                  <a:prstClr val="black"/>
                </a:solidFill>
              </a:rPr>
              <a:t>sai</a:t>
            </a:r>
            <a:r>
              <a:rPr lang="en-US" altLang="ko-KR" sz="1600" dirty="0">
                <a:solidFill>
                  <a:prstClr val="black"/>
                </a:solidFill>
              </a:rPr>
              <a:t> </a:t>
            </a:r>
            <a:r>
              <a:rPr lang="en-US" altLang="ko-KR" sz="1600" dirty="0" err="1">
                <a:solidFill>
                  <a:prstClr val="black"/>
                </a:solidFill>
              </a:rPr>
              <a:t>số</a:t>
            </a:r>
            <a:r>
              <a:rPr lang="en-US" altLang="ko-KR" sz="1600" dirty="0">
                <a:solidFill>
                  <a:prstClr val="black"/>
                </a:solidFill>
              </a:rPr>
              <a:t> </a:t>
            </a:r>
            <a:r>
              <a:rPr lang="en-US" altLang="ko-KR" sz="1600" dirty="0" err="1">
                <a:solidFill>
                  <a:prstClr val="black"/>
                </a:solidFill>
              </a:rPr>
              <a:t>cho</a:t>
            </a:r>
            <a:r>
              <a:rPr lang="en-US" altLang="ko-KR" sz="1600" dirty="0">
                <a:solidFill>
                  <a:prstClr val="black"/>
                </a:solidFill>
              </a:rPr>
              <a:t> </a:t>
            </a:r>
            <a:r>
              <a:rPr lang="en-US" altLang="ko-KR" sz="1600" dirty="0" err="1">
                <a:solidFill>
                  <a:prstClr val="black"/>
                </a:solidFill>
              </a:rPr>
              <a:t>phép</a:t>
            </a:r>
            <a:r>
              <a:rPr lang="en-US" altLang="ko-KR" sz="1600" dirty="0">
                <a:solidFill>
                  <a:prstClr val="black"/>
                </a:solidFill>
              </a:rPr>
              <a:t> </a:t>
            </a:r>
            <a:r>
              <a:rPr lang="en-US" altLang="ko-KR" sz="1600" dirty="0" err="1">
                <a:solidFill>
                  <a:prstClr val="black"/>
                </a:solidFill>
              </a:rPr>
              <a:t>của</a:t>
            </a:r>
            <a:r>
              <a:rPr lang="en-US" altLang="ko-KR" sz="1600" dirty="0">
                <a:solidFill>
                  <a:prstClr val="black"/>
                </a:solidFill>
              </a:rPr>
              <a:t> </a:t>
            </a:r>
            <a:r>
              <a:rPr lang="en-US" altLang="ko-KR" sz="1600" dirty="0" err="1">
                <a:solidFill>
                  <a:prstClr val="black"/>
                </a:solidFill>
              </a:rPr>
              <a:t>toàn</a:t>
            </a:r>
            <a:r>
              <a:rPr lang="en-US" altLang="ko-KR" sz="1600" dirty="0">
                <a:solidFill>
                  <a:prstClr val="black"/>
                </a:solidFill>
              </a:rPr>
              <a:t> process ..</a:t>
            </a:r>
          </a:p>
        </p:txBody>
      </p:sp>
      <p:sp>
        <p:nvSpPr>
          <p:cNvPr id="48" name="Text Box 3"/>
          <p:cNvSpPr txBox="1">
            <a:spLocks noChangeArrowheads="1"/>
          </p:cNvSpPr>
          <p:nvPr/>
        </p:nvSpPr>
        <p:spPr bwMode="auto">
          <a:xfrm>
            <a:off x="251520" y="692696"/>
            <a:ext cx="4666919" cy="350096"/>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t>(1)</a:t>
            </a:r>
            <a:r>
              <a:rPr lang="en-US" altLang="ko-KR" sz="1600" dirty="0" err="1"/>
              <a:t>Nguyên</a:t>
            </a:r>
            <a:r>
              <a:rPr lang="en-US" altLang="ko-KR" sz="1600" dirty="0"/>
              <a:t> </a:t>
            </a:r>
            <a:r>
              <a:rPr lang="en-US" altLang="ko-KR" sz="1600" dirty="0" err="1"/>
              <a:t>nhân</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r>
              <a:rPr lang="en-US" altLang="ko-KR" sz="1600" dirty="0"/>
              <a:t>(common cause)</a:t>
            </a:r>
          </a:p>
        </p:txBody>
      </p:sp>
      <p:sp>
        <p:nvSpPr>
          <p:cNvPr id="42" name="Text Box 10"/>
          <p:cNvSpPr txBox="1">
            <a:spLocks noChangeArrowheads="1"/>
          </p:cNvSpPr>
          <p:nvPr/>
        </p:nvSpPr>
        <p:spPr bwMode="auto">
          <a:xfrm>
            <a:off x="6324600" y="138132"/>
            <a:ext cx="2771500"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a:t>
            </a:r>
            <a:r>
              <a:rPr lang="en-US" altLang="ko-KR" sz="1600" b="1" dirty="0" err="1">
                <a:solidFill>
                  <a:prstClr val="black"/>
                </a:solidFill>
                <a:latin typeface="맑은 고딕"/>
                <a:ea typeface="맑은 고딕"/>
              </a:rPr>
              <a:t>Nguyên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nhân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ngẫu</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nhiên</a:t>
            </a:r>
            <a:endParaRPr lang="ko-KR" altLang="en-US" sz="1600" b="1" dirty="0">
              <a:solidFill>
                <a:prstClr val="black"/>
              </a:solidFill>
              <a:latin typeface="맑은 고딕"/>
              <a:ea typeface="맑은 고딕"/>
            </a:endParaRPr>
          </a:p>
        </p:txBody>
      </p:sp>
      <p:sp>
        <p:nvSpPr>
          <p:cNvPr id="43"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263</a:t>
            </a:fld>
            <a:endParaRPr lang="ko-KR" altLang="en-US" sz="1200" dirty="0">
              <a:solidFill>
                <a:prstClr val="black"/>
              </a:solidFill>
            </a:endParaRPr>
          </a:p>
        </p:txBody>
      </p:sp>
      <p:sp>
        <p:nvSpPr>
          <p:cNvPr id="3" name="직사각형 2"/>
          <p:cNvSpPr/>
          <p:nvPr/>
        </p:nvSpPr>
        <p:spPr>
          <a:xfrm>
            <a:off x="228600" y="5410578"/>
            <a:ext cx="9067800" cy="1200329"/>
          </a:xfrm>
          <a:prstGeom prst="rect">
            <a:avLst/>
          </a:prstGeom>
        </p:spPr>
        <p:txBody>
          <a:bodyPr wrap="square">
            <a:spAutoFit/>
          </a:bodyPr>
          <a:lstStyle/>
          <a:p>
            <a:pPr lvl="0" eaLnBrk="0" fontAlgn="base" latinLnBrk="0" hangingPunct="0">
              <a:lnSpc>
                <a:spcPct val="150000"/>
              </a:lnSpc>
              <a:spcBef>
                <a:spcPct val="0"/>
              </a:spcBef>
              <a:spcAft>
                <a:spcPct val="0"/>
              </a:spcAft>
              <a:defRPr/>
            </a:pPr>
            <a:r>
              <a:rPr lang="en-US" altLang="ko-KR" sz="1600" dirty="0" err="1">
                <a:solidFill>
                  <a:prstClr val="black"/>
                </a:solidFill>
              </a:rPr>
              <a:t>Nếu</a:t>
            </a:r>
            <a:r>
              <a:rPr lang="en-US" altLang="ko-KR" sz="1600" dirty="0">
                <a:solidFill>
                  <a:prstClr val="black"/>
                </a:solidFill>
              </a:rPr>
              <a:t> </a:t>
            </a:r>
            <a:r>
              <a:rPr lang="en-US" altLang="ko-KR" sz="1600" dirty="0" err="1">
                <a:solidFill>
                  <a:prstClr val="black"/>
                </a:solidFill>
              </a:rPr>
              <a:t>có</a:t>
            </a:r>
            <a:r>
              <a:rPr lang="en-US" altLang="ko-KR" sz="1600" dirty="0">
                <a:solidFill>
                  <a:prstClr val="black"/>
                </a:solidFill>
              </a:rPr>
              <a:t> </a:t>
            </a:r>
            <a:r>
              <a:rPr lang="en-US" altLang="ko-KR" sz="1600" dirty="0" err="1">
                <a:solidFill>
                  <a:prstClr val="black"/>
                </a:solidFill>
              </a:rPr>
              <a:t>thể</a:t>
            </a:r>
            <a:r>
              <a:rPr lang="en-US" altLang="ko-KR" sz="1600" dirty="0">
                <a:solidFill>
                  <a:prstClr val="black"/>
                </a:solidFill>
              </a:rPr>
              <a:t> </a:t>
            </a:r>
            <a:r>
              <a:rPr lang="en-US" altLang="ko-KR" sz="1600" dirty="0" err="1">
                <a:solidFill>
                  <a:prstClr val="black"/>
                </a:solidFill>
              </a:rPr>
              <a:t>xem</a:t>
            </a:r>
            <a:r>
              <a:rPr lang="en-US" altLang="ko-KR" sz="1600" dirty="0">
                <a:solidFill>
                  <a:prstClr val="black"/>
                </a:solidFill>
              </a:rPr>
              <a:t> process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xuất</a:t>
            </a:r>
            <a:r>
              <a:rPr lang="en-US" altLang="ko-KR" sz="1600" dirty="0">
                <a:solidFill>
                  <a:prstClr val="black"/>
                </a:solidFill>
              </a:rPr>
              <a:t> </a:t>
            </a:r>
            <a:r>
              <a:rPr lang="en-US" altLang="ko-KR" sz="1600" dirty="0" err="1">
                <a:solidFill>
                  <a:prstClr val="black"/>
                </a:solidFill>
              </a:rPr>
              <a:t>hoặc</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phẩm</a:t>
            </a:r>
            <a:r>
              <a:rPr lang="en-US" altLang="ko-KR" sz="1600" dirty="0">
                <a:solidFill>
                  <a:prstClr val="black"/>
                </a:solidFill>
              </a:rPr>
              <a:t> </a:t>
            </a:r>
            <a:r>
              <a:rPr lang="en-US" altLang="ko-KR" sz="1600" dirty="0" err="1">
                <a:solidFill>
                  <a:prstClr val="black"/>
                </a:solidFill>
              </a:rPr>
              <a:t>có</a:t>
            </a:r>
            <a:r>
              <a:rPr lang="en-US" altLang="ko-KR" sz="1600" dirty="0">
                <a:solidFill>
                  <a:prstClr val="black"/>
                </a:solidFill>
              </a:rPr>
              <a:t> </a:t>
            </a:r>
            <a:r>
              <a:rPr lang="en-US" altLang="ko-KR" sz="1600" dirty="0" err="1">
                <a:solidFill>
                  <a:prstClr val="black"/>
                </a:solidFill>
              </a:rPr>
              <a:t>những</a:t>
            </a:r>
            <a:r>
              <a:rPr lang="en-US" altLang="ko-KR" sz="1600" dirty="0">
                <a:solidFill>
                  <a:prstClr val="black"/>
                </a:solidFill>
              </a:rPr>
              <a:t> </a:t>
            </a:r>
            <a:r>
              <a:rPr lang="en-US" altLang="ko-KR" sz="1600" dirty="0" err="1">
                <a:solidFill>
                  <a:prstClr val="black"/>
                </a:solidFill>
              </a:rPr>
              <a:t>biến</a:t>
            </a:r>
            <a:r>
              <a:rPr lang="en-US" altLang="ko-KR" sz="1600" dirty="0">
                <a:solidFill>
                  <a:prstClr val="black"/>
                </a:solidFill>
              </a:rPr>
              <a:t> </a:t>
            </a:r>
            <a:r>
              <a:rPr lang="en-US" altLang="ko-KR" sz="1600" dirty="0" err="1">
                <a:solidFill>
                  <a:prstClr val="black"/>
                </a:solidFill>
              </a:rPr>
              <a:t>động</a:t>
            </a:r>
            <a:r>
              <a:rPr lang="en-US" altLang="ko-KR" sz="1600" dirty="0">
                <a:solidFill>
                  <a:prstClr val="black"/>
                </a:solidFill>
              </a:rPr>
              <a:t> </a:t>
            </a:r>
            <a:r>
              <a:rPr lang="en-US" altLang="ko-KR" sz="1600" dirty="0" err="1">
                <a:solidFill>
                  <a:prstClr val="black"/>
                </a:solidFill>
              </a:rPr>
              <a:t>cố</a:t>
            </a:r>
            <a:r>
              <a:rPr lang="en-US" altLang="ko-KR" sz="1600" dirty="0">
                <a:solidFill>
                  <a:prstClr val="black"/>
                </a:solidFill>
              </a:rPr>
              <a:t> </a:t>
            </a:r>
            <a:r>
              <a:rPr lang="en-US" altLang="ko-KR" sz="1600" dirty="0" err="1">
                <a:solidFill>
                  <a:prstClr val="black"/>
                </a:solidFill>
              </a:rPr>
              <a:t>hữu</a:t>
            </a:r>
            <a:r>
              <a:rPr lang="en-US" altLang="ko-KR" sz="1600" dirty="0">
                <a:solidFill>
                  <a:prstClr val="black"/>
                </a:solidFill>
              </a:rPr>
              <a:t>, </a:t>
            </a:r>
            <a:r>
              <a:rPr lang="en-US" altLang="ko-KR" sz="1600" dirty="0" err="1">
                <a:solidFill>
                  <a:prstClr val="black"/>
                </a:solidFill>
              </a:rPr>
              <a:t>thì</a:t>
            </a:r>
            <a:r>
              <a:rPr lang="en-US" altLang="ko-KR" sz="1600" dirty="0">
                <a:solidFill>
                  <a:prstClr val="black"/>
                </a:solidFill>
              </a:rPr>
              <a:t> </a:t>
            </a:r>
            <a:r>
              <a:rPr lang="en-US" altLang="ko-KR" sz="1600" dirty="0" err="1">
                <a:solidFill>
                  <a:prstClr val="black"/>
                </a:solidFill>
              </a:rPr>
              <a:t>để</a:t>
            </a:r>
            <a:r>
              <a:rPr lang="en-US" altLang="ko-KR" sz="1600" dirty="0">
                <a:solidFill>
                  <a:prstClr val="black"/>
                </a:solidFill>
              </a:rPr>
              <a:t> </a:t>
            </a:r>
            <a:r>
              <a:rPr lang="en-US" altLang="ko-KR" sz="1600" dirty="0" err="1">
                <a:solidFill>
                  <a:prstClr val="black"/>
                </a:solidFill>
              </a:rPr>
              <a:t>giảm</a:t>
            </a:r>
            <a:r>
              <a:rPr lang="en-US" altLang="ko-KR" sz="1600" dirty="0">
                <a:solidFill>
                  <a:prstClr val="black"/>
                </a:solidFill>
              </a:rPr>
              <a:t> </a:t>
            </a:r>
            <a:r>
              <a:rPr lang="en-US" altLang="ko-KR" sz="1600" dirty="0" err="1">
                <a:solidFill>
                  <a:prstClr val="black"/>
                </a:solidFill>
              </a:rPr>
              <a:t>bớt</a:t>
            </a:r>
            <a:r>
              <a:rPr lang="en-US" altLang="ko-KR" sz="1600" dirty="0">
                <a:solidFill>
                  <a:prstClr val="black"/>
                </a:solidFill>
              </a:rPr>
              <a:t> </a:t>
            </a:r>
            <a:r>
              <a:rPr lang="en-US" altLang="ko-KR" sz="1600" dirty="0" err="1">
                <a:solidFill>
                  <a:prstClr val="black"/>
                </a:solidFill>
              </a:rPr>
              <a:t>những</a:t>
            </a:r>
            <a:r>
              <a:rPr lang="en-US" altLang="ko-KR" sz="1600" dirty="0">
                <a:solidFill>
                  <a:prstClr val="black"/>
                </a:solidFill>
              </a:rPr>
              <a:t> </a:t>
            </a:r>
            <a:r>
              <a:rPr lang="en-US" altLang="ko-KR" sz="1600" dirty="0" err="1">
                <a:solidFill>
                  <a:prstClr val="black"/>
                </a:solidFill>
              </a:rPr>
              <a:t>biến</a:t>
            </a:r>
            <a:r>
              <a:rPr lang="en-US" altLang="ko-KR" sz="1600" dirty="0">
                <a:solidFill>
                  <a:prstClr val="black"/>
                </a:solidFill>
              </a:rPr>
              <a:t> </a:t>
            </a:r>
            <a:r>
              <a:rPr lang="en-US" altLang="ko-KR" sz="1600" dirty="0" err="1">
                <a:solidFill>
                  <a:prstClr val="black"/>
                </a:solidFill>
              </a:rPr>
              <a:t>động</a:t>
            </a:r>
            <a:r>
              <a:rPr lang="en-US" altLang="ko-KR" sz="1600" dirty="0">
                <a:solidFill>
                  <a:prstClr val="black"/>
                </a:solidFill>
              </a:rPr>
              <a:t> </a:t>
            </a:r>
            <a:r>
              <a:rPr lang="en-US" altLang="ko-KR" sz="1600" dirty="0" err="1">
                <a:solidFill>
                  <a:prstClr val="black"/>
                </a:solidFill>
              </a:rPr>
              <a:t>này</a:t>
            </a:r>
            <a:r>
              <a:rPr lang="en-US" altLang="ko-KR" sz="1600" dirty="0">
                <a:solidFill>
                  <a:prstClr val="black"/>
                </a:solidFill>
              </a:rPr>
              <a:t> </a:t>
            </a:r>
            <a:r>
              <a:rPr lang="en-US" altLang="ko-KR" sz="1600" dirty="0" err="1">
                <a:solidFill>
                  <a:prstClr val="black"/>
                </a:solidFill>
              </a:rPr>
              <a:t>thì</a:t>
            </a:r>
            <a:r>
              <a:rPr lang="en-US" altLang="ko-KR" sz="1600" dirty="0">
                <a:solidFill>
                  <a:prstClr val="black"/>
                </a:solidFill>
              </a:rPr>
              <a:t> </a:t>
            </a:r>
            <a:r>
              <a:rPr lang="en-US" altLang="ko-KR" sz="1600" dirty="0" err="1">
                <a:solidFill>
                  <a:prstClr val="black"/>
                </a:solidFill>
              </a:rPr>
              <a:t>cần</a:t>
            </a:r>
            <a:r>
              <a:rPr lang="en-US" altLang="ko-KR" sz="1600" dirty="0">
                <a:solidFill>
                  <a:prstClr val="black"/>
                </a:solidFill>
              </a:rPr>
              <a:t> </a:t>
            </a:r>
            <a:r>
              <a:rPr lang="en-US" altLang="ko-KR" sz="1600" dirty="0" err="1">
                <a:solidFill>
                  <a:prstClr val="black"/>
                </a:solidFill>
              </a:rPr>
              <a:t>thiết</a:t>
            </a:r>
            <a:r>
              <a:rPr lang="en-US" altLang="ko-KR" sz="1600" dirty="0">
                <a:solidFill>
                  <a:prstClr val="black"/>
                </a:solidFill>
              </a:rPr>
              <a:t> </a:t>
            </a:r>
            <a:r>
              <a:rPr lang="en-US" altLang="ko-KR" sz="1600" dirty="0" err="1">
                <a:solidFill>
                  <a:prstClr val="black"/>
                </a:solidFill>
              </a:rPr>
              <a:t>phải</a:t>
            </a:r>
            <a:r>
              <a:rPr lang="en-US" altLang="ko-KR" sz="1600" dirty="0">
                <a:solidFill>
                  <a:prstClr val="black"/>
                </a:solidFill>
              </a:rPr>
              <a:t> </a:t>
            </a:r>
            <a:r>
              <a:rPr lang="en-US" altLang="ko-KR" sz="1600" dirty="0" err="1">
                <a:solidFill>
                  <a:prstClr val="black"/>
                </a:solidFill>
              </a:rPr>
              <a:t>phân</a:t>
            </a:r>
            <a:r>
              <a:rPr lang="en-US" altLang="ko-KR" sz="1600" dirty="0">
                <a:solidFill>
                  <a:prstClr val="black"/>
                </a:solidFill>
              </a:rPr>
              <a:t> </a:t>
            </a:r>
            <a:r>
              <a:rPr lang="en-US" altLang="ko-KR" sz="1600" dirty="0" err="1">
                <a:solidFill>
                  <a:prstClr val="black"/>
                </a:solidFill>
              </a:rPr>
              <a:t>tích</a:t>
            </a:r>
            <a:r>
              <a:rPr lang="en-US" altLang="ko-KR" sz="1600" dirty="0">
                <a:solidFill>
                  <a:prstClr val="black"/>
                </a:solidFill>
              </a:rPr>
              <a:t>, </a:t>
            </a:r>
            <a:r>
              <a:rPr lang="en-US" altLang="ko-KR" sz="1600" dirty="0" err="1">
                <a:solidFill>
                  <a:prstClr val="black"/>
                </a:solidFill>
              </a:rPr>
              <a:t>điều</a:t>
            </a:r>
            <a:r>
              <a:rPr lang="en-US" altLang="ko-KR" sz="1600" dirty="0">
                <a:solidFill>
                  <a:prstClr val="black"/>
                </a:solidFill>
              </a:rPr>
              <a:t> </a:t>
            </a:r>
            <a:r>
              <a:rPr lang="en-US" altLang="ko-KR" sz="1600" dirty="0" err="1">
                <a:solidFill>
                  <a:prstClr val="black"/>
                </a:solidFill>
              </a:rPr>
              <a:t>tra</a:t>
            </a:r>
            <a:r>
              <a:rPr lang="en-US" altLang="ko-KR" sz="1600" dirty="0">
                <a:solidFill>
                  <a:prstClr val="black"/>
                </a:solidFill>
              </a:rPr>
              <a:t> </a:t>
            </a:r>
            <a:r>
              <a:rPr lang="en-US" altLang="ko-KR" sz="1600" dirty="0" err="1">
                <a:solidFill>
                  <a:prstClr val="black"/>
                </a:solidFill>
              </a:rPr>
              <a:t>căn</a:t>
            </a:r>
            <a:r>
              <a:rPr lang="en-US" altLang="ko-KR" sz="1600" dirty="0">
                <a:solidFill>
                  <a:prstClr val="black"/>
                </a:solidFill>
              </a:rPr>
              <a:t> </a:t>
            </a:r>
            <a:r>
              <a:rPr lang="en-US" altLang="ko-KR" sz="1600" dirty="0" err="1">
                <a:solidFill>
                  <a:prstClr val="black"/>
                </a:solidFill>
              </a:rPr>
              <a:t>bản</a:t>
            </a:r>
            <a:r>
              <a:rPr lang="en-US" altLang="ko-KR" sz="1600" dirty="0">
                <a:solidFill>
                  <a:prstClr val="black"/>
                </a:solidFill>
              </a:rPr>
              <a:t> </a:t>
            </a:r>
            <a:r>
              <a:rPr lang="en-US" altLang="ko-KR" sz="1600" dirty="0" err="1">
                <a:solidFill>
                  <a:prstClr val="black"/>
                </a:solidFill>
              </a:rPr>
              <a:t>về</a:t>
            </a:r>
            <a:r>
              <a:rPr lang="en-US" altLang="ko-KR" sz="1600" dirty="0">
                <a:solidFill>
                  <a:prstClr val="black"/>
                </a:solidFill>
              </a:rPr>
              <a:t> process </a:t>
            </a:r>
            <a:r>
              <a:rPr lang="en-US" altLang="ko-KR" sz="1600" dirty="0" err="1">
                <a:solidFill>
                  <a:prstClr val="black"/>
                </a:solidFill>
              </a:rPr>
              <a:t>hoặc</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phẩm</a:t>
            </a:r>
            <a:r>
              <a:rPr lang="en-US" altLang="ko-KR" sz="1600" dirty="0">
                <a:solidFill>
                  <a:prstClr val="black"/>
                </a:solidFill>
              </a:rPr>
              <a:t>, </a:t>
            </a:r>
            <a:r>
              <a:rPr lang="en-US" altLang="ko-KR" sz="1600" dirty="0" err="1">
                <a:solidFill>
                  <a:prstClr val="black"/>
                </a:solidFill>
              </a:rPr>
              <a:t>Cần</a:t>
            </a:r>
            <a:r>
              <a:rPr lang="en-US" altLang="ko-KR" sz="1600" dirty="0">
                <a:solidFill>
                  <a:prstClr val="black"/>
                </a:solidFill>
              </a:rPr>
              <a:t> </a:t>
            </a:r>
            <a:r>
              <a:rPr lang="en-US" altLang="ko-KR" sz="1600" dirty="0" err="1">
                <a:solidFill>
                  <a:prstClr val="black"/>
                </a:solidFill>
              </a:rPr>
              <a:t>thiết</a:t>
            </a:r>
            <a:r>
              <a:rPr lang="en-US" altLang="ko-KR" sz="1600" dirty="0">
                <a:solidFill>
                  <a:prstClr val="black"/>
                </a:solidFill>
              </a:rPr>
              <a:t> </a:t>
            </a:r>
            <a:r>
              <a:rPr lang="en-US" altLang="ko-KR" sz="1600" dirty="0" err="1">
                <a:solidFill>
                  <a:prstClr val="black"/>
                </a:solidFill>
              </a:rPr>
              <a:t>phải</a:t>
            </a:r>
            <a:r>
              <a:rPr lang="en-US" altLang="ko-KR" sz="1600" dirty="0">
                <a:solidFill>
                  <a:prstClr val="black"/>
                </a:solidFill>
              </a:rPr>
              <a:t> </a:t>
            </a:r>
            <a:r>
              <a:rPr lang="en-US" altLang="ko-KR" sz="1600" dirty="0" err="1">
                <a:solidFill>
                  <a:prstClr val="black"/>
                </a:solidFill>
              </a:rPr>
              <a:t>thay</a:t>
            </a:r>
            <a:r>
              <a:rPr lang="en-US" altLang="ko-KR" sz="1600" dirty="0">
                <a:solidFill>
                  <a:prstClr val="black"/>
                </a:solidFill>
              </a:rPr>
              <a:t> </a:t>
            </a:r>
            <a:r>
              <a:rPr lang="en-US" altLang="ko-KR" sz="1600" dirty="0" err="1">
                <a:solidFill>
                  <a:prstClr val="black"/>
                </a:solidFill>
              </a:rPr>
              <a:t>thế</a:t>
            </a:r>
            <a:r>
              <a:rPr lang="en-US" altLang="ko-KR" sz="1600" dirty="0">
                <a:solidFill>
                  <a:prstClr val="black"/>
                </a:solidFill>
              </a:rPr>
              <a:t> </a:t>
            </a:r>
            <a:r>
              <a:rPr lang="en-US" altLang="ko-KR" sz="1600" dirty="0" err="1">
                <a:solidFill>
                  <a:prstClr val="black"/>
                </a:solidFill>
              </a:rPr>
              <a:t>máy</a:t>
            </a:r>
            <a:r>
              <a:rPr lang="en-US" altLang="ko-KR" sz="1600" dirty="0">
                <a:solidFill>
                  <a:prstClr val="black"/>
                </a:solidFill>
              </a:rPr>
              <a:t> </a:t>
            </a:r>
            <a:r>
              <a:rPr lang="en-US" altLang="ko-KR" sz="1600" dirty="0" err="1">
                <a:solidFill>
                  <a:prstClr val="black"/>
                </a:solidFill>
              </a:rPr>
              <a:t>móc</a:t>
            </a:r>
            <a:r>
              <a:rPr lang="en-US" altLang="ko-KR" sz="1600" dirty="0">
                <a:solidFill>
                  <a:prstClr val="black"/>
                </a:solidFill>
              </a:rPr>
              <a:t> </a:t>
            </a:r>
            <a:r>
              <a:rPr lang="en-US" altLang="ko-KR" sz="1600" dirty="0" err="1">
                <a:solidFill>
                  <a:prstClr val="black"/>
                </a:solidFill>
              </a:rPr>
              <a:t>hoặc</a:t>
            </a:r>
            <a:r>
              <a:rPr lang="en-US" altLang="ko-KR" sz="1600" dirty="0">
                <a:solidFill>
                  <a:prstClr val="black"/>
                </a:solidFill>
              </a:rPr>
              <a:t> </a:t>
            </a:r>
            <a:r>
              <a:rPr lang="en-US" altLang="ko-KR" sz="1600" dirty="0" err="1">
                <a:solidFill>
                  <a:prstClr val="black"/>
                </a:solidFill>
              </a:rPr>
              <a:t>thay</a:t>
            </a:r>
            <a:r>
              <a:rPr lang="en-US" altLang="ko-KR" sz="1600" dirty="0">
                <a:solidFill>
                  <a:prstClr val="black"/>
                </a:solidFill>
              </a:rPr>
              <a:t> </a:t>
            </a:r>
            <a:r>
              <a:rPr lang="en-US" altLang="ko-KR" sz="1600" dirty="0" err="1">
                <a:solidFill>
                  <a:prstClr val="black"/>
                </a:solidFill>
              </a:rPr>
              <a:t>đổi</a:t>
            </a:r>
            <a:r>
              <a:rPr lang="en-US" altLang="ko-KR" sz="1600" dirty="0">
                <a:solidFill>
                  <a:prstClr val="black"/>
                </a:solidFill>
              </a:rPr>
              <a:t> </a:t>
            </a:r>
            <a:r>
              <a:rPr lang="en-US" altLang="ko-KR" sz="1600" dirty="0" err="1">
                <a:solidFill>
                  <a:prstClr val="black"/>
                </a:solidFill>
              </a:rPr>
              <a:t>chất</a:t>
            </a:r>
            <a:r>
              <a:rPr lang="en-US" altLang="ko-KR" sz="1600" dirty="0">
                <a:solidFill>
                  <a:prstClr val="black"/>
                </a:solidFill>
              </a:rPr>
              <a:t> </a:t>
            </a:r>
            <a:r>
              <a:rPr lang="en-US" altLang="ko-KR" sz="1600" dirty="0" err="1">
                <a:solidFill>
                  <a:prstClr val="black"/>
                </a:solidFill>
              </a:rPr>
              <a:t>liệu</a:t>
            </a:r>
            <a:r>
              <a:rPr lang="en-US" altLang="ko-KR" sz="1600" dirty="0">
                <a:solidFill>
                  <a:prstClr val="black"/>
                </a:solidFill>
              </a:rPr>
              <a:t>, </a:t>
            </a:r>
            <a:r>
              <a:rPr lang="en-US" altLang="ko-KR" sz="1600" dirty="0" err="1">
                <a:solidFill>
                  <a:prstClr val="black"/>
                </a:solidFill>
              </a:rPr>
              <a:t>hình</a:t>
            </a:r>
            <a:r>
              <a:rPr lang="en-US" altLang="ko-KR" sz="1600" dirty="0">
                <a:solidFill>
                  <a:prstClr val="black"/>
                </a:solidFill>
              </a:rPr>
              <a:t> </a:t>
            </a:r>
            <a:r>
              <a:rPr lang="en-US" altLang="ko-KR" sz="1600" dirty="0" err="1">
                <a:solidFill>
                  <a:prstClr val="black"/>
                </a:solidFill>
              </a:rPr>
              <a:t>thái</a:t>
            </a:r>
            <a:r>
              <a:rPr lang="en-US" altLang="ko-KR" sz="1600" dirty="0">
                <a:solidFill>
                  <a:prstClr val="black"/>
                </a:solidFill>
              </a:rPr>
              <a:t> </a:t>
            </a:r>
            <a:r>
              <a:rPr lang="en-US" altLang="ko-KR" sz="1600" dirty="0" err="1">
                <a:solidFill>
                  <a:prstClr val="black"/>
                </a:solidFill>
              </a:rPr>
              <a:t>của</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phẩm</a:t>
            </a:r>
            <a:r>
              <a:rPr lang="en-US" altLang="ko-KR" sz="1600" dirty="0">
                <a:solidFill>
                  <a:prstClr val="black"/>
                </a:solidFill>
              </a:rPr>
              <a:t>, </a:t>
            </a:r>
          </a:p>
        </p:txBody>
      </p:sp>
      <p:sp>
        <p:nvSpPr>
          <p:cNvPr id="45" name="Text Box 39"/>
          <p:cNvSpPr txBox="1">
            <a:spLocks noChangeArrowheads="1"/>
          </p:cNvSpPr>
          <p:nvPr/>
        </p:nvSpPr>
        <p:spPr bwMode="auto">
          <a:xfrm>
            <a:off x="127732" y="76562"/>
            <a:ext cx="45236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Tree>
    <p:extLst>
      <p:ext uri="{BB962C8B-B14F-4D97-AF65-F5344CB8AC3E}">
        <p14:creationId xmlns:p14="http://schemas.microsoft.com/office/powerpoint/2010/main" val="3508561641"/>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16802" y="1983696"/>
            <a:ext cx="3063110" cy="23025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dirty="0">
              <a:solidFill>
                <a:prstClr val="white"/>
              </a:solidFill>
            </a:endParaRPr>
          </a:p>
        </p:txBody>
      </p:sp>
      <p:sp>
        <p:nvSpPr>
          <p:cNvPr id="7171" name="Text Box 3"/>
          <p:cNvSpPr txBox="1">
            <a:spLocks noChangeArrowheads="1"/>
          </p:cNvSpPr>
          <p:nvPr/>
        </p:nvSpPr>
        <p:spPr bwMode="auto">
          <a:xfrm>
            <a:off x="317989" y="764704"/>
            <a:ext cx="3707105" cy="350096"/>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t>(2) Assignable cause</a:t>
            </a:r>
            <a:r>
              <a:rPr lang="ko-KR" altLang="en-US" sz="1600" dirty="0"/>
              <a:t> </a:t>
            </a:r>
            <a:r>
              <a:rPr lang="en-US" altLang="ko-KR" sz="1600" dirty="0"/>
              <a:t>(special cause)</a:t>
            </a:r>
          </a:p>
        </p:txBody>
      </p:sp>
      <p:sp>
        <p:nvSpPr>
          <p:cNvPr id="7172" name="Rectangle 4"/>
          <p:cNvSpPr>
            <a:spLocks noChangeArrowheads="1"/>
          </p:cNvSpPr>
          <p:nvPr/>
        </p:nvSpPr>
        <p:spPr bwMode="auto">
          <a:xfrm>
            <a:off x="517109" y="1268781"/>
            <a:ext cx="8303364"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2870" tIns="51435" rIns="102870" bIns="51435">
            <a:spAutoFit/>
          </a:bodyPr>
          <a:lstStyle>
            <a:lvl1pPr marL="211138" indent="-211138" defTabSz="1028700" eaLnBrk="0" hangingPunct="0">
              <a:defRPr kumimoji="1">
                <a:solidFill>
                  <a:schemeClr val="tx1"/>
                </a:solidFill>
                <a:latin typeface="굴림" pitchFamily="50" charset="-127"/>
                <a:ea typeface="굴림" pitchFamily="50" charset="-127"/>
              </a:defRPr>
            </a:lvl1pPr>
            <a:lvl2pPr marL="742950" indent="-285750" defTabSz="1028700" eaLnBrk="0" hangingPunct="0">
              <a:defRPr kumimoji="1">
                <a:solidFill>
                  <a:schemeClr val="tx1"/>
                </a:solidFill>
                <a:latin typeface="굴림" pitchFamily="50" charset="-127"/>
                <a:ea typeface="굴림" pitchFamily="50" charset="-127"/>
              </a:defRPr>
            </a:lvl2pPr>
            <a:lvl3pPr marL="1143000" indent="-228600" defTabSz="1028700" eaLnBrk="0" hangingPunct="0">
              <a:defRPr kumimoji="1">
                <a:solidFill>
                  <a:schemeClr val="tx1"/>
                </a:solidFill>
                <a:latin typeface="굴림" pitchFamily="50" charset="-127"/>
                <a:ea typeface="굴림" pitchFamily="50" charset="-127"/>
              </a:defRPr>
            </a:lvl3pPr>
            <a:lvl4pPr marL="1600200" indent="-228600" defTabSz="1028700" eaLnBrk="0" hangingPunct="0">
              <a:defRPr kumimoji="1">
                <a:solidFill>
                  <a:schemeClr val="tx1"/>
                </a:solidFill>
                <a:latin typeface="굴림" pitchFamily="50" charset="-127"/>
                <a:ea typeface="굴림" pitchFamily="50" charset="-127"/>
              </a:defRPr>
            </a:lvl4pPr>
            <a:lvl5pPr marL="2057400" indent="-228600" defTabSz="1028700" eaLnBrk="0" hangingPunct="0">
              <a:defRPr kumimoji="1">
                <a:solidFill>
                  <a:schemeClr val="tx1"/>
                </a:solidFill>
                <a:latin typeface="굴림" pitchFamily="50" charset="-127"/>
                <a:ea typeface="굴림" pitchFamily="50" charset="-127"/>
              </a:defRPr>
            </a:lvl5pPr>
            <a:lvl6pPr marL="25146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fontAlgn="base" latinLnBrk="0">
              <a:spcBef>
                <a:spcPct val="0"/>
              </a:spcBef>
              <a:spcAft>
                <a:spcPct val="0"/>
              </a:spcAft>
            </a:pPr>
            <a:r>
              <a:rPr kumimoji="0" lang="en-US" altLang="ko-KR" sz="1600" b="1" dirty="0">
                <a:solidFill>
                  <a:prstClr val="black"/>
                </a:solidFill>
                <a:latin typeface="맑은 고딕" pitchFamily="50" charset="-127"/>
                <a:ea typeface="맑은 고딕" pitchFamily="50" charset="-127"/>
              </a:rPr>
              <a:t>It is not a chronic cause but a sporadic and accidental cause of quality fluctuation.</a:t>
            </a:r>
            <a:endParaRPr kumimoji="0" lang="ko-KR" altLang="en-US" sz="800" dirty="0">
              <a:solidFill>
                <a:prstClr val="black"/>
              </a:solidFill>
              <a:latin typeface="맑은 고딕" pitchFamily="50" charset="-127"/>
              <a:ea typeface="맑은 고딕" pitchFamily="50" charset="-127"/>
            </a:endParaRPr>
          </a:p>
        </p:txBody>
      </p:sp>
      <p:sp>
        <p:nvSpPr>
          <p:cNvPr id="7173" name="Rectangle 9"/>
          <p:cNvSpPr>
            <a:spLocks noChangeArrowheads="1"/>
          </p:cNvSpPr>
          <p:nvPr/>
        </p:nvSpPr>
        <p:spPr bwMode="auto">
          <a:xfrm>
            <a:off x="4205654" y="1844824"/>
            <a:ext cx="4237892" cy="3451225"/>
          </a:xfrm>
          <a:prstGeom prst="rect">
            <a:avLst/>
          </a:prstGeom>
          <a:noFill/>
          <a:ln w="12700"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lIns="162000" rIns="16200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dirty="0">
              <a:solidFill>
                <a:prstClr val="black"/>
              </a:solidFill>
              <a:latin typeface="맑은 고딕" pitchFamily="50" charset="-127"/>
              <a:ea typeface="맑은 고딕" pitchFamily="50" charset="-127"/>
            </a:endParaRPr>
          </a:p>
        </p:txBody>
      </p:sp>
      <p:sp>
        <p:nvSpPr>
          <p:cNvPr id="7174" name="Text Box 10"/>
          <p:cNvSpPr txBox="1">
            <a:spLocks noChangeArrowheads="1"/>
          </p:cNvSpPr>
          <p:nvPr/>
        </p:nvSpPr>
        <p:spPr bwMode="auto">
          <a:xfrm>
            <a:off x="4499993" y="1881542"/>
            <a:ext cx="3786784" cy="96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2870" tIns="51435" rIns="102870" bIns="51435">
            <a:spAutoFit/>
          </a:bodyPr>
          <a:lstStyle>
            <a:lvl1pPr defTabSz="1028700" eaLnBrk="0" hangingPunct="0">
              <a:defRPr kumimoji="1">
                <a:solidFill>
                  <a:schemeClr val="tx1"/>
                </a:solidFill>
                <a:latin typeface="굴림" pitchFamily="50" charset="-127"/>
                <a:ea typeface="굴림" pitchFamily="50" charset="-127"/>
              </a:defRPr>
            </a:lvl1pPr>
            <a:lvl2pPr marL="742950" indent="-285750" defTabSz="1028700" eaLnBrk="0" hangingPunct="0">
              <a:defRPr kumimoji="1">
                <a:solidFill>
                  <a:schemeClr val="tx1"/>
                </a:solidFill>
                <a:latin typeface="굴림" pitchFamily="50" charset="-127"/>
                <a:ea typeface="굴림" pitchFamily="50" charset="-127"/>
              </a:defRPr>
            </a:lvl2pPr>
            <a:lvl3pPr marL="1143000" indent="-228600" defTabSz="1028700" eaLnBrk="0" hangingPunct="0">
              <a:defRPr kumimoji="1">
                <a:solidFill>
                  <a:schemeClr val="tx1"/>
                </a:solidFill>
                <a:latin typeface="굴림" pitchFamily="50" charset="-127"/>
                <a:ea typeface="굴림" pitchFamily="50" charset="-127"/>
              </a:defRPr>
            </a:lvl3pPr>
            <a:lvl4pPr marL="1600200" indent="-228600" defTabSz="1028700" eaLnBrk="0" hangingPunct="0">
              <a:defRPr kumimoji="1">
                <a:solidFill>
                  <a:schemeClr val="tx1"/>
                </a:solidFill>
                <a:latin typeface="굴림" pitchFamily="50" charset="-127"/>
                <a:ea typeface="굴림" pitchFamily="50" charset="-127"/>
              </a:defRPr>
            </a:lvl4pPr>
            <a:lvl5pPr marL="2057400" indent="-228600" defTabSz="1028700" eaLnBrk="0" hangingPunct="0">
              <a:defRPr kumimoji="1">
                <a:solidFill>
                  <a:schemeClr val="tx1"/>
                </a:solidFill>
                <a:latin typeface="굴림" pitchFamily="50" charset="-127"/>
                <a:ea typeface="굴림" pitchFamily="50" charset="-127"/>
              </a:defRPr>
            </a:lvl5pPr>
            <a:lvl6pPr marL="25146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fontAlgn="base" latinLnBrk="0">
              <a:spcBef>
                <a:spcPct val="0"/>
              </a:spcBef>
              <a:spcAft>
                <a:spcPct val="0"/>
              </a:spcAft>
            </a:pPr>
            <a:r>
              <a:rPr kumimoji="0" lang="en-US" altLang="ko-KR" sz="1400" dirty="0">
                <a:solidFill>
                  <a:srgbClr val="000000"/>
                </a:solidFill>
                <a:latin typeface="맑은 고딕" pitchFamily="50" charset="-127"/>
                <a:ea typeface="맑은 고딕" pitchFamily="50" charset="-127"/>
              </a:rPr>
              <a:t>The process due to assignable causes the movement of the points is not random and causes some specific anomalies, making it impossible to predict.</a:t>
            </a:r>
          </a:p>
        </p:txBody>
      </p:sp>
      <p:pic>
        <p:nvPicPr>
          <p:cNvPr id="7175" name="Picture 31" descr="1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86248" y="3000372"/>
            <a:ext cx="4000500"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 name="Text Box 32"/>
          <p:cNvSpPr txBox="1">
            <a:spLocks noChangeArrowheads="1"/>
          </p:cNvSpPr>
          <p:nvPr/>
        </p:nvSpPr>
        <p:spPr bwMode="auto">
          <a:xfrm>
            <a:off x="4155436" y="4732480"/>
            <a:ext cx="4491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100" b="1" dirty="0">
                <a:solidFill>
                  <a:prstClr val="black"/>
                </a:solidFill>
                <a:latin typeface="맑은 고딕" pitchFamily="50" charset="-127"/>
                <a:ea typeface="맑은 고딕" pitchFamily="50" charset="-127"/>
              </a:rPr>
              <a:t>Size</a:t>
            </a:r>
            <a:endParaRPr lang="ko-KR" altLang="en-US" sz="1100" b="1" dirty="0">
              <a:solidFill>
                <a:prstClr val="black"/>
              </a:solidFill>
              <a:latin typeface="맑은 고딕" pitchFamily="50" charset="-127"/>
              <a:ea typeface="맑은 고딕" pitchFamily="50" charset="-127"/>
            </a:endParaRPr>
          </a:p>
        </p:txBody>
      </p:sp>
      <p:sp>
        <p:nvSpPr>
          <p:cNvPr id="7177" name="Text Box 33"/>
          <p:cNvSpPr txBox="1">
            <a:spLocks noChangeArrowheads="1"/>
          </p:cNvSpPr>
          <p:nvPr/>
        </p:nvSpPr>
        <p:spPr bwMode="auto">
          <a:xfrm>
            <a:off x="7286644" y="3671038"/>
            <a:ext cx="1143009" cy="176972"/>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squar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lnSpc>
                <a:spcPct val="50000"/>
              </a:lnSpc>
              <a:spcBef>
                <a:spcPct val="0"/>
              </a:spcBef>
              <a:spcAft>
                <a:spcPct val="0"/>
              </a:spcAft>
            </a:pPr>
            <a:r>
              <a:rPr lang="en-US" altLang="ko-KR" sz="1100" b="1" dirty="0">
                <a:solidFill>
                  <a:prstClr val="black"/>
                </a:solidFill>
                <a:latin typeface="맑은 고딕" pitchFamily="50" charset="-127"/>
                <a:ea typeface="맑은 고딕" pitchFamily="50" charset="-127"/>
              </a:rPr>
              <a:t>Unpredictable</a:t>
            </a:r>
            <a:endParaRPr lang="ko-KR" altLang="en-US" sz="1100" b="1" dirty="0">
              <a:solidFill>
                <a:prstClr val="black"/>
              </a:solidFill>
              <a:latin typeface="맑은 고딕" pitchFamily="50" charset="-127"/>
              <a:ea typeface="맑은 고딕" pitchFamily="50" charset="-127"/>
            </a:endParaRPr>
          </a:p>
        </p:txBody>
      </p:sp>
      <p:sp>
        <p:nvSpPr>
          <p:cNvPr id="7178" name="Text Box 34"/>
          <p:cNvSpPr txBox="1">
            <a:spLocks noChangeArrowheads="1"/>
          </p:cNvSpPr>
          <p:nvPr/>
        </p:nvSpPr>
        <p:spPr bwMode="auto">
          <a:xfrm rot="-1636469">
            <a:off x="6094541" y="4462626"/>
            <a:ext cx="930519" cy="227013"/>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lnSpc>
                <a:spcPct val="80000"/>
              </a:lnSpc>
              <a:spcBef>
                <a:spcPct val="0"/>
              </a:spcBef>
              <a:spcAft>
                <a:spcPct val="0"/>
              </a:spcAft>
            </a:pPr>
            <a:r>
              <a:rPr lang="en-US" altLang="ko-KR" sz="1100" b="1" dirty="0">
                <a:solidFill>
                  <a:prstClr val="black"/>
                </a:solidFill>
                <a:latin typeface="맑은 고딕" pitchFamily="50" charset="-127"/>
                <a:ea typeface="맑은 고딕" pitchFamily="50" charset="-127"/>
              </a:rPr>
              <a:t>Time</a:t>
            </a:r>
            <a:endParaRPr lang="ko-KR" altLang="en-US" sz="1100" b="1" dirty="0">
              <a:solidFill>
                <a:prstClr val="black"/>
              </a:solidFill>
              <a:latin typeface="맑은 고딕" pitchFamily="50" charset="-127"/>
              <a:ea typeface="맑은 고딕" pitchFamily="50" charset="-127"/>
            </a:endParaRPr>
          </a:p>
        </p:txBody>
      </p:sp>
      <p:sp>
        <p:nvSpPr>
          <p:cNvPr id="7179" name="Text Box 35"/>
          <p:cNvSpPr txBox="1">
            <a:spLocks noChangeArrowheads="1"/>
          </p:cNvSpPr>
          <p:nvPr/>
        </p:nvSpPr>
        <p:spPr bwMode="auto">
          <a:xfrm rot="-1636469">
            <a:off x="5999285" y="4313401"/>
            <a:ext cx="999392" cy="214313"/>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lnSpc>
                <a:spcPct val="80000"/>
              </a:lnSpc>
              <a:spcBef>
                <a:spcPct val="0"/>
              </a:spcBef>
              <a:spcAft>
                <a:spcPct val="0"/>
              </a:spcAft>
            </a:pPr>
            <a:endParaRPr lang="ko-KR" altLang="ko-KR" sz="1000" dirty="0">
              <a:solidFill>
                <a:prstClr val="black"/>
              </a:solidFill>
              <a:latin typeface="맑은 고딕" pitchFamily="50" charset="-127"/>
              <a:ea typeface="맑은 고딕" pitchFamily="50" charset="-127"/>
            </a:endParaRPr>
          </a:p>
        </p:txBody>
      </p:sp>
      <p:sp>
        <p:nvSpPr>
          <p:cNvPr id="7180" name="Line 37"/>
          <p:cNvSpPr>
            <a:spLocks noChangeShapeType="1"/>
          </p:cNvSpPr>
          <p:nvPr/>
        </p:nvSpPr>
        <p:spPr bwMode="auto">
          <a:xfrm rot="21337706" flipV="1">
            <a:off x="6110664" y="4241943"/>
            <a:ext cx="760535" cy="39846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ko-KR" altLang="en-US" dirty="0">
              <a:solidFill>
                <a:prstClr val="black"/>
              </a:solidFill>
              <a:latin typeface="굴림" pitchFamily="50" charset="-127"/>
              <a:ea typeface="굴림" pitchFamily="50" charset="-127"/>
            </a:endParaRPr>
          </a:p>
        </p:txBody>
      </p:sp>
      <p:sp>
        <p:nvSpPr>
          <p:cNvPr id="3" name="직사각형 2"/>
          <p:cNvSpPr/>
          <p:nvPr/>
        </p:nvSpPr>
        <p:spPr>
          <a:xfrm>
            <a:off x="849740" y="2087443"/>
            <a:ext cx="2865004" cy="2062103"/>
          </a:xfrm>
          <a:prstGeom prst="rect">
            <a:avLst/>
          </a:prstGeom>
        </p:spPr>
        <p:txBody>
          <a:bodyPr wrap="square">
            <a:spAutoFit/>
          </a:bodyPr>
          <a:lstStyle/>
          <a:p>
            <a:pPr fontAlgn="base" latinLnBrk="0">
              <a:spcBef>
                <a:spcPct val="0"/>
              </a:spcBef>
              <a:spcAft>
                <a:spcPct val="0"/>
              </a:spcAft>
              <a:buFontTx/>
              <a:buChar char="•"/>
            </a:pPr>
            <a:r>
              <a:rPr lang="ko-KR" altLang="en-US" sz="1600" dirty="0">
                <a:solidFill>
                  <a:prstClr val="black"/>
                </a:solidFill>
              </a:rPr>
              <a:t> </a:t>
            </a:r>
            <a:r>
              <a:rPr lang="en-US" sz="1600" dirty="0"/>
              <a:t>Worker's carelessness  </a:t>
            </a:r>
          </a:p>
          <a:p>
            <a:pPr fontAlgn="base" latinLnBrk="0">
              <a:spcBef>
                <a:spcPct val="0"/>
              </a:spcBef>
              <a:spcAft>
                <a:spcPct val="0"/>
              </a:spcAft>
              <a:buFontTx/>
              <a:buChar char="•"/>
            </a:pPr>
            <a:r>
              <a:rPr lang="en-US" sz="1600" dirty="0"/>
              <a:t> Use of bad materials  </a:t>
            </a:r>
          </a:p>
          <a:p>
            <a:pPr fontAlgn="base" latinLnBrk="0">
              <a:spcBef>
                <a:spcPct val="0"/>
              </a:spcBef>
              <a:spcAft>
                <a:spcPct val="0"/>
              </a:spcAft>
              <a:buFontTx/>
              <a:buChar char="•"/>
            </a:pPr>
            <a:r>
              <a:rPr lang="en-US" sz="1600" dirty="0"/>
              <a:t> Abnormality of production </a:t>
            </a:r>
          </a:p>
          <a:p>
            <a:pPr fontAlgn="base" latinLnBrk="0">
              <a:spcBef>
                <a:spcPct val="0"/>
              </a:spcBef>
              <a:spcAft>
                <a:spcPct val="0"/>
              </a:spcAft>
            </a:pPr>
            <a:r>
              <a:rPr lang="en-US" sz="1600" dirty="0"/>
              <a:t>  equipment  </a:t>
            </a:r>
          </a:p>
          <a:p>
            <a:pPr fontAlgn="base" latinLnBrk="0">
              <a:spcBef>
                <a:spcPct val="0"/>
              </a:spcBef>
              <a:spcAft>
                <a:spcPct val="0"/>
              </a:spcAft>
              <a:buFontTx/>
              <a:buChar char="•"/>
            </a:pPr>
            <a:r>
              <a:rPr lang="en-US" sz="1600" dirty="0"/>
              <a:t> Failure of normal working </a:t>
            </a:r>
          </a:p>
          <a:p>
            <a:pPr fontAlgn="base" latinLnBrk="0">
              <a:spcBef>
                <a:spcPct val="0"/>
              </a:spcBef>
              <a:spcAft>
                <a:spcPct val="0"/>
              </a:spcAft>
            </a:pPr>
            <a:r>
              <a:rPr lang="en-US" sz="1600" dirty="0"/>
              <a:t>  conditions  </a:t>
            </a:r>
          </a:p>
          <a:p>
            <a:pPr fontAlgn="base" latinLnBrk="0">
              <a:spcBef>
                <a:spcPct val="0"/>
              </a:spcBef>
              <a:spcAft>
                <a:spcPct val="0"/>
              </a:spcAft>
              <a:buFontTx/>
              <a:buChar char="•"/>
            </a:pPr>
            <a:r>
              <a:rPr lang="en-US" sz="1600" dirty="0"/>
              <a:t> Poor management of tool </a:t>
            </a:r>
          </a:p>
          <a:p>
            <a:pPr fontAlgn="base" latinLnBrk="0">
              <a:spcBef>
                <a:spcPct val="0"/>
              </a:spcBef>
              <a:spcAft>
                <a:spcPct val="0"/>
              </a:spcAft>
            </a:pPr>
            <a:r>
              <a:rPr lang="en-US" sz="1600" dirty="0"/>
              <a:t>  or jig</a:t>
            </a:r>
            <a:endParaRPr lang="ko-KR" altLang="en-US" sz="1600" dirty="0">
              <a:solidFill>
                <a:prstClr val="black"/>
              </a:solidFill>
            </a:endParaRPr>
          </a:p>
        </p:txBody>
      </p:sp>
      <p:sp>
        <p:nvSpPr>
          <p:cNvPr id="19" name="Text Box 10"/>
          <p:cNvSpPr txBox="1">
            <a:spLocks noChangeArrowheads="1"/>
          </p:cNvSpPr>
          <p:nvPr/>
        </p:nvSpPr>
        <p:spPr bwMode="auto">
          <a:xfrm>
            <a:off x="7143768" y="138132"/>
            <a:ext cx="2008855"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Assignable cause</a:t>
            </a:r>
            <a:endParaRPr lang="ko-KR" altLang="en-US" sz="1600" b="1" dirty="0">
              <a:solidFill>
                <a:prstClr val="black"/>
              </a:solidFill>
              <a:latin typeface="맑은 고딕"/>
              <a:ea typeface="맑은 고딕"/>
            </a:endParaRPr>
          </a:p>
        </p:txBody>
      </p:sp>
      <p:sp>
        <p:nvSpPr>
          <p:cNvPr id="17"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264</a:t>
            </a:fld>
            <a:endParaRPr lang="ko-KR" altLang="en-US" sz="1200" dirty="0">
              <a:solidFill>
                <a:prstClr val="black"/>
              </a:solidFill>
            </a:endParaRPr>
          </a:p>
        </p:txBody>
      </p:sp>
      <p:sp>
        <p:nvSpPr>
          <p:cNvPr id="4" name="직사각형 3"/>
          <p:cNvSpPr/>
          <p:nvPr/>
        </p:nvSpPr>
        <p:spPr>
          <a:xfrm>
            <a:off x="611560" y="5411890"/>
            <a:ext cx="7992888" cy="1200329"/>
          </a:xfrm>
          <a:prstGeom prst="rect">
            <a:avLst/>
          </a:prstGeom>
        </p:spPr>
        <p:txBody>
          <a:bodyPr wrap="square">
            <a:spAutoFit/>
          </a:bodyPr>
          <a:lstStyle/>
          <a:p>
            <a:pPr lvl="0" fontAlgn="base" latinLnBrk="0">
              <a:lnSpc>
                <a:spcPct val="150000"/>
              </a:lnSpc>
              <a:spcBef>
                <a:spcPct val="0"/>
              </a:spcBef>
              <a:spcAft>
                <a:spcPct val="0"/>
              </a:spcAft>
            </a:pPr>
            <a:r>
              <a:rPr lang="en-US" altLang="ko-KR" sz="1600" dirty="0">
                <a:solidFill>
                  <a:prstClr val="black"/>
                </a:solidFill>
                <a:latin typeface="맑은 고딕" pitchFamily="50" charset="-127"/>
                <a:ea typeface="맑은 고딕" pitchFamily="50" charset="-127"/>
              </a:rPr>
              <a:t>These are the causes of administrative mistakes.  It is easier to find than the chance cause, and it is easy to solve the problem. It is also said to be a cause for clarification.</a:t>
            </a:r>
          </a:p>
        </p:txBody>
      </p:sp>
      <p:sp>
        <p:nvSpPr>
          <p:cNvPr id="20"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1882773224"/>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66"/>
          <p:cNvSpPr>
            <a:spLocks noChangeArrowheads="1"/>
          </p:cNvSpPr>
          <p:nvPr/>
        </p:nvSpPr>
        <p:spPr bwMode="auto">
          <a:xfrm>
            <a:off x="2946471" y="1714488"/>
            <a:ext cx="3125727" cy="380873"/>
          </a:xfrm>
          <a:prstGeom prst="rect">
            <a:avLst/>
          </a:prstGeom>
          <a:noFill/>
          <a:ln>
            <a:noFill/>
          </a:ln>
          <a:effectLst/>
        </p:spPr>
        <p:txBody>
          <a:bodyPr wrap="none" lIns="102870" tIns="51435" rIns="102870" bIns="51435">
            <a:spAutoFit/>
          </a:bodyPr>
          <a:lstStyle/>
          <a:p>
            <a:pPr defTabSz="1028700" eaLnBrk="0" fontAlgn="base" latinLnBrk="0" hangingPunct="0">
              <a:spcBef>
                <a:spcPct val="0"/>
              </a:spcBef>
              <a:spcAft>
                <a:spcPct val="0"/>
              </a:spcAft>
              <a:defRPr/>
            </a:pPr>
            <a:r>
              <a:rPr lang="en-US" altLang="ko-KR" b="1" u="sng" dirty="0">
                <a:solidFill>
                  <a:srgbClr val="000000"/>
                </a:solidFill>
              </a:rPr>
              <a:t>Operation of control chart</a:t>
            </a:r>
          </a:p>
        </p:txBody>
      </p:sp>
      <p:grpSp>
        <p:nvGrpSpPr>
          <p:cNvPr id="2" name="그룹 3"/>
          <p:cNvGrpSpPr/>
          <p:nvPr/>
        </p:nvGrpSpPr>
        <p:grpSpPr>
          <a:xfrm>
            <a:off x="970491" y="2214554"/>
            <a:ext cx="7387723" cy="4042474"/>
            <a:chOff x="1125615" y="1351004"/>
            <a:chExt cx="8003365" cy="4476316"/>
          </a:xfrm>
        </p:grpSpPr>
        <p:pic>
          <p:nvPicPr>
            <p:cNvPr id="25" name="Picture 2" descr="H:\자료\png모음\arrow0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6233311" flipV="1">
              <a:off x="3872707" y="3544102"/>
              <a:ext cx="257810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3"/>
            <p:cNvSpPr>
              <a:spLocks noChangeArrowheads="1"/>
            </p:cNvSpPr>
            <p:nvPr/>
          </p:nvSpPr>
          <p:spPr bwMode="auto">
            <a:xfrm>
              <a:off x="1136650" y="1989138"/>
              <a:ext cx="3429000" cy="3816350"/>
            </a:xfrm>
            <a:prstGeom prst="rect">
              <a:avLst/>
            </a:prstGeom>
            <a:noFill/>
            <a:ln w="28575"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endParaRPr lang="ko-KR" altLang="ko-KR" b="1" dirty="0">
                <a:solidFill>
                  <a:prstClr val="black"/>
                </a:solidFill>
                <a:latin typeface="맑은 고딕" pitchFamily="50" charset="-127"/>
                <a:ea typeface="맑은 고딕" pitchFamily="50" charset="-127"/>
              </a:endParaRPr>
            </a:p>
          </p:txBody>
        </p:sp>
        <p:sp>
          <p:nvSpPr>
            <p:cNvPr id="27" name="Line 4"/>
            <p:cNvSpPr>
              <a:spLocks noChangeShapeType="1"/>
            </p:cNvSpPr>
            <p:nvPr/>
          </p:nvSpPr>
          <p:spPr bwMode="auto">
            <a:xfrm flipV="1">
              <a:off x="2243146" y="2420938"/>
              <a:ext cx="1331912" cy="2520950"/>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28" name="Freeform 5"/>
            <p:cNvSpPr>
              <a:spLocks/>
            </p:cNvSpPr>
            <p:nvPr/>
          </p:nvSpPr>
          <p:spPr bwMode="auto">
            <a:xfrm>
              <a:off x="1889125" y="4244975"/>
              <a:ext cx="2038350" cy="565150"/>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29" name="Line 6"/>
            <p:cNvSpPr>
              <a:spLocks noChangeShapeType="1"/>
            </p:cNvSpPr>
            <p:nvPr/>
          </p:nvSpPr>
          <p:spPr bwMode="auto">
            <a:xfrm>
              <a:off x="1636716" y="4810125"/>
              <a:ext cx="24288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30" name="Freeform 7"/>
            <p:cNvSpPr>
              <a:spLocks/>
            </p:cNvSpPr>
            <p:nvPr/>
          </p:nvSpPr>
          <p:spPr bwMode="auto">
            <a:xfrm>
              <a:off x="2368550" y="2300306"/>
              <a:ext cx="1781176" cy="1069975"/>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2147483647 h 1671"/>
                <a:gd name="T48" fmla="*/ 2147483647 w 2048"/>
                <a:gd name="T49" fmla="*/ 0 h 1671"/>
                <a:gd name="T50" fmla="*/ 2147483647 w 2048"/>
                <a:gd name="T51" fmla="*/ 2147483647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31" name="Line 8"/>
            <p:cNvSpPr>
              <a:spLocks noChangeShapeType="1"/>
            </p:cNvSpPr>
            <p:nvPr/>
          </p:nvSpPr>
          <p:spPr bwMode="auto">
            <a:xfrm>
              <a:off x="2149475" y="3370263"/>
              <a:ext cx="21209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32" name="Freeform 9"/>
            <p:cNvSpPr>
              <a:spLocks/>
            </p:cNvSpPr>
            <p:nvPr/>
          </p:nvSpPr>
          <p:spPr bwMode="auto">
            <a:xfrm>
              <a:off x="1735144" y="2681290"/>
              <a:ext cx="1581150" cy="1538287"/>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2147483647 h 1671"/>
                <a:gd name="T48" fmla="*/ 2147483647 w 2048"/>
                <a:gd name="T49" fmla="*/ 0 h 1671"/>
                <a:gd name="T50" fmla="*/ 2147483647 w 2048"/>
                <a:gd name="T51" fmla="*/ 2147483647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33" name="Line 10"/>
            <p:cNvSpPr>
              <a:spLocks noChangeShapeType="1"/>
            </p:cNvSpPr>
            <p:nvPr/>
          </p:nvSpPr>
          <p:spPr bwMode="auto">
            <a:xfrm>
              <a:off x="1541464" y="4219575"/>
              <a:ext cx="188118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34" name="Line 11"/>
            <p:cNvSpPr>
              <a:spLocks noChangeShapeType="1"/>
            </p:cNvSpPr>
            <p:nvPr/>
          </p:nvSpPr>
          <p:spPr bwMode="auto">
            <a:xfrm flipV="1">
              <a:off x="3073400" y="2592406"/>
              <a:ext cx="0" cy="7778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35" name="Line 12"/>
            <p:cNvSpPr>
              <a:spLocks noChangeShapeType="1"/>
            </p:cNvSpPr>
            <p:nvPr/>
          </p:nvSpPr>
          <p:spPr bwMode="auto">
            <a:xfrm flipV="1">
              <a:off x="2601913" y="2779715"/>
              <a:ext cx="0" cy="145732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36" name="Line 13"/>
            <p:cNvSpPr>
              <a:spLocks noChangeShapeType="1"/>
            </p:cNvSpPr>
            <p:nvPr/>
          </p:nvSpPr>
          <p:spPr bwMode="auto">
            <a:xfrm>
              <a:off x="2365376" y="5043488"/>
              <a:ext cx="454025"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37" name="Text Box 14"/>
            <p:cNvSpPr txBox="1">
              <a:spLocks noChangeArrowheads="1"/>
            </p:cNvSpPr>
            <p:nvPr/>
          </p:nvSpPr>
          <p:spPr bwMode="auto">
            <a:xfrm>
              <a:off x="2947995" y="4967305"/>
              <a:ext cx="1769690" cy="860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spcAft>
                  <a:spcPct val="0"/>
                </a:spcAft>
              </a:pPr>
              <a:r>
                <a:rPr lang="en-US" altLang="ko-KR" sz="1400" b="1" dirty="0">
                  <a:solidFill>
                    <a:prstClr val="black"/>
                  </a:solidFill>
                  <a:latin typeface="맑은 고딕" pitchFamily="50" charset="-127"/>
                  <a:ea typeface="맑은 고딕" pitchFamily="50" charset="-127"/>
                </a:rPr>
                <a:t>The appearance of assignable causes beyond management</a:t>
              </a:r>
              <a:endParaRPr lang="ko-KR" altLang="en-US" sz="1400" b="1" dirty="0">
                <a:solidFill>
                  <a:prstClr val="black"/>
                </a:solidFill>
                <a:latin typeface="맑은 고딕" pitchFamily="50" charset="-127"/>
                <a:ea typeface="맑은 고딕" pitchFamily="50" charset="-127"/>
              </a:endParaRPr>
            </a:p>
          </p:txBody>
        </p:sp>
        <p:sp>
          <p:nvSpPr>
            <p:cNvPr id="38" name="Rectangle 15"/>
            <p:cNvSpPr>
              <a:spLocks noChangeArrowheads="1"/>
            </p:cNvSpPr>
            <p:nvPr/>
          </p:nvSpPr>
          <p:spPr bwMode="auto">
            <a:xfrm>
              <a:off x="5600705" y="1989138"/>
              <a:ext cx="3429000" cy="3816350"/>
            </a:xfrm>
            <a:prstGeom prst="rect">
              <a:avLst/>
            </a:prstGeom>
            <a:noFill/>
            <a:ln w="28575"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endParaRPr lang="ko-KR" altLang="ko-KR" b="1" dirty="0">
                <a:solidFill>
                  <a:prstClr val="black"/>
                </a:solidFill>
                <a:latin typeface="맑은 고딕" pitchFamily="50" charset="-127"/>
                <a:ea typeface="맑은 고딕" pitchFamily="50" charset="-127"/>
              </a:endParaRPr>
            </a:p>
          </p:txBody>
        </p:sp>
        <p:sp>
          <p:nvSpPr>
            <p:cNvPr id="39" name="Text Box 17"/>
            <p:cNvSpPr txBox="1">
              <a:spLocks noChangeArrowheads="1"/>
            </p:cNvSpPr>
            <p:nvPr/>
          </p:nvSpPr>
          <p:spPr bwMode="auto">
            <a:xfrm>
              <a:off x="7133483" y="4967304"/>
              <a:ext cx="1794199" cy="490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spcAft>
                  <a:spcPct val="0"/>
                </a:spcAft>
              </a:pPr>
              <a:r>
                <a:rPr lang="en-US" altLang="ko-KR" sz="1400" b="1" dirty="0">
                  <a:solidFill>
                    <a:prstClr val="black"/>
                  </a:solidFill>
                  <a:latin typeface="맑은 고딕" pitchFamily="50" charset="-127"/>
                  <a:ea typeface="맑은 고딕" pitchFamily="50" charset="-127"/>
                </a:rPr>
                <a:t>Keep process stable</a:t>
              </a:r>
              <a:endParaRPr lang="ko-KR" altLang="en-US" sz="1400" b="1" dirty="0">
                <a:solidFill>
                  <a:prstClr val="black"/>
                </a:solidFill>
                <a:latin typeface="맑은 고딕" pitchFamily="50" charset="-127"/>
                <a:ea typeface="맑은 고딕" pitchFamily="50" charset="-127"/>
              </a:endParaRPr>
            </a:p>
          </p:txBody>
        </p:sp>
        <p:sp>
          <p:nvSpPr>
            <p:cNvPr id="40" name="Line 18"/>
            <p:cNvSpPr>
              <a:spLocks noChangeShapeType="1"/>
            </p:cNvSpPr>
            <p:nvPr/>
          </p:nvSpPr>
          <p:spPr bwMode="auto">
            <a:xfrm flipV="1">
              <a:off x="6775460" y="2565400"/>
              <a:ext cx="1160463" cy="22891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41" name="Freeform 20"/>
            <p:cNvSpPr>
              <a:spLocks/>
            </p:cNvSpPr>
            <p:nvPr/>
          </p:nvSpPr>
          <p:spPr bwMode="auto">
            <a:xfrm>
              <a:off x="6664335" y="2525713"/>
              <a:ext cx="1846263" cy="836612"/>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42" name="Line 21"/>
            <p:cNvSpPr>
              <a:spLocks noChangeShapeType="1"/>
            </p:cNvSpPr>
            <p:nvPr/>
          </p:nvSpPr>
          <p:spPr bwMode="auto">
            <a:xfrm>
              <a:off x="6526223" y="3362325"/>
              <a:ext cx="2198687"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43" name="Line 22"/>
            <p:cNvSpPr>
              <a:spLocks noChangeShapeType="1"/>
            </p:cNvSpPr>
            <p:nvPr/>
          </p:nvSpPr>
          <p:spPr bwMode="auto">
            <a:xfrm>
              <a:off x="7561263" y="2579706"/>
              <a:ext cx="0" cy="788987"/>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44" name="Freeform 24"/>
            <p:cNvSpPr>
              <a:spLocks/>
            </p:cNvSpPr>
            <p:nvPr/>
          </p:nvSpPr>
          <p:spPr bwMode="auto">
            <a:xfrm>
              <a:off x="6296035" y="3201988"/>
              <a:ext cx="1846263" cy="838200"/>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45" name="Line 25"/>
            <p:cNvSpPr>
              <a:spLocks noChangeShapeType="1"/>
            </p:cNvSpPr>
            <p:nvPr/>
          </p:nvSpPr>
          <p:spPr bwMode="auto">
            <a:xfrm>
              <a:off x="6157923" y="4040188"/>
              <a:ext cx="2198687"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46" name="Line 26"/>
            <p:cNvSpPr>
              <a:spLocks noChangeShapeType="1"/>
            </p:cNvSpPr>
            <p:nvPr/>
          </p:nvSpPr>
          <p:spPr bwMode="auto">
            <a:xfrm>
              <a:off x="7192963" y="3255968"/>
              <a:ext cx="0" cy="7905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47" name="Freeform 28"/>
            <p:cNvSpPr>
              <a:spLocks/>
            </p:cNvSpPr>
            <p:nvPr/>
          </p:nvSpPr>
          <p:spPr bwMode="auto">
            <a:xfrm>
              <a:off x="5951538" y="3825893"/>
              <a:ext cx="1846262" cy="836613"/>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48" name="Line 29"/>
            <p:cNvSpPr>
              <a:spLocks noChangeShapeType="1"/>
            </p:cNvSpPr>
            <p:nvPr/>
          </p:nvSpPr>
          <p:spPr bwMode="auto">
            <a:xfrm>
              <a:off x="5813426" y="4662488"/>
              <a:ext cx="2198688"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49" name="Line 30"/>
            <p:cNvSpPr>
              <a:spLocks noChangeShapeType="1"/>
            </p:cNvSpPr>
            <p:nvPr/>
          </p:nvSpPr>
          <p:spPr bwMode="auto">
            <a:xfrm>
              <a:off x="6848475" y="3879850"/>
              <a:ext cx="0" cy="788988"/>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50" name="Text Box 32"/>
            <p:cNvSpPr txBox="1">
              <a:spLocks noChangeArrowheads="1"/>
            </p:cNvSpPr>
            <p:nvPr/>
          </p:nvSpPr>
          <p:spPr bwMode="auto">
            <a:xfrm>
              <a:off x="4618050" y="3565526"/>
              <a:ext cx="1670063" cy="7560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spcAft>
                  <a:spcPct val="0"/>
                </a:spcAft>
              </a:pPr>
              <a:r>
                <a:rPr lang="en-US" altLang="ko-KR" b="1" dirty="0">
                  <a:solidFill>
                    <a:prstClr val="black"/>
                  </a:solidFill>
                  <a:latin typeface="맑은 고딕" pitchFamily="50" charset="-127"/>
                  <a:ea typeface="맑은 고딕" pitchFamily="50" charset="-127"/>
                </a:rPr>
                <a:t>Eliminate</a:t>
              </a:r>
            </a:p>
            <a:p>
              <a:pPr eaLnBrk="1" fontAlgn="ctr" hangingPunct="1">
                <a:lnSpc>
                  <a:spcPct val="80000"/>
                </a:lnSpc>
                <a:spcBef>
                  <a:spcPct val="50000"/>
                </a:spcBef>
                <a:spcAft>
                  <a:spcPct val="0"/>
                </a:spcAft>
              </a:pPr>
              <a:r>
                <a:rPr lang="en-US" altLang="ko-KR" b="1" dirty="0">
                  <a:solidFill>
                    <a:prstClr val="black"/>
                  </a:solidFill>
                  <a:latin typeface="맑은 고딕" pitchFamily="50" charset="-127"/>
                  <a:ea typeface="맑은 고딕" pitchFamily="50" charset="-127"/>
                </a:rPr>
                <a:t>chance cause</a:t>
              </a:r>
              <a:endParaRPr lang="ko-KR" altLang="en-US" b="1" dirty="0">
                <a:solidFill>
                  <a:prstClr val="black"/>
                </a:solidFill>
                <a:latin typeface="맑은 고딕" pitchFamily="50" charset="-127"/>
                <a:ea typeface="맑은 고딕" pitchFamily="50" charset="-127"/>
              </a:endParaRPr>
            </a:p>
          </p:txBody>
        </p:sp>
        <p:sp>
          <p:nvSpPr>
            <p:cNvPr id="52" name="Rectangle 67"/>
            <p:cNvSpPr>
              <a:spLocks noChangeArrowheads="1"/>
            </p:cNvSpPr>
            <p:nvPr/>
          </p:nvSpPr>
          <p:spPr bwMode="auto">
            <a:xfrm>
              <a:off x="1125615" y="1351004"/>
              <a:ext cx="3205114" cy="647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buFont typeface="Wingdings" pitchFamily="2" charset="2"/>
                <a:buChar char="§"/>
              </a:pPr>
              <a:r>
                <a:rPr lang="en-US" altLang="ko-KR" sz="1600" b="1" dirty="0">
                  <a:solidFill>
                    <a:prstClr val="black"/>
                  </a:solidFill>
                  <a:latin typeface="맑은 고딕" pitchFamily="50" charset="-127"/>
                  <a:ea typeface="맑은 고딕" pitchFamily="50" charset="-127"/>
                </a:rPr>
                <a:t>Statistical assignable status</a:t>
              </a:r>
            </a:p>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 (process instability)</a:t>
              </a:r>
            </a:p>
          </p:txBody>
        </p:sp>
        <p:sp>
          <p:nvSpPr>
            <p:cNvPr id="53" name="Rectangle 68"/>
            <p:cNvSpPr>
              <a:spLocks noChangeArrowheads="1"/>
            </p:cNvSpPr>
            <p:nvPr/>
          </p:nvSpPr>
          <p:spPr bwMode="auto">
            <a:xfrm>
              <a:off x="5559185" y="1351004"/>
              <a:ext cx="3569795" cy="647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buFont typeface="Wingdings" pitchFamily="2" charset="2"/>
                <a:buChar char="§"/>
              </a:pPr>
              <a:r>
                <a:rPr lang="en-US" altLang="ko-KR" sz="1600" b="1" dirty="0">
                  <a:solidFill>
                    <a:prstClr val="black"/>
                  </a:solidFill>
                  <a:latin typeface="맑은 고딕" pitchFamily="50" charset="-127"/>
                  <a:ea typeface="맑은 고딕" pitchFamily="50" charset="-127"/>
                </a:rPr>
                <a:t>Statistical management status </a:t>
              </a:r>
            </a:p>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 (occurrence chance cause)</a:t>
              </a:r>
            </a:p>
          </p:txBody>
        </p:sp>
      </p:grpSp>
      <p:sp>
        <p:nvSpPr>
          <p:cNvPr id="3" name="직사각형 2"/>
          <p:cNvSpPr/>
          <p:nvPr/>
        </p:nvSpPr>
        <p:spPr>
          <a:xfrm>
            <a:off x="530120" y="764704"/>
            <a:ext cx="8290351" cy="869790"/>
          </a:xfrm>
          <a:prstGeom prst="rect">
            <a:avLst/>
          </a:prstGeom>
        </p:spPr>
        <p:txBody>
          <a:bodyPr wrap="square">
            <a:spAutoFit/>
          </a:bodyPr>
          <a:lstStyle/>
          <a:p>
            <a:pPr fontAlgn="base">
              <a:lnSpc>
                <a:spcPct val="150000"/>
              </a:lnSpc>
              <a:spcBef>
                <a:spcPct val="0"/>
              </a:spcBef>
              <a:spcAft>
                <a:spcPct val="0"/>
              </a:spcAft>
            </a:pPr>
            <a:r>
              <a:rPr kumimoji="1" lang="en-US" altLang="ko-KR" dirty="0">
                <a:solidFill>
                  <a:prstClr val="black"/>
                </a:solidFill>
                <a:latin typeface="굴림" pitchFamily="50" charset="-127"/>
                <a:ea typeface="굴림" pitchFamily="50" charset="-127"/>
              </a:rPr>
              <a:t>The process can be kept in a stable status by early detection and elimination of assignable causes in the process</a:t>
            </a:r>
          </a:p>
        </p:txBody>
      </p:sp>
      <p:sp>
        <p:nvSpPr>
          <p:cNvPr id="54" name="Text Box 10"/>
          <p:cNvSpPr txBox="1">
            <a:spLocks noChangeArrowheads="1"/>
          </p:cNvSpPr>
          <p:nvPr/>
        </p:nvSpPr>
        <p:spPr bwMode="auto">
          <a:xfrm>
            <a:off x="6215074" y="116632"/>
            <a:ext cx="2929235"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Operation of control chart</a:t>
            </a:r>
            <a:endParaRPr lang="ko-KR" altLang="en-US" sz="1600" b="1" dirty="0">
              <a:solidFill>
                <a:prstClr val="black"/>
              </a:solidFill>
              <a:latin typeface="맑은 고딕"/>
              <a:ea typeface="맑은 고딕"/>
            </a:endParaRPr>
          </a:p>
        </p:txBody>
      </p:sp>
      <p:sp>
        <p:nvSpPr>
          <p:cNvPr id="5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265</a:t>
            </a:fld>
            <a:endParaRPr lang="ko-KR" altLang="en-US" sz="1200" dirty="0">
              <a:solidFill>
                <a:prstClr val="black"/>
              </a:solidFill>
            </a:endParaRPr>
          </a:p>
        </p:txBody>
      </p:sp>
      <p:sp>
        <p:nvSpPr>
          <p:cNvPr id="55"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124209720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16802" y="1983696"/>
            <a:ext cx="3063110" cy="17281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dirty="0">
              <a:solidFill>
                <a:prstClr val="white"/>
              </a:solidFill>
            </a:endParaRPr>
          </a:p>
        </p:txBody>
      </p:sp>
      <p:sp>
        <p:nvSpPr>
          <p:cNvPr id="7171" name="Text Box 3"/>
          <p:cNvSpPr txBox="1">
            <a:spLocks noChangeArrowheads="1"/>
          </p:cNvSpPr>
          <p:nvPr/>
        </p:nvSpPr>
        <p:spPr bwMode="auto">
          <a:xfrm>
            <a:off x="317989" y="764704"/>
            <a:ext cx="5160644" cy="350096"/>
          </a:xfrm>
          <a:prstGeom prst="rect">
            <a:avLst/>
          </a:prstGeom>
          <a:noFill/>
          <a:ln>
            <a:noFill/>
          </a:ln>
          <a:effectLst/>
        </p:spPr>
        <p:txBody>
          <a:bodyPr wrap="none" lIns="102870" tIns="51435" rIns="102870" bIns="51435">
            <a:spAutoFit/>
          </a:bodyPr>
          <a:lstStyle>
            <a:defPPr>
              <a:defRPr lang="ko-KR"/>
            </a:defPPr>
            <a:lvl1pPr defTabSz="1028700" eaLnBrk="0" latinLnBrk="0" hangingPunct="0">
              <a:defRPr kumimoji="0" sz="1800" b="1">
                <a:solidFill>
                  <a:srgbClr val="000000"/>
                </a:solidFill>
                <a:latin typeface="+mn-ea"/>
                <a:ea typeface="+mn-ea"/>
              </a:defRPr>
            </a:lvl1pPr>
            <a:lvl2pPr marL="514350" defTabSz="1028700">
              <a:defRPr sz="2400">
                <a:latin typeface="Times New Roman" pitchFamily="18" charset="0"/>
              </a:defRPr>
            </a:lvl2pPr>
            <a:lvl3pPr marL="1028700" defTabSz="1028700">
              <a:defRPr sz="2400">
                <a:latin typeface="Times New Roman" pitchFamily="18" charset="0"/>
              </a:defRPr>
            </a:lvl3pPr>
            <a:lvl4pPr marL="1543050" defTabSz="1028700">
              <a:defRPr sz="2400">
                <a:latin typeface="Times New Roman" pitchFamily="18" charset="0"/>
              </a:defRPr>
            </a:lvl4pPr>
            <a:lvl5pPr marL="2057400" defTabSz="1028700">
              <a:defRPr sz="2400">
                <a:latin typeface="Times New Roman" pitchFamily="18" charset="0"/>
              </a:defRPr>
            </a:lvl5pPr>
            <a:lvl6pPr marL="2514600" defTabSz="1028700" fontAlgn="base">
              <a:spcBef>
                <a:spcPct val="0"/>
              </a:spcBef>
              <a:spcAft>
                <a:spcPct val="0"/>
              </a:spcAft>
              <a:defRPr sz="2400">
                <a:latin typeface="Times New Roman" pitchFamily="18" charset="0"/>
              </a:defRPr>
            </a:lvl6pPr>
            <a:lvl7pPr marL="2971800" defTabSz="1028700" fontAlgn="base">
              <a:spcBef>
                <a:spcPct val="0"/>
              </a:spcBef>
              <a:spcAft>
                <a:spcPct val="0"/>
              </a:spcAft>
              <a:defRPr sz="2400">
                <a:latin typeface="Times New Roman" pitchFamily="18" charset="0"/>
              </a:defRPr>
            </a:lvl7pPr>
            <a:lvl8pPr marL="3429000" defTabSz="1028700" fontAlgn="base">
              <a:spcBef>
                <a:spcPct val="0"/>
              </a:spcBef>
              <a:spcAft>
                <a:spcPct val="0"/>
              </a:spcAft>
              <a:defRPr sz="2400">
                <a:latin typeface="Times New Roman" pitchFamily="18" charset="0"/>
              </a:defRPr>
            </a:lvl8pPr>
            <a:lvl9pPr marL="3886200" defTabSz="1028700" fontAlgn="base">
              <a:spcBef>
                <a:spcPct val="0"/>
              </a:spcBef>
              <a:spcAft>
                <a:spcPct val="0"/>
              </a:spcAft>
              <a:defRPr sz="2400">
                <a:latin typeface="Times New Roman" pitchFamily="18" charset="0"/>
              </a:defRPr>
            </a:lvl9pPr>
          </a:lstStyle>
          <a:p>
            <a:pPr fontAlgn="base">
              <a:spcBef>
                <a:spcPct val="0"/>
              </a:spcBef>
              <a:spcAft>
                <a:spcPct val="0"/>
              </a:spcAft>
              <a:defRPr/>
            </a:pPr>
            <a:r>
              <a:rPr lang="en-US" altLang="ko-KR" sz="1600" dirty="0"/>
              <a:t>(2)</a:t>
            </a:r>
            <a:r>
              <a:rPr lang="en-US" altLang="ko-KR" sz="1600" dirty="0" err="1"/>
              <a:t>Nguyên</a:t>
            </a:r>
            <a:r>
              <a:rPr lang="en-US" altLang="ko-KR" sz="1600" dirty="0"/>
              <a:t> </a:t>
            </a:r>
            <a:r>
              <a:rPr lang="en-US" altLang="ko-KR" sz="1600" dirty="0" err="1"/>
              <a:t>nhân</a:t>
            </a:r>
            <a:r>
              <a:rPr lang="en-US" altLang="ko-KR" sz="1600" dirty="0"/>
              <a:t> </a:t>
            </a:r>
            <a:r>
              <a:rPr lang="en-US" altLang="ko-KR" sz="1600" dirty="0" err="1"/>
              <a:t>không</a:t>
            </a:r>
            <a:r>
              <a:rPr lang="en-US" altLang="ko-KR" sz="1600" dirty="0"/>
              <a:t> </a:t>
            </a:r>
            <a:r>
              <a:rPr lang="en-US" altLang="ko-KR" sz="1600" dirty="0" err="1"/>
              <a:t>ngẫu</a:t>
            </a:r>
            <a:r>
              <a:rPr lang="en-US" altLang="ko-KR" sz="1600" dirty="0"/>
              <a:t> </a:t>
            </a:r>
            <a:r>
              <a:rPr lang="en-US" altLang="ko-KR" sz="1600" dirty="0" err="1"/>
              <a:t>nhiên</a:t>
            </a:r>
            <a:r>
              <a:rPr lang="ko-KR" altLang="en-US" sz="1600" dirty="0"/>
              <a:t> </a:t>
            </a:r>
            <a:r>
              <a:rPr lang="en-US" altLang="ko-KR" sz="1600" dirty="0"/>
              <a:t>(special cause)</a:t>
            </a:r>
          </a:p>
        </p:txBody>
      </p:sp>
      <p:sp>
        <p:nvSpPr>
          <p:cNvPr id="7172" name="Rectangle 4"/>
          <p:cNvSpPr>
            <a:spLocks noChangeArrowheads="1"/>
          </p:cNvSpPr>
          <p:nvPr/>
        </p:nvSpPr>
        <p:spPr bwMode="auto">
          <a:xfrm>
            <a:off x="457201" y="1143000"/>
            <a:ext cx="7772399" cy="596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2870" tIns="51435" rIns="102870" bIns="51435">
            <a:spAutoFit/>
          </a:bodyPr>
          <a:lstStyle>
            <a:lvl1pPr marL="211138" indent="-211138" defTabSz="1028700" eaLnBrk="0" hangingPunct="0">
              <a:defRPr kumimoji="1">
                <a:solidFill>
                  <a:schemeClr val="tx1"/>
                </a:solidFill>
                <a:latin typeface="굴림" pitchFamily="50" charset="-127"/>
                <a:ea typeface="굴림" pitchFamily="50" charset="-127"/>
              </a:defRPr>
            </a:lvl1pPr>
            <a:lvl2pPr marL="742950" indent="-285750" defTabSz="1028700" eaLnBrk="0" hangingPunct="0">
              <a:defRPr kumimoji="1">
                <a:solidFill>
                  <a:schemeClr val="tx1"/>
                </a:solidFill>
                <a:latin typeface="굴림" pitchFamily="50" charset="-127"/>
                <a:ea typeface="굴림" pitchFamily="50" charset="-127"/>
              </a:defRPr>
            </a:lvl2pPr>
            <a:lvl3pPr marL="1143000" indent="-228600" defTabSz="1028700" eaLnBrk="0" hangingPunct="0">
              <a:defRPr kumimoji="1">
                <a:solidFill>
                  <a:schemeClr val="tx1"/>
                </a:solidFill>
                <a:latin typeface="굴림" pitchFamily="50" charset="-127"/>
                <a:ea typeface="굴림" pitchFamily="50" charset="-127"/>
              </a:defRPr>
            </a:lvl3pPr>
            <a:lvl4pPr marL="1600200" indent="-228600" defTabSz="1028700" eaLnBrk="0" hangingPunct="0">
              <a:defRPr kumimoji="1">
                <a:solidFill>
                  <a:schemeClr val="tx1"/>
                </a:solidFill>
                <a:latin typeface="굴림" pitchFamily="50" charset="-127"/>
                <a:ea typeface="굴림" pitchFamily="50" charset="-127"/>
              </a:defRPr>
            </a:lvl4pPr>
            <a:lvl5pPr marL="2057400" indent="-228600" defTabSz="1028700" eaLnBrk="0" hangingPunct="0">
              <a:defRPr kumimoji="1">
                <a:solidFill>
                  <a:schemeClr val="tx1"/>
                </a:solidFill>
                <a:latin typeface="굴림" pitchFamily="50" charset="-127"/>
                <a:ea typeface="굴림" pitchFamily="50" charset="-127"/>
              </a:defRPr>
            </a:lvl5pPr>
            <a:lvl6pPr marL="25146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fontAlgn="base" latinLnBrk="0">
              <a:spcBef>
                <a:spcPct val="0"/>
              </a:spcBef>
              <a:spcAft>
                <a:spcPct val="0"/>
              </a:spcAft>
            </a:pPr>
            <a:r>
              <a:rPr kumimoji="0" lang="en-US" altLang="ko-KR" sz="1600" b="1" dirty="0" err="1">
                <a:solidFill>
                  <a:prstClr val="black"/>
                </a:solidFill>
                <a:latin typeface="맑은 고딕" pitchFamily="50" charset="-127"/>
                <a:ea typeface="맑은 고딕" pitchFamily="50" charset="-127"/>
              </a:rPr>
              <a:t>Không</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phải</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là</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nguyên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nhân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tồn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tại</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mãn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tính</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lâu</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dài</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là</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nguyên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nhân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phát</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sinh</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bất</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ngờ</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đột</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ngột</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làm</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ảnh</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hưởng</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đến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chất</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lượng</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sản</a:t>
            </a:r>
            <a:r>
              <a:rPr kumimoji="0" lang="en-US" altLang="ko-KR" sz="1600" b="1" dirty="0">
                <a:solidFill>
                  <a:prstClr val="black"/>
                </a:solidFill>
                <a:latin typeface="맑은 고딕" pitchFamily="50" charset="-127"/>
                <a:ea typeface="맑은 고딕" pitchFamily="50" charset="-127"/>
              </a:rPr>
              <a:t> </a:t>
            </a:r>
            <a:r>
              <a:rPr kumimoji="0" lang="en-US" altLang="ko-KR" sz="1600" b="1" dirty="0" err="1">
                <a:solidFill>
                  <a:prstClr val="black"/>
                </a:solidFill>
                <a:latin typeface="맑은 고딕" pitchFamily="50" charset="-127"/>
                <a:ea typeface="맑은 고딕" pitchFamily="50" charset="-127"/>
              </a:rPr>
              <a:t>phẩm</a:t>
            </a:r>
            <a:endParaRPr kumimoji="0" lang="ko-KR" altLang="en-US" sz="800" dirty="0">
              <a:solidFill>
                <a:prstClr val="black"/>
              </a:solidFill>
              <a:latin typeface="맑은 고딕" pitchFamily="50" charset="-127"/>
              <a:ea typeface="맑은 고딕" pitchFamily="50" charset="-127"/>
            </a:endParaRPr>
          </a:p>
        </p:txBody>
      </p:sp>
      <p:sp>
        <p:nvSpPr>
          <p:cNvPr id="7173" name="Rectangle 9"/>
          <p:cNvSpPr>
            <a:spLocks noChangeArrowheads="1"/>
          </p:cNvSpPr>
          <p:nvPr/>
        </p:nvSpPr>
        <p:spPr bwMode="auto">
          <a:xfrm>
            <a:off x="4205654" y="1844824"/>
            <a:ext cx="4237892" cy="3451225"/>
          </a:xfrm>
          <a:prstGeom prst="rect">
            <a:avLst/>
          </a:prstGeom>
          <a:noFill/>
          <a:ln w="12700"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lIns="162000" rIns="162000"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dirty="0">
              <a:solidFill>
                <a:prstClr val="black"/>
              </a:solidFill>
              <a:latin typeface="맑은 고딕" pitchFamily="50" charset="-127"/>
              <a:ea typeface="맑은 고딕" pitchFamily="50" charset="-127"/>
            </a:endParaRPr>
          </a:p>
        </p:txBody>
      </p:sp>
      <p:sp>
        <p:nvSpPr>
          <p:cNvPr id="7174" name="Text Box 10"/>
          <p:cNvSpPr txBox="1">
            <a:spLocks noChangeArrowheads="1"/>
          </p:cNvSpPr>
          <p:nvPr/>
        </p:nvSpPr>
        <p:spPr bwMode="auto">
          <a:xfrm>
            <a:off x="4191000" y="1881542"/>
            <a:ext cx="4295087" cy="96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02870" tIns="51435" rIns="102870" bIns="51435">
            <a:spAutoFit/>
          </a:bodyPr>
          <a:lstStyle>
            <a:lvl1pPr defTabSz="1028700" eaLnBrk="0" hangingPunct="0">
              <a:defRPr kumimoji="1">
                <a:solidFill>
                  <a:schemeClr val="tx1"/>
                </a:solidFill>
                <a:latin typeface="굴림" pitchFamily="50" charset="-127"/>
                <a:ea typeface="굴림" pitchFamily="50" charset="-127"/>
              </a:defRPr>
            </a:lvl1pPr>
            <a:lvl2pPr marL="742950" indent="-285750" defTabSz="1028700" eaLnBrk="0" hangingPunct="0">
              <a:defRPr kumimoji="1">
                <a:solidFill>
                  <a:schemeClr val="tx1"/>
                </a:solidFill>
                <a:latin typeface="굴림" pitchFamily="50" charset="-127"/>
                <a:ea typeface="굴림" pitchFamily="50" charset="-127"/>
              </a:defRPr>
            </a:lvl2pPr>
            <a:lvl3pPr marL="1143000" indent="-228600" defTabSz="1028700" eaLnBrk="0" hangingPunct="0">
              <a:defRPr kumimoji="1">
                <a:solidFill>
                  <a:schemeClr val="tx1"/>
                </a:solidFill>
                <a:latin typeface="굴림" pitchFamily="50" charset="-127"/>
                <a:ea typeface="굴림" pitchFamily="50" charset="-127"/>
              </a:defRPr>
            </a:lvl3pPr>
            <a:lvl4pPr marL="1600200" indent="-228600" defTabSz="1028700" eaLnBrk="0" hangingPunct="0">
              <a:defRPr kumimoji="1">
                <a:solidFill>
                  <a:schemeClr val="tx1"/>
                </a:solidFill>
                <a:latin typeface="굴림" pitchFamily="50" charset="-127"/>
                <a:ea typeface="굴림" pitchFamily="50" charset="-127"/>
              </a:defRPr>
            </a:lvl4pPr>
            <a:lvl5pPr marL="2057400" indent="-228600" defTabSz="1028700" eaLnBrk="0" hangingPunct="0">
              <a:defRPr kumimoji="1">
                <a:solidFill>
                  <a:schemeClr val="tx1"/>
                </a:solidFill>
                <a:latin typeface="굴림" pitchFamily="50" charset="-127"/>
                <a:ea typeface="굴림" pitchFamily="50" charset="-127"/>
              </a:defRPr>
            </a:lvl5pPr>
            <a:lvl6pPr marL="25146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10287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fontAlgn="base" latinLnBrk="0">
              <a:spcBef>
                <a:spcPct val="0"/>
              </a:spcBef>
              <a:spcAft>
                <a:spcPct val="0"/>
              </a:spcAft>
            </a:pPr>
            <a:r>
              <a:rPr kumimoji="0" lang="en-US" altLang="ko-KR" sz="1400" dirty="0">
                <a:solidFill>
                  <a:srgbClr val="000000"/>
                </a:solidFill>
                <a:latin typeface="맑은 고딕" pitchFamily="50" charset="-127"/>
                <a:ea typeface="맑은 고딕" pitchFamily="50" charset="-127"/>
              </a:rPr>
              <a:t>Process do </a:t>
            </a:r>
            <a:r>
              <a:rPr kumimoji="0" lang="en-US" altLang="ko-KR" sz="1400" dirty="0" err="1">
                <a:solidFill>
                  <a:srgbClr val="000000"/>
                </a:solidFill>
                <a:latin typeface="맑은 고딕" pitchFamily="50" charset="-127"/>
                <a:ea typeface="맑은 고딕" pitchFamily="50" charset="-127"/>
              </a:rPr>
              <a:t>nguyên</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nhân</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không</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ngẫu</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nhiên</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Sự</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di</a:t>
            </a:r>
            <a:endParaRPr kumimoji="0" lang="en-US" altLang="ko-KR" sz="1400" dirty="0">
              <a:solidFill>
                <a:srgbClr val="000000"/>
              </a:solidFill>
              <a:latin typeface="맑은 고딕" pitchFamily="50" charset="-127"/>
              <a:ea typeface="맑은 고딕" pitchFamily="50" charset="-127"/>
            </a:endParaRPr>
          </a:p>
          <a:p>
            <a:pPr fontAlgn="base" latinLnBrk="0">
              <a:spcBef>
                <a:spcPct val="0"/>
              </a:spcBef>
              <a:spcAft>
                <a:spcPct val="0"/>
              </a:spcAft>
            </a:pPr>
            <a:r>
              <a:rPr kumimoji="0" lang="en-US" altLang="ko-KR" sz="1400" dirty="0" err="1">
                <a:solidFill>
                  <a:srgbClr val="000000"/>
                </a:solidFill>
                <a:latin typeface="맑은 고딕" pitchFamily="50" charset="-127"/>
                <a:ea typeface="맑은 고딕" pitchFamily="50" charset="-127"/>
              </a:rPr>
              <a:t>chuyển</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của</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những</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chấm</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không</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theo</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ngẫu</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nhiên</a:t>
            </a:r>
            <a:endParaRPr kumimoji="0" lang="en-US" altLang="ko-KR" sz="1400" dirty="0">
              <a:solidFill>
                <a:srgbClr val="000000"/>
              </a:solidFill>
              <a:latin typeface="맑은 고딕" pitchFamily="50" charset="-127"/>
              <a:ea typeface="맑은 고딕" pitchFamily="50" charset="-127"/>
            </a:endParaRPr>
          </a:p>
          <a:p>
            <a:pPr fontAlgn="base" latinLnBrk="0">
              <a:spcBef>
                <a:spcPct val="0"/>
              </a:spcBef>
              <a:spcAft>
                <a:spcPct val="0"/>
              </a:spcAft>
            </a:pPr>
            <a:r>
              <a:rPr kumimoji="0" lang="en-US" altLang="ko-KR" sz="1400" dirty="0" err="1">
                <a:solidFill>
                  <a:srgbClr val="000000"/>
                </a:solidFill>
                <a:latin typeface="맑은 고딕" pitchFamily="50" charset="-127"/>
                <a:ea typeface="맑은 고딕" pitchFamily="50" charset="-127"/>
              </a:rPr>
              <a:t>mà</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phát</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sinh</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theo</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những</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tình</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huống</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đặc</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biệt</a:t>
            </a:r>
            <a:r>
              <a:rPr kumimoji="0" lang="en-US" altLang="ko-KR" sz="1400" dirty="0">
                <a:solidFill>
                  <a:srgbClr val="000000"/>
                </a:solidFill>
                <a:latin typeface="맑은 고딕" pitchFamily="50" charset="-127"/>
                <a:ea typeface="맑은 고딕" pitchFamily="50" charset="-127"/>
              </a:rPr>
              <a:t>, </a:t>
            </a:r>
          </a:p>
          <a:p>
            <a:pPr fontAlgn="base" latinLnBrk="0">
              <a:spcBef>
                <a:spcPct val="0"/>
              </a:spcBef>
              <a:spcAft>
                <a:spcPct val="0"/>
              </a:spcAft>
            </a:pPr>
            <a:r>
              <a:rPr kumimoji="0" lang="en-US" altLang="ko-KR" sz="1400" dirty="0" err="1">
                <a:solidFill>
                  <a:srgbClr val="000000"/>
                </a:solidFill>
                <a:latin typeface="맑은 고딕" pitchFamily="50" charset="-127"/>
                <a:ea typeface="맑은 고딕" pitchFamily="50" charset="-127"/>
              </a:rPr>
              <a:t>Chính</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vì</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vậy</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mà</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không</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thể</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dự</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đoán</a:t>
            </a:r>
            <a:r>
              <a:rPr kumimoji="0" lang="en-US" altLang="ko-KR" sz="1400" dirty="0">
                <a:solidFill>
                  <a:srgbClr val="000000"/>
                </a:solidFill>
                <a:latin typeface="맑은 고딕" pitchFamily="50" charset="-127"/>
                <a:ea typeface="맑은 고딕" pitchFamily="50" charset="-127"/>
              </a:rPr>
              <a:t> </a:t>
            </a:r>
            <a:r>
              <a:rPr kumimoji="0" lang="en-US" altLang="ko-KR" sz="1400" dirty="0" err="1">
                <a:solidFill>
                  <a:srgbClr val="000000"/>
                </a:solidFill>
                <a:latin typeface="맑은 고딕" pitchFamily="50" charset="-127"/>
                <a:ea typeface="맑은 고딕" pitchFamily="50" charset="-127"/>
              </a:rPr>
              <a:t>được</a:t>
            </a:r>
            <a:endParaRPr lang="en-US" altLang="ko-KR" sz="2400" dirty="0">
              <a:solidFill>
                <a:prstClr val="black"/>
              </a:solidFill>
              <a:latin typeface="맑은 고딕" pitchFamily="50" charset="-127"/>
              <a:ea typeface="맑은 고딕" pitchFamily="50" charset="-127"/>
            </a:endParaRPr>
          </a:p>
        </p:txBody>
      </p:sp>
      <p:pic>
        <p:nvPicPr>
          <p:cNvPr id="7175" name="Picture 31" descr="1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89184" y="3006889"/>
            <a:ext cx="4000500"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 name="Text Box 32"/>
          <p:cNvSpPr txBox="1">
            <a:spLocks noChangeArrowheads="1"/>
          </p:cNvSpPr>
          <p:nvPr/>
        </p:nvSpPr>
        <p:spPr bwMode="auto">
          <a:xfrm>
            <a:off x="4062462" y="4732480"/>
            <a:ext cx="6527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100" b="1" dirty="0" err="1">
                <a:solidFill>
                  <a:prstClr val="black"/>
                </a:solidFill>
                <a:latin typeface="맑은 고딕" pitchFamily="50" charset="-127"/>
                <a:ea typeface="맑은 고딕" pitchFamily="50" charset="-127"/>
              </a:rPr>
              <a:t>Dộ</a:t>
            </a:r>
            <a:r>
              <a:rPr lang="en-US" altLang="ko-KR" sz="1100" b="1" dirty="0">
                <a:solidFill>
                  <a:prstClr val="black"/>
                </a:solidFill>
                <a:latin typeface="맑은 고딕" pitchFamily="50" charset="-127"/>
                <a:ea typeface="맑은 고딕" pitchFamily="50" charset="-127"/>
              </a:rPr>
              <a:t> </a:t>
            </a:r>
            <a:r>
              <a:rPr lang="en-US" altLang="ko-KR" sz="1100" b="1" dirty="0" err="1">
                <a:solidFill>
                  <a:prstClr val="black"/>
                </a:solidFill>
                <a:latin typeface="맑은 고딕" pitchFamily="50" charset="-127"/>
                <a:ea typeface="맑은 고딕" pitchFamily="50" charset="-127"/>
              </a:rPr>
              <a:t>lớn</a:t>
            </a:r>
            <a:endParaRPr lang="ko-KR" altLang="en-US" sz="1100" b="1" dirty="0">
              <a:solidFill>
                <a:prstClr val="black"/>
              </a:solidFill>
              <a:latin typeface="맑은 고딕" pitchFamily="50" charset="-127"/>
              <a:ea typeface="맑은 고딕" pitchFamily="50" charset="-127"/>
            </a:endParaRPr>
          </a:p>
        </p:txBody>
      </p:sp>
      <p:sp>
        <p:nvSpPr>
          <p:cNvPr id="7177" name="Text Box 33"/>
          <p:cNvSpPr txBox="1">
            <a:spLocks noChangeArrowheads="1"/>
          </p:cNvSpPr>
          <p:nvPr/>
        </p:nvSpPr>
        <p:spPr bwMode="auto">
          <a:xfrm>
            <a:off x="7113392" y="3586752"/>
            <a:ext cx="1523174" cy="176972"/>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lnSpc>
                <a:spcPct val="50000"/>
              </a:lnSpc>
              <a:spcBef>
                <a:spcPct val="0"/>
              </a:spcBef>
              <a:spcAft>
                <a:spcPct val="0"/>
              </a:spcAft>
            </a:pPr>
            <a:r>
              <a:rPr lang="en-US" altLang="ko-KR" sz="1100" b="1" dirty="0" err="1">
                <a:solidFill>
                  <a:prstClr val="black"/>
                </a:solidFill>
                <a:latin typeface="맑은 고딕" pitchFamily="50" charset="-127"/>
                <a:ea typeface="맑은 고딕" pitchFamily="50" charset="-127"/>
              </a:rPr>
              <a:t>Không</a:t>
            </a:r>
            <a:r>
              <a:rPr lang="en-US" altLang="ko-KR" sz="1100" b="1" dirty="0">
                <a:solidFill>
                  <a:prstClr val="black"/>
                </a:solidFill>
                <a:latin typeface="맑은 고딕" pitchFamily="50" charset="-127"/>
                <a:ea typeface="맑은 고딕" pitchFamily="50" charset="-127"/>
              </a:rPr>
              <a:t> </a:t>
            </a:r>
            <a:r>
              <a:rPr lang="en-US" altLang="ko-KR" sz="1100" b="1" dirty="0" err="1">
                <a:solidFill>
                  <a:prstClr val="black"/>
                </a:solidFill>
                <a:latin typeface="맑은 고딕" pitchFamily="50" charset="-127"/>
                <a:ea typeface="맑은 고딕" pitchFamily="50" charset="-127"/>
              </a:rPr>
              <a:t>thể</a:t>
            </a:r>
            <a:r>
              <a:rPr lang="en-US" altLang="ko-KR" sz="1100" b="1" dirty="0">
                <a:solidFill>
                  <a:prstClr val="black"/>
                </a:solidFill>
                <a:latin typeface="맑은 고딕" pitchFamily="50" charset="-127"/>
                <a:ea typeface="맑은 고딕" pitchFamily="50" charset="-127"/>
              </a:rPr>
              <a:t> </a:t>
            </a:r>
            <a:r>
              <a:rPr lang="en-US" altLang="ko-KR" sz="1100" b="1" dirty="0" err="1">
                <a:solidFill>
                  <a:prstClr val="black"/>
                </a:solidFill>
                <a:latin typeface="맑은 고딕" pitchFamily="50" charset="-127"/>
                <a:ea typeface="맑은 고딕" pitchFamily="50" charset="-127"/>
              </a:rPr>
              <a:t>dự</a:t>
            </a:r>
            <a:r>
              <a:rPr lang="en-US" altLang="ko-KR" sz="1100" b="1" dirty="0">
                <a:solidFill>
                  <a:prstClr val="black"/>
                </a:solidFill>
                <a:latin typeface="맑은 고딕" pitchFamily="50" charset="-127"/>
                <a:ea typeface="맑은 고딕" pitchFamily="50" charset="-127"/>
              </a:rPr>
              <a:t> </a:t>
            </a:r>
            <a:r>
              <a:rPr lang="en-US" altLang="ko-KR" sz="1100" b="1" dirty="0" err="1">
                <a:solidFill>
                  <a:prstClr val="black"/>
                </a:solidFill>
                <a:latin typeface="맑은 고딕" pitchFamily="50" charset="-127"/>
                <a:ea typeface="맑은 고딕" pitchFamily="50" charset="-127"/>
              </a:rPr>
              <a:t>đoán</a:t>
            </a:r>
            <a:endParaRPr lang="ko-KR" altLang="en-US" sz="1100" b="1" dirty="0">
              <a:solidFill>
                <a:prstClr val="black"/>
              </a:solidFill>
              <a:latin typeface="맑은 고딕" pitchFamily="50" charset="-127"/>
              <a:ea typeface="맑은 고딕" pitchFamily="50" charset="-127"/>
            </a:endParaRPr>
          </a:p>
        </p:txBody>
      </p:sp>
      <p:sp>
        <p:nvSpPr>
          <p:cNvPr id="7178" name="Text Box 34"/>
          <p:cNvSpPr txBox="1">
            <a:spLocks noChangeArrowheads="1"/>
          </p:cNvSpPr>
          <p:nvPr/>
        </p:nvSpPr>
        <p:spPr bwMode="auto">
          <a:xfrm rot="-1636469">
            <a:off x="6094541" y="4462626"/>
            <a:ext cx="930519" cy="227013"/>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lnSpc>
                <a:spcPct val="80000"/>
              </a:lnSpc>
              <a:spcBef>
                <a:spcPct val="0"/>
              </a:spcBef>
              <a:spcAft>
                <a:spcPct val="0"/>
              </a:spcAft>
            </a:pPr>
            <a:r>
              <a:rPr lang="en-US" altLang="ko-KR" sz="1100" b="1" dirty="0" err="1">
                <a:solidFill>
                  <a:prstClr val="black"/>
                </a:solidFill>
                <a:latin typeface="맑은 고딕" pitchFamily="50" charset="-127"/>
                <a:ea typeface="맑은 고딕" pitchFamily="50" charset="-127"/>
              </a:rPr>
              <a:t>Thời</a:t>
            </a:r>
            <a:r>
              <a:rPr lang="en-US" altLang="ko-KR" sz="1100" b="1" dirty="0">
                <a:solidFill>
                  <a:prstClr val="black"/>
                </a:solidFill>
                <a:latin typeface="맑은 고딕" pitchFamily="50" charset="-127"/>
                <a:ea typeface="맑은 고딕" pitchFamily="50" charset="-127"/>
              </a:rPr>
              <a:t> </a:t>
            </a:r>
            <a:r>
              <a:rPr lang="en-US" altLang="ko-KR" sz="1100" b="1" dirty="0" err="1">
                <a:solidFill>
                  <a:prstClr val="black"/>
                </a:solidFill>
                <a:latin typeface="맑은 고딕" pitchFamily="50" charset="-127"/>
                <a:ea typeface="맑은 고딕" pitchFamily="50" charset="-127"/>
              </a:rPr>
              <a:t>gian</a:t>
            </a:r>
            <a:endParaRPr lang="ko-KR" altLang="en-US" sz="1100" b="1" dirty="0">
              <a:solidFill>
                <a:prstClr val="black"/>
              </a:solidFill>
              <a:latin typeface="맑은 고딕" pitchFamily="50" charset="-127"/>
              <a:ea typeface="맑은 고딕" pitchFamily="50" charset="-127"/>
            </a:endParaRPr>
          </a:p>
        </p:txBody>
      </p:sp>
      <p:sp>
        <p:nvSpPr>
          <p:cNvPr id="7179" name="Text Box 35"/>
          <p:cNvSpPr txBox="1">
            <a:spLocks noChangeArrowheads="1"/>
          </p:cNvSpPr>
          <p:nvPr/>
        </p:nvSpPr>
        <p:spPr bwMode="auto">
          <a:xfrm rot="-1636469">
            <a:off x="5999285" y="4313401"/>
            <a:ext cx="999392" cy="214313"/>
          </a:xfrm>
          <a:prstGeom prst="rect">
            <a:avLst/>
          </a:prstGeom>
          <a:solidFill>
            <a:schemeClr val="bg1"/>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a:spAutoFit/>
          </a:bodyPr>
          <a:lstStyle>
            <a:lvl1pPr defTabSz="911225" eaLnBrk="0" hangingPunct="0">
              <a:defRPr kumimoji="1">
                <a:solidFill>
                  <a:schemeClr val="tx1"/>
                </a:solidFill>
                <a:latin typeface="굴림" pitchFamily="50" charset="-127"/>
                <a:ea typeface="굴림" pitchFamily="50" charset="-127"/>
              </a:defRPr>
            </a:lvl1pPr>
            <a:lvl2pPr marL="742950" indent="-285750" defTabSz="911225" eaLnBrk="0" hangingPunct="0">
              <a:defRPr kumimoji="1">
                <a:solidFill>
                  <a:schemeClr val="tx1"/>
                </a:solidFill>
                <a:latin typeface="굴림" pitchFamily="50" charset="-127"/>
                <a:ea typeface="굴림" pitchFamily="50" charset="-127"/>
              </a:defRPr>
            </a:lvl2pPr>
            <a:lvl3pPr marL="1143000" indent="-228600" defTabSz="911225" eaLnBrk="0" hangingPunct="0">
              <a:defRPr kumimoji="1">
                <a:solidFill>
                  <a:schemeClr val="tx1"/>
                </a:solidFill>
                <a:latin typeface="굴림" pitchFamily="50" charset="-127"/>
                <a:ea typeface="굴림" pitchFamily="50" charset="-127"/>
              </a:defRPr>
            </a:lvl3pPr>
            <a:lvl4pPr marL="1600200" indent="-228600" defTabSz="911225" eaLnBrk="0" hangingPunct="0">
              <a:defRPr kumimoji="1">
                <a:solidFill>
                  <a:schemeClr val="tx1"/>
                </a:solidFill>
                <a:latin typeface="굴림" pitchFamily="50" charset="-127"/>
                <a:ea typeface="굴림" pitchFamily="50" charset="-127"/>
              </a:defRPr>
            </a:lvl4pPr>
            <a:lvl5pPr marL="2057400" indent="-228600" defTabSz="911225" eaLnBrk="0" hangingPunct="0">
              <a:defRPr kumimoji="1">
                <a:solidFill>
                  <a:schemeClr val="tx1"/>
                </a:solidFill>
                <a:latin typeface="굴림" pitchFamily="50" charset="-127"/>
                <a:ea typeface="굴림" pitchFamily="50" charset="-127"/>
              </a:defRPr>
            </a:lvl5pPr>
            <a:lvl6pPr marL="25146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11225"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lnSpc>
                <a:spcPct val="80000"/>
              </a:lnSpc>
              <a:spcBef>
                <a:spcPct val="0"/>
              </a:spcBef>
              <a:spcAft>
                <a:spcPct val="0"/>
              </a:spcAft>
            </a:pPr>
            <a:endParaRPr lang="ko-KR" altLang="ko-KR" sz="1000" dirty="0">
              <a:solidFill>
                <a:prstClr val="black"/>
              </a:solidFill>
              <a:latin typeface="맑은 고딕" pitchFamily="50" charset="-127"/>
              <a:ea typeface="맑은 고딕" pitchFamily="50" charset="-127"/>
            </a:endParaRPr>
          </a:p>
        </p:txBody>
      </p:sp>
      <p:sp>
        <p:nvSpPr>
          <p:cNvPr id="7180" name="Line 37"/>
          <p:cNvSpPr>
            <a:spLocks noChangeShapeType="1"/>
          </p:cNvSpPr>
          <p:nvPr/>
        </p:nvSpPr>
        <p:spPr bwMode="auto">
          <a:xfrm rot="21337706" flipV="1">
            <a:off x="6110664" y="4241943"/>
            <a:ext cx="760535" cy="39846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kumimoji="1" lang="ko-KR" altLang="en-US" dirty="0">
              <a:solidFill>
                <a:prstClr val="black"/>
              </a:solidFill>
              <a:latin typeface="굴림" pitchFamily="50" charset="-127"/>
              <a:ea typeface="굴림" pitchFamily="50" charset="-127"/>
            </a:endParaRPr>
          </a:p>
        </p:txBody>
      </p:sp>
      <p:sp>
        <p:nvSpPr>
          <p:cNvPr id="3" name="직사각형 2"/>
          <p:cNvSpPr/>
          <p:nvPr/>
        </p:nvSpPr>
        <p:spPr>
          <a:xfrm>
            <a:off x="609600" y="1905000"/>
            <a:ext cx="3352800" cy="2899255"/>
          </a:xfrm>
          <a:prstGeom prst="rect">
            <a:avLst/>
          </a:prstGeom>
        </p:spPr>
        <p:txBody>
          <a:bodyPr wrap="square">
            <a:spAutoFit/>
          </a:bodyPr>
          <a:lstStyle/>
          <a:p>
            <a:pPr fontAlgn="base" latinLnBrk="0">
              <a:spcBef>
                <a:spcPct val="0"/>
              </a:spcBef>
              <a:spcAft>
                <a:spcPct val="0"/>
              </a:spcAft>
              <a:buFontTx/>
              <a:buChar char="•"/>
            </a:pPr>
            <a:r>
              <a:rPr lang="ko-KR" altLang="en-US" sz="1600" dirty="0">
                <a:solidFill>
                  <a:prstClr val="black"/>
                </a:solidFill>
              </a:rPr>
              <a:t> </a:t>
            </a:r>
            <a:r>
              <a:rPr lang="en-US" altLang="ko-KR" sz="1600" dirty="0" err="1">
                <a:solidFill>
                  <a:prstClr val="black"/>
                </a:solidFill>
              </a:rPr>
              <a:t>Sự</a:t>
            </a:r>
            <a:r>
              <a:rPr lang="en-US" altLang="ko-KR" sz="1600" dirty="0">
                <a:solidFill>
                  <a:prstClr val="black"/>
                </a:solidFill>
              </a:rPr>
              <a:t> </a:t>
            </a:r>
            <a:r>
              <a:rPr lang="en-US" altLang="ko-KR" sz="1600" dirty="0" err="1">
                <a:solidFill>
                  <a:prstClr val="black"/>
                </a:solidFill>
              </a:rPr>
              <a:t>không</a:t>
            </a:r>
            <a:r>
              <a:rPr lang="en-US" altLang="ko-KR" sz="1600" dirty="0">
                <a:solidFill>
                  <a:prstClr val="black"/>
                </a:solidFill>
              </a:rPr>
              <a:t> </a:t>
            </a:r>
            <a:r>
              <a:rPr lang="en-US" altLang="ko-KR" sz="1600" dirty="0" err="1">
                <a:solidFill>
                  <a:prstClr val="black"/>
                </a:solidFill>
              </a:rPr>
              <a:t>chú</a:t>
            </a:r>
            <a:r>
              <a:rPr lang="en-US" altLang="ko-KR" sz="1600" dirty="0">
                <a:solidFill>
                  <a:prstClr val="black"/>
                </a:solidFill>
              </a:rPr>
              <a:t> ý </a:t>
            </a:r>
            <a:r>
              <a:rPr lang="en-US" altLang="ko-KR" sz="1600" dirty="0" err="1">
                <a:solidFill>
                  <a:prstClr val="black"/>
                </a:solidFill>
              </a:rPr>
              <a:t>của</a:t>
            </a:r>
            <a:r>
              <a:rPr lang="en-US" altLang="ko-KR" sz="1600" dirty="0">
                <a:solidFill>
                  <a:prstClr val="black"/>
                </a:solidFill>
              </a:rPr>
              <a:t> </a:t>
            </a:r>
            <a:r>
              <a:rPr lang="en-US" altLang="ko-KR" sz="1600" dirty="0" err="1">
                <a:solidFill>
                  <a:prstClr val="black"/>
                </a:solidFill>
              </a:rPr>
              <a:t>công</a:t>
            </a:r>
            <a:r>
              <a:rPr lang="en-US" altLang="ko-KR" sz="1600" dirty="0">
                <a:solidFill>
                  <a:prstClr val="black"/>
                </a:solidFill>
              </a:rPr>
              <a:t> </a:t>
            </a:r>
            <a:r>
              <a:rPr lang="en-US" altLang="ko-KR" sz="1600" dirty="0" err="1">
                <a:solidFill>
                  <a:prstClr val="black"/>
                </a:solidFill>
              </a:rPr>
              <a:t>nhân</a:t>
            </a:r>
            <a:endParaRPr lang="ko-KR" altLang="en-US" sz="1600" dirty="0">
              <a:solidFill>
                <a:prstClr val="black"/>
              </a:solidFill>
            </a:endParaRPr>
          </a:p>
          <a:p>
            <a:pPr fontAlgn="base" latinLnBrk="0">
              <a:lnSpc>
                <a:spcPct val="130000"/>
              </a:lnSpc>
              <a:spcBef>
                <a:spcPct val="0"/>
              </a:spcBef>
              <a:spcAft>
                <a:spcPct val="0"/>
              </a:spcAft>
              <a:buFontTx/>
              <a:buChar char="•"/>
            </a:pPr>
            <a:r>
              <a:rPr lang="ko-KR" altLang="en-US" sz="1600" dirty="0">
                <a:solidFill>
                  <a:prstClr val="black"/>
                </a:solidFill>
              </a:rPr>
              <a:t> </a:t>
            </a:r>
            <a:r>
              <a:rPr lang="en-US" altLang="ko-KR" sz="1600" dirty="0" err="1">
                <a:solidFill>
                  <a:prstClr val="black"/>
                </a:solidFill>
              </a:rPr>
              <a:t>Sử</a:t>
            </a:r>
            <a:r>
              <a:rPr lang="en-US" altLang="ko-KR" sz="1600" dirty="0">
                <a:solidFill>
                  <a:prstClr val="black"/>
                </a:solidFill>
              </a:rPr>
              <a:t> </a:t>
            </a:r>
            <a:r>
              <a:rPr lang="en-US" altLang="ko-KR" sz="1600" dirty="0" err="1">
                <a:solidFill>
                  <a:prstClr val="black"/>
                </a:solidFill>
              </a:rPr>
              <a:t>dụng</a:t>
            </a:r>
            <a:r>
              <a:rPr lang="en-US" altLang="ko-KR" sz="1600" dirty="0">
                <a:solidFill>
                  <a:prstClr val="black"/>
                </a:solidFill>
              </a:rPr>
              <a:t> </a:t>
            </a:r>
            <a:r>
              <a:rPr lang="en-US" altLang="ko-KR" sz="1600" dirty="0" err="1">
                <a:solidFill>
                  <a:prstClr val="black"/>
                </a:solidFill>
              </a:rPr>
              <a:t>nguyên</a:t>
            </a:r>
            <a:r>
              <a:rPr lang="en-US" altLang="ko-KR" sz="1600" dirty="0">
                <a:solidFill>
                  <a:prstClr val="black"/>
                </a:solidFill>
              </a:rPr>
              <a:t> </a:t>
            </a:r>
            <a:r>
              <a:rPr lang="en-US" altLang="ko-KR" sz="1600" dirty="0" err="1">
                <a:solidFill>
                  <a:prstClr val="black"/>
                </a:solidFill>
              </a:rPr>
              <a:t>vật</a:t>
            </a:r>
            <a:r>
              <a:rPr lang="en-US" altLang="ko-KR" sz="1600" dirty="0">
                <a:solidFill>
                  <a:prstClr val="black"/>
                </a:solidFill>
              </a:rPr>
              <a:t> </a:t>
            </a:r>
            <a:r>
              <a:rPr lang="en-US" altLang="ko-KR" sz="1600" dirty="0" err="1">
                <a:solidFill>
                  <a:prstClr val="black"/>
                </a:solidFill>
              </a:rPr>
              <a:t>liệu</a:t>
            </a:r>
            <a:r>
              <a:rPr lang="en-US" altLang="ko-KR" sz="1600" dirty="0">
                <a:solidFill>
                  <a:prstClr val="black"/>
                </a:solidFill>
              </a:rPr>
              <a:t> </a:t>
            </a:r>
            <a:r>
              <a:rPr lang="en-US" altLang="ko-KR" sz="1600" dirty="0" err="1">
                <a:solidFill>
                  <a:prstClr val="black"/>
                </a:solidFill>
              </a:rPr>
              <a:t>kém</a:t>
            </a:r>
            <a:r>
              <a:rPr lang="en-US" altLang="ko-KR" sz="1600" dirty="0">
                <a:solidFill>
                  <a:prstClr val="black"/>
                </a:solidFill>
              </a:rPr>
              <a:t> </a:t>
            </a:r>
            <a:r>
              <a:rPr lang="en-US" altLang="ko-KR" sz="1600" dirty="0" err="1">
                <a:solidFill>
                  <a:prstClr val="black"/>
                </a:solidFill>
              </a:rPr>
              <a:t>chất</a:t>
            </a:r>
            <a:r>
              <a:rPr lang="en-US" altLang="ko-KR" sz="1600" dirty="0">
                <a:solidFill>
                  <a:prstClr val="black"/>
                </a:solidFill>
              </a:rPr>
              <a:t> </a:t>
            </a:r>
            <a:r>
              <a:rPr lang="en-US" altLang="ko-KR" sz="1600" dirty="0" err="1">
                <a:solidFill>
                  <a:prstClr val="black"/>
                </a:solidFill>
              </a:rPr>
              <a:t>lượng</a:t>
            </a:r>
            <a:endParaRPr lang="ko-KR" altLang="en-US" sz="1600" dirty="0">
              <a:solidFill>
                <a:prstClr val="black"/>
              </a:solidFill>
            </a:endParaRPr>
          </a:p>
          <a:p>
            <a:pPr fontAlgn="base" latinLnBrk="0">
              <a:lnSpc>
                <a:spcPct val="130000"/>
              </a:lnSpc>
              <a:spcBef>
                <a:spcPct val="0"/>
              </a:spcBef>
              <a:spcAft>
                <a:spcPct val="0"/>
              </a:spcAft>
              <a:buFontTx/>
              <a:buChar char="•"/>
            </a:pPr>
            <a:r>
              <a:rPr lang="ko-KR" altLang="en-US" sz="1600" dirty="0">
                <a:solidFill>
                  <a:prstClr val="black"/>
                </a:solidFill>
              </a:rPr>
              <a:t> </a:t>
            </a:r>
            <a:r>
              <a:rPr lang="en-US" altLang="ko-KR" sz="1600" dirty="0" err="1">
                <a:solidFill>
                  <a:prstClr val="black"/>
                </a:solidFill>
              </a:rPr>
              <a:t>Khác</a:t>
            </a:r>
            <a:r>
              <a:rPr lang="en-US" altLang="ko-KR" sz="1600" dirty="0">
                <a:solidFill>
                  <a:prstClr val="black"/>
                </a:solidFill>
              </a:rPr>
              <a:t> </a:t>
            </a:r>
            <a:r>
              <a:rPr lang="en-US" altLang="ko-KR" sz="1600" dirty="0" err="1">
                <a:solidFill>
                  <a:prstClr val="black"/>
                </a:solidFill>
              </a:rPr>
              <a:t>thường</a:t>
            </a:r>
            <a:r>
              <a:rPr lang="en-US" altLang="ko-KR" sz="1600" dirty="0">
                <a:solidFill>
                  <a:prstClr val="black"/>
                </a:solidFill>
              </a:rPr>
              <a:t> </a:t>
            </a:r>
            <a:r>
              <a:rPr lang="en-US" altLang="ko-KR" sz="1600" dirty="0" err="1">
                <a:solidFill>
                  <a:prstClr val="black"/>
                </a:solidFill>
              </a:rPr>
              <a:t>của</a:t>
            </a:r>
            <a:r>
              <a:rPr lang="en-US" altLang="ko-KR" sz="1600" dirty="0">
                <a:solidFill>
                  <a:prstClr val="black"/>
                </a:solidFill>
              </a:rPr>
              <a:t> </a:t>
            </a:r>
            <a:r>
              <a:rPr lang="en-US" altLang="ko-KR" sz="1600" dirty="0" err="1">
                <a:solidFill>
                  <a:prstClr val="black"/>
                </a:solidFill>
              </a:rPr>
              <a:t>máy</a:t>
            </a:r>
            <a:r>
              <a:rPr lang="en-US" altLang="ko-KR" sz="1600" dirty="0">
                <a:solidFill>
                  <a:prstClr val="black"/>
                </a:solidFill>
              </a:rPr>
              <a:t> </a:t>
            </a:r>
            <a:r>
              <a:rPr lang="en-US" altLang="ko-KR" sz="1600" dirty="0" err="1">
                <a:solidFill>
                  <a:prstClr val="black"/>
                </a:solidFill>
              </a:rPr>
              <a:t>móc</a:t>
            </a:r>
            <a:r>
              <a:rPr lang="en-US" altLang="ko-KR" sz="1600" dirty="0">
                <a:solidFill>
                  <a:prstClr val="black"/>
                </a:solidFill>
              </a:rPr>
              <a:t> </a:t>
            </a:r>
            <a:r>
              <a:rPr lang="en-US" altLang="ko-KR" sz="1600" dirty="0" err="1">
                <a:solidFill>
                  <a:prstClr val="black"/>
                </a:solidFill>
              </a:rPr>
              <a:t>thiết</a:t>
            </a:r>
            <a:r>
              <a:rPr lang="en-US" altLang="ko-KR" sz="1600" dirty="0">
                <a:solidFill>
                  <a:prstClr val="black"/>
                </a:solidFill>
              </a:rPr>
              <a:t> </a:t>
            </a:r>
            <a:r>
              <a:rPr lang="en-US" altLang="ko-KR" sz="1600" dirty="0" err="1">
                <a:solidFill>
                  <a:prstClr val="black"/>
                </a:solidFill>
              </a:rPr>
              <a:t>bị</a:t>
            </a:r>
            <a:endParaRPr lang="ko-KR" altLang="en-US" sz="1600" dirty="0">
              <a:solidFill>
                <a:prstClr val="black"/>
              </a:solidFill>
            </a:endParaRPr>
          </a:p>
          <a:p>
            <a:pPr fontAlgn="base" latinLnBrk="0">
              <a:lnSpc>
                <a:spcPct val="130000"/>
              </a:lnSpc>
              <a:spcBef>
                <a:spcPct val="0"/>
              </a:spcBef>
              <a:spcAft>
                <a:spcPct val="0"/>
              </a:spcAft>
              <a:buFontTx/>
              <a:buChar char="•"/>
            </a:pPr>
            <a:r>
              <a:rPr lang="ko-KR" altLang="en-US" sz="1600" dirty="0">
                <a:solidFill>
                  <a:prstClr val="black"/>
                </a:solidFill>
              </a:rPr>
              <a:t> </a:t>
            </a:r>
            <a:r>
              <a:rPr lang="en-US" altLang="ko-KR" sz="1600" dirty="0" err="1">
                <a:solidFill>
                  <a:prstClr val="black"/>
                </a:solidFill>
              </a:rPr>
              <a:t>Không</a:t>
            </a:r>
            <a:r>
              <a:rPr lang="en-US" altLang="ko-KR" sz="1600" dirty="0">
                <a:solidFill>
                  <a:prstClr val="black"/>
                </a:solidFill>
              </a:rPr>
              <a:t> </a:t>
            </a:r>
            <a:r>
              <a:rPr lang="en-US" altLang="ko-KR" sz="1600" dirty="0" err="1">
                <a:solidFill>
                  <a:prstClr val="black"/>
                </a:solidFill>
              </a:rPr>
              <a:t>thi</a:t>
            </a:r>
            <a:r>
              <a:rPr lang="en-US" altLang="ko-KR" sz="1600" dirty="0">
                <a:solidFill>
                  <a:prstClr val="black"/>
                </a:solidFill>
              </a:rPr>
              <a:t> </a:t>
            </a:r>
            <a:r>
              <a:rPr lang="en-US" altLang="ko-KR" sz="1600" dirty="0" err="1">
                <a:solidFill>
                  <a:prstClr val="black"/>
                </a:solidFill>
              </a:rPr>
              <a:t>hành</a:t>
            </a:r>
            <a:r>
              <a:rPr lang="en-US" altLang="ko-KR" sz="1600" dirty="0">
                <a:solidFill>
                  <a:prstClr val="black"/>
                </a:solidFill>
              </a:rPr>
              <a:t> </a:t>
            </a:r>
            <a:r>
              <a:rPr lang="en-US" altLang="ko-KR" sz="1600" dirty="0" err="1">
                <a:solidFill>
                  <a:prstClr val="black"/>
                </a:solidFill>
              </a:rPr>
              <a:t>điều</a:t>
            </a:r>
            <a:r>
              <a:rPr lang="en-US" altLang="ko-KR" sz="1600" dirty="0">
                <a:solidFill>
                  <a:prstClr val="black"/>
                </a:solidFill>
              </a:rPr>
              <a:t> </a:t>
            </a:r>
            <a:r>
              <a:rPr lang="en-US" altLang="ko-KR" sz="1600" dirty="0" err="1">
                <a:solidFill>
                  <a:prstClr val="black"/>
                </a:solidFill>
              </a:rPr>
              <a:t>kiện</a:t>
            </a:r>
            <a:r>
              <a:rPr lang="en-US" altLang="ko-KR" sz="1600" dirty="0">
                <a:solidFill>
                  <a:prstClr val="black"/>
                </a:solidFill>
              </a:rPr>
              <a:t> </a:t>
            </a:r>
            <a:r>
              <a:rPr lang="en-US" altLang="ko-KR" sz="1600" dirty="0" err="1">
                <a:solidFill>
                  <a:prstClr val="black"/>
                </a:solidFill>
              </a:rPr>
              <a:t>sản</a:t>
            </a:r>
            <a:r>
              <a:rPr lang="en-US" altLang="ko-KR" sz="1600" dirty="0">
                <a:solidFill>
                  <a:prstClr val="black"/>
                </a:solidFill>
              </a:rPr>
              <a:t> </a:t>
            </a:r>
            <a:r>
              <a:rPr lang="en-US" altLang="ko-KR" sz="1600" dirty="0" err="1">
                <a:solidFill>
                  <a:prstClr val="black"/>
                </a:solidFill>
              </a:rPr>
              <a:t>xuất</a:t>
            </a:r>
            <a:r>
              <a:rPr lang="en-US" altLang="ko-KR" sz="1600" dirty="0">
                <a:solidFill>
                  <a:prstClr val="black"/>
                </a:solidFill>
              </a:rPr>
              <a:t> </a:t>
            </a:r>
            <a:r>
              <a:rPr lang="en-US" altLang="ko-KR" sz="1600" dirty="0" err="1">
                <a:solidFill>
                  <a:prstClr val="black"/>
                </a:solidFill>
              </a:rPr>
              <a:t>bình</a:t>
            </a:r>
            <a:r>
              <a:rPr lang="en-US" altLang="ko-KR" sz="1600" dirty="0">
                <a:solidFill>
                  <a:prstClr val="black"/>
                </a:solidFill>
              </a:rPr>
              <a:t> </a:t>
            </a:r>
            <a:r>
              <a:rPr lang="en-US" altLang="ko-KR" sz="1600" dirty="0" err="1">
                <a:solidFill>
                  <a:prstClr val="black"/>
                </a:solidFill>
              </a:rPr>
              <a:t>thường</a:t>
            </a:r>
            <a:endParaRPr lang="en-US" altLang="ko-KR" sz="1600" dirty="0">
              <a:solidFill>
                <a:prstClr val="black"/>
              </a:solidFill>
            </a:endParaRPr>
          </a:p>
          <a:p>
            <a:pPr fontAlgn="base" latinLnBrk="0">
              <a:lnSpc>
                <a:spcPct val="130000"/>
              </a:lnSpc>
              <a:spcBef>
                <a:spcPct val="0"/>
              </a:spcBef>
              <a:spcAft>
                <a:spcPct val="0"/>
              </a:spcAft>
              <a:buFontTx/>
              <a:buChar char="•"/>
            </a:pPr>
            <a:r>
              <a:rPr lang="en-US" altLang="ko-KR" sz="1600" dirty="0">
                <a:solidFill>
                  <a:prstClr val="black"/>
                </a:solidFill>
              </a:rPr>
              <a:t> </a:t>
            </a:r>
            <a:r>
              <a:rPr lang="en-US" altLang="ko-KR" sz="1600" dirty="0" err="1">
                <a:solidFill>
                  <a:prstClr val="black"/>
                </a:solidFill>
              </a:rPr>
              <a:t>Không</a:t>
            </a:r>
            <a:r>
              <a:rPr lang="en-US" altLang="ko-KR" sz="1600" dirty="0">
                <a:solidFill>
                  <a:prstClr val="black"/>
                </a:solidFill>
              </a:rPr>
              <a:t> </a:t>
            </a:r>
            <a:r>
              <a:rPr lang="en-US" altLang="ko-KR" sz="1600" dirty="0" err="1">
                <a:solidFill>
                  <a:prstClr val="black"/>
                </a:solidFill>
              </a:rPr>
              <a:t>quản</a:t>
            </a:r>
            <a:r>
              <a:rPr lang="en-US" altLang="ko-KR" sz="1600" dirty="0">
                <a:solidFill>
                  <a:prstClr val="black"/>
                </a:solidFill>
              </a:rPr>
              <a:t> </a:t>
            </a:r>
            <a:r>
              <a:rPr lang="en-US" altLang="ko-KR" sz="1600" dirty="0" err="1">
                <a:solidFill>
                  <a:prstClr val="black"/>
                </a:solidFill>
              </a:rPr>
              <a:t>lý</a:t>
            </a:r>
            <a:r>
              <a:rPr lang="en-US" altLang="ko-KR" sz="1600" dirty="0">
                <a:solidFill>
                  <a:prstClr val="black"/>
                </a:solidFill>
              </a:rPr>
              <a:t> </a:t>
            </a:r>
            <a:r>
              <a:rPr lang="en-US" altLang="ko-KR" sz="1600" dirty="0" err="1">
                <a:solidFill>
                  <a:prstClr val="black"/>
                </a:solidFill>
              </a:rPr>
              <a:t>tốt</a:t>
            </a:r>
            <a:r>
              <a:rPr lang="en-US" altLang="ko-KR" sz="1600" dirty="0">
                <a:solidFill>
                  <a:prstClr val="black"/>
                </a:solidFill>
              </a:rPr>
              <a:t> </a:t>
            </a:r>
            <a:r>
              <a:rPr lang="en-US" altLang="ko-KR" sz="1600" dirty="0" err="1">
                <a:solidFill>
                  <a:prstClr val="black"/>
                </a:solidFill>
              </a:rPr>
              <a:t>công</a:t>
            </a:r>
            <a:r>
              <a:rPr lang="en-US" altLang="ko-KR" sz="1600" dirty="0">
                <a:solidFill>
                  <a:prstClr val="black"/>
                </a:solidFill>
              </a:rPr>
              <a:t> </a:t>
            </a:r>
            <a:r>
              <a:rPr lang="en-US" altLang="ko-KR" sz="1600" dirty="0" err="1">
                <a:solidFill>
                  <a:prstClr val="black"/>
                </a:solidFill>
              </a:rPr>
              <a:t>cụ</a:t>
            </a:r>
            <a:r>
              <a:rPr lang="en-US" altLang="ko-KR" sz="1600" dirty="0">
                <a:solidFill>
                  <a:prstClr val="black"/>
                </a:solidFill>
              </a:rPr>
              <a:t> </a:t>
            </a:r>
            <a:r>
              <a:rPr lang="en-US" altLang="ko-KR" sz="1600" dirty="0" err="1">
                <a:solidFill>
                  <a:prstClr val="black"/>
                </a:solidFill>
              </a:rPr>
              <a:t>hoặc</a:t>
            </a:r>
            <a:r>
              <a:rPr lang="en-US" altLang="ko-KR" sz="1600" dirty="0">
                <a:solidFill>
                  <a:prstClr val="black"/>
                </a:solidFill>
              </a:rPr>
              <a:t> jig</a:t>
            </a:r>
            <a:endParaRPr lang="ko-KR" altLang="en-US" sz="1600" dirty="0">
              <a:solidFill>
                <a:prstClr val="black"/>
              </a:solidFill>
            </a:endParaRPr>
          </a:p>
        </p:txBody>
      </p:sp>
      <p:sp>
        <p:nvSpPr>
          <p:cNvPr id="19" name="Text Box 10"/>
          <p:cNvSpPr txBox="1">
            <a:spLocks noChangeArrowheads="1"/>
          </p:cNvSpPr>
          <p:nvPr/>
        </p:nvSpPr>
        <p:spPr bwMode="auto">
          <a:xfrm>
            <a:off x="5638800" y="138132"/>
            <a:ext cx="3534529"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Nguyên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nhân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không</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ngẫu</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nhiên</a:t>
            </a:r>
            <a:endParaRPr lang="ko-KR" altLang="en-US" sz="1600" b="1" dirty="0">
              <a:solidFill>
                <a:prstClr val="black"/>
              </a:solidFill>
              <a:latin typeface="맑은 고딕"/>
              <a:ea typeface="맑은 고딕"/>
            </a:endParaRPr>
          </a:p>
        </p:txBody>
      </p:sp>
      <p:sp>
        <p:nvSpPr>
          <p:cNvPr id="17"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266</a:t>
            </a:fld>
            <a:endParaRPr lang="ko-KR" altLang="en-US" sz="1200" dirty="0">
              <a:solidFill>
                <a:prstClr val="black"/>
              </a:solidFill>
            </a:endParaRPr>
          </a:p>
        </p:txBody>
      </p:sp>
      <p:sp>
        <p:nvSpPr>
          <p:cNvPr id="4" name="직사각형 3"/>
          <p:cNvSpPr/>
          <p:nvPr/>
        </p:nvSpPr>
        <p:spPr>
          <a:xfrm>
            <a:off x="611560" y="5411890"/>
            <a:ext cx="7992888" cy="1200329"/>
          </a:xfrm>
          <a:prstGeom prst="rect">
            <a:avLst/>
          </a:prstGeom>
        </p:spPr>
        <p:txBody>
          <a:bodyPr wrap="square">
            <a:spAutoFit/>
          </a:bodyPr>
          <a:lstStyle/>
          <a:p>
            <a:pPr lvl="0" fontAlgn="base" latinLnBrk="0">
              <a:lnSpc>
                <a:spcPct val="150000"/>
              </a:lnSpc>
              <a:spcBef>
                <a:spcPct val="0"/>
              </a:spcBef>
              <a:spcAft>
                <a:spcPct val="0"/>
              </a:spcAft>
            </a:pPr>
            <a:r>
              <a:rPr lang="en-US" altLang="ko-KR" sz="1600" dirty="0" err="1">
                <a:solidFill>
                  <a:prstClr val="black"/>
                </a:solidFill>
                <a:latin typeface="맑은 고딕" pitchFamily="50" charset="-127"/>
                <a:ea typeface="맑은 고딕" pitchFamily="50" charset="-127"/>
              </a:rPr>
              <a:t>Đây</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là</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những</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nguyên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nhân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phát</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sinh</a:t>
            </a:r>
            <a:r>
              <a:rPr lang="en-US" altLang="ko-KR" sz="1600" dirty="0">
                <a:solidFill>
                  <a:prstClr val="black"/>
                </a:solidFill>
                <a:latin typeface="맑은 고딕" pitchFamily="50" charset="-127"/>
                <a:ea typeface="맑은 고딕" pitchFamily="50" charset="-127"/>
              </a:rPr>
              <a:t> do </a:t>
            </a:r>
            <a:r>
              <a:rPr lang="en-US" altLang="ko-KR" sz="1600" dirty="0" err="1">
                <a:solidFill>
                  <a:prstClr val="black"/>
                </a:solidFill>
                <a:latin typeface="맑은 고딕" pitchFamily="50" charset="-127"/>
                <a:ea typeface="맑은 고딕" pitchFamily="50" charset="-127"/>
              </a:rPr>
              <a:t>quản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lý</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chưa</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tốt</a:t>
            </a:r>
            <a:r>
              <a:rPr lang="en-US" altLang="ko-KR" sz="1600" dirty="0">
                <a:solidFill>
                  <a:prstClr val="black"/>
                </a:solidFill>
                <a:latin typeface="맑은 고딕" pitchFamily="50" charset="-127"/>
                <a:ea typeface="맑은 고딕" pitchFamily="50" charset="-127"/>
              </a:rPr>
              <a:t>,</a:t>
            </a:r>
            <a:r>
              <a:rPr lang="ko-KR" altLang="en-US"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nên</a:t>
            </a:r>
            <a:r>
              <a:rPr lang="en-US" altLang="ko-KR" sz="1600" dirty="0">
                <a:solidFill>
                  <a:prstClr val="black"/>
                </a:solidFill>
                <a:latin typeface="맑은 고딕" pitchFamily="50" charset="-127"/>
                <a:ea typeface="맑은 고딕" pitchFamily="50" charset="-127"/>
              </a:rPr>
              <a:t> so </a:t>
            </a:r>
            <a:r>
              <a:rPr lang="en-US" altLang="ko-KR" sz="1600" dirty="0" err="1">
                <a:solidFill>
                  <a:prstClr val="black"/>
                </a:solidFill>
                <a:latin typeface="맑은 고딕" pitchFamily="50" charset="-127"/>
                <a:ea typeface="맑은 고딕" pitchFamily="50" charset="-127"/>
              </a:rPr>
              <a:t>với</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nguyên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nhân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ngẫu</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nhiên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thì</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dễ</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phát</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hiện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hơn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và</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giải</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quyết</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vấn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đề</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cũng</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dễ</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dàng</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hơn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Và</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cũng</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có</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thể</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gọi</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là</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nguyên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nhân</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có</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thể</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điều</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tra</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làm</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rõ</a:t>
            </a:r>
            <a:r>
              <a:rPr lang="en-US" altLang="ko-KR" sz="1600" dirty="0">
                <a:solidFill>
                  <a:prstClr val="black"/>
                </a:solidFill>
                <a:latin typeface="맑은 고딕" pitchFamily="50" charset="-127"/>
                <a:ea typeface="맑은 고딕" pitchFamily="50" charset="-127"/>
              </a:rPr>
              <a:t> </a:t>
            </a:r>
            <a:r>
              <a:rPr lang="en-US" altLang="ko-KR" sz="1600" dirty="0" err="1">
                <a:solidFill>
                  <a:prstClr val="black"/>
                </a:solidFill>
                <a:latin typeface="맑은 고딕" pitchFamily="50" charset="-127"/>
                <a:ea typeface="맑은 고딕" pitchFamily="50" charset="-127"/>
              </a:rPr>
              <a:t>được</a:t>
            </a:r>
            <a:endParaRPr lang="en-US" altLang="ko-KR" sz="1600" dirty="0">
              <a:solidFill>
                <a:prstClr val="black"/>
              </a:solidFill>
              <a:latin typeface="맑은 고딕" pitchFamily="50" charset="-127"/>
              <a:ea typeface="맑은 고딕" pitchFamily="50" charset="-127"/>
            </a:endParaRPr>
          </a:p>
        </p:txBody>
      </p:sp>
      <p:sp>
        <p:nvSpPr>
          <p:cNvPr id="20" name="Text Box 39"/>
          <p:cNvSpPr txBox="1">
            <a:spLocks noChangeArrowheads="1"/>
          </p:cNvSpPr>
          <p:nvPr/>
        </p:nvSpPr>
        <p:spPr bwMode="auto">
          <a:xfrm>
            <a:off x="127732" y="76562"/>
            <a:ext cx="4456285"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lí</a:t>
            </a:r>
            <a:endParaRPr kumimoji="1" lang="en-US" altLang="ko-KR" sz="2000" b="1" dirty="0">
              <a:solidFill>
                <a:prstClr val="black"/>
              </a:solidFill>
            </a:endParaRPr>
          </a:p>
        </p:txBody>
      </p:sp>
    </p:spTree>
    <p:extLst>
      <p:ext uri="{BB962C8B-B14F-4D97-AF65-F5344CB8AC3E}">
        <p14:creationId xmlns:p14="http://schemas.microsoft.com/office/powerpoint/2010/main" val="188277322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66"/>
          <p:cNvSpPr>
            <a:spLocks noChangeArrowheads="1"/>
          </p:cNvSpPr>
          <p:nvPr/>
        </p:nvSpPr>
        <p:spPr bwMode="auto">
          <a:xfrm>
            <a:off x="3491880" y="1844824"/>
            <a:ext cx="2849498" cy="380873"/>
          </a:xfrm>
          <a:prstGeom prst="rect">
            <a:avLst/>
          </a:prstGeom>
          <a:noFill/>
          <a:ln>
            <a:noFill/>
          </a:ln>
          <a:effectLst/>
        </p:spPr>
        <p:txBody>
          <a:bodyPr wrap="none" lIns="102870" tIns="51435" rIns="102870" bIns="51435">
            <a:spAutoFit/>
          </a:bodyPr>
          <a:lstStyle/>
          <a:p>
            <a:pPr defTabSz="1028700" eaLnBrk="0" fontAlgn="base" latinLnBrk="0" hangingPunct="0">
              <a:spcBef>
                <a:spcPct val="0"/>
              </a:spcBef>
              <a:spcAft>
                <a:spcPct val="0"/>
              </a:spcAft>
              <a:defRPr/>
            </a:pPr>
            <a:r>
              <a:rPr lang="en-US" altLang="ko-KR" b="1" u="sng" dirty="0" err="1">
                <a:solidFill>
                  <a:srgbClr val="000000"/>
                </a:solidFill>
              </a:rPr>
              <a:t>Vận</a:t>
            </a:r>
            <a:r>
              <a:rPr lang="en-US" altLang="ko-KR" b="1" u="sng" dirty="0">
                <a:solidFill>
                  <a:srgbClr val="000000"/>
                </a:solidFill>
              </a:rPr>
              <a:t> </a:t>
            </a:r>
            <a:r>
              <a:rPr lang="en-US" altLang="ko-KR" b="1" u="sng" dirty="0" err="1">
                <a:solidFill>
                  <a:srgbClr val="000000"/>
                </a:solidFill>
              </a:rPr>
              <a:t>hành</a:t>
            </a:r>
            <a:r>
              <a:rPr lang="en-US" altLang="ko-KR" b="1" u="sng" dirty="0">
                <a:solidFill>
                  <a:srgbClr val="000000"/>
                </a:solidFill>
              </a:rPr>
              <a:t> </a:t>
            </a:r>
            <a:r>
              <a:rPr lang="en-US" altLang="ko-KR" b="1" u="sng" dirty="0" err="1">
                <a:solidFill>
                  <a:srgbClr val="000000"/>
                </a:solidFill>
              </a:rPr>
              <a:t>đồ</a:t>
            </a:r>
            <a:r>
              <a:rPr lang="en-US" altLang="ko-KR" b="1" u="sng" dirty="0">
                <a:solidFill>
                  <a:srgbClr val="000000"/>
                </a:solidFill>
              </a:rPr>
              <a:t> </a:t>
            </a:r>
            <a:r>
              <a:rPr lang="en-US" altLang="ko-KR" b="1" u="sng" dirty="0" err="1">
                <a:solidFill>
                  <a:srgbClr val="000000"/>
                </a:solidFill>
              </a:rPr>
              <a:t>thị</a:t>
            </a:r>
            <a:r>
              <a:rPr lang="en-US" altLang="ko-KR" b="1" u="sng" dirty="0">
                <a:solidFill>
                  <a:srgbClr val="000000"/>
                </a:solidFill>
              </a:rPr>
              <a:t> </a:t>
            </a:r>
            <a:r>
              <a:rPr lang="en-US" altLang="ko-KR" b="1" u="sng" dirty="0" err="1">
                <a:solidFill>
                  <a:srgbClr val="000000"/>
                </a:solidFill>
              </a:rPr>
              <a:t>quản</a:t>
            </a:r>
            <a:r>
              <a:rPr lang="en-US" altLang="ko-KR" b="1" u="sng" dirty="0">
                <a:solidFill>
                  <a:srgbClr val="000000"/>
                </a:solidFill>
              </a:rPr>
              <a:t> </a:t>
            </a:r>
            <a:r>
              <a:rPr lang="en-US" altLang="ko-KR" b="1" u="sng" dirty="0" err="1">
                <a:solidFill>
                  <a:srgbClr val="000000"/>
                </a:solidFill>
              </a:rPr>
              <a:t>lí</a:t>
            </a:r>
            <a:endParaRPr lang="ko-KR" altLang="en-US" b="1" u="sng" dirty="0">
              <a:solidFill>
                <a:srgbClr val="000000"/>
              </a:solidFill>
            </a:endParaRPr>
          </a:p>
        </p:txBody>
      </p:sp>
      <p:grpSp>
        <p:nvGrpSpPr>
          <p:cNvPr id="2" name="그룹 3"/>
          <p:cNvGrpSpPr/>
          <p:nvPr/>
        </p:nvGrpSpPr>
        <p:grpSpPr>
          <a:xfrm>
            <a:off x="457200" y="2158425"/>
            <a:ext cx="8498302" cy="4089974"/>
            <a:chOff x="569550" y="1288851"/>
            <a:chExt cx="9206487" cy="4528914"/>
          </a:xfrm>
        </p:grpSpPr>
        <p:pic>
          <p:nvPicPr>
            <p:cNvPr id="25" name="Picture 2" descr="H:\자료\png모음\arrow0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6233311" flipV="1">
              <a:off x="3872707" y="3544102"/>
              <a:ext cx="257810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3"/>
            <p:cNvSpPr>
              <a:spLocks noChangeArrowheads="1"/>
            </p:cNvSpPr>
            <p:nvPr/>
          </p:nvSpPr>
          <p:spPr bwMode="auto">
            <a:xfrm>
              <a:off x="1136650" y="1989138"/>
              <a:ext cx="3429000" cy="3816350"/>
            </a:xfrm>
            <a:prstGeom prst="rect">
              <a:avLst/>
            </a:prstGeom>
            <a:noFill/>
            <a:ln w="28575"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endParaRPr lang="ko-KR" altLang="ko-KR" b="1" dirty="0">
                <a:solidFill>
                  <a:prstClr val="black"/>
                </a:solidFill>
                <a:latin typeface="맑은 고딕" pitchFamily="50" charset="-127"/>
                <a:ea typeface="맑은 고딕" pitchFamily="50" charset="-127"/>
              </a:endParaRPr>
            </a:p>
          </p:txBody>
        </p:sp>
        <p:sp>
          <p:nvSpPr>
            <p:cNvPr id="27" name="Line 4"/>
            <p:cNvSpPr>
              <a:spLocks noChangeShapeType="1"/>
            </p:cNvSpPr>
            <p:nvPr/>
          </p:nvSpPr>
          <p:spPr bwMode="auto">
            <a:xfrm flipV="1">
              <a:off x="2243146" y="2420938"/>
              <a:ext cx="1331912" cy="2520950"/>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28" name="Freeform 5"/>
            <p:cNvSpPr>
              <a:spLocks/>
            </p:cNvSpPr>
            <p:nvPr/>
          </p:nvSpPr>
          <p:spPr bwMode="auto">
            <a:xfrm>
              <a:off x="1889125" y="4244975"/>
              <a:ext cx="2038350" cy="565150"/>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29" name="Line 6"/>
            <p:cNvSpPr>
              <a:spLocks noChangeShapeType="1"/>
            </p:cNvSpPr>
            <p:nvPr/>
          </p:nvSpPr>
          <p:spPr bwMode="auto">
            <a:xfrm>
              <a:off x="1636716" y="4810125"/>
              <a:ext cx="24288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30" name="Freeform 7"/>
            <p:cNvSpPr>
              <a:spLocks/>
            </p:cNvSpPr>
            <p:nvPr/>
          </p:nvSpPr>
          <p:spPr bwMode="auto">
            <a:xfrm>
              <a:off x="2368550" y="2300306"/>
              <a:ext cx="1781176" cy="1069975"/>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2147483647 h 1671"/>
                <a:gd name="T48" fmla="*/ 2147483647 w 2048"/>
                <a:gd name="T49" fmla="*/ 0 h 1671"/>
                <a:gd name="T50" fmla="*/ 2147483647 w 2048"/>
                <a:gd name="T51" fmla="*/ 2147483647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31" name="Line 8"/>
            <p:cNvSpPr>
              <a:spLocks noChangeShapeType="1"/>
            </p:cNvSpPr>
            <p:nvPr/>
          </p:nvSpPr>
          <p:spPr bwMode="auto">
            <a:xfrm>
              <a:off x="2149475" y="3370263"/>
              <a:ext cx="21209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32" name="Freeform 9"/>
            <p:cNvSpPr>
              <a:spLocks/>
            </p:cNvSpPr>
            <p:nvPr/>
          </p:nvSpPr>
          <p:spPr bwMode="auto">
            <a:xfrm>
              <a:off x="1735144" y="2681290"/>
              <a:ext cx="1581150" cy="1538287"/>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2147483647 h 1671"/>
                <a:gd name="T48" fmla="*/ 2147483647 w 2048"/>
                <a:gd name="T49" fmla="*/ 0 h 1671"/>
                <a:gd name="T50" fmla="*/ 2147483647 w 2048"/>
                <a:gd name="T51" fmla="*/ 2147483647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33" name="Line 10"/>
            <p:cNvSpPr>
              <a:spLocks noChangeShapeType="1"/>
            </p:cNvSpPr>
            <p:nvPr/>
          </p:nvSpPr>
          <p:spPr bwMode="auto">
            <a:xfrm>
              <a:off x="1541464" y="4219575"/>
              <a:ext cx="188118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34" name="Line 11"/>
            <p:cNvSpPr>
              <a:spLocks noChangeShapeType="1"/>
            </p:cNvSpPr>
            <p:nvPr/>
          </p:nvSpPr>
          <p:spPr bwMode="auto">
            <a:xfrm flipV="1">
              <a:off x="3073400" y="2592406"/>
              <a:ext cx="0" cy="7778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35" name="Line 12"/>
            <p:cNvSpPr>
              <a:spLocks noChangeShapeType="1"/>
            </p:cNvSpPr>
            <p:nvPr/>
          </p:nvSpPr>
          <p:spPr bwMode="auto">
            <a:xfrm flipV="1">
              <a:off x="2601913" y="2779715"/>
              <a:ext cx="0" cy="145732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36" name="Line 13"/>
            <p:cNvSpPr>
              <a:spLocks noChangeShapeType="1"/>
            </p:cNvSpPr>
            <p:nvPr/>
          </p:nvSpPr>
          <p:spPr bwMode="auto">
            <a:xfrm>
              <a:off x="2365376" y="5043488"/>
              <a:ext cx="454025"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37" name="Text Box 14"/>
            <p:cNvSpPr txBox="1">
              <a:spLocks noChangeArrowheads="1"/>
            </p:cNvSpPr>
            <p:nvPr/>
          </p:nvSpPr>
          <p:spPr bwMode="auto">
            <a:xfrm>
              <a:off x="2947995" y="4754970"/>
              <a:ext cx="1455185" cy="1062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spcAft>
                  <a:spcPct val="0"/>
                </a:spcAft>
              </a:pPr>
              <a:r>
                <a:rPr lang="en-US" altLang="ko-KR" sz="1400" b="1" dirty="0" err="1">
                  <a:solidFill>
                    <a:prstClr val="black"/>
                  </a:solidFill>
                  <a:latin typeface="맑은 고딕" pitchFamily="50" charset="-127"/>
                  <a:ea typeface="맑은 고딕" pitchFamily="50" charset="-127"/>
                </a:rPr>
                <a:t>Xuất</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hiện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nguyên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nhân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không</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ngẫu</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nhiên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vượt</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ra</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ngoài</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quản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lí</a:t>
              </a:r>
              <a:endParaRPr lang="ko-KR" altLang="en-US" sz="1400" b="1" dirty="0">
                <a:solidFill>
                  <a:prstClr val="black"/>
                </a:solidFill>
                <a:latin typeface="맑은 고딕" pitchFamily="50" charset="-127"/>
                <a:ea typeface="맑은 고딕" pitchFamily="50" charset="-127"/>
              </a:endParaRPr>
            </a:p>
          </p:txBody>
        </p:sp>
        <p:sp>
          <p:nvSpPr>
            <p:cNvPr id="38" name="Rectangle 15"/>
            <p:cNvSpPr>
              <a:spLocks noChangeArrowheads="1"/>
            </p:cNvSpPr>
            <p:nvPr/>
          </p:nvSpPr>
          <p:spPr bwMode="auto">
            <a:xfrm>
              <a:off x="5600705" y="1989138"/>
              <a:ext cx="3429000" cy="3816350"/>
            </a:xfrm>
            <a:prstGeom prst="rect">
              <a:avLst/>
            </a:prstGeom>
            <a:noFill/>
            <a:ln w="28575"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endParaRPr lang="ko-KR" altLang="ko-KR" b="1" dirty="0">
                <a:solidFill>
                  <a:prstClr val="black"/>
                </a:solidFill>
                <a:latin typeface="맑은 고딕" pitchFamily="50" charset="-127"/>
                <a:ea typeface="맑은 고딕" pitchFamily="50" charset="-127"/>
              </a:endParaRPr>
            </a:p>
          </p:txBody>
        </p:sp>
        <p:sp>
          <p:nvSpPr>
            <p:cNvPr id="39" name="Text Box 17"/>
            <p:cNvSpPr txBox="1">
              <a:spLocks noChangeArrowheads="1"/>
            </p:cNvSpPr>
            <p:nvPr/>
          </p:nvSpPr>
          <p:spPr bwMode="auto">
            <a:xfrm>
              <a:off x="7133483" y="4967305"/>
              <a:ext cx="1794199" cy="68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spcAft>
                  <a:spcPct val="0"/>
                </a:spcAft>
              </a:pPr>
              <a:r>
                <a:rPr lang="en-US" altLang="ko-KR" sz="1400" b="1" dirty="0" err="1">
                  <a:solidFill>
                    <a:prstClr val="black"/>
                  </a:solidFill>
                  <a:latin typeface="맑은 고딕" pitchFamily="50" charset="-127"/>
                  <a:ea typeface="맑은 고딕" pitchFamily="50" charset="-127"/>
                </a:rPr>
                <a:t>Quản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lí</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duy</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trì</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trạng</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thái</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ổn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định</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của</a:t>
              </a:r>
              <a:r>
                <a:rPr lang="en-US" altLang="ko-KR" sz="1400" b="1" dirty="0">
                  <a:solidFill>
                    <a:prstClr val="black"/>
                  </a:solidFill>
                  <a:latin typeface="맑은 고딕" pitchFamily="50" charset="-127"/>
                  <a:ea typeface="맑은 고딕" pitchFamily="50" charset="-127"/>
                </a:rPr>
                <a:t> process</a:t>
              </a:r>
              <a:endParaRPr lang="ko-KR" altLang="en-US" sz="1400" b="1" dirty="0">
                <a:solidFill>
                  <a:prstClr val="black"/>
                </a:solidFill>
                <a:latin typeface="맑은 고딕" pitchFamily="50" charset="-127"/>
                <a:ea typeface="맑은 고딕" pitchFamily="50" charset="-127"/>
              </a:endParaRPr>
            </a:p>
          </p:txBody>
        </p:sp>
        <p:sp>
          <p:nvSpPr>
            <p:cNvPr id="40" name="Line 18"/>
            <p:cNvSpPr>
              <a:spLocks noChangeShapeType="1"/>
            </p:cNvSpPr>
            <p:nvPr/>
          </p:nvSpPr>
          <p:spPr bwMode="auto">
            <a:xfrm flipV="1">
              <a:off x="6775460" y="2565400"/>
              <a:ext cx="1160463" cy="22891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41" name="Freeform 20"/>
            <p:cNvSpPr>
              <a:spLocks/>
            </p:cNvSpPr>
            <p:nvPr/>
          </p:nvSpPr>
          <p:spPr bwMode="auto">
            <a:xfrm>
              <a:off x="6664335" y="2525713"/>
              <a:ext cx="1846263" cy="836612"/>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42" name="Line 21"/>
            <p:cNvSpPr>
              <a:spLocks noChangeShapeType="1"/>
            </p:cNvSpPr>
            <p:nvPr/>
          </p:nvSpPr>
          <p:spPr bwMode="auto">
            <a:xfrm>
              <a:off x="6526223" y="3362325"/>
              <a:ext cx="2198687"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43" name="Line 22"/>
            <p:cNvSpPr>
              <a:spLocks noChangeShapeType="1"/>
            </p:cNvSpPr>
            <p:nvPr/>
          </p:nvSpPr>
          <p:spPr bwMode="auto">
            <a:xfrm>
              <a:off x="7561263" y="2579706"/>
              <a:ext cx="0" cy="788987"/>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44" name="Freeform 24"/>
            <p:cNvSpPr>
              <a:spLocks/>
            </p:cNvSpPr>
            <p:nvPr/>
          </p:nvSpPr>
          <p:spPr bwMode="auto">
            <a:xfrm>
              <a:off x="6296035" y="3201988"/>
              <a:ext cx="1846263" cy="838200"/>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45" name="Line 25"/>
            <p:cNvSpPr>
              <a:spLocks noChangeShapeType="1"/>
            </p:cNvSpPr>
            <p:nvPr/>
          </p:nvSpPr>
          <p:spPr bwMode="auto">
            <a:xfrm>
              <a:off x="6157923" y="4040188"/>
              <a:ext cx="2198687"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46" name="Line 26"/>
            <p:cNvSpPr>
              <a:spLocks noChangeShapeType="1"/>
            </p:cNvSpPr>
            <p:nvPr/>
          </p:nvSpPr>
          <p:spPr bwMode="auto">
            <a:xfrm>
              <a:off x="7192963" y="3255968"/>
              <a:ext cx="0" cy="790575"/>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47" name="Freeform 28"/>
            <p:cNvSpPr>
              <a:spLocks/>
            </p:cNvSpPr>
            <p:nvPr/>
          </p:nvSpPr>
          <p:spPr bwMode="auto">
            <a:xfrm>
              <a:off x="5951538" y="3825893"/>
              <a:ext cx="1846262" cy="836613"/>
            </a:xfrm>
            <a:custGeom>
              <a:avLst/>
              <a:gdLst>
                <a:gd name="T0" fmla="*/ 2147483647 w 2048"/>
                <a:gd name="T1" fmla="*/ 2147483647 h 1671"/>
                <a:gd name="T2" fmla="*/ 2147483647 w 2048"/>
                <a:gd name="T3" fmla="*/ 2147483647 h 1671"/>
                <a:gd name="T4" fmla="*/ 2147483647 w 2048"/>
                <a:gd name="T5" fmla="*/ 2147483647 h 1671"/>
                <a:gd name="T6" fmla="*/ 2147483647 w 2048"/>
                <a:gd name="T7" fmla="*/ 2147483647 h 1671"/>
                <a:gd name="T8" fmla="*/ 2147483647 w 2048"/>
                <a:gd name="T9" fmla="*/ 2147483647 h 1671"/>
                <a:gd name="T10" fmla="*/ 2147483647 w 2048"/>
                <a:gd name="T11" fmla="*/ 2147483647 h 1671"/>
                <a:gd name="T12" fmla="*/ 2147483647 w 2048"/>
                <a:gd name="T13" fmla="*/ 2147483647 h 1671"/>
                <a:gd name="T14" fmla="*/ 2147483647 w 2048"/>
                <a:gd name="T15" fmla="*/ 2147483647 h 1671"/>
                <a:gd name="T16" fmla="*/ 2147483647 w 2048"/>
                <a:gd name="T17" fmla="*/ 2147483647 h 1671"/>
                <a:gd name="T18" fmla="*/ 2147483647 w 2048"/>
                <a:gd name="T19" fmla="*/ 2147483647 h 1671"/>
                <a:gd name="T20" fmla="*/ 2147483647 w 2048"/>
                <a:gd name="T21" fmla="*/ 2147483647 h 1671"/>
                <a:gd name="T22" fmla="*/ 2147483647 w 2048"/>
                <a:gd name="T23" fmla="*/ 2147483647 h 1671"/>
                <a:gd name="T24" fmla="*/ 2147483647 w 2048"/>
                <a:gd name="T25" fmla="*/ 2147483647 h 1671"/>
                <a:gd name="T26" fmla="*/ 2147483647 w 2048"/>
                <a:gd name="T27" fmla="*/ 2147483647 h 1671"/>
                <a:gd name="T28" fmla="*/ 2147483647 w 2048"/>
                <a:gd name="T29" fmla="*/ 2147483647 h 1671"/>
                <a:gd name="T30" fmla="*/ 2147483647 w 2048"/>
                <a:gd name="T31" fmla="*/ 2147483647 h 1671"/>
                <a:gd name="T32" fmla="*/ 2147483647 w 2048"/>
                <a:gd name="T33" fmla="*/ 2147483647 h 1671"/>
                <a:gd name="T34" fmla="*/ 2147483647 w 2048"/>
                <a:gd name="T35" fmla="*/ 2147483647 h 1671"/>
                <a:gd name="T36" fmla="*/ 2147483647 w 2048"/>
                <a:gd name="T37" fmla="*/ 2147483647 h 1671"/>
                <a:gd name="T38" fmla="*/ 2147483647 w 2048"/>
                <a:gd name="T39" fmla="*/ 2147483647 h 1671"/>
                <a:gd name="T40" fmla="*/ 2147483647 w 2048"/>
                <a:gd name="T41" fmla="*/ 2147483647 h 1671"/>
                <a:gd name="T42" fmla="*/ 2147483647 w 2048"/>
                <a:gd name="T43" fmla="*/ 2147483647 h 1671"/>
                <a:gd name="T44" fmla="*/ 2147483647 w 2048"/>
                <a:gd name="T45" fmla="*/ 2147483647 h 1671"/>
                <a:gd name="T46" fmla="*/ 2147483647 w 2048"/>
                <a:gd name="T47" fmla="*/ 0 h 1671"/>
                <a:gd name="T48" fmla="*/ 2147483647 w 2048"/>
                <a:gd name="T49" fmla="*/ 0 h 1671"/>
                <a:gd name="T50" fmla="*/ 2147483647 w 2048"/>
                <a:gd name="T51" fmla="*/ 0 h 1671"/>
                <a:gd name="T52" fmla="*/ 2147483647 w 2048"/>
                <a:gd name="T53" fmla="*/ 2147483647 h 1671"/>
                <a:gd name="T54" fmla="*/ 2147483647 w 2048"/>
                <a:gd name="T55" fmla="*/ 2147483647 h 1671"/>
                <a:gd name="T56" fmla="*/ 2147483647 w 2048"/>
                <a:gd name="T57" fmla="*/ 2147483647 h 1671"/>
                <a:gd name="T58" fmla="*/ 2147483647 w 2048"/>
                <a:gd name="T59" fmla="*/ 2147483647 h 1671"/>
                <a:gd name="T60" fmla="*/ 2147483647 w 2048"/>
                <a:gd name="T61" fmla="*/ 2147483647 h 1671"/>
                <a:gd name="T62" fmla="*/ 2147483647 w 2048"/>
                <a:gd name="T63" fmla="*/ 2147483647 h 1671"/>
                <a:gd name="T64" fmla="*/ 2147483647 w 2048"/>
                <a:gd name="T65" fmla="*/ 2147483647 h 1671"/>
                <a:gd name="T66" fmla="*/ 2147483647 w 2048"/>
                <a:gd name="T67" fmla="*/ 2147483647 h 1671"/>
                <a:gd name="T68" fmla="*/ 2147483647 w 2048"/>
                <a:gd name="T69" fmla="*/ 2147483647 h 1671"/>
                <a:gd name="T70" fmla="*/ 2147483647 w 2048"/>
                <a:gd name="T71" fmla="*/ 2147483647 h 1671"/>
                <a:gd name="T72" fmla="*/ 2147483647 w 2048"/>
                <a:gd name="T73" fmla="*/ 2147483647 h 1671"/>
                <a:gd name="T74" fmla="*/ 2147483647 w 2048"/>
                <a:gd name="T75" fmla="*/ 2147483647 h 1671"/>
                <a:gd name="T76" fmla="*/ 2147483647 w 2048"/>
                <a:gd name="T77" fmla="*/ 2147483647 h 1671"/>
                <a:gd name="T78" fmla="*/ 2147483647 w 2048"/>
                <a:gd name="T79" fmla="*/ 2147483647 h 1671"/>
                <a:gd name="T80" fmla="*/ 2147483647 w 2048"/>
                <a:gd name="T81" fmla="*/ 2147483647 h 1671"/>
                <a:gd name="T82" fmla="*/ 2147483647 w 2048"/>
                <a:gd name="T83" fmla="*/ 2147483647 h 1671"/>
                <a:gd name="T84" fmla="*/ 2147483647 w 2048"/>
                <a:gd name="T85" fmla="*/ 2147483647 h 1671"/>
                <a:gd name="T86" fmla="*/ 2147483647 w 2048"/>
                <a:gd name="T87" fmla="*/ 2147483647 h 1671"/>
                <a:gd name="T88" fmla="*/ 2147483647 w 2048"/>
                <a:gd name="T89" fmla="*/ 2147483647 h 1671"/>
                <a:gd name="T90" fmla="*/ 2147483647 w 2048"/>
                <a:gd name="T91" fmla="*/ 2147483647 h 1671"/>
                <a:gd name="T92" fmla="*/ 2147483647 w 2048"/>
                <a:gd name="T93" fmla="*/ 2147483647 h 1671"/>
                <a:gd name="T94" fmla="*/ 2147483647 w 2048"/>
                <a:gd name="T95" fmla="*/ 2147483647 h 1671"/>
                <a:gd name="T96" fmla="*/ 2147483647 w 2048"/>
                <a:gd name="T97" fmla="*/ 2147483647 h 1671"/>
                <a:gd name="T98" fmla="*/ 2147483647 w 2048"/>
                <a:gd name="T99" fmla="*/ 2147483647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8"/>
                <a:gd name="T151" fmla="*/ 0 h 1671"/>
                <a:gd name="T152" fmla="*/ 2048 w 2048"/>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8" h="1671">
                  <a:moveTo>
                    <a:pt x="0" y="1670"/>
                  </a:moveTo>
                  <a:lnTo>
                    <a:pt x="11" y="1670"/>
                  </a:lnTo>
                  <a:lnTo>
                    <a:pt x="21" y="1670"/>
                  </a:lnTo>
                  <a:lnTo>
                    <a:pt x="31" y="1670"/>
                  </a:lnTo>
                  <a:lnTo>
                    <a:pt x="41" y="1670"/>
                  </a:lnTo>
                  <a:lnTo>
                    <a:pt x="51" y="1667"/>
                  </a:lnTo>
                  <a:lnTo>
                    <a:pt x="62" y="1667"/>
                  </a:lnTo>
                  <a:lnTo>
                    <a:pt x="71" y="1667"/>
                  </a:lnTo>
                  <a:lnTo>
                    <a:pt x="82" y="1667"/>
                  </a:lnTo>
                  <a:lnTo>
                    <a:pt x="92" y="1667"/>
                  </a:lnTo>
                  <a:lnTo>
                    <a:pt x="103" y="1667"/>
                  </a:lnTo>
                  <a:lnTo>
                    <a:pt x="113" y="1667"/>
                  </a:lnTo>
                  <a:lnTo>
                    <a:pt x="122" y="1667"/>
                  </a:lnTo>
                  <a:lnTo>
                    <a:pt x="133" y="1666"/>
                  </a:lnTo>
                  <a:lnTo>
                    <a:pt x="143" y="1666"/>
                  </a:lnTo>
                  <a:lnTo>
                    <a:pt x="154" y="1666"/>
                  </a:lnTo>
                  <a:lnTo>
                    <a:pt x="164" y="1663"/>
                  </a:lnTo>
                  <a:lnTo>
                    <a:pt x="174" y="1663"/>
                  </a:lnTo>
                  <a:lnTo>
                    <a:pt x="184" y="1663"/>
                  </a:lnTo>
                  <a:lnTo>
                    <a:pt x="195" y="1660"/>
                  </a:lnTo>
                  <a:lnTo>
                    <a:pt x="205" y="1660"/>
                  </a:lnTo>
                  <a:lnTo>
                    <a:pt x="215" y="1658"/>
                  </a:lnTo>
                  <a:lnTo>
                    <a:pt x="225" y="1655"/>
                  </a:lnTo>
                  <a:lnTo>
                    <a:pt x="236" y="1655"/>
                  </a:lnTo>
                  <a:lnTo>
                    <a:pt x="246" y="1654"/>
                  </a:lnTo>
                  <a:lnTo>
                    <a:pt x="256" y="1651"/>
                  </a:lnTo>
                  <a:lnTo>
                    <a:pt x="266" y="1648"/>
                  </a:lnTo>
                  <a:lnTo>
                    <a:pt x="277" y="1647"/>
                  </a:lnTo>
                  <a:lnTo>
                    <a:pt x="287" y="1644"/>
                  </a:lnTo>
                  <a:lnTo>
                    <a:pt x="297" y="1639"/>
                  </a:lnTo>
                  <a:lnTo>
                    <a:pt x="308" y="1637"/>
                  </a:lnTo>
                  <a:lnTo>
                    <a:pt x="317" y="1632"/>
                  </a:lnTo>
                  <a:lnTo>
                    <a:pt x="328" y="1628"/>
                  </a:lnTo>
                  <a:lnTo>
                    <a:pt x="338" y="1623"/>
                  </a:lnTo>
                  <a:lnTo>
                    <a:pt x="348" y="1619"/>
                  </a:lnTo>
                  <a:lnTo>
                    <a:pt x="358" y="1613"/>
                  </a:lnTo>
                  <a:lnTo>
                    <a:pt x="368" y="1608"/>
                  </a:lnTo>
                  <a:lnTo>
                    <a:pt x="379" y="1600"/>
                  </a:lnTo>
                  <a:lnTo>
                    <a:pt x="389" y="1593"/>
                  </a:lnTo>
                  <a:lnTo>
                    <a:pt x="399" y="1584"/>
                  </a:lnTo>
                  <a:lnTo>
                    <a:pt x="409" y="1577"/>
                  </a:lnTo>
                  <a:lnTo>
                    <a:pt x="419" y="1567"/>
                  </a:lnTo>
                  <a:lnTo>
                    <a:pt x="430" y="1555"/>
                  </a:lnTo>
                  <a:lnTo>
                    <a:pt x="440" y="1546"/>
                  </a:lnTo>
                  <a:lnTo>
                    <a:pt x="451" y="1535"/>
                  </a:lnTo>
                  <a:lnTo>
                    <a:pt x="460" y="1520"/>
                  </a:lnTo>
                  <a:lnTo>
                    <a:pt x="471" y="1507"/>
                  </a:lnTo>
                  <a:lnTo>
                    <a:pt x="481" y="1493"/>
                  </a:lnTo>
                  <a:lnTo>
                    <a:pt x="492" y="1477"/>
                  </a:lnTo>
                  <a:lnTo>
                    <a:pt x="501" y="1461"/>
                  </a:lnTo>
                  <a:lnTo>
                    <a:pt x="512" y="1445"/>
                  </a:lnTo>
                  <a:lnTo>
                    <a:pt x="522" y="1426"/>
                  </a:lnTo>
                  <a:lnTo>
                    <a:pt x="533" y="1404"/>
                  </a:lnTo>
                  <a:lnTo>
                    <a:pt x="543" y="1384"/>
                  </a:lnTo>
                  <a:lnTo>
                    <a:pt x="553" y="1363"/>
                  </a:lnTo>
                  <a:lnTo>
                    <a:pt x="563" y="1340"/>
                  </a:lnTo>
                  <a:lnTo>
                    <a:pt x="573" y="1314"/>
                  </a:lnTo>
                  <a:lnTo>
                    <a:pt x="584" y="1288"/>
                  </a:lnTo>
                  <a:lnTo>
                    <a:pt x="594" y="1263"/>
                  </a:lnTo>
                  <a:lnTo>
                    <a:pt x="604" y="1235"/>
                  </a:lnTo>
                  <a:lnTo>
                    <a:pt x="614" y="1205"/>
                  </a:lnTo>
                  <a:lnTo>
                    <a:pt x="624" y="1174"/>
                  </a:lnTo>
                  <a:lnTo>
                    <a:pt x="635" y="1144"/>
                  </a:lnTo>
                  <a:lnTo>
                    <a:pt x="644" y="1112"/>
                  </a:lnTo>
                  <a:lnTo>
                    <a:pt x="655" y="1077"/>
                  </a:lnTo>
                  <a:lnTo>
                    <a:pt x="665" y="1042"/>
                  </a:lnTo>
                  <a:lnTo>
                    <a:pt x="676" y="1007"/>
                  </a:lnTo>
                  <a:lnTo>
                    <a:pt x="686" y="972"/>
                  </a:lnTo>
                  <a:lnTo>
                    <a:pt x="696" y="933"/>
                  </a:lnTo>
                  <a:lnTo>
                    <a:pt x="706" y="895"/>
                  </a:lnTo>
                  <a:lnTo>
                    <a:pt x="716" y="856"/>
                  </a:lnTo>
                  <a:lnTo>
                    <a:pt x="727" y="818"/>
                  </a:lnTo>
                  <a:lnTo>
                    <a:pt x="737" y="776"/>
                  </a:lnTo>
                  <a:lnTo>
                    <a:pt x="747" y="737"/>
                  </a:lnTo>
                  <a:lnTo>
                    <a:pt x="757" y="698"/>
                  </a:lnTo>
                  <a:lnTo>
                    <a:pt x="768" y="656"/>
                  </a:lnTo>
                  <a:lnTo>
                    <a:pt x="778" y="616"/>
                  </a:lnTo>
                  <a:lnTo>
                    <a:pt x="788" y="577"/>
                  </a:lnTo>
                  <a:lnTo>
                    <a:pt x="798" y="535"/>
                  </a:lnTo>
                  <a:lnTo>
                    <a:pt x="809" y="496"/>
                  </a:lnTo>
                  <a:lnTo>
                    <a:pt x="819" y="458"/>
                  </a:lnTo>
                  <a:lnTo>
                    <a:pt x="830" y="419"/>
                  </a:lnTo>
                  <a:lnTo>
                    <a:pt x="839" y="381"/>
                  </a:lnTo>
                  <a:lnTo>
                    <a:pt x="850" y="344"/>
                  </a:lnTo>
                  <a:lnTo>
                    <a:pt x="860" y="310"/>
                  </a:lnTo>
                  <a:lnTo>
                    <a:pt x="870" y="275"/>
                  </a:lnTo>
                  <a:lnTo>
                    <a:pt x="881" y="241"/>
                  </a:lnTo>
                  <a:lnTo>
                    <a:pt x="890" y="212"/>
                  </a:lnTo>
                  <a:lnTo>
                    <a:pt x="901" y="182"/>
                  </a:lnTo>
                  <a:lnTo>
                    <a:pt x="911" y="154"/>
                  </a:lnTo>
                  <a:lnTo>
                    <a:pt x="921" y="128"/>
                  </a:lnTo>
                  <a:lnTo>
                    <a:pt x="931" y="105"/>
                  </a:lnTo>
                  <a:lnTo>
                    <a:pt x="941" y="84"/>
                  </a:lnTo>
                  <a:lnTo>
                    <a:pt x="952" y="65"/>
                  </a:lnTo>
                  <a:lnTo>
                    <a:pt x="962" y="47"/>
                  </a:lnTo>
                  <a:lnTo>
                    <a:pt x="972" y="32"/>
                  </a:lnTo>
                  <a:lnTo>
                    <a:pt x="982" y="20"/>
                  </a:lnTo>
                  <a:lnTo>
                    <a:pt x="993" y="12"/>
                  </a:lnTo>
                  <a:lnTo>
                    <a:pt x="1003" y="4"/>
                  </a:lnTo>
                  <a:lnTo>
                    <a:pt x="1013" y="0"/>
                  </a:lnTo>
                  <a:lnTo>
                    <a:pt x="1024" y="0"/>
                  </a:lnTo>
                  <a:lnTo>
                    <a:pt x="1034" y="0"/>
                  </a:lnTo>
                  <a:lnTo>
                    <a:pt x="1044" y="4"/>
                  </a:lnTo>
                  <a:lnTo>
                    <a:pt x="1054" y="12"/>
                  </a:lnTo>
                  <a:lnTo>
                    <a:pt x="1065" y="20"/>
                  </a:lnTo>
                  <a:lnTo>
                    <a:pt x="1075" y="32"/>
                  </a:lnTo>
                  <a:lnTo>
                    <a:pt x="1085" y="47"/>
                  </a:lnTo>
                  <a:lnTo>
                    <a:pt x="1095" y="65"/>
                  </a:lnTo>
                  <a:lnTo>
                    <a:pt x="1106" y="84"/>
                  </a:lnTo>
                  <a:lnTo>
                    <a:pt x="1116" y="105"/>
                  </a:lnTo>
                  <a:lnTo>
                    <a:pt x="1126" y="128"/>
                  </a:lnTo>
                  <a:lnTo>
                    <a:pt x="1136" y="154"/>
                  </a:lnTo>
                  <a:lnTo>
                    <a:pt x="1146" y="182"/>
                  </a:lnTo>
                  <a:lnTo>
                    <a:pt x="1157" y="212"/>
                  </a:lnTo>
                  <a:lnTo>
                    <a:pt x="1166" y="241"/>
                  </a:lnTo>
                  <a:lnTo>
                    <a:pt x="1177" y="275"/>
                  </a:lnTo>
                  <a:lnTo>
                    <a:pt x="1187" y="310"/>
                  </a:lnTo>
                  <a:lnTo>
                    <a:pt x="1197" y="344"/>
                  </a:lnTo>
                  <a:lnTo>
                    <a:pt x="1208" y="381"/>
                  </a:lnTo>
                  <a:lnTo>
                    <a:pt x="1217" y="419"/>
                  </a:lnTo>
                  <a:lnTo>
                    <a:pt x="1228" y="458"/>
                  </a:lnTo>
                  <a:lnTo>
                    <a:pt x="1238" y="496"/>
                  </a:lnTo>
                  <a:lnTo>
                    <a:pt x="1249" y="535"/>
                  </a:lnTo>
                  <a:lnTo>
                    <a:pt x="1259" y="577"/>
                  </a:lnTo>
                  <a:lnTo>
                    <a:pt x="1269" y="616"/>
                  </a:lnTo>
                  <a:lnTo>
                    <a:pt x="1279" y="656"/>
                  </a:lnTo>
                  <a:lnTo>
                    <a:pt x="1290" y="698"/>
                  </a:lnTo>
                  <a:lnTo>
                    <a:pt x="1300" y="737"/>
                  </a:lnTo>
                  <a:lnTo>
                    <a:pt x="1310" y="776"/>
                  </a:lnTo>
                  <a:lnTo>
                    <a:pt x="1320" y="818"/>
                  </a:lnTo>
                  <a:lnTo>
                    <a:pt x="1331" y="856"/>
                  </a:lnTo>
                  <a:lnTo>
                    <a:pt x="1341" y="895"/>
                  </a:lnTo>
                  <a:lnTo>
                    <a:pt x="1351" y="933"/>
                  </a:lnTo>
                  <a:lnTo>
                    <a:pt x="1361" y="972"/>
                  </a:lnTo>
                  <a:lnTo>
                    <a:pt x="1371" y="1007"/>
                  </a:lnTo>
                  <a:lnTo>
                    <a:pt x="1382" y="1042"/>
                  </a:lnTo>
                  <a:lnTo>
                    <a:pt x="1392" y="1077"/>
                  </a:lnTo>
                  <a:lnTo>
                    <a:pt x="1403" y="1112"/>
                  </a:lnTo>
                  <a:lnTo>
                    <a:pt x="1412" y="1144"/>
                  </a:lnTo>
                  <a:lnTo>
                    <a:pt x="1423" y="1174"/>
                  </a:lnTo>
                  <a:lnTo>
                    <a:pt x="1433" y="1205"/>
                  </a:lnTo>
                  <a:lnTo>
                    <a:pt x="1443" y="1235"/>
                  </a:lnTo>
                  <a:lnTo>
                    <a:pt x="1453" y="1263"/>
                  </a:lnTo>
                  <a:lnTo>
                    <a:pt x="1463" y="1288"/>
                  </a:lnTo>
                  <a:lnTo>
                    <a:pt x="1474" y="1314"/>
                  </a:lnTo>
                  <a:lnTo>
                    <a:pt x="1484" y="1340"/>
                  </a:lnTo>
                  <a:lnTo>
                    <a:pt x="1494" y="1363"/>
                  </a:lnTo>
                  <a:lnTo>
                    <a:pt x="1504" y="1384"/>
                  </a:lnTo>
                  <a:lnTo>
                    <a:pt x="1514" y="1404"/>
                  </a:lnTo>
                  <a:lnTo>
                    <a:pt x="1525" y="1426"/>
                  </a:lnTo>
                  <a:lnTo>
                    <a:pt x="1535" y="1445"/>
                  </a:lnTo>
                  <a:lnTo>
                    <a:pt x="1546" y="1461"/>
                  </a:lnTo>
                  <a:lnTo>
                    <a:pt x="1555" y="1477"/>
                  </a:lnTo>
                  <a:lnTo>
                    <a:pt x="1566" y="1493"/>
                  </a:lnTo>
                  <a:lnTo>
                    <a:pt x="1576" y="1507"/>
                  </a:lnTo>
                  <a:lnTo>
                    <a:pt x="1587" y="1520"/>
                  </a:lnTo>
                  <a:lnTo>
                    <a:pt x="1596" y="1535"/>
                  </a:lnTo>
                  <a:lnTo>
                    <a:pt x="1607" y="1546"/>
                  </a:lnTo>
                  <a:lnTo>
                    <a:pt x="1617" y="1555"/>
                  </a:lnTo>
                  <a:lnTo>
                    <a:pt x="1628" y="1567"/>
                  </a:lnTo>
                  <a:lnTo>
                    <a:pt x="1638" y="1577"/>
                  </a:lnTo>
                  <a:lnTo>
                    <a:pt x="1648" y="1584"/>
                  </a:lnTo>
                  <a:lnTo>
                    <a:pt x="1658" y="1593"/>
                  </a:lnTo>
                  <a:lnTo>
                    <a:pt x="1668" y="1600"/>
                  </a:lnTo>
                  <a:lnTo>
                    <a:pt x="1679" y="1608"/>
                  </a:lnTo>
                  <a:lnTo>
                    <a:pt x="1689" y="1613"/>
                  </a:lnTo>
                  <a:lnTo>
                    <a:pt x="1699" y="1619"/>
                  </a:lnTo>
                  <a:lnTo>
                    <a:pt x="1709" y="1623"/>
                  </a:lnTo>
                  <a:lnTo>
                    <a:pt x="1719" y="1628"/>
                  </a:lnTo>
                  <a:lnTo>
                    <a:pt x="1730" y="1632"/>
                  </a:lnTo>
                  <a:lnTo>
                    <a:pt x="1739" y="1637"/>
                  </a:lnTo>
                  <a:lnTo>
                    <a:pt x="1750" y="1639"/>
                  </a:lnTo>
                  <a:lnTo>
                    <a:pt x="1760" y="1644"/>
                  </a:lnTo>
                  <a:lnTo>
                    <a:pt x="1770" y="1647"/>
                  </a:lnTo>
                  <a:lnTo>
                    <a:pt x="1781" y="1648"/>
                  </a:lnTo>
                  <a:lnTo>
                    <a:pt x="1791" y="1651"/>
                  </a:lnTo>
                  <a:lnTo>
                    <a:pt x="1801" y="1654"/>
                  </a:lnTo>
                  <a:lnTo>
                    <a:pt x="1811" y="1655"/>
                  </a:lnTo>
                  <a:lnTo>
                    <a:pt x="1822" y="1655"/>
                  </a:lnTo>
                  <a:lnTo>
                    <a:pt x="1832" y="1658"/>
                  </a:lnTo>
                  <a:lnTo>
                    <a:pt x="1842" y="1660"/>
                  </a:lnTo>
                  <a:lnTo>
                    <a:pt x="1852" y="1660"/>
                  </a:lnTo>
                  <a:lnTo>
                    <a:pt x="1863" y="1663"/>
                  </a:lnTo>
                  <a:lnTo>
                    <a:pt x="1873" y="1663"/>
                  </a:lnTo>
                  <a:lnTo>
                    <a:pt x="1883" y="1663"/>
                  </a:lnTo>
                  <a:lnTo>
                    <a:pt x="1893" y="1666"/>
                  </a:lnTo>
                  <a:lnTo>
                    <a:pt x="1904" y="1666"/>
                  </a:lnTo>
                  <a:lnTo>
                    <a:pt x="1914" y="1666"/>
                  </a:lnTo>
                  <a:lnTo>
                    <a:pt x="1925" y="1667"/>
                  </a:lnTo>
                  <a:lnTo>
                    <a:pt x="1934" y="1667"/>
                  </a:lnTo>
                  <a:lnTo>
                    <a:pt x="1944" y="1667"/>
                  </a:lnTo>
                  <a:lnTo>
                    <a:pt x="1955" y="1667"/>
                  </a:lnTo>
                  <a:lnTo>
                    <a:pt x="1965" y="1667"/>
                  </a:lnTo>
                  <a:lnTo>
                    <a:pt x="1976" y="1667"/>
                  </a:lnTo>
                  <a:lnTo>
                    <a:pt x="1985" y="1667"/>
                  </a:lnTo>
                  <a:lnTo>
                    <a:pt x="1996" y="1667"/>
                  </a:lnTo>
                  <a:lnTo>
                    <a:pt x="2006" y="1670"/>
                  </a:lnTo>
                  <a:lnTo>
                    <a:pt x="2016" y="1670"/>
                  </a:lnTo>
                  <a:lnTo>
                    <a:pt x="2026" y="1670"/>
                  </a:lnTo>
                  <a:lnTo>
                    <a:pt x="2036" y="1670"/>
                  </a:lnTo>
                  <a:lnTo>
                    <a:pt x="2047" y="1670"/>
                  </a:lnTo>
                </a:path>
              </a:pathLst>
            </a:custGeom>
            <a:solidFill>
              <a:srgbClr val="CCFFFF"/>
            </a:solidFill>
            <a:ln w="25400" cap="rnd" cmpd="sng">
              <a:solidFill>
                <a:srgbClr val="CC0000"/>
              </a:solidFill>
              <a:prstDash val="solid"/>
              <a:round/>
              <a:headEnd type="none" w="sm" len="sm"/>
              <a:tailEnd type="none" w="sm" len="sm"/>
            </a:ln>
          </p:spPr>
          <p:txBody>
            <a:bodyPr/>
            <a:lstStyle/>
            <a:p>
              <a:pPr fontAlgn="base">
                <a:spcBef>
                  <a:spcPct val="0"/>
                </a:spcBef>
                <a:spcAft>
                  <a:spcPct val="0"/>
                </a:spcAft>
              </a:pPr>
              <a:endParaRPr kumimoji="1" lang="ko-KR" altLang="en-US" dirty="0">
                <a:solidFill>
                  <a:prstClr val="black"/>
                </a:solidFill>
              </a:endParaRPr>
            </a:p>
          </p:txBody>
        </p:sp>
        <p:sp>
          <p:nvSpPr>
            <p:cNvPr id="48" name="Line 29"/>
            <p:cNvSpPr>
              <a:spLocks noChangeShapeType="1"/>
            </p:cNvSpPr>
            <p:nvPr/>
          </p:nvSpPr>
          <p:spPr bwMode="auto">
            <a:xfrm>
              <a:off x="5813426" y="4662488"/>
              <a:ext cx="2198688" cy="0"/>
            </a:xfrm>
            <a:prstGeom prst="line">
              <a:avLst/>
            </a:prstGeom>
            <a:noFill/>
            <a:ln w="12700">
              <a:solidFill>
                <a:srgbClr val="CC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ndParaRPr>
            </a:p>
          </p:txBody>
        </p:sp>
        <p:sp>
          <p:nvSpPr>
            <p:cNvPr id="49" name="Line 30"/>
            <p:cNvSpPr>
              <a:spLocks noChangeShapeType="1"/>
            </p:cNvSpPr>
            <p:nvPr/>
          </p:nvSpPr>
          <p:spPr bwMode="auto">
            <a:xfrm>
              <a:off x="6848475" y="3879850"/>
              <a:ext cx="0" cy="788988"/>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lIns="0" tIns="43200" rIns="90000" bIns="43200" anchor="ctr"/>
            <a:lstStyle/>
            <a:p>
              <a:pPr fontAlgn="base">
                <a:spcBef>
                  <a:spcPct val="0"/>
                </a:spcBef>
                <a:spcAft>
                  <a:spcPct val="0"/>
                </a:spcAft>
              </a:pPr>
              <a:endParaRPr kumimoji="1" lang="ko-KR" altLang="en-US" dirty="0">
                <a:solidFill>
                  <a:prstClr val="black"/>
                </a:solidFill>
              </a:endParaRPr>
            </a:p>
          </p:txBody>
        </p:sp>
        <p:sp>
          <p:nvSpPr>
            <p:cNvPr id="50" name="Text Box 32"/>
            <p:cNvSpPr txBox="1">
              <a:spLocks noChangeArrowheads="1"/>
            </p:cNvSpPr>
            <p:nvPr/>
          </p:nvSpPr>
          <p:spPr bwMode="auto">
            <a:xfrm>
              <a:off x="4566596" y="2864541"/>
              <a:ext cx="1451254" cy="1936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lnSpc>
                  <a:spcPct val="80000"/>
                </a:lnSpc>
                <a:spcBef>
                  <a:spcPct val="50000"/>
                </a:spcBef>
                <a:spcAft>
                  <a:spcPct val="0"/>
                </a:spcAft>
              </a:pPr>
              <a:r>
                <a:rPr lang="en-US" altLang="ko-KR" b="1" dirty="0" err="1">
                  <a:solidFill>
                    <a:prstClr val="black"/>
                  </a:solidFill>
                  <a:latin typeface="맑은 고딕" pitchFamily="50" charset="-127"/>
                  <a:ea typeface="맑은 고딕" pitchFamily="50" charset="-127"/>
                </a:rPr>
                <a:t>Loại</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bỏ</a:t>
              </a:r>
              <a:endParaRPr lang="en-US" altLang="ko-KR" b="1" dirty="0">
                <a:solidFill>
                  <a:prstClr val="black"/>
                </a:solidFill>
                <a:latin typeface="맑은 고딕" pitchFamily="50" charset="-127"/>
                <a:ea typeface="맑은 고딕" pitchFamily="50" charset="-127"/>
              </a:endParaRPr>
            </a:p>
            <a:p>
              <a:pPr eaLnBrk="1" fontAlgn="ctr" hangingPunct="1">
                <a:lnSpc>
                  <a:spcPct val="80000"/>
                </a:lnSpc>
                <a:spcBef>
                  <a:spcPct val="50000"/>
                </a:spcBef>
                <a:spcAft>
                  <a:spcPct val="0"/>
                </a:spcAft>
              </a:pPr>
              <a:r>
                <a:rPr lang="en-US" altLang="ko-KR" b="1" dirty="0" err="1">
                  <a:solidFill>
                    <a:prstClr val="black"/>
                  </a:solidFill>
                  <a:latin typeface="맑은 고딕" pitchFamily="50" charset="-127"/>
                  <a:ea typeface="맑은 고딕" pitchFamily="50" charset="-127"/>
                </a:rPr>
                <a:t>nguyên</a:t>
              </a:r>
              <a:r>
                <a:rPr lang="en-US" altLang="ko-KR" b="1" dirty="0">
                  <a:solidFill>
                    <a:prstClr val="black"/>
                  </a:solidFill>
                  <a:latin typeface="맑은 고딕" pitchFamily="50" charset="-127"/>
                  <a:ea typeface="맑은 고딕" pitchFamily="50" charset="-127"/>
                </a:rPr>
                <a:t> </a:t>
              </a:r>
            </a:p>
            <a:p>
              <a:pPr eaLnBrk="1" fontAlgn="ctr" hangingPunct="1">
                <a:lnSpc>
                  <a:spcPct val="80000"/>
                </a:lnSpc>
                <a:spcBef>
                  <a:spcPct val="50000"/>
                </a:spcBef>
                <a:spcAft>
                  <a:spcPct val="0"/>
                </a:spcAft>
              </a:pPr>
              <a:r>
                <a:rPr lang="en-US" altLang="ko-KR" b="1" dirty="0" err="1">
                  <a:solidFill>
                    <a:prstClr val="black"/>
                  </a:solidFill>
                  <a:latin typeface="맑은 고딕" pitchFamily="50" charset="-127"/>
                  <a:ea typeface="맑은 고딕" pitchFamily="50" charset="-127"/>
                </a:rPr>
                <a:t>nhân</a:t>
              </a:r>
              <a:r>
                <a:rPr lang="en-US" altLang="ko-KR" b="1" dirty="0">
                  <a:solidFill>
                    <a:prstClr val="black"/>
                  </a:solidFill>
                  <a:latin typeface="맑은 고딕" pitchFamily="50" charset="-127"/>
                  <a:ea typeface="맑은 고딕" pitchFamily="50" charset="-127"/>
                </a:rPr>
                <a:t> </a:t>
              </a:r>
            </a:p>
            <a:p>
              <a:pPr eaLnBrk="1" fontAlgn="ctr" hangingPunct="1">
                <a:lnSpc>
                  <a:spcPct val="80000"/>
                </a:lnSpc>
                <a:spcBef>
                  <a:spcPct val="50000"/>
                </a:spcBef>
                <a:spcAft>
                  <a:spcPct val="0"/>
                </a:spcAft>
              </a:pPr>
              <a:r>
                <a:rPr lang="en-US" altLang="ko-KR" b="1" dirty="0" err="1">
                  <a:solidFill>
                    <a:prstClr val="black"/>
                  </a:solidFill>
                  <a:latin typeface="맑은 고딕" pitchFamily="50" charset="-127"/>
                  <a:ea typeface="맑은 고딕" pitchFamily="50" charset="-127"/>
                </a:rPr>
                <a:t>không</a:t>
              </a:r>
              <a:r>
                <a:rPr lang="en-US" altLang="ko-KR" b="1" dirty="0">
                  <a:solidFill>
                    <a:prstClr val="black"/>
                  </a:solidFill>
                  <a:latin typeface="맑은 고딕" pitchFamily="50" charset="-127"/>
                  <a:ea typeface="맑은 고딕" pitchFamily="50" charset="-127"/>
                </a:rPr>
                <a:t> </a:t>
              </a:r>
            </a:p>
            <a:p>
              <a:pPr eaLnBrk="1" fontAlgn="ctr" hangingPunct="1">
                <a:lnSpc>
                  <a:spcPct val="80000"/>
                </a:lnSpc>
                <a:spcBef>
                  <a:spcPct val="50000"/>
                </a:spcBef>
                <a:spcAft>
                  <a:spcPct val="0"/>
                </a:spcAft>
              </a:pPr>
              <a:r>
                <a:rPr lang="en-US" altLang="ko-KR" b="1" dirty="0" err="1">
                  <a:solidFill>
                    <a:prstClr val="black"/>
                  </a:solidFill>
                  <a:latin typeface="맑은 고딕" pitchFamily="50" charset="-127"/>
                  <a:ea typeface="맑은 고딕" pitchFamily="50" charset="-127"/>
                </a:rPr>
                <a:t>ngẫu</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nhiên</a:t>
              </a:r>
              <a:endParaRPr lang="ko-KR" altLang="en-US" b="1" dirty="0">
                <a:solidFill>
                  <a:prstClr val="black"/>
                </a:solidFill>
                <a:latin typeface="맑은 고딕" pitchFamily="50" charset="-127"/>
                <a:ea typeface="맑은 고딕" pitchFamily="50" charset="-127"/>
              </a:endParaRPr>
            </a:p>
          </p:txBody>
        </p:sp>
        <p:sp>
          <p:nvSpPr>
            <p:cNvPr id="52" name="Rectangle 67"/>
            <p:cNvSpPr>
              <a:spLocks noChangeArrowheads="1"/>
            </p:cNvSpPr>
            <p:nvPr/>
          </p:nvSpPr>
          <p:spPr bwMode="auto">
            <a:xfrm>
              <a:off x="569550" y="1288851"/>
              <a:ext cx="4513315" cy="647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buFont typeface="Wingdings" pitchFamily="2" charset="2"/>
                <a:buChar char="§"/>
              </a:pP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Trạng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thái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không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ngẫu</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nhiên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thống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kê</a:t>
              </a:r>
              <a:endParaRPr lang="en-US" altLang="ko-KR" sz="1600" b="1" dirty="0">
                <a:solidFill>
                  <a:prstClr val="black"/>
                </a:solidFill>
                <a:latin typeface="맑은 고딕" pitchFamily="50" charset="-127"/>
                <a:ea typeface="맑은 고딕" pitchFamily="50" charset="-127"/>
              </a:endParaRPr>
            </a:p>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 </a:t>
              </a:r>
              <a:r>
                <a:rPr lang="en-US" altLang="ko-KR" sz="1600" b="1" dirty="0">
                  <a:solidFill>
                    <a:prstClr val="black"/>
                  </a:solidFill>
                  <a:latin typeface="맑은 고딕" pitchFamily="50" charset="-127"/>
                  <a:ea typeface="맑은 고딕" pitchFamily="50" charset="-127"/>
                </a:rPr>
                <a:t>(process </a:t>
              </a:r>
              <a:r>
                <a:rPr lang="en-US" altLang="ko-KR" sz="1600" b="1" dirty="0" err="1">
                  <a:solidFill>
                    <a:prstClr val="black"/>
                  </a:solidFill>
                  <a:latin typeface="맑은 고딕" pitchFamily="50" charset="-127"/>
                  <a:ea typeface="맑은 고딕" pitchFamily="50" charset="-127"/>
                </a:rPr>
                <a:t>không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ổn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định</a:t>
              </a:r>
              <a:r>
                <a:rPr lang="en-US" altLang="ko-KR" sz="1600" b="1" dirty="0">
                  <a:solidFill>
                    <a:prstClr val="black"/>
                  </a:solidFill>
                  <a:latin typeface="맑은 고딕" pitchFamily="50" charset="-127"/>
                  <a:ea typeface="맑은 고딕" pitchFamily="50" charset="-127"/>
                </a:rPr>
                <a:t>)</a:t>
              </a:r>
            </a:p>
          </p:txBody>
        </p:sp>
        <p:sp>
          <p:nvSpPr>
            <p:cNvPr id="53" name="Rectangle 68"/>
            <p:cNvSpPr>
              <a:spLocks noChangeArrowheads="1"/>
            </p:cNvSpPr>
            <p:nvPr/>
          </p:nvSpPr>
          <p:spPr bwMode="auto">
            <a:xfrm>
              <a:off x="5575307" y="1345740"/>
              <a:ext cx="4200730" cy="647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buFont typeface="Wingdings" pitchFamily="2" charset="2"/>
                <a:buChar char="§"/>
              </a:pP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Trạng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thái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quản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lí</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thống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kê</a:t>
              </a:r>
              <a:r>
                <a:rPr lang="ko-KR" altLang="en-US" sz="1600" b="1" dirty="0">
                  <a:solidFill>
                    <a:prstClr val="black"/>
                  </a:solidFill>
                  <a:latin typeface="맑은 고딕" pitchFamily="50" charset="-127"/>
                  <a:ea typeface="맑은 고딕" pitchFamily="50" charset="-127"/>
                </a:rPr>
                <a:t> </a:t>
              </a:r>
              <a:endParaRPr lang="en-US" altLang="ko-KR" sz="1600" b="1" dirty="0">
                <a:solidFill>
                  <a:prstClr val="black"/>
                </a:solidFill>
                <a:latin typeface="맑은 고딕" pitchFamily="50" charset="-127"/>
                <a:ea typeface="맑은 고딕" pitchFamily="50" charset="-127"/>
              </a:endParaRPr>
            </a:p>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a:t>
              </a:r>
              <a:r>
                <a:rPr lang="en-US" altLang="ko-KR" sz="1600" b="1" dirty="0" err="1">
                  <a:solidFill>
                    <a:prstClr val="black"/>
                  </a:solidFill>
                  <a:latin typeface="맑은 고딕" pitchFamily="50" charset="-127"/>
                  <a:ea typeface="맑은 고딕" pitchFamily="50" charset="-127"/>
                </a:rPr>
                <a:t>Phát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sinh</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ngẫu</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nhiên</a:t>
              </a:r>
              <a:r>
                <a:rPr lang="en-US" altLang="ko-KR" sz="1600" b="1" dirty="0">
                  <a:solidFill>
                    <a:prstClr val="black"/>
                  </a:solidFill>
                  <a:latin typeface="맑은 고딕" pitchFamily="50" charset="-127"/>
                  <a:ea typeface="맑은 고딕" pitchFamily="50" charset="-127"/>
                </a:rPr>
                <a:t>)</a:t>
              </a:r>
            </a:p>
          </p:txBody>
        </p:sp>
      </p:grpSp>
      <p:sp>
        <p:nvSpPr>
          <p:cNvPr id="3" name="직사각형 2"/>
          <p:cNvSpPr/>
          <p:nvPr/>
        </p:nvSpPr>
        <p:spPr>
          <a:xfrm>
            <a:off x="530120" y="764704"/>
            <a:ext cx="8290351" cy="923330"/>
          </a:xfrm>
          <a:prstGeom prst="rect">
            <a:avLst/>
          </a:prstGeom>
        </p:spPr>
        <p:txBody>
          <a:bodyPr wrap="square">
            <a:spAutoFit/>
          </a:bodyPr>
          <a:lstStyle/>
          <a:p>
            <a:pPr fontAlgn="base">
              <a:lnSpc>
                <a:spcPct val="150000"/>
              </a:lnSpc>
              <a:spcBef>
                <a:spcPct val="0"/>
              </a:spcBef>
              <a:spcAft>
                <a:spcPct val="0"/>
              </a:spcAft>
            </a:pPr>
            <a:r>
              <a:rPr kumimoji="1" lang="en-US" altLang="ko-KR" dirty="0" err="1">
                <a:solidFill>
                  <a:prstClr val="black"/>
                </a:solidFill>
                <a:latin typeface="굴림" pitchFamily="50" charset="-127"/>
                <a:ea typeface="굴림" pitchFamily="50" charset="-127"/>
              </a:rPr>
              <a:t>Phát</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hiện</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và</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loại</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bỏ</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sớm</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những</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nguyên</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nhân</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không</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ngẫu</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nhiên</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phát</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sinh</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trong</a:t>
            </a:r>
            <a:r>
              <a:rPr kumimoji="1" lang="en-US" altLang="ko-KR" dirty="0">
                <a:solidFill>
                  <a:prstClr val="black"/>
                </a:solidFill>
                <a:latin typeface="굴림" pitchFamily="50" charset="-127"/>
                <a:ea typeface="굴림" pitchFamily="50" charset="-127"/>
              </a:rPr>
              <a:t> process, </a:t>
            </a:r>
            <a:r>
              <a:rPr kumimoji="1" lang="en-US" altLang="ko-KR" dirty="0" err="1">
                <a:solidFill>
                  <a:prstClr val="black"/>
                </a:solidFill>
                <a:latin typeface="굴림" pitchFamily="50" charset="-127"/>
                <a:ea typeface="굴림" pitchFamily="50" charset="-127"/>
              </a:rPr>
              <a:t>duy</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trì</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trạng</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thái</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ổn</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định</a:t>
            </a:r>
            <a:r>
              <a:rPr kumimoji="1" lang="en-US" altLang="ko-KR" dirty="0">
                <a:solidFill>
                  <a:prstClr val="black"/>
                </a:solidFill>
                <a:latin typeface="굴림" pitchFamily="50" charset="-127"/>
                <a:ea typeface="굴림" pitchFamily="50" charset="-127"/>
              </a:rPr>
              <a:t> </a:t>
            </a:r>
            <a:r>
              <a:rPr kumimoji="1" lang="en-US" altLang="ko-KR" dirty="0" err="1">
                <a:solidFill>
                  <a:prstClr val="black"/>
                </a:solidFill>
                <a:latin typeface="굴림" pitchFamily="50" charset="-127"/>
                <a:ea typeface="굴림" pitchFamily="50" charset="-127"/>
              </a:rPr>
              <a:t>của</a:t>
            </a:r>
            <a:r>
              <a:rPr kumimoji="1" lang="en-US" altLang="ko-KR" dirty="0">
                <a:solidFill>
                  <a:prstClr val="black"/>
                </a:solidFill>
                <a:latin typeface="굴림" pitchFamily="50" charset="-127"/>
                <a:ea typeface="굴림" pitchFamily="50" charset="-127"/>
              </a:rPr>
              <a:t> process</a:t>
            </a:r>
            <a:endParaRPr kumimoji="1" lang="ko-KR" altLang="en-US" dirty="0">
              <a:solidFill>
                <a:prstClr val="black"/>
              </a:solidFill>
              <a:latin typeface="굴림" pitchFamily="50" charset="-127"/>
              <a:ea typeface="굴림" pitchFamily="50" charset="-127"/>
            </a:endParaRPr>
          </a:p>
        </p:txBody>
      </p:sp>
      <p:sp>
        <p:nvSpPr>
          <p:cNvPr id="54" name="Text Box 10"/>
          <p:cNvSpPr txBox="1">
            <a:spLocks noChangeArrowheads="1"/>
          </p:cNvSpPr>
          <p:nvPr/>
        </p:nvSpPr>
        <p:spPr bwMode="auto">
          <a:xfrm>
            <a:off x="6250172" y="116632"/>
            <a:ext cx="2741428" cy="338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6" tIns="45713" rIns="91426" bIns="45713">
            <a:spAutoFit/>
          </a:bodyPr>
          <a:lstStyle>
            <a:lvl1pPr eaLnBrk="0" hangingPunct="0">
              <a:defRPr kumimoji="1">
                <a:solidFill>
                  <a:schemeClr val="tx1"/>
                </a:solidFill>
                <a:latin typeface="굴림" charset="-127"/>
                <a:ea typeface="굴림" charset="-127"/>
              </a:defRPr>
            </a:lvl1pPr>
            <a:lvl2pPr marL="742950" indent="-285750" eaLnBrk="0" hangingPunct="0">
              <a:defRPr kumimoji="1">
                <a:solidFill>
                  <a:schemeClr val="tx1"/>
                </a:solidFill>
                <a:latin typeface="굴림" charset="-127"/>
                <a:ea typeface="굴림" charset="-127"/>
              </a:defRPr>
            </a:lvl2pPr>
            <a:lvl3pPr marL="1143000" indent="-228600" eaLnBrk="0" hangingPunct="0">
              <a:defRPr kumimoji="1">
                <a:solidFill>
                  <a:schemeClr val="tx1"/>
                </a:solidFill>
                <a:latin typeface="굴림" charset="-127"/>
                <a:ea typeface="굴림" charset="-127"/>
              </a:defRPr>
            </a:lvl3pPr>
            <a:lvl4pPr marL="1600200" indent="-228600" eaLnBrk="0" hangingPunct="0">
              <a:defRPr kumimoji="1">
                <a:solidFill>
                  <a:schemeClr val="tx1"/>
                </a:solidFill>
                <a:latin typeface="굴림" charset="-127"/>
                <a:ea typeface="굴림" charset="-127"/>
              </a:defRPr>
            </a:lvl4pPr>
            <a:lvl5pPr marL="2057400" indent="-228600" eaLnBrk="0" hangingPunct="0">
              <a:defRPr kumimoji="1">
                <a:solidFill>
                  <a:schemeClr val="tx1"/>
                </a:solidFill>
                <a:latin typeface="굴림" charset="-127"/>
                <a:ea typeface="굴림" charset="-127"/>
              </a:defRPr>
            </a:lvl5pPr>
            <a:lvl6pPr marL="2514600" indent="-228600" eaLnBrk="0" fontAlgn="base" hangingPunct="0">
              <a:spcBef>
                <a:spcPct val="0"/>
              </a:spcBef>
              <a:spcAft>
                <a:spcPct val="0"/>
              </a:spcAft>
              <a:defRPr kumimoji="1">
                <a:solidFill>
                  <a:schemeClr val="tx1"/>
                </a:solidFill>
                <a:latin typeface="굴림" charset="-127"/>
                <a:ea typeface="굴림" charset="-127"/>
              </a:defRPr>
            </a:lvl6pPr>
            <a:lvl7pPr marL="2971800" indent="-228600" eaLnBrk="0" fontAlgn="base" hangingPunct="0">
              <a:spcBef>
                <a:spcPct val="0"/>
              </a:spcBef>
              <a:spcAft>
                <a:spcPct val="0"/>
              </a:spcAft>
              <a:defRPr kumimoji="1">
                <a:solidFill>
                  <a:schemeClr val="tx1"/>
                </a:solidFill>
                <a:latin typeface="굴림" charset="-127"/>
                <a:ea typeface="굴림" charset="-127"/>
              </a:defRPr>
            </a:lvl7pPr>
            <a:lvl8pPr marL="3429000" indent="-228600" eaLnBrk="0" fontAlgn="base" hangingPunct="0">
              <a:spcBef>
                <a:spcPct val="0"/>
              </a:spcBef>
              <a:spcAft>
                <a:spcPct val="0"/>
              </a:spcAft>
              <a:defRPr kumimoji="1">
                <a:solidFill>
                  <a:schemeClr val="tx1"/>
                </a:solidFill>
                <a:latin typeface="굴림" charset="-127"/>
                <a:ea typeface="굴림" charset="-127"/>
              </a:defRPr>
            </a:lvl8pPr>
            <a:lvl9pPr marL="3886200" indent="-228600" eaLnBrk="0" fontAlgn="base" hangingPunct="0">
              <a:spcBef>
                <a:spcPct val="0"/>
              </a:spcBef>
              <a:spcAft>
                <a:spcPct val="0"/>
              </a:spcAft>
              <a:defRPr kumimoji="1">
                <a:solidFill>
                  <a:schemeClr val="tx1"/>
                </a:solidFill>
                <a:latin typeface="굴림" charset="-127"/>
                <a:ea typeface="굴림" charset="-127"/>
              </a:defRPr>
            </a:lvl9pPr>
          </a:lstStyle>
          <a:p>
            <a:pPr eaLnBrk="1" fontAlgn="base" hangingPunct="1">
              <a:spcBef>
                <a:spcPct val="0"/>
              </a:spcBef>
              <a:spcAft>
                <a:spcPct val="0"/>
              </a:spcAft>
              <a:buSzPct val="130000"/>
              <a:buFont typeface="Wingdings" pitchFamily="2" charset="2"/>
              <a:buNone/>
            </a:pP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Vận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hành</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đồ</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thị</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quản</a:t>
            </a:r>
            <a:r>
              <a:rPr lang="en-US" altLang="ko-KR" sz="1600" b="1" dirty="0">
                <a:solidFill>
                  <a:prstClr val="black"/>
                </a:solidFill>
                <a:latin typeface="맑은 고딕"/>
                <a:ea typeface="맑은 고딕"/>
              </a:rPr>
              <a:t> </a:t>
            </a:r>
            <a:r>
              <a:rPr lang="en-US" altLang="ko-KR" sz="1600" b="1" dirty="0" err="1">
                <a:solidFill>
                  <a:prstClr val="black"/>
                </a:solidFill>
                <a:latin typeface="맑은 고딕"/>
                <a:ea typeface="맑은 고딕"/>
              </a:rPr>
              <a:t>lý</a:t>
            </a:r>
            <a:endParaRPr lang="ko-KR" altLang="en-US" sz="1600" b="1" dirty="0">
              <a:solidFill>
                <a:prstClr val="black"/>
              </a:solidFill>
              <a:latin typeface="맑은 고딕"/>
              <a:ea typeface="맑은 고딕"/>
            </a:endParaRPr>
          </a:p>
        </p:txBody>
      </p:sp>
      <p:sp>
        <p:nvSpPr>
          <p:cNvPr id="5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267</a:t>
            </a:fld>
            <a:endParaRPr lang="ko-KR" altLang="en-US" sz="1200" dirty="0">
              <a:solidFill>
                <a:prstClr val="black"/>
              </a:solidFill>
            </a:endParaRPr>
          </a:p>
        </p:txBody>
      </p:sp>
      <p:sp>
        <p:nvSpPr>
          <p:cNvPr id="55" name="Text Box 39"/>
          <p:cNvSpPr txBox="1">
            <a:spLocks noChangeArrowheads="1"/>
          </p:cNvSpPr>
          <p:nvPr/>
        </p:nvSpPr>
        <p:spPr bwMode="auto">
          <a:xfrm>
            <a:off x="127732" y="76562"/>
            <a:ext cx="45236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Tree>
    <p:extLst>
      <p:ext uri="{BB962C8B-B14F-4D97-AF65-F5344CB8AC3E}">
        <p14:creationId xmlns:p14="http://schemas.microsoft.com/office/powerpoint/2010/main" val="1242097203"/>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3"/>
          <p:cNvSpPr>
            <a:spLocks noChangeArrowheads="1"/>
          </p:cNvSpPr>
          <p:nvPr/>
        </p:nvSpPr>
        <p:spPr bwMode="auto">
          <a:xfrm>
            <a:off x="1985597" y="2186958"/>
            <a:ext cx="1861038" cy="431800"/>
          </a:xfrm>
          <a:prstGeom prst="rect">
            <a:avLst/>
          </a:prstGeom>
          <a:solidFill>
            <a:schemeClr val="bg1">
              <a:lumMod val="75000"/>
            </a:schemeClr>
          </a:solidFill>
          <a:ln w="9525" algn="ctr">
            <a:solidFill>
              <a:schemeClr val="tx1"/>
            </a:solidFill>
            <a:miter lim="800000"/>
            <a:headEnd/>
            <a:tailEnd/>
          </a:ln>
          <a:effectLst>
            <a:outerShdw blurRad="50800" dist="38100" dir="2700000" algn="tl" rotWithShape="0">
              <a:prstClr val="black">
                <a:alpha val="40000"/>
              </a:prstClr>
            </a:outerShdw>
          </a:effectLst>
        </p:spPr>
        <p:txBody>
          <a:bodyPr wrap="none" anchor="ctr"/>
          <a:lstStyle/>
          <a:p>
            <a:pPr algn="ctr" fontAlgn="base">
              <a:spcBef>
                <a:spcPct val="0"/>
              </a:spcBef>
              <a:spcAft>
                <a:spcPct val="0"/>
              </a:spcAft>
            </a:pPr>
            <a:r>
              <a:rPr kumimoji="1" lang="en-US" altLang="ko-KR" sz="1400" b="1" dirty="0">
                <a:solidFill>
                  <a:srgbClr val="FFFFFF"/>
                </a:solidFill>
              </a:rPr>
              <a:t>Continuous</a:t>
            </a:r>
          </a:p>
        </p:txBody>
      </p:sp>
      <p:sp>
        <p:nvSpPr>
          <p:cNvPr id="461827" name="AutoShape 4"/>
          <p:cNvSpPr>
            <a:spLocks noChangeArrowheads="1"/>
          </p:cNvSpPr>
          <p:nvPr/>
        </p:nvSpPr>
        <p:spPr bwMode="auto">
          <a:xfrm>
            <a:off x="1595804" y="3676650"/>
            <a:ext cx="996462" cy="504825"/>
          </a:xfrm>
          <a:prstGeom prst="diamond">
            <a:avLst/>
          </a:prstGeom>
          <a:solidFill>
            <a:schemeClr val="bg1">
              <a:lumMod val="85000"/>
            </a:schemeClr>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Size of</a:t>
            </a:r>
          </a:p>
          <a:p>
            <a:pPr algn="ctr" fontAlgn="base">
              <a:spcBef>
                <a:spcPct val="0"/>
              </a:spcBef>
              <a:spcAft>
                <a:spcPct val="0"/>
              </a:spcAft>
            </a:pPr>
            <a:r>
              <a:rPr kumimoji="1" lang="en-US" altLang="ko-KR" sz="1400" b="1" dirty="0">
                <a:solidFill>
                  <a:srgbClr val="000000"/>
                </a:solidFill>
              </a:rPr>
              <a:t> cluster</a:t>
            </a:r>
            <a:endParaRPr kumimoji="1" lang="ko-KR" altLang="en-US" sz="1400" b="1" dirty="0">
              <a:solidFill>
                <a:srgbClr val="000000"/>
              </a:solidFill>
            </a:endParaRPr>
          </a:p>
        </p:txBody>
      </p:sp>
      <p:cxnSp>
        <p:nvCxnSpPr>
          <p:cNvPr id="461828" name="AutoShape 5"/>
          <p:cNvCxnSpPr>
            <a:cxnSpLocks noChangeShapeType="1"/>
            <a:stCxn id="461826" idx="2"/>
            <a:endCxn id="461864" idx="0"/>
          </p:cNvCxnSpPr>
          <p:nvPr/>
        </p:nvCxnSpPr>
        <p:spPr bwMode="auto">
          <a:xfrm rot="5400000">
            <a:off x="2296868" y="2414464"/>
            <a:ext cx="414955" cy="823546"/>
          </a:xfrm>
          <a:prstGeom prst="bentConnector3">
            <a:avLst>
              <a:gd name="adj1" fmla="val 50000"/>
            </a:avLst>
          </a:prstGeom>
          <a:noFill/>
          <a:ln w="9525">
            <a:solidFill>
              <a:schemeClr val="tx1"/>
            </a:solidFill>
            <a:miter lim="800000"/>
            <a:headEnd/>
            <a:tailEnd type="triangle" w="med" len="med"/>
          </a:ln>
        </p:spPr>
      </p:cxnSp>
      <p:sp>
        <p:nvSpPr>
          <p:cNvPr id="461829" name="Rectangle 6"/>
          <p:cNvSpPr>
            <a:spLocks noChangeArrowheads="1"/>
          </p:cNvSpPr>
          <p:nvPr/>
        </p:nvSpPr>
        <p:spPr bwMode="auto">
          <a:xfrm>
            <a:off x="823546" y="4684713"/>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I-MR</a:t>
            </a:r>
          </a:p>
        </p:txBody>
      </p:sp>
      <p:sp>
        <p:nvSpPr>
          <p:cNvPr id="461830" name="Rectangle 7"/>
          <p:cNvSpPr>
            <a:spLocks noChangeArrowheads="1"/>
          </p:cNvSpPr>
          <p:nvPr/>
        </p:nvSpPr>
        <p:spPr bwMode="auto">
          <a:xfrm>
            <a:off x="1686661" y="4684713"/>
            <a:ext cx="798634" cy="431800"/>
          </a:xfrm>
          <a:prstGeom prst="rect">
            <a:avLst/>
          </a:prstGeom>
          <a:solidFill>
            <a:schemeClr val="accent1">
              <a:lumMod val="20000"/>
              <a:lumOff val="80000"/>
            </a:schemeClr>
          </a:solidFill>
          <a:ln w="28575" algn="ctr">
            <a:solidFill>
              <a:srgbClr val="C00000"/>
            </a:solidFill>
            <a:miter lim="800000"/>
            <a:headEnd/>
            <a:tailEnd/>
          </a:ln>
        </p:spPr>
        <p:txBody>
          <a:bodyPr wrap="none" anchor="ctr"/>
          <a:lstStyle/>
          <a:p>
            <a:pPr algn="ctr" fontAlgn="base">
              <a:spcBef>
                <a:spcPct val="0"/>
              </a:spcBef>
              <a:spcAft>
                <a:spcPct val="0"/>
              </a:spcAft>
            </a:pPr>
            <a:r>
              <a:rPr kumimoji="1" lang="en-US" altLang="ko-KR" sz="1400" b="1" dirty="0">
                <a:solidFill>
                  <a:srgbClr val="FF0000"/>
                </a:solidFill>
                <a:effectLst>
                  <a:outerShdw blurRad="38100" dist="38100" dir="2700000" algn="tl">
                    <a:srgbClr val="000000">
                      <a:alpha val="43137"/>
                    </a:srgbClr>
                  </a:outerShdw>
                </a:effectLst>
              </a:rPr>
              <a:t>Xbar-R</a:t>
            </a:r>
          </a:p>
        </p:txBody>
      </p:sp>
      <p:sp>
        <p:nvSpPr>
          <p:cNvPr id="461831" name="Rectangle 8"/>
          <p:cNvSpPr>
            <a:spLocks noChangeArrowheads="1"/>
          </p:cNvSpPr>
          <p:nvPr/>
        </p:nvSpPr>
        <p:spPr bwMode="auto">
          <a:xfrm>
            <a:off x="2551237" y="4684713"/>
            <a:ext cx="798634"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Xbar-S</a:t>
            </a:r>
          </a:p>
        </p:txBody>
      </p:sp>
      <p:cxnSp>
        <p:nvCxnSpPr>
          <p:cNvPr id="461832" name="AutoShape 9"/>
          <p:cNvCxnSpPr>
            <a:cxnSpLocks noChangeShapeType="1"/>
            <a:stCxn id="461827" idx="2"/>
            <a:endCxn id="461830" idx="0"/>
          </p:cNvCxnSpPr>
          <p:nvPr/>
        </p:nvCxnSpPr>
        <p:spPr bwMode="auto">
          <a:xfrm rot="5400000">
            <a:off x="1838388" y="4429067"/>
            <a:ext cx="503238" cy="8057"/>
          </a:xfrm>
          <a:prstGeom prst="bentConnector3">
            <a:avLst>
              <a:gd name="adj1" fmla="val 3896"/>
            </a:avLst>
          </a:prstGeom>
          <a:noFill/>
          <a:ln w="9525">
            <a:solidFill>
              <a:schemeClr val="tx1"/>
            </a:solidFill>
            <a:miter lim="800000"/>
            <a:headEnd/>
            <a:tailEnd type="triangle" w="med" len="med"/>
          </a:ln>
        </p:spPr>
      </p:cxnSp>
      <p:cxnSp>
        <p:nvCxnSpPr>
          <p:cNvPr id="461833" name="AutoShape 10"/>
          <p:cNvCxnSpPr>
            <a:cxnSpLocks noChangeShapeType="1"/>
            <a:stCxn id="461827" idx="2"/>
            <a:endCxn id="461829" idx="0"/>
          </p:cNvCxnSpPr>
          <p:nvPr/>
        </p:nvCxnSpPr>
        <p:spPr bwMode="auto">
          <a:xfrm rot="5400000">
            <a:off x="1406831" y="3997512"/>
            <a:ext cx="503238" cy="871171"/>
          </a:xfrm>
          <a:prstGeom prst="bentConnector3">
            <a:avLst>
              <a:gd name="adj1" fmla="val 50000"/>
            </a:avLst>
          </a:prstGeom>
          <a:noFill/>
          <a:ln w="9525">
            <a:solidFill>
              <a:schemeClr val="tx1"/>
            </a:solidFill>
            <a:miter lim="800000"/>
            <a:headEnd/>
            <a:tailEnd type="triangle" w="med" len="med"/>
          </a:ln>
        </p:spPr>
      </p:cxnSp>
      <p:cxnSp>
        <p:nvCxnSpPr>
          <p:cNvPr id="461834" name="AutoShape 11"/>
          <p:cNvCxnSpPr>
            <a:cxnSpLocks noChangeShapeType="1"/>
          </p:cNvCxnSpPr>
          <p:nvPr/>
        </p:nvCxnSpPr>
        <p:spPr bwMode="auto">
          <a:xfrm rot="16200000" flipH="1">
            <a:off x="2271041" y="4004469"/>
            <a:ext cx="503238" cy="857250"/>
          </a:xfrm>
          <a:prstGeom prst="bentConnector3">
            <a:avLst>
              <a:gd name="adj1" fmla="val 49843"/>
            </a:avLst>
          </a:prstGeom>
          <a:noFill/>
          <a:ln w="9525">
            <a:solidFill>
              <a:schemeClr val="tx1"/>
            </a:solidFill>
            <a:miter lim="800000"/>
            <a:headEnd/>
            <a:tailEnd type="triangle" w="med" len="med"/>
          </a:ln>
        </p:spPr>
      </p:cxnSp>
      <p:sp>
        <p:nvSpPr>
          <p:cNvPr id="461835" name="Text Box 12"/>
          <p:cNvSpPr txBox="1">
            <a:spLocks noChangeArrowheads="1"/>
          </p:cNvSpPr>
          <p:nvPr/>
        </p:nvSpPr>
        <p:spPr bwMode="auto">
          <a:xfrm>
            <a:off x="813296" y="5124453"/>
            <a:ext cx="797169" cy="307777"/>
          </a:xfrm>
          <a:prstGeom prst="rect">
            <a:avLst/>
          </a:prstGeom>
          <a:noFill/>
          <a:ln w="9525">
            <a:noFill/>
            <a:miter lim="800000"/>
            <a:headEnd/>
            <a:tailEnd/>
          </a:ln>
        </p:spPr>
        <p:txBody>
          <a:bodyPr>
            <a:spAutoFit/>
          </a:bodyPr>
          <a:lstStyle/>
          <a:p>
            <a:pPr algn="ctr" fontAlgn="base">
              <a:spcBef>
                <a:spcPct val="50000"/>
              </a:spcBef>
              <a:spcAft>
                <a:spcPct val="0"/>
              </a:spcAft>
            </a:pPr>
            <a:r>
              <a:rPr kumimoji="1" lang="en-US" altLang="ko-KR" sz="1400" b="1" dirty="0">
                <a:solidFill>
                  <a:prstClr val="black"/>
                </a:solidFill>
              </a:rPr>
              <a:t>n = 1</a:t>
            </a:r>
          </a:p>
        </p:txBody>
      </p:sp>
      <p:sp>
        <p:nvSpPr>
          <p:cNvPr id="461836" name="Text Box 13"/>
          <p:cNvSpPr txBox="1">
            <a:spLocks noChangeArrowheads="1"/>
          </p:cNvSpPr>
          <p:nvPr/>
        </p:nvSpPr>
        <p:spPr bwMode="auto">
          <a:xfrm>
            <a:off x="1595803" y="5124453"/>
            <a:ext cx="879238" cy="307777"/>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a:solidFill>
                  <a:prstClr val="black"/>
                </a:solidFill>
              </a:rPr>
              <a:t>n = 2~5</a:t>
            </a:r>
          </a:p>
        </p:txBody>
      </p:sp>
      <p:sp>
        <p:nvSpPr>
          <p:cNvPr id="461837" name="Text Box 14"/>
          <p:cNvSpPr txBox="1">
            <a:spLocks noChangeArrowheads="1"/>
          </p:cNvSpPr>
          <p:nvPr/>
        </p:nvSpPr>
        <p:spPr bwMode="auto">
          <a:xfrm>
            <a:off x="2542448" y="5124453"/>
            <a:ext cx="797169" cy="307777"/>
          </a:xfrm>
          <a:prstGeom prst="rect">
            <a:avLst/>
          </a:prstGeom>
          <a:noFill/>
          <a:ln w="9525">
            <a:noFill/>
            <a:miter lim="800000"/>
            <a:headEnd/>
            <a:tailEnd/>
          </a:ln>
        </p:spPr>
        <p:txBody>
          <a:bodyPr>
            <a:spAutoFit/>
          </a:bodyPr>
          <a:lstStyle/>
          <a:p>
            <a:pPr algn="ctr" fontAlgn="base">
              <a:spcBef>
                <a:spcPct val="50000"/>
              </a:spcBef>
              <a:spcAft>
                <a:spcPct val="0"/>
              </a:spcAft>
            </a:pPr>
            <a:r>
              <a:rPr kumimoji="1" lang="en-US" altLang="ko-KR" sz="1400" b="1" dirty="0">
                <a:solidFill>
                  <a:prstClr val="black"/>
                </a:solidFill>
              </a:rPr>
              <a:t>n &gt; 6</a:t>
            </a:r>
          </a:p>
        </p:txBody>
      </p:sp>
      <p:sp>
        <p:nvSpPr>
          <p:cNvPr id="461838" name="Rectangle 15"/>
          <p:cNvSpPr>
            <a:spLocks noChangeArrowheads="1"/>
          </p:cNvSpPr>
          <p:nvPr/>
        </p:nvSpPr>
        <p:spPr bwMode="auto">
          <a:xfrm>
            <a:off x="3766039" y="1450975"/>
            <a:ext cx="1861038" cy="431800"/>
          </a:xfrm>
          <a:prstGeom prst="rect">
            <a:avLst/>
          </a:prstGeom>
          <a:solidFill>
            <a:schemeClr val="accent1">
              <a:lumMod val="20000"/>
              <a:lumOff val="80000"/>
            </a:schemeClr>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Type of Data</a:t>
            </a:r>
          </a:p>
        </p:txBody>
      </p:sp>
      <p:sp>
        <p:nvSpPr>
          <p:cNvPr id="461839" name="Rectangle 16"/>
          <p:cNvSpPr>
            <a:spLocks noChangeArrowheads="1"/>
          </p:cNvSpPr>
          <p:nvPr/>
        </p:nvSpPr>
        <p:spPr bwMode="auto">
          <a:xfrm>
            <a:off x="5555274" y="2170113"/>
            <a:ext cx="1861038" cy="431800"/>
          </a:xfrm>
          <a:prstGeom prst="rect">
            <a:avLst/>
          </a:prstGeom>
          <a:solidFill>
            <a:schemeClr val="bg1">
              <a:lumMod val="75000"/>
            </a:schemeClr>
          </a:solidFill>
          <a:ln w="9525" algn="ctr">
            <a:solidFill>
              <a:schemeClr val="tx1"/>
            </a:solidFill>
            <a:miter lim="800000"/>
            <a:headEnd/>
            <a:tailEnd/>
          </a:ln>
          <a:effectLst>
            <a:outerShdw blurRad="50800" dist="38100" dir="2700000" algn="tl" rotWithShape="0">
              <a:prstClr val="black">
                <a:alpha val="40000"/>
              </a:prstClr>
            </a:outerShdw>
          </a:effectLst>
        </p:spPr>
        <p:txBody>
          <a:bodyPr wrap="none" anchor="ctr"/>
          <a:lstStyle/>
          <a:p>
            <a:pPr algn="ctr" fontAlgn="base">
              <a:spcBef>
                <a:spcPct val="0"/>
              </a:spcBef>
              <a:spcAft>
                <a:spcPct val="0"/>
              </a:spcAft>
            </a:pPr>
            <a:r>
              <a:rPr kumimoji="1" lang="en-US" altLang="ko-KR" sz="1400" b="1" dirty="0">
                <a:solidFill>
                  <a:srgbClr val="FFFFFF"/>
                </a:solidFill>
              </a:rPr>
              <a:t>Attribute</a:t>
            </a:r>
          </a:p>
        </p:txBody>
      </p:sp>
      <p:cxnSp>
        <p:nvCxnSpPr>
          <p:cNvPr id="461840" name="AutoShape 17"/>
          <p:cNvCxnSpPr>
            <a:cxnSpLocks noChangeShapeType="1"/>
            <a:stCxn id="461838" idx="1"/>
            <a:endCxn id="461826" idx="0"/>
          </p:cNvCxnSpPr>
          <p:nvPr/>
        </p:nvCxnSpPr>
        <p:spPr bwMode="auto">
          <a:xfrm rot="10800000" flipV="1">
            <a:off x="2916119" y="1666877"/>
            <a:ext cx="849922" cy="520083"/>
          </a:xfrm>
          <a:prstGeom prst="bentConnector2">
            <a:avLst/>
          </a:prstGeom>
          <a:noFill/>
          <a:ln w="9525">
            <a:solidFill>
              <a:schemeClr val="tx1"/>
            </a:solidFill>
            <a:miter lim="800000"/>
            <a:headEnd/>
            <a:tailEnd type="triangle" w="med" len="med"/>
          </a:ln>
        </p:spPr>
      </p:cxnSp>
      <p:cxnSp>
        <p:nvCxnSpPr>
          <p:cNvPr id="461841" name="AutoShape 18"/>
          <p:cNvCxnSpPr>
            <a:cxnSpLocks noChangeShapeType="1"/>
            <a:stCxn id="461838" idx="3"/>
            <a:endCxn id="461839" idx="0"/>
          </p:cNvCxnSpPr>
          <p:nvPr/>
        </p:nvCxnSpPr>
        <p:spPr bwMode="auto">
          <a:xfrm>
            <a:off x="5627088" y="1666875"/>
            <a:ext cx="858715" cy="503238"/>
          </a:xfrm>
          <a:prstGeom prst="bentConnector2">
            <a:avLst/>
          </a:prstGeom>
          <a:noFill/>
          <a:ln w="9525">
            <a:solidFill>
              <a:schemeClr val="tx1"/>
            </a:solidFill>
            <a:miter lim="800000"/>
            <a:headEnd/>
            <a:tailEnd type="triangle" w="med" len="med"/>
          </a:ln>
        </p:spPr>
      </p:cxnSp>
      <p:sp>
        <p:nvSpPr>
          <p:cNvPr id="461842" name="Rectangle 19"/>
          <p:cNvSpPr>
            <a:spLocks noChangeArrowheads="1"/>
          </p:cNvSpPr>
          <p:nvPr/>
        </p:nvSpPr>
        <p:spPr bwMode="auto">
          <a:xfrm>
            <a:off x="5051181" y="3033713"/>
            <a:ext cx="1263162"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Number of defects</a:t>
            </a:r>
          </a:p>
          <a:p>
            <a:pPr algn="ctr" fontAlgn="base">
              <a:spcBef>
                <a:spcPct val="0"/>
              </a:spcBef>
              <a:spcAft>
                <a:spcPct val="0"/>
              </a:spcAft>
            </a:pPr>
            <a:r>
              <a:rPr kumimoji="1" lang="en-US" altLang="ko-KR" sz="1400" b="1" dirty="0">
                <a:solidFill>
                  <a:srgbClr val="000000"/>
                </a:solidFill>
              </a:rPr>
              <a:t>/ratio</a:t>
            </a:r>
            <a:endParaRPr kumimoji="1" lang="ko-KR" altLang="en-US" sz="1400" b="1" dirty="0">
              <a:solidFill>
                <a:srgbClr val="000000"/>
              </a:solidFill>
            </a:endParaRPr>
          </a:p>
        </p:txBody>
      </p:sp>
      <p:sp>
        <p:nvSpPr>
          <p:cNvPr id="461843" name="Rectangle 20"/>
          <p:cNvSpPr>
            <a:spLocks noChangeArrowheads="1"/>
          </p:cNvSpPr>
          <p:nvPr/>
        </p:nvSpPr>
        <p:spPr bwMode="auto">
          <a:xfrm>
            <a:off x="6712928" y="3033713"/>
            <a:ext cx="1263162"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Number of defects</a:t>
            </a:r>
            <a:endParaRPr kumimoji="1" lang="ko-KR" altLang="en-US" sz="1400" b="1" dirty="0">
              <a:solidFill>
                <a:srgbClr val="000000"/>
              </a:solidFill>
            </a:endParaRPr>
          </a:p>
        </p:txBody>
      </p:sp>
      <p:sp>
        <p:nvSpPr>
          <p:cNvPr id="461844" name="AutoShape 21"/>
          <p:cNvSpPr>
            <a:spLocks noChangeArrowheads="1"/>
          </p:cNvSpPr>
          <p:nvPr/>
        </p:nvSpPr>
        <p:spPr bwMode="auto">
          <a:xfrm>
            <a:off x="5161095" y="3676650"/>
            <a:ext cx="1063869" cy="504825"/>
          </a:xfrm>
          <a:prstGeom prst="diamond">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Size of</a:t>
            </a:r>
          </a:p>
          <a:p>
            <a:pPr algn="ctr" fontAlgn="base">
              <a:spcBef>
                <a:spcPct val="0"/>
              </a:spcBef>
              <a:spcAft>
                <a:spcPct val="0"/>
              </a:spcAft>
            </a:pPr>
            <a:r>
              <a:rPr kumimoji="1" lang="en-US" altLang="ko-KR" sz="1400" b="1" dirty="0">
                <a:solidFill>
                  <a:srgbClr val="000000"/>
                </a:solidFill>
              </a:rPr>
              <a:t>cluster</a:t>
            </a:r>
            <a:endParaRPr kumimoji="1" lang="ko-KR" altLang="en-US" sz="1400" b="1" dirty="0">
              <a:solidFill>
                <a:srgbClr val="000000"/>
              </a:solidFill>
            </a:endParaRPr>
          </a:p>
        </p:txBody>
      </p:sp>
      <p:sp>
        <p:nvSpPr>
          <p:cNvPr id="461845" name="AutoShape 22"/>
          <p:cNvSpPr>
            <a:spLocks noChangeArrowheads="1"/>
          </p:cNvSpPr>
          <p:nvPr/>
        </p:nvSpPr>
        <p:spPr bwMode="auto">
          <a:xfrm>
            <a:off x="6794989" y="3676650"/>
            <a:ext cx="1103434" cy="504825"/>
          </a:xfrm>
          <a:prstGeom prst="diamond">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Size  of</a:t>
            </a:r>
          </a:p>
          <a:p>
            <a:pPr algn="ctr" fontAlgn="base">
              <a:spcBef>
                <a:spcPct val="0"/>
              </a:spcBef>
              <a:spcAft>
                <a:spcPct val="0"/>
              </a:spcAft>
            </a:pPr>
            <a:r>
              <a:rPr kumimoji="1" lang="en-US" altLang="ko-KR" sz="1400" b="1" dirty="0">
                <a:solidFill>
                  <a:srgbClr val="000000"/>
                </a:solidFill>
              </a:rPr>
              <a:t>cluster</a:t>
            </a:r>
            <a:endParaRPr kumimoji="1" lang="ko-KR" altLang="en-US" sz="1400" b="1" dirty="0">
              <a:solidFill>
                <a:srgbClr val="000000"/>
              </a:solidFill>
            </a:endParaRPr>
          </a:p>
        </p:txBody>
      </p:sp>
      <p:cxnSp>
        <p:nvCxnSpPr>
          <p:cNvPr id="461846" name="AutoShape 23"/>
          <p:cNvCxnSpPr>
            <a:cxnSpLocks noChangeShapeType="1"/>
            <a:stCxn id="461839" idx="2"/>
            <a:endCxn id="461842" idx="0"/>
          </p:cNvCxnSpPr>
          <p:nvPr/>
        </p:nvCxnSpPr>
        <p:spPr bwMode="auto">
          <a:xfrm rot="5400000">
            <a:off x="5868377" y="2416308"/>
            <a:ext cx="431800" cy="803031"/>
          </a:xfrm>
          <a:prstGeom prst="bentConnector3">
            <a:avLst>
              <a:gd name="adj1" fmla="val 50000"/>
            </a:avLst>
          </a:prstGeom>
          <a:noFill/>
          <a:ln w="9525">
            <a:solidFill>
              <a:schemeClr val="tx1"/>
            </a:solidFill>
            <a:miter lim="800000"/>
            <a:headEnd/>
            <a:tailEnd type="triangle" w="med" len="med"/>
          </a:ln>
        </p:spPr>
      </p:cxnSp>
      <p:cxnSp>
        <p:nvCxnSpPr>
          <p:cNvPr id="461847" name="AutoShape 24"/>
          <p:cNvCxnSpPr>
            <a:cxnSpLocks noChangeShapeType="1"/>
            <a:stCxn id="461839" idx="2"/>
            <a:endCxn id="461843" idx="0"/>
          </p:cNvCxnSpPr>
          <p:nvPr/>
        </p:nvCxnSpPr>
        <p:spPr bwMode="auto">
          <a:xfrm rot="16200000" flipH="1">
            <a:off x="6699250" y="2388476"/>
            <a:ext cx="431800" cy="858715"/>
          </a:xfrm>
          <a:prstGeom prst="bentConnector3">
            <a:avLst>
              <a:gd name="adj1" fmla="val 50000"/>
            </a:avLst>
          </a:prstGeom>
          <a:noFill/>
          <a:ln w="9525">
            <a:solidFill>
              <a:schemeClr val="tx1"/>
            </a:solidFill>
            <a:miter lim="800000"/>
            <a:headEnd/>
            <a:tailEnd type="triangle" w="med" len="med"/>
          </a:ln>
        </p:spPr>
      </p:cxnSp>
      <p:cxnSp>
        <p:nvCxnSpPr>
          <p:cNvPr id="461848" name="AutoShape 25"/>
          <p:cNvCxnSpPr>
            <a:cxnSpLocks noChangeShapeType="1"/>
            <a:stCxn id="461842" idx="2"/>
            <a:endCxn id="461844" idx="0"/>
          </p:cNvCxnSpPr>
          <p:nvPr/>
        </p:nvCxnSpPr>
        <p:spPr bwMode="auto">
          <a:xfrm rot="16200000" flipH="1">
            <a:off x="5582333" y="3565956"/>
            <a:ext cx="211137" cy="10258"/>
          </a:xfrm>
          <a:prstGeom prst="bentConnector3">
            <a:avLst>
              <a:gd name="adj1" fmla="val 49625"/>
            </a:avLst>
          </a:prstGeom>
          <a:noFill/>
          <a:ln w="9525">
            <a:solidFill>
              <a:schemeClr val="tx1"/>
            </a:solidFill>
            <a:miter lim="800000"/>
            <a:headEnd/>
            <a:tailEnd type="triangle" w="med" len="med"/>
          </a:ln>
        </p:spPr>
      </p:cxnSp>
      <p:cxnSp>
        <p:nvCxnSpPr>
          <p:cNvPr id="461849" name="AutoShape 26"/>
          <p:cNvCxnSpPr>
            <a:cxnSpLocks noChangeShapeType="1"/>
            <a:stCxn id="461843" idx="2"/>
            <a:endCxn id="461845" idx="0"/>
          </p:cNvCxnSpPr>
          <p:nvPr/>
        </p:nvCxnSpPr>
        <p:spPr bwMode="auto">
          <a:xfrm rot="16200000" flipH="1">
            <a:off x="7240415" y="3569619"/>
            <a:ext cx="211137" cy="2931"/>
          </a:xfrm>
          <a:prstGeom prst="bentConnector3">
            <a:avLst>
              <a:gd name="adj1" fmla="val 49625"/>
            </a:avLst>
          </a:prstGeom>
          <a:noFill/>
          <a:ln w="9525">
            <a:solidFill>
              <a:schemeClr val="tx1"/>
            </a:solidFill>
            <a:miter lim="800000"/>
            <a:headEnd/>
            <a:tailEnd type="triangle" w="med" len="med"/>
          </a:ln>
        </p:spPr>
      </p:cxnSp>
      <p:sp>
        <p:nvSpPr>
          <p:cNvPr id="461850" name="Rectangle 27"/>
          <p:cNvSpPr>
            <a:spLocks noChangeArrowheads="1"/>
          </p:cNvSpPr>
          <p:nvPr/>
        </p:nvSpPr>
        <p:spPr bwMode="auto">
          <a:xfrm>
            <a:off x="4832839" y="4687888"/>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NP</a:t>
            </a:r>
          </a:p>
        </p:txBody>
      </p:sp>
      <p:sp>
        <p:nvSpPr>
          <p:cNvPr id="461851" name="Rectangle 28"/>
          <p:cNvSpPr>
            <a:spLocks noChangeArrowheads="1"/>
          </p:cNvSpPr>
          <p:nvPr/>
        </p:nvSpPr>
        <p:spPr bwMode="auto">
          <a:xfrm>
            <a:off x="5697415" y="4687888"/>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P</a:t>
            </a:r>
          </a:p>
        </p:txBody>
      </p:sp>
      <p:sp>
        <p:nvSpPr>
          <p:cNvPr id="461852" name="Rectangle 29"/>
          <p:cNvSpPr>
            <a:spLocks noChangeArrowheads="1"/>
          </p:cNvSpPr>
          <p:nvPr/>
        </p:nvSpPr>
        <p:spPr bwMode="auto">
          <a:xfrm>
            <a:off x="6579582" y="4692650"/>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C</a:t>
            </a:r>
          </a:p>
        </p:txBody>
      </p:sp>
      <p:sp>
        <p:nvSpPr>
          <p:cNvPr id="461853" name="Rectangle 30"/>
          <p:cNvSpPr>
            <a:spLocks noChangeArrowheads="1"/>
          </p:cNvSpPr>
          <p:nvPr/>
        </p:nvSpPr>
        <p:spPr bwMode="auto">
          <a:xfrm>
            <a:off x="7444159" y="4692650"/>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U</a:t>
            </a:r>
          </a:p>
        </p:txBody>
      </p:sp>
      <p:cxnSp>
        <p:nvCxnSpPr>
          <p:cNvPr id="461854" name="AutoShape 31"/>
          <p:cNvCxnSpPr>
            <a:cxnSpLocks noChangeShapeType="1"/>
            <a:stCxn id="461844" idx="2"/>
            <a:endCxn id="461850" idx="0"/>
          </p:cNvCxnSpPr>
          <p:nvPr/>
        </p:nvCxnSpPr>
        <p:spPr bwMode="auto">
          <a:xfrm rot="5400000">
            <a:off x="5209758" y="4204637"/>
            <a:ext cx="506413" cy="460131"/>
          </a:xfrm>
          <a:prstGeom prst="bentConnector3">
            <a:avLst>
              <a:gd name="adj1" fmla="val 50000"/>
            </a:avLst>
          </a:prstGeom>
          <a:noFill/>
          <a:ln w="9525">
            <a:solidFill>
              <a:schemeClr val="tx1"/>
            </a:solidFill>
            <a:miter lim="800000"/>
            <a:headEnd/>
            <a:tailEnd type="triangle" w="med" len="med"/>
          </a:ln>
        </p:spPr>
      </p:cxnSp>
      <p:cxnSp>
        <p:nvCxnSpPr>
          <p:cNvPr id="461855" name="AutoShape 32"/>
          <p:cNvCxnSpPr>
            <a:cxnSpLocks noChangeShapeType="1"/>
            <a:stCxn id="461844" idx="2"/>
            <a:endCxn id="461851" idx="0"/>
          </p:cNvCxnSpPr>
          <p:nvPr/>
        </p:nvCxnSpPr>
        <p:spPr bwMode="auto">
          <a:xfrm rot="16200000" flipH="1">
            <a:off x="5642046" y="4232459"/>
            <a:ext cx="506413" cy="404446"/>
          </a:xfrm>
          <a:prstGeom prst="bentConnector3">
            <a:avLst>
              <a:gd name="adj1" fmla="val 50000"/>
            </a:avLst>
          </a:prstGeom>
          <a:noFill/>
          <a:ln w="9525">
            <a:solidFill>
              <a:schemeClr val="tx1"/>
            </a:solidFill>
            <a:miter lim="800000"/>
            <a:headEnd/>
            <a:tailEnd type="triangle" w="med" len="med"/>
          </a:ln>
        </p:spPr>
      </p:cxnSp>
      <p:cxnSp>
        <p:nvCxnSpPr>
          <p:cNvPr id="461856" name="AutoShape 33"/>
          <p:cNvCxnSpPr>
            <a:cxnSpLocks noChangeShapeType="1"/>
            <a:stCxn id="461845" idx="2"/>
            <a:endCxn id="461852" idx="0"/>
          </p:cNvCxnSpPr>
          <p:nvPr/>
        </p:nvCxnSpPr>
        <p:spPr bwMode="auto">
          <a:xfrm rot="5400000">
            <a:off x="6907955" y="4253168"/>
            <a:ext cx="511175" cy="367811"/>
          </a:xfrm>
          <a:prstGeom prst="bentConnector3">
            <a:avLst>
              <a:gd name="adj1" fmla="val 50000"/>
            </a:avLst>
          </a:prstGeom>
          <a:noFill/>
          <a:ln w="9525">
            <a:solidFill>
              <a:schemeClr val="tx1"/>
            </a:solidFill>
            <a:miter lim="800000"/>
            <a:headEnd/>
            <a:tailEnd type="triangle" w="med" len="med"/>
          </a:ln>
        </p:spPr>
      </p:cxnSp>
      <p:cxnSp>
        <p:nvCxnSpPr>
          <p:cNvPr id="461857" name="AutoShape 34"/>
          <p:cNvCxnSpPr>
            <a:cxnSpLocks noChangeShapeType="1"/>
            <a:stCxn id="461845" idx="2"/>
            <a:endCxn id="461853" idx="0"/>
          </p:cNvCxnSpPr>
          <p:nvPr/>
        </p:nvCxnSpPr>
        <p:spPr bwMode="auto">
          <a:xfrm rot="16200000" flipH="1">
            <a:off x="7340244" y="4188690"/>
            <a:ext cx="511175" cy="496766"/>
          </a:xfrm>
          <a:prstGeom prst="bentConnector3">
            <a:avLst>
              <a:gd name="adj1" fmla="val 50000"/>
            </a:avLst>
          </a:prstGeom>
          <a:noFill/>
          <a:ln w="9525">
            <a:solidFill>
              <a:schemeClr val="tx1"/>
            </a:solidFill>
            <a:miter lim="800000"/>
            <a:headEnd/>
            <a:tailEnd type="triangle" w="med" len="med"/>
          </a:ln>
        </p:spPr>
      </p:cxnSp>
      <p:sp>
        <p:nvSpPr>
          <p:cNvPr id="461858" name="Text Box 35"/>
          <p:cNvSpPr txBox="1">
            <a:spLocks noChangeArrowheads="1"/>
          </p:cNvSpPr>
          <p:nvPr/>
        </p:nvSpPr>
        <p:spPr bwMode="auto">
          <a:xfrm>
            <a:off x="4572000" y="5153028"/>
            <a:ext cx="1090253" cy="307777"/>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a:solidFill>
                  <a:srgbClr val="008000"/>
                </a:solidFill>
              </a:rPr>
              <a:t>Constant</a:t>
            </a:r>
            <a:endParaRPr kumimoji="1" lang="ko-KR" altLang="en-US" sz="1400" b="1" dirty="0">
              <a:solidFill>
                <a:srgbClr val="008000"/>
              </a:solidFill>
            </a:endParaRPr>
          </a:p>
        </p:txBody>
      </p:sp>
      <p:sp>
        <p:nvSpPr>
          <p:cNvPr id="461859" name="Text Box 36"/>
          <p:cNvSpPr txBox="1">
            <a:spLocks noChangeArrowheads="1"/>
          </p:cNvSpPr>
          <p:nvPr/>
        </p:nvSpPr>
        <p:spPr bwMode="auto">
          <a:xfrm>
            <a:off x="5630317" y="5081597"/>
            <a:ext cx="975948" cy="523220"/>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a:solidFill>
                  <a:srgbClr val="008000"/>
                </a:solidFill>
              </a:rPr>
              <a:t>Not constant</a:t>
            </a:r>
            <a:endParaRPr kumimoji="1" lang="ko-KR" altLang="en-US" sz="1400" b="1" dirty="0">
              <a:solidFill>
                <a:srgbClr val="008000"/>
              </a:solidFill>
            </a:endParaRPr>
          </a:p>
        </p:txBody>
      </p:sp>
      <p:sp>
        <p:nvSpPr>
          <p:cNvPr id="461860" name="Text Box 37"/>
          <p:cNvSpPr txBox="1">
            <a:spLocks noChangeArrowheads="1"/>
          </p:cNvSpPr>
          <p:nvPr/>
        </p:nvSpPr>
        <p:spPr bwMode="auto">
          <a:xfrm>
            <a:off x="6357950" y="5187953"/>
            <a:ext cx="1226155" cy="307777"/>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a:solidFill>
                  <a:srgbClr val="FF0066"/>
                </a:solidFill>
              </a:rPr>
              <a:t>Constant</a:t>
            </a:r>
            <a:endParaRPr kumimoji="1" lang="ko-KR" altLang="en-US" sz="1400" b="1" dirty="0">
              <a:solidFill>
                <a:srgbClr val="FF0066"/>
              </a:solidFill>
            </a:endParaRPr>
          </a:p>
        </p:txBody>
      </p:sp>
      <p:sp>
        <p:nvSpPr>
          <p:cNvPr id="461861" name="Text Box 38"/>
          <p:cNvSpPr txBox="1">
            <a:spLocks noChangeArrowheads="1"/>
          </p:cNvSpPr>
          <p:nvPr/>
        </p:nvSpPr>
        <p:spPr bwMode="auto">
          <a:xfrm>
            <a:off x="7245736" y="5116522"/>
            <a:ext cx="1195483" cy="523220"/>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a:solidFill>
                  <a:srgbClr val="FF0066"/>
                </a:solidFill>
              </a:rPr>
              <a:t>Not constant</a:t>
            </a:r>
            <a:endParaRPr kumimoji="1" lang="ko-KR" altLang="en-US" sz="1400" b="1" dirty="0">
              <a:solidFill>
                <a:srgbClr val="FF0066"/>
              </a:solidFill>
            </a:endParaRPr>
          </a:p>
        </p:txBody>
      </p:sp>
      <p:sp>
        <p:nvSpPr>
          <p:cNvPr id="461863" name="Rectangle 19"/>
          <p:cNvSpPr>
            <a:spLocks noChangeArrowheads="1"/>
          </p:cNvSpPr>
          <p:nvPr/>
        </p:nvSpPr>
        <p:spPr bwMode="auto">
          <a:xfrm>
            <a:off x="3295651" y="3033713"/>
            <a:ext cx="1263162"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small quantity </a:t>
            </a:r>
          </a:p>
          <a:p>
            <a:pPr algn="ctr" fontAlgn="base">
              <a:spcBef>
                <a:spcPct val="0"/>
              </a:spcBef>
              <a:spcAft>
                <a:spcPct val="0"/>
              </a:spcAft>
            </a:pPr>
            <a:r>
              <a:rPr kumimoji="1" lang="en-US" altLang="ko-KR" sz="1400" b="1" dirty="0">
                <a:solidFill>
                  <a:srgbClr val="000000"/>
                </a:solidFill>
              </a:rPr>
              <a:t>batch production</a:t>
            </a:r>
            <a:endParaRPr kumimoji="1" lang="ko-KR" altLang="en-US" sz="1400" b="1" dirty="0">
              <a:solidFill>
                <a:srgbClr val="000000"/>
              </a:solidFill>
            </a:endParaRPr>
          </a:p>
        </p:txBody>
      </p:sp>
      <p:sp>
        <p:nvSpPr>
          <p:cNvPr id="461864" name="Rectangle 20"/>
          <p:cNvSpPr>
            <a:spLocks noChangeArrowheads="1"/>
          </p:cNvSpPr>
          <p:nvPr/>
        </p:nvSpPr>
        <p:spPr bwMode="auto">
          <a:xfrm>
            <a:off x="1460989" y="3033713"/>
            <a:ext cx="1263162" cy="431800"/>
          </a:xfrm>
          <a:prstGeom prst="rect">
            <a:avLst/>
          </a:prstGeom>
          <a:solidFill>
            <a:schemeClr val="bg1">
              <a:lumMod val="85000"/>
            </a:schemeClr>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Mass production of</a:t>
            </a:r>
          </a:p>
          <a:p>
            <a:pPr algn="ctr" fontAlgn="base">
              <a:spcBef>
                <a:spcPct val="0"/>
              </a:spcBef>
              <a:spcAft>
                <a:spcPct val="0"/>
              </a:spcAft>
            </a:pPr>
            <a:r>
              <a:rPr kumimoji="1" lang="en-US" altLang="ko-KR" sz="1400" b="1" dirty="0">
                <a:solidFill>
                  <a:srgbClr val="000000"/>
                </a:solidFill>
              </a:rPr>
              <a:t> small items</a:t>
            </a:r>
            <a:endParaRPr kumimoji="1" lang="ko-KR" altLang="en-US" sz="1400" b="1" dirty="0">
              <a:solidFill>
                <a:srgbClr val="000000"/>
              </a:solidFill>
            </a:endParaRPr>
          </a:p>
        </p:txBody>
      </p:sp>
      <p:cxnSp>
        <p:nvCxnSpPr>
          <p:cNvPr id="461865" name="AutoShape 11"/>
          <p:cNvCxnSpPr>
            <a:cxnSpLocks noChangeShapeType="1"/>
            <a:stCxn id="461864" idx="2"/>
            <a:endCxn id="461827" idx="0"/>
          </p:cNvCxnSpPr>
          <p:nvPr/>
        </p:nvCxnSpPr>
        <p:spPr bwMode="auto">
          <a:xfrm rot="16200000" flipH="1">
            <a:off x="1987736" y="3570351"/>
            <a:ext cx="211137" cy="1465"/>
          </a:xfrm>
          <a:prstGeom prst="bentConnector3">
            <a:avLst>
              <a:gd name="adj1" fmla="val 50000"/>
            </a:avLst>
          </a:prstGeom>
          <a:noFill/>
          <a:ln w="9525">
            <a:solidFill>
              <a:schemeClr val="tx1"/>
            </a:solidFill>
            <a:miter lim="800000"/>
            <a:headEnd/>
            <a:tailEnd type="triangle" w="med" len="med"/>
          </a:ln>
        </p:spPr>
      </p:cxnSp>
      <p:cxnSp>
        <p:nvCxnSpPr>
          <p:cNvPr id="461866" name="AutoShape 5"/>
          <p:cNvCxnSpPr>
            <a:cxnSpLocks noChangeShapeType="1"/>
            <a:stCxn id="461826" idx="2"/>
            <a:endCxn id="461863" idx="0"/>
          </p:cNvCxnSpPr>
          <p:nvPr/>
        </p:nvCxnSpPr>
        <p:spPr bwMode="auto">
          <a:xfrm rot="16200000" flipH="1">
            <a:off x="3214198" y="2320680"/>
            <a:ext cx="414955" cy="1011115"/>
          </a:xfrm>
          <a:prstGeom prst="bentConnector3">
            <a:avLst>
              <a:gd name="adj1" fmla="val 50000"/>
            </a:avLst>
          </a:prstGeom>
          <a:noFill/>
          <a:ln w="9525">
            <a:solidFill>
              <a:schemeClr val="tx1"/>
            </a:solidFill>
            <a:miter lim="800000"/>
            <a:headEnd/>
            <a:tailEnd type="triangle" w="med" len="med"/>
          </a:ln>
        </p:spPr>
      </p:cxnSp>
      <p:sp>
        <p:nvSpPr>
          <p:cNvPr id="461867" name="Rectangle 6"/>
          <p:cNvSpPr>
            <a:spLocks noChangeArrowheads="1"/>
          </p:cNvSpPr>
          <p:nvPr/>
        </p:nvSpPr>
        <p:spPr bwMode="auto">
          <a:xfrm>
            <a:off x="3530113" y="4684713"/>
            <a:ext cx="798634" cy="431800"/>
          </a:xfrm>
          <a:prstGeom prst="rect">
            <a:avLst/>
          </a:prstGeom>
          <a:solidFill>
            <a:schemeClr val="bg1"/>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Xd - Rs</a:t>
            </a:r>
          </a:p>
        </p:txBody>
      </p:sp>
      <p:cxnSp>
        <p:nvCxnSpPr>
          <p:cNvPr id="461868" name="AutoShape 11"/>
          <p:cNvCxnSpPr>
            <a:cxnSpLocks noChangeShapeType="1"/>
            <a:stCxn id="461863" idx="2"/>
            <a:endCxn id="461867" idx="0"/>
          </p:cNvCxnSpPr>
          <p:nvPr/>
        </p:nvCxnSpPr>
        <p:spPr bwMode="auto">
          <a:xfrm rot="16200000" flipH="1">
            <a:off x="3318731" y="4074015"/>
            <a:ext cx="1219200" cy="2199"/>
          </a:xfrm>
          <a:prstGeom prst="bentConnector3">
            <a:avLst>
              <a:gd name="adj1" fmla="val -373"/>
            </a:avLst>
          </a:prstGeom>
          <a:noFill/>
          <a:ln w="9525">
            <a:solidFill>
              <a:schemeClr val="tx1"/>
            </a:solidFill>
            <a:miter lim="800000"/>
            <a:headEnd/>
            <a:tailEnd type="triangle" w="med" len="med"/>
          </a:ln>
        </p:spPr>
      </p:cxnSp>
      <p:sp>
        <p:nvSpPr>
          <p:cNvPr id="461869" name="제목 8"/>
          <p:cNvSpPr txBox="1">
            <a:spLocks/>
          </p:cNvSpPr>
          <p:nvPr/>
        </p:nvSpPr>
        <p:spPr bwMode="auto">
          <a:xfrm>
            <a:off x="179512" y="908720"/>
            <a:ext cx="2677976" cy="488950"/>
          </a:xfrm>
          <a:prstGeom prst="rect">
            <a:avLst/>
          </a:prstGeom>
          <a:noFill/>
          <a:ln w="9525">
            <a:noFill/>
            <a:miter lim="800000"/>
            <a:headEnd/>
            <a:tailEnd/>
          </a:ln>
        </p:spPr>
        <p:txBody>
          <a:bodyPr/>
          <a:lstStyle/>
          <a:p>
            <a:pPr fontAlgn="base">
              <a:spcBef>
                <a:spcPct val="0"/>
              </a:spcBef>
              <a:spcAft>
                <a:spcPct val="0"/>
              </a:spcAft>
            </a:pPr>
            <a:r>
              <a:rPr kumimoji="1" lang="en-US" altLang="ko-KR" b="1" dirty="0">
                <a:solidFill>
                  <a:srgbClr val="000000"/>
                </a:solidFill>
              </a:rPr>
              <a:t>Types of control chart</a:t>
            </a:r>
            <a:endParaRPr kumimoji="1" lang="ko-KR" altLang="en-US" b="1" dirty="0">
              <a:solidFill>
                <a:srgbClr val="000000"/>
              </a:solidFill>
            </a:endParaRPr>
          </a:p>
        </p:txBody>
      </p:sp>
      <p:sp>
        <p:nvSpPr>
          <p:cNvPr id="461870" name="Text Box 104"/>
          <p:cNvSpPr txBox="1">
            <a:spLocks noChangeArrowheads="1"/>
          </p:cNvSpPr>
          <p:nvPr/>
        </p:nvSpPr>
        <p:spPr bwMode="auto">
          <a:xfrm>
            <a:off x="1741512" y="5807075"/>
            <a:ext cx="1973232"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dirty="0">
                <a:solidFill>
                  <a:srgbClr val="000000"/>
                </a:solidFill>
              </a:rPr>
              <a:t>normal distribution</a:t>
            </a:r>
            <a:endParaRPr kumimoji="1" lang="ko-KR" altLang="en-US" sz="1600" dirty="0">
              <a:solidFill>
                <a:srgbClr val="000000"/>
              </a:solidFill>
            </a:endParaRPr>
          </a:p>
        </p:txBody>
      </p:sp>
      <p:sp>
        <p:nvSpPr>
          <p:cNvPr id="461871" name="Text Box 105"/>
          <p:cNvSpPr txBox="1">
            <a:spLocks noChangeArrowheads="1"/>
          </p:cNvSpPr>
          <p:nvPr/>
        </p:nvSpPr>
        <p:spPr bwMode="auto">
          <a:xfrm>
            <a:off x="4572000" y="5807075"/>
            <a:ext cx="2127505"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dirty="0">
                <a:solidFill>
                  <a:srgbClr val="000000"/>
                </a:solidFill>
              </a:rPr>
              <a:t>binomial distribution</a:t>
            </a:r>
            <a:endParaRPr kumimoji="1" lang="ko-KR" altLang="en-US" sz="1600" dirty="0">
              <a:solidFill>
                <a:srgbClr val="000000"/>
              </a:solidFill>
            </a:endParaRPr>
          </a:p>
        </p:txBody>
      </p:sp>
      <p:sp>
        <p:nvSpPr>
          <p:cNvPr id="461872" name="Text Box 106"/>
          <p:cNvSpPr txBox="1">
            <a:spLocks noChangeArrowheads="1"/>
          </p:cNvSpPr>
          <p:nvPr/>
        </p:nvSpPr>
        <p:spPr bwMode="auto">
          <a:xfrm>
            <a:off x="6693889" y="5807075"/>
            <a:ext cx="2021515"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dirty="0">
                <a:solidFill>
                  <a:srgbClr val="000000"/>
                </a:solidFill>
              </a:rPr>
              <a:t>Poisson distribution</a:t>
            </a:r>
            <a:endParaRPr kumimoji="1" lang="ko-KR" altLang="en-US" sz="1600" dirty="0">
              <a:solidFill>
                <a:srgbClr val="000000"/>
              </a:solidFill>
            </a:endParaRPr>
          </a:p>
        </p:txBody>
      </p:sp>
      <p:sp>
        <p:nvSpPr>
          <p:cNvPr id="461873" name="Freeform 107"/>
          <p:cNvSpPr>
            <a:spLocks/>
          </p:cNvSpPr>
          <p:nvPr/>
        </p:nvSpPr>
        <p:spPr bwMode="auto">
          <a:xfrm>
            <a:off x="945174" y="5576888"/>
            <a:ext cx="3376246"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fontAlgn="base">
              <a:spcBef>
                <a:spcPct val="0"/>
              </a:spcBef>
              <a:spcAft>
                <a:spcPct val="0"/>
              </a:spcAft>
            </a:pPr>
            <a:endParaRPr kumimoji="1" lang="ko-KR" altLang="en-US" dirty="0">
              <a:solidFill>
                <a:srgbClr val="000000"/>
              </a:solidFill>
            </a:endParaRPr>
          </a:p>
        </p:txBody>
      </p:sp>
      <p:sp>
        <p:nvSpPr>
          <p:cNvPr id="461874" name="Freeform 108"/>
          <p:cNvSpPr>
            <a:spLocks/>
          </p:cNvSpPr>
          <p:nvPr/>
        </p:nvSpPr>
        <p:spPr bwMode="auto">
          <a:xfrm>
            <a:off x="4966189" y="5567363"/>
            <a:ext cx="1493226"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fontAlgn="base">
              <a:spcBef>
                <a:spcPct val="0"/>
              </a:spcBef>
              <a:spcAft>
                <a:spcPct val="0"/>
              </a:spcAft>
            </a:pPr>
            <a:endParaRPr kumimoji="1" lang="ko-KR" altLang="en-US" dirty="0">
              <a:solidFill>
                <a:srgbClr val="000000"/>
              </a:solidFill>
            </a:endParaRPr>
          </a:p>
        </p:txBody>
      </p:sp>
      <p:sp>
        <p:nvSpPr>
          <p:cNvPr id="461875" name="Freeform 109"/>
          <p:cNvSpPr>
            <a:spLocks/>
          </p:cNvSpPr>
          <p:nvPr/>
        </p:nvSpPr>
        <p:spPr bwMode="auto">
          <a:xfrm>
            <a:off x="6771543" y="5567363"/>
            <a:ext cx="1493226"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fontAlgn="base">
              <a:spcBef>
                <a:spcPct val="0"/>
              </a:spcBef>
              <a:spcAft>
                <a:spcPct val="0"/>
              </a:spcAft>
            </a:pPr>
            <a:endParaRPr kumimoji="1" lang="ko-KR" altLang="en-US" dirty="0">
              <a:solidFill>
                <a:srgbClr val="000000"/>
              </a:solidFill>
            </a:endParaRPr>
          </a:p>
        </p:txBody>
      </p:sp>
      <p:sp>
        <p:nvSpPr>
          <p:cNvPr id="55" name="Text Box 39"/>
          <p:cNvSpPr txBox="1">
            <a:spLocks noChangeArrowheads="1"/>
          </p:cNvSpPr>
          <p:nvPr/>
        </p:nvSpPr>
        <p:spPr bwMode="auto">
          <a:xfrm>
            <a:off x="6500826" y="210126"/>
            <a:ext cx="2668166"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Distinguish control chart</a:t>
            </a:r>
          </a:p>
        </p:txBody>
      </p:sp>
      <p:sp>
        <p:nvSpPr>
          <p:cNvPr id="54"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268</a:t>
            </a:fld>
            <a:endParaRPr lang="ko-KR" altLang="en-US" sz="1200" dirty="0">
              <a:solidFill>
                <a:prstClr val="black"/>
              </a:solidFill>
            </a:endParaRPr>
          </a:p>
        </p:txBody>
      </p:sp>
      <p:sp>
        <p:nvSpPr>
          <p:cNvPr id="53"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254676115"/>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 Box 39"/>
          <p:cNvSpPr txBox="1">
            <a:spLocks noChangeArrowheads="1"/>
          </p:cNvSpPr>
          <p:nvPr/>
        </p:nvSpPr>
        <p:spPr bwMode="auto">
          <a:xfrm>
            <a:off x="323528" y="980728"/>
            <a:ext cx="1281120"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Question</a:t>
            </a:r>
          </a:p>
        </p:txBody>
      </p:sp>
      <p:sp>
        <p:nvSpPr>
          <p:cNvPr id="2" name="TextBox 1"/>
          <p:cNvSpPr txBox="1"/>
          <p:nvPr/>
        </p:nvSpPr>
        <p:spPr>
          <a:xfrm>
            <a:off x="214282" y="1785926"/>
            <a:ext cx="8883586" cy="51956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400" b="1" dirty="0">
                <a:solidFill>
                  <a:prstClr val="black"/>
                </a:solidFill>
                <a:ea typeface="굴림" pitchFamily="50" charset="-127"/>
              </a:rPr>
              <a:t>How do I know when a 1σ variation occurs in the process?</a:t>
            </a:r>
            <a:endParaRPr kumimoji="1" lang="ko-KR" altLang="en-US" sz="2400" b="1" dirty="0">
              <a:solidFill>
                <a:prstClr val="black"/>
              </a:solidFill>
              <a:ea typeface="굴림" pitchFamily="50" charset="-127"/>
            </a:endParaRPr>
          </a:p>
        </p:txBody>
      </p:sp>
      <p:sp>
        <p:nvSpPr>
          <p:cNvPr id="21" name="TextBox 20"/>
          <p:cNvSpPr txBox="1"/>
          <p:nvPr/>
        </p:nvSpPr>
        <p:spPr>
          <a:xfrm>
            <a:off x="1000100" y="2625054"/>
            <a:ext cx="7643529" cy="732508"/>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Let's talk about this in numbers. 100 ± 3 mm in length This part is wearing 101mm. How do I know this?</a:t>
            </a:r>
          </a:p>
        </p:txBody>
      </p:sp>
      <p:sp>
        <p:nvSpPr>
          <p:cNvPr id="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269</a:t>
            </a:fld>
            <a:endParaRPr lang="ko-KR" altLang="en-US" sz="1200" dirty="0">
              <a:solidFill>
                <a:prstClr val="black"/>
              </a:solidFill>
            </a:endParaRPr>
          </a:p>
        </p:txBody>
      </p:sp>
      <p:sp>
        <p:nvSpPr>
          <p:cNvPr id="7"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77689891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3"/>
          <p:cNvSpPr>
            <a:spLocks noChangeArrowheads="1"/>
          </p:cNvSpPr>
          <p:nvPr/>
        </p:nvSpPr>
        <p:spPr bwMode="auto">
          <a:xfrm>
            <a:off x="1985597" y="2186958"/>
            <a:ext cx="1861038" cy="431800"/>
          </a:xfrm>
          <a:prstGeom prst="rect">
            <a:avLst/>
          </a:prstGeom>
          <a:solidFill>
            <a:schemeClr val="bg1">
              <a:lumMod val="75000"/>
            </a:schemeClr>
          </a:solidFill>
          <a:ln w="9525" algn="ctr">
            <a:solidFill>
              <a:schemeClr val="tx1"/>
            </a:solidFill>
            <a:miter lim="800000"/>
            <a:headEnd/>
            <a:tailEnd/>
          </a:ln>
          <a:effectLst>
            <a:outerShdw blurRad="50800" dist="38100" dir="2700000" algn="tl" rotWithShape="0">
              <a:prstClr val="black">
                <a:alpha val="40000"/>
              </a:prstClr>
            </a:outerShdw>
          </a:effectLst>
        </p:spPr>
        <p:txBody>
          <a:bodyPr wrap="none" anchor="ctr"/>
          <a:lstStyle/>
          <a:p>
            <a:pPr algn="ctr" fontAlgn="base">
              <a:spcBef>
                <a:spcPct val="0"/>
              </a:spcBef>
              <a:spcAft>
                <a:spcPct val="0"/>
              </a:spcAft>
            </a:pPr>
            <a:r>
              <a:rPr kumimoji="1" lang="en-US" altLang="ko-KR" sz="1400" b="1" dirty="0">
                <a:solidFill>
                  <a:srgbClr val="FFFFFF"/>
                </a:solidFill>
              </a:rPr>
              <a:t>Continuous</a:t>
            </a:r>
          </a:p>
        </p:txBody>
      </p:sp>
      <p:sp>
        <p:nvSpPr>
          <p:cNvPr id="461827" name="AutoShape 4"/>
          <p:cNvSpPr>
            <a:spLocks noChangeArrowheads="1"/>
          </p:cNvSpPr>
          <p:nvPr/>
        </p:nvSpPr>
        <p:spPr bwMode="auto">
          <a:xfrm>
            <a:off x="1595804" y="3676650"/>
            <a:ext cx="996462" cy="504825"/>
          </a:xfrm>
          <a:prstGeom prst="diamond">
            <a:avLst/>
          </a:prstGeom>
          <a:solidFill>
            <a:schemeClr val="bg1">
              <a:lumMod val="85000"/>
            </a:schemeClr>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err="1">
                <a:solidFill>
                  <a:srgbClr val="000000"/>
                </a:solidFill>
              </a:rPr>
              <a:t>Độ</a:t>
            </a:r>
            <a:r>
              <a:rPr kumimoji="1" lang="en-US" altLang="ko-KR" sz="1400" b="1" dirty="0">
                <a:solidFill>
                  <a:srgbClr val="000000"/>
                </a:solidFill>
              </a:rPr>
              <a:t> </a:t>
            </a:r>
            <a:r>
              <a:rPr kumimoji="1" lang="en-US" altLang="ko-KR" sz="1400" b="1" dirty="0" err="1">
                <a:solidFill>
                  <a:srgbClr val="000000"/>
                </a:solidFill>
              </a:rPr>
              <a:t>lớn</a:t>
            </a:r>
            <a:r>
              <a:rPr kumimoji="1" lang="en-US" altLang="ko-KR" sz="1400" b="1" dirty="0">
                <a:solidFill>
                  <a:srgbClr val="000000"/>
                </a:solidFill>
              </a:rPr>
              <a:t> </a:t>
            </a:r>
            <a:r>
              <a:rPr kumimoji="1" lang="en-US" altLang="ko-KR" sz="1400" b="1" dirty="0" err="1">
                <a:solidFill>
                  <a:srgbClr val="000000"/>
                </a:solidFill>
              </a:rPr>
              <a:t>của</a:t>
            </a:r>
            <a:r>
              <a:rPr kumimoji="1" lang="en-US" altLang="ko-KR" sz="1400" b="1" dirty="0">
                <a:solidFill>
                  <a:srgbClr val="000000"/>
                </a:solidFill>
              </a:rPr>
              <a:t> </a:t>
            </a:r>
            <a:r>
              <a:rPr kumimoji="1" lang="en-US" altLang="ko-KR" sz="1400" b="1" dirty="0" err="1">
                <a:solidFill>
                  <a:srgbClr val="000000"/>
                </a:solidFill>
              </a:rPr>
              <a:t>cụm</a:t>
            </a:r>
            <a:endParaRPr kumimoji="1" lang="ko-KR" altLang="en-US" sz="1400" b="1" dirty="0">
              <a:solidFill>
                <a:srgbClr val="000000"/>
              </a:solidFill>
            </a:endParaRPr>
          </a:p>
        </p:txBody>
      </p:sp>
      <p:cxnSp>
        <p:nvCxnSpPr>
          <p:cNvPr id="461828" name="AutoShape 5"/>
          <p:cNvCxnSpPr>
            <a:cxnSpLocks noChangeShapeType="1"/>
            <a:stCxn id="461826" idx="2"/>
            <a:endCxn id="461864" idx="0"/>
          </p:cNvCxnSpPr>
          <p:nvPr/>
        </p:nvCxnSpPr>
        <p:spPr bwMode="auto">
          <a:xfrm rot="5400000">
            <a:off x="2296868" y="2414464"/>
            <a:ext cx="414955" cy="823546"/>
          </a:xfrm>
          <a:prstGeom prst="bentConnector3">
            <a:avLst>
              <a:gd name="adj1" fmla="val 50000"/>
            </a:avLst>
          </a:prstGeom>
          <a:noFill/>
          <a:ln w="9525">
            <a:solidFill>
              <a:schemeClr val="tx1"/>
            </a:solidFill>
            <a:miter lim="800000"/>
            <a:headEnd/>
            <a:tailEnd type="triangle" w="med" len="med"/>
          </a:ln>
        </p:spPr>
      </p:cxnSp>
      <p:sp>
        <p:nvSpPr>
          <p:cNvPr id="461829" name="Rectangle 6"/>
          <p:cNvSpPr>
            <a:spLocks noChangeArrowheads="1"/>
          </p:cNvSpPr>
          <p:nvPr/>
        </p:nvSpPr>
        <p:spPr bwMode="auto">
          <a:xfrm>
            <a:off x="823546" y="4684713"/>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I-MR</a:t>
            </a:r>
          </a:p>
        </p:txBody>
      </p:sp>
      <p:sp>
        <p:nvSpPr>
          <p:cNvPr id="461830" name="Rectangle 7"/>
          <p:cNvSpPr>
            <a:spLocks noChangeArrowheads="1"/>
          </p:cNvSpPr>
          <p:nvPr/>
        </p:nvSpPr>
        <p:spPr bwMode="auto">
          <a:xfrm>
            <a:off x="1686661" y="4684713"/>
            <a:ext cx="798634" cy="431800"/>
          </a:xfrm>
          <a:prstGeom prst="rect">
            <a:avLst/>
          </a:prstGeom>
          <a:solidFill>
            <a:schemeClr val="accent1">
              <a:lumMod val="20000"/>
              <a:lumOff val="80000"/>
            </a:schemeClr>
          </a:solidFill>
          <a:ln w="28575" algn="ctr">
            <a:solidFill>
              <a:srgbClr val="C00000"/>
            </a:solidFill>
            <a:miter lim="800000"/>
            <a:headEnd/>
            <a:tailEnd/>
          </a:ln>
        </p:spPr>
        <p:txBody>
          <a:bodyPr wrap="none" anchor="ctr"/>
          <a:lstStyle/>
          <a:p>
            <a:pPr algn="ctr" fontAlgn="base">
              <a:spcBef>
                <a:spcPct val="0"/>
              </a:spcBef>
              <a:spcAft>
                <a:spcPct val="0"/>
              </a:spcAft>
            </a:pPr>
            <a:r>
              <a:rPr kumimoji="1" lang="en-US" altLang="ko-KR" sz="1400" b="1" dirty="0">
                <a:solidFill>
                  <a:srgbClr val="FF0000"/>
                </a:solidFill>
                <a:effectLst>
                  <a:outerShdw blurRad="38100" dist="38100" dir="2700000" algn="tl">
                    <a:srgbClr val="000000">
                      <a:alpha val="43137"/>
                    </a:srgbClr>
                  </a:outerShdw>
                </a:effectLst>
              </a:rPr>
              <a:t>Xbar-R</a:t>
            </a:r>
          </a:p>
        </p:txBody>
      </p:sp>
      <p:sp>
        <p:nvSpPr>
          <p:cNvPr id="461831" name="Rectangle 8"/>
          <p:cNvSpPr>
            <a:spLocks noChangeArrowheads="1"/>
          </p:cNvSpPr>
          <p:nvPr/>
        </p:nvSpPr>
        <p:spPr bwMode="auto">
          <a:xfrm>
            <a:off x="2551237" y="4684713"/>
            <a:ext cx="798634"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Xbar-S</a:t>
            </a:r>
          </a:p>
        </p:txBody>
      </p:sp>
      <p:cxnSp>
        <p:nvCxnSpPr>
          <p:cNvPr id="461832" name="AutoShape 9"/>
          <p:cNvCxnSpPr>
            <a:cxnSpLocks noChangeShapeType="1"/>
            <a:stCxn id="461827" idx="2"/>
            <a:endCxn id="461830" idx="0"/>
          </p:cNvCxnSpPr>
          <p:nvPr/>
        </p:nvCxnSpPr>
        <p:spPr bwMode="auto">
          <a:xfrm rot="5400000">
            <a:off x="1838388" y="4429067"/>
            <a:ext cx="503238" cy="8057"/>
          </a:xfrm>
          <a:prstGeom prst="bentConnector3">
            <a:avLst>
              <a:gd name="adj1" fmla="val 3896"/>
            </a:avLst>
          </a:prstGeom>
          <a:noFill/>
          <a:ln w="9525">
            <a:solidFill>
              <a:schemeClr val="tx1"/>
            </a:solidFill>
            <a:miter lim="800000"/>
            <a:headEnd/>
            <a:tailEnd type="triangle" w="med" len="med"/>
          </a:ln>
        </p:spPr>
      </p:cxnSp>
      <p:cxnSp>
        <p:nvCxnSpPr>
          <p:cNvPr id="461833" name="AutoShape 10"/>
          <p:cNvCxnSpPr>
            <a:cxnSpLocks noChangeShapeType="1"/>
            <a:stCxn id="461827" idx="2"/>
            <a:endCxn id="461829" idx="0"/>
          </p:cNvCxnSpPr>
          <p:nvPr/>
        </p:nvCxnSpPr>
        <p:spPr bwMode="auto">
          <a:xfrm rot="5400000">
            <a:off x="1406831" y="3997512"/>
            <a:ext cx="503238" cy="871171"/>
          </a:xfrm>
          <a:prstGeom prst="bentConnector3">
            <a:avLst>
              <a:gd name="adj1" fmla="val 50000"/>
            </a:avLst>
          </a:prstGeom>
          <a:noFill/>
          <a:ln w="9525">
            <a:solidFill>
              <a:schemeClr val="tx1"/>
            </a:solidFill>
            <a:miter lim="800000"/>
            <a:headEnd/>
            <a:tailEnd type="triangle" w="med" len="med"/>
          </a:ln>
        </p:spPr>
      </p:cxnSp>
      <p:cxnSp>
        <p:nvCxnSpPr>
          <p:cNvPr id="461834" name="AutoShape 11"/>
          <p:cNvCxnSpPr>
            <a:cxnSpLocks noChangeShapeType="1"/>
          </p:cNvCxnSpPr>
          <p:nvPr/>
        </p:nvCxnSpPr>
        <p:spPr bwMode="auto">
          <a:xfrm rot="16200000" flipH="1">
            <a:off x="2271041" y="4004469"/>
            <a:ext cx="503238" cy="857250"/>
          </a:xfrm>
          <a:prstGeom prst="bentConnector3">
            <a:avLst>
              <a:gd name="adj1" fmla="val 49843"/>
            </a:avLst>
          </a:prstGeom>
          <a:noFill/>
          <a:ln w="9525">
            <a:solidFill>
              <a:schemeClr val="tx1"/>
            </a:solidFill>
            <a:miter lim="800000"/>
            <a:headEnd/>
            <a:tailEnd type="triangle" w="med" len="med"/>
          </a:ln>
        </p:spPr>
      </p:cxnSp>
      <p:sp>
        <p:nvSpPr>
          <p:cNvPr id="461835" name="Text Box 12"/>
          <p:cNvSpPr txBox="1">
            <a:spLocks noChangeArrowheads="1"/>
          </p:cNvSpPr>
          <p:nvPr/>
        </p:nvSpPr>
        <p:spPr bwMode="auto">
          <a:xfrm>
            <a:off x="813296" y="5124453"/>
            <a:ext cx="797169" cy="307777"/>
          </a:xfrm>
          <a:prstGeom prst="rect">
            <a:avLst/>
          </a:prstGeom>
          <a:noFill/>
          <a:ln w="9525">
            <a:noFill/>
            <a:miter lim="800000"/>
            <a:headEnd/>
            <a:tailEnd/>
          </a:ln>
        </p:spPr>
        <p:txBody>
          <a:bodyPr>
            <a:spAutoFit/>
          </a:bodyPr>
          <a:lstStyle/>
          <a:p>
            <a:pPr algn="ctr" fontAlgn="base">
              <a:spcBef>
                <a:spcPct val="50000"/>
              </a:spcBef>
              <a:spcAft>
                <a:spcPct val="0"/>
              </a:spcAft>
            </a:pPr>
            <a:r>
              <a:rPr kumimoji="1" lang="en-US" altLang="ko-KR" sz="1400" b="1" dirty="0">
                <a:solidFill>
                  <a:prstClr val="black"/>
                </a:solidFill>
              </a:rPr>
              <a:t>n = 1</a:t>
            </a:r>
          </a:p>
        </p:txBody>
      </p:sp>
      <p:sp>
        <p:nvSpPr>
          <p:cNvPr id="461836" name="Text Box 13"/>
          <p:cNvSpPr txBox="1">
            <a:spLocks noChangeArrowheads="1"/>
          </p:cNvSpPr>
          <p:nvPr/>
        </p:nvSpPr>
        <p:spPr bwMode="auto">
          <a:xfrm>
            <a:off x="1595803" y="5124453"/>
            <a:ext cx="879238" cy="307777"/>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a:solidFill>
                  <a:prstClr val="black"/>
                </a:solidFill>
              </a:rPr>
              <a:t>n = 2~5</a:t>
            </a:r>
          </a:p>
        </p:txBody>
      </p:sp>
      <p:sp>
        <p:nvSpPr>
          <p:cNvPr id="461837" name="Text Box 14"/>
          <p:cNvSpPr txBox="1">
            <a:spLocks noChangeArrowheads="1"/>
          </p:cNvSpPr>
          <p:nvPr/>
        </p:nvSpPr>
        <p:spPr bwMode="auto">
          <a:xfrm>
            <a:off x="2542448" y="5124453"/>
            <a:ext cx="797169" cy="307777"/>
          </a:xfrm>
          <a:prstGeom prst="rect">
            <a:avLst/>
          </a:prstGeom>
          <a:noFill/>
          <a:ln w="9525">
            <a:noFill/>
            <a:miter lim="800000"/>
            <a:headEnd/>
            <a:tailEnd/>
          </a:ln>
        </p:spPr>
        <p:txBody>
          <a:bodyPr>
            <a:spAutoFit/>
          </a:bodyPr>
          <a:lstStyle/>
          <a:p>
            <a:pPr algn="ctr" fontAlgn="base">
              <a:spcBef>
                <a:spcPct val="50000"/>
              </a:spcBef>
              <a:spcAft>
                <a:spcPct val="0"/>
              </a:spcAft>
            </a:pPr>
            <a:r>
              <a:rPr kumimoji="1" lang="en-US" altLang="ko-KR" sz="1400" b="1" dirty="0">
                <a:solidFill>
                  <a:prstClr val="black"/>
                </a:solidFill>
              </a:rPr>
              <a:t>n &gt; 6</a:t>
            </a:r>
          </a:p>
        </p:txBody>
      </p:sp>
      <p:sp>
        <p:nvSpPr>
          <p:cNvPr id="461838" name="Rectangle 15"/>
          <p:cNvSpPr>
            <a:spLocks noChangeArrowheads="1"/>
          </p:cNvSpPr>
          <p:nvPr/>
        </p:nvSpPr>
        <p:spPr bwMode="auto">
          <a:xfrm>
            <a:off x="3766039" y="1450975"/>
            <a:ext cx="1861038" cy="431800"/>
          </a:xfrm>
          <a:prstGeom prst="rect">
            <a:avLst/>
          </a:prstGeom>
          <a:solidFill>
            <a:schemeClr val="accent1">
              <a:lumMod val="20000"/>
              <a:lumOff val="80000"/>
            </a:schemeClr>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Type of Data</a:t>
            </a:r>
          </a:p>
        </p:txBody>
      </p:sp>
      <p:sp>
        <p:nvSpPr>
          <p:cNvPr id="461839" name="Rectangle 16"/>
          <p:cNvSpPr>
            <a:spLocks noChangeArrowheads="1"/>
          </p:cNvSpPr>
          <p:nvPr/>
        </p:nvSpPr>
        <p:spPr bwMode="auto">
          <a:xfrm>
            <a:off x="5555274" y="2170113"/>
            <a:ext cx="1861038" cy="431800"/>
          </a:xfrm>
          <a:prstGeom prst="rect">
            <a:avLst/>
          </a:prstGeom>
          <a:solidFill>
            <a:schemeClr val="bg1">
              <a:lumMod val="75000"/>
            </a:schemeClr>
          </a:solidFill>
          <a:ln w="9525" algn="ctr">
            <a:solidFill>
              <a:schemeClr val="tx1"/>
            </a:solidFill>
            <a:miter lim="800000"/>
            <a:headEnd/>
            <a:tailEnd/>
          </a:ln>
          <a:effectLst>
            <a:outerShdw blurRad="50800" dist="38100" dir="2700000" algn="tl" rotWithShape="0">
              <a:prstClr val="black">
                <a:alpha val="40000"/>
              </a:prstClr>
            </a:outerShdw>
          </a:effectLst>
        </p:spPr>
        <p:txBody>
          <a:bodyPr wrap="none" anchor="ctr"/>
          <a:lstStyle/>
          <a:p>
            <a:pPr algn="ctr" fontAlgn="base">
              <a:spcBef>
                <a:spcPct val="0"/>
              </a:spcBef>
              <a:spcAft>
                <a:spcPct val="0"/>
              </a:spcAft>
            </a:pPr>
            <a:r>
              <a:rPr kumimoji="1" lang="en-US" altLang="ko-KR" sz="1400" b="1" dirty="0">
                <a:solidFill>
                  <a:srgbClr val="FFFFFF"/>
                </a:solidFill>
              </a:rPr>
              <a:t>Attribute</a:t>
            </a:r>
          </a:p>
        </p:txBody>
      </p:sp>
      <p:cxnSp>
        <p:nvCxnSpPr>
          <p:cNvPr id="461840" name="AutoShape 17"/>
          <p:cNvCxnSpPr>
            <a:cxnSpLocks noChangeShapeType="1"/>
            <a:stCxn id="461838" idx="1"/>
            <a:endCxn id="461826" idx="0"/>
          </p:cNvCxnSpPr>
          <p:nvPr/>
        </p:nvCxnSpPr>
        <p:spPr bwMode="auto">
          <a:xfrm rot="10800000" flipV="1">
            <a:off x="2916119" y="1666877"/>
            <a:ext cx="849922" cy="520083"/>
          </a:xfrm>
          <a:prstGeom prst="bentConnector2">
            <a:avLst/>
          </a:prstGeom>
          <a:noFill/>
          <a:ln w="9525">
            <a:solidFill>
              <a:schemeClr val="tx1"/>
            </a:solidFill>
            <a:miter lim="800000"/>
            <a:headEnd/>
            <a:tailEnd type="triangle" w="med" len="med"/>
          </a:ln>
        </p:spPr>
      </p:cxnSp>
      <p:cxnSp>
        <p:nvCxnSpPr>
          <p:cNvPr id="461841" name="AutoShape 18"/>
          <p:cNvCxnSpPr>
            <a:cxnSpLocks noChangeShapeType="1"/>
            <a:stCxn id="461838" idx="3"/>
            <a:endCxn id="461839" idx="0"/>
          </p:cNvCxnSpPr>
          <p:nvPr/>
        </p:nvCxnSpPr>
        <p:spPr bwMode="auto">
          <a:xfrm>
            <a:off x="5627088" y="1666875"/>
            <a:ext cx="858715" cy="503238"/>
          </a:xfrm>
          <a:prstGeom prst="bentConnector2">
            <a:avLst/>
          </a:prstGeom>
          <a:noFill/>
          <a:ln w="9525">
            <a:solidFill>
              <a:schemeClr val="tx1"/>
            </a:solidFill>
            <a:miter lim="800000"/>
            <a:headEnd/>
            <a:tailEnd type="triangle" w="med" len="med"/>
          </a:ln>
        </p:spPr>
      </p:cxnSp>
      <p:sp>
        <p:nvSpPr>
          <p:cNvPr id="461842" name="Rectangle 19"/>
          <p:cNvSpPr>
            <a:spLocks noChangeArrowheads="1"/>
          </p:cNvSpPr>
          <p:nvPr/>
        </p:nvSpPr>
        <p:spPr bwMode="auto">
          <a:xfrm>
            <a:off x="5051181" y="3033713"/>
            <a:ext cx="1263162"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err="1">
                <a:solidFill>
                  <a:srgbClr val="000000"/>
                </a:solidFill>
              </a:rPr>
              <a:t>Số</a:t>
            </a:r>
            <a:r>
              <a:rPr kumimoji="1" lang="en-US" altLang="ko-KR" sz="1400" b="1" dirty="0">
                <a:solidFill>
                  <a:srgbClr val="000000"/>
                </a:solidFill>
              </a:rPr>
              <a:t> </a:t>
            </a:r>
            <a:r>
              <a:rPr kumimoji="1" lang="en-US" altLang="ko-KR" sz="1400" b="1" dirty="0" err="1">
                <a:solidFill>
                  <a:srgbClr val="000000"/>
                </a:solidFill>
              </a:rPr>
              <a:t>lượng</a:t>
            </a:r>
            <a:r>
              <a:rPr kumimoji="1" lang="en-US" altLang="ko-KR" sz="1400" b="1" dirty="0">
                <a:solidFill>
                  <a:srgbClr val="000000"/>
                </a:solidFill>
              </a:rPr>
              <a:t> </a:t>
            </a:r>
            <a:r>
              <a:rPr kumimoji="1" lang="en-US" altLang="ko-KR" sz="1400" b="1" dirty="0" err="1">
                <a:solidFill>
                  <a:srgbClr val="000000"/>
                </a:solidFill>
              </a:rPr>
              <a:t>không</a:t>
            </a:r>
            <a:endParaRPr kumimoji="1" lang="en-US" altLang="ko-KR" sz="1400" b="1" dirty="0">
              <a:solidFill>
                <a:srgbClr val="000000"/>
              </a:solidFill>
            </a:endParaRPr>
          </a:p>
          <a:p>
            <a:pPr algn="ctr" fontAlgn="base">
              <a:spcBef>
                <a:spcPct val="0"/>
              </a:spcBef>
              <a:spcAft>
                <a:spcPct val="0"/>
              </a:spcAft>
            </a:pPr>
            <a:r>
              <a:rPr kumimoji="1" lang="en-US" altLang="ko-KR" sz="1400" b="1" dirty="0">
                <a:solidFill>
                  <a:srgbClr val="000000"/>
                </a:solidFill>
              </a:rPr>
              <a:t> </a:t>
            </a:r>
            <a:r>
              <a:rPr kumimoji="1" lang="en-US" altLang="ko-KR" sz="1400" b="1" dirty="0" err="1">
                <a:solidFill>
                  <a:srgbClr val="000000"/>
                </a:solidFill>
              </a:rPr>
              <a:t>đạt</a:t>
            </a:r>
            <a:r>
              <a:rPr kumimoji="1" lang="en-US" altLang="ko-KR" sz="1400" b="1" dirty="0">
                <a:solidFill>
                  <a:srgbClr val="000000"/>
                </a:solidFill>
              </a:rPr>
              <a:t>/</a:t>
            </a:r>
            <a:r>
              <a:rPr kumimoji="1" lang="en-US" altLang="ko-KR" sz="1400" b="1" dirty="0" err="1">
                <a:solidFill>
                  <a:srgbClr val="000000"/>
                </a:solidFill>
              </a:rPr>
              <a:t>tỉ</a:t>
            </a:r>
            <a:r>
              <a:rPr kumimoji="1" lang="en-US" altLang="ko-KR" sz="1400" b="1" dirty="0">
                <a:solidFill>
                  <a:srgbClr val="000000"/>
                </a:solidFill>
              </a:rPr>
              <a:t> </a:t>
            </a:r>
            <a:r>
              <a:rPr kumimoji="1" lang="en-US" altLang="ko-KR" sz="1400" b="1" dirty="0" err="1">
                <a:solidFill>
                  <a:srgbClr val="000000"/>
                </a:solidFill>
              </a:rPr>
              <a:t>lệ</a:t>
            </a:r>
            <a:endParaRPr kumimoji="1" lang="ko-KR" altLang="en-US" sz="1400" b="1" dirty="0">
              <a:solidFill>
                <a:srgbClr val="000000"/>
              </a:solidFill>
            </a:endParaRPr>
          </a:p>
        </p:txBody>
      </p:sp>
      <p:sp>
        <p:nvSpPr>
          <p:cNvPr id="461843" name="Rectangle 20"/>
          <p:cNvSpPr>
            <a:spLocks noChangeArrowheads="1"/>
          </p:cNvSpPr>
          <p:nvPr/>
        </p:nvSpPr>
        <p:spPr bwMode="auto">
          <a:xfrm>
            <a:off x="6712928" y="3033713"/>
            <a:ext cx="1263162"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err="1">
                <a:solidFill>
                  <a:srgbClr val="000000"/>
                </a:solidFill>
              </a:rPr>
              <a:t>Số</a:t>
            </a:r>
            <a:r>
              <a:rPr kumimoji="1" lang="en-US" altLang="ko-KR" sz="1400" b="1" dirty="0">
                <a:solidFill>
                  <a:srgbClr val="000000"/>
                </a:solidFill>
              </a:rPr>
              <a:t> </a:t>
            </a:r>
            <a:r>
              <a:rPr kumimoji="1" lang="en-US" altLang="ko-KR" sz="1400" b="1" dirty="0" err="1">
                <a:solidFill>
                  <a:srgbClr val="000000"/>
                </a:solidFill>
              </a:rPr>
              <a:t>lượng</a:t>
            </a:r>
            <a:endParaRPr kumimoji="1" lang="en-US" altLang="ko-KR" sz="1400" b="1" dirty="0">
              <a:solidFill>
                <a:srgbClr val="000000"/>
              </a:solidFill>
            </a:endParaRPr>
          </a:p>
          <a:p>
            <a:pPr algn="ctr" fontAlgn="base">
              <a:spcBef>
                <a:spcPct val="0"/>
              </a:spcBef>
              <a:spcAft>
                <a:spcPct val="0"/>
              </a:spcAft>
            </a:pPr>
            <a:r>
              <a:rPr kumimoji="1" lang="en-US" altLang="ko-KR" sz="1400" b="1" dirty="0">
                <a:solidFill>
                  <a:srgbClr val="000000"/>
                </a:solidFill>
              </a:rPr>
              <a:t> </a:t>
            </a:r>
            <a:r>
              <a:rPr kumimoji="1" lang="en-US" altLang="ko-KR" sz="1400" b="1" dirty="0" err="1">
                <a:solidFill>
                  <a:srgbClr val="000000"/>
                </a:solidFill>
              </a:rPr>
              <a:t>khuyết</a:t>
            </a:r>
            <a:r>
              <a:rPr kumimoji="1" lang="en-US" altLang="ko-KR" sz="1400" b="1" dirty="0">
                <a:solidFill>
                  <a:srgbClr val="000000"/>
                </a:solidFill>
              </a:rPr>
              <a:t> </a:t>
            </a:r>
            <a:r>
              <a:rPr kumimoji="1" lang="en-US" altLang="ko-KR" sz="1400" b="1" dirty="0" err="1">
                <a:solidFill>
                  <a:srgbClr val="000000"/>
                </a:solidFill>
              </a:rPr>
              <a:t>điểm</a:t>
            </a:r>
            <a:endParaRPr kumimoji="1" lang="ko-KR" altLang="en-US" sz="1400" b="1" dirty="0">
              <a:solidFill>
                <a:srgbClr val="000000"/>
              </a:solidFill>
            </a:endParaRPr>
          </a:p>
        </p:txBody>
      </p:sp>
      <p:sp>
        <p:nvSpPr>
          <p:cNvPr id="461844" name="AutoShape 21"/>
          <p:cNvSpPr>
            <a:spLocks noChangeArrowheads="1"/>
          </p:cNvSpPr>
          <p:nvPr/>
        </p:nvSpPr>
        <p:spPr bwMode="auto">
          <a:xfrm>
            <a:off x="5161095" y="3676650"/>
            <a:ext cx="1063869" cy="504825"/>
          </a:xfrm>
          <a:prstGeom prst="diamond">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err="1">
                <a:solidFill>
                  <a:srgbClr val="000000"/>
                </a:solidFill>
              </a:rPr>
              <a:t>Độ</a:t>
            </a:r>
            <a:r>
              <a:rPr kumimoji="1" lang="en-US" altLang="ko-KR" sz="1400" b="1" dirty="0">
                <a:solidFill>
                  <a:srgbClr val="000000"/>
                </a:solidFill>
              </a:rPr>
              <a:t> </a:t>
            </a:r>
            <a:r>
              <a:rPr kumimoji="1" lang="en-US" altLang="ko-KR" sz="1400" b="1" dirty="0" err="1">
                <a:solidFill>
                  <a:srgbClr val="000000"/>
                </a:solidFill>
              </a:rPr>
              <a:t>lớn</a:t>
            </a:r>
            <a:r>
              <a:rPr kumimoji="1" lang="en-US" altLang="ko-KR" sz="1400" b="1" dirty="0">
                <a:solidFill>
                  <a:srgbClr val="000000"/>
                </a:solidFill>
              </a:rPr>
              <a:t> </a:t>
            </a:r>
            <a:r>
              <a:rPr kumimoji="1" lang="en-US" altLang="ko-KR" sz="1400" b="1" dirty="0" err="1">
                <a:solidFill>
                  <a:srgbClr val="000000"/>
                </a:solidFill>
              </a:rPr>
              <a:t>của</a:t>
            </a:r>
            <a:r>
              <a:rPr kumimoji="1" lang="en-US" altLang="ko-KR" sz="1400" b="1" dirty="0">
                <a:solidFill>
                  <a:srgbClr val="000000"/>
                </a:solidFill>
              </a:rPr>
              <a:t> </a:t>
            </a:r>
            <a:r>
              <a:rPr kumimoji="1" lang="en-US" altLang="ko-KR" sz="1400" b="1" dirty="0" err="1">
                <a:solidFill>
                  <a:srgbClr val="000000"/>
                </a:solidFill>
              </a:rPr>
              <a:t>cụm</a:t>
            </a:r>
            <a:endParaRPr kumimoji="1" lang="ko-KR" altLang="en-US" sz="1400" b="1" dirty="0">
              <a:solidFill>
                <a:srgbClr val="000000"/>
              </a:solidFill>
            </a:endParaRPr>
          </a:p>
        </p:txBody>
      </p:sp>
      <p:sp>
        <p:nvSpPr>
          <p:cNvPr id="461845" name="AutoShape 22"/>
          <p:cNvSpPr>
            <a:spLocks noChangeArrowheads="1"/>
          </p:cNvSpPr>
          <p:nvPr/>
        </p:nvSpPr>
        <p:spPr bwMode="auto">
          <a:xfrm>
            <a:off x="6794989" y="3676650"/>
            <a:ext cx="1103434" cy="504825"/>
          </a:xfrm>
          <a:prstGeom prst="diamond">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err="1">
                <a:solidFill>
                  <a:srgbClr val="000000"/>
                </a:solidFill>
              </a:rPr>
              <a:t>Độ</a:t>
            </a:r>
            <a:r>
              <a:rPr kumimoji="1" lang="en-US" altLang="ko-KR" sz="1400" b="1" dirty="0">
                <a:solidFill>
                  <a:srgbClr val="000000"/>
                </a:solidFill>
              </a:rPr>
              <a:t> </a:t>
            </a:r>
            <a:r>
              <a:rPr kumimoji="1" lang="en-US" altLang="ko-KR" sz="1400" b="1" dirty="0" err="1">
                <a:solidFill>
                  <a:srgbClr val="000000"/>
                </a:solidFill>
              </a:rPr>
              <a:t>lớn</a:t>
            </a:r>
            <a:r>
              <a:rPr kumimoji="1" lang="en-US" altLang="ko-KR" sz="1400" b="1" dirty="0">
                <a:solidFill>
                  <a:srgbClr val="000000"/>
                </a:solidFill>
              </a:rPr>
              <a:t> </a:t>
            </a:r>
            <a:r>
              <a:rPr kumimoji="1" lang="en-US" altLang="ko-KR" sz="1400" b="1" dirty="0" err="1">
                <a:solidFill>
                  <a:srgbClr val="000000"/>
                </a:solidFill>
              </a:rPr>
              <a:t>của</a:t>
            </a:r>
            <a:r>
              <a:rPr kumimoji="1" lang="en-US" altLang="ko-KR" sz="1400" b="1" dirty="0">
                <a:solidFill>
                  <a:srgbClr val="000000"/>
                </a:solidFill>
              </a:rPr>
              <a:t> </a:t>
            </a:r>
            <a:r>
              <a:rPr kumimoji="1" lang="en-US" altLang="ko-KR" sz="1400" b="1" dirty="0" err="1">
                <a:solidFill>
                  <a:srgbClr val="000000"/>
                </a:solidFill>
              </a:rPr>
              <a:t>cụm</a:t>
            </a:r>
            <a:endParaRPr kumimoji="1" lang="ko-KR" altLang="en-US" sz="1400" b="1" dirty="0">
              <a:solidFill>
                <a:srgbClr val="000000"/>
              </a:solidFill>
            </a:endParaRPr>
          </a:p>
        </p:txBody>
      </p:sp>
      <p:cxnSp>
        <p:nvCxnSpPr>
          <p:cNvPr id="461846" name="AutoShape 23"/>
          <p:cNvCxnSpPr>
            <a:cxnSpLocks noChangeShapeType="1"/>
            <a:stCxn id="461839" idx="2"/>
            <a:endCxn id="461842" idx="0"/>
          </p:cNvCxnSpPr>
          <p:nvPr/>
        </p:nvCxnSpPr>
        <p:spPr bwMode="auto">
          <a:xfrm rot="5400000">
            <a:off x="5868377" y="2416308"/>
            <a:ext cx="431800" cy="803031"/>
          </a:xfrm>
          <a:prstGeom prst="bentConnector3">
            <a:avLst>
              <a:gd name="adj1" fmla="val 50000"/>
            </a:avLst>
          </a:prstGeom>
          <a:noFill/>
          <a:ln w="9525">
            <a:solidFill>
              <a:schemeClr val="tx1"/>
            </a:solidFill>
            <a:miter lim="800000"/>
            <a:headEnd/>
            <a:tailEnd type="triangle" w="med" len="med"/>
          </a:ln>
        </p:spPr>
      </p:cxnSp>
      <p:cxnSp>
        <p:nvCxnSpPr>
          <p:cNvPr id="461847" name="AutoShape 24"/>
          <p:cNvCxnSpPr>
            <a:cxnSpLocks noChangeShapeType="1"/>
            <a:stCxn id="461839" idx="2"/>
            <a:endCxn id="461843" idx="0"/>
          </p:cNvCxnSpPr>
          <p:nvPr/>
        </p:nvCxnSpPr>
        <p:spPr bwMode="auto">
          <a:xfrm rot="16200000" flipH="1">
            <a:off x="6699250" y="2388476"/>
            <a:ext cx="431800" cy="858715"/>
          </a:xfrm>
          <a:prstGeom prst="bentConnector3">
            <a:avLst>
              <a:gd name="adj1" fmla="val 50000"/>
            </a:avLst>
          </a:prstGeom>
          <a:noFill/>
          <a:ln w="9525">
            <a:solidFill>
              <a:schemeClr val="tx1"/>
            </a:solidFill>
            <a:miter lim="800000"/>
            <a:headEnd/>
            <a:tailEnd type="triangle" w="med" len="med"/>
          </a:ln>
        </p:spPr>
      </p:cxnSp>
      <p:cxnSp>
        <p:nvCxnSpPr>
          <p:cNvPr id="461848" name="AutoShape 25"/>
          <p:cNvCxnSpPr>
            <a:cxnSpLocks noChangeShapeType="1"/>
            <a:stCxn id="461842" idx="2"/>
            <a:endCxn id="461844" idx="0"/>
          </p:cNvCxnSpPr>
          <p:nvPr/>
        </p:nvCxnSpPr>
        <p:spPr bwMode="auto">
          <a:xfrm rot="16200000" flipH="1">
            <a:off x="5582333" y="3565956"/>
            <a:ext cx="211137" cy="10258"/>
          </a:xfrm>
          <a:prstGeom prst="bentConnector3">
            <a:avLst>
              <a:gd name="adj1" fmla="val 49625"/>
            </a:avLst>
          </a:prstGeom>
          <a:noFill/>
          <a:ln w="9525">
            <a:solidFill>
              <a:schemeClr val="tx1"/>
            </a:solidFill>
            <a:miter lim="800000"/>
            <a:headEnd/>
            <a:tailEnd type="triangle" w="med" len="med"/>
          </a:ln>
        </p:spPr>
      </p:cxnSp>
      <p:cxnSp>
        <p:nvCxnSpPr>
          <p:cNvPr id="461849" name="AutoShape 26"/>
          <p:cNvCxnSpPr>
            <a:cxnSpLocks noChangeShapeType="1"/>
            <a:stCxn id="461843" idx="2"/>
            <a:endCxn id="461845" idx="0"/>
          </p:cNvCxnSpPr>
          <p:nvPr/>
        </p:nvCxnSpPr>
        <p:spPr bwMode="auto">
          <a:xfrm rot="16200000" flipH="1">
            <a:off x="7240415" y="3569619"/>
            <a:ext cx="211137" cy="2931"/>
          </a:xfrm>
          <a:prstGeom prst="bentConnector3">
            <a:avLst>
              <a:gd name="adj1" fmla="val 49625"/>
            </a:avLst>
          </a:prstGeom>
          <a:noFill/>
          <a:ln w="9525">
            <a:solidFill>
              <a:schemeClr val="tx1"/>
            </a:solidFill>
            <a:miter lim="800000"/>
            <a:headEnd/>
            <a:tailEnd type="triangle" w="med" len="med"/>
          </a:ln>
        </p:spPr>
      </p:cxnSp>
      <p:sp>
        <p:nvSpPr>
          <p:cNvPr id="461850" name="Rectangle 27"/>
          <p:cNvSpPr>
            <a:spLocks noChangeArrowheads="1"/>
          </p:cNvSpPr>
          <p:nvPr/>
        </p:nvSpPr>
        <p:spPr bwMode="auto">
          <a:xfrm>
            <a:off x="4832839" y="4687888"/>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NP</a:t>
            </a:r>
          </a:p>
        </p:txBody>
      </p:sp>
      <p:sp>
        <p:nvSpPr>
          <p:cNvPr id="461851" name="Rectangle 28"/>
          <p:cNvSpPr>
            <a:spLocks noChangeArrowheads="1"/>
          </p:cNvSpPr>
          <p:nvPr/>
        </p:nvSpPr>
        <p:spPr bwMode="auto">
          <a:xfrm>
            <a:off x="5697415" y="4687888"/>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P</a:t>
            </a:r>
          </a:p>
        </p:txBody>
      </p:sp>
      <p:sp>
        <p:nvSpPr>
          <p:cNvPr id="461852" name="Rectangle 29"/>
          <p:cNvSpPr>
            <a:spLocks noChangeArrowheads="1"/>
          </p:cNvSpPr>
          <p:nvPr/>
        </p:nvSpPr>
        <p:spPr bwMode="auto">
          <a:xfrm>
            <a:off x="6579582" y="4692650"/>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C</a:t>
            </a:r>
          </a:p>
        </p:txBody>
      </p:sp>
      <p:sp>
        <p:nvSpPr>
          <p:cNvPr id="461853" name="Rectangle 30"/>
          <p:cNvSpPr>
            <a:spLocks noChangeArrowheads="1"/>
          </p:cNvSpPr>
          <p:nvPr/>
        </p:nvSpPr>
        <p:spPr bwMode="auto">
          <a:xfrm>
            <a:off x="7444159" y="4692650"/>
            <a:ext cx="798635"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U</a:t>
            </a:r>
          </a:p>
        </p:txBody>
      </p:sp>
      <p:cxnSp>
        <p:nvCxnSpPr>
          <p:cNvPr id="461854" name="AutoShape 31"/>
          <p:cNvCxnSpPr>
            <a:cxnSpLocks noChangeShapeType="1"/>
            <a:stCxn id="461844" idx="2"/>
            <a:endCxn id="461850" idx="0"/>
          </p:cNvCxnSpPr>
          <p:nvPr/>
        </p:nvCxnSpPr>
        <p:spPr bwMode="auto">
          <a:xfrm rot="5400000">
            <a:off x="5209758" y="4204637"/>
            <a:ext cx="506413" cy="460131"/>
          </a:xfrm>
          <a:prstGeom prst="bentConnector3">
            <a:avLst>
              <a:gd name="adj1" fmla="val 50000"/>
            </a:avLst>
          </a:prstGeom>
          <a:noFill/>
          <a:ln w="9525">
            <a:solidFill>
              <a:schemeClr val="tx1"/>
            </a:solidFill>
            <a:miter lim="800000"/>
            <a:headEnd/>
            <a:tailEnd type="triangle" w="med" len="med"/>
          </a:ln>
        </p:spPr>
      </p:cxnSp>
      <p:cxnSp>
        <p:nvCxnSpPr>
          <p:cNvPr id="461855" name="AutoShape 32"/>
          <p:cNvCxnSpPr>
            <a:cxnSpLocks noChangeShapeType="1"/>
            <a:stCxn id="461844" idx="2"/>
            <a:endCxn id="461851" idx="0"/>
          </p:cNvCxnSpPr>
          <p:nvPr/>
        </p:nvCxnSpPr>
        <p:spPr bwMode="auto">
          <a:xfrm rot="16200000" flipH="1">
            <a:off x="5642046" y="4232459"/>
            <a:ext cx="506413" cy="404446"/>
          </a:xfrm>
          <a:prstGeom prst="bentConnector3">
            <a:avLst>
              <a:gd name="adj1" fmla="val 50000"/>
            </a:avLst>
          </a:prstGeom>
          <a:noFill/>
          <a:ln w="9525">
            <a:solidFill>
              <a:schemeClr val="tx1"/>
            </a:solidFill>
            <a:miter lim="800000"/>
            <a:headEnd/>
            <a:tailEnd type="triangle" w="med" len="med"/>
          </a:ln>
        </p:spPr>
      </p:cxnSp>
      <p:cxnSp>
        <p:nvCxnSpPr>
          <p:cNvPr id="461856" name="AutoShape 33"/>
          <p:cNvCxnSpPr>
            <a:cxnSpLocks noChangeShapeType="1"/>
            <a:stCxn id="461845" idx="2"/>
            <a:endCxn id="461852" idx="0"/>
          </p:cNvCxnSpPr>
          <p:nvPr/>
        </p:nvCxnSpPr>
        <p:spPr bwMode="auto">
          <a:xfrm rot="5400000">
            <a:off x="6907955" y="4253168"/>
            <a:ext cx="511175" cy="367811"/>
          </a:xfrm>
          <a:prstGeom prst="bentConnector3">
            <a:avLst>
              <a:gd name="adj1" fmla="val 50000"/>
            </a:avLst>
          </a:prstGeom>
          <a:noFill/>
          <a:ln w="9525">
            <a:solidFill>
              <a:schemeClr val="tx1"/>
            </a:solidFill>
            <a:miter lim="800000"/>
            <a:headEnd/>
            <a:tailEnd type="triangle" w="med" len="med"/>
          </a:ln>
        </p:spPr>
      </p:cxnSp>
      <p:cxnSp>
        <p:nvCxnSpPr>
          <p:cNvPr id="461857" name="AutoShape 34"/>
          <p:cNvCxnSpPr>
            <a:cxnSpLocks noChangeShapeType="1"/>
            <a:stCxn id="461845" idx="2"/>
            <a:endCxn id="461853" idx="0"/>
          </p:cNvCxnSpPr>
          <p:nvPr/>
        </p:nvCxnSpPr>
        <p:spPr bwMode="auto">
          <a:xfrm rot="16200000" flipH="1">
            <a:off x="7340244" y="4188690"/>
            <a:ext cx="511175" cy="496766"/>
          </a:xfrm>
          <a:prstGeom prst="bentConnector3">
            <a:avLst>
              <a:gd name="adj1" fmla="val 50000"/>
            </a:avLst>
          </a:prstGeom>
          <a:noFill/>
          <a:ln w="9525">
            <a:solidFill>
              <a:schemeClr val="tx1"/>
            </a:solidFill>
            <a:miter lim="800000"/>
            <a:headEnd/>
            <a:tailEnd type="triangle" w="med" len="med"/>
          </a:ln>
        </p:spPr>
      </p:cxnSp>
      <p:sp>
        <p:nvSpPr>
          <p:cNvPr id="461858" name="Text Box 35"/>
          <p:cNvSpPr txBox="1">
            <a:spLocks noChangeArrowheads="1"/>
          </p:cNvSpPr>
          <p:nvPr/>
        </p:nvSpPr>
        <p:spPr bwMode="auto">
          <a:xfrm>
            <a:off x="4865084" y="5153028"/>
            <a:ext cx="797169" cy="523220"/>
          </a:xfrm>
          <a:prstGeom prst="rect">
            <a:avLst/>
          </a:prstGeom>
          <a:noFill/>
          <a:ln w="9525">
            <a:noFill/>
            <a:miter lim="800000"/>
            <a:headEnd/>
            <a:tailEnd/>
          </a:ln>
        </p:spPr>
        <p:txBody>
          <a:bodyPr>
            <a:spAutoFit/>
          </a:bodyPr>
          <a:lstStyle/>
          <a:p>
            <a:pPr algn="ctr" fontAlgn="base">
              <a:spcBef>
                <a:spcPct val="50000"/>
              </a:spcBef>
              <a:spcAft>
                <a:spcPct val="0"/>
              </a:spcAft>
            </a:pPr>
            <a:r>
              <a:rPr kumimoji="1" lang="en-US" altLang="ko-KR" sz="1400" b="1" dirty="0" err="1">
                <a:solidFill>
                  <a:srgbClr val="008000"/>
                </a:solidFill>
              </a:rPr>
              <a:t>Ấn</a:t>
            </a:r>
            <a:r>
              <a:rPr kumimoji="1" lang="en-US" altLang="ko-KR" sz="1400" b="1" dirty="0">
                <a:solidFill>
                  <a:srgbClr val="008000"/>
                </a:solidFill>
              </a:rPr>
              <a:t> </a:t>
            </a:r>
            <a:r>
              <a:rPr kumimoji="1" lang="en-US" altLang="ko-KR" sz="1400" b="1" dirty="0" err="1">
                <a:solidFill>
                  <a:srgbClr val="008000"/>
                </a:solidFill>
              </a:rPr>
              <a:t>định</a:t>
            </a:r>
            <a:endParaRPr kumimoji="1" lang="ko-KR" altLang="en-US" sz="1400" b="1" dirty="0">
              <a:solidFill>
                <a:srgbClr val="008000"/>
              </a:solidFill>
            </a:endParaRPr>
          </a:p>
        </p:txBody>
      </p:sp>
      <p:sp>
        <p:nvSpPr>
          <p:cNvPr id="461859" name="Text Box 36"/>
          <p:cNvSpPr txBox="1">
            <a:spLocks noChangeArrowheads="1"/>
          </p:cNvSpPr>
          <p:nvPr/>
        </p:nvSpPr>
        <p:spPr bwMode="auto">
          <a:xfrm>
            <a:off x="5630317" y="5081597"/>
            <a:ext cx="975948" cy="523220"/>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err="1">
                <a:solidFill>
                  <a:srgbClr val="008000"/>
                </a:solidFill>
              </a:rPr>
              <a:t>Không</a:t>
            </a:r>
            <a:r>
              <a:rPr kumimoji="1" lang="en-US" altLang="ko-KR" sz="1400" b="1" dirty="0">
                <a:solidFill>
                  <a:srgbClr val="008000"/>
                </a:solidFill>
              </a:rPr>
              <a:t> </a:t>
            </a:r>
            <a:r>
              <a:rPr kumimoji="1" lang="en-US" altLang="ko-KR" sz="1400" b="1" dirty="0" err="1">
                <a:solidFill>
                  <a:srgbClr val="008000"/>
                </a:solidFill>
              </a:rPr>
              <a:t>ấn</a:t>
            </a:r>
            <a:r>
              <a:rPr kumimoji="1" lang="en-US" altLang="ko-KR" sz="1400" b="1" dirty="0">
                <a:solidFill>
                  <a:srgbClr val="008000"/>
                </a:solidFill>
              </a:rPr>
              <a:t> </a:t>
            </a:r>
            <a:r>
              <a:rPr kumimoji="1" lang="en-US" altLang="ko-KR" sz="1400" b="1" dirty="0" err="1">
                <a:solidFill>
                  <a:srgbClr val="008000"/>
                </a:solidFill>
              </a:rPr>
              <a:t>định</a:t>
            </a:r>
            <a:endParaRPr kumimoji="1" lang="ko-KR" altLang="en-US" sz="1400" b="1" dirty="0">
              <a:solidFill>
                <a:srgbClr val="008000"/>
              </a:solidFill>
            </a:endParaRPr>
          </a:p>
        </p:txBody>
      </p:sp>
      <p:sp>
        <p:nvSpPr>
          <p:cNvPr id="461860" name="Text Box 37"/>
          <p:cNvSpPr txBox="1">
            <a:spLocks noChangeArrowheads="1"/>
          </p:cNvSpPr>
          <p:nvPr/>
        </p:nvSpPr>
        <p:spPr bwMode="auto">
          <a:xfrm>
            <a:off x="6644060" y="5187953"/>
            <a:ext cx="797169" cy="523220"/>
          </a:xfrm>
          <a:prstGeom prst="rect">
            <a:avLst/>
          </a:prstGeom>
          <a:noFill/>
          <a:ln w="9525">
            <a:noFill/>
            <a:miter lim="800000"/>
            <a:headEnd/>
            <a:tailEnd/>
          </a:ln>
        </p:spPr>
        <p:txBody>
          <a:bodyPr>
            <a:spAutoFit/>
          </a:bodyPr>
          <a:lstStyle/>
          <a:p>
            <a:pPr algn="ctr" fontAlgn="base">
              <a:spcBef>
                <a:spcPct val="50000"/>
              </a:spcBef>
              <a:spcAft>
                <a:spcPct val="0"/>
              </a:spcAft>
            </a:pPr>
            <a:r>
              <a:rPr kumimoji="1" lang="en-US" altLang="ko-KR" sz="1400" b="1" dirty="0" err="1">
                <a:solidFill>
                  <a:srgbClr val="FF0066"/>
                </a:solidFill>
              </a:rPr>
              <a:t>Ấn</a:t>
            </a:r>
            <a:r>
              <a:rPr kumimoji="1" lang="en-US" altLang="ko-KR" sz="1400" b="1" dirty="0">
                <a:solidFill>
                  <a:srgbClr val="FF0066"/>
                </a:solidFill>
              </a:rPr>
              <a:t> </a:t>
            </a:r>
            <a:r>
              <a:rPr kumimoji="1" lang="en-US" altLang="ko-KR" sz="1400" b="1" dirty="0" err="1">
                <a:solidFill>
                  <a:srgbClr val="FF0066"/>
                </a:solidFill>
              </a:rPr>
              <a:t>định</a:t>
            </a:r>
            <a:endParaRPr kumimoji="1" lang="ko-KR" altLang="en-US" sz="1400" b="1" dirty="0">
              <a:solidFill>
                <a:srgbClr val="FF0066"/>
              </a:solidFill>
            </a:endParaRPr>
          </a:p>
        </p:txBody>
      </p:sp>
      <p:sp>
        <p:nvSpPr>
          <p:cNvPr id="461861" name="Text Box 38"/>
          <p:cNvSpPr txBox="1">
            <a:spLocks noChangeArrowheads="1"/>
          </p:cNvSpPr>
          <p:nvPr/>
        </p:nvSpPr>
        <p:spPr bwMode="auto">
          <a:xfrm>
            <a:off x="7245736" y="5116522"/>
            <a:ext cx="1195483" cy="523220"/>
          </a:xfrm>
          <a:prstGeom prst="rect">
            <a:avLst/>
          </a:prstGeom>
          <a:noFill/>
          <a:ln w="9525">
            <a:noFill/>
            <a:miter lim="800000"/>
            <a:headEnd/>
            <a:tailEnd/>
          </a:ln>
        </p:spPr>
        <p:txBody>
          <a:bodyPr wrap="square">
            <a:spAutoFit/>
          </a:bodyPr>
          <a:lstStyle/>
          <a:p>
            <a:pPr algn="ctr" fontAlgn="base">
              <a:spcBef>
                <a:spcPct val="50000"/>
              </a:spcBef>
              <a:spcAft>
                <a:spcPct val="0"/>
              </a:spcAft>
            </a:pPr>
            <a:r>
              <a:rPr kumimoji="1" lang="en-US" altLang="ko-KR" sz="1400" b="1" dirty="0" err="1">
                <a:solidFill>
                  <a:srgbClr val="FF0066"/>
                </a:solidFill>
              </a:rPr>
              <a:t>Không</a:t>
            </a:r>
            <a:r>
              <a:rPr kumimoji="1" lang="en-US" altLang="ko-KR" sz="1400" b="1" dirty="0">
                <a:solidFill>
                  <a:srgbClr val="FF0066"/>
                </a:solidFill>
              </a:rPr>
              <a:t> </a:t>
            </a:r>
            <a:r>
              <a:rPr kumimoji="1" lang="en-US" altLang="ko-KR" sz="1400" b="1" dirty="0" err="1">
                <a:solidFill>
                  <a:srgbClr val="FF0066"/>
                </a:solidFill>
              </a:rPr>
              <a:t>ấn</a:t>
            </a:r>
            <a:r>
              <a:rPr kumimoji="1" lang="en-US" altLang="ko-KR" sz="1400" b="1" dirty="0">
                <a:solidFill>
                  <a:srgbClr val="FF0066"/>
                </a:solidFill>
              </a:rPr>
              <a:t> </a:t>
            </a:r>
            <a:r>
              <a:rPr kumimoji="1" lang="en-US" altLang="ko-KR" sz="1400" b="1" dirty="0" err="1">
                <a:solidFill>
                  <a:srgbClr val="FF0066"/>
                </a:solidFill>
              </a:rPr>
              <a:t>định</a:t>
            </a:r>
            <a:endParaRPr kumimoji="1" lang="ko-KR" altLang="en-US" sz="1400" b="1" dirty="0">
              <a:solidFill>
                <a:srgbClr val="FF0066"/>
              </a:solidFill>
            </a:endParaRPr>
          </a:p>
        </p:txBody>
      </p:sp>
      <p:sp>
        <p:nvSpPr>
          <p:cNvPr id="461863" name="Rectangle 19"/>
          <p:cNvSpPr>
            <a:spLocks noChangeArrowheads="1"/>
          </p:cNvSpPr>
          <p:nvPr/>
        </p:nvSpPr>
        <p:spPr bwMode="auto">
          <a:xfrm>
            <a:off x="3295651" y="3033713"/>
            <a:ext cx="1263162" cy="431800"/>
          </a:xfrm>
          <a:prstGeom prst="rect">
            <a:avLst/>
          </a:prstGeom>
          <a:no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err="1">
                <a:solidFill>
                  <a:srgbClr val="000000"/>
                </a:solidFill>
              </a:rPr>
              <a:t>Sản</a:t>
            </a:r>
            <a:r>
              <a:rPr kumimoji="1" lang="en-US" altLang="ko-KR" sz="1400" b="1" dirty="0">
                <a:solidFill>
                  <a:srgbClr val="000000"/>
                </a:solidFill>
              </a:rPr>
              <a:t> </a:t>
            </a:r>
            <a:r>
              <a:rPr kumimoji="1" lang="en-US" altLang="ko-KR" sz="1400" b="1" dirty="0" err="1">
                <a:solidFill>
                  <a:srgbClr val="000000"/>
                </a:solidFill>
              </a:rPr>
              <a:t>xuất</a:t>
            </a:r>
            <a:r>
              <a:rPr kumimoji="1" lang="en-US" altLang="ko-KR" sz="1400" b="1" dirty="0">
                <a:solidFill>
                  <a:srgbClr val="000000"/>
                </a:solidFill>
              </a:rPr>
              <a:t> </a:t>
            </a:r>
            <a:r>
              <a:rPr kumimoji="1" lang="en-US" altLang="ko-KR" sz="1400" b="1" dirty="0" err="1">
                <a:solidFill>
                  <a:srgbClr val="000000"/>
                </a:solidFill>
              </a:rPr>
              <a:t>số</a:t>
            </a:r>
            <a:r>
              <a:rPr kumimoji="1" lang="en-US" altLang="ko-KR" sz="1400" b="1" dirty="0">
                <a:solidFill>
                  <a:srgbClr val="000000"/>
                </a:solidFill>
              </a:rPr>
              <a:t> </a:t>
            </a:r>
          </a:p>
          <a:p>
            <a:pPr algn="ctr" fontAlgn="base">
              <a:spcBef>
                <a:spcPct val="0"/>
              </a:spcBef>
              <a:spcAft>
                <a:spcPct val="0"/>
              </a:spcAft>
            </a:pPr>
            <a:r>
              <a:rPr kumimoji="1" lang="en-US" altLang="ko-KR" sz="1400" b="1" dirty="0" err="1">
                <a:solidFill>
                  <a:srgbClr val="000000"/>
                </a:solidFill>
              </a:rPr>
              <a:t>lượng</a:t>
            </a:r>
            <a:r>
              <a:rPr kumimoji="1" lang="en-US" altLang="ko-KR" sz="1400" b="1" dirty="0">
                <a:solidFill>
                  <a:srgbClr val="000000"/>
                </a:solidFill>
              </a:rPr>
              <a:t> </a:t>
            </a:r>
            <a:r>
              <a:rPr kumimoji="1" lang="en-US" altLang="ko-KR" sz="1400" b="1" dirty="0" err="1">
                <a:solidFill>
                  <a:srgbClr val="000000"/>
                </a:solidFill>
              </a:rPr>
              <a:t>nhỏ</a:t>
            </a:r>
            <a:endParaRPr kumimoji="1" lang="ko-KR" altLang="en-US" sz="1400" b="1" dirty="0">
              <a:solidFill>
                <a:srgbClr val="000000"/>
              </a:solidFill>
            </a:endParaRPr>
          </a:p>
        </p:txBody>
      </p:sp>
      <p:sp>
        <p:nvSpPr>
          <p:cNvPr id="461864" name="Rectangle 20"/>
          <p:cNvSpPr>
            <a:spLocks noChangeArrowheads="1"/>
          </p:cNvSpPr>
          <p:nvPr/>
        </p:nvSpPr>
        <p:spPr bwMode="auto">
          <a:xfrm>
            <a:off x="1460989" y="3033713"/>
            <a:ext cx="1263162" cy="431800"/>
          </a:xfrm>
          <a:prstGeom prst="rect">
            <a:avLst/>
          </a:prstGeom>
          <a:solidFill>
            <a:schemeClr val="bg1">
              <a:lumMod val="85000"/>
            </a:schemeClr>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srgbClr val="000000"/>
                </a:solidFill>
              </a:rPr>
              <a:t>SX </a:t>
            </a:r>
            <a:r>
              <a:rPr kumimoji="1" lang="en-US" altLang="ko-KR" sz="1400" b="1" dirty="0" err="1">
                <a:solidFill>
                  <a:srgbClr val="000000"/>
                </a:solidFill>
              </a:rPr>
              <a:t>số</a:t>
            </a:r>
            <a:r>
              <a:rPr kumimoji="1" lang="en-US" altLang="ko-KR" sz="1400" b="1" dirty="0">
                <a:solidFill>
                  <a:srgbClr val="000000"/>
                </a:solidFill>
              </a:rPr>
              <a:t> </a:t>
            </a:r>
            <a:r>
              <a:rPr kumimoji="1" lang="en-US" altLang="ko-KR" sz="1400" b="1" dirty="0" err="1">
                <a:solidFill>
                  <a:srgbClr val="000000"/>
                </a:solidFill>
              </a:rPr>
              <a:t>lượng</a:t>
            </a:r>
            <a:r>
              <a:rPr kumimoji="1" lang="en-US" altLang="ko-KR" sz="1400" b="1" dirty="0">
                <a:solidFill>
                  <a:srgbClr val="000000"/>
                </a:solidFill>
              </a:rPr>
              <a:t> </a:t>
            </a:r>
            <a:r>
              <a:rPr kumimoji="1" lang="en-US" altLang="ko-KR" sz="1400" b="1" dirty="0" err="1">
                <a:solidFill>
                  <a:srgbClr val="000000"/>
                </a:solidFill>
              </a:rPr>
              <a:t>lớn</a:t>
            </a:r>
            <a:r>
              <a:rPr kumimoji="1" lang="en-US" altLang="ko-KR" sz="1400" b="1" dirty="0">
                <a:solidFill>
                  <a:srgbClr val="000000"/>
                </a:solidFill>
              </a:rPr>
              <a:t> </a:t>
            </a:r>
          </a:p>
          <a:p>
            <a:pPr algn="ctr" fontAlgn="base">
              <a:spcBef>
                <a:spcPct val="0"/>
              </a:spcBef>
              <a:spcAft>
                <a:spcPct val="0"/>
              </a:spcAft>
            </a:pPr>
            <a:r>
              <a:rPr kumimoji="1" lang="en-US" altLang="ko-KR" sz="1400" b="1" dirty="0" err="1">
                <a:solidFill>
                  <a:srgbClr val="000000"/>
                </a:solidFill>
              </a:rPr>
              <a:t>các</a:t>
            </a:r>
            <a:r>
              <a:rPr kumimoji="1" lang="en-US" altLang="ko-KR" sz="1400" b="1" dirty="0">
                <a:solidFill>
                  <a:srgbClr val="000000"/>
                </a:solidFill>
              </a:rPr>
              <a:t> </a:t>
            </a:r>
            <a:r>
              <a:rPr kumimoji="1" lang="en-US" altLang="ko-KR" sz="1400" b="1" dirty="0" err="1">
                <a:solidFill>
                  <a:srgbClr val="000000"/>
                </a:solidFill>
              </a:rPr>
              <a:t>mặt</a:t>
            </a:r>
            <a:r>
              <a:rPr kumimoji="1" lang="en-US" altLang="ko-KR" sz="1400" b="1" dirty="0">
                <a:solidFill>
                  <a:srgbClr val="000000"/>
                </a:solidFill>
              </a:rPr>
              <a:t> </a:t>
            </a:r>
            <a:r>
              <a:rPr kumimoji="1" lang="en-US" altLang="ko-KR" sz="1400" b="1" dirty="0" err="1">
                <a:solidFill>
                  <a:srgbClr val="000000"/>
                </a:solidFill>
              </a:rPr>
              <a:t>hàng</a:t>
            </a:r>
            <a:r>
              <a:rPr kumimoji="1" lang="en-US" altLang="ko-KR" sz="1400" b="1" dirty="0">
                <a:solidFill>
                  <a:srgbClr val="000000"/>
                </a:solidFill>
              </a:rPr>
              <a:t> </a:t>
            </a:r>
            <a:r>
              <a:rPr kumimoji="1" lang="en-US" altLang="ko-KR" sz="1400" b="1" dirty="0" err="1">
                <a:solidFill>
                  <a:srgbClr val="000000"/>
                </a:solidFill>
              </a:rPr>
              <a:t>nhỏ</a:t>
            </a:r>
            <a:endParaRPr kumimoji="1" lang="ko-KR" altLang="en-US" sz="1400" b="1" dirty="0">
              <a:solidFill>
                <a:srgbClr val="000000"/>
              </a:solidFill>
            </a:endParaRPr>
          </a:p>
        </p:txBody>
      </p:sp>
      <p:cxnSp>
        <p:nvCxnSpPr>
          <p:cNvPr id="461865" name="AutoShape 11"/>
          <p:cNvCxnSpPr>
            <a:cxnSpLocks noChangeShapeType="1"/>
            <a:stCxn id="461864" idx="2"/>
            <a:endCxn id="461827" idx="0"/>
          </p:cNvCxnSpPr>
          <p:nvPr/>
        </p:nvCxnSpPr>
        <p:spPr bwMode="auto">
          <a:xfrm rot="16200000" flipH="1">
            <a:off x="1987736" y="3570351"/>
            <a:ext cx="211137" cy="1465"/>
          </a:xfrm>
          <a:prstGeom prst="bentConnector3">
            <a:avLst>
              <a:gd name="adj1" fmla="val 50000"/>
            </a:avLst>
          </a:prstGeom>
          <a:noFill/>
          <a:ln w="9525">
            <a:solidFill>
              <a:schemeClr val="tx1"/>
            </a:solidFill>
            <a:miter lim="800000"/>
            <a:headEnd/>
            <a:tailEnd type="triangle" w="med" len="med"/>
          </a:ln>
        </p:spPr>
      </p:cxnSp>
      <p:cxnSp>
        <p:nvCxnSpPr>
          <p:cNvPr id="461866" name="AutoShape 5"/>
          <p:cNvCxnSpPr>
            <a:cxnSpLocks noChangeShapeType="1"/>
            <a:stCxn id="461826" idx="2"/>
            <a:endCxn id="461863" idx="0"/>
          </p:cNvCxnSpPr>
          <p:nvPr/>
        </p:nvCxnSpPr>
        <p:spPr bwMode="auto">
          <a:xfrm rot="16200000" flipH="1">
            <a:off x="3214198" y="2320680"/>
            <a:ext cx="414955" cy="1011115"/>
          </a:xfrm>
          <a:prstGeom prst="bentConnector3">
            <a:avLst>
              <a:gd name="adj1" fmla="val 50000"/>
            </a:avLst>
          </a:prstGeom>
          <a:noFill/>
          <a:ln w="9525">
            <a:solidFill>
              <a:schemeClr val="tx1"/>
            </a:solidFill>
            <a:miter lim="800000"/>
            <a:headEnd/>
            <a:tailEnd type="triangle" w="med" len="med"/>
          </a:ln>
        </p:spPr>
      </p:cxnSp>
      <p:sp>
        <p:nvSpPr>
          <p:cNvPr id="461867" name="Rectangle 6"/>
          <p:cNvSpPr>
            <a:spLocks noChangeArrowheads="1"/>
          </p:cNvSpPr>
          <p:nvPr/>
        </p:nvSpPr>
        <p:spPr bwMode="auto">
          <a:xfrm>
            <a:off x="3530113" y="4684713"/>
            <a:ext cx="798634" cy="431800"/>
          </a:xfrm>
          <a:prstGeom prst="rect">
            <a:avLst/>
          </a:prstGeom>
          <a:solidFill>
            <a:schemeClr val="bg1"/>
          </a:solidFill>
          <a:ln w="9525" algn="ctr">
            <a:solidFill>
              <a:schemeClr val="tx1"/>
            </a:solidFill>
            <a:miter lim="800000"/>
            <a:headEnd/>
            <a:tailEnd/>
          </a:ln>
        </p:spPr>
        <p:txBody>
          <a:bodyPr wrap="none" anchor="ctr"/>
          <a:lstStyle/>
          <a:p>
            <a:pPr algn="ctr" fontAlgn="base">
              <a:spcBef>
                <a:spcPct val="0"/>
              </a:spcBef>
              <a:spcAft>
                <a:spcPct val="0"/>
              </a:spcAft>
            </a:pPr>
            <a:r>
              <a:rPr kumimoji="1" lang="en-US" altLang="ko-KR" sz="1400" b="1" dirty="0">
                <a:solidFill>
                  <a:prstClr val="black"/>
                </a:solidFill>
              </a:rPr>
              <a:t>Xd - Rs</a:t>
            </a:r>
          </a:p>
        </p:txBody>
      </p:sp>
      <p:cxnSp>
        <p:nvCxnSpPr>
          <p:cNvPr id="461868" name="AutoShape 11"/>
          <p:cNvCxnSpPr>
            <a:cxnSpLocks noChangeShapeType="1"/>
            <a:stCxn id="461863" idx="2"/>
            <a:endCxn id="461867" idx="0"/>
          </p:cNvCxnSpPr>
          <p:nvPr/>
        </p:nvCxnSpPr>
        <p:spPr bwMode="auto">
          <a:xfrm rot="16200000" flipH="1">
            <a:off x="3318731" y="4074015"/>
            <a:ext cx="1219200" cy="2199"/>
          </a:xfrm>
          <a:prstGeom prst="bentConnector3">
            <a:avLst>
              <a:gd name="adj1" fmla="val -373"/>
            </a:avLst>
          </a:prstGeom>
          <a:noFill/>
          <a:ln w="9525">
            <a:solidFill>
              <a:schemeClr val="tx1"/>
            </a:solidFill>
            <a:miter lim="800000"/>
            <a:headEnd/>
            <a:tailEnd type="triangle" w="med" len="med"/>
          </a:ln>
        </p:spPr>
      </p:cxnSp>
      <p:sp>
        <p:nvSpPr>
          <p:cNvPr id="461869" name="제목 8"/>
          <p:cNvSpPr txBox="1">
            <a:spLocks/>
          </p:cNvSpPr>
          <p:nvPr/>
        </p:nvSpPr>
        <p:spPr bwMode="auto">
          <a:xfrm>
            <a:off x="179512" y="908720"/>
            <a:ext cx="2944688" cy="488950"/>
          </a:xfrm>
          <a:prstGeom prst="rect">
            <a:avLst/>
          </a:prstGeom>
          <a:noFill/>
          <a:ln w="9525">
            <a:noFill/>
            <a:miter lim="800000"/>
            <a:headEnd/>
            <a:tailEnd/>
          </a:ln>
        </p:spPr>
        <p:txBody>
          <a:bodyPr/>
          <a:lstStyle/>
          <a:p>
            <a:pPr fontAlgn="base">
              <a:spcBef>
                <a:spcPct val="0"/>
              </a:spcBef>
              <a:spcAft>
                <a:spcPct val="0"/>
              </a:spcAft>
            </a:pPr>
            <a:r>
              <a:rPr kumimoji="1" lang="en-US" altLang="ko-KR" b="1" dirty="0" err="1">
                <a:solidFill>
                  <a:srgbClr val="000000"/>
                </a:solidFill>
              </a:rPr>
              <a:t>Các</a:t>
            </a:r>
            <a:r>
              <a:rPr kumimoji="1" lang="en-US" altLang="ko-KR" b="1" dirty="0">
                <a:solidFill>
                  <a:srgbClr val="000000"/>
                </a:solidFill>
              </a:rPr>
              <a:t> </a:t>
            </a:r>
            <a:r>
              <a:rPr kumimoji="1" lang="en-US" altLang="ko-KR" b="1" dirty="0" err="1">
                <a:solidFill>
                  <a:srgbClr val="000000"/>
                </a:solidFill>
              </a:rPr>
              <a:t>loại</a:t>
            </a:r>
            <a:r>
              <a:rPr kumimoji="1" lang="en-US" altLang="ko-KR" b="1" dirty="0">
                <a:solidFill>
                  <a:srgbClr val="000000"/>
                </a:solidFill>
              </a:rPr>
              <a:t> </a:t>
            </a:r>
            <a:r>
              <a:rPr kumimoji="1" lang="en-US" altLang="ko-KR" b="1" dirty="0" err="1">
                <a:solidFill>
                  <a:srgbClr val="000000"/>
                </a:solidFill>
              </a:rPr>
              <a:t>đồ</a:t>
            </a:r>
            <a:r>
              <a:rPr kumimoji="1" lang="en-US" altLang="ko-KR" b="1" dirty="0">
                <a:solidFill>
                  <a:srgbClr val="000000"/>
                </a:solidFill>
              </a:rPr>
              <a:t> </a:t>
            </a:r>
            <a:r>
              <a:rPr kumimoji="1" lang="en-US" altLang="ko-KR" b="1" dirty="0" err="1">
                <a:solidFill>
                  <a:srgbClr val="000000"/>
                </a:solidFill>
              </a:rPr>
              <a:t>thị</a:t>
            </a:r>
            <a:r>
              <a:rPr kumimoji="1" lang="en-US" altLang="ko-KR" b="1" dirty="0">
                <a:solidFill>
                  <a:srgbClr val="000000"/>
                </a:solidFill>
              </a:rPr>
              <a:t> </a:t>
            </a:r>
            <a:r>
              <a:rPr kumimoji="1" lang="en-US" altLang="ko-KR" b="1" dirty="0" err="1">
                <a:solidFill>
                  <a:srgbClr val="000000"/>
                </a:solidFill>
              </a:rPr>
              <a:t>quản</a:t>
            </a:r>
            <a:r>
              <a:rPr kumimoji="1" lang="en-US" altLang="ko-KR" b="1" dirty="0">
                <a:solidFill>
                  <a:srgbClr val="000000"/>
                </a:solidFill>
              </a:rPr>
              <a:t> </a:t>
            </a:r>
            <a:r>
              <a:rPr kumimoji="1" lang="en-US" altLang="ko-KR" b="1" dirty="0" err="1">
                <a:solidFill>
                  <a:srgbClr val="000000"/>
                </a:solidFill>
              </a:rPr>
              <a:t>lý</a:t>
            </a:r>
            <a:r>
              <a:rPr kumimoji="1" lang="ko-KR" altLang="en-US" b="1" dirty="0">
                <a:solidFill>
                  <a:srgbClr val="000000"/>
                </a:solidFill>
              </a:rPr>
              <a:t> </a:t>
            </a:r>
          </a:p>
        </p:txBody>
      </p:sp>
      <p:sp>
        <p:nvSpPr>
          <p:cNvPr id="461870" name="Text Box 104"/>
          <p:cNvSpPr txBox="1">
            <a:spLocks noChangeArrowheads="1"/>
          </p:cNvSpPr>
          <p:nvPr/>
        </p:nvSpPr>
        <p:spPr bwMode="auto">
          <a:xfrm>
            <a:off x="2196622" y="5807075"/>
            <a:ext cx="1947969"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dirty="0" err="1">
                <a:solidFill>
                  <a:srgbClr val="000000"/>
                </a:solidFill>
              </a:rPr>
              <a:t>Phân</a:t>
            </a:r>
            <a:r>
              <a:rPr kumimoji="1" lang="en-US" altLang="ko-KR" sz="1600" dirty="0">
                <a:solidFill>
                  <a:srgbClr val="000000"/>
                </a:solidFill>
              </a:rPr>
              <a:t> </a:t>
            </a:r>
            <a:r>
              <a:rPr kumimoji="1" lang="en-US" altLang="ko-KR" sz="1600" dirty="0" err="1">
                <a:solidFill>
                  <a:srgbClr val="000000"/>
                </a:solidFill>
              </a:rPr>
              <a:t>bố</a:t>
            </a:r>
            <a:r>
              <a:rPr kumimoji="1" lang="en-US" altLang="ko-KR" sz="1600" dirty="0">
                <a:solidFill>
                  <a:srgbClr val="000000"/>
                </a:solidFill>
              </a:rPr>
              <a:t> </a:t>
            </a:r>
            <a:r>
              <a:rPr kumimoji="1" lang="en-US" altLang="ko-KR" sz="1600" dirty="0" err="1">
                <a:solidFill>
                  <a:srgbClr val="000000"/>
                </a:solidFill>
              </a:rPr>
              <a:t>chính</a:t>
            </a:r>
            <a:r>
              <a:rPr kumimoji="1" lang="en-US" altLang="ko-KR" sz="1600" dirty="0">
                <a:solidFill>
                  <a:srgbClr val="000000"/>
                </a:solidFill>
              </a:rPr>
              <a:t> </a:t>
            </a:r>
            <a:r>
              <a:rPr kumimoji="1" lang="en-US" altLang="ko-KR" sz="1600" dirty="0" err="1">
                <a:solidFill>
                  <a:srgbClr val="000000"/>
                </a:solidFill>
              </a:rPr>
              <a:t>quy</a:t>
            </a:r>
            <a:endParaRPr kumimoji="1" lang="ko-KR" altLang="en-US" sz="1600" dirty="0">
              <a:solidFill>
                <a:srgbClr val="000000"/>
              </a:solidFill>
            </a:endParaRPr>
          </a:p>
        </p:txBody>
      </p:sp>
      <p:sp>
        <p:nvSpPr>
          <p:cNvPr id="461871" name="Text Box 105"/>
          <p:cNvSpPr txBox="1">
            <a:spLocks noChangeArrowheads="1"/>
          </p:cNvSpPr>
          <p:nvPr/>
        </p:nvSpPr>
        <p:spPr bwMode="auto">
          <a:xfrm>
            <a:off x="4876800" y="5807075"/>
            <a:ext cx="1806905"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dirty="0" err="1">
                <a:solidFill>
                  <a:srgbClr val="000000"/>
                </a:solidFill>
              </a:rPr>
              <a:t>Phân</a:t>
            </a:r>
            <a:r>
              <a:rPr kumimoji="1" lang="en-US" altLang="ko-KR" sz="1600" dirty="0">
                <a:solidFill>
                  <a:srgbClr val="000000"/>
                </a:solidFill>
              </a:rPr>
              <a:t> </a:t>
            </a:r>
            <a:r>
              <a:rPr kumimoji="1" lang="en-US" altLang="ko-KR" sz="1600" dirty="0" err="1">
                <a:solidFill>
                  <a:srgbClr val="000000"/>
                </a:solidFill>
              </a:rPr>
              <a:t>bố</a:t>
            </a:r>
            <a:r>
              <a:rPr kumimoji="1" lang="en-US" altLang="ko-KR" sz="1600" dirty="0">
                <a:solidFill>
                  <a:srgbClr val="000000"/>
                </a:solidFill>
              </a:rPr>
              <a:t> </a:t>
            </a:r>
            <a:r>
              <a:rPr kumimoji="1" lang="en-US" altLang="ko-KR" sz="1600" dirty="0" err="1">
                <a:solidFill>
                  <a:srgbClr val="000000"/>
                </a:solidFill>
              </a:rPr>
              <a:t>nhị</a:t>
            </a:r>
            <a:r>
              <a:rPr kumimoji="1" lang="en-US" altLang="ko-KR" sz="1600" dirty="0">
                <a:solidFill>
                  <a:srgbClr val="000000"/>
                </a:solidFill>
              </a:rPr>
              <a:t> </a:t>
            </a:r>
            <a:r>
              <a:rPr kumimoji="1" lang="en-US" altLang="ko-KR" sz="1600" dirty="0" err="1">
                <a:solidFill>
                  <a:srgbClr val="000000"/>
                </a:solidFill>
              </a:rPr>
              <a:t>thức</a:t>
            </a:r>
            <a:endParaRPr kumimoji="1" lang="ko-KR" altLang="en-US" sz="1600" dirty="0">
              <a:solidFill>
                <a:srgbClr val="000000"/>
              </a:solidFill>
            </a:endParaRPr>
          </a:p>
        </p:txBody>
      </p:sp>
      <p:sp>
        <p:nvSpPr>
          <p:cNvPr id="461872" name="Text Box 106"/>
          <p:cNvSpPr txBox="1">
            <a:spLocks noChangeArrowheads="1"/>
          </p:cNvSpPr>
          <p:nvPr/>
        </p:nvSpPr>
        <p:spPr bwMode="auto">
          <a:xfrm>
            <a:off x="6705600" y="5807075"/>
            <a:ext cx="1641603"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dirty="0" err="1">
                <a:solidFill>
                  <a:srgbClr val="000000"/>
                </a:solidFill>
              </a:rPr>
              <a:t>Phân</a:t>
            </a:r>
            <a:r>
              <a:rPr kumimoji="1" lang="en-US" altLang="ko-KR" sz="1600" dirty="0">
                <a:solidFill>
                  <a:srgbClr val="000000"/>
                </a:solidFill>
              </a:rPr>
              <a:t> </a:t>
            </a:r>
            <a:r>
              <a:rPr kumimoji="1" lang="en-US" altLang="ko-KR" sz="1600" dirty="0" err="1">
                <a:solidFill>
                  <a:srgbClr val="000000"/>
                </a:solidFill>
              </a:rPr>
              <a:t>bố</a:t>
            </a:r>
            <a:r>
              <a:rPr kumimoji="1" lang="en-US" altLang="ko-KR" sz="1600" dirty="0">
                <a:solidFill>
                  <a:srgbClr val="000000"/>
                </a:solidFill>
              </a:rPr>
              <a:t> Poison</a:t>
            </a:r>
            <a:endParaRPr kumimoji="1" lang="ko-KR" altLang="en-US" sz="1600" dirty="0">
              <a:solidFill>
                <a:srgbClr val="000000"/>
              </a:solidFill>
            </a:endParaRPr>
          </a:p>
        </p:txBody>
      </p:sp>
      <p:sp>
        <p:nvSpPr>
          <p:cNvPr id="461873" name="Freeform 107"/>
          <p:cNvSpPr>
            <a:spLocks/>
          </p:cNvSpPr>
          <p:nvPr/>
        </p:nvSpPr>
        <p:spPr bwMode="auto">
          <a:xfrm>
            <a:off x="945174" y="5576888"/>
            <a:ext cx="3376246"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fontAlgn="base">
              <a:spcBef>
                <a:spcPct val="0"/>
              </a:spcBef>
              <a:spcAft>
                <a:spcPct val="0"/>
              </a:spcAft>
            </a:pPr>
            <a:endParaRPr kumimoji="1" lang="ko-KR" altLang="en-US" dirty="0">
              <a:solidFill>
                <a:srgbClr val="000000"/>
              </a:solidFill>
            </a:endParaRPr>
          </a:p>
        </p:txBody>
      </p:sp>
      <p:sp>
        <p:nvSpPr>
          <p:cNvPr id="461874" name="Freeform 108"/>
          <p:cNvSpPr>
            <a:spLocks/>
          </p:cNvSpPr>
          <p:nvPr/>
        </p:nvSpPr>
        <p:spPr bwMode="auto">
          <a:xfrm>
            <a:off x="4966189" y="5567363"/>
            <a:ext cx="1493226"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fontAlgn="base">
              <a:spcBef>
                <a:spcPct val="0"/>
              </a:spcBef>
              <a:spcAft>
                <a:spcPct val="0"/>
              </a:spcAft>
            </a:pPr>
            <a:endParaRPr kumimoji="1" lang="ko-KR" altLang="en-US" dirty="0">
              <a:solidFill>
                <a:srgbClr val="000000"/>
              </a:solidFill>
            </a:endParaRPr>
          </a:p>
        </p:txBody>
      </p:sp>
      <p:sp>
        <p:nvSpPr>
          <p:cNvPr id="461875" name="Freeform 109"/>
          <p:cNvSpPr>
            <a:spLocks/>
          </p:cNvSpPr>
          <p:nvPr/>
        </p:nvSpPr>
        <p:spPr bwMode="auto">
          <a:xfrm>
            <a:off x="6771543" y="5567363"/>
            <a:ext cx="1493226" cy="228600"/>
          </a:xfrm>
          <a:custGeom>
            <a:avLst/>
            <a:gdLst>
              <a:gd name="T0" fmla="*/ 0 w 2304"/>
              <a:gd name="T1" fmla="*/ 0 h 144"/>
              <a:gd name="T2" fmla="*/ 2147483647 w 2304"/>
              <a:gd name="T3" fmla="*/ 2147483647 h 144"/>
              <a:gd name="T4" fmla="*/ 2147483647 w 2304"/>
              <a:gd name="T5" fmla="*/ 2147483647 h 144"/>
              <a:gd name="T6" fmla="*/ 2147483647 w 2304"/>
              <a:gd name="T7" fmla="*/ 2147483647 h 144"/>
              <a:gd name="T8" fmla="*/ 2147483647 w 2304"/>
              <a:gd name="T9" fmla="*/ 2147483647 h 144"/>
              <a:gd name="T10" fmla="*/ 2147483647 w 2304"/>
              <a:gd name="T11" fmla="*/ 2147483647 h 144"/>
              <a:gd name="T12" fmla="*/ 2147483647 w 2304"/>
              <a:gd name="T13" fmla="*/ 0 h 144"/>
              <a:gd name="T14" fmla="*/ 0 60000 65536"/>
              <a:gd name="T15" fmla="*/ 0 60000 65536"/>
              <a:gd name="T16" fmla="*/ 0 60000 65536"/>
              <a:gd name="T17" fmla="*/ 0 60000 65536"/>
              <a:gd name="T18" fmla="*/ 0 60000 65536"/>
              <a:gd name="T19" fmla="*/ 0 60000 65536"/>
              <a:gd name="T20" fmla="*/ 0 60000 65536"/>
              <a:gd name="T21" fmla="*/ 0 w 2304"/>
              <a:gd name="T22" fmla="*/ 0 h 144"/>
              <a:gd name="T23" fmla="*/ 2304 w 230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4" h="144">
                <a:moveTo>
                  <a:pt x="0" y="0"/>
                </a:moveTo>
                <a:lnTo>
                  <a:pt x="96" y="96"/>
                </a:lnTo>
                <a:lnTo>
                  <a:pt x="1104" y="96"/>
                </a:lnTo>
                <a:lnTo>
                  <a:pt x="1152" y="144"/>
                </a:lnTo>
                <a:lnTo>
                  <a:pt x="1200" y="96"/>
                </a:lnTo>
                <a:lnTo>
                  <a:pt x="2256" y="96"/>
                </a:lnTo>
                <a:lnTo>
                  <a:pt x="2304" y="0"/>
                </a:lnTo>
              </a:path>
            </a:pathLst>
          </a:custGeom>
          <a:noFill/>
          <a:ln w="9525">
            <a:solidFill>
              <a:schemeClr val="tx1"/>
            </a:solidFill>
            <a:round/>
            <a:headEnd/>
            <a:tailEnd/>
          </a:ln>
        </p:spPr>
        <p:txBody>
          <a:bodyPr/>
          <a:lstStyle/>
          <a:p>
            <a:pPr fontAlgn="base">
              <a:spcBef>
                <a:spcPct val="0"/>
              </a:spcBef>
              <a:spcAft>
                <a:spcPct val="0"/>
              </a:spcAft>
            </a:pPr>
            <a:endParaRPr kumimoji="1" lang="ko-KR" altLang="en-US" dirty="0">
              <a:solidFill>
                <a:srgbClr val="000000"/>
              </a:solidFill>
            </a:endParaRPr>
          </a:p>
        </p:txBody>
      </p:sp>
      <p:sp>
        <p:nvSpPr>
          <p:cNvPr id="55" name="Text Box 39"/>
          <p:cNvSpPr txBox="1">
            <a:spLocks noChangeArrowheads="1"/>
          </p:cNvSpPr>
          <p:nvPr/>
        </p:nvSpPr>
        <p:spPr bwMode="auto">
          <a:xfrm>
            <a:off x="6629400" y="210126"/>
            <a:ext cx="2561920"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err="1">
                <a:solidFill>
                  <a:prstClr val="black"/>
                </a:solidFill>
              </a:rPr>
              <a:t>Phân</a:t>
            </a:r>
            <a:r>
              <a:rPr kumimoji="1" lang="en-US" altLang="ko-KR" sz="1600" b="1" dirty="0">
                <a:solidFill>
                  <a:prstClr val="black"/>
                </a:solidFill>
              </a:rPr>
              <a:t> </a:t>
            </a:r>
            <a:r>
              <a:rPr kumimoji="1" lang="en-US" altLang="ko-KR" sz="1600" b="1" dirty="0" err="1">
                <a:solidFill>
                  <a:prstClr val="black"/>
                </a:solidFill>
              </a:rPr>
              <a:t>loại</a:t>
            </a:r>
            <a:r>
              <a:rPr kumimoji="1" lang="en-US" altLang="ko-KR" sz="1600" b="1" dirty="0">
                <a:solidFill>
                  <a:prstClr val="black"/>
                </a:solidFill>
              </a:rPr>
              <a:t> </a:t>
            </a:r>
            <a:r>
              <a:rPr kumimoji="1" lang="en-US" altLang="ko-KR" sz="1600" b="1" dirty="0" err="1">
                <a:solidFill>
                  <a:prstClr val="black"/>
                </a:solidFill>
              </a:rPr>
              <a:t>đồ</a:t>
            </a:r>
            <a:r>
              <a:rPr kumimoji="1" lang="en-US" altLang="ko-KR" sz="1600" b="1" dirty="0">
                <a:solidFill>
                  <a:prstClr val="black"/>
                </a:solidFill>
              </a:rPr>
              <a:t> </a:t>
            </a:r>
            <a:r>
              <a:rPr kumimoji="1" lang="en-US" altLang="ko-KR" sz="1600" b="1" dirty="0" err="1">
                <a:solidFill>
                  <a:prstClr val="black"/>
                </a:solidFill>
              </a:rPr>
              <a:t>thị</a:t>
            </a:r>
            <a:r>
              <a:rPr kumimoji="1" lang="en-US" altLang="ko-KR" sz="1600" b="1" dirty="0">
                <a:solidFill>
                  <a:prstClr val="black"/>
                </a:solidFill>
              </a:rPr>
              <a:t> </a:t>
            </a:r>
            <a:r>
              <a:rPr kumimoji="1" lang="en-US" altLang="ko-KR" sz="1600" b="1" dirty="0" err="1">
                <a:solidFill>
                  <a:prstClr val="black"/>
                </a:solidFill>
              </a:rPr>
              <a:t>quản</a:t>
            </a:r>
            <a:r>
              <a:rPr kumimoji="1" lang="en-US" altLang="ko-KR" sz="1600" b="1" dirty="0">
                <a:solidFill>
                  <a:prstClr val="black"/>
                </a:solidFill>
              </a:rPr>
              <a:t> </a:t>
            </a:r>
            <a:r>
              <a:rPr kumimoji="1" lang="en-US" altLang="ko-KR" sz="1600" b="1" dirty="0" err="1">
                <a:solidFill>
                  <a:prstClr val="black"/>
                </a:solidFill>
              </a:rPr>
              <a:t>lý</a:t>
            </a:r>
            <a:endParaRPr kumimoji="1" lang="en-US" altLang="ko-KR" sz="1600" b="1" dirty="0">
              <a:solidFill>
                <a:prstClr val="black"/>
              </a:solidFill>
            </a:endParaRPr>
          </a:p>
        </p:txBody>
      </p:sp>
      <p:sp>
        <p:nvSpPr>
          <p:cNvPr id="54"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270</a:t>
            </a:fld>
            <a:endParaRPr lang="ko-KR" altLang="en-US" sz="1200" dirty="0">
              <a:solidFill>
                <a:prstClr val="black"/>
              </a:solidFill>
            </a:endParaRPr>
          </a:p>
        </p:txBody>
      </p:sp>
      <p:sp>
        <p:nvSpPr>
          <p:cNvPr id="53" name="Text Box 39"/>
          <p:cNvSpPr txBox="1">
            <a:spLocks noChangeArrowheads="1"/>
          </p:cNvSpPr>
          <p:nvPr/>
        </p:nvSpPr>
        <p:spPr bwMode="auto">
          <a:xfrm>
            <a:off x="127732" y="76562"/>
            <a:ext cx="4456285"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lí</a:t>
            </a:r>
            <a:endParaRPr kumimoji="1" lang="en-US" altLang="ko-KR" sz="2000" b="1" dirty="0">
              <a:solidFill>
                <a:prstClr val="black"/>
              </a:solidFill>
            </a:endParaRPr>
          </a:p>
        </p:txBody>
      </p:sp>
    </p:spTree>
    <p:extLst>
      <p:ext uri="{BB962C8B-B14F-4D97-AF65-F5344CB8AC3E}">
        <p14:creationId xmlns:p14="http://schemas.microsoft.com/office/powerpoint/2010/main" val="254676115"/>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 Box 39"/>
          <p:cNvSpPr txBox="1">
            <a:spLocks noChangeArrowheads="1"/>
          </p:cNvSpPr>
          <p:nvPr/>
        </p:nvSpPr>
        <p:spPr bwMode="auto">
          <a:xfrm>
            <a:off x="323528" y="980728"/>
            <a:ext cx="11160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err="1">
                <a:solidFill>
                  <a:prstClr val="black"/>
                </a:solidFill>
              </a:rPr>
              <a:t>Câu</a:t>
            </a:r>
            <a:r>
              <a:rPr kumimoji="1" lang="en-US" altLang="ko-KR" sz="2000" b="1" dirty="0">
                <a:solidFill>
                  <a:prstClr val="black"/>
                </a:solidFill>
              </a:rPr>
              <a:t> </a:t>
            </a:r>
            <a:r>
              <a:rPr kumimoji="1" lang="en-US" altLang="ko-KR" sz="2000" b="1" dirty="0" err="1">
                <a:solidFill>
                  <a:prstClr val="black"/>
                </a:solidFill>
              </a:rPr>
              <a:t>hỏi</a:t>
            </a:r>
            <a:endParaRPr kumimoji="1" lang="en-US" altLang="ko-KR" sz="2000" b="1" dirty="0">
              <a:solidFill>
                <a:prstClr val="black"/>
              </a:solidFill>
            </a:endParaRPr>
          </a:p>
        </p:txBody>
      </p:sp>
      <p:sp>
        <p:nvSpPr>
          <p:cNvPr id="2" name="TextBox 1"/>
          <p:cNvSpPr txBox="1"/>
          <p:nvPr/>
        </p:nvSpPr>
        <p:spPr>
          <a:xfrm>
            <a:off x="152400" y="1832397"/>
            <a:ext cx="9085179" cy="4503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err="1">
                <a:solidFill>
                  <a:prstClr val="black"/>
                </a:solidFill>
                <a:ea typeface="굴림" pitchFamily="50" charset="-127"/>
              </a:rPr>
              <a:t>Làm</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sao</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để</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có</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thể</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biết</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được</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khi</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phát</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sinh</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biến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động</a:t>
            </a:r>
            <a:r>
              <a:rPr kumimoji="1" lang="en-US" altLang="ko-KR" sz="2000" b="1" dirty="0">
                <a:solidFill>
                  <a:prstClr val="black"/>
                </a:solidFill>
                <a:ea typeface="굴림" pitchFamily="50" charset="-127"/>
              </a:rPr>
              <a:t> 1σ </a:t>
            </a:r>
            <a:r>
              <a:rPr kumimoji="1" lang="en-US" altLang="ko-KR" sz="2000" b="1" dirty="0" err="1">
                <a:solidFill>
                  <a:prstClr val="black"/>
                </a:solidFill>
                <a:ea typeface="굴림" pitchFamily="50" charset="-127"/>
              </a:rPr>
              <a:t>trong</a:t>
            </a:r>
            <a:r>
              <a:rPr kumimoji="1" lang="en-US" altLang="ko-KR" sz="2000" b="1" dirty="0">
                <a:solidFill>
                  <a:prstClr val="black"/>
                </a:solidFill>
                <a:ea typeface="굴림" pitchFamily="50" charset="-127"/>
              </a:rPr>
              <a:t> process?</a:t>
            </a:r>
            <a:endParaRPr kumimoji="1" lang="ko-KR" altLang="en-US" sz="2000" b="1" dirty="0">
              <a:solidFill>
                <a:prstClr val="black"/>
              </a:solidFill>
              <a:ea typeface="굴림" pitchFamily="50" charset="-127"/>
            </a:endParaRPr>
          </a:p>
        </p:txBody>
      </p:sp>
      <p:sp>
        <p:nvSpPr>
          <p:cNvPr id="21" name="TextBox 20"/>
          <p:cNvSpPr txBox="1"/>
          <p:nvPr/>
        </p:nvSpPr>
        <p:spPr>
          <a:xfrm>
            <a:off x="533400" y="2552476"/>
            <a:ext cx="8236550"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Chúng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nói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về</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thông</a:t>
            </a:r>
            <a:r>
              <a:rPr kumimoji="1" lang="en-US" altLang="ko-KR" sz="1600" b="1" dirty="0">
                <a:solidFill>
                  <a:prstClr val="black"/>
                </a:solidFill>
                <a:latin typeface="굴림" pitchFamily="50" charset="-127"/>
                <a:ea typeface="굴림" pitchFamily="50" charset="-127"/>
              </a:rPr>
              <a:t> qua </a:t>
            </a:r>
            <a:r>
              <a:rPr kumimoji="1" lang="en-US" altLang="ko-KR" sz="1600" b="1" dirty="0" err="1">
                <a:solidFill>
                  <a:prstClr val="black"/>
                </a:solidFill>
                <a:latin typeface="굴림" pitchFamily="50" charset="-127"/>
                <a:ea typeface="굴림" pitchFamily="50" charset="-127"/>
              </a:rPr>
              <a:t>các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một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kiện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chiều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dài</a:t>
            </a:r>
            <a:r>
              <a:rPr kumimoji="1" lang="en-US" altLang="ko-KR" sz="1600" b="1" dirty="0">
                <a:solidFill>
                  <a:prstClr val="black"/>
                </a:solidFill>
                <a:latin typeface="굴림" pitchFamily="50" charset="-127"/>
                <a:ea typeface="굴림" pitchFamily="50" charset="-127"/>
              </a:rPr>
              <a:t> 100 ± 3 mm</a:t>
            </a:r>
          </a:p>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được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nhập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101mm. </a:t>
            </a:r>
            <a:r>
              <a:rPr kumimoji="1" lang="en-US" altLang="ko-KR" sz="1600" b="1" dirty="0" err="1">
                <a:solidFill>
                  <a:prstClr val="black"/>
                </a:solidFill>
                <a:latin typeface="굴림" pitchFamily="50" charset="-127"/>
                <a:ea typeface="굴림" pitchFamily="50" charset="-127"/>
              </a:rPr>
              <a:t>Làm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sao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biết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được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điều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a:t>
            </a:r>
          </a:p>
        </p:txBody>
      </p:sp>
      <p:sp>
        <p:nvSpPr>
          <p:cNvPr id="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271</a:t>
            </a:fld>
            <a:endParaRPr lang="ko-KR" altLang="en-US" sz="1200" dirty="0">
              <a:solidFill>
                <a:prstClr val="black"/>
              </a:solidFill>
            </a:endParaRPr>
          </a:p>
        </p:txBody>
      </p:sp>
      <p:sp>
        <p:nvSpPr>
          <p:cNvPr id="7" name="Text Box 39"/>
          <p:cNvSpPr txBox="1">
            <a:spLocks noChangeArrowheads="1"/>
          </p:cNvSpPr>
          <p:nvPr/>
        </p:nvSpPr>
        <p:spPr bwMode="auto">
          <a:xfrm>
            <a:off x="127732" y="76562"/>
            <a:ext cx="45236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Tree>
    <p:extLst>
      <p:ext uri="{BB962C8B-B14F-4D97-AF65-F5344CB8AC3E}">
        <p14:creationId xmlns:p14="http://schemas.microsoft.com/office/powerpoint/2010/main" val="776898913"/>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p:cNvSpPr txBox="1"/>
          <p:nvPr/>
        </p:nvSpPr>
        <p:spPr>
          <a:xfrm>
            <a:off x="467544" y="1488384"/>
            <a:ext cx="8100807" cy="51956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400" b="1" dirty="0">
                <a:solidFill>
                  <a:prstClr val="black"/>
                </a:solidFill>
                <a:ea typeface="굴림" pitchFamily="50" charset="-127"/>
              </a:rPr>
              <a:t>Using the control chart is the fastest way to find out.</a:t>
            </a:r>
            <a:endParaRPr kumimoji="1" lang="ko-KR" altLang="en-US" sz="2400" b="1" dirty="0">
              <a:solidFill>
                <a:prstClr val="black"/>
              </a:solidFill>
              <a:ea typeface="굴림" pitchFamily="50" charset="-127"/>
            </a:endParaRPr>
          </a:p>
        </p:txBody>
      </p:sp>
      <p:sp>
        <p:nvSpPr>
          <p:cNvPr id="23" name="TextBox 22"/>
          <p:cNvSpPr txBox="1"/>
          <p:nvPr/>
        </p:nvSpPr>
        <p:spPr>
          <a:xfrm>
            <a:off x="571472" y="2285992"/>
            <a:ext cx="8072494" cy="3888244"/>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In this case, assuming that the average managed by the process is 100 mm and the standard deviation is 1 mm, the upper limit USL is set at 103 mm, and the lower limit of management is set at 97 mm.</a:t>
            </a:r>
            <a:br>
              <a:rPr kumimoji="1" lang="en-US" altLang="ko-KR" sz="1600" b="1" dirty="0">
                <a:solidFill>
                  <a:prstClr val="black"/>
                </a:solidFill>
                <a:latin typeface="굴림" pitchFamily="50" charset="-127"/>
                <a:ea typeface="굴림" pitchFamily="50" charset="-127"/>
              </a:rPr>
            </a:br>
            <a:br>
              <a:rPr kumimoji="1" lang="en-US" altLang="ko-KR" sz="1600" b="1" dirty="0">
                <a:solidFill>
                  <a:prstClr val="black"/>
                </a:solidFill>
                <a:latin typeface="굴림" pitchFamily="50" charset="-127"/>
                <a:ea typeface="굴림" pitchFamily="50" charset="-127"/>
              </a:rPr>
            </a:br>
            <a:r>
              <a:rPr kumimoji="1" lang="en-US" altLang="ko-KR" sz="1600" b="1" dirty="0">
                <a:solidFill>
                  <a:prstClr val="black"/>
                </a:solidFill>
                <a:latin typeface="굴림" pitchFamily="50" charset="-127"/>
                <a:ea typeface="굴림" pitchFamily="50" charset="-127"/>
              </a:rPr>
              <a:t>And if you sampling five samples in a continuous production process and control them using a control chart, the probability of finding a process anomaly at the first point is only 22%. However, if you run 20 consecutive times, the probability of finding an abnormality on the control chart is 99.37%.</a:t>
            </a:r>
            <a:br>
              <a:rPr kumimoji="1" lang="en-US" altLang="ko-KR" sz="1600" b="1" dirty="0">
                <a:solidFill>
                  <a:prstClr val="black"/>
                </a:solidFill>
                <a:latin typeface="굴림" pitchFamily="50" charset="-127"/>
                <a:ea typeface="굴림" pitchFamily="50" charset="-127"/>
              </a:rPr>
            </a:br>
            <a:br>
              <a:rPr kumimoji="1" lang="en-US" altLang="ko-KR" sz="1600" b="1" dirty="0">
                <a:solidFill>
                  <a:prstClr val="black"/>
                </a:solidFill>
                <a:latin typeface="굴림" pitchFamily="50" charset="-127"/>
                <a:ea typeface="굴림" pitchFamily="50" charset="-127"/>
              </a:rPr>
            </a:br>
            <a:r>
              <a:rPr kumimoji="1" lang="en-US" altLang="ko-KR" sz="1600" b="1" dirty="0">
                <a:solidFill>
                  <a:prstClr val="black"/>
                </a:solidFill>
                <a:latin typeface="굴림" pitchFamily="50" charset="-127"/>
                <a:ea typeface="굴림" pitchFamily="50" charset="-127"/>
              </a:rPr>
              <a:t>This is called the detection power of the control chart. As the number of samples increases, the probability of finding an abnormality increases as the number of sample groups increases.</a:t>
            </a:r>
          </a:p>
        </p:txBody>
      </p:sp>
      <p:sp>
        <p:nvSpPr>
          <p:cNvPr id="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272</a:t>
            </a:fld>
            <a:endParaRPr lang="ko-KR" altLang="en-US" sz="1200" dirty="0">
              <a:solidFill>
                <a:prstClr val="black"/>
              </a:solidFill>
            </a:endParaRPr>
          </a:p>
        </p:txBody>
      </p:sp>
      <p:sp>
        <p:nvSpPr>
          <p:cNvPr id="7" name="Text Box 39"/>
          <p:cNvSpPr txBox="1">
            <a:spLocks noChangeArrowheads="1"/>
          </p:cNvSpPr>
          <p:nvPr/>
        </p:nvSpPr>
        <p:spPr bwMode="auto">
          <a:xfrm>
            <a:off x="127732" y="76562"/>
            <a:ext cx="422602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The need for the control chart</a:t>
            </a:r>
          </a:p>
        </p:txBody>
      </p:sp>
    </p:spTree>
    <p:extLst>
      <p:ext uri="{BB962C8B-B14F-4D97-AF65-F5344CB8AC3E}">
        <p14:creationId xmlns:p14="http://schemas.microsoft.com/office/powerpoint/2010/main" val="2558335525"/>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18582" y="116635"/>
            <a:ext cx="3713389"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Draw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endParaRPr kumimoji="1" lang="ko-KR" altLang="en-US" sz="2000" b="1" dirty="0">
              <a:solidFill>
                <a:prstClr val="black"/>
              </a:solidFill>
              <a:ea typeface="굴림" pitchFamily="50" charset="-127"/>
            </a:endParaRPr>
          </a:p>
        </p:txBody>
      </p:sp>
      <p:pic>
        <p:nvPicPr>
          <p:cNvPr id="2392065"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3271" y="2128490"/>
            <a:ext cx="3663462" cy="3460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5103753" y="2200498"/>
            <a:ext cx="2374368" cy="105259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Sample group:  15</a:t>
            </a:r>
          </a:p>
          <a:p>
            <a:pPr fontAlgn="base">
              <a:lnSpc>
                <a:spcPct val="130000"/>
              </a:lnSpc>
              <a:spcBef>
                <a:spcPct val="0"/>
              </a:spcBef>
              <a:spcAft>
                <a:spcPct val="0"/>
              </a:spcAft>
              <a:buClr>
                <a:srgbClr val="C5003D"/>
              </a:buClr>
            </a:pP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1 sample quantity:   5</a:t>
            </a:r>
            <a:r>
              <a:rPr kumimoji="1" lang="ko-KR" altLang="en-US" sz="1600" b="1" dirty="0">
                <a:solidFill>
                  <a:prstClr val="black"/>
                </a:solidFill>
                <a:latin typeface="굴림" pitchFamily="50" charset="-127"/>
                <a:ea typeface="굴림" pitchFamily="50" charset="-127"/>
              </a:rPr>
              <a:t>  </a:t>
            </a:r>
          </a:p>
        </p:txBody>
      </p:sp>
      <p:sp>
        <p:nvSpPr>
          <p:cNvPr id="6" name="TextBox 5"/>
          <p:cNvSpPr txBox="1"/>
          <p:nvPr/>
        </p:nvSpPr>
        <p:spPr>
          <a:xfrm>
            <a:off x="317989" y="836714"/>
            <a:ext cx="1237839"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Case study</a:t>
            </a:r>
            <a:endParaRPr kumimoji="1" lang="ko-KR" altLang="en-US" sz="1600" b="1" dirty="0">
              <a:solidFill>
                <a:prstClr val="black"/>
              </a:solidFill>
              <a:latin typeface="굴림" pitchFamily="50" charset="-127"/>
              <a:ea typeface="굴림" pitchFamily="50" charset="-127"/>
            </a:endParaRPr>
          </a:p>
        </p:txBody>
      </p:sp>
      <p:sp>
        <p:nvSpPr>
          <p:cNvPr id="8" name="TextBox 7"/>
          <p:cNvSpPr txBox="1"/>
          <p:nvPr/>
        </p:nvSpPr>
        <p:spPr>
          <a:xfrm>
            <a:off x="5103750" y="4168707"/>
            <a:ext cx="3639138"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How should one sample be taken?</a:t>
            </a:r>
          </a:p>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How many samples are appropriate?</a:t>
            </a:r>
            <a:endParaRPr kumimoji="1" lang="ko-KR" altLang="en-US" sz="1600" b="1" dirty="0">
              <a:solidFill>
                <a:prstClr val="black"/>
              </a:solidFill>
              <a:latin typeface="굴림" pitchFamily="50" charset="-127"/>
              <a:ea typeface="굴림" pitchFamily="50" charset="-127"/>
            </a:endParaRPr>
          </a:p>
        </p:txBody>
      </p:sp>
      <p:sp>
        <p:nvSpPr>
          <p:cNvPr id="10" name="TextBox 9"/>
          <p:cNvSpPr txBox="1"/>
          <p:nvPr/>
        </p:nvSpPr>
        <p:spPr>
          <a:xfrm>
            <a:off x="397695" y="1285860"/>
            <a:ext cx="8603461" cy="697179"/>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Some suppliers measured the dimensions of the outer diameter as follows. We will use this to draw the </a:t>
            </a: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 R control chart.</a:t>
            </a:r>
          </a:p>
        </p:txBody>
      </p:sp>
      <p:sp>
        <p:nvSpPr>
          <p:cNvPr id="7" name="이등변 삼각형 6"/>
          <p:cNvSpPr/>
          <p:nvPr/>
        </p:nvSpPr>
        <p:spPr>
          <a:xfrm rot="10800000">
            <a:off x="5569035" y="3573016"/>
            <a:ext cx="1661723" cy="21602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1"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273</a:t>
            </a:fld>
            <a:endParaRPr lang="ko-KR" altLang="en-US" sz="1200" dirty="0">
              <a:solidFill>
                <a:prstClr val="black"/>
              </a:solidFill>
            </a:endParaRPr>
          </a:p>
        </p:txBody>
      </p:sp>
    </p:spTree>
    <p:extLst>
      <p:ext uri="{BB962C8B-B14F-4D97-AF65-F5344CB8AC3E}">
        <p14:creationId xmlns:p14="http://schemas.microsoft.com/office/powerpoint/2010/main" val="3991231151"/>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p:cNvSpPr txBox="1"/>
          <p:nvPr/>
        </p:nvSpPr>
        <p:spPr>
          <a:xfrm>
            <a:off x="304800" y="1488384"/>
            <a:ext cx="8773556" cy="572464"/>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400" b="1" dirty="0" err="1">
                <a:solidFill>
                  <a:prstClr val="black"/>
                </a:solidFill>
                <a:ea typeface="굴림" pitchFamily="50" charset="-127"/>
              </a:rPr>
              <a:t>Sử</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dụng</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đồ</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thị</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quản</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lý</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ta</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có</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thể</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tìm</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ra</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được</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nhanh</a:t>
            </a:r>
            <a:r>
              <a:rPr kumimoji="1" lang="en-US" altLang="ko-KR" sz="2400" b="1" dirty="0">
                <a:solidFill>
                  <a:prstClr val="black"/>
                </a:solidFill>
                <a:ea typeface="굴림" pitchFamily="50" charset="-127"/>
              </a:rPr>
              <a:t> </a:t>
            </a:r>
            <a:r>
              <a:rPr kumimoji="1" lang="en-US" altLang="ko-KR" sz="2400" b="1" dirty="0" err="1">
                <a:solidFill>
                  <a:prstClr val="black"/>
                </a:solidFill>
                <a:ea typeface="굴림" pitchFamily="50" charset="-127"/>
              </a:rPr>
              <a:t>nhất</a:t>
            </a:r>
            <a:endParaRPr kumimoji="1" lang="ko-KR" altLang="en-US" sz="2400" b="1" dirty="0">
              <a:solidFill>
                <a:prstClr val="black"/>
              </a:solidFill>
              <a:ea typeface="굴림" pitchFamily="50" charset="-127"/>
            </a:endParaRPr>
          </a:p>
        </p:txBody>
      </p:sp>
      <p:sp>
        <p:nvSpPr>
          <p:cNvPr id="23" name="TextBox 22"/>
          <p:cNvSpPr txBox="1"/>
          <p:nvPr/>
        </p:nvSpPr>
        <p:spPr>
          <a:xfrm>
            <a:off x="457200" y="2209800"/>
            <a:ext cx="8153400" cy="3613297"/>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hợp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giả</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giá</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bình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100mm,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độ</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lệch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tiêu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chuẩn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1 mm. </a:t>
            </a:r>
            <a:r>
              <a:rPr kumimoji="1" lang="en-US" altLang="ko-KR" sz="1600" b="1" dirty="0" err="1">
                <a:solidFill>
                  <a:prstClr val="black"/>
                </a:solidFill>
                <a:latin typeface="굴림" pitchFamily="50" charset="-127"/>
                <a:ea typeface="굴림" pitchFamily="50" charset="-127"/>
              </a:rPr>
              <a:t>Lựa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chọn</a:t>
            </a:r>
            <a:r>
              <a:rPr kumimoji="1" lang="en-US" altLang="ko-KR" sz="1600" b="1" dirty="0">
                <a:solidFill>
                  <a:prstClr val="black"/>
                </a:solidFill>
                <a:latin typeface="굴림" pitchFamily="50" charset="-127"/>
                <a:ea typeface="굴림" pitchFamily="50" charset="-127"/>
              </a:rPr>
              <a:t> USL </a:t>
            </a:r>
            <a:r>
              <a:rPr kumimoji="1" lang="en-US" altLang="ko-KR" sz="1600" b="1" dirty="0" err="1">
                <a:solidFill>
                  <a:prstClr val="black"/>
                </a:solidFill>
                <a:latin typeface="굴림" pitchFamily="50" charset="-127"/>
                <a:ea typeface="굴림" pitchFamily="50" charset="-127"/>
              </a:rPr>
              <a:t>là</a:t>
            </a:r>
            <a:r>
              <a:rPr kumimoji="1" lang="ko-KR" altLang="en-US" sz="1600" b="1" dirty="0">
                <a:solidFill>
                  <a:prstClr val="black"/>
                </a:solidFill>
                <a:latin typeface="굴림" pitchFamily="50" charset="-127"/>
                <a:ea typeface="굴림" pitchFamily="50" charset="-127"/>
              </a:rPr>
              <a:t> </a:t>
            </a:r>
            <a:r>
              <a:rPr kumimoji="1" lang="en-US" altLang="ko-KR" sz="1600" b="1" dirty="0">
                <a:solidFill>
                  <a:prstClr val="black"/>
                </a:solidFill>
                <a:latin typeface="굴림" pitchFamily="50" charset="-127"/>
                <a:ea typeface="굴림" pitchFamily="50" charset="-127"/>
              </a:rPr>
              <a:t>103mm, LSL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97mm.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sản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xuất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tục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tiến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hành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lựa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chọn</a:t>
            </a:r>
            <a:r>
              <a:rPr kumimoji="1" lang="en-US" altLang="ko-KR" sz="1600" b="1" dirty="0">
                <a:solidFill>
                  <a:prstClr val="black"/>
                </a:solidFill>
                <a:latin typeface="굴림" pitchFamily="50" charset="-127"/>
                <a:ea typeface="굴림" pitchFamily="50" charset="-127"/>
              </a:rPr>
              <a:t> 5 sample </a:t>
            </a:r>
            <a:r>
              <a:rPr kumimoji="1" lang="en-US" altLang="ko-KR" sz="1600" b="1" dirty="0" err="1">
                <a:solidFill>
                  <a:prstClr val="black"/>
                </a:solidFill>
                <a:latin typeface="굴림" pitchFamily="50" charset="-127"/>
                <a:ea typeface="굴림" pitchFamily="50" charset="-127"/>
              </a:rPr>
              <a:t>sử</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dụng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chấm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đầu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lệ</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tìm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ra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của</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quá</a:t>
            </a:r>
            <a:r>
              <a:rPr kumimoji="1" lang="en-US" altLang="ko-KR" sz="1600" b="1" dirty="0">
                <a:solidFill>
                  <a:prstClr val="black"/>
                </a:solidFill>
                <a:latin typeface="굴림" pitchFamily="50" charset="-127"/>
                <a:ea typeface="굴림" pitchFamily="50" charset="-127"/>
              </a:rPr>
              <a:t> 22%.</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Tiến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hành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tục</a:t>
            </a:r>
            <a:r>
              <a:rPr kumimoji="1" lang="en-US" altLang="ko-KR" sz="1600" b="1" dirty="0">
                <a:solidFill>
                  <a:prstClr val="black"/>
                </a:solidFill>
                <a:latin typeface="굴림" pitchFamily="50" charset="-127"/>
                <a:ea typeface="굴림" pitchFamily="50" charset="-127"/>
              </a:rPr>
              <a:t> 20 </a:t>
            </a:r>
            <a:r>
              <a:rPr kumimoji="1" lang="en-US" altLang="ko-KR" sz="1600" b="1" dirty="0" err="1">
                <a:solidFill>
                  <a:prstClr val="black"/>
                </a:solidFill>
                <a:latin typeface="굴림" pitchFamily="50" charset="-127"/>
                <a:ea typeface="굴림" pitchFamily="50" charset="-127"/>
              </a:rPr>
              <a:t>lần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lúc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lí</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lệ</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tìm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ra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99.37%</a:t>
            </a:r>
          </a:p>
          <a:p>
            <a:pPr fontAlgn="base">
              <a:lnSpc>
                <a:spcPct val="130000"/>
              </a:lnSpc>
              <a:spcBef>
                <a:spcPct val="0"/>
              </a:spcBef>
              <a:spcAft>
                <a:spcPct val="0"/>
              </a:spcAft>
              <a:buClr>
                <a:srgbClr val="C5003D"/>
              </a:buClr>
            </a:pP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Nếu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gọi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đây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năng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lực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tích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hiện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của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lượng</a:t>
            </a:r>
            <a:r>
              <a:rPr kumimoji="1" lang="en-US" altLang="ko-KR" sz="1600" b="1" dirty="0">
                <a:solidFill>
                  <a:prstClr val="black"/>
                </a:solidFill>
                <a:latin typeface="굴림" pitchFamily="50" charset="-127"/>
                <a:ea typeface="굴림" pitchFamily="50" charset="-127"/>
              </a:rPr>
              <a:t> sample </a:t>
            </a:r>
            <a:r>
              <a:rPr kumimoji="1" lang="en-US" altLang="ko-KR" sz="1600" b="1" dirty="0" err="1">
                <a:solidFill>
                  <a:prstClr val="black"/>
                </a:solidFill>
                <a:latin typeface="굴림" pitchFamily="50" charset="-127"/>
                <a:ea typeface="굴림" pitchFamily="50" charset="-127"/>
              </a:rPr>
              <a:t>càng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nhiều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lượng</a:t>
            </a:r>
            <a:r>
              <a:rPr kumimoji="1" lang="en-US" altLang="ko-KR" sz="1600" b="1" dirty="0">
                <a:solidFill>
                  <a:prstClr val="black"/>
                </a:solidFill>
                <a:latin typeface="굴림" pitchFamily="50" charset="-127"/>
                <a:ea typeface="굴림" pitchFamily="50" charset="-127"/>
              </a:rPr>
              <a:t> sample </a:t>
            </a: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nhóm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càng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nhiều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lệ</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tìm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ra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càng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tăng</a:t>
            </a:r>
            <a:r>
              <a:rPr kumimoji="1" lang="en-US" altLang="ko-KR" sz="1600" b="1" dirty="0">
                <a:solidFill>
                  <a:prstClr val="black"/>
                </a:solidFill>
                <a:latin typeface="굴림" pitchFamily="50" charset="-127"/>
                <a:ea typeface="굴림" pitchFamily="50" charset="-127"/>
              </a:rPr>
              <a:t>.</a:t>
            </a:r>
          </a:p>
        </p:txBody>
      </p:sp>
      <p:sp>
        <p:nvSpPr>
          <p:cNvPr id="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274</a:t>
            </a:fld>
            <a:endParaRPr lang="ko-KR" altLang="en-US" sz="1200" dirty="0">
              <a:solidFill>
                <a:prstClr val="black"/>
              </a:solidFill>
            </a:endParaRPr>
          </a:p>
        </p:txBody>
      </p:sp>
      <p:sp>
        <p:nvSpPr>
          <p:cNvPr id="7" name="Text Box 39"/>
          <p:cNvSpPr txBox="1">
            <a:spLocks noChangeArrowheads="1"/>
          </p:cNvSpPr>
          <p:nvPr/>
        </p:nvSpPr>
        <p:spPr bwMode="auto">
          <a:xfrm>
            <a:off x="127732" y="76562"/>
            <a:ext cx="452361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1. </a:t>
            </a:r>
            <a:r>
              <a:rPr kumimoji="1" lang="en-US" altLang="ko-KR" sz="2000" b="1" dirty="0" err="1">
                <a:solidFill>
                  <a:prstClr val="black"/>
                </a:solidFill>
              </a:rPr>
              <a:t>Tính</a:t>
            </a:r>
            <a:r>
              <a:rPr kumimoji="1" lang="en-US" altLang="ko-KR" sz="2000" b="1" dirty="0">
                <a:solidFill>
                  <a:prstClr val="black"/>
                </a:solidFill>
              </a:rPr>
              <a:t> </a:t>
            </a:r>
            <a:r>
              <a:rPr kumimoji="1" lang="en-US" altLang="ko-KR" sz="2000" b="1" dirty="0" err="1">
                <a:solidFill>
                  <a:prstClr val="black"/>
                </a:solidFill>
              </a:rPr>
              <a:t>cần</a:t>
            </a:r>
            <a:r>
              <a:rPr kumimoji="1" lang="en-US" altLang="ko-KR" sz="2000" b="1" dirty="0">
                <a:solidFill>
                  <a:prstClr val="black"/>
                </a:solidFill>
              </a:rPr>
              <a:t> </a:t>
            </a:r>
            <a:r>
              <a:rPr kumimoji="1" lang="en-US" altLang="ko-KR" sz="2000" b="1" dirty="0" err="1">
                <a:solidFill>
                  <a:prstClr val="black"/>
                </a:solidFill>
              </a:rPr>
              <a:t>thiết</a:t>
            </a:r>
            <a:r>
              <a:rPr kumimoji="1" lang="en-US" altLang="ko-KR" sz="2000" b="1" dirty="0">
                <a:solidFill>
                  <a:prstClr val="black"/>
                </a:solidFill>
              </a:rPr>
              <a:t> </a:t>
            </a:r>
            <a:r>
              <a:rPr kumimoji="1" lang="en-US" altLang="ko-KR" sz="2000" b="1" dirty="0" err="1">
                <a:solidFill>
                  <a:prstClr val="black"/>
                </a:solidFill>
              </a:rPr>
              <a:t>của</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Tree>
    <p:extLst>
      <p:ext uri="{BB962C8B-B14F-4D97-AF65-F5344CB8AC3E}">
        <p14:creationId xmlns:p14="http://schemas.microsoft.com/office/powerpoint/2010/main" val="2558335525"/>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18582" y="116635"/>
            <a:ext cx="351282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a:t>
            </a:r>
            <a:r>
              <a:rPr kumimoji="1" lang="en-US" altLang="ko-KR" sz="2000" b="1" dirty="0" err="1">
                <a:solidFill>
                  <a:prstClr val="black"/>
                </a:solidFill>
                <a:ea typeface="굴림" pitchFamily="50" charset="-127"/>
              </a:rPr>
              <a:t>vẽ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pic>
        <p:nvPicPr>
          <p:cNvPr id="2392065" name="Picture 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3271" y="2128490"/>
            <a:ext cx="3663462" cy="3460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5103753" y="2200498"/>
            <a:ext cx="2829621" cy="105259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Nhóm</a:t>
            </a:r>
            <a:r>
              <a:rPr kumimoji="1" lang="en-US" altLang="ko-KR" sz="1600" b="1" dirty="0">
                <a:solidFill>
                  <a:prstClr val="black"/>
                </a:solidFill>
                <a:latin typeface="굴림" pitchFamily="50" charset="-127"/>
                <a:ea typeface="굴림" pitchFamily="50" charset="-127"/>
              </a:rPr>
              <a:t> sample</a:t>
            </a:r>
            <a:r>
              <a:rPr kumimoji="1" lang="ko-KR" altLang="en-US" sz="1600" b="1" dirty="0">
                <a:solidFill>
                  <a:prstClr val="black"/>
                </a:solidFill>
                <a:latin typeface="굴림" pitchFamily="50" charset="-127"/>
                <a:ea typeface="굴림" pitchFamily="50" charset="-127"/>
              </a:rPr>
              <a:t> </a:t>
            </a:r>
            <a:r>
              <a:rPr kumimoji="1" lang="en-US" altLang="ko-KR" sz="1600" b="1" dirty="0">
                <a:solidFill>
                  <a:prstClr val="black"/>
                </a:solidFill>
                <a:latin typeface="굴림" pitchFamily="50" charset="-127"/>
                <a:ea typeface="굴림" pitchFamily="50" charset="-127"/>
              </a:rPr>
              <a:t>:  15</a:t>
            </a:r>
          </a:p>
          <a:p>
            <a:pPr fontAlgn="base">
              <a:lnSpc>
                <a:spcPct val="130000"/>
              </a:lnSpc>
              <a:spcBef>
                <a:spcPct val="0"/>
              </a:spcBef>
              <a:spcAft>
                <a:spcPct val="0"/>
              </a:spcAft>
              <a:buClr>
                <a:srgbClr val="C5003D"/>
              </a:buClr>
            </a:pP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lượng</a:t>
            </a:r>
            <a:r>
              <a:rPr kumimoji="1" lang="en-US" altLang="ko-KR" sz="1600" b="1" dirty="0">
                <a:solidFill>
                  <a:prstClr val="black"/>
                </a:solidFill>
                <a:latin typeface="굴림" pitchFamily="50" charset="-127"/>
                <a:ea typeface="굴림" pitchFamily="50" charset="-127"/>
              </a:rPr>
              <a:t> Sample 1 </a:t>
            </a:r>
            <a:r>
              <a:rPr kumimoji="1" lang="en-US" altLang="ko-KR" sz="1600" b="1" dirty="0" err="1">
                <a:solidFill>
                  <a:prstClr val="black"/>
                </a:solidFill>
                <a:latin typeface="굴림" pitchFamily="50" charset="-127"/>
                <a:ea typeface="굴림" pitchFamily="50" charset="-127"/>
              </a:rPr>
              <a:t>lần</a:t>
            </a:r>
            <a:r>
              <a:rPr kumimoji="1" lang="ko-KR" altLang="en-US" sz="1600" b="1" dirty="0">
                <a:solidFill>
                  <a:prstClr val="black"/>
                </a:solidFill>
                <a:latin typeface="굴림" pitchFamily="50" charset="-127"/>
                <a:ea typeface="굴림" pitchFamily="50" charset="-127"/>
              </a:rPr>
              <a:t> </a:t>
            </a:r>
            <a:r>
              <a:rPr kumimoji="1" lang="en-US" altLang="ko-KR" sz="1600" b="1" dirty="0">
                <a:solidFill>
                  <a:prstClr val="black"/>
                </a:solidFill>
                <a:latin typeface="굴림" pitchFamily="50" charset="-127"/>
                <a:ea typeface="굴림" pitchFamily="50" charset="-127"/>
              </a:rPr>
              <a:t>: 5</a:t>
            </a:r>
            <a:r>
              <a:rPr kumimoji="1" lang="ko-KR" altLang="en-US" sz="1600" b="1" dirty="0">
                <a:solidFill>
                  <a:prstClr val="black"/>
                </a:solidFill>
                <a:latin typeface="굴림" pitchFamily="50" charset="-127"/>
                <a:ea typeface="굴림" pitchFamily="50" charset="-127"/>
              </a:rPr>
              <a:t>  </a:t>
            </a:r>
          </a:p>
        </p:txBody>
      </p:sp>
      <p:sp>
        <p:nvSpPr>
          <p:cNvPr id="6" name="TextBox 5"/>
          <p:cNvSpPr txBox="1"/>
          <p:nvPr/>
        </p:nvSpPr>
        <p:spPr>
          <a:xfrm>
            <a:off x="317989" y="836714"/>
            <a:ext cx="1893467"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Nghiên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cứu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ví</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dụ</a:t>
            </a:r>
            <a:r>
              <a:rPr kumimoji="1" lang="ko-KR" altLang="en-US" sz="1600" b="1" dirty="0">
                <a:solidFill>
                  <a:prstClr val="black"/>
                </a:solidFill>
                <a:latin typeface="굴림" pitchFamily="50" charset="-127"/>
                <a:ea typeface="굴림" pitchFamily="50" charset="-127"/>
              </a:rPr>
              <a:t> </a:t>
            </a:r>
          </a:p>
        </p:txBody>
      </p:sp>
      <p:sp>
        <p:nvSpPr>
          <p:cNvPr id="8" name="TextBox 7"/>
          <p:cNvSpPr txBox="1"/>
          <p:nvPr/>
        </p:nvSpPr>
        <p:spPr>
          <a:xfrm>
            <a:off x="4724400" y="4168707"/>
            <a:ext cx="4509568"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thập</a:t>
            </a:r>
            <a:r>
              <a:rPr kumimoji="1" lang="en-US" altLang="ko-KR" sz="1600" b="1" dirty="0">
                <a:solidFill>
                  <a:prstClr val="black"/>
                </a:solidFill>
                <a:latin typeface="굴림" pitchFamily="50" charset="-127"/>
                <a:ea typeface="굴림" pitchFamily="50" charset="-127"/>
              </a:rPr>
              <a:t> sample </a:t>
            </a:r>
            <a:r>
              <a:rPr kumimoji="1" lang="en-US" altLang="ko-KR" sz="1600" b="1" dirty="0" err="1">
                <a:solidFill>
                  <a:prstClr val="black"/>
                </a:solidFill>
                <a:latin typeface="굴림" pitchFamily="50" charset="-127"/>
                <a:ea typeface="굴림" pitchFamily="50" charset="-127"/>
              </a:rPr>
              <a:t>lần</a:t>
            </a:r>
            <a:r>
              <a:rPr kumimoji="1" lang="en-US" altLang="ko-KR" sz="1600" b="1" dirty="0">
                <a:solidFill>
                  <a:prstClr val="black"/>
                </a:solidFill>
                <a:latin typeface="굴림" pitchFamily="50" charset="-127"/>
                <a:ea typeface="굴림" pitchFamily="50" charset="-127"/>
              </a:rPr>
              <a:t> 1 </a:t>
            </a:r>
            <a:r>
              <a:rPr kumimoji="1" lang="en-US" altLang="ko-KR" sz="1600" b="1" dirty="0" err="1">
                <a:solidFill>
                  <a:prstClr val="black"/>
                </a:solidFill>
                <a:latin typeface="굴림" pitchFamily="50" charset="-127"/>
                <a:ea typeface="굴림" pitchFamily="50" charset="-127"/>
              </a:rPr>
              <a:t>như</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thế</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nào</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sample lần1</a:t>
            </a:r>
            <a:r>
              <a:rPr kumimoji="1" lang="ko-KR" altLang="en-US"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bao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nhiêu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hợp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endParaRPr kumimoji="1" lang="ko-KR" altLang="en-US" sz="1600" b="1" dirty="0">
              <a:solidFill>
                <a:prstClr val="black"/>
              </a:solidFill>
              <a:latin typeface="굴림" pitchFamily="50" charset="-127"/>
              <a:ea typeface="굴림" pitchFamily="50" charset="-127"/>
            </a:endParaRPr>
          </a:p>
        </p:txBody>
      </p:sp>
      <p:sp>
        <p:nvSpPr>
          <p:cNvPr id="10" name="TextBox 9"/>
          <p:cNvSpPr txBox="1"/>
          <p:nvPr/>
        </p:nvSpPr>
        <p:spPr>
          <a:xfrm>
            <a:off x="783273" y="1268760"/>
            <a:ext cx="8252580"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Ở </a:t>
            </a:r>
            <a:r>
              <a:rPr kumimoji="1" lang="en-US" altLang="ko-KR" sz="1600" b="1" dirty="0" err="1">
                <a:solidFill>
                  <a:prstClr val="black"/>
                </a:solidFill>
                <a:latin typeface="굴림" pitchFamily="50" charset="-127"/>
                <a:ea typeface="굴림" pitchFamily="50" charset="-127"/>
              </a:rPr>
              <a:t>một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cung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cấp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tiến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hành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đạc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bán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kính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ngoài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được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như</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bên</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dưới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Hãy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sử</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dụng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dữ</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liệu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 R</a:t>
            </a:r>
          </a:p>
        </p:txBody>
      </p:sp>
      <p:sp>
        <p:nvSpPr>
          <p:cNvPr id="7" name="이등변 삼각형 6"/>
          <p:cNvSpPr/>
          <p:nvPr/>
        </p:nvSpPr>
        <p:spPr>
          <a:xfrm rot="10800000">
            <a:off x="5569035" y="3573016"/>
            <a:ext cx="1661723" cy="21602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1"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275</a:t>
            </a:fld>
            <a:endParaRPr lang="ko-KR" altLang="en-US" sz="1200" dirty="0">
              <a:solidFill>
                <a:prstClr val="black"/>
              </a:solidFill>
            </a:endParaRPr>
          </a:p>
        </p:txBody>
      </p:sp>
    </p:spTree>
    <p:extLst>
      <p:ext uri="{BB962C8B-B14F-4D97-AF65-F5344CB8AC3E}">
        <p14:creationId xmlns:p14="http://schemas.microsoft.com/office/powerpoint/2010/main" val="399123115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4459" y="856342"/>
            <a:ext cx="4201791"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One sample method and sampling number</a:t>
            </a:r>
            <a:endParaRPr kumimoji="1" lang="ko-KR" altLang="en-US" sz="1600" b="1" dirty="0">
              <a:solidFill>
                <a:prstClr val="black"/>
              </a:solidFill>
              <a:latin typeface="굴림" pitchFamily="50" charset="-127"/>
              <a:ea typeface="굴림" pitchFamily="50" charset="-127"/>
            </a:endParaRPr>
          </a:p>
        </p:txBody>
      </p:sp>
      <p:sp>
        <p:nvSpPr>
          <p:cNvPr id="5" name="원통 4"/>
          <p:cNvSpPr/>
          <p:nvPr/>
        </p:nvSpPr>
        <p:spPr>
          <a:xfrm rot="16200000">
            <a:off x="1303945" y="1534638"/>
            <a:ext cx="1152128" cy="2060537"/>
          </a:xfrm>
          <a:prstGeom prst="can">
            <a:avLst>
              <a:gd name="adj" fmla="val 34785"/>
            </a:avLst>
          </a:prstGeom>
          <a:solidFill>
            <a:schemeClr val="bg1">
              <a:lumMod val="6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dirty="0">
              <a:solidFill>
                <a:prstClr val="white"/>
              </a:solidFill>
            </a:endParaRPr>
          </a:p>
        </p:txBody>
      </p:sp>
      <p:sp>
        <p:nvSpPr>
          <p:cNvPr id="7" name="자유형 6"/>
          <p:cNvSpPr/>
          <p:nvPr/>
        </p:nvSpPr>
        <p:spPr>
          <a:xfrm>
            <a:off x="1979713" y="2564905"/>
            <a:ext cx="601311" cy="720080"/>
          </a:xfrm>
          <a:custGeom>
            <a:avLst/>
            <a:gdLst>
              <a:gd name="connsiteX0" fmla="*/ 87682 w 939452"/>
              <a:gd name="connsiteY0" fmla="*/ 0 h 1077238"/>
              <a:gd name="connsiteX1" fmla="*/ 939452 w 939452"/>
              <a:gd name="connsiteY1" fmla="*/ 839243 h 1077238"/>
              <a:gd name="connsiteX2" fmla="*/ 676405 w 939452"/>
              <a:gd name="connsiteY2" fmla="*/ 1077238 h 1077238"/>
              <a:gd name="connsiteX3" fmla="*/ 0 w 939452"/>
              <a:gd name="connsiteY3" fmla="*/ 475989 h 1077238"/>
              <a:gd name="connsiteX4" fmla="*/ 87682 w 939452"/>
              <a:gd name="connsiteY4" fmla="*/ 0 h 107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452" h="1077238">
                <a:moveTo>
                  <a:pt x="87682" y="0"/>
                </a:moveTo>
                <a:lnTo>
                  <a:pt x="939452" y="839243"/>
                </a:lnTo>
                <a:lnTo>
                  <a:pt x="676405" y="1077238"/>
                </a:lnTo>
                <a:lnTo>
                  <a:pt x="0" y="475989"/>
                </a:lnTo>
                <a:lnTo>
                  <a:pt x="87682"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8" name="원호 7"/>
          <p:cNvSpPr/>
          <p:nvPr/>
        </p:nvSpPr>
        <p:spPr>
          <a:xfrm>
            <a:off x="2444996" y="1988841"/>
            <a:ext cx="664689" cy="1080120"/>
          </a:xfrm>
          <a:prstGeom prst="arc">
            <a:avLst>
              <a:gd name="adj1" fmla="val 16374311"/>
              <a:gd name="adj2" fmla="val 64732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fontAlgn="base">
              <a:spcBef>
                <a:spcPct val="0"/>
              </a:spcBef>
              <a:spcAft>
                <a:spcPct val="0"/>
              </a:spcAft>
            </a:pPr>
            <a:endParaRPr kumimoji="1" lang="ko-KR" altLang="en-US">
              <a:solidFill>
                <a:prstClr val="black"/>
              </a:solidFill>
            </a:endParaRPr>
          </a:p>
        </p:txBody>
      </p:sp>
      <p:sp>
        <p:nvSpPr>
          <p:cNvPr id="11" name="TextBox 10"/>
          <p:cNvSpPr txBox="1"/>
          <p:nvPr/>
        </p:nvSpPr>
        <p:spPr>
          <a:xfrm>
            <a:off x="1071538" y="1439968"/>
            <a:ext cx="1632178"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u="sng" dirty="0">
                <a:solidFill>
                  <a:prstClr val="black"/>
                </a:solidFill>
                <a:latin typeface="굴림" pitchFamily="50" charset="-127"/>
                <a:ea typeface="굴림" pitchFamily="50" charset="-127"/>
              </a:rPr>
              <a:t>Lathe processing</a:t>
            </a:r>
            <a:endParaRPr kumimoji="1" lang="ko-KR" altLang="en-US" sz="1400" u="sng" dirty="0">
              <a:solidFill>
                <a:prstClr val="black"/>
              </a:solidFill>
              <a:latin typeface="굴림" pitchFamily="50" charset="-127"/>
              <a:ea typeface="굴림" pitchFamily="50" charset="-127"/>
            </a:endParaRPr>
          </a:p>
        </p:txBody>
      </p:sp>
      <p:sp>
        <p:nvSpPr>
          <p:cNvPr id="12" name="TextBox 11"/>
          <p:cNvSpPr txBox="1"/>
          <p:nvPr/>
        </p:nvSpPr>
        <p:spPr>
          <a:xfrm>
            <a:off x="4786314" y="1439968"/>
            <a:ext cx="3954929"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u="sng" dirty="0">
                <a:solidFill>
                  <a:prstClr val="black"/>
                </a:solidFill>
                <a:latin typeface="굴림" pitchFamily="50" charset="-127"/>
                <a:ea typeface="굴림" pitchFamily="50" charset="-127"/>
              </a:rPr>
              <a:t>Outside </a:t>
            </a:r>
            <a:r>
              <a:rPr kumimoji="1" lang="en-US" altLang="ko-KR" sz="1400" u="sng">
                <a:solidFill>
                  <a:prstClr val="black"/>
                </a:solidFill>
                <a:latin typeface="굴림" pitchFamily="50" charset="-127"/>
                <a:ea typeface="굴림" pitchFamily="50" charset="-127"/>
              </a:rPr>
              <a:t>diameter size by </a:t>
            </a:r>
            <a:r>
              <a:rPr kumimoji="1" lang="en-US" altLang="ko-KR" sz="1400" u="sng" dirty="0">
                <a:solidFill>
                  <a:prstClr val="black"/>
                </a:solidFill>
                <a:latin typeface="굴림" pitchFamily="50" charset="-127"/>
                <a:ea typeface="굴림" pitchFamily="50" charset="-127"/>
              </a:rPr>
              <a:t>cutting tool change</a:t>
            </a:r>
            <a:endParaRPr kumimoji="1" lang="ko-KR" altLang="en-US" sz="1400" u="sng" dirty="0">
              <a:solidFill>
                <a:prstClr val="black"/>
              </a:solidFill>
              <a:latin typeface="굴림" pitchFamily="50" charset="-127"/>
              <a:ea typeface="굴림" pitchFamily="50" charset="-127"/>
            </a:endParaRPr>
          </a:p>
        </p:txBody>
      </p:sp>
      <p:sp>
        <p:nvSpPr>
          <p:cNvPr id="13" name="TextBox 12"/>
          <p:cNvSpPr txBox="1"/>
          <p:nvPr/>
        </p:nvSpPr>
        <p:spPr>
          <a:xfrm>
            <a:off x="198815" y="3501011"/>
            <a:ext cx="4301747" cy="1772793"/>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The outer diameter is controlled by machining the steel in the Lathe processing.</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The bite of the lathe wears according to the quantity to be machined. If the lathe life reaches the end of life, the tool must be replaced.</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If the tool is not exchanged, the roughness of the machined surface and the outer diameter defect occur</a:t>
            </a:r>
            <a:endParaRPr kumimoji="1" lang="ko-KR" altLang="en-US" sz="1200" dirty="0">
              <a:solidFill>
                <a:prstClr val="black"/>
              </a:solidFill>
              <a:latin typeface="굴림" pitchFamily="50" charset="-127"/>
              <a:ea typeface="굴림" pitchFamily="50" charset="-127"/>
            </a:endParaRPr>
          </a:p>
        </p:txBody>
      </p:sp>
      <p:cxnSp>
        <p:nvCxnSpPr>
          <p:cNvPr id="15" name="직선 연결선 14"/>
          <p:cNvCxnSpPr/>
          <p:nvPr/>
        </p:nvCxnSpPr>
        <p:spPr>
          <a:xfrm>
            <a:off x="4900150" y="2132856"/>
            <a:ext cx="33234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연결선 15"/>
          <p:cNvCxnSpPr/>
          <p:nvPr/>
        </p:nvCxnSpPr>
        <p:spPr>
          <a:xfrm>
            <a:off x="4900150" y="3212976"/>
            <a:ext cx="33234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8290065" y="1916834"/>
            <a:ext cx="580608"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UCL</a:t>
            </a:r>
            <a:endParaRPr kumimoji="1" lang="ko-KR" altLang="en-US" sz="1600" b="1" dirty="0">
              <a:solidFill>
                <a:prstClr val="black"/>
              </a:solidFill>
              <a:latin typeface="굴림" pitchFamily="50" charset="-127"/>
              <a:ea typeface="굴림" pitchFamily="50" charset="-127"/>
            </a:endParaRPr>
          </a:p>
        </p:txBody>
      </p:sp>
      <p:sp>
        <p:nvSpPr>
          <p:cNvPr id="19" name="TextBox 18"/>
          <p:cNvSpPr txBox="1"/>
          <p:nvPr/>
        </p:nvSpPr>
        <p:spPr>
          <a:xfrm>
            <a:off x="8290067" y="2996954"/>
            <a:ext cx="546945"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LCL</a:t>
            </a:r>
            <a:endParaRPr kumimoji="1" lang="ko-KR" altLang="en-US" sz="1600" b="1" dirty="0">
              <a:solidFill>
                <a:prstClr val="black"/>
              </a:solidFill>
              <a:latin typeface="굴림" pitchFamily="50" charset="-127"/>
              <a:ea typeface="굴림" pitchFamily="50" charset="-127"/>
            </a:endParaRPr>
          </a:p>
        </p:txBody>
      </p:sp>
      <p:sp>
        <p:nvSpPr>
          <p:cNvPr id="20" name="자유형 19"/>
          <p:cNvSpPr/>
          <p:nvPr/>
        </p:nvSpPr>
        <p:spPr>
          <a:xfrm>
            <a:off x="4966620"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25" name="직선 연결선 24"/>
          <p:cNvCxnSpPr>
            <a:endCxn id="20" idx="1"/>
          </p:cNvCxnSpPr>
          <p:nvPr/>
        </p:nvCxnSpPr>
        <p:spPr>
          <a:xfrm flipV="1">
            <a:off x="4966620"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자유형 27"/>
          <p:cNvSpPr/>
          <p:nvPr/>
        </p:nvSpPr>
        <p:spPr>
          <a:xfrm>
            <a:off x="5697777"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29" name="직선 연결선 28"/>
          <p:cNvCxnSpPr>
            <a:endCxn id="28" idx="1"/>
          </p:cNvCxnSpPr>
          <p:nvPr/>
        </p:nvCxnSpPr>
        <p:spPr>
          <a:xfrm flipV="1">
            <a:off x="5697777"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자유형 29"/>
          <p:cNvSpPr/>
          <p:nvPr/>
        </p:nvSpPr>
        <p:spPr>
          <a:xfrm>
            <a:off x="6428935"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31" name="직선 연결선 30"/>
          <p:cNvCxnSpPr>
            <a:endCxn id="30" idx="1"/>
          </p:cNvCxnSpPr>
          <p:nvPr/>
        </p:nvCxnSpPr>
        <p:spPr>
          <a:xfrm flipV="1">
            <a:off x="6428935"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자유형 31"/>
          <p:cNvSpPr/>
          <p:nvPr/>
        </p:nvSpPr>
        <p:spPr>
          <a:xfrm>
            <a:off x="7160094"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33" name="직선 연결선 32"/>
          <p:cNvCxnSpPr>
            <a:endCxn id="32" idx="1"/>
          </p:cNvCxnSpPr>
          <p:nvPr/>
        </p:nvCxnSpPr>
        <p:spPr>
          <a:xfrm flipV="1">
            <a:off x="7160094"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4572000" y="3501008"/>
            <a:ext cx="4572000" cy="3213187"/>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Assuming a tool life of 200, numbering the product from immediately after the tool change to the next tool change results in the smallest dimension of 1 and the largest dimension of 200</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At this time, it can not be said that 1 and 200 are the same. So how much can I say it is the same?</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For example, can the 100th sample be considered the same condition as the 101st sample?</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If the answer is no, use the I-MR control chart.</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It is up to 4 ~ 5 that the 100th is the same environment.</a:t>
            </a:r>
            <a:br>
              <a:rPr kumimoji="1" lang="en-US" altLang="ko-KR" sz="1200" dirty="0">
                <a:solidFill>
                  <a:prstClr val="black"/>
                </a:solidFill>
                <a:latin typeface="굴림" pitchFamily="50" charset="-127"/>
                <a:ea typeface="굴림" pitchFamily="50" charset="-127"/>
              </a:rPr>
            </a:br>
            <a:r>
              <a:rPr kumimoji="1" lang="en-US" altLang="ko-KR" sz="1200" dirty="0">
                <a:solidFill>
                  <a:prstClr val="black"/>
                </a:solidFill>
                <a:latin typeface="굴림" pitchFamily="50" charset="-127"/>
                <a:ea typeface="굴림" pitchFamily="50" charset="-127"/>
              </a:rPr>
              <a:t>So the sampling for the control chart is selected from four to five such that the in-group characteristics are homogenous in continuous production.</a:t>
            </a:r>
          </a:p>
        </p:txBody>
      </p:sp>
      <p:sp>
        <p:nvSpPr>
          <p:cNvPr id="24" name="TextBox 23"/>
          <p:cNvSpPr txBox="1"/>
          <p:nvPr/>
        </p:nvSpPr>
        <p:spPr>
          <a:xfrm>
            <a:off x="118582" y="116635"/>
            <a:ext cx="3833614"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Draw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endParaRPr kumimoji="1" lang="ko-KR" altLang="en-US" sz="2000" b="1" dirty="0">
              <a:solidFill>
                <a:prstClr val="black"/>
              </a:solidFill>
              <a:ea typeface="굴림" pitchFamily="50" charset="-127"/>
            </a:endParaRPr>
          </a:p>
        </p:txBody>
      </p:sp>
      <p:sp>
        <p:nvSpPr>
          <p:cNvPr id="2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276</a:t>
            </a:fld>
            <a:endParaRPr lang="ko-KR" altLang="en-US" sz="1200" dirty="0">
              <a:solidFill>
                <a:prstClr val="black"/>
              </a:solidFill>
            </a:endParaRPr>
          </a:p>
        </p:txBody>
      </p:sp>
    </p:spTree>
    <p:extLst>
      <p:ext uri="{BB962C8B-B14F-4D97-AF65-F5344CB8AC3E}">
        <p14:creationId xmlns:p14="http://schemas.microsoft.com/office/powerpoint/2010/main" val="115692469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84458" y="856341"/>
            <a:ext cx="1308371"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dirty="0">
                <a:solidFill>
                  <a:prstClr val="black"/>
                </a:solidFill>
                <a:latin typeface="굴림" pitchFamily="50" charset="-127"/>
                <a:ea typeface="굴림" pitchFamily="50" charset="-127"/>
              </a:rPr>
              <a:t>Draw points</a:t>
            </a:r>
            <a:endParaRPr kumimoji="1" lang="ko-KR" altLang="en-US" sz="1600" b="1" u="sng" dirty="0">
              <a:solidFill>
                <a:prstClr val="black"/>
              </a:solidFill>
              <a:latin typeface="굴림" pitchFamily="50" charset="-127"/>
              <a:ea typeface="굴림" pitchFamily="50" charset="-127"/>
            </a:endParaRPr>
          </a:p>
        </p:txBody>
      </p:sp>
      <p:pic>
        <p:nvPicPr>
          <p:cNvPr id="23930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583" y="1484784"/>
            <a:ext cx="5383983" cy="40324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9309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01675" y="4077072"/>
            <a:ext cx="3090805" cy="223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93093"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01675" y="1484784"/>
            <a:ext cx="3090805" cy="223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7097822" y="1124746"/>
            <a:ext cx="946093"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Average</a:t>
            </a:r>
            <a:endParaRPr kumimoji="1" lang="ko-KR" altLang="en-US" sz="1600" b="1" dirty="0">
              <a:solidFill>
                <a:prstClr val="black"/>
              </a:solidFill>
              <a:latin typeface="굴림" pitchFamily="50" charset="-127"/>
              <a:ea typeface="굴림" pitchFamily="50" charset="-127"/>
            </a:endParaRPr>
          </a:p>
        </p:txBody>
      </p:sp>
      <p:sp>
        <p:nvSpPr>
          <p:cNvPr id="11" name="TextBox 10"/>
          <p:cNvSpPr txBox="1"/>
          <p:nvPr/>
        </p:nvSpPr>
        <p:spPr>
          <a:xfrm>
            <a:off x="7097822" y="3717034"/>
            <a:ext cx="785793"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Range</a:t>
            </a:r>
            <a:endParaRPr kumimoji="1" lang="ko-KR" altLang="en-US" sz="1600" b="1" dirty="0">
              <a:solidFill>
                <a:prstClr val="black"/>
              </a:solidFill>
              <a:latin typeface="굴림" pitchFamily="50" charset="-127"/>
              <a:ea typeface="굴림" pitchFamily="50" charset="-127"/>
            </a:endParaRPr>
          </a:p>
        </p:txBody>
      </p:sp>
      <p:sp>
        <p:nvSpPr>
          <p:cNvPr id="12" name="TextBox 11"/>
          <p:cNvSpPr txBox="1"/>
          <p:nvPr/>
        </p:nvSpPr>
        <p:spPr>
          <a:xfrm>
            <a:off x="6786578" y="3416476"/>
            <a:ext cx="1407758" cy="332399"/>
          </a:xfrm>
          <a:prstGeom prst="rect">
            <a:avLst/>
          </a:prstGeom>
          <a:solidFill>
            <a:schemeClr val="bg1">
              <a:lumMod val="75000"/>
            </a:schemeClr>
          </a:solid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Proceeding order</a:t>
            </a:r>
            <a:endParaRPr kumimoji="1" lang="ko-KR" altLang="en-US" sz="1200" b="1" dirty="0">
              <a:solidFill>
                <a:prstClr val="black"/>
              </a:solidFill>
              <a:latin typeface="굴림" pitchFamily="50" charset="-127"/>
              <a:ea typeface="굴림" pitchFamily="50" charset="-127"/>
            </a:endParaRPr>
          </a:p>
        </p:txBody>
      </p:sp>
      <p:sp>
        <p:nvSpPr>
          <p:cNvPr id="13" name="TextBox 12"/>
          <p:cNvSpPr txBox="1"/>
          <p:nvPr/>
        </p:nvSpPr>
        <p:spPr>
          <a:xfrm>
            <a:off x="6786578" y="6021291"/>
            <a:ext cx="1407758" cy="298543"/>
          </a:xfrm>
          <a:prstGeom prst="rect">
            <a:avLst/>
          </a:prstGeom>
          <a:solidFill>
            <a:schemeClr val="bg1">
              <a:lumMod val="75000"/>
            </a:schemeClr>
          </a:solid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Proceeding order</a:t>
            </a:r>
            <a:endParaRPr kumimoji="1" lang="ko-KR" altLang="en-US" sz="1200" b="1" dirty="0">
              <a:solidFill>
                <a:prstClr val="black"/>
              </a:solidFill>
              <a:latin typeface="굴림" pitchFamily="50" charset="-127"/>
              <a:ea typeface="굴림" pitchFamily="50" charset="-127"/>
            </a:endParaRPr>
          </a:p>
        </p:txBody>
      </p:sp>
      <p:cxnSp>
        <p:nvCxnSpPr>
          <p:cNvPr id="8" name="직선 연결선 7"/>
          <p:cNvCxnSpPr/>
          <p:nvPr/>
        </p:nvCxnSpPr>
        <p:spPr>
          <a:xfrm>
            <a:off x="6100785" y="2765688"/>
            <a:ext cx="26587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8350850" y="2529345"/>
            <a:ext cx="442750" cy="29238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000" b="1" dirty="0">
                <a:solidFill>
                  <a:srgbClr val="FF0000"/>
                </a:solidFill>
                <a:latin typeface="굴림" pitchFamily="50" charset="-127"/>
                <a:ea typeface="굴림" pitchFamily="50" charset="-127"/>
              </a:rPr>
              <a:t>7.83</a:t>
            </a:r>
            <a:endParaRPr kumimoji="1" lang="ko-KR" altLang="en-US" sz="1000" b="1" dirty="0">
              <a:solidFill>
                <a:srgbClr val="FF0000"/>
              </a:solidFill>
              <a:latin typeface="굴림" pitchFamily="50" charset="-127"/>
              <a:ea typeface="굴림" pitchFamily="50" charset="-127"/>
            </a:endParaRPr>
          </a:p>
        </p:txBody>
      </p:sp>
      <p:cxnSp>
        <p:nvCxnSpPr>
          <p:cNvPr id="17" name="직선 연결선 16"/>
          <p:cNvCxnSpPr/>
          <p:nvPr/>
        </p:nvCxnSpPr>
        <p:spPr>
          <a:xfrm>
            <a:off x="6100785" y="5129361"/>
            <a:ext cx="26587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8350850" y="4893018"/>
            <a:ext cx="370614" cy="29238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000" b="1" dirty="0">
                <a:solidFill>
                  <a:srgbClr val="FF0000"/>
                </a:solidFill>
                <a:latin typeface="굴림" pitchFamily="50" charset="-127"/>
                <a:ea typeface="굴림" pitchFamily="50" charset="-127"/>
              </a:rPr>
              <a:t>0.2</a:t>
            </a:r>
            <a:endParaRPr kumimoji="1" lang="ko-KR" altLang="en-US" sz="1000" b="1" dirty="0">
              <a:solidFill>
                <a:srgbClr val="FF0000"/>
              </a:solidFill>
              <a:latin typeface="굴림" pitchFamily="50" charset="-127"/>
              <a:ea typeface="굴림" pitchFamily="50" charset="-127"/>
            </a:endParaRPr>
          </a:p>
        </p:txBody>
      </p:sp>
      <p:sp>
        <p:nvSpPr>
          <p:cNvPr id="10" name="직사각형 9"/>
          <p:cNvSpPr/>
          <p:nvPr/>
        </p:nvSpPr>
        <p:spPr>
          <a:xfrm>
            <a:off x="3343779" y="1484784"/>
            <a:ext cx="564342" cy="403244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0" name="직사각형 19"/>
          <p:cNvSpPr/>
          <p:nvPr/>
        </p:nvSpPr>
        <p:spPr>
          <a:xfrm>
            <a:off x="4959253" y="1509836"/>
            <a:ext cx="564342" cy="400739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15" name="꺾인 연결선 14"/>
          <p:cNvCxnSpPr>
            <a:stCxn id="10" idx="0"/>
            <a:endCxn id="6" idx="0"/>
          </p:cNvCxnSpPr>
          <p:nvPr/>
        </p:nvCxnSpPr>
        <p:spPr>
          <a:xfrm rot="5400000" flipH="1" flipV="1">
            <a:off x="5418390" y="-667694"/>
            <a:ext cx="360038" cy="3944919"/>
          </a:xfrm>
          <a:prstGeom prst="bentConnector3">
            <a:avLst>
              <a:gd name="adj1" fmla="val 16349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2393091" idx="3"/>
            <a:endCxn id="2393092" idx="1"/>
          </p:cNvCxnSpPr>
          <p:nvPr/>
        </p:nvCxnSpPr>
        <p:spPr>
          <a:xfrm>
            <a:off x="5502565" y="3501008"/>
            <a:ext cx="299110" cy="1692188"/>
          </a:xfrm>
          <a:prstGeom prst="bentConnector3">
            <a:avLst>
              <a:gd name="adj1" fmla="val 50000"/>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18582" y="116635"/>
            <a:ext cx="3833614"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Draw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endParaRPr kumimoji="1" lang="ko-KR" altLang="en-US" sz="2000" b="1" dirty="0">
              <a:solidFill>
                <a:prstClr val="black"/>
              </a:solidFill>
              <a:ea typeface="굴림" pitchFamily="50" charset="-127"/>
            </a:endParaRPr>
          </a:p>
        </p:txBody>
      </p:sp>
      <p:sp>
        <p:nvSpPr>
          <p:cNvPr id="24"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277</a:t>
            </a:fld>
            <a:endParaRPr lang="ko-KR" altLang="en-US" sz="1200" dirty="0">
              <a:solidFill>
                <a:prstClr val="black"/>
              </a:solidFill>
            </a:endParaRPr>
          </a:p>
        </p:txBody>
      </p:sp>
    </p:spTree>
    <p:extLst>
      <p:ext uri="{BB962C8B-B14F-4D97-AF65-F5344CB8AC3E}">
        <p14:creationId xmlns:p14="http://schemas.microsoft.com/office/powerpoint/2010/main" val="3158829766"/>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4459" y="856342"/>
            <a:ext cx="4273927" cy="3769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Phương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pháp</a:t>
            </a:r>
            <a:r>
              <a:rPr kumimoji="1" lang="en-US" altLang="ko-KR" sz="1600" b="1" dirty="0">
                <a:solidFill>
                  <a:prstClr val="black"/>
                </a:solidFill>
                <a:latin typeface="굴림" pitchFamily="50" charset="-127"/>
                <a:ea typeface="굴림" pitchFamily="50" charset="-127"/>
              </a:rPr>
              <a:t> sample </a:t>
            </a:r>
            <a:r>
              <a:rPr kumimoji="1" lang="en-US" altLang="ko-KR" sz="1600" b="1" dirty="0" err="1">
                <a:solidFill>
                  <a:prstClr val="black"/>
                </a:solidFill>
                <a:latin typeface="굴림" pitchFamily="50" charset="-127"/>
                <a:ea typeface="굴림" pitchFamily="50" charset="-127"/>
              </a:rPr>
              <a:t>lần</a:t>
            </a:r>
            <a:r>
              <a:rPr kumimoji="1" lang="en-US" altLang="ko-KR" sz="1600" b="1" dirty="0">
                <a:solidFill>
                  <a:prstClr val="black"/>
                </a:solidFill>
                <a:latin typeface="굴림" pitchFamily="50" charset="-127"/>
                <a:ea typeface="굴림" pitchFamily="50" charset="-127"/>
              </a:rPr>
              <a:t> 1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sampling</a:t>
            </a:r>
            <a:endParaRPr kumimoji="1" lang="ko-KR" altLang="en-US" sz="1600" b="1" dirty="0">
              <a:solidFill>
                <a:prstClr val="black"/>
              </a:solidFill>
              <a:latin typeface="굴림" pitchFamily="50" charset="-127"/>
              <a:ea typeface="굴림" pitchFamily="50" charset="-127"/>
            </a:endParaRPr>
          </a:p>
        </p:txBody>
      </p:sp>
      <p:sp>
        <p:nvSpPr>
          <p:cNvPr id="5" name="원통 4"/>
          <p:cNvSpPr/>
          <p:nvPr/>
        </p:nvSpPr>
        <p:spPr>
          <a:xfrm rot="16200000">
            <a:off x="1303945" y="1534638"/>
            <a:ext cx="1152128" cy="2060537"/>
          </a:xfrm>
          <a:prstGeom prst="can">
            <a:avLst>
              <a:gd name="adj" fmla="val 34785"/>
            </a:avLst>
          </a:prstGeom>
          <a:solidFill>
            <a:schemeClr val="bg1">
              <a:lumMod val="6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dirty="0">
              <a:solidFill>
                <a:prstClr val="white"/>
              </a:solidFill>
            </a:endParaRPr>
          </a:p>
        </p:txBody>
      </p:sp>
      <p:sp>
        <p:nvSpPr>
          <p:cNvPr id="7" name="자유형 6"/>
          <p:cNvSpPr/>
          <p:nvPr/>
        </p:nvSpPr>
        <p:spPr>
          <a:xfrm>
            <a:off x="1979713" y="2564905"/>
            <a:ext cx="601311" cy="720080"/>
          </a:xfrm>
          <a:custGeom>
            <a:avLst/>
            <a:gdLst>
              <a:gd name="connsiteX0" fmla="*/ 87682 w 939452"/>
              <a:gd name="connsiteY0" fmla="*/ 0 h 1077238"/>
              <a:gd name="connsiteX1" fmla="*/ 939452 w 939452"/>
              <a:gd name="connsiteY1" fmla="*/ 839243 h 1077238"/>
              <a:gd name="connsiteX2" fmla="*/ 676405 w 939452"/>
              <a:gd name="connsiteY2" fmla="*/ 1077238 h 1077238"/>
              <a:gd name="connsiteX3" fmla="*/ 0 w 939452"/>
              <a:gd name="connsiteY3" fmla="*/ 475989 h 1077238"/>
              <a:gd name="connsiteX4" fmla="*/ 87682 w 939452"/>
              <a:gd name="connsiteY4" fmla="*/ 0 h 107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452" h="1077238">
                <a:moveTo>
                  <a:pt x="87682" y="0"/>
                </a:moveTo>
                <a:lnTo>
                  <a:pt x="939452" y="839243"/>
                </a:lnTo>
                <a:lnTo>
                  <a:pt x="676405" y="1077238"/>
                </a:lnTo>
                <a:lnTo>
                  <a:pt x="0" y="475989"/>
                </a:lnTo>
                <a:lnTo>
                  <a:pt x="87682"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8" name="원호 7"/>
          <p:cNvSpPr/>
          <p:nvPr/>
        </p:nvSpPr>
        <p:spPr>
          <a:xfrm>
            <a:off x="2444996" y="1988841"/>
            <a:ext cx="664689" cy="1080120"/>
          </a:xfrm>
          <a:prstGeom prst="arc">
            <a:avLst>
              <a:gd name="adj1" fmla="val 16374311"/>
              <a:gd name="adj2" fmla="val 64732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fontAlgn="base">
              <a:spcBef>
                <a:spcPct val="0"/>
              </a:spcBef>
              <a:spcAft>
                <a:spcPct val="0"/>
              </a:spcAft>
            </a:pPr>
            <a:endParaRPr kumimoji="1" lang="ko-KR" altLang="en-US">
              <a:solidFill>
                <a:prstClr val="black"/>
              </a:solidFill>
            </a:endParaRPr>
          </a:p>
        </p:txBody>
      </p:sp>
      <p:sp>
        <p:nvSpPr>
          <p:cNvPr id="11" name="TextBox 10"/>
          <p:cNvSpPr txBox="1"/>
          <p:nvPr/>
        </p:nvSpPr>
        <p:spPr>
          <a:xfrm>
            <a:off x="1381493" y="1439968"/>
            <a:ext cx="1316386"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u="sng" dirty="0" err="1">
                <a:solidFill>
                  <a:prstClr val="black"/>
                </a:solidFill>
                <a:latin typeface="굴림" pitchFamily="50" charset="-127"/>
                <a:ea typeface="굴림" pitchFamily="50" charset="-127"/>
              </a:rPr>
              <a:t>Gia</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công</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tiện</a:t>
            </a:r>
            <a:endParaRPr kumimoji="1" lang="ko-KR" altLang="en-US" sz="1400" u="sng" dirty="0">
              <a:solidFill>
                <a:prstClr val="black"/>
              </a:solidFill>
              <a:latin typeface="굴림" pitchFamily="50" charset="-127"/>
              <a:ea typeface="굴림" pitchFamily="50" charset="-127"/>
            </a:endParaRPr>
          </a:p>
        </p:txBody>
      </p:sp>
      <p:sp>
        <p:nvSpPr>
          <p:cNvPr id="12" name="TextBox 11"/>
          <p:cNvSpPr txBox="1"/>
          <p:nvPr/>
        </p:nvSpPr>
        <p:spPr>
          <a:xfrm>
            <a:off x="4038600" y="1439968"/>
            <a:ext cx="5099473"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u="sng" dirty="0" err="1">
                <a:solidFill>
                  <a:prstClr val="black"/>
                </a:solidFill>
                <a:latin typeface="굴림" pitchFamily="50" charset="-127"/>
                <a:ea typeface="굴림" pitchFamily="50" charset="-127"/>
              </a:rPr>
              <a:t>Kích</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thước</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đường</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kính</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ngoài</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sau</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khi</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thay</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đổi</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công</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cụ</a:t>
            </a:r>
            <a:r>
              <a:rPr kumimoji="1" lang="en-US" altLang="ko-KR" sz="1400" u="sng" dirty="0">
                <a:solidFill>
                  <a:prstClr val="black"/>
                </a:solidFill>
                <a:latin typeface="굴림" pitchFamily="50" charset="-127"/>
                <a:ea typeface="굴림" pitchFamily="50" charset="-127"/>
              </a:rPr>
              <a:t> </a:t>
            </a:r>
            <a:r>
              <a:rPr kumimoji="1" lang="en-US" altLang="ko-KR" sz="1400" u="sng" dirty="0" err="1">
                <a:solidFill>
                  <a:prstClr val="black"/>
                </a:solidFill>
                <a:latin typeface="굴림" pitchFamily="50" charset="-127"/>
                <a:ea typeface="굴림" pitchFamily="50" charset="-127"/>
              </a:rPr>
              <a:t>cắt</a:t>
            </a:r>
            <a:endParaRPr kumimoji="1" lang="ko-KR" altLang="en-US" sz="1400" u="sng" dirty="0">
              <a:solidFill>
                <a:prstClr val="black"/>
              </a:solidFill>
              <a:latin typeface="굴림" pitchFamily="50" charset="-127"/>
              <a:ea typeface="굴림" pitchFamily="50" charset="-127"/>
            </a:endParaRPr>
          </a:p>
        </p:txBody>
      </p:sp>
      <p:sp>
        <p:nvSpPr>
          <p:cNvPr id="13" name="TextBox 12"/>
          <p:cNvSpPr txBox="1"/>
          <p:nvPr/>
        </p:nvSpPr>
        <p:spPr>
          <a:xfrm>
            <a:off x="0" y="3538276"/>
            <a:ext cx="4265911" cy="2252924"/>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Trong</a:t>
            </a:r>
            <a:r>
              <a:rPr kumimoji="1" lang="en-US" altLang="ko-KR" sz="1200" dirty="0">
                <a:solidFill>
                  <a:prstClr val="black"/>
                </a:solidFill>
                <a:latin typeface="굴림" pitchFamily="50" charset="-127"/>
                <a:ea typeface="굴림" pitchFamily="50" charset="-127"/>
              </a:rPr>
              <a:t> process </a:t>
            </a:r>
            <a:r>
              <a:rPr kumimoji="1" lang="en-US" altLang="ko-KR" sz="1200" dirty="0" err="1">
                <a:solidFill>
                  <a:prstClr val="black"/>
                </a:solidFill>
                <a:latin typeface="굴림" pitchFamily="50" charset="-127"/>
                <a:ea typeface="굴림" pitchFamily="50" charset="-127"/>
              </a:rPr>
              <a:t>gia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tiện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tiến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hành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gia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thép</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và</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quản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lý</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chỉ</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đường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kính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ngoài</a:t>
            </a:r>
            <a:r>
              <a:rPr kumimoji="1" lang="en-US" altLang="ko-KR" sz="1200" dirty="0">
                <a:solidFill>
                  <a:prstClr val="black"/>
                </a:solidFill>
                <a:latin typeface="굴림" pitchFamily="50" charset="-127"/>
                <a:ea typeface="굴림" pitchFamily="50" charset="-127"/>
              </a:rPr>
              <a:t>.</a:t>
            </a: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Bite </a:t>
            </a:r>
            <a:r>
              <a:rPr kumimoji="1" lang="en-US" altLang="ko-KR" sz="1200" dirty="0" err="1">
                <a:solidFill>
                  <a:prstClr val="black"/>
                </a:solidFill>
                <a:latin typeface="굴림" pitchFamily="50" charset="-127"/>
                <a:ea typeface="굴림" pitchFamily="50" charset="-127"/>
              </a:rPr>
              <a:t>của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máy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tiện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tùy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theo</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lượng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được</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gia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sẽ</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phát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sinh</a:t>
            </a:r>
            <a:r>
              <a:rPr kumimoji="1" lang="en-US" altLang="ko-KR" sz="1200" dirty="0">
                <a:solidFill>
                  <a:prstClr val="black"/>
                </a:solidFill>
                <a:latin typeface="굴림" pitchFamily="50" charset="-127"/>
                <a:ea typeface="굴림" pitchFamily="50" charset="-127"/>
              </a:rPr>
              <a:t> ma </a:t>
            </a:r>
            <a:r>
              <a:rPr kumimoji="1" lang="en-US" altLang="ko-KR" sz="1200" dirty="0" err="1">
                <a:solidFill>
                  <a:prstClr val="black"/>
                </a:solidFill>
                <a:latin typeface="굴림" pitchFamily="50" charset="-127"/>
                <a:ea typeface="굴림" pitchFamily="50" charset="-127"/>
              </a:rPr>
              <a:t>sát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nếu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đạt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đến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giới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hạn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tới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giới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hạn</a:t>
            </a:r>
            <a:r>
              <a:rPr kumimoji="1" lang="en-US" altLang="ko-KR" sz="1200"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tuổi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thọ</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thì</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phải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thay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đổi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cụ</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Nếu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không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thay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đổi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cụ</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sẽ</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phát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sinh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không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đạt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về</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độ</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sáng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của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mặt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gia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a:t>
            </a:r>
            <a:r>
              <a:rPr kumimoji="1" lang="en-US" altLang="ko-KR" sz="1200" dirty="0" err="1">
                <a:solidFill>
                  <a:prstClr val="black"/>
                </a:solidFill>
                <a:latin typeface="굴림" pitchFamily="50" charset="-127"/>
                <a:ea typeface="굴림" pitchFamily="50" charset="-127"/>
              </a:rPr>
              <a:t>Gồ</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ghề</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Chỉ</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đường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kính</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ngoài</a:t>
            </a:r>
            <a:endParaRPr kumimoji="1" lang="ko-KR" altLang="en-US" sz="1200" dirty="0">
              <a:solidFill>
                <a:prstClr val="black"/>
              </a:solidFill>
              <a:latin typeface="굴림" pitchFamily="50" charset="-127"/>
              <a:ea typeface="굴림" pitchFamily="50" charset="-127"/>
            </a:endParaRPr>
          </a:p>
        </p:txBody>
      </p:sp>
      <p:cxnSp>
        <p:nvCxnSpPr>
          <p:cNvPr id="15" name="직선 연결선 14"/>
          <p:cNvCxnSpPr/>
          <p:nvPr/>
        </p:nvCxnSpPr>
        <p:spPr>
          <a:xfrm>
            <a:off x="4900150" y="2132856"/>
            <a:ext cx="33234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연결선 15"/>
          <p:cNvCxnSpPr/>
          <p:nvPr/>
        </p:nvCxnSpPr>
        <p:spPr>
          <a:xfrm>
            <a:off x="4900150" y="3212976"/>
            <a:ext cx="33234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8290065" y="1916834"/>
            <a:ext cx="580608"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UCL</a:t>
            </a:r>
            <a:endParaRPr kumimoji="1" lang="ko-KR" altLang="en-US" sz="1600" b="1" dirty="0">
              <a:solidFill>
                <a:prstClr val="black"/>
              </a:solidFill>
              <a:latin typeface="굴림" pitchFamily="50" charset="-127"/>
              <a:ea typeface="굴림" pitchFamily="50" charset="-127"/>
            </a:endParaRPr>
          </a:p>
        </p:txBody>
      </p:sp>
      <p:sp>
        <p:nvSpPr>
          <p:cNvPr id="19" name="TextBox 18"/>
          <p:cNvSpPr txBox="1"/>
          <p:nvPr/>
        </p:nvSpPr>
        <p:spPr>
          <a:xfrm>
            <a:off x="8290067" y="2996954"/>
            <a:ext cx="546945"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LCL</a:t>
            </a:r>
            <a:endParaRPr kumimoji="1" lang="ko-KR" altLang="en-US" sz="1600" b="1" dirty="0">
              <a:solidFill>
                <a:prstClr val="black"/>
              </a:solidFill>
              <a:latin typeface="굴림" pitchFamily="50" charset="-127"/>
              <a:ea typeface="굴림" pitchFamily="50" charset="-127"/>
            </a:endParaRPr>
          </a:p>
        </p:txBody>
      </p:sp>
      <p:sp>
        <p:nvSpPr>
          <p:cNvPr id="20" name="자유형 19"/>
          <p:cNvSpPr/>
          <p:nvPr/>
        </p:nvSpPr>
        <p:spPr>
          <a:xfrm>
            <a:off x="4966620"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25" name="직선 연결선 24"/>
          <p:cNvCxnSpPr>
            <a:endCxn id="20" idx="1"/>
          </p:cNvCxnSpPr>
          <p:nvPr/>
        </p:nvCxnSpPr>
        <p:spPr>
          <a:xfrm flipV="1">
            <a:off x="4966620"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자유형 27"/>
          <p:cNvSpPr/>
          <p:nvPr/>
        </p:nvSpPr>
        <p:spPr>
          <a:xfrm>
            <a:off x="5697777"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29" name="직선 연결선 28"/>
          <p:cNvCxnSpPr>
            <a:endCxn id="28" idx="1"/>
          </p:cNvCxnSpPr>
          <p:nvPr/>
        </p:nvCxnSpPr>
        <p:spPr>
          <a:xfrm flipV="1">
            <a:off x="5697777"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자유형 29"/>
          <p:cNvSpPr/>
          <p:nvPr/>
        </p:nvSpPr>
        <p:spPr>
          <a:xfrm>
            <a:off x="6428935"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31" name="직선 연결선 30"/>
          <p:cNvCxnSpPr>
            <a:endCxn id="30" idx="1"/>
          </p:cNvCxnSpPr>
          <p:nvPr/>
        </p:nvCxnSpPr>
        <p:spPr>
          <a:xfrm flipV="1">
            <a:off x="6428935"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자유형 31"/>
          <p:cNvSpPr/>
          <p:nvPr/>
        </p:nvSpPr>
        <p:spPr>
          <a:xfrm>
            <a:off x="7160094" y="2132859"/>
            <a:ext cx="728437" cy="1089765"/>
          </a:xfrm>
          <a:custGeom>
            <a:avLst/>
            <a:gdLst>
              <a:gd name="connsiteX0" fmla="*/ 0 w 789140"/>
              <a:gd name="connsiteY0" fmla="*/ 1089765 h 1089765"/>
              <a:gd name="connsiteX1" fmla="*/ 789140 w 789140"/>
              <a:gd name="connsiteY1" fmla="*/ 0 h 1089765"/>
              <a:gd name="connsiteX2" fmla="*/ 776614 w 789140"/>
              <a:gd name="connsiteY2" fmla="*/ 1052187 h 1089765"/>
            </a:gdLst>
            <a:ahLst/>
            <a:cxnLst>
              <a:cxn ang="0">
                <a:pos x="connsiteX0" y="connsiteY0"/>
              </a:cxn>
              <a:cxn ang="0">
                <a:pos x="connsiteX1" y="connsiteY1"/>
              </a:cxn>
              <a:cxn ang="0">
                <a:pos x="connsiteX2" y="connsiteY2"/>
              </a:cxn>
            </a:cxnLst>
            <a:rect l="l" t="t" r="r" b="b"/>
            <a:pathLst>
              <a:path w="789140" h="1089765">
                <a:moveTo>
                  <a:pt x="0" y="1089765"/>
                </a:moveTo>
                <a:lnTo>
                  <a:pt x="789140" y="0"/>
                </a:lnTo>
                <a:lnTo>
                  <a:pt x="776614" y="1052187"/>
                </a:lnTo>
              </a:path>
            </a:pathLst>
          </a:cu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33" name="직선 연결선 32"/>
          <p:cNvCxnSpPr>
            <a:endCxn id="32" idx="1"/>
          </p:cNvCxnSpPr>
          <p:nvPr/>
        </p:nvCxnSpPr>
        <p:spPr>
          <a:xfrm flipV="1">
            <a:off x="7160094" y="2132856"/>
            <a:ext cx="728437" cy="10801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4163893" y="3429000"/>
            <a:ext cx="4903907" cy="2973122"/>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Khi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giả</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định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tuổi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thọ</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của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cụ</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200 </a:t>
            </a:r>
            <a:r>
              <a:rPr kumimoji="1" lang="en-US" altLang="ko-KR" sz="1200" dirty="0" err="1">
                <a:solidFill>
                  <a:prstClr val="black"/>
                </a:solidFill>
                <a:latin typeface="굴림" pitchFamily="50" charset="-127"/>
                <a:ea typeface="굴림" pitchFamily="50" charset="-127"/>
              </a:rPr>
              <a:t>cái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bắt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đầu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từ</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sau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khi</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thay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đổi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cụ</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đến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lần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thay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đổi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cụ</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tiếp</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theo</a:t>
            </a:r>
            <a:r>
              <a:rPr kumimoji="1" lang="ko-KR" altLang="en-US"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đánh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dấu</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cho</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sản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phẩm</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chỉ</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của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1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nhỏ</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nhất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của</a:t>
            </a:r>
            <a:r>
              <a:rPr kumimoji="1" lang="en-US" altLang="ko-KR" sz="1200" dirty="0">
                <a:solidFill>
                  <a:prstClr val="black"/>
                </a:solidFill>
                <a:latin typeface="굴림" pitchFamily="50" charset="-127"/>
                <a:ea typeface="굴림" pitchFamily="50" charset="-127"/>
              </a:rPr>
              <a:t> 200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lớn</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nhất</a:t>
            </a:r>
            <a:r>
              <a:rPr kumimoji="1" lang="en-US" altLang="ko-KR" sz="1200" dirty="0">
                <a:solidFill>
                  <a:prstClr val="black"/>
                </a:solidFill>
                <a:latin typeface="굴림" pitchFamily="50" charset="-127"/>
                <a:ea typeface="굴림" pitchFamily="50" charset="-127"/>
              </a:rPr>
              <a:t>.</a:t>
            </a: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Lúc</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này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không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thể</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xem</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1 </a:t>
            </a:r>
            <a:r>
              <a:rPr kumimoji="1" lang="en-US" altLang="ko-KR" sz="1200" dirty="0" err="1">
                <a:solidFill>
                  <a:prstClr val="black"/>
                </a:solidFill>
                <a:latin typeface="굴림" pitchFamily="50" charset="-127"/>
                <a:ea typeface="굴림" pitchFamily="50" charset="-127"/>
              </a:rPr>
              <a:t>và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200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đồng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nhất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Nếu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vậy</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thì</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liệu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có</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thể</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tương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tự</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nhau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đến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mức</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nào</a:t>
            </a:r>
            <a:r>
              <a:rPr kumimoji="1" lang="en-US" altLang="ko-KR" sz="1200"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Ví</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dụ</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có</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thể</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xem</a:t>
            </a:r>
            <a:r>
              <a:rPr kumimoji="1" lang="en-US" altLang="ko-KR" sz="1200" dirty="0">
                <a:solidFill>
                  <a:prstClr val="black"/>
                </a:solidFill>
                <a:latin typeface="굴림" pitchFamily="50" charset="-127"/>
                <a:ea typeface="굴림" pitchFamily="50" charset="-127"/>
              </a:rPr>
              <a:t> sample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100 </a:t>
            </a:r>
            <a:r>
              <a:rPr kumimoji="1" lang="en-US" altLang="ko-KR" sz="1200" dirty="0" err="1">
                <a:solidFill>
                  <a:prstClr val="black"/>
                </a:solidFill>
                <a:latin typeface="굴림" pitchFamily="50" charset="-127"/>
                <a:ea typeface="굴림" pitchFamily="50" charset="-127"/>
              </a:rPr>
              <a:t>và</a:t>
            </a:r>
            <a:r>
              <a:rPr kumimoji="1" lang="en-US" altLang="ko-KR" sz="1200" dirty="0">
                <a:solidFill>
                  <a:prstClr val="black"/>
                </a:solidFill>
                <a:latin typeface="굴림" pitchFamily="50" charset="-127"/>
                <a:ea typeface="굴림" pitchFamily="50" charset="-127"/>
              </a:rPr>
              <a:t> sample </a:t>
            </a:r>
            <a:r>
              <a:rPr kumimoji="1" lang="en-US" altLang="ko-KR" sz="1200" dirty="0" err="1">
                <a:solidFill>
                  <a:prstClr val="black"/>
                </a:solidFill>
                <a:latin typeface="굴림" pitchFamily="50" charset="-127"/>
                <a:ea typeface="굴림" pitchFamily="50" charset="-127"/>
              </a:rPr>
              <a:t>thứ</a:t>
            </a:r>
            <a:r>
              <a:rPr kumimoji="1" lang="en-US" altLang="ko-KR" sz="1200" dirty="0">
                <a:solidFill>
                  <a:prstClr val="black"/>
                </a:solidFill>
                <a:latin typeface="굴림" pitchFamily="50" charset="-127"/>
                <a:ea typeface="굴림" pitchFamily="50" charset="-127"/>
              </a:rPr>
              <a:t> 101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điều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kiện</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đồng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nhất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Nếu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câu</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trả</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lời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không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thì</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lúc</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này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sử</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dụng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đồ</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thị</a:t>
            </a:r>
            <a:endParaRPr kumimoji="1" lang="en-US" altLang="ko-KR" sz="12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quản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lý</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quản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lý</a:t>
            </a:r>
            <a:r>
              <a:rPr kumimoji="1" lang="en-US" altLang="ko-KR" sz="1200" dirty="0">
                <a:solidFill>
                  <a:prstClr val="black"/>
                </a:solidFill>
                <a:latin typeface="굴림" pitchFamily="50" charset="-127"/>
                <a:ea typeface="굴림" pitchFamily="50" charset="-127"/>
              </a:rPr>
              <a:t> I-MR. </a:t>
            </a: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Tại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đây</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có</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thể</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xem</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số</a:t>
            </a:r>
            <a:r>
              <a:rPr kumimoji="1" lang="en-US" altLang="ko-KR" sz="1200" dirty="0">
                <a:solidFill>
                  <a:prstClr val="black"/>
                </a:solidFill>
                <a:latin typeface="굴림" pitchFamily="50" charset="-127"/>
                <a:ea typeface="굴림" pitchFamily="50" charset="-127"/>
              </a:rPr>
              <a:t> 100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đồng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nhất</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về</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môi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trường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là</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tối</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đa</a:t>
            </a:r>
            <a:r>
              <a:rPr kumimoji="1" lang="en-US" altLang="ko-KR" sz="1200"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Vì</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vậy</a:t>
            </a:r>
            <a:r>
              <a:rPr kumimoji="1" lang="en-US" altLang="ko-KR" sz="1200" dirty="0">
                <a:solidFill>
                  <a:prstClr val="black"/>
                </a:solidFill>
                <a:latin typeface="굴림" pitchFamily="50" charset="-127"/>
                <a:ea typeface="굴림" pitchFamily="50" charset="-127"/>
              </a:rPr>
              <a:t> sampling </a:t>
            </a:r>
            <a:r>
              <a:rPr kumimoji="1" lang="en-US" altLang="ko-KR" sz="1200" dirty="0" err="1">
                <a:solidFill>
                  <a:prstClr val="black"/>
                </a:solidFill>
                <a:latin typeface="굴림" pitchFamily="50" charset="-127"/>
                <a:ea typeface="굴림" pitchFamily="50" charset="-127"/>
              </a:rPr>
              <a:t>để</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tiến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hành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đồ</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thị</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quản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lý</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trong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truyền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sản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xuất</a:t>
            </a:r>
            <a:r>
              <a:rPr kumimoji="1" lang="en-US" altLang="ko-KR" sz="1200"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200" dirty="0" err="1">
                <a:solidFill>
                  <a:prstClr val="black"/>
                </a:solidFill>
                <a:latin typeface="굴림" pitchFamily="50" charset="-127"/>
                <a:ea typeface="굴림" pitchFamily="50" charset="-127"/>
              </a:rPr>
              <a:t>liên</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tục</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lựa</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chọn</a:t>
            </a:r>
            <a:r>
              <a:rPr kumimoji="1" lang="en-US" altLang="ko-KR" sz="1200" dirty="0">
                <a:solidFill>
                  <a:prstClr val="black"/>
                </a:solidFill>
                <a:latin typeface="굴림" pitchFamily="50" charset="-127"/>
                <a:ea typeface="굴림" pitchFamily="50" charset="-127"/>
              </a:rPr>
              <a:t> 4~5 </a:t>
            </a:r>
            <a:r>
              <a:rPr kumimoji="1" lang="en-US" altLang="ko-KR" sz="1200" dirty="0" err="1">
                <a:solidFill>
                  <a:prstClr val="black"/>
                </a:solidFill>
                <a:latin typeface="굴림" pitchFamily="50" charset="-127"/>
                <a:ea typeface="굴림" pitchFamily="50" charset="-127"/>
              </a:rPr>
              <a:t>để</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đặc</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tính</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trong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nhóm</a:t>
            </a:r>
            <a:r>
              <a:rPr kumimoji="1" lang="en-US" altLang="ko-KR" sz="1200" dirty="0">
                <a:solidFill>
                  <a:prstClr val="black"/>
                </a:solidFill>
                <a:latin typeface="굴림" pitchFamily="50" charset="-127"/>
                <a:ea typeface="굴림" pitchFamily="50" charset="-127"/>
              </a:rPr>
              <a:t> sample </a:t>
            </a:r>
            <a:r>
              <a:rPr kumimoji="1" lang="en-US" altLang="ko-KR" sz="1200" dirty="0" err="1">
                <a:solidFill>
                  <a:prstClr val="black"/>
                </a:solidFill>
                <a:latin typeface="굴림" pitchFamily="50" charset="-127"/>
                <a:ea typeface="굴림" pitchFamily="50" charset="-127"/>
              </a:rPr>
              <a:t>đồng</a:t>
            </a:r>
            <a:r>
              <a:rPr kumimoji="1" lang="en-US" altLang="ko-KR" sz="1200" dirty="0">
                <a:solidFill>
                  <a:prstClr val="black"/>
                </a:solidFill>
                <a:latin typeface="굴림" pitchFamily="50" charset="-127"/>
                <a:ea typeface="굴림" pitchFamily="50" charset="-127"/>
              </a:rPr>
              <a:t> </a:t>
            </a:r>
            <a:r>
              <a:rPr kumimoji="1" lang="en-US" altLang="ko-KR" sz="1200" dirty="0" err="1">
                <a:solidFill>
                  <a:prstClr val="black"/>
                </a:solidFill>
                <a:latin typeface="굴림" pitchFamily="50" charset="-127"/>
                <a:ea typeface="굴림" pitchFamily="50" charset="-127"/>
              </a:rPr>
              <a:t>nhất</a:t>
            </a:r>
            <a:endParaRPr kumimoji="1" lang="en-US" altLang="ko-KR" sz="1200" dirty="0">
              <a:solidFill>
                <a:prstClr val="black"/>
              </a:solidFill>
              <a:latin typeface="굴림" pitchFamily="50" charset="-127"/>
              <a:ea typeface="굴림" pitchFamily="50" charset="-127"/>
            </a:endParaRPr>
          </a:p>
        </p:txBody>
      </p:sp>
      <p:sp>
        <p:nvSpPr>
          <p:cNvPr id="24" name="TextBox 23"/>
          <p:cNvSpPr txBox="1"/>
          <p:nvPr/>
        </p:nvSpPr>
        <p:spPr>
          <a:xfrm>
            <a:off x="118582" y="116635"/>
            <a:ext cx="3546484"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a:t>
            </a:r>
            <a:r>
              <a:rPr kumimoji="1" lang="en-US" altLang="ko-KR" sz="2000" b="1" dirty="0" err="1">
                <a:solidFill>
                  <a:prstClr val="black"/>
                </a:solidFill>
                <a:ea typeface="굴림" pitchFamily="50" charset="-127"/>
              </a:rPr>
              <a:t>Vẽ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sp>
        <p:nvSpPr>
          <p:cNvPr id="2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278</a:t>
            </a:fld>
            <a:endParaRPr lang="ko-KR" altLang="en-US" sz="1200" dirty="0">
              <a:solidFill>
                <a:prstClr val="black"/>
              </a:solidFill>
            </a:endParaRPr>
          </a:p>
        </p:txBody>
      </p:sp>
    </p:spTree>
    <p:extLst>
      <p:ext uri="{BB962C8B-B14F-4D97-AF65-F5344CB8AC3E}">
        <p14:creationId xmlns:p14="http://schemas.microsoft.com/office/powerpoint/2010/main" val="1156924696"/>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84458" y="856341"/>
            <a:ext cx="1447832"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dirty="0" err="1">
                <a:solidFill>
                  <a:prstClr val="black"/>
                </a:solidFill>
                <a:latin typeface="굴림" pitchFamily="50" charset="-127"/>
                <a:ea typeface="굴림" pitchFamily="50" charset="-127"/>
              </a:rPr>
              <a:t>Vẽ</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đánh</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dấu</a:t>
            </a:r>
            <a:r>
              <a:rPr kumimoji="1" lang="ko-KR" altLang="en-US" sz="1600" b="1" u="sng" dirty="0">
                <a:solidFill>
                  <a:prstClr val="black"/>
                </a:solidFill>
                <a:latin typeface="굴림" pitchFamily="50" charset="-127"/>
                <a:ea typeface="굴림" pitchFamily="50" charset="-127"/>
              </a:rPr>
              <a:t> </a:t>
            </a:r>
          </a:p>
        </p:txBody>
      </p:sp>
      <p:pic>
        <p:nvPicPr>
          <p:cNvPr id="2393091"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8583" y="1484784"/>
            <a:ext cx="5383983" cy="40324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9309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01675" y="4077072"/>
            <a:ext cx="3090805" cy="223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93093"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01675" y="1484784"/>
            <a:ext cx="3090805" cy="223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7097822" y="1124746"/>
            <a:ext cx="1196161"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Trung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bình</a:t>
            </a:r>
            <a:endParaRPr kumimoji="1" lang="ko-KR" altLang="en-US" sz="1600" b="1" dirty="0">
              <a:solidFill>
                <a:prstClr val="black"/>
              </a:solidFill>
              <a:latin typeface="굴림" pitchFamily="50" charset="-127"/>
              <a:ea typeface="굴림" pitchFamily="50" charset="-127"/>
            </a:endParaRPr>
          </a:p>
        </p:txBody>
      </p:sp>
      <p:sp>
        <p:nvSpPr>
          <p:cNvPr id="11" name="TextBox 10"/>
          <p:cNvSpPr txBox="1"/>
          <p:nvPr/>
        </p:nvSpPr>
        <p:spPr>
          <a:xfrm>
            <a:off x="7097822" y="3717034"/>
            <a:ext cx="931665" cy="3769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Phạm</a:t>
            </a:r>
            <a:r>
              <a:rPr kumimoji="1" lang="en-US" altLang="ko-KR" sz="1600" b="1" dirty="0">
                <a:solidFill>
                  <a:prstClr val="black"/>
                </a:solidFill>
                <a:latin typeface="굴림" pitchFamily="50" charset="-127"/>
                <a:ea typeface="굴림" pitchFamily="50" charset="-127"/>
              </a:rPr>
              <a:t> vi</a:t>
            </a:r>
            <a:endParaRPr kumimoji="1" lang="ko-KR" altLang="en-US" sz="1600" b="1" dirty="0">
              <a:solidFill>
                <a:prstClr val="black"/>
              </a:solidFill>
              <a:latin typeface="굴림" pitchFamily="50" charset="-127"/>
              <a:ea typeface="굴림" pitchFamily="50" charset="-127"/>
            </a:endParaRPr>
          </a:p>
        </p:txBody>
      </p:sp>
      <p:sp>
        <p:nvSpPr>
          <p:cNvPr id="12" name="TextBox 11"/>
          <p:cNvSpPr txBox="1"/>
          <p:nvPr/>
        </p:nvSpPr>
        <p:spPr>
          <a:xfrm>
            <a:off x="7005321" y="3416476"/>
            <a:ext cx="1388522" cy="332399"/>
          </a:xfrm>
          <a:prstGeom prst="rect">
            <a:avLst/>
          </a:prstGeom>
          <a:solidFill>
            <a:schemeClr val="bg1">
              <a:lumMod val="75000"/>
            </a:schemeClr>
          </a:solidFill>
        </p:spPr>
        <p:txBody>
          <a:bodyPr wrap="none" rtlCol="0">
            <a:spAutoFit/>
          </a:bodyPr>
          <a:lstStyle/>
          <a:p>
            <a:pPr fontAlgn="base">
              <a:lnSpc>
                <a:spcPct val="130000"/>
              </a:lnSpc>
              <a:spcBef>
                <a:spcPct val="0"/>
              </a:spcBef>
              <a:spcAft>
                <a:spcPct val="0"/>
              </a:spcAft>
              <a:buClr>
                <a:srgbClr val="C5003D"/>
              </a:buClr>
            </a:pPr>
            <a:r>
              <a:rPr kumimoji="1" lang="en-US" altLang="ko-KR" sz="1200" b="1" dirty="0" err="1">
                <a:solidFill>
                  <a:prstClr val="black"/>
                </a:solidFill>
                <a:latin typeface="굴림" pitchFamily="50" charset="-127"/>
                <a:ea typeface="굴림" pitchFamily="50" charset="-127"/>
              </a:rPr>
              <a:t>Thứ</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tự</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tiến</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hành</a:t>
            </a:r>
            <a:endParaRPr kumimoji="1" lang="ko-KR" altLang="en-US" sz="1200" b="1" dirty="0">
              <a:solidFill>
                <a:prstClr val="black"/>
              </a:solidFill>
              <a:latin typeface="굴림" pitchFamily="50" charset="-127"/>
              <a:ea typeface="굴림" pitchFamily="50" charset="-127"/>
            </a:endParaRPr>
          </a:p>
        </p:txBody>
      </p:sp>
      <p:sp>
        <p:nvSpPr>
          <p:cNvPr id="13" name="TextBox 12"/>
          <p:cNvSpPr txBox="1"/>
          <p:nvPr/>
        </p:nvSpPr>
        <p:spPr>
          <a:xfrm>
            <a:off x="7005321" y="6021291"/>
            <a:ext cx="1388522" cy="332399"/>
          </a:xfrm>
          <a:prstGeom prst="rect">
            <a:avLst/>
          </a:prstGeom>
          <a:solidFill>
            <a:schemeClr val="bg1">
              <a:lumMod val="75000"/>
            </a:schemeClr>
          </a:solidFill>
        </p:spPr>
        <p:txBody>
          <a:bodyPr wrap="none" rtlCol="0">
            <a:spAutoFit/>
          </a:bodyPr>
          <a:lstStyle/>
          <a:p>
            <a:pPr fontAlgn="base">
              <a:lnSpc>
                <a:spcPct val="130000"/>
              </a:lnSpc>
              <a:spcBef>
                <a:spcPct val="0"/>
              </a:spcBef>
              <a:spcAft>
                <a:spcPct val="0"/>
              </a:spcAft>
              <a:buClr>
                <a:srgbClr val="C5003D"/>
              </a:buClr>
            </a:pPr>
            <a:r>
              <a:rPr kumimoji="1" lang="en-US" altLang="ko-KR" sz="1200" b="1" dirty="0" err="1">
                <a:solidFill>
                  <a:prstClr val="black"/>
                </a:solidFill>
                <a:latin typeface="굴림" pitchFamily="50" charset="-127"/>
                <a:ea typeface="굴림" pitchFamily="50" charset="-127"/>
              </a:rPr>
              <a:t>Thứ</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tự</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tiến</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hành</a:t>
            </a:r>
            <a:endParaRPr kumimoji="1" lang="ko-KR" altLang="en-US" sz="1200" b="1" dirty="0">
              <a:solidFill>
                <a:prstClr val="black"/>
              </a:solidFill>
              <a:latin typeface="굴림" pitchFamily="50" charset="-127"/>
              <a:ea typeface="굴림" pitchFamily="50" charset="-127"/>
            </a:endParaRPr>
          </a:p>
        </p:txBody>
      </p:sp>
      <p:cxnSp>
        <p:nvCxnSpPr>
          <p:cNvPr id="8" name="직선 연결선 7"/>
          <p:cNvCxnSpPr/>
          <p:nvPr/>
        </p:nvCxnSpPr>
        <p:spPr>
          <a:xfrm>
            <a:off x="6100785" y="2765688"/>
            <a:ext cx="26587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8350850" y="2529345"/>
            <a:ext cx="442750" cy="29238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000" b="1" dirty="0">
                <a:solidFill>
                  <a:srgbClr val="FF0000"/>
                </a:solidFill>
                <a:latin typeface="굴림" pitchFamily="50" charset="-127"/>
                <a:ea typeface="굴림" pitchFamily="50" charset="-127"/>
              </a:rPr>
              <a:t>7.83</a:t>
            </a:r>
            <a:endParaRPr kumimoji="1" lang="ko-KR" altLang="en-US" sz="1000" b="1" dirty="0">
              <a:solidFill>
                <a:srgbClr val="FF0000"/>
              </a:solidFill>
              <a:latin typeface="굴림" pitchFamily="50" charset="-127"/>
              <a:ea typeface="굴림" pitchFamily="50" charset="-127"/>
            </a:endParaRPr>
          </a:p>
        </p:txBody>
      </p:sp>
      <p:cxnSp>
        <p:nvCxnSpPr>
          <p:cNvPr id="17" name="직선 연결선 16"/>
          <p:cNvCxnSpPr/>
          <p:nvPr/>
        </p:nvCxnSpPr>
        <p:spPr>
          <a:xfrm>
            <a:off x="6100785" y="5129361"/>
            <a:ext cx="26587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8350850" y="4893018"/>
            <a:ext cx="370614" cy="29238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000" b="1" dirty="0">
                <a:solidFill>
                  <a:srgbClr val="FF0000"/>
                </a:solidFill>
                <a:latin typeface="굴림" pitchFamily="50" charset="-127"/>
                <a:ea typeface="굴림" pitchFamily="50" charset="-127"/>
              </a:rPr>
              <a:t>0.2</a:t>
            </a:r>
            <a:endParaRPr kumimoji="1" lang="ko-KR" altLang="en-US" sz="1000" b="1" dirty="0">
              <a:solidFill>
                <a:srgbClr val="FF0000"/>
              </a:solidFill>
              <a:latin typeface="굴림" pitchFamily="50" charset="-127"/>
              <a:ea typeface="굴림" pitchFamily="50" charset="-127"/>
            </a:endParaRPr>
          </a:p>
        </p:txBody>
      </p:sp>
      <p:sp>
        <p:nvSpPr>
          <p:cNvPr id="10" name="직사각형 9"/>
          <p:cNvSpPr/>
          <p:nvPr/>
        </p:nvSpPr>
        <p:spPr>
          <a:xfrm>
            <a:off x="3343779" y="1484784"/>
            <a:ext cx="564342" cy="403244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0" name="직사각형 19"/>
          <p:cNvSpPr/>
          <p:nvPr/>
        </p:nvSpPr>
        <p:spPr>
          <a:xfrm>
            <a:off x="4959253" y="1509836"/>
            <a:ext cx="564342" cy="400739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15" name="꺾인 연결선 14"/>
          <p:cNvCxnSpPr>
            <a:stCxn id="10" idx="0"/>
            <a:endCxn id="6" idx="0"/>
          </p:cNvCxnSpPr>
          <p:nvPr/>
        </p:nvCxnSpPr>
        <p:spPr>
          <a:xfrm rot="5400000" flipH="1" flipV="1">
            <a:off x="5480907" y="-730211"/>
            <a:ext cx="360038" cy="4069953"/>
          </a:xfrm>
          <a:prstGeom prst="bentConnector3">
            <a:avLst>
              <a:gd name="adj1" fmla="val 163493"/>
            </a:avLst>
          </a:prstGeom>
          <a:ln>
            <a:solidFill>
              <a:srgbClr val="FF00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2393091" idx="3"/>
            <a:endCxn id="2393092" idx="1"/>
          </p:cNvCxnSpPr>
          <p:nvPr/>
        </p:nvCxnSpPr>
        <p:spPr>
          <a:xfrm>
            <a:off x="5502565" y="3501008"/>
            <a:ext cx="299110" cy="1692188"/>
          </a:xfrm>
          <a:prstGeom prst="bentConnector3">
            <a:avLst>
              <a:gd name="adj1" fmla="val 50000"/>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18582" y="116635"/>
            <a:ext cx="3636252"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a:t>
            </a:r>
            <a:r>
              <a:rPr kumimoji="1" lang="en-US" altLang="ko-KR" sz="2000" b="1" dirty="0" err="1">
                <a:solidFill>
                  <a:prstClr val="black"/>
                </a:solidFill>
                <a:ea typeface="굴림" pitchFamily="50" charset="-127"/>
              </a:rPr>
              <a:t>Vẽ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a:t>
            </a:r>
            <a:endParaRPr kumimoji="1" lang="ko-KR" altLang="en-US" sz="2000" b="1" dirty="0">
              <a:solidFill>
                <a:prstClr val="black"/>
              </a:solidFill>
              <a:ea typeface="굴림" pitchFamily="50" charset="-127"/>
            </a:endParaRPr>
          </a:p>
        </p:txBody>
      </p:sp>
      <p:sp>
        <p:nvSpPr>
          <p:cNvPr id="24"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279</a:t>
            </a:fld>
            <a:endParaRPr lang="ko-KR" altLang="en-US" sz="1200" dirty="0">
              <a:solidFill>
                <a:prstClr val="black"/>
              </a:solidFill>
            </a:endParaRPr>
          </a:p>
        </p:txBody>
      </p:sp>
    </p:spTree>
    <p:extLst>
      <p:ext uri="{BB962C8B-B14F-4D97-AF65-F5344CB8AC3E}">
        <p14:creationId xmlns:p14="http://schemas.microsoft.com/office/powerpoint/2010/main" val="3158829766"/>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930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3271" y="1448644"/>
            <a:ext cx="4406046" cy="3182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8" y="856342"/>
            <a:ext cx="3711272"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Control chart's management baseline</a:t>
            </a:r>
            <a:endParaRPr kumimoji="1" lang="ko-KR" altLang="en-US" sz="1600" b="1" dirty="0">
              <a:solidFill>
                <a:prstClr val="black"/>
              </a:solidFill>
              <a:latin typeface="굴림" pitchFamily="50" charset="-127"/>
              <a:ea typeface="굴림" pitchFamily="50" charset="-127"/>
            </a:endParaRPr>
          </a:p>
        </p:txBody>
      </p:sp>
      <p:sp>
        <p:nvSpPr>
          <p:cNvPr id="3" name="TextBox 2"/>
          <p:cNvSpPr txBox="1"/>
          <p:nvPr/>
        </p:nvSpPr>
        <p:spPr>
          <a:xfrm>
            <a:off x="5569034" y="1340770"/>
            <a:ext cx="1879041"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 control chart</a:t>
            </a:r>
            <a:endParaRPr kumimoji="1" lang="ko-KR" altLang="en-US" sz="1600" b="1" dirty="0">
              <a:solidFill>
                <a:prstClr val="black"/>
              </a:solidFill>
              <a:latin typeface="굴림" pitchFamily="50" charset="-127"/>
              <a:ea typeface="굴림" pitchFamily="50" charset="-127"/>
            </a:endParaRPr>
          </a:p>
        </p:txBody>
      </p:sp>
      <p:graphicFrame>
        <p:nvGraphicFramePr>
          <p:cNvPr id="6" name="개체 5"/>
          <p:cNvGraphicFramePr>
            <a:graphicFrameLocks noChangeAspect="1"/>
          </p:cNvGraphicFramePr>
          <p:nvPr>
            <p:extLst>
              <p:ext uri="{D42A27DB-BD31-4B8C-83A1-F6EECF244321}">
                <p14:modId xmlns:p14="http://schemas.microsoft.com/office/powerpoint/2010/main" val="3606429781"/>
              </p:ext>
            </p:extLst>
          </p:nvPr>
        </p:nvGraphicFramePr>
        <p:xfrm>
          <a:off x="5901380" y="1772816"/>
          <a:ext cx="1525465" cy="323850"/>
        </p:xfrm>
        <a:graphic>
          <a:graphicData uri="http://schemas.openxmlformats.org/presentationml/2006/ole">
            <mc:AlternateContent xmlns:mc="http://schemas.openxmlformats.org/markup-compatibility/2006">
              <mc:Choice xmlns:v="urn:schemas-microsoft-com:vml" Requires="v">
                <p:oleObj name="수식" r:id="rId3" imgW="1079280" imgH="279360" progId="Equation.3">
                  <p:embed/>
                </p:oleObj>
              </mc:Choice>
              <mc:Fallback>
                <p:oleObj name="수식" r:id="rId3" imgW="1079280" imgH="279360" progId="Equation.3">
                  <p:embed/>
                  <p:pic>
                    <p:nvPicPr>
                      <p:cNvPr id="6" name="개체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01380" y="1772816"/>
                        <a:ext cx="1525465" cy="323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개체 8"/>
          <p:cNvGraphicFramePr>
            <a:graphicFrameLocks noChangeAspect="1"/>
          </p:cNvGraphicFramePr>
          <p:nvPr>
            <p:extLst>
              <p:ext uri="{D42A27DB-BD31-4B8C-83A1-F6EECF244321}">
                <p14:modId xmlns:p14="http://schemas.microsoft.com/office/powerpoint/2010/main" val="2843040489"/>
              </p:ext>
            </p:extLst>
          </p:nvPr>
        </p:nvGraphicFramePr>
        <p:xfrm>
          <a:off x="5918689" y="2600772"/>
          <a:ext cx="1490296" cy="323850"/>
        </p:xfrm>
        <a:graphic>
          <a:graphicData uri="http://schemas.openxmlformats.org/presentationml/2006/ole">
            <mc:AlternateContent xmlns:mc="http://schemas.openxmlformats.org/markup-compatibility/2006">
              <mc:Choice xmlns:v="urn:schemas-microsoft-com:vml" Requires="v">
                <p:oleObj name="수식" r:id="rId5" imgW="1054080" imgH="279360" progId="Equation.3">
                  <p:embed/>
                </p:oleObj>
              </mc:Choice>
              <mc:Fallback>
                <p:oleObj name="수식" r:id="rId5" imgW="1054080" imgH="279360" progId="Equation.3">
                  <p:embed/>
                  <p:pic>
                    <p:nvPicPr>
                      <p:cNvPr id="9" name="개체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18689" y="2600772"/>
                        <a:ext cx="1490296" cy="323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TextBox 9"/>
          <p:cNvSpPr txBox="1"/>
          <p:nvPr/>
        </p:nvSpPr>
        <p:spPr>
          <a:xfrm>
            <a:off x="5569035" y="3392863"/>
            <a:ext cx="1584088"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R control chart</a:t>
            </a:r>
            <a:endParaRPr kumimoji="1" lang="ko-KR" altLang="en-US" sz="1600" b="1" dirty="0">
              <a:solidFill>
                <a:prstClr val="black"/>
              </a:solidFill>
              <a:latin typeface="굴림" pitchFamily="50" charset="-127"/>
              <a:ea typeface="굴림" pitchFamily="50" charset="-127"/>
            </a:endParaRPr>
          </a:p>
        </p:txBody>
      </p:sp>
      <p:graphicFrame>
        <p:nvGraphicFramePr>
          <p:cNvPr id="11" name="개체 10"/>
          <p:cNvGraphicFramePr>
            <a:graphicFrameLocks noChangeAspect="1"/>
          </p:cNvGraphicFramePr>
          <p:nvPr>
            <p:extLst>
              <p:ext uri="{D42A27DB-BD31-4B8C-83A1-F6EECF244321}">
                <p14:modId xmlns:p14="http://schemas.microsoft.com/office/powerpoint/2010/main" val="1985964697"/>
              </p:ext>
            </p:extLst>
          </p:nvPr>
        </p:nvGraphicFramePr>
        <p:xfrm>
          <a:off x="5913456" y="3839074"/>
          <a:ext cx="1129812" cy="295275"/>
        </p:xfrm>
        <a:graphic>
          <a:graphicData uri="http://schemas.openxmlformats.org/presentationml/2006/ole">
            <mc:AlternateContent xmlns:mc="http://schemas.openxmlformats.org/markup-compatibility/2006">
              <mc:Choice xmlns:v="urn:schemas-microsoft-com:vml" Requires="v">
                <p:oleObj name="수식" r:id="rId7" imgW="799920" imgH="253800" progId="Equation.3">
                  <p:embed/>
                </p:oleObj>
              </mc:Choice>
              <mc:Fallback>
                <p:oleObj name="수식" r:id="rId7" imgW="799920" imgH="253800" progId="Equation.3">
                  <p:embed/>
                  <p:pic>
                    <p:nvPicPr>
                      <p:cNvPr id="11" name="개체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13456" y="3839074"/>
                        <a:ext cx="1129812" cy="295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개체 11"/>
          <p:cNvGraphicFramePr>
            <a:graphicFrameLocks noChangeAspect="1"/>
          </p:cNvGraphicFramePr>
          <p:nvPr>
            <p:extLst>
              <p:ext uri="{D42A27DB-BD31-4B8C-83A1-F6EECF244321}">
                <p14:modId xmlns:p14="http://schemas.microsoft.com/office/powerpoint/2010/main" val="3436735114"/>
              </p:ext>
            </p:extLst>
          </p:nvPr>
        </p:nvGraphicFramePr>
        <p:xfrm>
          <a:off x="5929575" y="4827368"/>
          <a:ext cx="1096108" cy="293687"/>
        </p:xfrm>
        <a:graphic>
          <a:graphicData uri="http://schemas.openxmlformats.org/presentationml/2006/ole">
            <mc:AlternateContent xmlns:mc="http://schemas.openxmlformats.org/markup-compatibility/2006">
              <mc:Choice xmlns:v="urn:schemas-microsoft-com:vml" Requires="v">
                <p:oleObj name="수식" r:id="rId9" imgW="774360" imgH="253800" progId="Equation.3">
                  <p:embed/>
                </p:oleObj>
              </mc:Choice>
              <mc:Fallback>
                <p:oleObj name="수식" r:id="rId9" imgW="774360" imgH="253800" progId="Equation.3">
                  <p:embed/>
                  <p:pic>
                    <p:nvPicPr>
                      <p:cNvPr id="12" name="개체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29575" y="4827368"/>
                        <a:ext cx="1096108" cy="293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 name="타원 7"/>
          <p:cNvSpPr/>
          <p:nvPr/>
        </p:nvSpPr>
        <p:spPr>
          <a:xfrm>
            <a:off x="4439062" y="1940174"/>
            <a:ext cx="132938" cy="144016"/>
          </a:xfrm>
          <a:prstGeom prst="ellipse">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4" name="타원 13"/>
          <p:cNvSpPr/>
          <p:nvPr/>
        </p:nvSpPr>
        <p:spPr>
          <a:xfrm>
            <a:off x="4306124" y="2672780"/>
            <a:ext cx="132938" cy="144016"/>
          </a:xfrm>
          <a:prstGeom prst="ellipse">
            <a:avLst/>
          </a:prstGeom>
          <a:solidFill>
            <a:srgbClr val="FFFF0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5" name="타원 14"/>
          <p:cNvSpPr/>
          <p:nvPr/>
        </p:nvSpPr>
        <p:spPr>
          <a:xfrm>
            <a:off x="5658628" y="1880692"/>
            <a:ext cx="132938" cy="144016"/>
          </a:xfrm>
          <a:prstGeom prst="ellipse">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6" name="타원 15"/>
          <p:cNvSpPr/>
          <p:nvPr/>
        </p:nvSpPr>
        <p:spPr>
          <a:xfrm>
            <a:off x="5658628" y="2708598"/>
            <a:ext cx="132938" cy="144016"/>
          </a:xfrm>
          <a:prstGeom prst="ellipse">
            <a:avLst/>
          </a:prstGeom>
          <a:solidFill>
            <a:srgbClr val="FFFF0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3" name="TextBox 12"/>
          <p:cNvSpPr txBox="1"/>
          <p:nvPr/>
        </p:nvSpPr>
        <p:spPr>
          <a:xfrm>
            <a:off x="6311756" y="2168727"/>
            <a:ext cx="2334293"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7.83 +  0.577  x 0.2 =  7.95 </a:t>
            </a:r>
            <a:endParaRPr kumimoji="1" lang="ko-KR" altLang="en-US" sz="1200" b="1" dirty="0">
              <a:solidFill>
                <a:prstClr val="black"/>
              </a:solidFill>
              <a:latin typeface="굴림" pitchFamily="50" charset="-127"/>
              <a:ea typeface="굴림" pitchFamily="50" charset="-127"/>
            </a:endParaRPr>
          </a:p>
        </p:txBody>
      </p:sp>
      <p:pic>
        <p:nvPicPr>
          <p:cNvPr id="18"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45588" y="4653136"/>
            <a:ext cx="2972408" cy="1944216"/>
          </a:xfrm>
          <a:prstGeom prst="rect">
            <a:avLst/>
          </a:prstGeom>
          <a:noFill/>
          <a:ln w="9525" algn="ctr">
            <a:noFill/>
            <a:miter lim="800000"/>
            <a:headEnd/>
            <a:tailEnd/>
          </a:ln>
        </p:spPr>
      </p:pic>
      <p:sp>
        <p:nvSpPr>
          <p:cNvPr id="19" name="Text Box 5"/>
          <p:cNvSpPr txBox="1">
            <a:spLocks noChangeArrowheads="1"/>
          </p:cNvSpPr>
          <p:nvPr/>
        </p:nvSpPr>
        <p:spPr bwMode="auto">
          <a:xfrm>
            <a:off x="716804" y="4797152"/>
            <a:ext cx="1395847" cy="600164"/>
          </a:xfrm>
          <a:prstGeom prst="rect">
            <a:avLst/>
          </a:prstGeom>
          <a:noFill/>
          <a:ln w="9525" algn="ctr">
            <a:noFill/>
            <a:miter lim="800000"/>
            <a:headEnd/>
            <a:tailEnd/>
          </a:ln>
        </p:spPr>
        <p:txBody>
          <a:bodyPr wrap="square">
            <a:spAutoFit/>
          </a:bodyPr>
          <a:lstStyle/>
          <a:p>
            <a:pPr fontAlgn="base">
              <a:spcBef>
                <a:spcPct val="50000"/>
              </a:spcBef>
              <a:spcAft>
                <a:spcPct val="0"/>
              </a:spcAft>
            </a:pPr>
            <a:r>
              <a:rPr kumimoji="1" lang="en-US" altLang="ko-KR" sz="1100" b="1" dirty="0">
                <a:solidFill>
                  <a:srgbClr val="0000FF"/>
                </a:solidFill>
                <a:latin typeface="굴림" pitchFamily="50" charset="-127"/>
                <a:ea typeface="굴림" pitchFamily="50" charset="-127"/>
              </a:rPr>
              <a:t>Constants used to calculate the control limits</a:t>
            </a:r>
            <a:endParaRPr kumimoji="1" lang="ko-KR" altLang="en-US" sz="1100" b="1" dirty="0">
              <a:solidFill>
                <a:srgbClr val="0000FF"/>
              </a:solidFill>
              <a:latin typeface="굴림" pitchFamily="50" charset="-127"/>
              <a:ea typeface="굴림" pitchFamily="50" charset="-127"/>
            </a:endParaRPr>
          </a:p>
        </p:txBody>
      </p:sp>
      <p:sp>
        <p:nvSpPr>
          <p:cNvPr id="20" name="TextBox 19"/>
          <p:cNvSpPr txBox="1"/>
          <p:nvPr/>
        </p:nvSpPr>
        <p:spPr>
          <a:xfrm>
            <a:off x="6300192" y="2941490"/>
            <a:ext cx="2284600"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7.83 -  0.577  x 0.2 =  7.72</a:t>
            </a:r>
            <a:endParaRPr kumimoji="1" lang="ko-KR" altLang="en-US" sz="1200" b="1" dirty="0">
              <a:solidFill>
                <a:prstClr val="black"/>
              </a:solidFill>
              <a:latin typeface="굴림" pitchFamily="50" charset="-127"/>
              <a:ea typeface="굴림" pitchFamily="50" charset="-127"/>
            </a:endParaRPr>
          </a:p>
        </p:txBody>
      </p:sp>
      <p:sp>
        <p:nvSpPr>
          <p:cNvPr id="21" name="TextBox 20"/>
          <p:cNvSpPr txBox="1"/>
          <p:nvPr/>
        </p:nvSpPr>
        <p:spPr>
          <a:xfrm>
            <a:off x="6390302" y="4184951"/>
            <a:ext cx="1630575"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2.115x 0.2 =  0.43</a:t>
            </a:r>
            <a:endParaRPr kumimoji="1" lang="ko-KR" altLang="en-US" sz="1200" b="1" dirty="0">
              <a:solidFill>
                <a:prstClr val="black"/>
              </a:solidFill>
              <a:latin typeface="굴림" pitchFamily="50" charset="-127"/>
              <a:ea typeface="굴림" pitchFamily="50" charset="-127"/>
            </a:endParaRPr>
          </a:p>
        </p:txBody>
      </p:sp>
      <p:sp>
        <p:nvSpPr>
          <p:cNvPr id="22" name="TextBox 21"/>
          <p:cNvSpPr txBox="1"/>
          <p:nvPr/>
        </p:nvSpPr>
        <p:spPr>
          <a:xfrm>
            <a:off x="6390300" y="5193063"/>
            <a:ext cx="415498"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0</a:t>
            </a:r>
            <a:endParaRPr kumimoji="1" lang="ko-KR" altLang="en-US" sz="1200" b="1" dirty="0">
              <a:solidFill>
                <a:prstClr val="black"/>
              </a:solidFill>
              <a:latin typeface="굴림" pitchFamily="50" charset="-127"/>
              <a:ea typeface="굴림" pitchFamily="50" charset="-127"/>
            </a:endParaRPr>
          </a:p>
        </p:txBody>
      </p:sp>
      <p:sp>
        <p:nvSpPr>
          <p:cNvPr id="23" name="타원 22"/>
          <p:cNvSpPr/>
          <p:nvPr/>
        </p:nvSpPr>
        <p:spPr>
          <a:xfrm>
            <a:off x="5667284" y="3933056"/>
            <a:ext cx="132938" cy="144016"/>
          </a:xfrm>
          <a:prstGeom prst="ellipse">
            <a:avLst/>
          </a:prstGeom>
          <a:solidFill>
            <a:srgbClr val="92D05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4" name="타원 23"/>
          <p:cNvSpPr/>
          <p:nvPr/>
        </p:nvSpPr>
        <p:spPr>
          <a:xfrm>
            <a:off x="4306124" y="3272458"/>
            <a:ext cx="132938" cy="144016"/>
          </a:xfrm>
          <a:prstGeom prst="ellipse">
            <a:avLst/>
          </a:prstGeom>
          <a:solidFill>
            <a:srgbClr val="92D05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5" name="TextBox 24"/>
          <p:cNvSpPr txBox="1"/>
          <p:nvPr/>
        </p:nvSpPr>
        <p:spPr>
          <a:xfrm>
            <a:off x="118582" y="116635"/>
            <a:ext cx="3833614"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Draw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endParaRPr kumimoji="1" lang="ko-KR" altLang="en-US" sz="2000" b="1" dirty="0">
              <a:solidFill>
                <a:prstClr val="black"/>
              </a:solidFill>
              <a:ea typeface="굴림" pitchFamily="50" charset="-127"/>
            </a:endParaRPr>
          </a:p>
        </p:txBody>
      </p:sp>
      <p:sp>
        <p:nvSpPr>
          <p:cNvPr id="2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280</a:t>
            </a:fld>
            <a:endParaRPr lang="ko-KR" altLang="en-US" sz="1200" dirty="0">
              <a:solidFill>
                <a:prstClr val="black"/>
              </a:solidFill>
            </a:endParaRPr>
          </a:p>
        </p:txBody>
      </p:sp>
    </p:spTree>
    <p:extLst>
      <p:ext uri="{BB962C8B-B14F-4D97-AF65-F5344CB8AC3E}">
        <p14:creationId xmlns:p14="http://schemas.microsoft.com/office/powerpoint/2010/main" val="994693658"/>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18585" y="116635"/>
            <a:ext cx="482164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Operation of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r>
              <a:rPr kumimoji="1" lang="ko-KR" altLang="en-US" sz="2000" b="1" dirty="0">
                <a:solidFill>
                  <a:prstClr val="black"/>
                </a:solidFill>
                <a:ea typeface="굴림" pitchFamily="50" charset="-127"/>
              </a:rPr>
              <a:t> </a:t>
            </a:r>
            <a:r>
              <a:rPr kumimoji="1" lang="en-US" altLang="ko-KR" sz="2000" b="1" dirty="0">
                <a:solidFill>
                  <a:prstClr val="black"/>
                </a:solidFill>
                <a:ea typeface="굴림" pitchFamily="50" charset="-127"/>
              </a:rPr>
              <a:t> </a:t>
            </a:r>
            <a:endParaRPr kumimoji="1" lang="ko-KR" altLang="en-US" sz="2000" b="1" dirty="0">
              <a:solidFill>
                <a:prstClr val="black"/>
              </a:solidFill>
              <a:ea typeface="굴림" pitchFamily="50" charset="-127"/>
            </a:endParaRPr>
          </a:p>
        </p:txBody>
      </p:sp>
      <p:sp>
        <p:nvSpPr>
          <p:cNvPr id="33" name="TextBox 32"/>
          <p:cNvSpPr txBox="1"/>
          <p:nvPr/>
        </p:nvSpPr>
        <p:spPr>
          <a:xfrm>
            <a:off x="1115617" y="1628802"/>
            <a:ext cx="6885407" cy="2332946"/>
          </a:xfrm>
          <a:prstGeom prst="rect">
            <a:avLst/>
          </a:prstGeom>
          <a:noFill/>
          <a:ln>
            <a:solidFill>
              <a:schemeClr val="bg1">
                <a:lumMod val="50000"/>
              </a:schemeClr>
            </a:solidFill>
          </a:ln>
        </p:spPr>
        <p:txBody>
          <a:bodyPr wrap="square" rtlCol="0">
            <a:spAutoFit/>
          </a:bodyPr>
          <a:lstStyle/>
          <a:p>
            <a:pPr fontAlgn="base">
              <a:lnSpc>
                <a:spcPct val="130000"/>
              </a:lnSpc>
              <a:spcBef>
                <a:spcPct val="0"/>
              </a:spcBef>
              <a:spcAft>
                <a:spcPct val="0"/>
              </a:spcAft>
              <a:buClr>
                <a:srgbClr val="C5003D"/>
              </a:buClr>
            </a:pPr>
            <a:r>
              <a:rPr lang="en-US" sz="1600" dirty="0"/>
              <a:t>8 points on the </a:t>
            </a:r>
            <a:r>
              <a:rPr lang="en-US" sz="1600" dirty="0" err="1"/>
              <a:t>Xbar</a:t>
            </a:r>
            <a:r>
              <a:rPr lang="en-US" sz="1600" dirty="0"/>
              <a:t> control chart are marked as shown in the figure.</a:t>
            </a:r>
            <a:br>
              <a:rPr lang="en-US" sz="1600" dirty="0"/>
            </a:br>
            <a:r>
              <a:rPr lang="en-US" sz="1600" b="1" dirty="0"/>
              <a:t>a</a:t>
            </a:r>
            <a:r>
              <a:rPr lang="en-US" sz="1600" dirty="0"/>
              <a:t> was confirmed that the bearings of the equipment were worn out.</a:t>
            </a:r>
            <a:br>
              <a:rPr lang="en-US" sz="1600" dirty="0"/>
            </a:br>
            <a:r>
              <a:rPr lang="en-US" sz="1600" dirty="0"/>
              <a:t>Bearings have been replaced with new ones and I do not think they will cause them again.</a:t>
            </a:r>
            <a:br>
              <a:rPr lang="en-US" sz="1600" dirty="0"/>
            </a:br>
            <a:br>
              <a:rPr lang="en-US" sz="1600" dirty="0"/>
            </a:br>
            <a:r>
              <a:rPr lang="en-US" sz="1600" dirty="0"/>
              <a:t>In this case, What should I do with the UCL that I need to set up next month?</a:t>
            </a:r>
            <a:endParaRPr kumimoji="1" lang="ko-KR" altLang="en-US" sz="1600" dirty="0">
              <a:solidFill>
                <a:prstClr val="black"/>
              </a:solidFill>
              <a:latin typeface="굴림" pitchFamily="50" charset="-127"/>
              <a:ea typeface="굴림" pitchFamily="50" charset="-127"/>
            </a:endParaRPr>
          </a:p>
        </p:txBody>
      </p:sp>
      <p:sp>
        <p:nvSpPr>
          <p:cNvPr id="34" name="TextBox 33"/>
          <p:cNvSpPr txBox="1"/>
          <p:nvPr/>
        </p:nvSpPr>
        <p:spPr>
          <a:xfrm>
            <a:off x="1049149" y="1124744"/>
            <a:ext cx="1130438" cy="4016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b="1" dirty="0">
                <a:solidFill>
                  <a:prstClr val="black"/>
                </a:solidFill>
                <a:latin typeface="굴림" pitchFamily="50" charset="-127"/>
                <a:ea typeface="굴림" pitchFamily="50" charset="-127"/>
              </a:rPr>
              <a:t>Question</a:t>
            </a:r>
            <a:endParaRPr kumimoji="1" lang="ko-KR" altLang="en-US" b="1" dirty="0">
              <a:solidFill>
                <a:prstClr val="black"/>
              </a:solidFill>
              <a:latin typeface="굴림" pitchFamily="50" charset="-127"/>
              <a:ea typeface="굴림" pitchFamily="50" charset="-127"/>
            </a:endParaRPr>
          </a:p>
        </p:txBody>
      </p:sp>
      <p:cxnSp>
        <p:nvCxnSpPr>
          <p:cNvPr id="50" name="직선 연결선 49"/>
          <p:cNvCxnSpPr/>
          <p:nvPr/>
        </p:nvCxnSpPr>
        <p:spPr>
          <a:xfrm>
            <a:off x="2477242" y="5368130"/>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2477242" y="4513412"/>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직선 연결선 55"/>
          <p:cNvCxnSpPr/>
          <p:nvPr/>
        </p:nvCxnSpPr>
        <p:spPr>
          <a:xfrm>
            <a:off x="2477242" y="4945460"/>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5578156" y="4369399"/>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62" name="TextBox 61"/>
          <p:cNvSpPr txBox="1"/>
          <p:nvPr/>
        </p:nvSpPr>
        <p:spPr>
          <a:xfrm>
            <a:off x="5578156" y="5261237"/>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63" name="TextBox 62"/>
          <p:cNvSpPr txBox="1"/>
          <p:nvPr/>
        </p:nvSpPr>
        <p:spPr>
          <a:xfrm>
            <a:off x="5578158" y="4801447"/>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64" name="타원 63"/>
          <p:cNvSpPr/>
          <p:nvPr/>
        </p:nvSpPr>
        <p:spPr>
          <a:xfrm>
            <a:off x="2876057" y="4406974"/>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5" name="타원 64"/>
          <p:cNvSpPr/>
          <p:nvPr/>
        </p:nvSpPr>
        <p:spPr>
          <a:xfrm>
            <a:off x="2610181" y="47670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6" name="타원 65"/>
          <p:cNvSpPr/>
          <p:nvPr/>
        </p:nvSpPr>
        <p:spPr>
          <a:xfrm>
            <a:off x="3208400" y="47670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7" name="타원 66"/>
          <p:cNvSpPr/>
          <p:nvPr/>
        </p:nvSpPr>
        <p:spPr>
          <a:xfrm>
            <a:off x="3607215" y="49194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8" name="타원 67"/>
          <p:cNvSpPr/>
          <p:nvPr/>
        </p:nvSpPr>
        <p:spPr>
          <a:xfrm>
            <a:off x="3939558" y="512705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9" name="타원 68"/>
          <p:cNvSpPr/>
          <p:nvPr/>
        </p:nvSpPr>
        <p:spPr>
          <a:xfrm>
            <a:off x="4271904" y="47670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0" name="타원 69"/>
          <p:cNvSpPr/>
          <p:nvPr/>
        </p:nvSpPr>
        <p:spPr>
          <a:xfrm>
            <a:off x="4670718" y="512705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1" name="자유형 70"/>
          <p:cNvSpPr/>
          <p:nvPr/>
        </p:nvSpPr>
        <p:spPr>
          <a:xfrm>
            <a:off x="2644316" y="4417488"/>
            <a:ext cx="2358747" cy="764087"/>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 name="connsiteX0" fmla="*/ 0 w 2555309"/>
              <a:gd name="connsiteY0" fmla="*/ 375780 h 764087"/>
              <a:gd name="connsiteX1" fmla="*/ 288098 w 2555309"/>
              <a:gd name="connsiteY1" fmla="*/ 0 h 764087"/>
              <a:gd name="connsiteX2" fmla="*/ 638827 w 2555309"/>
              <a:gd name="connsiteY2" fmla="*/ 400832 h 764087"/>
              <a:gd name="connsiteX3" fmla="*/ 1077238 w 2555309"/>
              <a:gd name="connsiteY3" fmla="*/ 526093 h 764087"/>
              <a:gd name="connsiteX4" fmla="*/ 1440493 w 2555309"/>
              <a:gd name="connsiteY4" fmla="*/ 764087 h 764087"/>
              <a:gd name="connsiteX5" fmla="*/ 1803748 w 2555309"/>
              <a:gd name="connsiteY5" fmla="*/ 388306 h 764087"/>
              <a:gd name="connsiteX6" fmla="*/ 2229633 w 2555309"/>
              <a:gd name="connsiteY6" fmla="*/ 739035 h 764087"/>
              <a:gd name="connsiteX7" fmla="*/ 2555309 w 2555309"/>
              <a:gd name="connsiteY7" fmla="*/ 338203 h 76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5309" h="764087">
                <a:moveTo>
                  <a:pt x="0" y="375780"/>
                </a:moveTo>
                <a:lnTo>
                  <a:pt x="288098" y="0"/>
                </a:lnTo>
                <a:lnTo>
                  <a:pt x="638827" y="400832"/>
                </a:lnTo>
                <a:lnTo>
                  <a:pt x="1077238" y="526093"/>
                </a:lnTo>
                <a:lnTo>
                  <a:pt x="1440493" y="764087"/>
                </a:lnTo>
                <a:lnTo>
                  <a:pt x="1803748" y="388306"/>
                </a:lnTo>
                <a:lnTo>
                  <a:pt x="2229633" y="739035"/>
                </a:lnTo>
                <a:lnTo>
                  <a:pt x="2555309" y="3382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2" name="TextBox 71"/>
          <p:cNvSpPr txBox="1"/>
          <p:nvPr/>
        </p:nvSpPr>
        <p:spPr>
          <a:xfrm>
            <a:off x="2767695" y="4005067"/>
            <a:ext cx="2984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a:t>
            </a:r>
            <a:endParaRPr kumimoji="1" lang="ko-KR" altLang="en-US" sz="1600" b="1" dirty="0">
              <a:solidFill>
                <a:prstClr val="black"/>
              </a:solidFill>
              <a:latin typeface="굴림" pitchFamily="50" charset="-127"/>
              <a:ea typeface="굴림" pitchFamily="50" charset="-127"/>
            </a:endParaRPr>
          </a:p>
        </p:txBody>
      </p:sp>
      <p:sp>
        <p:nvSpPr>
          <p:cNvPr id="73" name="타원 72"/>
          <p:cNvSpPr/>
          <p:nvPr/>
        </p:nvSpPr>
        <p:spPr>
          <a:xfrm>
            <a:off x="4979936" y="4752473"/>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2"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281</a:t>
            </a:fld>
            <a:endParaRPr lang="ko-KR" altLang="en-US" sz="1200" dirty="0">
              <a:solidFill>
                <a:prstClr val="black"/>
              </a:solidFill>
            </a:endParaRPr>
          </a:p>
        </p:txBody>
      </p:sp>
    </p:spTree>
    <p:extLst>
      <p:ext uri="{BB962C8B-B14F-4D97-AF65-F5344CB8AC3E}">
        <p14:creationId xmlns:p14="http://schemas.microsoft.com/office/powerpoint/2010/main" val="270871865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930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3271" y="1448644"/>
            <a:ext cx="4406046" cy="3182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8" y="856342"/>
            <a:ext cx="4471096" cy="3769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tiêu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chuẩn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của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endParaRPr kumimoji="1" lang="ko-KR" altLang="en-US" sz="1600" b="1" dirty="0">
              <a:solidFill>
                <a:prstClr val="black"/>
              </a:solidFill>
              <a:latin typeface="굴림" pitchFamily="50" charset="-127"/>
              <a:ea typeface="굴림" pitchFamily="50" charset="-127"/>
            </a:endParaRPr>
          </a:p>
        </p:txBody>
      </p:sp>
      <p:sp>
        <p:nvSpPr>
          <p:cNvPr id="3" name="TextBox 2"/>
          <p:cNvSpPr txBox="1"/>
          <p:nvPr/>
        </p:nvSpPr>
        <p:spPr>
          <a:xfrm>
            <a:off x="5569034" y="1340770"/>
            <a:ext cx="2012089"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Xbar</a:t>
            </a:r>
            <a:endParaRPr kumimoji="1" lang="ko-KR" altLang="en-US" sz="1600" b="1" dirty="0">
              <a:solidFill>
                <a:prstClr val="black"/>
              </a:solidFill>
              <a:latin typeface="굴림" pitchFamily="50" charset="-127"/>
              <a:ea typeface="굴림" pitchFamily="50" charset="-127"/>
            </a:endParaRPr>
          </a:p>
        </p:txBody>
      </p:sp>
      <p:graphicFrame>
        <p:nvGraphicFramePr>
          <p:cNvPr id="6" name="개체 5"/>
          <p:cNvGraphicFramePr>
            <a:graphicFrameLocks noChangeAspect="1"/>
          </p:cNvGraphicFramePr>
          <p:nvPr>
            <p:extLst>
              <p:ext uri="{D42A27DB-BD31-4B8C-83A1-F6EECF244321}">
                <p14:modId xmlns:p14="http://schemas.microsoft.com/office/powerpoint/2010/main" val="3606429781"/>
              </p:ext>
            </p:extLst>
          </p:nvPr>
        </p:nvGraphicFramePr>
        <p:xfrm>
          <a:off x="5901380" y="1772816"/>
          <a:ext cx="1525465" cy="323850"/>
        </p:xfrm>
        <a:graphic>
          <a:graphicData uri="http://schemas.openxmlformats.org/presentationml/2006/ole">
            <mc:AlternateContent xmlns:mc="http://schemas.openxmlformats.org/markup-compatibility/2006">
              <mc:Choice xmlns:v="urn:schemas-microsoft-com:vml" Requires="v">
                <p:oleObj name="수식" r:id="rId3" imgW="1079280" imgH="279360" progId="Equation.3">
                  <p:embed/>
                </p:oleObj>
              </mc:Choice>
              <mc:Fallback>
                <p:oleObj name="수식" r:id="rId3" imgW="1079280" imgH="279360" progId="Equation.3">
                  <p:embed/>
                  <p:pic>
                    <p:nvPicPr>
                      <p:cNvPr id="6" name="개체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01380" y="1772816"/>
                        <a:ext cx="1525465" cy="323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9" name="개체 8"/>
          <p:cNvGraphicFramePr>
            <a:graphicFrameLocks noChangeAspect="1"/>
          </p:cNvGraphicFramePr>
          <p:nvPr>
            <p:extLst>
              <p:ext uri="{D42A27DB-BD31-4B8C-83A1-F6EECF244321}">
                <p14:modId xmlns:p14="http://schemas.microsoft.com/office/powerpoint/2010/main" val="2843040489"/>
              </p:ext>
            </p:extLst>
          </p:nvPr>
        </p:nvGraphicFramePr>
        <p:xfrm>
          <a:off x="5918689" y="2600772"/>
          <a:ext cx="1490296" cy="323850"/>
        </p:xfrm>
        <a:graphic>
          <a:graphicData uri="http://schemas.openxmlformats.org/presentationml/2006/ole">
            <mc:AlternateContent xmlns:mc="http://schemas.openxmlformats.org/markup-compatibility/2006">
              <mc:Choice xmlns:v="urn:schemas-microsoft-com:vml" Requires="v">
                <p:oleObj name="수식" r:id="rId5" imgW="1054080" imgH="279360" progId="Equation.3">
                  <p:embed/>
                </p:oleObj>
              </mc:Choice>
              <mc:Fallback>
                <p:oleObj name="수식" r:id="rId5" imgW="1054080" imgH="279360" progId="Equation.3">
                  <p:embed/>
                  <p:pic>
                    <p:nvPicPr>
                      <p:cNvPr id="9" name="개체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18689" y="2600772"/>
                        <a:ext cx="1490296" cy="3238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TextBox 9"/>
          <p:cNvSpPr txBox="1"/>
          <p:nvPr/>
        </p:nvSpPr>
        <p:spPr>
          <a:xfrm>
            <a:off x="5569035" y="3392863"/>
            <a:ext cx="1717137"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R</a:t>
            </a:r>
            <a:endParaRPr kumimoji="1" lang="ko-KR" altLang="en-US" sz="1600" b="1" dirty="0">
              <a:solidFill>
                <a:prstClr val="black"/>
              </a:solidFill>
              <a:latin typeface="굴림" pitchFamily="50" charset="-127"/>
              <a:ea typeface="굴림" pitchFamily="50" charset="-127"/>
            </a:endParaRPr>
          </a:p>
        </p:txBody>
      </p:sp>
      <p:graphicFrame>
        <p:nvGraphicFramePr>
          <p:cNvPr id="11" name="개체 10"/>
          <p:cNvGraphicFramePr>
            <a:graphicFrameLocks noChangeAspect="1"/>
          </p:cNvGraphicFramePr>
          <p:nvPr>
            <p:extLst>
              <p:ext uri="{D42A27DB-BD31-4B8C-83A1-F6EECF244321}">
                <p14:modId xmlns:p14="http://schemas.microsoft.com/office/powerpoint/2010/main" val="1985964697"/>
              </p:ext>
            </p:extLst>
          </p:nvPr>
        </p:nvGraphicFramePr>
        <p:xfrm>
          <a:off x="5913456" y="3839074"/>
          <a:ext cx="1129812" cy="295275"/>
        </p:xfrm>
        <a:graphic>
          <a:graphicData uri="http://schemas.openxmlformats.org/presentationml/2006/ole">
            <mc:AlternateContent xmlns:mc="http://schemas.openxmlformats.org/markup-compatibility/2006">
              <mc:Choice xmlns:v="urn:schemas-microsoft-com:vml" Requires="v">
                <p:oleObj name="수식" r:id="rId7" imgW="799920" imgH="253800" progId="Equation.3">
                  <p:embed/>
                </p:oleObj>
              </mc:Choice>
              <mc:Fallback>
                <p:oleObj name="수식" r:id="rId7" imgW="799920" imgH="253800" progId="Equation.3">
                  <p:embed/>
                  <p:pic>
                    <p:nvPicPr>
                      <p:cNvPr id="11" name="개체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13456" y="3839074"/>
                        <a:ext cx="1129812" cy="295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 name="개체 11"/>
          <p:cNvGraphicFramePr>
            <a:graphicFrameLocks noChangeAspect="1"/>
          </p:cNvGraphicFramePr>
          <p:nvPr>
            <p:extLst>
              <p:ext uri="{D42A27DB-BD31-4B8C-83A1-F6EECF244321}">
                <p14:modId xmlns:p14="http://schemas.microsoft.com/office/powerpoint/2010/main" val="3436735114"/>
              </p:ext>
            </p:extLst>
          </p:nvPr>
        </p:nvGraphicFramePr>
        <p:xfrm>
          <a:off x="5929575" y="4827368"/>
          <a:ext cx="1096108" cy="293687"/>
        </p:xfrm>
        <a:graphic>
          <a:graphicData uri="http://schemas.openxmlformats.org/presentationml/2006/ole">
            <mc:AlternateContent xmlns:mc="http://schemas.openxmlformats.org/markup-compatibility/2006">
              <mc:Choice xmlns:v="urn:schemas-microsoft-com:vml" Requires="v">
                <p:oleObj name="수식" r:id="rId9" imgW="774360" imgH="253800" progId="Equation.3">
                  <p:embed/>
                </p:oleObj>
              </mc:Choice>
              <mc:Fallback>
                <p:oleObj name="수식" r:id="rId9" imgW="774360" imgH="253800" progId="Equation.3">
                  <p:embed/>
                  <p:pic>
                    <p:nvPicPr>
                      <p:cNvPr id="12" name="개체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29575" y="4827368"/>
                        <a:ext cx="1096108" cy="293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 name="타원 7"/>
          <p:cNvSpPr/>
          <p:nvPr/>
        </p:nvSpPr>
        <p:spPr>
          <a:xfrm>
            <a:off x="4439062" y="1940174"/>
            <a:ext cx="132938" cy="144016"/>
          </a:xfrm>
          <a:prstGeom prst="ellipse">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4" name="타원 13"/>
          <p:cNvSpPr/>
          <p:nvPr/>
        </p:nvSpPr>
        <p:spPr>
          <a:xfrm>
            <a:off x="4306124" y="2672780"/>
            <a:ext cx="132938" cy="144016"/>
          </a:xfrm>
          <a:prstGeom prst="ellipse">
            <a:avLst/>
          </a:prstGeom>
          <a:solidFill>
            <a:srgbClr val="FFFF0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5" name="타원 14"/>
          <p:cNvSpPr/>
          <p:nvPr/>
        </p:nvSpPr>
        <p:spPr>
          <a:xfrm>
            <a:off x="5658628" y="1880692"/>
            <a:ext cx="132938" cy="144016"/>
          </a:xfrm>
          <a:prstGeom prst="ellipse">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6" name="타원 15"/>
          <p:cNvSpPr/>
          <p:nvPr/>
        </p:nvSpPr>
        <p:spPr>
          <a:xfrm>
            <a:off x="5658628" y="2708598"/>
            <a:ext cx="132938" cy="144016"/>
          </a:xfrm>
          <a:prstGeom prst="ellipse">
            <a:avLst/>
          </a:prstGeom>
          <a:solidFill>
            <a:srgbClr val="FFFF0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3" name="TextBox 12"/>
          <p:cNvSpPr txBox="1"/>
          <p:nvPr/>
        </p:nvSpPr>
        <p:spPr>
          <a:xfrm>
            <a:off x="6311756" y="2168727"/>
            <a:ext cx="2334293"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7.83 +  0.577  x 0.2 =  7.95 </a:t>
            </a:r>
            <a:endParaRPr kumimoji="1" lang="ko-KR" altLang="en-US" sz="1200" b="1" dirty="0">
              <a:solidFill>
                <a:prstClr val="black"/>
              </a:solidFill>
              <a:latin typeface="굴림" pitchFamily="50" charset="-127"/>
              <a:ea typeface="굴림" pitchFamily="50" charset="-127"/>
            </a:endParaRPr>
          </a:p>
        </p:txBody>
      </p:sp>
      <p:pic>
        <p:nvPicPr>
          <p:cNvPr id="18"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45588" y="4653136"/>
            <a:ext cx="2972408" cy="1944216"/>
          </a:xfrm>
          <a:prstGeom prst="rect">
            <a:avLst/>
          </a:prstGeom>
          <a:noFill/>
          <a:ln w="9525" algn="ctr">
            <a:noFill/>
            <a:miter lim="800000"/>
            <a:headEnd/>
            <a:tailEnd/>
          </a:ln>
        </p:spPr>
      </p:pic>
      <p:sp>
        <p:nvSpPr>
          <p:cNvPr id="19" name="Text Box 5"/>
          <p:cNvSpPr txBox="1">
            <a:spLocks noChangeArrowheads="1"/>
          </p:cNvSpPr>
          <p:nvPr/>
        </p:nvSpPr>
        <p:spPr bwMode="auto">
          <a:xfrm>
            <a:off x="716804" y="4797152"/>
            <a:ext cx="1395847" cy="600164"/>
          </a:xfrm>
          <a:prstGeom prst="rect">
            <a:avLst/>
          </a:prstGeom>
          <a:noFill/>
          <a:ln w="9525" algn="ctr">
            <a:noFill/>
            <a:miter lim="800000"/>
            <a:headEnd/>
            <a:tailEnd/>
          </a:ln>
        </p:spPr>
        <p:txBody>
          <a:bodyPr wrap="square">
            <a:spAutoFit/>
          </a:bodyPr>
          <a:lstStyle/>
          <a:p>
            <a:pPr fontAlgn="base">
              <a:spcBef>
                <a:spcPct val="50000"/>
              </a:spcBef>
              <a:spcAft>
                <a:spcPct val="0"/>
              </a:spcAft>
            </a:pPr>
            <a:r>
              <a:rPr lang="vi-VN" sz="1100" dirty="0"/>
              <a:t>Hằng số sử dụng </a:t>
            </a:r>
            <a:r>
              <a:rPr lang="en-US" sz="1100" dirty="0"/>
              <a:t> </a:t>
            </a:r>
            <a:r>
              <a:rPr lang="vi-VN" sz="1100" dirty="0"/>
              <a:t>để tính toán các</a:t>
            </a:r>
            <a:r>
              <a:rPr lang="en-US" sz="1100" dirty="0"/>
              <a:t>   </a:t>
            </a:r>
            <a:r>
              <a:rPr lang="vi-VN" sz="1100" dirty="0"/>
              <a:t> giới hạn kiểm soát</a:t>
            </a:r>
            <a:endParaRPr kumimoji="1" lang="ko-KR" altLang="en-US" sz="1100" b="1" dirty="0">
              <a:solidFill>
                <a:srgbClr val="0000FF"/>
              </a:solidFill>
              <a:latin typeface="굴림" pitchFamily="50" charset="-127"/>
              <a:ea typeface="굴림" pitchFamily="50" charset="-127"/>
            </a:endParaRPr>
          </a:p>
        </p:txBody>
      </p:sp>
      <p:sp>
        <p:nvSpPr>
          <p:cNvPr id="20" name="TextBox 19"/>
          <p:cNvSpPr txBox="1"/>
          <p:nvPr/>
        </p:nvSpPr>
        <p:spPr>
          <a:xfrm>
            <a:off x="6300192" y="2941490"/>
            <a:ext cx="2284600"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7.83 -  0.577  x 0.2 =  7.72</a:t>
            </a:r>
            <a:endParaRPr kumimoji="1" lang="ko-KR" altLang="en-US" sz="1200" b="1" dirty="0">
              <a:solidFill>
                <a:prstClr val="black"/>
              </a:solidFill>
              <a:latin typeface="굴림" pitchFamily="50" charset="-127"/>
              <a:ea typeface="굴림" pitchFamily="50" charset="-127"/>
            </a:endParaRPr>
          </a:p>
        </p:txBody>
      </p:sp>
      <p:sp>
        <p:nvSpPr>
          <p:cNvPr id="21" name="TextBox 20"/>
          <p:cNvSpPr txBox="1"/>
          <p:nvPr/>
        </p:nvSpPr>
        <p:spPr>
          <a:xfrm>
            <a:off x="6390302" y="4184951"/>
            <a:ext cx="1630575"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2.115x 0.2 =  0.43</a:t>
            </a:r>
            <a:endParaRPr kumimoji="1" lang="ko-KR" altLang="en-US" sz="1200" b="1" dirty="0">
              <a:solidFill>
                <a:prstClr val="black"/>
              </a:solidFill>
              <a:latin typeface="굴림" pitchFamily="50" charset="-127"/>
              <a:ea typeface="굴림" pitchFamily="50" charset="-127"/>
            </a:endParaRPr>
          </a:p>
        </p:txBody>
      </p:sp>
      <p:sp>
        <p:nvSpPr>
          <p:cNvPr id="22" name="TextBox 21"/>
          <p:cNvSpPr txBox="1"/>
          <p:nvPr/>
        </p:nvSpPr>
        <p:spPr>
          <a:xfrm>
            <a:off x="6390300" y="5193063"/>
            <a:ext cx="415498"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 0</a:t>
            </a:r>
            <a:endParaRPr kumimoji="1" lang="ko-KR" altLang="en-US" sz="1200" b="1" dirty="0">
              <a:solidFill>
                <a:prstClr val="black"/>
              </a:solidFill>
              <a:latin typeface="굴림" pitchFamily="50" charset="-127"/>
              <a:ea typeface="굴림" pitchFamily="50" charset="-127"/>
            </a:endParaRPr>
          </a:p>
        </p:txBody>
      </p:sp>
      <p:sp>
        <p:nvSpPr>
          <p:cNvPr id="23" name="타원 22"/>
          <p:cNvSpPr/>
          <p:nvPr/>
        </p:nvSpPr>
        <p:spPr>
          <a:xfrm>
            <a:off x="5667284" y="3933056"/>
            <a:ext cx="132938" cy="144016"/>
          </a:xfrm>
          <a:prstGeom prst="ellipse">
            <a:avLst/>
          </a:prstGeom>
          <a:solidFill>
            <a:srgbClr val="92D05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4" name="타원 23"/>
          <p:cNvSpPr/>
          <p:nvPr/>
        </p:nvSpPr>
        <p:spPr>
          <a:xfrm>
            <a:off x="4306124" y="3272458"/>
            <a:ext cx="132938" cy="144016"/>
          </a:xfrm>
          <a:prstGeom prst="ellipse">
            <a:avLst/>
          </a:prstGeom>
          <a:solidFill>
            <a:srgbClr val="92D05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5" name="TextBox 24"/>
          <p:cNvSpPr txBox="1"/>
          <p:nvPr/>
        </p:nvSpPr>
        <p:spPr>
          <a:xfrm>
            <a:off x="118582" y="116635"/>
            <a:ext cx="3546484"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5. </a:t>
            </a:r>
            <a:r>
              <a:rPr kumimoji="1" lang="en-US" altLang="ko-KR" sz="2000" b="1" dirty="0" err="1">
                <a:solidFill>
                  <a:prstClr val="black"/>
                </a:solidFill>
                <a:ea typeface="굴림" pitchFamily="50" charset="-127"/>
              </a:rPr>
              <a:t>Vẽ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sp>
        <p:nvSpPr>
          <p:cNvPr id="26"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282</a:t>
            </a:fld>
            <a:endParaRPr lang="ko-KR" altLang="en-US" sz="1200" dirty="0">
              <a:solidFill>
                <a:prstClr val="black"/>
              </a:solidFill>
            </a:endParaRPr>
          </a:p>
        </p:txBody>
      </p:sp>
    </p:spTree>
    <p:extLst>
      <p:ext uri="{BB962C8B-B14F-4D97-AF65-F5344CB8AC3E}">
        <p14:creationId xmlns:p14="http://schemas.microsoft.com/office/powerpoint/2010/main" val="994693658"/>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18585" y="116635"/>
            <a:ext cx="4397679"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a:t>
            </a:r>
            <a:r>
              <a:rPr kumimoji="1" lang="en-US" altLang="ko-KR" sz="2000" b="1" dirty="0" err="1">
                <a:solidFill>
                  <a:prstClr val="black"/>
                </a:solidFill>
                <a:ea typeface="굴림" pitchFamily="50" charset="-127"/>
              </a:rPr>
              <a:t>Vận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hành</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sp>
        <p:nvSpPr>
          <p:cNvPr id="33" name="TextBox 32"/>
          <p:cNvSpPr txBox="1"/>
          <p:nvPr/>
        </p:nvSpPr>
        <p:spPr>
          <a:xfrm>
            <a:off x="1115617" y="1628802"/>
            <a:ext cx="7113983" cy="1692771"/>
          </a:xfrm>
          <a:prstGeom prst="rect">
            <a:avLst/>
          </a:prstGeom>
          <a:noFill/>
          <a:ln>
            <a:solidFill>
              <a:schemeClr val="bg1">
                <a:lumMod val="50000"/>
              </a:schemeClr>
            </a:solidFill>
          </a:ln>
        </p:spPr>
        <p:txBody>
          <a:bodyPr wrap="square" rtlCol="0">
            <a:spAutoFit/>
          </a:bodyPr>
          <a:lstStyle/>
          <a:p>
            <a:pPr fontAlgn="base">
              <a:lnSpc>
                <a:spcPct val="130000"/>
              </a:lnSpc>
              <a:spcBef>
                <a:spcPct val="0"/>
              </a:spcBef>
              <a:spcAft>
                <a:spcPct val="0"/>
              </a:spcAft>
              <a:buClr>
                <a:srgbClr val="C5003D"/>
              </a:buClr>
            </a:pPr>
            <a:r>
              <a:rPr kumimoji="1" lang="en-US" altLang="ko-KR" sz="1600" dirty="0" err="1">
                <a:solidFill>
                  <a:prstClr val="black"/>
                </a:solidFill>
                <a:latin typeface="굴림" pitchFamily="50" charset="-127"/>
                <a:ea typeface="굴림" pitchFamily="50" charset="-127"/>
              </a:rPr>
              <a:t>Trong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đồ</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thị</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quản</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lý</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Xbar</a:t>
            </a:r>
            <a:r>
              <a:rPr kumimoji="1" lang="en-US" altLang="ko-KR" sz="1600" dirty="0">
                <a:solidFill>
                  <a:prstClr val="black"/>
                </a:solidFill>
                <a:latin typeface="굴림" pitchFamily="50" charset="-127"/>
                <a:ea typeface="굴림" pitchFamily="50" charset="-127"/>
              </a:rPr>
              <a:t> 8</a:t>
            </a:r>
            <a:r>
              <a:rPr kumimoji="1" lang="ko-KR" altLang="en-US" sz="1600" dirty="0">
                <a:solidFill>
                  <a:prstClr val="black"/>
                </a:solidFill>
                <a:latin typeface="굴림" pitchFamily="50" charset="-127"/>
                <a:ea typeface="굴림" pitchFamily="50" charset="-127"/>
              </a:rPr>
              <a:t> </a:t>
            </a:r>
            <a:r>
              <a:rPr kumimoji="1" lang="en-US" altLang="ko-KR" sz="1600" dirty="0">
                <a:solidFill>
                  <a:prstClr val="black"/>
                </a:solidFill>
                <a:latin typeface="굴림" pitchFamily="50" charset="-127"/>
                <a:ea typeface="굴림" pitchFamily="50" charset="-127"/>
              </a:rPr>
              <a:t>Point </a:t>
            </a:r>
            <a:r>
              <a:rPr kumimoji="1" lang="en-US" altLang="ko-KR" sz="1600" dirty="0" err="1">
                <a:solidFill>
                  <a:prstClr val="black"/>
                </a:solidFill>
                <a:latin typeface="굴림" pitchFamily="50" charset="-127"/>
                <a:ea typeface="굴림" pitchFamily="50" charset="-127"/>
              </a:rPr>
              <a:t>được</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đánh</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dấu</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như</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hình</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bên</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dưới</a:t>
            </a:r>
            <a:endParaRPr kumimoji="1" lang="en-US" altLang="ko-KR" sz="16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dirty="0">
                <a:solidFill>
                  <a:prstClr val="black"/>
                </a:solidFill>
                <a:latin typeface="굴림" pitchFamily="50" charset="-127"/>
                <a:ea typeface="굴림" pitchFamily="50" charset="-127"/>
              </a:rPr>
              <a:t>a</a:t>
            </a:r>
            <a:r>
              <a:rPr kumimoji="1" lang="ko-KR" altLang="en-US"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kiểm</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tra</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và</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phát</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hiện</a:t>
            </a:r>
            <a:r>
              <a:rPr kumimoji="1" lang="en-US" altLang="ko-KR" sz="1600" dirty="0">
                <a:solidFill>
                  <a:prstClr val="black"/>
                </a:solidFill>
                <a:latin typeface="굴림" pitchFamily="50" charset="-127"/>
                <a:ea typeface="굴림" pitchFamily="50" charset="-127"/>
              </a:rPr>
              <a:t> bearings </a:t>
            </a:r>
            <a:r>
              <a:rPr kumimoji="1" lang="en-US" altLang="ko-KR" sz="1600" dirty="0" err="1">
                <a:solidFill>
                  <a:prstClr val="black"/>
                </a:solidFill>
                <a:latin typeface="굴림" pitchFamily="50" charset="-127"/>
                <a:ea typeface="굴림" pitchFamily="50" charset="-127"/>
              </a:rPr>
              <a:t>của</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máy</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đang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bị</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mài</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mòn</a:t>
            </a:r>
            <a:endParaRPr kumimoji="1" lang="en-US" altLang="ko-KR" sz="1600"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dirty="0" err="1">
                <a:solidFill>
                  <a:prstClr val="black"/>
                </a:solidFill>
                <a:latin typeface="굴림" pitchFamily="50" charset="-127"/>
                <a:ea typeface="굴림" pitchFamily="50" charset="-127"/>
              </a:rPr>
              <a:t>Thay</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đổi</a:t>
            </a:r>
            <a:r>
              <a:rPr kumimoji="1" lang="en-US" altLang="ko-KR" sz="1600" dirty="0">
                <a:solidFill>
                  <a:prstClr val="black"/>
                </a:solidFill>
                <a:latin typeface="굴림" pitchFamily="50" charset="-127"/>
                <a:ea typeface="굴림" pitchFamily="50" charset="-127"/>
              </a:rPr>
              <a:t> bearings </a:t>
            </a:r>
            <a:r>
              <a:rPr kumimoji="1" lang="en-US" altLang="ko-KR" sz="1600" dirty="0" err="1">
                <a:solidFill>
                  <a:prstClr val="black"/>
                </a:solidFill>
                <a:latin typeface="굴림" pitchFamily="50" charset="-127"/>
                <a:ea typeface="굴림" pitchFamily="50" charset="-127"/>
              </a:rPr>
              <a:t>và</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suy</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nghĩ</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rằng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sẽ</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không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phát</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sinh</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hàng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kém</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chất</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lượng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nữa</a:t>
            </a:r>
            <a:r>
              <a:rPr kumimoji="1" lang="en-US" altLang="ko-KR" sz="1600" dirty="0">
                <a:solidFill>
                  <a:prstClr val="black"/>
                </a:solidFill>
                <a:latin typeface="굴림" pitchFamily="50" charset="-127"/>
                <a:ea typeface="굴림" pitchFamily="50" charset="-127"/>
              </a:rPr>
              <a:t>.</a:t>
            </a:r>
          </a:p>
          <a:p>
            <a:pPr fontAlgn="base">
              <a:lnSpc>
                <a:spcPct val="130000"/>
              </a:lnSpc>
              <a:spcBef>
                <a:spcPct val="0"/>
              </a:spcBef>
              <a:spcAft>
                <a:spcPct val="0"/>
              </a:spcAft>
              <a:buClr>
                <a:srgbClr val="C5003D"/>
              </a:buClr>
            </a:pPr>
            <a:r>
              <a:rPr kumimoji="1" lang="en-US" altLang="ko-KR" sz="1600" dirty="0" err="1">
                <a:solidFill>
                  <a:prstClr val="black"/>
                </a:solidFill>
                <a:latin typeface="굴림" pitchFamily="50" charset="-127"/>
                <a:ea typeface="굴림" pitchFamily="50" charset="-127"/>
              </a:rPr>
              <a:t>Trong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trường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hợp</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này</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ta</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phải</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làm</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thế</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nà</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để</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thiết</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lập</a:t>
            </a:r>
            <a:r>
              <a:rPr kumimoji="1" lang="en-US" altLang="ko-KR" sz="1600" dirty="0">
                <a:solidFill>
                  <a:prstClr val="black"/>
                </a:solidFill>
                <a:latin typeface="굴림" pitchFamily="50" charset="-127"/>
                <a:ea typeface="굴림" pitchFamily="50" charset="-127"/>
              </a:rPr>
              <a:t> UCL </a:t>
            </a:r>
            <a:r>
              <a:rPr kumimoji="1" lang="en-US" altLang="ko-KR" sz="1600" dirty="0" err="1">
                <a:solidFill>
                  <a:prstClr val="black"/>
                </a:solidFill>
                <a:latin typeface="굴림" pitchFamily="50" charset="-127"/>
                <a:ea typeface="굴림" pitchFamily="50" charset="-127"/>
              </a:rPr>
              <a:t>vao</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tháng</a:t>
            </a:r>
            <a:r>
              <a:rPr kumimoji="1" lang="en-US" altLang="ko-KR" sz="1600" dirty="0">
                <a:solidFill>
                  <a:prstClr val="black"/>
                </a:solidFill>
                <a:latin typeface="굴림" pitchFamily="50" charset="-127"/>
                <a:ea typeface="굴림" pitchFamily="50" charset="-127"/>
              </a:rPr>
              <a:t> </a:t>
            </a:r>
            <a:r>
              <a:rPr kumimoji="1" lang="en-US" altLang="ko-KR" sz="1600" dirty="0" err="1">
                <a:solidFill>
                  <a:prstClr val="black"/>
                </a:solidFill>
                <a:latin typeface="굴림" pitchFamily="50" charset="-127"/>
                <a:ea typeface="굴림" pitchFamily="50" charset="-127"/>
              </a:rPr>
              <a:t>sau</a:t>
            </a:r>
            <a:r>
              <a:rPr kumimoji="1" lang="en-US" altLang="ko-KR" sz="1600" dirty="0">
                <a:solidFill>
                  <a:prstClr val="black"/>
                </a:solidFill>
                <a:latin typeface="굴림" pitchFamily="50" charset="-127"/>
                <a:ea typeface="굴림" pitchFamily="50" charset="-127"/>
              </a:rPr>
              <a:t>?</a:t>
            </a:r>
            <a:endParaRPr kumimoji="1" lang="ko-KR" altLang="en-US" sz="1600" dirty="0">
              <a:solidFill>
                <a:prstClr val="black"/>
              </a:solidFill>
              <a:latin typeface="굴림" pitchFamily="50" charset="-127"/>
              <a:ea typeface="굴림" pitchFamily="50" charset="-127"/>
            </a:endParaRPr>
          </a:p>
        </p:txBody>
      </p:sp>
      <p:sp>
        <p:nvSpPr>
          <p:cNvPr id="34" name="TextBox 33"/>
          <p:cNvSpPr txBox="1"/>
          <p:nvPr/>
        </p:nvSpPr>
        <p:spPr>
          <a:xfrm>
            <a:off x="1049149" y="1124744"/>
            <a:ext cx="1010213" cy="41254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b="1" dirty="0" err="1">
                <a:solidFill>
                  <a:prstClr val="black"/>
                </a:solidFill>
                <a:latin typeface="굴림" pitchFamily="50" charset="-127"/>
                <a:ea typeface="굴림" pitchFamily="50" charset="-127"/>
              </a:rPr>
              <a:t>Câu</a:t>
            </a:r>
            <a:r>
              <a:rPr kumimoji="1" lang="en-US" altLang="ko-KR" b="1" dirty="0">
                <a:solidFill>
                  <a:prstClr val="black"/>
                </a:solidFill>
                <a:latin typeface="굴림" pitchFamily="50" charset="-127"/>
                <a:ea typeface="굴림" pitchFamily="50" charset="-127"/>
              </a:rPr>
              <a:t> </a:t>
            </a:r>
            <a:r>
              <a:rPr kumimoji="1" lang="en-US" altLang="ko-KR" b="1" dirty="0" err="1">
                <a:solidFill>
                  <a:prstClr val="black"/>
                </a:solidFill>
                <a:latin typeface="굴림" pitchFamily="50" charset="-127"/>
                <a:ea typeface="굴림" pitchFamily="50" charset="-127"/>
              </a:rPr>
              <a:t>hỏi</a:t>
            </a:r>
            <a:endParaRPr kumimoji="1" lang="ko-KR" altLang="en-US" b="1" dirty="0">
              <a:solidFill>
                <a:prstClr val="black"/>
              </a:solidFill>
              <a:latin typeface="굴림" pitchFamily="50" charset="-127"/>
              <a:ea typeface="굴림" pitchFamily="50" charset="-127"/>
            </a:endParaRPr>
          </a:p>
        </p:txBody>
      </p:sp>
      <p:cxnSp>
        <p:nvCxnSpPr>
          <p:cNvPr id="50" name="직선 연결선 49"/>
          <p:cNvCxnSpPr/>
          <p:nvPr/>
        </p:nvCxnSpPr>
        <p:spPr>
          <a:xfrm>
            <a:off x="2477242" y="5368130"/>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2477242" y="4513412"/>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직선 연결선 55"/>
          <p:cNvCxnSpPr/>
          <p:nvPr/>
        </p:nvCxnSpPr>
        <p:spPr>
          <a:xfrm>
            <a:off x="2477242" y="4945460"/>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5578156" y="4369399"/>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62" name="TextBox 61"/>
          <p:cNvSpPr txBox="1"/>
          <p:nvPr/>
        </p:nvSpPr>
        <p:spPr>
          <a:xfrm>
            <a:off x="5578156" y="5261237"/>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63" name="TextBox 62"/>
          <p:cNvSpPr txBox="1"/>
          <p:nvPr/>
        </p:nvSpPr>
        <p:spPr>
          <a:xfrm>
            <a:off x="5578158" y="4801447"/>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64" name="타원 63"/>
          <p:cNvSpPr/>
          <p:nvPr/>
        </p:nvSpPr>
        <p:spPr>
          <a:xfrm>
            <a:off x="2876057" y="4406974"/>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5" name="타원 64"/>
          <p:cNvSpPr/>
          <p:nvPr/>
        </p:nvSpPr>
        <p:spPr>
          <a:xfrm>
            <a:off x="2610181" y="47670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6" name="타원 65"/>
          <p:cNvSpPr/>
          <p:nvPr/>
        </p:nvSpPr>
        <p:spPr>
          <a:xfrm>
            <a:off x="3208400" y="47670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7" name="타원 66"/>
          <p:cNvSpPr/>
          <p:nvPr/>
        </p:nvSpPr>
        <p:spPr>
          <a:xfrm>
            <a:off x="3607215" y="49194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8" name="타원 67"/>
          <p:cNvSpPr/>
          <p:nvPr/>
        </p:nvSpPr>
        <p:spPr>
          <a:xfrm>
            <a:off x="3939558" y="512705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9" name="타원 68"/>
          <p:cNvSpPr/>
          <p:nvPr/>
        </p:nvSpPr>
        <p:spPr>
          <a:xfrm>
            <a:off x="4271904" y="476701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0" name="타원 69"/>
          <p:cNvSpPr/>
          <p:nvPr/>
        </p:nvSpPr>
        <p:spPr>
          <a:xfrm>
            <a:off x="4670718" y="5127054"/>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1" name="자유형 70"/>
          <p:cNvSpPr/>
          <p:nvPr/>
        </p:nvSpPr>
        <p:spPr>
          <a:xfrm>
            <a:off x="2644316" y="4417488"/>
            <a:ext cx="2358747" cy="764087"/>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 name="connsiteX0" fmla="*/ 0 w 2555309"/>
              <a:gd name="connsiteY0" fmla="*/ 375780 h 764087"/>
              <a:gd name="connsiteX1" fmla="*/ 288098 w 2555309"/>
              <a:gd name="connsiteY1" fmla="*/ 0 h 764087"/>
              <a:gd name="connsiteX2" fmla="*/ 638827 w 2555309"/>
              <a:gd name="connsiteY2" fmla="*/ 400832 h 764087"/>
              <a:gd name="connsiteX3" fmla="*/ 1077238 w 2555309"/>
              <a:gd name="connsiteY3" fmla="*/ 526093 h 764087"/>
              <a:gd name="connsiteX4" fmla="*/ 1440493 w 2555309"/>
              <a:gd name="connsiteY4" fmla="*/ 764087 h 764087"/>
              <a:gd name="connsiteX5" fmla="*/ 1803748 w 2555309"/>
              <a:gd name="connsiteY5" fmla="*/ 388306 h 764087"/>
              <a:gd name="connsiteX6" fmla="*/ 2229633 w 2555309"/>
              <a:gd name="connsiteY6" fmla="*/ 739035 h 764087"/>
              <a:gd name="connsiteX7" fmla="*/ 2555309 w 2555309"/>
              <a:gd name="connsiteY7" fmla="*/ 338203 h 76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5309" h="764087">
                <a:moveTo>
                  <a:pt x="0" y="375780"/>
                </a:moveTo>
                <a:lnTo>
                  <a:pt x="288098" y="0"/>
                </a:lnTo>
                <a:lnTo>
                  <a:pt x="638827" y="400832"/>
                </a:lnTo>
                <a:lnTo>
                  <a:pt x="1077238" y="526093"/>
                </a:lnTo>
                <a:lnTo>
                  <a:pt x="1440493" y="764087"/>
                </a:lnTo>
                <a:lnTo>
                  <a:pt x="1803748" y="388306"/>
                </a:lnTo>
                <a:lnTo>
                  <a:pt x="2229633" y="739035"/>
                </a:lnTo>
                <a:lnTo>
                  <a:pt x="2555309" y="3382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2" name="TextBox 71"/>
          <p:cNvSpPr txBox="1"/>
          <p:nvPr/>
        </p:nvSpPr>
        <p:spPr>
          <a:xfrm>
            <a:off x="2767695" y="4005067"/>
            <a:ext cx="2984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a:t>
            </a:r>
            <a:endParaRPr kumimoji="1" lang="ko-KR" altLang="en-US" sz="1600" b="1" dirty="0">
              <a:solidFill>
                <a:prstClr val="black"/>
              </a:solidFill>
              <a:latin typeface="굴림" pitchFamily="50" charset="-127"/>
              <a:ea typeface="굴림" pitchFamily="50" charset="-127"/>
            </a:endParaRPr>
          </a:p>
        </p:txBody>
      </p:sp>
      <p:sp>
        <p:nvSpPr>
          <p:cNvPr id="73" name="타원 72"/>
          <p:cNvSpPr/>
          <p:nvPr/>
        </p:nvSpPr>
        <p:spPr>
          <a:xfrm>
            <a:off x="4979936" y="4752473"/>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2"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283</a:t>
            </a:fld>
            <a:endParaRPr lang="ko-KR" altLang="en-US" sz="1200" dirty="0">
              <a:solidFill>
                <a:prstClr val="black"/>
              </a:solidFill>
            </a:endParaRPr>
          </a:p>
        </p:txBody>
      </p:sp>
    </p:spTree>
    <p:extLst>
      <p:ext uri="{BB962C8B-B14F-4D97-AF65-F5344CB8AC3E}">
        <p14:creationId xmlns:p14="http://schemas.microsoft.com/office/powerpoint/2010/main" val="2708718652"/>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직선 연결선 5"/>
          <p:cNvCxnSpPr/>
          <p:nvPr/>
        </p:nvCxnSpPr>
        <p:spPr>
          <a:xfrm>
            <a:off x="2644401" y="3698827"/>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644401" y="2844109"/>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644401" y="3276157"/>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5745316" y="2700096"/>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13" name="TextBox 12"/>
          <p:cNvSpPr txBox="1"/>
          <p:nvPr/>
        </p:nvSpPr>
        <p:spPr>
          <a:xfrm>
            <a:off x="5745316" y="3591932"/>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14" name="TextBox 13"/>
          <p:cNvSpPr txBox="1"/>
          <p:nvPr/>
        </p:nvSpPr>
        <p:spPr>
          <a:xfrm>
            <a:off x="5745317" y="3132144"/>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15" name="타원 14"/>
          <p:cNvSpPr/>
          <p:nvPr/>
        </p:nvSpPr>
        <p:spPr>
          <a:xfrm>
            <a:off x="3043216" y="2737671"/>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7" name="타원 16"/>
          <p:cNvSpPr/>
          <p:nvPr/>
        </p:nvSpPr>
        <p:spPr>
          <a:xfrm>
            <a:off x="3375559" y="309771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8" name="타원 17"/>
          <p:cNvSpPr/>
          <p:nvPr/>
        </p:nvSpPr>
        <p:spPr>
          <a:xfrm>
            <a:off x="3774374" y="325011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9" name="타원 18"/>
          <p:cNvSpPr/>
          <p:nvPr/>
        </p:nvSpPr>
        <p:spPr>
          <a:xfrm>
            <a:off x="4106718" y="345775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0" name="타원 19"/>
          <p:cNvSpPr/>
          <p:nvPr/>
        </p:nvSpPr>
        <p:spPr>
          <a:xfrm>
            <a:off x="4439062" y="309771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1" name="타원 20"/>
          <p:cNvSpPr/>
          <p:nvPr/>
        </p:nvSpPr>
        <p:spPr>
          <a:xfrm>
            <a:off x="4837877" y="345775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3" name="자유형 22"/>
          <p:cNvSpPr/>
          <p:nvPr/>
        </p:nvSpPr>
        <p:spPr>
          <a:xfrm>
            <a:off x="2811475" y="2748185"/>
            <a:ext cx="2358747" cy="764087"/>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 name="connsiteX0" fmla="*/ 0 w 2555309"/>
              <a:gd name="connsiteY0" fmla="*/ 375780 h 764087"/>
              <a:gd name="connsiteX1" fmla="*/ 288098 w 2555309"/>
              <a:gd name="connsiteY1" fmla="*/ 0 h 764087"/>
              <a:gd name="connsiteX2" fmla="*/ 638827 w 2555309"/>
              <a:gd name="connsiteY2" fmla="*/ 400832 h 764087"/>
              <a:gd name="connsiteX3" fmla="*/ 1077238 w 2555309"/>
              <a:gd name="connsiteY3" fmla="*/ 526093 h 764087"/>
              <a:gd name="connsiteX4" fmla="*/ 1440493 w 2555309"/>
              <a:gd name="connsiteY4" fmla="*/ 764087 h 764087"/>
              <a:gd name="connsiteX5" fmla="*/ 1803748 w 2555309"/>
              <a:gd name="connsiteY5" fmla="*/ 388306 h 764087"/>
              <a:gd name="connsiteX6" fmla="*/ 2229633 w 2555309"/>
              <a:gd name="connsiteY6" fmla="*/ 739035 h 764087"/>
              <a:gd name="connsiteX7" fmla="*/ 2555309 w 2555309"/>
              <a:gd name="connsiteY7" fmla="*/ 338203 h 76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5309" h="764087">
                <a:moveTo>
                  <a:pt x="0" y="375780"/>
                </a:moveTo>
                <a:lnTo>
                  <a:pt x="288098" y="0"/>
                </a:lnTo>
                <a:lnTo>
                  <a:pt x="638827" y="400832"/>
                </a:lnTo>
                <a:lnTo>
                  <a:pt x="1077238" y="526093"/>
                </a:lnTo>
                <a:lnTo>
                  <a:pt x="1440493" y="764087"/>
                </a:lnTo>
                <a:lnTo>
                  <a:pt x="1803748" y="388306"/>
                </a:lnTo>
                <a:lnTo>
                  <a:pt x="2229633" y="739035"/>
                </a:lnTo>
                <a:lnTo>
                  <a:pt x="2555309" y="3382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4" name="TextBox 23"/>
          <p:cNvSpPr txBox="1"/>
          <p:nvPr/>
        </p:nvSpPr>
        <p:spPr>
          <a:xfrm>
            <a:off x="2934854" y="2335764"/>
            <a:ext cx="2984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a:t>
            </a:r>
            <a:endParaRPr kumimoji="1" lang="ko-KR" altLang="en-US" sz="1600" b="1" dirty="0">
              <a:solidFill>
                <a:prstClr val="black"/>
              </a:solidFill>
              <a:latin typeface="굴림" pitchFamily="50" charset="-127"/>
              <a:ea typeface="굴림" pitchFamily="50" charset="-127"/>
            </a:endParaRPr>
          </a:p>
        </p:txBody>
      </p:sp>
      <p:sp>
        <p:nvSpPr>
          <p:cNvPr id="35" name="타원 34"/>
          <p:cNvSpPr/>
          <p:nvPr/>
        </p:nvSpPr>
        <p:spPr>
          <a:xfrm>
            <a:off x="5147095" y="3083170"/>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36" name="직선 연결선 35"/>
          <p:cNvCxnSpPr/>
          <p:nvPr/>
        </p:nvCxnSpPr>
        <p:spPr>
          <a:xfrm>
            <a:off x="2644401" y="5355592"/>
            <a:ext cx="305757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2644401" y="4500874"/>
            <a:ext cx="305757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a:off x="2644401" y="4932922"/>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5745316" y="4356861"/>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40" name="TextBox 39"/>
          <p:cNvSpPr txBox="1"/>
          <p:nvPr/>
        </p:nvSpPr>
        <p:spPr>
          <a:xfrm>
            <a:off x="5745316" y="5248699"/>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41" name="TextBox 40"/>
          <p:cNvSpPr txBox="1"/>
          <p:nvPr/>
        </p:nvSpPr>
        <p:spPr>
          <a:xfrm>
            <a:off x="5745317" y="4788909"/>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44" name="타원 43"/>
          <p:cNvSpPr/>
          <p:nvPr/>
        </p:nvSpPr>
        <p:spPr>
          <a:xfrm>
            <a:off x="3375559" y="475447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5" name="타원 44"/>
          <p:cNvSpPr/>
          <p:nvPr/>
        </p:nvSpPr>
        <p:spPr>
          <a:xfrm>
            <a:off x="3774374" y="490687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6" name="타원 45"/>
          <p:cNvSpPr/>
          <p:nvPr/>
        </p:nvSpPr>
        <p:spPr>
          <a:xfrm>
            <a:off x="4106718" y="511451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7" name="타원 46"/>
          <p:cNvSpPr/>
          <p:nvPr/>
        </p:nvSpPr>
        <p:spPr>
          <a:xfrm>
            <a:off x="4439062" y="475447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8" name="타원 47"/>
          <p:cNvSpPr/>
          <p:nvPr/>
        </p:nvSpPr>
        <p:spPr>
          <a:xfrm>
            <a:off x="4837877" y="511451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9" name="자유형 48"/>
          <p:cNvSpPr/>
          <p:nvPr/>
        </p:nvSpPr>
        <p:spPr>
          <a:xfrm>
            <a:off x="2811475" y="4743151"/>
            <a:ext cx="2358747" cy="425884"/>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 name="connsiteX0" fmla="*/ 0 w 2555309"/>
              <a:gd name="connsiteY0" fmla="*/ 375780 h 764087"/>
              <a:gd name="connsiteX1" fmla="*/ 288098 w 2555309"/>
              <a:gd name="connsiteY1" fmla="*/ 0 h 764087"/>
              <a:gd name="connsiteX2" fmla="*/ 638827 w 2555309"/>
              <a:gd name="connsiteY2" fmla="*/ 400832 h 764087"/>
              <a:gd name="connsiteX3" fmla="*/ 1077238 w 2555309"/>
              <a:gd name="connsiteY3" fmla="*/ 526093 h 764087"/>
              <a:gd name="connsiteX4" fmla="*/ 1440493 w 2555309"/>
              <a:gd name="connsiteY4" fmla="*/ 764087 h 764087"/>
              <a:gd name="connsiteX5" fmla="*/ 1803748 w 2555309"/>
              <a:gd name="connsiteY5" fmla="*/ 388306 h 764087"/>
              <a:gd name="connsiteX6" fmla="*/ 2229633 w 2555309"/>
              <a:gd name="connsiteY6" fmla="*/ 739035 h 764087"/>
              <a:gd name="connsiteX7" fmla="*/ 2555309 w 2555309"/>
              <a:gd name="connsiteY7" fmla="*/ 338203 h 764087"/>
              <a:gd name="connsiteX0" fmla="*/ 0 w 2555309"/>
              <a:gd name="connsiteY0" fmla="*/ 37577 h 425884"/>
              <a:gd name="connsiteX1" fmla="*/ 638827 w 2555309"/>
              <a:gd name="connsiteY1" fmla="*/ 62629 h 425884"/>
              <a:gd name="connsiteX2" fmla="*/ 1077238 w 2555309"/>
              <a:gd name="connsiteY2" fmla="*/ 187890 h 425884"/>
              <a:gd name="connsiteX3" fmla="*/ 1440493 w 2555309"/>
              <a:gd name="connsiteY3" fmla="*/ 425884 h 425884"/>
              <a:gd name="connsiteX4" fmla="*/ 1803748 w 2555309"/>
              <a:gd name="connsiteY4" fmla="*/ 50103 h 425884"/>
              <a:gd name="connsiteX5" fmla="*/ 2229633 w 2555309"/>
              <a:gd name="connsiteY5" fmla="*/ 400832 h 425884"/>
              <a:gd name="connsiteX6" fmla="*/ 2555309 w 2555309"/>
              <a:gd name="connsiteY6" fmla="*/ 0 h 4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5309" h="425884">
                <a:moveTo>
                  <a:pt x="0" y="37577"/>
                </a:moveTo>
                <a:lnTo>
                  <a:pt x="638827" y="62629"/>
                </a:lnTo>
                <a:lnTo>
                  <a:pt x="1077238" y="187890"/>
                </a:lnTo>
                <a:lnTo>
                  <a:pt x="1440493" y="425884"/>
                </a:lnTo>
                <a:lnTo>
                  <a:pt x="1803748" y="50103"/>
                </a:lnTo>
                <a:lnTo>
                  <a:pt x="2229633" y="400832"/>
                </a:lnTo>
                <a:lnTo>
                  <a:pt x="25553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51" name="타원 50"/>
          <p:cNvSpPr/>
          <p:nvPr/>
        </p:nvSpPr>
        <p:spPr>
          <a:xfrm>
            <a:off x="5147095" y="4739935"/>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52" name="직선 연결선 51"/>
          <p:cNvCxnSpPr/>
          <p:nvPr/>
        </p:nvCxnSpPr>
        <p:spPr>
          <a:xfrm>
            <a:off x="2644401" y="4572882"/>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직선 연결선 52"/>
          <p:cNvCxnSpPr/>
          <p:nvPr/>
        </p:nvCxnSpPr>
        <p:spPr>
          <a:xfrm>
            <a:off x="2644401" y="5308636"/>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p:nvPr/>
        </p:nvCxnSpPr>
        <p:spPr>
          <a:xfrm>
            <a:off x="3077436" y="4347480"/>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8" name="직선 화살표 연결선 57"/>
          <p:cNvCxnSpPr/>
          <p:nvPr/>
        </p:nvCxnSpPr>
        <p:spPr>
          <a:xfrm flipV="1">
            <a:off x="3100561" y="5211576"/>
            <a:ext cx="0" cy="36004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9" name="이등변 삼각형 58"/>
          <p:cNvSpPr/>
          <p:nvPr/>
        </p:nvSpPr>
        <p:spPr>
          <a:xfrm rot="10800000">
            <a:off x="3077436" y="4032255"/>
            <a:ext cx="1994068" cy="208663"/>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0" name="TextBox 59"/>
          <p:cNvSpPr txBox="1"/>
          <p:nvPr/>
        </p:nvSpPr>
        <p:spPr>
          <a:xfrm>
            <a:off x="2878031" y="5688440"/>
            <a:ext cx="3773790"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The width of UCL and LCL will be adjusted.</a:t>
            </a:r>
            <a:endParaRPr kumimoji="1" lang="ko-KR" altLang="en-US" sz="1400" b="1" dirty="0">
              <a:solidFill>
                <a:prstClr val="black"/>
              </a:solidFill>
              <a:latin typeface="굴림" pitchFamily="50" charset="-127"/>
              <a:ea typeface="굴림" pitchFamily="50" charset="-127"/>
            </a:endParaRPr>
          </a:p>
        </p:txBody>
      </p:sp>
      <p:sp>
        <p:nvSpPr>
          <p:cNvPr id="61" name="TextBox 60"/>
          <p:cNvSpPr txBox="1"/>
          <p:nvPr/>
        </p:nvSpPr>
        <p:spPr>
          <a:xfrm>
            <a:off x="6429388" y="2996953"/>
            <a:ext cx="2654894" cy="53860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srgbClr val="00B050"/>
                </a:solidFill>
                <a:latin typeface="굴림" pitchFamily="50" charset="-127"/>
                <a:ea typeface="굴림" pitchFamily="50" charset="-127"/>
              </a:rPr>
              <a:t>We subtract the ideal point</a:t>
            </a:r>
          </a:p>
          <a:p>
            <a:pPr fontAlgn="base">
              <a:lnSpc>
                <a:spcPct val="130000"/>
              </a:lnSpc>
              <a:spcBef>
                <a:spcPct val="0"/>
              </a:spcBef>
              <a:spcAft>
                <a:spcPct val="0"/>
              </a:spcAft>
              <a:buClr>
                <a:srgbClr val="C5003D"/>
              </a:buClr>
            </a:pPr>
            <a:r>
              <a:rPr kumimoji="1" lang="en-US" altLang="ko-KR" sz="1200" b="1" dirty="0">
                <a:solidFill>
                  <a:srgbClr val="00B050"/>
                </a:solidFill>
                <a:latin typeface="굴림" pitchFamily="50" charset="-127"/>
                <a:ea typeface="굴림" pitchFamily="50" charset="-127"/>
              </a:rPr>
              <a:t> and calculate UCL and LCL again.</a:t>
            </a:r>
            <a:endParaRPr kumimoji="1" lang="ko-KR" altLang="en-US" sz="1200" b="1" dirty="0">
              <a:solidFill>
                <a:srgbClr val="00B050"/>
              </a:solidFill>
              <a:latin typeface="굴림" pitchFamily="50" charset="-127"/>
              <a:ea typeface="굴림" pitchFamily="50" charset="-127"/>
            </a:endParaRPr>
          </a:p>
        </p:txBody>
      </p:sp>
      <p:sp>
        <p:nvSpPr>
          <p:cNvPr id="5" name="TextBox 4"/>
          <p:cNvSpPr txBox="1"/>
          <p:nvPr/>
        </p:nvSpPr>
        <p:spPr>
          <a:xfrm>
            <a:off x="251520" y="1013440"/>
            <a:ext cx="8535322" cy="1327543"/>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It depends on whether or not the process abnormality issued in the previous month will recur again.</a:t>
            </a:r>
            <a:br>
              <a:rPr kumimoji="1" lang="en-US" altLang="ko-KR" sz="1600" b="1" dirty="0">
                <a:solidFill>
                  <a:prstClr val="black"/>
                </a:solidFill>
                <a:latin typeface="굴림" pitchFamily="50" charset="-127"/>
                <a:ea typeface="굴림" pitchFamily="50" charset="-127"/>
              </a:rPr>
            </a:br>
            <a:r>
              <a:rPr kumimoji="1" lang="en-US" altLang="ko-KR" sz="1600" b="1" dirty="0">
                <a:solidFill>
                  <a:prstClr val="black"/>
                </a:solidFill>
                <a:latin typeface="굴림" pitchFamily="50" charset="-127"/>
                <a:ea typeface="굴림" pitchFamily="50" charset="-127"/>
              </a:rPr>
              <a:t>If the cause of the abnormality is removed and it is judged that this abnormality will not occur again, calculate the UCL and LCL again without the abnormal points.</a:t>
            </a:r>
            <a:endParaRPr kumimoji="1" lang="ko-KR" altLang="en-US" sz="1600" b="1" dirty="0">
              <a:solidFill>
                <a:prstClr val="black"/>
              </a:solidFill>
              <a:latin typeface="굴림" pitchFamily="50" charset="-127"/>
              <a:ea typeface="굴림" pitchFamily="50" charset="-127"/>
            </a:endParaRPr>
          </a:p>
        </p:txBody>
      </p:sp>
      <p:sp>
        <p:nvSpPr>
          <p:cNvPr id="42" name="TextBox 41"/>
          <p:cNvSpPr txBox="1"/>
          <p:nvPr/>
        </p:nvSpPr>
        <p:spPr>
          <a:xfrm>
            <a:off x="118585" y="116635"/>
            <a:ext cx="482164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Operation of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r>
              <a:rPr kumimoji="1" lang="ko-KR" altLang="en-US" sz="2000" b="1" dirty="0">
                <a:solidFill>
                  <a:prstClr val="black"/>
                </a:solidFill>
                <a:ea typeface="굴림" pitchFamily="50" charset="-127"/>
              </a:rPr>
              <a:t> </a:t>
            </a:r>
            <a:r>
              <a:rPr kumimoji="1" lang="en-US" altLang="ko-KR" sz="2000" b="1" dirty="0">
                <a:solidFill>
                  <a:prstClr val="black"/>
                </a:solidFill>
                <a:ea typeface="굴림" pitchFamily="50" charset="-127"/>
              </a:rPr>
              <a:t> </a:t>
            </a:r>
            <a:endParaRPr kumimoji="1" lang="ko-KR" altLang="en-US" sz="2000" b="1" dirty="0">
              <a:solidFill>
                <a:prstClr val="black"/>
              </a:solidFill>
              <a:ea typeface="굴림" pitchFamily="50" charset="-127"/>
            </a:endParaRPr>
          </a:p>
        </p:txBody>
      </p:sp>
      <p:sp>
        <p:nvSpPr>
          <p:cNvPr id="43"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284</a:t>
            </a:fld>
            <a:endParaRPr lang="ko-KR" altLang="en-US" sz="1200" dirty="0">
              <a:solidFill>
                <a:prstClr val="black"/>
              </a:solidFill>
            </a:endParaRPr>
          </a:p>
        </p:txBody>
      </p:sp>
    </p:spTree>
    <p:extLst>
      <p:ext uri="{BB962C8B-B14F-4D97-AF65-F5344CB8AC3E}">
        <p14:creationId xmlns:p14="http://schemas.microsoft.com/office/powerpoint/2010/main" val="264580804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직선 연결선 2"/>
          <p:cNvCxnSpPr/>
          <p:nvPr/>
        </p:nvCxnSpPr>
        <p:spPr>
          <a:xfrm>
            <a:off x="2543711" y="2770417"/>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직선 연결선 3"/>
          <p:cNvCxnSpPr/>
          <p:nvPr/>
        </p:nvCxnSpPr>
        <p:spPr>
          <a:xfrm>
            <a:off x="2543711" y="3994553"/>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p:cNvCxnSpPr/>
          <p:nvPr/>
        </p:nvCxnSpPr>
        <p:spPr>
          <a:xfrm>
            <a:off x="2543711" y="3202465"/>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2543711" y="4426601"/>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543711" y="3596935"/>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5644626" y="2601352"/>
            <a:ext cx="470000"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USL</a:t>
            </a:r>
            <a:endParaRPr kumimoji="1" lang="ko-KR" altLang="en-US" sz="1200" b="1" dirty="0">
              <a:solidFill>
                <a:prstClr val="black"/>
              </a:solidFill>
              <a:latin typeface="굴림" pitchFamily="50" charset="-127"/>
              <a:ea typeface="굴림" pitchFamily="50" charset="-127"/>
            </a:endParaRPr>
          </a:p>
        </p:txBody>
      </p:sp>
      <p:sp>
        <p:nvSpPr>
          <p:cNvPr id="9" name="TextBox 8"/>
          <p:cNvSpPr txBox="1"/>
          <p:nvPr/>
        </p:nvSpPr>
        <p:spPr>
          <a:xfrm>
            <a:off x="5644627" y="4282588"/>
            <a:ext cx="444352"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LSL</a:t>
            </a:r>
            <a:endParaRPr kumimoji="1" lang="ko-KR" altLang="en-US" sz="1200" b="1" dirty="0">
              <a:solidFill>
                <a:prstClr val="black"/>
              </a:solidFill>
              <a:latin typeface="굴림" pitchFamily="50" charset="-127"/>
              <a:ea typeface="굴림" pitchFamily="50" charset="-127"/>
            </a:endParaRPr>
          </a:p>
        </p:txBody>
      </p:sp>
      <p:sp>
        <p:nvSpPr>
          <p:cNvPr id="10" name="TextBox 9"/>
          <p:cNvSpPr txBox="1"/>
          <p:nvPr/>
        </p:nvSpPr>
        <p:spPr>
          <a:xfrm>
            <a:off x="5644625" y="3058452"/>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11" name="TextBox 10"/>
          <p:cNvSpPr txBox="1"/>
          <p:nvPr/>
        </p:nvSpPr>
        <p:spPr>
          <a:xfrm>
            <a:off x="5644624" y="3850539"/>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12" name="TextBox 11"/>
          <p:cNvSpPr txBox="1"/>
          <p:nvPr/>
        </p:nvSpPr>
        <p:spPr>
          <a:xfrm>
            <a:off x="5644627" y="3452921"/>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13" name="타원 12"/>
          <p:cNvSpPr/>
          <p:nvPr/>
        </p:nvSpPr>
        <p:spPr>
          <a:xfrm>
            <a:off x="2942525" y="3058449"/>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4" name="타원 13"/>
          <p:cNvSpPr/>
          <p:nvPr/>
        </p:nvSpPr>
        <p:spPr>
          <a:xfrm>
            <a:off x="2676650" y="34184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5" name="타원 14"/>
          <p:cNvSpPr/>
          <p:nvPr/>
        </p:nvSpPr>
        <p:spPr>
          <a:xfrm>
            <a:off x="3274869" y="34184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6" name="타원 15"/>
          <p:cNvSpPr/>
          <p:nvPr/>
        </p:nvSpPr>
        <p:spPr>
          <a:xfrm>
            <a:off x="3673684" y="35708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7" name="타원 16"/>
          <p:cNvSpPr/>
          <p:nvPr/>
        </p:nvSpPr>
        <p:spPr>
          <a:xfrm>
            <a:off x="4006027" y="377852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8" name="타원 17"/>
          <p:cNvSpPr/>
          <p:nvPr/>
        </p:nvSpPr>
        <p:spPr>
          <a:xfrm>
            <a:off x="4338373" y="34184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9" name="타원 18"/>
          <p:cNvSpPr/>
          <p:nvPr/>
        </p:nvSpPr>
        <p:spPr>
          <a:xfrm>
            <a:off x="4737186" y="377852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0" name="타원 19"/>
          <p:cNvSpPr/>
          <p:nvPr/>
        </p:nvSpPr>
        <p:spPr>
          <a:xfrm>
            <a:off x="5202469" y="2626401"/>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1" name="자유형 20"/>
          <p:cNvSpPr/>
          <p:nvPr/>
        </p:nvSpPr>
        <p:spPr>
          <a:xfrm>
            <a:off x="2717283" y="2651037"/>
            <a:ext cx="2543747" cy="1177446"/>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5726" h="1177446">
                <a:moveTo>
                  <a:pt x="0" y="789139"/>
                </a:moveTo>
                <a:lnTo>
                  <a:pt x="288098" y="413359"/>
                </a:lnTo>
                <a:lnTo>
                  <a:pt x="638827" y="814191"/>
                </a:lnTo>
                <a:lnTo>
                  <a:pt x="1077238" y="939452"/>
                </a:lnTo>
                <a:lnTo>
                  <a:pt x="1440493" y="1177446"/>
                </a:lnTo>
                <a:lnTo>
                  <a:pt x="1803748" y="801665"/>
                </a:lnTo>
                <a:lnTo>
                  <a:pt x="2229633" y="1152394"/>
                </a:lnTo>
                <a:lnTo>
                  <a:pt x="275572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2" name="TextBox 21"/>
          <p:cNvSpPr txBox="1"/>
          <p:nvPr/>
        </p:nvSpPr>
        <p:spPr>
          <a:xfrm>
            <a:off x="2600537" y="2728550"/>
            <a:ext cx="2984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a:t>
            </a:r>
            <a:endParaRPr kumimoji="1" lang="ko-KR" altLang="en-US" sz="1600" b="1" dirty="0">
              <a:solidFill>
                <a:prstClr val="black"/>
              </a:solidFill>
              <a:latin typeface="굴림" pitchFamily="50" charset="-127"/>
              <a:ea typeface="굴림" pitchFamily="50" charset="-127"/>
            </a:endParaRPr>
          </a:p>
        </p:txBody>
      </p:sp>
      <p:sp>
        <p:nvSpPr>
          <p:cNvPr id="23" name="TextBox 22"/>
          <p:cNvSpPr txBox="1"/>
          <p:nvPr/>
        </p:nvSpPr>
        <p:spPr>
          <a:xfrm>
            <a:off x="4986019" y="2341642"/>
            <a:ext cx="306494"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b</a:t>
            </a:r>
            <a:endParaRPr kumimoji="1" lang="ko-KR" altLang="en-US" sz="1600" b="1" dirty="0">
              <a:solidFill>
                <a:prstClr val="black"/>
              </a:solidFill>
              <a:latin typeface="굴림" pitchFamily="50" charset="-127"/>
              <a:ea typeface="굴림" pitchFamily="50" charset="-127"/>
            </a:endParaRPr>
          </a:p>
        </p:txBody>
      </p:sp>
      <p:cxnSp>
        <p:nvCxnSpPr>
          <p:cNvPr id="24" name="직선 연결선 23"/>
          <p:cNvCxnSpPr/>
          <p:nvPr/>
        </p:nvCxnSpPr>
        <p:spPr>
          <a:xfrm>
            <a:off x="3873090" y="2204864"/>
            <a:ext cx="0" cy="122413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p:nvPr/>
        </p:nvCxnSpPr>
        <p:spPr>
          <a:xfrm>
            <a:off x="3873090" y="2204864"/>
            <a:ext cx="0" cy="576064"/>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6" name="직선 화살표 연결선 25"/>
          <p:cNvCxnSpPr/>
          <p:nvPr/>
        </p:nvCxnSpPr>
        <p:spPr>
          <a:xfrm flipV="1">
            <a:off x="3873090" y="3175398"/>
            <a:ext cx="0" cy="360040"/>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927998" y="2815358"/>
            <a:ext cx="739305"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Margin</a:t>
            </a:r>
            <a:endParaRPr kumimoji="1" lang="ko-KR" altLang="en-US" sz="1400" b="1" dirty="0">
              <a:solidFill>
                <a:prstClr val="black"/>
              </a:solidFill>
              <a:latin typeface="굴림" pitchFamily="50" charset="-127"/>
              <a:ea typeface="굴림" pitchFamily="50" charset="-127"/>
            </a:endParaRPr>
          </a:p>
        </p:txBody>
      </p:sp>
      <p:sp>
        <p:nvSpPr>
          <p:cNvPr id="31" name="TextBox 30"/>
          <p:cNvSpPr txBox="1"/>
          <p:nvPr/>
        </p:nvSpPr>
        <p:spPr>
          <a:xfrm>
            <a:off x="357158" y="980728"/>
            <a:ext cx="8429684" cy="932563"/>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The control chart is operated by supervisors in the field. It is not defects to leave the UCL and LCL.</a:t>
            </a:r>
          </a:p>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It is a language of the process of sending a signal to a person because the process is abnormal.</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If this is ignored, the process will fail. It is caused by defects or equipment failure.</a:t>
            </a:r>
            <a:endParaRPr kumimoji="1" lang="ko-KR" altLang="en-US" sz="1400" b="1" dirty="0">
              <a:solidFill>
                <a:prstClr val="black"/>
              </a:solidFill>
              <a:latin typeface="굴림" pitchFamily="50" charset="-127"/>
              <a:ea typeface="굴림" pitchFamily="50" charset="-127"/>
            </a:endParaRPr>
          </a:p>
        </p:txBody>
      </p:sp>
      <p:sp>
        <p:nvSpPr>
          <p:cNvPr id="32" name="TextBox 31"/>
          <p:cNvSpPr txBox="1"/>
          <p:nvPr/>
        </p:nvSpPr>
        <p:spPr>
          <a:xfrm>
            <a:off x="532842" y="4941168"/>
            <a:ext cx="8325438" cy="149271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Decreasing the width of UCL and LCL does not mean that USL and LSL will decrease.</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USL and LSL are standards set at product development.</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The difference between USL and UCL is the margin of care. Supervisors in the field must constantly stabilize the process. And we should aim to make this margin and make a process that is not defective.</a:t>
            </a:r>
            <a:endParaRPr kumimoji="1" lang="ko-KR" altLang="en-US" sz="1400" b="1" dirty="0">
              <a:solidFill>
                <a:prstClr val="black"/>
              </a:solidFill>
              <a:latin typeface="굴림" pitchFamily="50" charset="-127"/>
              <a:ea typeface="굴림" pitchFamily="50" charset="-127"/>
            </a:endParaRPr>
          </a:p>
        </p:txBody>
      </p:sp>
      <p:sp>
        <p:nvSpPr>
          <p:cNvPr id="33" name="TextBox 32"/>
          <p:cNvSpPr txBox="1"/>
          <p:nvPr/>
        </p:nvSpPr>
        <p:spPr>
          <a:xfrm>
            <a:off x="118585" y="116635"/>
            <a:ext cx="482164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Operation of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r>
              <a:rPr kumimoji="1" lang="ko-KR" altLang="en-US" sz="2000" b="1" dirty="0">
                <a:solidFill>
                  <a:prstClr val="black"/>
                </a:solidFill>
                <a:ea typeface="굴림" pitchFamily="50" charset="-127"/>
              </a:rPr>
              <a:t> </a:t>
            </a:r>
            <a:r>
              <a:rPr kumimoji="1" lang="en-US" altLang="ko-KR" sz="2000" b="1" dirty="0">
                <a:solidFill>
                  <a:prstClr val="black"/>
                </a:solidFill>
                <a:ea typeface="굴림" pitchFamily="50" charset="-127"/>
              </a:rPr>
              <a:t> </a:t>
            </a:r>
            <a:endParaRPr kumimoji="1" lang="ko-KR" altLang="en-US" sz="2000" b="1" dirty="0">
              <a:solidFill>
                <a:prstClr val="black"/>
              </a:solidFill>
              <a:ea typeface="굴림" pitchFamily="50" charset="-127"/>
            </a:endParaRPr>
          </a:p>
        </p:txBody>
      </p:sp>
      <p:sp>
        <p:nvSpPr>
          <p:cNvPr id="34"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285</a:t>
            </a:fld>
            <a:endParaRPr lang="ko-KR" altLang="en-US" sz="1200" dirty="0">
              <a:solidFill>
                <a:prstClr val="black"/>
              </a:solidFill>
            </a:endParaRPr>
          </a:p>
        </p:txBody>
      </p:sp>
    </p:spTree>
    <p:extLst>
      <p:ext uri="{BB962C8B-B14F-4D97-AF65-F5344CB8AC3E}">
        <p14:creationId xmlns:p14="http://schemas.microsoft.com/office/powerpoint/2010/main" val="879687901"/>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직선 연결선 5"/>
          <p:cNvCxnSpPr/>
          <p:nvPr/>
        </p:nvCxnSpPr>
        <p:spPr>
          <a:xfrm>
            <a:off x="2644401" y="3698827"/>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644401" y="2844109"/>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644401" y="3276157"/>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5745316" y="2700096"/>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13" name="TextBox 12"/>
          <p:cNvSpPr txBox="1"/>
          <p:nvPr/>
        </p:nvSpPr>
        <p:spPr>
          <a:xfrm>
            <a:off x="5745316" y="3591932"/>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14" name="TextBox 13"/>
          <p:cNvSpPr txBox="1"/>
          <p:nvPr/>
        </p:nvSpPr>
        <p:spPr>
          <a:xfrm>
            <a:off x="5745317" y="3132144"/>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15" name="타원 14"/>
          <p:cNvSpPr/>
          <p:nvPr/>
        </p:nvSpPr>
        <p:spPr>
          <a:xfrm>
            <a:off x="3043216" y="2737671"/>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7" name="타원 16"/>
          <p:cNvSpPr/>
          <p:nvPr/>
        </p:nvSpPr>
        <p:spPr>
          <a:xfrm>
            <a:off x="3375559" y="309771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8" name="타원 17"/>
          <p:cNvSpPr/>
          <p:nvPr/>
        </p:nvSpPr>
        <p:spPr>
          <a:xfrm>
            <a:off x="3774374" y="325011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9" name="타원 18"/>
          <p:cNvSpPr/>
          <p:nvPr/>
        </p:nvSpPr>
        <p:spPr>
          <a:xfrm>
            <a:off x="4106718" y="345775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0" name="타원 19"/>
          <p:cNvSpPr/>
          <p:nvPr/>
        </p:nvSpPr>
        <p:spPr>
          <a:xfrm>
            <a:off x="4439062" y="309771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1" name="타원 20"/>
          <p:cNvSpPr/>
          <p:nvPr/>
        </p:nvSpPr>
        <p:spPr>
          <a:xfrm>
            <a:off x="4837877" y="3457751"/>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3" name="자유형 22"/>
          <p:cNvSpPr/>
          <p:nvPr/>
        </p:nvSpPr>
        <p:spPr>
          <a:xfrm>
            <a:off x="2811475" y="2748185"/>
            <a:ext cx="2358747" cy="764087"/>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 name="connsiteX0" fmla="*/ 0 w 2555309"/>
              <a:gd name="connsiteY0" fmla="*/ 375780 h 764087"/>
              <a:gd name="connsiteX1" fmla="*/ 288098 w 2555309"/>
              <a:gd name="connsiteY1" fmla="*/ 0 h 764087"/>
              <a:gd name="connsiteX2" fmla="*/ 638827 w 2555309"/>
              <a:gd name="connsiteY2" fmla="*/ 400832 h 764087"/>
              <a:gd name="connsiteX3" fmla="*/ 1077238 w 2555309"/>
              <a:gd name="connsiteY3" fmla="*/ 526093 h 764087"/>
              <a:gd name="connsiteX4" fmla="*/ 1440493 w 2555309"/>
              <a:gd name="connsiteY4" fmla="*/ 764087 h 764087"/>
              <a:gd name="connsiteX5" fmla="*/ 1803748 w 2555309"/>
              <a:gd name="connsiteY5" fmla="*/ 388306 h 764087"/>
              <a:gd name="connsiteX6" fmla="*/ 2229633 w 2555309"/>
              <a:gd name="connsiteY6" fmla="*/ 739035 h 764087"/>
              <a:gd name="connsiteX7" fmla="*/ 2555309 w 2555309"/>
              <a:gd name="connsiteY7" fmla="*/ 338203 h 76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5309" h="764087">
                <a:moveTo>
                  <a:pt x="0" y="375780"/>
                </a:moveTo>
                <a:lnTo>
                  <a:pt x="288098" y="0"/>
                </a:lnTo>
                <a:lnTo>
                  <a:pt x="638827" y="400832"/>
                </a:lnTo>
                <a:lnTo>
                  <a:pt x="1077238" y="526093"/>
                </a:lnTo>
                <a:lnTo>
                  <a:pt x="1440493" y="764087"/>
                </a:lnTo>
                <a:lnTo>
                  <a:pt x="1803748" y="388306"/>
                </a:lnTo>
                <a:lnTo>
                  <a:pt x="2229633" y="739035"/>
                </a:lnTo>
                <a:lnTo>
                  <a:pt x="2555309" y="3382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4" name="TextBox 23"/>
          <p:cNvSpPr txBox="1"/>
          <p:nvPr/>
        </p:nvSpPr>
        <p:spPr>
          <a:xfrm>
            <a:off x="2934854" y="2335764"/>
            <a:ext cx="2984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a:t>
            </a:r>
            <a:endParaRPr kumimoji="1" lang="ko-KR" altLang="en-US" sz="1600" b="1" dirty="0">
              <a:solidFill>
                <a:prstClr val="black"/>
              </a:solidFill>
              <a:latin typeface="굴림" pitchFamily="50" charset="-127"/>
              <a:ea typeface="굴림" pitchFamily="50" charset="-127"/>
            </a:endParaRPr>
          </a:p>
        </p:txBody>
      </p:sp>
      <p:sp>
        <p:nvSpPr>
          <p:cNvPr id="35" name="타원 34"/>
          <p:cNvSpPr/>
          <p:nvPr/>
        </p:nvSpPr>
        <p:spPr>
          <a:xfrm>
            <a:off x="5147095" y="3083170"/>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36" name="직선 연결선 35"/>
          <p:cNvCxnSpPr/>
          <p:nvPr/>
        </p:nvCxnSpPr>
        <p:spPr>
          <a:xfrm>
            <a:off x="2644401" y="5355592"/>
            <a:ext cx="305757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2644401" y="4500874"/>
            <a:ext cx="305757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a:off x="2644401" y="4932922"/>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5745316" y="4356861"/>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40" name="TextBox 39"/>
          <p:cNvSpPr txBox="1"/>
          <p:nvPr/>
        </p:nvSpPr>
        <p:spPr>
          <a:xfrm>
            <a:off x="5745316" y="5248699"/>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41" name="TextBox 40"/>
          <p:cNvSpPr txBox="1"/>
          <p:nvPr/>
        </p:nvSpPr>
        <p:spPr>
          <a:xfrm>
            <a:off x="5745317" y="4788909"/>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44" name="타원 43"/>
          <p:cNvSpPr/>
          <p:nvPr/>
        </p:nvSpPr>
        <p:spPr>
          <a:xfrm>
            <a:off x="3375559" y="475447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5" name="타원 44"/>
          <p:cNvSpPr/>
          <p:nvPr/>
        </p:nvSpPr>
        <p:spPr>
          <a:xfrm>
            <a:off x="3774374" y="490687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6" name="타원 45"/>
          <p:cNvSpPr/>
          <p:nvPr/>
        </p:nvSpPr>
        <p:spPr>
          <a:xfrm>
            <a:off x="4106718" y="511451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7" name="타원 46"/>
          <p:cNvSpPr/>
          <p:nvPr/>
        </p:nvSpPr>
        <p:spPr>
          <a:xfrm>
            <a:off x="4439062" y="475447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8" name="타원 47"/>
          <p:cNvSpPr/>
          <p:nvPr/>
        </p:nvSpPr>
        <p:spPr>
          <a:xfrm>
            <a:off x="4837877" y="5114516"/>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49" name="자유형 48"/>
          <p:cNvSpPr/>
          <p:nvPr/>
        </p:nvSpPr>
        <p:spPr>
          <a:xfrm>
            <a:off x="2811475" y="4743151"/>
            <a:ext cx="2358747" cy="425884"/>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 name="connsiteX0" fmla="*/ 0 w 2555309"/>
              <a:gd name="connsiteY0" fmla="*/ 375780 h 764087"/>
              <a:gd name="connsiteX1" fmla="*/ 288098 w 2555309"/>
              <a:gd name="connsiteY1" fmla="*/ 0 h 764087"/>
              <a:gd name="connsiteX2" fmla="*/ 638827 w 2555309"/>
              <a:gd name="connsiteY2" fmla="*/ 400832 h 764087"/>
              <a:gd name="connsiteX3" fmla="*/ 1077238 w 2555309"/>
              <a:gd name="connsiteY3" fmla="*/ 526093 h 764087"/>
              <a:gd name="connsiteX4" fmla="*/ 1440493 w 2555309"/>
              <a:gd name="connsiteY4" fmla="*/ 764087 h 764087"/>
              <a:gd name="connsiteX5" fmla="*/ 1803748 w 2555309"/>
              <a:gd name="connsiteY5" fmla="*/ 388306 h 764087"/>
              <a:gd name="connsiteX6" fmla="*/ 2229633 w 2555309"/>
              <a:gd name="connsiteY6" fmla="*/ 739035 h 764087"/>
              <a:gd name="connsiteX7" fmla="*/ 2555309 w 2555309"/>
              <a:gd name="connsiteY7" fmla="*/ 338203 h 764087"/>
              <a:gd name="connsiteX0" fmla="*/ 0 w 2555309"/>
              <a:gd name="connsiteY0" fmla="*/ 37577 h 425884"/>
              <a:gd name="connsiteX1" fmla="*/ 638827 w 2555309"/>
              <a:gd name="connsiteY1" fmla="*/ 62629 h 425884"/>
              <a:gd name="connsiteX2" fmla="*/ 1077238 w 2555309"/>
              <a:gd name="connsiteY2" fmla="*/ 187890 h 425884"/>
              <a:gd name="connsiteX3" fmla="*/ 1440493 w 2555309"/>
              <a:gd name="connsiteY3" fmla="*/ 425884 h 425884"/>
              <a:gd name="connsiteX4" fmla="*/ 1803748 w 2555309"/>
              <a:gd name="connsiteY4" fmla="*/ 50103 h 425884"/>
              <a:gd name="connsiteX5" fmla="*/ 2229633 w 2555309"/>
              <a:gd name="connsiteY5" fmla="*/ 400832 h 425884"/>
              <a:gd name="connsiteX6" fmla="*/ 2555309 w 2555309"/>
              <a:gd name="connsiteY6" fmla="*/ 0 h 4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5309" h="425884">
                <a:moveTo>
                  <a:pt x="0" y="37577"/>
                </a:moveTo>
                <a:lnTo>
                  <a:pt x="638827" y="62629"/>
                </a:lnTo>
                <a:lnTo>
                  <a:pt x="1077238" y="187890"/>
                </a:lnTo>
                <a:lnTo>
                  <a:pt x="1440493" y="425884"/>
                </a:lnTo>
                <a:lnTo>
                  <a:pt x="1803748" y="50103"/>
                </a:lnTo>
                <a:lnTo>
                  <a:pt x="2229633" y="400832"/>
                </a:lnTo>
                <a:lnTo>
                  <a:pt x="25553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51" name="타원 50"/>
          <p:cNvSpPr/>
          <p:nvPr/>
        </p:nvSpPr>
        <p:spPr>
          <a:xfrm>
            <a:off x="5147095" y="4739935"/>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cxnSp>
        <p:nvCxnSpPr>
          <p:cNvPr id="52" name="직선 연결선 51"/>
          <p:cNvCxnSpPr/>
          <p:nvPr/>
        </p:nvCxnSpPr>
        <p:spPr>
          <a:xfrm>
            <a:off x="2644401" y="4572882"/>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직선 연결선 52"/>
          <p:cNvCxnSpPr/>
          <p:nvPr/>
        </p:nvCxnSpPr>
        <p:spPr>
          <a:xfrm>
            <a:off x="2644401" y="5308636"/>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p:nvPr/>
        </p:nvCxnSpPr>
        <p:spPr>
          <a:xfrm>
            <a:off x="3077436" y="4347480"/>
            <a:ext cx="0" cy="2880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8" name="직선 화살표 연결선 57"/>
          <p:cNvCxnSpPr/>
          <p:nvPr/>
        </p:nvCxnSpPr>
        <p:spPr>
          <a:xfrm flipV="1">
            <a:off x="3100561" y="5211576"/>
            <a:ext cx="0" cy="36004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9" name="이등변 삼각형 58"/>
          <p:cNvSpPr/>
          <p:nvPr/>
        </p:nvSpPr>
        <p:spPr>
          <a:xfrm rot="10800000">
            <a:off x="3077436" y="4032255"/>
            <a:ext cx="1994068" cy="208663"/>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60" name="TextBox 59"/>
          <p:cNvSpPr txBox="1"/>
          <p:nvPr/>
        </p:nvSpPr>
        <p:spPr>
          <a:xfrm>
            <a:off x="2514600" y="5688440"/>
            <a:ext cx="3975768"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Độ</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rộng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UCL </a:t>
            </a:r>
            <a:r>
              <a:rPr kumimoji="1" lang="en-US" altLang="ko-KR" sz="1400" b="1" dirty="0" err="1">
                <a:solidFill>
                  <a:prstClr val="black"/>
                </a:solidFill>
                <a:latin typeface="굴림" pitchFamily="50" charset="-127"/>
                <a:ea typeface="굴림" pitchFamily="50" charset="-127"/>
              </a:rPr>
              <a:t>và</a:t>
            </a:r>
            <a:r>
              <a:rPr kumimoji="1" lang="ko-KR" altLang="en-US" sz="1400" b="1" dirty="0">
                <a:solidFill>
                  <a:prstClr val="black"/>
                </a:solidFill>
                <a:latin typeface="굴림" pitchFamily="50" charset="-127"/>
                <a:ea typeface="굴림" pitchFamily="50" charset="-127"/>
              </a:rPr>
              <a:t> </a:t>
            </a:r>
            <a:r>
              <a:rPr kumimoji="1" lang="en-US" altLang="ko-KR" sz="1400" b="1" dirty="0">
                <a:solidFill>
                  <a:prstClr val="black"/>
                </a:solidFill>
                <a:latin typeface="굴림" pitchFamily="50" charset="-127"/>
                <a:ea typeface="굴림" pitchFamily="50" charset="-127"/>
              </a:rPr>
              <a:t>LCL </a:t>
            </a:r>
            <a:r>
              <a:rPr kumimoji="1" lang="en-US" altLang="ko-KR" sz="1400" b="1" dirty="0" err="1">
                <a:solidFill>
                  <a:prstClr val="black"/>
                </a:solidFill>
                <a:latin typeface="굴림" pitchFamily="50" charset="-127"/>
                <a:ea typeface="굴림" pitchFamily="50" charset="-127"/>
              </a:rPr>
              <a:t>sẽ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điều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chỉnh</a:t>
            </a:r>
            <a:endParaRPr kumimoji="1" lang="ko-KR" altLang="en-US" sz="1400" b="1" dirty="0">
              <a:solidFill>
                <a:prstClr val="black"/>
              </a:solidFill>
              <a:latin typeface="굴림" pitchFamily="50" charset="-127"/>
              <a:ea typeface="굴림" pitchFamily="50" charset="-127"/>
            </a:endParaRPr>
          </a:p>
        </p:txBody>
      </p:sp>
      <p:sp>
        <p:nvSpPr>
          <p:cNvPr id="61" name="TextBox 60"/>
          <p:cNvSpPr txBox="1"/>
          <p:nvPr/>
        </p:nvSpPr>
        <p:spPr>
          <a:xfrm>
            <a:off x="6538570" y="2996953"/>
            <a:ext cx="2300630" cy="572464"/>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err="1">
                <a:solidFill>
                  <a:srgbClr val="00B050"/>
                </a:solidFill>
                <a:latin typeface="굴림" pitchFamily="50" charset="-127"/>
                <a:ea typeface="굴림" pitchFamily="50" charset="-127"/>
              </a:rPr>
              <a:t>Loại</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những</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điểm</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bất</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thường</a:t>
            </a:r>
            <a:r>
              <a:rPr kumimoji="1" lang="en-US" altLang="ko-KR" sz="1200" b="1" dirty="0">
                <a:solidFill>
                  <a:srgbClr val="00B050"/>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200" b="1" dirty="0" err="1">
                <a:solidFill>
                  <a:srgbClr val="00B050"/>
                </a:solidFill>
                <a:latin typeface="굴림" pitchFamily="50" charset="-127"/>
                <a:ea typeface="굴림" pitchFamily="50" charset="-127"/>
              </a:rPr>
              <a:t>và</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lựa</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chọn</a:t>
            </a:r>
            <a:r>
              <a:rPr kumimoji="1" lang="en-US" altLang="ko-KR" sz="1200" b="1" dirty="0">
                <a:solidFill>
                  <a:srgbClr val="00B050"/>
                </a:solidFill>
                <a:latin typeface="굴림" pitchFamily="50" charset="-127"/>
                <a:ea typeface="굴림" pitchFamily="50" charset="-127"/>
              </a:rPr>
              <a:t> </a:t>
            </a:r>
            <a:r>
              <a:rPr kumimoji="1" lang="en-US" altLang="ko-KR" sz="1200" b="1" dirty="0" err="1">
                <a:solidFill>
                  <a:srgbClr val="00B050"/>
                </a:solidFill>
                <a:latin typeface="굴림" pitchFamily="50" charset="-127"/>
                <a:ea typeface="굴림" pitchFamily="50" charset="-127"/>
              </a:rPr>
              <a:t>lại</a:t>
            </a:r>
            <a:r>
              <a:rPr kumimoji="1" lang="en-US" altLang="ko-KR" sz="1200" b="1" dirty="0">
                <a:solidFill>
                  <a:srgbClr val="00B050"/>
                </a:solidFill>
                <a:latin typeface="굴림" pitchFamily="50" charset="-127"/>
                <a:ea typeface="굴림" pitchFamily="50" charset="-127"/>
              </a:rPr>
              <a:t> UCL, LCL</a:t>
            </a:r>
            <a:endParaRPr kumimoji="1" lang="ko-KR" altLang="en-US" sz="1200" b="1" dirty="0">
              <a:solidFill>
                <a:srgbClr val="00B050"/>
              </a:solidFill>
              <a:latin typeface="굴림" pitchFamily="50" charset="-127"/>
              <a:ea typeface="굴림" pitchFamily="50" charset="-127"/>
            </a:endParaRPr>
          </a:p>
        </p:txBody>
      </p:sp>
      <p:sp>
        <p:nvSpPr>
          <p:cNvPr id="5" name="TextBox 4"/>
          <p:cNvSpPr txBox="1"/>
          <p:nvPr/>
        </p:nvSpPr>
        <p:spPr>
          <a:xfrm>
            <a:off x="251520" y="1013440"/>
            <a:ext cx="8818440" cy="137268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Sẽ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phụ</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thuộc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việc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tháng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trước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tái</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lại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tháng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hay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Loại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bỏ</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nguyên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gây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nên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nếu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được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đoán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rằng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như</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vậy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nữa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loại</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bỏ</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những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điểm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bất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tính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toán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lại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UCLvà</a:t>
            </a:r>
            <a:r>
              <a:rPr kumimoji="1" lang="en-US" altLang="ko-KR" sz="1600" b="1" dirty="0">
                <a:solidFill>
                  <a:prstClr val="black"/>
                </a:solidFill>
                <a:latin typeface="굴림" pitchFamily="50" charset="-127"/>
                <a:ea typeface="굴림" pitchFamily="50" charset="-127"/>
              </a:rPr>
              <a:t> LCL.</a:t>
            </a:r>
            <a:endParaRPr kumimoji="1" lang="ko-KR" altLang="en-US" sz="1600" b="1" dirty="0">
              <a:solidFill>
                <a:prstClr val="black"/>
              </a:solidFill>
              <a:latin typeface="굴림" pitchFamily="50" charset="-127"/>
              <a:ea typeface="굴림" pitchFamily="50" charset="-127"/>
            </a:endParaRPr>
          </a:p>
        </p:txBody>
      </p:sp>
      <p:sp>
        <p:nvSpPr>
          <p:cNvPr id="42" name="TextBox 41"/>
          <p:cNvSpPr txBox="1"/>
          <p:nvPr/>
        </p:nvSpPr>
        <p:spPr>
          <a:xfrm>
            <a:off x="118585" y="116635"/>
            <a:ext cx="4397679"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a:t>
            </a:r>
            <a:r>
              <a:rPr kumimoji="1" lang="en-US" altLang="ko-KR" sz="2000" b="1" dirty="0" err="1">
                <a:solidFill>
                  <a:prstClr val="black"/>
                </a:solidFill>
                <a:ea typeface="굴림" pitchFamily="50" charset="-127"/>
              </a:rPr>
              <a:t>Vận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hành</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sp>
        <p:nvSpPr>
          <p:cNvPr id="43"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286</a:t>
            </a:fld>
            <a:endParaRPr lang="ko-KR" altLang="en-US" sz="1200" dirty="0">
              <a:solidFill>
                <a:prstClr val="black"/>
              </a:solidFill>
            </a:endParaRPr>
          </a:p>
        </p:txBody>
      </p:sp>
    </p:spTree>
    <p:extLst>
      <p:ext uri="{BB962C8B-B14F-4D97-AF65-F5344CB8AC3E}">
        <p14:creationId xmlns:p14="http://schemas.microsoft.com/office/powerpoint/2010/main" val="2645808045"/>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직선 연결선 2"/>
          <p:cNvCxnSpPr/>
          <p:nvPr/>
        </p:nvCxnSpPr>
        <p:spPr>
          <a:xfrm>
            <a:off x="2543711" y="2770417"/>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직선 연결선 3"/>
          <p:cNvCxnSpPr/>
          <p:nvPr/>
        </p:nvCxnSpPr>
        <p:spPr>
          <a:xfrm>
            <a:off x="2543711" y="3994553"/>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p:cNvCxnSpPr/>
          <p:nvPr/>
        </p:nvCxnSpPr>
        <p:spPr>
          <a:xfrm>
            <a:off x="2543711" y="3202465"/>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2543711" y="4426601"/>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p:cNvCxnSpPr/>
          <p:nvPr/>
        </p:nvCxnSpPr>
        <p:spPr>
          <a:xfrm>
            <a:off x="2543711" y="3596935"/>
            <a:ext cx="305757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5644626" y="2601352"/>
            <a:ext cx="470000"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USL</a:t>
            </a:r>
            <a:endParaRPr kumimoji="1" lang="ko-KR" altLang="en-US" sz="1200" b="1" dirty="0">
              <a:solidFill>
                <a:prstClr val="black"/>
              </a:solidFill>
              <a:latin typeface="굴림" pitchFamily="50" charset="-127"/>
              <a:ea typeface="굴림" pitchFamily="50" charset="-127"/>
            </a:endParaRPr>
          </a:p>
        </p:txBody>
      </p:sp>
      <p:sp>
        <p:nvSpPr>
          <p:cNvPr id="9" name="TextBox 8"/>
          <p:cNvSpPr txBox="1"/>
          <p:nvPr/>
        </p:nvSpPr>
        <p:spPr>
          <a:xfrm>
            <a:off x="5644627" y="4282588"/>
            <a:ext cx="444352"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LSL</a:t>
            </a:r>
            <a:endParaRPr kumimoji="1" lang="ko-KR" altLang="en-US" sz="1200" b="1" dirty="0">
              <a:solidFill>
                <a:prstClr val="black"/>
              </a:solidFill>
              <a:latin typeface="굴림" pitchFamily="50" charset="-127"/>
              <a:ea typeface="굴림" pitchFamily="50" charset="-127"/>
            </a:endParaRPr>
          </a:p>
        </p:txBody>
      </p:sp>
      <p:sp>
        <p:nvSpPr>
          <p:cNvPr id="10" name="TextBox 9"/>
          <p:cNvSpPr txBox="1"/>
          <p:nvPr/>
        </p:nvSpPr>
        <p:spPr>
          <a:xfrm>
            <a:off x="5644625" y="3058452"/>
            <a:ext cx="482824"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UCL</a:t>
            </a:r>
            <a:endParaRPr kumimoji="1" lang="ko-KR" altLang="en-US" sz="1200" b="1" dirty="0">
              <a:solidFill>
                <a:prstClr val="black"/>
              </a:solidFill>
              <a:latin typeface="굴림" pitchFamily="50" charset="-127"/>
              <a:ea typeface="굴림" pitchFamily="50" charset="-127"/>
            </a:endParaRPr>
          </a:p>
        </p:txBody>
      </p:sp>
      <p:sp>
        <p:nvSpPr>
          <p:cNvPr id="11" name="TextBox 10"/>
          <p:cNvSpPr txBox="1"/>
          <p:nvPr/>
        </p:nvSpPr>
        <p:spPr>
          <a:xfrm>
            <a:off x="5644624" y="3850539"/>
            <a:ext cx="457176"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LCL</a:t>
            </a:r>
            <a:endParaRPr kumimoji="1" lang="ko-KR" altLang="en-US" sz="1200" b="1" dirty="0">
              <a:solidFill>
                <a:prstClr val="black"/>
              </a:solidFill>
              <a:latin typeface="굴림" pitchFamily="50" charset="-127"/>
              <a:ea typeface="굴림" pitchFamily="50" charset="-127"/>
            </a:endParaRPr>
          </a:p>
        </p:txBody>
      </p:sp>
      <p:sp>
        <p:nvSpPr>
          <p:cNvPr id="12" name="TextBox 11"/>
          <p:cNvSpPr txBox="1"/>
          <p:nvPr/>
        </p:nvSpPr>
        <p:spPr>
          <a:xfrm>
            <a:off x="5644627" y="3452921"/>
            <a:ext cx="566181" cy="332399"/>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a:solidFill>
                  <a:prstClr val="black"/>
                </a:solidFill>
                <a:latin typeface="굴림" pitchFamily="50" charset="-127"/>
                <a:ea typeface="굴림" pitchFamily="50" charset="-127"/>
              </a:rPr>
              <a:t>X Bar</a:t>
            </a:r>
            <a:endParaRPr kumimoji="1" lang="ko-KR" altLang="en-US" sz="1200" b="1" dirty="0">
              <a:solidFill>
                <a:prstClr val="black"/>
              </a:solidFill>
              <a:latin typeface="굴림" pitchFamily="50" charset="-127"/>
              <a:ea typeface="굴림" pitchFamily="50" charset="-127"/>
            </a:endParaRPr>
          </a:p>
        </p:txBody>
      </p:sp>
      <p:sp>
        <p:nvSpPr>
          <p:cNvPr id="13" name="타원 12"/>
          <p:cNvSpPr/>
          <p:nvPr/>
        </p:nvSpPr>
        <p:spPr>
          <a:xfrm>
            <a:off x="2942525" y="3058449"/>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4" name="타원 13"/>
          <p:cNvSpPr/>
          <p:nvPr/>
        </p:nvSpPr>
        <p:spPr>
          <a:xfrm>
            <a:off x="2676650" y="34184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5" name="타원 14"/>
          <p:cNvSpPr/>
          <p:nvPr/>
        </p:nvSpPr>
        <p:spPr>
          <a:xfrm>
            <a:off x="3274869" y="34184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6" name="타원 15"/>
          <p:cNvSpPr/>
          <p:nvPr/>
        </p:nvSpPr>
        <p:spPr>
          <a:xfrm>
            <a:off x="3673684" y="35708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7" name="타원 16"/>
          <p:cNvSpPr/>
          <p:nvPr/>
        </p:nvSpPr>
        <p:spPr>
          <a:xfrm>
            <a:off x="4006027" y="377852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8" name="타원 17"/>
          <p:cNvSpPr/>
          <p:nvPr/>
        </p:nvSpPr>
        <p:spPr>
          <a:xfrm>
            <a:off x="4338373" y="341848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9" name="타원 18"/>
          <p:cNvSpPr/>
          <p:nvPr/>
        </p:nvSpPr>
        <p:spPr>
          <a:xfrm>
            <a:off x="4737186" y="3778529"/>
            <a:ext cx="66469" cy="720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0" name="타원 19"/>
          <p:cNvSpPr/>
          <p:nvPr/>
        </p:nvSpPr>
        <p:spPr>
          <a:xfrm>
            <a:off x="5202469" y="2626401"/>
            <a:ext cx="66469" cy="72008"/>
          </a:xfrm>
          <a:prstGeom prst="ellipse">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1" name="자유형 20"/>
          <p:cNvSpPr/>
          <p:nvPr/>
        </p:nvSpPr>
        <p:spPr>
          <a:xfrm>
            <a:off x="2717283" y="2651037"/>
            <a:ext cx="2543747" cy="1177446"/>
          </a:xfrm>
          <a:custGeom>
            <a:avLst/>
            <a:gdLst>
              <a:gd name="connsiteX0" fmla="*/ 0 w 2755726"/>
              <a:gd name="connsiteY0" fmla="*/ 789139 h 1177446"/>
              <a:gd name="connsiteX1" fmla="*/ 288098 w 2755726"/>
              <a:gd name="connsiteY1" fmla="*/ 413359 h 1177446"/>
              <a:gd name="connsiteX2" fmla="*/ 638827 w 2755726"/>
              <a:gd name="connsiteY2" fmla="*/ 814191 h 1177446"/>
              <a:gd name="connsiteX3" fmla="*/ 1077238 w 2755726"/>
              <a:gd name="connsiteY3" fmla="*/ 939452 h 1177446"/>
              <a:gd name="connsiteX4" fmla="*/ 1440493 w 2755726"/>
              <a:gd name="connsiteY4" fmla="*/ 1177446 h 1177446"/>
              <a:gd name="connsiteX5" fmla="*/ 1803748 w 2755726"/>
              <a:gd name="connsiteY5" fmla="*/ 801665 h 1177446"/>
              <a:gd name="connsiteX6" fmla="*/ 2229633 w 2755726"/>
              <a:gd name="connsiteY6" fmla="*/ 1152394 h 1177446"/>
              <a:gd name="connsiteX7" fmla="*/ 2755726 w 2755726"/>
              <a:gd name="connsiteY7" fmla="*/ 0 h 11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5726" h="1177446">
                <a:moveTo>
                  <a:pt x="0" y="789139"/>
                </a:moveTo>
                <a:lnTo>
                  <a:pt x="288098" y="413359"/>
                </a:lnTo>
                <a:lnTo>
                  <a:pt x="638827" y="814191"/>
                </a:lnTo>
                <a:lnTo>
                  <a:pt x="1077238" y="939452"/>
                </a:lnTo>
                <a:lnTo>
                  <a:pt x="1440493" y="1177446"/>
                </a:lnTo>
                <a:lnTo>
                  <a:pt x="1803748" y="801665"/>
                </a:lnTo>
                <a:lnTo>
                  <a:pt x="2229633" y="1152394"/>
                </a:lnTo>
                <a:lnTo>
                  <a:pt x="275572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22" name="TextBox 21"/>
          <p:cNvSpPr txBox="1"/>
          <p:nvPr/>
        </p:nvSpPr>
        <p:spPr>
          <a:xfrm>
            <a:off x="2600537" y="2728550"/>
            <a:ext cx="2984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a:t>
            </a:r>
            <a:endParaRPr kumimoji="1" lang="ko-KR" altLang="en-US" sz="1600" b="1" dirty="0">
              <a:solidFill>
                <a:prstClr val="black"/>
              </a:solidFill>
              <a:latin typeface="굴림" pitchFamily="50" charset="-127"/>
              <a:ea typeface="굴림" pitchFamily="50" charset="-127"/>
            </a:endParaRPr>
          </a:p>
        </p:txBody>
      </p:sp>
      <p:sp>
        <p:nvSpPr>
          <p:cNvPr id="23" name="TextBox 22"/>
          <p:cNvSpPr txBox="1"/>
          <p:nvPr/>
        </p:nvSpPr>
        <p:spPr>
          <a:xfrm>
            <a:off x="4986019" y="2341642"/>
            <a:ext cx="306494"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b</a:t>
            </a:r>
            <a:endParaRPr kumimoji="1" lang="ko-KR" altLang="en-US" sz="1600" b="1" dirty="0">
              <a:solidFill>
                <a:prstClr val="black"/>
              </a:solidFill>
              <a:latin typeface="굴림" pitchFamily="50" charset="-127"/>
              <a:ea typeface="굴림" pitchFamily="50" charset="-127"/>
            </a:endParaRPr>
          </a:p>
        </p:txBody>
      </p:sp>
      <p:cxnSp>
        <p:nvCxnSpPr>
          <p:cNvPr id="24" name="직선 연결선 23"/>
          <p:cNvCxnSpPr/>
          <p:nvPr/>
        </p:nvCxnSpPr>
        <p:spPr>
          <a:xfrm>
            <a:off x="3873090" y="2204864"/>
            <a:ext cx="0" cy="122413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p:nvPr/>
        </p:nvCxnSpPr>
        <p:spPr>
          <a:xfrm>
            <a:off x="3873090" y="2204864"/>
            <a:ext cx="0" cy="576064"/>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6" name="직선 화살표 연결선 25"/>
          <p:cNvCxnSpPr/>
          <p:nvPr/>
        </p:nvCxnSpPr>
        <p:spPr>
          <a:xfrm flipV="1">
            <a:off x="3873090" y="3175398"/>
            <a:ext cx="0" cy="360040"/>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810000" y="2815358"/>
            <a:ext cx="1628972" cy="30585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200" b="1" dirty="0" err="1">
                <a:solidFill>
                  <a:prstClr val="black"/>
                </a:solidFill>
                <a:latin typeface="굴림" pitchFamily="50" charset="-127"/>
                <a:ea typeface="굴림" pitchFamily="50" charset="-127"/>
              </a:rPr>
              <a:t>Dư</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thừa</a:t>
            </a:r>
            <a:r>
              <a:rPr kumimoji="1" lang="en-US" altLang="ko-KR" sz="1200" b="1" dirty="0">
                <a:solidFill>
                  <a:prstClr val="black"/>
                </a:solidFill>
                <a:latin typeface="굴림" pitchFamily="50" charset="-127"/>
                <a:ea typeface="굴림" pitchFamily="50" charset="-127"/>
              </a:rPr>
              <a:t>/</a:t>
            </a:r>
            <a:r>
              <a:rPr kumimoji="1" lang="en-US" altLang="ko-KR" sz="1200" b="1" dirty="0" err="1">
                <a:solidFill>
                  <a:prstClr val="black"/>
                </a:solidFill>
                <a:latin typeface="굴림" pitchFamily="50" charset="-127"/>
                <a:ea typeface="굴림" pitchFamily="50" charset="-127"/>
              </a:rPr>
              <a:t>chênh</a:t>
            </a:r>
            <a:r>
              <a:rPr kumimoji="1" lang="en-US" altLang="ko-KR" sz="1200" b="1" dirty="0">
                <a:solidFill>
                  <a:prstClr val="black"/>
                </a:solidFill>
                <a:latin typeface="굴림" pitchFamily="50" charset="-127"/>
                <a:ea typeface="굴림" pitchFamily="50" charset="-127"/>
              </a:rPr>
              <a:t> </a:t>
            </a:r>
            <a:r>
              <a:rPr kumimoji="1" lang="en-US" altLang="ko-KR" sz="1200" b="1" dirty="0" err="1">
                <a:solidFill>
                  <a:prstClr val="black"/>
                </a:solidFill>
                <a:latin typeface="굴림" pitchFamily="50" charset="-127"/>
                <a:ea typeface="굴림" pitchFamily="50" charset="-127"/>
              </a:rPr>
              <a:t>lệch</a:t>
            </a:r>
            <a:endParaRPr kumimoji="1" lang="ko-KR" altLang="en-US" sz="1200" b="1" dirty="0">
              <a:solidFill>
                <a:prstClr val="black"/>
              </a:solidFill>
              <a:latin typeface="굴림" pitchFamily="50" charset="-127"/>
              <a:ea typeface="굴림" pitchFamily="50" charset="-127"/>
            </a:endParaRPr>
          </a:p>
        </p:txBody>
      </p:sp>
      <p:sp>
        <p:nvSpPr>
          <p:cNvPr id="31" name="TextBox 30"/>
          <p:cNvSpPr txBox="1"/>
          <p:nvPr/>
        </p:nvSpPr>
        <p:spPr>
          <a:xfrm>
            <a:off x="540768" y="980728"/>
            <a:ext cx="8260595" cy="121264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vận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hành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bởi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người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dưới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hiện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trường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Nếu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vượt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quá</a:t>
            </a:r>
            <a:r>
              <a:rPr kumimoji="1" lang="en-US" altLang="ko-KR" sz="1400" b="1" dirty="0">
                <a:solidFill>
                  <a:prstClr val="black"/>
                </a:solidFill>
                <a:latin typeface="굴림" pitchFamily="50" charset="-127"/>
                <a:ea typeface="굴림" pitchFamily="50" charset="-127"/>
              </a:rPr>
              <a:t> UCL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LCL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phải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lượng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ngôn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ngữ</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quá</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trính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gửi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hiệu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đến</a:t>
            </a:r>
            <a:r>
              <a:rPr kumimoji="1" lang="en-US" altLang="ko-KR" sz="1400" b="1" dirty="0">
                <a:solidFill>
                  <a:prstClr val="black"/>
                </a:solidFill>
                <a:latin typeface="굴림" pitchFamily="50" charset="-127"/>
                <a:ea typeface="굴림" pitchFamily="50" charset="-127"/>
              </a:rPr>
              <a:t> con </a:t>
            </a:r>
            <a:r>
              <a:rPr kumimoji="1" lang="en-US" altLang="ko-KR" sz="1400" b="1" dirty="0" err="1">
                <a:solidFill>
                  <a:prstClr val="black"/>
                </a:solidFill>
                <a:latin typeface="굴림" pitchFamily="50" charset="-127"/>
                <a:ea typeface="굴림" pitchFamily="50" charset="-127"/>
              </a:rPr>
              <a:t>người</a:t>
            </a:r>
            <a:endParaRPr kumimoji="1" lang="en-US" altLang="ko-KR" sz="14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rằng</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có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điểm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thường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hãy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xem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xét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Nếu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coi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thường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điểm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thì</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sinh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bất</a:t>
            </a:r>
            <a:endParaRPr kumimoji="1" lang="en-US" altLang="ko-KR" sz="14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thường</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Điều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sảy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do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tiêu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chuẩn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hoặc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máy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móc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hỏng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hóc</a:t>
            </a:r>
            <a:r>
              <a:rPr kumimoji="1" lang="en-US" altLang="ko-KR" sz="1400" b="1" dirty="0">
                <a:solidFill>
                  <a:prstClr val="black"/>
                </a:solidFill>
                <a:latin typeface="굴림" pitchFamily="50" charset="-127"/>
                <a:ea typeface="굴림" pitchFamily="50" charset="-127"/>
              </a:rPr>
              <a:t>.</a:t>
            </a:r>
            <a:endParaRPr kumimoji="1" lang="ko-KR" altLang="en-US" sz="1400" b="1" dirty="0">
              <a:solidFill>
                <a:prstClr val="black"/>
              </a:solidFill>
              <a:latin typeface="굴림" pitchFamily="50" charset="-127"/>
              <a:ea typeface="굴림" pitchFamily="50" charset="-127"/>
            </a:endParaRPr>
          </a:p>
        </p:txBody>
      </p:sp>
      <p:sp>
        <p:nvSpPr>
          <p:cNvPr id="32" name="TextBox 31"/>
          <p:cNvSpPr txBox="1"/>
          <p:nvPr/>
        </p:nvSpPr>
        <p:spPr>
          <a:xfrm>
            <a:off x="532842" y="4941168"/>
            <a:ext cx="8616461" cy="149271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Chiều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rộng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UCLvà</a:t>
            </a:r>
            <a:r>
              <a:rPr kumimoji="1" lang="en-US" altLang="ko-KR" sz="1400" b="1" dirty="0">
                <a:solidFill>
                  <a:prstClr val="black"/>
                </a:solidFill>
                <a:latin typeface="굴림" pitchFamily="50" charset="-127"/>
                <a:ea typeface="굴림" pitchFamily="50" charset="-127"/>
              </a:rPr>
              <a:t> LCL </a:t>
            </a:r>
            <a:r>
              <a:rPr kumimoji="1" lang="en-US" altLang="ko-KR" sz="1400" b="1" dirty="0" err="1">
                <a:solidFill>
                  <a:prstClr val="black"/>
                </a:solidFill>
                <a:latin typeface="굴림" pitchFamily="50" charset="-127"/>
                <a:ea typeface="굴림" pitchFamily="50" charset="-127"/>
              </a:rPr>
              <a:t>giảm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nghĩa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giảm</a:t>
            </a:r>
            <a:r>
              <a:rPr kumimoji="1" lang="en-US" altLang="ko-KR" sz="1400" b="1" dirty="0">
                <a:solidFill>
                  <a:prstClr val="black"/>
                </a:solidFill>
                <a:latin typeface="굴림" pitchFamily="50" charset="-127"/>
                <a:ea typeface="굴림" pitchFamily="50" charset="-127"/>
              </a:rPr>
              <a:t> USL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LSL.  USL </a:t>
            </a:r>
            <a:r>
              <a:rPr kumimoji="1" lang="en-US" altLang="ko-KR" sz="1400" b="1" dirty="0" err="1">
                <a:solidFill>
                  <a:prstClr val="black"/>
                </a:solidFill>
                <a:latin typeface="굴림" pitchFamily="50" charset="-127"/>
                <a:ea typeface="굴림" pitchFamily="50" charset="-127"/>
              </a:rPr>
              <a:t>và</a:t>
            </a:r>
            <a:r>
              <a:rPr kumimoji="1" lang="ko-KR" altLang="en-US" sz="1400" b="1" dirty="0">
                <a:solidFill>
                  <a:prstClr val="black"/>
                </a:solidFill>
                <a:latin typeface="굴림" pitchFamily="50" charset="-127"/>
                <a:ea typeface="굴림" pitchFamily="50" charset="-127"/>
              </a:rPr>
              <a:t> </a:t>
            </a:r>
            <a:r>
              <a:rPr kumimoji="1" lang="en-US" altLang="ko-KR" sz="1400" b="1" dirty="0">
                <a:solidFill>
                  <a:prstClr val="black"/>
                </a:solidFill>
                <a:latin typeface="굴림" pitchFamily="50" charset="-127"/>
                <a:ea typeface="굴림" pitchFamily="50" charset="-127"/>
              </a:rPr>
              <a:t>LSL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cách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tiêu</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chuẩn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quyết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triển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phẩm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Sự</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khác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nhau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USL</a:t>
            </a:r>
            <a:r>
              <a:rPr kumimoji="1" lang="ko-KR" altLang="en-US"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ko-KR" altLang="en-US" sz="1400" b="1" dirty="0">
                <a:solidFill>
                  <a:prstClr val="black"/>
                </a:solidFill>
                <a:latin typeface="굴림" pitchFamily="50" charset="-127"/>
                <a:ea typeface="굴림" pitchFamily="50" charset="-127"/>
              </a:rPr>
              <a:t> </a:t>
            </a:r>
            <a:r>
              <a:rPr kumimoji="1" lang="en-US" altLang="ko-KR" sz="1400" b="1" dirty="0">
                <a:solidFill>
                  <a:prstClr val="black"/>
                </a:solidFill>
                <a:latin typeface="굴림" pitchFamily="50" charset="-127"/>
                <a:ea typeface="굴림" pitchFamily="50" charset="-127"/>
              </a:rPr>
              <a:t>UCL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sự</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chênh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lệch</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dư</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thừa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Người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giám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tại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hiện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trường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phải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ngừng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ổn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hóa</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Đặt</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mục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tiêu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đảm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bảo</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lượng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chênh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lệch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dư</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thừa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để</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tạo</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ra</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khiếm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khuyết</a:t>
            </a:r>
            <a:r>
              <a:rPr kumimoji="1" lang="en-US" altLang="ko-KR" sz="1400" b="1" dirty="0">
                <a:solidFill>
                  <a:prstClr val="black"/>
                </a:solidFill>
                <a:latin typeface="굴림" pitchFamily="50" charset="-127"/>
                <a:ea typeface="굴림" pitchFamily="50" charset="-127"/>
              </a:rPr>
              <a:t>/</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đạt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tiêu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chuẩn</a:t>
            </a:r>
            <a:r>
              <a:rPr kumimoji="1" lang="en-US" altLang="ko-KR" sz="1400" b="1" dirty="0">
                <a:solidFill>
                  <a:prstClr val="black"/>
                </a:solidFill>
                <a:latin typeface="굴림" pitchFamily="50" charset="-127"/>
                <a:ea typeface="굴림" pitchFamily="50" charset="-127"/>
              </a:rPr>
              <a:t>.</a:t>
            </a:r>
            <a:endParaRPr kumimoji="1" lang="ko-KR" altLang="en-US" sz="1400" b="1" dirty="0">
              <a:solidFill>
                <a:prstClr val="black"/>
              </a:solidFill>
              <a:latin typeface="굴림" pitchFamily="50" charset="-127"/>
              <a:ea typeface="굴림" pitchFamily="50" charset="-127"/>
            </a:endParaRPr>
          </a:p>
        </p:txBody>
      </p:sp>
      <p:sp>
        <p:nvSpPr>
          <p:cNvPr id="33" name="TextBox 32"/>
          <p:cNvSpPr txBox="1"/>
          <p:nvPr/>
        </p:nvSpPr>
        <p:spPr>
          <a:xfrm>
            <a:off x="118585" y="116635"/>
            <a:ext cx="4487447"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a:t>
            </a:r>
            <a:r>
              <a:rPr kumimoji="1" lang="en-US" altLang="ko-KR" sz="2000" b="1" dirty="0" err="1">
                <a:solidFill>
                  <a:prstClr val="black"/>
                </a:solidFill>
                <a:ea typeface="굴림" pitchFamily="50" charset="-127"/>
              </a:rPr>
              <a:t>Vận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hành</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a:t>
            </a:r>
            <a:endParaRPr kumimoji="1" lang="ko-KR" altLang="en-US" sz="2000" b="1" dirty="0">
              <a:solidFill>
                <a:prstClr val="black"/>
              </a:solidFill>
              <a:ea typeface="굴림" pitchFamily="50" charset="-127"/>
            </a:endParaRPr>
          </a:p>
        </p:txBody>
      </p:sp>
      <p:sp>
        <p:nvSpPr>
          <p:cNvPr id="34"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287</a:t>
            </a:fld>
            <a:endParaRPr lang="ko-KR" altLang="en-US" sz="1200" dirty="0">
              <a:solidFill>
                <a:prstClr val="black"/>
              </a:solidFill>
            </a:endParaRPr>
          </a:p>
        </p:txBody>
      </p:sp>
    </p:spTree>
    <p:extLst>
      <p:ext uri="{BB962C8B-B14F-4D97-AF65-F5344CB8AC3E}">
        <p14:creationId xmlns:p14="http://schemas.microsoft.com/office/powerpoint/2010/main" val="879687901"/>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4459" y="836714"/>
            <a:ext cx="8473821" cy="687368"/>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The control chart is divided into a control chart for analysis and a control chart for management according to the period of operation.</a:t>
            </a:r>
            <a:endParaRPr kumimoji="1" lang="ko-KR" altLang="en-US" sz="1600" b="1" dirty="0">
              <a:solidFill>
                <a:prstClr val="black"/>
              </a:solidFill>
              <a:latin typeface="굴림" pitchFamily="50" charset="-127"/>
              <a:ea typeface="굴림" pitchFamily="50" charset="-127"/>
            </a:endParaRPr>
          </a:p>
        </p:txBody>
      </p:sp>
      <p:sp>
        <p:nvSpPr>
          <p:cNvPr id="5" name="TextBox 4"/>
          <p:cNvSpPr txBox="1"/>
          <p:nvPr/>
        </p:nvSpPr>
        <p:spPr>
          <a:xfrm>
            <a:off x="3214678" y="1714488"/>
            <a:ext cx="2436886"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dirty="0">
                <a:solidFill>
                  <a:prstClr val="black"/>
                </a:solidFill>
                <a:latin typeface="굴림" pitchFamily="50" charset="-127"/>
                <a:ea typeface="굴림" pitchFamily="50" charset="-127"/>
              </a:rPr>
              <a:t>control chart</a:t>
            </a:r>
            <a:r>
              <a:rPr kumimoji="1" lang="ko-KR" altLang="en-US" sz="1600" b="1" u="sng" dirty="0">
                <a:solidFill>
                  <a:prstClr val="black"/>
                </a:solidFill>
                <a:latin typeface="굴림" pitchFamily="50" charset="-127"/>
                <a:ea typeface="굴림" pitchFamily="50" charset="-127"/>
              </a:rPr>
              <a:t> </a:t>
            </a:r>
            <a:r>
              <a:rPr kumimoji="1" lang="en-US" altLang="ko-KR" sz="1600" b="1" u="sng" dirty="0">
                <a:solidFill>
                  <a:prstClr val="black"/>
                </a:solidFill>
                <a:latin typeface="굴림" pitchFamily="50" charset="-127"/>
                <a:ea typeface="굴림" pitchFamily="50" charset="-127"/>
              </a:rPr>
              <a:t>separation</a:t>
            </a:r>
            <a:endParaRPr kumimoji="1" lang="ko-KR" altLang="en-US" sz="1600" b="1" u="sng" dirty="0">
              <a:solidFill>
                <a:prstClr val="black"/>
              </a:solidFill>
              <a:latin typeface="굴림" pitchFamily="50" charset="-127"/>
              <a:ea typeface="굴림" pitchFamily="50" charset="-127"/>
            </a:endParaRPr>
          </a:p>
        </p:txBody>
      </p:sp>
      <p:sp>
        <p:nvSpPr>
          <p:cNvPr id="6" name="TextBox 5"/>
          <p:cNvSpPr txBox="1"/>
          <p:nvPr/>
        </p:nvSpPr>
        <p:spPr>
          <a:xfrm>
            <a:off x="87666" y="2276874"/>
            <a:ext cx="2555508"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Control chart for analysis</a:t>
            </a:r>
            <a:endParaRPr kumimoji="1" lang="ko-KR" altLang="en-US" sz="1600" b="1" dirty="0">
              <a:solidFill>
                <a:prstClr val="black"/>
              </a:solidFill>
              <a:latin typeface="굴림" pitchFamily="50" charset="-127"/>
              <a:ea typeface="굴림" pitchFamily="50" charset="-127"/>
            </a:endParaRPr>
          </a:p>
        </p:txBody>
      </p:sp>
      <p:sp>
        <p:nvSpPr>
          <p:cNvPr id="7" name="TextBox 6"/>
          <p:cNvSpPr txBox="1"/>
          <p:nvPr/>
        </p:nvSpPr>
        <p:spPr>
          <a:xfrm>
            <a:off x="500034" y="3972311"/>
            <a:ext cx="1803699" cy="68736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Control chart for </a:t>
            </a:r>
          </a:p>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management</a:t>
            </a:r>
            <a:endParaRPr kumimoji="1" lang="ko-KR" altLang="en-US" sz="1600" b="1" dirty="0">
              <a:solidFill>
                <a:prstClr val="black"/>
              </a:solidFill>
              <a:latin typeface="굴림" pitchFamily="50" charset="-127"/>
              <a:ea typeface="굴림" pitchFamily="50" charset="-127"/>
            </a:endParaRPr>
          </a:p>
        </p:txBody>
      </p:sp>
      <p:sp>
        <p:nvSpPr>
          <p:cNvPr id="8" name="TextBox 7"/>
          <p:cNvSpPr txBox="1"/>
          <p:nvPr/>
        </p:nvSpPr>
        <p:spPr>
          <a:xfrm>
            <a:off x="2644401" y="2276872"/>
            <a:ext cx="5117106"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The UCL and LCL are different each time they are sampled.</a:t>
            </a:r>
            <a:endParaRPr kumimoji="1" lang="ko-KR" altLang="en-US" sz="1400" b="1" dirty="0">
              <a:solidFill>
                <a:prstClr val="black"/>
              </a:solidFill>
              <a:latin typeface="굴림" pitchFamily="50" charset="-127"/>
              <a:ea typeface="굴림" pitchFamily="50" charset="-127"/>
            </a:endParaRPr>
          </a:p>
        </p:txBody>
      </p:sp>
      <p:sp>
        <p:nvSpPr>
          <p:cNvPr id="9" name="TextBox 8"/>
          <p:cNvSpPr txBox="1"/>
          <p:nvPr/>
        </p:nvSpPr>
        <p:spPr>
          <a:xfrm>
            <a:off x="2644401" y="3972310"/>
            <a:ext cx="2114681"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UCL and LCL are fixed.</a:t>
            </a:r>
            <a:endParaRPr kumimoji="1" lang="ko-KR" altLang="en-US" sz="1400" b="1" dirty="0">
              <a:solidFill>
                <a:prstClr val="black"/>
              </a:solidFill>
              <a:latin typeface="굴림" pitchFamily="50" charset="-127"/>
              <a:ea typeface="굴림" pitchFamily="50" charset="-127"/>
            </a:endParaRPr>
          </a:p>
        </p:txBody>
      </p:sp>
      <p:sp>
        <p:nvSpPr>
          <p:cNvPr id="10" name="TextBox 9"/>
          <p:cNvSpPr txBox="1"/>
          <p:nvPr/>
        </p:nvSpPr>
        <p:spPr>
          <a:xfrm>
            <a:off x="2644403" y="2708920"/>
            <a:ext cx="6304931" cy="612925"/>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It is used before the management spec is decided on the production line </a:t>
            </a:r>
          </a:p>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at the beginning of development.</a:t>
            </a:r>
            <a:endParaRPr kumimoji="1" lang="ko-KR" altLang="en-US" sz="1400" b="1" dirty="0">
              <a:solidFill>
                <a:prstClr val="black"/>
              </a:solidFill>
              <a:latin typeface="굴림" pitchFamily="50" charset="-127"/>
              <a:ea typeface="굴림" pitchFamily="50" charset="-127"/>
            </a:endParaRPr>
          </a:p>
        </p:txBody>
      </p:sp>
      <p:sp>
        <p:nvSpPr>
          <p:cNvPr id="11" name="TextBox 10"/>
          <p:cNvSpPr txBox="1"/>
          <p:nvPr/>
        </p:nvSpPr>
        <p:spPr>
          <a:xfrm>
            <a:off x="2644403" y="4384731"/>
            <a:ext cx="5876930" cy="65248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The management SPEC is determined by the supervisor in the stable</a:t>
            </a:r>
          </a:p>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production line.</a:t>
            </a:r>
            <a:endParaRPr kumimoji="1" lang="ko-KR" altLang="en-US" sz="1400" b="1" dirty="0">
              <a:solidFill>
                <a:prstClr val="black"/>
              </a:solidFill>
              <a:latin typeface="굴림" pitchFamily="50" charset="-127"/>
              <a:ea typeface="굴림" pitchFamily="50" charset="-127"/>
            </a:endParaRPr>
          </a:p>
        </p:txBody>
      </p:sp>
      <p:sp>
        <p:nvSpPr>
          <p:cNvPr id="12" name="TextBox 11"/>
          <p:cNvSpPr txBox="1"/>
          <p:nvPr/>
        </p:nvSpPr>
        <p:spPr>
          <a:xfrm>
            <a:off x="2644403" y="5030653"/>
            <a:ext cx="5118709" cy="612925"/>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Once the process is stable using the analysis control chart,</a:t>
            </a:r>
          </a:p>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switch to the control chart for management.</a:t>
            </a:r>
          </a:p>
        </p:txBody>
      </p:sp>
      <p:sp>
        <p:nvSpPr>
          <p:cNvPr id="13" name="TextBox 12"/>
          <p:cNvSpPr txBox="1"/>
          <p:nvPr/>
        </p:nvSpPr>
        <p:spPr>
          <a:xfrm>
            <a:off x="2644403" y="3381904"/>
            <a:ext cx="6851556" cy="33284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It is operated by engineers and aims to take prompt action on abnormal factors.</a:t>
            </a:r>
            <a:endParaRPr kumimoji="1" lang="ko-KR" altLang="en-US" sz="1400" b="1" dirty="0">
              <a:solidFill>
                <a:prstClr val="black"/>
              </a:solidFill>
              <a:latin typeface="굴림" pitchFamily="50" charset="-127"/>
              <a:ea typeface="굴림" pitchFamily="50" charset="-127"/>
            </a:endParaRPr>
          </a:p>
        </p:txBody>
      </p:sp>
      <p:sp>
        <p:nvSpPr>
          <p:cNvPr id="14" name="TextBox 13"/>
          <p:cNvSpPr txBox="1"/>
          <p:nvPr/>
        </p:nvSpPr>
        <p:spPr>
          <a:xfrm>
            <a:off x="118585" y="116635"/>
            <a:ext cx="482164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Operation of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r>
              <a:rPr kumimoji="1" lang="ko-KR" altLang="en-US" sz="2000" b="1" dirty="0">
                <a:solidFill>
                  <a:prstClr val="black"/>
                </a:solidFill>
                <a:ea typeface="굴림" pitchFamily="50" charset="-127"/>
              </a:rPr>
              <a:t> </a:t>
            </a:r>
            <a:r>
              <a:rPr kumimoji="1" lang="en-US" altLang="ko-KR" sz="2000" b="1" dirty="0">
                <a:solidFill>
                  <a:prstClr val="black"/>
                </a:solidFill>
                <a:ea typeface="굴림" pitchFamily="50" charset="-127"/>
              </a:rPr>
              <a:t> </a:t>
            </a:r>
            <a:endParaRPr kumimoji="1" lang="ko-KR" altLang="en-US" sz="2000" b="1" dirty="0">
              <a:solidFill>
                <a:prstClr val="black"/>
              </a:solidFill>
              <a:ea typeface="굴림" pitchFamily="50" charset="-127"/>
            </a:endParaRPr>
          </a:p>
        </p:txBody>
      </p:sp>
      <p:sp>
        <p:nvSpPr>
          <p:cNvPr id="15"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288</a:t>
            </a:fld>
            <a:endParaRPr lang="ko-KR" altLang="en-US" sz="1200" dirty="0">
              <a:solidFill>
                <a:prstClr val="black"/>
              </a:solidFill>
            </a:endParaRPr>
          </a:p>
        </p:txBody>
      </p:sp>
    </p:spTree>
    <p:extLst>
      <p:ext uri="{BB962C8B-B14F-4D97-AF65-F5344CB8AC3E}">
        <p14:creationId xmlns:p14="http://schemas.microsoft.com/office/powerpoint/2010/main" val="1169120015"/>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84459" y="812806"/>
            <a:ext cx="6300123" cy="68736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How to determine the sampling period and sampling number for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-R control chart creation?</a:t>
            </a:r>
            <a:endParaRPr kumimoji="1" lang="ko-KR" altLang="en-US" sz="1600" b="1" dirty="0">
              <a:solidFill>
                <a:prstClr val="black"/>
              </a:solidFill>
              <a:latin typeface="굴림" pitchFamily="50" charset="-127"/>
              <a:ea typeface="굴림" pitchFamily="50" charset="-127"/>
            </a:endParaRPr>
          </a:p>
        </p:txBody>
      </p:sp>
      <p:sp>
        <p:nvSpPr>
          <p:cNvPr id="7" name="TextBox 6"/>
          <p:cNvSpPr txBox="1"/>
          <p:nvPr/>
        </p:nvSpPr>
        <p:spPr>
          <a:xfrm>
            <a:off x="500034" y="1428736"/>
            <a:ext cx="8231068" cy="2396297"/>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300" dirty="0">
                <a:solidFill>
                  <a:prstClr val="black"/>
                </a:solidFill>
                <a:latin typeface="굴림" pitchFamily="50" charset="-127"/>
                <a:ea typeface="굴림" pitchFamily="50" charset="-127"/>
              </a:rPr>
              <a:t>The cycle of sampling is related to the production speed. The sampling period is determined on the assumption that if anomaly was detected at sampling inspection, we can investigate the whole samples For example, suppose you have 1,000 units produced per day and Let's say we take a sampling once a day to create a control chart. Sampled samples represent these 1,000 units. And if you find that the dimensions of the tool have increased due to tool failure in the sampling test, you should be able to inspect these 1,000.</a:t>
            </a:r>
          </a:p>
          <a:p>
            <a:pPr fontAlgn="base">
              <a:lnSpc>
                <a:spcPct val="130000"/>
              </a:lnSpc>
              <a:spcBef>
                <a:spcPct val="0"/>
              </a:spcBef>
              <a:spcAft>
                <a:spcPct val="0"/>
              </a:spcAft>
              <a:buClr>
                <a:srgbClr val="C5003D"/>
              </a:buClr>
            </a:pPr>
            <a:r>
              <a:rPr kumimoji="1" lang="en-US" altLang="ko-KR" sz="1300" dirty="0">
                <a:solidFill>
                  <a:prstClr val="black"/>
                </a:solidFill>
                <a:latin typeface="굴림" pitchFamily="50" charset="-127"/>
                <a:ea typeface="굴림" pitchFamily="50" charset="-127"/>
              </a:rPr>
              <a:t>If it is already shipped and it is not possible to perform a full inspection or other reasons, it is necessary to reduce the sampling period. The baseline is sampled once every two hours because there may be variations in the process during breaks.</a:t>
            </a:r>
          </a:p>
        </p:txBody>
      </p:sp>
      <p:sp>
        <p:nvSpPr>
          <p:cNvPr id="9" name="TextBox 8"/>
          <p:cNvSpPr txBox="1"/>
          <p:nvPr/>
        </p:nvSpPr>
        <p:spPr>
          <a:xfrm>
            <a:off x="118585" y="116635"/>
            <a:ext cx="482164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Operation of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 control chart</a:t>
            </a:r>
            <a:r>
              <a:rPr kumimoji="1" lang="ko-KR" altLang="en-US" sz="2000" b="1" dirty="0">
                <a:solidFill>
                  <a:prstClr val="black"/>
                </a:solidFill>
                <a:ea typeface="굴림" pitchFamily="50" charset="-127"/>
              </a:rPr>
              <a:t> </a:t>
            </a:r>
            <a:r>
              <a:rPr kumimoji="1" lang="en-US" altLang="ko-KR" sz="2000" b="1" dirty="0">
                <a:solidFill>
                  <a:prstClr val="black"/>
                </a:solidFill>
                <a:ea typeface="굴림" pitchFamily="50" charset="-127"/>
              </a:rPr>
              <a:t> </a:t>
            </a:r>
            <a:endParaRPr kumimoji="1" lang="ko-KR" altLang="en-US" sz="2000" b="1" dirty="0">
              <a:solidFill>
                <a:prstClr val="black"/>
              </a:solidFill>
              <a:ea typeface="굴림" pitchFamily="50" charset="-127"/>
            </a:endParaRPr>
          </a:p>
        </p:txBody>
      </p:sp>
      <p:sp>
        <p:nvSpPr>
          <p:cNvPr id="10"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289</a:t>
            </a:fld>
            <a:endParaRPr lang="ko-KR" altLang="en-US" sz="1200" dirty="0">
              <a:solidFill>
                <a:prstClr val="black"/>
              </a:solidFill>
            </a:endParaRPr>
          </a:p>
        </p:txBody>
      </p:sp>
      <p:sp>
        <p:nvSpPr>
          <p:cNvPr id="6" name="TextBox 5"/>
          <p:cNvSpPr txBox="1"/>
          <p:nvPr/>
        </p:nvSpPr>
        <p:spPr>
          <a:xfrm>
            <a:off x="500034" y="3714752"/>
            <a:ext cx="8184885" cy="2916439"/>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en-US" sz="1300" dirty="0">
                <a:solidFill>
                  <a:prstClr val="black"/>
                </a:solidFill>
                <a:latin typeface="굴림" pitchFamily="50" charset="-127"/>
                <a:ea typeface="굴림" pitchFamily="50" charset="-127"/>
              </a:rPr>
              <a:t>How many samples should be sampling at once?  The basic thing is to determine the quantity of the sample to such an extent that homogeneity can be ensured in the sample group.</a:t>
            </a:r>
            <a:br>
              <a:rPr kumimoji="1" lang="en-US" altLang="en-US" sz="1300" dirty="0">
                <a:solidFill>
                  <a:prstClr val="black"/>
                </a:solidFill>
                <a:latin typeface="굴림" pitchFamily="50" charset="-127"/>
                <a:ea typeface="굴림" pitchFamily="50" charset="-127"/>
              </a:rPr>
            </a:br>
            <a:r>
              <a:rPr kumimoji="1" lang="en-US" altLang="en-US" sz="1300" dirty="0">
                <a:solidFill>
                  <a:prstClr val="black"/>
                </a:solidFill>
                <a:latin typeface="굴림" pitchFamily="50" charset="-127"/>
                <a:ea typeface="굴림" pitchFamily="50" charset="-127"/>
              </a:rPr>
              <a:t>Let's say you produce 100 units in two hours.  Sampling for drawing control charts should not be randomly sampled out of these 100s</a:t>
            </a:r>
            <a:r>
              <a:rPr kumimoji="1" lang="en-US" altLang="ko-KR" sz="1300" dirty="0">
                <a:solidFill>
                  <a:prstClr val="black"/>
                </a:solidFill>
                <a:latin typeface="굴림" pitchFamily="50" charset="-127"/>
                <a:ea typeface="굴림" pitchFamily="50" charset="-127"/>
              </a:rPr>
              <a:t>.   Select two to five in a series of sequential productions.</a:t>
            </a:r>
          </a:p>
          <a:p>
            <a:pPr fontAlgn="base">
              <a:lnSpc>
                <a:spcPct val="130000"/>
              </a:lnSpc>
              <a:spcBef>
                <a:spcPct val="0"/>
              </a:spcBef>
              <a:spcAft>
                <a:spcPct val="0"/>
              </a:spcAft>
              <a:buClr>
                <a:srgbClr val="C5003D"/>
              </a:buClr>
            </a:pPr>
            <a:r>
              <a:rPr kumimoji="1" lang="en-US" altLang="ko-KR" sz="1300" dirty="0">
                <a:solidFill>
                  <a:prstClr val="black"/>
                </a:solidFill>
                <a:latin typeface="굴림" pitchFamily="50" charset="-127"/>
                <a:ea typeface="굴림" pitchFamily="50" charset="-127"/>
              </a:rPr>
              <a:t>The </a:t>
            </a:r>
            <a:r>
              <a:rPr kumimoji="1" lang="en-US" altLang="ko-KR" sz="1300" dirty="0" err="1">
                <a:solidFill>
                  <a:prstClr val="black"/>
                </a:solidFill>
                <a:latin typeface="굴림" pitchFamily="50" charset="-127"/>
                <a:ea typeface="굴림" pitchFamily="50" charset="-127"/>
              </a:rPr>
              <a:t>Xbar</a:t>
            </a:r>
            <a:r>
              <a:rPr kumimoji="1" lang="en-US" altLang="ko-KR" sz="1300" dirty="0">
                <a:solidFill>
                  <a:prstClr val="black"/>
                </a:solidFill>
                <a:latin typeface="굴림" pitchFamily="50" charset="-127"/>
                <a:ea typeface="굴림" pitchFamily="50" charset="-127"/>
              </a:rPr>
              <a:t>-R control chart can not be drawn if the characteristics of the products before and after continuous production are not identical.  In this case, I-MR control chart or Z control chart should be used depending on the characteristics of the process.</a:t>
            </a:r>
          </a:p>
          <a:p>
            <a:pPr fontAlgn="base">
              <a:lnSpc>
                <a:spcPct val="130000"/>
              </a:lnSpc>
              <a:spcBef>
                <a:spcPct val="0"/>
              </a:spcBef>
              <a:spcAft>
                <a:spcPct val="0"/>
              </a:spcAft>
              <a:buClr>
                <a:srgbClr val="C5003D"/>
              </a:buClr>
            </a:pPr>
            <a:r>
              <a:rPr kumimoji="1" lang="en-US" altLang="ko-KR" sz="1300" dirty="0">
                <a:solidFill>
                  <a:prstClr val="black"/>
                </a:solidFill>
                <a:latin typeface="굴림" pitchFamily="50" charset="-127"/>
                <a:ea typeface="굴림" pitchFamily="50" charset="-127"/>
              </a:rPr>
              <a:t>Determining the quantity of one sampling is determined by the detection power.  It depends on the number of clusters that can manage the data in the managed sample group and the severity of the failure. The worse the failure, and the fewer sample groups that are managed together in the control chart, the larger the number of sampling at one time. The standard is 4 ~ 5.</a:t>
            </a:r>
          </a:p>
        </p:txBody>
      </p:sp>
    </p:spTree>
    <p:extLst>
      <p:ext uri="{BB962C8B-B14F-4D97-AF65-F5344CB8AC3E}">
        <p14:creationId xmlns:p14="http://schemas.microsoft.com/office/powerpoint/2010/main" val="78137648"/>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76200" y="836715"/>
            <a:ext cx="8994770"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Tùy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theo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thời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vận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hành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chia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ra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dùng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tích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dùng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endParaRPr kumimoji="1" lang="ko-KR" altLang="en-US" sz="1600" b="1" dirty="0">
              <a:solidFill>
                <a:prstClr val="black"/>
              </a:solidFill>
              <a:latin typeface="굴림" pitchFamily="50" charset="-127"/>
              <a:ea typeface="굴림" pitchFamily="50" charset="-127"/>
            </a:endParaRPr>
          </a:p>
        </p:txBody>
      </p:sp>
      <p:sp>
        <p:nvSpPr>
          <p:cNvPr id="5" name="TextBox 4"/>
          <p:cNvSpPr txBox="1"/>
          <p:nvPr/>
        </p:nvSpPr>
        <p:spPr>
          <a:xfrm>
            <a:off x="3200400" y="1700809"/>
            <a:ext cx="243368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u="sng" dirty="0" err="1">
                <a:solidFill>
                  <a:prstClr val="black"/>
                </a:solidFill>
                <a:latin typeface="굴림" pitchFamily="50" charset="-127"/>
                <a:ea typeface="굴림" pitchFamily="50" charset="-127"/>
              </a:rPr>
              <a:t>Phân</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loại</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đồ</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thị</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quản</a:t>
            </a:r>
            <a:r>
              <a:rPr kumimoji="1" lang="en-US" altLang="ko-KR" sz="1600" b="1" u="sng" dirty="0">
                <a:solidFill>
                  <a:prstClr val="black"/>
                </a:solidFill>
                <a:latin typeface="굴림" pitchFamily="50" charset="-127"/>
                <a:ea typeface="굴림" pitchFamily="50" charset="-127"/>
              </a:rPr>
              <a:t> </a:t>
            </a:r>
            <a:r>
              <a:rPr kumimoji="1" lang="en-US" altLang="ko-KR" sz="1600" b="1" u="sng" dirty="0" err="1">
                <a:solidFill>
                  <a:prstClr val="black"/>
                </a:solidFill>
                <a:latin typeface="굴림" pitchFamily="50" charset="-127"/>
                <a:ea typeface="굴림" pitchFamily="50" charset="-127"/>
              </a:rPr>
              <a:t>lý</a:t>
            </a:r>
            <a:endParaRPr kumimoji="1" lang="ko-KR" altLang="en-US" sz="1600" b="1" u="sng" dirty="0">
              <a:solidFill>
                <a:prstClr val="black"/>
              </a:solidFill>
              <a:latin typeface="굴림" pitchFamily="50" charset="-127"/>
              <a:ea typeface="굴림" pitchFamily="50" charset="-127"/>
            </a:endParaRPr>
          </a:p>
        </p:txBody>
      </p:sp>
      <p:sp>
        <p:nvSpPr>
          <p:cNvPr id="6" name="TextBox 5"/>
          <p:cNvSpPr txBox="1"/>
          <p:nvPr/>
        </p:nvSpPr>
        <p:spPr>
          <a:xfrm>
            <a:off x="990600" y="2286000"/>
            <a:ext cx="1614545" cy="68736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dùng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phân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tích</a:t>
            </a:r>
            <a:endParaRPr kumimoji="1" lang="ko-KR" altLang="en-US" sz="1600" b="1" dirty="0">
              <a:solidFill>
                <a:prstClr val="black"/>
              </a:solidFill>
              <a:latin typeface="굴림" pitchFamily="50" charset="-127"/>
              <a:ea typeface="굴림" pitchFamily="50" charset="-127"/>
            </a:endParaRPr>
          </a:p>
        </p:txBody>
      </p:sp>
      <p:sp>
        <p:nvSpPr>
          <p:cNvPr id="7" name="TextBox 6"/>
          <p:cNvSpPr txBox="1"/>
          <p:nvPr/>
        </p:nvSpPr>
        <p:spPr>
          <a:xfrm>
            <a:off x="982678" y="3972311"/>
            <a:ext cx="1582484" cy="69705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dùng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endParaRPr kumimoji="1" lang="ko-KR" altLang="en-US" sz="1600" b="1" dirty="0">
              <a:solidFill>
                <a:prstClr val="black"/>
              </a:solidFill>
              <a:latin typeface="굴림" pitchFamily="50" charset="-127"/>
              <a:ea typeface="굴림" pitchFamily="50" charset="-127"/>
            </a:endParaRPr>
          </a:p>
        </p:txBody>
      </p:sp>
      <p:sp>
        <p:nvSpPr>
          <p:cNvPr id="8" name="TextBox 7"/>
          <p:cNvSpPr txBox="1"/>
          <p:nvPr/>
        </p:nvSpPr>
        <p:spPr>
          <a:xfrm>
            <a:off x="2644401" y="2276872"/>
            <a:ext cx="3975768"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UCL</a:t>
            </a:r>
            <a:r>
              <a:rPr kumimoji="1" lang="ko-KR" altLang="en-US"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LCL </a:t>
            </a:r>
            <a:r>
              <a:rPr kumimoji="1" lang="en-US" altLang="ko-KR" sz="1400" b="1" dirty="0" err="1">
                <a:solidFill>
                  <a:prstClr val="black"/>
                </a:solidFill>
                <a:latin typeface="굴림" pitchFamily="50" charset="-127"/>
                <a:ea typeface="굴림" pitchFamily="50" charset="-127"/>
              </a:rPr>
              <a:t>sẽ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khác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nhau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mỗi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lần</a:t>
            </a:r>
            <a:r>
              <a:rPr kumimoji="1" lang="en-US" altLang="ko-KR" sz="1400" b="1" dirty="0">
                <a:solidFill>
                  <a:prstClr val="black"/>
                </a:solidFill>
                <a:latin typeface="굴림" pitchFamily="50" charset="-127"/>
                <a:ea typeface="굴림" pitchFamily="50" charset="-127"/>
              </a:rPr>
              <a:t> sampling.  </a:t>
            </a:r>
            <a:endParaRPr kumimoji="1" lang="ko-KR" altLang="en-US" sz="1400" b="1" dirty="0">
              <a:solidFill>
                <a:prstClr val="black"/>
              </a:solidFill>
              <a:latin typeface="굴림" pitchFamily="50" charset="-127"/>
              <a:ea typeface="굴림" pitchFamily="50" charset="-127"/>
            </a:endParaRPr>
          </a:p>
        </p:txBody>
      </p:sp>
      <p:sp>
        <p:nvSpPr>
          <p:cNvPr id="9" name="TextBox 8"/>
          <p:cNvSpPr txBox="1"/>
          <p:nvPr/>
        </p:nvSpPr>
        <p:spPr>
          <a:xfrm>
            <a:off x="2644401" y="3972310"/>
            <a:ext cx="2441694"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UCL</a:t>
            </a:r>
            <a:r>
              <a:rPr kumimoji="1" lang="ko-KR" altLang="en-US"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LCL</a:t>
            </a:r>
            <a:r>
              <a:rPr kumimoji="1" lang="ko-KR" altLang="en-US"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cố</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a:t>
            </a:r>
            <a:endParaRPr kumimoji="1" lang="ko-KR" altLang="en-US" sz="1400" b="1" dirty="0">
              <a:solidFill>
                <a:prstClr val="black"/>
              </a:solidFill>
              <a:latin typeface="굴림" pitchFamily="50" charset="-127"/>
              <a:ea typeface="굴림" pitchFamily="50" charset="-127"/>
            </a:endParaRPr>
          </a:p>
        </p:txBody>
      </p:sp>
      <p:sp>
        <p:nvSpPr>
          <p:cNvPr id="10" name="TextBox 9"/>
          <p:cNvSpPr txBox="1"/>
          <p:nvPr/>
        </p:nvSpPr>
        <p:spPr>
          <a:xfrm>
            <a:off x="2644403" y="2708920"/>
            <a:ext cx="5732660" cy="65248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Sử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dụng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giai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đoạn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triển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đầu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trước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quyết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spec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trên</a:t>
            </a:r>
            <a:r>
              <a:rPr kumimoji="1" lang="en-US" altLang="ko-KR" sz="1400" b="1" dirty="0">
                <a:solidFill>
                  <a:prstClr val="black"/>
                </a:solidFill>
                <a:latin typeface="굴림" pitchFamily="50" charset="-127"/>
                <a:ea typeface="굴림" pitchFamily="50" charset="-127"/>
              </a:rPr>
              <a:t> line </a:t>
            </a:r>
            <a:r>
              <a:rPr kumimoji="1" lang="en-US" altLang="ko-KR" sz="1400" b="1" dirty="0" err="1">
                <a:solidFill>
                  <a:prstClr val="black"/>
                </a:solidFill>
                <a:latin typeface="굴림" pitchFamily="50" charset="-127"/>
                <a:ea typeface="굴림" pitchFamily="50" charset="-127"/>
              </a:rPr>
              <a:t>sản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xuất</a:t>
            </a:r>
            <a:r>
              <a:rPr kumimoji="1" lang="en-US" altLang="ko-KR" sz="1400" b="1" dirty="0">
                <a:solidFill>
                  <a:prstClr val="black"/>
                </a:solidFill>
                <a:latin typeface="굴림" pitchFamily="50" charset="-127"/>
                <a:ea typeface="굴림" pitchFamily="50" charset="-127"/>
              </a:rPr>
              <a:t>.</a:t>
            </a:r>
            <a:endParaRPr kumimoji="1" lang="ko-KR" altLang="en-US" sz="1400" b="1" dirty="0">
              <a:solidFill>
                <a:prstClr val="black"/>
              </a:solidFill>
              <a:latin typeface="굴림" pitchFamily="50" charset="-127"/>
              <a:ea typeface="굴림" pitchFamily="50" charset="-127"/>
            </a:endParaRPr>
          </a:p>
        </p:txBody>
      </p:sp>
      <p:sp>
        <p:nvSpPr>
          <p:cNvPr id="11" name="TextBox 10"/>
          <p:cNvSpPr txBox="1"/>
          <p:nvPr/>
        </p:nvSpPr>
        <p:spPr>
          <a:xfrm>
            <a:off x="2590800" y="4384731"/>
            <a:ext cx="6522940"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Spec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quyết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do </a:t>
            </a:r>
            <a:r>
              <a:rPr kumimoji="1" lang="en-US" altLang="ko-KR" sz="1400" b="1" dirty="0" err="1">
                <a:solidFill>
                  <a:prstClr val="black"/>
                </a:solidFill>
                <a:latin typeface="굴림" pitchFamily="50" charset="-127"/>
                <a:ea typeface="굴림" pitchFamily="50" charset="-127"/>
              </a:rPr>
              <a:t>người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giám</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sát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trên</a:t>
            </a:r>
            <a:r>
              <a:rPr kumimoji="1" lang="en-US" altLang="ko-KR" sz="1400" b="1" dirty="0">
                <a:solidFill>
                  <a:prstClr val="black"/>
                </a:solidFill>
                <a:latin typeface="굴림" pitchFamily="50" charset="-127"/>
                <a:ea typeface="굴림" pitchFamily="50" charset="-127"/>
              </a:rPr>
              <a:t> line </a:t>
            </a:r>
            <a:r>
              <a:rPr kumimoji="1" lang="en-US" altLang="ko-KR" sz="1400" b="1" dirty="0" err="1">
                <a:solidFill>
                  <a:prstClr val="black"/>
                </a:solidFill>
                <a:latin typeface="굴림" pitchFamily="50" charset="-127"/>
                <a:ea typeface="굴림" pitchFamily="50" charset="-127"/>
              </a:rPr>
              <a:t>sản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xuất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ổn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endParaRPr kumimoji="1" lang="ko-KR" altLang="en-US" sz="1400" b="1" dirty="0">
              <a:solidFill>
                <a:prstClr val="black"/>
              </a:solidFill>
              <a:latin typeface="굴림" pitchFamily="50" charset="-127"/>
              <a:ea typeface="굴림" pitchFamily="50" charset="-127"/>
            </a:endParaRPr>
          </a:p>
        </p:txBody>
      </p:sp>
      <p:sp>
        <p:nvSpPr>
          <p:cNvPr id="12" name="TextBox 11"/>
          <p:cNvSpPr txBox="1"/>
          <p:nvPr/>
        </p:nvSpPr>
        <p:spPr>
          <a:xfrm>
            <a:off x="2644403" y="4869160"/>
            <a:ext cx="6300123" cy="65248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Sử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dụng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đô</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dùng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phân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tích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nếu</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ổn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chuyển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đổi</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sang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dùng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endParaRPr kumimoji="1" lang="en-US" altLang="ko-KR" sz="1400" b="1" dirty="0">
              <a:solidFill>
                <a:prstClr val="black"/>
              </a:solidFill>
              <a:latin typeface="굴림" pitchFamily="50" charset="-127"/>
              <a:ea typeface="굴림" pitchFamily="50" charset="-127"/>
            </a:endParaRPr>
          </a:p>
        </p:txBody>
      </p:sp>
      <p:sp>
        <p:nvSpPr>
          <p:cNvPr id="13" name="TextBox 12"/>
          <p:cNvSpPr txBox="1"/>
          <p:nvPr/>
        </p:nvSpPr>
        <p:spPr>
          <a:xfrm>
            <a:off x="2644403" y="3361390"/>
            <a:ext cx="6226384" cy="65248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vận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hành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bởi</a:t>
            </a:r>
            <a:r>
              <a:rPr kumimoji="1" lang="en-US" altLang="ko-KR" sz="1400" b="1" dirty="0">
                <a:solidFill>
                  <a:prstClr val="black"/>
                </a:solidFill>
                <a:latin typeface="굴림" pitchFamily="50" charset="-127"/>
                <a:ea typeface="굴림" pitchFamily="50" charset="-127"/>
              </a:rPr>
              <a:t> engineer, </a:t>
            </a:r>
            <a:r>
              <a:rPr kumimoji="1" lang="en-US" altLang="ko-KR" sz="1400" b="1" dirty="0" err="1">
                <a:solidFill>
                  <a:prstClr val="black"/>
                </a:solidFill>
                <a:latin typeface="굴림" pitchFamily="50" charset="-127"/>
                <a:ea typeface="굴림" pitchFamily="50" charset="-127"/>
              </a:rPr>
              <a:t>Mục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đích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nhanh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chóng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yếu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tố</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quan</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trọng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thường</a:t>
            </a:r>
            <a:endParaRPr kumimoji="1" lang="ko-KR" altLang="en-US" sz="1400" b="1" dirty="0">
              <a:solidFill>
                <a:prstClr val="black"/>
              </a:solidFill>
              <a:latin typeface="굴림" pitchFamily="50" charset="-127"/>
              <a:ea typeface="굴림" pitchFamily="50" charset="-127"/>
            </a:endParaRPr>
          </a:p>
        </p:txBody>
      </p:sp>
      <p:sp>
        <p:nvSpPr>
          <p:cNvPr id="14" name="TextBox 13"/>
          <p:cNvSpPr txBox="1"/>
          <p:nvPr/>
        </p:nvSpPr>
        <p:spPr>
          <a:xfrm>
            <a:off x="118585" y="116635"/>
            <a:ext cx="4397679"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a:t>
            </a:r>
            <a:r>
              <a:rPr kumimoji="1" lang="en-US" altLang="ko-KR" sz="2000" b="1" dirty="0" err="1">
                <a:solidFill>
                  <a:prstClr val="black"/>
                </a:solidFill>
                <a:ea typeface="굴림" pitchFamily="50" charset="-127"/>
              </a:rPr>
              <a:t>Vận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hành</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sp>
        <p:nvSpPr>
          <p:cNvPr id="15"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290</a:t>
            </a:fld>
            <a:endParaRPr lang="ko-KR" altLang="en-US" sz="1200" dirty="0">
              <a:solidFill>
                <a:prstClr val="black"/>
              </a:solidFill>
            </a:endParaRPr>
          </a:p>
        </p:txBody>
      </p:sp>
    </p:spTree>
    <p:extLst>
      <p:ext uri="{BB962C8B-B14F-4D97-AF65-F5344CB8AC3E}">
        <p14:creationId xmlns:p14="http://schemas.microsoft.com/office/powerpoint/2010/main" val="1169120015"/>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84459" y="533400"/>
            <a:ext cx="8400056" cy="69705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Làm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thế</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quyết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định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kì</a:t>
            </a:r>
            <a:r>
              <a:rPr kumimoji="1" lang="en-US" altLang="ko-KR" sz="1600" b="1" dirty="0">
                <a:solidFill>
                  <a:prstClr val="black"/>
                </a:solidFill>
                <a:latin typeface="굴림" pitchFamily="50" charset="-127"/>
                <a:ea typeface="굴림" pitchFamily="50" charset="-127"/>
              </a:rPr>
              <a:t> sampling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lượng</a:t>
            </a:r>
            <a:r>
              <a:rPr kumimoji="1" lang="en-US" altLang="ko-KR" sz="1600" b="1" dirty="0">
                <a:solidFill>
                  <a:prstClr val="black"/>
                </a:solidFill>
                <a:latin typeface="굴림" pitchFamily="50" charset="-127"/>
                <a:ea typeface="굴림" pitchFamily="50" charset="-127"/>
              </a:rPr>
              <a:t> sampling </a:t>
            </a:r>
            <a:r>
              <a:rPr kumimoji="1" lang="en-US" altLang="ko-KR" sz="1600" b="1" dirty="0" err="1">
                <a:solidFill>
                  <a:prstClr val="black"/>
                </a:solidFill>
                <a:latin typeface="굴림" pitchFamily="50" charset="-127"/>
                <a:ea typeface="굴림" pitchFamily="50" charset="-127"/>
              </a:rPr>
              <a:t>để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xây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dựng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-R</a:t>
            </a:r>
            <a:endParaRPr kumimoji="1" lang="ko-KR" altLang="en-US" sz="1600" b="1" dirty="0">
              <a:solidFill>
                <a:prstClr val="black"/>
              </a:solidFill>
              <a:latin typeface="굴림" pitchFamily="50" charset="-127"/>
              <a:ea typeface="굴림" pitchFamily="50" charset="-127"/>
            </a:endParaRPr>
          </a:p>
        </p:txBody>
      </p:sp>
      <p:sp>
        <p:nvSpPr>
          <p:cNvPr id="7" name="TextBox 6"/>
          <p:cNvSpPr txBox="1"/>
          <p:nvPr/>
        </p:nvSpPr>
        <p:spPr>
          <a:xfrm>
            <a:off x="304800" y="1066800"/>
            <a:ext cx="8610600" cy="2613023"/>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dirty="0">
                <a:solidFill>
                  <a:prstClr val="black"/>
                </a:solidFill>
                <a:latin typeface="굴림" pitchFamily="50" charset="-127"/>
                <a:ea typeface="굴림" pitchFamily="50" charset="-127"/>
              </a:rPr>
              <a:t>Chu </a:t>
            </a:r>
            <a:r>
              <a:rPr kumimoji="1" lang="en-US" altLang="ko-KR" sz="1400" dirty="0" err="1">
                <a:solidFill>
                  <a:prstClr val="black"/>
                </a:solidFill>
                <a:latin typeface="굴림" pitchFamily="50" charset="-127"/>
                <a:ea typeface="굴림" pitchFamily="50" charset="-127"/>
              </a:rPr>
              <a:t>kỳ</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liên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quan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đến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tốc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độ</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xuất</a:t>
            </a:r>
            <a:r>
              <a:rPr kumimoji="1" lang="en-US" altLang="ko-KR" sz="1400" dirty="0">
                <a:solidFill>
                  <a:prstClr val="black"/>
                </a:solidFill>
                <a:latin typeface="굴림" pitchFamily="50" charset="-127"/>
                <a:ea typeface="굴림" pitchFamily="50" charset="-127"/>
              </a:rPr>
              <a:t>. </a:t>
            </a:r>
            <a:r>
              <a:rPr kumimoji="1" lang="vi-VN" altLang="ko-KR" sz="1400" dirty="0">
                <a:solidFill>
                  <a:prstClr val="black"/>
                </a:solidFill>
                <a:latin typeface="굴림" pitchFamily="50" charset="-127"/>
                <a:ea typeface="굴림" pitchFamily="50" charset="-127"/>
              </a:rPr>
              <a:t>Giai đoạn lấy mẫu được xác định dựa trên giả định rằng nếu phát hiện dị thường khi kiểm tra lấy mẫu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quyết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định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điều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tổng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toàn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bộ</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Ví</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dụ</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một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ngày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xuất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số</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lượng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là</a:t>
            </a:r>
            <a:r>
              <a:rPr kumimoji="1" lang="en-US" altLang="ko-KR" sz="1400" dirty="0">
                <a:solidFill>
                  <a:prstClr val="black"/>
                </a:solidFill>
                <a:latin typeface="굴림" pitchFamily="50" charset="-127"/>
                <a:ea typeface="굴림" pitchFamily="50" charset="-127"/>
              </a:rPr>
              <a:t> 1000, </a:t>
            </a:r>
            <a:r>
              <a:rPr kumimoji="1" lang="en-US" altLang="ko-KR" sz="1400" dirty="0" err="1">
                <a:solidFill>
                  <a:prstClr val="black"/>
                </a:solidFill>
                <a:latin typeface="굴림" pitchFamily="50" charset="-127"/>
                <a:ea typeface="굴림" pitchFamily="50" charset="-127"/>
              </a:rPr>
              <a:t>để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xây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dựng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thị</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một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ngày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tiến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hành</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một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lần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Hàng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mẫu</a:t>
            </a:r>
            <a:r>
              <a:rPr kumimoji="1" lang="en-US" altLang="ko-KR" sz="1400" dirty="0">
                <a:solidFill>
                  <a:prstClr val="black"/>
                </a:solidFill>
                <a:latin typeface="굴림" pitchFamily="50" charset="-127"/>
                <a:ea typeface="굴림" pitchFamily="50" charset="-127"/>
              </a:rPr>
              <a:t>/sample </a:t>
            </a:r>
            <a:r>
              <a:rPr kumimoji="1" lang="en-US" altLang="ko-KR" sz="1400" dirty="0" err="1">
                <a:solidFill>
                  <a:prstClr val="black"/>
                </a:solidFill>
                <a:latin typeface="굴림" pitchFamily="50" charset="-127"/>
                <a:ea typeface="굴림" pitchFamily="50" charset="-127"/>
              </a:rPr>
              <a:t>sẽ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đại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diện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cho</a:t>
            </a:r>
            <a:r>
              <a:rPr kumimoji="1" lang="en-US" altLang="ko-KR" sz="1400" dirty="0">
                <a:solidFill>
                  <a:prstClr val="black"/>
                </a:solidFill>
                <a:latin typeface="굴림" pitchFamily="50" charset="-127"/>
                <a:ea typeface="굴림" pitchFamily="50" charset="-127"/>
              </a:rPr>
              <a:t> 1000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này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kiểm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tra</a:t>
            </a:r>
            <a:r>
              <a:rPr kumimoji="1" lang="en-US" altLang="ko-KR" sz="1400" dirty="0">
                <a:solidFill>
                  <a:prstClr val="black"/>
                </a:solidFill>
                <a:latin typeface="굴림" pitchFamily="50" charset="-127"/>
                <a:ea typeface="굴림" pitchFamily="50" charset="-127"/>
              </a:rPr>
              <a:t> sampling do </a:t>
            </a:r>
            <a:r>
              <a:rPr kumimoji="1" lang="en-US" altLang="ko-KR" sz="1400" dirty="0" err="1">
                <a:solidFill>
                  <a:prstClr val="black"/>
                </a:solidFill>
                <a:latin typeface="굴림" pitchFamily="50" charset="-127"/>
                <a:ea typeface="굴림" pitchFamily="50" charset="-127"/>
              </a:rPr>
              <a:t>bất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thường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công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cụ</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phát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hiện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các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chỉ</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số</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lớn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hơn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bình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thường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thì</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lúc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này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phải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kiểm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cả</a:t>
            </a:r>
            <a:r>
              <a:rPr kumimoji="1" lang="en-US" altLang="ko-KR" sz="1400" dirty="0">
                <a:solidFill>
                  <a:prstClr val="black"/>
                </a:solidFill>
                <a:latin typeface="굴림" pitchFamily="50" charset="-127"/>
                <a:ea typeface="굴림" pitchFamily="50" charset="-127"/>
              </a:rPr>
              <a:t> 1000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này</a:t>
            </a:r>
            <a:r>
              <a:rPr kumimoji="1" lang="en-US" altLang="ko-KR" sz="1400"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dirty="0" err="1">
                <a:solidFill>
                  <a:prstClr val="black"/>
                </a:solidFill>
                <a:latin typeface="굴림" pitchFamily="50" charset="-127"/>
                <a:ea typeface="굴림" pitchFamily="50" charset="-127"/>
              </a:rPr>
              <a:t>Trường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hợp</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những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đã</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được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xuất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nên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không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kiểm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toàn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bộ</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hoặc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kiểm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gặp</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khăn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thì</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phải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giảm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chu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kì</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xuống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Về</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cơ</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biến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động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thời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gian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nghỉ</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giữa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giờ</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nên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tiến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hành</a:t>
            </a:r>
            <a:r>
              <a:rPr kumimoji="1" lang="en-US" altLang="ko-KR" sz="1400" dirty="0">
                <a:solidFill>
                  <a:prstClr val="black"/>
                </a:solidFill>
                <a:latin typeface="굴림" pitchFamily="50" charset="-127"/>
                <a:ea typeface="굴림" pitchFamily="50" charset="-127"/>
              </a:rPr>
              <a:t> sampling 2 </a:t>
            </a:r>
            <a:r>
              <a:rPr kumimoji="1" lang="en-US" altLang="ko-KR" sz="1400" dirty="0" err="1">
                <a:solidFill>
                  <a:prstClr val="black"/>
                </a:solidFill>
                <a:latin typeface="굴림" pitchFamily="50" charset="-127"/>
                <a:ea typeface="굴림" pitchFamily="50" charset="-127"/>
              </a:rPr>
              <a:t>tiếng</a:t>
            </a:r>
            <a:r>
              <a:rPr kumimoji="1" lang="en-US" altLang="ko-KR" sz="1400" dirty="0">
                <a:solidFill>
                  <a:prstClr val="black"/>
                </a:solidFill>
                <a:latin typeface="굴림" pitchFamily="50" charset="-127"/>
                <a:ea typeface="굴림" pitchFamily="50" charset="-127"/>
              </a:rPr>
              <a:t> 1 </a:t>
            </a:r>
            <a:r>
              <a:rPr kumimoji="1" lang="en-US" altLang="ko-KR" sz="1400" dirty="0" err="1">
                <a:solidFill>
                  <a:prstClr val="black"/>
                </a:solidFill>
                <a:latin typeface="굴림" pitchFamily="50" charset="-127"/>
                <a:ea typeface="굴림" pitchFamily="50" charset="-127"/>
              </a:rPr>
              <a:t>lần</a:t>
            </a:r>
            <a:endParaRPr kumimoji="1" lang="en-US" altLang="ko-KR" sz="1400" dirty="0">
              <a:solidFill>
                <a:prstClr val="black"/>
              </a:solidFill>
              <a:latin typeface="굴림" pitchFamily="50" charset="-127"/>
              <a:ea typeface="굴림" pitchFamily="50" charset="-127"/>
            </a:endParaRPr>
          </a:p>
        </p:txBody>
      </p:sp>
      <p:sp>
        <p:nvSpPr>
          <p:cNvPr id="8" name="TextBox 7"/>
          <p:cNvSpPr txBox="1"/>
          <p:nvPr/>
        </p:nvSpPr>
        <p:spPr>
          <a:xfrm>
            <a:off x="304800" y="3505200"/>
            <a:ext cx="8626604" cy="317317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một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lần</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ta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phải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lấy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mấy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mẫu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Về</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cơ</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quyết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định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số</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lượng</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khoảng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đảm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bảo</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tính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chất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nhóm</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Hãy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giả</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sử</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2 </a:t>
            </a:r>
            <a:r>
              <a:rPr kumimoji="1" lang="en-US" altLang="ko-KR" sz="1400" dirty="0" err="1">
                <a:solidFill>
                  <a:prstClr val="black"/>
                </a:solidFill>
                <a:latin typeface="굴림" pitchFamily="50" charset="-127"/>
                <a:ea typeface="굴림" pitchFamily="50" charset="-127"/>
              </a:rPr>
              <a:t>tiếng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xuất</a:t>
            </a:r>
            <a:r>
              <a:rPr kumimoji="1" lang="en-US" altLang="ko-KR" sz="1400" dirty="0">
                <a:solidFill>
                  <a:prstClr val="black"/>
                </a:solidFill>
                <a:latin typeface="굴림" pitchFamily="50" charset="-127"/>
                <a:ea typeface="굴림" pitchFamily="50" charset="-127"/>
              </a:rPr>
              <a:t> 100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thị</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nếu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tiến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hành</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ngẫu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nhiên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100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này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là</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không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được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Lựa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chọn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từ</a:t>
            </a:r>
            <a:r>
              <a:rPr kumimoji="1" lang="en-US" altLang="ko-KR" sz="1400" dirty="0">
                <a:solidFill>
                  <a:prstClr val="black"/>
                </a:solidFill>
                <a:latin typeface="굴림" pitchFamily="50" charset="-127"/>
                <a:ea typeface="굴림" pitchFamily="50" charset="-127"/>
              </a:rPr>
              <a:t> 2 </a:t>
            </a:r>
            <a:r>
              <a:rPr kumimoji="1" lang="en-US" altLang="ko-KR" sz="1400" dirty="0" err="1">
                <a:solidFill>
                  <a:prstClr val="black"/>
                </a:solidFill>
                <a:latin typeface="굴림" pitchFamily="50" charset="-127"/>
                <a:ea typeface="굴림" pitchFamily="50" charset="-127"/>
              </a:rPr>
              <a:t>đến</a:t>
            </a:r>
            <a:r>
              <a:rPr kumimoji="1" lang="en-US" altLang="ko-KR" sz="1400" dirty="0">
                <a:solidFill>
                  <a:prstClr val="black"/>
                </a:solidFill>
                <a:latin typeface="굴림" pitchFamily="50" charset="-127"/>
                <a:ea typeface="굴림" pitchFamily="50" charset="-127"/>
              </a:rPr>
              <a:t> 5 sample </a:t>
            </a:r>
            <a:r>
              <a:rPr kumimoji="1" lang="en-US" altLang="ko-KR" sz="1400" dirty="0" err="1">
                <a:solidFill>
                  <a:prstClr val="black"/>
                </a:solidFill>
                <a:latin typeface="굴림" pitchFamily="50" charset="-127"/>
                <a:ea typeface="굴림" pitchFamily="50" charset="-127"/>
              </a:rPr>
              <a:t>theo</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thứ</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tự</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dãy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xuất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liên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tục</a:t>
            </a:r>
            <a:r>
              <a:rPr kumimoji="1" lang="en-US" altLang="ko-KR" sz="1400"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dirty="0" err="1">
                <a:solidFill>
                  <a:prstClr val="black"/>
                </a:solidFill>
                <a:latin typeface="굴림" pitchFamily="50" charset="-127"/>
                <a:ea typeface="굴림" pitchFamily="50" charset="-127"/>
              </a:rPr>
              <a:t>Nếu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đặc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tính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phẩm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trước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và</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sau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được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xuất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liên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tục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không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được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xem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là</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nhất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thì</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không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được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thị</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Xbar</a:t>
            </a:r>
            <a:r>
              <a:rPr kumimoji="1" lang="en-US" altLang="ko-KR" sz="1400" dirty="0">
                <a:solidFill>
                  <a:prstClr val="black"/>
                </a:solidFill>
                <a:latin typeface="굴림" pitchFamily="50" charset="-127"/>
                <a:ea typeface="굴림" pitchFamily="50" charset="-127"/>
              </a:rPr>
              <a:t>-R. </a:t>
            </a:r>
            <a:r>
              <a:rPr kumimoji="1" lang="en-US" altLang="ko-KR" sz="1400" dirty="0" err="1">
                <a:solidFill>
                  <a:prstClr val="black"/>
                </a:solidFill>
                <a:latin typeface="굴림" pitchFamily="50" charset="-127"/>
                <a:ea typeface="굴림" pitchFamily="50" charset="-127"/>
              </a:rPr>
              <a:t>Lức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này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tùy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theo</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đặc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tính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process </a:t>
            </a:r>
            <a:r>
              <a:rPr kumimoji="1" lang="en-US" altLang="ko-KR" sz="1400" dirty="0" err="1">
                <a:solidFill>
                  <a:prstClr val="black"/>
                </a:solidFill>
                <a:latin typeface="굴림" pitchFamily="50" charset="-127"/>
                <a:ea typeface="굴림" pitchFamily="50" charset="-127"/>
              </a:rPr>
              <a:t>phải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sử</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dụng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thị</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I-MR </a:t>
            </a:r>
            <a:r>
              <a:rPr kumimoji="1" lang="en-US" altLang="ko-KR" sz="1400" dirty="0" err="1">
                <a:solidFill>
                  <a:prstClr val="black"/>
                </a:solidFill>
                <a:latin typeface="굴림" pitchFamily="50" charset="-127"/>
                <a:ea typeface="굴림" pitchFamily="50" charset="-127"/>
              </a:rPr>
              <a:t>hoặc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thị</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ko-KR" altLang="en-US" sz="1400" dirty="0">
                <a:solidFill>
                  <a:prstClr val="black"/>
                </a:solidFill>
                <a:latin typeface="굴림" pitchFamily="50" charset="-127"/>
                <a:ea typeface="굴림" pitchFamily="50" charset="-127"/>
              </a:rPr>
              <a:t>  </a:t>
            </a:r>
            <a:r>
              <a:rPr kumimoji="1" lang="en-US" altLang="ko-KR" sz="1400" dirty="0">
                <a:solidFill>
                  <a:prstClr val="black"/>
                </a:solidFill>
                <a:latin typeface="굴림" pitchFamily="50" charset="-127"/>
                <a:ea typeface="굴림" pitchFamily="50" charset="-127"/>
              </a:rPr>
              <a:t>Z.. </a:t>
            </a:r>
          </a:p>
          <a:p>
            <a:pPr fontAlgn="base">
              <a:lnSpc>
                <a:spcPct val="130000"/>
              </a:lnSpc>
              <a:spcBef>
                <a:spcPct val="0"/>
              </a:spcBef>
              <a:spcAft>
                <a:spcPct val="0"/>
              </a:spcAft>
              <a:buClr>
                <a:srgbClr val="C5003D"/>
              </a:buClr>
            </a:pPr>
            <a:r>
              <a:rPr kumimoji="1" lang="en-US" altLang="ko-KR" sz="1400" dirty="0" err="1">
                <a:solidFill>
                  <a:prstClr val="black"/>
                </a:solidFill>
                <a:latin typeface="굴림" pitchFamily="50" charset="-127"/>
                <a:ea typeface="굴림" pitchFamily="50" charset="-127"/>
              </a:rPr>
              <a:t>Việc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quyết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định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số</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lượng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1 </a:t>
            </a:r>
            <a:r>
              <a:rPr kumimoji="1" lang="en-US" altLang="ko-KR" sz="1400" dirty="0" err="1">
                <a:solidFill>
                  <a:prstClr val="black"/>
                </a:solidFill>
                <a:latin typeface="굴림" pitchFamily="50" charset="-127"/>
                <a:ea typeface="굴림" pitchFamily="50" charset="-127"/>
              </a:rPr>
              <a:t>lần</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quyết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định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dựa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vào</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năng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lực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phân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tích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và</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phát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hiện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Dựa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vào</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data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nhóm</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có</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thể</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đến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mấy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nhóm</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và</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tùy</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theo</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mức</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độ</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nghiêm</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trọng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khi</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phát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sinh</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không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đạt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tiêu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chuẩn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Trong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đồ</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thị</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số</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lượng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của</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nhóm</a:t>
            </a:r>
            <a:r>
              <a:rPr kumimoji="1" lang="en-US" altLang="ko-KR" sz="1400" dirty="0">
                <a:solidFill>
                  <a:prstClr val="black"/>
                </a:solidFill>
                <a:latin typeface="굴림" pitchFamily="50" charset="-127"/>
                <a:ea typeface="굴림" pitchFamily="50" charset="-127"/>
              </a:rPr>
              <a:t> sample </a:t>
            </a:r>
            <a:r>
              <a:rPr kumimoji="1" lang="en-US" altLang="ko-KR" sz="1400" dirty="0" err="1">
                <a:solidFill>
                  <a:prstClr val="black"/>
                </a:solidFill>
                <a:latin typeface="굴림" pitchFamily="50" charset="-127"/>
                <a:ea typeface="굴림" pitchFamily="50" charset="-127"/>
              </a:rPr>
              <a:t>quản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lý</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cùng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nhau</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càng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nhỏ</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thì</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số</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lượng</a:t>
            </a:r>
            <a:r>
              <a:rPr kumimoji="1" lang="en-US" altLang="ko-KR" sz="1400" dirty="0">
                <a:solidFill>
                  <a:prstClr val="black"/>
                </a:solidFill>
                <a:latin typeface="굴림" pitchFamily="50" charset="-127"/>
                <a:ea typeface="굴림" pitchFamily="50" charset="-127"/>
              </a:rPr>
              <a:t> sampling </a:t>
            </a:r>
            <a:r>
              <a:rPr kumimoji="1" lang="en-US" altLang="ko-KR" sz="1400" dirty="0" err="1">
                <a:solidFill>
                  <a:prstClr val="black"/>
                </a:solidFill>
                <a:latin typeface="굴림" pitchFamily="50" charset="-127"/>
                <a:ea typeface="굴림" pitchFamily="50" charset="-127"/>
              </a:rPr>
              <a:t>một</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lần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càng</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lớn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Về</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cơ</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bản</a:t>
            </a:r>
            <a:r>
              <a:rPr kumimoji="1" lang="en-US" altLang="ko-KR" sz="1400" dirty="0">
                <a:solidFill>
                  <a:prstClr val="black"/>
                </a:solidFill>
                <a:latin typeface="굴림" pitchFamily="50" charset="-127"/>
                <a:ea typeface="굴림" pitchFamily="50" charset="-127"/>
              </a:rPr>
              <a:t> </a:t>
            </a:r>
            <a:r>
              <a:rPr kumimoji="1" lang="en-US" altLang="ko-KR" sz="1400" dirty="0" err="1">
                <a:solidFill>
                  <a:prstClr val="black"/>
                </a:solidFill>
                <a:latin typeface="굴림" pitchFamily="50" charset="-127"/>
                <a:ea typeface="굴림" pitchFamily="50" charset="-127"/>
              </a:rPr>
              <a:t>là</a:t>
            </a:r>
            <a:r>
              <a:rPr kumimoji="1" lang="en-US" altLang="ko-KR" sz="1400" dirty="0">
                <a:solidFill>
                  <a:prstClr val="black"/>
                </a:solidFill>
                <a:latin typeface="굴림" pitchFamily="50" charset="-127"/>
                <a:ea typeface="굴림" pitchFamily="50" charset="-127"/>
              </a:rPr>
              <a:t> 4~5 </a:t>
            </a:r>
            <a:r>
              <a:rPr kumimoji="1" lang="en-US" altLang="ko-KR" sz="1400" dirty="0" err="1">
                <a:solidFill>
                  <a:prstClr val="black"/>
                </a:solidFill>
                <a:latin typeface="굴림" pitchFamily="50" charset="-127"/>
                <a:ea typeface="굴림" pitchFamily="50" charset="-127"/>
              </a:rPr>
              <a:t>nhóm</a:t>
            </a:r>
            <a:r>
              <a:rPr kumimoji="1" lang="en-US" altLang="ko-KR" sz="1400" dirty="0">
                <a:solidFill>
                  <a:prstClr val="black"/>
                </a:solidFill>
                <a:latin typeface="굴림" pitchFamily="50" charset="-127"/>
                <a:ea typeface="굴림" pitchFamily="50" charset="-127"/>
              </a:rPr>
              <a:t>.</a:t>
            </a:r>
          </a:p>
        </p:txBody>
      </p:sp>
      <p:sp>
        <p:nvSpPr>
          <p:cNvPr id="9" name="TextBox 8"/>
          <p:cNvSpPr txBox="1"/>
          <p:nvPr/>
        </p:nvSpPr>
        <p:spPr>
          <a:xfrm>
            <a:off x="118585" y="116635"/>
            <a:ext cx="4397679"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6. </a:t>
            </a:r>
            <a:r>
              <a:rPr kumimoji="1" lang="en-US" altLang="ko-KR" sz="2000" b="1" dirty="0" err="1">
                <a:solidFill>
                  <a:prstClr val="black"/>
                </a:solidFill>
                <a:ea typeface="굴림" pitchFamily="50" charset="-127"/>
              </a:rPr>
              <a:t>Vận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hành</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đồ</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thị</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quản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lý</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Xbar</a:t>
            </a:r>
            <a:r>
              <a:rPr kumimoji="1" lang="en-US" altLang="ko-KR" sz="2000" b="1" dirty="0">
                <a:solidFill>
                  <a:prstClr val="black"/>
                </a:solidFill>
                <a:ea typeface="굴림" pitchFamily="50" charset="-127"/>
              </a:rPr>
              <a:t>-R</a:t>
            </a:r>
            <a:endParaRPr kumimoji="1" lang="ko-KR" altLang="en-US" sz="2000" b="1" dirty="0">
              <a:solidFill>
                <a:prstClr val="black"/>
              </a:solidFill>
              <a:ea typeface="굴림" pitchFamily="50" charset="-127"/>
            </a:endParaRPr>
          </a:p>
        </p:txBody>
      </p:sp>
      <p:sp>
        <p:nvSpPr>
          <p:cNvPr id="10"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291</a:t>
            </a:fld>
            <a:endParaRPr lang="ko-KR" altLang="en-US" sz="1200" dirty="0">
              <a:solidFill>
                <a:prstClr val="black"/>
              </a:solidFill>
            </a:endParaRPr>
          </a:p>
        </p:txBody>
      </p:sp>
    </p:spTree>
    <p:extLst>
      <p:ext uri="{BB962C8B-B14F-4D97-AF65-F5344CB8AC3E}">
        <p14:creationId xmlns:p14="http://schemas.microsoft.com/office/powerpoint/2010/main" val="7813764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직사각형 42"/>
          <p:cNvSpPr/>
          <p:nvPr/>
        </p:nvSpPr>
        <p:spPr>
          <a:xfrm>
            <a:off x="2235307" y="4584362"/>
            <a:ext cx="5504557" cy="2124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3" name="직사각형 2"/>
          <p:cNvSpPr/>
          <p:nvPr/>
        </p:nvSpPr>
        <p:spPr>
          <a:xfrm>
            <a:off x="2258765" y="3127169"/>
            <a:ext cx="5504557" cy="2124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1267" name="Rectangle 3"/>
          <p:cNvSpPr>
            <a:spLocks noChangeArrowheads="1"/>
          </p:cNvSpPr>
          <p:nvPr/>
        </p:nvSpPr>
        <p:spPr bwMode="auto">
          <a:xfrm>
            <a:off x="783167" y="1197522"/>
            <a:ext cx="8075113" cy="1428083"/>
          </a:xfrm>
          <a:prstGeom prst="rect">
            <a:avLst/>
          </a:prstGeom>
          <a:solidFill>
            <a:schemeClr val="bg1">
              <a:lumMod val="95000"/>
            </a:schemeClr>
          </a:solidFill>
          <a:ln>
            <a:noFill/>
          </a:ln>
        </p:spPr>
        <p:txBody>
          <a:bodyPr wrap="squar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30000"/>
              </a:spcBef>
              <a:spcAft>
                <a:spcPct val="0"/>
              </a:spcAft>
              <a:buFont typeface="Wingdings" pitchFamily="2" charset="2"/>
              <a:buChar char="§"/>
            </a:pPr>
            <a:r>
              <a:rPr lang="en-US" sz="1400" dirty="0"/>
              <a:t> </a:t>
            </a:r>
            <a:r>
              <a:rPr lang="en-US" altLang="ko-KR" sz="1400" dirty="0">
                <a:solidFill>
                  <a:prstClr val="black"/>
                </a:solidFill>
                <a:latin typeface="맑은 고딕"/>
                <a:ea typeface="맑은 고딕" pitchFamily="50" charset="-127"/>
              </a:rPr>
              <a:t>When the process is stable, the line corresponding to the average value is called the center </a:t>
            </a:r>
          </a:p>
          <a:p>
            <a:pPr eaLnBrk="1" fontAlgn="base" hangingPunct="1">
              <a:spcBef>
                <a:spcPct val="30000"/>
              </a:spcBef>
              <a:spcAft>
                <a:spcPct val="0"/>
              </a:spcAft>
            </a:pPr>
            <a:r>
              <a:rPr lang="en-US" altLang="ko-KR" sz="1400" dirty="0">
                <a:solidFill>
                  <a:prstClr val="black"/>
                </a:solidFill>
                <a:latin typeface="맑은 고딕"/>
                <a:ea typeface="맑은 고딕" pitchFamily="50" charset="-127"/>
              </a:rPr>
              <a:t>   line (CL = Center Line).</a:t>
            </a:r>
          </a:p>
          <a:p>
            <a:pPr eaLnBrk="1" fontAlgn="base" hangingPunct="1">
              <a:spcBef>
                <a:spcPct val="30000"/>
              </a:spcBef>
              <a:spcAft>
                <a:spcPct val="0"/>
              </a:spcAft>
              <a:buFont typeface="Wingdings" pitchFamily="2" charset="2"/>
              <a:buChar char="§"/>
            </a:pPr>
            <a:r>
              <a:rPr lang="ko-KR" altLang="en-US" sz="1400" dirty="0">
                <a:solidFill>
                  <a:prstClr val="black"/>
                </a:solidFill>
                <a:latin typeface="맑은 고딕"/>
                <a:ea typeface="맑은 고딕" pitchFamily="50" charset="-127"/>
              </a:rPr>
              <a:t> </a:t>
            </a:r>
            <a:r>
              <a:rPr lang="en-US" altLang="ko-KR" sz="1400" dirty="0">
                <a:solidFill>
                  <a:prstClr val="black"/>
                </a:solidFill>
                <a:latin typeface="맑은 고딕"/>
                <a:ea typeface="맑은 고딕" pitchFamily="50" charset="-127"/>
              </a:rPr>
              <a:t>In the 3σ control chart, the probability of leaving UCL and LCL is only 0.27%.</a:t>
            </a:r>
          </a:p>
          <a:p>
            <a:pPr eaLnBrk="1" fontAlgn="base" hangingPunct="1">
              <a:spcBef>
                <a:spcPct val="30000"/>
              </a:spcBef>
              <a:spcAft>
                <a:spcPct val="0"/>
              </a:spcAft>
            </a:pPr>
            <a:r>
              <a:rPr lang="en-US" altLang="ko-KR" sz="1400" dirty="0">
                <a:solidFill>
                  <a:prstClr val="black"/>
                </a:solidFill>
                <a:latin typeface="맑은 고딕"/>
                <a:ea typeface="맑은 고딕" pitchFamily="50" charset="-127"/>
              </a:rPr>
              <a:t>  That is, if there is only a cause of chance, data will in UCL / LCL, If it is outside the UCL /   </a:t>
            </a:r>
          </a:p>
          <a:p>
            <a:pPr eaLnBrk="1" fontAlgn="base" hangingPunct="1">
              <a:spcBef>
                <a:spcPct val="30000"/>
              </a:spcBef>
              <a:spcAft>
                <a:spcPct val="0"/>
              </a:spcAft>
            </a:pPr>
            <a:r>
              <a:rPr lang="en-US" altLang="ko-KR" sz="1400" dirty="0">
                <a:solidFill>
                  <a:prstClr val="black"/>
                </a:solidFill>
                <a:latin typeface="맑은 고딕"/>
                <a:ea typeface="맑은 고딕" pitchFamily="50" charset="-127"/>
              </a:rPr>
              <a:t>  LCL, it is determined that it is caused by assignable cause.</a:t>
            </a:r>
          </a:p>
        </p:txBody>
      </p:sp>
      <p:sp>
        <p:nvSpPr>
          <p:cNvPr id="11268" name="Rectangle 5"/>
          <p:cNvSpPr>
            <a:spLocks noChangeArrowheads="1"/>
          </p:cNvSpPr>
          <p:nvPr/>
        </p:nvSpPr>
        <p:spPr bwMode="auto">
          <a:xfrm>
            <a:off x="1029867" y="2852837"/>
            <a:ext cx="7397262" cy="230505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endParaRPr lang="ko-KR" altLang="ko-KR" sz="1400" b="1" dirty="0">
              <a:solidFill>
                <a:prstClr val="white"/>
              </a:solidFill>
              <a:latin typeface="맑은 고딕"/>
              <a:ea typeface="맑은 고딕" pitchFamily="50" charset="-127"/>
            </a:endParaRPr>
          </a:p>
        </p:txBody>
      </p:sp>
      <p:sp>
        <p:nvSpPr>
          <p:cNvPr id="11269" name="Line 11"/>
          <p:cNvSpPr>
            <a:spLocks noChangeShapeType="1"/>
          </p:cNvSpPr>
          <p:nvPr/>
        </p:nvSpPr>
        <p:spPr bwMode="auto">
          <a:xfrm>
            <a:off x="2244672" y="3044925"/>
            <a:ext cx="0" cy="185102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70" name="Rectangle 22"/>
          <p:cNvSpPr>
            <a:spLocks noChangeArrowheads="1"/>
          </p:cNvSpPr>
          <p:nvPr/>
        </p:nvSpPr>
        <p:spPr bwMode="auto">
          <a:xfrm>
            <a:off x="2735576" y="2971899"/>
            <a:ext cx="4892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sym typeface="Wingdings 2" pitchFamily="18" charset="2"/>
              </a:rPr>
              <a:t>“a”</a:t>
            </a:r>
          </a:p>
        </p:txBody>
      </p:sp>
      <p:sp>
        <p:nvSpPr>
          <p:cNvPr id="11271" name="Rectangle 23"/>
          <p:cNvSpPr>
            <a:spLocks noChangeArrowheads="1"/>
          </p:cNvSpPr>
          <p:nvPr/>
        </p:nvSpPr>
        <p:spPr bwMode="auto">
          <a:xfrm>
            <a:off x="2606632" y="4745137"/>
            <a:ext cx="5052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sym typeface="Wingdings 2" pitchFamily="18" charset="2"/>
              </a:rPr>
              <a:t>“b”</a:t>
            </a:r>
          </a:p>
        </p:txBody>
      </p:sp>
      <p:sp>
        <p:nvSpPr>
          <p:cNvPr id="11272" name="Rectangle 27"/>
          <p:cNvSpPr>
            <a:spLocks noChangeArrowheads="1"/>
          </p:cNvSpPr>
          <p:nvPr/>
        </p:nvSpPr>
        <p:spPr bwMode="auto">
          <a:xfrm>
            <a:off x="6929506" y="3170338"/>
            <a:ext cx="5774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rPr>
              <a:t>+3σ</a:t>
            </a:r>
          </a:p>
        </p:txBody>
      </p:sp>
      <p:sp>
        <p:nvSpPr>
          <p:cNvPr id="11273" name="Rectangle 28"/>
          <p:cNvSpPr>
            <a:spLocks noChangeArrowheads="1"/>
          </p:cNvSpPr>
          <p:nvPr/>
        </p:nvSpPr>
        <p:spPr bwMode="auto">
          <a:xfrm>
            <a:off x="6955895" y="4406999"/>
            <a:ext cx="5148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rPr>
              <a:t>-3σ</a:t>
            </a:r>
          </a:p>
        </p:txBody>
      </p:sp>
      <p:sp>
        <p:nvSpPr>
          <p:cNvPr id="11274" name="Line 17"/>
          <p:cNvSpPr>
            <a:spLocks noChangeShapeType="1"/>
          </p:cNvSpPr>
          <p:nvPr/>
        </p:nvSpPr>
        <p:spPr bwMode="auto">
          <a:xfrm>
            <a:off x="1822652" y="3360837"/>
            <a:ext cx="5940669" cy="0"/>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75" name="Line 18"/>
          <p:cNvSpPr>
            <a:spLocks noChangeShapeType="1"/>
          </p:cNvSpPr>
          <p:nvPr/>
        </p:nvSpPr>
        <p:spPr bwMode="auto">
          <a:xfrm>
            <a:off x="1822652" y="4580037"/>
            <a:ext cx="5940669" cy="0"/>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76" name="Line 31"/>
          <p:cNvSpPr>
            <a:spLocks noChangeShapeType="1"/>
          </p:cNvSpPr>
          <p:nvPr/>
        </p:nvSpPr>
        <p:spPr bwMode="auto">
          <a:xfrm>
            <a:off x="1800660" y="3972024"/>
            <a:ext cx="5939204" cy="0"/>
          </a:xfrm>
          <a:prstGeom prst="line">
            <a:avLst/>
          </a:prstGeom>
          <a:noFill/>
          <a:ln w="28575">
            <a:solidFill>
              <a:schemeClr val="bg1">
                <a:lumMod val="75000"/>
              </a:schemeClr>
            </a:solidFill>
            <a:prstDash val="dashDot"/>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11277" name="Text Box 17"/>
          <p:cNvSpPr txBox="1">
            <a:spLocks noChangeArrowheads="1"/>
          </p:cNvSpPr>
          <p:nvPr/>
        </p:nvSpPr>
        <p:spPr bwMode="auto">
          <a:xfrm>
            <a:off x="1314164" y="3198913"/>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a:ea typeface="맑은 고딕" pitchFamily="50" charset="-127"/>
              </a:rPr>
              <a:t>UCL</a:t>
            </a:r>
          </a:p>
        </p:txBody>
      </p:sp>
      <p:sp>
        <p:nvSpPr>
          <p:cNvPr id="11278" name="Text Box 18"/>
          <p:cNvSpPr txBox="1">
            <a:spLocks noChangeArrowheads="1"/>
          </p:cNvSpPr>
          <p:nvPr/>
        </p:nvSpPr>
        <p:spPr bwMode="auto">
          <a:xfrm>
            <a:off x="1325875" y="4402238"/>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a:ea typeface="맑은 고딕" pitchFamily="50" charset="-127"/>
              </a:rPr>
              <a:t>LCL</a:t>
            </a:r>
          </a:p>
        </p:txBody>
      </p:sp>
      <p:sp>
        <p:nvSpPr>
          <p:cNvPr id="11279" name="Text Box 19"/>
          <p:cNvSpPr txBox="1">
            <a:spLocks noChangeArrowheads="1"/>
          </p:cNvSpPr>
          <p:nvPr/>
        </p:nvSpPr>
        <p:spPr bwMode="auto">
          <a:xfrm>
            <a:off x="1390353" y="3825974"/>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a:ea typeface="맑은 고딕" pitchFamily="50" charset="-127"/>
              </a:rPr>
              <a:t>CL</a:t>
            </a:r>
          </a:p>
        </p:txBody>
      </p:sp>
      <p:grpSp>
        <p:nvGrpSpPr>
          <p:cNvPr id="2" name="Group 23"/>
          <p:cNvGrpSpPr>
            <a:grpSpLocks/>
          </p:cNvGrpSpPr>
          <p:nvPr/>
        </p:nvGrpSpPr>
        <p:grpSpPr bwMode="auto">
          <a:xfrm rot="5400000">
            <a:off x="1953304" y="3460484"/>
            <a:ext cx="1612900" cy="1000857"/>
            <a:chOff x="826" y="1347"/>
            <a:chExt cx="2492" cy="1713"/>
          </a:xfrm>
        </p:grpSpPr>
        <p:sp>
          <p:nvSpPr>
            <p:cNvPr id="11301" name="Freeform 24"/>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302" name="Freeform 25"/>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ko-KR" altLang="en-US" dirty="0">
                <a:solidFill>
                  <a:prstClr val="black"/>
                </a:solidFill>
                <a:ea typeface="굴림" pitchFamily="50" charset="-127"/>
              </a:endParaRPr>
            </a:p>
          </p:txBody>
        </p:sp>
      </p:grpSp>
      <p:sp>
        <p:nvSpPr>
          <p:cNvPr id="11281" name="Freeform 26"/>
          <p:cNvSpPr>
            <a:spLocks/>
          </p:cNvSpPr>
          <p:nvPr/>
        </p:nvSpPr>
        <p:spPr bwMode="auto">
          <a:xfrm>
            <a:off x="2244678" y="3144937"/>
            <a:ext cx="64477" cy="215900"/>
          </a:xfrm>
          <a:custGeom>
            <a:avLst/>
            <a:gdLst>
              <a:gd name="T0" fmla="*/ 0 w 45"/>
              <a:gd name="T1" fmla="*/ 0 h 136"/>
              <a:gd name="T2" fmla="*/ 0 w 45"/>
              <a:gd name="T3" fmla="*/ 2147483647 h 136"/>
              <a:gd name="T4" fmla="*/ 2147483647 w 45"/>
              <a:gd name="T5" fmla="*/ 2147483647 h 136"/>
              <a:gd name="T6" fmla="*/ 0 w 45"/>
              <a:gd name="T7" fmla="*/ 0 h 136"/>
              <a:gd name="T8" fmla="*/ 0 60000 65536"/>
              <a:gd name="T9" fmla="*/ 0 60000 65536"/>
              <a:gd name="T10" fmla="*/ 0 60000 65536"/>
              <a:gd name="T11" fmla="*/ 0 60000 65536"/>
              <a:gd name="T12" fmla="*/ 0 w 45"/>
              <a:gd name="T13" fmla="*/ 0 h 136"/>
              <a:gd name="T14" fmla="*/ 45 w 45"/>
              <a:gd name="T15" fmla="*/ 136 h 136"/>
            </a:gdLst>
            <a:ahLst/>
            <a:cxnLst>
              <a:cxn ang="T8">
                <a:pos x="T0" y="T1"/>
              </a:cxn>
              <a:cxn ang="T9">
                <a:pos x="T2" y="T3"/>
              </a:cxn>
              <a:cxn ang="T10">
                <a:pos x="T4" y="T5"/>
              </a:cxn>
              <a:cxn ang="T11">
                <a:pos x="T6" y="T7"/>
              </a:cxn>
            </a:cxnLst>
            <a:rect l="T12" t="T13" r="T14" b="T15"/>
            <a:pathLst>
              <a:path w="45" h="136">
                <a:moveTo>
                  <a:pt x="0" y="0"/>
                </a:moveTo>
                <a:lnTo>
                  <a:pt x="0" y="136"/>
                </a:lnTo>
                <a:lnTo>
                  <a:pt x="45" y="136"/>
                </a:lnTo>
                <a:lnTo>
                  <a:pt x="0" y="0"/>
                </a:lnTo>
                <a:close/>
              </a:path>
            </a:pathLst>
          </a:custGeom>
          <a:solidFill>
            <a:srgbClr val="CC0000"/>
          </a:solidFill>
          <a:ln w="9525" cap="flat" cmpd="sng">
            <a:solidFill>
              <a:srgbClr val="CC0000"/>
            </a:solidFill>
            <a:prstDash val="solid"/>
            <a:round/>
            <a:headEnd/>
            <a:tailEnd/>
          </a:ln>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2" name="Line 20"/>
          <p:cNvSpPr>
            <a:spLocks noChangeShapeType="1"/>
          </p:cNvSpPr>
          <p:nvPr/>
        </p:nvSpPr>
        <p:spPr bwMode="auto">
          <a:xfrm flipV="1">
            <a:off x="2282772" y="3125908"/>
            <a:ext cx="499696" cy="166687"/>
          </a:xfrm>
          <a:prstGeom prst="line">
            <a:avLst/>
          </a:prstGeom>
          <a:noFill/>
          <a:ln w="9525">
            <a:solidFill>
              <a:schemeClr val="tx1"/>
            </a:solidFill>
            <a:round/>
            <a:headEnd type="oval" w="med" len="me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3" name="Freeform 28"/>
          <p:cNvSpPr>
            <a:spLocks/>
          </p:cNvSpPr>
          <p:nvPr/>
        </p:nvSpPr>
        <p:spPr bwMode="auto">
          <a:xfrm flipV="1">
            <a:off x="2244678" y="4570512"/>
            <a:ext cx="64477" cy="215900"/>
          </a:xfrm>
          <a:custGeom>
            <a:avLst/>
            <a:gdLst>
              <a:gd name="T0" fmla="*/ 0 w 45"/>
              <a:gd name="T1" fmla="*/ 0 h 136"/>
              <a:gd name="T2" fmla="*/ 0 w 45"/>
              <a:gd name="T3" fmla="*/ 2147483647 h 136"/>
              <a:gd name="T4" fmla="*/ 2147483647 w 45"/>
              <a:gd name="T5" fmla="*/ 2147483647 h 136"/>
              <a:gd name="T6" fmla="*/ 0 w 45"/>
              <a:gd name="T7" fmla="*/ 0 h 136"/>
              <a:gd name="T8" fmla="*/ 0 60000 65536"/>
              <a:gd name="T9" fmla="*/ 0 60000 65536"/>
              <a:gd name="T10" fmla="*/ 0 60000 65536"/>
              <a:gd name="T11" fmla="*/ 0 60000 65536"/>
              <a:gd name="T12" fmla="*/ 0 w 45"/>
              <a:gd name="T13" fmla="*/ 0 h 136"/>
              <a:gd name="T14" fmla="*/ 45 w 45"/>
              <a:gd name="T15" fmla="*/ 136 h 136"/>
            </a:gdLst>
            <a:ahLst/>
            <a:cxnLst>
              <a:cxn ang="T8">
                <a:pos x="T0" y="T1"/>
              </a:cxn>
              <a:cxn ang="T9">
                <a:pos x="T2" y="T3"/>
              </a:cxn>
              <a:cxn ang="T10">
                <a:pos x="T4" y="T5"/>
              </a:cxn>
              <a:cxn ang="T11">
                <a:pos x="T6" y="T7"/>
              </a:cxn>
            </a:cxnLst>
            <a:rect l="T12" t="T13" r="T14" b="T15"/>
            <a:pathLst>
              <a:path w="45" h="136">
                <a:moveTo>
                  <a:pt x="0" y="0"/>
                </a:moveTo>
                <a:lnTo>
                  <a:pt x="0" y="136"/>
                </a:lnTo>
                <a:lnTo>
                  <a:pt x="45" y="136"/>
                </a:lnTo>
                <a:lnTo>
                  <a:pt x="0" y="0"/>
                </a:lnTo>
                <a:close/>
              </a:path>
            </a:pathLst>
          </a:custGeom>
          <a:solidFill>
            <a:srgbClr val="CC0000"/>
          </a:solidFill>
          <a:ln w="9525" cap="flat" cmpd="sng">
            <a:solidFill>
              <a:srgbClr val="CC0000"/>
            </a:solidFill>
            <a:prstDash val="solid"/>
            <a:round/>
            <a:headEnd/>
            <a:tailEnd/>
          </a:ln>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4" name="Line 21"/>
          <p:cNvSpPr>
            <a:spLocks noChangeShapeType="1"/>
          </p:cNvSpPr>
          <p:nvPr/>
        </p:nvSpPr>
        <p:spPr bwMode="auto">
          <a:xfrm>
            <a:off x="2275451" y="4667349"/>
            <a:ext cx="420566" cy="228600"/>
          </a:xfrm>
          <a:prstGeom prst="line">
            <a:avLst/>
          </a:prstGeom>
          <a:noFill/>
          <a:ln w="9525">
            <a:solidFill>
              <a:schemeClr val="tx1"/>
            </a:solidFill>
            <a:round/>
            <a:headEnd type="oval" w="med" len="me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5" name="Text Box 33"/>
          <p:cNvSpPr txBox="1">
            <a:spLocks noChangeArrowheads="1"/>
          </p:cNvSpPr>
          <p:nvPr/>
        </p:nvSpPr>
        <p:spPr bwMode="auto">
          <a:xfrm>
            <a:off x="5091924" y="3021113"/>
            <a:ext cx="18517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CC0000"/>
                </a:solidFill>
                <a:latin typeface="맑은 고딕"/>
                <a:ea typeface="맑은 고딕" pitchFamily="50" charset="-127"/>
              </a:rPr>
              <a:t>Assignable cause</a:t>
            </a:r>
            <a:endParaRPr lang="ko-KR" altLang="en-US" sz="1600" b="1" dirty="0">
              <a:solidFill>
                <a:srgbClr val="CC0000"/>
              </a:solidFill>
              <a:latin typeface="맑은 고딕"/>
              <a:ea typeface="맑은 고딕" pitchFamily="50" charset="-127"/>
            </a:endParaRPr>
          </a:p>
        </p:txBody>
      </p:sp>
      <p:sp>
        <p:nvSpPr>
          <p:cNvPr id="11286" name="Text Box 34"/>
          <p:cNvSpPr txBox="1">
            <a:spLocks noChangeArrowheads="1"/>
          </p:cNvSpPr>
          <p:nvPr/>
        </p:nvSpPr>
        <p:spPr bwMode="auto">
          <a:xfrm>
            <a:off x="5091924" y="3800574"/>
            <a:ext cx="15055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008000"/>
                </a:solidFill>
                <a:latin typeface="맑은 고딕"/>
                <a:ea typeface="맑은 고딕" pitchFamily="50" charset="-127"/>
              </a:rPr>
              <a:t>Chance cause</a:t>
            </a:r>
            <a:endParaRPr lang="ko-KR" altLang="en-US" sz="1600" b="1" dirty="0">
              <a:solidFill>
                <a:srgbClr val="008000"/>
              </a:solidFill>
              <a:latin typeface="맑은 고딕"/>
              <a:ea typeface="맑은 고딕" pitchFamily="50" charset="-127"/>
            </a:endParaRPr>
          </a:p>
        </p:txBody>
      </p:sp>
      <p:sp>
        <p:nvSpPr>
          <p:cNvPr id="11287" name="Text Box 35"/>
          <p:cNvSpPr txBox="1">
            <a:spLocks noChangeArrowheads="1"/>
          </p:cNvSpPr>
          <p:nvPr/>
        </p:nvSpPr>
        <p:spPr bwMode="auto">
          <a:xfrm>
            <a:off x="5091924" y="4583213"/>
            <a:ext cx="18517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CC0000"/>
                </a:solidFill>
                <a:latin typeface="맑은 고딕"/>
                <a:ea typeface="맑은 고딕" pitchFamily="50" charset="-127"/>
              </a:rPr>
              <a:t>Assignable cause</a:t>
            </a:r>
            <a:endParaRPr lang="ko-KR" altLang="en-US" sz="1600" b="1" dirty="0">
              <a:solidFill>
                <a:srgbClr val="CC0000"/>
              </a:solidFill>
              <a:latin typeface="맑은 고딕"/>
              <a:ea typeface="맑은 고딕" pitchFamily="50" charset="-127"/>
            </a:endParaRPr>
          </a:p>
        </p:txBody>
      </p:sp>
      <p:sp>
        <p:nvSpPr>
          <p:cNvPr id="11288" name="Rectangle 36"/>
          <p:cNvSpPr>
            <a:spLocks noChangeArrowheads="1"/>
          </p:cNvSpPr>
          <p:nvPr/>
        </p:nvSpPr>
        <p:spPr bwMode="auto">
          <a:xfrm>
            <a:off x="450937" y="764704"/>
            <a:ext cx="2738891" cy="350096"/>
          </a:xfrm>
          <a:prstGeom prst="rect">
            <a:avLst/>
          </a:prstGeom>
          <a:noFill/>
          <a:ln>
            <a:noFill/>
          </a:ln>
          <a:effectLst/>
        </p:spPr>
        <p:txBody>
          <a:bodyPr wrap="none" lIns="102870" tIns="51435" rIns="102870" bIns="51435">
            <a:spAutoFit/>
          </a:bodyPr>
          <a:lstStyle/>
          <a:p>
            <a:pPr defTabSz="1028700" eaLnBrk="0" fontAlgn="base" latinLnBrk="0" hangingPunct="0">
              <a:spcBef>
                <a:spcPct val="0"/>
              </a:spcBef>
              <a:spcAft>
                <a:spcPct val="0"/>
              </a:spcAft>
              <a:defRPr/>
            </a:pPr>
            <a:r>
              <a:rPr lang="el-GR" altLang="ko-KR" sz="1600" b="1" dirty="0">
                <a:solidFill>
                  <a:srgbClr val="000000"/>
                </a:solidFill>
              </a:rPr>
              <a:t>3σ </a:t>
            </a:r>
            <a:r>
              <a:rPr lang="en-US" altLang="ko-KR" sz="1600" b="1" dirty="0">
                <a:solidFill>
                  <a:srgbClr val="000000"/>
                </a:solidFill>
              </a:rPr>
              <a:t>management limit line</a:t>
            </a:r>
            <a:endParaRPr lang="ko-KR" altLang="en-US" sz="1600" b="1" dirty="0">
              <a:solidFill>
                <a:srgbClr val="000000"/>
              </a:solidFill>
            </a:endParaRPr>
          </a:p>
        </p:txBody>
      </p:sp>
      <p:sp>
        <p:nvSpPr>
          <p:cNvPr id="11289" name="Text Box 40"/>
          <p:cNvSpPr txBox="1">
            <a:spLocks noChangeArrowheads="1"/>
          </p:cNvSpPr>
          <p:nvPr/>
        </p:nvSpPr>
        <p:spPr bwMode="auto">
          <a:xfrm>
            <a:off x="5865638" y="4510188"/>
            <a:ext cx="2712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dirty="0">
                <a:solidFill>
                  <a:prstClr val="black"/>
                </a:solidFill>
                <a:latin typeface="맑은 고딕"/>
                <a:ea typeface="맑은 고딕" pitchFamily="50" charset="-127"/>
              </a:rPr>
              <a:t>*</a:t>
            </a:r>
          </a:p>
        </p:txBody>
      </p:sp>
      <p:sp>
        <p:nvSpPr>
          <p:cNvPr id="11290" name="Text Box 41"/>
          <p:cNvSpPr txBox="1">
            <a:spLocks noChangeArrowheads="1"/>
          </p:cNvSpPr>
          <p:nvPr/>
        </p:nvSpPr>
        <p:spPr bwMode="auto">
          <a:xfrm>
            <a:off x="5865638" y="3675163"/>
            <a:ext cx="2712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dirty="0">
                <a:solidFill>
                  <a:prstClr val="black"/>
                </a:solidFill>
                <a:latin typeface="맑은 고딕"/>
                <a:ea typeface="맑은 고딕" pitchFamily="50" charset="-127"/>
              </a:rPr>
              <a:t>*</a:t>
            </a:r>
          </a:p>
        </p:txBody>
      </p:sp>
      <p:sp>
        <p:nvSpPr>
          <p:cNvPr id="30" name="Text Box 8"/>
          <p:cNvSpPr txBox="1">
            <a:spLocks noChangeArrowheads="1"/>
          </p:cNvSpPr>
          <p:nvPr/>
        </p:nvSpPr>
        <p:spPr bwMode="auto">
          <a:xfrm>
            <a:off x="536331" y="5411821"/>
            <a:ext cx="29770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0" hangingPunct="1">
              <a:spcBef>
                <a:spcPct val="0"/>
              </a:spcBef>
              <a:spcAft>
                <a:spcPct val="0"/>
              </a:spcAft>
            </a:pPr>
            <a:r>
              <a:rPr lang="ko-KR" altLang="en-US" sz="1200" dirty="0">
                <a:solidFill>
                  <a:prstClr val="black"/>
                </a:solidFill>
                <a:latin typeface="맑은 고딕"/>
                <a:ea typeface="맑은 고딕" pitchFamily="50" charset="-127"/>
              </a:rPr>
              <a:t>▶ </a:t>
            </a:r>
            <a:r>
              <a:rPr lang="en-US" altLang="ko-KR" sz="1200" dirty="0">
                <a:solidFill>
                  <a:prstClr val="black"/>
                </a:solidFill>
                <a:latin typeface="맑은 고딕"/>
                <a:ea typeface="맑은 고딕" pitchFamily="50" charset="-127"/>
              </a:rPr>
              <a:t>CL (Center Line) , Overall average (X)</a:t>
            </a:r>
          </a:p>
          <a:p>
            <a:pPr eaLnBrk="1" fontAlgn="base" latinLnBrk="0" hangingPunct="1">
              <a:spcBef>
                <a:spcPct val="0"/>
              </a:spcBef>
              <a:spcAft>
                <a:spcPct val="0"/>
              </a:spcAft>
            </a:pPr>
            <a:r>
              <a:rPr lang="en-US" altLang="ko-KR" sz="1200" dirty="0">
                <a:solidFill>
                  <a:prstClr val="black"/>
                </a:solidFill>
                <a:latin typeface="맑은 고딕"/>
                <a:ea typeface="맑은 고딕" pitchFamily="50" charset="-127"/>
              </a:rPr>
              <a:t>▶ UCL (Upper Control Limit), (X + 3σ)</a:t>
            </a:r>
          </a:p>
          <a:p>
            <a:pPr eaLnBrk="1" fontAlgn="base" latinLnBrk="0" hangingPunct="1">
              <a:spcBef>
                <a:spcPct val="0"/>
              </a:spcBef>
              <a:spcAft>
                <a:spcPct val="0"/>
              </a:spcAft>
            </a:pPr>
            <a:r>
              <a:rPr lang="en-US" altLang="ko-KR" sz="1200" dirty="0">
                <a:solidFill>
                  <a:prstClr val="black"/>
                </a:solidFill>
                <a:latin typeface="맑은 고딕"/>
                <a:ea typeface="맑은 고딕" pitchFamily="50" charset="-127"/>
              </a:rPr>
              <a:t>▶ LCL (Lower Control Limit) ,(X - 3σ)</a:t>
            </a:r>
          </a:p>
        </p:txBody>
      </p:sp>
      <p:cxnSp>
        <p:nvCxnSpPr>
          <p:cNvPr id="4" name="직선 연결선 3"/>
          <p:cNvCxnSpPr/>
          <p:nvPr/>
        </p:nvCxnSpPr>
        <p:spPr>
          <a:xfrm>
            <a:off x="517281" y="5357826"/>
            <a:ext cx="2743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3246185" y="5448555"/>
            <a:ext cx="11136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a:off x="3214678" y="5472367"/>
            <a:ext cx="1099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직선 연결선 35"/>
          <p:cNvCxnSpPr/>
          <p:nvPr/>
        </p:nvCxnSpPr>
        <p:spPr>
          <a:xfrm>
            <a:off x="2786050" y="5635638"/>
            <a:ext cx="11136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2786050" y="5657863"/>
            <a:ext cx="1099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a:off x="2714612" y="5816613"/>
            <a:ext cx="1099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직선 연결선 38"/>
          <p:cNvCxnSpPr/>
          <p:nvPr/>
        </p:nvCxnSpPr>
        <p:spPr>
          <a:xfrm>
            <a:off x="2714612" y="5840426"/>
            <a:ext cx="11136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Text Box 8"/>
          <p:cNvSpPr txBox="1">
            <a:spLocks noChangeArrowheads="1"/>
          </p:cNvSpPr>
          <p:nvPr/>
        </p:nvSpPr>
        <p:spPr bwMode="auto">
          <a:xfrm>
            <a:off x="7636360" y="5241028"/>
            <a:ext cx="10007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0" hangingPunct="1">
              <a:spcBef>
                <a:spcPct val="0"/>
              </a:spcBef>
              <a:spcAft>
                <a:spcPct val="0"/>
              </a:spcAft>
            </a:pPr>
            <a:r>
              <a:rPr lang="en-US" altLang="ko-KR" sz="1200" dirty="0">
                <a:solidFill>
                  <a:prstClr val="black"/>
                </a:solidFill>
                <a:latin typeface="맑은 고딕"/>
                <a:ea typeface="맑은 고딕" pitchFamily="50" charset="-127"/>
              </a:rPr>
              <a:t>cf) USL, LSL</a:t>
            </a:r>
          </a:p>
        </p:txBody>
      </p:sp>
      <p:sp>
        <p:nvSpPr>
          <p:cNvPr id="48" name="Oval 162"/>
          <p:cNvSpPr>
            <a:spLocks noChangeArrowheads="1"/>
          </p:cNvSpPr>
          <p:nvPr/>
        </p:nvSpPr>
        <p:spPr bwMode="auto">
          <a:xfrm>
            <a:off x="3857739" y="3802702"/>
            <a:ext cx="133350" cy="144462"/>
          </a:xfrm>
          <a:prstGeom prst="ellipse">
            <a:avLst/>
          </a:prstGeom>
          <a:noFill/>
          <a:ln w="19050" algn="ctr">
            <a:solidFill>
              <a:srgbClr val="0000FF"/>
            </a:solidFill>
            <a:prstDash val="sysDot"/>
            <a:round/>
            <a:headEnd/>
            <a:tailEnd/>
          </a:ln>
        </p:spPr>
        <p:txBody>
          <a:bodyPr wrap="none" anchor="ctr"/>
          <a:lstStyle/>
          <a:p>
            <a:pPr algn="ctr" fontAlgn="base">
              <a:spcBef>
                <a:spcPct val="0"/>
              </a:spcBef>
              <a:spcAft>
                <a:spcPct val="0"/>
              </a:spcAft>
            </a:pPr>
            <a:endParaRPr kumimoji="1" lang="ko-KR" altLang="en-US" sz="1000" dirty="0">
              <a:solidFill>
                <a:srgbClr val="000000"/>
              </a:solidFill>
            </a:endParaRPr>
          </a:p>
        </p:txBody>
      </p:sp>
      <p:sp>
        <p:nvSpPr>
          <p:cNvPr id="49" name="Text Box 163"/>
          <p:cNvSpPr txBox="1">
            <a:spLocks noChangeArrowheads="1"/>
          </p:cNvSpPr>
          <p:nvPr/>
        </p:nvSpPr>
        <p:spPr bwMode="auto">
          <a:xfrm>
            <a:off x="4111250" y="4324992"/>
            <a:ext cx="2675327" cy="246221"/>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000" b="1" dirty="0">
                <a:solidFill>
                  <a:srgbClr val="0000FF"/>
                </a:solidFill>
              </a:rPr>
              <a:t>Management values (average in groups)</a:t>
            </a:r>
          </a:p>
        </p:txBody>
      </p:sp>
      <p:cxnSp>
        <p:nvCxnSpPr>
          <p:cNvPr id="50" name="AutoShape 173"/>
          <p:cNvCxnSpPr>
            <a:cxnSpLocks noChangeShapeType="1"/>
            <a:endCxn id="48" idx="4"/>
          </p:cNvCxnSpPr>
          <p:nvPr/>
        </p:nvCxnSpPr>
        <p:spPr bwMode="auto">
          <a:xfrm rot="16200000" flipV="1">
            <a:off x="3834782" y="4036065"/>
            <a:ext cx="539750" cy="361950"/>
          </a:xfrm>
          <a:prstGeom prst="curvedConnector3">
            <a:avLst>
              <a:gd name="adj1" fmla="val 50000"/>
            </a:avLst>
          </a:prstGeom>
          <a:noFill/>
          <a:ln w="19050">
            <a:solidFill>
              <a:srgbClr val="0000FF"/>
            </a:solidFill>
            <a:prstDash val="sysDot"/>
            <a:round/>
            <a:headEnd/>
            <a:tailEnd type="triangle" w="med" len="med"/>
          </a:ln>
        </p:spPr>
      </p:cxnSp>
      <p:sp>
        <p:nvSpPr>
          <p:cNvPr id="51" name="타원 50"/>
          <p:cNvSpPr/>
          <p:nvPr/>
        </p:nvSpPr>
        <p:spPr>
          <a:xfrm>
            <a:off x="3626209" y="4272605"/>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2" name="타원 51"/>
          <p:cNvSpPr/>
          <p:nvPr/>
        </p:nvSpPr>
        <p:spPr>
          <a:xfrm>
            <a:off x="3889979" y="384397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3" name="타원 52"/>
          <p:cNvSpPr/>
          <p:nvPr/>
        </p:nvSpPr>
        <p:spPr>
          <a:xfrm>
            <a:off x="4285632" y="377253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4" name="타원 53"/>
          <p:cNvSpPr/>
          <p:nvPr/>
        </p:nvSpPr>
        <p:spPr>
          <a:xfrm>
            <a:off x="4615344" y="3415354"/>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5" name="타원 54"/>
          <p:cNvSpPr/>
          <p:nvPr/>
        </p:nvSpPr>
        <p:spPr>
          <a:xfrm>
            <a:off x="4945055" y="405828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6" name="타원 55"/>
          <p:cNvSpPr/>
          <p:nvPr/>
        </p:nvSpPr>
        <p:spPr>
          <a:xfrm>
            <a:off x="5340709" y="434403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7" name="타원 56"/>
          <p:cNvSpPr/>
          <p:nvPr/>
        </p:nvSpPr>
        <p:spPr>
          <a:xfrm>
            <a:off x="5604479" y="370110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8" name="타원 57"/>
          <p:cNvSpPr/>
          <p:nvPr/>
        </p:nvSpPr>
        <p:spPr>
          <a:xfrm>
            <a:off x="5919535" y="3986855"/>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9" name="타원 58"/>
          <p:cNvSpPr/>
          <p:nvPr/>
        </p:nvSpPr>
        <p:spPr>
          <a:xfrm>
            <a:off x="6265367" y="3915414"/>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60" name="직선 연결선 59"/>
          <p:cNvCxnSpPr>
            <a:stCxn id="51" idx="7"/>
            <a:endCxn id="52" idx="3"/>
          </p:cNvCxnSpPr>
          <p:nvPr/>
        </p:nvCxnSpPr>
        <p:spPr>
          <a:xfrm rot="5400000" flipH="1" flipV="1">
            <a:off x="3602091" y="3985571"/>
            <a:ext cx="379412"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a:stCxn id="52" idx="6"/>
            <a:endCxn id="53" idx="3"/>
          </p:cNvCxnSpPr>
          <p:nvPr/>
        </p:nvCxnSpPr>
        <p:spPr>
          <a:xfrm flipV="1">
            <a:off x="3955920" y="3832864"/>
            <a:ext cx="339969" cy="460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a:stCxn id="53" idx="7"/>
            <a:endCxn id="54" idx="2"/>
          </p:cNvCxnSpPr>
          <p:nvPr/>
        </p:nvCxnSpPr>
        <p:spPr>
          <a:xfrm rot="5400000" flipH="1" flipV="1">
            <a:off x="4312376" y="3480684"/>
            <a:ext cx="333375" cy="2725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a:stCxn id="55" idx="5"/>
            <a:endCxn id="56" idx="1"/>
          </p:cNvCxnSpPr>
          <p:nvPr/>
        </p:nvCxnSpPr>
        <p:spPr>
          <a:xfrm rot="16200000" flipH="1">
            <a:off x="5058317" y="4062502"/>
            <a:ext cx="236538" cy="3487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54" idx="5"/>
            <a:endCxn id="55" idx="1"/>
          </p:cNvCxnSpPr>
          <p:nvPr/>
        </p:nvCxnSpPr>
        <p:spPr>
          <a:xfrm rot="16200000" flipH="1">
            <a:off x="4517042" y="3631133"/>
            <a:ext cx="593725" cy="282819"/>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p:cNvCxnSpPr>
            <a:stCxn id="56" idx="7"/>
            <a:endCxn id="57" idx="3"/>
          </p:cNvCxnSpPr>
          <p:nvPr/>
        </p:nvCxnSpPr>
        <p:spPr>
          <a:xfrm rot="5400000" flipH="1" flipV="1">
            <a:off x="5209435" y="3949853"/>
            <a:ext cx="593725"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6" name="직선 연결선 65"/>
          <p:cNvCxnSpPr>
            <a:stCxn id="57" idx="5"/>
            <a:endCxn id="58" idx="1"/>
          </p:cNvCxnSpPr>
          <p:nvPr/>
        </p:nvCxnSpPr>
        <p:spPr>
          <a:xfrm rot="16200000" flipH="1">
            <a:off x="5677444" y="3745614"/>
            <a:ext cx="236537" cy="268166"/>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a:stCxn id="58" idx="6"/>
            <a:endCxn id="59" idx="2"/>
          </p:cNvCxnSpPr>
          <p:nvPr/>
        </p:nvCxnSpPr>
        <p:spPr>
          <a:xfrm flipV="1">
            <a:off x="5985478" y="3950339"/>
            <a:ext cx="279888" cy="714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68" name="타원 67"/>
          <p:cNvSpPr/>
          <p:nvPr/>
        </p:nvSpPr>
        <p:spPr>
          <a:xfrm>
            <a:off x="6595079" y="377253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9" name="타원 68"/>
          <p:cNvSpPr/>
          <p:nvPr/>
        </p:nvSpPr>
        <p:spPr>
          <a:xfrm>
            <a:off x="6832472" y="4201164"/>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0" name="직선 연결선 69"/>
          <p:cNvCxnSpPr>
            <a:stCxn id="59" idx="7"/>
            <a:endCxn id="68" idx="2"/>
          </p:cNvCxnSpPr>
          <p:nvPr/>
        </p:nvCxnSpPr>
        <p:spPr>
          <a:xfrm rot="5400000" flipH="1" flipV="1">
            <a:off x="6398534" y="3729982"/>
            <a:ext cx="119063" cy="27402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1" name="직선 연결선 70"/>
          <p:cNvCxnSpPr>
            <a:stCxn id="68" idx="5"/>
            <a:endCxn id="69" idx="1"/>
          </p:cNvCxnSpPr>
          <p:nvPr/>
        </p:nvCxnSpPr>
        <p:spPr>
          <a:xfrm rot="16200000" flipH="1">
            <a:off x="6557040" y="3926590"/>
            <a:ext cx="379413" cy="191965"/>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flipH="1">
            <a:off x="2275451" y="3534107"/>
            <a:ext cx="964515" cy="872970"/>
            <a:chOff x="1439863" y="2933700"/>
            <a:chExt cx="1154112" cy="976313"/>
          </a:xfrm>
        </p:grpSpPr>
        <p:sp>
          <p:nvSpPr>
            <p:cNvPr id="72" name="타원 71"/>
            <p:cNvSpPr/>
            <p:nvPr/>
          </p:nvSpPr>
          <p:spPr>
            <a:xfrm>
              <a:off x="1439863" y="33909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3" name="타원 72"/>
            <p:cNvSpPr/>
            <p:nvPr/>
          </p:nvSpPr>
          <p:spPr>
            <a:xfrm>
              <a:off x="1666875" y="3503613"/>
              <a:ext cx="71438"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4" name="타원 73"/>
            <p:cNvSpPr/>
            <p:nvPr/>
          </p:nvSpPr>
          <p:spPr>
            <a:xfrm>
              <a:off x="1944688" y="36068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5" name="타원 74"/>
            <p:cNvSpPr/>
            <p:nvPr/>
          </p:nvSpPr>
          <p:spPr>
            <a:xfrm>
              <a:off x="1944688" y="31543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6" name="타원 75"/>
            <p:cNvSpPr/>
            <p:nvPr/>
          </p:nvSpPr>
          <p:spPr>
            <a:xfrm>
              <a:off x="1666875" y="3260725"/>
              <a:ext cx="71438"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7" name="타원 76"/>
            <p:cNvSpPr/>
            <p:nvPr/>
          </p:nvSpPr>
          <p:spPr>
            <a:xfrm>
              <a:off x="1666875" y="3379788"/>
              <a:ext cx="71438"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8" name="타원 77"/>
            <p:cNvSpPr/>
            <p:nvPr/>
          </p:nvSpPr>
          <p:spPr>
            <a:xfrm>
              <a:off x="1944688" y="349091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9" name="타원 78"/>
            <p:cNvSpPr/>
            <p:nvPr/>
          </p:nvSpPr>
          <p:spPr>
            <a:xfrm>
              <a:off x="1944688" y="326072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0" name="타원 79"/>
            <p:cNvSpPr/>
            <p:nvPr/>
          </p:nvSpPr>
          <p:spPr>
            <a:xfrm>
              <a:off x="1944688" y="3379788"/>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1" name="타원 80"/>
            <p:cNvSpPr/>
            <p:nvPr/>
          </p:nvSpPr>
          <p:spPr>
            <a:xfrm>
              <a:off x="2224088" y="36068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2" name="타원 81"/>
            <p:cNvSpPr/>
            <p:nvPr/>
          </p:nvSpPr>
          <p:spPr>
            <a:xfrm>
              <a:off x="2224088" y="31543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3" name="타원 82"/>
            <p:cNvSpPr/>
            <p:nvPr/>
          </p:nvSpPr>
          <p:spPr>
            <a:xfrm>
              <a:off x="2224088" y="350361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4" name="타원 83"/>
            <p:cNvSpPr/>
            <p:nvPr/>
          </p:nvSpPr>
          <p:spPr>
            <a:xfrm>
              <a:off x="2224088" y="326072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5" name="타원 84"/>
            <p:cNvSpPr/>
            <p:nvPr/>
          </p:nvSpPr>
          <p:spPr>
            <a:xfrm>
              <a:off x="2224088" y="3379788"/>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6" name="타원 85"/>
            <p:cNvSpPr/>
            <p:nvPr/>
          </p:nvSpPr>
          <p:spPr>
            <a:xfrm>
              <a:off x="2224088" y="37131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7" name="타원 86"/>
            <p:cNvSpPr/>
            <p:nvPr/>
          </p:nvSpPr>
          <p:spPr>
            <a:xfrm>
              <a:off x="2224088" y="30527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8" name="타원 87"/>
            <p:cNvSpPr/>
            <p:nvPr/>
          </p:nvSpPr>
          <p:spPr>
            <a:xfrm>
              <a:off x="2522538" y="36068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9" name="타원 88"/>
            <p:cNvSpPr/>
            <p:nvPr/>
          </p:nvSpPr>
          <p:spPr>
            <a:xfrm>
              <a:off x="2522538" y="31543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0" name="타원 89"/>
            <p:cNvSpPr/>
            <p:nvPr/>
          </p:nvSpPr>
          <p:spPr>
            <a:xfrm>
              <a:off x="2522538" y="350361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1" name="타원 90"/>
            <p:cNvSpPr/>
            <p:nvPr/>
          </p:nvSpPr>
          <p:spPr>
            <a:xfrm>
              <a:off x="2522538" y="326072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2" name="타원 91"/>
            <p:cNvSpPr/>
            <p:nvPr/>
          </p:nvSpPr>
          <p:spPr>
            <a:xfrm>
              <a:off x="2522538" y="3379788"/>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3" name="타원 92"/>
            <p:cNvSpPr/>
            <p:nvPr/>
          </p:nvSpPr>
          <p:spPr>
            <a:xfrm>
              <a:off x="2522538" y="37131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4" name="타원 93"/>
            <p:cNvSpPr/>
            <p:nvPr/>
          </p:nvSpPr>
          <p:spPr>
            <a:xfrm>
              <a:off x="2522538" y="30527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5" name="타원 94"/>
            <p:cNvSpPr/>
            <p:nvPr/>
          </p:nvSpPr>
          <p:spPr>
            <a:xfrm>
              <a:off x="2522538" y="29337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6" name="타원 95"/>
            <p:cNvSpPr/>
            <p:nvPr/>
          </p:nvSpPr>
          <p:spPr>
            <a:xfrm>
              <a:off x="2522538" y="383857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7" name="타원 96"/>
            <p:cNvSpPr/>
            <p:nvPr/>
          </p:nvSpPr>
          <p:spPr>
            <a:xfrm>
              <a:off x="1439863" y="338455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grpSp>
      <p:sp>
        <p:nvSpPr>
          <p:cNvPr id="99"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101"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292</a:t>
            </a:fld>
            <a:endParaRPr lang="ko-KR" altLang="en-US" sz="1200" dirty="0">
              <a:solidFill>
                <a:prstClr val="black"/>
              </a:solidFill>
            </a:endParaRPr>
          </a:p>
        </p:txBody>
      </p:sp>
    </p:spTree>
    <p:extLst>
      <p:ext uri="{BB962C8B-B14F-4D97-AF65-F5344CB8AC3E}">
        <p14:creationId xmlns:p14="http://schemas.microsoft.com/office/powerpoint/2010/main" val="22758565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ppt_x"/>
                                          </p:val>
                                        </p:tav>
                                        <p:tav tm="100000">
                                          <p:val>
                                            <p:strVal val="#ppt_x"/>
                                          </p:val>
                                        </p:tav>
                                      </p:tavLst>
                                    </p:anim>
                                    <p:anim calcmode="lin" valueType="num">
                                      <p:cBhvr additive="base">
                                        <p:cTn id="8"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ppt_x"/>
                                          </p:val>
                                        </p:tav>
                                        <p:tav tm="100000">
                                          <p:val>
                                            <p:strVal val="#ppt_x"/>
                                          </p:val>
                                        </p:tav>
                                      </p:tavLst>
                                    </p:anim>
                                    <p:anim calcmode="lin" valueType="num">
                                      <p:cBhvr additive="base">
                                        <p:cTn id="14"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utoUpdateAnimBg="0"/>
      <p:bldP spid="42" grpId="0" autoUpdateAnimBg="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17989" y="836715"/>
            <a:ext cx="8069838"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How often do you see that the UCL and LCL are management lines of the process?</a:t>
            </a:r>
            <a:endParaRPr kumimoji="1" lang="ko-KR" altLang="en-US" sz="1600" b="1" dirty="0">
              <a:solidFill>
                <a:prstClr val="black"/>
              </a:solidFill>
              <a:latin typeface="굴림" pitchFamily="50" charset="-127"/>
              <a:ea typeface="굴림" pitchFamily="50" charset="-127"/>
            </a:endParaRPr>
          </a:p>
        </p:txBody>
      </p:sp>
      <p:sp>
        <p:nvSpPr>
          <p:cNvPr id="5" name="Rectangle 189"/>
          <p:cNvSpPr>
            <a:spLocks noChangeArrowheads="1"/>
          </p:cNvSpPr>
          <p:nvPr/>
        </p:nvSpPr>
        <p:spPr bwMode="auto">
          <a:xfrm>
            <a:off x="251520" y="1484787"/>
            <a:ext cx="8456812" cy="2943525"/>
          </a:xfrm>
          <a:prstGeom prst="rect">
            <a:avLst/>
          </a:prstGeom>
          <a:solidFill>
            <a:schemeClr val="bg1">
              <a:lumMod val="95000"/>
            </a:schemeClr>
          </a:solidFill>
          <a:ln w="9525" algn="ctr">
            <a:noFill/>
            <a:miter lim="800000"/>
            <a:headEnd/>
            <a:tailEnd/>
          </a:ln>
        </p:spPr>
        <p:txBody>
          <a:bodyPr wrap="none" anchor="ctr"/>
          <a:lstStyle/>
          <a:p>
            <a:pPr algn="ctr" fontAlgn="base">
              <a:spcBef>
                <a:spcPct val="0"/>
              </a:spcBef>
              <a:spcAft>
                <a:spcPct val="0"/>
              </a:spcAft>
            </a:pPr>
            <a:endParaRPr kumimoji="1" lang="ko-KR" altLang="en-US" sz="1600" b="1" dirty="0">
              <a:solidFill>
                <a:srgbClr val="000000"/>
              </a:solidFill>
            </a:endParaRPr>
          </a:p>
        </p:txBody>
      </p:sp>
      <p:sp>
        <p:nvSpPr>
          <p:cNvPr id="6" name="직사각형 5"/>
          <p:cNvSpPr/>
          <p:nvPr/>
        </p:nvSpPr>
        <p:spPr>
          <a:xfrm>
            <a:off x="2467007" y="1992445"/>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 name="직사각형 6"/>
          <p:cNvSpPr/>
          <p:nvPr/>
        </p:nvSpPr>
        <p:spPr>
          <a:xfrm>
            <a:off x="2270471" y="4036352"/>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pic>
        <p:nvPicPr>
          <p:cNvPr id="8" name="Picture 14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44294" y="1965796"/>
            <a:ext cx="1443404" cy="2293938"/>
          </a:xfrm>
          <a:prstGeom prst="rect">
            <a:avLst/>
          </a:prstGeom>
          <a:noFill/>
          <a:ln w="9525">
            <a:noFill/>
            <a:miter lim="800000"/>
            <a:headEnd/>
            <a:tailEnd/>
          </a:ln>
        </p:spPr>
      </p:pic>
      <p:sp>
        <p:nvSpPr>
          <p:cNvPr id="9" name="Text Box 158"/>
          <p:cNvSpPr txBox="1">
            <a:spLocks noChangeArrowheads="1"/>
          </p:cNvSpPr>
          <p:nvPr/>
        </p:nvSpPr>
        <p:spPr bwMode="auto">
          <a:xfrm>
            <a:off x="0" y="2046762"/>
            <a:ext cx="2109629" cy="553998"/>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200" b="1" dirty="0">
                <a:solidFill>
                  <a:srgbClr val="0000FF"/>
                </a:solidFill>
              </a:rPr>
              <a:t>Upper Control Level</a:t>
            </a:r>
          </a:p>
          <a:p>
            <a:pPr algn="ctr" fontAlgn="base">
              <a:spcBef>
                <a:spcPct val="50000"/>
              </a:spcBef>
              <a:spcAft>
                <a:spcPct val="0"/>
              </a:spcAft>
            </a:pPr>
            <a:r>
              <a:rPr kumimoji="1" lang="en-US" altLang="ko-KR" sz="1200" b="1" dirty="0">
                <a:solidFill>
                  <a:srgbClr val="0000FF"/>
                </a:solidFill>
              </a:rPr>
              <a:t>(UCL)</a:t>
            </a:r>
          </a:p>
        </p:txBody>
      </p:sp>
      <p:sp>
        <p:nvSpPr>
          <p:cNvPr id="10" name="Text Box 159"/>
          <p:cNvSpPr txBox="1">
            <a:spLocks noChangeArrowheads="1"/>
          </p:cNvSpPr>
          <p:nvPr/>
        </p:nvSpPr>
        <p:spPr bwMode="auto">
          <a:xfrm>
            <a:off x="357158" y="3823174"/>
            <a:ext cx="1752471" cy="553998"/>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200" b="1" dirty="0">
                <a:solidFill>
                  <a:srgbClr val="0000FF"/>
                </a:solidFill>
              </a:rPr>
              <a:t>Lower Control Level</a:t>
            </a:r>
          </a:p>
          <a:p>
            <a:pPr algn="ctr" fontAlgn="base">
              <a:spcBef>
                <a:spcPct val="50000"/>
              </a:spcBef>
              <a:spcAft>
                <a:spcPct val="0"/>
              </a:spcAft>
            </a:pPr>
            <a:r>
              <a:rPr kumimoji="1" lang="en-US" altLang="ko-KR" sz="1200" b="1" dirty="0">
                <a:solidFill>
                  <a:srgbClr val="0000FF"/>
                </a:solidFill>
              </a:rPr>
              <a:t>(LCL)</a:t>
            </a:r>
          </a:p>
        </p:txBody>
      </p:sp>
      <p:cxnSp>
        <p:nvCxnSpPr>
          <p:cNvPr id="11" name="AutoShape 160"/>
          <p:cNvCxnSpPr>
            <a:cxnSpLocks noChangeShapeType="1"/>
            <a:stCxn id="10" idx="3"/>
          </p:cNvCxnSpPr>
          <p:nvPr/>
        </p:nvCxnSpPr>
        <p:spPr bwMode="auto">
          <a:xfrm flipV="1">
            <a:off x="2109629" y="4018434"/>
            <a:ext cx="445478" cy="81739"/>
          </a:xfrm>
          <a:prstGeom prst="curvedConnector3">
            <a:avLst>
              <a:gd name="adj1" fmla="val 50000"/>
            </a:avLst>
          </a:prstGeom>
          <a:noFill/>
          <a:ln w="19050">
            <a:solidFill>
              <a:srgbClr val="0000FF"/>
            </a:solidFill>
            <a:prstDash val="sysDot"/>
            <a:round/>
            <a:headEnd/>
            <a:tailEnd type="triangle" w="med" len="med"/>
          </a:ln>
        </p:spPr>
      </p:cxnSp>
      <p:cxnSp>
        <p:nvCxnSpPr>
          <p:cNvPr id="12" name="AutoShape 161"/>
          <p:cNvCxnSpPr>
            <a:cxnSpLocks noChangeShapeType="1"/>
            <a:stCxn id="9" idx="3"/>
          </p:cNvCxnSpPr>
          <p:nvPr/>
        </p:nvCxnSpPr>
        <p:spPr bwMode="auto">
          <a:xfrm flipV="1">
            <a:off x="2109629" y="2218210"/>
            <a:ext cx="467458" cy="105551"/>
          </a:xfrm>
          <a:prstGeom prst="curvedConnector3">
            <a:avLst>
              <a:gd name="adj1" fmla="val 50000"/>
            </a:avLst>
          </a:prstGeom>
          <a:noFill/>
          <a:ln w="19050">
            <a:solidFill>
              <a:srgbClr val="0000FF"/>
            </a:solidFill>
            <a:prstDash val="sysDot"/>
            <a:round/>
            <a:headEnd/>
            <a:tailEnd type="triangle" w="med" len="med"/>
          </a:ln>
        </p:spPr>
      </p:cxnSp>
      <p:sp>
        <p:nvSpPr>
          <p:cNvPr id="13" name="Oval 162"/>
          <p:cNvSpPr>
            <a:spLocks noChangeArrowheads="1"/>
          </p:cNvSpPr>
          <p:nvPr/>
        </p:nvSpPr>
        <p:spPr bwMode="auto">
          <a:xfrm>
            <a:off x="2959551" y="2853209"/>
            <a:ext cx="133350" cy="144462"/>
          </a:xfrm>
          <a:prstGeom prst="ellipse">
            <a:avLst/>
          </a:prstGeom>
          <a:noFill/>
          <a:ln w="19050" algn="ctr">
            <a:solidFill>
              <a:srgbClr val="0000FF"/>
            </a:solidFill>
            <a:prstDash val="sysDot"/>
            <a:round/>
            <a:headEnd/>
            <a:tailEnd/>
          </a:ln>
        </p:spPr>
        <p:txBody>
          <a:bodyPr wrap="none" anchor="ctr"/>
          <a:lstStyle/>
          <a:p>
            <a:pPr algn="ctr" fontAlgn="base">
              <a:spcBef>
                <a:spcPct val="0"/>
              </a:spcBef>
              <a:spcAft>
                <a:spcPct val="0"/>
              </a:spcAft>
            </a:pPr>
            <a:endParaRPr kumimoji="1" lang="ko-KR" altLang="en-US" sz="1000" dirty="0">
              <a:solidFill>
                <a:srgbClr val="000000"/>
              </a:solidFill>
            </a:endParaRPr>
          </a:p>
        </p:txBody>
      </p:sp>
      <p:sp>
        <p:nvSpPr>
          <p:cNvPr id="14" name="Text Box 163"/>
          <p:cNvSpPr txBox="1">
            <a:spLocks noChangeArrowheads="1"/>
          </p:cNvSpPr>
          <p:nvPr/>
        </p:nvSpPr>
        <p:spPr bwMode="auto">
          <a:xfrm>
            <a:off x="3213062" y="3375497"/>
            <a:ext cx="1716127" cy="400110"/>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000" b="1" dirty="0">
                <a:solidFill>
                  <a:srgbClr val="0000FF"/>
                </a:solidFill>
              </a:rPr>
              <a:t>Management values (average in groups)</a:t>
            </a:r>
          </a:p>
        </p:txBody>
      </p:sp>
      <p:sp>
        <p:nvSpPr>
          <p:cNvPr id="15" name="Text Box 164"/>
          <p:cNvSpPr txBox="1">
            <a:spLocks noChangeArrowheads="1"/>
          </p:cNvSpPr>
          <p:nvPr/>
        </p:nvSpPr>
        <p:spPr bwMode="auto">
          <a:xfrm>
            <a:off x="4026352" y="4180359"/>
            <a:ext cx="1263162" cy="246062"/>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8000"/>
                </a:solidFill>
              </a:rPr>
              <a:t>Group number</a:t>
            </a:r>
            <a:endParaRPr kumimoji="1" lang="ko-KR" altLang="en-US" sz="1000" b="1" dirty="0">
              <a:solidFill>
                <a:srgbClr val="008000"/>
              </a:solidFill>
            </a:endParaRPr>
          </a:p>
        </p:txBody>
      </p:sp>
      <p:cxnSp>
        <p:nvCxnSpPr>
          <p:cNvPr id="16" name="AutoShape 173"/>
          <p:cNvCxnSpPr>
            <a:cxnSpLocks noChangeShapeType="1"/>
            <a:endCxn id="13" idx="4"/>
          </p:cNvCxnSpPr>
          <p:nvPr/>
        </p:nvCxnSpPr>
        <p:spPr bwMode="auto">
          <a:xfrm rot="16200000" flipV="1">
            <a:off x="2936594" y="3086572"/>
            <a:ext cx="539750" cy="361950"/>
          </a:xfrm>
          <a:prstGeom prst="curvedConnector3">
            <a:avLst>
              <a:gd name="adj1" fmla="val 50000"/>
            </a:avLst>
          </a:prstGeom>
          <a:noFill/>
          <a:ln w="19050">
            <a:solidFill>
              <a:srgbClr val="0000FF"/>
            </a:solidFill>
            <a:prstDash val="sysDot"/>
            <a:round/>
            <a:headEnd/>
            <a:tailEnd type="triangle" w="med" len="med"/>
          </a:ln>
        </p:spPr>
      </p:cxnSp>
      <p:cxnSp>
        <p:nvCxnSpPr>
          <p:cNvPr id="17" name="직선 연결선 16"/>
          <p:cNvCxnSpPr/>
          <p:nvPr/>
        </p:nvCxnSpPr>
        <p:spPr>
          <a:xfrm>
            <a:off x="2549246" y="3108796"/>
            <a:ext cx="4363915" cy="15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nvGrpSpPr>
          <p:cNvPr id="2" name="그룹 91"/>
          <p:cNvGrpSpPr>
            <a:grpSpLocks/>
          </p:cNvGrpSpPr>
          <p:nvPr/>
        </p:nvGrpSpPr>
        <p:grpSpPr bwMode="auto">
          <a:xfrm>
            <a:off x="2550710" y="2832571"/>
            <a:ext cx="4889989" cy="571500"/>
            <a:chOff x="2870186" y="3009900"/>
            <a:chExt cx="5268496" cy="571500"/>
          </a:xfrm>
        </p:grpSpPr>
        <p:sp>
          <p:nvSpPr>
            <p:cNvPr id="19" name="Line 151"/>
            <p:cNvSpPr>
              <a:spLocks noChangeShapeType="1"/>
            </p:cNvSpPr>
            <p:nvPr/>
          </p:nvSpPr>
          <p:spPr bwMode="auto">
            <a:xfrm>
              <a:off x="2870186" y="30099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0" name="Line 152"/>
            <p:cNvSpPr>
              <a:spLocks noChangeShapeType="1"/>
            </p:cNvSpPr>
            <p:nvPr/>
          </p:nvSpPr>
          <p:spPr bwMode="auto">
            <a:xfrm>
              <a:off x="2889132" y="35814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grpSp>
      <p:sp>
        <p:nvSpPr>
          <p:cNvPr id="21" name="Line 150"/>
          <p:cNvSpPr>
            <a:spLocks noChangeShapeType="1"/>
          </p:cNvSpPr>
          <p:nvPr/>
        </p:nvSpPr>
        <p:spPr bwMode="auto">
          <a:xfrm>
            <a:off x="2550710" y="2516659"/>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2" name="Line 153"/>
          <p:cNvSpPr>
            <a:spLocks noChangeShapeType="1"/>
          </p:cNvSpPr>
          <p:nvPr/>
        </p:nvSpPr>
        <p:spPr bwMode="auto">
          <a:xfrm>
            <a:off x="2565366" y="3702521"/>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3" name="Text Box 166"/>
          <p:cNvSpPr txBox="1">
            <a:spLocks noChangeArrowheads="1"/>
          </p:cNvSpPr>
          <p:nvPr/>
        </p:nvSpPr>
        <p:spPr bwMode="auto">
          <a:xfrm>
            <a:off x="2153592" y="2956398"/>
            <a:ext cx="659423" cy="477054"/>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8000"/>
                </a:solidFill>
              </a:rPr>
              <a:t>Overall</a:t>
            </a:r>
          </a:p>
          <a:p>
            <a:pPr algn="ctr" fontAlgn="base">
              <a:spcBef>
                <a:spcPct val="50000"/>
              </a:spcBef>
              <a:spcAft>
                <a:spcPct val="0"/>
              </a:spcAft>
            </a:pPr>
            <a:r>
              <a:rPr kumimoji="1" lang="en-US" altLang="ko-KR" sz="1000" b="1" dirty="0">
                <a:solidFill>
                  <a:srgbClr val="008000"/>
                </a:solidFill>
              </a:rPr>
              <a:t>average</a:t>
            </a:r>
            <a:endParaRPr kumimoji="1" lang="ko-KR" altLang="en-US" sz="1000" b="1" dirty="0">
              <a:solidFill>
                <a:srgbClr val="008000"/>
              </a:solidFill>
            </a:endParaRPr>
          </a:p>
        </p:txBody>
      </p:sp>
      <p:sp>
        <p:nvSpPr>
          <p:cNvPr id="24" name="Text Box 177"/>
          <p:cNvSpPr txBox="1">
            <a:spLocks noChangeArrowheads="1"/>
          </p:cNvSpPr>
          <p:nvPr/>
        </p:nvSpPr>
        <p:spPr bwMode="auto">
          <a:xfrm>
            <a:off x="6124782" y="1941984"/>
            <a:ext cx="930519" cy="246062"/>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25" name="Text Box 178"/>
          <p:cNvSpPr txBox="1">
            <a:spLocks noChangeArrowheads="1"/>
          </p:cNvSpPr>
          <p:nvPr/>
        </p:nvSpPr>
        <p:spPr bwMode="auto">
          <a:xfrm>
            <a:off x="6124782" y="2235674"/>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26" name="Text Box 179"/>
          <p:cNvSpPr txBox="1">
            <a:spLocks noChangeArrowheads="1"/>
          </p:cNvSpPr>
          <p:nvPr/>
        </p:nvSpPr>
        <p:spPr bwMode="auto">
          <a:xfrm>
            <a:off x="6124782" y="253094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27" name="Text Box 180"/>
          <p:cNvSpPr txBox="1">
            <a:spLocks noChangeArrowheads="1"/>
          </p:cNvSpPr>
          <p:nvPr/>
        </p:nvSpPr>
        <p:spPr bwMode="auto">
          <a:xfrm>
            <a:off x="6124782" y="284844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8" name="Text Box 181"/>
          <p:cNvSpPr txBox="1">
            <a:spLocks noChangeArrowheads="1"/>
          </p:cNvSpPr>
          <p:nvPr/>
        </p:nvSpPr>
        <p:spPr bwMode="auto">
          <a:xfrm>
            <a:off x="6124782" y="312149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9" name="Text Box 182"/>
          <p:cNvSpPr txBox="1">
            <a:spLocks noChangeArrowheads="1"/>
          </p:cNvSpPr>
          <p:nvPr/>
        </p:nvSpPr>
        <p:spPr bwMode="auto">
          <a:xfrm>
            <a:off x="6124782" y="3416773"/>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30" name="Text Box 183"/>
          <p:cNvSpPr txBox="1">
            <a:spLocks noChangeArrowheads="1"/>
          </p:cNvSpPr>
          <p:nvPr/>
        </p:nvSpPr>
        <p:spPr bwMode="auto">
          <a:xfrm>
            <a:off x="6124782" y="371204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31" name="Text Box 184"/>
          <p:cNvSpPr txBox="1">
            <a:spLocks noChangeArrowheads="1"/>
          </p:cNvSpPr>
          <p:nvPr/>
        </p:nvSpPr>
        <p:spPr bwMode="auto">
          <a:xfrm>
            <a:off x="6124782" y="4007324"/>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32" name="Text Box 195"/>
          <p:cNvSpPr txBox="1">
            <a:spLocks noChangeArrowheads="1"/>
          </p:cNvSpPr>
          <p:nvPr/>
        </p:nvSpPr>
        <p:spPr bwMode="auto">
          <a:xfrm>
            <a:off x="5643570" y="1556222"/>
            <a:ext cx="1785950" cy="400110"/>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000" b="1" dirty="0">
                <a:solidFill>
                  <a:srgbClr val="008000"/>
                </a:solidFill>
              </a:rPr>
              <a:t>Occurrence Probability by Region</a:t>
            </a:r>
            <a:endParaRPr kumimoji="1" lang="ko-KR" altLang="en-US" sz="1000" b="1" dirty="0">
              <a:solidFill>
                <a:srgbClr val="008000"/>
              </a:solidFill>
            </a:endParaRPr>
          </a:p>
        </p:txBody>
      </p:sp>
      <p:cxnSp>
        <p:nvCxnSpPr>
          <p:cNvPr id="33" name="직선 연결선 32"/>
          <p:cNvCxnSpPr/>
          <p:nvPr/>
        </p:nvCxnSpPr>
        <p:spPr>
          <a:xfrm rot="5400000">
            <a:off x="5110736" y="3108796"/>
            <a:ext cx="2286000" cy="0"/>
          </a:xfrm>
          <a:prstGeom prst="line">
            <a:avLst/>
          </a:prstGeom>
          <a:ln w="28575">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rot="5400000">
            <a:off x="7023002" y="3108860"/>
            <a:ext cx="573088"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5" name="Text Box 172"/>
          <p:cNvSpPr txBox="1">
            <a:spLocks noChangeArrowheads="1"/>
          </p:cNvSpPr>
          <p:nvPr/>
        </p:nvSpPr>
        <p:spPr bwMode="auto">
          <a:xfrm>
            <a:off x="7110986" y="296592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 σ</a:t>
            </a:r>
          </a:p>
        </p:txBody>
      </p:sp>
      <p:cxnSp>
        <p:nvCxnSpPr>
          <p:cNvPr id="36" name="직선 연결선 35"/>
          <p:cNvCxnSpPr/>
          <p:nvPr/>
        </p:nvCxnSpPr>
        <p:spPr>
          <a:xfrm rot="5400000">
            <a:off x="7198115" y="3109590"/>
            <a:ext cx="1144588" cy="0"/>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7" name="Text Box 172"/>
          <p:cNvSpPr txBox="1">
            <a:spLocks noChangeArrowheads="1"/>
          </p:cNvSpPr>
          <p:nvPr/>
        </p:nvSpPr>
        <p:spPr bwMode="auto">
          <a:xfrm>
            <a:off x="7572583" y="296592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 σ</a:t>
            </a:r>
          </a:p>
        </p:txBody>
      </p:sp>
      <p:cxnSp>
        <p:nvCxnSpPr>
          <p:cNvPr id="38" name="직선 연결선 37"/>
          <p:cNvCxnSpPr/>
          <p:nvPr/>
        </p:nvCxnSpPr>
        <p:spPr>
          <a:xfrm rot="5400000">
            <a:off x="7304052" y="3108067"/>
            <a:ext cx="1857375"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Text Box 172"/>
          <p:cNvSpPr txBox="1">
            <a:spLocks noChangeArrowheads="1"/>
          </p:cNvSpPr>
          <p:nvPr/>
        </p:nvSpPr>
        <p:spPr bwMode="auto">
          <a:xfrm>
            <a:off x="8035644" y="296592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 σ</a:t>
            </a:r>
          </a:p>
        </p:txBody>
      </p:sp>
      <p:sp>
        <p:nvSpPr>
          <p:cNvPr id="40" name="타원 39"/>
          <p:cNvSpPr/>
          <p:nvPr/>
        </p:nvSpPr>
        <p:spPr>
          <a:xfrm>
            <a:off x="1165921" y="30897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1" name="타원 40"/>
          <p:cNvSpPr/>
          <p:nvPr/>
        </p:nvSpPr>
        <p:spPr>
          <a:xfrm>
            <a:off x="1375470" y="320246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2" name="타원 41"/>
          <p:cNvSpPr/>
          <p:nvPr/>
        </p:nvSpPr>
        <p:spPr>
          <a:xfrm>
            <a:off x="1631915" y="33056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3" name="타원 42"/>
          <p:cNvSpPr/>
          <p:nvPr/>
        </p:nvSpPr>
        <p:spPr>
          <a:xfrm>
            <a:off x="1631915" y="28532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4" name="타원 43"/>
          <p:cNvSpPr/>
          <p:nvPr/>
        </p:nvSpPr>
        <p:spPr>
          <a:xfrm>
            <a:off x="1375470" y="295957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5" name="타원 44"/>
          <p:cNvSpPr/>
          <p:nvPr/>
        </p:nvSpPr>
        <p:spPr>
          <a:xfrm>
            <a:off x="1375470" y="3078637"/>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6" name="타원 45"/>
          <p:cNvSpPr/>
          <p:nvPr/>
        </p:nvSpPr>
        <p:spPr>
          <a:xfrm>
            <a:off x="1631915" y="318976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7" name="타원 46"/>
          <p:cNvSpPr/>
          <p:nvPr/>
        </p:nvSpPr>
        <p:spPr>
          <a:xfrm>
            <a:off x="1631915" y="29595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8" name="타원 47"/>
          <p:cNvSpPr/>
          <p:nvPr/>
        </p:nvSpPr>
        <p:spPr>
          <a:xfrm>
            <a:off x="1631915" y="307863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9" name="타원 48"/>
          <p:cNvSpPr/>
          <p:nvPr/>
        </p:nvSpPr>
        <p:spPr>
          <a:xfrm>
            <a:off x="1889821" y="33056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0" name="타원 49"/>
          <p:cNvSpPr/>
          <p:nvPr/>
        </p:nvSpPr>
        <p:spPr>
          <a:xfrm>
            <a:off x="1889821" y="28532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1" name="타원 50"/>
          <p:cNvSpPr/>
          <p:nvPr/>
        </p:nvSpPr>
        <p:spPr>
          <a:xfrm>
            <a:off x="1889821" y="320246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2" name="타원 51"/>
          <p:cNvSpPr/>
          <p:nvPr/>
        </p:nvSpPr>
        <p:spPr>
          <a:xfrm>
            <a:off x="1889821" y="29595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3" name="타원 52"/>
          <p:cNvSpPr/>
          <p:nvPr/>
        </p:nvSpPr>
        <p:spPr>
          <a:xfrm>
            <a:off x="1889821" y="307863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4" name="타원 53"/>
          <p:cNvSpPr/>
          <p:nvPr/>
        </p:nvSpPr>
        <p:spPr>
          <a:xfrm>
            <a:off x="1889821" y="341200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5" name="타원 54"/>
          <p:cNvSpPr/>
          <p:nvPr/>
        </p:nvSpPr>
        <p:spPr>
          <a:xfrm>
            <a:off x="1889821" y="27516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6" name="타원 55"/>
          <p:cNvSpPr/>
          <p:nvPr/>
        </p:nvSpPr>
        <p:spPr>
          <a:xfrm>
            <a:off x="2165315" y="33056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7" name="타원 56"/>
          <p:cNvSpPr/>
          <p:nvPr/>
        </p:nvSpPr>
        <p:spPr>
          <a:xfrm>
            <a:off x="2165315" y="28532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8" name="타원 57"/>
          <p:cNvSpPr/>
          <p:nvPr/>
        </p:nvSpPr>
        <p:spPr>
          <a:xfrm>
            <a:off x="2165315" y="320246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9" name="타원 58"/>
          <p:cNvSpPr/>
          <p:nvPr/>
        </p:nvSpPr>
        <p:spPr>
          <a:xfrm>
            <a:off x="2165315" y="29595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0" name="타원 59"/>
          <p:cNvSpPr/>
          <p:nvPr/>
        </p:nvSpPr>
        <p:spPr>
          <a:xfrm>
            <a:off x="2165315" y="307863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1" name="타원 60"/>
          <p:cNvSpPr/>
          <p:nvPr/>
        </p:nvSpPr>
        <p:spPr>
          <a:xfrm>
            <a:off x="2165315" y="341200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2" name="타원 61"/>
          <p:cNvSpPr/>
          <p:nvPr/>
        </p:nvSpPr>
        <p:spPr>
          <a:xfrm>
            <a:off x="2165315" y="27516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3" name="타원 62"/>
          <p:cNvSpPr/>
          <p:nvPr/>
        </p:nvSpPr>
        <p:spPr>
          <a:xfrm>
            <a:off x="2165315" y="26325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4" name="타원 63"/>
          <p:cNvSpPr/>
          <p:nvPr/>
        </p:nvSpPr>
        <p:spPr>
          <a:xfrm>
            <a:off x="2165315" y="353742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5" name="타원 64"/>
          <p:cNvSpPr/>
          <p:nvPr/>
        </p:nvSpPr>
        <p:spPr>
          <a:xfrm>
            <a:off x="2728021" y="33231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6" name="타원 65"/>
          <p:cNvSpPr/>
          <p:nvPr/>
        </p:nvSpPr>
        <p:spPr>
          <a:xfrm>
            <a:off x="2991791" y="289448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7" name="타원 66"/>
          <p:cNvSpPr/>
          <p:nvPr/>
        </p:nvSpPr>
        <p:spPr>
          <a:xfrm>
            <a:off x="3387444" y="28230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8" name="타원 67"/>
          <p:cNvSpPr/>
          <p:nvPr/>
        </p:nvSpPr>
        <p:spPr>
          <a:xfrm>
            <a:off x="3717156" y="246586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9" name="타원 68"/>
          <p:cNvSpPr/>
          <p:nvPr/>
        </p:nvSpPr>
        <p:spPr>
          <a:xfrm>
            <a:off x="4046867" y="310879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0" name="타원 69"/>
          <p:cNvSpPr/>
          <p:nvPr/>
        </p:nvSpPr>
        <p:spPr>
          <a:xfrm>
            <a:off x="4442521" y="33945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1" name="타원 70"/>
          <p:cNvSpPr/>
          <p:nvPr/>
        </p:nvSpPr>
        <p:spPr>
          <a:xfrm>
            <a:off x="4706291" y="27516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2" name="타원 71"/>
          <p:cNvSpPr/>
          <p:nvPr/>
        </p:nvSpPr>
        <p:spPr>
          <a:xfrm>
            <a:off x="5021347" y="303736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3" name="타원 72"/>
          <p:cNvSpPr/>
          <p:nvPr/>
        </p:nvSpPr>
        <p:spPr>
          <a:xfrm>
            <a:off x="5367179" y="296592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4" name="직선 연결선 73"/>
          <p:cNvCxnSpPr>
            <a:stCxn id="65" idx="7"/>
            <a:endCxn id="66" idx="3"/>
          </p:cNvCxnSpPr>
          <p:nvPr/>
        </p:nvCxnSpPr>
        <p:spPr>
          <a:xfrm rot="5400000" flipH="1" flipV="1">
            <a:off x="2703903" y="3036078"/>
            <a:ext cx="379412"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5" name="직선 연결선 74"/>
          <p:cNvCxnSpPr>
            <a:stCxn id="66" idx="6"/>
            <a:endCxn id="67" idx="3"/>
          </p:cNvCxnSpPr>
          <p:nvPr/>
        </p:nvCxnSpPr>
        <p:spPr>
          <a:xfrm flipV="1">
            <a:off x="3057732" y="2883371"/>
            <a:ext cx="339969" cy="460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6" name="직선 연결선 75"/>
          <p:cNvCxnSpPr>
            <a:stCxn id="67" idx="7"/>
            <a:endCxn id="68" idx="2"/>
          </p:cNvCxnSpPr>
          <p:nvPr/>
        </p:nvCxnSpPr>
        <p:spPr>
          <a:xfrm rot="5400000" flipH="1" flipV="1">
            <a:off x="3414188" y="2531191"/>
            <a:ext cx="333375" cy="2725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7" name="직선 연결선 76"/>
          <p:cNvCxnSpPr>
            <a:stCxn id="69" idx="5"/>
            <a:endCxn id="70" idx="1"/>
          </p:cNvCxnSpPr>
          <p:nvPr/>
        </p:nvCxnSpPr>
        <p:spPr>
          <a:xfrm rot="16200000" flipH="1">
            <a:off x="4160129" y="3113009"/>
            <a:ext cx="236538" cy="3487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1165921" y="308339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9" name="직선 연결선 78"/>
          <p:cNvCxnSpPr>
            <a:stCxn id="68" idx="5"/>
            <a:endCxn id="69" idx="1"/>
          </p:cNvCxnSpPr>
          <p:nvPr/>
        </p:nvCxnSpPr>
        <p:spPr>
          <a:xfrm rot="16200000" flipH="1">
            <a:off x="3618854" y="2681640"/>
            <a:ext cx="593725" cy="282819"/>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0" name="직선 연결선 79"/>
          <p:cNvCxnSpPr>
            <a:stCxn id="70" idx="7"/>
            <a:endCxn id="71" idx="3"/>
          </p:cNvCxnSpPr>
          <p:nvPr/>
        </p:nvCxnSpPr>
        <p:spPr>
          <a:xfrm rot="5400000" flipH="1" flipV="1">
            <a:off x="4311247" y="3000360"/>
            <a:ext cx="593725"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1" name="직선 연결선 80"/>
          <p:cNvCxnSpPr>
            <a:stCxn id="71" idx="5"/>
            <a:endCxn id="72" idx="1"/>
          </p:cNvCxnSpPr>
          <p:nvPr/>
        </p:nvCxnSpPr>
        <p:spPr>
          <a:xfrm rot="16200000" flipH="1">
            <a:off x="4779256" y="2796121"/>
            <a:ext cx="236537" cy="268166"/>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2" name="직선 연결선 81"/>
          <p:cNvCxnSpPr>
            <a:stCxn id="72" idx="6"/>
            <a:endCxn id="73" idx="2"/>
          </p:cNvCxnSpPr>
          <p:nvPr/>
        </p:nvCxnSpPr>
        <p:spPr>
          <a:xfrm flipV="1">
            <a:off x="5087290" y="3000846"/>
            <a:ext cx="279888" cy="714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4" name="타원 83"/>
          <p:cNvSpPr/>
          <p:nvPr/>
        </p:nvSpPr>
        <p:spPr>
          <a:xfrm>
            <a:off x="5696891" y="28230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5" name="타원 84"/>
          <p:cNvSpPr/>
          <p:nvPr/>
        </p:nvSpPr>
        <p:spPr>
          <a:xfrm>
            <a:off x="5934284" y="32516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86" name="직선 연결선 85"/>
          <p:cNvCxnSpPr>
            <a:stCxn id="73" idx="7"/>
            <a:endCxn id="84" idx="2"/>
          </p:cNvCxnSpPr>
          <p:nvPr/>
        </p:nvCxnSpPr>
        <p:spPr>
          <a:xfrm rot="5400000" flipH="1" flipV="1">
            <a:off x="5500346" y="2780492"/>
            <a:ext cx="119063" cy="27402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7" name="직선 연결선 86"/>
          <p:cNvCxnSpPr>
            <a:stCxn id="84" idx="5"/>
            <a:endCxn id="85" idx="1"/>
          </p:cNvCxnSpPr>
          <p:nvPr/>
        </p:nvCxnSpPr>
        <p:spPr>
          <a:xfrm rot="16200000" flipH="1">
            <a:off x="5658852" y="2977097"/>
            <a:ext cx="379413" cy="191965"/>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8" name="Line 149"/>
          <p:cNvSpPr>
            <a:spLocks noChangeShapeType="1"/>
          </p:cNvSpPr>
          <p:nvPr/>
        </p:nvSpPr>
        <p:spPr bwMode="auto">
          <a:xfrm>
            <a:off x="2577086" y="2218209"/>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89" name="Line 154"/>
          <p:cNvSpPr>
            <a:spLocks noChangeShapeType="1"/>
          </p:cNvSpPr>
          <p:nvPr/>
        </p:nvSpPr>
        <p:spPr bwMode="auto">
          <a:xfrm>
            <a:off x="2555106" y="4018434"/>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90" name="Rectangle 189"/>
          <p:cNvSpPr>
            <a:spLocks noChangeArrowheads="1"/>
          </p:cNvSpPr>
          <p:nvPr/>
        </p:nvSpPr>
        <p:spPr bwMode="auto">
          <a:xfrm>
            <a:off x="639990" y="1556470"/>
            <a:ext cx="1717432" cy="360362"/>
          </a:xfrm>
          <a:prstGeom prst="rect">
            <a:avLst/>
          </a:prstGeom>
          <a:noFill/>
          <a:ln w="9525" algn="ctr">
            <a:noFill/>
            <a:miter lim="800000"/>
            <a:headEnd/>
            <a:tailEnd/>
          </a:ln>
        </p:spPr>
        <p:txBody>
          <a:bodyPr wrap="none" anchor="ctr"/>
          <a:lstStyle/>
          <a:p>
            <a:pPr algn="ctr" fontAlgn="base">
              <a:spcBef>
                <a:spcPct val="0"/>
              </a:spcBef>
              <a:spcAft>
                <a:spcPct val="0"/>
              </a:spcAft>
            </a:pPr>
            <a:r>
              <a:rPr kumimoji="1" lang="en-US" altLang="ko-KR" sz="1600" b="1" u="sng" dirty="0">
                <a:solidFill>
                  <a:srgbClr val="000000"/>
                </a:solidFill>
              </a:rPr>
              <a:t>Components of a control chart</a:t>
            </a:r>
            <a:endParaRPr kumimoji="1" lang="ko-KR" altLang="en-US" sz="1600" b="1" u="sng" dirty="0">
              <a:solidFill>
                <a:srgbClr val="000000"/>
              </a:solidFill>
            </a:endParaRPr>
          </a:p>
        </p:txBody>
      </p:sp>
      <p:sp>
        <p:nvSpPr>
          <p:cNvPr id="91" name="Text Box 186"/>
          <p:cNvSpPr txBox="1">
            <a:spLocks noChangeArrowheads="1"/>
          </p:cNvSpPr>
          <p:nvPr/>
        </p:nvSpPr>
        <p:spPr bwMode="auto">
          <a:xfrm>
            <a:off x="5327615" y="2092799"/>
            <a:ext cx="663819" cy="400110"/>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Action limit</a:t>
            </a:r>
            <a:endParaRPr kumimoji="1" lang="ko-KR" altLang="en-US" sz="1000" b="1" dirty="0">
              <a:solidFill>
                <a:srgbClr val="FF0000"/>
              </a:solidFill>
            </a:endParaRPr>
          </a:p>
        </p:txBody>
      </p:sp>
      <p:sp>
        <p:nvSpPr>
          <p:cNvPr id="93" name="Text Box 186"/>
          <p:cNvSpPr txBox="1">
            <a:spLocks noChangeArrowheads="1"/>
          </p:cNvSpPr>
          <p:nvPr/>
        </p:nvSpPr>
        <p:spPr bwMode="auto">
          <a:xfrm>
            <a:off x="5327615" y="3714752"/>
            <a:ext cx="663819" cy="400110"/>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Action Limit</a:t>
            </a:r>
            <a:endParaRPr kumimoji="1" lang="ko-KR" altLang="en-US" sz="1000" b="1" dirty="0">
              <a:solidFill>
                <a:srgbClr val="FF0000"/>
              </a:solidFill>
            </a:endParaRPr>
          </a:p>
        </p:txBody>
      </p:sp>
      <p:sp>
        <p:nvSpPr>
          <p:cNvPr id="94" name="Text Box 159"/>
          <p:cNvSpPr txBox="1">
            <a:spLocks noChangeArrowheads="1"/>
          </p:cNvSpPr>
          <p:nvPr/>
        </p:nvSpPr>
        <p:spPr bwMode="auto">
          <a:xfrm>
            <a:off x="2651821"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a:t>
            </a:r>
          </a:p>
        </p:txBody>
      </p:sp>
      <p:sp>
        <p:nvSpPr>
          <p:cNvPr id="95" name="Text Box 159"/>
          <p:cNvSpPr txBox="1">
            <a:spLocks noChangeArrowheads="1"/>
          </p:cNvSpPr>
          <p:nvPr/>
        </p:nvSpPr>
        <p:spPr bwMode="auto">
          <a:xfrm>
            <a:off x="2936106"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a:t>
            </a:r>
          </a:p>
        </p:txBody>
      </p:sp>
      <p:sp>
        <p:nvSpPr>
          <p:cNvPr id="96" name="Text Box 159"/>
          <p:cNvSpPr txBox="1">
            <a:spLocks noChangeArrowheads="1"/>
          </p:cNvSpPr>
          <p:nvPr/>
        </p:nvSpPr>
        <p:spPr bwMode="auto">
          <a:xfrm>
            <a:off x="3292195" y="396604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a:t>
            </a:r>
          </a:p>
        </p:txBody>
      </p:sp>
      <p:sp>
        <p:nvSpPr>
          <p:cNvPr id="97" name="Text Box 159"/>
          <p:cNvSpPr txBox="1">
            <a:spLocks noChangeArrowheads="1"/>
          </p:cNvSpPr>
          <p:nvPr/>
        </p:nvSpPr>
        <p:spPr bwMode="auto">
          <a:xfrm>
            <a:off x="3585272" y="396604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4</a:t>
            </a:r>
          </a:p>
        </p:txBody>
      </p:sp>
      <p:sp>
        <p:nvSpPr>
          <p:cNvPr id="98" name="Text Box 159"/>
          <p:cNvSpPr txBox="1">
            <a:spLocks noChangeArrowheads="1"/>
          </p:cNvSpPr>
          <p:nvPr/>
        </p:nvSpPr>
        <p:spPr bwMode="auto">
          <a:xfrm>
            <a:off x="3956013"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5</a:t>
            </a:r>
          </a:p>
        </p:txBody>
      </p:sp>
      <p:sp>
        <p:nvSpPr>
          <p:cNvPr id="99" name="Text Box 159"/>
          <p:cNvSpPr txBox="1">
            <a:spLocks noChangeArrowheads="1"/>
          </p:cNvSpPr>
          <p:nvPr/>
        </p:nvSpPr>
        <p:spPr bwMode="auto">
          <a:xfrm>
            <a:off x="4331152"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6</a:t>
            </a:r>
          </a:p>
        </p:txBody>
      </p:sp>
      <p:sp>
        <p:nvSpPr>
          <p:cNvPr id="100" name="Text Box 159"/>
          <p:cNvSpPr txBox="1">
            <a:spLocks noChangeArrowheads="1"/>
          </p:cNvSpPr>
          <p:nvPr/>
        </p:nvSpPr>
        <p:spPr bwMode="auto">
          <a:xfrm>
            <a:off x="4600783"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7</a:t>
            </a:r>
          </a:p>
        </p:txBody>
      </p:sp>
      <p:sp>
        <p:nvSpPr>
          <p:cNvPr id="101" name="Text Box 159"/>
          <p:cNvSpPr txBox="1">
            <a:spLocks noChangeArrowheads="1"/>
          </p:cNvSpPr>
          <p:nvPr/>
        </p:nvSpPr>
        <p:spPr bwMode="auto">
          <a:xfrm>
            <a:off x="4893860"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8</a:t>
            </a:r>
          </a:p>
        </p:txBody>
      </p:sp>
      <p:sp>
        <p:nvSpPr>
          <p:cNvPr id="102" name="Text Box 159"/>
          <p:cNvSpPr txBox="1">
            <a:spLocks noChangeArrowheads="1"/>
          </p:cNvSpPr>
          <p:nvPr/>
        </p:nvSpPr>
        <p:spPr bwMode="auto">
          <a:xfrm>
            <a:off x="5264603" y="396604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9</a:t>
            </a:r>
          </a:p>
        </p:txBody>
      </p:sp>
      <p:sp>
        <p:nvSpPr>
          <p:cNvPr id="103" name="Text Box 159"/>
          <p:cNvSpPr txBox="1">
            <a:spLocks noChangeArrowheads="1"/>
          </p:cNvSpPr>
          <p:nvPr/>
        </p:nvSpPr>
        <p:spPr bwMode="auto">
          <a:xfrm>
            <a:off x="5497599" y="396604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10</a:t>
            </a:r>
          </a:p>
        </p:txBody>
      </p:sp>
      <p:sp>
        <p:nvSpPr>
          <p:cNvPr id="104" name="Text Box 159"/>
          <p:cNvSpPr txBox="1">
            <a:spLocks noChangeArrowheads="1"/>
          </p:cNvSpPr>
          <p:nvPr/>
        </p:nvSpPr>
        <p:spPr bwMode="auto">
          <a:xfrm>
            <a:off x="5812656" y="396604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11</a:t>
            </a:r>
          </a:p>
        </p:txBody>
      </p:sp>
      <p:sp>
        <p:nvSpPr>
          <p:cNvPr id="105" name="Text Box 33"/>
          <p:cNvSpPr txBox="1">
            <a:spLocks noChangeArrowheads="1"/>
          </p:cNvSpPr>
          <p:nvPr/>
        </p:nvSpPr>
        <p:spPr bwMode="auto">
          <a:xfrm>
            <a:off x="7174493" y="1903710"/>
            <a:ext cx="18517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CC0000"/>
                </a:solidFill>
                <a:latin typeface="맑은 고딕"/>
                <a:ea typeface="맑은 고딕" pitchFamily="50" charset="-127"/>
              </a:rPr>
              <a:t>Assignable cause</a:t>
            </a:r>
            <a:endParaRPr lang="ko-KR" altLang="en-US" sz="1600" b="1" dirty="0">
              <a:solidFill>
                <a:srgbClr val="CC0000"/>
              </a:solidFill>
              <a:latin typeface="맑은 고딕"/>
              <a:ea typeface="맑은 고딕" pitchFamily="50" charset="-127"/>
            </a:endParaRPr>
          </a:p>
        </p:txBody>
      </p:sp>
      <p:sp>
        <p:nvSpPr>
          <p:cNvPr id="106" name="Text Box 35"/>
          <p:cNvSpPr txBox="1">
            <a:spLocks noChangeArrowheads="1"/>
          </p:cNvSpPr>
          <p:nvPr/>
        </p:nvSpPr>
        <p:spPr bwMode="auto">
          <a:xfrm>
            <a:off x="7190917" y="3966046"/>
            <a:ext cx="18517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srgbClr val="CC0000"/>
                </a:solidFill>
                <a:latin typeface="맑은 고딕"/>
                <a:ea typeface="맑은 고딕" pitchFamily="50" charset="-127"/>
              </a:rPr>
              <a:t>Assignable cause</a:t>
            </a:r>
            <a:endParaRPr lang="ko-KR" altLang="en-US" sz="1600" b="1" dirty="0">
              <a:solidFill>
                <a:srgbClr val="CC0000"/>
              </a:solidFill>
              <a:latin typeface="맑은 고딕"/>
              <a:ea typeface="맑은 고딕" pitchFamily="50" charset="-127"/>
            </a:endParaRPr>
          </a:p>
        </p:txBody>
      </p:sp>
      <p:sp>
        <p:nvSpPr>
          <p:cNvPr id="107" name="TextBox 106"/>
          <p:cNvSpPr txBox="1"/>
          <p:nvPr/>
        </p:nvSpPr>
        <p:spPr>
          <a:xfrm>
            <a:off x="317991" y="4607049"/>
            <a:ext cx="8826009" cy="105259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The odds of escaping the UCL in the process are only a 1~2/1000.  If we say that we produce 1000 units a day, it happens once or twice. This is not to say that it is defects, but to say that the process has changed from the past.  This level should confirm the process.</a:t>
            </a:r>
            <a:endParaRPr kumimoji="1" lang="ko-KR" altLang="en-US" sz="1600" b="1" dirty="0">
              <a:solidFill>
                <a:prstClr val="black"/>
              </a:solidFill>
              <a:latin typeface="굴림" pitchFamily="50" charset="-127"/>
              <a:ea typeface="굴림" pitchFamily="50" charset="-127"/>
            </a:endParaRPr>
          </a:p>
        </p:txBody>
      </p:sp>
      <p:sp>
        <p:nvSpPr>
          <p:cNvPr id="108"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109"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293</a:t>
            </a:fld>
            <a:endParaRPr lang="ko-KR" altLang="en-US" sz="1200" dirty="0">
              <a:solidFill>
                <a:prstClr val="black"/>
              </a:solidFill>
            </a:endParaRPr>
          </a:p>
        </p:txBody>
      </p:sp>
    </p:spTree>
    <p:extLst>
      <p:ext uri="{BB962C8B-B14F-4D97-AF65-F5344CB8AC3E}">
        <p14:creationId xmlns:p14="http://schemas.microsoft.com/office/powerpoint/2010/main" val="3657327850"/>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직사각형 42"/>
          <p:cNvSpPr/>
          <p:nvPr/>
        </p:nvSpPr>
        <p:spPr>
          <a:xfrm>
            <a:off x="2235307" y="4664351"/>
            <a:ext cx="5504557" cy="2124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3" name="직사각형 2"/>
          <p:cNvSpPr/>
          <p:nvPr/>
        </p:nvSpPr>
        <p:spPr>
          <a:xfrm>
            <a:off x="2258765" y="3127169"/>
            <a:ext cx="5504557" cy="2124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11267" name="Rectangle 3"/>
          <p:cNvSpPr>
            <a:spLocks noChangeArrowheads="1"/>
          </p:cNvSpPr>
          <p:nvPr/>
        </p:nvSpPr>
        <p:spPr bwMode="auto">
          <a:xfrm>
            <a:off x="228600" y="960430"/>
            <a:ext cx="8745664" cy="2419124"/>
          </a:xfrm>
          <a:prstGeom prst="rect">
            <a:avLst/>
          </a:prstGeom>
          <a:solidFill>
            <a:schemeClr val="bg1">
              <a:lumMod val="95000"/>
            </a:schemeClr>
          </a:solidFill>
          <a:ln>
            <a:noFill/>
          </a:ln>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30000"/>
              </a:spcBef>
              <a:spcAft>
                <a:spcPct val="0"/>
              </a:spcAft>
              <a:buFont typeface="Wingdings" pitchFamily="2" charset="2"/>
              <a:buChar char="§"/>
            </a:pP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Khi</a:t>
            </a:r>
            <a:r>
              <a:rPr lang="en-US" altLang="ko-KR" sz="1400" dirty="0">
                <a:solidFill>
                  <a:prstClr val="black"/>
                </a:solidFill>
                <a:latin typeface="맑은 고딕"/>
                <a:ea typeface="맑은 고딕" pitchFamily="50" charset="-127"/>
              </a:rPr>
              <a:t> process ở </a:t>
            </a:r>
            <a:r>
              <a:rPr lang="en-US" altLang="ko-KR" sz="1400" dirty="0" err="1">
                <a:solidFill>
                  <a:prstClr val="black"/>
                </a:solidFill>
                <a:latin typeface="맑은 고딕"/>
                <a:ea typeface="맑은 고딕" pitchFamily="50" charset="-127"/>
              </a:rPr>
              <a:t>trong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trạng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thái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ổn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định</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tương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ứng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với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giá</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trị</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bình</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quân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ta</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gọi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là</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p>
          <a:p>
            <a:pPr eaLnBrk="1" fontAlgn="base" hangingPunct="1">
              <a:spcBef>
                <a:spcPct val="30000"/>
              </a:spcBef>
              <a:spcAft>
                <a:spcPct val="0"/>
              </a:spcAft>
            </a:pPr>
            <a:r>
              <a:rPr lang="en-US" altLang="ko-KR" sz="1400" dirty="0" err="1">
                <a:solidFill>
                  <a:prstClr val="black"/>
                </a:solidFill>
                <a:latin typeface="맑은 고딕"/>
                <a:ea typeface="맑은 고딕" pitchFamily="50" charset="-127"/>
              </a:rPr>
              <a:t>trung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tâm</a:t>
            </a:r>
            <a:r>
              <a:rPr lang="ko-KR" altLang="en-US" sz="1400" dirty="0">
                <a:solidFill>
                  <a:prstClr val="black"/>
                </a:solidFill>
                <a:latin typeface="맑은 고딕"/>
                <a:ea typeface="맑은 고딕" pitchFamily="50" charset="-127"/>
              </a:rPr>
              <a:t> </a:t>
            </a:r>
            <a:r>
              <a:rPr lang="en-US" altLang="ko-KR" sz="1400" dirty="0">
                <a:solidFill>
                  <a:prstClr val="black"/>
                </a:solidFill>
                <a:latin typeface="맑은 고딕"/>
                <a:ea typeface="맑은 고딕" pitchFamily="50" charset="-127"/>
              </a:rPr>
              <a:t>(CL=Center Line)</a:t>
            </a:r>
            <a:endParaRPr lang="ko-KR" altLang="en-US" sz="1400" dirty="0">
              <a:solidFill>
                <a:prstClr val="black"/>
              </a:solidFill>
              <a:latin typeface="맑은 고딕"/>
              <a:ea typeface="맑은 고딕" pitchFamily="50" charset="-127"/>
            </a:endParaRPr>
          </a:p>
          <a:p>
            <a:pPr eaLnBrk="1" fontAlgn="base" hangingPunct="1">
              <a:spcBef>
                <a:spcPct val="30000"/>
              </a:spcBef>
              <a:spcAft>
                <a:spcPct val="0"/>
              </a:spcAft>
              <a:buFont typeface="Wingdings" pitchFamily="2" charset="2"/>
              <a:buChar char="§"/>
            </a:pPr>
            <a:r>
              <a:rPr lang="ko-KR" altLang="en-US"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giới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hạn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dưới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của</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trung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tâm</a:t>
            </a:r>
            <a:r>
              <a:rPr lang="en-US" altLang="ko-KR" sz="1400" dirty="0">
                <a:solidFill>
                  <a:prstClr val="black"/>
                </a:solidFill>
                <a:latin typeface="맑은 고딕"/>
                <a:ea typeface="맑은 고딕" pitchFamily="50" charset="-127"/>
              </a:rPr>
              <a:t> 3σ </a:t>
            </a:r>
            <a:r>
              <a:rPr lang="en-US" altLang="ko-KR" sz="1400" dirty="0" err="1">
                <a:solidFill>
                  <a:prstClr val="black"/>
                </a:solidFill>
                <a:latin typeface="맑은 고딕"/>
                <a:ea typeface="맑은 고딕" pitchFamily="50" charset="-127"/>
              </a:rPr>
              <a:t>phía</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bên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gọi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là</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quản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lý</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trên</a:t>
            </a:r>
            <a:r>
              <a:rPr lang="en-US" altLang="ko-KR" sz="1400" dirty="0">
                <a:solidFill>
                  <a:prstClr val="black"/>
                </a:solidFill>
                <a:latin typeface="맑은 고딕"/>
                <a:ea typeface="맑은 고딕" pitchFamily="50" charset="-127"/>
              </a:rPr>
              <a:t> UCL</a:t>
            </a:r>
          </a:p>
          <a:p>
            <a:pPr eaLnBrk="1" fontAlgn="base" hangingPunct="1">
              <a:spcBef>
                <a:spcPct val="30000"/>
              </a:spcBef>
              <a:spcAft>
                <a:spcPct val="0"/>
              </a:spcAft>
            </a:pPr>
            <a:r>
              <a:rPr lang="en-US" altLang="ko-KR" sz="1400" dirty="0" err="1">
                <a:solidFill>
                  <a:prstClr val="black"/>
                </a:solidFill>
                <a:latin typeface="맑은 고딕"/>
                <a:ea typeface="맑은 고딕" pitchFamily="50" charset="-127"/>
              </a:rPr>
              <a:t>phía</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bên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dưới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gọi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là</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quản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lý</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dưới</a:t>
            </a:r>
            <a:r>
              <a:rPr lang="en-US" altLang="ko-KR" sz="1400" dirty="0">
                <a:solidFill>
                  <a:prstClr val="black"/>
                </a:solidFill>
                <a:latin typeface="맑은 고딕"/>
                <a:ea typeface="맑은 고딕" pitchFamily="50" charset="-127"/>
              </a:rPr>
              <a:t> LCL.</a:t>
            </a:r>
            <a:endParaRPr lang="ko-KR" altLang="en-US" sz="1400" dirty="0">
              <a:solidFill>
                <a:prstClr val="black"/>
              </a:solidFill>
              <a:latin typeface="맑은 고딕"/>
              <a:ea typeface="맑은 고딕" pitchFamily="50" charset="-127"/>
            </a:endParaRPr>
          </a:p>
          <a:p>
            <a:pPr eaLnBrk="1" fontAlgn="base" hangingPunct="1">
              <a:spcBef>
                <a:spcPct val="30000"/>
              </a:spcBef>
              <a:spcAft>
                <a:spcPct val="0"/>
              </a:spcAft>
              <a:buFont typeface="Wingdings" pitchFamily="2" charset="2"/>
              <a:buChar char="§"/>
            </a:pPr>
            <a:r>
              <a:rPr lang="ko-KR" altLang="en-US"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Trong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đồ</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thị</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quản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lý</a:t>
            </a:r>
            <a:r>
              <a:rPr lang="en-US" altLang="ko-KR" sz="1400" dirty="0">
                <a:solidFill>
                  <a:prstClr val="black"/>
                </a:solidFill>
                <a:latin typeface="맑은 고딕"/>
                <a:ea typeface="맑은 고딕" pitchFamily="50" charset="-127"/>
              </a:rPr>
              <a:t> 3σ </a:t>
            </a:r>
            <a:r>
              <a:rPr lang="en-US" altLang="ko-KR" sz="1400" dirty="0" err="1">
                <a:solidFill>
                  <a:prstClr val="black"/>
                </a:solidFill>
                <a:latin typeface="맑은 고딕"/>
                <a:ea typeface="맑은 고딕" pitchFamily="50" charset="-127"/>
              </a:rPr>
              <a:t>khả</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năng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vượt</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quá</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quản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lý</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dưới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là</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không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quá</a:t>
            </a:r>
            <a:r>
              <a:rPr lang="en-US" altLang="ko-KR" sz="1400" dirty="0">
                <a:solidFill>
                  <a:prstClr val="black"/>
                </a:solidFill>
                <a:latin typeface="맑은 고딕"/>
                <a:ea typeface="맑은 고딕" pitchFamily="50" charset="-127"/>
              </a:rPr>
              <a:t> </a:t>
            </a:r>
            <a:r>
              <a:rPr lang="en-US" altLang="ko-KR" sz="1400" b="1" dirty="0">
                <a:solidFill>
                  <a:srgbClr val="FF0000"/>
                </a:solidFill>
                <a:latin typeface="맑은 고딕"/>
                <a:ea typeface="맑은 고딕" pitchFamily="50" charset="-127"/>
              </a:rPr>
              <a:t>0.27%</a:t>
            </a:r>
            <a:r>
              <a:rPr lang="en-US" altLang="ko-KR" sz="1400" dirty="0">
                <a:solidFill>
                  <a:prstClr val="black"/>
                </a:solidFill>
                <a:latin typeface="맑은 고딕"/>
                <a:ea typeface="맑은 고딕" pitchFamily="50" charset="-127"/>
              </a:rPr>
              <a:t>.</a:t>
            </a:r>
            <a:br>
              <a:rPr lang="en-US" altLang="ko-KR" sz="1400" dirty="0">
                <a:solidFill>
                  <a:prstClr val="black"/>
                </a:solidFill>
                <a:latin typeface="맑은 고딕"/>
                <a:ea typeface="맑은 고딕" pitchFamily="50" charset="-127"/>
              </a:rPr>
            </a:b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Nghĩa</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là</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hợp</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chỉ</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tồn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tại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nguyên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nhân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ngẫu</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nhiên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thì</a:t>
            </a:r>
            <a:r>
              <a:rPr lang="en-US" altLang="ko-KR" sz="1400" dirty="0">
                <a:solidFill>
                  <a:prstClr val="black"/>
                </a:solidFill>
                <a:latin typeface="맑은 고딕"/>
                <a:ea typeface="맑은 고딕" pitchFamily="50" charset="-127"/>
              </a:rPr>
              <a:t> data </a:t>
            </a:r>
            <a:r>
              <a:rPr lang="en-US" altLang="ko-KR" sz="1400" dirty="0" err="1">
                <a:solidFill>
                  <a:prstClr val="black"/>
                </a:solidFill>
                <a:latin typeface="맑은 고딕"/>
                <a:ea typeface="맑은 고딕" pitchFamily="50" charset="-127"/>
              </a:rPr>
              <a:t>tồn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tại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trong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quản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lý</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trên</a:t>
            </a:r>
            <a:endParaRPr lang="en-US" altLang="ko-KR" sz="1400" dirty="0">
              <a:solidFill>
                <a:prstClr val="black"/>
              </a:solidFill>
              <a:latin typeface="맑은 고딕"/>
              <a:ea typeface="맑은 고딕" pitchFamily="50" charset="-127"/>
            </a:endParaRPr>
          </a:p>
          <a:p>
            <a:pPr eaLnBrk="1" fontAlgn="base" hangingPunct="1">
              <a:spcBef>
                <a:spcPct val="30000"/>
              </a:spcBef>
              <a:spcAft>
                <a:spcPct val="0"/>
              </a:spcAft>
            </a:pP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và</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dưới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nhưng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hợp</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vượt</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quá</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đường</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quản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lý</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trên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dưới</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ta</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đánh</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giá</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là</a:t>
            </a:r>
            <a:r>
              <a:rPr lang="en-US" altLang="ko-KR" sz="1400" dirty="0">
                <a:solidFill>
                  <a:prstClr val="black"/>
                </a:solidFill>
                <a:latin typeface="맑은 고딕"/>
                <a:ea typeface="맑은 고딕" pitchFamily="50" charset="-127"/>
              </a:rPr>
              <a:t> do </a:t>
            </a:r>
            <a:r>
              <a:rPr lang="en-US" altLang="ko-KR" sz="1400" dirty="0" err="1">
                <a:solidFill>
                  <a:prstClr val="black"/>
                </a:solidFill>
                <a:latin typeface="맑은 고딕"/>
                <a:ea typeface="맑은 고딕" pitchFamily="50" charset="-127"/>
              </a:rPr>
              <a:t>nguyên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nhân</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không</a:t>
            </a:r>
            <a:r>
              <a:rPr lang="en-US" altLang="ko-KR" sz="1400" dirty="0">
                <a:solidFill>
                  <a:prstClr val="black"/>
                </a:solidFill>
                <a:latin typeface="맑은 고딕"/>
                <a:ea typeface="맑은 고딕" pitchFamily="50" charset="-127"/>
              </a:rPr>
              <a:t> </a:t>
            </a:r>
          </a:p>
          <a:p>
            <a:pPr eaLnBrk="1" fontAlgn="base" hangingPunct="1">
              <a:spcBef>
                <a:spcPct val="30000"/>
              </a:spcBef>
              <a:spcAft>
                <a:spcPct val="0"/>
              </a:spcAft>
            </a:pPr>
            <a:r>
              <a:rPr lang="en-US" altLang="ko-KR" sz="1400" dirty="0" err="1">
                <a:solidFill>
                  <a:prstClr val="black"/>
                </a:solidFill>
                <a:latin typeface="맑은 고딕"/>
                <a:ea typeface="맑은 고딕" pitchFamily="50" charset="-127"/>
              </a:rPr>
              <a:t>ngẫu</a:t>
            </a:r>
            <a:r>
              <a:rPr lang="en-US" altLang="ko-KR" sz="1400" dirty="0">
                <a:solidFill>
                  <a:prstClr val="black"/>
                </a:solidFill>
                <a:latin typeface="맑은 고딕"/>
                <a:ea typeface="맑은 고딕" pitchFamily="50" charset="-127"/>
              </a:rPr>
              <a:t> </a:t>
            </a:r>
            <a:r>
              <a:rPr lang="en-US" altLang="ko-KR" sz="1400" dirty="0" err="1">
                <a:solidFill>
                  <a:prstClr val="black"/>
                </a:solidFill>
                <a:latin typeface="맑은 고딕"/>
                <a:ea typeface="맑은 고딕" pitchFamily="50" charset="-127"/>
              </a:rPr>
              <a:t>nhiên</a:t>
            </a:r>
            <a:br>
              <a:rPr lang="en-US" altLang="ko-KR" sz="1400" dirty="0">
                <a:solidFill>
                  <a:prstClr val="black"/>
                </a:solidFill>
                <a:latin typeface="맑은 고딕"/>
                <a:ea typeface="맑은 고딕" pitchFamily="50" charset="-127"/>
              </a:rPr>
            </a:br>
            <a:endParaRPr lang="en-US" altLang="ko-KR" sz="1400" dirty="0">
              <a:solidFill>
                <a:prstClr val="black"/>
              </a:solidFill>
              <a:latin typeface="맑은 고딕"/>
              <a:ea typeface="맑은 고딕" pitchFamily="50" charset="-127"/>
            </a:endParaRPr>
          </a:p>
        </p:txBody>
      </p:sp>
      <p:sp>
        <p:nvSpPr>
          <p:cNvPr id="11268" name="Rectangle 5"/>
          <p:cNvSpPr>
            <a:spLocks noChangeArrowheads="1"/>
          </p:cNvSpPr>
          <p:nvPr/>
        </p:nvSpPr>
        <p:spPr bwMode="auto">
          <a:xfrm>
            <a:off x="1029867" y="3105150"/>
            <a:ext cx="7397262" cy="230505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endParaRPr lang="ko-KR" altLang="ko-KR" sz="1400" b="1" dirty="0">
              <a:solidFill>
                <a:prstClr val="white"/>
              </a:solidFill>
              <a:latin typeface="맑은 고딕"/>
              <a:ea typeface="맑은 고딕" pitchFamily="50" charset="-127"/>
            </a:endParaRPr>
          </a:p>
        </p:txBody>
      </p:sp>
      <p:sp>
        <p:nvSpPr>
          <p:cNvPr id="11269" name="Line 11"/>
          <p:cNvSpPr>
            <a:spLocks noChangeShapeType="1"/>
          </p:cNvSpPr>
          <p:nvPr/>
        </p:nvSpPr>
        <p:spPr bwMode="auto">
          <a:xfrm>
            <a:off x="2244672" y="3044925"/>
            <a:ext cx="0" cy="185102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70" name="Rectangle 22"/>
          <p:cNvSpPr>
            <a:spLocks noChangeArrowheads="1"/>
          </p:cNvSpPr>
          <p:nvPr/>
        </p:nvSpPr>
        <p:spPr bwMode="auto">
          <a:xfrm>
            <a:off x="2735576" y="2971899"/>
            <a:ext cx="4892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sym typeface="Wingdings 2" pitchFamily="18" charset="2"/>
              </a:rPr>
              <a:t>“a”</a:t>
            </a:r>
          </a:p>
        </p:txBody>
      </p:sp>
      <p:sp>
        <p:nvSpPr>
          <p:cNvPr id="11271" name="Rectangle 23"/>
          <p:cNvSpPr>
            <a:spLocks noChangeArrowheads="1"/>
          </p:cNvSpPr>
          <p:nvPr/>
        </p:nvSpPr>
        <p:spPr bwMode="auto">
          <a:xfrm>
            <a:off x="2606632" y="4745137"/>
            <a:ext cx="5052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sym typeface="Wingdings 2" pitchFamily="18" charset="2"/>
              </a:rPr>
              <a:t>“b”</a:t>
            </a:r>
          </a:p>
        </p:txBody>
      </p:sp>
      <p:sp>
        <p:nvSpPr>
          <p:cNvPr id="11272" name="Rectangle 27"/>
          <p:cNvSpPr>
            <a:spLocks noChangeArrowheads="1"/>
          </p:cNvSpPr>
          <p:nvPr/>
        </p:nvSpPr>
        <p:spPr bwMode="auto">
          <a:xfrm>
            <a:off x="6929506" y="3170338"/>
            <a:ext cx="5774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rPr>
              <a:t>+3σ</a:t>
            </a:r>
          </a:p>
        </p:txBody>
      </p:sp>
      <p:sp>
        <p:nvSpPr>
          <p:cNvPr id="11273" name="Rectangle 28"/>
          <p:cNvSpPr>
            <a:spLocks noChangeArrowheads="1"/>
          </p:cNvSpPr>
          <p:nvPr/>
        </p:nvSpPr>
        <p:spPr bwMode="auto">
          <a:xfrm>
            <a:off x="6955895" y="4406999"/>
            <a:ext cx="5148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sz="1600" b="1" dirty="0">
                <a:solidFill>
                  <a:prstClr val="black"/>
                </a:solidFill>
                <a:latin typeface="맑은 고딕"/>
                <a:ea typeface="맑은 고딕" pitchFamily="50" charset="-127"/>
                <a:cs typeface="가는으뜸체"/>
              </a:rPr>
              <a:t>-3σ</a:t>
            </a:r>
          </a:p>
        </p:txBody>
      </p:sp>
      <p:sp>
        <p:nvSpPr>
          <p:cNvPr id="11274" name="Line 17"/>
          <p:cNvSpPr>
            <a:spLocks noChangeShapeType="1"/>
          </p:cNvSpPr>
          <p:nvPr/>
        </p:nvSpPr>
        <p:spPr bwMode="auto">
          <a:xfrm>
            <a:off x="1822652" y="3360837"/>
            <a:ext cx="5940669" cy="0"/>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75" name="Line 18"/>
          <p:cNvSpPr>
            <a:spLocks noChangeShapeType="1"/>
          </p:cNvSpPr>
          <p:nvPr/>
        </p:nvSpPr>
        <p:spPr bwMode="auto">
          <a:xfrm>
            <a:off x="1822652" y="4580037"/>
            <a:ext cx="5940669" cy="0"/>
          </a:xfrm>
          <a:prstGeom prst="line">
            <a:avLst/>
          </a:prstGeom>
          <a:noFill/>
          <a:ln w="28575">
            <a:solidFill>
              <a:srgbClr val="008000"/>
            </a:solidFill>
            <a:prstDash val="sysDot"/>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76" name="Line 31"/>
          <p:cNvSpPr>
            <a:spLocks noChangeShapeType="1"/>
          </p:cNvSpPr>
          <p:nvPr/>
        </p:nvSpPr>
        <p:spPr bwMode="auto">
          <a:xfrm>
            <a:off x="1800660" y="3972024"/>
            <a:ext cx="5939204" cy="0"/>
          </a:xfrm>
          <a:prstGeom prst="line">
            <a:avLst/>
          </a:prstGeom>
          <a:noFill/>
          <a:ln w="28575">
            <a:solidFill>
              <a:schemeClr val="bg1">
                <a:lumMod val="75000"/>
              </a:schemeClr>
            </a:solidFill>
            <a:prstDash val="dashDot"/>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11277" name="Text Box 17"/>
          <p:cNvSpPr txBox="1">
            <a:spLocks noChangeArrowheads="1"/>
          </p:cNvSpPr>
          <p:nvPr/>
        </p:nvSpPr>
        <p:spPr bwMode="auto">
          <a:xfrm>
            <a:off x="1314164" y="3198913"/>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a:ea typeface="맑은 고딕" pitchFamily="50" charset="-127"/>
              </a:rPr>
              <a:t>UCL</a:t>
            </a:r>
          </a:p>
        </p:txBody>
      </p:sp>
      <p:sp>
        <p:nvSpPr>
          <p:cNvPr id="11278" name="Text Box 18"/>
          <p:cNvSpPr txBox="1">
            <a:spLocks noChangeArrowheads="1"/>
          </p:cNvSpPr>
          <p:nvPr/>
        </p:nvSpPr>
        <p:spPr bwMode="auto">
          <a:xfrm>
            <a:off x="1325875" y="4402238"/>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a:ea typeface="맑은 고딕" pitchFamily="50" charset="-127"/>
              </a:rPr>
              <a:t>LCL</a:t>
            </a:r>
          </a:p>
        </p:txBody>
      </p:sp>
      <p:sp>
        <p:nvSpPr>
          <p:cNvPr id="11279" name="Text Box 19"/>
          <p:cNvSpPr txBox="1">
            <a:spLocks noChangeArrowheads="1"/>
          </p:cNvSpPr>
          <p:nvPr/>
        </p:nvSpPr>
        <p:spPr bwMode="auto">
          <a:xfrm>
            <a:off x="1390353" y="3825974"/>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a:ea typeface="맑은 고딕" pitchFamily="50" charset="-127"/>
              </a:rPr>
              <a:t>CL</a:t>
            </a:r>
          </a:p>
        </p:txBody>
      </p:sp>
      <p:grpSp>
        <p:nvGrpSpPr>
          <p:cNvPr id="2" name="Group 23"/>
          <p:cNvGrpSpPr>
            <a:grpSpLocks/>
          </p:cNvGrpSpPr>
          <p:nvPr/>
        </p:nvGrpSpPr>
        <p:grpSpPr bwMode="auto">
          <a:xfrm rot="5400000">
            <a:off x="1953304" y="3460484"/>
            <a:ext cx="1612900" cy="1000857"/>
            <a:chOff x="826" y="1347"/>
            <a:chExt cx="2492" cy="1713"/>
          </a:xfrm>
        </p:grpSpPr>
        <p:sp>
          <p:nvSpPr>
            <p:cNvPr id="11301" name="Freeform 24"/>
            <p:cNvSpPr>
              <a:spLocks/>
            </p:cNvSpPr>
            <p:nvPr/>
          </p:nvSpPr>
          <p:spPr bwMode="auto">
            <a:xfrm>
              <a:off x="826" y="1347"/>
              <a:ext cx="1249" cy="1713"/>
            </a:xfrm>
            <a:custGeom>
              <a:avLst/>
              <a:gdLst>
                <a:gd name="T0" fmla="*/ 0 w 1249"/>
                <a:gd name="T1" fmla="*/ 1712 h 1713"/>
                <a:gd name="T2" fmla="*/ 33 w 1249"/>
                <a:gd name="T3" fmla="*/ 1706 h 1713"/>
                <a:gd name="T4" fmla="*/ 89 w 1249"/>
                <a:gd name="T5" fmla="*/ 1695 h 1713"/>
                <a:gd name="T6" fmla="*/ 134 w 1249"/>
                <a:gd name="T7" fmla="*/ 1689 h 1713"/>
                <a:gd name="T8" fmla="*/ 184 w 1249"/>
                <a:gd name="T9" fmla="*/ 1678 h 1713"/>
                <a:gd name="T10" fmla="*/ 240 w 1249"/>
                <a:gd name="T11" fmla="*/ 1661 h 1713"/>
                <a:gd name="T12" fmla="*/ 285 w 1249"/>
                <a:gd name="T13" fmla="*/ 1650 h 1713"/>
                <a:gd name="T14" fmla="*/ 319 w 1249"/>
                <a:gd name="T15" fmla="*/ 1639 h 1713"/>
                <a:gd name="T16" fmla="*/ 363 w 1249"/>
                <a:gd name="T17" fmla="*/ 1622 h 1713"/>
                <a:gd name="T18" fmla="*/ 391 w 1249"/>
                <a:gd name="T19" fmla="*/ 1611 h 1713"/>
                <a:gd name="T20" fmla="*/ 425 w 1249"/>
                <a:gd name="T21" fmla="*/ 1594 h 1713"/>
                <a:gd name="T22" fmla="*/ 464 w 1249"/>
                <a:gd name="T23" fmla="*/ 1577 h 1713"/>
                <a:gd name="T24" fmla="*/ 492 w 1249"/>
                <a:gd name="T25" fmla="*/ 1560 h 1713"/>
                <a:gd name="T26" fmla="*/ 509 w 1249"/>
                <a:gd name="T27" fmla="*/ 1544 h 1713"/>
                <a:gd name="T28" fmla="*/ 531 w 1249"/>
                <a:gd name="T29" fmla="*/ 1527 h 1713"/>
                <a:gd name="T30" fmla="*/ 553 w 1249"/>
                <a:gd name="T31" fmla="*/ 1504 h 1713"/>
                <a:gd name="T32" fmla="*/ 570 w 1249"/>
                <a:gd name="T33" fmla="*/ 1482 h 1713"/>
                <a:gd name="T34" fmla="*/ 576 w 1249"/>
                <a:gd name="T35" fmla="*/ 1476 h 1713"/>
                <a:gd name="T36" fmla="*/ 587 w 1249"/>
                <a:gd name="T37" fmla="*/ 1460 h 1713"/>
                <a:gd name="T38" fmla="*/ 615 w 1249"/>
                <a:gd name="T39" fmla="*/ 1415 h 1713"/>
                <a:gd name="T40" fmla="*/ 637 w 1249"/>
                <a:gd name="T41" fmla="*/ 1370 h 1713"/>
                <a:gd name="T42" fmla="*/ 660 w 1249"/>
                <a:gd name="T43" fmla="*/ 1326 h 1713"/>
                <a:gd name="T44" fmla="*/ 682 w 1249"/>
                <a:gd name="T45" fmla="*/ 1275 h 1713"/>
                <a:gd name="T46" fmla="*/ 704 w 1249"/>
                <a:gd name="T47" fmla="*/ 1225 h 1713"/>
                <a:gd name="T48" fmla="*/ 727 w 1249"/>
                <a:gd name="T49" fmla="*/ 1169 h 1713"/>
                <a:gd name="T50" fmla="*/ 744 w 1249"/>
                <a:gd name="T51" fmla="*/ 1124 h 1713"/>
                <a:gd name="T52" fmla="*/ 755 w 1249"/>
                <a:gd name="T53" fmla="*/ 1091 h 1713"/>
                <a:gd name="T54" fmla="*/ 794 w 1249"/>
                <a:gd name="T55" fmla="*/ 979 h 1713"/>
                <a:gd name="T56" fmla="*/ 872 w 1249"/>
                <a:gd name="T57" fmla="*/ 744 h 1713"/>
                <a:gd name="T58" fmla="*/ 912 w 1249"/>
                <a:gd name="T59" fmla="*/ 626 h 1713"/>
                <a:gd name="T60" fmla="*/ 923 w 1249"/>
                <a:gd name="T61" fmla="*/ 592 h 1713"/>
                <a:gd name="T62" fmla="*/ 945 w 1249"/>
                <a:gd name="T63" fmla="*/ 536 h 1713"/>
                <a:gd name="T64" fmla="*/ 962 w 1249"/>
                <a:gd name="T65" fmla="*/ 486 h 1713"/>
                <a:gd name="T66" fmla="*/ 979 w 1249"/>
                <a:gd name="T67" fmla="*/ 436 h 1713"/>
                <a:gd name="T68" fmla="*/ 1001 w 1249"/>
                <a:gd name="T69" fmla="*/ 380 h 1713"/>
                <a:gd name="T70" fmla="*/ 1018 w 1249"/>
                <a:gd name="T71" fmla="*/ 335 h 1713"/>
                <a:gd name="T72" fmla="*/ 1035 w 1249"/>
                <a:gd name="T73" fmla="*/ 291 h 1713"/>
                <a:gd name="T74" fmla="*/ 1052 w 1249"/>
                <a:gd name="T75" fmla="*/ 251 h 1713"/>
                <a:gd name="T76" fmla="*/ 1057 w 1249"/>
                <a:gd name="T77" fmla="*/ 235 h 1713"/>
                <a:gd name="T78" fmla="*/ 1063 w 1249"/>
                <a:gd name="T79" fmla="*/ 218 h 1713"/>
                <a:gd name="T80" fmla="*/ 1080 w 1249"/>
                <a:gd name="T81" fmla="*/ 179 h 1713"/>
                <a:gd name="T82" fmla="*/ 1091 w 1249"/>
                <a:gd name="T83" fmla="*/ 151 h 1713"/>
                <a:gd name="T84" fmla="*/ 1102 w 1249"/>
                <a:gd name="T85" fmla="*/ 123 h 1713"/>
                <a:gd name="T86" fmla="*/ 1119 w 1249"/>
                <a:gd name="T87" fmla="*/ 95 h 1713"/>
                <a:gd name="T88" fmla="*/ 1130 w 1249"/>
                <a:gd name="T89" fmla="*/ 72 h 1713"/>
                <a:gd name="T90" fmla="*/ 1141 w 1249"/>
                <a:gd name="T91" fmla="*/ 55 h 1713"/>
                <a:gd name="T92" fmla="*/ 1152 w 1249"/>
                <a:gd name="T93" fmla="*/ 44 h 1713"/>
                <a:gd name="T94" fmla="*/ 1158 w 1249"/>
                <a:gd name="T95" fmla="*/ 39 h 1713"/>
                <a:gd name="T96" fmla="*/ 1169 w 1249"/>
                <a:gd name="T97" fmla="*/ 27 h 1713"/>
                <a:gd name="T98" fmla="*/ 1192 w 1249"/>
                <a:gd name="T99" fmla="*/ 16 h 1713"/>
                <a:gd name="T100" fmla="*/ 1214 w 1249"/>
                <a:gd name="T101" fmla="*/ 5 h 1713"/>
                <a:gd name="T102" fmla="*/ 1236 w 1249"/>
                <a:gd name="T103" fmla="*/ 0 h 1713"/>
                <a:gd name="T104" fmla="*/ 1248 w 1249"/>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9"/>
                <a:gd name="T160" fmla="*/ 0 h 1713"/>
                <a:gd name="T161" fmla="*/ 1249 w 124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9" h="1713">
                  <a:moveTo>
                    <a:pt x="0" y="1712"/>
                  </a:moveTo>
                  <a:lnTo>
                    <a:pt x="33" y="1706"/>
                  </a:lnTo>
                  <a:lnTo>
                    <a:pt x="89" y="1695"/>
                  </a:lnTo>
                  <a:lnTo>
                    <a:pt x="134" y="1689"/>
                  </a:lnTo>
                  <a:lnTo>
                    <a:pt x="184" y="1678"/>
                  </a:lnTo>
                  <a:lnTo>
                    <a:pt x="240" y="1661"/>
                  </a:lnTo>
                  <a:lnTo>
                    <a:pt x="285" y="1650"/>
                  </a:lnTo>
                  <a:lnTo>
                    <a:pt x="319" y="1639"/>
                  </a:lnTo>
                  <a:lnTo>
                    <a:pt x="363" y="1622"/>
                  </a:lnTo>
                  <a:lnTo>
                    <a:pt x="391" y="1611"/>
                  </a:lnTo>
                  <a:lnTo>
                    <a:pt x="425" y="1594"/>
                  </a:lnTo>
                  <a:lnTo>
                    <a:pt x="464" y="1577"/>
                  </a:lnTo>
                  <a:lnTo>
                    <a:pt x="492" y="1560"/>
                  </a:lnTo>
                  <a:lnTo>
                    <a:pt x="509" y="1544"/>
                  </a:lnTo>
                  <a:lnTo>
                    <a:pt x="531" y="1527"/>
                  </a:lnTo>
                  <a:lnTo>
                    <a:pt x="553" y="1504"/>
                  </a:lnTo>
                  <a:lnTo>
                    <a:pt x="570" y="1482"/>
                  </a:lnTo>
                  <a:lnTo>
                    <a:pt x="576" y="1476"/>
                  </a:lnTo>
                  <a:lnTo>
                    <a:pt x="587" y="1460"/>
                  </a:lnTo>
                  <a:lnTo>
                    <a:pt x="615" y="1415"/>
                  </a:lnTo>
                  <a:lnTo>
                    <a:pt x="637" y="1370"/>
                  </a:lnTo>
                  <a:lnTo>
                    <a:pt x="660" y="1326"/>
                  </a:lnTo>
                  <a:lnTo>
                    <a:pt x="682" y="1275"/>
                  </a:lnTo>
                  <a:lnTo>
                    <a:pt x="704" y="1225"/>
                  </a:lnTo>
                  <a:lnTo>
                    <a:pt x="727" y="1169"/>
                  </a:lnTo>
                  <a:lnTo>
                    <a:pt x="744" y="1124"/>
                  </a:lnTo>
                  <a:lnTo>
                    <a:pt x="755" y="1091"/>
                  </a:lnTo>
                  <a:lnTo>
                    <a:pt x="794" y="979"/>
                  </a:lnTo>
                  <a:lnTo>
                    <a:pt x="872" y="744"/>
                  </a:lnTo>
                  <a:lnTo>
                    <a:pt x="912" y="626"/>
                  </a:lnTo>
                  <a:lnTo>
                    <a:pt x="923" y="592"/>
                  </a:lnTo>
                  <a:lnTo>
                    <a:pt x="945" y="536"/>
                  </a:lnTo>
                  <a:lnTo>
                    <a:pt x="962" y="486"/>
                  </a:lnTo>
                  <a:lnTo>
                    <a:pt x="979" y="436"/>
                  </a:lnTo>
                  <a:lnTo>
                    <a:pt x="1001" y="380"/>
                  </a:lnTo>
                  <a:lnTo>
                    <a:pt x="1018" y="335"/>
                  </a:lnTo>
                  <a:lnTo>
                    <a:pt x="1035" y="291"/>
                  </a:lnTo>
                  <a:lnTo>
                    <a:pt x="1052" y="251"/>
                  </a:lnTo>
                  <a:lnTo>
                    <a:pt x="1057" y="235"/>
                  </a:lnTo>
                  <a:lnTo>
                    <a:pt x="1063" y="218"/>
                  </a:lnTo>
                  <a:lnTo>
                    <a:pt x="1080" y="179"/>
                  </a:lnTo>
                  <a:lnTo>
                    <a:pt x="1091" y="151"/>
                  </a:lnTo>
                  <a:lnTo>
                    <a:pt x="1102" y="123"/>
                  </a:lnTo>
                  <a:lnTo>
                    <a:pt x="1119" y="95"/>
                  </a:lnTo>
                  <a:lnTo>
                    <a:pt x="1130" y="72"/>
                  </a:lnTo>
                  <a:lnTo>
                    <a:pt x="1141" y="55"/>
                  </a:lnTo>
                  <a:lnTo>
                    <a:pt x="1152" y="44"/>
                  </a:lnTo>
                  <a:lnTo>
                    <a:pt x="1158" y="39"/>
                  </a:lnTo>
                  <a:lnTo>
                    <a:pt x="1169" y="27"/>
                  </a:lnTo>
                  <a:lnTo>
                    <a:pt x="1192" y="16"/>
                  </a:lnTo>
                  <a:lnTo>
                    <a:pt x="1214" y="5"/>
                  </a:lnTo>
                  <a:lnTo>
                    <a:pt x="1236" y="0"/>
                  </a:lnTo>
                  <a:lnTo>
                    <a:pt x="1248"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302" name="Freeform 25"/>
            <p:cNvSpPr>
              <a:spLocks/>
            </p:cNvSpPr>
            <p:nvPr/>
          </p:nvSpPr>
          <p:spPr bwMode="auto">
            <a:xfrm>
              <a:off x="2074" y="1347"/>
              <a:ext cx="1244" cy="1713"/>
            </a:xfrm>
            <a:custGeom>
              <a:avLst/>
              <a:gdLst>
                <a:gd name="T0" fmla="*/ 1243 w 1244"/>
                <a:gd name="T1" fmla="*/ 1712 h 1713"/>
                <a:gd name="T2" fmla="*/ 1209 w 1244"/>
                <a:gd name="T3" fmla="*/ 1706 h 1713"/>
                <a:gd name="T4" fmla="*/ 1153 w 1244"/>
                <a:gd name="T5" fmla="*/ 1695 h 1713"/>
                <a:gd name="T6" fmla="*/ 1108 w 1244"/>
                <a:gd name="T7" fmla="*/ 1689 h 1713"/>
                <a:gd name="T8" fmla="*/ 1058 w 1244"/>
                <a:gd name="T9" fmla="*/ 1678 h 1713"/>
                <a:gd name="T10" fmla="*/ 1002 w 1244"/>
                <a:gd name="T11" fmla="*/ 1661 h 1713"/>
                <a:gd name="T12" fmla="*/ 957 w 1244"/>
                <a:gd name="T13" fmla="*/ 1650 h 1713"/>
                <a:gd name="T14" fmla="*/ 923 w 1244"/>
                <a:gd name="T15" fmla="*/ 1639 h 1713"/>
                <a:gd name="T16" fmla="*/ 878 w 1244"/>
                <a:gd name="T17" fmla="*/ 1622 h 1713"/>
                <a:gd name="T18" fmla="*/ 850 w 1244"/>
                <a:gd name="T19" fmla="*/ 1611 h 1713"/>
                <a:gd name="T20" fmla="*/ 817 w 1244"/>
                <a:gd name="T21" fmla="*/ 1594 h 1713"/>
                <a:gd name="T22" fmla="*/ 778 w 1244"/>
                <a:gd name="T23" fmla="*/ 1577 h 1713"/>
                <a:gd name="T24" fmla="*/ 750 w 1244"/>
                <a:gd name="T25" fmla="*/ 1560 h 1713"/>
                <a:gd name="T26" fmla="*/ 733 w 1244"/>
                <a:gd name="T27" fmla="*/ 1544 h 1713"/>
                <a:gd name="T28" fmla="*/ 711 w 1244"/>
                <a:gd name="T29" fmla="*/ 1527 h 1713"/>
                <a:gd name="T30" fmla="*/ 689 w 1244"/>
                <a:gd name="T31" fmla="*/ 1504 h 1713"/>
                <a:gd name="T32" fmla="*/ 672 w 1244"/>
                <a:gd name="T33" fmla="*/ 1482 h 1713"/>
                <a:gd name="T34" fmla="*/ 666 w 1244"/>
                <a:gd name="T35" fmla="*/ 1476 h 1713"/>
                <a:gd name="T36" fmla="*/ 655 w 1244"/>
                <a:gd name="T37" fmla="*/ 1460 h 1713"/>
                <a:gd name="T38" fmla="*/ 627 w 1244"/>
                <a:gd name="T39" fmla="*/ 1415 h 1713"/>
                <a:gd name="T40" fmla="*/ 605 w 1244"/>
                <a:gd name="T41" fmla="*/ 1370 h 1713"/>
                <a:gd name="T42" fmla="*/ 582 w 1244"/>
                <a:gd name="T43" fmla="*/ 1331 h 1713"/>
                <a:gd name="T44" fmla="*/ 560 w 1244"/>
                <a:gd name="T45" fmla="*/ 1281 h 1713"/>
                <a:gd name="T46" fmla="*/ 537 w 1244"/>
                <a:gd name="T47" fmla="*/ 1231 h 1713"/>
                <a:gd name="T48" fmla="*/ 515 w 1244"/>
                <a:gd name="T49" fmla="*/ 1175 h 1713"/>
                <a:gd name="T50" fmla="*/ 492 w 1244"/>
                <a:gd name="T51" fmla="*/ 1124 h 1713"/>
                <a:gd name="T52" fmla="*/ 481 w 1244"/>
                <a:gd name="T53" fmla="*/ 1091 h 1713"/>
                <a:gd name="T54" fmla="*/ 442 w 1244"/>
                <a:gd name="T55" fmla="*/ 979 h 1713"/>
                <a:gd name="T56" fmla="*/ 364 w 1244"/>
                <a:gd name="T57" fmla="*/ 744 h 1713"/>
                <a:gd name="T58" fmla="*/ 324 w 1244"/>
                <a:gd name="T59" fmla="*/ 626 h 1713"/>
                <a:gd name="T60" fmla="*/ 313 w 1244"/>
                <a:gd name="T61" fmla="*/ 592 h 1713"/>
                <a:gd name="T62" fmla="*/ 296 w 1244"/>
                <a:gd name="T63" fmla="*/ 542 h 1713"/>
                <a:gd name="T64" fmla="*/ 280 w 1244"/>
                <a:gd name="T65" fmla="*/ 486 h 1713"/>
                <a:gd name="T66" fmla="*/ 257 w 1244"/>
                <a:gd name="T67" fmla="*/ 430 h 1713"/>
                <a:gd name="T68" fmla="*/ 240 w 1244"/>
                <a:gd name="T69" fmla="*/ 380 h 1713"/>
                <a:gd name="T70" fmla="*/ 224 w 1244"/>
                <a:gd name="T71" fmla="*/ 335 h 1713"/>
                <a:gd name="T72" fmla="*/ 207 w 1244"/>
                <a:gd name="T73" fmla="*/ 291 h 1713"/>
                <a:gd name="T74" fmla="*/ 190 w 1244"/>
                <a:gd name="T75" fmla="*/ 251 h 1713"/>
                <a:gd name="T76" fmla="*/ 184 w 1244"/>
                <a:gd name="T77" fmla="*/ 235 h 1713"/>
                <a:gd name="T78" fmla="*/ 179 w 1244"/>
                <a:gd name="T79" fmla="*/ 218 h 1713"/>
                <a:gd name="T80" fmla="*/ 162 w 1244"/>
                <a:gd name="T81" fmla="*/ 184 h 1713"/>
                <a:gd name="T82" fmla="*/ 145 w 1244"/>
                <a:gd name="T83" fmla="*/ 151 h 1713"/>
                <a:gd name="T84" fmla="*/ 128 w 1244"/>
                <a:gd name="T85" fmla="*/ 117 h 1713"/>
                <a:gd name="T86" fmla="*/ 117 w 1244"/>
                <a:gd name="T87" fmla="*/ 95 h 1713"/>
                <a:gd name="T88" fmla="*/ 106 w 1244"/>
                <a:gd name="T89" fmla="*/ 78 h 1713"/>
                <a:gd name="T90" fmla="*/ 95 w 1244"/>
                <a:gd name="T91" fmla="*/ 61 h 1713"/>
                <a:gd name="T92" fmla="*/ 84 w 1244"/>
                <a:gd name="T93" fmla="*/ 44 h 1713"/>
                <a:gd name="T94" fmla="*/ 78 w 1244"/>
                <a:gd name="T95" fmla="*/ 39 h 1713"/>
                <a:gd name="T96" fmla="*/ 67 w 1244"/>
                <a:gd name="T97" fmla="*/ 27 h 1713"/>
                <a:gd name="T98" fmla="*/ 50 w 1244"/>
                <a:gd name="T99" fmla="*/ 16 h 1713"/>
                <a:gd name="T100" fmla="*/ 33 w 1244"/>
                <a:gd name="T101" fmla="*/ 5 h 1713"/>
                <a:gd name="T102" fmla="*/ 11 w 1244"/>
                <a:gd name="T103" fmla="*/ 0 h 1713"/>
                <a:gd name="T104" fmla="*/ 0 w 1244"/>
                <a:gd name="T105" fmla="*/ 0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44"/>
                <a:gd name="T160" fmla="*/ 0 h 1713"/>
                <a:gd name="T161" fmla="*/ 1244 w 1244"/>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44" h="1713">
                  <a:moveTo>
                    <a:pt x="1243" y="1712"/>
                  </a:moveTo>
                  <a:lnTo>
                    <a:pt x="1209" y="1706"/>
                  </a:lnTo>
                  <a:lnTo>
                    <a:pt x="1153" y="1695"/>
                  </a:lnTo>
                  <a:lnTo>
                    <a:pt x="1108" y="1689"/>
                  </a:lnTo>
                  <a:lnTo>
                    <a:pt x="1058" y="1678"/>
                  </a:lnTo>
                  <a:lnTo>
                    <a:pt x="1002" y="1661"/>
                  </a:lnTo>
                  <a:lnTo>
                    <a:pt x="957" y="1650"/>
                  </a:lnTo>
                  <a:lnTo>
                    <a:pt x="923" y="1639"/>
                  </a:lnTo>
                  <a:lnTo>
                    <a:pt x="878" y="1622"/>
                  </a:lnTo>
                  <a:lnTo>
                    <a:pt x="850" y="1611"/>
                  </a:lnTo>
                  <a:lnTo>
                    <a:pt x="817" y="1594"/>
                  </a:lnTo>
                  <a:lnTo>
                    <a:pt x="778" y="1577"/>
                  </a:lnTo>
                  <a:lnTo>
                    <a:pt x="750" y="1560"/>
                  </a:lnTo>
                  <a:lnTo>
                    <a:pt x="733" y="1544"/>
                  </a:lnTo>
                  <a:lnTo>
                    <a:pt x="711" y="1527"/>
                  </a:lnTo>
                  <a:lnTo>
                    <a:pt x="689" y="1504"/>
                  </a:lnTo>
                  <a:lnTo>
                    <a:pt x="672" y="1482"/>
                  </a:lnTo>
                  <a:lnTo>
                    <a:pt x="666" y="1476"/>
                  </a:lnTo>
                  <a:lnTo>
                    <a:pt x="655" y="1460"/>
                  </a:lnTo>
                  <a:lnTo>
                    <a:pt x="627" y="1415"/>
                  </a:lnTo>
                  <a:lnTo>
                    <a:pt x="605" y="1370"/>
                  </a:lnTo>
                  <a:lnTo>
                    <a:pt x="582" y="1331"/>
                  </a:lnTo>
                  <a:lnTo>
                    <a:pt x="560" y="1281"/>
                  </a:lnTo>
                  <a:lnTo>
                    <a:pt x="537" y="1231"/>
                  </a:lnTo>
                  <a:lnTo>
                    <a:pt x="515" y="1175"/>
                  </a:lnTo>
                  <a:lnTo>
                    <a:pt x="492" y="1124"/>
                  </a:lnTo>
                  <a:lnTo>
                    <a:pt x="481" y="1091"/>
                  </a:lnTo>
                  <a:lnTo>
                    <a:pt x="442" y="979"/>
                  </a:lnTo>
                  <a:lnTo>
                    <a:pt x="364" y="744"/>
                  </a:lnTo>
                  <a:lnTo>
                    <a:pt x="324" y="626"/>
                  </a:lnTo>
                  <a:lnTo>
                    <a:pt x="313" y="592"/>
                  </a:lnTo>
                  <a:lnTo>
                    <a:pt x="296" y="542"/>
                  </a:lnTo>
                  <a:lnTo>
                    <a:pt x="280" y="486"/>
                  </a:lnTo>
                  <a:lnTo>
                    <a:pt x="257" y="430"/>
                  </a:lnTo>
                  <a:lnTo>
                    <a:pt x="240" y="380"/>
                  </a:lnTo>
                  <a:lnTo>
                    <a:pt x="224" y="335"/>
                  </a:lnTo>
                  <a:lnTo>
                    <a:pt x="207" y="291"/>
                  </a:lnTo>
                  <a:lnTo>
                    <a:pt x="190" y="251"/>
                  </a:lnTo>
                  <a:lnTo>
                    <a:pt x="184" y="235"/>
                  </a:lnTo>
                  <a:lnTo>
                    <a:pt x="179" y="218"/>
                  </a:lnTo>
                  <a:lnTo>
                    <a:pt x="162" y="184"/>
                  </a:lnTo>
                  <a:lnTo>
                    <a:pt x="145" y="151"/>
                  </a:lnTo>
                  <a:lnTo>
                    <a:pt x="128" y="117"/>
                  </a:lnTo>
                  <a:lnTo>
                    <a:pt x="117" y="95"/>
                  </a:lnTo>
                  <a:lnTo>
                    <a:pt x="106" y="78"/>
                  </a:lnTo>
                  <a:lnTo>
                    <a:pt x="95" y="61"/>
                  </a:lnTo>
                  <a:lnTo>
                    <a:pt x="84" y="44"/>
                  </a:lnTo>
                  <a:lnTo>
                    <a:pt x="78" y="39"/>
                  </a:lnTo>
                  <a:lnTo>
                    <a:pt x="67" y="27"/>
                  </a:lnTo>
                  <a:lnTo>
                    <a:pt x="50" y="16"/>
                  </a:lnTo>
                  <a:lnTo>
                    <a:pt x="33" y="5"/>
                  </a:lnTo>
                  <a:lnTo>
                    <a:pt x="11" y="0"/>
                  </a:lnTo>
                  <a:lnTo>
                    <a:pt x="0" y="0"/>
                  </a:lnTo>
                </a:path>
              </a:pathLst>
            </a:custGeom>
            <a:noFill/>
            <a:ln w="25400" cap="rnd" cmpd="sng">
              <a:solidFill>
                <a:srgbClr val="CC0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kumimoji="1" lang="ko-KR" altLang="en-US" dirty="0">
                <a:solidFill>
                  <a:prstClr val="black"/>
                </a:solidFill>
                <a:ea typeface="굴림" pitchFamily="50" charset="-127"/>
              </a:endParaRPr>
            </a:p>
          </p:txBody>
        </p:sp>
      </p:grpSp>
      <p:sp>
        <p:nvSpPr>
          <p:cNvPr id="11281" name="Freeform 26"/>
          <p:cNvSpPr>
            <a:spLocks/>
          </p:cNvSpPr>
          <p:nvPr/>
        </p:nvSpPr>
        <p:spPr bwMode="auto">
          <a:xfrm>
            <a:off x="2244678" y="3144937"/>
            <a:ext cx="64477" cy="215900"/>
          </a:xfrm>
          <a:custGeom>
            <a:avLst/>
            <a:gdLst>
              <a:gd name="T0" fmla="*/ 0 w 45"/>
              <a:gd name="T1" fmla="*/ 0 h 136"/>
              <a:gd name="T2" fmla="*/ 0 w 45"/>
              <a:gd name="T3" fmla="*/ 2147483647 h 136"/>
              <a:gd name="T4" fmla="*/ 2147483647 w 45"/>
              <a:gd name="T5" fmla="*/ 2147483647 h 136"/>
              <a:gd name="T6" fmla="*/ 0 w 45"/>
              <a:gd name="T7" fmla="*/ 0 h 136"/>
              <a:gd name="T8" fmla="*/ 0 60000 65536"/>
              <a:gd name="T9" fmla="*/ 0 60000 65536"/>
              <a:gd name="T10" fmla="*/ 0 60000 65536"/>
              <a:gd name="T11" fmla="*/ 0 60000 65536"/>
              <a:gd name="T12" fmla="*/ 0 w 45"/>
              <a:gd name="T13" fmla="*/ 0 h 136"/>
              <a:gd name="T14" fmla="*/ 45 w 45"/>
              <a:gd name="T15" fmla="*/ 136 h 136"/>
            </a:gdLst>
            <a:ahLst/>
            <a:cxnLst>
              <a:cxn ang="T8">
                <a:pos x="T0" y="T1"/>
              </a:cxn>
              <a:cxn ang="T9">
                <a:pos x="T2" y="T3"/>
              </a:cxn>
              <a:cxn ang="T10">
                <a:pos x="T4" y="T5"/>
              </a:cxn>
              <a:cxn ang="T11">
                <a:pos x="T6" y="T7"/>
              </a:cxn>
            </a:cxnLst>
            <a:rect l="T12" t="T13" r="T14" b="T15"/>
            <a:pathLst>
              <a:path w="45" h="136">
                <a:moveTo>
                  <a:pt x="0" y="0"/>
                </a:moveTo>
                <a:lnTo>
                  <a:pt x="0" y="136"/>
                </a:lnTo>
                <a:lnTo>
                  <a:pt x="45" y="136"/>
                </a:lnTo>
                <a:lnTo>
                  <a:pt x="0" y="0"/>
                </a:lnTo>
                <a:close/>
              </a:path>
            </a:pathLst>
          </a:custGeom>
          <a:solidFill>
            <a:srgbClr val="CC0000"/>
          </a:solidFill>
          <a:ln w="9525" cap="flat" cmpd="sng">
            <a:solidFill>
              <a:srgbClr val="CC0000"/>
            </a:solidFill>
            <a:prstDash val="solid"/>
            <a:round/>
            <a:headEnd/>
            <a:tailEnd/>
          </a:ln>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2" name="Line 20"/>
          <p:cNvSpPr>
            <a:spLocks noChangeShapeType="1"/>
          </p:cNvSpPr>
          <p:nvPr/>
        </p:nvSpPr>
        <p:spPr bwMode="auto">
          <a:xfrm flipV="1">
            <a:off x="2282772" y="3125908"/>
            <a:ext cx="499696" cy="166687"/>
          </a:xfrm>
          <a:prstGeom prst="line">
            <a:avLst/>
          </a:prstGeom>
          <a:noFill/>
          <a:ln w="9525">
            <a:solidFill>
              <a:schemeClr val="tx1"/>
            </a:solidFill>
            <a:round/>
            <a:headEnd type="oval" w="med" len="me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3" name="Freeform 28"/>
          <p:cNvSpPr>
            <a:spLocks/>
          </p:cNvSpPr>
          <p:nvPr/>
        </p:nvSpPr>
        <p:spPr bwMode="auto">
          <a:xfrm flipV="1">
            <a:off x="2244678" y="4570512"/>
            <a:ext cx="64477" cy="215900"/>
          </a:xfrm>
          <a:custGeom>
            <a:avLst/>
            <a:gdLst>
              <a:gd name="T0" fmla="*/ 0 w 45"/>
              <a:gd name="T1" fmla="*/ 0 h 136"/>
              <a:gd name="T2" fmla="*/ 0 w 45"/>
              <a:gd name="T3" fmla="*/ 2147483647 h 136"/>
              <a:gd name="T4" fmla="*/ 2147483647 w 45"/>
              <a:gd name="T5" fmla="*/ 2147483647 h 136"/>
              <a:gd name="T6" fmla="*/ 0 w 45"/>
              <a:gd name="T7" fmla="*/ 0 h 136"/>
              <a:gd name="T8" fmla="*/ 0 60000 65536"/>
              <a:gd name="T9" fmla="*/ 0 60000 65536"/>
              <a:gd name="T10" fmla="*/ 0 60000 65536"/>
              <a:gd name="T11" fmla="*/ 0 60000 65536"/>
              <a:gd name="T12" fmla="*/ 0 w 45"/>
              <a:gd name="T13" fmla="*/ 0 h 136"/>
              <a:gd name="T14" fmla="*/ 45 w 45"/>
              <a:gd name="T15" fmla="*/ 136 h 136"/>
            </a:gdLst>
            <a:ahLst/>
            <a:cxnLst>
              <a:cxn ang="T8">
                <a:pos x="T0" y="T1"/>
              </a:cxn>
              <a:cxn ang="T9">
                <a:pos x="T2" y="T3"/>
              </a:cxn>
              <a:cxn ang="T10">
                <a:pos x="T4" y="T5"/>
              </a:cxn>
              <a:cxn ang="T11">
                <a:pos x="T6" y="T7"/>
              </a:cxn>
            </a:cxnLst>
            <a:rect l="T12" t="T13" r="T14" b="T15"/>
            <a:pathLst>
              <a:path w="45" h="136">
                <a:moveTo>
                  <a:pt x="0" y="0"/>
                </a:moveTo>
                <a:lnTo>
                  <a:pt x="0" y="136"/>
                </a:lnTo>
                <a:lnTo>
                  <a:pt x="45" y="136"/>
                </a:lnTo>
                <a:lnTo>
                  <a:pt x="0" y="0"/>
                </a:lnTo>
                <a:close/>
              </a:path>
            </a:pathLst>
          </a:custGeom>
          <a:solidFill>
            <a:srgbClr val="CC0000"/>
          </a:solidFill>
          <a:ln w="9525" cap="flat" cmpd="sng">
            <a:solidFill>
              <a:srgbClr val="CC0000"/>
            </a:solidFill>
            <a:prstDash val="solid"/>
            <a:round/>
            <a:headEnd/>
            <a:tailEnd/>
          </a:ln>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4" name="Line 21"/>
          <p:cNvSpPr>
            <a:spLocks noChangeShapeType="1"/>
          </p:cNvSpPr>
          <p:nvPr/>
        </p:nvSpPr>
        <p:spPr bwMode="auto">
          <a:xfrm>
            <a:off x="2275451" y="4667349"/>
            <a:ext cx="420566" cy="228600"/>
          </a:xfrm>
          <a:prstGeom prst="line">
            <a:avLst/>
          </a:prstGeom>
          <a:noFill/>
          <a:ln w="9525">
            <a:solidFill>
              <a:schemeClr val="tx1"/>
            </a:solidFill>
            <a:round/>
            <a:headEnd type="oval" w="med" len="me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kumimoji="1" lang="ko-KR" altLang="en-US" dirty="0">
              <a:solidFill>
                <a:prstClr val="black"/>
              </a:solidFill>
              <a:ea typeface="굴림" pitchFamily="50" charset="-127"/>
            </a:endParaRPr>
          </a:p>
        </p:txBody>
      </p:sp>
      <p:sp>
        <p:nvSpPr>
          <p:cNvPr id="11285" name="Text Box 33"/>
          <p:cNvSpPr txBox="1">
            <a:spLocks noChangeArrowheads="1"/>
          </p:cNvSpPr>
          <p:nvPr/>
        </p:nvSpPr>
        <p:spPr bwMode="auto">
          <a:xfrm>
            <a:off x="4724400" y="3014246"/>
            <a:ext cx="33774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err="1">
                <a:solidFill>
                  <a:srgbClr val="CC0000"/>
                </a:solidFill>
                <a:latin typeface="맑은 고딕"/>
                <a:ea typeface="맑은 고딕" pitchFamily="50" charset="-127"/>
              </a:rPr>
              <a:t>Nguyên</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nhân</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không</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ngẫu</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nhiên</a:t>
            </a:r>
            <a:endParaRPr lang="ko-KR" altLang="en-US" sz="1600" b="1" dirty="0">
              <a:solidFill>
                <a:srgbClr val="CC0000"/>
              </a:solidFill>
              <a:latin typeface="맑은 고딕"/>
              <a:ea typeface="맑은 고딕" pitchFamily="50" charset="-127"/>
            </a:endParaRPr>
          </a:p>
        </p:txBody>
      </p:sp>
      <p:sp>
        <p:nvSpPr>
          <p:cNvPr id="11286" name="Text Box 34"/>
          <p:cNvSpPr txBox="1">
            <a:spLocks noChangeArrowheads="1"/>
          </p:cNvSpPr>
          <p:nvPr/>
        </p:nvSpPr>
        <p:spPr bwMode="auto">
          <a:xfrm>
            <a:off x="5091924" y="3800574"/>
            <a:ext cx="20538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err="1">
                <a:solidFill>
                  <a:srgbClr val="008000"/>
                </a:solidFill>
                <a:latin typeface="맑은 고딕"/>
                <a:ea typeface="맑은 고딕" pitchFamily="50" charset="-127"/>
              </a:rPr>
              <a:t>Nguyên</a:t>
            </a:r>
            <a:r>
              <a:rPr lang="en-US" altLang="ko-KR" sz="1200" b="1" dirty="0">
                <a:solidFill>
                  <a:srgbClr val="008000"/>
                </a:solidFill>
                <a:latin typeface="맑은 고딕"/>
                <a:ea typeface="맑은 고딕" pitchFamily="50" charset="-127"/>
              </a:rPr>
              <a:t> </a:t>
            </a:r>
            <a:r>
              <a:rPr lang="en-US" altLang="ko-KR" sz="1200" b="1" dirty="0" err="1">
                <a:solidFill>
                  <a:srgbClr val="008000"/>
                </a:solidFill>
                <a:latin typeface="맑은 고딕"/>
                <a:ea typeface="맑은 고딕" pitchFamily="50" charset="-127"/>
              </a:rPr>
              <a:t>nhân</a:t>
            </a:r>
            <a:r>
              <a:rPr lang="en-US" altLang="ko-KR" sz="1200" b="1" dirty="0">
                <a:solidFill>
                  <a:srgbClr val="008000"/>
                </a:solidFill>
                <a:latin typeface="맑은 고딕"/>
                <a:ea typeface="맑은 고딕" pitchFamily="50" charset="-127"/>
              </a:rPr>
              <a:t> </a:t>
            </a:r>
            <a:r>
              <a:rPr lang="en-US" altLang="ko-KR" sz="1200" b="1" dirty="0" err="1">
                <a:solidFill>
                  <a:srgbClr val="008000"/>
                </a:solidFill>
                <a:latin typeface="맑은 고딕"/>
                <a:ea typeface="맑은 고딕" pitchFamily="50" charset="-127"/>
              </a:rPr>
              <a:t>ngẫu</a:t>
            </a:r>
            <a:r>
              <a:rPr lang="en-US" altLang="ko-KR" sz="1200" b="1" dirty="0">
                <a:solidFill>
                  <a:srgbClr val="008000"/>
                </a:solidFill>
                <a:latin typeface="맑은 고딕"/>
                <a:ea typeface="맑은 고딕" pitchFamily="50" charset="-127"/>
              </a:rPr>
              <a:t> </a:t>
            </a:r>
            <a:r>
              <a:rPr lang="en-US" altLang="ko-KR" sz="1200" b="1" dirty="0" err="1">
                <a:solidFill>
                  <a:srgbClr val="008000"/>
                </a:solidFill>
                <a:latin typeface="맑은 고딕"/>
                <a:ea typeface="맑은 고딕" pitchFamily="50" charset="-127"/>
              </a:rPr>
              <a:t>nhiên</a:t>
            </a:r>
            <a:endParaRPr lang="ko-KR" altLang="en-US" sz="1200" b="1" dirty="0">
              <a:solidFill>
                <a:srgbClr val="008000"/>
              </a:solidFill>
              <a:latin typeface="맑은 고딕"/>
              <a:ea typeface="맑은 고딕" pitchFamily="50" charset="-127"/>
            </a:endParaRPr>
          </a:p>
        </p:txBody>
      </p:sp>
      <p:sp>
        <p:nvSpPr>
          <p:cNvPr id="11287" name="Text Box 35"/>
          <p:cNvSpPr txBox="1">
            <a:spLocks noChangeArrowheads="1"/>
          </p:cNvSpPr>
          <p:nvPr/>
        </p:nvSpPr>
        <p:spPr bwMode="auto">
          <a:xfrm>
            <a:off x="4876800" y="4583213"/>
            <a:ext cx="33774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err="1">
                <a:solidFill>
                  <a:srgbClr val="CC0000"/>
                </a:solidFill>
                <a:latin typeface="맑은 고딕"/>
                <a:ea typeface="맑은 고딕" pitchFamily="50" charset="-127"/>
              </a:rPr>
              <a:t>Nguyên</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nhân</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không</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ngẫu</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nhiên</a:t>
            </a:r>
            <a:endParaRPr lang="ko-KR" altLang="en-US" sz="1600" b="1" dirty="0">
              <a:solidFill>
                <a:srgbClr val="CC0000"/>
              </a:solidFill>
              <a:latin typeface="맑은 고딕"/>
              <a:ea typeface="맑은 고딕" pitchFamily="50" charset="-127"/>
            </a:endParaRPr>
          </a:p>
        </p:txBody>
      </p:sp>
      <p:sp>
        <p:nvSpPr>
          <p:cNvPr id="11288" name="Rectangle 36"/>
          <p:cNvSpPr>
            <a:spLocks noChangeArrowheads="1"/>
          </p:cNvSpPr>
          <p:nvPr/>
        </p:nvSpPr>
        <p:spPr bwMode="auto">
          <a:xfrm>
            <a:off x="450937" y="640504"/>
            <a:ext cx="2918428" cy="350096"/>
          </a:xfrm>
          <a:prstGeom prst="rect">
            <a:avLst/>
          </a:prstGeom>
          <a:noFill/>
          <a:ln>
            <a:noFill/>
          </a:ln>
          <a:effectLst/>
        </p:spPr>
        <p:txBody>
          <a:bodyPr wrap="none" lIns="102870" tIns="51435" rIns="102870" bIns="51435">
            <a:spAutoFit/>
          </a:bodyPr>
          <a:lstStyle/>
          <a:p>
            <a:pPr defTabSz="1028700" eaLnBrk="0" fontAlgn="base" latinLnBrk="0" hangingPunct="0">
              <a:spcBef>
                <a:spcPct val="0"/>
              </a:spcBef>
              <a:spcAft>
                <a:spcPct val="0"/>
              </a:spcAft>
              <a:defRPr/>
            </a:pPr>
            <a:r>
              <a:rPr lang="en-US" altLang="ko-KR" sz="1600" b="1" dirty="0" err="1">
                <a:solidFill>
                  <a:srgbClr val="000000"/>
                </a:solidFill>
              </a:rPr>
              <a:t>Đường</a:t>
            </a:r>
            <a:r>
              <a:rPr lang="en-US" altLang="ko-KR" sz="1600" b="1" dirty="0">
                <a:solidFill>
                  <a:srgbClr val="000000"/>
                </a:solidFill>
              </a:rPr>
              <a:t> </a:t>
            </a:r>
            <a:r>
              <a:rPr lang="en-US" altLang="ko-KR" sz="1600" b="1" dirty="0" err="1">
                <a:solidFill>
                  <a:srgbClr val="000000"/>
                </a:solidFill>
              </a:rPr>
              <a:t>giới</a:t>
            </a:r>
            <a:r>
              <a:rPr lang="en-US" altLang="ko-KR" sz="1600" b="1" dirty="0">
                <a:solidFill>
                  <a:srgbClr val="000000"/>
                </a:solidFill>
              </a:rPr>
              <a:t> </a:t>
            </a:r>
            <a:r>
              <a:rPr lang="en-US" altLang="ko-KR" sz="1600" b="1" dirty="0" err="1">
                <a:solidFill>
                  <a:srgbClr val="000000"/>
                </a:solidFill>
              </a:rPr>
              <a:t>hạn</a:t>
            </a:r>
            <a:r>
              <a:rPr lang="en-US" altLang="ko-KR" sz="1600" b="1" dirty="0">
                <a:solidFill>
                  <a:srgbClr val="000000"/>
                </a:solidFill>
              </a:rPr>
              <a:t> </a:t>
            </a:r>
            <a:r>
              <a:rPr lang="en-US" altLang="ko-KR" sz="1600" b="1" dirty="0" err="1">
                <a:solidFill>
                  <a:srgbClr val="000000"/>
                </a:solidFill>
              </a:rPr>
              <a:t>quản</a:t>
            </a:r>
            <a:r>
              <a:rPr lang="en-US" altLang="ko-KR" sz="1600" b="1" dirty="0">
                <a:solidFill>
                  <a:srgbClr val="000000"/>
                </a:solidFill>
              </a:rPr>
              <a:t> </a:t>
            </a:r>
            <a:r>
              <a:rPr lang="en-US" altLang="ko-KR" sz="1600" b="1" dirty="0" err="1">
                <a:solidFill>
                  <a:srgbClr val="000000"/>
                </a:solidFill>
              </a:rPr>
              <a:t>lý</a:t>
            </a:r>
            <a:r>
              <a:rPr lang="en-US" altLang="ko-KR" sz="1600" b="1" dirty="0">
                <a:solidFill>
                  <a:srgbClr val="000000"/>
                </a:solidFill>
              </a:rPr>
              <a:t> 3σ</a:t>
            </a:r>
            <a:endParaRPr lang="ko-KR" altLang="en-US" sz="1600" b="1" dirty="0">
              <a:solidFill>
                <a:srgbClr val="000000"/>
              </a:solidFill>
            </a:endParaRPr>
          </a:p>
        </p:txBody>
      </p:sp>
      <p:sp>
        <p:nvSpPr>
          <p:cNvPr id="11289" name="Text Box 40"/>
          <p:cNvSpPr txBox="1">
            <a:spLocks noChangeArrowheads="1"/>
          </p:cNvSpPr>
          <p:nvPr/>
        </p:nvSpPr>
        <p:spPr bwMode="auto">
          <a:xfrm>
            <a:off x="5865638" y="4510188"/>
            <a:ext cx="2712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dirty="0">
                <a:solidFill>
                  <a:prstClr val="black"/>
                </a:solidFill>
                <a:latin typeface="맑은 고딕"/>
                <a:ea typeface="맑은 고딕" pitchFamily="50" charset="-127"/>
              </a:rPr>
              <a:t>*</a:t>
            </a:r>
          </a:p>
        </p:txBody>
      </p:sp>
      <p:sp>
        <p:nvSpPr>
          <p:cNvPr id="11290" name="Text Box 41"/>
          <p:cNvSpPr txBox="1">
            <a:spLocks noChangeArrowheads="1"/>
          </p:cNvSpPr>
          <p:nvPr/>
        </p:nvSpPr>
        <p:spPr bwMode="auto">
          <a:xfrm>
            <a:off x="5865638" y="3675163"/>
            <a:ext cx="2712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dirty="0">
                <a:solidFill>
                  <a:prstClr val="black"/>
                </a:solidFill>
                <a:latin typeface="맑은 고딕"/>
                <a:ea typeface="맑은 고딕" pitchFamily="50" charset="-127"/>
              </a:rPr>
              <a:t>*</a:t>
            </a:r>
          </a:p>
        </p:txBody>
      </p:sp>
      <p:sp>
        <p:nvSpPr>
          <p:cNvPr id="30" name="Text Box 8"/>
          <p:cNvSpPr txBox="1">
            <a:spLocks noChangeArrowheads="1"/>
          </p:cNvSpPr>
          <p:nvPr/>
        </p:nvSpPr>
        <p:spPr bwMode="auto">
          <a:xfrm>
            <a:off x="536331" y="5570558"/>
            <a:ext cx="45801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0" hangingPunct="1">
              <a:spcBef>
                <a:spcPct val="0"/>
              </a:spcBef>
              <a:spcAft>
                <a:spcPct val="0"/>
              </a:spcAft>
            </a:pPr>
            <a:r>
              <a:rPr lang="ko-KR" altLang="en-US" sz="1200" dirty="0">
                <a:solidFill>
                  <a:prstClr val="black"/>
                </a:solidFill>
                <a:latin typeface="맑은 고딕"/>
                <a:ea typeface="맑은 고딕" pitchFamily="50" charset="-127"/>
              </a:rPr>
              <a:t>▶ </a:t>
            </a:r>
            <a:r>
              <a:rPr lang="en-US" altLang="ko-KR" sz="1200" dirty="0">
                <a:solidFill>
                  <a:prstClr val="black"/>
                </a:solidFill>
                <a:latin typeface="맑은 고딕"/>
                <a:ea typeface="맑은 고딕" pitchFamily="50" charset="-127"/>
              </a:rPr>
              <a:t>CL (Center Line) : </a:t>
            </a:r>
            <a:r>
              <a:rPr lang="en-US" altLang="ko-KR" sz="1200" dirty="0" err="1">
                <a:solidFill>
                  <a:prstClr val="black"/>
                </a:solidFill>
                <a:latin typeface="맑은 고딕"/>
                <a:ea typeface="맑은 고딕" pitchFamily="50" charset="-127"/>
              </a:rPr>
              <a:t>Trường</a:t>
            </a:r>
            <a:r>
              <a:rPr lang="en-US" altLang="ko-KR" sz="1200" dirty="0">
                <a:solidFill>
                  <a:prstClr val="black"/>
                </a:solidFill>
                <a:latin typeface="맑은 고딕"/>
                <a:ea typeface="맑은 고딕" pitchFamily="50" charset="-127"/>
              </a:rPr>
              <a:t> </a:t>
            </a:r>
            <a:r>
              <a:rPr lang="en-US" altLang="ko-KR" sz="1200" dirty="0" err="1">
                <a:solidFill>
                  <a:prstClr val="black"/>
                </a:solidFill>
                <a:latin typeface="맑은 고딕"/>
                <a:ea typeface="맑은 고딕" pitchFamily="50" charset="-127"/>
              </a:rPr>
              <a:t>trung</a:t>
            </a:r>
            <a:r>
              <a:rPr lang="en-US" altLang="ko-KR" sz="1200" dirty="0">
                <a:solidFill>
                  <a:prstClr val="black"/>
                </a:solidFill>
                <a:latin typeface="맑은 고딕"/>
                <a:ea typeface="맑은 고딕" pitchFamily="50" charset="-127"/>
              </a:rPr>
              <a:t> </a:t>
            </a:r>
            <a:r>
              <a:rPr lang="en-US" altLang="ko-KR" sz="1200" dirty="0" err="1">
                <a:solidFill>
                  <a:prstClr val="black"/>
                </a:solidFill>
                <a:latin typeface="맑은 고딕"/>
                <a:ea typeface="맑은 고딕" pitchFamily="50" charset="-127"/>
              </a:rPr>
              <a:t>tâm</a:t>
            </a:r>
            <a:r>
              <a:rPr lang="en-US" altLang="ko-KR" sz="1200" dirty="0">
                <a:solidFill>
                  <a:prstClr val="black"/>
                </a:solidFill>
                <a:latin typeface="맑은 고딕"/>
                <a:ea typeface="맑은 고딕" pitchFamily="50" charset="-127"/>
              </a:rPr>
              <a:t>, </a:t>
            </a:r>
            <a:r>
              <a:rPr lang="en-US" altLang="ko-KR" sz="1200" dirty="0" err="1">
                <a:solidFill>
                  <a:prstClr val="black"/>
                </a:solidFill>
                <a:latin typeface="맑은 고딕"/>
                <a:ea typeface="맑은 고딕" pitchFamily="50" charset="-127"/>
              </a:rPr>
              <a:t>trung</a:t>
            </a:r>
            <a:r>
              <a:rPr lang="en-US" altLang="ko-KR" sz="1200" dirty="0">
                <a:solidFill>
                  <a:prstClr val="black"/>
                </a:solidFill>
                <a:latin typeface="맑은 고딕"/>
                <a:ea typeface="맑은 고딕" pitchFamily="50" charset="-127"/>
              </a:rPr>
              <a:t> </a:t>
            </a:r>
            <a:r>
              <a:rPr lang="en-US" altLang="ko-KR" sz="1200" dirty="0" err="1">
                <a:solidFill>
                  <a:prstClr val="black"/>
                </a:solidFill>
                <a:latin typeface="맑은 고딕"/>
                <a:ea typeface="맑은 고딕" pitchFamily="50" charset="-127"/>
              </a:rPr>
              <a:t>bình</a:t>
            </a:r>
            <a:r>
              <a:rPr lang="en-US" altLang="ko-KR" sz="1200" dirty="0">
                <a:solidFill>
                  <a:prstClr val="black"/>
                </a:solidFill>
                <a:latin typeface="맑은 고딕"/>
                <a:ea typeface="맑은 고딕" pitchFamily="50" charset="-127"/>
              </a:rPr>
              <a:t> </a:t>
            </a:r>
            <a:r>
              <a:rPr lang="en-US" altLang="ko-KR" sz="1200" dirty="0" err="1">
                <a:solidFill>
                  <a:prstClr val="black"/>
                </a:solidFill>
                <a:latin typeface="맑은 고딕"/>
                <a:ea typeface="맑은 고딕" pitchFamily="50" charset="-127"/>
              </a:rPr>
              <a:t>toàn</a:t>
            </a:r>
            <a:r>
              <a:rPr lang="en-US" altLang="ko-KR" sz="1200" dirty="0">
                <a:solidFill>
                  <a:prstClr val="black"/>
                </a:solidFill>
                <a:latin typeface="맑은 고딕"/>
                <a:ea typeface="맑은 고딕" pitchFamily="50" charset="-127"/>
              </a:rPr>
              <a:t> </a:t>
            </a:r>
            <a:r>
              <a:rPr lang="en-US" altLang="ko-KR" sz="1200" dirty="0" err="1">
                <a:solidFill>
                  <a:prstClr val="black"/>
                </a:solidFill>
                <a:latin typeface="맑은 고딕"/>
                <a:ea typeface="맑은 고딕" pitchFamily="50" charset="-127"/>
              </a:rPr>
              <a:t>thể</a:t>
            </a:r>
            <a:r>
              <a:rPr lang="en-US" altLang="ko-KR" sz="1200" dirty="0">
                <a:solidFill>
                  <a:prstClr val="black"/>
                </a:solidFill>
                <a:latin typeface="맑은 고딕"/>
                <a:ea typeface="맑은 고딕" pitchFamily="50" charset="-127"/>
              </a:rPr>
              <a:t>(X)</a:t>
            </a:r>
          </a:p>
          <a:p>
            <a:pPr eaLnBrk="1" fontAlgn="base" latinLnBrk="0" hangingPunct="1">
              <a:spcBef>
                <a:spcPct val="0"/>
              </a:spcBef>
              <a:spcAft>
                <a:spcPct val="0"/>
              </a:spcAft>
            </a:pPr>
            <a:r>
              <a:rPr lang="en-US" altLang="ko-KR" sz="1200" dirty="0">
                <a:solidFill>
                  <a:prstClr val="black"/>
                </a:solidFill>
                <a:latin typeface="맑은 고딕"/>
                <a:ea typeface="맑은 고딕" pitchFamily="50" charset="-127"/>
              </a:rPr>
              <a:t>▶ UCL (Upper Control Limit) :(X + 3σ)</a:t>
            </a:r>
          </a:p>
          <a:p>
            <a:pPr eaLnBrk="1" fontAlgn="base" latinLnBrk="0" hangingPunct="1">
              <a:spcBef>
                <a:spcPct val="0"/>
              </a:spcBef>
              <a:spcAft>
                <a:spcPct val="0"/>
              </a:spcAft>
            </a:pPr>
            <a:r>
              <a:rPr lang="en-US" altLang="ko-KR" sz="1200" dirty="0">
                <a:solidFill>
                  <a:prstClr val="black"/>
                </a:solidFill>
                <a:latin typeface="맑은 고딕"/>
                <a:ea typeface="맑은 고딕" pitchFamily="50" charset="-127"/>
              </a:rPr>
              <a:t>▶ LCL (Lower Control Limit) :(X - 3σ)</a:t>
            </a:r>
          </a:p>
        </p:txBody>
      </p:sp>
      <p:cxnSp>
        <p:nvCxnSpPr>
          <p:cNvPr id="4" name="직선 연결선 3"/>
          <p:cNvCxnSpPr/>
          <p:nvPr/>
        </p:nvCxnSpPr>
        <p:spPr>
          <a:xfrm>
            <a:off x="517281" y="5516563"/>
            <a:ext cx="2743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3121977" y="5607292"/>
            <a:ext cx="11136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a:off x="3121977" y="5631104"/>
            <a:ext cx="1099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직선 연결선 35"/>
          <p:cNvCxnSpPr/>
          <p:nvPr/>
        </p:nvCxnSpPr>
        <p:spPr>
          <a:xfrm>
            <a:off x="3239972" y="5794375"/>
            <a:ext cx="11136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3239966" y="5816600"/>
            <a:ext cx="1099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a:off x="3198935" y="5975350"/>
            <a:ext cx="1099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직선 연결선 38"/>
          <p:cNvCxnSpPr/>
          <p:nvPr/>
        </p:nvCxnSpPr>
        <p:spPr>
          <a:xfrm>
            <a:off x="3197469" y="5999163"/>
            <a:ext cx="11136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Text Box 8"/>
          <p:cNvSpPr txBox="1">
            <a:spLocks noChangeArrowheads="1"/>
          </p:cNvSpPr>
          <p:nvPr/>
        </p:nvSpPr>
        <p:spPr bwMode="auto">
          <a:xfrm>
            <a:off x="7636360" y="5241028"/>
            <a:ext cx="10007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762000" eaLnBrk="0" hangingPunct="0">
              <a:defRPr kumimoji="1">
                <a:solidFill>
                  <a:schemeClr val="tx1"/>
                </a:solidFill>
                <a:latin typeface="굴림" pitchFamily="50" charset="-127"/>
                <a:ea typeface="굴림" pitchFamily="50" charset="-127"/>
              </a:defRPr>
            </a:lvl1pPr>
            <a:lvl2pPr marL="742950" indent="-285750" defTabSz="762000" eaLnBrk="0" hangingPunct="0">
              <a:defRPr kumimoji="1">
                <a:solidFill>
                  <a:schemeClr val="tx1"/>
                </a:solidFill>
                <a:latin typeface="굴림" pitchFamily="50" charset="-127"/>
                <a:ea typeface="굴림" pitchFamily="50" charset="-127"/>
              </a:defRPr>
            </a:lvl2pPr>
            <a:lvl3pPr marL="1143000" indent="-228600" defTabSz="762000" eaLnBrk="0" hangingPunct="0">
              <a:defRPr kumimoji="1">
                <a:solidFill>
                  <a:schemeClr val="tx1"/>
                </a:solidFill>
                <a:latin typeface="굴림" pitchFamily="50" charset="-127"/>
                <a:ea typeface="굴림" pitchFamily="50" charset="-127"/>
              </a:defRPr>
            </a:lvl3pPr>
            <a:lvl4pPr marL="1600200" indent="-228600" defTabSz="762000" eaLnBrk="0" hangingPunct="0">
              <a:defRPr kumimoji="1">
                <a:solidFill>
                  <a:schemeClr val="tx1"/>
                </a:solidFill>
                <a:latin typeface="굴림" pitchFamily="50" charset="-127"/>
                <a:ea typeface="굴림" pitchFamily="50" charset="-127"/>
              </a:defRPr>
            </a:lvl4pPr>
            <a:lvl5pPr marL="2057400" indent="-228600" defTabSz="762000" eaLnBrk="0" hangingPunct="0">
              <a:defRPr kumimoji="1">
                <a:solidFill>
                  <a:schemeClr val="tx1"/>
                </a:solidFill>
                <a:latin typeface="굴림" pitchFamily="50" charset="-127"/>
                <a:ea typeface="굴림" pitchFamily="50" charset="-127"/>
              </a:defRPr>
            </a:lvl5pPr>
            <a:lvl6pPr marL="25146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7620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latinLnBrk="0" hangingPunct="1">
              <a:spcBef>
                <a:spcPct val="0"/>
              </a:spcBef>
              <a:spcAft>
                <a:spcPct val="0"/>
              </a:spcAft>
            </a:pPr>
            <a:r>
              <a:rPr lang="en-US" altLang="ko-KR" sz="1200" dirty="0">
                <a:solidFill>
                  <a:prstClr val="black"/>
                </a:solidFill>
                <a:latin typeface="맑은 고딕"/>
                <a:ea typeface="맑은 고딕" pitchFamily="50" charset="-127"/>
              </a:rPr>
              <a:t>cf) USL, LSL</a:t>
            </a:r>
          </a:p>
        </p:txBody>
      </p:sp>
      <p:sp>
        <p:nvSpPr>
          <p:cNvPr id="48" name="Oval 162"/>
          <p:cNvSpPr>
            <a:spLocks noChangeArrowheads="1"/>
          </p:cNvSpPr>
          <p:nvPr/>
        </p:nvSpPr>
        <p:spPr bwMode="auto">
          <a:xfrm>
            <a:off x="3857739" y="3802702"/>
            <a:ext cx="133350" cy="144462"/>
          </a:xfrm>
          <a:prstGeom prst="ellipse">
            <a:avLst/>
          </a:prstGeom>
          <a:noFill/>
          <a:ln w="19050" algn="ctr">
            <a:solidFill>
              <a:srgbClr val="0000FF"/>
            </a:solidFill>
            <a:prstDash val="sysDot"/>
            <a:round/>
            <a:headEnd/>
            <a:tailEnd/>
          </a:ln>
        </p:spPr>
        <p:txBody>
          <a:bodyPr wrap="none" anchor="ctr"/>
          <a:lstStyle/>
          <a:p>
            <a:pPr algn="ctr" fontAlgn="base">
              <a:spcBef>
                <a:spcPct val="0"/>
              </a:spcBef>
              <a:spcAft>
                <a:spcPct val="0"/>
              </a:spcAft>
            </a:pPr>
            <a:endParaRPr kumimoji="1" lang="ko-KR" altLang="en-US" sz="1000" dirty="0">
              <a:solidFill>
                <a:srgbClr val="000000"/>
              </a:solidFill>
            </a:endParaRPr>
          </a:p>
        </p:txBody>
      </p:sp>
      <p:sp>
        <p:nvSpPr>
          <p:cNvPr id="49" name="Text Box 163"/>
          <p:cNvSpPr txBox="1">
            <a:spLocks noChangeArrowheads="1"/>
          </p:cNvSpPr>
          <p:nvPr/>
        </p:nvSpPr>
        <p:spPr bwMode="auto">
          <a:xfrm>
            <a:off x="4111251" y="4324992"/>
            <a:ext cx="1365738" cy="553998"/>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err="1">
                <a:solidFill>
                  <a:srgbClr val="0000FF"/>
                </a:solidFill>
              </a:rPr>
              <a:t>Giá</a:t>
            </a:r>
            <a:r>
              <a:rPr kumimoji="1" lang="en-US" altLang="ko-KR" sz="1000" b="1" dirty="0">
                <a:solidFill>
                  <a:srgbClr val="0000FF"/>
                </a:solidFill>
              </a:rPr>
              <a:t> </a:t>
            </a:r>
            <a:r>
              <a:rPr kumimoji="1" lang="en-US" altLang="ko-KR" sz="1000" b="1" dirty="0" err="1">
                <a:solidFill>
                  <a:srgbClr val="0000FF"/>
                </a:solidFill>
              </a:rPr>
              <a:t>trị</a:t>
            </a:r>
            <a:r>
              <a:rPr kumimoji="1" lang="en-US" altLang="ko-KR" sz="1000" b="1" dirty="0">
                <a:solidFill>
                  <a:srgbClr val="0000FF"/>
                </a:solidFill>
              </a:rPr>
              <a:t> </a:t>
            </a:r>
            <a:r>
              <a:rPr kumimoji="1" lang="en-US" altLang="ko-KR" sz="1000" b="1" dirty="0" err="1">
                <a:solidFill>
                  <a:srgbClr val="0000FF"/>
                </a:solidFill>
              </a:rPr>
              <a:t>quản</a:t>
            </a:r>
            <a:r>
              <a:rPr kumimoji="1" lang="en-US" altLang="ko-KR" sz="1000" b="1" dirty="0">
                <a:solidFill>
                  <a:srgbClr val="0000FF"/>
                </a:solidFill>
              </a:rPr>
              <a:t> </a:t>
            </a:r>
            <a:r>
              <a:rPr kumimoji="1" lang="en-US" altLang="ko-KR" sz="1000" b="1" dirty="0" err="1">
                <a:solidFill>
                  <a:srgbClr val="0000FF"/>
                </a:solidFill>
              </a:rPr>
              <a:t>lý</a:t>
            </a:r>
            <a:r>
              <a:rPr kumimoji="1" lang="en-US" altLang="ko-KR" sz="1000" b="1" dirty="0">
                <a:solidFill>
                  <a:srgbClr val="0000FF"/>
                </a:solidFill>
              </a:rPr>
              <a:t>(</a:t>
            </a:r>
            <a:r>
              <a:rPr kumimoji="1" lang="en-US" altLang="ko-KR" sz="1000" b="1" dirty="0" err="1">
                <a:solidFill>
                  <a:srgbClr val="0000FF"/>
                </a:solidFill>
              </a:rPr>
              <a:t>trung</a:t>
            </a:r>
            <a:r>
              <a:rPr kumimoji="1" lang="en-US" altLang="ko-KR" sz="1000" b="1" dirty="0">
                <a:solidFill>
                  <a:srgbClr val="0000FF"/>
                </a:solidFill>
              </a:rPr>
              <a:t> </a:t>
            </a:r>
            <a:r>
              <a:rPr kumimoji="1" lang="en-US" altLang="ko-KR" sz="1000" b="1" dirty="0" err="1">
                <a:solidFill>
                  <a:srgbClr val="0000FF"/>
                </a:solidFill>
              </a:rPr>
              <a:t>bình</a:t>
            </a:r>
            <a:r>
              <a:rPr kumimoji="1" lang="en-US" altLang="ko-KR" sz="1000" b="1" dirty="0">
                <a:solidFill>
                  <a:srgbClr val="0000FF"/>
                </a:solidFill>
              </a:rPr>
              <a:t> </a:t>
            </a:r>
            <a:r>
              <a:rPr kumimoji="1" lang="en-US" altLang="ko-KR" sz="1000" b="1" dirty="0" err="1">
                <a:solidFill>
                  <a:srgbClr val="0000FF"/>
                </a:solidFill>
              </a:rPr>
              <a:t>trong</a:t>
            </a:r>
            <a:r>
              <a:rPr kumimoji="1" lang="en-US" altLang="ko-KR" sz="1000" b="1" dirty="0">
                <a:solidFill>
                  <a:srgbClr val="0000FF"/>
                </a:solidFill>
              </a:rPr>
              <a:t> </a:t>
            </a:r>
            <a:r>
              <a:rPr kumimoji="1" lang="en-US" altLang="ko-KR" sz="1000" b="1" dirty="0" err="1">
                <a:solidFill>
                  <a:srgbClr val="0000FF"/>
                </a:solidFill>
              </a:rPr>
              <a:t>nhóm</a:t>
            </a:r>
            <a:r>
              <a:rPr kumimoji="1" lang="en-US" altLang="ko-KR" sz="1000" b="1" dirty="0">
                <a:solidFill>
                  <a:srgbClr val="0000FF"/>
                </a:solidFill>
              </a:rPr>
              <a:t>)</a:t>
            </a:r>
          </a:p>
        </p:txBody>
      </p:sp>
      <p:cxnSp>
        <p:nvCxnSpPr>
          <p:cNvPr id="50" name="AutoShape 173"/>
          <p:cNvCxnSpPr>
            <a:cxnSpLocks noChangeShapeType="1"/>
            <a:endCxn id="48" idx="4"/>
          </p:cNvCxnSpPr>
          <p:nvPr/>
        </p:nvCxnSpPr>
        <p:spPr bwMode="auto">
          <a:xfrm rot="16200000" flipV="1">
            <a:off x="3834782" y="4036065"/>
            <a:ext cx="539750" cy="361950"/>
          </a:xfrm>
          <a:prstGeom prst="curvedConnector3">
            <a:avLst>
              <a:gd name="adj1" fmla="val 50000"/>
            </a:avLst>
          </a:prstGeom>
          <a:noFill/>
          <a:ln w="19050">
            <a:solidFill>
              <a:srgbClr val="0000FF"/>
            </a:solidFill>
            <a:prstDash val="sysDot"/>
            <a:round/>
            <a:headEnd/>
            <a:tailEnd type="triangle" w="med" len="med"/>
          </a:ln>
        </p:spPr>
      </p:cxnSp>
      <p:sp>
        <p:nvSpPr>
          <p:cNvPr id="51" name="타원 50"/>
          <p:cNvSpPr/>
          <p:nvPr/>
        </p:nvSpPr>
        <p:spPr>
          <a:xfrm>
            <a:off x="3626209" y="4272605"/>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2" name="타원 51"/>
          <p:cNvSpPr/>
          <p:nvPr/>
        </p:nvSpPr>
        <p:spPr>
          <a:xfrm>
            <a:off x="3889979" y="384397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3" name="타원 52"/>
          <p:cNvSpPr/>
          <p:nvPr/>
        </p:nvSpPr>
        <p:spPr>
          <a:xfrm>
            <a:off x="4285632" y="377253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4" name="타원 53"/>
          <p:cNvSpPr/>
          <p:nvPr/>
        </p:nvSpPr>
        <p:spPr>
          <a:xfrm>
            <a:off x="4615344" y="3415354"/>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5" name="타원 54"/>
          <p:cNvSpPr/>
          <p:nvPr/>
        </p:nvSpPr>
        <p:spPr>
          <a:xfrm>
            <a:off x="4945055" y="405828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6" name="타원 55"/>
          <p:cNvSpPr/>
          <p:nvPr/>
        </p:nvSpPr>
        <p:spPr>
          <a:xfrm>
            <a:off x="5340709" y="434403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7" name="타원 56"/>
          <p:cNvSpPr/>
          <p:nvPr/>
        </p:nvSpPr>
        <p:spPr>
          <a:xfrm>
            <a:off x="5604479" y="370110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8" name="타원 57"/>
          <p:cNvSpPr/>
          <p:nvPr/>
        </p:nvSpPr>
        <p:spPr>
          <a:xfrm>
            <a:off x="5919535" y="3986855"/>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9" name="타원 58"/>
          <p:cNvSpPr/>
          <p:nvPr/>
        </p:nvSpPr>
        <p:spPr>
          <a:xfrm>
            <a:off x="6265367" y="3915414"/>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60" name="직선 연결선 59"/>
          <p:cNvCxnSpPr>
            <a:stCxn id="51" idx="7"/>
            <a:endCxn id="52" idx="3"/>
          </p:cNvCxnSpPr>
          <p:nvPr/>
        </p:nvCxnSpPr>
        <p:spPr>
          <a:xfrm rot="5400000" flipH="1" flipV="1">
            <a:off x="3602091" y="3985571"/>
            <a:ext cx="379412"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a:stCxn id="52" idx="6"/>
            <a:endCxn id="53" idx="3"/>
          </p:cNvCxnSpPr>
          <p:nvPr/>
        </p:nvCxnSpPr>
        <p:spPr>
          <a:xfrm flipV="1">
            <a:off x="3955920" y="3832864"/>
            <a:ext cx="339969" cy="460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a:stCxn id="53" idx="7"/>
            <a:endCxn id="54" idx="2"/>
          </p:cNvCxnSpPr>
          <p:nvPr/>
        </p:nvCxnSpPr>
        <p:spPr>
          <a:xfrm rot="5400000" flipH="1" flipV="1">
            <a:off x="4312376" y="3480684"/>
            <a:ext cx="333375" cy="2725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a:stCxn id="55" idx="5"/>
            <a:endCxn id="56" idx="1"/>
          </p:cNvCxnSpPr>
          <p:nvPr/>
        </p:nvCxnSpPr>
        <p:spPr>
          <a:xfrm rot="16200000" flipH="1">
            <a:off x="5058317" y="4062502"/>
            <a:ext cx="236538" cy="3487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54" idx="5"/>
            <a:endCxn id="55" idx="1"/>
          </p:cNvCxnSpPr>
          <p:nvPr/>
        </p:nvCxnSpPr>
        <p:spPr>
          <a:xfrm rot="16200000" flipH="1">
            <a:off x="4517042" y="3631133"/>
            <a:ext cx="593725" cy="282819"/>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p:cNvCxnSpPr>
            <a:stCxn id="56" idx="7"/>
            <a:endCxn id="57" idx="3"/>
          </p:cNvCxnSpPr>
          <p:nvPr/>
        </p:nvCxnSpPr>
        <p:spPr>
          <a:xfrm rot="5400000" flipH="1" flipV="1">
            <a:off x="5209435" y="3949853"/>
            <a:ext cx="593725"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6" name="직선 연결선 65"/>
          <p:cNvCxnSpPr>
            <a:stCxn id="57" idx="5"/>
            <a:endCxn id="58" idx="1"/>
          </p:cNvCxnSpPr>
          <p:nvPr/>
        </p:nvCxnSpPr>
        <p:spPr>
          <a:xfrm rot="16200000" flipH="1">
            <a:off x="5677444" y="3745614"/>
            <a:ext cx="236537" cy="268166"/>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a:stCxn id="58" idx="6"/>
            <a:endCxn id="59" idx="2"/>
          </p:cNvCxnSpPr>
          <p:nvPr/>
        </p:nvCxnSpPr>
        <p:spPr>
          <a:xfrm flipV="1">
            <a:off x="5985478" y="3950339"/>
            <a:ext cx="279888" cy="714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68" name="타원 67"/>
          <p:cNvSpPr/>
          <p:nvPr/>
        </p:nvSpPr>
        <p:spPr>
          <a:xfrm>
            <a:off x="6595079" y="3772539"/>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9" name="타원 68"/>
          <p:cNvSpPr/>
          <p:nvPr/>
        </p:nvSpPr>
        <p:spPr>
          <a:xfrm>
            <a:off x="6832472" y="4201164"/>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0" name="직선 연결선 69"/>
          <p:cNvCxnSpPr>
            <a:stCxn id="59" idx="7"/>
            <a:endCxn id="68" idx="2"/>
          </p:cNvCxnSpPr>
          <p:nvPr/>
        </p:nvCxnSpPr>
        <p:spPr>
          <a:xfrm rot="5400000" flipH="1" flipV="1">
            <a:off x="6398534" y="3729982"/>
            <a:ext cx="119063" cy="27402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1" name="직선 연결선 70"/>
          <p:cNvCxnSpPr>
            <a:stCxn id="68" idx="5"/>
            <a:endCxn id="69" idx="1"/>
          </p:cNvCxnSpPr>
          <p:nvPr/>
        </p:nvCxnSpPr>
        <p:spPr>
          <a:xfrm rot="16200000" flipH="1">
            <a:off x="6557040" y="3926590"/>
            <a:ext cx="379413" cy="191965"/>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flipH="1">
            <a:off x="2275451" y="3534107"/>
            <a:ext cx="964515" cy="872970"/>
            <a:chOff x="1439863" y="2933700"/>
            <a:chExt cx="1154112" cy="976313"/>
          </a:xfrm>
        </p:grpSpPr>
        <p:sp>
          <p:nvSpPr>
            <p:cNvPr id="72" name="타원 71"/>
            <p:cNvSpPr/>
            <p:nvPr/>
          </p:nvSpPr>
          <p:spPr>
            <a:xfrm>
              <a:off x="1439863" y="33909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3" name="타원 72"/>
            <p:cNvSpPr/>
            <p:nvPr/>
          </p:nvSpPr>
          <p:spPr>
            <a:xfrm>
              <a:off x="1666875" y="3503613"/>
              <a:ext cx="71438"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4" name="타원 73"/>
            <p:cNvSpPr/>
            <p:nvPr/>
          </p:nvSpPr>
          <p:spPr>
            <a:xfrm>
              <a:off x="1944688" y="36068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5" name="타원 74"/>
            <p:cNvSpPr/>
            <p:nvPr/>
          </p:nvSpPr>
          <p:spPr>
            <a:xfrm>
              <a:off x="1944688" y="31543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6" name="타원 75"/>
            <p:cNvSpPr/>
            <p:nvPr/>
          </p:nvSpPr>
          <p:spPr>
            <a:xfrm>
              <a:off x="1666875" y="3260725"/>
              <a:ext cx="71438"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7" name="타원 76"/>
            <p:cNvSpPr/>
            <p:nvPr/>
          </p:nvSpPr>
          <p:spPr>
            <a:xfrm>
              <a:off x="1666875" y="3379788"/>
              <a:ext cx="71438"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8" name="타원 77"/>
            <p:cNvSpPr/>
            <p:nvPr/>
          </p:nvSpPr>
          <p:spPr>
            <a:xfrm>
              <a:off x="1944688" y="349091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9" name="타원 78"/>
            <p:cNvSpPr/>
            <p:nvPr/>
          </p:nvSpPr>
          <p:spPr>
            <a:xfrm>
              <a:off x="1944688" y="326072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0" name="타원 79"/>
            <p:cNvSpPr/>
            <p:nvPr/>
          </p:nvSpPr>
          <p:spPr>
            <a:xfrm>
              <a:off x="1944688" y="3379788"/>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1" name="타원 80"/>
            <p:cNvSpPr/>
            <p:nvPr/>
          </p:nvSpPr>
          <p:spPr>
            <a:xfrm>
              <a:off x="2224088" y="36068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2" name="타원 81"/>
            <p:cNvSpPr/>
            <p:nvPr/>
          </p:nvSpPr>
          <p:spPr>
            <a:xfrm>
              <a:off x="2224088" y="31543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3" name="타원 82"/>
            <p:cNvSpPr/>
            <p:nvPr/>
          </p:nvSpPr>
          <p:spPr>
            <a:xfrm>
              <a:off x="2224088" y="350361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4" name="타원 83"/>
            <p:cNvSpPr/>
            <p:nvPr/>
          </p:nvSpPr>
          <p:spPr>
            <a:xfrm>
              <a:off x="2224088" y="326072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5" name="타원 84"/>
            <p:cNvSpPr/>
            <p:nvPr/>
          </p:nvSpPr>
          <p:spPr>
            <a:xfrm>
              <a:off x="2224088" y="3379788"/>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6" name="타원 85"/>
            <p:cNvSpPr/>
            <p:nvPr/>
          </p:nvSpPr>
          <p:spPr>
            <a:xfrm>
              <a:off x="2224088" y="37131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7" name="타원 86"/>
            <p:cNvSpPr/>
            <p:nvPr/>
          </p:nvSpPr>
          <p:spPr>
            <a:xfrm>
              <a:off x="2224088" y="30527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8" name="타원 87"/>
            <p:cNvSpPr/>
            <p:nvPr/>
          </p:nvSpPr>
          <p:spPr>
            <a:xfrm>
              <a:off x="2522538" y="36068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9" name="타원 88"/>
            <p:cNvSpPr/>
            <p:nvPr/>
          </p:nvSpPr>
          <p:spPr>
            <a:xfrm>
              <a:off x="2522538" y="31543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0" name="타원 89"/>
            <p:cNvSpPr/>
            <p:nvPr/>
          </p:nvSpPr>
          <p:spPr>
            <a:xfrm>
              <a:off x="2522538" y="350361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1" name="타원 90"/>
            <p:cNvSpPr/>
            <p:nvPr/>
          </p:nvSpPr>
          <p:spPr>
            <a:xfrm>
              <a:off x="2522538" y="326072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2" name="타원 91"/>
            <p:cNvSpPr/>
            <p:nvPr/>
          </p:nvSpPr>
          <p:spPr>
            <a:xfrm>
              <a:off x="2522538" y="3379788"/>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3" name="타원 92"/>
            <p:cNvSpPr/>
            <p:nvPr/>
          </p:nvSpPr>
          <p:spPr>
            <a:xfrm>
              <a:off x="2522538" y="37131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4" name="타원 93"/>
            <p:cNvSpPr/>
            <p:nvPr/>
          </p:nvSpPr>
          <p:spPr>
            <a:xfrm>
              <a:off x="2522538" y="3052763"/>
              <a:ext cx="71437"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5" name="타원 94"/>
            <p:cNvSpPr/>
            <p:nvPr/>
          </p:nvSpPr>
          <p:spPr>
            <a:xfrm>
              <a:off x="2522538" y="293370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6" name="타원 95"/>
            <p:cNvSpPr/>
            <p:nvPr/>
          </p:nvSpPr>
          <p:spPr>
            <a:xfrm>
              <a:off x="2522538" y="3838575"/>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97" name="타원 96"/>
            <p:cNvSpPr/>
            <p:nvPr/>
          </p:nvSpPr>
          <p:spPr>
            <a:xfrm>
              <a:off x="1439863" y="3384550"/>
              <a:ext cx="71437"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grpSp>
      <p:sp>
        <p:nvSpPr>
          <p:cNvPr id="99"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ko-KR" altLang="en-US" sz="2000" b="1" dirty="0">
                <a:solidFill>
                  <a:prstClr val="black"/>
                </a:solidFill>
              </a:rPr>
              <a:t> </a:t>
            </a:r>
            <a:r>
              <a:rPr kumimoji="1" lang="en-US" altLang="ko-KR" sz="2000" b="1" dirty="0">
                <a:solidFill>
                  <a:prstClr val="black"/>
                </a:solidFill>
              </a:rPr>
              <a:t>(</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101"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294</a:t>
            </a:fld>
            <a:endParaRPr lang="ko-KR" altLang="en-US" sz="1200" dirty="0">
              <a:solidFill>
                <a:prstClr val="black"/>
              </a:solidFill>
            </a:endParaRPr>
          </a:p>
        </p:txBody>
      </p:sp>
    </p:spTree>
    <p:extLst>
      <p:ext uri="{BB962C8B-B14F-4D97-AF65-F5344CB8AC3E}">
        <p14:creationId xmlns:p14="http://schemas.microsoft.com/office/powerpoint/2010/main" val="22758565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ppt_x"/>
                                          </p:val>
                                        </p:tav>
                                        <p:tav tm="100000">
                                          <p:val>
                                            <p:strVal val="#ppt_x"/>
                                          </p:val>
                                        </p:tav>
                                      </p:tavLst>
                                    </p:anim>
                                    <p:anim calcmode="lin" valueType="num">
                                      <p:cBhvr additive="base">
                                        <p:cTn id="8"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ppt_x"/>
                                          </p:val>
                                        </p:tav>
                                        <p:tav tm="100000">
                                          <p:val>
                                            <p:strVal val="#ppt_x"/>
                                          </p:val>
                                        </p:tav>
                                      </p:tavLst>
                                    </p:anim>
                                    <p:anim calcmode="lin" valueType="num">
                                      <p:cBhvr additive="base">
                                        <p:cTn id="14"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utoUpdateAnimBg="0"/>
      <p:bldP spid="42" grpId="0" autoUpdateAnimBg="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17989" y="685800"/>
            <a:ext cx="8678979" cy="73250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Nếu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gọi</a:t>
            </a:r>
            <a:r>
              <a:rPr kumimoji="1" lang="en-US" altLang="ko-KR" sz="1600" b="1" dirty="0">
                <a:solidFill>
                  <a:prstClr val="black"/>
                </a:solidFill>
                <a:latin typeface="굴림" pitchFamily="50" charset="-127"/>
                <a:ea typeface="굴림" pitchFamily="50" charset="-127"/>
              </a:rPr>
              <a:t> UCL</a:t>
            </a:r>
            <a:r>
              <a:rPr kumimoji="1" lang="ko-KR" altLang="en-US"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a:t>
            </a:r>
            <a:r>
              <a:rPr kumimoji="1" lang="ko-KR" altLang="en-US" sz="1600" b="1" dirty="0">
                <a:solidFill>
                  <a:prstClr val="black"/>
                </a:solidFill>
                <a:latin typeface="굴림" pitchFamily="50" charset="-127"/>
                <a:ea typeface="굴림" pitchFamily="50" charset="-127"/>
              </a:rPr>
              <a:t> </a:t>
            </a:r>
            <a:r>
              <a:rPr kumimoji="1" lang="en-US" altLang="ko-KR" sz="1600" b="1" dirty="0">
                <a:solidFill>
                  <a:prstClr val="black"/>
                </a:solidFill>
                <a:latin typeface="굴림" pitchFamily="50" charset="-127"/>
                <a:ea typeface="굴림" pitchFamily="50" charset="-127"/>
              </a:rPr>
              <a:t>LCL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của</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thì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sẽ</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phải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xem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xét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thường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xuyên</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đến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mức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độ</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nào</a:t>
            </a:r>
            <a:r>
              <a:rPr kumimoji="1" lang="en-US" altLang="ko-KR" sz="1600" b="1" dirty="0">
                <a:solidFill>
                  <a:prstClr val="black"/>
                </a:solidFill>
                <a:latin typeface="굴림" pitchFamily="50" charset="-127"/>
                <a:ea typeface="굴림" pitchFamily="50" charset="-127"/>
              </a:rPr>
              <a:t>?   </a:t>
            </a:r>
            <a:endParaRPr kumimoji="1" lang="ko-KR" altLang="en-US" sz="1600" b="1" dirty="0">
              <a:solidFill>
                <a:prstClr val="black"/>
              </a:solidFill>
              <a:latin typeface="굴림" pitchFamily="50" charset="-127"/>
              <a:ea typeface="굴림" pitchFamily="50" charset="-127"/>
            </a:endParaRPr>
          </a:p>
        </p:txBody>
      </p:sp>
      <p:sp>
        <p:nvSpPr>
          <p:cNvPr id="5" name="Rectangle 189"/>
          <p:cNvSpPr>
            <a:spLocks noChangeArrowheads="1"/>
          </p:cNvSpPr>
          <p:nvPr/>
        </p:nvSpPr>
        <p:spPr bwMode="auto">
          <a:xfrm>
            <a:off x="304800" y="1447800"/>
            <a:ext cx="8456812" cy="2943525"/>
          </a:xfrm>
          <a:prstGeom prst="rect">
            <a:avLst/>
          </a:prstGeom>
          <a:solidFill>
            <a:schemeClr val="bg1">
              <a:lumMod val="95000"/>
            </a:schemeClr>
          </a:solidFill>
          <a:ln w="9525" algn="ctr">
            <a:noFill/>
            <a:miter lim="800000"/>
            <a:headEnd/>
            <a:tailEnd/>
          </a:ln>
        </p:spPr>
        <p:txBody>
          <a:bodyPr wrap="none" anchor="ctr"/>
          <a:lstStyle/>
          <a:p>
            <a:pPr algn="ctr" fontAlgn="base">
              <a:spcBef>
                <a:spcPct val="0"/>
              </a:spcBef>
              <a:spcAft>
                <a:spcPct val="0"/>
              </a:spcAft>
            </a:pPr>
            <a:endParaRPr kumimoji="1" lang="ko-KR" altLang="en-US" sz="1600" b="1" dirty="0">
              <a:solidFill>
                <a:srgbClr val="000000"/>
              </a:solidFill>
            </a:endParaRPr>
          </a:p>
        </p:txBody>
      </p:sp>
      <p:sp>
        <p:nvSpPr>
          <p:cNvPr id="6" name="직사각형 5"/>
          <p:cNvSpPr/>
          <p:nvPr/>
        </p:nvSpPr>
        <p:spPr>
          <a:xfrm>
            <a:off x="2467007" y="1992445"/>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7" name="직사각형 6"/>
          <p:cNvSpPr/>
          <p:nvPr/>
        </p:nvSpPr>
        <p:spPr>
          <a:xfrm>
            <a:off x="2270471" y="4036352"/>
            <a:ext cx="6028942" cy="22338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pic>
        <p:nvPicPr>
          <p:cNvPr id="8" name="Picture 148"/>
          <p:cNvPicPr>
            <a:picLocks noChangeAspect="1" noChangeArrowheads="1"/>
          </p:cNvPicPr>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44294" y="1965796"/>
            <a:ext cx="1443404" cy="2293938"/>
          </a:xfrm>
          <a:prstGeom prst="rect">
            <a:avLst/>
          </a:prstGeom>
          <a:noFill/>
          <a:ln w="9525">
            <a:noFill/>
            <a:miter lim="800000"/>
            <a:headEnd/>
            <a:tailEnd/>
          </a:ln>
        </p:spPr>
      </p:pic>
      <p:sp>
        <p:nvSpPr>
          <p:cNvPr id="9" name="Text Box 158"/>
          <p:cNvSpPr txBox="1">
            <a:spLocks noChangeArrowheads="1"/>
          </p:cNvSpPr>
          <p:nvPr/>
        </p:nvSpPr>
        <p:spPr bwMode="auto">
          <a:xfrm>
            <a:off x="846467" y="2046762"/>
            <a:ext cx="1263162"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err="1">
                <a:solidFill>
                  <a:srgbClr val="0000FF"/>
                </a:solidFill>
              </a:rPr>
              <a:t>Giới</a:t>
            </a:r>
            <a:r>
              <a:rPr kumimoji="1" lang="en-US" altLang="ko-KR" sz="1200" b="1" dirty="0">
                <a:solidFill>
                  <a:srgbClr val="0000FF"/>
                </a:solidFill>
              </a:rPr>
              <a:t> </a:t>
            </a:r>
            <a:r>
              <a:rPr kumimoji="1" lang="en-US" altLang="ko-KR" sz="1200" b="1" dirty="0" err="1">
                <a:solidFill>
                  <a:srgbClr val="0000FF"/>
                </a:solidFill>
              </a:rPr>
              <a:t>hạn</a:t>
            </a:r>
            <a:r>
              <a:rPr kumimoji="1" lang="en-US" altLang="ko-KR" sz="1200" b="1" dirty="0">
                <a:solidFill>
                  <a:srgbClr val="0000FF"/>
                </a:solidFill>
              </a:rPr>
              <a:t> </a:t>
            </a:r>
            <a:r>
              <a:rPr kumimoji="1" lang="en-US" altLang="ko-KR" sz="1200" b="1" dirty="0" err="1">
                <a:solidFill>
                  <a:srgbClr val="0000FF"/>
                </a:solidFill>
              </a:rPr>
              <a:t>quản</a:t>
            </a:r>
            <a:r>
              <a:rPr kumimoji="1" lang="en-US" altLang="ko-KR" sz="1200" b="1" dirty="0">
                <a:solidFill>
                  <a:srgbClr val="0000FF"/>
                </a:solidFill>
              </a:rPr>
              <a:t> </a:t>
            </a:r>
            <a:r>
              <a:rPr kumimoji="1" lang="en-US" altLang="ko-KR" sz="1200" b="1" dirty="0" err="1">
                <a:solidFill>
                  <a:srgbClr val="0000FF"/>
                </a:solidFill>
              </a:rPr>
              <a:t>lý</a:t>
            </a:r>
            <a:r>
              <a:rPr kumimoji="1" lang="en-US" altLang="ko-KR" sz="1200" b="1" dirty="0">
                <a:solidFill>
                  <a:srgbClr val="0000FF"/>
                </a:solidFill>
              </a:rPr>
              <a:t> </a:t>
            </a:r>
            <a:r>
              <a:rPr kumimoji="1" lang="en-US" altLang="ko-KR" sz="1200" b="1" dirty="0" err="1">
                <a:solidFill>
                  <a:srgbClr val="0000FF"/>
                </a:solidFill>
              </a:rPr>
              <a:t>trên</a:t>
            </a:r>
            <a:r>
              <a:rPr kumimoji="1" lang="en-US" altLang="ko-KR" sz="1200" b="1" dirty="0">
                <a:solidFill>
                  <a:srgbClr val="0000FF"/>
                </a:solidFill>
              </a:rPr>
              <a:t>(UCL)</a:t>
            </a:r>
          </a:p>
        </p:txBody>
      </p:sp>
      <p:sp>
        <p:nvSpPr>
          <p:cNvPr id="10" name="Text Box 159"/>
          <p:cNvSpPr txBox="1">
            <a:spLocks noChangeArrowheads="1"/>
          </p:cNvSpPr>
          <p:nvPr/>
        </p:nvSpPr>
        <p:spPr bwMode="auto">
          <a:xfrm>
            <a:off x="846467" y="3823174"/>
            <a:ext cx="1263162"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err="1">
                <a:solidFill>
                  <a:srgbClr val="0000FF"/>
                </a:solidFill>
              </a:rPr>
              <a:t>Giới</a:t>
            </a:r>
            <a:r>
              <a:rPr kumimoji="1" lang="en-US" altLang="ko-KR" sz="1200" b="1" dirty="0">
                <a:solidFill>
                  <a:srgbClr val="0000FF"/>
                </a:solidFill>
              </a:rPr>
              <a:t> </a:t>
            </a:r>
            <a:r>
              <a:rPr kumimoji="1" lang="en-US" altLang="ko-KR" sz="1200" b="1" dirty="0" err="1">
                <a:solidFill>
                  <a:srgbClr val="0000FF"/>
                </a:solidFill>
              </a:rPr>
              <a:t>hạn</a:t>
            </a:r>
            <a:r>
              <a:rPr kumimoji="1" lang="en-US" altLang="ko-KR" sz="1200" b="1" dirty="0">
                <a:solidFill>
                  <a:srgbClr val="0000FF"/>
                </a:solidFill>
              </a:rPr>
              <a:t> </a:t>
            </a:r>
            <a:r>
              <a:rPr kumimoji="1" lang="en-US" altLang="ko-KR" sz="1200" b="1" dirty="0" err="1">
                <a:solidFill>
                  <a:srgbClr val="0000FF"/>
                </a:solidFill>
              </a:rPr>
              <a:t>quản</a:t>
            </a:r>
            <a:r>
              <a:rPr kumimoji="1" lang="en-US" altLang="ko-KR" sz="1200" b="1" dirty="0">
                <a:solidFill>
                  <a:srgbClr val="0000FF"/>
                </a:solidFill>
              </a:rPr>
              <a:t> </a:t>
            </a:r>
            <a:r>
              <a:rPr kumimoji="1" lang="en-US" altLang="ko-KR" sz="1200" b="1" dirty="0" err="1">
                <a:solidFill>
                  <a:srgbClr val="0000FF"/>
                </a:solidFill>
              </a:rPr>
              <a:t>lý</a:t>
            </a:r>
            <a:r>
              <a:rPr kumimoji="1" lang="en-US" altLang="ko-KR" sz="1200" b="1" dirty="0">
                <a:solidFill>
                  <a:srgbClr val="0000FF"/>
                </a:solidFill>
              </a:rPr>
              <a:t> </a:t>
            </a:r>
            <a:r>
              <a:rPr kumimoji="1" lang="en-US" altLang="ko-KR" sz="1200" b="1" dirty="0" err="1">
                <a:solidFill>
                  <a:srgbClr val="0000FF"/>
                </a:solidFill>
              </a:rPr>
              <a:t>dưới</a:t>
            </a:r>
            <a:r>
              <a:rPr kumimoji="1" lang="en-US" altLang="ko-KR" sz="1200" b="1" dirty="0">
                <a:solidFill>
                  <a:srgbClr val="0000FF"/>
                </a:solidFill>
              </a:rPr>
              <a:t>(LCL)</a:t>
            </a:r>
          </a:p>
        </p:txBody>
      </p:sp>
      <p:cxnSp>
        <p:nvCxnSpPr>
          <p:cNvPr id="11" name="AutoShape 160"/>
          <p:cNvCxnSpPr>
            <a:cxnSpLocks noChangeShapeType="1"/>
            <a:stCxn id="10" idx="3"/>
          </p:cNvCxnSpPr>
          <p:nvPr/>
        </p:nvCxnSpPr>
        <p:spPr bwMode="auto">
          <a:xfrm flipV="1">
            <a:off x="2109629" y="4018435"/>
            <a:ext cx="445478" cy="35572"/>
          </a:xfrm>
          <a:prstGeom prst="curvedConnector3">
            <a:avLst>
              <a:gd name="adj1" fmla="val 50000"/>
            </a:avLst>
          </a:prstGeom>
          <a:noFill/>
          <a:ln w="19050">
            <a:solidFill>
              <a:srgbClr val="0000FF"/>
            </a:solidFill>
            <a:prstDash val="sysDot"/>
            <a:round/>
            <a:headEnd/>
            <a:tailEnd type="triangle" w="med" len="med"/>
          </a:ln>
        </p:spPr>
      </p:cxnSp>
      <p:cxnSp>
        <p:nvCxnSpPr>
          <p:cNvPr id="12" name="AutoShape 161"/>
          <p:cNvCxnSpPr>
            <a:cxnSpLocks noChangeShapeType="1"/>
            <a:stCxn id="9" idx="3"/>
          </p:cNvCxnSpPr>
          <p:nvPr/>
        </p:nvCxnSpPr>
        <p:spPr bwMode="auto">
          <a:xfrm flipV="1">
            <a:off x="2109629" y="2218209"/>
            <a:ext cx="467458" cy="59386"/>
          </a:xfrm>
          <a:prstGeom prst="curvedConnector3">
            <a:avLst>
              <a:gd name="adj1" fmla="val 50000"/>
            </a:avLst>
          </a:prstGeom>
          <a:noFill/>
          <a:ln w="19050">
            <a:solidFill>
              <a:srgbClr val="0000FF"/>
            </a:solidFill>
            <a:prstDash val="sysDot"/>
            <a:round/>
            <a:headEnd/>
            <a:tailEnd type="triangle" w="med" len="med"/>
          </a:ln>
        </p:spPr>
      </p:cxnSp>
      <p:sp>
        <p:nvSpPr>
          <p:cNvPr id="13" name="Oval 162"/>
          <p:cNvSpPr>
            <a:spLocks noChangeArrowheads="1"/>
          </p:cNvSpPr>
          <p:nvPr/>
        </p:nvSpPr>
        <p:spPr bwMode="auto">
          <a:xfrm>
            <a:off x="2959551" y="2853209"/>
            <a:ext cx="133350" cy="144462"/>
          </a:xfrm>
          <a:prstGeom prst="ellipse">
            <a:avLst/>
          </a:prstGeom>
          <a:noFill/>
          <a:ln w="19050" algn="ctr">
            <a:solidFill>
              <a:srgbClr val="0000FF"/>
            </a:solidFill>
            <a:prstDash val="sysDot"/>
            <a:round/>
            <a:headEnd/>
            <a:tailEnd/>
          </a:ln>
        </p:spPr>
        <p:txBody>
          <a:bodyPr wrap="none" anchor="ctr"/>
          <a:lstStyle/>
          <a:p>
            <a:pPr algn="ctr" fontAlgn="base">
              <a:spcBef>
                <a:spcPct val="0"/>
              </a:spcBef>
              <a:spcAft>
                <a:spcPct val="0"/>
              </a:spcAft>
            </a:pPr>
            <a:endParaRPr kumimoji="1" lang="ko-KR" altLang="en-US" sz="1000" dirty="0">
              <a:solidFill>
                <a:srgbClr val="000000"/>
              </a:solidFill>
            </a:endParaRPr>
          </a:p>
        </p:txBody>
      </p:sp>
      <p:sp>
        <p:nvSpPr>
          <p:cNvPr id="14" name="Text Box 163"/>
          <p:cNvSpPr txBox="1">
            <a:spLocks noChangeArrowheads="1"/>
          </p:cNvSpPr>
          <p:nvPr/>
        </p:nvSpPr>
        <p:spPr bwMode="auto">
          <a:xfrm>
            <a:off x="3213063" y="3375497"/>
            <a:ext cx="1365738" cy="553998"/>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err="1">
                <a:solidFill>
                  <a:srgbClr val="0000FF"/>
                </a:solidFill>
              </a:rPr>
              <a:t>Giá</a:t>
            </a:r>
            <a:r>
              <a:rPr kumimoji="1" lang="en-US" altLang="ko-KR" sz="1000" b="1" dirty="0">
                <a:solidFill>
                  <a:srgbClr val="0000FF"/>
                </a:solidFill>
              </a:rPr>
              <a:t> </a:t>
            </a:r>
            <a:r>
              <a:rPr kumimoji="1" lang="en-US" altLang="ko-KR" sz="1000" b="1" dirty="0" err="1">
                <a:solidFill>
                  <a:srgbClr val="0000FF"/>
                </a:solidFill>
              </a:rPr>
              <a:t>trị</a:t>
            </a:r>
            <a:r>
              <a:rPr kumimoji="1" lang="en-US" altLang="ko-KR" sz="1000" b="1" dirty="0">
                <a:solidFill>
                  <a:srgbClr val="0000FF"/>
                </a:solidFill>
              </a:rPr>
              <a:t> </a:t>
            </a:r>
            <a:r>
              <a:rPr kumimoji="1" lang="en-US" altLang="ko-KR" sz="1000" b="1" dirty="0" err="1">
                <a:solidFill>
                  <a:srgbClr val="0000FF"/>
                </a:solidFill>
              </a:rPr>
              <a:t>quản</a:t>
            </a:r>
            <a:r>
              <a:rPr kumimoji="1" lang="en-US" altLang="ko-KR" sz="1000" b="1" dirty="0">
                <a:solidFill>
                  <a:srgbClr val="0000FF"/>
                </a:solidFill>
              </a:rPr>
              <a:t> </a:t>
            </a:r>
            <a:r>
              <a:rPr kumimoji="1" lang="en-US" altLang="ko-KR" sz="1000" b="1" dirty="0" err="1">
                <a:solidFill>
                  <a:srgbClr val="0000FF"/>
                </a:solidFill>
              </a:rPr>
              <a:t>lý</a:t>
            </a:r>
            <a:r>
              <a:rPr kumimoji="1" lang="en-US" altLang="ko-KR" sz="1000" b="1" dirty="0">
                <a:solidFill>
                  <a:srgbClr val="0000FF"/>
                </a:solidFill>
              </a:rPr>
              <a:t>(</a:t>
            </a:r>
            <a:r>
              <a:rPr kumimoji="1" lang="en-US" altLang="ko-KR" sz="1000" b="1" dirty="0" err="1">
                <a:solidFill>
                  <a:srgbClr val="0000FF"/>
                </a:solidFill>
              </a:rPr>
              <a:t>Bình</a:t>
            </a:r>
            <a:r>
              <a:rPr kumimoji="1" lang="en-US" altLang="ko-KR" sz="1000" b="1" dirty="0">
                <a:solidFill>
                  <a:srgbClr val="0000FF"/>
                </a:solidFill>
              </a:rPr>
              <a:t> </a:t>
            </a:r>
            <a:r>
              <a:rPr kumimoji="1" lang="en-US" altLang="ko-KR" sz="1000" b="1" dirty="0" err="1">
                <a:solidFill>
                  <a:srgbClr val="0000FF"/>
                </a:solidFill>
              </a:rPr>
              <a:t>quân</a:t>
            </a:r>
            <a:r>
              <a:rPr kumimoji="1" lang="en-US" altLang="ko-KR" sz="1000" b="1" dirty="0">
                <a:solidFill>
                  <a:srgbClr val="0000FF"/>
                </a:solidFill>
              </a:rPr>
              <a:t> </a:t>
            </a:r>
            <a:r>
              <a:rPr kumimoji="1" lang="en-US" altLang="ko-KR" sz="1000" b="1" dirty="0" err="1">
                <a:solidFill>
                  <a:srgbClr val="0000FF"/>
                </a:solidFill>
              </a:rPr>
              <a:t>trong</a:t>
            </a:r>
            <a:r>
              <a:rPr kumimoji="1" lang="en-US" altLang="ko-KR" sz="1000" b="1" dirty="0">
                <a:solidFill>
                  <a:srgbClr val="0000FF"/>
                </a:solidFill>
              </a:rPr>
              <a:t> </a:t>
            </a:r>
            <a:r>
              <a:rPr kumimoji="1" lang="en-US" altLang="ko-KR" sz="1000" b="1" dirty="0" err="1">
                <a:solidFill>
                  <a:srgbClr val="0000FF"/>
                </a:solidFill>
              </a:rPr>
              <a:t>nhóm</a:t>
            </a:r>
            <a:r>
              <a:rPr kumimoji="1" lang="en-US" altLang="ko-KR" sz="1000" b="1" dirty="0">
                <a:solidFill>
                  <a:srgbClr val="0000FF"/>
                </a:solidFill>
              </a:rPr>
              <a:t>)</a:t>
            </a:r>
          </a:p>
        </p:txBody>
      </p:sp>
      <p:sp>
        <p:nvSpPr>
          <p:cNvPr id="15" name="Text Box 164"/>
          <p:cNvSpPr txBox="1">
            <a:spLocks noChangeArrowheads="1"/>
          </p:cNvSpPr>
          <p:nvPr/>
        </p:nvSpPr>
        <p:spPr bwMode="auto">
          <a:xfrm>
            <a:off x="4026352" y="4180359"/>
            <a:ext cx="1263162" cy="246062"/>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err="1">
                <a:solidFill>
                  <a:srgbClr val="008000"/>
                </a:solidFill>
              </a:rPr>
              <a:t>Số</a:t>
            </a:r>
            <a:r>
              <a:rPr kumimoji="1" lang="en-US" altLang="ko-KR" sz="1000" b="1" dirty="0">
                <a:solidFill>
                  <a:srgbClr val="008000"/>
                </a:solidFill>
              </a:rPr>
              <a:t> </a:t>
            </a:r>
            <a:r>
              <a:rPr kumimoji="1" lang="en-US" altLang="ko-KR" sz="1000" b="1" dirty="0" err="1">
                <a:solidFill>
                  <a:srgbClr val="008000"/>
                </a:solidFill>
              </a:rPr>
              <a:t>nhóm</a:t>
            </a:r>
            <a:endParaRPr kumimoji="1" lang="ko-KR" altLang="en-US" sz="1000" b="1" dirty="0">
              <a:solidFill>
                <a:srgbClr val="008000"/>
              </a:solidFill>
            </a:endParaRPr>
          </a:p>
        </p:txBody>
      </p:sp>
      <p:cxnSp>
        <p:nvCxnSpPr>
          <p:cNvPr id="16" name="AutoShape 173"/>
          <p:cNvCxnSpPr>
            <a:cxnSpLocks noChangeShapeType="1"/>
            <a:endCxn id="13" idx="4"/>
          </p:cNvCxnSpPr>
          <p:nvPr/>
        </p:nvCxnSpPr>
        <p:spPr bwMode="auto">
          <a:xfrm rot="16200000" flipV="1">
            <a:off x="2936594" y="3086572"/>
            <a:ext cx="539750" cy="361950"/>
          </a:xfrm>
          <a:prstGeom prst="curvedConnector3">
            <a:avLst>
              <a:gd name="adj1" fmla="val 50000"/>
            </a:avLst>
          </a:prstGeom>
          <a:noFill/>
          <a:ln w="19050">
            <a:solidFill>
              <a:srgbClr val="0000FF"/>
            </a:solidFill>
            <a:prstDash val="sysDot"/>
            <a:round/>
            <a:headEnd/>
            <a:tailEnd type="triangle" w="med" len="med"/>
          </a:ln>
        </p:spPr>
      </p:cxnSp>
      <p:cxnSp>
        <p:nvCxnSpPr>
          <p:cNvPr id="17" name="직선 연결선 16"/>
          <p:cNvCxnSpPr/>
          <p:nvPr/>
        </p:nvCxnSpPr>
        <p:spPr>
          <a:xfrm>
            <a:off x="2549246" y="3108796"/>
            <a:ext cx="4363915" cy="15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nvGrpSpPr>
          <p:cNvPr id="2" name="그룹 91"/>
          <p:cNvGrpSpPr>
            <a:grpSpLocks/>
          </p:cNvGrpSpPr>
          <p:nvPr/>
        </p:nvGrpSpPr>
        <p:grpSpPr bwMode="auto">
          <a:xfrm>
            <a:off x="2550710" y="2832571"/>
            <a:ext cx="4889989" cy="571500"/>
            <a:chOff x="2870186" y="3009900"/>
            <a:chExt cx="5268496" cy="571500"/>
          </a:xfrm>
        </p:grpSpPr>
        <p:sp>
          <p:nvSpPr>
            <p:cNvPr id="19" name="Line 151"/>
            <p:cNvSpPr>
              <a:spLocks noChangeShapeType="1"/>
            </p:cNvSpPr>
            <p:nvPr/>
          </p:nvSpPr>
          <p:spPr bwMode="auto">
            <a:xfrm>
              <a:off x="2870186" y="30099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0" name="Line 152"/>
            <p:cNvSpPr>
              <a:spLocks noChangeShapeType="1"/>
            </p:cNvSpPr>
            <p:nvPr/>
          </p:nvSpPr>
          <p:spPr bwMode="auto">
            <a:xfrm>
              <a:off x="2889132" y="3581400"/>
              <a:ext cx="5249550" cy="0"/>
            </a:xfrm>
            <a:prstGeom prst="line">
              <a:avLst/>
            </a:prstGeom>
            <a:noFill/>
            <a:ln w="28575">
              <a:solidFill>
                <a:schemeClr val="bg1">
                  <a:lumMod val="65000"/>
                </a:schemeClr>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grpSp>
      <p:sp>
        <p:nvSpPr>
          <p:cNvPr id="21" name="Line 150"/>
          <p:cNvSpPr>
            <a:spLocks noChangeShapeType="1"/>
          </p:cNvSpPr>
          <p:nvPr/>
        </p:nvSpPr>
        <p:spPr bwMode="auto">
          <a:xfrm>
            <a:off x="2550710" y="2516659"/>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2" name="Line 153"/>
          <p:cNvSpPr>
            <a:spLocks noChangeShapeType="1"/>
          </p:cNvSpPr>
          <p:nvPr/>
        </p:nvSpPr>
        <p:spPr bwMode="auto">
          <a:xfrm>
            <a:off x="2565366" y="3702521"/>
            <a:ext cx="5336929" cy="0"/>
          </a:xfrm>
          <a:prstGeom prst="line">
            <a:avLst/>
          </a:prstGeom>
          <a:noFill/>
          <a:ln w="28575">
            <a:solidFill>
              <a:srgbClr val="FFC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23" name="Text Box 166"/>
          <p:cNvSpPr txBox="1">
            <a:spLocks noChangeArrowheads="1"/>
          </p:cNvSpPr>
          <p:nvPr/>
        </p:nvSpPr>
        <p:spPr bwMode="auto">
          <a:xfrm>
            <a:off x="2153592" y="2956398"/>
            <a:ext cx="659423" cy="707886"/>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000" b="1" dirty="0" err="1">
                <a:solidFill>
                  <a:srgbClr val="008000"/>
                </a:solidFill>
              </a:rPr>
              <a:t>Bình</a:t>
            </a:r>
            <a:r>
              <a:rPr kumimoji="1" lang="en-US" altLang="ko-KR" sz="1000" b="1" dirty="0">
                <a:solidFill>
                  <a:srgbClr val="008000"/>
                </a:solidFill>
              </a:rPr>
              <a:t> </a:t>
            </a:r>
            <a:r>
              <a:rPr kumimoji="1" lang="en-US" altLang="ko-KR" sz="1000" b="1" dirty="0" err="1">
                <a:solidFill>
                  <a:srgbClr val="008000"/>
                </a:solidFill>
              </a:rPr>
              <a:t>quân</a:t>
            </a:r>
            <a:r>
              <a:rPr kumimoji="1" lang="en-US" altLang="ko-KR" sz="1000" b="1" dirty="0">
                <a:solidFill>
                  <a:srgbClr val="008000"/>
                </a:solidFill>
              </a:rPr>
              <a:t> </a:t>
            </a:r>
            <a:r>
              <a:rPr kumimoji="1" lang="en-US" altLang="ko-KR" sz="1000" b="1" dirty="0" err="1">
                <a:solidFill>
                  <a:srgbClr val="008000"/>
                </a:solidFill>
              </a:rPr>
              <a:t>toàn</a:t>
            </a:r>
            <a:r>
              <a:rPr kumimoji="1" lang="en-US" altLang="ko-KR" sz="1000" b="1" dirty="0">
                <a:solidFill>
                  <a:srgbClr val="008000"/>
                </a:solidFill>
              </a:rPr>
              <a:t> </a:t>
            </a:r>
            <a:r>
              <a:rPr kumimoji="1" lang="en-US" altLang="ko-KR" sz="1000" b="1" dirty="0" err="1">
                <a:solidFill>
                  <a:srgbClr val="008000"/>
                </a:solidFill>
              </a:rPr>
              <a:t>thể</a:t>
            </a:r>
            <a:endParaRPr kumimoji="1" lang="ko-KR" altLang="en-US" sz="1000" b="1" dirty="0">
              <a:solidFill>
                <a:srgbClr val="008000"/>
              </a:solidFill>
            </a:endParaRPr>
          </a:p>
        </p:txBody>
      </p:sp>
      <p:sp>
        <p:nvSpPr>
          <p:cNvPr id="24" name="Text Box 177"/>
          <p:cNvSpPr txBox="1">
            <a:spLocks noChangeArrowheads="1"/>
          </p:cNvSpPr>
          <p:nvPr/>
        </p:nvSpPr>
        <p:spPr bwMode="auto">
          <a:xfrm>
            <a:off x="6124782" y="1941984"/>
            <a:ext cx="930519" cy="246062"/>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25" name="Text Box 178"/>
          <p:cNvSpPr txBox="1">
            <a:spLocks noChangeArrowheads="1"/>
          </p:cNvSpPr>
          <p:nvPr/>
        </p:nvSpPr>
        <p:spPr bwMode="auto">
          <a:xfrm>
            <a:off x="6124782" y="2235674"/>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26" name="Text Box 179"/>
          <p:cNvSpPr txBox="1">
            <a:spLocks noChangeArrowheads="1"/>
          </p:cNvSpPr>
          <p:nvPr/>
        </p:nvSpPr>
        <p:spPr bwMode="auto">
          <a:xfrm>
            <a:off x="6124782" y="253094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27" name="Text Box 180"/>
          <p:cNvSpPr txBox="1">
            <a:spLocks noChangeArrowheads="1"/>
          </p:cNvSpPr>
          <p:nvPr/>
        </p:nvSpPr>
        <p:spPr bwMode="auto">
          <a:xfrm>
            <a:off x="6124782" y="284844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8" name="Text Box 181"/>
          <p:cNvSpPr txBox="1">
            <a:spLocks noChangeArrowheads="1"/>
          </p:cNvSpPr>
          <p:nvPr/>
        </p:nvSpPr>
        <p:spPr bwMode="auto">
          <a:xfrm>
            <a:off x="6124782" y="312149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0.34130</a:t>
            </a:r>
          </a:p>
        </p:txBody>
      </p:sp>
      <p:sp>
        <p:nvSpPr>
          <p:cNvPr id="29" name="Text Box 182"/>
          <p:cNvSpPr txBox="1">
            <a:spLocks noChangeArrowheads="1"/>
          </p:cNvSpPr>
          <p:nvPr/>
        </p:nvSpPr>
        <p:spPr bwMode="auto">
          <a:xfrm>
            <a:off x="6124782" y="3416773"/>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0.13600</a:t>
            </a:r>
          </a:p>
        </p:txBody>
      </p:sp>
      <p:sp>
        <p:nvSpPr>
          <p:cNvPr id="30" name="Text Box 183"/>
          <p:cNvSpPr txBox="1">
            <a:spLocks noChangeArrowheads="1"/>
          </p:cNvSpPr>
          <p:nvPr/>
        </p:nvSpPr>
        <p:spPr bwMode="auto">
          <a:xfrm>
            <a:off x="6124782" y="3712049"/>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000000"/>
                </a:solidFill>
              </a:rPr>
              <a:t>0.02135</a:t>
            </a:r>
          </a:p>
        </p:txBody>
      </p:sp>
      <p:sp>
        <p:nvSpPr>
          <p:cNvPr id="31" name="Text Box 184"/>
          <p:cNvSpPr txBox="1">
            <a:spLocks noChangeArrowheads="1"/>
          </p:cNvSpPr>
          <p:nvPr/>
        </p:nvSpPr>
        <p:spPr bwMode="auto">
          <a:xfrm>
            <a:off x="6124782" y="4007324"/>
            <a:ext cx="930519" cy="246063"/>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000" b="1" dirty="0">
                <a:solidFill>
                  <a:srgbClr val="FF0000"/>
                </a:solidFill>
              </a:rPr>
              <a:t>0.00135</a:t>
            </a:r>
          </a:p>
        </p:txBody>
      </p:sp>
      <p:sp>
        <p:nvSpPr>
          <p:cNvPr id="32" name="Text Box 195"/>
          <p:cNvSpPr txBox="1">
            <a:spLocks noChangeArrowheads="1"/>
          </p:cNvSpPr>
          <p:nvPr/>
        </p:nvSpPr>
        <p:spPr bwMode="auto">
          <a:xfrm>
            <a:off x="5791200" y="1556222"/>
            <a:ext cx="1562625" cy="400110"/>
          </a:xfrm>
          <a:prstGeom prst="rect">
            <a:avLst/>
          </a:prstGeom>
          <a:noFill/>
          <a:ln w="9525" algn="ctr">
            <a:noFill/>
            <a:miter lim="800000"/>
            <a:headEnd/>
            <a:tailEnd/>
          </a:ln>
        </p:spPr>
        <p:txBody>
          <a:bodyPr wrap="square">
            <a:spAutoFit/>
          </a:bodyPr>
          <a:lstStyle/>
          <a:p>
            <a:pPr algn="ctr" fontAlgn="base">
              <a:spcBef>
                <a:spcPct val="50000"/>
              </a:spcBef>
              <a:spcAft>
                <a:spcPct val="0"/>
              </a:spcAft>
            </a:pPr>
            <a:r>
              <a:rPr kumimoji="1" lang="en-US" altLang="ko-KR" sz="1000" b="1" dirty="0" err="1">
                <a:solidFill>
                  <a:srgbClr val="008000"/>
                </a:solidFill>
              </a:rPr>
              <a:t>Khả</a:t>
            </a:r>
            <a:r>
              <a:rPr kumimoji="1" lang="en-US" altLang="ko-KR" sz="1000" b="1" dirty="0">
                <a:solidFill>
                  <a:srgbClr val="008000"/>
                </a:solidFill>
              </a:rPr>
              <a:t> </a:t>
            </a:r>
            <a:r>
              <a:rPr kumimoji="1" lang="en-US" altLang="ko-KR" sz="1000" b="1" dirty="0" err="1">
                <a:solidFill>
                  <a:srgbClr val="008000"/>
                </a:solidFill>
              </a:rPr>
              <a:t>năng</a:t>
            </a:r>
            <a:r>
              <a:rPr kumimoji="1" lang="en-US" altLang="ko-KR" sz="1000" b="1" dirty="0">
                <a:solidFill>
                  <a:srgbClr val="008000"/>
                </a:solidFill>
              </a:rPr>
              <a:t> </a:t>
            </a:r>
            <a:r>
              <a:rPr kumimoji="1" lang="en-US" altLang="ko-KR" sz="1000" b="1" dirty="0" err="1">
                <a:solidFill>
                  <a:srgbClr val="008000"/>
                </a:solidFill>
              </a:rPr>
              <a:t>phát</a:t>
            </a:r>
            <a:r>
              <a:rPr kumimoji="1" lang="en-US" altLang="ko-KR" sz="1000" b="1" dirty="0">
                <a:solidFill>
                  <a:srgbClr val="008000"/>
                </a:solidFill>
              </a:rPr>
              <a:t> </a:t>
            </a:r>
            <a:r>
              <a:rPr kumimoji="1" lang="en-US" altLang="ko-KR" sz="1000" b="1" dirty="0" err="1">
                <a:solidFill>
                  <a:srgbClr val="008000"/>
                </a:solidFill>
              </a:rPr>
              <a:t>sinh</a:t>
            </a:r>
            <a:r>
              <a:rPr kumimoji="1" lang="en-US" altLang="ko-KR" sz="1000" b="1" dirty="0">
                <a:solidFill>
                  <a:srgbClr val="008000"/>
                </a:solidFill>
              </a:rPr>
              <a:t> </a:t>
            </a:r>
            <a:r>
              <a:rPr kumimoji="1" lang="en-US" altLang="ko-KR" sz="1000" b="1" dirty="0" err="1">
                <a:solidFill>
                  <a:srgbClr val="008000"/>
                </a:solidFill>
              </a:rPr>
              <a:t>theo</a:t>
            </a:r>
            <a:r>
              <a:rPr kumimoji="1" lang="en-US" altLang="ko-KR" sz="1000" b="1" dirty="0">
                <a:solidFill>
                  <a:srgbClr val="008000"/>
                </a:solidFill>
              </a:rPr>
              <a:t> </a:t>
            </a:r>
            <a:r>
              <a:rPr kumimoji="1" lang="en-US" altLang="ko-KR" sz="1000" b="1" dirty="0" err="1">
                <a:solidFill>
                  <a:srgbClr val="008000"/>
                </a:solidFill>
              </a:rPr>
              <a:t>từng</a:t>
            </a:r>
            <a:r>
              <a:rPr kumimoji="1" lang="en-US" altLang="ko-KR" sz="1000" b="1" dirty="0">
                <a:solidFill>
                  <a:srgbClr val="008000"/>
                </a:solidFill>
              </a:rPr>
              <a:t> </a:t>
            </a:r>
            <a:r>
              <a:rPr kumimoji="1" lang="en-US" altLang="ko-KR" sz="1000" b="1" dirty="0" err="1">
                <a:solidFill>
                  <a:srgbClr val="008000"/>
                </a:solidFill>
              </a:rPr>
              <a:t>khu</a:t>
            </a:r>
            <a:r>
              <a:rPr kumimoji="1" lang="en-US" altLang="ko-KR" sz="1000" b="1" dirty="0">
                <a:solidFill>
                  <a:srgbClr val="008000"/>
                </a:solidFill>
              </a:rPr>
              <a:t> </a:t>
            </a:r>
            <a:r>
              <a:rPr kumimoji="1" lang="en-US" altLang="ko-KR" sz="1000" b="1" dirty="0" err="1">
                <a:solidFill>
                  <a:srgbClr val="008000"/>
                </a:solidFill>
              </a:rPr>
              <a:t>vực</a:t>
            </a:r>
            <a:endParaRPr kumimoji="1" lang="en-US" altLang="ko-KR" sz="1000" b="1" dirty="0">
              <a:solidFill>
                <a:srgbClr val="008000"/>
              </a:solidFill>
            </a:endParaRPr>
          </a:p>
        </p:txBody>
      </p:sp>
      <p:cxnSp>
        <p:nvCxnSpPr>
          <p:cNvPr id="33" name="직선 연결선 32"/>
          <p:cNvCxnSpPr/>
          <p:nvPr/>
        </p:nvCxnSpPr>
        <p:spPr>
          <a:xfrm rot="5400000">
            <a:off x="5110736" y="3108796"/>
            <a:ext cx="2286000" cy="0"/>
          </a:xfrm>
          <a:prstGeom prst="line">
            <a:avLst/>
          </a:prstGeom>
          <a:ln w="28575">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rot="5400000">
            <a:off x="7023002" y="3108860"/>
            <a:ext cx="573088"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5" name="Text Box 172"/>
          <p:cNvSpPr txBox="1">
            <a:spLocks noChangeArrowheads="1"/>
          </p:cNvSpPr>
          <p:nvPr/>
        </p:nvSpPr>
        <p:spPr bwMode="auto">
          <a:xfrm>
            <a:off x="7110986" y="296592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 σ</a:t>
            </a:r>
          </a:p>
        </p:txBody>
      </p:sp>
      <p:cxnSp>
        <p:nvCxnSpPr>
          <p:cNvPr id="36" name="직선 연결선 35"/>
          <p:cNvCxnSpPr/>
          <p:nvPr/>
        </p:nvCxnSpPr>
        <p:spPr>
          <a:xfrm rot="5400000">
            <a:off x="7198115" y="3109590"/>
            <a:ext cx="1144588" cy="0"/>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7" name="Text Box 172"/>
          <p:cNvSpPr txBox="1">
            <a:spLocks noChangeArrowheads="1"/>
          </p:cNvSpPr>
          <p:nvPr/>
        </p:nvSpPr>
        <p:spPr bwMode="auto">
          <a:xfrm>
            <a:off x="7572583" y="296592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 σ</a:t>
            </a:r>
          </a:p>
        </p:txBody>
      </p:sp>
      <p:cxnSp>
        <p:nvCxnSpPr>
          <p:cNvPr id="38" name="직선 연결선 37"/>
          <p:cNvCxnSpPr/>
          <p:nvPr/>
        </p:nvCxnSpPr>
        <p:spPr>
          <a:xfrm rot="5400000">
            <a:off x="7304052" y="3108067"/>
            <a:ext cx="1857375" cy="1465"/>
          </a:xfrm>
          <a:prstGeom prst="line">
            <a:avLst/>
          </a:prstGeom>
          <a:ln>
            <a:solidFill>
              <a:schemeClr val="bg2">
                <a:lumMod val="2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Text Box 172"/>
          <p:cNvSpPr txBox="1">
            <a:spLocks noChangeArrowheads="1"/>
          </p:cNvSpPr>
          <p:nvPr/>
        </p:nvSpPr>
        <p:spPr bwMode="auto">
          <a:xfrm>
            <a:off x="8035644" y="2965924"/>
            <a:ext cx="527538" cy="461665"/>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 σ</a:t>
            </a:r>
          </a:p>
        </p:txBody>
      </p:sp>
      <p:sp>
        <p:nvSpPr>
          <p:cNvPr id="40" name="타원 39"/>
          <p:cNvSpPr/>
          <p:nvPr/>
        </p:nvSpPr>
        <p:spPr>
          <a:xfrm>
            <a:off x="1165921" y="30897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1" name="타원 40"/>
          <p:cNvSpPr/>
          <p:nvPr/>
        </p:nvSpPr>
        <p:spPr>
          <a:xfrm>
            <a:off x="1375470" y="320246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2" name="타원 41"/>
          <p:cNvSpPr/>
          <p:nvPr/>
        </p:nvSpPr>
        <p:spPr>
          <a:xfrm>
            <a:off x="1631915" y="33056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3" name="타원 42"/>
          <p:cNvSpPr/>
          <p:nvPr/>
        </p:nvSpPr>
        <p:spPr>
          <a:xfrm>
            <a:off x="1631915" y="28532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4" name="타원 43"/>
          <p:cNvSpPr/>
          <p:nvPr/>
        </p:nvSpPr>
        <p:spPr>
          <a:xfrm>
            <a:off x="1375470" y="295957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5" name="타원 44"/>
          <p:cNvSpPr/>
          <p:nvPr/>
        </p:nvSpPr>
        <p:spPr>
          <a:xfrm>
            <a:off x="1375470" y="3078637"/>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6" name="타원 45"/>
          <p:cNvSpPr/>
          <p:nvPr/>
        </p:nvSpPr>
        <p:spPr>
          <a:xfrm>
            <a:off x="1631915" y="318976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7" name="타원 46"/>
          <p:cNvSpPr/>
          <p:nvPr/>
        </p:nvSpPr>
        <p:spPr>
          <a:xfrm>
            <a:off x="1631915" y="29595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8" name="타원 47"/>
          <p:cNvSpPr/>
          <p:nvPr/>
        </p:nvSpPr>
        <p:spPr>
          <a:xfrm>
            <a:off x="1631915" y="307863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49" name="타원 48"/>
          <p:cNvSpPr/>
          <p:nvPr/>
        </p:nvSpPr>
        <p:spPr>
          <a:xfrm>
            <a:off x="1889821" y="33056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0" name="타원 49"/>
          <p:cNvSpPr/>
          <p:nvPr/>
        </p:nvSpPr>
        <p:spPr>
          <a:xfrm>
            <a:off x="1889821" y="28532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1" name="타원 50"/>
          <p:cNvSpPr/>
          <p:nvPr/>
        </p:nvSpPr>
        <p:spPr>
          <a:xfrm>
            <a:off x="1889821" y="320246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2" name="타원 51"/>
          <p:cNvSpPr/>
          <p:nvPr/>
        </p:nvSpPr>
        <p:spPr>
          <a:xfrm>
            <a:off x="1889821" y="29595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3" name="타원 52"/>
          <p:cNvSpPr/>
          <p:nvPr/>
        </p:nvSpPr>
        <p:spPr>
          <a:xfrm>
            <a:off x="1889821" y="307863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4" name="타원 53"/>
          <p:cNvSpPr/>
          <p:nvPr/>
        </p:nvSpPr>
        <p:spPr>
          <a:xfrm>
            <a:off x="1889821" y="341200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5" name="타원 54"/>
          <p:cNvSpPr/>
          <p:nvPr/>
        </p:nvSpPr>
        <p:spPr>
          <a:xfrm>
            <a:off x="1889821" y="27516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6" name="타원 55"/>
          <p:cNvSpPr/>
          <p:nvPr/>
        </p:nvSpPr>
        <p:spPr>
          <a:xfrm>
            <a:off x="2165315" y="33056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7" name="타원 56"/>
          <p:cNvSpPr/>
          <p:nvPr/>
        </p:nvSpPr>
        <p:spPr>
          <a:xfrm>
            <a:off x="2165315" y="28532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8" name="타원 57"/>
          <p:cNvSpPr/>
          <p:nvPr/>
        </p:nvSpPr>
        <p:spPr>
          <a:xfrm>
            <a:off x="2165315" y="320246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59" name="타원 58"/>
          <p:cNvSpPr/>
          <p:nvPr/>
        </p:nvSpPr>
        <p:spPr>
          <a:xfrm>
            <a:off x="2165315" y="29595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0" name="타원 59"/>
          <p:cNvSpPr/>
          <p:nvPr/>
        </p:nvSpPr>
        <p:spPr>
          <a:xfrm>
            <a:off x="2165315" y="307863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1" name="타원 60"/>
          <p:cNvSpPr/>
          <p:nvPr/>
        </p:nvSpPr>
        <p:spPr>
          <a:xfrm>
            <a:off x="2165315" y="3412009"/>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2" name="타원 61"/>
          <p:cNvSpPr/>
          <p:nvPr/>
        </p:nvSpPr>
        <p:spPr>
          <a:xfrm>
            <a:off x="2165315" y="27516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3" name="타원 62"/>
          <p:cNvSpPr/>
          <p:nvPr/>
        </p:nvSpPr>
        <p:spPr>
          <a:xfrm>
            <a:off x="2165315" y="26325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4" name="타원 63"/>
          <p:cNvSpPr/>
          <p:nvPr/>
        </p:nvSpPr>
        <p:spPr>
          <a:xfrm>
            <a:off x="2165315" y="353742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5" name="타원 64"/>
          <p:cNvSpPr/>
          <p:nvPr/>
        </p:nvSpPr>
        <p:spPr>
          <a:xfrm>
            <a:off x="2728021" y="33231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6" name="타원 65"/>
          <p:cNvSpPr/>
          <p:nvPr/>
        </p:nvSpPr>
        <p:spPr>
          <a:xfrm>
            <a:off x="2991791" y="2894487"/>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7" name="타원 66"/>
          <p:cNvSpPr/>
          <p:nvPr/>
        </p:nvSpPr>
        <p:spPr>
          <a:xfrm>
            <a:off x="3387444" y="28230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8" name="타원 67"/>
          <p:cNvSpPr/>
          <p:nvPr/>
        </p:nvSpPr>
        <p:spPr>
          <a:xfrm>
            <a:off x="3717156" y="246586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69" name="타원 68"/>
          <p:cNvSpPr/>
          <p:nvPr/>
        </p:nvSpPr>
        <p:spPr>
          <a:xfrm>
            <a:off x="4046867" y="310879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0" name="타원 69"/>
          <p:cNvSpPr/>
          <p:nvPr/>
        </p:nvSpPr>
        <p:spPr>
          <a:xfrm>
            <a:off x="4442521" y="33945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1" name="타원 70"/>
          <p:cNvSpPr/>
          <p:nvPr/>
        </p:nvSpPr>
        <p:spPr>
          <a:xfrm>
            <a:off x="4706291" y="2751612"/>
            <a:ext cx="65942"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2" name="타원 71"/>
          <p:cNvSpPr/>
          <p:nvPr/>
        </p:nvSpPr>
        <p:spPr>
          <a:xfrm>
            <a:off x="5021347" y="3037362"/>
            <a:ext cx="65943" cy="71437"/>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3" name="타원 72"/>
          <p:cNvSpPr/>
          <p:nvPr/>
        </p:nvSpPr>
        <p:spPr>
          <a:xfrm>
            <a:off x="5367179" y="2965921"/>
            <a:ext cx="65943"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4" name="직선 연결선 73"/>
          <p:cNvCxnSpPr>
            <a:stCxn id="65" idx="7"/>
            <a:endCxn id="66" idx="3"/>
          </p:cNvCxnSpPr>
          <p:nvPr/>
        </p:nvCxnSpPr>
        <p:spPr>
          <a:xfrm rot="5400000" flipH="1" flipV="1">
            <a:off x="2703903" y="3036078"/>
            <a:ext cx="379412"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5" name="직선 연결선 74"/>
          <p:cNvCxnSpPr>
            <a:stCxn id="66" idx="6"/>
            <a:endCxn id="67" idx="3"/>
          </p:cNvCxnSpPr>
          <p:nvPr/>
        </p:nvCxnSpPr>
        <p:spPr>
          <a:xfrm flipV="1">
            <a:off x="3057732" y="2883371"/>
            <a:ext cx="339969" cy="460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6" name="직선 연결선 75"/>
          <p:cNvCxnSpPr>
            <a:stCxn id="67" idx="7"/>
            <a:endCxn id="68" idx="2"/>
          </p:cNvCxnSpPr>
          <p:nvPr/>
        </p:nvCxnSpPr>
        <p:spPr>
          <a:xfrm rot="5400000" flipH="1" flipV="1">
            <a:off x="3414188" y="2531191"/>
            <a:ext cx="333375" cy="2725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7" name="직선 연결선 76"/>
          <p:cNvCxnSpPr>
            <a:stCxn id="69" idx="5"/>
            <a:endCxn id="70" idx="1"/>
          </p:cNvCxnSpPr>
          <p:nvPr/>
        </p:nvCxnSpPr>
        <p:spPr>
          <a:xfrm rot="16200000" flipH="1">
            <a:off x="4160129" y="3113009"/>
            <a:ext cx="236538" cy="348762"/>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1165921" y="308339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79" name="직선 연결선 78"/>
          <p:cNvCxnSpPr>
            <a:stCxn id="68" idx="5"/>
            <a:endCxn id="69" idx="1"/>
          </p:cNvCxnSpPr>
          <p:nvPr/>
        </p:nvCxnSpPr>
        <p:spPr>
          <a:xfrm rot="16200000" flipH="1">
            <a:off x="3618854" y="2681640"/>
            <a:ext cx="593725" cy="282819"/>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0" name="직선 연결선 79"/>
          <p:cNvCxnSpPr>
            <a:stCxn id="70" idx="7"/>
            <a:endCxn id="71" idx="3"/>
          </p:cNvCxnSpPr>
          <p:nvPr/>
        </p:nvCxnSpPr>
        <p:spPr>
          <a:xfrm rot="5400000" flipH="1" flipV="1">
            <a:off x="4311247" y="3000360"/>
            <a:ext cx="593725" cy="21687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1" name="직선 연결선 80"/>
          <p:cNvCxnSpPr>
            <a:stCxn id="71" idx="5"/>
            <a:endCxn id="72" idx="1"/>
          </p:cNvCxnSpPr>
          <p:nvPr/>
        </p:nvCxnSpPr>
        <p:spPr>
          <a:xfrm rot="16200000" flipH="1">
            <a:off x="4779256" y="2796121"/>
            <a:ext cx="236537" cy="268166"/>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2" name="직선 연결선 81"/>
          <p:cNvCxnSpPr>
            <a:stCxn id="72" idx="6"/>
            <a:endCxn id="73" idx="2"/>
          </p:cNvCxnSpPr>
          <p:nvPr/>
        </p:nvCxnSpPr>
        <p:spPr>
          <a:xfrm flipV="1">
            <a:off x="5087290" y="3000846"/>
            <a:ext cx="279888" cy="71438"/>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4" name="타원 83"/>
          <p:cNvSpPr/>
          <p:nvPr/>
        </p:nvSpPr>
        <p:spPr>
          <a:xfrm>
            <a:off x="5696891" y="2823046"/>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85" name="타원 84"/>
          <p:cNvSpPr/>
          <p:nvPr/>
        </p:nvSpPr>
        <p:spPr>
          <a:xfrm>
            <a:off x="5934284" y="3251671"/>
            <a:ext cx="65942" cy="714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cxnSp>
        <p:nvCxnSpPr>
          <p:cNvPr id="86" name="직선 연결선 85"/>
          <p:cNvCxnSpPr>
            <a:stCxn id="73" idx="7"/>
            <a:endCxn id="84" idx="2"/>
          </p:cNvCxnSpPr>
          <p:nvPr/>
        </p:nvCxnSpPr>
        <p:spPr>
          <a:xfrm rot="5400000" flipH="1" flipV="1">
            <a:off x="5500346" y="2780492"/>
            <a:ext cx="119063" cy="274027"/>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7" name="직선 연결선 86"/>
          <p:cNvCxnSpPr>
            <a:stCxn id="84" idx="5"/>
            <a:endCxn id="85" idx="1"/>
          </p:cNvCxnSpPr>
          <p:nvPr/>
        </p:nvCxnSpPr>
        <p:spPr>
          <a:xfrm rot="16200000" flipH="1">
            <a:off x="5658852" y="2977097"/>
            <a:ext cx="379413" cy="191965"/>
          </a:xfrm>
          <a:prstGeom prst="line">
            <a:avLst/>
          </a:prstGeom>
          <a:ln>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
        <p:nvSpPr>
          <p:cNvPr id="88" name="Line 149"/>
          <p:cNvSpPr>
            <a:spLocks noChangeShapeType="1"/>
          </p:cNvSpPr>
          <p:nvPr/>
        </p:nvSpPr>
        <p:spPr bwMode="auto">
          <a:xfrm>
            <a:off x="2577086" y="2218209"/>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89" name="Line 154"/>
          <p:cNvSpPr>
            <a:spLocks noChangeShapeType="1"/>
          </p:cNvSpPr>
          <p:nvPr/>
        </p:nvSpPr>
        <p:spPr bwMode="auto">
          <a:xfrm>
            <a:off x="2555106" y="4018434"/>
            <a:ext cx="5852746" cy="0"/>
          </a:xfrm>
          <a:prstGeom prst="line">
            <a:avLst/>
          </a:prstGeom>
          <a:noFill/>
          <a:ln w="28575">
            <a:solidFill>
              <a:srgbClr val="C00000"/>
            </a:solidFill>
            <a:prstDash val="sysDot"/>
            <a:round/>
            <a:headEnd/>
            <a:tailEnd/>
          </a:ln>
        </p:spPr>
        <p:txBody>
          <a:bodyPr wrap="none" anchor="ctr"/>
          <a:lstStyle/>
          <a:p>
            <a:pPr fontAlgn="base">
              <a:spcBef>
                <a:spcPct val="0"/>
              </a:spcBef>
              <a:spcAft>
                <a:spcPct val="0"/>
              </a:spcAft>
              <a:defRPr/>
            </a:pPr>
            <a:endParaRPr kumimoji="1" lang="ko-KR" altLang="en-US" dirty="0">
              <a:solidFill>
                <a:prstClr val="black"/>
              </a:solidFill>
            </a:endParaRPr>
          </a:p>
        </p:txBody>
      </p:sp>
      <p:sp>
        <p:nvSpPr>
          <p:cNvPr id="90" name="Rectangle 189"/>
          <p:cNvSpPr>
            <a:spLocks noChangeArrowheads="1"/>
          </p:cNvSpPr>
          <p:nvPr/>
        </p:nvSpPr>
        <p:spPr bwMode="auto">
          <a:xfrm>
            <a:off x="1295400" y="1556470"/>
            <a:ext cx="1717432" cy="360362"/>
          </a:xfrm>
          <a:prstGeom prst="rect">
            <a:avLst/>
          </a:prstGeom>
          <a:noFill/>
          <a:ln w="9525" algn="ctr">
            <a:noFill/>
            <a:miter lim="800000"/>
            <a:headEnd/>
            <a:tailEnd/>
          </a:ln>
        </p:spPr>
        <p:txBody>
          <a:bodyPr wrap="none" anchor="ctr"/>
          <a:lstStyle/>
          <a:p>
            <a:pPr algn="ctr" fontAlgn="base">
              <a:spcBef>
                <a:spcPct val="0"/>
              </a:spcBef>
              <a:spcAft>
                <a:spcPct val="0"/>
              </a:spcAft>
            </a:pPr>
            <a:r>
              <a:rPr kumimoji="1" lang="en-US" altLang="ko-KR" sz="1600" b="1" u="sng" dirty="0" err="1">
                <a:solidFill>
                  <a:srgbClr val="000000"/>
                </a:solidFill>
              </a:rPr>
              <a:t>Yếu</a:t>
            </a:r>
            <a:r>
              <a:rPr kumimoji="1" lang="en-US" altLang="ko-KR" sz="1600" b="1" u="sng" dirty="0">
                <a:solidFill>
                  <a:srgbClr val="000000"/>
                </a:solidFill>
              </a:rPr>
              <a:t> </a:t>
            </a:r>
            <a:r>
              <a:rPr kumimoji="1" lang="en-US" altLang="ko-KR" sz="1600" b="1" u="sng" dirty="0" err="1">
                <a:solidFill>
                  <a:srgbClr val="000000"/>
                </a:solidFill>
              </a:rPr>
              <a:t>tố</a:t>
            </a:r>
            <a:r>
              <a:rPr kumimoji="1" lang="en-US" altLang="ko-KR" sz="1600" b="1" u="sng" dirty="0">
                <a:solidFill>
                  <a:srgbClr val="000000"/>
                </a:solidFill>
              </a:rPr>
              <a:t> </a:t>
            </a:r>
            <a:r>
              <a:rPr kumimoji="1" lang="en-US" altLang="ko-KR" sz="1600" b="1" u="sng" dirty="0" err="1">
                <a:solidFill>
                  <a:srgbClr val="000000"/>
                </a:solidFill>
              </a:rPr>
              <a:t>cấu</a:t>
            </a:r>
            <a:r>
              <a:rPr kumimoji="1" lang="en-US" altLang="ko-KR" sz="1600" b="1" u="sng" dirty="0">
                <a:solidFill>
                  <a:srgbClr val="000000"/>
                </a:solidFill>
              </a:rPr>
              <a:t> </a:t>
            </a:r>
            <a:r>
              <a:rPr kumimoji="1" lang="en-US" altLang="ko-KR" sz="1600" b="1" u="sng" dirty="0" err="1">
                <a:solidFill>
                  <a:srgbClr val="000000"/>
                </a:solidFill>
              </a:rPr>
              <a:t>thành</a:t>
            </a:r>
            <a:r>
              <a:rPr kumimoji="1" lang="en-US" altLang="ko-KR" sz="1600" b="1" u="sng" dirty="0">
                <a:solidFill>
                  <a:srgbClr val="000000"/>
                </a:solidFill>
              </a:rPr>
              <a:t> </a:t>
            </a:r>
            <a:r>
              <a:rPr kumimoji="1" lang="en-US" altLang="ko-KR" sz="1600" b="1" u="sng" dirty="0" err="1">
                <a:solidFill>
                  <a:srgbClr val="000000"/>
                </a:solidFill>
              </a:rPr>
              <a:t>của</a:t>
            </a:r>
            <a:r>
              <a:rPr kumimoji="1" lang="en-US" altLang="ko-KR" sz="1600" b="1" u="sng" dirty="0">
                <a:solidFill>
                  <a:srgbClr val="000000"/>
                </a:solidFill>
              </a:rPr>
              <a:t> </a:t>
            </a:r>
            <a:r>
              <a:rPr kumimoji="1" lang="en-US" altLang="ko-KR" sz="1600" b="1" u="sng" dirty="0" err="1">
                <a:solidFill>
                  <a:srgbClr val="000000"/>
                </a:solidFill>
              </a:rPr>
              <a:t>đồ</a:t>
            </a:r>
            <a:r>
              <a:rPr kumimoji="1" lang="en-US" altLang="ko-KR" sz="1600" b="1" u="sng" dirty="0">
                <a:solidFill>
                  <a:srgbClr val="000000"/>
                </a:solidFill>
              </a:rPr>
              <a:t> </a:t>
            </a:r>
            <a:r>
              <a:rPr kumimoji="1" lang="en-US" altLang="ko-KR" sz="1600" b="1" u="sng" dirty="0" err="1">
                <a:solidFill>
                  <a:srgbClr val="000000"/>
                </a:solidFill>
              </a:rPr>
              <a:t>thị</a:t>
            </a:r>
            <a:r>
              <a:rPr kumimoji="1" lang="en-US" altLang="ko-KR" sz="1600" b="1" u="sng" dirty="0">
                <a:solidFill>
                  <a:srgbClr val="000000"/>
                </a:solidFill>
              </a:rPr>
              <a:t> </a:t>
            </a:r>
            <a:r>
              <a:rPr kumimoji="1" lang="en-US" altLang="ko-KR" sz="1600" b="1" u="sng" dirty="0" err="1">
                <a:solidFill>
                  <a:srgbClr val="000000"/>
                </a:solidFill>
              </a:rPr>
              <a:t>quản</a:t>
            </a:r>
            <a:r>
              <a:rPr kumimoji="1" lang="en-US" altLang="ko-KR" sz="1600" b="1" u="sng" dirty="0">
                <a:solidFill>
                  <a:srgbClr val="000000"/>
                </a:solidFill>
              </a:rPr>
              <a:t> </a:t>
            </a:r>
            <a:r>
              <a:rPr kumimoji="1" lang="en-US" altLang="ko-KR" sz="1600" b="1" u="sng" dirty="0" err="1">
                <a:solidFill>
                  <a:srgbClr val="000000"/>
                </a:solidFill>
              </a:rPr>
              <a:t>lý</a:t>
            </a:r>
            <a:endParaRPr kumimoji="1" lang="ko-KR" altLang="en-US" sz="1600" b="1" u="sng" dirty="0">
              <a:solidFill>
                <a:srgbClr val="000000"/>
              </a:solidFill>
            </a:endParaRPr>
          </a:p>
        </p:txBody>
      </p:sp>
      <p:sp>
        <p:nvSpPr>
          <p:cNvPr id="91" name="Text Box 186"/>
          <p:cNvSpPr txBox="1">
            <a:spLocks noChangeArrowheads="1"/>
          </p:cNvSpPr>
          <p:nvPr/>
        </p:nvSpPr>
        <p:spPr bwMode="auto">
          <a:xfrm>
            <a:off x="5327615" y="2092799"/>
            <a:ext cx="663819" cy="553998"/>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000" b="1" dirty="0" err="1">
                <a:solidFill>
                  <a:srgbClr val="FF0000"/>
                </a:solidFill>
              </a:rPr>
              <a:t>Giới</a:t>
            </a:r>
            <a:r>
              <a:rPr kumimoji="1" lang="en-US" altLang="ko-KR" sz="1000" b="1" dirty="0">
                <a:solidFill>
                  <a:srgbClr val="FF0000"/>
                </a:solidFill>
              </a:rPr>
              <a:t> </a:t>
            </a:r>
            <a:r>
              <a:rPr kumimoji="1" lang="en-US" altLang="ko-KR" sz="1000" b="1" dirty="0" err="1">
                <a:solidFill>
                  <a:srgbClr val="FF0000"/>
                </a:solidFill>
              </a:rPr>
              <a:t>hạn</a:t>
            </a:r>
            <a:r>
              <a:rPr kumimoji="1" lang="en-US" altLang="ko-KR" sz="1000" b="1" dirty="0">
                <a:solidFill>
                  <a:srgbClr val="FF0000"/>
                </a:solidFill>
              </a:rPr>
              <a:t> </a:t>
            </a:r>
            <a:r>
              <a:rPr kumimoji="1" lang="en-US" altLang="ko-KR" sz="1000" b="1" dirty="0" err="1">
                <a:solidFill>
                  <a:srgbClr val="FF0000"/>
                </a:solidFill>
              </a:rPr>
              <a:t>xử</a:t>
            </a:r>
            <a:r>
              <a:rPr kumimoji="1" lang="en-US" altLang="ko-KR" sz="1000" b="1" dirty="0">
                <a:solidFill>
                  <a:srgbClr val="FF0000"/>
                </a:solidFill>
              </a:rPr>
              <a:t> </a:t>
            </a:r>
            <a:r>
              <a:rPr kumimoji="1" lang="en-US" altLang="ko-KR" sz="1000" b="1" dirty="0" err="1">
                <a:solidFill>
                  <a:srgbClr val="FF0000"/>
                </a:solidFill>
              </a:rPr>
              <a:t>lý</a:t>
            </a:r>
            <a:endParaRPr kumimoji="1" lang="ko-KR" altLang="en-US" sz="1000" b="1" dirty="0">
              <a:solidFill>
                <a:srgbClr val="FF0000"/>
              </a:solidFill>
            </a:endParaRPr>
          </a:p>
        </p:txBody>
      </p:sp>
      <p:sp>
        <p:nvSpPr>
          <p:cNvPr id="93" name="Text Box 186"/>
          <p:cNvSpPr txBox="1">
            <a:spLocks noChangeArrowheads="1"/>
          </p:cNvSpPr>
          <p:nvPr/>
        </p:nvSpPr>
        <p:spPr bwMode="auto">
          <a:xfrm>
            <a:off x="5327615" y="3789402"/>
            <a:ext cx="663819" cy="553998"/>
          </a:xfrm>
          <a:prstGeom prst="rect">
            <a:avLst/>
          </a:prstGeom>
          <a:solidFill>
            <a:schemeClr val="bg1"/>
          </a:solidFill>
          <a:ln w="9525" algn="ctr">
            <a:noFill/>
            <a:miter lim="800000"/>
            <a:headEnd/>
            <a:tailEnd/>
          </a:ln>
        </p:spPr>
        <p:txBody>
          <a:bodyPr>
            <a:spAutoFit/>
          </a:bodyPr>
          <a:lstStyle/>
          <a:p>
            <a:pPr algn="ctr" fontAlgn="base">
              <a:spcBef>
                <a:spcPct val="50000"/>
              </a:spcBef>
              <a:spcAft>
                <a:spcPct val="0"/>
              </a:spcAft>
            </a:pPr>
            <a:r>
              <a:rPr kumimoji="1" lang="en-US" altLang="ko-KR" sz="1000" b="1" dirty="0" err="1">
                <a:solidFill>
                  <a:srgbClr val="FF0000"/>
                </a:solidFill>
              </a:rPr>
              <a:t>Giới</a:t>
            </a:r>
            <a:r>
              <a:rPr kumimoji="1" lang="en-US" altLang="ko-KR" sz="1000" b="1" dirty="0">
                <a:solidFill>
                  <a:srgbClr val="FF0000"/>
                </a:solidFill>
              </a:rPr>
              <a:t> </a:t>
            </a:r>
            <a:r>
              <a:rPr kumimoji="1" lang="en-US" altLang="ko-KR" sz="1000" b="1" dirty="0" err="1">
                <a:solidFill>
                  <a:srgbClr val="FF0000"/>
                </a:solidFill>
              </a:rPr>
              <a:t>hạn</a:t>
            </a:r>
            <a:r>
              <a:rPr kumimoji="1" lang="en-US" altLang="ko-KR" sz="1000" b="1" dirty="0">
                <a:solidFill>
                  <a:srgbClr val="FF0000"/>
                </a:solidFill>
              </a:rPr>
              <a:t> </a:t>
            </a:r>
            <a:r>
              <a:rPr kumimoji="1" lang="en-US" altLang="ko-KR" sz="1000" b="1" dirty="0" err="1">
                <a:solidFill>
                  <a:srgbClr val="FF0000"/>
                </a:solidFill>
              </a:rPr>
              <a:t>xử</a:t>
            </a:r>
            <a:r>
              <a:rPr kumimoji="1" lang="en-US" altLang="ko-KR" sz="1000" b="1" dirty="0">
                <a:solidFill>
                  <a:srgbClr val="FF0000"/>
                </a:solidFill>
              </a:rPr>
              <a:t> </a:t>
            </a:r>
            <a:r>
              <a:rPr kumimoji="1" lang="en-US" altLang="ko-KR" sz="1000" b="1" dirty="0" err="1">
                <a:solidFill>
                  <a:srgbClr val="FF0000"/>
                </a:solidFill>
              </a:rPr>
              <a:t>lý</a:t>
            </a:r>
            <a:endParaRPr kumimoji="1" lang="ko-KR" altLang="en-US" sz="1000" b="1" dirty="0">
              <a:solidFill>
                <a:srgbClr val="FF0000"/>
              </a:solidFill>
            </a:endParaRPr>
          </a:p>
        </p:txBody>
      </p:sp>
      <p:sp>
        <p:nvSpPr>
          <p:cNvPr id="94" name="Text Box 159"/>
          <p:cNvSpPr txBox="1">
            <a:spLocks noChangeArrowheads="1"/>
          </p:cNvSpPr>
          <p:nvPr/>
        </p:nvSpPr>
        <p:spPr bwMode="auto">
          <a:xfrm>
            <a:off x="2651821"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a:t>
            </a:r>
          </a:p>
        </p:txBody>
      </p:sp>
      <p:sp>
        <p:nvSpPr>
          <p:cNvPr id="95" name="Text Box 159"/>
          <p:cNvSpPr txBox="1">
            <a:spLocks noChangeArrowheads="1"/>
          </p:cNvSpPr>
          <p:nvPr/>
        </p:nvSpPr>
        <p:spPr bwMode="auto">
          <a:xfrm>
            <a:off x="2936106"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2</a:t>
            </a:r>
          </a:p>
        </p:txBody>
      </p:sp>
      <p:sp>
        <p:nvSpPr>
          <p:cNvPr id="96" name="Text Box 159"/>
          <p:cNvSpPr txBox="1">
            <a:spLocks noChangeArrowheads="1"/>
          </p:cNvSpPr>
          <p:nvPr/>
        </p:nvSpPr>
        <p:spPr bwMode="auto">
          <a:xfrm>
            <a:off x="3292195" y="396604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3</a:t>
            </a:r>
          </a:p>
        </p:txBody>
      </p:sp>
      <p:sp>
        <p:nvSpPr>
          <p:cNvPr id="97" name="Text Box 159"/>
          <p:cNvSpPr txBox="1">
            <a:spLocks noChangeArrowheads="1"/>
          </p:cNvSpPr>
          <p:nvPr/>
        </p:nvSpPr>
        <p:spPr bwMode="auto">
          <a:xfrm>
            <a:off x="3585272" y="396604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4</a:t>
            </a:r>
          </a:p>
        </p:txBody>
      </p:sp>
      <p:sp>
        <p:nvSpPr>
          <p:cNvPr id="98" name="Text Box 159"/>
          <p:cNvSpPr txBox="1">
            <a:spLocks noChangeArrowheads="1"/>
          </p:cNvSpPr>
          <p:nvPr/>
        </p:nvSpPr>
        <p:spPr bwMode="auto">
          <a:xfrm>
            <a:off x="3956013"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5</a:t>
            </a:r>
          </a:p>
        </p:txBody>
      </p:sp>
      <p:sp>
        <p:nvSpPr>
          <p:cNvPr id="99" name="Text Box 159"/>
          <p:cNvSpPr txBox="1">
            <a:spLocks noChangeArrowheads="1"/>
          </p:cNvSpPr>
          <p:nvPr/>
        </p:nvSpPr>
        <p:spPr bwMode="auto">
          <a:xfrm>
            <a:off x="4331152"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6</a:t>
            </a:r>
          </a:p>
        </p:txBody>
      </p:sp>
      <p:sp>
        <p:nvSpPr>
          <p:cNvPr id="100" name="Text Box 159"/>
          <p:cNvSpPr txBox="1">
            <a:spLocks noChangeArrowheads="1"/>
          </p:cNvSpPr>
          <p:nvPr/>
        </p:nvSpPr>
        <p:spPr bwMode="auto">
          <a:xfrm>
            <a:off x="4600783"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7</a:t>
            </a:r>
          </a:p>
        </p:txBody>
      </p:sp>
      <p:sp>
        <p:nvSpPr>
          <p:cNvPr id="101" name="Text Box 159"/>
          <p:cNvSpPr txBox="1">
            <a:spLocks noChangeArrowheads="1"/>
          </p:cNvSpPr>
          <p:nvPr/>
        </p:nvSpPr>
        <p:spPr bwMode="auto">
          <a:xfrm>
            <a:off x="4893860" y="3966049"/>
            <a:ext cx="197826"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8</a:t>
            </a:r>
          </a:p>
        </p:txBody>
      </p:sp>
      <p:sp>
        <p:nvSpPr>
          <p:cNvPr id="102" name="Text Box 159"/>
          <p:cNvSpPr txBox="1">
            <a:spLocks noChangeArrowheads="1"/>
          </p:cNvSpPr>
          <p:nvPr/>
        </p:nvSpPr>
        <p:spPr bwMode="auto">
          <a:xfrm>
            <a:off x="5264603" y="3966049"/>
            <a:ext cx="197827" cy="27622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9</a:t>
            </a:r>
          </a:p>
        </p:txBody>
      </p:sp>
      <p:sp>
        <p:nvSpPr>
          <p:cNvPr id="103" name="Text Box 159"/>
          <p:cNvSpPr txBox="1">
            <a:spLocks noChangeArrowheads="1"/>
          </p:cNvSpPr>
          <p:nvPr/>
        </p:nvSpPr>
        <p:spPr bwMode="auto">
          <a:xfrm>
            <a:off x="5497599" y="396604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10</a:t>
            </a:r>
          </a:p>
        </p:txBody>
      </p:sp>
      <p:sp>
        <p:nvSpPr>
          <p:cNvPr id="104" name="Text Box 159"/>
          <p:cNvSpPr txBox="1">
            <a:spLocks noChangeArrowheads="1"/>
          </p:cNvSpPr>
          <p:nvPr/>
        </p:nvSpPr>
        <p:spPr bwMode="auto">
          <a:xfrm>
            <a:off x="5812656" y="3966049"/>
            <a:ext cx="360485" cy="461665"/>
          </a:xfrm>
          <a:prstGeom prst="rect">
            <a:avLst/>
          </a:prstGeom>
          <a:noFill/>
          <a:ln w="9525" algn="ctr">
            <a:noFill/>
            <a:miter lim="800000"/>
            <a:headEnd/>
            <a:tailEnd/>
          </a:ln>
        </p:spPr>
        <p:txBody>
          <a:bodyPr>
            <a:spAutoFit/>
          </a:bodyPr>
          <a:lstStyle/>
          <a:p>
            <a:pPr algn="ctr" fontAlgn="base">
              <a:spcBef>
                <a:spcPct val="50000"/>
              </a:spcBef>
              <a:spcAft>
                <a:spcPct val="0"/>
              </a:spcAft>
            </a:pPr>
            <a:r>
              <a:rPr kumimoji="1" lang="en-US" altLang="ko-KR" sz="1200" b="1" dirty="0">
                <a:solidFill>
                  <a:srgbClr val="000000"/>
                </a:solidFill>
              </a:rPr>
              <a:t>11</a:t>
            </a:r>
          </a:p>
        </p:txBody>
      </p:sp>
      <p:sp>
        <p:nvSpPr>
          <p:cNvPr id="105" name="Text Box 33"/>
          <p:cNvSpPr txBox="1">
            <a:spLocks noChangeArrowheads="1"/>
          </p:cNvSpPr>
          <p:nvPr/>
        </p:nvSpPr>
        <p:spPr bwMode="auto">
          <a:xfrm>
            <a:off x="7455589" y="1752600"/>
            <a:ext cx="1688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err="1">
                <a:solidFill>
                  <a:srgbClr val="CC0000"/>
                </a:solidFill>
                <a:latin typeface="맑은 고딕"/>
                <a:ea typeface="맑은 고딕" pitchFamily="50" charset="-127"/>
              </a:rPr>
              <a:t>Nguyên</a:t>
            </a: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nhân</a:t>
            </a: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không</a:t>
            </a:r>
            <a:endParaRPr lang="en-US" altLang="ko-KR" sz="1200" b="1" dirty="0">
              <a:solidFill>
                <a:srgbClr val="CC0000"/>
              </a:solidFill>
              <a:latin typeface="맑은 고딕"/>
              <a:ea typeface="맑은 고딕" pitchFamily="50" charset="-127"/>
            </a:endParaRPr>
          </a:p>
          <a:p>
            <a:pPr eaLnBrk="1" fontAlgn="base" hangingPunct="1">
              <a:spcBef>
                <a:spcPct val="0"/>
              </a:spcBef>
              <a:spcAft>
                <a:spcPct val="0"/>
              </a:spcAft>
            </a:pP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ngẫu</a:t>
            </a:r>
            <a:r>
              <a:rPr lang="en-US" altLang="ko-KR" sz="1200" b="1" dirty="0">
                <a:solidFill>
                  <a:srgbClr val="CC0000"/>
                </a:solidFill>
                <a:latin typeface="맑은 고딕"/>
                <a:ea typeface="맑은 고딕" pitchFamily="50" charset="-127"/>
              </a:rPr>
              <a:t> </a:t>
            </a:r>
            <a:r>
              <a:rPr lang="en-US" altLang="ko-KR" sz="1200" b="1" dirty="0" err="1">
                <a:solidFill>
                  <a:srgbClr val="CC0000"/>
                </a:solidFill>
                <a:latin typeface="맑은 고딕"/>
                <a:ea typeface="맑은 고딕" pitchFamily="50" charset="-127"/>
              </a:rPr>
              <a:t>nhiên</a:t>
            </a:r>
            <a:endParaRPr lang="ko-KR" altLang="en-US" sz="1200" b="1" dirty="0">
              <a:solidFill>
                <a:srgbClr val="CC0000"/>
              </a:solidFill>
              <a:latin typeface="맑은 고딕"/>
              <a:ea typeface="맑은 고딕" pitchFamily="50" charset="-127"/>
            </a:endParaRPr>
          </a:p>
        </p:txBody>
      </p:sp>
      <p:sp>
        <p:nvSpPr>
          <p:cNvPr id="106" name="Text Box 35"/>
          <p:cNvSpPr txBox="1">
            <a:spLocks noChangeArrowheads="1"/>
          </p:cNvSpPr>
          <p:nvPr/>
        </p:nvSpPr>
        <p:spPr bwMode="auto">
          <a:xfrm>
            <a:off x="7010400" y="3966046"/>
            <a:ext cx="22697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err="1">
                <a:solidFill>
                  <a:srgbClr val="CC0000"/>
                </a:solidFill>
                <a:latin typeface="맑은 고딕"/>
                <a:ea typeface="맑은 고딕" pitchFamily="50" charset="-127"/>
              </a:rPr>
              <a:t>Nguyên</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nhân</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không</a:t>
            </a:r>
            <a:r>
              <a:rPr lang="en-US" altLang="ko-KR" sz="1600" b="1" dirty="0">
                <a:solidFill>
                  <a:srgbClr val="CC0000"/>
                </a:solidFill>
                <a:latin typeface="맑은 고딕"/>
                <a:ea typeface="맑은 고딕" pitchFamily="50" charset="-127"/>
              </a:rPr>
              <a:t> </a:t>
            </a:r>
          </a:p>
          <a:p>
            <a:pPr eaLnBrk="1" fontAlgn="base" hangingPunct="1">
              <a:spcBef>
                <a:spcPct val="0"/>
              </a:spcBef>
              <a:spcAft>
                <a:spcPct val="0"/>
              </a:spcAft>
            </a:pPr>
            <a:r>
              <a:rPr lang="en-US" altLang="ko-KR" sz="1600" b="1" dirty="0" err="1">
                <a:solidFill>
                  <a:srgbClr val="CC0000"/>
                </a:solidFill>
                <a:latin typeface="맑은 고딕"/>
                <a:ea typeface="맑은 고딕" pitchFamily="50" charset="-127"/>
              </a:rPr>
              <a:t>ngẫu</a:t>
            </a:r>
            <a:r>
              <a:rPr lang="en-US" altLang="ko-KR" sz="1600" b="1" dirty="0">
                <a:solidFill>
                  <a:srgbClr val="CC0000"/>
                </a:solidFill>
                <a:latin typeface="맑은 고딕"/>
                <a:ea typeface="맑은 고딕" pitchFamily="50" charset="-127"/>
              </a:rPr>
              <a:t> </a:t>
            </a:r>
            <a:r>
              <a:rPr lang="en-US" altLang="ko-KR" sz="1600" b="1" dirty="0" err="1">
                <a:solidFill>
                  <a:srgbClr val="CC0000"/>
                </a:solidFill>
                <a:latin typeface="맑은 고딕"/>
                <a:ea typeface="맑은 고딕" pitchFamily="50" charset="-127"/>
              </a:rPr>
              <a:t>nhiên</a:t>
            </a:r>
            <a:endParaRPr lang="ko-KR" altLang="en-US" sz="1600" b="1" dirty="0">
              <a:solidFill>
                <a:srgbClr val="CC0000"/>
              </a:solidFill>
              <a:latin typeface="맑은 고딕"/>
              <a:ea typeface="맑은 고딕" pitchFamily="50" charset="-127"/>
            </a:endParaRPr>
          </a:p>
        </p:txBody>
      </p:sp>
      <p:sp>
        <p:nvSpPr>
          <p:cNvPr id="107" name="TextBox 106"/>
          <p:cNvSpPr txBox="1"/>
          <p:nvPr/>
        </p:nvSpPr>
        <p:spPr>
          <a:xfrm>
            <a:off x="152400" y="4607049"/>
            <a:ext cx="8999580" cy="137268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khả</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năng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các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điểm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vượt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khỏi</a:t>
            </a:r>
            <a:r>
              <a:rPr kumimoji="1" lang="en-US" altLang="ko-KR" sz="1600" b="1" dirty="0">
                <a:solidFill>
                  <a:prstClr val="black"/>
                </a:solidFill>
                <a:latin typeface="굴림" pitchFamily="50" charset="-127"/>
                <a:ea typeface="굴림" pitchFamily="50" charset="-127"/>
              </a:rPr>
              <a:t> UCL </a:t>
            </a:r>
            <a:r>
              <a:rPr kumimoji="1" lang="en-US" altLang="ko-KR" sz="1600" b="1" dirty="0" err="1">
                <a:solidFill>
                  <a:prstClr val="black"/>
                </a:solidFill>
                <a:latin typeface="굴림" pitchFamily="50" charset="-127"/>
                <a:ea typeface="굴림" pitchFamily="50" charset="-127"/>
              </a:rPr>
              <a:t>chỉ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1~2 </a:t>
            </a:r>
            <a:r>
              <a:rPr kumimoji="1" lang="en-US" altLang="ko-KR" sz="1600" b="1" dirty="0" err="1">
                <a:solidFill>
                  <a:prstClr val="black"/>
                </a:solidFill>
                <a:latin typeface="굴림" pitchFamily="50" charset="-127"/>
                <a:ea typeface="굴림" pitchFamily="50" charset="-127"/>
              </a:rPr>
              <a:t>phần</a:t>
            </a:r>
            <a:r>
              <a:rPr kumimoji="1" lang="en-US" altLang="ko-KR" sz="1600" b="1" dirty="0">
                <a:solidFill>
                  <a:prstClr val="black"/>
                </a:solidFill>
                <a:latin typeface="굴림" pitchFamily="50" charset="-127"/>
                <a:ea typeface="굴림" pitchFamily="50" charset="-127"/>
              </a:rPr>
              <a:t> 1000. </a:t>
            </a:r>
            <a:r>
              <a:rPr kumimoji="1" lang="en-US" altLang="ko-KR" sz="1600" b="1" dirty="0" err="1">
                <a:solidFill>
                  <a:prstClr val="black"/>
                </a:solidFill>
                <a:latin typeface="굴림" pitchFamily="50" charset="-127"/>
                <a:ea typeface="굴림" pitchFamily="50" charset="-127"/>
              </a:rPr>
              <a:t>Nếu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nói</a:t>
            </a: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trong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một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ngày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xuất</a:t>
            </a:r>
            <a:r>
              <a:rPr kumimoji="1" lang="en-US" altLang="ko-KR" sz="1600" b="1" dirty="0">
                <a:solidFill>
                  <a:prstClr val="black"/>
                </a:solidFill>
                <a:latin typeface="굴림" pitchFamily="50" charset="-127"/>
                <a:ea typeface="굴림" pitchFamily="50" charset="-127"/>
              </a:rPr>
              <a:t> 1000 </a:t>
            </a:r>
            <a:r>
              <a:rPr kumimoji="1" lang="en-US" altLang="ko-KR" sz="1600" b="1" dirty="0" err="1">
                <a:solidFill>
                  <a:prstClr val="black"/>
                </a:solidFill>
                <a:latin typeface="굴림" pitchFamily="50" charset="-127"/>
                <a:ea typeface="굴림" pitchFamily="50" charset="-127"/>
              </a:rPr>
              <a:t>sản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phẩm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thì</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chỉ</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sinh</a:t>
            </a:r>
            <a:r>
              <a:rPr kumimoji="1" lang="en-US" altLang="ko-KR" sz="1600" b="1" dirty="0">
                <a:solidFill>
                  <a:prstClr val="black"/>
                </a:solidFill>
                <a:latin typeface="굴림" pitchFamily="50" charset="-127"/>
                <a:ea typeface="굴림" pitchFamily="50" charset="-127"/>
              </a:rPr>
              <a:t> 1 </a:t>
            </a:r>
            <a:r>
              <a:rPr kumimoji="1" lang="en-US" altLang="ko-KR" sz="1600" b="1" dirty="0" err="1">
                <a:solidFill>
                  <a:prstClr val="black"/>
                </a:solidFill>
                <a:latin typeface="굴림" pitchFamily="50" charset="-127"/>
                <a:ea typeface="굴림" pitchFamily="50" charset="-127"/>
              </a:rPr>
              <a:t>hoặc</a:t>
            </a:r>
            <a:r>
              <a:rPr kumimoji="1" lang="en-US" altLang="ko-KR" sz="1600" b="1" dirty="0">
                <a:solidFill>
                  <a:prstClr val="black"/>
                </a:solidFill>
                <a:latin typeface="굴림" pitchFamily="50" charset="-127"/>
                <a:ea typeface="굴림" pitchFamily="50" charset="-127"/>
              </a:rPr>
              <a:t> 2. </a:t>
            </a:r>
            <a:r>
              <a:rPr kumimoji="1" lang="en-US" altLang="ko-KR" sz="1600" b="1" dirty="0" err="1">
                <a:solidFill>
                  <a:prstClr val="black"/>
                </a:solidFill>
                <a:latin typeface="굴림" pitchFamily="50" charset="-127"/>
                <a:ea typeface="굴림" pitchFamily="50" charset="-127"/>
              </a:rPr>
              <a:t>Đây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nghĩa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phát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sinh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hàng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lỗi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đạt</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tiêu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chuẩn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mà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process </a:t>
            </a:r>
            <a:r>
              <a:rPr kumimoji="1" lang="en-US" altLang="ko-KR" sz="1600" b="1" dirty="0" err="1">
                <a:solidFill>
                  <a:prstClr val="black"/>
                </a:solidFill>
                <a:latin typeface="굴림" pitchFamily="50" charset="-127"/>
                <a:ea typeface="굴림" pitchFamily="50" charset="-127"/>
              </a:rPr>
              <a:t>đã</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thay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đổi</a:t>
            </a:r>
            <a:r>
              <a:rPr kumimoji="1" lang="en-US" altLang="ko-KR" sz="1600" b="1" dirty="0">
                <a:solidFill>
                  <a:prstClr val="black"/>
                </a:solidFill>
                <a:latin typeface="굴림" pitchFamily="50" charset="-127"/>
                <a:ea typeface="굴림" pitchFamily="50" charset="-127"/>
              </a:rPr>
              <a:t> so </a:t>
            </a:r>
            <a:r>
              <a:rPr kumimoji="1" lang="en-US" altLang="ko-KR" sz="1600" b="1" dirty="0" err="1">
                <a:solidFill>
                  <a:prstClr val="black"/>
                </a:solidFill>
                <a:latin typeface="굴림" pitchFamily="50" charset="-127"/>
                <a:ea typeface="굴림" pitchFamily="50" charset="-127"/>
              </a:rPr>
              <a:t>với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trước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đây</a:t>
            </a:r>
            <a:r>
              <a:rPr kumimoji="1" lang="en-US" altLang="ko-KR" sz="1600" b="1" dirty="0">
                <a:solidFill>
                  <a:prstClr val="black"/>
                </a:solidFill>
                <a:latin typeface="굴림" pitchFamily="50" charset="-127"/>
                <a:ea typeface="굴림" pitchFamily="50" charset="-127"/>
              </a:rPr>
              <a:t>. Ở </a:t>
            </a:r>
            <a:r>
              <a:rPr kumimoji="1" lang="en-US" altLang="ko-KR" sz="1600" b="1" dirty="0" err="1">
                <a:solidFill>
                  <a:prstClr val="black"/>
                </a:solidFill>
                <a:latin typeface="굴림" pitchFamily="50" charset="-127"/>
                <a:ea typeface="굴림" pitchFamily="50" charset="-127"/>
              </a:rPr>
              <a:t>mức</a:t>
            </a:r>
            <a:endParaRPr kumimoji="1" lang="en-US" altLang="ko-KR" sz="1600" b="1" dirty="0">
              <a:solidFill>
                <a:prstClr val="black"/>
              </a:solidFill>
              <a:latin typeface="굴림" pitchFamily="50" charset="-127"/>
              <a:ea typeface="굴림" pitchFamily="50" charset="-127"/>
            </a:endParaRPr>
          </a:p>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độ</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liệu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chúng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phải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kiểm</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tra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lại</a:t>
            </a:r>
            <a:r>
              <a:rPr kumimoji="1" lang="en-US" altLang="ko-KR" sz="1600" b="1" dirty="0">
                <a:solidFill>
                  <a:prstClr val="black"/>
                </a:solidFill>
                <a:latin typeface="굴림" pitchFamily="50" charset="-127"/>
                <a:ea typeface="굴림" pitchFamily="50" charset="-127"/>
              </a:rPr>
              <a:t> process hay </a:t>
            </a:r>
            <a:r>
              <a:rPr kumimoji="1" lang="en-US" altLang="ko-KR" sz="1600" b="1" dirty="0" err="1">
                <a:solidFill>
                  <a:prstClr val="black"/>
                </a:solidFill>
                <a:latin typeface="굴림" pitchFamily="50" charset="-127"/>
                <a:ea typeface="굴림" pitchFamily="50" charset="-127"/>
              </a:rPr>
              <a:t>không</a:t>
            </a:r>
            <a:r>
              <a:rPr kumimoji="1" lang="en-US" altLang="ko-KR" sz="1600" b="1" dirty="0">
                <a:solidFill>
                  <a:prstClr val="black"/>
                </a:solidFill>
                <a:latin typeface="굴림" pitchFamily="50" charset="-127"/>
                <a:ea typeface="굴림" pitchFamily="50" charset="-127"/>
              </a:rPr>
              <a:t>?</a:t>
            </a:r>
          </a:p>
        </p:txBody>
      </p:sp>
      <p:sp>
        <p:nvSpPr>
          <p:cNvPr id="108"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en-US" altLang="ko-KR" sz="2000" b="1" dirty="0">
                <a:solidFill>
                  <a:prstClr val="black"/>
                </a:solidFill>
              </a:rPr>
              <a:t> (</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109"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295</a:t>
            </a:fld>
            <a:endParaRPr lang="ko-KR" altLang="en-US" sz="1200" dirty="0">
              <a:solidFill>
                <a:prstClr val="black"/>
              </a:solidFill>
            </a:endParaRPr>
          </a:p>
        </p:txBody>
      </p:sp>
    </p:spTree>
    <p:extLst>
      <p:ext uri="{BB962C8B-B14F-4D97-AF65-F5344CB8AC3E}">
        <p14:creationId xmlns:p14="http://schemas.microsoft.com/office/powerpoint/2010/main" val="3657327850"/>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Group 736"/>
          <p:cNvGraphicFramePr>
            <a:graphicFrameLocks noGrp="1"/>
          </p:cNvGraphicFramePr>
          <p:nvPr>
            <p:extLst>
              <p:ext uri="{D42A27DB-BD31-4B8C-83A1-F6EECF244321}">
                <p14:modId xmlns:p14="http://schemas.microsoft.com/office/powerpoint/2010/main" val="666940124"/>
              </p:ext>
            </p:extLst>
          </p:nvPr>
        </p:nvGraphicFramePr>
        <p:xfrm>
          <a:off x="1271664" y="1845791"/>
          <a:ext cx="6844817" cy="1658940"/>
        </p:xfrm>
        <a:graphic>
          <a:graphicData uri="http://schemas.openxmlformats.org/drawingml/2006/table">
            <a:tbl>
              <a:tblPr/>
              <a:tblGrid>
                <a:gridCol w="844666">
                  <a:extLst>
                    <a:ext uri="{9D8B030D-6E8A-4147-A177-3AD203B41FA5}">
                      <a16:colId xmlns:a16="http://schemas.microsoft.com/office/drawing/2014/main" val="20000"/>
                    </a:ext>
                  </a:extLst>
                </a:gridCol>
                <a:gridCol w="400010">
                  <a:extLst>
                    <a:ext uri="{9D8B030D-6E8A-4147-A177-3AD203B41FA5}">
                      <a16:colId xmlns:a16="http://schemas.microsoft.com/office/drawing/2014/main" val="20001"/>
                    </a:ext>
                  </a:extLst>
                </a:gridCol>
                <a:gridCol w="400010">
                  <a:extLst>
                    <a:ext uri="{9D8B030D-6E8A-4147-A177-3AD203B41FA5}">
                      <a16:colId xmlns:a16="http://schemas.microsoft.com/office/drawing/2014/main" val="20002"/>
                    </a:ext>
                  </a:extLst>
                </a:gridCol>
                <a:gridCol w="400010">
                  <a:extLst>
                    <a:ext uri="{9D8B030D-6E8A-4147-A177-3AD203B41FA5}">
                      <a16:colId xmlns:a16="http://schemas.microsoft.com/office/drawing/2014/main" val="20003"/>
                    </a:ext>
                  </a:extLst>
                </a:gridCol>
                <a:gridCol w="400010">
                  <a:extLst>
                    <a:ext uri="{9D8B030D-6E8A-4147-A177-3AD203B41FA5}">
                      <a16:colId xmlns:a16="http://schemas.microsoft.com/office/drawing/2014/main" val="20004"/>
                    </a:ext>
                  </a:extLst>
                </a:gridCol>
                <a:gridCol w="401795">
                  <a:extLst>
                    <a:ext uri="{9D8B030D-6E8A-4147-A177-3AD203B41FA5}">
                      <a16:colId xmlns:a16="http://schemas.microsoft.com/office/drawing/2014/main" val="20005"/>
                    </a:ext>
                  </a:extLst>
                </a:gridCol>
                <a:gridCol w="398226">
                  <a:extLst>
                    <a:ext uri="{9D8B030D-6E8A-4147-A177-3AD203B41FA5}">
                      <a16:colId xmlns:a16="http://schemas.microsoft.com/office/drawing/2014/main" val="20006"/>
                    </a:ext>
                  </a:extLst>
                </a:gridCol>
                <a:gridCol w="400010">
                  <a:extLst>
                    <a:ext uri="{9D8B030D-6E8A-4147-A177-3AD203B41FA5}">
                      <a16:colId xmlns:a16="http://schemas.microsoft.com/office/drawing/2014/main" val="20007"/>
                    </a:ext>
                  </a:extLst>
                </a:gridCol>
                <a:gridCol w="400010">
                  <a:extLst>
                    <a:ext uri="{9D8B030D-6E8A-4147-A177-3AD203B41FA5}">
                      <a16:colId xmlns:a16="http://schemas.microsoft.com/office/drawing/2014/main" val="20008"/>
                    </a:ext>
                  </a:extLst>
                </a:gridCol>
                <a:gridCol w="400010">
                  <a:extLst>
                    <a:ext uri="{9D8B030D-6E8A-4147-A177-3AD203B41FA5}">
                      <a16:colId xmlns:a16="http://schemas.microsoft.com/office/drawing/2014/main" val="20009"/>
                    </a:ext>
                  </a:extLst>
                </a:gridCol>
                <a:gridCol w="400010">
                  <a:extLst>
                    <a:ext uri="{9D8B030D-6E8A-4147-A177-3AD203B41FA5}">
                      <a16:colId xmlns:a16="http://schemas.microsoft.com/office/drawing/2014/main" val="20010"/>
                    </a:ext>
                  </a:extLst>
                </a:gridCol>
                <a:gridCol w="400010">
                  <a:extLst>
                    <a:ext uri="{9D8B030D-6E8A-4147-A177-3AD203B41FA5}">
                      <a16:colId xmlns:a16="http://schemas.microsoft.com/office/drawing/2014/main" val="20011"/>
                    </a:ext>
                  </a:extLst>
                </a:gridCol>
                <a:gridCol w="400010">
                  <a:extLst>
                    <a:ext uri="{9D8B030D-6E8A-4147-A177-3AD203B41FA5}">
                      <a16:colId xmlns:a16="http://schemas.microsoft.com/office/drawing/2014/main" val="20012"/>
                    </a:ext>
                  </a:extLst>
                </a:gridCol>
                <a:gridCol w="400010">
                  <a:extLst>
                    <a:ext uri="{9D8B030D-6E8A-4147-A177-3AD203B41FA5}">
                      <a16:colId xmlns:a16="http://schemas.microsoft.com/office/drawing/2014/main" val="20013"/>
                    </a:ext>
                  </a:extLst>
                </a:gridCol>
                <a:gridCol w="400010">
                  <a:extLst>
                    <a:ext uri="{9D8B030D-6E8A-4147-A177-3AD203B41FA5}">
                      <a16:colId xmlns:a16="http://schemas.microsoft.com/office/drawing/2014/main" val="20014"/>
                    </a:ext>
                  </a:extLst>
                </a:gridCol>
                <a:gridCol w="400010">
                  <a:extLst>
                    <a:ext uri="{9D8B030D-6E8A-4147-A177-3AD203B41FA5}">
                      <a16:colId xmlns:a16="http://schemas.microsoft.com/office/drawing/2014/main" val="20015"/>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5723" name="Text Box 3"/>
          <p:cNvSpPr txBox="1">
            <a:spLocks noChangeArrowheads="1"/>
          </p:cNvSpPr>
          <p:nvPr/>
        </p:nvSpPr>
        <p:spPr bwMode="auto">
          <a:xfrm>
            <a:off x="726543" y="1217147"/>
            <a:ext cx="4606154"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Out of the 3 σ of the management limit line</a:t>
            </a:r>
            <a:endParaRPr lang="ko-KR" altLang="en-US" sz="1600" b="1" dirty="0">
              <a:solidFill>
                <a:prstClr val="black"/>
              </a:solidFill>
              <a:latin typeface="맑은 고딕" pitchFamily="50" charset="-127"/>
              <a:ea typeface="맑은 고딕" pitchFamily="50" charset="-127"/>
            </a:endParaRPr>
          </a:p>
        </p:txBody>
      </p:sp>
      <p:sp>
        <p:nvSpPr>
          <p:cNvPr id="25724" name="Oval 154"/>
          <p:cNvSpPr>
            <a:spLocks noChangeArrowheads="1"/>
          </p:cNvSpPr>
          <p:nvPr/>
        </p:nvSpPr>
        <p:spPr bwMode="auto">
          <a:xfrm>
            <a:off x="2208037" y="2658591"/>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5" name="Oval 155"/>
          <p:cNvSpPr>
            <a:spLocks noChangeArrowheads="1"/>
          </p:cNvSpPr>
          <p:nvPr/>
        </p:nvSpPr>
        <p:spPr bwMode="auto">
          <a:xfrm>
            <a:off x="2612484" y="2441125"/>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6" name="Oval 156"/>
          <p:cNvSpPr>
            <a:spLocks noChangeArrowheads="1"/>
          </p:cNvSpPr>
          <p:nvPr/>
        </p:nvSpPr>
        <p:spPr bwMode="auto">
          <a:xfrm>
            <a:off x="3016932" y="2780850"/>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7" name="Oval 157"/>
          <p:cNvSpPr>
            <a:spLocks noChangeArrowheads="1"/>
          </p:cNvSpPr>
          <p:nvPr/>
        </p:nvSpPr>
        <p:spPr bwMode="auto">
          <a:xfrm>
            <a:off x="3421380" y="2658591"/>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8" name="Oval 158"/>
          <p:cNvSpPr>
            <a:spLocks noChangeArrowheads="1"/>
          </p:cNvSpPr>
          <p:nvPr/>
        </p:nvSpPr>
        <p:spPr bwMode="auto">
          <a:xfrm>
            <a:off x="3825828" y="2945932"/>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9" name="Oval 159"/>
          <p:cNvSpPr>
            <a:spLocks noChangeArrowheads="1"/>
          </p:cNvSpPr>
          <p:nvPr/>
        </p:nvSpPr>
        <p:spPr bwMode="auto">
          <a:xfrm>
            <a:off x="4231734" y="2225225"/>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0" name="Oval 160"/>
          <p:cNvSpPr>
            <a:spLocks noChangeArrowheads="1"/>
          </p:cNvSpPr>
          <p:nvPr/>
        </p:nvSpPr>
        <p:spPr bwMode="auto">
          <a:xfrm>
            <a:off x="4636182" y="2441125"/>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5731" name="AutoShape 161"/>
          <p:cNvCxnSpPr>
            <a:cxnSpLocks noChangeShapeType="1"/>
            <a:stCxn id="25724" idx="6"/>
            <a:endCxn id="25725" idx="3"/>
          </p:cNvCxnSpPr>
          <p:nvPr/>
        </p:nvCxnSpPr>
        <p:spPr bwMode="auto">
          <a:xfrm flipV="1">
            <a:off x="2273979" y="2501450"/>
            <a:ext cx="348762" cy="193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2" name="AutoShape 162"/>
          <p:cNvCxnSpPr>
            <a:cxnSpLocks noChangeShapeType="1"/>
            <a:stCxn id="25725" idx="5"/>
            <a:endCxn id="25726" idx="2"/>
          </p:cNvCxnSpPr>
          <p:nvPr/>
        </p:nvCxnSpPr>
        <p:spPr bwMode="auto">
          <a:xfrm>
            <a:off x="2668167" y="2501429"/>
            <a:ext cx="348762" cy="3159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3" name="AutoShape 163"/>
          <p:cNvCxnSpPr>
            <a:cxnSpLocks noChangeShapeType="1"/>
            <a:stCxn id="25727" idx="5"/>
            <a:endCxn id="25728" idx="2"/>
          </p:cNvCxnSpPr>
          <p:nvPr/>
        </p:nvCxnSpPr>
        <p:spPr bwMode="auto">
          <a:xfrm>
            <a:off x="3477059" y="2718937"/>
            <a:ext cx="348762"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4" name="AutoShape 164"/>
          <p:cNvCxnSpPr>
            <a:cxnSpLocks noChangeShapeType="1"/>
            <a:stCxn id="25728" idx="7"/>
            <a:endCxn id="25729" idx="3"/>
          </p:cNvCxnSpPr>
          <p:nvPr/>
        </p:nvCxnSpPr>
        <p:spPr bwMode="auto">
          <a:xfrm flipV="1">
            <a:off x="3881516" y="2285529"/>
            <a:ext cx="360485" cy="6715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5" name="AutoShape 165"/>
          <p:cNvCxnSpPr>
            <a:cxnSpLocks noChangeShapeType="1"/>
            <a:stCxn id="25729" idx="6"/>
            <a:endCxn id="25730" idx="2"/>
          </p:cNvCxnSpPr>
          <p:nvPr/>
        </p:nvCxnSpPr>
        <p:spPr bwMode="auto">
          <a:xfrm>
            <a:off x="4297677" y="2261716"/>
            <a:ext cx="338504"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36" name="Oval 166"/>
          <p:cNvSpPr>
            <a:spLocks noChangeArrowheads="1"/>
          </p:cNvSpPr>
          <p:nvPr/>
        </p:nvSpPr>
        <p:spPr bwMode="auto">
          <a:xfrm>
            <a:off x="5040630" y="1648941"/>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7" name="Oval 167"/>
          <p:cNvSpPr>
            <a:spLocks noChangeArrowheads="1"/>
          </p:cNvSpPr>
          <p:nvPr/>
        </p:nvSpPr>
        <p:spPr bwMode="auto">
          <a:xfrm>
            <a:off x="5445078" y="2658591"/>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8" name="Oval 168"/>
          <p:cNvSpPr>
            <a:spLocks noChangeArrowheads="1"/>
          </p:cNvSpPr>
          <p:nvPr/>
        </p:nvSpPr>
        <p:spPr bwMode="auto">
          <a:xfrm>
            <a:off x="5849519" y="2945932"/>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9" name="Oval 169"/>
          <p:cNvSpPr>
            <a:spLocks noChangeArrowheads="1"/>
          </p:cNvSpPr>
          <p:nvPr/>
        </p:nvSpPr>
        <p:spPr bwMode="auto">
          <a:xfrm>
            <a:off x="6255432" y="2441125"/>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40" name="Oval 170"/>
          <p:cNvSpPr>
            <a:spLocks noChangeArrowheads="1"/>
          </p:cNvSpPr>
          <p:nvPr/>
        </p:nvSpPr>
        <p:spPr bwMode="auto">
          <a:xfrm>
            <a:off x="6659880" y="1648941"/>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5741" name="AutoShape 171"/>
          <p:cNvCxnSpPr>
            <a:cxnSpLocks noChangeShapeType="1"/>
            <a:stCxn id="25736" idx="5"/>
            <a:endCxn id="25737" idx="1"/>
          </p:cNvCxnSpPr>
          <p:nvPr/>
        </p:nvCxnSpPr>
        <p:spPr bwMode="auto">
          <a:xfrm>
            <a:off x="5096319" y="1709266"/>
            <a:ext cx="359019" cy="960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2" name="AutoShape 172"/>
          <p:cNvCxnSpPr>
            <a:cxnSpLocks noChangeShapeType="1"/>
            <a:stCxn id="25737" idx="5"/>
            <a:endCxn id="25738" idx="2"/>
          </p:cNvCxnSpPr>
          <p:nvPr/>
        </p:nvCxnSpPr>
        <p:spPr bwMode="auto">
          <a:xfrm>
            <a:off x="5500756" y="2718937"/>
            <a:ext cx="348762"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43" name="Text Box 2"/>
          <p:cNvSpPr txBox="1">
            <a:spLocks noChangeArrowheads="1"/>
          </p:cNvSpPr>
          <p:nvPr/>
        </p:nvSpPr>
        <p:spPr bwMode="auto">
          <a:xfrm>
            <a:off x="873083" y="764704"/>
            <a:ext cx="35493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Management Limit Exit (1)&gt;</a:t>
            </a:r>
            <a:endParaRPr lang="ko-KR" altLang="en-US" b="1" dirty="0">
              <a:solidFill>
                <a:prstClr val="black"/>
              </a:solidFill>
              <a:latin typeface="맑은 고딕" pitchFamily="50" charset="-127"/>
              <a:ea typeface="맑은 고딕" pitchFamily="50" charset="-127"/>
            </a:endParaRPr>
          </a:p>
        </p:txBody>
      </p:sp>
      <p:cxnSp>
        <p:nvCxnSpPr>
          <p:cNvPr id="25744" name="AutoShape 175"/>
          <p:cNvCxnSpPr>
            <a:cxnSpLocks noChangeShapeType="1"/>
            <a:stCxn id="25726" idx="6"/>
            <a:endCxn id="25727" idx="2"/>
          </p:cNvCxnSpPr>
          <p:nvPr/>
        </p:nvCxnSpPr>
        <p:spPr bwMode="auto">
          <a:xfrm flipV="1">
            <a:off x="3082876" y="2695125"/>
            <a:ext cx="338503" cy="1222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5" name="AutoShape 176"/>
          <p:cNvCxnSpPr>
            <a:cxnSpLocks noChangeShapeType="1"/>
            <a:stCxn id="25730" idx="7"/>
            <a:endCxn id="25736" idx="3"/>
          </p:cNvCxnSpPr>
          <p:nvPr/>
        </p:nvCxnSpPr>
        <p:spPr bwMode="auto">
          <a:xfrm flipV="1">
            <a:off x="4691874" y="1709266"/>
            <a:ext cx="359019"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6" name="AutoShape 177"/>
          <p:cNvCxnSpPr>
            <a:cxnSpLocks noChangeShapeType="1"/>
            <a:stCxn id="25738" idx="7"/>
            <a:endCxn id="25739" idx="3"/>
          </p:cNvCxnSpPr>
          <p:nvPr/>
        </p:nvCxnSpPr>
        <p:spPr bwMode="auto">
          <a:xfrm flipV="1">
            <a:off x="5905212" y="2501429"/>
            <a:ext cx="360485" cy="4556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7" name="AutoShape 178"/>
          <p:cNvCxnSpPr>
            <a:cxnSpLocks noChangeShapeType="1"/>
            <a:stCxn id="25739" idx="7"/>
            <a:endCxn id="25740" idx="3"/>
          </p:cNvCxnSpPr>
          <p:nvPr/>
        </p:nvCxnSpPr>
        <p:spPr bwMode="auto">
          <a:xfrm flipV="1">
            <a:off x="6311113" y="1709266"/>
            <a:ext cx="359020"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48" name="Text Box 179"/>
          <p:cNvSpPr txBox="1">
            <a:spLocks noChangeArrowheads="1"/>
          </p:cNvSpPr>
          <p:nvPr/>
        </p:nvSpPr>
        <p:spPr bwMode="auto">
          <a:xfrm>
            <a:off x="650344" y="1648941"/>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5749" name="Text Box 180"/>
          <p:cNvSpPr txBox="1">
            <a:spLocks noChangeArrowheads="1"/>
          </p:cNvSpPr>
          <p:nvPr/>
        </p:nvSpPr>
        <p:spPr bwMode="auto">
          <a:xfrm>
            <a:off x="650334" y="323326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5750" name="AutoShape 181"/>
          <p:cNvSpPr>
            <a:spLocks noChangeArrowheads="1"/>
          </p:cNvSpPr>
          <p:nvPr/>
        </p:nvSpPr>
        <p:spPr bwMode="auto">
          <a:xfrm>
            <a:off x="716573" y="4149080"/>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25751" name="Text Box 182"/>
          <p:cNvSpPr txBox="1">
            <a:spLocks noChangeArrowheads="1"/>
          </p:cNvSpPr>
          <p:nvPr/>
        </p:nvSpPr>
        <p:spPr bwMode="auto">
          <a:xfrm>
            <a:off x="719205" y="2441105"/>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5752" name="AutoShape 183"/>
          <p:cNvSpPr>
            <a:spLocks noChangeArrowheads="1"/>
          </p:cNvSpPr>
          <p:nvPr/>
        </p:nvSpPr>
        <p:spPr bwMode="auto">
          <a:xfrm>
            <a:off x="716573" y="414908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Causes</a:t>
            </a:r>
            <a:endParaRPr lang="ko-KR" altLang="en-US" sz="1600" b="1" dirty="0">
              <a:solidFill>
                <a:prstClr val="black"/>
              </a:solidFill>
              <a:latin typeface="맑은 고딕" pitchFamily="50" charset="-127"/>
              <a:ea typeface="맑은 고딕" pitchFamily="50" charset="-127"/>
            </a:endParaRPr>
          </a:p>
        </p:txBody>
      </p:sp>
      <p:graphicFrame>
        <p:nvGraphicFramePr>
          <p:cNvPr id="33" name="Group 220"/>
          <p:cNvGraphicFramePr>
            <a:graphicFrameLocks noGrp="1"/>
          </p:cNvGraphicFramePr>
          <p:nvPr>
            <p:extLst>
              <p:ext uri="{D42A27DB-BD31-4B8C-83A1-F6EECF244321}">
                <p14:modId xmlns:p14="http://schemas.microsoft.com/office/powerpoint/2010/main" val="552732858"/>
              </p:ext>
            </p:extLst>
          </p:nvPr>
        </p:nvGraphicFramePr>
        <p:xfrm>
          <a:off x="782515" y="4580880"/>
          <a:ext cx="7444154" cy="1862289"/>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56536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Too many machine adjustments, unstable fixing device, differences in materials, operators, and instruments</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67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control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Cause such as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 too frequent process adjustment, wrong inspection method</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6320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Irregular inspection standards, materials supplied from other suppliers or production facilities, careless or unskilled work, poor maintenance</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767" name="Oval 198"/>
          <p:cNvSpPr>
            <a:spLocks noChangeArrowheads="1"/>
          </p:cNvSpPr>
          <p:nvPr/>
        </p:nvSpPr>
        <p:spPr bwMode="auto">
          <a:xfrm>
            <a:off x="7064328" y="1937866"/>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68" name="Oval 199"/>
          <p:cNvSpPr>
            <a:spLocks noChangeArrowheads="1"/>
          </p:cNvSpPr>
          <p:nvPr/>
        </p:nvSpPr>
        <p:spPr bwMode="auto">
          <a:xfrm>
            <a:off x="7468768" y="2730050"/>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69" name="Oval 200"/>
          <p:cNvSpPr>
            <a:spLocks noChangeArrowheads="1"/>
          </p:cNvSpPr>
          <p:nvPr/>
        </p:nvSpPr>
        <p:spPr bwMode="auto">
          <a:xfrm>
            <a:off x="7874682" y="2945932"/>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5770" name="AutoShape 204"/>
          <p:cNvCxnSpPr>
            <a:cxnSpLocks noChangeShapeType="1"/>
            <a:stCxn id="25740" idx="5"/>
            <a:endCxn id="25767" idx="1"/>
          </p:cNvCxnSpPr>
          <p:nvPr/>
        </p:nvCxnSpPr>
        <p:spPr bwMode="auto">
          <a:xfrm>
            <a:off x="6715559" y="1709284"/>
            <a:ext cx="35902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71" name="AutoShape 205"/>
          <p:cNvCxnSpPr>
            <a:cxnSpLocks noChangeShapeType="1"/>
            <a:stCxn id="25767" idx="5"/>
            <a:endCxn id="25768" idx="1"/>
          </p:cNvCxnSpPr>
          <p:nvPr/>
        </p:nvCxnSpPr>
        <p:spPr bwMode="auto">
          <a:xfrm>
            <a:off x="7120006" y="1998191"/>
            <a:ext cx="359020"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72" name="AutoShape 206"/>
          <p:cNvCxnSpPr>
            <a:cxnSpLocks noChangeShapeType="1"/>
            <a:stCxn id="25768" idx="5"/>
            <a:endCxn id="25769" idx="2"/>
          </p:cNvCxnSpPr>
          <p:nvPr/>
        </p:nvCxnSpPr>
        <p:spPr bwMode="auto">
          <a:xfrm>
            <a:off x="7524462" y="2790361"/>
            <a:ext cx="350227" cy="1920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73" name="Oval 214"/>
          <p:cNvSpPr>
            <a:spLocks noChangeArrowheads="1"/>
          </p:cNvSpPr>
          <p:nvPr/>
        </p:nvSpPr>
        <p:spPr bwMode="auto">
          <a:xfrm>
            <a:off x="4895561" y="1531487"/>
            <a:ext cx="331177" cy="2825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74" name="Oval 215"/>
          <p:cNvSpPr>
            <a:spLocks noChangeArrowheads="1"/>
          </p:cNvSpPr>
          <p:nvPr/>
        </p:nvSpPr>
        <p:spPr bwMode="auto">
          <a:xfrm>
            <a:off x="6522139" y="1531487"/>
            <a:ext cx="331177" cy="2825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49" name="Text Box 264"/>
          <p:cNvSpPr txBox="1">
            <a:spLocks noChangeArrowheads="1"/>
          </p:cNvSpPr>
          <p:nvPr/>
        </p:nvSpPr>
        <p:spPr bwMode="auto">
          <a:xfrm>
            <a:off x="6215074" y="3571876"/>
            <a:ext cx="265861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kumimoji="1" lang="en-US" altLang="ko-KR" sz="1200" b="1" dirty="0">
                <a:solidFill>
                  <a:srgbClr val="A9072E"/>
                </a:solidFill>
                <a:ea typeface="굴림" charset="-127"/>
              </a:rPr>
              <a:t>Probability of occurrence: 0.135%</a:t>
            </a:r>
            <a:endParaRPr kumimoji="1" lang="ko-KR" altLang="en-US" sz="1200" b="1" dirty="0">
              <a:solidFill>
                <a:srgbClr val="A9072E"/>
              </a:solidFill>
              <a:ea typeface="굴림" charset="-127"/>
            </a:endParaRPr>
          </a:p>
        </p:txBody>
      </p:sp>
      <p:sp>
        <p:nvSpPr>
          <p:cNvPr id="47" name="Text Box 39"/>
          <p:cNvSpPr txBox="1">
            <a:spLocks noChangeArrowheads="1"/>
          </p:cNvSpPr>
          <p:nvPr/>
        </p:nvSpPr>
        <p:spPr bwMode="auto">
          <a:xfrm>
            <a:off x="6715140" y="357166"/>
            <a:ext cx="2565126"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Limit line deviation (1)</a:t>
            </a:r>
          </a:p>
        </p:txBody>
      </p:sp>
      <p:sp>
        <p:nvSpPr>
          <p:cNvPr id="51"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48"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296</a:t>
            </a:fld>
            <a:endParaRPr lang="ko-KR" altLang="en-US" sz="1200" dirty="0">
              <a:solidFill>
                <a:prstClr val="black"/>
              </a:solidFill>
            </a:endParaRPr>
          </a:p>
        </p:txBody>
      </p:sp>
    </p:spTree>
    <p:extLst>
      <p:ext uri="{BB962C8B-B14F-4D97-AF65-F5344CB8AC3E}">
        <p14:creationId xmlns:p14="http://schemas.microsoft.com/office/powerpoint/2010/main" val="3935138176"/>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 name="Group 842"/>
          <p:cNvGraphicFramePr>
            <a:graphicFrameLocks noGrp="1"/>
          </p:cNvGraphicFramePr>
          <p:nvPr>
            <p:extLst>
              <p:ext uri="{D42A27DB-BD31-4B8C-83A1-F6EECF244321}">
                <p14:modId xmlns:p14="http://schemas.microsoft.com/office/powerpoint/2010/main" val="293629758"/>
              </p:ext>
            </p:extLst>
          </p:nvPr>
        </p:nvGraphicFramePr>
        <p:xfrm>
          <a:off x="1313224" y="1769020"/>
          <a:ext cx="6780336" cy="1658940"/>
        </p:xfrm>
        <a:graphic>
          <a:graphicData uri="http://schemas.openxmlformats.org/drawingml/2006/table">
            <a:tbl>
              <a:tblPr/>
              <a:tblGrid>
                <a:gridCol w="523143">
                  <a:extLst>
                    <a:ext uri="{9D8B030D-6E8A-4147-A177-3AD203B41FA5}">
                      <a16:colId xmlns:a16="http://schemas.microsoft.com/office/drawing/2014/main" val="20000"/>
                    </a:ext>
                  </a:extLst>
                </a:gridCol>
                <a:gridCol w="520211">
                  <a:extLst>
                    <a:ext uri="{9D8B030D-6E8A-4147-A177-3AD203B41FA5}">
                      <a16:colId xmlns:a16="http://schemas.microsoft.com/office/drawing/2014/main" val="20001"/>
                    </a:ext>
                  </a:extLst>
                </a:gridCol>
                <a:gridCol w="523143">
                  <a:extLst>
                    <a:ext uri="{9D8B030D-6E8A-4147-A177-3AD203B41FA5}">
                      <a16:colId xmlns:a16="http://schemas.microsoft.com/office/drawing/2014/main" val="20002"/>
                    </a:ext>
                  </a:extLst>
                </a:gridCol>
                <a:gridCol w="521677">
                  <a:extLst>
                    <a:ext uri="{9D8B030D-6E8A-4147-A177-3AD203B41FA5}">
                      <a16:colId xmlns:a16="http://schemas.microsoft.com/office/drawing/2014/main" val="20003"/>
                    </a:ext>
                  </a:extLst>
                </a:gridCol>
                <a:gridCol w="521677">
                  <a:extLst>
                    <a:ext uri="{9D8B030D-6E8A-4147-A177-3AD203B41FA5}">
                      <a16:colId xmlns:a16="http://schemas.microsoft.com/office/drawing/2014/main" val="20004"/>
                    </a:ext>
                  </a:extLst>
                </a:gridCol>
                <a:gridCol w="521677">
                  <a:extLst>
                    <a:ext uri="{9D8B030D-6E8A-4147-A177-3AD203B41FA5}">
                      <a16:colId xmlns:a16="http://schemas.microsoft.com/office/drawing/2014/main" val="20005"/>
                    </a:ext>
                  </a:extLst>
                </a:gridCol>
                <a:gridCol w="523142">
                  <a:extLst>
                    <a:ext uri="{9D8B030D-6E8A-4147-A177-3AD203B41FA5}">
                      <a16:colId xmlns:a16="http://schemas.microsoft.com/office/drawing/2014/main" val="20006"/>
                    </a:ext>
                  </a:extLst>
                </a:gridCol>
                <a:gridCol w="520212">
                  <a:extLst>
                    <a:ext uri="{9D8B030D-6E8A-4147-A177-3AD203B41FA5}">
                      <a16:colId xmlns:a16="http://schemas.microsoft.com/office/drawing/2014/main" val="20007"/>
                    </a:ext>
                  </a:extLst>
                </a:gridCol>
                <a:gridCol w="523142">
                  <a:extLst>
                    <a:ext uri="{9D8B030D-6E8A-4147-A177-3AD203B41FA5}">
                      <a16:colId xmlns:a16="http://schemas.microsoft.com/office/drawing/2014/main" val="20008"/>
                    </a:ext>
                  </a:extLst>
                </a:gridCol>
                <a:gridCol w="518746">
                  <a:extLst>
                    <a:ext uri="{9D8B030D-6E8A-4147-A177-3AD203B41FA5}">
                      <a16:colId xmlns:a16="http://schemas.microsoft.com/office/drawing/2014/main" val="20009"/>
                    </a:ext>
                  </a:extLst>
                </a:gridCol>
                <a:gridCol w="521677">
                  <a:extLst>
                    <a:ext uri="{9D8B030D-6E8A-4147-A177-3AD203B41FA5}">
                      <a16:colId xmlns:a16="http://schemas.microsoft.com/office/drawing/2014/main" val="20010"/>
                    </a:ext>
                  </a:extLst>
                </a:gridCol>
                <a:gridCol w="521677">
                  <a:extLst>
                    <a:ext uri="{9D8B030D-6E8A-4147-A177-3AD203B41FA5}">
                      <a16:colId xmlns:a16="http://schemas.microsoft.com/office/drawing/2014/main" val="20011"/>
                    </a:ext>
                  </a:extLst>
                </a:gridCol>
                <a:gridCol w="520212">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6724" name="Text Box 3"/>
          <p:cNvSpPr txBox="1">
            <a:spLocks noChangeArrowheads="1"/>
          </p:cNvSpPr>
          <p:nvPr/>
        </p:nvSpPr>
        <p:spPr bwMode="auto">
          <a:xfrm>
            <a:off x="836972" y="1172126"/>
            <a:ext cx="7082793"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- 9 or more consecutive points appearing on one side of the centerline</a:t>
            </a:r>
            <a:endParaRPr lang="ko-KR" altLang="en-US" sz="1600" b="1" dirty="0">
              <a:solidFill>
                <a:prstClr val="black"/>
              </a:solidFill>
              <a:latin typeface="맑은 고딕" pitchFamily="50" charset="-127"/>
              <a:ea typeface="맑은 고딕" pitchFamily="50" charset="-127"/>
            </a:endParaRPr>
          </a:p>
        </p:txBody>
      </p:sp>
      <p:sp>
        <p:nvSpPr>
          <p:cNvPr id="26725" name="Oval 115"/>
          <p:cNvSpPr>
            <a:spLocks noChangeArrowheads="1"/>
          </p:cNvSpPr>
          <p:nvPr/>
        </p:nvSpPr>
        <p:spPr bwMode="auto">
          <a:xfrm>
            <a:off x="2044441" y="2900907"/>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6" name="Oval 116"/>
          <p:cNvSpPr>
            <a:spLocks noChangeArrowheads="1"/>
          </p:cNvSpPr>
          <p:nvPr/>
        </p:nvSpPr>
        <p:spPr bwMode="auto">
          <a:xfrm>
            <a:off x="2576380" y="26532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7" name="Oval 117"/>
          <p:cNvSpPr>
            <a:spLocks noChangeArrowheads="1"/>
          </p:cNvSpPr>
          <p:nvPr/>
        </p:nvSpPr>
        <p:spPr bwMode="auto">
          <a:xfrm>
            <a:off x="3108311" y="23960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8" name="Oval 118"/>
          <p:cNvSpPr>
            <a:spLocks noChangeArrowheads="1"/>
          </p:cNvSpPr>
          <p:nvPr/>
        </p:nvSpPr>
        <p:spPr bwMode="auto">
          <a:xfrm>
            <a:off x="3640252" y="22040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9" name="Oval 119"/>
          <p:cNvSpPr>
            <a:spLocks noChangeArrowheads="1"/>
          </p:cNvSpPr>
          <p:nvPr/>
        </p:nvSpPr>
        <p:spPr bwMode="auto">
          <a:xfrm>
            <a:off x="4172181" y="2396082"/>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0" name="Oval 120"/>
          <p:cNvSpPr>
            <a:spLocks noChangeArrowheads="1"/>
          </p:cNvSpPr>
          <p:nvPr/>
        </p:nvSpPr>
        <p:spPr bwMode="auto">
          <a:xfrm>
            <a:off x="4704113" y="21801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1" name="Oval 121"/>
          <p:cNvSpPr>
            <a:spLocks noChangeArrowheads="1"/>
          </p:cNvSpPr>
          <p:nvPr/>
        </p:nvSpPr>
        <p:spPr bwMode="auto">
          <a:xfrm>
            <a:off x="5236054" y="2035738"/>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6732" name="AutoShape 122"/>
          <p:cNvCxnSpPr>
            <a:cxnSpLocks noChangeShapeType="1"/>
            <a:stCxn id="26725" idx="6"/>
            <a:endCxn id="26726" idx="2"/>
          </p:cNvCxnSpPr>
          <p:nvPr/>
        </p:nvCxnSpPr>
        <p:spPr bwMode="auto">
          <a:xfrm flipV="1">
            <a:off x="2110383" y="2689770"/>
            <a:ext cx="465992" cy="2476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3" name="AutoShape 123"/>
          <p:cNvCxnSpPr>
            <a:cxnSpLocks noChangeShapeType="1"/>
            <a:stCxn id="26726" idx="7"/>
            <a:endCxn id="26727" idx="2"/>
          </p:cNvCxnSpPr>
          <p:nvPr/>
        </p:nvCxnSpPr>
        <p:spPr bwMode="auto">
          <a:xfrm flipV="1">
            <a:off x="2632060" y="2432616"/>
            <a:ext cx="476250" cy="2317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4" name="AutoShape 124"/>
          <p:cNvCxnSpPr>
            <a:cxnSpLocks noChangeShapeType="1"/>
            <a:stCxn id="26728" idx="6"/>
            <a:endCxn id="26729" idx="3"/>
          </p:cNvCxnSpPr>
          <p:nvPr/>
        </p:nvCxnSpPr>
        <p:spPr bwMode="auto">
          <a:xfrm>
            <a:off x="3706187" y="2240507"/>
            <a:ext cx="476250"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5" name="AutoShape 125"/>
          <p:cNvCxnSpPr>
            <a:cxnSpLocks noChangeShapeType="1"/>
            <a:stCxn id="26729" idx="6"/>
            <a:endCxn id="26730" idx="2"/>
          </p:cNvCxnSpPr>
          <p:nvPr/>
        </p:nvCxnSpPr>
        <p:spPr bwMode="auto">
          <a:xfrm flipV="1">
            <a:off x="4239590" y="2216695"/>
            <a:ext cx="464526"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6" name="AutoShape 126"/>
          <p:cNvCxnSpPr>
            <a:cxnSpLocks noChangeShapeType="1"/>
            <a:stCxn id="26730" idx="7"/>
            <a:endCxn id="26731" idx="2"/>
          </p:cNvCxnSpPr>
          <p:nvPr/>
        </p:nvCxnSpPr>
        <p:spPr bwMode="auto">
          <a:xfrm flipV="1">
            <a:off x="4759798" y="2072253"/>
            <a:ext cx="476250" cy="1190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37" name="Oval 127"/>
          <p:cNvSpPr>
            <a:spLocks noChangeArrowheads="1"/>
          </p:cNvSpPr>
          <p:nvPr/>
        </p:nvSpPr>
        <p:spPr bwMode="auto">
          <a:xfrm>
            <a:off x="5700580" y="21801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8" name="Oval 128"/>
          <p:cNvSpPr>
            <a:spLocks noChangeArrowheads="1"/>
          </p:cNvSpPr>
          <p:nvPr/>
        </p:nvSpPr>
        <p:spPr bwMode="auto">
          <a:xfrm>
            <a:off x="6232511" y="18198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9" name="Oval 129"/>
          <p:cNvSpPr>
            <a:spLocks noChangeArrowheads="1"/>
          </p:cNvSpPr>
          <p:nvPr/>
        </p:nvSpPr>
        <p:spPr bwMode="auto">
          <a:xfrm>
            <a:off x="6764452" y="21087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40" name="Oval 130"/>
          <p:cNvSpPr>
            <a:spLocks noChangeArrowheads="1"/>
          </p:cNvSpPr>
          <p:nvPr/>
        </p:nvSpPr>
        <p:spPr bwMode="auto">
          <a:xfrm>
            <a:off x="7296381" y="2396082"/>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41" name="Oval 131"/>
          <p:cNvSpPr>
            <a:spLocks noChangeArrowheads="1"/>
          </p:cNvSpPr>
          <p:nvPr/>
        </p:nvSpPr>
        <p:spPr bwMode="auto">
          <a:xfrm>
            <a:off x="7828313" y="21087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6742" name="AutoShape 132"/>
          <p:cNvCxnSpPr>
            <a:cxnSpLocks noChangeShapeType="1"/>
            <a:stCxn id="26737" idx="6"/>
            <a:endCxn id="26738" idx="2"/>
          </p:cNvCxnSpPr>
          <p:nvPr/>
        </p:nvCxnSpPr>
        <p:spPr bwMode="auto">
          <a:xfrm flipV="1">
            <a:off x="5766518" y="1856350"/>
            <a:ext cx="465992" cy="3603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3" name="AutoShape 133"/>
          <p:cNvCxnSpPr>
            <a:cxnSpLocks noChangeShapeType="1"/>
            <a:stCxn id="26738" idx="5"/>
            <a:endCxn id="26739" idx="2"/>
          </p:cNvCxnSpPr>
          <p:nvPr/>
        </p:nvCxnSpPr>
        <p:spPr bwMode="auto">
          <a:xfrm>
            <a:off x="6288195" y="1880145"/>
            <a:ext cx="476250" cy="2651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44" name="Text Box 2"/>
          <p:cNvSpPr txBox="1">
            <a:spLocks noChangeArrowheads="1"/>
          </p:cNvSpPr>
          <p:nvPr/>
        </p:nvSpPr>
        <p:spPr bwMode="auto">
          <a:xfrm>
            <a:off x="716802" y="692696"/>
            <a:ext cx="1511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ko-KR" altLang="en-US" b="1" dirty="0">
                <a:solidFill>
                  <a:prstClr val="black"/>
                </a:solidFill>
                <a:latin typeface="맑은 고딕" pitchFamily="50" charset="-127"/>
                <a:ea typeface="맑은 고딕" pitchFamily="50" charset="-127"/>
              </a:rPr>
              <a:t>런</a:t>
            </a:r>
            <a:r>
              <a:rPr lang="en-US" altLang="ko-KR" b="1" dirty="0">
                <a:solidFill>
                  <a:prstClr val="black"/>
                </a:solidFill>
                <a:latin typeface="맑은 고딕" pitchFamily="50" charset="-127"/>
                <a:ea typeface="맑은 고딕" pitchFamily="50" charset="-127"/>
              </a:rPr>
              <a:t>(Run) &gt;</a:t>
            </a:r>
            <a:endParaRPr lang="ko-KR" altLang="en-US" b="1" dirty="0">
              <a:solidFill>
                <a:prstClr val="black"/>
              </a:solidFill>
              <a:latin typeface="맑은 고딕" pitchFamily="50" charset="-127"/>
              <a:ea typeface="맑은 고딕" pitchFamily="50" charset="-127"/>
            </a:endParaRPr>
          </a:p>
        </p:txBody>
      </p:sp>
      <p:cxnSp>
        <p:nvCxnSpPr>
          <p:cNvPr id="26745" name="AutoShape 137"/>
          <p:cNvCxnSpPr>
            <a:cxnSpLocks noChangeShapeType="1"/>
            <a:stCxn id="26727" idx="6"/>
            <a:endCxn id="26728" idx="2"/>
          </p:cNvCxnSpPr>
          <p:nvPr/>
        </p:nvCxnSpPr>
        <p:spPr bwMode="auto">
          <a:xfrm flipV="1">
            <a:off x="3174254" y="2240507"/>
            <a:ext cx="465992"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6" name="AutoShape 138"/>
          <p:cNvCxnSpPr>
            <a:cxnSpLocks noChangeShapeType="1"/>
            <a:stCxn id="26731" idx="6"/>
            <a:endCxn id="26737" idx="2"/>
          </p:cNvCxnSpPr>
          <p:nvPr/>
        </p:nvCxnSpPr>
        <p:spPr bwMode="auto">
          <a:xfrm>
            <a:off x="5301999" y="2072253"/>
            <a:ext cx="398585"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7" name="AutoShape 139"/>
          <p:cNvCxnSpPr>
            <a:cxnSpLocks noChangeShapeType="1"/>
            <a:stCxn id="26739" idx="5"/>
            <a:endCxn id="26740" idx="2"/>
          </p:cNvCxnSpPr>
          <p:nvPr/>
        </p:nvCxnSpPr>
        <p:spPr bwMode="auto">
          <a:xfrm>
            <a:off x="6820129" y="2169091"/>
            <a:ext cx="476250"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8" name="AutoShape 140"/>
          <p:cNvCxnSpPr>
            <a:cxnSpLocks noChangeShapeType="1"/>
            <a:stCxn id="26740" idx="6"/>
            <a:endCxn id="26741" idx="2"/>
          </p:cNvCxnSpPr>
          <p:nvPr/>
        </p:nvCxnSpPr>
        <p:spPr bwMode="auto">
          <a:xfrm flipV="1">
            <a:off x="7363790" y="2145257"/>
            <a:ext cx="464526" cy="2873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49" name="Text Box 141"/>
          <p:cNvSpPr txBox="1">
            <a:spLocks noChangeArrowheads="1"/>
          </p:cNvSpPr>
          <p:nvPr/>
        </p:nvSpPr>
        <p:spPr bwMode="auto">
          <a:xfrm>
            <a:off x="760775" y="1603921"/>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6750" name="Text Box 142"/>
          <p:cNvSpPr txBox="1">
            <a:spLocks noChangeArrowheads="1"/>
          </p:cNvSpPr>
          <p:nvPr/>
        </p:nvSpPr>
        <p:spPr bwMode="auto">
          <a:xfrm>
            <a:off x="760764" y="318824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6752" name="Oval 144"/>
          <p:cNvSpPr>
            <a:spLocks noChangeArrowheads="1"/>
          </p:cNvSpPr>
          <p:nvPr/>
        </p:nvSpPr>
        <p:spPr bwMode="auto">
          <a:xfrm>
            <a:off x="3407249" y="1603941"/>
            <a:ext cx="4623288" cy="11080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53" name="Text Box 145"/>
          <p:cNvSpPr txBox="1">
            <a:spLocks noChangeArrowheads="1"/>
          </p:cNvSpPr>
          <p:nvPr/>
        </p:nvSpPr>
        <p:spPr bwMode="auto">
          <a:xfrm>
            <a:off x="829640" y="2396082"/>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6754" name="AutoShape 146"/>
          <p:cNvSpPr>
            <a:spLocks noChangeArrowheads="1"/>
          </p:cNvSpPr>
          <p:nvPr/>
        </p:nvSpPr>
        <p:spPr bwMode="auto">
          <a:xfrm>
            <a:off x="783988" y="3852868"/>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Causes</a:t>
            </a:r>
            <a:endParaRPr lang="ko-KR" altLang="en-US" sz="1600" b="1" dirty="0">
              <a:solidFill>
                <a:prstClr val="black"/>
              </a:solidFill>
              <a:latin typeface="맑은 고딕" pitchFamily="50" charset="-127"/>
              <a:ea typeface="맑은 고딕" pitchFamily="50" charset="-127"/>
            </a:endParaRPr>
          </a:p>
        </p:txBody>
      </p:sp>
      <p:graphicFrame>
        <p:nvGraphicFramePr>
          <p:cNvPr id="34" name="Group 170"/>
          <p:cNvGraphicFramePr>
            <a:graphicFrameLocks noGrp="1"/>
          </p:cNvGraphicFramePr>
          <p:nvPr/>
        </p:nvGraphicFramePr>
        <p:xfrm>
          <a:off x="849923" y="4357694"/>
          <a:ext cx="7297615" cy="2200878"/>
        </p:xfrm>
        <a:graphic>
          <a:graphicData uri="http://schemas.openxmlformats.org/drawingml/2006/table">
            <a:tbl>
              <a:tblPr/>
              <a:tblGrid>
                <a:gridCol w="1060938">
                  <a:extLst>
                    <a:ext uri="{9D8B030D-6E8A-4147-A177-3AD203B41FA5}">
                      <a16:colId xmlns:a16="http://schemas.microsoft.com/office/drawing/2014/main" val="20000"/>
                    </a:ext>
                  </a:extLst>
                </a:gridCol>
                <a:gridCol w="6236677">
                  <a:extLst>
                    <a:ext uri="{9D8B030D-6E8A-4147-A177-3AD203B41FA5}">
                      <a16:colId xmlns:a16="http://schemas.microsoft.com/office/drawing/2014/main" val="20001"/>
                    </a:ext>
                  </a:extLst>
                </a:gridCol>
              </a:tblGrid>
              <a:tr h="56481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Inadequate facility maintenance, operator's carelessness or mistake, change of raw materials (in case of poor quality: rise, good quality: downward movement)</a:t>
                      </a: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629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control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Changes in working conditions of production facilities, shifts of workers, changes in working methods, use of new raw materials, and set-up of production facilities again.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629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Inadequate facility maintenance, operator negligence or mistake, changes in inspection conditions, changes in raw materials (in case of poor quality: rise, good quality: downward movement)</a:t>
                      </a: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6769" name="Text Box 166"/>
          <p:cNvSpPr txBox="1">
            <a:spLocks noChangeArrowheads="1"/>
          </p:cNvSpPr>
          <p:nvPr/>
        </p:nvSpPr>
        <p:spPr bwMode="auto">
          <a:xfrm>
            <a:off x="1571604" y="3477174"/>
            <a:ext cx="7685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a:solidFill>
                  <a:srgbClr val="A9072E"/>
                </a:solidFill>
                <a:latin typeface="맑은 고딕" pitchFamily="50" charset="-127"/>
                <a:ea typeface="맑은 고딕" pitchFamily="50" charset="-127"/>
              </a:rPr>
              <a:t>The probability that nine points continuously appear on one side of the center line ((0.5) ^ 9 = 0.2%)</a:t>
            </a:r>
          </a:p>
        </p:txBody>
      </p:sp>
      <p:sp>
        <p:nvSpPr>
          <p:cNvPr id="39" name="Text Box 39"/>
          <p:cNvSpPr txBox="1">
            <a:spLocks noChangeArrowheads="1"/>
          </p:cNvSpPr>
          <p:nvPr/>
        </p:nvSpPr>
        <p:spPr bwMode="auto">
          <a:xfrm>
            <a:off x="7676698" y="138118"/>
            <a:ext cx="992579"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Run(2)</a:t>
            </a:r>
          </a:p>
        </p:txBody>
      </p:sp>
      <p:sp>
        <p:nvSpPr>
          <p:cNvPr id="41"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4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297</a:t>
            </a:fld>
            <a:endParaRPr lang="ko-KR" altLang="en-US" sz="1200" dirty="0">
              <a:solidFill>
                <a:prstClr val="black"/>
              </a:solidFill>
            </a:endParaRPr>
          </a:p>
        </p:txBody>
      </p:sp>
    </p:spTree>
    <p:extLst>
      <p:ext uri="{BB962C8B-B14F-4D97-AF65-F5344CB8AC3E}">
        <p14:creationId xmlns:p14="http://schemas.microsoft.com/office/powerpoint/2010/main" val="1137286347"/>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Group 736"/>
          <p:cNvGraphicFramePr>
            <a:graphicFrameLocks noGrp="1"/>
          </p:cNvGraphicFramePr>
          <p:nvPr>
            <p:extLst>
              <p:ext uri="{D42A27DB-BD31-4B8C-83A1-F6EECF244321}">
                <p14:modId xmlns:p14="http://schemas.microsoft.com/office/powerpoint/2010/main" val="666940124"/>
              </p:ext>
            </p:extLst>
          </p:nvPr>
        </p:nvGraphicFramePr>
        <p:xfrm>
          <a:off x="1271664" y="1845791"/>
          <a:ext cx="6844817" cy="1658940"/>
        </p:xfrm>
        <a:graphic>
          <a:graphicData uri="http://schemas.openxmlformats.org/drawingml/2006/table">
            <a:tbl>
              <a:tblPr/>
              <a:tblGrid>
                <a:gridCol w="844666">
                  <a:extLst>
                    <a:ext uri="{9D8B030D-6E8A-4147-A177-3AD203B41FA5}">
                      <a16:colId xmlns:a16="http://schemas.microsoft.com/office/drawing/2014/main" val="20000"/>
                    </a:ext>
                  </a:extLst>
                </a:gridCol>
                <a:gridCol w="400010">
                  <a:extLst>
                    <a:ext uri="{9D8B030D-6E8A-4147-A177-3AD203B41FA5}">
                      <a16:colId xmlns:a16="http://schemas.microsoft.com/office/drawing/2014/main" val="20001"/>
                    </a:ext>
                  </a:extLst>
                </a:gridCol>
                <a:gridCol w="400010">
                  <a:extLst>
                    <a:ext uri="{9D8B030D-6E8A-4147-A177-3AD203B41FA5}">
                      <a16:colId xmlns:a16="http://schemas.microsoft.com/office/drawing/2014/main" val="20002"/>
                    </a:ext>
                  </a:extLst>
                </a:gridCol>
                <a:gridCol w="400010">
                  <a:extLst>
                    <a:ext uri="{9D8B030D-6E8A-4147-A177-3AD203B41FA5}">
                      <a16:colId xmlns:a16="http://schemas.microsoft.com/office/drawing/2014/main" val="20003"/>
                    </a:ext>
                  </a:extLst>
                </a:gridCol>
                <a:gridCol w="400010">
                  <a:extLst>
                    <a:ext uri="{9D8B030D-6E8A-4147-A177-3AD203B41FA5}">
                      <a16:colId xmlns:a16="http://schemas.microsoft.com/office/drawing/2014/main" val="20004"/>
                    </a:ext>
                  </a:extLst>
                </a:gridCol>
                <a:gridCol w="401795">
                  <a:extLst>
                    <a:ext uri="{9D8B030D-6E8A-4147-A177-3AD203B41FA5}">
                      <a16:colId xmlns:a16="http://schemas.microsoft.com/office/drawing/2014/main" val="20005"/>
                    </a:ext>
                  </a:extLst>
                </a:gridCol>
                <a:gridCol w="398226">
                  <a:extLst>
                    <a:ext uri="{9D8B030D-6E8A-4147-A177-3AD203B41FA5}">
                      <a16:colId xmlns:a16="http://schemas.microsoft.com/office/drawing/2014/main" val="20006"/>
                    </a:ext>
                  </a:extLst>
                </a:gridCol>
                <a:gridCol w="400010">
                  <a:extLst>
                    <a:ext uri="{9D8B030D-6E8A-4147-A177-3AD203B41FA5}">
                      <a16:colId xmlns:a16="http://schemas.microsoft.com/office/drawing/2014/main" val="20007"/>
                    </a:ext>
                  </a:extLst>
                </a:gridCol>
                <a:gridCol w="400010">
                  <a:extLst>
                    <a:ext uri="{9D8B030D-6E8A-4147-A177-3AD203B41FA5}">
                      <a16:colId xmlns:a16="http://schemas.microsoft.com/office/drawing/2014/main" val="20008"/>
                    </a:ext>
                  </a:extLst>
                </a:gridCol>
                <a:gridCol w="400010">
                  <a:extLst>
                    <a:ext uri="{9D8B030D-6E8A-4147-A177-3AD203B41FA5}">
                      <a16:colId xmlns:a16="http://schemas.microsoft.com/office/drawing/2014/main" val="20009"/>
                    </a:ext>
                  </a:extLst>
                </a:gridCol>
                <a:gridCol w="400010">
                  <a:extLst>
                    <a:ext uri="{9D8B030D-6E8A-4147-A177-3AD203B41FA5}">
                      <a16:colId xmlns:a16="http://schemas.microsoft.com/office/drawing/2014/main" val="20010"/>
                    </a:ext>
                  </a:extLst>
                </a:gridCol>
                <a:gridCol w="400010">
                  <a:extLst>
                    <a:ext uri="{9D8B030D-6E8A-4147-A177-3AD203B41FA5}">
                      <a16:colId xmlns:a16="http://schemas.microsoft.com/office/drawing/2014/main" val="20011"/>
                    </a:ext>
                  </a:extLst>
                </a:gridCol>
                <a:gridCol w="400010">
                  <a:extLst>
                    <a:ext uri="{9D8B030D-6E8A-4147-A177-3AD203B41FA5}">
                      <a16:colId xmlns:a16="http://schemas.microsoft.com/office/drawing/2014/main" val="20012"/>
                    </a:ext>
                  </a:extLst>
                </a:gridCol>
                <a:gridCol w="400010">
                  <a:extLst>
                    <a:ext uri="{9D8B030D-6E8A-4147-A177-3AD203B41FA5}">
                      <a16:colId xmlns:a16="http://schemas.microsoft.com/office/drawing/2014/main" val="20013"/>
                    </a:ext>
                  </a:extLst>
                </a:gridCol>
                <a:gridCol w="400010">
                  <a:extLst>
                    <a:ext uri="{9D8B030D-6E8A-4147-A177-3AD203B41FA5}">
                      <a16:colId xmlns:a16="http://schemas.microsoft.com/office/drawing/2014/main" val="20014"/>
                    </a:ext>
                  </a:extLst>
                </a:gridCol>
                <a:gridCol w="400010">
                  <a:extLst>
                    <a:ext uri="{9D8B030D-6E8A-4147-A177-3AD203B41FA5}">
                      <a16:colId xmlns:a16="http://schemas.microsoft.com/office/drawing/2014/main" val="20015"/>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5723" name="Text Box 3"/>
          <p:cNvSpPr txBox="1">
            <a:spLocks noChangeArrowheads="1"/>
          </p:cNvSpPr>
          <p:nvPr/>
        </p:nvSpPr>
        <p:spPr bwMode="auto">
          <a:xfrm>
            <a:off x="726543" y="1217147"/>
            <a:ext cx="3850626"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a:t>
            </a:r>
            <a:r>
              <a:rPr lang="ko-KR" altLang="en-US"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hợp</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quá</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giới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hạn</a:t>
            </a:r>
            <a:r>
              <a:rPr lang="en-US" altLang="ko-KR" sz="1600" b="1" dirty="0">
                <a:solidFill>
                  <a:prstClr val="black"/>
                </a:solidFill>
                <a:latin typeface="맑은 고딕" pitchFamily="50" charset="-127"/>
                <a:ea typeface="맑은 고딕" pitchFamily="50" charset="-127"/>
              </a:rPr>
              <a:t> 3σ</a:t>
            </a:r>
            <a:endParaRPr lang="ko-KR" altLang="en-US" sz="1600" b="1" dirty="0">
              <a:solidFill>
                <a:prstClr val="black"/>
              </a:solidFill>
              <a:latin typeface="맑은 고딕" pitchFamily="50" charset="-127"/>
              <a:ea typeface="맑은 고딕" pitchFamily="50" charset="-127"/>
            </a:endParaRPr>
          </a:p>
        </p:txBody>
      </p:sp>
      <p:sp>
        <p:nvSpPr>
          <p:cNvPr id="25724" name="Oval 154"/>
          <p:cNvSpPr>
            <a:spLocks noChangeArrowheads="1"/>
          </p:cNvSpPr>
          <p:nvPr/>
        </p:nvSpPr>
        <p:spPr bwMode="auto">
          <a:xfrm>
            <a:off x="2208037" y="2658591"/>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5" name="Oval 155"/>
          <p:cNvSpPr>
            <a:spLocks noChangeArrowheads="1"/>
          </p:cNvSpPr>
          <p:nvPr/>
        </p:nvSpPr>
        <p:spPr bwMode="auto">
          <a:xfrm>
            <a:off x="2612484" y="2441125"/>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6" name="Oval 156"/>
          <p:cNvSpPr>
            <a:spLocks noChangeArrowheads="1"/>
          </p:cNvSpPr>
          <p:nvPr/>
        </p:nvSpPr>
        <p:spPr bwMode="auto">
          <a:xfrm>
            <a:off x="3016932" y="2780850"/>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7" name="Oval 157"/>
          <p:cNvSpPr>
            <a:spLocks noChangeArrowheads="1"/>
          </p:cNvSpPr>
          <p:nvPr/>
        </p:nvSpPr>
        <p:spPr bwMode="auto">
          <a:xfrm>
            <a:off x="3421380" y="2658591"/>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8" name="Oval 158"/>
          <p:cNvSpPr>
            <a:spLocks noChangeArrowheads="1"/>
          </p:cNvSpPr>
          <p:nvPr/>
        </p:nvSpPr>
        <p:spPr bwMode="auto">
          <a:xfrm>
            <a:off x="3825828" y="2945932"/>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29" name="Oval 159"/>
          <p:cNvSpPr>
            <a:spLocks noChangeArrowheads="1"/>
          </p:cNvSpPr>
          <p:nvPr/>
        </p:nvSpPr>
        <p:spPr bwMode="auto">
          <a:xfrm>
            <a:off x="4231734" y="2225225"/>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0" name="Oval 160"/>
          <p:cNvSpPr>
            <a:spLocks noChangeArrowheads="1"/>
          </p:cNvSpPr>
          <p:nvPr/>
        </p:nvSpPr>
        <p:spPr bwMode="auto">
          <a:xfrm>
            <a:off x="4636182" y="2441125"/>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5731" name="AutoShape 161"/>
          <p:cNvCxnSpPr>
            <a:cxnSpLocks noChangeShapeType="1"/>
            <a:stCxn id="25724" idx="6"/>
            <a:endCxn id="25725" idx="3"/>
          </p:cNvCxnSpPr>
          <p:nvPr/>
        </p:nvCxnSpPr>
        <p:spPr bwMode="auto">
          <a:xfrm flipV="1">
            <a:off x="2273979" y="2501450"/>
            <a:ext cx="348762" cy="193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2" name="AutoShape 162"/>
          <p:cNvCxnSpPr>
            <a:cxnSpLocks noChangeShapeType="1"/>
            <a:stCxn id="25725" idx="5"/>
            <a:endCxn id="25726" idx="2"/>
          </p:cNvCxnSpPr>
          <p:nvPr/>
        </p:nvCxnSpPr>
        <p:spPr bwMode="auto">
          <a:xfrm>
            <a:off x="2668167" y="2501429"/>
            <a:ext cx="348762" cy="3159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3" name="AutoShape 163"/>
          <p:cNvCxnSpPr>
            <a:cxnSpLocks noChangeShapeType="1"/>
            <a:stCxn id="25727" idx="5"/>
            <a:endCxn id="25728" idx="2"/>
          </p:cNvCxnSpPr>
          <p:nvPr/>
        </p:nvCxnSpPr>
        <p:spPr bwMode="auto">
          <a:xfrm>
            <a:off x="3477059" y="2718937"/>
            <a:ext cx="348762"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4" name="AutoShape 164"/>
          <p:cNvCxnSpPr>
            <a:cxnSpLocks noChangeShapeType="1"/>
            <a:stCxn id="25728" idx="7"/>
            <a:endCxn id="25729" idx="3"/>
          </p:cNvCxnSpPr>
          <p:nvPr/>
        </p:nvCxnSpPr>
        <p:spPr bwMode="auto">
          <a:xfrm flipV="1">
            <a:off x="3881516" y="2285529"/>
            <a:ext cx="360485" cy="6715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35" name="AutoShape 165"/>
          <p:cNvCxnSpPr>
            <a:cxnSpLocks noChangeShapeType="1"/>
            <a:stCxn id="25729" idx="6"/>
            <a:endCxn id="25730" idx="2"/>
          </p:cNvCxnSpPr>
          <p:nvPr/>
        </p:nvCxnSpPr>
        <p:spPr bwMode="auto">
          <a:xfrm>
            <a:off x="4297677" y="2261716"/>
            <a:ext cx="338504"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36" name="Oval 166"/>
          <p:cNvSpPr>
            <a:spLocks noChangeArrowheads="1"/>
          </p:cNvSpPr>
          <p:nvPr/>
        </p:nvSpPr>
        <p:spPr bwMode="auto">
          <a:xfrm>
            <a:off x="5040630" y="1648941"/>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7" name="Oval 167"/>
          <p:cNvSpPr>
            <a:spLocks noChangeArrowheads="1"/>
          </p:cNvSpPr>
          <p:nvPr/>
        </p:nvSpPr>
        <p:spPr bwMode="auto">
          <a:xfrm>
            <a:off x="5445078" y="2658591"/>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8" name="Oval 168"/>
          <p:cNvSpPr>
            <a:spLocks noChangeArrowheads="1"/>
          </p:cNvSpPr>
          <p:nvPr/>
        </p:nvSpPr>
        <p:spPr bwMode="auto">
          <a:xfrm>
            <a:off x="5849519" y="2945932"/>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39" name="Oval 169"/>
          <p:cNvSpPr>
            <a:spLocks noChangeArrowheads="1"/>
          </p:cNvSpPr>
          <p:nvPr/>
        </p:nvSpPr>
        <p:spPr bwMode="auto">
          <a:xfrm>
            <a:off x="6255432" y="2441125"/>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40" name="Oval 170"/>
          <p:cNvSpPr>
            <a:spLocks noChangeArrowheads="1"/>
          </p:cNvSpPr>
          <p:nvPr/>
        </p:nvSpPr>
        <p:spPr bwMode="auto">
          <a:xfrm>
            <a:off x="6659880" y="1648941"/>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5741" name="AutoShape 171"/>
          <p:cNvCxnSpPr>
            <a:cxnSpLocks noChangeShapeType="1"/>
            <a:stCxn id="25736" idx="5"/>
            <a:endCxn id="25737" idx="1"/>
          </p:cNvCxnSpPr>
          <p:nvPr/>
        </p:nvCxnSpPr>
        <p:spPr bwMode="auto">
          <a:xfrm>
            <a:off x="5096319" y="1709266"/>
            <a:ext cx="359019" cy="960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2" name="AutoShape 172"/>
          <p:cNvCxnSpPr>
            <a:cxnSpLocks noChangeShapeType="1"/>
            <a:stCxn id="25737" idx="5"/>
            <a:endCxn id="25738" idx="2"/>
          </p:cNvCxnSpPr>
          <p:nvPr/>
        </p:nvCxnSpPr>
        <p:spPr bwMode="auto">
          <a:xfrm>
            <a:off x="5500756" y="2718937"/>
            <a:ext cx="348762"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43" name="Text Box 2"/>
          <p:cNvSpPr txBox="1">
            <a:spLocks noChangeArrowheads="1"/>
          </p:cNvSpPr>
          <p:nvPr/>
        </p:nvSpPr>
        <p:spPr bwMode="auto">
          <a:xfrm>
            <a:off x="873083" y="764704"/>
            <a:ext cx="3352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en-US" altLang="ko-KR" b="1" dirty="0" err="1">
                <a:solidFill>
                  <a:prstClr val="black"/>
                </a:solidFill>
                <a:latin typeface="맑은 고딕" pitchFamily="50" charset="-127"/>
                <a:ea typeface="맑은 고딕" pitchFamily="50" charset="-127"/>
              </a:rPr>
              <a:t>Đi</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lệch</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giới</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hạn</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quản</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lý</a:t>
            </a:r>
            <a:r>
              <a:rPr lang="en-US" altLang="ko-KR" b="1" dirty="0">
                <a:solidFill>
                  <a:prstClr val="black"/>
                </a:solidFill>
                <a:latin typeface="맑은 고딕" pitchFamily="50" charset="-127"/>
                <a:ea typeface="맑은 고딕" pitchFamily="50" charset="-127"/>
              </a:rPr>
              <a:t> &gt;</a:t>
            </a:r>
            <a:endParaRPr lang="ko-KR" altLang="en-US" b="1" dirty="0">
              <a:solidFill>
                <a:prstClr val="black"/>
              </a:solidFill>
              <a:latin typeface="맑은 고딕" pitchFamily="50" charset="-127"/>
              <a:ea typeface="맑은 고딕" pitchFamily="50" charset="-127"/>
            </a:endParaRPr>
          </a:p>
        </p:txBody>
      </p:sp>
      <p:cxnSp>
        <p:nvCxnSpPr>
          <p:cNvPr id="25744" name="AutoShape 175"/>
          <p:cNvCxnSpPr>
            <a:cxnSpLocks noChangeShapeType="1"/>
            <a:stCxn id="25726" idx="6"/>
            <a:endCxn id="25727" idx="2"/>
          </p:cNvCxnSpPr>
          <p:nvPr/>
        </p:nvCxnSpPr>
        <p:spPr bwMode="auto">
          <a:xfrm flipV="1">
            <a:off x="3082876" y="2695125"/>
            <a:ext cx="338503" cy="1222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5" name="AutoShape 176"/>
          <p:cNvCxnSpPr>
            <a:cxnSpLocks noChangeShapeType="1"/>
            <a:stCxn id="25730" idx="7"/>
            <a:endCxn id="25736" idx="3"/>
          </p:cNvCxnSpPr>
          <p:nvPr/>
        </p:nvCxnSpPr>
        <p:spPr bwMode="auto">
          <a:xfrm flipV="1">
            <a:off x="4691874" y="1709266"/>
            <a:ext cx="359019"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6" name="AutoShape 177"/>
          <p:cNvCxnSpPr>
            <a:cxnSpLocks noChangeShapeType="1"/>
            <a:stCxn id="25738" idx="7"/>
            <a:endCxn id="25739" idx="3"/>
          </p:cNvCxnSpPr>
          <p:nvPr/>
        </p:nvCxnSpPr>
        <p:spPr bwMode="auto">
          <a:xfrm flipV="1">
            <a:off x="5905212" y="2501429"/>
            <a:ext cx="360485" cy="4556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47" name="AutoShape 178"/>
          <p:cNvCxnSpPr>
            <a:cxnSpLocks noChangeShapeType="1"/>
            <a:stCxn id="25739" idx="7"/>
            <a:endCxn id="25740" idx="3"/>
          </p:cNvCxnSpPr>
          <p:nvPr/>
        </p:nvCxnSpPr>
        <p:spPr bwMode="auto">
          <a:xfrm flipV="1">
            <a:off x="6311113" y="1709266"/>
            <a:ext cx="359020"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48" name="Text Box 179"/>
          <p:cNvSpPr txBox="1">
            <a:spLocks noChangeArrowheads="1"/>
          </p:cNvSpPr>
          <p:nvPr/>
        </p:nvSpPr>
        <p:spPr bwMode="auto">
          <a:xfrm>
            <a:off x="650344" y="1648941"/>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5749" name="Text Box 180"/>
          <p:cNvSpPr txBox="1">
            <a:spLocks noChangeArrowheads="1"/>
          </p:cNvSpPr>
          <p:nvPr/>
        </p:nvSpPr>
        <p:spPr bwMode="auto">
          <a:xfrm>
            <a:off x="650334" y="323326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5751" name="Text Box 182"/>
          <p:cNvSpPr txBox="1">
            <a:spLocks noChangeArrowheads="1"/>
          </p:cNvSpPr>
          <p:nvPr/>
        </p:nvSpPr>
        <p:spPr bwMode="auto">
          <a:xfrm>
            <a:off x="719205" y="2441105"/>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5752" name="AutoShape 183"/>
          <p:cNvSpPr>
            <a:spLocks noChangeArrowheads="1"/>
          </p:cNvSpPr>
          <p:nvPr/>
        </p:nvSpPr>
        <p:spPr bwMode="auto">
          <a:xfrm>
            <a:off x="716573" y="396240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400" b="1" dirty="0" err="1">
                <a:solidFill>
                  <a:prstClr val="black"/>
                </a:solidFill>
                <a:latin typeface="맑은 고딕" pitchFamily="50" charset="-127"/>
                <a:ea typeface="맑은 고딕" pitchFamily="50" charset="-127"/>
              </a:rPr>
              <a:t>Nguyên</a:t>
            </a:r>
            <a:r>
              <a:rPr lang="en-US" altLang="ko-KR" sz="1400" b="1" dirty="0">
                <a:solidFill>
                  <a:prstClr val="black"/>
                </a:solidFill>
                <a:latin typeface="맑은 고딕" pitchFamily="50" charset="-127"/>
                <a:ea typeface="맑은 고딕" pitchFamily="50" charset="-127"/>
              </a:rPr>
              <a:t> </a:t>
            </a:r>
            <a:r>
              <a:rPr lang="en-US" altLang="ko-KR" sz="1400" b="1" dirty="0" err="1">
                <a:solidFill>
                  <a:prstClr val="black"/>
                </a:solidFill>
                <a:latin typeface="맑은 고딕" pitchFamily="50" charset="-127"/>
                <a:ea typeface="맑은 고딕" pitchFamily="50" charset="-127"/>
              </a:rPr>
              <a:t>nhân</a:t>
            </a:r>
            <a:endParaRPr lang="ko-KR" altLang="en-US" sz="1400" b="1" dirty="0">
              <a:solidFill>
                <a:prstClr val="black"/>
              </a:solidFill>
              <a:latin typeface="맑은 고딕" pitchFamily="50" charset="-127"/>
              <a:ea typeface="맑은 고딕" pitchFamily="50" charset="-127"/>
            </a:endParaRPr>
          </a:p>
        </p:txBody>
      </p:sp>
      <p:graphicFrame>
        <p:nvGraphicFramePr>
          <p:cNvPr id="33" name="Group 220"/>
          <p:cNvGraphicFramePr>
            <a:graphicFrameLocks noGrp="1"/>
          </p:cNvGraphicFramePr>
          <p:nvPr>
            <p:extLst>
              <p:ext uri="{D42A27DB-BD31-4B8C-83A1-F6EECF244321}">
                <p14:modId xmlns:p14="http://schemas.microsoft.com/office/powerpoint/2010/main" val="552732858"/>
              </p:ext>
            </p:extLst>
          </p:nvPr>
        </p:nvGraphicFramePr>
        <p:xfrm>
          <a:off x="782515" y="4495800"/>
          <a:ext cx="7444154" cy="2075470"/>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56536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chỉnh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máy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cố</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định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ổn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định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sự</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biệt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về</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dụng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67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Cùng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với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và</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chỉnh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máy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phương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pháp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kiểm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sai</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6320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P</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Tiêu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kiểm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có</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tắc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được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cung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cấp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từ</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nhà</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cung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cấp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sở</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khác</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Sự</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chú</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ý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thành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thạo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của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tiêu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18" marB="46818"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767" name="Oval 198"/>
          <p:cNvSpPr>
            <a:spLocks noChangeArrowheads="1"/>
          </p:cNvSpPr>
          <p:nvPr/>
        </p:nvSpPr>
        <p:spPr bwMode="auto">
          <a:xfrm>
            <a:off x="7064328" y="1937866"/>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68" name="Oval 199"/>
          <p:cNvSpPr>
            <a:spLocks noChangeArrowheads="1"/>
          </p:cNvSpPr>
          <p:nvPr/>
        </p:nvSpPr>
        <p:spPr bwMode="auto">
          <a:xfrm>
            <a:off x="7468768" y="2730050"/>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69" name="Oval 200"/>
          <p:cNvSpPr>
            <a:spLocks noChangeArrowheads="1"/>
          </p:cNvSpPr>
          <p:nvPr/>
        </p:nvSpPr>
        <p:spPr bwMode="auto">
          <a:xfrm>
            <a:off x="7874682" y="2945932"/>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5770" name="AutoShape 204"/>
          <p:cNvCxnSpPr>
            <a:cxnSpLocks noChangeShapeType="1"/>
            <a:stCxn id="25740" idx="5"/>
            <a:endCxn id="25767" idx="1"/>
          </p:cNvCxnSpPr>
          <p:nvPr/>
        </p:nvCxnSpPr>
        <p:spPr bwMode="auto">
          <a:xfrm>
            <a:off x="6715559" y="1709284"/>
            <a:ext cx="35902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71" name="AutoShape 205"/>
          <p:cNvCxnSpPr>
            <a:cxnSpLocks noChangeShapeType="1"/>
            <a:stCxn id="25767" idx="5"/>
            <a:endCxn id="25768" idx="1"/>
          </p:cNvCxnSpPr>
          <p:nvPr/>
        </p:nvCxnSpPr>
        <p:spPr bwMode="auto">
          <a:xfrm>
            <a:off x="7120006" y="1998191"/>
            <a:ext cx="359020"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5772" name="AutoShape 206"/>
          <p:cNvCxnSpPr>
            <a:cxnSpLocks noChangeShapeType="1"/>
            <a:stCxn id="25768" idx="5"/>
            <a:endCxn id="25769" idx="2"/>
          </p:cNvCxnSpPr>
          <p:nvPr/>
        </p:nvCxnSpPr>
        <p:spPr bwMode="auto">
          <a:xfrm>
            <a:off x="7524462" y="2790361"/>
            <a:ext cx="350227" cy="1920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5773" name="Oval 214"/>
          <p:cNvSpPr>
            <a:spLocks noChangeArrowheads="1"/>
          </p:cNvSpPr>
          <p:nvPr/>
        </p:nvSpPr>
        <p:spPr bwMode="auto">
          <a:xfrm>
            <a:off x="4895561" y="1531487"/>
            <a:ext cx="331177" cy="2825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5774" name="Oval 215"/>
          <p:cNvSpPr>
            <a:spLocks noChangeArrowheads="1"/>
          </p:cNvSpPr>
          <p:nvPr/>
        </p:nvSpPr>
        <p:spPr bwMode="auto">
          <a:xfrm>
            <a:off x="6522139" y="1531487"/>
            <a:ext cx="331177" cy="2825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49" name="Text Box 264"/>
          <p:cNvSpPr txBox="1">
            <a:spLocks noChangeArrowheads="1"/>
          </p:cNvSpPr>
          <p:nvPr/>
        </p:nvSpPr>
        <p:spPr bwMode="auto">
          <a:xfrm>
            <a:off x="6553200" y="3608659"/>
            <a:ext cx="21964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kumimoji="1" lang="en-US" altLang="ko-KR" sz="1200" b="1" dirty="0" err="1">
                <a:solidFill>
                  <a:srgbClr val="A9072E"/>
                </a:solidFill>
                <a:ea typeface="굴림" charset="-127"/>
              </a:rPr>
              <a:t>Khả</a:t>
            </a:r>
            <a:r>
              <a:rPr kumimoji="1" lang="en-US" altLang="ko-KR" sz="1200" b="1" dirty="0">
                <a:solidFill>
                  <a:srgbClr val="A9072E"/>
                </a:solidFill>
                <a:ea typeface="굴림" charset="-127"/>
              </a:rPr>
              <a:t> </a:t>
            </a:r>
            <a:r>
              <a:rPr kumimoji="1" lang="en-US" altLang="ko-KR" sz="1200" b="1" dirty="0" err="1">
                <a:solidFill>
                  <a:srgbClr val="A9072E"/>
                </a:solidFill>
                <a:ea typeface="굴림" charset="-127"/>
              </a:rPr>
              <a:t>năng</a:t>
            </a:r>
            <a:r>
              <a:rPr kumimoji="1" lang="en-US" altLang="ko-KR" sz="1200" b="1" dirty="0">
                <a:solidFill>
                  <a:srgbClr val="A9072E"/>
                </a:solidFill>
                <a:ea typeface="굴림" charset="-127"/>
              </a:rPr>
              <a:t> </a:t>
            </a:r>
            <a:r>
              <a:rPr kumimoji="1" lang="en-US" altLang="ko-KR" sz="1200" b="1" dirty="0" err="1">
                <a:solidFill>
                  <a:srgbClr val="A9072E"/>
                </a:solidFill>
                <a:ea typeface="굴림" charset="-127"/>
              </a:rPr>
              <a:t>phát</a:t>
            </a:r>
            <a:r>
              <a:rPr kumimoji="1" lang="en-US" altLang="ko-KR" sz="1200" b="1" dirty="0">
                <a:solidFill>
                  <a:srgbClr val="A9072E"/>
                </a:solidFill>
                <a:ea typeface="굴림" charset="-127"/>
              </a:rPr>
              <a:t> sinh:0.135%</a:t>
            </a:r>
            <a:endParaRPr kumimoji="1" lang="ko-KR" altLang="en-US" sz="1200" b="1" dirty="0">
              <a:solidFill>
                <a:srgbClr val="A9072E"/>
              </a:solidFill>
              <a:ea typeface="굴림" charset="-127"/>
            </a:endParaRPr>
          </a:p>
        </p:txBody>
      </p:sp>
      <p:sp>
        <p:nvSpPr>
          <p:cNvPr id="47" name="Text Box 39"/>
          <p:cNvSpPr txBox="1">
            <a:spLocks noChangeArrowheads="1"/>
          </p:cNvSpPr>
          <p:nvPr/>
        </p:nvSpPr>
        <p:spPr bwMode="auto">
          <a:xfrm>
            <a:off x="6019800" y="138118"/>
            <a:ext cx="3145413"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300" b="1" dirty="0">
                <a:solidFill>
                  <a:prstClr val="black"/>
                </a:solidFill>
              </a:rPr>
              <a:t>- </a:t>
            </a:r>
            <a:r>
              <a:rPr kumimoji="1" lang="en-US" altLang="ko-KR" sz="1300" b="1" dirty="0" err="1">
                <a:solidFill>
                  <a:prstClr val="black"/>
                </a:solidFill>
              </a:rPr>
              <a:t>Đi</a:t>
            </a:r>
            <a:r>
              <a:rPr kumimoji="1" lang="en-US" altLang="ko-KR" sz="1300" b="1" dirty="0">
                <a:solidFill>
                  <a:prstClr val="black"/>
                </a:solidFill>
              </a:rPr>
              <a:t> </a:t>
            </a:r>
            <a:r>
              <a:rPr kumimoji="1" lang="en-US" altLang="ko-KR" sz="1300" b="1" dirty="0" err="1">
                <a:solidFill>
                  <a:prstClr val="black"/>
                </a:solidFill>
              </a:rPr>
              <a:t>lệch</a:t>
            </a:r>
            <a:r>
              <a:rPr kumimoji="1" lang="en-US" altLang="ko-KR" sz="1300" b="1" dirty="0">
                <a:solidFill>
                  <a:prstClr val="black"/>
                </a:solidFill>
              </a:rPr>
              <a:t> </a:t>
            </a:r>
            <a:r>
              <a:rPr kumimoji="1" lang="en-US" altLang="ko-KR" sz="1300" b="1" dirty="0" err="1">
                <a:solidFill>
                  <a:prstClr val="black"/>
                </a:solidFill>
              </a:rPr>
              <a:t>ra</a:t>
            </a:r>
            <a:r>
              <a:rPr kumimoji="1" lang="en-US" altLang="ko-KR" sz="1300" b="1" dirty="0">
                <a:solidFill>
                  <a:prstClr val="black"/>
                </a:solidFill>
              </a:rPr>
              <a:t> </a:t>
            </a:r>
            <a:r>
              <a:rPr kumimoji="1" lang="en-US" altLang="ko-KR" sz="1300" b="1" dirty="0" err="1">
                <a:solidFill>
                  <a:prstClr val="black"/>
                </a:solidFill>
              </a:rPr>
              <a:t>ngoài</a:t>
            </a:r>
            <a:r>
              <a:rPr kumimoji="1" lang="en-US" altLang="ko-KR" sz="1300" b="1" dirty="0">
                <a:solidFill>
                  <a:prstClr val="black"/>
                </a:solidFill>
              </a:rPr>
              <a:t> </a:t>
            </a:r>
            <a:r>
              <a:rPr kumimoji="1" lang="en-US" altLang="ko-KR" sz="1300" b="1" dirty="0" err="1">
                <a:solidFill>
                  <a:prstClr val="black"/>
                </a:solidFill>
              </a:rPr>
              <a:t>đường</a:t>
            </a:r>
            <a:r>
              <a:rPr kumimoji="1" lang="en-US" altLang="ko-KR" sz="1300" b="1" dirty="0">
                <a:solidFill>
                  <a:prstClr val="black"/>
                </a:solidFill>
              </a:rPr>
              <a:t> </a:t>
            </a:r>
            <a:r>
              <a:rPr kumimoji="1" lang="en-US" altLang="ko-KR" sz="1300" b="1" dirty="0" err="1">
                <a:solidFill>
                  <a:prstClr val="black"/>
                </a:solidFill>
              </a:rPr>
              <a:t>giới</a:t>
            </a:r>
            <a:r>
              <a:rPr kumimoji="1" lang="en-US" altLang="ko-KR" sz="1300" b="1" dirty="0">
                <a:solidFill>
                  <a:prstClr val="black"/>
                </a:solidFill>
              </a:rPr>
              <a:t> </a:t>
            </a:r>
            <a:r>
              <a:rPr kumimoji="1" lang="en-US" altLang="ko-KR" sz="1300" b="1" dirty="0" err="1">
                <a:solidFill>
                  <a:prstClr val="black"/>
                </a:solidFill>
              </a:rPr>
              <a:t>hạn</a:t>
            </a:r>
            <a:r>
              <a:rPr kumimoji="1" lang="en-US" altLang="ko-KR" sz="1300" b="1" dirty="0">
                <a:solidFill>
                  <a:prstClr val="black"/>
                </a:solidFill>
              </a:rPr>
              <a:t>(1</a:t>
            </a:r>
            <a:r>
              <a:rPr kumimoji="1" lang="en-US" altLang="ko-KR" sz="1600" b="1" dirty="0">
                <a:solidFill>
                  <a:prstClr val="black"/>
                </a:solidFill>
              </a:rPr>
              <a:t>)</a:t>
            </a:r>
          </a:p>
        </p:txBody>
      </p:sp>
      <p:sp>
        <p:nvSpPr>
          <p:cNvPr id="51"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ko-KR" altLang="en-US" sz="2000" b="1" dirty="0">
                <a:solidFill>
                  <a:prstClr val="black"/>
                </a:solidFill>
              </a:rPr>
              <a:t> </a:t>
            </a:r>
            <a:r>
              <a:rPr kumimoji="1" lang="en-US" altLang="ko-KR" sz="2000" b="1" dirty="0">
                <a:solidFill>
                  <a:prstClr val="black"/>
                </a:solidFill>
              </a:rPr>
              <a:t>(</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48"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298</a:t>
            </a:fld>
            <a:endParaRPr lang="ko-KR" altLang="en-US" sz="1200" dirty="0">
              <a:solidFill>
                <a:prstClr val="black"/>
              </a:solidFill>
            </a:endParaRPr>
          </a:p>
        </p:txBody>
      </p:sp>
    </p:spTree>
    <p:extLst>
      <p:ext uri="{BB962C8B-B14F-4D97-AF65-F5344CB8AC3E}">
        <p14:creationId xmlns:p14="http://schemas.microsoft.com/office/powerpoint/2010/main" val="3935138176"/>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 name="Group 842"/>
          <p:cNvGraphicFramePr>
            <a:graphicFrameLocks noGrp="1"/>
          </p:cNvGraphicFramePr>
          <p:nvPr>
            <p:extLst>
              <p:ext uri="{D42A27DB-BD31-4B8C-83A1-F6EECF244321}">
                <p14:modId xmlns:p14="http://schemas.microsoft.com/office/powerpoint/2010/main" val="293629758"/>
              </p:ext>
            </p:extLst>
          </p:nvPr>
        </p:nvGraphicFramePr>
        <p:xfrm>
          <a:off x="1313224" y="1769020"/>
          <a:ext cx="6780336" cy="1658940"/>
        </p:xfrm>
        <a:graphic>
          <a:graphicData uri="http://schemas.openxmlformats.org/drawingml/2006/table">
            <a:tbl>
              <a:tblPr/>
              <a:tblGrid>
                <a:gridCol w="523143">
                  <a:extLst>
                    <a:ext uri="{9D8B030D-6E8A-4147-A177-3AD203B41FA5}">
                      <a16:colId xmlns:a16="http://schemas.microsoft.com/office/drawing/2014/main" val="20000"/>
                    </a:ext>
                  </a:extLst>
                </a:gridCol>
                <a:gridCol w="520211">
                  <a:extLst>
                    <a:ext uri="{9D8B030D-6E8A-4147-A177-3AD203B41FA5}">
                      <a16:colId xmlns:a16="http://schemas.microsoft.com/office/drawing/2014/main" val="20001"/>
                    </a:ext>
                  </a:extLst>
                </a:gridCol>
                <a:gridCol w="523143">
                  <a:extLst>
                    <a:ext uri="{9D8B030D-6E8A-4147-A177-3AD203B41FA5}">
                      <a16:colId xmlns:a16="http://schemas.microsoft.com/office/drawing/2014/main" val="20002"/>
                    </a:ext>
                  </a:extLst>
                </a:gridCol>
                <a:gridCol w="521677">
                  <a:extLst>
                    <a:ext uri="{9D8B030D-6E8A-4147-A177-3AD203B41FA5}">
                      <a16:colId xmlns:a16="http://schemas.microsoft.com/office/drawing/2014/main" val="20003"/>
                    </a:ext>
                  </a:extLst>
                </a:gridCol>
                <a:gridCol w="521677">
                  <a:extLst>
                    <a:ext uri="{9D8B030D-6E8A-4147-A177-3AD203B41FA5}">
                      <a16:colId xmlns:a16="http://schemas.microsoft.com/office/drawing/2014/main" val="20004"/>
                    </a:ext>
                  </a:extLst>
                </a:gridCol>
                <a:gridCol w="521677">
                  <a:extLst>
                    <a:ext uri="{9D8B030D-6E8A-4147-A177-3AD203B41FA5}">
                      <a16:colId xmlns:a16="http://schemas.microsoft.com/office/drawing/2014/main" val="20005"/>
                    </a:ext>
                  </a:extLst>
                </a:gridCol>
                <a:gridCol w="523142">
                  <a:extLst>
                    <a:ext uri="{9D8B030D-6E8A-4147-A177-3AD203B41FA5}">
                      <a16:colId xmlns:a16="http://schemas.microsoft.com/office/drawing/2014/main" val="20006"/>
                    </a:ext>
                  </a:extLst>
                </a:gridCol>
                <a:gridCol w="520212">
                  <a:extLst>
                    <a:ext uri="{9D8B030D-6E8A-4147-A177-3AD203B41FA5}">
                      <a16:colId xmlns:a16="http://schemas.microsoft.com/office/drawing/2014/main" val="20007"/>
                    </a:ext>
                  </a:extLst>
                </a:gridCol>
                <a:gridCol w="523142">
                  <a:extLst>
                    <a:ext uri="{9D8B030D-6E8A-4147-A177-3AD203B41FA5}">
                      <a16:colId xmlns:a16="http://schemas.microsoft.com/office/drawing/2014/main" val="20008"/>
                    </a:ext>
                  </a:extLst>
                </a:gridCol>
                <a:gridCol w="518746">
                  <a:extLst>
                    <a:ext uri="{9D8B030D-6E8A-4147-A177-3AD203B41FA5}">
                      <a16:colId xmlns:a16="http://schemas.microsoft.com/office/drawing/2014/main" val="20009"/>
                    </a:ext>
                  </a:extLst>
                </a:gridCol>
                <a:gridCol w="521677">
                  <a:extLst>
                    <a:ext uri="{9D8B030D-6E8A-4147-A177-3AD203B41FA5}">
                      <a16:colId xmlns:a16="http://schemas.microsoft.com/office/drawing/2014/main" val="20010"/>
                    </a:ext>
                  </a:extLst>
                </a:gridCol>
                <a:gridCol w="521677">
                  <a:extLst>
                    <a:ext uri="{9D8B030D-6E8A-4147-A177-3AD203B41FA5}">
                      <a16:colId xmlns:a16="http://schemas.microsoft.com/office/drawing/2014/main" val="20011"/>
                    </a:ext>
                  </a:extLst>
                </a:gridCol>
                <a:gridCol w="520212">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6724" name="Text Box 3"/>
          <p:cNvSpPr txBox="1">
            <a:spLocks noChangeArrowheads="1"/>
          </p:cNvSpPr>
          <p:nvPr/>
        </p:nvSpPr>
        <p:spPr bwMode="auto">
          <a:xfrm>
            <a:off x="381000" y="1066800"/>
            <a:ext cx="8763000"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buFontTx/>
              <a:buChar char="-"/>
            </a:pPr>
            <a:r>
              <a:rPr lang="en-US" altLang="ko-KR" sz="1600" b="1" dirty="0" err="1">
                <a:solidFill>
                  <a:prstClr val="black"/>
                </a:solidFill>
                <a:latin typeface="맑은 고딕" pitchFamily="50" charset="-127"/>
                <a:ea typeface="맑은 고딕" pitchFamily="50" charset="-127"/>
              </a:rPr>
              <a:t>Hiện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tượng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liên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tục</a:t>
            </a:r>
            <a:r>
              <a:rPr lang="en-US" altLang="ko-KR" sz="1600" b="1" dirty="0">
                <a:solidFill>
                  <a:prstClr val="black"/>
                </a:solidFill>
                <a:latin typeface="맑은 고딕" pitchFamily="50" charset="-127"/>
                <a:ea typeface="맑은 고딕" pitchFamily="50" charset="-127"/>
              </a:rPr>
              <a:t> 9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hoặc</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hơn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xuất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hiện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về</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một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phía</a:t>
            </a:r>
            <a:r>
              <a:rPr lang="en-US" altLang="ko-KR" sz="1600" b="1" dirty="0">
                <a:solidFill>
                  <a:prstClr val="black"/>
                </a:solidFill>
                <a:latin typeface="맑은 고딕" pitchFamily="50" charset="-127"/>
                <a:ea typeface="맑은 고딕" pitchFamily="50" charset="-127"/>
              </a:rPr>
              <a:t> so </a:t>
            </a:r>
            <a:r>
              <a:rPr lang="en-US" altLang="ko-KR" sz="1600" b="1" dirty="0" err="1">
                <a:solidFill>
                  <a:prstClr val="black"/>
                </a:solidFill>
                <a:latin typeface="맑은 고딕" pitchFamily="50" charset="-127"/>
                <a:ea typeface="맑은 고딕" pitchFamily="50" charset="-127"/>
              </a:rPr>
              <a:t>với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trung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tâm</a:t>
            </a:r>
            <a:endParaRPr lang="ko-KR" altLang="en-US" sz="1600" b="1" dirty="0">
              <a:solidFill>
                <a:prstClr val="black"/>
              </a:solidFill>
              <a:latin typeface="맑은 고딕" pitchFamily="50" charset="-127"/>
              <a:ea typeface="맑은 고딕" pitchFamily="50" charset="-127"/>
            </a:endParaRPr>
          </a:p>
        </p:txBody>
      </p:sp>
      <p:sp>
        <p:nvSpPr>
          <p:cNvPr id="26725" name="Oval 115"/>
          <p:cNvSpPr>
            <a:spLocks noChangeArrowheads="1"/>
          </p:cNvSpPr>
          <p:nvPr/>
        </p:nvSpPr>
        <p:spPr bwMode="auto">
          <a:xfrm>
            <a:off x="2044441" y="2900907"/>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6" name="Oval 116"/>
          <p:cNvSpPr>
            <a:spLocks noChangeArrowheads="1"/>
          </p:cNvSpPr>
          <p:nvPr/>
        </p:nvSpPr>
        <p:spPr bwMode="auto">
          <a:xfrm>
            <a:off x="2576380" y="26532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7" name="Oval 117"/>
          <p:cNvSpPr>
            <a:spLocks noChangeArrowheads="1"/>
          </p:cNvSpPr>
          <p:nvPr/>
        </p:nvSpPr>
        <p:spPr bwMode="auto">
          <a:xfrm>
            <a:off x="3108311" y="23960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8" name="Oval 118"/>
          <p:cNvSpPr>
            <a:spLocks noChangeArrowheads="1"/>
          </p:cNvSpPr>
          <p:nvPr/>
        </p:nvSpPr>
        <p:spPr bwMode="auto">
          <a:xfrm>
            <a:off x="3640252" y="22040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29" name="Oval 119"/>
          <p:cNvSpPr>
            <a:spLocks noChangeArrowheads="1"/>
          </p:cNvSpPr>
          <p:nvPr/>
        </p:nvSpPr>
        <p:spPr bwMode="auto">
          <a:xfrm>
            <a:off x="4172181" y="2396082"/>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0" name="Oval 120"/>
          <p:cNvSpPr>
            <a:spLocks noChangeArrowheads="1"/>
          </p:cNvSpPr>
          <p:nvPr/>
        </p:nvSpPr>
        <p:spPr bwMode="auto">
          <a:xfrm>
            <a:off x="4704113" y="21801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1" name="Oval 121"/>
          <p:cNvSpPr>
            <a:spLocks noChangeArrowheads="1"/>
          </p:cNvSpPr>
          <p:nvPr/>
        </p:nvSpPr>
        <p:spPr bwMode="auto">
          <a:xfrm>
            <a:off x="5236054" y="2035738"/>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6732" name="AutoShape 122"/>
          <p:cNvCxnSpPr>
            <a:cxnSpLocks noChangeShapeType="1"/>
            <a:stCxn id="26725" idx="6"/>
            <a:endCxn id="26726" idx="2"/>
          </p:cNvCxnSpPr>
          <p:nvPr/>
        </p:nvCxnSpPr>
        <p:spPr bwMode="auto">
          <a:xfrm flipV="1">
            <a:off x="2110383" y="2689770"/>
            <a:ext cx="465992" cy="2476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3" name="AutoShape 123"/>
          <p:cNvCxnSpPr>
            <a:cxnSpLocks noChangeShapeType="1"/>
            <a:stCxn id="26726" idx="7"/>
            <a:endCxn id="26727" idx="2"/>
          </p:cNvCxnSpPr>
          <p:nvPr/>
        </p:nvCxnSpPr>
        <p:spPr bwMode="auto">
          <a:xfrm flipV="1">
            <a:off x="2632060" y="2432616"/>
            <a:ext cx="476250" cy="2317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4" name="AutoShape 124"/>
          <p:cNvCxnSpPr>
            <a:cxnSpLocks noChangeShapeType="1"/>
            <a:stCxn id="26728" idx="6"/>
            <a:endCxn id="26729" idx="3"/>
          </p:cNvCxnSpPr>
          <p:nvPr/>
        </p:nvCxnSpPr>
        <p:spPr bwMode="auto">
          <a:xfrm>
            <a:off x="3706187" y="2240507"/>
            <a:ext cx="476250"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5" name="AutoShape 125"/>
          <p:cNvCxnSpPr>
            <a:cxnSpLocks noChangeShapeType="1"/>
            <a:stCxn id="26729" idx="6"/>
            <a:endCxn id="26730" idx="2"/>
          </p:cNvCxnSpPr>
          <p:nvPr/>
        </p:nvCxnSpPr>
        <p:spPr bwMode="auto">
          <a:xfrm flipV="1">
            <a:off x="4239590" y="2216695"/>
            <a:ext cx="464526" cy="2159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36" name="AutoShape 126"/>
          <p:cNvCxnSpPr>
            <a:cxnSpLocks noChangeShapeType="1"/>
            <a:stCxn id="26730" idx="7"/>
            <a:endCxn id="26731" idx="2"/>
          </p:cNvCxnSpPr>
          <p:nvPr/>
        </p:nvCxnSpPr>
        <p:spPr bwMode="auto">
          <a:xfrm flipV="1">
            <a:off x="4759798" y="2072253"/>
            <a:ext cx="476250" cy="1190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37" name="Oval 127"/>
          <p:cNvSpPr>
            <a:spLocks noChangeArrowheads="1"/>
          </p:cNvSpPr>
          <p:nvPr/>
        </p:nvSpPr>
        <p:spPr bwMode="auto">
          <a:xfrm>
            <a:off x="5700580" y="21801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8" name="Oval 128"/>
          <p:cNvSpPr>
            <a:spLocks noChangeArrowheads="1"/>
          </p:cNvSpPr>
          <p:nvPr/>
        </p:nvSpPr>
        <p:spPr bwMode="auto">
          <a:xfrm>
            <a:off x="6232511" y="18198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39" name="Oval 129"/>
          <p:cNvSpPr>
            <a:spLocks noChangeArrowheads="1"/>
          </p:cNvSpPr>
          <p:nvPr/>
        </p:nvSpPr>
        <p:spPr bwMode="auto">
          <a:xfrm>
            <a:off x="6764452" y="21087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40" name="Oval 130"/>
          <p:cNvSpPr>
            <a:spLocks noChangeArrowheads="1"/>
          </p:cNvSpPr>
          <p:nvPr/>
        </p:nvSpPr>
        <p:spPr bwMode="auto">
          <a:xfrm>
            <a:off x="7296381" y="2396082"/>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41" name="Oval 131"/>
          <p:cNvSpPr>
            <a:spLocks noChangeArrowheads="1"/>
          </p:cNvSpPr>
          <p:nvPr/>
        </p:nvSpPr>
        <p:spPr bwMode="auto">
          <a:xfrm>
            <a:off x="7828313" y="21087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6742" name="AutoShape 132"/>
          <p:cNvCxnSpPr>
            <a:cxnSpLocks noChangeShapeType="1"/>
            <a:stCxn id="26737" idx="6"/>
            <a:endCxn id="26738" idx="2"/>
          </p:cNvCxnSpPr>
          <p:nvPr/>
        </p:nvCxnSpPr>
        <p:spPr bwMode="auto">
          <a:xfrm flipV="1">
            <a:off x="5766518" y="1856350"/>
            <a:ext cx="465992" cy="3603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3" name="AutoShape 133"/>
          <p:cNvCxnSpPr>
            <a:cxnSpLocks noChangeShapeType="1"/>
            <a:stCxn id="26738" idx="5"/>
            <a:endCxn id="26739" idx="2"/>
          </p:cNvCxnSpPr>
          <p:nvPr/>
        </p:nvCxnSpPr>
        <p:spPr bwMode="auto">
          <a:xfrm>
            <a:off x="6288195" y="1880145"/>
            <a:ext cx="476250" cy="2651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44" name="Text Box 2"/>
          <p:cNvSpPr txBox="1">
            <a:spLocks noChangeArrowheads="1"/>
          </p:cNvSpPr>
          <p:nvPr/>
        </p:nvSpPr>
        <p:spPr bwMode="auto">
          <a:xfrm>
            <a:off x="716802" y="692696"/>
            <a:ext cx="1713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Run(Run) &gt;</a:t>
            </a:r>
            <a:endParaRPr lang="ko-KR" altLang="en-US" b="1" dirty="0">
              <a:solidFill>
                <a:prstClr val="black"/>
              </a:solidFill>
              <a:latin typeface="맑은 고딕" pitchFamily="50" charset="-127"/>
              <a:ea typeface="맑은 고딕" pitchFamily="50" charset="-127"/>
            </a:endParaRPr>
          </a:p>
        </p:txBody>
      </p:sp>
      <p:cxnSp>
        <p:nvCxnSpPr>
          <p:cNvPr id="26745" name="AutoShape 137"/>
          <p:cNvCxnSpPr>
            <a:cxnSpLocks noChangeShapeType="1"/>
            <a:stCxn id="26727" idx="6"/>
            <a:endCxn id="26728" idx="2"/>
          </p:cNvCxnSpPr>
          <p:nvPr/>
        </p:nvCxnSpPr>
        <p:spPr bwMode="auto">
          <a:xfrm flipV="1">
            <a:off x="3174254" y="2240507"/>
            <a:ext cx="465992"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6" name="AutoShape 138"/>
          <p:cNvCxnSpPr>
            <a:cxnSpLocks noChangeShapeType="1"/>
            <a:stCxn id="26731" idx="6"/>
            <a:endCxn id="26737" idx="2"/>
          </p:cNvCxnSpPr>
          <p:nvPr/>
        </p:nvCxnSpPr>
        <p:spPr bwMode="auto">
          <a:xfrm>
            <a:off x="5301999" y="2072253"/>
            <a:ext cx="398585"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7" name="AutoShape 139"/>
          <p:cNvCxnSpPr>
            <a:cxnSpLocks noChangeShapeType="1"/>
            <a:stCxn id="26739" idx="5"/>
            <a:endCxn id="26740" idx="2"/>
          </p:cNvCxnSpPr>
          <p:nvPr/>
        </p:nvCxnSpPr>
        <p:spPr bwMode="auto">
          <a:xfrm>
            <a:off x="6820129" y="2169091"/>
            <a:ext cx="476250"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6748" name="AutoShape 140"/>
          <p:cNvCxnSpPr>
            <a:cxnSpLocks noChangeShapeType="1"/>
            <a:stCxn id="26740" idx="6"/>
            <a:endCxn id="26741" idx="2"/>
          </p:cNvCxnSpPr>
          <p:nvPr/>
        </p:nvCxnSpPr>
        <p:spPr bwMode="auto">
          <a:xfrm flipV="1">
            <a:off x="7363790" y="2145257"/>
            <a:ext cx="464526" cy="2873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6749" name="Text Box 141"/>
          <p:cNvSpPr txBox="1">
            <a:spLocks noChangeArrowheads="1"/>
          </p:cNvSpPr>
          <p:nvPr/>
        </p:nvSpPr>
        <p:spPr bwMode="auto">
          <a:xfrm>
            <a:off x="760775" y="1718846"/>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6750" name="Text Box 142"/>
          <p:cNvSpPr txBox="1">
            <a:spLocks noChangeArrowheads="1"/>
          </p:cNvSpPr>
          <p:nvPr/>
        </p:nvSpPr>
        <p:spPr bwMode="auto">
          <a:xfrm>
            <a:off x="760764" y="318824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6752" name="Oval 144"/>
          <p:cNvSpPr>
            <a:spLocks noChangeArrowheads="1"/>
          </p:cNvSpPr>
          <p:nvPr/>
        </p:nvSpPr>
        <p:spPr bwMode="auto">
          <a:xfrm>
            <a:off x="3407249" y="1603941"/>
            <a:ext cx="4623288" cy="11080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6753" name="Text Box 145"/>
          <p:cNvSpPr txBox="1">
            <a:spLocks noChangeArrowheads="1"/>
          </p:cNvSpPr>
          <p:nvPr/>
        </p:nvSpPr>
        <p:spPr bwMode="auto">
          <a:xfrm>
            <a:off x="829640" y="2396082"/>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6754" name="AutoShape 146"/>
          <p:cNvSpPr>
            <a:spLocks noChangeArrowheads="1"/>
          </p:cNvSpPr>
          <p:nvPr/>
        </p:nvSpPr>
        <p:spPr bwMode="auto">
          <a:xfrm>
            <a:off x="783988" y="358140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endParaRPr lang="ko-KR" altLang="en-US" sz="1600" b="1" dirty="0">
              <a:solidFill>
                <a:prstClr val="black"/>
              </a:solidFill>
              <a:latin typeface="맑은 고딕" pitchFamily="50" charset="-127"/>
              <a:ea typeface="맑은 고딕" pitchFamily="50" charset="-127"/>
            </a:endParaRPr>
          </a:p>
        </p:txBody>
      </p:sp>
      <p:graphicFrame>
        <p:nvGraphicFramePr>
          <p:cNvPr id="34" name="Group 170"/>
          <p:cNvGraphicFramePr>
            <a:graphicFrameLocks noGrp="1"/>
          </p:cNvGraphicFramePr>
          <p:nvPr/>
        </p:nvGraphicFramePr>
        <p:xfrm>
          <a:off x="849923" y="4038600"/>
          <a:ext cx="7297615" cy="2712942"/>
        </p:xfrm>
        <a:graphic>
          <a:graphicData uri="http://schemas.openxmlformats.org/drawingml/2006/table">
            <a:tbl>
              <a:tblPr/>
              <a:tblGrid>
                <a:gridCol w="1060938">
                  <a:extLst>
                    <a:ext uri="{9D8B030D-6E8A-4147-A177-3AD203B41FA5}">
                      <a16:colId xmlns:a16="http://schemas.microsoft.com/office/drawing/2014/main" val="20000"/>
                    </a:ext>
                  </a:extLst>
                </a:gridCol>
                <a:gridCol w="6236677">
                  <a:extLst>
                    <a:ext uri="{9D8B030D-6E8A-4147-A177-3AD203B41FA5}">
                      <a16:colId xmlns:a16="http://schemas.microsoft.com/office/drawing/2014/main" val="20001"/>
                    </a:ext>
                  </a:extLst>
                </a:gridCol>
              </a:tblGrid>
              <a:tr h="56481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bảo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dưỡng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chú</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ý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sai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sót</a:t>
                      </a:r>
                      <a:r>
                        <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rPr>
                        <a: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nguồn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endPar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rPr>
                        <a:t>(</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xấu</a:t>
                      </a:r>
                      <a:r>
                        <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tăng</a:t>
                      </a:r>
                      <a:r>
                        <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tốt</a:t>
                      </a:r>
                      <a:r>
                        <a:rPr kumimoji="1" lang="ko-KR"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chuyển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xuống</a:t>
                      </a:r>
                      <a:endPar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629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hay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kiện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làm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việc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của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ca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phương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pháp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làm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việc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của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sử</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dụng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nguồn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vật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mới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setup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máy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móc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mới</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629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P</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bỏa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dưỡng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chú</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ý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sai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sót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kiện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kiểm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nguồn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vật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xấu</a:t>
                      </a:r>
                      <a:r>
                        <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tăng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tốt</a:t>
                      </a:r>
                      <a:r>
                        <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a:t>
                      </a:r>
                      <a:r>
                        <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chuyển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xuống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a:t>
                      </a:r>
                    </a:p>
                  </a:txBody>
                  <a:tcPr marL="83077" marR="83077" marT="46773" marB="46773"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6769" name="Text Box 166"/>
          <p:cNvSpPr txBox="1">
            <a:spLocks noChangeArrowheads="1"/>
          </p:cNvSpPr>
          <p:nvPr/>
        </p:nvSpPr>
        <p:spPr bwMode="auto">
          <a:xfrm>
            <a:off x="3124200" y="3477174"/>
            <a:ext cx="59750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err="1">
                <a:solidFill>
                  <a:srgbClr val="A9072E"/>
                </a:solidFill>
                <a:latin typeface="맑은 고딕" pitchFamily="50" charset="-127"/>
                <a:ea typeface="맑은 고딕" pitchFamily="50" charset="-127"/>
              </a:rPr>
              <a:t>Tỉ</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lệ</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liên</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tục</a:t>
            </a:r>
            <a:r>
              <a:rPr lang="en-US" altLang="ko-KR" sz="1200" b="1" dirty="0">
                <a:solidFill>
                  <a:srgbClr val="A9072E"/>
                </a:solidFill>
                <a:latin typeface="맑은 고딕" pitchFamily="50" charset="-127"/>
                <a:ea typeface="맑은 고딕" pitchFamily="50" charset="-127"/>
              </a:rPr>
              <a:t> 9 </a:t>
            </a:r>
            <a:r>
              <a:rPr lang="en-US" altLang="ko-KR" sz="1200" b="1" dirty="0" err="1">
                <a:solidFill>
                  <a:srgbClr val="A9072E"/>
                </a:solidFill>
                <a:latin typeface="맑은 고딕" pitchFamily="50" charset="-127"/>
                <a:ea typeface="맑은 고딕" pitchFamily="50" charset="-127"/>
              </a:rPr>
              <a:t>điểm</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xuất</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hiện</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về</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một</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phía</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đường</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trung</a:t>
            </a:r>
            <a:r>
              <a:rPr lang="en-US" altLang="ko-KR" sz="1200" b="1" dirty="0">
                <a:solidFill>
                  <a:srgbClr val="A9072E"/>
                </a:solidFill>
                <a:latin typeface="맑은 고딕" pitchFamily="50" charset="-127"/>
                <a:ea typeface="맑은 고딕" pitchFamily="50" charset="-127"/>
              </a:rPr>
              <a:t> </a:t>
            </a:r>
            <a:r>
              <a:rPr lang="en-US" altLang="ko-KR" sz="1200" b="1" dirty="0" err="1">
                <a:solidFill>
                  <a:srgbClr val="A9072E"/>
                </a:solidFill>
                <a:latin typeface="맑은 고딕" pitchFamily="50" charset="-127"/>
                <a:ea typeface="맑은 고딕" pitchFamily="50" charset="-127"/>
              </a:rPr>
              <a:t>tâm</a:t>
            </a:r>
            <a:r>
              <a:rPr lang="ko-KR" altLang="en-US" sz="1200" b="1" dirty="0">
                <a:solidFill>
                  <a:srgbClr val="A9072E"/>
                </a:solidFill>
                <a:latin typeface="맑은 고딕" pitchFamily="50" charset="-127"/>
                <a:ea typeface="맑은 고딕" pitchFamily="50" charset="-127"/>
              </a:rPr>
              <a:t> </a:t>
            </a:r>
            <a:r>
              <a:rPr lang="en-US" altLang="ko-KR" sz="1200" b="1" dirty="0">
                <a:solidFill>
                  <a:srgbClr val="A9072E"/>
                </a:solidFill>
                <a:latin typeface="맑은 고딕" pitchFamily="50" charset="-127"/>
                <a:ea typeface="맑은 고딕" pitchFamily="50" charset="-127"/>
              </a:rPr>
              <a:t>((0.5)^9 = 0.2%)</a:t>
            </a:r>
          </a:p>
        </p:txBody>
      </p:sp>
      <p:sp>
        <p:nvSpPr>
          <p:cNvPr id="39" name="Text Box 39"/>
          <p:cNvSpPr txBox="1">
            <a:spLocks noChangeArrowheads="1"/>
          </p:cNvSpPr>
          <p:nvPr/>
        </p:nvSpPr>
        <p:spPr bwMode="auto">
          <a:xfrm>
            <a:off x="7676698" y="138118"/>
            <a:ext cx="992579"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Run(2)</a:t>
            </a:r>
          </a:p>
        </p:txBody>
      </p:sp>
      <p:sp>
        <p:nvSpPr>
          <p:cNvPr id="41"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ko-KR" altLang="en-US" sz="2000" b="1" dirty="0">
                <a:solidFill>
                  <a:prstClr val="black"/>
                </a:solidFill>
              </a:rPr>
              <a:t> </a:t>
            </a:r>
            <a:r>
              <a:rPr kumimoji="1" lang="en-US" altLang="ko-KR" sz="2000" b="1" dirty="0">
                <a:solidFill>
                  <a:prstClr val="black"/>
                </a:solidFill>
              </a:rPr>
              <a:t>(</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4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299</a:t>
            </a:fld>
            <a:endParaRPr lang="ko-KR" altLang="en-US" sz="1200" dirty="0">
              <a:solidFill>
                <a:prstClr val="black"/>
              </a:solidFill>
            </a:endParaRPr>
          </a:p>
        </p:txBody>
      </p:sp>
    </p:spTree>
    <p:extLst>
      <p:ext uri="{BB962C8B-B14F-4D97-AF65-F5344CB8AC3E}">
        <p14:creationId xmlns:p14="http://schemas.microsoft.com/office/powerpoint/2010/main" val="1137286347"/>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 name="Group 842"/>
          <p:cNvGraphicFramePr>
            <a:graphicFrameLocks noGrp="1"/>
          </p:cNvGraphicFramePr>
          <p:nvPr>
            <p:extLst>
              <p:ext uri="{D42A27DB-BD31-4B8C-83A1-F6EECF244321}">
                <p14:modId xmlns:p14="http://schemas.microsoft.com/office/powerpoint/2010/main" val="3810239287"/>
              </p:ext>
            </p:extLst>
          </p:nvPr>
        </p:nvGraphicFramePr>
        <p:xfrm>
          <a:off x="1313223" y="1773782"/>
          <a:ext cx="6780336" cy="1658940"/>
        </p:xfrm>
        <a:graphic>
          <a:graphicData uri="http://schemas.openxmlformats.org/drawingml/2006/table">
            <a:tbl>
              <a:tblPr/>
              <a:tblGrid>
                <a:gridCol w="523143">
                  <a:extLst>
                    <a:ext uri="{9D8B030D-6E8A-4147-A177-3AD203B41FA5}">
                      <a16:colId xmlns:a16="http://schemas.microsoft.com/office/drawing/2014/main" val="20000"/>
                    </a:ext>
                  </a:extLst>
                </a:gridCol>
                <a:gridCol w="520211">
                  <a:extLst>
                    <a:ext uri="{9D8B030D-6E8A-4147-A177-3AD203B41FA5}">
                      <a16:colId xmlns:a16="http://schemas.microsoft.com/office/drawing/2014/main" val="20001"/>
                    </a:ext>
                  </a:extLst>
                </a:gridCol>
                <a:gridCol w="523143">
                  <a:extLst>
                    <a:ext uri="{9D8B030D-6E8A-4147-A177-3AD203B41FA5}">
                      <a16:colId xmlns:a16="http://schemas.microsoft.com/office/drawing/2014/main" val="20002"/>
                    </a:ext>
                  </a:extLst>
                </a:gridCol>
                <a:gridCol w="521677">
                  <a:extLst>
                    <a:ext uri="{9D8B030D-6E8A-4147-A177-3AD203B41FA5}">
                      <a16:colId xmlns:a16="http://schemas.microsoft.com/office/drawing/2014/main" val="20003"/>
                    </a:ext>
                  </a:extLst>
                </a:gridCol>
                <a:gridCol w="521677">
                  <a:extLst>
                    <a:ext uri="{9D8B030D-6E8A-4147-A177-3AD203B41FA5}">
                      <a16:colId xmlns:a16="http://schemas.microsoft.com/office/drawing/2014/main" val="20004"/>
                    </a:ext>
                  </a:extLst>
                </a:gridCol>
                <a:gridCol w="521677">
                  <a:extLst>
                    <a:ext uri="{9D8B030D-6E8A-4147-A177-3AD203B41FA5}">
                      <a16:colId xmlns:a16="http://schemas.microsoft.com/office/drawing/2014/main" val="20005"/>
                    </a:ext>
                  </a:extLst>
                </a:gridCol>
                <a:gridCol w="523142">
                  <a:extLst>
                    <a:ext uri="{9D8B030D-6E8A-4147-A177-3AD203B41FA5}">
                      <a16:colId xmlns:a16="http://schemas.microsoft.com/office/drawing/2014/main" val="20006"/>
                    </a:ext>
                  </a:extLst>
                </a:gridCol>
                <a:gridCol w="520212">
                  <a:extLst>
                    <a:ext uri="{9D8B030D-6E8A-4147-A177-3AD203B41FA5}">
                      <a16:colId xmlns:a16="http://schemas.microsoft.com/office/drawing/2014/main" val="20007"/>
                    </a:ext>
                  </a:extLst>
                </a:gridCol>
                <a:gridCol w="523142">
                  <a:extLst>
                    <a:ext uri="{9D8B030D-6E8A-4147-A177-3AD203B41FA5}">
                      <a16:colId xmlns:a16="http://schemas.microsoft.com/office/drawing/2014/main" val="20008"/>
                    </a:ext>
                  </a:extLst>
                </a:gridCol>
                <a:gridCol w="518746">
                  <a:extLst>
                    <a:ext uri="{9D8B030D-6E8A-4147-A177-3AD203B41FA5}">
                      <a16:colId xmlns:a16="http://schemas.microsoft.com/office/drawing/2014/main" val="20009"/>
                    </a:ext>
                  </a:extLst>
                </a:gridCol>
                <a:gridCol w="521677">
                  <a:extLst>
                    <a:ext uri="{9D8B030D-6E8A-4147-A177-3AD203B41FA5}">
                      <a16:colId xmlns:a16="http://schemas.microsoft.com/office/drawing/2014/main" val="20010"/>
                    </a:ext>
                  </a:extLst>
                </a:gridCol>
                <a:gridCol w="521677">
                  <a:extLst>
                    <a:ext uri="{9D8B030D-6E8A-4147-A177-3AD203B41FA5}">
                      <a16:colId xmlns:a16="http://schemas.microsoft.com/office/drawing/2014/main" val="20011"/>
                    </a:ext>
                  </a:extLst>
                </a:gridCol>
                <a:gridCol w="520212">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7748" name="Text Box 3"/>
          <p:cNvSpPr txBox="1">
            <a:spLocks noChangeArrowheads="1"/>
          </p:cNvSpPr>
          <p:nvPr/>
        </p:nvSpPr>
        <p:spPr bwMode="auto">
          <a:xfrm>
            <a:off x="836963" y="1000108"/>
            <a:ext cx="8164193" cy="702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When the 6 points rise or fall continuously, the overall tendency to move   </a:t>
            </a:r>
          </a:p>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continuously in one direction</a:t>
            </a:r>
            <a:endParaRPr lang="ko-KR" altLang="en-US" sz="1600" b="1" dirty="0">
              <a:solidFill>
                <a:prstClr val="black"/>
              </a:solidFill>
              <a:latin typeface="맑은 고딕" pitchFamily="50" charset="-127"/>
              <a:ea typeface="맑은 고딕" pitchFamily="50" charset="-127"/>
            </a:endParaRPr>
          </a:p>
        </p:txBody>
      </p:sp>
      <p:sp>
        <p:nvSpPr>
          <p:cNvPr id="27749" name="Oval 115"/>
          <p:cNvSpPr>
            <a:spLocks noChangeArrowheads="1"/>
          </p:cNvSpPr>
          <p:nvPr/>
        </p:nvSpPr>
        <p:spPr bwMode="auto">
          <a:xfrm>
            <a:off x="2044440" y="268661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0" name="Oval 116"/>
          <p:cNvSpPr>
            <a:spLocks noChangeArrowheads="1"/>
          </p:cNvSpPr>
          <p:nvPr/>
        </p:nvSpPr>
        <p:spPr bwMode="auto">
          <a:xfrm>
            <a:off x="2576379" y="29025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1" name="Oval 117"/>
          <p:cNvSpPr>
            <a:spLocks noChangeArrowheads="1"/>
          </p:cNvSpPr>
          <p:nvPr/>
        </p:nvSpPr>
        <p:spPr bwMode="auto">
          <a:xfrm>
            <a:off x="3108311" y="247071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2" name="Oval 118"/>
          <p:cNvSpPr>
            <a:spLocks noChangeArrowheads="1"/>
          </p:cNvSpPr>
          <p:nvPr/>
        </p:nvSpPr>
        <p:spPr bwMode="auto">
          <a:xfrm>
            <a:off x="3640251" y="22532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3" name="Oval 119"/>
          <p:cNvSpPr>
            <a:spLocks noChangeArrowheads="1"/>
          </p:cNvSpPr>
          <p:nvPr/>
        </p:nvSpPr>
        <p:spPr bwMode="auto">
          <a:xfrm>
            <a:off x="4172180" y="261515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4" name="Oval 120"/>
          <p:cNvSpPr>
            <a:spLocks noChangeArrowheads="1"/>
          </p:cNvSpPr>
          <p:nvPr/>
        </p:nvSpPr>
        <p:spPr bwMode="auto">
          <a:xfrm>
            <a:off x="4704113" y="26373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5" name="Oval 121"/>
          <p:cNvSpPr>
            <a:spLocks noChangeArrowheads="1"/>
          </p:cNvSpPr>
          <p:nvPr/>
        </p:nvSpPr>
        <p:spPr bwMode="auto">
          <a:xfrm>
            <a:off x="5236053" y="27088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7756" name="AutoShape 122"/>
          <p:cNvCxnSpPr>
            <a:cxnSpLocks noChangeShapeType="1"/>
            <a:stCxn id="27749" idx="6"/>
            <a:endCxn id="27750" idx="3"/>
          </p:cNvCxnSpPr>
          <p:nvPr/>
        </p:nvCxnSpPr>
        <p:spPr bwMode="auto">
          <a:xfrm>
            <a:off x="2110382" y="2723128"/>
            <a:ext cx="47625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7" name="AutoShape 123"/>
          <p:cNvCxnSpPr>
            <a:cxnSpLocks noChangeShapeType="1"/>
            <a:stCxn id="27750" idx="6"/>
            <a:endCxn id="27751" idx="2"/>
          </p:cNvCxnSpPr>
          <p:nvPr/>
        </p:nvCxnSpPr>
        <p:spPr bwMode="auto">
          <a:xfrm flipV="1">
            <a:off x="2642318" y="2507207"/>
            <a:ext cx="465992" cy="431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8" name="AutoShape 124"/>
          <p:cNvCxnSpPr>
            <a:cxnSpLocks noChangeShapeType="1"/>
            <a:stCxn id="27752" idx="6"/>
            <a:endCxn id="27753" idx="2"/>
          </p:cNvCxnSpPr>
          <p:nvPr/>
        </p:nvCxnSpPr>
        <p:spPr bwMode="auto">
          <a:xfrm>
            <a:off x="3706188" y="2289720"/>
            <a:ext cx="465992" cy="361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9" name="AutoShape 125"/>
          <p:cNvCxnSpPr>
            <a:cxnSpLocks noChangeShapeType="1"/>
            <a:stCxn id="27753" idx="6"/>
            <a:endCxn id="27754" idx="2"/>
          </p:cNvCxnSpPr>
          <p:nvPr/>
        </p:nvCxnSpPr>
        <p:spPr bwMode="auto">
          <a:xfrm>
            <a:off x="4239589" y="2651691"/>
            <a:ext cx="464526" cy="222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60" name="AutoShape 126"/>
          <p:cNvCxnSpPr>
            <a:cxnSpLocks noChangeShapeType="1"/>
            <a:stCxn id="27754" idx="6"/>
            <a:endCxn id="27755" idx="2"/>
          </p:cNvCxnSpPr>
          <p:nvPr/>
        </p:nvCxnSpPr>
        <p:spPr bwMode="auto">
          <a:xfrm>
            <a:off x="4770060" y="2673916"/>
            <a:ext cx="465992"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61" name="Oval 127"/>
          <p:cNvSpPr>
            <a:spLocks noChangeArrowheads="1"/>
          </p:cNvSpPr>
          <p:nvPr/>
        </p:nvSpPr>
        <p:spPr bwMode="auto">
          <a:xfrm>
            <a:off x="5700579" y="27818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2" name="Oval 128"/>
          <p:cNvSpPr>
            <a:spLocks noChangeArrowheads="1"/>
          </p:cNvSpPr>
          <p:nvPr/>
        </p:nvSpPr>
        <p:spPr bwMode="auto">
          <a:xfrm>
            <a:off x="6232511" y="290251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3" name="Oval 129"/>
          <p:cNvSpPr>
            <a:spLocks noChangeArrowheads="1"/>
          </p:cNvSpPr>
          <p:nvPr/>
        </p:nvSpPr>
        <p:spPr bwMode="auto">
          <a:xfrm>
            <a:off x="6764451" y="3191423"/>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4" name="Oval 130"/>
          <p:cNvSpPr>
            <a:spLocks noChangeArrowheads="1"/>
          </p:cNvSpPr>
          <p:nvPr/>
        </p:nvSpPr>
        <p:spPr bwMode="auto">
          <a:xfrm>
            <a:off x="7296380" y="304695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5" name="Oval 131"/>
          <p:cNvSpPr>
            <a:spLocks noChangeArrowheads="1"/>
          </p:cNvSpPr>
          <p:nvPr/>
        </p:nvSpPr>
        <p:spPr bwMode="auto">
          <a:xfrm>
            <a:off x="7828313" y="32628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7766" name="AutoShape 132"/>
          <p:cNvCxnSpPr>
            <a:cxnSpLocks noChangeShapeType="1"/>
            <a:stCxn id="27761" idx="6"/>
            <a:endCxn id="27762" idx="2"/>
          </p:cNvCxnSpPr>
          <p:nvPr/>
        </p:nvCxnSpPr>
        <p:spPr bwMode="auto">
          <a:xfrm>
            <a:off x="5766518" y="2816791"/>
            <a:ext cx="465992" cy="1222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67" name="AutoShape 133"/>
          <p:cNvCxnSpPr>
            <a:cxnSpLocks noChangeShapeType="1"/>
            <a:stCxn id="27762" idx="5"/>
            <a:endCxn id="27763" idx="2"/>
          </p:cNvCxnSpPr>
          <p:nvPr/>
        </p:nvCxnSpPr>
        <p:spPr bwMode="auto">
          <a:xfrm>
            <a:off x="6288194" y="2962820"/>
            <a:ext cx="476250" cy="2651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68" name="Text Box 2"/>
          <p:cNvSpPr txBox="1">
            <a:spLocks noChangeArrowheads="1"/>
          </p:cNvSpPr>
          <p:nvPr/>
        </p:nvSpPr>
        <p:spPr bwMode="auto">
          <a:xfrm>
            <a:off x="716801" y="642918"/>
            <a:ext cx="19277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ko-KR" altLang="en-US" b="1" dirty="0">
                <a:solidFill>
                  <a:prstClr val="black"/>
                </a:solidFill>
                <a:latin typeface="맑은 고딕" pitchFamily="50" charset="-127"/>
                <a:ea typeface="맑은 고딕" pitchFamily="50" charset="-127"/>
              </a:rPr>
              <a:t>경향</a:t>
            </a:r>
            <a:r>
              <a:rPr lang="en-US" altLang="ko-KR" b="1" dirty="0">
                <a:solidFill>
                  <a:prstClr val="black"/>
                </a:solidFill>
                <a:latin typeface="맑은 고딕" pitchFamily="50" charset="-127"/>
                <a:ea typeface="맑은 고딕" pitchFamily="50" charset="-127"/>
              </a:rPr>
              <a:t>(Trend)</a:t>
            </a:r>
            <a:r>
              <a:rPr lang="ko-KR" altLang="en-US" b="1" dirty="0">
                <a:solidFill>
                  <a:prstClr val="black"/>
                </a:solidFill>
                <a:latin typeface="맑은 고딕" pitchFamily="50" charset="-127"/>
                <a:ea typeface="맑은 고딕" pitchFamily="50" charset="-127"/>
              </a:rPr>
              <a:t> </a:t>
            </a:r>
            <a:r>
              <a:rPr lang="en-US" altLang="ko-KR" b="1" dirty="0">
                <a:solidFill>
                  <a:prstClr val="black"/>
                </a:solidFill>
                <a:latin typeface="맑은 고딕" pitchFamily="50" charset="-127"/>
                <a:ea typeface="맑은 고딕" pitchFamily="50" charset="-127"/>
              </a:rPr>
              <a:t>&gt;</a:t>
            </a:r>
            <a:endParaRPr lang="ko-KR" altLang="en-US" b="1" dirty="0">
              <a:solidFill>
                <a:prstClr val="black"/>
              </a:solidFill>
              <a:latin typeface="맑은 고딕" pitchFamily="50" charset="-127"/>
              <a:ea typeface="맑은 고딕" pitchFamily="50" charset="-127"/>
            </a:endParaRPr>
          </a:p>
        </p:txBody>
      </p:sp>
      <p:cxnSp>
        <p:nvCxnSpPr>
          <p:cNvPr id="27769" name="AutoShape 136"/>
          <p:cNvCxnSpPr>
            <a:cxnSpLocks noChangeShapeType="1"/>
            <a:stCxn id="27751" idx="6"/>
            <a:endCxn id="27752" idx="2"/>
          </p:cNvCxnSpPr>
          <p:nvPr/>
        </p:nvCxnSpPr>
        <p:spPr bwMode="auto">
          <a:xfrm flipV="1">
            <a:off x="3174253" y="2289741"/>
            <a:ext cx="465992" cy="2174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0" name="AutoShape 137"/>
          <p:cNvCxnSpPr>
            <a:cxnSpLocks noChangeShapeType="1"/>
            <a:stCxn id="27755" idx="6"/>
            <a:endCxn id="27761" idx="2"/>
          </p:cNvCxnSpPr>
          <p:nvPr/>
        </p:nvCxnSpPr>
        <p:spPr bwMode="auto">
          <a:xfrm>
            <a:off x="5301998" y="2745332"/>
            <a:ext cx="398585" cy="71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1" name="AutoShape 138"/>
          <p:cNvCxnSpPr>
            <a:cxnSpLocks noChangeShapeType="1"/>
            <a:stCxn id="27763" idx="6"/>
            <a:endCxn id="27764" idx="2"/>
          </p:cNvCxnSpPr>
          <p:nvPr/>
        </p:nvCxnSpPr>
        <p:spPr bwMode="auto">
          <a:xfrm flipV="1">
            <a:off x="6830388" y="3083470"/>
            <a:ext cx="465992" cy="1444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2" name="AutoShape 139"/>
          <p:cNvCxnSpPr>
            <a:cxnSpLocks noChangeShapeType="1"/>
            <a:stCxn id="27764" idx="5"/>
            <a:endCxn id="27765" idx="2"/>
          </p:cNvCxnSpPr>
          <p:nvPr/>
        </p:nvCxnSpPr>
        <p:spPr bwMode="auto">
          <a:xfrm>
            <a:off x="7353530" y="3107282"/>
            <a:ext cx="474785"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73" name="Text Box 140"/>
          <p:cNvSpPr txBox="1">
            <a:spLocks noChangeArrowheads="1"/>
          </p:cNvSpPr>
          <p:nvPr/>
        </p:nvSpPr>
        <p:spPr bwMode="auto">
          <a:xfrm>
            <a:off x="760774" y="1605507"/>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7774" name="Text Box 141"/>
          <p:cNvSpPr txBox="1">
            <a:spLocks noChangeArrowheads="1"/>
          </p:cNvSpPr>
          <p:nvPr/>
        </p:nvSpPr>
        <p:spPr bwMode="auto">
          <a:xfrm>
            <a:off x="760763" y="3189832"/>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7775" name="AutoShape 142"/>
          <p:cNvSpPr>
            <a:spLocks noChangeArrowheads="1"/>
          </p:cNvSpPr>
          <p:nvPr/>
        </p:nvSpPr>
        <p:spPr bwMode="auto">
          <a:xfrm>
            <a:off x="783988" y="3981450"/>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27776" name="Oval 143"/>
          <p:cNvSpPr>
            <a:spLocks noChangeArrowheads="1"/>
          </p:cNvSpPr>
          <p:nvPr/>
        </p:nvSpPr>
        <p:spPr bwMode="auto">
          <a:xfrm rot="430555">
            <a:off x="4008057" y="2489745"/>
            <a:ext cx="3182815" cy="823912"/>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77" name="Text Box 144"/>
          <p:cNvSpPr txBox="1">
            <a:spLocks noChangeArrowheads="1"/>
          </p:cNvSpPr>
          <p:nvPr/>
        </p:nvSpPr>
        <p:spPr bwMode="auto">
          <a:xfrm>
            <a:off x="829639" y="2397671"/>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7778" name="AutoShape 145"/>
          <p:cNvSpPr>
            <a:spLocks noChangeArrowheads="1"/>
          </p:cNvSpPr>
          <p:nvPr/>
        </p:nvSpPr>
        <p:spPr bwMode="auto">
          <a:xfrm>
            <a:off x="783988" y="398145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Causes</a:t>
            </a:r>
            <a:endParaRPr lang="ko-KR" altLang="en-US" sz="1600" b="1" dirty="0">
              <a:solidFill>
                <a:prstClr val="black"/>
              </a:solidFill>
              <a:latin typeface="맑은 고딕" pitchFamily="50" charset="-127"/>
              <a:ea typeface="맑은 고딕" pitchFamily="50" charset="-127"/>
            </a:endParaRPr>
          </a:p>
        </p:txBody>
      </p:sp>
      <p:graphicFrame>
        <p:nvGraphicFramePr>
          <p:cNvPr id="34" name="Group 168"/>
          <p:cNvGraphicFramePr>
            <a:graphicFrameLocks noGrp="1"/>
          </p:cNvGraphicFramePr>
          <p:nvPr/>
        </p:nvGraphicFramePr>
        <p:xfrm>
          <a:off x="849923" y="4413271"/>
          <a:ext cx="7643743" cy="2201040"/>
        </p:xfrm>
        <a:graphic>
          <a:graphicData uri="http://schemas.openxmlformats.org/drawingml/2006/table">
            <a:tbl>
              <a:tblPr/>
              <a:tblGrid>
                <a:gridCol w="1111954">
                  <a:extLst>
                    <a:ext uri="{9D8B030D-6E8A-4147-A177-3AD203B41FA5}">
                      <a16:colId xmlns:a16="http://schemas.microsoft.com/office/drawing/2014/main" val="20000"/>
                    </a:ext>
                  </a:extLst>
                </a:gridCol>
                <a:gridCol w="6531789">
                  <a:extLst>
                    <a:ext uri="{9D8B030D-6E8A-4147-A177-3AD203B41FA5}">
                      <a16:colId xmlns:a16="http://schemas.microsoft.com/office/drawing/2014/main" val="20001"/>
                    </a:ext>
                  </a:extLst>
                </a:gridCol>
              </a:tblGrid>
              <a:tr h="56515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1. Downward: Improving the quality of raw materials progressively and improving production facilities by efficient maintenance management</a:t>
                      </a:r>
                      <a:b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b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2. Upward: If the machine, tool or test equipment is gradually loosened or worn,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control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Gradual wear of the tool, gradual reduction of active ingredients in solution, worker fatigue, coolant change</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307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Same as R control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8" name="Text Box 39"/>
          <p:cNvSpPr txBox="1">
            <a:spLocks noChangeArrowheads="1"/>
          </p:cNvSpPr>
          <p:nvPr/>
        </p:nvSpPr>
        <p:spPr bwMode="auto">
          <a:xfrm>
            <a:off x="7676698" y="138118"/>
            <a:ext cx="1155766"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Trend(3)</a:t>
            </a:r>
          </a:p>
        </p:txBody>
      </p:sp>
      <p:sp>
        <p:nvSpPr>
          <p:cNvPr id="40"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39"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300</a:t>
            </a:fld>
            <a:endParaRPr lang="ko-KR" altLang="en-US" sz="1200" dirty="0">
              <a:solidFill>
                <a:prstClr val="black"/>
              </a:solidFill>
            </a:endParaRPr>
          </a:p>
        </p:txBody>
      </p:sp>
    </p:spTree>
    <p:extLst>
      <p:ext uri="{BB962C8B-B14F-4D97-AF65-F5344CB8AC3E}">
        <p14:creationId xmlns:p14="http://schemas.microsoft.com/office/powerpoint/2010/main" val="4197978557"/>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 Box 3"/>
          <p:cNvSpPr txBox="1">
            <a:spLocks noChangeArrowheads="1"/>
          </p:cNvSpPr>
          <p:nvPr/>
        </p:nvSpPr>
        <p:spPr bwMode="auto">
          <a:xfrm>
            <a:off x="904153" y="1244134"/>
            <a:ext cx="7247518"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When 14 dots appear periodically one above and below the center line</a:t>
            </a:r>
            <a:endParaRPr lang="ko-KR" altLang="en-US" sz="1600" b="1" dirty="0">
              <a:solidFill>
                <a:prstClr val="black"/>
              </a:solidFill>
              <a:latin typeface="맑은 고딕" pitchFamily="50" charset="-127"/>
              <a:ea typeface="맑은 고딕" pitchFamily="50" charset="-127"/>
            </a:endParaRPr>
          </a:p>
        </p:txBody>
      </p:sp>
      <p:graphicFrame>
        <p:nvGraphicFramePr>
          <p:cNvPr id="3" name="Group 736"/>
          <p:cNvGraphicFramePr>
            <a:graphicFrameLocks noGrp="1"/>
          </p:cNvGraphicFramePr>
          <p:nvPr>
            <p:extLst>
              <p:ext uri="{D42A27DB-BD31-4B8C-83A1-F6EECF244321}">
                <p14:modId xmlns:p14="http://schemas.microsoft.com/office/powerpoint/2010/main" val="2414652245"/>
              </p:ext>
            </p:extLst>
          </p:nvPr>
        </p:nvGraphicFramePr>
        <p:xfrm>
          <a:off x="1380392" y="1818803"/>
          <a:ext cx="6929801" cy="1658940"/>
        </p:xfrm>
        <a:graphic>
          <a:graphicData uri="http://schemas.openxmlformats.org/drawingml/2006/table">
            <a:tbl>
              <a:tblPr/>
              <a:tblGrid>
                <a:gridCol w="693127">
                  <a:extLst>
                    <a:ext uri="{9D8B030D-6E8A-4147-A177-3AD203B41FA5}">
                      <a16:colId xmlns:a16="http://schemas.microsoft.com/office/drawing/2014/main" val="20000"/>
                    </a:ext>
                  </a:extLst>
                </a:gridCol>
                <a:gridCol w="328246">
                  <a:extLst>
                    <a:ext uri="{9D8B030D-6E8A-4147-A177-3AD203B41FA5}">
                      <a16:colId xmlns:a16="http://schemas.microsoft.com/office/drawing/2014/main" val="20001"/>
                    </a:ext>
                  </a:extLst>
                </a:gridCol>
                <a:gridCol w="328246">
                  <a:extLst>
                    <a:ext uri="{9D8B030D-6E8A-4147-A177-3AD203B41FA5}">
                      <a16:colId xmlns:a16="http://schemas.microsoft.com/office/drawing/2014/main" val="20002"/>
                    </a:ext>
                  </a:extLst>
                </a:gridCol>
                <a:gridCol w="328246">
                  <a:extLst>
                    <a:ext uri="{9D8B030D-6E8A-4147-A177-3AD203B41FA5}">
                      <a16:colId xmlns:a16="http://schemas.microsoft.com/office/drawing/2014/main" val="20003"/>
                    </a:ext>
                  </a:extLst>
                </a:gridCol>
                <a:gridCol w="328246">
                  <a:extLst>
                    <a:ext uri="{9D8B030D-6E8A-4147-A177-3AD203B41FA5}">
                      <a16:colId xmlns:a16="http://schemas.microsoft.com/office/drawing/2014/main" val="20004"/>
                    </a:ext>
                  </a:extLst>
                </a:gridCol>
                <a:gridCol w="329711">
                  <a:extLst>
                    <a:ext uri="{9D8B030D-6E8A-4147-A177-3AD203B41FA5}">
                      <a16:colId xmlns:a16="http://schemas.microsoft.com/office/drawing/2014/main" val="20005"/>
                    </a:ext>
                  </a:extLst>
                </a:gridCol>
                <a:gridCol w="326781">
                  <a:extLst>
                    <a:ext uri="{9D8B030D-6E8A-4147-A177-3AD203B41FA5}">
                      <a16:colId xmlns:a16="http://schemas.microsoft.com/office/drawing/2014/main" val="20006"/>
                    </a:ext>
                  </a:extLst>
                </a:gridCol>
                <a:gridCol w="328246">
                  <a:extLst>
                    <a:ext uri="{9D8B030D-6E8A-4147-A177-3AD203B41FA5}">
                      <a16:colId xmlns:a16="http://schemas.microsoft.com/office/drawing/2014/main" val="20007"/>
                    </a:ext>
                  </a:extLst>
                </a:gridCol>
                <a:gridCol w="328246">
                  <a:extLst>
                    <a:ext uri="{9D8B030D-6E8A-4147-A177-3AD203B41FA5}">
                      <a16:colId xmlns:a16="http://schemas.microsoft.com/office/drawing/2014/main" val="20008"/>
                    </a:ext>
                  </a:extLst>
                </a:gridCol>
                <a:gridCol w="328246">
                  <a:extLst>
                    <a:ext uri="{9D8B030D-6E8A-4147-A177-3AD203B41FA5}">
                      <a16:colId xmlns:a16="http://schemas.microsoft.com/office/drawing/2014/main" val="20009"/>
                    </a:ext>
                  </a:extLst>
                </a:gridCol>
                <a:gridCol w="328246">
                  <a:extLst>
                    <a:ext uri="{9D8B030D-6E8A-4147-A177-3AD203B41FA5}">
                      <a16:colId xmlns:a16="http://schemas.microsoft.com/office/drawing/2014/main" val="20010"/>
                    </a:ext>
                  </a:extLst>
                </a:gridCol>
                <a:gridCol w="328246">
                  <a:extLst>
                    <a:ext uri="{9D8B030D-6E8A-4147-A177-3AD203B41FA5}">
                      <a16:colId xmlns:a16="http://schemas.microsoft.com/office/drawing/2014/main" val="20011"/>
                    </a:ext>
                  </a:extLst>
                </a:gridCol>
                <a:gridCol w="328246">
                  <a:extLst>
                    <a:ext uri="{9D8B030D-6E8A-4147-A177-3AD203B41FA5}">
                      <a16:colId xmlns:a16="http://schemas.microsoft.com/office/drawing/2014/main" val="20012"/>
                    </a:ext>
                  </a:extLst>
                </a:gridCol>
                <a:gridCol w="328246">
                  <a:extLst>
                    <a:ext uri="{9D8B030D-6E8A-4147-A177-3AD203B41FA5}">
                      <a16:colId xmlns:a16="http://schemas.microsoft.com/office/drawing/2014/main" val="20013"/>
                    </a:ext>
                  </a:extLst>
                </a:gridCol>
                <a:gridCol w="328246">
                  <a:extLst>
                    <a:ext uri="{9D8B030D-6E8A-4147-A177-3AD203B41FA5}">
                      <a16:colId xmlns:a16="http://schemas.microsoft.com/office/drawing/2014/main" val="20014"/>
                    </a:ext>
                  </a:extLst>
                </a:gridCol>
                <a:gridCol w="328246">
                  <a:extLst>
                    <a:ext uri="{9D8B030D-6E8A-4147-A177-3AD203B41FA5}">
                      <a16:colId xmlns:a16="http://schemas.microsoft.com/office/drawing/2014/main" val="20015"/>
                    </a:ext>
                  </a:extLst>
                </a:gridCol>
                <a:gridCol w="328246">
                  <a:extLst>
                    <a:ext uri="{9D8B030D-6E8A-4147-A177-3AD203B41FA5}">
                      <a16:colId xmlns:a16="http://schemas.microsoft.com/office/drawing/2014/main" val="20016"/>
                    </a:ext>
                  </a:extLst>
                </a:gridCol>
                <a:gridCol w="328246">
                  <a:extLst>
                    <a:ext uri="{9D8B030D-6E8A-4147-A177-3AD203B41FA5}">
                      <a16:colId xmlns:a16="http://schemas.microsoft.com/office/drawing/2014/main" val="20017"/>
                    </a:ext>
                  </a:extLst>
                </a:gridCol>
                <a:gridCol w="329711">
                  <a:extLst>
                    <a:ext uri="{9D8B030D-6E8A-4147-A177-3AD203B41FA5}">
                      <a16:colId xmlns:a16="http://schemas.microsoft.com/office/drawing/2014/main" val="20018"/>
                    </a:ext>
                  </a:extLst>
                </a:gridCol>
                <a:gridCol w="326781">
                  <a:extLst>
                    <a:ext uri="{9D8B030D-6E8A-4147-A177-3AD203B41FA5}">
                      <a16:colId xmlns:a16="http://schemas.microsoft.com/office/drawing/2014/main" val="20019"/>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8824" name="Oval 115"/>
          <p:cNvSpPr>
            <a:spLocks noChangeArrowheads="1"/>
          </p:cNvSpPr>
          <p:nvPr/>
        </p:nvSpPr>
        <p:spPr bwMode="auto">
          <a:xfrm>
            <a:off x="2211270" y="2469699"/>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5" name="Oval 116"/>
          <p:cNvSpPr>
            <a:spLocks noChangeArrowheads="1"/>
          </p:cNvSpPr>
          <p:nvPr/>
        </p:nvSpPr>
        <p:spPr bwMode="auto">
          <a:xfrm>
            <a:off x="2507278" y="2491924"/>
            <a:ext cx="6740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6" name="Oval 117"/>
          <p:cNvSpPr>
            <a:spLocks noChangeArrowheads="1"/>
          </p:cNvSpPr>
          <p:nvPr/>
        </p:nvSpPr>
        <p:spPr bwMode="auto">
          <a:xfrm>
            <a:off x="2866292" y="2122015"/>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7" name="Oval 118"/>
          <p:cNvSpPr>
            <a:spLocks noChangeArrowheads="1"/>
          </p:cNvSpPr>
          <p:nvPr/>
        </p:nvSpPr>
        <p:spPr bwMode="auto">
          <a:xfrm>
            <a:off x="3176957" y="2771303"/>
            <a:ext cx="65943" cy="69850"/>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8" name="Oval 119"/>
          <p:cNvSpPr>
            <a:spLocks noChangeArrowheads="1"/>
          </p:cNvSpPr>
          <p:nvPr/>
        </p:nvSpPr>
        <p:spPr bwMode="auto">
          <a:xfrm>
            <a:off x="3497879" y="2444299"/>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9" name="Oval 120"/>
          <p:cNvSpPr>
            <a:spLocks noChangeArrowheads="1"/>
          </p:cNvSpPr>
          <p:nvPr/>
        </p:nvSpPr>
        <p:spPr bwMode="auto">
          <a:xfrm>
            <a:off x="3849566" y="2972915"/>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0" name="Oval 121"/>
          <p:cNvSpPr>
            <a:spLocks noChangeArrowheads="1"/>
          </p:cNvSpPr>
          <p:nvPr/>
        </p:nvSpPr>
        <p:spPr bwMode="auto">
          <a:xfrm>
            <a:off x="4179281" y="2420465"/>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31" name="AutoShape 122"/>
          <p:cNvCxnSpPr>
            <a:cxnSpLocks noChangeShapeType="1"/>
            <a:stCxn id="28824" idx="6"/>
            <a:endCxn id="28825" idx="3"/>
          </p:cNvCxnSpPr>
          <p:nvPr/>
        </p:nvCxnSpPr>
        <p:spPr bwMode="auto">
          <a:xfrm>
            <a:off x="2275743" y="2506211"/>
            <a:ext cx="241788" cy="476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2" name="AutoShape 123"/>
          <p:cNvCxnSpPr>
            <a:cxnSpLocks noChangeShapeType="1"/>
            <a:stCxn id="28825" idx="6"/>
            <a:endCxn id="28826" idx="2"/>
          </p:cNvCxnSpPr>
          <p:nvPr/>
        </p:nvCxnSpPr>
        <p:spPr bwMode="auto">
          <a:xfrm flipV="1">
            <a:off x="2574681" y="2158549"/>
            <a:ext cx="291611" cy="3698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3" name="AutoShape 124"/>
          <p:cNvCxnSpPr>
            <a:cxnSpLocks noChangeShapeType="1"/>
            <a:stCxn id="28827" idx="5"/>
            <a:endCxn id="28828" idx="2"/>
          </p:cNvCxnSpPr>
          <p:nvPr/>
        </p:nvCxnSpPr>
        <p:spPr bwMode="auto">
          <a:xfrm flipV="1">
            <a:off x="3232639" y="2479224"/>
            <a:ext cx="265235" cy="3524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4" name="AutoShape 125"/>
          <p:cNvCxnSpPr>
            <a:cxnSpLocks noChangeShapeType="1"/>
            <a:stCxn id="28828" idx="5"/>
            <a:endCxn id="28829" idx="2"/>
          </p:cNvCxnSpPr>
          <p:nvPr/>
        </p:nvCxnSpPr>
        <p:spPr bwMode="auto">
          <a:xfrm>
            <a:off x="3553558" y="2504624"/>
            <a:ext cx="296008" cy="5048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5" name="AutoShape 126"/>
          <p:cNvCxnSpPr>
            <a:cxnSpLocks noChangeShapeType="1"/>
            <a:stCxn id="28829" idx="6"/>
            <a:endCxn id="28830" idx="3"/>
          </p:cNvCxnSpPr>
          <p:nvPr/>
        </p:nvCxnSpPr>
        <p:spPr bwMode="auto">
          <a:xfrm flipV="1">
            <a:off x="3915518" y="2482378"/>
            <a:ext cx="274027" cy="5270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36" name="Oval 127"/>
          <p:cNvSpPr>
            <a:spLocks noChangeArrowheads="1"/>
          </p:cNvSpPr>
          <p:nvPr/>
        </p:nvSpPr>
        <p:spPr bwMode="auto">
          <a:xfrm>
            <a:off x="4506058" y="2780849"/>
            <a:ext cx="6740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7" name="Oval 128"/>
          <p:cNvSpPr>
            <a:spLocks noChangeArrowheads="1"/>
          </p:cNvSpPr>
          <p:nvPr/>
        </p:nvSpPr>
        <p:spPr bwMode="auto">
          <a:xfrm>
            <a:off x="4840170" y="2180774"/>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8" name="Oval 129"/>
          <p:cNvSpPr>
            <a:spLocks noChangeArrowheads="1"/>
          </p:cNvSpPr>
          <p:nvPr/>
        </p:nvSpPr>
        <p:spPr bwMode="auto">
          <a:xfrm>
            <a:off x="5171343" y="2996749"/>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9" name="Oval 130"/>
          <p:cNvSpPr>
            <a:spLocks noChangeArrowheads="1"/>
          </p:cNvSpPr>
          <p:nvPr/>
        </p:nvSpPr>
        <p:spPr bwMode="auto">
          <a:xfrm>
            <a:off x="5499589" y="2468090"/>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40" name="Oval 131"/>
          <p:cNvSpPr>
            <a:spLocks noChangeArrowheads="1"/>
          </p:cNvSpPr>
          <p:nvPr/>
        </p:nvSpPr>
        <p:spPr bwMode="auto">
          <a:xfrm>
            <a:off x="5835161" y="2757015"/>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41" name="AutoShape 132"/>
          <p:cNvCxnSpPr>
            <a:cxnSpLocks noChangeShapeType="1"/>
            <a:stCxn id="28836" idx="7"/>
            <a:endCxn id="28837" idx="2"/>
          </p:cNvCxnSpPr>
          <p:nvPr/>
        </p:nvCxnSpPr>
        <p:spPr bwMode="auto">
          <a:xfrm flipV="1">
            <a:off x="4563208" y="2217265"/>
            <a:ext cx="276958" cy="573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2" name="AutoShape 133"/>
          <p:cNvCxnSpPr>
            <a:cxnSpLocks noChangeShapeType="1"/>
            <a:stCxn id="28837" idx="6"/>
            <a:endCxn id="28838" idx="2"/>
          </p:cNvCxnSpPr>
          <p:nvPr/>
        </p:nvCxnSpPr>
        <p:spPr bwMode="auto">
          <a:xfrm>
            <a:off x="4904643" y="2217265"/>
            <a:ext cx="266700" cy="8143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43" name="Text Box 2"/>
          <p:cNvSpPr txBox="1">
            <a:spLocks noChangeArrowheads="1"/>
          </p:cNvSpPr>
          <p:nvPr/>
        </p:nvSpPr>
        <p:spPr bwMode="auto">
          <a:xfrm>
            <a:off x="915877" y="764704"/>
            <a:ext cx="16749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&lt;Periodicity&gt;</a:t>
            </a:r>
            <a:endParaRPr lang="ko-KR" altLang="en-US" b="1" dirty="0">
              <a:solidFill>
                <a:prstClr val="black"/>
              </a:solidFill>
              <a:latin typeface="맑은 고딕" pitchFamily="50" charset="-127"/>
              <a:ea typeface="맑은 고딕" pitchFamily="50" charset="-127"/>
            </a:endParaRPr>
          </a:p>
        </p:txBody>
      </p:sp>
      <p:cxnSp>
        <p:nvCxnSpPr>
          <p:cNvPr id="28844" name="AutoShape 136"/>
          <p:cNvCxnSpPr>
            <a:cxnSpLocks noChangeShapeType="1"/>
            <a:stCxn id="28826" idx="6"/>
            <a:endCxn id="28827" idx="1"/>
          </p:cNvCxnSpPr>
          <p:nvPr/>
        </p:nvCxnSpPr>
        <p:spPr bwMode="auto">
          <a:xfrm>
            <a:off x="2932246" y="2158528"/>
            <a:ext cx="253511" cy="6223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5" name="AutoShape 137"/>
          <p:cNvCxnSpPr>
            <a:cxnSpLocks noChangeShapeType="1"/>
            <a:stCxn id="28830" idx="7"/>
            <a:endCxn id="28836" idx="3"/>
          </p:cNvCxnSpPr>
          <p:nvPr/>
        </p:nvCxnSpPr>
        <p:spPr bwMode="auto">
          <a:xfrm>
            <a:off x="4234961" y="2431599"/>
            <a:ext cx="281354" cy="4095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6" name="AutoShape 138"/>
          <p:cNvCxnSpPr>
            <a:cxnSpLocks noChangeShapeType="1"/>
            <a:stCxn id="28838" idx="5"/>
            <a:endCxn id="28839" idx="1"/>
          </p:cNvCxnSpPr>
          <p:nvPr/>
        </p:nvCxnSpPr>
        <p:spPr bwMode="auto">
          <a:xfrm flipV="1">
            <a:off x="5227038" y="2479203"/>
            <a:ext cx="282819" cy="5778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7" name="AutoShape 139"/>
          <p:cNvCxnSpPr>
            <a:cxnSpLocks noChangeShapeType="1"/>
            <a:stCxn id="28839" idx="5"/>
            <a:endCxn id="28840" idx="2"/>
          </p:cNvCxnSpPr>
          <p:nvPr/>
        </p:nvCxnSpPr>
        <p:spPr bwMode="auto">
          <a:xfrm>
            <a:off x="5555274" y="2528436"/>
            <a:ext cx="279888" cy="2651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48" name="Text Box 140"/>
          <p:cNvSpPr txBox="1">
            <a:spLocks noChangeArrowheads="1"/>
          </p:cNvSpPr>
          <p:nvPr/>
        </p:nvSpPr>
        <p:spPr bwMode="auto">
          <a:xfrm>
            <a:off x="827955" y="1675929"/>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8849" name="Text Box 141"/>
          <p:cNvSpPr txBox="1">
            <a:spLocks noChangeArrowheads="1"/>
          </p:cNvSpPr>
          <p:nvPr/>
        </p:nvSpPr>
        <p:spPr bwMode="auto">
          <a:xfrm>
            <a:off x="827943" y="3260254"/>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8850" name="AutoShape 142"/>
          <p:cNvSpPr>
            <a:spLocks noChangeArrowheads="1"/>
          </p:cNvSpPr>
          <p:nvPr/>
        </p:nvSpPr>
        <p:spPr bwMode="auto">
          <a:xfrm>
            <a:off x="783988" y="4052888"/>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28851" name="Text Box 144"/>
          <p:cNvSpPr txBox="1">
            <a:spLocks noChangeArrowheads="1"/>
          </p:cNvSpPr>
          <p:nvPr/>
        </p:nvSpPr>
        <p:spPr bwMode="auto">
          <a:xfrm>
            <a:off x="896817" y="2468090"/>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8852" name="AutoShape 145"/>
          <p:cNvSpPr>
            <a:spLocks noChangeArrowheads="1"/>
          </p:cNvSpPr>
          <p:nvPr/>
        </p:nvSpPr>
        <p:spPr bwMode="auto">
          <a:xfrm>
            <a:off x="783988" y="4052888"/>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a:t>
            </a:r>
            <a:endParaRPr lang="ko-KR" altLang="en-US" sz="1600" b="1" dirty="0">
              <a:solidFill>
                <a:prstClr val="black"/>
              </a:solidFill>
              <a:latin typeface="맑은 고딕" pitchFamily="50" charset="-127"/>
              <a:ea typeface="맑은 고딕" pitchFamily="50" charset="-127"/>
            </a:endParaRPr>
          </a:p>
        </p:txBody>
      </p:sp>
      <p:graphicFrame>
        <p:nvGraphicFramePr>
          <p:cNvPr id="33" name="Group 737"/>
          <p:cNvGraphicFramePr>
            <a:graphicFrameLocks noGrp="1"/>
          </p:cNvGraphicFramePr>
          <p:nvPr/>
        </p:nvGraphicFramePr>
        <p:xfrm>
          <a:off x="849923" y="4484709"/>
          <a:ext cx="7444154" cy="1819150"/>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56515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Operator fatigue or operator shift, periodic replacement of instrument, maintenance schedule, tool wear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control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Same cause such as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 seasonal or environmental change, voltage change, instability of machine fixing device</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307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Changes in materials, suppliers, sampling methods, different processes</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8867" name="Oval 706"/>
          <p:cNvSpPr>
            <a:spLocks noChangeArrowheads="1"/>
          </p:cNvSpPr>
          <p:nvPr/>
        </p:nvSpPr>
        <p:spPr bwMode="auto">
          <a:xfrm>
            <a:off x="6147289" y="2491924"/>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68" name="Oval 707"/>
          <p:cNvSpPr>
            <a:spLocks noChangeArrowheads="1"/>
          </p:cNvSpPr>
          <p:nvPr/>
        </p:nvSpPr>
        <p:spPr bwMode="auto">
          <a:xfrm>
            <a:off x="6479933" y="308245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69" name="Oval 708"/>
          <p:cNvSpPr>
            <a:spLocks noChangeArrowheads="1"/>
          </p:cNvSpPr>
          <p:nvPr/>
        </p:nvSpPr>
        <p:spPr bwMode="auto">
          <a:xfrm>
            <a:off x="6802315" y="2491924"/>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70" name="Oval 709"/>
          <p:cNvSpPr>
            <a:spLocks noChangeArrowheads="1"/>
          </p:cNvSpPr>
          <p:nvPr/>
        </p:nvSpPr>
        <p:spPr bwMode="auto">
          <a:xfrm>
            <a:off x="7130561" y="2683990"/>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71" name="Oval 710"/>
          <p:cNvSpPr>
            <a:spLocks noChangeArrowheads="1"/>
          </p:cNvSpPr>
          <p:nvPr/>
        </p:nvSpPr>
        <p:spPr bwMode="auto">
          <a:xfrm>
            <a:off x="7460279" y="2468090"/>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72" name="Oval 711"/>
          <p:cNvSpPr>
            <a:spLocks noChangeArrowheads="1"/>
          </p:cNvSpPr>
          <p:nvPr/>
        </p:nvSpPr>
        <p:spPr bwMode="auto">
          <a:xfrm>
            <a:off x="7794383" y="2491924"/>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73" name="AutoShape 726"/>
          <p:cNvCxnSpPr>
            <a:cxnSpLocks noChangeShapeType="1"/>
            <a:stCxn id="28840" idx="5"/>
            <a:endCxn id="28867" idx="1"/>
          </p:cNvCxnSpPr>
          <p:nvPr/>
        </p:nvCxnSpPr>
        <p:spPr bwMode="auto">
          <a:xfrm flipV="1">
            <a:off x="5890848" y="2503036"/>
            <a:ext cx="266700" cy="3143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4" name="AutoShape 727"/>
          <p:cNvCxnSpPr>
            <a:cxnSpLocks noChangeShapeType="1"/>
            <a:stCxn id="28867" idx="5"/>
            <a:endCxn id="28868" idx="2"/>
          </p:cNvCxnSpPr>
          <p:nvPr/>
        </p:nvCxnSpPr>
        <p:spPr bwMode="auto">
          <a:xfrm>
            <a:off x="6202984" y="2553815"/>
            <a:ext cx="276957" cy="565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5" name="AutoShape 728"/>
          <p:cNvCxnSpPr>
            <a:cxnSpLocks noChangeShapeType="1"/>
            <a:stCxn id="28868" idx="6"/>
            <a:endCxn id="28869" idx="3"/>
          </p:cNvCxnSpPr>
          <p:nvPr/>
        </p:nvCxnSpPr>
        <p:spPr bwMode="auto">
          <a:xfrm flipV="1">
            <a:off x="6545874" y="2553815"/>
            <a:ext cx="265234" cy="565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6" name="AutoShape 729"/>
          <p:cNvCxnSpPr>
            <a:cxnSpLocks noChangeShapeType="1"/>
            <a:stCxn id="28869" idx="7"/>
            <a:endCxn id="28870" idx="3"/>
          </p:cNvCxnSpPr>
          <p:nvPr/>
        </p:nvCxnSpPr>
        <p:spPr bwMode="auto">
          <a:xfrm>
            <a:off x="6858000" y="2503015"/>
            <a:ext cx="282820" cy="2413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7" name="AutoShape 730"/>
          <p:cNvCxnSpPr>
            <a:cxnSpLocks noChangeShapeType="1"/>
            <a:stCxn id="28870" idx="7"/>
            <a:endCxn id="28871" idx="3"/>
          </p:cNvCxnSpPr>
          <p:nvPr/>
        </p:nvCxnSpPr>
        <p:spPr bwMode="auto">
          <a:xfrm flipV="1">
            <a:off x="7186256" y="2528415"/>
            <a:ext cx="284285" cy="1666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78" name="Oval 731"/>
          <p:cNvSpPr>
            <a:spLocks noChangeArrowheads="1"/>
          </p:cNvSpPr>
          <p:nvPr/>
        </p:nvSpPr>
        <p:spPr bwMode="auto">
          <a:xfrm>
            <a:off x="8116770" y="2180774"/>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79" name="AutoShape 732"/>
          <p:cNvCxnSpPr>
            <a:cxnSpLocks noChangeShapeType="1"/>
            <a:stCxn id="28871" idx="7"/>
            <a:endCxn id="28872" idx="3"/>
          </p:cNvCxnSpPr>
          <p:nvPr/>
        </p:nvCxnSpPr>
        <p:spPr bwMode="auto">
          <a:xfrm>
            <a:off x="7515962" y="2479203"/>
            <a:ext cx="288680" cy="746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80" name="AutoShape 733"/>
          <p:cNvCxnSpPr>
            <a:cxnSpLocks noChangeShapeType="1"/>
            <a:stCxn id="28872" idx="6"/>
            <a:endCxn id="28878" idx="2"/>
          </p:cNvCxnSpPr>
          <p:nvPr/>
        </p:nvCxnSpPr>
        <p:spPr bwMode="auto">
          <a:xfrm flipV="1">
            <a:off x="7860333" y="2217265"/>
            <a:ext cx="256443"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82" name="Oval 143"/>
          <p:cNvSpPr>
            <a:spLocks noChangeArrowheads="1"/>
          </p:cNvSpPr>
          <p:nvPr/>
        </p:nvSpPr>
        <p:spPr bwMode="auto">
          <a:xfrm rot="297141">
            <a:off x="2719759" y="1774353"/>
            <a:ext cx="4608635" cy="1585912"/>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52" name="Text Box 39"/>
          <p:cNvSpPr txBox="1">
            <a:spLocks noChangeArrowheads="1"/>
          </p:cNvSpPr>
          <p:nvPr/>
        </p:nvSpPr>
        <p:spPr bwMode="auto">
          <a:xfrm>
            <a:off x="7500958" y="232926"/>
            <a:ext cx="1640898"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periodicity(4)</a:t>
            </a:r>
          </a:p>
        </p:txBody>
      </p:sp>
      <p:sp>
        <p:nvSpPr>
          <p:cNvPr id="54"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56"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301</a:t>
            </a:fld>
            <a:endParaRPr lang="ko-KR" altLang="en-US" sz="1200" dirty="0">
              <a:solidFill>
                <a:prstClr val="black"/>
              </a:solidFill>
            </a:endParaRPr>
          </a:p>
        </p:txBody>
      </p:sp>
    </p:spTree>
    <p:extLst>
      <p:ext uri="{BB962C8B-B14F-4D97-AF65-F5344CB8AC3E}">
        <p14:creationId xmlns:p14="http://schemas.microsoft.com/office/powerpoint/2010/main" val="2521893556"/>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 name="Group 842"/>
          <p:cNvGraphicFramePr>
            <a:graphicFrameLocks noGrp="1"/>
          </p:cNvGraphicFramePr>
          <p:nvPr>
            <p:extLst>
              <p:ext uri="{D42A27DB-BD31-4B8C-83A1-F6EECF244321}">
                <p14:modId xmlns:p14="http://schemas.microsoft.com/office/powerpoint/2010/main" val="3810239287"/>
              </p:ext>
            </p:extLst>
          </p:nvPr>
        </p:nvGraphicFramePr>
        <p:xfrm>
          <a:off x="1313223" y="1773782"/>
          <a:ext cx="6780336" cy="1658940"/>
        </p:xfrm>
        <a:graphic>
          <a:graphicData uri="http://schemas.openxmlformats.org/drawingml/2006/table">
            <a:tbl>
              <a:tblPr/>
              <a:tblGrid>
                <a:gridCol w="523143">
                  <a:extLst>
                    <a:ext uri="{9D8B030D-6E8A-4147-A177-3AD203B41FA5}">
                      <a16:colId xmlns:a16="http://schemas.microsoft.com/office/drawing/2014/main" val="20000"/>
                    </a:ext>
                  </a:extLst>
                </a:gridCol>
                <a:gridCol w="520211">
                  <a:extLst>
                    <a:ext uri="{9D8B030D-6E8A-4147-A177-3AD203B41FA5}">
                      <a16:colId xmlns:a16="http://schemas.microsoft.com/office/drawing/2014/main" val="20001"/>
                    </a:ext>
                  </a:extLst>
                </a:gridCol>
                <a:gridCol w="523143">
                  <a:extLst>
                    <a:ext uri="{9D8B030D-6E8A-4147-A177-3AD203B41FA5}">
                      <a16:colId xmlns:a16="http://schemas.microsoft.com/office/drawing/2014/main" val="20002"/>
                    </a:ext>
                  </a:extLst>
                </a:gridCol>
                <a:gridCol w="521677">
                  <a:extLst>
                    <a:ext uri="{9D8B030D-6E8A-4147-A177-3AD203B41FA5}">
                      <a16:colId xmlns:a16="http://schemas.microsoft.com/office/drawing/2014/main" val="20003"/>
                    </a:ext>
                  </a:extLst>
                </a:gridCol>
                <a:gridCol w="521677">
                  <a:extLst>
                    <a:ext uri="{9D8B030D-6E8A-4147-A177-3AD203B41FA5}">
                      <a16:colId xmlns:a16="http://schemas.microsoft.com/office/drawing/2014/main" val="20004"/>
                    </a:ext>
                  </a:extLst>
                </a:gridCol>
                <a:gridCol w="521677">
                  <a:extLst>
                    <a:ext uri="{9D8B030D-6E8A-4147-A177-3AD203B41FA5}">
                      <a16:colId xmlns:a16="http://schemas.microsoft.com/office/drawing/2014/main" val="20005"/>
                    </a:ext>
                  </a:extLst>
                </a:gridCol>
                <a:gridCol w="523142">
                  <a:extLst>
                    <a:ext uri="{9D8B030D-6E8A-4147-A177-3AD203B41FA5}">
                      <a16:colId xmlns:a16="http://schemas.microsoft.com/office/drawing/2014/main" val="20006"/>
                    </a:ext>
                  </a:extLst>
                </a:gridCol>
                <a:gridCol w="520212">
                  <a:extLst>
                    <a:ext uri="{9D8B030D-6E8A-4147-A177-3AD203B41FA5}">
                      <a16:colId xmlns:a16="http://schemas.microsoft.com/office/drawing/2014/main" val="20007"/>
                    </a:ext>
                  </a:extLst>
                </a:gridCol>
                <a:gridCol w="523142">
                  <a:extLst>
                    <a:ext uri="{9D8B030D-6E8A-4147-A177-3AD203B41FA5}">
                      <a16:colId xmlns:a16="http://schemas.microsoft.com/office/drawing/2014/main" val="20008"/>
                    </a:ext>
                  </a:extLst>
                </a:gridCol>
                <a:gridCol w="518746">
                  <a:extLst>
                    <a:ext uri="{9D8B030D-6E8A-4147-A177-3AD203B41FA5}">
                      <a16:colId xmlns:a16="http://schemas.microsoft.com/office/drawing/2014/main" val="20009"/>
                    </a:ext>
                  </a:extLst>
                </a:gridCol>
                <a:gridCol w="521677">
                  <a:extLst>
                    <a:ext uri="{9D8B030D-6E8A-4147-A177-3AD203B41FA5}">
                      <a16:colId xmlns:a16="http://schemas.microsoft.com/office/drawing/2014/main" val="20010"/>
                    </a:ext>
                  </a:extLst>
                </a:gridCol>
                <a:gridCol w="521677">
                  <a:extLst>
                    <a:ext uri="{9D8B030D-6E8A-4147-A177-3AD203B41FA5}">
                      <a16:colId xmlns:a16="http://schemas.microsoft.com/office/drawing/2014/main" val="20011"/>
                    </a:ext>
                  </a:extLst>
                </a:gridCol>
                <a:gridCol w="520212">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7748" name="Text Box 3"/>
          <p:cNvSpPr txBox="1">
            <a:spLocks noChangeArrowheads="1"/>
          </p:cNvSpPr>
          <p:nvPr/>
        </p:nvSpPr>
        <p:spPr bwMode="auto">
          <a:xfrm>
            <a:off x="836963" y="1066800"/>
            <a:ext cx="7792026" cy="702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a:t>
            </a:r>
            <a:r>
              <a:rPr lang="en-US" altLang="ko-KR" sz="1600" b="1" dirty="0" err="1">
                <a:solidFill>
                  <a:prstClr val="black"/>
                </a:solidFill>
                <a:latin typeface="맑은 고딕" pitchFamily="50" charset="-127"/>
                <a:ea typeface="맑은 고딕" pitchFamily="50" charset="-127"/>
              </a:rPr>
              <a:t>Khi</a:t>
            </a:r>
            <a:r>
              <a:rPr lang="en-US" altLang="ko-KR" sz="1600" b="1" dirty="0">
                <a:solidFill>
                  <a:prstClr val="black"/>
                </a:solidFill>
                <a:latin typeface="맑은 고딕" pitchFamily="50" charset="-127"/>
                <a:ea typeface="맑은 고딕" pitchFamily="50" charset="-127"/>
              </a:rPr>
              <a:t> 6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tăng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hoặc</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giảm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liên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tục</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khuynh</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hướng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di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động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toàn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bộ</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liên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tục</a:t>
            </a:r>
            <a:r>
              <a:rPr lang="en-US" altLang="ko-KR" sz="1600" b="1" dirty="0">
                <a:solidFill>
                  <a:prstClr val="black"/>
                </a:solidFill>
                <a:latin typeface="맑은 고딕" pitchFamily="50" charset="-127"/>
                <a:ea typeface="맑은 고딕" pitchFamily="50" charset="-127"/>
              </a:rPr>
              <a:t> </a:t>
            </a:r>
          </a:p>
          <a:p>
            <a:pPr eaLnBrk="1" fontAlgn="ctr" hangingPunct="1">
              <a:spcBef>
                <a:spcPct val="50000"/>
              </a:spcBef>
              <a:spcAft>
                <a:spcPct val="0"/>
              </a:spcAft>
            </a:pPr>
            <a:r>
              <a:rPr lang="en-US" altLang="ko-KR" sz="1600" b="1" dirty="0" err="1">
                <a:solidFill>
                  <a:prstClr val="black"/>
                </a:solidFill>
                <a:latin typeface="맑은 고딕" pitchFamily="50" charset="-127"/>
                <a:ea typeface="맑은 고딕" pitchFamily="50" charset="-127"/>
              </a:rPr>
              <a:t>theo</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một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hướng</a:t>
            </a:r>
            <a:endParaRPr lang="ko-KR" altLang="en-US" sz="1600" b="1" dirty="0">
              <a:solidFill>
                <a:prstClr val="black"/>
              </a:solidFill>
              <a:latin typeface="맑은 고딕" pitchFamily="50" charset="-127"/>
              <a:ea typeface="맑은 고딕" pitchFamily="50" charset="-127"/>
            </a:endParaRPr>
          </a:p>
        </p:txBody>
      </p:sp>
      <p:sp>
        <p:nvSpPr>
          <p:cNvPr id="27749" name="Oval 115"/>
          <p:cNvSpPr>
            <a:spLocks noChangeArrowheads="1"/>
          </p:cNvSpPr>
          <p:nvPr/>
        </p:nvSpPr>
        <p:spPr bwMode="auto">
          <a:xfrm>
            <a:off x="2044440" y="268661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0" name="Oval 116"/>
          <p:cNvSpPr>
            <a:spLocks noChangeArrowheads="1"/>
          </p:cNvSpPr>
          <p:nvPr/>
        </p:nvSpPr>
        <p:spPr bwMode="auto">
          <a:xfrm>
            <a:off x="2576379" y="29025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1" name="Oval 117"/>
          <p:cNvSpPr>
            <a:spLocks noChangeArrowheads="1"/>
          </p:cNvSpPr>
          <p:nvPr/>
        </p:nvSpPr>
        <p:spPr bwMode="auto">
          <a:xfrm>
            <a:off x="3108311" y="247071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2" name="Oval 118"/>
          <p:cNvSpPr>
            <a:spLocks noChangeArrowheads="1"/>
          </p:cNvSpPr>
          <p:nvPr/>
        </p:nvSpPr>
        <p:spPr bwMode="auto">
          <a:xfrm>
            <a:off x="3640251" y="22532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3" name="Oval 119"/>
          <p:cNvSpPr>
            <a:spLocks noChangeArrowheads="1"/>
          </p:cNvSpPr>
          <p:nvPr/>
        </p:nvSpPr>
        <p:spPr bwMode="auto">
          <a:xfrm>
            <a:off x="4172180" y="261515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4" name="Oval 120"/>
          <p:cNvSpPr>
            <a:spLocks noChangeArrowheads="1"/>
          </p:cNvSpPr>
          <p:nvPr/>
        </p:nvSpPr>
        <p:spPr bwMode="auto">
          <a:xfrm>
            <a:off x="4704113" y="26373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55" name="Oval 121"/>
          <p:cNvSpPr>
            <a:spLocks noChangeArrowheads="1"/>
          </p:cNvSpPr>
          <p:nvPr/>
        </p:nvSpPr>
        <p:spPr bwMode="auto">
          <a:xfrm>
            <a:off x="5236053" y="27088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7756" name="AutoShape 122"/>
          <p:cNvCxnSpPr>
            <a:cxnSpLocks noChangeShapeType="1"/>
            <a:stCxn id="27749" idx="6"/>
            <a:endCxn id="27750" idx="3"/>
          </p:cNvCxnSpPr>
          <p:nvPr/>
        </p:nvCxnSpPr>
        <p:spPr bwMode="auto">
          <a:xfrm>
            <a:off x="2110382" y="2723128"/>
            <a:ext cx="47625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7" name="AutoShape 123"/>
          <p:cNvCxnSpPr>
            <a:cxnSpLocks noChangeShapeType="1"/>
            <a:stCxn id="27750" idx="6"/>
            <a:endCxn id="27751" idx="2"/>
          </p:cNvCxnSpPr>
          <p:nvPr/>
        </p:nvCxnSpPr>
        <p:spPr bwMode="auto">
          <a:xfrm flipV="1">
            <a:off x="2642318" y="2507207"/>
            <a:ext cx="465992" cy="431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8" name="AutoShape 124"/>
          <p:cNvCxnSpPr>
            <a:cxnSpLocks noChangeShapeType="1"/>
            <a:stCxn id="27752" idx="6"/>
            <a:endCxn id="27753" idx="2"/>
          </p:cNvCxnSpPr>
          <p:nvPr/>
        </p:nvCxnSpPr>
        <p:spPr bwMode="auto">
          <a:xfrm>
            <a:off x="3706188" y="2289720"/>
            <a:ext cx="465992" cy="361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59" name="AutoShape 125"/>
          <p:cNvCxnSpPr>
            <a:cxnSpLocks noChangeShapeType="1"/>
            <a:stCxn id="27753" idx="6"/>
            <a:endCxn id="27754" idx="2"/>
          </p:cNvCxnSpPr>
          <p:nvPr/>
        </p:nvCxnSpPr>
        <p:spPr bwMode="auto">
          <a:xfrm>
            <a:off x="4239589" y="2651691"/>
            <a:ext cx="464526" cy="222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60" name="AutoShape 126"/>
          <p:cNvCxnSpPr>
            <a:cxnSpLocks noChangeShapeType="1"/>
            <a:stCxn id="27754" idx="6"/>
            <a:endCxn id="27755" idx="2"/>
          </p:cNvCxnSpPr>
          <p:nvPr/>
        </p:nvCxnSpPr>
        <p:spPr bwMode="auto">
          <a:xfrm>
            <a:off x="4770060" y="2673916"/>
            <a:ext cx="465992"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61" name="Oval 127"/>
          <p:cNvSpPr>
            <a:spLocks noChangeArrowheads="1"/>
          </p:cNvSpPr>
          <p:nvPr/>
        </p:nvSpPr>
        <p:spPr bwMode="auto">
          <a:xfrm>
            <a:off x="5700579" y="27818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2" name="Oval 128"/>
          <p:cNvSpPr>
            <a:spLocks noChangeArrowheads="1"/>
          </p:cNvSpPr>
          <p:nvPr/>
        </p:nvSpPr>
        <p:spPr bwMode="auto">
          <a:xfrm>
            <a:off x="6232511" y="290251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3" name="Oval 129"/>
          <p:cNvSpPr>
            <a:spLocks noChangeArrowheads="1"/>
          </p:cNvSpPr>
          <p:nvPr/>
        </p:nvSpPr>
        <p:spPr bwMode="auto">
          <a:xfrm>
            <a:off x="6764451" y="3191423"/>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4" name="Oval 130"/>
          <p:cNvSpPr>
            <a:spLocks noChangeArrowheads="1"/>
          </p:cNvSpPr>
          <p:nvPr/>
        </p:nvSpPr>
        <p:spPr bwMode="auto">
          <a:xfrm>
            <a:off x="7296380" y="304695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65" name="Oval 131"/>
          <p:cNvSpPr>
            <a:spLocks noChangeArrowheads="1"/>
          </p:cNvSpPr>
          <p:nvPr/>
        </p:nvSpPr>
        <p:spPr bwMode="auto">
          <a:xfrm>
            <a:off x="7828313" y="32628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7766" name="AutoShape 132"/>
          <p:cNvCxnSpPr>
            <a:cxnSpLocks noChangeShapeType="1"/>
            <a:stCxn id="27761" idx="6"/>
            <a:endCxn id="27762" idx="2"/>
          </p:cNvCxnSpPr>
          <p:nvPr/>
        </p:nvCxnSpPr>
        <p:spPr bwMode="auto">
          <a:xfrm>
            <a:off x="5766518" y="2816791"/>
            <a:ext cx="465992" cy="1222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67" name="AutoShape 133"/>
          <p:cNvCxnSpPr>
            <a:cxnSpLocks noChangeShapeType="1"/>
            <a:stCxn id="27762" idx="5"/>
            <a:endCxn id="27763" idx="2"/>
          </p:cNvCxnSpPr>
          <p:nvPr/>
        </p:nvCxnSpPr>
        <p:spPr bwMode="auto">
          <a:xfrm>
            <a:off x="6288194" y="2962820"/>
            <a:ext cx="476250" cy="2651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68" name="Text Box 2"/>
          <p:cNvSpPr txBox="1">
            <a:spLocks noChangeArrowheads="1"/>
          </p:cNvSpPr>
          <p:nvPr/>
        </p:nvSpPr>
        <p:spPr bwMode="auto">
          <a:xfrm>
            <a:off x="716801" y="692696"/>
            <a:ext cx="32181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en-US" altLang="ko-KR" b="1" dirty="0" err="1">
                <a:solidFill>
                  <a:prstClr val="black"/>
                </a:solidFill>
                <a:latin typeface="맑은 고딕" pitchFamily="50" charset="-127"/>
                <a:ea typeface="맑은 고딕" pitchFamily="50" charset="-127"/>
              </a:rPr>
              <a:t>Khuynh</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hướng</a:t>
            </a:r>
            <a:r>
              <a:rPr lang="en-US" altLang="ko-KR" b="1" dirty="0">
                <a:solidFill>
                  <a:prstClr val="black"/>
                </a:solidFill>
                <a:latin typeface="맑은 고딕" pitchFamily="50" charset="-127"/>
                <a:ea typeface="맑은 고딕" pitchFamily="50" charset="-127"/>
              </a:rPr>
              <a:t> (Trend)</a:t>
            </a:r>
            <a:r>
              <a:rPr lang="ko-KR" altLang="en-US" b="1" dirty="0">
                <a:solidFill>
                  <a:prstClr val="black"/>
                </a:solidFill>
                <a:latin typeface="맑은 고딕" pitchFamily="50" charset="-127"/>
                <a:ea typeface="맑은 고딕" pitchFamily="50" charset="-127"/>
              </a:rPr>
              <a:t> </a:t>
            </a:r>
            <a:r>
              <a:rPr lang="en-US" altLang="ko-KR" b="1" dirty="0">
                <a:solidFill>
                  <a:prstClr val="black"/>
                </a:solidFill>
                <a:latin typeface="맑은 고딕" pitchFamily="50" charset="-127"/>
                <a:ea typeface="맑은 고딕" pitchFamily="50" charset="-127"/>
              </a:rPr>
              <a:t>&gt;</a:t>
            </a:r>
            <a:endParaRPr lang="ko-KR" altLang="en-US" b="1" dirty="0">
              <a:solidFill>
                <a:prstClr val="black"/>
              </a:solidFill>
              <a:latin typeface="맑은 고딕" pitchFamily="50" charset="-127"/>
              <a:ea typeface="맑은 고딕" pitchFamily="50" charset="-127"/>
            </a:endParaRPr>
          </a:p>
        </p:txBody>
      </p:sp>
      <p:cxnSp>
        <p:nvCxnSpPr>
          <p:cNvPr id="27769" name="AutoShape 136"/>
          <p:cNvCxnSpPr>
            <a:cxnSpLocks noChangeShapeType="1"/>
            <a:stCxn id="27751" idx="6"/>
            <a:endCxn id="27752" idx="2"/>
          </p:cNvCxnSpPr>
          <p:nvPr/>
        </p:nvCxnSpPr>
        <p:spPr bwMode="auto">
          <a:xfrm flipV="1">
            <a:off x="3174253" y="2289741"/>
            <a:ext cx="465992" cy="2174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0" name="AutoShape 137"/>
          <p:cNvCxnSpPr>
            <a:cxnSpLocks noChangeShapeType="1"/>
            <a:stCxn id="27755" idx="6"/>
            <a:endCxn id="27761" idx="2"/>
          </p:cNvCxnSpPr>
          <p:nvPr/>
        </p:nvCxnSpPr>
        <p:spPr bwMode="auto">
          <a:xfrm>
            <a:off x="5301998" y="2745332"/>
            <a:ext cx="398585" cy="71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1" name="AutoShape 138"/>
          <p:cNvCxnSpPr>
            <a:cxnSpLocks noChangeShapeType="1"/>
            <a:stCxn id="27763" idx="6"/>
            <a:endCxn id="27764" idx="2"/>
          </p:cNvCxnSpPr>
          <p:nvPr/>
        </p:nvCxnSpPr>
        <p:spPr bwMode="auto">
          <a:xfrm flipV="1">
            <a:off x="6830388" y="3083470"/>
            <a:ext cx="465992" cy="1444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7772" name="AutoShape 139"/>
          <p:cNvCxnSpPr>
            <a:cxnSpLocks noChangeShapeType="1"/>
            <a:stCxn id="27764" idx="5"/>
            <a:endCxn id="27765" idx="2"/>
          </p:cNvCxnSpPr>
          <p:nvPr/>
        </p:nvCxnSpPr>
        <p:spPr bwMode="auto">
          <a:xfrm>
            <a:off x="7353530" y="3107282"/>
            <a:ext cx="474785"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7773" name="Text Box 140"/>
          <p:cNvSpPr txBox="1">
            <a:spLocks noChangeArrowheads="1"/>
          </p:cNvSpPr>
          <p:nvPr/>
        </p:nvSpPr>
        <p:spPr bwMode="auto">
          <a:xfrm>
            <a:off x="760774" y="1718846"/>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7774" name="Text Box 141"/>
          <p:cNvSpPr txBox="1">
            <a:spLocks noChangeArrowheads="1"/>
          </p:cNvSpPr>
          <p:nvPr/>
        </p:nvSpPr>
        <p:spPr bwMode="auto">
          <a:xfrm>
            <a:off x="760763" y="3189832"/>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7775" name="AutoShape 142"/>
          <p:cNvSpPr>
            <a:spLocks noChangeArrowheads="1"/>
          </p:cNvSpPr>
          <p:nvPr/>
        </p:nvSpPr>
        <p:spPr bwMode="auto">
          <a:xfrm>
            <a:off x="783988" y="3981450"/>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27776" name="Oval 143"/>
          <p:cNvSpPr>
            <a:spLocks noChangeArrowheads="1"/>
          </p:cNvSpPr>
          <p:nvPr/>
        </p:nvSpPr>
        <p:spPr bwMode="auto">
          <a:xfrm rot="430555">
            <a:off x="4008057" y="2489745"/>
            <a:ext cx="3182815" cy="823912"/>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7777" name="Text Box 144"/>
          <p:cNvSpPr txBox="1">
            <a:spLocks noChangeArrowheads="1"/>
          </p:cNvSpPr>
          <p:nvPr/>
        </p:nvSpPr>
        <p:spPr bwMode="auto">
          <a:xfrm>
            <a:off x="829639" y="2397671"/>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7778" name="AutoShape 145"/>
          <p:cNvSpPr>
            <a:spLocks noChangeArrowheads="1"/>
          </p:cNvSpPr>
          <p:nvPr/>
        </p:nvSpPr>
        <p:spPr bwMode="auto">
          <a:xfrm>
            <a:off x="783988" y="398145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endParaRPr lang="ko-KR" altLang="en-US" sz="1600" b="1" dirty="0">
              <a:solidFill>
                <a:prstClr val="black"/>
              </a:solidFill>
              <a:latin typeface="맑은 고딕" pitchFamily="50" charset="-127"/>
              <a:ea typeface="맑은 고딕" pitchFamily="50" charset="-127"/>
            </a:endParaRPr>
          </a:p>
        </p:txBody>
      </p:sp>
      <p:graphicFrame>
        <p:nvGraphicFramePr>
          <p:cNvPr id="34" name="Group 168"/>
          <p:cNvGraphicFramePr>
            <a:graphicFrameLocks noGrp="1"/>
          </p:cNvGraphicFramePr>
          <p:nvPr/>
        </p:nvGraphicFramePr>
        <p:xfrm>
          <a:off x="849923" y="4413271"/>
          <a:ext cx="7643743" cy="2243712"/>
        </p:xfrm>
        <a:graphic>
          <a:graphicData uri="http://schemas.openxmlformats.org/drawingml/2006/table">
            <a:tbl>
              <a:tblPr/>
              <a:tblGrid>
                <a:gridCol w="1111954">
                  <a:extLst>
                    <a:ext uri="{9D8B030D-6E8A-4147-A177-3AD203B41FA5}">
                      <a16:colId xmlns:a16="http://schemas.microsoft.com/office/drawing/2014/main" val="20000"/>
                    </a:ext>
                  </a:extLst>
                </a:gridCol>
                <a:gridCol w="6531789">
                  <a:extLst>
                    <a:ext uri="{9D8B030D-6E8A-4147-A177-3AD203B41FA5}">
                      <a16:colId xmlns:a16="http://schemas.microsoft.com/office/drawing/2014/main" val="20001"/>
                    </a:ext>
                  </a:extLst>
                </a:gridCol>
              </a:tblGrid>
              <a:tr h="56515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1.Hướng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xuống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dưới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nguồn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được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cải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thiện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dần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vi-VN" altLang="ko-KR" sz="1400" b="1" i="0" u="none" strike="noStrike" cap="none" normalizeH="0" baseline="0" dirty="0">
                          <a:ln>
                            <a:noFill/>
                          </a:ln>
                          <a:solidFill>
                            <a:schemeClr val="tx1"/>
                          </a:solidFill>
                          <a:effectLst/>
                          <a:latin typeface="맑은 고딕" pitchFamily="50" charset="-127"/>
                          <a:ea typeface="맑은 고딕" pitchFamily="50" charset="-127"/>
                        </a:rPr>
                        <a:t>và cải tiến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xuất</a:t>
                      </a:r>
                      <a:r>
                        <a:rPr kumimoji="1" lang="vi-VN" altLang="ko-KR" sz="1400" b="1" i="0" u="none" strike="noStrike" cap="none" normalizeH="0" baseline="0" dirty="0">
                          <a:ln>
                            <a:noFill/>
                          </a:ln>
                          <a:solidFill>
                            <a:schemeClr val="tx1"/>
                          </a:solidFill>
                          <a:effectLst/>
                          <a:latin typeface="맑은 고딕" pitchFamily="50" charset="-127"/>
                          <a:ea typeface="맑은 고딕" pitchFamily="50" charset="-127"/>
                        </a:rPr>
                        <a:t> xuất bằng cách quản lý bảo trì hiệu quả</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2.Hướng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giảm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do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máy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móc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test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dần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lỏng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lẻo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mài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mòn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dần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mài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mòn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thành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phần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có</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lực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trong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dung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dịch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giảm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dần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mệt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mỏi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làm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lạnh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nguội</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307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P</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Giống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với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8" name="Text Box 39"/>
          <p:cNvSpPr txBox="1">
            <a:spLocks noChangeArrowheads="1"/>
          </p:cNvSpPr>
          <p:nvPr/>
        </p:nvSpPr>
        <p:spPr bwMode="auto">
          <a:xfrm>
            <a:off x="6934200" y="138118"/>
            <a:ext cx="2097049"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a:t>
            </a:r>
            <a:r>
              <a:rPr kumimoji="1" lang="en-US" altLang="ko-KR" sz="1600" b="1" dirty="0" err="1">
                <a:solidFill>
                  <a:prstClr val="black"/>
                </a:solidFill>
              </a:rPr>
              <a:t>Khuynh</a:t>
            </a:r>
            <a:r>
              <a:rPr kumimoji="1" lang="en-US" altLang="ko-KR" sz="1600" b="1" dirty="0">
                <a:solidFill>
                  <a:prstClr val="black"/>
                </a:solidFill>
              </a:rPr>
              <a:t> </a:t>
            </a:r>
            <a:r>
              <a:rPr kumimoji="1" lang="en-US" altLang="ko-KR" sz="1600" b="1" dirty="0" err="1">
                <a:solidFill>
                  <a:prstClr val="black"/>
                </a:solidFill>
              </a:rPr>
              <a:t>hướng</a:t>
            </a:r>
            <a:r>
              <a:rPr kumimoji="1" lang="en-US" altLang="ko-KR" sz="1600" b="1" dirty="0">
                <a:solidFill>
                  <a:prstClr val="black"/>
                </a:solidFill>
              </a:rPr>
              <a:t>(3)</a:t>
            </a:r>
          </a:p>
        </p:txBody>
      </p:sp>
      <p:sp>
        <p:nvSpPr>
          <p:cNvPr id="40"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en-US" altLang="ko-KR" sz="2000" b="1" dirty="0">
                <a:solidFill>
                  <a:prstClr val="black"/>
                </a:solidFill>
              </a:rPr>
              <a:t> (</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39"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302</a:t>
            </a:fld>
            <a:endParaRPr lang="ko-KR" altLang="en-US" sz="1200" dirty="0">
              <a:solidFill>
                <a:prstClr val="black"/>
              </a:solidFill>
            </a:endParaRPr>
          </a:p>
        </p:txBody>
      </p:sp>
    </p:spTree>
    <p:extLst>
      <p:ext uri="{BB962C8B-B14F-4D97-AF65-F5344CB8AC3E}">
        <p14:creationId xmlns:p14="http://schemas.microsoft.com/office/powerpoint/2010/main" val="4197978557"/>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 Box 3"/>
          <p:cNvSpPr txBox="1">
            <a:spLocks noChangeArrowheads="1"/>
          </p:cNvSpPr>
          <p:nvPr/>
        </p:nvSpPr>
        <p:spPr bwMode="auto">
          <a:xfrm>
            <a:off x="762000" y="1244134"/>
            <a:ext cx="8165012"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a:t>
            </a:r>
            <a:r>
              <a:rPr lang="ko-KR" altLang="en-US"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Khi</a:t>
            </a:r>
            <a:r>
              <a:rPr lang="en-US" altLang="ko-KR" sz="1600" b="1" dirty="0">
                <a:solidFill>
                  <a:prstClr val="black"/>
                </a:solidFill>
                <a:latin typeface="맑은 고딕" pitchFamily="50" charset="-127"/>
                <a:ea typeface="맑은 고딕" pitchFamily="50" charset="-127"/>
              </a:rPr>
              <a:t> 14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xuất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hiện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một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cách</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có</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chu</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kì</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bên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hoặc</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dưỡi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trung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tâm</a:t>
            </a:r>
            <a:endParaRPr lang="ko-KR" altLang="en-US" sz="1600" b="1" dirty="0">
              <a:solidFill>
                <a:prstClr val="black"/>
              </a:solidFill>
              <a:latin typeface="맑은 고딕" pitchFamily="50" charset="-127"/>
              <a:ea typeface="맑은 고딕" pitchFamily="50" charset="-127"/>
            </a:endParaRPr>
          </a:p>
        </p:txBody>
      </p:sp>
      <p:graphicFrame>
        <p:nvGraphicFramePr>
          <p:cNvPr id="3" name="Group 736"/>
          <p:cNvGraphicFramePr>
            <a:graphicFrameLocks noGrp="1"/>
          </p:cNvGraphicFramePr>
          <p:nvPr>
            <p:extLst>
              <p:ext uri="{D42A27DB-BD31-4B8C-83A1-F6EECF244321}">
                <p14:modId xmlns:p14="http://schemas.microsoft.com/office/powerpoint/2010/main" val="2414652245"/>
              </p:ext>
            </p:extLst>
          </p:nvPr>
        </p:nvGraphicFramePr>
        <p:xfrm>
          <a:off x="1380392" y="1818803"/>
          <a:ext cx="6929801" cy="1658940"/>
        </p:xfrm>
        <a:graphic>
          <a:graphicData uri="http://schemas.openxmlformats.org/drawingml/2006/table">
            <a:tbl>
              <a:tblPr/>
              <a:tblGrid>
                <a:gridCol w="693127">
                  <a:extLst>
                    <a:ext uri="{9D8B030D-6E8A-4147-A177-3AD203B41FA5}">
                      <a16:colId xmlns:a16="http://schemas.microsoft.com/office/drawing/2014/main" val="20000"/>
                    </a:ext>
                  </a:extLst>
                </a:gridCol>
                <a:gridCol w="328246">
                  <a:extLst>
                    <a:ext uri="{9D8B030D-6E8A-4147-A177-3AD203B41FA5}">
                      <a16:colId xmlns:a16="http://schemas.microsoft.com/office/drawing/2014/main" val="20001"/>
                    </a:ext>
                  </a:extLst>
                </a:gridCol>
                <a:gridCol w="328246">
                  <a:extLst>
                    <a:ext uri="{9D8B030D-6E8A-4147-A177-3AD203B41FA5}">
                      <a16:colId xmlns:a16="http://schemas.microsoft.com/office/drawing/2014/main" val="20002"/>
                    </a:ext>
                  </a:extLst>
                </a:gridCol>
                <a:gridCol w="328246">
                  <a:extLst>
                    <a:ext uri="{9D8B030D-6E8A-4147-A177-3AD203B41FA5}">
                      <a16:colId xmlns:a16="http://schemas.microsoft.com/office/drawing/2014/main" val="20003"/>
                    </a:ext>
                  </a:extLst>
                </a:gridCol>
                <a:gridCol w="328246">
                  <a:extLst>
                    <a:ext uri="{9D8B030D-6E8A-4147-A177-3AD203B41FA5}">
                      <a16:colId xmlns:a16="http://schemas.microsoft.com/office/drawing/2014/main" val="20004"/>
                    </a:ext>
                  </a:extLst>
                </a:gridCol>
                <a:gridCol w="329711">
                  <a:extLst>
                    <a:ext uri="{9D8B030D-6E8A-4147-A177-3AD203B41FA5}">
                      <a16:colId xmlns:a16="http://schemas.microsoft.com/office/drawing/2014/main" val="20005"/>
                    </a:ext>
                  </a:extLst>
                </a:gridCol>
                <a:gridCol w="326781">
                  <a:extLst>
                    <a:ext uri="{9D8B030D-6E8A-4147-A177-3AD203B41FA5}">
                      <a16:colId xmlns:a16="http://schemas.microsoft.com/office/drawing/2014/main" val="20006"/>
                    </a:ext>
                  </a:extLst>
                </a:gridCol>
                <a:gridCol w="328246">
                  <a:extLst>
                    <a:ext uri="{9D8B030D-6E8A-4147-A177-3AD203B41FA5}">
                      <a16:colId xmlns:a16="http://schemas.microsoft.com/office/drawing/2014/main" val="20007"/>
                    </a:ext>
                  </a:extLst>
                </a:gridCol>
                <a:gridCol w="328246">
                  <a:extLst>
                    <a:ext uri="{9D8B030D-6E8A-4147-A177-3AD203B41FA5}">
                      <a16:colId xmlns:a16="http://schemas.microsoft.com/office/drawing/2014/main" val="20008"/>
                    </a:ext>
                  </a:extLst>
                </a:gridCol>
                <a:gridCol w="328246">
                  <a:extLst>
                    <a:ext uri="{9D8B030D-6E8A-4147-A177-3AD203B41FA5}">
                      <a16:colId xmlns:a16="http://schemas.microsoft.com/office/drawing/2014/main" val="20009"/>
                    </a:ext>
                  </a:extLst>
                </a:gridCol>
                <a:gridCol w="328246">
                  <a:extLst>
                    <a:ext uri="{9D8B030D-6E8A-4147-A177-3AD203B41FA5}">
                      <a16:colId xmlns:a16="http://schemas.microsoft.com/office/drawing/2014/main" val="20010"/>
                    </a:ext>
                  </a:extLst>
                </a:gridCol>
                <a:gridCol w="328246">
                  <a:extLst>
                    <a:ext uri="{9D8B030D-6E8A-4147-A177-3AD203B41FA5}">
                      <a16:colId xmlns:a16="http://schemas.microsoft.com/office/drawing/2014/main" val="20011"/>
                    </a:ext>
                  </a:extLst>
                </a:gridCol>
                <a:gridCol w="328246">
                  <a:extLst>
                    <a:ext uri="{9D8B030D-6E8A-4147-A177-3AD203B41FA5}">
                      <a16:colId xmlns:a16="http://schemas.microsoft.com/office/drawing/2014/main" val="20012"/>
                    </a:ext>
                  </a:extLst>
                </a:gridCol>
                <a:gridCol w="328246">
                  <a:extLst>
                    <a:ext uri="{9D8B030D-6E8A-4147-A177-3AD203B41FA5}">
                      <a16:colId xmlns:a16="http://schemas.microsoft.com/office/drawing/2014/main" val="20013"/>
                    </a:ext>
                  </a:extLst>
                </a:gridCol>
                <a:gridCol w="328246">
                  <a:extLst>
                    <a:ext uri="{9D8B030D-6E8A-4147-A177-3AD203B41FA5}">
                      <a16:colId xmlns:a16="http://schemas.microsoft.com/office/drawing/2014/main" val="20014"/>
                    </a:ext>
                  </a:extLst>
                </a:gridCol>
                <a:gridCol w="328246">
                  <a:extLst>
                    <a:ext uri="{9D8B030D-6E8A-4147-A177-3AD203B41FA5}">
                      <a16:colId xmlns:a16="http://schemas.microsoft.com/office/drawing/2014/main" val="20015"/>
                    </a:ext>
                  </a:extLst>
                </a:gridCol>
                <a:gridCol w="328246">
                  <a:extLst>
                    <a:ext uri="{9D8B030D-6E8A-4147-A177-3AD203B41FA5}">
                      <a16:colId xmlns:a16="http://schemas.microsoft.com/office/drawing/2014/main" val="20016"/>
                    </a:ext>
                  </a:extLst>
                </a:gridCol>
                <a:gridCol w="328246">
                  <a:extLst>
                    <a:ext uri="{9D8B030D-6E8A-4147-A177-3AD203B41FA5}">
                      <a16:colId xmlns:a16="http://schemas.microsoft.com/office/drawing/2014/main" val="20017"/>
                    </a:ext>
                  </a:extLst>
                </a:gridCol>
                <a:gridCol w="329711">
                  <a:extLst>
                    <a:ext uri="{9D8B030D-6E8A-4147-A177-3AD203B41FA5}">
                      <a16:colId xmlns:a16="http://schemas.microsoft.com/office/drawing/2014/main" val="20018"/>
                    </a:ext>
                  </a:extLst>
                </a:gridCol>
                <a:gridCol w="326781">
                  <a:extLst>
                    <a:ext uri="{9D8B030D-6E8A-4147-A177-3AD203B41FA5}">
                      <a16:colId xmlns:a16="http://schemas.microsoft.com/office/drawing/2014/main" val="20019"/>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8824" name="Oval 115"/>
          <p:cNvSpPr>
            <a:spLocks noChangeArrowheads="1"/>
          </p:cNvSpPr>
          <p:nvPr/>
        </p:nvSpPr>
        <p:spPr bwMode="auto">
          <a:xfrm>
            <a:off x="2211270" y="2469699"/>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5" name="Oval 116"/>
          <p:cNvSpPr>
            <a:spLocks noChangeArrowheads="1"/>
          </p:cNvSpPr>
          <p:nvPr/>
        </p:nvSpPr>
        <p:spPr bwMode="auto">
          <a:xfrm>
            <a:off x="2507278" y="2491924"/>
            <a:ext cx="6740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6" name="Oval 117"/>
          <p:cNvSpPr>
            <a:spLocks noChangeArrowheads="1"/>
          </p:cNvSpPr>
          <p:nvPr/>
        </p:nvSpPr>
        <p:spPr bwMode="auto">
          <a:xfrm>
            <a:off x="2866292" y="2122015"/>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7" name="Oval 118"/>
          <p:cNvSpPr>
            <a:spLocks noChangeArrowheads="1"/>
          </p:cNvSpPr>
          <p:nvPr/>
        </p:nvSpPr>
        <p:spPr bwMode="auto">
          <a:xfrm>
            <a:off x="3176957" y="2771303"/>
            <a:ext cx="65943" cy="69850"/>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8" name="Oval 119"/>
          <p:cNvSpPr>
            <a:spLocks noChangeArrowheads="1"/>
          </p:cNvSpPr>
          <p:nvPr/>
        </p:nvSpPr>
        <p:spPr bwMode="auto">
          <a:xfrm>
            <a:off x="3497879" y="2444299"/>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29" name="Oval 120"/>
          <p:cNvSpPr>
            <a:spLocks noChangeArrowheads="1"/>
          </p:cNvSpPr>
          <p:nvPr/>
        </p:nvSpPr>
        <p:spPr bwMode="auto">
          <a:xfrm>
            <a:off x="3849566" y="2972915"/>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0" name="Oval 121"/>
          <p:cNvSpPr>
            <a:spLocks noChangeArrowheads="1"/>
          </p:cNvSpPr>
          <p:nvPr/>
        </p:nvSpPr>
        <p:spPr bwMode="auto">
          <a:xfrm>
            <a:off x="4179281" y="2420465"/>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31" name="AutoShape 122"/>
          <p:cNvCxnSpPr>
            <a:cxnSpLocks noChangeShapeType="1"/>
            <a:stCxn id="28824" idx="6"/>
            <a:endCxn id="28825" idx="3"/>
          </p:cNvCxnSpPr>
          <p:nvPr/>
        </p:nvCxnSpPr>
        <p:spPr bwMode="auto">
          <a:xfrm>
            <a:off x="2275743" y="2506211"/>
            <a:ext cx="241788" cy="476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2" name="AutoShape 123"/>
          <p:cNvCxnSpPr>
            <a:cxnSpLocks noChangeShapeType="1"/>
            <a:stCxn id="28825" idx="6"/>
            <a:endCxn id="28826" idx="2"/>
          </p:cNvCxnSpPr>
          <p:nvPr/>
        </p:nvCxnSpPr>
        <p:spPr bwMode="auto">
          <a:xfrm flipV="1">
            <a:off x="2574681" y="2158549"/>
            <a:ext cx="291611" cy="3698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3" name="AutoShape 124"/>
          <p:cNvCxnSpPr>
            <a:cxnSpLocks noChangeShapeType="1"/>
            <a:stCxn id="28827" idx="5"/>
            <a:endCxn id="28828" idx="2"/>
          </p:cNvCxnSpPr>
          <p:nvPr/>
        </p:nvCxnSpPr>
        <p:spPr bwMode="auto">
          <a:xfrm flipV="1">
            <a:off x="3232639" y="2479224"/>
            <a:ext cx="265235" cy="3524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4" name="AutoShape 125"/>
          <p:cNvCxnSpPr>
            <a:cxnSpLocks noChangeShapeType="1"/>
            <a:stCxn id="28828" idx="5"/>
            <a:endCxn id="28829" idx="2"/>
          </p:cNvCxnSpPr>
          <p:nvPr/>
        </p:nvCxnSpPr>
        <p:spPr bwMode="auto">
          <a:xfrm>
            <a:off x="3553558" y="2504624"/>
            <a:ext cx="296008" cy="5048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35" name="AutoShape 126"/>
          <p:cNvCxnSpPr>
            <a:cxnSpLocks noChangeShapeType="1"/>
            <a:stCxn id="28829" idx="6"/>
            <a:endCxn id="28830" idx="3"/>
          </p:cNvCxnSpPr>
          <p:nvPr/>
        </p:nvCxnSpPr>
        <p:spPr bwMode="auto">
          <a:xfrm flipV="1">
            <a:off x="3915518" y="2482378"/>
            <a:ext cx="274027" cy="5270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36" name="Oval 127"/>
          <p:cNvSpPr>
            <a:spLocks noChangeArrowheads="1"/>
          </p:cNvSpPr>
          <p:nvPr/>
        </p:nvSpPr>
        <p:spPr bwMode="auto">
          <a:xfrm>
            <a:off x="4506058" y="2780849"/>
            <a:ext cx="6740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7" name="Oval 128"/>
          <p:cNvSpPr>
            <a:spLocks noChangeArrowheads="1"/>
          </p:cNvSpPr>
          <p:nvPr/>
        </p:nvSpPr>
        <p:spPr bwMode="auto">
          <a:xfrm>
            <a:off x="4840170" y="2180774"/>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8" name="Oval 129"/>
          <p:cNvSpPr>
            <a:spLocks noChangeArrowheads="1"/>
          </p:cNvSpPr>
          <p:nvPr/>
        </p:nvSpPr>
        <p:spPr bwMode="auto">
          <a:xfrm>
            <a:off x="5171343" y="2996749"/>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39" name="Oval 130"/>
          <p:cNvSpPr>
            <a:spLocks noChangeArrowheads="1"/>
          </p:cNvSpPr>
          <p:nvPr/>
        </p:nvSpPr>
        <p:spPr bwMode="auto">
          <a:xfrm>
            <a:off x="5499589" y="2468090"/>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40" name="Oval 131"/>
          <p:cNvSpPr>
            <a:spLocks noChangeArrowheads="1"/>
          </p:cNvSpPr>
          <p:nvPr/>
        </p:nvSpPr>
        <p:spPr bwMode="auto">
          <a:xfrm>
            <a:off x="5835161" y="2757015"/>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41" name="AutoShape 132"/>
          <p:cNvCxnSpPr>
            <a:cxnSpLocks noChangeShapeType="1"/>
            <a:stCxn id="28836" idx="7"/>
            <a:endCxn id="28837" idx="2"/>
          </p:cNvCxnSpPr>
          <p:nvPr/>
        </p:nvCxnSpPr>
        <p:spPr bwMode="auto">
          <a:xfrm flipV="1">
            <a:off x="4563208" y="2217265"/>
            <a:ext cx="276958" cy="573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2" name="AutoShape 133"/>
          <p:cNvCxnSpPr>
            <a:cxnSpLocks noChangeShapeType="1"/>
            <a:stCxn id="28837" idx="6"/>
            <a:endCxn id="28838" idx="2"/>
          </p:cNvCxnSpPr>
          <p:nvPr/>
        </p:nvCxnSpPr>
        <p:spPr bwMode="auto">
          <a:xfrm>
            <a:off x="4904643" y="2217265"/>
            <a:ext cx="266700" cy="8143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43" name="Text Box 2"/>
          <p:cNvSpPr txBox="1">
            <a:spLocks noChangeArrowheads="1"/>
          </p:cNvSpPr>
          <p:nvPr/>
        </p:nvSpPr>
        <p:spPr bwMode="auto">
          <a:xfrm>
            <a:off x="915877" y="764704"/>
            <a:ext cx="18259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en-US" altLang="ko-KR" b="1" dirty="0" err="1">
                <a:solidFill>
                  <a:prstClr val="black"/>
                </a:solidFill>
                <a:latin typeface="맑은 고딕" pitchFamily="50" charset="-127"/>
                <a:ea typeface="맑은 고딕" pitchFamily="50" charset="-127"/>
              </a:rPr>
              <a:t>Tính</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chu</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kì</a:t>
            </a:r>
            <a:r>
              <a:rPr lang="en-US" altLang="ko-KR" b="1" dirty="0">
                <a:solidFill>
                  <a:prstClr val="black"/>
                </a:solidFill>
                <a:latin typeface="맑은 고딕" pitchFamily="50" charset="-127"/>
                <a:ea typeface="맑은 고딕" pitchFamily="50" charset="-127"/>
              </a:rPr>
              <a:t>&gt;</a:t>
            </a:r>
            <a:endParaRPr lang="ko-KR" altLang="en-US" b="1" dirty="0">
              <a:solidFill>
                <a:prstClr val="black"/>
              </a:solidFill>
              <a:latin typeface="맑은 고딕" pitchFamily="50" charset="-127"/>
              <a:ea typeface="맑은 고딕" pitchFamily="50" charset="-127"/>
            </a:endParaRPr>
          </a:p>
        </p:txBody>
      </p:sp>
      <p:cxnSp>
        <p:nvCxnSpPr>
          <p:cNvPr id="28844" name="AutoShape 136"/>
          <p:cNvCxnSpPr>
            <a:cxnSpLocks noChangeShapeType="1"/>
            <a:stCxn id="28826" idx="6"/>
            <a:endCxn id="28827" idx="1"/>
          </p:cNvCxnSpPr>
          <p:nvPr/>
        </p:nvCxnSpPr>
        <p:spPr bwMode="auto">
          <a:xfrm>
            <a:off x="2932246" y="2158528"/>
            <a:ext cx="253511" cy="6223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5" name="AutoShape 137"/>
          <p:cNvCxnSpPr>
            <a:cxnSpLocks noChangeShapeType="1"/>
            <a:stCxn id="28830" idx="7"/>
            <a:endCxn id="28836" idx="3"/>
          </p:cNvCxnSpPr>
          <p:nvPr/>
        </p:nvCxnSpPr>
        <p:spPr bwMode="auto">
          <a:xfrm>
            <a:off x="4234961" y="2431599"/>
            <a:ext cx="281354" cy="4095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6" name="AutoShape 138"/>
          <p:cNvCxnSpPr>
            <a:cxnSpLocks noChangeShapeType="1"/>
            <a:stCxn id="28838" idx="5"/>
            <a:endCxn id="28839" idx="1"/>
          </p:cNvCxnSpPr>
          <p:nvPr/>
        </p:nvCxnSpPr>
        <p:spPr bwMode="auto">
          <a:xfrm flipV="1">
            <a:off x="5227038" y="2479203"/>
            <a:ext cx="282819" cy="5778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47" name="AutoShape 139"/>
          <p:cNvCxnSpPr>
            <a:cxnSpLocks noChangeShapeType="1"/>
            <a:stCxn id="28839" idx="5"/>
            <a:endCxn id="28840" idx="2"/>
          </p:cNvCxnSpPr>
          <p:nvPr/>
        </p:nvCxnSpPr>
        <p:spPr bwMode="auto">
          <a:xfrm>
            <a:off x="5555274" y="2528436"/>
            <a:ext cx="279888" cy="2651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48" name="Text Box 140"/>
          <p:cNvSpPr txBox="1">
            <a:spLocks noChangeArrowheads="1"/>
          </p:cNvSpPr>
          <p:nvPr/>
        </p:nvSpPr>
        <p:spPr bwMode="auto">
          <a:xfrm>
            <a:off x="827955" y="1675929"/>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8849" name="Text Box 141"/>
          <p:cNvSpPr txBox="1">
            <a:spLocks noChangeArrowheads="1"/>
          </p:cNvSpPr>
          <p:nvPr/>
        </p:nvSpPr>
        <p:spPr bwMode="auto">
          <a:xfrm>
            <a:off x="827943" y="3260254"/>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8850" name="AutoShape 142"/>
          <p:cNvSpPr>
            <a:spLocks noChangeArrowheads="1"/>
          </p:cNvSpPr>
          <p:nvPr/>
        </p:nvSpPr>
        <p:spPr bwMode="auto">
          <a:xfrm>
            <a:off x="783988" y="4052888"/>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28851" name="Text Box 144"/>
          <p:cNvSpPr txBox="1">
            <a:spLocks noChangeArrowheads="1"/>
          </p:cNvSpPr>
          <p:nvPr/>
        </p:nvSpPr>
        <p:spPr bwMode="auto">
          <a:xfrm>
            <a:off x="896817" y="2468090"/>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28852" name="AutoShape 145"/>
          <p:cNvSpPr>
            <a:spLocks noChangeArrowheads="1"/>
          </p:cNvSpPr>
          <p:nvPr/>
        </p:nvSpPr>
        <p:spPr bwMode="auto">
          <a:xfrm>
            <a:off x="783988" y="4052888"/>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endParaRPr lang="ko-KR" altLang="en-US" sz="1600" b="1" dirty="0">
              <a:solidFill>
                <a:prstClr val="black"/>
              </a:solidFill>
              <a:latin typeface="맑은 고딕" pitchFamily="50" charset="-127"/>
              <a:ea typeface="맑은 고딕" pitchFamily="50" charset="-127"/>
            </a:endParaRPr>
          </a:p>
        </p:txBody>
      </p:sp>
      <p:graphicFrame>
        <p:nvGraphicFramePr>
          <p:cNvPr id="33" name="Group 737"/>
          <p:cNvGraphicFramePr>
            <a:graphicFrameLocks noGrp="1"/>
          </p:cNvGraphicFramePr>
          <p:nvPr/>
        </p:nvGraphicFramePr>
        <p:xfrm>
          <a:off x="849923" y="4484709"/>
          <a:ext cx="7444154" cy="1819150"/>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565150">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mệt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mỏi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ca,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có</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tính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kì</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dụng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Lịch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trình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mài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mòn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Cùng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với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mùa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môi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điện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áp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máy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móc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cố</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định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ổn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định</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307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P</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Biến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động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về</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nhà</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cung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cấp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phương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pháp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sampling, Process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nhau</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8867" name="Oval 706"/>
          <p:cNvSpPr>
            <a:spLocks noChangeArrowheads="1"/>
          </p:cNvSpPr>
          <p:nvPr/>
        </p:nvSpPr>
        <p:spPr bwMode="auto">
          <a:xfrm>
            <a:off x="6147289" y="2491924"/>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68" name="Oval 707"/>
          <p:cNvSpPr>
            <a:spLocks noChangeArrowheads="1"/>
          </p:cNvSpPr>
          <p:nvPr/>
        </p:nvSpPr>
        <p:spPr bwMode="auto">
          <a:xfrm>
            <a:off x="6479933" y="308245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69" name="Oval 708"/>
          <p:cNvSpPr>
            <a:spLocks noChangeArrowheads="1"/>
          </p:cNvSpPr>
          <p:nvPr/>
        </p:nvSpPr>
        <p:spPr bwMode="auto">
          <a:xfrm>
            <a:off x="6802315" y="2491924"/>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70" name="Oval 709"/>
          <p:cNvSpPr>
            <a:spLocks noChangeArrowheads="1"/>
          </p:cNvSpPr>
          <p:nvPr/>
        </p:nvSpPr>
        <p:spPr bwMode="auto">
          <a:xfrm>
            <a:off x="7130561" y="2683990"/>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71" name="Oval 710"/>
          <p:cNvSpPr>
            <a:spLocks noChangeArrowheads="1"/>
          </p:cNvSpPr>
          <p:nvPr/>
        </p:nvSpPr>
        <p:spPr bwMode="auto">
          <a:xfrm>
            <a:off x="7460279" y="2468090"/>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8872" name="Oval 711"/>
          <p:cNvSpPr>
            <a:spLocks noChangeArrowheads="1"/>
          </p:cNvSpPr>
          <p:nvPr/>
        </p:nvSpPr>
        <p:spPr bwMode="auto">
          <a:xfrm>
            <a:off x="7794383" y="2491924"/>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73" name="AutoShape 726"/>
          <p:cNvCxnSpPr>
            <a:cxnSpLocks noChangeShapeType="1"/>
            <a:stCxn id="28840" idx="5"/>
            <a:endCxn id="28867" idx="1"/>
          </p:cNvCxnSpPr>
          <p:nvPr/>
        </p:nvCxnSpPr>
        <p:spPr bwMode="auto">
          <a:xfrm flipV="1">
            <a:off x="5890848" y="2503036"/>
            <a:ext cx="266700" cy="3143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4" name="AutoShape 727"/>
          <p:cNvCxnSpPr>
            <a:cxnSpLocks noChangeShapeType="1"/>
            <a:stCxn id="28867" idx="5"/>
            <a:endCxn id="28868" idx="2"/>
          </p:cNvCxnSpPr>
          <p:nvPr/>
        </p:nvCxnSpPr>
        <p:spPr bwMode="auto">
          <a:xfrm>
            <a:off x="6202984" y="2553815"/>
            <a:ext cx="276957" cy="565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5" name="AutoShape 728"/>
          <p:cNvCxnSpPr>
            <a:cxnSpLocks noChangeShapeType="1"/>
            <a:stCxn id="28868" idx="6"/>
            <a:endCxn id="28869" idx="3"/>
          </p:cNvCxnSpPr>
          <p:nvPr/>
        </p:nvCxnSpPr>
        <p:spPr bwMode="auto">
          <a:xfrm flipV="1">
            <a:off x="6545874" y="2553815"/>
            <a:ext cx="265234" cy="565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6" name="AutoShape 729"/>
          <p:cNvCxnSpPr>
            <a:cxnSpLocks noChangeShapeType="1"/>
            <a:stCxn id="28869" idx="7"/>
            <a:endCxn id="28870" idx="3"/>
          </p:cNvCxnSpPr>
          <p:nvPr/>
        </p:nvCxnSpPr>
        <p:spPr bwMode="auto">
          <a:xfrm>
            <a:off x="6858000" y="2503015"/>
            <a:ext cx="282820" cy="2413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77" name="AutoShape 730"/>
          <p:cNvCxnSpPr>
            <a:cxnSpLocks noChangeShapeType="1"/>
            <a:stCxn id="28870" idx="7"/>
            <a:endCxn id="28871" idx="3"/>
          </p:cNvCxnSpPr>
          <p:nvPr/>
        </p:nvCxnSpPr>
        <p:spPr bwMode="auto">
          <a:xfrm flipV="1">
            <a:off x="7186256" y="2528415"/>
            <a:ext cx="284285" cy="1666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78" name="Oval 731"/>
          <p:cNvSpPr>
            <a:spLocks noChangeArrowheads="1"/>
          </p:cNvSpPr>
          <p:nvPr/>
        </p:nvSpPr>
        <p:spPr bwMode="auto">
          <a:xfrm>
            <a:off x="8116770" y="2180774"/>
            <a:ext cx="64477"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8879" name="AutoShape 732"/>
          <p:cNvCxnSpPr>
            <a:cxnSpLocks noChangeShapeType="1"/>
            <a:stCxn id="28871" idx="7"/>
            <a:endCxn id="28872" idx="3"/>
          </p:cNvCxnSpPr>
          <p:nvPr/>
        </p:nvCxnSpPr>
        <p:spPr bwMode="auto">
          <a:xfrm>
            <a:off x="7515962" y="2479203"/>
            <a:ext cx="288680" cy="746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8880" name="AutoShape 733"/>
          <p:cNvCxnSpPr>
            <a:cxnSpLocks noChangeShapeType="1"/>
            <a:stCxn id="28872" idx="6"/>
            <a:endCxn id="28878" idx="2"/>
          </p:cNvCxnSpPr>
          <p:nvPr/>
        </p:nvCxnSpPr>
        <p:spPr bwMode="auto">
          <a:xfrm flipV="1">
            <a:off x="7860333" y="2217265"/>
            <a:ext cx="256443"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8882" name="Oval 143"/>
          <p:cNvSpPr>
            <a:spLocks noChangeArrowheads="1"/>
          </p:cNvSpPr>
          <p:nvPr/>
        </p:nvSpPr>
        <p:spPr bwMode="auto">
          <a:xfrm rot="297141">
            <a:off x="2719759" y="1774353"/>
            <a:ext cx="4608635" cy="1585912"/>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52" name="Text Box 39"/>
          <p:cNvSpPr txBox="1">
            <a:spLocks noChangeArrowheads="1"/>
          </p:cNvSpPr>
          <p:nvPr/>
        </p:nvSpPr>
        <p:spPr bwMode="auto">
          <a:xfrm>
            <a:off x="7295302" y="138118"/>
            <a:ext cx="1696298"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a:t>
            </a:r>
            <a:r>
              <a:rPr kumimoji="1" lang="en-US" altLang="ko-KR" sz="1600" b="1" dirty="0" err="1">
                <a:solidFill>
                  <a:prstClr val="black"/>
                </a:solidFill>
              </a:rPr>
              <a:t>Tính</a:t>
            </a:r>
            <a:r>
              <a:rPr kumimoji="1" lang="en-US" altLang="ko-KR" sz="1600" b="1" dirty="0">
                <a:solidFill>
                  <a:prstClr val="black"/>
                </a:solidFill>
              </a:rPr>
              <a:t> </a:t>
            </a:r>
            <a:r>
              <a:rPr kumimoji="1" lang="en-US" altLang="ko-KR" sz="1600" b="1" dirty="0" err="1">
                <a:solidFill>
                  <a:prstClr val="black"/>
                </a:solidFill>
              </a:rPr>
              <a:t>chu</a:t>
            </a:r>
            <a:r>
              <a:rPr kumimoji="1" lang="en-US" altLang="ko-KR" sz="1600" b="1" dirty="0">
                <a:solidFill>
                  <a:prstClr val="black"/>
                </a:solidFill>
              </a:rPr>
              <a:t> </a:t>
            </a:r>
            <a:r>
              <a:rPr kumimoji="1" lang="en-US" altLang="ko-KR" sz="1600" b="1" dirty="0" err="1">
                <a:solidFill>
                  <a:prstClr val="black"/>
                </a:solidFill>
              </a:rPr>
              <a:t>kì</a:t>
            </a:r>
            <a:r>
              <a:rPr kumimoji="1" lang="en-US" altLang="ko-KR" sz="1600" b="1" dirty="0">
                <a:solidFill>
                  <a:prstClr val="black"/>
                </a:solidFill>
              </a:rPr>
              <a:t>(4)</a:t>
            </a:r>
          </a:p>
        </p:txBody>
      </p:sp>
      <p:sp>
        <p:nvSpPr>
          <p:cNvPr id="54"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ko-KR" altLang="en-US" sz="2000" b="1" dirty="0">
                <a:solidFill>
                  <a:prstClr val="black"/>
                </a:solidFill>
              </a:rPr>
              <a:t> </a:t>
            </a:r>
            <a:r>
              <a:rPr kumimoji="1" lang="en-US" altLang="ko-KR" sz="2000" b="1" dirty="0">
                <a:solidFill>
                  <a:prstClr val="black"/>
                </a:solidFill>
              </a:rPr>
              <a:t>(</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56"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303</a:t>
            </a:fld>
            <a:endParaRPr lang="ko-KR" altLang="en-US" sz="1200" dirty="0">
              <a:solidFill>
                <a:prstClr val="black"/>
              </a:solidFill>
            </a:endParaRPr>
          </a:p>
        </p:txBody>
      </p:sp>
    </p:spTree>
    <p:extLst>
      <p:ext uri="{BB962C8B-B14F-4D97-AF65-F5344CB8AC3E}">
        <p14:creationId xmlns:p14="http://schemas.microsoft.com/office/powerpoint/2010/main" val="2521893556"/>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ext Box 3"/>
          <p:cNvSpPr txBox="1">
            <a:spLocks noChangeArrowheads="1"/>
          </p:cNvSpPr>
          <p:nvPr/>
        </p:nvSpPr>
        <p:spPr bwMode="auto">
          <a:xfrm>
            <a:off x="904143" y="1124496"/>
            <a:ext cx="7705528" cy="579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ts val="100"/>
              </a:spcBef>
              <a:spcAft>
                <a:spcPct val="0"/>
              </a:spcAft>
            </a:pPr>
            <a:r>
              <a:rPr lang="en-US" altLang="ko-KR" sz="1600" b="1" dirty="0">
                <a:solidFill>
                  <a:prstClr val="black"/>
                </a:solidFill>
                <a:latin typeface="맑은 고딕" pitchFamily="50" charset="-127"/>
                <a:ea typeface="맑은 고딕" pitchFamily="50" charset="-127"/>
              </a:rPr>
              <a:t>- Two out of three consecutive points appear in area A of one area</a:t>
            </a:r>
            <a:br>
              <a:rPr lang="en-US" altLang="ko-KR" sz="1600" b="1" dirty="0">
                <a:solidFill>
                  <a:prstClr val="black"/>
                </a:solidFill>
                <a:latin typeface="맑은 고딕" pitchFamily="50" charset="-127"/>
                <a:ea typeface="맑은 고딕" pitchFamily="50" charset="-127"/>
              </a:rPr>
            </a:br>
            <a:r>
              <a:rPr lang="en-US" altLang="ko-KR" sz="1600" b="1" dirty="0">
                <a:solidFill>
                  <a:prstClr val="black"/>
                </a:solidFill>
                <a:latin typeface="맑은 고딕" pitchFamily="50" charset="-127"/>
                <a:ea typeface="맑은 고딕" pitchFamily="50" charset="-127"/>
              </a:rPr>
              <a:t>  4 out of 5 points are located at the B of one side of the center line or more</a:t>
            </a:r>
            <a:endParaRPr lang="ko-KR" altLang="en-US" sz="1600" b="1" dirty="0">
              <a:solidFill>
                <a:prstClr val="black"/>
              </a:solidFill>
              <a:latin typeface="맑은 고딕" pitchFamily="50" charset="-127"/>
              <a:ea typeface="맑은 고딕" pitchFamily="50" charset="-127"/>
            </a:endParaRPr>
          </a:p>
        </p:txBody>
      </p:sp>
      <p:graphicFrame>
        <p:nvGraphicFramePr>
          <p:cNvPr id="4" name="Group 842"/>
          <p:cNvGraphicFramePr>
            <a:graphicFrameLocks noGrp="1"/>
          </p:cNvGraphicFramePr>
          <p:nvPr>
            <p:extLst>
              <p:ext uri="{D42A27DB-BD31-4B8C-83A1-F6EECF244321}">
                <p14:modId xmlns:p14="http://schemas.microsoft.com/office/powerpoint/2010/main" val="2839267875"/>
              </p:ext>
            </p:extLst>
          </p:nvPr>
        </p:nvGraphicFramePr>
        <p:xfrm>
          <a:off x="1380403" y="2032545"/>
          <a:ext cx="6780336" cy="1658940"/>
        </p:xfrm>
        <a:graphic>
          <a:graphicData uri="http://schemas.openxmlformats.org/drawingml/2006/table">
            <a:tbl>
              <a:tblPr/>
              <a:tblGrid>
                <a:gridCol w="523143">
                  <a:extLst>
                    <a:ext uri="{9D8B030D-6E8A-4147-A177-3AD203B41FA5}">
                      <a16:colId xmlns:a16="http://schemas.microsoft.com/office/drawing/2014/main" val="20000"/>
                    </a:ext>
                  </a:extLst>
                </a:gridCol>
                <a:gridCol w="520211">
                  <a:extLst>
                    <a:ext uri="{9D8B030D-6E8A-4147-A177-3AD203B41FA5}">
                      <a16:colId xmlns:a16="http://schemas.microsoft.com/office/drawing/2014/main" val="20001"/>
                    </a:ext>
                  </a:extLst>
                </a:gridCol>
                <a:gridCol w="523143">
                  <a:extLst>
                    <a:ext uri="{9D8B030D-6E8A-4147-A177-3AD203B41FA5}">
                      <a16:colId xmlns:a16="http://schemas.microsoft.com/office/drawing/2014/main" val="20002"/>
                    </a:ext>
                  </a:extLst>
                </a:gridCol>
                <a:gridCol w="521677">
                  <a:extLst>
                    <a:ext uri="{9D8B030D-6E8A-4147-A177-3AD203B41FA5}">
                      <a16:colId xmlns:a16="http://schemas.microsoft.com/office/drawing/2014/main" val="20003"/>
                    </a:ext>
                  </a:extLst>
                </a:gridCol>
                <a:gridCol w="521677">
                  <a:extLst>
                    <a:ext uri="{9D8B030D-6E8A-4147-A177-3AD203B41FA5}">
                      <a16:colId xmlns:a16="http://schemas.microsoft.com/office/drawing/2014/main" val="20004"/>
                    </a:ext>
                  </a:extLst>
                </a:gridCol>
                <a:gridCol w="521677">
                  <a:extLst>
                    <a:ext uri="{9D8B030D-6E8A-4147-A177-3AD203B41FA5}">
                      <a16:colId xmlns:a16="http://schemas.microsoft.com/office/drawing/2014/main" val="20005"/>
                    </a:ext>
                  </a:extLst>
                </a:gridCol>
                <a:gridCol w="523142">
                  <a:extLst>
                    <a:ext uri="{9D8B030D-6E8A-4147-A177-3AD203B41FA5}">
                      <a16:colId xmlns:a16="http://schemas.microsoft.com/office/drawing/2014/main" val="20006"/>
                    </a:ext>
                  </a:extLst>
                </a:gridCol>
                <a:gridCol w="520212">
                  <a:extLst>
                    <a:ext uri="{9D8B030D-6E8A-4147-A177-3AD203B41FA5}">
                      <a16:colId xmlns:a16="http://schemas.microsoft.com/office/drawing/2014/main" val="20007"/>
                    </a:ext>
                  </a:extLst>
                </a:gridCol>
                <a:gridCol w="523142">
                  <a:extLst>
                    <a:ext uri="{9D8B030D-6E8A-4147-A177-3AD203B41FA5}">
                      <a16:colId xmlns:a16="http://schemas.microsoft.com/office/drawing/2014/main" val="20008"/>
                    </a:ext>
                  </a:extLst>
                </a:gridCol>
                <a:gridCol w="518746">
                  <a:extLst>
                    <a:ext uri="{9D8B030D-6E8A-4147-A177-3AD203B41FA5}">
                      <a16:colId xmlns:a16="http://schemas.microsoft.com/office/drawing/2014/main" val="20009"/>
                    </a:ext>
                  </a:extLst>
                </a:gridCol>
                <a:gridCol w="521677">
                  <a:extLst>
                    <a:ext uri="{9D8B030D-6E8A-4147-A177-3AD203B41FA5}">
                      <a16:colId xmlns:a16="http://schemas.microsoft.com/office/drawing/2014/main" val="20010"/>
                    </a:ext>
                  </a:extLst>
                </a:gridCol>
                <a:gridCol w="521677">
                  <a:extLst>
                    <a:ext uri="{9D8B030D-6E8A-4147-A177-3AD203B41FA5}">
                      <a16:colId xmlns:a16="http://schemas.microsoft.com/office/drawing/2014/main" val="20011"/>
                    </a:ext>
                  </a:extLst>
                </a:gridCol>
                <a:gridCol w="520212">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9797" name="Oval 582"/>
          <p:cNvSpPr>
            <a:spLocks noChangeArrowheads="1"/>
          </p:cNvSpPr>
          <p:nvPr/>
        </p:nvSpPr>
        <p:spPr bwMode="auto">
          <a:xfrm>
            <a:off x="2111620" y="26500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798" name="Oval 583"/>
          <p:cNvSpPr>
            <a:spLocks noChangeArrowheads="1"/>
          </p:cNvSpPr>
          <p:nvPr/>
        </p:nvSpPr>
        <p:spPr bwMode="auto">
          <a:xfrm>
            <a:off x="2643557" y="29390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799" name="Oval 584"/>
          <p:cNvSpPr>
            <a:spLocks noChangeArrowheads="1"/>
          </p:cNvSpPr>
          <p:nvPr/>
        </p:nvSpPr>
        <p:spPr bwMode="auto">
          <a:xfrm>
            <a:off x="3175489" y="32596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0" name="Oval 585"/>
          <p:cNvSpPr>
            <a:spLocks noChangeArrowheads="1"/>
          </p:cNvSpPr>
          <p:nvPr/>
        </p:nvSpPr>
        <p:spPr bwMode="auto">
          <a:xfrm>
            <a:off x="3707429" y="354702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1" name="Oval 586"/>
          <p:cNvSpPr>
            <a:spLocks noChangeArrowheads="1"/>
          </p:cNvSpPr>
          <p:nvPr/>
        </p:nvSpPr>
        <p:spPr bwMode="auto">
          <a:xfrm>
            <a:off x="4239358" y="3547026"/>
            <a:ext cx="6740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2" name="Oval 587"/>
          <p:cNvSpPr>
            <a:spLocks noChangeArrowheads="1"/>
          </p:cNvSpPr>
          <p:nvPr/>
        </p:nvSpPr>
        <p:spPr bwMode="auto">
          <a:xfrm>
            <a:off x="4771292" y="29390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3" name="Oval 588"/>
          <p:cNvSpPr>
            <a:spLocks noChangeArrowheads="1"/>
          </p:cNvSpPr>
          <p:nvPr/>
        </p:nvSpPr>
        <p:spPr bwMode="auto">
          <a:xfrm>
            <a:off x="5303231" y="26500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9804" name="AutoShape 589"/>
          <p:cNvCxnSpPr>
            <a:cxnSpLocks noChangeShapeType="1"/>
            <a:stCxn id="29797" idx="5"/>
            <a:endCxn id="29798" idx="1"/>
          </p:cNvCxnSpPr>
          <p:nvPr/>
        </p:nvCxnSpPr>
        <p:spPr bwMode="auto">
          <a:xfrm>
            <a:off x="2167304" y="2710428"/>
            <a:ext cx="486508"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5" name="AutoShape 590"/>
          <p:cNvCxnSpPr>
            <a:cxnSpLocks noChangeShapeType="1"/>
            <a:stCxn id="29798" idx="6"/>
          </p:cNvCxnSpPr>
          <p:nvPr/>
        </p:nvCxnSpPr>
        <p:spPr bwMode="auto">
          <a:xfrm>
            <a:off x="2709497" y="2973932"/>
            <a:ext cx="465992"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6" name="AutoShape 592"/>
          <p:cNvCxnSpPr>
            <a:cxnSpLocks noChangeShapeType="1"/>
            <a:stCxn id="29800" idx="6"/>
            <a:endCxn id="29801" idx="1"/>
          </p:cNvCxnSpPr>
          <p:nvPr/>
        </p:nvCxnSpPr>
        <p:spPr bwMode="auto">
          <a:xfrm flipV="1">
            <a:off x="3773366" y="3558132"/>
            <a:ext cx="476250" cy="254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7" name="AutoShape 593"/>
          <p:cNvCxnSpPr>
            <a:cxnSpLocks noChangeShapeType="1"/>
            <a:stCxn id="29801" idx="6"/>
            <a:endCxn id="29802" idx="2"/>
          </p:cNvCxnSpPr>
          <p:nvPr/>
        </p:nvCxnSpPr>
        <p:spPr bwMode="auto">
          <a:xfrm flipV="1">
            <a:off x="4306767" y="2973932"/>
            <a:ext cx="464526" cy="6096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8" name="AutoShape 594"/>
          <p:cNvCxnSpPr>
            <a:cxnSpLocks noChangeShapeType="1"/>
            <a:stCxn id="29802" idx="7"/>
            <a:endCxn id="29803" idx="2"/>
          </p:cNvCxnSpPr>
          <p:nvPr/>
        </p:nvCxnSpPr>
        <p:spPr bwMode="auto">
          <a:xfrm flipV="1">
            <a:off x="4826977" y="2686616"/>
            <a:ext cx="476250"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09" name="Oval 675"/>
          <p:cNvSpPr>
            <a:spLocks noChangeArrowheads="1"/>
          </p:cNvSpPr>
          <p:nvPr/>
        </p:nvSpPr>
        <p:spPr bwMode="auto">
          <a:xfrm>
            <a:off x="5767757" y="23611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0" name="Oval 676"/>
          <p:cNvSpPr>
            <a:spLocks noChangeArrowheads="1"/>
          </p:cNvSpPr>
          <p:nvPr/>
        </p:nvSpPr>
        <p:spPr bwMode="auto">
          <a:xfrm>
            <a:off x="6299689" y="242783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1" name="Oval 677"/>
          <p:cNvSpPr>
            <a:spLocks noChangeArrowheads="1"/>
          </p:cNvSpPr>
          <p:nvPr/>
        </p:nvSpPr>
        <p:spPr bwMode="auto">
          <a:xfrm>
            <a:off x="6831629" y="272154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2" name="Oval 678"/>
          <p:cNvSpPr>
            <a:spLocks noChangeArrowheads="1"/>
          </p:cNvSpPr>
          <p:nvPr/>
        </p:nvSpPr>
        <p:spPr bwMode="auto">
          <a:xfrm>
            <a:off x="7363558" y="236115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3" name="Oval 679"/>
          <p:cNvSpPr>
            <a:spLocks noChangeArrowheads="1"/>
          </p:cNvSpPr>
          <p:nvPr/>
        </p:nvSpPr>
        <p:spPr bwMode="auto">
          <a:xfrm>
            <a:off x="7895492" y="23611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9814" name="AutoShape 682"/>
          <p:cNvCxnSpPr>
            <a:cxnSpLocks noChangeShapeType="1"/>
            <a:stCxn id="29809" idx="6"/>
            <a:endCxn id="29810" idx="2"/>
          </p:cNvCxnSpPr>
          <p:nvPr/>
        </p:nvCxnSpPr>
        <p:spPr bwMode="auto">
          <a:xfrm>
            <a:off x="5833697" y="2397691"/>
            <a:ext cx="465992" cy="66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5" name="AutoShape 683"/>
          <p:cNvCxnSpPr>
            <a:cxnSpLocks noChangeShapeType="1"/>
            <a:stCxn id="29810" idx="5"/>
            <a:endCxn id="29811" idx="2"/>
          </p:cNvCxnSpPr>
          <p:nvPr/>
        </p:nvCxnSpPr>
        <p:spPr bwMode="auto">
          <a:xfrm>
            <a:off x="6355374" y="2488178"/>
            <a:ext cx="476250" cy="2698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16" name="Text Box 2"/>
          <p:cNvSpPr txBox="1">
            <a:spLocks noChangeArrowheads="1"/>
          </p:cNvSpPr>
          <p:nvPr/>
        </p:nvSpPr>
        <p:spPr bwMode="auto">
          <a:xfrm>
            <a:off x="783982" y="692696"/>
            <a:ext cx="373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&lt;Management Limit Proximity&gt;</a:t>
            </a:r>
            <a:endParaRPr lang="ko-KR" altLang="en-US" b="1" dirty="0">
              <a:solidFill>
                <a:prstClr val="black"/>
              </a:solidFill>
              <a:latin typeface="맑은 고딕" pitchFamily="50" charset="-127"/>
              <a:ea typeface="맑은 고딕" pitchFamily="50" charset="-127"/>
            </a:endParaRPr>
          </a:p>
        </p:txBody>
      </p:sp>
      <p:cxnSp>
        <p:nvCxnSpPr>
          <p:cNvPr id="29817" name="AutoShape 789"/>
          <p:cNvCxnSpPr>
            <a:cxnSpLocks noChangeShapeType="1"/>
            <a:stCxn id="29799" idx="6"/>
            <a:endCxn id="29800" idx="2"/>
          </p:cNvCxnSpPr>
          <p:nvPr/>
        </p:nvCxnSpPr>
        <p:spPr bwMode="auto">
          <a:xfrm>
            <a:off x="3241431" y="3294616"/>
            <a:ext cx="465992" cy="2889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8" name="AutoShape 790"/>
          <p:cNvCxnSpPr>
            <a:cxnSpLocks noChangeShapeType="1"/>
            <a:stCxn id="29803" idx="7"/>
            <a:endCxn id="29809" idx="3"/>
          </p:cNvCxnSpPr>
          <p:nvPr/>
        </p:nvCxnSpPr>
        <p:spPr bwMode="auto">
          <a:xfrm flipV="1">
            <a:off x="5358912" y="2421503"/>
            <a:ext cx="41910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9" name="AutoShape 791"/>
          <p:cNvCxnSpPr>
            <a:cxnSpLocks noChangeShapeType="1"/>
            <a:stCxn id="29811" idx="7"/>
            <a:endCxn id="29812" idx="2"/>
          </p:cNvCxnSpPr>
          <p:nvPr/>
        </p:nvCxnSpPr>
        <p:spPr bwMode="auto">
          <a:xfrm flipV="1">
            <a:off x="6887308" y="2397670"/>
            <a:ext cx="476250" cy="3349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20" name="AutoShape 798"/>
          <p:cNvCxnSpPr>
            <a:cxnSpLocks noChangeShapeType="1"/>
            <a:stCxn id="29812" idx="6"/>
            <a:endCxn id="29813" idx="2"/>
          </p:cNvCxnSpPr>
          <p:nvPr/>
        </p:nvCxnSpPr>
        <p:spPr bwMode="auto">
          <a:xfrm>
            <a:off x="7430967" y="2397670"/>
            <a:ext cx="464526"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21" name="Text Box 799"/>
          <p:cNvSpPr txBox="1">
            <a:spLocks noChangeArrowheads="1"/>
          </p:cNvSpPr>
          <p:nvPr/>
        </p:nvSpPr>
        <p:spPr bwMode="auto">
          <a:xfrm>
            <a:off x="827955" y="1889671"/>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9822" name="Text Box 800"/>
          <p:cNvSpPr txBox="1">
            <a:spLocks noChangeArrowheads="1"/>
          </p:cNvSpPr>
          <p:nvPr/>
        </p:nvSpPr>
        <p:spPr bwMode="auto">
          <a:xfrm>
            <a:off x="827943" y="347399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9823" name="AutoShape 802"/>
          <p:cNvSpPr>
            <a:spLocks noChangeArrowheads="1"/>
          </p:cNvSpPr>
          <p:nvPr/>
        </p:nvSpPr>
        <p:spPr bwMode="auto">
          <a:xfrm>
            <a:off x="783988" y="4486275"/>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Causes</a:t>
            </a:r>
            <a:endParaRPr lang="ko-KR" altLang="en-US" sz="1600" b="1" dirty="0">
              <a:solidFill>
                <a:prstClr val="black"/>
              </a:solidFill>
              <a:latin typeface="맑은 고딕" pitchFamily="50" charset="-127"/>
              <a:ea typeface="맑은 고딕" pitchFamily="50" charset="-127"/>
            </a:endParaRPr>
          </a:p>
        </p:txBody>
      </p:sp>
      <p:sp>
        <p:nvSpPr>
          <p:cNvPr id="29824" name="Oval 803"/>
          <p:cNvSpPr>
            <a:spLocks noChangeArrowheads="1"/>
          </p:cNvSpPr>
          <p:nvPr/>
        </p:nvSpPr>
        <p:spPr bwMode="auto">
          <a:xfrm>
            <a:off x="5634415" y="2227807"/>
            <a:ext cx="2593731" cy="622300"/>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25" name="Text Box 804"/>
          <p:cNvSpPr txBox="1">
            <a:spLocks noChangeArrowheads="1"/>
          </p:cNvSpPr>
          <p:nvPr/>
        </p:nvSpPr>
        <p:spPr bwMode="auto">
          <a:xfrm>
            <a:off x="896817" y="2681832"/>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graphicFrame>
        <p:nvGraphicFramePr>
          <p:cNvPr id="34" name="Group 843"/>
          <p:cNvGraphicFramePr>
            <a:graphicFrameLocks noGrp="1"/>
          </p:cNvGraphicFramePr>
          <p:nvPr/>
        </p:nvGraphicFramePr>
        <p:xfrm>
          <a:off x="849923" y="4918096"/>
          <a:ext cx="7297615" cy="1680720"/>
        </p:xfrm>
        <a:graphic>
          <a:graphicData uri="http://schemas.openxmlformats.org/drawingml/2006/table">
            <a:tbl>
              <a:tblPr/>
              <a:tblGrid>
                <a:gridCol w="1060938">
                  <a:extLst>
                    <a:ext uri="{9D8B030D-6E8A-4147-A177-3AD203B41FA5}">
                      <a16:colId xmlns:a16="http://schemas.microsoft.com/office/drawing/2014/main" val="20000"/>
                    </a:ext>
                  </a:extLst>
                </a:gridCol>
                <a:gridCol w="6236677">
                  <a:extLst>
                    <a:ext uri="{9D8B030D-6E8A-4147-A177-3AD203B41FA5}">
                      <a16:colId xmlns:a16="http://schemas.microsoft.com/office/drawing/2014/main" val="20001"/>
                    </a:ext>
                  </a:extLst>
                </a:gridCol>
              </a:tblGrid>
              <a:tr h="66833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Worker errors, lack of skills due to lack of training, excessive vibration due to improper fastening devices, irregular materials supplied by different suppliers, defective parts, measurement errors, or poor instruments</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control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Same causes as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Rcontrol</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chart</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9839" name="Oval 803"/>
          <p:cNvSpPr>
            <a:spLocks noChangeArrowheads="1"/>
          </p:cNvSpPr>
          <p:nvPr/>
        </p:nvSpPr>
        <p:spPr bwMode="auto">
          <a:xfrm>
            <a:off x="2778380" y="3186660"/>
            <a:ext cx="1802423" cy="6127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8" name="Text Box 514"/>
          <p:cNvSpPr txBox="1">
            <a:spLocks noChangeArrowheads="1"/>
          </p:cNvSpPr>
          <p:nvPr/>
        </p:nvSpPr>
        <p:spPr bwMode="auto">
          <a:xfrm>
            <a:off x="5786446" y="3789043"/>
            <a:ext cx="25272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kumimoji="1" lang="en-US" altLang="ko-KR" sz="1200" b="1" dirty="0">
                <a:solidFill>
                  <a:srgbClr val="C00000"/>
                </a:solidFill>
                <a:ea typeface="굴림" pitchFamily="50" charset="-127"/>
              </a:rPr>
              <a:t>=0.00134 </a:t>
            </a:r>
            <a:r>
              <a:rPr kumimoji="1" lang="en-US" altLang="ko-KR" sz="1200" b="1" dirty="0">
                <a:solidFill>
                  <a:srgbClr val="C00000"/>
                </a:solidFill>
                <a:ea typeface="굴림" pitchFamily="50" charset="-127"/>
                <a:sym typeface="Wingdings" pitchFamily="2" charset="2"/>
              </a:rPr>
              <a:t> 0.134% probability</a:t>
            </a:r>
            <a:endParaRPr kumimoji="1" lang="ko-KR" altLang="en-US" sz="1200" b="1" dirty="0">
              <a:solidFill>
                <a:srgbClr val="C00000"/>
              </a:solidFill>
              <a:ea typeface="굴림" pitchFamily="50" charset="-127"/>
            </a:endParaRPr>
          </a:p>
        </p:txBody>
      </p:sp>
      <p:sp>
        <p:nvSpPr>
          <p:cNvPr id="41" name="Text Box 39"/>
          <p:cNvSpPr txBox="1">
            <a:spLocks noChangeArrowheads="1"/>
          </p:cNvSpPr>
          <p:nvPr/>
        </p:nvSpPr>
        <p:spPr bwMode="auto">
          <a:xfrm>
            <a:off x="127731" y="76562"/>
            <a:ext cx="7743851"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Determination and interpretation(detailed) of control chart</a:t>
            </a:r>
          </a:p>
        </p:txBody>
      </p:sp>
      <p:sp>
        <p:nvSpPr>
          <p:cNvPr id="42" name="Text Box 39"/>
          <p:cNvSpPr txBox="1">
            <a:spLocks noChangeArrowheads="1"/>
          </p:cNvSpPr>
          <p:nvPr/>
        </p:nvSpPr>
        <p:spPr bwMode="auto">
          <a:xfrm>
            <a:off x="5756190" y="304364"/>
            <a:ext cx="3459280"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Management Limit Proximity(5)</a:t>
            </a:r>
          </a:p>
        </p:txBody>
      </p:sp>
      <p:sp>
        <p:nvSpPr>
          <p:cNvPr id="4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304</a:t>
            </a:fld>
            <a:endParaRPr lang="ko-KR" altLang="en-US" sz="1200" dirty="0">
              <a:solidFill>
                <a:prstClr val="black"/>
              </a:solidFill>
            </a:endParaRPr>
          </a:p>
        </p:txBody>
      </p:sp>
    </p:spTree>
    <p:extLst>
      <p:ext uri="{BB962C8B-B14F-4D97-AF65-F5344CB8AC3E}">
        <p14:creationId xmlns:p14="http://schemas.microsoft.com/office/powerpoint/2010/main" val="1903474308"/>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Group 736"/>
          <p:cNvGraphicFramePr>
            <a:graphicFrameLocks noGrp="1"/>
          </p:cNvGraphicFramePr>
          <p:nvPr>
            <p:extLst>
              <p:ext uri="{D42A27DB-BD31-4B8C-83A1-F6EECF244321}">
                <p14:modId xmlns:p14="http://schemas.microsoft.com/office/powerpoint/2010/main" val="1971060385"/>
              </p:ext>
            </p:extLst>
          </p:nvPr>
        </p:nvGraphicFramePr>
        <p:xfrm>
          <a:off x="1139244" y="1819820"/>
          <a:ext cx="6929801" cy="1658940"/>
        </p:xfrm>
        <a:graphic>
          <a:graphicData uri="http://schemas.openxmlformats.org/drawingml/2006/table">
            <a:tbl>
              <a:tblPr/>
              <a:tblGrid>
                <a:gridCol w="693127">
                  <a:extLst>
                    <a:ext uri="{9D8B030D-6E8A-4147-A177-3AD203B41FA5}">
                      <a16:colId xmlns:a16="http://schemas.microsoft.com/office/drawing/2014/main" val="20000"/>
                    </a:ext>
                  </a:extLst>
                </a:gridCol>
                <a:gridCol w="328246">
                  <a:extLst>
                    <a:ext uri="{9D8B030D-6E8A-4147-A177-3AD203B41FA5}">
                      <a16:colId xmlns:a16="http://schemas.microsoft.com/office/drawing/2014/main" val="20001"/>
                    </a:ext>
                  </a:extLst>
                </a:gridCol>
                <a:gridCol w="328246">
                  <a:extLst>
                    <a:ext uri="{9D8B030D-6E8A-4147-A177-3AD203B41FA5}">
                      <a16:colId xmlns:a16="http://schemas.microsoft.com/office/drawing/2014/main" val="20002"/>
                    </a:ext>
                  </a:extLst>
                </a:gridCol>
                <a:gridCol w="328246">
                  <a:extLst>
                    <a:ext uri="{9D8B030D-6E8A-4147-A177-3AD203B41FA5}">
                      <a16:colId xmlns:a16="http://schemas.microsoft.com/office/drawing/2014/main" val="20003"/>
                    </a:ext>
                  </a:extLst>
                </a:gridCol>
                <a:gridCol w="328246">
                  <a:extLst>
                    <a:ext uri="{9D8B030D-6E8A-4147-A177-3AD203B41FA5}">
                      <a16:colId xmlns:a16="http://schemas.microsoft.com/office/drawing/2014/main" val="20004"/>
                    </a:ext>
                  </a:extLst>
                </a:gridCol>
                <a:gridCol w="329711">
                  <a:extLst>
                    <a:ext uri="{9D8B030D-6E8A-4147-A177-3AD203B41FA5}">
                      <a16:colId xmlns:a16="http://schemas.microsoft.com/office/drawing/2014/main" val="20005"/>
                    </a:ext>
                  </a:extLst>
                </a:gridCol>
                <a:gridCol w="326781">
                  <a:extLst>
                    <a:ext uri="{9D8B030D-6E8A-4147-A177-3AD203B41FA5}">
                      <a16:colId xmlns:a16="http://schemas.microsoft.com/office/drawing/2014/main" val="20006"/>
                    </a:ext>
                  </a:extLst>
                </a:gridCol>
                <a:gridCol w="328246">
                  <a:extLst>
                    <a:ext uri="{9D8B030D-6E8A-4147-A177-3AD203B41FA5}">
                      <a16:colId xmlns:a16="http://schemas.microsoft.com/office/drawing/2014/main" val="20007"/>
                    </a:ext>
                  </a:extLst>
                </a:gridCol>
                <a:gridCol w="328246">
                  <a:extLst>
                    <a:ext uri="{9D8B030D-6E8A-4147-A177-3AD203B41FA5}">
                      <a16:colId xmlns:a16="http://schemas.microsoft.com/office/drawing/2014/main" val="20008"/>
                    </a:ext>
                  </a:extLst>
                </a:gridCol>
                <a:gridCol w="328246">
                  <a:extLst>
                    <a:ext uri="{9D8B030D-6E8A-4147-A177-3AD203B41FA5}">
                      <a16:colId xmlns:a16="http://schemas.microsoft.com/office/drawing/2014/main" val="20009"/>
                    </a:ext>
                  </a:extLst>
                </a:gridCol>
                <a:gridCol w="328246">
                  <a:extLst>
                    <a:ext uri="{9D8B030D-6E8A-4147-A177-3AD203B41FA5}">
                      <a16:colId xmlns:a16="http://schemas.microsoft.com/office/drawing/2014/main" val="20010"/>
                    </a:ext>
                  </a:extLst>
                </a:gridCol>
                <a:gridCol w="328246">
                  <a:extLst>
                    <a:ext uri="{9D8B030D-6E8A-4147-A177-3AD203B41FA5}">
                      <a16:colId xmlns:a16="http://schemas.microsoft.com/office/drawing/2014/main" val="20011"/>
                    </a:ext>
                  </a:extLst>
                </a:gridCol>
                <a:gridCol w="328246">
                  <a:extLst>
                    <a:ext uri="{9D8B030D-6E8A-4147-A177-3AD203B41FA5}">
                      <a16:colId xmlns:a16="http://schemas.microsoft.com/office/drawing/2014/main" val="20012"/>
                    </a:ext>
                  </a:extLst>
                </a:gridCol>
                <a:gridCol w="328246">
                  <a:extLst>
                    <a:ext uri="{9D8B030D-6E8A-4147-A177-3AD203B41FA5}">
                      <a16:colId xmlns:a16="http://schemas.microsoft.com/office/drawing/2014/main" val="20013"/>
                    </a:ext>
                  </a:extLst>
                </a:gridCol>
                <a:gridCol w="328246">
                  <a:extLst>
                    <a:ext uri="{9D8B030D-6E8A-4147-A177-3AD203B41FA5}">
                      <a16:colId xmlns:a16="http://schemas.microsoft.com/office/drawing/2014/main" val="20014"/>
                    </a:ext>
                  </a:extLst>
                </a:gridCol>
                <a:gridCol w="328246">
                  <a:extLst>
                    <a:ext uri="{9D8B030D-6E8A-4147-A177-3AD203B41FA5}">
                      <a16:colId xmlns:a16="http://schemas.microsoft.com/office/drawing/2014/main" val="20015"/>
                    </a:ext>
                  </a:extLst>
                </a:gridCol>
                <a:gridCol w="328246">
                  <a:extLst>
                    <a:ext uri="{9D8B030D-6E8A-4147-A177-3AD203B41FA5}">
                      <a16:colId xmlns:a16="http://schemas.microsoft.com/office/drawing/2014/main" val="20016"/>
                    </a:ext>
                  </a:extLst>
                </a:gridCol>
                <a:gridCol w="328246">
                  <a:extLst>
                    <a:ext uri="{9D8B030D-6E8A-4147-A177-3AD203B41FA5}">
                      <a16:colId xmlns:a16="http://schemas.microsoft.com/office/drawing/2014/main" val="20017"/>
                    </a:ext>
                  </a:extLst>
                </a:gridCol>
                <a:gridCol w="329711">
                  <a:extLst>
                    <a:ext uri="{9D8B030D-6E8A-4147-A177-3AD203B41FA5}">
                      <a16:colId xmlns:a16="http://schemas.microsoft.com/office/drawing/2014/main" val="20018"/>
                    </a:ext>
                  </a:extLst>
                </a:gridCol>
                <a:gridCol w="326781">
                  <a:extLst>
                    <a:ext uri="{9D8B030D-6E8A-4147-A177-3AD203B41FA5}">
                      <a16:colId xmlns:a16="http://schemas.microsoft.com/office/drawing/2014/main" val="20019"/>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30871" name="Text Box 3"/>
          <p:cNvSpPr txBox="1">
            <a:spLocks noChangeArrowheads="1"/>
          </p:cNvSpPr>
          <p:nvPr/>
        </p:nvSpPr>
        <p:spPr bwMode="auto">
          <a:xfrm>
            <a:off x="660065" y="1000108"/>
            <a:ext cx="8198215" cy="702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If 15 points are not out of control line and are concentrated in area C without </a:t>
            </a:r>
          </a:p>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major variation.</a:t>
            </a:r>
            <a:endParaRPr lang="ko-KR" altLang="en-US" sz="1600" b="1" dirty="0">
              <a:solidFill>
                <a:prstClr val="black"/>
              </a:solidFill>
              <a:latin typeface="맑은 고딕" pitchFamily="50" charset="-127"/>
              <a:ea typeface="맑은 고딕" pitchFamily="50" charset="-127"/>
            </a:endParaRPr>
          </a:p>
        </p:txBody>
      </p:sp>
      <p:sp>
        <p:nvSpPr>
          <p:cNvPr id="30872" name="Text Box 2"/>
          <p:cNvSpPr txBox="1">
            <a:spLocks noChangeArrowheads="1"/>
          </p:cNvSpPr>
          <p:nvPr/>
        </p:nvSpPr>
        <p:spPr bwMode="auto">
          <a:xfrm>
            <a:off x="872554" y="692696"/>
            <a:ext cx="25181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Bias to centerline&gt;</a:t>
            </a:r>
            <a:endParaRPr lang="ko-KR" altLang="en-US" b="1" dirty="0">
              <a:solidFill>
                <a:prstClr val="black"/>
              </a:solidFill>
              <a:latin typeface="맑은 고딕" pitchFamily="50" charset="-127"/>
              <a:ea typeface="맑은 고딕" pitchFamily="50" charset="-127"/>
            </a:endParaRPr>
          </a:p>
        </p:txBody>
      </p:sp>
      <p:sp>
        <p:nvSpPr>
          <p:cNvPr id="30873" name="Text Box 151"/>
          <p:cNvSpPr txBox="1">
            <a:spLocks noChangeArrowheads="1"/>
          </p:cNvSpPr>
          <p:nvPr/>
        </p:nvSpPr>
        <p:spPr bwMode="auto">
          <a:xfrm>
            <a:off x="583875" y="1629321"/>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30874" name="Text Box 152"/>
          <p:cNvSpPr txBox="1">
            <a:spLocks noChangeArrowheads="1"/>
          </p:cNvSpPr>
          <p:nvPr/>
        </p:nvSpPr>
        <p:spPr bwMode="auto">
          <a:xfrm>
            <a:off x="583866" y="321364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30875" name="AutoShape 153"/>
          <p:cNvSpPr>
            <a:spLocks noChangeArrowheads="1"/>
          </p:cNvSpPr>
          <p:nvPr/>
        </p:nvSpPr>
        <p:spPr bwMode="auto">
          <a:xfrm>
            <a:off x="583228" y="4292600"/>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30876" name="Text Box 154"/>
          <p:cNvSpPr txBox="1">
            <a:spLocks noChangeArrowheads="1"/>
          </p:cNvSpPr>
          <p:nvPr/>
        </p:nvSpPr>
        <p:spPr bwMode="auto">
          <a:xfrm>
            <a:off x="652737" y="2421482"/>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30877" name="AutoShape 155"/>
          <p:cNvSpPr>
            <a:spLocks noChangeArrowheads="1"/>
          </p:cNvSpPr>
          <p:nvPr/>
        </p:nvSpPr>
        <p:spPr bwMode="auto">
          <a:xfrm>
            <a:off x="583228" y="429260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Causes</a:t>
            </a:r>
            <a:endParaRPr lang="ko-KR" altLang="en-US" sz="1600" b="1" dirty="0">
              <a:solidFill>
                <a:prstClr val="black"/>
              </a:solidFill>
              <a:latin typeface="맑은 고딕" pitchFamily="50" charset="-127"/>
              <a:ea typeface="맑은 고딕" pitchFamily="50" charset="-127"/>
            </a:endParaRPr>
          </a:p>
        </p:txBody>
      </p:sp>
      <p:graphicFrame>
        <p:nvGraphicFramePr>
          <p:cNvPr id="9" name="Group 371"/>
          <p:cNvGraphicFramePr>
            <a:graphicFrameLocks noGrp="1"/>
          </p:cNvGraphicFramePr>
          <p:nvPr/>
        </p:nvGraphicFramePr>
        <p:xfrm>
          <a:off x="285720" y="4871802"/>
          <a:ext cx="8715436" cy="1467360"/>
        </p:xfrm>
        <a:graphic>
          <a:graphicData uri="http://schemas.openxmlformats.org/drawingml/2006/table">
            <a:tbl>
              <a:tblPr/>
              <a:tblGrid>
                <a:gridCol w="1357322">
                  <a:extLst>
                    <a:ext uri="{9D8B030D-6E8A-4147-A177-3AD203B41FA5}">
                      <a16:colId xmlns:a16="http://schemas.microsoft.com/office/drawing/2014/main" val="20000"/>
                    </a:ext>
                  </a:extLst>
                </a:gridCol>
                <a:gridCol w="7358114">
                  <a:extLst>
                    <a:ext uri="{9D8B030D-6E8A-4147-A177-3AD203B41FA5}">
                      <a16:colId xmlns:a16="http://schemas.microsoft.com/office/drawing/2014/main" val="20001"/>
                    </a:ext>
                  </a:extLst>
                </a:gridCol>
              </a:tblGrid>
              <a:tr h="68738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Measurement system problems</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Lack of ability to detect changes in quality characteristics. If the instrument does not have a distinctive power, it can not recognize process variations. The minimum measurement unit should be 1/10 of the tolerance specification.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810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Worker problem</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If the measured value has been manipulated artificially so that the produced product is close to the average value, or if the defective product is reworked and the improvement is recorded</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0889" name="Text Box 178"/>
          <p:cNvSpPr txBox="1">
            <a:spLocks noChangeArrowheads="1"/>
          </p:cNvSpPr>
          <p:nvPr/>
        </p:nvSpPr>
        <p:spPr bwMode="auto">
          <a:xfrm>
            <a:off x="1142976" y="3502573"/>
            <a:ext cx="76781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a:solidFill>
                  <a:srgbClr val="CC0000"/>
                </a:solidFill>
                <a:latin typeface="맑은 고딕" pitchFamily="50" charset="-127"/>
                <a:ea typeface="맑은 고딕" pitchFamily="50" charset="-127"/>
              </a:rPr>
              <a:t>The probability that 15 points are within the center line ± 1σ (0.6826) ^ 15 = 0.00326 Approximately</a:t>
            </a:r>
          </a:p>
          <a:p>
            <a:pPr eaLnBrk="1" fontAlgn="base" hangingPunct="1">
              <a:spcBef>
                <a:spcPct val="0"/>
              </a:spcBef>
              <a:spcAft>
                <a:spcPct val="0"/>
              </a:spcAft>
            </a:pPr>
            <a:r>
              <a:rPr lang="en-US" altLang="ko-KR" sz="1200" b="1" dirty="0">
                <a:solidFill>
                  <a:srgbClr val="CC0000"/>
                </a:solidFill>
                <a:latin typeface="맑은 고딕" pitchFamily="50" charset="-127"/>
                <a:ea typeface="맑은 고딕" pitchFamily="50" charset="-127"/>
              </a:rPr>
              <a:t> 0.33%, but in this case it is determined to be "abnormal"</a:t>
            </a:r>
            <a:endParaRPr lang="ko-KR" altLang="en-US" sz="1200" b="1" dirty="0">
              <a:solidFill>
                <a:srgbClr val="CC0000"/>
              </a:solidFill>
              <a:latin typeface="맑은 고딕" pitchFamily="50" charset="-127"/>
              <a:ea typeface="맑은 고딕" pitchFamily="50" charset="-127"/>
            </a:endParaRPr>
          </a:p>
        </p:txBody>
      </p:sp>
      <p:sp>
        <p:nvSpPr>
          <p:cNvPr id="30890" name="Oval 328"/>
          <p:cNvSpPr>
            <a:spLocks noChangeArrowheads="1"/>
          </p:cNvSpPr>
          <p:nvPr/>
        </p:nvSpPr>
        <p:spPr bwMode="auto">
          <a:xfrm>
            <a:off x="1967189" y="24326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1" name="Oval 329"/>
          <p:cNvSpPr>
            <a:spLocks noChangeArrowheads="1"/>
          </p:cNvSpPr>
          <p:nvPr/>
        </p:nvSpPr>
        <p:spPr bwMode="auto">
          <a:xfrm>
            <a:off x="2298365" y="220719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2" name="Oval 330"/>
          <p:cNvSpPr>
            <a:spLocks noChangeArrowheads="1"/>
          </p:cNvSpPr>
          <p:nvPr/>
        </p:nvSpPr>
        <p:spPr bwMode="auto">
          <a:xfrm>
            <a:off x="2623678" y="271040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3" name="Oval 331"/>
          <p:cNvSpPr>
            <a:spLocks noChangeArrowheads="1"/>
          </p:cNvSpPr>
          <p:nvPr/>
        </p:nvSpPr>
        <p:spPr bwMode="auto">
          <a:xfrm>
            <a:off x="2946065" y="24326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4" name="Oval 332"/>
          <p:cNvSpPr>
            <a:spLocks noChangeArrowheads="1"/>
          </p:cNvSpPr>
          <p:nvPr/>
        </p:nvSpPr>
        <p:spPr bwMode="auto">
          <a:xfrm>
            <a:off x="3265517" y="2061138"/>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5" name="Oval 333"/>
          <p:cNvSpPr>
            <a:spLocks noChangeArrowheads="1"/>
          </p:cNvSpPr>
          <p:nvPr/>
        </p:nvSpPr>
        <p:spPr bwMode="auto">
          <a:xfrm>
            <a:off x="3606959" y="24214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6" name="Oval 334"/>
          <p:cNvSpPr>
            <a:spLocks noChangeArrowheads="1"/>
          </p:cNvSpPr>
          <p:nvPr/>
        </p:nvSpPr>
        <p:spPr bwMode="auto">
          <a:xfrm>
            <a:off x="3936665" y="271993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897" name="AutoShape 335"/>
          <p:cNvCxnSpPr>
            <a:cxnSpLocks noChangeShapeType="1"/>
            <a:stCxn id="30890" idx="7"/>
            <a:endCxn id="30891" idx="3"/>
          </p:cNvCxnSpPr>
          <p:nvPr/>
        </p:nvCxnSpPr>
        <p:spPr bwMode="auto">
          <a:xfrm flipV="1">
            <a:off x="2022879" y="2267495"/>
            <a:ext cx="285750" cy="1762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898" name="AutoShape 336"/>
          <p:cNvCxnSpPr>
            <a:cxnSpLocks noChangeShapeType="1"/>
            <a:stCxn id="30891" idx="5"/>
            <a:endCxn id="30892" idx="2"/>
          </p:cNvCxnSpPr>
          <p:nvPr/>
        </p:nvCxnSpPr>
        <p:spPr bwMode="auto">
          <a:xfrm>
            <a:off x="2354047" y="2267516"/>
            <a:ext cx="269631" cy="4794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899" name="AutoShape 337"/>
          <p:cNvCxnSpPr>
            <a:cxnSpLocks noChangeShapeType="1"/>
            <a:stCxn id="30893" idx="7"/>
            <a:endCxn id="30894" idx="3"/>
          </p:cNvCxnSpPr>
          <p:nvPr/>
        </p:nvCxnSpPr>
        <p:spPr bwMode="auto">
          <a:xfrm flipV="1">
            <a:off x="3001758" y="2121445"/>
            <a:ext cx="274027" cy="3222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0" name="AutoShape 338"/>
          <p:cNvCxnSpPr>
            <a:cxnSpLocks noChangeShapeType="1"/>
            <a:stCxn id="30894" idx="5"/>
            <a:endCxn id="30895" idx="1"/>
          </p:cNvCxnSpPr>
          <p:nvPr/>
        </p:nvCxnSpPr>
        <p:spPr bwMode="auto">
          <a:xfrm>
            <a:off x="3321202" y="2121445"/>
            <a:ext cx="296008"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1" name="AutoShape 339"/>
          <p:cNvCxnSpPr>
            <a:cxnSpLocks noChangeShapeType="1"/>
            <a:stCxn id="30895" idx="5"/>
            <a:endCxn id="30896" idx="1"/>
          </p:cNvCxnSpPr>
          <p:nvPr/>
        </p:nvCxnSpPr>
        <p:spPr bwMode="auto">
          <a:xfrm>
            <a:off x="3662646" y="2481807"/>
            <a:ext cx="284285" cy="2492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02" name="Oval 340"/>
          <p:cNvSpPr>
            <a:spLocks noChangeArrowheads="1"/>
          </p:cNvSpPr>
          <p:nvPr/>
        </p:nvSpPr>
        <p:spPr bwMode="auto">
          <a:xfrm>
            <a:off x="4263444" y="23500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3" name="Oval 341"/>
          <p:cNvSpPr>
            <a:spLocks noChangeArrowheads="1"/>
          </p:cNvSpPr>
          <p:nvPr/>
        </p:nvSpPr>
        <p:spPr bwMode="auto">
          <a:xfrm>
            <a:off x="4596089" y="24945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4" name="Oval 342"/>
          <p:cNvSpPr>
            <a:spLocks noChangeArrowheads="1"/>
          </p:cNvSpPr>
          <p:nvPr/>
        </p:nvSpPr>
        <p:spPr bwMode="auto">
          <a:xfrm>
            <a:off x="4928734" y="271040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5" name="Oval 343"/>
          <p:cNvSpPr>
            <a:spLocks noChangeArrowheads="1"/>
          </p:cNvSpPr>
          <p:nvPr/>
        </p:nvSpPr>
        <p:spPr bwMode="auto">
          <a:xfrm>
            <a:off x="5256983" y="25659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6" name="Oval 344"/>
          <p:cNvSpPr>
            <a:spLocks noChangeArrowheads="1"/>
          </p:cNvSpPr>
          <p:nvPr/>
        </p:nvSpPr>
        <p:spPr bwMode="auto">
          <a:xfrm>
            <a:off x="5592547" y="24945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907" name="AutoShape 345"/>
          <p:cNvCxnSpPr>
            <a:cxnSpLocks noChangeShapeType="1"/>
            <a:stCxn id="30902" idx="5"/>
            <a:endCxn id="30903" idx="2"/>
          </p:cNvCxnSpPr>
          <p:nvPr/>
        </p:nvCxnSpPr>
        <p:spPr bwMode="auto">
          <a:xfrm>
            <a:off x="4319139" y="2410370"/>
            <a:ext cx="276957" cy="1206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8" name="AutoShape 346"/>
          <p:cNvCxnSpPr>
            <a:cxnSpLocks noChangeShapeType="1"/>
            <a:stCxn id="30903" idx="5"/>
            <a:endCxn id="30904" idx="2"/>
          </p:cNvCxnSpPr>
          <p:nvPr/>
        </p:nvCxnSpPr>
        <p:spPr bwMode="auto">
          <a:xfrm>
            <a:off x="4651771" y="2554832"/>
            <a:ext cx="276958"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9" name="AutoShape 347"/>
          <p:cNvCxnSpPr>
            <a:cxnSpLocks noChangeShapeType="1"/>
            <a:stCxn id="30892" idx="6"/>
            <a:endCxn id="30893" idx="3"/>
          </p:cNvCxnSpPr>
          <p:nvPr/>
        </p:nvCxnSpPr>
        <p:spPr bwMode="auto">
          <a:xfrm flipV="1">
            <a:off x="2691090" y="2492920"/>
            <a:ext cx="265235" cy="2540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0" name="AutoShape 348"/>
          <p:cNvCxnSpPr>
            <a:cxnSpLocks noChangeShapeType="1"/>
            <a:stCxn id="30896" idx="7"/>
            <a:endCxn id="30902" idx="3"/>
          </p:cNvCxnSpPr>
          <p:nvPr/>
        </p:nvCxnSpPr>
        <p:spPr bwMode="auto">
          <a:xfrm flipV="1">
            <a:off x="3992347" y="2410391"/>
            <a:ext cx="281354" cy="320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1" name="AutoShape 349"/>
          <p:cNvCxnSpPr>
            <a:cxnSpLocks noChangeShapeType="1"/>
            <a:stCxn id="30904" idx="6"/>
            <a:endCxn id="30905" idx="2"/>
          </p:cNvCxnSpPr>
          <p:nvPr/>
        </p:nvCxnSpPr>
        <p:spPr bwMode="auto">
          <a:xfrm flipV="1">
            <a:off x="4996143" y="2602478"/>
            <a:ext cx="260838"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2" name="AutoShape 350"/>
          <p:cNvCxnSpPr>
            <a:cxnSpLocks noChangeShapeType="1"/>
            <a:stCxn id="30905" idx="6"/>
            <a:endCxn id="30906" idx="2"/>
          </p:cNvCxnSpPr>
          <p:nvPr/>
        </p:nvCxnSpPr>
        <p:spPr bwMode="auto">
          <a:xfrm flipV="1">
            <a:off x="5322917" y="2531041"/>
            <a:ext cx="269631"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13" name="Oval 351"/>
          <p:cNvSpPr>
            <a:spLocks noChangeArrowheads="1"/>
          </p:cNvSpPr>
          <p:nvPr/>
        </p:nvSpPr>
        <p:spPr bwMode="auto">
          <a:xfrm>
            <a:off x="5904683" y="23500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4" name="Oval 352"/>
          <p:cNvSpPr>
            <a:spLocks noChangeArrowheads="1"/>
          </p:cNvSpPr>
          <p:nvPr/>
        </p:nvSpPr>
        <p:spPr bwMode="auto">
          <a:xfrm>
            <a:off x="6237317" y="26373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5" name="Oval 353"/>
          <p:cNvSpPr>
            <a:spLocks noChangeArrowheads="1"/>
          </p:cNvSpPr>
          <p:nvPr/>
        </p:nvSpPr>
        <p:spPr bwMode="auto">
          <a:xfrm>
            <a:off x="6558239" y="24214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6" name="Oval 354"/>
          <p:cNvSpPr>
            <a:spLocks noChangeArrowheads="1"/>
          </p:cNvSpPr>
          <p:nvPr/>
        </p:nvSpPr>
        <p:spPr bwMode="auto">
          <a:xfrm>
            <a:off x="6887947" y="27818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7" name="Oval 355"/>
          <p:cNvSpPr>
            <a:spLocks noChangeArrowheads="1"/>
          </p:cNvSpPr>
          <p:nvPr/>
        </p:nvSpPr>
        <p:spPr bwMode="auto">
          <a:xfrm>
            <a:off x="7217663" y="263899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8" name="Oval 356"/>
          <p:cNvSpPr>
            <a:spLocks noChangeArrowheads="1"/>
          </p:cNvSpPr>
          <p:nvPr/>
        </p:nvSpPr>
        <p:spPr bwMode="auto">
          <a:xfrm>
            <a:off x="7551767" y="242309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919" name="AutoShape 357"/>
          <p:cNvCxnSpPr>
            <a:cxnSpLocks noChangeShapeType="1"/>
            <a:stCxn id="30906" idx="6"/>
            <a:endCxn id="30913" idx="2"/>
          </p:cNvCxnSpPr>
          <p:nvPr/>
        </p:nvCxnSpPr>
        <p:spPr bwMode="auto">
          <a:xfrm flipV="1">
            <a:off x="5658496" y="2386578"/>
            <a:ext cx="246185"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0" name="AutoShape 358"/>
          <p:cNvCxnSpPr>
            <a:cxnSpLocks noChangeShapeType="1"/>
            <a:stCxn id="30913" idx="5"/>
            <a:endCxn id="30914" idx="2"/>
          </p:cNvCxnSpPr>
          <p:nvPr/>
        </p:nvCxnSpPr>
        <p:spPr bwMode="auto">
          <a:xfrm>
            <a:off x="5960370" y="2410391"/>
            <a:ext cx="276957"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1" name="AutoShape 359"/>
          <p:cNvCxnSpPr>
            <a:cxnSpLocks noChangeShapeType="1"/>
            <a:stCxn id="30914" idx="6"/>
            <a:endCxn id="30915" idx="3"/>
          </p:cNvCxnSpPr>
          <p:nvPr/>
        </p:nvCxnSpPr>
        <p:spPr bwMode="auto">
          <a:xfrm flipV="1">
            <a:off x="6303265" y="2481807"/>
            <a:ext cx="265234"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2" name="AutoShape 360"/>
          <p:cNvCxnSpPr>
            <a:cxnSpLocks noChangeShapeType="1"/>
            <a:stCxn id="30915" idx="5"/>
            <a:endCxn id="30916" idx="1"/>
          </p:cNvCxnSpPr>
          <p:nvPr/>
        </p:nvCxnSpPr>
        <p:spPr bwMode="auto">
          <a:xfrm>
            <a:off x="6613931" y="2481807"/>
            <a:ext cx="284285"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3" name="AutoShape 361"/>
          <p:cNvCxnSpPr>
            <a:cxnSpLocks noChangeShapeType="1"/>
            <a:stCxn id="30916" idx="6"/>
            <a:endCxn id="30917" idx="2"/>
          </p:cNvCxnSpPr>
          <p:nvPr/>
        </p:nvCxnSpPr>
        <p:spPr bwMode="auto">
          <a:xfrm flipV="1">
            <a:off x="6953890" y="2675503"/>
            <a:ext cx="263769" cy="1428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24" name="Oval 362"/>
          <p:cNvSpPr>
            <a:spLocks noChangeArrowheads="1"/>
          </p:cNvSpPr>
          <p:nvPr/>
        </p:nvSpPr>
        <p:spPr bwMode="auto">
          <a:xfrm>
            <a:off x="7872689" y="263899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925" name="AutoShape 363"/>
          <p:cNvCxnSpPr>
            <a:cxnSpLocks noChangeShapeType="1"/>
            <a:stCxn id="30917" idx="7"/>
            <a:endCxn id="30918" idx="3"/>
          </p:cNvCxnSpPr>
          <p:nvPr/>
        </p:nvCxnSpPr>
        <p:spPr bwMode="auto">
          <a:xfrm flipV="1">
            <a:off x="7273346" y="2483416"/>
            <a:ext cx="288680" cy="1666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6" name="AutoShape 364"/>
          <p:cNvCxnSpPr>
            <a:cxnSpLocks noChangeShapeType="1"/>
            <a:stCxn id="30918" idx="5"/>
            <a:endCxn id="30924" idx="1"/>
          </p:cNvCxnSpPr>
          <p:nvPr/>
        </p:nvCxnSpPr>
        <p:spPr bwMode="auto">
          <a:xfrm>
            <a:off x="7607452" y="2483416"/>
            <a:ext cx="275492" cy="1666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27" name="Oval 365"/>
          <p:cNvSpPr>
            <a:spLocks noChangeArrowheads="1"/>
          </p:cNvSpPr>
          <p:nvPr/>
        </p:nvSpPr>
        <p:spPr bwMode="auto">
          <a:xfrm>
            <a:off x="3397406" y="2304007"/>
            <a:ext cx="4656992" cy="622300"/>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54" name="Text Box 39"/>
          <p:cNvSpPr txBox="1">
            <a:spLocks noChangeArrowheads="1"/>
          </p:cNvSpPr>
          <p:nvPr/>
        </p:nvSpPr>
        <p:spPr bwMode="auto">
          <a:xfrm>
            <a:off x="127731" y="76562"/>
            <a:ext cx="380007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How to view control chart</a:t>
            </a:r>
          </a:p>
        </p:txBody>
      </p:sp>
      <p:sp>
        <p:nvSpPr>
          <p:cNvPr id="53" name="Text Box 39"/>
          <p:cNvSpPr txBox="1">
            <a:spLocks noChangeArrowheads="1"/>
          </p:cNvSpPr>
          <p:nvPr/>
        </p:nvSpPr>
        <p:spPr bwMode="auto">
          <a:xfrm>
            <a:off x="6929454" y="138118"/>
            <a:ext cx="2306850"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a:t>
            </a:r>
            <a:r>
              <a:rPr lang="en-US" altLang="ko-KR" sz="1600" b="1" dirty="0">
                <a:solidFill>
                  <a:prstClr val="black"/>
                </a:solidFill>
                <a:latin typeface="맑은 고딕" pitchFamily="50" charset="-127"/>
                <a:ea typeface="맑은 고딕" pitchFamily="50" charset="-127"/>
              </a:rPr>
              <a:t>Bias to centerline</a:t>
            </a:r>
            <a:r>
              <a:rPr kumimoji="1" lang="en-US" altLang="ko-KR" sz="1600" b="1" dirty="0">
                <a:solidFill>
                  <a:prstClr val="black"/>
                </a:solidFill>
              </a:rPr>
              <a:t>(6)</a:t>
            </a:r>
          </a:p>
        </p:txBody>
      </p:sp>
      <p:sp>
        <p:nvSpPr>
          <p:cNvPr id="56"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305</a:t>
            </a:fld>
            <a:endParaRPr lang="ko-KR" altLang="en-US" sz="1200" dirty="0">
              <a:solidFill>
                <a:prstClr val="black"/>
              </a:solidFill>
            </a:endParaRPr>
          </a:p>
        </p:txBody>
      </p:sp>
    </p:spTree>
    <p:extLst>
      <p:ext uri="{BB962C8B-B14F-4D97-AF65-F5344CB8AC3E}">
        <p14:creationId xmlns:p14="http://schemas.microsoft.com/office/powerpoint/2010/main" val="2687358325"/>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ext Box 3"/>
          <p:cNvSpPr txBox="1">
            <a:spLocks noChangeArrowheads="1"/>
          </p:cNvSpPr>
          <p:nvPr/>
        </p:nvSpPr>
        <p:spPr bwMode="auto">
          <a:xfrm>
            <a:off x="762000" y="1124496"/>
            <a:ext cx="8329801" cy="592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ts val="100"/>
              </a:spcBef>
              <a:spcAft>
                <a:spcPct val="0"/>
              </a:spcAft>
            </a:pPr>
            <a:r>
              <a:rPr lang="en-US" altLang="ko-KR" sz="1600" b="1" dirty="0">
                <a:solidFill>
                  <a:prstClr val="black"/>
                </a:solidFill>
                <a:latin typeface="맑은 고딕" pitchFamily="50" charset="-127"/>
                <a:ea typeface="맑은 고딕" pitchFamily="50" charset="-127"/>
              </a:rPr>
              <a:t>-</a:t>
            </a:r>
            <a:r>
              <a:rPr lang="en-US" altLang="ko-KR" sz="1600" b="1" dirty="0" err="1">
                <a:solidFill>
                  <a:prstClr val="black"/>
                </a:solidFill>
                <a:latin typeface="맑은 고딕" pitchFamily="50" charset="-127"/>
                <a:ea typeface="맑은 고딕" pitchFamily="50" charset="-127"/>
              </a:rPr>
              <a:t>Trong</a:t>
            </a:r>
            <a:r>
              <a:rPr lang="en-US" altLang="ko-KR" sz="1600" b="1" dirty="0">
                <a:solidFill>
                  <a:prstClr val="black"/>
                </a:solidFill>
                <a:latin typeface="맑은 고딕" pitchFamily="50" charset="-127"/>
                <a:ea typeface="맑은 고딕" pitchFamily="50" charset="-127"/>
              </a:rPr>
              <a:t> 3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liên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tiếp</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nếu</a:t>
            </a:r>
            <a:r>
              <a:rPr lang="en-US" altLang="ko-KR" sz="1600" b="1" dirty="0">
                <a:solidFill>
                  <a:prstClr val="black"/>
                </a:solidFill>
                <a:latin typeface="맑은 고딕" pitchFamily="50" charset="-127"/>
                <a:ea typeface="맑은 고딕" pitchFamily="50" charset="-127"/>
              </a:rPr>
              <a:t> 2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xuất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hiện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lệch</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về</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một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phía</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khu</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vực</a:t>
            </a:r>
            <a:r>
              <a:rPr lang="en-US" altLang="ko-KR" sz="1600" b="1" dirty="0">
                <a:solidFill>
                  <a:prstClr val="black"/>
                </a:solidFill>
                <a:latin typeface="맑은 고딕" pitchFamily="50" charset="-127"/>
                <a:ea typeface="맑은 고딕" pitchFamily="50" charset="-127"/>
              </a:rPr>
              <a:t> A, </a:t>
            </a:r>
            <a:r>
              <a:rPr lang="en-US" altLang="ko-KR" sz="1600" b="1" dirty="0" err="1">
                <a:solidFill>
                  <a:prstClr val="black"/>
                </a:solidFill>
                <a:latin typeface="맑은 고딕" pitchFamily="50" charset="-127"/>
                <a:ea typeface="맑은 고딕" pitchFamily="50" charset="-127"/>
              </a:rPr>
              <a:t>hoặc</a:t>
            </a:r>
            <a:endParaRPr lang="en-US" altLang="ko-KR" sz="1600" b="1" dirty="0">
              <a:solidFill>
                <a:prstClr val="black"/>
              </a:solidFill>
              <a:latin typeface="맑은 고딕" pitchFamily="50" charset="-127"/>
              <a:ea typeface="맑은 고딕" pitchFamily="50" charset="-127"/>
            </a:endParaRPr>
          </a:p>
          <a:p>
            <a:pPr eaLnBrk="1" fontAlgn="ctr" hangingPunct="1">
              <a:spcBef>
                <a:spcPts val="100"/>
              </a:spcBef>
              <a:spcAft>
                <a:spcPct val="0"/>
              </a:spcAft>
            </a:pP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hợp</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trong</a:t>
            </a:r>
            <a:r>
              <a:rPr lang="en-US" altLang="ko-KR" sz="1600" b="1" dirty="0">
                <a:solidFill>
                  <a:prstClr val="black"/>
                </a:solidFill>
                <a:latin typeface="맑은 고딕" pitchFamily="50" charset="-127"/>
                <a:ea typeface="맑은 고딕" pitchFamily="50" charset="-127"/>
              </a:rPr>
              <a:t> 5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có</a:t>
            </a:r>
            <a:r>
              <a:rPr lang="en-US" altLang="ko-KR" sz="1600" b="1" dirty="0">
                <a:solidFill>
                  <a:prstClr val="black"/>
                </a:solidFill>
                <a:latin typeface="맑은 고딕" pitchFamily="50" charset="-127"/>
                <a:ea typeface="맑은 고딕" pitchFamily="50" charset="-127"/>
              </a:rPr>
              <a:t> 4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lệch</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về</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phía</a:t>
            </a:r>
            <a:r>
              <a:rPr lang="en-US" altLang="ko-KR" sz="1600" b="1" dirty="0">
                <a:solidFill>
                  <a:prstClr val="black"/>
                </a:solidFill>
                <a:latin typeface="맑은 고딕" pitchFamily="50" charset="-127"/>
                <a:ea typeface="맑은 고딕" pitchFamily="50" charset="-127"/>
              </a:rPr>
              <a:t> B </a:t>
            </a:r>
            <a:r>
              <a:rPr lang="en-US" altLang="ko-KR" sz="1600" b="1" dirty="0" err="1">
                <a:solidFill>
                  <a:prstClr val="black"/>
                </a:solidFill>
                <a:latin typeface="맑은 고딕" pitchFamily="50" charset="-127"/>
                <a:ea typeface="맑은 고딕" pitchFamily="50" charset="-127"/>
              </a:rPr>
              <a:t>hoặc</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hơn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từ</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trung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tâm</a:t>
            </a:r>
            <a:endParaRPr lang="ko-KR" altLang="en-US" sz="1600" b="1" dirty="0">
              <a:solidFill>
                <a:prstClr val="black"/>
              </a:solidFill>
              <a:latin typeface="맑은 고딕" pitchFamily="50" charset="-127"/>
              <a:ea typeface="맑은 고딕" pitchFamily="50" charset="-127"/>
            </a:endParaRPr>
          </a:p>
        </p:txBody>
      </p:sp>
      <p:graphicFrame>
        <p:nvGraphicFramePr>
          <p:cNvPr id="4" name="Group 842"/>
          <p:cNvGraphicFramePr>
            <a:graphicFrameLocks noGrp="1"/>
          </p:cNvGraphicFramePr>
          <p:nvPr>
            <p:extLst>
              <p:ext uri="{D42A27DB-BD31-4B8C-83A1-F6EECF244321}">
                <p14:modId xmlns:p14="http://schemas.microsoft.com/office/powerpoint/2010/main" val="2839267875"/>
              </p:ext>
            </p:extLst>
          </p:nvPr>
        </p:nvGraphicFramePr>
        <p:xfrm>
          <a:off x="1380403" y="2032545"/>
          <a:ext cx="6780336" cy="1658940"/>
        </p:xfrm>
        <a:graphic>
          <a:graphicData uri="http://schemas.openxmlformats.org/drawingml/2006/table">
            <a:tbl>
              <a:tblPr/>
              <a:tblGrid>
                <a:gridCol w="523143">
                  <a:extLst>
                    <a:ext uri="{9D8B030D-6E8A-4147-A177-3AD203B41FA5}">
                      <a16:colId xmlns:a16="http://schemas.microsoft.com/office/drawing/2014/main" val="20000"/>
                    </a:ext>
                  </a:extLst>
                </a:gridCol>
                <a:gridCol w="520211">
                  <a:extLst>
                    <a:ext uri="{9D8B030D-6E8A-4147-A177-3AD203B41FA5}">
                      <a16:colId xmlns:a16="http://schemas.microsoft.com/office/drawing/2014/main" val="20001"/>
                    </a:ext>
                  </a:extLst>
                </a:gridCol>
                <a:gridCol w="523143">
                  <a:extLst>
                    <a:ext uri="{9D8B030D-6E8A-4147-A177-3AD203B41FA5}">
                      <a16:colId xmlns:a16="http://schemas.microsoft.com/office/drawing/2014/main" val="20002"/>
                    </a:ext>
                  </a:extLst>
                </a:gridCol>
                <a:gridCol w="521677">
                  <a:extLst>
                    <a:ext uri="{9D8B030D-6E8A-4147-A177-3AD203B41FA5}">
                      <a16:colId xmlns:a16="http://schemas.microsoft.com/office/drawing/2014/main" val="20003"/>
                    </a:ext>
                  </a:extLst>
                </a:gridCol>
                <a:gridCol w="521677">
                  <a:extLst>
                    <a:ext uri="{9D8B030D-6E8A-4147-A177-3AD203B41FA5}">
                      <a16:colId xmlns:a16="http://schemas.microsoft.com/office/drawing/2014/main" val="20004"/>
                    </a:ext>
                  </a:extLst>
                </a:gridCol>
                <a:gridCol w="521677">
                  <a:extLst>
                    <a:ext uri="{9D8B030D-6E8A-4147-A177-3AD203B41FA5}">
                      <a16:colId xmlns:a16="http://schemas.microsoft.com/office/drawing/2014/main" val="20005"/>
                    </a:ext>
                  </a:extLst>
                </a:gridCol>
                <a:gridCol w="523142">
                  <a:extLst>
                    <a:ext uri="{9D8B030D-6E8A-4147-A177-3AD203B41FA5}">
                      <a16:colId xmlns:a16="http://schemas.microsoft.com/office/drawing/2014/main" val="20006"/>
                    </a:ext>
                  </a:extLst>
                </a:gridCol>
                <a:gridCol w="520212">
                  <a:extLst>
                    <a:ext uri="{9D8B030D-6E8A-4147-A177-3AD203B41FA5}">
                      <a16:colId xmlns:a16="http://schemas.microsoft.com/office/drawing/2014/main" val="20007"/>
                    </a:ext>
                  </a:extLst>
                </a:gridCol>
                <a:gridCol w="523142">
                  <a:extLst>
                    <a:ext uri="{9D8B030D-6E8A-4147-A177-3AD203B41FA5}">
                      <a16:colId xmlns:a16="http://schemas.microsoft.com/office/drawing/2014/main" val="20008"/>
                    </a:ext>
                  </a:extLst>
                </a:gridCol>
                <a:gridCol w="518746">
                  <a:extLst>
                    <a:ext uri="{9D8B030D-6E8A-4147-A177-3AD203B41FA5}">
                      <a16:colId xmlns:a16="http://schemas.microsoft.com/office/drawing/2014/main" val="20009"/>
                    </a:ext>
                  </a:extLst>
                </a:gridCol>
                <a:gridCol w="521677">
                  <a:extLst>
                    <a:ext uri="{9D8B030D-6E8A-4147-A177-3AD203B41FA5}">
                      <a16:colId xmlns:a16="http://schemas.microsoft.com/office/drawing/2014/main" val="20010"/>
                    </a:ext>
                  </a:extLst>
                </a:gridCol>
                <a:gridCol w="521677">
                  <a:extLst>
                    <a:ext uri="{9D8B030D-6E8A-4147-A177-3AD203B41FA5}">
                      <a16:colId xmlns:a16="http://schemas.microsoft.com/office/drawing/2014/main" val="20011"/>
                    </a:ext>
                  </a:extLst>
                </a:gridCol>
                <a:gridCol w="520212">
                  <a:extLst>
                    <a:ext uri="{9D8B030D-6E8A-4147-A177-3AD203B41FA5}">
                      <a16:colId xmlns:a16="http://schemas.microsoft.com/office/drawing/2014/main" val="20012"/>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A</a:t>
                      </a:r>
                    </a:p>
                  </a:txBody>
                  <a:tcPr marL="83077" marR="83077" marT="46802" marB="46802" anchor="ct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29797" name="Oval 582"/>
          <p:cNvSpPr>
            <a:spLocks noChangeArrowheads="1"/>
          </p:cNvSpPr>
          <p:nvPr/>
        </p:nvSpPr>
        <p:spPr bwMode="auto">
          <a:xfrm>
            <a:off x="2111620" y="26500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798" name="Oval 583"/>
          <p:cNvSpPr>
            <a:spLocks noChangeArrowheads="1"/>
          </p:cNvSpPr>
          <p:nvPr/>
        </p:nvSpPr>
        <p:spPr bwMode="auto">
          <a:xfrm>
            <a:off x="2643557" y="29390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799" name="Oval 584"/>
          <p:cNvSpPr>
            <a:spLocks noChangeArrowheads="1"/>
          </p:cNvSpPr>
          <p:nvPr/>
        </p:nvSpPr>
        <p:spPr bwMode="auto">
          <a:xfrm>
            <a:off x="3175489" y="32596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0" name="Oval 585"/>
          <p:cNvSpPr>
            <a:spLocks noChangeArrowheads="1"/>
          </p:cNvSpPr>
          <p:nvPr/>
        </p:nvSpPr>
        <p:spPr bwMode="auto">
          <a:xfrm>
            <a:off x="3707429" y="354702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1" name="Oval 586"/>
          <p:cNvSpPr>
            <a:spLocks noChangeArrowheads="1"/>
          </p:cNvSpPr>
          <p:nvPr/>
        </p:nvSpPr>
        <p:spPr bwMode="auto">
          <a:xfrm>
            <a:off x="4239358" y="3547026"/>
            <a:ext cx="67408"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2" name="Oval 587"/>
          <p:cNvSpPr>
            <a:spLocks noChangeArrowheads="1"/>
          </p:cNvSpPr>
          <p:nvPr/>
        </p:nvSpPr>
        <p:spPr bwMode="auto">
          <a:xfrm>
            <a:off x="4771292" y="29390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03" name="Oval 588"/>
          <p:cNvSpPr>
            <a:spLocks noChangeArrowheads="1"/>
          </p:cNvSpPr>
          <p:nvPr/>
        </p:nvSpPr>
        <p:spPr bwMode="auto">
          <a:xfrm>
            <a:off x="5303231" y="26500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9804" name="AutoShape 589"/>
          <p:cNvCxnSpPr>
            <a:cxnSpLocks noChangeShapeType="1"/>
            <a:stCxn id="29797" idx="5"/>
            <a:endCxn id="29798" idx="1"/>
          </p:cNvCxnSpPr>
          <p:nvPr/>
        </p:nvCxnSpPr>
        <p:spPr bwMode="auto">
          <a:xfrm>
            <a:off x="2167304" y="2710428"/>
            <a:ext cx="486508"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5" name="AutoShape 590"/>
          <p:cNvCxnSpPr>
            <a:cxnSpLocks noChangeShapeType="1"/>
            <a:stCxn id="29798" idx="6"/>
          </p:cNvCxnSpPr>
          <p:nvPr/>
        </p:nvCxnSpPr>
        <p:spPr bwMode="auto">
          <a:xfrm>
            <a:off x="2709497" y="2973932"/>
            <a:ext cx="465992" cy="3048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6" name="AutoShape 592"/>
          <p:cNvCxnSpPr>
            <a:cxnSpLocks noChangeShapeType="1"/>
            <a:stCxn id="29800" idx="6"/>
            <a:endCxn id="29801" idx="1"/>
          </p:cNvCxnSpPr>
          <p:nvPr/>
        </p:nvCxnSpPr>
        <p:spPr bwMode="auto">
          <a:xfrm flipV="1">
            <a:off x="3773366" y="3558132"/>
            <a:ext cx="476250" cy="254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7" name="AutoShape 593"/>
          <p:cNvCxnSpPr>
            <a:cxnSpLocks noChangeShapeType="1"/>
            <a:stCxn id="29801" idx="6"/>
            <a:endCxn id="29802" idx="2"/>
          </p:cNvCxnSpPr>
          <p:nvPr/>
        </p:nvCxnSpPr>
        <p:spPr bwMode="auto">
          <a:xfrm flipV="1">
            <a:off x="4306767" y="2973932"/>
            <a:ext cx="464526" cy="6096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08" name="AutoShape 594"/>
          <p:cNvCxnSpPr>
            <a:cxnSpLocks noChangeShapeType="1"/>
            <a:stCxn id="29802" idx="7"/>
            <a:endCxn id="29803" idx="2"/>
          </p:cNvCxnSpPr>
          <p:nvPr/>
        </p:nvCxnSpPr>
        <p:spPr bwMode="auto">
          <a:xfrm flipV="1">
            <a:off x="4826977" y="2686616"/>
            <a:ext cx="476250"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09" name="Oval 675"/>
          <p:cNvSpPr>
            <a:spLocks noChangeArrowheads="1"/>
          </p:cNvSpPr>
          <p:nvPr/>
        </p:nvSpPr>
        <p:spPr bwMode="auto">
          <a:xfrm>
            <a:off x="5767757" y="23611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0" name="Oval 676"/>
          <p:cNvSpPr>
            <a:spLocks noChangeArrowheads="1"/>
          </p:cNvSpPr>
          <p:nvPr/>
        </p:nvSpPr>
        <p:spPr bwMode="auto">
          <a:xfrm>
            <a:off x="6299689" y="242783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1" name="Oval 677"/>
          <p:cNvSpPr>
            <a:spLocks noChangeArrowheads="1"/>
          </p:cNvSpPr>
          <p:nvPr/>
        </p:nvSpPr>
        <p:spPr bwMode="auto">
          <a:xfrm>
            <a:off x="6831629" y="272154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2" name="Oval 678"/>
          <p:cNvSpPr>
            <a:spLocks noChangeArrowheads="1"/>
          </p:cNvSpPr>
          <p:nvPr/>
        </p:nvSpPr>
        <p:spPr bwMode="auto">
          <a:xfrm>
            <a:off x="7363558" y="236115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13" name="Oval 679"/>
          <p:cNvSpPr>
            <a:spLocks noChangeArrowheads="1"/>
          </p:cNvSpPr>
          <p:nvPr/>
        </p:nvSpPr>
        <p:spPr bwMode="auto">
          <a:xfrm>
            <a:off x="7895492" y="236115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29814" name="AutoShape 682"/>
          <p:cNvCxnSpPr>
            <a:cxnSpLocks noChangeShapeType="1"/>
            <a:stCxn id="29809" idx="6"/>
            <a:endCxn id="29810" idx="2"/>
          </p:cNvCxnSpPr>
          <p:nvPr/>
        </p:nvCxnSpPr>
        <p:spPr bwMode="auto">
          <a:xfrm>
            <a:off x="5833697" y="2397691"/>
            <a:ext cx="465992" cy="66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5" name="AutoShape 683"/>
          <p:cNvCxnSpPr>
            <a:cxnSpLocks noChangeShapeType="1"/>
            <a:stCxn id="29810" idx="5"/>
            <a:endCxn id="29811" idx="2"/>
          </p:cNvCxnSpPr>
          <p:nvPr/>
        </p:nvCxnSpPr>
        <p:spPr bwMode="auto">
          <a:xfrm>
            <a:off x="6355374" y="2488178"/>
            <a:ext cx="476250" cy="2698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16" name="Text Box 2"/>
          <p:cNvSpPr txBox="1">
            <a:spLocks noChangeArrowheads="1"/>
          </p:cNvSpPr>
          <p:nvPr/>
        </p:nvSpPr>
        <p:spPr bwMode="auto">
          <a:xfrm>
            <a:off x="783982" y="692696"/>
            <a:ext cx="4059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en-US" altLang="ko-KR" b="1" dirty="0" err="1">
                <a:solidFill>
                  <a:prstClr val="black"/>
                </a:solidFill>
                <a:latin typeface="맑은 고딕" pitchFamily="50" charset="-127"/>
                <a:ea typeface="맑은 고딕" pitchFamily="50" charset="-127"/>
              </a:rPr>
              <a:t>Tiếp</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giáp</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với</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giới</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hạn</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quản</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lý</a:t>
            </a:r>
            <a:r>
              <a:rPr lang="en-US" altLang="ko-KR" b="1" dirty="0">
                <a:solidFill>
                  <a:prstClr val="black"/>
                </a:solidFill>
                <a:latin typeface="맑은 고딕" pitchFamily="50" charset="-127"/>
                <a:ea typeface="맑은 고딕" pitchFamily="50" charset="-127"/>
              </a:rPr>
              <a:t> &gt;</a:t>
            </a:r>
            <a:endParaRPr lang="ko-KR" altLang="en-US" b="1" dirty="0">
              <a:solidFill>
                <a:prstClr val="black"/>
              </a:solidFill>
              <a:latin typeface="맑은 고딕" pitchFamily="50" charset="-127"/>
              <a:ea typeface="맑은 고딕" pitchFamily="50" charset="-127"/>
            </a:endParaRPr>
          </a:p>
        </p:txBody>
      </p:sp>
      <p:cxnSp>
        <p:nvCxnSpPr>
          <p:cNvPr id="29817" name="AutoShape 789"/>
          <p:cNvCxnSpPr>
            <a:cxnSpLocks noChangeShapeType="1"/>
            <a:stCxn id="29799" idx="6"/>
            <a:endCxn id="29800" idx="2"/>
          </p:cNvCxnSpPr>
          <p:nvPr/>
        </p:nvCxnSpPr>
        <p:spPr bwMode="auto">
          <a:xfrm>
            <a:off x="3241431" y="3294616"/>
            <a:ext cx="465992" cy="2889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8" name="AutoShape 790"/>
          <p:cNvCxnSpPr>
            <a:cxnSpLocks noChangeShapeType="1"/>
            <a:stCxn id="29803" idx="7"/>
            <a:endCxn id="29809" idx="3"/>
          </p:cNvCxnSpPr>
          <p:nvPr/>
        </p:nvCxnSpPr>
        <p:spPr bwMode="auto">
          <a:xfrm flipV="1">
            <a:off x="5358912" y="2421503"/>
            <a:ext cx="419100" cy="23971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19" name="AutoShape 791"/>
          <p:cNvCxnSpPr>
            <a:cxnSpLocks noChangeShapeType="1"/>
            <a:stCxn id="29811" idx="7"/>
            <a:endCxn id="29812" idx="2"/>
          </p:cNvCxnSpPr>
          <p:nvPr/>
        </p:nvCxnSpPr>
        <p:spPr bwMode="auto">
          <a:xfrm flipV="1">
            <a:off x="6887308" y="2397670"/>
            <a:ext cx="476250" cy="3349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29820" name="AutoShape 798"/>
          <p:cNvCxnSpPr>
            <a:cxnSpLocks noChangeShapeType="1"/>
            <a:stCxn id="29812" idx="6"/>
            <a:endCxn id="29813" idx="2"/>
          </p:cNvCxnSpPr>
          <p:nvPr/>
        </p:nvCxnSpPr>
        <p:spPr bwMode="auto">
          <a:xfrm>
            <a:off x="7430967" y="2397670"/>
            <a:ext cx="464526"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29821" name="Text Box 799"/>
          <p:cNvSpPr txBox="1">
            <a:spLocks noChangeArrowheads="1"/>
          </p:cNvSpPr>
          <p:nvPr/>
        </p:nvSpPr>
        <p:spPr bwMode="auto">
          <a:xfrm>
            <a:off x="827955" y="1889671"/>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29822" name="Text Box 800"/>
          <p:cNvSpPr txBox="1">
            <a:spLocks noChangeArrowheads="1"/>
          </p:cNvSpPr>
          <p:nvPr/>
        </p:nvSpPr>
        <p:spPr bwMode="auto">
          <a:xfrm>
            <a:off x="827943" y="347399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29823" name="AutoShape 802"/>
          <p:cNvSpPr>
            <a:spLocks noChangeArrowheads="1"/>
          </p:cNvSpPr>
          <p:nvPr/>
        </p:nvSpPr>
        <p:spPr bwMode="auto">
          <a:xfrm>
            <a:off x="783988" y="4486275"/>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endParaRPr lang="ko-KR" altLang="en-US" sz="1600" b="1" dirty="0">
              <a:solidFill>
                <a:prstClr val="black"/>
              </a:solidFill>
              <a:latin typeface="맑은 고딕" pitchFamily="50" charset="-127"/>
              <a:ea typeface="맑은 고딕" pitchFamily="50" charset="-127"/>
            </a:endParaRPr>
          </a:p>
        </p:txBody>
      </p:sp>
      <p:sp>
        <p:nvSpPr>
          <p:cNvPr id="29824" name="Oval 803"/>
          <p:cNvSpPr>
            <a:spLocks noChangeArrowheads="1"/>
          </p:cNvSpPr>
          <p:nvPr/>
        </p:nvSpPr>
        <p:spPr bwMode="auto">
          <a:xfrm>
            <a:off x="5634415" y="2227807"/>
            <a:ext cx="2593731" cy="622300"/>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29825" name="Text Box 804"/>
          <p:cNvSpPr txBox="1">
            <a:spLocks noChangeArrowheads="1"/>
          </p:cNvSpPr>
          <p:nvPr/>
        </p:nvSpPr>
        <p:spPr bwMode="auto">
          <a:xfrm>
            <a:off x="896817" y="2681832"/>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graphicFrame>
        <p:nvGraphicFramePr>
          <p:cNvPr id="34" name="Group 843"/>
          <p:cNvGraphicFramePr>
            <a:graphicFrameLocks noGrp="1"/>
          </p:cNvGraphicFramePr>
          <p:nvPr/>
        </p:nvGraphicFramePr>
        <p:xfrm>
          <a:off x="849923" y="4918096"/>
          <a:ext cx="7297615" cy="1680720"/>
        </p:xfrm>
        <a:graphic>
          <a:graphicData uri="http://schemas.openxmlformats.org/drawingml/2006/table">
            <a:tbl>
              <a:tblPr/>
              <a:tblGrid>
                <a:gridCol w="1060938">
                  <a:extLst>
                    <a:ext uri="{9D8B030D-6E8A-4147-A177-3AD203B41FA5}">
                      <a16:colId xmlns:a16="http://schemas.microsoft.com/office/drawing/2014/main" val="20000"/>
                    </a:ext>
                  </a:extLst>
                </a:gridCol>
                <a:gridCol w="6236677">
                  <a:extLst>
                    <a:ext uri="{9D8B030D-6E8A-4147-A177-3AD203B41FA5}">
                      <a16:colId xmlns:a16="http://schemas.microsoft.com/office/drawing/2014/main" val="20001"/>
                    </a:ext>
                  </a:extLst>
                </a:gridCol>
              </a:tblGrid>
              <a:tr h="66833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Sai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sót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của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kỹ</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thuật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do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có</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sự</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đào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tạo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động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độ</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do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trang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phù</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vật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liệu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cách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do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nhiều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nhà</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cung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cấp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Linh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kiện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tiêu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sai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sót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dụng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tiêu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a:t>
                      </a: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xbar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Cùng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nguyên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với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đồ</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lý</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R</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9839" name="Oval 803"/>
          <p:cNvSpPr>
            <a:spLocks noChangeArrowheads="1"/>
          </p:cNvSpPr>
          <p:nvPr/>
        </p:nvSpPr>
        <p:spPr bwMode="auto">
          <a:xfrm>
            <a:off x="2778380" y="3186660"/>
            <a:ext cx="1802423" cy="612775"/>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8" name="Text Box 514"/>
          <p:cNvSpPr txBox="1">
            <a:spLocks noChangeArrowheads="1"/>
          </p:cNvSpPr>
          <p:nvPr/>
        </p:nvSpPr>
        <p:spPr bwMode="auto">
          <a:xfrm>
            <a:off x="6292173" y="3789043"/>
            <a:ext cx="202010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kumimoji="1" lang="en-US" altLang="ko-KR" sz="1200" b="1" dirty="0">
                <a:solidFill>
                  <a:srgbClr val="C00000"/>
                </a:solidFill>
                <a:ea typeface="굴림" pitchFamily="50" charset="-127"/>
              </a:rPr>
              <a:t>=0.00134 </a:t>
            </a:r>
            <a:r>
              <a:rPr kumimoji="1" lang="en-US" altLang="ko-KR" sz="1200" b="1" dirty="0">
                <a:solidFill>
                  <a:srgbClr val="C00000"/>
                </a:solidFill>
                <a:ea typeface="굴림" pitchFamily="50" charset="-127"/>
                <a:sym typeface="Wingdings" pitchFamily="2" charset="2"/>
              </a:rPr>
              <a:t> 0.134% </a:t>
            </a:r>
            <a:r>
              <a:rPr kumimoji="1" lang="en-US" altLang="ko-KR" sz="1200" b="1" dirty="0" err="1">
                <a:solidFill>
                  <a:srgbClr val="C00000"/>
                </a:solidFill>
                <a:ea typeface="굴림" pitchFamily="50" charset="-127"/>
                <a:sym typeface="Wingdings" pitchFamily="2" charset="2"/>
              </a:rPr>
              <a:t>tỉ</a:t>
            </a:r>
            <a:r>
              <a:rPr kumimoji="1" lang="en-US" altLang="ko-KR" sz="1200" b="1" dirty="0">
                <a:solidFill>
                  <a:srgbClr val="C00000"/>
                </a:solidFill>
                <a:ea typeface="굴림" pitchFamily="50" charset="-127"/>
                <a:sym typeface="Wingdings" pitchFamily="2" charset="2"/>
              </a:rPr>
              <a:t> </a:t>
            </a:r>
            <a:r>
              <a:rPr kumimoji="1" lang="en-US" altLang="ko-KR" sz="1200" b="1" dirty="0" err="1">
                <a:solidFill>
                  <a:srgbClr val="C00000"/>
                </a:solidFill>
                <a:ea typeface="굴림" pitchFamily="50" charset="-127"/>
                <a:sym typeface="Wingdings" pitchFamily="2" charset="2"/>
              </a:rPr>
              <a:t>lệ</a:t>
            </a:r>
            <a:endParaRPr kumimoji="1" lang="ko-KR" altLang="en-US" sz="1200" b="1" dirty="0">
              <a:solidFill>
                <a:srgbClr val="C00000"/>
              </a:solidFill>
              <a:ea typeface="굴림" pitchFamily="50" charset="-127"/>
            </a:endParaRPr>
          </a:p>
        </p:txBody>
      </p:sp>
      <p:sp>
        <p:nvSpPr>
          <p:cNvPr id="41" name="Text Box 39"/>
          <p:cNvSpPr txBox="1">
            <a:spLocks noChangeArrowheads="1"/>
          </p:cNvSpPr>
          <p:nvPr/>
        </p:nvSpPr>
        <p:spPr bwMode="auto">
          <a:xfrm>
            <a:off x="127731" y="76562"/>
            <a:ext cx="6042936"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Đánh</a:t>
            </a:r>
            <a:r>
              <a:rPr kumimoji="1" lang="en-US" altLang="ko-KR" sz="2000" b="1" dirty="0">
                <a:solidFill>
                  <a:prstClr val="black"/>
                </a:solidFill>
              </a:rPr>
              <a:t> </a:t>
            </a:r>
            <a:r>
              <a:rPr kumimoji="1" lang="en-US" altLang="ko-KR" sz="2000" b="1" dirty="0" err="1">
                <a:solidFill>
                  <a:prstClr val="black"/>
                </a:solidFill>
              </a:rPr>
              <a:t>giá</a:t>
            </a:r>
            <a:r>
              <a:rPr kumimoji="1" lang="en-US" altLang="ko-KR" sz="2000" b="1" dirty="0">
                <a:solidFill>
                  <a:prstClr val="black"/>
                </a:solidFill>
              </a:rPr>
              <a:t> </a:t>
            </a:r>
            <a:r>
              <a:rPr kumimoji="1" lang="en-US" altLang="ko-KR" sz="2000" b="1" dirty="0" err="1">
                <a:solidFill>
                  <a:prstClr val="black"/>
                </a:solidFill>
              </a:rPr>
              <a:t>và</a:t>
            </a:r>
            <a:r>
              <a:rPr kumimoji="1" lang="en-US" altLang="ko-KR" sz="2000" b="1" dirty="0">
                <a:solidFill>
                  <a:prstClr val="black"/>
                </a:solidFill>
              </a:rPr>
              <a:t> </a:t>
            </a:r>
            <a:r>
              <a:rPr kumimoji="1" lang="en-US" altLang="ko-KR" sz="2000" b="1" dirty="0" err="1">
                <a:solidFill>
                  <a:prstClr val="black"/>
                </a:solidFill>
              </a:rPr>
              <a:t>giải</a:t>
            </a:r>
            <a:r>
              <a:rPr kumimoji="1" lang="en-US" altLang="ko-KR" sz="2000" b="1" dirty="0">
                <a:solidFill>
                  <a:prstClr val="black"/>
                </a:solidFill>
              </a:rPr>
              <a:t> </a:t>
            </a:r>
            <a:r>
              <a:rPr kumimoji="1" lang="en-US" altLang="ko-KR" sz="2000" b="1" dirty="0" err="1">
                <a:solidFill>
                  <a:prstClr val="black"/>
                </a:solidFill>
              </a:rPr>
              <a:t>thích</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r>
              <a:rPr kumimoji="1" lang="ko-KR" altLang="en-US" sz="2000" b="1" dirty="0">
                <a:solidFill>
                  <a:prstClr val="black"/>
                </a:solidFill>
              </a:rPr>
              <a:t> </a:t>
            </a:r>
            <a:r>
              <a:rPr kumimoji="1" lang="en-US" altLang="ko-KR" sz="2000" b="1" dirty="0">
                <a:solidFill>
                  <a:prstClr val="black"/>
                </a:solidFill>
              </a:rPr>
              <a:t>(</a:t>
            </a:r>
            <a:r>
              <a:rPr kumimoji="1" lang="en-US" altLang="ko-KR" sz="2000" b="1" dirty="0" err="1">
                <a:solidFill>
                  <a:prstClr val="black"/>
                </a:solidFill>
              </a:rPr>
              <a:t>cụ</a:t>
            </a:r>
            <a:r>
              <a:rPr kumimoji="1" lang="en-US" altLang="ko-KR" sz="2000" b="1" dirty="0">
                <a:solidFill>
                  <a:prstClr val="black"/>
                </a:solidFill>
              </a:rPr>
              <a:t> </a:t>
            </a:r>
            <a:r>
              <a:rPr kumimoji="1" lang="en-US" altLang="ko-KR" sz="2000" b="1" dirty="0" err="1">
                <a:solidFill>
                  <a:prstClr val="black"/>
                </a:solidFill>
              </a:rPr>
              <a:t>thể</a:t>
            </a:r>
            <a:r>
              <a:rPr kumimoji="1" lang="en-US" altLang="ko-KR" sz="2000" b="1" dirty="0">
                <a:solidFill>
                  <a:prstClr val="black"/>
                </a:solidFill>
              </a:rPr>
              <a:t>)</a:t>
            </a:r>
          </a:p>
        </p:txBody>
      </p:sp>
      <p:sp>
        <p:nvSpPr>
          <p:cNvPr id="42" name="Text Box 39"/>
          <p:cNvSpPr txBox="1">
            <a:spLocks noChangeArrowheads="1"/>
          </p:cNvSpPr>
          <p:nvPr/>
        </p:nvSpPr>
        <p:spPr bwMode="auto">
          <a:xfrm>
            <a:off x="6019800" y="138118"/>
            <a:ext cx="3220753"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a:t>
            </a:r>
            <a:r>
              <a:rPr kumimoji="1" lang="en-US" altLang="ko-KR" sz="1600" b="1" dirty="0" err="1">
                <a:solidFill>
                  <a:prstClr val="black"/>
                </a:solidFill>
              </a:rPr>
              <a:t>Tiếp</a:t>
            </a:r>
            <a:r>
              <a:rPr kumimoji="1" lang="en-US" altLang="ko-KR" sz="1600" b="1" dirty="0">
                <a:solidFill>
                  <a:prstClr val="black"/>
                </a:solidFill>
              </a:rPr>
              <a:t> </a:t>
            </a:r>
            <a:r>
              <a:rPr kumimoji="1" lang="en-US" altLang="ko-KR" sz="1600" b="1" dirty="0" err="1">
                <a:solidFill>
                  <a:prstClr val="black"/>
                </a:solidFill>
              </a:rPr>
              <a:t>giáp</a:t>
            </a:r>
            <a:r>
              <a:rPr kumimoji="1" lang="en-US" altLang="ko-KR" sz="1600" b="1" dirty="0">
                <a:solidFill>
                  <a:prstClr val="black"/>
                </a:solidFill>
              </a:rPr>
              <a:t> </a:t>
            </a:r>
            <a:r>
              <a:rPr kumimoji="1" lang="en-US" altLang="ko-KR" sz="1600" b="1" dirty="0" err="1">
                <a:solidFill>
                  <a:prstClr val="black"/>
                </a:solidFill>
              </a:rPr>
              <a:t>giới</a:t>
            </a:r>
            <a:r>
              <a:rPr kumimoji="1" lang="en-US" altLang="ko-KR" sz="1600" b="1" dirty="0">
                <a:solidFill>
                  <a:prstClr val="black"/>
                </a:solidFill>
              </a:rPr>
              <a:t> </a:t>
            </a:r>
            <a:r>
              <a:rPr kumimoji="1" lang="en-US" altLang="ko-KR" sz="1600" b="1" dirty="0" err="1">
                <a:solidFill>
                  <a:prstClr val="black"/>
                </a:solidFill>
              </a:rPr>
              <a:t>hạn</a:t>
            </a:r>
            <a:r>
              <a:rPr kumimoji="1" lang="en-US" altLang="ko-KR" sz="1600" b="1" dirty="0">
                <a:solidFill>
                  <a:prstClr val="black"/>
                </a:solidFill>
              </a:rPr>
              <a:t> </a:t>
            </a:r>
            <a:r>
              <a:rPr kumimoji="1" lang="en-US" altLang="ko-KR" sz="1600" b="1" dirty="0" err="1">
                <a:solidFill>
                  <a:prstClr val="black"/>
                </a:solidFill>
              </a:rPr>
              <a:t>quản</a:t>
            </a:r>
            <a:r>
              <a:rPr kumimoji="1" lang="en-US" altLang="ko-KR" sz="1600" b="1" dirty="0">
                <a:solidFill>
                  <a:prstClr val="black"/>
                </a:solidFill>
              </a:rPr>
              <a:t> </a:t>
            </a:r>
            <a:r>
              <a:rPr kumimoji="1" lang="en-US" altLang="ko-KR" sz="1600" b="1" dirty="0" err="1">
                <a:solidFill>
                  <a:prstClr val="black"/>
                </a:solidFill>
              </a:rPr>
              <a:t>lý</a:t>
            </a:r>
            <a:r>
              <a:rPr kumimoji="1" lang="en-US" altLang="ko-KR" sz="1600" b="1" dirty="0">
                <a:solidFill>
                  <a:prstClr val="black"/>
                </a:solidFill>
              </a:rPr>
              <a:t>(5)</a:t>
            </a:r>
          </a:p>
        </p:txBody>
      </p:sp>
      <p:sp>
        <p:nvSpPr>
          <p:cNvPr id="4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306</a:t>
            </a:fld>
            <a:endParaRPr lang="ko-KR" altLang="en-US" sz="1200" dirty="0">
              <a:solidFill>
                <a:prstClr val="black"/>
              </a:solidFill>
            </a:endParaRPr>
          </a:p>
        </p:txBody>
      </p:sp>
    </p:spTree>
    <p:extLst>
      <p:ext uri="{BB962C8B-B14F-4D97-AF65-F5344CB8AC3E}">
        <p14:creationId xmlns:p14="http://schemas.microsoft.com/office/powerpoint/2010/main" val="1903474308"/>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Group 736"/>
          <p:cNvGraphicFramePr>
            <a:graphicFrameLocks noGrp="1"/>
          </p:cNvGraphicFramePr>
          <p:nvPr>
            <p:extLst>
              <p:ext uri="{D42A27DB-BD31-4B8C-83A1-F6EECF244321}">
                <p14:modId xmlns:p14="http://schemas.microsoft.com/office/powerpoint/2010/main" val="1971060385"/>
              </p:ext>
            </p:extLst>
          </p:nvPr>
        </p:nvGraphicFramePr>
        <p:xfrm>
          <a:off x="1139244" y="1998660"/>
          <a:ext cx="6929801" cy="1658940"/>
        </p:xfrm>
        <a:graphic>
          <a:graphicData uri="http://schemas.openxmlformats.org/drawingml/2006/table">
            <a:tbl>
              <a:tblPr/>
              <a:tblGrid>
                <a:gridCol w="693127">
                  <a:extLst>
                    <a:ext uri="{9D8B030D-6E8A-4147-A177-3AD203B41FA5}">
                      <a16:colId xmlns:a16="http://schemas.microsoft.com/office/drawing/2014/main" val="20000"/>
                    </a:ext>
                  </a:extLst>
                </a:gridCol>
                <a:gridCol w="328246">
                  <a:extLst>
                    <a:ext uri="{9D8B030D-6E8A-4147-A177-3AD203B41FA5}">
                      <a16:colId xmlns:a16="http://schemas.microsoft.com/office/drawing/2014/main" val="20001"/>
                    </a:ext>
                  </a:extLst>
                </a:gridCol>
                <a:gridCol w="328246">
                  <a:extLst>
                    <a:ext uri="{9D8B030D-6E8A-4147-A177-3AD203B41FA5}">
                      <a16:colId xmlns:a16="http://schemas.microsoft.com/office/drawing/2014/main" val="20002"/>
                    </a:ext>
                  </a:extLst>
                </a:gridCol>
                <a:gridCol w="328246">
                  <a:extLst>
                    <a:ext uri="{9D8B030D-6E8A-4147-A177-3AD203B41FA5}">
                      <a16:colId xmlns:a16="http://schemas.microsoft.com/office/drawing/2014/main" val="20003"/>
                    </a:ext>
                  </a:extLst>
                </a:gridCol>
                <a:gridCol w="328246">
                  <a:extLst>
                    <a:ext uri="{9D8B030D-6E8A-4147-A177-3AD203B41FA5}">
                      <a16:colId xmlns:a16="http://schemas.microsoft.com/office/drawing/2014/main" val="20004"/>
                    </a:ext>
                  </a:extLst>
                </a:gridCol>
                <a:gridCol w="329711">
                  <a:extLst>
                    <a:ext uri="{9D8B030D-6E8A-4147-A177-3AD203B41FA5}">
                      <a16:colId xmlns:a16="http://schemas.microsoft.com/office/drawing/2014/main" val="20005"/>
                    </a:ext>
                  </a:extLst>
                </a:gridCol>
                <a:gridCol w="326781">
                  <a:extLst>
                    <a:ext uri="{9D8B030D-6E8A-4147-A177-3AD203B41FA5}">
                      <a16:colId xmlns:a16="http://schemas.microsoft.com/office/drawing/2014/main" val="20006"/>
                    </a:ext>
                  </a:extLst>
                </a:gridCol>
                <a:gridCol w="328246">
                  <a:extLst>
                    <a:ext uri="{9D8B030D-6E8A-4147-A177-3AD203B41FA5}">
                      <a16:colId xmlns:a16="http://schemas.microsoft.com/office/drawing/2014/main" val="20007"/>
                    </a:ext>
                  </a:extLst>
                </a:gridCol>
                <a:gridCol w="328246">
                  <a:extLst>
                    <a:ext uri="{9D8B030D-6E8A-4147-A177-3AD203B41FA5}">
                      <a16:colId xmlns:a16="http://schemas.microsoft.com/office/drawing/2014/main" val="20008"/>
                    </a:ext>
                  </a:extLst>
                </a:gridCol>
                <a:gridCol w="328246">
                  <a:extLst>
                    <a:ext uri="{9D8B030D-6E8A-4147-A177-3AD203B41FA5}">
                      <a16:colId xmlns:a16="http://schemas.microsoft.com/office/drawing/2014/main" val="20009"/>
                    </a:ext>
                  </a:extLst>
                </a:gridCol>
                <a:gridCol w="328246">
                  <a:extLst>
                    <a:ext uri="{9D8B030D-6E8A-4147-A177-3AD203B41FA5}">
                      <a16:colId xmlns:a16="http://schemas.microsoft.com/office/drawing/2014/main" val="20010"/>
                    </a:ext>
                  </a:extLst>
                </a:gridCol>
                <a:gridCol w="328246">
                  <a:extLst>
                    <a:ext uri="{9D8B030D-6E8A-4147-A177-3AD203B41FA5}">
                      <a16:colId xmlns:a16="http://schemas.microsoft.com/office/drawing/2014/main" val="20011"/>
                    </a:ext>
                  </a:extLst>
                </a:gridCol>
                <a:gridCol w="328246">
                  <a:extLst>
                    <a:ext uri="{9D8B030D-6E8A-4147-A177-3AD203B41FA5}">
                      <a16:colId xmlns:a16="http://schemas.microsoft.com/office/drawing/2014/main" val="20012"/>
                    </a:ext>
                  </a:extLst>
                </a:gridCol>
                <a:gridCol w="328246">
                  <a:extLst>
                    <a:ext uri="{9D8B030D-6E8A-4147-A177-3AD203B41FA5}">
                      <a16:colId xmlns:a16="http://schemas.microsoft.com/office/drawing/2014/main" val="20013"/>
                    </a:ext>
                  </a:extLst>
                </a:gridCol>
                <a:gridCol w="328246">
                  <a:extLst>
                    <a:ext uri="{9D8B030D-6E8A-4147-A177-3AD203B41FA5}">
                      <a16:colId xmlns:a16="http://schemas.microsoft.com/office/drawing/2014/main" val="20014"/>
                    </a:ext>
                  </a:extLst>
                </a:gridCol>
                <a:gridCol w="328246">
                  <a:extLst>
                    <a:ext uri="{9D8B030D-6E8A-4147-A177-3AD203B41FA5}">
                      <a16:colId xmlns:a16="http://schemas.microsoft.com/office/drawing/2014/main" val="20015"/>
                    </a:ext>
                  </a:extLst>
                </a:gridCol>
                <a:gridCol w="328246">
                  <a:extLst>
                    <a:ext uri="{9D8B030D-6E8A-4147-A177-3AD203B41FA5}">
                      <a16:colId xmlns:a16="http://schemas.microsoft.com/office/drawing/2014/main" val="20016"/>
                    </a:ext>
                  </a:extLst>
                </a:gridCol>
                <a:gridCol w="328246">
                  <a:extLst>
                    <a:ext uri="{9D8B030D-6E8A-4147-A177-3AD203B41FA5}">
                      <a16:colId xmlns:a16="http://schemas.microsoft.com/office/drawing/2014/main" val="20017"/>
                    </a:ext>
                  </a:extLst>
                </a:gridCol>
                <a:gridCol w="329711">
                  <a:extLst>
                    <a:ext uri="{9D8B030D-6E8A-4147-A177-3AD203B41FA5}">
                      <a16:colId xmlns:a16="http://schemas.microsoft.com/office/drawing/2014/main" val="20018"/>
                    </a:ext>
                  </a:extLst>
                </a:gridCol>
                <a:gridCol w="326781">
                  <a:extLst>
                    <a:ext uri="{9D8B030D-6E8A-4147-A177-3AD203B41FA5}">
                      <a16:colId xmlns:a16="http://schemas.microsoft.com/office/drawing/2014/main" val="20019"/>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7" marR="83077"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30871" name="Text Box 3"/>
          <p:cNvSpPr txBox="1">
            <a:spLocks noChangeArrowheads="1"/>
          </p:cNvSpPr>
          <p:nvPr/>
        </p:nvSpPr>
        <p:spPr bwMode="auto">
          <a:xfrm>
            <a:off x="660065" y="1066800"/>
            <a:ext cx="7891797" cy="702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buFontTx/>
              <a:buChar char="-"/>
            </a:pPr>
            <a:r>
              <a:rPr lang="en-US" altLang="ko-KR" sz="1600" b="1" dirty="0" err="1">
                <a:solidFill>
                  <a:prstClr val="black"/>
                </a:solidFill>
                <a:latin typeface="맑은 고딕" pitchFamily="50" charset="-127"/>
                <a:ea typeface="맑은 고딕" pitchFamily="50" charset="-127"/>
              </a:rPr>
              <a:t>Trường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hợp</a:t>
            </a:r>
            <a:r>
              <a:rPr lang="en-US" altLang="ko-KR" sz="1600" b="1" dirty="0">
                <a:solidFill>
                  <a:prstClr val="black"/>
                </a:solidFill>
                <a:latin typeface="맑은 고딕" pitchFamily="50" charset="-127"/>
                <a:ea typeface="맑은 고딕" pitchFamily="50" charset="-127"/>
              </a:rPr>
              <a:t> 15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không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vượt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ra</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đường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giới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hạn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quản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lý</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không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có</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biến</a:t>
            </a:r>
            <a:r>
              <a:rPr lang="en-US" altLang="ko-KR" sz="1600" b="1" dirty="0">
                <a:solidFill>
                  <a:prstClr val="black"/>
                </a:solidFill>
                <a:latin typeface="맑은 고딕" pitchFamily="50" charset="-127"/>
                <a:ea typeface="맑은 고딕" pitchFamily="50" charset="-127"/>
              </a:rPr>
              <a:t> </a:t>
            </a:r>
          </a:p>
          <a:p>
            <a:pPr eaLnBrk="1" fontAlgn="ctr" hangingPunct="1">
              <a:spcBef>
                <a:spcPct val="50000"/>
              </a:spcBef>
              <a:spcAft>
                <a:spcPct val="0"/>
              </a:spcAft>
            </a:pPr>
            <a:r>
              <a:rPr lang="en-US" altLang="ko-KR" sz="1600" b="1" dirty="0" err="1">
                <a:solidFill>
                  <a:prstClr val="black"/>
                </a:solidFill>
                <a:latin typeface="맑은 고딕" pitchFamily="50" charset="-127"/>
                <a:ea typeface="맑은 고딕" pitchFamily="50" charset="-127"/>
              </a:rPr>
              <a:t>động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lớn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và</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tập</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trung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nhiều</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trong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khu</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vực</a:t>
            </a:r>
            <a:r>
              <a:rPr lang="en-US" altLang="ko-KR" sz="1600" b="1" dirty="0">
                <a:solidFill>
                  <a:prstClr val="black"/>
                </a:solidFill>
                <a:latin typeface="맑은 고딕" pitchFamily="50" charset="-127"/>
                <a:ea typeface="맑은 고딕" pitchFamily="50" charset="-127"/>
              </a:rPr>
              <a:t> C</a:t>
            </a:r>
            <a:endParaRPr lang="ko-KR" altLang="en-US" sz="1600" b="1" dirty="0">
              <a:solidFill>
                <a:prstClr val="black"/>
              </a:solidFill>
              <a:latin typeface="맑은 고딕" pitchFamily="50" charset="-127"/>
              <a:ea typeface="맑은 고딕" pitchFamily="50" charset="-127"/>
            </a:endParaRPr>
          </a:p>
        </p:txBody>
      </p:sp>
      <p:sp>
        <p:nvSpPr>
          <p:cNvPr id="30872" name="Text Box 2"/>
          <p:cNvSpPr txBox="1">
            <a:spLocks noChangeArrowheads="1"/>
          </p:cNvSpPr>
          <p:nvPr/>
        </p:nvSpPr>
        <p:spPr bwMode="auto">
          <a:xfrm>
            <a:off x="685800" y="692696"/>
            <a:ext cx="391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en-US" altLang="ko-KR" b="1" dirty="0" err="1">
                <a:solidFill>
                  <a:prstClr val="black"/>
                </a:solidFill>
                <a:latin typeface="맑은 고딕" pitchFamily="50" charset="-127"/>
                <a:ea typeface="맑은 고딕" pitchFamily="50" charset="-127"/>
              </a:rPr>
              <a:t>Độ</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lệch</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tại</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đường</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trung</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tâm</a:t>
            </a:r>
            <a:r>
              <a:rPr lang="ko-KR" altLang="en-US" b="1" dirty="0">
                <a:solidFill>
                  <a:prstClr val="black"/>
                </a:solidFill>
                <a:latin typeface="맑은 고딕" pitchFamily="50" charset="-127"/>
                <a:ea typeface="맑은 고딕" pitchFamily="50" charset="-127"/>
              </a:rPr>
              <a:t> </a:t>
            </a:r>
            <a:r>
              <a:rPr lang="en-US" altLang="ko-KR" b="1" dirty="0">
                <a:solidFill>
                  <a:prstClr val="black"/>
                </a:solidFill>
                <a:latin typeface="맑은 고딕" pitchFamily="50" charset="-127"/>
                <a:ea typeface="맑은 고딕" pitchFamily="50" charset="-127"/>
              </a:rPr>
              <a:t>&gt;</a:t>
            </a:r>
            <a:endParaRPr lang="ko-KR" altLang="en-US" b="1" dirty="0">
              <a:solidFill>
                <a:prstClr val="black"/>
              </a:solidFill>
              <a:latin typeface="맑은 고딕" pitchFamily="50" charset="-127"/>
              <a:ea typeface="맑은 고딕" pitchFamily="50" charset="-127"/>
            </a:endParaRPr>
          </a:p>
        </p:txBody>
      </p:sp>
      <p:sp>
        <p:nvSpPr>
          <p:cNvPr id="30873" name="Text Box 151"/>
          <p:cNvSpPr txBox="1">
            <a:spLocks noChangeArrowheads="1"/>
          </p:cNvSpPr>
          <p:nvPr/>
        </p:nvSpPr>
        <p:spPr bwMode="auto">
          <a:xfrm>
            <a:off x="583875" y="1947446"/>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30874" name="Text Box 152"/>
          <p:cNvSpPr txBox="1">
            <a:spLocks noChangeArrowheads="1"/>
          </p:cNvSpPr>
          <p:nvPr/>
        </p:nvSpPr>
        <p:spPr bwMode="auto">
          <a:xfrm>
            <a:off x="583866" y="3319046"/>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30875" name="AutoShape 153"/>
          <p:cNvSpPr>
            <a:spLocks noChangeArrowheads="1"/>
          </p:cNvSpPr>
          <p:nvPr/>
        </p:nvSpPr>
        <p:spPr bwMode="auto">
          <a:xfrm>
            <a:off x="583228" y="4292600"/>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30876" name="Text Box 154"/>
          <p:cNvSpPr txBox="1">
            <a:spLocks noChangeArrowheads="1"/>
          </p:cNvSpPr>
          <p:nvPr/>
        </p:nvSpPr>
        <p:spPr bwMode="auto">
          <a:xfrm>
            <a:off x="652737" y="2633246"/>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30877" name="AutoShape 155"/>
          <p:cNvSpPr>
            <a:spLocks noChangeArrowheads="1"/>
          </p:cNvSpPr>
          <p:nvPr/>
        </p:nvSpPr>
        <p:spPr bwMode="auto">
          <a:xfrm>
            <a:off x="583228" y="4292600"/>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endParaRPr lang="ko-KR" altLang="en-US" sz="1600" b="1" dirty="0">
              <a:solidFill>
                <a:prstClr val="black"/>
              </a:solidFill>
              <a:latin typeface="맑은 고딕" pitchFamily="50" charset="-127"/>
              <a:ea typeface="맑은 고딕" pitchFamily="50" charset="-127"/>
            </a:endParaRPr>
          </a:p>
        </p:txBody>
      </p:sp>
      <p:graphicFrame>
        <p:nvGraphicFramePr>
          <p:cNvPr id="9" name="Group 371"/>
          <p:cNvGraphicFramePr>
            <a:graphicFrameLocks noGrp="1"/>
          </p:cNvGraphicFramePr>
          <p:nvPr/>
        </p:nvGraphicFramePr>
        <p:xfrm>
          <a:off x="649166" y="4724421"/>
          <a:ext cx="7444154" cy="1680720"/>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687387">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Vấn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đề</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về</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hệ</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thống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đạc</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Thiếu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năng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lực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phát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hiện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ra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những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thay</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đổi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về</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tính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phẩm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Nếu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dụng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cụ</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có</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khả</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năng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biệt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thì</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không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thể</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nhận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thức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được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biến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động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của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process.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Đơn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tối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thiểu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phải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có</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tiêu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chuẩn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sai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số</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phép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là</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1/10</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810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Vấn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đề</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người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làm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việc</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Làm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giả</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của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phẩm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xuất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để</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đạt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được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gần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đến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giá</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trị</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bình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quân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hoặc</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trường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hợp</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lưu</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lại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chế</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tạo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sửa</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lại</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hàng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kém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chất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lượng</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để</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tạo</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thành</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sản</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phẩm</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tốt</a:t>
                      </a:r>
                      <a:r>
                        <a:rPr kumimoji="1" lang="en-US" altLang="ko-KR" sz="1400" b="1" i="0" u="none" strike="noStrike" cap="none" normalizeH="0" baseline="0" dirty="0">
                          <a:ln>
                            <a:noFill/>
                          </a:ln>
                          <a:solidFill>
                            <a:schemeClr val="tx1"/>
                          </a:solidFill>
                          <a:effectLst/>
                          <a:latin typeface="맑은 고딕" pitchFamily="50" charset="-127"/>
                          <a:ea typeface="맑은 고딕" pitchFamily="50" charset="-127"/>
                        </a:rPr>
                        <a:t> </a:t>
                      </a:r>
                      <a:r>
                        <a:rPr kumimoji="1" lang="en-US" altLang="ko-KR" sz="1400" b="1" i="0" u="none" strike="noStrike" cap="none" normalizeH="0" baseline="0" dirty="0" err="1">
                          <a:ln>
                            <a:noFill/>
                          </a:ln>
                          <a:solidFill>
                            <a:schemeClr val="tx1"/>
                          </a:solidFill>
                          <a:effectLst/>
                          <a:latin typeface="맑은 고딕" pitchFamily="50" charset="-127"/>
                          <a:ea typeface="맑은 고딕" pitchFamily="50" charset="-127"/>
                        </a:rPr>
                        <a:t>hơn</a:t>
                      </a:r>
                      <a:endParaRPr kumimoji="1" lang="ko-KR" altLang="en-US" sz="1400" b="1" i="0" u="none" strike="noStrike" cap="none" normalizeH="0" baseline="0" dirty="0">
                        <a:ln>
                          <a:noFill/>
                        </a:ln>
                        <a:solidFill>
                          <a:schemeClr val="tx1"/>
                        </a:solidFill>
                        <a:effectLst/>
                        <a:latin typeface="맑은 고딕" pitchFamily="50" charset="-127"/>
                        <a:ea typeface="맑은 고딕"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0889" name="Text Box 178"/>
          <p:cNvSpPr txBox="1">
            <a:spLocks noChangeArrowheads="1"/>
          </p:cNvSpPr>
          <p:nvPr/>
        </p:nvSpPr>
        <p:spPr bwMode="auto">
          <a:xfrm>
            <a:off x="497108" y="3733800"/>
            <a:ext cx="83420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200" b="1" dirty="0" err="1">
                <a:solidFill>
                  <a:srgbClr val="CC0000"/>
                </a:solidFill>
                <a:latin typeface="맑은 고딕" pitchFamily="50" charset="-127"/>
                <a:ea typeface="맑은 고딕" pitchFamily="50" charset="-127"/>
              </a:rPr>
              <a:t>Tỉ</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lệ</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khả</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năng</a:t>
            </a:r>
            <a:r>
              <a:rPr lang="en-US" altLang="ko-KR" sz="1200" b="1" dirty="0">
                <a:solidFill>
                  <a:srgbClr val="CC0000"/>
                </a:solidFill>
                <a:latin typeface="맑은 고딕" pitchFamily="50" charset="-127"/>
                <a:ea typeface="맑은 고딕" pitchFamily="50" charset="-127"/>
              </a:rPr>
              <a:t> 15 </a:t>
            </a:r>
            <a:r>
              <a:rPr lang="en-US" altLang="ko-KR" sz="1200" b="1" dirty="0" err="1">
                <a:solidFill>
                  <a:srgbClr val="CC0000"/>
                </a:solidFill>
                <a:latin typeface="맑은 고딕" pitchFamily="50" charset="-127"/>
                <a:ea typeface="맑은 고딕" pitchFamily="50" charset="-127"/>
              </a:rPr>
              <a:t>điểm</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nằm</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trong</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đường</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trung</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tâm</a:t>
            </a:r>
            <a:r>
              <a:rPr lang="en-US" altLang="ko-KR" sz="1200" b="1" dirty="0">
                <a:solidFill>
                  <a:srgbClr val="CC0000"/>
                </a:solidFill>
                <a:latin typeface="맑은 고딕" pitchFamily="50" charset="-127"/>
                <a:ea typeface="맑은 고딕" pitchFamily="50" charset="-127"/>
              </a:rPr>
              <a:t> ±1σ </a:t>
            </a:r>
            <a:r>
              <a:rPr lang="en-US" altLang="ko-KR" sz="1200" b="1" dirty="0" err="1">
                <a:solidFill>
                  <a:srgbClr val="CC0000"/>
                </a:solidFill>
                <a:latin typeface="맑은 고딕" pitchFamily="50" charset="-127"/>
                <a:ea typeface="맑은 고딕" pitchFamily="50" charset="-127"/>
              </a:rPr>
              <a:t>là</a:t>
            </a:r>
            <a:r>
              <a:rPr lang="ko-KR" altLang="en-US" sz="1200" b="1" dirty="0">
                <a:solidFill>
                  <a:srgbClr val="CC0000"/>
                </a:solidFill>
                <a:latin typeface="맑은 고딕" pitchFamily="50" charset="-127"/>
                <a:ea typeface="맑은 고딕" pitchFamily="50" charset="-127"/>
              </a:rPr>
              <a:t> </a:t>
            </a:r>
            <a:r>
              <a:rPr lang="en-US" altLang="ko-KR" sz="1200" b="1" dirty="0">
                <a:solidFill>
                  <a:srgbClr val="CC0000"/>
                </a:solidFill>
                <a:latin typeface="맑은 고딕" pitchFamily="50" charset="-127"/>
                <a:ea typeface="맑은 고딕" pitchFamily="50" charset="-127"/>
              </a:rPr>
              <a:t>(0.6826)^15=0.00326 </a:t>
            </a:r>
            <a:r>
              <a:rPr lang="en-US" altLang="ko-KR" sz="1200" b="1" dirty="0" err="1">
                <a:solidFill>
                  <a:srgbClr val="CC0000"/>
                </a:solidFill>
                <a:latin typeface="맑은 고딕" pitchFamily="50" charset="-127"/>
                <a:ea typeface="맑은 고딕" pitchFamily="50" charset="-127"/>
              </a:rPr>
              <a:t>khoảng</a:t>
            </a:r>
            <a:r>
              <a:rPr lang="ko-KR" altLang="en-US" sz="1200" b="1" dirty="0">
                <a:solidFill>
                  <a:srgbClr val="CC0000"/>
                </a:solidFill>
                <a:latin typeface="맑은 고딕" pitchFamily="50" charset="-127"/>
                <a:ea typeface="맑은 고딕" pitchFamily="50" charset="-127"/>
              </a:rPr>
              <a:t> </a:t>
            </a:r>
            <a:r>
              <a:rPr lang="en-US" altLang="ko-KR" sz="1200" b="1" dirty="0">
                <a:solidFill>
                  <a:srgbClr val="CC0000"/>
                </a:solidFill>
                <a:latin typeface="맑은 고딕" pitchFamily="50" charset="-127"/>
                <a:ea typeface="맑은 고딕" pitchFamily="50" charset="-127"/>
              </a:rPr>
              <a:t>0.33%, </a:t>
            </a:r>
            <a:r>
              <a:rPr lang="en-US" altLang="ko-KR" sz="1200" b="1" dirty="0" err="1">
                <a:solidFill>
                  <a:srgbClr val="CC0000"/>
                </a:solidFill>
                <a:latin typeface="맑은 고딕" pitchFamily="50" charset="-127"/>
                <a:ea typeface="맑은 고딕" pitchFamily="50" charset="-127"/>
              </a:rPr>
              <a:t>Trường</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hợp</a:t>
            </a:r>
            <a:endParaRPr lang="en-US" altLang="ko-KR" sz="1200" b="1" dirty="0">
              <a:solidFill>
                <a:srgbClr val="CC0000"/>
              </a:solidFill>
              <a:latin typeface="맑은 고딕" pitchFamily="50" charset="-127"/>
              <a:ea typeface="맑은 고딕" pitchFamily="50" charset="-127"/>
            </a:endParaRPr>
          </a:p>
          <a:p>
            <a:pPr eaLnBrk="1" fontAlgn="base" hangingPunct="1">
              <a:spcBef>
                <a:spcPct val="0"/>
              </a:spcBef>
              <a:spcAft>
                <a:spcPct val="0"/>
              </a:spcAft>
            </a:pPr>
            <a:r>
              <a:rPr lang="en-US" altLang="ko-KR" sz="1200" b="1" dirty="0" err="1">
                <a:solidFill>
                  <a:srgbClr val="CC0000"/>
                </a:solidFill>
                <a:latin typeface="맑은 고딕" pitchFamily="50" charset="-127"/>
                <a:ea typeface="맑은 고딕" pitchFamily="50" charset="-127"/>
              </a:rPr>
              <a:t>này</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phán</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đoán</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là</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bất</a:t>
            </a:r>
            <a:r>
              <a:rPr lang="en-US" altLang="ko-KR" sz="1200" b="1" dirty="0">
                <a:solidFill>
                  <a:srgbClr val="CC0000"/>
                </a:solidFill>
                <a:latin typeface="맑은 고딕" pitchFamily="50" charset="-127"/>
                <a:ea typeface="맑은 고딕" pitchFamily="50" charset="-127"/>
              </a:rPr>
              <a:t> </a:t>
            </a:r>
            <a:r>
              <a:rPr lang="en-US" altLang="ko-KR" sz="1200" b="1" dirty="0" err="1">
                <a:solidFill>
                  <a:srgbClr val="CC0000"/>
                </a:solidFill>
                <a:latin typeface="맑은 고딕" pitchFamily="50" charset="-127"/>
                <a:ea typeface="맑은 고딕" pitchFamily="50" charset="-127"/>
              </a:rPr>
              <a:t>thường</a:t>
            </a:r>
            <a:r>
              <a:rPr lang="en-US" altLang="ko-KR" sz="1200" b="1" dirty="0">
                <a:solidFill>
                  <a:srgbClr val="CC0000"/>
                </a:solidFill>
                <a:latin typeface="맑은 고딕" pitchFamily="50" charset="-127"/>
                <a:ea typeface="맑은 고딕" pitchFamily="50" charset="-127"/>
              </a:rPr>
              <a:t>”</a:t>
            </a:r>
            <a:endParaRPr lang="ko-KR" altLang="en-US" sz="1200" b="1" dirty="0">
              <a:solidFill>
                <a:srgbClr val="CC0000"/>
              </a:solidFill>
              <a:latin typeface="맑은 고딕" pitchFamily="50" charset="-127"/>
              <a:ea typeface="맑은 고딕" pitchFamily="50" charset="-127"/>
            </a:endParaRPr>
          </a:p>
        </p:txBody>
      </p:sp>
      <p:sp>
        <p:nvSpPr>
          <p:cNvPr id="30890" name="Oval 328"/>
          <p:cNvSpPr>
            <a:spLocks noChangeArrowheads="1"/>
          </p:cNvSpPr>
          <p:nvPr/>
        </p:nvSpPr>
        <p:spPr bwMode="auto">
          <a:xfrm>
            <a:off x="1967189" y="24326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1" name="Oval 329"/>
          <p:cNvSpPr>
            <a:spLocks noChangeArrowheads="1"/>
          </p:cNvSpPr>
          <p:nvPr/>
        </p:nvSpPr>
        <p:spPr bwMode="auto">
          <a:xfrm>
            <a:off x="2298365" y="220719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2" name="Oval 330"/>
          <p:cNvSpPr>
            <a:spLocks noChangeArrowheads="1"/>
          </p:cNvSpPr>
          <p:nvPr/>
        </p:nvSpPr>
        <p:spPr bwMode="auto">
          <a:xfrm>
            <a:off x="2623678" y="271040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3" name="Oval 331"/>
          <p:cNvSpPr>
            <a:spLocks noChangeArrowheads="1"/>
          </p:cNvSpPr>
          <p:nvPr/>
        </p:nvSpPr>
        <p:spPr bwMode="auto">
          <a:xfrm>
            <a:off x="2946065" y="243261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4" name="Oval 332"/>
          <p:cNvSpPr>
            <a:spLocks noChangeArrowheads="1"/>
          </p:cNvSpPr>
          <p:nvPr/>
        </p:nvSpPr>
        <p:spPr bwMode="auto">
          <a:xfrm>
            <a:off x="3265517" y="2061138"/>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5" name="Oval 333"/>
          <p:cNvSpPr>
            <a:spLocks noChangeArrowheads="1"/>
          </p:cNvSpPr>
          <p:nvPr/>
        </p:nvSpPr>
        <p:spPr bwMode="auto">
          <a:xfrm>
            <a:off x="3606959" y="24214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896" name="Oval 334"/>
          <p:cNvSpPr>
            <a:spLocks noChangeArrowheads="1"/>
          </p:cNvSpPr>
          <p:nvPr/>
        </p:nvSpPr>
        <p:spPr bwMode="auto">
          <a:xfrm>
            <a:off x="3936665" y="271993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897" name="AutoShape 335"/>
          <p:cNvCxnSpPr>
            <a:cxnSpLocks noChangeShapeType="1"/>
            <a:stCxn id="30890" idx="7"/>
            <a:endCxn id="30891" idx="3"/>
          </p:cNvCxnSpPr>
          <p:nvPr/>
        </p:nvCxnSpPr>
        <p:spPr bwMode="auto">
          <a:xfrm flipV="1">
            <a:off x="2022879" y="2267495"/>
            <a:ext cx="285750" cy="17621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898" name="AutoShape 336"/>
          <p:cNvCxnSpPr>
            <a:cxnSpLocks noChangeShapeType="1"/>
            <a:stCxn id="30891" idx="5"/>
            <a:endCxn id="30892" idx="2"/>
          </p:cNvCxnSpPr>
          <p:nvPr/>
        </p:nvCxnSpPr>
        <p:spPr bwMode="auto">
          <a:xfrm>
            <a:off x="2354047" y="2267516"/>
            <a:ext cx="269631" cy="4794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899" name="AutoShape 337"/>
          <p:cNvCxnSpPr>
            <a:cxnSpLocks noChangeShapeType="1"/>
            <a:stCxn id="30893" idx="7"/>
            <a:endCxn id="30894" idx="3"/>
          </p:cNvCxnSpPr>
          <p:nvPr/>
        </p:nvCxnSpPr>
        <p:spPr bwMode="auto">
          <a:xfrm flipV="1">
            <a:off x="3001758" y="2121445"/>
            <a:ext cx="274027" cy="3222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0" name="AutoShape 338"/>
          <p:cNvCxnSpPr>
            <a:cxnSpLocks noChangeShapeType="1"/>
            <a:stCxn id="30894" idx="5"/>
            <a:endCxn id="30895" idx="1"/>
          </p:cNvCxnSpPr>
          <p:nvPr/>
        </p:nvCxnSpPr>
        <p:spPr bwMode="auto">
          <a:xfrm>
            <a:off x="3321202" y="2121445"/>
            <a:ext cx="296008"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1" name="AutoShape 339"/>
          <p:cNvCxnSpPr>
            <a:cxnSpLocks noChangeShapeType="1"/>
            <a:stCxn id="30895" idx="5"/>
            <a:endCxn id="30896" idx="1"/>
          </p:cNvCxnSpPr>
          <p:nvPr/>
        </p:nvCxnSpPr>
        <p:spPr bwMode="auto">
          <a:xfrm>
            <a:off x="3662646" y="2481807"/>
            <a:ext cx="284285" cy="2492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02" name="Oval 340"/>
          <p:cNvSpPr>
            <a:spLocks noChangeArrowheads="1"/>
          </p:cNvSpPr>
          <p:nvPr/>
        </p:nvSpPr>
        <p:spPr bwMode="auto">
          <a:xfrm>
            <a:off x="4263444" y="23500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3" name="Oval 341"/>
          <p:cNvSpPr>
            <a:spLocks noChangeArrowheads="1"/>
          </p:cNvSpPr>
          <p:nvPr/>
        </p:nvSpPr>
        <p:spPr bwMode="auto">
          <a:xfrm>
            <a:off x="4596089" y="24945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4" name="Oval 342"/>
          <p:cNvSpPr>
            <a:spLocks noChangeArrowheads="1"/>
          </p:cNvSpPr>
          <p:nvPr/>
        </p:nvSpPr>
        <p:spPr bwMode="auto">
          <a:xfrm>
            <a:off x="4928734" y="2710407"/>
            <a:ext cx="67408"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5" name="Oval 343"/>
          <p:cNvSpPr>
            <a:spLocks noChangeArrowheads="1"/>
          </p:cNvSpPr>
          <p:nvPr/>
        </p:nvSpPr>
        <p:spPr bwMode="auto">
          <a:xfrm>
            <a:off x="5256983" y="25659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06" name="Oval 344"/>
          <p:cNvSpPr>
            <a:spLocks noChangeArrowheads="1"/>
          </p:cNvSpPr>
          <p:nvPr/>
        </p:nvSpPr>
        <p:spPr bwMode="auto">
          <a:xfrm>
            <a:off x="5592547" y="2494507"/>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907" name="AutoShape 345"/>
          <p:cNvCxnSpPr>
            <a:cxnSpLocks noChangeShapeType="1"/>
            <a:stCxn id="30902" idx="5"/>
            <a:endCxn id="30903" idx="2"/>
          </p:cNvCxnSpPr>
          <p:nvPr/>
        </p:nvCxnSpPr>
        <p:spPr bwMode="auto">
          <a:xfrm>
            <a:off x="4319139" y="2410370"/>
            <a:ext cx="276957" cy="1206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8" name="AutoShape 346"/>
          <p:cNvCxnSpPr>
            <a:cxnSpLocks noChangeShapeType="1"/>
            <a:stCxn id="30903" idx="5"/>
            <a:endCxn id="30904" idx="2"/>
          </p:cNvCxnSpPr>
          <p:nvPr/>
        </p:nvCxnSpPr>
        <p:spPr bwMode="auto">
          <a:xfrm>
            <a:off x="4651771" y="2554832"/>
            <a:ext cx="276958"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09" name="AutoShape 347"/>
          <p:cNvCxnSpPr>
            <a:cxnSpLocks noChangeShapeType="1"/>
            <a:stCxn id="30892" idx="6"/>
            <a:endCxn id="30893" idx="3"/>
          </p:cNvCxnSpPr>
          <p:nvPr/>
        </p:nvCxnSpPr>
        <p:spPr bwMode="auto">
          <a:xfrm flipV="1">
            <a:off x="2691090" y="2492920"/>
            <a:ext cx="265235" cy="2540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0" name="AutoShape 348"/>
          <p:cNvCxnSpPr>
            <a:cxnSpLocks noChangeShapeType="1"/>
            <a:stCxn id="30896" idx="7"/>
            <a:endCxn id="30902" idx="3"/>
          </p:cNvCxnSpPr>
          <p:nvPr/>
        </p:nvCxnSpPr>
        <p:spPr bwMode="auto">
          <a:xfrm flipV="1">
            <a:off x="3992347" y="2410391"/>
            <a:ext cx="281354" cy="3206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1" name="AutoShape 349"/>
          <p:cNvCxnSpPr>
            <a:cxnSpLocks noChangeShapeType="1"/>
            <a:stCxn id="30904" idx="6"/>
            <a:endCxn id="30905" idx="2"/>
          </p:cNvCxnSpPr>
          <p:nvPr/>
        </p:nvCxnSpPr>
        <p:spPr bwMode="auto">
          <a:xfrm flipV="1">
            <a:off x="4996143" y="2602478"/>
            <a:ext cx="260838"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12" name="AutoShape 350"/>
          <p:cNvCxnSpPr>
            <a:cxnSpLocks noChangeShapeType="1"/>
            <a:stCxn id="30905" idx="6"/>
            <a:endCxn id="30906" idx="2"/>
          </p:cNvCxnSpPr>
          <p:nvPr/>
        </p:nvCxnSpPr>
        <p:spPr bwMode="auto">
          <a:xfrm flipV="1">
            <a:off x="5322917" y="2531041"/>
            <a:ext cx="269631"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13" name="Oval 351"/>
          <p:cNvSpPr>
            <a:spLocks noChangeArrowheads="1"/>
          </p:cNvSpPr>
          <p:nvPr/>
        </p:nvSpPr>
        <p:spPr bwMode="auto">
          <a:xfrm>
            <a:off x="5904683" y="23500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4" name="Oval 352"/>
          <p:cNvSpPr>
            <a:spLocks noChangeArrowheads="1"/>
          </p:cNvSpPr>
          <p:nvPr/>
        </p:nvSpPr>
        <p:spPr bwMode="auto">
          <a:xfrm>
            <a:off x="6237317" y="26373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5" name="Oval 353"/>
          <p:cNvSpPr>
            <a:spLocks noChangeArrowheads="1"/>
          </p:cNvSpPr>
          <p:nvPr/>
        </p:nvSpPr>
        <p:spPr bwMode="auto">
          <a:xfrm>
            <a:off x="6558239" y="24214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6" name="Oval 354"/>
          <p:cNvSpPr>
            <a:spLocks noChangeArrowheads="1"/>
          </p:cNvSpPr>
          <p:nvPr/>
        </p:nvSpPr>
        <p:spPr bwMode="auto">
          <a:xfrm>
            <a:off x="6887947" y="27818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7" name="Oval 355"/>
          <p:cNvSpPr>
            <a:spLocks noChangeArrowheads="1"/>
          </p:cNvSpPr>
          <p:nvPr/>
        </p:nvSpPr>
        <p:spPr bwMode="auto">
          <a:xfrm>
            <a:off x="7217663" y="263899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0918" name="Oval 356"/>
          <p:cNvSpPr>
            <a:spLocks noChangeArrowheads="1"/>
          </p:cNvSpPr>
          <p:nvPr/>
        </p:nvSpPr>
        <p:spPr bwMode="auto">
          <a:xfrm>
            <a:off x="7551767" y="242309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919" name="AutoShape 357"/>
          <p:cNvCxnSpPr>
            <a:cxnSpLocks noChangeShapeType="1"/>
            <a:stCxn id="30906" idx="6"/>
            <a:endCxn id="30913" idx="2"/>
          </p:cNvCxnSpPr>
          <p:nvPr/>
        </p:nvCxnSpPr>
        <p:spPr bwMode="auto">
          <a:xfrm flipV="1">
            <a:off x="5658496" y="2386578"/>
            <a:ext cx="246185"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0" name="AutoShape 358"/>
          <p:cNvCxnSpPr>
            <a:cxnSpLocks noChangeShapeType="1"/>
            <a:stCxn id="30913" idx="5"/>
            <a:endCxn id="30914" idx="2"/>
          </p:cNvCxnSpPr>
          <p:nvPr/>
        </p:nvCxnSpPr>
        <p:spPr bwMode="auto">
          <a:xfrm>
            <a:off x="5960370" y="2410391"/>
            <a:ext cx="276957"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1" name="AutoShape 359"/>
          <p:cNvCxnSpPr>
            <a:cxnSpLocks noChangeShapeType="1"/>
            <a:stCxn id="30914" idx="6"/>
            <a:endCxn id="30915" idx="3"/>
          </p:cNvCxnSpPr>
          <p:nvPr/>
        </p:nvCxnSpPr>
        <p:spPr bwMode="auto">
          <a:xfrm flipV="1">
            <a:off x="6303265" y="2481807"/>
            <a:ext cx="265234" cy="19208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2" name="AutoShape 360"/>
          <p:cNvCxnSpPr>
            <a:cxnSpLocks noChangeShapeType="1"/>
            <a:stCxn id="30915" idx="5"/>
            <a:endCxn id="30916" idx="1"/>
          </p:cNvCxnSpPr>
          <p:nvPr/>
        </p:nvCxnSpPr>
        <p:spPr bwMode="auto">
          <a:xfrm>
            <a:off x="6613931" y="2481807"/>
            <a:ext cx="284285" cy="3111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3" name="AutoShape 361"/>
          <p:cNvCxnSpPr>
            <a:cxnSpLocks noChangeShapeType="1"/>
            <a:stCxn id="30916" idx="6"/>
            <a:endCxn id="30917" idx="2"/>
          </p:cNvCxnSpPr>
          <p:nvPr/>
        </p:nvCxnSpPr>
        <p:spPr bwMode="auto">
          <a:xfrm flipV="1">
            <a:off x="6953890" y="2675503"/>
            <a:ext cx="263769" cy="1428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24" name="Oval 362"/>
          <p:cNvSpPr>
            <a:spLocks noChangeArrowheads="1"/>
          </p:cNvSpPr>
          <p:nvPr/>
        </p:nvSpPr>
        <p:spPr bwMode="auto">
          <a:xfrm>
            <a:off x="7872689" y="263899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0925" name="AutoShape 363"/>
          <p:cNvCxnSpPr>
            <a:cxnSpLocks noChangeShapeType="1"/>
            <a:stCxn id="30917" idx="7"/>
            <a:endCxn id="30918" idx="3"/>
          </p:cNvCxnSpPr>
          <p:nvPr/>
        </p:nvCxnSpPr>
        <p:spPr bwMode="auto">
          <a:xfrm flipV="1">
            <a:off x="7273346" y="2483416"/>
            <a:ext cx="288680" cy="1666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0926" name="AutoShape 364"/>
          <p:cNvCxnSpPr>
            <a:cxnSpLocks noChangeShapeType="1"/>
            <a:stCxn id="30918" idx="5"/>
            <a:endCxn id="30924" idx="1"/>
          </p:cNvCxnSpPr>
          <p:nvPr/>
        </p:nvCxnSpPr>
        <p:spPr bwMode="auto">
          <a:xfrm>
            <a:off x="7607452" y="2483416"/>
            <a:ext cx="275492" cy="1666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0927" name="Oval 365"/>
          <p:cNvSpPr>
            <a:spLocks noChangeArrowheads="1"/>
          </p:cNvSpPr>
          <p:nvPr/>
        </p:nvSpPr>
        <p:spPr bwMode="auto">
          <a:xfrm>
            <a:off x="3397406" y="2304007"/>
            <a:ext cx="4656992" cy="622300"/>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54" name="Text Box 39"/>
          <p:cNvSpPr txBox="1">
            <a:spLocks noChangeArrowheads="1"/>
          </p:cNvSpPr>
          <p:nvPr/>
        </p:nvSpPr>
        <p:spPr bwMode="auto">
          <a:xfrm>
            <a:off x="127731" y="76562"/>
            <a:ext cx="4645824"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Phương</a:t>
            </a:r>
            <a:r>
              <a:rPr kumimoji="1" lang="en-US" altLang="ko-KR" sz="2000" b="1" dirty="0">
                <a:solidFill>
                  <a:prstClr val="black"/>
                </a:solidFill>
              </a:rPr>
              <a:t> </a:t>
            </a:r>
            <a:r>
              <a:rPr kumimoji="1" lang="en-US" altLang="ko-KR" sz="2000" b="1" dirty="0" err="1">
                <a:solidFill>
                  <a:prstClr val="black"/>
                </a:solidFill>
              </a:rPr>
              <a:t>pháp</a:t>
            </a:r>
            <a:r>
              <a:rPr kumimoji="1" lang="en-US" altLang="ko-KR" sz="2000" b="1" dirty="0">
                <a:solidFill>
                  <a:prstClr val="black"/>
                </a:solidFill>
              </a:rPr>
              <a:t> </a:t>
            </a:r>
            <a:r>
              <a:rPr kumimoji="1" lang="en-US" altLang="ko-KR" sz="2000" b="1" dirty="0" err="1">
                <a:solidFill>
                  <a:prstClr val="black"/>
                </a:solidFill>
              </a:rPr>
              <a:t>nhìn</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
        <p:nvSpPr>
          <p:cNvPr id="53" name="Text Box 39"/>
          <p:cNvSpPr txBox="1">
            <a:spLocks noChangeArrowheads="1"/>
          </p:cNvSpPr>
          <p:nvPr/>
        </p:nvSpPr>
        <p:spPr bwMode="auto">
          <a:xfrm>
            <a:off x="5638800" y="138118"/>
            <a:ext cx="3551485"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a:t>
            </a:r>
            <a:r>
              <a:rPr kumimoji="1" lang="en-US" altLang="ko-KR" sz="1600" b="1" dirty="0" err="1">
                <a:solidFill>
                  <a:prstClr val="black"/>
                </a:solidFill>
              </a:rPr>
              <a:t>Độ</a:t>
            </a:r>
            <a:r>
              <a:rPr kumimoji="1" lang="en-US" altLang="ko-KR" sz="1600" b="1" dirty="0">
                <a:solidFill>
                  <a:prstClr val="black"/>
                </a:solidFill>
              </a:rPr>
              <a:t> </a:t>
            </a:r>
            <a:r>
              <a:rPr kumimoji="1" lang="en-US" altLang="ko-KR" sz="1600" b="1" dirty="0" err="1">
                <a:solidFill>
                  <a:prstClr val="black"/>
                </a:solidFill>
              </a:rPr>
              <a:t>lệch</a:t>
            </a:r>
            <a:r>
              <a:rPr kumimoji="1" lang="en-US" altLang="ko-KR" sz="1600" b="1" dirty="0">
                <a:solidFill>
                  <a:prstClr val="black"/>
                </a:solidFill>
              </a:rPr>
              <a:t> </a:t>
            </a:r>
            <a:r>
              <a:rPr kumimoji="1" lang="en-US" altLang="ko-KR" sz="1600" b="1" dirty="0" err="1">
                <a:solidFill>
                  <a:prstClr val="black"/>
                </a:solidFill>
              </a:rPr>
              <a:t>tại</a:t>
            </a:r>
            <a:r>
              <a:rPr kumimoji="1" lang="en-US" altLang="ko-KR" sz="1600" b="1" dirty="0">
                <a:solidFill>
                  <a:prstClr val="black"/>
                </a:solidFill>
              </a:rPr>
              <a:t> </a:t>
            </a:r>
            <a:r>
              <a:rPr kumimoji="1" lang="en-US" altLang="ko-KR" sz="1600" b="1" dirty="0" err="1">
                <a:solidFill>
                  <a:prstClr val="black"/>
                </a:solidFill>
              </a:rPr>
              <a:t>đường</a:t>
            </a:r>
            <a:r>
              <a:rPr kumimoji="1" lang="en-US" altLang="ko-KR" sz="1600" b="1" dirty="0">
                <a:solidFill>
                  <a:prstClr val="black"/>
                </a:solidFill>
              </a:rPr>
              <a:t> </a:t>
            </a:r>
            <a:r>
              <a:rPr kumimoji="1" lang="en-US" altLang="ko-KR" sz="1600" b="1" dirty="0" err="1">
                <a:solidFill>
                  <a:prstClr val="black"/>
                </a:solidFill>
              </a:rPr>
              <a:t>trung</a:t>
            </a:r>
            <a:r>
              <a:rPr kumimoji="1" lang="en-US" altLang="ko-KR" sz="1600" b="1" dirty="0">
                <a:solidFill>
                  <a:prstClr val="black"/>
                </a:solidFill>
              </a:rPr>
              <a:t> </a:t>
            </a:r>
            <a:r>
              <a:rPr kumimoji="1" lang="en-US" altLang="ko-KR" sz="1600" b="1" dirty="0" err="1">
                <a:solidFill>
                  <a:prstClr val="black"/>
                </a:solidFill>
              </a:rPr>
              <a:t>tâm</a:t>
            </a:r>
            <a:r>
              <a:rPr kumimoji="1" lang="ko-KR" altLang="en-US" sz="1600" b="1" dirty="0">
                <a:solidFill>
                  <a:prstClr val="black"/>
                </a:solidFill>
              </a:rPr>
              <a:t> </a:t>
            </a:r>
            <a:r>
              <a:rPr kumimoji="1" lang="en-US" altLang="ko-KR" sz="1600" b="1" dirty="0">
                <a:solidFill>
                  <a:prstClr val="black"/>
                </a:solidFill>
              </a:rPr>
              <a:t>(6)</a:t>
            </a:r>
          </a:p>
        </p:txBody>
      </p:sp>
      <p:sp>
        <p:nvSpPr>
          <p:cNvPr id="56"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307</a:t>
            </a:fld>
            <a:endParaRPr lang="ko-KR" altLang="en-US" sz="1200" dirty="0">
              <a:solidFill>
                <a:prstClr val="black"/>
              </a:solidFill>
            </a:endParaRPr>
          </a:p>
        </p:txBody>
      </p:sp>
    </p:spTree>
    <p:extLst>
      <p:ext uri="{BB962C8B-B14F-4D97-AF65-F5344CB8AC3E}">
        <p14:creationId xmlns:p14="http://schemas.microsoft.com/office/powerpoint/2010/main" val="2687358325"/>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Group 736"/>
          <p:cNvGraphicFramePr>
            <a:graphicFrameLocks noGrp="1"/>
          </p:cNvGraphicFramePr>
          <p:nvPr>
            <p:extLst>
              <p:ext uri="{D42A27DB-BD31-4B8C-83A1-F6EECF244321}">
                <p14:modId xmlns:p14="http://schemas.microsoft.com/office/powerpoint/2010/main" val="3065751300"/>
              </p:ext>
            </p:extLst>
          </p:nvPr>
        </p:nvGraphicFramePr>
        <p:xfrm>
          <a:off x="1248514" y="1842045"/>
          <a:ext cx="6844818" cy="1658940"/>
        </p:xfrm>
        <a:graphic>
          <a:graphicData uri="http://schemas.openxmlformats.org/drawingml/2006/table">
            <a:tbl>
              <a:tblPr/>
              <a:tblGrid>
                <a:gridCol w="844667">
                  <a:extLst>
                    <a:ext uri="{9D8B030D-6E8A-4147-A177-3AD203B41FA5}">
                      <a16:colId xmlns:a16="http://schemas.microsoft.com/office/drawing/2014/main" val="20000"/>
                    </a:ext>
                  </a:extLst>
                </a:gridCol>
                <a:gridCol w="400010">
                  <a:extLst>
                    <a:ext uri="{9D8B030D-6E8A-4147-A177-3AD203B41FA5}">
                      <a16:colId xmlns:a16="http://schemas.microsoft.com/office/drawing/2014/main" val="20001"/>
                    </a:ext>
                  </a:extLst>
                </a:gridCol>
                <a:gridCol w="400010">
                  <a:extLst>
                    <a:ext uri="{9D8B030D-6E8A-4147-A177-3AD203B41FA5}">
                      <a16:colId xmlns:a16="http://schemas.microsoft.com/office/drawing/2014/main" val="20002"/>
                    </a:ext>
                  </a:extLst>
                </a:gridCol>
                <a:gridCol w="400010">
                  <a:extLst>
                    <a:ext uri="{9D8B030D-6E8A-4147-A177-3AD203B41FA5}">
                      <a16:colId xmlns:a16="http://schemas.microsoft.com/office/drawing/2014/main" val="20003"/>
                    </a:ext>
                  </a:extLst>
                </a:gridCol>
                <a:gridCol w="400010">
                  <a:extLst>
                    <a:ext uri="{9D8B030D-6E8A-4147-A177-3AD203B41FA5}">
                      <a16:colId xmlns:a16="http://schemas.microsoft.com/office/drawing/2014/main" val="20004"/>
                    </a:ext>
                  </a:extLst>
                </a:gridCol>
                <a:gridCol w="401795">
                  <a:extLst>
                    <a:ext uri="{9D8B030D-6E8A-4147-A177-3AD203B41FA5}">
                      <a16:colId xmlns:a16="http://schemas.microsoft.com/office/drawing/2014/main" val="20005"/>
                    </a:ext>
                  </a:extLst>
                </a:gridCol>
                <a:gridCol w="398226">
                  <a:extLst>
                    <a:ext uri="{9D8B030D-6E8A-4147-A177-3AD203B41FA5}">
                      <a16:colId xmlns:a16="http://schemas.microsoft.com/office/drawing/2014/main" val="20006"/>
                    </a:ext>
                  </a:extLst>
                </a:gridCol>
                <a:gridCol w="400010">
                  <a:extLst>
                    <a:ext uri="{9D8B030D-6E8A-4147-A177-3AD203B41FA5}">
                      <a16:colId xmlns:a16="http://schemas.microsoft.com/office/drawing/2014/main" val="20007"/>
                    </a:ext>
                  </a:extLst>
                </a:gridCol>
                <a:gridCol w="400010">
                  <a:extLst>
                    <a:ext uri="{9D8B030D-6E8A-4147-A177-3AD203B41FA5}">
                      <a16:colId xmlns:a16="http://schemas.microsoft.com/office/drawing/2014/main" val="20008"/>
                    </a:ext>
                  </a:extLst>
                </a:gridCol>
                <a:gridCol w="400010">
                  <a:extLst>
                    <a:ext uri="{9D8B030D-6E8A-4147-A177-3AD203B41FA5}">
                      <a16:colId xmlns:a16="http://schemas.microsoft.com/office/drawing/2014/main" val="20009"/>
                    </a:ext>
                  </a:extLst>
                </a:gridCol>
                <a:gridCol w="400010">
                  <a:extLst>
                    <a:ext uri="{9D8B030D-6E8A-4147-A177-3AD203B41FA5}">
                      <a16:colId xmlns:a16="http://schemas.microsoft.com/office/drawing/2014/main" val="20010"/>
                    </a:ext>
                  </a:extLst>
                </a:gridCol>
                <a:gridCol w="400010">
                  <a:extLst>
                    <a:ext uri="{9D8B030D-6E8A-4147-A177-3AD203B41FA5}">
                      <a16:colId xmlns:a16="http://schemas.microsoft.com/office/drawing/2014/main" val="20011"/>
                    </a:ext>
                  </a:extLst>
                </a:gridCol>
                <a:gridCol w="400010">
                  <a:extLst>
                    <a:ext uri="{9D8B030D-6E8A-4147-A177-3AD203B41FA5}">
                      <a16:colId xmlns:a16="http://schemas.microsoft.com/office/drawing/2014/main" val="20012"/>
                    </a:ext>
                  </a:extLst>
                </a:gridCol>
                <a:gridCol w="400010">
                  <a:extLst>
                    <a:ext uri="{9D8B030D-6E8A-4147-A177-3AD203B41FA5}">
                      <a16:colId xmlns:a16="http://schemas.microsoft.com/office/drawing/2014/main" val="20013"/>
                    </a:ext>
                  </a:extLst>
                </a:gridCol>
                <a:gridCol w="400010">
                  <a:extLst>
                    <a:ext uri="{9D8B030D-6E8A-4147-A177-3AD203B41FA5}">
                      <a16:colId xmlns:a16="http://schemas.microsoft.com/office/drawing/2014/main" val="20014"/>
                    </a:ext>
                  </a:extLst>
                </a:gridCol>
                <a:gridCol w="400010">
                  <a:extLst>
                    <a:ext uri="{9D8B030D-6E8A-4147-A177-3AD203B41FA5}">
                      <a16:colId xmlns:a16="http://schemas.microsoft.com/office/drawing/2014/main" val="20015"/>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31867" name="Text Box 3"/>
          <p:cNvSpPr txBox="1">
            <a:spLocks noChangeArrowheads="1"/>
          </p:cNvSpPr>
          <p:nvPr/>
        </p:nvSpPr>
        <p:spPr bwMode="auto">
          <a:xfrm>
            <a:off x="703395" y="1268962"/>
            <a:ext cx="6675567"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When more than 8 points appear continuously in the A or B area</a:t>
            </a:r>
            <a:endParaRPr lang="ko-KR" altLang="en-US" sz="1600" b="1" dirty="0">
              <a:solidFill>
                <a:prstClr val="black"/>
              </a:solidFill>
              <a:latin typeface="맑은 고딕" pitchFamily="50" charset="-127"/>
              <a:ea typeface="맑은 고딕" pitchFamily="50" charset="-127"/>
            </a:endParaRPr>
          </a:p>
        </p:txBody>
      </p:sp>
      <p:sp>
        <p:nvSpPr>
          <p:cNvPr id="31868" name="Oval 126"/>
          <p:cNvSpPr>
            <a:spLocks noChangeArrowheads="1"/>
          </p:cNvSpPr>
          <p:nvPr/>
        </p:nvSpPr>
        <p:spPr bwMode="auto">
          <a:xfrm>
            <a:off x="2184889" y="30691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69" name="Oval 127"/>
          <p:cNvSpPr>
            <a:spLocks noChangeArrowheads="1"/>
          </p:cNvSpPr>
          <p:nvPr/>
        </p:nvSpPr>
        <p:spPr bwMode="auto">
          <a:xfrm>
            <a:off x="2645020" y="24929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0" name="Oval 128"/>
          <p:cNvSpPr>
            <a:spLocks noChangeArrowheads="1"/>
          </p:cNvSpPr>
          <p:nvPr/>
        </p:nvSpPr>
        <p:spPr bwMode="auto">
          <a:xfrm>
            <a:off x="2993783" y="22770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1" name="Oval 129"/>
          <p:cNvSpPr>
            <a:spLocks noChangeArrowheads="1"/>
          </p:cNvSpPr>
          <p:nvPr/>
        </p:nvSpPr>
        <p:spPr bwMode="auto">
          <a:xfrm>
            <a:off x="3398231" y="2132557"/>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2" name="Oval 130"/>
          <p:cNvSpPr>
            <a:spLocks noChangeArrowheads="1"/>
          </p:cNvSpPr>
          <p:nvPr/>
        </p:nvSpPr>
        <p:spPr bwMode="auto">
          <a:xfrm>
            <a:off x="3802679" y="22770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3" name="Oval 131"/>
          <p:cNvSpPr>
            <a:spLocks noChangeArrowheads="1"/>
          </p:cNvSpPr>
          <p:nvPr/>
        </p:nvSpPr>
        <p:spPr bwMode="auto">
          <a:xfrm>
            <a:off x="4208585" y="30691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4" name="Oval 132"/>
          <p:cNvSpPr>
            <a:spLocks noChangeArrowheads="1"/>
          </p:cNvSpPr>
          <p:nvPr/>
        </p:nvSpPr>
        <p:spPr bwMode="auto">
          <a:xfrm>
            <a:off x="4613033" y="29977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1875" name="AutoShape 133"/>
          <p:cNvCxnSpPr>
            <a:cxnSpLocks noChangeShapeType="1"/>
            <a:stCxn id="31868" idx="5"/>
            <a:endCxn id="31869" idx="2"/>
          </p:cNvCxnSpPr>
          <p:nvPr/>
        </p:nvCxnSpPr>
        <p:spPr bwMode="auto">
          <a:xfrm flipV="1">
            <a:off x="2240574" y="2529453"/>
            <a:ext cx="404446" cy="6000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6" name="AutoShape 134"/>
          <p:cNvCxnSpPr>
            <a:cxnSpLocks noChangeShapeType="1"/>
            <a:stCxn id="31869" idx="6"/>
            <a:endCxn id="31870" idx="3"/>
          </p:cNvCxnSpPr>
          <p:nvPr/>
        </p:nvCxnSpPr>
        <p:spPr bwMode="auto">
          <a:xfrm flipV="1">
            <a:off x="2710962" y="2337366"/>
            <a:ext cx="293077" cy="1920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7" name="AutoShape 135"/>
          <p:cNvCxnSpPr>
            <a:cxnSpLocks noChangeShapeType="1"/>
            <a:stCxn id="31871" idx="6"/>
            <a:endCxn id="31872" idx="2"/>
          </p:cNvCxnSpPr>
          <p:nvPr/>
        </p:nvCxnSpPr>
        <p:spPr bwMode="auto">
          <a:xfrm>
            <a:off x="3464174" y="2169070"/>
            <a:ext cx="338504" cy="1444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8" name="AutoShape 136"/>
          <p:cNvCxnSpPr>
            <a:cxnSpLocks noChangeShapeType="1"/>
            <a:stCxn id="31872" idx="5"/>
            <a:endCxn id="31873" idx="1"/>
          </p:cNvCxnSpPr>
          <p:nvPr/>
        </p:nvCxnSpPr>
        <p:spPr bwMode="auto">
          <a:xfrm>
            <a:off x="3858368" y="2337345"/>
            <a:ext cx="360485"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9" name="AutoShape 137"/>
          <p:cNvCxnSpPr>
            <a:cxnSpLocks noChangeShapeType="1"/>
            <a:stCxn id="31873" idx="6"/>
            <a:endCxn id="31874" idx="2"/>
          </p:cNvCxnSpPr>
          <p:nvPr/>
        </p:nvCxnSpPr>
        <p:spPr bwMode="auto">
          <a:xfrm flipV="1">
            <a:off x="4274529" y="3034257"/>
            <a:ext cx="338503" cy="71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80" name="Oval 138"/>
          <p:cNvSpPr>
            <a:spLocks noChangeArrowheads="1"/>
          </p:cNvSpPr>
          <p:nvPr/>
        </p:nvSpPr>
        <p:spPr bwMode="auto">
          <a:xfrm>
            <a:off x="5017481" y="22055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1" name="Oval 139"/>
          <p:cNvSpPr>
            <a:spLocks noChangeArrowheads="1"/>
          </p:cNvSpPr>
          <p:nvPr/>
        </p:nvSpPr>
        <p:spPr bwMode="auto">
          <a:xfrm>
            <a:off x="5421929" y="19896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2" name="Oval 140"/>
          <p:cNvSpPr>
            <a:spLocks noChangeArrowheads="1"/>
          </p:cNvSpPr>
          <p:nvPr/>
        </p:nvSpPr>
        <p:spPr bwMode="auto">
          <a:xfrm>
            <a:off x="5826369" y="227704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3" name="Oval 141"/>
          <p:cNvSpPr>
            <a:spLocks noChangeArrowheads="1"/>
          </p:cNvSpPr>
          <p:nvPr/>
        </p:nvSpPr>
        <p:spPr bwMode="auto">
          <a:xfrm>
            <a:off x="6232283" y="27818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4" name="Oval 142"/>
          <p:cNvSpPr>
            <a:spLocks noChangeArrowheads="1"/>
          </p:cNvSpPr>
          <p:nvPr/>
        </p:nvSpPr>
        <p:spPr bwMode="auto">
          <a:xfrm>
            <a:off x="6636731" y="3142207"/>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1885" name="AutoShape 143"/>
          <p:cNvCxnSpPr>
            <a:cxnSpLocks noChangeShapeType="1"/>
            <a:stCxn id="31880" idx="7"/>
            <a:endCxn id="31881" idx="2"/>
          </p:cNvCxnSpPr>
          <p:nvPr/>
        </p:nvCxnSpPr>
        <p:spPr bwMode="auto">
          <a:xfrm flipV="1">
            <a:off x="5073162" y="2026195"/>
            <a:ext cx="348762" cy="1905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86" name="AutoShape 144"/>
          <p:cNvCxnSpPr>
            <a:cxnSpLocks noChangeShapeType="1"/>
            <a:stCxn id="31881" idx="5"/>
            <a:endCxn id="31882" idx="2"/>
          </p:cNvCxnSpPr>
          <p:nvPr/>
        </p:nvCxnSpPr>
        <p:spPr bwMode="auto">
          <a:xfrm>
            <a:off x="5477608" y="2050028"/>
            <a:ext cx="348762"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87" name="Text Box 2"/>
          <p:cNvSpPr txBox="1">
            <a:spLocks noChangeArrowheads="1"/>
          </p:cNvSpPr>
          <p:nvPr/>
        </p:nvSpPr>
        <p:spPr bwMode="auto">
          <a:xfrm>
            <a:off x="849924" y="692696"/>
            <a:ext cx="253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Severe dispersion&gt;</a:t>
            </a:r>
            <a:endParaRPr lang="ko-KR" altLang="en-US" b="1" dirty="0">
              <a:solidFill>
                <a:prstClr val="black"/>
              </a:solidFill>
              <a:latin typeface="맑은 고딕" pitchFamily="50" charset="-127"/>
              <a:ea typeface="맑은 고딕" pitchFamily="50" charset="-127"/>
            </a:endParaRPr>
          </a:p>
        </p:txBody>
      </p:sp>
      <p:cxnSp>
        <p:nvCxnSpPr>
          <p:cNvPr id="31888" name="AutoShape 147"/>
          <p:cNvCxnSpPr>
            <a:cxnSpLocks noChangeShapeType="1"/>
            <a:stCxn id="31870" idx="7"/>
            <a:endCxn id="31871" idx="3"/>
          </p:cNvCxnSpPr>
          <p:nvPr/>
        </p:nvCxnSpPr>
        <p:spPr bwMode="auto">
          <a:xfrm flipV="1">
            <a:off x="3049476" y="2192882"/>
            <a:ext cx="359019" cy="952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89" name="AutoShape 148"/>
          <p:cNvCxnSpPr>
            <a:cxnSpLocks noChangeShapeType="1"/>
            <a:stCxn id="31874" idx="7"/>
            <a:endCxn id="31880" idx="3"/>
          </p:cNvCxnSpPr>
          <p:nvPr/>
        </p:nvCxnSpPr>
        <p:spPr bwMode="auto">
          <a:xfrm flipV="1">
            <a:off x="4668715" y="2265907"/>
            <a:ext cx="359020"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90" name="AutoShape 149"/>
          <p:cNvCxnSpPr>
            <a:cxnSpLocks noChangeShapeType="1"/>
            <a:stCxn id="31882" idx="5"/>
            <a:endCxn id="31883" idx="1"/>
          </p:cNvCxnSpPr>
          <p:nvPr/>
        </p:nvCxnSpPr>
        <p:spPr bwMode="auto">
          <a:xfrm>
            <a:off x="5882064" y="2337366"/>
            <a:ext cx="360485" cy="4540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91" name="AutoShape 150"/>
          <p:cNvCxnSpPr>
            <a:cxnSpLocks noChangeShapeType="1"/>
            <a:stCxn id="31883" idx="5"/>
            <a:endCxn id="31884" idx="2"/>
          </p:cNvCxnSpPr>
          <p:nvPr/>
        </p:nvCxnSpPr>
        <p:spPr bwMode="auto">
          <a:xfrm>
            <a:off x="6287966" y="2842170"/>
            <a:ext cx="348762" cy="3365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92" name="Text Box 151"/>
          <p:cNvSpPr txBox="1">
            <a:spLocks noChangeArrowheads="1"/>
          </p:cNvSpPr>
          <p:nvPr/>
        </p:nvSpPr>
        <p:spPr bwMode="auto">
          <a:xfrm>
            <a:off x="627196" y="1700757"/>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31893" name="Text Box 152"/>
          <p:cNvSpPr txBox="1">
            <a:spLocks noChangeArrowheads="1"/>
          </p:cNvSpPr>
          <p:nvPr/>
        </p:nvSpPr>
        <p:spPr bwMode="auto">
          <a:xfrm>
            <a:off x="627186" y="3285082"/>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31894" name="AutoShape 153"/>
          <p:cNvSpPr>
            <a:spLocks noChangeArrowheads="1"/>
          </p:cNvSpPr>
          <p:nvPr/>
        </p:nvSpPr>
        <p:spPr bwMode="auto">
          <a:xfrm>
            <a:off x="583228" y="4300538"/>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31895" name="Text Box 154"/>
          <p:cNvSpPr txBox="1">
            <a:spLocks noChangeArrowheads="1"/>
          </p:cNvSpPr>
          <p:nvPr/>
        </p:nvSpPr>
        <p:spPr bwMode="auto">
          <a:xfrm>
            <a:off x="696059" y="2492921"/>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31896" name="AutoShape 155"/>
          <p:cNvSpPr>
            <a:spLocks noChangeArrowheads="1"/>
          </p:cNvSpPr>
          <p:nvPr/>
        </p:nvSpPr>
        <p:spPr bwMode="auto">
          <a:xfrm>
            <a:off x="583228" y="4300538"/>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Causes</a:t>
            </a:r>
            <a:endParaRPr lang="ko-KR" altLang="en-US" sz="1600" b="1" dirty="0">
              <a:solidFill>
                <a:prstClr val="black"/>
              </a:solidFill>
              <a:latin typeface="맑은 고딕" pitchFamily="50" charset="-127"/>
              <a:ea typeface="맑은 고딕" pitchFamily="50" charset="-127"/>
            </a:endParaRPr>
          </a:p>
        </p:txBody>
      </p:sp>
      <p:graphicFrame>
        <p:nvGraphicFramePr>
          <p:cNvPr id="33" name="Group 183"/>
          <p:cNvGraphicFramePr>
            <a:graphicFrameLocks noGrp="1"/>
          </p:cNvGraphicFramePr>
          <p:nvPr/>
        </p:nvGraphicFramePr>
        <p:xfrm>
          <a:off x="649166" y="4732359"/>
          <a:ext cx="7444154" cy="1467360"/>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565149">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돋움" pitchFamily="50" charset="-127"/>
                        </a:rPr>
                        <a:t>Rcontrol</a:t>
                      </a:r>
                      <a:r>
                        <a:rPr kumimoji="1" lang="en-US" altLang="ko-KR" sz="1400" b="1" i="0" u="none" strike="noStrike" cap="none" normalizeH="0" baseline="0" dirty="0">
                          <a:ln>
                            <a:noFill/>
                          </a:ln>
                          <a:solidFill>
                            <a:schemeClr val="tx1"/>
                          </a:solidFill>
                          <a:effectLst/>
                          <a:latin typeface="Arial" pitchFamily="34" charset="0"/>
                          <a:ea typeface="돋움" pitchFamily="50" charset="-127"/>
                        </a:rPr>
                        <a:t> chart</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돋움" pitchFamily="50" charset="-127"/>
                        </a:rPr>
                        <a:t>Occurs when different suppliers, different operators, different inspectors, different production lines, different instruments, different inspection standards are mixed.</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돋움" pitchFamily="50" charset="-127"/>
                        </a:rPr>
                        <a:t>xbar</a:t>
                      </a:r>
                      <a:r>
                        <a:rPr kumimoji="1" lang="en-US" altLang="ko-KR" sz="1400" b="1" i="0" u="none" strike="noStrike" cap="none" normalizeH="0" baseline="0" dirty="0">
                          <a:ln>
                            <a:noFill/>
                          </a:ln>
                          <a:solidFill>
                            <a:schemeClr val="tx1"/>
                          </a:solidFill>
                          <a:effectLst/>
                          <a:latin typeface="Arial" pitchFamily="34" charset="0"/>
                          <a:ea typeface="돋움" pitchFamily="50" charset="-127"/>
                        </a:rPr>
                        <a:t> control chart</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a:ln>
                            <a:noFill/>
                          </a:ln>
                          <a:solidFill>
                            <a:schemeClr val="tx1"/>
                          </a:solidFill>
                          <a:effectLst/>
                          <a:latin typeface="Arial" pitchFamily="34" charset="0"/>
                          <a:ea typeface="돋움" pitchFamily="50" charset="-127"/>
                        </a:rPr>
                        <a:t>Same as above</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1908" name="Oval 170"/>
          <p:cNvSpPr>
            <a:spLocks noChangeArrowheads="1"/>
          </p:cNvSpPr>
          <p:nvPr/>
        </p:nvSpPr>
        <p:spPr bwMode="auto">
          <a:xfrm>
            <a:off x="7041179" y="29977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909" name="Oval 171"/>
          <p:cNvSpPr>
            <a:spLocks noChangeArrowheads="1"/>
          </p:cNvSpPr>
          <p:nvPr/>
        </p:nvSpPr>
        <p:spPr bwMode="auto">
          <a:xfrm>
            <a:off x="7445620" y="22055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910" name="Oval 172"/>
          <p:cNvSpPr>
            <a:spLocks noChangeArrowheads="1"/>
          </p:cNvSpPr>
          <p:nvPr/>
        </p:nvSpPr>
        <p:spPr bwMode="auto">
          <a:xfrm>
            <a:off x="7851533" y="227704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1911" name="AutoShape 173"/>
          <p:cNvCxnSpPr>
            <a:cxnSpLocks noChangeShapeType="1"/>
            <a:stCxn id="31884" idx="6"/>
            <a:endCxn id="31908" idx="2"/>
          </p:cNvCxnSpPr>
          <p:nvPr/>
        </p:nvCxnSpPr>
        <p:spPr bwMode="auto">
          <a:xfrm flipV="1">
            <a:off x="6702674" y="3034268"/>
            <a:ext cx="338504"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912" name="AutoShape 174"/>
          <p:cNvCxnSpPr>
            <a:cxnSpLocks noChangeShapeType="1"/>
            <a:stCxn id="31908" idx="7"/>
            <a:endCxn id="31909" idx="3"/>
          </p:cNvCxnSpPr>
          <p:nvPr/>
        </p:nvCxnSpPr>
        <p:spPr bwMode="auto">
          <a:xfrm flipV="1">
            <a:off x="7096869" y="2265907"/>
            <a:ext cx="359019"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913" name="AutoShape 175"/>
          <p:cNvCxnSpPr>
            <a:cxnSpLocks noChangeShapeType="1"/>
            <a:stCxn id="31909" idx="6"/>
            <a:endCxn id="31910" idx="2"/>
          </p:cNvCxnSpPr>
          <p:nvPr/>
        </p:nvCxnSpPr>
        <p:spPr bwMode="auto">
          <a:xfrm>
            <a:off x="7511564" y="2242116"/>
            <a:ext cx="339969"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914" name="Oval 176"/>
          <p:cNvSpPr>
            <a:spLocks noChangeArrowheads="1"/>
          </p:cNvSpPr>
          <p:nvPr/>
        </p:nvSpPr>
        <p:spPr bwMode="auto">
          <a:xfrm>
            <a:off x="2776904" y="1772216"/>
            <a:ext cx="3376246" cy="1512887"/>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43" name="Text Box 39"/>
          <p:cNvSpPr txBox="1">
            <a:spLocks noChangeArrowheads="1"/>
          </p:cNvSpPr>
          <p:nvPr/>
        </p:nvSpPr>
        <p:spPr bwMode="auto">
          <a:xfrm>
            <a:off x="6715140" y="138118"/>
            <a:ext cx="2322687"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Severe dispersion(7)</a:t>
            </a:r>
          </a:p>
        </p:txBody>
      </p:sp>
      <p:graphicFrame>
        <p:nvGraphicFramePr>
          <p:cNvPr id="2" name="개체 1"/>
          <p:cNvGraphicFramePr>
            <a:graphicFrameLocks noChangeAspect="1"/>
          </p:cNvGraphicFramePr>
          <p:nvPr>
            <p:extLst>
              <p:ext uri="{D42A27DB-BD31-4B8C-83A1-F6EECF244321}">
                <p14:modId xmlns:p14="http://schemas.microsoft.com/office/powerpoint/2010/main" val="3057354964"/>
              </p:ext>
            </p:extLst>
          </p:nvPr>
        </p:nvGraphicFramePr>
        <p:xfrm>
          <a:off x="8033439" y="3486074"/>
          <a:ext cx="844062" cy="771525"/>
        </p:xfrm>
        <a:graphic>
          <a:graphicData uri="http://schemas.openxmlformats.org/presentationml/2006/ole">
            <mc:AlternateContent xmlns:mc="http://schemas.openxmlformats.org/markup-compatibility/2006">
              <mc:Choice xmlns:v="urn:schemas-microsoft-com:vml" Requires="v">
                <p:oleObj name="워크시트" showAsIcon="1" r:id="rId3" imgW="914400" imgH="771480" progId="Excel.Sheet.12">
                  <p:embed/>
                </p:oleObj>
              </mc:Choice>
              <mc:Fallback>
                <p:oleObj name="워크시트" showAsIcon="1" r:id="rId3" imgW="914400" imgH="771480" progId="Excel.Sheet.12">
                  <p:embed/>
                  <p:pic>
                    <p:nvPicPr>
                      <p:cNvPr id="2" name="개체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33439" y="3486074"/>
                        <a:ext cx="844062" cy="771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308</a:t>
            </a:fld>
            <a:endParaRPr lang="ko-KR" altLang="en-US" sz="1200" dirty="0">
              <a:solidFill>
                <a:prstClr val="black"/>
              </a:solidFill>
            </a:endParaRPr>
          </a:p>
        </p:txBody>
      </p:sp>
      <p:sp>
        <p:nvSpPr>
          <p:cNvPr id="46" name="Text Box 39"/>
          <p:cNvSpPr txBox="1">
            <a:spLocks noChangeArrowheads="1"/>
          </p:cNvSpPr>
          <p:nvPr/>
        </p:nvSpPr>
        <p:spPr bwMode="auto">
          <a:xfrm>
            <a:off x="127731" y="76562"/>
            <a:ext cx="3800079"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How to view control chart</a:t>
            </a:r>
          </a:p>
        </p:txBody>
      </p:sp>
    </p:spTree>
    <p:extLst>
      <p:ext uri="{BB962C8B-B14F-4D97-AF65-F5344CB8AC3E}">
        <p14:creationId xmlns:p14="http://schemas.microsoft.com/office/powerpoint/2010/main" val="732541220"/>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4"/>
          <p:cNvSpPr txBox="1">
            <a:spLocks noChangeArrowheads="1"/>
          </p:cNvSpPr>
          <p:nvPr/>
        </p:nvSpPr>
        <p:spPr bwMode="auto">
          <a:xfrm>
            <a:off x="118696" y="44624"/>
            <a:ext cx="525047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Excel (</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 )control chart</a:t>
            </a:r>
            <a:r>
              <a:rPr lang="ko-KR" altLang="en-US" sz="2000" b="1" dirty="0">
                <a:solidFill>
                  <a:srgbClr val="000000"/>
                </a:solidFill>
                <a:latin typeface="맑은 고딕" pitchFamily="50" charset="-127"/>
                <a:ea typeface="맑은 고딕" pitchFamily="50" charset="-127"/>
              </a:rPr>
              <a:t> </a:t>
            </a:r>
            <a:r>
              <a:rPr lang="en-US" altLang="ko-KR" sz="2000" b="1" dirty="0">
                <a:solidFill>
                  <a:srgbClr val="000000"/>
                </a:solidFill>
                <a:latin typeface="맑은 고딕" pitchFamily="50" charset="-127"/>
                <a:ea typeface="맑은 고딕" pitchFamily="50" charset="-127"/>
              </a:rPr>
              <a:t>Practice</a:t>
            </a:r>
            <a:endParaRPr lang="ko-KR" altLang="en-US" sz="2000" b="1" dirty="0">
              <a:solidFill>
                <a:srgbClr val="000000"/>
              </a:solidFill>
              <a:latin typeface="맑은 고딕" pitchFamily="50" charset="-127"/>
              <a:ea typeface="맑은 고딕" pitchFamily="50" charset="-127"/>
            </a:endParaRPr>
          </a:p>
        </p:txBody>
      </p:sp>
      <p:sp>
        <p:nvSpPr>
          <p:cNvPr id="9" name="직사각형 8"/>
          <p:cNvSpPr/>
          <p:nvPr/>
        </p:nvSpPr>
        <p:spPr>
          <a:xfrm>
            <a:off x="683569" y="1052739"/>
            <a:ext cx="7920880" cy="10075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 name="TextBox 6"/>
          <p:cNvSpPr txBox="1"/>
          <p:nvPr/>
        </p:nvSpPr>
        <p:spPr>
          <a:xfrm>
            <a:off x="783271" y="1071546"/>
            <a:ext cx="7909802" cy="954073"/>
          </a:xfrm>
          <a:prstGeom prst="rect">
            <a:avLst/>
          </a:prstGeom>
          <a:noFill/>
        </p:spPr>
        <p:txBody>
          <a:bodyPr wrap="square" lIns="91405" tIns="45703" rIns="91405" bIns="45703" rtlCol="0">
            <a:spAutoFit/>
          </a:bodyPr>
          <a:lstStyle/>
          <a:p>
            <a:pPr fontAlgn="base">
              <a:spcBef>
                <a:spcPct val="0"/>
              </a:spcBef>
              <a:spcAft>
                <a:spcPct val="0"/>
              </a:spcAft>
            </a:pPr>
            <a:r>
              <a:rPr kumimoji="1" lang="en-US" altLang="ko-KR" sz="1400" b="1" dirty="0">
                <a:solidFill>
                  <a:prstClr val="black"/>
                </a:solidFill>
                <a:latin typeface="굴림" pitchFamily="50" charset="-127"/>
                <a:ea typeface="굴림" pitchFamily="50" charset="-127"/>
              </a:rPr>
              <a:t>The following is the data for measuring the inner diameter dimension of a part produced in a certain manufacturing process.  Measurements were made every two hours and five measurements were taken consecutively in the production line.  Use the data to draw and interpret the </a:t>
            </a:r>
            <a:r>
              <a:rPr kumimoji="1" lang="en-US" altLang="ko-KR" sz="1400" b="1" dirty="0" err="1">
                <a:solidFill>
                  <a:prstClr val="black"/>
                </a:solidFill>
                <a:latin typeface="굴림" pitchFamily="50" charset="-127"/>
                <a:ea typeface="굴림" pitchFamily="50" charset="-127"/>
              </a:rPr>
              <a:t>Xbar</a:t>
            </a:r>
            <a:r>
              <a:rPr kumimoji="1" lang="en-US" altLang="ko-KR" sz="1400" b="1" dirty="0">
                <a:solidFill>
                  <a:prstClr val="black"/>
                </a:solidFill>
                <a:latin typeface="굴림" pitchFamily="50" charset="-127"/>
                <a:ea typeface="굴림" pitchFamily="50" charset="-127"/>
              </a:rPr>
              <a:t> - R control chart. (Calculated based on interpretation)</a:t>
            </a:r>
            <a:endParaRPr kumimoji="1" lang="ko-KR" altLang="en-US" sz="1400" b="1" dirty="0">
              <a:solidFill>
                <a:prstClr val="black"/>
              </a:solidFill>
              <a:latin typeface="굴림" pitchFamily="50" charset="-127"/>
              <a:ea typeface="굴림" pitchFamily="50" charset="-127"/>
            </a:endParaRPr>
          </a:p>
        </p:txBody>
      </p:sp>
      <p:graphicFrame>
        <p:nvGraphicFramePr>
          <p:cNvPr id="11" name="표 10"/>
          <p:cNvGraphicFramePr>
            <a:graphicFrameLocks noGrp="1"/>
          </p:cNvGraphicFramePr>
          <p:nvPr>
            <p:extLst>
              <p:ext uri="{D42A27DB-BD31-4B8C-83A1-F6EECF244321}">
                <p14:modId xmlns:p14="http://schemas.microsoft.com/office/powerpoint/2010/main" val="3504094351"/>
              </p:ext>
            </p:extLst>
          </p:nvPr>
        </p:nvGraphicFramePr>
        <p:xfrm>
          <a:off x="916209" y="2740496"/>
          <a:ext cx="3256975" cy="3488055"/>
        </p:xfrm>
        <a:graphic>
          <a:graphicData uri="http://schemas.openxmlformats.org/drawingml/2006/table">
            <a:tbl>
              <a:tblPr/>
              <a:tblGrid>
                <a:gridCol w="619285">
                  <a:extLst>
                    <a:ext uri="{9D8B030D-6E8A-4147-A177-3AD203B41FA5}">
                      <a16:colId xmlns:a16="http://schemas.microsoft.com/office/drawing/2014/main" val="20000"/>
                    </a:ext>
                  </a:extLst>
                </a:gridCol>
                <a:gridCol w="527538">
                  <a:extLst>
                    <a:ext uri="{9D8B030D-6E8A-4147-A177-3AD203B41FA5}">
                      <a16:colId xmlns:a16="http://schemas.microsoft.com/office/drawing/2014/main" val="20001"/>
                    </a:ext>
                  </a:extLst>
                </a:gridCol>
                <a:gridCol w="527538">
                  <a:extLst>
                    <a:ext uri="{9D8B030D-6E8A-4147-A177-3AD203B41FA5}">
                      <a16:colId xmlns:a16="http://schemas.microsoft.com/office/drawing/2014/main" val="20002"/>
                    </a:ext>
                  </a:extLst>
                </a:gridCol>
                <a:gridCol w="527538">
                  <a:extLst>
                    <a:ext uri="{9D8B030D-6E8A-4147-A177-3AD203B41FA5}">
                      <a16:colId xmlns:a16="http://schemas.microsoft.com/office/drawing/2014/main" val="20003"/>
                    </a:ext>
                  </a:extLst>
                </a:gridCol>
                <a:gridCol w="527538">
                  <a:extLst>
                    <a:ext uri="{9D8B030D-6E8A-4147-A177-3AD203B41FA5}">
                      <a16:colId xmlns:a16="http://schemas.microsoft.com/office/drawing/2014/main" val="20004"/>
                    </a:ext>
                  </a:extLst>
                </a:gridCol>
                <a:gridCol w="527538">
                  <a:extLst>
                    <a:ext uri="{9D8B030D-6E8A-4147-A177-3AD203B41FA5}">
                      <a16:colId xmlns:a16="http://schemas.microsoft.com/office/drawing/2014/main" val="20005"/>
                    </a:ext>
                  </a:extLst>
                </a:gridCol>
              </a:tblGrid>
              <a:tr h="209550">
                <a:tc>
                  <a:txBody>
                    <a:bodyPr/>
                    <a:lstStyle/>
                    <a:p>
                      <a:pPr algn="ctr" fontAlgn="ctr"/>
                      <a:r>
                        <a:rPr lang="en-US" sz="1100" b="0" i="0" u="none" strike="noStrike" dirty="0">
                          <a:solidFill>
                            <a:srgbClr val="000000"/>
                          </a:solidFill>
                          <a:effectLst/>
                          <a:latin typeface="돋움"/>
                        </a:rPr>
                        <a:t>Sample</a:t>
                      </a:r>
                      <a:r>
                        <a:rPr lang="ko-KR" altLang="en-US" sz="1100" b="0" i="0" u="none" strike="noStrike" dirty="0">
                          <a:solidFill>
                            <a:srgbClr val="000000"/>
                          </a:solidFill>
                          <a:effectLst/>
                          <a:latin typeface="돋움"/>
                        </a:rPr>
                        <a:t>군</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09550">
                <a:tc>
                  <a:txBody>
                    <a:bodyPr/>
                    <a:lstStyle/>
                    <a:p>
                      <a:pPr algn="ctr" fontAlgn="ctr"/>
                      <a:r>
                        <a:rPr lang="en-US" altLang="ko-KR" sz="1100" b="0" i="0" u="none" strike="noStrike" dirty="0">
                          <a:solidFill>
                            <a:srgbClr val="000000"/>
                          </a:solidFill>
                          <a:effectLst/>
                          <a:latin typeface="돋움"/>
                        </a:rPr>
                        <a:t>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9550">
                <a:tc>
                  <a:txBody>
                    <a:bodyPr/>
                    <a:lstStyle/>
                    <a:p>
                      <a:pPr algn="ctr" fontAlgn="ctr"/>
                      <a:r>
                        <a:rPr lang="en-US" altLang="ko-KR" sz="1100" b="0" i="0" u="none" strike="noStrike">
                          <a:solidFill>
                            <a:srgbClr val="000000"/>
                          </a:solidFill>
                          <a:effectLst/>
                          <a:latin typeface="돋움"/>
                        </a:rPr>
                        <a:t>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9550">
                <a:tc>
                  <a:txBody>
                    <a:bodyPr/>
                    <a:lstStyle/>
                    <a:p>
                      <a:pPr algn="ctr" fontAlgn="ctr"/>
                      <a:r>
                        <a:rPr lang="en-US" altLang="ko-KR" sz="1100" b="0" i="0" u="none" strike="noStrike">
                          <a:solidFill>
                            <a:srgbClr val="000000"/>
                          </a:solidFill>
                          <a:effectLst/>
                          <a:latin typeface="돋움"/>
                        </a:rPr>
                        <a:t>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09550">
                <a:tc>
                  <a:txBody>
                    <a:bodyPr/>
                    <a:lstStyle/>
                    <a:p>
                      <a:pPr algn="ctr" fontAlgn="ctr"/>
                      <a:r>
                        <a:rPr lang="en-US" altLang="ko-KR" sz="1100" b="0" i="0" u="none" strike="noStrike">
                          <a:solidFill>
                            <a:srgbClr val="000000"/>
                          </a:solidFill>
                          <a:effectLst/>
                          <a:latin typeface="돋움"/>
                        </a:rPr>
                        <a:t>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9550">
                <a:tc>
                  <a:txBody>
                    <a:bodyPr/>
                    <a:lstStyle/>
                    <a:p>
                      <a:pPr algn="ctr" fontAlgn="ctr"/>
                      <a:r>
                        <a:rPr lang="en-US" altLang="ko-KR" sz="1100" b="0" i="0" u="none" strike="noStrike">
                          <a:solidFill>
                            <a:srgbClr val="000000"/>
                          </a:solidFill>
                          <a:effectLst/>
                          <a:latin typeface="돋움"/>
                        </a:rPr>
                        <a:t>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09550">
                <a:tc>
                  <a:txBody>
                    <a:bodyPr/>
                    <a:lstStyle/>
                    <a:p>
                      <a:pPr algn="ctr" fontAlgn="ctr"/>
                      <a:r>
                        <a:rPr lang="en-US" altLang="ko-KR" sz="1100" b="0" i="0" u="none" strike="noStrike">
                          <a:solidFill>
                            <a:srgbClr val="000000"/>
                          </a:solidFill>
                          <a:effectLst/>
                          <a:latin typeface="돋움"/>
                        </a:rPr>
                        <a:t>6</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09550">
                <a:tc>
                  <a:txBody>
                    <a:bodyPr/>
                    <a:lstStyle/>
                    <a:p>
                      <a:pPr algn="ctr" fontAlgn="ctr"/>
                      <a:r>
                        <a:rPr lang="en-US" altLang="ko-KR" sz="1100" b="0" i="0" u="none" strike="noStrike">
                          <a:solidFill>
                            <a:srgbClr val="000000"/>
                          </a:solidFill>
                          <a:effectLst/>
                          <a:latin typeface="돋움"/>
                        </a:rPr>
                        <a:t>7</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09550">
                <a:tc>
                  <a:txBody>
                    <a:bodyPr/>
                    <a:lstStyle/>
                    <a:p>
                      <a:pPr algn="ctr" fontAlgn="ctr"/>
                      <a:r>
                        <a:rPr lang="en-US" altLang="ko-KR" sz="1100" b="0" i="0" u="none" strike="noStrike">
                          <a:solidFill>
                            <a:srgbClr val="000000"/>
                          </a:solidFill>
                          <a:effectLst/>
                          <a:latin typeface="돋움"/>
                        </a:rPr>
                        <a:t>8</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09550">
                <a:tc>
                  <a:txBody>
                    <a:bodyPr/>
                    <a:lstStyle/>
                    <a:p>
                      <a:pPr algn="ctr" fontAlgn="ctr"/>
                      <a:r>
                        <a:rPr lang="en-US" altLang="ko-KR" sz="1100" b="0" i="0" u="none" strike="noStrike">
                          <a:solidFill>
                            <a:srgbClr val="000000"/>
                          </a:solidFill>
                          <a:effectLst/>
                          <a:latin typeface="돋움"/>
                        </a:rPr>
                        <a:t>9</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09550">
                <a:tc>
                  <a:txBody>
                    <a:bodyPr/>
                    <a:lstStyle/>
                    <a:p>
                      <a:pPr algn="ctr" fontAlgn="ctr"/>
                      <a:r>
                        <a:rPr lang="en-US" altLang="ko-KR" sz="1100" b="0" i="0" u="none" strike="noStrike">
                          <a:solidFill>
                            <a:srgbClr val="000000"/>
                          </a:solidFill>
                          <a:effectLst/>
                          <a:latin typeface="돋움"/>
                        </a:rPr>
                        <a:t>10</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09550">
                <a:tc>
                  <a:txBody>
                    <a:bodyPr/>
                    <a:lstStyle/>
                    <a:p>
                      <a:pPr algn="ctr" fontAlgn="ctr"/>
                      <a:r>
                        <a:rPr lang="en-US" altLang="ko-KR" sz="1100" b="0" i="0" u="none" strike="noStrike">
                          <a:solidFill>
                            <a:srgbClr val="000000"/>
                          </a:solidFill>
                          <a:effectLst/>
                          <a:latin typeface="돋움"/>
                        </a:rPr>
                        <a:t>11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09550">
                <a:tc>
                  <a:txBody>
                    <a:bodyPr/>
                    <a:lstStyle/>
                    <a:p>
                      <a:pPr algn="ctr" fontAlgn="ctr"/>
                      <a:r>
                        <a:rPr lang="en-US" altLang="ko-KR" sz="1100" b="0" i="0" u="none" strike="noStrike">
                          <a:solidFill>
                            <a:srgbClr val="000000"/>
                          </a:solidFill>
                          <a:effectLst/>
                          <a:latin typeface="돋움"/>
                        </a:rPr>
                        <a:t>12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09550">
                <a:tc>
                  <a:txBody>
                    <a:bodyPr/>
                    <a:lstStyle/>
                    <a:p>
                      <a:pPr algn="ctr" fontAlgn="ctr"/>
                      <a:r>
                        <a:rPr lang="en-US" altLang="ko-KR" sz="1100" b="0" i="0" u="none" strike="noStrike">
                          <a:solidFill>
                            <a:srgbClr val="000000"/>
                          </a:solidFill>
                          <a:effectLst/>
                          <a:latin typeface="돋움"/>
                        </a:rPr>
                        <a:t>13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09550">
                <a:tc>
                  <a:txBody>
                    <a:bodyPr/>
                    <a:lstStyle/>
                    <a:p>
                      <a:pPr algn="ctr" fontAlgn="ctr"/>
                      <a:r>
                        <a:rPr lang="en-US" altLang="ko-KR" sz="1100" b="0" i="0" u="none" strike="noStrike">
                          <a:solidFill>
                            <a:srgbClr val="000000"/>
                          </a:solidFill>
                          <a:effectLst/>
                          <a:latin typeface="돋움"/>
                        </a:rPr>
                        <a:t>14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09550">
                <a:tc>
                  <a:txBody>
                    <a:bodyPr/>
                    <a:lstStyle/>
                    <a:p>
                      <a:pPr algn="ctr" fontAlgn="ctr"/>
                      <a:r>
                        <a:rPr lang="en-US" altLang="ko-KR" sz="1100" b="0" i="0" u="none" strike="noStrike" dirty="0">
                          <a:solidFill>
                            <a:srgbClr val="000000"/>
                          </a:solidFill>
                          <a:effectLst/>
                          <a:latin typeface="돋움"/>
                        </a:rPr>
                        <a:t>15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8.15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8.17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bl>
          </a:graphicData>
        </a:graphic>
      </p:graphicFrame>
      <p:graphicFrame>
        <p:nvGraphicFramePr>
          <p:cNvPr id="13" name="표 12"/>
          <p:cNvGraphicFramePr>
            <a:graphicFrameLocks noGrp="1"/>
          </p:cNvGraphicFramePr>
          <p:nvPr>
            <p:extLst>
              <p:ext uri="{D42A27DB-BD31-4B8C-83A1-F6EECF244321}">
                <p14:modId xmlns:p14="http://schemas.microsoft.com/office/powerpoint/2010/main" val="67607604"/>
              </p:ext>
            </p:extLst>
          </p:nvPr>
        </p:nvGraphicFramePr>
        <p:xfrm>
          <a:off x="4863153" y="2740496"/>
          <a:ext cx="3165229" cy="3697605"/>
        </p:xfrm>
        <a:graphic>
          <a:graphicData uri="http://schemas.openxmlformats.org/drawingml/2006/table">
            <a:tbl>
              <a:tblPr/>
              <a:tblGrid>
                <a:gridCol w="639412">
                  <a:extLst>
                    <a:ext uri="{9D8B030D-6E8A-4147-A177-3AD203B41FA5}">
                      <a16:colId xmlns:a16="http://schemas.microsoft.com/office/drawing/2014/main" val="20000"/>
                    </a:ext>
                  </a:extLst>
                </a:gridCol>
                <a:gridCol w="415665">
                  <a:extLst>
                    <a:ext uri="{9D8B030D-6E8A-4147-A177-3AD203B41FA5}">
                      <a16:colId xmlns:a16="http://schemas.microsoft.com/office/drawing/2014/main" val="20001"/>
                    </a:ext>
                  </a:extLst>
                </a:gridCol>
                <a:gridCol w="527538">
                  <a:extLst>
                    <a:ext uri="{9D8B030D-6E8A-4147-A177-3AD203B41FA5}">
                      <a16:colId xmlns:a16="http://schemas.microsoft.com/office/drawing/2014/main" val="20002"/>
                    </a:ext>
                  </a:extLst>
                </a:gridCol>
                <a:gridCol w="527538">
                  <a:extLst>
                    <a:ext uri="{9D8B030D-6E8A-4147-A177-3AD203B41FA5}">
                      <a16:colId xmlns:a16="http://schemas.microsoft.com/office/drawing/2014/main" val="20003"/>
                    </a:ext>
                  </a:extLst>
                </a:gridCol>
                <a:gridCol w="527538">
                  <a:extLst>
                    <a:ext uri="{9D8B030D-6E8A-4147-A177-3AD203B41FA5}">
                      <a16:colId xmlns:a16="http://schemas.microsoft.com/office/drawing/2014/main" val="20004"/>
                    </a:ext>
                  </a:extLst>
                </a:gridCol>
                <a:gridCol w="527538">
                  <a:extLst>
                    <a:ext uri="{9D8B030D-6E8A-4147-A177-3AD203B41FA5}">
                      <a16:colId xmlns:a16="http://schemas.microsoft.com/office/drawing/2014/main" val="20005"/>
                    </a:ext>
                  </a:extLst>
                </a:gridCol>
              </a:tblGrid>
              <a:tr h="209550">
                <a:tc>
                  <a:txBody>
                    <a:bodyPr/>
                    <a:lstStyle/>
                    <a:p>
                      <a:pPr algn="ctr" fontAlgn="ctr"/>
                      <a:r>
                        <a:rPr lang="en-US" sz="1100" b="0" i="0" u="none" strike="noStrike" dirty="0">
                          <a:solidFill>
                            <a:srgbClr val="000000"/>
                          </a:solidFill>
                          <a:effectLst/>
                          <a:latin typeface="돋움"/>
                        </a:rPr>
                        <a:t>Sample</a:t>
                      </a:r>
                      <a:r>
                        <a:rPr lang="ko-KR" altLang="en-US" sz="1100" b="0" i="0" u="none" strike="noStrike" dirty="0">
                          <a:solidFill>
                            <a:srgbClr val="000000"/>
                          </a:solidFill>
                          <a:effectLst/>
                          <a:latin typeface="돋움"/>
                        </a:rPr>
                        <a:t>군</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a:solidFill>
                            <a:srgbClr val="000000"/>
                          </a:solidFill>
                          <a:effectLst/>
                          <a:latin typeface="돋움"/>
                        </a:rPr>
                        <a:t>X1</a:t>
                      </a:r>
                      <a:endParaRPr lang="en-US" sz="1100" b="0" i="0" u="none" strike="noStrike" dirty="0">
                        <a:solidFill>
                          <a:srgbClr val="000000"/>
                        </a:solidFill>
                        <a:effectLst/>
                        <a:latin typeface="돋움"/>
                      </a:endParaRP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09550">
                <a:tc>
                  <a:txBody>
                    <a:bodyPr/>
                    <a:lstStyle/>
                    <a:p>
                      <a:pPr algn="ctr" fontAlgn="ctr"/>
                      <a:r>
                        <a:rPr lang="en-US" altLang="ko-KR" sz="1100" b="0" i="0" u="none" strike="noStrike" dirty="0">
                          <a:solidFill>
                            <a:srgbClr val="000000"/>
                          </a:solidFill>
                          <a:effectLst/>
                          <a:latin typeface="돋움"/>
                        </a:rPr>
                        <a:t>16</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9550">
                <a:tc>
                  <a:txBody>
                    <a:bodyPr/>
                    <a:lstStyle/>
                    <a:p>
                      <a:pPr algn="ctr" fontAlgn="ctr"/>
                      <a:r>
                        <a:rPr lang="en-US" altLang="ko-KR" sz="1100" b="0" i="0" u="none" strike="noStrike" dirty="0">
                          <a:solidFill>
                            <a:srgbClr val="000000"/>
                          </a:solidFill>
                          <a:effectLst/>
                          <a:latin typeface="돋움"/>
                        </a:rPr>
                        <a:t>17</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9550">
                <a:tc>
                  <a:txBody>
                    <a:bodyPr/>
                    <a:lstStyle/>
                    <a:p>
                      <a:pPr algn="ctr" fontAlgn="ctr"/>
                      <a:r>
                        <a:rPr lang="en-US" altLang="ko-KR" sz="1100" b="0" i="0" u="none" strike="noStrike">
                          <a:solidFill>
                            <a:srgbClr val="000000"/>
                          </a:solidFill>
                          <a:effectLst/>
                          <a:latin typeface="돋움"/>
                        </a:rPr>
                        <a:t>18</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09550">
                <a:tc>
                  <a:txBody>
                    <a:bodyPr/>
                    <a:lstStyle/>
                    <a:p>
                      <a:pPr algn="ctr" fontAlgn="ctr"/>
                      <a:r>
                        <a:rPr lang="en-US" altLang="ko-KR" sz="1100" b="0" i="0" u="none" strike="noStrike">
                          <a:solidFill>
                            <a:srgbClr val="000000"/>
                          </a:solidFill>
                          <a:effectLst/>
                          <a:latin typeface="돋움"/>
                        </a:rPr>
                        <a:t>19</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9550">
                <a:tc>
                  <a:txBody>
                    <a:bodyPr/>
                    <a:lstStyle/>
                    <a:p>
                      <a:pPr algn="ctr" fontAlgn="ctr"/>
                      <a:r>
                        <a:rPr lang="en-US" altLang="ko-KR" sz="1100" b="0" i="0" u="none" strike="noStrike">
                          <a:solidFill>
                            <a:srgbClr val="000000"/>
                          </a:solidFill>
                          <a:effectLst/>
                          <a:latin typeface="돋움"/>
                        </a:rPr>
                        <a:t>20</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09550">
                <a:tc>
                  <a:txBody>
                    <a:bodyPr/>
                    <a:lstStyle/>
                    <a:p>
                      <a:pPr algn="ctr" fontAlgn="ctr"/>
                      <a:r>
                        <a:rPr lang="en-US" altLang="ko-KR" sz="1100" b="0" i="0" u="none" strike="noStrike">
                          <a:solidFill>
                            <a:srgbClr val="000000"/>
                          </a:solidFill>
                          <a:effectLst/>
                          <a:latin typeface="돋움"/>
                        </a:rPr>
                        <a:t>21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09550">
                <a:tc>
                  <a:txBody>
                    <a:bodyPr/>
                    <a:lstStyle/>
                    <a:p>
                      <a:pPr algn="ctr" fontAlgn="ctr"/>
                      <a:r>
                        <a:rPr lang="en-US" altLang="ko-KR" sz="1100" b="0" i="0" u="none" strike="noStrike">
                          <a:solidFill>
                            <a:srgbClr val="000000"/>
                          </a:solidFill>
                          <a:effectLst/>
                          <a:latin typeface="돋움"/>
                        </a:rPr>
                        <a:t>22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09550">
                <a:tc>
                  <a:txBody>
                    <a:bodyPr/>
                    <a:lstStyle/>
                    <a:p>
                      <a:pPr algn="ctr" fontAlgn="ctr"/>
                      <a:r>
                        <a:rPr lang="en-US" altLang="ko-KR" sz="1100" b="0" i="0" u="none" strike="noStrike">
                          <a:solidFill>
                            <a:srgbClr val="000000"/>
                          </a:solidFill>
                          <a:effectLst/>
                          <a:latin typeface="돋움"/>
                        </a:rPr>
                        <a:t>23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09550">
                <a:tc>
                  <a:txBody>
                    <a:bodyPr/>
                    <a:lstStyle/>
                    <a:p>
                      <a:pPr algn="ctr" fontAlgn="ctr"/>
                      <a:r>
                        <a:rPr lang="en-US" altLang="ko-KR" sz="1100" b="0" i="0" u="none" strike="noStrike">
                          <a:solidFill>
                            <a:srgbClr val="000000"/>
                          </a:solidFill>
                          <a:effectLst/>
                          <a:latin typeface="돋움"/>
                        </a:rPr>
                        <a:t>24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09550">
                <a:tc>
                  <a:txBody>
                    <a:bodyPr/>
                    <a:lstStyle/>
                    <a:p>
                      <a:pPr algn="ctr" fontAlgn="ctr"/>
                      <a:r>
                        <a:rPr lang="en-US" altLang="ko-KR" sz="1100" b="0" i="0" u="none" strike="noStrike">
                          <a:solidFill>
                            <a:srgbClr val="000000"/>
                          </a:solidFill>
                          <a:effectLst/>
                          <a:latin typeface="돋움"/>
                        </a:rPr>
                        <a:t>25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09550">
                <a:tc>
                  <a:txBody>
                    <a:bodyPr/>
                    <a:lstStyle/>
                    <a:p>
                      <a:pPr algn="ctr" fontAlgn="ctr"/>
                      <a:r>
                        <a:rPr lang="en-US" altLang="ko-KR" sz="1100" b="0" i="0" u="none" strike="noStrike">
                          <a:solidFill>
                            <a:srgbClr val="000000"/>
                          </a:solidFill>
                          <a:effectLst/>
                          <a:latin typeface="돋움"/>
                        </a:rPr>
                        <a:t>26</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09550">
                <a:tc>
                  <a:txBody>
                    <a:bodyPr/>
                    <a:lstStyle/>
                    <a:p>
                      <a:pPr algn="ctr" fontAlgn="ctr"/>
                      <a:r>
                        <a:rPr lang="en-US" altLang="ko-KR" sz="1100" b="0" i="0" u="none" strike="noStrike">
                          <a:solidFill>
                            <a:srgbClr val="000000"/>
                          </a:solidFill>
                          <a:effectLst/>
                          <a:latin typeface="돋움"/>
                        </a:rPr>
                        <a:t>27</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09550">
                <a:tc>
                  <a:txBody>
                    <a:bodyPr/>
                    <a:lstStyle/>
                    <a:p>
                      <a:pPr algn="ctr" fontAlgn="ctr"/>
                      <a:r>
                        <a:rPr lang="en-US" altLang="ko-KR" sz="1100" b="0" i="0" u="none" strike="noStrike">
                          <a:solidFill>
                            <a:srgbClr val="000000"/>
                          </a:solidFill>
                          <a:effectLst/>
                          <a:latin typeface="돋움"/>
                        </a:rPr>
                        <a:t>28</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09550">
                <a:tc>
                  <a:txBody>
                    <a:bodyPr/>
                    <a:lstStyle/>
                    <a:p>
                      <a:pPr algn="ctr" fontAlgn="ctr"/>
                      <a:r>
                        <a:rPr lang="en-US" altLang="ko-KR" sz="1100" b="0" i="0" u="none" strike="noStrike">
                          <a:solidFill>
                            <a:srgbClr val="000000"/>
                          </a:solidFill>
                          <a:effectLst/>
                          <a:latin typeface="돋움"/>
                        </a:rPr>
                        <a:t>29</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7.28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09550">
                <a:tc>
                  <a:txBody>
                    <a:bodyPr/>
                    <a:lstStyle/>
                    <a:p>
                      <a:pPr algn="ctr" fontAlgn="ctr"/>
                      <a:r>
                        <a:rPr lang="en-US" altLang="ko-KR" sz="1100" b="0" i="0" u="none" strike="noStrike" dirty="0">
                          <a:solidFill>
                            <a:srgbClr val="000000"/>
                          </a:solidFill>
                          <a:effectLst/>
                          <a:latin typeface="돋움"/>
                        </a:rPr>
                        <a:t>30</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09550">
                <a:tc>
                  <a:txBody>
                    <a:bodyPr/>
                    <a:lstStyle/>
                    <a:p>
                      <a:pPr algn="ctr" fontAlgn="ctr"/>
                      <a:r>
                        <a:rPr lang="en-US" altLang="ko-KR" sz="1100" b="0" i="0" u="none" strike="noStrike" dirty="0">
                          <a:solidFill>
                            <a:srgbClr val="000000"/>
                          </a:solidFill>
                          <a:effectLst/>
                          <a:latin typeface="돋움"/>
                        </a:rPr>
                        <a:t>31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
        <p:nvSpPr>
          <p:cNvPr id="5" name="직사각형 4"/>
          <p:cNvSpPr/>
          <p:nvPr/>
        </p:nvSpPr>
        <p:spPr>
          <a:xfrm>
            <a:off x="916209" y="2204320"/>
            <a:ext cx="1452642" cy="307777"/>
          </a:xfrm>
          <a:prstGeom prst="rect">
            <a:avLst/>
          </a:prstGeom>
        </p:spPr>
        <p:txBody>
          <a:bodyPr wrap="none">
            <a:spAutoFit/>
          </a:bodyPr>
          <a:lstStyle/>
          <a:p>
            <a:pPr fontAlgn="base">
              <a:spcBef>
                <a:spcPct val="0"/>
              </a:spcBef>
              <a:spcAft>
                <a:spcPct val="0"/>
              </a:spcAft>
            </a:pPr>
            <a:r>
              <a:rPr kumimoji="1" lang="en-US" altLang="ko-KR" sz="1400" b="1" dirty="0">
                <a:solidFill>
                  <a:prstClr val="black"/>
                </a:solidFill>
                <a:latin typeface="굴림" pitchFamily="50" charset="-127"/>
                <a:ea typeface="굴림" pitchFamily="50" charset="-127"/>
              </a:rPr>
              <a:t>Spec: 7.5±2.5 </a:t>
            </a:r>
            <a:endParaRPr kumimoji="1" lang="ko-KR" altLang="en-US" b="1" dirty="0">
              <a:solidFill>
                <a:prstClr val="black"/>
              </a:solidFill>
              <a:latin typeface="굴림" pitchFamily="50" charset="-127"/>
              <a:ea typeface="굴림" pitchFamily="50" charset="-127"/>
            </a:endParaRPr>
          </a:p>
        </p:txBody>
      </p:sp>
      <p:sp>
        <p:nvSpPr>
          <p:cNvPr id="14" name="TextBox 13"/>
          <p:cNvSpPr txBox="1"/>
          <p:nvPr/>
        </p:nvSpPr>
        <p:spPr>
          <a:xfrm>
            <a:off x="323528" y="548682"/>
            <a:ext cx="1507144" cy="448328"/>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a:solidFill>
                  <a:prstClr val="black"/>
                </a:solidFill>
                <a:ea typeface="굴림" pitchFamily="50" charset="-127"/>
              </a:rPr>
              <a:t>Case study</a:t>
            </a:r>
            <a:endParaRPr kumimoji="1" lang="ko-KR" altLang="en-US" sz="2000" b="1" dirty="0">
              <a:solidFill>
                <a:prstClr val="black"/>
              </a:solidFill>
              <a:ea typeface="굴림" pitchFamily="50" charset="-127"/>
            </a:endParaRPr>
          </a:p>
        </p:txBody>
      </p:sp>
      <p:sp>
        <p:nvSpPr>
          <p:cNvPr id="1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309</a:t>
            </a:fld>
            <a:endParaRPr lang="ko-KR" altLang="en-US" sz="1200" dirty="0">
              <a:solidFill>
                <a:prstClr val="black"/>
              </a:solidFill>
            </a:endParaRPr>
          </a:p>
        </p:txBody>
      </p:sp>
    </p:spTree>
    <p:extLst>
      <p:ext uri="{BB962C8B-B14F-4D97-AF65-F5344CB8AC3E}">
        <p14:creationId xmlns:p14="http://schemas.microsoft.com/office/powerpoint/2010/main" val="3157728114"/>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Group 736"/>
          <p:cNvGraphicFramePr>
            <a:graphicFrameLocks noGrp="1"/>
          </p:cNvGraphicFramePr>
          <p:nvPr>
            <p:extLst>
              <p:ext uri="{D42A27DB-BD31-4B8C-83A1-F6EECF244321}">
                <p14:modId xmlns:p14="http://schemas.microsoft.com/office/powerpoint/2010/main" val="3065751300"/>
              </p:ext>
            </p:extLst>
          </p:nvPr>
        </p:nvGraphicFramePr>
        <p:xfrm>
          <a:off x="1248514" y="1842045"/>
          <a:ext cx="6844818" cy="1658940"/>
        </p:xfrm>
        <a:graphic>
          <a:graphicData uri="http://schemas.openxmlformats.org/drawingml/2006/table">
            <a:tbl>
              <a:tblPr/>
              <a:tblGrid>
                <a:gridCol w="844667">
                  <a:extLst>
                    <a:ext uri="{9D8B030D-6E8A-4147-A177-3AD203B41FA5}">
                      <a16:colId xmlns:a16="http://schemas.microsoft.com/office/drawing/2014/main" val="20000"/>
                    </a:ext>
                  </a:extLst>
                </a:gridCol>
                <a:gridCol w="400010">
                  <a:extLst>
                    <a:ext uri="{9D8B030D-6E8A-4147-A177-3AD203B41FA5}">
                      <a16:colId xmlns:a16="http://schemas.microsoft.com/office/drawing/2014/main" val="20001"/>
                    </a:ext>
                  </a:extLst>
                </a:gridCol>
                <a:gridCol w="400010">
                  <a:extLst>
                    <a:ext uri="{9D8B030D-6E8A-4147-A177-3AD203B41FA5}">
                      <a16:colId xmlns:a16="http://schemas.microsoft.com/office/drawing/2014/main" val="20002"/>
                    </a:ext>
                  </a:extLst>
                </a:gridCol>
                <a:gridCol w="400010">
                  <a:extLst>
                    <a:ext uri="{9D8B030D-6E8A-4147-A177-3AD203B41FA5}">
                      <a16:colId xmlns:a16="http://schemas.microsoft.com/office/drawing/2014/main" val="20003"/>
                    </a:ext>
                  </a:extLst>
                </a:gridCol>
                <a:gridCol w="400010">
                  <a:extLst>
                    <a:ext uri="{9D8B030D-6E8A-4147-A177-3AD203B41FA5}">
                      <a16:colId xmlns:a16="http://schemas.microsoft.com/office/drawing/2014/main" val="20004"/>
                    </a:ext>
                  </a:extLst>
                </a:gridCol>
                <a:gridCol w="401795">
                  <a:extLst>
                    <a:ext uri="{9D8B030D-6E8A-4147-A177-3AD203B41FA5}">
                      <a16:colId xmlns:a16="http://schemas.microsoft.com/office/drawing/2014/main" val="20005"/>
                    </a:ext>
                  </a:extLst>
                </a:gridCol>
                <a:gridCol w="398226">
                  <a:extLst>
                    <a:ext uri="{9D8B030D-6E8A-4147-A177-3AD203B41FA5}">
                      <a16:colId xmlns:a16="http://schemas.microsoft.com/office/drawing/2014/main" val="20006"/>
                    </a:ext>
                  </a:extLst>
                </a:gridCol>
                <a:gridCol w="400010">
                  <a:extLst>
                    <a:ext uri="{9D8B030D-6E8A-4147-A177-3AD203B41FA5}">
                      <a16:colId xmlns:a16="http://schemas.microsoft.com/office/drawing/2014/main" val="20007"/>
                    </a:ext>
                  </a:extLst>
                </a:gridCol>
                <a:gridCol w="400010">
                  <a:extLst>
                    <a:ext uri="{9D8B030D-6E8A-4147-A177-3AD203B41FA5}">
                      <a16:colId xmlns:a16="http://schemas.microsoft.com/office/drawing/2014/main" val="20008"/>
                    </a:ext>
                  </a:extLst>
                </a:gridCol>
                <a:gridCol w="400010">
                  <a:extLst>
                    <a:ext uri="{9D8B030D-6E8A-4147-A177-3AD203B41FA5}">
                      <a16:colId xmlns:a16="http://schemas.microsoft.com/office/drawing/2014/main" val="20009"/>
                    </a:ext>
                  </a:extLst>
                </a:gridCol>
                <a:gridCol w="400010">
                  <a:extLst>
                    <a:ext uri="{9D8B030D-6E8A-4147-A177-3AD203B41FA5}">
                      <a16:colId xmlns:a16="http://schemas.microsoft.com/office/drawing/2014/main" val="20010"/>
                    </a:ext>
                  </a:extLst>
                </a:gridCol>
                <a:gridCol w="400010">
                  <a:extLst>
                    <a:ext uri="{9D8B030D-6E8A-4147-A177-3AD203B41FA5}">
                      <a16:colId xmlns:a16="http://schemas.microsoft.com/office/drawing/2014/main" val="20011"/>
                    </a:ext>
                  </a:extLst>
                </a:gridCol>
                <a:gridCol w="400010">
                  <a:extLst>
                    <a:ext uri="{9D8B030D-6E8A-4147-A177-3AD203B41FA5}">
                      <a16:colId xmlns:a16="http://schemas.microsoft.com/office/drawing/2014/main" val="20012"/>
                    </a:ext>
                  </a:extLst>
                </a:gridCol>
                <a:gridCol w="400010">
                  <a:extLst>
                    <a:ext uri="{9D8B030D-6E8A-4147-A177-3AD203B41FA5}">
                      <a16:colId xmlns:a16="http://schemas.microsoft.com/office/drawing/2014/main" val="20013"/>
                    </a:ext>
                  </a:extLst>
                </a:gridCol>
                <a:gridCol w="400010">
                  <a:extLst>
                    <a:ext uri="{9D8B030D-6E8A-4147-A177-3AD203B41FA5}">
                      <a16:colId xmlns:a16="http://schemas.microsoft.com/office/drawing/2014/main" val="20014"/>
                    </a:ext>
                  </a:extLst>
                </a:gridCol>
                <a:gridCol w="400010">
                  <a:extLst>
                    <a:ext uri="{9D8B030D-6E8A-4147-A177-3AD203B41FA5}">
                      <a16:colId xmlns:a16="http://schemas.microsoft.com/office/drawing/2014/main" val="20015"/>
                    </a:ext>
                  </a:extLst>
                </a:gridCol>
              </a:tblGrid>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0"/>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1"/>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C</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cap="none" normalizeH="0" baseline="0" dirty="0">
                          <a:ln>
                            <a:noFill/>
                          </a:ln>
                          <a:solidFill>
                            <a:schemeClr val="tx1"/>
                          </a:solidFill>
                          <a:effectLst/>
                          <a:latin typeface="Arial" pitchFamily="34" charset="0"/>
                          <a:ea typeface="돋움" pitchFamily="50" charset="-127"/>
                        </a:rPr>
                        <a:t>B</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cap="none" normalizeH="0" baseline="0" dirty="0">
                        <a:ln>
                          <a:noFill/>
                        </a:ln>
                        <a:solidFill>
                          <a:schemeClr val="tx1"/>
                        </a:solidFill>
                        <a:effectLst/>
                        <a:latin typeface="Arial" pitchFamily="34" charset="0"/>
                        <a:ea typeface="돋움" pitchFamily="50" charset="-127"/>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0004"/>
                  </a:ext>
                </a:extLst>
              </a:tr>
              <a:tr h="276490">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b="1" i="0" u="none" strike="noStrike" kern="1200" cap="none" normalizeH="0" baseline="0" dirty="0">
                          <a:ln>
                            <a:noFill/>
                          </a:ln>
                          <a:solidFill>
                            <a:schemeClr val="tx1"/>
                          </a:solidFill>
                          <a:effectLst/>
                          <a:latin typeface="Arial" pitchFamily="34" charset="0"/>
                          <a:ea typeface="돋움" pitchFamily="50" charset="-127"/>
                          <a:cs typeface="+mn-cs"/>
                        </a:rPr>
                        <a:t>A</a:t>
                      </a: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lvl1pPr eaLnBrk="0" hangingPunct="0">
                        <a:spcBef>
                          <a:spcPct val="20000"/>
                        </a:spcBef>
                        <a:buFont typeface="Arial" pitchFamily="34" charset="0"/>
                        <a:defRPr sz="2800">
                          <a:solidFill>
                            <a:schemeClr val="tx1"/>
                          </a:solidFill>
                          <a:latin typeface="맑은 고딕" pitchFamily="50" charset="-127"/>
                          <a:ea typeface="맑은 고딕" pitchFamily="50" charset="-127"/>
                        </a:defRPr>
                      </a:lvl1pPr>
                      <a:lvl2pPr marL="742950" indent="-285750" eaLnBrk="0" hangingPunct="0">
                        <a:spcBef>
                          <a:spcPct val="20000"/>
                        </a:spcBef>
                        <a:buFont typeface="Arial" pitchFamily="34" charset="0"/>
                        <a:defRPr sz="2400">
                          <a:solidFill>
                            <a:schemeClr val="tx1"/>
                          </a:solidFill>
                          <a:latin typeface="맑은 고딕" pitchFamily="50" charset="-127"/>
                          <a:ea typeface="맑은 고딕" pitchFamily="50" charset="-127"/>
                        </a:defRPr>
                      </a:lvl2pPr>
                      <a:lvl3pPr marL="1143000" indent="-228600" eaLnBrk="0" hangingPunct="0">
                        <a:spcBef>
                          <a:spcPct val="20000"/>
                        </a:spcBef>
                        <a:buFont typeface="Arial" pitchFamily="34" charset="0"/>
                        <a:defRPr sz="2000">
                          <a:solidFill>
                            <a:schemeClr val="tx1"/>
                          </a:solidFill>
                          <a:latin typeface="맑은 고딕" pitchFamily="50" charset="-127"/>
                          <a:ea typeface="맑은 고딕" pitchFamily="50" charset="-127"/>
                        </a:defRPr>
                      </a:lvl3pPr>
                      <a:lvl4pPr marL="16002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4pPr>
                      <a:lvl5pPr marL="2057400" indent="-228600" eaLnBrk="0" hangingPunct="0">
                        <a:spcBef>
                          <a:spcPct val="20000"/>
                        </a:spcBef>
                        <a:buFont typeface="Arial" pitchFamily="34" charset="0"/>
                        <a:defRPr>
                          <a:solidFill>
                            <a:schemeClr val="tx1"/>
                          </a:solidFill>
                          <a:latin typeface="맑은 고딕" pitchFamily="50" charset="-127"/>
                          <a:ea typeface="맑은 고딕" pitchFamily="50" charset="-127"/>
                        </a:defRPr>
                      </a:lvl5pPr>
                      <a:lvl6pPr marL="25146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6pPr>
                      <a:lvl7pPr marL="29718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7pPr>
                      <a:lvl8pPr marL="34290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8pPr>
                      <a:lvl9pPr marL="3886200" indent="-228600" eaLnBrk="0" fontAlgn="base" hangingPunct="0">
                        <a:spcBef>
                          <a:spcPct val="20000"/>
                        </a:spcBef>
                        <a:spcAft>
                          <a:spcPct val="0"/>
                        </a:spcAft>
                        <a:buFont typeface="Arial" pitchFamily="34" charset="0"/>
                        <a:defRPr>
                          <a:solidFill>
                            <a:schemeClr val="tx1"/>
                          </a:solidFill>
                          <a:latin typeface="맑은 고딕" pitchFamily="50" charset="-127"/>
                          <a:ea typeface="맑은 고딕" pitchFamily="50" charset="-127"/>
                        </a:defRPr>
                      </a:lvl9p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200" b="1" i="0" u="none" strike="noStrike" kern="1200" cap="none" normalizeH="0" baseline="0" dirty="0">
                        <a:ln>
                          <a:noFill/>
                        </a:ln>
                        <a:solidFill>
                          <a:schemeClr val="tx1"/>
                        </a:solidFill>
                        <a:effectLst/>
                        <a:latin typeface="Arial" pitchFamily="34" charset="0"/>
                        <a:ea typeface="돋움" pitchFamily="50" charset="-127"/>
                        <a:cs typeface="+mn-cs"/>
                      </a:endParaRPr>
                    </a:p>
                  </a:txBody>
                  <a:tcPr marL="83073" marR="83073" marT="46802" marB="46802"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ashDot"/>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a16="http://schemas.microsoft.com/office/drawing/2014/main" val="10005"/>
                  </a:ext>
                </a:extLst>
              </a:tr>
            </a:tbl>
          </a:graphicData>
        </a:graphic>
      </p:graphicFrame>
      <p:sp>
        <p:nvSpPr>
          <p:cNvPr id="31867" name="Text Box 3"/>
          <p:cNvSpPr txBox="1">
            <a:spLocks noChangeArrowheads="1"/>
          </p:cNvSpPr>
          <p:nvPr/>
        </p:nvSpPr>
        <p:spPr bwMode="auto">
          <a:xfrm>
            <a:off x="703395" y="1268962"/>
            <a:ext cx="5452924" cy="33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43200" rIns="90000" bIns="43200">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ctr" hangingPunct="1">
              <a:spcBef>
                <a:spcPct val="50000"/>
              </a:spcBef>
              <a:spcAft>
                <a:spcPct val="0"/>
              </a:spcAft>
            </a:pP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Khi</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trong</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vùng</a:t>
            </a:r>
            <a:r>
              <a:rPr lang="en-US" altLang="ko-KR" sz="1600" b="1" dirty="0">
                <a:solidFill>
                  <a:prstClr val="black"/>
                </a:solidFill>
                <a:latin typeface="맑은 고딕" pitchFamily="50" charset="-127"/>
                <a:ea typeface="맑은 고딕" pitchFamily="50" charset="-127"/>
              </a:rPr>
              <a:t> A</a:t>
            </a:r>
            <a:r>
              <a:rPr lang="ko-KR" altLang="en-US"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và</a:t>
            </a:r>
            <a:r>
              <a:rPr lang="en-US" altLang="ko-KR" sz="1600" b="1" dirty="0">
                <a:solidFill>
                  <a:prstClr val="black"/>
                </a:solidFill>
                <a:latin typeface="맑은 고딕" pitchFamily="50" charset="-127"/>
                <a:ea typeface="맑은 고딕" pitchFamily="50" charset="-127"/>
              </a:rPr>
              <a:t> B </a:t>
            </a:r>
            <a:r>
              <a:rPr lang="en-US" altLang="ko-KR" sz="1600" b="1" dirty="0" err="1">
                <a:solidFill>
                  <a:prstClr val="black"/>
                </a:solidFill>
                <a:latin typeface="맑은 고딕" pitchFamily="50" charset="-127"/>
                <a:ea typeface="맑은 고딕" pitchFamily="50" charset="-127"/>
              </a:rPr>
              <a:t>xuất</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hiện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trên</a:t>
            </a:r>
            <a:r>
              <a:rPr lang="en-US" altLang="ko-KR" sz="1600" b="1" dirty="0">
                <a:solidFill>
                  <a:prstClr val="black"/>
                </a:solidFill>
                <a:latin typeface="맑은 고딕" pitchFamily="50" charset="-127"/>
                <a:ea typeface="맑은 고딕" pitchFamily="50" charset="-127"/>
              </a:rPr>
              <a:t> 8 </a:t>
            </a:r>
            <a:r>
              <a:rPr lang="en-US" altLang="ko-KR" sz="1600" b="1" dirty="0" err="1">
                <a:solidFill>
                  <a:prstClr val="black"/>
                </a:solidFill>
                <a:latin typeface="맑은 고딕" pitchFamily="50" charset="-127"/>
                <a:ea typeface="맑은 고딕" pitchFamily="50" charset="-127"/>
              </a:rPr>
              <a:t>điểm</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liên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tục</a:t>
            </a:r>
            <a:endParaRPr lang="ko-KR" altLang="en-US" sz="1600" b="1" dirty="0">
              <a:solidFill>
                <a:prstClr val="black"/>
              </a:solidFill>
              <a:latin typeface="맑은 고딕" pitchFamily="50" charset="-127"/>
              <a:ea typeface="맑은 고딕" pitchFamily="50" charset="-127"/>
            </a:endParaRPr>
          </a:p>
        </p:txBody>
      </p:sp>
      <p:sp>
        <p:nvSpPr>
          <p:cNvPr id="31868" name="Oval 126"/>
          <p:cNvSpPr>
            <a:spLocks noChangeArrowheads="1"/>
          </p:cNvSpPr>
          <p:nvPr/>
        </p:nvSpPr>
        <p:spPr bwMode="auto">
          <a:xfrm>
            <a:off x="2184889" y="30691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69" name="Oval 127"/>
          <p:cNvSpPr>
            <a:spLocks noChangeArrowheads="1"/>
          </p:cNvSpPr>
          <p:nvPr/>
        </p:nvSpPr>
        <p:spPr bwMode="auto">
          <a:xfrm>
            <a:off x="2645020" y="24929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0" name="Oval 128"/>
          <p:cNvSpPr>
            <a:spLocks noChangeArrowheads="1"/>
          </p:cNvSpPr>
          <p:nvPr/>
        </p:nvSpPr>
        <p:spPr bwMode="auto">
          <a:xfrm>
            <a:off x="2993783" y="22770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1" name="Oval 129"/>
          <p:cNvSpPr>
            <a:spLocks noChangeArrowheads="1"/>
          </p:cNvSpPr>
          <p:nvPr/>
        </p:nvSpPr>
        <p:spPr bwMode="auto">
          <a:xfrm>
            <a:off x="3398231" y="2132557"/>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2" name="Oval 130"/>
          <p:cNvSpPr>
            <a:spLocks noChangeArrowheads="1"/>
          </p:cNvSpPr>
          <p:nvPr/>
        </p:nvSpPr>
        <p:spPr bwMode="auto">
          <a:xfrm>
            <a:off x="3802679" y="2277041"/>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3" name="Oval 131"/>
          <p:cNvSpPr>
            <a:spLocks noChangeArrowheads="1"/>
          </p:cNvSpPr>
          <p:nvPr/>
        </p:nvSpPr>
        <p:spPr bwMode="auto">
          <a:xfrm>
            <a:off x="4208585" y="30691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74" name="Oval 132"/>
          <p:cNvSpPr>
            <a:spLocks noChangeArrowheads="1"/>
          </p:cNvSpPr>
          <p:nvPr/>
        </p:nvSpPr>
        <p:spPr bwMode="auto">
          <a:xfrm>
            <a:off x="4613033" y="2997766"/>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1875" name="AutoShape 133"/>
          <p:cNvCxnSpPr>
            <a:cxnSpLocks noChangeShapeType="1"/>
            <a:stCxn id="31868" idx="5"/>
            <a:endCxn id="31869" idx="2"/>
          </p:cNvCxnSpPr>
          <p:nvPr/>
        </p:nvCxnSpPr>
        <p:spPr bwMode="auto">
          <a:xfrm flipV="1">
            <a:off x="2240574" y="2529453"/>
            <a:ext cx="404446" cy="60007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6" name="AutoShape 134"/>
          <p:cNvCxnSpPr>
            <a:cxnSpLocks noChangeShapeType="1"/>
            <a:stCxn id="31869" idx="6"/>
            <a:endCxn id="31870" idx="3"/>
          </p:cNvCxnSpPr>
          <p:nvPr/>
        </p:nvCxnSpPr>
        <p:spPr bwMode="auto">
          <a:xfrm flipV="1">
            <a:off x="2710962" y="2337366"/>
            <a:ext cx="293077" cy="19208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7" name="AutoShape 135"/>
          <p:cNvCxnSpPr>
            <a:cxnSpLocks noChangeShapeType="1"/>
            <a:stCxn id="31871" idx="6"/>
            <a:endCxn id="31872" idx="2"/>
          </p:cNvCxnSpPr>
          <p:nvPr/>
        </p:nvCxnSpPr>
        <p:spPr bwMode="auto">
          <a:xfrm>
            <a:off x="3464174" y="2169070"/>
            <a:ext cx="338504" cy="144462"/>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8" name="AutoShape 136"/>
          <p:cNvCxnSpPr>
            <a:cxnSpLocks noChangeShapeType="1"/>
            <a:stCxn id="31872" idx="5"/>
            <a:endCxn id="31873" idx="1"/>
          </p:cNvCxnSpPr>
          <p:nvPr/>
        </p:nvCxnSpPr>
        <p:spPr bwMode="auto">
          <a:xfrm>
            <a:off x="3858368" y="2337345"/>
            <a:ext cx="360485"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79" name="AutoShape 137"/>
          <p:cNvCxnSpPr>
            <a:cxnSpLocks noChangeShapeType="1"/>
            <a:stCxn id="31873" idx="6"/>
            <a:endCxn id="31874" idx="2"/>
          </p:cNvCxnSpPr>
          <p:nvPr/>
        </p:nvCxnSpPr>
        <p:spPr bwMode="auto">
          <a:xfrm flipV="1">
            <a:off x="4274529" y="3034257"/>
            <a:ext cx="338503" cy="71438"/>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80" name="Oval 138"/>
          <p:cNvSpPr>
            <a:spLocks noChangeArrowheads="1"/>
          </p:cNvSpPr>
          <p:nvPr/>
        </p:nvSpPr>
        <p:spPr bwMode="auto">
          <a:xfrm>
            <a:off x="5017481" y="22055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1" name="Oval 139"/>
          <p:cNvSpPr>
            <a:spLocks noChangeArrowheads="1"/>
          </p:cNvSpPr>
          <p:nvPr/>
        </p:nvSpPr>
        <p:spPr bwMode="auto">
          <a:xfrm>
            <a:off x="5421929" y="1989682"/>
            <a:ext cx="65943"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2" name="Oval 140"/>
          <p:cNvSpPr>
            <a:spLocks noChangeArrowheads="1"/>
          </p:cNvSpPr>
          <p:nvPr/>
        </p:nvSpPr>
        <p:spPr bwMode="auto">
          <a:xfrm>
            <a:off x="5826369" y="227704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3" name="Oval 141"/>
          <p:cNvSpPr>
            <a:spLocks noChangeArrowheads="1"/>
          </p:cNvSpPr>
          <p:nvPr/>
        </p:nvSpPr>
        <p:spPr bwMode="auto">
          <a:xfrm>
            <a:off x="6232283" y="27818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884" name="Oval 142"/>
          <p:cNvSpPr>
            <a:spLocks noChangeArrowheads="1"/>
          </p:cNvSpPr>
          <p:nvPr/>
        </p:nvSpPr>
        <p:spPr bwMode="auto">
          <a:xfrm>
            <a:off x="6636731" y="3142207"/>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1885" name="AutoShape 143"/>
          <p:cNvCxnSpPr>
            <a:cxnSpLocks noChangeShapeType="1"/>
            <a:stCxn id="31880" idx="7"/>
            <a:endCxn id="31881" idx="2"/>
          </p:cNvCxnSpPr>
          <p:nvPr/>
        </p:nvCxnSpPr>
        <p:spPr bwMode="auto">
          <a:xfrm flipV="1">
            <a:off x="5073162" y="2026195"/>
            <a:ext cx="348762" cy="19050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86" name="AutoShape 144"/>
          <p:cNvCxnSpPr>
            <a:cxnSpLocks noChangeShapeType="1"/>
            <a:stCxn id="31881" idx="5"/>
            <a:endCxn id="31882" idx="2"/>
          </p:cNvCxnSpPr>
          <p:nvPr/>
        </p:nvCxnSpPr>
        <p:spPr bwMode="auto">
          <a:xfrm>
            <a:off x="5477608" y="2050028"/>
            <a:ext cx="348762" cy="2635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87" name="Text Box 2"/>
          <p:cNvSpPr txBox="1">
            <a:spLocks noChangeArrowheads="1"/>
          </p:cNvSpPr>
          <p:nvPr/>
        </p:nvSpPr>
        <p:spPr bwMode="auto">
          <a:xfrm>
            <a:off x="849924" y="692696"/>
            <a:ext cx="32637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50000"/>
              </a:spcBef>
              <a:spcAft>
                <a:spcPct val="0"/>
              </a:spcAft>
            </a:pPr>
            <a:r>
              <a:rPr lang="en-US" altLang="ko-KR" b="1" dirty="0">
                <a:solidFill>
                  <a:prstClr val="black"/>
                </a:solidFill>
                <a:latin typeface="맑은 고딕" pitchFamily="50" charset="-127"/>
                <a:ea typeface="맑은 고딕" pitchFamily="50" charset="-127"/>
              </a:rPr>
              <a:t>&lt; </a:t>
            </a:r>
            <a:r>
              <a:rPr lang="en-US" altLang="ko-KR" b="1" dirty="0" err="1">
                <a:solidFill>
                  <a:prstClr val="black"/>
                </a:solidFill>
                <a:latin typeface="맑은 고딕" pitchFamily="50" charset="-127"/>
                <a:ea typeface="맑은 고딕" pitchFamily="50" charset="-127"/>
              </a:rPr>
              <a:t>Phân</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tán</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nghiêm</a:t>
            </a:r>
            <a:r>
              <a:rPr lang="en-US" altLang="ko-KR" b="1" dirty="0">
                <a:solidFill>
                  <a:prstClr val="black"/>
                </a:solidFill>
                <a:latin typeface="맑은 고딕" pitchFamily="50" charset="-127"/>
                <a:ea typeface="맑은 고딕" pitchFamily="50" charset="-127"/>
              </a:rPr>
              <a:t> </a:t>
            </a:r>
            <a:r>
              <a:rPr lang="en-US" altLang="ko-KR" b="1" dirty="0" err="1">
                <a:solidFill>
                  <a:prstClr val="black"/>
                </a:solidFill>
                <a:latin typeface="맑은 고딕" pitchFamily="50" charset="-127"/>
                <a:ea typeface="맑은 고딕" pitchFamily="50" charset="-127"/>
              </a:rPr>
              <a:t>trọng</a:t>
            </a:r>
            <a:r>
              <a:rPr lang="ko-KR" altLang="en-US" b="1" dirty="0">
                <a:solidFill>
                  <a:prstClr val="black"/>
                </a:solidFill>
                <a:latin typeface="맑은 고딕" pitchFamily="50" charset="-127"/>
                <a:ea typeface="맑은 고딕" pitchFamily="50" charset="-127"/>
              </a:rPr>
              <a:t> </a:t>
            </a:r>
            <a:r>
              <a:rPr lang="en-US" altLang="ko-KR" b="1" dirty="0">
                <a:solidFill>
                  <a:prstClr val="black"/>
                </a:solidFill>
                <a:latin typeface="맑은 고딕" pitchFamily="50" charset="-127"/>
                <a:ea typeface="맑은 고딕" pitchFamily="50" charset="-127"/>
              </a:rPr>
              <a:t>&gt;</a:t>
            </a:r>
            <a:endParaRPr lang="ko-KR" altLang="en-US" b="1" dirty="0">
              <a:solidFill>
                <a:prstClr val="black"/>
              </a:solidFill>
              <a:latin typeface="맑은 고딕" pitchFamily="50" charset="-127"/>
              <a:ea typeface="맑은 고딕" pitchFamily="50" charset="-127"/>
            </a:endParaRPr>
          </a:p>
        </p:txBody>
      </p:sp>
      <p:cxnSp>
        <p:nvCxnSpPr>
          <p:cNvPr id="31888" name="AutoShape 147"/>
          <p:cNvCxnSpPr>
            <a:cxnSpLocks noChangeShapeType="1"/>
            <a:stCxn id="31870" idx="7"/>
            <a:endCxn id="31871" idx="3"/>
          </p:cNvCxnSpPr>
          <p:nvPr/>
        </p:nvCxnSpPr>
        <p:spPr bwMode="auto">
          <a:xfrm flipV="1">
            <a:off x="3049476" y="2192882"/>
            <a:ext cx="359019" cy="952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89" name="AutoShape 148"/>
          <p:cNvCxnSpPr>
            <a:cxnSpLocks noChangeShapeType="1"/>
            <a:stCxn id="31874" idx="7"/>
            <a:endCxn id="31880" idx="3"/>
          </p:cNvCxnSpPr>
          <p:nvPr/>
        </p:nvCxnSpPr>
        <p:spPr bwMode="auto">
          <a:xfrm flipV="1">
            <a:off x="4668715" y="2265907"/>
            <a:ext cx="359020"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90" name="AutoShape 149"/>
          <p:cNvCxnSpPr>
            <a:cxnSpLocks noChangeShapeType="1"/>
            <a:stCxn id="31882" idx="5"/>
            <a:endCxn id="31883" idx="1"/>
          </p:cNvCxnSpPr>
          <p:nvPr/>
        </p:nvCxnSpPr>
        <p:spPr bwMode="auto">
          <a:xfrm>
            <a:off x="5882064" y="2337366"/>
            <a:ext cx="360485" cy="454025"/>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891" name="AutoShape 150"/>
          <p:cNvCxnSpPr>
            <a:cxnSpLocks noChangeShapeType="1"/>
            <a:stCxn id="31883" idx="5"/>
            <a:endCxn id="31884" idx="2"/>
          </p:cNvCxnSpPr>
          <p:nvPr/>
        </p:nvCxnSpPr>
        <p:spPr bwMode="auto">
          <a:xfrm>
            <a:off x="6287966" y="2842170"/>
            <a:ext cx="348762" cy="3365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892" name="Text Box 151"/>
          <p:cNvSpPr txBox="1">
            <a:spLocks noChangeArrowheads="1"/>
          </p:cNvSpPr>
          <p:nvPr/>
        </p:nvSpPr>
        <p:spPr bwMode="auto">
          <a:xfrm>
            <a:off x="627196" y="1700757"/>
            <a:ext cx="5725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UCL</a:t>
            </a:r>
          </a:p>
        </p:txBody>
      </p:sp>
      <p:sp>
        <p:nvSpPr>
          <p:cNvPr id="31893" name="Text Box 152"/>
          <p:cNvSpPr txBox="1">
            <a:spLocks noChangeArrowheads="1"/>
          </p:cNvSpPr>
          <p:nvPr/>
        </p:nvSpPr>
        <p:spPr bwMode="auto">
          <a:xfrm>
            <a:off x="627186" y="3285082"/>
            <a:ext cx="522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LCL</a:t>
            </a:r>
          </a:p>
        </p:txBody>
      </p:sp>
      <p:sp>
        <p:nvSpPr>
          <p:cNvPr id="31894" name="AutoShape 153"/>
          <p:cNvSpPr>
            <a:spLocks noChangeArrowheads="1"/>
          </p:cNvSpPr>
          <p:nvPr/>
        </p:nvSpPr>
        <p:spPr bwMode="auto">
          <a:xfrm>
            <a:off x="583228" y="4300538"/>
            <a:ext cx="931985" cy="361950"/>
          </a:xfrm>
          <a:prstGeom prst="roundRect">
            <a:avLst>
              <a:gd name="adj" fmla="val 50000"/>
            </a:avLst>
          </a:prstGeom>
          <a:solidFill>
            <a:srgbClr val="DDD1DC"/>
          </a:solidFill>
          <a:ln w="38100" cmpd="dbl" algn="ctr">
            <a:solidFill>
              <a:srgbClr val="008000"/>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ko-KR" altLang="en-US" sz="1600" b="1" dirty="0">
                <a:solidFill>
                  <a:prstClr val="black"/>
                </a:solidFill>
                <a:latin typeface="맑은 고딕" pitchFamily="50" charset="-127"/>
                <a:ea typeface="맑은 고딕" pitchFamily="50" charset="-127"/>
              </a:rPr>
              <a:t>원인</a:t>
            </a:r>
          </a:p>
        </p:txBody>
      </p:sp>
      <p:sp>
        <p:nvSpPr>
          <p:cNvPr id="31895" name="Text Box 154"/>
          <p:cNvSpPr txBox="1">
            <a:spLocks noChangeArrowheads="1"/>
          </p:cNvSpPr>
          <p:nvPr/>
        </p:nvSpPr>
        <p:spPr bwMode="auto">
          <a:xfrm>
            <a:off x="696059" y="2492921"/>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1600" b="1" dirty="0">
                <a:solidFill>
                  <a:prstClr val="black"/>
                </a:solidFill>
                <a:latin typeface="맑은 고딕" pitchFamily="50" charset="-127"/>
                <a:ea typeface="맑은 고딕" pitchFamily="50" charset="-127"/>
              </a:rPr>
              <a:t>CL</a:t>
            </a:r>
          </a:p>
        </p:txBody>
      </p:sp>
      <p:sp>
        <p:nvSpPr>
          <p:cNvPr id="31896" name="AutoShape 155"/>
          <p:cNvSpPr>
            <a:spLocks noChangeArrowheads="1"/>
          </p:cNvSpPr>
          <p:nvPr/>
        </p:nvSpPr>
        <p:spPr bwMode="auto">
          <a:xfrm>
            <a:off x="583228" y="4300538"/>
            <a:ext cx="931985" cy="361950"/>
          </a:xfrm>
          <a:prstGeom prst="roundRect">
            <a:avLst>
              <a:gd name="adj" fmla="val 50000"/>
            </a:avLst>
          </a:prstGeom>
          <a:solidFill>
            <a:srgbClr val="DDD1DC"/>
          </a:solidFill>
          <a:ln w="38100" cmpd="dbl" algn="ctr">
            <a:solidFill>
              <a:schemeClr val="tx1"/>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algn="ctr" eaLnBrk="1" fontAlgn="base" hangingPunct="1">
              <a:spcBef>
                <a:spcPct val="0"/>
              </a:spcBef>
              <a:spcAft>
                <a:spcPct val="0"/>
              </a:spcAft>
            </a:pPr>
            <a:r>
              <a:rPr lang="en-US" altLang="ko-KR" sz="1600" b="1" dirty="0" err="1">
                <a:solidFill>
                  <a:prstClr val="black"/>
                </a:solidFill>
                <a:latin typeface="맑은 고딕" pitchFamily="50" charset="-127"/>
                <a:ea typeface="맑은 고딕" pitchFamily="50" charset="-127"/>
              </a:rPr>
              <a:t>Nguyên</a:t>
            </a:r>
            <a:r>
              <a:rPr lang="en-US" altLang="ko-KR" sz="1600" b="1" dirty="0">
                <a:solidFill>
                  <a:prstClr val="black"/>
                </a:solidFill>
                <a:latin typeface="맑은 고딕" pitchFamily="50" charset="-127"/>
                <a:ea typeface="맑은 고딕" pitchFamily="50" charset="-127"/>
              </a:rPr>
              <a:t> </a:t>
            </a:r>
            <a:r>
              <a:rPr lang="en-US" altLang="ko-KR" sz="1600" b="1" dirty="0" err="1">
                <a:solidFill>
                  <a:prstClr val="black"/>
                </a:solidFill>
                <a:latin typeface="맑은 고딕" pitchFamily="50" charset="-127"/>
                <a:ea typeface="맑은 고딕" pitchFamily="50" charset="-127"/>
              </a:rPr>
              <a:t>nhân</a:t>
            </a:r>
            <a:endParaRPr lang="ko-KR" altLang="en-US" sz="1600" b="1" dirty="0">
              <a:solidFill>
                <a:prstClr val="black"/>
              </a:solidFill>
              <a:latin typeface="맑은 고딕" pitchFamily="50" charset="-127"/>
              <a:ea typeface="맑은 고딕" pitchFamily="50" charset="-127"/>
            </a:endParaRPr>
          </a:p>
        </p:txBody>
      </p:sp>
      <p:graphicFrame>
        <p:nvGraphicFramePr>
          <p:cNvPr id="33" name="Group 183"/>
          <p:cNvGraphicFramePr>
            <a:graphicFrameLocks noGrp="1"/>
          </p:cNvGraphicFramePr>
          <p:nvPr/>
        </p:nvGraphicFramePr>
        <p:xfrm>
          <a:off x="649166" y="4732359"/>
          <a:ext cx="7444154" cy="1467360"/>
        </p:xfrm>
        <a:graphic>
          <a:graphicData uri="http://schemas.openxmlformats.org/drawingml/2006/table">
            <a:tbl>
              <a:tblPr/>
              <a:tblGrid>
                <a:gridCol w="1082920">
                  <a:extLst>
                    <a:ext uri="{9D8B030D-6E8A-4147-A177-3AD203B41FA5}">
                      <a16:colId xmlns:a16="http://schemas.microsoft.com/office/drawing/2014/main" val="20000"/>
                    </a:ext>
                  </a:extLst>
                </a:gridCol>
                <a:gridCol w="6361234">
                  <a:extLst>
                    <a:ext uri="{9D8B030D-6E8A-4147-A177-3AD203B41FA5}">
                      <a16:colId xmlns:a16="http://schemas.microsoft.com/office/drawing/2014/main" val="20001"/>
                    </a:ext>
                  </a:extLst>
                </a:gridCol>
              </a:tblGrid>
              <a:tr h="565149">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돋움" pitchFamily="50" charset="-127"/>
                        </a:rPr>
                        <a:t>Đồ</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thị</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quản</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lý</a:t>
                      </a:r>
                      <a:r>
                        <a:rPr kumimoji="1" lang="en-US" altLang="ko-KR" sz="1400" b="1" i="0" u="none" strike="noStrike" cap="none" normalizeH="0" baseline="0" dirty="0">
                          <a:ln>
                            <a:noFill/>
                          </a:ln>
                          <a:solidFill>
                            <a:schemeClr val="tx1"/>
                          </a:solidFill>
                          <a:effectLst/>
                          <a:latin typeface="Arial" pitchFamily="34" charset="0"/>
                          <a:ea typeface="돋움" pitchFamily="50" charset="-127"/>
                        </a:rPr>
                        <a:t> R</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돋움" pitchFamily="50" charset="-127"/>
                        </a:rPr>
                        <a:t>Phát</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sinh</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trong</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trường</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hợp</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kết</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hợp</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người</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cung</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cấp</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nhau</a:t>
                      </a:r>
                      <a:r>
                        <a:rPr kumimoji="1" lang="en-US" altLang="ko-KR" sz="1400" b="1" i="0" u="none" strike="noStrike" cap="none" normalizeH="0" baseline="0" dirty="0">
                          <a:ln>
                            <a:noFill/>
                          </a:ln>
                          <a:solidFill>
                            <a:schemeClr val="tx1"/>
                          </a:solidFill>
                          <a:effectLst/>
                          <a:latin typeface="Arial" pitchFamily="34" charset="0"/>
                          <a:ea typeface="돋움" pitchFamily="50" charset="-127"/>
                        </a:rPr>
                        <a:t>, worker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nhau</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người</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kiểm</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tra</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nhau</a:t>
                      </a:r>
                      <a:r>
                        <a:rPr kumimoji="1" lang="en-US" altLang="ko-KR" sz="1400" b="1" i="0" u="none" strike="noStrike" cap="none" normalizeH="0" baseline="0" dirty="0">
                          <a:ln>
                            <a:noFill/>
                          </a:ln>
                          <a:solidFill>
                            <a:schemeClr val="tx1"/>
                          </a:solidFill>
                          <a:effectLst/>
                          <a:latin typeface="Arial" pitchFamily="34" charset="0"/>
                          <a:ea typeface="돋움" pitchFamily="50" charset="-127"/>
                        </a:rPr>
                        <a:t>, line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sản</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xuất</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nhau</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dụng</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cụ</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đo</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đạc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nhau</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tiêu</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chuẩn</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kiểm</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tra</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khác</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nhau</a:t>
                      </a:r>
                      <a:r>
                        <a:rPr kumimoji="1" lang="en-US" altLang="ko-KR" sz="1400" b="1" i="0" u="none" strike="noStrike" cap="none" normalizeH="0" baseline="0" dirty="0">
                          <a:ln>
                            <a:noFill/>
                          </a:ln>
                          <a:solidFill>
                            <a:schemeClr val="tx1"/>
                          </a:solidFill>
                          <a:effectLst/>
                          <a:latin typeface="Arial" pitchFamily="34" charset="0"/>
                          <a:ea typeface="돋움" pitchFamily="50" charset="-127"/>
                        </a:rPr>
                        <a:t>..</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3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돋움" pitchFamily="50" charset="-127"/>
                        </a:rPr>
                        <a:t>Đồ</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thị</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quản</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lí</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xbar</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en-US" altLang="ko-KR" sz="1400" b="1" i="0" u="none" strike="noStrike" cap="none" normalizeH="0" baseline="0" dirty="0" err="1">
                          <a:ln>
                            <a:noFill/>
                          </a:ln>
                          <a:solidFill>
                            <a:schemeClr val="tx1"/>
                          </a:solidFill>
                          <a:effectLst/>
                          <a:latin typeface="Arial" pitchFamily="34" charset="0"/>
                          <a:ea typeface="돋움" pitchFamily="50" charset="-127"/>
                        </a:rPr>
                        <a:t>Tương</a:t>
                      </a:r>
                      <a:r>
                        <a:rPr kumimoji="1" lang="en-US" altLang="ko-KR" sz="1400" b="1" i="0" u="none" strike="noStrike" cap="none" normalizeH="0" baseline="0" dirty="0">
                          <a:ln>
                            <a:noFill/>
                          </a:ln>
                          <a:solidFill>
                            <a:schemeClr val="tx1"/>
                          </a:solidFill>
                          <a:effectLst/>
                          <a:latin typeface="Arial" pitchFamily="34" charset="0"/>
                          <a:ea typeface="돋움" pitchFamily="50" charset="-127"/>
                        </a:rPr>
                        <a:t> </a:t>
                      </a:r>
                      <a:r>
                        <a:rPr kumimoji="1" lang="en-US" altLang="ko-KR" sz="1400" b="1" i="0" u="none" strike="noStrike" cap="none" normalizeH="0" baseline="0" dirty="0" err="1">
                          <a:ln>
                            <a:noFill/>
                          </a:ln>
                          <a:solidFill>
                            <a:schemeClr val="tx1"/>
                          </a:solidFill>
                          <a:effectLst/>
                          <a:latin typeface="Arial" pitchFamily="34" charset="0"/>
                          <a:ea typeface="돋움" pitchFamily="50" charset="-127"/>
                        </a:rPr>
                        <a:t>đồng</a:t>
                      </a:r>
                      <a:endParaRPr kumimoji="1" lang="ko-KR" altLang="en-US" sz="1400" b="1" i="0" u="none" strike="noStrike" cap="none" normalizeH="0" baseline="0" dirty="0">
                        <a:ln>
                          <a:noFill/>
                        </a:ln>
                        <a:solidFill>
                          <a:schemeClr val="tx1"/>
                        </a:solidFill>
                        <a:effectLst/>
                        <a:latin typeface="Arial" pitchFamily="34" charset="0"/>
                        <a:ea typeface="돋움" pitchFamily="50" charset="-127"/>
                      </a:endParaRPr>
                    </a:p>
                  </a:txBody>
                  <a:tcPr marL="83077" marR="83077" marT="46800" marB="46800" anchor="ctr" horzOverflow="overflow">
                    <a:lnL w="12700" cap="flat" cmpd="sng" algn="ctr">
                      <a:solidFill>
                        <a:srgbClr val="008000"/>
                      </a:solidFill>
                      <a:prstDash val="solid"/>
                      <a:round/>
                      <a:headEnd type="none" w="med" len="med"/>
                      <a:tailEnd type="none" w="med" len="med"/>
                    </a:lnL>
                    <a:lnR w="12700" cap="flat" cmpd="sng" algn="ctr">
                      <a:solidFill>
                        <a:srgbClr val="008000"/>
                      </a:solidFill>
                      <a:prstDash val="solid"/>
                      <a:round/>
                      <a:headEnd type="none" w="med" len="med"/>
                      <a:tailEnd type="none" w="med" len="med"/>
                    </a:lnR>
                    <a:lnT w="12700" cap="flat" cmpd="sng" algn="ctr">
                      <a:solidFill>
                        <a:srgbClr val="008000"/>
                      </a:solidFill>
                      <a:prstDash val="solid"/>
                      <a:round/>
                      <a:headEnd type="none" w="med" len="med"/>
                      <a:tailEnd type="none" w="med" len="med"/>
                    </a:lnT>
                    <a:lnB w="12700" cap="flat" cmpd="sng" algn="ctr">
                      <a:solidFill>
                        <a:srgbClr val="008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1908" name="Oval 170"/>
          <p:cNvSpPr>
            <a:spLocks noChangeArrowheads="1"/>
          </p:cNvSpPr>
          <p:nvPr/>
        </p:nvSpPr>
        <p:spPr bwMode="auto">
          <a:xfrm>
            <a:off x="7041179" y="2997766"/>
            <a:ext cx="65942"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909" name="Oval 171"/>
          <p:cNvSpPr>
            <a:spLocks noChangeArrowheads="1"/>
          </p:cNvSpPr>
          <p:nvPr/>
        </p:nvSpPr>
        <p:spPr bwMode="auto">
          <a:xfrm>
            <a:off x="7445620" y="2205582"/>
            <a:ext cx="65942" cy="71438"/>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31910" name="Oval 172"/>
          <p:cNvSpPr>
            <a:spLocks noChangeArrowheads="1"/>
          </p:cNvSpPr>
          <p:nvPr/>
        </p:nvSpPr>
        <p:spPr bwMode="auto">
          <a:xfrm>
            <a:off x="7851533" y="2277041"/>
            <a:ext cx="65943" cy="71437"/>
          </a:xfrm>
          <a:prstGeom prst="ellipse">
            <a:avLst/>
          </a:prstGeom>
          <a:solidFill>
            <a:srgbClr val="660066"/>
          </a:solidFill>
          <a:ln w="9525" algn="ctr">
            <a:solidFill>
              <a:srgbClr val="660066"/>
            </a:solidFill>
            <a:round/>
            <a:headEnd/>
            <a:tailEnd/>
          </a:ln>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cxnSp>
        <p:nvCxnSpPr>
          <p:cNvPr id="31911" name="AutoShape 173"/>
          <p:cNvCxnSpPr>
            <a:cxnSpLocks noChangeShapeType="1"/>
            <a:stCxn id="31884" idx="6"/>
            <a:endCxn id="31908" idx="2"/>
          </p:cNvCxnSpPr>
          <p:nvPr/>
        </p:nvCxnSpPr>
        <p:spPr bwMode="auto">
          <a:xfrm flipV="1">
            <a:off x="6702674" y="3034268"/>
            <a:ext cx="338504" cy="144463"/>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912" name="AutoShape 174"/>
          <p:cNvCxnSpPr>
            <a:cxnSpLocks noChangeShapeType="1"/>
            <a:stCxn id="31908" idx="7"/>
            <a:endCxn id="31909" idx="3"/>
          </p:cNvCxnSpPr>
          <p:nvPr/>
        </p:nvCxnSpPr>
        <p:spPr bwMode="auto">
          <a:xfrm flipV="1">
            <a:off x="7096869" y="2265907"/>
            <a:ext cx="359019" cy="74295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1913" name="AutoShape 175"/>
          <p:cNvCxnSpPr>
            <a:cxnSpLocks noChangeShapeType="1"/>
            <a:stCxn id="31909" idx="6"/>
            <a:endCxn id="31910" idx="2"/>
          </p:cNvCxnSpPr>
          <p:nvPr/>
        </p:nvCxnSpPr>
        <p:spPr bwMode="auto">
          <a:xfrm>
            <a:off x="7511564" y="2242116"/>
            <a:ext cx="339969" cy="71437"/>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1914" name="Oval 176"/>
          <p:cNvSpPr>
            <a:spLocks noChangeArrowheads="1"/>
          </p:cNvSpPr>
          <p:nvPr/>
        </p:nvSpPr>
        <p:spPr bwMode="auto">
          <a:xfrm>
            <a:off x="2776904" y="1772216"/>
            <a:ext cx="3376246" cy="1512887"/>
          </a:xfrm>
          <a:prstGeom prst="ellipse">
            <a:avLst/>
          </a:prstGeom>
          <a:noFill/>
          <a:ln w="28575"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endParaRPr lang="ko-KR" altLang="en-US" sz="1200" dirty="0">
              <a:solidFill>
                <a:prstClr val="black"/>
              </a:solidFill>
              <a:latin typeface="맑은 고딕" pitchFamily="50" charset="-127"/>
              <a:ea typeface="맑은 고딕" pitchFamily="50" charset="-127"/>
            </a:endParaRPr>
          </a:p>
        </p:txBody>
      </p:sp>
      <p:sp>
        <p:nvSpPr>
          <p:cNvPr id="47" name="Text Box 39"/>
          <p:cNvSpPr txBox="1">
            <a:spLocks noChangeArrowheads="1"/>
          </p:cNvSpPr>
          <p:nvPr/>
        </p:nvSpPr>
        <p:spPr bwMode="auto">
          <a:xfrm>
            <a:off x="127731" y="76562"/>
            <a:ext cx="4645824" cy="400110"/>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2000" b="1" dirty="0">
                <a:solidFill>
                  <a:prstClr val="black"/>
                </a:solidFill>
              </a:rPr>
              <a:t>7. </a:t>
            </a:r>
            <a:r>
              <a:rPr kumimoji="1" lang="en-US" altLang="ko-KR" sz="2000" b="1" dirty="0" err="1">
                <a:solidFill>
                  <a:prstClr val="black"/>
                </a:solidFill>
              </a:rPr>
              <a:t>Phương</a:t>
            </a:r>
            <a:r>
              <a:rPr kumimoji="1" lang="en-US" altLang="ko-KR" sz="2000" b="1" dirty="0">
                <a:solidFill>
                  <a:prstClr val="black"/>
                </a:solidFill>
              </a:rPr>
              <a:t> </a:t>
            </a:r>
            <a:r>
              <a:rPr kumimoji="1" lang="en-US" altLang="ko-KR" sz="2000" b="1" dirty="0" err="1">
                <a:solidFill>
                  <a:prstClr val="black"/>
                </a:solidFill>
              </a:rPr>
              <a:t>pháp</a:t>
            </a:r>
            <a:r>
              <a:rPr kumimoji="1" lang="en-US" altLang="ko-KR" sz="2000" b="1" dirty="0">
                <a:solidFill>
                  <a:prstClr val="black"/>
                </a:solidFill>
              </a:rPr>
              <a:t> </a:t>
            </a:r>
            <a:r>
              <a:rPr kumimoji="1" lang="en-US" altLang="ko-KR" sz="2000" b="1" dirty="0" err="1">
                <a:solidFill>
                  <a:prstClr val="black"/>
                </a:solidFill>
              </a:rPr>
              <a:t>nhìn</a:t>
            </a:r>
            <a:r>
              <a:rPr kumimoji="1" lang="en-US" altLang="ko-KR" sz="2000" b="1" dirty="0">
                <a:solidFill>
                  <a:prstClr val="black"/>
                </a:solidFill>
              </a:rPr>
              <a:t> </a:t>
            </a:r>
            <a:r>
              <a:rPr kumimoji="1" lang="en-US" altLang="ko-KR" sz="2000" b="1" dirty="0" err="1">
                <a:solidFill>
                  <a:prstClr val="black"/>
                </a:solidFill>
              </a:rPr>
              <a:t>đồ</a:t>
            </a:r>
            <a:r>
              <a:rPr kumimoji="1" lang="en-US" altLang="ko-KR" sz="2000" b="1" dirty="0">
                <a:solidFill>
                  <a:prstClr val="black"/>
                </a:solidFill>
              </a:rPr>
              <a:t> </a:t>
            </a:r>
            <a:r>
              <a:rPr kumimoji="1" lang="en-US" altLang="ko-KR" sz="2000" b="1" dirty="0" err="1">
                <a:solidFill>
                  <a:prstClr val="black"/>
                </a:solidFill>
              </a:rPr>
              <a:t>thị</a:t>
            </a:r>
            <a:r>
              <a:rPr kumimoji="1" lang="en-US" altLang="ko-KR" sz="2000" b="1" dirty="0">
                <a:solidFill>
                  <a:prstClr val="black"/>
                </a:solidFill>
              </a:rPr>
              <a:t> </a:t>
            </a:r>
            <a:r>
              <a:rPr kumimoji="1" lang="en-US" altLang="ko-KR" sz="2000" b="1" dirty="0" err="1">
                <a:solidFill>
                  <a:prstClr val="black"/>
                </a:solidFill>
              </a:rPr>
              <a:t>quản</a:t>
            </a:r>
            <a:r>
              <a:rPr kumimoji="1" lang="en-US" altLang="ko-KR" sz="2000" b="1" dirty="0">
                <a:solidFill>
                  <a:prstClr val="black"/>
                </a:solidFill>
              </a:rPr>
              <a:t> </a:t>
            </a:r>
            <a:r>
              <a:rPr kumimoji="1" lang="en-US" altLang="ko-KR" sz="2000" b="1" dirty="0" err="1">
                <a:solidFill>
                  <a:prstClr val="black"/>
                </a:solidFill>
              </a:rPr>
              <a:t>lý</a:t>
            </a:r>
            <a:endParaRPr kumimoji="1" lang="en-US" altLang="ko-KR" sz="2000" b="1" dirty="0">
              <a:solidFill>
                <a:prstClr val="black"/>
              </a:solidFill>
            </a:endParaRPr>
          </a:p>
        </p:txBody>
      </p:sp>
      <p:sp>
        <p:nvSpPr>
          <p:cNvPr id="43" name="Text Box 39"/>
          <p:cNvSpPr txBox="1">
            <a:spLocks noChangeArrowheads="1"/>
          </p:cNvSpPr>
          <p:nvPr/>
        </p:nvSpPr>
        <p:spPr bwMode="auto">
          <a:xfrm>
            <a:off x="6094229" y="138118"/>
            <a:ext cx="2973571" cy="338554"/>
          </a:xfrm>
          <a:prstGeom prst="rect">
            <a:avLst/>
          </a:prstGeom>
          <a:noFill/>
          <a:ln w="9525">
            <a:noFill/>
            <a:miter lim="800000"/>
            <a:headEnd/>
            <a:tailEnd/>
          </a:ln>
        </p:spPr>
        <p:txBody>
          <a:bodyPr wrap="none">
            <a:spAutoFit/>
          </a:bodyPr>
          <a:lstStyle/>
          <a:p>
            <a:pPr fontAlgn="base">
              <a:spcBef>
                <a:spcPct val="0"/>
              </a:spcBef>
              <a:spcAft>
                <a:spcPct val="0"/>
              </a:spcAft>
            </a:pPr>
            <a:r>
              <a:rPr kumimoji="1" lang="en-US" altLang="ko-KR" sz="1600" b="1" dirty="0">
                <a:solidFill>
                  <a:prstClr val="black"/>
                </a:solidFill>
              </a:rPr>
              <a:t>- </a:t>
            </a:r>
            <a:r>
              <a:rPr kumimoji="1" lang="en-US" altLang="ko-KR" sz="1600" b="1" dirty="0" err="1">
                <a:solidFill>
                  <a:prstClr val="black"/>
                </a:solidFill>
              </a:rPr>
              <a:t>Phân</a:t>
            </a:r>
            <a:r>
              <a:rPr kumimoji="1" lang="en-US" altLang="ko-KR" sz="1600" b="1" dirty="0">
                <a:solidFill>
                  <a:prstClr val="black"/>
                </a:solidFill>
              </a:rPr>
              <a:t> </a:t>
            </a:r>
            <a:r>
              <a:rPr kumimoji="1" lang="en-US" altLang="ko-KR" sz="1600" b="1" dirty="0" err="1">
                <a:solidFill>
                  <a:prstClr val="black"/>
                </a:solidFill>
              </a:rPr>
              <a:t>tán</a:t>
            </a:r>
            <a:r>
              <a:rPr kumimoji="1" lang="en-US" altLang="ko-KR" sz="1600" b="1" dirty="0">
                <a:solidFill>
                  <a:prstClr val="black"/>
                </a:solidFill>
              </a:rPr>
              <a:t> </a:t>
            </a:r>
            <a:r>
              <a:rPr kumimoji="1" lang="en-US" altLang="ko-KR" sz="1600" b="1" dirty="0" err="1">
                <a:solidFill>
                  <a:prstClr val="black"/>
                </a:solidFill>
              </a:rPr>
              <a:t>nghiêm</a:t>
            </a:r>
            <a:r>
              <a:rPr kumimoji="1" lang="en-US" altLang="ko-KR" sz="1600" b="1" dirty="0">
                <a:solidFill>
                  <a:prstClr val="black"/>
                </a:solidFill>
              </a:rPr>
              <a:t> </a:t>
            </a:r>
            <a:r>
              <a:rPr kumimoji="1" lang="en-US" altLang="ko-KR" sz="1600" b="1" dirty="0" err="1">
                <a:solidFill>
                  <a:prstClr val="black"/>
                </a:solidFill>
              </a:rPr>
              <a:t>trọng</a:t>
            </a:r>
            <a:r>
              <a:rPr kumimoji="1" lang="en-US" altLang="ko-KR" sz="1600" b="1" dirty="0">
                <a:solidFill>
                  <a:prstClr val="black"/>
                </a:solidFill>
              </a:rPr>
              <a:t> (7)</a:t>
            </a:r>
          </a:p>
        </p:txBody>
      </p:sp>
      <p:graphicFrame>
        <p:nvGraphicFramePr>
          <p:cNvPr id="2" name="개체 1"/>
          <p:cNvGraphicFramePr>
            <a:graphicFrameLocks noChangeAspect="1"/>
          </p:cNvGraphicFramePr>
          <p:nvPr>
            <p:extLst>
              <p:ext uri="{D42A27DB-BD31-4B8C-83A1-F6EECF244321}">
                <p14:modId xmlns:p14="http://schemas.microsoft.com/office/powerpoint/2010/main" val="3057354964"/>
              </p:ext>
            </p:extLst>
          </p:nvPr>
        </p:nvGraphicFramePr>
        <p:xfrm>
          <a:off x="8033439" y="3486074"/>
          <a:ext cx="844062" cy="771525"/>
        </p:xfrm>
        <a:graphic>
          <a:graphicData uri="http://schemas.openxmlformats.org/presentationml/2006/ole">
            <mc:AlternateContent xmlns:mc="http://schemas.openxmlformats.org/markup-compatibility/2006">
              <mc:Choice xmlns:v="urn:schemas-microsoft-com:vml" Requires="v">
                <p:oleObj name="Worksheet" showAsIcon="1" r:id="rId3" imgW="914400" imgH="771480" progId="Excel.Sheet.12">
                  <p:embed/>
                </p:oleObj>
              </mc:Choice>
              <mc:Fallback>
                <p:oleObj name="Worksheet" showAsIcon="1" r:id="rId3" imgW="914400" imgH="771480" progId="Excel.Sheet.12">
                  <p:embed/>
                  <p:pic>
                    <p:nvPicPr>
                      <p:cNvPr id="2" name="개체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33439" y="3486074"/>
                        <a:ext cx="844062" cy="771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310</a:t>
            </a:fld>
            <a:endParaRPr lang="ko-KR" altLang="en-US" sz="1200" dirty="0">
              <a:solidFill>
                <a:prstClr val="black"/>
              </a:solidFill>
            </a:endParaRPr>
          </a:p>
        </p:txBody>
      </p:sp>
    </p:spTree>
    <p:extLst>
      <p:ext uri="{BB962C8B-B14F-4D97-AF65-F5344CB8AC3E}">
        <p14:creationId xmlns:p14="http://schemas.microsoft.com/office/powerpoint/2010/main" val="732541220"/>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4"/>
          <p:cNvSpPr txBox="1">
            <a:spLocks noChangeArrowheads="1"/>
          </p:cNvSpPr>
          <p:nvPr/>
        </p:nvSpPr>
        <p:spPr bwMode="auto">
          <a:xfrm>
            <a:off x="118696" y="44624"/>
            <a:ext cx="5901104"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a:t>
            </a:r>
            <a:r>
              <a:rPr lang="en-US" altLang="ko-KR" sz="2000" b="1" dirty="0" err="1">
                <a:solidFill>
                  <a:srgbClr val="000000"/>
                </a:solidFill>
                <a:latin typeface="맑은 고딕" pitchFamily="50" charset="-127"/>
                <a:ea typeface="맑은 고딕" pitchFamily="50" charset="-127"/>
              </a:rPr>
              <a:t>Luyện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tập</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đồ</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thị</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quản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lý</a:t>
            </a:r>
            <a:r>
              <a:rPr lang="en-US" altLang="ko-KR" sz="2000" b="1" dirty="0">
                <a:solidFill>
                  <a:srgbClr val="000000"/>
                </a:solidFill>
                <a:latin typeface="맑은 고딕" pitchFamily="50" charset="-127"/>
                <a:ea typeface="맑은 고딕" pitchFamily="50" charset="-127"/>
              </a:rPr>
              <a:t> Excel (</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 )</a:t>
            </a:r>
            <a:endParaRPr lang="ko-KR" altLang="en-US" sz="2000" b="1" dirty="0">
              <a:solidFill>
                <a:srgbClr val="000000"/>
              </a:solidFill>
              <a:latin typeface="맑은 고딕" pitchFamily="50" charset="-127"/>
              <a:ea typeface="맑은 고딕" pitchFamily="50" charset="-127"/>
            </a:endParaRPr>
          </a:p>
        </p:txBody>
      </p:sp>
      <p:sp>
        <p:nvSpPr>
          <p:cNvPr id="9" name="직사각형 8"/>
          <p:cNvSpPr/>
          <p:nvPr/>
        </p:nvSpPr>
        <p:spPr>
          <a:xfrm>
            <a:off x="683569" y="1052739"/>
            <a:ext cx="7920880" cy="10075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kumimoji="1" lang="ko-KR" altLang="en-US" dirty="0">
              <a:solidFill>
                <a:prstClr val="white"/>
              </a:solidFill>
            </a:endParaRPr>
          </a:p>
        </p:txBody>
      </p:sp>
      <p:sp>
        <p:nvSpPr>
          <p:cNvPr id="7" name="TextBox 6"/>
          <p:cNvSpPr txBox="1"/>
          <p:nvPr/>
        </p:nvSpPr>
        <p:spPr>
          <a:xfrm>
            <a:off x="685800" y="1027127"/>
            <a:ext cx="7909802" cy="954073"/>
          </a:xfrm>
          <a:prstGeom prst="rect">
            <a:avLst/>
          </a:prstGeom>
          <a:noFill/>
        </p:spPr>
        <p:txBody>
          <a:bodyPr wrap="square" lIns="91405" tIns="45703" rIns="91405" bIns="45703" rtlCol="0">
            <a:spAutoFit/>
          </a:bodyPr>
          <a:lstStyle/>
          <a:p>
            <a:pPr fontAlgn="base">
              <a:spcBef>
                <a:spcPct val="0"/>
              </a:spcBef>
              <a:spcAft>
                <a:spcPct val="0"/>
              </a:spcAft>
            </a:pPr>
            <a:r>
              <a:rPr kumimoji="1" lang="en-US" altLang="ko-KR" sz="1400" b="1" dirty="0" err="1">
                <a:solidFill>
                  <a:prstClr val="black"/>
                </a:solidFill>
                <a:latin typeface="굴림" pitchFamily="50" charset="-127"/>
                <a:ea typeface="굴림" pitchFamily="50" charset="-127"/>
              </a:rPr>
              <a:t>Dưới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đây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là</a:t>
            </a:r>
            <a:r>
              <a:rPr kumimoji="1" lang="en-US" altLang="ko-KR" sz="1400" b="1" dirty="0">
                <a:solidFill>
                  <a:prstClr val="black"/>
                </a:solidFill>
                <a:latin typeface="굴림" pitchFamily="50" charset="-127"/>
                <a:ea typeface="굴림" pitchFamily="50" charset="-127"/>
              </a:rPr>
              <a:t> Data </a:t>
            </a:r>
            <a:r>
              <a:rPr kumimoji="1" lang="en-US" altLang="ko-KR" sz="1400" b="1" dirty="0" err="1">
                <a:solidFill>
                  <a:prstClr val="black"/>
                </a:solidFill>
                <a:latin typeface="굴림" pitchFamily="50" charset="-127"/>
                <a:ea typeface="굴림" pitchFamily="50" charset="-127"/>
              </a:rPr>
              <a:t>đo</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đạc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chỉ</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số</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đường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kính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linh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kiện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xuất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tại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một</a:t>
            </a:r>
            <a:r>
              <a:rPr kumimoji="1" lang="en-US" altLang="ko-KR" sz="1400" b="1" dirty="0">
                <a:solidFill>
                  <a:prstClr val="black"/>
                </a:solidFill>
                <a:latin typeface="굴림" pitchFamily="50" charset="-127"/>
                <a:ea typeface="굴림" pitchFamily="50" charset="-127"/>
              </a:rPr>
              <a:t> process </a:t>
            </a:r>
            <a:r>
              <a:rPr kumimoji="1" lang="en-US" altLang="ko-KR" sz="1400" b="1" dirty="0" err="1">
                <a:solidFill>
                  <a:prstClr val="black"/>
                </a:solidFill>
                <a:latin typeface="굴림" pitchFamily="50" charset="-127"/>
                <a:ea typeface="굴림" pitchFamily="50" charset="-127"/>
              </a:rPr>
              <a:t>nào</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đó</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Đo</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đạc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mỗi</a:t>
            </a:r>
            <a:r>
              <a:rPr kumimoji="1" lang="en-US" altLang="ko-KR" sz="1400" b="1" dirty="0">
                <a:solidFill>
                  <a:prstClr val="black"/>
                </a:solidFill>
                <a:latin typeface="굴림" pitchFamily="50" charset="-127"/>
                <a:ea typeface="굴림" pitchFamily="50" charset="-127"/>
              </a:rPr>
              <a:t> 2 </a:t>
            </a:r>
            <a:r>
              <a:rPr kumimoji="1" lang="en-US" altLang="ko-KR" sz="1400" b="1" dirty="0" err="1">
                <a:solidFill>
                  <a:prstClr val="black"/>
                </a:solidFill>
                <a:latin typeface="굴림" pitchFamily="50" charset="-127"/>
                <a:ea typeface="굴림" pitchFamily="50" charset="-127"/>
              </a:rPr>
              <a:t>tiếng</a:t>
            </a:r>
            <a:r>
              <a:rPr kumimoji="1" lang="en-US" altLang="ko-KR" sz="1400" b="1" dirty="0">
                <a:solidFill>
                  <a:prstClr val="black"/>
                </a:solidFill>
                <a:latin typeface="굴림" pitchFamily="50" charset="-127"/>
                <a:ea typeface="굴림" pitchFamily="50" charset="-127"/>
              </a:rPr>
              <a:t> 1 </a:t>
            </a:r>
            <a:r>
              <a:rPr kumimoji="1" lang="en-US" altLang="ko-KR" sz="1400" b="1" dirty="0" err="1">
                <a:solidFill>
                  <a:prstClr val="black"/>
                </a:solidFill>
                <a:latin typeface="굴림" pitchFamily="50" charset="-127"/>
                <a:ea typeface="굴림" pitchFamily="50" charset="-127"/>
              </a:rPr>
              <a:t>lần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đo</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đạc</a:t>
            </a:r>
            <a:r>
              <a:rPr kumimoji="1" lang="en-US" altLang="ko-KR" sz="1400" b="1" dirty="0">
                <a:solidFill>
                  <a:prstClr val="black"/>
                </a:solidFill>
                <a:latin typeface="굴림" pitchFamily="50" charset="-127"/>
                <a:ea typeface="굴림" pitchFamily="50" charset="-127"/>
              </a:rPr>
              <a:t> 1 </a:t>
            </a:r>
            <a:r>
              <a:rPr kumimoji="1" lang="en-US" altLang="ko-KR" sz="1400" b="1" dirty="0" err="1">
                <a:solidFill>
                  <a:prstClr val="black"/>
                </a:solidFill>
                <a:latin typeface="굴림" pitchFamily="50" charset="-127"/>
                <a:ea typeface="굴림" pitchFamily="50" charset="-127"/>
              </a:rPr>
              <a:t>lần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liên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tục</a:t>
            </a:r>
            <a:r>
              <a:rPr kumimoji="1" lang="en-US" altLang="ko-KR" sz="1400" b="1" dirty="0">
                <a:solidFill>
                  <a:prstClr val="black"/>
                </a:solidFill>
                <a:latin typeface="굴림" pitchFamily="50" charset="-127"/>
                <a:ea typeface="굴림" pitchFamily="50" charset="-127"/>
              </a:rPr>
              <a:t> 5 </a:t>
            </a:r>
            <a:r>
              <a:rPr kumimoji="1" lang="en-US" altLang="ko-KR" sz="1400" b="1" dirty="0" err="1">
                <a:solidFill>
                  <a:prstClr val="black"/>
                </a:solidFill>
                <a:latin typeface="굴림" pitchFamily="50" charset="-127"/>
                <a:ea typeface="굴림" pitchFamily="50" charset="-127"/>
              </a:rPr>
              <a:t>mẫu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từ</a:t>
            </a:r>
            <a:r>
              <a:rPr kumimoji="1" lang="en-US" altLang="ko-KR" sz="1400" b="1" dirty="0">
                <a:solidFill>
                  <a:prstClr val="black"/>
                </a:solidFill>
                <a:latin typeface="굴림" pitchFamily="50" charset="-127"/>
                <a:ea typeface="굴림" pitchFamily="50" charset="-127"/>
              </a:rPr>
              <a:t> line </a:t>
            </a:r>
            <a:r>
              <a:rPr kumimoji="1" lang="en-US" altLang="ko-KR" sz="1400" b="1" dirty="0" err="1">
                <a:solidFill>
                  <a:prstClr val="black"/>
                </a:solidFill>
                <a:latin typeface="굴림" pitchFamily="50" charset="-127"/>
                <a:ea typeface="굴림" pitchFamily="50" charset="-127"/>
              </a:rPr>
              <a:t>sản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xuất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dụng</a:t>
            </a:r>
            <a:r>
              <a:rPr kumimoji="1" lang="en-US" altLang="ko-KR" sz="1400" b="1" dirty="0">
                <a:solidFill>
                  <a:prstClr val="black"/>
                </a:solidFill>
                <a:latin typeface="굴림" pitchFamily="50" charset="-127"/>
                <a:ea typeface="굴림" pitchFamily="50" charset="-127"/>
              </a:rPr>
              <a:t> data </a:t>
            </a:r>
            <a:r>
              <a:rPr kumimoji="1" lang="en-US" altLang="ko-KR" sz="1400" b="1" dirty="0" err="1">
                <a:solidFill>
                  <a:prstClr val="black"/>
                </a:solidFill>
                <a:latin typeface="굴림" pitchFamily="50" charset="-127"/>
                <a:ea typeface="굴림" pitchFamily="50" charset="-127"/>
              </a:rPr>
              <a:t>vẽ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Xbar</a:t>
            </a:r>
            <a:r>
              <a:rPr kumimoji="1" lang="en-US" altLang="ko-KR" sz="1400" b="1" dirty="0">
                <a:solidFill>
                  <a:prstClr val="black"/>
                </a:solidFill>
                <a:latin typeface="굴림" pitchFamily="50" charset="-127"/>
                <a:ea typeface="굴림" pitchFamily="50" charset="-127"/>
              </a:rPr>
              <a:t> – R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giải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thích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toán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bằng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tiêu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chuẩn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dụng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phân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tích</a:t>
            </a:r>
            <a:r>
              <a:rPr kumimoji="1" lang="en-US" altLang="ko-KR" sz="1400" b="1">
                <a:solidFill>
                  <a:prstClr val="black"/>
                </a:solidFill>
                <a:latin typeface="굴림" pitchFamily="50" charset="-127"/>
                <a:ea typeface="굴림" pitchFamily="50" charset="-127"/>
              </a:rPr>
              <a:t>)</a:t>
            </a:r>
            <a:endParaRPr kumimoji="1" lang="ko-KR" altLang="en-US" sz="1400" b="1" dirty="0">
              <a:solidFill>
                <a:prstClr val="black"/>
              </a:solidFill>
              <a:latin typeface="굴림" pitchFamily="50" charset="-127"/>
              <a:ea typeface="굴림" pitchFamily="50" charset="-127"/>
            </a:endParaRPr>
          </a:p>
        </p:txBody>
      </p:sp>
      <p:graphicFrame>
        <p:nvGraphicFramePr>
          <p:cNvPr id="11" name="표 10"/>
          <p:cNvGraphicFramePr>
            <a:graphicFrameLocks noGrp="1"/>
          </p:cNvGraphicFramePr>
          <p:nvPr>
            <p:extLst>
              <p:ext uri="{D42A27DB-BD31-4B8C-83A1-F6EECF244321}">
                <p14:modId xmlns:p14="http://schemas.microsoft.com/office/powerpoint/2010/main" val="3504094351"/>
              </p:ext>
            </p:extLst>
          </p:nvPr>
        </p:nvGraphicFramePr>
        <p:xfrm>
          <a:off x="916209" y="2740496"/>
          <a:ext cx="3256975" cy="3488055"/>
        </p:xfrm>
        <a:graphic>
          <a:graphicData uri="http://schemas.openxmlformats.org/drawingml/2006/table">
            <a:tbl>
              <a:tblPr/>
              <a:tblGrid>
                <a:gridCol w="619285">
                  <a:extLst>
                    <a:ext uri="{9D8B030D-6E8A-4147-A177-3AD203B41FA5}">
                      <a16:colId xmlns:a16="http://schemas.microsoft.com/office/drawing/2014/main" val="20000"/>
                    </a:ext>
                  </a:extLst>
                </a:gridCol>
                <a:gridCol w="527538">
                  <a:extLst>
                    <a:ext uri="{9D8B030D-6E8A-4147-A177-3AD203B41FA5}">
                      <a16:colId xmlns:a16="http://schemas.microsoft.com/office/drawing/2014/main" val="20001"/>
                    </a:ext>
                  </a:extLst>
                </a:gridCol>
                <a:gridCol w="527538">
                  <a:extLst>
                    <a:ext uri="{9D8B030D-6E8A-4147-A177-3AD203B41FA5}">
                      <a16:colId xmlns:a16="http://schemas.microsoft.com/office/drawing/2014/main" val="20002"/>
                    </a:ext>
                  </a:extLst>
                </a:gridCol>
                <a:gridCol w="527538">
                  <a:extLst>
                    <a:ext uri="{9D8B030D-6E8A-4147-A177-3AD203B41FA5}">
                      <a16:colId xmlns:a16="http://schemas.microsoft.com/office/drawing/2014/main" val="20003"/>
                    </a:ext>
                  </a:extLst>
                </a:gridCol>
                <a:gridCol w="527538">
                  <a:extLst>
                    <a:ext uri="{9D8B030D-6E8A-4147-A177-3AD203B41FA5}">
                      <a16:colId xmlns:a16="http://schemas.microsoft.com/office/drawing/2014/main" val="20004"/>
                    </a:ext>
                  </a:extLst>
                </a:gridCol>
                <a:gridCol w="527538">
                  <a:extLst>
                    <a:ext uri="{9D8B030D-6E8A-4147-A177-3AD203B41FA5}">
                      <a16:colId xmlns:a16="http://schemas.microsoft.com/office/drawing/2014/main" val="20005"/>
                    </a:ext>
                  </a:extLst>
                </a:gridCol>
              </a:tblGrid>
              <a:tr h="209550">
                <a:tc>
                  <a:txBody>
                    <a:bodyPr/>
                    <a:lstStyle/>
                    <a:p>
                      <a:pPr algn="ctr" fontAlgn="ctr"/>
                      <a:r>
                        <a:rPr lang="en-US" sz="1100" b="0" i="0" u="none" strike="noStrike" dirty="0">
                          <a:solidFill>
                            <a:srgbClr val="000000"/>
                          </a:solidFill>
                          <a:effectLst/>
                          <a:latin typeface="돋움"/>
                        </a:rPr>
                        <a:t>Sample</a:t>
                      </a:r>
                      <a:r>
                        <a:rPr lang="ko-KR" altLang="en-US" sz="1100" b="0" i="0" u="none" strike="noStrike" dirty="0">
                          <a:solidFill>
                            <a:srgbClr val="000000"/>
                          </a:solidFill>
                          <a:effectLst/>
                          <a:latin typeface="돋움"/>
                        </a:rPr>
                        <a:t>군</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09550">
                <a:tc>
                  <a:txBody>
                    <a:bodyPr/>
                    <a:lstStyle/>
                    <a:p>
                      <a:pPr algn="ctr" fontAlgn="ctr"/>
                      <a:r>
                        <a:rPr lang="en-US" altLang="ko-KR" sz="1100" b="0" i="0" u="none" strike="noStrike" dirty="0">
                          <a:solidFill>
                            <a:srgbClr val="000000"/>
                          </a:solidFill>
                          <a:effectLst/>
                          <a:latin typeface="돋움"/>
                        </a:rPr>
                        <a:t>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9550">
                <a:tc>
                  <a:txBody>
                    <a:bodyPr/>
                    <a:lstStyle/>
                    <a:p>
                      <a:pPr algn="ctr" fontAlgn="ctr"/>
                      <a:r>
                        <a:rPr lang="en-US" altLang="ko-KR" sz="1100" b="0" i="0" u="none" strike="noStrike">
                          <a:solidFill>
                            <a:srgbClr val="000000"/>
                          </a:solidFill>
                          <a:effectLst/>
                          <a:latin typeface="돋움"/>
                        </a:rPr>
                        <a:t>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9550">
                <a:tc>
                  <a:txBody>
                    <a:bodyPr/>
                    <a:lstStyle/>
                    <a:p>
                      <a:pPr algn="ctr" fontAlgn="ctr"/>
                      <a:r>
                        <a:rPr lang="en-US" altLang="ko-KR" sz="1100" b="0" i="0" u="none" strike="noStrike">
                          <a:solidFill>
                            <a:srgbClr val="000000"/>
                          </a:solidFill>
                          <a:effectLst/>
                          <a:latin typeface="돋움"/>
                        </a:rPr>
                        <a:t>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09550">
                <a:tc>
                  <a:txBody>
                    <a:bodyPr/>
                    <a:lstStyle/>
                    <a:p>
                      <a:pPr algn="ctr" fontAlgn="ctr"/>
                      <a:r>
                        <a:rPr lang="en-US" altLang="ko-KR" sz="1100" b="0" i="0" u="none" strike="noStrike">
                          <a:solidFill>
                            <a:srgbClr val="000000"/>
                          </a:solidFill>
                          <a:effectLst/>
                          <a:latin typeface="돋움"/>
                        </a:rPr>
                        <a:t>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9550">
                <a:tc>
                  <a:txBody>
                    <a:bodyPr/>
                    <a:lstStyle/>
                    <a:p>
                      <a:pPr algn="ctr" fontAlgn="ctr"/>
                      <a:r>
                        <a:rPr lang="en-US" altLang="ko-KR" sz="1100" b="0" i="0" u="none" strike="noStrike">
                          <a:solidFill>
                            <a:srgbClr val="000000"/>
                          </a:solidFill>
                          <a:effectLst/>
                          <a:latin typeface="돋움"/>
                        </a:rPr>
                        <a:t>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09550">
                <a:tc>
                  <a:txBody>
                    <a:bodyPr/>
                    <a:lstStyle/>
                    <a:p>
                      <a:pPr algn="ctr" fontAlgn="ctr"/>
                      <a:r>
                        <a:rPr lang="en-US" altLang="ko-KR" sz="1100" b="0" i="0" u="none" strike="noStrike">
                          <a:solidFill>
                            <a:srgbClr val="000000"/>
                          </a:solidFill>
                          <a:effectLst/>
                          <a:latin typeface="돋움"/>
                        </a:rPr>
                        <a:t>6</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09550">
                <a:tc>
                  <a:txBody>
                    <a:bodyPr/>
                    <a:lstStyle/>
                    <a:p>
                      <a:pPr algn="ctr" fontAlgn="ctr"/>
                      <a:r>
                        <a:rPr lang="en-US" altLang="ko-KR" sz="1100" b="0" i="0" u="none" strike="noStrike">
                          <a:solidFill>
                            <a:srgbClr val="000000"/>
                          </a:solidFill>
                          <a:effectLst/>
                          <a:latin typeface="돋움"/>
                        </a:rPr>
                        <a:t>7</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09550">
                <a:tc>
                  <a:txBody>
                    <a:bodyPr/>
                    <a:lstStyle/>
                    <a:p>
                      <a:pPr algn="ctr" fontAlgn="ctr"/>
                      <a:r>
                        <a:rPr lang="en-US" altLang="ko-KR" sz="1100" b="0" i="0" u="none" strike="noStrike">
                          <a:solidFill>
                            <a:srgbClr val="000000"/>
                          </a:solidFill>
                          <a:effectLst/>
                          <a:latin typeface="돋움"/>
                        </a:rPr>
                        <a:t>8</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09550">
                <a:tc>
                  <a:txBody>
                    <a:bodyPr/>
                    <a:lstStyle/>
                    <a:p>
                      <a:pPr algn="ctr" fontAlgn="ctr"/>
                      <a:r>
                        <a:rPr lang="en-US" altLang="ko-KR" sz="1100" b="0" i="0" u="none" strike="noStrike">
                          <a:solidFill>
                            <a:srgbClr val="000000"/>
                          </a:solidFill>
                          <a:effectLst/>
                          <a:latin typeface="돋움"/>
                        </a:rPr>
                        <a:t>9</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09550">
                <a:tc>
                  <a:txBody>
                    <a:bodyPr/>
                    <a:lstStyle/>
                    <a:p>
                      <a:pPr algn="ctr" fontAlgn="ctr"/>
                      <a:r>
                        <a:rPr lang="en-US" altLang="ko-KR" sz="1100" b="0" i="0" u="none" strike="noStrike">
                          <a:solidFill>
                            <a:srgbClr val="000000"/>
                          </a:solidFill>
                          <a:effectLst/>
                          <a:latin typeface="돋움"/>
                        </a:rPr>
                        <a:t>10</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09550">
                <a:tc>
                  <a:txBody>
                    <a:bodyPr/>
                    <a:lstStyle/>
                    <a:p>
                      <a:pPr algn="ctr" fontAlgn="ctr"/>
                      <a:r>
                        <a:rPr lang="en-US" altLang="ko-KR" sz="1100" b="0" i="0" u="none" strike="noStrike">
                          <a:solidFill>
                            <a:srgbClr val="000000"/>
                          </a:solidFill>
                          <a:effectLst/>
                          <a:latin typeface="돋움"/>
                        </a:rPr>
                        <a:t>11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09550">
                <a:tc>
                  <a:txBody>
                    <a:bodyPr/>
                    <a:lstStyle/>
                    <a:p>
                      <a:pPr algn="ctr" fontAlgn="ctr"/>
                      <a:r>
                        <a:rPr lang="en-US" altLang="ko-KR" sz="1100" b="0" i="0" u="none" strike="noStrike">
                          <a:solidFill>
                            <a:srgbClr val="000000"/>
                          </a:solidFill>
                          <a:effectLst/>
                          <a:latin typeface="돋움"/>
                        </a:rPr>
                        <a:t>12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09550">
                <a:tc>
                  <a:txBody>
                    <a:bodyPr/>
                    <a:lstStyle/>
                    <a:p>
                      <a:pPr algn="ctr" fontAlgn="ctr"/>
                      <a:r>
                        <a:rPr lang="en-US" altLang="ko-KR" sz="1100" b="0" i="0" u="none" strike="noStrike">
                          <a:solidFill>
                            <a:srgbClr val="000000"/>
                          </a:solidFill>
                          <a:effectLst/>
                          <a:latin typeface="돋움"/>
                        </a:rPr>
                        <a:t>13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09550">
                <a:tc>
                  <a:txBody>
                    <a:bodyPr/>
                    <a:lstStyle/>
                    <a:p>
                      <a:pPr algn="ctr" fontAlgn="ctr"/>
                      <a:r>
                        <a:rPr lang="en-US" altLang="ko-KR" sz="1100" b="0" i="0" u="none" strike="noStrike">
                          <a:solidFill>
                            <a:srgbClr val="000000"/>
                          </a:solidFill>
                          <a:effectLst/>
                          <a:latin typeface="돋움"/>
                        </a:rPr>
                        <a:t>14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09550">
                <a:tc>
                  <a:txBody>
                    <a:bodyPr/>
                    <a:lstStyle/>
                    <a:p>
                      <a:pPr algn="ctr" fontAlgn="ctr"/>
                      <a:r>
                        <a:rPr lang="en-US" altLang="ko-KR" sz="1100" b="0" i="0" u="none" strike="noStrike" dirty="0">
                          <a:solidFill>
                            <a:srgbClr val="000000"/>
                          </a:solidFill>
                          <a:effectLst/>
                          <a:latin typeface="돋움"/>
                        </a:rPr>
                        <a:t>15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8.15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8.17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bl>
          </a:graphicData>
        </a:graphic>
      </p:graphicFrame>
      <p:graphicFrame>
        <p:nvGraphicFramePr>
          <p:cNvPr id="13" name="표 12"/>
          <p:cNvGraphicFramePr>
            <a:graphicFrameLocks noGrp="1"/>
          </p:cNvGraphicFramePr>
          <p:nvPr>
            <p:extLst>
              <p:ext uri="{D42A27DB-BD31-4B8C-83A1-F6EECF244321}">
                <p14:modId xmlns:p14="http://schemas.microsoft.com/office/powerpoint/2010/main" val="67607604"/>
              </p:ext>
            </p:extLst>
          </p:nvPr>
        </p:nvGraphicFramePr>
        <p:xfrm>
          <a:off x="4863153" y="2740496"/>
          <a:ext cx="3165229" cy="3697605"/>
        </p:xfrm>
        <a:graphic>
          <a:graphicData uri="http://schemas.openxmlformats.org/drawingml/2006/table">
            <a:tbl>
              <a:tblPr/>
              <a:tblGrid>
                <a:gridCol w="639412">
                  <a:extLst>
                    <a:ext uri="{9D8B030D-6E8A-4147-A177-3AD203B41FA5}">
                      <a16:colId xmlns:a16="http://schemas.microsoft.com/office/drawing/2014/main" val="20000"/>
                    </a:ext>
                  </a:extLst>
                </a:gridCol>
                <a:gridCol w="415665">
                  <a:extLst>
                    <a:ext uri="{9D8B030D-6E8A-4147-A177-3AD203B41FA5}">
                      <a16:colId xmlns:a16="http://schemas.microsoft.com/office/drawing/2014/main" val="20001"/>
                    </a:ext>
                  </a:extLst>
                </a:gridCol>
                <a:gridCol w="527538">
                  <a:extLst>
                    <a:ext uri="{9D8B030D-6E8A-4147-A177-3AD203B41FA5}">
                      <a16:colId xmlns:a16="http://schemas.microsoft.com/office/drawing/2014/main" val="20002"/>
                    </a:ext>
                  </a:extLst>
                </a:gridCol>
                <a:gridCol w="527538">
                  <a:extLst>
                    <a:ext uri="{9D8B030D-6E8A-4147-A177-3AD203B41FA5}">
                      <a16:colId xmlns:a16="http://schemas.microsoft.com/office/drawing/2014/main" val="20003"/>
                    </a:ext>
                  </a:extLst>
                </a:gridCol>
                <a:gridCol w="527538">
                  <a:extLst>
                    <a:ext uri="{9D8B030D-6E8A-4147-A177-3AD203B41FA5}">
                      <a16:colId xmlns:a16="http://schemas.microsoft.com/office/drawing/2014/main" val="20004"/>
                    </a:ext>
                  </a:extLst>
                </a:gridCol>
                <a:gridCol w="527538">
                  <a:extLst>
                    <a:ext uri="{9D8B030D-6E8A-4147-A177-3AD203B41FA5}">
                      <a16:colId xmlns:a16="http://schemas.microsoft.com/office/drawing/2014/main" val="20005"/>
                    </a:ext>
                  </a:extLst>
                </a:gridCol>
              </a:tblGrid>
              <a:tr h="209550">
                <a:tc>
                  <a:txBody>
                    <a:bodyPr/>
                    <a:lstStyle/>
                    <a:p>
                      <a:pPr algn="ctr" fontAlgn="ctr"/>
                      <a:r>
                        <a:rPr lang="en-US" sz="1100" b="0" i="0" u="none" strike="noStrike" dirty="0">
                          <a:solidFill>
                            <a:srgbClr val="000000"/>
                          </a:solidFill>
                          <a:effectLst/>
                          <a:latin typeface="돋움"/>
                        </a:rPr>
                        <a:t>Sample</a:t>
                      </a:r>
                      <a:r>
                        <a:rPr lang="ko-KR" altLang="en-US" sz="1100" b="0" i="0" u="none" strike="noStrike" dirty="0">
                          <a:solidFill>
                            <a:srgbClr val="000000"/>
                          </a:solidFill>
                          <a:effectLst/>
                          <a:latin typeface="돋움"/>
                        </a:rPr>
                        <a:t>군</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a:solidFill>
                            <a:srgbClr val="000000"/>
                          </a:solidFill>
                          <a:effectLst/>
                          <a:latin typeface="돋움"/>
                        </a:rPr>
                        <a:t>X1</a:t>
                      </a:r>
                      <a:endParaRPr lang="en-US" sz="1100" b="0" i="0" u="none" strike="noStrike" dirty="0">
                        <a:solidFill>
                          <a:srgbClr val="000000"/>
                        </a:solidFill>
                        <a:effectLst/>
                        <a:latin typeface="돋움"/>
                      </a:endParaRP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US" sz="1100" b="0" i="0" u="none" strike="noStrike" dirty="0">
                          <a:solidFill>
                            <a:srgbClr val="000000"/>
                          </a:solidFill>
                          <a:effectLst/>
                          <a:latin typeface="돋움"/>
                        </a:rPr>
                        <a:t>X5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09550">
                <a:tc>
                  <a:txBody>
                    <a:bodyPr/>
                    <a:lstStyle/>
                    <a:p>
                      <a:pPr algn="ctr" fontAlgn="ctr"/>
                      <a:r>
                        <a:rPr lang="en-US" altLang="ko-KR" sz="1100" b="0" i="0" u="none" strike="noStrike" dirty="0">
                          <a:solidFill>
                            <a:srgbClr val="000000"/>
                          </a:solidFill>
                          <a:effectLst/>
                          <a:latin typeface="돋움"/>
                        </a:rPr>
                        <a:t>16</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9550">
                <a:tc>
                  <a:txBody>
                    <a:bodyPr/>
                    <a:lstStyle/>
                    <a:p>
                      <a:pPr algn="ctr" fontAlgn="ctr"/>
                      <a:r>
                        <a:rPr lang="en-US" altLang="ko-KR" sz="1100" b="0" i="0" u="none" strike="noStrike" dirty="0">
                          <a:solidFill>
                            <a:srgbClr val="000000"/>
                          </a:solidFill>
                          <a:effectLst/>
                          <a:latin typeface="돋움"/>
                        </a:rPr>
                        <a:t>17</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8.01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9550">
                <a:tc>
                  <a:txBody>
                    <a:bodyPr/>
                    <a:lstStyle/>
                    <a:p>
                      <a:pPr algn="ctr" fontAlgn="ctr"/>
                      <a:r>
                        <a:rPr lang="en-US" altLang="ko-KR" sz="1100" b="0" i="0" u="none" strike="noStrike">
                          <a:solidFill>
                            <a:srgbClr val="000000"/>
                          </a:solidFill>
                          <a:effectLst/>
                          <a:latin typeface="돋움"/>
                        </a:rPr>
                        <a:t>18</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09550">
                <a:tc>
                  <a:txBody>
                    <a:bodyPr/>
                    <a:lstStyle/>
                    <a:p>
                      <a:pPr algn="ctr" fontAlgn="ctr"/>
                      <a:r>
                        <a:rPr lang="en-US" altLang="ko-KR" sz="1100" b="0" i="0" u="none" strike="noStrike">
                          <a:solidFill>
                            <a:srgbClr val="000000"/>
                          </a:solidFill>
                          <a:effectLst/>
                          <a:latin typeface="돋움"/>
                        </a:rPr>
                        <a:t>19</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9550">
                <a:tc>
                  <a:txBody>
                    <a:bodyPr/>
                    <a:lstStyle/>
                    <a:p>
                      <a:pPr algn="ctr" fontAlgn="ctr"/>
                      <a:r>
                        <a:rPr lang="en-US" altLang="ko-KR" sz="1100" b="0" i="0" u="none" strike="noStrike">
                          <a:solidFill>
                            <a:srgbClr val="000000"/>
                          </a:solidFill>
                          <a:effectLst/>
                          <a:latin typeface="돋움"/>
                        </a:rPr>
                        <a:t>20</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09550">
                <a:tc>
                  <a:txBody>
                    <a:bodyPr/>
                    <a:lstStyle/>
                    <a:p>
                      <a:pPr algn="ctr" fontAlgn="ctr"/>
                      <a:r>
                        <a:rPr lang="en-US" altLang="ko-KR" sz="1100" b="0" i="0" u="none" strike="noStrike">
                          <a:solidFill>
                            <a:srgbClr val="000000"/>
                          </a:solidFill>
                          <a:effectLst/>
                          <a:latin typeface="돋움"/>
                        </a:rPr>
                        <a:t>21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09550">
                <a:tc>
                  <a:txBody>
                    <a:bodyPr/>
                    <a:lstStyle/>
                    <a:p>
                      <a:pPr algn="ctr" fontAlgn="ctr"/>
                      <a:r>
                        <a:rPr lang="en-US" altLang="ko-KR" sz="1100" b="0" i="0" u="none" strike="noStrike">
                          <a:solidFill>
                            <a:srgbClr val="000000"/>
                          </a:solidFill>
                          <a:effectLst/>
                          <a:latin typeface="돋움"/>
                        </a:rPr>
                        <a:t>22</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09550">
                <a:tc>
                  <a:txBody>
                    <a:bodyPr/>
                    <a:lstStyle/>
                    <a:p>
                      <a:pPr algn="ctr" fontAlgn="ctr"/>
                      <a:r>
                        <a:rPr lang="en-US" altLang="ko-KR" sz="1100" b="0" i="0" u="none" strike="noStrike">
                          <a:solidFill>
                            <a:srgbClr val="000000"/>
                          </a:solidFill>
                          <a:effectLst/>
                          <a:latin typeface="돋움"/>
                        </a:rPr>
                        <a:t>23</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09550">
                <a:tc>
                  <a:txBody>
                    <a:bodyPr/>
                    <a:lstStyle/>
                    <a:p>
                      <a:pPr algn="ctr" fontAlgn="ctr"/>
                      <a:r>
                        <a:rPr lang="en-US" altLang="ko-KR" sz="1100" b="0" i="0" u="none" strike="noStrike">
                          <a:solidFill>
                            <a:srgbClr val="000000"/>
                          </a:solidFill>
                          <a:effectLst/>
                          <a:latin typeface="돋움"/>
                        </a:rPr>
                        <a:t>24</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09550">
                <a:tc>
                  <a:txBody>
                    <a:bodyPr/>
                    <a:lstStyle/>
                    <a:p>
                      <a:pPr algn="ctr" fontAlgn="ctr"/>
                      <a:r>
                        <a:rPr lang="en-US" altLang="ko-KR" sz="1100" b="0" i="0" u="none" strike="noStrike">
                          <a:solidFill>
                            <a:srgbClr val="000000"/>
                          </a:solidFill>
                          <a:effectLst/>
                          <a:latin typeface="돋움"/>
                        </a:rPr>
                        <a:t>25</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09550">
                <a:tc>
                  <a:txBody>
                    <a:bodyPr/>
                    <a:lstStyle/>
                    <a:p>
                      <a:pPr algn="ctr" fontAlgn="ctr"/>
                      <a:r>
                        <a:rPr lang="en-US" altLang="ko-KR" sz="1100" b="0" i="0" u="none" strike="noStrike">
                          <a:solidFill>
                            <a:srgbClr val="000000"/>
                          </a:solidFill>
                          <a:effectLst/>
                          <a:latin typeface="돋움"/>
                        </a:rPr>
                        <a:t>26</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09550">
                <a:tc>
                  <a:txBody>
                    <a:bodyPr/>
                    <a:lstStyle/>
                    <a:p>
                      <a:pPr algn="ctr" fontAlgn="ctr"/>
                      <a:r>
                        <a:rPr lang="en-US" altLang="ko-KR" sz="1100" b="0" i="0" u="none" strike="noStrike">
                          <a:solidFill>
                            <a:srgbClr val="000000"/>
                          </a:solidFill>
                          <a:effectLst/>
                          <a:latin typeface="돋움"/>
                        </a:rPr>
                        <a:t>27</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09550">
                <a:tc>
                  <a:txBody>
                    <a:bodyPr/>
                    <a:lstStyle/>
                    <a:p>
                      <a:pPr algn="ctr" fontAlgn="ctr"/>
                      <a:r>
                        <a:rPr lang="en-US" altLang="ko-KR" sz="1100" b="0" i="0" u="none" strike="noStrike">
                          <a:solidFill>
                            <a:srgbClr val="000000"/>
                          </a:solidFill>
                          <a:effectLst/>
                          <a:latin typeface="돋움"/>
                        </a:rPr>
                        <a:t>28</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09550">
                <a:tc>
                  <a:txBody>
                    <a:bodyPr/>
                    <a:lstStyle/>
                    <a:p>
                      <a:pPr algn="ctr" fontAlgn="ctr"/>
                      <a:r>
                        <a:rPr lang="en-US" altLang="ko-KR" sz="1100" b="0" i="0" u="none" strike="noStrike">
                          <a:solidFill>
                            <a:srgbClr val="000000"/>
                          </a:solidFill>
                          <a:effectLst/>
                          <a:latin typeface="돋움"/>
                        </a:rPr>
                        <a:t>29</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7.28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7.38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09550">
                <a:tc>
                  <a:txBody>
                    <a:bodyPr/>
                    <a:lstStyle/>
                    <a:p>
                      <a:pPr algn="ctr" fontAlgn="ctr"/>
                      <a:r>
                        <a:rPr lang="en-US" altLang="ko-KR" sz="1100" b="0" i="0" u="none" strike="noStrike" dirty="0">
                          <a:solidFill>
                            <a:srgbClr val="000000"/>
                          </a:solidFill>
                          <a:effectLst/>
                          <a:latin typeface="돋움"/>
                        </a:rPr>
                        <a:t>30</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09550">
                <a:tc>
                  <a:txBody>
                    <a:bodyPr/>
                    <a:lstStyle/>
                    <a:p>
                      <a:pPr algn="ctr" fontAlgn="ctr"/>
                      <a:r>
                        <a:rPr lang="en-US" altLang="ko-KR" sz="1100" b="0" i="0" u="none" strike="noStrike" dirty="0">
                          <a:solidFill>
                            <a:srgbClr val="000000"/>
                          </a:solidFill>
                          <a:effectLst/>
                          <a:latin typeface="돋움"/>
                        </a:rPr>
                        <a:t>31</a:t>
                      </a:r>
                    </a:p>
                  </a:txBody>
                  <a:tcPr marL="8792" marR="8792"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7.46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7.65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ko-KR" sz="1100" b="0" i="0" u="none" strike="noStrike" dirty="0">
                          <a:solidFill>
                            <a:srgbClr val="000000"/>
                          </a:solidFill>
                          <a:effectLst/>
                          <a:latin typeface="맑은 고딕"/>
                        </a:rPr>
                        <a:t>7.55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
        <p:nvSpPr>
          <p:cNvPr id="5" name="직사각형 4"/>
          <p:cNvSpPr/>
          <p:nvPr/>
        </p:nvSpPr>
        <p:spPr>
          <a:xfrm>
            <a:off x="916209" y="2204320"/>
            <a:ext cx="1452642" cy="307777"/>
          </a:xfrm>
          <a:prstGeom prst="rect">
            <a:avLst/>
          </a:prstGeom>
        </p:spPr>
        <p:txBody>
          <a:bodyPr wrap="none">
            <a:spAutoFit/>
          </a:bodyPr>
          <a:lstStyle/>
          <a:p>
            <a:pPr fontAlgn="base">
              <a:spcBef>
                <a:spcPct val="0"/>
              </a:spcBef>
              <a:spcAft>
                <a:spcPct val="0"/>
              </a:spcAft>
            </a:pPr>
            <a:r>
              <a:rPr kumimoji="1" lang="en-US" altLang="ko-KR" sz="1400" b="1" dirty="0">
                <a:solidFill>
                  <a:prstClr val="black"/>
                </a:solidFill>
                <a:latin typeface="굴림" pitchFamily="50" charset="-127"/>
                <a:ea typeface="굴림" pitchFamily="50" charset="-127"/>
              </a:rPr>
              <a:t>Spec: 7.5±2.5 </a:t>
            </a:r>
            <a:endParaRPr kumimoji="1" lang="ko-KR" altLang="en-US" b="1" dirty="0">
              <a:solidFill>
                <a:prstClr val="black"/>
              </a:solidFill>
              <a:latin typeface="굴림" pitchFamily="50" charset="-127"/>
              <a:ea typeface="굴림" pitchFamily="50" charset="-127"/>
            </a:endParaRPr>
          </a:p>
        </p:txBody>
      </p:sp>
      <p:sp>
        <p:nvSpPr>
          <p:cNvPr id="14" name="TextBox 13"/>
          <p:cNvSpPr txBox="1"/>
          <p:nvPr/>
        </p:nvSpPr>
        <p:spPr>
          <a:xfrm>
            <a:off x="323528" y="548682"/>
            <a:ext cx="2103461" cy="49244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2000" b="1" dirty="0" err="1">
                <a:solidFill>
                  <a:prstClr val="black"/>
                </a:solidFill>
                <a:ea typeface="굴림" pitchFamily="50" charset="-127"/>
              </a:rPr>
              <a:t>Luyện</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tập</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ví</a:t>
            </a:r>
            <a:r>
              <a:rPr kumimoji="1" lang="en-US" altLang="ko-KR" sz="2000" b="1" dirty="0">
                <a:solidFill>
                  <a:prstClr val="black"/>
                </a:solidFill>
                <a:ea typeface="굴림" pitchFamily="50" charset="-127"/>
              </a:rPr>
              <a:t> </a:t>
            </a:r>
            <a:r>
              <a:rPr kumimoji="1" lang="en-US" altLang="ko-KR" sz="2000" b="1" dirty="0" err="1">
                <a:solidFill>
                  <a:prstClr val="black"/>
                </a:solidFill>
                <a:ea typeface="굴림" pitchFamily="50" charset="-127"/>
              </a:rPr>
              <a:t>dụ</a:t>
            </a:r>
            <a:endParaRPr kumimoji="1" lang="ko-KR" altLang="en-US" sz="2000" b="1" dirty="0">
              <a:solidFill>
                <a:prstClr val="black"/>
              </a:solidFill>
              <a:ea typeface="굴림" pitchFamily="50" charset="-127"/>
            </a:endParaRPr>
          </a:p>
        </p:txBody>
      </p:sp>
      <p:sp>
        <p:nvSpPr>
          <p:cNvPr id="10" name="슬라이드 번호 개체 틀 1"/>
          <p:cNvSpPr>
            <a:spLocks noGrp="1"/>
          </p:cNvSpPr>
          <p:nvPr>
            <p:ph type="sldNum" sz="quarter" idx="4294967295"/>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311</a:t>
            </a:fld>
            <a:endParaRPr lang="ko-KR" altLang="en-US" sz="1200" dirty="0">
              <a:solidFill>
                <a:prstClr val="black"/>
              </a:solidFill>
            </a:endParaRPr>
          </a:p>
        </p:txBody>
      </p:sp>
    </p:spTree>
    <p:extLst>
      <p:ext uri="{BB962C8B-B14F-4D97-AF65-F5344CB8AC3E}">
        <p14:creationId xmlns:p14="http://schemas.microsoft.com/office/powerpoint/2010/main" val="315772811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9513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7990" y="836712"/>
            <a:ext cx="8574491" cy="54006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 Box 4"/>
          <p:cNvSpPr txBox="1">
            <a:spLocks noChangeArrowheads="1"/>
          </p:cNvSpPr>
          <p:nvPr/>
        </p:nvSpPr>
        <p:spPr bwMode="auto">
          <a:xfrm>
            <a:off x="-14356" y="44624"/>
            <a:ext cx="525047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R)control chart</a:t>
            </a:r>
            <a:r>
              <a:rPr lang="ko-KR" altLang="en-US" sz="2000" b="1" dirty="0">
                <a:solidFill>
                  <a:srgbClr val="000000"/>
                </a:solidFill>
                <a:latin typeface="맑은 고딕" pitchFamily="50" charset="-127"/>
                <a:ea typeface="맑은 고딕" pitchFamily="50" charset="-127"/>
              </a:rPr>
              <a:t> </a:t>
            </a:r>
            <a:r>
              <a:rPr lang="en-US" altLang="ko-KR" sz="2000" b="1" dirty="0">
                <a:solidFill>
                  <a:srgbClr val="000000"/>
                </a:solidFill>
                <a:latin typeface="맑은 고딕" pitchFamily="50" charset="-127"/>
                <a:ea typeface="맑은 고딕" pitchFamily="50" charset="-127"/>
              </a:rPr>
              <a:t>Practice</a:t>
            </a:r>
            <a:endParaRPr lang="ko-KR" altLang="en-US" sz="2000" b="1" dirty="0">
              <a:solidFill>
                <a:srgbClr val="000000"/>
              </a:solidFill>
              <a:latin typeface="맑은 고딕" pitchFamily="50" charset="-127"/>
              <a:ea typeface="맑은 고딕" pitchFamily="50" charset="-127"/>
            </a:endParaRPr>
          </a:p>
        </p:txBody>
      </p:sp>
      <p:sp>
        <p:nvSpPr>
          <p:cNvPr id="8"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312</a:t>
            </a:fld>
            <a:endParaRPr lang="ko-KR" altLang="en-US" sz="1200" dirty="0">
              <a:solidFill>
                <a:prstClr val="black"/>
              </a:solidFill>
            </a:endParaRPr>
          </a:p>
        </p:txBody>
      </p:sp>
    </p:spTree>
    <p:extLst>
      <p:ext uri="{BB962C8B-B14F-4D97-AF65-F5344CB8AC3E}">
        <p14:creationId xmlns:p14="http://schemas.microsoft.com/office/powerpoint/2010/main" val="3446860104"/>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4356" y="44624"/>
            <a:ext cx="525047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R)control chart</a:t>
            </a:r>
            <a:r>
              <a:rPr lang="ko-KR" altLang="en-US" sz="2000" b="1" dirty="0">
                <a:solidFill>
                  <a:srgbClr val="000000"/>
                </a:solidFill>
                <a:latin typeface="맑은 고딕" pitchFamily="50" charset="-127"/>
                <a:ea typeface="맑은 고딕" pitchFamily="50" charset="-127"/>
              </a:rPr>
              <a:t> </a:t>
            </a:r>
            <a:r>
              <a:rPr lang="en-US" altLang="ko-KR" sz="2000" b="1" dirty="0">
                <a:solidFill>
                  <a:srgbClr val="000000"/>
                </a:solidFill>
                <a:latin typeface="맑은 고딕" pitchFamily="50" charset="-127"/>
                <a:ea typeface="맑은 고딕" pitchFamily="50" charset="-127"/>
              </a:rPr>
              <a:t>Practice</a:t>
            </a:r>
            <a:endParaRPr lang="ko-KR" altLang="en-US" sz="2000" b="1" dirty="0">
              <a:solidFill>
                <a:srgbClr val="000000"/>
              </a:solidFill>
              <a:latin typeface="맑은 고딕" pitchFamily="50" charset="-127"/>
              <a:ea typeface="맑은 고딕" pitchFamily="50" charset="-127"/>
            </a:endParaRPr>
          </a:p>
        </p:txBody>
      </p:sp>
      <p:pic>
        <p:nvPicPr>
          <p:cNvPr id="5"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111" t="-335" r="37983" b="86836"/>
          <a:stretch/>
        </p:blipFill>
        <p:spPr bwMode="auto">
          <a:xfrm>
            <a:off x="1005936" y="2276872"/>
            <a:ext cx="6740930" cy="201622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7" name="직선 화살표 연결선 6"/>
          <p:cNvCxnSpPr/>
          <p:nvPr/>
        </p:nvCxnSpPr>
        <p:spPr>
          <a:xfrm flipV="1">
            <a:off x="3707904" y="1484784"/>
            <a:ext cx="1861130" cy="129614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직선 화살표 연결선 9"/>
          <p:cNvCxnSpPr/>
          <p:nvPr/>
        </p:nvCxnSpPr>
        <p:spPr>
          <a:xfrm flipV="1">
            <a:off x="3508497" y="1412776"/>
            <a:ext cx="731158" cy="10081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p:nvPr/>
        </p:nvCxnSpPr>
        <p:spPr>
          <a:xfrm flipH="1" flipV="1">
            <a:off x="2444996" y="1556792"/>
            <a:ext cx="531751" cy="86409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p:nvPr/>
        </p:nvCxnSpPr>
        <p:spPr>
          <a:xfrm flipV="1">
            <a:off x="3641435" y="2000240"/>
            <a:ext cx="2930829" cy="114072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142977" y="919126"/>
            <a:ext cx="3143271" cy="65248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Choose between special and general characteristics</a:t>
            </a:r>
            <a:endParaRPr kumimoji="1" lang="ko-KR" altLang="en-US" sz="1400" b="1" dirty="0">
              <a:solidFill>
                <a:prstClr val="black"/>
              </a:solidFill>
              <a:latin typeface="굴림" pitchFamily="50" charset="-127"/>
              <a:ea typeface="굴림" pitchFamily="50" charset="-127"/>
            </a:endParaRPr>
          </a:p>
        </p:txBody>
      </p:sp>
      <p:sp>
        <p:nvSpPr>
          <p:cNvPr id="17" name="TextBox 16"/>
          <p:cNvSpPr txBox="1"/>
          <p:nvPr/>
        </p:nvSpPr>
        <p:spPr>
          <a:xfrm>
            <a:off x="3714744" y="642918"/>
            <a:ext cx="2731421" cy="65248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Choice of KPC, PQC, general management characteristics</a:t>
            </a:r>
            <a:endParaRPr kumimoji="1" lang="ko-KR" altLang="en-US" sz="1400" b="1" dirty="0">
              <a:solidFill>
                <a:prstClr val="black"/>
              </a:solidFill>
              <a:latin typeface="굴림" pitchFamily="50" charset="-127"/>
              <a:ea typeface="굴림" pitchFamily="50" charset="-127"/>
            </a:endParaRPr>
          </a:p>
        </p:txBody>
      </p:sp>
      <p:sp>
        <p:nvSpPr>
          <p:cNvPr id="18" name="TextBox 17"/>
          <p:cNvSpPr txBox="1"/>
          <p:nvPr/>
        </p:nvSpPr>
        <p:spPr>
          <a:xfrm>
            <a:off x="5500694" y="1133440"/>
            <a:ext cx="3074931" cy="65248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Choice between management and interpretation</a:t>
            </a:r>
            <a:endParaRPr kumimoji="1" lang="ko-KR" altLang="en-US" sz="1400" b="1" dirty="0">
              <a:solidFill>
                <a:prstClr val="black"/>
              </a:solidFill>
              <a:latin typeface="굴림" pitchFamily="50" charset="-127"/>
              <a:ea typeface="굴림" pitchFamily="50" charset="-127"/>
            </a:endParaRPr>
          </a:p>
        </p:txBody>
      </p:sp>
      <p:sp>
        <p:nvSpPr>
          <p:cNvPr id="19" name="TextBox 18"/>
          <p:cNvSpPr txBox="1"/>
          <p:nvPr/>
        </p:nvSpPr>
        <p:spPr>
          <a:xfrm>
            <a:off x="6715140" y="1643050"/>
            <a:ext cx="2143140" cy="65248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Select between both sides and one side</a:t>
            </a:r>
            <a:endParaRPr kumimoji="1" lang="ko-KR" altLang="en-US" sz="1400" b="1" dirty="0">
              <a:solidFill>
                <a:prstClr val="black"/>
              </a:solidFill>
              <a:latin typeface="굴림" pitchFamily="50" charset="-127"/>
              <a:ea typeface="굴림" pitchFamily="50" charset="-127"/>
            </a:endParaRPr>
          </a:p>
        </p:txBody>
      </p:sp>
      <p:cxnSp>
        <p:nvCxnSpPr>
          <p:cNvPr id="21" name="직선 화살표 연결선 20"/>
          <p:cNvCxnSpPr/>
          <p:nvPr/>
        </p:nvCxnSpPr>
        <p:spPr>
          <a:xfrm rot="10800000" flipV="1">
            <a:off x="1928795" y="3861048"/>
            <a:ext cx="981485" cy="71096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1406" y="4573814"/>
            <a:ext cx="2835188" cy="1212640"/>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Set the average (goal) of process control.</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Set the nominal dimension of SPEC</a:t>
            </a:r>
            <a:endParaRPr kumimoji="1" lang="ko-KR" altLang="en-US" sz="1400" b="1" dirty="0">
              <a:solidFill>
                <a:prstClr val="black"/>
              </a:solidFill>
              <a:latin typeface="굴림" pitchFamily="50" charset="-127"/>
              <a:ea typeface="굴림" pitchFamily="50" charset="-127"/>
            </a:endParaRPr>
          </a:p>
        </p:txBody>
      </p:sp>
      <p:cxnSp>
        <p:nvCxnSpPr>
          <p:cNvPr id="24" name="직선 화살표 연결선 23"/>
          <p:cNvCxnSpPr/>
          <p:nvPr/>
        </p:nvCxnSpPr>
        <p:spPr>
          <a:xfrm rot="5400000">
            <a:off x="2623503" y="4022455"/>
            <a:ext cx="1855108" cy="12442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47961" y="5643578"/>
            <a:ext cx="2623974" cy="65248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Upper and lower limit setting of SPEC</a:t>
            </a:r>
            <a:endParaRPr kumimoji="1" lang="ko-KR" altLang="en-US" sz="1400" b="1" dirty="0">
              <a:solidFill>
                <a:prstClr val="black"/>
              </a:solidFill>
              <a:latin typeface="굴림" pitchFamily="50" charset="-127"/>
              <a:ea typeface="굴림" pitchFamily="50" charset="-127"/>
            </a:endParaRPr>
          </a:p>
        </p:txBody>
      </p:sp>
      <p:cxnSp>
        <p:nvCxnSpPr>
          <p:cNvPr id="27" name="직선 화살표 연결선 26"/>
          <p:cNvCxnSpPr/>
          <p:nvPr/>
        </p:nvCxnSpPr>
        <p:spPr>
          <a:xfrm flipH="1">
            <a:off x="4505532" y="3789040"/>
            <a:ext cx="199407" cy="230425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2643174" y="6245099"/>
            <a:ext cx="4140877" cy="612925"/>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Set the UCL and LCL of the X Bar control chart.</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Set to draw control chart for management.</a:t>
            </a:r>
            <a:endParaRPr kumimoji="1" lang="ko-KR" altLang="en-US" sz="1400" b="1" dirty="0">
              <a:solidFill>
                <a:prstClr val="black"/>
              </a:solidFill>
              <a:latin typeface="굴림" pitchFamily="50" charset="-127"/>
              <a:ea typeface="굴림" pitchFamily="50" charset="-127"/>
            </a:endParaRPr>
          </a:p>
        </p:txBody>
      </p:sp>
      <p:cxnSp>
        <p:nvCxnSpPr>
          <p:cNvPr id="30" name="직선 화살표 연결선 29"/>
          <p:cNvCxnSpPr/>
          <p:nvPr/>
        </p:nvCxnSpPr>
        <p:spPr>
          <a:xfrm>
            <a:off x="6433131" y="3933056"/>
            <a:ext cx="398814" cy="57606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5500693" y="4419588"/>
            <a:ext cx="3786215" cy="65248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Set the UCL and LCL of the R control chart.</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Set to draw control chart for management</a:t>
            </a:r>
            <a:endParaRPr kumimoji="1" lang="ko-KR" altLang="en-US" sz="1400" b="1" dirty="0">
              <a:solidFill>
                <a:prstClr val="black"/>
              </a:solidFill>
              <a:latin typeface="굴림" pitchFamily="50" charset="-127"/>
              <a:ea typeface="굴림" pitchFamily="50" charset="-127"/>
            </a:endParaRPr>
          </a:p>
        </p:txBody>
      </p:sp>
      <p:sp>
        <p:nvSpPr>
          <p:cNvPr id="34" name="TextBox 33"/>
          <p:cNvSpPr txBox="1"/>
          <p:nvPr/>
        </p:nvSpPr>
        <p:spPr>
          <a:xfrm>
            <a:off x="4929190" y="5000636"/>
            <a:ext cx="3545185" cy="1212640"/>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Set the average value (target) of the R control chart.</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Set to draw control chart for management</a:t>
            </a:r>
            <a:endParaRPr kumimoji="1" lang="ko-KR" altLang="en-US" sz="1400" b="1" dirty="0">
              <a:solidFill>
                <a:prstClr val="black"/>
              </a:solidFill>
              <a:latin typeface="굴림" pitchFamily="50" charset="-127"/>
              <a:ea typeface="굴림" pitchFamily="50" charset="-127"/>
            </a:endParaRPr>
          </a:p>
        </p:txBody>
      </p:sp>
      <p:sp>
        <p:nvSpPr>
          <p:cNvPr id="35"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313</a:t>
            </a:fld>
            <a:endParaRPr lang="ko-KR" altLang="en-US" sz="1200" dirty="0">
              <a:solidFill>
                <a:prstClr val="black"/>
              </a:solidFill>
            </a:endParaRPr>
          </a:p>
        </p:txBody>
      </p:sp>
      <p:cxnSp>
        <p:nvCxnSpPr>
          <p:cNvPr id="33" name="직선 화살표 연결선 32"/>
          <p:cNvCxnSpPr/>
          <p:nvPr/>
        </p:nvCxnSpPr>
        <p:spPr>
          <a:xfrm rot="5400000">
            <a:off x="4979816" y="4378506"/>
            <a:ext cx="1285884" cy="10125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4497761"/>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9513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7990" y="836712"/>
            <a:ext cx="8574491" cy="54006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 Box 4"/>
          <p:cNvSpPr txBox="1">
            <a:spLocks noChangeArrowheads="1"/>
          </p:cNvSpPr>
          <p:nvPr/>
        </p:nvSpPr>
        <p:spPr bwMode="auto">
          <a:xfrm>
            <a:off x="-14356" y="44624"/>
            <a:ext cx="5881756"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a:t>
            </a:r>
            <a:r>
              <a:rPr lang="en-US" altLang="ko-KR" sz="2000" b="1" dirty="0" err="1">
                <a:solidFill>
                  <a:srgbClr val="000000"/>
                </a:solidFill>
                <a:latin typeface="맑은 고딕" pitchFamily="50" charset="-127"/>
                <a:ea typeface="맑은 고딕" pitchFamily="50" charset="-127"/>
              </a:rPr>
              <a:t>Luyện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tập</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đồ</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thị</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quản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lý</a:t>
            </a:r>
            <a:r>
              <a:rPr lang="en-US" altLang="ko-KR" sz="2000" b="1" dirty="0">
                <a:solidFill>
                  <a:srgbClr val="000000"/>
                </a:solidFill>
                <a:latin typeface="맑은 고딕" pitchFamily="50" charset="-127"/>
                <a:ea typeface="맑은 고딕" pitchFamily="50" charset="-127"/>
              </a:rPr>
              <a:t>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a:t>
            </a:r>
            <a:endParaRPr lang="ko-KR" altLang="en-US" sz="2000" b="1" dirty="0">
              <a:solidFill>
                <a:srgbClr val="000000"/>
              </a:solidFill>
              <a:latin typeface="맑은 고딕" pitchFamily="50" charset="-127"/>
              <a:ea typeface="맑은 고딕" pitchFamily="50" charset="-127"/>
            </a:endParaRPr>
          </a:p>
        </p:txBody>
      </p:sp>
      <p:sp>
        <p:nvSpPr>
          <p:cNvPr id="8"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314</a:t>
            </a:fld>
            <a:endParaRPr lang="ko-KR" altLang="en-US" sz="1200" dirty="0">
              <a:solidFill>
                <a:prstClr val="black"/>
              </a:solidFill>
            </a:endParaRPr>
          </a:p>
        </p:txBody>
      </p:sp>
    </p:spTree>
    <p:extLst>
      <p:ext uri="{BB962C8B-B14F-4D97-AF65-F5344CB8AC3E}">
        <p14:creationId xmlns:p14="http://schemas.microsoft.com/office/powerpoint/2010/main" val="3446860104"/>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4356" y="44624"/>
            <a:ext cx="5881756"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a:t>
            </a:r>
            <a:r>
              <a:rPr lang="en-US" altLang="ko-KR" sz="2000" b="1" dirty="0" err="1">
                <a:solidFill>
                  <a:srgbClr val="000000"/>
                </a:solidFill>
                <a:latin typeface="맑은 고딕" pitchFamily="50" charset="-127"/>
                <a:ea typeface="맑은 고딕" pitchFamily="50" charset="-127"/>
              </a:rPr>
              <a:t>Luyện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tập</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đô</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thị</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quản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lý</a:t>
            </a:r>
            <a:r>
              <a:rPr lang="en-US" altLang="ko-KR" sz="2000" b="1" dirty="0">
                <a:solidFill>
                  <a:srgbClr val="000000"/>
                </a:solidFill>
                <a:latin typeface="맑은 고딕" pitchFamily="50" charset="-127"/>
                <a:ea typeface="맑은 고딕" pitchFamily="50" charset="-127"/>
              </a:rPr>
              <a:t>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a:t>
            </a:r>
            <a:endParaRPr lang="ko-KR" altLang="en-US" sz="2000" b="1" dirty="0">
              <a:solidFill>
                <a:srgbClr val="000000"/>
              </a:solidFill>
              <a:latin typeface="맑은 고딕" pitchFamily="50" charset="-127"/>
              <a:ea typeface="맑은 고딕" pitchFamily="50" charset="-127"/>
            </a:endParaRPr>
          </a:p>
        </p:txBody>
      </p:sp>
      <p:pic>
        <p:nvPicPr>
          <p:cNvPr id="5"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11" t="-335" r="37983" b="86836"/>
          <a:stretch/>
        </p:blipFill>
        <p:spPr bwMode="auto">
          <a:xfrm>
            <a:off x="1005936" y="2276872"/>
            <a:ext cx="6740930" cy="201622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7" name="직선 화살표 연결선 6"/>
          <p:cNvCxnSpPr/>
          <p:nvPr/>
        </p:nvCxnSpPr>
        <p:spPr>
          <a:xfrm flipV="1">
            <a:off x="3707904" y="1484784"/>
            <a:ext cx="1861130" cy="129614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직선 화살표 연결선 9"/>
          <p:cNvCxnSpPr/>
          <p:nvPr/>
        </p:nvCxnSpPr>
        <p:spPr>
          <a:xfrm flipV="1">
            <a:off x="3508497" y="1412776"/>
            <a:ext cx="731158" cy="10081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p:nvPr/>
        </p:nvCxnSpPr>
        <p:spPr>
          <a:xfrm flipH="1" flipV="1">
            <a:off x="2444996" y="1556792"/>
            <a:ext cx="531751" cy="86409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p:nvPr/>
        </p:nvCxnSpPr>
        <p:spPr>
          <a:xfrm flipV="1">
            <a:off x="3641435" y="1844824"/>
            <a:ext cx="2525819" cy="129614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52400" y="1052736"/>
            <a:ext cx="3254417" cy="621452"/>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đặc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đặc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biệt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đặc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thường</a:t>
            </a:r>
            <a:endParaRPr kumimoji="1" lang="ko-KR" altLang="en-US" sz="1400" b="1" dirty="0">
              <a:solidFill>
                <a:prstClr val="black"/>
              </a:solidFill>
              <a:latin typeface="굴림" pitchFamily="50" charset="-127"/>
              <a:ea typeface="굴림" pitchFamily="50" charset="-127"/>
            </a:endParaRPr>
          </a:p>
        </p:txBody>
      </p:sp>
      <p:sp>
        <p:nvSpPr>
          <p:cNvPr id="17" name="TextBox 16"/>
          <p:cNvSpPr txBox="1"/>
          <p:nvPr/>
        </p:nvSpPr>
        <p:spPr>
          <a:xfrm>
            <a:off x="3840843" y="764704"/>
            <a:ext cx="5051383" cy="34137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KPC, PQC, </a:t>
            </a: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đặc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thường</a:t>
            </a:r>
            <a:endParaRPr kumimoji="1" lang="ko-KR" altLang="en-US" sz="1400" b="1" dirty="0">
              <a:solidFill>
                <a:prstClr val="black"/>
              </a:solidFill>
              <a:latin typeface="굴림" pitchFamily="50" charset="-127"/>
              <a:ea typeface="굴림" pitchFamily="50" charset="-127"/>
            </a:endParaRPr>
          </a:p>
        </p:txBody>
      </p:sp>
      <p:sp>
        <p:nvSpPr>
          <p:cNvPr id="18" name="TextBox 17"/>
          <p:cNvSpPr txBox="1"/>
          <p:nvPr/>
        </p:nvSpPr>
        <p:spPr>
          <a:xfrm>
            <a:off x="4876800" y="1196752"/>
            <a:ext cx="4176143" cy="34137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dùng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dùng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phân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tích</a:t>
            </a:r>
            <a:endParaRPr kumimoji="1" lang="ko-KR" altLang="en-US" sz="1400" b="1" dirty="0">
              <a:solidFill>
                <a:prstClr val="black"/>
              </a:solidFill>
              <a:latin typeface="굴림" pitchFamily="50" charset="-127"/>
              <a:ea typeface="굴림" pitchFamily="50" charset="-127"/>
            </a:endParaRPr>
          </a:p>
        </p:txBody>
      </p:sp>
      <p:sp>
        <p:nvSpPr>
          <p:cNvPr id="19" name="TextBox 18"/>
          <p:cNvSpPr txBox="1"/>
          <p:nvPr/>
        </p:nvSpPr>
        <p:spPr>
          <a:xfrm>
            <a:off x="5791200" y="1524000"/>
            <a:ext cx="3198311" cy="34137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trong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hai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mặt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một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mặt</a:t>
            </a:r>
            <a:endParaRPr kumimoji="1" lang="ko-KR" altLang="en-US" sz="1400" b="1" dirty="0">
              <a:solidFill>
                <a:prstClr val="black"/>
              </a:solidFill>
              <a:latin typeface="굴림" pitchFamily="50" charset="-127"/>
              <a:ea typeface="굴림" pitchFamily="50" charset="-127"/>
            </a:endParaRPr>
          </a:p>
        </p:txBody>
      </p:sp>
      <p:cxnSp>
        <p:nvCxnSpPr>
          <p:cNvPr id="21" name="직선 화살표 연결선 20"/>
          <p:cNvCxnSpPr/>
          <p:nvPr/>
        </p:nvCxnSpPr>
        <p:spPr>
          <a:xfrm flipH="1">
            <a:off x="2245589" y="3861048"/>
            <a:ext cx="664689" cy="93610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450928" y="4869160"/>
            <a:ext cx="5357557" cy="65248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Quyết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Giá</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trung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bình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process</a:t>
            </a:r>
            <a:r>
              <a:rPr kumimoji="1" lang="ko-KR" altLang="en-US" sz="1400" b="1" dirty="0">
                <a:solidFill>
                  <a:prstClr val="black"/>
                </a:solidFill>
                <a:latin typeface="굴림" pitchFamily="50" charset="-127"/>
                <a:ea typeface="굴림" pitchFamily="50" charset="-127"/>
              </a:rPr>
              <a:t> </a:t>
            </a:r>
            <a:r>
              <a:rPr kumimoji="1" lang="en-US" altLang="ko-KR" sz="1400" b="1" dirty="0">
                <a:solidFill>
                  <a:prstClr val="black"/>
                </a:solidFill>
                <a:latin typeface="굴림" pitchFamily="50" charset="-127"/>
                <a:ea typeface="굴림" pitchFamily="50" charset="-127"/>
              </a:rPr>
              <a:t>(</a:t>
            </a:r>
            <a:r>
              <a:rPr kumimoji="1" lang="en-US" altLang="ko-KR" sz="1400" b="1" dirty="0" err="1">
                <a:solidFill>
                  <a:prstClr val="black"/>
                </a:solidFill>
                <a:latin typeface="굴림" pitchFamily="50" charset="-127"/>
                <a:ea typeface="굴림" pitchFamily="50" charset="-127"/>
              </a:rPr>
              <a:t>mục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tiêu</a:t>
            </a:r>
            <a:r>
              <a:rPr kumimoji="1" lang="en-US" altLang="ko-KR" sz="1400" b="1" dirty="0">
                <a:solidFill>
                  <a:prstClr val="black"/>
                </a:solidFill>
                <a:latin typeface="굴림" pitchFamily="50" charset="-127"/>
                <a:ea typeface="굴림" pitchFamily="50" charset="-127"/>
              </a:rPr>
              <a:t>).</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Quyết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định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chỉ</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số</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Nomical</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SPEC</a:t>
            </a:r>
            <a:endParaRPr kumimoji="1" lang="ko-KR" altLang="en-US" sz="1400" b="1" dirty="0">
              <a:solidFill>
                <a:prstClr val="black"/>
              </a:solidFill>
              <a:latin typeface="굴림" pitchFamily="50" charset="-127"/>
              <a:ea typeface="굴림" pitchFamily="50" charset="-127"/>
            </a:endParaRPr>
          </a:p>
        </p:txBody>
      </p:sp>
      <p:cxnSp>
        <p:nvCxnSpPr>
          <p:cNvPr id="24" name="직선 화살표 연결선 23"/>
          <p:cNvCxnSpPr/>
          <p:nvPr/>
        </p:nvCxnSpPr>
        <p:spPr>
          <a:xfrm flipH="1">
            <a:off x="3242622" y="3717032"/>
            <a:ext cx="930565" cy="18002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371600" y="5638800"/>
            <a:ext cx="2619628" cy="37241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Nội</a:t>
            </a:r>
            <a:r>
              <a:rPr kumimoji="1" lang="en-US" altLang="ko-KR" sz="1400" b="1" dirty="0">
                <a:solidFill>
                  <a:prstClr val="black"/>
                </a:solidFill>
                <a:latin typeface="굴림" pitchFamily="50" charset="-127"/>
                <a:ea typeface="굴림" pitchFamily="50" charset="-127"/>
              </a:rPr>
              <a:t> dung </a:t>
            </a:r>
            <a:r>
              <a:rPr kumimoji="1" lang="en-US" altLang="ko-KR" sz="1400" b="1" dirty="0" err="1">
                <a:solidFill>
                  <a:prstClr val="black"/>
                </a:solidFill>
                <a:latin typeface="굴림" pitchFamily="50" charset="-127"/>
                <a:ea typeface="굴림" pitchFamily="50" charset="-127"/>
              </a:rPr>
              <a:t>spec,Lựa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LSL</a:t>
            </a:r>
            <a:endParaRPr kumimoji="1" lang="ko-KR" altLang="en-US" sz="1400" b="1" dirty="0">
              <a:solidFill>
                <a:prstClr val="black"/>
              </a:solidFill>
              <a:latin typeface="굴림" pitchFamily="50" charset="-127"/>
              <a:ea typeface="굴림" pitchFamily="50" charset="-127"/>
            </a:endParaRPr>
          </a:p>
        </p:txBody>
      </p:sp>
      <p:cxnSp>
        <p:nvCxnSpPr>
          <p:cNvPr id="27" name="직선 화살표 연결선 26"/>
          <p:cNvCxnSpPr/>
          <p:nvPr/>
        </p:nvCxnSpPr>
        <p:spPr>
          <a:xfrm flipH="1">
            <a:off x="4505532" y="3789040"/>
            <a:ext cx="199407" cy="230425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09683" y="6093296"/>
            <a:ext cx="4144083" cy="65248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UCL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LCL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Xbar</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để</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sử</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dụng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endParaRPr kumimoji="1" lang="ko-KR" altLang="en-US" sz="1400" b="1" dirty="0">
              <a:solidFill>
                <a:prstClr val="black"/>
              </a:solidFill>
              <a:latin typeface="굴림" pitchFamily="50" charset="-127"/>
              <a:ea typeface="굴림" pitchFamily="50" charset="-127"/>
            </a:endParaRPr>
          </a:p>
        </p:txBody>
      </p:sp>
      <p:cxnSp>
        <p:nvCxnSpPr>
          <p:cNvPr id="30" name="직선 화살표 연결선 29"/>
          <p:cNvCxnSpPr/>
          <p:nvPr/>
        </p:nvCxnSpPr>
        <p:spPr>
          <a:xfrm>
            <a:off x="6433131" y="3933056"/>
            <a:ext cx="398814" cy="57606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5562600" y="4343400"/>
            <a:ext cx="3466013" cy="9325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UCL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LCL </a:t>
            </a:r>
            <a:r>
              <a:rPr kumimoji="1" lang="en-US" altLang="ko-KR" sz="1400" b="1" dirty="0" err="1">
                <a:solidFill>
                  <a:prstClr val="black"/>
                </a:solidFill>
                <a:latin typeface="굴림" pitchFamily="50" charset="-127"/>
                <a:ea typeface="굴림" pitchFamily="50" charset="-127"/>
              </a:rPr>
              <a:t>của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R. </a:t>
            </a:r>
            <a:r>
              <a:rPr kumimoji="1" lang="en-US" altLang="ko-KR" sz="1400" b="1" dirty="0" err="1">
                <a:solidFill>
                  <a:prstClr val="black"/>
                </a:solidFill>
                <a:latin typeface="굴림" pitchFamily="50" charset="-127"/>
                <a:ea typeface="굴림" pitchFamily="50" charset="-127"/>
              </a:rPr>
              <a:t>Lựa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để</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đồ</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thị</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sử</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dụng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quản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lý</a:t>
            </a:r>
            <a:endParaRPr kumimoji="1" lang="ko-KR" altLang="en-US" sz="1400" b="1" dirty="0">
              <a:solidFill>
                <a:prstClr val="black"/>
              </a:solidFill>
              <a:latin typeface="굴림" pitchFamily="50" charset="-127"/>
              <a:ea typeface="굴림" pitchFamily="50" charset="-127"/>
            </a:endParaRPr>
          </a:p>
        </p:txBody>
      </p:sp>
      <p:sp>
        <p:nvSpPr>
          <p:cNvPr id="35"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315</a:t>
            </a:fld>
            <a:endParaRPr lang="ko-KR" altLang="en-US" sz="1200" dirty="0">
              <a:solidFill>
                <a:prstClr val="black"/>
              </a:solidFill>
            </a:endParaRPr>
          </a:p>
        </p:txBody>
      </p:sp>
    </p:spTree>
    <p:extLst>
      <p:ext uri="{BB962C8B-B14F-4D97-AF65-F5344CB8AC3E}">
        <p14:creationId xmlns:p14="http://schemas.microsoft.com/office/powerpoint/2010/main" val="2104497761"/>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4356" y="44624"/>
            <a:ext cx="525047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R)control chart</a:t>
            </a:r>
            <a:r>
              <a:rPr lang="ko-KR" altLang="en-US" sz="2000" b="1" dirty="0">
                <a:solidFill>
                  <a:srgbClr val="000000"/>
                </a:solidFill>
                <a:latin typeface="맑은 고딕" pitchFamily="50" charset="-127"/>
                <a:ea typeface="맑은 고딕" pitchFamily="50" charset="-127"/>
              </a:rPr>
              <a:t> </a:t>
            </a:r>
            <a:r>
              <a:rPr lang="en-US" altLang="ko-KR" sz="2000" b="1" dirty="0">
                <a:solidFill>
                  <a:srgbClr val="000000"/>
                </a:solidFill>
                <a:latin typeface="맑은 고딕" pitchFamily="50" charset="-127"/>
                <a:ea typeface="맑은 고딕" pitchFamily="50" charset="-127"/>
              </a:rPr>
              <a:t>Practice</a:t>
            </a:r>
            <a:endParaRPr lang="ko-KR" altLang="en-US" sz="2000" b="1" dirty="0">
              <a:solidFill>
                <a:srgbClr val="000000"/>
              </a:solidFill>
              <a:latin typeface="맑은 고딕" pitchFamily="50" charset="-127"/>
              <a:ea typeface="맑은 고딕" pitchFamily="50" charset="-127"/>
            </a:endParaRPr>
          </a:p>
        </p:txBody>
      </p:sp>
      <p:pic>
        <p:nvPicPr>
          <p:cNvPr id="4"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11412" r="62715" b="65162"/>
          <a:stretch/>
        </p:blipFill>
        <p:spPr bwMode="auto">
          <a:xfrm>
            <a:off x="1315024" y="1700808"/>
            <a:ext cx="5516921" cy="284007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317989" y="908722"/>
            <a:ext cx="1396536"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Input of data</a:t>
            </a:r>
            <a:endParaRPr kumimoji="1" lang="ko-KR" altLang="en-US" sz="1600" b="1" dirty="0">
              <a:solidFill>
                <a:prstClr val="black"/>
              </a:solidFill>
              <a:latin typeface="굴림" pitchFamily="50" charset="-127"/>
              <a:ea typeface="굴림" pitchFamily="50" charset="-127"/>
            </a:endParaRPr>
          </a:p>
        </p:txBody>
      </p:sp>
      <p:cxnSp>
        <p:nvCxnSpPr>
          <p:cNvPr id="10" name="직선 화살표 연결선 9"/>
          <p:cNvCxnSpPr>
            <a:endCxn id="11" idx="2"/>
          </p:cNvCxnSpPr>
          <p:nvPr/>
        </p:nvCxnSpPr>
        <p:spPr>
          <a:xfrm flipV="1">
            <a:off x="3043216" y="1276003"/>
            <a:ext cx="1472407" cy="85685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176154" y="908723"/>
            <a:ext cx="2678938"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Record measurement date</a:t>
            </a:r>
            <a:endParaRPr kumimoji="1" lang="ko-KR" altLang="en-US" sz="1600" b="1" dirty="0">
              <a:solidFill>
                <a:prstClr val="black"/>
              </a:solidFill>
              <a:latin typeface="굴림" pitchFamily="50" charset="-127"/>
              <a:ea typeface="굴림" pitchFamily="50" charset="-127"/>
            </a:endParaRPr>
          </a:p>
        </p:txBody>
      </p:sp>
      <p:cxnSp>
        <p:nvCxnSpPr>
          <p:cNvPr id="13" name="직선 화살표 연결선 12"/>
          <p:cNvCxnSpPr>
            <a:endCxn id="14" idx="2"/>
          </p:cNvCxnSpPr>
          <p:nvPr/>
        </p:nvCxnSpPr>
        <p:spPr>
          <a:xfrm rot="5400000" flipH="1" flipV="1">
            <a:off x="5492645" y="1275905"/>
            <a:ext cx="1365549" cy="81395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4071934" y="587687"/>
            <a:ext cx="502092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Sampling group. Up to 31 groups can be displayed</a:t>
            </a:r>
            <a:endParaRPr kumimoji="1" lang="ko-KR" altLang="en-US" sz="1600" b="1" dirty="0">
              <a:solidFill>
                <a:prstClr val="black"/>
              </a:solidFill>
              <a:latin typeface="굴림" pitchFamily="50" charset="-127"/>
              <a:ea typeface="굴림" pitchFamily="50" charset="-127"/>
            </a:endParaRPr>
          </a:p>
        </p:txBody>
      </p:sp>
      <p:cxnSp>
        <p:nvCxnSpPr>
          <p:cNvPr id="16" name="직선 화살표 연결선 15"/>
          <p:cNvCxnSpPr>
            <a:endCxn id="17" idx="0"/>
          </p:cNvCxnSpPr>
          <p:nvPr/>
        </p:nvCxnSpPr>
        <p:spPr>
          <a:xfrm rot="5400000">
            <a:off x="3516688" y="4317906"/>
            <a:ext cx="1944218" cy="16640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3442028" y="5373218"/>
            <a:ext cx="1927131"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Measurement data</a:t>
            </a:r>
            <a:endParaRPr kumimoji="1" lang="ko-KR" altLang="en-US" sz="1600" b="1" dirty="0">
              <a:solidFill>
                <a:prstClr val="black"/>
              </a:solidFill>
              <a:latin typeface="굴림" pitchFamily="50" charset="-127"/>
              <a:ea typeface="굴림" pitchFamily="50" charset="-127"/>
            </a:endParaRPr>
          </a:p>
        </p:txBody>
      </p:sp>
      <p:cxnSp>
        <p:nvCxnSpPr>
          <p:cNvPr id="19" name="직선 화살표 연결선 18"/>
          <p:cNvCxnSpPr>
            <a:endCxn id="20" idx="0"/>
          </p:cNvCxnSpPr>
          <p:nvPr/>
        </p:nvCxnSpPr>
        <p:spPr>
          <a:xfrm rot="5400000">
            <a:off x="383485" y="4530302"/>
            <a:ext cx="2160241" cy="10165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83865" y="5661250"/>
            <a:ext cx="1657826"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Sample number</a:t>
            </a:r>
            <a:endParaRPr kumimoji="1" lang="ko-KR" altLang="en-US" sz="1600" b="1" dirty="0">
              <a:solidFill>
                <a:prstClr val="black"/>
              </a:solidFill>
              <a:latin typeface="굴림" pitchFamily="50" charset="-127"/>
              <a:ea typeface="굴림" pitchFamily="50" charset="-127"/>
            </a:endParaRPr>
          </a:p>
        </p:txBody>
      </p:sp>
      <p:cxnSp>
        <p:nvCxnSpPr>
          <p:cNvPr id="23" name="직선 화살표 연결선 22"/>
          <p:cNvCxnSpPr>
            <a:endCxn id="24" idx="0"/>
          </p:cNvCxnSpPr>
          <p:nvPr/>
        </p:nvCxnSpPr>
        <p:spPr>
          <a:xfrm>
            <a:off x="5701972" y="4077072"/>
            <a:ext cx="2100619" cy="108012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6034318" y="5157195"/>
            <a:ext cx="3536546"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The mean and range of each group</a:t>
            </a:r>
            <a:endParaRPr kumimoji="1" lang="ko-KR" altLang="en-US" sz="1600" b="1" dirty="0">
              <a:solidFill>
                <a:prstClr val="black"/>
              </a:solidFill>
              <a:latin typeface="굴림" pitchFamily="50" charset="-127"/>
              <a:ea typeface="굴림" pitchFamily="50" charset="-127"/>
            </a:endParaRPr>
          </a:p>
        </p:txBody>
      </p:sp>
      <p:sp>
        <p:nvSpPr>
          <p:cNvPr id="25"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316</a:t>
            </a:fld>
            <a:endParaRPr lang="ko-KR" altLang="en-US" sz="1200" dirty="0">
              <a:solidFill>
                <a:prstClr val="black"/>
              </a:solidFill>
            </a:endParaRPr>
          </a:p>
        </p:txBody>
      </p:sp>
    </p:spTree>
    <p:extLst>
      <p:ext uri="{BB962C8B-B14F-4D97-AF65-F5344CB8AC3E}">
        <p14:creationId xmlns:p14="http://schemas.microsoft.com/office/powerpoint/2010/main" val="1271738291"/>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98211"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25784" t="3152" r="25147" b="11151"/>
          <a:stretch/>
        </p:blipFill>
        <p:spPr bwMode="auto">
          <a:xfrm>
            <a:off x="5037283" y="2348880"/>
            <a:ext cx="3845274" cy="4092446"/>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3" name="Text Box 4"/>
          <p:cNvSpPr txBox="1">
            <a:spLocks noChangeArrowheads="1"/>
          </p:cNvSpPr>
          <p:nvPr/>
        </p:nvSpPr>
        <p:spPr bwMode="auto">
          <a:xfrm>
            <a:off x="-14356" y="44624"/>
            <a:ext cx="525047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R)control chart</a:t>
            </a:r>
            <a:r>
              <a:rPr lang="ko-KR" altLang="en-US" sz="2000" b="1" dirty="0">
                <a:solidFill>
                  <a:srgbClr val="000000"/>
                </a:solidFill>
                <a:latin typeface="맑은 고딕" pitchFamily="50" charset="-127"/>
                <a:ea typeface="맑은 고딕" pitchFamily="50" charset="-127"/>
              </a:rPr>
              <a:t> </a:t>
            </a:r>
            <a:r>
              <a:rPr lang="en-US" altLang="ko-KR" sz="2000" b="1" dirty="0">
                <a:solidFill>
                  <a:srgbClr val="000000"/>
                </a:solidFill>
                <a:latin typeface="맑은 고딕" pitchFamily="50" charset="-127"/>
                <a:ea typeface="맑은 고딕" pitchFamily="50" charset="-127"/>
              </a:rPr>
              <a:t>Practice</a:t>
            </a:r>
            <a:endParaRPr lang="ko-KR" altLang="en-US" sz="2000" b="1" dirty="0">
              <a:solidFill>
                <a:srgbClr val="000000"/>
              </a:solidFill>
              <a:latin typeface="맑은 고딕" pitchFamily="50" charset="-127"/>
              <a:ea typeface="맑은 고딕" pitchFamily="50" charset="-127"/>
            </a:endParaRPr>
          </a:p>
        </p:txBody>
      </p:sp>
      <p:pic>
        <p:nvPicPr>
          <p:cNvPr id="4"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70" t="35533" r="51707" b="-232"/>
          <a:stretch/>
        </p:blipFill>
        <p:spPr bwMode="auto">
          <a:xfrm>
            <a:off x="426378" y="1412776"/>
            <a:ext cx="4117681" cy="349411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1514430" y="836715"/>
            <a:ext cx="231666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X bar – R control chart</a:t>
            </a:r>
            <a:endParaRPr kumimoji="1" lang="ko-KR" altLang="en-US" sz="1600" b="1" dirty="0">
              <a:solidFill>
                <a:prstClr val="black"/>
              </a:solidFill>
              <a:latin typeface="굴림" pitchFamily="50" charset="-127"/>
              <a:ea typeface="굴림" pitchFamily="50" charset="-127"/>
            </a:endParaRPr>
          </a:p>
        </p:txBody>
      </p:sp>
      <p:sp>
        <p:nvSpPr>
          <p:cNvPr id="6" name="TextBox 5"/>
          <p:cNvSpPr txBox="1"/>
          <p:nvPr/>
        </p:nvSpPr>
        <p:spPr>
          <a:xfrm>
            <a:off x="4704940" y="908720"/>
            <a:ext cx="4153340" cy="1492716"/>
          </a:xfrm>
          <a:prstGeom prst="rect">
            <a:avLst/>
          </a:prstGeom>
          <a:noFill/>
        </p:spPr>
        <p:txBody>
          <a:bodyPr wrap="square" rtlCol="0">
            <a:spAutoFit/>
          </a:bodyPr>
          <a:lstStyle/>
          <a:p>
            <a:pPr fontAlgn="base">
              <a:lnSpc>
                <a:spcPct val="130000"/>
              </a:lnSpc>
              <a:spcBef>
                <a:spcPct val="0"/>
              </a:spcBef>
              <a:spcAft>
                <a:spcPct val="0"/>
              </a:spcAft>
              <a:buClr>
                <a:srgbClr val="C5003D"/>
              </a:buClr>
            </a:pPr>
            <a:r>
              <a:rPr kumimoji="1" lang="en-US" altLang="ko-KR" sz="1400" b="1" dirty="0">
                <a:solidFill>
                  <a:prstClr val="black"/>
                </a:solidFill>
                <a:latin typeface="굴림" pitchFamily="50" charset="-127"/>
                <a:ea typeface="굴림" pitchFamily="50" charset="-127"/>
              </a:rPr>
              <a:t>If the picture does not look right, place the mouse cursor on the Y axis on the left side and press the right mouse button.</a:t>
            </a:r>
            <a:br>
              <a:rPr kumimoji="1" lang="en-US" altLang="ko-KR" sz="1400" b="1" dirty="0">
                <a:solidFill>
                  <a:prstClr val="black"/>
                </a:solidFill>
                <a:latin typeface="굴림" pitchFamily="50" charset="-127"/>
                <a:ea typeface="굴림" pitchFamily="50" charset="-127"/>
              </a:rPr>
            </a:br>
            <a:r>
              <a:rPr kumimoji="1" lang="en-US" altLang="ko-KR" sz="1400" b="1" dirty="0">
                <a:solidFill>
                  <a:prstClr val="black"/>
                </a:solidFill>
                <a:latin typeface="굴림" pitchFamily="50" charset="-127"/>
                <a:ea typeface="굴림" pitchFamily="50" charset="-127"/>
              </a:rPr>
              <a:t>At this time, select the axis format to adjust the scale</a:t>
            </a:r>
            <a:endParaRPr kumimoji="1" lang="ko-KR" altLang="en-US" sz="1400" b="1" dirty="0">
              <a:solidFill>
                <a:prstClr val="black"/>
              </a:solidFill>
              <a:latin typeface="굴림" pitchFamily="50" charset="-127"/>
              <a:ea typeface="굴림" pitchFamily="50" charset="-127"/>
            </a:endParaRPr>
          </a:p>
        </p:txBody>
      </p:sp>
      <p:sp>
        <p:nvSpPr>
          <p:cNvPr id="7" name="모서리가 둥근 직사각형 6"/>
          <p:cNvSpPr/>
          <p:nvPr/>
        </p:nvSpPr>
        <p:spPr>
          <a:xfrm>
            <a:off x="359909" y="1628800"/>
            <a:ext cx="199407" cy="115212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8" name="모서리가 둥근 직사각형 7"/>
          <p:cNvSpPr/>
          <p:nvPr/>
        </p:nvSpPr>
        <p:spPr>
          <a:xfrm>
            <a:off x="359909" y="3429000"/>
            <a:ext cx="199407" cy="115212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pic>
        <p:nvPicPr>
          <p:cNvPr id="2398210"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2974" t="48481" r="76789" b="13832"/>
          <a:stretch/>
        </p:blipFill>
        <p:spPr bwMode="auto">
          <a:xfrm>
            <a:off x="3641437" y="4437112"/>
            <a:ext cx="1897941" cy="2153794"/>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11"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317</a:t>
            </a:fld>
            <a:endParaRPr lang="ko-KR" altLang="en-US" sz="1200" dirty="0">
              <a:solidFill>
                <a:prstClr val="black"/>
              </a:solidFill>
            </a:endParaRPr>
          </a:p>
        </p:txBody>
      </p:sp>
    </p:spTree>
    <p:extLst>
      <p:ext uri="{BB962C8B-B14F-4D97-AF65-F5344CB8AC3E}">
        <p14:creationId xmlns:p14="http://schemas.microsoft.com/office/powerpoint/2010/main" val="703175852"/>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4356" y="44624"/>
            <a:ext cx="5805556"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a:t>
            </a:r>
            <a:r>
              <a:rPr lang="en-US" altLang="ko-KR" sz="2000" b="1" dirty="0" err="1">
                <a:solidFill>
                  <a:srgbClr val="000000"/>
                </a:solidFill>
                <a:latin typeface="맑은 고딕" pitchFamily="50" charset="-127"/>
                <a:ea typeface="맑은 고딕" pitchFamily="50" charset="-127"/>
              </a:rPr>
              <a:t>Luyện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tập</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đồ</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thị</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quản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lý</a:t>
            </a:r>
            <a:r>
              <a:rPr lang="en-US" altLang="ko-KR" sz="2000" b="1" dirty="0">
                <a:solidFill>
                  <a:srgbClr val="000000"/>
                </a:solidFill>
                <a:latin typeface="맑은 고딕" pitchFamily="50" charset="-127"/>
                <a:ea typeface="맑은 고딕" pitchFamily="50" charset="-127"/>
              </a:rPr>
              <a:t>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a:t>
            </a:r>
            <a:endParaRPr lang="ko-KR" altLang="en-US" sz="2000" b="1" dirty="0">
              <a:solidFill>
                <a:srgbClr val="000000"/>
              </a:solidFill>
              <a:latin typeface="맑은 고딕" pitchFamily="50" charset="-127"/>
              <a:ea typeface="맑은 고딕" pitchFamily="50" charset="-127"/>
            </a:endParaRPr>
          </a:p>
        </p:txBody>
      </p:sp>
      <p:pic>
        <p:nvPicPr>
          <p:cNvPr id="4"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11412" r="62715" b="65162"/>
          <a:stretch/>
        </p:blipFill>
        <p:spPr bwMode="auto">
          <a:xfrm>
            <a:off x="1315024" y="1700808"/>
            <a:ext cx="5516921" cy="284007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317989" y="908722"/>
            <a:ext cx="1406154"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Nhập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dữ</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liệu</a:t>
            </a:r>
            <a:endParaRPr kumimoji="1" lang="ko-KR" altLang="en-US" sz="1600" b="1" dirty="0">
              <a:solidFill>
                <a:prstClr val="black"/>
              </a:solidFill>
              <a:latin typeface="굴림" pitchFamily="50" charset="-127"/>
              <a:ea typeface="굴림" pitchFamily="50" charset="-127"/>
            </a:endParaRPr>
          </a:p>
        </p:txBody>
      </p:sp>
      <p:cxnSp>
        <p:nvCxnSpPr>
          <p:cNvPr id="10" name="직선 화살표 연결선 9"/>
          <p:cNvCxnSpPr/>
          <p:nvPr/>
        </p:nvCxnSpPr>
        <p:spPr>
          <a:xfrm flipV="1">
            <a:off x="3043216" y="1340768"/>
            <a:ext cx="930565" cy="7920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819400" y="908723"/>
            <a:ext cx="230383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Ghi</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chép</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ngày</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đạc</a:t>
            </a:r>
            <a:endParaRPr kumimoji="1" lang="ko-KR" altLang="en-US" sz="1600" b="1" dirty="0">
              <a:solidFill>
                <a:prstClr val="black"/>
              </a:solidFill>
              <a:latin typeface="굴림" pitchFamily="50" charset="-127"/>
              <a:ea typeface="굴림" pitchFamily="50" charset="-127"/>
            </a:endParaRPr>
          </a:p>
        </p:txBody>
      </p:sp>
      <p:cxnSp>
        <p:nvCxnSpPr>
          <p:cNvPr id="13" name="직선 화살표 연결선 12"/>
          <p:cNvCxnSpPr/>
          <p:nvPr/>
        </p:nvCxnSpPr>
        <p:spPr>
          <a:xfrm flipV="1">
            <a:off x="5768441" y="1124744"/>
            <a:ext cx="731158" cy="129614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4724400" y="685800"/>
            <a:ext cx="4618572"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Nhóm</a:t>
            </a:r>
            <a:r>
              <a:rPr kumimoji="1" lang="en-US" altLang="ko-KR" sz="1600" b="1" dirty="0">
                <a:solidFill>
                  <a:prstClr val="black"/>
                </a:solidFill>
                <a:latin typeface="굴림" pitchFamily="50" charset="-127"/>
                <a:ea typeface="굴림" pitchFamily="50" charset="-127"/>
              </a:rPr>
              <a:t> sampling. </a:t>
            </a:r>
            <a:r>
              <a:rPr kumimoji="1" lang="en-US" altLang="ko-KR" sz="1600" b="1" dirty="0" err="1">
                <a:solidFill>
                  <a:prstClr val="black"/>
                </a:solidFill>
                <a:latin typeface="굴림" pitchFamily="50" charset="-127"/>
                <a:ea typeface="굴림" pitchFamily="50" charset="-127"/>
              </a:rPr>
              <a:t>Có</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thể</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biểu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tới</a:t>
            </a:r>
            <a:r>
              <a:rPr kumimoji="1" lang="en-US" altLang="ko-KR" sz="1600" b="1" dirty="0">
                <a:solidFill>
                  <a:prstClr val="black"/>
                </a:solidFill>
                <a:latin typeface="굴림" pitchFamily="50" charset="-127"/>
                <a:ea typeface="굴림" pitchFamily="50" charset="-127"/>
              </a:rPr>
              <a:t> 31 </a:t>
            </a:r>
            <a:r>
              <a:rPr kumimoji="1" lang="en-US" altLang="ko-KR" sz="1600" b="1" dirty="0" err="1">
                <a:solidFill>
                  <a:prstClr val="black"/>
                </a:solidFill>
                <a:latin typeface="굴림" pitchFamily="50" charset="-127"/>
                <a:ea typeface="굴림" pitchFamily="50" charset="-127"/>
              </a:rPr>
              <a:t>nhóm</a:t>
            </a:r>
            <a:r>
              <a:rPr kumimoji="1" lang="en-US" altLang="ko-KR" sz="1600" b="1" dirty="0">
                <a:solidFill>
                  <a:prstClr val="black"/>
                </a:solidFill>
                <a:latin typeface="굴림" pitchFamily="50" charset="-127"/>
                <a:ea typeface="굴림" pitchFamily="50" charset="-127"/>
              </a:rPr>
              <a:t>.  </a:t>
            </a:r>
            <a:endParaRPr kumimoji="1" lang="ko-KR" altLang="en-US" sz="1600" b="1" dirty="0">
              <a:solidFill>
                <a:prstClr val="black"/>
              </a:solidFill>
              <a:latin typeface="굴림" pitchFamily="50" charset="-127"/>
              <a:ea typeface="굴림" pitchFamily="50" charset="-127"/>
            </a:endParaRPr>
          </a:p>
        </p:txBody>
      </p:sp>
      <p:cxnSp>
        <p:nvCxnSpPr>
          <p:cNvPr id="16" name="직선 화살표 연결선 15"/>
          <p:cNvCxnSpPr/>
          <p:nvPr/>
        </p:nvCxnSpPr>
        <p:spPr>
          <a:xfrm flipH="1">
            <a:off x="4173186" y="3429000"/>
            <a:ext cx="398814" cy="18002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3442028" y="5373218"/>
            <a:ext cx="160973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Dữ</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liệu</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đạc</a:t>
            </a:r>
            <a:endParaRPr kumimoji="1" lang="ko-KR" altLang="en-US" sz="1600" b="1" dirty="0">
              <a:solidFill>
                <a:prstClr val="black"/>
              </a:solidFill>
              <a:latin typeface="굴림" pitchFamily="50" charset="-127"/>
              <a:ea typeface="굴림" pitchFamily="50" charset="-127"/>
            </a:endParaRPr>
          </a:p>
        </p:txBody>
      </p:sp>
      <p:cxnSp>
        <p:nvCxnSpPr>
          <p:cNvPr id="19" name="직선 화살표 연결선 18"/>
          <p:cNvCxnSpPr>
            <a:endCxn id="20" idx="0"/>
          </p:cNvCxnSpPr>
          <p:nvPr/>
        </p:nvCxnSpPr>
        <p:spPr>
          <a:xfrm flipH="1">
            <a:off x="1162710" y="3501009"/>
            <a:ext cx="351729" cy="216024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83865" y="5661250"/>
            <a:ext cx="1157689" cy="3769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số</a:t>
            </a:r>
            <a:r>
              <a:rPr kumimoji="1" lang="en-US" altLang="ko-KR" sz="1600" b="1" dirty="0">
                <a:solidFill>
                  <a:prstClr val="black"/>
                </a:solidFill>
                <a:latin typeface="굴림" pitchFamily="50" charset="-127"/>
                <a:ea typeface="굴림" pitchFamily="50" charset="-127"/>
              </a:rPr>
              <a:t> sample</a:t>
            </a:r>
            <a:endParaRPr kumimoji="1" lang="ko-KR" altLang="en-US" sz="1600" b="1" dirty="0">
              <a:solidFill>
                <a:prstClr val="black"/>
              </a:solidFill>
              <a:latin typeface="굴림" pitchFamily="50" charset="-127"/>
              <a:ea typeface="굴림" pitchFamily="50" charset="-127"/>
            </a:endParaRPr>
          </a:p>
        </p:txBody>
      </p:sp>
      <p:cxnSp>
        <p:nvCxnSpPr>
          <p:cNvPr id="23" name="직선 화살표 연결선 22"/>
          <p:cNvCxnSpPr/>
          <p:nvPr/>
        </p:nvCxnSpPr>
        <p:spPr>
          <a:xfrm>
            <a:off x="5701972" y="4077072"/>
            <a:ext cx="731158" cy="93610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5334000" y="5157195"/>
            <a:ext cx="3725700" cy="376963"/>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Trung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bình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và</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phạm</a:t>
            </a:r>
            <a:r>
              <a:rPr kumimoji="1" lang="en-US" altLang="ko-KR" sz="1600" b="1" dirty="0">
                <a:solidFill>
                  <a:prstClr val="black"/>
                </a:solidFill>
                <a:latin typeface="굴림" pitchFamily="50" charset="-127"/>
                <a:ea typeface="굴림" pitchFamily="50" charset="-127"/>
              </a:rPr>
              <a:t> vi </a:t>
            </a:r>
            <a:r>
              <a:rPr kumimoji="1" lang="en-US" altLang="ko-KR" sz="1600" b="1" dirty="0" err="1">
                <a:solidFill>
                  <a:prstClr val="black"/>
                </a:solidFill>
                <a:latin typeface="굴림" pitchFamily="50" charset="-127"/>
                <a:ea typeface="굴림" pitchFamily="50" charset="-127"/>
              </a:rPr>
              <a:t>của</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các</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nhóm</a:t>
            </a:r>
            <a:endParaRPr kumimoji="1" lang="ko-KR" altLang="en-US" sz="1600" b="1" dirty="0">
              <a:solidFill>
                <a:prstClr val="black"/>
              </a:solidFill>
              <a:latin typeface="굴림" pitchFamily="50" charset="-127"/>
              <a:ea typeface="굴림" pitchFamily="50" charset="-127"/>
            </a:endParaRPr>
          </a:p>
        </p:txBody>
      </p:sp>
      <p:sp>
        <p:nvSpPr>
          <p:cNvPr id="25"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318</a:t>
            </a:fld>
            <a:endParaRPr lang="ko-KR" altLang="en-US" sz="1200" dirty="0">
              <a:solidFill>
                <a:prstClr val="black"/>
              </a:solidFill>
            </a:endParaRPr>
          </a:p>
        </p:txBody>
      </p:sp>
    </p:spTree>
    <p:extLst>
      <p:ext uri="{BB962C8B-B14F-4D97-AF65-F5344CB8AC3E}">
        <p14:creationId xmlns:p14="http://schemas.microsoft.com/office/powerpoint/2010/main" val="127173829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98211"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5784" t="3152" r="25147" b="11151"/>
          <a:stretch/>
        </p:blipFill>
        <p:spPr bwMode="auto">
          <a:xfrm>
            <a:off x="5037283" y="2348880"/>
            <a:ext cx="3845274" cy="4092446"/>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3" name="Text Box 4"/>
          <p:cNvSpPr txBox="1">
            <a:spLocks noChangeArrowheads="1"/>
          </p:cNvSpPr>
          <p:nvPr/>
        </p:nvSpPr>
        <p:spPr bwMode="auto">
          <a:xfrm>
            <a:off x="-14356" y="44624"/>
            <a:ext cx="5729356"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a:t>
            </a:r>
            <a:r>
              <a:rPr lang="en-US" altLang="ko-KR" sz="2000" b="1" dirty="0" err="1">
                <a:solidFill>
                  <a:srgbClr val="000000"/>
                </a:solidFill>
                <a:latin typeface="맑은 고딕" pitchFamily="50" charset="-127"/>
                <a:ea typeface="맑은 고딕" pitchFamily="50" charset="-127"/>
              </a:rPr>
              <a:t>Luyện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tập</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đồ</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thị</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quản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lý</a:t>
            </a:r>
            <a:r>
              <a:rPr lang="en-US" altLang="ko-KR" sz="2000" b="1" dirty="0">
                <a:solidFill>
                  <a:srgbClr val="000000"/>
                </a:solidFill>
                <a:latin typeface="맑은 고딕" pitchFamily="50" charset="-127"/>
                <a:ea typeface="맑은 고딕" pitchFamily="50" charset="-127"/>
              </a:rPr>
              <a:t>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a:t>
            </a:r>
            <a:endParaRPr lang="ko-KR" altLang="en-US" sz="2000" b="1" dirty="0">
              <a:solidFill>
                <a:srgbClr val="000000"/>
              </a:solidFill>
              <a:latin typeface="맑은 고딕" pitchFamily="50" charset="-127"/>
              <a:ea typeface="맑은 고딕" pitchFamily="50" charset="-127"/>
            </a:endParaRPr>
          </a:p>
        </p:txBody>
      </p:sp>
      <p:pic>
        <p:nvPicPr>
          <p:cNvPr id="4"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70" t="35533" r="51707" b="-232"/>
          <a:stretch/>
        </p:blipFill>
        <p:spPr bwMode="auto">
          <a:xfrm>
            <a:off x="426378" y="1412776"/>
            <a:ext cx="4117681" cy="349411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1514430" y="836715"/>
            <a:ext cx="2449710"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Đồ</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thị</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quản</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lý</a:t>
            </a:r>
            <a:r>
              <a:rPr kumimoji="1" lang="en-US" altLang="ko-KR" sz="1600" b="1" dirty="0">
                <a:solidFill>
                  <a:prstClr val="black"/>
                </a:solidFill>
                <a:latin typeface="굴림" pitchFamily="50" charset="-127"/>
                <a:ea typeface="굴림" pitchFamily="50" charset="-127"/>
              </a:rPr>
              <a:t> X bar – R</a:t>
            </a:r>
            <a:endParaRPr kumimoji="1" lang="ko-KR" altLang="en-US" sz="1600" b="1" dirty="0">
              <a:solidFill>
                <a:prstClr val="black"/>
              </a:solidFill>
              <a:latin typeface="굴림" pitchFamily="50" charset="-127"/>
              <a:ea typeface="굴림" pitchFamily="50" charset="-127"/>
            </a:endParaRPr>
          </a:p>
        </p:txBody>
      </p:sp>
      <p:sp>
        <p:nvSpPr>
          <p:cNvPr id="6" name="TextBox 5"/>
          <p:cNvSpPr txBox="1"/>
          <p:nvPr/>
        </p:nvSpPr>
        <p:spPr>
          <a:xfrm>
            <a:off x="4495800" y="762000"/>
            <a:ext cx="4533613" cy="1492716"/>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Nếu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không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nhìn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rõ</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ràng</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được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bức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tranh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di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chuyển</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đưa</a:t>
            </a:r>
            <a:r>
              <a:rPr kumimoji="1" lang="en-US" altLang="ko-KR" sz="1400" b="1" dirty="0">
                <a:solidFill>
                  <a:prstClr val="black"/>
                </a:solidFill>
                <a:latin typeface="굴림" pitchFamily="50" charset="-127"/>
                <a:ea typeface="굴림" pitchFamily="50" charset="-127"/>
              </a:rPr>
              <a:t> mouse cursor </a:t>
            </a:r>
            <a:r>
              <a:rPr kumimoji="1" lang="en-US" altLang="ko-KR" sz="1400" b="1" dirty="0" err="1">
                <a:solidFill>
                  <a:prstClr val="black"/>
                </a:solidFill>
                <a:latin typeface="굴림" pitchFamily="50" charset="-127"/>
                <a:ea typeface="굴림" pitchFamily="50" charset="-127"/>
              </a:rPr>
              <a:t>trên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trục</a:t>
            </a:r>
            <a:r>
              <a:rPr kumimoji="1" lang="en-US" altLang="ko-KR" sz="1400" b="1" dirty="0">
                <a:solidFill>
                  <a:prstClr val="black"/>
                </a:solidFill>
                <a:latin typeface="굴림" pitchFamily="50" charset="-127"/>
                <a:ea typeface="굴림" pitchFamily="50" charset="-127"/>
              </a:rPr>
              <a:t> Y ở </a:t>
            </a:r>
            <a:r>
              <a:rPr kumimoji="1" lang="en-US" altLang="ko-KR" sz="1400" b="1" dirty="0" err="1">
                <a:solidFill>
                  <a:prstClr val="black"/>
                </a:solidFill>
                <a:latin typeface="굴림" pitchFamily="50" charset="-127"/>
                <a:ea typeface="굴림" pitchFamily="50" charset="-127"/>
              </a:rPr>
              <a:t>phía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bên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trái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nhấn</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chuột</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bên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phải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thì</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sẽ</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hiện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ra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cửa</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sổ</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tranh</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như</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bên</a:t>
            </a:r>
            <a:r>
              <a:rPr kumimoji="1" lang="en-US" altLang="ko-KR" sz="1400" b="1" dirty="0">
                <a:solidFill>
                  <a:prstClr val="black"/>
                </a:solidFill>
                <a:latin typeface="굴림" pitchFamily="50" charset="-127"/>
                <a:ea typeface="굴림" pitchFamily="50" charset="-127"/>
              </a:rPr>
              <a:t> </a:t>
            </a:r>
          </a:p>
          <a:p>
            <a:pPr fontAlgn="base">
              <a:lnSpc>
                <a:spcPct val="130000"/>
              </a:lnSpc>
              <a:spcBef>
                <a:spcPct val="0"/>
              </a:spcBef>
              <a:spcAft>
                <a:spcPct val="0"/>
              </a:spcAft>
              <a:buClr>
                <a:srgbClr val="C5003D"/>
              </a:buClr>
            </a:pPr>
            <a:r>
              <a:rPr kumimoji="1" lang="en-US" altLang="ko-KR" sz="1400" b="1" dirty="0" err="1">
                <a:solidFill>
                  <a:prstClr val="black"/>
                </a:solidFill>
                <a:latin typeface="굴림" pitchFamily="50" charset="-127"/>
                <a:ea typeface="굴림" pitchFamily="50" charset="-127"/>
              </a:rPr>
              <a:t>dưới</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lúc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này</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chọn</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mẫu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trục</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và</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điều</a:t>
            </a:r>
            <a:r>
              <a:rPr kumimoji="1" lang="en-US" altLang="ko-KR" sz="1400" b="1" dirty="0">
                <a:solidFill>
                  <a:prstClr val="black"/>
                </a:solidFill>
                <a:latin typeface="굴림" pitchFamily="50" charset="-127"/>
                <a:ea typeface="굴림" pitchFamily="50" charset="-127"/>
              </a:rPr>
              <a:t> </a:t>
            </a:r>
            <a:r>
              <a:rPr kumimoji="1" lang="en-US" altLang="ko-KR" sz="1400" b="1" dirty="0" err="1">
                <a:solidFill>
                  <a:prstClr val="black"/>
                </a:solidFill>
                <a:latin typeface="굴림" pitchFamily="50" charset="-127"/>
                <a:ea typeface="굴림" pitchFamily="50" charset="-127"/>
              </a:rPr>
              <a:t>chỉnh</a:t>
            </a:r>
            <a:r>
              <a:rPr kumimoji="1" lang="en-US" altLang="ko-KR" sz="1400" b="1" dirty="0">
                <a:solidFill>
                  <a:prstClr val="black"/>
                </a:solidFill>
                <a:latin typeface="굴림" pitchFamily="50" charset="-127"/>
                <a:ea typeface="굴림" pitchFamily="50" charset="-127"/>
              </a:rPr>
              <a:t> scale</a:t>
            </a:r>
          </a:p>
          <a:p>
            <a:pPr fontAlgn="base">
              <a:lnSpc>
                <a:spcPct val="130000"/>
              </a:lnSpc>
              <a:spcBef>
                <a:spcPct val="0"/>
              </a:spcBef>
              <a:spcAft>
                <a:spcPct val="0"/>
              </a:spcAft>
              <a:buClr>
                <a:srgbClr val="C5003D"/>
              </a:buClr>
            </a:pPr>
            <a:endParaRPr kumimoji="1" lang="ko-KR" altLang="en-US" sz="1400" b="1" dirty="0">
              <a:solidFill>
                <a:prstClr val="black"/>
              </a:solidFill>
              <a:latin typeface="굴림" pitchFamily="50" charset="-127"/>
              <a:ea typeface="굴림" pitchFamily="50" charset="-127"/>
            </a:endParaRPr>
          </a:p>
        </p:txBody>
      </p:sp>
      <p:sp>
        <p:nvSpPr>
          <p:cNvPr id="7" name="모서리가 둥근 직사각형 6"/>
          <p:cNvSpPr/>
          <p:nvPr/>
        </p:nvSpPr>
        <p:spPr>
          <a:xfrm>
            <a:off x="359909" y="1628800"/>
            <a:ext cx="199407" cy="115212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sp>
        <p:nvSpPr>
          <p:cNvPr id="8" name="모서리가 둥근 직사각형 7"/>
          <p:cNvSpPr/>
          <p:nvPr/>
        </p:nvSpPr>
        <p:spPr>
          <a:xfrm>
            <a:off x="359909" y="3429000"/>
            <a:ext cx="199407" cy="115212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kumimoji="1" lang="ko-KR" altLang="en-US">
              <a:solidFill>
                <a:prstClr val="white"/>
              </a:solidFill>
            </a:endParaRPr>
          </a:p>
        </p:txBody>
      </p:sp>
      <p:pic>
        <p:nvPicPr>
          <p:cNvPr id="2398210" name="Picture 2"/>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974" t="48481" r="76789" b="13832"/>
          <a:stretch/>
        </p:blipFill>
        <p:spPr bwMode="auto">
          <a:xfrm>
            <a:off x="3641437" y="4437112"/>
            <a:ext cx="1897941" cy="2153794"/>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11"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319</a:t>
            </a:fld>
            <a:endParaRPr lang="ko-KR" altLang="en-US" sz="1200" dirty="0">
              <a:solidFill>
                <a:prstClr val="black"/>
              </a:solidFill>
            </a:endParaRPr>
          </a:p>
        </p:txBody>
      </p:sp>
    </p:spTree>
    <p:extLst>
      <p:ext uri="{BB962C8B-B14F-4D97-AF65-F5344CB8AC3E}">
        <p14:creationId xmlns:p14="http://schemas.microsoft.com/office/powerpoint/2010/main" val="703175852"/>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4356" y="44624"/>
            <a:ext cx="525047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R)control chart</a:t>
            </a:r>
            <a:r>
              <a:rPr lang="ko-KR" altLang="en-US" sz="2000" b="1" dirty="0">
                <a:solidFill>
                  <a:srgbClr val="000000"/>
                </a:solidFill>
                <a:latin typeface="맑은 고딕" pitchFamily="50" charset="-127"/>
                <a:ea typeface="맑은 고딕" pitchFamily="50" charset="-127"/>
              </a:rPr>
              <a:t> </a:t>
            </a:r>
            <a:r>
              <a:rPr lang="en-US" altLang="ko-KR" sz="2000" b="1" dirty="0">
                <a:solidFill>
                  <a:srgbClr val="000000"/>
                </a:solidFill>
                <a:latin typeface="맑은 고딕" pitchFamily="50" charset="-127"/>
                <a:ea typeface="맑은 고딕" pitchFamily="50" charset="-127"/>
              </a:rPr>
              <a:t>Practice</a:t>
            </a:r>
            <a:endParaRPr lang="ko-KR" altLang="en-US" sz="2000" b="1" dirty="0">
              <a:solidFill>
                <a:srgbClr val="000000"/>
              </a:solidFill>
              <a:latin typeface="맑은 고딕" pitchFamily="50" charset="-127"/>
              <a:ea typeface="맑은 고딕" pitchFamily="50" charset="-127"/>
            </a:endParaRPr>
          </a:p>
        </p:txBody>
      </p:sp>
      <p:pic>
        <p:nvPicPr>
          <p:cNvPr id="239923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6849" t="32959" r="23192" b="16192"/>
          <a:stretch/>
        </p:blipFill>
        <p:spPr bwMode="auto">
          <a:xfrm>
            <a:off x="1049148" y="1340768"/>
            <a:ext cx="2809685" cy="2906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99235"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l="47236" t="28576" r="24161" b="12904"/>
          <a:stretch/>
        </p:blipFill>
        <p:spPr bwMode="auto">
          <a:xfrm>
            <a:off x="5103752" y="1340768"/>
            <a:ext cx="1848185" cy="2304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9" y="836714"/>
            <a:ext cx="1726755"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Warning window</a:t>
            </a:r>
            <a:endParaRPr kumimoji="1" lang="ko-KR" altLang="en-US" sz="1600" b="1" dirty="0">
              <a:solidFill>
                <a:prstClr val="black"/>
              </a:solidFill>
              <a:latin typeface="굴림" pitchFamily="50" charset="-127"/>
              <a:ea typeface="굴림" pitchFamily="50" charset="-127"/>
            </a:endParaRPr>
          </a:p>
        </p:txBody>
      </p:sp>
      <p:sp>
        <p:nvSpPr>
          <p:cNvPr id="6" name="TextBox 5"/>
          <p:cNvSpPr txBox="1"/>
          <p:nvPr/>
        </p:nvSpPr>
        <p:spPr>
          <a:xfrm>
            <a:off x="1227260" y="4221091"/>
            <a:ext cx="2416046"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(Comprehensive report)</a:t>
            </a:r>
            <a:endParaRPr kumimoji="1" lang="ko-KR" altLang="en-US" sz="1600" b="1" dirty="0">
              <a:solidFill>
                <a:prstClr val="black"/>
              </a:solidFill>
              <a:latin typeface="굴림" pitchFamily="50" charset="-127"/>
              <a:ea typeface="굴림" pitchFamily="50" charset="-127"/>
            </a:endParaRPr>
          </a:p>
        </p:txBody>
      </p:sp>
      <p:sp>
        <p:nvSpPr>
          <p:cNvPr id="10" name="TextBox 9"/>
          <p:cNvSpPr txBox="1"/>
          <p:nvPr/>
        </p:nvSpPr>
        <p:spPr>
          <a:xfrm>
            <a:off x="5303158" y="908723"/>
            <a:ext cx="1372492"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t>
            </a: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 graph)</a:t>
            </a:r>
            <a:endParaRPr kumimoji="1" lang="ko-KR" altLang="en-US" sz="1600" b="1" dirty="0">
              <a:solidFill>
                <a:prstClr val="black"/>
              </a:solidFill>
              <a:latin typeface="굴림" pitchFamily="50" charset="-127"/>
              <a:ea typeface="굴림" pitchFamily="50" charset="-127"/>
            </a:endParaRPr>
          </a:p>
        </p:txBody>
      </p:sp>
      <p:sp>
        <p:nvSpPr>
          <p:cNvPr id="11" name="TextBox 10"/>
          <p:cNvSpPr txBox="1"/>
          <p:nvPr/>
        </p:nvSpPr>
        <p:spPr>
          <a:xfrm>
            <a:off x="5506427" y="3717035"/>
            <a:ext cx="1077539" cy="367280"/>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(R graph)</a:t>
            </a:r>
            <a:endParaRPr kumimoji="1" lang="ko-KR" altLang="en-US" sz="1600" b="1" dirty="0">
              <a:solidFill>
                <a:prstClr val="black"/>
              </a:solidFill>
              <a:latin typeface="굴림" pitchFamily="50" charset="-127"/>
              <a:ea typeface="굴림" pitchFamily="50" charset="-127"/>
            </a:endParaRPr>
          </a:p>
        </p:txBody>
      </p:sp>
      <p:pic>
        <p:nvPicPr>
          <p:cNvPr id="2399237" name="Picture 5"/>
          <p:cNvPicPr>
            <a:picLocks noChangeAspect="1" noChangeArrowheads="1"/>
          </p:cNvPicPr>
          <p:nvPr/>
        </p:nvPicPr>
        <p:blipFill rotWithShape="1">
          <a:blip r:embed="rId4">
            <a:extLst>
              <a:ext uri="{28A0092B-C50C-407E-A947-70E740481C1C}">
                <a14:useLocalDpi xmlns:a14="http://schemas.microsoft.com/office/drawing/2010/main" val="0"/>
              </a:ext>
            </a:extLst>
          </a:blip>
          <a:srcRect l="38976" t="29671" r="37353" b="22329"/>
          <a:stretch/>
        </p:blipFill>
        <p:spPr bwMode="auto">
          <a:xfrm>
            <a:off x="5103753" y="4077072"/>
            <a:ext cx="1784336" cy="2204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320</a:t>
            </a:fld>
            <a:endParaRPr lang="ko-KR" altLang="en-US" sz="1200" dirty="0">
              <a:solidFill>
                <a:prstClr val="black"/>
              </a:solidFill>
            </a:endParaRPr>
          </a:p>
        </p:txBody>
      </p:sp>
    </p:spTree>
    <p:extLst>
      <p:ext uri="{BB962C8B-B14F-4D97-AF65-F5344CB8AC3E}">
        <p14:creationId xmlns:p14="http://schemas.microsoft.com/office/powerpoint/2010/main" val="2006831649"/>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321</a:t>
            </a:fld>
            <a:endParaRPr lang="ko-KR" altLang="en-US" dirty="0">
              <a:solidFill>
                <a:prstClr val="black"/>
              </a:solidFill>
            </a:endParaRPr>
          </a:p>
        </p:txBody>
      </p:sp>
    </p:spTree>
    <p:extLst>
      <p:ext uri="{BB962C8B-B14F-4D97-AF65-F5344CB8AC3E}">
        <p14:creationId xmlns:p14="http://schemas.microsoft.com/office/powerpoint/2010/main" val="2552224112"/>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4356" y="44624"/>
            <a:ext cx="6186556" cy="4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miter lim="800000"/>
                <a:headEnd type="none" w="sm" len="sm"/>
                <a:tailEnd type="none" w="sm" len="sm"/>
              </a14:hiddenLine>
            </a:ext>
          </a:extLst>
        </p:spPr>
        <p:txBody>
          <a:bodyPr wrap="square" lIns="91405" tIns="45703" rIns="91405" bIns="45703">
            <a:spAutoFit/>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ase" hangingPunct="1">
              <a:spcBef>
                <a:spcPct val="0"/>
              </a:spcBef>
              <a:spcAft>
                <a:spcPct val="0"/>
              </a:spcAft>
            </a:pPr>
            <a:r>
              <a:rPr lang="en-US" altLang="ko-KR" sz="2000" b="1" dirty="0">
                <a:solidFill>
                  <a:srgbClr val="000000"/>
                </a:solidFill>
                <a:latin typeface="맑은 고딕" pitchFamily="50" charset="-127"/>
                <a:ea typeface="맑은 고딕" pitchFamily="50" charset="-127"/>
              </a:rPr>
              <a:t>8. </a:t>
            </a:r>
            <a:r>
              <a:rPr lang="en-US" altLang="ko-KR" sz="2000" b="1" dirty="0" err="1">
                <a:solidFill>
                  <a:srgbClr val="000000"/>
                </a:solidFill>
                <a:latin typeface="맑은 고딕" pitchFamily="50" charset="-127"/>
                <a:ea typeface="맑은 고딕" pitchFamily="50" charset="-127"/>
              </a:rPr>
              <a:t>Luyện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tập</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đồ</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thị</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quản</a:t>
            </a:r>
            <a:r>
              <a:rPr lang="en-US" altLang="ko-KR" sz="2000" b="1" dirty="0">
                <a:solidFill>
                  <a:srgbClr val="000000"/>
                </a:solidFill>
                <a:latin typeface="맑은 고딕" pitchFamily="50" charset="-127"/>
                <a:ea typeface="맑은 고딕" pitchFamily="50" charset="-127"/>
              </a:rPr>
              <a:t> </a:t>
            </a:r>
            <a:r>
              <a:rPr lang="en-US" altLang="ko-KR" sz="2000" b="1" dirty="0" err="1">
                <a:solidFill>
                  <a:srgbClr val="000000"/>
                </a:solidFill>
                <a:latin typeface="맑은 고딕" pitchFamily="50" charset="-127"/>
                <a:ea typeface="맑은 고딕" pitchFamily="50" charset="-127"/>
              </a:rPr>
              <a:t>lý</a:t>
            </a:r>
            <a:r>
              <a:rPr lang="en-US" altLang="ko-KR" sz="2000" b="1" dirty="0">
                <a:solidFill>
                  <a:srgbClr val="000000"/>
                </a:solidFill>
                <a:latin typeface="맑은 고딕" pitchFamily="50" charset="-127"/>
                <a:ea typeface="맑은 고딕" pitchFamily="50" charset="-127"/>
              </a:rPr>
              <a:t> Excel(</a:t>
            </a:r>
            <a:r>
              <a:rPr lang="en-US" altLang="ko-KR" sz="2000" b="1" dirty="0" err="1">
                <a:solidFill>
                  <a:srgbClr val="000000"/>
                </a:solidFill>
                <a:latin typeface="맑은 고딕" pitchFamily="50" charset="-127"/>
                <a:ea typeface="맑은 고딕" pitchFamily="50" charset="-127"/>
              </a:rPr>
              <a:t>Xbar</a:t>
            </a:r>
            <a:r>
              <a:rPr lang="en-US" altLang="ko-KR" sz="2000" b="1" dirty="0">
                <a:solidFill>
                  <a:srgbClr val="000000"/>
                </a:solidFill>
                <a:latin typeface="맑은 고딕" pitchFamily="50" charset="-127"/>
                <a:ea typeface="맑은 고딕" pitchFamily="50" charset="-127"/>
              </a:rPr>
              <a:t> – R)</a:t>
            </a:r>
            <a:endParaRPr lang="ko-KR" altLang="en-US" sz="2000" b="1" dirty="0">
              <a:solidFill>
                <a:srgbClr val="000000"/>
              </a:solidFill>
              <a:latin typeface="맑은 고딕" pitchFamily="50" charset="-127"/>
              <a:ea typeface="맑은 고딕" pitchFamily="50" charset="-127"/>
            </a:endParaRPr>
          </a:p>
        </p:txBody>
      </p:sp>
      <p:pic>
        <p:nvPicPr>
          <p:cNvPr id="239923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46849" t="32959" r="23192" b="16192"/>
          <a:stretch/>
        </p:blipFill>
        <p:spPr bwMode="auto">
          <a:xfrm>
            <a:off x="1049148" y="1340768"/>
            <a:ext cx="2809685" cy="2906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99235"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47236" t="28576" r="24161" b="12904"/>
          <a:stretch/>
        </p:blipFill>
        <p:spPr bwMode="auto">
          <a:xfrm>
            <a:off x="5103752" y="1340768"/>
            <a:ext cx="1848185" cy="2304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384459" y="836714"/>
            <a:ext cx="1678665"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err="1">
                <a:solidFill>
                  <a:prstClr val="black"/>
                </a:solidFill>
                <a:latin typeface="굴림" pitchFamily="50" charset="-127"/>
                <a:ea typeface="굴림" pitchFamily="50" charset="-127"/>
              </a:rPr>
              <a:t>Trang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cảnh</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báo</a:t>
            </a:r>
            <a:endParaRPr kumimoji="1" lang="ko-KR" altLang="en-US" sz="1600" b="1" dirty="0">
              <a:solidFill>
                <a:prstClr val="black"/>
              </a:solidFill>
              <a:latin typeface="굴림" pitchFamily="50" charset="-127"/>
              <a:ea typeface="굴림" pitchFamily="50" charset="-127"/>
            </a:endParaRPr>
          </a:p>
        </p:txBody>
      </p:sp>
      <p:sp>
        <p:nvSpPr>
          <p:cNvPr id="6" name="TextBox 5"/>
          <p:cNvSpPr txBox="1"/>
          <p:nvPr/>
        </p:nvSpPr>
        <p:spPr>
          <a:xfrm>
            <a:off x="1713836" y="4221091"/>
            <a:ext cx="2077813"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t>
            </a:r>
            <a:r>
              <a:rPr kumimoji="1" lang="en-US" altLang="ko-KR" sz="1600" b="1" dirty="0" err="1">
                <a:solidFill>
                  <a:prstClr val="black"/>
                </a:solidFill>
                <a:latin typeface="굴림" pitchFamily="50" charset="-127"/>
                <a:ea typeface="굴림" pitchFamily="50" charset="-127"/>
              </a:rPr>
              <a:t>Báo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cáo</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tổng</a:t>
            </a:r>
            <a:r>
              <a:rPr kumimoji="1" lang="en-US" altLang="ko-KR" sz="1600" b="1" dirty="0">
                <a:solidFill>
                  <a:prstClr val="black"/>
                </a:solidFill>
                <a:latin typeface="굴림" pitchFamily="50" charset="-127"/>
                <a:ea typeface="굴림" pitchFamily="50" charset="-127"/>
              </a:rPr>
              <a:t> </a:t>
            </a:r>
            <a:r>
              <a:rPr kumimoji="1" lang="en-US" altLang="ko-KR" sz="1600" b="1" dirty="0" err="1">
                <a:solidFill>
                  <a:prstClr val="black"/>
                </a:solidFill>
                <a:latin typeface="굴림" pitchFamily="50" charset="-127"/>
                <a:ea typeface="굴림" pitchFamily="50" charset="-127"/>
              </a:rPr>
              <a:t>hợp</a:t>
            </a:r>
            <a:r>
              <a:rPr kumimoji="1" lang="en-US" altLang="ko-KR" sz="1600" b="1" dirty="0">
                <a:solidFill>
                  <a:prstClr val="black"/>
                </a:solidFill>
                <a:latin typeface="굴림" pitchFamily="50" charset="-127"/>
                <a:ea typeface="굴림" pitchFamily="50" charset="-127"/>
              </a:rPr>
              <a:t>)</a:t>
            </a:r>
            <a:endParaRPr kumimoji="1" lang="ko-KR" altLang="en-US" sz="1600" b="1" dirty="0">
              <a:solidFill>
                <a:prstClr val="black"/>
              </a:solidFill>
              <a:latin typeface="굴림" pitchFamily="50" charset="-127"/>
              <a:ea typeface="굴림" pitchFamily="50" charset="-127"/>
            </a:endParaRPr>
          </a:p>
        </p:txBody>
      </p:sp>
      <p:sp>
        <p:nvSpPr>
          <p:cNvPr id="10" name="TextBox 9"/>
          <p:cNvSpPr txBox="1"/>
          <p:nvPr/>
        </p:nvSpPr>
        <p:spPr>
          <a:xfrm>
            <a:off x="5303158" y="908723"/>
            <a:ext cx="1372492"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a:t>
            </a:r>
            <a:r>
              <a:rPr kumimoji="1" lang="en-US" altLang="ko-KR" sz="1600" b="1" dirty="0" err="1">
                <a:solidFill>
                  <a:prstClr val="black"/>
                </a:solidFill>
                <a:latin typeface="굴림" pitchFamily="50" charset="-127"/>
                <a:ea typeface="굴림" pitchFamily="50" charset="-127"/>
              </a:rPr>
              <a:t>Xbar</a:t>
            </a:r>
            <a:r>
              <a:rPr kumimoji="1" lang="en-US" altLang="ko-KR" sz="1600" b="1" dirty="0">
                <a:solidFill>
                  <a:prstClr val="black"/>
                </a:solidFill>
                <a:latin typeface="굴림" pitchFamily="50" charset="-127"/>
                <a:ea typeface="굴림" pitchFamily="50" charset="-127"/>
              </a:rPr>
              <a:t> graph)</a:t>
            </a:r>
            <a:endParaRPr kumimoji="1" lang="ko-KR" altLang="en-US" sz="1600" b="1" dirty="0">
              <a:solidFill>
                <a:prstClr val="black"/>
              </a:solidFill>
              <a:latin typeface="굴림" pitchFamily="50" charset="-127"/>
              <a:ea typeface="굴림" pitchFamily="50" charset="-127"/>
            </a:endParaRPr>
          </a:p>
        </p:txBody>
      </p:sp>
      <p:sp>
        <p:nvSpPr>
          <p:cNvPr id="11" name="TextBox 10"/>
          <p:cNvSpPr txBox="1"/>
          <p:nvPr/>
        </p:nvSpPr>
        <p:spPr>
          <a:xfrm>
            <a:off x="5506427" y="3717035"/>
            <a:ext cx="1077539" cy="412421"/>
          </a:xfrm>
          <a:prstGeom prst="rect">
            <a:avLst/>
          </a:prstGeom>
          <a:noFill/>
        </p:spPr>
        <p:txBody>
          <a:bodyPr wrap="none" rtlCol="0">
            <a:spAutoFit/>
          </a:bodyPr>
          <a:lstStyle/>
          <a:p>
            <a:pPr fontAlgn="base">
              <a:lnSpc>
                <a:spcPct val="130000"/>
              </a:lnSpc>
              <a:spcBef>
                <a:spcPct val="0"/>
              </a:spcBef>
              <a:spcAft>
                <a:spcPct val="0"/>
              </a:spcAft>
              <a:buClr>
                <a:srgbClr val="C5003D"/>
              </a:buClr>
            </a:pPr>
            <a:r>
              <a:rPr kumimoji="1" lang="en-US" altLang="ko-KR" sz="1600" b="1" dirty="0">
                <a:solidFill>
                  <a:prstClr val="black"/>
                </a:solidFill>
                <a:latin typeface="굴림" pitchFamily="50" charset="-127"/>
                <a:ea typeface="굴림" pitchFamily="50" charset="-127"/>
              </a:rPr>
              <a:t>(R</a:t>
            </a:r>
            <a:r>
              <a:rPr kumimoji="1" lang="ko-KR" altLang="en-US" sz="1600" b="1" dirty="0">
                <a:solidFill>
                  <a:prstClr val="black"/>
                </a:solidFill>
                <a:latin typeface="굴림" pitchFamily="50" charset="-127"/>
                <a:ea typeface="굴림" pitchFamily="50" charset="-127"/>
              </a:rPr>
              <a:t> </a:t>
            </a:r>
            <a:r>
              <a:rPr kumimoji="1" lang="en-US" altLang="ko-KR" sz="1600" b="1" dirty="0">
                <a:solidFill>
                  <a:prstClr val="black"/>
                </a:solidFill>
                <a:latin typeface="굴림" pitchFamily="50" charset="-127"/>
                <a:ea typeface="굴림" pitchFamily="50" charset="-127"/>
              </a:rPr>
              <a:t>graph)</a:t>
            </a:r>
            <a:endParaRPr kumimoji="1" lang="ko-KR" altLang="en-US" sz="1600" b="1" dirty="0">
              <a:solidFill>
                <a:prstClr val="black"/>
              </a:solidFill>
              <a:latin typeface="굴림" pitchFamily="50" charset="-127"/>
              <a:ea typeface="굴림" pitchFamily="50" charset="-127"/>
            </a:endParaRPr>
          </a:p>
        </p:txBody>
      </p:sp>
      <p:pic>
        <p:nvPicPr>
          <p:cNvPr id="2399237" name="Picture 5"/>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38976" t="29671" r="37353" b="22329"/>
          <a:stretch/>
        </p:blipFill>
        <p:spPr bwMode="auto">
          <a:xfrm>
            <a:off x="5103753" y="4077072"/>
            <a:ext cx="1784336" cy="2204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슬라이드 번호 개체 틀 1"/>
          <p:cNvSpPr>
            <a:spLocks noGrp="1"/>
          </p:cNvSpPr>
          <p:nvPr>
            <p:ph type="sldNum" sz="quarter" idx="4"/>
          </p:nvPr>
        </p:nvSpPr>
        <p:spPr>
          <a:xfrm>
            <a:off x="8560139" y="6475434"/>
            <a:ext cx="504734" cy="365125"/>
          </a:xfrm>
          <a:prstGeom prst="rect">
            <a:avLst/>
          </a:prstGeom>
        </p:spPr>
        <p:txBody>
          <a:bodyPr/>
          <a:lstStyle/>
          <a:p>
            <a:pPr algn="ctr">
              <a:defRPr/>
            </a:pPr>
            <a:fld id="{77AFF0D9-6237-448D-85CB-09D9C41BCF72}" type="slidenum">
              <a:rPr lang="en-US" altLang="ko-KR" sz="1200" b="1" smtClean="0">
                <a:solidFill>
                  <a:srgbClr val="FF0066"/>
                </a:solidFill>
                <a:latin typeface="맑은 고딕" pitchFamily="50" charset="-127"/>
                <a:ea typeface="맑은 고딕" pitchFamily="50" charset="-127"/>
              </a:rPr>
              <a:pPr algn="ctr">
                <a:defRPr/>
              </a:pPr>
              <a:t>322</a:t>
            </a:fld>
            <a:endParaRPr lang="ko-KR" altLang="en-US" sz="1200" dirty="0">
              <a:solidFill>
                <a:prstClr val="black"/>
              </a:solidFill>
            </a:endParaRPr>
          </a:p>
        </p:txBody>
      </p:sp>
    </p:spTree>
    <p:extLst>
      <p:ext uri="{BB962C8B-B14F-4D97-AF65-F5344CB8AC3E}">
        <p14:creationId xmlns:p14="http://schemas.microsoft.com/office/powerpoint/2010/main" val="2006831649"/>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
          </p:nvPr>
        </p:nvSpPr>
        <p:spPr/>
        <p:txBody>
          <a:bodyPr/>
          <a:lstStyle/>
          <a:p>
            <a:pPr algn="ctr">
              <a:defRPr/>
            </a:pPr>
            <a:fld id="{77AFF0D9-6237-448D-85CB-09D9C41BCF72}" type="slidenum">
              <a:rPr lang="en-US" altLang="ko-KR" b="1" smtClean="0">
                <a:solidFill>
                  <a:srgbClr val="FF0066"/>
                </a:solidFill>
                <a:latin typeface="맑은 고딕" pitchFamily="50" charset="-127"/>
                <a:ea typeface="맑은 고딕" pitchFamily="50" charset="-127"/>
              </a:rPr>
              <a:pPr algn="ctr">
                <a:defRPr/>
              </a:pPr>
              <a:t>323</a:t>
            </a:fld>
            <a:endParaRPr lang="ko-KR" altLang="en-US" dirty="0">
              <a:solidFill>
                <a:prstClr val="black"/>
              </a:solidFill>
            </a:endParaRPr>
          </a:p>
        </p:txBody>
      </p:sp>
    </p:spTree>
    <p:extLst>
      <p:ext uri="{BB962C8B-B14F-4D97-AF65-F5344CB8AC3E}">
        <p14:creationId xmlns:p14="http://schemas.microsoft.com/office/powerpoint/2010/main" val="2552224112"/>
      </p:ext>
    </p:extLst>
  </p:cSld>
  <p:clrMapOvr>
    <a:masterClrMapping/>
  </p:clrMapOvr>
</p:sld>
</file>

<file path=ppt/theme/theme1.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사용자 지정 1">
      <a:majorFont>
        <a:latin typeface="Arial"/>
        <a:ea typeface="Arial"/>
        <a:cs typeface=""/>
      </a:majorFont>
      <a:minorFont>
        <a:latin typeface="Arial"/>
        <a:ea typeface="Arial"/>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757</TotalTime>
  <Words>42900</Words>
  <Application>Microsoft Office PowerPoint</Application>
  <PresentationFormat>On-screen Show (4:3)</PresentationFormat>
  <Paragraphs>8719</Paragraphs>
  <Slides>323</Slides>
  <Notes>44</Notes>
  <HiddenSlides>0</HiddenSlides>
  <MMClips>0</MMClips>
  <ScaleCrop>false</ScaleCrop>
  <HeadingPairs>
    <vt:vector size="4" baseType="variant">
      <vt:variant>
        <vt:lpstr>Theme</vt:lpstr>
      </vt:variant>
      <vt:variant>
        <vt:i4>1</vt:i4>
      </vt:variant>
      <vt:variant>
        <vt:lpstr>Slide Titles</vt:lpstr>
      </vt:variant>
      <vt:variant>
        <vt:i4>323</vt:i4>
      </vt:variant>
    </vt:vector>
  </HeadingPairs>
  <TitlesOfParts>
    <vt:vector size="324" baseType="lpstr">
      <vt:lpstr>Office 테마</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슬라이드 1</dc:title>
  <dc:creator>LGE</dc:creator>
  <cp:lastModifiedBy>ANH QUE NGUYEN/Part Leader/LGEVH HR Development Production Part(queanh.nguyen@lge.com)</cp:lastModifiedBy>
  <cp:revision>50</cp:revision>
  <dcterms:created xsi:type="dcterms:W3CDTF">2017-03-30T06:38:27Z</dcterms:created>
  <dcterms:modified xsi:type="dcterms:W3CDTF">2026-04-03T03:23:58Z</dcterms:modified>
</cp:coreProperties>
</file>